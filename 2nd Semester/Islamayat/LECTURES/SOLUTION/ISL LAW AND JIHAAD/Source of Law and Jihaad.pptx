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Default Extension="png" ContentType="image/png"/>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Lst>
  <p:sldSz cx="7556500" cy="10693400"/>
  <p:notesSz cx="7556500" cy="10693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 Id="rId167" Type="http://schemas.openxmlformats.org/officeDocument/2006/relationships/slide" Target="slides/slide162.xml"/><Relationship Id="rId168" Type="http://schemas.openxmlformats.org/officeDocument/2006/relationships/slide" Target="slides/slide163.xml"/><Relationship Id="rId169" Type="http://schemas.openxmlformats.org/officeDocument/2006/relationships/slide" Target="slides/slide164.xml"/><Relationship Id="rId170" Type="http://schemas.openxmlformats.org/officeDocument/2006/relationships/slide" Target="slides/slide165.xml"/><Relationship Id="rId171" Type="http://schemas.openxmlformats.org/officeDocument/2006/relationships/slide" Target="slides/slide166.xml"/><Relationship Id="rId172" Type="http://schemas.openxmlformats.org/officeDocument/2006/relationships/slide" Target="slides/slide167.xml"/><Relationship Id="rId173" Type="http://schemas.openxmlformats.org/officeDocument/2006/relationships/slide" Target="slides/slide168.xml"/><Relationship Id="rId174" Type="http://schemas.openxmlformats.org/officeDocument/2006/relationships/slide" Target="slides/slide169.xml"/><Relationship Id="rId175" Type="http://schemas.openxmlformats.org/officeDocument/2006/relationships/slide" Target="slides/slide170.xml"/><Relationship Id="rId176" Type="http://schemas.openxmlformats.org/officeDocument/2006/relationships/slide" Target="slides/slide171.xml"/><Relationship Id="rId177" Type="http://schemas.openxmlformats.org/officeDocument/2006/relationships/slide" Target="slides/slide172.xml"/><Relationship Id="rId178" Type="http://schemas.openxmlformats.org/officeDocument/2006/relationships/slide" Target="slides/slide173.xml"/><Relationship Id="rId179" Type="http://schemas.openxmlformats.org/officeDocument/2006/relationships/slide" Target="slides/slide174.xml"/><Relationship Id="rId180" Type="http://schemas.openxmlformats.org/officeDocument/2006/relationships/slide" Target="slides/slide175.xml"/><Relationship Id="rId181" Type="http://schemas.openxmlformats.org/officeDocument/2006/relationships/slide" Target="slides/slide176.xml"/><Relationship Id="rId182" Type="http://schemas.openxmlformats.org/officeDocument/2006/relationships/slide" Target="slides/slide177.xml"/><Relationship Id="rId183" Type="http://schemas.openxmlformats.org/officeDocument/2006/relationships/slide" Target="slides/slide178.xml"/><Relationship Id="rId184" Type="http://schemas.openxmlformats.org/officeDocument/2006/relationships/slide" Target="slides/slide179.xml"/><Relationship Id="rId185" Type="http://schemas.openxmlformats.org/officeDocument/2006/relationships/slide" Target="slides/slide180.xml"/><Relationship Id="rId186" Type="http://schemas.openxmlformats.org/officeDocument/2006/relationships/slide" Target="slides/slide181.xml"/><Relationship Id="rId187" Type="http://schemas.openxmlformats.org/officeDocument/2006/relationships/slide" Target="slides/slide182.xml"/><Relationship Id="rId188" Type="http://schemas.openxmlformats.org/officeDocument/2006/relationships/slide" Target="slides/slide183.xml"/><Relationship Id="rId189" Type="http://schemas.openxmlformats.org/officeDocument/2006/relationships/slide" Target="slides/slide184.xml"/><Relationship Id="rId190" Type="http://schemas.openxmlformats.org/officeDocument/2006/relationships/slide" Target="slides/slide18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r>
              <a:rPr dirty="0" spc="-5"/>
              <a:t>Mr</a:t>
            </a:r>
            <a:r>
              <a:rPr dirty="0" spc="-60"/>
              <a:t> </a:t>
            </a:r>
            <a:r>
              <a:rPr dirty="0" spc="-5"/>
              <a:t>Pahary</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r>
              <a:rPr dirty="0" spc="-5"/>
              <a:t>Page</a:t>
            </a:r>
            <a:r>
              <a:rPr dirty="0" spc="-55"/>
              <a:t> </a:t>
            </a:r>
            <a:fld id="{81D60167-4931-47E6-BA6A-407CBD079E47}" type="slidenum">
              <a:rPr dirty="0"/>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idx="5" sz="quarter"/>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r>
              <a:rPr dirty="0" spc="-5"/>
              <a:t>Mr</a:t>
            </a:r>
            <a:r>
              <a:rPr dirty="0" spc="-60"/>
              <a:t> </a:t>
            </a:r>
            <a:r>
              <a:rPr dirty="0" spc="-5"/>
              <a:t>Pahary</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r>
              <a:rPr dirty="0" spc="-5"/>
              <a:t>Page</a:t>
            </a:r>
            <a:r>
              <a:rPr dirty="0" spc="-55"/>
              <a:t> </a:t>
            </a:r>
            <a:fld id="{81D60167-4931-47E6-BA6A-407CBD079E47}" type="slidenum">
              <a:rPr dirty="0"/>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idx="2" sz="half"/>
          </p:nvPr>
        </p:nvSpPr>
        <p:spPr>
          <a:xfrm>
            <a:off x="378142" y="2459482"/>
            <a:ext cx="3289839" cy="7057644"/>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3894867" y="2459482"/>
            <a:ext cx="3289839" cy="7057644"/>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r>
              <a:rPr dirty="0" spc="-5"/>
              <a:t>Mr</a:t>
            </a:r>
            <a:r>
              <a:rPr dirty="0" spc="-60"/>
              <a:t> </a:t>
            </a:r>
            <a:r>
              <a:rPr dirty="0" spc="-5"/>
              <a:t>Pahary</a:t>
            </a:r>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r>
              <a:rPr dirty="0" spc="-5"/>
              <a:t>Page</a:t>
            </a:r>
            <a:r>
              <a:rPr dirty="0" spc="-55"/>
              <a:t> </a:t>
            </a:r>
            <a:fld id="{81D60167-4931-47E6-BA6A-407CBD079E47}" type="slidenum">
              <a:rPr dirty="0"/>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ftr" idx="5" sz="quarter"/>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r>
              <a:rPr dirty="0" spc="-5"/>
              <a:t>Mr</a:t>
            </a:r>
            <a:r>
              <a:rPr dirty="0" spc="-60"/>
              <a:t> </a:t>
            </a:r>
            <a:r>
              <a:rPr dirty="0" spc="-5"/>
              <a:t>Pahary</a:t>
            </a:r>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r>
              <a:rPr dirty="0" spc="-5"/>
              <a:t>Page</a:t>
            </a:r>
            <a:r>
              <a:rPr dirty="0" spc="-55"/>
              <a:t> </a:t>
            </a:r>
            <a:fld id="{81D60167-4931-47E6-BA6A-407CBD079E47}" type="slidenum">
              <a:rPr dirty="0"/>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r>
              <a:rPr dirty="0" spc="-5"/>
              <a:t>Mr</a:t>
            </a:r>
            <a:r>
              <a:rPr dirty="0" spc="-60"/>
              <a:t> </a:t>
            </a:r>
            <a:r>
              <a:rPr dirty="0" spc="-5"/>
              <a:t>Pahary</a:t>
            </a:r>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r>
              <a:rPr dirty="0" spc="-5"/>
              <a:t>Page</a:t>
            </a:r>
            <a:r>
              <a:rPr dirty="0" spc="-55"/>
              <a:t> </a:t>
            </a:r>
            <a:fld id="{81D60167-4931-47E6-BA6A-407CBD079E47}" type="slidenum">
              <a:rPr dirty="0"/>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8142" y="427736"/>
            <a:ext cx="6806565" cy="1710944"/>
          </a:xfrm>
          <a:prstGeom prst="rect">
            <a:avLst/>
          </a:prstGeom>
        </p:spPr>
        <p:txBody>
          <a:bodyPr wrap="square" lIns="0" tIns="0" rIns="0" bIns="0">
            <a:spAutoFit/>
          </a:bodyPr>
          <a:lstStyle>
            <a:lvl1pPr>
              <a:defRPr/>
            </a:lvl1pPr>
          </a:lstStyle>
          <a:p/>
        </p:txBody>
      </p:sp>
      <p:sp>
        <p:nvSpPr>
          <p:cNvPr id="3" name="Holder 3"/>
          <p:cNvSpPr>
            <a:spLocks noGrp="1"/>
          </p:cNvSpPr>
          <p:nvPr>
            <p:ph type="body" idx="1"/>
          </p:nvPr>
        </p:nvSpPr>
        <p:spPr>
          <a:xfrm>
            <a:off x="378142" y="2459482"/>
            <a:ext cx="6806565" cy="7057644"/>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a:xfrm>
            <a:off x="534416" y="9905322"/>
            <a:ext cx="748030" cy="194309"/>
          </a:xfrm>
          <a:prstGeom prst="rect">
            <a:avLst/>
          </a:prstGeom>
        </p:spPr>
        <p:txBody>
          <a:bodyPr wrap="square" lIns="0" tIns="0" rIns="0" bIns="0">
            <a:spAutoFit/>
          </a:bodyPr>
          <a:lstStyle>
            <a:lvl1pPr>
              <a:defRPr sz="1200" b="1" i="0">
                <a:solidFill>
                  <a:schemeClr val="tx1"/>
                </a:solidFill>
                <a:latin typeface="Times New Roman"/>
                <a:cs typeface="Times New Roman"/>
              </a:defRPr>
            </a:lvl1pPr>
          </a:lstStyle>
          <a:p>
            <a:pPr marL="12700">
              <a:lnSpc>
                <a:spcPts val="1410"/>
              </a:lnSpc>
            </a:pPr>
            <a:r>
              <a:rPr dirty="0" spc="-5"/>
              <a:t>Mr</a:t>
            </a:r>
            <a:r>
              <a:rPr dirty="0" spc="-60"/>
              <a:t> </a:t>
            </a:r>
            <a:r>
              <a:rPr dirty="0" spc="-5"/>
              <a:t>Pahary</a:t>
            </a:r>
          </a:p>
        </p:txBody>
      </p:sp>
      <p:sp>
        <p:nvSpPr>
          <p:cNvPr id="5" name="Holder 5"/>
          <p:cNvSpPr>
            <a:spLocks noGrp="1"/>
          </p:cNvSpPr>
          <p:nvPr>
            <p:ph type="dt" idx="6" sz="half"/>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3026791" y="9905322"/>
            <a:ext cx="552450" cy="194309"/>
          </a:xfrm>
          <a:prstGeom prst="rect">
            <a:avLst/>
          </a:prstGeom>
        </p:spPr>
        <p:txBody>
          <a:bodyPr wrap="square" lIns="0" tIns="0" rIns="0" bIns="0">
            <a:spAutoFit/>
          </a:bodyPr>
          <a:lstStyle>
            <a:lvl1pPr>
              <a:defRPr sz="1200" b="1" i="0">
                <a:solidFill>
                  <a:schemeClr val="tx1"/>
                </a:solidFill>
                <a:latin typeface="Times New Roman"/>
                <a:cs typeface="Times New Roman"/>
              </a:defRPr>
            </a:lvl1pPr>
          </a:lstStyle>
          <a:p>
            <a:pPr marL="12700">
              <a:lnSpc>
                <a:spcPts val="1410"/>
              </a:lnSpc>
            </a:pPr>
            <a:r>
              <a:rPr dirty="0" spc="-5"/>
              <a:t>Page</a:t>
            </a:r>
            <a:r>
              <a:rPr dirty="0" spc="-55"/>
              <a:t> </a:t>
            </a:r>
            <a:fld id="{81D60167-4931-47E6-BA6A-407CBD079E47}" type="slidenum">
              <a:rPr dirty="0"/>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image" Target="../media/image21.png"/><Relationship Id="rId23" Type="http://schemas.openxmlformats.org/officeDocument/2006/relationships/image" Target="../media/image22.png"/><Relationship Id="rId24" Type="http://schemas.openxmlformats.org/officeDocument/2006/relationships/image" Target="../media/image23.png"/><Relationship Id="rId25" Type="http://schemas.openxmlformats.org/officeDocument/2006/relationships/image" Target="../media/image24.png"/><Relationship Id="rId26" Type="http://schemas.openxmlformats.org/officeDocument/2006/relationships/image" Target="../media/image25.png"/><Relationship Id="rId27" Type="http://schemas.openxmlformats.org/officeDocument/2006/relationships/image" Target="../media/image26.png"/><Relationship Id="rId28" Type="http://schemas.openxmlformats.org/officeDocument/2006/relationships/image" Target="../media/image27.png"/><Relationship Id="rId29" Type="http://schemas.openxmlformats.org/officeDocument/2006/relationships/image" Target="../media/image28.png"/><Relationship Id="rId30" Type="http://schemas.openxmlformats.org/officeDocument/2006/relationships/image" Target="../media/image29.png"/><Relationship Id="rId31" Type="http://schemas.openxmlformats.org/officeDocument/2006/relationships/image" Target="../media/image30.png"/><Relationship Id="rId32" Type="http://schemas.openxmlformats.org/officeDocument/2006/relationships/image" Target="../media/image31.png"/><Relationship Id="rId33" Type="http://schemas.openxmlformats.org/officeDocument/2006/relationships/image" Target="../media/image32.png"/><Relationship Id="rId34" Type="http://schemas.openxmlformats.org/officeDocument/2006/relationships/image" Target="../media/image33.png"/><Relationship Id="rId35" Type="http://schemas.openxmlformats.org/officeDocument/2006/relationships/image" Target="../media/image34.png"/><Relationship Id="rId36" Type="http://schemas.openxmlformats.org/officeDocument/2006/relationships/image" Target="../media/image3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www.newworldencyclopedia.org/entry/Al-Mansur" TargetMode="External"/><Relationship Id="rId3" Type="http://schemas.openxmlformats.org/officeDocument/2006/relationships/hyperlink" Target="http://www.newworldencyclopedia.org/entry/Shi%27a" TargetMode="External"/><Relationship Id="rId4" Type="http://schemas.openxmlformats.org/officeDocument/2006/relationships/hyperlink" Target="http://www.newworldencyclopedia.org/entry/Arabia" TargetMode="External"/><Relationship Id="rId5" Type="http://schemas.openxmlformats.org/officeDocument/2006/relationships/hyperlink" Target="http://www.newworldencyclopedia.org/entry/Iraq" TargetMode="External"/><Relationship Id="rId6" Type="http://schemas.openxmlformats.org/officeDocument/2006/relationships/hyperlink" Target="http://www.newworldencyclopedia.org/entry/Syria" TargetMode="External"/><Relationship Id="rId7" Type="http://schemas.openxmlformats.org/officeDocument/2006/relationships/hyperlink" Target="http://www.newworldencyclopedia.org/entry/Iran" TargetMode="External"/><Relationship Id="rId8" Type="http://schemas.openxmlformats.org/officeDocument/2006/relationships/hyperlink" Target="http://www.newworldencyclopedia.org/entry/India" TargetMode="External"/><Relationship Id="rId9" Type="http://schemas.openxmlformats.org/officeDocument/2006/relationships/hyperlink" Target="http://www.newworldencyclopedia.org/entry/Spain" TargetMode="External"/><Relationship Id="rId10" Type="http://schemas.openxmlformats.org/officeDocument/2006/relationships/hyperlink" Target="http://www.newworldencyclopedia.org/entry/Dialogue" TargetMode="External"/><Relationship Id="rId11" Type="http://schemas.openxmlformats.org/officeDocument/2006/relationships/hyperlink" Target="http://www.newworldencyclopedia.org/entry/Nestorian" TargetMode="External"/><Relationship Id="rId12" Type="http://schemas.openxmlformats.org/officeDocument/2006/relationships/hyperlink" Target="http://www.newworldencyclopedia.org/entry/Religious_freedom" TargetMode="External"/><Relationship Id="rId13" Type="http://schemas.openxmlformats.org/officeDocument/2006/relationships/hyperlink" Target="http://www.newworldencyclopedia.org/entry/Umayyads" TargetMode="External"/><Relationship Id="rId14" Type="http://schemas.openxmlformats.org/officeDocument/2006/relationships/hyperlink" Target="http://www.newworldencyclopedia.org/entry/Shariah" TargetMode="External"/><Relationship Id="rId15" Type="http://schemas.openxmlformats.org/officeDocument/2006/relationships/hyperlink" Target="http://www.newworldencyclopedia.org/entry/Imperialism" TargetMode="External"/><Relationship Id="rId16" Type="http://schemas.openxmlformats.org/officeDocument/2006/relationships/hyperlink" Target="http://www.newworldencyclopedia.org/entry/Qur%27an" TargetMode="External"/><Relationship Id="rId17" Type="http://schemas.openxmlformats.org/officeDocument/2006/relationships/hyperlink" Target="http://www.newworldencyclopedia.org/entry/Muhammad" TargetMode="External"/><Relationship Id="rId18" Type="http://schemas.openxmlformats.org/officeDocument/2006/relationships/hyperlink" Target="http://www.newworldencyclopedia.org/entry/Mani" TargetMode="External"/><Relationship Id="rId19" Type="http://schemas.openxmlformats.org/officeDocument/2006/relationships/hyperlink" Target="http://www.newworldencyclopedia.org/entry/Manicheanism" TargetMode="External"/><Relationship Id="rId20" Type="http://schemas.openxmlformats.org/officeDocument/2006/relationships/hyperlink" Target="http://www.newworldencyclopedia.org/entry/Philosophy" TargetMode="External"/><Relationship Id="rId21" Type="http://schemas.openxmlformats.org/officeDocument/2006/relationships/hyperlink" Target="http://www.newworldencyclopedia.org/entry/Byzantine_Empire" TargetMode="External"/><Relationship Id="rId22" Type="http://schemas.openxmlformats.org/officeDocument/2006/relationships/hyperlink" Target="http://www.newworldencyclopedia.org/entry/Ankara" TargetMode="External"/><Relationship Id="rId23" Type="http://schemas.openxmlformats.org/officeDocument/2006/relationships/hyperlink" Target="http://en.wikipedia.org/wiki/Science_in_medieval_Islam" TargetMode="External"/><Relationship Id="rId24" Type="http://schemas.openxmlformats.org/officeDocument/2006/relationships/hyperlink" Target="http://en.wikipedia.org/wiki/Muslim_culture" TargetMode="External"/><Relationship Id="rId25" Type="http://schemas.openxmlformats.org/officeDocument/2006/relationships/hyperlink" Target="http://en.wikipedia.org/wiki/Islam" TargetMode="External"/><Relationship Id="rId26" Type="http://schemas.openxmlformats.org/officeDocument/2006/relationships/hyperlink" Target="http://en.wikipedia.org/wiki/Islamic_art" TargetMode="External"/><Relationship Id="rId27" Type="http://schemas.openxmlformats.org/officeDocument/2006/relationships/hyperlink" Target="http://en.wikipedia.org/wiki/Islamic_music" TargetMode="External"/><Relationship Id="rId28" Type="http://schemas.openxmlformats.org/officeDocument/2006/relationships/hyperlink" Target="http://en.wikipedia.org/wiki/House_of_Wisdom" TargetMode="External"/><Relationship Id="rId29" Type="http://schemas.openxmlformats.org/officeDocument/2006/relationships/hyperlink" Target="http://en.wikipedia.org/wiki/Ibn_Kathir" TargetMode="External"/><Relationship Id="rId30" Type="http://schemas.openxmlformats.org/officeDocument/2006/relationships/hyperlink" Target="http://en.wikipedia.org/wiki/Thousand_and_One_Nights" TargetMode="External"/><Relationship Id="rId31" Type="http://schemas.openxmlformats.org/officeDocument/2006/relationships/hyperlink" Target="http://en.wikipedia.org/wiki/Architecture" TargetMode="External"/><Relationship Id="rId32" Type="http://schemas.openxmlformats.org/officeDocument/2006/relationships/hyperlink" Target="http://en.wikipedia.org/wiki/Arts"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en.wikipedia.org/wiki/Arab_Empire" TargetMode="External"/><Relationship Id="rId3" Type="http://schemas.openxmlformats.org/officeDocument/2006/relationships/hyperlink" Target="http://en.wikipedia.org/wiki/Iraq" TargetMode="External"/><Relationship Id="rId4" Type="http://schemas.openxmlformats.org/officeDocument/2006/relationships/hyperlink" Target="http://en.wikipedia.org/wiki/Baghdad" TargetMode="External"/><Relationship Id="rId5" Type="http://schemas.openxmlformats.org/officeDocument/2006/relationships/hyperlink" Target="http://en.wikipedia.org/wiki/Hashemites" TargetMode="External"/><Relationship Id="rId6" Type="http://schemas.openxmlformats.org/officeDocument/2006/relationships/hyperlink" Target="http://en.wikipedia.org/wiki/Ibrahim_ibn_al-Mahdi" TargetMode="External"/><Relationship Id="rId7" Type="http://schemas.openxmlformats.org/officeDocument/2006/relationships/hyperlink" Target="http://en.wikipedia.org/wiki/Ali_ar-Rida" TargetMode="External"/><Relationship Id="rId8" Type="http://schemas.openxmlformats.org/officeDocument/2006/relationships/hyperlink" Target="http://en.wikipedia.org/wiki/Byzantine_Greeks" TargetMode="External"/><Relationship Id="rId9" Type="http://schemas.openxmlformats.org/officeDocument/2006/relationships/hyperlink" Target="http://en.wikipedia.org/wiki/Ancient_Greece" TargetMode="External"/><Relationship Id="rId10" Type="http://schemas.openxmlformats.org/officeDocument/2006/relationships/hyperlink" Target="http://en.wikipedia.org/wiki/Philosophy" TargetMode="External"/><Relationship Id="rId11" Type="http://schemas.openxmlformats.org/officeDocument/2006/relationships/hyperlink" Target="http://en.wikipedia.org/wiki/Science" TargetMode="External"/><Relationship Id="rId12" Type="http://schemas.openxmlformats.org/officeDocument/2006/relationships/hyperlink" Target="http://en.wikipedia.org/wiki/Byzantine_Empire" TargetMode="External"/><Relationship Id="rId13" Type="http://schemas.openxmlformats.org/officeDocument/2006/relationships/hyperlink" Target="http://en.wikipedia.org/wiki/Arabic" TargetMode="External"/><Relationship Id="rId14" Type="http://schemas.openxmlformats.org/officeDocument/2006/relationships/hyperlink" Target="http://en.wikipedia.org/wiki/Almagest" TargetMode="External"/><Relationship Id="rId15" Type="http://schemas.openxmlformats.org/officeDocument/2006/relationships/hyperlink" Target="http://en.wikipedia.org/wiki/House_of_Wisdom" TargetMode="External"/><Relationship Id="rId16" Type="http://schemas.openxmlformats.org/officeDocument/2006/relationships/hyperlink" Target="http://en.wikipedia.org/wiki/Ulama" TargetMode="External"/><Relationship Id="rId17" Type="http://schemas.openxmlformats.org/officeDocument/2006/relationships/hyperlink" Target="http://en.wikipedia.org/wiki/Mihna" TargetMode="External"/><Relationship Id="rId18" Type="http://schemas.openxmlformats.org/officeDocument/2006/relationships/hyperlink" Target="http://en.wikipedia.org/wiki/Alchemy" TargetMode="External"/><Relationship Id="rId19" Type="http://schemas.openxmlformats.org/officeDocument/2006/relationships/hyperlink" Target="http://en.wikipedia.org/wiki/Jabir_Ibn_Hayyan" TargetMode="External"/><Relationship Id="rId20" Type="http://schemas.openxmlformats.org/officeDocument/2006/relationships/hyperlink" Target="http://en.wikipedia.org/w/index.php?title=Yusuf_Lukwa&amp;action=edit&amp;redlink=1" TargetMode="External"/><Relationship Id="rId21" Type="http://schemas.openxmlformats.org/officeDocument/2006/relationships/hyperlink" Target="http://en.wikipedia.org/wiki/Gold" TargetMode="External"/><Relationship Id="rId22" Type="http://schemas.openxmlformats.org/officeDocument/2006/relationships/hyperlink" Target="http://en.wikipedia.org/wiki/Pharmaceutical"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en.wikipedia.org/wiki/Al-Mutawakkil" TargetMode="External"/><Relationship Id="rId3" Type="http://schemas.openxmlformats.org/officeDocument/2006/relationships/hyperlink" Target="http://en.wikipedia.org/wiki/Sunnism"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islam.about.com/od/basicbeliefs/p/intro.htm" TargetMode="External"/><Relationship Id="rId3" Type="http://schemas.openxmlformats.org/officeDocument/2006/relationships/hyperlink" Target="http://islam.about.com/od/law/a/sources.htm" TargetMode="Externa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www.answers.com/topic/islam" TargetMode="External"/><Relationship Id="rId3" Type="http://schemas.openxmlformats.org/officeDocument/2006/relationships/hyperlink" Target="http://www.answers.com/library/Columbia%20Encyclopedia-cid-80297" TargetMode="External"/><Relationship Id="rId4" Type="http://schemas.openxmlformats.org/officeDocument/2006/relationships/hyperlink" Target="http://www.answers.com/library/Philosophy%20Dictionary-cid-80297" TargetMode="External"/><Relationship Id="rId5" Type="http://schemas.openxmlformats.org/officeDocument/2006/relationships/hyperlink" Target="http://www.answers.com/library/Britannica%20Concise%20Encyclopedia-cid-80297" TargetMode="External"/><Relationship Id="rId6" Type="http://schemas.openxmlformats.org/officeDocument/2006/relationships/hyperlink" Target="http://www.answers.com/topic/obedience" TargetMode="External"/><Relationship Id="rId7" Type="http://schemas.openxmlformats.org/officeDocument/2006/relationships/hyperlink" Target="http://www.answers.com/library/Food%20%26%20Culture%20Encyclopedia-cid-80297" TargetMode="External"/><Relationship Id="rId8" Type="http://schemas.openxmlformats.org/officeDocument/2006/relationships/hyperlink" Target="http://www.answers.com/topic/arabic-language" TargetMode="External"/><Relationship Id="rId9" Type="http://schemas.openxmlformats.org/officeDocument/2006/relationships/hyperlink" Target="http://www.answers.com/topic/persian-language" TargetMode="External"/><Relationship Id="rId10" Type="http://schemas.openxmlformats.org/officeDocument/2006/relationships/hyperlink" Target="http://www.answers.com/topic/turkish-language" TargetMode="External"/><Relationship Id="rId11" Type="http://schemas.openxmlformats.org/officeDocument/2006/relationships/hyperlink" Target="http://www.answers.com/topic/mysticism" TargetMode="External"/><Relationship Id="rId12" Type="http://schemas.openxmlformats.org/officeDocument/2006/relationships/hyperlink" Target="http://www.answers.com/library/Wikipedia-cid-80297" TargetMode="Externa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en.wikipedia.org/wiki/Muslim" TargetMode="External"/><Relationship Id="rId3" Type="http://schemas.openxmlformats.org/officeDocument/2006/relationships/hyperlink" Target="http://en.wikipedia.org/wiki/Arab" TargetMode="External"/><Relationship Id="rId4" Type="http://schemas.openxmlformats.org/officeDocument/2006/relationships/hyperlink" Target="http://en.wikipedia.org/wiki/Scientist" TargetMode="External"/><Relationship Id="rId5" Type="http://schemas.openxmlformats.org/officeDocument/2006/relationships/hyperlink" Target="http://en.wikipedia.org/wiki/Philosopher" TargetMode="External"/><Relationship Id="rId6" Type="http://schemas.openxmlformats.org/officeDocument/2006/relationships/hyperlink" Target="http://en.wikipedia.org/wiki/Mathematician" TargetMode="External"/><Relationship Id="rId7" Type="http://schemas.openxmlformats.org/officeDocument/2006/relationships/hyperlink" Target="http://en.wikipedia.org/wiki/Physician" TargetMode="External"/><Relationship Id="rId8" Type="http://schemas.openxmlformats.org/officeDocument/2006/relationships/hyperlink" Target="http://en.wikipedia.org/wiki/Musician" TargetMode="External"/><Relationship Id="rId9" Type="http://schemas.openxmlformats.org/officeDocument/2006/relationships/hyperlink" Target="http://en.wikipedia.org/wiki/Peripatetic_school" TargetMode="External"/><Relationship Id="rId10" Type="http://schemas.openxmlformats.org/officeDocument/2006/relationships/hyperlink" Target="http://en.wikipedia.org/wiki/Islamic_philosophy" TargetMode="External"/><Relationship Id="rId11" Type="http://schemas.openxmlformats.org/officeDocument/2006/relationships/hyperlink" Target="http://en.wikipedia.org/wiki/Greek_philosophy" TargetMode="External"/><Relationship Id="rId12" Type="http://schemas.openxmlformats.org/officeDocument/2006/relationships/hyperlink" Target="http://en.wikipedia.org/wiki/Hellenistic_philosophy" TargetMode="External"/><Relationship Id="rId13" Type="http://schemas.openxmlformats.org/officeDocument/2006/relationships/hyperlink" Target="http://en.wikipedia.org/wiki/Muslim_world" TargetMode="Externa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en.wikipedia.org/wiki/Kindites" TargetMode="External"/><Relationship Id="rId3" Type="http://schemas.openxmlformats.org/officeDocument/2006/relationships/hyperlink" Target="http://en.wikipedia.org/wiki/Kufa" TargetMode="External"/><Relationship Id="rId4" Type="http://schemas.openxmlformats.org/officeDocument/2006/relationships/hyperlink" Target="http://en.wikipedia.org/wiki/Baghdad" TargetMode="External"/><Relationship Id="rId5" Type="http://schemas.openxmlformats.org/officeDocument/2006/relationships/hyperlink" Target="http://en.wikipedia.org/wiki/House_of_Wisdom" TargetMode="External"/><Relationship Id="rId6" Type="http://schemas.openxmlformats.org/officeDocument/2006/relationships/hyperlink" Target="http://en.wikipedia.org/wiki/Abbasid" TargetMode="External"/><Relationship Id="rId7" Type="http://schemas.openxmlformats.org/officeDocument/2006/relationships/hyperlink" Target="http://en.wikipedia.org/wiki/Ancient_Greece" TargetMode="External"/><Relationship Id="rId8" Type="http://schemas.openxmlformats.org/officeDocument/2006/relationships/hyperlink" Target="http://en.wikipedia.org/wiki/Arabic_language" TargetMode="External"/><Relationship Id="rId9" Type="http://schemas.openxmlformats.org/officeDocument/2006/relationships/hyperlink" Target="http://en.wikipedia.org/wiki/Muslim" TargetMode="External"/><Relationship Id="rId10" Type="http://schemas.openxmlformats.org/officeDocument/2006/relationships/hyperlink" Target="http://en.wikipedia.org/wiki/Islamic_science" TargetMode="External"/><Relationship Id="rId11" Type="http://schemas.openxmlformats.org/officeDocument/2006/relationships/hyperlink" Target="http://en.wikipedia.org/wiki/Early_Islamic_philosophy" TargetMode="External"/><Relationship Id="rId12" Type="http://schemas.openxmlformats.org/officeDocument/2006/relationships/hyperlink" Target="http://en.wikipedia.org/wiki/Islamic_Golden_Age" TargetMode="External"/><Relationship Id="rId13" Type="http://schemas.openxmlformats.org/officeDocument/2006/relationships/hyperlink" Target="http://en.wikipedia.org/wiki/Islamic_astronomy" TargetMode="External"/><Relationship Id="rId14" Type="http://schemas.openxmlformats.org/officeDocument/2006/relationships/hyperlink" Target="http://en.wikipedia.org/wiki/Logic_in_Islamic_philosophy" TargetMode="External"/><Relationship Id="rId15" Type="http://schemas.openxmlformats.org/officeDocument/2006/relationships/hyperlink" Target="http://en.wikipedia.org/wiki/Islamic_music" TargetMode="External"/><Relationship Id="rId16" Type="http://schemas.openxmlformats.org/officeDocument/2006/relationships/hyperlink" Target="http://en.wikipedia.org/wiki/Muslim_psychology" TargetMode="External"/><Relationship Id="rId17" Type="http://schemas.openxmlformats.org/officeDocument/2006/relationships/hyperlink" Target="http://en.wikipedia.org/wiki/Plato" TargetMode="External"/><Relationship Id="rId18" Type="http://schemas.openxmlformats.org/officeDocument/2006/relationships/hyperlink" Target="http://en.wikipedia.org/wiki/Aristotle" TargetMode="External"/><Relationship Id="rId19" Type="http://schemas.openxmlformats.org/officeDocument/2006/relationships/hyperlink" Target="http://en.wikipedia.org/wiki/Islamic_metaphysics" TargetMode="External"/><Relationship Id="rId20" Type="http://schemas.openxmlformats.org/officeDocument/2006/relationships/hyperlink" Target="http://en.wikipedia.org/wiki/Scientific_method" TargetMode="External"/><Relationship Id="rId21" Type="http://schemas.openxmlformats.org/officeDocument/2006/relationships/hyperlink" Target="http://en.wikipedia.org/wiki/Modernity" TargetMode="External"/><Relationship Id="rId22" Type="http://schemas.openxmlformats.org/officeDocument/2006/relationships/hyperlink" Target="http://en.wikipedia.org/wiki/Politics" TargetMode="External"/><Relationship Id="rId23" Type="http://schemas.openxmlformats.org/officeDocument/2006/relationships/hyperlink" Target="http://en.wikipedia.org/wiki/Primum_movens" TargetMode="External"/><Relationship Id="rId24" Type="http://schemas.openxmlformats.org/officeDocument/2006/relationships/hyperlink" Target="http://en.wikipedia.org/wiki/Knowledge" TargetMode="External"/><Relationship Id="rId25" Type="http://schemas.openxmlformats.org/officeDocument/2006/relationships/hyperlink" Target="http://en.wikipedia.org/wiki/Sufism" TargetMode="External"/><Relationship Id="rId26" Type="http://schemas.openxmlformats.org/officeDocument/2006/relationships/hyperlink" Target="http://en.wikipedia.org/wiki/Avicenna" TargetMode="External"/><Relationship Id="rId27" Type="http://schemas.openxmlformats.org/officeDocument/2006/relationships/hyperlink" Target="http://en.wikipedia.org/wiki/Bukhara" TargetMode="External"/><Relationship Id="rId28" Type="http://schemas.openxmlformats.org/officeDocument/2006/relationships/hyperlink" Target="http://en.wikipedia.org/wiki/Hamadan" TargetMode="External"/><Relationship Id="rId29" Type="http://schemas.openxmlformats.org/officeDocument/2006/relationships/hyperlink" Target="http://en.wikipedia.org/wiki/Iran" TargetMode="External"/><Relationship Id="rId30" Type="http://schemas.openxmlformats.org/officeDocument/2006/relationships/hyperlink" Target="http://en.wikipedia.org/wiki/Persian_people" TargetMode="External"/><Relationship Id="rId31" Type="http://schemas.openxmlformats.org/officeDocument/2006/relationships/hyperlink" Target="http://en.wikipedia.org/wiki/Kushyar_ibn_Labban" TargetMode="External"/><Relationship Id="rId32" Type="http://schemas.openxmlformats.org/officeDocument/2006/relationships/hyperlink" Target="http://en.wikipedia.org/wiki/The_Book_of_Healing" TargetMode="External"/><Relationship Id="rId33" Type="http://schemas.openxmlformats.org/officeDocument/2006/relationships/hyperlink" Target="http://en.wikipedia.org/wiki/Encyclopaedia" TargetMode="External"/><Relationship Id="rId34" Type="http://schemas.openxmlformats.org/officeDocument/2006/relationships/hyperlink" Target="http://en.wikipedia.org/wiki/The_Canon_of_Medicine" TargetMode="External"/><Relationship Id="rId35" Type="http://schemas.openxmlformats.org/officeDocument/2006/relationships/hyperlink" Target="http://en.wikipedia.org/wiki/Astronomy_in_medieval_Islam" TargetMode="External"/><Relationship Id="rId36" Type="http://schemas.openxmlformats.org/officeDocument/2006/relationships/hyperlink" Target="http://en.wikipedia.org/wiki/Alchemy_and_chemistry_in_medieval_Islam" TargetMode="External"/><Relationship Id="rId37" Type="http://schemas.openxmlformats.org/officeDocument/2006/relationships/hyperlink" Target="http://en.wikipedia.org/wiki/Geography_and_cartography_in_medieval_Islam" TargetMode="External"/><Relationship Id="rId38" Type="http://schemas.openxmlformats.org/officeDocument/2006/relationships/hyperlink" Target="http://en.wikipedia.org/wiki/Hafiz_(Qur%27an)" TargetMode="External"/><Relationship Id="rId39" Type="http://schemas.openxmlformats.org/officeDocument/2006/relationships/hyperlink" Target="http://en.wikipedia.org/wiki/Psychology_in_medieval_Islam" TargetMode="External"/><Relationship Id="rId40" Type="http://schemas.openxmlformats.org/officeDocument/2006/relationships/hyperlink" Target="http://en.wikipedia.org/wiki/Muslim_scholars" TargetMode="External"/><Relationship Id="rId41" Type="http://schemas.openxmlformats.org/officeDocument/2006/relationships/hyperlink" Target="http://en.wikipedia.org/wiki/Islamic_theology" TargetMode="Externa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en.wikipedia.org/wiki/Mathematics_in_medieval_Islam" TargetMode="External"/><Relationship Id="rId3" Type="http://schemas.openxmlformats.org/officeDocument/2006/relationships/hyperlink" Target="http://en.wikipedia.org/wiki/Maktab" TargetMode="External"/><Relationship Id="rId4" Type="http://schemas.openxmlformats.org/officeDocument/2006/relationships/hyperlink" Target="http://en.wikipedia.org/wiki/Physics_in_medieval_Islam" TargetMode="External"/><Relationship Id="rId5" Type="http://schemas.openxmlformats.org/officeDocument/2006/relationships/hyperlink" Target="http://en.wikipedia.org/wiki/Islamic_poetry" TargetMode="External"/><Relationship Id="rId6" Type="http://schemas.openxmlformats.org/officeDocument/2006/relationships/hyperlink" Target="http://en.wikipedia.org/wiki/Science_in_medieval_Islam" TargetMode="External"/><Relationship Id="rId7" Type="http://schemas.openxmlformats.org/officeDocument/2006/relationships/hyperlink" Target="http://en.wikipedia.org/wiki/Islamic_Golden_Age" TargetMode="External"/><Relationship Id="rId8" Type="http://schemas.openxmlformats.org/officeDocument/2006/relationships/hyperlink" Target="http://en.wikipedia.org/wiki/1058" TargetMode="External"/><Relationship Id="rId9" Type="http://schemas.openxmlformats.org/officeDocument/2006/relationships/hyperlink" Target="http://en.wikipedia.org/wiki/1111" TargetMode="External"/><Relationship Id="rId10" Type="http://schemas.openxmlformats.org/officeDocument/2006/relationships/hyperlink" Target="http://en.wikipedia.org/wiki/Tus%2C_Iran" TargetMode="External"/><Relationship Id="rId11" Type="http://schemas.openxmlformats.org/officeDocument/2006/relationships/hyperlink" Target="http://en.wikipedia.org/wiki/Khorasan_Province" TargetMode="External"/><Relationship Id="rId12" Type="http://schemas.openxmlformats.org/officeDocument/2006/relationships/hyperlink" Target="http://en.wikipedia.org/wiki/Persia" TargetMode="External"/><Relationship Id="rId13" Type="http://schemas.openxmlformats.org/officeDocument/2006/relationships/hyperlink" Target="http://en.wikipedia.org/wiki/Iran" TargetMode="External"/><Relationship Id="rId14" Type="http://schemas.openxmlformats.org/officeDocument/2006/relationships/hyperlink" Target="http://en.wikipedia.org/wiki/Persian_people" TargetMode="External"/><Relationship Id="rId15" Type="http://schemas.openxmlformats.org/officeDocument/2006/relationships/hyperlink" Target="http://en.wikipedia.org/wiki/Muslim" TargetMode="External"/><Relationship Id="rId16" Type="http://schemas.openxmlformats.org/officeDocument/2006/relationships/hyperlink" Target="http://en.wikipedia.org/wiki/Theologian" TargetMode="External"/><Relationship Id="rId17" Type="http://schemas.openxmlformats.org/officeDocument/2006/relationships/hyperlink" Target="http://en.wikipedia.org/wiki/Jurist" TargetMode="External"/><Relationship Id="rId18" Type="http://schemas.openxmlformats.org/officeDocument/2006/relationships/hyperlink" Target="http://en.wikipedia.org/wiki/Philosopher" TargetMode="External"/><Relationship Id="rId19" Type="http://schemas.openxmlformats.org/officeDocument/2006/relationships/hyperlink" Target="http://en.wikipedia.org/wiki/Mysticism" TargetMode="External"/><Relationship Id="rId20" Type="http://schemas.openxmlformats.org/officeDocument/2006/relationships/hyperlink" Target="http://en.wikipedia.org/wiki/Muhammad" TargetMode="External"/><Relationship Id="rId21" Type="http://schemas.openxmlformats.org/officeDocument/2006/relationships/hyperlink" Target="http://en.wikipedia.org/wiki/Neoplatonism" TargetMode="External"/><Relationship Id="rId22" Type="http://schemas.openxmlformats.org/officeDocument/2006/relationships/hyperlink" Target="http://en.wikipedia.org/wiki/Hellenistic_philosophy" TargetMode="External"/><Relationship Id="rId23" Type="http://schemas.openxmlformats.org/officeDocument/2006/relationships/hyperlink" Target="http://en.wikipedia.org/wiki/Orthodoxy" TargetMode="External"/><Relationship Id="rId24" Type="http://schemas.openxmlformats.org/officeDocument/2006/relationships/hyperlink" Target="http://en.wikipedia.org/wiki/Sufism" TargetMode="External"/><Relationship Id="rId25" Type="http://schemas.openxmlformats.org/officeDocument/2006/relationships/hyperlink" Target="http://en.wikipedia.org/wiki/Islamic_philosophy" TargetMode="External"/><Relationship Id="rId26" Type="http://schemas.openxmlformats.org/officeDocument/2006/relationships/hyperlink" Target="http://en.wikipedia.org/wiki/Islamic_theology" TargetMode="External"/><Relationship Id="rId27" Type="http://schemas.openxmlformats.org/officeDocument/2006/relationships/hyperlink" Target="http://en.wikipedia.org/wiki/Maliki" TargetMode="External"/><Relationship Id="rId28" Type="http://schemas.openxmlformats.org/officeDocument/2006/relationships/hyperlink" Target="http://en.wikipedia.org/wiki/Sharia" TargetMode="External"/><Relationship Id="rId29" Type="http://schemas.openxmlformats.org/officeDocument/2006/relationships/hyperlink" Target="http://en.wikipedia.org/wiki/Fiqh" TargetMode="External"/><Relationship Id="rId30" Type="http://schemas.openxmlformats.org/officeDocument/2006/relationships/hyperlink" Target="http://en.wikipedia.org/wiki/Logic" TargetMode="External"/><Relationship Id="rId31" Type="http://schemas.openxmlformats.org/officeDocument/2006/relationships/hyperlink" Target="http://en.wikipedia.org/wiki/Psychology" TargetMode="External"/><Relationship Id="rId32" Type="http://schemas.openxmlformats.org/officeDocument/2006/relationships/hyperlink" Target="http://en.wikipedia.org/wiki/Politics" TargetMode="External"/><Relationship Id="rId33" Type="http://schemas.openxmlformats.org/officeDocument/2006/relationships/hyperlink" Target="http://en.wikipedia.org/wiki/Arabic_music" TargetMode="External"/><Relationship Id="rId34" Type="http://schemas.openxmlformats.org/officeDocument/2006/relationships/hyperlink" Target="http://en.wikipedia.org/wiki/Medicine" TargetMode="External"/><Relationship Id="rId35" Type="http://schemas.openxmlformats.org/officeDocument/2006/relationships/hyperlink" Target="http://en.wikipedia.org/wiki/Astronomy" TargetMode="External"/><Relationship Id="rId36" Type="http://schemas.openxmlformats.org/officeDocument/2006/relationships/hyperlink" Target="http://en.wikipedia.org/wiki/Geography" TargetMode="External"/><Relationship Id="rId37" Type="http://schemas.openxmlformats.org/officeDocument/2006/relationships/hyperlink" Target="http://en.wikipedia.org/wiki/Mathematics" TargetMode="External"/><Relationship Id="rId38" Type="http://schemas.openxmlformats.org/officeDocument/2006/relationships/hyperlink" Target="http://en.wikipedia.org/wiki/Physics" TargetMode="External"/><Relationship Id="rId39" Type="http://schemas.openxmlformats.org/officeDocument/2006/relationships/hyperlink" Target="http://en.wikipedia.org/wiki/Celestial_mechanics" TargetMode="External"/><Relationship Id="rId40" Type="http://schemas.openxmlformats.org/officeDocument/2006/relationships/hyperlink" Target="http://en.wikipedia.org/wiki/C%C3%B3rdoba%2C_Spain" TargetMode="External"/><Relationship Id="rId41" Type="http://schemas.openxmlformats.org/officeDocument/2006/relationships/hyperlink" Target="http://en.wikipedia.org/wiki/Al_Andalus" TargetMode="External"/><Relationship Id="rId42" Type="http://schemas.openxmlformats.org/officeDocument/2006/relationships/hyperlink" Target="http://en.wikipedia.org/wiki/Spain" TargetMode="External"/><Relationship Id="rId43" Type="http://schemas.openxmlformats.org/officeDocument/2006/relationships/hyperlink" Target="http://en.wikipedia.org/wiki/Marrakesh" TargetMode="External"/><Relationship Id="rId44" Type="http://schemas.openxmlformats.org/officeDocument/2006/relationships/hyperlink" Target="http://en.wikipedia.org/wiki/Morocco" TargetMode="External"/><Relationship Id="rId45" Type="http://schemas.openxmlformats.org/officeDocument/2006/relationships/hyperlink" Target="http://en.wikipedia.org/wiki/Averroism" TargetMode="External"/><Relationship Id="rId46" Type="http://schemas.openxmlformats.org/officeDocument/2006/relationships/hyperlink" Target="http://en.wikipedia.org/wiki/Aristotelian" TargetMode="External"/><Relationship Id="rId47" Type="http://schemas.openxmlformats.org/officeDocument/2006/relationships/hyperlink" Target="http://en.wikipedia.org/wiki/Ghazali" TargetMode="Externa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47369" y="1366646"/>
            <a:ext cx="166179" cy="1014984"/>
          </a:xfrm>
          <a:prstGeom prst="rect">
            <a:avLst/>
          </a:prstGeom>
          <a:blipFill>
            <a:blip r:embed="rId2" cstate="print"/>
            <a:stretch>
              <a:fillRect/>
            </a:stretch>
          </a:blipFill>
        </p:spPr>
        <p:txBody>
          <a:bodyPr wrap="square" lIns="0" tIns="0" rIns="0" bIns="0" rtlCol="0"/>
          <a:lstStyle/>
          <a:p/>
        </p:txBody>
      </p:sp>
      <p:sp>
        <p:nvSpPr>
          <p:cNvPr id="3" name="object 3"/>
          <p:cNvSpPr/>
          <p:nvPr/>
        </p:nvSpPr>
        <p:spPr>
          <a:xfrm>
            <a:off x="807631" y="1619884"/>
            <a:ext cx="375513" cy="777748"/>
          </a:xfrm>
          <a:prstGeom prst="rect">
            <a:avLst/>
          </a:prstGeom>
          <a:blipFill>
            <a:blip r:embed="rId3" cstate="print"/>
            <a:stretch>
              <a:fillRect/>
            </a:stretch>
          </a:blipFill>
        </p:spPr>
        <p:txBody>
          <a:bodyPr wrap="square" lIns="0" tIns="0" rIns="0" bIns="0" rtlCol="0"/>
          <a:lstStyle/>
          <a:p/>
        </p:txBody>
      </p:sp>
      <p:sp>
        <p:nvSpPr>
          <p:cNvPr id="4" name="object 4"/>
          <p:cNvSpPr/>
          <p:nvPr/>
        </p:nvSpPr>
        <p:spPr>
          <a:xfrm>
            <a:off x="1299844" y="1366646"/>
            <a:ext cx="152019" cy="1014984"/>
          </a:xfrm>
          <a:prstGeom prst="rect">
            <a:avLst/>
          </a:prstGeom>
          <a:blipFill>
            <a:blip r:embed="rId4" cstate="print"/>
            <a:stretch>
              <a:fillRect/>
            </a:stretch>
          </a:blipFill>
        </p:spPr>
        <p:txBody>
          <a:bodyPr wrap="square" lIns="0" tIns="0" rIns="0" bIns="0" rtlCol="0"/>
          <a:lstStyle/>
          <a:p/>
        </p:txBody>
      </p:sp>
      <p:sp>
        <p:nvSpPr>
          <p:cNvPr id="5" name="object 5"/>
          <p:cNvSpPr/>
          <p:nvPr/>
        </p:nvSpPr>
        <p:spPr>
          <a:xfrm>
            <a:off x="1533905" y="1619884"/>
            <a:ext cx="404621" cy="777748"/>
          </a:xfrm>
          <a:prstGeom prst="rect">
            <a:avLst/>
          </a:prstGeom>
          <a:blipFill>
            <a:blip r:embed="rId5" cstate="print"/>
            <a:stretch>
              <a:fillRect/>
            </a:stretch>
          </a:blipFill>
        </p:spPr>
        <p:txBody>
          <a:bodyPr wrap="square" lIns="0" tIns="0" rIns="0" bIns="0" rtlCol="0"/>
          <a:lstStyle/>
          <a:p/>
        </p:txBody>
      </p:sp>
      <p:sp>
        <p:nvSpPr>
          <p:cNvPr id="6" name="object 6"/>
          <p:cNvSpPr/>
          <p:nvPr/>
        </p:nvSpPr>
        <p:spPr>
          <a:xfrm>
            <a:off x="2058670" y="1619884"/>
            <a:ext cx="584200" cy="761746"/>
          </a:xfrm>
          <a:prstGeom prst="rect">
            <a:avLst/>
          </a:prstGeom>
          <a:blipFill>
            <a:blip r:embed="rId6" cstate="print"/>
            <a:stretch>
              <a:fillRect/>
            </a:stretch>
          </a:blipFill>
        </p:spPr>
        <p:txBody>
          <a:bodyPr wrap="square" lIns="0" tIns="0" rIns="0" bIns="0" rtlCol="0"/>
          <a:lstStyle/>
          <a:p/>
        </p:txBody>
      </p:sp>
      <p:sp>
        <p:nvSpPr>
          <p:cNvPr id="7" name="object 7"/>
          <p:cNvSpPr/>
          <p:nvPr/>
        </p:nvSpPr>
        <p:spPr>
          <a:xfrm>
            <a:off x="2824479" y="1366646"/>
            <a:ext cx="151637" cy="222631"/>
          </a:xfrm>
          <a:prstGeom prst="rect">
            <a:avLst/>
          </a:prstGeom>
          <a:blipFill>
            <a:blip r:embed="rId7" cstate="print"/>
            <a:stretch>
              <a:fillRect/>
            </a:stretch>
          </a:blipFill>
        </p:spPr>
        <p:txBody>
          <a:bodyPr wrap="square" lIns="0" tIns="0" rIns="0" bIns="0" rtlCol="0"/>
          <a:lstStyle/>
          <a:p/>
        </p:txBody>
      </p:sp>
      <p:sp>
        <p:nvSpPr>
          <p:cNvPr id="8" name="object 8"/>
          <p:cNvSpPr/>
          <p:nvPr/>
        </p:nvSpPr>
        <p:spPr>
          <a:xfrm>
            <a:off x="2824479" y="1635886"/>
            <a:ext cx="151637" cy="745744"/>
          </a:xfrm>
          <a:prstGeom prst="rect">
            <a:avLst/>
          </a:prstGeom>
          <a:blipFill>
            <a:blip r:embed="rId8" cstate="print"/>
            <a:stretch>
              <a:fillRect/>
            </a:stretch>
          </a:blipFill>
        </p:spPr>
        <p:txBody>
          <a:bodyPr wrap="square" lIns="0" tIns="0" rIns="0" bIns="0" rtlCol="0"/>
          <a:lstStyle/>
          <a:p/>
        </p:txBody>
      </p:sp>
      <p:sp>
        <p:nvSpPr>
          <p:cNvPr id="9" name="object 9"/>
          <p:cNvSpPr/>
          <p:nvPr/>
        </p:nvSpPr>
        <p:spPr>
          <a:xfrm>
            <a:off x="3058541" y="1619884"/>
            <a:ext cx="406145" cy="777748"/>
          </a:xfrm>
          <a:prstGeom prst="rect">
            <a:avLst/>
          </a:prstGeom>
          <a:blipFill>
            <a:blip r:embed="rId9" cstate="print"/>
            <a:stretch>
              <a:fillRect/>
            </a:stretch>
          </a:blipFill>
        </p:spPr>
        <p:txBody>
          <a:bodyPr wrap="square" lIns="0" tIns="0" rIns="0" bIns="0" rtlCol="0"/>
          <a:lstStyle/>
          <a:p/>
        </p:txBody>
      </p:sp>
      <p:sp>
        <p:nvSpPr>
          <p:cNvPr id="10" name="object 10"/>
          <p:cNvSpPr/>
          <p:nvPr/>
        </p:nvSpPr>
        <p:spPr>
          <a:xfrm>
            <a:off x="3820033" y="1350009"/>
            <a:ext cx="437895" cy="1048257"/>
          </a:xfrm>
          <a:prstGeom prst="rect">
            <a:avLst/>
          </a:prstGeom>
          <a:blipFill>
            <a:blip r:embed="rId10" cstate="print"/>
            <a:stretch>
              <a:fillRect/>
            </a:stretch>
          </a:blipFill>
        </p:spPr>
        <p:txBody>
          <a:bodyPr wrap="square" lIns="0" tIns="0" rIns="0" bIns="0" rtlCol="0"/>
          <a:lstStyle/>
          <a:p/>
        </p:txBody>
      </p:sp>
      <p:sp>
        <p:nvSpPr>
          <p:cNvPr id="11" name="object 11"/>
          <p:cNvSpPr/>
          <p:nvPr/>
        </p:nvSpPr>
        <p:spPr>
          <a:xfrm>
            <a:off x="4365878" y="1366646"/>
            <a:ext cx="272542" cy="1030986"/>
          </a:xfrm>
          <a:prstGeom prst="rect">
            <a:avLst/>
          </a:prstGeom>
          <a:blipFill>
            <a:blip r:embed="rId11" cstate="print"/>
            <a:stretch>
              <a:fillRect/>
            </a:stretch>
          </a:blipFill>
        </p:spPr>
        <p:txBody>
          <a:bodyPr wrap="square" lIns="0" tIns="0" rIns="0" bIns="0" rtlCol="0"/>
          <a:lstStyle/>
          <a:p/>
        </p:txBody>
      </p:sp>
      <p:sp>
        <p:nvSpPr>
          <p:cNvPr id="12" name="object 12"/>
          <p:cNvSpPr/>
          <p:nvPr/>
        </p:nvSpPr>
        <p:spPr>
          <a:xfrm>
            <a:off x="4723765" y="1635886"/>
            <a:ext cx="373507" cy="761746"/>
          </a:xfrm>
          <a:prstGeom prst="rect">
            <a:avLst/>
          </a:prstGeom>
          <a:blipFill>
            <a:blip r:embed="rId12" cstate="print"/>
            <a:stretch>
              <a:fillRect/>
            </a:stretch>
          </a:blipFill>
        </p:spPr>
        <p:txBody>
          <a:bodyPr wrap="square" lIns="0" tIns="0" rIns="0" bIns="0" rtlCol="0"/>
          <a:lstStyle/>
          <a:p/>
        </p:txBody>
      </p:sp>
      <p:sp>
        <p:nvSpPr>
          <p:cNvPr id="13" name="object 13"/>
          <p:cNvSpPr/>
          <p:nvPr/>
        </p:nvSpPr>
        <p:spPr>
          <a:xfrm>
            <a:off x="5217414" y="1366646"/>
            <a:ext cx="387985" cy="1030986"/>
          </a:xfrm>
          <a:prstGeom prst="rect">
            <a:avLst/>
          </a:prstGeom>
          <a:blipFill>
            <a:blip r:embed="rId13" cstate="print"/>
            <a:stretch>
              <a:fillRect/>
            </a:stretch>
          </a:blipFill>
        </p:spPr>
        <p:txBody>
          <a:bodyPr wrap="square" lIns="0" tIns="0" rIns="0" bIns="0" rtlCol="0"/>
          <a:lstStyle/>
          <a:p/>
        </p:txBody>
      </p:sp>
      <p:sp>
        <p:nvSpPr>
          <p:cNvPr id="14" name="object 14"/>
          <p:cNvSpPr/>
          <p:nvPr/>
        </p:nvSpPr>
        <p:spPr>
          <a:xfrm>
            <a:off x="5746369" y="1366646"/>
            <a:ext cx="151510" cy="222631"/>
          </a:xfrm>
          <a:prstGeom prst="rect">
            <a:avLst/>
          </a:prstGeom>
          <a:blipFill>
            <a:blip r:embed="rId14" cstate="print"/>
            <a:stretch>
              <a:fillRect/>
            </a:stretch>
          </a:blipFill>
        </p:spPr>
        <p:txBody>
          <a:bodyPr wrap="square" lIns="0" tIns="0" rIns="0" bIns="0" rtlCol="0"/>
          <a:lstStyle/>
          <a:p/>
        </p:txBody>
      </p:sp>
      <p:sp>
        <p:nvSpPr>
          <p:cNvPr id="15" name="object 15"/>
          <p:cNvSpPr/>
          <p:nvPr/>
        </p:nvSpPr>
        <p:spPr>
          <a:xfrm>
            <a:off x="5746369" y="1635886"/>
            <a:ext cx="151510" cy="745744"/>
          </a:xfrm>
          <a:prstGeom prst="rect">
            <a:avLst/>
          </a:prstGeom>
          <a:blipFill>
            <a:blip r:embed="rId15" cstate="print"/>
            <a:stretch>
              <a:fillRect/>
            </a:stretch>
          </a:blipFill>
        </p:spPr>
        <p:txBody>
          <a:bodyPr wrap="square" lIns="0" tIns="0" rIns="0" bIns="0" rtlCol="0"/>
          <a:lstStyle/>
          <a:p/>
        </p:txBody>
      </p:sp>
      <p:sp>
        <p:nvSpPr>
          <p:cNvPr id="16" name="object 16"/>
          <p:cNvSpPr/>
          <p:nvPr/>
        </p:nvSpPr>
        <p:spPr>
          <a:xfrm>
            <a:off x="5979667" y="1619884"/>
            <a:ext cx="406908" cy="777748"/>
          </a:xfrm>
          <a:prstGeom prst="rect">
            <a:avLst/>
          </a:prstGeom>
          <a:blipFill>
            <a:blip r:embed="rId16" cstate="print"/>
            <a:stretch>
              <a:fillRect/>
            </a:stretch>
          </a:blipFill>
        </p:spPr>
        <p:txBody>
          <a:bodyPr wrap="square" lIns="0" tIns="0" rIns="0" bIns="0" rtlCol="0"/>
          <a:lstStyle/>
          <a:p/>
        </p:txBody>
      </p:sp>
      <p:sp>
        <p:nvSpPr>
          <p:cNvPr id="17" name="object 17"/>
          <p:cNvSpPr/>
          <p:nvPr/>
        </p:nvSpPr>
        <p:spPr>
          <a:xfrm>
            <a:off x="6481445" y="1619884"/>
            <a:ext cx="375538" cy="777748"/>
          </a:xfrm>
          <a:prstGeom prst="rect">
            <a:avLst/>
          </a:prstGeom>
          <a:blipFill>
            <a:blip r:embed="rId17" cstate="print"/>
            <a:stretch>
              <a:fillRect/>
            </a:stretch>
          </a:blipFill>
        </p:spPr>
        <p:txBody>
          <a:bodyPr wrap="square" lIns="0" tIns="0" rIns="0" bIns="0" rtlCol="0"/>
          <a:lstStyle/>
          <a:p/>
        </p:txBody>
      </p:sp>
      <p:sp>
        <p:nvSpPr>
          <p:cNvPr id="18" name="object 18"/>
          <p:cNvSpPr/>
          <p:nvPr/>
        </p:nvSpPr>
        <p:spPr>
          <a:xfrm>
            <a:off x="1496060" y="5778245"/>
            <a:ext cx="213360" cy="624840"/>
          </a:xfrm>
          <a:custGeom>
            <a:avLst/>
            <a:gdLst/>
            <a:ahLst/>
            <a:cxnLst/>
            <a:rect l="l" t="t" r="r" b="b"/>
            <a:pathLst>
              <a:path w="213360" h="624839">
                <a:moveTo>
                  <a:pt x="194437" y="243840"/>
                </a:moveTo>
                <a:lnTo>
                  <a:pt x="0" y="243840"/>
                </a:lnTo>
                <a:lnTo>
                  <a:pt x="0" y="331470"/>
                </a:lnTo>
                <a:lnTo>
                  <a:pt x="0" y="369570"/>
                </a:lnTo>
                <a:lnTo>
                  <a:pt x="0" y="624840"/>
                </a:lnTo>
                <a:lnTo>
                  <a:pt x="86487" y="624840"/>
                </a:lnTo>
                <a:lnTo>
                  <a:pt x="86487" y="369570"/>
                </a:lnTo>
                <a:lnTo>
                  <a:pt x="194437" y="369570"/>
                </a:lnTo>
                <a:lnTo>
                  <a:pt x="194437" y="331470"/>
                </a:lnTo>
                <a:lnTo>
                  <a:pt x="194437" y="243840"/>
                </a:lnTo>
                <a:close/>
              </a:path>
              <a:path w="213360" h="624839">
                <a:moveTo>
                  <a:pt x="212852" y="0"/>
                </a:moveTo>
                <a:lnTo>
                  <a:pt x="0" y="0"/>
                </a:lnTo>
                <a:lnTo>
                  <a:pt x="0" y="96520"/>
                </a:lnTo>
                <a:lnTo>
                  <a:pt x="0" y="134620"/>
                </a:lnTo>
                <a:lnTo>
                  <a:pt x="0" y="205740"/>
                </a:lnTo>
                <a:lnTo>
                  <a:pt x="86487" y="205740"/>
                </a:lnTo>
                <a:lnTo>
                  <a:pt x="86487" y="134620"/>
                </a:lnTo>
                <a:lnTo>
                  <a:pt x="212852" y="134620"/>
                </a:lnTo>
                <a:lnTo>
                  <a:pt x="212852" y="96520"/>
                </a:lnTo>
                <a:lnTo>
                  <a:pt x="212852" y="0"/>
                </a:lnTo>
                <a:close/>
              </a:path>
            </a:pathLst>
          </a:custGeom>
          <a:solidFill>
            <a:srgbClr val="4D4D4D">
              <a:alpha val="79998"/>
            </a:srgbClr>
          </a:solidFill>
        </p:spPr>
        <p:txBody>
          <a:bodyPr wrap="square" lIns="0" tIns="0" rIns="0" bIns="0" rtlCol="0"/>
          <a:lstStyle/>
          <a:p/>
        </p:txBody>
      </p:sp>
      <p:sp>
        <p:nvSpPr>
          <p:cNvPr id="19" name="object 19"/>
          <p:cNvSpPr/>
          <p:nvPr/>
        </p:nvSpPr>
        <p:spPr>
          <a:xfrm>
            <a:off x="2466594" y="6150355"/>
            <a:ext cx="86360" cy="252729"/>
          </a:xfrm>
          <a:custGeom>
            <a:avLst/>
            <a:gdLst/>
            <a:ahLst/>
            <a:cxnLst/>
            <a:rect l="l" t="t" r="r" b="b"/>
            <a:pathLst>
              <a:path w="86360" h="252729">
                <a:moveTo>
                  <a:pt x="0" y="252730"/>
                </a:moveTo>
                <a:lnTo>
                  <a:pt x="85979" y="252730"/>
                </a:lnTo>
                <a:lnTo>
                  <a:pt x="85979" y="0"/>
                </a:lnTo>
                <a:lnTo>
                  <a:pt x="0" y="0"/>
                </a:lnTo>
                <a:lnTo>
                  <a:pt x="0" y="252730"/>
                </a:lnTo>
                <a:close/>
              </a:path>
            </a:pathLst>
          </a:custGeom>
          <a:solidFill>
            <a:srgbClr val="4D4D4D">
              <a:alpha val="79998"/>
            </a:srgbClr>
          </a:solidFill>
        </p:spPr>
        <p:txBody>
          <a:bodyPr wrap="square" lIns="0" tIns="0" rIns="0" bIns="0" rtlCol="0"/>
          <a:lstStyle/>
          <a:p/>
        </p:txBody>
      </p:sp>
      <p:sp>
        <p:nvSpPr>
          <p:cNvPr id="20" name="object 20"/>
          <p:cNvSpPr/>
          <p:nvPr/>
        </p:nvSpPr>
        <p:spPr>
          <a:xfrm>
            <a:off x="2466594" y="5778245"/>
            <a:ext cx="266700" cy="624840"/>
          </a:xfrm>
          <a:custGeom>
            <a:avLst/>
            <a:gdLst/>
            <a:ahLst/>
            <a:cxnLst/>
            <a:rect l="l" t="t" r="r" b="b"/>
            <a:pathLst>
              <a:path w="266700" h="624839">
                <a:moveTo>
                  <a:pt x="85979" y="0"/>
                </a:moveTo>
                <a:lnTo>
                  <a:pt x="0" y="0"/>
                </a:lnTo>
                <a:lnTo>
                  <a:pt x="0" y="180340"/>
                </a:lnTo>
                <a:lnTo>
                  <a:pt x="85979" y="180340"/>
                </a:lnTo>
                <a:lnTo>
                  <a:pt x="85979" y="0"/>
                </a:lnTo>
                <a:close/>
              </a:path>
              <a:path w="266700" h="624839">
                <a:moveTo>
                  <a:pt x="266573" y="0"/>
                </a:moveTo>
                <a:lnTo>
                  <a:pt x="180086" y="0"/>
                </a:lnTo>
                <a:lnTo>
                  <a:pt x="180086" y="180340"/>
                </a:lnTo>
                <a:lnTo>
                  <a:pt x="180086" y="218440"/>
                </a:lnTo>
                <a:lnTo>
                  <a:pt x="0" y="218440"/>
                </a:lnTo>
                <a:lnTo>
                  <a:pt x="0" y="334010"/>
                </a:lnTo>
                <a:lnTo>
                  <a:pt x="0" y="372110"/>
                </a:lnTo>
                <a:lnTo>
                  <a:pt x="154686" y="372110"/>
                </a:lnTo>
                <a:lnTo>
                  <a:pt x="154686" y="334010"/>
                </a:lnTo>
                <a:lnTo>
                  <a:pt x="241173" y="334010"/>
                </a:lnTo>
                <a:lnTo>
                  <a:pt x="241173" y="372110"/>
                </a:lnTo>
                <a:lnTo>
                  <a:pt x="180086" y="372110"/>
                </a:lnTo>
                <a:lnTo>
                  <a:pt x="180086" y="624840"/>
                </a:lnTo>
                <a:lnTo>
                  <a:pt x="266573" y="624840"/>
                </a:lnTo>
                <a:lnTo>
                  <a:pt x="266573" y="372110"/>
                </a:lnTo>
                <a:lnTo>
                  <a:pt x="266573" y="334010"/>
                </a:lnTo>
                <a:lnTo>
                  <a:pt x="266573" y="218440"/>
                </a:lnTo>
                <a:lnTo>
                  <a:pt x="266573" y="180340"/>
                </a:lnTo>
                <a:lnTo>
                  <a:pt x="266573" y="0"/>
                </a:lnTo>
                <a:close/>
              </a:path>
            </a:pathLst>
          </a:custGeom>
          <a:solidFill>
            <a:srgbClr val="4D4D4D">
              <a:alpha val="79998"/>
            </a:srgbClr>
          </a:solidFill>
        </p:spPr>
        <p:txBody>
          <a:bodyPr wrap="square" lIns="0" tIns="0" rIns="0" bIns="0" rtlCol="0"/>
          <a:lstStyle/>
          <a:p/>
        </p:txBody>
      </p:sp>
      <p:sp>
        <p:nvSpPr>
          <p:cNvPr id="21" name="object 21"/>
          <p:cNvSpPr/>
          <p:nvPr/>
        </p:nvSpPr>
        <p:spPr>
          <a:xfrm>
            <a:off x="1751329" y="5901816"/>
            <a:ext cx="257175" cy="512064"/>
          </a:xfrm>
          <a:prstGeom prst="rect">
            <a:avLst/>
          </a:prstGeom>
          <a:blipFill>
            <a:blip r:embed="rId18" cstate="print"/>
            <a:stretch>
              <a:fillRect/>
            </a:stretch>
          </a:blipFill>
        </p:spPr>
        <p:txBody>
          <a:bodyPr wrap="square" lIns="0" tIns="0" rIns="0" bIns="0" rtlCol="0"/>
          <a:lstStyle/>
          <a:p/>
        </p:txBody>
      </p:sp>
      <p:sp>
        <p:nvSpPr>
          <p:cNvPr id="22" name="object 22"/>
          <p:cNvSpPr/>
          <p:nvPr/>
        </p:nvSpPr>
        <p:spPr>
          <a:xfrm>
            <a:off x="2073148" y="5901816"/>
            <a:ext cx="184403" cy="501777"/>
          </a:xfrm>
          <a:prstGeom prst="rect">
            <a:avLst/>
          </a:prstGeom>
          <a:blipFill>
            <a:blip r:embed="rId19" cstate="print"/>
            <a:stretch>
              <a:fillRect/>
            </a:stretch>
          </a:blipFill>
        </p:spPr>
        <p:txBody>
          <a:bodyPr wrap="square" lIns="0" tIns="0" rIns="0" bIns="0" rtlCol="0"/>
          <a:lstStyle/>
          <a:p/>
        </p:txBody>
      </p:sp>
      <p:sp>
        <p:nvSpPr>
          <p:cNvPr id="23" name="object 23"/>
          <p:cNvSpPr/>
          <p:nvPr/>
        </p:nvSpPr>
        <p:spPr>
          <a:xfrm>
            <a:off x="5691885" y="5939916"/>
            <a:ext cx="214629" cy="474345"/>
          </a:xfrm>
          <a:custGeom>
            <a:avLst/>
            <a:gdLst/>
            <a:ahLst/>
            <a:cxnLst/>
            <a:rect l="l" t="t" r="r" b="b"/>
            <a:pathLst>
              <a:path w="214629" h="474345">
                <a:moveTo>
                  <a:pt x="106679" y="0"/>
                </a:moveTo>
                <a:lnTo>
                  <a:pt x="63120" y="8840"/>
                </a:lnTo>
                <a:lnTo>
                  <a:pt x="34004" y="36052"/>
                </a:lnTo>
                <a:lnTo>
                  <a:pt x="15118" y="81599"/>
                </a:lnTo>
                <a:lnTo>
                  <a:pt x="9352" y="120147"/>
                </a:lnTo>
                <a:lnTo>
                  <a:pt x="8636" y="141732"/>
                </a:lnTo>
                <a:lnTo>
                  <a:pt x="9322" y="161714"/>
                </a:lnTo>
                <a:lnTo>
                  <a:pt x="19430" y="214757"/>
                </a:lnTo>
                <a:lnTo>
                  <a:pt x="38290" y="252118"/>
                </a:lnTo>
                <a:lnTo>
                  <a:pt x="83190" y="281614"/>
                </a:lnTo>
                <a:lnTo>
                  <a:pt x="113962" y="294786"/>
                </a:lnTo>
                <a:lnTo>
                  <a:pt x="123602" y="299466"/>
                </a:lnTo>
                <a:lnTo>
                  <a:pt x="143763" y="336423"/>
                </a:lnTo>
                <a:lnTo>
                  <a:pt x="143319" y="344465"/>
                </a:lnTo>
                <a:lnTo>
                  <a:pt x="120388" y="377844"/>
                </a:lnTo>
                <a:lnTo>
                  <a:pt x="113029" y="378714"/>
                </a:lnTo>
                <a:lnTo>
                  <a:pt x="106172" y="377918"/>
                </a:lnTo>
                <a:lnTo>
                  <a:pt x="82597" y="347821"/>
                </a:lnTo>
                <a:lnTo>
                  <a:pt x="76835" y="321564"/>
                </a:lnTo>
                <a:lnTo>
                  <a:pt x="0" y="337820"/>
                </a:lnTo>
                <a:lnTo>
                  <a:pt x="10922" y="395605"/>
                </a:lnTo>
                <a:lnTo>
                  <a:pt x="30225" y="438531"/>
                </a:lnTo>
                <a:lnTo>
                  <a:pt x="61499" y="465105"/>
                </a:lnTo>
                <a:lnTo>
                  <a:pt x="108965" y="473964"/>
                </a:lnTo>
                <a:lnTo>
                  <a:pt x="127507" y="472622"/>
                </a:lnTo>
                <a:lnTo>
                  <a:pt x="170941" y="452120"/>
                </a:lnTo>
                <a:lnTo>
                  <a:pt x="198213" y="410900"/>
                </a:lnTo>
                <a:lnTo>
                  <a:pt x="211994" y="355520"/>
                </a:lnTo>
                <a:lnTo>
                  <a:pt x="214629" y="316865"/>
                </a:lnTo>
                <a:lnTo>
                  <a:pt x="214012" y="297803"/>
                </a:lnTo>
                <a:lnTo>
                  <a:pt x="204850" y="245618"/>
                </a:lnTo>
                <a:lnTo>
                  <a:pt x="184741" y="205184"/>
                </a:lnTo>
                <a:lnTo>
                  <a:pt x="152145" y="179974"/>
                </a:lnTo>
                <a:lnTo>
                  <a:pt x="106900" y="164623"/>
                </a:lnTo>
                <a:lnTo>
                  <a:pt x="97488" y="160877"/>
                </a:lnTo>
                <a:lnTo>
                  <a:pt x="77850" y="127762"/>
                </a:lnTo>
                <a:lnTo>
                  <a:pt x="78230" y="120592"/>
                </a:lnTo>
                <a:lnTo>
                  <a:pt x="94106" y="91821"/>
                </a:lnTo>
                <a:lnTo>
                  <a:pt x="102869" y="91821"/>
                </a:lnTo>
                <a:lnTo>
                  <a:pt x="130619" y="118681"/>
                </a:lnTo>
                <a:lnTo>
                  <a:pt x="134492" y="137541"/>
                </a:lnTo>
                <a:lnTo>
                  <a:pt x="207772" y="121285"/>
                </a:lnTo>
                <a:lnTo>
                  <a:pt x="199262" y="81613"/>
                </a:lnTo>
                <a:lnTo>
                  <a:pt x="182739" y="38574"/>
                </a:lnTo>
                <a:lnTo>
                  <a:pt x="150310" y="7018"/>
                </a:lnTo>
                <a:lnTo>
                  <a:pt x="123588" y="783"/>
                </a:lnTo>
                <a:lnTo>
                  <a:pt x="106679" y="0"/>
                </a:lnTo>
                <a:close/>
              </a:path>
            </a:pathLst>
          </a:custGeom>
          <a:solidFill>
            <a:srgbClr val="4D4D4D">
              <a:alpha val="79998"/>
            </a:srgbClr>
          </a:solidFill>
        </p:spPr>
        <p:txBody>
          <a:bodyPr wrap="square" lIns="0" tIns="0" rIns="0" bIns="0" rtlCol="0"/>
          <a:lstStyle/>
          <a:p/>
        </p:txBody>
      </p:sp>
      <p:sp>
        <p:nvSpPr>
          <p:cNvPr id="24" name="object 24"/>
          <p:cNvSpPr/>
          <p:nvPr/>
        </p:nvSpPr>
        <p:spPr>
          <a:xfrm>
            <a:off x="2814954" y="5728970"/>
            <a:ext cx="278130" cy="685291"/>
          </a:xfrm>
          <a:prstGeom prst="rect">
            <a:avLst/>
          </a:prstGeom>
          <a:blipFill>
            <a:blip r:embed="rId20" cstate="print"/>
            <a:stretch>
              <a:fillRect/>
            </a:stretch>
          </a:blipFill>
        </p:spPr>
        <p:txBody>
          <a:bodyPr wrap="square" lIns="0" tIns="0" rIns="0" bIns="0" rtlCol="0"/>
          <a:lstStyle/>
          <a:p/>
        </p:txBody>
      </p:sp>
      <p:sp>
        <p:nvSpPr>
          <p:cNvPr id="25" name="object 25"/>
          <p:cNvSpPr/>
          <p:nvPr/>
        </p:nvSpPr>
        <p:spPr>
          <a:xfrm>
            <a:off x="1470660" y="5740145"/>
            <a:ext cx="212852" cy="624840"/>
          </a:xfrm>
          <a:prstGeom prst="rect">
            <a:avLst/>
          </a:prstGeom>
          <a:blipFill>
            <a:blip r:embed="rId21" cstate="print"/>
            <a:stretch>
              <a:fillRect/>
            </a:stretch>
          </a:blipFill>
        </p:spPr>
        <p:txBody>
          <a:bodyPr wrap="square" lIns="0" tIns="0" rIns="0" bIns="0" rtlCol="0"/>
          <a:lstStyle/>
          <a:p/>
        </p:txBody>
      </p:sp>
      <p:sp>
        <p:nvSpPr>
          <p:cNvPr id="26" name="object 26"/>
          <p:cNvSpPr/>
          <p:nvPr/>
        </p:nvSpPr>
        <p:spPr>
          <a:xfrm>
            <a:off x="3157347" y="5728970"/>
            <a:ext cx="296417" cy="685291"/>
          </a:xfrm>
          <a:prstGeom prst="rect">
            <a:avLst/>
          </a:prstGeom>
          <a:blipFill>
            <a:blip r:embed="rId22" cstate="print"/>
            <a:stretch>
              <a:fillRect/>
            </a:stretch>
          </a:blipFill>
        </p:spPr>
        <p:txBody>
          <a:bodyPr wrap="square" lIns="0" tIns="0" rIns="0" bIns="0" rtlCol="0"/>
          <a:lstStyle/>
          <a:p/>
        </p:txBody>
      </p:sp>
      <p:sp>
        <p:nvSpPr>
          <p:cNvPr id="27" name="object 27"/>
          <p:cNvSpPr/>
          <p:nvPr/>
        </p:nvSpPr>
        <p:spPr>
          <a:xfrm>
            <a:off x="3671570" y="5728970"/>
            <a:ext cx="278256" cy="685291"/>
          </a:xfrm>
          <a:prstGeom prst="rect">
            <a:avLst/>
          </a:prstGeom>
          <a:blipFill>
            <a:blip r:embed="rId23" cstate="print"/>
            <a:stretch>
              <a:fillRect/>
            </a:stretch>
          </a:blipFill>
        </p:spPr>
        <p:txBody>
          <a:bodyPr wrap="square" lIns="0" tIns="0" rIns="0" bIns="0" rtlCol="0"/>
          <a:lstStyle/>
          <a:p/>
        </p:txBody>
      </p:sp>
      <p:grpSp>
        <p:nvGrpSpPr>
          <p:cNvPr id="28" name="object 28"/>
          <p:cNvGrpSpPr/>
          <p:nvPr/>
        </p:nvGrpSpPr>
        <p:grpSpPr>
          <a:xfrm>
            <a:off x="4006215" y="5739638"/>
            <a:ext cx="458470" cy="674370"/>
            <a:chOff x="4006215" y="5739638"/>
            <a:chExt cx="458470" cy="674370"/>
          </a:xfrm>
        </p:grpSpPr>
        <p:sp>
          <p:nvSpPr>
            <p:cNvPr id="29" name="object 29"/>
            <p:cNvSpPr/>
            <p:nvPr/>
          </p:nvSpPr>
          <p:spPr>
            <a:xfrm>
              <a:off x="4006215" y="5739638"/>
              <a:ext cx="176911" cy="674243"/>
            </a:xfrm>
            <a:prstGeom prst="rect">
              <a:avLst/>
            </a:prstGeom>
            <a:blipFill>
              <a:blip r:embed="rId24" cstate="print"/>
              <a:stretch>
                <a:fillRect/>
              </a:stretch>
            </a:blipFill>
          </p:spPr>
          <p:txBody>
            <a:bodyPr wrap="square" lIns="0" tIns="0" rIns="0" bIns="0" rtlCol="0"/>
            <a:lstStyle/>
            <a:p/>
          </p:txBody>
        </p:sp>
        <p:sp>
          <p:nvSpPr>
            <p:cNvPr id="30" name="object 30"/>
            <p:cNvSpPr/>
            <p:nvPr/>
          </p:nvSpPr>
          <p:spPr>
            <a:xfrm>
              <a:off x="4225544" y="5912104"/>
              <a:ext cx="238886" cy="501777"/>
            </a:xfrm>
            <a:prstGeom prst="rect">
              <a:avLst/>
            </a:prstGeom>
            <a:blipFill>
              <a:blip r:embed="rId25" cstate="print"/>
              <a:stretch>
                <a:fillRect/>
              </a:stretch>
            </a:blipFill>
          </p:spPr>
          <p:txBody>
            <a:bodyPr wrap="square" lIns="0" tIns="0" rIns="0" bIns="0" rtlCol="0"/>
            <a:lstStyle/>
            <a:p/>
          </p:txBody>
        </p:sp>
      </p:grpSp>
      <p:sp>
        <p:nvSpPr>
          <p:cNvPr id="31" name="object 31"/>
          <p:cNvSpPr/>
          <p:nvPr/>
        </p:nvSpPr>
        <p:spPr>
          <a:xfrm>
            <a:off x="2441194" y="6112255"/>
            <a:ext cx="85979" cy="252730"/>
          </a:xfrm>
          <a:prstGeom prst="rect">
            <a:avLst/>
          </a:prstGeom>
          <a:blipFill>
            <a:blip r:embed="rId26" cstate="print"/>
            <a:stretch>
              <a:fillRect/>
            </a:stretch>
          </a:blipFill>
        </p:spPr>
        <p:txBody>
          <a:bodyPr wrap="square" lIns="0" tIns="0" rIns="0" bIns="0" rtlCol="0"/>
          <a:lstStyle/>
          <a:p/>
        </p:txBody>
      </p:sp>
      <p:sp>
        <p:nvSpPr>
          <p:cNvPr id="32" name="object 32"/>
          <p:cNvSpPr/>
          <p:nvPr/>
        </p:nvSpPr>
        <p:spPr>
          <a:xfrm>
            <a:off x="4528184" y="5739638"/>
            <a:ext cx="247650" cy="674243"/>
          </a:xfrm>
          <a:prstGeom prst="rect">
            <a:avLst/>
          </a:prstGeom>
          <a:blipFill>
            <a:blip r:embed="rId27" cstate="print"/>
            <a:stretch>
              <a:fillRect/>
            </a:stretch>
          </a:blipFill>
        </p:spPr>
        <p:txBody>
          <a:bodyPr wrap="square" lIns="0" tIns="0" rIns="0" bIns="0" rtlCol="0"/>
          <a:lstStyle/>
          <a:p/>
        </p:txBody>
      </p:sp>
      <p:sp>
        <p:nvSpPr>
          <p:cNvPr id="33" name="object 33"/>
          <p:cNvSpPr/>
          <p:nvPr/>
        </p:nvSpPr>
        <p:spPr>
          <a:xfrm>
            <a:off x="4839842" y="5901816"/>
            <a:ext cx="259207" cy="512064"/>
          </a:xfrm>
          <a:prstGeom prst="rect">
            <a:avLst/>
          </a:prstGeom>
          <a:blipFill>
            <a:blip r:embed="rId28" cstate="print"/>
            <a:stretch>
              <a:fillRect/>
            </a:stretch>
          </a:blipFill>
        </p:spPr>
        <p:txBody>
          <a:bodyPr wrap="square" lIns="0" tIns="0" rIns="0" bIns="0" rtlCol="0"/>
          <a:lstStyle/>
          <a:p/>
        </p:txBody>
      </p:sp>
      <p:sp>
        <p:nvSpPr>
          <p:cNvPr id="34" name="object 34"/>
          <p:cNvSpPr/>
          <p:nvPr/>
        </p:nvSpPr>
        <p:spPr>
          <a:xfrm>
            <a:off x="5161153" y="5901816"/>
            <a:ext cx="238887" cy="501777"/>
          </a:xfrm>
          <a:prstGeom prst="rect">
            <a:avLst/>
          </a:prstGeom>
          <a:blipFill>
            <a:blip r:embed="rId29" cstate="print"/>
            <a:stretch>
              <a:fillRect/>
            </a:stretch>
          </a:blipFill>
        </p:spPr>
        <p:txBody>
          <a:bodyPr wrap="square" lIns="0" tIns="0" rIns="0" bIns="0" rtlCol="0"/>
          <a:lstStyle/>
          <a:p/>
        </p:txBody>
      </p:sp>
      <p:sp>
        <p:nvSpPr>
          <p:cNvPr id="35" name="object 35"/>
          <p:cNvSpPr/>
          <p:nvPr/>
        </p:nvSpPr>
        <p:spPr>
          <a:xfrm>
            <a:off x="2441194" y="5740145"/>
            <a:ext cx="266573" cy="624840"/>
          </a:xfrm>
          <a:prstGeom prst="rect">
            <a:avLst/>
          </a:prstGeom>
          <a:blipFill>
            <a:blip r:embed="rId30" cstate="print"/>
            <a:stretch>
              <a:fillRect/>
            </a:stretch>
          </a:blipFill>
        </p:spPr>
        <p:txBody>
          <a:bodyPr wrap="square" lIns="0" tIns="0" rIns="0" bIns="0" rtlCol="0"/>
          <a:lstStyle/>
          <a:p/>
        </p:txBody>
      </p:sp>
      <p:grpSp>
        <p:nvGrpSpPr>
          <p:cNvPr id="36" name="object 36"/>
          <p:cNvGrpSpPr/>
          <p:nvPr/>
        </p:nvGrpSpPr>
        <p:grpSpPr>
          <a:xfrm>
            <a:off x="5460110" y="5739638"/>
            <a:ext cx="421005" cy="674370"/>
            <a:chOff x="5460110" y="5739638"/>
            <a:chExt cx="421005" cy="674370"/>
          </a:xfrm>
        </p:grpSpPr>
        <p:sp>
          <p:nvSpPr>
            <p:cNvPr id="37" name="object 37"/>
            <p:cNvSpPr/>
            <p:nvPr/>
          </p:nvSpPr>
          <p:spPr>
            <a:xfrm>
              <a:off x="5460110" y="5739638"/>
              <a:ext cx="176911" cy="674243"/>
            </a:xfrm>
            <a:prstGeom prst="rect">
              <a:avLst/>
            </a:prstGeom>
            <a:blipFill>
              <a:blip r:embed="rId31" cstate="print"/>
              <a:stretch>
                <a:fillRect/>
              </a:stretch>
            </a:blipFill>
          </p:spPr>
          <p:txBody>
            <a:bodyPr wrap="square" lIns="0" tIns="0" rIns="0" bIns="0" rtlCol="0"/>
            <a:lstStyle/>
            <a:p/>
          </p:txBody>
        </p:sp>
        <p:sp>
          <p:nvSpPr>
            <p:cNvPr id="38" name="object 38"/>
            <p:cNvSpPr/>
            <p:nvPr/>
          </p:nvSpPr>
          <p:spPr>
            <a:xfrm>
              <a:off x="5666485" y="5901817"/>
              <a:ext cx="214629" cy="473964"/>
            </a:xfrm>
            <a:prstGeom prst="rect">
              <a:avLst/>
            </a:prstGeom>
            <a:blipFill>
              <a:blip r:embed="rId32" cstate="print"/>
              <a:stretch>
                <a:fillRect/>
              </a:stretch>
            </a:blipFill>
          </p:spPr>
          <p:txBody>
            <a:bodyPr wrap="square" lIns="0" tIns="0" rIns="0" bIns="0" rtlCol="0"/>
            <a:lstStyle/>
            <a:p/>
          </p:txBody>
        </p:sp>
      </p:grpSp>
      <p:sp>
        <p:nvSpPr>
          <p:cNvPr id="39" name="object 39"/>
          <p:cNvSpPr txBox="1"/>
          <p:nvPr/>
        </p:nvSpPr>
        <p:spPr>
          <a:xfrm>
            <a:off x="1967229" y="7083932"/>
            <a:ext cx="3440429" cy="360680"/>
          </a:xfrm>
          <a:prstGeom prst="rect">
            <a:avLst/>
          </a:prstGeom>
        </p:spPr>
        <p:txBody>
          <a:bodyPr wrap="square" lIns="0" tIns="12065" rIns="0" bIns="0" rtlCol="0" vert="horz">
            <a:spAutoFit/>
          </a:bodyPr>
          <a:lstStyle/>
          <a:p>
            <a:pPr marL="12700">
              <a:lnSpc>
                <a:spcPct val="100000"/>
              </a:lnSpc>
              <a:spcBef>
                <a:spcPts val="95"/>
              </a:spcBef>
            </a:pPr>
            <a:r>
              <a:rPr dirty="0" sz="2200" spc="-5">
                <a:latin typeface="Arial"/>
                <a:cs typeface="Arial"/>
              </a:rPr>
              <a:t>(Syllabus with Past</a:t>
            </a:r>
            <a:r>
              <a:rPr dirty="0" sz="2200" spc="5">
                <a:latin typeface="Arial"/>
                <a:cs typeface="Arial"/>
              </a:rPr>
              <a:t> </a:t>
            </a:r>
            <a:r>
              <a:rPr dirty="0" sz="2200" spc="-5">
                <a:latin typeface="Arial"/>
                <a:cs typeface="Arial"/>
              </a:rPr>
              <a:t>Papers)</a:t>
            </a:r>
            <a:endParaRPr sz="2200">
              <a:latin typeface="Arial"/>
              <a:cs typeface="Arial"/>
            </a:endParaRPr>
          </a:p>
        </p:txBody>
      </p:sp>
      <p:sp>
        <p:nvSpPr>
          <p:cNvPr id="40" name="object 40"/>
          <p:cNvSpPr txBox="1"/>
          <p:nvPr/>
        </p:nvSpPr>
        <p:spPr>
          <a:xfrm>
            <a:off x="2534539" y="8369045"/>
            <a:ext cx="2306320" cy="1325245"/>
          </a:xfrm>
          <a:prstGeom prst="rect">
            <a:avLst/>
          </a:prstGeom>
        </p:spPr>
        <p:txBody>
          <a:bodyPr wrap="square" lIns="0" tIns="12065" rIns="0" bIns="0" rtlCol="0" vert="horz">
            <a:spAutoFit/>
          </a:bodyPr>
          <a:lstStyle/>
          <a:p>
            <a:pPr algn="ctr" marL="1270">
              <a:lnSpc>
                <a:spcPct val="100000"/>
              </a:lnSpc>
              <a:spcBef>
                <a:spcPts val="95"/>
              </a:spcBef>
            </a:pPr>
            <a:r>
              <a:rPr dirty="0" sz="2200" spc="-10">
                <a:latin typeface="Arial"/>
                <a:cs typeface="Arial"/>
              </a:rPr>
              <a:t>By</a:t>
            </a:r>
            <a:endParaRPr sz="2200">
              <a:latin typeface="Arial"/>
              <a:cs typeface="Arial"/>
            </a:endParaRPr>
          </a:p>
          <a:p>
            <a:pPr>
              <a:lnSpc>
                <a:spcPct val="100000"/>
              </a:lnSpc>
            </a:pPr>
            <a:endParaRPr sz="2400">
              <a:latin typeface="Arial"/>
              <a:cs typeface="Arial"/>
            </a:endParaRPr>
          </a:p>
          <a:p>
            <a:pPr>
              <a:lnSpc>
                <a:spcPct val="100000"/>
              </a:lnSpc>
              <a:spcBef>
                <a:spcPts val="10"/>
              </a:spcBef>
            </a:pPr>
            <a:endParaRPr sz="1900">
              <a:latin typeface="Arial"/>
              <a:cs typeface="Arial"/>
            </a:endParaRPr>
          </a:p>
          <a:p>
            <a:pPr algn="ctr">
              <a:lnSpc>
                <a:spcPct val="100000"/>
              </a:lnSpc>
            </a:pPr>
            <a:r>
              <a:rPr dirty="0" sz="2200" spc="-5">
                <a:latin typeface="Arial"/>
                <a:cs typeface="Arial"/>
              </a:rPr>
              <a:t>Mr </a:t>
            </a:r>
            <a:r>
              <a:rPr dirty="0" sz="2200">
                <a:latin typeface="Arial"/>
                <a:cs typeface="Arial"/>
              </a:rPr>
              <a:t>Pahary </a:t>
            </a:r>
            <a:r>
              <a:rPr dirty="0" sz="2200" spc="-5">
                <a:latin typeface="Arial"/>
                <a:cs typeface="Arial"/>
              </a:rPr>
              <a:t>S. M.</a:t>
            </a:r>
            <a:r>
              <a:rPr dirty="0" sz="2200" spc="-90">
                <a:latin typeface="Arial"/>
                <a:cs typeface="Arial"/>
              </a:rPr>
              <a:t> </a:t>
            </a:r>
            <a:r>
              <a:rPr dirty="0" sz="2200" spc="-5">
                <a:latin typeface="Arial"/>
                <a:cs typeface="Arial"/>
              </a:rPr>
              <a:t>Y</a:t>
            </a:r>
            <a:endParaRPr sz="2200">
              <a:latin typeface="Arial"/>
              <a:cs typeface="Arial"/>
            </a:endParaRPr>
          </a:p>
        </p:txBody>
      </p:sp>
      <p:grpSp>
        <p:nvGrpSpPr>
          <p:cNvPr id="41" name="object 41"/>
          <p:cNvGrpSpPr/>
          <p:nvPr/>
        </p:nvGrpSpPr>
        <p:grpSpPr>
          <a:xfrm>
            <a:off x="2279967" y="3711892"/>
            <a:ext cx="1139190" cy="577215"/>
            <a:chOff x="2279967" y="3711892"/>
            <a:chExt cx="1139190" cy="577215"/>
          </a:xfrm>
        </p:grpSpPr>
        <p:sp>
          <p:nvSpPr>
            <p:cNvPr id="42" name="object 42"/>
            <p:cNvSpPr/>
            <p:nvPr/>
          </p:nvSpPr>
          <p:spPr>
            <a:xfrm>
              <a:off x="2284730" y="3716654"/>
              <a:ext cx="1129665" cy="567690"/>
            </a:xfrm>
            <a:custGeom>
              <a:avLst/>
              <a:gdLst/>
              <a:ahLst/>
              <a:cxnLst/>
              <a:rect l="l" t="t" r="r" b="b"/>
              <a:pathLst>
                <a:path w="1129664" h="567689">
                  <a:moveTo>
                    <a:pt x="291084" y="378333"/>
                  </a:moveTo>
                  <a:lnTo>
                    <a:pt x="210058" y="333375"/>
                  </a:lnTo>
                  <a:lnTo>
                    <a:pt x="206565" y="357873"/>
                  </a:lnTo>
                  <a:lnTo>
                    <a:pt x="202082" y="379209"/>
                  </a:lnTo>
                  <a:lnTo>
                    <a:pt x="182905" y="424789"/>
                  </a:lnTo>
                  <a:lnTo>
                    <a:pt x="150241" y="440055"/>
                  </a:lnTo>
                  <a:lnTo>
                    <a:pt x="137325" y="437959"/>
                  </a:lnTo>
                  <a:lnTo>
                    <a:pt x="107823" y="406400"/>
                  </a:lnTo>
                  <a:lnTo>
                    <a:pt x="96545" y="358305"/>
                  </a:lnTo>
                  <a:lnTo>
                    <a:pt x="92710" y="281432"/>
                  </a:lnTo>
                  <a:lnTo>
                    <a:pt x="93522" y="247065"/>
                  </a:lnTo>
                  <a:lnTo>
                    <a:pt x="99885" y="192887"/>
                  </a:lnTo>
                  <a:lnTo>
                    <a:pt x="114515" y="152869"/>
                  </a:lnTo>
                  <a:lnTo>
                    <a:pt x="153543" y="126873"/>
                  </a:lnTo>
                  <a:lnTo>
                    <a:pt x="160274" y="127508"/>
                  </a:lnTo>
                  <a:lnTo>
                    <a:pt x="193611" y="158076"/>
                  </a:lnTo>
                  <a:lnTo>
                    <a:pt x="206629" y="203962"/>
                  </a:lnTo>
                  <a:lnTo>
                    <a:pt x="288290" y="170561"/>
                  </a:lnTo>
                  <a:lnTo>
                    <a:pt x="279476" y="129959"/>
                  </a:lnTo>
                  <a:lnTo>
                    <a:pt x="255295" y="65798"/>
                  </a:lnTo>
                  <a:lnTo>
                    <a:pt x="222681" y="23418"/>
                  </a:lnTo>
                  <a:lnTo>
                    <a:pt x="178130" y="2578"/>
                  </a:lnTo>
                  <a:lnTo>
                    <a:pt x="151257" y="0"/>
                  </a:lnTo>
                  <a:lnTo>
                    <a:pt x="117144" y="4533"/>
                  </a:lnTo>
                  <a:lnTo>
                    <a:pt x="61226" y="40944"/>
                  </a:lnTo>
                  <a:lnTo>
                    <a:pt x="39624" y="72898"/>
                  </a:lnTo>
                  <a:lnTo>
                    <a:pt x="22491" y="113652"/>
                  </a:lnTo>
                  <a:lnTo>
                    <a:pt x="10096" y="162052"/>
                  </a:lnTo>
                  <a:lnTo>
                    <a:pt x="2540" y="218274"/>
                  </a:lnTo>
                  <a:lnTo>
                    <a:pt x="0" y="282448"/>
                  </a:lnTo>
                  <a:lnTo>
                    <a:pt x="1435" y="331254"/>
                  </a:lnTo>
                  <a:lnTo>
                    <a:pt x="5715" y="375437"/>
                  </a:lnTo>
                  <a:lnTo>
                    <a:pt x="12750" y="415061"/>
                  </a:lnTo>
                  <a:lnTo>
                    <a:pt x="34112" y="480504"/>
                  </a:lnTo>
                  <a:lnTo>
                    <a:pt x="61010" y="525983"/>
                  </a:lnTo>
                  <a:lnTo>
                    <a:pt x="92430" y="552843"/>
                  </a:lnTo>
                  <a:lnTo>
                    <a:pt x="132283" y="565734"/>
                  </a:lnTo>
                  <a:lnTo>
                    <a:pt x="155575" y="567309"/>
                  </a:lnTo>
                  <a:lnTo>
                    <a:pt x="174828" y="566000"/>
                  </a:lnTo>
                  <a:lnTo>
                    <a:pt x="221996" y="545973"/>
                  </a:lnTo>
                  <a:lnTo>
                    <a:pt x="256222" y="502488"/>
                  </a:lnTo>
                  <a:lnTo>
                    <a:pt x="273507" y="460362"/>
                  </a:lnTo>
                  <a:lnTo>
                    <a:pt x="286423" y="408203"/>
                  </a:lnTo>
                  <a:lnTo>
                    <a:pt x="291084" y="378333"/>
                  </a:lnTo>
                  <a:close/>
                </a:path>
                <a:path w="1129664" h="567689">
                  <a:moveTo>
                    <a:pt x="569468" y="358140"/>
                  </a:moveTo>
                  <a:lnTo>
                    <a:pt x="567740" y="319024"/>
                  </a:lnTo>
                  <a:lnTo>
                    <a:pt x="555790" y="256286"/>
                  </a:lnTo>
                  <a:lnTo>
                    <a:pt x="524192" y="190474"/>
                  </a:lnTo>
                  <a:lnTo>
                    <a:pt x="485889" y="161188"/>
                  </a:lnTo>
                  <a:lnTo>
                    <a:pt x="485889" y="358140"/>
                  </a:lnTo>
                  <a:lnTo>
                    <a:pt x="485851" y="360311"/>
                  </a:lnTo>
                  <a:lnTo>
                    <a:pt x="482993" y="406298"/>
                  </a:lnTo>
                  <a:lnTo>
                    <a:pt x="468325" y="449973"/>
                  </a:lnTo>
                  <a:lnTo>
                    <a:pt x="444881" y="464058"/>
                  </a:lnTo>
                  <a:lnTo>
                    <a:pt x="436384" y="462445"/>
                  </a:lnTo>
                  <a:lnTo>
                    <a:pt x="410349" y="424154"/>
                  </a:lnTo>
                  <a:lnTo>
                    <a:pt x="404355" y="384937"/>
                  </a:lnTo>
                  <a:lnTo>
                    <a:pt x="403606" y="360311"/>
                  </a:lnTo>
                  <a:lnTo>
                    <a:pt x="403656" y="358140"/>
                  </a:lnTo>
                  <a:lnTo>
                    <a:pt x="406615" y="314312"/>
                  </a:lnTo>
                  <a:lnTo>
                    <a:pt x="421792" y="270700"/>
                  </a:lnTo>
                  <a:lnTo>
                    <a:pt x="445516" y="256286"/>
                  </a:lnTo>
                  <a:lnTo>
                    <a:pt x="453771" y="257848"/>
                  </a:lnTo>
                  <a:lnTo>
                    <a:pt x="479361" y="295770"/>
                  </a:lnTo>
                  <a:lnTo>
                    <a:pt x="485165" y="334340"/>
                  </a:lnTo>
                  <a:lnTo>
                    <a:pt x="485889" y="358140"/>
                  </a:lnTo>
                  <a:lnTo>
                    <a:pt x="485889" y="161188"/>
                  </a:lnTo>
                  <a:lnTo>
                    <a:pt x="474929" y="155854"/>
                  </a:lnTo>
                  <a:lnTo>
                    <a:pt x="444246" y="151511"/>
                  </a:lnTo>
                  <a:lnTo>
                    <a:pt x="417182" y="155155"/>
                  </a:lnTo>
                  <a:lnTo>
                    <a:pt x="371868" y="184467"/>
                  </a:lnTo>
                  <a:lnTo>
                    <a:pt x="339305" y="241896"/>
                  </a:lnTo>
                  <a:lnTo>
                    <a:pt x="322440" y="316865"/>
                  </a:lnTo>
                  <a:lnTo>
                    <a:pt x="320294" y="360311"/>
                  </a:lnTo>
                  <a:lnTo>
                    <a:pt x="322834" y="406819"/>
                  </a:lnTo>
                  <a:lnTo>
                    <a:pt x="330390" y="448627"/>
                  </a:lnTo>
                  <a:lnTo>
                    <a:pt x="342785" y="485787"/>
                  </a:lnTo>
                  <a:lnTo>
                    <a:pt x="377164" y="539711"/>
                  </a:lnTo>
                  <a:lnTo>
                    <a:pt x="419531" y="563943"/>
                  </a:lnTo>
                  <a:lnTo>
                    <a:pt x="444500" y="566928"/>
                  </a:lnTo>
                  <a:lnTo>
                    <a:pt x="472211" y="563295"/>
                  </a:lnTo>
                  <a:lnTo>
                    <a:pt x="518236" y="533984"/>
                  </a:lnTo>
                  <a:lnTo>
                    <a:pt x="550710" y="476770"/>
                  </a:lnTo>
                  <a:lnTo>
                    <a:pt x="567359" y="401802"/>
                  </a:lnTo>
                  <a:lnTo>
                    <a:pt x="569468" y="358140"/>
                  </a:lnTo>
                  <a:close/>
                </a:path>
                <a:path w="1129664" h="567689">
                  <a:moveTo>
                    <a:pt x="837819" y="9398"/>
                  </a:moveTo>
                  <a:lnTo>
                    <a:pt x="754278" y="9398"/>
                  </a:lnTo>
                  <a:lnTo>
                    <a:pt x="754278" y="355092"/>
                  </a:lnTo>
                  <a:lnTo>
                    <a:pt x="754278" y="361442"/>
                  </a:lnTo>
                  <a:lnTo>
                    <a:pt x="751725" y="402501"/>
                  </a:lnTo>
                  <a:lnTo>
                    <a:pt x="738238" y="442620"/>
                  </a:lnTo>
                  <a:lnTo>
                    <a:pt x="717296" y="455434"/>
                  </a:lnTo>
                  <a:lnTo>
                    <a:pt x="710095" y="454012"/>
                  </a:lnTo>
                  <a:lnTo>
                    <a:pt x="688009" y="419722"/>
                  </a:lnTo>
                  <a:lnTo>
                    <a:pt x="682117" y="361442"/>
                  </a:lnTo>
                  <a:lnTo>
                    <a:pt x="682752" y="337248"/>
                  </a:lnTo>
                  <a:lnTo>
                    <a:pt x="692023" y="287401"/>
                  </a:lnTo>
                  <a:lnTo>
                    <a:pt x="716280" y="265303"/>
                  </a:lnTo>
                  <a:lnTo>
                    <a:pt x="724217" y="266700"/>
                  </a:lnTo>
                  <a:lnTo>
                    <a:pt x="748271" y="301205"/>
                  </a:lnTo>
                  <a:lnTo>
                    <a:pt x="754278" y="355092"/>
                  </a:lnTo>
                  <a:lnTo>
                    <a:pt x="754278" y="9398"/>
                  </a:lnTo>
                  <a:lnTo>
                    <a:pt x="753872" y="9398"/>
                  </a:lnTo>
                  <a:lnTo>
                    <a:pt x="753872" y="199390"/>
                  </a:lnTo>
                  <a:lnTo>
                    <a:pt x="747522" y="188099"/>
                  </a:lnTo>
                  <a:lnTo>
                    <a:pt x="717651" y="158267"/>
                  </a:lnTo>
                  <a:lnTo>
                    <a:pt x="690499" y="151511"/>
                  </a:lnTo>
                  <a:lnTo>
                    <a:pt x="671436" y="154800"/>
                  </a:lnTo>
                  <a:lnTo>
                    <a:pt x="638594" y="181038"/>
                  </a:lnTo>
                  <a:lnTo>
                    <a:pt x="613727" y="233070"/>
                  </a:lnTo>
                  <a:lnTo>
                    <a:pt x="600710" y="308648"/>
                  </a:lnTo>
                  <a:lnTo>
                    <a:pt x="599059" y="355092"/>
                  </a:lnTo>
                  <a:lnTo>
                    <a:pt x="600544" y="397560"/>
                  </a:lnTo>
                  <a:lnTo>
                    <a:pt x="604989" y="436727"/>
                  </a:lnTo>
                  <a:lnTo>
                    <a:pt x="622554" y="505206"/>
                  </a:lnTo>
                  <a:lnTo>
                    <a:pt x="650951" y="551548"/>
                  </a:lnTo>
                  <a:lnTo>
                    <a:pt x="690118" y="566928"/>
                  </a:lnTo>
                  <a:lnTo>
                    <a:pt x="700900" y="565899"/>
                  </a:lnTo>
                  <a:lnTo>
                    <a:pt x="737031" y="541680"/>
                  </a:lnTo>
                  <a:lnTo>
                    <a:pt x="759968" y="499237"/>
                  </a:lnTo>
                  <a:lnTo>
                    <a:pt x="759968" y="557911"/>
                  </a:lnTo>
                  <a:lnTo>
                    <a:pt x="837819" y="557911"/>
                  </a:lnTo>
                  <a:lnTo>
                    <a:pt x="837819" y="499237"/>
                  </a:lnTo>
                  <a:lnTo>
                    <a:pt x="837819" y="455434"/>
                  </a:lnTo>
                  <a:lnTo>
                    <a:pt x="837819" y="265303"/>
                  </a:lnTo>
                  <a:lnTo>
                    <a:pt x="837819" y="199390"/>
                  </a:lnTo>
                  <a:lnTo>
                    <a:pt x="837819" y="9398"/>
                  </a:lnTo>
                  <a:close/>
                </a:path>
                <a:path w="1129664" h="567689">
                  <a:moveTo>
                    <a:pt x="1129157" y="379857"/>
                  </a:moveTo>
                  <a:lnTo>
                    <a:pt x="1126807" y="324104"/>
                  </a:lnTo>
                  <a:lnTo>
                    <a:pt x="1121168" y="278561"/>
                  </a:lnTo>
                  <a:lnTo>
                    <a:pt x="1111478" y="241681"/>
                  </a:lnTo>
                  <a:lnTo>
                    <a:pt x="1086637" y="191808"/>
                  </a:lnTo>
                  <a:lnTo>
                    <a:pt x="1044575" y="159092"/>
                  </a:lnTo>
                  <a:lnTo>
                    <a:pt x="1044575" y="324104"/>
                  </a:lnTo>
                  <a:lnTo>
                    <a:pt x="962787" y="324104"/>
                  </a:lnTo>
                  <a:lnTo>
                    <a:pt x="968908" y="280657"/>
                  </a:lnTo>
                  <a:lnTo>
                    <a:pt x="994524" y="243509"/>
                  </a:lnTo>
                  <a:lnTo>
                    <a:pt x="1003935" y="241681"/>
                  </a:lnTo>
                  <a:lnTo>
                    <a:pt x="1012113" y="242874"/>
                  </a:lnTo>
                  <a:lnTo>
                    <a:pt x="1040155" y="286156"/>
                  </a:lnTo>
                  <a:lnTo>
                    <a:pt x="1044575" y="324104"/>
                  </a:lnTo>
                  <a:lnTo>
                    <a:pt x="1044575" y="159092"/>
                  </a:lnTo>
                  <a:lnTo>
                    <a:pt x="1042174" y="157949"/>
                  </a:lnTo>
                  <a:lnTo>
                    <a:pt x="1022540" y="153123"/>
                  </a:lnTo>
                  <a:lnTo>
                    <a:pt x="1000506" y="151511"/>
                  </a:lnTo>
                  <a:lnTo>
                    <a:pt x="973328" y="155079"/>
                  </a:lnTo>
                  <a:lnTo>
                    <a:pt x="928255" y="183819"/>
                  </a:lnTo>
                  <a:lnTo>
                    <a:pt x="896429" y="240334"/>
                  </a:lnTo>
                  <a:lnTo>
                    <a:pt x="880021" y="315671"/>
                  </a:lnTo>
                  <a:lnTo>
                    <a:pt x="877951" y="360057"/>
                  </a:lnTo>
                  <a:lnTo>
                    <a:pt x="879005" y="391706"/>
                  </a:lnTo>
                  <a:lnTo>
                    <a:pt x="887272" y="448487"/>
                  </a:lnTo>
                  <a:lnTo>
                    <a:pt x="902843" y="496468"/>
                  </a:lnTo>
                  <a:lnTo>
                    <a:pt x="923290" y="531774"/>
                  </a:lnTo>
                  <a:lnTo>
                    <a:pt x="964387" y="561365"/>
                  </a:lnTo>
                  <a:lnTo>
                    <a:pt x="1002919" y="566928"/>
                  </a:lnTo>
                  <a:lnTo>
                    <a:pt x="1026337" y="565340"/>
                  </a:lnTo>
                  <a:lnTo>
                    <a:pt x="1064475" y="552361"/>
                  </a:lnTo>
                  <a:lnTo>
                    <a:pt x="1091882" y="525678"/>
                  </a:lnTo>
                  <a:lnTo>
                    <a:pt x="1114691" y="482930"/>
                  </a:lnTo>
                  <a:lnTo>
                    <a:pt x="1116584" y="477520"/>
                  </a:lnTo>
                  <a:lnTo>
                    <a:pt x="1124458" y="455041"/>
                  </a:lnTo>
                  <a:lnTo>
                    <a:pt x="1042543" y="441210"/>
                  </a:lnTo>
                  <a:lnTo>
                    <a:pt x="1038809" y="449465"/>
                  </a:lnTo>
                  <a:lnTo>
                    <a:pt x="1035113" y="456374"/>
                  </a:lnTo>
                  <a:lnTo>
                    <a:pt x="1004811" y="477520"/>
                  </a:lnTo>
                  <a:lnTo>
                    <a:pt x="995591" y="475907"/>
                  </a:lnTo>
                  <a:lnTo>
                    <a:pt x="969479" y="441477"/>
                  </a:lnTo>
                  <a:lnTo>
                    <a:pt x="962533" y="397002"/>
                  </a:lnTo>
                  <a:lnTo>
                    <a:pt x="1129157" y="397002"/>
                  </a:lnTo>
                  <a:lnTo>
                    <a:pt x="1129157" y="379857"/>
                  </a:lnTo>
                  <a:close/>
                </a:path>
              </a:pathLst>
            </a:custGeom>
            <a:solidFill>
              <a:srgbClr val="D7D7D7"/>
            </a:solidFill>
          </p:spPr>
          <p:txBody>
            <a:bodyPr wrap="square" lIns="0" tIns="0" rIns="0" bIns="0" rtlCol="0"/>
            <a:lstStyle/>
            <a:p/>
          </p:txBody>
        </p:sp>
        <p:sp>
          <p:nvSpPr>
            <p:cNvPr id="43" name="object 43"/>
            <p:cNvSpPr/>
            <p:nvPr/>
          </p:nvSpPr>
          <p:spPr>
            <a:xfrm>
              <a:off x="2284729" y="3716654"/>
              <a:ext cx="569595" cy="567690"/>
            </a:xfrm>
            <a:custGeom>
              <a:avLst/>
              <a:gdLst/>
              <a:ahLst/>
              <a:cxnLst/>
              <a:rect l="l" t="t" r="r" b="b"/>
              <a:pathLst>
                <a:path w="569594" h="567689">
                  <a:moveTo>
                    <a:pt x="210057" y="333375"/>
                  </a:moveTo>
                  <a:lnTo>
                    <a:pt x="230308" y="344685"/>
                  </a:lnTo>
                  <a:lnTo>
                    <a:pt x="250618" y="355853"/>
                  </a:lnTo>
                  <a:lnTo>
                    <a:pt x="270904" y="367022"/>
                  </a:lnTo>
                  <a:lnTo>
                    <a:pt x="286432" y="408199"/>
                  </a:lnTo>
                  <a:lnTo>
                    <a:pt x="273510" y="460361"/>
                  </a:lnTo>
                  <a:lnTo>
                    <a:pt x="256232" y="502485"/>
                  </a:lnTo>
                  <a:lnTo>
                    <a:pt x="234408" y="534001"/>
                  </a:lnTo>
                  <a:lnTo>
                    <a:pt x="192357" y="562022"/>
                  </a:lnTo>
                  <a:lnTo>
                    <a:pt x="155575" y="567308"/>
                  </a:lnTo>
                  <a:lnTo>
                    <a:pt x="132292" y="565725"/>
                  </a:lnTo>
                  <a:lnTo>
                    <a:pt x="92442" y="552842"/>
                  </a:lnTo>
                  <a:lnTo>
                    <a:pt x="61019" y="525974"/>
                  </a:lnTo>
                  <a:lnTo>
                    <a:pt x="34119" y="480500"/>
                  </a:lnTo>
                  <a:lnTo>
                    <a:pt x="12751" y="415053"/>
                  </a:lnTo>
                  <a:lnTo>
                    <a:pt x="5714" y="375427"/>
                  </a:lnTo>
                  <a:lnTo>
                    <a:pt x="1440" y="331253"/>
                  </a:lnTo>
                  <a:lnTo>
                    <a:pt x="0" y="282448"/>
                  </a:lnTo>
                  <a:lnTo>
                    <a:pt x="2547" y="218273"/>
                  </a:lnTo>
                  <a:lnTo>
                    <a:pt x="10096" y="162051"/>
                  </a:lnTo>
                  <a:lnTo>
                    <a:pt x="22502" y="113641"/>
                  </a:lnTo>
                  <a:lnTo>
                    <a:pt x="39624" y="72898"/>
                  </a:lnTo>
                  <a:lnTo>
                    <a:pt x="61227" y="40933"/>
                  </a:lnTo>
                  <a:lnTo>
                    <a:pt x="117151" y="4532"/>
                  </a:lnTo>
                  <a:lnTo>
                    <a:pt x="151256" y="0"/>
                  </a:lnTo>
                  <a:lnTo>
                    <a:pt x="178133" y="2565"/>
                  </a:lnTo>
                  <a:lnTo>
                    <a:pt x="222694" y="23413"/>
                  </a:lnTo>
                  <a:lnTo>
                    <a:pt x="255303" y="65797"/>
                  </a:lnTo>
                  <a:lnTo>
                    <a:pt x="279485" y="129956"/>
                  </a:lnTo>
                  <a:lnTo>
                    <a:pt x="288289" y="170560"/>
                  </a:lnTo>
                  <a:lnTo>
                    <a:pt x="267886" y="178958"/>
                  </a:lnTo>
                  <a:lnTo>
                    <a:pt x="247459" y="187261"/>
                  </a:lnTo>
                  <a:lnTo>
                    <a:pt x="227032" y="195564"/>
                  </a:lnTo>
                  <a:lnTo>
                    <a:pt x="206628" y="203961"/>
                  </a:lnTo>
                  <a:lnTo>
                    <a:pt x="204469" y="192208"/>
                  </a:lnTo>
                  <a:lnTo>
                    <a:pt x="202215" y="182229"/>
                  </a:lnTo>
                  <a:lnTo>
                    <a:pt x="184110" y="143184"/>
                  </a:lnTo>
                  <a:lnTo>
                    <a:pt x="153543" y="126873"/>
                  </a:lnTo>
                  <a:lnTo>
                    <a:pt x="138662" y="129740"/>
                  </a:lnTo>
                  <a:lnTo>
                    <a:pt x="105282" y="173227"/>
                  </a:lnTo>
                  <a:lnTo>
                    <a:pt x="95948" y="217519"/>
                  </a:lnTo>
                  <a:lnTo>
                    <a:pt x="92709" y="281431"/>
                  </a:lnTo>
                  <a:lnTo>
                    <a:pt x="93678" y="323496"/>
                  </a:lnTo>
                  <a:lnTo>
                    <a:pt x="101282" y="385909"/>
                  </a:lnTo>
                  <a:lnTo>
                    <a:pt x="116022" y="421141"/>
                  </a:lnTo>
                  <a:lnTo>
                    <a:pt x="150240" y="440054"/>
                  </a:lnTo>
                  <a:lnTo>
                    <a:pt x="162764" y="438378"/>
                  </a:lnTo>
                  <a:lnTo>
                    <a:pt x="196699" y="397472"/>
                  </a:lnTo>
                  <a:lnTo>
                    <a:pt x="206573" y="357868"/>
                  </a:lnTo>
                  <a:lnTo>
                    <a:pt x="210057" y="333375"/>
                  </a:lnTo>
                  <a:close/>
                </a:path>
                <a:path w="569594" h="567689">
                  <a:moveTo>
                    <a:pt x="320294" y="360299"/>
                  </a:moveTo>
                  <a:lnTo>
                    <a:pt x="322443" y="316861"/>
                  </a:lnTo>
                  <a:lnTo>
                    <a:pt x="328818" y="277399"/>
                  </a:lnTo>
                  <a:lnTo>
                    <a:pt x="353821" y="210311"/>
                  </a:lnTo>
                  <a:lnTo>
                    <a:pt x="393033" y="166100"/>
                  </a:lnTo>
                  <a:lnTo>
                    <a:pt x="444245" y="151510"/>
                  </a:lnTo>
                  <a:lnTo>
                    <a:pt x="474930" y="155842"/>
                  </a:lnTo>
                  <a:lnTo>
                    <a:pt x="524202" y="190462"/>
                  </a:lnTo>
                  <a:lnTo>
                    <a:pt x="554251" y="250269"/>
                  </a:lnTo>
                  <a:lnTo>
                    <a:pt x="567745" y="319023"/>
                  </a:lnTo>
                  <a:lnTo>
                    <a:pt x="569468" y="358139"/>
                  </a:lnTo>
                  <a:lnTo>
                    <a:pt x="567360" y="401792"/>
                  </a:lnTo>
                  <a:lnTo>
                    <a:pt x="561085" y="441325"/>
                  </a:lnTo>
                  <a:lnTo>
                    <a:pt x="536320" y="508126"/>
                  </a:lnTo>
                  <a:lnTo>
                    <a:pt x="496839" y="552338"/>
                  </a:lnTo>
                  <a:lnTo>
                    <a:pt x="444500" y="566927"/>
                  </a:lnTo>
                  <a:lnTo>
                    <a:pt x="419532" y="563935"/>
                  </a:lnTo>
                  <a:lnTo>
                    <a:pt x="377170" y="539710"/>
                  </a:lnTo>
                  <a:lnTo>
                    <a:pt x="342796" y="485778"/>
                  </a:lnTo>
                  <a:lnTo>
                    <a:pt x="330390" y="448627"/>
                  </a:lnTo>
                  <a:lnTo>
                    <a:pt x="322841" y="406808"/>
                  </a:lnTo>
                  <a:lnTo>
                    <a:pt x="320294" y="360299"/>
                  </a:lnTo>
                  <a:close/>
                </a:path>
              </a:pathLst>
            </a:custGeom>
            <a:ln w="9525">
              <a:solidFill>
                <a:srgbClr val="000000"/>
              </a:solidFill>
            </a:ln>
          </p:spPr>
          <p:txBody>
            <a:bodyPr wrap="square" lIns="0" tIns="0" rIns="0" bIns="0" rtlCol="0"/>
            <a:lstStyle/>
            <a:p/>
          </p:txBody>
        </p:sp>
        <p:sp>
          <p:nvSpPr>
            <p:cNvPr id="44" name="object 44"/>
            <p:cNvSpPr/>
            <p:nvPr/>
          </p:nvSpPr>
          <p:spPr>
            <a:xfrm>
              <a:off x="2683573" y="3968178"/>
              <a:ext cx="91820" cy="217297"/>
            </a:xfrm>
            <a:prstGeom prst="rect">
              <a:avLst/>
            </a:prstGeom>
            <a:blipFill>
              <a:blip r:embed="rId33" cstate="print"/>
              <a:stretch>
                <a:fillRect/>
              </a:stretch>
            </a:blipFill>
          </p:spPr>
          <p:txBody>
            <a:bodyPr wrap="square" lIns="0" tIns="0" rIns="0" bIns="0" rtlCol="0"/>
            <a:lstStyle/>
            <a:p/>
          </p:txBody>
        </p:sp>
        <p:sp>
          <p:nvSpPr>
            <p:cNvPr id="45" name="object 45"/>
            <p:cNvSpPr/>
            <p:nvPr/>
          </p:nvSpPr>
          <p:spPr>
            <a:xfrm>
              <a:off x="2883788" y="3726052"/>
              <a:ext cx="238760" cy="557530"/>
            </a:xfrm>
            <a:custGeom>
              <a:avLst/>
              <a:gdLst/>
              <a:ahLst/>
              <a:cxnLst/>
              <a:rect l="l" t="t" r="r" b="b"/>
              <a:pathLst>
                <a:path w="238760" h="557529">
                  <a:moveTo>
                    <a:pt x="238760" y="0"/>
                  </a:moveTo>
                  <a:lnTo>
                    <a:pt x="238760" y="0"/>
                  </a:lnTo>
                  <a:lnTo>
                    <a:pt x="238760" y="548512"/>
                  </a:lnTo>
                  <a:lnTo>
                    <a:pt x="219255" y="548512"/>
                  </a:lnTo>
                  <a:lnTo>
                    <a:pt x="199786" y="548512"/>
                  </a:lnTo>
                  <a:lnTo>
                    <a:pt x="180341" y="548512"/>
                  </a:lnTo>
                  <a:lnTo>
                    <a:pt x="160909" y="548512"/>
                  </a:lnTo>
                  <a:lnTo>
                    <a:pt x="160909" y="533844"/>
                  </a:lnTo>
                  <a:lnTo>
                    <a:pt x="160909" y="519175"/>
                  </a:lnTo>
                  <a:lnTo>
                    <a:pt x="160909" y="504507"/>
                  </a:lnTo>
                  <a:lnTo>
                    <a:pt x="160909" y="489838"/>
                  </a:lnTo>
                  <a:lnTo>
                    <a:pt x="152995" y="507110"/>
                  </a:lnTo>
                  <a:lnTo>
                    <a:pt x="131063" y="540257"/>
                  </a:lnTo>
                  <a:lnTo>
                    <a:pt x="91059" y="557529"/>
                  </a:lnTo>
                  <a:lnTo>
                    <a:pt x="70161" y="553690"/>
                  </a:lnTo>
                  <a:lnTo>
                    <a:pt x="36320" y="522864"/>
                  </a:lnTo>
                  <a:lnTo>
                    <a:pt x="13287" y="463208"/>
                  </a:lnTo>
                  <a:lnTo>
                    <a:pt x="1492" y="388151"/>
                  </a:lnTo>
                  <a:lnTo>
                    <a:pt x="0" y="345693"/>
                  </a:lnTo>
                  <a:lnTo>
                    <a:pt x="1654" y="299237"/>
                  </a:lnTo>
                  <a:lnTo>
                    <a:pt x="6572" y="258556"/>
                  </a:lnTo>
                  <a:lnTo>
                    <a:pt x="25908" y="194563"/>
                  </a:lnTo>
                  <a:lnTo>
                    <a:pt x="55054" y="155241"/>
                  </a:lnTo>
                  <a:lnTo>
                    <a:pt x="91440" y="142112"/>
                  </a:lnTo>
                  <a:lnTo>
                    <a:pt x="100939" y="142871"/>
                  </a:lnTo>
                  <a:lnTo>
                    <a:pt x="141636" y="168973"/>
                  </a:lnTo>
                  <a:lnTo>
                    <a:pt x="154812" y="189991"/>
                  </a:lnTo>
                  <a:lnTo>
                    <a:pt x="154812" y="142464"/>
                  </a:lnTo>
                  <a:lnTo>
                    <a:pt x="154812" y="94948"/>
                  </a:lnTo>
                  <a:lnTo>
                    <a:pt x="154812" y="47456"/>
                  </a:lnTo>
                  <a:lnTo>
                    <a:pt x="154812" y="0"/>
                  </a:lnTo>
                  <a:lnTo>
                    <a:pt x="175769" y="0"/>
                  </a:lnTo>
                  <a:lnTo>
                    <a:pt x="196738" y="0"/>
                  </a:lnTo>
                  <a:lnTo>
                    <a:pt x="217731" y="0"/>
                  </a:lnTo>
                  <a:lnTo>
                    <a:pt x="238760" y="0"/>
                  </a:lnTo>
                  <a:close/>
                </a:path>
              </a:pathLst>
            </a:custGeom>
            <a:ln w="9525">
              <a:solidFill>
                <a:srgbClr val="000000"/>
              </a:solidFill>
            </a:ln>
          </p:spPr>
          <p:txBody>
            <a:bodyPr wrap="square" lIns="0" tIns="0" rIns="0" bIns="0" rtlCol="0"/>
            <a:lstStyle/>
            <a:p/>
          </p:txBody>
        </p:sp>
        <p:sp>
          <p:nvSpPr>
            <p:cNvPr id="46" name="object 46"/>
            <p:cNvSpPr/>
            <p:nvPr/>
          </p:nvSpPr>
          <p:spPr>
            <a:xfrm>
              <a:off x="2962084" y="3977195"/>
              <a:ext cx="81787" cy="199644"/>
            </a:xfrm>
            <a:prstGeom prst="rect">
              <a:avLst/>
            </a:prstGeom>
            <a:blipFill>
              <a:blip r:embed="rId34" cstate="print"/>
              <a:stretch>
                <a:fillRect/>
              </a:stretch>
            </a:blipFill>
          </p:spPr>
          <p:txBody>
            <a:bodyPr wrap="square" lIns="0" tIns="0" rIns="0" bIns="0" rtlCol="0"/>
            <a:lstStyle/>
            <a:p/>
          </p:txBody>
        </p:sp>
        <p:sp>
          <p:nvSpPr>
            <p:cNvPr id="47" name="object 47"/>
            <p:cNvSpPr/>
            <p:nvPr/>
          </p:nvSpPr>
          <p:spPr>
            <a:xfrm>
              <a:off x="3162680" y="3868165"/>
              <a:ext cx="251460" cy="415925"/>
            </a:xfrm>
            <a:custGeom>
              <a:avLst/>
              <a:gdLst/>
              <a:ahLst/>
              <a:cxnLst/>
              <a:rect l="l" t="t" r="r" b="b"/>
              <a:pathLst>
                <a:path w="251460" h="415925">
                  <a:moveTo>
                    <a:pt x="251206" y="245491"/>
                  </a:moveTo>
                  <a:lnTo>
                    <a:pt x="209508" y="245491"/>
                  </a:lnTo>
                  <a:lnTo>
                    <a:pt x="167846" y="245491"/>
                  </a:lnTo>
                  <a:lnTo>
                    <a:pt x="126208" y="245491"/>
                  </a:lnTo>
                  <a:lnTo>
                    <a:pt x="84581" y="245491"/>
                  </a:lnTo>
                  <a:lnTo>
                    <a:pt x="86072" y="262632"/>
                  </a:lnTo>
                  <a:lnTo>
                    <a:pt x="95377" y="300100"/>
                  </a:lnTo>
                  <a:lnTo>
                    <a:pt x="126872" y="326009"/>
                  </a:lnTo>
                  <a:lnTo>
                    <a:pt x="132915" y="325314"/>
                  </a:lnTo>
                  <a:lnTo>
                    <a:pt x="160865" y="297953"/>
                  </a:lnTo>
                  <a:lnTo>
                    <a:pt x="164592" y="289687"/>
                  </a:lnTo>
                  <a:lnTo>
                    <a:pt x="185070" y="293171"/>
                  </a:lnTo>
                  <a:lnTo>
                    <a:pt x="205549" y="296608"/>
                  </a:lnTo>
                  <a:lnTo>
                    <a:pt x="226028" y="300045"/>
                  </a:lnTo>
                  <a:lnTo>
                    <a:pt x="246506" y="303529"/>
                  </a:lnTo>
                  <a:lnTo>
                    <a:pt x="225837" y="354917"/>
                  </a:lnTo>
                  <a:lnTo>
                    <a:pt x="201168" y="389255"/>
                  </a:lnTo>
                  <a:lnTo>
                    <a:pt x="148393" y="413829"/>
                  </a:lnTo>
                  <a:lnTo>
                    <a:pt x="124968" y="415417"/>
                  </a:lnTo>
                  <a:lnTo>
                    <a:pt x="104566" y="414029"/>
                  </a:lnTo>
                  <a:lnTo>
                    <a:pt x="57150" y="392938"/>
                  </a:lnTo>
                  <a:lnTo>
                    <a:pt x="24895" y="344949"/>
                  </a:lnTo>
                  <a:lnTo>
                    <a:pt x="9322" y="296973"/>
                  </a:lnTo>
                  <a:lnTo>
                    <a:pt x="1059" y="240188"/>
                  </a:lnTo>
                  <a:lnTo>
                    <a:pt x="0" y="208534"/>
                  </a:lnTo>
                  <a:lnTo>
                    <a:pt x="2081" y="164153"/>
                  </a:lnTo>
                  <a:lnTo>
                    <a:pt x="8270" y="124285"/>
                  </a:lnTo>
                  <a:lnTo>
                    <a:pt x="32638" y="57658"/>
                  </a:lnTo>
                  <a:lnTo>
                    <a:pt x="71262" y="14303"/>
                  </a:lnTo>
                  <a:lnTo>
                    <a:pt x="122555" y="0"/>
                  </a:lnTo>
                  <a:lnTo>
                    <a:pt x="144599" y="1601"/>
                  </a:lnTo>
                  <a:lnTo>
                    <a:pt x="181401" y="14519"/>
                  </a:lnTo>
                  <a:lnTo>
                    <a:pt x="219789" y="57546"/>
                  </a:lnTo>
                  <a:lnTo>
                    <a:pt x="237108" y="100711"/>
                  </a:lnTo>
                  <a:lnTo>
                    <a:pt x="247634" y="157099"/>
                  </a:lnTo>
                  <a:lnTo>
                    <a:pt x="251206" y="228346"/>
                  </a:lnTo>
                  <a:lnTo>
                    <a:pt x="251206" y="234061"/>
                  </a:lnTo>
                  <a:lnTo>
                    <a:pt x="251206" y="239775"/>
                  </a:lnTo>
                  <a:lnTo>
                    <a:pt x="251206" y="245491"/>
                  </a:lnTo>
                  <a:close/>
                </a:path>
              </a:pathLst>
            </a:custGeom>
            <a:ln w="9525">
              <a:solidFill>
                <a:srgbClr val="000000"/>
              </a:solidFill>
            </a:ln>
          </p:spPr>
          <p:txBody>
            <a:bodyPr wrap="square" lIns="0" tIns="0" rIns="0" bIns="0" rtlCol="0"/>
            <a:lstStyle/>
            <a:p/>
          </p:txBody>
        </p:sp>
        <p:sp>
          <p:nvSpPr>
            <p:cNvPr id="48" name="object 48"/>
            <p:cNvSpPr/>
            <p:nvPr/>
          </p:nvSpPr>
          <p:spPr>
            <a:xfrm>
              <a:off x="3242754" y="3953573"/>
              <a:ext cx="91312" cy="91948"/>
            </a:xfrm>
            <a:prstGeom prst="rect">
              <a:avLst/>
            </a:prstGeom>
            <a:blipFill>
              <a:blip r:embed="rId35" cstate="print"/>
              <a:stretch>
                <a:fillRect/>
              </a:stretch>
            </a:blipFill>
          </p:spPr>
          <p:txBody>
            <a:bodyPr wrap="square" lIns="0" tIns="0" rIns="0" bIns="0" rtlCol="0"/>
            <a:lstStyle/>
            <a:p/>
          </p:txBody>
        </p:sp>
      </p:grpSp>
      <p:grpSp>
        <p:nvGrpSpPr>
          <p:cNvPr id="49" name="object 49"/>
          <p:cNvGrpSpPr/>
          <p:nvPr/>
        </p:nvGrpSpPr>
        <p:grpSpPr>
          <a:xfrm>
            <a:off x="3576129" y="3711892"/>
            <a:ext cx="758825" cy="577215"/>
            <a:chOff x="3576129" y="3711892"/>
            <a:chExt cx="758825" cy="577215"/>
          </a:xfrm>
        </p:grpSpPr>
        <p:sp>
          <p:nvSpPr>
            <p:cNvPr id="50" name="object 50"/>
            <p:cNvSpPr/>
            <p:nvPr/>
          </p:nvSpPr>
          <p:spPr>
            <a:xfrm>
              <a:off x="3580892" y="3716654"/>
              <a:ext cx="526415" cy="567690"/>
            </a:xfrm>
            <a:custGeom>
              <a:avLst/>
              <a:gdLst/>
              <a:ahLst/>
              <a:cxnLst/>
              <a:rect l="l" t="t" r="r" b="b"/>
              <a:pathLst>
                <a:path w="526414" h="567689">
                  <a:moveTo>
                    <a:pt x="246621" y="281051"/>
                  </a:moveTo>
                  <a:lnTo>
                    <a:pt x="245605" y="232625"/>
                  </a:lnTo>
                  <a:lnTo>
                    <a:pt x="242557" y="189458"/>
                  </a:lnTo>
                  <a:lnTo>
                    <a:pt x="237515" y="151193"/>
                  </a:lnTo>
                  <a:lnTo>
                    <a:pt x="223520" y="94996"/>
                  </a:lnTo>
                  <a:lnTo>
                    <a:pt x="221780" y="89293"/>
                  </a:lnTo>
                  <a:lnTo>
                    <a:pt x="199923" y="44500"/>
                  </a:lnTo>
                  <a:lnTo>
                    <a:pt x="172415" y="15709"/>
                  </a:lnTo>
                  <a:lnTo>
                    <a:pt x="159486" y="9004"/>
                  </a:lnTo>
                  <a:lnTo>
                    <a:pt x="159486" y="189458"/>
                  </a:lnTo>
                  <a:lnTo>
                    <a:pt x="159486" y="190500"/>
                  </a:lnTo>
                  <a:lnTo>
                    <a:pt x="156502" y="228854"/>
                  </a:lnTo>
                  <a:lnTo>
                    <a:pt x="141681" y="267766"/>
                  </a:lnTo>
                  <a:lnTo>
                    <a:pt x="118618" y="281051"/>
                  </a:lnTo>
                  <a:lnTo>
                    <a:pt x="110540" y="279514"/>
                  </a:lnTo>
                  <a:lnTo>
                    <a:pt x="85521" y="243192"/>
                  </a:lnTo>
                  <a:lnTo>
                    <a:pt x="78994" y="186309"/>
                  </a:lnTo>
                  <a:lnTo>
                    <a:pt x="79692" y="164973"/>
                  </a:lnTo>
                  <a:lnTo>
                    <a:pt x="90043" y="117856"/>
                  </a:lnTo>
                  <a:lnTo>
                    <a:pt x="117348" y="94996"/>
                  </a:lnTo>
                  <a:lnTo>
                    <a:pt x="125806" y="96558"/>
                  </a:lnTo>
                  <a:lnTo>
                    <a:pt x="152488" y="134048"/>
                  </a:lnTo>
                  <a:lnTo>
                    <a:pt x="159486" y="189458"/>
                  </a:lnTo>
                  <a:lnTo>
                    <a:pt x="159486" y="9004"/>
                  </a:lnTo>
                  <a:lnTo>
                    <a:pt x="155524" y="6946"/>
                  </a:lnTo>
                  <a:lnTo>
                    <a:pt x="136359" y="1727"/>
                  </a:lnTo>
                  <a:lnTo>
                    <a:pt x="114935" y="0"/>
                  </a:lnTo>
                  <a:lnTo>
                    <a:pt x="97028" y="1384"/>
                  </a:lnTo>
                  <a:lnTo>
                    <a:pt x="52832" y="22860"/>
                  </a:lnTo>
                  <a:lnTo>
                    <a:pt x="21755" y="69837"/>
                  </a:lnTo>
                  <a:lnTo>
                    <a:pt x="7975" y="114033"/>
                  </a:lnTo>
                  <a:lnTo>
                    <a:pt x="889" y="163842"/>
                  </a:lnTo>
                  <a:lnTo>
                    <a:pt x="0" y="190500"/>
                  </a:lnTo>
                  <a:lnTo>
                    <a:pt x="1765" y="228854"/>
                  </a:lnTo>
                  <a:lnTo>
                    <a:pt x="15748" y="295059"/>
                  </a:lnTo>
                  <a:lnTo>
                    <a:pt x="42240" y="345871"/>
                  </a:lnTo>
                  <a:lnTo>
                    <a:pt x="76263" y="372021"/>
                  </a:lnTo>
                  <a:lnTo>
                    <a:pt x="95631" y="375285"/>
                  </a:lnTo>
                  <a:lnTo>
                    <a:pt x="105562" y="374484"/>
                  </a:lnTo>
                  <a:lnTo>
                    <a:pt x="139674" y="354774"/>
                  </a:lnTo>
                  <a:lnTo>
                    <a:pt x="162560" y="321056"/>
                  </a:lnTo>
                  <a:lnTo>
                    <a:pt x="160274" y="361353"/>
                  </a:lnTo>
                  <a:lnTo>
                    <a:pt x="154089" y="419176"/>
                  </a:lnTo>
                  <a:lnTo>
                    <a:pt x="136855" y="464477"/>
                  </a:lnTo>
                  <a:lnTo>
                    <a:pt x="118999" y="473710"/>
                  </a:lnTo>
                  <a:lnTo>
                    <a:pt x="111506" y="473710"/>
                  </a:lnTo>
                  <a:lnTo>
                    <a:pt x="90944" y="430542"/>
                  </a:lnTo>
                  <a:lnTo>
                    <a:pt x="89027" y="415810"/>
                  </a:lnTo>
                  <a:lnTo>
                    <a:pt x="6350" y="434860"/>
                  </a:lnTo>
                  <a:lnTo>
                    <a:pt x="15252" y="474967"/>
                  </a:lnTo>
                  <a:lnTo>
                    <a:pt x="34620" y="521462"/>
                  </a:lnTo>
                  <a:lnTo>
                    <a:pt x="61722" y="551942"/>
                  </a:lnTo>
                  <a:lnTo>
                    <a:pt x="101003" y="566420"/>
                  </a:lnTo>
                  <a:lnTo>
                    <a:pt x="117983" y="567309"/>
                  </a:lnTo>
                  <a:lnTo>
                    <a:pt x="146596" y="563003"/>
                  </a:lnTo>
                  <a:lnTo>
                    <a:pt x="171996" y="550037"/>
                  </a:lnTo>
                  <a:lnTo>
                    <a:pt x="194043" y="528421"/>
                  </a:lnTo>
                  <a:lnTo>
                    <a:pt x="212598" y="498094"/>
                  </a:lnTo>
                  <a:lnTo>
                    <a:pt x="221653" y="473710"/>
                  </a:lnTo>
                  <a:lnTo>
                    <a:pt x="227291" y="458571"/>
                  </a:lnTo>
                  <a:lnTo>
                    <a:pt x="237947" y="409244"/>
                  </a:lnTo>
                  <a:lnTo>
                    <a:pt x="244436" y="349986"/>
                  </a:lnTo>
                  <a:lnTo>
                    <a:pt x="245351" y="321056"/>
                  </a:lnTo>
                  <a:lnTo>
                    <a:pt x="246621" y="281051"/>
                  </a:lnTo>
                  <a:close/>
                </a:path>
                <a:path w="526414" h="567689">
                  <a:moveTo>
                    <a:pt x="526161" y="279527"/>
                  </a:moveTo>
                  <a:lnTo>
                    <a:pt x="524014" y="214096"/>
                  </a:lnTo>
                  <a:lnTo>
                    <a:pt x="517779" y="151511"/>
                  </a:lnTo>
                  <a:lnTo>
                    <a:pt x="509879" y="107632"/>
                  </a:lnTo>
                  <a:lnTo>
                    <a:pt x="508241" y="101346"/>
                  </a:lnTo>
                  <a:lnTo>
                    <a:pt x="506603" y="94996"/>
                  </a:lnTo>
                  <a:lnTo>
                    <a:pt x="487172" y="49022"/>
                  </a:lnTo>
                  <a:lnTo>
                    <a:pt x="455549" y="13462"/>
                  </a:lnTo>
                  <a:lnTo>
                    <a:pt x="443484" y="6896"/>
                  </a:lnTo>
                  <a:lnTo>
                    <a:pt x="443484" y="285877"/>
                  </a:lnTo>
                  <a:lnTo>
                    <a:pt x="443191" y="320713"/>
                  </a:lnTo>
                  <a:lnTo>
                    <a:pt x="441007" y="375500"/>
                  </a:lnTo>
                  <a:lnTo>
                    <a:pt x="433489" y="425919"/>
                  </a:lnTo>
                  <a:lnTo>
                    <a:pt x="409587" y="462254"/>
                  </a:lnTo>
                  <a:lnTo>
                    <a:pt x="403479" y="463308"/>
                  </a:lnTo>
                  <a:lnTo>
                    <a:pt x="394423" y="460908"/>
                  </a:lnTo>
                  <a:lnTo>
                    <a:pt x="374269" y="424688"/>
                  </a:lnTo>
                  <a:lnTo>
                    <a:pt x="366712" y="369976"/>
                  </a:lnTo>
                  <a:lnTo>
                    <a:pt x="364756" y="330098"/>
                  </a:lnTo>
                  <a:lnTo>
                    <a:pt x="364159" y="285877"/>
                  </a:lnTo>
                  <a:lnTo>
                    <a:pt x="364134" y="279527"/>
                  </a:lnTo>
                  <a:lnTo>
                    <a:pt x="364693" y="234035"/>
                  </a:lnTo>
                  <a:lnTo>
                    <a:pt x="366445" y="194398"/>
                  </a:lnTo>
                  <a:lnTo>
                    <a:pt x="373253" y="139573"/>
                  </a:lnTo>
                  <a:lnTo>
                    <a:pt x="393484" y="103733"/>
                  </a:lnTo>
                  <a:lnTo>
                    <a:pt x="403098" y="101346"/>
                  </a:lnTo>
                  <a:lnTo>
                    <a:pt x="412584" y="103670"/>
                  </a:lnTo>
                  <a:lnTo>
                    <a:pt x="433451" y="138811"/>
                  </a:lnTo>
                  <a:lnTo>
                    <a:pt x="440944" y="194462"/>
                  </a:lnTo>
                  <a:lnTo>
                    <a:pt x="442836" y="235635"/>
                  </a:lnTo>
                  <a:lnTo>
                    <a:pt x="443484" y="285877"/>
                  </a:lnTo>
                  <a:lnTo>
                    <a:pt x="443484" y="6896"/>
                  </a:lnTo>
                  <a:lnTo>
                    <a:pt x="433476" y="3302"/>
                  </a:lnTo>
                  <a:lnTo>
                    <a:pt x="420357" y="825"/>
                  </a:lnTo>
                  <a:lnTo>
                    <a:pt x="405892" y="0"/>
                  </a:lnTo>
                  <a:lnTo>
                    <a:pt x="376478" y="3911"/>
                  </a:lnTo>
                  <a:lnTo>
                    <a:pt x="329603" y="35153"/>
                  </a:lnTo>
                  <a:lnTo>
                    <a:pt x="299021" y="99593"/>
                  </a:lnTo>
                  <a:lnTo>
                    <a:pt x="289369" y="148437"/>
                  </a:lnTo>
                  <a:lnTo>
                    <a:pt x="283514" y="209042"/>
                  </a:lnTo>
                  <a:lnTo>
                    <a:pt x="281609" y="279527"/>
                  </a:lnTo>
                  <a:lnTo>
                    <a:pt x="281609" y="285877"/>
                  </a:lnTo>
                  <a:lnTo>
                    <a:pt x="283121" y="342226"/>
                  </a:lnTo>
                  <a:lnTo>
                    <a:pt x="287655" y="397383"/>
                  </a:lnTo>
                  <a:lnTo>
                    <a:pt x="294843" y="444538"/>
                  </a:lnTo>
                  <a:lnTo>
                    <a:pt x="312407" y="500545"/>
                  </a:lnTo>
                  <a:lnTo>
                    <a:pt x="342646" y="545211"/>
                  </a:lnTo>
                  <a:lnTo>
                    <a:pt x="385737" y="565937"/>
                  </a:lnTo>
                  <a:lnTo>
                    <a:pt x="403733" y="567309"/>
                  </a:lnTo>
                  <a:lnTo>
                    <a:pt x="434924" y="562978"/>
                  </a:lnTo>
                  <a:lnTo>
                    <a:pt x="482473" y="528358"/>
                  </a:lnTo>
                  <a:lnTo>
                    <a:pt x="509054" y="463308"/>
                  </a:lnTo>
                  <a:lnTo>
                    <a:pt x="519137" y="408813"/>
                  </a:lnTo>
                  <a:lnTo>
                    <a:pt x="524383" y="349186"/>
                  </a:lnTo>
                  <a:lnTo>
                    <a:pt x="526161" y="279527"/>
                  </a:lnTo>
                  <a:close/>
                </a:path>
              </a:pathLst>
            </a:custGeom>
            <a:solidFill>
              <a:srgbClr val="D7D7D7"/>
            </a:solidFill>
          </p:spPr>
          <p:txBody>
            <a:bodyPr wrap="square" lIns="0" tIns="0" rIns="0" bIns="0" rtlCol="0"/>
            <a:lstStyle/>
            <a:p/>
          </p:txBody>
        </p:sp>
        <p:sp>
          <p:nvSpPr>
            <p:cNvPr id="51" name="object 51"/>
            <p:cNvSpPr/>
            <p:nvPr/>
          </p:nvSpPr>
          <p:spPr>
            <a:xfrm>
              <a:off x="3580891" y="3716654"/>
              <a:ext cx="247015" cy="567690"/>
            </a:xfrm>
            <a:custGeom>
              <a:avLst/>
              <a:gdLst/>
              <a:ahLst/>
              <a:cxnLst/>
              <a:rect l="l" t="t" r="r" b="b"/>
              <a:pathLst>
                <a:path w="247014" h="567689">
                  <a:moveTo>
                    <a:pt x="6350" y="434848"/>
                  </a:moveTo>
                  <a:lnTo>
                    <a:pt x="27019" y="430031"/>
                  </a:lnTo>
                  <a:lnTo>
                    <a:pt x="47688" y="425275"/>
                  </a:lnTo>
                  <a:lnTo>
                    <a:pt x="68357" y="420542"/>
                  </a:lnTo>
                  <a:lnTo>
                    <a:pt x="89027" y="415798"/>
                  </a:lnTo>
                  <a:lnTo>
                    <a:pt x="100075" y="460628"/>
                  </a:lnTo>
                  <a:lnTo>
                    <a:pt x="111506" y="473709"/>
                  </a:lnTo>
                  <a:lnTo>
                    <a:pt x="118999" y="473709"/>
                  </a:lnTo>
                  <a:lnTo>
                    <a:pt x="150241" y="436752"/>
                  </a:lnTo>
                  <a:lnTo>
                    <a:pt x="157448" y="394049"/>
                  </a:lnTo>
                  <a:lnTo>
                    <a:pt x="162560" y="321055"/>
                  </a:lnTo>
                  <a:lnTo>
                    <a:pt x="155045" y="334200"/>
                  </a:lnTo>
                  <a:lnTo>
                    <a:pt x="147399" y="345439"/>
                  </a:lnTo>
                  <a:lnTo>
                    <a:pt x="114982" y="372030"/>
                  </a:lnTo>
                  <a:lnTo>
                    <a:pt x="76265" y="372020"/>
                  </a:lnTo>
                  <a:lnTo>
                    <a:pt x="42249" y="345870"/>
                  </a:lnTo>
                  <a:lnTo>
                    <a:pt x="15751" y="295048"/>
                  </a:lnTo>
                  <a:lnTo>
                    <a:pt x="1774" y="228842"/>
                  </a:lnTo>
                  <a:lnTo>
                    <a:pt x="0" y="190500"/>
                  </a:lnTo>
                  <a:lnTo>
                    <a:pt x="898" y="163833"/>
                  </a:lnTo>
                  <a:lnTo>
                    <a:pt x="7983" y="114026"/>
                  </a:lnTo>
                  <a:lnTo>
                    <a:pt x="21756" y="69830"/>
                  </a:lnTo>
                  <a:lnTo>
                    <a:pt x="41171" y="35817"/>
                  </a:lnTo>
                  <a:lnTo>
                    <a:pt x="80692" y="5572"/>
                  </a:lnTo>
                  <a:lnTo>
                    <a:pt x="114935" y="0"/>
                  </a:lnTo>
                  <a:lnTo>
                    <a:pt x="136368" y="1724"/>
                  </a:lnTo>
                  <a:lnTo>
                    <a:pt x="172424" y="15698"/>
                  </a:lnTo>
                  <a:lnTo>
                    <a:pt x="199929" y="44489"/>
                  </a:lnTo>
                  <a:lnTo>
                    <a:pt x="221789" y="89288"/>
                  </a:lnTo>
                  <a:lnTo>
                    <a:pt x="237525" y="151189"/>
                  </a:lnTo>
                  <a:lnTo>
                    <a:pt x="242569" y="189452"/>
                  </a:lnTo>
                  <a:lnTo>
                    <a:pt x="245614" y="232620"/>
                  </a:lnTo>
                  <a:lnTo>
                    <a:pt x="246634" y="280670"/>
                  </a:lnTo>
                  <a:lnTo>
                    <a:pt x="244441" y="349986"/>
                  </a:lnTo>
                  <a:lnTo>
                    <a:pt x="237950" y="409241"/>
                  </a:lnTo>
                  <a:lnTo>
                    <a:pt x="227292" y="458567"/>
                  </a:lnTo>
                  <a:lnTo>
                    <a:pt x="212598" y="498093"/>
                  </a:lnTo>
                  <a:lnTo>
                    <a:pt x="172005" y="550036"/>
                  </a:lnTo>
                  <a:lnTo>
                    <a:pt x="117983" y="567308"/>
                  </a:lnTo>
                  <a:lnTo>
                    <a:pt x="101012" y="566408"/>
                  </a:lnTo>
                  <a:lnTo>
                    <a:pt x="61722" y="551941"/>
                  </a:lnTo>
                  <a:lnTo>
                    <a:pt x="34629" y="521456"/>
                  </a:lnTo>
                  <a:lnTo>
                    <a:pt x="15255" y="474964"/>
                  </a:lnTo>
                  <a:lnTo>
                    <a:pt x="6350" y="434848"/>
                  </a:lnTo>
                  <a:close/>
                </a:path>
              </a:pathLst>
            </a:custGeom>
            <a:ln w="9524">
              <a:solidFill>
                <a:srgbClr val="000000"/>
              </a:solidFill>
            </a:ln>
          </p:spPr>
          <p:txBody>
            <a:bodyPr wrap="square" lIns="0" tIns="0" rIns="0" bIns="0" rtlCol="0"/>
            <a:lstStyle/>
            <a:p/>
          </p:txBody>
        </p:sp>
        <p:sp>
          <p:nvSpPr>
            <p:cNvPr id="52" name="object 52"/>
            <p:cNvSpPr/>
            <p:nvPr/>
          </p:nvSpPr>
          <p:spPr>
            <a:xfrm>
              <a:off x="3655123" y="3806888"/>
              <a:ext cx="90042" cy="195579"/>
            </a:xfrm>
            <a:prstGeom prst="rect">
              <a:avLst/>
            </a:prstGeom>
            <a:blipFill>
              <a:blip r:embed="rId36" cstate="print"/>
              <a:stretch>
                <a:fillRect/>
              </a:stretch>
            </a:blipFill>
          </p:spPr>
          <p:txBody>
            <a:bodyPr wrap="square" lIns="0" tIns="0" rIns="0" bIns="0" rtlCol="0"/>
            <a:lstStyle/>
            <a:p/>
          </p:txBody>
        </p:sp>
        <p:sp>
          <p:nvSpPr>
            <p:cNvPr id="53" name="object 53"/>
            <p:cNvSpPr/>
            <p:nvPr/>
          </p:nvSpPr>
          <p:spPr>
            <a:xfrm>
              <a:off x="3862450" y="3716654"/>
              <a:ext cx="245110" cy="567690"/>
            </a:xfrm>
            <a:custGeom>
              <a:avLst/>
              <a:gdLst/>
              <a:ahLst/>
              <a:cxnLst/>
              <a:rect l="l" t="t" r="r" b="b"/>
              <a:pathLst>
                <a:path w="245110" h="567689">
                  <a:moveTo>
                    <a:pt x="0" y="281431"/>
                  </a:moveTo>
                  <a:lnTo>
                    <a:pt x="1964" y="209038"/>
                  </a:lnTo>
                  <a:lnTo>
                    <a:pt x="7810" y="148431"/>
                  </a:lnTo>
                  <a:lnTo>
                    <a:pt x="17466" y="99587"/>
                  </a:lnTo>
                  <a:lnTo>
                    <a:pt x="30861" y="62483"/>
                  </a:lnTo>
                  <a:lnTo>
                    <a:pt x="69453" y="15620"/>
                  </a:lnTo>
                  <a:lnTo>
                    <a:pt x="124333" y="0"/>
                  </a:lnTo>
                  <a:lnTo>
                    <a:pt x="138807" y="817"/>
                  </a:lnTo>
                  <a:lnTo>
                    <a:pt x="183163" y="20911"/>
                  </a:lnTo>
                  <a:lnTo>
                    <a:pt x="211381" y="60116"/>
                  </a:lnTo>
                  <a:lnTo>
                    <a:pt x="228326" y="107630"/>
                  </a:lnTo>
                  <a:lnTo>
                    <a:pt x="236220" y="151510"/>
                  </a:lnTo>
                  <a:lnTo>
                    <a:pt x="242458" y="214090"/>
                  </a:lnTo>
                  <a:lnTo>
                    <a:pt x="244601" y="279526"/>
                  </a:lnTo>
                  <a:lnTo>
                    <a:pt x="242831" y="349182"/>
                  </a:lnTo>
                  <a:lnTo>
                    <a:pt x="237585" y="408812"/>
                  </a:lnTo>
                  <a:lnTo>
                    <a:pt x="228957" y="458442"/>
                  </a:lnTo>
                  <a:lnTo>
                    <a:pt x="217043" y="498093"/>
                  </a:lnTo>
                  <a:lnTo>
                    <a:pt x="179657" y="549989"/>
                  </a:lnTo>
                  <a:lnTo>
                    <a:pt x="122174" y="567308"/>
                  </a:lnTo>
                  <a:lnTo>
                    <a:pt x="104181" y="565927"/>
                  </a:lnTo>
                  <a:lnTo>
                    <a:pt x="61087" y="545210"/>
                  </a:lnTo>
                  <a:lnTo>
                    <a:pt x="30851" y="500544"/>
                  </a:lnTo>
                  <a:lnTo>
                    <a:pt x="17829" y="463891"/>
                  </a:lnTo>
                  <a:lnTo>
                    <a:pt x="9340" y="422362"/>
                  </a:lnTo>
                  <a:lnTo>
                    <a:pt x="3482" y="370532"/>
                  </a:lnTo>
                  <a:lnTo>
                    <a:pt x="398" y="312497"/>
                  </a:lnTo>
                  <a:lnTo>
                    <a:pt x="0" y="281431"/>
                  </a:lnTo>
                  <a:close/>
                </a:path>
                <a:path w="245110" h="567689">
                  <a:moveTo>
                    <a:pt x="82550" y="281812"/>
                  </a:moveTo>
                  <a:lnTo>
                    <a:pt x="83208" y="330086"/>
                  </a:lnTo>
                  <a:lnTo>
                    <a:pt x="85153" y="369966"/>
                  </a:lnTo>
                  <a:lnTo>
                    <a:pt x="92710" y="424687"/>
                  </a:lnTo>
                  <a:lnTo>
                    <a:pt x="112873" y="460906"/>
                  </a:lnTo>
                  <a:lnTo>
                    <a:pt x="121920" y="463296"/>
                  </a:lnTo>
                  <a:lnTo>
                    <a:pt x="128031" y="462252"/>
                  </a:lnTo>
                  <a:lnTo>
                    <a:pt x="151939" y="425910"/>
                  </a:lnTo>
                  <a:lnTo>
                    <a:pt x="159460" y="375495"/>
                  </a:lnTo>
                  <a:lnTo>
                    <a:pt x="161643" y="320702"/>
                  </a:lnTo>
                  <a:lnTo>
                    <a:pt x="161925" y="285876"/>
                  </a:lnTo>
                  <a:lnTo>
                    <a:pt x="161286" y="235626"/>
                  </a:lnTo>
                  <a:lnTo>
                    <a:pt x="159385" y="194389"/>
                  </a:lnTo>
                  <a:lnTo>
                    <a:pt x="151891" y="138810"/>
                  </a:lnTo>
                  <a:lnTo>
                    <a:pt x="131032" y="103663"/>
                  </a:lnTo>
                  <a:lnTo>
                    <a:pt x="121538" y="101346"/>
                  </a:lnTo>
                  <a:lnTo>
                    <a:pt x="111928" y="103729"/>
                  </a:lnTo>
                  <a:lnTo>
                    <a:pt x="91694" y="139573"/>
                  </a:lnTo>
                  <a:lnTo>
                    <a:pt x="84883" y="194452"/>
                  </a:lnTo>
                  <a:lnTo>
                    <a:pt x="83139" y="234031"/>
                  </a:lnTo>
                  <a:lnTo>
                    <a:pt x="82550" y="281812"/>
                  </a:lnTo>
                  <a:close/>
                </a:path>
              </a:pathLst>
            </a:custGeom>
            <a:ln w="9525">
              <a:solidFill>
                <a:srgbClr val="000000"/>
              </a:solidFill>
            </a:ln>
          </p:spPr>
          <p:txBody>
            <a:bodyPr wrap="square" lIns="0" tIns="0" rIns="0" bIns="0" rtlCol="0"/>
            <a:lstStyle/>
            <a:p/>
          </p:txBody>
        </p:sp>
        <p:sp>
          <p:nvSpPr>
            <p:cNvPr id="54" name="object 54"/>
            <p:cNvSpPr/>
            <p:nvPr/>
          </p:nvSpPr>
          <p:spPr>
            <a:xfrm>
              <a:off x="4158360" y="3716654"/>
              <a:ext cx="171450" cy="558165"/>
            </a:xfrm>
            <a:custGeom>
              <a:avLst/>
              <a:gdLst/>
              <a:ahLst/>
              <a:cxnLst/>
              <a:rect l="l" t="t" r="r" b="b"/>
              <a:pathLst>
                <a:path w="171450" h="558164">
                  <a:moveTo>
                    <a:pt x="171450" y="0"/>
                  </a:moveTo>
                  <a:lnTo>
                    <a:pt x="102742" y="0"/>
                  </a:lnTo>
                  <a:lnTo>
                    <a:pt x="95523" y="24753"/>
                  </a:lnTo>
                  <a:lnTo>
                    <a:pt x="86899" y="47434"/>
                  </a:lnTo>
                  <a:lnTo>
                    <a:pt x="65912" y="86867"/>
                  </a:lnTo>
                  <a:lnTo>
                    <a:pt x="37719" y="119395"/>
                  </a:lnTo>
                  <a:lnTo>
                    <a:pt x="0" y="147065"/>
                  </a:lnTo>
                  <a:lnTo>
                    <a:pt x="0" y="272033"/>
                  </a:lnTo>
                  <a:lnTo>
                    <a:pt x="37718" y="247013"/>
                  </a:lnTo>
                  <a:lnTo>
                    <a:pt x="67294" y="218185"/>
                  </a:lnTo>
                  <a:lnTo>
                    <a:pt x="87375" y="192277"/>
                  </a:lnTo>
                  <a:lnTo>
                    <a:pt x="87375" y="557910"/>
                  </a:lnTo>
                  <a:lnTo>
                    <a:pt x="171450" y="557910"/>
                  </a:lnTo>
                  <a:lnTo>
                    <a:pt x="171450" y="0"/>
                  </a:lnTo>
                  <a:close/>
                </a:path>
              </a:pathLst>
            </a:custGeom>
            <a:solidFill>
              <a:srgbClr val="D7D7D7"/>
            </a:solidFill>
          </p:spPr>
          <p:txBody>
            <a:bodyPr wrap="square" lIns="0" tIns="0" rIns="0" bIns="0" rtlCol="0"/>
            <a:lstStyle/>
            <a:p/>
          </p:txBody>
        </p:sp>
        <p:sp>
          <p:nvSpPr>
            <p:cNvPr id="55" name="object 55"/>
            <p:cNvSpPr/>
            <p:nvPr/>
          </p:nvSpPr>
          <p:spPr>
            <a:xfrm>
              <a:off x="4158360" y="3716654"/>
              <a:ext cx="171450" cy="558165"/>
            </a:xfrm>
            <a:custGeom>
              <a:avLst/>
              <a:gdLst/>
              <a:ahLst/>
              <a:cxnLst/>
              <a:rect l="l" t="t" r="r" b="b"/>
              <a:pathLst>
                <a:path w="171450" h="558164">
                  <a:moveTo>
                    <a:pt x="171450" y="0"/>
                  </a:moveTo>
                  <a:lnTo>
                    <a:pt x="171450" y="0"/>
                  </a:lnTo>
                  <a:lnTo>
                    <a:pt x="171450" y="557910"/>
                  </a:lnTo>
                  <a:lnTo>
                    <a:pt x="150419" y="557910"/>
                  </a:lnTo>
                  <a:lnTo>
                    <a:pt x="129412" y="557910"/>
                  </a:lnTo>
                  <a:lnTo>
                    <a:pt x="108406" y="557910"/>
                  </a:lnTo>
                  <a:lnTo>
                    <a:pt x="87375" y="557910"/>
                  </a:lnTo>
                  <a:lnTo>
                    <a:pt x="87375" y="505706"/>
                  </a:lnTo>
                  <a:lnTo>
                    <a:pt x="87375" y="192277"/>
                  </a:lnTo>
                  <a:lnTo>
                    <a:pt x="77293" y="205982"/>
                  </a:lnTo>
                  <a:lnTo>
                    <a:pt x="47878" y="238378"/>
                  </a:lnTo>
                  <a:lnTo>
                    <a:pt x="13731" y="263757"/>
                  </a:lnTo>
                  <a:lnTo>
                    <a:pt x="0" y="272033"/>
                  </a:lnTo>
                  <a:lnTo>
                    <a:pt x="0" y="240791"/>
                  </a:lnTo>
                  <a:lnTo>
                    <a:pt x="0" y="209549"/>
                  </a:lnTo>
                  <a:lnTo>
                    <a:pt x="0" y="178307"/>
                  </a:lnTo>
                  <a:lnTo>
                    <a:pt x="0" y="147065"/>
                  </a:lnTo>
                  <a:lnTo>
                    <a:pt x="20014" y="133748"/>
                  </a:lnTo>
                  <a:lnTo>
                    <a:pt x="53042" y="103828"/>
                  </a:lnTo>
                  <a:lnTo>
                    <a:pt x="76989" y="68115"/>
                  </a:lnTo>
                  <a:lnTo>
                    <a:pt x="95523" y="24753"/>
                  </a:lnTo>
                  <a:lnTo>
                    <a:pt x="102742" y="0"/>
                  </a:lnTo>
                  <a:lnTo>
                    <a:pt x="119907" y="0"/>
                  </a:lnTo>
                  <a:lnTo>
                    <a:pt x="137096" y="0"/>
                  </a:lnTo>
                  <a:lnTo>
                    <a:pt x="154285" y="0"/>
                  </a:lnTo>
                  <a:lnTo>
                    <a:pt x="171450" y="0"/>
                  </a:lnTo>
                  <a:close/>
                </a:path>
              </a:pathLst>
            </a:custGeom>
            <a:ln w="9525">
              <a:solidFill>
                <a:srgbClr val="000000"/>
              </a:solidFill>
            </a:ln>
          </p:spPr>
          <p:txBody>
            <a:bodyPr wrap="square" lIns="0" tIns="0" rIns="0" bIns="0" rtlCol="0"/>
            <a:lstStyle/>
            <a:p/>
          </p:txBody>
        </p:sp>
      </p:grpSp>
      <p:grpSp>
        <p:nvGrpSpPr>
          <p:cNvPr id="56" name="object 56"/>
          <p:cNvGrpSpPr/>
          <p:nvPr/>
        </p:nvGrpSpPr>
        <p:grpSpPr>
          <a:xfrm>
            <a:off x="4413059" y="3711892"/>
            <a:ext cx="257175" cy="577215"/>
            <a:chOff x="4413059" y="3711892"/>
            <a:chExt cx="257175" cy="577215"/>
          </a:xfrm>
        </p:grpSpPr>
        <p:sp>
          <p:nvSpPr>
            <p:cNvPr id="57" name="object 57"/>
            <p:cNvSpPr/>
            <p:nvPr/>
          </p:nvSpPr>
          <p:spPr>
            <a:xfrm>
              <a:off x="4417821" y="3716654"/>
              <a:ext cx="247650" cy="567690"/>
            </a:xfrm>
            <a:custGeom>
              <a:avLst/>
              <a:gdLst/>
              <a:ahLst/>
              <a:cxnLst/>
              <a:rect l="l" t="t" r="r" b="b"/>
              <a:pathLst>
                <a:path w="247650" h="567689">
                  <a:moveTo>
                    <a:pt x="121157" y="0"/>
                  </a:moveTo>
                  <a:lnTo>
                    <a:pt x="75771" y="9159"/>
                  </a:lnTo>
                  <a:lnTo>
                    <a:pt x="42290" y="36702"/>
                  </a:lnTo>
                  <a:lnTo>
                    <a:pt x="18938" y="81375"/>
                  </a:lnTo>
                  <a:lnTo>
                    <a:pt x="4444" y="142239"/>
                  </a:lnTo>
                  <a:lnTo>
                    <a:pt x="83185" y="168021"/>
                  </a:lnTo>
                  <a:lnTo>
                    <a:pt x="85183" y="149088"/>
                  </a:lnTo>
                  <a:lnTo>
                    <a:pt x="87931" y="133238"/>
                  </a:lnTo>
                  <a:lnTo>
                    <a:pt x="106140" y="98583"/>
                  </a:lnTo>
                  <a:lnTo>
                    <a:pt x="119506" y="94614"/>
                  </a:lnTo>
                  <a:lnTo>
                    <a:pt x="126269" y="95527"/>
                  </a:lnTo>
                  <a:lnTo>
                    <a:pt x="148050" y="127126"/>
                  </a:lnTo>
                  <a:lnTo>
                    <a:pt x="150113" y="149605"/>
                  </a:lnTo>
                  <a:lnTo>
                    <a:pt x="149409" y="162333"/>
                  </a:lnTo>
                  <a:lnTo>
                    <a:pt x="133496" y="203332"/>
                  </a:lnTo>
                  <a:lnTo>
                    <a:pt x="111887" y="213995"/>
                  </a:lnTo>
                  <a:lnTo>
                    <a:pt x="109219" y="213995"/>
                  </a:lnTo>
                  <a:lnTo>
                    <a:pt x="101091" y="212216"/>
                  </a:lnTo>
                  <a:lnTo>
                    <a:pt x="96774" y="321055"/>
                  </a:lnTo>
                  <a:lnTo>
                    <a:pt x="104894" y="317075"/>
                  </a:lnTo>
                  <a:lnTo>
                    <a:pt x="112109" y="314261"/>
                  </a:lnTo>
                  <a:lnTo>
                    <a:pt x="118419" y="312590"/>
                  </a:lnTo>
                  <a:lnTo>
                    <a:pt x="123825" y="312038"/>
                  </a:lnTo>
                  <a:lnTo>
                    <a:pt x="132530" y="313366"/>
                  </a:lnTo>
                  <a:lnTo>
                    <a:pt x="157575" y="344545"/>
                  </a:lnTo>
                  <a:lnTo>
                    <a:pt x="163575" y="392175"/>
                  </a:lnTo>
                  <a:lnTo>
                    <a:pt x="162867" y="409969"/>
                  </a:lnTo>
                  <a:lnTo>
                    <a:pt x="152526" y="451992"/>
                  </a:lnTo>
                  <a:lnTo>
                    <a:pt x="124587" y="474471"/>
                  </a:lnTo>
                  <a:lnTo>
                    <a:pt x="116927" y="473352"/>
                  </a:lnTo>
                  <a:lnTo>
                    <a:pt x="89423" y="431847"/>
                  </a:lnTo>
                  <a:lnTo>
                    <a:pt x="83185" y="392937"/>
                  </a:lnTo>
                  <a:lnTo>
                    <a:pt x="0" y="413130"/>
                  </a:lnTo>
                  <a:lnTo>
                    <a:pt x="10032" y="459898"/>
                  </a:lnTo>
                  <a:lnTo>
                    <a:pt x="23494" y="498093"/>
                  </a:lnTo>
                  <a:lnTo>
                    <a:pt x="51087" y="539884"/>
                  </a:lnTo>
                  <a:lnTo>
                    <a:pt x="90154" y="562911"/>
                  </a:lnTo>
                  <a:lnTo>
                    <a:pt x="126618" y="567308"/>
                  </a:lnTo>
                  <a:lnTo>
                    <a:pt x="146587" y="565862"/>
                  </a:lnTo>
                  <a:lnTo>
                    <a:pt x="194182" y="543305"/>
                  </a:lnTo>
                  <a:lnTo>
                    <a:pt x="226044" y="496442"/>
                  </a:lnTo>
                  <a:lnTo>
                    <a:pt x="239553" y="453447"/>
                  </a:lnTo>
                  <a:lnTo>
                    <a:pt x="246411" y="407588"/>
                  </a:lnTo>
                  <a:lnTo>
                    <a:pt x="247268" y="383921"/>
                  </a:lnTo>
                  <a:lnTo>
                    <a:pt x="246766" y="365496"/>
                  </a:lnTo>
                  <a:lnTo>
                    <a:pt x="239140" y="318007"/>
                  </a:lnTo>
                  <a:lnTo>
                    <a:pt x="222942" y="283021"/>
                  </a:lnTo>
                  <a:lnTo>
                    <a:pt x="189356" y="255524"/>
                  </a:lnTo>
                  <a:lnTo>
                    <a:pt x="199322" y="244109"/>
                  </a:lnTo>
                  <a:lnTo>
                    <a:pt x="221361" y="205104"/>
                  </a:lnTo>
                  <a:lnTo>
                    <a:pt x="231344" y="157991"/>
                  </a:lnTo>
                  <a:lnTo>
                    <a:pt x="232028" y="140715"/>
                  </a:lnTo>
                  <a:lnTo>
                    <a:pt x="230352" y="111656"/>
                  </a:lnTo>
                  <a:lnTo>
                    <a:pt x="217187" y="61348"/>
                  </a:lnTo>
                  <a:lnTo>
                    <a:pt x="190881" y="22502"/>
                  </a:lnTo>
                  <a:lnTo>
                    <a:pt x="148431" y="2500"/>
                  </a:lnTo>
                  <a:lnTo>
                    <a:pt x="121157" y="0"/>
                  </a:lnTo>
                  <a:close/>
                </a:path>
              </a:pathLst>
            </a:custGeom>
            <a:solidFill>
              <a:srgbClr val="D7D7D7"/>
            </a:solidFill>
          </p:spPr>
          <p:txBody>
            <a:bodyPr wrap="square" lIns="0" tIns="0" rIns="0" bIns="0" rtlCol="0"/>
            <a:lstStyle/>
            <a:p/>
          </p:txBody>
        </p:sp>
        <p:sp>
          <p:nvSpPr>
            <p:cNvPr id="58" name="object 58"/>
            <p:cNvSpPr/>
            <p:nvPr/>
          </p:nvSpPr>
          <p:spPr>
            <a:xfrm>
              <a:off x="4417821" y="3716654"/>
              <a:ext cx="247650" cy="567690"/>
            </a:xfrm>
            <a:custGeom>
              <a:avLst/>
              <a:gdLst/>
              <a:ahLst/>
              <a:cxnLst/>
              <a:rect l="l" t="t" r="r" b="b"/>
              <a:pathLst>
                <a:path w="247650" h="567689">
                  <a:moveTo>
                    <a:pt x="83185" y="168021"/>
                  </a:moveTo>
                  <a:lnTo>
                    <a:pt x="63523" y="161528"/>
                  </a:lnTo>
                  <a:lnTo>
                    <a:pt x="43814" y="155130"/>
                  </a:lnTo>
                  <a:lnTo>
                    <a:pt x="24106" y="148732"/>
                  </a:lnTo>
                  <a:lnTo>
                    <a:pt x="4444" y="142239"/>
                  </a:lnTo>
                  <a:lnTo>
                    <a:pt x="10519" y="109747"/>
                  </a:lnTo>
                  <a:lnTo>
                    <a:pt x="18938" y="81375"/>
                  </a:lnTo>
                  <a:lnTo>
                    <a:pt x="42290" y="36702"/>
                  </a:lnTo>
                  <a:lnTo>
                    <a:pt x="75771" y="9159"/>
                  </a:lnTo>
                  <a:lnTo>
                    <a:pt x="121157" y="0"/>
                  </a:lnTo>
                  <a:lnTo>
                    <a:pt x="148431" y="2500"/>
                  </a:lnTo>
                  <a:lnTo>
                    <a:pt x="190881" y="22502"/>
                  </a:lnTo>
                  <a:lnTo>
                    <a:pt x="217187" y="61348"/>
                  </a:lnTo>
                  <a:lnTo>
                    <a:pt x="230352" y="111656"/>
                  </a:lnTo>
                  <a:lnTo>
                    <a:pt x="232028" y="140715"/>
                  </a:lnTo>
                  <a:lnTo>
                    <a:pt x="231344" y="157991"/>
                  </a:lnTo>
                  <a:lnTo>
                    <a:pt x="221361" y="205104"/>
                  </a:lnTo>
                  <a:lnTo>
                    <a:pt x="199322" y="244109"/>
                  </a:lnTo>
                  <a:lnTo>
                    <a:pt x="189356" y="255524"/>
                  </a:lnTo>
                  <a:lnTo>
                    <a:pt x="197522" y="259633"/>
                  </a:lnTo>
                  <a:lnTo>
                    <a:pt x="229187" y="293354"/>
                  </a:lnTo>
                  <a:lnTo>
                    <a:pt x="242714" y="332503"/>
                  </a:lnTo>
                  <a:lnTo>
                    <a:pt x="247268" y="383921"/>
                  </a:lnTo>
                  <a:lnTo>
                    <a:pt x="246411" y="407588"/>
                  </a:lnTo>
                  <a:lnTo>
                    <a:pt x="239553" y="453447"/>
                  </a:lnTo>
                  <a:lnTo>
                    <a:pt x="226044" y="496442"/>
                  </a:lnTo>
                  <a:lnTo>
                    <a:pt x="206263" y="530193"/>
                  </a:lnTo>
                  <a:lnTo>
                    <a:pt x="164544" y="561451"/>
                  </a:lnTo>
                  <a:lnTo>
                    <a:pt x="126618" y="567308"/>
                  </a:lnTo>
                  <a:lnTo>
                    <a:pt x="107309" y="566211"/>
                  </a:lnTo>
                  <a:lnTo>
                    <a:pt x="62356" y="549655"/>
                  </a:lnTo>
                  <a:lnTo>
                    <a:pt x="31549" y="514151"/>
                  </a:lnTo>
                  <a:lnTo>
                    <a:pt x="10032" y="459898"/>
                  </a:lnTo>
                  <a:lnTo>
                    <a:pt x="0" y="413130"/>
                  </a:lnTo>
                  <a:lnTo>
                    <a:pt x="20784" y="408047"/>
                  </a:lnTo>
                  <a:lnTo>
                    <a:pt x="41592" y="403034"/>
                  </a:lnTo>
                  <a:lnTo>
                    <a:pt x="62400" y="398021"/>
                  </a:lnTo>
                  <a:lnTo>
                    <a:pt x="83185" y="392937"/>
                  </a:lnTo>
                  <a:lnTo>
                    <a:pt x="85941" y="414148"/>
                  </a:lnTo>
                  <a:lnTo>
                    <a:pt x="89423" y="431847"/>
                  </a:lnTo>
                  <a:lnTo>
                    <a:pt x="109981" y="469995"/>
                  </a:lnTo>
                  <a:lnTo>
                    <a:pt x="124587" y="474471"/>
                  </a:lnTo>
                  <a:lnTo>
                    <a:pt x="132631" y="473084"/>
                  </a:lnTo>
                  <a:lnTo>
                    <a:pt x="157307" y="439842"/>
                  </a:lnTo>
                  <a:lnTo>
                    <a:pt x="163575" y="392175"/>
                  </a:lnTo>
                  <a:lnTo>
                    <a:pt x="162909" y="374124"/>
                  </a:lnTo>
                  <a:lnTo>
                    <a:pt x="152907" y="332994"/>
                  </a:lnTo>
                  <a:lnTo>
                    <a:pt x="123825" y="312038"/>
                  </a:lnTo>
                  <a:lnTo>
                    <a:pt x="118419" y="312590"/>
                  </a:lnTo>
                  <a:lnTo>
                    <a:pt x="112109" y="314261"/>
                  </a:lnTo>
                  <a:lnTo>
                    <a:pt x="104894" y="317075"/>
                  </a:lnTo>
                  <a:lnTo>
                    <a:pt x="96774" y="321055"/>
                  </a:lnTo>
                  <a:lnTo>
                    <a:pt x="97841" y="293816"/>
                  </a:lnTo>
                  <a:lnTo>
                    <a:pt x="98932" y="266588"/>
                  </a:lnTo>
                  <a:lnTo>
                    <a:pt x="100024" y="239385"/>
                  </a:lnTo>
                  <a:lnTo>
                    <a:pt x="101091" y="212216"/>
                  </a:lnTo>
                  <a:lnTo>
                    <a:pt x="105790" y="213359"/>
                  </a:lnTo>
                  <a:lnTo>
                    <a:pt x="109219" y="213995"/>
                  </a:lnTo>
                  <a:lnTo>
                    <a:pt x="111887" y="213995"/>
                  </a:lnTo>
                  <a:lnTo>
                    <a:pt x="143952" y="184931"/>
                  </a:lnTo>
                  <a:lnTo>
                    <a:pt x="150113" y="149605"/>
                  </a:lnTo>
                  <a:lnTo>
                    <a:pt x="149594" y="137711"/>
                  </a:lnTo>
                  <a:lnTo>
                    <a:pt x="132270" y="98298"/>
                  </a:lnTo>
                  <a:lnTo>
                    <a:pt x="119506" y="94614"/>
                  </a:lnTo>
                  <a:lnTo>
                    <a:pt x="112490" y="95599"/>
                  </a:lnTo>
                  <a:lnTo>
                    <a:pt x="87931" y="133238"/>
                  </a:lnTo>
                  <a:lnTo>
                    <a:pt x="85183" y="149088"/>
                  </a:lnTo>
                  <a:lnTo>
                    <a:pt x="83185" y="168021"/>
                  </a:lnTo>
                  <a:close/>
                </a:path>
              </a:pathLst>
            </a:custGeom>
            <a:ln w="9524">
              <a:solidFill>
                <a:srgbClr val="000000"/>
              </a:solidFill>
            </a:ln>
          </p:spPr>
          <p:txBody>
            <a:bodyPr wrap="square" lIns="0" tIns="0" rIns="0" bIns="0" rtlCol="0"/>
            <a:lstStyle/>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5971540" cy="208279"/>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1062532" y="827531"/>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Preface</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49295" y="9905322"/>
            <a:ext cx="476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a:t>
            </a:r>
            <a:endParaRPr sz="1200">
              <a:latin typeface="Times New Roman"/>
              <a:cs typeface="Times New Roman"/>
            </a:endParaRPr>
          </a:p>
        </p:txBody>
      </p:sp>
      <p:sp>
        <p:nvSpPr>
          <p:cNvPr id="5" name="object 5"/>
          <p:cNvSpPr txBox="1"/>
          <p:nvPr/>
        </p:nvSpPr>
        <p:spPr>
          <a:xfrm>
            <a:off x="718819" y="1348485"/>
            <a:ext cx="6312535" cy="7122159"/>
          </a:xfrm>
          <a:prstGeom prst="rect">
            <a:avLst/>
          </a:prstGeom>
        </p:spPr>
        <p:txBody>
          <a:bodyPr wrap="square" lIns="0" tIns="12065" rIns="0" bIns="0" rtlCol="0" vert="horz">
            <a:spAutoFit/>
          </a:bodyPr>
          <a:lstStyle/>
          <a:p>
            <a:pPr algn="just" marL="12700" marR="9525">
              <a:lnSpc>
                <a:spcPct val="143700"/>
              </a:lnSpc>
              <a:spcBef>
                <a:spcPts val="95"/>
              </a:spcBef>
            </a:pPr>
            <a:r>
              <a:rPr dirty="0" sz="1200" spc="-5">
                <a:latin typeface="Arial"/>
                <a:cs typeface="Arial"/>
              </a:rPr>
              <a:t>The need </a:t>
            </a:r>
            <a:r>
              <a:rPr dirty="0" sz="1200">
                <a:latin typeface="Arial"/>
                <a:cs typeface="Arial"/>
              </a:rPr>
              <a:t>for Islamic </a:t>
            </a:r>
            <a:r>
              <a:rPr dirty="0" sz="1200" spc="-5">
                <a:latin typeface="Arial"/>
                <a:cs typeface="Arial"/>
              </a:rPr>
              <a:t>education has been </a:t>
            </a:r>
            <a:r>
              <a:rPr dirty="0" sz="1200">
                <a:latin typeface="Arial"/>
                <a:cs typeface="Arial"/>
              </a:rPr>
              <a:t>felt </a:t>
            </a:r>
            <a:r>
              <a:rPr dirty="0" sz="1200" spc="-5">
                <a:latin typeface="Arial"/>
                <a:cs typeface="Arial"/>
              </a:rPr>
              <a:t>throughout ages. </a:t>
            </a:r>
            <a:r>
              <a:rPr dirty="0" sz="1200">
                <a:latin typeface="Arial"/>
                <a:cs typeface="Arial"/>
              </a:rPr>
              <a:t>This </a:t>
            </a:r>
            <a:r>
              <a:rPr dirty="0" sz="1200" spc="-5">
                <a:latin typeface="Arial"/>
                <a:cs typeface="Arial"/>
              </a:rPr>
              <a:t>concerns all Muslims,  </a:t>
            </a:r>
            <a:r>
              <a:rPr dirty="0" sz="1200">
                <a:latin typeface="Arial"/>
                <a:cs typeface="Arial"/>
              </a:rPr>
              <a:t>men </a:t>
            </a:r>
            <a:r>
              <a:rPr dirty="0" sz="1200" spc="-5">
                <a:latin typeface="Arial"/>
                <a:cs typeface="Arial"/>
              </a:rPr>
              <a:t>and women, irrespective of age and </a:t>
            </a:r>
            <a:r>
              <a:rPr dirty="0" sz="1200">
                <a:latin typeface="Arial"/>
                <a:cs typeface="Arial"/>
              </a:rPr>
              <a:t>time. </a:t>
            </a:r>
            <a:r>
              <a:rPr dirty="0" sz="1200" spc="-5">
                <a:latin typeface="Arial"/>
                <a:cs typeface="Arial"/>
              </a:rPr>
              <a:t>However, when </a:t>
            </a:r>
            <a:r>
              <a:rPr dirty="0" sz="1200">
                <a:latin typeface="Arial"/>
                <a:cs typeface="Arial"/>
              </a:rPr>
              <a:t>it comes to </a:t>
            </a:r>
            <a:r>
              <a:rPr dirty="0" sz="1200" spc="-5">
                <a:latin typeface="Arial"/>
                <a:cs typeface="Arial"/>
              </a:rPr>
              <a:t>students, </a:t>
            </a:r>
            <a:r>
              <a:rPr dirty="0" sz="1200">
                <a:latin typeface="Arial"/>
                <a:cs typeface="Arial"/>
              </a:rPr>
              <a:t>I </a:t>
            </a:r>
            <a:r>
              <a:rPr dirty="0" sz="1200" spc="-10">
                <a:latin typeface="Arial"/>
                <a:cs typeface="Arial"/>
              </a:rPr>
              <a:t>have  </a:t>
            </a:r>
            <a:r>
              <a:rPr dirty="0" sz="1200" spc="-5">
                <a:latin typeface="Arial"/>
                <a:cs typeface="Arial"/>
              </a:rPr>
              <a:t>seen that </a:t>
            </a:r>
            <a:r>
              <a:rPr dirty="0" sz="1200">
                <a:latin typeface="Arial"/>
                <a:cs typeface="Arial"/>
              </a:rPr>
              <a:t>there </a:t>
            </a:r>
            <a:r>
              <a:rPr dirty="0" sz="1200" spc="-5">
                <a:latin typeface="Arial"/>
                <a:cs typeface="Arial"/>
              </a:rPr>
              <a:t>is not a </a:t>
            </a:r>
            <a:r>
              <a:rPr dirty="0" sz="1200">
                <a:latin typeface="Arial"/>
                <a:cs typeface="Arial"/>
              </a:rPr>
              <a:t>specific </a:t>
            </a:r>
            <a:r>
              <a:rPr dirty="0" sz="1200" spc="-5">
                <a:latin typeface="Arial"/>
                <a:cs typeface="Arial"/>
              </a:rPr>
              <a:t>book not light enough </a:t>
            </a:r>
            <a:r>
              <a:rPr dirty="0" sz="1200">
                <a:latin typeface="Arial"/>
                <a:cs typeface="Arial"/>
              </a:rPr>
              <a:t>for them. </a:t>
            </a:r>
            <a:r>
              <a:rPr dirty="0" sz="1200" spc="-5">
                <a:latin typeface="Arial"/>
                <a:cs typeface="Arial"/>
              </a:rPr>
              <a:t>Many </a:t>
            </a:r>
            <a:r>
              <a:rPr dirty="0" sz="1200">
                <a:latin typeface="Arial"/>
                <a:cs typeface="Arial"/>
              </a:rPr>
              <a:t>students </a:t>
            </a:r>
            <a:r>
              <a:rPr dirty="0" sz="1200" spc="-10">
                <a:latin typeface="Arial"/>
                <a:cs typeface="Arial"/>
              </a:rPr>
              <a:t>have  </a:t>
            </a:r>
            <a:r>
              <a:rPr dirty="0" sz="1200">
                <a:latin typeface="Arial"/>
                <a:cs typeface="Arial"/>
              </a:rPr>
              <a:t>prejudice </a:t>
            </a:r>
            <a:r>
              <a:rPr dirty="0" sz="1200" spc="-5">
                <a:latin typeface="Arial"/>
                <a:cs typeface="Arial"/>
              </a:rPr>
              <a:t>once the lengthiness of a book is concerned. Students find </a:t>
            </a:r>
            <a:r>
              <a:rPr dirty="0" sz="1200">
                <a:latin typeface="Arial"/>
                <a:cs typeface="Arial"/>
              </a:rPr>
              <a:t>it </a:t>
            </a:r>
            <a:r>
              <a:rPr dirty="0" sz="1200" spc="-5">
                <a:latin typeface="Arial"/>
                <a:cs typeface="Arial"/>
              </a:rPr>
              <a:t>hard to search </a:t>
            </a:r>
            <a:r>
              <a:rPr dirty="0" sz="1200">
                <a:latin typeface="Arial"/>
                <a:cs typeface="Arial"/>
              </a:rPr>
              <a:t>for  notes </a:t>
            </a:r>
            <a:r>
              <a:rPr dirty="0" sz="1200" spc="-5">
                <a:latin typeface="Arial"/>
                <a:cs typeface="Arial"/>
              </a:rPr>
              <a:t>and </a:t>
            </a:r>
            <a:r>
              <a:rPr dirty="0" sz="1200">
                <a:latin typeface="Arial"/>
                <a:cs typeface="Arial"/>
              </a:rPr>
              <a:t>to </a:t>
            </a:r>
            <a:r>
              <a:rPr dirty="0" sz="1200" spc="-5">
                <a:latin typeface="Arial"/>
                <a:cs typeface="Arial"/>
              </a:rPr>
              <a:t>make research work. </a:t>
            </a:r>
            <a:r>
              <a:rPr dirty="0" sz="1200">
                <a:latin typeface="Arial"/>
                <a:cs typeface="Arial"/>
              </a:rPr>
              <a:t>That </a:t>
            </a:r>
            <a:r>
              <a:rPr dirty="0" sz="1200" spc="-10">
                <a:latin typeface="Arial"/>
                <a:cs typeface="Arial"/>
              </a:rPr>
              <a:t>was </a:t>
            </a:r>
            <a:r>
              <a:rPr dirty="0" sz="1200">
                <a:latin typeface="Arial"/>
                <a:cs typeface="Arial"/>
              </a:rPr>
              <a:t>the </a:t>
            </a:r>
            <a:r>
              <a:rPr dirty="0" sz="1200" spc="-5">
                <a:latin typeface="Arial"/>
                <a:cs typeface="Arial"/>
              </a:rPr>
              <a:t>main reason of </a:t>
            </a:r>
            <a:r>
              <a:rPr dirty="0" sz="1200" spc="10">
                <a:latin typeface="Arial"/>
                <a:cs typeface="Arial"/>
              </a:rPr>
              <a:t>the </a:t>
            </a:r>
            <a:r>
              <a:rPr dirty="0" sz="1200" spc="-5">
                <a:latin typeface="Arial"/>
                <a:cs typeface="Arial"/>
              </a:rPr>
              <a:t>presence of </a:t>
            </a:r>
            <a:r>
              <a:rPr dirty="0" sz="1200">
                <a:latin typeface="Arial"/>
                <a:cs typeface="Arial"/>
              </a:rPr>
              <a:t>this </a:t>
            </a:r>
            <a:r>
              <a:rPr dirty="0" sz="1200" spc="-5">
                <a:latin typeface="Arial"/>
                <a:cs typeface="Arial"/>
              </a:rPr>
              <a:t>book in  hand. </a:t>
            </a:r>
            <a:r>
              <a:rPr dirty="0" sz="1200">
                <a:latin typeface="Arial"/>
                <a:cs typeface="Arial"/>
              </a:rPr>
              <a:t>It </a:t>
            </a:r>
            <a:r>
              <a:rPr dirty="0" sz="1200" spc="-5">
                <a:latin typeface="Arial"/>
                <a:cs typeface="Arial"/>
              </a:rPr>
              <a:t>is </a:t>
            </a:r>
            <a:r>
              <a:rPr dirty="0" sz="1200">
                <a:latin typeface="Arial"/>
                <a:cs typeface="Arial"/>
              </a:rPr>
              <a:t>easy to </a:t>
            </a:r>
            <a:r>
              <a:rPr dirty="0" sz="1200" spc="-5">
                <a:latin typeface="Arial"/>
                <a:cs typeface="Arial"/>
              </a:rPr>
              <a:t>study </a:t>
            </a:r>
            <a:r>
              <a:rPr dirty="0" sz="1200">
                <a:latin typeface="Arial"/>
                <a:cs typeface="Arial"/>
              </a:rPr>
              <a:t>and</a:t>
            </a:r>
            <a:r>
              <a:rPr dirty="0" sz="1200" spc="-30">
                <a:latin typeface="Arial"/>
                <a:cs typeface="Arial"/>
              </a:rPr>
              <a:t> </a:t>
            </a:r>
            <a:r>
              <a:rPr dirty="0" sz="1200" spc="-5">
                <a:latin typeface="Arial"/>
                <a:cs typeface="Arial"/>
              </a:rPr>
              <a:t>grasp.</a:t>
            </a:r>
            <a:endParaRPr sz="1200">
              <a:latin typeface="Arial"/>
              <a:cs typeface="Arial"/>
            </a:endParaRPr>
          </a:p>
          <a:p>
            <a:pPr>
              <a:lnSpc>
                <a:spcPct val="100000"/>
              </a:lnSpc>
            </a:pPr>
            <a:endParaRPr sz="1800">
              <a:latin typeface="Arial"/>
              <a:cs typeface="Arial"/>
            </a:endParaRPr>
          </a:p>
          <a:p>
            <a:pPr algn="just" marL="12700" marR="5080">
              <a:lnSpc>
                <a:spcPct val="143800"/>
              </a:lnSpc>
            </a:pPr>
            <a:r>
              <a:rPr dirty="0" sz="1200">
                <a:latin typeface="Arial"/>
                <a:cs typeface="Arial"/>
              </a:rPr>
              <a:t>This </a:t>
            </a:r>
            <a:r>
              <a:rPr dirty="0" sz="1200" spc="-5">
                <a:latin typeface="Arial"/>
                <a:cs typeface="Arial"/>
              </a:rPr>
              <a:t>book has been compiled based </a:t>
            </a:r>
            <a:r>
              <a:rPr dirty="0" sz="1200" spc="-10">
                <a:latin typeface="Arial"/>
                <a:cs typeface="Arial"/>
              </a:rPr>
              <a:t>on </a:t>
            </a:r>
            <a:r>
              <a:rPr dirty="0" sz="1200" spc="-5">
                <a:latin typeface="Arial"/>
                <a:cs typeface="Arial"/>
              </a:rPr>
              <a:t>the syllabus of the subject, Islamic Studies </a:t>
            </a:r>
            <a:r>
              <a:rPr dirty="0" sz="1200" spc="-10">
                <a:latin typeface="Arial"/>
                <a:cs typeface="Arial"/>
              </a:rPr>
              <a:t>Year  </a:t>
            </a:r>
            <a:r>
              <a:rPr dirty="0" sz="1200" spc="-5">
                <a:latin typeface="Arial"/>
                <a:cs typeface="Arial"/>
              </a:rPr>
              <a:t>2011 with code </a:t>
            </a:r>
            <a:r>
              <a:rPr dirty="0" sz="1200">
                <a:latin typeface="Arial"/>
                <a:cs typeface="Arial"/>
              </a:rPr>
              <a:t>9013. The </a:t>
            </a:r>
            <a:r>
              <a:rPr dirty="0" sz="1200" spc="-5">
                <a:latin typeface="Arial"/>
                <a:cs typeface="Arial"/>
              </a:rPr>
              <a:t>page of content has been presented </a:t>
            </a:r>
            <a:r>
              <a:rPr dirty="0" sz="1200" spc="-10">
                <a:latin typeface="Arial"/>
                <a:cs typeface="Arial"/>
              </a:rPr>
              <a:t>as </a:t>
            </a:r>
            <a:r>
              <a:rPr dirty="0" sz="1200" spc="-5">
                <a:latin typeface="Arial"/>
                <a:cs typeface="Arial"/>
              </a:rPr>
              <a:t>per </a:t>
            </a:r>
            <a:r>
              <a:rPr dirty="0" sz="1200">
                <a:latin typeface="Arial"/>
                <a:cs typeface="Arial"/>
              </a:rPr>
              <a:t>the </a:t>
            </a:r>
            <a:r>
              <a:rPr dirty="0" sz="1200" spc="-5">
                <a:latin typeface="Arial"/>
                <a:cs typeface="Arial"/>
              </a:rPr>
              <a:t>syllabus itself.  </a:t>
            </a:r>
            <a:r>
              <a:rPr dirty="0" sz="1200">
                <a:latin typeface="Arial"/>
                <a:cs typeface="Arial"/>
              </a:rPr>
              <a:t>After </a:t>
            </a:r>
            <a:r>
              <a:rPr dirty="0" sz="1200" spc="-5">
                <a:latin typeface="Arial"/>
                <a:cs typeface="Arial"/>
              </a:rPr>
              <a:t>each chapter </a:t>
            </a:r>
            <a:r>
              <a:rPr dirty="0" sz="1200" spc="-10">
                <a:latin typeface="Arial"/>
                <a:cs typeface="Arial"/>
              </a:rPr>
              <a:t>there </a:t>
            </a:r>
            <a:r>
              <a:rPr dirty="0" sz="1200">
                <a:latin typeface="Arial"/>
                <a:cs typeface="Arial"/>
              </a:rPr>
              <a:t>are </a:t>
            </a:r>
            <a:r>
              <a:rPr dirty="0" sz="1200" spc="-5">
                <a:latin typeface="Arial"/>
                <a:cs typeface="Arial"/>
              </a:rPr>
              <a:t>questions of </a:t>
            </a:r>
            <a:r>
              <a:rPr dirty="0" sz="1200">
                <a:latin typeface="Arial"/>
                <a:cs typeface="Arial"/>
              </a:rPr>
              <a:t>past </a:t>
            </a:r>
            <a:r>
              <a:rPr dirty="0" sz="1200" spc="-5">
                <a:latin typeface="Arial"/>
                <a:cs typeface="Arial"/>
              </a:rPr>
              <a:t>exams </a:t>
            </a:r>
            <a:r>
              <a:rPr dirty="0" sz="1200">
                <a:latin typeface="Arial"/>
                <a:cs typeface="Arial"/>
              </a:rPr>
              <a:t>for</a:t>
            </a:r>
            <a:r>
              <a:rPr dirty="0" sz="1200" spc="10">
                <a:latin typeface="Arial"/>
                <a:cs typeface="Arial"/>
              </a:rPr>
              <a:t> </a:t>
            </a:r>
            <a:r>
              <a:rPr dirty="0" sz="1200">
                <a:latin typeface="Arial"/>
                <a:cs typeface="Arial"/>
              </a:rPr>
              <a:t>HSC.</a:t>
            </a:r>
            <a:endParaRPr sz="1200">
              <a:latin typeface="Arial"/>
              <a:cs typeface="Arial"/>
            </a:endParaRPr>
          </a:p>
          <a:p>
            <a:pPr>
              <a:lnSpc>
                <a:spcPct val="100000"/>
              </a:lnSpc>
            </a:pPr>
            <a:endParaRPr sz="1800">
              <a:latin typeface="Arial"/>
              <a:cs typeface="Arial"/>
            </a:endParaRPr>
          </a:p>
          <a:p>
            <a:pPr algn="just" marL="12700" marR="12065">
              <a:lnSpc>
                <a:spcPct val="143700"/>
              </a:lnSpc>
            </a:pPr>
            <a:r>
              <a:rPr dirty="0" sz="1200">
                <a:latin typeface="Arial"/>
                <a:cs typeface="Arial"/>
              </a:rPr>
              <a:t>Coming to </a:t>
            </a:r>
            <a:r>
              <a:rPr dirty="0" sz="1200" spc="-5">
                <a:latin typeface="Arial"/>
                <a:cs typeface="Arial"/>
              </a:rPr>
              <a:t>the test item of the subject, </a:t>
            </a:r>
            <a:r>
              <a:rPr dirty="0" sz="1200" spc="-10">
                <a:latin typeface="Arial"/>
                <a:cs typeface="Arial"/>
              </a:rPr>
              <a:t>an </a:t>
            </a:r>
            <a:r>
              <a:rPr dirty="0" sz="1200" spc="-5">
                <a:latin typeface="Arial"/>
                <a:cs typeface="Arial"/>
              </a:rPr>
              <a:t>aspect of great importance is the writing </a:t>
            </a:r>
            <a:r>
              <a:rPr dirty="0" sz="1200">
                <a:latin typeface="Arial"/>
                <a:cs typeface="Arial"/>
              </a:rPr>
              <a:t>of </a:t>
            </a:r>
            <a:r>
              <a:rPr dirty="0" sz="1200" spc="-5">
                <a:latin typeface="Arial"/>
                <a:cs typeface="Arial"/>
              </a:rPr>
              <a:t>essays.  </a:t>
            </a:r>
            <a:r>
              <a:rPr dirty="0" sz="1200">
                <a:latin typeface="Arial"/>
                <a:cs typeface="Arial"/>
              </a:rPr>
              <a:t>If </a:t>
            </a:r>
            <a:r>
              <a:rPr dirty="0" sz="1200" spc="-5">
                <a:latin typeface="Arial"/>
                <a:cs typeface="Arial"/>
              </a:rPr>
              <a:t>though </a:t>
            </a:r>
            <a:r>
              <a:rPr dirty="0" sz="1200" spc="-10">
                <a:latin typeface="Arial"/>
                <a:cs typeface="Arial"/>
              </a:rPr>
              <a:t>you </a:t>
            </a:r>
            <a:r>
              <a:rPr dirty="0" sz="1200" spc="-5">
                <a:latin typeface="Arial"/>
                <a:cs typeface="Arial"/>
              </a:rPr>
              <a:t>are </a:t>
            </a:r>
            <a:r>
              <a:rPr dirty="0" sz="1200" spc="-10">
                <a:latin typeface="Arial"/>
                <a:cs typeface="Arial"/>
              </a:rPr>
              <a:t>an </a:t>
            </a:r>
            <a:r>
              <a:rPr dirty="0" sz="1200" spc="-5">
                <a:latin typeface="Arial"/>
                <a:cs typeface="Arial"/>
              </a:rPr>
              <a:t>expert in </a:t>
            </a:r>
            <a:r>
              <a:rPr dirty="0" sz="1200">
                <a:latin typeface="Arial"/>
                <a:cs typeface="Arial"/>
              </a:rPr>
              <a:t>the </a:t>
            </a:r>
            <a:r>
              <a:rPr dirty="0" sz="1200" spc="-5">
                <a:latin typeface="Arial"/>
                <a:cs typeface="Arial"/>
              </a:rPr>
              <a:t>subject that does not imply </a:t>
            </a:r>
            <a:r>
              <a:rPr dirty="0" sz="1200">
                <a:latin typeface="Arial"/>
                <a:cs typeface="Arial"/>
              </a:rPr>
              <a:t>that </a:t>
            </a:r>
            <a:r>
              <a:rPr dirty="0" sz="1200" spc="-10">
                <a:latin typeface="Arial"/>
                <a:cs typeface="Arial"/>
              </a:rPr>
              <a:t>you will </a:t>
            </a:r>
            <a:r>
              <a:rPr dirty="0" sz="1200" spc="-5">
                <a:latin typeface="Arial"/>
                <a:cs typeface="Arial"/>
              </a:rPr>
              <a:t>be able to </a:t>
            </a:r>
            <a:r>
              <a:rPr dirty="0" sz="1200" spc="-10">
                <a:latin typeface="Arial"/>
                <a:cs typeface="Arial"/>
              </a:rPr>
              <a:t>write  </a:t>
            </a:r>
            <a:r>
              <a:rPr dirty="0" sz="1200" spc="-5">
                <a:latin typeface="Arial"/>
                <a:cs typeface="Arial"/>
              </a:rPr>
              <a:t>and compose great essays. You need </a:t>
            </a:r>
            <a:r>
              <a:rPr dirty="0" sz="1200" spc="-10">
                <a:latin typeface="Arial"/>
                <a:cs typeface="Arial"/>
              </a:rPr>
              <a:t>an </a:t>
            </a:r>
            <a:r>
              <a:rPr dirty="0" sz="1200" spc="-5">
                <a:latin typeface="Arial"/>
                <a:cs typeface="Arial"/>
              </a:rPr>
              <a:t>essay with an introduction, a body and a  conclusion. You </a:t>
            </a:r>
            <a:r>
              <a:rPr dirty="0" sz="1200" spc="-10">
                <a:latin typeface="Arial"/>
                <a:cs typeface="Arial"/>
              </a:rPr>
              <a:t>need </a:t>
            </a:r>
            <a:r>
              <a:rPr dirty="0" sz="1200" spc="-5">
                <a:latin typeface="Arial"/>
                <a:cs typeface="Arial"/>
              </a:rPr>
              <a:t>to specify and enumerate the different </a:t>
            </a:r>
            <a:r>
              <a:rPr dirty="0" sz="1200">
                <a:latin typeface="Arial"/>
                <a:cs typeface="Arial"/>
              </a:rPr>
              <a:t>parts </a:t>
            </a:r>
            <a:r>
              <a:rPr dirty="0" sz="1200" spc="-5">
                <a:latin typeface="Arial"/>
                <a:cs typeface="Arial"/>
              </a:rPr>
              <a:t>of </a:t>
            </a:r>
            <a:r>
              <a:rPr dirty="0" sz="1200">
                <a:latin typeface="Arial"/>
                <a:cs typeface="Arial"/>
              </a:rPr>
              <a:t>the </a:t>
            </a:r>
            <a:r>
              <a:rPr dirty="0" sz="1200" spc="-5">
                <a:latin typeface="Arial"/>
                <a:cs typeface="Arial"/>
              </a:rPr>
              <a:t>question. You </a:t>
            </a:r>
            <a:r>
              <a:rPr dirty="0" sz="1200" spc="-10">
                <a:latin typeface="Arial"/>
                <a:cs typeface="Arial"/>
              </a:rPr>
              <a:t>need  </a:t>
            </a:r>
            <a:r>
              <a:rPr dirty="0" sz="1200">
                <a:latin typeface="Arial"/>
                <a:cs typeface="Arial"/>
              </a:rPr>
              <a:t>to follow the </a:t>
            </a:r>
            <a:r>
              <a:rPr dirty="0" sz="1200" spc="-5">
                <a:latin typeface="Arial"/>
                <a:cs typeface="Arial"/>
              </a:rPr>
              <a:t>trend of the question. You </a:t>
            </a:r>
            <a:r>
              <a:rPr dirty="0" sz="1200" spc="-10">
                <a:latin typeface="Arial"/>
                <a:cs typeface="Arial"/>
              </a:rPr>
              <a:t>need </a:t>
            </a:r>
            <a:r>
              <a:rPr dirty="0" sz="1200">
                <a:latin typeface="Arial"/>
                <a:cs typeface="Arial"/>
              </a:rPr>
              <a:t>to </a:t>
            </a:r>
            <a:r>
              <a:rPr dirty="0" sz="1200" spc="-5">
                <a:latin typeface="Arial"/>
                <a:cs typeface="Arial"/>
              </a:rPr>
              <a:t>show knowledge and understanding of </a:t>
            </a:r>
            <a:r>
              <a:rPr dirty="0" sz="1200">
                <a:latin typeface="Arial"/>
                <a:cs typeface="Arial"/>
              </a:rPr>
              <a:t>the  </a:t>
            </a:r>
            <a:r>
              <a:rPr dirty="0" sz="1200" spc="-5">
                <a:latin typeface="Arial"/>
                <a:cs typeface="Arial"/>
              </a:rPr>
              <a:t>subjects with explicit, logic and critical</a:t>
            </a:r>
            <a:r>
              <a:rPr dirty="0" sz="1200" spc="35">
                <a:latin typeface="Arial"/>
                <a:cs typeface="Arial"/>
              </a:rPr>
              <a:t> </a:t>
            </a:r>
            <a:r>
              <a:rPr dirty="0" sz="1200" spc="-5">
                <a:latin typeface="Arial"/>
                <a:cs typeface="Arial"/>
              </a:rPr>
              <a:t>approach.</a:t>
            </a:r>
            <a:endParaRPr sz="1200">
              <a:latin typeface="Arial"/>
              <a:cs typeface="Arial"/>
            </a:endParaRPr>
          </a:p>
          <a:p>
            <a:pPr>
              <a:lnSpc>
                <a:spcPct val="100000"/>
              </a:lnSpc>
            </a:pPr>
            <a:endParaRPr sz="1800">
              <a:latin typeface="Arial"/>
              <a:cs typeface="Arial"/>
            </a:endParaRPr>
          </a:p>
          <a:p>
            <a:pPr algn="just" marL="12700" marR="13970">
              <a:lnSpc>
                <a:spcPct val="143800"/>
              </a:lnSpc>
            </a:pPr>
            <a:r>
              <a:rPr dirty="0" sz="1200">
                <a:latin typeface="Arial"/>
                <a:cs typeface="Arial"/>
              </a:rPr>
              <a:t>It </a:t>
            </a:r>
            <a:r>
              <a:rPr dirty="0" sz="1200" spc="-5">
                <a:latin typeface="Arial"/>
                <a:cs typeface="Arial"/>
              </a:rPr>
              <a:t>is important to note </a:t>
            </a:r>
            <a:r>
              <a:rPr dirty="0" sz="1200">
                <a:latin typeface="Arial"/>
                <a:cs typeface="Arial"/>
              </a:rPr>
              <a:t>that </a:t>
            </a:r>
            <a:r>
              <a:rPr dirty="0" sz="1200" spc="-5">
                <a:latin typeface="Arial"/>
                <a:cs typeface="Arial"/>
              </a:rPr>
              <a:t>a teacher is still vital </a:t>
            </a:r>
            <a:r>
              <a:rPr dirty="0" sz="1200">
                <a:latin typeface="Arial"/>
                <a:cs typeface="Arial"/>
              </a:rPr>
              <a:t>for the </a:t>
            </a:r>
            <a:r>
              <a:rPr dirty="0" sz="1200" spc="-5">
                <a:latin typeface="Arial"/>
                <a:cs typeface="Arial"/>
              </a:rPr>
              <a:t>explanation and elaboration of the  syllabus. Students must never </a:t>
            </a:r>
            <a:r>
              <a:rPr dirty="0" sz="1200">
                <a:latin typeface="Arial"/>
                <a:cs typeface="Arial"/>
              </a:rPr>
              <a:t>think </a:t>
            </a:r>
            <a:r>
              <a:rPr dirty="0" sz="1200" spc="-5">
                <a:latin typeface="Arial"/>
                <a:cs typeface="Arial"/>
              </a:rPr>
              <a:t>and pretend </a:t>
            </a:r>
            <a:r>
              <a:rPr dirty="0" sz="1200">
                <a:latin typeface="Arial"/>
                <a:cs typeface="Arial"/>
              </a:rPr>
              <a:t>to </a:t>
            </a:r>
            <a:r>
              <a:rPr dirty="0" sz="1200" spc="-10">
                <a:latin typeface="Arial"/>
                <a:cs typeface="Arial"/>
              </a:rPr>
              <a:t>be </a:t>
            </a:r>
            <a:r>
              <a:rPr dirty="0" sz="1200" spc="-5">
                <a:latin typeface="Arial"/>
                <a:cs typeface="Arial"/>
              </a:rPr>
              <a:t>able </a:t>
            </a:r>
            <a:r>
              <a:rPr dirty="0" sz="1200">
                <a:latin typeface="Arial"/>
                <a:cs typeface="Arial"/>
              </a:rPr>
              <a:t>to </a:t>
            </a:r>
            <a:r>
              <a:rPr dirty="0" sz="1200" spc="-5">
                <a:latin typeface="Arial"/>
                <a:cs typeface="Arial"/>
              </a:rPr>
              <a:t>learn by themselves and  achieve the highest </a:t>
            </a:r>
            <a:r>
              <a:rPr dirty="0" sz="1200" spc="-10">
                <a:latin typeface="Arial"/>
                <a:cs typeface="Arial"/>
              </a:rPr>
              <a:t>level. </a:t>
            </a:r>
            <a:r>
              <a:rPr dirty="0" sz="1200">
                <a:latin typeface="Arial"/>
                <a:cs typeface="Arial"/>
              </a:rPr>
              <a:t>A tutor </a:t>
            </a:r>
            <a:r>
              <a:rPr dirty="0" sz="1200" spc="-5">
                <a:latin typeface="Arial"/>
                <a:cs typeface="Arial"/>
              </a:rPr>
              <a:t>is important </a:t>
            </a:r>
            <a:r>
              <a:rPr dirty="0" sz="1200">
                <a:latin typeface="Arial"/>
                <a:cs typeface="Arial"/>
              </a:rPr>
              <a:t>at </a:t>
            </a:r>
            <a:r>
              <a:rPr dirty="0" sz="1200" spc="-5">
                <a:latin typeface="Arial"/>
                <a:cs typeface="Arial"/>
              </a:rPr>
              <a:t>all</a:t>
            </a:r>
            <a:r>
              <a:rPr dirty="0" sz="1200" spc="15">
                <a:latin typeface="Arial"/>
                <a:cs typeface="Arial"/>
              </a:rPr>
              <a:t> </a:t>
            </a:r>
            <a:r>
              <a:rPr dirty="0" sz="1200" spc="-5">
                <a:latin typeface="Arial"/>
                <a:cs typeface="Arial"/>
              </a:rPr>
              <a:t>levels.</a:t>
            </a:r>
            <a:endParaRPr sz="1200">
              <a:latin typeface="Arial"/>
              <a:cs typeface="Arial"/>
            </a:endParaRPr>
          </a:p>
          <a:p>
            <a:pPr algn="just" marL="12700" marR="2242820">
              <a:lnSpc>
                <a:spcPts val="4140"/>
              </a:lnSpc>
              <a:spcBef>
                <a:spcPts val="590"/>
              </a:spcBef>
            </a:pPr>
            <a:r>
              <a:rPr dirty="0" sz="1200">
                <a:latin typeface="Arial"/>
                <a:cs typeface="Arial"/>
              </a:rPr>
              <a:t>In </a:t>
            </a:r>
            <a:r>
              <a:rPr dirty="0" sz="1200" spc="-5">
                <a:latin typeface="Arial"/>
                <a:cs typeface="Arial"/>
              </a:rPr>
              <a:t>the hope that this booklet </a:t>
            </a:r>
            <a:r>
              <a:rPr dirty="0" sz="1200" spc="-10">
                <a:latin typeface="Arial"/>
                <a:cs typeface="Arial"/>
              </a:rPr>
              <a:t>will </a:t>
            </a:r>
            <a:r>
              <a:rPr dirty="0" sz="1200" spc="-5">
                <a:latin typeface="Arial"/>
                <a:cs typeface="Arial"/>
              </a:rPr>
              <a:t>be beneficial to </a:t>
            </a:r>
            <a:r>
              <a:rPr dirty="0" sz="1200">
                <a:latin typeface="Arial"/>
                <a:cs typeface="Arial"/>
              </a:rPr>
              <a:t>all </a:t>
            </a:r>
            <a:r>
              <a:rPr dirty="0" sz="1200" spc="-5">
                <a:latin typeface="Arial"/>
                <a:cs typeface="Arial"/>
              </a:rPr>
              <a:t>students.  Educator (Islamic</a:t>
            </a:r>
            <a:r>
              <a:rPr dirty="0" sz="1200">
                <a:latin typeface="Arial"/>
                <a:cs typeface="Arial"/>
              </a:rPr>
              <a:t> </a:t>
            </a:r>
            <a:r>
              <a:rPr dirty="0" sz="1200" spc="-5">
                <a:latin typeface="Arial"/>
                <a:cs typeface="Arial"/>
              </a:rPr>
              <a:t>Studies)</a:t>
            </a:r>
            <a:endParaRPr sz="1200">
              <a:latin typeface="Arial"/>
              <a:cs typeface="Arial"/>
            </a:endParaRPr>
          </a:p>
          <a:p>
            <a:pPr>
              <a:lnSpc>
                <a:spcPct val="100000"/>
              </a:lnSpc>
              <a:spcBef>
                <a:spcPts val="45"/>
              </a:spcBef>
            </a:pPr>
            <a:endParaRPr sz="1800">
              <a:latin typeface="Arial"/>
              <a:cs typeface="Arial"/>
            </a:endParaRPr>
          </a:p>
          <a:p>
            <a:pPr algn="just" marL="12700">
              <a:lnSpc>
                <a:spcPct val="100000"/>
              </a:lnSpc>
            </a:pPr>
            <a:r>
              <a:rPr dirty="0" sz="1200" spc="-5">
                <a:latin typeface="Arial"/>
                <a:cs typeface="Arial"/>
              </a:rPr>
              <a:t>Mr </a:t>
            </a:r>
            <a:r>
              <a:rPr dirty="0" sz="1200">
                <a:latin typeface="Arial"/>
                <a:cs typeface="Arial"/>
              </a:rPr>
              <a:t>Pahary S. </a:t>
            </a:r>
            <a:r>
              <a:rPr dirty="0" sz="1200" spc="-5">
                <a:latin typeface="Arial"/>
                <a:cs typeface="Arial"/>
              </a:rPr>
              <a:t>M.</a:t>
            </a:r>
            <a:r>
              <a:rPr dirty="0" sz="1200" spc="-20">
                <a:latin typeface="Arial"/>
                <a:cs typeface="Arial"/>
              </a:rPr>
              <a:t> </a:t>
            </a:r>
            <a:r>
              <a:rPr dirty="0" sz="1200">
                <a:latin typeface="Arial"/>
                <a:cs typeface="Arial"/>
              </a:rPr>
              <a:t>Y</a:t>
            </a:r>
            <a:endParaRPr sz="12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5970905" cy="208279"/>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878128" y="827531"/>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Islamic Studies</a:t>
            </a:r>
            <a:r>
              <a:rPr dirty="0" sz="1200" b="1">
                <a:latin typeface="Arial"/>
                <a:cs typeface="Arial"/>
              </a:rPr>
              <a:t> </a:t>
            </a:r>
            <a:r>
              <a:rPr dirty="0" sz="1200" spc="-5" b="1">
                <a:latin typeface="Arial"/>
                <a:cs typeface="Arial"/>
              </a:rPr>
              <a:t>(9013/1)</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49295" y="9905322"/>
            <a:ext cx="476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2</a:t>
            </a:r>
            <a:endParaRPr sz="1200">
              <a:latin typeface="Times New Roman"/>
              <a:cs typeface="Times New Roman"/>
            </a:endParaRPr>
          </a:p>
        </p:txBody>
      </p:sp>
      <p:graphicFrame>
        <p:nvGraphicFramePr>
          <p:cNvPr id="5" name="object 5"/>
          <p:cNvGraphicFramePr>
            <a:graphicFrameLocks noGrp="1"/>
          </p:cNvGraphicFramePr>
          <p:nvPr/>
        </p:nvGraphicFramePr>
        <p:xfrm>
          <a:off x="547116" y="1366478"/>
          <a:ext cx="6133465" cy="7626984"/>
        </p:xfrm>
        <a:graphic>
          <a:graphicData uri="http://schemas.openxmlformats.org/drawingml/2006/table">
            <a:tbl>
              <a:tblPr firstRow="1" bandRow="1">
                <a:tableStyleId>{2D5ABB26-0587-4C30-8999-92F81FD0307C}</a:tableStyleId>
              </a:tblPr>
              <a:tblGrid>
                <a:gridCol w="5112385"/>
                <a:gridCol w="835025"/>
                <a:gridCol w="186689"/>
              </a:tblGrid>
              <a:tr h="170259">
                <a:tc>
                  <a:txBody>
                    <a:bodyPr/>
                    <a:lstStyle/>
                    <a:p>
                      <a:pPr>
                        <a:lnSpc>
                          <a:spcPts val="1180"/>
                        </a:lnSpc>
                      </a:pPr>
                      <a:r>
                        <a:rPr dirty="0" sz="1200" spc="-5" b="1" i="1">
                          <a:latin typeface="Arial"/>
                          <a:cs typeface="Arial"/>
                        </a:rPr>
                        <a:t>Syllabus Content</a:t>
                      </a:r>
                      <a:endParaRPr sz="1200">
                        <a:latin typeface="Arial"/>
                        <a:cs typeface="Arial"/>
                      </a:endParaRPr>
                    </a:p>
                  </a:txBody>
                  <a:tcPr marL="0" marR="0" marB="0" marT="0">
                    <a:lnB w="19050">
                      <a:solidFill>
                        <a:srgbClr val="000000"/>
                      </a:solidFill>
                      <a:prstDash val="solid"/>
                    </a:lnB>
                  </a:tcPr>
                </a:tc>
                <a:tc>
                  <a:txBody>
                    <a:bodyPr/>
                    <a:lstStyle/>
                    <a:p>
                      <a:pPr marL="375285">
                        <a:lnSpc>
                          <a:spcPts val="1180"/>
                        </a:lnSpc>
                      </a:pPr>
                      <a:r>
                        <a:rPr dirty="0" sz="1200" b="1" i="1">
                          <a:latin typeface="Arial"/>
                          <a:cs typeface="Arial"/>
                        </a:rPr>
                        <a:t>P</a:t>
                      </a:r>
                      <a:r>
                        <a:rPr dirty="0" sz="1200" b="1" i="1">
                          <a:latin typeface="Arial"/>
                          <a:cs typeface="Arial"/>
                        </a:rPr>
                        <a:t>ages</a:t>
                      </a:r>
                      <a:endParaRPr sz="1200">
                        <a:latin typeface="Arial"/>
                        <a:cs typeface="Arial"/>
                      </a:endParaRPr>
                    </a:p>
                  </a:txBody>
                  <a:tcPr marL="0" marR="0" marB="0" marT="0">
                    <a:lnB w="19050">
                      <a:solidFill>
                        <a:srgbClr val="000000"/>
                      </a:solidFill>
                      <a:prstDash val="solid"/>
                    </a:lnB>
                  </a:tcPr>
                </a:tc>
                <a:tc rowSpan="2">
                  <a:txBody>
                    <a:bodyPr/>
                    <a:lstStyle/>
                    <a:p>
                      <a:pPr marR="3175">
                        <a:lnSpc>
                          <a:spcPct val="100000"/>
                        </a:lnSpc>
                      </a:pPr>
                      <a:endParaRPr sz="1200">
                        <a:latin typeface="Times New Roman"/>
                        <a:cs typeface="Times New Roman"/>
                      </a:endParaRPr>
                    </a:p>
                  </a:txBody>
                  <a:tcPr marL="0" marR="0" marB="0" marT="0"/>
                </a:tc>
              </a:tr>
              <a:tr h="519898">
                <a:tc>
                  <a:txBody>
                    <a:bodyPr/>
                    <a:lstStyle/>
                    <a:p>
                      <a:pPr>
                        <a:lnSpc>
                          <a:spcPct val="100000"/>
                        </a:lnSpc>
                        <a:spcBef>
                          <a:spcPts val="5"/>
                        </a:spcBef>
                      </a:pPr>
                      <a:endParaRPr sz="1550">
                        <a:latin typeface="Times New Roman"/>
                        <a:cs typeface="Times New Roman"/>
                      </a:endParaRPr>
                    </a:p>
                    <a:p>
                      <a:pPr>
                        <a:lnSpc>
                          <a:spcPct val="100000"/>
                        </a:lnSpc>
                      </a:pPr>
                      <a:r>
                        <a:rPr dirty="0" u="heavy" sz="1200" spc="-5" b="1">
                          <a:uFill>
                            <a:solidFill>
                              <a:srgbClr val="000000"/>
                            </a:solidFill>
                          </a:uFill>
                          <a:latin typeface="Arial"/>
                          <a:cs typeface="Arial"/>
                        </a:rPr>
                        <a:t>Paper</a:t>
                      </a:r>
                      <a:r>
                        <a:rPr dirty="0" u="heavy" sz="1200" spc="-15" b="1">
                          <a:uFill>
                            <a:solidFill>
                              <a:srgbClr val="000000"/>
                            </a:solidFill>
                          </a:uFill>
                          <a:latin typeface="Arial"/>
                          <a:cs typeface="Arial"/>
                        </a:rPr>
                        <a:t> </a:t>
                      </a:r>
                      <a:r>
                        <a:rPr dirty="0" u="heavy" sz="1200" spc="-5" b="1">
                          <a:uFill>
                            <a:solidFill>
                              <a:srgbClr val="000000"/>
                            </a:solidFill>
                          </a:uFill>
                          <a:latin typeface="Arial"/>
                          <a:cs typeface="Arial"/>
                        </a:rPr>
                        <a:t>1</a:t>
                      </a:r>
                      <a:endParaRPr sz="1200">
                        <a:latin typeface="Arial"/>
                        <a:cs typeface="Arial"/>
                      </a:endParaRPr>
                    </a:p>
                  </a:txBody>
                  <a:tcPr marL="0" marR="0" marB="0" marT="635">
                    <a:lnT w="19050">
                      <a:solidFill>
                        <a:srgbClr val="000000"/>
                      </a:solidFill>
                      <a:prstDash val="solid"/>
                    </a:lnT>
                  </a:tcPr>
                </a:tc>
                <a:tc>
                  <a:txBody>
                    <a:bodyPr/>
                    <a:lstStyle/>
                    <a:p>
                      <a:pPr marR="3175">
                        <a:lnSpc>
                          <a:spcPct val="100000"/>
                        </a:lnSpc>
                      </a:pPr>
                      <a:endParaRPr sz="1200">
                        <a:latin typeface="Times New Roman"/>
                        <a:cs typeface="Times New Roman"/>
                      </a:endParaRPr>
                    </a:p>
                  </a:txBody>
                  <a:tcPr marL="0" marR="0" marB="0" marT="0">
                    <a:lnT w="19050">
                      <a:solidFill>
                        <a:srgbClr val="000000"/>
                      </a:solidFill>
                      <a:prstDash val="solid"/>
                    </a:lnT>
                  </a:tcPr>
                </a:tc>
                <a:tc vMerge="1">
                  <a:txBody>
                    <a:bodyPr/>
                    <a:lstStyle/>
                    <a:p>
                      <a:pPr/>
                    </a:p>
                  </a:txBody>
                  <a:tcPr marL="0" marR="0" marB="0" marT="0"/>
                </a:tc>
              </a:tr>
              <a:tr h="286297">
                <a:tc>
                  <a:txBody>
                    <a:bodyPr/>
                    <a:lstStyle/>
                    <a:p>
                      <a:pPr>
                        <a:lnSpc>
                          <a:spcPts val="1290"/>
                        </a:lnSpc>
                        <a:spcBef>
                          <a:spcPts val="800"/>
                        </a:spcBef>
                      </a:pPr>
                      <a:r>
                        <a:rPr dirty="0" sz="1200" spc="-5" b="1" i="1">
                          <a:latin typeface="Arial"/>
                          <a:cs typeface="Arial"/>
                        </a:rPr>
                        <a:t>Section A: </a:t>
                      </a:r>
                      <a:r>
                        <a:rPr dirty="0" sz="1200" b="1" i="1">
                          <a:latin typeface="Arial"/>
                          <a:cs typeface="Arial"/>
                        </a:rPr>
                        <a:t>The </a:t>
                      </a:r>
                      <a:r>
                        <a:rPr dirty="0" sz="1200" spc="-5" b="1" i="1">
                          <a:latin typeface="Arial"/>
                          <a:cs typeface="Arial"/>
                        </a:rPr>
                        <a:t>Beginnings </a:t>
                      </a:r>
                      <a:r>
                        <a:rPr dirty="0" sz="1200" b="1" i="1">
                          <a:latin typeface="Arial"/>
                          <a:cs typeface="Arial"/>
                        </a:rPr>
                        <a:t>of</a:t>
                      </a:r>
                      <a:r>
                        <a:rPr dirty="0" sz="1200" spc="10" b="1" i="1">
                          <a:latin typeface="Arial"/>
                          <a:cs typeface="Arial"/>
                        </a:rPr>
                        <a:t> </a:t>
                      </a:r>
                      <a:r>
                        <a:rPr dirty="0" sz="1200" spc="-5" b="1" i="1">
                          <a:latin typeface="Arial"/>
                          <a:cs typeface="Arial"/>
                        </a:rPr>
                        <a:t>Islam</a:t>
                      </a:r>
                      <a:endParaRPr sz="1200">
                        <a:latin typeface="Arial"/>
                        <a:cs typeface="Arial"/>
                      </a:endParaRPr>
                    </a:p>
                  </a:txBody>
                  <a:tcPr marL="0" marR="0" marB="0" marT="101600">
                    <a:lnB w="19050">
                      <a:solidFill>
                        <a:srgbClr val="000000"/>
                      </a:solidFill>
                      <a:prstDash val="solid"/>
                    </a:lnB>
                  </a:tcPr>
                </a:tc>
                <a:tc>
                  <a:txBody>
                    <a:bodyPr/>
                    <a:lstStyle/>
                    <a:p>
                      <a:pPr marR="3175">
                        <a:lnSpc>
                          <a:spcPct val="100000"/>
                        </a:lnSpc>
                      </a:pPr>
                      <a:endParaRPr sz="1200">
                        <a:latin typeface="Times New Roman"/>
                        <a:cs typeface="Times New Roman"/>
                      </a:endParaRPr>
                    </a:p>
                  </a:txBody>
                  <a:tcPr marL="0" marR="0" marB="0" marT="0">
                    <a:lnB w="19050">
                      <a:solidFill>
                        <a:srgbClr val="000000"/>
                      </a:solidFill>
                      <a:prstDash val="solid"/>
                    </a:lnB>
                  </a:tcPr>
                </a:tc>
                <a:tc>
                  <a:txBody>
                    <a:bodyPr/>
                    <a:lstStyle/>
                    <a:p>
                      <a:pPr algn="ctr" marR="78105">
                        <a:lnSpc>
                          <a:spcPts val="1290"/>
                        </a:lnSpc>
                        <a:spcBef>
                          <a:spcPts val="800"/>
                        </a:spcBef>
                      </a:pPr>
                      <a:r>
                        <a:rPr dirty="0" sz="1200" b="1" i="1">
                          <a:latin typeface="Arial"/>
                          <a:cs typeface="Arial"/>
                        </a:rPr>
                        <a:t>4</a:t>
                      </a:r>
                      <a:endParaRPr sz="1200">
                        <a:latin typeface="Arial"/>
                        <a:cs typeface="Arial"/>
                      </a:endParaRPr>
                    </a:p>
                  </a:txBody>
                  <a:tcPr marL="0" marR="0" marB="0" marT="101600">
                    <a:lnB w="19050">
                      <a:solidFill>
                        <a:srgbClr val="000000"/>
                      </a:solidFill>
                      <a:prstDash val="solid"/>
                    </a:lnB>
                  </a:tcPr>
                </a:tc>
              </a:tr>
              <a:tr h="419314">
                <a:tc>
                  <a:txBody>
                    <a:bodyPr/>
                    <a:lstStyle/>
                    <a:p>
                      <a:pPr>
                        <a:lnSpc>
                          <a:spcPct val="100000"/>
                        </a:lnSpc>
                        <a:spcBef>
                          <a:spcPts val="5"/>
                        </a:spcBef>
                      </a:pPr>
                      <a:endParaRPr sz="1550">
                        <a:latin typeface="Times New Roman"/>
                        <a:cs typeface="Times New Roman"/>
                      </a:endParaRPr>
                    </a:p>
                    <a:p>
                      <a:pPr marL="95885" indent="-96520">
                        <a:lnSpc>
                          <a:spcPct val="100000"/>
                        </a:lnSpc>
                        <a:buChar char="•"/>
                        <a:tabLst>
                          <a:tab pos="96520" algn="l"/>
                        </a:tabLst>
                      </a:pPr>
                      <a:r>
                        <a:rPr dirty="0" sz="1200">
                          <a:latin typeface="Arial"/>
                          <a:cs typeface="Arial"/>
                        </a:rPr>
                        <a:t>Pre-Islamic</a:t>
                      </a:r>
                      <a:r>
                        <a:rPr dirty="0" sz="1200" spc="-20">
                          <a:latin typeface="Arial"/>
                          <a:cs typeface="Arial"/>
                        </a:rPr>
                        <a:t> </a:t>
                      </a:r>
                      <a:r>
                        <a:rPr dirty="0" sz="1200" spc="-5">
                          <a:latin typeface="Arial"/>
                          <a:cs typeface="Arial"/>
                        </a:rPr>
                        <a:t>Arabia</a:t>
                      </a:r>
                      <a:endParaRPr sz="1200">
                        <a:latin typeface="Arial"/>
                        <a:cs typeface="Arial"/>
                      </a:endParaRPr>
                    </a:p>
                  </a:txBody>
                  <a:tcPr marL="0" marR="0" marB="0" marT="635">
                    <a:lnT w="19050">
                      <a:solidFill>
                        <a:srgbClr val="000000"/>
                      </a:solidFill>
                      <a:prstDash val="solid"/>
                    </a:lnT>
                  </a:tcPr>
                </a:tc>
                <a:tc>
                  <a:txBody>
                    <a:bodyPr/>
                    <a:lstStyle/>
                    <a:p>
                      <a:pPr marR="3175">
                        <a:lnSpc>
                          <a:spcPct val="100000"/>
                        </a:lnSpc>
                      </a:pPr>
                      <a:endParaRPr sz="1200">
                        <a:latin typeface="Times New Roman"/>
                        <a:cs typeface="Times New Roman"/>
                      </a:endParaRPr>
                    </a:p>
                  </a:txBody>
                  <a:tcPr marL="0" marR="0" marB="0" marT="0">
                    <a:lnT w="19050">
                      <a:solidFill>
                        <a:srgbClr val="000000"/>
                      </a:solidFill>
                      <a:prstDash val="solid"/>
                    </a:lnT>
                  </a:tcPr>
                </a:tc>
                <a:tc>
                  <a:txBody>
                    <a:bodyPr/>
                    <a:lstStyle/>
                    <a:p>
                      <a:pPr marR="3175">
                        <a:lnSpc>
                          <a:spcPct val="100000"/>
                        </a:lnSpc>
                        <a:spcBef>
                          <a:spcPts val="5"/>
                        </a:spcBef>
                      </a:pPr>
                      <a:endParaRPr sz="1550">
                        <a:latin typeface="Times New Roman"/>
                        <a:cs typeface="Times New Roman"/>
                      </a:endParaRPr>
                    </a:p>
                    <a:p>
                      <a:pPr algn="ctr" marR="78105">
                        <a:lnSpc>
                          <a:spcPct val="100000"/>
                        </a:lnSpc>
                      </a:pPr>
                      <a:r>
                        <a:rPr dirty="0" sz="1200">
                          <a:latin typeface="Arial"/>
                          <a:cs typeface="Arial"/>
                        </a:rPr>
                        <a:t>4</a:t>
                      </a:r>
                      <a:endParaRPr sz="1200">
                        <a:latin typeface="Arial"/>
                        <a:cs typeface="Arial"/>
                      </a:endParaRPr>
                    </a:p>
                  </a:txBody>
                  <a:tcPr marL="0" marR="0" marB="0" marT="635">
                    <a:lnT w="19050">
                      <a:solidFill>
                        <a:srgbClr val="000000"/>
                      </a:solidFill>
                      <a:prstDash val="solid"/>
                    </a:lnT>
                  </a:tcPr>
                </a:tc>
              </a:tr>
              <a:tr h="201167">
                <a:tc>
                  <a:txBody>
                    <a:bodyPr/>
                    <a:lstStyle/>
                    <a:p>
                      <a:pPr marL="95885" indent="-96520">
                        <a:lnSpc>
                          <a:spcPct val="100000"/>
                        </a:lnSpc>
                        <a:spcBef>
                          <a:spcPts val="5"/>
                        </a:spcBef>
                        <a:buChar char="•"/>
                        <a:tabLst>
                          <a:tab pos="96520" algn="l"/>
                        </a:tabLst>
                      </a:pPr>
                      <a:r>
                        <a:rPr dirty="0" sz="1200" spc="-5">
                          <a:latin typeface="Arial"/>
                          <a:cs typeface="Arial"/>
                        </a:rPr>
                        <a:t>The life of the Prophet</a:t>
                      </a:r>
                      <a:r>
                        <a:rPr dirty="0" sz="1200" spc="5">
                          <a:latin typeface="Arial"/>
                          <a:cs typeface="Arial"/>
                        </a:rPr>
                        <a:t> </a:t>
                      </a:r>
                      <a:r>
                        <a:rPr dirty="0" sz="1200" spc="-5">
                          <a:latin typeface="Arial"/>
                          <a:cs typeface="Arial"/>
                        </a:rPr>
                        <a:t>(pbuh)</a:t>
                      </a:r>
                      <a:endParaRPr sz="1200">
                        <a:latin typeface="Arial"/>
                        <a:cs typeface="Arial"/>
                      </a:endParaRPr>
                    </a:p>
                  </a:txBody>
                  <a:tcPr marL="0" marR="0" marB="0" marT="63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5"/>
                        </a:spcBef>
                      </a:pPr>
                      <a:r>
                        <a:rPr dirty="0" sz="1200">
                          <a:latin typeface="Arial"/>
                          <a:cs typeface="Arial"/>
                        </a:rPr>
                        <a:t>10</a:t>
                      </a:r>
                      <a:endParaRPr sz="1200">
                        <a:latin typeface="Arial"/>
                        <a:cs typeface="Arial"/>
                      </a:endParaRPr>
                    </a:p>
                  </a:txBody>
                  <a:tcPr marL="0" marR="0" marB="0" marT="635"/>
                </a:tc>
              </a:tr>
              <a:tr h="302704">
                <a:tc>
                  <a:txBody>
                    <a:bodyPr/>
                    <a:lstStyle/>
                    <a:p>
                      <a:pPr marL="95885" indent="-96520">
                        <a:lnSpc>
                          <a:spcPct val="100000"/>
                        </a:lnSpc>
                        <a:spcBef>
                          <a:spcPts val="5"/>
                        </a:spcBef>
                        <a:buChar char="•"/>
                        <a:tabLst>
                          <a:tab pos="96520" algn="l"/>
                        </a:tabLst>
                      </a:pPr>
                      <a:r>
                        <a:rPr dirty="0" sz="1200" spc="-5">
                          <a:latin typeface="Arial"/>
                          <a:cs typeface="Arial"/>
                        </a:rPr>
                        <a:t>The Four Rightly-Guided</a:t>
                      </a:r>
                      <a:r>
                        <a:rPr dirty="0" sz="1200" spc="5">
                          <a:latin typeface="Arial"/>
                          <a:cs typeface="Arial"/>
                        </a:rPr>
                        <a:t> </a:t>
                      </a:r>
                      <a:r>
                        <a:rPr dirty="0" sz="1200" spc="-5">
                          <a:latin typeface="Arial"/>
                          <a:cs typeface="Arial"/>
                        </a:rPr>
                        <a:t>Caliphs</a:t>
                      </a:r>
                      <a:endParaRPr sz="1200">
                        <a:latin typeface="Arial"/>
                        <a:cs typeface="Arial"/>
                      </a:endParaRPr>
                    </a:p>
                  </a:txBody>
                  <a:tcPr marL="0" marR="0" marB="0" marT="63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5"/>
                        </a:spcBef>
                      </a:pPr>
                      <a:r>
                        <a:rPr dirty="0" sz="1200">
                          <a:latin typeface="Arial"/>
                          <a:cs typeface="Arial"/>
                        </a:rPr>
                        <a:t>31</a:t>
                      </a:r>
                      <a:endParaRPr sz="1200">
                        <a:latin typeface="Arial"/>
                        <a:cs typeface="Arial"/>
                      </a:endParaRPr>
                    </a:p>
                  </a:txBody>
                  <a:tcPr marL="0" marR="0" marB="0" marT="635"/>
                </a:tc>
              </a:tr>
              <a:tr h="287250">
                <a:tc>
                  <a:txBody>
                    <a:bodyPr/>
                    <a:lstStyle/>
                    <a:p>
                      <a:pPr>
                        <a:lnSpc>
                          <a:spcPts val="1290"/>
                        </a:lnSpc>
                        <a:spcBef>
                          <a:spcPts val="805"/>
                        </a:spcBef>
                      </a:pPr>
                      <a:r>
                        <a:rPr dirty="0" sz="1200" b="1" i="1">
                          <a:latin typeface="Arial"/>
                          <a:cs typeface="Arial"/>
                        </a:rPr>
                        <a:t>Section </a:t>
                      </a:r>
                      <a:r>
                        <a:rPr dirty="0" sz="1200" spc="-5" b="1" i="1">
                          <a:latin typeface="Arial"/>
                          <a:cs typeface="Arial"/>
                        </a:rPr>
                        <a:t>B: </a:t>
                      </a:r>
                      <a:r>
                        <a:rPr dirty="0" sz="1200" b="1" i="1">
                          <a:latin typeface="Arial"/>
                          <a:cs typeface="Arial"/>
                        </a:rPr>
                        <a:t>The </a:t>
                      </a:r>
                      <a:r>
                        <a:rPr dirty="0" sz="1200" spc="-5" b="1" i="1">
                          <a:latin typeface="Arial"/>
                          <a:cs typeface="Arial"/>
                        </a:rPr>
                        <a:t>Holy</a:t>
                      </a:r>
                      <a:r>
                        <a:rPr dirty="0" sz="1200" spc="-20" b="1" i="1">
                          <a:latin typeface="Arial"/>
                          <a:cs typeface="Arial"/>
                        </a:rPr>
                        <a:t> </a:t>
                      </a:r>
                      <a:r>
                        <a:rPr dirty="0" sz="1200" spc="-45" b="1" i="1">
                          <a:latin typeface="Arial"/>
                          <a:cs typeface="Arial"/>
                        </a:rPr>
                        <a:t>Qur‟an</a:t>
                      </a:r>
                      <a:endParaRPr sz="1200">
                        <a:latin typeface="Arial"/>
                        <a:cs typeface="Arial"/>
                      </a:endParaRPr>
                    </a:p>
                  </a:txBody>
                  <a:tcPr marL="0" marR="0" marB="0" marT="102235">
                    <a:lnB w="19050">
                      <a:solidFill>
                        <a:srgbClr val="000000"/>
                      </a:solidFill>
                      <a:prstDash val="solid"/>
                    </a:lnB>
                  </a:tcPr>
                </a:tc>
                <a:tc>
                  <a:txBody>
                    <a:bodyPr/>
                    <a:lstStyle/>
                    <a:p>
                      <a:pPr marR="3175">
                        <a:lnSpc>
                          <a:spcPct val="100000"/>
                        </a:lnSpc>
                      </a:pPr>
                      <a:endParaRPr sz="1200">
                        <a:latin typeface="Times New Roman"/>
                        <a:cs typeface="Times New Roman"/>
                      </a:endParaRPr>
                    </a:p>
                  </a:txBody>
                  <a:tcPr marL="0" marR="0" marB="0" marT="0">
                    <a:lnB w="19050">
                      <a:solidFill>
                        <a:srgbClr val="000000"/>
                      </a:solidFill>
                      <a:prstDash val="solid"/>
                    </a:lnB>
                  </a:tcPr>
                </a:tc>
                <a:tc>
                  <a:txBody>
                    <a:bodyPr/>
                    <a:lstStyle/>
                    <a:p>
                      <a:pPr algn="ctr" marL="6985">
                        <a:lnSpc>
                          <a:spcPts val="1290"/>
                        </a:lnSpc>
                        <a:spcBef>
                          <a:spcPts val="805"/>
                        </a:spcBef>
                      </a:pPr>
                      <a:r>
                        <a:rPr dirty="0" sz="1200" b="1" i="1">
                          <a:latin typeface="Arial"/>
                          <a:cs typeface="Arial"/>
                        </a:rPr>
                        <a:t>46</a:t>
                      </a:r>
                      <a:endParaRPr sz="1200">
                        <a:latin typeface="Arial"/>
                        <a:cs typeface="Arial"/>
                      </a:endParaRPr>
                    </a:p>
                  </a:txBody>
                  <a:tcPr marL="0" marR="0" marB="0" marT="102235">
                    <a:lnB w="19050">
                      <a:solidFill>
                        <a:srgbClr val="000000"/>
                      </a:solidFill>
                      <a:prstDash val="solid"/>
                    </a:lnB>
                  </a:tcPr>
                </a:tc>
              </a:tr>
              <a:tr h="1022818">
                <a:tc>
                  <a:txBody>
                    <a:bodyPr/>
                    <a:lstStyle/>
                    <a:p>
                      <a:pPr>
                        <a:lnSpc>
                          <a:spcPct val="100000"/>
                        </a:lnSpc>
                        <a:spcBef>
                          <a:spcPts val="50"/>
                        </a:spcBef>
                      </a:pPr>
                      <a:endParaRPr sz="1500">
                        <a:latin typeface="Times New Roman"/>
                        <a:cs typeface="Times New Roman"/>
                      </a:endParaRPr>
                    </a:p>
                    <a:p>
                      <a:pPr marL="95250" indent="-95885">
                        <a:lnSpc>
                          <a:spcPct val="100000"/>
                        </a:lnSpc>
                        <a:buChar char="•"/>
                        <a:tabLst>
                          <a:tab pos="95885" algn="l"/>
                        </a:tabLst>
                      </a:pPr>
                      <a:r>
                        <a:rPr dirty="0" sz="1200">
                          <a:latin typeface="Arial"/>
                          <a:cs typeface="Arial"/>
                        </a:rPr>
                        <a:t>Its </a:t>
                      </a:r>
                      <a:r>
                        <a:rPr dirty="0" sz="1200" spc="-5">
                          <a:latin typeface="Arial"/>
                          <a:cs typeface="Arial"/>
                        </a:rPr>
                        <a:t>mode of revelation, its compilation, its structure </a:t>
                      </a:r>
                      <a:r>
                        <a:rPr dirty="0" sz="1200">
                          <a:latin typeface="Arial"/>
                          <a:cs typeface="Arial"/>
                        </a:rPr>
                        <a:t>and major</a:t>
                      </a:r>
                      <a:r>
                        <a:rPr dirty="0" sz="1200" spc="15">
                          <a:latin typeface="Arial"/>
                          <a:cs typeface="Arial"/>
                        </a:rPr>
                        <a:t> </a:t>
                      </a:r>
                      <a:r>
                        <a:rPr dirty="0" sz="1200" spc="-5">
                          <a:latin typeface="Arial"/>
                          <a:cs typeface="Arial"/>
                        </a:rPr>
                        <a:t>themes</a:t>
                      </a:r>
                      <a:endParaRPr sz="1200">
                        <a:latin typeface="Arial"/>
                        <a:cs typeface="Arial"/>
                      </a:endParaRPr>
                    </a:p>
                    <a:p>
                      <a:pPr marL="95885" indent="-96520">
                        <a:lnSpc>
                          <a:spcPct val="100000"/>
                        </a:lnSpc>
                        <a:spcBef>
                          <a:spcPts val="145"/>
                        </a:spcBef>
                        <a:buChar char="•"/>
                        <a:tabLst>
                          <a:tab pos="96520" algn="l"/>
                        </a:tabLst>
                      </a:pPr>
                      <a:r>
                        <a:rPr dirty="0" sz="1200">
                          <a:latin typeface="Arial"/>
                          <a:cs typeface="Arial"/>
                        </a:rPr>
                        <a:t>Its </a:t>
                      </a:r>
                      <a:r>
                        <a:rPr dirty="0" sz="1200" spc="-5">
                          <a:latin typeface="Arial"/>
                          <a:cs typeface="Arial"/>
                        </a:rPr>
                        <a:t>authority </a:t>
                      </a:r>
                      <a:r>
                        <a:rPr dirty="0" sz="1200">
                          <a:latin typeface="Arial"/>
                          <a:cs typeface="Arial"/>
                        </a:rPr>
                        <a:t>and </a:t>
                      </a:r>
                      <a:r>
                        <a:rPr dirty="0" sz="1200" spc="-5">
                          <a:latin typeface="Arial"/>
                          <a:cs typeface="Arial"/>
                        </a:rPr>
                        <a:t>place in Islamic</a:t>
                      </a:r>
                      <a:r>
                        <a:rPr dirty="0" sz="1200" spc="10">
                          <a:latin typeface="Arial"/>
                          <a:cs typeface="Arial"/>
                        </a:rPr>
                        <a:t> </a:t>
                      </a:r>
                      <a:r>
                        <a:rPr dirty="0" sz="1200" spc="-5">
                          <a:latin typeface="Arial"/>
                          <a:cs typeface="Arial"/>
                        </a:rPr>
                        <a:t>beliefs</a:t>
                      </a:r>
                      <a:endParaRPr sz="1200">
                        <a:latin typeface="Arial"/>
                        <a:cs typeface="Arial"/>
                      </a:endParaRPr>
                    </a:p>
                    <a:p>
                      <a:pPr marL="95885" indent="-96520">
                        <a:lnSpc>
                          <a:spcPct val="100000"/>
                        </a:lnSpc>
                        <a:spcBef>
                          <a:spcPts val="130"/>
                        </a:spcBef>
                        <a:buChar char="•"/>
                        <a:tabLst>
                          <a:tab pos="96520" algn="l"/>
                        </a:tabLst>
                      </a:pPr>
                      <a:r>
                        <a:rPr dirty="0" sz="1200">
                          <a:latin typeface="Arial"/>
                          <a:cs typeface="Arial"/>
                        </a:rPr>
                        <a:t>A </a:t>
                      </a:r>
                      <a:r>
                        <a:rPr dirty="0" sz="1200" spc="-5">
                          <a:latin typeface="Arial"/>
                          <a:cs typeface="Arial"/>
                        </a:rPr>
                        <a:t>detailed study </a:t>
                      </a:r>
                      <a:r>
                        <a:rPr dirty="0" sz="1200">
                          <a:latin typeface="Arial"/>
                          <a:cs typeface="Arial"/>
                        </a:rPr>
                        <a:t>of </a:t>
                      </a:r>
                      <a:r>
                        <a:rPr dirty="0" sz="1200" spc="-5">
                          <a:latin typeface="Arial"/>
                          <a:cs typeface="Arial"/>
                        </a:rPr>
                        <a:t>the following</a:t>
                      </a:r>
                      <a:r>
                        <a:rPr dirty="0" sz="1200" spc="-10">
                          <a:latin typeface="Arial"/>
                          <a:cs typeface="Arial"/>
                        </a:rPr>
                        <a:t> </a:t>
                      </a:r>
                      <a:r>
                        <a:rPr dirty="0" sz="1200" i="1">
                          <a:latin typeface="Arial"/>
                          <a:cs typeface="Arial"/>
                        </a:rPr>
                        <a:t>surahs</a:t>
                      </a:r>
                      <a:r>
                        <a:rPr dirty="0" sz="1200">
                          <a:latin typeface="Arial"/>
                          <a:cs typeface="Arial"/>
                        </a:rPr>
                        <a:t>:</a:t>
                      </a:r>
                      <a:endParaRPr sz="1200">
                        <a:latin typeface="Arial"/>
                        <a:cs typeface="Arial"/>
                      </a:endParaRPr>
                    </a:p>
                    <a:p>
                      <a:pPr>
                        <a:lnSpc>
                          <a:spcPct val="100000"/>
                        </a:lnSpc>
                        <a:spcBef>
                          <a:spcPts val="170"/>
                        </a:spcBef>
                      </a:pPr>
                      <a:r>
                        <a:rPr dirty="0" sz="1200">
                          <a:latin typeface="Arial"/>
                          <a:cs typeface="Arial"/>
                        </a:rPr>
                        <a:t>- </a:t>
                      </a:r>
                      <a:r>
                        <a:rPr dirty="0" sz="1200" spc="-5">
                          <a:latin typeface="Arial"/>
                          <a:cs typeface="Arial"/>
                        </a:rPr>
                        <a:t>Al-Faatiha</a:t>
                      </a:r>
                      <a:r>
                        <a:rPr dirty="0" sz="1200" spc="-15">
                          <a:latin typeface="Arial"/>
                          <a:cs typeface="Arial"/>
                        </a:rPr>
                        <a:t> </a:t>
                      </a:r>
                      <a:r>
                        <a:rPr dirty="0" sz="1200" spc="-5">
                          <a:latin typeface="Arial"/>
                          <a:cs typeface="Arial"/>
                        </a:rPr>
                        <a:t>1</a:t>
                      </a:r>
                      <a:endParaRPr sz="1200">
                        <a:latin typeface="Arial"/>
                        <a:cs typeface="Arial"/>
                      </a:endParaRPr>
                    </a:p>
                  </a:txBody>
                  <a:tcPr marL="0" marR="0" marB="0" marT="6350">
                    <a:lnT w="19050">
                      <a:solidFill>
                        <a:srgbClr val="000000"/>
                      </a:solidFill>
                      <a:prstDash val="solid"/>
                    </a:lnT>
                  </a:tcPr>
                </a:tc>
                <a:tc>
                  <a:txBody>
                    <a:bodyPr/>
                    <a:lstStyle/>
                    <a:p>
                      <a:pPr marR="3175">
                        <a:lnSpc>
                          <a:spcPct val="100000"/>
                        </a:lnSpc>
                      </a:pPr>
                      <a:endParaRPr sz="1200">
                        <a:latin typeface="Times New Roman"/>
                        <a:cs typeface="Times New Roman"/>
                      </a:endParaRPr>
                    </a:p>
                  </a:txBody>
                  <a:tcPr marL="0" marR="0" marB="0" marT="0">
                    <a:lnT w="19050">
                      <a:solidFill>
                        <a:srgbClr val="000000"/>
                      </a:solidFill>
                      <a:prstDash val="solid"/>
                    </a:lnT>
                  </a:tcPr>
                </a:tc>
                <a:tc>
                  <a:txBody>
                    <a:bodyPr/>
                    <a:lstStyle/>
                    <a:p>
                      <a:pPr marR="3175">
                        <a:lnSpc>
                          <a:spcPct val="100000"/>
                        </a:lnSpc>
                        <a:spcBef>
                          <a:spcPts val="50"/>
                        </a:spcBef>
                      </a:pPr>
                      <a:endParaRPr sz="1500">
                        <a:latin typeface="Times New Roman"/>
                        <a:cs typeface="Times New Roman"/>
                      </a:endParaRPr>
                    </a:p>
                    <a:p>
                      <a:pPr marL="7620">
                        <a:lnSpc>
                          <a:spcPct val="100000"/>
                        </a:lnSpc>
                      </a:pPr>
                      <a:r>
                        <a:rPr dirty="0" sz="1200">
                          <a:latin typeface="Arial"/>
                          <a:cs typeface="Arial"/>
                        </a:rPr>
                        <a:t>46</a:t>
                      </a:r>
                      <a:endParaRPr sz="1200">
                        <a:latin typeface="Arial"/>
                        <a:cs typeface="Arial"/>
                      </a:endParaRPr>
                    </a:p>
                    <a:p>
                      <a:pPr marR="3175">
                        <a:lnSpc>
                          <a:spcPct val="100000"/>
                        </a:lnSpc>
                      </a:pPr>
                      <a:endParaRPr sz="1300">
                        <a:latin typeface="Times New Roman"/>
                        <a:cs typeface="Times New Roman"/>
                      </a:endParaRPr>
                    </a:p>
                    <a:p>
                      <a:pPr marR="3175">
                        <a:lnSpc>
                          <a:spcPct val="100000"/>
                        </a:lnSpc>
                        <a:spcBef>
                          <a:spcPts val="45"/>
                        </a:spcBef>
                      </a:pPr>
                      <a:endParaRPr sz="1550">
                        <a:latin typeface="Times New Roman"/>
                        <a:cs typeface="Times New Roman"/>
                      </a:endParaRPr>
                    </a:p>
                    <a:p>
                      <a:pPr marL="7620">
                        <a:lnSpc>
                          <a:spcPct val="100000"/>
                        </a:lnSpc>
                      </a:pPr>
                      <a:r>
                        <a:rPr dirty="0" sz="1200">
                          <a:latin typeface="Arial"/>
                          <a:cs typeface="Arial"/>
                        </a:rPr>
                        <a:t>51</a:t>
                      </a:r>
                      <a:endParaRPr sz="1200">
                        <a:latin typeface="Arial"/>
                        <a:cs typeface="Arial"/>
                      </a:endParaRPr>
                    </a:p>
                  </a:txBody>
                  <a:tcPr marL="0" marR="0" marB="0" marT="6350">
                    <a:lnT w="19050">
                      <a:solidFill>
                        <a:srgbClr val="000000"/>
                      </a:solidFill>
                      <a:prstDash val="solid"/>
                    </a:lnT>
                  </a:tcPr>
                </a:tc>
              </a:tr>
              <a:tr h="201167">
                <a:tc>
                  <a:txBody>
                    <a:bodyPr/>
                    <a:lstStyle/>
                    <a:p>
                      <a:pPr>
                        <a:lnSpc>
                          <a:spcPct val="100000"/>
                        </a:lnSpc>
                        <a:spcBef>
                          <a:spcPts val="5"/>
                        </a:spcBef>
                      </a:pPr>
                      <a:r>
                        <a:rPr dirty="0" sz="1200">
                          <a:latin typeface="Arial"/>
                          <a:cs typeface="Arial"/>
                        </a:rPr>
                        <a:t>- </a:t>
                      </a:r>
                      <a:r>
                        <a:rPr dirty="0" sz="1200" spc="-5">
                          <a:latin typeface="Arial"/>
                          <a:cs typeface="Arial"/>
                        </a:rPr>
                        <a:t>al-Baqarah 2:1–193</a:t>
                      </a:r>
                      <a:endParaRPr sz="1200">
                        <a:latin typeface="Arial"/>
                        <a:cs typeface="Arial"/>
                      </a:endParaRPr>
                    </a:p>
                  </a:txBody>
                  <a:tcPr marL="0" marR="0" marB="0" marT="63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5"/>
                        </a:spcBef>
                      </a:pPr>
                      <a:r>
                        <a:rPr dirty="0" sz="1200">
                          <a:latin typeface="Arial"/>
                          <a:cs typeface="Arial"/>
                        </a:rPr>
                        <a:t>53</a:t>
                      </a:r>
                      <a:endParaRPr sz="1200">
                        <a:latin typeface="Arial"/>
                        <a:cs typeface="Arial"/>
                      </a:endParaRPr>
                    </a:p>
                  </a:txBody>
                  <a:tcPr marL="0" marR="0" marB="0" marT="635"/>
                </a:tc>
              </a:tr>
              <a:tr h="201168">
                <a:tc>
                  <a:txBody>
                    <a:bodyPr/>
                    <a:lstStyle/>
                    <a:p>
                      <a:pPr>
                        <a:lnSpc>
                          <a:spcPct val="100000"/>
                        </a:lnSpc>
                        <a:spcBef>
                          <a:spcPts val="5"/>
                        </a:spcBef>
                      </a:pPr>
                      <a:r>
                        <a:rPr dirty="0" sz="1200">
                          <a:latin typeface="Arial"/>
                          <a:cs typeface="Arial"/>
                        </a:rPr>
                        <a:t>- Al </a:t>
                      </a:r>
                      <a:r>
                        <a:rPr dirty="0" sz="1200" spc="-70">
                          <a:latin typeface="Arial"/>
                          <a:cs typeface="Arial"/>
                        </a:rPr>
                        <a:t>‗Imran</a:t>
                      </a:r>
                      <a:r>
                        <a:rPr dirty="0" sz="1200" spc="-25">
                          <a:latin typeface="Arial"/>
                          <a:cs typeface="Arial"/>
                        </a:rPr>
                        <a:t> </a:t>
                      </a:r>
                      <a:r>
                        <a:rPr dirty="0" sz="1200" spc="-5">
                          <a:latin typeface="Arial"/>
                          <a:cs typeface="Arial"/>
                        </a:rPr>
                        <a:t>3:35–62</a:t>
                      </a:r>
                      <a:endParaRPr sz="1200">
                        <a:latin typeface="Arial"/>
                        <a:cs typeface="Arial"/>
                      </a:endParaRPr>
                    </a:p>
                  </a:txBody>
                  <a:tcPr marL="0" marR="0" marB="0" marT="63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5"/>
                        </a:spcBef>
                      </a:pPr>
                      <a:r>
                        <a:rPr dirty="0" sz="1200">
                          <a:latin typeface="Arial"/>
                          <a:cs typeface="Arial"/>
                        </a:rPr>
                        <a:t>61</a:t>
                      </a:r>
                      <a:endParaRPr sz="1200">
                        <a:latin typeface="Arial"/>
                        <a:cs typeface="Arial"/>
                      </a:endParaRPr>
                    </a:p>
                  </a:txBody>
                  <a:tcPr marL="0" marR="0" marB="0" marT="635"/>
                </a:tc>
              </a:tr>
              <a:tr h="201929">
                <a:tc>
                  <a:txBody>
                    <a:bodyPr/>
                    <a:lstStyle/>
                    <a:p>
                      <a:pPr>
                        <a:lnSpc>
                          <a:spcPct val="100000"/>
                        </a:lnSpc>
                        <a:spcBef>
                          <a:spcPts val="5"/>
                        </a:spcBef>
                      </a:pPr>
                      <a:r>
                        <a:rPr dirty="0" sz="1200">
                          <a:latin typeface="Arial"/>
                          <a:cs typeface="Arial"/>
                        </a:rPr>
                        <a:t>- </a:t>
                      </a:r>
                      <a:r>
                        <a:rPr dirty="0" sz="1200" spc="-5">
                          <a:latin typeface="Arial"/>
                          <a:cs typeface="Arial"/>
                        </a:rPr>
                        <a:t>al-Anbiya</a:t>
                      </a:r>
                      <a:r>
                        <a:rPr dirty="0" sz="1200" spc="-10">
                          <a:latin typeface="Arial"/>
                          <a:cs typeface="Arial"/>
                        </a:rPr>
                        <a:t> </a:t>
                      </a:r>
                      <a:r>
                        <a:rPr dirty="0" sz="1200" spc="-5">
                          <a:latin typeface="Arial"/>
                          <a:cs typeface="Arial"/>
                        </a:rPr>
                        <a:t>21:50–112</a:t>
                      </a:r>
                      <a:endParaRPr sz="1200">
                        <a:latin typeface="Arial"/>
                        <a:cs typeface="Arial"/>
                      </a:endParaRPr>
                    </a:p>
                  </a:txBody>
                  <a:tcPr marL="0" marR="0" marB="0" marT="63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5"/>
                        </a:spcBef>
                      </a:pPr>
                      <a:r>
                        <a:rPr dirty="0" sz="1200">
                          <a:latin typeface="Arial"/>
                          <a:cs typeface="Arial"/>
                        </a:rPr>
                        <a:t>64</a:t>
                      </a:r>
                      <a:endParaRPr sz="1200">
                        <a:latin typeface="Arial"/>
                        <a:cs typeface="Arial"/>
                      </a:endParaRPr>
                    </a:p>
                  </a:txBody>
                  <a:tcPr marL="0" marR="0" marB="0" marT="635"/>
                </a:tc>
              </a:tr>
              <a:tr h="202057">
                <a:tc>
                  <a:txBody>
                    <a:bodyPr/>
                    <a:lstStyle/>
                    <a:p>
                      <a:pPr>
                        <a:lnSpc>
                          <a:spcPct val="100000"/>
                        </a:lnSpc>
                        <a:spcBef>
                          <a:spcPts val="15"/>
                        </a:spcBef>
                      </a:pPr>
                      <a:r>
                        <a:rPr dirty="0" sz="1200">
                          <a:latin typeface="Arial"/>
                          <a:cs typeface="Arial"/>
                        </a:rPr>
                        <a:t>- </a:t>
                      </a:r>
                      <a:r>
                        <a:rPr dirty="0" sz="1200" spc="-5">
                          <a:latin typeface="Arial"/>
                          <a:cs typeface="Arial"/>
                        </a:rPr>
                        <a:t>al-Qasas</a:t>
                      </a:r>
                      <a:r>
                        <a:rPr dirty="0" sz="1200" spc="-10">
                          <a:latin typeface="Arial"/>
                          <a:cs typeface="Arial"/>
                        </a:rPr>
                        <a:t> </a:t>
                      </a:r>
                      <a:r>
                        <a:rPr dirty="0" sz="1200" spc="-5">
                          <a:latin typeface="Arial"/>
                          <a:cs typeface="Arial"/>
                        </a:rPr>
                        <a:t>28:1–44</a:t>
                      </a:r>
                      <a:endParaRPr sz="1200">
                        <a:latin typeface="Arial"/>
                        <a:cs typeface="Arial"/>
                      </a:endParaRPr>
                    </a:p>
                  </a:txBody>
                  <a:tcPr marL="0" marR="0" marB="0" marT="190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15"/>
                        </a:spcBef>
                      </a:pPr>
                      <a:r>
                        <a:rPr dirty="0" sz="1200">
                          <a:latin typeface="Arial"/>
                          <a:cs typeface="Arial"/>
                        </a:rPr>
                        <a:t>68</a:t>
                      </a:r>
                      <a:endParaRPr sz="1200">
                        <a:latin typeface="Arial"/>
                        <a:cs typeface="Arial"/>
                      </a:endParaRPr>
                    </a:p>
                  </a:txBody>
                  <a:tcPr marL="0" marR="0" marB="0" marT="1905"/>
                </a:tc>
              </a:tr>
              <a:tr h="201294">
                <a:tc>
                  <a:txBody>
                    <a:bodyPr/>
                    <a:lstStyle/>
                    <a:p>
                      <a:pPr>
                        <a:lnSpc>
                          <a:spcPct val="100000"/>
                        </a:lnSpc>
                        <a:spcBef>
                          <a:spcPts val="10"/>
                        </a:spcBef>
                      </a:pPr>
                      <a:r>
                        <a:rPr dirty="0" sz="1200">
                          <a:latin typeface="Arial"/>
                          <a:cs typeface="Arial"/>
                        </a:rPr>
                        <a:t>- </a:t>
                      </a:r>
                      <a:r>
                        <a:rPr dirty="0" sz="1200" spc="-5">
                          <a:latin typeface="Arial"/>
                          <a:cs typeface="Arial"/>
                        </a:rPr>
                        <a:t>al-Duha</a:t>
                      </a:r>
                      <a:r>
                        <a:rPr dirty="0" sz="1200" spc="-10">
                          <a:latin typeface="Arial"/>
                          <a:cs typeface="Arial"/>
                        </a:rPr>
                        <a:t> </a:t>
                      </a:r>
                      <a:r>
                        <a:rPr dirty="0" sz="1200" spc="-5">
                          <a:latin typeface="Arial"/>
                          <a:cs typeface="Arial"/>
                        </a:rPr>
                        <a:t>93</a:t>
                      </a:r>
                      <a:endParaRPr sz="1200">
                        <a:latin typeface="Arial"/>
                        <a:cs typeface="Arial"/>
                      </a:endParaRPr>
                    </a:p>
                  </a:txBody>
                  <a:tcPr marL="0" marR="0" marB="0" marT="1270"/>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10"/>
                        </a:spcBef>
                      </a:pPr>
                      <a:r>
                        <a:rPr dirty="0" sz="1200">
                          <a:latin typeface="Arial"/>
                          <a:cs typeface="Arial"/>
                        </a:rPr>
                        <a:t>72</a:t>
                      </a:r>
                      <a:endParaRPr sz="1200">
                        <a:latin typeface="Arial"/>
                        <a:cs typeface="Arial"/>
                      </a:endParaRPr>
                    </a:p>
                  </a:txBody>
                  <a:tcPr marL="0" marR="0" marB="0" marT="1270"/>
                </a:tc>
              </a:tr>
              <a:tr h="201168">
                <a:tc>
                  <a:txBody>
                    <a:bodyPr/>
                    <a:lstStyle/>
                    <a:p>
                      <a:pPr>
                        <a:lnSpc>
                          <a:spcPct val="100000"/>
                        </a:lnSpc>
                        <a:spcBef>
                          <a:spcPts val="5"/>
                        </a:spcBef>
                      </a:pPr>
                      <a:r>
                        <a:rPr dirty="0" sz="1200">
                          <a:latin typeface="Arial"/>
                          <a:cs typeface="Arial"/>
                        </a:rPr>
                        <a:t>- </a:t>
                      </a:r>
                      <a:r>
                        <a:rPr dirty="0" sz="1200" spc="-5">
                          <a:latin typeface="Arial"/>
                          <a:cs typeface="Arial"/>
                        </a:rPr>
                        <a:t>al-Qadr</a:t>
                      </a:r>
                      <a:r>
                        <a:rPr dirty="0" sz="1200" spc="-10">
                          <a:latin typeface="Arial"/>
                          <a:cs typeface="Arial"/>
                        </a:rPr>
                        <a:t> </a:t>
                      </a:r>
                      <a:r>
                        <a:rPr dirty="0" sz="1200" spc="-5">
                          <a:latin typeface="Arial"/>
                          <a:cs typeface="Arial"/>
                        </a:rPr>
                        <a:t>97</a:t>
                      </a:r>
                      <a:endParaRPr sz="1200">
                        <a:latin typeface="Arial"/>
                        <a:cs typeface="Arial"/>
                      </a:endParaRPr>
                    </a:p>
                  </a:txBody>
                  <a:tcPr marL="0" marR="0" marB="0" marT="63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5"/>
                        </a:spcBef>
                      </a:pPr>
                      <a:r>
                        <a:rPr dirty="0" sz="1200">
                          <a:latin typeface="Arial"/>
                          <a:cs typeface="Arial"/>
                        </a:rPr>
                        <a:t>73</a:t>
                      </a:r>
                      <a:endParaRPr sz="1200">
                        <a:latin typeface="Arial"/>
                        <a:cs typeface="Arial"/>
                      </a:endParaRPr>
                    </a:p>
                  </a:txBody>
                  <a:tcPr marL="0" marR="0" marB="0" marT="635"/>
                </a:tc>
              </a:tr>
              <a:tr h="201929">
                <a:tc>
                  <a:txBody>
                    <a:bodyPr/>
                    <a:lstStyle/>
                    <a:p>
                      <a:pPr>
                        <a:lnSpc>
                          <a:spcPct val="100000"/>
                        </a:lnSpc>
                        <a:spcBef>
                          <a:spcPts val="5"/>
                        </a:spcBef>
                      </a:pPr>
                      <a:r>
                        <a:rPr dirty="0" sz="1200">
                          <a:latin typeface="Arial"/>
                          <a:cs typeface="Arial"/>
                        </a:rPr>
                        <a:t>- </a:t>
                      </a:r>
                      <a:r>
                        <a:rPr dirty="0" sz="1200" spc="-5">
                          <a:latin typeface="Arial"/>
                          <a:cs typeface="Arial"/>
                        </a:rPr>
                        <a:t>al-Takathur</a:t>
                      </a:r>
                      <a:r>
                        <a:rPr dirty="0" sz="1200" spc="-25">
                          <a:latin typeface="Arial"/>
                          <a:cs typeface="Arial"/>
                        </a:rPr>
                        <a:t> </a:t>
                      </a:r>
                      <a:r>
                        <a:rPr dirty="0" sz="1200" spc="-5">
                          <a:latin typeface="Arial"/>
                          <a:cs typeface="Arial"/>
                        </a:rPr>
                        <a:t>102</a:t>
                      </a:r>
                      <a:endParaRPr sz="1200">
                        <a:latin typeface="Arial"/>
                        <a:cs typeface="Arial"/>
                      </a:endParaRPr>
                    </a:p>
                  </a:txBody>
                  <a:tcPr marL="0" marR="0" marB="0" marT="63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5"/>
                        </a:spcBef>
                      </a:pPr>
                      <a:r>
                        <a:rPr dirty="0" sz="1200">
                          <a:latin typeface="Arial"/>
                          <a:cs typeface="Arial"/>
                        </a:rPr>
                        <a:t>74</a:t>
                      </a:r>
                      <a:endParaRPr sz="1200">
                        <a:latin typeface="Arial"/>
                        <a:cs typeface="Arial"/>
                      </a:endParaRPr>
                    </a:p>
                  </a:txBody>
                  <a:tcPr marL="0" marR="0" marB="0" marT="635"/>
                </a:tc>
              </a:tr>
              <a:tr h="201929">
                <a:tc>
                  <a:txBody>
                    <a:bodyPr/>
                    <a:lstStyle/>
                    <a:p>
                      <a:pPr>
                        <a:lnSpc>
                          <a:spcPct val="100000"/>
                        </a:lnSpc>
                        <a:spcBef>
                          <a:spcPts val="15"/>
                        </a:spcBef>
                      </a:pPr>
                      <a:r>
                        <a:rPr dirty="0" sz="1200">
                          <a:latin typeface="Arial"/>
                          <a:cs typeface="Arial"/>
                        </a:rPr>
                        <a:t>- </a:t>
                      </a:r>
                      <a:r>
                        <a:rPr dirty="0" sz="1200" spc="-5">
                          <a:latin typeface="Arial"/>
                          <a:cs typeface="Arial"/>
                        </a:rPr>
                        <a:t>al-Kafirun</a:t>
                      </a:r>
                      <a:r>
                        <a:rPr dirty="0" sz="1200" spc="-10">
                          <a:latin typeface="Arial"/>
                          <a:cs typeface="Arial"/>
                        </a:rPr>
                        <a:t> </a:t>
                      </a:r>
                      <a:r>
                        <a:rPr dirty="0" sz="1200" spc="-5">
                          <a:latin typeface="Arial"/>
                          <a:cs typeface="Arial"/>
                        </a:rPr>
                        <a:t>109</a:t>
                      </a:r>
                      <a:endParaRPr sz="1200">
                        <a:latin typeface="Arial"/>
                        <a:cs typeface="Arial"/>
                      </a:endParaRPr>
                    </a:p>
                  </a:txBody>
                  <a:tcPr marL="0" marR="0" marB="0" marT="190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15"/>
                        </a:spcBef>
                      </a:pPr>
                      <a:r>
                        <a:rPr dirty="0" sz="1200">
                          <a:latin typeface="Arial"/>
                          <a:cs typeface="Arial"/>
                        </a:rPr>
                        <a:t>75</a:t>
                      </a:r>
                      <a:endParaRPr sz="1200">
                        <a:latin typeface="Arial"/>
                        <a:cs typeface="Arial"/>
                      </a:endParaRPr>
                    </a:p>
                  </a:txBody>
                  <a:tcPr marL="0" marR="0" marB="0" marT="1905"/>
                </a:tc>
              </a:tr>
              <a:tr h="301751">
                <a:tc>
                  <a:txBody>
                    <a:bodyPr/>
                    <a:lstStyle/>
                    <a:p>
                      <a:pPr>
                        <a:lnSpc>
                          <a:spcPct val="100000"/>
                        </a:lnSpc>
                        <a:spcBef>
                          <a:spcPts val="5"/>
                        </a:spcBef>
                      </a:pPr>
                      <a:r>
                        <a:rPr dirty="0" sz="1200">
                          <a:latin typeface="Arial"/>
                          <a:cs typeface="Arial"/>
                        </a:rPr>
                        <a:t>- </a:t>
                      </a:r>
                      <a:r>
                        <a:rPr dirty="0" sz="1200" spc="-5">
                          <a:latin typeface="Arial"/>
                          <a:cs typeface="Arial"/>
                        </a:rPr>
                        <a:t>al-Ikhlas</a:t>
                      </a:r>
                      <a:r>
                        <a:rPr dirty="0" sz="1200" spc="-10">
                          <a:latin typeface="Arial"/>
                          <a:cs typeface="Arial"/>
                        </a:rPr>
                        <a:t> </a:t>
                      </a:r>
                      <a:r>
                        <a:rPr dirty="0" sz="1200" spc="-5">
                          <a:latin typeface="Arial"/>
                          <a:cs typeface="Arial"/>
                        </a:rPr>
                        <a:t>112</a:t>
                      </a:r>
                      <a:endParaRPr sz="1200">
                        <a:latin typeface="Arial"/>
                        <a:cs typeface="Arial"/>
                      </a:endParaRPr>
                    </a:p>
                  </a:txBody>
                  <a:tcPr marL="0" marR="0" marB="0" marT="63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5"/>
                        </a:spcBef>
                      </a:pPr>
                      <a:r>
                        <a:rPr dirty="0" sz="1200">
                          <a:latin typeface="Arial"/>
                          <a:cs typeface="Arial"/>
                        </a:rPr>
                        <a:t>76</a:t>
                      </a:r>
                      <a:endParaRPr sz="1200">
                        <a:latin typeface="Arial"/>
                        <a:cs typeface="Arial"/>
                      </a:endParaRPr>
                    </a:p>
                  </a:txBody>
                  <a:tcPr marL="0" marR="0" marB="0" marT="635"/>
                </a:tc>
              </a:tr>
              <a:tr h="286297">
                <a:tc>
                  <a:txBody>
                    <a:bodyPr/>
                    <a:lstStyle/>
                    <a:p>
                      <a:pPr>
                        <a:lnSpc>
                          <a:spcPts val="1290"/>
                        </a:lnSpc>
                        <a:spcBef>
                          <a:spcPts val="800"/>
                        </a:spcBef>
                      </a:pPr>
                      <a:r>
                        <a:rPr dirty="0" sz="1200" spc="-5" b="1" i="1">
                          <a:latin typeface="Arial"/>
                          <a:cs typeface="Arial"/>
                        </a:rPr>
                        <a:t>Section C: Beliefs and Practices </a:t>
                      </a:r>
                      <a:r>
                        <a:rPr dirty="0" sz="1200" b="1" i="1">
                          <a:latin typeface="Arial"/>
                          <a:cs typeface="Arial"/>
                        </a:rPr>
                        <a:t>of</a:t>
                      </a:r>
                      <a:r>
                        <a:rPr dirty="0" sz="1200" spc="15" b="1" i="1">
                          <a:latin typeface="Arial"/>
                          <a:cs typeface="Arial"/>
                        </a:rPr>
                        <a:t> </a:t>
                      </a:r>
                      <a:r>
                        <a:rPr dirty="0" sz="1200" spc="-5" b="1" i="1">
                          <a:latin typeface="Arial"/>
                          <a:cs typeface="Arial"/>
                        </a:rPr>
                        <a:t>Islam</a:t>
                      </a:r>
                      <a:endParaRPr sz="1200">
                        <a:latin typeface="Arial"/>
                        <a:cs typeface="Arial"/>
                      </a:endParaRPr>
                    </a:p>
                  </a:txBody>
                  <a:tcPr marL="0" marR="0" marB="0" marT="101600">
                    <a:lnB w="19050">
                      <a:solidFill>
                        <a:srgbClr val="000000"/>
                      </a:solidFill>
                      <a:prstDash val="solid"/>
                    </a:lnB>
                  </a:tcPr>
                </a:tc>
                <a:tc>
                  <a:txBody>
                    <a:bodyPr/>
                    <a:lstStyle/>
                    <a:p>
                      <a:pPr marR="3175">
                        <a:lnSpc>
                          <a:spcPct val="100000"/>
                        </a:lnSpc>
                      </a:pPr>
                      <a:endParaRPr sz="1200">
                        <a:latin typeface="Times New Roman"/>
                        <a:cs typeface="Times New Roman"/>
                      </a:endParaRPr>
                    </a:p>
                  </a:txBody>
                  <a:tcPr marL="0" marR="0" marB="0" marT="0">
                    <a:lnB w="19050">
                      <a:solidFill>
                        <a:srgbClr val="000000"/>
                      </a:solidFill>
                      <a:prstDash val="solid"/>
                    </a:lnB>
                  </a:tcPr>
                </a:tc>
                <a:tc>
                  <a:txBody>
                    <a:bodyPr/>
                    <a:lstStyle/>
                    <a:p>
                      <a:pPr algn="ctr" marL="6985">
                        <a:lnSpc>
                          <a:spcPts val="1290"/>
                        </a:lnSpc>
                        <a:spcBef>
                          <a:spcPts val="800"/>
                        </a:spcBef>
                      </a:pPr>
                      <a:r>
                        <a:rPr dirty="0" sz="1200" b="1" i="1">
                          <a:latin typeface="Arial"/>
                          <a:cs typeface="Arial"/>
                        </a:rPr>
                        <a:t>80</a:t>
                      </a:r>
                      <a:endParaRPr sz="1200">
                        <a:latin typeface="Arial"/>
                        <a:cs typeface="Arial"/>
                      </a:endParaRPr>
                    </a:p>
                  </a:txBody>
                  <a:tcPr marL="0" marR="0" marB="0" marT="101600">
                    <a:lnB w="19050">
                      <a:solidFill>
                        <a:srgbClr val="000000"/>
                      </a:solidFill>
                      <a:prstDash val="solid"/>
                    </a:lnB>
                  </a:tcPr>
                </a:tc>
              </a:tr>
              <a:tr h="419314">
                <a:tc>
                  <a:txBody>
                    <a:bodyPr/>
                    <a:lstStyle/>
                    <a:p>
                      <a:pPr>
                        <a:lnSpc>
                          <a:spcPct val="100000"/>
                        </a:lnSpc>
                        <a:spcBef>
                          <a:spcPts val="5"/>
                        </a:spcBef>
                      </a:pPr>
                      <a:endParaRPr sz="1550">
                        <a:latin typeface="Times New Roman"/>
                        <a:cs typeface="Times New Roman"/>
                      </a:endParaRPr>
                    </a:p>
                    <a:p>
                      <a:pPr marL="95885" indent="-96520">
                        <a:lnSpc>
                          <a:spcPct val="100000"/>
                        </a:lnSpc>
                        <a:buChar char="•"/>
                        <a:tabLst>
                          <a:tab pos="96520" algn="l"/>
                        </a:tabLst>
                      </a:pPr>
                      <a:r>
                        <a:rPr dirty="0" sz="1200" spc="-5">
                          <a:latin typeface="Arial"/>
                          <a:cs typeface="Arial"/>
                        </a:rPr>
                        <a:t>The Five Pillars of</a:t>
                      </a:r>
                      <a:r>
                        <a:rPr dirty="0" sz="1200" spc="20">
                          <a:latin typeface="Arial"/>
                          <a:cs typeface="Arial"/>
                        </a:rPr>
                        <a:t> </a:t>
                      </a:r>
                      <a:r>
                        <a:rPr dirty="0" sz="1200" spc="-5">
                          <a:latin typeface="Arial"/>
                          <a:cs typeface="Arial"/>
                        </a:rPr>
                        <a:t>Islam</a:t>
                      </a:r>
                      <a:endParaRPr sz="1200">
                        <a:latin typeface="Arial"/>
                        <a:cs typeface="Arial"/>
                      </a:endParaRPr>
                    </a:p>
                  </a:txBody>
                  <a:tcPr marL="0" marR="0" marB="0" marT="635">
                    <a:lnT w="19050">
                      <a:solidFill>
                        <a:srgbClr val="000000"/>
                      </a:solidFill>
                      <a:prstDash val="solid"/>
                    </a:lnT>
                  </a:tcPr>
                </a:tc>
                <a:tc>
                  <a:txBody>
                    <a:bodyPr/>
                    <a:lstStyle/>
                    <a:p>
                      <a:pPr marR="3175">
                        <a:lnSpc>
                          <a:spcPct val="100000"/>
                        </a:lnSpc>
                      </a:pPr>
                      <a:endParaRPr sz="1200">
                        <a:latin typeface="Times New Roman"/>
                        <a:cs typeface="Times New Roman"/>
                      </a:endParaRPr>
                    </a:p>
                  </a:txBody>
                  <a:tcPr marL="0" marR="0" marB="0" marT="0">
                    <a:lnT w="19050">
                      <a:solidFill>
                        <a:srgbClr val="000000"/>
                      </a:solidFill>
                      <a:prstDash val="solid"/>
                    </a:lnT>
                  </a:tcPr>
                </a:tc>
                <a:tc>
                  <a:txBody>
                    <a:bodyPr/>
                    <a:lstStyle/>
                    <a:p>
                      <a:pPr marR="3175">
                        <a:lnSpc>
                          <a:spcPct val="100000"/>
                        </a:lnSpc>
                        <a:spcBef>
                          <a:spcPts val="5"/>
                        </a:spcBef>
                      </a:pPr>
                      <a:endParaRPr sz="1550">
                        <a:latin typeface="Times New Roman"/>
                        <a:cs typeface="Times New Roman"/>
                      </a:endParaRPr>
                    </a:p>
                    <a:p>
                      <a:pPr algn="ctr" marL="6985">
                        <a:lnSpc>
                          <a:spcPct val="100000"/>
                        </a:lnSpc>
                      </a:pPr>
                      <a:r>
                        <a:rPr dirty="0" sz="1200">
                          <a:latin typeface="Arial"/>
                          <a:cs typeface="Arial"/>
                        </a:rPr>
                        <a:t>80</a:t>
                      </a:r>
                      <a:endParaRPr sz="1200">
                        <a:latin typeface="Arial"/>
                        <a:cs typeface="Arial"/>
                      </a:endParaRPr>
                    </a:p>
                  </a:txBody>
                  <a:tcPr marL="0" marR="0" marB="0" marT="635">
                    <a:lnT w="19050">
                      <a:solidFill>
                        <a:srgbClr val="000000"/>
                      </a:solidFill>
                      <a:prstDash val="solid"/>
                    </a:lnT>
                  </a:tcPr>
                </a:tc>
              </a:tr>
              <a:tr h="201167">
                <a:tc>
                  <a:txBody>
                    <a:bodyPr/>
                    <a:lstStyle/>
                    <a:p>
                      <a:pPr marL="95885" indent="-96520">
                        <a:lnSpc>
                          <a:spcPct val="100000"/>
                        </a:lnSpc>
                        <a:spcBef>
                          <a:spcPts val="5"/>
                        </a:spcBef>
                        <a:buChar char="•"/>
                        <a:tabLst>
                          <a:tab pos="96520" algn="l"/>
                        </a:tabLst>
                      </a:pPr>
                      <a:r>
                        <a:rPr dirty="0" sz="1200" spc="-140">
                          <a:latin typeface="Arial"/>
                          <a:cs typeface="Arial"/>
                        </a:rPr>
                        <a:t>‗Id </a:t>
                      </a:r>
                      <a:r>
                        <a:rPr dirty="0" sz="1200">
                          <a:latin typeface="Arial"/>
                          <a:cs typeface="Arial"/>
                        </a:rPr>
                        <a:t>al-Fitr </a:t>
                      </a:r>
                      <a:r>
                        <a:rPr dirty="0" sz="1200" spc="-5">
                          <a:latin typeface="Arial"/>
                          <a:cs typeface="Arial"/>
                        </a:rPr>
                        <a:t>and </a:t>
                      </a:r>
                      <a:r>
                        <a:rPr dirty="0" sz="1200" spc="-140">
                          <a:latin typeface="Arial"/>
                          <a:cs typeface="Arial"/>
                        </a:rPr>
                        <a:t>‗Id</a:t>
                      </a:r>
                      <a:r>
                        <a:rPr dirty="0" sz="1200" spc="-65">
                          <a:latin typeface="Arial"/>
                          <a:cs typeface="Arial"/>
                        </a:rPr>
                        <a:t> </a:t>
                      </a:r>
                      <a:r>
                        <a:rPr dirty="0" sz="1200" spc="-5">
                          <a:latin typeface="Arial"/>
                          <a:cs typeface="Arial"/>
                        </a:rPr>
                        <a:t>al-Adha</a:t>
                      </a:r>
                      <a:endParaRPr sz="1200">
                        <a:latin typeface="Arial"/>
                        <a:cs typeface="Arial"/>
                      </a:endParaRPr>
                    </a:p>
                  </a:txBody>
                  <a:tcPr marL="0" marR="0" marB="0" marT="63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5"/>
                        </a:spcBef>
                      </a:pPr>
                      <a:r>
                        <a:rPr dirty="0" sz="1200">
                          <a:latin typeface="Arial"/>
                          <a:cs typeface="Arial"/>
                        </a:rPr>
                        <a:t>86</a:t>
                      </a:r>
                      <a:endParaRPr sz="1200">
                        <a:latin typeface="Arial"/>
                        <a:cs typeface="Arial"/>
                      </a:endParaRPr>
                    </a:p>
                  </a:txBody>
                  <a:tcPr marL="0" marR="0" marB="0" marT="635"/>
                </a:tc>
              </a:tr>
              <a:tr h="202120">
                <a:tc>
                  <a:txBody>
                    <a:bodyPr/>
                    <a:lstStyle/>
                    <a:p>
                      <a:pPr marL="95885" indent="-96520">
                        <a:lnSpc>
                          <a:spcPct val="100000"/>
                        </a:lnSpc>
                        <a:spcBef>
                          <a:spcPts val="5"/>
                        </a:spcBef>
                        <a:buChar char="•"/>
                        <a:tabLst>
                          <a:tab pos="96520" algn="l"/>
                        </a:tabLst>
                      </a:pPr>
                      <a:r>
                        <a:rPr dirty="0" sz="1200" spc="-5">
                          <a:latin typeface="Arial"/>
                          <a:cs typeface="Arial"/>
                        </a:rPr>
                        <a:t>Marriages </a:t>
                      </a:r>
                      <a:r>
                        <a:rPr dirty="0" sz="1200">
                          <a:latin typeface="Arial"/>
                          <a:cs typeface="Arial"/>
                        </a:rPr>
                        <a:t>and</a:t>
                      </a:r>
                      <a:r>
                        <a:rPr dirty="0" sz="1200" spc="-5">
                          <a:latin typeface="Arial"/>
                          <a:cs typeface="Arial"/>
                        </a:rPr>
                        <a:t> funerals</a:t>
                      </a:r>
                      <a:endParaRPr sz="1200">
                        <a:latin typeface="Arial"/>
                        <a:cs typeface="Arial"/>
                      </a:endParaRPr>
                    </a:p>
                  </a:txBody>
                  <a:tcPr marL="0" marR="0" marB="0" marT="63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5"/>
                        </a:spcBef>
                      </a:pPr>
                      <a:r>
                        <a:rPr dirty="0" sz="1200">
                          <a:latin typeface="Arial"/>
                          <a:cs typeface="Arial"/>
                        </a:rPr>
                        <a:t>88</a:t>
                      </a:r>
                      <a:endParaRPr sz="1200">
                        <a:latin typeface="Arial"/>
                        <a:cs typeface="Arial"/>
                      </a:endParaRPr>
                    </a:p>
                  </a:txBody>
                  <a:tcPr marL="0" marR="0" marB="0" marT="635"/>
                </a:tc>
              </a:tr>
              <a:tr h="302704">
                <a:tc>
                  <a:txBody>
                    <a:bodyPr/>
                    <a:lstStyle/>
                    <a:p>
                      <a:pPr marL="95885" indent="-96520">
                        <a:lnSpc>
                          <a:spcPct val="100000"/>
                        </a:lnSpc>
                        <a:spcBef>
                          <a:spcPts val="15"/>
                        </a:spcBef>
                        <a:buChar char="•"/>
                        <a:tabLst>
                          <a:tab pos="96520" algn="l"/>
                        </a:tabLst>
                      </a:pPr>
                      <a:r>
                        <a:rPr dirty="0" sz="1200" spc="-5">
                          <a:latin typeface="Arial"/>
                          <a:cs typeface="Arial"/>
                        </a:rPr>
                        <a:t>The Articles of Faith and</a:t>
                      </a:r>
                      <a:r>
                        <a:rPr dirty="0" sz="1200" spc="5">
                          <a:latin typeface="Arial"/>
                          <a:cs typeface="Arial"/>
                        </a:rPr>
                        <a:t> </a:t>
                      </a:r>
                      <a:r>
                        <a:rPr dirty="0" sz="1200" spc="-5">
                          <a:latin typeface="Arial"/>
                          <a:cs typeface="Arial"/>
                        </a:rPr>
                        <a:t>Jihad</a:t>
                      </a:r>
                      <a:endParaRPr sz="1200">
                        <a:latin typeface="Arial"/>
                        <a:cs typeface="Arial"/>
                      </a:endParaRPr>
                    </a:p>
                  </a:txBody>
                  <a:tcPr marL="0" marR="0" marB="0" marT="190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15"/>
                        </a:spcBef>
                      </a:pPr>
                      <a:r>
                        <a:rPr dirty="0" sz="1200">
                          <a:latin typeface="Arial"/>
                          <a:cs typeface="Arial"/>
                        </a:rPr>
                        <a:t>91</a:t>
                      </a:r>
                      <a:endParaRPr sz="1200">
                        <a:latin typeface="Arial"/>
                        <a:cs typeface="Arial"/>
                      </a:endParaRPr>
                    </a:p>
                  </a:txBody>
                  <a:tcPr marL="0" marR="0" marB="0" marT="1905"/>
                </a:tc>
              </a:tr>
              <a:tr h="286297">
                <a:tc>
                  <a:txBody>
                    <a:bodyPr/>
                    <a:lstStyle/>
                    <a:p>
                      <a:pPr>
                        <a:lnSpc>
                          <a:spcPts val="1290"/>
                        </a:lnSpc>
                        <a:spcBef>
                          <a:spcPts val="800"/>
                        </a:spcBef>
                      </a:pPr>
                      <a:r>
                        <a:rPr dirty="0" sz="1200" spc="-5" b="1" i="1">
                          <a:latin typeface="Arial"/>
                          <a:cs typeface="Arial"/>
                        </a:rPr>
                        <a:t>Section D: </a:t>
                      </a:r>
                      <a:r>
                        <a:rPr dirty="0" sz="1200" b="1" i="1">
                          <a:latin typeface="Arial"/>
                          <a:cs typeface="Arial"/>
                        </a:rPr>
                        <a:t>The </a:t>
                      </a:r>
                      <a:r>
                        <a:rPr dirty="0" sz="1200" spc="-5" b="1" i="1">
                          <a:latin typeface="Arial"/>
                          <a:cs typeface="Arial"/>
                        </a:rPr>
                        <a:t>Bases </a:t>
                      </a:r>
                      <a:r>
                        <a:rPr dirty="0" sz="1200" b="1" i="1">
                          <a:latin typeface="Arial"/>
                          <a:cs typeface="Arial"/>
                        </a:rPr>
                        <a:t>of </a:t>
                      </a:r>
                      <a:r>
                        <a:rPr dirty="0" sz="1200" spc="-5" b="1" i="1">
                          <a:latin typeface="Arial"/>
                          <a:cs typeface="Arial"/>
                        </a:rPr>
                        <a:t>Islamic</a:t>
                      </a:r>
                      <a:r>
                        <a:rPr dirty="0" sz="1200" spc="5" b="1" i="1">
                          <a:latin typeface="Arial"/>
                          <a:cs typeface="Arial"/>
                        </a:rPr>
                        <a:t> </a:t>
                      </a:r>
                      <a:r>
                        <a:rPr dirty="0" sz="1200" spc="-5" b="1" i="1">
                          <a:latin typeface="Arial"/>
                          <a:cs typeface="Arial"/>
                        </a:rPr>
                        <a:t>Law</a:t>
                      </a:r>
                      <a:endParaRPr sz="1200">
                        <a:latin typeface="Arial"/>
                        <a:cs typeface="Arial"/>
                      </a:endParaRPr>
                    </a:p>
                  </a:txBody>
                  <a:tcPr marL="0" marR="0" marB="0" marT="101600">
                    <a:lnB w="19050">
                      <a:solidFill>
                        <a:srgbClr val="000000"/>
                      </a:solidFill>
                      <a:prstDash val="solid"/>
                    </a:lnB>
                  </a:tcPr>
                </a:tc>
                <a:tc>
                  <a:txBody>
                    <a:bodyPr/>
                    <a:lstStyle/>
                    <a:p>
                      <a:pPr marR="3175">
                        <a:lnSpc>
                          <a:spcPct val="100000"/>
                        </a:lnSpc>
                      </a:pPr>
                      <a:endParaRPr sz="1200">
                        <a:latin typeface="Times New Roman"/>
                        <a:cs typeface="Times New Roman"/>
                      </a:endParaRPr>
                    </a:p>
                  </a:txBody>
                  <a:tcPr marL="0" marR="0" marB="0" marT="0">
                    <a:lnB w="19050">
                      <a:solidFill>
                        <a:srgbClr val="000000"/>
                      </a:solidFill>
                      <a:prstDash val="solid"/>
                    </a:lnB>
                  </a:tcPr>
                </a:tc>
                <a:tc>
                  <a:txBody>
                    <a:bodyPr/>
                    <a:lstStyle/>
                    <a:p>
                      <a:pPr algn="ctr" marL="6985">
                        <a:lnSpc>
                          <a:spcPts val="1290"/>
                        </a:lnSpc>
                        <a:spcBef>
                          <a:spcPts val="800"/>
                        </a:spcBef>
                      </a:pPr>
                      <a:r>
                        <a:rPr dirty="0" sz="1200" b="1" i="1">
                          <a:latin typeface="Arial"/>
                          <a:cs typeface="Arial"/>
                        </a:rPr>
                        <a:t>96</a:t>
                      </a:r>
                      <a:endParaRPr sz="1200">
                        <a:latin typeface="Arial"/>
                        <a:cs typeface="Arial"/>
                      </a:endParaRPr>
                    </a:p>
                  </a:txBody>
                  <a:tcPr marL="0" marR="0" marB="0" marT="101600">
                    <a:lnB w="19050">
                      <a:solidFill>
                        <a:srgbClr val="000000"/>
                      </a:solidFill>
                      <a:prstDash val="solid"/>
                    </a:lnB>
                  </a:tcPr>
                </a:tc>
              </a:tr>
              <a:tr h="418552">
                <a:tc>
                  <a:txBody>
                    <a:bodyPr/>
                    <a:lstStyle/>
                    <a:p>
                      <a:pPr>
                        <a:lnSpc>
                          <a:spcPct val="100000"/>
                        </a:lnSpc>
                        <a:spcBef>
                          <a:spcPts val="50"/>
                        </a:spcBef>
                      </a:pPr>
                      <a:endParaRPr sz="1500">
                        <a:latin typeface="Times New Roman"/>
                        <a:cs typeface="Times New Roman"/>
                      </a:endParaRPr>
                    </a:p>
                    <a:p>
                      <a:pPr marL="95250" indent="-95885">
                        <a:lnSpc>
                          <a:spcPct val="100000"/>
                        </a:lnSpc>
                        <a:buChar char="•"/>
                        <a:tabLst>
                          <a:tab pos="95885" algn="l"/>
                        </a:tabLst>
                      </a:pPr>
                      <a:r>
                        <a:rPr dirty="0" sz="1200">
                          <a:latin typeface="Arial"/>
                          <a:cs typeface="Arial"/>
                        </a:rPr>
                        <a:t>The </a:t>
                      </a:r>
                      <a:r>
                        <a:rPr dirty="0" sz="1200" spc="-5">
                          <a:latin typeface="Arial"/>
                          <a:cs typeface="Arial"/>
                        </a:rPr>
                        <a:t>Holy</a:t>
                      </a:r>
                      <a:r>
                        <a:rPr dirty="0" sz="1200" spc="-20">
                          <a:latin typeface="Arial"/>
                          <a:cs typeface="Arial"/>
                        </a:rPr>
                        <a:t> </a:t>
                      </a:r>
                      <a:r>
                        <a:rPr dirty="0" sz="1200" spc="-5">
                          <a:latin typeface="Arial"/>
                          <a:cs typeface="Arial"/>
                        </a:rPr>
                        <a:t>Qur‘an</a:t>
                      </a:r>
                      <a:endParaRPr sz="1200">
                        <a:latin typeface="Arial"/>
                        <a:cs typeface="Arial"/>
                      </a:endParaRPr>
                    </a:p>
                  </a:txBody>
                  <a:tcPr marL="0" marR="0" marB="0" marT="6350">
                    <a:lnT w="19050">
                      <a:solidFill>
                        <a:srgbClr val="000000"/>
                      </a:solidFill>
                      <a:prstDash val="solid"/>
                    </a:lnT>
                  </a:tcPr>
                </a:tc>
                <a:tc>
                  <a:txBody>
                    <a:bodyPr/>
                    <a:lstStyle/>
                    <a:p>
                      <a:pPr marR="3175">
                        <a:lnSpc>
                          <a:spcPct val="100000"/>
                        </a:lnSpc>
                      </a:pPr>
                      <a:endParaRPr sz="1200">
                        <a:latin typeface="Times New Roman"/>
                        <a:cs typeface="Times New Roman"/>
                      </a:endParaRPr>
                    </a:p>
                  </a:txBody>
                  <a:tcPr marL="0" marR="0" marB="0" marT="0">
                    <a:lnT w="19050">
                      <a:solidFill>
                        <a:srgbClr val="000000"/>
                      </a:solidFill>
                      <a:prstDash val="solid"/>
                    </a:lnT>
                  </a:tcPr>
                </a:tc>
                <a:tc>
                  <a:txBody>
                    <a:bodyPr/>
                    <a:lstStyle/>
                    <a:p>
                      <a:pPr marR="3175">
                        <a:lnSpc>
                          <a:spcPct val="100000"/>
                        </a:lnSpc>
                        <a:spcBef>
                          <a:spcPts val="50"/>
                        </a:spcBef>
                      </a:pPr>
                      <a:endParaRPr sz="1500">
                        <a:latin typeface="Times New Roman"/>
                        <a:cs typeface="Times New Roman"/>
                      </a:endParaRPr>
                    </a:p>
                    <a:p>
                      <a:pPr algn="ctr" marL="6985">
                        <a:lnSpc>
                          <a:spcPct val="100000"/>
                        </a:lnSpc>
                      </a:pPr>
                      <a:r>
                        <a:rPr dirty="0" sz="1200">
                          <a:latin typeface="Arial"/>
                          <a:cs typeface="Arial"/>
                        </a:rPr>
                        <a:t>96</a:t>
                      </a:r>
                      <a:endParaRPr sz="1200">
                        <a:latin typeface="Arial"/>
                        <a:cs typeface="Arial"/>
                      </a:endParaRPr>
                    </a:p>
                  </a:txBody>
                  <a:tcPr marL="0" marR="0" marB="0" marT="6350">
                    <a:lnT w="19050">
                      <a:solidFill>
                        <a:srgbClr val="000000"/>
                      </a:solidFill>
                      <a:prstDash val="solid"/>
                    </a:lnT>
                  </a:tcPr>
                </a:tc>
              </a:tr>
              <a:tr h="201168">
                <a:tc>
                  <a:txBody>
                    <a:bodyPr/>
                    <a:lstStyle/>
                    <a:p>
                      <a:pPr marL="95250" indent="-95885">
                        <a:lnSpc>
                          <a:spcPct val="100000"/>
                        </a:lnSpc>
                        <a:spcBef>
                          <a:spcPts val="15"/>
                        </a:spcBef>
                        <a:buChar char="•"/>
                        <a:tabLst>
                          <a:tab pos="95885" algn="l"/>
                        </a:tabLst>
                      </a:pPr>
                      <a:r>
                        <a:rPr dirty="0" sz="1200">
                          <a:latin typeface="Arial"/>
                          <a:cs typeface="Arial"/>
                        </a:rPr>
                        <a:t>The </a:t>
                      </a:r>
                      <a:r>
                        <a:rPr dirty="0" sz="1200" spc="-5">
                          <a:latin typeface="Arial"/>
                          <a:cs typeface="Arial"/>
                        </a:rPr>
                        <a:t>Prophet‘s Sunnah</a:t>
                      </a:r>
                      <a:endParaRPr sz="1200">
                        <a:latin typeface="Arial"/>
                        <a:cs typeface="Arial"/>
                      </a:endParaRPr>
                    </a:p>
                  </a:txBody>
                  <a:tcPr marL="0" marR="0" marB="0" marT="1905"/>
                </a:tc>
                <a:tc>
                  <a:txBody>
                    <a:bodyPr/>
                    <a:lstStyle/>
                    <a:p>
                      <a:pPr marR="3175">
                        <a:lnSpc>
                          <a:spcPct val="100000"/>
                        </a:lnSpc>
                      </a:pPr>
                      <a:endParaRPr sz="1200">
                        <a:latin typeface="Times New Roman"/>
                        <a:cs typeface="Times New Roman"/>
                      </a:endParaRPr>
                    </a:p>
                  </a:txBody>
                  <a:tcPr marL="0" marR="0" marB="0" marT="0"/>
                </a:tc>
                <a:tc>
                  <a:txBody>
                    <a:bodyPr/>
                    <a:lstStyle/>
                    <a:p>
                      <a:pPr algn="ctr" marL="6985">
                        <a:lnSpc>
                          <a:spcPct val="100000"/>
                        </a:lnSpc>
                        <a:spcBef>
                          <a:spcPts val="15"/>
                        </a:spcBef>
                      </a:pPr>
                      <a:r>
                        <a:rPr dirty="0" sz="1200">
                          <a:latin typeface="Arial"/>
                          <a:cs typeface="Arial"/>
                        </a:rPr>
                        <a:t>96</a:t>
                      </a:r>
                      <a:endParaRPr sz="1200">
                        <a:latin typeface="Arial"/>
                        <a:cs typeface="Arial"/>
                      </a:endParaRPr>
                    </a:p>
                  </a:txBody>
                  <a:tcPr marL="0" marR="0" marB="0" marT="1905"/>
                </a:tc>
              </a:tr>
              <a:tr h="184951">
                <a:tc>
                  <a:txBody>
                    <a:bodyPr/>
                    <a:lstStyle/>
                    <a:p>
                      <a:pPr marL="95250" indent="-95885">
                        <a:lnSpc>
                          <a:spcPts val="1355"/>
                        </a:lnSpc>
                        <a:buChar char="•"/>
                        <a:tabLst>
                          <a:tab pos="95885" algn="l"/>
                        </a:tabLst>
                      </a:pPr>
                      <a:r>
                        <a:rPr dirty="0" sz="1200">
                          <a:latin typeface="Arial"/>
                          <a:cs typeface="Arial"/>
                        </a:rPr>
                        <a:t>The </a:t>
                      </a:r>
                      <a:r>
                        <a:rPr dirty="0" sz="1200" spc="-5">
                          <a:latin typeface="Arial"/>
                          <a:cs typeface="Arial"/>
                        </a:rPr>
                        <a:t>importance of the </a:t>
                      </a:r>
                      <a:r>
                        <a:rPr dirty="0" sz="1200" spc="-50">
                          <a:latin typeface="Arial"/>
                          <a:cs typeface="Arial"/>
                        </a:rPr>
                        <a:t>Shari‗ah, </a:t>
                      </a:r>
                      <a:r>
                        <a:rPr dirty="0" sz="1200" spc="-10" i="1">
                          <a:latin typeface="Arial"/>
                          <a:cs typeface="Arial"/>
                        </a:rPr>
                        <a:t>ijma‘, </a:t>
                      </a:r>
                      <a:r>
                        <a:rPr dirty="0" sz="1200" i="1">
                          <a:latin typeface="Arial"/>
                          <a:cs typeface="Arial"/>
                        </a:rPr>
                        <a:t>qiyas,</a:t>
                      </a:r>
                      <a:r>
                        <a:rPr dirty="0" sz="1200" spc="85" i="1">
                          <a:latin typeface="Arial"/>
                          <a:cs typeface="Arial"/>
                        </a:rPr>
                        <a:t> </a:t>
                      </a:r>
                      <a:r>
                        <a:rPr dirty="0" sz="1200" i="1">
                          <a:latin typeface="Arial"/>
                          <a:cs typeface="Arial"/>
                        </a:rPr>
                        <a:t>ijtihad</a:t>
                      </a:r>
                      <a:endParaRPr sz="1200">
                        <a:latin typeface="Arial"/>
                        <a:cs typeface="Arial"/>
                      </a:endParaRPr>
                    </a:p>
                  </a:txBody>
                  <a:tcPr marL="0" marR="0" marB="0" marT="0"/>
                </a:tc>
                <a:tc>
                  <a:txBody>
                    <a:bodyPr/>
                    <a:lstStyle/>
                    <a:p>
                      <a:pPr marR="3175">
                        <a:lnSpc>
                          <a:spcPct val="100000"/>
                        </a:lnSpc>
                      </a:pPr>
                      <a:endParaRPr sz="1000">
                        <a:latin typeface="Times New Roman"/>
                        <a:cs typeface="Times New Roman"/>
                      </a:endParaRPr>
                    </a:p>
                  </a:txBody>
                  <a:tcPr marL="0" marR="0" marB="0" marT="0"/>
                </a:tc>
                <a:tc>
                  <a:txBody>
                    <a:bodyPr/>
                    <a:lstStyle/>
                    <a:p>
                      <a:pPr algn="ctr" marL="6985">
                        <a:lnSpc>
                          <a:spcPts val="1355"/>
                        </a:lnSpc>
                      </a:pPr>
                      <a:r>
                        <a:rPr dirty="0" sz="1200" i="1">
                          <a:latin typeface="Arial"/>
                          <a:cs typeface="Arial"/>
                        </a:rPr>
                        <a:t>97</a:t>
                      </a:r>
                      <a:endParaRPr sz="1200">
                        <a:latin typeface="Arial"/>
                        <a:cs typeface="Arial"/>
                      </a:endParaRPr>
                    </a:p>
                  </a:txBody>
                  <a:tcPr marL="0" marR="0" marB="0" marT="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1002538"/>
            <a:ext cx="576580" cy="208279"/>
          </a:xfrm>
          <a:prstGeom prst="rect">
            <a:avLst/>
          </a:prstGeom>
        </p:spPr>
        <p:txBody>
          <a:bodyPr wrap="square" lIns="0" tIns="12700" rIns="0" bIns="0" rtlCol="0" vert="horz">
            <a:spAutoFit/>
          </a:bodyPr>
          <a:lstStyle/>
          <a:p>
            <a:pPr marL="12700">
              <a:lnSpc>
                <a:spcPct val="100000"/>
              </a:lnSpc>
              <a:spcBef>
                <a:spcPts val="100"/>
              </a:spcBef>
            </a:pPr>
            <a:r>
              <a:rPr dirty="0" u="heavy" sz="1200" spc="-5" b="1">
                <a:uFill>
                  <a:solidFill>
                    <a:srgbClr val="000000"/>
                  </a:solidFill>
                </a:uFill>
                <a:latin typeface="Arial"/>
                <a:cs typeface="Arial"/>
              </a:rPr>
              <a:t>Paper</a:t>
            </a:r>
            <a:r>
              <a:rPr dirty="0" u="heavy" sz="1200" spc="-65" b="1">
                <a:uFill>
                  <a:solidFill>
                    <a:srgbClr val="000000"/>
                  </a:solidFill>
                </a:uFill>
                <a:latin typeface="Arial"/>
                <a:cs typeface="Arial"/>
              </a:rPr>
              <a:t> </a:t>
            </a:r>
            <a:r>
              <a:rPr dirty="0" u="heavy" sz="1200" spc="-5" b="1">
                <a:uFill>
                  <a:solidFill>
                    <a:srgbClr val="000000"/>
                  </a:solidFill>
                </a:uFill>
                <a:latin typeface="Arial"/>
                <a:cs typeface="Arial"/>
              </a:rPr>
              <a:t>2</a:t>
            </a:r>
            <a:endParaRPr sz="1200">
              <a:latin typeface="Arial"/>
              <a:cs typeface="Arial"/>
            </a:endParaRPr>
          </a:p>
        </p:txBody>
      </p:sp>
      <p:sp>
        <p:nvSpPr>
          <p:cNvPr id="6" name="object 6"/>
          <p:cNvSpPr txBox="1"/>
          <p:nvPr/>
        </p:nvSpPr>
        <p:spPr>
          <a:xfrm>
            <a:off x="718819" y="1406397"/>
            <a:ext cx="2888615" cy="208279"/>
          </a:xfrm>
          <a:prstGeom prst="rect">
            <a:avLst/>
          </a:prstGeom>
        </p:spPr>
        <p:txBody>
          <a:bodyPr wrap="square" lIns="0" tIns="12700" rIns="0" bIns="0" rtlCol="0" vert="horz">
            <a:spAutoFit/>
          </a:bodyPr>
          <a:lstStyle/>
          <a:p>
            <a:pPr marL="12700">
              <a:lnSpc>
                <a:spcPct val="100000"/>
              </a:lnSpc>
              <a:spcBef>
                <a:spcPts val="100"/>
              </a:spcBef>
            </a:pPr>
            <a:r>
              <a:rPr dirty="0" sz="1200" spc="-5" b="1" i="1">
                <a:latin typeface="Arial"/>
                <a:cs typeface="Arial"/>
              </a:rPr>
              <a:t>Section A: </a:t>
            </a:r>
            <a:r>
              <a:rPr dirty="0" sz="1200" b="1" i="1">
                <a:latin typeface="Arial"/>
                <a:cs typeface="Arial"/>
              </a:rPr>
              <a:t>The </a:t>
            </a:r>
            <a:r>
              <a:rPr dirty="0" sz="1200" spc="-5" b="1" i="1">
                <a:latin typeface="Arial"/>
                <a:cs typeface="Arial"/>
              </a:rPr>
              <a:t>Early Dynasties </a:t>
            </a:r>
            <a:r>
              <a:rPr dirty="0" sz="1200" b="1" i="1">
                <a:latin typeface="Arial"/>
                <a:cs typeface="Arial"/>
              </a:rPr>
              <a:t>of</a:t>
            </a:r>
            <a:r>
              <a:rPr dirty="0" sz="1200" spc="20" b="1" i="1">
                <a:latin typeface="Arial"/>
                <a:cs typeface="Arial"/>
              </a:rPr>
              <a:t> </a:t>
            </a:r>
            <a:r>
              <a:rPr dirty="0" sz="1200" spc="-5" b="1" i="1">
                <a:latin typeface="Arial"/>
                <a:cs typeface="Arial"/>
              </a:rPr>
              <a:t>Islam</a:t>
            </a:r>
            <a:endParaRPr sz="1200">
              <a:latin typeface="Arial"/>
              <a:cs typeface="Arial"/>
            </a:endParaRPr>
          </a:p>
        </p:txBody>
      </p:sp>
      <p:sp>
        <p:nvSpPr>
          <p:cNvPr id="7" name="object 7"/>
          <p:cNvSpPr txBox="1"/>
          <p:nvPr/>
        </p:nvSpPr>
        <p:spPr>
          <a:xfrm>
            <a:off x="6663690" y="1406397"/>
            <a:ext cx="281940" cy="208279"/>
          </a:xfrm>
          <a:prstGeom prst="rect">
            <a:avLst/>
          </a:prstGeom>
        </p:spPr>
        <p:txBody>
          <a:bodyPr wrap="square" lIns="0" tIns="12700" rIns="0" bIns="0" rtlCol="0" vert="horz">
            <a:spAutoFit/>
          </a:bodyPr>
          <a:lstStyle/>
          <a:p>
            <a:pPr marL="12700">
              <a:lnSpc>
                <a:spcPct val="100000"/>
              </a:lnSpc>
              <a:spcBef>
                <a:spcPts val="100"/>
              </a:spcBef>
            </a:pPr>
            <a:r>
              <a:rPr dirty="0" sz="1200" spc="-5" b="1" i="1">
                <a:latin typeface="Arial"/>
                <a:cs typeface="Arial"/>
              </a:rPr>
              <a:t>102</a:t>
            </a:r>
            <a:endParaRPr sz="1200">
              <a:latin typeface="Arial"/>
              <a:cs typeface="Arial"/>
            </a:endParaRPr>
          </a:p>
        </p:txBody>
      </p:sp>
      <p:sp>
        <p:nvSpPr>
          <p:cNvPr id="8" name="object 8"/>
          <p:cNvSpPr/>
          <p:nvPr/>
        </p:nvSpPr>
        <p:spPr>
          <a:xfrm>
            <a:off x="731519" y="1588261"/>
            <a:ext cx="6199505" cy="15240"/>
          </a:xfrm>
          <a:custGeom>
            <a:avLst/>
            <a:gdLst/>
            <a:ahLst/>
            <a:cxnLst/>
            <a:rect l="l" t="t" r="r" b="b"/>
            <a:pathLst>
              <a:path w="6199505" h="15240">
                <a:moveTo>
                  <a:pt x="6199378" y="0"/>
                </a:moveTo>
                <a:lnTo>
                  <a:pt x="0" y="0"/>
                </a:lnTo>
                <a:lnTo>
                  <a:pt x="0" y="15240"/>
                </a:lnTo>
                <a:lnTo>
                  <a:pt x="6199378" y="15240"/>
                </a:lnTo>
                <a:lnTo>
                  <a:pt x="6199378" y="0"/>
                </a:lnTo>
                <a:close/>
              </a:path>
            </a:pathLst>
          </a:custGeom>
          <a:solidFill>
            <a:srgbClr val="000000"/>
          </a:solidFill>
        </p:spPr>
        <p:txBody>
          <a:bodyPr wrap="square" lIns="0" tIns="0" rIns="0" bIns="0" rtlCol="0"/>
          <a:lstStyle/>
          <a:p/>
        </p:txBody>
      </p:sp>
      <p:sp>
        <p:nvSpPr>
          <p:cNvPr id="9" name="object 9"/>
          <p:cNvSpPr txBox="1"/>
          <p:nvPr/>
        </p:nvSpPr>
        <p:spPr>
          <a:xfrm>
            <a:off x="718819" y="1790445"/>
            <a:ext cx="1663700" cy="427990"/>
          </a:xfrm>
          <a:prstGeom prst="rect">
            <a:avLst/>
          </a:prstGeom>
        </p:spPr>
        <p:txBody>
          <a:bodyPr wrap="square" lIns="0" tIns="31114" rIns="0" bIns="0" rtlCol="0" vert="horz">
            <a:spAutoFit/>
          </a:bodyPr>
          <a:lstStyle/>
          <a:p>
            <a:pPr marL="108585" indent="-96520">
              <a:lnSpc>
                <a:spcPct val="100000"/>
              </a:lnSpc>
              <a:spcBef>
                <a:spcPts val="244"/>
              </a:spcBef>
              <a:buChar char="•"/>
              <a:tabLst>
                <a:tab pos="109220" algn="l"/>
              </a:tabLst>
            </a:pPr>
            <a:r>
              <a:rPr dirty="0" sz="1200" spc="-5">
                <a:latin typeface="Arial"/>
                <a:cs typeface="Arial"/>
              </a:rPr>
              <a:t>The </a:t>
            </a:r>
            <a:r>
              <a:rPr dirty="0" sz="1200" spc="-10">
                <a:latin typeface="Arial"/>
                <a:cs typeface="Arial"/>
              </a:rPr>
              <a:t>Umayyad </a:t>
            </a:r>
            <a:r>
              <a:rPr dirty="0" sz="1200" spc="-5">
                <a:latin typeface="Arial"/>
                <a:cs typeface="Arial"/>
              </a:rPr>
              <a:t>Dynasty</a:t>
            </a:r>
            <a:endParaRPr sz="1200">
              <a:latin typeface="Arial"/>
              <a:cs typeface="Arial"/>
            </a:endParaRPr>
          </a:p>
          <a:p>
            <a:pPr marL="108585" indent="-96520">
              <a:lnSpc>
                <a:spcPct val="100000"/>
              </a:lnSpc>
              <a:spcBef>
                <a:spcPts val="140"/>
              </a:spcBef>
              <a:buChar char="•"/>
              <a:tabLst>
                <a:tab pos="109220" algn="l"/>
              </a:tabLst>
            </a:pPr>
            <a:r>
              <a:rPr dirty="0" sz="1200" spc="-5">
                <a:latin typeface="Arial"/>
                <a:cs typeface="Arial"/>
              </a:rPr>
              <a:t>The early</a:t>
            </a:r>
            <a:r>
              <a:rPr dirty="0" sz="1200" spc="-35">
                <a:latin typeface="Arial"/>
                <a:cs typeface="Arial"/>
              </a:rPr>
              <a:t> </a:t>
            </a:r>
            <a:r>
              <a:rPr dirty="0" sz="1200" spc="-45">
                <a:latin typeface="Arial"/>
                <a:cs typeface="Arial"/>
              </a:rPr>
              <a:t>‗Abbasids</a:t>
            </a:r>
            <a:endParaRPr sz="1200">
              <a:latin typeface="Arial"/>
              <a:cs typeface="Arial"/>
            </a:endParaRPr>
          </a:p>
        </p:txBody>
      </p:sp>
      <p:sp>
        <p:nvSpPr>
          <p:cNvPr id="10" name="object 10"/>
          <p:cNvSpPr txBox="1"/>
          <p:nvPr/>
        </p:nvSpPr>
        <p:spPr>
          <a:xfrm>
            <a:off x="6663690" y="1790445"/>
            <a:ext cx="281940" cy="427990"/>
          </a:xfrm>
          <a:prstGeom prst="rect">
            <a:avLst/>
          </a:prstGeom>
        </p:spPr>
        <p:txBody>
          <a:bodyPr wrap="square" lIns="0" tIns="31114" rIns="0" bIns="0" rtlCol="0" vert="horz">
            <a:spAutoFit/>
          </a:bodyPr>
          <a:lstStyle/>
          <a:p>
            <a:pPr marL="12700">
              <a:lnSpc>
                <a:spcPct val="100000"/>
              </a:lnSpc>
              <a:spcBef>
                <a:spcPts val="244"/>
              </a:spcBef>
            </a:pPr>
            <a:r>
              <a:rPr dirty="0" sz="1200" spc="-5">
                <a:latin typeface="Arial"/>
                <a:cs typeface="Arial"/>
              </a:rPr>
              <a:t>102</a:t>
            </a:r>
            <a:endParaRPr sz="1200">
              <a:latin typeface="Arial"/>
              <a:cs typeface="Arial"/>
            </a:endParaRPr>
          </a:p>
          <a:p>
            <a:pPr marL="12700">
              <a:lnSpc>
                <a:spcPct val="100000"/>
              </a:lnSpc>
              <a:spcBef>
                <a:spcPts val="140"/>
              </a:spcBef>
            </a:pPr>
            <a:r>
              <a:rPr dirty="0" sz="1200" spc="-5">
                <a:latin typeface="Arial"/>
                <a:cs typeface="Arial"/>
              </a:rPr>
              <a:t>105</a:t>
            </a:r>
            <a:endParaRPr sz="1200">
              <a:latin typeface="Arial"/>
              <a:cs typeface="Arial"/>
            </a:endParaRPr>
          </a:p>
        </p:txBody>
      </p:sp>
      <p:sp>
        <p:nvSpPr>
          <p:cNvPr id="11" name="object 11"/>
          <p:cNvSpPr txBox="1"/>
          <p:nvPr/>
        </p:nvSpPr>
        <p:spPr>
          <a:xfrm>
            <a:off x="718819" y="2413761"/>
            <a:ext cx="3183255" cy="208279"/>
          </a:xfrm>
          <a:prstGeom prst="rect">
            <a:avLst/>
          </a:prstGeom>
        </p:spPr>
        <p:txBody>
          <a:bodyPr wrap="square" lIns="0" tIns="12700" rIns="0" bIns="0" rtlCol="0" vert="horz">
            <a:spAutoFit/>
          </a:bodyPr>
          <a:lstStyle/>
          <a:p>
            <a:pPr marL="12700">
              <a:lnSpc>
                <a:spcPct val="100000"/>
              </a:lnSpc>
              <a:spcBef>
                <a:spcPts val="100"/>
              </a:spcBef>
            </a:pPr>
            <a:r>
              <a:rPr dirty="0" sz="1200" spc="-5" b="1" i="1">
                <a:latin typeface="Arial"/>
                <a:cs typeface="Arial"/>
              </a:rPr>
              <a:t>Section B: Religious Thought </a:t>
            </a:r>
            <a:r>
              <a:rPr dirty="0" sz="1200" b="1" i="1">
                <a:latin typeface="Arial"/>
                <a:cs typeface="Arial"/>
              </a:rPr>
              <a:t>in </a:t>
            </a:r>
            <a:r>
              <a:rPr dirty="0" sz="1200" spc="-5" b="1" i="1">
                <a:latin typeface="Arial"/>
                <a:cs typeface="Arial"/>
              </a:rPr>
              <a:t>Early</a:t>
            </a:r>
            <a:r>
              <a:rPr dirty="0" sz="1200" spc="35" b="1" i="1">
                <a:latin typeface="Arial"/>
                <a:cs typeface="Arial"/>
              </a:rPr>
              <a:t> </a:t>
            </a:r>
            <a:r>
              <a:rPr dirty="0" sz="1200" spc="-5" b="1" i="1">
                <a:latin typeface="Arial"/>
                <a:cs typeface="Arial"/>
              </a:rPr>
              <a:t>Islam</a:t>
            </a:r>
            <a:endParaRPr sz="1200">
              <a:latin typeface="Arial"/>
              <a:cs typeface="Arial"/>
            </a:endParaRPr>
          </a:p>
        </p:txBody>
      </p:sp>
      <p:sp>
        <p:nvSpPr>
          <p:cNvPr id="12" name="object 12"/>
          <p:cNvSpPr txBox="1"/>
          <p:nvPr/>
        </p:nvSpPr>
        <p:spPr>
          <a:xfrm>
            <a:off x="6663690" y="2413761"/>
            <a:ext cx="281940" cy="208279"/>
          </a:xfrm>
          <a:prstGeom prst="rect">
            <a:avLst/>
          </a:prstGeom>
        </p:spPr>
        <p:txBody>
          <a:bodyPr wrap="square" lIns="0" tIns="12700" rIns="0" bIns="0" rtlCol="0" vert="horz">
            <a:spAutoFit/>
          </a:bodyPr>
          <a:lstStyle/>
          <a:p>
            <a:pPr marL="12700">
              <a:lnSpc>
                <a:spcPct val="100000"/>
              </a:lnSpc>
              <a:spcBef>
                <a:spcPts val="100"/>
              </a:spcBef>
            </a:pPr>
            <a:r>
              <a:rPr dirty="0" sz="1200" spc="-5" b="1" i="1">
                <a:latin typeface="Arial"/>
                <a:cs typeface="Arial"/>
              </a:rPr>
              <a:t>112</a:t>
            </a:r>
            <a:endParaRPr sz="1200">
              <a:latin typeface="Arial"/>
              <a:cs typeface="Arial"/>
            </a:endParaRPr>
          </a:p>
        </p:txBody>
      </p:sp>
      <p:sp>
        <p:nvSpPr>
          <p:cNvPr id="13" name="object 13"/>
          <p:cNvSpPr/>
          <p:nvPr/>
        </p:nvSpPr>
        <p:spPr>
          <a:xfrm>
            <a:off x="731519" y="2595625"/>
            <a:ext cx="6199505" cy="15240"/>
          </a:xfrm>
          <a:custGeom>
            <a:avLst/>
            <a:gdLst/>
            <a:ahLst/>
            <a:cxnLst/>
            <a:rect l="l" t="t" r="r" b="b"/>
            <a:pathLst>
              <a:path w="6199505" h="15239">
                <a:moveTo>
                  <a:pt x="6199378" y="0"/>
                </a:moveTo>
                <a:lnTo>
                  <a:pt x="0" y="0"/>
                </a:lnTo>
                <a:lnTo>
                  <a:pt x="0" y="15240"/>
                </a:lnTo>
                <a:lnTo>
                  <a:pt x="6199378" y="15240"/>
                </a:lnTo>
                <a:lnTo>
                  <a:pt x="6199378" y="0"/>
                </a:lnTo>
                <a:close/>
              </a:path>
            </a:pathLst>
          </a:custGeom>
          <a:solidFill>
            <a:srgbClr val="000000"/>
          </a:solidFill>
        </p:spPr>
        <p:txBody>
          <a:bodyPr wrap="square" lIns="0" tIns="0" rIns="0" bIns="0" rtlCol="0"/>
          <a:lstStyle/>
          <a:p/>
        </p:txBody>
      </p:sp>
      <p:sp>
        <p:nvSpPr>
          <p:cNvPr id="14" name="object 14"/>
          <p:cNvSpPr txBox="1"/>
          <p:nvPr/>
        </p:nvSpPr>
        <p:spPr>
          <a:xfrm>
            <a:off x="718819" y="2797809"/>
            <a:ext cx="4389120" cy="631190"/>
          </a:xfrm>
          <a:prstGeom prst="rect">
            <a:avLst/>
          </a:prstGeom>
        </p:spPr>
        <p:txBody>
          <a:bodyPr wrap="square" lIns="0" tIns="31114" rIns="0" bIns="0" rtlCol="0" vert="horz">
            <a:spAutoFit/>
          </a:bodyPr>
          <a:lstStyle/>
          <a:p>
            <a:pPr marL="107950" indent="-95885">
              <a:lnSpc>
                <a:spcPct val="100000"/>
              </a:lnSpc>
              <a:spcBef>
                <a:spcPts val="244"/>
              </a:spcBef>
              <a:buChar char="•"/>
              <a:tabLst>
                <a:tab pos="108585" algn="l"/>
              </a:tabLst>
            </a:pPr>
            <a:r>
              <a:rPr dirty="0" sz="1200">
                <a:latin typeface="Arial"/>
                <a:cs typeface="Arial"/>
              </a:rPr>
              <a:t>The </a:t>
            </a:r>
            <a:r>
              <a:rPr dirty="0" sz="1200" spc="-5">
                <a:latin typeface="Arial"/>
                <a:cs typeface="Arial"/>
              </a:rPr>
              <a:t>early development of the </a:t>
            </a:r>
            <a:r>
              <a:rPr dirty="0" sz="1200" spc="-50">
                <a:latin typeface="Arial"/>
                <a:cs typeface="Arial"/>
              </a:rPr>
              <a:t>Shari‗ah; </a:t>
            </a:r>
            <a:r>
              <a:rPr dirty="0" sz="1200">
                <a:latin typeface="Arial"/>
                <a:cs typeface="Arial"/>
              </a:rPr>
              <a:t>4 </a:t>
            </a:r>
            <a:r>
              <a:rPr dirty="0" sz="1200" spc="-5">
                <a:latin typeface="Arial"/>
                <a:cs typeface="Arial"/>
              </a:rPr>
              <a:t>schools of</a:t>
            </a:r>
            <a:r>
              <a:rPr dirty="0" sz="1200" spc="85">
                <a:latin typeface="Arial"/>
                <a:cs typeface="Arial"/>
              </a:rPr>
              <a:t> </a:t>
            </a:r>
            <a:r>
              <a:rPr dirty="0" sz="1200" spc="-5">
                <a:latin typeface="Arial"/>
                <a:cs typeface="Arial"/>
              </a:rPr>
              <a:t>thought</a:t>
            </a:r>
            <a:endParaRPr sz="1200">
              <a:latin typeface="Arial"/>
              <a:cs typeface="Arial"/>
            </a:endParaRPr>
          </a:p>
          <a:p>
            <a:pPr marL="107950" indent="-95885">
              <a:lnSpc>
                <a:spcPct val="100000"/>
              </a:lnSpc>
              <a:spcBef>
                <a:spcPts val="140"/>
              </a:spcBef>
              <a:buChar char="•"/>
              <a:tabLst>
                <a:tab pos="108585" algn="l"/>
              </a:tabLst>
            </a:pPr>
            <a:r>
              <a:rPr dirty="0" sz="1200">
                <a:latin typeface="Arial"/>
                <a:cs typeface="Arial"/>
              </a:rPr>
              <a:t>The </a:t>
            </a:r>
            <a:r>
              <a:rPr dirty="0" sz="1200" spc="-5">
                <a:latin typeface="Arial"/>
                <a:cs typeface="Arial"/>
              </a:rPr>
              <a:t>compilation and methods of compilation of </a:t>
            </a:r>
            <a:r>
              <a:rPr dirty="0" sz="1200">
                <a:latin typeface="Arial"/>
                <a:cs typeface="Arial"/>
              </a:rPr>
              <a:t>the </a:t>
            </a:r>
            <a:r>
              <a:rPr dirty="0" sz="1200" spc="-5">
                <a:latin typeface="Arial"/>
                <a:cs typeface="Arial"/>
              </a:rPr>
              <a:t>Sahih</a:t>
            </a:r>
            <a:r>
              <a:rPr dirty="0" sz="1200" spc="20">
                <a:latin typeface="Arial"/>
                <a:cs typeface="Arial"/>
              </a:rPr>
              <a:t> </a:t>
            </a:r>
            <a:r>
              <a:rPr dirty="0" sz="1200" spc="-5">
                <a:latin typeface="Arial"/>
                <a:cs typeface="Arial"/>
              </a:rPr>
              <a:t>Sittah</a:t>
            </a:r>
            <a:endParaRPr sz="1200">
              <a:latin typeface="Arial"/>
              <a:cs typeface="Arial"/>
            </a:endParaRPr>
          </a:p>
          <a:p>
            <a:pPr marL="107950" indent="-95885">
              <a:lnSpc>
                <a:spcPct val="100000"/>
              </a:lnSpc>
              <a:spcBef>
                <a:spcPts val="160"/>
              </a:spcBef>
              <a:buChar char="•"/>
              <a:tabLst>
                <a:tab pos="108585" algn="l"/>
              </a:tabLst>
            </a:pPr>
            <a:r>
              <a:rPr dirty="0" sz="1200" spc="-5">
                <a:latin typeface="Arial"/>
                <a:cs typeface="Arial"/>
              </a:rPr>
              <a:t>Mu‘tazilah </a:t>
            </a:r>
            <a:r>
              <a:rPr dirty="0" sz="1200">
                <a:latin typeface="Arial"/>
                <a:cs typeface="Arial"/>
              </a:rPr>
              <a:t>and</a:t>
            </a:r>
            <a:r>
              <a:rPr dirty="0" sz="1200" spc="-10">
                <a:latin typeface="Arial"/>
                <a:cs typeface="Arial"/>
              </a:rPr>
              <a:t> </a:t>
            </a:r>
            <a:r>
              <a:rPr dirty="0" sz="1200" spc="-5">
                <a:latin typeface="Arial"/>
                <a:cs typeface="Arial"/>
              </a:rPr>
              <a:t>Ash‘ariyah</a:t>
            </a:r>
            <a:endParaRPr sz="1200">
              <a:latin typeface="Arial"/>
              <a:cs typeface="Arial"/>
            </a:endParaRPr>
          </a:p>
        </p:txBody>
      </p:sp>
      <p:sp>
        <p:nvSpPr>
          <p:cNvPr id="15" name="object 15"/>
          <p:cNvSpPr txBox="1"/>
          <p:nvPr/>
        </p:nvSpPr>
        <p:spPr>
          <a:xfrm>
            <a:off x="6663690" y="2797809"/>
            <a:ext cx="281940" cy="631190"/>
          </a:xfrm>
          <a:prstGeom prst="rect">
            <a:avLst/>
          </a:prstGeom>
        </p:spPr>
        <p:txBody>
          <a:bodyPr wrap="square" lIns="0" tIns="31114" rIns="0" bIns="0" rtlCol="0" vert="horz">
            <a:spAutoFit/>
          </a:bodyPr>
          <a:lstStyle/>
          <a:p>
            <a:pPr marL="12700">
              <a:lnSpc>
                <a:spcPct val="100000"/>
              </a:lnSpc>
              <a:spcBef>
                <a:spcPts val="244"/>
              </a:spcBef>
            </a:pPr>
            <a:r>
              <a:rPr dirty="0" sz="1200" spc="-5">
                <a:latin typeface="Arial"/>
                <a:cs typeface="Arial"/>
              </a:rPr>
              <a:t>112</a:t>
            </a:r>
            <a:endParaRPr sz="1200">
              <a:latin typeface="Arial"/>
              <a:cs typeface="Arial"/>
            </a:endParaRPr>
          </a:p>
          <a:p>
            <a:pPr marL="12700">
              <a:lnSpc>
                <a:spcPct val="100000"/>
              </a:lnSpc>
              <a:spcBef>
                <a:spcPts val="140"/>
              </a:spcBef>
            </a:pPr>
            <a:r>
              <a:rPr dirty="0" sz="1200" spc="-5">
                <a:latin typeface="Arial"/>
                <a:cs typeface="Arial"/>
              </a:rPr>
              <a:t>118</a:t>
            </a:r>
            <a:endParaRPr sz="1200">
              <a:latin typeface="Arial"/>
              <a:cs typeface="Arial"/>
            </a:endParaRPr>
          </a:p>
          <a:p>
            <a:pPr marL="12700">
              <a:lnSpc>
                <a:spcPct val="100000"/>
              </a:lnSpc>
              <a:spcBef>
                <a:spcPts val="160"/>
              </a:spcBef>
            </a:pPr>
            <a:r>
              <a:rPr dirty="0" sz="1200" spc="-5">
                <a:latin typeface="Arial"/>
                <a:cs typeface="Arial"/>
              </a:rPr>
              <a:t>132</a:t>
            </a:r>
            <a:endParaRPr sz="1200">
              <a:latin typeface="Arial"/>
              <a:cs typeface="Arial"/>
            </a:endParaRPr>
          </a:p>
        </p:txBody>
      </p:sp>
      <p:sp>
        <p:nvSpPr>
          <p:cNvPr id="16" name="object 16"/>
          <p:cNvSpPr txBox="1"/>
          <p:nvPr/>
        </p:nvSpPr>
        <p:spPr>
          <a:xfrm>
            <a:off x="718819" y="3622675"/>
            <a:ext cx="2608580" cy="208279"/>
          </a:xfrm>
          <a:prstGeom prst="rect">
            <a:avLst/>
          </a:prstGeom>
        </p:spPr>
        <p:txBody>
          <a:bodyPr wrap="square" lIns="0" tIns="12700" rIns="0" bIns="0" rtlCol="0" vert="horz">
            <a:spAutoFit/>
          </a:bodyPr>
          <a:lstStyle/>
          <a:p>
            <a:pPr marL="12700">
              <a:lnSpc>
                <a:spcPct val="100000"/>
              </a:lnSpc>
              <a:spcBef>
                <a:spcPts val="100"/>
              </a:spcBef>
            </a:pPr>
            <a:r>
              <a:rPr dirty="0" sz="1200" spc="-5" b="1" i="1">
                <a:latin typeface="Arial"/>
                <a:cs typeface="Arial"/>
              </a:rPr>
              <a:t>Section C: Variety </a:t>
            </a:r>
            <a:r>
              <a:rPr dirty="0" sz="1200" b="1" i="1">
                <a:latin typeface="Arial"/>
                <a:cs typeface="Arial"/>
              </a:rPr>
              <a:t>in </a:t>
            </a:r>
            <a:r>
              <a:rPr dirty="0" sz="1200" spc="-5" b="1" i="1">
                <a:latin typeface="Arial"/>
                <a:cs typeface="Arial"/>
              </a:rPr>
              <a:t>Islamic</a:t>
            </a:r>
            <a:r>
              <a:rPr dirty="0" sz="1200" spc="20" b="1" i="1">
                <a:latin typeface="Arial"/>
                <a:cs typeface="Arial"/>
              </a:rPr>
              <a:t> </a:t>
            </a:r>
            <a:r>
              <a:rPr dirty="0" sz="1200" spc="-5" b="1" i="1">
                <a:latin typeface="Arial"/>
                <a:cs typeface="Arial"/>
              </a:rPr>
              <a:t>Beliefs</a:t>
            </a:r>
            <a:endParaRPr sz="1200">
              <a:latin typeface="Arial"/>
              <a:cs typeface="Arial"/>
            </a:endParaRPr>
          </a:p>
        </p:txBody>
      </p:sp>
      <p:sp>
        <p:nvSpPr>
          <p:cNvPr id="17" name="object 17"/>
          <p:cNvSpPr txBox="1"/>
          <p:nvPr/>
        </p:nvSpPr>
        <p:spPr>
          <a:xfrm>
            <a:off x="6663690" y="3622675"/>
            <a:ext cx="281940" cy="208279"/>
          </a:xfrm>
          <a:prstGeom prst="rect">
            <a:avLst/>
          </a:prstGeom>
        </p:spPr>
        <p:txBody>
          <a:bodyPr wrap="square" lIns="0" tIns="12700" rIns="0" bIns="0" rtlCol="0" vert="horz">
            <a:spAutoFit/>
          </a:bodyPr>
          <a:lstStyle/>
          <a:p>
            <a:pPr marL="12700">
              <a:lnSpc>
                <a:spcPct val="100000"/>
              </a:lnSpc>
              <a:spcBef>
                <a:spcPts val="100"/>
              </a:spcBef>
            </a:pPr>
            <a:r>
              <a:rPr dirty="0" sz="1200" spc="-5" b="1" i="1">
                <a:latin typeface="Arial"/>
                <a:cs typeface="Arial"/>
              </a:rPr>
              <a:t>136</a:t>
            </a:r>
            <a:endParaRPr sz="1200">
              <a:latin typeface="Arial"/>
              <a:cs typeface="Arial"/>
            </a:endParaRPr>
          </a:p>
        </p:txBody>
      </p:sp>
      <p:sp>
        <p:nvSpPr>
          <p:cNvPr id="18" name="object 18"/>
          <p:cNvSpPr/>
          <p:nvPr/>
        </p:nvSpPr>
        <p:spPr>
          <a:xfrm>
            <a:off x="731519" y="3804539"/>
            <a:ext cx="6199505" cy="15240"/>
          </a:xfrm>
          <a:custGeom>
            <a:avLst/>
            <a:gdLst/>
            <a:ahLst/>
            <a:cxnLst/>
            <a:rect l="l" t="t" r="r" b="b"/>
            <a:pathLst>
              <a:path w="6199505" h="15239">
                <a:moveTo>
                  <a:pt x="6199378" y="0"/>
                </a:moveTo>
                <a:lnTo>
                  <a:pt x="0" y="0"/>
                </a:lnTo>
                <a:lnTo>
                  <a:pt x="0" y="15240"/>
                </a:lnTo>
                <a:lnTo>
                  <a:pt x="6199378" y="15240"/>
                </a:lnTo>
                <a:lnTo>
                  <a:pt x="6199378" y="0"/>
                </a:lnTo>
                <a:close/>
              </a:path>
            </a:pathLst>
          </a:custGeom>
          <a:solidFill>
            <a:srgbClr val="000000"/>
          </a:solidFill>
        </p:spPr>
        <p:txBody>
          <a:bodyPr wrap="square" lIns="0" tIns="0" rIns="0" bIns="0" rtlCol="0"/>
          <a:lstStyle/>
          <a:p/>
        </p:txBody>
      </p:sp>
      <p:sp>
        <p:nvSpPr>
          <p:cNvPr id="19" name="object 19"/>
          <p:cNvSpPr txBox="1"/>
          <p:nvPr/>
        </p:nvSpPr>
        <p:spPr>
          <a:xfrm>
            <a:off x="718819" y="4008246"/>
            <a:ext cx="4577715" cy="629285"/>
          </a:xfrm>
          <a:prstGeom prst="rect">
            <a:avLst/>
          </a:prstGeom>
        </p:spPr>
        <p:txBody>
          <a:bodyPr wrap="square" lIns="0" tIns="30480" rIns="0" bIns="0" rtlCol="0" vert="horz">
            <a:spAutoFit/>
          </a:bodyPr>
          <a:lstStyle/>
          <a:p>
            <a:pPr marL="108585" indent="-96520">
              <a:lnSpc>
                <a:spcPct val="100000"/>
              </a:lnSpc>
              <a:spcBef>
                <a:spcPts val="240"/>
              </a:spcBef>
              <a:buChar char="•"/>
              <a:tabLst>
                <a:tab pos="109220" algn="l"/>
              </a:tabLst>
            </a:pPr>
            <a:r>
              <a:rPr dirty="0" sz="1200" spc="-5">
                <a:latin typeface="Arial"/>
                <a:cs typeface="Arial"/>
              </a:rPr>
              <a:t>Sunnis and </a:t>
            </a:r>
            <a:r>
              <a:rPr dirty="0" sz="1200" spc="-75">
                <a:latin typeface="Arial"/>
                <a:cs typeface="Arial"/>
              </a:rPr>
              <a:t>Shi‗is</a:t>
            </a:r>
            <a:endParaRPr sz="1200">
              <a:latin typeface="Arial"/>
              <a:cs typeface="Arial"/>
            </a:endParaRPr>
          </a:p>
          <a:p>
            <a:pPr marL="107950" indent="-95885">
              <a:lnSpc>
                <a:spcPct val="100000"/>
              </a:lnSpc>
              <a:spcBef>
                <a:spcPts val="145"/>
              </a:spcBef>
              <a:buChar char="•"/>
              <a:tabLst>
                <a:tab pos="108585" algn="l"/>
              </a:tabLst>
            </a:pPr>
            <a:r>
              <a:rPr dirty="0" sz="1200" spc="-5">
                <a:latin typeface="Arial"/>
                <a:cs typeface="Arial"/>
              </a:rPr>
              <a:t>Sufism </a:t>
            </a:r>
            <a:r>
              <a:rPr dirty="0" sz="1200" spc="-10">
                <a:latin typeface="Arial"/>
                <a:cs typeface="Arial"/>
              </a:rPr>
              <a:t>with </a:t>
            </a:r>
            <a:r>
              <a:rPr dirty="0" sz="1200" spc="-5">
                <a:latin typeface="Arial"/>
                <a:cs typeface="Arial"/>
              </a:rPr>
              <a:t>reference </a:t>
            </a:r>
            <a:r>
              <a:rPr dirty="0" sz="1200">
                <a:latin typeface="Arial"/>
                <a:cs typeface="Arial"/>
              </a:rPr>
              <a:t>to </a:t>
            </a:r>
            <a:r>
              <a:rPr dirty="0" sz="1200" spc="-5">
                <a:latin typeface="Arial"/>
                <a:cs typeface="Arial"/>
              </a:rPr>
              <a:t>early mystics and Abu Hamid</a:t>
            </a:r>
            <a:r>
              <a:rPr dirty="0" sz="1200" spc="95">
                <a:latin typeface="Arial"/>
                <a:cs typeface="Arial"/>
              </a:rPr>
              <a:t> </a:t>
            </a:r>
            <a:r>
              <a:rPr dirty="0" sz="1200" spc="-5">
                <a:latin typeface="Arial"/>
                <a:cs typeface="Arial"/>
              </a:rPr>
              <a:t>al-Ghazzali</a:t>
            </a:r>
            <a:endParaRPr sz="1200">
              <a:latin typeface="Arial"/>
              <a:cs typeface="Arial"/>
            </a:endParaRPr>
          </a:p>
          <a:p>
            <a:pPr marL="107950" indent="-95885">
              <a:lnSpc>
                <a:spcPct val="100000"/>
              </a:lnSpc>
              <a:spcBef>
                <a:spcPts val="145"/>
              </a:spcBef>
              <a:buChar char="•"/>
              <a:tabLst>
                <a:tab pos="108585" algn="l"/>
              </a:tabLst>
            </a:pPr>
            <a:r>
              <a:rPr dirty="0" sz="1200">
                <a:latin typeface="Arial"/>
                <a:cs typeface="Arial"/>
              </a:rPr>
              <a:t>Islamic </a:t>
            </a:r>
            <a:r>
              <a:rPr dirty="0" sz="1200" spc="-5">
                <a:latin typeface="Arial"/>
                <a:cs typeface="Arial"/>
              </a:rPr>
              <a:t>philosophy and its relationship </a:t>
            </a:r>
            <a:r>
              <a:rPr dirty="0" sz="1200">
                <a:latin typeface="Arial"/>
                <a:cs typeface="Arial"/>
              </a:rPr>
              <a:t>to </a:t>
            </a:r>
            <a:r>
              <a:rPr dirty="0" sz="1200" spc="-5">
                <a:latin typeface="Arial"/>
                <a:cs typeface="Arial"/>
              </a:rPr>
              <a:t>religious</a:t>
            </a:r>
            <a:r>
              <a:rPr dirty="0" sz="1200" spc="-15">
                <a:latin typeface="Arial"/>
                <a:cs typeface="Arial"/>
              </a:rPr>
              <a:t> </a:t>
            </a:r>
            <a:r>
              <a:rPr dirty="0" sz="1200" spc="-5">
                <a:latin typeface="Arial"/>
                <a:cs typeface="Arial"/>
              </a:rPr>
              <a:t>thinking</a:t>
            </a:r>
            <a:endParaRPr sz="1200">
              <a:latin typeface="Arial"/>
              <a:cs typeface="Arial"/>
            </a:endParaRPr>
          </a:p>
        </p:txBody>
      </p:sp>
      <p:sp>
        <p:nvSpPr>
          <p:cNvPr id="20" name="object 20"/>
          <p:cNvSpPr txBox="1"/>
          <p:nvPr/>
        </p:nvSpPr>
        <p:spPr>
          <a:xfrm>
            <a:off x="6663690" y="4008246"/>
            <a:ext cx="281940" cy="629285"/>
          </a:xfrm>
          <a:prstGeom prst="rect">
            <a:avLst/>
          </a:prstGeom>
        </p:spPr>
        <p:txBody>
          <a:bodyPr wrap="square" lIns="0" tIns="30480" rIns="0" bIns="0" rtlCol="0" vert="horz">
            <a:spAutoFit/>
          </a:bodyPr>
          <a:lstStyle/>
          <a:p>
            <a:pPr marL="12700">
              <a:lnSpc>
                <a:spcPct val="100000"/>
              </a:lnSpc>
              <a:spcBef>
                <a:spcPts val="240"/>
              </a:spcBef>
            </a:pPr>
            <a:r>
              <a:rPr dirty="0" sz="1200" spc="-5">
                <a:latin typeface="Arial"/>
                <a:cs typeface="Arial"/>
              </a:rPr>
              <a:t>136</a:t>
            </a:r>
            <a:endParaRPr sz="1200">
              <a:latin typeface="Arial"/>
              <a:cs typeface="Arial"/>
            </a:endParaRPr>
          </a:p>
          <a:p>
            <a:pPr marL="12700">
              <a:lnSpc>
                <a:spcPct val="100000"/>
              </a:lnSpc>
              <a:spcBef>
                <a:spcPts val="145"/>
              </a:spcBef>
            </a:pPr>
            <a:r>
              <a:rPr dirty="0" sz="1200" spc="-5">
                <a:latin typeface="Arial"/>
                <a:cs typeface="Arial"/>
              </a:rPr>
              <a:t>143</a:t>
            </a:r>
            <a:endParaRPr sz="1200">
              <a:latin typeface="Arial"/>
              <a:cs typeface="Arial"/>
            </a:endParaRPr>
          </a:p>
          <a:p>
            <a:pPr marL="12700">
              <a:lnSpc>
                <a:spcPct val="100000"/>
              </a:lnSpc>
              <a:spcBef>
                <a:spcPts val="145"/>
              </a:spcBef>
            </a:pPr>
            <a:r>
              <a:rPr dirty="0" sz="1200" spc="-5">
                <a:latin typeface="Arial"/>
                <a:cs typeface="Arial"/>
              </a:rPr>
              <a:t>152</a:t>
            </a:r>
            <a:endParaRPr sz="1200">
              <a:latin typeface="Arial"/>
              <a:cs typeface="Arial"/>
            </a:endParaRPr>
          </a:p>
        </p:txBody>
      </p:sp>
      <p:sp>
        <p:nvSpPr>
          <p:cNvPr id="21" name="object 21"/>
          <p:cNvSpPr txBox="1"/>
          <p:nvPr/>
        </p:nvSpPr>
        <p:spPr>
          <a:xfrm>
            <a:off x="718819" y="4832730"/>
            <a:ext cx="2625090" cy="208279"/>
          </a:xfrm>
          <a:prstGeom prst="rect">
            <a:avLst/>
          </a:prstGeom>
        </p:spPr>
        <p:txBody>
          <a:bodyPr wrap="square" lIns="0" tIns="12700" rIns="0" bIns="0" rtlCol="0" vert="horz">
            <a:spAutoFit/>
          </a:bodyPr>
          <a:lstStyle/>
          <a:p>
            <a:pPr marL="12700">
              <a:lnSpc>
                <a:spcPct val="100000"/>
              </a:lnSpc>
              <a:spcBef>
                <a:spcPts val="100"/>
              </a:spcBef>
            </a:pPr>
            <a:r>
              <a:rPr dirty="0" sz="1200" spc="-5" b="1" i="1">
                <a:latin typeface="Arial"/>
                <a:cs typeface="Arial"/>
              </a:rPr>
              <a:t>Section D: Islam </a:t>
            </a:r>
            <a:r>
              <a:rPr dirty="0" sz="1200" b="1" i="1">
                <a:latin typeface="Arial"/>
                <a:cs typeface="Arial"/>
              </a:rPr>
              <a:t>in </a:t>
            </a:r>
            <a:r>
              <a:rPr dirty="0" sz="1200" spc="-5" b="1" i="1">
                <a:latin typeface="Arial"/>
                <a:cs typeface="Arial"/>
              </a:rPr>
              <a:t>the World</a:t>
            </a:r>
            <a:r>
              <a:rPr dirty="0" sz="1200" spc="20" b="1" i="1">
                <a:latin typeface="Arial"/>
                <a:cs typeface="Arial"/>
              </a:rPr>
              <a:t> </a:t>
            </a:r>
            <a:r>
              <a:rPr dirty="0" sz="1200" spc="-5" b="1" i="1">
                <a:latin typeface="Arial"/>
                <a:cs typeface="Arial"/>
              </a:rPr>
              <a:t>Today</a:t>
            </a:r>
            <a:endParaRPr sz="1200">
              <a:latin typeface="Arial"/>
              <a:cs typeface="Arial"/>
            </a:endParaRPr>
          </a:p>
        </p:txBody>
      </p:sp>
      <p:sp>
        <p:nvSpPr>
          <p:cNvPr id="22" name="object 22"/>
          <p:cNvSpPr txBox="1"/>
          <p:nvPr/>
        </p:nvSpPr>
        <p:spPr>
          <a:xfrm>
            <a:off x="6663690" y="4832730"/>
            <a:ext cx="281940" cy="208279"/>
          </a:xfrm>
          <a:prstGeom prst="rect">
            <a:avLst/>
          </a:prstGeom>
        </p:spPr>
        <p:txBody>
          <a:bodyPr wrap="square" lIns="0" tIns="12700" rIns="0" bIns="0" rtlCol="0" vert="horz">
            <a:spAutoFit/>
          </a:bodyPr>
          <a:lstStyle/>
          <a:p>
            <a:pPr marL="12700">
              <a:lnSpc>
                <a:spcPct val="100000"/>
              </a:lnSpc>
              <a:spcBef>
                <a:spcPts val="100"/>
              </a:spcBef>
            </a:pPr>
            <a:r>
              <a:rPr dirty="0" sz="1200" spc="-5" b="1" i="1">
                <a:latin typeface="Arial"/>
                <a:cs typeface="Arial"/>
              </a:rPr>
              <a:t>161</a:t>
            </a:r>
            <a:endParaRPr sz="1200">
              <a:latin typeface="Arial"/>
              <a:cs typeface="Arial"/>
            </a:endParaRPr>
          </a:p>
        </p:txBody>
      </p:sp>
      <p:sp>
        <p:nvSpPr>
          <p:cNvPr id="23" name="object 23"/>
          <p:cNvSpPr/>
          <p:nvPr/>
        </p:nvSpPr>
        <p:spPr>
          <a:xfrm>
            <a:off x="731519" y="5014595"/>
            <a:ext cx="6199505" cy="15240"/>
          </a:xfrm>
          <a:custGeom>
            <a:avLst/>
            <a:gdLst/>
            <a:ahLst/>
            <a:cxnLst/>
            <a:rect l="l" t="t" r="r" b="b"/>
            <a:pathLst>
              <a:path w="6199505" h="15239">
                <a:moveTo>
                  <a:pt x="6199378" y="0"/>
                </a:moveTo>
                <a:lnTo>
                  <a:pt x="0" y="0"/>
                </a:lnTo>
                <a:lnTo>
                  <a:pt x="0" y="15239"/>
                </a:lnTo>
                <a:lnTo>
                  <a:pt x="6199378" y="15239"/>
                </a:lnTo>
                <a:lnTo>
                  <a:pt x="6199378" y="0"/>
                </a:lnTo>
                <a:close/>
              </a:path>
            </a:pathLst>
          </a:custGeom>
          <a:solidFill>
            <a:srgbClr val="000000"/>
          </a:solidFill>
        </p:spPr>
        <p:txBody>
          <a:bodyPr wrap="square" lIns="0" tIns="0" rIns="0" bIns="0" rtlCol="0"/>
          <a:lstStyle/>
          <a:p/>
        </p:txBody>
      </p:sp>
      <p:sp>
        <p:nvSpPr>
          <p:cNvPr id="24" name="object 24"/>
          <p:cNvSpPr txBox="1"/>
          <p:nvPr/>
        </p:nvSpPr>
        <p:spPr>
          <a:xfrm>
            <a:off x="718819" y="5216524"/>
            <a:ext cx="5624195" cy="1437640"/>
          </a:xfrm>
          <a:prstGeom prst="rect">
            <a:avLst/>
          </a:prstGeom>
        </p:spPr>
        <p:txBody>
          <a:bodyPr wrap="square" lIns="0" tIns="31115" rIns="0" bIns="0" rtlCol="0" vert="horz">
            <a:spAutoFit/>
          </a:bodyPr>
          <a:lstStyle/>
          <a:p>
            <a:pPr marL="107950" indent="-95885">
              <a:lnSpc>
                <a:spcPct val="100000"/>
              </a:lnSpc>
              <a:spcBef>
                <a:spcPts val="245"/>
              </a:spcBef>
              <a:buChar char="•"/>
              <a:tabLst>
                <a:tab pos="108585" algn="l"/>
              </a:tabLst>
            </a:pPr>
            <a:r>
              <a:rPr dirty="0" sz="1200" spc="-5">
                <a:latin typeface="Arial"/>
                <a:cs typeface="Arial"/>
              </a:rPr>
              <a:t>Early </a:t>
            </a:r>
            <a:r>
              <a:rPr dirty="0" sz="1200">
                <a:latin typeface="Arial"/>
                <a:cs typeface="Arial"/>
              </a:rPr>
              <a:t>modern </a:t>
            </a:r>
            <a:r>
              <a:rPr dirty="0" sz="1200" spc="-5">
                <a:latin typeface="Arial"/>
                <a:cs typeface="Arial"/>
              </a:rPr>
              <a:t>intellectual movements in Islam, including the</a:t>
            </a:r>
            <a:r>
              <a:rPr dirty="0" sz="1200" spc="-20">
                <a:latin typeface="Arial"/>
                <a:cs typeface="Arial"/>
              </a:rPr>
              <a:t> </a:t>
            </a:r>
            <a:r>
              <a:rPr dirty="0" sz="1200" spc="-5">
                <a:latin typeface="Arial"/>
                <a:cs typeface="Arial"/>
              </a:rPr>
              <a:t>Salafis,</a:t>
            </a:r>
            <a:endParaRPr sz="1200">
              <a:latin typeface="Arial"/>
              <a:cs typeface="Arial"/>
            </a:endParaRPr>
          </a:p>
          <a:p>
            <a:pPr marL="12700" marR="5080">
              <a:lnSpc>
                <a:spcPts val="1600"/>
              </a:lnSpc>
              <a:spcBef>
                <a:spcPts val="65"/>
              </a:spcBef>
            </a:pPr>
            <a:r>
              <a:rPr dirty="0" sz="1200" spc="-5">
                <a:latin typeface="Arial"/>
                <a:cs typeface="Arial"/>
              </a:rPr>
              <a:t>Muhammad </a:t>
            </a:r>
            <a:r>
              <a:rPr dirty="0" sz="1200" spc="-75">
                <a:latin typeface="Arial"/>
                <a:cs typeface="Arial"/>
              </a:rPr>
              <a:t>‗Abduh </a:t>
            </a:r>
            <a:r>
              <a:rPr dirty="0" sz="1200" spc="-5">
                <a:latin typeface="Arial"/>
                <a:cs typeface="Arial"/>
              </a:rPr>
              <a:t>and Hasan </a:t>
            </a:r>
            <a:r>
              <a:rPr dirty="0" sz="1200" spc="5">
                <a:latin typeface="Arial"/>
                <a:cs typeface="Arial"/>
              </a:rPr>
              <a:t>al- </a:t>
            </a:r>
            <a:r>
              <a:rPr dirty="0" sz="1200" spc="-5">
                <a:latin typeface="Arial"/>
                <a:cs typeface="Arial"/>
              </a:rPr>
              <a:t>Banna‘, Sayyid Ahmad Khan, Muhammad Iqbal,  </a:t>
            </a:r>
            <a:r>
              <a:rPr dirty="0" sz="1200">
                <a:latin typeface="Arial"/>
                <a:cs typeface="Arial"/>
              </a:rPr>
              <a:t>Abu </a:t>
            </a:r>
            <a:r>
              <a:rPr dirty="0" sz="1200" spc="-105">
                <a:latin typeface="Arial"/>
                <a:cs typeface="Arial"/>
              </a:rPr>
              <a:t>A‗la</a:t>
            </a:r>
            <a:r>
              <a:rPr dirty="0" sz="1200" spc="-15">
                <a:latin typeface="Arial"/>
                <a:cs typeface="Arial"/>
              </a:rPr>
              <a:t> </a:t>
            </a:r>
            <a:r>
              <a:rPr dirty="0" sz="1200" spc="-5">
                <a:latin typeface="Arial"/>
                <a:cs typeface="Arial"/>
              </a:rPr>
              <a:t>al-Mawdudi</a:t>
            </a:r>
            <a:endParaRPr sz="1200">
              <a:latin typeface="Arial"/>
              <a:cs typeface="Arial"/>
            </a:endParaRPr>
          </a:p>
          <a:p>
            <a:pPr marL="107950" indent="-95885">
              <a:lnSpc>
                <a:spcPct val="100000"/>
              </a:lnSpc>
              <a:spcBef>
                <a:spcPts val="60"/>
              </a:spcBef>
              <a:buChar char="•"/>
              <a:tabLst>
                <a:tab pos="108585" algn="l"/>
              </a:tabLst>
            </a:pPr>
            <a:r>
              <a:rPr dirty="0" sz="1200">
                <a:latin typeface="Arial"/>
                <a:cs typeface="Arial"/>
              </a:rPr>
              <a:t>The </a:t>
            </a:r>
            <a:r>
              <a:rPr dirty="0" sz="1200" spc="-5">
                <a:latin typeface="Arial"/>
                <a:cs typeface="Arial"/>
              </a:rPr>
              <a:t>relation between </a:t>
            </a:r>
            <a:r>
              <a:rPr dirty="0" sz="1200">
                <a:latin typeface="Arial"/>
                <a:cs typeface="Arial"/>
              </a:rPr>
              <a:t>Islam </a:t>
            </a:r>
            <a:r>
              <a:rPr dirty="0" sz="1200" spc="-5">
                <a:latin typeface="Arial"/>
                <a:cs typeface="Arial"/>
              </a:rPr>
              <a:t>and other faiths, especially Judaism and</a:t>
            </a:r>
            <a:r>
              <a:rPr dirty="0" sz="1200" spc="40">
                <a:latin typeface="Arial"/>
                <a:cs typeface="Arial"/>
              </a:rPr>
              <a:t> </a:t>
            </a:r>
            <a:r>
              <a:rPr dirty="0" sz="1200" spc="-5">
                <a:latin typeface="Arial"/>
                <a:cs typeface="Arial"/>
              </a:rPr>
              <a:t>Christianity</a:t>
            </a:r>
            <a:endParaRPr sz="1200">
              <a:latin typeface="Arial"/>
              <a:cs typeface="Arial"/>
            </a:endParaRPr>
          </a:p>
          <a:p>
            <a:pPr marL="107950" indent="-95885">
              <a:lnSpc>
                <a:spcPct val="100000"/>
              </a:lnSpc>
              <a:spcBef>
                <a:spcPts val="145"/>
              </a:spcBef>
              <a:buChar char="•"/>
              <a:tabLst>
                <a:tab pos="108585" algn="l"/>
              </a:tabLst>
            </a:pPr>
            <a:r>
              <a:rPr dirty="0" sz="1200">
                <a:latin typeface="Arial"/>
                <a:cs typeface="Arial"/>
              </a:rPr>
              <a:t>The </a:t>
            </a:r>
            <a:r>
              <a:rPr dirty="0" sz="1200" spc="-5">
                <a:latin typeface="Arial"/>
                <a:cs typeface="Arial"/>
              </a:rPr>
              <a:t>place of women </a:t>
            </a:r>
            <a:r>
              <a:rPr dirty="0" sz="1200" spc="-10">
                <a:latin typeface="Arial"/>
                <a:cs typeface="Arial"/>
              </a:rPr>
              <a:t>in</a:t>
            </a:r>
            <a:r>
              <a:rPr dirty="0" sz="1200" spc="10">
                <a:latin typeface="Arial"/>
                <a:cs typeface="Arial"/>
              </a:rPr>
              <a:t> </a:t>
            </a:r>
            <a:r>
              <a:rPr dirty="0" sz="1200" spc="-5">
                <a:latin typeface="Arial"/>
                <a:cs typeface="Arial"/>
              </a:rPr>
              <a:t>Islam</a:t>
            </a:r>
            <a:endParaRPr sz="1200">
              <a:latin typeface="Arial"/>
              <a:cs typeface="Arial"/>
            </a:endParaRPr>
          </a:p>
          <a:p>
            <a:pPr marL="12700" marR="313690">
              <a:lnSpc>
                <a:spcPts val="1600"/>
              </a:lnSpc>
              <a:spcBef>
                <a:spcPts val="65"/>
              </a:spcBef>
              <a:buChar char="•"/>
              <a:tabLst>
                <a:tab pos="108585" algn="l"/>
              </a:tabLst>
            </a:pPr>
            <a:r>
              <a:rPr dirty="0" sz="1200">
                <a:latin typeface="Arial"/>
                <a:cs typeface="Arial"/>
              </a:rPr>
              <a:t>Muslims </a:t>
            </a:r>
            <a:r>
              <a:rPr dirty="0" sz="1200" spc="-10">
                <a:latin typeface="Arial"/>
                <a:cs typeface="Arial"/>
              </a:rPr>
              <a:t>living </a:t>
            </a:r>
            <a:r>
              <a:rPr dirty="0" sz="1200">
                <a:latin typeface="Arial"/>
                <a:cs typeface="Arial"/>
              </a:rPr>
              <a:t>as </a:t>
            </a:r>
            <a:r>
              <a:rPr dirty="0" sz="1200" spc="-5">
                <a:latin typeface="Arial"/>
                <a:cs typeface="Arial"/>
              </a:rPr>
              <a:t>minorities, their </a:t>
            </a:r>
            <a:r>
              <a:rPr dirty="0" sz="1200">
                <a:latin typeface="Arial"/>
                <a:cs typeface="Arial"/>
              </a:rPr>
              <a:t>part </a:t>
            </a:r>
            <a:r>
              <a:rPr dirty="0" sz="1200" spc="-5">
                <a:latin typeface="Arial"/>
                <a:cs typeface="Arial"/>
              </a:rPr>
              <a:t>in </a:t>
            </a:r>
            <a:r>
              <a:rPr dirty="0" sz="1200">
                <a:latin typeface="Arial"/>
                <a:cs typeface="Arial"/>
              </a:rPr>
              <a:t>the </a:t>
            </a:r>
            <a:r>
              <a:rPr dirty="0" sz="1200" spc="-5">
                <a:latin typeface="Arial"/>
                <a:cs typeface="Arial"/>
              </a:rPr>
              <a:t>wider </a:t>
            </a:r>
            <a:r>
              <a:rPr dirty="0" sz="1200">
                <a:latin typeface="Arial"/>
                <a:cs typeface="Arial"/>
              </a:rPr>
              <a:t>community and </a:t>
            </a:r>
            <a:r>
              <a:rPr dirty="0" sz="1200" spc="-5">
                <a:latin typeface="Arial"/>
                <a:cs typeface="Arial"/>
              </a:rPr>
              <a:t>adherence  </a:t>
            </a:r>
            <a:r>
              <a:rPr dirty="0" sz="1200">
                <a:latin typeface="Arial"/>
                <a:cs typeface="Arial"/>
              </a:rPr>
              <a:t>to </a:t>
            </a:r>
            <a:r>
              <a:rPr dirty="0" sz="1200" spc="-5">
                <a:latin typeface="Arial"/>
                <a:cs typeface="Arial"/>
              </a:rPr>
              <a:t>Islamic</a:t>
            </a:r>
            <a:r>
              <a:rPr dirty="0" sz="1200">
                <a:latin typeface="Arial"/>
                <a:cs typeface="Arial"/>
              </a:rPr>
              <a:t> </a:t>
            </a:r>
            <a:r>
              <a:rPr dirty="0" sz="1200" spc="-5">
                <a:latin typeface="Arial"/>
                <a:cs typeface="Arial"/>
              </a:rPr>
              <a:t>principles</a:t>
            </a:r>
            <a:endParaRPr sz="1200">
              <a:latin typeface="Arial"/>
              <a:cs typeface="Arial"/>
            </a:endParaRPr>
          </a:p>
        </p:txBody>
      </p:sp>
      <p:sp>
        <p:nvSpPr>
          <p:cNvPr id="27" name="object 27"/>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28" name="object 28"/>
          <p:cNvSpPr txBox="1"/>
          <p:nvPr/>
        </p:nvSpPr>
        <p:spPr>
          <a:xfrm>
            <a:off x="3249295" y="9905322"/>
            <a:ext cx="476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3</a:t>
            </a:r>
            <a:endParaRPr sz="1200">
              <a:latin typeface="Times New Roman"/>
              <a:cs typeface="Times New Roman"/>
            </a:endParaRPr>
          </a:p>
        </p:txBody>
      </p:sp>
      <p:sp>
        <p:nvSpPr>
          <p:cNvPr id="25" name="object 25"/>
          <p:cNvSpPr txBox="1"/>
          <p:nvPr/>
        </p:nvSpPr>
        <p:spPr>
          <a:xfrm>
            <a:off x="6663690" y="5620892"/>
            <a:ext cx="281940" cy="629285"/>
          </a:xfrm>
          <a:prstGeom prst="rect">
            <a:avLst/>
          </a:prstGeom>
        </p:spPr>
        <p:txBody>
          <a:bodyPr wrap="square" lIns="0" tIns="30480" rIns="0" bIns="0" rtlCol="0" vert="horz">
            <a:spAutoFit/>
          </a:bodyPr>
          <a:lstStyle/>
          <a:p>
            <a:pPr marL="12700">
              <a:lnSpc>
                <a:spcPct val="100000"/>
              </a:lnSpc>
              <a:spcBef>
                <a:spcPts val="240"/>
              </a:spcBef>
            </a:pPr>
            <a:r>
              <a:rPr dirty="0" sz="1200" spc="-5">
                <a:latin typeface="Arial"/>
                <a:cs typeface="Arial"/>
              </a:rPr>
              <a:t>161</a:t>
            </a:r>
            <a:endParaRPr sz="1200">
              <a:latin typeface="Arial"/>
              <a:cs typeface="Arial"/>
            </a:endParaRPr>
          </a:p>
          <a:p>
            <a:pPr marL="12700">
              <a:lnSpc>
                <a:spcPct val="100000"/>
              </a:lnSpc>
              <a:spcBef>
                <a:spcPts val="145"/>
              </a:spcBef>
            </a:pPr>
            <a:r>
              <a:rPr dirty="0" sz="1200" spc="-5">
                <a:latin typeface="Arial"/>
                <a:cs typeface="Arial"/>
              </a:rPr>
              <a:t>168</a:t>
            </a:r>
            <a:endParaRPr sz="1200">
              <a:latin typeface="Arial"/>
              <a:cs typeface="Arial"/>
            </a:endParaRPr>
          </a:p>
          <a:p>
            <a:pPr marL="12700">
              <a:lnSpc>
                <a:spcPct val="100000"/>
              </a:lnSpc>
              <a:spcBef>
                <a:spcPts val="145"/>
              </a:spcBef>
            </a:pPr>
            <a:r>
              <a:rPr dirty="0" sz="1200" spc="-5">
                <a:latin typeface="Arial"/>
                <a:cs typeface="Arial"/>
              </a:rPr>
              <a:t>175</a:t>
            </a:r>
            <a:endParaRPr sz="1200">
              <a:latin typeface="Arial"/>
              <a:cs typeface="Arial"/>
            </a:endParaRPr>
          </a:p>
        </p:txBody>
      </p:sp>
      <p:sp>
        <p:nvSpPr>
          <p:cNvPr id="26" name="object 26"/>
          <p:cNvSpPr txBox="1"/>
          <p:nvPr/>
        </p:nvSpPr>
        <p:spPr>
          <a:xfrm>
            <a:off x="6663690" y="6445376"/>
            <a:ext cx="281940" cy="208279"/>
          </a:xfrm>
          <a:prstGeom prst="rect">
            <a:avLst/>
          </a:prstGeom>
        </p:spPr>
        <p:txBody>
          <a:bodyPr wrap="square" lIns="0" tIns="12700" rIns="0" bIns="0" rtlCol="0" vert="horz">
            <a:spAutoFit/>
          </a:bodyPr>
          <a:lstStyle/>
          <a:p>
            <a:pPr marL="12700">
              <a:lnSpc>
                <a:spcPct val="100000"/>
              </a:lnSpc>
              <a:spcBef>
                <a:spcPts val="100"/>
              </a:spcBef>
            </a:pPr>
            <a:r>
              <a:rPr dirty="0" sz="1200" spc="-5">
                <a:latin typeface="Arial"/>
                <a:cs typeface="Arial"/>
              </a:rPr>
              <a:t>179</a:t>
            </a:r>
            <a:endParaRPr sz="12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2396998" y="799592"/>
            <a:ext cx="2583180" cy="734695"/>
          </a:xfrm>
          <a:prstGeom prst="rect">
            <a:avLst/>
          </a:prstGeom>
        </p:spPr>
        <p:txBody>
          <a:bodyPr wrap="square" lIns="0" tIns="12700" rIns="0" bIns="0" rtlCol="0" vert="horz">
            <a:spAutoFit/>
          </a:bodyPr>
          <a:lstStyle/>
          <a:p>
            <a:pPr algn="ctr" marL="2540">
              <a:lnSpc>
                <a:spcPct val="100000"/>
              </a:lnSpc>
              <a:spcBef>
                <a:spcPts val="100"/>
              </a:spcBef>
            </a:pPr>
            <a:r>
              <a:rPr dirty="0" u="heavy" sz="1200" spc="-5" b="1" i="1">
                <a:uFill>
                  <a:solidFill>
                    <a:srgbClr val="000000"/>
                  </a:solidFill>
                </a:uFill>
                <a:latin typeface="Arial"/>
                <a:cs typeface="Arial"/>
              </a:rPr>
              <a:t>Paper</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1</a:t>
            </a:r>
            <a:endParaRPr sz="1200">
              <a:latin typeface="Arial"/>
              <a:cs typeface="Arial"/>
            </a:endParaRPr>
          </a:p>
          <a:p>
            <a:pPr>
              <a:lnSpc>
                <a:spcPct val="100000"/>
              </a:lnSpc>
            </a:pPr>
            <a:endParaRPr sz="1300">
              <a:latin typeface="Arial"/>
              <a:cs typeface="Arial"/>
            </a:endParaRPr>
          </a:p>
          <a:p>
            <a:pPr>
              <a:lnSpc>
                <a:spcPct val="100000"/>
              </a:lnSpc>
              <a:spcBef>
                <a:spcPts val="55"/>
              </a:spcBef>
            </a:pPr>
            <a:endParaRPr sz="1000">
              <a:latin typeface="Arial"/>
              <a:cs typeface="Arial"/>
            </a:endParaRPr>
          </a:p>
          <a:p>
            <a:pPr algn="ctr">
              <a:lnSpc>
                <a:spcPct val="100000"/>
              </a:lnSpc>
            </a:pPr>
            <a:r>
              <a:rPr dirty="0" u="heavy" sz="1200" spc="-5" b="1" i="1">
                <a:uFill>
                  <a:solidFill>
                    <a:srgbClr val="000000"/>
                  </a:solidFill>
                </a:uFill>
                <a:latin typeface="Arial"/>
                <a:cs typeface="Arial"/>
              </a:rPr>
              <a:t>Section A: The Beginnings </a:t>
            </a:r>
            <a:r>
              <a:rPr dirty="0" u="heavy" sz="1200" b="1" i="1">
                <a:uFill>
                  <a:solidFill>
                    <a:srgbClr val="000000"/>
                  </a:solidFill>
                </a:uFill>
                <a:latin typeface="Arial"/>
                <a:cs typeface="Arial"/>
              </a:rPr>
              <a:t>of</a:t>
            </a:r>
            <a:r>
              <a:rPr dirty="0" u="heavy" sz="1200" spc="25" b="1" i="1">
                <a:uFill>
                  <a:solidFill>
                    <a:srgbClr val="000000"/>
                  </a:solidFill>
                </a:uFill>
                <a:latin typeface="Arial"/>
                <a:cs typeface="Arial"/>
              </a:rPr>
              <a:t> </a:t>
            </a:r>
            <a:r>
              <a:rPr dirty="0" u="heavy" sz="1200" spc="-5" b="1" i="1">
                <a:uFill>
                  <a:solidFill>
                    <a:srgbClr val="000000"/>
                  </a:solidFill>
                </a:uFill>
                <a:latin typeface="Arial"/>
                <a:cs typeface="Arial"/>
              </a:rPr>
              <a:t>Islam</a:t>
            </a:r>
            <a:endParaRPr sz="1200">
              <a:latin typeface="Arial"/>
              <a:cs typeface="Arial"/>
            </a:endParaRPr>
          </a:p>
        </p:txBody>
      </p:sp>
      <p:sp>
        <p:nvSpPr>
          <p:cNvPr id="8" name="object 8"/>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9" name="object 9"/>
          <p:cNvSpPr txBox="1"/>
          <p:nvPr/>
        </p:nvSpPr>
        <p:spPr>
          <a:xfrm>
            <a:off x="3249295" y="9905322"/>
            <a:ext cx="476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4</a:t>
            </a:r>
            <a:endParaRPr sz="1200">
              <a:latin typeface="Times New Roman"/>
              <a:cs typeface="Times New Roman"/>
            </a:endParaRPr>
          </a:p>
        </p:txBody>
      </p:sp>
      <p:sp>
        <p:nvSpPr>
          <p:cNvPr id="6" name="object 6"/>
          <p:cNvSpPr txBox="1"/>
          <p:nvPr/>
        </p:nvSpPr>
        <p:spPr>
          <a:xfrm>
            <a:off x="878128" y="1879345"/>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Pre Islamic</a:t>
            </a:r>
            <a:r>
              <a:rPr dirty="0" sz="1200" spc="20" b="1">
                <a:latin typeface="Arial"/>
                <a:cs typeface="Arial"/>
              </a:rPr>
              <a:t> </a:t>
            </a:r>
            <a:r>
              <a:rPr dirty="0" sz="1200" spc="-10" b="1">
                <a:latin typeface="Arial"/>
                <a:cs typeface="Arial"/>
              </a:rPr>
              <a:t>Arabia</a:t>
            </a:r>
            <a:endParaRPr sz="1200">
              <a:latin typeface="Arial"/>
              <a:cs typeface="Arial"/>
            </a:endParaRPr>
          </a:p>
        </p:txBody>
      </p:sp>
      <p:sp>
        <p:nvSpPr>
          <p:cNvPr id="7" name="object 7"/>
          <p:cNvSpPr txBox="1"/>
          <p:nvPr/>
        </p:nvSpPr>
        <p:spPr>
          <a:xfrm>
            <a:off x="534416" y="2214117"/>
            <a:ext cx="6311265" cy="757047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55"/>
              </a:spcBef>
            </a:pPr>
            <a:endParaRPr sz="1150">
              <a:latin typeface="Arial"/>
              <a:cs typeface="Arial"/>
            </a:endParaRPr>
          </a:p>
          <a:p>
            <a:pPr algn="just" marL="12700" marR="5715">
              <a:lnSpc>
                <a:spcPct val="95900"/>
              </a:lnSpc>
            </a:pPr>
            <a:r>
              <a:rPr dirty="0" sz="1200" spc="-5">
                <a:latin typeface="Arial"/>
                <a:cs typeface="Arial"/>
              </a:rPr>
              <a:t>The time before the </a:t>
            </a:r>
            <a:r>
              <a:rPr dirty="0" sz="1200">
                <a:latin typeface="Arial"/>
                <a:cs typeface="Arial"/>
              </a:rPr>
              <a:t>coming </a:t>
            </a:r>
            <a:r>
              <a:rPr dirty="0" sz="1200" spc="-5">
                <a:latin typeface="Arial"/>
                <a:cs typeface="Arial"/>
              </a:rPr>
              <a:t>of the holy prophet Muhammad (s.a.w) in Arabia </a:t>
            </a:r>
            <a:r>
              <a:rPr dirty="0" sz="1200">
                <a:latin typeface="Arial"/>
                <a:cs typeface="Arial"/>
              </a:rPr>
              <a:t>for </a:t>
            </a:r>
            <a:r>
              <a:rPr dirty="0" sz="1200" spc="-10">
                <a:latin typeface="Arial"/>
                <a:cs typeface="Arial"/>
              </a:rPr>
              <a:t>the  </a:t>
            </a:r>
            <a:r>
              <a:rPr dirty="0" sz="1200">
                <a:latin typeface="Arial"/>
                <a:cs typeface="Arial"/>
              </a:rPr>
              <a:t>spreading </a:t>
            </a:r>
            <a:r>
              <a:rPr dirty="0" sz="1200" spc="-5">
                <a:latin typeface="Arial"/>
                <a:cs typeface="Arial"/>
              </a:rPr>
              <a:t>of the religion of Allah, Islam, is </a:t>
            </a:r>
            <a:r>
              <a:rPr dirty="0" sz="1200" spc="-10">
                <a:latin typeface="Arial"/>
                <a:cs typeface="Arial"/>
              </a:rPr>
              <a:t>known </a:t>
            </a:r>
            <a:r>
              <a:rPr dirty="0" sz="1200" spc="-5">
                <a:latin typeface="Arial"/>
                <a:cs typeface="Arial"/>
              </a:rPr>
              <a:t>as Pre Islamic Arabia. That period is also  known as the Jahiliyya period that is the age of ignorance. </a:t>
            </a:r>
            <a:r>
              <a:rPr dirty="0" sz="1200">
                <a:latin typeface="Arial"/>
                <a:cs typeface="Arial"/>
              </a:rPr>
              <a:t>It </a:t>
            </a:r>
            <a:r>
              <a:rPr dirty="0" sz="1200" spc="-5">
                <a:latin typeface="Arial"/>
                <a:cs typeface="Arial"/>
              </a:rPr>
              <a:t>is also known as the darkest  period of history and the worst period of human </a:t>
            </a:r>
            <a:r>
              <a:rPr dirty="0" sz="1200">
                <a:latin typeface="Arial"/>
                <a:cs typeface="Arial"/>
              </a:rPr>
              <a:t>era. This </a:t>
            </a:r>
            <a:r>
              <a:rPr dirty="0" sz="1200" spc="-5">
                <a:latin typeface="Arial"/>
                <a:cs typeface="Arial"/>
              </a:rPr>
              <a:t>is due to the </a:t>
            </a:r>
            <a:r>
              <a:rPr dirty="0" sz="1200" spc="15">
                <a:latin typeface="Arial"/>
                <a:cs typeface="Arial"/>
              </a:rPr>
              <a:t>fact </a:t>
            </a:r>
            <a:r>
              <a:rPr dirty="0" sz="1200" spc="-5">
                <a:latin typeface="Arial"/>
                <a:cs typeface="Arial"/>
              </a:rPr>
              <a:t>that during that  period the inhabitants of Arabia were deprived of a guide and a book of guidance. Another  reason is that </a:t>
            </a:r>
            <a:r>
              <a:rPr dirty="0" sz="1200">
                <a:latin typeface="Arial"/>
                <a:cs typeface="Arial"/>
              </a:rPr>
              <a:t>they </a:t>
            </a:r>
            <a:r>
              <a:rPr dirty="0" sz="1200" spc="-5">
                <a:latin typeface="Arial"/>
                <a:cs typeface="Arial"/>
              </a:rPr>
              <a:t>had forsaken their prophets and the </a:t>
            </a:r>
            <a:r>
              <a:rPr dirty="0" sz="1200">
                <a:latin typeface="Arial"/>
                <a:cs typeface="Arial"/>
              </a:rPr>
              <a:t>last </a:t>
            </a:r>
            <a:r>
              <a:rPr dirty="0" sz="1200" spc="-5">
                <a:latin typeface="Arial"/>
                <a:cs typeface="Arial"/>
              </a:rPr>
              <a:t>one coming </a:t>
            </a:r>
            <a:r>
              <a:rPr dirty="0" sz="1200">
                <a:latin typeface="Arial"/>
                <a:cs typeface="Arial"/>
              </a:rPr>
              <a:t>to </a:t>
            </a:r>
            <a:r>
              <a:rPr dirty="0" sz="1200" spc="-5">
                <a:latin typeface="Arial"/>
                <a:cs typeface="Arial"/>
              </a:rPr>
              <a:t>them </a:t>
            </a:r>
            <a:r>
              <a:rPr dirty="0" sz="1200" spc="-10">
                <a:latin typeface="Arial"/>
                <a:cs typeface="Arial"/>
              </a:rPr>
              <a:t>was </a:t>
            </a:r>
            <a:r>
              <a:rPr dirty="0" sz="1200" spc="-5">
                <a:latin typeface="Arial"/>
                <a:cs typeface="Arial"/>
              </a:rPr>
              <a:t>Hazrat  </a:t>
            </a:r>
            <a:r>
              <a:rPr dirty="0" sz="1200">
                <a:latin typeface="Arial"/>
                <a:cs typeface="Arial"/>
              </a:rPr>
              <a:t>Isa (a.s). </a:t>
            </a:r>
            <a:r>
              <a:rPr dirty="0" sz="1200" spc="-5">
                <a:latin typeface="Arial"/>
                <a:cs typeface="Arial"/>
              </a:rPr>
              <a:t>Another reason </a:t>
            </a:r>
            <a:r>
              <a:rPr dirty="0" sz="1200" spc="-10">
                <a:latin typeface="Arial"/>
                <a:cs typeface="Arial"/>
              </a:rPr>
              <a:t>was </a:t>
            </a:r>
            <a:r>
              <a:rPr dirty="0" sz="1200" spc="-5">
                <a:latin typeface="Arial"/>
                <a:cs typeface="Arial"/>
              </a:rPr>
              <a:t>that </a:t>
            </a:r>
            <a:r>
              <a:rPr dirty="0" sz="1200">
                <a:latin typeface="Arial"/>
                <a:cs typeface="Arial"/>
              </a:rPr>
              <a:t>they </a:t>
            </a:r>
            <a:r>
              <a:rPr dirty="0" sz="1200" spc="-5">
                <a:latin typeface="Arial"/>
                <a:cs typeface="Arial"/>
              </a:rPr>
              <a:t>had started </a:t>
            </a:r>
            <a:r>
              <a:rPr dirty="0" sz="1200">
                <a:latin typeface="Arial"/>
                <a:cs typeface="Arial"/>
              </a:rPr>
              <a:t>falsifying their </a:t>
            </a:r>
            <a:r>
              <a:rPr dirty="0" sz="1200" spc="-5">
                <a:latin typeface="Arial"/>
                <a:cs typeface="Arial"/>
              </a:rPr>
              <a:t>texts. </a:t>
            </a:r>
            <a:r>
              <a:rPr dirty="0" sz="1200">
                <a:latin typeface="Arial"/>
                <a:cs typeface="Arial"/>
              </a:rPr>
              <a:t>In </a:t>
            </a:r>
            <a:r>
              <a:rPr dirty="0" sz="1200" spc="-5">
                <a:latin typeface="Arial"/>
                <a:cs typeface="Arial"/>
              </a:rPr>
              <a:t>order </a:t>
            </a:r>
            <a:r>
              <a:rPr dirty="0" sz="1200">
                <a:latin typeface="Arial"/>
                <a:cs typeface="Arial"/>
              </a:rPr>
              <a:t>to  </a:t>
            </a:r>
            <a:r>
              <a:rPr dirty="0" sz="1200" spc="-5">
                <a:latin typeface="Arial"/>
                <a:cs typeface="Arial"/>
              </a:rPr>
              <a:t>understand that specific period, let us study </a:t>
            </a:r>
            <a:r>
              <a:rPr dirty="0" sz="1200">
                <a:latin typeface="Arial"/>
                <a:cs typeface="Arial"/>
              </a:rPr>
              <a:t>it </a:t>
            </a:r>
            <a:r>
              <a:rPr dirty="0" sz="1200" spc="-5">
                <a:latin typeface="Arial"/>
                <a:cs typeface="Arial"/>
              </a:rPr>
              <a:t>on five levels, </a:t>
            </a:r>
            <a:r>
              <a:rPr dirty="0" sz="1200">
                <a:latin typeface="Arial"/>
                <a:cs typeface="Arial"/>
              </a:rPr>
              <a:t>namely </a:t>
            </a:r>
            <a:r>
              <a:rPr dirty="0" sz="1200" spc="-5">
                <a:latin typeface="Arial"/>
                <a:cs typeface="Arial"/>
              </a:rPr>
              <a:t>social, economic,  religious, political and cultural</a:t>
            </a:r>
            <a:r>
              <a:rPr dirty="0" sz="1200" spc="5">
                <a:latin typeface="Arial"/>
                <a:cs typeface="Arial"/>
              </a:rPr>
              <a:t> </a:t>
            </a:r>
            <a:r>
              <a:rPr dirty="0" sz="1200" spc="-5">
                <a:latin typeface="Arial"/>
                <a:cs typeface="Arial"/>
              </a:rPr>
              <a:t>aspects.</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Social</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Conditions</a:t>
            </a:r>
            <a:endParaRPr sz="1200">
              <a:latin typeface="Arial"/>
              <a:cs typeface="Arial"/>
            </a:endParaRPr>
          </a:p>
          <a:p>
            <a:pPr>
              <a:lnSpc>
                <a:spcPct val="100000"/>
              </a:lnSpc>
            </a:pPr>
            <a:endParaRPr sz="1200">
              <a:latin typeface="Arial"/>
              <a:cs typeface="Arial"/>
            </a:endParaRPr>
          </a:p>
          <a:p>
            <a:pPr algn="just" marL="12700" marR="5715">
              <a:lnSpc>
                <a:spcPct val="95900"/>
              </a:lnSpc>
            </a:pPr>
            <a:r>
              <a:rPr dirty="0" sz="1200" spc="-5">
                <a:latin typeface="Arial"/>
                <a:cs typeface="Arial"/>
              </a:rPr>
              <a:t>The society </a:t>
            </a:r>
            <a:r>
              <a:rPr dirty="0" sz="1200">
                <a:latin typeface="Arial"/>
                <a:cs typeface="Arial"/>
              </a:rPr>
              <a:t>of </a:t>
            </a:r>
            <a:r>
              <a:rPr dirty="0" sz="1200" spc="-5">
                <a:latin typeface="Arial"/>
                <a:cs typeface="Arial"/>
              </a:rPr>
              <a:t>pre Islamic Arabia </a:t>
            </a:r>
            <a:r>
              <a:rPr dirty="0" sz="1200" spc="-10">
                <a:latin typeface="Arial"/>
                <a:cs typeface="Arial"/>
              </a:rPr>
              <a:t>was </a:t>
            </a:r>
            <a:r>
              <a:rPr dirty="0" sz="1200" spc="-5">
                <a:latin typeface="Arial"/>
                <a:cs typeface="Arial"/>
              </a:rPr>
              <a:t>corrupted with sins and immoral </a:t>
            </a:r>
            <a:r>
              <a:rPr dirty="0" sz="1200" spc="5">
                <a:latin typeface="Arial"/>
                <a:cs typeface="Arial"/>
              </a:rPr>
              <a:t>aspects </a:t>
            </a:r>
            <a:r>
              <a:rPr dirty="0" sz="1200" spc="-5">
                <a:latin typeface="Arial"/>
                <a:cs typeface="Arial"/>
              </a:rPr>
              <a:t>and deeds.  Sins such as adultery, fornication, prostitution, crimes, highway robbery, </a:t>
            </a:r>
            <a:r>
              <a:rPr dirty="0" sz="1200">
                <a:latin typeface="Arial"/>
                <a:cs typeface="Arial"/>
              </a:rPr>
              <a:t>theft, </a:t>
            </a:r>
            <a:r>
              <a:rPr dirty="0" sz="1200" spc="-5">
                <a:latin typeface="Arial"/>
                <a:cs typeface="Arial"/>
              </a:rPr>
              <a:t>infanticides  and all thinkable illicit activities like alcoholic drinking, dancing, singing, kidnapping, </a:t>
            </a:r>
            <a:r>
              <a:rPr dirty="0" sz="1200" spc="-10">
                <a:latin typeface="Arial"/>
                <a:cs typeface="Arial"/>
              </a:rPr>
              <a:t>bribery,  </a:t>
            </a:r>
            <a:r>
              <a:rPr dirty="0" sz="1200">
                <a:latin typeface="Arial"/>
                <a:cs typeface="Arial"/>
              </a:rPr>
              <a:t>interest </a:t>
            </a:r>
            <a:r>
              <a:rPr dirty="0" sz="1200" spc="-5">
                <a:latin typeface="Arial"/>
                <a:cs typeface="Arial"/>
              </a:rPr>
              <a:t>and so many </a:t>
            </a:r>
            <a:r>
              <a:rPr dirty="0" sz="1200">
                <a:latin typeface="Arial"/>
                <a:cs typeface="Arial"/>
              </a:rPr>
              <a:t>others </a:t>
            </a:r>
            <a:r>
              <a:rPr dirty="0" sz="1200" spc="-5">
                <a:latin typeface="Arial"/>
                <a:cs typeface="Arial"/>
              </a:rPr>
              <a:t>were rampant. </a:t>
            </a:r>
            <a:r>
              <a:rPr dirty="0" sz="1200">
                <a:latin typeface="Arial"/>
                <a:cs typeface="Arial"/>
              </a:rPr>
              <a:t>Women </a:t>
            </a:r>
            <a:r>
              <a:rPr dirty="0" sz="1200" spc="-5">
                <a:latin typeface="Arial"/>
                <a:cs typeface="Arial"/>
              </a:rPr>
              <a:t>and girls were not respected in </a:t>
            </a:r>
            <a:r>
              <a:rPr dirty="0" sz="1200">
                <a:latin typeface="Arial"/>
                <a:cs typeface="Arial"/>
              </a:rPr>
              <a:t>that </a:t>
            </a:r>
            <a:r>
              <a:rPr dirty="0" sz="1200" spc="-5">
                <a:latin typeface="Arial"/>
                <a:cs typeface="Arial"/>
              </a:rPr>
              <a:t>said  society. </a:t>
            </a:r>
            <a:r>
              <a:rPr dirty="0" sz="1200">
                <a:latin typeface="Arial"/>
                <a:cs typeface="Arial"/>
              </a:rPr>
              <a:t>Their </a:t>
            </a:r>
            <a:r>
              <a:rPr dirty="0" sz="1200" spc="-5">
                <a:latin typeface="Arial"/>
                <a:cs typeface="Arial"/>
              </a:rPr>
              <a:t>rights were tampered. They were considered as sexual objects </a:t>
            </a:r>
            <a:r>
              <a:rPr dirty="0" sz="1200">
                <a:latin typeface="Arial"/>
                <a:cs typeface="Arial"/>
              </a:rPr>
              <a:t>at </a:t>
            </a:r>
            <a:r>
              <a:rPr dirty="0" sz="1200" spc="-5">
                <a:latin typeface="Arial"/>
                <a:cs typeface="Arial"/>
              </a:rPr>
              <a:t>the hands of  men. </a:t>
            </a:r>
            <a:r>
              <a:rPr dirty="0" sz="1200">
                <a:latin typeface="Arial"/>
                <a:cs typeface="Arial"/>
              </a:rPr>
              <a:t>They </a:t>
            </a:r>
            <a:r>
              <a:rPr dirty="0" sz="1200" spc="-5">
                <a:latin typeface="Arial"/>
                <a:cs typeface="Arial"/>
              </a:rPr>
              <a:t>were not allowed </a:t>
            </a:r>
            <a:r>
              <a:rPr dirty="0" sz="1200">
                <a:latin typeface="Arial"/>
                <a:cs typeface="Arial"/>
              </a:rPr>
              <a:t>to take part </a:t>
            </a:r>
            <a:r>
              <a:rPr dirty="0" sz="1200" spc="-10">
                <a:latin typeface="Arial"/>
                <a:cs typeface="Arial"/>
              </a:rPr>
              <a:t>in </a:t>
            </a:r>
            <a:r>
              <a:rPr dirty="0" sz="1200">
                <a:latin typeface="Arial"/>
                <a:cs typeface="Arial"/>
              </a:rPr>
              <a:t>the </a:t>
            </a:r>
            <a:r>
              <a:rPr dirty="0" sz="1200" spc="-5">
                <a:latin typeface="Arial"/>
                <a:cs typeface="Arial"/>
              </a:rPr>
              <a:t>social aspects of the community. They  received no education and they had </a:t>
            </a:r>
            <a:r>
              <a:rPr dirty="0" sz="1200" spc="-10">
                <a:latin typeface="Arial"/>
                <a:cs typeface="Arial"/>
              </a:rPr>
              <a:t>no </a:t>
            </a:r>
            <a:r>
              <a:rPr dirty="0" sz="1200" spc="-5">
                <a:latin typeface="Arial"/>
                <a:cs typeface="Arial"/>
              </a:rPr>
              <a:t>right </a:t>
            </a:r>
            <a:r>
              <a:rPr dirty="0" sz="1200">
                <a:latin typeface="Arial"/>
                <a:cs typeface="Arial"/>
              </a:rPr>
              <a:t>to </a:t>
            </a:r>
            <a:r>
              <a:rPr dirty="0" sz="1200" spc="-5">
                <a:latin typeface="Arial"/>
                <a:cs typeface="Arial"/>
              </a:rPr>
              <a:t>share or </a:t>
            </a:r>
            <a:r>
              <a:rPr dirty="0" sz="1200">
                <a:latin typeface="Arial"/>
                <a:cs typeface="Arial"/>
              </a:rPr>
              <a:t>to </a:t>
            </a:r>
            <a:r>
              <a:rPr dirty="0" sz="1200" spc="-10">
                <a:latin typeface="Arial"/>
                <a:cs typeface="Arial"/>
              </a:rPr>
              <a:t>have </a:t>
            </a:r>
            <a:r>
              <a:rPr dirty="0" sz="1200" spc="-5">
                <a:latin typeface="Arial"/>
                <a:cs typeface="Arial"/>
              </a:rPr>
              <a:t>a </a:t>
            </a:r>
            <a:r>
              <a:rPr dirty="0" sz="1200">
                <a:latin typeface="Arial"/>
                <a:cs typeface="Arial"/>
              </a:rPr>
              <a:t>part </a:t>
            </a:r>
            <a:r>
              <a:rPr dirty="0" sz="1200" spc="-5">
                <a:latin typeface="Arial"/>
                <a:cs typeface="Arial"/>
              </a:rPr>
              <a:t>of the inheritance of  </a:t>
            </a:r>
            <a:r>
              <a:rPr dirty="0" sz="1200">
                <a:latin typeface="Arial"/>
                <a:cs typeface="Arial"/>
              </a:rPr>
              <a:t>their </a:t>
            </a:r>
            <a:r>
              <a:rPr dirty="0" sz="1200" spc="-5">
                <a:latin typeface="Arial"/>
                <a:cs typeface="Arial"/>
              </a:rPr>
              <a:t>parents. Girls were considered as bad omens. There were </a:t>
            </a:r>
            <a:r>
              <a:rPr dirty="0" sz="1200" spc="-10">
                <a:latin typeface="Arial"/>
                <a:cs typeface="Arial"/>
              </a:rPr>
              <a:t>three </a:t>
            </a:r>
            <a:r>
              <a:rPr dirty="0" sz="1200">
                <a:latin typeface="Arial"/>
                <a:cs typeface="Arial"/>
              </a:rPr>
              <a:t>treatments </a:t>
            </a:r>
            <a:r>
              <a:rPr dirty="0" sz="1200" spc="-5">
                <a:latin typeface="Arial"/>
                <a:cs typeface="Arial"/>
              </a:rPr>
              <a:t>reserved </a:t>
            </a:r>
            <a:r>
              <a:rPr dirty="0" sz="1200">
                <a:latin typeface="Arial"/>
                <a:cs typeface="Arial"/>
              </a:rPr>
              <a:t>for  them. </a:t>
            </a:r>
            <a:r>
              <a:rPr dirty="0" sz="1200" spc="-5">
                <a:latin typeface="Arial"/>
                <a:cs typeface="Arial"/>
              </a:rPr>
              <a:t>Firstly, </a:t>
            </a:r>
            <a:r>
              <a:rPr dirty="0" sz="1200">
                <a:latin typeface="Arial"/>
                <a:cs typeface="Arial"/>
              </a:rPr>
              <a:t>some </a:t>
            </a:r>
            <a:r>
              <a:rPr dirty="0" sz="1200" spc="-5">
                <a:latin typeface="Arial"/>
                <a:cs typeface="Arial"/>
              </a:rPr>
              <a:t>were killed </a:t>
            </a:r>
            <a:r>
              <a:rPr dirty="0" sz="1200">
                <a:latin typeface="Arial"/>
                <a:cs typeface="Arial"/>
              </a:rPr>
              <a:t>at </a:t>
            </a:r>
            <a:r>
              <a:rPr dirty="0" sz="1200" spc="-5">
                <a:latin typeface="Arial"/>
                <a:cs typeface="Arial"/>
              </a:rPr>
              <a:t>birth. Secondly, some were buried alive </a:t>
            </a:r>
            <a:r>
              <a:rPr dirty="0" sz="1200">
                <a:latin typeface="Arial"/>
                <a:cs typeface="Arial"/>
              </a:rPr>
              <a:t>at the </a:t>
            </a:r>
            <a:r>
              <a:rPr dirty="0" sz="1200" spc="-5">
                <a:latin typeface="Arial"/>
                <a:cs typeface="Arial"/>
              </a:rPr>
              <a:t>age of six.  Thirdly, </a:t>
            </a:r>
            <a:r>
              <a:rPr dirty="0" sz="1200">
                <a:latin typeface="Arial"/>
                <a:cs typeface="Arial"/>
              </a:rPr>
              <a:t>they </a:t>
            </a:r>
            <a:r>
              <a:rPr dirty="0" sz="1200" spc="-5">
                <a:latin typeface="Arial"/>
                <a:cs typeface="Arial"/>
              </a:rPr>
              <a:t>were let alive </a:t>
            </a:r>
            <a:r>
              <a:rPr dirty="0" sz="1200">
                <a:latin typeface="Arial"/>
                <a:cs typeface="Arial"/>
              </a:rPr>
              <a:t>to lead </a:t>
            </a:r>
            <a:r>
              <a:rPr dirty="0" sz="1200" spc="-5">
                <a:latin typeface="Arial"/>
                <a:cs typeface="Arial"/>
              </a:rPr>
              <a:t>a life of </a:t>
            </a:r>
            <a:r>
              <a:rPr dirty="0" sz="1200">
                <a:latin typeface="Arial"/>
                <a:cs typeface="Arial"/>
              </a:rPr>
              <a:t>misery </a:t>
            </a:r>
            <a:r>
              <a:rPr dirty="0" sz="1200" spc="-5">
                <a:latin typeface="Arial"/>
                <a:cs typeface="Arial"/>
              </a:rPr>
              <a:t>like women. Slavery </a:t>
            </a:r>
            <a:r>
              <a:rPr dirty="0" sz="1200" spc="-10">
                <a:latin typeface="Arial"/>
                <a:cs typeface="Arial"/>
              </a:rPr>
              <a:t>was </a:t>
            </a:r>
            <a:r>
              <a:rPr dirty="0" sz="1200">
                <a:latin typeface="Arial"/>
                <a:cs typeface="Arial"/>
              </a:rPr>
              <a:t>much </a:t>
            </a:r>
            <a:r>
              <a:rPr dirty="0" sz="1200" spc="-5">
                <a:latin typeface="Arial"/>
                <a:cs typeface="Arial"/>
              </a:rPr>
              <a:t>common  among </a:t>
            </a:r>
            <a:r>
              <a:rPr dirty="0" sz="1200">
                <a:latin typeface="Arial"/>
                <a:cs typeface="Arial"/>
              </a:rPr>
              <a:t>the </a:t>
            </a:r>
            <a:r>
              <a:rPr dirty="0" sz="1200" spc="-5">
                <a:latin typeface="Arial"/>
                <a:cs typeface="Arial"/>
              </a:rPr>
              <a:t>better off and rich Arabs. There were </a:t>
            </a:r>
            <a:r>
              <a:rPr dirty="0" sz="1200" spc="5">
                <a:latin typeface="Arial"/>
                <a:cs typeface="Arial"/>
              </a:rPr>
              <a:t>man, </a:t>
            </a:r>
            <a:r>
              <a:rPr dirty="0" sz="1200" spc="-5">
                <a:latin typeface="Arial"/>
                <a:cs typeface="Arial"/>
              </a:rPr>
              <a:t>women </a:t>
            </a:r>
            <a:r>
              <a:rPr dirty="0" sz="1200">
                <a:latin typeface="Arial"/>
                <a:cs typeface="Arial"/>
              </a:rPr>
              <a:t>and </a:t>
            </a:r>
            <a:r>
              <a:rPr dirty="0" sz="1200" spc="-5">
                <a:latin typeface="Arial"/>
                <a:cs typeface="Arial"/>
              </a:rPr>
              <a:t>children slaves. Men </a:t>
            </a:r>
            <a:r>
              <a:rPr dirty="0" sz="1200" spc="-10">
                <a:latin typeface="Arial"/>
                <a:cs typeface="Arial"/>
              </a:rPr>
              <a:t>were  </a:t>
            </a:r>
            <a:r>
              <a:rPr dirty="0" sz="1200" spc="-5">
                <a:latin typeface="Arial"/>
                <a:cs typeface="Arial"/>
              </a:rPr>
              <a:t>reserved </a:t>
            </a:r>
            <a:r>
              <a:rPr dirty="0" sz="1200">
                <a:latin typeface="Arial"/>
                <a:cs typeface="Arial"/>
              </a:rPr>
              <a:t>for market </a:t>
            </a:r>
            <a:r>
              <a:rPr dirty="0" sz="1200" spc="-5">
                <a:latin typeface="Arial"/>
                <a:cs typeface="Arial"/>
              </a:rPr>
              <a:t>works, </a:t>
            </a:r>
            <a:r>
              <a:rPr dirty="0" sz="1200">
                <a:latin typeface="Arial"/>
                <a:cs typeface="Arial"/>
              </a:rPr>
              <a:t>business </a:t>
            </a:r>
            <a:r>
              <a:rPr dirty="0" sz="1200" spc="-5">
                <a:latin typeface="Arial"/>
                <a:cs typeface="Arial"/>
              </a:rPr>
              <a:t>and cultivation. </a:t>
            </a:r>
            <a:r>
              <a:rPr dirty="0" sz="1200">
                <a:latin typeface="Arial"/>
                <a:cs typeface="Arial"/>
              </a:rPr>
              <a:t>Women </a:t>
            </a:r>
            <a:r>
              <a:rPr dirty="0" sz="1200" spc="-5">
                <a:latin typeface="Arial"/>
                <a:cs typeface="Arial"/>
              </a:rPr>
              <a:t>were </a:t>
            </a:r>
            <a:r>
              <a:rPr dirty="0" sz="1200">
                <a:latin typeface="Arial"/>
                <a:cs typeface="Arial"/>
              </a:rPr>
              <a:t>kept </a:t>
            </a:r>
            <a:r>
              <a:rPr dirty="0" sz="1200" spc="-5">
                <a:latin typeface="Arial"/>
                <a:cs typeface="Arial"/>
              </a:rPr>
              <a:t>as maids, </a:t>
            </a:r>
            <a:r>
              <a:rPr dirty="0" sz="1200" spc="-10">
                <a:latin typeface="Arial"/>
                <a:cs typeface="Arial"/>
              </a:rPr>
              <a:t>house  </a:t>
            </a:r>
            <a:r>
              <a:rPr dirty="0" sz="1200" spc="-5">
                <a:latin typeface="Arial"/>
                <a:cs typeface="Arial"/>
              </a:rPr>
              <a:t>cores and </a:t>
            </a:r>
            <a:r>
              <a:rPr dirty="0" sz="1200" spc="-10">
                <a:latin typeface="Arial"/>
                <a:cs typeface="Arial"/>
              </a:rPr>
              <a:t>sexual </a:t>
            </a:r>
            <a:r>
              <a:rPr dirty="0" sz="1200" spc="-5">
                <a:latin typeface="Arial"/>
                <a:cs typeface="Arial"/>
              </a:rPr>
              <a:t>satisfaction. Children were meant </a:t>
            </a:r>
            <a:r>
              <a:rPr dirty="0" sz="1200">
                <a:latin typeface="Arial"/>
                <a:cs typeface="Arial"/>
              </a:rPr>
              <a:t>for </a:t>
            </a:r>
            <a:r>
              <a:rPr dirty="0" sz="1200" spc="-5">
                <a:latin typeface="Arial"/>
                <a:cs typeface="Arial"/>
              </a:rPr>
              <a:t>helping </a:t>
            </a:r>
            <a:r>
              <a:rPr dirty="0" sz="1200">
                <a:latin typeface="Arial"/>
                <a:cs typeface="Arial"/>
              </a:rPr>
              <a:t>the </a:t>
            </a:r>
            <a:r>
              <a:rPr dirty="0" sz="1200" spc="-10">
                <a:latin typeface="Arial"/>
                <a:cs typeface="Arial"/>
              </a:rPr>
              <a:t>wives </a:t>
            </a:r>
            <a:r>
              <a:rPr dirty="0" sz="1200">
                <a:latin typeface="Arial"/>
                <a:cs typeface="Arial"/>
              </a:rPr>
              <a:t>of </a:t>
            </a:r>
            <a:r>
              <a:rPr dirty="0" sz="1200" spc="-5">
                <a:latin typeface="Arial"/>
                <a:cs typeface="Arial"/>
              </a:rPr>
              <a:t>rich Arabs </a:t>
            </a:r>
            <a:r>
              <a:rPr dirty="0" sz="1200" spc="-10">
                <a:latin typeface="Arial"/>
                <a:cs typeface="Arial"/>
              </a:rPr>
              <a:t>and  </a:t>
            </a:r>
            <a:r>
              <a:rPr dirty="0" sz="1200">
                <a:latin typeface="Arial"/>
                <a:cs typeface="Arial"/>
              </a:rPr>
              <a:t>for </a:t>
            </a:r>
            <a:r>
              <a:rPr dirty="0" sz="1200" spc="-5">
                <a:latin typeface="Arial"/>
                <a:cs typeface="Arial"/>
              </a:rPr>
              <a:t>sexual infanticide. The lives </a:t>
            </a:r>
            <a:r>
              <a:rPr dirty="0" sz="1200">
                <a:latin typeface="Arial"/>
                <a:cs typeface="Arial"/>
              </a:rPr>
              <a:t>of </a:t>
            </a:r>
            <a:r>
              <a:rPr dirty="0" sz="1200" spc="-5">
                <a:latin typeface="Arial"/>
                <a:cs typeface="Arial"/>
              </a:rPr>
              <a:t>these slaves depended on </a:t>
            </a:r>
            <a:r>
              <a:rPr dirty="0" sz="1200">
                <a:latin typeface="Arial"/>
                <a:cs typeface="Arial"/>
              </a:rPr>
              <a:t>the </a:t>
            </a:r>
            <a:r>
              <a:rPr dirty="0" sz="1200" spc="-5">
                <a:latin typeface="Arial"/>
                <a:cs typeface="Arial"/>
              </a:rPr>
              <a:t>mood and character of their  masters. Men were the owners </a:t>
            </a:r>
            <a:r>
              <a:rPr dirty="0" sz="1200">
                <a:latin typeface="Arial"/>
                <a:cs typeface="Arial"/>
              </a:rPr>
              <a:t>and </a:t>
            </a:r>
            <a:r>
              <a:rPr dirty="0" sz="1200" spc="-5">
                <a:latin typeface="Arial"/>
                <a:cs typeface="Arial"/>
              </a:rPr>
              <a:t>decision </a:t>
            </a:r>
            <a:r>
              <a:rPr dirty="0" sz="1200">
                <a:latin typeface="Arial"/>
                <a:cs typeface="Arial"/>
              </a:rPr>
              <a:t>makers </a:t>
            </a:r>
            <a:r>
              <a:rPr dirty="0" sz="1200" spc="-5">
                <a:latin typeface="Arial"/>
                <a:cs typeface="Arial"/>
              </a:rPr>
              <a:t>of </a:t>
            </a:r>
            <a:r>
              <a:rPr dirty="0" sz="1200">
                <a:latin typeface="Arial"/>
                <a:cs typeface="Arial"/>
              </a:rPr>
              <a:t>Macca. </a:t>
            </a:r>
            <a:r>
              <a:rPr dirty="0" sz="1200" spc="-5">
                <a:latin typeface="Arial"/>
                <a:cs typeface="Arial"/>
              </a:rPr>
              <a:t>They were </a:t>
            </a:r>
            <a:r>
              <a:rPr dirty="0" sz="1200" spc="10">
                <a:latin typeface="Arial"/>
                <a:cs typeface="Arial"/>
              </a:rPr>
              <a:t>the </a:t>
            </a:r>
            <a:r>
              <a:rPr dirty="0" sz="1200">
                <a:latin typeface="Arial"/>
                <a:cs typeface="Arial"/>
              </a:rPr>
              <a:t>ones to </a:t>
            </a:r>
            <a:r>
              <a:rPr dirty="0" sz="1200" spc="-5">
                <a:latin typeface="Arial"/>
                <a:cs typeface="Arial"/>
              </a:rPr>
              <a:t>decide  on any of </a:t>
            </a:r>
            <a:r>
              <a:rPr dirty="0" sz="1200">
                <a:latin typeface="Arial"/>
                <a:cs typeface="Arial"/>
              </a:rPr>
              <a:t>the </a:t>
            </a:r>
            <a:r>
              <a:rPr dirty="0" sz="1200" spc="-5">
                <a:latin typeface="Arial"/>
                <a:cs typeface="Arial"/>
              </a:rPr>
              <a:t>activities </a:t>
            </a:r>
            <a:r>
              <a:rPr dirty="0" sz="1200">
                <a:latin typeface="Arial"/>
                <a:cs typeface="Arial"/>
              </a:rPr>
              <a:t>of </a:t>
            </a:r>
            <a:r>
              <a:rPr dirty="0" sz="1200" spc="-5">
                <a:latin typeface="Arial"/>
                <a:cs typeface="Arial"/>
              </a:rPr>
              <a:t>Arabia. They were </a:t>
            </a:r>
            <a:r>
              <a:rPr dirty="0" sz="1200">
                <a:latin typeface="Arial"/>
                <a:cs typeface="Arial"/>
              </a:rPr>
              <a:t>the </a:t>
            </a:r>
            <a:r>
              <a:rPr dirty="0" sz="1200" spc="-5">
                <a:latin typeface="Arial"/>
                <a:cs typeface="Arial"/>
              </a:rPr>
              <a:t>masters and </a:t>
            </a:r>
            <a:r>
              <a:rPr dirty="0" sz="1200" spc="-10">
                <a:latin typeface="Arial"/>
                <a:cs typeface="Arial"/>
              </a:rPr>
              <a:t>had </a:t>
            </a:r>
            <a:r>
              <a:rPr dirty="0" sz="1200">
                <a:latin typeface="Arial"/>
                <a:cs typeface="Arial"/>
              </a:rPr>
              <a:t>the </a:t>
            </a:r>
            <a:r>
              <a:rPr dirty="0" sz="1200" spc="-5">
                <a:latin typeface="Arial"/>
                <a:cs typeface="Arial"/>
              </a:rPr>
              <a:t>rights </a:t>
            </a:r>
            <a:r>
              <a:rPr dirty="0" sz="1200">
                <a:latin typeface="Arial"/>
                <a:cs typeface="Arial"/>
              </a:rPr>
              <a:t>to </a:t>
            </a:r>
            <a:r>
              <a:rPr dirty="0" sz="1200" spc="-5">
                <a:latin typeface="Arial"/>
                <a:cs typeface="Arial"/>
              </a:rPr>
              <a:t>get married  and divorce </a:t>
            </a:r>
            <a:r>
              <a:rPr dirty="0" sz="1200">
                <a:latin typeface="Arial"/>
                <a:cs typeface="Arial"/>
              </a:rPr>
              <a:t>at </a:t>
            </a:r>
            <a:r>
              <a:rPr dirty="0" sz="1200" spc="-10">
                <a:latin typeface="Arial"/>
                <a:cs typeface="Arial"/>
              </a:rPr>
              <a:t>will </a:t>
            </a:r>
            <a:r>
              <a:rPr dirty="0" sz="1200" spc="-5">
                <a:latin typeface="Arial"/>
                <a:cs typeface="Arial"/>
              </a:rPr>
              <a:t>and </a:t>
            </a:r>
            <a:r>
              <a:rPr dirty="0" sz="1200">
                <a:latin typeface="Arial"/>
                <a:cs typeface="Arial"/>
              </a:rPr>
              <a:t>at </a:t>
            </a:r>
            <a:r>
              <a:rPr dirty="0" sz="1200" spc="-5">
                <a:latin typeface="Arial"/>
                <a:cs typeface="Arial"/>
              </a:rPr>
              <a:t>any</a:t>
            </a:r>
            <a:r>
              <a:rPr dirty="0" sz="1200" spc="-15">
                <a:latin typeface="Arial"/>
                <a:cs typeface="Arial"/>
              </a:rPr>
              <a:t> </a:t>
            </a:r>
            <a:r>
              <a:rPr dirty="0" sz="1200">
                <a:latin typeface="Arial"/>
                <a:cs typeface="Arial"/>
              </a:rPr>
              <a:t>time.</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Economic Conditions</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spc="-5">
                <a:latin typeface="Arial"/>
                <a:cs typeface="Arial"/>
              </a:rPr>
              <a:t>The economy </a:t>
            </a:r>
            <a:r>
              <a:rPr dirty="0" sz="1200">
                <a:latin typeface="Arial"/>
                <a:cs typeface="Arial"/>
              </a:rPr>
              <a:t>of </a:t>
            </a:r>
            <a:r>
              <a:rPr dirty="0" sz="1200" spc="-5">
                <a:latin typeface="Arial"/>
                <a:cs typeface="Arial"/>
              </a:rPr>
              <a:t>Arabia depended </a:t>
            </a:r>
            <a:r>
              <a:rPr dirty="0" sz="1200">
                <a:latin typeface="Arial"/>
                <a:cs typeface="Arial"/>
              </a:rPr>
              <a:t>on </a:t>
            </a:r>
            <a:r>
              <a:rPr dirty="0" sz="1200" spc="-5">
                <a:latin typeface="Arial"/>
                <a:cs typeface="Arial"/>
              </a:rPr>
              <a:t>several </a:t>
            </a:r>
            <a:r>
              <a:rPr dirty="0" sz="1200">
                <a:latin typeface="Arial"/>
                <a:cs typeface="Arial"/>
              </a:rPr>
              <a:t>sectors </a:t>
            </a:r>
            <a:r>
              <a:rPr dirty="0" sz="1200" spc="-5">
                <a:latin typeface="Arial"/>
                <a:cs typeface="Arial"/>
              </a:rPr>
              <a:t>like agriculture, industries, markets and  business. Agriculturally speaking, </a:t>
            </a:r>
            <a:r>
              <a:rPr dirty="0" sz="1200">
                <a:latin typeface="Arial"/>
                <a:cs typeface="Arial"/>
              </a:rPr>
              <a:t>the </a:t>
            </a:r>
            <a:r>
              <a:rPr dirty="0" sz="1200" spc="-5">
                <a:latin typeface="Arial"/>
                <a:cs typeface="Arial"/>
              </a:rPr>
              <a:t>land of Macca </a:t>
            </a:r>
            <a:r>
              <a:rPr dirty="0" sz="1200" spc="-10">
                <a:latin typeface="Arial"/>
                <a:cs typeface="Arial"/>
              </a:rPr>
              <a:t>was </a:t>
            </a:r>
            <a:r>
              <a:rPr dirty="0" sz="1200" spc="-5">
                <a:latin typeface="Arial"/>
                <a:cs typeface="Arial"/>
              </a:rPr>
              <a:t>not fertile and only </a:t>
            </a:r>
            <a:r>
              <a:rPr dirty="0" sz="1200">
                <a:latin typeface="Arial"/>
                <a:cs typeface="Arial"/>
              </a:rPr>
              <a:t>dates </a:t>
            </a:r>
            <a:r>
              <a:rPr dirty="0" sz="1200" spc="-5">
                <a:latin typeface="Arial"/>
                <a:cs typeface="Arial"/>
              </a:rPr>
              <a:t>were able  </a:t>
            </a:r>
            <a:r>
              <a:rPr dirty="0" sz="1200">
                <a:latin typeface="Arial"/>
                <a:cs typeface="Arial"/>
              </a:rPr>
              <a:t>to be </a:t>
            </a:r>
            <a:r>
              <a:rPr dirty="0" sz="1200" spc="-5">
                <a:latin typeface="Arial"/>
                <a:cs typeface="Arial"/>
              </a:rPr>
              <a:t>cultivated. </a:t>
            </a:r>
            <a:r>
              <a:rPr dirty="0" sz="1200">
                <a:latin typeface="Arial"/>
                <a:cs typeface="Arial"/>
              </a:rPr>
              <a:t>They </a:t>
            </a:r>
            <a:r>
              <a:rPr dirty="0" sz="1200" spc="-5">
                <a:latin typeface="Arial"/>
                <a:cs typeface="Arial"/>
              </a:rPr>
              <a:t>were </a:t>
            </a:r>
            <a:r>
              <a:rPr dirty="0" sz="1200">
                <a:latin typeface="Arial"/>
                <a:cs typeface="Arial"/>
              </a:rPr>
              <a:t>thus used </a:t>
            </a:r>
            <a:r>
              <a:rPr dirty="0" sz="1200" spc="-5">
                <a:latin typeface="Arial"/>
                <a:cs typeface="Arial"/>
              </a:rPr>
              <a:t>locally. The land of Madina and Ta‘if was </a:t>
            </a:r>
            <a:r>
              <a:rPr dirty="0" sz="1200">
                <a:latin typeface="Arial"/>
                <a:cs typeface="Arial"/>
              </a:rPr>
              <a:t>much </a:t>
            </a:r>
            <a:r>
              <a:rPr dirty="0" sz="1200" spc="-5">
                <a:latin typeface="Arial"/>
                <a:cs typeface="Arial"/>
              </a:rPr>
              <a:t>fertile  and products like dates, grapes, barley, wheat, rice as such were cultivated. </a:t>
            </a:r>
            <a:r>
              <a:rPr dirty="0" sz="1200">
                <a:latin typeface="Arial"/>
                <a:cs typeface="Arial"/>
              </a:rPr>
              <a:t>They </a:t>
            </a:r>
            <a:r>
              <a:rPr dirty="0" sz="1200" spc="-5">
                <a:latin typeface="Arial"/>
                <a:cs typeface="Arial"/>
              </a:rPr>
              <a:t>were used  </a:t>
            </a:r>
            <a:r>
              <a:rPr dirty="0" sz="1200">
                <a:latin typeface="Arial"/>
                <a:cs typeface="Arial"/>
              </a:rPr>
              <a:t>both </a:t>
            </a:r>
            <a:r>
              <a:rPr dirty="0" sz="1200" spc="-5">
                <a:latin typeface="Arial"/>
                <a:cs typeface="Arial"/>
              </a:rPr>
              <a:t>locally </a:t>
            </a:r>
            <a:r>
              <a:rPr dirty="0" sz="1200">
                <a:latin typeface="Arial"/>
                <a:cs typeface="Arial"/>
              </a:rPr>
              <a:t>and for </a:t>
            </a:r>
            <a:r>
              <a:rPr dirty="0" sz="1200" spc="-5">
                <a:latin typeface="Arial"/>
                <a:cs typeface="Arial"/>
              </a:rPr>
              <a:t>export. Ta‘if was known </a:t>
            </a:r>
            <a:r>
              <a:rPr dirty="0" sz="1200">
                <a:latin typeface="Arial"/>
                <a:cs typeface="Arial"/>
              </a:rPr>
              <a:t>as </a:t>
            </a:r>
            <a:r>
              <a:rPr dirty="0" sz="1200" spc="-5">
                <a:latin typeface="Arial"/>
                <a:cs typeface="Arial"/>
              </a:rPr>
              <a:t>the industrial </a:t>
            </a:r>
            <a:r>
              <a:rPr dirty="0" sz="1200">
                <a:latin typeface="Arial"/>
                <a:cs typeface="Arial"/>
              </a:rPr>
              <a:t>city </a:t>
            </a:r>
            <a:r>
              <a:rPr dirty="0" sz="1200" spc="-5">
                <a:latin typeface="Arial"/>
                <a:cs typeface="Arial"/>
              </a:rPr>
              <a:t>where </a:t>
            </a:r>
            <a:r>
              <a:rPr dirty="0" sz="1200">
                <a:latin typeface="Arial"/>
                <a:cs typeface="Arial"/>
              </a:rPr>
              <a:t>skins </a:t>
            </a:r>
            <a:r>
              <a:rPr dirty="0" sz="1200" spc="-5">
                <a:latin typeface="Arial"/>
                <a:cs typeface="Arial"/>
              </a:rPr>
              <a:t>of dead animals  were transported there </a:t>
            </a:r>
            <a:r>
              <a:rPr dirty="0" sz="1200" spc="5">
                <a:latin typeface="Arial"/>
                <a:cs typeface="Arial"/>
              </a:rPr>
              <a:t>for </a:t>
            </a:r>
            <a:r>
              <a:rPr dirty="0" sz="1200" spc="-5">
                <a:latin typeface="Arial"/>
                <a:cs typeface="Arial"/>
              </a:rPr>
              <a:t>treatment in various tanneries and then in industries </a:t>
            </a:r>
            <a:r>
              <a:rPr dirty="0" sz="1200">
                <a:latin typeface="Arial"/>
                <a:cs typeface="Arial"/>
              </a:rPr>
              <a:t>for </a:t>
            </a:r>
            <a:r>
              <a:rPr dirty="0" sz="1200" spc="-5">
                <a:latin typeface="Arial"/>
                <a:cs typeface="Arial"/>
              </a:rPr>
              <a:t>production  of bags, shoes, belts and luxuries </a:t>
            </a:r>
            <a:r>
              <a:rPr dirty="0" sz="1200" spc="5">
                <a:latin typeface="Arial"/>
                <a:cs typeface="Arial"/>
              </a:rPr>
              <a:t>and </a:t>
            </a:r>
            <a:r>
              <a:rPr dirty="0" sz="1200" spc="-5">
                <a:latin typeface="Arial"/>
                <a:cs typeface="Arial"/>
              </a:rPr>
              <a:t>fantasies. </a:t>
            </a:r>
            <a:r>
              <a:rPr dirty="0" sz="1200">
                <a:latin typeface="Arial"/>
                <a:cs typeface="Arial"/>
              </a:rPr>
              <a:t>There </a:t>
            </a:r>
            <a:r>
              <a:rPr dirty="0" sz="1200" spc="-5">
                <a:latin typeface="Arial"/>
                <a:cs typeface="Arial"/>
              </a:rPr>
              <a:t>were </a:t>
            </a:r>
            <a:r>
              <a:rPr dirty="0" sz="1200">
                <a:latin typeface="Arial"/>
                <a:cs typeface="Arial"/>
              </a:rPr>
              <a:t>three kinds </a:t>
            </a:r>
            <a:r>
              <a:rPr dirty="0" sz="1200" spc="-5">
                <a:latin typeface="Arial"/>
                <a:cs typeface="Arial"/>
              </a:rPr>
              <a:t>of markets. The  common market </a:t>
            </a:r>
            <a:r>
              <a:rPr dirty="0" sz="1200" spc="-10">
                <a:latin typeface="Arial"/>
                <a:cs typeface="Arial"/>
              </a:rPr>
              <a:t>was </a:t>
            </a:r>
            <a:r>
              <a:rPr dirty="0" sz="1200" spc="-5">
                <a:latin typeface="Arial"/>
                <a:cs typeface="Arial"/>
              </a:rPr>
              <a:t>used by each and </a:t>
            </a:r>
            <a:r>
              <a:rPr dirty="0" sz="1200" spc="-10">
                <a:latin typeface="Arial"/>
                <a:cs typeface="Arial"/>
              </a:rPr>
              <a:t>every </a:t>
            </a:r>
            <a:r>
              <a:rPr dirty="0" sz="1200">
                <a:latin typeface="Arial"/>
                <a:cs typeface="Arial"/>
              </a:rPr>
              <a:t>one. </a:t>
            </a:r>
            <a:r>
              <a:rPr dirty="0" sz="1200" spc="-5">
                <a:latin typeface="Arial"/>
                <a:cs typeface="Arial"/>
              </a:rPr>
              <a:t>All Arabs had access therein. </a:t>
            </a:r>
            <a:r>
              <a:rPr dirty="0" sz="1200">
                <a:latin typeface="Arial"/>
                <a:cs typeface="Arial"/>
              </a:rPr>
              <a:t>The </a:t>
            </a:r>
            <a:r>
              <a:rPr dirty="0" sz="1200" spc="-5">
                <a:latin typeface="Arial"/>
                <a:cs typeface="Arial"/>
              </a:rPr>
              <a:t>slave  </a:t>
            </a:r>
            <a:r>
              <a:rPr dirty="0" sz="1200">
                <a:latin typeface="Arial"/>
                <a:cs typeface="Arial"/>
              </a:rPr>
              <a:t>market</a:t>
            </a:r>
            <a:r>
              <a:rPr dirty="0" sz="1200" spc="30">
                <a:latin typeface="Arial"/>
                <a:cs typeface="Arial"/>
              </a:rPr>
              <a:t> </a:t>
            </a:r>
            <a:r>
              <a:rPr dirty="0" sz="1200" spc="-10">
                <a:latin typeface="Arial"/>
                <a:cs typeface="Arial"/>
              </a:rPr>
              <a:t>was</a:t>
            </a:r>
            <a:r>
              <a:rPr dirty="0" sz="1200" spc="35">
                <a:latin typeface="Arial"/>
                <a:cs typeface="Arial"/>
              </a:rPr>
              <a:t> </a:t>
            </a:r>
            <a:r>
              <a:rPr dirty="0" sz="1200" spc="-5">
                <a:latin typeface="Arial"/>
                <a:cs typeface="Arial"/>
              </a:rPr>
              <a:t>meant</a:t>
            </a:r>
            <a:r>
              <a:rPr dirty="0" sz="1200" spc="20">
                <a:latin typeface="Arial"/>
                <a:cs typeface="Arial"/>
              </a:rPr>
              <a:t> </a:t>
            </a:r>
            <a:r>
              <a:rPr dirty="0" sz="1200">
                <a:latin typeface="Arial"/>
                <a:cs typeface="Arial"/>
              </a:rPr>
              <a:t>for</a:t>
            </a:r>
            <a:r>
              <a:rPr dirty="0" sz="1200" spc="30">
                <a:latin typeface="Arial"/>
                <a:cs typeface="Arial"/>
              </a:rPr>
              <a:t> </a:t>
            </a:r>
            <a:r>
              <a:rPr dirty="0" sz="1200">
                <a:latin typeface="Arial"/>
                <a:cs typeface="Arial"/>
              </a:rPr>
              <a:t>the</a:t>
            </a:r>
            <a:r>
              <a:rPr dirty="0" sz="1200" spc="35">
                <a:latin typeface="Arial"/>
                <a:cs typeface="Arial"/>
              </a:rPr>
              <a:t> </a:t>
            </a:r>
            <a:r>
              <a:rPr dirty="0" sz="1200" spc="-5">
                <a:latin typeface="Arial"/>
                <a:cs typeface="Arial"/>
              </a:rPr>
              <a:t>buying</a:t>
            </a:r>
            <a:r>
              <a:rPr dirty="0" sz="1200" spc="25">
                <a:latin typeface="Arial"/>
                <a:cs typeface="Arial"/>
              </a:rPr>
              <a:t> </a:t>
            </a:r>
            <a:r>
              <a:rPr dirty="0" sz="1200" spc="-5">
                <a:latin typeface="Arial"/>
                <a:cs typeface="Arial"/>
              </a:rPr>
              <a:t>and</a:t>
            </a:r>
            <a:r>
              <a:rPr dirty="0" sz="1200" spc="35">
                <a:latin typeface="Arial"/>
                <a:cs typeface="Arial"/>
              </a:rPr>
              <a:t> </a:t>
            </a:r>
            <a:r>
              <a:rPr dirty="0" sz="1200" spc="-5">
                <a:latin typeface="Arial"/>
                <a:cs typeface="Arial"/>
              </a:rPr>
              <a:t>selling</a:t>
            </a:r>
            <a:r>
              <a:rPr dirty="0" sz="1200" spc="40">
                <a:latin typeface="Arial"/>
                <a:cs typeface="Arial"/>
              </a:rPr>
              <a:t> </a:t>
            </a:r>
            <a:r>
              <a:rPr dirty="0" sz="1200" spc="-5">
                <a:latin typeface="Arial"/>
                <a:cs typeface="Arial"/>
              </a:rPr>
              <a:t>of</a:t>
            </a:r>
            <a:r>
              <a:rPr dirty="0" sz="1200" spc="40">
                <a:latin typeface="Arial"/>
                <a:cs typeface="Arial"/>
              </a:rPr>
              <a:t> </a:t>
            </a:r>
            <a:r>
              <a:rPr dirty="0" sz="1200" spc="-5">
                <a:latin typeface="Arial"/>
                <a:cs typeface="Arial"/>
              </a:rPr>
              <a:t>slaves</a:t>
            </a:r>
            <a:r>
              <a:rPr dirty="0" sz="1200" spc="35">
                <a:latin typeface="Arial"/>
                <a:cs typeface="Arial"/>
              </a:rPr>
              <a:t> </a:t>
            </a:r>
            <a:r>
              <a:rPr dirty="0" sz="1200" spc="-5">
                <a:latin typeface="Arial"/>
                <a:cs typeface="Arial"/>
              </a:rPr>
              <a:t>and</a:t>
            </a:r>
            <a:r>
              <a:rPr dirty="0" sz="1200" spc="35">
                <a:latin typeface="Arial"/>
                <a:cs typeface="Arial"/>
              </a:rPr>
              <a:t> </a:t>
            </a:r>
            <a:r>
              <a:rPr dirty="0" sz="1200" spc="-10">
                <a:latin typeface="Arial"/>
                <a:cs typeface="Arial"/>
              </a:rPr>
              <a:t>was</a:t>
            </a:r>
            <a:r>
              <a:rPr dirty="0" sz="1200" spc="30">
                <a:latin typeface="Arial"/>
                <a:cs typeface="Arial"/>
              </a:rPr>
              <a:t> </a:t>
            </a:r>
            <a:r>
              <a:rPr dirty="0" sz="1200" spc="-5">
                <a:latin typeface="Arial"/>
                <a:cs typeface="Arial"/>
              </a:rPr>
              <a:t>occupied</a:t>
            </a:r>
            <a:r>
              <a:rPr dirty="0" sz="1200" spc="25">
                <a:latin typeface="Arial"/>
                <a:cs typeface="Arial"/>
              </a:rPr>
              <a:t> </a:t>
            </a:r>
            <a:r>
              <a:rPr dirty="0" sz="1200" spc="-5">
                <a:latin typeface="Arial"/>
                <a:cs typeface="Arial"/>
              </a:rPr>
              <a:t>by</a:t>
            </a:r>
            <a:r>
              <a:rPr dirty="0" sz="1200" spc="20">
                <a:latin typeface="Arial"/>
                <a:cs typeface="Arial"/>
              </a:rPr>
              <a:t> </a:t>
            </a:r>
            <a:r>
              <a:rPr dirty="0" sz="1200">
                <a:latin typeface="Arial"/>
                <a:cs typeface="Arial"/>
              </a:rPr>
              <a:t>the</a:t>
            </a:r>
            <a:r>
              <a:rPr dirty="0" sz="1200" spc="30">
                <a:latin typeface="Arial"/>
                <a:cs typeface="Arial"/>
              </a:rPr>
              <a:t> </a:t>
            </a:r>
            <a:r>
              <a:rPr dirty="0" sz="1200" spc="-5">
                <a:latin typeface="Arial"/>
                <a:cs typeface="Arial"/>
              </a:rPr>
              <a:t>middle</a:t>
            </a:r>
            <a:r>
              <a:rPr dirty="0" sz="1200" spc="35">
                <a:latin typeface="Arial"/>
                <a:cs typeface="Arial"/>
              </a:rPr>
              <a:t> </a:t>
            </a:r>
            <a:r>
              <a:rPr dirty="0" sz="1200" spc="-5">
                <a:latin typeface="Arial"/>
                <a:cs typeface="Arial"/>
              </a:rPr>
              <a:t>class</a:t>
            </a:r>
            <a:endParaRPr sz="12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933831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9525">
              <a:lnSpc>
                <a:spcPts val="1380"/>
              </a:lnSpc>
            </a:pPr>
            <a:r>
              <a:rPr dirty="0" sz="1200" spc="-5">
                <a:latin typeface="Arial"/>
                <a:cs typeface="Arial"/>
              </a:rPr>
              <a:t>and rich people. The aristocrat market </a:t>
            </a:r>
            <a:r>
              <a:rPr dirty="0" sz="1200" spc="-10">
                <a:latin typeface="Arial"/>
                <a:cs typeface="Arial"/>
              </a:rPr>
              <a:t>was </a:t>
            </a:r>
            <a:r>
              <a:rPr dirty="0" sz="1200" spc="-5">
                <a:latin typeface="Arial"/>
                <a:cs typeface="Arial"/>
              </a:rPr>
              <a:t>meant only </a:t>
            </a:r>
            <a:r>
              <a:rPr dirty="0" sz="1200">
                <a:latin typeface="Arial"/>
                <a:cs typeface="Arial"/>
              </a:rPr>
              <a:t>for </a:t>
            </a:r>
            <a:r>
              <a:rPr dirty="0" sz="1200" spc="-5">
                <a:latin typeface="Arial"/>
                <a:cs typeface="Arial"/>
              </a:rPr>
              <a:t>the rich where only luxuries were  sold. Levies were imposed on anyone, such as travellers, foreigners and caravans </a:t>
            </a:r>
            <a:r>
              <a:rPr dirty="0" sz="1200">
                <a:latin typeface="Arial"/>
                <a:cs typeface="Arial"/>
              </a:rPr>
              <a:t>for  </a:t>
            </a:r>
            <a:r>
              <a:rPr dirty="0" sz="1200" spc="-5">
                <a:latin typeface="Arial"/>
                <a:cs typeface="Arial"/>
              </a:rPr>
              <a:t>entering, staying and leaving </a:t>
            </a:r>
            <a:r>
              <a:rPr dirty="0" sz="1200">
                <a:latin typeface="Arial"/>
                <a:cs typeface="Arial"/>
              </a:rPr>
              <a:t>the city </a:t>
            </a:r>
            <a:r>
              <a:rPr dirty="0" sz="1200" spc="-5">
                <a:latin typeface="Arial"/>
                <a:cs typeface="Arial"/>
              </a:rPr>
              <a:t>of Macca. Bribes were common among them</a:t>
            </a:r>
            <a:r>
              <a:rPr dirty="0" sz="1200" spc="320">
                <a:latin typeface="Arial"/>
                <a:cs typeface="Arial"/>
              </a:rPr>
              <a:t> </a:t>
            </a:r>
            <a:r>
              <a:rPr dirty="0" sz="1200">
                <a:latin typeface="Arial"/>
                <a:cs typeface="Arial"/>
              </a:rPr>
              <a:t>for</a:t>
            </a:r>
            <a:endParaRPr sz="1200">
              <a:latin typeface="Arial"/>
              <a:cs typeface="Arial"/>
            </a:endParaRPr>
          </a:p>
          <a:p>
            <a:pPr algn="just" marL="12700" marR="10795">
              <a:lnSpc>
                <a:spcPts val="1380"/>
              </a:lnSpc>
              <a:spcBef>
                <a:spcPts val="5"/>
              </a:spcBef>
            </a:pPr>
            <a:r>
              <a:rPr dirty="0" sz="1200" spc="-85">
                <a:latin typeface="Arial"/>
                <a:cs typeface="Arial"/>
              </a:rPr>
              <a:t>―progress‖. </a:t>
            </a:r>
            <a:r>
              <a:rPr dirty="0" sz="1200" spc="-5">
                <a:latin typeface="Arial"/>
                <a:cs typeface="Arial"/>
              </a:rPr>
              <a:t>High </a:t>
            </a:r>
            <a:r>
              <a:rPr dirty="0" sz="1200">
                <a:latin typeface="Arial"/>
                <a:cs typeface="Arial"/>
              </a:rPr>
              <a:t>rate of </a:t>
            </a:r>
            <a:r>
              <a:rPr dirty="0" sz="1200" spc="-5">
                <a:latin typeface="Arial"/>
                <a:cs typeface="Arial"/>
              </a:rPr>
              <a:t>interest </a:t>
            </a:r>
            <a:r>
              <a:rPr dirty="0" sz="1200" spc="-10">
                <a:latin typeface="Arial"/>
                <a:cs typeface="Arial"/>
              </a:rPr>
              <a:t>was </a:t>
            </a:r>
            <a:r>
              <a:rPr dirty="0" sz="1200" spc="-5">
                <a:latin typeface="Arial"/>
                <a:cs typeface="Arial"/>
              </a:rPr>
              <a:t>imposed on the borrowers. Each year </a:t>
            </a:r>
            <a:r>
              <a:rPr dirty="0" sz="1200">
                <a:latin typeface="Arial"/>
                <a:cs typeface="Arial"/>
              </a:rPr>
              <a:t>it </a:t>
            </a:r>
            <a:r>
              <a:rPr dirty="0" sz="1200" spc="-5">
                <a:latin typeface="Arial"/>
                <a:cs typeface="Arial"/>
              </a:rPr>
              <a:t>would increase  by one hundred per cent and at the end of </a:t>
            </a:r>
            <a:r>
              <a:rPr dirty="0" sz="1200">
                <a:latin typeface="Arial"/>
                <a:cs typeface="Arial"/>
              </a:rPr>
              <a:t>the </a:t>
            </a:r>
            <a:r>
              <a:rPr dirty="0" sz="1200" spc="-5">
                <a:latin typeface="Arial"/>
                <a:cs typeface="Arial"/>
              </a:rPr>
              <a:t>third year, beginning </a:t>
            </a:r>
            <a:r>
              <a:rPr dirty="0" sz="1200">
                <a:latin typeface="Arial"/>
                <a:cs typeface="Arial"/>
              </a:rPr>
              <a:t>the fourth </a:t>
            </a:r>
            <a:r>
              <a:rPr dirty="0" sz="1200" spc="-5">
                <a:latin typeface="Arial"/>
                <a:cs typeface="Arial"/>
              </a:rPr>
              <a:t>year, </a:t>
            </a:r>
            <a:r>
              <a:rPr dirty="0" sz="1200" spc="-10">
                <a:latin typeface="Arial"/>
                <a:cs typeface="Arial"/>
              </a:rPr>
              <a:t>the  </a:t>
            </a:r>
            <a:r>
              <a:rPr dirty="0" sz="1200" spc="-5">
                <a:latin typeface="Arial"/>
                <a:cs typeface="Arial"/>
              </a:rPr>
              <a:t>properties of the borrower would become the properties of the lender, including wife and  </a:t>
            </a:r>
            <a:r>
              <a:rPr dirty="0" sz="1200">
                <a:latin typeface="Arial"/>
                <a:cs typeface="Arial"/>
              </a:rPr>
              <a:t>children. They </a:t>
            </a:r>
            <a:r>
              <a:rPr dirty="0" sz="1200" spc="-5">
                <a:latin typeface="Arial"/>
                <a:cs typeface="Arial"/>
              </a:rPr>
              <a:t>engaged in </a:t>
            </a:r>
            <a:r>
              <a:rPr dirty="0" sz="1200">
                <a:latin typeface="Arial"/>
                <a:cs typeface="Arial"/>
              </a:rPr>
              <a:t>business </a:t>
            </a:r>
            <a:r>
              <a:rPr dirty="0" sz="1200" spc="-5">
                <a:latin typeface="Arial"/>
                <a:cs typeface="Arial"/>
              </a:rPr>
              <a:t>with China </a:t>
            </a:r>
            <a:r>
              <a:rPr dirty="0" sz="1200">
                <a:latin typeface="Arial"/>
                <a:cs typeface="Arial"/>
              </a:rPr>
              <a:t>for </a:t>
            </a:r>
            <a:r>
              <a:rPr dirty="0" sz="1200" spc="-5">
                <a:latin typeface="Arial"/>
                <a:cs typeface="Arial"/>
              </a:rPr>
              <a:t>luxuries, </a:t>
            </a:r>
            <a:r>
              <a:rPr dirty="0" sz="1200">
                <a:latin typeface="Arial"/>
                <a:cs typeface="Arial"/>
              </a:rPr>
              <a:t>Africa for </a:t>
            </a:r>
            <a:r>
              <a:rPr dirty="0" sz="1200" spc="-5">
                <a:latin typeface="Arial"/>
                <a:cs typeface="Arial"/>
              </a:rPr>
              <a:t>crafts, </a:t>
            </a:r>
            <a:r>
              <a:rPr dirty="0" sz="1200" spc="-10">
                <a:latin typeface="Arial"/>
                <a:cs typeface="Arial"/>
              </a:rPr>
              <a:t>Syria </a:t>
            </a:r>
            <a:r>
              <a:rPr dirty="0" sz="1200">
                <a:latin typeface="Arial"/>
                <a:cs typeface="Arial"/>
              </a:rPr>
              <a:t>for </a:t>
            </a:r>
            <a:r>
              <a:rPr dirty="0" sz="1200" spc="-5">
                <a:latin typeface="Arial"/>
                <a:cs typeface="Arial"/>
              </a:rPr>
              <a:t>carpet  and </a:t>
            </a:r>
            <a:r>
              <a:rPr dirty="0" sz="1200">
                <a:latin typeface="Arial"/>
                <a:cs typeface="Arial"/>
              </a:rPr>
              <a:t>India for </a:t>
            </a:r>
            <a:r>
              <a:rPr dirty="0" sz="1200" spc="-5">
                <a:latin typeface="Arial"/>
                <a:cs typeface="Arial"/>
              </a:rPr>
              <a:t>spices. </a:t>
            </a:r>
            <a:r>
              <a:rPr dirty="0" sz="1200">
                <a:latin typeface="Arial"/>
                <a:cs typeface="Arial"/>
              </a:rPr>
              <a:t>There </a:t>
            </a:r>
            <a:r>
              <a:rPr dirty="0" sz="1200" spc="-5">
                <a:latin typeface="Arial"/>
                <a:cs typeface="Arial"/>
              </a:rPr>
              <a:t>were barter and monetary</a:t>
            </a:r>
            <a:r>
              <a:rPr dirty="0" sz="1200" spc="-45">
                <a:latin typeface="Arial"/>
                <a:cs typeface="Arial"/>
              </a:rPr>
              <a:t> </a:t>
            </a:r>
            <a:r>
              <a:rPr dirty="0" sz="1200">
                <a:latin typeface="Arial"/>
                <a:cs typeface="Arial"/>
              </a:rPr>
              <a:t>systems.</a:t>
            </a:r>
            <a:endParaRPr sz="1200">
              <a:latin typeface="Arial"/>
              <a:cs typeface="Arial"/>
            </a:endParaRPr>
          </a:p>
          <a:p>
            <a:pPr>
              <a:lnSpc>
                <a:spcPct val="100000"/>
              </a:lnSpc>
              <a:spcBef>
                <a:spcPts val="15"/>
              </a:spcBef>
            </a:pPr>
            <a:endParaRPr sz="1100">
              <a:latin typeface="Arial"/>
              <a:cs typeface="Arial"/>
            </a:endParaRPr>
          </a:p>
          <a:p>
            <a:pPr marL="12700">
              <a:lnSpc>
                <a:spcPct val="100000"/>
              </a:lnSpc>
              <a:spcBef>
                <a:spcPts val="5"/>
              </a:spcBef>
            </a:pPr>
            <a:r>
              <a:rPr dirty="0" u="heavy" sz="1200" spc="-5" b="1" i="1">
                <a:uFill>
                  <a:solidFill>
                    <a:srgbClr val="000000"/>
                  </a:solidFill>
                </a:uFill>
                <a:latin typeface="Arial"/>
                <a:cs typeface="Arial"/>
              </a:rPr>
              <a:t>Religious</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Conditions</a:t>
            </a:r>
            <a:endParaRPr sz="1200">
              <a:latin typeface="Arial"/>
              <a:cs typeface="Arial"/>
            </a:endParaRPr>
          </a:p>
          <a:p>
            <a:pPr>
              <a:lnSpc>
                <a:spcPct val="100000"/>
              </a:lnSpc>
              <a:spcBef>
                <a:spcPts val="55"/>
              </a:spcBef>
            </a:pPr>
            <a:endParaRPr sz="1150">
              <a:latin typeface="Arial"/>
              <a:cs typeface="Arial"/>
            </a:endParaRPr>
          </a:p>
          <a:p>
            <a:pPr algn="just" marL="12700" marR="5715">
              <a:lnSpc>
                <a:spcPct val="95900"/>
              </a:lnSpc>
            </a:pPr>
            <a:r>
              <a:rPr dirty="0" sz="1200" spc="-5">
                <a:latin typeface="Arial"/>
                <a:cs typeface="Arial"/>
              </a:rPr>
              <a:t>The religious aspects of pre Islamic </a:t>
            </a:r>
            <a:r>
              <a:rPr dirty="0" sz="1200" spc="-10">
                <a:latin typeface="Arial"/>
                <a:cs typeface="Arial"/>
              </a:rPr>
              <a:t>Arabia </a:t>
            </a:r>
            <a:r>
              <a:rPr dirty="0" sz="1200" spc="-5">
                <a:latin typeface="Arial"/>
                <a:cs typeface="Arial"/>
              </a:rPr>
              <a:t>were divided into different religions </a:t>
            </a:r>
            <a:r>
              <a:rPr dirty="0" sz="1200" spc="5">
                <a:latin typeface="Arial"/>
                <a:cs typeface="Arial"/>
              </a:rPr>
              <a:t>like  </a:t>
            </a:r>
            <a:r>
              <a:rPr dirty="0" sz="1200" spc="-5">
                <a:latin typeface="Arial"/>
                <a:cs typeface="Arial"/>
              </a:rPr>
              <a:t>polytheism, idol worshipping, Judaism, Christianity and Hanif. All of them knew about Allah  but most of them forgot Him and started </a:t>
            </a:r>
            <a:r>
              <a:rPr dirty="0" sz="1200">
                <a:latin typeface="Arial"/>
                <a:cs typeface="Arial"/>
              </a:rPr>
              <a:t>to </a:t>
            </a:r>
            <a:r>
              <a:rPr dirty="0" sz="1200" spc="-5">
                <a:latin typeface="Arial"/>
                <a:cs typeface="Arial"/>
              </a:rPr>
              <a:t>worship </a:t>
            </a:r>
            <a:r>
              <a:rPr dirty="0" sz="1200">
                <a:latin typeface="Arial"/>
                <a:cs typeface="Arial"/>
              </a:rPr>
              <a:t>idols. </a:t>
            </a:r>
            <a:r>
              <a:rPr dirty="0" sz="1200" spc="-5">
                <a:latin typeface="Arial"/>
                <a:cs typeface="Arial"/>
              </a:rPr>
              <a:t>The polytheists and the idol  worshippers </a:t>
            </a:r>
            <a:r>
              <a:rPr dirty="0" sz="1200">
                <a:latin typeface="Arial"/>
                <a:cs typeface="Arial"/>
              </a:rPr>
              <a:t>took </a:t>
            </a:r>
            <a:r>
              <a:rPr dirty="0" sz="1200" spc="-5">
                <a:latin typeface="Arial"/>
                <a:cs typeface="Arial"/>
              </a:rPr>
              <a:t>other gods and goddesses </a:t>
            </a:r>
            <a:r>
              <a:rPr dirty="0" sz="1200">
                <a:latin typeface="Arial"/>
                <a:cs typeface="Arial"/>
              </a:rPr>
              <a:t>for </a:t>
            </a:r>
            <a:r>
              <a:rPr dirty="0" sz="1200" spc="-5">
                <a:latin typeface="Arial"/>
                <a:cs typeface="Arial"/>
              </a:rPr>
              <a:t>worshipping. Instead of </a:t>
            </a:r>
            <a:r>
              <a:rPr dirty="0" sz="1200">
                <a:latin typeface="Arial"/>
                <a:cs typeface="Arial"/>
              </a:rPr>
              <a:t>worshipping </a:t>
            </a:r>
            <a:r>
              <a:rPr dirty="0" sz="1200" spc="-5">
                <a:latin typeface="Arial"/>
                <a:cs typeface="Arial"/>
              </a:rPr>
              <a:t>Allah,  </a:t>
            </a:r>
            <a:r>
              <a:rPr dirty="0" sz="1200">
                <a:latin typeface="Arial"/>
                <a:cs typeface="Arial"/>
              </a:rPr>
              <a:t>they </a:t>
            </a:r>
            <a:r>
              <a:rPr dirty="0" sz="1200" spc="-5">
                <a:latin typeface="Arial"/>
                <a:cs typeface="Arial"/>
              </a:rPr>
              <a:t>associated objects like </a:t>
            </a:r>
            <a:r>
              <a:rPr dirty="0" sz="1200">
                <a:latin typeface="Arial"/>
                <a:cs typeface="Arial"/>
              </a:rPr>
              <a:t>sun, </a:t>
            </a:r>
            <a:r>
              <a:rPr dirty="0" sz="1200" spc="-5">
                <a:latin typeface="Arial"/>
                <a:cs typeface="Arial"/>
              </a:rPr>
              <a:t>moon, stars, </a:t>
            </a:r>
            <a:r>
              <a:rPr dirty="0" sz="1200">
                <a:latin typeface="Arial"/>
                <a:cs typeface="Arial"/>
              </a:rPr>
              <a:t>trees, </a:t>
            </a:r>
            <a:r>
              <a:rPr dirty="0" sz="1200" spc="-5">
                <a:latin typeface="Arial"/>
                <a:cs typeface="Arial"/>
              </a:rPr>
              <a:t>mountains, rocks, </a:t>
            </a:r>
            <a:r>
              <a:rPr dirty="0" sz="1200">
                <a:latin typeface="Arial"/>
                <a:cs typeface="Arial"/>
              </a:rPr>
              <a:t>stones to </a:t>
            </a:r>
            <a:r>
              <a:rPr dirty="0" sz="1200" spc="-5">
                <a:latin typeface="Arial"/>
                <a:cs typeface="Arial"/>
              </a:rPr>
              <a:t>Allah. They  worshipped Laat, </a:t>
            </a:r>
            <a:r>
              <a:rPr dirty="0" sz="1200">
                <a:latin typeface="Arial"/>
                <a:cs typeface="Arial"/>
              </a:rPr>
              <a:t>Uzza, </a:t>
            </a:r>
            <a:r>
              <a:rPr dirty="0" sz="1200" spc="-5">
                <a:latin typeface="Arial"/>
                <a:cs typeface="Arial"/>
              </a:rPr>
              <a:t>Manat and </a:t>
            </a:r>
            <a:r>
              <a:rPr dirty="0" sz="1200">
                <a:latin typeface="Arial"/>
                <a:cs typeface="Arial"/>
              </a:rPr>
              <a:t>Hubal. </a:t>
            </a:r>
            <a:r>
              <a:rPr dirty="0" sz="1200" spc="-5">
                <a:latin typeface="Arial"/>
                <a:cs typeface="Arial"/>
              </a:rPr>
              <a:t>They </a:t>
            </a:r>
            <a:r>
              <a:rPr dirty="0" sz="1200">
                <a:latin typeface="Arial"/>
                <a:cs typeface="Arial"/>
              </a:rPr>
              <a:t>considered </a:t>
            </a:r>
            <a:r>
              <a:rPr dirty="0" sz="1200" spc="-5">
                <a:latin typeface="Arial"/>
                <a:cs typeface="Arial"/>
              </a:rPr>
              <a:t>angels as daughters </a:t>
            </a:r>
            <a:r>
              <a:rPr dirty="0" sz="1200">
                <a:latin typeface="Arial"/>
                <a:cs typeface="Arial"/>
              </a:rPr>
              <a:t>of </a:t>
            </a:r>
            <a:r>
              <a:rPr dirty="0" sz="1200" spc="-5">
                <a:latin typeface="Arial"/>
                <a:cs typeface="Arial"/>
              </a:rPr>
              <a:t>Allah.  They </a:t>
            </a:r>
            <a:r>
              <a:rPr dirty="0" sz="1200">
                <a:latin typeface="Arial"/>
                <a:cs typeface="Arial"/>
              </a:rPr>
              <a:t>sacrificed </a:t>
            </a:r>
            <a:r>
              <a:rPr dirty="0" sz="1200" spc="-5">
                <a:latin typeface="Arial"/>
                <a:cs typeface="Arial"/>
              </a:rPr>
              <a:t>animals and </a:t>
            </a:r>
            <a:r>
              <a:rPr dirty="0" sz="1200" spc="-10">
                <a:latin typeface="Arial"/>
                <a:cs typeface="Arial"/>
              </a:rPr>
              <a:t>virgin </a:t>
            </a:r>
            <a:r>
              <a:rPr dirty="0" sz="1200" spc="-5">
                <a:latin typeface="Arial"/>
                <a:cs typeface="Arial"/>
              </a:rPr>
              <a:t>girls </a:t>
            </a:r>
            <a:r>
              <a:rPr dirty="0" sz="1200">
                <a:latin typeface="Arial"/>
                <a:cs typeface="Arial"/>
              </a:rPr>
              <a:t>to </a:t>
            </a:r>
            <a:r>
              <a:rPr dirty="0" sz="1200" spc="-5">
                <a:latin typeface="Arial"/>
                <a:cs typeface="Arial"/>
              </a:rPr>
              <a:t>be freed from </a:t>
            </a:r>
            <a:r>
              <a:rPr dirty="0" sz="1200" spc="10">
                <a:latin typeface="Arial"/>
                <a:cs typeface="Arial"/>
              </a:rPr>
              <a:t>the </a:t>
            </a:r>
            <a:r>
              <a:rPr dirty="0" sz="1200" spc="-5">
                <a:latin typeface="Arial"/>
                <a:cs typeface="Arial"/>
              </a:rPr>
              <a:t>wrath and anger of Allah </a:t>
            </a:r>
            <a:r>
              <a:rPr dirty="0" sz="1200" spc="-10">
                <a:latin typeface="Arial"/>
                <a:cs typeface="Arial"/>
              </a:rPr>
              <a:t>and </a:t>
            </a:r>
            <a:r>
              <a:rPr dirty="0" sz="1200">
                <a:latin typeface="Arial"/>
                <a:cs typeface="Arial"/>
              </a:rPr>
              <a:t>to  </a:t>
            </a:r>
            <a:r>
              <a:rPr dirty="0" sz="1200" spc="-5">
                <a:latin typeface="Arial"/>
                <a:cs typeface="Arial"/>
              </a:rPr>
              <a:t>obtain favours. They circumambulated </a:t>
            </a:r>
            <a:r>
              <a:rPr dirty="0" sz="1200">
                <a:latin typeface="Arial"/>
                <a:cs typeface="Arial"/>
              </a:rPr>
              <a:t>the </a:t>
            </a:r>
            <a:r>
              <a:rPr dirty="0" sz="1200" spc="-5">
                <a:latin typeface="Arial"/>
                <a:cs typeface="Arial"/>
              </a:rPr>
              <a:t>Ka‘bah in </a:t>
            </a:r>
            <a:r>
              <a:rPr dirty="0" sz="1200">
                <a:latin typeface="Arial"/>
                <a:cs typeface="Arial"/>
              </a:rPr>
              <a:t>the </a:t>
            </a:r>
            <a:r>
              <a:rPr dirty="0" sz="1200" spc="-5">
                <a:latin typeface="Arial"/>
                <a:cs typeface="Arial"/>
              </a:rPr>
              <a:t>state of nudity. </a:t>
            </a:r>
            <a:r>
              <a:rPr dirty="0" sz="1200">
                <a:latin typeface="Arial"/>
                <a:cs typeface="Arial"/>
              </a:rPr>
              <a:t>They </a:t>
            </a:r>
            <a:r>
              <a:rPr dirty="0" sz="1200" spc="-5">
                <a:latin typeface="Arial"/>
                <a:cs typeface="Arial"/>
              </a:rPr>
              <a:t>would take  advice from </a:t>
            </a:r>
            <a:r>
              <a:rPr dirty="0" sz="1200">
                <a:latin typeface="Arial"/>
                <a:cs typeface="Arial"/>
              </a:rPr>
              <a:t>their </a:t>
            </a:r>
            <a:r>
              <a:rPr dirty="0" sz="1200" spc="-5">
                <a:latin typeface="Arial"/>
                <a:cs typeface="Arial"/>
              </a:rPr>
              <a:t>priests or the </a:t>
            </a:r>
            <a:r>
              <a:rPr dirty="0" sz="1200">
                <a:latin typeface="Arial"/>
                <a:cs typeface="Arial"/>
              </a:rPr>
              <a:t>fortune-tellers </a:t>
            </a:r>
            <a:r>
              <a:rPr dirty="0" sz="1200" spc="-5">
                <a:latin typeface="Arial"/>
                <a:cs typeface="Arial"/>
              </a:rPr>
              <a:t>and kahin </a:t>
            </a:r>
            <a:r>
              <a:rPr dirty="0" sz="1200">
                <a:latin typeface="Arial"/>
                <a:cs typeface="Arial"/>
              </a:rPr>
              <a:t>– </a:t>
            </a:r>
            <a:r>
              <a:rPr dirty="0" sz="1200" spc="-5">
                <a:latin typeface="Arial"/>
                <a:cs typeface="Arial"/>
              </a:rPr>
              <a:t>soothsayers. The Christians would  follow </a:t>
            </a:r>
            <a:r>
              <a:rPr dirty="0" sz="1200">
                <a:latin typeface="Arial"/>
                <a:cs typeface="Arial"/>
              </a:rPr>
              <a:t>their monk </a:t>
            </a:r>
            <a:r>
              <a:rPr dirty="0" sz="1200" spc="-5">
                <a:latin typeface="Arial"/>
                <a:cs typeface="Arial"/>
              </a:rPr>
              <a:t>and their </a:t>
            </a:r>
            <a:r>
              <a:rPr dirty="0" sz="1200">
                <a:latin typeface="Arial"/>
                <a:cs typeface="Arial"/>
              </a:rPr>
              <a:t>Injeel </a:t>
            </a:r>
            <a:r>
              <a:rPr dirty="0" sz="1200" spc="-5">
                <a:latin typeface="Arial"/>
                <a:cs typeface="Arial"/>
              </a:rPr>
              <a:t>but </a:t>
            </a:r>
            <a:r>
              <a:rPr dirty="0" sz="1200">
                <a:latin typeface="Arial"/>
                <a:cs typeface="Arial"/>
              </a:rPr>
              <a:t>it came </a:t>
            </a:r>
            <a:r>
              <a:rPr dirty="0" sz="1200" spc="-5">
                <a:latin typeface="Arial"/>
                <a:cs typeface="Arial"/>
              </a:rPr>
              <a:t>a </a:t>
            </a:r>
            <a:r>
              <a:rPr dirty="0" sz="1200">
                <a:latin typeface="Arial"/>
                <a:cs typeface="Arial"/>
              </a:rPr>
              <a:t>time </a:t>
            </a:r>
            <a:r>
              <a:rPr dirty="0" sz="1200" spc="-5">
                <a:latin typeface="Arial"/>
                <a:cs typeface="Arial"/>
              </a:rPr>
              <a:t>where </a:t>
            </a:r>
            <a:r>
              <a:rPr dirty="0" sz="1200">
                <a:latin typeface="Arial"/>
                <a:cs typeface="Arial"/>
              </a:rPr>
              <a:t>they started </a:t>
            </a:r>
            <a:r>
              <a:rPr dirty="0" sz="1200" spc="-5">
                <a:latin typeface="Arial"/>
                <a:cs typeface="Arial"/>
              </a:rPr>
              <a:t>falsifying </a:t>
            </a:r>
            <a:r>
              <a:rPr dirty="0" sz="1200">
                <a:latin typeface="Arial"/>
                <a:cs typeface="Arial"/>
              </a:rPr>
              <a:t>their </a:t>
            </a:r>
            <a:r>
              <a:rPr dirty="0" sz="1200" spc="-5">
                <a:latin typeface="Arial"/>
                <a:cs typeface="Arial"/>
              </a:rPr>
              <a:t>books  and message. They considered Hazrat </a:t>
            </a:r>
            <a:r>
              <a:rPr dirty="0" sz="1200">
                <a:latin typeface="Arial"/>
                <a:cs typeface="Arial"/>
              </a:rPr>
              <a:t>Isa </a:t>
            </a:r>
            <a:r>
              <a:rPr dirty="0" sz="1200" spc="-5">
                <a:latin typeface="Arial"/>
                <a:cs typeface="Arial"/>
              </a:rPr>
              <a:t>(as) as the son of God and god himself. Their  </a:t>
            </a:r>
            <a:r>
              <a:rPr dirty="0" sz="1200">
                <a:latin typeface="Arial"/>
                <a:cs typeface="Arial"/>
              </a:rPr>
              <a:t>monks </a:t>
            </a:r>
            <a:r>
              <a:rPr dirty="0" sz="1200" spc="-5">
                <a:latin typeface="Arial"/>
                <a:cs typeface="Arial"/>
              </a:rPr>
              <a:t>lived in seclusion in </a:t>
            </a:r>
            <a:r>
              <a:rPr dirty="0" sz="1200">
                <a:latin typeface="Arial"/>
                <a:cs typeface="Arial"/>
              </a:rPr>
              <a:t>their </a:t>
            </a:r>
            <a:r>
              <a:rPr dirty="0" sz="1200" spc="-5">
                <a:latin typeface="Arial"/>
                <a:cs typeface="Arial"/>
              </a:rPr>
              <a:t>cells in churches. </a:t>
            </a:r>
            <a:r>
              <a:rPr dirty="0" sz="1200">
                <a:latin typeface="Arial"/>
                <a:cs typeface="Arial"/>
              </a:rPr>
              <a:t>The </a:t>
            </a:r>
            <a:r>
              <a:rPr dirty="0" sz="1200" spc="-10">
                <a:latin typeface="Arial"/>
                <a:cs typeface="Arial"/>
              </a:rPr>
              <a:t>Jews </a:t>
            </a:r>
            <a:r>
              <a:rPr dirty="0" sz="1200">
                <a:latin typeface="Arial"/>
                <a:cs typeface="Arial"/>
              </a:rPr>
              <a:t>followed </a:t>
            </a:r>
            <a:r>
              <a:rPr dirty="0" sz="1200" spc="-5">
                <a:latin typeface="Arial"/>
                <a:cs typeface="Arial"/>
              </a:rPr>
              <a:t>the principles of Hazrat  Musah </a:t>
            </a:r>
            <a:r>
              <a:rPr dirty="0" sz="1200">
                <a:latin typeface="Arial"/>
                <a:cs typeface="Arial"/>
              </a:rPr>
              <a:t>(as) </a:t>
            </a:r>
            <a:r>
              <a:rPr dirty="0" sz="1200" spc="-5">
                <a:latin typeface="Arial"/>
                <a:cs typeface="Arial"/>
              </a:rPr>
              <a:t>and </a:t>
            </a:r>
            <a:r>
              <a:rPr dirty="0" sz="1200">
                <a:latin typeface="Arial"/>
                <a:cs typeface="Arial"/>
              </a:rPr>
              <a:t>the </a:t>
            </a:r>
            <a:r>
              <a:rPr dirty="0" sz="1200" spc="-5">
                <a:latin typeface="Arial"/>
                <a:cs typeface="Arial"/>
              </a:rPr>
              <a:t>Tawraat but they falsified </a:t>
            </a:r>
            <a:r>
              <a:rPr dirty="0" sz="1200">
                <a:latin typeface="Arial"/>
                <a:cs typeface="Arial"/>
              </a:rPr>
              <a:t>it. Their </a:t>
            </a:r>
            <a:r>
              <a:rPr dirty="0" sz="1200" spc="-5">
                <a:latin typeface="Arial"/>
                <a:cs typeface="Arial"/>
              </a:rPr>
              <a:t>synagogue </a:t>
            </a:r>
            <a:r>
              <a:rPr dirty="0" sz="1200" spc="-10">
                <a:latin typeface="Arial"/>
                <a:cs typeface="Arial"/>
              </a:rPr>
              <a:t>was </a:t>
            </a:r>
            <a:r>
              <a:rPr dirty="0" sz="1200" spc="-5">
                <a:latin typeface="Arial"/>
                <a:cs typeface="Arial"/>
              </a:rPr>
              <a:t>divided into </a:t>
            </a:r>
            <a:r>
              <a:rPr dirty="0" sz="1200" spc="-10">
                <a:latin typeface="Arial"/>
                <a:cs typeface="Arial"/>
              </a:rPr>
              <a:t>two  </a:t>
            </a:r>
            <a:r>
              <a:rPr dirty="0" sz="1200" spc="-5">
                <a:latin typeface="Arial"/>
                <a:cs typeface="Arial"/>
              </a:rPr>
              <a:t>sections </a:t>
            </a:r>
            <a:r>
              <a:rPr dirty="0" sz="1200">
                <a:latin typeface="Arial"/>
                <a:cs typeface="Arial"/>
              </a:rPr>
              <a:t>– </a:t>
            </a:r>
            <a:r>
              <a:rPr dirty="0" sz="1200" spc="-5">
                <a:latin typeface="Arial"/>
                <a:cs typeface="Arial"/>
              </a:rPr>
              <a:t>one </a:t>
            </a:r>
            <a:r>
              <a:rPr dirty="0" sz="1200">
                <a:latin typeface="Arial"/>
                <a:cs typeface="Arial"/>
              </a:rPr>
              <a:t>for </a:t>
            </a:r>
            <a:r>
              <a:rPr dirty="0" sz="1200" spc="-10">
                <a:latin typeface="Arial"/>
                <a:cs typeface="Arial"/>
              </a:rPr>
              <a:t>men </a:t>
            </a:r>
            <a:r>
              <a:rPr dirty="0" sz="1200" spc="-5">
                <a:latin typeface="Arial"/>
                <a:cs typeface="Arial"/>
              </a:rPr>
              <a:t>and one </a:t>
            </a:r>
            <a:r>
              <a:rPr dirty="0" sz="1200">
                <a:latin typeface="Arial"/>
                <a:cs typeface="Arial"/>
              </a:rPr>
              <a:t>for </a:t>
            </a:r>
            <a:r>
              <a:rPr dirty="0" sz="1200" spc="-5">
                <a:latin typeface="Arial"/>
                <a:cs typeface="Arial"/>
              </a:rPr>
              <a:t>women. They observed the </a:t>
            </a:r>
            <a:r>
              <a:rPr dirty="0" sz="1200" spc="-10">
                <a:latin typeface="Arial"/>
                <a:cs typeface="Arial"/>
              </a:rPr>
              <a:t>day </a:t>
            </a:r>
            <a:r>
              <a:rPr dirty="0" sz="1200">
                <a:latin typeface="Arial"/>
                <a:cs typeface="Arial"/>
              </a:rPr>
              <a:t>of </a:t>
            </a:r>
            <a:r>
              <a:rPr dirty="0" sz="1200" spc="-5">
                <a:latin typeface="Arial"/>
                <a:cs typeface="Arial"/>
              </a:rPr>
              <a:t>Sabbath on Saturday.  The </a:t>
            </a:r>
            <a:r>
              <a:rPr dirty="0" sz="1200" spc="-10">
                <a:latin typeface="Arial"/>
                <a:cs typeface="Arial"/>
              </a:rPr>
              <a:t>Hanif </a:t>
            </a:r>
            <a:r>
              <a:rPr dirty="0" sz="1200" spc="-5">
                <a:latin typeface="Arial"/>
                <a:cs typeface="Arial"/>
              </a:rPr>
              <a:t>were </a:t>
            </a:r>
            <a:r>
              <a:rPr dirty="0" sz="1200">
                <a:latin typeface="Arial"/>
                <a:cs typeface="Arial"/>
              </a:rPr>
              <a:t>the </a:t>
            </a:r>
            <a:r>
              <a:rPr dirty="0" sz="1200" spc="-5">
                <a:latin typeface="Arial"/>
                <a:cs typeface="Arial"/>
              </a:rPr>
              <a:t>followers </a:t>
            </a:r>
            <a:r>
              <a:rPr dirty="0" sz="1200">
                <a:latin typeface="Arial"/>
                <a:cs typeface="Arial"/>
              </a:rPr>
              <a:t>of </a:t>
            </a:r>
            <a:r>
              <a:rPr dirty="0" sz="1200" spc="-5">
                <a:latin typeface="Arial"/>
                <a:cs typeface="Arial"/>
              </a:rPr>
              <a:t>Hazrat Ibrahim </a:t>
            </a:r>
            <a:r>
              <a:rPr dirty="0" sz="1200">
                <a:latin typeface="Arial"/>
                <a:cs typeface="Arial"/>
              </a:rPr>
              <a:t>(as) </a:t>
            </a:r>
            <a:r>
              <a:rPr dirty="0" sz="1200" spc="-5">
                <a:latin typeface="Arial"/>
                <a:cs typeface="Arial"/>
              </a:rPr>
              <a:t>and they were waiting </a:t>
            </a:r>
            <a:r>
              <a:rPr dirty="0" sz="1200">
                <a:latin typeface="Arial"/>
                <a:cs typeface="Arial"/>
              </a:rPr>
              <a:t>for </a:t>
            </a:r>
            <a:r>
              <a:rPr dirty="0" sz="1200" spc="-5">
                <a:latin typeface="Arial"/>
                <a:cs typeface="Arial"/>
              </a:rPr>
              <a:t>the coming of  </a:t>
            </a:r>
            <a:r>
              <a:rPr dirty="0" sz="1200">
                <a:latin typeface="Arial"/>
                <a:cs typeface="Arial"/>
              </a:rPr>
              <a:t>the holy </a:t>
            </a:r>
            <a:r>
              <a:rPr dirty="0" sz="1200" spc="-5">
                <a:latin typeface="Arial"/>
                <a:cs typeface="Arial"/>
              </a:rPr>
              <a:t>prophet Muhammad (s.a.w). They continued the principles of Ibrahim </a:t>
            </a:r>
            <a:r>
              <a:rPr dirty="0" sz="1200">
                <a:latin typeface="Arial"/>
                <a:cs typeface="Arial"/>
              </a:rPr>
              <a:t>(as) </a:t>
            </a:r>
            <a:r>
              <a:rPr dirty="0" sz="1200" spc="-5">
                <a:latin typeface="Arial"/>
                <a:cs typeface="Arial"/>
              </a:rPr>
              <a:t>and Ismail  (as) and </a:t>
            </a:r>
            <a:r>
              <a:rPr dirty="0" sz="1200">
                <a:latin typeface="Arial"/>
                <a:cs typeface="Arial"/>
              </a:rPr>
              <a:t>the</a:t>
            </a:r>
            <a:r>
              <a:rPr dirty="0" sz="1200" spc="-15">
                <a:latin typeface="Arial"/>
                <a:cs typeface="Arial"/>
              </a:rPr>
              <a:t> </a:t>
            </a:r>
            <a:r>
              <a:rPr dirty="0" sz="1200" spc="-5">
                <a:latin typeface="Arial"/>
                <a:cs typeface="Arial"/>
              </a:rPr>
              <a:t>Suhuf.</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Political Conditions</a:t>
            </a:r>
            <a:endParaRPr sz="1200">
              <a:latin typeface="Arial"/>
              <a:cs typeface="Arial"/>
            </a:endParaRPr>
          </a:p>
          <a:p>
            <a:pPr>
              <a:lnSpc>
                <a:spcPct val="100000"/>
              </a:lnSpc>
            </a:pPr>
            <a:endParaRPr sz="1200">
              <a:latin typeface="Arial"/>
              <a:cs typeface="Arial"/>
            </a:endParaRPr>
          </a:p>
          <a:p>
            <a:pPr algn="just" marL="12700" marR="5080">
              <a:lnSpc>
                <a:spcPct val="95700"/>
              </a:lnSpc>
            </a:pPr>
            <a:r>
              <a:rPr dirty="0" sz="1200" spc="-5">
                <a:latin typeface="Arial"/>
                <a:cs typeface="Arial"/>
              </a:rPr>
              <a:t>Politically speaking </a:t>
            </a:r>
            <a:r>
              <a:rPr dirty="0" sz="1200">
                <a:latin typeface="Arial"/>
                <a:cs typeface="Arial"/>
              </a:rPr>
              <a:t>the land </a:t>
            </a:r>
            <a:r>
              <a:rPr dirty="0" sz="1200" spc="-10">
                <a:latin typeface="Arial"/>
                <a:cs typeface="Arial"/>
              </a:rPr>
              <a:t>was </a:t>
            </a:r>
            <a:r>
              <a:rPr dirty="0" sz="1200" spc="-5">
                <a:latin typeface="Arial"/>
                <a:cs typeface="Arial"/>
              </a:rPr>
              <a:t>divided into </a:t>
            </a:r>
            <a:r>
              <a:rPr dirty="0" sz="1200">
                <a:latin typeface="Arial"/>
                <a:cs typeface="Arial"/>
              </a:rPr>
              <a:t>the </a:t>
            </a:r>
            <a:r>
              <a:rPr dirty="0" sz="1200" spc="-5">
                <a:latin typeface="Arial"/>
                <a:cs typeface="Arial"/>
              </a:rPr>
              <a:t>tribal system. </a:t>
            </a:r>
            <a:r>
              <a:rPr dirty="0" sz="1200">
                <a:latin typeface="Arial"/>
                <a:cs typeface="Arial"/>
              </a:rPr>
              <a:t>A </a:t>
            </a:r>
            <a:r>
              <a:rPr dirty="0" sz="1200" spc="-5">
                <a:latin typeface="Arial"/>
                <a:cs typeface="Arial"/>
              </a:rPr>
              <a:t>group of families makes a  clan and a group of clans makes a tribe. There were </a:t>
            </a:r>
            <a:r>
              <a:rPr dirty="0" sz="1200">
                <a:latin typeface="Arial"/>
                <a:cs typeface="Arial"/>
              </a:rPr>
              <a:t>many </a:t>
            </a:r>
            <a:r>
              <a:rPr dirty="0" sz="1200" spc="-5">
                <a:latin typeface="Arial"/>
                <a:cs typeface="Arial"/>
              </a:rPr>
              <a:t>tribes with each a leader with  specific rules and regulations. </a:t>
            </a:r>
            <a:r>
              <a:rPr dirty="0" sz="1200" spc="5">
                <a:latin typeface="Arial"/>
                <a:cs typeface="Arial"/>
              </a:rPr>
              <a:t>What </a:t>
            </a:r>
            <a:r>
              <a:rPr dirty="0" sz="1200" spc="-10">
                <a:latin typeface="Arial"/>
                <a:cs typeface="Arial"/>
              </a:rPr>
              <a:t>was allowed </a:t>
            </a:r>
            <a:r>
              <a:rPr dirty="0" sz="1200" spc="-5">
                <a:latin typeface="Arial"/>
                <a:cs typeface="Arial"/>
              </a:rPr>
              <a:t>in one tribe </a:t>
            </a:r>
            <a:r>
              <a:rPr dirty="0" sz="1200">
                <a:latin typeface="Arial"/>
                <a:cs typeface="Arial"/>
              </a:rPr>
              <a:t>may </a:t>
            </a:r>
            <a:r>
              <a:rPr dirty="0" sz="1200" spc="-5">
                <a:latin typeface="Arial"/>
                <a:cs typeface="Arial"/>
              </a:rPr>
              <a:t>be prohibited in another  </a:t>
            </a:r>
            <a:r>
              <a:rPr dirty="0" sz="1200">
                <a:latin typeface="Arial"/>
                <a:cs typeface="Arial"/>
              </a:rPr>
              <a:t>tribe. </a:t>
            </a:r>
            <a:r>
              <a:rPr dirty="0" sz="1200" spc="-5">
                <a:latin typeface="Arial"/>
                <a:cs typeface="Arial"/>
              </a:rPr>
              <a:t>Due to these differences, </a:t>
            </a:r>
            <a:r>
              <a:rPr dirty="0" sz="1200">
                <a:latin typeface="Arial"/>
                <a:cs typeface="Arial"/>
              </a:rPr>
              <a:t>there </a:t>
            </a:r>
            <a:r>
              <a:rPr dirty="0" sz="1200" spc="-5">
                <a:latin typeface="Arial"/>
                <a:cs typeface="Arial"/>
              </a:rPr>
              <a:t>were many tribal wars which </a:t>
            </a:r>
            <a:r>
              <a:rPr dirty="0" sz="1200">
                <a:latin typeface="Arial"/>
                <a:cs typeface="Arial"/>
              </a:rPr>
              <a:t>lasted for </a:t>
            </a:r>
            <a:r>
              <a:rPr dirty="0" sz="1200" spc="-5">
                <a:latin typeface="Arial"/>
                <a:cs typeface="Arial"/>
              </a:rPr>
              <a:t>decades. There  </a:t>
            </a:r>
            <a:r>
              <a:rPr dirty="0" sz="1200" spc="-10">
                <a:latin typeface="Arial"/>
                <a:cs typeface="Arial"/>
              </a:rPr>
              <a:t>was </a:t>
            </a:r>
            <a:r>
              <a:rPr dirty="0" sz="1200">
                <a:latin typeface="Arial"/>
                <a:cs typeface="Arial"/>
              </a:rPr>
              <a:t>no </a:t>
            </a:r>
            <a:r>
              <a:rPr dirty="0" sz="1200" spc="-5">
                <a:latin typeface="Arial"/>
                <a:cs typeface="Arial"/>
              </a:rPr>
              <a:t>inter-tribal marriage. </a:t>
            </a:r>
            <a:r>
              <a:rPr dirty="0" sz="1200">
                <a:latin typeface="Arial"/>
                <a:cs typeface="Arial"/>
              </a:rPr>
              <a:t>There </a:t>
            </a:r>
            <a:r>
              <a:rPr dirty="0" sz="1200" spc="-10">
                <a:latin typeface="Arial"/>
                <a:cs typeface="Arial"/>
              </a:rPr>
              <a:t>was </a:t>
            </a:r>
            <a:r>
              <a:rPr dirty="0" sz="1200" spc="-5">
                <a:latin typeface="Arial"/>
                <a:cs typeface="Arial"/>
              </a:rPr>
              <a:t>loyalty </a:t>
            </a:r>
            <a:r>
              <a:rPr dirty="0" sz="1200">
                <a:latin typeface="Arial"/>
                <a:cs typeface="Arial"/>
              </a:rPr>
              <a:t>on </a:t>
            </a:r>
            <a:r>
              <a:rPr dirty="0" sz="1200" spc="-5">
                <a:latin typeface="Arial"/>
                <a:cs typeface="Arial"/>
              </a:rPr>
              <a:t>the </a:t>
            </a:r>
            <a:r>
              <a:rPr dirty="0" sz="1200">
                <a:latin typeface="Arial"/>
                <a:cs typeface="Arial"/>
              </a:rPr>
              <a:t>part of </a:t>
            </a:r>
            <a:r>
              <a:rPr dirty="0" sz="1200" spc="-5">
                <a:latin typeface="Arial"/>
                <a:cs typeface="Arial"/>
              </a:rPr>
              <a:t>the fellows </a:t>
            </a:r>
            <a:r>
              <a:rPr dirty="0" sz="1200">
                <a:latin typeface="Arial"/>
                <a:cs typeface="Arial"/>
              </a:rPr>
              <a:t>of </a:t>
            </a:r>
            <a:r>
              <a:rPr dirty="0" sz="1200" spc="-5">
                <a:latin typeface="Arial"/>
                <a:cs typeface="Arial"/>
              </a:rPr>
              <a:t>a tribe. </a:t>
            </a:r>
            <a:r>
              <a:rPr dirty="0" sz="1200">
                <a:latin typeface="Arial"/>
                <a:cs typeface="Arial"/>
              </a:rPr>
              <a:t>The </a:t>
            </a:r>
            <a:r>
              <a:rPr dirty="0" sz="1200" spc="-5">
                <a:latin typeface="Arial"/>
                <a:cs typeface="Arial"/>
              </a:rPr>
              <a:t>leader  </a:t>
            </a:r>
            <a:r>
              <a:rPr dirty="0" sz="1200" spc="-10">
                <a:latin typeface="Arial"/>
                <a:cs typeface="Arial"/>
              </a:rPr>
              <a:t>was </a:t>
            </a:r>
            <a:r>
              <a:rPr dirty="0" sz="1200" spc="-5">
                <a:latin typeface="Arial"/>
                <a:cs typeface="Arial"/>
              </a:rPr>
              <a:t>selected </a:t>
            </a:r>
            <a:r>
              <a:rPr dirty="0" sz="1200">
                <a:latin typeface="Arial"/>
                <a:cs typeface="Arial"/>
              </a:rPr>
              <a:t>for </a:t>
            </a:r>
            <a:r>
              <a:rPr dirty="0" sz="1200" spc="-5">
                <a:latin typeface="Arial"/>
                <a:cs typeface="Arial"/>
              </a:rPr>
              <a:t>his experience as administrator, his maturity, his experience </a:t>
            </a:r>
            <a:r>
              <a:rPr dirty="0" sz="1200">
                <a:latin typeface="Arial"/>
                <a:cs typeface="Arial"/>
              </a:rPr>
              <a:t>at </a:t>
            </a:r>
            <a:r>
              <a:rPr dirty="0" sz="1200" spc="-5">
                <a:latin typeface="Arial"/>
                <a:cs typeface="Arial"/>
              </a:rPr>
              <a:t>war, his  nobility, his eloquence in speech, his influential capability among </a:t>
            </a:r>
            <a:r>
              <a:rPr dirty="0" sz="1200">
                <a:latin typeface="Arial"/>
                <a:cs typeface="Arial"/>
              </a:rPr>
              <a:t>others. </a:t>
            </a:r>
            <a:r>
              <a:rPr dirty="0" sz="1200" spc="-5">
                <a:latin typeface="Arial"/>
                <a:cs typeface="Arial"/>
              </a:rPr>
              <a:t>There </a:t>
            </a:r>
            <a:r>
              <a:rPr dirty="0" sz="1200" spc="10">
                <a:latin typeface="Arial"/>
                <a:cs typeface="Arial"/>
              </a:rPr>
              <a:t>were </a:t>
            </a:r>
            <a:r>
              <a:rPr dirty="0" sz="1200">
                <a:latin typeface="Arial"/>
                <a:cs typeface="Arial"/>
              </a:rPr>
              <a:t>fights  for </a:t>
            </a:r>
            <a:r>
              <a:rPr dirty="0" sz="1200" spc="-5">
                <a:latin typeface="Arial"/>
                <a:cs typeface="Arial"/>
              </a:rPr>
              <a:t>the control of business and </a:t>
            </a:r>
            <a:r>
              <a:rPr dirty="0" sz="1200">
                <a:latin typeface="Arial"/>
                <a:cs typeface="Arial"/>
              </a:rPr>
              <a:t>fame.</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5" b="1" i="1">
                <a:uFill>
                  <a:solidFill>
                    <a:srgbClr val="000000"/>
                  </a:solidFill>
                </a:uFill>
                <a:latin typeface="Arial"/>
                <a:cs typeface="Arial"/>
              </a:rPr>
              <a:t>Cultural Conditions</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spc="-5">
                <a:latin typeface="Arial"/>
                <a:cs typeface="Arial"/>
              </a:rPr>
              <a:t>Culturally based, there were </a:t>
            </a:r>
            <a:r>
              <a:rPr dirty="0" sz="1200">
                <a:latin typeface="Arial"/>
                <a:cs typeface="Arial"/>
              </a:rPr>
              <a:t>different </a:t>
            </a:r>
            <a:r>
              <a:rPr dirty="0" sz="1200" spc="-5">
                <a:latin typeface="Arial"/>
                <a:cs typeface="Arial"/>
              </a:rPr>
              <a:t>feasts in circulation among the </a:t>
            </a:r>
            <a:r>
              <a:rPr dirty="0" sz="1200">
                <a:latin typeface="Arial"/>
                <a:cs typeface="Arial"/>
              </a:rPr>
              <a:t>Arabs. </a:t>
            </a:r>
            <a:r>
              <a:rPr dirty="0" sz="1200" spc="-5">
                <a:latin typeface="Arial"/>
                <a:cs typeface="Arial"/>
              </a:rPr>
              <a:t>All </a:t>
            </a:r>
            <a:r>
              <a:rPr dirty="0" sz="1200">
                <a:latin typeface="Arial"/>
                <a:cs typeface="Arial"/>
              </a:rPr>
              <a:t>feasts </a:t>
            </a:r>
            <a:r>
              <a:rPr dirty="0" sz="1200" spc="-5">
                <a:latin typeface="Arial"/>
                <a:cs typeface="Arial"/>
              </a:rPr>
              <a:t>related  </a:t>
            </a:r>
            <a:r>
              <a:rPr dirty="0" sz="1200">
                <a:latin typeface="Arial"/>
                <a:cs typeface="Arial"/>
              </a:rPr>
              <a:t>to their </a:t>
            </a:r>
            <a:r>
              <a:rPr dirty="0" sz="1200" spc="-5">
                <a:latin typeface="Arial"/>
                <a:cs typeface="Arial"/>
              </a:rPr>
              <a:t>divinity such as </a:t>
            </a:r>
            <a:r>
              <a:rPr dirty="0" sz="1200">
                <a:latin typeface="Arial"/>
                <a:cs typeface="Arial"/>
              </a:rPr>
              <a:t>the </a:t>
            </a:r>
            <a:r>
              <a:rPr dirty="0" sz="1200" spc="-5">
                <a:latin typeface="Arial"/>
                <a:cs typeface="Arial"/>
              </a:rPr>
              <a:t>day of Sabbath, </a:t>
            </a:r>
            <a:r>
              <a:rPr dirty="0" sz="1200">
                <a:latin typeface="Arial"/>
                <a:cs typeface="Arial"/>
              </a:rPr>
              <a:t>the </a:t>
            </a:r>
            <a:r>
              <a:rPr dirty="0" sz="1200" spc="-5">
                <a:latin typeface="Arial"/>
                <a:cs typeface="Arial"/>
              </a:rPr>
              <a:t>day </a:t>
            </a:r>
            <a:r>
              <a:rPr dirty="0" sz="1200">
                <a:latin typeface="Arial"/>
                <a:cs typeface="Arial"/>
              </a:rPr>
              <a:t>of </a:t>
            </a:r>
            <a:r>
              <a:rPr dirty="0" sz="1200" spc="-5">
                <a:latin typeface="Arial"/>
                <a:cs typeface="Arial"/>
              </a:rPr>
              <a:t>assumption, </a:t>
            </a:r>
            <a:r>
              <a:rPr dirty="0" sz="1200">
                <a:latin typeface="Arial"/>
                <a:cs typeface="Arial"/>
              </a:rPr>
              <a:t>the </a:t>
            </a:r>
            <a:r>
              <a:rPr dirty="0" sz="1200" spc="-5">
                <a:latin typeface="Arial"/>
                <a:cs typeface="Arial"/>
              </a:rPr>
              <a:t>day of sacrifice and  </a:t>
            </a:r>
            <a:r>
              <a:rPr dirty="0" sz="1200">
                <a:latin typeface="Arial"/>
                <a:cs typeface="Arial"/>
              </a:rPr>
              <a:t>the </a:t>
            </a:r>
            <a:r>
              <a:rPr dirty="0" sz="1200" spc="-5">
                <a:latin typeface="Arial"/>
                <a:cs typeface="Arial"/>
              </a:rPr>
              <a:t>day </a:t>
            </a:r>
            <a:r>
              <a:rPr dirty="0" sz="1200">
                <a:latin typeface="Arial"/>
                <a:cs typeface="Arial"/>
              </a:rPr>
              <a:t>of fast </a:t>
            </a:r>
            <a:r>
              <a:rPr dirty="0" sz="1200" spc="-5">
                <a:latin typeface="Arial"/>
                <a:cs typeface="Arial"/>
              </a:rPr>
              <a:t>were much praised. The use of the Arabic language </a:t>
            </a:r>
            <a:r>
              <a:rPr dirty="0" sz="1200" spc="-10">
                <a:latin typeface="Arial"/>
                <a:cs typeface="Arial"/>
              </a:rPr>
              <a:t>was </a:t>
            </a:r>
            <a:r>
              <a:rPr dirty="0" sz="1200" spc="-5">
                <a:latin typeface="Arial"/>
                <a:cs typeface="Arial"/>
              </a:rPr>
              <a:t>prominent. Due to </a:t>
            </a:r>
            <a:r>
              <a:rPr dirty="0" sz="1200">
                <a:latin typeface="Arial"/>
                <a:cs typeface="Arial"/>
              </a:rPr>
              <a:t>its  </a:t>
            </a:r>
            <a:r>
              <a:rPr dirty="0" sz="1200" spc="-5">
                <a:latin typeface="Arial"/>
                <a:cs typeface="Arial"/>
              </a:rPr>
              <a:t>richness, there were poem competitions outside Macca </a:t>
            </a:r>
            <a:r>
              <a:rPr dirty="0" sz="1200">
                <a:latin typeface="Arial"/>
                <a:cs typeface="Arial"/>
              </a:rPr>
              <a:t>at </a:t>
            </a:r>
            <a:r>
              <a:rPr dirty="0" sz="1200" spc="-5">
                <a:latin typeface="Arial"/>
                <a:cs typeface="Arial"/>
              </a:rPr>
              <a:t>the Ukaz or Ukaiz </a:t>
            </a:r>
            <a:r>
              <a:rPr dirty="0" sz="1200">
                <a:latin typeface="Arial"/>
                <a:cs typeface="Arial"/>
              </a:rPr>
              <a:t>market. The  </a:t>
            </a:r>
            <a:r>
              <a:rPr dirty="0" sz="1200" spc="-5">
                <a:latin typeface="Arial"/>
                <a:cs typeface="Arial"/>
              </a:rPr>
              <a:t>winner would be praised and considered as a </a:t>
            </a:r>
            <a:r>
              <a:rPr dirty="0" sz="1200">
                <a:latin typeface="Arial"/>
                <a:cs typeface="Arial"/>
              </a:rPr>
              <a:t>chief, </a:t>
            </a:r>
            <a:r>
              <a:rPr dirty="0" sz="1200" spc="-5">
                <a:latin typeface="Arial"/>
                <a:cs typeface="Arial"/>
              </a:rPr>
              <a:t>leader, priest, law </a:t>
            </a:r>
            <a:r>
              <a:rPr dirty="0" sz="1200" spc="10">
                <a:latin typeface="Arial"/>
                <a:cs typeface="Arial"/>
              </a:rPr>
              <a:t>maker </a:t>
            </a:r>
            <a:r>
              <a:rPr dirty="0" sz="1200" spc="-5">
                <a:latin typeface="Arial"/>
                <a:cs typeface="Arial"/>
              </a:rPr>
              <a:t>and would be  honoured in the society. His poem would be inscribed in golden </a:t>
            </a:r>
            <a:r>
              <a:rPr dirty="0" sz="1200">
                <a:latin typeface="Arial"/>
                <a:cs typeface="Arial"/>
              </a:rPr>
              <a:t>letters </a:t>
            </a:r>
            <a:r>
              <a:rPr dirty="0" sz="1200" spc="-5">
                <a:latin typeface="Arial"/>
                <a:cs typeface="Arial"/>
              </a:rPr>
              <a:t>and would be  inscribed </a:t>
            </a:r>
            <a:r>
              <a:rPr dirty="0" sz="1200">
                <a:latin typeface="Arial"/>
                <a:cs typeface="Arial"/>
              </a:rPr>
              <a:t>on </a:t>
            </a:r>
            <a:r>
              <a:rPr dirty="0" sz="1200" spc="-5">
                <a:latin typeface="Arial"/>
                <a:cs typeface="Arial"/>
              </a:rPr>
              <a:t>the black </a:t>
            </a:r>
            <a:r>
              <a:rPr dirty="0" sz="1200">
                <a:latin typeface="Arial"/>
                <a:cs typeface="Arial"/>
              </a:rPr>
              <a:t>cloth </a:t>
            </a:r>
            <a:r>
              <a:rPr dirty="0" sz="1200" spc="-5">
                <a:latin typeface="Arial"/>
                <a:cs typeface="Arial"/>
              </a:rPr>
              <a:t>of </a:t>
            </a:r>
            <a:r>
              <a:rPr dirty="0" sz="1200">
                <a:latin typeface="Arial"/>
                <a:cs typeface="Arial"/>
              </a:rPr>
              <a:t>the </a:t>
            </a:r>
            <a:r>
              <a:rPr dirty="0" sz="1200" spc="-5">
                <a:latin typeface="Arial"/>
                <a:cs typeface="Arial"/>
              </a:rPr>
              <a:t>Ka‘bah. They were loyal, </a:t>
            </a:r>
            <a:r>
              <a:rPr dirty="0" sz="1200">
                <a:latin typeface="Arial"/>
                <a:cs typeface="Arial"/>
              </a:rPr>
              <a:t>honest, resistant, </a:t>
            </a:r>
            <a:r>
              <a:rPr dirty="0" sz="1200" spc="-5">
                <a:latin typeface="Arial"/>
                <a:cs typeface="Arial"/>
              </a:rPr>
              <a:t>and courteous  towards </a:t>
            </a:r>
            <a:r>
              <a:rPr dirty="0" sz="1200">
                <a:latin typeface="Arial"/>
                <a:cs typeface="Arial"/>
              </a:rPr>
              <a:t>their </a:t>
            </a:r>
            <a:r>
              <a:rPr dirty="0" sz="1200" spc="-10">
                <a:latin typeface="Arial"/>
                <a:cs typeface="Arial"/>
              </a:rPr>
              <a:t>own </a:t>
            </a:r>
            <a:r>
              <a:rPr dirty="0" sz="1200" spc="-5">
                <a:latin typeface="Arial"/>
                <a:cs typeface="Arial"/>
              </a:rPr>
              <a:t>people and foreigners. They </a:t>
            </a:r>
            <a:r>
              <a:rPr dirty="0" sz="1200">
                <a:latin typeface="Arial"/>
                <a:cs typeface="Arial"/>
              </a:rPr>
              <a:t>made </a:t>
            </a:r>
            <a:r>
              <a:rPr dirty="0" sz="1200" spc="-5">
                <a:latin typeface="Arial"/>
                <a:cs typeface="Arial"/>
              </a:rPr>
              <a:t>much </a:t>
            </a:r>
            <a:r>
              <a:rPr dirty="0" sz="1200">
                <a:latin typeface="Arial"/>
                <a:cs typeface="Arial"/>
              </a:rPr>
              <a:t>attention to the </a:t>
            </a:r>
            <a:r>
              <a:rPr dirty="0" sz="1200" spc="-5">
                <a:latin typeface="Arial"/>
                <a:cs typeface="Arial"/>
              </a:rPr>
              <a:t>safeguard of their  </a:t>
            </a:r>
            <a:r>
              <a:rPr dirty="0" sz="1200">
                <a:latin typeface="Arial"/>
                <a:cs typeface="Arial"/>
              </a:rPr>
              <a:t>culture. </a:t>
            </a:r>
            <a:r>
              <a:rPr dirty="0" sz="1200" spc="-5">
                <a:latin typeface="Arial"/>
                <a:cs typeface="Arial"/>
              </a:rPr>
              <a:t>Any outside innovation unknown </a:t>
            </a:r>
            <a:r>
              <a:rPr dirty="0" sz="1200">
                <a:latin typeface="Arial"/>
                <a:cs typeface="Arial"/>
              </a:rPr>
              <a:t>to </a:t>
            </a:r>
            <a:r>
              <a:rPr dirty="0" sz="1200" spc="-5">
                <a:latin typeface="Arial"/>
                <a:cs typeface="Arial"/>
              </a:rPr>
              <a:t>them could be </a:t>
            </a:r>
            <a:r>
              <a:rPr dirty="0" sz="1200">
                <a:latin typeface="Arial"/>
                <a:cs typeface="Arial"/>
              </a:rPr>
              <a:t>met </a:t>
            </a:r>
            <a:r>
              <a:rPr dirty="0" sz="1200" spc="-5">
                <a:latin typeface="Arial"/>
                <a:cs typeface="Arial"/>
              </a:rPr>
              <a:t>with</a:t>
            </a:r>
            <a:r>
              <a:rPr dirty="0" sz="1200" spc="25">
                <a:latin typeface="Arial"/>
                <a:cs typeface="Arial"/>
              </a:rPr>
              <a:t> </a:t>
            </a:r>
            <a:r>
              <a:rPr dirty="0" sz="1200" spc="-5">
                <a:latin typeface="Arial"/>
                <a:cs typeface="Arial"/>
              </a:rPr>
              <a:t>resistance.</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49295" y="9905322"/>
            <a:ext cx="476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5</a:t>
            </a:r>
            <a:endParaRPr sz="12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311265" cy="827024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Additional Material As Support For Past Paper</a:t>
            </a:r>
            <a:r>
              <a:rPr dirty="0" u="heavy" sz="1200" spc="30" b="1" i="1">
                <a:uFill>
                  <a:solidFill>
                    <a:srgbClr val="000000"/>
                  </a:solidFill>
                </a:uFill>
                <a:latin typeface="Arial"/>
                <a:cs typeface="Arial"/>
              </a:rPr>
              <a:t> </a:t>
            </a:r>
            <a:r>
              <a:rPr dirty="0" u="heavy" sz="1200" spc="-5" b="1" i="1">
                <a:uFill>
                  <a:solidFill>
                    <a:srgbClr val="000000"/>
                  </a:solidFill>
                </a:uFill>
                <a:latin typeface="Arial"/>
                <a:cs typeface="Arial"/>
              </a:rPr>
              <a:t>Questions</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Were the Arabs</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Religious?</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a:latin typeface="Arial"/>
                <a:cs typeface="Arial"/>
              </a:rPr>
              <a:t>If </a:t>
            </a:r>
            <a:r>
              <a:rPr dirty="0" sz="1200" spc="-10">
                <a:latin typeface="Arial"/>
                <a:cs typeface="Arial"/>
              </a:rPr>
              <a:t>we </a:t>
            </a:r>
            <a:r>
              <a:rPr dirty="0" sz="1200" spc="-5">
                <a:latin typeface="Arial"/>
                <a:cs typeface="Arial"/>
              </a:rPr>
              <a:t>consider </a:t>
            </a:r>
            <a:r>
              <a:rPr dirty="0" sz="1200">
                <a:latin typeface="Arial"/>
                <a:cs typeface="Arial"/>
              </a:rPr>
              <a:t>it </a:t>
            </a:r>
            <a:r>
              <a:rPr dirty="0" sz="1200" spc="-5">
                <a:latin typeface="Arial"/>
                <a:cs typeface="Arial"/>
              </a:rPr>
              <a:t>on </a:t>
            </a:r>
            <a:r>
              <a:rPr dirty="0" sz="1200" spc="-10">
                <a:latin typeface="Arial"/>
                <a:cs typeface="Arial"/>
              </a:rPr>
              <a:t>the </a:t>
            </a:r>
            <a:r>
              <a:rPr dirty="0" sz="1200" spc="-5">
                <a:latin typeface="Arial"/>
                <a:cs typeface="Arial"/>
              </a:rPr>
              <a:t>side that they followed their </a:t>
            </a:r>
            <a:r>
              <a:rPr dirty="0" sz="1200">
                <a:latin typeface="Arial"/>
                <a:cs typeface="Arial"/>
              </a:rPr>
              <a:t>religions – whether </a:t>
            </a:r>
            <a:r>
              <a:rPr dirty="0" sz="1200" spc="-10">
                <a:latin typeface="Arial"/>
                <a:cs typeface="Arial"/>
              </a:rPr>
              <a:t>good </a:t>
            </a:r>
            <a:r>
              <a:rPr dirty="0" sz="1200" spc="-5">
                <a:latin typeface="Arial"/>
                <a:cs typeface="Arial"/>
              </a:rPr>
              <a:t>or bad </a:t>
            </a:r>
            <a:r>
              <a:rPr dirty="0" sz="1200">
                <a:latin typeface="Arial"/>
                <a:cs typeface="Arial"/>
              </a:rPr>
              <a:t>– </a:t>
            </a:r>
            <a:r>
              <a:rPr dirty="0" sz="1200" spc="-10">
                <a:latin typeface="Arial"/>
                <a:cs typeface="Arial"/>
              </a:rPr>
              <a:t>then  we </a:t>
            </a:r>
            <a:r>
              <a:rPr dirty="0" sz="1200">
                <a:latin typeface="Arial"/>
                <a:cs typeface="Arial"/>
              </a:rPr>
              <a:t>must </a:t>
            </a:r>
            <a:r>
              <a:rPr dirty="0" sz="1200" spc="-5">
                <a:latin typeface="Arial"/>
                <a:cs typeface="Arial"/>
              </a:rPr>
              <a:t>say </a:t>
            </a:r>
            <a:r>
              <a:rPr dirty="0" sz="1200">
                <a:latin typeface="Arial"/>
                <a:cs typeface="Arial"/>
              </a:rPr>
              <a:t>that they </a:t>
            </a:r>
            <a:r>
              <a:rPr dirty="0" sz="1200" spc="-5">
                <a:latin typeface="Arial"/>
                <a:cs typeface="Arial"/>
              </a:rPr>
              <a:t>were religious. </a:t>
            </a:r>
            <a:r>
              <a:rPr dirty="0" sz="1200">
                <a:latin typeface="Arial"/>
                <a:cs typeface="Arial"/>
              </a:rPr>
              <a:t>A </a:t>
            </a:r>
            <a:r>
              <a:rPr dirty="0" sz="1200" spc="-5">
                <a:latin typeface="Arial"/>
                <a:cs typeface="Arial"/>
              </a:rPr>
              <a:t>Hindu is a religious person when he is abiding by his  </a:t>
            </a:r>
            <a:r>
              <a:rPr dirty="0" sz="1200">
                <a:latin typeface="Arial"/>
                <a:cs typeface="Arial"/>
              </a:rPr>
              <a:t>book </a:t>
            </a:r>
            <a:r>
              <a:rPr dirty="0" sz="1200" spc="-5">
                <a:latin typeface="Arial"/>
                <a:cs typeface="Arial"/>
              </a:rPr>
              <a:t>and religion. BUT </a:t>
            </a:r>
            <a:r>
              <a:rPr dirty="0" sz="1200">
                <a:latin typeface="Arial"/>
                <a:cs typeface="Arial"/>
              </a:rPr>
              <a:t>a </a:t>
            </a:r>
            <a:r>
              <a:rPr dirty="0" sz="1200" spc="-5">
                <a:latin typeface="Arial"/>
                <a:cs typeface="Arial"/>
              </a:rPr>
              <a:t>Muslim is not </a:t>
            </a:r>
            <a:r>
              <a:rPr dirty="0" sz="1200">
                <a:latin typeface="Arial"/>
                <a:cs typeface="Arial"/>
              </a:rPr>
              <a:t>a </a:t>
            </a:r>
            <a:r>
              <a:rPr dirty="0" sz="1200" spc="-5">
                <a:latin typeface="Arial"/>
                <a:cs typeface="Arial"/>
              </a:rPr>
              <a:t>religious </a:t>
            </a:r>
            <a:r>
              <a:rPr dirty="0" sz="1200">
                <a:latin typeface="Arial"/>
                <a:cs typeface="Arial"/>
              </a:rPr>
              <a:t>person </a:t>
            </a:r>
            <a:r>
              <a:rPr dirty="0" sz="1200" spc="-10">
                <a:latin typeface="Arial"/>
                <a:cs typeface="Arial"/>
              </a:rPr>
              <a:t>if </a:t>
            </a:r>
            <a:r>
              <a:rPr dirty="0" sz="1200">
                <a:latin typeface="Arial"/>
                <a:cs typeface="Arial"/>
              </a:rPr>
              <a:t>he </a:t>
            </a:r>
            <a:r>
              <a:rPr dirty="0" sz="1200" spc="-5">
                <a:latin typeface="Arial"/>
                <a:cs typeface="Arial"/>
              </a:rPr>
              <a:t>is </a:t>
            </a:r>
            <a:r>
              <a:rPr dirty="0" sz="1200">
                <a:latin typeface="Arial"/>
                <a:cs typeface="Arial"/>
              </a:rPr>
              <a:t>not </a:t>
            </a:r>
            <a:r>
              <a:rPr dirty="0" sz="1200" spc="-5">
                <a:latin typeface="Arial"/>
                <a:cs typeface="Arial"/>
              </a:rPr>
              <a:t>abiding </a:t>
            </a:r>
            <a:r>
              <a:rPr dirty="0" sz="1200">
                <a:latin typeface="Arial"/>
                <a:cs typeface="Arial"/>
              </a:rPr>
              <a:t>by the </a:t>
            </a:r>
            <a:r>
              <a:rPr dirty="0" sz="1200" spc="-5">
                <a:latin typeface="Arial"/>
                <a:cs typeface="Arial"/>
              </a:rPr>
              <a:t>Qur‘an  and the Hadith. </a:t>
            </a:r>
            <a:r>
              <a:rPr dirty="0" sz="1200">
                <a:latin typeface="Arial"/>
                <a:cs typeface="Arial"/>
              </a:rPr>
              <a:t>So, </a:t>
            </a:r>
            <a:r>
              <a:rPr dirty="0" sz="1200" spc="-5">
                <a:latin typeface="Arial"/>
                <a:cs typeface="Arial"/>
              </a:rPr>
              <a:t>whether pre </a:t>
            </a:r>
            <a:r>
              <a:rPr dirty="0" sz="1200">
                <a:latin typeface="Arial"/>
                <a:cs typeface="Arial"/>
              </a:rPr>
              <a:t>Islamic </a:t>
            </a:r>
            <a:r>
              <a:rPr dirty="0" sz="1200" spc="-5">
                <a:latin typeface="Arial"/>
                <a:cs typeface="Arial"/>
              </a:rPr>
              <a:t>Arabs were religious or </a:t>
            </a:r>
            <a:r>
              <a:rPr dirty="0" sz="1200">
                <a:latin typeface="Arial"/>
                <a:cs typeface="Arial"/>
              </a:rPr>
              <a:t>not, it </a:t>
            </a:r>
            <a:r>
              <a:rPr dirty="0" sz="1200" spc="-5">
                <a:latin typeface="Arial"/>
                <a:cs typeface="Arial"/>
              </a:rPr>
              <a:t>depends </a:t>
            </a:r>
            <a:r>
              <a:rPr dirty="0" sz="1200" spc="-10">
                <a:latin typeface="Arial"/>
                <a:cs typeface="Arial"/>
              </a:rPr>
              <a:t>on </a:t>
            </a:r>
            <a:r>
              <a:rPr dirty="0" sz="1200">
                <a:latin typeface="Arial"/>
                <a:cs typeface="Arial"/>
              </a:rPr>
              <a:t>the  </a:t>
            </a:r>
            <a:r>
              <a:rPr dirty="0" sz="1200" spc="-5">
                <a:latin typeface="Arial"/>
                <a:cs typeface="Arial"/>
              </a:rPr>
              <a:t>elaboration of their religious beliefs and practices. </a:t>
            </a:r>
            <a:r>
              <a:rPr dirty="0" sz="1200">
                <a:latin typeface="Arial"/>
                <a:cs typeface="Arial"/>
              </a:rPr>
              <a:t>It </a:t>
            </a:r>
            <a:r>
              <a:rPr dirty="0" sz="1200" spc="-5">
                <a:latin typeface="Arial"/>
                <a:cs typeface="Arial"/>
              </a:rPr>
              <a:t>could </a:t>
            </a:r>
            <a:r>
              <a:rPr dirty="0" sz="1200" spc="-10">
                <a:latin typeface="Arial"/>
                <a:cs typeface="Arial"/>
              </a:rPr>
              <a:t>be </a:t>
            </a:r>
            <a:r>
              <a:rPr dirty="0" sz="1200" spc="-5">
                <a:latin typeface="Arial"/>
                <a:cs typeface="Arial"/>
              </a:rPr>
              <a:t>seen that the Arabs </a:t>
            </a:r>
            <a:r>
              <a:rPr dirty="0" sz="1200" spc="-10">
                <a:latin typeface="Arial"/>
                <a:cs typeface="Arial"/>
              </a:rPr>
              <a:t>would  </a:t>
            </a:r>
            <a:r>
              <a:rPr dirty="0" sz="1200" spc="-5">
                <a:latin typeface="Arial"/>
                <a:cs typeface="Arial"/>
              </a:rPr>
              <a:t>always consult their priest and kahin before doing or attempting to something. </a:t>
            </a:r>
            <a:r>
              <a:rPr dirty="0" sz="1200">
                <a:latin typeface="Arial"/>
                <a:cs typeface="Arial"/>
              </a:rPr>
              <a:t>They </a:t>
            </a:r>
            <a:r>
              <a:rPr dirty="0" sz="1200" spc="-5">
                <a:latin typeface="Arial"/>
                <a:cs typeface="Arial"/>
              </a:rPr>
              <a:t>had  different gods and </a:t>
            </a:r>
            <a:r>
              <a:rPr dirty="0" sz="1200" spc="-10">
                <a:latin typeface="Arial"/>
                <a:cs typeface="Arial"/>
              </a:rPr>
              <a:t>idols </a:t>
            </a:r>
            <a:r>
              <a:rPr dirty="0" sz="1200" spc="10">
                <a:latin typeface="Arial"/>
                <a:cs typeface="Arial"/>
              </a:rPr>
              <a:t>for </a:t>
            </a:r>
            <a:r>
              <a:rPr dirty="0" sz="1200">
                <a:latin typeface="Arial"/>
                <a:cs typeface="Arial"/>
              </a:rPr>
              <a:t>their </a:t>
            </a:r>
            <a:r>
              <a:rPr dirty="0" sz="1200" spc="-5">
                <a:latin typeface="Arial"/>
                <a:cs typeface="Arial"/>
              </a:rPr>
              <a:t>different activities. </a:t>
            </a:r>
            <a:r>
              <a:rPr dirty="0" sz="1200">
                <a:latin typeface="Arial"/>
                <a:cs typeface="Arial"/>
              </a:rPr>
              <a:t>They </a:t>
            </a:r>
            <a:r>
              <a:rPr dirty="0" sz="1200" spc="-5">
                <a:latin typeface="Arial"/>
                <a:cs typeface="Arial"/>
              </a:rPr>
              <a:t>made sacrifices and </a:t>
            </a:r>
            <a:r>
              <a:rPr dirty="0" sz="1200">
                <a:latin typeface="Arial"/>
                <a:cs typeface="Arial"/>
              </a:rPr>
              <a:t>fasted for  </a:t>
            </a:r>
            <a:r>
              <a:rPr dirty="0" sz="1200" spc="-5">
                <a:latin typeface="Arial"/>
                <a:cs typeface="Arial"/>
              </a:rPr>
              <a:t>favours from Allah. There </a:t>
            </a:r>
            <a:r>
              <a:rPr dirty="0" sz="1200">
                <a:latin typeface="Arial"/>
                <a:cs typeface="Arial"/>
              </a:rPr>
              <a:t>are many </a:t>
            </a:r>
            <a:r>
              <a:rPr dirty="0" sz="1200" spc="-5">
                <a:latin typeface="Arial"/>
                <a:cs typeface="Arial"/>
              </a:rPr>
              <a:t>ways </a:t>
            </a:r>
            <a:r>
              <a:rPr dirty="0" sz="1200">
                <a:latin typeface="Arial"/>
                <a:cs typeface="Arial"/>
              </a:rPr>
              <a:t>to elaborate on </a:t>
            </a:r>
            <a:r>
              <a:rPr dirty="0" sz="1200" spc="-5">
                <a:latin typeface="Arial"/>
                <a:cs typeface="Arial"/>
              </a:rPr>
              <a:t>the above question. However, </a:t>
            </a:r>
            <a:r>
              <a:rPr dirty="0" sz="1200">
                <a:latin typeface="Arial"/>
                <a:cs typeface="Arial"/>
              </a:rPr>
              <a:t>if </a:t>
            </a:r>
            <a:r>
              <a:rPr dirty="0" sz="1200" spc="-5">
                <a:latin typeface="Arial"/>
                <a:cs typeface="Arial"/>
              </a:rPr>
              <a:t>the  question </a:t>
            </a:r>
            <a:r>
              <a:rPr dirty="0" sz="1200" spc="-10">
                <a:latin typeface="Arial"/>
                <a:cs typeface="Arial"/>
              </a:rPr>
              <a:t>was </a:t>
            </a:r>
            <a:r>
              <a:rPr dirty="0" sz="1200" spc="-5">
                <a:latin typeface="Arial"/>
                <a:cs typeface="Arial"/>
              </a:rPr>
              <a:t>compared </a:t>
            </a:r>
            <a:r>
              <a:rPr dirty="0" sz="1200">
                <a:latin typeface="Arial"/>
                <a:cs typeface="Arial"/>
              </a:rPr>
              <a:t>to </a:t>
            </a:r>
            <a:r>
              <a:rPr dirty="0" sz="1200" spc="-5">
                <a:latin typeface="Arial"/>
                <a:cs typeface="Arial"/>
              </a:rPr>
              <a:t>Islam, then they were not religious people as </a:t>
            </a:r>
            <a:r>
              <a:rPr dirty="0" sz="1200">
                <a:latin typeface="Arial"/>
                <a:cs typeface="Arial"/>
              </a:rPr>
              <a:t>they </a:t>
            </a:r>
            <a:r>
              <a:rPr dirty="0" sz="1200" spc="-5">
                <a:latin typeface="Arial"/>
                <a:cs typeface="Arial"/>
              </a:rPr>
              <a:t>went in  contradiction to the principles of</a:t>
            </a:r>
            <a:r>
              <a:rPr dirty="0" sz="1200" spc="20">
                <a:latin typeface="Arial"/>
                <a:cs typeface="Arial"/>
              </a:rPr>
              <a:t> </a:t>
            </a:r>
            <a:r>
              <a:rPr dirty="0" sz="1200" spc="-5">
                <a:latin typeface="Arial"/>
                <a:cs typeface="Arial"/>
              </a:rPr>
              <a:t>Islam.</a:t>
            </a:r>
            <a:endParaRPr sz="1200">
              <a:latin typeface="Arial"/>
              <a:cs typeface="Arial"/>
            </a:endParaRPr>
          </a:p>
          <a:p>
            <a:pPr>
              <a:lnSpc>
                <a:spcPct val="100000"/>
              </a:lnSpc>
              <a:spcBef>
                <a:spcPts val="25"/>
              </a:spcBef>
            </a:pPr>
            <a:endParaRPr sz="1100">
              <a:latin typeface="Arial"/>
              <a:cs typeface="Arial"/>
            </a:endParaRPr>
          </a:p>
          <a:p>
            <a:pPr marL="12700">
              <a:lnSpc>
                <a:spcPct val="100000"/>
              </a:lnSpc>
            </a:pPr>
            <a:r>
              <a:rPr dirty="0" u="heavy" sz="1200" b="1" i="1">
                <a:uFill>
                  <a:solidFill>
                    <a:srgbClr val="000000"/>
                  </a:solidFill>
                </a:uFill>
                <a:latin typeface="Arial"/>
                <a:cs typeface="Arial"/>
              </a:rPr>
              <a:t>To what extent </a:t>
            </a:r>
            <a:r>
              <a:rPr dirty="0" u="heavy" sz="1200" spc="-5" b="1" i="1">
                <a:uFill>
                  <a:solidFill>
                    <a:srgbClr val="000000"/>
                  </a:solidFill>
                </a:uFill>
                <a:latin typeface="Arial"/>
                <a:cs typeface="Arial"/>
              </a:rPr>
              <a:t>were </a:t>
            </a:r>
            <a:r>
              <a:rPr dirty="0" u="heavy" sz="1200" spc="-10" b="1" i="1">
                <a:uFill>
                  <a:solidFill>
                    <a:srgbClr val="000000"/>
                  </a:solidFill>
                </a:uFill>
                <a:latin typeface="Arial"/>
                <a:cs typeface="Arial"/>
              </a:rPr>
              <a:t>the </a:t>
            </a:r>
            <a:r>
              <a:rPr dirty="0" u="heavy" sz="1200" spc="-5" b="1" i="1">
                <a:uFill>
                  <a:solidFill>
                    <a:srgbClr val="000000"/>
                  </a:solidFill>
                </a:uFill>
                <a:latin typeface="Arial"/>
                <a:cs typeface="Arial"/>
              </a:rPr>
              <a:t>Arabs Jalih </a:t>
            </a:r>
            <a:r>
              <a:rPr dirty="0" u="heavy" sz="1200" b="1" i="1">
                <a:uFill>
                  <a:solidFill>
                    <a:srgbClr val="000000"/>
                  </a:solidFill>
                </a:uFill>
                <a:latin typeface="Arial"/>
                <a:cs typeface="Arial"/>
              </a:rPr>
              <a:t>–</a:t>
            </a:r>
            <a:r>
              <a:rPr dirty="0" u="heavy" sz="1200" spc="30" b="1" i="1">
                <a:uFill>
                  <a:solidFill>
                    <a:srgbClr val="000000"/>
                  </a:solidFill>
                </a:uFill>
                <a:latin typeface="Arial"/>
                <a:cs typeface="Arial"/>
              </a:rPr>
              <a:t> </a:t>
            </a:r>
            <a:r>
              <a:rPr dirty="0" u="heavy" sz="1200" spc="-5" b="1" i="1">
                <a:uFill>
                  <a:solidFill>
                    <a:srgbClr val="000000"/>
                  </a:solidFill>
                </a:uFill>
                <a:latin typeface="Arial"/>
                <a:cs typeface="Arial"/>
              </a:rPr>
              <a:t>ignorant?</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a:latin typeface="Arial"/>
                <a:cs typeface="Arial"/>
              </a:rPr>
              <a:t>If </a:t>
            </a:r>
            <a:r>
              <a:rPr dirty="0" sz="1200" spc="-10">
                <a:latin typeface="Arial"/>
                <a:cs typeface="Arial"/>
              </a:rPr>
              <a:t>we </a:t>
            </a:r>
            <a:r>
              <a:rPr dirty="0" sz="1200" spc="-5">
                <a:latin typeface="Arial"/>
                <a:cs typeface="Arial"/>
              </a:rPr>
              <a:t>consider the </a:t>
            </a:r>
            <a:r>
              <a:rPr dirty="0" sz="1200">
                <a:latin typeface="Arial"/>
                <a:cs typeface="Arial"/>
              </a:rPr>
              <a:t>fact </a:t>
            </a:r>
            <a:r>
              <a:rPr dirty="0" sz="1200" spc="-5">
                <a:latin typeface="Arial"/>
                <a:cs typeface="Arial"/>
              </a:rPr>
              <a:t>that they committed </a:t>
            </a:r>
            <a:r>
              <a:rPr dirty="0" sz="1200">
                <a:latin typeface="Arial"/>
                <a:cs typeface="Arial"/>
              </a:rPr>
              <a:t>many </a:t>
            </a:r>
            <a:r>
              <a:rPr dirty="0" sz="1200" spc="-5">
                <a:latin typeface="Arial"/>
                <a:cs typeface="Arial"/>
              </a:rPr>
              <a:t>sins and atrocities upon Mankind and the  way </a:t>
            </a:r>
            <a:r>
              <a:rPr dirty="0" sz="1200">
                <a:latin typeface="Arial"/>
                <a:cs typeface="Arial"/>
              </a:rPr>
              <a:t>they </a:t>
            </a:r>
            <a:r>
              <a:rPr dirty="0" sz="1200" spc="-5">
                <a:latin typeface="Arial"/>
                <a:cs typeface="Arial"/>
              </a:rPr>
              <a:t>behaved, </a:t>
            </a:r>
            <a:r>
              <a:rPr dirty="0" sz="1200" spc="-10">
                <a:latin typeface="Arial"/>
                <a:cs typeface="Arial"/>
              </a:rPr>
              <a:t>we </a:t>
            </a:r>
            <a:r>
              <a:rPr dirty="0" sz="1200" spc="-5">
                <a:latin typeface="Arial"/>
                <a:cs typeface="Arial"/>
              </a:rPr>
              <a:t>can rightly say </a:t>
            </a:r>
            <a:r>
              <a:rPr dirty="0" sz="1200">
                <a:latin typeface="Arial"/>
                <a:cs typeface="Arial"/>
              </a:rPr>
              <a:t>that </a:t>
            </a:r>
            <a:r>
              <a:rPr dirty="0" sz="1200" spc="-5">
                <a:latin typeface="Arial"/>
                <a:cs typeface="Arial"/>
              </a:rPr>
              <a:t>they were jahil. However, </a:t>
            </a:r>
            <a:r>
              <a:rPr dirty="0" sz="1200">
                <a:latin typeface="Arial"/>
                <a:cs typeface="Arial"/>
              </a:rPr>
              <a:t>if </a:t>
            </a:r>
            <a:r>
              <a:rPr dirty="0" sz="1200" spc="-10">
                <a:latin typeface="Arial"/>
                <a:cs typeface="Arial"/>
              </a:rPr>
              <a:t>we </a:t>
            </a:r>
            <a:r>
              <a:rPr dirty="0" sz="1200" spc="-5">
                <a:latin typeface="Arial"/>
                <a:cs typeface="Arial"/>
              </a:rPr>
              <a:t>examine </a:t>
            </a:r>
            <a:r>
              <a:rPr dirty="0" sz="1200">
                <a:latin typeface="Arial"/>
                <a:cs typeface="Arial"/>
              </a:rPr>
              <a:t>their </a:t>
            </a:r>
            <a:r>
              <a:rPr dirty="0" sz="1200" spc="-5">
                <a:latin typeface="Arial"/>
                <a:cs typeface="Arial"/>
              </a:rPr>
              <a:t>life  style and especially how </a:t>
            </a:r>
            <a:r>
              <a:rPr dirty="0" sz="1200">
                <a:latin typeface="Arial"/>
                <a:cs typeface="Arial"/>
              </a:rPr>
              <a:t>they </a:t>
            </a:r>
            <a:r>
              <a:rPr dirty="0" sz="1200" spc="-5">
                <a:latin typeface="Arial"/>
                <a:cs typeface="Arial"/>
              </a:rPr>
              <a:t>obtained </a:t>
            </a:r>
            <a:r>
              <a:rPr dirty="0" sz="1200">
                <a:latin typeface="Arial"/>
                <a:cs typeface="Arial"/>
              </a:rPr>
              <a:t>money, </a:t>
            </a:r>
            <a:r>
              <a:rPr dirty="0" sz="1200" spc="-10">
                <a:latin typeface="Arial"/>
                <a:cs typeface="Arial"/>
              </a:rPr>
              <a:t>we </a:t>
            </a:r>
            <a:r>
              <a:rPr dirty="0" sz="1200" spc="-5">
                <a:latin typeface="Arial"/>
                <a:cs typeface="Arial"/>
              </a:rPr>
              <a:t>can </a:t>
            </a:r>
            <a:r>
              <a:rPr dirty="0" sz="1200" spc="-10">
                <a:latin typeface="Arial"/>
                <a:cs typeface="Arial"/>
              </a:rPr>
              <a:t>say </a:t>
            </a:r>
            <a:r>
              <a:rPr dirty="0" sz="1200">
                <a:latin typeface="Arial"/>
                <a:cs typeface="Arial"/>
              </a:rPr>
              <a:t>that </a:t>
            </a:r>
            <a:r>
              <a:rPr dirty="0" sz="1200" spc="-5">
                <a:latin typeface="Arial"/>
                <a:cs typeface="Arial"/>
              </a:rPr>
              <a:t>they were excellent </a:t>
            </a:r>
            <a:r>
              <a:rPr dirty="0" sz="1200" spc="-10">
                <a:latin typeface="Arial"/>
                <a:cs typeface="Arial"/>
              </a:rPr>
              <a:t>in  </a:t>
            </a:r>
            <a:r>
              <a:rPr dirty="0" sz="1200" spc="-5">
                <a:latin typeface="Arial"/>
                <a:cs typeface="Arial"/>
              </a:rPr>
              <a:t>retrieving </a:t>
            </a:r>
            <a:r>
              <a:rPr dirty="0" sz="1200">
                <a:latin typeface="Arial"/>
                <a:cs typeface="Arial"/>
              </a:rPr>
              <a:t>money </a:t>
            </a:r>
            <a:r>
              <a:rPr dirty="0" sz="1200" spc="-5">
                <a:latin typeface="Arial"/>
                <a:cs typeface="Arial"/>
              </a:rPr>
              <a:t>from people. Their system of </a:t>
            </a:r>
            <a:r>
              <a:rPr dirty="0" sz="1200" spc="-10">
                <a:latin typeface="Arial"/>
                <a:cs typeface="Arial"/>
              </a:rPr>
              <a:t>tax, </a:t>
            </a:r>
            <a:r>
              <a:rPr dirty="0" sz="1200" spc="-5">
                <a:latin typeface="Arial"/>
                <a:cs typeface="Arial"/>
              </a:rPr>
              <a:t>levies and interest really worked. </a:t>
            </a:r>
            <a:r>
              <a:rPr dirty="0" sz="1200">
                <a:latin typeface="Arial"/>
                <a:cs typeface="Arial"/>
              </a:rPr>
              <a:t>The </a:t>
            </a:r>
            <a:r>
              <a:rPr dirty="0" sz="1200" spc="-5">
                <a:latin typeface="Arial"/>
                <a:cs typeface="Arial"/>
              </a:rPr>
              <a:t>way  </a:t>
            </a:r>
            <a:r>
              <a:rPr dirty="0" sz="1200">
                <a:latin typeface="Arial"/>
                <a:cs typeface="Arial"/>
              </a:rPr>
              <a:t>they took </a:t>
            </a:r>
            <a:r>
              <a:rPr dirty="0" sz="1200" spc="-5">
                <a:latin typeface="Arial"/>
                <a:cs typeface="Arial"/>
              </a:rPr>
              <a:t>advantage </a:t>
            </a:r>
            <a:r>
              <a:rPr dirty="0" sz="1200">
                <a:latin typeface="Arial"/>
                <a:cs typeface="Arial"/>
              </a:rPr>
              <a:t>of </a:t>
            </a:r>
            <a:r>
              <a:rPr dirty="0" sz="1200" spc="-5">
                <a:latin typeface="Arial"/>
                <a:cs typeface="Arial"/>
              </a:rPr>
              <a:t>the ka‘abah </a:t>
            </a:r>
            <a:r>
              <a:rPr dirty="0" sz="1200">
                <a:latin typeface="Arial"/>
                <a:cs typeface="Arial"/>
              </a:rPr>
              <a:t>and </a:t>
            </a:r>
            <a:r>
              <a:rPr dirty="0" sz="1200" spc="-5">
                <a:latin typeface="Arial"/>
                <a:cs typeface="Arial"/>
              </a:rPr>
              <a:t>its strategic </a:t>
            </a:r>
            <a:r>
              <a:rPr dirty="0" sz="1200">
                <a:latin typeface="Arial"/>
                <a:cs typeface="Arial"/>
              </a:rPr>
              <a:t>position for business </a:t>
            </a:r>
            <a:r>
              <a:rPr dirty="0" sz="1200" spc="-10">
                <a:latin typeface="Arial"/>
                <a:cs typeface="Arial"/>
              </a:rPr>
              <a:t>was </a:t>
            </a:r>
            <a:r>
              <a:rPr dirty="0" sz="1200" spc="-5">
                <a:latin typeface="Arial"/>
                <a:cs typeface="Arial"/>
              </a:rPr>
              <a:t>praiseworthy.  They were experts in transplantation, business and treatment of skins </a:t>
            </a:r>
            <a:r>
              <a:rPr dirty="0" sz="1200">
                <a:latin typeface="Arial"/>
                <a:cs typeface="Arial"/>
              </a:rPr>
              <a:t>for </a:t>
            </a:r>
            <a:r>
              <a:rPr dirty="0" sz="1200" spc="-5">
                <a:latin typeface="Arial"/>
                <a:cs typeface="Arial"/>
              </a:rPr>
              <a:t>leather. </a:t>
            </a:r>
            <a:r>
              <a:rPr dirty="0" sz="1200">
                <a:latin typeface="Arial"/>
                <a:cs typeface="Arial"/>
              </a:rPr>
              <a:t>They </a:t>
            </a:r>
            <a:r>
              <a:rPr dirty="0" sz="1200" spc="-5">
                <a:latin typeface="Arial"/>
                <a:cs typeface="Arial"/>
              </a:rPr>
              <a:t>were  loyal towards </a:t>
            </a:r>
            <a:r>
              <a:rPr dirty="0" sz="1200">
                <a:latin typeface="Arial"/>
                <a:cs typeface="Arial"/>
              </a:rPr>
              <a:t>their leaders </a:t>
            </a:r>
            <a:r>
              <a:rPr dirty="0" sz="1200" spc="-5">
                <a:latin typeface="Arial"/>
                <a:cs typeface="Arial"/>
              </a:rPr>
              <a:t>and their tribes </a:t>
            </a:r>
            <a:r>
              <a:rPr dirty="0" sz="1200">
                <a:latin typeface="Arial"/>
                <a:cs typeface="Arial"/>
              </a:rPr>
              <a:t>for their </a:t>
            </a:r>
            <a:r>
              <a:rPr dirty="0" sz="1200" spc="-5">
                <a:latin typeface="Arial"/>
                <a:cs typeface="Arial"/>
              </a:rPr>
              <a:t>welfare. Some </a:t>
            </a:r>
            <a:r>
              <a:rPr dirty="0" sz="1200">
                <a:latin typeface="Arial"/>
                <a:cs typeface="Arial"/>
              </a:rPr>
              <a:t>of </a:t>
            </a:r>
            <a:r>
              <a:rPr dirty="0" sz="1200" spc="-5">
                <a:latin typeface="Arial"/>
                <a:cs typeface="Arial"/>
              </a:rPr>
              <a:t>them were experts in  poems. All positive aspects worthy </a:t>
            </a:r>
            <a:r>
              <a:rPr dirty="0" sz="1200">
                <a:latin typeface="Arial"/>
                <a:cs typeface="Arial"/>
              </a:rPr>
              <a:t>of </a:t>
            </a:r>
            <a:r>
              <a:rPr dirty="0" sz="1200" spc="-5">
                <a:latin typeface="Arial"/>
                <a:cs typeface="Arial"/>
              </a:rPr>
              <a:t>praise </a:t>
            </a:r>
            <a:r>
              <a:rPr dirty="0" sz="1200">
                <a:latin typeface="Arial"/>
                <a:cs typeface="Arial"/>
              </a:rPr>
              <a:t>should be </a:t>
            </a:r>
            <a:r>
              <a:rPr dirty="0" sz="1200" spc="-5">
                <a:latin typeface="Arial"/>
                <a:cs typeface="Arial"/>
              </a:rPr>
              <a:t>remembered and</a:t>
            </a:r>
            <a:r>
              <a:rPr dirty="0" sz="1200" spc="25">
                <a:latin typeface="Arial"/>
                <a:cs typeface="Arial"/>
              </a:rPr>
              <a:t> </a:t>
            </a:r>
            <a:r>
              <a:rPr dirty="0" sz="1200" spc="-5">
                <a:latin typeface="Arial"/>
                <a:cs typeface="Arial"/>
              </a:rPr>
              <a:t>mentioned.</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What was the importance and significance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Macca for pre Islamic</a:t>
            </a:r>
            <a:r>
              <a:rPr dirty="0" u="heavy" sz="1200" spc="105" b="1" i="1">
                <a:uFill>
                  <a:solidFill>
                    <a:srgbClr val="000000"/>
                  </a:solidFill>
                </a:uFill>
                <a:latin typeface="Arial"/>
                <a:cs typeface="Arial"/>
              </a:rPr>
              <a:t> </a:t>
            </a:r>
            <a:r>
              <a:rPr dirty="0" u="heavy" sz="1200" spc="-5" b="1" i="1">
                <a:uFill>
                  <a:solidFill>
                    <a:srgbClr val="000000"/>
                  </a:solidFill>
                </a:uFill>
                <a:latin typeface="Arial"/>
                <a:cs typeface="Arial"/>
              </a:rPr>
              <a:t>Arabs?</a:t>
            </a:r>
            <a:endParaRPr sz="1200">
              <a:latin typeface="Arial"/>
              <a:cs typeface="Arial"/>
            </a:endParaRPr>
          </a:p>
          <a:p>
            <a:pPr>
              <a:lnSpc>
                <a:spcPct val="100000"/>
              </a:lnSpc>
            </a:pPr>
            <a:endParaRPr sz="1150">
              <a:latin typeface="Arial"/>
              <a:cs typeface="Arial"/>
            </a:endParaRPr>
          </a:p>
          <a:p>
            <a:pPr marL="469900" indent="-229235">
              <a:lnSpc>
                <a:spcPts val="1410"/>
              </a:lnSpc>
              <a:buAutoNum type="arabicPeriod"/>
              <a:tabLst>
                <a:tab pos="470534" algn="l"/>
              </a:tabLst>
            </a:pPr>
            <a:r>
              <a:rPr dirty="0" sz="1200" spc="-5">
                <a:latin typeface="Arial"/>
                <a:cs typeface="Arial"/>
              </a:rPr>
              <a:t>The ka‘bah was the centre of their religious</a:t>
            </a:r>
            <a:r>
              <a:rPr dirty="0" sz="1200" spc="30">
                <a:latin typeface="Arial"/>
                <a:cs typeface="Arial"/>
              </a:rPr>
              <a:t> </a:t>
            </a:r>
            <a:r>
              <a:rPr dirty="0" sz="1200" spc="-5">
                <a:latin typeface="Arial"/>
                <a:cs typeface="Arial"/>
              </a:rPr>
              <a:t>ideals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Ka‘bah had the main idols within itself and the 360 idols around</a:t>
            </a:r>
            <a:r>
              <a:rPr dirty="0" sz="1200" spc="20">
                <a:latin typeface="Arial"/>
                <a:cs typeface="Arial"/>
              </a:rPr>
              <a:t> </a:t>
            </a:r>
            <a:r>
              <a:rPr dirty="0" sz="1200" spc="-5">
                <a:latin typeface="Arial"/>
                <a:cs typeface="Arial"/>
              </a:rPr>
              <a:t>it.</a:t>
            </a:r>
            <a:endParaRPr sz="1200">
              <a:latin typeface="Arial"/>
              <a:cs typeface="Arial"/>
            </a:endParaRPr>
          </a:p>
          <a:p>
            <a:pPr marL="469900" marR="8890" indent="-229235">
              <a:lnSpc>
                <a:spcPts val="1380"/>
              </a:lnSpc>
              <a:spcBef>
                <a:spcPts val="65"/>
              </a:spcBef>
              <a:buAutoNum type="arabicPeriod"/>
              <a:tabLst>
                <a:tab pos="470534" algn="l"/>
              </a:tabLst>
            </a:pPr>
            <a:r>
              <a:rPr dirty="0" sz="1200" spc="-5">
                <a:latin typeface="Arial"/>
                <a:cs typeface="Arial"/>
              </a:rPr>
              <a:t>The ka‘bah was already predominant in all religions </a:t>
            </a:r>
            <a:r>
              <a:rPr dirty="0" sz="1200">
                <a:latin typeface="Arial"/>
                <a:cs typeface="Arial"/>
              </a:rPr>
              <a:t>at that </a:t>
            </a:r>
            <a:r>
              <a:rPr dirty="0" sz="1200" spc="-5">
                <a:latin typeface="Arial"/>
                <a:cs typeface="Arial"/>
              </a:rPr>
              <a:t>time (Christianity, Judaism,  </a:t>
            </a:r>
            <a:r>
              <a:rPr dirty="0" sz="1200">
                <a:latin typeface="Arial"/>
                <a:cs typeface="Arial"/>
              </a:rPr>
              <a:t>Idol </a:t>
            </a:r>
            <a:r>
              <a:rPr dirty="0" sz="1200" spc="-5">
                <a:latin typeface="Arial"/>
                <a:cs typeface="Arial"/>
              </a:rPr>
              <a:t>worshipping, polytheism and</a:t>
            </a:r>
            <a:r>
              <a:rPr dirty="0" sz="1200" spc="5">
                <a:latin typeface="Arial"/>
                <a:cs typeface="Arial"/>
              </a:rPr>
              <a:t> </a:t>
            </a:r>
            <a:r>
              <a:rPr dirty="0" sz="1200" spc="-5">
                <a:latin typeface="Arial"/>
                <a:cs typeface="Arial"/>
              </a:rPr>
              <a:t>Hanif)</a:t>
            </a:r>
            <a:endParaRPr sz="1200">
              <a:latin typeface="Arial"/>
              <a:cs typeface="Arial"/>
            </a:endParaRPr>
          </a:p>
          <a:p>
            <a:pPr marL="469900" marR="11430" indent="-229235">
              <a:lnSpc>
                <a:spcPts val="1380"/>
              </a:lnSpc>
              <a:buAutoNum type="arabicPeriod"/>
              <a:tabLst>
                <a:tab pos="470534" algn="l"/>
              </a:tabLst>
            </a:pPr>
            <a:r>
              <a:rPr dirty="0" sz="1200" spc="-5">
                <a:latin typeface="Arial"/>
                <a:cs typeface="Arial"/>
              </a:rPr>
              <a:t>The ka‘bah was important </a:t>
            </a:r>
            <a:r>
              <a:rPr dirty="0" sz="1200">
                <a:latin typeface="Arial"/>
                <a:cs typeface="Arial"/>
              </a:rPr>
              <a:t>for </a:t>
            </a:r>
            <a:r>
              <a:rPr dirty="0" sz="1200" spc="-5">
                <a:latin typeface="Arial"/>
                <a:cs typeface="Arial"/>
              </a:rPr>
              <a:t>all figures of religions known </a:t>
            </a:r>
            <a:r>
              <a:rPr dirty="0" sz="1200">
                <a:latin typeface="Arial"/>
                <a:cs typeface="Arial"/>
              </a:rPr>
              <a:t>by </a:t>
            </a:r>
            <a:r>
              <a:rPr dirty="0" sz="1200" spc="-5">
                <a:latin typeface="Arial"/>
                <a:cs typeface="Arial"/>
              </a:rPr>
              <a:t>them (Adam, Ibrahim  </a:t>
            </a:r>
            <a:r>
              <a:rPr dirty="0" sz="1200">
                <a:latin typeface="Arial"/>
                <a:cs typeface="Arial"/>
              </a:rPr>
              <a:t>etc)</a:t>
            </a:r>
            <a:endParaRPr sz="1200">
              <a:latin typeface="Arial"/>
              <a:cs typeface="Arial"/>
            </a:endParaRPr>
          </a:p>
          <a:p>
            <a:pPr marL="469900" indent="-229235">
              <a:lnSpc>
                <a:spcPts val="1310"/>
              </a:lnSpc>
              <a:buAutoNum type="arabicPeriod"/>
              <a:tabLst>
                <a:tab pos="470534" algn="l"/>
              </a:tabLst>
            </a:pPr>
            <a:r>
              <a:rPr dirty="0" sz="1200">
                <a:latin typeface="Arial"/>
                <a:cs typeface="Arial"/>
              </a:rPr>
              <a:t>It </a:t>
            </a:r>
            <a:r>
              <a:rPr dirty="0" sz="1200" spc="-10">
                <a:latin typeface="Arial"/>
                <a:cs typeface="Arial"/>
              </a:rPr>
              <a:t>was </a:t>
            </a:r>
            <a:r>
              <a:rPr dirty="0" sz="1200" spc="-5">
                <a:latin typeface="Arial"/>
                <a:cs typeface="Arial"/>
              </a:rPr>
              <a:t>a symbol of superiority </a:t>
            </a:r>
            <a:r>
              <a:rPr dirty="0" sz="1200" spc="5">
                <a:latin typeface="Arial"/>
                <a:cs typeface="Arial"/>
              </a:rPr>
              <a:t>for </a:t>
            </a:r>
            <a:r>
              <a:rPr dirty="0" sz="1200" spc="-5">
                <a:latin typeface="Arial"/>
                <a:cs typeface="Arial"/>
              </a:rPr>
              <a:t>the one </a:t>
            </a:r>
            <a:r>
              <a:rPr dirty="0" sz="1200" spc="-10">
                <a:latin typeface="Arial"/>
                <a:cs typeface="Arial"/>
              </a:rPr>
              <a:t>who </a:t>
            </a:r>
            <a:r>
              <a:rPr dirty="0" sz="1200">
                <a:latin typeface="Arial"/>
                <a:cs typeface="Arial"/>
              </a:rPr>
              <a:t>had its</a:t>
            </a:r>
            <a:r>
              <a:rPr dirty="0" sz="1200" spc="20">
                <a:latin typeface="Arial"/>
                <a:cs typeface="Arial"/>
              </a:rPr>
              <a:t> </a:t>
            </a:r>
            <a:r>
              <a:rPr dirty="0" sz="1200" spc="-5">
                <a:latin typeface="Arial"/>
                <a:cs typeface="Arial"/>
              </a:rPr>
              <a:t>key</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All tribes fighting </a:t>
            </a:r>
            <a:r>
              <a:rPr dirty="0" sz="1200">
                <a:latin typeface="Arial"/>
                <a:cs typeface="Arial"/>
              </a:rPr>
              <a:t>to </a:t>
            </a:r>
            <a:r>
              <a:rPr dirty="0" sz="1200" spc="-5">
                <a:latin typeface="Arial"/>
                <a:cs typeface="Arial"/>
              </a:rPr>
              <a:t>achieve this standard proves </a:t>
            </a:r>
            <a:r>
              <a:rPr dirty="0" sz="1200">
                <a:latin typeface="Arial"/>
                <a:cs typeface="Arial"/>
              </a:rPr>
              <a:t>the </a:t>
            </a:r>
            <a:r>
              <a:rPr dirty="0" sz="1200" spc="-5">
                <a:latin typeface="Arial"/>
                <a:cs typeface="Arial"/>
              </a:rPr>
              <a:t>importance of</a:t>
            </a:r>
            <a:r>
              <a:rPr dirty="0" sz="1200" spc="50">
                <a:latin typeface="Arial"/>
                <a:cs typeface="Arial"/>
              </a:rPr>
              <a:t> </a:t>
            </a:r>
            <a:r>
              <a:rPr dirty="0" sz="1200" spc="-5">
                <a:latin typeface="Arial"/>
                <a:cs typeface="Arial"/>
              </a:rPr>
              <a:t>Macca</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10">
                <a:latin typeface="Arial"/>
                <a:cs typeface="Arial"/>
              </a:rPr>
              <a:t>was </a:t>
            </a:r>
            <a:r>
              <a:rPr dirty="0" sz="1200" spc="-5">
                <a:latin typeface="Arial"/>
                <a:cs typeface="Arial"/>
              </a:rPr>
              <a:t>a </a:t>
            </a:r>
            <a:r>
              <a:rPr dirty="0" sz="1200">
                <a:latin typeface="Arial"/>
                <a:cs typeface="Arial"/>
              </a:rPr>
              <a:t>source </a:t>
            </a:r>
            <a:r>
              <a:rPr dirty="0" sz="1200" spc="-5">
                <a:latin typeface="Arial"/>
                <a:cs typeface="Arial"/>
              </a:rPr>
              <a:t>of religious</a:t>
            </a:r>
            <a:r>
              <a:rPr dirty="0" sz="1200" spc="15">
                <a:latin typeface="Arial"/>
                <a:cs typeface="Arial"/>
              </a:rPr>
              <a:t> </a:t>
            </a:r>
            <a:r>
              <a:rPr dirty="0" sz="1200" spc="-5">
                <a:latin typeface="Arial"/>
                <a:cs typeface="Arial"/>
              </a:rPr>
              <a:t>inspiration</a:t>
            </a:r>
            <a:endParaRPr sz="1200">
              <a:latin typeface="Arial"/>
              <a:cs typeface="Arial"/>
            </a:endParaRPr>
          </a:p>
          <a:p>
            <a:pPr marL="469900" marR="6985" indent="-229235">
              <a:lnSpc>
                <a:spcPts val="1380"/>
              </a:lnSpc>
              <a:spcBef>
                <a:spcPts val="65"/>
              </a:spcBef>
              <a:buAutoNum type="arabicPeriod"/>
              <a:tabLst>
                <a:tab pos="470534" algn="l"/>
              </a:tabLst>
            </a:pPr>
            <a:r>
              <a:rPr dirty="0" sz="1200" spc="-5">
                <a:latin typeface="Arial"/>
                <a:cs typeface="Arial"/>
              </a:rPr>
              <a:t>The jews and the </a:t>
            </a:r>
            <a:r>
              <a:rPr dirty="0" sz="1200">
                <a:latin typeface="Arial"/>
                <a:cs typeface="Arial"/>
              </a:rPr>
              <a:t>Christians </a:t>
            </a:r>
            <a:r>
              <a:rPr dirty="0" sz="1200" spc="-5">
                <a:latin typeface="Arial"/>
                <a:cs typeface="Arial"/>
              </a:rPr>
              <a:t>knew </a:t>
            </a:r>
            <a:r>
              <a:rPr dirty="0" sz="1200">
                <a:latin typeface="Arial"/>
                <a:cs typeface="Arial"/>
              </a:rPr>
              <a:t>that </a:t>
            </a:r>
            <a:r>
              <a:rPr dirty="0" sz="1200" spc="-5">
                <a:latin typeface="Arial"/>
                <a:cs typeface="Arial"/>
              </a:rPr>
              <a:t>70000 Prophets were buried in between the  hajar aswad and </a:t>
            </a:r>
            <a:r>
              <a:rPr dirty="0" sz="1200">
                <a:latin typeface="Arial"/>
                <a:cs typeface="Arial"/>
              </a:rPr>
              <a:t>the </a:t>
            </a:r>
            <a:r>
              <a:rPr dirty="0" sz="1200" spc="-5">
                <a:latin typeface="Arial"/>
                <a:cs typeface="Arial"/>
              </a:rPr>
              <a:t>mizab</a:t>
            </a:r>
            <a:r>
              <a:rPr dirty="0" sz="1200" spc="-10">
                <a:latin typeface="Arial"/>
                <a:cs typeface="Arial"/>
              </a:rPr>
              <a:t> </a:t>
            </a:r>
            <a:r>
              <a:rPr dirty="0" sz="1200" spc="-5">
                <a:latin typeface="Arial"/>
                <a:cs typeface="Arial"/>
              </a:rPr>
              <a:t>rahmah</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Developed </a:t>
            </a:r>
            <a:r>
              <a:rPr dirty="0" sz="1200" spc="-60">
                <a:latin typeface="Arial"/>
                <a:cs typeface="Arial"/>
              </a:rPr>
              <a:t>‗haram‘ </a:t>
            </a:r>
            <a:r>
              <a:rPr dirty="0" sz="1200" spc="-10">
                <a:latin typeface="Arial"/>
                <a:cs typeface="Arial"/>
              </a:rPr>
              <a:t>with </a:t>
            </a:r>
            <a:r>
              <a:rPr dirty="0" sz="1200">
                <a:latin typeface="Arial"/>
                <a:cs typeface="Arial"/>
              </a:rPr>
              <a:t>20 mile </a:t>
            </a:r>
            <a:r>
              <a:rPr dirty="0" sz="1200" spc="-5">
                <a:latin typeface="Arial"/>
                <a:cs typeface="Arial"/>
              </a:rPr>
              <a:t>radius of Ka‘ba, violence</a:t>
            </a:r>
            <a:r>
              <a:rPr dirty="0" sz="1200" spc="70">
                <a:latin typeface="Arial"/>
                <a:cs typeface="Arial"/>
              </a:rPr>
              <a:t> </a:t>
            </a:r>
            <a:r>
              <a:rPr dirty="0" sz="1200" spc="-5">
                <a:latin typeface="Arial"/>
                <a:cs typeface="Arial"/>
              </a:rPr>
              <a:t>forbidden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Arabs also </a:t>
            </a:r>
            <a:r>
              <a:rPr dirty="0" sz="1200">
                <a:latin typeface="Arial"/>
                <a:cs typeface="Arial"/>
              </a:rPr>
              <a:t>made pacts </a:t>
            </a:r>
            <a:r>
              <a:rPr dirty="0" sz="1200" spc="-5">
                <a:latin typeface="Arial"/>
                <a:cs typeface="Arial"/>
              </a:rPr>
              <a:t>with tribes not </a:t>
            </a:r>
            <a:r>
              <a:rPr dirty="0" sz="1200">
                <a:latin typeface="Arial"/>
                <a:cs typeface="Arial"/>
              </a:rPr>
              <a:t>to attack </a:t>
            </a:r>
            <a:r>
              <a:rPr dirty="0" sz="1200" spc="-5">
                <a:latin typeface="Arial"/>
                <a:cs typeface="Arial"/>
              </a:rPr>
              <a:t>caravans during season of</a:t>
            </a:r>
            <a:r>
              <a:rPr dirty="0" sz="1200" spc="30">
                <a:latin typeface="Arial"/>
                <a:cs typeface="Arial"/>
              </a:rPr>
              <a:t> </a:t>
            </a:r>
            <a:r>
              <a:rPr dirty="0" sz="1200" spc="-5">
                <a:latin typeface="Arial"/>
                <a:cs typeface="Arial"/>
              </a:rPr>
              <a:t>trade</a:t>
            </a:r>
            <a:endParaRPr sz="1200">
              <a:latin typeface="Arial"/>
              <a:cs typeface="Arial"/>
            </a:endParaRPr>
          </a:p>
          <a:p>
            <a:pPr marL="469900" marR="8890" indent="-229235">
              <a:lnSpc>
                <a:spcPts val="1380"/>
              </a:lnSpc>
              <a:spcBef>
                <a:spcPts val="65"/>
              </a:spcBef>
              <a:buAutoNum type="arabicPeriod"/>
              <a:tabLst>
                <a:tab pos="470534" algn="l"/>
              </a:tabLst>
            </a:pPr>
            <a:r>
              <a:rPr dirty="0" sz="1200">
                <a:latin typeface="Arial"/>
                <a:cs typeface="Arial"/>
              </a:rPr>
              <a:t>It </a:t>
            </a:r>
            <a:r>
              <a:rPr dirty="0" sz="1200" spc="-10">
                <a:latin typeface="Arial"/>
                <a:cs typeface="Arial"/>
              </a:rPr>
              <a:t>was </a:t>
            </a:r>
            <a:r>
              <a:rPr dirty="0" sz="1200">
                <a:latin typeface="Arial"/>
                <a:cs typeface="Arial"/>
              </a:rPr>
              <a:t>the </a:t>
            </a:r>
            <a:r>
              <a:rPr dirty="0" sz="1200" spc="-5">
                <a:latin typeface="Arial"/>
                <a:cs typeface="Arial"/>
              </a:rPr>
              <a:t>centre of </a:t>
            </a:r>
            <a:r>
              <a:rPr dirty="0" sz="1200">
                <a:latin typeface="Arial"/>
                <a:cs typeface="Arial"/>
              </a:rPr>
              <a:t>trade </a:t>
            </a:r>
            <a:r>
              <a:rPr dirty="0" sz="1200" spc="-5">
                <a:latin typeface="Arial"/>
                <a:cs typeface="Arial"/>
              </a:rPr>
              <a:t>in </a:t>
            </a:r>
            <a:r>
              <a:rPr dirty="0" sz="1200">
                <a:latin typeface="Arial"/>
                <a:cs typeface="Arial"/>
              </a:rPr>
              <a:t>the </a:t>
            </a:r>
            <a:r>
              <a:rPr dirty="0" sz="1200" spc="-5">
                <a:latin typeface="Arial"/>
                <a:cs typeface="Arial"/>
              </a:rPr>
              <a:t>desert situated on crossroads of </a:t>
            </a:r>
            <a:r>
              <a:rPr dirty="0" sz="1200">
                <a:latin typeface="Arial"/>
                <a:cs typeface="Arial"/>
              </a:rPr>
              <a:t>trade </a:t>
            </a:r>
            <a:r>
              <a:rPr dirty="0" sz="1200" spc="-5">
                <a:latin typeface="Arial"/>
                <a:cs typeface="Arial"/>
              </a:rPr>
              <a:t>routes, from  Yemen </a:t>
            </a:r>
            <a:r>
              <a:rPr dirty="0" sz="1200">
                <a:latin typeface="Arial"/>
                <a:cs typeface="Arial"/>
              </a:rPr>
              <a:t>to </a:t>
            </a:r>
            <a:r>
              <a:rPr dirty="0" sz="1200" spc="-5">
                <a:latin typeface="Arial"/>
                <a:cs typeface="Arial"/>
              </a:rPr>
              <a:t>Syria, Abyssinia </a:t>
            </a:r>
            <a:r>
              <a:rPr dirty="0" sz="1200">
                <a:latin typeface="Arial"/>
                <a:cs typeface="Arial"/>
              </a:rPr>
              <a:t>to</a:t>
            </a:r>
            <a:r>
              <a:rPr dirty="0" sz="1200" spc="-5">
                <a:latin typeface="Arial"/>
                <a:cs typeface="Arial"/>
              </a:rPr>
              <a:t> </a:t>
            </a:r>
            <a:r>
              <a:rPr dirty="0" sz="1200">
                <a:latin typeface="Arial"/>
                <a:cs typeface="Arial"/>
              </a:rPr>
              <a:t>Iraq</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Meccans were shrewd </a:t>
            </a:r>
            <a:r>
              <a:rPr dirty="0" sz="1200">
                <a:latin typeface="Arial"/>
                <a:cs typeface="Arial"/>
              </a:rPr>
              <a:t>financiers </a:t>
            </a:r>
            <a:r>
              <a:rPr dirty="0" sz="1200" spc="-5">
                <a:latin typeface="Arial"/>
                <a:cs typeface="Arial"/>
              </a:rPr>
              <a:t>thus Mecca became leading financial</a:t>
            </a:r>
            <a:r>
              <a:rPr dirty="0" sz="1200" spc="40">
                <a:latin typeface="Arial"/>
                <a:cs typeface="Arial"/>
              </a:rPr>
              <a:t> </a:t>
            </a:r>
            <a:r>
              <a:rPr dirty="0" sz="1200" spc="-5">
                <a:latin typeface="Arial"/>
                <a:cs typeface="Arial"/>
              </a:rPr>
              <a:t>centre</a:t>
            </a:r>
            <a:endParaRPr sz="1200">
              <a:latin typeface="Arial"/>
              <a:cs typeface="Arial"/>
            </a:endParaRPr>
          </a:p>
          <a:p>
            <a:pPr marL="469900" indent="-229235">
              <a:lnSpc>
                <a:spcPts val="1380"/>
              </a:lnSpc>
              <a:buAutoNum type="arabicPeriod"/>
              <a:tabLst>
                <a:tab pos="470534" algn="l"/>
              </a:tabLst>
            </a:pPr>
            <a:r>
              <a:rPr dirty="0" sz="1200">
                <a:latin typeface="Arial"/>
                <a:cs typeface="Arial"/>
              </a:rPr>
              <a:t>Business </a:t>
            </a:r>
            <a:r>
              <a:rPr dirty="0" sz="1200" spc="-5">
                <a:latin typeface="Arial"/>
                <a:cs typeface="Arial"/>
              </a:rPr>
              <a:t>flourished through </a:t>
            </a:r>
            <a:r>
              <a:rPr dirty="0" sz="1200">
                <a:latin typeface="Arial"/>
                <a:cs typeface="Arial"/>
              </a:rPr>
              <a:t>its</a:t>
            </a:r>
            <a:r>
              <a:rPr dirty="0" sz="1200" spc="-15">
                <a:latin typeface="Arial"/>
                <a:cs typeface="Arial"/>
              </a:rPr>
              <a:t> </a:t>
            </a:r>
            <a:r>
              <a:rPr dirty="0" sz="1200">
                <a:latin typeface="Arial"/>
                <a:cs typeface="Arial"/>
              </a:rPr>
              <a:t>markets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Taxes and levies were imposed as means of obtaining</a:t>
            </a:r>
            <a:r>
              <a:rPr dirty="0" sz="1200" spc="40">
                <a:latin typeface="Arial"/>
                <a:cs typeface="Arial"/>
              </a:rPr>
              <a:t> </a:t>
            </a:r>
            <a:r>
              <a:rPr dirty="0" sz="1200" spc="-5">
                <a:latin typeface="Arial"/>
                <a:cs typeface="Arial"/>
              </a:rPr>
              <a:t>money</a:t>
            </a:r>
            <a:endParaRPr sz="1200">
              <a:latin typeface="Arial"/>
              <a:cs typeface="Arial"/>
            </a:endParaRPr>
          </a:p>
          <a:p>
            <a:pPr marL="469900" indent="-229235">
              <a:lnSpc>
                <a:spcPts val="1410"/>
              </a:lnSpc>
              <a:buAutoNum type="arabicPeriod"/>
              <a:tabLst>
                <a:tab pos="470534" algn="l"/>
              </a:tabLst>
            </a:pPr>
            <a:r>
              <a:rPr dirty="0" sz="1200">
                <a:latin typeface="Arial"/>
                <a:cs typeface="Arial"/>
              </a:rPr>
              <a:t>Sanctity </a:t>
            </a:r>
            <a:r>
              <a:rPr dirty="0" sz="1200" spc="-5">
                <a:latin typeface="Arial"/>
                <a:cs typeface="Arial"/>
              </a:rPr>
              <a:t>of Ka‘ba and pilgrimage </a:t>
            </a:r>
            <a:r>
              <a:rPr dirty="0" sz="1200">
                <a:latin typeface="Arial"/>
                <a:cs typeface="Arial"/>
              </a:rPr>
              <a:t>to Mecca </a:t>
            </a:r>
            <a:r>
              <a:rPr dirty="0" sz="1200" spc="-5">
                <a:latin typeface="Arial"/>
                <a:cs typeface="Arial"/>
              </a:rPr>
              <a:t>was essential to survival of</a:t>
            </a:r>
            <a:r>
              <a:rPr dirty="0" sz="1200" spc="35">
                <a:latin typeface="Arial"/>
                <a:cs typeface="Arial"/>
              </a:rPr>
              <a:t> </a:t>
            </a:r>
            <a:r>
              <a:rPr dirty="0" sz="1200" spc="-5">
                <a:latin typeface="Arial"/>
                <a:cs typeface="Arial"/>
              </a:rPr>
              <a:t>Quraish</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49295" y="9905322"/>
            <a:ext cx="476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6</a:t>
            </a:r>
            <a:endParaRPr sz="12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9161780"/>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12700">
              <a:lnSpc>
                <a:spcPct val="100000"/>
              </a:lnSpc>
              <a:spcBef>
                <a:spcPts val="5"/>
              </a:spcBef>
            </a:pPr>
            <a:r>
              <a:rPr dirty="0" u="heavy" sz="1200" spc="-5" b="1" i="1">
                <a:uFill>
                  <a:solidFill>
                    <a:srgbClr val="000000"/>
                  </a:solidFill>
                </a:uFill>
                <a:latin typeface="Arial"/>
                <a:cs typeface="Arial"/>
              </a:rPr>
              <a:t>Was the System </a:t>
            </a:r>
            <a:r>
              <a:rPr dirty="0" u="heavy" sz="1200" b="1" i="1">
                <a:uFill>
                  <a:solidFill>
                    <a:srgbClr val="000000"/>
                  </a:solidFill>
                </a:uFill>
                <a:latin typeface="Arial"/>
                <a:cs typeface="Arial"/>
              </a:rPr>
              <a:t>of </a:t>
            </a:r>
            <a:r>
              <a:rPr dirty="0" u="heavy" sz="1200" spc="-10" b="1" i="1">
                <a:uFill>
                  <a:solidFill>
                    <a:srgbClr val="000000"/>
                  </a:solidFill>
                </a:uFill>
                <a:latin typeface="Arial"/>
                <a:cs typeface="Arial"/>
              </a:rPr>
              <a:t>the </a:t>
            </a:r>
            <a:r>
              <a:rPr dirty="0" u="heavy" sz="1200" spc="-5" b="1" i="1">
                <a:uFill>
                  <a:solidFill>
                    <a:srgbClr val="000000"/>
                  </a:solidFill>
                </a:uFill>
                <a:latin typeface="Arial"/>
                <a:cs typeface="Arial"/>
              </a:rPr>
              <a:t>Arabs </a:t>
            </a:r>
            <a:r>
              <a:rPr dirty="0" u="heavy" sz="1200" b="1" i="1">
                <a:uFill>
                  <a:solidFill>
                    <a:srgbClr val="000000"/>
                  </a:solidFill>
                </a:uFill>
                <a:latin typeface="Arial"/>
                <a:cs typeface="Arial"/>
              </a:rPr>
              <a:t>still </a:t>
            </a:r>
            <a:r>
              <a:rPr dirty="0" u="heavy" sz="1200" spc="-5" b="1" i="1">
                <a:uFill>
                  <a:solidFill>
                    <a:srgbClr val="000000"/>
                  </a:solidFill>
                </a:uFill>
                <a:latin typeface="Arial"/>
                <a:cs typeface="Arial"/>
              </a:rPr>
              <a:t>important after the coming </a:t>
            </a:r>
            <a:r>
              <a:rPr dirty="0" u="heavy" sz="1200" b="1" i="1">
                <a:uFill>
                  <a:solidFill>
                    <a:srgbClr val="000000"/>
                  </a:solidFill>
                </a:uFill>
                <a:latin typeface="Arial"/>
                <a:cs typeface="Arial"/>
              </a:rPr>
              <a:t>of </a:t>
            </a:r>
            <a:r>
              <a:rPr dirty="0" u="heavy" sz="1200" spc="-10" b="1" i="1">
                <a:uFill>
                  <a:solidFill>
                    <a:srgbClr val="000000"/>
                  </a:solidFill>
                </a:uFill>
                <a:latin typeface="Arial"/>
                <a:cs typeface="Arial"/>
              </a:rPr>
              <a:t>the </a:t>
            </a:r>
            <a:r>
              <a:rPr dirty="0" u="heavy" sz="1200" spc="-5" b="1" i="1">
                <a:uFill>
                  <a:solidFill>
                    <a:srgbClr val="000000"/>
                  </a:solidFill>
                </a:uFill>
                <a:latin typeface="Arial"/>
                <a:cs typeface="Arial"/>
              </a:rPr>
              <a:t>Prophet</a:t>
            </a:r>
            <a:r>
              <a:rPr dirty="0" u="heavy" sz="1200" spc="175" b="1" i="1">
                <a:uFill>
                  <a:solidFill>
                    <a:srgbClr val="000000"/>
                  </a:solidFill>
                </a:uFill>
                <a:latin typeface="Arial"/>
                <a:cs typeface="Arial"/>
              </a:rPr>
              <a:t> </a:t>
            </a:r>
            <a:r>
              <a:rPr dirty="0" u="heavy" sz="1200" spc="-5" b="1" i="1">
                <a:uFill>
                  <a:solidFill>
                    <a:srgbClr val="000000"/>
                  </a:solidFill>
                </a:uFill>
                <a:latin typeface="Arial"/>
                <a:cs typeface="Arial"/>
              </a:rPr>
              <a:t>(s.a.w)?</a:t>
            </a:r>
            <a:endParaRPr sz="1200">
              <a:latin typeface="Arial"/>
              <a:cs typeface="Arial"/>
            </a:endParaRPr>
          </a:p>
          <a:p>
            <a:pPr>
              <a:lnSpc>
                <a:spcPct val="100000"/>
              </a:lnSpc>
              <a:spcBef>
                <a:spcPts val="35"/>
              </a:spcBef>
            </a:pPr>
            <a:endParaRPr sz="1200">
              <a:latin typeface="Arial"/>
              <a:cs typeface="Arial"/>
            </a:endParaRPr>
          </a:p>
          <a:p>
            <a:pPr algn="just" marL="12700" marR="11430">
              <a:lnSpc>
                <a:spcPts val="1380"/>
              </a:lnSpc>
            </a:pPr>
            <a:r>
              <a:rPr dirty="0" sz="1200">
                <a:latin typeface="Arial"/>
                <a:cs typeface="Arial"/>
              </a:rPr>
              <a:t>With </a:t>
            </a:r>
            <a:r>
              <a:rPr dirty="0" sz="1200" spc="-5">
                <a:latin typeface="Arial"/>
                <a:cs typeface="Arial"/>
              </a:rPr>
              <a:t>the coming of the prophet of Islam (s.a.w) </a:t>
            </a:r>
            <a:r>
              <a:rPr dirty="0" sz="1200">
                <a:latin typeface="Arial"/>
                <a:cs typeface="Arial"/>
              </a:rPr>
              <a:t>there </a:t>
            </a:r>
            <a:r>
              <a:rPr dirty="0" sz="1200" spc="-5">
                <a:latin typeface="Arial"/>
                <a:cs typeface="Arial"/>
              </a:rPr>
              <a:t>have been </a:t>
            </a:r>
            <a:r>
              <a:rPr dirty="0" sz="1200">
                <a:latin typeface="Arial"/>
                <a:cs typeface="Arial"/>
              </a:rPr>
              <a:t>many </a:t>
            </a:r>
            <a:r>
              <a:rPr dirty="0" sz="1200" spc="-5">
                <a:latin typeface="Arial"/>
                <a:cs typeface="Arial"/>
              </a:rPr>
              <a:t>changes in the way  people were </a:t>
            </a:r>
            <a:r>
              <a:rPr dirty="0" sz="1200">
                <a:latin typeface="Arial"/>
                <a:cs typeface="Arial"/>
              </a:rPr>
              <a:t>but </a:t>
            </a:r>
            <a:r>
              <a:rPr dirty="0" sz="1200" spc="-5">
                <a:latin typeface="Arial"/>
                <a:cs typeface="Arial"/>
              </a:rPr>
              <a:t>there are things that have been adapted </a:t>
            </a:r>
            <a:r>
              <a:rPr dirty="0" sz="1200">
                <a:latin typeface="Arial"/>
                <a:cs typeface="Arial"/>
              </a:rPr>
              <a:t>or </a:t>
            </a:r>
            <a:r>
              <a:rPr dirty="0" sz="1200" spc="-5">
                <a:latin typeface="Arial"/>
                <a:cs typeface="Arial"/>
              </a:rPr>
              <a:t>adopted </a:t>
            </a:r>
            <a:r>
              <a:rPr dirty="0" sz="1200">
                <a:latin typeface="Arial"/>
                <a:cs typeface="Arial"/>
              </a:rPr>
              <a:t>by </a:t>
            </a:r>
            <a:r>
              <a:rPr dirty="0" sz="1200" spc="-5">
                <a:latin typeface="Arial"/>
                <a:cs typeface="Arial"/>
              </a:rPr>
              <a:t>the prophet</a:t>
            </a:r>
            <a:r>
              <a:rPr dirty="0" sz="1200" spc="65">
                <a:latin typeface="Arial"/>
                <a:cs typeface="Arial"/>
              </a:rPr>
              <a:t> </a:t>
            </a:r>
            <a:r>
              <a:rPr dirty="0" sz="1200" spc="-5">
                <a:latin typeface="Arial"/>
                <a:cs typeface="Arial"/>
              </a:rPr>
              <a:t>(s.a.w).</a:t>
            </a:r>
            <a:endParaRPr sz="1200">
              <a:latin typeface="Arial"/>
              <a:cs typeface="Arial"/>
            </a:endParaRPr>
          </a:p>
          <a:p>
            <a:pPr>
              <a:lnSpc>
                <a:spcPct val="100000"/>
              </a:lnSpc>
            </a:pPr>
            <a:endParaRPr sz="1200">
              <a:latin typeface="Arial"/>
              <a:cs typeface="Arial"/>
            </a:endParaRPr>
          </a:p>
          <a:p>
            <a:pPr algn="just" marL="12700" marR="6350">
              <a:lnSpc>
                <a:spcPts val="1380"/>
              </a:lnSpc>
            </a:pPr>
            <a:r>
              <a:rPr dirty="0" sz="1200">
                <a:latin typeface="Arial"/>
                <a:cs typeface="Arial"/>
              </a:rPr>
              <a:t>On </a:t>
            </a:r>
            <a:r>
              <a:rPr dirty="0" sz="1200" spc="-5">
                <a:latin typeface="Arial"/>
                <a:cs typeface="Arial"/>
              </a:rPr>
              <a:t>the social aspects, </a:t>
            </a:r>
            <a:r>
              <a:rPr dirty="0" sz="1200">
                <a:latin typeface="Arial"/>
                <a:cs typeface="Arial"/>
              </a:rPr>
              <a:t>the </a:t>
            </a:r>
            <a:r>
              <a:rPr dirty="0" sz="1200" spc="-5">
                <a:latin typeface="Arial"/>
                <a:cs typeface="Arial"/>
              </a:rPr>
              <a:t>prophet changed </a:t>
            </a:r>
            <a:r>
              <a:rPr dirty="0" sz="1200">
                <a:latin typeface="Arial"/>
                <a:cs typeface="Arial"/>
              </a:rPr>
              <a:t>the </a:t>
            </a:r>
            <a:r>
              <a:rPr dirty="0" sz="1200" spc="-10">
                <a:latin typeface="Arial"/>
                <a:cs typeface="Arial"/>
              </a:rPr>
              <a:t>way </a:t>
            </a:r>
            <a:r>
              <a:rPr dirty="0" sz="1200" spc="-5">
                <a:latin typeface="Arial"/>
                <a:cs typeface="Arial"/>
              </a:rPr>
              <a:t>people thought about human being in  general, giving </a:t>
            </a:r>
            <a:r>
              <a:rPr dirty="0" sz="1200">
                <a:latin typeface="Arial"/>
                <a:cs typeface="Arial"/>
              </a:rPr>
              <a:t>more </a:t>
            </a:r>
            <a:r>
              <a:rPr dirty="0" sz="1200" spc="-5">
                <a:latin typeface="Arial"/>
                <a:cs typeface="Arial"/>
              </a:rPr>
              <a:t>value </a:t>
            </a:r>
            <a:r>
              <a:rPr dirty="0" sz="1200">
                <a:latin typeface="Arial"/>
                <a:cs typeface="Arial"/>
              </a:rPr>
              <a:t>to </a:t>
            </a:r>
            <a:r>
              <a:rPr dirty="0" sz="1200" spc="-5">
                <a:latin typeface="Arial"/>
                <a:cs typeface="Arial"/>
              </a:rPr>
              <a:t>life. Girls were no </a:t>
            </a:r>
            <a:r>
              <a:rPr dirty="0" sz="1200">
                <a:latin typeface="Arial"/>
                <a:cs typeface="Arial"/>
              </a:rPr>
              <a:t>more </a:t>
            </a:r>
            <a:r>
              <a:rPr dirty="0" sz="1200" spc="-5">
                <a:latin typeface="Arial"/>
                <a:cs typeface="Arial"/>
              </a:rPr>
              <a:t>buried alive. </a:t>
            </a:r>
            <a:r>
              <a:rPr dirty="0" sz="1200">
                <a:latin typeface="Arial"/>
                <a:cs typeface="Arial"/>
              </a:rPr>
              <a:t>Women </a:t>
            </a:r>
            <a:r>
              <a:rPr dirty="0" sz="1200" spc="-5">
                <a:latin typeface="Arial"/>
                <a:cs typeface="Arial"/>
              </a:rPr>
              <a:t>were no more </a:t>
            </a:r>
            <a:r>
              <a:rPr dirty="0" sz="1200" spc="10">
                <a:latin typeface="Arial"/>
                <a:cs typeface="Arial"/>
              </a:rPr>
              <a:t>ill-  </a:t>
            </a:r>
            <a:r>
              <a:rPr dirty="0" sz="1200">
                <a:latin typeface="Arial"/>
                <a:cs typeface="Arial"/>
              </a:rPr>
              <a:t>treated. </a:t>
            </a:r>
            <a:r>
              <a:rPr dirty="0" sz="1200" spc="-5">
                <a:latin typeface="Arial"/>
                <a:cs typeface="Arial"/>
              </a:rPr>
              <a:t>They had their rights in all aspects of </a:t>
            </a:r>
            <a:r>
              <a:rPr dirty="0" sz="1200">
                <a:latin typeface="Arial"/>
                <a:cs typeface="Arial"/>
              </a:rPr>
              <a:t>life. The </a:t>
            </a:r>
            <a:r>
              <a:rPr dirty="0" sz="1200" spc="-5">
                <a:latin typeface="Arial"/>
                <a:cs typeface="Arial"/>
              </a:rPr>
              <a:t>status of </a:t>
            </a:r>
            <a:r>
              <a:rPr dirty="0" sz="1200" spc="-10">
                <a:latin typeface="Arial"/>
                <a:cs typeface="Arial"/>
              </a:rPr>
              <a:t>old </a:t>
            </a:r>
            <a:r>
              <a:rPr dirty="0" sz="1200">
                <a:latin typeface="Arial"/>
                <a:cs typeface="Arial"/>
              </a:rPr>
              <a:t>persons, </a:t>
            </a:r>
            <a:r>
              <a:rPr dirty="0" sz="1200" spc="-5">
                <a:latin typeface="Arial"/>
                <a:cs typeface="Arial"/>
              </a:rPr>
              <a:t>orphans </a:t>
            </a:r>
            <a:r>
              <a:rPr dirty="0" sz="1200">
                <a:latin typeface="Arial"/>
                <a:cs typeface="Arial"/>
              </a:rPr>
              <a:t>and </a:t>
            </a:r>
            <a:r>
              <a:rPr dirty="0" sz="1200" spc="-10">
                <a:latin typeface="Arial"/>
                <a:cs typeface="Arial"/>
              </a:rPr>
              <a:t>the  </a:t>
            </a:r>
            <a:r>
              <a:rPr dirty="0" sz="1200" spc="-5">
                <a:latin typeface="Arial"/>
                <a:cs typeface="Arial"/>
              </a:rPr>
              <a:t>poor were elevated. Singing, dancing and drinking around fire camps were eliminated. No  </a:t>
            </a:r>
            <a:r>
              <a:rPr dirty="0" sz="1200">
                <a:latin typeface="Arial"/>
                <a:cs typeface="Arial"/>
              </a:rPr>
              <a:t>more </a:t>
            </a:r>
            <a:r>
              <a:rPr dirty="0" sz="1200" spc="-5">
                <a:latin typeface="Arial"/>
                <a:cs typeface="Arial"/>
              </a:rPr>
              <a:t>inequality existed. However, </a:t>
            </a:r>
            <a:r>
              <a:rPr dirty="0" sz="1200">
                <a:latin typeface="Arial"/>
                <a:cs typeface="Arial"/>
              </a:rPr>
              <a:t>men </a:t>
            </a:r>
            <a:r>
              <a:rPr dirty="0" sz="1200" spc="-5">
                <a:latin typeface="Arial"/>
                <a:cs typeface="Arial"/>
              </a:rPr>
              <a:t>were still </a:t>
            </a:r>
            <a:r>
              <a:rPr dirty="0" sz="1200">
                <a:latin typeface="Arial"/>
                <a:cs typeface="Arial"/>
              </a:rPr>
              <a:t>the </a:t>
            </a:r>
            <a:r>
              <a:rPr dirty="0" sz="1200" spc="-5">
                <a:latin typeface="Arial"/>
                <a:cs typeface="Arial"/>
              </a:rPr>
              <a:t>breadwinners </a:t>
            </a:r>
            <a:r>
              <a:rPr dirty="0" sz="1200">
                <a:latin typeface="Arial"/>
                <a:cs typeface="Arial"/>
              </a:rPr>
              <a:t>at </a:t>
            </a:r>
            <a:r>
              <a:rPr dirty="0" sz="1200" spc="-5">
                <a:latin typeface="Arial"/>
                <a:cs typeface="Arial"/>
              </a:rPr>
              <a:t>home. </a:t>
            </a:r>
            <a:r>
              <a:rPr dirty="0" sz="1200">
                <a:latin typeface="Arial"/>
                <a:cs typeface="Arial"/>
              </a:rPr>
              <a:t>They took </a:t>
            </a:r>
            <a:r>
              <a:rPr dirty="0" sz="1200" spc="-5">
                <a:latin typeface="Arial"/>
                <a:cs typeface="Arial"/>
              </a:rPr>
              <a:t>the  whole responsibility of </a:t>
            </a:r>
            <a:r>
              <a:rPr dirty="0" sz="1200">
                <a:latin typeface="Arial"/>
                <a:cs typeface="Arial"/>
              </a:rPr>
              <a:t>the </a:t>
            </a:r>
            <a:r>
              <a:rPr dirty="0" sz="1200" spc="-5">
                <a:latin typeface="Arial"/>
                <a:cs typeface="Arial"/>
              </a:rPr>
              <a:t>smooth running of the society. Men remained the leaders and  administrators. The family </a:t>
            </a:r>
            <a:r>
              <a:rPr dirty="0" sz="1200">
                <a:latin typeface="Arial"/>
                <a:cs typeface="Arial"/>
              </a:rPr>
              <a:t>life </a:t>
            </a:r>
            <a:r>
              <a:rPr dirty="0" sz="1200" spc="-5">
                <a:latin typeface="Arial"/>
                <a:cs typeface="Arial"/>
              </a:rPr>
              <a:t>around the father, mother and kids took momentum. </a:t>
            </a:r>
            <a:r>
              <a:rPr dirty="0" sz="1200">
                <a:latin typeface="Arial"/>
                <a:cs typeface="Arial"/>
              </a:rPr>
              <a:t>The </a:t>
            </a:r>
            <a:r>
              <a:rPr dirty="0" sz="1200" spc="-10">
                <a:latin typeface="Arial"/>
                <a:cs typeface="Arial"/>
              </a:rPr>
              <a:t>say  </a:t>
            </a:r>
            <a:r>
              <a:rPr dirty="0" sz="1200" spc="-5">
                <a:latin typeface="Arial"/>
                <a:cs typeface="Arial"/>
              </a:rPr>
              <a:t>and decisions of </a:t>
            </a:r>
            <a:r>
              <a:rPr dirty="0" sz="1200">
                <a:latin typeface="Arial"/>
                <a:cs typeface="Arial"/>
              </a:rPr>
              <a:t>the </a:t>
            </a:r>
            <a:r>
              <a:rPr dirty="0" sz="1200" spc="-5">
                <a:latin typeface="Arial"/>
                <a:cs typeface="Arial"/>
              </a:rPr>
              <a:t>leaders </a:t>
            </a:r>
            <a:r>
              <a:rPr dirty="0" sz="1200" spc="-10">
                <a:latin typeface="Arial"/>
                <a:cs typeface="Arial"/>
              </a:rPr>
              <a:t>were</a:t>
            </a:r>
            <a:r>
              <a:rPr dirty="0" sz="1200" spc="-15">
                <a:latin typeface="Arial"/>
                <a:cs typeface="Arial"/>
              </a:rPr>
              <a:t> </a:t>
            </a:r>
            <a:r>
              <a:rPr dirty="0" sz="1200" spc="-5">
                <a:latin typeface="Arial"/>
                <a:cs typeface="Arial"/>
              </a:rPr>
              <a:t>respected.</a:t>
            </a:r>
            <a:endParaRPr sz="1200">
              <a:latin typeface="Arial"/>
              <a:cs typeface="Arial"/>
            </a:endParaRPr>
          </a:p>
          <a:p>
            <a:pPr>
              <a:lnSpc>
                <a:spcPct val="100000"/>
              </a:lnSpc>
              <a:spcBef>
                <a:spcPts val="5"/>
              </a:spcBef>
            </a:pPr>
            <a:endParaRPr sz="1200">
              <a:latin typeface="Arial"/>
              <a:cs typeface="Arial"/>
            </a:endParaRPr>
          </a:p>
          <a:p>
            <a:pPr algn="just" marL="12700" marR="5080">
              <a:lnSpc>
                <a:spcPts val="1380"/>
              </a:lnSpc>
            </a:pPr>
            <a:r>
              <a:rPr dirty="0" sz="1200">
                <a:latin typeface="Arial"/>
                <a:cs typeface="Arial"/>
              </a:rPr>
              <a:t>On the </a:t>
            </a:r>
            <a:r>
              <a:rPr dirty="0" sz="1200" spc="-5">
                <a:latin typeface="Arial"/>
                <a:cs typeface="Arial"/>
              </a:rPr>
              <a:t>economic conditions, bribes, taxes, levies and </a:t>
            </a:r>
            <a:r>
              <a:rPr dirty="0" sz="1200">
                <a:latin typeface="Arial"/>
                <a:cs typeface="Arial"/>
              </a:rPr>
              <a:t>interest </a:t>
            </a:r>
            <a:r>
              <a:rPr dirty="0" sz="1200" spc="-5">
                <a:latin typeface="Arial"/>
                <a:cs typeface="Arial"/>
              </a:rPr>
              <a:t>were eliminated. Human and  slaves </a:t>
            </a:r>
            <a:r>
              <a:rPr dirty="0" sz="1200">
                <a:latin typeface="Arial"/>
                <a:cs typeface="Arial"/>
              </a:rPr>
              <a:t>markets </a:t>
            </a:r>
            <a:r>
              <a:rPr dirty="0" sz="1200" spc="-5">
                <a:latin typeface="Arial"/>
                <a:cs typeface="Arial"/>
              </a:rPr>
              <a:t>were eradicated. Sex </a:t>
            </a:r>
            <a:r>
              <a:rPr dirty="0" sz="1200">
                <a:latin typeface="Arial"/>
                <a:cs typeface="Arial"/>
              </a:rPr>
              <a:t>business </a:t>
            </a:r>
            <a:r>
              <a:rPr dirty="0" sz="1200" spc="-5">
                <a:latin typeface="Arial"/>
                <a:cs typeface="Arial"/>
              </a:rPr>
              <a:t>and any kind of </a:t>
            </a:r>
            <a:r>
              <a:rPr dirty="0" sz="1200">
                <a:latin typeface="Arial"/>
                <a:cs typeface="Arial"/>
              </a:rPr>
              <a:t>business </a:t>
            </a:r>
            <a:r>
              <a:rPr dirty="0" sz="1200" spc="-5">
                <a:latin typeface="Arial"/>
                <a:cs typeface="Arial"/>
              </a:rPr>
              <a:t>involving </a:t>
            </a:r>
            <a:r>
              <a:rPr dirty="0" sz="1200">
                <a:latin typeface="Arial"/>
                <a:cs typeface="Arial"/>
              </a:rPr>
              <a:t>illicit  </a:t>
            </a:r>
            <a:r>
              <a:rPr dirty="0" sz="1200" spc="-5">
                <a:latin typeface="Arial"/>
                <a:cs typeface="Arial"/>
              </a:rPr>
              <a:t>activities were banned. Business of idols </a:t>
            </a:r>
            <a:r>
              <a:rPr dirty="0" sz="1200" spc="-10">
                <a:latin typeface="Arial"/>
                <a:cs typeface="Arial"/>
              </a:rPr>
              <a:t>was </a:t>
            </a:r>
            <a:r>
              <a:rPr dirty="0" sz="1200" spc="-5">
                <a:latin typeface="Arial"/>
                <a:cs typeface="Arial"/>
              </a:rPr>
              <a:t>declared Haram. However, inland and foreign  businesses, agricultural products and leather products were continued. Rules </a:t>
            </a:r>
            <a:r>
              <a:rPr dirty="0" sz="1200" spc="15">
                <a:latin typeface="Arial"/>
                <a:cs typeface="Arial"/>
              </a:rPr>
              <a:t>and  </a:t>
            </a:r>
            <a:r>
              <a:rPr dirty="0" sz="1200" spc="-5">
                <a:latin typeface="Arial"/>
                <a:cs typeface="Arial"/>
              </a:rPr>
              <a:t>regulations concerning </a:t>
            </a:r>
            <a:r>
              <a:rPr dirty="0" sz="1200">
                <a:latin typeface="Arial"/>
                <a:cs typeface="Arial"/>
              </a:rPr>
              <a:t>business </a:t>
            </a:r>
            <a:r>
              <a:rPr dirty="0" sz="1200" spc="-5">
                <a:latin typeface="Arial"/>
                <a:cs typeface="Arial"/>
              </a:rPr>
              <a:t>were implemented. Different markets were praised but now  had been rendered open to</a:t>
            </a:r>
            <a:r>
              <a:rPr dirty="0" sz="1200" spc="5">
                <a:latin typeface="Arial"/>
                <a:cs typeface="Arial"/>
              </a:rPr>
              <a:t> </a:t>
            </a:r>
            <a:r>
              <a:rPr dirty="0" sz="1200" spc="-5">
                <a:latin typeface="Arial"/>
                <a:cs typeface="Arial"/>
              </a:rPr>
              <a:t>all.</a:t>
            </a:r>
            <a:endParaRPr sz="1200">
              <a:latin typeface="Arial"/>
              <a:cs typeface="Arial"/>
            </a:endParaRPr>
          </a:p>
          <a:p>
            <a:pPr>
              <a:lnSpc>
                <a:spcPct val="100000"/>
              </a:lnSpc>
              <a:spcBef>
                <a:spcPts val="20"/>
              </a:spcBef>
            </a:pPr>
            <a:endParaRPr sz="1150">
              <a:latin typeface="Arial"/>
              <a:cs typeface="Arial"/>
            </a:endParaRPr>
          </a:p>
          <a:p>
            <a:pPr algn="just" marL="12700" marR="8255">
              <a:lnSpc>
                <a:spcPct val="95900"/>
              </a:lnSpc>
            </a:pPr>
            <a:r>
              <a:rPr dirty="0" sz="1200" spc="-5">
                <a:latin typeface="Arial"/>
                <a:cs typeface="Arial"/>
              </a:rPr>
              <a:t>Religiously, all concepts related to polytheism and idol worshipping were banned. </a:t>
            </a:r>
            <a:r>
              <a:rPr dirty="0" sz="1200">
                <a:latin typeface="Arial"/>
                <a:cs typeface="Arial"/>
              </a:rPr>
              <a:t>The </a:t>
            </a:r>
            <a:r>
              <a:rPr dirty="0" sz="1200" spc="-5">
                <a:latin typeface="Arial"/>
                <a:cs typeface="Arial"/>
              </a:rPr>
              <a:t>ka‘bah  </a:t>
            </a:r>
            <a:r>
              <a:rPr dirty="0" sz="1200" spc="-10">
                <a:latin typeface="Arial"/>
                <a:cs typeface="Arial"/>
              </a:rPr>
              <a:t>was </a:t>
            </a:r>
            <a:r>
              <a:rPr dirty="0" sz="1200">
                <a:latin typeface="Arial"/>
                <a:cs typeface="Arial"/>
              </a:rPr>
              <a:t>cleaned </a:t>
            </a:r>
            <a:r>
              <a:rPr dirty="0" sz="1200" spc="-5">
                <a:latin typeface="Arial"/>
                <a:cs typeface="Arial"/>
              </a:rPr>
              <a:t>from all </a:t>
            </a:r>
            <a:r>
              <a:rPr dirty="0" sz="1200">
                <a:latin typeface="Arial"/>
                <a:cs typeface="Arial"/>
              </a:rPr>
              <a:t>filths. </a:t>
            </a:r>
            <a:r>
              <a:rPr dirty="0" sz="1200" spc="-5">
                <a:latin typeface="Arial"/>
                <a:cs typeface="Arial"/>
              </a:rPr>
              <a:t>All human sacrifices were banned. All </a:t>
            </a:r>
            <a:r>
              <a:rPr dirty="0" sz="1200">
                <a:latin typeface="Arial"/>
                <a:cs typeface="Arial"/>
              </a:rPr>
              <a:t>idols </a:t>
            </a:r>
            <a:r>
              <a:rPr dirty="0" sz="1200" spc="-5">
                <a:latin typeface="Arial"/>
                <a:cs typeface="Arial"/>
              </a:rPr>
              <a:t>were destroyed. All  kahin, soothsayers and </a:t>
            </a:r>
            <a:r>
              <a:rPr dirty="0" sz="1200">
                <a:latin typeface="Arial"/>
                <a:cs typeface="Arial"/>
              </a:rPr>
              <a:t>fortune </a:t>
            </a:r>
            <a:r>
              <a:rPr dirty="0" sz="1200" spc="-5">
                <a:latin typeface="Arial"/>
                <a:cs typeface="Arial"/>
              </a:rPr>
              <a:t>tellers were out of </a:t>
            </a:r>
            <a:r>
              <a:rPr dirty="0" sz="1200">
                <a:latin typeface="Arial"/>
                <a:cs typeface="Arial"/>
              </a:rPr>
              <a:t>the </a:t>
            </a:r>
            <a:r>
              <a:rPr dirty="0" sz="1200" spc="-5">
                <a:latin typeface="Arial"/>
                <a:cs typeface="Arial"/>
              </a:rPr>
              <a:t>market. However, </a:t>
            </a:r>
            <a:r>
              <a:rPr dirty="0" sz="1200">
                <a:latin typeface="Arial"/>
                <a:cs typeface="Arial"/>
              </a:rPr>
              <a:t>the </a:t>
            </a:r>
            <a:r>
              <a:rPr dirty="0" sz="1200" spc="-5">
                <a:latin typeface="Arial"/>
                <a:cs typeface="Arial"/>
              </a:rPr>
              <a:t>concepts of </a:t>
            </a:r>
            <a:r>
              <a:rPr dirty="0" sz="1200">
                <a:latin typeface="Arial"/>
                <a:cs typeface="Arial"/>
              </a:rPr>
              <a:t>the  </a:t>
            </a:r>
            <a:r>
              <a:rPr dirty="0" sz="1200" spc="-5">
                <a:latin typeface="Arial"/>
                <a:cs typeface="Arial"/>
              </a:rPr>
              <a:t>Hanif </a:t>
            </a:r>
            <a:r>
              <a:rPr dirty="0" sz="1200">
                <a:latin typeface="Arial"/>
                <a:cs typeface="Arial"/>
              </a:rPr>
              <a:t>– </a:t>
            </a:r>
            <a:r>
              <a:rPr dirty="0" sz="1200" spc="-5">
                <a:latin typeface="Arial"/>
                <a:cs typeface="Arial"/>
              </a:rPr>
              <a:t>monotheism </a:t>
            </a:r>
            <a:r>
              <a:rPr dirty="0" sz="1200">
                <a:latin typeface="Arial"/>
                <a:cs typeface="Arial"/>
              </a:rPr>
              <a:t>– </a:t>
            </a:r>
            <a:r>
              <a:rPr dirty="0" sz="1200" spc="-5">
                <a:latin typeface="Arial"/>
                <a:cs typeface="Arial"/>
              </a:rPr>
              <a:t>were adopted. Fasting and religious </a:t>
            </a:r>
            <a:r>
              <a:rPr dirty="0" sz="1200">
                <a:latin typeface="Arial"/>
                <a:cs typeface="Arial"/>
              </a:rPr>
              <a:t>feasts </a:t>
            </a:r>
            <a:r>
              <a:rPr dirty="0" sz="1200" spc="-5">
                <a:latin typeface="Arial"/>
                <a:cs typeface="Arial"/>
              </a:rPr>
              <a:t>were continued. </a:t>
            </a:r>
            <a:r>
              <a:rPr dirty="0" sz="1200">
                <a:latin typeface="Arial"/>
                <a:cs typeface="Arial"/>
              </a:rPr>
              <a:t>The </a:t>
            </a:r>
            <a:r>
              <a:rPr dirty="0" sz="1200" spc="-5">
                <a:latin typeface="Arial"/>
                <a:cs typeface="Arial"/>
              </a:rPr>
              <a:t>same  fervent </a:t>
            </a:r>
            <a:r>
              <a:rPr dirty="0" sz="1200">
                <a:latin typeface="Arial"/>
                <a:cs typeface="Arial"/>
              </a:rPr>
              <a:t>for </a:t>
            </a:r>
            <a:r>
              <a:rPr dirty="0" sz="1200" spc="-5">
                <a:latin typeface="Arial"/>
                <a:cs typeface="Arial"/>
              </a:rPr>
              <a:t>religious beliefs and practices were adopted. The Tawaaf of the Ka‘bah </a:t>
            </a:r>
            <a:r>
              <a:rPr dirty="0" sz="1200">
                <a:latin typeface="Arial"/>
                <a:cs typeface="Arial"/>
              </a:rPr>
              <a:t>and </a:t>
            </a:r>
            <a:r>
              <a:rPr dirty="0" sz="1200" spc="-10">
                <a:latin typeface="Arial"/>
                <a:cs typeface="Arial"/>
              </a:rPr>
              <a:t>the  </a:t>
            </a:r>
            <a:r>
              <a:rPr dirty="0" sz="1200">
                <a:latin typeface="Arial"/>
                <a:cs typeface="Arial"/>
              </a:rPr>
              <a:t>journey of </a:t>
            </a:r>
            <a:r>
              <a:rPr dirty="0" sz="1200" spc="-5">
                <a:latin typeface="Arial"/>
                <a:cs typeface="Arial"/>
              </a:rPr>
              <a:t>Safa and </a:t>
            </a:r>
            <a:r>
              <a:rPr dirty="0" sz="1200" spc="-10">
                <a:latin typeface="Arial"/>
                <a:cs typeface="Arial"/>
              </a:rPr>
              <a:t>Marwa </a:t>
            </a:r>
            <a:r>
              <a:rPr dirty="0" sz="1200" spc="-5">
                <a:latin typeface="Arial"/>
                <a:cs typeface="Arial"/>
              </a:rPr>
              <a:t>with </a:t>
            </a:r>
            <a:r>
              <a:rPr dirty="0" sz="1200">
                <a:latin typeface="Arial"/>
                <a:cs typeface="Arial"/>
              </a:rPr>
              <a:t>respect </a:t>
            </a:r>
            <a:r>
              <a:rPr dirty="0" sz="1200" spc="-5">
                <a:latin typeface="Arial"/>
                <a:cs typeface="Arial"/>
              </a:rPr>
              <a:t>and morality were </a:t>
            </a:r>
            <a:r>
              <a:rPr dirty="0" sz="1200">
                <a:latin typeface="Arial"/>
                <a:cs typeface="Arial"/>
              </a:rPr>
              <a:t>the main traits </a:t>
            </a:r>
            <a:r>
              <a:rPr dirty="0" sz="1200" spc="-5">
                <a:latin typeface="Arial"/>
                <a:cs typeface="Arial"/>
              </a:rPr>
              <a:t>of </a:t>
            </a:r>
            <a:r>
              <a:rPr dirty="0" sz="1200">
                <a:latin typeface="Arial"/>
                <a:cs typeface="Arial"/>
              </a:rPr>
              <a:t>the </a:t>
            </a:r>
            <a:r>
              <a:rPr dirty="0" sz="1200" spc="-5">
                <a:latin typeface="Arial"/>
                <a:cs typeface="Arial"/>
              </a:rPr>
              <a:t>Islamic  community.</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spc="-5">
                <a:latin typeface="Arial"/>
                <a:cs typeface="Arial"/>
              </a:rPr>
              <a:t>Politically, </a:t>
            </a:r>
            <a:r>
              <a:rPr dirty="0" sz="1200">
                <a:latin typeface="Arial"/>
                <a:cs typeface="Arial"/>
              </a:rPr>
              <a:t>the </a:t>
            </a:r>
            <a:r>
              <a:rPr dirty="0" sz="1200" spc="-5">
                <a:latin typeface="Arial"/>
                <a:cs typeface="Arial"/>
              </a:rPr>
              <a:t>tribal system </a:t>
            </a:r>
            <a:r>
              <a:rPr dirty="0" sz="1200" spc="-10">
                <a:latin typeface="Arial"/>
                <a:cs typeface="Arial"/>
              </a:rPr>
              <a:t>was </a:t>
            </a:r>
            <a:r>
              <a:rPr dirty="0" sz="1200" spc="-5">
                <a:latin typeface="Arial"/>
                <a:cs typeface="Arial"/>
              </a:rPr>
              <a:t>replaced by a governmental system. </a:t>
            </a:r>
            <a:r>
              <a:rPr dirty="0" sz="1200" spc="10">
                <a:latin typeface="Arial"/>
                <a:cs typeface="Arial"/>
              </a:rPr>
              <a:t>The </a:t>
            </a:r>
            <a:r>
              <a:rPr dirty="0" sz="1200" spc="-5">
                <a:latin typeface="Arial"/>
                <a:cs typeface="Arial"/>
              </a:rPr>
              <a:t>old tribal rivalries  </a:t>
            </a:r>
            <a:r>
              <a:rPr dirty="0" sz="1200">
                <a:latin typeface="Arial"/>
                <a:cs typeface="Arial"/>
              </a:rPr>
              <a:t>and the </a:t>
            </a:r>
            <a:r>
              <a:rPr dirty="0" sz="1200" spc="-140">
                <a:latin typeface="Arial"/>
                <a:cs typeface="Arial"/>
              </a:rPr>
              <a:t>‗no </a:t>
            </a:r>
            <a:r>
              <a:rPr dirty="0" sz="1200" spc="-5">
                <a:latin typeface="Arial"/>
                <a:cs typeface="Arial"/>
              </a:rPr>
              <a:t>inter </a:t>
            </a:r>
            <a:r>
              <a:rPr dirty="0" sz="1200">
                <a:latin typeface="Arial"/>
                <a:cs typeface="Arial"/>
              </a:rPr>
              <a:t>tribal </a:t>
            </a:r>
            <a:r>
              <a:rPr dirty="0" sz="1200" spc="-5">
                <a:latin typeface="Arial"/>
                <a:cs typeface="Arial"/>
              </a:rPr>
              <a:t>marriage‘ concepts were crushed. Fighting </a:t>
            </a:r>
            <a:r>
              <a:rPr dirty="0" sz="1200">
                <a:latin typeface="Arial"/>
                <a:cs typeface="Arial"/>
              </a:rPr>
              <a:t>as for fun </a:t>
            </a:r>
            <a:r>
              <a:rPr dirty="0" sz="1200" spc="-5">
                <a:latin typeface="Arial"/>
                <a:cs typeface="Arial"/>
              </a:rPr>
              <a:t>was banned.  Election of leaders based </a:t>
            </a:r>
            <a:r>
              <a:rPr dirty="0" sz="1200" spc="-10">
                <a:latin typeface="Arial"/>
                <a:cs typeface="Arial"/>
              </a:rPr>
              <a:t>on </a:t>
            </a:r>
            <a:r>
              <a:rPr dirty="0" sz="1200" spc="-5">
                <a:latin typeface="Arial"/>
                <a:cs typeface="Arial"/>
              </a:rPr>
              <a:t>interest geared criteria </a:t>
            </a:r>
            <a:r>
              <a:rPr dirty="0" sz="1200" spc="-10">
                <a:latin typeface="Arial"/>
                <a:cs typeface="Arial"/>
              </a:rPr>
              <a:t>was </a:t>
            </a:r>
            <a:r>
              <a:rPr dirty="0" sz="1200" spc="-5">
                <a:latin typeface="Arial"/>
                <a:cs typeface="Arial"/>
              </a:rPr>
              <a:t>no </a:t>
            </a:r>
            <a:r>
              <a:rPr dirty="0" sz="1200">
                <a:latin typeface="Arial"/>
                <a:cs typeface="Arial"/>
              </a:rPr>
              <a:t>more </a:t>
            </a:r>
            <a:r>
              <a:rPr dirty="0" sz="1200" spc="-5">
                <a:latin typeface="Arial"/>
                <a:cs typeface="Arial"/>
              </a:rPr>
              <a:t>applicable. However, </a:t>
            </a:r>
            <a:r>
              <a:rPr dirty="0" sz="1200">
                <a:latin typeface="Arial"/>
                <a:cs typeface="Arial"/>
              </a:rPr>
              <a:t>the  </a:t>
            </a:r>
            <a:r>
              <a:rPr dirty="0" sz="1200" spc="-5">
                <a:latin typeface="Arial"/>
                <a:cs typeface="Arial"/>
              </a:rPr>
              <a:t>loyalty </a:t>
            </a:r>
            <a:r>
              <a:rPr dirty="0" sz="1200">
                <a:latin typeface="Arial"/>
                <a:cs typeface="Arial"/>
              </a:rPr>
              <a:t>to their leaders, the </a:t>
            </a:r>
            <a:r>
              <a:rPr dirty="0" sz="1200" spc="-5">
                <a:latin typeface="Arial"/>
                <a:cs typeface="Arial"/>
              </a:rPr>
              <a:t>hospitality </a:t>
            </a:r>
            <a:r>
              <a:rPr dirty="0" sz="1200">
                <a:latin typeface="Arial"/>
                <a:cs typeface="Arial"/>
              </a:rPr>
              <a:t>to </a:t>
            </a:r>
            <a:r>
              <a:rPr dirty="0" sz="1200" spc="-5">
                <a:latin typeface="Arial"/>
                <a:cs typeface="Arial"/>
              </a:rPr>
              <a:t>guests, </a:t>
            </a:r>
            <a:r>
              <a:rPr dirty="0" sz="1200">
                <a:latin typeface="Arial"/>
                <a:cs typeface="Arial"/>
              </a:rPr>
              <a:t>the </a:t>
            </a:r>
            <a:r>
              <a:rPr dirty="0" sz="1200" spc="-5">
                <a:latin typeface="Arial"/>
                <a:cs typeface="Arial"/>
              </a:rPr>
              <a:t>bravery on battle field and </a:t>
            </a:r>
            <a:r>
              <a:rPr dirty="0" sz="1200">
                <a:latin typeface="Arial"/>
                <a:cs typeface="Arial"/>
              </a:rPr>
              <a:t>the </a:t>
            </a:r>
            <a:r>
              <a:rPr dirty="0" sz="1200" spc="-5">
                <a:latin typeface="Arial"/>
                <a:cs typeface="Arial"/>
              </a:rPr>
              <a:t>benefit of  </a:t>
            </a:r>
            <a:r>
              <a:rPr dirty="0" sz="1200">
                <a:latin typeface="Arial"/>
                <a:cs typeface="Arial"/>
              </a:rPr>
              <a:t>the </a:t>
            </a:r>
            <a:r>
              <a:rPr dirty="0" sz="1200" spc="-5">
                <a:latin typeface="Arial"/>
                <a:cs typeface="Arial"/>
              </a:rPr>
              <a:t>nomadic </a:t>
            </a:r>
            <a:r>
              <a:rPr dirty="0" sz="1200" spc="-10">
                <a:latin typeface="Arial"/>
                <a:cs typeface="Arial"/>
              </a:rPr>
              <a:t>life </a:t>
            </a:r>
            <a:r>
              <a:rPr dirty="0" sz="1200" spc="-5">
                <a:latin typeface="Arial"/>
                <a:cs typeface="Arial"/>
              </a:rPr>
              <a:t>were continued. The existing varieties </a:t>
            </a:r>
            <a:r>
              <a:rPr dirty="0" sz="1200">
                <a:latin typeface="Arial"/>
                <a:cs typeface="Arial"/>
              </a:rPr>
              <a:t>of </a:t>
            </a:r>
            <a:r>
              <a:rPr dirty="0" sz="1200" spc="-5">
                <a:latin typeface="Arial"/>
                <a:cs typeface="Arial"/>
              </a:rPr>
              <a:t>rules and regulations due to the  different </a:t>
            </a:r>
            <a:r>
              <a:rPr dirty="0" sz="1200">
                <a:latin typeface="Arial"/>
                <a:cs typeface="Arial"/>
              </a:rPr>
              <a:t>tribes </a:t>
            </a:r>
            <a:r>
              <a:rPr dirty="0" sz="1200" spc="-5">
                <a:latin typeface="Arial"/>
                <a:cs typeface="Arial"/>
              </a:rPr>
              <a:t>were replaced </a:t>
            </a:r>
            <a:r>
              <a:rPr dirty="0" sz="1200">
                <a:latin typeface="Arial"/>
                <a:cs typeface="Arial"/>
              </a:rPr>
              <a:t>by the </a:t>
            </a:r>
            <a:r>
              <a:rPr dirty="0" sz="1200" spc="-5">
                <a:latin typeface="Arial"/>
                <a:cs typeface="Arial"/>
              </a:rPr>
              <a:t>Shari‘ah </a:t>
            </a:r>
            <a:r>
              <a:rPr dirty="0" sz="1200">
                <a:latin typeface="Arial"/>
                <a:cs typeface="Arial"/>
              </a:rPr>
              <a:t>and new </a:t>
            </a:r>
            <a:r>
              <a:rPr dirty="0" sz="1200" spc="-5">
                <a:latin typeface="Arial"/>
                <a:cs typeface="Arial"/>
              </a:rPr>
              <a:t>administrative</a:t>
            </a:r>
            <a:r>
              <a:rPr dirty="0" sz="1200" spc="-60">
                <a:latin typeface="Arial"/>
                <a:cs typeface="Arial"/>
              </a:rPr>
              <a:t> </a:t>
            </a:r>
            <a:r>
              <a:rPr dirty="0" sz="1200" spc="-5">
                <a:latin typeface="Arial"/>
                <a:cs typeface="Arial"/>
              </a:rPr>
              <a:t>measures.</a:t>
            </a:r>
            <a:endParaRPr sz="1200">
              <a:latin typeface="Arial"/>
              <a:cs typeface="Arial"/>
            </a:endParaRPr>
          </a:p>
          <a:p>
            <a:pPr>
              <a:lnSpc>
                <a:spcPct val="100000"/>
              </a:lnSpc>
              <a:spcBef>
                <a:spcPts val="10"/>
              </a:spcBef>
            </a:pPr>
            <a:endParaRPr sz="1150">
              <a:latin typeface="Arial"/>
              <a:cs typeface="Arial"/>
            </a:endParaRPr>
          </a:p>
          <a:p>
            <a:pPr algn="just" marL="12700" marR="6985">
              <a:lnSpc>
                <a:spcPct val="95900"/>
              </a:lnSpc>
            </a:pPr>
            <a:r>
              <a:rPr dirty="0" sz="1200" spc="-5">
                <a:latin typeface="Arial"/>
                <a:cs typeface="Arial"/>
              </a:rPr>
              <a:t>Culturally, poem competitions based </a:t>
            </a:r>
            <a:r>
              <a:rPr dirty="0" sz="1200" spc="-10">
                <a:latin typeface="Arial"/>
                <a:cs typeface="Arial"/>
              </a:rPr>
              <a:t>on </a:t>
            </a:r>
            <a:r>
              <a:rPr dirty="0" sz="1200" spc="-5">
                <a:latin typeface="Arial"/>
                <a:cs typeface="Arial"/>
              </a:rPr>
              <a:t>the </a:t>
            </a:r>
            <a:r>
              <a:rPr dirty="0" sz="1200">
                <a:latin typeface="Arial"/>
                <a:cs typeface="Arial"/>
              </a:rPr>
              <a:t>Arabs‘ </a:t>
            </a:r>
            <a:r>
              <a:rPr dirty="0" sz="1200" spc="-5">
                <a:latin typeface="Arial"/>
                <a:cs typeface="Arial"/>
              </a:rPr>
              <a:t>sins, </a:t>
            </a:r>
            <a:r>
              <a:rPr dirty="0" sz="1200" spc="-10">
                <a:latin typeface="Arial"/>
                <a:cs typeface="Arial"/>
              </a:rPr>
              <a:t>wives, </a:t>
            </a:r>
            <a:r>
              <a:rPr dirty="0" sz="1200">
                <a:latin typeface="Arial"/>
                <a:cs typeface="Arial"/>
              </a:rPr>
              <a:t>forefathers, </a:t>
            </a:r>
            <a:r>
              <a:rPr dirty="0" sz="1200" spc="-5">
                <a:latin typeface="Arial"/>
                <a:cs typeface="Arial"/>
              </a:rPr>
              <a:t>idols and illicit  thoughts and deeds were replaced by </a:t>
            </a:r>
            <a:r>
              <a:rPr dirty="0" sz="1200">
                <a:latin typeface="Arial"/>
                <a:cs typeface="Arial"/>
              </a:rPr>
              <a:t>the </a:t>
            </a:r>
            <a:r>
              <a:rPr dirty="0" sz="1200" spc="-10">
                <a:latin typeface="Arial"/>
                <a:cs typeface="Arial"/>
              </a:rPr>
              <a:t>use </a:t>
            </a:r>
            <a:r>
              <a:rPr dirty="0" sz="1200" spc="-5">
                <a:latin typeface="Arial"/>
                <a:cs typeface="Arial"/>
              </a:rPr>
              <a:t>of the Arabic </a:t>
            </a:r>
            <a:r>
              <a:rPr dirty="0" sz="1200" spc="-10">
                <a:latin typeface="Arial"/>
                <a:cs typeface="Arial"/>
              </a:rPr>
              <a:t>language </a:t>
            </a:r>
            <a:r>
              <a:rPr dirty="0" sz="1200">
                <a:latin typeface="Arial"/>
                <a:cs typeface="Arial"/>
              </a:rPr>
              <a:t>for </a:t>
            </a:r>
            <a:r>
              <a:rPr dirty="0" sz="1200" spc="-5">
                <a:latin typeface="Arial"/>
                <a:cs typeface="Arial"/>
              </a:rPr>
              <a:t>praise </a:t>
            </a:r>
            <a:r>
              <a:rPr dirty="0" sz="1200">
                <a:latin typeface="Arial"/>
                <a:cs typeface="Arial"/>
              </a:rPr>
              <a:t>for </a:t>
            </a:r>
            <a:r>
              <a:rPr dirty="0" sz="1200" spc="-5">
                <a:latin typeface="Arial"/>
                <a:cs typeface="Arial"/>
              </a:rPr>
              <a:t>Allah and  </a:t>
            </a:r>
            <a:r>
              <a:rPr dirty="0" sz="1200">
                <a:latin typeface="Arial"/>
                <a:cs typeface="Arial"/>
              </a:rPr>
              <a:t>the </a:t>
            </a:r>
            <a:r>
              <a:rPr dirty="0" sz="1200" spc="-5">
                <a:latin typeface="Arial"/>
                <a:cs typeface="Arial"/>
              </a:rPr>
              <a:t>Prophet (s.a.w). </a:t>
            </a:r>
            <a:r>
              <a:rPr dirty="0" sz="1200">
                <a:latin typeface="Arial"/>
                <a:cs typeface="Arial"/>
              </a:rPr>
              <a:t>The foul </a:t>
            </a:r>
            <a:r>
              <a:rPr dirty="0" sz="1200" spc="-5">
                <a:latin typeface="Arial"/>
                <a:cs typeface="Arial"/>
              </a:rPr>
              <a:t>and wrong use </a:t>
            </a:r>
            <a:r>
              <a:rPr dirty="0" sz="1200">
                <a:latin typeface="Arial"/>
                <a:cs typeface="Arial"/>
              </a:rPr>
              <a:t>of </a:t>
            </a:r>
            <a:r>
              <a:rPr dirty="0" sz="1200" spc="-5">
                <a:latin typeface="Arial"/>
                <a:cs typeface="Arial"/>
              </a:rPr>
              <a:t>the Arabic language </a:t>
            </a:r>
            <a:r>
              <a:rPr dirty="0" sz="1200" spc="-10">
                <a:latin typeface="Arial"/>
                <a:cs typeface="Arial"/>
              </a:rPr>
              <a:t>was </a:t>
            </a:r>
            <a:r>
              <a:rPr dirty="0" sz="1200" spc="-5">
                <a:latin typeface="Arial"/>
                <a:cs typeface="Arial"/>
              </a:rPr>
              <a:t>declared immoral.  However, </a:t>
            </a:r>
            <a:r>
              <a:rPr dirty="0" sz="1200">
                <a:latin typeface="Arial"/>
                <a:cs typeface="Arial"/>
              </a:rPr>
              <a:t>the feasts </a:t>
            </a:r>
            <a:r>
              <a:rPr dirty="0" sz="1200" spc="-5">
                <a:latin typeface="Arial"/>
                <a:cs typeface="Arial"/>
              </a:rPr>
              <a:t>and the </a:t>
            </a:r>
            <a:r>
              <a:rPr dirty="0" sz="1200">
                <a:latin typeface="Arial"/>
                <a:cs typeface="Arial"/>
              </a:rPr>
              <a:t>values </a:t>
            </a:r>
            <a:r>
              <a:rPr dirty="0" sz="1200" spc="-5">
                <a:latin typeface="Arial"/>
                <a:cs typeface="Arial"/>
              </a:rPr>
              <a:t>that the pre </a:t>
            </a:r>
            <a:r>
              <a:rPr dirty="0" sz="1200">
                <a:latin typeface="Arial"/>
                <a:cs typeface="Arial"/>
              </a:rPr>
              <a:t>Islamic </a:t>
            </a:r>
            <a:r>
              <a:rPr dirty="0" sz="1200" spc="-5">
                <a:latin typeface="Arial"/>
                <a:cs typeface="Arial"/>
              </a:rPr>
              <a:t>Arabs held were continued and  encouraged.</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35" b="1" i="1">
                <a:uFill>
                  <a:solidFill>
                    <a:srgbClr val="000000"/>
                  </a:solidFill>
                </a:uFill>
                <a:latin typeface="Arial"/>
                <a:cs typeface="Arial"/>
              </a:rPr>
              <a:t>Qur‟anic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Islamic criticism against Pre Islamic Arabs</a:t>
            </a:r>
            <a:r>
              <a:rPr dirty="0" u="heavy" sz="1200" spc="30" b="1" i="1">
                <a:uFill>
                  <a:solidFill>
                    <a:srgbClr val="000000"/>
                  </a:solidFill>
                </a:uFill>
                <a:latin typeface="Arial"/>
                <a:cs typeface="Arial"/>
              </a:rPr>
              <a:t> </a:t>
            </a:r>
            <a:r>
              <a:rPr dirty="0" u="heavy" sz="1200" spc="5" b="1" i="1">
                <a:uFill>
                  <a:solidFill>
                    <a:srgbClr val="000000"/>
                  </a:solidFill>
                </a:uFill>
                <a:latin typeface="Arial"/>
                <a:cs typeface="Arial"/>
              </a:rPr>
              <a:t>life</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No </a:t>
            </a:r>
            <a:r>
              <a:rPr dirty="0" sz="1200">
                <a:latin typeface="Arial"/>
                <a:cs typeface="Arial"/>
              </a:rPr>
              <a:t>idol </a:t>
            </a:r>
            <a:r>
              <a:rPr dirty="0" sz="1200" spc="-5">
                <a:latin typeface="Arial"/>
                <a:cs typeface="Arial"/>
              </a:rPr>
              <a:t>worshipping </a:t>
            </a:r>
            <a:r>
              <a:rPr dirty="0" sz="1200">
                <a:latin typeface="Arial"/>
                <a:cs typeface="Arial"/>
              </a:rPr>
              <a:t>as </a:t>
            </a:r>
            <a:r>
              <a:rPr dirty="0" sz="1200" spc="-5">
                <a:latin typeface="Arial"/>
                <a:cs typeface="Arial"/>
              </a:rPr>
              <a:t>the idols are </a:t>
            </a:r>
            <a:r>
              <a:rPr dirty="0" sz="1200">
                <a:latin typeface="Arial"/>
                <a:cs typeface="Arial"/>
              </a:rPr>
              <a:t>man-made </a:t>
            </a:r>
            <a:r>
              <a:rPr dirty="0" sz="1200" spc="-5">
                <a:latin typeface="Arial"/>
                <a:cs typeface="Arial"/>
              </a:rPr>
              <a:t>products </a:t>
            </a:r>
            <a:r>
              <a:rPr dirty="0" sz="1200">
                <a:latin typeface="Arial"/>
                <a:cs typeface="Arial"/>
              </a:rPr>
              <a:t>– </a:t>
            </a:r>
            <a:r>
              <a:rPr dirty="0" sz="1200" spc="-5">
                <a:latin typeface="Arial"/>
                <a:cs typeface="Arial"/>
              </a:rPr>
              <a:t>Say He is Allah the</a:t>
            </a:r>
            <a:r>
              <a:rPr dirty="0" sz="1200" spc="55">
                <a:latin typeface="Arial"/>
                <a:cs typeface="Arial"/>
              </a:rPr>
              <a:t> </a:t>
            </a:r>
            <a:r>
              <a:rPr dirty="0" sz="1200" spc="-5">
                <a:latin typeface="Arial"/>
                <a:cs typeface="Arial"/>
              </a:rPr>
              <a:t>one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No idol in </a:t>
            </a:r>
            <a:r>
              <a:rPr dirty="0" sz="1200">
                <a:latin typeface="Arial"/>
                <a:cs typeface="Arial"/>
              </a:rPr>
              <a:t>and </a:t>
            </a:r>
            <a:r>
              <a:rPr dirty="0" sz="1200" spc="-5">
                <a:latin typeface="Arial"/>
                <a:cs typeface="Arial"/>
              </a:rPr>
              <a:t>around the Ka‘bah </a:t>
            </a:r>
            <a:r>
              <a:rPr dirty="0" sz="1200">
                <a:latin typeface="Arial"/>
                <a:cs typeface="Arial"/>
              </a:rPr>
              <a:t>– </a:t>
            </a:r>
            <a:r>
              <a:rPr dirty="0" sz="1200" spc="-5">
                <a:latin typeface="Arial"/>
                <a:cs typeface="Arial"/>
              </a:rPr>
              <a:t>Ka‘bah is a blessed</a:t>
            </a:r>
            <a:r>
              <a:rPr dirty="0" sz="1200" spc="25">
                <a:latin typeface="Arial"/>
                <a:cs typeface="Arial"/>
              </a:rPr>
              <a:t> </a:t>
            </a:r>
            <a:r>
              <a:rPr dirty="0" sz="1200" spc="-5">
                <a:latin typeface="Arial"/>
                <a:cs typeface="Arial"/>
              </a:rPr>
              <a:t>sanctuary</a:t>
            </a:r>
            <a:endParaRPr sz="1200">
              <a:latin typeface="Arial"/>
              <a:cs typeface="Arial"/>
            </a:endParaRPr>
          </a:p>
          <a:p>
            <a:pPr marL="469900" marR="6985" indent="-228600">
              <a:lnSpc>
                <a:spcPts val="1380"/>
              </a:lnSpc>
              <a:spcBef>
                <a:spcPts val="65"/>
              </a:spcBef>
              <a:buAutoNum type="arabicPeriod"/>
              <a:tabLst>
                <a:tab pos="470534" algn="l"/>
              </a:tabLst>
            </a:pPr>
            <a:r>
              <a:rPr dirty="0" sz="1200" spc="-5">
                <a:latin typeface="Arial"/>
                <a:cs typeface="Arial"/>
              </a:rPr>
              <a:t>No associating of anything or anyone </a:t>
            </a:r>
            <a:r>
              <a:rPr dirty="0" sz="1200">
                <a:latin typeface="Arial"/>
                <a:cs typeface="Arial"/>
              </a:rPr>
              <a:t>to </a:t>
            </a:r>
            <a:r>
              <a:rPr dirty="0" sz="1200" spc="-5">
                <a:latin typeface="Arial"/>
                <a:cs typeface="Arial"/>
              </a:rPr>
              <a:t>Allah </a:t>
            </a:r>
            <a:r>
              <a:rPr dirty="0" sz="1200" spc="-10">
                <a:latin typeface="Arial"/>
                <a:cs typeface="Arial"/>
              </a:rPr>
              <a:t>who </a:t>
            </a:r>
            <a:r>
              <a:rPr dirty="0" sz="1200" spc="-5">
                <a:latin typeface="Arial"/>
                <a:cs typeface="Arial"/>
              </a:rPr>
              <a:t>is Pure </a:t>
            </a:r>
            <a:r>
              <a:rPr dirty="0" sz="1200">
                <a:latin typeface="Arial"/>
                <a:cs typeface="Arial"/>
              </a:rPr>
              <a:t>– There </a:t>
            </a:r>
            <a:r>
              <a:rPr dirty="0" sz="1200" spc="-5">
                <a:latin typeface="Arial"/>
                <a:cs typeface="Arial"/>
              </a:rPr>
              <a:t>is no god except  You</a:t>
            </a:r>
            <a:endParaRPr sz="1200">
              <a:latin typeface="Arial"/>
              <a:cs typeface="Arial"/>
            </a:endParaRPr>
          </a:p>
          <a:p>
            <a:pPr marL="469900" indent="-229235">
              <a:lnSpc>
                <a:spcPts val="1300"/>
              </a:lnSpc>
              <a:buFont typeface="Arial"/>
              <a:buAutoNum type="arabicPeriod"/>
              <a:tabLst>
                <a:tab pos="470534" algn="l"/>
              </a:tabLst>
            </a:pPr>
            <a:r>
              <a:rPr dirty="0" sz="1200" spc="-5">
                <a:latin typeface="Arial"/>
                <a:cs typeface="Arial"/>
              </a:rPr>
              <a:t>No question of Allah having ancestors or offsprings</a:t>
            </a:r>
            <a:r>
              <a:rPr dirty="0" sz="1200" spc="60">
                <a:latin typeface="Arial"/>
                <a:cs typeface="Arial"/>
              </a:rPr>
              <a:t> </a:t>
            </a:r>
            <a:r>
              <a:rPr dirty="0" sz="1200">
                <a:latin typeface="Arial"/>
                <a:cs typeface="Arial"/>
              </a:rPr>
              <a:t>– </a:t>
            </a:r>
            <a:r>
              <a:rPr dirty="0" sz="1200" spc="-5" i="1">
                <a:latin typeface="Arial"/>
                <a:cs typeface="Arial"/>
              </a:rPr>
              <a:t>He begets not nor is </a:t>
            </a:r>
            <a:r>
              <a:rPr dirty="0" sz="1200" spc="-10" i="1">
                <a:latin typeface="Arial"/>
                <a:cs typeface="Arial"/>
              </a:rPr>
              <a:t>He</a:t>
            </a:r>
            <a:endParaRPr sz="1200">
              <a:latin typeface="Arial"/>
              <a:cs typeface="Arial"/>
            </a:endParaRPr>
          </a:p>
          <a:p>
            <a:pPr marL="469900">
              <a:lnSpc>
                <a:spcPts val="1410"/>
              </a:lnSpc>
            </a:pPr>
            <a:r>
              <a:rPr dirty="0" sz="1200" spc="-5" i="1">
                <a:latin typeface="Arial"/>
                <a:cs typeface="Arial"/>
              </a:rPr>
              <a:t>begotten</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49295" y="9905322"/>
            <a:ext cx="476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7</a:t>
            </a:r>
            <a:endParaRPr sz="120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09016" y="432307"/>
            <a:ext cx="6405245" cy="9338310"/>
          </a:xfrm>
          <a:prstGeom prst="rect">
            <a:avLst/>
          </a:prstGeom>
        </p:spPr>
        <p:txBody>
          <a:bodyPr wrap="square" lIns="0" tIns="12700" rIns="0" bIns="0" rtlCol="0" vert="horz">
            <a:spAutoFit/>
          </a:bodyPr>
          <a:lstStyle/>
          <a:p>
            <a:pPr marL="38100">
              <a:lnSpc>
                <a:spcPct val="100000"/>
              </a:lnSpc>
              <a:spcBef>
                <a:spcPts val="100"/>
              </a:spcBef>
              <a:tabLst>
                <a:tab pos="50888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40"/>
              </a:spcBef>
            </a:pPr>
            <a:endParaRPr sz="1300">
              <a:latin typeface="Times New Roman"/>
              <a:cs typeface="Times New Roman"/>
            </a:endParaRPr>
          </a:p>
          <a:p>
            <a:pPr algn="just" marL="495300" marR="75565" indent="-229235">
              <a:lnSpc>
                <a:spcPts val="1380"/>
              </a:lnSpc>
              <a:buAutoNum type="arabicPeriod" startAt="5"/>
              <a:tabLst>
                <a:tab pos="495934" algn="l"/>
              </a:tabLst>
            </a:pPr>
            <a:r>
              <a:rPr dirty="0" sz="1200" spc="-5">
                <a:latin typeface="Arial"/>
                <a:cs typeface="Arial"/>
              </a:rPr>
              <a:t>Life in Qabr and Aakhirah exist </a:t>
            </a:r>
            <a:r>
              <a:rPr dirty="0" sz="1200">
                <a:latin typeface="Arial"/>
                <a:cs typeface="Arial"/>
              </a:rPr>
              <a:t>– </a:t>
            </a:r>
            <a:r>
              <a:rPr dirty="0" sz="1200" i="1">
                <a:latin typeface="Arial"/>
                <a:cs typeface="Arial"/>
              </a:rPr>
              <a:t>Then </a:t>
            </a:r>
            <a:r>
              <a:rPr dirty="0" sz="1200" spc="-5" i="1">
                <a:latin typeface="Arial"/>
                <a:cs typeface="Arial"/>
              </a:rPr>
              <a:t>He made you die, then He gave </a:t>
            </a:r>
            <a:r>
              <a:rPr dirty="0" sz="1200" i="1">
                <a:latin typeface="Arial"/>
                <a:cs typeface="Arial"/>
              </a:rPr>
              <a:t>you </a:t>
            </a:r>
            <a:r>
              <a:rPr dirty="0" sz="1200" spc="-5" i="1">
                <a:latin typeface="Arial"/>
                <a:cs typeface="Arial"/>
              </a:rPr>
              <a:t>life then </a:t>
            </a:r>
            <a:r>
              <a:rPr dirty="0" sz="1200" spc="-10" i="1">
                <a:latin typeface="Arial"/>
                <a:cs typeface="Arial"/>
              </a:rPr>
              <a:t>to  </a:t>
            </a:r>
            <a:r>
              <a:rPr dirty="0" sz="1200" i="1">
                <a:latin typeface="Arial"/>
                <a:cs typeface="Arial"/>
              </a:rPr>
              <a:t>Him will </a:t>
            </a:r>
            <a:r>
              <a:rPr dirty="0" sz="1200" spc="-5" i="1">
                <a:latin typeface="Arial"/>
                <a:cs typeface="Arial"/>
              </a:rPr>
              <a:t>you</a:t>
            </a:r>
            <a:r>
              <a:rPr dirty="0" sz="1200" spc="-25" i="1">
                <a:latin typeface="Arial"/>
                <a:cs typeface="Arial"/>
              </a:rPr>
              <a:t> </a:t>
            </a:r>
            <a:r>
              <a:rPr dirty="0" sz="1200" spc="-5" i="1">
                <a:latin typeface="Arial"/>
                <a:cs typeface="Arial"/>
              </a:rPr>
              <a:t>return</a:t>
            </a:r>
            <a:endParaRPr sz="1200">
              <a:latin typeface="Arial"/>
              <a:cs typeface="Arial"/>
            </a:endParaRPr>
          </a:p>
          <a:p>
            <a:pPr algn="just" marL="495300" marR="78105" indent="-229235">
              <a:lnSpc>
                <a:spcPts val="1380"/>
              </a:lnSpc>
              <a:buFont typeface="Arial"/>
              <a:buAutoNum type="arabicPeriod" startAt="5"/>
              <a:tabLst>
                <a:tab pos="495934" algn="l"/>
              </a:tabLst>
            </a:pPr>
            <a:r>
              <a:rPr dirty="0" sz="1200" spc="-5">
                <a:latin typeface="Arial"/>
                <a:cs typeface="Arial"/>
              </a:rPr>
              <a:t>The day of judgement </a:t>
            </a:r>
            <a:r>
              <a:rPr dirty="0" sz="1200" spc="-10">
                <a:latin typeface="Arial"/>
                <a:cs typeface="Arial"/>
              </a:rPr>
              <a:t>is </a:t>
            </a:r>
            <a:r>
              <a:rPr dirty="0" sz="1200">
                <a:latin typeface="Arial"/>
                <a:cs typeface="Arial"/>
              </a:rPr>
              <a:t>for </a:t>
            </a:r>
            <a:r>
              <a:rPr dirty="0" sz="1200" spc="-5">
                <a:latin typeface="Arial"/>
                <a:cs typeface="Arial"/>
              </a:rPr>
              <a:t>real </a:t>
            </a:r>
            <a:r>
              <a:rPr dirty="0" sz="1200">
                <a:latin typeface="Arial"/>
                <a:cs typeface="Arial"/>
              </a:rPr>
              <a:t>– </a:t>
            </a:r>
            <a:r>
              <a:rPr dirty="0" sz="1200" spc="-5" i="1">
                <a:latin typeface="Arial"/>
                <a:cs typeface="Arial"/>
              </a:rPr>
              <a:t>The one who makes an </a:t>
            </a:r>
            <a:r>
              <a:rPr dirty="0" sz="1200" i="1">
                <a:latin typeface="Arial"/>
                <a:cs typeface="Arial"/>
              </a:rPr>
              <a:t>atom </a:t>
            </a:r>
            <a:r>
              <a:rPr dirty="0" sz="1200" spc="-5" i="1">
                <a:latin typeface="Arial"/>
                <a:cs typeface="Arial"/>
              </a:rPr>
              <a:t>of good will see it </a:t>
            </a:r>
            <a:r>
              <a:rPr dirty="0" sz="1200" spc="-10" i="1">
                <a:latin typeface="Arial"/>
                <a:cs typeface="Arial"/>
              </a:rPr>
              <a:t>and  </a:t>
            </a:r>
            <a:r>
              <a:rPr dirty="0" sz="1200" i="1">
                <a:latin typeface="Arial"/>
                <a:cs typeface="Arial"/>
              </a:rPr>
              <a:t>the </a:t>
            </a:r>
            <a:r>
              <a:rPr dirty="0" sz="1200" spc="-5" i="1">
                <a:latin typeface="Arial"/>
                <a:cs typeface="Arial"/>
              </a:rPr>
              <a:t>one who makes an </a:t>
            </a:r>
            <a:r>
              <a:rPr dirty="0" sz="1200" i="1">
                <a:latin typeface="Arial"/>
                <a:cs typeface="Arial"/>
              </a:rPr>
              <a:t>atom of </a:t>
            </a:r>
            <a:r>
              <a:rPr dirty="0" sz="1200" spc="-5" i="1">
                <a:latin typeface="Arial"/>
                <a:cs typeface="Arial"/>
              </a:rPr>
              <a:t>bad will see</a:t>
            </a:r>
            <a:r>
              <a:rPr dirty="0" sz="1200" spc="-40" i="1">
                <a:latin typeface="Arial"/>
                <a:cs typeface="Arial"/>
              </a:rPr>
              <a:t> </a:t>
            </a:r>
            <a:r>
              <a:rPr dirty="0" sz="1200" spc="-5" i="1">
                <a:latin typeface="Arial"/>
                <a:cs typeface="Arial"/>
              </a:rPr>
              <a:t>it</a:t>
            </a:r>
            <a:endParaRPr sz="1200">
              <a:latin typeface="Arial"/>
              <a:cs typeface="Arial"/>
            </a:endParaRPr>
          </a:p>
          <a:p>
            <a:pPr algn="just" marL="495300" marR="73025" indent="-229235">
              <a:lnSpc>
                <a:spcPts val="1380"/>
              </a:lnSpc>
              <a:buFont typeface="Arial"/>
              <a:buAutoNum type="arabicPeriod" startAt="5"/>
              <a:tabLst>
                <a:tab pos="495934" algn="l"/>
              </a:tabLst>
            </a:pPr>
            <a:r>
              <a:rPr dirty="0" sz="1200" spc="-5">
                <a:latin typeface="Arial"/>
                <a:cs typeface="Arial"/>
              </a:rPr>
              <a:t>No grave worshipping </a:t>
            </a:r>
            <a:r>
              <a:rPr dirty="0" sz="1200">
                <a:latin typeface="Arial"/>
                <a:cs typeface="Arial"/>
              </a:rPr>
              <a:t>– </a:t>
            </a:r>
            <a:r>
              <a:rPr dirty="0" sz="1200" spc="-5" i="1">
                <a:latin typeface="Arial"/>
                <a:cs typeface="Arial"/>
              </a:rPr>
              <a:t>And </a:t>
            </a:r>
            <a:r>
              <a:rPr dirty="0" sz="1200" i="1">
                <a:latin typeface="Arial"/>
                <a:cs typeface="Arial"/>
              </a:rPr>
              <a:t>I </a:t>
            </a:r>
            <a:r>
              <a:rPr dirty="0" sz="1200" spc="-5" i="1">
                <a:latin typeface="Arial"/>
                <a:cs typeface="Arial"/>
              </a:rPr>
              <a:t>have not created the Jinn and Mankind only </a:t>
            </a:r>
            <a:r>
              <a:rPr dirty="0" sz="1200" spc="-10" i="1">
                <a:latin typeface="Arial"/>
                <a:cs typeface="Arial"/>
              </a:rPr>
              <a:t>to </a:t>
            </a:r>
            <a:r>
              <a:rPr dirty="0" sz="1200" spc="-5" i="1">
                <a:latin typeface="Arial"/>
                <a:cs typeface="Arial"/>
              </a:rPr>
              <a:t>worship  </a:t>
            </a:r>
            <a:r>
              <a:rPr dirty="0" sz="1200" spc="-5" i="1">
                <a:latin typeface="Arial"/>
                <a:cs typeface="Arial"/>
              </a:rPr>
              <a:t>(Me).</a:t>
            </a:r>
            <a:endParaRPr sz="1200">
              <a:latin typeface="Arial"/>
              <a:cs typeface="Arial"/>
            </a:endParaRPr>
          </a:p>
          <a:p>
            <a:pPr algn="just" marL="495300" marR="75565" indent="-229235">
              <a:lnSpc>
                <a:spcPts val="1380"/>
              </a:lnSpc>
              <a:buAutoNum type="arabicPeriod" startAt="5"/>
              <a:tabLst>
                <a:tab pos="495934" algn="l"/>
              </a:tabLst>
            </a:pPr>
            <a:r>
              <a:rPr dirty="0" sz="1200" spc="-5">
                <a:latin typeface="Arial"/>
                <a:cs typeface="Arial"/>
              </a:rPr>
              <a:t>No circumambulating of the Ka‘bah in the state of nudity </a:t>
            </a:r>
            <a:r>
              <a:rPr dirty="0" sz="1200">
                <a:latin typeface="Arial"/>
                <a:cs typeface="Arial"/>
              </a:rPr>
              <a:t>– </a:t>
            </a:r>
            <a:r>
              <a:rPr dirty="0" sz="1200" spc="-5" i="1">
                <a:latin typeface="Arial"/>
                <a:cs typeface="Arial"/>
              </a:rPr>
              <a:t>Perform </a:t>
            </a:r>
            <a:r>
              <a:rPr dirty="0" sz="1200" i="1">
                <a:latin typeface="Arial"/>
                <a:cs typeface="Arial"/>
              </a:rPr>
              <a:t>the </a:t>
            </a:r>
            <a:r>
              <a:rPr dirty="0" sz="1200" spc="-5" i="1">
                <a:latin typeface="Arial"/>
                <a:cs typeface="Arial"/>
              </a:rPr>
              <a:t>pilgrimage and  </a:t>
            </a:r>
            <a:r>
              <a:rPr dirty="0" sz="1200" i="1">
                <a:latin typeface="Arial"/>
                <a:cs typeface="Arial"/>
              </a:rPr>
              <a:t>the </a:t>
            </a:r>
            <a:r>
              <a:rPr dirty="0" sz="1200" spc="-5" i="1">
                <a:latin typeface="Arial"/>
                <a:cs typeface="Arial"/>
              </a:rPr>
              <a:t>visit (to </a:t>
            </a:r>
            <a:r>
              <a:rPr dirty="0" sz="1200" i="1">
                <a:latin typeface="Arial"/>
                <a:cs typeface="Arial"/>
              </a:rPr>
              <a:t>Mecca) </a:t>
            </a:r>
            <a:r>
              <a:rPr dirty="0" sz="1200" spc="-10" i="1">
                <a:latin typeface="Arial"/>
                <a:cs typeface="Arial"/>
              </a:rPr>
              <a:t>for</a:t>
            </a:r>
            <a:r>
              <a:rPr dirty="0" sz="1200" spc="-20" i="1">
                <a:latin typeface="Arial"/>
                <a:cs typeface="Arial"/>
              </a:rPr>
              <a:t> </a:t>
            </a:r>
            <a:r>
              <a:rPr dirty="0" sz="1200" spc="-5" i="1">
                <a:latin typeface="Arial"/>
                <a:cs typeface="Arial"/>
              </a:rPr>
              <a:t>Allah</a:t>
            </a:r>
            <a:endParaRPr sz="1200">
              <a:latin typeface="Arial"/>
              <a:cs typeface="Arial"/>
            </a:endParaRPr>
          </a:p>
          <a:p>
            <a:pPr algn="just" marL="495300" marR="73660" indent="-229235">
              <a:lnSpc>
                <a:spcPts val="1380"/>
              </a:lnSpc>
              <a:buFont typeface="Arial"/>
              <a:buAutoNum type="arabicPeriod" startAt="5"/>
              <a:tabLst>
                <a:tab pos="495934" algn="l"/>
              </a:tabLst>
            </a:pPr>
            <a:r>
              <a:rPr dirty="0" sz="1200" spc="-5">
                <a:latin typeface="Arial"/>
                <a:cs typeface="Arial"/>
              </a:rPr>
              <a:t>No human sacrifice </a:t>
            </a:r>
            <a:r>
              <a:rPr dirty="0" sz="1200">
                <a:latin typeface="Arial"/>
                <a:cs typeface="Arial"/>
              </a:rPr>
              <a:t>– </a:t>
            </a:r>
            <a:r>
              <a:rPr dirty="0" sz="1200" spc="-5" i="1">
                <a:latin typeface="Arial"/>
                <a:cs typeface="Arial"/>
              </a:rPr>
              <a:t>For that cause </a:t>
            </a:r>
            <a:r>
              <a:rPr dirty="0" sz="1200" i="1">
                <a:latin typeface="Arial"/>
                <a:cs typeface="Arial"/>
              </a:rPr>
              <a:t>We </a:t>
            </a:r>
            <a:r>
              <a:rPr dirty="0" sz="1200" spc="-5" i="1">
                <a:latin typeface="Arial"/>
                <a:cs typeface="Arial"/>
              </a:rPr>
              <a:t>decreed for the Children </a:t>
            </a:r>
            <a:r>
              <a:rPr dirty="0" sz="1200" spc="-10" i="1">
                <a:latin typeface="Arial"/>
                <a:cs typeface="Arial"/>
              </a:rPr>
              <a:t>of </a:t>
            </a:r>
            <a:r>
              <a:rPr dirty="0" sz="1200" spc="-5" i="1">
                <a:latin typeface="Arial"/>
                <a:cs typeface="Arial"/>
              </a:rPr>
              <a:t>Israel that  </a:t>
            </a:r>
            <a:r>
              <a:rPr dirty="0" sz="1200" spc="-5" i="1">
                <a:latin typeface="Arial"/>
                <a:cs typeface="Arial"/>
              </a:rPr>
              <a:t>whosoever killed a </a:t>
            </a:r>
            <a:r>
              <a:rPr dirty="0" sz="1200" spc="-10" i="1">
                <a:latin typeface="Arial"/>
                <a:cs typeface="Arial"/>
              </a:rPr>
              <a:t>human </a:t>
            </a:r>
            <a:r>
              <a:rPr dirty="0" sz="1200" spc="-5" i="1">
                <a:latin typeface="Arial"/>
                <a:cs typeface="Arial"/>
              </a:rPr>
              <a:t>being </a:t>
            </a:r>
            <a:r>
              <a:rPr dirty="0" sz="1200" i="1">
                <a:latin typeface="Arial"/>
                <a:cs typeface="Arial"/>
              </a:rPr>
              <a:t>for </a:t>
            </a:r>
            <a:r>
              <a:rPr dirty="0" sz="1200" spc="-5" i="1">
                <a:latin typeface="Arial"/>
                <a:cs typeface="Arial"/>
              </a:rPr>
              <a:t>other than </a:t>
            </a:r>
            <a:r>
              <a:rPr dirty="0" sz="1200" spc="-10" i="1">
                <a:latin typeface="Arial"/>
                <a:cs typeface="Arial"/>
              </a:rPr>
              <a:t>man </a:t>
            </a:r>
            <a:r>
              <a:rPr dirty="0" sz="1200" spc="-5" i="1">
                <a:latin typeface="Arial"/>
                <a:cs typeface="Arial"/>
              </a:rPr>
              <a:t>slaughter or corruption </a:t>
            </a:r>
            <a:r>
              <a:rPr dirty="0" sz="1200" i="1">
                <a:latin typeface="Arial"/>
                <a:cs typeface="Arial"/>
              </a:rPr>
              <a:t>in </a:t>
            </a:r>
            <a:r>
              <a:rPr dirty="0" sz="1200" spc="-5" i="1">
                <a:latin typeface="Arial"/>
                <a:cs typeface="Arial"/>
              </a:rPr>
              <a:t>the  earth, it shall be as if </a:t>
            </a:r>
            <a:r>
              <a:rPr dirty="0" sz="1200" spc="5" i="1">
                <a:latin typeface="Arial"/>
                <a:cs typeface="Arial"/>
              </a:rPr>
              <a:t>he </a:t>
            </a:r>
            <a:r>
              <a:rPr dirty="0" sz="1200" spc="-5" i="1">
                <a:latin typeface="Arial"/>
                <a:cs typeface="Arial"/>
              </a:rPr>
              <a:t>had killed all mankind, and </a:t>
            </a:r>
            <a:r>
              <a:rPr dirty="0" sz="1200" i="1">
                <a:latin typeface="Arial"/>
                <a:cs typeface="Arial"/>
              </a:rPr>
              <a:t>whoso </a:t>
            </a:r>
            <a:r>
              <a:rPr dirty="0" sz="1200" spc="-5" i="1">
                <a:latin typeface="Arial"/>
                <a:cs typeface="Arial"/>
              </a:rPr>
              <a:t>saved </a:t>
            </a:r>
            <a:r>
              <a:rPr dirty="0" sz="1200" i="1">
                <a:latin typeface="Arial"/>
                <a:cs typeface="Arial"/>
              </a:rPr>
              <a:t>the </a:t>
            </a:r>
            <a:r>
              <a:rPr dirty="0" sz="1200" spc="-5" i="1">
                <a:latin typeface="Arial"/>
                <a:cs typeface="Arial"/>
              </a:rPr>
              <a:t>life </a:t>
            </a:r>
            <a:r>
              <a:rPr dirty="0" sz="1200" i="1">
                <a:latin typeface="Arial"/>
                <a:cs typeface="Arial"/>
              </a:rPr>
              <a:t>of </a:t>
            </a:r>
            <a:r>
              <a:rPr dirty="0" sz="1200" spc="-5" i="1">
                <a:latin typeface="Arial"/>
                <a:cs typeface="Arial"/>
              </a:rPr>
              <a:t>one, </a:t>
            </a:r>
            <a:r>
              <a:rPr dirty="0" sz="1200" spc="-10" i="1">
                <a:latin typeface="Arial"/>
                <a:cs typeface="Arial"/>
              </a:rPr>
              <a:t>it  </a:t>
            </a:r>
            <a:r>
              <a:rPr dirty="0" sz="1200" spc="-5" i="1">
                <a:latin typeface="Arial"/>
                <a:cs typeface="Arial"/>
              </a:rPr>
              <a:t>shall </a:t>
            </a:r>
            <a:r>
              <a:rPr dirty="0" sz="1200" i="1">
                <a:latin typeface="Arial"/>
                <a:cs typeface="Arial"/>
              </a:rPr>
              <a:t>be as </a:t>
            </a:r>
            <a:r>
              <a:rPr dirty="0" sz="1200" spc="-5" i="1">
                <a:latin typeface="Arial"/>
                <a:cs typeface="Arial"/>
              </a:rPr>
              <a:t>if he had saved the life </a:t>
            </a:r>
            <a:r>
              <a:rPr dirty="0" sz="1200" i="1">
                <a:latin typeface="Arial"/>
                <a:cs typeface="Arial"/>
              </a:rPr>
              <a:t>of </a:t>
            </a:r>
            <a:r>
              <a:rPr dirty="0" sz="1200" spc="-5" i="1">
                <a:latin typeface="Arial"/>
                <a:cs typeface="Arial"/>
              </a:rPr>
              <a:t>all</a:t>
            </a:r>
            <a:r>
              <a:rPr dirty="0" sz="1200" spc="-20" i="1">
                <a:latin typeface="Arial"/>
                <a:cs typeface="Arial"/>
              </a:rPr>
              <a:t> </a:t>
            </a:r>
            <a:r>
              <a:rPr dirty="0" sz="1200" spc="-5" i="1">
                <a:latin typeface="Arial"/>
                <a:cs typeface="Arial"/>
              </a:rPr>
              <a:t>mankind.</a:t>
            </a:r>
            <a:endParaRPr sz="1200">
              <a:latin typeface="Arial"/>
              <a:cs typeface="Arial"/>
            </a:endParaRPr>
          </a:p>
          <a:p>
            <a:pPr algn="just" marL="495300" indent="-229235">
              <a:lnSpc>
                <a:spcPts val="1320"/>
              </a:lnSpc>
              <a:buAutoNum type="arabicPeriod" startAt="5"/>
              <a:tabLst>
                <a:tab pos="495934" algn="l"/>
              </a:tabLst>
            </a:pPr>
            <a:r>
              <a:rPr dirty="0" sz="1200" spc="-5">
                <a:latin typeface="Arial"/>
                <a:cs typeface="Arial"/>
              </a:rPr>
              <a:t>No bribe, interest, levies and taxes </a:t>
            </a:r>
            <a:r>
              <a:rPr dirty="0" sz="1200">
                <a:latin typeface="Arial"/>
                <a:cs typeface="Arial"/>
              </a:rPr>
              <a:t>– </a:t>
            </a:r>
            <a:r>
              <a:rPr dirty="0" sz="1200" i="1">
                <a:latin typeface="Arial"/>
                <a:cs typeface="Arial"/>
              </a:rPr>
              <a:t>We will </a:t>
            </a:r>
            <a:r>
              <a:rPr dirty="0" sz="1200" spc="-5" i="1">
                <a:latin typeface="Arial"/>
                <a:cs typeface="Arial"/>
              </a:rPr>
              <a:t>not take a</a:t>
            </a:r>
            <a:r>
              <a:rPr dirty="0" sz="1200" spc="35" i="1">
                <a:latin typeface="Arial"/>
                <a:cs typeface="Arial"/>
              </a:rPr>
              <a:t> </a:t>
            </a:r>
            <a:r>
              <a:rPr dirty="0" sz="1200" spc="-5" i="1">
                <a:latin typeface="Arial"/>
                <a:cs typeface="Arial"/>
              </a:rPr>
              <a:t>bribe</a:t>
            </a:r>
            <a:endParaRPr sz="1200">
              <a:latin typeface="Arial"/>
              <a:cs typeface="Arial"/>
            </a:endParaRPr>
          </a:p>
          <a:p>
            <a:pPr algn="just" marL="495300" indent="-229235">
              <a:lnSpc>
                <a:spcPts val="1380"/>
              </a:lnSpc>
              <a:buFont typeface="Arial"/>
              <a:buAutoNum type="arabicPeriod" startAt="5"/>
              <a:tabLst>
                <a:tab pos="495934" algn="l"/>
              </a:tabLst>
            </a:pPr>
            <a:r>
              <a:rPr dirty="0" sz="1200" spc="-5">
                <a:latin typeface="Arial"/>
                <a:cs typeface="Arial"/>
              </a:rPr>
              <a:t>No rich becoming richer and poor becoming </a:t>
            </a:r>
            <a:r>
              <a:rPr dirty="0" sz="1200">
                <a:latin typeface="Arial"/>
                <a:cs typeface="Arial"/>
              </a:rPr>
              <a:t>poorer … </a:t>
            </a:r>
            <a:r>
              <a:rPr dirty="0" sz="1200" spc="-5">
                <a:latin typeface="Arial"/>
                <a:cs typeface="Arial"/>
              </a:rPr>
              <a:t>sharing </a:t>
            </a:r>
            <a:r>
              <a:rPr dirty="0" sz="1200">
                <a:latin typeface="Arial"/>
                <a:cs typeface="Arial"/>
              </a:rPr>
              <a:t>and </a:t>
            </a:r>
            <a:r>
              <a:rPr dirty="0" sz="1200" spc="-5">
                <a:latin typeface="Arial"/>
                <a:cs typeface="Arial"/>
              </a:rPr>
              <a:t>upgrading of</a:t>
            </a:r>
            <a:r>
              <a:rPr dirty="0" sz="1200" spc="175">
                <a:latin typeface="Arial"/>
                <a:cs typeface="Arial"/>
              </a:rPr>
              <a:t> </a:t>
            </a:r>
            <a:r>
              <a:rPr dirty="0" sz="1200" spc="-5">
                <a:latin typeface="Arial"/>
                <a:cs typeface="Arial"/>
              </a:rPr>
              <a:t>status</a:t>
            </a:r>
            <a:endParaRPr sz="1200">
              <a:latin typeface="Arial"/>
              <a:cs typeface="Arial"/>
            </a:endParaRPr>
          </a:p>
          <a:p>
            <a:pPr algn="just" lvl="1" marL="623570" indent="-128905">
              <a:lnSpc>
                <a:spcPts val="1375"/>
              </a:lnSpc>
              <a:buFont typeface="Arial"/>
              <a:buChar char="–"/>
              <a:tabLst>
                <a:tab pos="624205" algn="l"/>
              </a:tabLst>
            </a:pPr>
            <a:r>
              <a:rPr dirty="0" sz="1200" spc="-5" i="1">
                <a:latin typeface="Arial"/>
                <a:cs typeface="Arial"/>
              </a:rPr>
              <a:t>the </a:t>
            </a:r>
            <a:r>
              <a:rPr dirty="0" sz="1200" i="1">
                <a:latin typeface="Arial"/>
                <a:cs typeface="Arial"/>
              </a:rPr>
              <a:t>whole </a:t>
            </a:r>
            <a:r>
              <a:rPr dirty="0" sz="1200" spc="-5" i="1">
                <a:latin typeface="Arial"/>
                <a:cs typeface="Arial"/>
              </a:rPr>
              <a:t>surah </a:t>
            </a:r>
            <a:r>
              <a:rPr dirty="0" sz="1200" i="1">
                <a:latin typeface="Arial"/>
                <a:cs typeface="Arial"/>
              </a:rPr>
              <a:t>At</a:t>
            </a:r>
            <a:r>
              <a:rPr dirty="0" sz="1200" spc="-15" i="1">
                <a:latin typeface="Arial"/>
                <a:cs typeface="Arial"/>
              </a:rPr>
              <a:t> </a:t>
            </a:r>
            <a:r>
              <a:rPr dirty="0" sz="1200" spc="-5" i="1">
                <a:latin typeface="Arial"/>
                <a:cs typeface="Arial"/>
              </a:rPr>
              <a:t>Takathur</a:t>
            </a:r>
            <a:endParaRPr sz="1200">
              <a:latin typeface="Arial"/>
              <a:cs typeface="Arial"/>
            </a:endParaRPr>
          </a:p>
          <a:p>
            <a:pPr marL="495300" indent="-229235">
              <a:lnSpc>
                <a:spcPts val="1380"/>
              </a:lnSpc>
              <a:buAutoNum type="arabicPeriod" startAt="5"/>
              <a:tabLst>
                <a:tab pos="495934" algn="l"/>
              </a:tabLst>
            </a:pPr>
            <a:r>
              <a:rPr dirty="0" sz="1200" spc="-5">
                <a:latin typeface="Arial"/>
                <a:cs typeface="Arial"/>
              </a:rPr>
              <a:t>No slave </a:t>
            </a:r>
            <a:r>
              <a:rPr dirty="0" sz="1200">
                <a:latin typeface="Arial"/>
                <a:cs typeface="Arial"/>
              </a:rPr>
              <a:t>market – </a:t>
            </a:r>
            <a:r>
              <a:rPr dirty="0" sz="1200" spc="-5" i="1">
                <a:latin typeface="Arial"/>
                <a:cs typeface="Arial"/>
              </a:rPr>
              <a:t>And to those who ask and set </a:t>
            </a:r>
            <a:r>
              <a:rPr dirty="0" sz="1200" i="1">
                <a:latin typeface="Arial"/>
                <a:cs typeface="Arial"/>
              </a:rPr>
              <a:t>slaves</a:t>
            </a:r>
            <a:r>
              <a:rPr dirty="0" sz="1200" spc="-15" i="1">
                <a:latin typeface="Arial"/>
                <a:cs typeface="Arial"/>
              </a:rPr>
              <a:t> </a:t>
            </a:r>
            <a:r>
              <a:rPr dirty="0" sz="1200" spc="-5" i="1">
                <a:latin typeface="Arial"/>
                <a:cs typeface="Arial"/>
              </a:rPr>
              <a:t>free</a:t>
            </a:r>
            <a:endParaRPr sz="1200">
              <a:latin typeface="Arial"/>
              <a:cs typeface="Arial"/>
            </a:endParaRPr>
          </a:p>
          <a:p>
            <a:pPr marL="495300" indent="-229235">
              <a:lnSpc>
                <a:spcPts val="1380"/>
              </a:lnSpc>
              <a:buAutoNum type="arabicPeriod" startAt="5"/>
              <a:tabLst>
                <a:tab pos="495934" algn="l"/>
              </a:tabLst>
            </a:pPr>
            <a:r>
              <a:rPr dirty="0" sz="1200" spc="-5">
                <a:latin typeface="Arial"/>
                <a:cs typeface="Arial"/>
              </a:rPr>
              <a:t>Rights </a:t>
            </a:r>
            <a:r>
              <a:rPr dirty="0" sz="1200">
                <a:latin typeface="Arial"/>
                <a:cs typeface="Arial"/>
              </a:rPr>
              <a:t>of </a:t>
            </a:r>
            <a:r>
              <a:rPr dirty="0" sz="1200" spc="-5">
                <a:latin typeface="Arial"/>
                <a:cs typeface="Arial"/>
              </a:rPr>
              <a:t>each individual </a:t>
            </a:r>
            <a:r>
              <a:rPr dirty="0" sz="1200">
                <a:latin typeface="Arial"/>
                <a:cs typeface="Arial"/>
              </a:rPr>
              <a:t>– </a:t>
            </a:r>
            <a:r>
              <a:rPr dirty="0" sz="1200" i="1">
                <a:latin typeface="Arial"/>
                <a:cs typeface="Arial"/>
              </a:rPr>
              <a:t>We </a:t>
            </a:r>
            <a:r>
              <a:rPr dirty="0" sz="1200" spc="-5" i="1">
                <a:latin typeface="Arial"/>
                <a:cs typeface="Arial"/>
              </a:rPr>
              <a:t>enjoyed one</a:t>
            </a:r>
            <a:r>
              <a:rPr dirty="0" sz="1200" spc="5" i="1">
                <a:latin typeface="Arial"/>
                <a:cs typeface="Arial"/>
              </a:rPr>
              <a:t> </a:t>
            </a:r>
            <a:r>
              <a:rPr dirty="0" sz="1200" spc="-5" i="1">
                <a:latin typeface="Arial"/>
                <a:cs typeface="Arial"/>
              </a:rPr>
              <a:t>another</a:t>
            </a:r>
            <a:endParaRPr sz="1200">
              <a:latin typeface="Arial"/>
              <a:cs typeface="Arial"/>
            </a:endParaRPr>
          </a:p>
          <a:p>
            <a:pPr marL="495300" indent="-229235">
              <a:lnSpc>
                <a:spcPts val="1380"/>
              </a:lnSpc>
              <a:buFont typeface="Arial"/>
              <a:buAutoNum type="arabicPeriod" startAt="5"/>
              <a:tabLst>
                <a:tab pos="495934" algn="l"/>
              </a:tabLst>
            </a:pPr>
            <a:r>
              <a:rPr dirty="0" sz="1200" spc="-5">
                <a:latin typeface="Arial"/>
                <a:cs typeface="Arial"/>
              </a:rPr>
              <a:t>Rights </a:t>
            </a:r>
            <a:r>
              <a:rPr dirty="0" sz="1200">
                <a:latin typeface="Arial"/>
                <a:cs typeface="Arial"/>
              </a:rPr>
              <a:t>of </a:t>
            </a:r>
            <a:r>
              <a:rPr dirty="0" sz="1200" spc="-5">
                <a:latin typeface="Arial"/>
                <a:cs typeface="Arial"/>
              </a:rPr>
              <a:t>girls, women </a:t>
            </a:r>
            <a:r>
              <a:rPr dirty="0" sz="1200">
                <a:latin typeface="Arial"/>
                <a:cs typeface="Arial"/>
              </a:rPr>
              <a:t>– </a:t>
            </a:r>
            <a:r>
              <a:rPr dirty="0" sz="1200" spc="-5" i="1">
                <a:latin typeface="Arial"/>
                <a:cs typeface="Arial"/>
              </a:rPr>
              <a:t>And they have rights similar to those over</a:t>
            </a:r>
            <a:r>
              <a:rPr dirty="0" sz="1200" spc="70" i="1">
                <a:latin typeface="Arial"/>
                <a:cs typeface="Arial"/>
              </a:rPr>
              <a:t> </a:t>
            </a:r>
            <a:r>
              <a:rPr dirty="0" sz="1200" spc="-5" i="1">
                <a:latin typeface="Arial"/>
                <a:cs typeface="Arial"/>
              </a:rPr>
              <a:t>them</a:t>
            </a:r>
            <a:endParaRPr sz="1200">
              <a:latin typeface="Arial"/>
              <a:cs typeface="Arial"/>
            </a:endParaRPr>
          </a:p>
          <a:p>
            <a:pPr marL="495300" indent="-229235">
              <a:lnSpc>
                <a:spcPts val="1380"/>
              </a:lnSpc>
              <a:buFont typeface="Arial"/>
              <a:buAutoNum type="arabicPeriod" startAt="5"/>
              <a:tabLst>
                <a:tab pos="495934" algn="l"/>
              </a:tabLst>
            </a:pPr>
            <a:r>
              <a:rPr dirty="0" sz="1200">
                <a:latin typeface="Arial"/>
                <a:cs typeface="Arial"/>
              </a:rPr>
              <a:t>Old </a:t>
            </a:r>
            <a:r>
              <a:rPr dirty="0" sz="1200" spc="-5">
                <a:latin typeface="Arial"/>
                <a:cs typeface="Arial"/>
              </a:rPr>
              <a:t>persons and </a:t>
            </a:r>
            <a:r>
              <a:rPr dirty="0" sz="1200">
                <a:latin typeface="Arial"/>
                <a:cs typeface="Arial"/>
              </a:rPr>
              <a:t>the </a:t>
            </a:r>
            <a:r>
              <a:rPr dirty="0" sz="1200" spc="-5">
                <a:latin typeface="Arial"/>
                <a:cs typeface="Arial"/>
              </a:rPr>
              <a:t>poor </a:t>
            </a:r>
            <a:r>
              <a:rPr dirty="0" sz="1200">
                <a:latin typeface="Arial"/>
                <a:cs typeface="Arial"/>
              </a:rPr>
              <a:t>– </a:t>
            </a:r>
            <a:r>
              <a:rPr dirty="0" sz="1200" spc="-5" i="1">
                <a:latin typeface="Arial"/>
                <a:cs typeface="Arial"/>
              </a:rPr>
              <a:t>He </a:t>
            </a:r>
            <a:r>
              <a:rPr dirty="0" sz="1200" i="1">
                <a:latin typeface="Arial"/>
                <a:cs typeface="Arial"/>
              </a:rPr>
              <a:t>shall </a:t>
            </a:r>
            <a:r>
              <a:rPr dirty="0" sz="1200" spc="-10" i="1">
                <a:latin typeface="Arial"/>
                <a:cs typeface="Arial"/>
              </a:rPr>
              <a:t>feed </a:t>
            </a:r>
            <a:r>
              <a:rPr dirty="0" sz="1200" spc="-5" i="1">
                <a:latin typeface="Arial"/>
                <a:cs typeface="Arial"/>
              </a:rPr>
              <a:t>poor</a:t>
            </a:r>
            <a:r>
              <a:rPr dirty="0" sz="1200" spc="10" i="1">
                <a:latin typeface="Arial"/>
                <a:cs typeface="Arial"/>
              </a:rPr>
              <a:t> </a:t>
            </a:r>
            <a:r>
              <a:rPr dirty="0" sz="1200" spc="-5" i="1">
                <a:latin typeface="Arial"/>
                <a:cs typeface="Arial"/>
              </a:rPr>
              <a:t>persons</a:t>
            </a:r>
            <a:endParaRPr sz="1200">
              <a:latin typeface="Arial"/>
              <a:cs typeface="Arial"/>
            </a:endParaRPr>
          </a:p>
          <a:p>
            <a:pPr marL="495300" marR="76835" indent="-229235">
              <a:lnSpc>
                <a:spcPts val="1380"/>
              </a:lnSpc>
              <a:spcBef>
                <a:spcPts val="70"/>
              </a:spcBef>
              <a:buFont typeface="Arial"/>
              <a:buAutoNum type="arabicPeriod" startAt="5"/>
              <a:tabLst>
                <a:tab pos="495934" algn="l"/>
              </a:tabLst>
            </a:pPr>
            <a:r>
              <a:rPr dirty="0" sz="1200" spc="-5">
                <a:latin typeface="Arial"/>
                <a:cs typeface="Arial"/>
              </a:rPr>
              <a:t>No killing and burying of baby girls </a:t>
            </a:r>
            <a:r>
              <a:rPr dirty="0" sz="1200">
                <a:latin typeface="Arial"/>
                <a:cs typeface="Arial"/>
              </a:rPr>
              <a:t>- </a:t>
            </a:r>
            <a:r>
              <a:rPr dirty="0" sz="1200" spc="-5" i="1">
                <a:latin typeface="Arial"/>
                <a:cs typeface="Arial"/>
              </a:rPr>
              <a:t>And when the girl child that was buried alive is  </a:t>
            </a:r>
            <a:r>
              <a:rPr dirty="0" sz="1200" spc="-5" i="1">
                <a:latin typeface="Arial"/>
                <a:cs typeface="Arial"/>
              </a:rPr>
              <a:t>asked</a:t>
            </a:r>
            <a:endParaRPr sz="1200">
              <a:latin typeface="Arial"/>
              <a:cs typeface="Arial"/>
            </a:endParaRPr>
          </a:p>
          <a:p>
            <a:pPr marL="495300" indent="-229235">
              <a:lnSpc>
                <a:spcPts val="1315"/>
              </a:lnSpc>
              <a:buAutoNum type="arabicPeriod" startAt="5"/>
              <a:tabLst>
                <a:tab pos="495934" algn="l"/>
              </a:tabLst>
            </a:pPr>
            <a:r>
              <a:rPr dirty="0" sz="1200" spc="-5">
                <a:latin typeface="Arial"/>
                <a:cs typeface="Arial"/>
              </a:rPr>
              <a:t>No use of abusive language </a:t>
            </a:r>
            <a:r>
              <a:rPr dirty="0" sz="1200">
                <a:latin typeface="Arial"/>
                <a:cs typeface="Arial"/>
              </a:rPr>
              <a:t>– </a:t>
            </a:r>
            <a:r>
              <a:rPr dirty="0" sz="1200" spc="-5" i="1">
                <a:latin typeface="Arial"/>
                <a:cs typeface="Arial"/>
              </a:rPr>
              <a:t>Enjoin right</a:t>
            </a:r>
            <a:r>
              <a:rPr dirty="0" sz="1200" spc="25" i="1">
                <a:latin typeface="Arial"/>
                <a:cs typeface="Arial"/>
              </a:rPr>
              <a:t> </a:t>
            </a:r>
            <a:r>
              <a:rPr dirty="0" sz="1200" spc="-5" i="1">
                <a:latin typeface="Arial"/>
                <a:cs typeface="Arial"/>
              </a:rPr>
              <a:t>conduct</a:t>
            </a:r>
            <a:endParaRPr sz="1200">
              <a:latin typeface="Arial"/>
              <a:cs typeface="Arial"/>
            </a:endParaRPr>
          </a:p>
          <a:p>
            <a:pPr marL="495300" indent="-229235">
              <a:lnSpc>
                <a:spcPts val="1380"/>
              </a:lnSpc>
              <a:buAutoNum type="arabicPeriod" startAt="5"/>
              <a:tabLst>
                <a:tab pos="495934" algn="l"/>
              </a:tabLst>
            </a:pPr>
            <a:r>
              <a:rPr dirty="0" sz="1200" spc="-5">
                <a:latin typeface="Arial"/>
                <a:cs typeface="Arial"/>
              </a:rPr>
              <a:t>No narration of sins </a:t>
            </a:r>
            <a:r>
              <a:rPr dirty="0" sz="1200">
                <a:latin typeface="Arial"/>
                <a:cs typeface="Arial"/>
              </a:rPr>
              <a:t>– </a:t>
            </a:r>
            <a:r>
              <a:rPr dirty="0" sz="1200" spc="-5" i="1">
                <a:latin typeface="Arial"/>
                <a:cs typeface="Arial"/>
              </a:rPr>
              <a:t>Live in them </a:t>
            </a:r>
            <a:r>
              <a:rPr dirty="0" sz="1200" i="1">
                <a:latin typeface="Arial"/>
                <a:cs typeface="Arial"/>
              </a:rPr>
              <a:t>with </a:t>
            </a:r>
            <a:r>
              <a:rPr dirty="0" sz="1200" spc="-5" i="1">
                <a:latin typeface="Arial"/>
                <a:cs typeface="Arial"/>
              </a:rPr>
              <a:t>honour </a:t>
            </a:r>
            <a:r>
              <a:rPr dirty="0" sz="1200" i="1">
                <a:latin typeface="Arial"/>
                <a:cs typeface="Arial"/>
              </a:rPr>
              <a:t>not</a:t>
            </a:r>
            <a:r>
              <a:rPr dirty="0" sz="1200" spc="10" i="1">
                <a:latin typeface="Arial"/>
                <a:cs typeface="Arial"/>
              </a:rPr>
              <a:t> </a:t>
            </a:r>
            <a:r>
              <a:rPr dirty="0" sz="1200" spc="-5" i="1">
                <a:latin typeface="Arial"/>
                <a:cs typeface="Arial"/>
              </a:rPr>
              <a:t>fornication</a:t>
            </a:r>
            <a:endParaRPr sz="1200">
              <a:latin typeface="Arial"/>
              <a:cs typeface="Arial"/>
            </a:endParaRPr>
          </a:p>
          <a:p>
            <a:pPr marL="495300" indent="-229235">
              <a:lnSpc>
                <a:spcPts val="1385"/>
              </a:lnSpc>
              <a:buAutoNum type="arabicPeriod" startAt="5"/>
              <a:tabLst>
                <a:tab pos="495934" algn="l"/>
              </a:tabLst>
            </a:pPr>
            <a:r>
              <a:rPr dirty="0" sz="1200" spc="-5">
                <a:latin typeface="Arial"/>
                <a:cs typeface="Arial"/>
              </a:rPr>
              <a:t>Adultery, Fornication </a:t>
            </a:r>
            <a:r>
              <a:rPr dirty="0" sz="1200">
                <a:latin typeface="Arial"/>
                <a:cs typeface="Arial"/>
              </a:rPr>
              <a:t>– </a:t>
            </a:r>
            <a:r>
              <a:rPr dirty="0" sz="1200" spc="-5" i="1">
                <a:latin typeface="Arial"/>
                <a:cs typeface="Arial"/>
              </a:rPr>
              <a:t>Do not approach</a:t>
            </a:r>
            <a:r>
              <a:rPr dirty="0" sz="1200" spc="30" i="1">
                <a:latin typeface="Arial"/>
                <a:cs typeface="Arial"/>
              </a:rPr>
              <a:t> </a:t>
            </a:r>
            <a:r>
              <a:rPr dirty="0" sz="1200" spc="-5" i="1">
                <a:latin typeface="Arial"/>
                <a:cs typeface="Arial"/>
              </a:rPr>
              <a:t>Zina</a:t>
            </a:r>
            <a:endParaRPr sz="1200">
              <a:latin typeface="Arial"/>
              <a:cs typeface="Arial"/>
            </a:endParaRPr>
          </a:p>
          <a:p>
            <a:pPr marL="495300" indent="-229235">
              <a:lnSpc>
                <a:spcPts val="1380"/>
              </a:lnSpc>
              <a:buAutoNum type="arabicPeriod" startAt="5"/>
              <a:tabLst>
                <a:tab pos="495934" algn="l"/>
              </a:tabLst>
            </a:pPr>
            <a:r>
              <a:rPr dirty="0" sz="1200" spc="-5">
                <a:latin typeface="Arial"/>
                <a:cs typeface="Arial"/>
              </a:rPr>
              <a:t>No kidnapping, crime, murder, highway robbery, </a:t>
            </a:r>
            <a:r>
              <a:rPr dirty="0" sz="1200">
                <a:latin typeface="Arial"/>
                <a:cs typeface="Arial"/>
              </a:rPr>
              <a:t>prostitution, </a:t>
            </a:r>
            <a:r>
              <a:rPr dirty="0" sz="1200" spc="-5">
                <a:latin typeface="Arial"/>
                <a:cs typeface="Arial"/>
              </a:rPr>
              <a:t>adultery,</a:t>
            </a:r>
            <a:r>
              <a:rPr dirty="0" sz="1200" spc="120">
                <a:latin typeface="Arial"/>
                <a:cs typeface="Arial"/>
              </a:rPr>
              <a:t> </a:t>
            </a:r>
            <a:r>
              <a:rPr dirty="0" sz="1200" spc="-5">
                <a:latin typeface="Arial"/>
                <a:cs typeface="Arial"/>
              </a:rPr>
              <a:t>fornication etc..</a:t>
            </a:r>
            <a:endParaRPr sz="1200">
              <a:latin typeface="Arial"/>
              <a:cs typeface="Arial"/>
            </a:endParaRPr>
          </a:p>
          <a:p>
            <a:pPr lvl="1" marL="495300" marR="73660">
              <a:lnSpc>
                <a:spcPts val="1380"/>
              </a:lnSpc>
              <a:spcBef>
                <a:spcPts val="60"/>
              </a:spcBef>
              <a:buFont typeface="Arial"/>
              <a:buChar char="–"/>
              <a:tabLst>
                <a:tab pos="660400" algn="l"/>
              </a:tabLst>
            </a:pPr>
            <a:r>
              <a:rPr dirty="0" sz="1200" spc="-5" i="1">
                <a:latin typeface="Arial"/>
                <a:cs typeface="Arial"/>
              </a:rPr>
              <a:t>Conspire not together </a:t>
            </a:r>
            <a:r>
              <a:rPr dirty="0" sz="1200" i="1">
                <a:latin typeface="Arial"/>
                <a:cs typeface="Arial"/>
              </a:rPr>
              <a:t>for </a:t>
            </a:r>
            <a:r>
              <a:rPr dirty="0" sz="1200" spc="-10" i="1">
                <a:latin typeface="Arial"/>
                <a:cs typeface="Arial"/>
              </a:rPr>
              <a:t>crime </a:t>
            </a:r>
            <a:r>
              <a:rPr dirty="0" sz="1200" spc="-5" i="1">
                <a:latin typeface="Arial"/>
                <a:cs typeface="Arial"/>
              </a:rPr>
              <a:t>and wrongdoing and disobedience towards </a:t>
            </a:r>
            <a:r>
              <a:rPr dirty="0" sz="1200" spc="-10" i="1">
                <a:latin typeface="Arial"/>
                <a:cs typeface="Arial"/>
              </a:rPr>
              <a:t>the  </a:t>
            </a:r>
            <a:r>
              <a:rPr dirty="0" sz="1200" spc="-5" i="1">
                <a:latin typeface="Arial"/>
                <a:cs typeface="Arial"/>
              </a:rPr>
              <a:t>messenger</a:t>
            </a:r>
            <a:endParaRPr sz="1200">
              <a:latin typeface="Arial"/>
              <a:cs typeface="Arial"/>
            </a:endParaRPr>
          </a:p>
          <a:p>
            <a:pPr marL="495300" marR="77470" indent="-229235">
              <a:lnSpc>
                <a:spcPts val="1380"/>
              </a:lnSpc>
              <a:buFont typeface="Arial"/>
              <a:buAutoNum type="arabicPeriod" startAt="5"/>
              <a:tabLst>
                <a:tab pos="495934" algn="l"/>
              </a:tabLst>
            </a:pPr>
            <a:r>
              <a:rPr dirty="0" sz="1200" spc="-5">
                <a:latin typeface="Arial"/>
                <a:cs typeface="Arial"/>
              </a:rPr>
              <a:t>Only modesty and Shari‘ah </a:t>
            </a:r>
            <a:r>
              <a:rPr dirty="0" sz="1200">
                <a:latin typeface="Arial"/>
                <a:cs typeface="Arial"/>
              </a:rPr>
              <a:t>- </a:t>
            </a:r>
            <a:r>
              <a:rPr dirty="0" sz="1200" spc="-5" i="1">
                <a:latin typeface="Arial"/>
                <a:cs typeface="Arial"/>
              </a:rPr>
              <a:t>The (faithful) </a:t>
            </a:r>
            <a:r>
              <a:rPr dirty="0" sz="1200" i="1">
                <a:latin typeface="Arial"/>
                <a:cs typeface="Arial"/>
              </a:rPr>
              <a:t>slaves </a:t>
            </a:r>
            <a:r>
              <a:rPr dirty="0" sz="1200" spc="-5" i="1">
                <a:latin typeface="Arial"/>
                <a:cs typeface="Arial"/>
              </a:rPr>
              <a:t>of the Beneficent are they who </a:t>
            </a:r>
            <a:r>
              <a:rPr dirty="0" sz="1200" i="1">
                <a:latin typeface="Arial"/>
                <a:cs typeface="Arial"/>
              </a:rPr>
              <a:t>walk  </a:t>
            </a:r>
            <a:r>
              <a:rPr dirty="0" sz="1200" spc="-5" i="1">
                <a:latin typeface="Arial"/>
                <a:cs typeface="Arial"/>
              </a:rPr>
              <a:t>upon the earth modestly, and when the foolish </a:t>
            </a:r>
            <a:r>
              <a:rPr dirty="0" sz="1200" i="1">
                <a:latin typeface="Arial"/>
                <a:cs typeface="Arial"/>
              </a:rPr>
              <a:t>ones </a:t>
            </a:r>
            <a:r>
              <a:rPr dirty="0" sz="1200" spc="-5" i="1">
                <a:latin typeface="Arial"/>
                <a:cs typeface="Arial"/>
              </a:rPr>
              <a:t>address them answer:</a:t>
            </a:r>
            <a:r>
              <a:rPr dirty="0" sz="1200" spc="25" i="1">
                <a:latin typeface="Arial"/>
                <a:cs typeface="Arial"/>
              </a:rPr>
              <a:t> </a:t>
            </a:r>
            <a:r>
              <a:rPr dirty="0" sz="1200" spc="-5" i="1">
                <a:latin typeface="Arial"/>
                <a:cs typeface="Arial"/>
              </a:rPr>
              <a:t>Peace</a:t>
            </a:r>
            <a:endParaRPr sz="1200">
              <a:latin typeface="Arial"/>
              <a:cs typeface="Arial"/>
            </a:endParaRPr>
          </a:p>
          <a:p>
            <a:pPr marL="495300" indent="-229235">
              <a:lnSpc>
                <a:spcPts val="1345"/>
              </a:lnSpc>
              <a:buAutoNum type="arabicPeriod" startAt="5"/>
              <a:tabLst>
                <a:tab pos="495934" algn="l"/>
              </a:tabLst>
            </a:pPr>
            <a:r>
              <a:rPr dirty="0" sz="1200" spc="-5">
                <a:latin typeface="Arial"/>
                <a:cs typeface="Arial"/>
              </a:rPr>
              <a:t>Truth </a:t>
            </a:r>
            <a:r>
              <a:rPr dirty="0" sz="1200">
                <a:latin typeface="Arial"/>
                <a:cs typeface="Arial"/>
              </a:rPr>
              <a:t>- </a:t>
            </a:r>
            <a:r>
              <a:rPr dirty="0" sz="1200" spc="-5" i="1">
                <a:latin typeface="Arial"/>
                <a:cs typeface="Arial"/>
              </a:rPr>
              <a:t>Confound not truth </a:t>
            </a:r>
            <a:r>
              <a:rPr dirty="0" sz="1200" i="1">
                <a:latin typeface="Arial"/>
                <a:cs typeface="Arial"/>
              </a:rPr>
              <a:t>with </a:t>
            </a:r>
            <a:r>
              <a:rPr dirty="0" sz="1200" spc="-5" i="1">
                <a:latin typeface="Arial"/>
                <a:cs typeface="Arial"/>
              </a:rPr>
              <a:t>falsehood, nor </a:t>
            </a:r>
            <a:r>
              <a:rPr dirty="0" sz="1200" i="1">
                <a:latin typeface="Arial"/>
                <a:cs typeface="Arial"/>
              </a:rPr>
              <a:t>knowingly </a:t>
            </a:r>
            <a:r>
              <a:rPr dirty="0" sz="1200" spc="-5" i="1">
                <a:latin typeface="Arial"/>
                <a:cs typeface="Arial"/>
              </a:rPr>
              <a:t>conceal the</a:t>
            </a:r>
            <a:r>
              <a:rPr dirty="0" sz="1200" spc="-30" i="1">
                <a:latin typeface="Arial"/>
                <a:cs typeface="Arial"/>
              </a:rPr>
              <a:t> </a:t>
            </a:r>
            <a:r>
              <a:rPr dirty="0" sz="1200" i="1">
                <a:latin typeface="Arial"/>
                <a:cs typeface="Arial"/>
              </a:rPr>
              <a:t>truth.</a:t>
            </a:r>
            <a:endParaRPr sz="1200">
              <a:latin typeface="Arial"/>
              <a:cs typeface="Arial"/>
            </a:endParaRPr>
          </a:p>
          <a:p>
            <a:pPr>
              <a:lnSpc>
                <a:spcPct val="100000"/>
              </a:lnSpc>
              <a:spcBef>
                <a:spcPts val="10"/>
              </a:spcBef>
            </a:pPr>
            <a:endParaRPr sz="1150">
              <a:latin typeface="Arial"/>
              <a:cs typeface="Arial"/>
            </a:endParaRPr>
          </a:p>
          <a:p>
            <a:pPr marL="38100">
              <a:lnSpc>
                <a:spcPct val="100000"/>
              </a:lnSpc>
            </a:pPr>
            <a:r>
              <a:rPr dirty="0" u="heavy" sz="1200" b="1" i="1">
                <a:uFill>
                  <a:solidFill>
                    <a:srgbClr val="000000"/>
                  </a:solidFill>
                </a:uFill>
                <a:latin typeface="Arial"/>
                <a:cs typeface="Arial"/>
              </a:rPr>
              <a:t>Things </a:t>
            </a:r>
            <a:r>
              <a:rPr dirty="0" u="heavy" sz="1200" spc="-5" b="1" i="1">
                <a:uFill>
                  <a:solidFill>
                    <a:srgbClr val="000000"/>
                  </a:solidFill>
                </a:uFill>
                <a:latin typeface="Arial"/>
                <a:cs typeface="Arial"/>
              </a:rPr>
              <a:t>adapted or adopted from Pre Islamic Arabs </a:t>
            </a:r>
            <a:r>
              <a:rPr dirty="0" u="heavy" sz="1200" spc="-10" b="1" i="1">
                <a:uFill>
                  <a:solidFill>
                    <a:srgbClr val="000000"/>
                  </a:solidFill>
                </a:uFill>
                <a:latin typeface="Arial"/>
                <a:cs typeface="Arial"/>
              </a:rPr>
              <a:t>by </a:t>
            </a:r>
            <a:r>
              <a:rPr dirty="0" u="heavy" sz="1200" spc="-5" b="1" i="1">
                <a:uFill>
                  <a:solidFill>
                    <a:srgbClr val="000000"/>
                  </a:solidFill>
                </a:uFill>
                <a:latin typeface="Arial"/>
                <a:cs typeface="Arial"/>
              </a:rPr>
              <a:t>the Holy Prophet</a:t>
            </a:r>
            <a:r>
              <a:rPr dirty="0" u="heavy" sz="1200" spc="90" b="1" i="1">
                <a:uFill>
                  <a:solidFill>
                    <a:srgbClr val="000000"/>
                  </a:solidFill>
                </a:uFill>
                <a:latin typeface="Arial"/>
                <a:cs typeface="Arial"/>
              </a:rPr>
              <a:t> </a:t>
            </a:r>
            <a:r>
              <a:rPr dirty="0" u="heavy" sz="1200" spc="-5" b="1" i="1">
                <a:uFill>
                  <a:solidFill>
                    <a:srgbClr val="000000"/>
                  </a:solidFill>
                </a:uFill>
                <a:latin typeface="Arial"/>
                <a:cs typeface="Arial"/>
              </a:rPr>
              <a:t>(s.a.w)</a:t>
            </a:r>
            <a:endParaRPr sz="1200">
              <a:latin typeface="Arial"/>
              <a:cs typeface="Arial"/>
            </a:endParaRPr>
          </a:p>
          <a:p>
            <a:pPr>
              <a:lnSpc>
                <a:spcPct val="100000"/>
              </a:lnSpc>
              <a:spcBef>
                <a:spcPts val="55"/>
              </a:spcBef>
            </a:pPr>
            <a:endParaRPr sz="1100">
              <a:latin typeface="Arial"/>
              <a:cs typeface="Arial"/>
            </a:endParaRPr>
          </a:p>
          <a:p>
            <a:pPr marL="495300" indent="-229235">
              <a:lnSpc>
                <a:spcPts val="1410"/>
              </a:lnSpc>
              <a:buAutoNum type="arabicPeriod"/>
              <a:tabLst>
                <a:tab pos="495934" algn="l"/>
              </a:tabLst>
            </a:pPr>
            <a:r>
              <a:rPr dirty="0" sz="1200" spc="-5">
                <a:latin typeface="Arial"/>
                <a:cs typeface="Arial"/>
              </a:rPr>
              <a:t>Loyalty </a:t>
            </a:r>
            <a:r>
              <a:rPr dirty="0" sz="1200">
                <a:latin typeface="Arial"/>
                <a:cs typeface="Arial"/>
              </a:rPr>
              <a:t>to </a:t>
            </a:r>
            <a:r>
              <a:rPr dirty="0" sz="1200" spc="-5">
                <a:latin typeface="Arial"/>
                <a:cs typeface="Arial"/>
              </a:rPr>
              <a:t>Allah and the</a:t>
            </a:r>
            <a:r>
              <a:rPr dirty="0" sz="1200" spc="-15">
                <a:latin typeface="Arial"/>
                <a:cs typeface="Arial"/>
              </a:rPr>
              <a:t> </a:t>
            </a:r>
            <a:r>
              <a:rPr dirty="0" sz="1200" spc="-5">
                <a:latin typeface="Arial"/>
                <a:cs typeface="Arial"/>
              </a:rPr>
              <a:t>prophet</a:t>
            </a:r>
            <a:endParaRPr sz="1200">
              <a:latin typeface="Arial"/>
              <a:cs typeface="Arial"/>
            </a:endParaRPr>
          </a:p>
          <a:p>
            <a:pPr marL="495300" indent="-229235">
              <a:lnSpc>
                <a:spcPts val="1375"/>
              </a:lnSpc>
              <a:buAutoNum type="arabicPeriod"/>
              <a:tabLst>
                <a:tab pos="495934" algn="l"/>
              </a:tabLst>
            </a:pPr>
            <a:r>
              <a:rPr dirty="0" sz="1200">
                <a:latin typeface="Arial"/>
                <a:cs typeface="Arial"/>
              </a:rPr>
              <a:t>Generosity </a:t>
            </a:r>
            <a:r>
              <a:rPr dirty="0" sz="1200" spc="-5">
                <a:latin typeface="Arial"/>
                <a:cs typeface="Arial"/>
              </a:rPr>
              <a:t>towards</a:t>
            </a:r>
            <a:r>
              <a:rPr dirty="0" sz="1200" spc="-20">
                <a:latin typeface="Arial"/>
                <a:cs typeface="Arial"/>
              </a:rPr>
              <a:t> </a:t>
            </a:r>
            <a:r>
              <a:rPr dirty="0" sz="1200" spc="-5">
                <a:latin typeface="Arial"/>
                <a:cs typeface="Arial"/>
              </a:rPr>
              <a:t>people</a:t>
            </a:r>
            <a:endParaRPr sz="1200">
              <a:latin typeface="Arial"/>
              <a:cs typeface="Arial"/>
            </a:endParaRPr>
          </a:p>
          <a:p>
            <a:pPr marL="495300" indent="-229235">
              <a:lnSpc>
                <a:spcPts val="1375"/>
              </a:lnSpc>
              <a:buAutoNum type="arabicPeriod"/>
              <a:tabLst>
                <a:tab pos="495934" algn="l"/>
              </a:tabLst>
            </a:pPr>
            <a:r>
              <a:rPr dirty="0" sz="1200" spc="-5">
                <a:latin typeface="Arial"/>
                <a:cs typeface="Arial"/>
              </a:rPr>
              <a:t>Hospitality towards </a:t>
            </a:r>
            <a:r>
              <a:rPr dirty="0" sz="1200">
                <a:latin typeface="Arial"/>
                <a:cs typeface="Arial"/>
              </a:rPr>
              <a:t>the </a:t>
            </a:r>
            <a:r>
              <a:rPr dirty="0" sz="1200" spc="-5">
                <a:latin typeface="Arial"/>
                <a:cs typeface="Arial"/>
              </a:rPr>
              <a:t>travellers </a:t>
            </a:r>
            <a:r>
              <a:rPr dirty="0" sz="1200">
                <a:latin typeface="Arial"/>
                <a:cs typeface="Arial"/>
              </a:rPr>
              <a:t>and</a:t>
            </a:r>
            <a:r>
              <a:rPr dirty="0" sz="1200" spc="-15">
                <a:latin typeface="Arial"/>
                <a:cs typeface="Arial"/>
              </a:rPr>
              <a:t> </a:t>
            </a:r>
            <a:r>
              <a:rPr dirty="0" sz="1200" spc="-5">
                <a:latin typeface="Arial"/>
                <a:cs typeface="Arial"/>
              </a:rPr>
              <a:t>foreigners</a:t>
            </a:r>
            <a:endParaRPr sz="1200">
              <a:latin typeface="Arial"/>
              <a:cs typeface="Arial"/>
            </a:endParaRPr>
          </a:p>
          <a:p>
            <a:pPr marL="495300" indent="-229235">
              <a:lnSpc>
                <a:spcPts val="1380"/>
              </a:lnSpc>
              <a:buAutoNum type="arabicPeriod"/>
              <a:tabLst>
                <a:tab pos="495934" algn="l"/>
              </a:tabLst>
            </a:pPr>
            <a:r>
              <a:rPr dirty="0" sz="1200" spc="-5">
                <a:latin typeface="Arial"/>
                <a:cs typeface="Arial"/>
              </a:rPr>
              <a:t>Perseverance and patience </a:t>
            </a:r>
            <a:r>
              <a:rPr dirty="0" sz="1200" spc="-10">
                <a:latin typeface="Arial"/>
                <a:cs typeface="Arial"/>
              </a:rPr>
              <a:t>in </a:t>
            </a:r>
            <a:r>
              <a:rPr dirty="0" sz="1200" spc="-5">
                <a:latin typeface="Arial"/>
                <a:cs typeface="Arial"/>
              </a:rPr>
              <a:t>times of</a:t>
            </a:r>
            <a:r>
              <a:rPr dirty="0" sz="1200" spc="10">
                <a:latin typeface="Arial"/>
                <a:cs typeface="Arial"/>
              </a:rPr>
              <a:t> </a:t>
            </a:r>
            <a:r>
              <a:rPr dirty="0" sz="1200" spc="-5">
                <a:latin typeface="Arial"/>
                <a:cs typeface="Arial"/>
              </a:rPr>
              <a:t>problems</a:t>
            </a:r>
            <a:endParaRPr sz="1200">
              <a:latin typeface="Arial"/>
              <a:cs typeface="Arial"/>
            </a:endParaRPr>
          </a:p>
          <a:p>
            <a:pPr marL="495300" indent="-229235">
              <a:lnSpc>
                <a:spcPts val="1380"/>
              </a:lnSpc>
              <a:buAutoNum type="arabicPeriod"/>
              <a:tabLst>
                <a:tab pos="495934" algn="l"/>
              </a:tabLst>
            </a:pPr>
            <a:r>
              <a:rPr dirty="0" sz="1200" spc="-5">
                <a:latin typeface="Arial"/>
                <a:cs typeface="Arial"/>
              </a:rPr>
              <a:t>Eagerness to excel in all</a:t>
            </a:r>
            <a:r>
              <a:rPr dirty="0" sz="1200" spc="5">
                <a:latin typeface="Arial"/>
                <a:cs typeface="Arial"/>
              </a:rPr>
              <a:t> </a:t>
            </a:r>
            <a:r>
              <a:rPr dirty="0" sz="1200" spc="-5">
                <a:latin typeface="Arial"/>
                <a:cs typeface="Arial"/>
              </a:rPr>
              <a:t>domains</a:t>
            </a:r>
            <a:endParaRPr sz="1200">
              <a:latin typeface="Arial"/>
              <a:cs typeface="Arial"/>
            </a:endParaRPr>
          </a:p>
          <a:p>
            <a:pPr marL="495300" indent="-229235">
              <a:lnSpc>
                <a:spcPts val="1380"/>
              </a:lnSpc>
              <a:buAutoNum type="arabicPeriod"/>
              <a:tabLst>
                <a:tab pos="495934" algn="l"/>
              </a:tabLst>
            </a:pPr>
            <a:r>
              <a:rPr dirty="0" sz="1200" spc="-5">
                <a:latin typeface="Arial"/>
                <a:cs typeface="Arial"/>
              </a:rPr>
              <a:t>Courage and bravery </a:t>
            </a:r>
            <a:r>
              <a:rPr dirty="0" sz="1200">
                <a:latin typeface="Arial"/>
                <a:cs typeface="Arial"/>
              </a:rPr>
              <a:t>on </a:t>
            </a:r>
            <a:r>
              <a:rPr dirty="0" sz="1200" spc="-5">
                <a:latin typeface="Arial"/>
                <a:cs typeface="Arial"/>
              </a:rPr>
              <a:t>the battle field (for Allah‘s cause only)</a:t>
            </a:r>
            <a:endParaRPr sz="1200">
              <a:latin typeface="Arial"/>
              <a:cs typeface="Arial"/>
            </a:endParaRPr>
          </a:p>
          <a:p>
            <a:pPr marL="495300" indent="-229235">
              <a:lnSpc>
                <a:spcPts val="1380"/>
              </a:lnSpc>
              <a:buAutoNum type="arabicPeriod"/>
              <a:tabLst>
                <a:tab pos="495934" algn="l"/>
              </a:tabLst>
            </a:pPr>
            <a:r>
              <a:rPr dirty="0" sz="1200" spc="-5">
                <a:latin typeface="Arial"/>
                <a:cs typeface="Arial"/>
              </a:rPr>
              <a:t>Solidarity in </a:t>
            </a:r>
            <a:r>
              <a:rPr dirty="0" sz="1200">
                <a:latin typeface="Arial"/>
                <a:cs typeface="Arial"/>
              </a:rPr>
              <a:t>times </a:t>
            </a:r>
            <a:r>
              <a:rPr dirty="0" sz="1200" spc="-5">
                <a:latin typeface="Arial"/>
                <a:cs typeface="Arial"/>
              </a:rPr>
              <a:t>of general concern</a:t>
            </a:r>
            <a:endParaRPr sz="1200">
              <a:latin typeface="Arial"/>
              <a:cs typeface="Arial"/>
            </a:endParaRPr>
          </a:p>
          <a:p>
            <a:pPr marL="495300" marR="81280" indent="-229235">
              <a:lnSpc>
                <a:spcPts val="1380"/>
              </a:lnSpc>
              <a:spcBef>
                <a:spcPts val="65"/>
              </a:spcBef>
              <a:buAutoNum type="arabicPeriod"/>
              <a:tabLst>
                <a:tab pos="495934" algn="l"/>
              </a:tabLst>
            </a:pPr>
            <a:r>
              <a:rPr dirty="0" sz="1200" spc="-5">
                <a:latin typeface="Arial"/>
                <a:cs typeface="Arial"/>
              </a:rPr>
              <a:t>The </a:t>
            </a:r>
            <a:r>
              <a:rPr dirty="0" sz="1200" spc="-10">
                <a:latin typeface="Arial"/>
                <a:cs typeface="Arial"/>
              </a:rPr>
              <a:t>use </a:t>
            </a:r>
            <a:r>
              <a:rPr dirty="0" sz="1200" spc="-5">
                <a:latin typeface="Arial"/>
                <a:cs typeface="Arial"/>
              </a:rPr>
              <a:t>of Arabic </a:t>
            </a:r>
            <a:r>
              <a:rPr dirty="0" sz="1200" spc="-10">
                <a:latin typeface="Arial"/>
                <a:cs typeface="Arial"/>
              </a:rPr>
              <a:t>language </a:t>
            </a:r>
            <a:r>
              <a:rPr dirty="0" sz="1200">
                <a:latin typeface="Arial"/>
                <a:cs typeface="Arial"/>
              </a:rPr>
              <a:t>(not for </a:t>
            </a:r>
            <a:r>
              <a:rPr dirty="0" sz="1200" spc="-5">
                <a:latin typeface="Arial"/>
                <a:cs typeface="Arial"/>
              </a:rPr>
              <a:t>narrating absurd events but to praise Allah and  His prophet)</a:t>
            </a:r>
            <a:endParaRPr sz="1200">
              <a:latin typeface="Arial"/>
              <a:cs typeface="Arial"/>
            </a:endParaRPr>
          </a:p>
          <a:p>
            <a:pPr marL="495300" indent="-229235">
              <a:lnSpc>
                <a:spcPts val="1315"/>
              </a:lnSpc>
              <a:buAutoNum type="arabicPeriod"/>
              <a:tabLst>
                <a:tab pos="495934" algn="l"/>
              </a:tabLst>
            </a:pPr>
            <a:r>
              <a:rPr dirty="0" sz="1200" spc="-5">
                <a:latin typeface="Arial"/>
                <a:cs typeface="Arial"/>
              </a:rPr>
              <a:t>The fast of the </a:t>
            </a:r>
            <a:r>
              <a:rPr dirty="0" sz="1200">
                <a:latin typeface="Arial"/>
                <a:cs typeface="Arial"/>
              </a:rPr>
              <a:t>10</a:t>
            </a:r>
            <a:r>
              <a:rPr dirty="0" baseline="38194" sz="1200">
                <a:latin typeface="Arial"/>
                <a:cs typeface="Arial"/>
              </a:rPr>
              <a:t>th </a:t>
            </a:r>
            <a:r>
              <a:rPr dirty="0" sz="1200" spc="-5">
                <a:latin typeface="Arial"/>
                <a:cs typeface="Arial"/>
              </a:rPr>
              <a:t>of Muharram. </a:t>
            </a:r>
            <a:r>
              <a:rPr dirty="0" sz="1200">
                <a:latin typeface="Arial"/>
                <a:cs typeface="Arial"/>
              </a:rPr>
              <a:t>(the </a:t>
            </a:r>
            <a:r>
              <a:rPr dirty="0" sz="1200" spc="-5">
                <a:latin typeface="Arial"/>
                <a:cs typeface="Arial"/>
              </a:rPr>
              <a:t>prophet added the</a:t>
            </a:r>
            <a:r>
              <a:rPr dirty="0" sz="1200" spc="-110">
                <a:latin typeface="Arial"/>
                <a:cs typeface="Arial"/>
              </a:rPr>
              <a:t> </a:t>
            </a:r>
            <a:r>
              <a:rPr dirty="0" sz="1200">
                <a:latin typeface="Arial"/>
                <a:cs typeface="Arial"/>
              </a:rPr>
              <a:t>9</a:t>
            </a:r>
            <a:r>
              <a:rPr dirty="0" baseline="38194" sz="1200">
                <a:latin typeface="Arial"/>
                <a:cs typeface="Arial"/>
              </a:rPr>
              <a:t>th</a:t>
            </a:r>
            <a:r>
              <a:rPr dirty="0" sz="1200">
                <a:latin typeface="Arial"/>
                <a:cs typeface="Arial"/>
              </a:rPr>
              <a:t>)</a:t>
            </a:r>
            <a:endParaRPr sz="1200">
              <a:latin typeface="Arial"/>
              <a:cs typeface="Arial"/>
            </a:endParaRPr>
          </a:p>
          <a:p>
            <a:pPr marL="495300" marR="81280" indent="-229235">
              <a:lnSpc>
                <a:spcPts val="1380"/>
              </a:lnSpc>
              <a:spcBef>
                <a:spcPts val="65"/>
              </a:spcBef>
              <a:buAutoNum type="arabicPeriod"/>
              <a:tabLst>
                <a:tab pos="495934" algn="l"/>
              </a:tabLst>
            </a:pPr>
            <a:r>
              <a:rPr dirty="0" sz="1200" spc="-5">
                <a:latin typeface="Arial"/>
                <a:cs typeface="Arial"/>
              </a:rPr>
              <a:t>The circumambulation of </a:t>
            </a:r>
            <a:r>
              <a:rPr dirty="0" sz="1200">
                <a:latin typeface="Arial"/>
                <a:cs typeface="Arial"/>
              </a:rPr>
              <a:t>the </a:t>
            </a:r>
            <a:r>
              <a:rPr dirty="0" sz="1200" spc="-5">
                <a:latin typeface="Arial"/>
                <a:cs typeface="Arial"/>
              </a:rPr>
              <a:t>Ka‘bah and the circuit </a:t>
            </a:r>
            <a:r>
              <a:rPr dirty="0" sz="1200">
                <a:latin typeface="Arial"/>
                <a:cs typeface="Arial"/>
              </a:rPr>
              <a:t>Safa and </a:t>
            </a:r>
            <a:r>
              <a:rPr dirty="0" sz="1200" spc="-5">
                <a:latin typeface="Arial"/>
                <a:cs typeface="Arial"/>
              </a:rPr>
              <a:t>Marwa. </a:t>
            </a:r>
            <a:r>
              <a:rPr dirty="0" sz="1200">
                <a:latin typeface="Arial"/>
                <a:cs typeface="Arial"/>
              </a:rPr>
              <a:t>(the </a:t>
            </a:r>
            <a:r>
              <a:rPr dirty="0" sz="1200" spc="-5">
                <a:latin typeface="Arial"/>
                <a:cs typeface="Arial"/>
              </a:rPr>
              <a:t>prophet did  them in the state of purity </a:t>
            </a:r>
            <a:r>
              <a:rPr dirty="0" sz="1200">
                <a:latin typeface="Arial"/>
                <a:cs typeface="Arial"/>
              </a:rPr>
              <a:t>and</a:t>
            </a:r>
            <a:r>
              <a:rPr dirty="0" sz="1200" spc="15">
                <a:latin typeface="Arial"/>
                <a:cs typeface="Arial"/>
              </a:rPr>
              <a:t> </a:t>
            </a:r>
            <a:r>
              <a:rPr dirty="0" sz="1200" spc="-5">
                <a:latin typeface="Arial"/>
                <a:cs typeface="Arial"/>
              </a:rPr>
              <a:t>respect)</a:t>
            </a:r>
            <a:endParaRPr sz="1200">
              <a:latin typeface="Arial"/>
              <a:cs typeface="Arial"/>
            </a:endParaRPr>
          </a:p>
          <a:p>
            <a:pPr marL="495300" indent="-229235">
              <a:lnSpc>
                <a:spcPts val="1315"/>
              </a:lnSpc>
              <a:buAutoNum type="arabicPeriod"/>
              <a:tabLst>
                <a:tab pos="495934" algn="l"/>
              </a:tabLst>
            </a:pPr>
            <a:r>
              <a:rPr dirty="0" sz="1200" spc="-5">
                <a:latin typeface="Arial"/>
                <a:cs typeface="Arial"/>
              </a:rPr>
              <a:t>Prayer at </a:t>
            </a:r>
            <a:r>
              <a:rPr dirty="0" sz="1200">
                <a:latin typeface="Arial"/>
                <a:cs typeface="Arial"/>
              </a:rPr>
              <a:t>the </a:t>
            </a:r>
            <a:r>
              <a:rPr dirty="0" sz="1200" spc="-5">
                <a:latin typeface="Arial"/>
                <a:cs typeface="Arial"/>
              </a:rPr>
              <a:t>Ka‘bah (the prophet opted </a:t>
            </a:r>
            <a:r>
              <a:rPr dirty="0" sz="1200">
                <a:latin typeface="Arial"/>
                <a:cs typeface="Arial"/>
              </a:rPr>
              <a:t>for</a:t>
            </a:r>
            <a:r>
              <a:rPr dirty="0" sz="1200" spc="5">
                <a:latin typeface="Arial"/>
                <a:cs typeface="Arial"/>
              </a:rPr>
              <a:t> </a:t>
            </a:r>
            <a:r>
              <a:rPr dirty="0" sz="1200" spc="-5">
                <a:latin typeface="Arial"/>
                <a:cs typeface="Arial"/>
              </a:rPr>
              <a:t>monotheism)</a:t>
            </a:r>
            <a:endParaRPr sz="1200">
              <a:latin typeface="Arial"/>
              <a:cs typeface="Arial"/>
            </a:endParaRPr>
          </a:p>
          <a:p>
            <a:pPr marL="495300" indent="-229235">
              <a:lnSpc>
                <a:spcPts val="1380"/>
              </a:lnSpc>
              <a:buAutoNum type="arabicPeriod"/>
              <a:tabLst>
                <a:tab pos="495934" algn="l"/>
              </a:tabLst>
            </a:pPr>
            <a:r>
              <a:rPr dirty="0" sz="1200" spc="-5">
                <a:latin typeface="Arial"/>
                <a:cs typeface="Arial"/>
              </a:rPr>
              <a:t>Sacrifices </a:t>
            </a:r>
            <a:r>
              <a:rPr dirty="0" sz="1200">
                <a:latin typeface="Arial"/>
                <a:cs typeface="Arial"/>
              </a:rPr>
              <a:t>(not </a:t>
            </a:r>
            <a:r>
              <a:rPr dirty="0" sz="1200" spc="-5">
                <a:latin typeface="Arial"/>
                <a:cs typeface="Arial"/>
              </a:rPr>
              <a:t>human but animal</a:t>
            </a:r>
            <a:r>
              <a:rPr dirty="0" sz="1200" spc="-15">
                <a:latin typeface="Arial"/>
                <a:cs typeface="Arial"/>
              </a:rPr>
              <a:t> </a:t>
            </a:r>
            <a:r>
              <a:rPr dirty="0" sz="1200" spc="-5">
                <a:latin typeface="Arial"/>
                <a:cs typeface="Arial"/>
              </a:rPr>
              <a:t>sacrifices)</a:t>
            </a:r>
            <a:endParaRPr sz="1200">
              <a:latin typeface="Arial"/>
              <a:cs typeface="Arial"/>
            </a:endParaRPr>
          </a:p>
          <a:p>
            <a:pPr marL="495300" indent="-229235">
              <a:lnSpc>
                <a:spcPts val="1380"/>
              </a:lnSpc>
              <a:buAutoNum type="arabicPeriod"/>
              <a:tabLst>
                <a:tab pos="495934" algn="l"/>
              </a:tabLst>
            </a:pPr>
            <a:r>
              <a:rPr dirty="0" sz="1200" spc="-5">
                <a:latin typeface="Arial"/>
                <a:cs typeface="Arial"/>
              </a:rPr>
              <a:t>Fasting </a:t>
            </a:r>
            <a:r>
              <a:rPr dirty="0" sz="1200">
                <a:latin typeface="Arial"/>
                <a:cs typeface="Arial"/>
              </a:rPr>
              <a:t>but </a:t>
            </a:r>
            <a:r>
              <a:rPr dirty="0" sz="1200" spc="-5">
                <a:latin typeface="Arial"/>
                <a:cs typeface="Arial"/>
              </a:rPr>
              <a:t>only </a:t>
            </a:r>
            <a:r>
              <a:rPr dirty="0" sz="1200">
                <a:latin typeface="Arial"/>
                <a:cs typeface="Arial"/>
              </a:rPr>
              <a:t>for </a:t>
            </a:r>
            <a:r>
              <a:rPr dirty="0" sz="1200" spc="-5">
                <a:latin typeface="Arial"/>
                <a:cs typeface="Arial"/>
              </a:rPr>
              <a:t>29 or 30 days </a:t>
            </a:r>
            <a:r>
              <a:rPr dirty="0" sz="1200">
                <a:latin typeface="Arial"/>
                <a:cs typeface="Arial"/>
              </a:rPr>
              <a:t>(not</a:t>
            </a:r>
            <a:r>
              <a:rPr dirty="0" sz="1200" spc="-25">
                <a:latin typeface="Arial"/>
                <a:cs typeface="Arial"/>
              </a:rPr>
              <a:t> </a:t>
            </a:r>
            <a:r>
              <a:rPr dirty="0" sz="1200" spc="-5">
                <a:latin typeface="Arial"/>
                <a:cs typeface="Arial"/>
              </a:rPr>
              <a:t>40)</a:t>
            </a:r>
            <a:endParaRPr sz="1200">
              <a:latin typeface="Arial"/>
              <a:cs typeface="Arial"/>
            </a:endParaRPr>
          </a:p>
          <a:p>
            <a:pPr marL="266700">
              <a:lnSpc>
                <a:spcPts val="1380"/>
              </a:lnSpc>
            </a:pPr>
            <a:r>
              <a:rPr dirty="0" sz="1200">
                <a:latin typeface="Arial"/>
                <a:cs typeface="Arial"/>
              </a:rPr>
              <a:t>14.</a:t>
            </a:r>
            <a:r>
              <a:rPr dirty="0" sz="1200" spc="-254">
                <a:latin typeface="Arial"/>
                <a:cs typeface="Arial"/>
              </a:rPr>
              <a:t> </a:t>
            </a:r>
            <a:r>
              <a:rPr dirty="0" sz="1200" spc="-5">
                <a:latin typeface="Arial"/>
                <a:cs typeface="Arial"/>
              </a:rPr>
              <a:t>2 </a:t>
            </a:r>
            <a:r>
              <a:rPr dirty="0" sz="1200">
                <a:latin typeface="Arial"/>
                <a:cs typeface="Arial"/>
              </a:rPr>
              <a:t>feasts </a:t>
            </a:r>
            <a:r>
              <a:rPr dirty="0" sz="1200" spc="-5">
                <a:latin typeface="Arial"/>
                <a:cs typeface="Arial"/>
              </a:rPr>
              <a:t>in </a:t>
            </a:r>
            <a:r>
              <a:rPr dirty="0" sz="1200">
                <a:latin typeface="Arial"/>
                <a:cs typeface="Arial"/>
              </a:rPr>
              <a:t>the </a:t>
            </a:r>
            <a:r>
              <a:rPr dirty="0" sz="1200" spc="-5">
                <a:latin typeface="Arial"/>
                <a:cs typeface="Arial"/>
              </a:rPr>
              <a:t>name of </a:t>
            </a:r>
            <a:r>
              <a:rPr dirty="0" sz="1200">
                <a:latin typeface="Arial"/>
                <a:cs typeface="Arial"/>
              </a:rPr>
              <a:t>Id-ul-Fitr and </a:t>
            </a:r>
            <a:r>
              <a:rPr dirty="0" sz="1200" spc="-5">
                <a:latin typeface="Arial"/>
                <a:cs typeface="Arial"/>
              </a:rPr>
              <a:t>Id-ul-Adha</a:t>
            </a:r>
            <a:endParaRPr sz="1200">
              <a:latin typeface="Arial"/>
              <a:cs typeface="Arial"/>
            </a:endParaRPr>
          </a:p>
          <a:p>
            <a:pPr marL="495300" indent="-229235">
              <a:lnSpc>
                <a:spcPts val="1380"/>
              </a:lnSpc>
              <a:buAutoNum type="arabicPeriod" startAt="15"/>
              <a:tabLst>
                <a:tab pos="495934" algn="l"/>
              </a:tabLst>
            </a:pPr>
            <a:r>
              <a:rPr dirty="0" sz="1200" spc="-5">
                <a:latin typeface="Arial"/>
                <a:cs typeface="Arial"/>
              </a:rPr>
              <a:t>Place of </a:t>
            </a:r>
            <a:r>
              <a:rPr dirty="0" sz="1200">
                <a:latin typeface="Arial"/>
                <a:cs typeface="Arial"/>
              </a:rPr>
              <a:t>cult</a:t>
            </a:r>
            <a:r>
              <a:rPr dirty="0" sz="1200" spc="10">
                <a:latin typeface="Arial"/>
                <a:cs typeface="Arial"/>
              </a:rPr>
              <a:t> </a:t>
            </a:r>
            <a:r>
              <a:rPr dirty="0" sz="1200" spc="-5">
                <a:latin typeface="Arial"/>
                <a:cs typeface="Arial"/>
              </a:rPr>
              <a:t>(Masjid)</a:t>
            </a:r>
            <a:endParaRPr sz="1200">
              <a:latin typeface="Arial"/>
              <a:cs typeface="Arial"/>
            </a:endParaRPr>
          </a:p>
          <a:p>
            <a:pPr marL="495300" indent="-229235">
              <a:lnSpc>
                <a:spcPts val="1410"/>
              </a:lnSpc>
              <a:buAutoNum type="arabicPeriod" startAt="15"/>
              <a:tabLst>
                <a:tab pos="495934" algn="l"/>
              </a:tabLst>
            </a:pPr>
            <a:r>
              <a:rPr dirty="0" sz="1200" spc="-5">
                <a:latin typeface="Arial"/>
                <a:cs typeface="Arial"/>
              </a:rPr>
              <a:t>Announcement </a:t>
            </a:r>
            <a:r>
              <a:rPr dirty="0" sz="1200">
                <a:latin typeface="Arial"/>
                <a:cs typeface="Arial"/>
              </a:rPr>
              <a:t>for </a:t>
            </a:r>
            <a:r>
              <a:rPr dirty="0" sz="1200" spc="-10">
                <a:latin typeface="Arial"/>
                <a:cs typeface="Arial"/>
              </a:rPr>
              <a:t>prayer </a:t>
            </a:r>
            <a:r>
              <a:rPr dirty="0" sz="1200" spc="-5">
                <a:latin typeface="Arial"/>
                <a:cs typeface="Arial"/>
              </a:rPr>
              <a:t>(not </a:t>
            </a:r>
            <a:r>
              <a:rPr dirty="0" sz="1200">
                <a:latin typeface="Arial"/>
                <a:cs typeface="Arial"/>
              </a:rPr>
              <a:t>the </a:t>
            </a:r>
            <a:r>
              <a:rPr dirty="0" sz="1200" spc="-5">
                <a:latin typeface="Arial"/>
                <a:cs typeface="Arial"/>
              </a:rPr>
              <a:t>bell and </a:t>
            </a:r>
            <a:r>
              <a:rPr dirty="0" sz="1200" spc="-10">
                <a:latin typeface="Arial"/>
                <a:cs typeface="Arial"/>
              </a:rPr>
              <a:t>the </a:t>
            </a:r>
            <a:r>
              <a:rPr dirty="0" sz="1200" spc="-5">
                <a:latin typeface="Arial"/>
                <a:cs typeface="Arial"/>
              </a:rPr>
              <a:t>trumpet but the human voice</a:t>
            </a:r>
            <a:r>
              <a:rPr dirty="0" sz="1200" spc="65">
                <a:latin typeface="Arial"/>
                <a:cs typeface="Arial"/>
              </a:rPr>
              <a:t> </a:t>
            </a:r>
            <a:r>
              <a:rPr dirty="0" sz="1200" spc="-55">
                <a:latin typeface="Arial"/>
                <a:cs typeface="Arial"/>
              </a:rPr>
              <a:t>‗Azaan‘)</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49295" y="9905322"/>
            <a:ext cx="476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8</a:t>
            </a:r>
            <a:endParaRPr sz="12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6309360" cy="8445500"/>
          </a:xfrm>
          <a:prstGeom prst="rect">
            <a:avLst/>
          </a:prstGeom>
        </p:spPr>
        <p:txBody>
          <a:bodyPr wrap="square" lIns="0" tIns="12700" rIns="0" bIns="0" rtlCol="0" vert="horz">
            <a:spAutoFit/>
          </a:bodyPr>
          <a:lstStyle/>
          <a:p>
            <a:pPr marL="469900" indent="-229235">
              <a:lnSpc>
                <a:spcPts val="1410"/>
              </a:lnSpc>
              <a:spcBef>
                <a:spcPts val="100"/>
              </a:spcBef>
              <a:buAutoNum type="arabicPeriod" startAt="17"/>
              <a:tabLst>
                <a:tab pos="470534" algn="l"/>
              </a:tabLst>
            </a:pPr>
            <a:r>
              <a:rPr dirty="0" sz="1200">
                <a:latin typeface="Arial"/>
                <a:cs typeface="Arial"/>
              </a:rPr>
              <a:t>Business </a:t>
            </a:r>
            <a:r>
              <a:rPr dirty="0" sz="1200" spc="-5">
                <a:latin typeface="Arial"/>
                <a:cs typeface="Arial"/>
              </a:rPr>
              <a:t>and trade (but within </a:t>
            </a:r>
            <a:r>
              <a:rPr dirty="0" sz="1200">
                <a:latin typeface="Arial"/>
                <a:cs typeface="Arial"/>
              </a:rPr>
              <a:t>the </a:t>
            </a:r>
            <a:r>
              <a:rPr dirty="0" sz="1200" spc="-5">
                <a:latin typeface="Arial"/>
                <a:cs typeface="Arial"/>
              </a:rPr>
              <a:t>limit of</a:t>
            </a:r>
            <a:r>
              <a:rPr dirty="0" sz="1200" spc="25">
                <a:latin typeface="Arial"/>
                <a:cs typeface="Arial"/>
              </a:rPr>
              <a:t> </a:t>
            </a:r>
            <a:r>
              <a:rPr dirty="0" sz="1200" spc="-5">
                <a:latin typeface="Arial"/>
                <a:cs typeface="Arial"/>
              </a:rPr>
              <a:t>Shari‘ah)</a:t>
            </a:r>
            <a:endParaRPr sz="1200">
              <a:latin typeface="Arial"/>
              <a:cs typeface="Arial"/>
            </a:endParaRPr>
          </a:p>
          <a:p>
            <a:pPr marL="469900" indent="-229235">
              <a:lnSpc>
                <a:spcPts val="1410"/>
              </a:lnSpc>
              <a:buAutoNum type="arabicPeriod" startAt="17"/>
              <a:tabLst>
                <a:tab pos="470534" algn="l"/>
              </a:tabLst>
            </a:pPr>
            <a:r>
              <a:rPr dirty="0" sz="1200">
                <a:latin typeface="Arial"/>
                <a:cs typeface="Arial"/>
              </a:rPr>
              <a:t>Written </a:t>
            </a:r>
            <a:r>
              <a:rPr dirty="0" sz="1200" spc="-5">
                <a:latin typeface="Arial"/>
                <a:cs typeface="Arial"/>
              </a:rPr>
              <a:t>Treaties with other people </a:t>
            </a:r>
            <a:r>
              <a:rPr dirty="0" sz="1200">
                <a:latin typeface="Arial"/>
                <a:cs typeface="Arial"/>
              </a:rPr>
              <a:t>(but </a:t>
            </a:r>
            <a:r>
              <a:rPr dirty="0" sz="1200" spc="-5">
                <a:latin typeface="Arial"/>
                <a:cs typeface="Arial"/>
              </a:rPr>
              <a:t>with dignity </a:t>
            </a:r>
            <a:r>
              <a:rPr dirty="0" sz="1200">
                <a:latin typeface="Arial"/>
                <a:cs typeface="Arial"/>
              </a:rPr>
              <a:t>and</a:t>
            </a:r>
            <a:r>
              <a:rPr dirty="0" sz="1200" spc="15">
                <a:latin typeface="Arial"/>
                <a:cs typeface="Arial"/>
              </a:rPr>
              <a:t> </a:t>
            </a:r>
            <a:r>
              <a:rPr dirty="0" sz="1200" spc="-5">
                <a:latin typeface="Arial"/>
                <a:cs typeface="Arial"/>
              </a:rPr>
              <a:t>promise)</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Social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Moral virtues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Arabs</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Loyalty </a:t>
            </a:r>
            <a:r>
              <a:rPr dirty="0" sz="1200">
                <a:latin typeface="Arial"/>
                <a:cs typeface="Arial"/>
              </a:rPr>
              <a:t>to </a:t>
            </a:r>
            <a:r>
              <a:rPr dirty="0" sz="1200" spc="-5">
                <a:latin typeface="Arial"/>
                <a:cs typeface="Arial"/>
              </a:rPr>
              <a:t>their gods and</a:t>
            </a:r>
            <a:r>
              <a:rPr dirty="0" sz="1200" spc="-25">
                <a:latin typeface="Arial"/>
                <a:cs typeface="Arial"/>
              </a:rPr>
              <a:t> </a:t>
            </a:r>
            <a:r>
              <a:rPr dirty="0" sz="1200" spc="-5">
                <a:latin typeface="Arial"/>
                <a:cs typeface="Arial"/>
              </a:rPr>
              <a:t>leaders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Generosity </a:t>
            </a:r>
            <a:r>
              <a:rPr dirty="0" sz="1200" spc="-5">
                <a:latin typeface="Arial"/>
                <a:cs typeface="Arial"/>
              </a:rPr>
              <a:t>towards</a:t>
            </a:r>
            <a:r>
              <a:rPr dirty="0" sz="1200" spc="-20">
                <a:latin typeface="Arial"/>
                <a:cs typeface="Arial"/>
              </a:rPr>
              <a:t> </a:t>
            </a:r>
            <a:r>
              <a:rPr dirty="0" sz="1200" spc="-5">
                <a:latin typeface="Arial"/>
                <a:cs typeface="Arial"/>
              </a:rPr>
              <a:t>people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Hospitality towards </a:t>
            </a:r>
            <a:r>
              <a:rPr dirty="0" sz="1200">
                <a:latin typeface="Arial"/>
                <a:cs typeface="Arial"/>
              </a:rPr>
              <a:t>the </a:t>
            </a:r>
            <a:r>
              <a:rPr dirty="0" sz="1200" spc="-5">
                <a:latin typeface="Arial"/>
                <a:cs typeface="Arial"/>
              </a:rPr>
              <a:t>travellers, strangers and</a:t>
            </a:r>
            <a:r>
              <a:rPr dirty="0" sz="1200">
                <a:latin typeface="Arial"/>
                <a:cs typeface="Arial"/>
              </a:rPr>
              <a:t> </a:t>
            </a:r>
            <a:r>
              <a:rPr dirty="0" sz="1200" spc="-5">
                <a:latin typeface="Arial"/>
                <a:cs typeface="Arial"/>
              </a:rPr>
              <a:t>foreigners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Perseverance and patience </a:t>
            </a:r>
            <a:r>
              <a:rPr dirty="0" sz="1200" spc="-10">
                <a:latin typeface="Arial"/>
                <a:cs typeface="Arial"/>
              </a:rPr>
              <a:t>in </a:t>
            </a:r>
            <a:r>
              <a:rPr dirty="0" sz="1200" spc="-5">
                <a:latin typeface="Arial"/>
                <a:cs typeface="Arial"/>
              </a:rPr>
              <a:t>times of</a:t>
            </a:r>
            <a:r>
              <a:rPr dirty="0" sz="1200" spc="10">
                <a:latin typeface="Arial"/>
                <a:cs typeface="Arial"/>
              </a:rPr>
              <a:t> </a:t>
            </a:r>
            <a:r>
              <a:rPr dirty="0" sz="1200" spc="-5">
                <a:latin typeface="Arial"/>
                <a:cs typeface="Arial"/>
              </a:rPr>
              <a:t>problems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Expertise in transplantation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Expertise in leather product</a:t>
            </a:r>
            <a:endParaRPr sz="1200">
              <a:latin typeface="Arial"/>
              <a:cs typeface="Arial"/>
            </a:endParaRPr>
          </a:p>
          <a:p>
            <a:pPr marL="469900" indent="-229235">
              <a:lnSpc>
                <a:spcPts val="1380"/>
              </a:lnSpc>
              <a:buAutoNum type="arabicPeriod"/>
              <a:tabLst>
                <a:tab pos="470534" algn="l"/>
              </a:tabLst>
            </a:pPr>
            <a:r>
              <a:rPr dirty="0" sz="1200">
                <a:latin typeface="Arial"/>
                <a:cs typeface="Arial"/>
              </a:rPr>
              <a:t>Willingness to </a:t>
            </a:r>
            <a:r>
              <a:rPr dirty="0" sz="1200" spc="-5">
                <a:latin typeface="Arial"/>
                <a:cs typeface="Arial"/>
              </a:rPr>
              <a:t>excel in all</a:t>
            </a:r>
            <a:r>
              <a:rPr dirty="0" sz="1200" spc="-15">
                <a:latin typeface="Arial"/>
                <a:cs typeface="Arial"/>
              </a:rPr>
              <a:t> </a:t>
            </a:r>
            <a:r>
              <a:rPr dirty="0" sz="1200" spc="-5">
                <a:latin typeface="Arial"/>
                <a:cs typeface="Arial"/>
              </a:rPr>
              <a:t>domains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Respect </a:t>
            </a:r>
            <a:r>
              <a:rPr dirty="0" sz="1200" spc="-5">
                <a:latin typeface="Arial"/>
                <a:cs typeface="Arial"/>
              </a:rPr>
              <a:t>and honour </a:t>
            </a:r>
            <a:r>
              <a:rPr dirty="0" sz="1200" spc="-10">
                <a:latin typeface="Arial"/>
                <a:cs typeface="Arial"/>
              </a:rPr>
              <a:t>given </a:t>
            </a:r>
            <a:r>
              <a:rPr dirty="0" sz="1200" spc="-5">
                <a:latin typeface="Arial"/>
                <a:cs typeface="Arial"/>
              </a:rPr>
              <a:t>of their tribal</a:t>
            </a:r>
            <a:r>
              <a:rPr dirty="0" sz="1200" spc="25">
                <a:latin typeface="Arial"/>
                <a:cs typeface="Arial"/>
              </a:rPr>
              <a:t> </a:t>
            </a:r>
            <a:r>
              <a:rPr dirty="0" sz="1200" spc="-5">
                <a:latin typeface="Arial"/>
                <a:cs typeface="Arial"/>
              </a:rPr>
              <a:t>laws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Adherence </a:t>
            </a:r>
            <a:r>
              <a:rPr dirty="0" sz="1200">
                <a:latin typeface="Arial"/>
                <a:cs typeface="Arial"/>
              </a:rPr>
              <a:t>to their </a:t>
            </a:r>
            <a:r>
              <a:rPr dirty="0" sz="1200" spc="-5">
                <a:latin typeface="Arial"/>
                <a:cs typeface="Arial"/>
              </a:rPr>
              <a:t>priests, kahin and</a:t>
            </a:r>
            <a:r>
              <a:rPr dirty="0" sz="1200" spc="-15">
                <a:latin typeface="Arial"/>
                <a:cs typeface="Arial"/>
              </a:rPr>
              <a:t> </a:t>
            </a:r>
            <a:r>
              <a:rPr dirty="0" sz="1200" spc="-5">
                <a:latin typeface="Arial"/>
                <a:cs typeface="Arial"/>
              </a:rPr>
              <a:t>soothsayer</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Courage and bravery </a:t>
            </a:r>
            <a:r>
              <a:rPr dirty="0" sz="1200">
                <a:latin typeface="Arial"/>
                <a:cs typeface="Arial"/>
              </a:rPr>
              <a:t>on </a:t>
            </a:r>
            <a:r>
              <a:rPr dirty="0" sz="1200" spc="-5">
                <a:latin typeface="Arial"/>
                <a:cs typeface="Arial"/>
              </a:rPr>
              <a:t>the battle</a:t>
            </a:r>
            <a:r>
              <a:rPr dirty="0" sz="1200" spc="-10">
                <a:latin typeface="Arial"/>
                <a:cs typeface="Arial"/>
              </a:rPr>
              <a:t> </a:t>
            </a:r>
            <a:r>
              <a:rPr dirty="0" sz="1200" spc="-5">
                <a:latin typeface="Arial"/>
                <a:cs typeface="Arial"/>
              </a:rPr>
              <a:t>field</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Solidarity in </a:t>
            </a:r>
            <a:r>
              <a:rPr dirty="0" sz="1200">
                <a:latin typeface="Arial"/>
                <a:cs typeface="Arial"/>
              </a:rPr>
              <a:t>times </a:t>
            </a:r>
            <a:r>
              <a:rPr dirty="0" sz="1200" spc="-5">
                <a:latin typeface="Arial"/>
                <a:cs typeface="Arial"/>
              </a:rPr>
              <a:t>of general concern towards </a:t>
            </a:r>
            <a:r>
              <a:rPr dirty="0" sz="1200">
                <a:latin typeface="Arial"/>
                <a:cs typeface="Arial"/>
              </a:rPr>
              <a:t>the </a:t>
            </a:r>
            <a:r>
              <a:rPr dirty="0" sz="1200" spc="-5">
                <a:latin typeface="Arial"/>
                <a:cs typeface="Arial"/>
              </a:rPr>
              <a:t>whole</a:t>
            </a:r>
            <a:r>
              <a:rPr dirty="0" sz="1200" spc="10">
                <a:latin typeface="Arial"/>
                <a:cs typeface="Arial"/>
              </a:rPr>
              <a:t> </a:t>
            </a:r>
            <a:r>
              <a:rPr dirty="0" sz="1200" spc="-5">
                <a:latin typeface="Arial"/>
                <a:cs typeface="Arial"/>
              </a:rPr>
              <a:t>tribe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use of Arabic language </a:t>
            </a:r>
            <a:r>
              <a:rPr dirty="0" sz="1200">
                <a:latin typeface="Arial"/>
                <a:cs typeface="Arial"/>
              </a:rPr>
              <a:t>to </a:t>
            </a:r>
            <a:r>
              <a:rPr dirty="0" sz="1200" spc="-5">
                <a:latin typeface="Arial"/>
                <a:cs typeface="Arial"/>
              </a:rPr>
              <a:t>compose poems </a:t>
            </a:r>
            <a:r>
              <a:rPr dirty="0" sz="1200">
                <a:latin typeface="Arial"/>
                <a:cs typeface="Arial"/>
              </a:rPr>
              <a:t>– </a:t>
            </a:r>
            <a:r>
              <a:rPr dirty="0" sz="1200" spc="-5">
                <a:latin typeface="Arial"/>
                <a:cs typeface="Arial"/>
              </a:rPr>
              <a:t>excellence in</a:t>
            </a:r>
            <a:r>
              <a:rPr dirty="0" sz="1200" spc="55">
                <a:latin typeface="Arial"/>
                <a:cs typeface="Arial"/>
              </a:rPr>
              <a:t> </a:t>
            </a:r>
            <a:r>
              <a:rPr dirty="0" sz="1200" spc="-5">
                <a:latin typeface="Arial"/>
                <a:cs typeface="Arial"/>
              </a:rPr>
              <a:t>poetry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Physical </a:t>
            </a:r>
            <a:r>
              <a:rPr dirty="0" sz="1200">
                <a:latin typeface="Arial"/>
                <a:cs typeface="Arial"/>
              </a:rPr>
              <a:t>and </a:t>
            </a:r>
            <a:r>
              <a:rPr dirty="0" sz="1200" spc="-5">
                <a:latin typeface="Arial"/>
                <a:cs typeface="Arial"/>
              </a:rPr>
              <a:t>mental</a:t>
            </a:r>
            <a:r>
              <a:rPr dirty="0" sz="1200" spc="-10">
                <a:latin typeface="Arial"/>
                <a:cs typeface="Arial"/>
              </a:rPr>
              <a:t> </a:t>
            </a:r>
            <a:r>
              <a:rPr dirty="0" sz="1200" spc="-5">
                <a:latin typeface="Arial"/>
                <a:cs typeface="Arial"/>
              </a:rPr>
              <a:t>strength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Lenient and gentle towards their own relatives </a:t>
            </a:r>
            <a:r>
              <a:rPr dirty="0" sz="1200">
                <a:latin typeface="Arial"/>
                <a:cs typeface="Arial"/>
              </a:rPr>
              <a:t>and </a:t>
            </a:r>
            <a:r>
              <a:rPr dirty="0" sz="1200" spc="-5">
                <a:latin typeface="Arial"/>
                <a:cs typeface="Arial"/>
              </a:rPr>
              <a:t>family</a:t>
            </a:r>
            <a:r>
              <a:rPr dirty="0" sz="1200" spc="5">
                <a:latin typeface="Arial"/>
                <a:cs typeface="Arial"/>
              </a:rPr>
              <a:t> </a:t>
            </a:r>
            <a:r>
              <a:rPr dirty="0" sz="1200" spc="-5">
                <a:latin typeface="Arial"/>
                <a:cs typeface="Arial"/>
              </a:rPr>
              <a:t>members</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They were wise and could devise </a:t>
            </a:r>
            <a:r>
              <a:rPr dirty="0" sz="1200">
                <a:latin typeface="Arial"/>
                <a:cs typeface="Arial"/>
              </a:rPr>
              <a:t>tricks and plans </a:t>
            </a:r>
            <a:r>
              <a:rPr dirty="0" sz="1200" spc="-5">
                <a:latin typeface="Arial"/>
                <a:cs typeface="Arial"/>
              </a:rPr>
              <a:t>to enrich</a:t>
            </a:r>
            <a:r>
              <a:rPr dirty="0" sz="1200" spc="10">
                <a:latin typeface="Arial"/>
                <a:cs typeface="Arial"/>
              </a:rPr>
              <a:t> </a:t>
            </a:r>
            <a:r>
              <a:rPr dirty="0" sz="1200">
                <a:latin typeface="Arial"/>
                <a:cs typeface="Arial"/>
              </a:rPr>
              <a:t>themselves</a:t>
            </a:r>
            <a:endParaRPr sz="1200">
              <a:latin typeface="Arial"/>
              <a:cs typeface="Arial"/>
            </a:endParaRPr>
          </a:p>
          <a:p>
            <a:pPr>
              <a:lnSpc>
                <a:spcPct val="100000"/>
              </a:lnSpc>
              <a:spcBef>
                <a:spcPts val="55"/>
              </a:spcBef>
            </a:pPr>
            <a:endParaRPr sz="1100">
              <a:latin typeface="Arial"/>
              <a:cs typeface="Arial"/>
            </a:endParaRPr>
          </a:p>
          <a:p>
            <a:pPr marL="12700">
              <a:lnSpc>
                <a:spcPts val="141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marL="2649855">
              <a:lnSpc>
                <a:spcPts val="141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15"/>
              </a:spcBef>
            </a:pPr>
            <a:endParaRPr sz="1200">
              <a:latin typeface="Arial"/>
              <a:cs typeface="Arial"/>
            </a:endParaRPr>
          </a:p>
          <a:p>
            <a:pPr marL="12700" marR="8255">
              <a:lnSpc>
                <a:spcPts val="1390"/>
              </a:lnSpc>
            </a:pPr>
            <a:r>
              <a:rPr dirty="0" sz="1200" spc="-5">
                <a:latin typeface="Arial"/>
                <a:cs typeface="Arial"/>
              </a:rPr>
              <a:t>1 (a) The pre-Islamic era in Arabia known as </a:t>
            </a:r>
            <a:r>
              <a:rPr dirty="0" sz="1200" spc="-5" i="1">
                <a:latin typeface="Arial"/>
                <a:cs typeface="Arial"/>
              </a:rPr>
              <a:t>Jahiliyyah </a:t>
            </a:r>
            <a:r>
              <a:rPr dirty="0" sz="1200" spc="-5">
                <a:latin typeface="Arial"/>
                <a:cs typeface="Arial"/>
              </a:rPr>
              <a:t>is often described </a:t>
            </a:r>
            <a:r>
              <a:rPr dirty="0" sz="1200">
                <a:latin typeface="Arial"/>
                <a:cs typeface="Arial"/>
              </a:rPr>
              <a:t>as </a:t>
            </a:r>
            <a:r>
              <a:rPr dirty="0" sz="1200" spc="-105">
                <a:latin typeface="Arial"/>
                <a:cs typeface="Arial"/>
              </a:rPr>
              <a:t>‗the </a:t>
            </a:r>
            <a:r>
              <a:rPr dirty="0" sz="1200">
                <a:latin typeface="Arial"/>
                <a:cs typeface="Arial"/>
              </a:rPr>
              <a:t>time </a:t>
            </a:r>
            <a:r>
              <a:rPr dirty="0" sz="1200" spc="-5">
                <a:latin typeface="Arial"/>
                <a:cs typeface="Arial"/>
              </a:rPr>
              <a:t>of  ignorance‘. </a:t>
            </a:r>
            <a:r>
              <a:rPr dirty="0" sz="1200" spc="10">
                <a:latin typeface="Arial"/>
                <a:cs typeface="Arial"/>
              </a:rPr>
              <a:t>Why </a:t>
            </a:r>
            <a:r>
              <a:rPr dirty="0" sz="1200" spc="-5">
                <a:latin typeface="Arial"/>
                <a:cs typeface="Arial"/>
              </a:rPr>
              <a:t>is this </a:t>
            </a:r>
            <a:r>
              <a:rPr dirty="0" sz="1200">
                <a:latin typeface="Arial"/>
                <a:cs typeface="Arial"/>
              </a:rPr>
              <a:t>so?</a:t>
            </a:r>
            <a:r>
              <a:rPr dirty="0" sz="1200" spc="-70">
                <a:latin typeface="Arial"/>
                <a:cs typeface="Arial"/>
              </a:rPr>
              <a:t> </a:t>
            </a:r>
            <a:r>
              <a:rPr dirty="0" sz="1200" spc="-5">
                <a:latin typeface="Arial"/>
                <a:cs typeface="Arial"/>
              </a:rPr>
              <a:t>[12]</a:t>
            </a:r>
            <a:endParaRPr sz="1200">
              <a:latin typeface="Arial"/>
              <a:cs typeface="Arial"/>
            </a:endParaRPr>
          </a:p>
          <a:p>
            <a:pPr marL="140970">
              <a:lnSpc>
                <a:spcPts val="1345"/>
              </a:lnSpc>
            </a:pPr>
            <a:r>
              <a:rPr dirty="0" sz="1200" spc="-5">
                <a:latin typeface="Arial"/>
                <a:cs typeface="Arial"/>
              </a:rPr>
              <a:t>(b) Do </a:t>
            </a:r>
            <a:r>
              <a:rPr dirty="0" sz="1200" spc="-10">
                <a:latin typeface="Arial"/>
                <a:cs typeface="Arial"/>
              </a:rPr>
              <a:t>you </a:t>
            </a:r>
            <a:r>
              <a:rPr dirty="0" sz="1200" spc="-5">
                <a:latin typeface="Arial"/>
                <a:cs typeface="Arial"/>
              </a:rPr>
              <a:t>think this </a:t>
            </a:r>
            <a:r>
              <a:rPr dirty="0" sz="1200">
                <a:latin typeface="Arial"/>
                <a:cs typeface="Arial"/>
              </a:rPr>
              <a:t>term </a:t>
            </a:r>
            <a:r>
              <a:rPr dirty="0" sz="1200" spc="-5">
                <a:latin typeface="Arial"/>
                <a:cs typeface="Arial"/>
              </a:rPr>
              <a:t>is appropriate </a:t>
            </a:r>
            <a:r>
              <a:rPr dirty="0" sz="1200">
                <a:latin typeface="Arial"/>
                <a:cs typeface="Arial"/>
              </a:rPr>
              <a:t>for that </a:t>
            </a:r>
            <a:r>
              <a:rPr dirty="0" sz="1200" spc="-5">
                <a:latin typeface="Arial"/>
                <a:cs typeface="Arial"/>
              </a:rPr>
              <a:t>period? [8]</a:t>
            </a:r>
            <a:r>
              <a:rPr dirty="0" sz="1200" spc="35">
                <a:latin typeface="Arial"/>
                <a:cs typeface="Arial"/>
              </a:rPr>
              <a:t> </a:t>
            </a:r>
            <a:r>
              <a:rPr dirty="0" sz="1200" spc="-5" b="1">
                <a:latin typeface="Arial"/>
                <a:cs typeface="Arial"/>
              </a:rPr>
              <a:t>(2005)</a:t>
            </a:r>
            <a:endParaRPr sz="1200">
              <a:latin typeface="Arial"/>
              <a:cs typeface="Arial"/>
            </a:endParaRPr>
          </a:p>
          <a:p>
            <a:pPr>
              <a:lnSpc>
                <a:spcPct val="100000"/>
              </a:lnSpc>
              <a:spcBef>
                <a:spcPts val="35"/>
              </a:spcBef>
            </a:pPr>
            <a:endParaRPr sz="1200">
              <a:latin typeface="Arial"/>
              <a:cs typeface="Arial"/>
            </a:endParaRPr>
          </a:p>
          <a:p>
            <a:pPr marL="12700" marR="8890">
              <a:lnSpc>
                <a:spcPts val="1380"/>
              </a:lnSpc>
            </a:pPr>
            <a:r>
              <a:rPr dirty="0" sz="1200" spc="-5">
                <a:latin typeface="Arial"/>
                <a:cs typeface="Arial"/>
              </a:rPr>
              <a:t>1 (a) </a:t>
            </a:r>
            <a:r>
              <a:rPr dirty="0" sz="1200">
                <a:latin typeface="Arial"/>
                <a:cs typeface="Arial"/>
              </a:rPr>
              <a:t>Outline the </a:t>
            </a:r>
            <a:r>
              <a:rPr dirty="0" sz="1200" spc="-5">
                <a:latin typeface="Arial"/>
                <a:cs typeface="Arial"/>
              </a:rPr>
              <a:t>major religious beliefs and practices of the people of Mecca </a:t>
            </a:r>
            <a:r>
              <a:rPr dirty="0" sz="1200">
                <a:latin typeface="Arial"/>
                <a:cs typeface="Arial"/>
              </a:rPr>
              <a:t>at </a:t>
            </a:r>
            <a:r>
              <a:rPr dirty="0" sz="1200" spc="-5">
                <a:latin typeface="Arial"/>
                <a:cs typeface="Arial"/>
              </a:rPr>
              <a:t>the </a:t>
            </a:r>
            <a:r>
              <a:rPr dirty="0" sz="1200">
                <a:latin typeface="Arial"/>
                <a:cs typeface="Arial"/>
              </a:rPr>
              <a:t>time </a:t>
            </a:r>
            <a:r>
              <a:rPr dirty="0" sz="1200" spc="-10">
                <a:latin typeface="Arial"/>
                <a:cs typeface="Arial"/>
              </a:rPr>
              <a:t>the  </a:t>
            </a:r>
            <a:r>
              <a:rPr dirty="0" sz="1200" spc="-5">
                <a:latin typeface="Arial"/>
                <a:cs typeface="Arial"/>
              </a:rPr>
              <a:t>Prophet </a:t>
            </a:r>
            <a:r>
              <a:rPr dirty="0" sz="1200" spc="-10">
                <a:latin typeface="Arial"/>
                <a:cs typeface="Arial"/>
              </a:rPr>
              <a:t>was </a:t>
            </a:r>
            <a:r>
              <a:rPr dirty="0" sz="1200">
                <a:latin typeface="Arial"/>
                <a:cs typeface="Arial"/>
              </a:rPr>
              <a:t>born. </a:t>
            </a:r>
            <a:r>
              <a:rPr dirty="0" sz="1200" spc="-5">
                <a:latin typeface="Arial"/>
                <a:cs typeface="Arial"/>
              </a:rPr>
              <a:t>[12]</a:t>
            </a:r>
            <a:endParaRPr sz="1200">
              <a:latin typeface="Arial"/>
              <a:cs typeface="Arial"/>
            </a:endParaRPr>
          </a:p>
          <a:p>
            <a:pPr marL="12700" marR="5080" indent="128270">
              <a:lnSpc>
                <a:spcPts val="1380"/>
              </a:lnSpc>
            </a:pPr>
            <a:r>
              <a:rPr dirty="0" sz="1200" spc="-5">
                <a:latin typeface="Arial"/>
                <a:cs typeface="Arial"/>
              </a:rPr>
              <a:t>(b) Explain </a:t>
            </a:r>
            <a:r>
              <a:rPr dirty="0" sz="1200">
                <a:latin typeface="Arial"/>
                <a:cs typeface="Arial"/>
              </a:rPr>
              <a:t>how early </a:t>
            </a:r>
            <a:r>
              <a:rPr dirty="0" sz="1200" spc="-5">
                <a:latin typeface="Arial"/>
                <a:cs typeface="Arial"/>
              </a:rPr>
              <a:t>passages </a:t>
            </a:r>
            <a:r>
              <a:rPr dirty="0" sz="1200">
                <a:latin typeface="Arial"/>
                <a:cs typeface="Arial"/>
              </a:rPr>
              <a:t>of the </a:t>
            </a:r>
            <a:r>
              <a:rPr dirty="0" sz="1200" spc="-5">
                <a:latin typeface="Arial"/>
                <a:cs typeface="Arial"/>
              </a:rPr>
              <a:t>Qur‘an criticise </a:t>
            </a:r>
            <a:r>
              <a:rPr dirty="0" sz="1200">
                <a:latin typeface="Arial"/>
                <a:cs typeface="Arial"/>
              </a:rPr>
              <a:t>any </a:t>
            </a:r>
            <a:r>
              <a:rPr dirty="0" sz="1200" spc="-5">
                <a:latin typeface="Arial"/>
                <a:cs typeface="Arial"/>
              </a:rPr>
              <a:t>two </a:t>
            </a:r>
            <a:r>
              <a:rPr dirty="0" sz="1200">
                <a:latin typeface="Arial"/>
                <a:cs typeface="Arial"/>
              </a:rPr>
              <a:t>of these </a:t>
            </a:r>
            <a:r>
              <a:rPr dirty="0" sz="1200" spc="-5">
                <a:latin typeface="Arial"/>
                <a:cs typeface="Arial"/>
              </a:rPr>
              <a:t>beliefs and  </a:t>
            </a:r>
            <a:r>
              <a:rPr dirty="0" sz="1200">
                <a:latin typeface="Arial"/>
                <a:cs typeface="Arial"/>
              </a:rPr>
              <a:t>practices. </a:t>
            </a:r>
            <a:r>
              <a:rPr dirty="0" sz="1200" spc="-5">
                <a:latin typeface="Arial"/>
                <a:cs typeface="Arial"/>
              </a:rPr>
              <a:t>[8]</a:t>
            </a:r>
            <a:r>
              <a:rPr dirty="0" sz="1200" spc="5">
                <a:latin typeface="Arial"/>
                <a:cs typeface="Arial"/>
              </a:rPr>
              <a:t> </a:t>
            </a:r>
            <a:r>
              <a:rPr dirty="0" sz="1200" spc="-5" b="1">
                <a:latin typeface="Arial"/>
                <a:cs typeface="Arial"/>
              </a:rPr>
              <a:t>(2006)</a:t>
            </a:r>
            <a:endParaRPr sz="1200">
              <a:latin typeface="Arial"/>
              <a:cs typeface="Arial"/>
            </a:endParaRPr>
          </a:p>
          <a:p>
            <a:pPr>
              <a:lnSpc>
                <a:spcPct val="100000"/>
              </a:lnSpc>
            </a:pPr>
            <a:endParaRPr sz="1200">
              <a:latin typeface="Arial"/>
              <a:cs typeface="Arial"/>
            </a:endParaRPr>
          </a:p>
          <a:p>
            <a:pPr marL="12700" marR="6985">
              <a:lnSpc>
                <a:spcPts val="1380"/>
              </a:lnSpc>
            </a:pPr>
            <a:r>
              <a:rPr dirty="0" sz="1200" spc="-5">
                <a:latin typeface="Arial"/>
                <a:cs typeface="Arial"/>
              </a:rPr>
              <a:t>1 </a:t>
            </a:r>
            <a:r>
              <a:rPr dirty="0" sz="1200">
                <a:latin typeface="Arial"/>
                <a:cs typeface="Arial"/>
              </a:rPr>
              <a:t>To </a:t>
            </a:r>
            <a:r>
              <a:rPr dirty="0" sz="1200" spc="-5">
                <a:latin typeface="Arial"/>
                <a:cs typeface="Arial"/>
              </a:rPr>
              <a:t>what extent </a:t>
            </a:r>
            <a:r>
              <a:rPr dirty="0" sz="1200" spc="-10">
                <a:latin typeface="Arial"/>
                <a:cs typeface="Arial"/>
              </a:rPr>
              <a:t>did </a:t>
            </a:r>
            <a:r>
              <a:rPr dirty="0" sz="1200" spc="-5">
                <a:latin typeface="Arial"/>
                <a:cs typeface="Arial"/>
              </a:rPr>
              <a:t>Islam reject </a:t>
            </a:r>
            <a:r>
              <a:rPr dirty="0" sz="1200">
                <a:latin typeface="Arial"/>
                <a:cs typeface="Arial"/>
              </a:rPr>
              <a:t>the traditional </a:t>
            </a:r>
            <a:r>
              <a:rPr dirty="0" sz="1200" spc="-5">
                <a:latin typeface="Arial"/>
                <a:cs typeface="Arial"/>
              </a:rPr>
              <a:t>beliefs and practices of the Arabs </a:t>
            </a:r>
            <a:r>
              <a:rPr dirty="0" sz="1200">
                <a:latin typeface="Arial"/>
                <a:cs typeface="Arial"/>
              </a:rPr>
              <a:t>at </a:t>
            </a:r>
            <a:r>
              <a:rPr dirty="0" sz="1200" spc="-5">
                <a:latin typeface="Arial"/>
                <a:cs typeface="Arial"/>
              </a:rPr>
              <a:t>the time  of the Prophet? Give </a:t>
            </a:r>
            <a:r>
              <a:rPr dirty="0" sz="1200">
                <a:latin typeface="Arial"/>
                <a:cs typeface="Arial"/>
              </a:rPr>
              <a:t>illustrations to </a:t>
            </a:r>
            <a:r>
              <a:rPr dirty="0" sz="1200" spc="-5">
                <a:latin typeface="Arial"/>
                <a:cs typeface="Arial"/>
              </a:rPr>
              <a:t>support your answer. [20]</a:t>
            </a:r>
            <a:r>
              <a:rPr dirty="0" sz="1200" spc="55">
                <a:latin typeface="Arial"/>
                <a:cs typeface="Arial"/>
              </a:rPr>
              <a:t> </a:t>
            </a:r>
            <a:r>
              <a:rPr dirty="0" sz="1200" spc="-5" b="1">
                <a:latin typeface="Arial"/>
                <a:cs typeface="Arial"/>
              </a:rPr>
              <a:t>(2007)</a:t>
            </a:r>
            <a:endParaRPr sz="1200">
              <a:latin typeface="Arial"/>
              <a:cs typeface="Arial"/>
            </a:endParaRPr>
          </a:p>
          <a:p>
            <a:pPr>
              <a:lnSpc>
                <a:spcPct val="100000"/>
              </a:lnSpc>
              <a:spcBef>
                <a:spcPts val="5"/>
              </a:spcBef>
            </a:pPr>
            <a:endParaRPr sz="1100">
              <a:latin typeface="Arial"/>
              <a:cs typeface="Arial"/>
            </a:endParaRPr>
          </a:p>
          <a:p>
            <a:pPr marL="12700">
              <a:lnSpc>
                <a:spcPts val="1405"/>
              </a:lnSpc>
              <a:spcBef>
                <a:spcPts val="5"/>
              </a:spcBef>
            </a:pPr>
            <a:r>
              <a:rPr dirty="0" sz="1200" spc="-5">
                <a:latin typeface="Arial"/>
                <a:cs typeface="Arial"/>
              </a:rPr>
              <a:t>1 (a) </a:t>
            </a:r>
            <a:r>
              <a:rPr dirty="0" sz="1200" spc="10">
                <a:latin typeface="Arial"/>
                <a:cs typeface="Arial"/>
              </a:rPr>
              <a:t>Why </a:t>
            </a:r>
            <a:r>
              <a:rPr dirty="0" sz="1200" spc="-5">
                <a:latin typeface="Arial"/>
                <a:cs typeface="Arial"/>
              </a:rPr>
              <a:t>is </a:t>
            </a:r>
            <a:r>
              <a:rPr dirty="0" sz="1200">
                <a:latin typeface="Arial"/>
                <a:cs typeface="Arial"/>
              </a:rPr>
              <a:t>the </a:t>
            </a:r>
            <a:r>
              <a:rPr dirty="0" sz="1200" spc="-5">
                <a:latin typeface="Arial"/>
                <a:cs typeface="Arial"/>
              </a:rPr>
              <a:t>period leading </a:t>
            </a:r>
            <a:r>
              <a:rPr dirty="0" sz="1200">
                <a:latin typeface="Arial"/>
                <a:cs typeface="Arial"/>
              </a:rPr>
              <a:t>up to </a:t>
            </a:r>
            <a:r>
              <a:rPr dirty="0" sz="1200" spc="-5">
                <a:latin typeface="Arial"/>
                <a:cs typeface="Arial"/>
              </a:rPr>
              <a:t>the </a:t>
            </a:r>
            <a:r>
              <a:rPr dirty="0" sz="1200">
                <a:latin typeface="Arial"/>
                <a:cs typeface="Arial"/>
              </a:rPr>
              <a:t>Prophet‘s </a:t>
            </a:r>
            <a:r>
              <a:rPr dirty="0" sz="1200" spc="-5">
                <a:latin typeface="Arial"/>
                <a:cs typeface="Arial"/>
              </a:rPr>
              <a:t>birth in Arabia often described</a:t>
            </a:r>
            <a:r>
              <a:rPr dirty="0" sz="1200" spc="-90">
                <a:latin typeface="Arial"/>
                <a:cs typeface="Arial"/>
              </a:rPr>
              <a:t> </a:t>
            </a:r>
            <a:r>
              <a:rPr dirty="0" sz="1200">
                <a:latin typeface="Arial"/>
                <a:cs typeface="Arial"/>
              </a:rPr>
              <a:t>as</a:t>
            </a:r>
            <a:endParaRPr sz="1200">
              <a:latin typeface="Arial"/>
              <a:cs typeface="Arial"/>
            </a:endParaRPr>
          </a:p>
          <a:p>
            <a:pPr marL="12700">
              <a:lnSpc>
                <a:spcPts val="1380"/>
              </a:lnSpc>
            </a:pPr>
            <a:r>
              <a:rPr dirty="0" sz="1200" spc="-5" i="1">
                <a:latin typeface="Arial"/>
                <a:cs typeface="Arial"/>
              </a:rPr>
              <a:t>jahiliyyah </a:t>
            </a:r>
            <a:r>
              <a:rPr dirty="0" sz="1200" spc="-5">
                <a:latin typeface="Arial"/>
                <a:cs typeface="Arial"/>
              </a:rPr>
              <a:t>[period of ignorance]?</a:t>
            </a:r>
            <a:r>
              <a:rPr dirty="0" sz="1200" spc="25">
                <a:latin typeface="Arial"/>
                <a:cs typeface="Arial"/>
              </a:rPr>
              <a:t> </a:t>
            </a:r>
            <a:r>
              <a:rPr dirty="0" sz="1200" spc="-5">
                <a:latin typeface="Arial"/>
                <a:cs typeface="Arial"/>
              </a:rPr>
              <a:t>[12]</a:t>
            </a:r>
            <a:endParaRPr sz="1200">
              <a:latin typeface="Arial"/>
              <a:cs typeface="Arial"/>
            </a:endParaRPr>
          </a:p>
          <a:p>
            <a:pPr marL="140970">
              <a:lnSpc>
                <a:spcPts val="1415"/>
              </a:lnSpc>
            </a:pPr>
            <a:r>
              <a:rPr dirty="0" sz="1200" spc="-5">
                <a:latin typeface="Arial"/>
                <a:cs typeface="Arial"/>
              </a:rPr>
              <a:t>(b) </a:t>
            </a:r>
            <a:r>
              <a:rPr dirty="0" sz="1200">
                <a:latin typeface="Arial"/>
                <a:cs typeface="Arial"/>
              </a:rPr>
              <a:t>To </a:t>
            </a:r>
            <a:r>
              <a:rPr dirty="0" sz="1200" spc="-5">
                <a:latin typeface="Arial"/>
                <a:cs typeface="Arial"/>
              </a:rPr>
              <a:t>what extent is </a:t>
            </a:r>
            <a:r>
              <a:rPr dirty="0" sz="1200">
                <a:latin typeface="Arial"/>
                <a:cs typeface="Arial"/>
              </a:rPr>
              <a:t>this </a:t>
            </a:r>
            <a:r>
              <a:rPr dirty="0" sz="1200" spc="-5">
                <a:latin typeface="Arial"/>
                <a:cs typeface="Arial"/>
              </a:rPr>
              <a:t>description justified? [8]</a:t>
            </a:r>
            <a:r>
              <a:rPr dirty="0" sz="1200" spc="30">
                <a:latin typeface="Arial"/>
                <a:cs typeface="Arial"/>
              </a:rPr>
              <a:t> </a:t>
            </a:r>
            <a:r>
              <a:rPr dirty="0" sz="1200" spc="-5" b="1">
                <a:latin typeface="Arial"/>
                <a:cs typeface="Arial"/>
              </a:rPr>
              <a:t>(2008)</a:t>
            </a:r>
            <a:endParaRPr sz="1200">
              <a:latin typeface="Arial"/>
              <a:cs typeface="Arial"/>
            </a:endParaRPr>
          </a:p>
          <a:p>
            <a:pPr>
              <a:lnSpc>
                <a:spcPct val="100000"/>
              </a:lnSpc>
              <a:spcBef>
                <a:spcPts val="35"/>
              </a:spcBef>
            </a:pPr>
            <a:endParaRPr sz="1200">
              <a:latin typeface="Arial"/>
              <a:cs typeface="Arial"/>
            </a:endParaRPr>
          </a:p>
          <a:p>
            <a:pPr marL="12700" marR="10160">
              <a:lnSpc>
                <a:spcPts val="1380"/>
              </a:lnSpc>
            </a:pPr>
            <a:r>
              <a:rPr dirty="0" sz="1200" spc="-5">
                <a:latin typeface="Arial"/>
                <a:cs typeface="Arial"/>
              </a:rPr>
              <a:t>1 (a) Examine the main religious beliefs and practices of the people of Mecca at the </a:t>
            </a:r>
            <a:r>
              <a:rPr dirty="0" sz="1200">
                <a:latin typeface="Arial"/>
                <a:cs typeface="Arial"/>
              </a:rPr>
              <a:t>time </a:t>
            </a:r>
            <a:r>
              <a:rPr dirty="0" sz="1200" spc="-10">
                <a:latin typeface="Arial"/>
                <a:cs typeface="Arial"/>
              </a:rPr>
              <a:t>the  </a:t>
            </a:r>
            <a:r>
              <a:rPr dirty="0" sz="1200" spc="-5">
                <a:latin typeface="Arial"/>
                <a:cs typeface="Arial"/>
              </a:rPr>
              <a:t>Prophet </a:t>
            </a:r>
            <a:r>
              <a:rPr dirty="0" sz="1200" spc="-10">
                <a:latin typeface="Arial"/>
                <a:cs typeface="Arial"/>
              </a:rPr>
              <a:t>was </a:t>
            </a:r>
            <a:r>
              <a:rPr dirty="0" sz="1200">
                <a:latin typeface="Arial"/>
                <a:cs typeface="Arial"/>
              </a:rPr>
              <a:t>born. </a:t>
            </a:r>
            <a:r>
              <a:rPr dirty="0" sz="1200" spc="-5">
                <a:latin typeface="Arial"/>
                <a:cs typeface="Arial"/>
              </a:rPr>
              <a:t>[12]</a:t>
            </a:r>
            <a:endParaRPr sz="1200">
              <a:latin typeface="Arial"/>
              <a:cs typeface="Arial"/>
            </a:endParaRPr>
          </a:p>
          <a:p>
            <a:pPr marL="140970">
              <a:lnSpc>
                <a:spcPts val="1315"/>
              </a:lnSpc>
            </a:pPr>
            <a:r>
              <a:rPr dirty="0" sz="1200" spc="-5">
                <a:latin typeface="Arial"/>
                <a:cs typeface="Arial"/>
              </a:rPr>
              <a:t>(b)</a:t>
            </a:r>
            <a:r>
              <a:rPr dirty="0" sz="1200" spc="85">
                <a:latin typeface="Arial"/>
                <a:cs typeface="Arial"/>
              </a:rPr>
              <a:t> </a:t>
            </a:r>
            <a:r>
              <a:rPr dirty="0" sz="1200" spc="-5">
                <a:latin typeface="Arial"/>
                <a:cs typeface="Arial"/>
              </a:rPr>
              <a:t>Explain</a:t>
            </a:r>
            <a:r>
              <a:rPr dirty="0" sz="1200" spc="90">
                <a:latin typeface="Arial"/>
                <a:cs typeface="Arial"/>
              </a:rPr>
              <a:t> </a:t>
            </a:r>
            <a:r>
              <a:rPr dirty="0" sz="1200">
                <a:latin typeface="Arial"/>
                <a:cs typeface="Arial"/>
              </a:rPr>
              <a:t>how</a:t>
            </a:r>
            <a:r>
              <a:rPr dirty="0" sz="1200" spc="75">
                <a:latin typeface="Arial"/>
                <a:cs typeface="Arial"/>
              </a:rPr>
              <a:t> </a:t>
            </a:r>
            <a:r>
              <a:rPr dirty="0" sz="1200">
                <a:latin typeface="Arial"/>
                <a:cs typeface="Arial"/>
              </a:rPr>
              <a:t>the</a:t>
            </a:r>
            <a:r>
              <a:rPr dirty="0" sz="1200" spc="95">
                <a:latin typeface="Arial"/>
                <a:cs typeface="Arial"/>
              </a:rPr>
              <a:t> </a:t>
            </a:r>
            <a:r>
              <a:rPr dirty="0" sz="1200" spc="-5">
                <a:latin typeface="Arial"/>
                <a:cs typeface="Arial"/>
              </a:rPr>
              <a:t>Qur‘anic</a:t>
            </a:r>
            <a:r>
              <a:rPr dirty="0" sz="1200" spc="85">
                <a:latin typeface="Arial"/>
                <a:cs typeface="Arial"/>
              </a:rPr>
              <a:t> </a:t>
            </a:r>
            <a:r>
              <a:rPr dirty="0" sz="1200" spc="-5">
                <a:latin typeface="Arial"/>
                <a:cs typeface="Arial"/>
              </a:rPr>
              <a:t>teachings</a:t>
            </a:r>
            <a:r>
              <a:rPr dirty="0" sz="1200" spc="90">
                <a:latin typeface="Arial"/>
                <a:cs typeface="Arial"/>
              </a:rPr>
              <a:t> </a:t>
            </a:r>
            <a:r>
              <a:rPr dirty="0" sz="1200" spc="-5">
                <a:latin typeface="Arial"/>
                <a:cs typeface="Arial"/>
              </a:rPr>
              <a:t>criticise</a:t>
            </a:r>
            <a:r>
              <a:rPr dirty="0" sz="1200" spc="95">
                <a:latin typeface="Arial"/>
                <a:cs typeface="Arial"/>
              </a:rPr>
              <a:t> </a:t>
            </a:r>
            <a:r>
              <a:rPr dirty="0" sz="1200">
                <a:latin typeface="Arial"/>
                <a:cs typeface="Arial"/>
              </a:rPr>
              <a:t>any</a:t>
            </a:r>
            <a:r>
              <a:rPr dirty="0" sz="1200" spc="110">
                <a:latin typeface="Arial"/>
                <a:cs typeface="Arial"/>
              </a:rPr>
              <a:t> </a:t>
            </a:r>
            <a:r>
              <a:rPr dirty="0" sz="1200" spc="-5">
                <a:latin typeface="Arial"/>
                <a:cs typeface="Arial"/>
              </a:rPr>
              <a:t>two</a:t>
            </a:r>
            <a:r>
              <a:rPr dirty="0" sz="1200" spc="100">
                <a:latin typeface="Arial"/>
                <a:cs typeface="Arial"/>
              </a:rPr>
              <a:t> </a:t>
            </a:r>
            <a:r>
              <a:rPr dirty="0" sz="1200">
                <a:latin typeface="Arial"/>
                <a:cs typeface="Arial"/>
              </a:rPr>
              <a:t>of</a:t>
            </a:r>
            <a:r>
              <a:rPr dirty="0" sz="1200" spc="100">
                <a:latin typeface="Arial"/>
                <a:cs typeface="Arial"/>
              </a:rPr>
              <a:t> </a:t>
            </a:r>
            <a:r>
              <a:rPr dirty="0" sz="1200" spc="-5">
                <a:latin typeface="Arial"/>
                <a:cs typeface="Arial"/>
              </a:rPr>
              <a:t>these</a:t>
            </a:r>
            <a:r>
              <a:rPr dirty="0" sz="1200" spc="80">
                <a:latin typeface="Arial"/>
                <a:cs typeface="Arial"/>
              </a:rPr>
              <a:t> </a:t>
            </a:r>
            <a:r>
              <a:rPr dirty="0" sz="1200" spc="-5">
                <a:latin typeface="Arial"/>
                <a:cs typeface="Arial"/>
              </a:rPr>
              <a:t>beliefs</a:t>
            </a:r>
            <a:r>
              <a:rPr dirty="0" sz="1200" spc="95">
                <a:latin typeface="Arial"/>
                <a:cs typeface="Arial"/>
              </a:rPr>
              <a:t> </a:t>
            </a:r>
            <a:r>
              <a:rPr dirty="0" sz="1200">
                <a:latin typeface="Arial"/>
                <a:cs typeface="Arial"/>
              </a:rPr>
              <a:t>and</a:t>
            </a:r>
            <a:r>
              <a:rPr dirty="0" sz="1200" spc="90">
                <a:latin typeface="Arial"/>
                <a:cs typeface="Arial"/>
              </a:rPr>
              <a:t> </a:t>
            </a:r>
            <a:r>
              <a:rPr dirty="0" sz="1200" spc="-5">
                <a:latin typeface="Arial"/>
                <a:cs typeface="Arial"/>
              </a:rPr>
              <a:t>practices.</a:t>
            </a:r>
            <a:r>
              <a:rPr dirty="0" sz="1200" spc="90">
                <a:latin typeface="Arial"/>
                <a:cs typeface="Arial"/>
              </a:rPr>
              <a:t> </a:t>
            </a:r>
            <a:r>
              <a:rPr dirty="0" sz="1200" spc="-5">
                <a:latin typeface="Arial"/>
                <a:cs typeface="Arial"/>
              </a:rPr>
              <a:t>[8]</a:t>
            </a:r>
            <a:endParaRPr sz="1200">
              <a:latin typeface="Arial"/>
              <a:cs typeface="Arial"/>
            </a:endParaRPr>
          </a:p>
          <a:p>
            <a:pPr marL="12700">
              <a:lnSpc>
                <a:spcPts val="1410"/>
              </a:lnSpc>
            </a:pPr>
            <a:r>
              <a:rPr dirty="0" sz="1200" spc="-5" b="1">
                <a:latin typeface="Arial"/>
                <a:cs typeface="Arial"/>
              </a:rPr>
              <a:t>(2009)</a:t>
            </a:r>
            <a:endParaRPr sz="1200">
              <a:latin typeface="Arial"/>
              <a:cs typeface="Arial"/>
            </a:endParaRPr>
          </a:p>
          <a:p>
            <a:pPr>
              <a:lnSpc>
                <a:spcPct val="100000"/>
              </a:lnSpc>
              <a:spcBef>
                <a:spcPts val="55"/>
              </a:spcBef>
            </a:pPr>
            <a:endParaRPr sz="1100">
              <a:latin typeface="Arial"/>
              <a:cs typeface="Arial"/>
            </a:endParaRPr>
          </a:p>
          <a:p>
            <a:pPr marL="12700">
              <a:lnSpc>
                <a:spcPts val="1410"/>
              </a:lnSpc>
            </a:pPr>
            <a:r>
              <a:rPr dirty="0" sz="1200">
                <a:latin typeface="Arial"/>
                <a:cs typeface="Arial"/>
              </a:rPr>
              <a:t>1 (a) </a:t>
            </a:r>
            <a:r>
              <a:rPr dirty="0" sz="1200" spc="-5">
                <a:latin typeface="Arial"/>
                <a:cs typeface="Arial"/>
              </a:rPr>
              <a:t>Explain the significance of the </a:t>
            </a:r>
            <a:r>
              <a:rPr dirty="0" sz="1200" spc="-85">
                <a:latin typeface="Arial"/>
                <a:cs typeface="Arial"/>
              </a:rPr>
              <a:t>Ka‗ba </a:t>
            </a:r>
            <a:r>
              <a:rPr dirty="0" sz="1200" spc="-5">
                <a:latin typeface="Arial"/>
                <a:cs typeface="Arial"/>
              </a:rPr>
              <a:t>in </a:t>
            </a:r>
            <a:r>
              <a:rPr dirty="0" sz="1200">
                <a:latin typeface="Arial"/>
                <a:cs typeface="Arial"/>
              </a:rPr>
              <a:t>pre-Islamic </a:t>
            </a:r>
            <a:r>
              <a:rPr dirty="0" sz="1200" spc="-5">
                <a:latin typeface="Arial"/>
                <a:cs typeface="Arial"/>
              </a:rPr>
              <a:t>Arabian beliefs.</a:t>
            </a:r>
            <a:r>
              <a:rPr dirty="0" sz="1200" spc="-145">
                <a:latin typeface="Arial"/>
                <a:cs typeface="Arial"/>
              </a:rPr>
              <a:t> </a:t>
            </a:r>
            <a:r>
              <a:rPr dirty="0" sz="1200" spc="-5">
                <a:latin typeface="Arial"/>
                <a:cs typeface="Arial"/>
              </a:rPr>
              <a:t>[10]</a:t>
            </a:r>
            <a:endParaRPr sz="1200">
              <a:latin typeface="Arial"/>
              <a:cs typeface="Arial"/>
            </a:endParaRPr>
          </a:p>
          <a:p>
            <a:pPr marL="140970">
              <a:lnSpc>
                <a:spcPts val="1380"/>
              </a:lnSpc>
            </a:pPr>
            <a:r>
              <a:rPr dirty="0" sz="1200" spc="-5">
                <a:latin typeface="Arial"/>
                <a:cs typeface="Arial"/>
              </a:rPr>
              <a:t>(b)</a:t>
            </a:r>
            <a:r>
              <a:rPr dirty="0" sz="1200" spc="195">
                <a:latin typeface="Arial"/>
                <a:cs typeface="Arial"/>
              </a:rPr>
              <a:t> </a:t>
            </a:r>
            <a:r>
              <a:rPr dirty="0" sz="1200">
                <a:latin typeface="Arial"/>
                <a:cs typeface="Arial"/>
              </a:rPr>
              <a:t>Why,</a:t>
            </a:r>
            <a:r>
              <a:rPr dirty="0" sz="1200" spc="225">
                <a:latin typeface="Arial"/>
                <a:cs typeface="Arial"/>
              </a:rPr>
              <a:t> </a:t>
            </a:r>
            <a:r>
              <a:rPr dirty="0" sz="1200" spc="-5">
                <a:latin typeface="Arial"/>
                <a:cs typeface="Arial"/>
              </a:rPr>
              <a:t>according</a:t>
            </a:r>
            <a:r>
              <a:rPr dirty="0" sz="1200" spc="210">
                <a:latin typeface="Arial"/>
                <a:cs typeface="Arial"/>
              </a:rPr>
              <a:t> </a:t>
            </a:r>
            <a:r>
              <a:rPr dirty="0" sz="1200">
                <a:latin typeface="Arial"/>
                <a:cs typeface="Arial"/>
              </a:rPr>
              <a:t>to</a:t>
            </a:r>
            <a:r>
              <a:rPr dirty="0" sz="1200" spc="235">
                <a:latin typeface="Arial"/>
                <a:cs typeface="Arial"/>
              </a:rPr>
              <a:t> </a:t>
            </a:r>
            <a:r>
              <a:rPr dirty="0" sz="1200" spc="-5">
                <a:latin typeface="Arial"/>
                <a:cs typeface="Arial"/>
              </a:rPr>
              <a:t>traditional</a:t>
            </a:r>
            <a:r>
              <a:rPr dirty="0" sz="1200" spc="220">
                <a:latin typeface="Arial"/>
                <a:cs typeface="Arial"/>
              </a:rPr>
              <a:t> </a:t>
            </a:r>
            <a:r>
              <a:rPr dirty="0" sz="1200" spc="-5">
                <a:latin typeface="Arial"/>
                <a:cs typeface="Arial"/>
              </a:rPr>
              <a:t>Muslim</a:t>
            </a:r>
            <a:r>
              <a:rPr dirty="0" sz="1200" spc="220">
                <a:latin typeface="Arial"/>
                <a:cs typeface="Arial"/>
              </a:rPr>
              <a:t> </a:t>
            </a:r>
            <a:r>
              <a:rPr dirty="0" sz="1200" spc="-5">
                <a:latin typeface="Arial"/>
                <a:cs typeface="Arial"/>
              </a:rPr>
              <a:t>accounts,</a:t>
            </a:r>
            <a:r>
              <a:rPr dirty="0" sz="1200" spc="215">
                <a:latin typeface="Arial"/>
                <a:cs typeface="Arial"/>
              </a:rPr>
              <a:t> </a:t>
            </a:r>
            <a:r>
              <a:rPr dirty="0" sz="1200" spc="-5">
                <a:latin typeface="Arial"/>
                <a:cs typeface="Arial"/>
              </a:rPr>
              <a:t>did</a:t>
            </a:r>
            <a:r>
              <a:rPr dirty="0" sz="1200" spc="229">
                <a:latin typeface="Arial"/>
                <a:cs typeface="Arial"/>
              </a:rPr>
              <a:t> </a:t>
            </a:r>
            <a:r>
              <a:rPr dirty="0" sz="1200" spc="-5">
                <a:latin typeface="Arial"/>
                <a:cs typeface="Arial"/>
              </a:rPr>
              <a:t>the</a:t>
            </a:r>
            <a:r>
              <a:rPr dirty="0" sz="1200" spc="225">
                <a:latin typeface="Arial"/>
                <a:cs typeface="Arial"/>
              </a:rPr>
              <a:t> </a:t>
            </a:r>
            <a:r>
              <a:rPr dirty="0" sz="1200" spc="-5">
                <a:latin typeface="Arial"/>
                <a:cs typeface="Arial"/>
              </a:rPr>
              <a:t>Prophet</a:t>
            </a:r>
            <a:r>
              <a:rPr dirty="0" sz="1200" spc="215">
                <a:latin typeface="Arial"/>
                <a:cs typeface="Arial"/>
              </a:rPr>
              <a:t> </a:t>
            </a:r>
            <a:r>
              <a:rPr dirty="0" sz="1200" spc="-5">
                <a:latin typeface="Arial"/>
                <a:cs typeface="Arial"/>
              </a:rPr>
              <a:t>Muhammad</a:t>
            </a:r>
            <a:r>
              <a:rPr dirty="0" sz="1200" spc="225">
                <a:latin typeface="Arial"/>
                <a:cs typeface="Arial"/>
              </a:rPr>
              <a:t> </a:t>
            </a:r>
            <a:r>
              <a:rPr dirty="0" sz="1200" spc="-10">
                <a:latin typeface="Arial"/>
                <a:cs typeface="Arial"/>
              </a:rPr>
              <a:t>seek</a:t>
            </a:r>
            <a:r>
              <a:rPr dirty="0" sz="1200" spc="225">
                <a:latin typeface="Arial"/>
                <a:cs typeface="Arial"/>
              </a:rPr>
              <a:t> </a:t>
            </a:r>
            <a:r>
              <a:rPr dirty="0" sz="1200">
                <a:latin typeface="Arial"/>
                <a:cs typeface="Arial"/>
              </a:rPr>
              <a:t>to</a:t>
            </a:r>
            <a:endParaRPr sz="1200">
              <a:latin typeface="Arial"/>
              <a:cs typeface="Arial"/>
            </a:endParaRPr>
          </a:p>
          <a:p>
            <a:pPr marL="12700">
              <a:lnSpc>
                <a:spcPts val="1410"/>
              </a:lnSpc>
            </a:pPr>
            <a:r>
              <a:rPr dirty="0" sz="1200" spc="-50">
                <a:latin typeface="Arial"/>
                <a:cs typeface="Arial"/>
              </a:rPr>
              <a:t>‗cleanse‘ </a:t>
            </a:r>
            <a:r>
              <a:rPr dirty="0" sz="1200" spc="-5">
                <a:latin typeface="Arial"/>
                <a:cs typeface="Arial"/>
              </a:rPr>
              <a:t>the </a:t>
            </a:r>
            <a:r>
              <a:rPr dirty="0" sz="1200" spc="-70">
                <a:latin typeface="Arial"/>
                <a:cs typeface="Arial"/>
              </a:rPr>
              <a:t>Ka‗ba? </a:t>
            </a:r>
            <a:r>
              <a:rPr dirty="0" sz="1200" spc="-5">
                <a:latin typeface="Arial"/>
                <a:cs typeface="Arial"/>
              </a:rPr>
              <a:t>[10]</a:t>
            </a:r>
            <a:r>
              <a:rPr dirty="0" sz="1200" spc="120">
                <a:latin typeface="Arial"/>
                <a:cs typeface="Arial"/>
              </a:rPr>
              <a:t> </a:t>
            </a:r>
            <a:r>
              <a:rPr dirty="0" sz="1200" spc="-5" b="1">
                <a:latin typeface="Arial"/>
                <a:cs typeface="Arial"/>
              </a:rPr>
              <a:t>(2010)</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49295" y="9905322"/>
            <a:ext cx="4508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9</a:t>
            </a:r>
            <a:endParaRPr sz="120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5970905" cy="208279"/>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878128" y="827531"/>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b="1">
                <a:latin typeface="Arial"/>
                <a:cs typeface="Arial"/>
              </a:rPr>
              <a:t>Life </a:t>
            </a:r>
            <a:r>
              <a:rPr dirty="0" sz="1200" spc="-5" b="1">
                <a:latin typeface="Arial"/>
                <a:cs typeface="Arial"/>
              </a:rPr>
              <a:t>Of Muhammad</a:t>
            </a:r>
            <a:r>
              <a:rPr dirty="0" sz="1200" b="1">
                <a:latin typeface="Arial"/>
                <a:cs typeface="Arial"/>
              </a:rPr>
              <a:t> </a:t>
            </a:r>
            <a:r>
              <a:rPr dirty="0" sz="1200" spc="-5" b="1">
                <a:latin typeface="Arial"/>
                <a:cs typeface="Arial"/>
              </a:rPr>
              <a:t>(s.a.w)</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10</a:t>
            </a:r>
          </a:p>
        </p:txBody>
      </p:sp>
      <p:sp>
        <p:nvSpPr>
          <p:cNvPr id="5" name="object 5"/>
          <p:cNvSpPr txBox="1"/>
          <p:nvPr/>
        </p:nvSpPr>
        <p:spPr>
          <a:xfrm>
            <a:off x="458216" y="1162557"/>
            <a:ext cx="6464300" cy="8622030"/>
          </a:xfrm>
          <a:prstGeom prst="rect">
            <a:avLst/>
          </a:prstGeom>
        </p:spPr>
        <p:txBody>
          <a:bodyPr wrap="square" lIns="0" tIns="12700" rIns="0" bIns="0" rtlCol="0" vert="horz">
            <a:spAutoFit/>
          </a:bodyPr>
          <a:lstStyle/>
          <a:p>
            <a:pPr marL="889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35"/>
              </a:spcBef>
            </a:pPr>
            <a:endParaRPr sz="1200">
              <a:latin typeface="Arial"/>
              <a:cs typeface="Arial"/>
            </a:endParaRPr>
          </a:p>
          <a:p>
            <a:pPr algn="just" marL="88900" marR="87630">
              <a:lnSpc>
                <a:spcPts val="1380"/>
              </a:lnSpc>
            </a:pPr>
            <a:r>
              <a:rPr dirty="0" sz="1200">
                <a:latin typeface="Arial"/>
                <a:cs typeface="Arial"/>
              </a:rPr>
              <a:t>In </a:t>
            </a:r>
            <a:r>
              <a:rPr dirty="0" sz="1200" spc="-5">
                <a:latin typeface="Arial"/>
                <a:cs typeface="Arial"/>
              </a:rPr>
              <a:t>order </a:t>
            </a:r>
            <a:r>
              <a:rPr dirty="0" sz="1200">
                <a:latin typeface="Arial"/>
                <a:cs typeface="Arial"/>
              </a:rPr>
              <a:t>to </a:t>
            </a:r>
            <a:r>
              <a:rPr dirty="0" sz="1200" spc="-5">
                <a:latin typeface="Arial"/>
                <a:cs typeface="Arial"/>
              </a:rPr>
              <a:t>guide Mankind, Allah </a:t>
            </a:r>
            <a:r>
              <a:rPr dirty="0" sz="1200">
                <a:latin typeface="Arial"/>
                <a:cs typeface="Arial"/>
              </a:rPr>
              <a:t>sent many </a:t>
            </a:r>
            <a:r>
              <a:rPr dirty="0" sz="1200" spc="-5">
                <a:latin typeface="Arial"/>
                <a:cs typeface="Arial"/>
              </a:rPr>
              <a:t>prophets </a:t>
            </a:r>
            <a:r>
              <a:rPr dirty="0" sz="1200">
                <a:latin typeface="Arial"/>
                <a:cs typeface="Arial"/>
              </a:rPr>
              <a:t>from </a:t>
            </a:r>
            <a:r>
              <a:rPr dirty="0" sz="1200" spc="-5">
                <a:latin typeface="Arial"/>
                <a:cs typeface="Arial"/>
              </a:rPr>
              <a:t>Hazrat Adam </a:t>
            </a:r>
            <a:r>
              <a:rPr dirty="0" sz="1200">
                <a:latin typeface="Arial"/>
                <a:cs typeface="Arial"/>
              </a:rPr>
              <a:t>(as) </a:t>
            </a:r>
            <a:r>
              <a:rPr dirty="0" sz="1200" spc="-5">
                <a:latin typeface="Arial"/>
                <a:cs typeface="Arial"/>
              </a:rPr>
              <a:t>till Hazrat </a:t>
            </a:r>
            <a:r>
              <a:rPr dirty="0" sz="1200">
                <a:latin typeface="Arial"/>
                <a:cs typeface="Arial"/>
              </a:rPr>
              <a:t>Isa  (as). </a:t>
            </a:r>
            <a:r>
              <a:rPr dirty="0" sz="1200" spc="-5">
                <a:latin typeface="Arial"/>
                <a:cs typeface="Arial"/>
              </a:rPr>
              <a:t>The </a:t>
            </a:r>
            <a:r>
              <a:rPr dirty="0" sz="1200">
                <a:latin typeface="Arial"/>
                <a:cs typeface="Arial"/>
              </a:rPr>
              <a:t>last </a:t>
            </a:r>
            <a:r>
              <a:rPr dirty="0" sz="1200" spc="-5">
                <a:latin typeface="Arial"/>
                <a:cs typeface="Arial"/>
              </a:rPr>
              <a:t>prophet Allah sent </a:t>
            </a:r>
            <a:r>
              <a:rPr dirty="0" sz="1200" spc="-10">
                <a:latin typeface="Arial"/>
                <a:cs typeface="Arial"/>
              </a:rPr>
              <a:t>was </a:t>
            </a:r>
            <a:r>
              <a:rPr dirty="0" sz="1200">
                <a:latin typeface="Arial"/>
                <a:cs typeface="Arial"/>
              </a:rPr>
              <a:t>Nabi </a:t>
            </a:r>
            <a:r>
              <a:rPr dirty="0" sz="1200" spc="-5">
                <a:latin typeface="Arial"/>
                <a:cs typeface="Arial"/>
              </a:rPr>
              <a:t>Muhammad (s.a.w) </a:t>
            </a:r>
            <a:r>
              <a:rPr dirty="0" sz="1200">
                <a:latin typeface="Arial"/>
                <a:cs typeface="Arial"/>
              </a:rPr>
              <a:t>to </a:t>
            </a:r>
            <a:r>
              <a:rPr dirty="0" sz="1200" spc="-5">
                <a:latin typeface="Arial"/>
                <a:cs typeface="Arial"/>
              </a:rPr>
              <a:t>Hijaz </a:t>
            </a:r>
            <a:r>
              <a:rPr dirty="0" sz="1200">
                <a:latin typeface="Arial"/>
                <a:cs typeface="Arial"/>
              </a:rPr>
              <a:t>to reform </a:t>
            </a:r>
            <a:r>
              <a:rPr dirty="0" sz="1200" spc="-5">
                <a:latin typeface="Arial"/>
                <a:cs typeface="Arial"/>
              </a:rPr>
              <a:t>and guides  </a:t>
            </a:r>
            <a:r>
              <a:rPr dirty="0" sz="1200">
                <a:latin typeface="Arial"/>
                <a:cs typeface="Arial"/>
              </a:rPr>
              <a:t>the </a:t>
            </a:r>
            <a:r>
              <a:rPr dirty="0" sz="1200" spc="-5">
                <a:latin typeface="Arial"/>
                <a:cs typeface="Arial"/>
              </a:rPr>
              <a:t>people there. He spent 13 years </a:t>
            </a:r>
            <a:r>
              <a:rPr dirty="0" sz="1200">
                <a:latin typeface="Arial"/>
                <a:cs typeface="Arial"/>
              </a:rPr>
              <a:t>at </a:t>
            </a:r>
            <a:r>
              <a:rPr dirty="0" sz="1200" spc="-5">
                <a:latin typeface="Arial"/>
                <a:cs typeface="Arial"/>
              </a:rPr>
              <a:t>Macca as from </a:t>
            </a:r>
            <a:r>
              <a:rPr dirty="0" sz="1200" spc="10">
                <a:latin typeface="Arial"/>
                <a:cs typeface="Arial"/>
              </a:rPr>
              <a:t>the </a:t>
            </a:r>
            <a:r>
              <a:rPr dirty="0" sz="1200" spc="-5">
                <a:latin typeface="Arial"/>
                <a:cs typeface="Arial"/>
              </a:rPr>
              <a:t>age of </a:t>
            </a:r>
            <a:r>
              <a:rPr dirty="0" sz="1200" spc="-10">
                <a:latin typeface="Arial"/>
                <a:cs typeface="Arial"/>
              </a:rPr>
              <a:t>40 </a:t>
            </a:r>
            <a:r>
              <a:rPr dirty="0" sz="1200" spc="-5">
                <a:latin typeface="Arial"/>
                <a:cs typeface="Arial"/>
              </a:rPr>
              <a:t>and 10 years </a:t>
            </a:r>
            <a:r>
              <a:rPr dirty="0" sz="1200">
                <a:latin typeface="Arial"/>
                <a:cs typeface="Arial"/>
              </a:rPr>
              <a:t>at </a:t>
            </a:r>
            <a:r>
              <a:rPr dirty="0" sz="1200" spc="-5">
                <a:latin typeface="Arial"/>
                <a:cs typeface="Arial"/>
              </a:rPr>
              <a:t>Madina  in </a:t>
            </a:r>
            <a:r>
              <a:rPr dirty="0" sz="1200">
                <a:latin typeface="Arial"/>
                <a:cs typeface="Arial"/>
              </a:rPr>
              <a:t>the </a:t>
            </a:r>
            <a:r>
              <a:rPr dirty="0" sz="1200" spc="-5">
                <a:latin typeface="Arial"/>
                <a:cs typeface="Arial"/>
              </a:rPr>
              <a:t>spreading of Islam. His life is </a:t>
            </a:r>
            <a:r>
              <a:rPr dirty="0" sz="1200">
                <a:latin typeface="Arial"/>
                <a:cs typeface="Arial"/>
              </a:rPr>
              <a:t>full </a:t>
            </a:r>
            <a:r>
              <a:rPr dirty="0" sz="1200" spc="-5">
                <a:latin typeface="Arial"/>
                <a:cs typeface="Arial"/>
              </a:rPr>
              <a:t>of lessons to take and </a:t>
            </a:r>
            <a:r>
              <a:rPr dirty="0" sz="1200">
                <a:latin typeface="Arial"/>
                <a:cs typeface="Arial"/>
              </a:rPr>
              <a:t>to </a:t>
            </a:r>
            <a:r>
              <a:rPr dirty="0" sz="1200" spc="-5">
                <a:latin typeface="Arial"/>
                <a:cs typeface="Arial"/>
              </a:rPr>
              <a:t>put into</a:t>
            </a:r>
            <a:r>
              <a:rPr dirty="0" sz="1200" spc="50">
                <a:latin typeface="Arial"/>
                <a:cs typeface="Arial"/>
              </a:rPr>
              <a:t> </a:t>
            </a:r>
            <a:r>
              <a:rPr dirty="0" sz="1200">
                <a:latin typeface="Arial"/>
                <a:cs typeface="Arial"/>
              </a:rPr>
              <a:t>practice.</a:t>
            </a:r>
            <a:endParaRPr sz="1200">
              <a:latin typeface="Arial"/>
              <a:cs typeface="Arial"/>
            </a:endParaRPr>
          </a:p>
          <a:p>
            <a:pPr>
              <a:lnSpc>
                <a:spcPct val="100000"/>
              </a:lnSpc>
              <a:spcBef>
                <a:spcPts val="20"/>
              </a:spcBef>
            </a:pPr>
            <a:endParaRPr sz="1100">
              <a:latin typeface="Arial"/>
              <a:cs typeface="Arial"/>
            </a:endParaRPr>
          </a:p>
          <a:p>
            <a:pPr marL="88900">
              <a:lnSpc>
                <a:spcPct val="100000"/>
              </a:lnSpc>
            </a:pPr>
            <a:r>
              <a:rPr dirty="0" u="heavy" sz="1200" spc="-5" b="1" i="1">
                <a:uFill>
                  <a:solidFill>
                    <a:srgbClr val="000000"/>
                  </a:solidFill>
                </a:uFill>
                <a:latin typeface="Arial"/>
                <a:cs typeface="Arial"/>
              </a:rPr>
              <a:t>Maccan</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Period</a:t>
            </a:r>
            <a:endParaRPr sz="1200">
              <a:latin typeface="Arial"/>
              <a:cs typeface="Arial"/>
            </a:endParaRPr>
          </a:p>
          <a:p>
            <a:pPr>
              <a:lnSpc>
                <a:spcPct val="100000"/>
              </a:lnSpc>
              <a:spcBef>
                <a:spcPts val="55"/>
              </a:spcBef>
            </a:pPr>
            <a:endParaRPr sz="1100">
              <a:latin typeface="Arial"/>
              <a:cs typeface="Arial"/>
            </a:endParaRPr>
          </a:p>
          <a:p>
            <a:pPr marL="88900">
              <a:lnSpc>
                <a:spcPct val="100000"/>
              </a:lnSpc>
            </a:pPr>
            <a:r>
              <a:rPr dirty="0" u="heavy" sz="1200" spc="-5" b="1" i="1">
                <a:uFill>
                  <a:solidFill>
                    <a:srgbClr val="000000"/>
                  </a:solidFill>
                </a:uFill>
                <a:latin typeface="Arial"/>
                <a:cs typeface="Arial"/>
              </a:rPr>
              <a:t>Birth </a:t>
            </a:r>
            <a:r>
              <a:rPr dirty="0" u="heavy" sz="1200" b="1" i="1">
                <a:uFill>
                  <a:solidFill>
                    <a:srgbClr val="000000"/>
                  </a:solidFill>
                </a:uFill>
                <a:latin typeface="Arial"/>
                <a:cs typeface="Arial"/>
              </a:rPr>
              <a:t>Till </a:t>
            </a:r>
            <a:r>
              <a:rPr dirty="0" u="heavy" sz="1200" spc="-5" b="1" i="1">
                <a:uFill>
                  <a:solidFill>
                    <a:srgbClr val="000000"/>
                  </a:solidFill>
                </a:uFill>
                <a:latin typeface="Arial"/>
                <a:cs typeface="Arial"/>
              </a:rPr>
              <a:t>Al </a:t>
            </a:r>
            <a:r>
              <a:rPr dirty="0" u="heavy" sz="1200" b="1" i="1">
                <a:uFill>
                  <a:solidFill>
                    <a:srgbClr val="000000"/>
                  </a:solidFill>
                </a:uFill>
                <a:latin typeface="Arial"/>
                <a:cs typeface="Arial"/>
              </a:rPr>
              <a:t>Abwa</a:t>
            </a:r>
            <a:r>
              <a:rPr dirty="0" u="heavy" sz="1200" spc="-5" b="1" i="1">
                <a:uFill>
                  <a:solidFill>
                    <a:srgbClr val="000000"/>
                  </a:solidFill>
                </a:uFill>
                <a:latin typeface="Arial"/>
                <a:cs typeface="Arial"/>
              </a:rPr>
              <a:t> Events</a:t>
            </a:r>
            <a:endParaRPr sz="1200">
              <a:latin typeface="Arial"/>
              <a:cs typeface="Arial"/>
            </a:endParaRPr>
          </a:p>
          <a:p>
            <a:pPr>
              <a:lnSpc>
                <a:spcPct val="100000"/>
              </a:lnSpc>
              <a:spcBef>
                <a:spcPts val="55"/>
              </a:spcBef>
            </a:pPr>
            <a:endParaRPr sz="1150">
              <a:latin typeface="Arial"/>
              <a:cs typeface="Arial"/>
            </a:endParaRPr>
          </a:p>
          <a:p>
            <a:pPr algn="just" marL="88900" marR="81280">
              <a:lnSpc>
                <a:spcPct val="95900"/>
              </a:lnSpc>
            </a:pPr>
            <a:r>
              <a:rPr dirty="0" sz="1200" spc="-5">
                <a:latin typeface="Arial"/>
                <a:cs typeface="Arial"/>
              </a:rPr>
              <a:t>The holy prophet Muhammad (s.a.w) </a:t>
            </a:r>
            <a:r>
              <a:rPr dirty="0" sz="1200">
                <a:latin typeface="Arial"/>
                <a:cs typeface="Arial"/>
              </a:rPr>
              <a:t>took </a:t>
            </a:r>
            <a:r>
              <a:rPr dirty="0" sz="1200" spc="-5">
                <a:latin typeface="Arial"/>
                <a:cs typeface="Arial"/>
              </a:rPr>
              <a:t>birth on the </a:t>
            </a:r>
            <a:r>
              <a:rPr dirty="0" sz="1200" spc="5">
                <a:latin typeface="Arial"/>
                <a:cs typeface="Arial"/>
              </a:rPr>
              <a:t>12</a:t>
            </a:r>
            <a:r>
              <a:rPr dirty="0" baseline="38194" sz="1200" spc="7">
                <a:latin typeface="Arial"/>
                <a:cs typeface="Arial"/>
              </a:rPr>
              <a:t>th </a:t>
            </a:r>
            <a:r>
              <a:rPr dirty="0" sz="1200" spc="-5">
                <a:latin typeface="Arial"/>
                <a:cs typeface="Arial"/>
              </a:rPr>
              <a:t>Rabi-ul-Awwal in </a:t>
            </a:r>
            <a:r>
              <a:rPr dirty="0" sz="1200">
                <a:latin typeface="Arial"/>
                <a:cs typeface="Arial"/>
              </a:rPr>
              <a:t>the </a:t>
            </a:r>
            <a:r>
              <a:rPr dirty="0" sz="1200" spc="-5">
                <a:latin typeface="Arial"/>
                <a:cs typeface="Arial"/>
              </a:rPr>
              <a:t>year </a:t>
            </a:r>
            <a:r>
              <a:rPr dirty="0" sz="1200" spc="-5" b="1">
                <a:latin typeface="Arial"/>
                <a:cs typeface="Arial"/>
              </a:rPr>
              <a:t>570  </a:t>
            </a:r>
            <a:r>
              <a:rPr dirty="0" sz="1200" spc="-5">
                <a:latin typeface="Arial"/>
                <a:cs typeface="Arial"/>
              </a:rPr>
              <a:t>AD. He </a:t>
            </a:r>
            <a:r>
              <a:rPr dirty="0" sz="1200" spc="-10">
                <a:latin typeface="Arial"/>
                <a:cs typeface="Arial"/>
              </a:rPr>
              <a:t>was </a:t>
            </a:r>
            <a:r>
              <a:rPr dirty="0" sz="1200">
                <a:latin typeface="Arial"/>
                <a:cs typeface="Arial"/>
              </a:rPr>
              <a:t>from </a:t>
            </a:r>
            <a:r>
              <a:rPr dirty="0" sz="1200" spc="-10">
                <a:latin typeface="Arial"/>
                <a:cs typeface="Arial"/>
              </a:rPr>
              <a:t>the </a:t>
            </a:r>
            <a:r>
              <a:rPr dirty="0" sz="1200">
                <a:latin typeface="Arial"/>
                <a:cs typeface="Arial"/>
              </a:rPr>
              <a:t>Quraish </a:t>
            </a:r>
            <a:r>
              <a:rPr dirty="0" sz="1200" spc="-5">
                <a:latin typeface="Arial"/>
                <a:cs typeface="Arial"/>
              </a:rPr>
              <a:t>tribe and the Hashim family. </a:t>
            </a:r>
            <a:r>
              <a:rPr dirty="0" sz="1200">
                <a:latin typeface="Arial"/>
                <a:cs typeface="Arial"/>
              </a:rPr>
              <a:t>His </a:t>
            </a:r>
            <a:r>
              <a:rPr dirty="0" sz="1200" spc="-5">
                <a:latin typeface="Arial"/>
                <a:cs typeface="Arial"/>
              </a:rPr>
              <a:t>grandfather </a:t>
            </a:r>
            <a:r>
              <a:rPr dirty="0" sz="1200" spc="-10">
                <a:latin typeface="Arial"/>
                <a:cs typeface="Arial"/>
              </a:rPr>
              <a:t>was </a:t>
            </a:r>
            <a:r>
              <a:rPr dirty="0" sz="1200" spc="-5">
                <a:latin typeface="Arial"/>
                <a:cs typeface="Arial"/>
              </a:rPr>
              <a:t>Abdul  Muttalib bin Hashim and his </a:t>
            </a:r>
            <a:r>
              <a:rPr dirty="0" sz="1200">
                <a:latin typeface="Arial"/>
                <a:cs typeface="Arial"/>
              </a:rPr>
              <a:t>father </a:t>
            </a:r>
            <a:r>
              <a:rPr dirty="0" sz="1200" spc="-5">
                <a:latin typeface="Arial"/>
                <a:cs typeface="Arial"/>
              </a:rPr>
              <a:t>was Abdullah. His grandfather from his mother‘s </a:t>
            </a:r>
            <a:r>
              <a:rPr dirty="0" sz="1200">
                <a:latin typeface="Arial"/>
                <a:cs typeface="Arial"/>
              </a:rPr>
              <a:t>side </a:t>
            </a:r>
            <a:r>
              <a:rPr dirty="0" sz="1200" spc="-5">
                <a:latin typeface="Arial"/>
                <a:cs typeface="Arial"/>
              </a:rPr>
              <a:t>was  Wahab bin Abdul </a:t>
            </a:r>
            <a:r>
              <a:rPr dirty="0" sz="1200" spc="-10">
                <a:latin typeface="Arial"/>
                <a:cs typeface="Arial"/>
              </a:rPr>
              <a:t>Manaf </a:t>
            </a:r>
            <a:r>
              <a:rPr dirty="0" sz="1200" spc="-5">
                <a:latin typeface="Arial"/>
                <a:cs typeface="Arial"/>
              </a:rPr>
              <a:t>and his mother </a:t>
            </a:r>
            <a:r>
              <a:rPr dirty="0" sz="1200" spc="-10">
                <a:latin typeface="Arial"/>
                <a:cs typeface="Arial"/>
              </a:rPr>
              <a:t>was </a:t>
            </a:r>
            <a:r>
              <a:rPr dirty="0" sz="1200" spc="-5">
                <a:latin typeface="Arial"/>
                <a:cs typeface="Arial"/>
              </a:rPr>
              <a:t>Bibi Aminah. He took birth in Macca. His </a:t>
            </a:r>
            <a:r>
              <a:rPr dirty="0" sz="1200" spc="5">
                <a:latin typeface="Arial"/>
                <a:cs typeface="Arial"/>
              </a:rPr>
              <a:t>father </a:t>
            </a:r>
            <a:r>
              <a:rPr dirty="0" sz="1200" spc="340">
                <a:latin typeface="Arial"/>
                <a:cs typeface="Arial"/>
              </a:rPr>
              <a:t> </a:t>
            </a:r>
            <a:r>
              <a:rPr dirty="0" sz="1200" spc="-5">
                <a:latin typeface="Arial"/>
                <a:cs typeface="Arial"/>
              </a:rPr>
              <a:t>died 6 </a:t>
            </a:r>
            <a:r>
              <a:rPr dirty="0" sz="1200">
                <a:latin typeface="Arial"/>
                <a:cs typeface="Arial"/>
              </a:rPr>
              <a:t>months </a:t>
            </a:r>
            <a:r>
              <a:rPr dirty="0" sz="1200" spc="-5">
                <a:latin typeface="Arial"/>
                <a:cs typeface="Arial"/>
              </a:rPr>
              <a:t>before his birth and he </a:t>
            </a:r>
            <a:r>
              <a:rPr dirty="0" sz="1200" spc="-10">
                <a:latin typeface="Arial"/>
                <a:cs typeface="Arial"/>
              </a:rPr>
              <a:t>was </a:t>
            </a:r>
            <a:r>
              <a:rPr dirty="0" sz="1200">
                <a:latin typeface="Arial"/>
                <a:cs typeface="Arial"/>
              </a:rPr>
              <a:t>thus </a:t>
            </a:r>
            <a:r>
              <a:rPr dirty="0" sz="1200" spc="-5">
                <a:latin typeface="Arial"/>
                <a:cs typeface="Arial"/>
              </a:rPr>
              <a:t>a posthumous child. </a:t>
            </a:r>
            <a:r>
              <a:rPr dirty="0" sz="1200">
                <a:latin typeface="Arial"/>
                <a:cs typeface="Arial"/>
              </a:rPr>
              <a:t>There </a:t>
            </a:r>
            <a:r>
              <a:rPr dirty="0" sz="1200" spc="-5">
                <a:latin typeface="Arial"/>
                <a:cs typeface="Arial"/>
              </a:rPr>
              <a:t>were many  unusual events and miracles </a:t>
            </a:r>
            <a:r>
              <a:rPr dirty="0" sz="1200">
                <a:latin typeface="Arial"/>
                <a:cs typeface="Arial"/>
              </a:rPr>
              <a:t>at </a:t>
            </a:r>
            <a:r>
              <a:rPr dirty="0" sz="1200" spc="-5">
                <a:latin typeface="Arial"/>
                <a:cs typeface="Arial"/>
              </a:rPr>
              <a:t>his birth. Allah sent Angels surrounding </a:t>
            </a:r>
            <a:r>
              <a:rPr dirty="0" sz="1200">
                <a:latin typeface="Arial"/>
                <a:cs typeface="Arial"/>
              </a:rPr>
              <a:t>the </a:t>
            </a:r>
            <a:r>
              <a:rPr dirty="0" sz="1200" spc="-5">
                <a:latin typeface="Arial"/>
                <a:cs typeface="Arial"/>
              </a:rPr>
              <a:t>house of Bibi  Amina (ra) </a:t>
            </a:r>
            <a:r>
              <a:rPr dirty="0" sz="1200">
                <a:latin typeface="Arial"/>
                <a:cs typeface="Arial"/>
              </a:rPr>
              <a:t>for </a:t>
            </a:r>
            <a:r>
              <a:rPr dirty="0" sz="1200" spc="-5">
                <a:latin typeface="Arial"/>
                <a:cs typeface="Arial"/>
              </a:rPr>
              <a:t>protection against Shaitaan. </a:t>
            </a:r>
            <a:r>
              <a:rPr dirty="0" sz="1200" spc="-10">
                <a:latin typeface="Arial"/>
                <a:cs typeface="Arial"/>
              </a:rPr>
              <a:t>He </a:t>
            </a:r>
            <a:r>
              <a:rPr dirty="0" sz="1200">
                <a:latin typeface="Arial"/>
                <a:cs typeface="Arial"/>
              </a:rPr>
              <a:t>fell prostrating and </a:t>
            </a:r>
            <a:r>
              <a:rPr dirty="0" sz="1200" spc="-5">
                <a:latin typeface="Arial"/>
                <a:cs typeface="Arial"/>
              </a:rPr>
              <a:t>asked </a:t>
            </a:r>
            <a:r>
              <a:rPr dirty="0" sz="1200">
                <a:latin typeface="Arial"/>
                <a:cs typeface="Arial"/>
              </a:rPr>
              <a:t>du‘a for </a:t>
            </a:r>
            <a:r>
              <a:rPr dirty="0" sz="1200" spc="-5">
                <a:latin typeface="Arial"/>
                <a:cs typeface="Arial"/>
              </a:rPr>
              <a:t>his Ummah  as </a:t>
            </a:r>
            <a:r>
              <a:rPr dirty="0" sz="1200">
                <a:latin typeface="Arial"/>
                <a:cs typeface="Arial"/>
              </a:rPr>
              <a:t>Rabbi </a:t>
            </a:r>
            <a:r>
              <a:rPr dirty="0" sz="1200" spc="-5">
                <a:latin typeface="Arial"/>
                <a:cs typeface="Arial"/>
              </a:rPr>
              <a:t>Habli Oummati. All </a:t>
            </a:r>
            <a:r>
              <a:rPr dirty="0" sz="1200">
                <a:latin typeface="Arial"/>
                <a:cs typeface="Arial"/>
              </a:rPr>
              <a:t>idols fell </a:t>
            </a:r>
            <a:r>
              <a:rPr dirty="0" sz="1200" spc="-10">
                <a:latin typeface="Arial"/>
                <a:cs typeface="Arial"/>
              </a:rPr>
              <a:t>down </a:t>
            </a:r>
            <a:r>
              <a:rPr dirty="0" sz="1200" spc="-5">
                <a:latin typeface="Arial"/>
                <a:cs typeface="Arial"/>
              </a:rPr>
              <a:t>in </a:t>
            </a:r>
            <a:r>
              <a:rPr dirty="0" sz="1200">
                <a:latin typeface="Arial"/>
                <a:cs typeface="Arial"/>
              </a:rPr>
              <a:t>the </a:t>
            </a:r>
            <a:r>
              <a:rPr dirty="0" sz="1200" spc="-5">
                <a:latin typeface="Arial"/>
                <a:cs typeface="Arial"/>
              </a:rPr>
              <a:t>Ka‘bah and 14 Towers crushed </a:t>
            </a:r>
            <a:r>
              <a:rPr dirty="0" sz="1200" spc="-10">
                <a:latin typeface="Arial"/>
                <a:cs typeface="Arial"/>
              </a:rPr>
              <a:t>down </a:t>
            </a:r>
            <a:r>
              <a:rPr dirty="0" sz="1200" spc="-5">
                <a:latin typeface="Arial"/>
                <a:cs typeface="Arial"/>
              </a:rPr>
              <a:t>in  Persia. He took birth at Subah Swadiq </a:t>
            </a:r>
            <a:r>
              <a:rPr dirty="0" sz="1200">
                <a:latin typeface="Arial"/>
                <a:cs typeface="Arial"/>
              </a:rPr>
              <a:t>– </a:t>
            </a:r>
            <a:r>
              <a:rPr dirty="0" sz="1200" spc="-5">
                <a:latin typeface="Arial"/>
                <a:cs typeface="Arial"/>
              </a:rPr>
              <a:t>the </a:t>
            </a:r>
            <a:r>
              <a:rPr dirty="0" sz="1200">
                <a:latin typeface="Arial"/>
                <a:cs typeface="Arial"/>
              </a:rPr>
              <a:t>time </a:t>
            </a:r>
            <a:r>
              <a:rPr dirty="0" sz="1200" spc="-5">
                <a:latin typeface="Arial"/>
                <a:cs typeface="Arial"/>
              </a:rPr>
              <a:t>in between night and day. </a:t>
            </a:r>
            <a:r>
              <a:rPr dirty="0" sz="1200">
                <a:latin typeface="Arial"/>
                <a:cs typeface="Arial"/>
              </a:rPr>
              <a:t>At </a:t>
            </a:r>
            <a:r>
              <a:rPr dirty="0" sz="1200" spc="-5">
                <a:latin typeface="Arial"/>
                <a:cs typeface="Arial"/>
              </a:rPr>
              <a:t>his birth Abu  Lahab freed his slave Thuwaybah and the </a:t>
            </a:r>
            <a:r>
              <a:rPr dirty="0" sz="1200">
                <a:latin typeface="Arial"/>
                <a:cs typeface="Arial"/>
              </a:rPr>
              <a:t>latter fed </a:t>
            </a:r>
            <a:r>
              <a:rPr dirty="0" sz="1200" spc="-10">
                <a:latin typeface="Arial"/>
                <a:cs typeface="Arial"/>
              </a:rPr>
              <a:t>him </a:t>
            </a:r>
            <a:r>
              <a:rPr dirty="0" sz="1200">
                <a:latin typeface="Arial"/>
                <a:cs typeface="Arial"/>
              </a:rPr>
              <a:t>for </a:t>
            </a:r>
            <a:r>
              <a:rPr dirty="0" sz="1200" spc="15">
                <a:latin typeface="Arial"/>
                <a:cs typeface="Arial"/>
              </a:rPr>
              <a:t>the </a:t>
            </a:r>
            <a:r>
              <a:rPr dirty="0" sz="1200" spc="-5">
                <a:latin typeface="Arial"/>
                <a:cs typeface="Arial"/>
              </a:rPr>
              <a:t>first 7 days. </a:t>
            </a:r>
            <a:r>
              <a:rPr dirty="0" sz="1200">
                <a:latin typeface="Arial"/>
                <a:cs typeface="Arial"/>
              </a:rPr>
              <a:t>A feast </a:t>
            </a:r>
            <a:r>
              <a:rPr dirty="0" sz="1200" spc="-5">
                <a:latin typeface="Arial"/>
                <a:cs typeface="Arial"/>
              </a:rPr>
              <a:t>was  prepared on the </a:t>
            </a:r>
            <a:r>
              <a:rPr dirty="0" sz="1200">
                <a:latin typeface="Arial"/>
                <a:cs typeface="Arial"/>
              </a:rPr>
              <a:t>8</a:t>
            </a:r>
            <a:r>
              <a:rPr dirty="0" baseline="38194" sz="1200">
                <a:latin typeface="Arial"/>
                <a:cs typeface="Arial"/>
              </a:rPr>
              <a:t>th </a:t>
            </a:r>
            <a:r>
              <a:rPr dirty="0" sz="1200" spc="-10">
                <a:latin typeface="Arial"/>
                <a:cs typeface="Arial"/>
              </a:rPr>
              <a:t>day </a:t>
            </a:r>
            <a:r>
              <a:rPr dirty="0" sz="1200">
                <a:latin typeface="Arial"/>
                <a:cs typeface="Arial"/>
              </a:rPr>
              <a:t>and </a:t>
            </a:r>
            <a:r>
              <a:rPr dirty="0" sz="1200" spc="-5">
                <a:latin typeface="Arial"/>
                <a:cs typeface="Arial"/>
              </a:rPr>
              <a:t>Halimah Sa‘diyyah took away Prophet Muhammad</a:t>
            </a:r>
            <a:r>
              <a:rPr dirty="0" sz="1200" spc="-50">
                <a:latin typeface="Arial"/>
                <a:cs typeface="Arial"/>
              </a:rPr>
              <a:t> </a:t>
            </a:r>
            <a:r>
              <a:rPr dirty="0" sz="1200" spc="-5">
                <a:latin typeface="Arial"/>
                <a:cs typeface="Arial"/>
              </a:rPr>
              <a:t>(s.a.w).</a:t>
            </a:r>
            <a:endParaRPr sz="1200">
              <a:latin typeface="Arial"/>
              <a:cs typeface="Arial"/>
            </a:endParaRPr>
          </a:p>
          <a:p>
            <a:pPr>
              <a:lnSpc>
                <a:spcPct val="100000"/>
              </a:lnSpc>
            </a:pPr>
            <a:endParaRPr sz="1200">
              <a:latin typeface="Arial"/>
              <a:cs typeface="Arial"/>
            </a:endParaRPr>
          </a:p>
          <a:p>
            <a:pPr algn="just" marL="88900" marR="82550">
              <a:lnSpc>
                <a:spcPct val="95800"/>
              </a:lnSpc>
            </a:pPr>
            <a:r>
              <a:rPr dirty="0" sz="1200" spc="-5">
                <a:latin typeface="Arial"/>
                <a:cs typeface="Arial"/>
              </a:rPr>
              <a:t>He stayed with her </a:t>
            </a:r>
            <a:r>
              <a:rPr dirty="0" sz="1200">
                <a:latin typeface="Arial"/>
                <a:cs typeface="Arial"/>
              </a:rPr>
              <a:t>for </a:t>
            </a:r>
            <a:r>
              <a:rPr dirty="0" sz="1200" spc="-5">
                <a:latin typeface="Arial"/>
                <a:cs typeface="Arial"/>
              </a:rPr>
              <a:t>6 years but visited his mother several </a:t>
            </a:r>
            <a:r>
              <a:rPr dirty="0" sz="1200">
                <a:latin typeface="Arial"/>
                <a:cs typeface="Arial"/>
              </a:rPr>
              <a:t>times. At </a:t>
            </a:r>
            <a:r>
              <a:rPr dirty="0" sz="1200" spc="-5">
                <a:latin typeface="Arial"/>
                <a:cs typeface="Arial"/>
              </a:rPr>
              <a:t>the age of 4 </a:t>
            </a:r>
            <a:r>
              <a:rPr dirty="0" sz="1200" spc="-10">
                <a:latin typeface="Arial"/>
                <a:cs typeface="Arial"/>
              </a:rPr>
              <a:t>he  </a:t>
            </a:r>
            <a:r>
              <a:rPr dirty="0" sz="1200" spc="-5">
                <a:latin typeface="Arial"/>
                <a:cs typeface="Arial"/>
              </a:rPr>
              <a:t>returned </a:t>
            </a:r>
            <a:r>
              <a:rPr dirty="0" sz="1200">
                <a:latin typeface="Arial"/>
                <a:cs typeface="Arial"/>
              </a:rPr>
              <a:t>to </a:t>
            </a:r>
            <a:r>
              <a:rPr dirty="0" sz="1200" spc="-5">
                <a:latin typeface="Arial"/>
                <a:cs typeface="Arial"/>
              </a:rPr>
              <a:t>Macca but </a:t>
            </a:r>
            <a:r>
              <a:rPr dirty="0" sz="1200">
                <a:latin typeface="Arial"/>
                <a:cs typeface="Arial"/>
              </a:rPr>
              <a:t>then </a:t>
            </a:r>
            <a:r>
              <a:rPr dirty="0" sz="1200" spc="-5">
                <a:latin typeface="Arial"/>
                <a:cs typeface="Arial"/>
              </a:rPr>
              <a:t>he returned to Juraanah </a:t>
            </a:r>
            <a:r>
              <a:rPr dirty="0" sz="1200">
                <a:latin typeface="Arial"/>
                <a:cs typeface="Arial"/>
              </a:rPr>
              <a:t>because </a:t>
            </a:r>
            <a:r>
              <a:rPr dirty="0" sz="1200" spc="-5">
                <a:latin typeface="Arial"/>
                <a:cs typeface="Arial"/>
              </a:rPr>
              <a:t>of Drought </a:t>
            </a:r>
            <a:r>
              <a:rPr dirty="0" sz="1200">
                <a:latin typeface="Arial"/>
                <a:cs typeface="Arial"/>
              </a:rPr>
              <a:t>at </a:t>
            </a:r>
            <a:r>
              <a:rPr dirty="0" sz="1200" spc="-5">
                <a:latin typeface="Arial"/>
                <a:cs typeface="Arial"/>
              </a:rPr>
              <a:t>Macca. </a:t>
            </a:r>
            <a:r>
              <a:rPr dirty="0" sz="1200">
                <a:latin typeface="Arial"/>
                <a:cs typeface="Arial"/>
              </a:rPr>
              <a:t>At </a:t>
            </a:r>
            <a:r>
              <a:rPr dirty="0" sz="1200" spc="-5">
                <a:latin typeface="Arial"/>
                <a:cs typeface="Arial"/>
              </a:rPr>
              <a:t>the  age of </a:t>
            </a:r>
            <a:r>
              <a:rPr dirty="0" sz="1200">
                <a:latin typeface="Arial"/>
                <a:cs typeface="Arial"/>
              </a:rPr>
              <a:t>four, </a:t>
            </a:r>
            <a:r>
              <a:rPr dirty="0" sz="1200" spc="-10">
                <a:latin typeface="Arial"/>
                <a:cs typeface="Arial"/>
              </a:rPr>
              <a:t>two </a:t>
            </a:r>
            <a:r>
              <a:rPr dirty="0" sz="1200" spc="-5">
                <a:latin typeface="Arial"/>
                <a:cs typeface="Arial"/>
              </a:rPr>
              <a:t>angels came </a:t>
            </a:r>
            <a:r>
              <a:rPr dirty="0" sz="1200">
                <a:latin typeface="Arial"/>
                <a:cs typeface="Arial"/>
              </a:rPr>
              <a:t>to </a:t>
            </a:r>
            <a:r>
              <a:rPr dirty="0" sz="1200" spc="-5">
                <a:latin typeface="Arial"/>
                <a:cs typeface="Arial"/>
              </a:rPr>
              <a:t>purify his heart. </a:t>
            </a:r>
            <a:r>
              <a:rPr dirty="0" sz="1200">
                <a:latin typeface="Arial"/>
                <a:cs typeface="Arial"/>
              </a:rPr>
              <a:t>They </a:t>
            </a:r>
            <a:r>
              <a:rPr dirty="0" sz="1200" spc="-5">
                <a:latin typeface="Arial"/>
                <a:cs typeface="Arial"/>
              </a:rPr>
              <a:t>opened his heart and removed a </a:t>
            </a:r>
            <a:r>
              <a:rPr dirty="0" sz="1200">
                <a:latin typeface="Arial"/>
                <a:cs typeface="Arial"/>
              </a:rPr>
              <a:t>clot  </a:t>
            </a:r>
            <a:r>
              <a:rPr dirty="0" sz="1200" spc="-5">
                <a:latin typeface="Arial"/>
                <a:cs typeface="Arial"/>
              </a:rPr>
              <a:t>like </a:t>
            </a:r>
            <a:r>
              <a:rPr dirty="0" sz="1200">
                <a:latin typeface="Arial"/>
                <a:cs typeface="Arial"/>
              </a:rPr>
              <a:t>flesh </a:t>
            </a:r>
            <a:r>
              <a:rPr dirty="0" sz="1200" spc="5">
                <a:latin typeface="Arial"/>
                <a:cs typeface="Arial"/>
              </a:rPr>
              <a:t>for </a:t>
            </a:r>
            <a:r>
              <a:rPr dirty="0" sz="1200" spc="-5">
                <a:latin typeface="Arial"/>
                <a:cs typeface="Arial"/>
              </a:rPr>
              <a:t>protection against evil deeds and purified </a:t>
            </a:r>
            <a:r>
              <a:rPr dirty="0" sz="1200">
                <a:latin typeface="Arial"/>
                <a:cs typeface="Arial"/>
              </a:rPr>
              <a:t>the </a:t>
            </a:r>
            <a:r>
              <a:rPr dirty="0" sz="1200" spc="-5">
                <a:latin typeface="Arial"/>
                <a:cs typeface="Arial"/>
              </a:rPr>
              <a:t>heart with water </a:t>
            </a:r>
            <a:r>
              <a:rPr dirty="0" sz="1200">
                <a:latin typeface="Arial"/>
                <a:cs typeface="Arial"/>
              </a:rPr>
              <a:t>Zamzam. It </a:t>
            </a:r>
            <a:r>
              <a:rPr dirty="0" sz="1200" spc="-10">
                <a:latin typeface="Arial"/>
                <a:cs typeface="Arial"/>
              </a:rPr>
              <a:t>was </a:t>
            </a:r>
            <a:r>
              <a:rPr dirty="0" sz="1200" spc="-5">
                <a:latin typeface="Arial"/>
                <a:cs typeface="Arial"/>
              </a:rPr>
              <a:t>a  custom </a:t>
            </a:r>
            <a:r>
              <a:rPr dirty="0" sz="1200">
                <a:latin typeface="Arial"/>
                <a:cs typeface="Arial"/>
              </a:rPr>
              <a:t>to </a:t>
            </a:r>
            <a:r>
              <a:rPr dirty="0" sz="1200" spc="-10">
                <a:latin typeface="Arial"/>
                <a:cs typeface="Arial"/>
              </a:rPr>
              <a:t>send </a:t>
            </a:r>
            <a:r>
              <a:rPr dirty="0" sz="1200" spc="-5">
                <a:latin typeface="Arial"/>
                <a:cs typeface="Arial"/>
              </a:rPr>
              <a:t>baby boys </a:t>
            </a:r>
            <a:r>
              <a:rPr dirty="0" sz="1200">
                <a:latin typeface="Arial"/>
                <a:cs typeface="Arial"/>
              </a:rPr>
              <a:t>to the desert. The </a:t>
            </a:r>
            <a:r>
              <a:rPr dirty="0" sz="1200" spc="-5">
                <a:latin typeface="Arial"/>
                <a:cs typeface="Arial"/>
              </a:rPr>
              <a:t>importance and significance of </a:t>
            </a:r>
            <a:r>
              <a:rPr dirty="0" sz="1200">
                <a:latin typeface="Arial"/>
                <a:cs typeface="Arial"/>
              </a:rPr>
              <a:t>this </a:t>
            </a:r>
            <a:r>
              <a:rPr dirty="0" sz="1200" spc="-5">
                <a:latin typeface="Arial"/>
                <a:cs typeface="Arial"/>
              </a:rPr>
              <a:t>custom </a:t>
            </a:r>
            <a:r>
              <a:rPr dirty="0" sz="1200" spc="-10">
                <a:latin typeface="Arial"/>
                <a:cs typeface="Arial"/>
              </a:rPr>
              <a:t>was  </a:t>
            </a:r>
            <a:r>
              <a:rPr dirty="0" sz="1200">
                <a:latin typeface="Arial"/>
                <a:cs typeface="Arial"/>
              </a:rPr>
              <a:t>to learn </a:t>
            </a:r>
            <a:r>
              <a:rPr dirty="0" sz="1200" spc="-5">
                <a:latin typeface="Arial"/>
                <a:cs typeface="Arial"/>
              </a:rPr>
              <a:t>the best </a:t>
            </a:r>
            <a:r>
              <a:rPr dirty="0" sz="1200" spc="-10">
                <a:latin typeface="Arial"/>
                <a:cs typeface="Arial"/>
              </a:rPr>
              <a:t>Arabic </a:t>
            </a:r>
            <a:r>
              <a:rPr dirty="0" sz="1200" spc="-5">
                <a:latin typeface="Arial"/>
                <a:cs typeface="Arial"/>
              </a:rPr>
              <a:t>dialect, to become more robust through the tough atmosphere of the  </a:t>
            </a:r>
            <a:r>
              <a:rPr dirty="0" sz="1200">
                <a:latin typeface="Arial"/>
                <a:cs typeface="Arial"/>
              </a:rPr>
              <a:t>desert, to </a:t>
            </a:r>
            <a:r>
              <a:rPr dirty="0" sz="1200" spc="-5">
                <a:latin typeface="Arial"/>
                <a:cs typeface="Arial"/>
              </a:rPr>
              <a:t>lead a </a:t>
            </a:r>
            <a:r>
              <a:rPr dirty="0" sz="1200" spc="-10">
                <a:latin typeface="Arial"/>
                <a:cs typeface="Arial"/>
              </a:rPr>
              <a:t>life </a:t>
            </a:r>
            <a:r>
              <a:rPr dirty="0" sz="1200" spc="-5">
                <a:latin typeface="Arial"/>
                <a:cs typeface="Arial"/>
              </a:rPr>
              <a:t>of shepherd, to get accustomed </a:t>
            </a:r>
            <a:r>
              <a:rPr dirty="0" sz="1200">
                <a:latin typeface="Arial"/>
                <a:cs typeface="Arial"/>
              </a:rPr>
              <a:t>to </a:t>
            </a:r>
            <a:r>
              <a:rPr dirty="0" sz="1200" spc="-5">
                <a:latin typeface="Arial"/>
                <a:cs typeface="Arial"/>
              </a:rPr>
              <a:t>the life of hardship and </a:t>
            </a:r>
            <a:r>
              <a:rPr dirty="0" sz="1200">
                <a:latin typeface="Arial"/>
                <a:cs typeface="Arial"/>
              </a:rPr>
              <a:t>to </a:t>
            </a:r>
            <a:r>
              <a:rPr dirty="0" sz="1200" spc="-5">
                <a:latin typeface="Arial"/>
                <a:cs typeface="Arial"/>
              </a:rPr>
              <a:t>get  acquainted to the </a:t>
            </a:r>
            <a:r>
              <a:rPr dirty="0" sz="1200" spc="-10">
                <a:latin typeface="Arial"/>
                <a:cs typeface="Arial"/>
              </a:rPr>
              <a:t>life </a:t>
            </a:r>
            <a:r>
              <a:rPr dirty="0" sz="1200" spc="-5">
                <a:latin typeface="Arial"/>
                <a:cs typeface="Arial"/>
              </a:rPr>
              <a:t>of tribe. At the age of 6 returned </a:t>
            </a:r>
            <a:r>
              <a:rPr dirty="0" sz="1200">
                <a:latin typeface="Arial"/>
                <a:cs typeface="Arial"/>
              </a:rPr>
              <a:t>to </a:t>
            </a:r>
            <a:r>
              <a:rPr dirty="0" sz="1200" spc="-5">
                <a:latin typeface="Arial"/>
                <a:cs typeface="Arial"/>
              </a:rPr>
              <a:t>Makka. His mother </a:t>
            </a:r>
            <a:r>
              <a:rPr dirty="0" sz="1200" spc="-10">
                <a:latin typeface="Arial"/>
                <a:cs typeface="Arial"/>
              </a:rPr>
              <a:t>was </a:t>
            </a:r>
            <a:r>
              <a:rPr dirty="0" sz="1200" spc="-5">
                <a:latin typeface="Arial"/>
                <a:cs typeface="Arial"/>
              </a:rPr>
              <a:t>so much  impressed by him that </a:t>
            </a:r>
            <a:r>
              <a:rPr dirty="0" sz="1200">
                <a:latin typeface="Arial"/>
                <a:cs typeface="Arial"/>
              </a:rPr>
              <a:t>the </a:t>
            </a:r>
            <a:r>
              <a:rPr dirty="0" sz="1200" spc="-5">
                <a:latin typeface="Arial"/>
                <a:cs typeface="Arial"/>
              </a:rPr>
              <a:t>mother decided to </a:t>
            </a:r>
            <a:r>
              <a:rPr dirty="0" sz="1200" spc="-10">
                <a:latin typeface="Arial"/>
                <a:cs typeface="Arial"/>
              </a:rPr>
              <a:t>move </a:t>
            </a:r>
            <a:r>
              <a:rPr dirty="0" sz="1200">
                <a:latin typeface="Arial"/>
                <a:cs typeface="Arial"/>
              </a:rPr>
              <a:t>to </a:t>
            </a:r>
            <a:r>
              <a:rPr dirty="0" sz="1200" spc="-5">
                <a:latin typeface="Arial"/>
                <a:cs typeface="Arial"/>
              </a:rPr>
              <a:t>Yathrib (Madina) in the company of  Umm Aiman </a:t>
            </a:r>
            <a:r>
              <a:rPr dirty="0" sz="1200">
                <a:latin typeface="Arial"/>
                <a:cs typeface="Arial"/>
              </a:rPr>
              <a:t>for 1 </a:t>
            </a:r>
            <a:r>
              <a:rPr dirty="0" sz="1200" spc="-5">
                <a:latin typeface="Arial"/>
                <a:cs typeface="Arial"/>
              </a:rPr>
              <a:t>month </a:t>
            </a:r>
            <a:r>
              <a:rPr dirty="0" sz="1200">
                <a:latin typeface="Arial"/>
                <a:cs typeface="Arial"/>
              </a:rPr>
              <a:t>to </a:t>
            </a:r>
            <a:r>
              <a:rPr dirty="0" sz="1200" spc="-10">
                <a:latin typeface="Arial"/>
                <a:cs typeface="Arial"/>
              </a:rPr>
              <a:t>visit </a:t>
            </a:r>
            <a:r>
              <a:rPr dirty="0" sz="1200" spc="-5">
                <a:latin typeface="Arial"/>
                <a:cs typeface="Arial"/>
              </a:rPr>
              <a:t>his mother‘s family </a:t>
            </a:r>
            <a:r>
              <a:rPr dirty="0" sz="1200">
                <a:latin typeface="Arial"/>
                <a:cs typeface="Arial"/>
              </a:rPr>
              <a:t>and </a:t>
            </a:r>
            <a:r>
              <a:rPr dirty="0" sz="1200" spc="-5">
                <a:latin typeface="Arial"/>
                <a:cs typeface="Arial"/>
              </a:rPr>
              <a:t>the grave </a:t>
            </a:r>
            <a:r>
              <a:rPr dirty="0" sz="1200">
                <a:latin typeface="Arial"/>
                <a:cs typeface="Arial"/>
              </a:rPr>
              <a:t>of his father. At </a:t>
            </a:r>
            <a:r>
              <a:rPr dirty="0" sz="1200" spc="-5">
                <a:latin typeface="Arial"/>
                <a:cs typeface="Arial"/>
              </a:rPr>
              <a:t>Yathrib the  prophet (s.a.w) </a:t>
            </a:r>
            <a:r>
              <a:rPr dirty="0" sz="1200">
                <a:latin typeface="Arial"/>
                <a:cs typeface="Arial"/>
              </a:rPr>
              <a:t>learned </a:t>
            </a:r>
            <a:r>
              <a:rPr dirty="0" sz="1200" spc="-5">
                <a:latin typeface="Arial"/>
                <a:cs typeface="Arial"/>
              </a:rPr>
              <a:t>how </a:t>
            </a:r>
            <a:r>
              <a:rPr dirty="0" sz="1200">
                <a:latin typeface="Arial"/>
                <a:cs typeface="Arial"/>
              </a:rPr>
              <a:t>to </a:t>
            </a:r>
            <a:r>
              <a:rPr dirty="0" sz="1200" spc="-5">
                <a:latin typeface="Arial"/>
                <a:cs typeface="Arial"/>
              </a:rPr>
              <a:t>ride horses, how </a:t>
            </a:r>
            <a:r>
              <a:rPr dirty="0" sz="1200">
                <a:latin typeface="Arial"/>
                <a:cs typeface="Arial"/>
              </a:rPr>
              <a:t>to </a:t>
            </a:r>
            <a:r>
              <a:rPr dirty="0" sz="1200" spc="-5">
                <a:latin typeface="Arial"/>
                <a:cs typeface="Arial"/>
              </a:rPr>
              <a:t>swim in a pond </a:t>
            </a:r>
            <a:r>
              <a:rPr dirty="0" sz="1200">
                <a:latin typeface="Arial"/>
                <a:cs typeface="Arial"/>
              </a:rPr>
              <a:t>of </a:t>
            </a:r>
            <a:r>
              <a:rPr dirty="0" sz="1200" spc="-5">
                <a:latin typeface="Arial"/>
                <a:cs typeface="Arial"/>
              </a:rPr>
              <a:t>Yathrib and how </a:t>
            </a:r>
            <a:r>
              <a:rPr dirty="0" sz="1200">
                <a:latin typeface="Arial"/>
                <a:cs typeface="Arial"/>
              </a:rPr>
              <a:t>to </a:t>
            </a:r>
            <a:r>
              <a:rPr dirty="0" sz="1200" spc="-10">
                <a:latin typeface="Arial"/>
                <a:cs typeface="Arial"/>
              </a:rPr>
              <a:t>use  </a:t>
            </a:r>
            <a:r>
              <a:rPr dirty="0" sz="1200" spc="-5">
                <a:latin typeface="Arial"/>
                <a:cs typeface="Arial"/>
              </a:rPr>
              <a:t>bows and arrows. </a:t>
            </a:r>
            <a:r>
              <a:rPr dirty="0" sz="1200">
                <a:latin typeface="Arial"/>
                <a:cs typeface="Arial"/>
              </a:rPr>
              <a:t>On </a:t>
            </a:r>
            <a:r>
              <a:rPr dirty="0" sz="1200" spc="-5">
                <a:latin typeface="Arial"/>
                <a:cs typeface="Arial"/>
              </a:rPr>
              <a:t>the </a:t>
            </a:r>
            <a:r>
              <a:rPr dirty="0" sz="1200" spc="-10">
                <a:latin typeface="Arial"/>
                <a:cs typeface="Arial"/>
              </a:rPr>
              <a:t>way </a:t>
            </a:r>
            <a:r>
              <a:rPr dirty="0" sz="1200" spc="-5">
                <a:latin typeface="Arial"/>
                <a:cs typeface="Arial"/>
              </a:rPr>
              <a:t>back his mother died at al Abwa. Umm Aiman returned </a:t>
            </a:r>
            <a:r>
              <a:rPr dirty="0" sz="1200" spc="-10">
                <a:latin typeface="Arial"/>
                <a:cs typeface="Arial"/>
              </a:rPr>
              <a:t>him </a:t>
            </a:r>
            <a:r>
              <a:rPr dirty="0" sz="1200">
                <a:latin typeface="Arial"/>
                <a:cs typeface="Arial"/>
              </a:rPr>
              <a:t>to  </a:t>
            </a:r>
            <a:r>
              <a:rPr dirty="0" sz="1200" spc="-5">
                <a:latin typeface="Arial"/>
                <a:cs typeface="Arial"/>
              </a:rPr>
              <a:t>his grandfather.</a:t>
            </a:r>
            <a:endParaRPr sz="1200">
              <a:latin typeface="Arial"/>
              <a:cs typeface="Arial"/>
            </a:endParaRPr>
          </a:p>
          <a:p>
            <a:pPr>
              <a:lnSpc>
                <a:spcPct val="100000"/>
              </a:lnSpc>
            </a:pPr>
            <a:endParaRPr sz="1150">
              <a:latin typeface="Arial"/>
              <a:cs typeface="Arial"/>
            </a:endParaRPr>
          </a:p>
          <a:p>
            <a:pPr marL="88900">
              <a:lnSpc>
                <a:spcPct val="100000"/>
              </a:lnSpc>
            </a:pPr>
            <a:r>
              <a:rPr dirty="0" u="heavy" sz="1200" spc="-5" b="1" i="1">
                <a:uFill>
                  <a:solidFill>
                    <a:srgbClr val="000000"/>
                  </a:solidFill>
                </a:uFill>
                <a:latin typeface="Arial"/>
                <a:cs typeface="Arial"/>
              </a:rPr>
              <a:t>Al </a:t>
            </a:r>
            <a:r>
              <a:rPr dirty="0" u="heavy" sz="1200" b="1" i="1">
                <a:uFill>
                  <a:solidFill>
                    <a:srgbClr val="000000"/>
                  </a:solidFill>
                </a:uFill>
                <a:latin typeface="Arial"/>
                <a:cs typeface="Arial"/>
              </a:rPr>
              <a:t>Abwa Till </a:t>
            </a:r>
            <a:r>
              <a:rPr dirty="0" u="heavy" sz="1200" spc="-10" b="1" i="1">
                <a:uFill>
                  <a:solidFill>
                    <a:srgbClr val="000000"/>
                  </a:solidFill>
                </a:uFill>
                <a:latin typeface="Arial"/>
                <a:cs typeface="Arial"/>
              </a:rPr>
              <a:t>Wahy</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Events</a:t>
            </a:r>
            <a:endParaRPr sz="1200">
              <a:latin typeface="Arial"/>
              <a:cs typeface="Arial"/>
            </a:endParaRPr>
          </a:p>
          <a:p>
            <a:pPr>
              <a:lnSpc>
                <a:spcPct val="100000"/>
              </a:lnSpc>
              <a:spcBef>
                <a:spcPts val="35"/>
              </a:spcBef>
            </a:pPr>
            <a:endParaRPr sz="1200">
              <a:latin typeface="Arial"/>
              <a:cs typeface="Arial"/>
            </a:endParaRPr>
          </a:p>
          <a:p>
            <a:pPr algn="just" marL="88900" marR="81280">
              <a:lnSpc>
                <a:spcPts val="1380"/>
              </a:lnSpc>
              <a:spcBef>
                <a:spcPts val="5"/>
              </a:spcBef>
            </a:pPr>
            <a:r>
              <a:rPr dirty="0" sz="1200">
                <a:latin typeface="Arial"/>
                <a:cs typeface="Arial"/>
              </a:rPr>
              <a:t>When the </a:t>
            </a:r>
            <a:r>
              <a:rPr dirty="0" sz="1200" spc="-5">
                <a:latin typeface="Arial"/>
                <a:cs typeface="Arial"/>
              </a:rPr>
              <a:t>prophet (s.a.w) </a:t>
            </a:r>
            <a:r>
              <a:rPr dirty="0" sz="1200" spc="-10">
                <a:latin typeface="Arial"/>
                <a:cs typeface="Arial"/>
              </a:rPr>
              <a:t>was </a:t>
            </a:r>
            <a:r>
              <a:rPr dirty="0" sz="1200">
                <a:latin typeface="Arial"/>
                <a:cs typeface="Arial"/>
              </a:rPr>
              <a:t>returned to </a:t>
            </a:r>
            <a:r>
              <a:rPr dirty="0" sz="1200" spc="-5">
                <a:latin typeface="Arial"/>
                <a:cs typeface="Arial"/>
              </a:rPr>
              <a:t>Macca, Abdul Muttalib (his grandfather) </a:t>
            </a:r>
            <a:r>
              <a:rPr dirty="0" sz="1200">
                <a:latin typeface="Arial"/>
                <a:cs typeface="Arial"/>
              </a:rPr>
              <a:t>took </a:t>
            </a:r>
            <a:r>
              <a:rPr dirty="0" sz="1200" spc="-5">
                <a:latin typeface="Arial"/>
                <a:cs typeface="Arial"/>
              </a:rPr>
              <a:t>care  of him from the year 576 </a:t>
            </a:r>
            <a:r>
              <a:rPr dirty="0" sz="1200">
                <a:latin typeface="Arial"/>
                <a:cs typeface="Arial"/>
              </a:rPr>
              <a:t>– </a:t>
            </a:r>
            <a:r>
              <a:rPr dirty="0" sz="1200" spc="-5">
                <a:latin typeface="Arial"/>
                <a:cs typeface="Arial"/>
              </a:rPr>
              <a:t>578 </a:t>
            </a:r>
            <a:r>
              <a:rPr dirty="0" sz="1200">
                <a:latin typeface="Arial"/>
                <a:cs typeface="Arial"/>
              </a:rPr>
              <a:t>/ </a:t>
            </a:r>
            <a:r>
              <a:rPr dirty="0" sz="1200" spc="-5">
                <a:latin typeface="Arial"/>
                <a:cs typeface="Arial"/>
              </a:rPr>
              <a:t>579 </a:t>
            </a:r>
            <a:r>
              <a:rPr dirty="0" sz="1200">
                <a:latin typeface="Arial"/>
                <a:cs typeface="Arial"/>
              </a:rPr>
              <a:t>for </a:t>
            </a:r>
            <a:r>
              <a:rPr dirty="0" sz="1200" spc="-5">
                <a:latin typeface="Arial"/>
                <a:cs typeface="Arial"/>
              </a:rPr>
              <a:t>2 </a:t>
            </a:r>
            <a:r>
              <a:rPr dirty="0" sz="1200">
                <a:latin typeface="Arial"/>
                <a:cs typeface="Arial"/>
              </a:rPr>
              <a:t>to </a:t>
            </a:r>
            <a:r>
              <a:rPr dirty="0" sz="1200" spc="-5">
                <a:latin typeface="Arial"/>
                <a:cs typeface="Arial"/>
              </a:rPr>
              <a:t>3 years. Abdul Muttalib </a:t>
            </a:r>
            <a:r>
              <a:rPr dirty="0" sz="1200">
                <a:latin typeface="Arial"/>
                <a:cs typeface="Arial"/>
              </a:rPr>
              <a:t>took </a:t>
            </a:r>
            <a:r>
              <a:rPr dirty="0" sz="1200" spc="-5">
                <a:latin typeface="Arial"/>
                <a:cs typeface="Arial"/>
              </a:rPr>
              <a:t>charge </a:t>
            </a:r>
            <a:r>
              <a:rPr dirty="0" sz="1200">
                <a:latin typeface="Arial"/>
                <a:cs typeface="Arial"/>
              </a:rPr>
              <a:t>of  </a:t>
            </a:r>
            <a:r>
              <a:rPr dirty="0" sz="1200" spc="-5">
                <a:latin typeface="Arial"/>
                <a:cs typeface="Arial"/>
              </a:rPr>
              <a:t>Muhammad (s.a.w) and considered him as </a:t>
            </a:r>
            <a:r>
              <a:rPr dirty="0" sz="1200" spc="-10">
                <a:latin typeface="Arial"/>
                <a:cs typeface="Arial"/>
              </a:rPr>
              <a:t>his </a:t>
            </a:r>
            <a:r>
              <a:rPr dirty="0" sz="1200">
                <a:latin typeface="Arial"/>
                <a:cs typeface="Arial"/>
              </a:rPr>
              <a:t>son. </a:t>
            </a:r>
            <a:r>
              <a:rPr dirty="0" sz="1200" spc="-5">
                <a:latin typeface="Arial"/>
                <a:cs typeface="Arial"/>
              </a:rPr>
              <a:t>He never </a:t>
            </a:r>
            <a:r>
              <a:rPr dirty="0" sz="1200">
                <a:latin typeface="Arial"/>
                <a:cs typeface="Arial"/>
              </a:rPr>
              <a:t>felt </a:t>
            </a:r>
            <a:r>
              <a:rPr dirty="0" sz="1200" spc="-5">
                <a:latin typeface="Arial"/>
                <a:cs typeface="Arial"/>
              </a:rPr>
              <a:t>to be </a:t>
            </a:r>
            <a:r>
              <a:rPr dirty="0" sz="1200" spc="-10">
                <a:latin typeface="Arial"/>
                <a:cs typeface="Arial"/>
              </a:rPr>
              <a:t>an </a:t>
            </a:r>
            <a:r>
              <a:rPr dirty="0" sz="1200" spc="-5">
                <a:latin typeface="Arial"/>
                <a:cs typeface="Arial"/>
              </a:rPr>
              <a:t>orphan and </a:t>
            </a:r>
            <a:r>
              <a:rPr dirty="0" sz="1200" spc="-10">
                <a:latin typeface="Arial"/>
                <a:cs typeface="Arial"/>
              </a:rPr>
              <a:t>never  </a:t>
            </a:r>
            <a:r>
              <a:rPr dirty="0" sz="1200" spc="-5">
                <a:latin typeface="Arial"/>
                <a:cs typeface="Arial"/>
              </a:rPr>
              <a:t>had </a:t>
            </a:r>
            <a:r>
              <a:rPr dirty="0" sz="1200">
                <a:latin typeface="Arial"/>
                <a:cs typeface="Arial"/>
              </a:rPr>
              <a:t>to </a:t>
            </a:r>
            <a:r>
              <a:rPr dirty="0" sz="1200" spc="-5">
                <a:latin typeface="Arial"/>
                <a:cs typeface="Arial"/>
              </a:rPr>
              <a:t>work. Before Abdul </a:t>
            </a:r>
            <a:r>
              <a:rPr dirty="0" sz="1200">
                <a:latin typeface="Arial"/>
                <a:cs typeface="Arial"/>
              </a:rPr>
              <a:t>Muttalib </a:t>
            </a:r>
            <a:r>
              <a:rPr dirty="0" sz="1200" spc="-5">
                <a:latin typeface="Arial"/>
                <a:cs typeface="Arial"/>
              </a:rPr>
              <a:t>died </a:t>
            </a:r>
            <a:r>
              <a:rPr dirty="0" sz="1200" spc="-10">
                <a:latin typeface="Arial"/>
                <a:cs typeface="Arial"/>
              </a:rPr>
              <a:t>he </a:t>
            </a:r>
            <a:r>
              <a:rPr dirty="0" sz="1200" spc="-5">
                <a:latin typeface="Arial"/>
                <a:cs typeface="Arial"/>
              </a:rPr>
              <a:t>entrusted Muhammad (s.a.w) </a:t>
            </a:r>
            <a:r>
              <a:rPr dirty="0" sz="1200">
                <a:latin typeface="Arial"/>
                <a:cs typeface="Arial"/>
              </a:rPr>
              <a:t>to </a:t>
            </a:r>
            <a:r>
              <a:rPr dirty="0" sz="1200" spc="-5">
                <a:latin typeface="Arial"/>
                <a:cs typeface="Arial"/>
              </a:rPr>
              <a:t>his </a:t>
            </a:r>
            <a:r>
              <a:rPr dirty="0" sz="1200" spc="-10">
                <a:latin typeface="Arial"/>
                <a:cs typeface="Arial"/>
              </a:rPr>
              <a:t>son </a:t>
            </a:r>
            <a:r>
              <a:rPr dirty="0" sz="1200" spc="-5">
                <a:latin typeface="Arial"/>
                <a:cs typeface="Arial"/>
              </a:rPr>
              <a:t>Abu  Twalib </a:t>
            </a:r>
            <a:r>
              <a:rPr dirty="0" sz="1200" spc="-10">
                <a:latin typeface="Arial"/>
                <a:cs typeface="Arial"/>
              </a:rPr>
              <a:t>who </a:t>
            </a:r>
            <a:r>
              <a:rPr dirty="0" sz="1200">
                <a:latin typeface="Arial"/>
                <a:cs typeface="Arial"/>
              </a:rPr>
              <a:t>then </a:t>
            </a:r>
            <a:r>
              <a:rPr dirty="0" sz="1200" spc="-5">
                <a:latin typeface="Arial"/>
                <a:cs typeface="Arial"/>
              </a:rPr>
              <a:t>took over </a:t>
            </a:r>
            <a:r>
              <a:rPr dirty="0" sz="1200">
                <a:latin typeface="Arial"/>
                <a:cs typeface="Arial"/>
              </a:rPr>
              <a:t>the </a:t>
            </a:r>
            <a:r>
              <a:rPr dirty="0" sz="1200" spc="-5">
                <a:latin typeface="Arial"/>
                <a:cs typeface="Arial"/>
              </a:rPr>
              <a:t>responsibility. He </a:t>
            </a:r>
            <a:r>
              <a:rPr dirty="0" sz="1200" spc="-10">
                <a:latin typeface="Arial"/>
                <a:cs typeface="Arial"/>
              </a:rPr>
              <a:t>was </a:t>
            </a:r>
            <a:r>
              <a:rPr dirty="0" sz="1200" spc="-5">
                <a:latin typeface="Arial"/>
                <a:cs typeface="Arial"/>
              </a:rPr>
              <a:t>not rich and </a:t>
            </a:r>
            <a:r>
              <a:rPr dirty="0" sz="1200" spc="-10">
                <a:latin typeface="Arial"/>
                <a:cs typeface="Arial"/>
              </a:rPr>
              <a:t>he </a:t>
            </a:r>
            <a:r>
              <a:rPr dirty="0" sz="1200" spc="-5">
                <a:latin typeface="Arial"/>
                <a:cs typeface="Arial"/>
              </a:rPr>
              <a:t>had to work. </a:t>
            </a:r>
            <a:r>
              <a:rPr dirty="0" sz="1200">
                <a:latin typeface="Arial"/>
                <a:cs typeface="Arial"/>
              </a:rPr>
              <a:t>The  </a:t>
            </a:r>
            <a:r>
              <a:rPr dirty="0" sz="1200" spc="-5">
                <a:latin typeface="Arial"/>
                <a:cs typeface="Arial"/>
              </a:rPr>
              <a:t>prophet helped </a:t>
            </a:r>
            <a:r>
              <a:rPr dirty="0" sz="1200" spc="-10">
                <a:latin typeface="Arial"/>
                <a:cs typeface="Arial"/>
              </a:rPr>
              <a:t>him </a:t>
            </a:r>
            <a:r>
              <a:rPr dirty="0" sz="1200" spc="-5">
                <a:latin typeface="Arial"/>
                <a:cs typeface="Arial"/>
              </a:rPr>
              <a:t>in his business. From the year 580 to 590 there </a:t>
            </a:r>
            <a:r>
              <a:rPr dirty="0" sz="1200" spc="-10">
                <a:latin typeface="Arial"/>
                <a:cs typeface="Arial"/>
              </a:rPr>
              <a:t>was </a:t>
            </a:r>
            <a:r>
              <a:rPr dirty="0" sz="1200" spc="-5">
                <a:latin typeface="Arial"/>
                <a:cs typeface="Arial"/>
              </a:rPr>
              <a:t>a </a:t>
            </a:r>
            <a:r>
              <a:rPr dirty="0" sz="1200" spc="-10">
                <a:latin typeface="Arial"/>
                <a:cs typeface="Arial"/>
              </a:rPr>
              <a:t>war </a:t>
            </a:r>
            <a:r>
              <a:rPr dirty="0" sz="1200" spc="-5">
                <a:latin typeface="Arial"/>
                <a:cs typeface="Arial"/>
              </a:rPr>
              <a:t>known as  Harbul Fijar (Sacrilegious) (Quraish v/s </a:t>
            </a:r>
            <a:r>
              <a:rPr dirty="0" sz="1200" spc="-10">
                <a:latin typeface="Arial"/>
                <a:cs typeface="Arial"/>
              </a:rPr>
              <a:t>Banu </a:t>
            </a:r>
            <a:r>
              <a:rPr dirty="0" sz="1200" spc="-5">
                <a:latin typeface="Arial"/>
                <a:cs typeface="Arial"/>
              </a:rPr>
              <a:t>Hawazin). Prophet Muhammad (s.a.w) helped  his uncle in bringing </a:t>
            </a:r>
            <a:r>
              <a:rPr dirty="0" sz="1200">
                <a:latin typeface="Arial"/>
                <a:cs typeface="Arial"/>
              </a:rPr>
              <a:t>water, </a:t>
            </a:r>
            <a:r>
              <a:rPr dirty="0" sz="1200" spc="-5">
                <a:latin typeface="Arial"/>
                <a:cs typeface="Arial"/>
              </a:rPr>
              <a:t>food and arrows. He helped in healing the wounded. At </a:t>
            </a:r>
            <a:r>
              <a:rPr dirty="0" sz="1200">
                <a:latin typeface="Arial"/>
                <a:cs typeface="Arial"/>
              </a:rPr>
              <a:t>the </a:t>
            </a:r>
            <a:r>
              <a:rPr dirty="0" sz="1200" spc="-5">
                <a:latin typeface="Arial"/>
                <a:cs typeface="Arial"/>
              </a:rPr>
              <a:t>age of  12, he went </a:t>
            </a:r>
            <a:r>
              <a:rPr dirty="0" sz="1200">
                <a:latin typeface="Arial"/>
                <a:cs typeface="Arial"/>
              </a:rPr>
              <a:t>to </a:t>
            </a:r>
            <a:r>
              <a:rPr dirty="0" sz="1200" spc="-10">
                <a:latin typeface="Arial"/>
                <a:cs typeface="Arial"/>
              </a:rPr>
              <a:t>Syria </a:t>
            </a:r>
            <a:r>
              <a:rPr dirty="0" sz="1200" spc="-5">
                <a:latin typeface="Arial"/>
                <a:cs typeface="Arial"/>
              </a:rPr>
              <a:t>with Abu Twalib. </a:t>
            </a:r>
            <a:r>
              <a:rPr dirty="0" sz="1200">
                <a:latin typeface="Arial"/>
                <a:cs typeface="Arial"/>
              </a:rPr>
              <a:t>The </a:t>
            </a:r>
            <a:r>
              <a:rPr dirty="0" sz="1200" spc="-5">
                <a:latin typeface="Arial"/>
                <a:cs typeface="Arial"/>
              </a:rPr>
              <a:t>caravan had an unusual invitation from Bahira </a:t>
            </a:r>
            <a:r>
              <a:rPr dirty="0" sz="1200">
                <a:latin typeface="Arial"/>
                <a:cs typeface="Arial"/>
              </a:rPr>
              <a:t>–  the</a:t>
            </a:r>
            <a:r>
              <a:rPr dirty="0" sz="1200" spc="90">
                <a:latin typeface="Arial"/>
                <a:cs typeface="Arial"/>
              </a:rPr>
              <a:t> </a:t>
            </a:r>
            <a:r>
              <a:rPr dirty="0" sz="1200" spc="-5">
                <a:latin typeface="Arial"/>
                <a:cs typeface="Arial"/>
              </a:rPr>
              <a:t>monk</a:t>
            </a:r>
            <a:r>
              <a:rPr dirty="0" sz="1200" spc="90">
                <a:latin typeface="Arial"/>
                <a:cs typeface="Arial"/>
              </a:rPr>
              <a:t> </a:t>
            </a:r>
            <a:r>
              <a:rPr dirty="0" sz="1200" spc="-5">
                <a:latin typeface="Arial"/>
                <a:cs typeface="Arial"/>
              </a:rPr>
              <a:t>of</a:t>
            </a:r>
            <a:r>
              <a:rPr dirty="0" sz="1200" spc="105">
                <a:latin typeface="Arial"/>
                <a:cs typeface="Arial"/>
              </a:rPr>
              <a:t> </a:t>
            </a:r>
            <a:r>
              <a:rPr dirty="0" sz="1200" spc="-5">
                <a:latin typeface="Arial"/>
                <a:cs typeface="Arial"/>
              </a:rPr>
              <a:t>Syria.</a:t>
            </a:r>
            <a:r>
              <a:rPr dirty="0" sz="1200" spc="100">
                <a:latin typeface="Arial"/>
                <a:cs typeface="Arial"/>
              </a:rPr>
              <a:t> </a:t>
            </a:r>
            <a:r>
              <a:rPr dirty="0" sz="1200" spc="-5">
                <a:latin typeface="Arial"/>
                <a:cs typeface="Arial"/>
              </a:rPr>
              <a:t>He</a:t>
            </a:r>
            <a:r>
              <a:rPr dirty="0" sz="1200" spc="105">
                <a:latin typeface="Arial"/>
                <a:cs typeface="Arial"/>
              </a:rPr>
              <a:t> </a:t>
            </a:r>
            <a:r>
              <a:rPr dirty="0" sz="1200" spc="-5">
                <a:latin typeface="Arial"/>
                <a:cs typeface="Arial"/>
              </a:rPr>
              <a:t>wanted</a:t>
            </a:r>
            <a:r>
              <a:rPr dirty="0" sz="1200" spc="90">
                <a:latin typeface="Arial"/>
                <a:cs typeface="Arial"/>
              </a:rPr>
              <a:t> </a:t>
            </a:r>
            <a:r>
              <a:rPr dirty="0" sz="1200" spc="-5">
                <a:latin typeface="Arial"/>
                <a:cs typeface="Arial"/>
              </a:rPr>
              <a:t>all</a:t>
            </a:r>
            <a:r>
              <a:rPr dirty="0" sz="1200" spc="95">
                <a:latin typeface="Arial"/>
                <a:cs typeface="Arial"/>
              </a:rPr>
              <a:t> </a:t>
            </a:r>
            <a:r>
              <a:rPr dirty="0" sz="1200" spc="-5">
                <a:latin typeface="Arial"/>
                <a:cs typeface="Arial"/>
              </a:rPr>
              <a:t>travellers</a:t>
            </a:r>
            <a:r>
              <a:rPr dirty="0" sz="1200" spc="100">
                <a:latin typeface="Arial"/>
                <a:cs typeface="Arial"/>
              </a:rPr>
              <a:t> </a:t>
            </a:r>
            <a:r>
              <a:rPr dirty="0" sz="1200" spc="-5">
                <a:latin typeface="Arial"/>
                <a:cs typeface="Arial"/>
              </a:rPr>
              <a:t>of</a:t>
            </a:r>
            <a:r>
              <a:rPr dirty="0" sz="1200" spc="114">
                <a:latin typeface="Arial"/>
                <a:cs typeface="Arial"/>
              </a:rPr>
              <a:t> </a:t>
            </a:r>
            <a:r>
              <a:rPr dirty="0" sz="1200" spc="-5">
                <a:latin typeface="Arial"/>
                <a:cs typeface="Arial"/>
              </a:rPr>
              <a:t>his</a:t>
            </a:r>
            <a:r>
              <a:rPr dirty="0" sz="1200" spc="90">
                <a:latin typeface="Arial"/>
                <a:cs typeface="Arial"/>
              </a:rPr>
              <a:t> </a:t>
            </a:r>
            <a:r>
              <a:rPr dirty="0" sz="1200" spc="-5">
                <a:latin typeface="Arial"/>
                <a:cs typeface="Arial"/>
              </a:rPr>
              <a:t>caravan</a:t>
            </a:r>
            <a:r>
              <a:rPr dirty="0" sz="1200" spc="105">
                <a:latin typeface="Arial"/>
                <a:cs typeface="Arial"/>
              </a:rPr>
              <a:t> </a:t>
            </a:r>
            <a:r>
              <a:rPr dirty="0" sz="1200" spc="-5">
                <a:latin typeface="Arial"/>
                <a:cs typeface="Arial"/>
              </a:rPr>
              <a:t>to</a:t>
            </a:r>
            <a:r>
              <a:rPr dirty="0" sz="1200" spc="95">
                <a:latin typeface="Arial"/>
                <a:cs typeface="Arial"/>
              </a:rPr>
              <a:t> </a:t>
            </a:r>
            <a:r>
              <a:rPr dirty="0" sz="1200" spc="-5">
                <a:latin typeface="Arial"/>
                <a:cs typeface="Arial"/>
              </a:rPr>
              <a:t>be</a:t>
            </a:r>
            <a:r>
              <a:rPr dirty="0" sz="1200" spc="90">
                <a:latin typeface="Arial"/>
                <a:cs typeface="Arial"/>
              </a:rPr>
              <a:t> </a:t>
            </a:r>
            <a:r>
              <a:rPr dirty="0" sz="1200" spc="-10">
                <a:latin typeface="Arial"/>
                <a:cs typeface="Arial"/>
              </a:rPr>
              <a:t>his</a:t>
            </a:r>
            <a:r>
              <a:rPr dirty="0" sz="1200" spc="100">
                <a:latin typeface="Arial"/>
                <a:cs typeface="Arial"/>
              </a:rPr>
              <a:t> </a:t>
            </a:r>
            <a:r>
              <a:rPr dirty="0" sz="1200" spc="-5">
                <a:latin typeface="Arial"/>
                <a:cs typeface="Arial"/>
              </a:rPr>
              <a:t>guests.</a:t>
            </a:r>
            <a:r>
              <a:rPr dirty="0" sz="1200" spc="95">
                <a:latin typeface="Arial"/>
                <a:cs typeface="Arial"/>
              </a:rPr>
              <a:t> </a:t>
            </a:r>
            <a:r>
              <a:rPr dirty="0" sz="1200">
                <a:latin typeface="Arial"/>
                <a:cs typeface="Arial"/>
              </a:rPr>
              <a:t>But</a:t>
            </a:r>
            <a:r>
              <a:rPr dirty="0" sz="1200" spc="90">
                <a:latin typeface="Arial"/>
                <a:cs typeface="Arial"/>
              </a:rPr>
              <a:t> </a:t>
            </a:r>
            <a:r>
              <a:rPr dirty="0" sz="1200" spc="-5">
                <a:latin typeface="Arial"/>
                <a:cs typeface="Arial"/>
              </a:rPr>
              <a:t>the</a:t>
            </a:r>
            <a:r>
              <a:rPr dirty="0" sz="1200" spc="95">
                <a:latin typeface="Arial"/>
                <a:cs typeface="Arial"/>
              </a:rPr>
              <a:t> </a:t>
            </a:r>
            <a:r>
              <a:rPr dirty="0" sz="1200" spc="-5">
                <a:latin typeface="Arial"/>
                <a:cs typeface="Arial"/>
              </a:rPr>
              <a:t>prophet</a:t>
            </a:r>
            <a:endParaRPr sz="12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3" name="object 3"/>
          <p:cNvSpPr/>
          <p:nvPr/>
        </p:nvSpPr>
        <p:spPr>
          <a:xfrm>
            <a:off x="731519" y="5363590"/>
            <a:ext cx="4487545" cy="15240"/>
          </a:xfrm>
          <a:custGeom>
            <a:avLst/>
            <a:gdLst/>
            <a:ahLst/>
            <a:cxnLst/>
            <a:rect l="l" t="t" r="r" b="b"/>
            <a:pathLst>
              <a:path w="4487545" h="15239">
                <a:moveTo>
                  <a:pt x="4487545" y="0"/>
                </a:moveTo>
                <a:lnTo>
                  <a:pt x="0" y="0"/>
                </a:lnTo>
                <a:lnTo>
                  <a:pt x="0" y="15239"/>
                </a:lnTo>
                <a:lnTo>
                  <a:pt x="4487545" y="15239"/>
                </a:lnTo>
                <a:lnTo>
                  <a:pt x="4487545" y="0"/>
                </a:lnTo>
                <a:close/>
              </a:path>
            </a:pathLst>
          </a:custGeom>
          <a:solidFill>
            <a:srgbClr val="000000"/>
          </a:solidFill>
        </p:spPr>
        <p:txBody>
          <a:bodyPr wrap="square" lIns="0" tIns="0" rIns="0" bIns="0" rtlCol="0"/>
          <a:lstStyle/>
          <a:p/>
        </p:txBody>
      </p:sp>
      <p:sp>
        <p:nvSpPr>
          <p:cNvPr id="4" name="object 4"/>
          <p:cNvSpPr txBox="1"/>
          <p:nvPr/>
        </p:nvSpPr>
        <p:spPr>
          <a:xfrm>
            <a:off x="655319" y="432307"/>
            <a:ext cx="6425565" cy="9163050"/>
          </a:xfrm>
          <a:prstGeom prst="rect">
            <a:avLst/>
          </a:prstGeom>
        </p:spPr>
        <p:txBody>
          <a:bodyPr wrap="square" lIns="0" tIns="12700" rIns="0" bIns="0" rtlCol="0" vert="horz">
            <a:spAutoFit/>
          </a:bodyPr>
          <a:lstStyle/>
          <a:p>
            <a:pPr algn="just" marL="76200">
              <a:lnSpc>
                <a:spcPct val="100000"/>
              </a:lnSpc>
              <a:spcBef>
                <a:spcPts val="100"/>
              </a:spcBef>
              <a:tabLst>
                <a:tab pos="51276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76200" marR="55880">
              <a:lnSpc>
                <a:spcPct val="95900"/>
              </a:lnSpc>
            </a:pPr>
            <a:r>
              <a:rPr dirty="0" sz="1200" spc="-10">
                <a:latin typeface="Arial"/>
                <a:cs typeface="Arial"/>
              </a:rPr>
              <a:t>was </a:t>
            </a:r>
            <a:r>
              <a:rPr dirty="0" sz="1200" spc="-5">
                <a:latin typeface="Arial"/>
                <a:cs typeface="Arial"/>
              </a:rPr>
              <a:t>waiting outside. He joined the kid under a </a:t>
            </a:r>
            <a:r>
              <a:rPr dirty="0" sz="1200">
                <a:latin typeface="Arial"/>
                <a:cs typeface="Arial"/>
              </a:rPr>
              <a:t>tree </a:t>
            </a:r>
            <a:r>
              <a:rPr dirty="0" sz="1200" spc="-5">
                <a:latin typeface="Arial"/>
                <a:cs typeface="Arial"/>
              </a:rPr>
              <a:t>and started </a:t>
            </a:r>
            <a:r>
              <a:rPr dirty="0" sz="1200">
                <a:latin typeface="Arial"/>
                <a:cs typeface="Arial"/>
              </a:rPr>
              <a:t>to </a:t>
            </a:r>
            <a:r>
              <a:rPr dirty="0" sz="1200" spc="-5">
                <a:latin typeface="Arial"/>
                <a:cs typeface="Arial"/>
              </a:rPr>
              <a:t>question him. He  discovered that the </a:t>
            </a:r>
            <a:r>
              <a:rPr dirty="0" sz="1200" spc="-10">
                <a:latin typeface="Arial"/>
                <a:cs typeface="Arial"/>
              </a:rPr>
              <a:t>kid </a:t>
            </a:r>
            <a:r>
              <a:rPr dirty="0" sz="1200" spc="-5">
                <a:latin typeface="Arial"/>
                <a:cs typeface="Arial"/>
              </a:rPr>
              <a:t>would be </a:t>
            </a:r>
            <a:r>
              <a:rPr dirty="0" sz="1200">
                <a:latin typeface="Arial"/>
                <a:cs typeface="Arial"/>
              </a:rPr>
              <a:t>the </a:t>
            </a:r>
            <a:r>
              <a:rPr dirty="0" sz="1200" spc="-5">
                <a:latin typeface="Arial"/>
                <a:cs typeface="Arial"/>
              </a:rPr>
              <a:t>promised prophet of all past prophets. He discovered  Signs </a:t>
            </a:r>
            <a:r>
              <a:rPr dirty="0" sz="1200">
                <a:latin typeface="Arial"/>
                <a:cs typeface="Arial"/>
              </a:rPr>
              <a:t>of </a:t>
            </a:r>
            <a:r>
              <a:rPr dirty="0" sz="1200" spc="-5">
                <a:latin typeface="Arial"/>
                <a:cs typeface="Arial"/>
              </a:rPr>
              <a:t>Prophethood and advised Abu Twalib </a:t>
            </a:r>
            <a:r>
              <a:rPr dirty="0" sz="1200">
                <a:latin typeface="Arial"/>
                <a:cs typeface="Arial"/>
              </a:rPr>
              <a:t>to take </a:t>
            </a:r>
            <a:r>
              <a:rPr dirty="0" sz="1200" spc="-5">
                <a:latin typeface="Arial"/>
                <a:cs typeface="Arial"/>
              </a:rPr>
              <a:t>him </a:t>
            </a:r>
            <a:r>
              <a:rPr dirty="0" sz="1200">
                <a:latin typeface="Arial"/>
                <a:cs typeface="Arial"/>
              </a:rPr>
              <a:t>to </a:t>
            </a:r>
            <a:r>
              <a:rPr dirty="0" sz="1200" spc="-5">
                <a:latin typeface="Arial"/>
                <a:cs typeface="Arial"/>
              </a:rPr>
              <a:t>Makka and protect </a:t>
            </a:r>
            <a:r>
              <a:rPr dirty="0" sz="1200">
                <a:latin typeface="Arial"/>
                <a:cs typeface="Arial"/>
              </a:rPr>
              <a:t>him. </a:t>
            </a:r>
            <a:r>
              <a:rPr dirty="0" sz="1200" spc="-5">
                <a:latin typeface="Arial"/>
                <a:cs typeface="Arial"/>
              </a:rPr>
              <a:t>From  </a:t>
            </a:r>
            <a:r>
              <a:rPr dirty="0" sz="1200">
                <a:latin typeface="Arial"/>
                <a:cs typeface="Arial"/>
              </a:rPr>
              <a:t>the </a:t>
            </a:r>
            <a:r>
              <a:rPr dirty="0" sz="1200" spc="-5">
                <a:latin typeface="Arial"/>
                <a:cs typeface="Arial"/>
              </a:rPr>
              <a:t>age of </a:t>
            </a:r>
            <a:r>
              <a:rPr dirty="0" sz="1200" spc="-10">
                <a:latin typeface="Arial"/>
                <a:cs typeface="Arial"/>
              </a:rPr>
              <a:t>12 </a:t>
            </a:r>
            <a:r>
              <a:rPr dirty="0" sz="1200" spc="-5">
                <a:latin typeface="Arial"/>
                <a:cs typeface="Arial"/>
              </a:rPr>
              <a:t>till 20 he led a life of shepherd and </a:t>
            </a:r>
            <a:r>
              <a:rPr dirty="0" sz="1200" spc="-10">
                <a:latin typeface="Arial"/>
                <a:cs typeface="Arial"/>
              </a:rPr>
              <a:t>he </a:t>
            </a:r>
            <a:r>
              <a:rPr dirty="0" sz="1200" spc="-5">
                <a:latin typeface="Arial"/>
                <a:cs typeface="Arial"/>
              </a:rPr>
              <a:t>obtained </a:t>
            </a:r>
            <a:r>
              <a:rPr dirty="0" sz="1200">
                <a:latin typeface="Arial"/>
                <a:cs typeface="Arial"/>
              </a:rPr>
              <a:t>business </a:t>
            </a:r>
            <a:r>
              <a:rPr dirty="0" sz="1200" spc="-5">
                <a:latin typeface="Arial"/>
                <a:cs typeface="Arial"/>
              </a:rPr>
              <a:t>experience. He  created Half-ul-Fuzul </a:t>
            </a:r>
            <a:r>
              <a:rPr dirty="0" sz="1200">
                <a:latin typeface="Arial"/>
                <a:cs typeface="Arial"/>
              </a:rPr>
              <a:t>at </a:t>
            </a:r>
            <a:r>
              <a:rPr dirty="0" sz="1200" spc="-5">
                <a:latin typeface="Arial"/>
                <a:cs typeface="Arial"/>
              </a:rPr>
              <a:t>the age of 15 </a:t>
            </a:r>
            <a:r>
              <a:rPr dirty="0" sz="1200">
                <a:latin typeface="Arial"/>
                <a:cs typeface="Arial"/>
              </a:rPr>
              <a:t>to </a:t>
            </a:r>
            <a:r>
              <a:rPr dirty="0" sz="1200" spc="-5">
                <a:latin typeface="Arial"/>
                <a:cs typeface="Arial"/>
              </a:rPr>
              <a:t>help the poor as he </a:t>
            </a:r>
            <a:r>
              <a:rPr dirty="0" sz="1200" spc="-10">
                <a:latin typeface="Arial"/>
                <a:cs typeface="Arial"/>
              </a:rPr>
              <a:t>was </a:t>
            </a:r>
            <a:r>
              <a:rPr dirty="0" sz="1200" spc="-5">
                <a:latin typeface="Arial"/>
                <a:cs typeface="Arial"/>
              </a:rPr>
              <a:t>disgusted by </a:t>
            </a:r>
            <a:r>
              <a:rPr dirty="0" sz="1200">
                <a:latin typeface="Arial"/>
                <a:cs typeface="Arial"/>
              </a:rPr>
              <a:t>the </a:t>
            </a:r>
            <a:r>
              <a:rPr dirty="0" sz="1200" spc="-5">
                <a:latin typeface="Arial"/>
                <a:cs typeface="Arial"/>
              </a:rPr>
              <a:t>society.  He loved </a:t>
            </a:r>
            <a:r>
              <a:rPr dirty="0" sz="1200">
                <a:latin typeface="Arial"/>
                <a:cs typeface="Arial"/>
              </a:rPr>
              <a:t>life </a:t>
            </a:r>
            <a:r>
              <a:rPr dirty="0" sz="1200" spc="-5">
                <a:latin typeface="Arial"/>
                <a:cs typeface="Arial"/>
              </a:rPr>
              <a:t>of solitude </a:t>
            </a:r>
            <a:r>
              <a:rPr dirty="0" sz="1200" spc="5">
                <a:latin typeface="Arial"/>
                <a:cs typeface="Arial"/>
              </a:rPr>
              <a:t>for </a:t>
            </a:r>
            <a:r>
              <a:rPr dirty="0" sz="1200" spc="-5">
                <a:latin typeface="Arial"/>
                <a:cs typeface="Arial"/>
              </a:rPr>
              <a:t>reflection and pondering on Allah. Due to his great business fame  and ability, he received a </a:t>
            </a:r>
            <a:r>
              <a:rPr dirty="0" sz="1200">
                <a:latin typeface="Arial"/>
                <a:cs typeface="Arial"/>
              </a:rPr>
              <a:t>business </a:t>
            </a:r>
            <a:r>
              <a:rPr dirty="0" sz="1200" spc="-5">
                <a:latin typeface="Arial"/>
                <a:cs typeface="Arial"/>
              </a:rPr>
              <a:t>Proposal from Bibi Khadijah (r.a) in </a:t>
            </a:r>
            <a:r>
              <a:rPr dirty="0" sz="1200">
                <a:latin typeface="Arial"/>
                <a:cs typeface="Arial"/>
              </a:rPr>
              <a:t>the </a:t>
            </a:r>
            <a:r>
              <a:rPr dirty="0" sz="1200" spc="-5">
                <a:latin typeface="Arial"/>
                <a:cs typeface="Arial"/>
              </a:rPr>
              <a:t>year </a:t>
            </a:r>
            <a:r>
              <a:rPr dirty="0" sz="1200" spc="-5" b="1">
                <a:latin typeface="Arial"/>
                <a:cs typeface="Arial"/>
              </a:rPr>
              <a:t>595 </a:t>
            </a:r>
            <a:r>
              <a:rPr dirty="0" sz="1200">
                <a:latin typeface="Arial"/>
                <a:cs typeface="Arial"/>
              </a:rPr>
              <a:t>at the  </a:t>
            </a:r>
            <a:r>
              <a:rPr dirty="0" sz="1200" spc="-5">
                <a:latin typeface="Arial"/>
                <a:cs typeface="Arial"/>
              </a:rPr>
              <a:t>age of 25. Maysarah accompanied him to </a:t>
            </a:r>
            <a:r>
              <a:rPr dirty="0" sz="1200" spc="-10">
                <a:latin typeface="Arial"/>
                <a:cs typeface="Arial"/>
              </a:rPr>
              <a:t>Syria </a:t>
            </a:r>
            <a:r>
              <a:rPr dirty="0" sz="1200">
                <a:latin typeface="Arial"/>
                <a:cs typeface="Arial"/>
              </a:rPr>
              <a:t>to </a:t>
            </a:r>
            <a:r>
              <a:rPr dirty="0" sz="1200" spc="-5">
                <a:latin typeface="Arial"/>
                <a:cs typeface="Arial"/>
              </a:rPr>
              <a:t>discover </a:t>
            </a:r>
            <a:r>
              <a:rPr dirty="0" sz="1200" spc="10">
                <a:latin typeface="Arial"/>
                <a:cs typeface="Arial"/>
              </a:rPr>
              <a:t>his</a:t>
            </a:r>
            <a:r>
              <a:rPr dirty="0" sz="1200" spc="50">
                <a:latin typeface="Arial"/>
                <a:cs typeface="Arial"/>
              </a:rPr>
              <a:t> </a:t>
            </a:r>
            <a:r>
              <a:rPr dirty="0" sz="1200" spc="-5">
                <a:latin typeface="Arial"/>
                <a:cs typeface="Arial"/>
              </a:rPr>
              <a:t>secrets.</a:t>
            </a:r>
            <a:endParaRPr sz="1200">
              <a:latin typeface="Arial"/>
              <a:cs typeface="Arial"/>
            </a:endParaRPr>
          </a:p>
          <a:p>
            <a:pPr>
              <a:lnSpc>
                <a:spcPct val="100000"/>
              </a:lnSpc>
            </a:pPr>
            <a:endParaRPr sz="1200">
              <a:latin typeface="Arial"/>
              <a:cs typeface="Arial"/>
            </a:endParaRPr>
          </a:p>
          <a:p>
            <a:pPr algn="just" marL="76200" marR="55244">
              <a:lnSpc>
                <a:spcPct val="95800"/>
              </a:lnSpc>
            </a:pPr>
            <a:r>
              <a:rPr dirty="0" sz="1200">
                <a:latin typeface="Arial"/>
                <a:cs typeface="Arial"/>
              </a:rPr>
              <a:t>It </a:t>
            </a:r>
            <a:r>
              <a:rPr dirty="0" sz="1200" spc="-10">
                <a:latin typeface="Arial"/>
                <a:cs typeface="Arial"/>
              </a:rPr>
              <a:t>was </a:t>
            </a:r>
            <a:r>
              <a:rPr dirty="0" sz="1200" spc="-5">
                <a:latin typeface="Arial"/>
                <a:cs typeface="Arial"/>
              </a:rPr>
              <a:t>a </a:t>
            </a:r>
            <a:r>
              <a:rPr dirty="0" sz="1200">
                <a:latin typeface="Arial"/>
                <a:cs typeface="Arial"/>
              </a:rPr>
              <a:t>fruitful </a:t>
            </a:r>
            <a:r>
              <a:rPr dirty="0" sz="1200" spc="-5">
                <a:latin typeface="Arial"/>
                <a:cs typeface="Arial"/>
              </a:rPr>
              <a:t>business with </a:t>
            </a:r>
            <a:r>
              <a:rPr dirty="0" sz="1200">
                <a:latin typeface="Arial"/>
                <a:cs typeface="Arial"/>
              </a:rPr>
              <a:t>much </a:t>
            </a:r>
            <a:r>
              <a:rPr dirty="0" sz="1200" spc="-5">
                <a:latin typeface="Arial"/>
                <a:cs typeface="Arial"/>
              </a:rPr>
              <a:t>profit. During one night Khadijah dreamed of moon  entering her room. </a:t>
            </a:r>
            <a:r>
              <a:rPr dirty="0" sz="1200" spc="-10">
                <a:latin typeface="Arial"/>
                <a:cs typeface="Arial"/>
              </a:rPr>
              <a:t>She was </a:t>
            </a:r>
            <a:r>
              <a:rPr dirty="0" sz="1200" spc="-5">
                <a:latin typeface="Arial"/>
                <a:cs typeface="Arial"/>
              </a:rPr>
              <a:t>unaware of </a:t>
            </a:r>
            <a:r>
              <a:rPr dirty="0" sz="1200">
                <a:latin typeface="Arial"/>
                <a:cs typeface="Arial"/>
              </a:rPr>
              <a:t>the </a:t>
            </a:r>
            <a:r>
              <a:rPr dirty="0" sz="1200" spc="-5">
                <a:latin typeface="Arial"/>
                <a:cs typeface="Arial"/>
              </a:rPr>
              <a:t>meaning. She went to </a:t>
            </a:r>
            <a:r>
              <a:rPr dirty="0" sz="1200">
                <a:latin typeface="Arial"/>
                <a:cs typeface="Arial"/>
              </a:rPr>
              <a:t>Waraqa </a:t>
            </a:r>
            <a:r>
              <a:rPr dirty="0" sz="1200" spc="-5">
                <a:latin typeface="Arial"/>
                <a:cs typeface="Arial"/>
              </a:rPr>
              <a:t>bin Naufal </a:t>
            </a:r>
            <a:r>
              <a:rPr dirty="0" sz="1200">
                <a:latin typeface="Arial"/>
                <a:cs typeface="Arial"/>
              </a:rPr>
              <a:t>– </a:t>
            </a:r>
            <a:r>
              <a:rPr dirty="0" sz="1200" spc="-5">
                <a:latin typeface="Arial"/>
                <a:cs typeface="Arial"/>
              </a:rPr>
              <a:t>a  Hanif and her cousin. Bibi Khadija sent a marriage proposal and the </a:t>
            </a:r>
            <a:r>
              <a:rPr dirty="0" sz="1200" spc="5">
                <a:latin typeface="Arial"/>
                <a:cs typeface="Arial"/>
              </a:rPr>
              <a:t>prophet </a:t>
            </a:r>
            <a:r>
              <a:rPr dirty="0" sz="1200" spc="-5">
                <a:latin typeface="Arial"/>
                <a:cs typeface="Arial"/>
              </a:rPr>
              <a:t>(s.a.w)  accepted. </a:t>
            </a:r>
            <a:r>
              <a:rPr dirty="0" sz="1200">
                <a:latin typeface="Arial"/>
                <a:cs typeface="Arial"/>
              </a:rPr>
              <a:t>It </a:t>
            </a:r>
            <a:r>
              <a:rPr dirty="0" sz="1200" spc="-10">
                <a:latin typeface="Arial"/>
                <a:cs typeface="Arial"/>
              </a:rPr>
              <a:t>was </a:t>
            </a:r>
            <a:r>
              <a:rPr dirty="0" sz="1200" spc="-5">
                <a:latin typeface="Arial"/>
                <a:cs typeface="Arial"/>
              </a:rPr>
              <a:t>a successful marriage with 4 daughters (Zaynab, Ruqayyah, Umm Kulthum  and Faatima) and 2 sons (Qasim and Abdullah). </a:t>
            </a:r>
            <a:r>
              <a:rPr dirty="0" sz="1200">
                <a:latin typeface="Arial"/>
                <a:cs typeface="Arial"/>
              </a:rPr>
              <a:t>In </a:t>
            </a:r>
            <a:r>
              <a:rPr dirty="0" sz="1200" spc="-5">
                <a:latin typeface="Arial"/>
                <a:cs typeface="Arial"/>
              </a:rPr>
              <a:t>the year </a:t>
            </a:r>
            <a:r>
              <a:rPr dirty="0" sz="1200" spc="-5" b="1">
                <a:latin typeface="Arial"/>
                <a:cs typeface="Arial"/>
              </a:rPr>
              <a:t>605 </a:t>
            </a:r>
            <a:r>
              <a:rPr dirty="0" sz="1200">
                <a:latin typeface="Arial"/>
                <a:cs typeface="Arial"/>
              </a:rPr>
              <a:t>the </a:t>
            </a:r>
            <a:r>
              <a:rPr dirty="0" sz="1200" spc="-5">
                <a:latin typeface="Arial"/>
                <a:cs typeface="Arial"/>
              </a:rPr>
              <a:t>valley </a:t>
            </a:r>
            <a:r>
              <a:rPr dirty="0" sz="1200">
                <a:latin typeface="Arial"/>
                <a:cs typeface="Arial"/>
              </a:rPr>
              <a:t>of </a:t>
            </a:r>
            <a:r>
              <a:rPr dirty="0" sz="1200" spc="-5">
                <a:latin typeface="Arial"/>
                <a:cs typeface="Arial"/>
              </a:rPr>
              <a:t>Ka‘bah was  flooded </a:t>
            </a:r>
            <a:r>
              <a:rPr dirty="0" sz="1200">
                <a:latin typeface="Arial"/>
                <a:cs typeface="Arial"/>
              </a:rPr>
              <a:t>by rain and the Arabs </a:t>
            </a:r>
            <a:r>
              <a:rPr dirty="0" sz="1200" spc="-5">
                <a:latin typeface="Arial"/>
                <a:cs typeface="Arial"/>
              </a:rPr>
              <a:t>rebuilt the Ka‘bah. The </a:t>
            </a:r>
            <a:r>
              <a:rPr dirty="0" sz="1200">
                <a:latin typeface="Arial"/>
                <a:cs typeface="Arial"/>
              </a:rPr>
              <a:t>holy </a:t>
            </a:r>
            <a:r>
              <a:rPr dirty="0" sz="1200" spc="-5">
                <a:latin typeface="Arial"/>
                <a:cs typeface="Arial"/>
              </a:rPr>
              <a:t>prophet </a:t>
            </a:r>
            <a:r>
              <a:rPr dirty="0" sz="1200">
                <a:latin typeface="Arial"/>
                <a:cs typeface="Arial"/>
              </a:rPr>
              <a:t>(s.a.w) </a:t>
            </a:r>
            <a:r>
              <a:rPr dirty="0" sz="1200" spc="-5">
                <a:latin typeface="Arial"/>
                <a:cs typeface="Arial"/>
              </a:rPr>
              <a:t>solved the </a:t>
            </a:r>
            <a:r>
              <a:rPr dirty="0" sz="1200" spc="-10">
                <a:latin typeface="Arial"/>
                <a:cs typeface="Arial"/>
              </a:rPr>
              <a:t>problem  </a:t>
            </a:r>
            <a:r>
              <a:rPr dirty="0" sz="1200" spc="-5">
                <a:latin typeface="Arial"/>
                <a:cs typeface="Arial"/>
              </a:rPr>
              <a:t>of </a:t>
            </a:r>
            <a:r>
              <a:rPr dirty="0" sz="1200">
                <a:latin typeface="Arial"/>
                <a:cs typeface="Arial"/>
              </a:rPr>
              <a:t>the </a:t>
            </a:r>
            <a:r>
              <a:rPr dirty="0" sz="1200" spc="-5">
                <a:latin typeface="Arial"/>
                <a:cs typeface="Arial"/>
              </a:rPr>
              <a:t>placement of the black stone. He </a:t>
            </a:r>
            <a:r>
              <a:rPr dirty="0" sz="1200" spc="-10">
                <a:latin typeface="Arial"/>
                <a:cs typeface="Arial"/>
              </a:rPr>
              <a:t>was </a:t>
            </a:r>
            <a:r>
              <a:rPr dirty="0" sz="1200" spc="-5">
                <a:latin typeface="Arial"/>
                <a:cs typeface="Arial"/>
              </a:rPr>
              <a:t>disgusted with </a:t>
            </a:r>
            <a:r>
              <a:rPr dirty="0" sz="1200">
                <a:latin typeface="Arial"/>
                <a:cs typeface="Arial"/>
              </a:rPr>
              <a:t>Life </a:t>
            </a:r>
            <a:r>
              <a:rPr dirty="0" sz="1200" spc="-5">
                <a:latin typeface="Arial"/>
                <a:cs typeface="Arial"/>
              </a:rPr>
              <a:t>of Arabs and he retreated  </a:t>
            </a:r>
            <a:r>
              <a:rPr dirty="0" sz="1200">
                <a:latin typeface="Arial"/>
                <a:cs typeface="Arial"/>
              </a:rPr>
              <a:t>times </a:t>
            </a:r>
            <a:r>
              <a:rPr dirty="0" sz="1200" spc="-5">
                <a:latin typeface="Arial"/>
                <a:cs typeface="Arial"/>
              </a:rPr>
              <a:t>and often in the desert and the cave of Hira. </a:t>
            </a:r>
            <a:r>
              <a:rPr dirty="0" sz="1200">
                <a:latin typeface="Arial"/>
                <a:cs typeface="Arial"/>
              </a:rPr>
              <a:t>It </a:t>
            </a:r>
            <a:r>
              <a:rPr dirty="0" sz="1200" spc="-10">
                <a:latin typeface="Arial"/>
                <a:cs typeface="Arial"/>
              </a:rPr>
              <a:t>was </a:t>
            </a:r>
            <a:r>
              <a:rPr dirty="0" sz="1200">
                <a:latin typeface="Arial"/>
                <a:cs typeface="Arial"/>
              </a:rPr>
              <a:t>then </a:t>
            </a:r>
            <a:r>
              <a:rPr dirty="0" sz="1200" spc="-5">
                <a:latin typeface="Arial"/>
                <a:cs typeface="Arial"/>
              </a:rPr>
              <a:t>that one night during </a:t>
            </a:r>
            <a:r>
              <a:rPr dirty="0" sz="1200">
                <a:latin typeface="Arial"/>
                <a:cs typeface="Arial"/>
              </a:rPr>
              <a:t>the  </a:t>
            </a:r>
            <a:r>
              <a:rPr dirty="0" sz="1200" spc="-5">
                <a:latin typeface="Arial"/>
                <a:cs typeface="Arial"/>
              </a:rPr>
              <a:t>month of Ramadhan, Hazrat Jibril </a:t>
            </a:r>
            <a:r>
              <a:rPr dirty="0" sz="1200">
                <a:latin typeface="Arial"/>
                <a:cs typeface="Arial"/>
              </a:rPr>
              <a:t>(as) </a:t>
            </a:r>
            <a:r>
              <a:rPr dirty="0" sz="1200" spc="-5">
                <a:latin typeface="Arial"/>
                <a:cs typeface="Arial"/>
              </a:rPr>
              <a:t>brought </a:t>
            </a:r>
            <a:r>
              <a:rPr dirty="0" sz="1200">
                <a:latin typeface="Arial"/>
                <a:cs typeface="Arial"/>
              </a:rPr>
              <a:t>the first </a:t>
            </a:r>
            <a:r>
              <a:rPr dirty="0" sz="1200" spc="-5">
                <a:latin typeface="Arial"/>
                <a:cs typeface="Arial"/>
              </a:rPr>
              <a:t>five verses of Surah </a:t>
            </a:r>
            <a:r>
              <a:rPr dirty="0" sz="1200">
                <a:latin typeface="Arial"/>
                <a:cs typeface="Arial"/>
              </a:rPr>
              <a:t>Al </a:t>
            </a:r>
            <a:r>
              <a:rPr dirty="0" sz="1200" spc="-75">
                <a:latin typeface="Arial"/>
                <a:cs typeface="Arial"/>
              </a:rPr>
              <a:t>‗Alaq. </a:t>
            </a:r>
            <a:r>
              <a:rPr dirty="0" sz="1200">
                <a:latin typeface="Arial"/>
                <a:cs typeface="Arial"/>
              </a:rPr>
              <a:t>When  </a:t>
            </a:r>
            <a:r>
              <a:rPr dirty="0" sz="1200" spc="-5">
                <a:latin typeface="Arial"/>
                <a:cs typeface="Arial"/>
              </a:rPr>
              <a:t>Hazrat Jibril </a:t>
            </a:r>
            <a:r>
              <a:rPr dirty="0" sz="1200">
                <a:latin typeface="Arial"/>
                <a:cs typeface="Arial"/>
              </a:rPr>
              <a:t>(as) </a:t>
            </a:r>
            <a:r>
              <a:rPr dirty="0" sz="1200" spc="-5">
                <a:latin typeface="Arial"/>
                <a:cs typeface="Arial"/>
              </a:rPr>
              <a:t>came </a:t>
            </a:r>
            <a:r>
              <a:rPr dirty="0" sz="1200">
                <a:latin typeface="Arial"/>
                <a:cs typeface="Arial"/>
              </a:rPr>
              <a:t>to </a:t>
            </a:r>
            <a:r>
              <a:rPr dirty="0" sz="1200" spc="-5">
                <a:latin typeface="Arial"/>
                <a:cs typeface="Arial"/>
              </a:rPr>
              <a:t>him, </a:t>
            </a:r>
            <a:r>
              <a:rPr dirty="0" sz="1200" spc="-10">
                <a:latin typeface="Arial"/>
                <a:cs typeface="Arial"/>
              </a:rPr>
              <a:t>he was </a:t>
            </a:r>
            <a:r>
              <a:rPr dirty="0" sz="1200" spc="-5">
                <a:latin typeface="Arial"/>
                <a:cs typeface="Arial"/>
              </a:rPr>
              <a:t>in his original form with wings and he asked the  prophet (s.a.w) </a:t>
            </a:r>
            <a:r>
              <a:rPr dirty="0" sz="1200">
                <a:latin typeface="Arial"/>
                <a:cs typeface="Arial"/>
              </a:rPr>
              <a:t>to </a:t>
            </a:r>
            <a:r>
              <a:rPr dirty="0" sz="1200" spc="-5">
                <a:latin typeface="Arial"/>
                <a:cs typeface="Arial"/>
              </a:rPr>
              <a:t>read. But the prophet (s.a.w) replied </a:t>
            </a:r>
            <a:r>
              <a:rPr dirty="0" sz="1200">
                <a:latin typeface="Arial"/>
                <a:cs typeface="Arial"/>
              </a:rPr>
              <a:t>that </a:t>
            </a:r>
            <a:r>
              <a:rPr dirty="0" sz="1200" spc="-10">
                <a:latin typeface="Arial"/>
                <a:cs typeface="Arial"/>
              </a:rPr>
              <a:t>he was </a:t>
            </a:r>
            <a:r>
              <a:rPr dirty="0" sz="1200" spc="-5">
                <a:latin typeface="Arial"/>
                <a:cs typeface="Arial"/>
              </a:rPr>
              <a:t>not among the readers.  Hazrat Jibril asked him a second </a:t>
            </a:r>
            <a:r>
              <a:rPr dirty="0" sz="1200">
                <a:latin typeface="Arial"/>
                <a:cs typeface="Arial"/>
              </a:rPr>
              <a:t>time </a:t>
            </a:r>
            <a:r>
              <a:rPr dirty="0" sz="1200" spc="-5">
                <a:latin typeface="Arial"/>
                <a:cs typeface="Arial"/>
              </a:rPr>
              <a:t>but with </a:t>
            </a:r>
            <a:r>
              <a:rPr dirty="0" sz="1200">
                <a:latin typeface="Arial"/>
                <a:cs typeface="Arial"/>
              </a:rPr>
              <a:t>the </a:t>
            </a:r>
            <a:r>
              <a:rPr dirty="0" sz="1200" spc="-5">
                <a:latin typeface="Arial"/>
                <a:cs typeface="Arial"/>
              </a:rPr>
              <a:t>same answer. </a:t>
            </a:r>
            <a:r>
              <a:rPr dirty="0" sz="1200">
                <a:latin typeface="Arial"/>
                <a:cs typeface="Arial"/>
              </a:rPr>
              <a:t>The </a:t>
            </a:r>
            <a:r>
              <a:rPr dirty="0" sz="1200" spc="-5">
                <a:latin typeface="Arial"/>
                <a:cs typeface="Arial"/>
              </a:rPr>
              <a:t>third time Hazrat Jibril  seized him and asked him </a:t>
            </a:r>
            <a:r>
              <a:rPr dirty="0" sz="1200">
                <a:latin typeface="Arial"/>
                <a:cs typeface="Arial"/>
              </a:rPr>
              <a:t>to </a:t>
            </a:r>
            <a:r>
              <a:rPr dirty="0" sz="1200" spc="-165" i="1">
                <a:latin typeface="Arial"/>
                <a:cs typeface="Arial"/>
              </a:rPr>
              <a:t>―Read </a:t>
            </a:r>
            <a:r>
              <a:rPr dirty="0" sz="1200" spc="-5" i="1">
                <a:latin typeface="Arial"/>
                <a:cs typeface="Arial"/>
              </a:rPr>
              <a:t>in the </a:t>
            </a:r>
            <a:r>
              <a:rPr dirty="0" sz="1200" spc="-10" i="1">
                <a:latin typeface="Arial"/>
                <a:cs typeface="Arial"/>
              </a:rPr>
              <a:t>name </a:t>
            </a:r>
            <a:r>
              <a:rPr dirty="0" sz="1200" i="1">
                <a:latin typeface="Arial"/>
                <a:cs typeface="Arial"/>
              </a:rPr>
              <a:t>of </a:t>
            </a:r>
            <a:r>
              <a:rPr dirty="0" sz="1200" spc="-5" i="1">
                <a:latin typeface="Arial"/>
                <a:cs typeface="Arial"/>
              </a:rPr>
              <a:t>your Lord. Who created Insaan </a:t>
            </a:r>
            <a:r>
              <a:rPr dirty="0" sz="1200" i="1">
                <a:latin typeface="Arial"/>
                <a:cs typeface="Arial"/>
              </a:rPr>
              <a:t>from </a:t>
            </a:r>
            <a:r>
              <a:rPr dirty="0" sz="1200" spc="-5" i="1">
                <a:latin typeface="Arial"/>
                <a:cs typeface="Arial"/>
              </a:rPr>
              <a:t>a  </a:t>
            </a:r>
            <a:r>
              <a:rPr dirty="0" sz="1200" spc="-5" i="1">
                <a:latin typeface="Arial"/>
                <a:cs typeface="Arial"/>
              </a:rPr>
              <a:t>clot </a:t>
            </a:r>
            <a:r>
              <a:rPr dirty="0" sz="1200" i="1">
                <a:latin typeface="Arial"/>
                <a:cs typeface="Arial"/>
              </a:rPr>
              <a:t>of </a:t>
            </a:r>
            <a:r>
              <a:rPr dirty="0" sz="1200" spc="-5" i="1">
                <a:latin typeface="Arial"/>
                <a:cs typeface="Arial"/>
              </a:rPr>
              <a:t>blood. Read and </a:t>
            </a:r>
            <a:r>
              <a:rPr dirty="0" sz="1200" i="1">
                <a:latin typeface="Arial"/>
                <a:cs typeface="Arial"/>
              </a:rPr>
              <a:t>your </a:t>
            </a:r>
            <a:r>
              <a:rPr dirty="0" sz="1200" spc="-5" i="1">
                <a:latin typeface="Arial"/>
                <a:cs typeface="Arial"/>
              </a:rPr>
              <a:t>Lord is </a:t>
            </a:r>
            <a:r>
              <a:rPr dirty="0" sz="1200" i="1">
                <a:latin typeface="Arial"/>
                <a:cs typeface="Arial"/>
              </a:rPr>
              <a:t>the </a:t>
            </a:r>
            <a:r>
              <a:rPr dirty="0" sz="1200" spc="-5" i="1">
                <a:latin typeface="Arial"/>
                <a:cs typeface="Arial"/>
              </a:rPr>
              <a:t>most bountiful. </a:t>
            </a:r>
            <a:r>
              <a:rPr dirty="0" sz="1200" i="1">
                <a:latin typeface="Arial"/>
                <a:cs typeface="Arial"/>
              </a:rPr>
              <a:t>Who </a:t>
            </a:r>
            <a:r>
              <a:rPr dirty="0" sz="1200" spc="-5" i="1">
                <a:latin typeface="Arial"/>
                <a:cs typeface="Arial"/>
              </a:rPr>
              <a:t>taught </a:t>
            </a:r>
            <a:r>
              <a:rPr dirty="0" sz="1200" i="1">
                <a:latin typeface="Arial"/>
                <a:cs typeface="Arial"/>
              </a:rPr>
              <a:t>with </a:t>
            </a:r>
            <a:r>
              <a:rPr dirty="0" sz="1200" spc="-5" i="1">
                <a:latin typeface="Arial"/>
                <a:cs typeface="Arial"/>
              </a:rPr>
              <a:t>the pen. Taught </a:t>
            </a:r>
            <a:r>
              <a:rPr dirty="0" sz="1200" spc="-10" i="1">
                <a:latin typeface="Arial"/>
                <a:cs typeface="Arial"/>
              </a:rPr>
              <a:t>Man  </a:t>
            </a:r>
            <a:r>
              <a:rPr dirty="0" sz="1200" i="1">
                <a:latin typeface="Arial"/>
                <a:cs typeface="Arial"/>
              </a:rPr>
              <a:t>that </a:t>
            </a:r>
            <a:r>
              <a:rPr dirty="0" sz="1200" spc="-5" i="1">
                <a:latin typeface="Arial"/>
                <a:cs typeface="Arial"/>
              </a:rPr>
              <a:t>which he knew</a:t>
            </a:r>
            <a:r>
              <a:rPr dirty="0" sz="1200" i="1">
                <a:latin typeface="Arial"/>
                <a:cs typeface="Arial"/>
              </a:rPr>
              <a:t> </a:t>
            </a:r>
            <a:r>
              <a:rPr dirty="0" sz="1200" spc="-25" i="1">
                <a:latin typeface="Arial"/>
                <a:cs typeface="Arial"/>
              </a:rPr>
              <a:t>not.‖</a:t>
            </a:r>
            <a:endParaRPr sz="1200">
              <a:latin typeface="Arial"/>
              <a:cs typeface="Arial"/>
            </a:endParaRPr>
          </a:p>
          <a:p>
            <a:pPr>
              <a:lnSpc>
                <a:spcPct val="100000"/>
              </a:lnSpc>
              <a:spcBef>
                <a:spcPts val="10"/>
              </a:spcBef>
            </a:pPr>
            <a:endParaRPr sz="1150">
              <a:latin typeface="Arial"/>
              <a:cs typeface="Arial"/>
            </a:endParaRPr>
          </a:p>
          <a:p>
            <a:pPr algn="just" marL="76200">
              <a:lnSpc>
                <a:spcPct val="100000"/>
              </a:lnSpc>
            </a:pPr>
            <a:r>
              <a:rPr dirty="0" sz="1200" spc="-5" b="1" i="1">
                <a:latin typeface="Arial"/>
                <a:cs typeface="Arial"/>
              </a:rPr>
              <a:t>1</a:t>
            </a:r>
            <a:r>
              <a:rPr dirty="0" baseline="38194" sz="1200" spc="-7" b="1" i="1">
                <a:latin typeface="Arial"/>
                <a:cs typeface="Arial"/>
              </a:rPr>
              <a:t>st </a:t>
            </a:r>
            <a:r>
              <a:rPr dirty="0" sz="1200" spc="-5" b="1" i="1">
                <a:latin typeface="Arial"/>
                <a:cs typeface="Arial"/>
              </a:rPr>
              <a:t>Converts Till Other Marriages </a:t>
            </a:r>
            <a:r>
              <a:rPr dirty="0" sz="1200" b="1" i="1">
                <a:latin typeface="Arial"/>
                <a:cs typeface="Arial"/>
              </a:rPr>
              <a:t>of </a:t>
            </a:r>
            <a:r>
              <a:rPr dirty="0" sz="1200" spc="-5" b="1" i="1">
                <a:latin typeface="Arial"/>
                <a:cs typeface="Arial"/>
              </a:rPr>
              <a:t>the Prophet (s.a.w)</a:t>
            </a:r>
            <a:r>
              <a:rPr dirty="0" sz="1200" spc="-40" b="1" i="1">
                <a:latin typeface="Arial"/>
                <a:cs typeface="Arial"/>
              </a:rPr>
              <a:t> </a:t>
            </a:r>
            <a:r>
              <a:rPr dirty="0" sz="1200" spc="-5" b="1" i="1">
                <a:latin typeface="Arial"/>
                <a:cs typeface="Arial"/>
              </a:rPr>
              <a:t>Events</a:t>
            </a:r>
            <a:endParaRPr sz="1200">
              <a:latin typeface="Arial"/>
              <a:cs typeface="Arial"/>
            </a:endParaRPr>
          </a:p>
          <a:p>
            <a:pPr>
              <a:lnSpc>
                <a:spcPct val="100000"/>
              </a:lnSpc>
              <a:spcBef>
                <a:spcPts val="35"/>
              </a:spcBef>
            </a:pPr>
            <a:endParaRPr sz="1200">
              <a:latin typeface="Arial"/>
              <a:cs typeface="Arial"/>
            </a:endParaRPr>
          </a:p>
          <a:p>
            <a:pPr algn="just" marL="76200" marR="55880">
              <a:lnSpc>
                <a:spcPts val="1380"/>
              </a:lnSpc>
              <a:spcBef>
                <a:spcPts val="5"/>
              </a:spcBef>
            </a:pPr>
            <a:r>
              <a:rPr dirty="0" sz="1200">
                <a:latin typeface="Arial"/>
                <a:cs typeface="Arial"/>
              </a:rPr>
              <a:t>In the </a:t>
            </a:r>
            <a:r>
              <a:rPr dirty="0" sz="1200" spc="-5">
                <a:latin typeface="Arial"/>
                <a:cs typeface="Arial"/>
              </a:rPr>
              <a:t>year </a:t>
            </a:r>
            <a:r>
              <a:rPr dirty="0" sz="1200" spc="-5" b="1">
                <a:latin typeface="Arial"/>
                <a:cs typeface="Arial"/>
              </a:rPr>
              <a:t>610 </a:t>
            </a:r>
            <a:r>
              <a:rPr dirty="0" sz="1200">
                <a:latin typeface="Arial"/>
                <a:cs typeface="Arial"/>
              </a:rPr>
              <a:t>after the </a:t>
            </a:r>
            <a:r>
              <a:rPr dirty="0" sz="1200" spc="-5">
                <a:latin typeface="Arial"/>
                <a:cs typeface="Arial"/>
              </a:rPr>
              <a:t>prophet had received </a:t>
            </a:r>
            <a:r>
              <a:rPr dirty="0" sz="1200">
                <a:latin typeface="Arial"/>
                <a:cs typeface="Arial"/>
              </a:rPr>
              <a:t>the first </a:t>
            </a:r>
            <a:r>
              <a:rPr dirty="0" sz="1200" spc="-5">
                <a:latin typeface="Arial"/>
                <a:cs typeface="Arial"/>
              </a:rPr>
              <a:t>revelation he returned home and  asked his wife </a:t>
            </a:r>
            <a:r>
              <a:rPr dirty="0" sz="1200">
                <a:latin typeface="Arial"/>
                <a:cs typeface="Arial"/>
              </a:rPr>
              <a:t>to </a:t>
            </a:r>
            <a:r>
              <a:rPr dirty="0" sz="1200" spc="-5">
                <a:latin typeface="Arial"/>
                <a:cs typeface="Arial"/>
              </a:rPr>
              <a:t>wrap </a:t>
            </a:r>
            <a:r>
              <a:rPr dirty="0" sz="1200" spc="-10">
                <a:latin typeface="Arial"/>
                <a:cs typeface="Arial"/>
              </a:rPr>
              <a:t>him </a:t>
            </a:r>
            <a:r>
              <a:rPr dirty="0" sz="1200" spc="-5">
                <a:latin typeface="Arial"/>
                <a:cs typeface="Arial"/>
              </a:rPr>
              <a:t>with his mantle. After Bibi Khadija had comforted the </a:t>
            </a:r>
            <a:r>
              <a:rPr dirty="0" sz="1200" spc="-10">
                <a:latin typeface="Arial"/>
                <a:cs typeface="Arial"/>
              </a:rPr>
              <a:t>prophet  </a:t>
            </a:r>
            <a:r>
              <a:rPr dirty="0" sz="1200" spc="-5">
                <a:latin typeface="Arial"/>
                <a:cs typeface="Arial"/>
              </a:rPr>
              <a:t>(s.a.w) both of them went </a:t>
            </a:r>
            <a:r>
              <a:rPr dirty="0" sz="1200">
                <a:latin typeface="Arial"/>
                <a:cs typeface="Arial"/>
              </a:rPr>
              <a:t>to Waraqa </a:t>
            </a:r>
            <a:r>
              <a:rPr dirty="0" sz="1200" spc="-5">
                <a:latin typeface="Arial"/>
                <a:cs typeface="Arial"/>
              </a:rPr>
              <a:t>bin Nawfal </a:t>
            </a:r>
            <a:r>
              <a:rPr dirty="0" sz="1200" spc="-10">
                <a:latin typeface="Arial"/>
                <a:cs typeface="Arial"/>
              </a:rPr>
              <a:t>who </a:t>
            </a:r>
            <a:r>
              <a:rPr dirty="0" sz="1200" spc="-5">
                <a:latin typeface="Arial"/>
                <a:cs typeface="Arial"/>
              </a:rPr>
              <a:t>confirmed that the angel </a:t>
            </a:r>
            <a:r>
              <a:rPr dirty="0" sz="1200" spc="-10">
                <a:latin typeface="Arial"/>
                <a:cs typeface="Arial"/>
              </a:rPr>
              <a:t>who </a:t>
            </a:r>
            <a:r>
              <a:rPr dirty="0" sz="1200" spc="-5">
                <a:latin typeface="Arial"/>
                <a:cs typeface="Arial"/>
              </a:rPr>
              <a:t>came to  </a:t>
            </a:r>
            <a:r>
              <a:rPr dirty="0" sz="1200">
                <a:latin typeface="Arial"/>
                <a:cs typeface="Arial"/>
              </a:rPr>
              <a:t>the </a:t>
            </a:r>
            <a:r>
              <a:rPr dirty="0" sz="1200" spc="-5">
                <a:latin typeface="Arial"/>
                <a:cs typeface="Arial"/>
              </a:rPr>
              <a:t>prophet (s.a.w) was </a:t>
            </a:r>
            <a:r>
              <a:rPr dirty="0" sz="1200">
                <a:latin typeface="Arial"/>
                <a:cs typeface="Arial"/>
              </a:rPr>
              <a:t>the </a:t>
            </a:r>
            <a:r>
              <a:rPr dirty="0" sz="1200" spc="-5">
                <a:latin typeface="Arial"/>
                <a:cs typeface="Arial"/>
              </a:rPr>
              <a:t>same </a:t>
            </a:r>
            <a:r>
              <a:rPr dirty="0" sz="1200" spc="-10">
                <a:latin typeface="Arial"/>
                <a:cs typeface="Arial"/>
              </a:rPr>
              <a:t>who </a:t>
            </a:r>
            <a:r>
              <a:rPr dirty="0" sz="1200">
                <a:latin typeface="Arial"/>
                <a:cs typeface="Arial"/>
              </a:rPr>
              <a:t>came to </a:t>
            </a:r>
            <a:r>
              <a:rPr dirty="0" sz="1200" spc="-5">
                <a:latin typeface="Arial"/>
                <a:cs typeface="Arial"/>
              </a:rPr>
              <a:t>all </a:t>
            </a:r>
            <a:r>
              <a:rPr dirty="0" sz="1200">
                <a:latin typeface="Arial"/>
                <a:cs typeface="Arial"/>
              </a:rPr>
              <a:t>past </a:t>
            </a:r>
            <a:r>
              <a:rPr dirty="0" sz="1200" spc="-5">
                <a:latin typeface="Arial"/>
                <a:cs typeface="Arial"/>
              </a:rPr>
              <a:t>prophets. </a:t>
            </a:r>
            <a:r>
              <a:rPr dirty="0" sz="1200">
                <a:latin typeface="Arial"/>
                <a:cs typeface="Arial"/>
              </a:rPr>
              <a:t>As such, the 1</a:t>
            </a:r>
            <a:r>
              <a:rPr dirty="0" baseline="38194" sz="1200">
                <a:latin typeface="Arial"/>
                <a:cs typeface="Arial"/>
              </a:rPr>
              <a:t>st </a:t>
            </a:r>
            <a:r>
              <a:rPr dirty="0" sz="1200" spc="-5">
                <a:latin typeface="Arial"/>
                <a:cs typeface="Arial"/>
              </a:rPr>
              <a:t>free  woman </a:t>
            </a:r>
            <a:r>
              <a:rPr dirty="0" sz="1200" spc="-10">
                <a:latin typeface="Arial"/>
                <a:cs typeface="Arial"/>
              </a:rPr>
              <a:t>who </a:t>
            </a:r>
            <a:r>
              <a:rPr dirty="0" sz="1200" spc="-5">
                <a:latin typeface="Arial"/>
                <a:cs typeface="Arial"/>
              </a:rPr>
              <a:t>accepted </a:t>
            </a:r>
            <a:r>
              <a:rPr dirty="0" sz="1200">
                <a:latin typeface="Arial"/>
                <a:cs typeface="Arial"/>
              </a:rPr>
              <a:t>Islam </a:t>
            </a:r>
            <a:r>
              <a:rPr dirty="0" sz="1200" spc="-10">
                <a:latin typeface="Arial"/>
                <a:cs typeface="Arial"/>
              </a:rPr>
              <a:t>was </a:t>
            </a:r>
            <a:r>
              <a:rPr dirty="0" sz="1200" spc="-5">
                <a:latin typeface="Arial"/>
                <a:cs typeface="Arial"/>
              </a:rPr>
              <a:t>Khadijah, the </a:t>
            </a:r>
            <a:r>
              <a:rPr dirty="0" sz="1200" spc="10">
                <a:latin typeface="Arial"/>
                <a:cs typeface="Arial"/>
              </a:rPr>
              <a:t>1</a:t>
            </a:r>
            <a:r>
              <a:rPr dirty="0" baseline="38194" sz="1200" spc="15">
                <a:latin typeface="Arial"/>
                <a:cs typeface="Arial"/>
              </a:rPr>
              <a:t>st </a:t>
            </a:r>
            <a:r>
              <a:rPr dirty="0" sz="1200">
                <a:latin typeface="Arial"/>
                <a:cs typeface="Arial"/>
              </a:rPr>
              <a:t>free </a:t>
            </a:r>
            <a:r>
              <a:rPr dirty="0" sz="1200" spc="-5">
                <a:latin typeface="Arial"/>
                <a:cs typeface="Arial"/>
              </a:rPr>
              <a:t>man </a:t>
            </a:r>
            <a:r>
              <a:rPr dirty="0" sz="1200" spc="-10">
                <a:latin typeface="Arial"/>
                <a:cs typeface="Arial"/>
              </a:rPr>
              <a:t>was </a:t>
            </a:r>
            <a:r>
              <a:rPr dirty="0" sz="1200" spc="-5">
                <a:latin typeface="Arial"/>
                <a:cs typeface="Arial"/>
              </a:rPr>
              <a:t>Abu Bakr, the </a:t>
            </a:r>
            <a:r>
              <a:rPr dirty="0" sz="1200" spc="5">
                <a:latin typeface="Arial"/>
                <a:cs typeface="Arial"/>
              </a:rPr>
              <a:t>1</a:t>
            </a:r>
            <a:r>
              <a:rPr dirty="0" baseline="38194" sz="1200" spc="7">
                <a:latin typeface="Arial"/>
                <a:cs typeface="Arial"/>
              </a:rPr>
              <a:t>st </a:t>
            </a:r>
            <a:r>
              <a:rPr dirty="0" sz="1200" spc="-5">
                <a:latin typeface="Arial"/>
                <a:cs typeface="Arial"/>
              </a:rPr>
              <a:t>boy was  </a:t>
            </a:r>
            <a:r>
              <a:rPr dirty="0" sz="1200">
                <a:latin typeface="Arial"/>
                <a:cs typeface="Arial"/>
              </a:rPr>
              <a:t>Ali, the 1</a:t>
            </a:r>
            <a:r>
              <a:rPr dirty="0" baseline="38194" sz="1200">
                <a:latin typeface="Arial"/>
                <a:cs typeface="Arial"/>
              </a:rPr>
              <a:t>st </a:t>
            </a:r>
            <a:r>
              <a:rPr dirty="0" sz="1200" spc="-5">
                <a:latin typeface="Arial"/>
                <a:cs typeface="Arial"/>
              </a:rPr>
              <a:t>girls were his daughters, the </a:t>
            </a:r>
            <a:r>
              <a:rPr dirty="0" sz="1200">
                <a:latin typeface="Arial"/>
                <a:cs typeface="Arial"/>
              </a:rPr>
              <a:t>1</a:t>
            </a:r>
            <a:r>
              <a:rPr dirty="0" baseline="38194" sz="1200">
                <a:latin typeface="Arial"/>
                <a:cs typeface="Arial"/>
              </a:rPr>
              <a:t>st </a:t>
            </a:r>
            <a:r>
              <a:rPr dirty="0" sz="1200" spc="-10">
                <a:latin typeface="Arial"/>
                <a:cs typeface="Arial"/>
              </a:rPr>
              <a:t>slave </a:t>
            </a:r>
            <a:r>
              <a:rPr dirty="0" sz="1200">
                <a:latin typeface="Arial"/>
                <a:cs typeface="Arial"/>
              </a:rPr>
              <a:t>man </a:t>
            </a:r>
            <a:r>
              <a:rPr dirty="0" sz="1200" spc="-10">
                <a:latin typeface="Arial"/>
                <a:cs typeface="Arial"/>
              </a:rPr>
              <a:t>was </a:t>
            </a:r>
            <a:r>
              <a:rPr dirty="0" sz="1200" spc="-5">
                <a:latin typeface="Arial"/>
                <a:cs typeface="Arial"/>
              </a:rPr>
              <a:t>Zayd bin Haritha and </a:t>
            </a:r>
            <a:r>
              <a:rPr dirty="0" sz="1200">
                <a:latin typeface="Arial"/>
                <a:cs typeface="Arial"/>
              </a:rPr>
              <a:t>the </a:t>
            </a:r>
            <a:r>
              <a:rPr dirty="0" sz="1200" spc="5">
                <a:latin typeface="Arial"/>
                <a:cs typeface="Arial"/>
              </a:rPr>
              <a:t>1</a:t>
            </a:r>
            <a:r>
              <a:rPr dirty="0" baseline="38194" sz="1200" spc="7">
                <a:latin typeface="Arial"/>
                <a:cs typeface="Arial"/>
              </a:rPr>
              <a:t>st </a:t>
            </a:r>
            <a:r>
              <a:rPr dirty="0" sz="1200" spc="-10">
                <a:latin typeface="Arial"/>
                <a:cs typeface="Arial"/>
              </a:rPr>
              <a:t>slave  </a:t>
            </a:r>
            <a:r>
              <a:rPr dirty="0" sz="1200" spc="-5">
                <a:latin typeface="Arial"/>
                <a:cs typeface="Arial"/>
              </a:rPr>
              <a:t>woman </a:t>
            </a:r>
            <a:r>
              <a:rPr dirty="0" sz="1200" spc="-10">
                <a:latin typeface="Arial"/>
                <a:cs typeface="Arial"/>
              </a:rPr>
              <a:t>was </a:t>
            </a:r>
            <a:r>
              <a:rPr dirty="0" sz="1200" spc="-5">
                <a:latin typeface="Arial"/>
                <a:cs typeface="Arial"/>
              </a:rPr>
              <a:t>Umm Aiman. From the year </a:t>
            </a:r>
            <a:r>
              <a:rPr dirty="0" sz="1200" spc="-5" b="1">
                <a:latin typeface="Arial"/>
                <a:cs typeface="Arial"/>
              </a:rPr>
              <a:t>610 </a:t>
            </a:r>
            <a:r>
              <a:rPr dirty="0" sz="1200" b="1">
                <a:latin typeface="Arial"/>
                <a:cs typeface="Arial"/>
              </a:rPr>
              <a:t>to </a:t>
            </a:r>
            <a:r>
              <a:rPr dirty="0" sz="1200" spc="-5" b="1">
                <a:latin typeface="Arial"/>
                <a:cs typeface="Arial"/>
              </a:rPr>
              <a:t>613 </a:t>
            </a:r>
            <a:r>
              <a:rPr dirty="0" sz="1200" spc="-5">
                <a:latin typeface="Arial"/>
                <a:cs typeface="Arial"/>
              </a:rPr>
              <a:t>the prophet (s.a.w) spread </a:t>
            </a:r>
            <a:r>
              <a:rPr dirty="0" sz="1200">
                <a:latin typeface="Arial"/>
                <a:cs typeface="Arial"/>
              </a:rPr>
              <a:t>Islam </a:t>
            </a:r>
            <a:r>
              <a:rPr dirty="0" sz="1200" spc="-5">
                <a:latin typeface="Arial"/>
                <a:cs typeface="Arial"/>
              </a:rPr>
              <a:t>among  </a:t>
            </a:r>
            <a:r>
              <a:rPr dirty="0" sz="1200">
                <a:latin typeface="Arial"/>
                <a:cs typeface="Arial"/>
              </a:rPr>
              <a:t>families, </a:t>
            </a:r>
            <a:r>
              <a:rPr dirty="0" sz="1200" spc="-5">
                <a:latin typeface="Arial"/>
                <a:cs typeface="Arial"/>
              </a:rPr>
              <a:t>friends and the poor people. </a:t>
            </a:r>
            <a:r>
              <a:rPr dirty="0" sz="1200">
                <a:latin typeface="Arial"/>
                <a:cs typeface="Arial"/>
              </a:rPr>
              <a:t>Very </a:t>
            </a:r>
            <a:r>
              <a:rPr dirty="0" sz="1200" spc="-5">
                <a:latin typeface="Arial"/>
                <a:cs typeface="Arial"/>
              </a:rPr>
              <a:t>few</a:t>
            </a:r>
            <a:r>
              <a:rPr dirty="0" sz="1200" spc="-40">
                <a:latin typeface="Arial"/>
                <a:cs typeface="Arial"/>
              </a:rPr>
              <a:t> </a:t>
            </a:r>
            <a:r>
              <a:rPr dirty="0" sz="1200">
                <a:latin typeface="Arial"/>
                <a:cs typeface="Arial"/>
              </a:rPr>
              <a:t>accepted.</a:t>
            </a:r>
            <a:endParaRPr sz="1200">
              <a:latin typeface="Arial"/>
              <a:cs typeface="Arial"/>
            </a:endParaRPr>
          </a:p>
          <a:p>
            <a:pPr>
              <a:lnSpc>
                <a:spcPct val="100000"/>
              </a:lnSpc>
              <a:spcBef>
                <a:spcPts val="5"/>
              </a:spcBef>
            </a:pPr>
            <a:endParaRPr sz="1150">
              <a:latin typeface="Arial"/>
              <a:cs typeface="Arial"/>
            </a:endParaRPr>
          </a:p>
          <a:p>
            <a:pPr algn="just" marL="76200" marR="55244">
              <a:lnSpc>
                <a:spcPct val="95800"/>
              </a:lnSpc>
              <a:spcBef>
                <a:spcPts val="5"/>
              </a:spcBef>
            </a:pPr>
            <a:r>
              <a:rPr dirty="0" sz="1200">
                <a:latin typeface="Arial"/>
                <a:cs typeface="Arial"/>
              </a:rPr>
              <a:t>In </a:t>
            </a:r>
            <a:r>
              <a:rPr dirty="0" sz="1200" spc="-5">
                <a:latin typeface="Arial"/>
                <a:cs typeface="Arial"/>
              </a:rPr>
              <a:t>the year </a:t>
            </a:r>
            <a:r>
              <a:rPr dirty="0" sz="1200" spc="-5" b="1">
                <a:latin typeface="Arial"/>
                <a:cs typeface="Arial"/>
              </a:rPr>
              <a:t>613 </a:t>
            </a:r>
            <a:r>
              <a:rPr dirty="0" sz="1200" spc="-5">
                <a:latin typeface="Arial"/>
                <a:cs typeface="Arial"/>
              </a:rPr>
              <a:t>Allah revealed to him </a:t>
            </a:r>
            <a:r>
              <a:rPr dirty="0" sz="1200" spc="-85">
                <a:latin typeface="Arial"/>
                <a:cs typeface="Arial"/>
              </a:rPr>
              <a:t>―Therefore </a:t>
            </a:r>
            <a:r>
              <a:rPr dirty="0" sz="1200" spc="-5">
                <a:latin typeface="Arial"/>
                <a:cs typeface="Arial"/>
              </a:rPr>
              <a:t>expound openly with what you </a:t>
            </a:r>
            <a:r>
              <a:rPr dirty="0" sz="1200">
                <a:latin typeface="Arial"/>
                <a:cs typeface="Arial"/>
              </a:rPr>
              <a:t>are </a:t>
            </a:r>
            <a:r>
              <a:rPr dirty="0" sz="1200" spc="-10">
                <a:latin typeface="Arial"/>
                <a:cs typeface="Arial"/>
              </a:rPr>
              <a:t>ordered  </a:t>
            </a:r>
            <a:r>
              <a:rPr dirty="0" sz="1200">
                <a:latin typeface="Arial"/>
                <a:cs typeface="Arial"/>
              </a:rPr>
              <a:t>and turn </a:t>
            </a:r>
            <a:r>
              <a:rPr dirty="0" sz="1200" spc="-5">
                <a:latin typeface="Arial"/>
                <a:cs typeface="Arial"/>
              </a:rPr>
              <a:t>away from </a:t>
            </a:r>
            <a:r>
              <a:rPr dirty="0" sz="1200" spc="-10">
                <a:latin typeface="Arial"/>
                <a:cs typeface="Arial"/>
              </a:rPr>
              <a:t>the </a:t>
            </a:r>
            <a:r>
              <a:rPr dirty="0" sz="1200" spc="-15">
                <a:latin typeface="Arial"/>
                <a:cs typeface="Arial"/>
              </a:rPr>
              <a:t>Mushrikin‖ </a:t>
            </a:r>
            <a:r>
              <a:rPr dirty="0" sz="1200" spc="-5">
                <a:latin typeface="Arial"/>
                <a:cs typeface="Arial"/>
              </a:rPr>
              <a:t>(15: </a:t>
            </a:r>
            <a:r>
              <a:rPr dirty="0" sz="1200">
                <a:latin typeface="Arial"/>
                <a:cs typeface="Arial"/>
              </a:rPr>
              <a:t>94) and </a:t>
            </a:r>
            <a:r>
              <a:rPr dirty="0" sz="1200" spc="-204">
                <a:latin typeface="Arial"/>
                <a:cs typeface="Arial"/>
              </a:rPr>
              <a:t>―And </a:t>
            </a:r>
            <a:r>
              <a:rPr dirty="0" sz="1200" spc="-5">
                <a:latin typeface="Arial"/>
                <a:cs typeface="Arial"/>
              </a:rPr>
              <a:t>warn your </a:t>
            </a:r>
            <a:r>
              <a:rPr dirty="0" sz="1200">
                <a:latin typeface="Arial"/>
                <a:cs typeface="Arial"/>
              </a:rPr>
              <a:t>tribe </a:t>
            </a:r>
            <a:r>
              <a:rPr dirty="0" sz="1200" spc="-5">
                <a:latin typeface="Arial"/>
                <a:cs typeface="Arial"/>
              </a:rPr>
              <a:t>of near </a:t>
            </a:r>
            <a:r>
              <a:rPr dirty="0" sz="1200" spc="-15">
                <a:latin typeface="Arial"/>
                <a:cs typeface="Arial"/>
              </a:rPr>
              <a:t>kindred‖ </a:t>
            </a:r>
            <a:r>
              <a:rPr dirty="0" sz="1200" spc="-10">
                <a:latin typeface="Arial"/>
                <a:cs typeface="Arial"/>
              </a:rPr>
              <a:t>(26:  </a:t>
            </a:r>
            <a:r>
              <a:rPr dirty="0" sz="1200" spc="-5">
                <a:latin typeface="Arial"/>
                <a:cs typeface="Arial"/>
              </a:rPr>
              <a:t>214). </a:t>
            </a:r>
            <a:r>
              <a:rPr dirty="0" sz="1200" spc="-10">
                <a:latin typeface="Arial"/>
                <a:cs typeface="Arial"/>
              </a:rPr>
              <a:t>He </a:t>
            </a:r>
            <a:r>
              <a:rPr dirty="0" sz="1200" spc="-5">
                <a:latin typeface="Arial"/>
                <a:cs typeface="Arial"/>
              </a:rPr>
              <a:t>then made a proclamation </a:t>
            </a:r>
            <a:r>
              <a:rPr dirty="0" sz="1200">
                <a:latin typeface="Arial"/>
                <a:cs typeface="Arial"/>
              </a:rPr>
              <a:t>at </a:t>
            </a:r>
            <a:r>
              <a:rPr dirty="0" sz="1200" spc="-5">
                <a:latin typeface="Arial"/>
                <a:cs typeface="Arial"/>
              </a:rPr>
              <a:t>mount Safa. He gathered his tribe and friends, </a:t>
            </a:r>
            <a:r>
              <a:rPr dirty="0" sz="1200" spc="-10">
                <a:latin typeface="Arial"/>
                <a:cs typeface="Arial"/>
              </a:rPr>
              <a:t>gained  </a:t>
            </a:r>
            <a:r>
              <a:rPr dirty="0" sz="1200">
                <a:latin typeface="Arial"/>
                <a:cs typeface="Arial"/>
              </a:rPr>
              <a:t>their trust </a:t>
            </a:r>
            <a:r>
              <a:rPr dirty="0" sz="1200" spc="-5">
                <a:latin typeface="Arial"/>
                <a:cs typeface="Arial"/>
              </a:rPr>
              <a:t>and belief in him and then made </a:t>
            </a:r>
            <a:r>
              <a:rPr dirty="0" sz="1200" spc="-10">
                <a:latin typeface="Arial"/>
                <a:cs typeface="Arial"/>
              </a:rPr>
              <a:t>the </a:t>
            </a:r>
            <a:r>
              <a:rPr dirty="0" sz="1200" spc="-5">
                <a:latin typeface="Arial"/>
                <a:cs typeface="Arial"/>
              </a:rPr>
              <a:t>proclamation about Tawheed and Nabouwat.  </a:t>
            </a:r>
            <a:r>
              <a:rPr dirty="0" sz="1200">
                <a:latin typeface="Arial"/>
                <a:cs typeface="Arial"/>
              </a:rPr>
              <a:t>But </a:t>
            </a:r>
            <a:r>
              <a:rPr dirty="0" sz="1200" spc="-5">
                <a:latin typeface="Arial"/>
                <a:cs typeface="Arial"/>
              </a:rPr>
              <a:t>they turned away and went back </a:t>
            </a:r>
            <a:r>
              <a:rPr dirty="0" sz="1200">
                <a:latin typeface="Arial"/>
                <a:cs typeface="Arial"/>
              </a:rPr>
              <a:t>to </a:t>
            </a:r>
            <a:r>
              <a:rPr dirty="0" sz="1200" spc="-5">
                <a:latin typeface="Arial"/>
                <a:cs typeface="Arial"/>
              </a:rPr>
              <a:t>their occupations. There </a:t>
            </a:r>
            <a:r>
              <a:rPr dirty="0" sz="1200" spc="-10">
                <a:latin typeface="Arial"/>
                <a:cs typeface="Arial"/>
              </a:rPr>
              <a:t>was </a:t>
            </a:r>
            <a:r>
              <a:rPr dirty="0" sz="1200" spc="-5">
                <a:latin typeface="Arial"/>
                <a:cs typeface="Arial"/>
              </a:rPr>
              <a:t>uproar of anger. They  </a:t>
            </a:r>
            <a:r>
              <a:rPr dirty="0" sz="1200">
                <a:latin typeface="Arial"/>
                <a:cs typeface="Arial"/>
              </a:rPr>
              <a:t>jeered </a:t>
            </a:r>
            <a:r>
              <a:rPr dirty="0" sz="1200" spc="-5">
                <a:latin typeface="Arial"/>
                <a:cs typeface="Arial"/>
              </a:rPr>
              <a:t>and laughed </a:t>
            </a:r>
            <a:r>
              <a:rPr dirty="0" sz="1200">
                <a:latin typeface="Arial"/>
                <a:cs typeface="Arial"/>
              </a:rPr>
              <a:t>at </a:t>
            </a:r>
            <a:r>
              <a:rPr dirty="0" sz="1200" spc="-5">
                <a:latin typeface="Arial"/>
                <a:cs typeface="Arial"/>
              </a:rPr>
              <a:t>him and </a:t>
            </a:r>
            <a:r>
              <a:rPr dirty="0" sz="1200" spc="-10">
                <a:latin typeface="Arial"/>
                <a:cs typeface="Arial"/>
              </a:rPr>
              <a:t>no </a:t>
            </a:r>
            <a:r>
              <a:rPr dirty="0" sz="1200" spc="-5">
                <a:latin typeface="Arial"/>
                <a:cs typeface="Arial"/>
              </a:rPr>
              <a:t>one accepted. </a:t>
            </a:r>
            <a:r>
              <a:rPr dirty="0" sz="1200">
                <a:latin typeface="Arial"/>
                <a:cs typeface="Arial"/>
              </a:rPr>
              <a:t>Few </a:t>
            </a:r>
            <a:r>
              <a:rPr dirty="0" sz="1200" spc="-5">
                <a:latin typeface="Arial"/>
                <a:cs typeface="Arial"/>
              </a:rPr>
              <a:t>days </a:t>
            </a:r>
            <a:r>
              <a:rPr dirty="0" sz="1200">
                <a:latin typeface="Arial"/>
                <a:cs typeface="Arial"/>
              </a:rPr>
              <a:t>later, </a:t>
            </a:r>
            <a:r>
              <a:rPr dirty="0" sz="1200" spc="-5">
                <a:latin typeface="Arial"/>
                <a:cs typeface="Arial"/>
              </a:rPr>
              <a:t>he organised a </a:t>
            </a:r>
            <a:r>
              <a:rPr dirty="0" sz="1200">
                <a:latin typeface="Arial"/>
                <a:cs typeface="Arial"/>
              </a:rPr>
              <a:t>banquet  </a:t>
            </a:r>
            <a:r>
              <a:rPr dirty="0" sz="1200" spc="-5">
                <a:latin typeface="Arial"/>
                <a:cs typeface="Arial"/>
              </a:rPr>
              <a:t>and there were </a:t>
            </a:r>
            <a:r>
              <a:rPr dirty="0" sz="1200">
                <a:latin typeface="Arial"/>
                <a:cs typeface="Arial"/>
              </a:rPr>
              <a:t>the same </a:t>
            </a:r>
            <a:r>
              <a:rPr dirty="0" sz="1200" spc="-5">
                <a:latin typeface="Arial"/>
                <a:cs typeface="Arial"/>
              </a:rPr>
              <a:t>attitudes from </a:t>
            </a:r>
            <a:r>
              <a:rPr dirty="0" sz="1200">
                <a:latin typeface="Arial"/>
                <a:cs typeface="Arial"/>
              </a:rPr>
              <a:t>them. The </a:t>
            </a:r>
            <a:r>
              <a:rPr dirty="0" sz="1200" spc="-5">
                <a:latin typeface="Arial"/>
                <a:cs typeface="Arial"/>
              </a:rPr>
              <a:t>prophet (s.a.w) </a:t>
            </a:r>
            <a:r>
              <a:rPr dirty="0" sz="1200" spc="-10">
                <a:latin typeface="Arial"/>
                <a:cs typeface="Arial"/>
              </a:rPr>
              <a:t>was </a:t>
            </a:r>
            <a:r>
              <a:rPr dirty="0" sz="1200">
                <a:latin typeface="Arial"/>
                <a:cs typeface="Arial"/>
              </a:rPr>
              <a:t>left </a:t>
            </a:r>
            <a:r>
              <a:rPr dirty="0" sz="1200" spc="-5">
                <a:latin typeface="Arial"/>
                <a:cs typeface="Arial"/>
              </a:rPr>
              <a:t>on his own to  spread Islam. They didn‘t interfere in his deeds and faith, thinking </a:t>
            </a:r>
            <a:r>
              <a:rPr dirty="0" sz="1200">
                <a:latin typeface="Arial"/>
                <a:cs typeface="Arial"/>
              </a:rPr>
              <a:t>that </a:t>
            </a:r>
            <a:r>
              <a:rPr dirty="0" sz="1200" spc="-5">
                <a:latin typeface="Arial"/>
                <a:cs typeface="Arial"/>
              </a:rPr>
              <a:t>he would </a:t>
            </a:r>
            <a:r>
              <a:rPr dirty="0" sz="1200">
                <a:latin typeface="Arial"/>
                <a:cs typeface="Arial"/>
              </a:rPr>
              <a:t>stop </a:t>
            </a:r>
            <a:r>
              <a:rPr dirty="0" sz="1200" spc="-5">
                <a:latin typeface="Arial"/>
                <a:cs typeface="Arial"/>
              </a:rPr>
              <a:t>sooner  or </a:t>
            </a:r>
            <a:r>
              <a:rPr dirty="0" sz="1200">
                <a:latin typeface="Arial"/>
                <a:cs typeface="Arial"/>
              </a:rPr>
              <a:t>later. When </a:t>
            </a:r>
            <a:r>
              <a:rPr dirty="0" sz="1200" spc="-5">
                <a:latin typeface="Arial"/>
                <a:cs typeface="Arial"/>
              </a:rPr>
              <a:t>his concepts were against their ways </a:t>
            </a:r>
            <a:r>
              <a:rPr dirty="0" sz="1200">
                <a:latin typeface="Arial"/>
                <a:cs typeface="Arial"/>
              </a:rPr>
              <a:t>of </a:t>
            </a:r>
            <a:r>
              <a:rPr dirty="0" sz="1200" spc="-5">
                <a:latin typeface="Arial"/>
                <a:cs typeface="Arial"/>
              </a:rPr>
              <a:t>dealings in </a:t>
            </a:r>
            <a:r>
              <a:rPr dirty="0" sz="1200" spc="5">
                <a:latin typeface="Arial"/>
                <a:cs typeface="Arial"/>
              </a:rPr>
              <a:t>the </a:t>
            </a:r>
            <a:r>
              <a:rPr dirty="0" sz="1200" spc="-5">
                <a:latin typeface="Arial"/>
                <a:cs typeface="Arial"/>
              </a:rPr>
              <a:t>society, </a:t>
            </a:r>
            <a:r>
              <a:rPr dirty="0" sz="1200">
                <a:latin typeface="Arial"/>
                <a:cs typeface="Arial"/>
              </a:rPr>
              <a:t>then </a:t>
            </a:r>
            <a:r>
              <a:rPr dirty="0" sz="1200" spc="-5">
                <a:latin typeface="Arial"/>
                <a:cs typeface="Arial"/>
              </a:rPr>
              <a:t>they </a:t>
            </a:r>
            <a:r>
              <a:rPr dirty="0" sz="1200">
                <a:latin typeface="Arial"/>
                <a:cs typeface="Arial"/>
              </a:rPr>
              <a:t>saw  </a:t>
            </a:r>
            <a:r>
              <a:rPr dirty="0" sz="1200" spc="-5">
                <a:latin typeface="Arial"/>
                <a:cs typeface="Arial"/>
              </a:rPr>
              <a:t>Prophet Muhammad (s.a.w) as a </a:t>
            </a:r>
            <a:r>
              <a:rPr dirty="0" sz="1200">
                <a:latin typeface="Arial"/>
                <a:cs typeface="Arial"/>
              </a:rPr>
              <a:t>threat. By the </a:t>
            </a:r>
            <a:r>
              <a:rPr dirty="0" sz="1200" spc="-5">
                <a:latin typeface="Arial"/>
                <a:cs typeface="Arial"/>
              </a:rPr>
              <a:t>year </a:t>
            </a:r>
            <a:r>
              <a:rPr dirty="0" sz="1200" spc="-5" b="1">
                <a:latin typeface="Arial"/>
                <a:cs typeface="Arial"/>
              </a:rPr>
              <a:t>614 </a:t>
            </a:r>
            <a:r>
              <a:rPr dirty="0" sz="1200" spc="-5">
                <a:latin typeface="Arial"/>
                <a:cs typeface="Arial"/>
              </a:rPr>
              <a:t>only 40 Muslims had accepted  </a:t>
            </a:r>
            <a:r>
              <a:rPr dirty="0" sz="1200">
                <a:latin typeface="Arial"/>
                <a:cs typeface="Arial"/>
              </a:rPr>
              <a:t>Islam. By that </a:t>
            </a:r>
            <a:r>
              <a:rPr dirty="0" sz="1200" spc="-5">
                <a:latin typeface="Arial"/>
                <a:cs typeface="Arial"/>
              </a:rPr>
              <a:t>time </a:t>
            </a:r>
            <a:r>
              <a:rPr dirty="0" sz="1200" spc="-10">
                <a:latin typeface="Arial"/>
                <a:cs typeface="Arial"/>
              </a:rPr>
              <a:t>both </a:t>
            </a:r>
            <a:r>
              <a:rPr dirty="0" sz="1200" spc="-5" b="1">
                <a:latin typeface="Arial"/>
                <a:cs typeface="Arial"/>
              </a:rPr>
              <a:t>physical and psychological persecutions </a:t>
            </a:r>
            <a:r>
              <a:rPr dirty="0" sz="1200">
                <a:latin typeface="Arial"/>
                <a:cs typeface="Arial"/>
              </a:rPr>
              <a:t>started. One </a:t>
            </a:r>
            <a:r>
              <a:rPr dirty="0" sz="1200" spc="-5">
                <a:latin typeface="Arial"/>
                <a:cs typeface="Arial"/>
              </a:rPr>
              <a:t>day when  Prophet Muhammad (s.a.w) proclaimed Shahadah </a:t>
            </a:r>
            <a:r>
              <a:rPr dirty="0" sz="1200" spc="5">
                <a:latin typeface="Arial"/>
                <a:cs typeface="Arial"/>
              </a:rPr>
              <a:t>(2</a:t>
            </a:r>
            <a:r>
              <a:rPr dirty="0" baseline="38194" sz="1200" spc="7">
                <a:latin typeface="Arial"/>
                <a:cs typeface="Arial"/>
              </a:rPr>
              <a:t>nd </a:t>
            </a:r>
            <a:r>
              <a:rPr dirty="0" sz="1200" spc="-5">
                <a:latin typeface="Arial"/>
                <a:cs typeface="Arial"/>
              </a:rPr>
              <a:t>Kalima) in </a:t>
            </a:r>
            <a:r>
              <a:rPr dirty="0" sz="1200">
                <a:latin typeface="Arial"/>
                <a:cs typeface="Arial"/>
              </a:rPr>
              <a:t>Mataaf, </a:t>
            </a:r>
            <a:r>
              <a:rPr dirty="0" sz="1200" spc="-5">
                <a:latin typeface="Arial"/>
                <a:cs typeface="Arial"/>
              </a:rPr>
              <a:t>he </a:t>
            </a:r>
            <a:r>
              <a:rPr dirty="0" sz="1200" spc="-10">
                <a:latin typeface="Arial"/>
                <a:cs typeface="Arial"/>
              </a:rPr>
              <a:t>was </a:t>
            </a:r>
            <a:r>
              <a:rPr dirty="0" sz="1200" spc="-5">
                <a:latin typeface="Arial"/>
                <a:cs typeface="Arial"/>
              </a:rPr>
              <a:t>assaulted.  </a:t>
            </a:r>
            <a:r>
              <a:rPr dirty="0" sz="1200">
                <a:latin typeface="Arial"/>
                <a:cs typeface="Arial"/>
              </a:rPr>
              <a:t>In </a:t>
            </a:r>
            <a:r>
              <a:rPr dirty="0" sz="1200" spc="-5">
                <a:latin typeface="Arial"/>
                <a:cs typeface="Arial"/>
              </a:rPr>
              <a:t>trying </a:t>
            </a:r>
            <a:r>
              <a:rPr dirty="0" sz="1200">
                <a:latin typeface="Arial"/>
                <a:cs typeface="Arial"/>
              </a:rPr>
              <a:t>to protect the </a:t>
            </a:r>
            <a:r>
              <a:rPr dirty="0" sz="1200" spc="-5">
                <a:latin typeface="Arial"/>
                <a:cs typeface="Arial"/>
              </a:rPr>
              <a:t>prophet (s.a.w) Harith bin Abi Hala </a:t>
            </a:r>
            <a:r>
              <a:rPr dirty="0" sz="1200" spc="-10">
                <a:latin typeface="Arial"/>
                <a:cs typeface="Arial"/>
              </a:rPr>
              <a:t>was </a:t>
            </a:r>
            <a:r>
              <a:rPr dirty="0" sz="1200" spc="-5">
                <a:latin typeface="Arial"/>
                <a:cs typeface="Arial"/>
              </a:rPr>
              <a:t>martyred. </a:t>
            </a:r>
            <a:r>
              <a:rPr dirty="0" sz="1200">
                <a:latin typeface="Arial"/>
                <a:cs typeface="Arial"/>
              </a:rPr>
              <a:t>The Quraish </a:t>
            </a:r>
            <a:r>
              <a:rPr dirty="0" sz="1200" spc="-5">
                <a:latin typeface="Arial"/>
                <a:cs typeface="Arial"/>
              </a:rPr>
              <a:t>wanted  </a:t>
            </a:r>
            <a:r>
              <a:rPr dirty="0" sz="1200">
                <a:latin typeface="Arial"/>
                <a:cs typeface="Arial"/>
              </a:rPr>
              <a:t>to</a:t>
            </a:r>
            <a:r>
              <a:rPr dirty="0" sz="1200" spc="130">
                <a:latin typeface="Arial"/>
                <a:cs typeface="Arial"/>
              </a:rPr>
              <a:t> </a:t>
            </a:r>
            <a:r>
              <a:rPr dirty="0" sz="1200" spc="-5">
                <a:latin typeface="Arial"/>
                <a:cs typeface="Arial"/>
              </a:rPr>
              <a:t>deal</a:t>
            </a:r>
            <a:r>
              <a:rPr dirty="0" sz="1200" spc="120">
                <a:latin typeface="Arial"/>
                <a:cs typeface="Arial"/>
              </a:rPr>
              <a:t> </a:t>
            </a:r>
            <a:r>
              <a:rPr dirty="0" sz="1200" spc="-5">
                <a:latin typeface="Arial"/>
                <a:cs typeface="Arial"/>
              </a:rPr>
              <a:t>with</a:t>
            </a:r>
            <a:r>
              <a:rPr dirty="0" sz="1200" spc="130">
                <a:latin typeface="Arial"/>
                <a:cs typeface="Arial"/>
              </a:rPr>
              <a:t> </a:t>
            </a:r>
            <a:r>
              <a:rPr dirty="0" sz="1200">
                <a:latin typeface="Arial"/>
                <a:cs typeface="Arial"/>
              </a:rPr>
              <a:t>him.</a:t>
            </a:r>
            <a:r>
              <a:rPr dirty="0" sz="1200" spc="125">
                <a:latin typeface="Arial"/>
                <a:cs typeface="Arial"/>
              </a:rPr>
              <a:t> </a:t>
            </a:r>
            <a:r>
              <a:rPr dirty="0" sz="1200">
                <a:latin typeface="Arial"/>
                <a:cs typeface="Arial"/>
              </a:rPr>
              <a:t>They</a:t>
            </a:r>
            <a:r>
              <a:rPr dirty="0" sz="1200" spc="110">
                <a:latin typeface="Arial"/>
                <a:cs typeface="Arial"/>
              </a:rPr>
              <a:t> </a:t>
            </a:r>
            <a:r>
              <a:rPr dirty="0" sz="1200" spc="-5">
                <a:latin typeface="Arial"/>
                <a:cs typeface="Arial"/>
              </a:rPr>
              <a:t>proposed</a:t>
            </a:r>
            <a:r>
              <a:rPr dirty="0" sz="1200" spc="130">
                <a:latin typeface="Arial"/>
                <a:cs typeface="Arial"/>
              </a:rPr>
              <a:t> </a:t>
            </a:r>
            <a:r>
              <a:rPr dirty="0" sz="1200" spc="-10">
                <a:latin typeface="Arial"/>
                <a:cs typeface="Arial"/>
              </a:rPr>
              <a:t>him</a:t>
            </a:r>
            <a:r>
              <a:rPr dirty="0" sz="1200" spc="120">
                <a:latin typeface="Arial"/>
                <a:cs typeface="Arial"/>
              </a:rPr>
              <a:t> </a:t>
            </a:r>
            <a:r>
              <a:rPr dirty="0" sz="1200">
                <a:latin typeface="Arial"/>
                <a:cs typeface="Arial"/>
              </a:rPr>
              <a:t>for</a:t>
            </a:r>
            <a:r>
              <a:rPr dirty="0" sz="1200" spc="120">
                <a:latin typeface="Arial"/>
                <a:cs typeface="Arial"/>
              </a:rPr>
              <a:t> </a:t>
            </a:r>
            <a:r>
              <a:rPr dirty="0" sz="1200" spc="-5">
                <a:latin typeface="Arial"/>
                <a:cs typeface="Arial"/>
              </a:rPr>
              <a:t>wives,</a:t>
            </a:r>
            <a:r>
              <a:rPr dirty="0" sz="1200" spc="125">
                <a:latin typeface="Arial"/>
                <a:cs typeface="Arial"/>
              </a:rPr>
              <a:t> </a:t>
            </a:r>
            <a:r>
              <a:rPr dirty="0" sz="1200" spc="-5">
                <a:latin typeface="Arial"/>
                <a:cs typeface="Arial"/>
              </a:rPr>
              <a:t>slaves,</a:t>
            </a:r>
            <a:r>
              <a:rPr dirty="0" sz="1200" spc="125">
                <a:latin typeface="Arial"/>
                <a:cs typeface="Arial"/>
              </a:rPr>
              <a:t> </a:t>
            </a:r>
            <a:r>
              <a:rPr dirty="0" sz="1200" spc="-5">
                <a:latin typeface="Arial"/>
                <a:cs typeface="Arial"/>
              </a:rPr>
              <a:t>money,</a:t>
            </a:r>
            <a:r>
              <a:rPr dirty="0" sz="1200" spc="125">
                <a:latin typeface="Arial"/>
                <a:cs typeface="Arial"/>
              </a:rPr>
              <a:t> </a:t>
            </a:r>
            <a:r>
              <a:rPr dirty="0" sz="1200">
                <a:latin typeface="Arial"/>
                <a:cs typeface="Arial"/>
              </a:rPr>
              <a:t>fame,</a:t>
            </a:r>
            <a:r>
              <a:rPr dirty="0" sz="1200" spc="125">
                <a:latin typeface="Arial"/>
                <a:cs typeface="Arial"/>
              </a:rPr>
              <a:t> </a:t>
            </a:r>
            <a:r>
              <a:rPr dirty="0" sz="1200" spc="-5">
                <a:latin typeface="Arial"/>
                <a:cs typeface="Arial"/>
              </a:rPr>
              <a:t>children</a:t>
            </a:r>
            <a:r>
              <a:rPr dirty="0" sz="1200" spc="130">
                <a:latin typeface="Arial"/>
                <a:cs typeface="Arial"/>
              </a:rPr>
              <a:t> </a:t>
            </a:r>
            <a:r>
              <a:rPr dirty="0" sz="1200" spc="-5">
                <a:latin typeface="Arial"/>
                <a:cs typeface="Arial"/>
              </a:rPr>
              <a:t>and</a:t>
            </a:r>
            <a:r>
              <a:rPr dirty="0" sz="1200" spc="130">
                <a:latin typeface="Arial"/>
                <a:cs typeface="Arial"/>
              </a:rPr>
              <a:t> </a:t>
            </a:r>
            <a:r>
              <a:rPr dirty="0" sz="1200" spc="-10">
                <a:latin typeface="Arial"/>
                <a:cs typeface="Arial"/>
              </a:rPr>
              <a:t>houses.</a:t>
            </a:r>
            <a:endParaRPr sz="1200">
              <a:latin typeface="Arial"/>
              <a:cs typeface="Arial"/>
            </a:endParaRPr>
          </a:p>
        </p:txBody>
      </p:sp>
      <p:sp>
        <p:nvSpPr>
          <p:cNvPr id="5" name="object 5"/>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6" name="object 6"/>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45516" y="432307"/>
            <a:ext cx="6489700" cy="9338310"/>
          </a:xfrm>
          <a:prstGeom prst="rect">
            <a:avLst/>
          </a:prstGeom>
        </p:spPr>
        <p:txBody>
          <a:bodyPr wrap="square" lIns="0" tIns="12700" rIns="0" bIns="0" rtlCol="0" vert="horz">
            <a:spAutoFit/>
          </a:bodyPr>
          <a:lstStyle/>
          <a:p>
            <a:pPr algn="just" marL="101600">
              <a:lnSpc>
                <a:spcPct val="100000"/>
              </a:lnSpc>
              <a:spcBef>
                <a:spcPts val="100"/>
              </a:spcBef>
              <a:tabLst>
                <a:tab pos="51523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01600" marR="98425">
              <a:lnSpc>
                <a:spcPts val="1380"/>
              </a:lnSpc>
            </a:pPr>
            <a:r>
              <a:rPr dirty="0" sz="1200" spc="-5">
                <a:latin typeface="Arial"/>
                <a:cs typeface="Arial"/>
              </a:rPr>
              <a:t>The prophet </a:t>
            </a:r>
            <a:r>
              <a:rPr dirty="0" sz="1200">
                <a:latin typeface="Arial"/>
                <a:cs typeface="Arial"/>
              </a:rPr>
              <a:t>(s.a.w </a:t>
            </a:r>
            <a:r>
              <a:rPr dirty="0" sz="1200" spc="-5">
                <a:latin typeface="Arial"/>
                <a:cs typeface="Arial"/>
              </a:rPr>
              <a:t>replied that </a:t>
            </a:r>
            <a:r>
              <a:rPr dirty="0" sz="1200" spc="-10">
                <a:latin typeface="Arial"/>
                <a:cs typeface="Arial"/>
              </a:rPr>
              <a:t>if </a:t>
            </a:r>
            <a:r>
              <a:rPr dirty="0" sz="1200">
                <a:latin typeface="Arial"/>
                <a:cs typeface="Arial"/>
              </a:rPr>
              <a:t>they </a:t>
            </a:r>
            <a:r>
              <a:rPr dirty="0" sz="1200" spc="-10">
                <a:latin typeface="Arial"/>
                <a:cs typeface="Arial"/>
              </a:rPr>
              <a:t>gave </a:t>
            </a:r>
            <a:r>
              <a:rPr dirty="0" sz="1200" spc="10">
                <a:latin typeface="Arial"/>
                <a:cs typeface="Arial"/>
              </a:rPr>
              <a:t>him </a:t>
            </a:r>
            <a:r>
              <a:rPr dirty="0" sz="1200" spc="-5">
                <a:latin typeface="Arial"/>
                <a:cs typeface="Arial"/>
              </a:rPr>
              <a:t>the </a:t>
            </a:r>
            <a:r>
              <a:rPr dirty="0" sz="1200" spc="-10">
                <a:latin typeface="Arial"/>
                <a:cs typeface="Arial"/>
              </a:rPr>
              <a:t>sun </a:t>
            </a:r>
            <a:r>
              <a:rPr dirty="0" sz="1200" spc="-5">
                <a:latin typeface="Arial"/>
                <a:cs typeface="Arial"/>
              </a:rPr>
              <a:t>in right hand and the moon in left  hand, </a:t>
            </a:r>
            <a:r>
              <a:rPr dirty="0" sz="1200" spc="-10">
                <a:latin typeface="Arial"/>
                <a:cs typeface="Arial"/>
              </a:rPr>
              <a:t>he </a:t>
            </a:r>
            <a:r>
              <a:rPr dirty="0" sz="1200" spc="-5">
                <a:latin typeface="Arial"/>
                <a:cs typeface="Arial"/>
              </a:rPr>
              <a:t>would </a:t>
            </a:r>
            <a:r>
              <a:rPr dirty="0" sz="1200" spc="-10">
                <a:latin typeface="Arial"/>
                <a:cs typeface="Arial"/>
              </a:rPr>
              <a:t>never </a:t>
            </a:r>
            <a:r>
              <a:rPr dirty="0" sz="1200" spc="-5">
                <a:latin typeface="Arial"/>
                <a:cs typeface="Arial"/>
              </a:rPr>
              <a:t>abandon </a:t>
            </a:r>
            <a:r>
              <a:rPr dirty="0" sz="1200">
                <a:latin typeface="Arial"/>
                <a:cs typeface="Arial"/>
              </a:rPr>
              <a:t>his </a:t>
            </a:r>
            <a:r>
              <a:rPr dirty="0" sz="1200" spc="-5">
                <a:latin typeface="Arial"/>
                <a:cs typeface="Arial"/>
              </a:rPr>
              <a:t>mission. Then persecution gained </a:t>
            </a:r>
            <a:r>
              <a:rPr dirty="0" sz="1200">
                <a:latin typeface="Arial"/>
                <a:cs typeface="Arial"/>
              </a:rPr>
              <a:t>much</a:t>
            </a:r>
            <a:r>
              <a:rPr dirty="0" sz="1200" spc="95">
                <a:latin typeface="Arial"/>
                <a:cs typeface="Arial"/>
              </a:rPr>
              <a:t> </a:t>
            </a:r>
            <a:r>
              <a:rPr dirty="0" sz="1200" spc="-5">
                <a:latin typeface="Arial"/>
                <a:cs typeface="Arial"/>
              </a:rPr>
              <a:t>momentum.</a:t>
            </a:r>
            <a:endParaRPr sz="1200">
              <a:latin typeface="Arial"/>
              <a:cs typeface="Arial"/>
            </a:endParaRPr>
          </a:p>
          <a:p>
            <a:pPr>
              <a:lnSpc>
                <a:spcPct val="100000"/>
              </a:lnSpc>
              <a:spcBef>
                <a:spcPts val="5"/>
              </a:spcBef>
            </a:pPr>
            <a:endParaRPr sz="1200">
              <a:latin typeface="Arial"/>
              <a:cs typeface="Arial"/>
            </a:endParaRPr>
          </a:p>
          <a:p>
            <a:pPr algn="just" marL="101600" marR="93980">
              <a:lnSpc>
                <a:spcPts val="1380"/>
              </a:lnSpc>
            </a:pPr>
            <a:r>
              <a:rPr dirty="0" sz="1200">
                <a:latin typeface="Arial"/>
                <a:cs typeface="Arial"/>
              </a:rPr>
              <a:t>As </a:t>
            </a:r>
            <a:r>
              <a:rPr dirty="0" sz="1200" spc="-5">
                <a:latin typeface="Arial"/>
                <a:cs typeface="Arial"/>
              </a:rPr>
              <a:t>from the year </a:t>
            </a:r>
            <a:r>
              <a:rPr dirty="0" sz="1200" spc="-5" b="1">
                <a:latin typeface="Arial"/>
                <a:cs typeface="Arial"/>
              </a:rPr>
              <a:t>614 </a:t>
            </a:r>
            <a:r>
              <a:rPr dirty="0" sz="1200" spc="-5">
                <a:latin typeface="Arial"/>
                <a:cs typeface="Arial"/>
              </a:rPr>
              <a:t>the poor, destitute and needy </a:t>
            </a:r>
            <a:r>
              <a:rPr dirty="0" sz="1200" spc="-10">
                <a:latin typeface="Arial"/>
                <a:cs typeface="Arial"/>
              </a:rPr>
              <a:t>who </a:t>
            </a:r>
            <a:r>
              <a:rPr dirty="0" sz="1200" spc="-5">
                <a:latin typeface="Arial"/>
                <a:cs typeface="Arial"/>
              </a:rPr>
              <a:t>accepted Islam were put in prisons  starved and beaten with </a:t>
            </a:r>
            <a:r>
              <a:rPr dirty="0" sz="1200">
                <a:latin typeface="Arial"/>
                <a:cs typeface="Arial"/>
              </a:rPr>
              <a:t>sticks. They were exposed to the </a:t>
            </a:r>
            <a:r>
              <a:rPr dirty="0" sz="1200" spc="-5">
                <a:latin typeface="Arial"/>
                <a:cs typeface="Arial"/>
              </a:rPr>
              <a:t>scorching </a:t>
            </a:r>
            <a:r>
              <a:rPr dirty="0" sz="1200">
                <a:latin typeface="Arial"/>
                <a:cs typeface="Arial"/>
              </a:rPr>
              <a:t>sun. </a:t>
            </a:r>
            <a:r>
              <a:rPr dirty="0" sz="1200" spc="-5">
                <a:latin typeface="Arial"/>
                <a:cs typeface="Arial"/>
              </a:rPr>
              <a:t>They were </a:t>
            </a:r>
            <a:r>
              <a:rPr dirty="0" sz="1200">
                <a:latin typeface="Arial"/>
                <a:cs typeface="Arial"/>
              </a:rPr>
              <a:t>tortured  </a:t>
            </a:r>
            <a:r>
              <a:rPr dirty="0" sz="1200" spc="-5">
                <a:latin typeface="Arial"/>
                <a:cs typeface="Arial"/>
              </a:rPr>
              <a:t>and killed. Rubbish </a:t>
            </a:r>
            <a:r>
              <a:rPr dirty="0" sz="1200" spc="-10">
                <a:latin typeface="Arial"/>
                <a:cs typeface="Arial"/>
              </a:rPr>
              <a:t>and </a:t>
            </a:r>
            <a:r>
              <a:rPr dirty="0" sz="1200" spc="-5">
                <a:latin typeface="Arial"/>
                <a:cs typeface="Arial"/>
              </a:rPr>
              <a:t>thorny bushes were thrown on Prophet Muhammad (s.a.w), </a:t>
            </a:r>
            <a:r>
              <a:rPr dirty="0" sz="1200">
                <a:latin typeface="Arial"/>
                <a:cs typeface="Arial"/>
              </a:rPr>
              <a:t>thorns  </a:t>
            </a:r>
            <a:r>
              <a:rPr dirty="0" sz="1200" spc="-5">
                <a:latin typeface="Arial"/>
                <a:cs typeface="Arial"/>
              </a:rPr>
              <a:t>were </a:t>
            </a:r>
            <a:r>
              <a:rPr dirty="0" sz="1200">
                <a:latin typeface="Arial"/>
                <a:cs typeface="Arial"/>
              </a:rPr>
              <a:t>put on </a:t>
            </a:r>
            <a:r>
              <a:rPr dirty="0" sz="1200" spc="-5">
                <a:latin typeface="Arial"/>
                <a:cs typeface="Arial"/>
              </a:rPr>
              <a:t>his </a:t>
            </a:r>
            <a:r>
              <a:rPr dirty="0" sz="1200" spc="-10">
                <a:latin typeface="Arial"/>
                <a:cs typeface="Arial"/>
              </a:rPr>
              <a:t>way, </a:t>
            </a:r>
            <a:r>
              <a:rPr dirty="0" sz="1200">
                <a:latin typeface="Arial"/>
                <a:cs typeface="Arial"/>
              </a:rPr>
              <a:t>refuse </a:t>
            </a:r>
            <a:r>
              <a:rPr dirty="0" sz="1200" spc="-5">
                <a:latin typeface="Arial"/>
                <a:cs typeface="Arial"/>
              </a:rPr>
              <a:t>and camel‘s </a:t>
            </a:r>
            <a:r>
              <a:rPr dirty="0" sz="1200">
                <a:latin typeface="Arial"/>
                <a:cs typeface="Arial"/>
              </a:rPr>
              <a:t>foetus </a:t>
            </a:r>
            <a:r>
              <a:rPr dirty="0" sz="1200" spc="-5">
                <a:latin typeface="Arial"/>
                <a:cs typeface="Arial"/>
              </a:rPr>
              <a:t>were thrown </a:t>
            </a:r>
            <a:r>
              <a:rPr dirty="0" sz="1200">
                <a:latin typeface="Arial"/>
                <a:cs typeface="Arial"/>
              </a:rPr>
              <a:t>on </a:t>
            </a:r>
            <a:r>
              <a:rPr dirty="0" sz="1200" spc="-5">
                <a:latin typeface="Arial"/>
                <a:cs typeface="Arial"/>
              </a:rPr>
              <a:t>him, people jeered and  sneered </a:t>
            </a:r>
            <a:r>
              <a:rPr dirty="0" sz="1200">
                <a:latin typeface="Arial"/>
                <a:cs typeface="Arial"/>
              </a:rPr>
              <a:t>at </a:t>
            </a:r>
            <a:r>
              <a:rPr dirty="0" sz="1200" spc="-5">
                <a:latin typeface="Arial"/>
                <a:cs typeface="Arial"/>
              </a:rPr>
              <a:t>him and stones were </a:t>
            </a:r>
            <a:r>
              <a:rPr dirty="0" sz="1200">
                <a:latin typeface="Arial"/>
                <a:cs typeface="Arial"/>
              </a:rPr>
              <a:t>thrown at </a:t>
            </a:r>
            <a:r>
              <a:rPr dirty="0" sz="1200" spc="-5">
                <a:latin typeface="Arial"/>
                <a:cs typeface="Arial"/>
              </a:rPr>
              <a:t>him. </a:t>
            </a:r>
            <a:r>
              <a:rPr dirty="0" sz="1200">
                <a:latin typeface="Arial"/>
                <a:cs typeface="Arial"/>
              </a:rPr>
              <a:t>At Ta‘if he </a:t>
            </a:r>
            <a:r>
              <a:rPr dirty="0" sz="1200" spc="-5">
                <a:latin typeface="Arial"/>
                <a:cs typeface="Arial"/>
              </a:rPr>
              <a:t>was pelted </a:t>
            </a:r>
            <a:r>
              <a:rPr dirty="0" sz="1200" spc="-10">
                <a:latin typeface="Arial"/>
                <a:cs typeface="Arial"/>
              </a:rPr>
              <a:t>with </a:t>
            </a:r>
            <a:r>
              <a:rPr dirty="0" sz="1200" spc="-5">
                <a:latin typeface="Arial"/>
                <a:cs typeface="Arial"/>
              </a:rPr>
              <a:t>stones by street  </a:t>
            </a:r>
            <a:r>
              <a:rPr dirty="0" sz="1200">
                <a:latin typeface="Arial"/>
                <a:cs typeface="Arial"/>
              </a:rPr>
              <a:t>urchins </a:t>
            </a:r>
            <a:r>
              <a:rPr dirty="0" sz="1200" spc="-5">
                <a:latin typeface="Arial"/>
                <a:cs typeface="Arial"/>
              </a:rPr>
              <a:t>(rogues).His companions were put </a:t>
            </a:r>
            <a:r>
              <a:rPr dirty="0" sz="1200">
                <a:latin typeface="Arial"/>
                <a:cs typeface="Arial"/>
              </a:rPr>
              <a:t>to </a:t>
            </a:r>
            <a:r>
              <a:rPr dirty="0" sz="1200" spc="-5">
                <a:latin typeface="Arial"/>
                <a:cs typeface="Arial"/>
              </a:rPr>
              <a:t>death. </a:t>
            </a:r>
            <a:r>
              <a:rPr dirty="0" sz="1200" spc="-70">
                <a:latin typeface="Arial"/>
                <a:cs typeface="Arial"/>
              </a:rPr>
              <a:t>‗Uqbah </a:t>
            </a:r>
            <a:r>
              <a:rPr dirty="0" sz="1200" spc="-5">
                <a:latin typeface="Arial"/>
                <a:cs typeface="Arial"/>
              </a:rPr>
              <a:t>bin </a:t>
            </a:r>
            <a:r>
              <a:rPr dirty="0" sz="1200">
                <a:latin typeface="Arial"/>
                <a:cs typeface="Arial"/>
              </a:rPr>
              <a:t>Abi </a:t>
            </a:r>
            <a:r>
              <a:rPr dirty="0" sz="1200" spc="-5">
                <a:latin typeface="Arial"/>
                <a:cs typeface="Arial"/>
              </a:rPr>
              <a:t>Mu‘ith wanted </a:t>
            </a:r>
            <a:r>
              <a:rPr dirty="0" sz="1200">
                <a:latin typeface="Arial"/>
                <a:cs typeface="Arial"/>
              </a:rPr>
              <a:t>to  </a:t>
            </a:r>
            <a:r>
              <a:rPr dirty="0" sz="1200" spc="-5">
                <a:latin typeface="Arial"/>
                <a:cs typeface="Arial"/>
              </a:rPr>
              <a:t>strangulate him with his handkerchief. Slaves were </a:t>
            </a:r>
            <a:r>
              <a:rPr dirty="0" sz="1200">
                <a:latin typeface="Arial"/>
                <a:cs typeface="Arial"/>
              </a:rPr>
              <a:t>the </a:t>
            </a:r>
            <a:r>
              <a:rPr dirty="0" sz="1200" spc="-5">
                <a:latin typeface="Arial"/>
                <a:cs typeface="Arial"/>
              </a:rPr>
              <a:t>worst </a:t>
            </a:r>
            <a:r>
              <a:rPr dirty="0" sz="1200">
                <a:latin typeface="Arial"/>
                <a:cs typeface="Arial"/>
              </a:rPr>
              <a:t>sufferers. </a:t>
            </a:r>
            <a:r>
              <a:rPr dirty="0" sz="1200" spc="-5">
                <a:latin typeface="Arial"/>
                <a:cs typeface="Arial"/>
              </a:rPr>
              <a:t>They received  beatings</a:t>
            </a:r>
            <a:r>
              <a:rPr dirty="0" sz="1200" spc="90">
                <a:latin typeface="Arial"/>
                <a:cs typeface="Arial"/>
              </a:rPr>
              <a:t> </a:t>
            </a:r>
            <a:r>
              <a:rPr dirty="0" sz="1200" spc="-5">
                <a:latin typeface="Arial"/>
                <a:cs typeface="Arial"/>
              </a:rPr>
              <a:t>from</a:t>
            </a:r>
            <a:r>
              <a:rPr dirty="0" sz="1200" spc="100">
                <a:latin typeface="Arial"/>
                <a:cs typeface="Arial"/>
              </a:rPr>
              <a:t> </a:t>
            </a:r>
            <a:r>
              <a:rPr dirty="0" sz="1200" spc="-5">
                <a:latin typeface="Arial"/>
                <a:cs typeface="Arial"/>
              </a:rPr>
              <a:t>their</a:t>
            </a:r>
            <a:r>
              <a:rPr dirty="0" sz="1200" spc="80">
                <a:latin typeface="Arial"/>
                <a:cs typeface="Arial"/>
              </a:rPr>
              <a:t> </a:t>
            </a:r>
            <a:r>
              <a:rPr dirty="0" sz="1200">
                <a:latin typeface="Arial"/>
                <a:cs typeface="Arial"/>
              </a:rPr>
              <a:t>Masters.</a:t>
            </a:r>
            <a:r>
              <a:rPr dirty="0" sz="1200" spc="114">
                <a:latin typeface="Arial"/>
                <a:cs typeface="Arial"/>
              </a:rPr>
              <a:t> </a:t>
            </a:r>
            <a:r>
              <a:rPr dirty="0" sz="1200" spc="-5">
                <a:latin typeface="Arial"/>
                <a:cs typeface="Arial"/>
              </a:rPr>
              <a:t>Abu</a:t>
            </a:r>
            <a:r>
              <a:rPr dirty="0" sz="1200" spc="95">
                <a:latin typeface="Arial"/>
                <a:cs typeface="Arial"/>
              </a:rPr>
              <a:t> </a:t>
            </a:r>
            <a:r>
              <a:rPr dirty="0" sz="1200" spc="-5">
                <a:latin typeface="Arial"/>
                <a:cs typeface="Arial"/>
              </a:rPr>
              <a:t>Jahl,</a:t>
            </a:r>
            <a:r>
              <a:rPr dirty="0" sz="1200" spc="75">
                <a:latin typeface="Arial"/>
                <a:cs typeface="Arial"/>
              </a:rPr>
              <a:t> </a:t>
            </a:r>
            <a:r>
              <a:rPr dirty="0" sz="1200" spc="-5">
                <a:latin typeface="Arial"/>
                <a:cs typeface="Arial"/>
              </a:rPr>
              <a:t>Abu</a:t>
            </a:r>
            <a:r>
              <a:rPr dirty="0" sz="1200" spc="85">
                <a:latin typeface="Arial"/>
                <a:cs typeface="Arial"/>
              </a:rPr>
              <a:t> </a:t>
            </a:r>
            <a:r>
              <a:rPr dirty="0" sz="1200" spc="-5">
                <a:latin typeface="Arial"/>
                <a:cs typeface="Arial"/>
              </a:rPr>
              <a:t>Lahab,</a:t>
            </a:r>
            <a:r>
              <a:rPr dirty="0" sz="1200" spc="65">
                <a:latin typeface="Arial"/>
                <a:cs typeface="Arial"/>
              </a:rPr>
              <a:t> </a:t>
            </a:r>
            <a:r>
              <a:rPr dirty="0" sz="1200">
                <a:latin typeface="Arial"/>
                <a:cs typeface="Arial"/>
              </a:rPr>
              <a:t>Walid</a:t>
            </a:r>
            <a:r>
              <a:rPr dirty="0" sz="1200" spc="95">
                <a:latin typeface="Arial"/>
                <a:cs typeface="Arial"/>
              </a:rPr>
              <a:t> </a:t>
            </a:r>
            <a:r>
              <a:rPr dirty="0" sz="1200" spc="-5">
                <a:latin typeface="Arial"/>
                <a:cs typeface="Arial"/>
              </a:rPr>
              <a:t>bin</a:t>
            </a:r>
            <a:r>
              <a:rPr dirty="0" sz="1200" spc="90">
                <a:latin typeface="Arial"/>
                <a:cs typeface="Arial"/>
              </a:rPr>
              <a:t> </a:t>
            </a:r>
            <a:r>
              <a:rPr dirty="0" sz="1200" spc="-5">
                <a:latin typeface="Arial"/>
                <a:cs typeface="Arial"/>
              </a:rPr>
              <a:t>Mughirah,</a:t>
            </a:r>
            <a:r>
              <a:rPr dirty="0" sz="1200" spc="95">
                <a:latin typeface="Arial"/>
                <a:cs typeface="Arial"/>
              </a:rPr>
              <a:t> </a:t>
            </a:r>
            <a:r>
              <a:rPr dirty="0" sz="1200" spc="-10">
                <a:latin typeface="Arial"/>
                <a:cs typeface="Arial"/>
              </a:rPr>
              <a:t>Umayyah</a:t>
            </a:r>
            <a:r>
              <a:rPr dirty="0" sz="1200" spc="95">
                <a:latin typeface="Arial"/>
                <a:cs typeface="Arial"/>
              </a:rPr>
              <a:t> </a:t>
            </a:r>
            <a:r>
              <a:rPr dirty="0" sz="1200" spc="-5">
                <a:latin typeface="Arial"/>
                <a:cs typeface="Arial"/>
              </a:rPr>
              <a:t>bin</a:t>
            </a:r>
            <a:r>
              <a:rPr dirty="0" sz="1200" spc="90">
                <a:latin typeface="Arial"/>
                <a:cs typeface="Arial"/>
              </a:rPr>
              <a:t> </a:t>
            </a:r>
            <a:r>
              <a:rPr dirty="0" sz="1200" spc="-5">
                <a:latin typeface="Arial"/>
                <a:cs typeface="Arial"/>
              </a:rPr>
              <a:t>Khalf,</a:t>
            </a:r>
            <a:endParaRPr sz="1200">
              <a:latin typeface="Arial"/>
              <a:cs typeface="Arial"/>
            </a:endParaRPr>
          </a:p>
          <a:p>
            <a:pPr algn="just" marL="101600" marR="97155">
              <a:lnSpc>
                <a:spcPts val="1380"/>
              </a:lnSpc>
            </a:pPr>
            <a:r>
              <a:rPr dirty="0" sz="1200" spc="-140">
                <a:latin typeface="Arial"/>
                <a:cs typeface="Arial"/>
              </a:rPr>
              <a:t>‗As </a:t>
            </a:r>
            <a:r>
              <a:rPr dirty="0" sz="1200" spc="-5">
                <a:latin typeface="Arial"/>
                <a:cs typeface="Arial"/>
              </a:rPr>
              <a:t>bin </a:t>
            </a:r>
            <a:r>
              <a:rPr dirty="0" sz="1200">
                <a:latin typeface="Arial"/>
                <a:cs typeface="Arial"/>
              </a:rPr>
              <a:t>Wail </a:t>
            </a:r>
            <a:r>
              <a:rPr dirty="0" sz="1200" spc="-5">
                <a:latin typeface="Arial"/>
                <a:cs typeface="Arial"/>
              </a:rPr>
              <a:t>were </a:t>
            </a:r>
            <a:r>
              <a:rPr dirty="0" sz="1200">
                <a:latin typeface="Arial"/>
                <a:cs typeface="Arial"/>
              </a:rPr>
              <a:t>the </a:t>
            </a:r>
            <a:r>
              <a:rPr dirty="0" sz="1200" spc="-5">
                <a:latin typeface="Arial"/>
                <a:cs typeface="Arial"/>
              </a:rPr>
              <a:t>worst </a:t>
            </a:r>
            <a:r>
              <a:rPr dirty="0" sz="1200">
                <a:latin typeface="Arial"/>
                <a:cs typeface="Arial"/>
              </a:rPr>
              <a:t>persecutors. </a:t>
            </a:r>
            <a:r>
              <a:rPr dirty="0" sz="1200" spc="-5">
                <a:latin typeface="Arial"/>
                <a:cs typeface="Arial"/>
              </a:rPr>
              <a:t>The prophet (s.a.w) </a:t>
            </a:r>
            <a:r>
              <a:rPr dirty="0" sz="1200">
                <a:latin typeface="Arial"/>
                <a:cs typeface="Arial"/>
              </a:rPr>
              <a:t>and </a:t>
            </a:r>
            <a:r>
              <a:rPr dirty="0" sz="1200" spc="-10">
                <a:latin typeface="Arial"/>
                <a:cs typeface="Arial"/>
              </a:rPr>
              <a:t>the </a:t>
            </a:r>
            <a:r>
              <a:rPr dirty="0" sz="1200" spc="-5">
                <a:latin typeface="Arial"/>
                <a:cs typeface="Arial"/>
              </a:rPr>
              <a:t>Muslims were attacked  by crowd. Psychological persecutions like Abusive poems and lampoons were created for  satirising  and  ridiculing  </a:t>
            </a:r>
            <a:r>
              <a:rPr dirty="0" sz="1200">
                <a:latin typeface="Arial"/>
                <a:cs typeface="Arial"/>
              </a:rPr>
              <a:t>him. </a:t>
            </a:r>
            <a:r>
              <a:rPr dirty="0" sz="1200" spc="-5">
                <a:latin typeface="Arial"/>
                <a:cs typeface="Arial"/>
              </a:rPr>
              <a:t>They  made  fun  of  him  during  Swalaat.  </a:t>
            </a:r>
            <a:r>
              <a:rPr dirty="0" sz="1200">
                <a:latin typeface="Arial"/>
                <a:cs typeface="Arial"/>
              </a:rPr>
              <a:t>They </a:t>
            </a:r>
            <a:r>
              <a:rPr dirty="0" sz="1200" spc="-5">
                <a:latin typeface="Arial"/>
                <a:cs typeface="Arial"/>
              </a:rPr>
              <a:t>called  him </a:t>
            </a:r>
            <a:r>
              <a:rPr dirty="0" sz="1200" spc="35">
                <a:latin typeface="Arial"/>
                <a:cs typeface="Arial"/>
              </a:rPr>
              <a:t> </a:t>
            </a:r>
            <a:r>
              <a:rPr dirty="0" sz="1200" spc="-5">
                <a:latin typeface="Arial"/>
                <a:cs typeface="Arial"/>
              </a:rPr>
              <a:t>by</a:t>
            </a:r>
            <a:endParaRPr sz="1200">
              <a:latin typeface="Arial"/>
              <a:cs typeface="Arial"/>
            </a:endParaRPr>
          </a:p>
          <a:p>
            <a:pPr algn="just" marL="101600" marR="94615">
              <a:lnSpc>
                <a:spcPts val="1380"/>
              </a:lnSpc>
            </a:pPr>
            <a:r>
              <a:rPr dirty="0" sz="1200" spc="-5">
                <a:latin typeface="Arial"/>
                <a:cs typeface="Arial"/>
              </a:rPr>
              <a:t>different names such as poet, wizard, </a:t>
            </a:r>
            <a:r>
              <a:rPr dirty="0" sz="1200">
                <a:latin typeface="Arial"/>
                <a:cs typeface="Arial"/>
              </a:rPr>
              <a:t>insane, </a:t>
            </a:r>
            <a:r>
              <a:rPr dirty="0" sz="1200" spc="-5">
                <a:latin typeface="Arial"/>
                <a:cs typeface="Arial"/>
              </a:rPr>
              <a:t>impostor, mad man, soothsayer, magic worker.  Abu Jahl put dirty entrails of a she camel on his back during </a:t>
            </a:r>
            <a:r>
              <a:rPr dirty="0" sz="1200" spc="-10">
                <a:latin typeface="Arial"/>
                <a:cs typeface="Arial"/>
              </a:rPr>
              <a:t>the </a:t>
            </a:r>
            <a:r>
              <a:rPr dirty="0" sz="1200" spc="-5">
                <a:latin typeface="Arial"/>
                <a:cs typeface="Arial"/>
              </a:rPr>
              <a:t>state of Sajdah. Many  Muslims like Bilal, Sumayyah, Khabbab, </a:t>
            </a:r>
            <a:r>
              <a:rPr dirty="0" sz="1200" spc="-70">
                <a:latin typeface="Arial"/>
                <a:cs typeface="Arial"/>
              </a:rPr>
              <a:t>‗Ammar </a:t>
            </a:r>
            <a:r>
              <a:rPr dirty="0" sz="1200" spc="-5">
                <a:latin typeface="Arial"/>
                <a:cs typeface="Arial"/>
              </a:rPr>
              <a:t>bin Yasir, Suhaib </a:t>
            </a:r>
            <a:r>
              <a:rPr dirty="0" sz="1200">
                <a:latin typeface="Arial"/>
                <a:cs typeface="Arial"/>
              </a:rPr>
              <a:t>and </a:t>
            </a:r>
            <a:r>
              <a:rPr dirty="0" sz="1200" spc="-5">
                <a:latin typeface="Arial"/>
                <a:cs typeface="Arial"/>
              </a:rPr>
              <a:t>Abu </a:t>
            </a:r>
            <a:r>
              <a:rPr dirty="0" sz="1200">
                <a:latin typeface="Arial"/>
                <a:cs typeface="Arial"/>
              </a:rPr>
              <a:t>Fakih </a:t>
            </a:r>
            <a:r>
              <a:rPr dirty="0" sz="1200" spc="-5">
                <a:latin typeface="Arial"/>
                <a:cs typeface="Arial"/>
              </a:rPr>
              <a:t>were the  </a:t>
            </a:r>
            <a:r>
              <a:rPr dirty="0" sz="1200">
                <a:latin typeface="Arial"/>
                <a:cs typeface="Arial"/>
              </a:rPr>
              <a:t>first </a:t>
            </a:r>
            <a:r>
              <a:rPr dirty="0" sz="1200" spc="-5">
                <a:latin typeface="Arial"/>
                <a:cs typeface="Arial"/>
              </a:rPr>
              <a:t>sufferers of Islam. There were beatings, </a:t>
            </a:r>
            <a:r>
              <a:rPr dirty="0" sz="1200">
                <a:latin typeface="Arial"/>
                <a:cs typeface="Arial"/>
              </a:rPr>
              <a:t>tortures, </a:t>
            </a:r>
            <a:r>
              <a:rPr dirty="0" sz="1200" spc="-5">
                <a:latin typeface="Arial"/>
                <a:cs typeface="Arial"/>
              </a:rPr>
              <a:t>burnings, </a:t>
            </a:r>
            <a:r>
              <a:rPr dirty="0" sz="1200">
                <a:latin typeface="Arial"/>
                <a:cs typeface="Arial"/>
              </a:rPr>
              <a:t>ill-treatment, </a:t>
            </a:r>
            <a:r>
              <a:rPr dirty="0" sz="1200" spc="-5">
                <a:latin typeface="Arial"/>
                <a:cs typeface="Arial"/>
              </a:rPr>
              <a:t>mental  persecutions, emotional bribe and intimidations only </a:t>
            </a:r>
            <a:r>
              <a:rPr dirty="0" sz="1200">
                <a:latin typeface="Arial"/>
                <a:cs typeface="Arial"/>
              </a:rPr>
              <a:t>to </a:t>
            </a:r>
            <a:r>
              <a:rPr dirty="0" sz="1200" spc="-10">
                <a:latin typeface="Arial"/>
                <a:cs typeface="Arial"/>
              </a:rPr>
              <a:t>harm </a:t>
            </a:r>
            <a:r>
              <a:rPr dirty="0" sz="1200" spc="-5">
                <a:latin typeface="Arial"/>
                <a:cs typeface="Arial"/>
              </a:rPr>
              <a:t>the prophet. </a:t>
            </a:r>
            <a:r>
              <a:rPr dirty="0" sz="1200">
                <a:latin typeface="Arial"/>
                <a:cs typeface="Arial"/>
              </a:rPr>
              <a:t>The </a:t>
            </a:r>
            <a:r>
              <a:rPr dirty="0" sz="1200" spc="-5">
                <a:latin typeface="Arial"/>
                <a:cs typeface="Arial"/>
              </a:rPr>
              <a:t>Quraish  wanted </a:t>
            </a:r>
            <a:r>
              <a:rPr dirty="0" sz="1200">
                <a:latin typeface="Arial"/>
                <a:cs typeface="Arial"/>
              </a:rPr>
              <a:t>to </a:t>
            </a:r>
            <a:r>
              <a:rPr dirty="0" sz="1200" spc="-5">
                <a:latin typeface="Arial"/>
                <a:cs typeface="Arial"/>
              </a:rPr>
              <a:t>bargain and deal: stop spreading of </a:t>
            </a:r>
            <a:r>
              <a:rPr dirty="0" sz="1200">
                <a:latin typeface="Arial"/>
                <a:cs typeface="Arial"/>
              </a:rPr>
              <a:t>Islam </a:t>
            </a:r>
            <a:r>
              <a:rPr dirty="0" sz="1200" spc="-5">
                <a:latin typeface="Arial"/>
                <a:cs typeface="Arial"/>
              </a:rPr>
              <a:t>AGAINST life </a:t>
            </a:r>
            <a:r>
              <a:rPr dirty="0" sz="1200">
                <a:latin typeface="Arial"/>
                <a:cs typeface="Arial"/>
              </a:rPr>
              <a:t>of </a:t>
            </a:r>
            <a:r>
              <a:rPr dirty="0" sz="1200" spc="-5">
                <a:latin typeface="Arial"/>
                <a:cs typeface="Arial"/>
              </a:rPr>
              <a:t>Muslims. Much Insult,  disgrace, dishonour, disrespect and humiliation </a:t>
            </a:r>
            <a:r>
              <a:rPr dirty="0" sz="1200" spc="-10">
                <a:latin typeface="Arial"/>
                <a:cs typeface="Arial"/>
              </a:rPr>
              <a:t>was </a:t>
            </a:r>
            <a:r>
              <a:rPr dirty="0" sz="1200" spc="-5">
                <a:latin typeface="Arial"/>
                <a:cs typeface="Arial"/>
              </a:rPr>
              <a:t>upon the prophet (s.a.w). </a:t>
            </a:r>
            <a:r>
              <a:rPr dirty="0" sz="1200">
                <a:latin typeface="Arial"/>
                <a:cs typeface="Arial"/>
              </a:rPr>
              <a:t>The </a:t>
            </a:r>
            <a:r>
              <a:rPr dirty="0" sz="1200" spc="-10">
                <a:latin typeface="Arial"/>
                <a:cs typeface="Arial"/>
              </a:rPr>
              <a:t>two </a:t>
            </a:r>
            <a:r>
              <a:rPr dirty="0" sz="1200" spc="-5">
                <a:latin typeface="Arial"/>
                <a:cs typeface="Arial"/>
              </a:rPr>
              <a:t>sons  of Abu Lahab divorced </a:t>
            </a:r>
            <a:r>
              <a:rPr dirty="0" sz="1200">
                <a:latin typeface="Arial"/>
                <a:cs typeface="Arial"/>
              </a:rPr>
              <a:t>the </a:t>
            </a:r>
            <a:r>
              <a:rPr dirty="0" sz="1200" spc="-5">
                <a:latin typeface="Arial"/>
                <a:cs typeface="Arial"/>
              </a:rPr>
              <a:t>prophet‘s (s.a.w) two daughters. Seeing </a:t>
            </a:r>
            <a:r>
              <a:rPr dirty="0" sz="1200">
                <a:latin typeface="Arial"/>
                <a:cs typeface="Arial"/>
              </a:rPr>
              <a:t>practically </a:t>
            </a:r>
            <a:r>
              <a:rPr dirty="0" sz="1200" spc="-5">
                <a:latin typeface="Arial"/>
                <a:cs typeface="Arial"/>
              </a:rPr>
              <a:t>all </a:t>
            </a:r>
            <a:r>
              <a:rPr dirty="0" sz="1200">
                <a:latin typeface="Arial"/>
                <a:cs typeface="Arial"/>
              </a:rPr>
              <a:t>of </a:t>
            </a:r>
            <a:r>
              <a:rPr dirty="0" sz="1200" spc="-5">
                <a:latin typeface="Arial"/>
                <a:cs typeface="Arial"/>
              </a:rPr>
              <a:t>his poor  companions being ill-treated the prophet </a:t>
            </a:r>
            <a:r>
              <a:rPr dirty="0" sz="1200" spc="-10">
                <a:latin typeface="Arial"/>
                <a:cs typeface="Arial"/>
              </a:rPr>
              <a:t>was </a:t>
            </a:r>
            <a:r>
              <a:rPr dirty="0" sz="1200" spc="-5">
                <a:latin typeface="Arial"/>
                <a:cs typeface="Arial"/>
              </a:rPr>
              <a:t>psychologically</a:t>
            </a:r>
            <a:r>
              <a:rPr dirty="0" sz="1200" spc="10">
                <a:latin typeface="Arial"/>
                <a:cs typeface="Arial"/>
              </a:rPr>
              <a:t> </a:t>
            </a:r>
            <a:r>
              <a:rPr dirty="0" sz="1200">
                <a:latin typeface="Arial"/>
                <a:cs typeface="Arial"/>
              </a:rPr>
              <a:t>affected.</a:t>
            </a:r>
            <a:endParaRPr sz="1200">
              <a:latin typeface="Arial"/>
              <a:cs typeface="Arial"/>
            </a:endParaRPr>
          </a:p>
          <a:p>
            <a:pPr>
              <a:lnSpc>
                <a:spcPct val="100000"/>
              </a:lnSpc>
              <a:spcBef>
                <a:spcPts val="20"/>
              </a:spcBef>
            </a:pPr>
            <a:endParaRPr sz="1150">
              <a:latin typeface="Arial"/>
              <a:cs typeface="Arial"/>
            </a:endParaRPr>
          </a:p>
          <a:p>
            <a:pPr algn="just" marL="101600" marR="93980">
              <a:lnSpc>
                <a:spcPct val="95900"/>
              </a:lnSpc>
            </a:pPr>
            <a:r>
              <a:rPr dirty="0" sz="1200">
                <a:latin typeface="Arial"/>
                <a:cs typeface="Arial"/>
              </a:rPr>
              <a:t>By the </a:t>
            </a:r>
            <a:r>
              <a:rPr dirty="0" sz="1200" spc="-5">
                <a:latin typeface="Arial"/>
                <a:cs typeface="Arial"/>
              </a:rPr>
              <a:t>year </a:t>
            </a:r>
            <a:r>
              <a:rPr dirty="0" sz="1200" spc="-5" b="1">
                <a:latin typeface="Arial"/>
                <a:cs typeface="Arial"/>
              </a:rPr>
              <a:t>615</a:t>
            </a:r>
            <a:r>
              <a:rPr dirty="0" sz="1200" spc="-5">
                <a:latin typeface="Arial"/>
                <a:cs typeface="Arial"/>
              </a:rPr>
              <a:t>, many Muslims were not able </a:t>
            </a:r>
            <a:r>
              <a:rPr dirty="0" sz="1200">
                <a:latin typeface="Arial"/>
                <a:cs typeface="Arial"/>
              </a:rPr>
              <a:t>to </a:t>
            </a:r>
            <a:r>
              <a:rPr dirty="0" sz="1200" spc="-5">
                <a:latin typeface="Arial"/>
                <a:cs typeface="Arial"/>
              </a:rPr>
              <a:t>bear </a:t>
            </a:r>
            <a:r>
              <a:rPr dirty="0" sz="1200">
                <a:latin typeface="Arial"/>
                <a:cs typeface="Arial"/>
              </a:rPr>
              <a:t>the </a:t>
            </a:r>
            <a:r>
              <a:rPr dirty="0" sz="1200" spc="-5">
                <a:latin typeface="Arial"/>
                <a:cs typeface="Arial"/>
              </a:rPr>
              <a:t>tortures of </a:t>
            </a:r>
            <a:r>
              <a:rPr dirty="0" sz="1200">
                <a:latin typeface="Arial"/>
                <a:cs typeface="Arial"/>
              </a:rPr>
              <a:t>the </a:t>
            </a:r>
            <a:r>
              <a:rPr dirty="0" sz="1200" spc="-5">
                <a:latin typeface="Arial"/>
                <a:cs typeface="Arial"/>
              </a:rPr>
              <a:t>Quraish. The  prophet (s.a.w) ordered them </a:t>
            </a:r>
            <a:r>
              <a:rPr dirty="0" sz="1200">
                <a:latin typeface="Arial"/>
                <a:cs typeface="Arial"/>
              </a:rPr>
              <a:t>to </a:t>
            </a:r>
            <a:r>
              <a:rPr dirty="0" sz="1200" spc="-10">
                <a:latin typeface="Arial"/>
                <a:cs typeface="Arial"/>
              </a:rPr>
              <a:t>move </a:t>
            </a:r>
            <a:r>
              <a:rPr dirty="0" sz="1200">
                <a:latin typeface="Arial"/>
                <a:cs typeface="Arial"/>
              </a:rPr>
              <a:t>to </a:t>
            </a:r>
            <a:r>
              <a:rPr dirty="0" sz="1200" spc="-10" b="1">
                <a:latin typeface="Arial"/>
                <a:cs typeface="Arial"/>
              </a:rPr>
              <a:t>Abyssinia </a:t>
            </a:r>
            <a:r>
              <a:rPr dirty="0" sz="1200" spc="-5">
                <a:latin typeface="Arial"/>
                <a:cs typeface="Arial"/>
              </a:rPr>
              <a:t>where </a:t>
            </a:r>
            <a:r>
              <a:rPr dirty="0" sz="1200">
                <a:latin typeface="Arial"/>
                <a:cs typeface="Arial"/>
              </a:rPr>
              <a:t>there </a:t>
            </a:r>
            <a:r>
              <a:rPr dirty="0" sz="1200" spc="-10">
                <a:latin typeface="Arial"/>
                <a:cs typeface="Arial"/>
              </a:rPr>
              <a:t>was </a:t>
            </a:r>
            <a:r>
              <a:rPr dirty="0" sz="1200" spc="-5">
                <a:latin typeface="Arial"/>
                <a:cs typeface="Arial"/>
              </a:rPr>
              <a:t>a </a:t>
            </a:r>
            <a:r>
              <a:rPr dirty="0" sz="1200">
                <a:latin typeface="Arial"/>
                <a:cs typeface="Arial"/>
              </a:rPr>
              <a:t>just </a:t>
            </a:r>
            <a:r>
              <a:rPr dirty="0" sz="1200" spc="-5">
                <a:latin typeface="Arial"/>
                <a:cs typeface="Arial"/>
              </a:rPr>
              <a:t>king </a:t>
            </a:r>
            <a:r>
              <a:rPr dirty="0" sz="1200">
                <a:latin typeface="Arial"/>
                <a:cs typeface="Arial"/>
              </a:rPr>
              <a:t>known </a:t>
            </a:r>
            <a:r>
              <a:rPr dirty="0" sz="1200" spc="-10">
                <a:latin typeface="Arial"/>
                <a:cs typeface="Arial"/>
              </a:rPr>
              <a:t>as  </a:t>
            </a:r>
            <a:r>
              <a:rPr dirty="0" sz="1200" spc="-5">
                <a:latin typeface="Arial"/>
                <a:cs typeface="Arial"/>
              </a:rPr>
              <a:t>Najashi </a:t>
            </a:r>
            <a:r>
              <a:rPr dirty="0" sz="1200">
                <a:latin typeface="Arial"/>
                <a:cs typeface="Arial"/>
              </a:rPr>
              <a:t>– </a:t>
            </a:r>
            <a:r>
              <a:rPr dirty="0" sz="1200" spc="-5">
                <a:latin typeface="Arial"/>
                <a:cs typeface="Arial"/>
              </a:rPr>
              <a:t>Negus. He </a:t>
            </a:r>
            <a:r>
              <a:rPr dirty="0" sz="1200" spc="-10">
                <a:latin typeface="Arial"/>
                <a:cs typeface="Arial"/>
              </a:rPr>
              <a:t>was </a:t>
            </a:r>
            <a:r>
              <a:rPr dirty="0" sz="1200" spc="-5">
                <a:latin typeface="Arial"/>
                <a:cs typeface="Arial"/>
              </a:rPr>
              <a:t>right, </a:t>
            </a:r>
            <a:r>
              <a:rPr dirty="0" sz="1200">
                <a:latin typeface="Arial"/>
                <a:cs typeface="Arial"/>
              </a:rPr>
              <a:t>just, </a:t>
            </a:r>
            <a:r>
              <a:rPr dirty="0" sz="1200" spc="-5">
                <a:latin typeface="Arial"/>
                <a:cs typeface="Arial"/>
              </a:rPr>
              <a:t>intelligent and sensible. </a:t>
            </a:r>
            <a:r>
              <a:rPr dirty="0" sz="1200">
                <a:latin typeface="Arial"/>
                <a:cs typeface="Arial"/>
              </a:rPr>
              <a:t>By the </a:t>
            </a:r>
            <a:r>
              <a:rPr dirty="0" sz="1200" spc="-5">
                <a:latin typeface="Arial"/>
                <a:cs typeface="Arial"/>
              </a:rPr>
              <a:t>month of Rajab 11 Men  and 4 </a:t>
            </a:r>
            <a:r>
              <a:rPr dirty="0" sz="1200">
                <a:latin typeface="Arial"/>
                <a:cs typeface="Arial"/>
              </a:rPr>
              <a:t>Women </a:t>
            </a:r>
            <a:r>
              <a:rPr dirty="0" sz="1200" spc="-5">
                <a:latin typeface="Arial"/>
                <a:cs typeface="Arial"/>
              </a:rPr>
              <a:t>(1</a:t>
            </a:r>
            <a:r>
              <a:rPr dirty="0" baseline="38194" sz="1200" spc="-7">
                <a:latin typeface="Arial"/>
                <a:cs typeface="Arial"/>
              </a:rPr>
              <a:t>st </a:t>
            </a:r>
            <a:r>
              <a:rPr dirty="0" sz="1200" spc="-5">
                <a:latin typeface="Arial"/>
                <a:cs typeface="Arial"/>
              </a:rPr>
              <a:t>Group) moved </a:t>
            </a:r>
            <a:r>
              <a:rPr dirty="0" sz="1200">
                <a:latin typeface="Arial"/>
                <a:cs typeface="Arial"/>
              </a:rPr>
              <a:t>to </a:t>
            </a:r>
            <a:r>
              <a:rPr dirty="0" sz="1200" spc="-5">
                <a:latin typeface="Arial"/>
                <a:cs typeface="Arial"/>
              </a:rPr>
              <a:t>Abyssinia. The Quraish followed them </a:t>
            </a:r>
            <a:r>
              <a:rPr dirty="0" sz="1200">
                <a:latin typeface="Arial"/>
                <a:cs typeface="Arial"/>
              </a:rPr>
              <a:t>to </a:t>
            </a:r>
            <a:r>
              <a:rPr dirty="0" sz="1200" spc="-5">
                <a:latin typeface="Arial"/>
                <a:cs typeface="Arial"/>
              </a:rPr>
              <a:t>influence  Negus. </a:t>
            </a:r>
            <a:r>
              <a:rPr dirty="0" sz="1200">
                <a:latin typeface="Arial"/>
                <a:cs typeface="Arial"/>
              </a:rPr>
              <a:t>On </a:t>
            </a:r>
            <a:r>
              <a:rPr dirty="0" sz="1200" spc="-5">
                <a:latin typeface="Arial"/>
                <a:cs typeface="Arial"/>
              </a:rPr>
              <a:t>the Muslims </a:t>
            </a:r>
            <a:r>
              <a:rPr dirty="0" sz="1200">
                <a:latin typeface="Arial"/>
                <a:cs typeface="Arial"/>
              </a:rPr>
              <a:t>side, </a:t>
            </a:r>
            <a:r>
              <a:rPr dirty="0" sz="1200" spc="-5">
                <a:latin typeface="Arial"/>
                <a:cs typeface="Arial"/>
              </a:rPr>
              <a:t>Ja‘far bin </a:t>
            </a:r>
            <a:r>
              <a:rPr dirty="0" sz="1200">
                <a:latin typeface="Arial"/>
                <a:cs typeface="Arial"/>
              </a:rPr>
              <a:t>Abu </a:t>
            </a:r>
            <a:r>
              <a:rPr dirty="0" sz="1200" spc="-5">
                <a:latin typeface="Arial"/>
                <a:cs typeface="Arial"/>
              </a:rPr>
              <a:t>Twalib </a:t>
            </a:r>
            <a:r>
              <a:rPr dirty="0" sz="1200">
                <a:latin typeface="Arial"/>
                <a:cs typeface="Arial"/>
              </a:rPr>
              <a:t>(cousin </a:t>
            </a:r>
            <a:r>
              <a:rPr dirty="0" sz="1200" spc="-5">
                <a:latin typeface="Arial"/>
                <a:cs typeface="Arial"/>
              </a:rPr>
              <a:t>of Muhammad) </a:t>
            </a:r>
            <a:r>
              <a:rPr dirty="0" sz="1200" spc="5">
                <a:latin typeface="Arial"/>
                <a:cs typeface="Arial"/>
              </a:rPr>
              <a:t>acted </a:t>
            </a:r>
            <a:r>
              <a:rPr dirty="0" sz="1200" spc="-10">
                <a:latin typeface="Arial"/>
                <a:cs typeface="Arial"/>
              </a:rPr>
              <a:t>as  </a:t>
            </a:r>
            <a:r>
              <a:rPr dirty="0" sz="1200" spc="-5">
                <a:latin typeface="Arial"/>
                <a:cs typeface="Arial"/>
              </a:rPr>
              <a:t>spokeman. He read Surah Maryam which </a:t>
            </a:r>
            <a:r>
              <a:rPr dirty="0" sz="1200">
                <a:latin typeface="Arial"/>
                <a:cs typeface="Arial"/>
              </a:rPr>
              <a:t>the </a:t>
            </a:r>
            <a:r>
              <a:rPr dirty="0" sz="1200" spc="-5">
                <a:latin typeface="Arial"/>
                <a:cs typeface="Arial"/>
              </a:rPr>
              <a:t>King </a:t>
            </a:r>
            <a:r>
              <a:rPr dirty="0" sz="1200">
                <a:latin typeface="Arial"/>
                <a:cs typeface="Arial"/>
              </a:rPr>
              <a:t>had </a:t>
            </a:r>
            <a:r>
              <a:rPr dirty="0" sz="1200" spc="-5">
                <a:latin typeface="Arial"/>
                <a:cs typeface="Arial"/>
              </a:rPr>
              <a:t>seen to be the </a:t>
            </a:r>
            <a:r>
              <a:rPr dirty="0" sz="1200">
                <a:latin typeface="Arial"/>
                <a:cs typeface="Arial"/>
              </a:rPr>
              <a:t>Truth. </a:t>
            </a:r>
            <a:r>
              <a:rPr dirty="0" sz="1200" spc="-5">
                <a:latin typeface="Arial"/>
                <a:cs typeface="Arial"/>
              </a:rPr>
              <a:t>He thus allowed  </a:t>
            </a:r>
            <a:r>
              <a:rPr dirty="0" sz="1200">
                <a:latin typeface="Arial"/>
                <a:cs typeface="Arial"/>
              </a:rPr>
              <a:t>the </a:t>
            </a:r>
            <a:r>
              <a:rPr dirty="0" sz="1200" spc="-5">
                <a:latin typeface="Arial"/>
                <a:cs typeface="Arial"/>
              </a:rPr>
              <a:t>Muslims </a:t>
            </a:r>
            <a:r>
              <a:rPr dirty="0" sz="1200">
                <a:latin typeface="Arial"/>
                <a:cs typeface="Arial"/>
              </a:rPr>
              <a:t>to </a:t>
            </a:r>
            <a:r>
              <a:rPr dirty="0" sz="1200" spc="-5">
                <a:latin typeface="Arial"/>
                <a:cs typeface="Arial"/>
              </a:rPr>
              <a:t>stay. </a:t>
            </a:r>
            <a:r>
              <a:rPr dirty="0" sz="1200">
                <a:latin typeface="Arial"/>
                <a:cs typeface="Arial"/>
              </a:rPr>
              <a:t>By the </a:t>
            </a:r>
            <a:r>
              <a:rPr dirty="0" sz="1200" spc="-5">
                <a:latin typeface="Arial"/>
                <a:cs typeface="Arial"/>
              </a:rPr>
              <a:t>year </a:t>
            </a:r>
            <a:r>
              <a:rPr dirty="0" sz="1200" spc="-5" b="1">
                <a:latin typeface="Arial"/>
                <a:cs typeface="Arial"/>
              </a:rPr>
              <a:t>616</a:t>
            </a:r>
            <a:r>
              <a:rPr dirty="0" sz="1200" spc="-5">
                <a:latin typeface="Arial"/>
                <a:cs typeface="Arial"/>
              </a:rPr>
              <a:t>, a group of 80 </a:t>
            </a:r>
            <a:r>
              <a:rPr dirty="0" sz="1200">
                <a:latin typeface="Arial"/>
                <a:cs typeface="Arial"/>
              </a:rPr>
              <a:t>– </a:t>
            </a:r>
            <a:r>
              <a:rPr dirty="0" sz="1200" spc="-10">
                <a:latin typeface="Arial"/>
                <a:cs typeface="Arial"/>
              </a:rPr>
              <a:t>83 </a:t>
            </a:r>
            <a:r>
              <a:rPr dirty="0" sz="1200" spc="-5">
                <a:latin typeface="Arial"/>
                <a:cs typeface="Arial"/>
              </a:rPr>
              <a:t>persons </a:t>
            </a:r>
            <a:r>
              <a:rPr dirty="0" sz="1200">
                <a:latin typeface="Arial"/>
                <a:cs typeface="Arial"/>
              </a:rPr>
              <a:t>(2</a:t>
            </a:r>
            <a:r>
              <a:rPr dirty="0" baseline="38194" sz="1200">
                <a:latin typeface="Arial"/>
                <a:cs typeface="Arial"/>
              </a:rPr>
              <a:t>nd </a:t>
            </a:r>
            <a:r>
              <a:rPr dirty="0" sz="1200" spc="-5">
                <a:latin typeface="Arial"/>
                <a:cs typeface="Arial"/>
              </a:rPr>
              <a:t>Group) went to  Abyssinia </a:t>
            </a:r>
            <a:r>
              <a:rPr dirty="0" sz="1200">
                <a:latin typeface="Arial"/>
                <a:cs typeface="Arial"/>
              </a:rPr>
              <a:t>for </a:t>
            </a:r>
            <a:r>
              <a:rPr dirty="0" sz="1200" spc="-5">
                <a:latin typeface="Arial"/>
                <a:cs typeface="Arial"/>
              </a:rPr>
              <a:t>the same reason.</a:t>
            </a:r>
            <a:endParaRPr sz="1200">
              <a:latin typeface="Arial"/>
              <a:cs typeface="Arial"/>
            </a:endParaRPr>
          </a:p>
          <a:p>
            <a:pPr>
              <a:lnSpc>
                <a:spcPct val="100000"/>
              </a:lnSpc>
            </a:pPr>
            <a:endParaRPr sz="1150">
              <a:latin typeface="Arial"/>
              <a:cs typeface="Arial"/>
            </a:endParaRPr>
          </a:p>
          <a:p>
            <a:pPr algn="just" marL="101600">
              <a:lnSpc>
                <a:spcPct val="100000"/>
              </a:lnSpc>
            </a:pPr>
            <a:r>
              <a:rPr dirty="0" u="heavy" sz="1200" spc="-5" b="1" i="1">
                <a:uFill>
                  <a:solidFill>
                    <a:srgbClr val="000000"/>
                  </a:solidFill>
                </a:uFill>
                <a:latin typeface="Arial"/>
                <a:cs typeface="Arial"/>
              </a:rPr>
              <a:t>The significance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these trips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Abyssinia was</a:t>
            </a:r>
            <a:r>
              <a:rPr dirty="0" u="heavy" sz="1200" spc="40" b="1" i="1">
                <a:uFill>
                  <a:solidFill>
                    <a:srgbClr val="000000"/>
                  </a:solidFill>
                </a:uFill>
                <a:latin typeface="Arial"/>
                <a:cs typeface="Arial"/>
              </a:rPr>
              <a:t> </a:t>
            </a:r>
            <a:r>
              <a:rPr dirty="0" u="heavy" sz="1200" b="1" i="1">
                <a:uFill>
                  <a:solidFill>
                    <a:srgbClr val="000000"/>
                  </a:solidFill>
                </a:uFill>
                <a:latin typeface="Arial"/>
                <a:cs typeface="Arial"/>
              </a:rPr>
              <a:t>that:</a:t>
            </a:r>
            <a:endParaRPr sz="1200">
              <a:latin typeface="Arial"/>
              <a:cs typeface="Arial"/>
            </a:endParaRPr>
          </a:p>
          <a:p>
            <a:pPr>
              <a:lnSpc>
                <a:spcPct val="100000"/>
              </a:lnSpc>
              <a:spcBef>
                <a:spcPts val="40"/>
              </a:spcBef>
            </a:pPr>
            <a:endParaRPr sz="1100">
              <a:latin typeface="Arial"/>
              <a:cs typeface="Arial"/>
            </a:endParaRPr>
          </a:p>
          <a:p>
            <a:pPr marL="558800" indent="-229235">
              <a:lnSpc>
                <a:spcPts val="1410"/>
              </a:lnSpc>
              <a:spcBef>
                <a:spcPts val="5"/>
              </a:spcBef>
              <a:buAutoNum type="arabicPeriod"/>
              <a:tabLst>
                <a:tab pos="559435" algn="l"/>
              </a:tabLst>
            </a:pPr>
            <a:r>
              <a:rPr dirty="0" sz="1200" spc="-5">
                <a:latin typeface="Arial"/>
                <a:cs typeface="Arial"/>
              </a:rPr>
              <a:t>The Muslims were able </a:t>
            </a:r>
            <a:r>
              <a:rPr dirty="0" sz="1200">
                <a:latin typeface="Arial"/>
                <a:cs typeface="Arial"/>
              </a:rPr>
              <a:t>to </a:t>
            </a:r>
            <a:r>
              <a:rPr dirty="0" sz="1200" spc="-5">
                <a:latin typeface="Arial"/>
                <a:cs typeface="Arial"/>
              </a:rPr>
              <a:t>live and spread their religion</a:t>
            </a:r>
            <a:r>
              <a:rPr dirty="0" sz="1200" spc="35">
                <a:latin typeface="Arial"/>
                <a:cs typeface="Arial"/>
              </a:rPr>
              <a:t> </a:t>
            </a:r>
            <a:r>
              <a:rPr dirty="0" sz="1200">
                <a:latin typeface="Arial"/>
                <a:cs typeface="Arial"/>
              </a:rPr>
              <a:t>there.</a:t>
            </a:r>
            <a:endParaRPr sz="1200">
              <a:latin typeface="Arial"/>
              <a:cs typeface="Arial"/>
            </a:endParaRPr>
          </a:p>
          <a:p>
            <a:pPr marL="558800" indent="-229235">
              <a:lnSpc>
                <a:spcPts val="1380"/>
              </a:lnSpc>
              <a:buAutoNum type="arabicPeriod"/>
              <a:tabLst>
                <a:tab pos="559435" algn="l"/>
              </a:tabLst>
            </a:pPr>
            <a:r>
              <a:rPr dirty="0" sz="1200" spc="-5">
                <a:latin typeface="Arial"/>
                <a:cs typeface="Arial"/>
              </a:rPr>
              <a:t>They were </a:t>
            </a:r>
            <a:r>
              <a:rPr dirty="0" sz="1200">
                <a:latin typeface="Arial"/>
                <a:cs typeface="Arial"/>
              </a:rPr>
              <a:t>able to </a:t>
            </a:r>
            <a:r>
              <a:rPr dirty="0" sz="1200" spc="-5">
                <a:latin typeface="Arial"/>
                <a:cs typeface="Arial"/>
              </a:rPr>
              <a:t>have a </a:t>
            </a:r>
            <a:r>
              <a:rPr dirty="0" sz="1200">
                <a:latin typeface="Arial"/>
                <a:cs typeface="Arial"/>
              </a:rPr>
              <a:t>family </a:t>
            </a:r>
            <a:r>
              <a:rPr dirty="0" sz="1200" spc="-5">
                <a:latin typeface="Arial"/>
                <a:cs typeface="Arial"/>
              </a:rPr>
              <a:t>where the traditions of </a:t>
            </a:r>
            <a:r>
              <a:rPr dirty="0" sz="1200">
                <a:latin typeface="Arial"/>
                <a:cs typeface="Arial"/>
              </a:rPr>
              <a:t>Islam </a:t>
            </a:r>
            <a:r>
              <a:rPr dirty="0" sz="1200" spc="-5">
                <a:latin typeface="Arial"/>
                <a:cs typeface="Arial"/>
              </a:rPr>
              <a:t>could be</a:t>
            </a:r>
            <a:r>
              <a:rPr dirty="0" sz="1200" spc="5">
                <a:latin typeface="Arial"/>
                <a:cs typeface="Arial"/>
              </a:rPr>
              <a:t> </a:t>
            </a:r>
            <a:r>
              <a:rPr dirty="0" sz="1200" spc="-5">
                <a:latin typeface="Arial"/>
                <a:cs typeface="Arial"/>
              </a:rPr>
              <a:t>practised.</a:t>
            </a:r>
            <a:endParaRPr sz="1200">
              <a:latin typeface="Arial"/>
              <a:cs typeface="Arial"/>
            </a:endParaRPr>
          </a:p>
          <a:p>
            <a:pPr marL="558800" indent="-229235">
              <a:lnSpc>
                <a:spcPts val="1380"/>
              </a:lnSpc>
              <a:buAutoNum type="arabicPeriod"/>
              <a:tabLst>
                <a:tab pos="559435" algn="l"/>
              </a:tabLst>
            </a:pPr>
            <a:r>
              <a:rPr dirty="0" sz="1200" spc="-5">
                <a:latin typeface="Arial"/>
                <a:cs typeface="Arial"/>
              </a:rPr>
              <a:t>There </a:t>
            </a:r>
            <a:r>
              <a:rPr dirty="0" sz="1200" spc="-10">
                <a:latin typeface="Arial"/>
                <a:cs typeface="Arial"/>
              </a:rPr>
              <a:t>was </a:t>
            </a:r>
            <a:r>
              <a:rPr dirty="0" sz="1200">
                <a:latin typeface="Arial"/>
                <a:cs typeface="Arial"/>
              </a:rPr>
              <a:t>no more</a:t>
            </a:r>
            <a:r>
              <a:rPr dirty="0" sz="1200" spc="-15">
                <a:latin typeface="Arial"/>
                <a:cs typeface="Arial"/>
              </a:rPr>
              <a:t> </a:t>
            </a:r>
            <a:r>
              <a:rPr dirty="0" sz="1200">
                <a:latin typeface="Arial"/>
                <a:cs typeface="Arial"/>
              </a:rPr>
              <a:t>persecution.</a:t>
            </a:r>
            <a:endParaRPr sz="1200">
              <a:latin typeface="Arial"/>
              <a:cs typeface="Arial"/>
            </a:endParaRPr>
          </a:p>
          <a:p>
            <a:pPr marL="558800" indent="-229235">
              <a:lnSpc>
                <a:spcPts val="1380"/>
              </a:lnSpc>
              <a:buAutoNum type="arabicPeriod"/>
              <a:tabLst>
                <a:tab pos="559435" algn="l"/>
              </a:tabLst>
            </a:pPr>
            <a:r>
              <a:rPr dirty="0" sz="1200" spc="-5">
                <a:latin typeface="Arial"/>
                <a:cs typeface="Arial"/>
              </a:rPr>
              <a:t>They were admired </a:t>
            </a:r>
            <a:r>
              <a:rPr dirty="0" sz="1200">
                <a:latin typeface="Arial"/>
                <a:cs typeface="Arial"/>
              </a:rPr>
              <a:t>for </a:t>
            </a:r>
            <a:r>
              <a:rPr dirty="0" sz="1200" spc="-5">
                <a:latin typeface="Arial"/>
                <a:cs typeface="Arial"/>
              </a:rPr>
              <a:t>their bravery in coming </a:t>
            </a:r>
            <a:r>
              <a:rPr dirty="0" sz="1200">
                <a:latin typeface="Arial"/>
                <a:cs typeface="Arial"/>
              </a:rPr>
              <a:t>to </a:t>
            </a:r>
            <a:r>
              <a:rPr dirty="0" sz="1200" spc="-5">
                <a:latin typeface="Arial"/>
                <a:cs typeface="Arial"/>
              </a:rPr>
              <a:t>the</a:t>
            </a:r>
            <a:r>
              <a:rPr dirty="0" sz="1200" spc="-25">
                <a:latin typeface="Arial"/>
                <a:cs typeface="Arial"/>
              </a:rPr>
              <a:t> </a:t>
            </a:r>
            <a:r>
              <a:rPr dirty="0" sz="1200" spc="-5">
                <a:latin typeface="Arial"/>
                <a:cs typeface="Arial"/>
              </a:rPr>
              <a:t>king</a:t>
            </a:r>
            <a:endParaRPr sz="1200">
              <a:latin typeface="Arial"/>
              <a:cs typeface="Arial"/>
            </a:endParaRPr>
          </a:p>
          <a:p>
            <a:pPr marL="558800" indent="-229235">
              <a:lnSpc>
                <a:spcPts val="1380"/>
              </a:lnSpc>
              <a:buAutoNum type="arabicPeriod"/>
              <a:tabLst>
                <a:tab pos="559435" algn="l"/>
              </a:tabLst>
            </a:pPr>
            <a:r>
              <a:rPr dirty="0" sz="1200" spc="-5">
                <a:latin typeface="Arial"/>
                <a:cs typeface="Arial"/>
              </a:rPr>
              <a:t>The king Negus didn‘t </a:t>
            </a:r>
            <a:r>
              <a:rPr dirty="0" sz="1200">
                <a:latin typeface="Arial"/>
                <a:cs typeface="Arial"/>
              </a:rPr>
              <a:t>stop or </a:t>
            </a:r>
            <a:r>
              <a:rPr dirty="0" sz="1200" spc="-5">
                <a:latin typeface="Arial"/>
                <a:cs typeface="Arial"/>
              </a:rPr>
              <a:t>prohibit anyone </a:t>
            </a:r>
            <a:r>
              <a:rPr dirty="0" sz="1200">
                <a:latin typeface="Arial"/>
                <a:cs typeface="Arial"/>
              </a:rPr>
              <a:t>to </a:t>
            </a:r>
            <a:r>
              <a:rPr dirty="0" sz="1200" spc="-5">
                <a:latin typeface="Arial"/>
                <a:cs typeface="Arial"/>
              </a:rPr>
              <a:t>convert </a:t>
            </a:r>
            <a:r>
              <a:rPr dirty="0" sz="1200">
                <a:latin typeface="Arial"/>
                <a:cs typeface="Arial"/>
              </a:rPr>
              <a:t>to </a:t>
            </a:r>
            <a:r>
              <a:rPr dirty="0" sz="1200" spc="-5">
                <a:latin typeface="Arial"/>
                <a:cs typeface="Arial"/>
              </a:rPr>
              <a:t>Islam.</a:t>
            </a:r>
            <a:endParaRPr sz="1200">
              <a:latin typeface="Arial"/>
              <a:cs typeface="Arial"/>
            </a:endParaRPr>
          </a:p>
          <a:p>
            <a:pPr marL="558800" indent="-229235">
              <a:lnSpc>
                <a:spcPts val="1380"/>
              </a:lnSpc>
              <a:buAutoNum type="arabicPeriod"/>
              <a:tabLst>
                <a:tab pos="559435" algn="l"/>
              </a:tabLst>
            </a:pPr>
            <a:r>
              <a:rPr dirty="0" sz="1200">
                <a:latin typeface="Arial"/>
                <a:cs typeface="Arial"/>
              </a:rPr>
              <a:t>For </a:t>
            </a:r>
            <a:r>
              <a:rPr dirty="0" sz="1200" spc="-5">
                <a:latin typeface="Arial"/>
                <a:cs typeface="Arial"/>
              </a:rPr>
              <a:t>those staying </a:t>
            </a:r>
            <a:r>
              <a:rPr dirty="0" sz="1200">
                <a:latin typeface="Arial"/>
                <a:cs typeface="Arial"/>
              </a:rPr>
              <a:t>at </a:t>
            </a:r>
            <a:r>
              <a:rPr dirty="0" sz="1200" spc="-5">
                <a:latin typeface="Arial"/>
                <a:cs typeface="Arial"/>
              </a:rPr>
              <a:t>Abyssinia there </a:t>
            </a:r>
            <a:r>
              <a:rPr dirty="0" sz="1200" spc="-10">
                <a:latin typeface="Arial"/>
                <a:cs typeface="Arial"/>
              </a:rPr>
              <a:t>was </a:t>
            </a:r>
            <a:r>
              <a:rPr dirty="0" sz="1200" spc="-5">
                <a:latin typeface="Arial"/>
                <a:cs typeface="Arial"/>
              </a:rPr>
              <a:t>peace of</a:t>
            </a:r>
            <a:r>
              <a:rPr dirty="0" sz="1200" spc="30">
                <a:latin typeface="Arial"/>
                <a:cs typeface="Arial"/>
              </a:rPr>
              <a:t> </a:t>
            </a:r>
            <a:r>
              <a:rPr dirty="0" sz="1200" spc="-5">
                <a:latin typeface="Arial"/>
                <a:cs typeface="Arial"/>
              </a:rPr>
              <a:t>mind.</a:t>
            </a:r>
            <a:endParaRPr sz="1200">
              <a:latin typeface="Arial"/>
              <a:cs typeface="Arial"/>
            </a:endParaRPr>
          </a:p>
          <a:p>
            <a:pPr marL="558800" indent="-229235">
              <a:lnSpc>
                <a:spcPts val="1380"/>
              </a:lnSpc>
              <a:buAutoNum type="arabicPeriod"/>
              <a:tabLst>
                <a:tab pos="559435" algn="l"/>
              </a:tabLst>
            </a:pPr>
            <a:r>
              <a:rPr dirty="0" sz="1200" spc="-5">
                <a:latin typeface="Arial"/>
                <a:cs typeface="Arial"/>
              </a:rPr>
              <a:t>They </a:t>
            </a:r>
            <a:r>
              <a:rPr dirty="0" sz="1200">
                <a:latin typeface="Arial"/>
                <a:cs typeface="Arial"/>
              </a:rPr>
              <a:t>had </a:t>
            </a:r>
            <a:r>
              <a:rPr dirty="0" sz="1200" spc="-5">
                <a:latin typeface="Arial"/>
                <a:cs typeface="Arial"/>
              </a:rPr>
              <a:t>their own business without any political or economic</a:t>
            </a:r>
            <a:r>
              <a:rPr dirty="0" sz="1200" spc="30">
                <a:latin typeface="Arial"/>
                <a:cs typeface="Arial"/>
              </a:rPr>
              <a:t> </a:t>
            </a:r>
            <a:r>
              <a:rPr dirty="0" sz="1200" spc="-5">
                <a:latin typeface="Arial"/>
                <a:cs typeface="Arial"/>
              </a:rPr>
              <a:t>pressure.</a:t>
            </a:r>
            <a:endParaRPr sz="1200">
              <a:latin typeface="Arial"/>
              <a:cs typeface="Arial"/>
            </a:endParaRPr>
          </a:p>
          <a:p>
            <a:pPr marL="558800" indent="-229235">
              <a:lnSpc>
                <a:spcPts val="1380"/>
              </a:lnSpc>
              <a:buAutoNum type="arabicPeriod"/>
              <a:tabLst>
                <a:tab pos="559435" algn="l"/>
              </a:tabLst>
            </a:pPr>
            <a:r>
              <a:rPr dirty="0" sz="1200" spc="-5">
                <a:latin typeface="Arial"/>
                <a:cs typeface="Arial"/>
              </a:rPr>
              <a:t>They were </a:t>
            </a:r>
            <a:r>
              <a:rPr dirty="0" sz="1200">
                <a:latin typeface="Arial"/>
                <a:cs typeface="Arial"/>
              </a:rPr>
              <a:t>able to </a:t>
            </a:r>
            <a:r>
              <a:rPr dirty="0" sz="1200" spc="-5">
                <a:latin typeface="Arial"/>
                <a:cs typeface="Arial"/>
              </a:rPr>
              <a:t>live </a:t>
            </a:r>
            <a:r>
              <a:rPr dirty="0" sz="1200">
                <a:latin typeface="Arial"/>
                <a:cs typeface="Arial"/>
              </a:rPr>
              <a:t>socially and </a:t>
            </a:r>
            <a:r>
              <a:rPr dirty="0" sz="1200" spc="-5">
                <a:latin typeface="Arial"/>
                <a:cs typeface="Arial"/>
              </a:rPr>
              <a:t>religiously based </a:t>
            </a:r>
            <a:r>
              <a:rPr dirty="0" sz="1200">
                <a:latin typeface="Arial"/>
                <a:cs typeface="Arial"/>
              </a:rPr>
              <a:t>on </a:t>
            </a:r>
            <a:r>
              <a:rPr dirty="0" sz="1200" spc="-5">
                <a:latin typeface="Arial"/>
                <a:cs typeface="Arial"/>
              </a:rPr>
              <a:t>their </a:t>
            </a:r>
            <a:r>
              <a:rPr dirty="0" sz="1200">
                <a:latin typeface="Arial"/>
                <a:cs typeface="Arial"/>
              </a:rPr>
              <a:t>customs and</a:t>
            </a:r>
            <a:r>
              <a:rPr dirty="0" sz="1200" spc="25">
                <a:latin typeface="Arial"/>
                <a:cs typeface="Arial"/>
              </a:rPr>
              <a:t> </a:t>
            </a:r>
            <a:r>
              <a:rPr dirty="0" sz="1200" spc="-5">
                <a:latin typeface="Arial"/>
                <a:cs typeface="Arial"/>
              </a:rPr>
              <a:t>traditions.</a:t>
            </a:r>
            <a:endParaRPr sz="1200">
              <a:latin typeface="Arial"/>
              <a:cs typeface="Arial"/>
            </a:endParaRPr>
          </a:p>
          <a:p>
            <a:pPr marL="558800" indent="-229235">
              <a:lnSpc>
                <a:spcPts val="1380"/>
              </a:lnSpc>
              <a:buAutoNum type="arabicPeriod"/>
              <a:tabLst>
                <a:tab pos="559435" algn="l"/>
              </a:tabLst>
            </a:pPr>
            <a:r>
              <a:rPr dirty="0" sz="1200" spc="-5">
                <a:latin typeface="Arial"/>
                <a:cs typeface="Arial"/>
              </a:rPr>
              <a:t>Abyssinia </a:t>
            </a:r>
            <a:r>
              <a:rPr dirty="0" sz="1200">
                <a:latin typeface="Arial"/>
                <a:cs typeface="Arial"/>
              </a:rPr>
              <a:t>later </a:t>
            </a:r>
            <a:r>
              <a:rPr dirty="0" sz="1200" spc="-10">
                <a:latin typeface="Arial"/>
                <a:cs typeface="Arial"/>
              </a:rPr>
              <a:t>on </a:t>
            </a:r>
            <a:r>
              <a:rPr dirty="0" sz="1200" spc="-5">
                <a:latin typeface="Arial"/>
                <a:cs typeface="Arial"/>
              </a:rPr>
              <a:t>converted </a:t>
            </a:r>
            <a:r>
              <a:rPr dirty="0" sz="1200">
                <a:latin typeface="Arial"/>
                <a:cs typeface="Arial"/>
              </a:rPr>
              <a:t>to</a:t>
            </a:r>
            <a:r>
              <a:rPr dirty="0" sz="1200" spc="20">
                <a:latin typeface="Arial"/>
                <a:cs typeface="Arial"/>
              </a:rPr>
              <a:t> </a:t>
            </a:r>
            <a:r>
              <a:rPr dirty="0" sz="1200" spc="-5">
                <a:latin typeface="Arial"/>
                <a:cs typeface="Arial"/>
              </a:rPr>
              <a:t>Islam.</a:t>
            </a:r>
            <a:endParaRPr sz="1200">
              <a:latin typeface="Arial"/>
              <a:cs typeface="Arial"/>
            </a:endParaRPr>
          </a:p>
          <a:p>
            <a:pPr marL="558800" indent="-229235">
              <a:lnSpc>
                <a:spcPts val="1410"/>
              </a:lnSpc>
              <a:buAutoNum type="arabicPeriod"/>
              <a:tabLst>
                <a:tab pos="559435" algn="l"/>
              </a:tabLst>
            </a:pPr>
            <a:r>
              <a:rPr dirty="0" sz="1200" spc="-5">
                <a:latin typeface="Arial"/>
                <a:cs typeface="Arial"/>
              </a:rPr>
              <a:t>Abyssinia became a supportive </a:t>
            </a:r>
            <a:r>
              <a:rPr dirty="0" sz="1200">
                <a:latin typeface="Arial"/>
                <a:cs typeface="Arial"/>
              </a:rPr>
              <a:t>and </a:t>
            </a:r>
            <a:r>
              <a:rPr dirty="0" sz="1200" spc="-5">
                <a:latin typeface="Arial"/>
                <a:cs typeface="Arial"/>
              </a:rPr>
              <a:t>an exiled country </a:t>
            </a:r>
            <a:r>
              <a:rPr dirty="0" sz="1200" spc="5">
                <a:latin typeface="Arial"/>
                <a:cs typeface="Arial"/>
              </a:rPr>
              <a:t>for </a:t>
            </a:r>
            <a:r>
              <a:rPr dirty="0" sz="1200">
                <a:latin typeface="Arial"/>
                <a:cs typeface="Arial"/>
              </a:rPr>
              <a:t>the</a:t>
            </a:r>
            <a:r>
              <a:rPr dirty="0" sz="1200" spc="-25">
                <a:latin typeface="Arial"/>
                <a:cs typeface="Arial"/>
              </a:rPr>
              <a:t> </a:t>
            </a:r>
            <a:r>
              <a:rPr dirty="0" sz="1200" spc="-5">
                <a:latin typeface="Arial"/>
                <a:cs typeface="Arial"/>
              </a:rPr>
              <a:t>weak.</a:t>
            </a:r>
            <a:endParaRPr sz="1200">
              <a:latin typeface="Arial"/>
              <a:cs typeface="Arial"/>
            </a:endParaRPr>
          </a:p>
          <a:p>
            <a:pPr>
              <a:lnSpc>
                <a:spcPct val="100000"/>
              </a:lnSpc>
              <a:spcBef>
                <a:spcPts val="35"/>
              </a:spcBef>
            </a:pPr>
            <a:endParaRPr sz="1200">
              <a:latin typeface="Arial"/>
              <a:cs typeface="Arial"/>
            </a:endParaRPr>
          </a:p>
          <a:p>
            <a:pPr algn="just" marL="101600" marR="93980">
              <a:lnSpc>
                <a:spcPts val="1380"/>
              </a:lnSpc>
            </a:pPr>
            <a:r>
              <a:rPr dirty="0" sz="1200" spc="-5">
                <a:latin typeface="Arial"/>
                <a:cs typeface="Arial"/>
              </a:rPr>
              <a:t>The holy Prophet (s.a.w) wanted Islam </a:t>
            </a:r>
            <a:r>
              <a:rPr dirty="0" sz="1200">
                <a:latin typeface="Arial"/>
                <a:cs typeface="Arial"/>
              </a:rPr>
              <a:t>to </a:t>
            </a:r>
            <a:r>
              <a:rPr dirty="0" sz="1200" spc="-10">
                <a:latin typeface="Arial"/>
                <a:cs typeface="Arial"/>
              </a:rPr>
              <a:t>be </a:t>
            </a:r>
            <a:r>
              <a:rPr dirty="0" sz="1200" spc="-5">
                <a:latin typeface="Arial"/>
                <a:cs typeface="Arial"/>
              </a:rPr>
              <a:t>reinforced through his uncle Hazrat Hamza and  through the noble Hazrat </a:t>
            </a:r>
            <a:r>
              <a:rPr dirty="0" sz="1200">
                <a:latin typeface="Arial"/>
                <a:cs typeface="Arial"/>
              </a:rPr>
              <a:t>Umar. </a:t>
            </a:r>
            <a:r>
              <a:rPr dirty="0" sz="1200" spc="-5">
                <a:latin typeface="Arial"/>
                <a:cs typeface="Arial"/>
              </a:rPr>
              <a:t>He </a:t>
            </a:r>
            <a:r>
              <a:rPr dirty="0" sz="1200" spc="-10">
                <a:latin typeface="Arial"/>
                <a:cs typeface="Arial"/>
              </a:rPr>
              <a:t>always </a:t>
            </a:r>
            <a:r>
              <a:rPr dirty="0" sz="1200">
                <a:latin typeface="Arial"/>
                <a:cs typeface="Arial"/>
              </a:rPr>
              <a:t>asked </a:t>
            </a:r>
            <a:r>
              <a:rPr dirty="0" sz="1200" spc="-5">
                <a:latin typeface="Arial"/>
                <a:cs typeface="Arial"/>
              </a:rPr>
              <a:t>that du‘a </a:t>
            </a:r>
            <a:r>
              <a:rPr dirty="0" sz="1200">
                <a:latin typeface="Arial"/>
                <a:cs typeface="Arial"/>
              </a:rPr>
              <a:t>as </a:t>
            </a:r>
            <a:r>
              <a:rPr dirty="0" sz="1200" spc="-5">
                <a:latin typeface="Arial"/>
                <a:cs typeface="Arial"/>
              </a:rPr>
              <a:t>such. </a:t>
            </a:r>
            <a:r>
              <a:rPr dirty="0" sz="1200">
                <a:latin typeface="Arial"/>
                <a:cs typeface="Arial"/>
              </a:rPr>
              <a:t>In the </a:t>
            </a:r>
            <a:r>
              <a:rPr dirty="0" sz="1200" spc="-5">
                <a:latin typeface="Arial"/>
                <a:cs typeface="Arial"/>
              </a:rPr>
              <a:t>year </a:t>
            </a:r>
            <a:r>
              <a:rPr dirty="0" sz="1200" spc="-5" b="1">
                <a:latin typeface="Arial"/>
                <a:cs typeface="Arial"/>
              </a:rPr>
              <a:t>616 </a:t>
            </a:r>
            <a:r>
              <a:rPr dirty="0" sz="1200" spc="-5">
                <a:latin typeface="Arial"/>
                <a:cs typeface="Arial"/>
              </a:rPr>
              <a:t>Hazrat  Hamza converted </a:t>
            </a:r>
            <a:r>
              <a:rPr dirty="0" sz="1200">
                <a:latin typeface="Arial"/>
                <a:cs typeface="Arial"/>
              </a:rPr>
              <a:t>to </a:t>
            </a:r>
            <a:r>
              <a:rPr dirty="0" sz="1200" spc="-5">
                <a:latin typeface="Arial"/>
                <a:cs typeface="Arial"/>
              </a:rPr>
              <a:t>Islam and 3 days later in </a:t>
            </a:r>
            <a:r>
              <a:rPr dirty="0" sz="1200">
                <a:latin typeface="Arial"/>
                <a:cs typeface="Arial"/>
              </a:rPr>
              <a:t>Dhul </a:t>
            </a:r>
            <a:r>
              <a:rPr dirty="0" sz="1200" spc="-5">
                <a:latin typeface="Arial"/>
                <a:cs typeface="Arial"/>
              </a:rPr>
              <a:t>Hijja Hazrat Umar converted to Islam.  </a:t>
            </a:r>
            <a:r>
              <a:rPr dirty="0" sz="1200">
                <a:latin typeface="Arial"/>
                <a:cs typeface="Arial"/>
              </a:rPr>
              <a:t>When </a:t>
            </a:r>
            <a:r>
              <a:rPr dirty="0" sz="1200" spc="-5">
                <a:latin typeface="Arial"/>
                <a:cs typeface="Arial"/>
              </a:rPr>
              <a:t>the Muslims from Abyssinia heard about this, they thought </a:t>
            </a:r>
            <a:r>
              <a:rPr dirty="0" sz="1200">
                <a:latin typeface="Arial"/>
                <a:cs typeface="Arial"/>
              </a:rPr>
              <a:t>that the </a:t>
            </a:r>
            <a:r>
              <a:rPr dirty="0" sz="1200" spc="-5">
                <a:latin typeface="Arial"/>
                <a:cs typeface="Arial"/>
              </a:rPr>
              <a:t>whole of Macca  had been converted. Thus, 30 </a:t>
            </a:r>
            <a:r>
              <a:rPr dirty="0" sz="1200">
                <a:latin typeface="Arial"/>
                <a:cs typeface="Arial"/>
              </a:rPr>
              <a:t>Muslims </a:t>
            </a:r>
            <a:r>
              <a:rPr dirty="0" sz="1200" spc="-5">
                <a:latin typeface="Arial"/>
                <a:cs typeface="Arial"/>
              </a:rPr>
              <a:t>from Abyssinia </a:t>
            </a:r>
            <a:r>
              <a:rPr dirty="0" sz="1200">
                <a:latin typeface="Arial"/>
                <a:cs typeface="Arial"/>
              </a:rPr>
              <a:t>returned to </a:t>
            </a:r>
            <a:r>
              <a:rPr dirty="0" sz="1200" spc="-5">
                <a:latin typeface="Arial"/>
                <a:cs typeface="Arial"/>
              </a:rPr>
              <a:t>Macca but</a:t>
            </a:r>
            <a:r>
              <a:rPr dirty="0" sz="1200" spc="114">
                <a:latin typeface="Arial"/>
                <a:cs typeface="Arial"/>
              </a:rPr>
              <a:t> </a:t>
            </a:r>
            <a:r>
              <a:rPr dirty="0" sz="1200">
                <a:latin typeface="Arial"/>
                <a:cs typeface="Arial"/>
              </a:rPr>
              <a:t>they </a:t>
            </a:r>
            <a:r>
              <a:rPr dirty="0" sz="1200" spc="-5">
                <a:latin typeface="Arial"/>
                <a:cs typeface="Arial"/>
              </a:rPr>
              <a:t>were</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900" cy="933831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8255">
              <a:lnSpc>
                <a:spcPct val="95900"/>
              </a:lnSpc>
            </a:pPr>
            <a:r>
              <a:rPr dirty="0" sz="1200" spc="-5">
                <a:latin typeface="Arial"/>
                <a:cs typeface="Arial"/>
              </a:rPr>
              <a:t>deceived. However, </a:t>
            </a:r>
            <a:r>
              <a:rPr dirty="0" sz="1200">
                <a:latin typeface="Arial"/>
                <a:cs typeface="Arial"/>
              </a:rPr>
              <a:t>some </a:t>
            </a:r>
            <a:r>
              <a:rPr dirty="0" sz="1200" spc="-5">
                <a:latin typeface="Arial"/>
                <a:cs typeface="Arial"/>
              </a:rPr>
              <a:t>stayed and </a:t>
            </a:r>
            <a:r>
              <a:rPr dirty="0" sz="1200" spc="-10">
                <a:latin typeface="Arial"/>
                <a:cs typeface="Arial"/>
              </a:rPr>
              <a:t>others </a:t>
            </a:r>
            <a:r>
              <a:rPr dirty="0" sz="1200" spc="-5">
                <a:latin typeface="Arial"/>
                <a:cs typeface="Arial"/>
              </a:rPr>
              <a:t>returned. The importance and the significance  of the conversion of these </a:t>
            </a:r>
            <a:r>
              <a:rPr dirty="0" sz="1200" spc="-10">
                <a:latin typeface="Arial"/>
                <a:cs typeface="Arial"/>
              </a:rPr>
              <a:t>two </a:t>
            </a:r>
            <a:r>
              <a:rPr dirty="0" sz="1200">
                <a:latin typeface="Arial"/>
                <a:cs typeface="Arial"/>
              </a:rPr>
              <a:t>men </a:t>
            </a:r>
            <a:r>
              <a:rPr dirty="0" sz="1200" spc="-5">
                <a:latin typeface="Arial"/>
                <a:cs typeface="Arial"/>
              </a:rPr>
              <a:t>can </a:t>
            </a:r>
            <a:r>
              <a:rPr dirty="0" sz="1200" spc="-10">
                <a:latin typeface="Arial"/>
                <a:cs typeface="Arial"/>
              </a:rPr>
              <a:t>be </a:t>
            </a:r>
            <a:r>
              <a:rPr dirty="0" sz="1200" spc="-5">
                <a:latin typeface="Arial"/>
                <a:cs typeface="Arial"/>
              </a:rPr>
              <a:t>seen in the boldness of the Muslims praying  openly in </a:t>
            </a:r>
            <a:r>
              <a:rPr dirty="0" sz="1200">
                <a:latin typeface="Arial"/>
                <a:cs typeface="Arial"/>
              </a:rPr>
              <a:t>the </a:t>
            </a:r>
            <a:r>
              <a:rPr dirty="0" sz="1200" spc="-5">
                <a:latin typeface="Arial"/>
                <a:cs typeface="Arial"/>
              </a:rPr>
              <a:t>sanctuary </a:t>
            </a:r>
            <a:r>
              <a:rPr dirty="0" sz="1200">
                <a:latin typeface="Arial"/>
                <a:cs typeface="Arial"/>
              </a:rPr>
              <a:t>of </a:t>
            </a:r>
            <a:r>
              <a:rPr dirty="0" sz="1200" spc="-5">
                <a:latin typeface="Arial"/>
                <a:cs typeface="Arial"/>
              </a:rPr>
              <a:t>the Ka‘bah. Both of them were respected and by now </a:t>
            </a:r>
            <a:r>
              <a:rPr dirty="0" sz="1200">
                <a:latin typeface="Arial"/>
                <a:cs typeface="Arial"/>
              </a:rPr>
              <a:t>the </a:t>
            </a:r>
            <a:r>
              <a:rPr dirty="0" sz="1200" spc="-5">
                <a:latin typeface="Arial"/>
                <a:cs typeface="Arial"/>
              </a:rPr>
              <a:t>Quraish  were </a:t>
            </a:r>
            <a:r>
              <a:rPr dirty="0" sz="1200">
                <a:latin typeface="Arial"/>
                <a:cs typeface="Arial"/>
              </a:rPr>
              <a:t>cautious </a:t>
            </a:r>
            <a:r>
              <a:rPr dirty="0" sz="1200" spc="-5">
                <a:latin typeface="Arial"/>
                <a:cs typeface="Arial"/>
              </a:rPr>
              <a:t>when launching an attack upon </a:t>
            </a:r>
            <a:r>
              <a:rPr dirty="0" sz="1200">
                <a:latin typeface="Arial"/>
                <a:cs typeface="Arial"/>
              </a:rPr>
              <a:t>the </a:t>
            </a:r>
            <a:r>
              <a:rPr dirty="0" sz="1200" spc="-5">
                <a:latin typeface="Arial"/>
                <a:cs typeface="Arial"/>
              </a:rPr>
              <a:t>Muslims. </a:t>
            </a:r>
            <a:r>
              <a:rPr dirty="0" sz="1200">
                <a:latin typeface="Arial"/>
                <a:cs typeface="Arial"/>
              </a:rPr>
              <a:t>They </a:t>
            </a:r>
            <a:r>
              <a:rPr dirty="0" sz="1200" spc="-5">
                <a:latin typeface="Arial"/>
                <a:cs typeface="Arial"/>
              </a:rPr>
              <a:t>didn‘t want </a:t>
            </a:r>
            <a:r>
              <a:rPr dirty="0" sz="1200">
                <a:latin typeface="Arial"/>
                <a:cs typeface="Arial"/>
              </a:rPr>
              <a:t>to face the </a:t>
            </a:r>
            <a:r>
              <a:rPr dirty="0" sz="1200" spc="-10">
                <a:latin typeface="Arial"/>
                <a:cs typeface="Arial"/>
              </a:rPr>
              <a:t>two  </a:t>
            </a:r>
            <a:r>
              <a:rPr dirty="0" sz="1200" spc="-5">
                <a:latin typeface="Arial"/>
                <a:cs typeface="Arial"/>
              </a:rPr>
              <a:t>men. More people, especially </a:t>
            </a:r>
            <a:r>
              <a:rPr dirty="0" sz="1200">
                <a:latin typeface="Arial"/>
                <a:cs typeface="Arial"/>
              </a:rPr>
              <a:t>the </a:t>
            </a:r>
            <a:r>
              <a:rPr dirty="0" sz="1200" spc="-5">
                <a:latin typeface="Arial"/>
                <a:cs typeface="Arial"/>
              </a:rPr>
              <a:t>poor, were daring </a:t>
            </a:r>
            <a:r>
              <a:rPr dirty="0" sz="1200">
                <a:latin typeface="Arial"/>
                <a:cs typeface="Arial"/>
              </a:rPr>
              <a:t>to </a:t>
            </a:r>
            <a:r>
              <a:rPr dirty="0" sz="1200" spc="-5">
                <a:latin typeface="Arial"/>
                <a:cs typeface="Arial"/>
              </a:rPr>
              <a:t>convert </a:t>
            </a:r>
            <a:r>
              <a:rPr dirty="0" sz="1200">
                <a:latin typeface="Arial"/>
                <a:cs typeface="Arial"/>
              </a:rPr>
              <a:t>to Islam. </a:t>
            </a:r>
            <a:r>
              <a:rPr dirty="0" sz="1200" spc="-5">
                <a:latin typeface="Arial"/>
                <a:cs typeface="Arial"/>
              </a:rPr>
              <a:t>The Muslims had  now physical</a:t>
            </a:r>
            <a:r>
              <a:rPr dirty="0" sz="1200" spc="-15">
                <a:latin typeface="Arial"/>
                <a:cs typeface="Arial"/>
              </a:rPr>
              <a:t> </a:t>
            </a:r>
            <a:r>
              <a:rPr dirty="0" sz="1200">
                <a:latin typeface="Arial"/>
                <a:cs typeface="Arial"/>
              </a:rPr>
              <a:t>support.</a:t>
            </a:r>
            <a:endParaRPr sz="1200">
              <a:latin typeface="Arial"/>
              <a:cs typeface="Arial"/>
            </a:endParaRPr>
          </a:p>
          <a:p>
            <a:pPr>
              <a:lnSpc>
                <a:spcPct val="100000"/>
              </a:lnSpc>
            </a:pPr>
            <a:endParaRPr sz="1200">
              <a:latin typeface="Arial"/>
              <a:cs typeface="Arial"/>
            </a:endParaRPr>
          </a:p>
          <a:p>
            <a:pPr algn="just" marL="12700" marR="5080">
              <a:lnSpc>
                <a:spcPct val="95900"/>
              </a:lnSpc>
            </a:pPr>
            <a:r>
              <a:rPr dirty="0" sz="1200">
                <a:latin typeface="Arial"/>
                <a:cs typeface="Arial"/>
              </a:rPr>
              <a:t>In the </a:t>
            </a:r>
            <a:r>
              <a:rPr dirty="0" sz="1200" spc="-5">
                <a:latin typeface="Arial"/>
                <a:cs typeface="Arial"/>
              </a:rPr>
              <a:t>year </a:t>
            </a:r>
            <a:r>
              <a:rPr dirty="0" sz="1200" spc="-5" b="1">
                <a:latin typeface="Arial"/>
                <a:cs typeface="Arial"/>
              </a:rPr>
              <a:t>617 </a:t>
            </a:r>
            <a:r>
              <a:rPr dirty="0" sz="1200" spc="-5">
                <a:latin typeface="Arial"/>
                <a:cs typeface="Arial"/>
              </a:rPr>
              <a:t>extending till </a:t>
            </a:r>
            <a:r>
              <a:rPr dirty="0" sz="1200" spc="-5" b="1">
                <a:latin typeface="Arial"/>
                <a:cs typeface="Arial"/>
              </a:rPr>
              <a:t>620</a:t>
            </a:r>
            <a:r>
              <a:rPr dirty="0" sz="1200" spc="-5">
                <a:latin typeface="Arial"/>
                <a:cs typeface="Arial"/>
              </a:rPr>
              <a:t>, </a:t>
            </a:r>
            <a:r>
              <a:rPr dirty="0" sz="1200">
                <a:latin typeface="Arial"/>
                <a:cs typeface="Arial"/>
              </a:rPr>
              <a:t>the </a:t>
            </a:r>
            <a:r>
              <a:rPr dirty="0" sz="1200" spc="-5">
                <a:latin typeface="Arial"/>
                <a:cs typeface="Arial"/>
              </a:rPr>
              <a:t>chiefs agreed </a:t>
            </a:r>
            <a:r>
              <a:rPr dirty="0" sz="1200">
                <a:latin typeface="Arial"/>
                <a:cs typeface="Arial"/>
              </a:rPr>
              <a:t>to </a:t>
            </a:r>
            <a:r>
              <a:rPr dirty="0" sz="1200" spc="-5">
                <a:latin typeface="Arial"/>
                <a:cs typeface="Arial"/>
              </a:rPr>
              <a:t>ban and </a:t>
            </a:r>
            <a:r>
              <a:rPr dirty="0" sz="1200" spc="-5" b="1">
                <a:latin typeface="Arial"/>
                <a:cs typeface="Arial"/>
              </a:rPr>
              <a:t>boycott Banu </a:t>
            </a:r>
            <a:r>
              <a:rPr dirty="0" sz="1200" b="1">
                <a:latin typeface="Arial"/>
                <a:cs typeface="Arial"/>
              </a:rPr>
              <a:t>Hashim</a:t>
            </a:r>
            <a:r>
              <a:rPr dirty="0" sz="1200">
                <a:latin typeface="Arial"/>
                <a:cs typeface="Arial"/>
              </a:rPr>
              <a:t>. </a:t>
            </a:r>
            <a:r>
              <a:rPr dirty="0" sz="1200" spc="-5">
                <a:latin typeface="Arial"/>
                <a:cs typeface="Arial"/>
              </a:rPr>
              <a:t>The  decision </a:t>
            </a:r>
            <a:r>
              <a:rPr dirty="0" sz="1200" spc="-10">
                <a:latin typeface="Arial"/>
                <a:cs typeface="Arial"/>
              </a:rPr>
              <a:t>was </a:t>
            </a:r>
            <a:r>
              <a:rPr dirty="0" sz="1200" spc="-5">
                <a:latin typeface="Arial"/>
                <a:cs typeface="Arial"/>
              </a:rPr>
              <a:t>written </a:t>
            </a:r>
            <a:r>
              <a:rPr dirty="0" sz="1200">
                <a:latin typeface="Arial"/>
                <a:cs typeface="Arial"/>
              </a:rPr>
              <a:t>and </a:t>
            </a:r>
            <a:r>
              <a:rPr dirty="0" sz="1200" spc="-5">
                <a:latin typeface="Arial"/>
                <a:cs typeface="Arial"/>
              </a:rPr>
              <a:t>hung </a:t>
            </a:r>
            <a:r>
              <a:rPr dirty="0" sz="1200">
                <a:latin typeface="Arial"/>
                <a:cs typeface="Arial"/>
              </a:rPr>
              <a:t>on </a:t>
            </a:r>
            <a:r>
              <a:rPr dirty="0" sz="1200" spc="-5">
                <a:latin typeface="Arial"/>
                <a:cs typeface="Arial"/>
              </a:rPr>
              <a:t>the </a:t>
            </a:r>
            <a:r>
              <a:rPr dirty="0" sz="1200">
                <a:latin typeface="Arial"/>
                <a:cs typeface="Arial"/>
              </a:rPr>
              <a:t>cloth </a:t>
            </a:r>
            <a:r>
              <a:rPr dirty="0" sz="1200" spc="-5">
                <a:latin typeface="Arial"/>
                <a:cs typeface="Arial"/>
              </a:rPr>
              <a:t>of the Ka‘bah where </a:t>
            </a:r>
            <a:r>
              <a:rPr dirty="0" sz="1200">
                <a:latin typeface="Arial"/>
                <a:cs typeface="Arial"/>
              </a:rPr>
              <a:t>no relation </a:t>
            </a:r>
            <a:r>
              <a:rPr dirty="0" sz="1200" spc="-5">
                <a:latin typeface="Arial"/>
                <a:cs typeface="Arial"/>
              </a:rPr>
              <a:t>was </a:t>
            </a:r>
            <a:r>
              <a:rPr dirty="0" sz="1200">
                <a:latin typeface="Arial"/>
                <a:cs typeface="Arial"/>
              </a:rPr>
              <a:t>to be </a:t>
            </a:r>
            <a:r>
              <a:rPr dirty="0" sz="1200" spc="-5">
                <a:latin typeface="Arial"/>
                <a:cs typeface="Arial"/>
              </a:rPr>
              <a:t>created  with </a:t>
            </a:r>
            <a:r>
              <a:rPr dirty="0" sz="1200">
                <a:latin typeface="Arial"/>
                <a:cs typeface="Arial"/>
              </a:rPr>
              <a:t>them. The </a:t>
            </a:r>
            <a:r>
              <a:rPr dirty="0" sz="1200" spc="-5">
                <a:latin typeface="Arial"/>
                <a:cs typeface="Arial"/>
              </a:rPr>
              <a:t>Muslims </a:t>
            </a:r>
            <a:r>
              <a:rPr dirty="0" sz="1200">
                <a:latin typeface="Arial"/>
                <a:cs typeface="Arial"/>
              </a:rPr>
              <a:t>took </a:t>
            </a:r>
            <a:r>
              <a:rPr dirty="0" sz="1200" spc="-5">
                <a:latin typeface="Arial"/>
                <a:cs typeface="Arial"/>
              </a:rPr>
              <a:t>refuge </a:t>
            </a:r>
            <a:r>
              <a:rPr dirty="0" sz="1200" spc="-10">
                <a:latin typeface="Arial"/>
                <a:cs typeface="Arial"/>
              </a:rPr>
              <a:t>in </a:t>
            </a:r>
            <a:r>
              <a:rPr dirty="0" sz="1200" spc="-5">
                <a:latin typeface="Arial"/>
                <a:cs typeface="Arial"/>
              </a:rPr>
              <a:t>the den of Abu Twalib </a:t>
            </a:r>
            <a:r>
              <a:rPr dirty="0" sz="1200">
                <a:latin typeface="Arial"/>
                <a:cs typeface="Arial"/>
              </a:rPr>
              <a:t>– </a:t>
            </a:r>
            <a:r>
              <a:rPr dirty="0" sz="1200" spc="-5">
                <a:latin typeface="Arial"/>
                <a:cs typeface="Arial"/>
              </a:rPr>
              <a:t>Shi‘bul Twalib. During these  years </a:t>
            </a:r>
            <a:r>
              <a:rPr dirty="0" sz="1200">
                <a:latin typeface="Arial"/>
                <a:cs typeface="Arial"/>
              </a:rPr>
              <a:t>the </a:t>
            </a:r>
            <a:r>
              <a:rPr dirty="0" sz="1200" spc="-5">
                <a:latin typeface="Arial"/>
                <a:cs typeface="Arial"/>
              </a:rPr>
              <a:t>Muslims ate leaves of </a:t>
            </a:r>
            <a:r>
              <a:rPr dirty="0" sz="1200" spc="-10">
                <a:latin typeface="Arial"/>
                <a:cs typeface="Arial"/>
              </a:rPr>
              <a:t>wild </a:t>
            </a:r>
            <a:r>
              <a:rPr dirty="0" sz="1200">
                <a:latin typeface="Arial"/>
                <a:cs typeface="Arial"/>
              </a:rPr>
              <a:t>plants </a:t>
            </a:r>
            <a:r>
              <a:rPr dirty="0" sz="1200" spc="-5">
                <a:latin typeface="Arial"/>
                <a:cs typeface="Arial"/>
              </a:rPr>
              <a:t>and cactus. There </a:t>
            </a:r>
            <a:r>
              <a:rPr dirty="0" sz="1200" spc="-10">
                <a:latin typeface="Arial"/>
                <a:cs typeface="Arial"/>
              </a:rPr>
              <a:t>was </a:t>
            </a:r>
            <a:r>
              <a:rPr dirty="0" sz="1200" spc="-5">
                <a:latin typeface="Arial"/>
                <a:cs typeface="Arial"/>
              </a:rPr>
              <a:t>high </a:t>
            </a:r>
            <a:r>
              <a:rPr dirty="0" sz="1200">
                <a:latin typeface="Arial"/>
                <a:cs typeface="Arial"/>
              </a:rPr>
              <a:t>rate of </a:t>
            </a:r>
            <a:r>
              <a:rPr dirty="0" sz="1200" spc="-5">
                <a:latin typeface="Arial"/>
                <a:cs typeface="Arial"/>
              </a:rPr>
              <a:t>death of  children, </a:t>
            </a:r>
            <a:r>
              <a:rPr dirty="0" sz="1200" spc="-10">
                <a:latin typeface="Arial"/>
                <a:cs typeface="Arial"/>
              </a:rPr>
              <a:t>no </a:t>
            </a:r>
            <a:r>
              <a:rPr dirty="0" sz="1200">
                <a:latin typeface="Arial"/>
                <a:cs typeface="Arial"/>
              </a:rPr>
              <a:t>food </a:t>
            </a:r>
            <a:r>
              <a:rPr dirty="0" sz="1200" spc="-5">
                <a:latin typeface="Arial"/>
                <a:cs typeface="Arial"/>
              </a:rPr>
              <a:t>and no water. That situation lasted </a:t>
            </a:r>
            <a:r>
              <a:rPr dirty="0" sz="1200">
                <a:latin typeface="Arial"/>
                <a:cs typeface="Arial"/>
              </a:rPr>
              <a:t>for </a:t>
            </a:r>
            <a:r>
              <a:rPr dirty="0" sz="1200" spc="-5">
                <a:latin typeface="Arial"/>
                <a:cs typeface="Arial"/>
              </a:rPr>
              <a:t>3 years and </a:t>
            </a:r>
            <a:r>
              <a:rPr dirty="0" sz="1200">
                <a:latin typeface="Arial"/>
                <a:cs typeface="Arial"/>
              </a:rPr>
              <a:t>there </a:t>
            </a:r>
            <a:r>
              <a:rPr dirty="0" sz="1200" spc="-5">
                <a:latin typeface="Arial"/>
                <a:cs typeface="Arial"/>
              </a:rPr>
              <a:t>were great  hardships </a:t>
            </a:r>
            <a:r>
              <a:rPr dirty="0" sz="1200">
                <a:latin typeface="Arial"/>
                <a:cs typeface="Arial"/>
              </a:rPr>
              <a:t>for </a:t>
            </a:r>
            <a:r>
              <a:rPr dirty="0" sz="1200" spc="-5">
                <a:latin typeface="Arial"/>
                <a:cs typeface="Arial"/>
              </a:rPr>
              <a:t>Muslims. </a:t>
            </a:r>
            <a:r>
              <a:rPr dirty="0" sz="1200">
                <a:latin typeface="Arial"/>
                <a:cs typeface="Arial"/>
              </a:rPr>
              <a:t>By the </a:t>
            </a:r>
            <a:r>
              <a:rPr dirty="0" sz="1200" spc="-5">
                <a:latin typeface="Arial"/>
                <a:cs typeface="Arial"/>
              </a:rPr>
              <a:t>year </a:t>
            </a:r>
            <a:r>
              <a:rPr dirty="0" sz="1200" spc="-5" b="1">
                <a:latin typeface="Arial"/>
                <a:cs typeface="Arial"/>
              </a:rPr>
              <a:t>620</a:t>
            </a:r>
            <a:r>
              <a:rPr dirty="0" sz="1200" spc="-5">
                <a:latin typeface="Arial"/>
                <a:cs typeface="Arial"/>
              </a:rPr>
              <a:t>, due </a:t>
            </a:r>
            <a:r>
              <a:rPr dirty="0" sz="1200">
                <a:latin typeface="Arial"/>
                <a:cs typeface="Arial"/>
              </a:rPr>
              <a:t>to </a:t>
            </a:r>
            <a:r>
              <a:rPr dirty="0" sz="1200" spc="-5">
                <a:latin typeface="Arial"/>
                <a:cs typeface="Arial"/>
              </a:rPr>
              <a:t>the sufferings of the </a:t>
            </a:r>
            <a:r>
              <a:rPr dirty="0" sz="1200">
                <a:latin typeface="Arial"/>
                <a:cs typeface="Arial"/>
              </a:rPr>
              <a:t>families </a:t>
            </a:r>
            <a:r>
              <a:rPr dirty="0" sz="1200" spc="-5">
                <a:latin typeface="Arial"/>
                <a:cs typeface="Arial"/>
              </a:rPr>
              <a:t>and relatives of  </a:t>
            </a:r>
            <a:r>
              <a:rPr dirty="0" sz="1200">
                <a:latin typeface="Arial"/>
                <a:cs typeface="Arial"/>
              </a:rPr>
              <a:t>the </a:t>
            </a:r>
            <a:r>
              <a:rPr dirty="0" sz="1200" spc="-5">
                <a:latin typeface="Arial"/>
                <a:cs typeface="Arial"/>
              </a:rPr>
              <a:t>Muslims in the den of Abu Twalib, </a:t>
            </a:r>
            <a:r>
              <a:rPr dirty="0" sz="1200">
                <a:latin typeface="Arial"/>
                <a:cs typeface="Arial"/>
              </a:rPr>
              <a:t>the </a:t>
            </a:r>
            <a:r>
              <a:rPr dirty="0" sz="1200" spc="-5">
                <a:latin typeface="Arial"/>
                <a:cs typeface="Arial"/>
              </a:rPr>
              <a:t>boycott </a:t>
            </a:r>
            <a:r>
              <a:rPr dirty="0" sz="1200" spc="-10">
                <a:latin typeface="Arial"/>
                <a:cs typeface="Arial"/>
              </a:rPr>
              <a:t>was </a:t>
            </a:r>
            <a:r>
              <a:rPr dirty="0" sz="1200" spc="-5">
                <a:latin typeface="Arial"/>
                <a:cs typeface="Arial"/>
              </a:rPr>
              <a:t>removed. However, Abu Twalib died  </a:t>
            </a:r>
            <a:r>
              <a:rPr dirty="0" sz="1200">
                <a:latin typeface="Arial"/>
                <a:cs typeface="Arial"/>
              </a:rPr>
              <a:t>after </a:t>
            </a:r>
            <a:r>
              <a:rPr dirty="0" sz="1200" spc="-5">
                <a:latin typeface="Arial"/>
                <a:cs typeface="Arial"/>
              </a:rPr>
              <a:t>the boycott and Hazrat Bibi Khadija passed away 6 months </a:t>
            </a:r>
            <a:r>
              <a:rPr dirty="0" sz="1200">
                <a:latin typeface="Arial"/>
                <a:cs typeface="Arial"/>
              </a:rPr>
              <a:t>later. </a:t>
            </a:r>
            <a:r>
              <a:rPr dirty="0" sz="1200" spc="-5">
                <a:latin typeface="Arial"/>
                <a:cs typeface="Arial"/>
              </a:rPr>
              <a:t>That year </a:t>
            </a:r>
            <a:r>
              <a:rPr dirty="0" sz="1200" spc="-10">
                <a:latin typeface="Arial"/>
                <a:cs typeface="Arial"/>
              </a:rPr>
              <a:t>was known  </a:t>
            </a:r>
            <a:r>
              <a:rPr dirty="0" sz="1200" spc="-5">
                <a:latin typeface="Arial"/>
                <a:cs typeface="Arial"/>
              </a:rPr>
              <a:t>as the Year of Grief </a:t>
            </a:r>
            <a:r>
              <a:rPr dirty="0" sz="1200">
                <a:latin typeface="Arial"/>
                <a:cs typeface="Arial"/>
              </a:rPr>
              <a:t>/ </a:t>
            </a:r>
            <a:r>
              <a:rPr dirty="0" sz="1200" spc="-5">
                <a:latin typeface="Arial"/>
                <a:cs typeface="Arial"/>
              </a:rPr>
              <a:t>Sorrow </a:t>
            </a:r>
            <a:r>
              <a:rPr dirty="0" sz="1200">
                <a:latin typeface="Arial"/>
                <a:cs typeface="Arial"/>
              </a:rPr>
              <a:t>and </a:t>
            </a:r>
            <a:r>
              <a:rPr dirty="0" sz="1200" spc="-70">
                <a:latin typeface="Arial"/>
                <a:cs typeface="Arial"/>
              </a:rPr>
              <a:t>‗Aamul</a:t>
            </a:r>
            <a:r>
              <a:rPr dirty="0" sz="1200" spc="35">
                <a:latin typeface="Arial"/>
                <a:cs typeface="Arial"/>
              </a:rPr>
              <a:t> </a:t>
            </a:r>
            <a:r>
              <a:rPr dirty="0" sz="1200" spc="-5">
                <a:latin typeface="Arial"/>
                <a:cs typeface="Arial"/>
              </a:rPr>
              <a:t>Husn.</a:t>
            </a:r>
            <a:endParaRPr sz="1200">
              <a:latin typeface="Arial"/>
              <a:cs typeface="Arial"/>
            </a:endParaRPr>
          </a:p>
          <a:p>
            <a:pPr>
              <a:lnSpc>
                <a:spcPct val="100000"/>
              </a:lnSpc>
              <a:spcBef>
                <a:spcPts val="35"/>
              </a:spcBef>
            </a:pPr>
            <a:endParaRPr sz="1200">
              <a:latin typeface="Arial"/>
              <a:cs typeface="Arial"/>
            </a:endParaRPr>
          </a:p>
          <a:p>
            <a:pPr algn="just" marL="12700" marR="5715">
              <a:lnSpc>
                <a:spcPts val="1380"/>
              </a:lnSpc>
            </a:pPr>
            <a:r>
              <a:rPr dirty="0" sz="1200" spc="-5">
                <a:latin typeface="Arial"/>
                <a:cs typeface="Arial"/>
              </a:rPr>
              <a:t>Disgusted by </a:t>
            </a:r>
            <a:r>
              <a:rPr dirty="0" sz="1200">
                <a:latin typeface="Arial"/>
                <a:cs typeface="Arial"/>
              </a:rPr>
              <a:t>the </a:t>
            </a:r>
            <a:r>
              <a:rPr dirty="0" sz="1200" spc="-5">
                <a:latin typeface="Arial"/>
                <a:cs typeface="Arial"/>
              </a:rPr>
              <a:t>attitudes of the Quraish, </a:t>
            </a:r>
            <a:r>
              <a:rPr dirty="0" sz="1200">
                <a:latin typeface="Arial"/>
                <a:cs typeface="Arial"/>
              </a:rPr>
              <a:t>the </a:t>
            </a:r>
            <a:r>
              <a:rPr dirty="0" sz="1200" spc="-5">
                <a:latin typeface="Arial"/>
                <a:cs typeface="Arial"/>
              </a:rPr>
              <a:t>prophet accompanied by Zayd bin Haritha  went </a:t>
            </a:r>
            <a:r>
              <a:rPr dirty="0" sz="1200">
                <a:latin typeface="Arial"/>
                <a:cs typeface="Arial"/>
              </a:rPr>
              <a:t>to </a:t>
            </a:r>
            <a:r>
              <a:rPr dirty="0" sz="1200" spc="-5">
                <a:latin typeface="Arial"/>
                <a:cs typeface="Arial"/>
              </a:rPr>
              <a:t>spread </a:t>
            </a:r>
            <a:r>
              <a:rPr dirty="0" sz="1200">
                <a:latin typeface="Arial"/>
                <a:cs typeface="Arial"/>
              </a:rPr>
              <a:t>Islam at </a:t>
            </a:r>
            <a:r>
              <a:rPr dirty="0" sz="1200" spc="-55" b="1">
                <a:latin typeface="Arial"/>
                <a:cs typeface="Arial"/>
              </a:rPr>
              <a:t>Ta‟if </a:t>
            </a:r>
            <a:r>
              <a:rPr dirty="0" sz="1200" spc="-5">
                <a:latin typeface="Arial"/>
                <a:cs typeface="Arial"/>
              </a:rPr>
              <a:t>in </a:t>
            </a:r>
            <a:r>
              <a:rPr dirty="0" sz="1200">
                <a:latin typeface="Arial"/>
                <a:cs typeface="Arial"/>
              </a:rPr>
              <a:t>the </a:t>
            </a:r>
            <a:r>
              <a:rPr dirty="0" sz="1200" spc="-5">
                <a:latin typeface="Arial"/>
                <a:cs typeface="Arial"/>
              </a:rPr>
              <a:t>year </a:t>
            </a:r>
            <a:r>
              <a:rPr dirty="0" sz="1200" spc="-5" b="1">
                <a:latin typeface="Arial"/>
                <a:cs typeface="Arial"/>
              </a:rPr>
              <a:t>620</a:t>
            </a:r>
            <a:r>
              <a:rPr dirty="0" sz="1200" spc="-5">
                <a:latin typeface="Arial"/>
                <a:cs typeface="Arial"/>
              </a:rPr>
              <a:t>. However, orders were already given </a:t>
            </a:r>
            <a:r>
              <a:rPr dirty="0" sz="1200">
                <a:latin typeface="Arial"/>
                <a:cs typeface="Arial"/>
              </a:rPr>
              <a:t>to </a:t>
            </a:r>
            <a:r>
              <a:rPr dirty="0" sz="1200" spc="-5">
                <a:latin typeface="Arial"/>
                <a:cs typeface="Arial"/>
              </a:rPr>
              <a:t>drive  them </a:t>
            </a:r>
            <a:r>
              <a:rPr dirty="0" sz="1200" spc="-10">
                <a:latin typeface="Arial"/>
                <a:cs typeface="Arial"/>
              </a:rPr>
              <a:t>away. </a:t>
            </a:r>
            <a:r>
              <a:rPr dirty="0" sz="1200">
                <a:latin typeface="Arial"/>
                <a:cs typeface="Arial"/>
              </a:rPr>
              <a:t>They </a:t>
            </a:r>
            <a:r>
              <a:rPr dirty="0" sz="1200" spc="-5">
                <a:latin typeface="Arial"/>
                <a:cs typeface="Arial"/>
              </a:rPr>
              <a:t>were not able </a:t>
            </a:r>
            <a:r>
              <a:rPr dirty="0" sz="1200">
                <a:latin typeface="Arial"/>
                <a:cs typeface="Arial"/>
              </a:rPr>
              <a:t>to </a:t>
            </a:r>
            <a:r>
              <a:rPr dirty="0" sz="1200" spc="-5">
                <a:latin typeface="Arial"/>
                <a:cs typeface="Arial"/>
              </a:rPr>
              <a:t>preach but </a:t>
            </a:r>
            <a:r>
              <a:rPr dirty="0" sz="1200">
                <a:latin typeface="Arial"/>
                <a:cs typeface="Arial"/>
              </a:rPr>
              <a:t>they </a:t>
            </a:r>
            <a:r>
              <a:rPr dirty="0" sz="1200" spc="-5">
                <a:latin typeface="Arial"/>
                <a:cs typeface="Arial"/>
              </a:rPr>
              <a:t>were </a:t>
            </a:r>
            <a:r>
              <a:rPr dirty="0" sz="1200">
                <a:latin typeface="Arial"/>
                <a:cs typeface="Arial"/>
              </a:rPr>
              <a:t>stoned </a:t>
            </a:r>
            <a:r>
              <a:rPr dirty="0" sz="1200" spc="-5">
                <a:latin typeface="Arial"/>
                <a:cs typeface="Arial"/>
              </a:rPr>
              <a:t>and beaten till </a:t>
            </a:r>
            <a:r>
              <a:rPr dirty="0" sz="1200">
                <a:latin typeface="Arial"/>
                <a:cs typeface="Arial"/>
              </a:rPr>
              <a:t>their </a:t>
            </a:r>
            <a:r>
              <a:rPr dirty="0" sz="1200" spc="-5">
                <a:latin typeface="Arial"/>
                <a:cs typeface="Arial"/>
              </a:rPr>
              <a:t>shoes  were filled </a:t>
            </a:r>
            <a:r>
              <a:rPr dirty="0" sz="1200" spc="-10">
                <a:latin typeface="Arial"/>
                <a:cs typeface="Arial"/>
              </a:rPr>
              <a:t>with </a:t>
            </a:r>
            <a:r>
              <a:rPr dirty="0" sz="1200" spc="-5">
                <a:latin typeface="Arial"/>
                <a:cs typeface="Arial"/>
              </a:rPr>
              <a:t>blood. They </a:t>
            </a:r>
            <a:r>
              <a:rPr dirty="0" sz="1200">
                <a:latin typeface="Arial"/>
                <a:cs typeface="Arial"/>
              </a:rPr>
              <a:t>had to </a:t>
            </a:r>
            <a:r>
              <a:rPr dirty="0" sz="1200" spc="-10">
                <a:latin typeface="Arial"/>
                <a:cs typeface="Arial"/>
              </a:rPr>
              <a:t>leave </a:t>
            </a:r>
            <a:r>
              <a:rPr dirty="0" sz="1200" spc="-5">
                <a:latin typeface="Arial"/>
                <a:cs typeface="Arial"/>
              </a:rPr>
              <a:t>and </a:t>
            </a:r>
            <a:r>
              <a:rPr dirty="0" sz="1200">
                <a:latin typeface="Arial"/>
                <a:cs typeface="Arial"/>
              </a:rPr>
              <a:t>took </a:t>
            </a:r>
            <a:r>
              <a:rPr dirty="0" sz="1200" spc="-5">
                <a:latin typeface="Arial"/>
                <a:cs typeface="Arial"/>
              </a:rPr>
              <a:t>refuge </a:t>
            </a:r>
            <a:r>
              <a:rPr dirty="0" sz="1200" spc="-10">
                <a:latin typeface="Arial"/>
                <a:cs typeface="Arial"/>
              </a:rPr>
              <a:t>in </a:t>
            </a:r>
            <a:r>
              <a:rPr dirty="0" sz="1200" spc="-5">
                <a:latin typeface="Arial"/>
                <a:cs typeface="Arial"/>
              </a:rPr>
              <a:t>the garden of Rabi‘a who was </a:t>
            </a:r>
            <a:r>
              <a:rPr dirty="0" sz="1200">
                <a:latin typeface="Arial"/>
                <a:cs typeface="Arial"/>
              </a:rPr>
              <a:t>a  </a:t>
            </a:r>
            <a:r>
              <a:rPr dirty="0" sz="1200" spc="-5">
                <a:latin typeface="Arial"/>
                <a:cs typeface="Arial"/>
              </a:rPr>
              <a:t>Christian. He </a:t>
            </a:r>
            <a:r>
              <a:rPr dirty="0" sz="1200">
                <a:latin typeface="Arial"/>
                <a:cs typeface="Arial"/>
              </a:rPr>
              <a:t>sent </a:t>
            </a:r>
            <a:r>
              <a:rPr dirty="0" sz="1200" spc="-5">
                <a:latin typeface="Arial"/>
                <a:cs typeface="Arial"/>
              </a:rPr>
              <a:t>his slave Addas with grapes. On </a:t>
            </a:r>
            <a:r>
              <a:rPr dirty="0" sz="1200">
                <a:latin typeface="Arial"/>
                <a:cs typeface="Arial"/>
              </a:rPr>
              <a:t>the </a:t>
            </a:r>
            <a:r>
              <a:rPr dirty="0" sz="1200" spc="-10">
                <a:latin typeface="Arial"/>
                <a:cs typeface="Arial"/>
              </a:rPr>
              <a:t>way </a:t>
            </a:r>
            <a:r>
              <a:rPr dirty="0" sz="1200">
                <a:latin typeface="Arial"/>
                <a:cs typeface="Arial"/>
              </a:rPr>
              <a:t>back they stopped </a:t>
            </a:r>
            <a:r>
              <a:rPr dirty="0" sz="1200" spc="-5">
                <a:latin typeface="Arial"/>
                <a:cs typeface="Arial"/>
              </a:rPr>
              <a:t>at </a:t>
            </a:r>
            <a:r>
              <a:rPr dirty="0" sz="1200">
                <a:latin typeface="Arial"/>
                <a:cs typeface="Arial"/>
              </a:rPr>
              <a:t>Wadi  Nakhlah </a:t>
            </a:r>
            <a:r>
              <a:rPr dirty="0" sz="1200" spc="-5">
                <a:latin typeface="Arial"/>
                <a:cs typeface="Arial"/>
              </a:rPr>
              <a:t>where there </a:t>
            </a:r>
            <a:r>
              <a:rPr dirty="0" sz="1200" spc="-10">
                <a:latin typeface="Arial"/>
                <a:cs typeface="Arial"/>
              </a:rPr>
              <a:t>was </a:t>
            </a:r>
            <a:r>
              <a:rPr dirty="0" sz="1200" spc="-5">
                <a:latin typeface="Arial"/>
                <a:cs typeface="Arial"/>
              </a:rPr>
              <a:t>the conversion of Jinn. Then </a:t>
            </a:r>
            <a:r>
              <a:rPr dirty="0" sz="1200">
                <a:latin typeface="Arial"/>
                <a:cs typeface="Arial"/>
              </a:rPr>
              <a:t>they returned to</a:t>
            </a:r>
            <a:r>
              <a:rPr dirty="0" sz="1200" spc="25">
                <a:latin typeface="Arial"/>
                <a:cs typeface="Arial"/>
              </a:rPr>
              <a:t> </a:t>
            </a:r>
            <a:r>
              <a:rPr dirty="0" sz="1200" spc="-5">
                <a:latin typeface="Arial"/>
                <a:cs typeface="Arial"/>
              </a:rPr>
              <a:t>Macca.</a:t>
            </a:r>
            <a:endParaRPr sz="1200">
              <a:latin typeface="Arial"/>
              <a:cs typeface="Arial"/>
            </a:endParaRPr>
          </a:p>
          <a:p>
            <a:pPr>
              <a:lnSpc>
                <a:spcPct val="100000"/>
              </a:lnSpc>
              <a:spcBef>
                <a:spcPts val="20"/>
              </a:spcBef>
            </a:pPr>
            <a:endParaRPr sz="1150">
              <a:latin typeface="Arial"/>
              <a:cs typeface="Arial"/>
            </a:endParaRPr>
          </a:p>
          <a:p>
            <a:pPr algn="just" marL="12700" marR="8255">
              <a:lnSpc>
                <a:spcPct val="95900"/>
              </a:lnSpc>
            </a:pPr>
            <a:r>
              <a:rPr dirty="0" sz="1200">
                <a:latin typeface="Arial"/>
                <a:cs typeface="Arial"/>
              </a:rPr>
              <a:t>By the </a:t>
            </a:r>
            <a:r>
              <a:rPr dirty="0" sz="1200" spc="-5">
                <a:latin typeface="Arial"/>
                <a:cs typeface="Arial"/>
              </a:rPr>
              <a:t>year </a:t>
            </a:r>
            <a:r>
              <a:rPr dirty="0" sz="1200" spc="-5" b="1">
                <a:latin typeface="Arial"/>
                <a:cs typeface="Arial"/>
              </a:rPr>
              <a:t>620</a:t>
            </a:r>
            <a:r>
              <a:rPr dirty="0" sz="1200" spc="-5">
                <a:latin typeface="Arial"/>
                <a:cs typeface="Arial"/>
              </a:rPr>
              <a:t>, the prophet got married </a:t>
            </a:r>
            <a:r>
              <a:rPr dirty="0" sz="1200">
                <a:latin typeface="Arial"/>
                <a:cs typeface="Arial"/>
              </a:rPr>
              <a:t>to </a:t>
            </a:r>
            <a:r>
              <a:rPr dirty="0" sz="1200" spc="-5">
                <a:latin typeface="Arial"/>
                <a:cs typeface="Arial"/>
              </a:rPr>
              <a:t>Hazrat Sawdah (r.a) </a:t>
            </a:r>
            <a:r>
              <a:rPr dirty="0" sz="1200">
                <a:latin typeface="Arial"/>
                <a:cs typeface="Arial"/>
              </a:rPr>
              <a:t>in the </a:t>
            </a:r>
            <a:r>
              <a:rPr dirty="0" sz="1200" spc="-5">
                <a:latin typeface="Arial"/>
                <a:cs typeface="Arial"/>
              </a:rPr>
              <a:t>month of Shawwal.  She had young children and needed support. </a:t>
            </a:r>
            <a:r>
              <a:rPr dirty="0" sz="1200">
                <a:latin typeface="Arial"/>
                <a:cs typeface="Arial"/>
              </a:rPr>
              <a:t>By the </a:t>
            </a:r>
            <a:r>
              <a:rPr dirty="0" sz="1200" spc="-5">
                <a:latin typeface="Arial"/>
                <a:cs typeface="Arial"/>
              </a:rPr>
              <a:t>year </a:t>
            </a:r>
            <a:r>
              <a:rPr dirty="0" sz="1200" spc="-5" b="1">
                <a:latin typeface="Arial"/>
                <a:cs typeface="Arial"/>
              </a:rPr>
              <a:t>621 </a:t>
            </a:r>
            <a:r>
              <a:rPr dirty="0" sz="1200" spc="-5">
                <a:latin typeface="Arial"/>
                <a:cs typeface="Arial"/>
              </a:rPr>
              <a:t>in </a:t>
            </a:r>
            <a:r>
              <a:rPr dirty="0" sz="1200">
                <a:latin typeface="Arial"/>
                <a:cs typeface="Arial"/>
              </a:rPr>
              <a:t>the </a:t>
            </a:r>
            <a:r>
              <a:rPr dirty="0" sz="1200" spc="-5">
                <a:latin typeface="Arial"/>
                <a:cs typeface="Arial"/>
              </a:rPr>
              <a:t>month of Shawwal, the  prophet again married </a:t>
            </a:r>
            <a:r>
              <a:rPr dirty="0" sz="1200">
                <a:latin typeface="Arial"/>
                <a:cs typeface="Arial"/>
              </a:rPr>
              <a:t>to </a:t>
            </a:r>
            <a:r>
              <a:rPr dirty="0" sz="1200" spc="-5">
                <a:latin typeface="Arial"/>
                <a:cs typeface="Arial"/>
              </a:rPr>
              <a:t>Hazrat </a:t>
            </a:r>
            <a:r>
              <a:rPr dirty="0" sz="1200" spc="-70">
                <a:latin typeface="Arial"/>
                <a:cs typeface="Arial"/>
              </a:rPr>
              <a:t>‗Aisha</a:t>
            </a:r>
            <a:r>
              <a:rPr dirty="0" sz="1200" spc="10">
                <a:latin typeface="Arial"/>
                <a:cs typeface="Arial"/>
              </a:rPr>
              <a:t> </a:t>
            </a:r>
            <a:r>
              <a:rPr dirty="0" sz="1200">
                <a:latin typeface="Arial"/>
                <a:cs typeface="Arial"/>
              </a:rPr>
              <a:t>(r.a).</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50" b="1" i="1">
                <a:uFill>
                  <a:solidFill>
                    <a:srgbClr val="000000"/>
                  </a:solidFill>
                </a:uFill>
                <a:latin typeface="Arial"/>
                <a:cs typeface="Arial"/>
              </a:rPr>
              <a:t>Mi‟raj </a:t>
            </a:r>
            <a:r>
              <a:rPr dirty="0" u="heavy" sz="1200" b="1" i="1">
                <a:uFill>
                  <a:solidFill>
                    <a:srgbClr val="000000"/>
                  </a:solidFill>
                </a:uFill>
                <a:latin typeface="Arial"/>
                <a:cs typeface="Arial"/>
              </a:rPr>
              <a:t>till</a:t>
            </a:r>
            <a:r>
              <a:rPr dirty="0" u="heavy" sz="1200" spc="45" b="1" i="1">
                <a:uFill>
                  <a:solidFill>
                    <a:srgbClr val="000000"/>
                  </a:solidFill>
                </a:uFill>
                <a:latin typeface="Arial"/>
                <a:cs typeface="Arial"/>
              </a:rPr>
              <a:t> </a:t>
            </a:r>
            <a:r>
              <a:rPr dirty="0" u="heavy" sz="1200" spc="-5" b="1" i="1">
                <a:uFill>
                  <a:solidFill>
                    <a:srgbClr val="000000"/>
                  </a:solidFill>
                </a:uFill>
                <a:latin typeface="Arial"/>
                <a:cs typeface="Arial"/>
              </a:rPr>
              <a:t>Hijrah</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a:latin typeface="Arial"/>
                <a:cs typeface="Arial"/>
              </a:rPr>
              <a:t>In the </a:t>
            </a:r>
            <a:r>
              <a:rPr dirty="0" sz="1200" spc="-5">
                <a:latin typeface="Arial"/>
                <a:cs typeface="Arial"/>
              </a:rPr>
              <a:t>year </a:t>
            </a:r>
            <a:r>
              <a:rPr dirty="0" sz="1200" spc="-5" b="1">
                <a:latin typeface="Arial"/>
                <a:cs typeface="Arial"/>
              </a:rPr>
              <a:t>620</a:t>
            </a:r>
            <a:r>
              <a:rPr dirty="0" sz="1200" spc="-5">
                <a:latin typeface="Arial"/>
                <a:cs typeface="Arial"/>
              </a:rPr>
              <a:t>, 6 men </a:t>
            </a:r>
            <a:r>
              <a:rPr dirty="0" sz="1200">
                <a:latin typeface="Arial"/>
                <a:cs typeface="Arial"/>
              </a:rPr>
              <a:t>from </a:t>
            </a:r>
            <a:r>
              <a:rPr dirty="0" sz="1200" spc="-5">
                <a:latin typeface="Arial"/>
                <a:cs typeface="Arial"/>
              </a:rPr>
              <a:t>the tribes of </a:t>
            </a:r>
            <a:r>
              <a:rPr dirty="0" sz="1200" spc="-10">
                <a:latin typeface="Arial"/>
                <a:cs typeface="Arial"/>
              </a:rPr>
              <a:t>Aws </a:t>
            </a:r>
            <a:r>
              <a:rPr dirty="0" sz="1200" spc="-5">
                <a:latin typeface="Arial"/>
                <a:cs typeface="Arial"/>
              </a:rPr>
              <a:t>and Khazraj </a:t>
            </a:r>
            <a:r>
              <a:rPr dirty="0" sz="1200">
                <a:latin typeface="Arial"/>
                <a:cs typeface="Arial"/>
              </a:rPr>
              <a:t>met the </a:t>
            </a:r>
            <a:r>
              <a:rPr dirty="0" sz="1200" spc="-5">
                <a:latin typeface="Arial"/>
                <a:cs typeface="Arial"/>
              </a:rPr>
              <a:t>prophet </a:t>
            </a:r>
            <a:r>
              <a:rPr dirty="0" sz="1200">
                <a:latin typeface="Arial"/>
                <a:cs typeface="Arial"/>
              </a:rPr>
              <a:t>at </a:t>
            </a:r>
            <a:r>
              <a:rPr dirty="0" sz="1200" spc="-65">
                <a:latin typeface="Arial"/>
                <a:cs typeface="Arial"/>
              </a:rPr>
              <a:t>‗Aqabah </a:t>
            </a:r>
            <a:r>
              <a:rPr dirty="0" sz="1200" spc="200">
                <a:latin typeface="Arial"/>
                <a:cs typeface="Arial"/>
              </a:rPr>
              <a:t> </a:t>
            </a:r>
            <a:r>
              <a:rPr dirty="0" sz="1200" spc="-5">
                <a:latin typeface="Arial"/>
                <a:cs typeface="Arial"/>
              </a:rPr>
              <a:t>listened </a:t>
            </a:r>
            <a:r>
              <a:rPr dirty="0" sz="1200">
                <a:latin typeface="Arial"/>
                <a:cs typeface="Arial"/>
              </a:rPr>
              <a:t>to </a:t>
            </a:r>
            <a:r>
              <a:rPr dirty="0" sz="1200" spc="-5">
                <a:latin typeface="Arial"/>
                <a:cs typeface="Arial"/>
              </a:rPr>
              <a:t>him and converted </a:t>
            </a:r>
            <a:r>
              <a:rPr dirty="0" sz="1200">
                <a:latin typeface="Arial"/>
                <a:cs typeface="Arial"/>
              </a:rPr>
              <a:t>to </a:t>
            </a:r>
            <a:r>
              <a:rPr dirty="0" sz="1200" spc="-5">
                <a:latin typeface="Arial"/>
                <a:cs typeface="Arial"/>
              </a:rPr>
              <a:t>Islam. They returned </a:t>
            </a:r>
            <a:r>
              <a:rPr dirty="0" sz="1200">
                <a:latin typeface="Arial"/>
                <a:cs typeface="Arial"/>
              </a:rPr>
              <a:t>to </a:t>
            </a:r>
            <a:r>
              <a:rPr dirty="0" sz="1200" spc="-5">
                <a:latin typeface="Arial"/>
                <a:cs typeface="Arial"/>
              </a:rPr>
              <a:t>Madina </a:t>
            </a:r>
            <a:r>
              <a:rPr dirty="0" sz="1200">
                <a:latin typeface="Arial"/>
                <a:cs typeface="Arial"/>
              </a:rPr>
              <a:t>to </a:t>
            </a:r>
            <a:r>
              <a:rPr dirty="0" sz="1200" spc="-5">
                <a:latin typeface="Arial"/>
                <a:cs typeface="Arial"/>
              </a:rPr>
              <a:t>spread</a:t>
            </a:r>
            <a:r>
              <a:rPr dirty="0" sz="1200" spc="-10">
                <a:latin typeface="Arial"/>
                <a:cs typeface="Arial"/>
              </a:rPr>
              <a:t> </a:t>
            </a:r>
            <a:r>
              <a:rPr dirty="0" sz="1200" spc="-5">
                <a:latin typeface="Arial"/>
                <a:cs typeface="Arial"/>
              </a:rPr>
              <a:t>Islam.</a:t>
            </a:r>
            <a:endParaRPr sz="1200">
              <a:latin typeface="Arial"/>
              <a:cs typeface="Arial"/>
            </a:endParaRPr>
          </a:p>
          <a:p>
            <a:pPr>
              <a:lnSpc>
                <a:spcPct val="100000"/>
              </a:lnSpc>
              <a:spcBef>
                <a:spcPts val="25"/>
              </a:spcBef>
            </a:pPr>
            <a:endParaRPr sz="1150">
              <a:latin typeface="Arial"/>
              <a:cs typeface="Arial"/>
            </a:endParaRPr>
          </a:p>
          <a:p>
            <a:pPr algn="just" marL="12700" marR="5080">
              <a:lnSpc>
                <a:spcPct val="95800"/>
              </a:lnSpc>
            </a:pPr>
            <a:r>
              <a:rPr dirty="0" sz="1200">
                <a:latin typeface="Arial"/>
                <a:cs typeface="Arial"/>
              </a:rPr>
              <a:t>In </a:t>
            </a:r>
            <a:r>
              <a:rPr dirty="0" sz="1200" spc="-5">
                <a:latin typeface="Arial"/>
                <a:cs typeface="Arial"/>
              </a:rPr>
              <a:t>the year </a:t>
            </a:r>
            <a:r>
              <a:rPr dirty="0" sz="1200" spc="-5" b="1">
                <a:latin typeface="Arial"/>
                <a:cs typeface="Arial"/>
              </a:rPr>
              <a:t>621</a:t>
            </a:r>
            <a:r>
              <a:rPr dirty="0" sz="1200" spc="-5">
                <a:latin typeface="Arial"/>
                <a:cs typeface="Arial"/>
              </a:rPr>
              <a:t>, there </a:t>
            </a:r>
            <a:r>
              <a:rPr dirty="0" sz="1200" spc="-10">
                <a:latin typeface="Arial"/>
                <a:cs typeface="Arial"/>
              </a:rPr>
              <a:t>was </a:t>
            </a:r>
            <a:r>
              <a:rPr dirty="0" sz="1200">
                <a:latin typeface="Arial"/>
                <a:cs typeface="Arial"/>
              </a:rPr>
              <a:t>the </a:t>
            </a:r>
            <a:r>
              <a:rPr dirty="0" sz="1200" spc="-5" b="1">
                <a:latin typeface="Arial"/>
                <a:cs typeface="Arial"/>
              </a:rPr>
              <a:t>miraculous </a:t>
            </a:r>
            <a:r>
              <a:rPr dirty="0" sz="1200" b="1">
                <a:latin typeface="Arial"/>
                <a:cs typeface="Arial"/>
              </a:rPr>
              <a:t>Night </a:t>
            </a:r>
            <a:r>
              <a:rPr dirty="0" sz="1200" spc="-5">
                <a:latin typeface="Arial"/>
                <a:cs typeface="Arial"/>
              </a:rPr>
              <a:t>Journey during the month of Rajab. Hazrat  Jibril </a:t>
            </a:r>
            <a:r>
              <a:rPr dirty="0" sz="1200">
                <a:latin typeface="Arial"/>
                <a:cs typeface="Arial"/>
              </a:rPr>
              <a:t>came to </a:t>
            </a:r>
            <a:r>
              <a:rPr dirty="0" sz="1200" spc="-5">
                <a:latin typeface="Arial"/>
                <a:cs typeface="Arial"/>
              </a:rPr>
              <a:t>meet </a:t>
            </a:r>
            <a:r>
              <a:rPr dirty="0" sz="1200" spc="-10">
                <a:latin typeface="Arial"/>
                <a:cs typeface="Arial"/>
              </a:rPr>
              <a:t>him </a:t>
            </a:r>
            <a:r>
              <a:rPr dirty="0" sz="1200" spc="-5">
                <a:latin typeface="Arial"/>
                <a:cs typeface="Arial"/>
              </a:rPr>
              <a:t>in his house </a:t>
            </a:r>
            <a:r>
              <a:rPr dirty="0" sz="1200">
                <a:latin typeface="Arial"/>
                <a:cs typeface="Arial"/>
              </a:rPr>
              <a:t>at </a:t>
            </a:r>
            <a:r>
              <a:rPr dirty="0" sz="1200" spc="-5">
                <a:latin typeface="Arial"/>
                <a:cs typeface="Arial"/>
              </a:rPr>
              <a:t>night, </a:t>
            </a:r>
            <a:r>
              <a:rPr dirty="0" sz="1200" spc="-10">
                <a:latin typeface="Arial"/>
                <a:cs typeface="Arial"/>
              </a:rPr>
              <a:t>gave </a:t>
            </a:r>
            <a:r>
              <a:rPr dirty="0" sz="1200" spc="-5">
                <a:latin typeface="Arial"/>
                <a:cs typeface="Arial"/>
              </a:rPr>
              <a:t>him </a:t>
            </a:r>
            <a:r>
              <a:rPr dirty="0" sz="1200">
                <a:latin typeface="Arial"/>
                <a:cs typeface="Arial"/>
              </a:rPr>
              <a:t>the </a:t>
            </a:r>
            <a:r>
              <a:rPr dirty="0" sz="1200" spc="-5">
                <a:latin typeface="Arial"/>
                <a:cs typeface="Arial"/>
              </a:rPr>
              <a:t>invitation to from Allah, went </a:t>
            </a:r>
            <a:r>
              <a:rPr dirty="0" sz="1200">
                <a:latin typeface="Arial"/>
                <a:cs typeface="Arial"/>
              </a:rPr>
              <a:t>to  the </a:t>
            </a:r>
            <a:r>
              <a:rPr dirty="0" sz="1200" spc="-5">
                <a:latin typeface="Arial"/>
                <a:cs typeface="Arial"/>
              </a:rPr>
              <a:t>Ka‘bah, slit of the </a:t>
            </a:r>
            <a:r>
              <a:rPr dirty="0" sz="1200">
                <a:latin typeface="Arial"/>
                <a:cs typeface="Arial"/>
              </a:rPr>
              <a:t>chest </a:t>
            </a:r>
            <a:r>
              <a:rPr dirty="0" sz="1200" spc="-5">
                <a:latin typeface="Arial"/>
                <a:cs typeface="Arial"/>
              </a:rPr>
              <a:t>and poured </a:t>
            </a:r>
            <a:r>
              <a:rPr dirty="0" sz="1200">
                <a:latin typeface="Arial"/>
                <a:cs typeface="Arial"/>
              </a:rPr>
              <a:t>Wisdom </a:t>
            </a:r>
            <a:r>
              <a:rPr dirty="0" sz="1200" spc="-5">
                <a:latin typeface="Arial"/>
                <a:cs typeface="Arial"/>
              </a:rPr>
              <a:t>and </a:t>
            </a:r>
            <a:r>
              <a:rPr dirty="0" sz="1200">
                <a:latin typeface="Arial"/>
                <a:cs typeface="Arial"/>
              </a:rPr>
              <a:t>Faith, </a:t>
            </a:r>
            <a:r>
              <a:rPr dirty="0" sz="1200" spc="-5">
                <a:latin typeface="Arial"/>
                <a:cs typeface="Arial"/>
              </a:rPr>
              <a:t>moved from there to Madina,  Baitul Muqaddas. He had seen Hazrat Musah </a:t>
            </a:r>
            <a:r>
              <a:rPr dirty="0" sz="1200">
                <a:latin typeface="Arial"/>
                <a:cs typeface="Arial"/>
              </a:rPr>
              <a:t>(as) </a:t>
            </a:r>
            <a:r>
              <a:rPr dirty="0" sz="1200" spc="-5">
                <a:latin typeface="Arial"/>
                <a:cs typeface="Arial"/>
              </a:rPr>
              <a:t>performing Swalaat in his </a:t>
            </a:r>
            <a:r>
              <a:rPr dirty="0" sz="1200">
                <a:latin typeface="Arial"/>
                <a:cs typeface="Arial"/>
              </a:rPr>
              <a:t>Qabr. At </a:t>
            </a:r>
            <a:r>
              <a:rPr dirty="0" sz="1200" spc="-5">
                <a:latin typeface="Arial"/>
                <a:cs typeface="Arial"/>
              </a:rPr>
              <a:t>Masjid  Al Aqsa, he performed 2 </a:t>
            </a:r>
            <a:r>
              <a:rPr dirty="0" sz="1200">
                <a:latin typeface="Arial"/>
                <a:cs typeface="Arial"/>
              </a:rPr>
              <a:t>Units/Rakaat </a:t>
            </a:r>
            <a:r>
              <a:rPr dirty="0" sz="1200" spc="-5">
                <a:latin typeface="Arial"/>
                <a:cs typeface="Arial"/>
              </a:rPr>
              <a:t>nafil. He </a:t>
            </a:r>
            <a:r>
              <a:rPr dirty="0" sz="1200">
                <a:latin typeface="Arial"/>
                <a:cs typeface="Arial"/>
              </a:rPr>
              <a:t>then </a:t>
            </a:r>
            <a:r>
              <a:rPr dirty="0" sz="1200" spc="-5">
                <a:latin typeface="Arial"/>
                <a:cs typeface="Arial"/>
              </a:rPr>
              <a:t>ascended through stages of heavens  where he </a:t>
            </a:r>
            <a:r>
              <a:rPr dirty="0" sz="1200">
                <a:latin typeface="Arial"/>
                <a:cs typeface="Arial"/>
              </a:rPr>
              <a:t>met </a:t>
            </a:r>
            <a:r>
              <a:rPr dirty="0" sz="1200" spc="-5">
                <a:latin typeface="Arial"/>
                <a:cs typeface="Arial"/>
              </a:rPr>
              <a:t>many prophets like Hazrat Adam, </a:t>
            </a:r>
            <a:r>
              <a:rPr dirty="0" sz="1200">
                <a:latin typeface="Arial"/>
                <a:cs typeface="Arial"/>
              </a:rPr>
              <a:t>Isa, </a:t>
            </a:r>
            <a:r>
              <a:rPr dirty="0" sz="1200" spc="-5">
                <a:latin typeface="Arial"/>
                <a:cs typeface="Arial"/>
              </a:rPr>
              <a:t>Yunus, Idris, Haroun, Musah and  Ibrahim </a:t>
            </a:r>
            <a:r>
              <a:rPr dirty="0" sz="1200">
                <a:latin typeface="Arial"/>
                <a:cs typeface="Arial"/>
              </a:rPr>
              <a:t>(as). </a:t>
            </a:r>
            <a:r>
              <a:rPr dirty="0" sz="1200" spc="-5">
                <a:latin typeface="Arial"/>
                <a:cs typeface="Arial"/>
              </a:rPr>
              <a:t>He visited Jannah and Jahannah. He arrived </a:t>
            </a:r>
            <a:r>
              <a:rPr dirty="0" sz="1200">
                <a:latin typeface="Arial"/>
                <a:cs typeface="Arial"/>
              </a:rPr>
              <a:t>at the </a:t>
            </a:r>
            <a:r>
              <a:rPr dirty="0" sz="1200" spc="5">
                <a:latin typeface="Arial"/>
                <a:cs typeface="Arial"/>
              </a:rPr>
              <a:t>Station </a:t>
            </a:r>
            <a:r>
              <a:rPr dirty="0" sz="1200" spc="-5">
                <a:latin typeface="Arial"/>
                <a:cs typeface="Arial"/>
              </a:rPr>
              <a:t>of Sidratul Muntaha  and that is the limit of Jibril and starting Point of Muhammad (s.a.w). He then proceeded </a:t>
            </a:r>
            <a:r>
              <a:rPr dirty="0" sz="1200">
                <a:latin typeface="Arial"/>
                <a:cs typeface="Arial"/>
              </a:rPr>
              <a:t>to  </a:t>
            </a:r>
            <a:r>
              <a:rPr dirty="0" sz="1200" spc="-5">
                <a:latin typeface="Arial"/>
                <a:cs typeface="Arial"/>
              </a:rPr>
              <a:t>Laa Makaan. He </a:t>
            </a:r>
            <a:r>
              <a:rPr dirty="0" sz="1200" spc="-10">
                <a:latin typeface="Arial"/>
                <a:cs typeface="Arial"/>
              </a:rPr>
              <a:t>received </a:t>
            </a:r>
            <a:r>
              <a:rPr dirty="0" sz="1200" spc="-5">
                <a:latin typeface="Arial"/>
                <a:cs typeface="Arial"/>
              </a:rPr>
              <a:t>Swalaat as </a:t>
            </a:r>
            <a:r>
              <a:rPr dirty="0" sz="1200">
                <a:latin typeface="Arial"/>
                <a:cs typeface="Arial"/>
              </a:rPr>
              <a:t>gift. The </a:t>
            </a:r>
            <a:r>
              <a:rPr dirty="0" sz="1200" spc="-5">
                <a:latin typeface="Arial"/>
                <a:cs typeface="Arial"/>
              </a:rPr>
              <a:t>conversation of Allah and the prophet </a:t>
            </a:r>
            <a:r>
              <a:rPr dirty="0" sz="1200" spc="-10">
                <a:latin typeface="Arial"/>
                <a:cs typeface="Arial"/>
              </a:rPr>
              <a:t>can </a:t>
            </a:r>
            <a:r>
              <a:rPr dirty="0" sz="1200" spc="-5">
                <a:latin typeface="Arial"/>
                <a:cs typeface="Arial"/>
              </a:rPr>
              <a:t>be  found in Attahiyyaat. </a:t>
            </a:r>
            <a:r>
              <a:rPr dirty="0" sz="1200">
                <a:latin typeface="Arial"/>
                <a:cs typeface="Arial"/>
              </a:rPr>
              <a:t>It </a:t>
            </a:r>
            <a:r>
              <a:rPr dirty="0" sz="1200" spc="-10">
                <a:latin typeface="Arial"/>
                <a:cs typeface="Arial"/>
              </a:rPr>
              <a:t>was </a:t>
            </a:r>
            <a:r>
              <a:rPr dirty="0" sz="1200">
                <a:latin typeface="Arial"/>
                <a:cs typeface="Arial"/>
              </a:rPr>
              <a:t>an </a:t>
            </a:r>
            <a:r>
              <a:rPr dirty="0" sz="1200" spc="-5">
                <a:latin typeface="Arial"/>
                <a:cs typeface="Arial"/>
              </a:rPr>
              <a:t>invitation of </a:t>
            </a:r>
            <a:r>
              <a:rPr dirty="0" sz="1200">
                <a:latin typeface="Arial"/>
                <a:cs typeface="Arial"/>
              </a:rPr>
              <a:t>the Creator </a:t>
            </a:r>
            <a:r>
              <a:rPr dirty="0" sz="1200" spc="-10">
                <a:latin typeface="Arial"/>
                <a:cs typeface="Arial"/>
              </a:rPr>
              <a:t>to </a:t>
            </a:r>
            <a:r>
              <a:rPr dirty="0" sz="1200" spc="-5">
                <a:latin typeface="Arial"/>
                <a:cs typeface="Arial"/>
              </a:rPr>
              <a:t>the</a:t>
            </a:r>
            <a:r>
              <a:rPr dirty="0" sz="1200" spc="35">
                <a:latin typeface="Arial"/>
                <a:cs typeface="Arial"/>
              </a:rPr>
              <a:t> </a:t>
            </a:r>
            <a:r>
              <a:rPr dirty="0" sz="1200" spc="-5">
                <a:latin typeface="Arial"/>
                <a:cs typeface="Arial"/>
              </a:rPr>
              <a:t>Creature.</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The </a:t>
            </a:r>
            <a:r>
              <a:rPr dirty="0" u="heavy" sz="1200" spc="-5" b="1" i="1">
                <a:uFill>
                  <a:solidFill>
                    <a:srgbClr val="000000"/>
                  </a:solidFill>
                </a:uFill>
                <a:latin typeface="Arial"/>
                <a:cs typeface="Arial"/>
              </a:rPr>
              <a:t>event </a:t>
            </a:r>
            <a:r>
              <a:rPr dirty="0" u="heavy" sz="1200" b="1" i="1">
                <a:uFill>
                  <a:solidFill>
                    <a:srgbClr val="000000"/>
                  </a:solidFill>
                </a:uFill>
                <a:latin typeface="Arial"/>
                <a:cs typeface="Arial"/>
              </a:rPr>
              <a:t>of </a:t>
            </a:r>
            <a:r>
              <a:rPr dirty="0" u="heavy" sz="1200" spc="-50" b="1" i="1">
                <a:uFill>
                  <a:solidFill>
                    <a:srgbClr val="000000"/>
                  </a:solidFill>
                </a:uFill>
                <a:latin typeface="Arial"/>
                <a:cs typeface="Arial"/>
              </a:rPr>
              <a:t>Mi‟raj </a:t>
            </a:r>
            <a:r>
              <a:rPr dirty="0" u="heavy" sz="1200" spc="-5" b="1" i="1">
                <a:uFill>
                  <a:solidFill>
                    <a:srgbClr val="000000"/>
                  </a:solidFill>
                </a:uFill>
                <a:latin typeface="Arial"/>
                <a:cs typeface="Arial"/>
              </a:rPr>
              <a:t>was very important </a:t>
            </a:r>
            <a:r>
              <a:rPr dirty="0" u="heavy" sz="1200" b="1" i="1">
                <a:uFill>
                  <a:solidFill>
                    <a:srgbClr val="000000"/>
                  </a:solidFill>
                </a:uFill>
                <a:latin typeface="Arial"/>
                <a:cs typeface="Arial"/>
              </a:rPr>
              <a:t>for </a:t>
            </a:r>
            <a:r>
              <a:rPr dirty="0" u="heavy" sz="1200" spc="-5" b="1" i="1">
                <a:uFill>
                  <a:solidFill>
                    <a:srgbClr val="000000"/>
                  </a:solidFill>
                </a:uFill>
                <a:latin typeface="Arial"/>
                <a:cs typeface="Arial"/>
              </a:rPr>
              <a:t>the </a:t>
            </a:r>
            <a:r>
              <a:rPr dirty="0" u="heavy" sz="1200" b="1" i="1">
                <a:uFill>
                  <a:solidFill>
                    <a:srgbClr val="000000"/>
                  </a:solidFill>
                </a:uFill>
                <a:latin typeface="Arial"/>
                <a:cs typeface="Arial"/>
              </a:rPr>
              <a:t>Muslims such </a:t>
            </a:r>
            <a:r>
              <a:rPr dirty="0" u="heavy" sz="1200" spc="-5" b="1" i="1">
                <a:uFill>
                  <a:solidFill>
                    <a:srgbClr val="000000"/>
                  </a:solidFill>
                </a:uFill>
                <a:latin typeface="Arial"/>
                <a:cs typeface="Arial"/>
              </a:rPr>
              <a:t>as</a:t>
            </a:r>
            <a:r>
              <a:rPr dirty="0" u="heavy" sz="1200" spc="40" b="1" i="1">
                <a:uFill>
                  <a:solidFill>
                    <a:srgbClr val="000000"/>
                  </a:solidFill>
                </a:uFill>
                <a:latin typeface="Arial"/>
                <a:cs typeface="Arial"/>
              </a:rPr>
              <a:t> </a:t>
            </a:r>
            <a:r>
              <a:rPr dirty="0" u="heavy" sz="1200" b="1" i="1">
                <a:uFill>
                  <a:solidFill>
                    <a:srgbClr val="000000"/>
                  </a:solidFill>
                </a:uFill>
                <a:latin typeface="Arial"/>
                <a:cs typeface="Arial"/>
              </a:rPr>
              <a:t>that:</a:t>
            </a:r>
            <a:endParaRPr sz="1200">
              <a:latin typeface="Arial"/>
              <a:cs typeface="Arial"/>
            </a:endParaRPr>
          </a:p>
          <a:p>
            <a:pPr>
              <a:lnSpc>
                <a:spcPct val="100000"/>
              </a:lnSpc>
              <a:spcBef>
                <a:spcPts val="35"/>
              </a:spcBef>
            </a:pPr>
            <a:endParaRPr sz="1200">
              <a:latin typeface="Arial"/>
              <a:cs typeface="Arial"/>
            </a:endParaRPr>
          </a:p>
          <a:p>
            <a:pPr marL="469900" marR="5080" indent="-228600">
              <a:lnSpc>
                <a:spcPts val="1380"/>
              </a:lnSpc>
              <a:buAutoNum type="arabicPeriod"/>
              <a:tabLst>
                <a:tab pos="470534" algn="l"/>
              </a:tabLst>
            </a:pPr>
            <a:r>
              <a:rPr dirty="0" sz="1200">
                <a:latin typeface="Arial"/>
                <a:cs typeface="Arial"/>
              </a:rPr>
              <a:t>It </a:t>
            </a:r>
            <a:r>
              <a:rPr dirty="0" sz="1200" spc="-10">
                <a:latin typeface="Arial"/>
                <a:cs typeface="Arial"/>
              </a:rPr>
              <a:t>was </a:t>
            </a:r>
            <a:r>
              <a:rPr dirty="0" sz="1200" spc="-5">
                <a:latin typeface="Arial"/>
                <a:cs typeface="Arial"/>
              </a:rPr>
              <a:t>a spiritual elevation of </a:t>
            </a:r>
            <a:r>
              <a:rPr dirty="0" sz="1200">
                <a:latin typeface="Arial"/>
                <a:cs typeface="Arial"/>
              </a:rPr>
              <a:t>the </a:t>
            </a:r>
            <a:r>
              <a:rPr dirty="0" sz="1200" spc="-5">
                <a:latin typeface="Arial"/>
                <a:cs typeface="Arial"/>
              </a:rPr>
              <a:t>Holy Prophet, </a:t>
            </a:r>
            <a:r>
              <a:rPr dirty="0" sz="1200">
                <a:latin typeface="Arial"/>
                <a:cs typeface="Arial"/>
              </a:rPr>
              <a:t>it </a:t>
            </a:r>
            <a:r>
              <a:rPr dirty="0" sz="1200" spc="-10">
                <a:latin typeface="Arial"/>
                <a:cs typeface="Arial"/>
              </a:rPr>
              <a:t>shows </a:t>
            </a:r>
            <a:r>
              <a:rPr dirty="0" sz="1200">
                <a:latin typeface="Arial"/>
                <a:cs typeface="Arial"/>
              </a:rPr>
              <a:t>the </a:t>
            </a:r>
            <a:r>
              <a:rPr dirty="0" sz="1200" spc="-5">
                <a:latin typeface="Arial"/>
                <a:cs typeface="Arial"/>
              </a:rPr>
              <a:t>Darjah </a:t>
            </a:r>
            <a:r>
              <a:rPr dirty="0" sz="1200">
                <a:latin typeface="Arial"/>
                <a:cs typeface="Arial"/>
              </a:rPr>
              <a:t>– </a:t>
            </a:r>
            <a:r>
              <a:rPr dirty="0" sz="1200" spc="-5">
                <a:latin typeface="Arial"/>
                <a:cs typeface="Arial"/>
              </a:rPr>
              <a:t>status </a:t>
            </a:r>
            <a:r>
              <a:rPr dirty="0" sz="1200">
                <a:latin typeface="Arial"/>
                <a:cs typeface="Arial"/>
              </a:rPr>
              <a:t>– </a:t>
            </a:r>
            <a:r>
              <a:rPr dirty="0" sz="1200" spc="-5">
                <a:latin typeface="Arial"/>
                <a:cs typeface="Arial"/>
              </a:rPr>
              <a:t>of Holy  Prophet in comparison </a:t>
            </a:r>
            <a:r>
              <a:rPr dirty="0" sz="1200">
                <a:latin typeface="Arial"/>
                <a:cs typeface="Arial"/>
              </a:rPr>
              <a:t>to </a:t>
            </a:r>
            <a:r>
              <a:rPr dirty="0" sz="1200" spc="-5">
                <a:latin typeface="Arial"/>
                <a:cs typeface="Arial"/>
              </a:rPr>
              <a:t>other</a:t>
            </a:r>
            <a:r>
              <a:rPr dirty="0" sz="1200" spc="-10">
                <a:latin typeface="Arial"/>
                <a:cs typeface="Arial"/>
              </a:rPr>
              <a:t> </a:t>
            </a:r>
            <a:r>
              <a:rPr dirty="0" sz="1200" spc="-5">
                <a:latin typeface="Arial"/>
                <a:cs typeface="Arial"/>
              </a:rPr>
              <a:t>prophets.</a:t>
            </a:r>
            <a:endParaRPr sz="1200">
              <a:latin typeface="Arial"/>
              <a:cs typeface="Arial"/>
            </a:endParaRPr>
          </a:p>
          <a:p>
            <a:pPr marL="469900" indent="-229235">
              <a:lnSpc>
                <a:spcPts val="1315"/>
              </a:lnSpc>
              <a:buAutoNum type="arabicPeriod"/>
              <a:tabLst>
                <a:tab pos="470534" algn="l"/>
              </a:tabLst>
            </a:pPr>
            <a:r>
              <a:rPr dirty="0" sz="1200" spc="15">
                <a:latin typeface="Arial"/>
                <a:cs typeface="Arial"/>
              </a:rPr>
              <a:t>We </a:t>
            </a:r>
            <a:r>
              <a:rPr dirty="0" sz="1200" spc="-5">
                <a:latin typeface="Arial"/>
                <a:cs typeface="Arial"/>
              </a:rPr>
              <a:t>obtain </a:t>
            </a:r>
            <a:r>
              <a:rPr dirty="0" sz="1200" spc="-10">
                <a:latin typeface="Arial"/>
                <a:cs typeface="Arial"/>
              </a:rPr>
              <a:t>50 </a:t>
            </a:r>
            <a:r>
              <a:rPr dirty="0" sz="1200" spc="-5">
                <a:latin typeface="Arial"/>
                <a:cs typeface="Arial"/>
              </a:rPr>
              <a:t>namaz </a:t>
            </a:r>
            <a:r>
              <a:rPr dirty="0" sz="1200">
                <a:latin typeface="Arial"/>
                <a:cs typeface="Arial"/>
              </a:rPr>
              <a:t>as gift </a:t>
            </a:r>
            <a:r>
              <a:rPr dirty="0" sz="1200" spc="-5">
                <a:latin typeface="Arial"/>
                <a:cs typeface="Arial"/>
              </a:rPr>
              <a:t>from Allah </a:t>
            </a:r>
            <a:r>
              <a:rPr dirty="0" sz="1200">
                <a:latin typeface="Arial"/>
                <a:cs typeface="Arial"/>
              </a:rPr>
              <a:t>– </a:t>
            </a:r>
            <a:r>
              <a:rPr dirty="0" sz="1200" spc="-5">
                <a:latin typeface="Arial"/>
                <a:cs typeface="Arial"/>
              </a:rPr>
              <a:t>then reduced </a:t>
            </a:r>
            <a:r>
              <a:rPr dirty="0" sz="1200">
                <a:latin typeface="Arial"/>
                <a:cs typeface="Arial"/>
              </a:rPr>
              <a:t>to</a:t>
            </a:r>
            <a:r>
              <a:rPr dirty="0" sz="1200" spc="-20">
                <a:latin typeface="Arial"/>
                <a:cs typeface="Arial"/>
              </a:rPr>
              <a:t> </a:t>
            </a:r>
            <a:r>
              <a:rPr dirty="0" sz="1200" spc="-5">
                <a:latin typeface="Arial"/>
                <a:cs typeface="Arial"/>
              </a:rPr>
              <a:t>5</a:t>
            </a:r>
            <a:endParaRPr sz="1200">
              <a:latin typeface="Arial"/>
              <a:cs typeface="Arial"/>
            </a:endParaRPr>
          </a:p>
          <a:p>
            <a:pPr marL="469900" indent="-229235">
              <a:lnSpc>
                <a:spcPts val="1380"/>
              </a:lnSpc>
              <a:buAutoNum type="arabicPeriod"/>
              <a:tabLst>
                <a:tab pos="470534" algn="l"/>
              </a:tabLst>
            </a:pPr>
            <a:r>
              <a:rPr dirty="0" sz="1200">
                <a:latin typeface="Arial"/>
                <a:cs typeface="Arial"/>
              </a:rPr>
              <a:t>Our </a:t>
            </a:r>
            <a:r>
              <a:rPr dirty="0" sz="1200" spc="-5">
                <a:latin typeface="Arial"/>
                <a:cs typeface="Arial"/>
              </a:rPr>
              <a:t>imaan in Allah is</a:t>
            </a:r>
            <a:r>
              <a:rPr dirty="0" sz="1200" spc="-15">
                <a:latin typeface="Arial"/>
                <a:cs typeface="Arial"/>
              </a:rPr>
              <a:t> </a:t>
            </a:r>
            <a:r>
              <a:rPr dirty="0" sz="1200" spc="-5">
                <a:latin typeface="Arial"/>
                <a:cs typeface="Arial"/>
              </a:rPr>
              <a:t>consolidated.</a:t>
            </a:r>
            <a:endParaRPr sz="1200">
              <a:latin typeface="Arial"/>
              <a:cs typeface="Arial"/>
            </a:endParaRPr>
          </a:p>
          <a:p>
            <a:pPr marL="469900" indent="-229235">
              <a:lnSpc>
                <a:spcPts val="1410"/>
              </a:lnSpc>
              <a:buAutoNum type="arabicPeriod"/>
              <a:tabLst>
                <a:tab pos="470534" algn="l"/>
              </a:tabLst>
            </a:pPr>
            <a:r>
              <a:rPr dirty="0" sz="1200">
                <a:latin typeface="Arial"/>
                <a:cs typeface="Arial"/>
              </a:rPr>
              <a:t>It </a:t>
            </a:r>
            <a:r>
              <a:rPr dirty="0" sz="1200" spc="-5">
                <a:latin typeface="Arial"/>
                <a:cs typeface="Arial"/>
              </a:rPr>
              <a:t>is important in </a:t>
            </a:r>
            <a:r>
              <a:rPr dirty="0" sz="1200">
                <a:latin typeface="Arial"/>
                <a:cs typeface="Arial"/>
              </a:rPr>
              <a:t>the </a:t>
            </a:r>
            <a:r>
              <a:rPr dirty="0" sz="1200" spc="-5">
                <a:latin typeface="Arial"/>
                <a:cs typeface="Arial"/>
              </a:rPr>
              <a:t>sight of </a:t>
            </a:r>
            <a:r>
              <a:rPr dirty="0" sz="1200">
                <a:latin typeface="Arial"/>
                <a:cs typeface="Arial"/>
              </a:rPr>
              <a:t>the </a:t>
            </a:r>
            <a:r>
              <a:rPr dirty="0" sz="1200" spc="-5">
                <a:latin typeface="Arial"/>
                <a:cs typeface="Arial"/>
              </a:rPr>
              <a:t>Ashab, </a:t>
            </a:r>
            <a:r>
              <a:rPr dirty="0" sz="1200">
                <a:latin typeface="Arial"/>
                <a:cs typeface="Arial"/>
              </a:rPr>
              <a:t>it </a:t>
            </a:r>
            <a:r>
              <a:rPr dirty="0" sz="1200" spc="-5">
                <a:latin typeface="Arial"/>
                <a:cs typeface="Arial"/>
              </a:rPr>
              <a:t>is a spiritual</a:t>
            </a:r>
            <a:r>
              <a:rPr dirty="0" sz="1200" spc="10">
                <a:latin typeface="Arial"/>
                <a:cs typeface="Arial"/>
              </a:rPr>
              <a:t> </a:t>
            </a:r>
            <a:r>
              <a:rPr dirty="0" sz="1200" spc="-5">
                <a:latin typeface="Arial"/>
                <a:cs typeface="Arial"/>
              </a:rPr>
              <a:t>aid</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382015" y="799592"/>
            <a:ext cx="6614795" cy="8971280"/>
          </a:xfrm>
          <a:prstGeom prst="rect">
            <a:avLst/>
          </a:prstGeom>
        </p:spPr>
        <p:txBody>
          <a:bodyPr wrap="square" lIns="0" tIns="12700" rIns="0" bIns="0" rtlCol="0" vert="horz">
            <a:spAutoFit/>
          </a:bodyPr>
          <a:lstStyle/>
          <a:p>
            <a:pPr marL="622300" indent="-229235">
              <a:lnSpc>
                <a:spcPts val="1410"/>
              </a:lnSpc>
              <a:spcBef>
                <a:spcPts val="100"/>
              </a:spcBef>
              <a:buAutoNum type="arabicPeriod" startAt="5"/>
              <a:tabLst>
                <a:tab pos="622935" algn="l"/>
              </a:tabLst>
            </a:pPr>
            <a:r>
              <a:rPr dirty="0" sz="1200">
                <a:latin typeface="Arial"/>
                <a:cs typeface="Arial"/>
              </a:rPr>
              <a:t>It </a:t>
            </a:r>
            <a:r>
              <a:rPr dirty="0" sz="1200" spc="-10">
                <a:latin typeface="Arial"/>
                <a:cs typeface="Arial"/>
              </a:rPr>
              <a:t>was </a:t>
            </a:r>
            <a:r>
              <a:rPr dirty="0" sz="1200">
                <a:latin typeface="Arial"/>
                <a:cs typeface="Arial"/>
              </a:rPr>
              <a:t>sent </a:t>
            </a:r>
            <a:r>
              <a:rPr dirty="0" sz="1200" spc="-5">
                <a:latin typeface="Arial"/>
                <a:cs typeface="Arial"/>
              </a:rPr>
              <a:t>by Allah through</a:t>
            </a:r>
            <a:r>
              <a:rPr dirty="0" sz="1200" spc="-10">
                <a:latin typeface="Arial"/>
                <a:cs typeface="Arial"/>
              </a:rPr>
              <a:t> </a:t>
            </a:r>
            <a:r>
              <a:rPr dirty="0" sz="1200" spc="-5">
                <a:latin typeface="Arial"/>
                <a:cs typeface="Arial"/>
              </a:rPr>
              <a:t>Namaz</a:t>
            </a:r>
            <a:endParaRPr sz="1200">
              <a:latin typeface="Arial"/>
              <a:cs typeface="Arial"/>
            </a:endParaRPr>
          </a:p>
          <a:p>
            <a:pPr marL="622300" indent="-229235">
              <a:lnSpc>
                <a:spcPts val="1380"/>
              </a:lnSpc>
              <a:buAutoNum type="arabicPeriod" startAt="5"/>
              <a:tabLst>
                <a:tab pos="622935" algn="l"/>
              </a:tabLst>
            </a:pPr>
            <a:r>
              <a:rPr dirty="0" sz="1200" spc="-5">
                <a:latin typeface="Arial"/>
                <a:cs typeface="Arial"/>
              </a:rPr>
              <a:t>Swalaat is </a:t>
            </a:r>
            <a:r>
              <a:rPr dirty="0" sz="1200">
                <a:latin typeface="Arial"/>
                <a:cs typeface="Arial"/>
              </a:rPr>
              <a:t>the </a:t>
            </a:r>
            <a:r>
              <a:rPr dirty="0" sz="1200" spc="-5">
                <a:latin typeface="Arial"/>
                <a:cs typeface="Arial"/>
              </a:rPr>
              <a:t>Mi‘raj of </a:t>
            </a:r>
            <a:r>
              <a:rPr dirty="0" sz="1200">
                <a:latin typeface="Arial"/>
                <a:cs typeface="Arial"/>
              </a:rPr>
              <a:t>the</a:t>
            </a:r>
            <a:r>
              <a:rPr dirty="0" sz="1200" spc="-10">
                <a:latin typeface="Arial"/>
                <a:cs typeface="Arial"/>
              </a:rPr>
              <a:t> </a:t>
            </a:r>
            <a:r>
              <a:rPr dirty="0" sz="1200" spc="-5">
                <a:latin typeface="Arial"/>
                <a:cs typeface="Arial"/>
              </a:rPr>
              <a:t>believers</a:t>
            </a:r>
            <a:endParaRPr sz="1200">
              <a:latin typeface="Arial"/>
              <a:cs typeface="Arial"/>
            </a:endParaRPr>
          </a:p>
          <a:p>
            <a:pPr marL="622300" indent="-229235">
              <a:lnSpc>
                <a:spcPts val="1410"/>
              </a:lnSpc>
              <a:buAutoNum type="arabicPeriod" startAt="5"/>
              <a:tabLst>
                <a:tab pos="622935" algn="l"/>
              </a:tabLst>
            </a:pPr>
            <a:r>
              <a:rPr dirty="0" sz="1200">
                <a:latin typeface="Arial"/>
                <a:cs typeface="Arial"/>
              </a:rPr>
              <a:t>It </a:t>
            </a:r>
            <a:r>
              <a:rPr dirty="0" sz="1200" spc="-5">
                <a:latin typeface="Arial"/>
                <a:cs typeface="Arial"/>
              </a:rPr>
              <a:t>is </a:t>
            </a:r>
            <a:r>
              <a:rPr dirty="0" sz="1200">
                <a:latin typeface="Arial"/>
                <a:cs typeface="Arial"/>
              </a:rPr>
              <a:t>a </a:t>
            </a:r>
            <a:r>
              <a:rPr dirty="0" sz="1200" spc="-5">
                <a:latin typeface="Arial"/>
                <a:cs typeface="Arial"/>
              </a:rPr>
              <a:t>blessed night where </a:t>
            </a:r>
            <a:r>
              <a:rPr dirty="0" sz="1200">
                <a:latin typeface="Arial"/>
                <a:cs typeface="Arial"/>
              </a:rPr>
              <a:t>our </a:t>
            </a:r>
            <a:r>
              <a:rPr dirty="0" sz="1200" spc="-5">
                <a:latin typeface="Arial"/>
                <a:cs typeface="Arial"/>
              </a:rPr>
              <a:t>du‘a </a:t>
            </a:r>
            <a:r>
              <a:rPr dirty="0" sz="1200">
                <a:latin typeface="Arial"/>
                <a:cs typeface="Arial"/>
              </a:rPr>
              <a:t>are</a:t>
            </a:r>
            <a:r>
              <a:rPr dirty="0" sz="1200" spc="-45">
                <a:latin typeface="Arial"/>
                <a:cs typeface="Arial"/>
              </a:rPr>
              <a:t> </a:t>
            </a:r>
            <a:r>
              <a:rPr dirty="0" sz="1200">
                <a:latin typeface="Arial"/>
                <a:cs typeface="Arial"/>
              </a:rPr>
              <a:t>accepted.</a:t>
            </a:r>
            <a:endParaRPr sz="1200">
              <a:latin typeface="Arial"/>
              <a:cs typeface="Arial"/>
            </a:endParaRPr>
          </a:p>
          <a:p>
            <a:pPr>
              <a:lnSpc>
                <a:spcPct val="100000"/>
              </a:lnSpc>
              <a:spcBef>
                <a:spcPts val="35"/>
              </a:spcBef>
            </a:pPr>
            <a:endParaRPr sz="1200">
              <a:latin typeface="Arial"/>
              <a:cs typeface="Arial"/>
            </a:endParaRPr>
          </a:p>
          <a:p>
            <a:pPr algn="just" marL="165100" marR="157480">
              <a:lnSpc>
                <a:spcPts val="1380"/>
              </a:lnSpc>
            </a:pPr>
            <a:r>
              <a:rPr dirty="0" sz="1200">
                <a:latin typeface="Arial"/>
                <a:cs typeface="Arial"/>
              </a:rPr>
              <a:t>In the </a:t>
            </a:r>
            <a:r>
              <a:rPr dirty="0" sz="1200" spc="-5">
                <a:latin typeface="Arial"/>
                <a:cs typeface="Arial"/>
              </a:rPr>
              <a:t>year </a:t>
            </a:r>
            <a:r>
              <a:rPr dirty="0" sz="1200" spc="-5" b="1">
                <a:latin typeface="Arial"/>
                <a:cs typeface="Arial"/>
              </a:rPr>
              <a:t>621 </a:t>
            </a:r>
            <a:r>
              <a:rPr dirty="0" sz="1200">
                <a:latin typeface="Arial"/>
                <a:cs typeface="Arial"/>
              </a:rPr>
              <a:t>there </a:t>
            </a:r>
            <a:r>
              <a:rPr dirty="0" sz="1200" spc="-10">
                <a:latin typeface="Arial"/>
                <a:cs typeface="Arial"/>
              </a:rPr>
              <a:t>was </a:t>
            </a:r>
            <a:r>
              <a:rPr dirty="0" sz="1200">
                <a:latin typeface="Arial"/>
                <a:cs typeface="Arial"/>
              </a:rPr>
              <a:t>the </a:t>
            </a:r>
            <a:r>
              <a:rPr dirty="0" sz="1200" spc="-5" b="1">
                <a:latin typeface="Arial"/>
                <a:cs typeface="Arial"/>
              </a:rPr>
              <a:t>1</a:t>
            </a:r>
            <a:r>
              <a:rPr dirty="0" baseline="38194" sz="1200" spc="-7" b="1">
                <a:latin typeface="Arial"/>
                <a:cs typeface="Arial"/>
              </a:rPr>
              <a:t>st </a:t>
            </a:r>
            <a:r>
              <a:rPr dirty="0" sz="1200" b="1">
                <a:latin typeface="Arial"/>
                <a:cs typeface="Arial"/>
              </a:rPr>
              <a:t>Pledge of </a:t>
            </a:r>
            <a:r>
              <a:rPr dirty="0" sz="1200" spc="-45" b="1">
                <a:latin typeface="Arial"/>
                <a:cs typeface="Arial"/>
              </a:rPr>
              <a:t>„Aqabah </a:t>
            </a:r>
            <a:r>
              <a:rPr dirty="0" sz="1200" spc="-5">
                <a:latin typeface="Arial"/>
                <a:cs typeface="Arial"/>
              </a:rPr>
              <a:t>in </a:t>
            </a:r>
            <a:r>
              <a:rPr dirty="0" sz="1200">
                <a:latin typeface="Arial"/>
                <a:cs typeface="Arial"/>
              </a:rPr>
              <a:t>the </a:t>
            </a:r>
            <a:r>
              <a:rPr dirty="0" sz="1200" spc="-5">
                <a:latin typeface="Arial"/>
                <a:cs typeface="Arial"/>
              </a:rPr>
              <a:t>month of </a:t>
            </a:r>
            <a:r>
              <a:rPr dirty="0" sz="1200">
                <a:latin typeface="Arial"/>
                <a:cs typeface="Arial"/>
              </a:rPr>
              <a:t>Dhul </a:t>
            </a:r>
            <a:r>
              <a:rPr dirty="0" sz="1200" spc="-5">
                <a:latin typeface="Arial"/>
                <a:cs typeface="Arial"/>
              </a:rPr>
              <a:t>Hajj. 12 </a:t>
            </a:r>
            <a:r>
              <a:rPr dirty="0" sz="1200">
                <a:latin typeface="Arial"/>
                <a:cs typeface="Arial"/>
              </a:rPr>
              <a:t>men </a:t>
            </a:r>
            <a:r>
              <a:rPr dirty="0" sz="1200" spc="-5">
                <a:latin typeface="Arial"/>
                <a:cs typeface="Arial"/>
              </a:rPr>
              <a:t>from  Yathrib </a:t>
            </a:r>
            <a:r>
              <a:rPr dirty="0" sz="1200">
                <a:latin typeface="Arial"/>
                <a:cs typeface="Arial"/>
              </a:rPr>
              <a:t>came </a:t>
            </a:r>
            <a:r>
              <a:rPr dirty="0" sz="1200" spc="-5">
                <a:latin typeface="Arial"/>
                <a:cs typeface="Arial"/>
              </a:rPr>
              <a:t>to accept </a:t>
            </a:r>
            <a:r>
              <a:rPr dirty="0" sz="1200">
                <a:latin typeface="Arial"/>
                <a:cs typeface="Arial"/>
              </a:rPr>
              <a:t>Islam </a:t>
            </a:r>
            <a:r>
              <a:rPr dirty="0" sz="1200" spc="-5">
                <a:latin typeface="Arial"/>
                <a:cs typeface="Arial"/>
              </a:rPr>
              <a:t>and took the oath of No Shirk </a:t>
            </a:r>
            <a:r>
              <a:rPr dirty="0" sz="1200">
                <a:latin typeface="Arial"/>
                <a:cs typeface="Arial"/>
              </a:rPr>
              <a:t>– </a:t>
            </a:r>
            <a:r>
              <a:rPr dirty="0" sz="1200" spc="-5">
                <a:latin typeface="Arial"/>
                <a:cs typeface="Arial"/>
              </a:rPr>
              <a:t>No adultery </a:t>
            </a:r>
            <a:r>
              <a:rPr dirty="0" sz="1200">
                <a:latin typeface="Arial"/>
                <a:cs typeface="Arial"/>
              </a:rPr>
              <a:t>– </a:t>
            </a:r>
            <a:r>
              <a:rPr dirty="0" sz="1200" spc="-5">
                <a:latin typeface="Arial"/>
                <a:cs typeface="Arial"/>
              </a:rPr>
              <a:t>No Fornication </a:t>
            </a:r>
            <a:r>
              <a:rPr dirty="0" sz="1200">
                <a:latin typeface="Arial"/>
                <a:cs typeface="Arial"/>
              </a:rPr>
              <a:t>–  </a:t>
            </a:r>
            <a:r>
              <a:rPr dirty="0" sz="1200" spc="-5">
                <a:latin typeface="Arial"/>
                <a:cs typeface="Arial"/>
              </a:rPr>
              <a:t>No killing </a:t>
            </a:r>
            <a:r>
              <a:rPr dirty="0" sz="1200">
                <a:latin typeface="Arial"/>
                <a:cs typeface="Arial"/>
              </a:rPr>
              <a:t>of </a:t>
            </a:r>
            <a:r>
              <a:rPr dirty="0" sz="1200" spc="-5">
                <a:latin typeface="Arial"/>
                <a:cs typeface="Arial"/>
              </a:rPr>
              <a:t>children </a:t>
            </a:r>
            <a:r>
              <a:rPr dirty="0" sz="1200">
                <a:latin typeface="Arial"/>
                <a:cs typeface="Arial"/>
              </a:rPr>
              <a:t>– </a:t>
            </a:r>
            <a:r>
              <a:rPr dirty="0" sz="1200" spc="-5">
                <a:latin typeface="Arial"/>
                <a:cs typeface="Arial"/>
              </a:rPr>
              <a:t>No calumny and slander and No more </a:t>
            </a:r>
            <a:r>
              <a:rPr dirty="0" sz="1200">
                <a:latin typeface="Arial"/>
                <a:cs typeface="Arial"/>
              </a:rPr>
              <a:t>sins. </a:t>
            </a:r>
            <a:r>
              <a:rPr dirty="0" sz="1200" spc="5">
                <a:latin typeface="Arial"/>
                <a:cs typeface="Arial"/>
              </a:rPr>
              <a:t>They </a:t>
            </a:r>
            <a:r>
              <a:rPr dirty="0" sz="1200">
                <a:latin typeface="Arial"/>
                <a:cs typeface="Arial"/>
              </a:rPr>
              <a:t>promised </a:t>
            </a:r>
            <a:r>
              <a:rPr dirty="0" sz="1200" spc="-5">
                <a:latin typeface="Arial"/>
                <a:cs typeface="Arial"/>
              </a:rPr>
              <a:t>obedience  </a:t>
            </a:r>
            <a:r>
              <a:rPr dirty="0" sz="1200">
                <a:latin typeface="Arial"/>
                <a:cs typeface="Arial"/>
              </a:rPr>
              <a:t>and </a:t>
            </a:r>
            <a:r>
              <a:rPr dirty="0" sz="1200" spc="-5">
                <a:latin typeface="Arial"/>
                <a:cs typeface="Arial"/>
              </a:rPr>
              <a:t>faithfulness. Hazrat Mus‘ad bin </a:t>
            </a:r>
            <a:r>
              <a:rPr dirty="0" sz="1200" spc="-70">
                <a:latin typeface="Arial"/>
                <a:cs typeface="Arial"/>
              </a:rPr>
              <a:t>‗Umair </a:t>
            </a:r>
            <a:r>
              <a:rPr dirty="0" sz="1200" spc="-5">
                <a:latin typeface="Arial"/>
                <a:cs typeface="Arial"/>
              </a:rPr>
              <a:t>was </a:t>
            </a:r>
            <a:r>
              <a:rPr dirty="0" sz="1200">
                <a:latin typeface="Arial"/>
                <a:cs typeface="Arial"/>
              </a:rPr>
              <a:t>sent as teacher to </a:t>
            </a:r>
            <a:r>
              <a:rPr dirty="0" sz="1200" spc="-5">
                <a:latin typeface="Arial"/>
                <a:cs typeface="Arial"/>
              </a:rPr>
              <a:t>Yathrib. The next year  (</a:t>
            </a:r>
            <a:r>
              <a:rPr dirty="0" sz="1200" spc="-5" b="1">
                <a:latin typeface="Arial"/>
                <a:cs typeface="Arial"/>
              </a:rPr>
              <a:t>622</a:t>
            </a:r>
            <a:r>
              <a:rPr dirty="0" sz="1200" spc="-5">
                <a:latin typeface="Arial"/>
                <a:cs typeface="Arial"/>
              </a:rPr>
              <a:t>) there </a:t>
            </a:r>
            <a:r>
              <a:rPr dirty="0" sz="1200" spc="-10">
                <a:latin typeface="Arial"/>
                <a:cs typeface="Arial"/>
              </a:rPr>
              <a:t>was </a:t>
            </a:r>
            <a:r>
              <a:rPr dirty="0" sz="1200">
                <a:latin typeface="Arial"/>
                <a:cs typeface="Arial"/>
              </a:rPr>
              <a:t>the 2</a:t>
            </a:r>
            <a:r>
              <a:rPr dirty="0" baseline="38194" sz="1200">
                <a:latin typeface="Arial"/>
                <a:cs typeface="Arial"/>
              </a:rPr>
              <a:t>nd </a:t>
            </a:r>
            <a:r>
              <a:rPr dirty="0" sz="1200" spc="-5">
                <a:latin typeface="Arial"/>
                <a:cs typeface="Arial"/>
              </a:rPr>
              <a:t>Pledge of </a:t>
            </a:r>
            <a:r>
              <a:rPr dirty="0" sz="1200" spc="-65">
                <a:latin typeface="Arial"/>
                <a:cs typeface="Arial"/>
              </a:rPr>
              <a:t>‗Aqabah </a:t>
            </a:r>
            <a:r>
              <a:rPr dirty="0" sz="1200" spc="-10">
                <a:latin typeface="Arial"/>
                <a:cs typeface="Arial"/>
              </a:rPr>
              <a:t>in </a:t>
            </a:r>
            <a:r>
              <a:rPr dirty="0" sz="1200">
                <a:latin typeface="Arial"/>
                <a:cs typeface="Arial"/>
              </a:rPr>
              <a:t>the </a:t>
            </a:r>
            <a:r>
              <a:rPr dirty="0" sz="1200" spc="-5">
                <a:latin typeface="Arial"/>
                <a:cs typeface="Arial"/>
              </a:rPr>
              <a:t>month of Dhul Hajj. </a:t>
            </a:r>
            <a:r>
              <a:rPr dirty="0" sz="1200">
                <a:latin typeface="Arial"/>
                <a:cs typeface="Arial"/>
              </a:rPr>
              <a:t>73 </a:t>
            </a:r>
            <a:r>
              <a:rPr dirty="0" sz="1200" spc="-5">
                <a:latin typeface="Arial"/>
                <a:cs typeface="Arial"/>
              </a:rPr>
              <a:t>men from Yathrib  </a:t>
            </a:r>
            <a:r>
              <a:rPr dirty="0" sz="1200">
                <a:latin typeface="Arial"/>
                <a:cs typeface="Arial"/>
              </a:rPr>
              <a:t>came </a:t>
            </a:r>
            <a:r>
              <a:rPr dirty="0" sz="1200" spc="-5">
                <a:latin typeface="Arial"/>
                <a:cs typeface="Arial"/>
              </a:rPr>
              <a:t>to accept </a:t>
            </a:r>
            <a:r>
              <a:rPr dirty="0" sz="1200">
                <a:latin typeface="Arial"/>
                <a:cs typeface="Arial"/>
              </a:rPr>
              <a:t>Islam </a:t>
            </a:r>
            <a:r>
              <a:rPr dirty="0" sz="1200" spc="-5">
                <a:latin typeface="Arial"/>
                <a:cs typeface="Arial"/>
              </a:rPr>
              <a:t>and </a:t>
            </a:r>
            <a:r>
              <a:rPr dirty="0" sz="1200">
                <a:latin typeface="Arial"/>
                <a:cs typeface="Arial"/>
              </a:rPr>
              <a:t>to </a:t>
            </a:r>
            <a:r>
              <a:rPr dirty="0" sz="1200" spc="-5">
                <a:latin typeface="Arial"/>
                <a:cs typeface="Arial"/>
              </a:rPr>
              <a:t>invite </a:t>
            </a:r>
            <a:r>
              <a:rPr dirty="0" sz="1200">
                <a:latin typeface="Arial"/>
                <a:cs typeface="Arial"/>
              </a:rPr>
              <a:t>the </a:t>
            </a:r>
            <a:r>
              <a:rPr dirty="0" sz="1200" spc="-5">
                <a:latin typeface="Arial"/>
                <a:cs typeface="Arial"/>
              </a:rPr>
              <a:t>prophet (s.a.w) </a:t>
            </a:r>
            <a:r>
              <a:rPr dirty="0" sz="1200">
                <a:latin typeface="Arial"/>
                <a:cs typeface="Arial"/>
              </a:rPr>
              <a:t>to </a:t>
            </a:r>
            <a:r>
              <a:rPr dirty="0" sz="1200" spc="-5">
                <a:latin typeface="Arial"/>
                <a:cs typeface="Arial"/>
              </a:rPr>
              <a:t>Yathrib with </a:t>
            </a:r>
            <a:r>
              <a:rPr dirty="0" sz="1200">
                <a:latin typeface="Arial"/>
                <a:cs typeface="Arial"/>
              </a:rPr>
              <a:t>full </a:t>
            </a:r>
            <a:r>
              <a:rPr dirty="0" sz="1200" spc="-5">
                <a:latin typeface="Arial"/>
                <a:cs typeface="Arial"/>
              </a:rPr>
              <a:t>protection. They  made the same promise </a:t>
            </a:r>
            <a:r>
              <a:rPr dirty="0" sz="1200">
                <a:latin typeface="Arial"/>
                <a:cs typeface="Arial"/>
              </a:rPr>
              <a:t>as </a:t>
            </a:r>
            <a:r>
              <a:rPr dirty="0" sz="1200" spc="-5">
                <a:latin typeface="Arial"/>
                <a:cs typeface="Arial"/>
              </a:rPr>
              <a:t>to live </a:t>
            </a:r>
            <a:r>
              <a:rPr dirty="0" sz="1200">
                <a:latin typeface="Arial"/>
                <a:cs typeface="Arial"/>
              </a:rPr>
              <a:t>according </a:t>
            </a:r>
            <a:r>
              <a:rPr dirty="0" sz="1200" spc="-5">
                <a:latin typeface="Arial"/>
                <a:cs typeface="Arial"/>
              </a:rPr>
              <a:t>to Islamic</a:t>
            </a:r>
            <a:r>
              <a:rPr dirty="0" sz="1200" spc="30">
                <a:latin typeface="Arial"/>
                <a:cs typeface="Arial"/>
              </a:rPr>
              <a:t> </a:t>
            </a:r>
            <a:r>
              <a:rPr dirty="0" sz="1200" spc="-5">
                <a:latin typeface="Arial"/>
                <a:cs typeface="Arial"/>
              </a:rPr>
              <a:t>principles.</a:t>
            </a:r>
            <a:endParaRPr sz="1200">
              <a:latin typeface="Arial"/>
              <a:cs typeface="Arial"/>
            </a:endParaRPr>
          </a:p>
          <a:p>
            <a:pPr>
              <a:lnSpc>
                <a:spcPct val="100000"/>
              </a:lnSpc>
              <a:spcBef>
                <a:spcPts val="20"/>
              </a:spcBef>
            </a:pPr>
            <a:endParaRPr sz="1100">
              <a:latin typeface="Arial"/>
              <a:cs typeface="Arial"/>
            </a:endParaRPr>
          </a:p>
          <a:p>
            <a:pPr marL="165100">
              <a:lnSpc>
                <a:spcPct val="100000"/>
              </a:lnSpc>
            </a:pPr>
            <a:r>
              <a:rPr dirty="0" u="heavy" sz="1200" b="1" i="1">
                <a:uFill>
                  <a:solidFill>
                    <a:srgbClr val="000000"/>
                  </a:solidFill>
                </a:uFill>
                <a:latin typeface="Arial"/>
                <a:cs typeface="Arial"/>
              </a:rPr>
              <a:t>These two </a:t>
            </a:r>
            <a:r>
              <a:rPr dirty="0" u="heavy" sz="1200" spc="-5" b="1" i="1">
                <a:uFill>
                  <a:solidFill>
                    <a:srgbClr val="000000"/>
                  </a:solidFill>
                </a:uFill>
                <a:latin typeface="Arial"/>
                <a:cs typeface="Arial"/>
              </a:rPr>
              <a:t>events were very important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Muslims</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as:</a:t>
            </a:r>
            <a:endParaRPr sz="1200">
              <a:latin typeface="Arial"/>
              <a:cs typeface="Arial"/>
            </a:endParaRPr>
          </a:p>
          <a:p>
            <a:pPr>
              <a:lnSpc>
                <a:spcPct val="100000"/>
              </a:lnSpc>
              <a:spcBef>
                <a:spcPts val="35"/>
              </a:spcBef>
            </a:pPr>
            <a:endParaRPr sz="1200">
              <a:latin typeface="Arial"/>
              <a:cs typeface="Arial"/>
            </a:endParaRPr>
          </a:p>
          <a:p>
            <a:pPr marL="622300" marR="155575" indent="-229235">
              <a:lnSpc>
                <a:spcPts val="1380"/>
              </a:lnSpc>
              <a:spcBef>
                <a:spcPts val="5"/>
              </a:spcBef>
              <a:buAutoNum type="arabicPeriod"/>
              <a:tabLst>
                <a:tab pos="622935" algn="l"/>
              </a:tabLst>
            </a:pPr>
            <a:r>
              <a:rPr dirty="0" sz="1200">
                <a:latin typeface="Arial"/>
                <a:cs typeface="Arial"/>
              </a:rPr>
              <a:t>They </a:t>
            </a:r>
            <a:r>
              <a:rPr dirty="0" sz="1200" spc="-5">
                <a:latin typeface="Arial"/>
                <a:cs typeface="Arial"/>
              </a:rPr>
              <a:t>were </a:t>
            </a:r>
            <a:r>
              <a:rPr dirty="0" sz="1200">
                <a:latin typeface="Arial"/>
                <a:cs typeface="Arial"/>
              </a:rPr>
              <a:t>turning </a:t>
            </a:r>
            <a:r>
              <a:rPr dirty="0" sz="1200" spc="-5">
                <a:latin typeface="Arial"/>
                <a:cs typeface="Arial"/>
              </a:rPr>
              <a:t>points in history </a:t>
            </a:r>
            <a:r>
              <a:rPr dirty="0" sz="1200">
                <a:latin typeface="Arial"/>
                <a:cs typeface="Arial"/>
              </a:rPr>
              <a:t>of </a:t>
            </a:r>
            <a:r>
              <a:rPr dirty="0" sz="1200" spc="-5">
                <a:latin typeface="Arial"/>
                <a:cs typeface="Arial"/>
              </a:rPr>
              <a:t>Islam, the Ashab migrated to new </a:t>
            </a:r>
            <a:r>
              <a:rPr dirty="0" sz="1200">
                <a:latin typeface="Arial"/>
                <a:cs typeface="Arial"/>
              </a:rPr>
              <a:t>land –  </a:t>
            </a:r>
            <a:r>
              <a:rPr dirty="0" sz="1200" spc="-5">
                <a:latin typeface="Arial"/>
                <a:cs typeface="Arial"/>
              </a:rPr>
              <a:t>Madina, </a:t>
            </a:r>
            <a:r>
              <a:rPr dirty="0" sz="1200">
                <a:latin typeface="Arial"/>
                <a:cs typeface="Arial"/>
              </a:rPr>
              <a:t>the </a:t>
            </a:r>
            <a:r>
              <a:rPr dirty="0" sz="1200" spc="-5">
                <a:latin typeface="Arial"/>
                <a:cs typeface="Arial"/>
              </a:rPr>
              <a:t>Islamic Community </a:t>
            </a:r>
            <a:r>
              <a:rPr dirty="0" sz="1200" spc="-10">
                <a:latin typeface="Arial"/>
                <a:cs typeface="Arial"/>
              </a:rPr>
              <a:t>was </a:t>
            </a:r>
            <a:r>
              <a:rPr dirty="0" sz="1200">
                <a:latin typeface="Arial"/>
                <a:cs typeface="Arial"/>
              </a:rPr>
              <a:t>settled</a:t>
            </a:r>
            <a:r>
              <a:rPr dirty="0" sz="1200" spc="-5">
                <a:latin typeface="Arial"/>
                <a:cs typeface="Arial"/>
              </a:rPr>
              <a:t> there</a:t>
            </a:r>
            <a:endParaRPr sz="1200">
              <a:latin typeface="Arial"/>
              <a:cs typeface="Arial"/>
            </a:endParaRPr>
          </a:p>
          <a:p>
            <a:pPr marL="622300" indent="-229235">
              <a:lnSpc>
                <a:spcPts val="1315"/>
              </a:lnSpc>
              <a:buAutoNum type="arabicPeriod"/>
              <a:tabLst>
                <a:tab pos="622935" algn="l"/>
              </a:tabLst>
            </a:pPr>
            <a:r>
              <a:rPr dirty="0" sz="1200" spc="-5">
                <a:latin typeface="Arial"/>
                <a:cs typeface="Arial"/>
              </a:rPr>
              <a:t>There </a:t>
            </a:r>
            <a:r>
              <a:rPr dirty="0" sz="1200" spc="-10">
                <a:latin typeface="Arial"/>
                <a:cs typeface="Arial"/>
              </a:rPr>
              <a:t>was </a:t>
            </a:r>
            <a:r>
              <a:rPr dirty="0" sz="1200" spc="-5">
                <a:latin typeface="Arial"/>
                <a:cs typeface="Arial"/>
              </a:rPr>
              <a:t>the </a:t>
            </a:r>
            <a:r>
              <a:rPr dirty="0" sz="1200">
                <a:latin typeface="Arial"/>
                <a:cs typeface="Arial"/>
              </a:rPr>
              <a:t>establishment </a:t>
            </a:r>
            <a:r>
              <a:rPr dirty="0" sz="1200" spc="-5">
                <a:latin typeface="Arial"/>
                <a:cs typeface="Arial"/>
              </a:rPr>
              <a:t>of the Constitution of</a:t>
            </a:r>
            <a:r>
              <a:rPr dirty="0" sz="1200" spc="25">
                <a:latin typeface="Arial"/>
                <a:cs typeface="Arial"/>
              </a:rPr>
              <a:t> </a:t>
            </a:r>
            <a:r>
              <a:rPr dirty="0" sz="1200" spc="-5">
                <a:latin typeface="Arial"/>
                <a:cs typeface="Arial"/>
              </a:rPr>
              <a:t>Madina</a:t>
            </a:r>
            <a:endParaRPr sz="1200">
              <a:latin typeface="Arial"/>
              <a:cs typeface="Arial"/>
            </a:endParaRPr>
          </a:p>
          <a:p>
            <a:pPr marL="622300" indent="-229235">
              <a:lnSpc>
                <a:spcPts val="1380"/>
              </a:lnSpc>
              <a:buAutoNum type="arabicPeriod"/>
              <a:tabLst>
                <a:tab pos="622935" algn="l"/>
              </a:tabLst>
            </a:pPr>
            <a:r>
              <a:rPr dirty="0" sz="1200">
                <a:latin typeface="Arial"/>
                <a:cs typeface="Arial"/>
              </a:rPr>
              <a:t>It </a:t>
            </a:r>
            <a:r>
              <a:rPr dirty="0" sz="1200" spc="-10">
                <a:latin typeface="Arial"/>
                <a:cs typeface="Arial"/>
              </a:rPr>
              <a:t>was </a:t>
            </a:r>
            <a:r>
              <a:rPr dirty="0" sz="1200" spc="-5">
                <a:latin typeface="Arial"/>
                <a:cs typeface="Arial"/>
              </a:rPr>
              <a:t>the </a:t>
            </a:r>
            <a:r>
              <a:rPr dirty="0" sz="1200">
                <a:latin typeface="Arial"/>
                <a:cs typeface="Arial"/>
              </a:rPr>
              <a:t>beginning </a:t>
            </a:r>
            <a:r>
              <a:rPr dirty="0" sz="1200" spc="-5">
                <a:latin typeface="Arial"/>
                <a:cs typeface="Arial"/>
              </a:rPr>
              <a:t>of </a:t>
            </a:r>
            <a:r>
              <a:rPr dirty="0" sz="1200">
                <a:latin typeface="Arial"/>
                <a:cs typeface="Arial"/>
              </a:rPr>
              <a:t>new era </a:t>
            </a:r>
            <a:r>
              <a:rPr dirty="0" sz="1200" spc="-5">
                <a:latin typeface="Arial"/>
                <a:cs typeface="Arial"/>
              </a:rPr>
              <a:t>based </a:t>
            </a:r>
            <a:r>
              <a:rPr dirty="0" sz="1200">
                <a:latin typeface="Arial"/>
                <a:cs typeface="Arial"/>
              </a:rPr>
              <a:t>on</a:t>
            </a:r>
            <a:r>
              <a:rPr dirty="0" sz="1200" spc="-35">
                <a:latin typeface="Arial"/>
                <a:cs typeface="Arial"/>
              </a:rPr>
              <a:t> </a:t>
            </a:r>
            <a:r>
              <a:rPr dirty="0" sz="1200" spc="-5">
                <a:latin typeface="Arial"/>
                <a:cs typeface="Arial"/>
              </a:rPr>
              <a:t>Shari‘ah</a:t>
            </a:r>
            <a:endParaRPr sz="1200">
              <a:latin typeface="Arial"/>
              <a:cs typeface="Arial"/>
            </a:endParaRPr>
          </a:p>
          <a:p>
            <a:pPr marL="622300" indent="-229235">
              <a:lnSpc>
                <a:spcPts val="1380"/>
              </a:lnSpc>
              <a:buAutoNum type="arabicPeriod"/>
              <a:tabLst>
                <a:tab pos="622935" algn="l"/>
              </a:tabLst>
            </a:pPr>
            <a:r>
              <a:rPr dirty="0" sz="1200">
                <a:latin typeface="Arial"/>
                <a:cs typeface="Arial"/>
              </a:rPr>
              <a:t>There </a:t>
            </a:r>
            <a:r>
              <a:rPr dirty="0" sz="1200" spc="-5">
                <a:latin typeface="Arial"/>
                <a:cs typeface="Arial"/>
              </a:rPr>
              <a:t>were </a:t>
            </a:r>
            <a:r>
              <a:rPr dirty="0" sz="1200">
                <a:latin typeface="Arial"/>
                <a:cs typeface="Arial"/>
              </a:rPr>
              <a:t>the </a:t>
            </a:r>
            <a:r>
              <a:rPr dirty="0" sz="1200" spc="-5">
                <a:latin typeface="Arial"/>
                <a:cs typeface="Arial"/>
              </a:rPr>
              <a:t>Prophet‘s </a:t>
            </a:r>
            <a:r>
              <a:rPr dirty="0" sz="1200">
                <a:latin typeface="Arial"/>
                <a:cs typeface="Arial"/>
              </a:rPr>
              <a:t>success at </a:t>
            </a:r>
            <a:r>
              <a:rPr dirty="0" sz="1200" spc="-5">
                <a:latin typeface="Arial"/>
                <a:cs typeface="Arial"/>
              </a:rPr>
              <a:t>Madina (all</a:t>
            </a:r>
            <a:r>
              <a:rPr dirty="0" sz="1200" spc="-10">
                <a:latin typeface="Arial"/>
                <a:cs typeface="Arial"/>
              </a:rPr>
              <a:t> </a:t>
            </a:r>
            <a:r>
              <a:rPr dirty="0" sz="1200" spc="-5">
                <a:latin typeface="Arial"/>
                <a:cs typeface="Arial"/>
              </a:rPr>
              <a:t>achievements)</a:t>
            </a:r>
            <a:endParaRPr sz="1200">
              <a:latin typeface="Arial"/>
              <a:cs typeface="Arial"/>
            </a:endParaRPr>
          </a:p>
          <a:p>
            <a:pPr marL="622300" indent="-229235">
              <a:lnSpc>
                <a:spcPts val="1380"/>
              </a:lnSpc>
              <a:buAutoNum type="arabicPeriod"/>
              <a:tabLst>
                <a:tab pos="622935" algn="l"/>
              </a:tabLst>
            </a:pPr>
            <a:r>
              <a:rPr dirty="0" sz="1200" spc="-5">
                <a:latin typeface="Arial"/>
                <a:cs typeface="Arial"/>
              </a:rPr>
              <a:t>Persecutions stopped</a:t>
            </a:r>
            <a:endParaRPr sz="1200">
              <a:latin typeface="Arial"/>
              <a:cs typeface="Arial"/>
            </a:endParaRPr>
          </a:p>
          <a:p>
            <a:pPr marL="622300" indent="-229235">
              <a:lnSpc>
                <a:spcPts val="1380"/>
              </a:lnSpc>
              <a:buAutoNum type="arabicPeriod"/>
              <a:tabLst>
                <a:tab pos="622935" algn="l"/>
              </a:tabLst>
            </a:pPr>
            <a:r>
              <a:rPr dirty="0" sz="1200" spc="-5">
                <a:latin typeface="Arial"/>
                <a:cs typeface="Arial"/>
              </a:rPr>
              <a:t>Protection </a:t>
            </a:r>
            <a:r>
              <a:rPr dirty="0" sz="1200" spc="-10">
                <a:latin typeface="Arial"/>
                <a:cs typeface="Arial"/>
              </a:rPr>
              <a:t>was </a:t>
            </a:r>
            <a:r>
              <a:rPr dirty="0" sz="1200" spc="-5">
                <a:latin typeface="Arial"/>
                <a:cs typeface="Arial"/>
              </a:rPr>
              <a:t>guaranteed with </a:t>
            </a:r>
            <a:r>
              <a:rPr dirty="0" sz="1200">
                <a:latin typeface="Arial"/>
                <a:cs typeface="Arial"/>
              </a:rPr>
              <a:t>Islamic </a:t>
            </a:r>
            <a:r>
              <a:rPr dirty="0" sz="1200" spc="-5">
                <a:latin typeface="Arial"/>
                <a:cs typeface="Arial"/>
              </a:rPr>
              <a:t>progress and</a:t>
            </a:r>
            <a:r>
              <a:rPr dirty="0" sz="1200" spc="50">
                <a:latin typeface="Arial"/>
                <a:cs typeface="Arial"/>
              </a:rPr>
              <a:t> </a:t>
            </a:r>
            <a:r>
              <a:rPr dirty="0" sz="1200" spc="-5">
                <a:latin typeface="Arial"/>
                <a:cs typeface="Arial"/>
              </a:rPr>
              <a:t>expansion</a:t>
            </a:r>
            <a:endParaRPr sz="1200">
              <a:latin typeface="Arial"/>
              <a:cs typeface="Arial"/>
            </a:endParaRPr>
          </a:p>
          <a:p>
            <a:pPr marL="622300" indent="-229235">
              <a:lnSpc>
                <a:spcPts val="1380"/>
              </a:lnSpc>
              <a:buAutoNum type="arabicPeriod"/>
              <a:tabLst>
                <a:tab pos="622935" algn="l"/>
              </a:tabLst>
            </a:pPr>
            <a:r>
              <a:rPr dirty="0" sz="1200" spc="-5">
                <a:latin typeface="Arial"/>
                <a:cs typeface="Arial"/>
              </a:rPr>
              <a:t>There </a:t>
            </a:r>
            <a:r>
              <a:rPr dirty="0" sz="1200" spc="-10">
                <a:latin typeface="Arial"/>
                <a:cs typeface="Arial"/>
              </a:rPr>
              <a:t>was </a:t>
            </a:r>
            <a:r>
              <a:rPr dirty="0" sz="1200">
                <a:latin typeface="Arial"/>
                <a:cs typeface="Arial"/>
              </a:rPr>
              <a:t>future </a:t>
            </a:r>
            <a:r>
              <a:rPr dirty="0" sz="1200" spc="-5">
                <a:latin typeface="Arial"/>
                <a:cs typeface="Arial"/>
              </a:rPr>
              <a:t>victory </a:t>
            </a:r>
            <a:r>
              <a:rPr dirty="0" sz="1200">
                <a:latin typeface="Arial"/>
                <a:cs typeface="Arial"/>
              </a:rPr>
              <a:t>on </a:t>
            </a:r>
            <a:r>
              <a:rPr dirty="0" sz="1200" spc="-5">
                <a:latin typeface="Arial"/>
                <a:cs typeface="Arial"/>
              </a:rPr>
              <a:t>battlefield showing the strength of</a:t>
            </a:r>
            <a:r>
              <a:rPr dirty="0" sz="1200" spc="35">
                <a:latin typeface="Arial"/>
                <a:cs typeface="Arial"/>
              </a:rPr>
              <a:t> </a:t>
            </a:r>
            <a:r>
              <a:rPr dirty="0" sz="1200" spc="-5">
                <a:latin typeface="Arial"/>
                <a:cs typeface="Arial"/>
              </a:rPr>
              <a:t>Muslims</a:t>
            </a:r>
            <a:endParaRPr sz="1200">
              <a:latin typeface="Arial"/>
              <a:cs typeface="Arial"/>
            </a:endParaRPr>
          </a:p>
          <a:p>
            <a:pPr marL="622300" indent="-229235">
              <a:lnSpc>
                <a:spcPts val="1380"/>
              </a:lnSpc>
              <a:buAutoNum type="arabicPeriod"/>
              <a:tabLst>
                <a:tab pos="622935" algn="l"/>
              </a:tabLst>
            </a:pPr>
            <a:r>
              <a:rPr dirty="0" sz="1200" spc="-5">
                <a:latin typeface="Arial"/>
                <a:cs typeface="Arial"/>
              </a:rPr>
              <a:t>Among others the conquest of</a:t>
            </a:r>
            <a:r>
              <a:rPr dirty="0" sz="1200" spc="15">
                <a:latin typeface="Arial"/>
                <a:cs typeface="Arial"/>
              </a:rPr>
              <a:t> </a:t>
            </a:r>
            <a:r>
              <a:rPr dirty="0" sz="1200" spc="-5">
                <a:latin typeface="Arial"/>
                <a:cs typeface="Arial"/>
              </a:rPr>
              <a:t>Macca.</a:t>
            </a:r>
            <a:endParaRPr sz="1200">
              <a:latin typeface="Arial"/>
              <a:cs typeface="Arial"/>
            </a:endParaRPr>
          </a:p>
          <a:p>
            <a:pPr marL="622300" indent="-229235">
              <a:lnSpc>
                <a:spcPts val="1380"/>
              </a:lnSpc>
              <a:buAutoNum type="arabicPeriod"/>
              <a:tabLst>
                <a:tab pos="622935" algn="l"/>
              </a:tabLst>
            </a:pPr>
            <a:r>
              <a:rPr dirty="0" sz="1200" spc="-5">
                <a:latin typeface="Arial"/>
                <a:cs typeface="Arial"/>
              </a:rPr>
              <a:t>Prophet and </a:t>
            </a:r>
            <a:r>
              <a:rPr dirty="0" sz="1200">
                <a:latin typeface="Arial"/>
                <a:cs typeface="Arial"/>
              </a:rPr>
              <a:t>Islam </a:t>
            </a:r>
            <a:r>
              <a:rPr dirty="0" sz="1200" spc="-5">
                <a:latin typeface="Arial"/>
                <a:cs typeface="Arial"/>
              </a:rPr>
              <a:t>known </a:t>
            </a:r>
            <a:r>
              <a:rPr dirty="0" sz="1200">
                <a:latin typeface="Arial"/>
                <a:cs typeface="Arial"/>
              </a:rPr>
              <a:t>as </a:t>
            </a:r>
            <a:r>
              <a:rPr dirty="0" sz="1200" spc="-5">
                <a:latin typeface="Arial"/>
                <a:cs typeface="Arial"/>
              </a:rPr>
              <a:t>the rising</a:t>
            </a:r>
            <a:r>
              <a:rPr dirty="0" sz="1200" spc="-10">
                <a:latin typeface="Arial"/>
                <a:cs typeface="Arial"/>
              </a:rPr>
              <a:t> </a:t>
            </a:r>
            <a:r>
              <a:rPr dirty="0" sz="1200" spc="-5">
                <a:latin typeface="Arial"/>
                <a:cs typeface="Arial"/>
              </a:rPr>
              <a:t>power</a:t>
            </a:r>
            <a:endParaRPr sz="1200">
              <a:latin typeface="Arial"/>
              <a:cs typeface="Arial"/>
            </a:endParaRPr>
          </a:p>
          <a:p>
            <a:pPr marL="622300" indent="-229235">
              <a:lnSpc>
                <a:spcPts val="1410"/>
              </a:lnSpc>
              <a:buAutoNum type="arabicPeriod"/>
              <a:tabLst>
                <a:tab pos="622935" algn="l"/>
              </a:tabLst>
            </a:pPr>
            <a:r>
              <a:rPr dirty="0" sz="1200" spc="-5">
                <a:latin typeface="Arial"/>
                <a:cs typeface="Arial"/>
              </a:rPr>
              <a:t>Teachings of Islam already spreading beyond</a:t>
            </a:r>
            <a:r>
              <a:rPr dirty="0" sz="1200" spc="10">
                <a:latin typeface="Arial"/>
                <a:cs typeface="Arial"/>
              </a:rPr>
              <a:t> </a:t>
            </a:r>
            <a:r>
              <a:rPr dirty="0" sz="1200">
                <a:latin typeface="Arial"/>
                <a:cs typeface="Arial"/>
              </a:rPr>
              <a:t>Macca</a:t>
            </a:r>
            <a:endParaRPr sz="1200">
              <a:latin typeface="Arial"/>
              <a:cs typeface="Arial"/>
            </a:endParaRPr>
          </a:p>
          <a:p>
            <a:pPr>
              <a:lnSpc>
                <a:spcPct val="100000"/>
              </a:lnSpc>
              <a:spcBef>
                <a:spcPts val="55"/>
              </a:spcBef>
            </a:pPr>
            <a:endParaRPr sz="1100">
              <a:latin typeface="Arial"/>
              <a:cs typeface="Arial"/>
            </a:endParaRPr>
          </a:p>
          <a:p>
            <a:pPr marL="165100">
              <a:lnSpc>
                <a:spcPct val="100000"/>
              </a:lnSpc>
            </a:pPr>
            <a:r>
              <a:rPr dirty="0" sz="1200">
                <a:latin typeface="Arial"/>
                <a:cs typeface="Arial"/>
              </a:rPr>
              <a:t>In </a:t>
            </a:r>
            <a:r>
              <a:rPr dirty="0" sz="1200" spc="-5">
                <a:latin typeface="Arial"/>
                <a:cs typeface="Arial"/>
              </a:rPr>
              <a:t>the year </a:t>
            </a:r>
            <a:r>
              <a:rPr dirty="0" sz="1200" spc="-5" b="1">
                <a:latin typeface="Arial"/>
                <a:cs typeface="Arial"/>
              </a:rPr>
              <a:t>623 </a:t>
            </a:r>
            <a:r>
              <a:rPr dirty="0" sz="1200" spc="-5">
                <a:latin typeface="Arial"/>
                <a:cs typeface="Arial"/>
              </a:rPr>
              <a:t>there </a:t>
            </a:r>
            <a:r>
              <a:rPr dirty="0" sz="1200" spc="-10">
                <a:latin typeface="Arial"/>
                <a:cs typeface="Arial"/>
              </a:rPr>
              <a:t>was </a:t>
            </a:r>
            <a:r>
              <a:rPr dirty="0" sz="1200" spc="-5">
                <a:latin typeface="Arial"/>
                <a:cs typeface="Arial"/>
              </a:rPr>
              <a:t>the</a:t>
            </a:r>
            <a:r>
              <a:rPr dirty="0" sz="1200" spc="50">
                <a:latin typeface="Arial"/>
                <a:cs typeface="Arial"/>
              </a:rPr>
              <a:t> </a:t>
            </a:r>
            <a:r>
              <a:rPr dirty="0" sz="1200" spc="-5" b="1">
                <a:latin typeface="Arial"/>
                <a:cs typeface="Arial"/>
              </a:rPr>
              <a:t>Hijra</a:t>
            </a:r>
            <a:r>
              <a:rPr dirty="0" sz="1200" spc="-5">
                <a:latin typeface="Arial"/>
                <a:cs typeface="Arial"/>
              </a:rPr>
              <a:t>.</a:t>
            </a:r>
            <a:endParaRPr sz="1200">
              <a:latin typeface="Arial"/>
              <a:cs typeface="Arial"/>
            </a:endParaRPr>
          </a:p>
          <a:p>
            <a:pPr>
              <a:lnSpc>
                <a:spcPct val="100000"/>
              </a:lnSpc>
              <a:spcBef>
                <a:spcPts val="55"/>
              </a:spcBef>
            </a:pPr>
            <a:endParaRPr sz="1100">
              <a:latin typeface="Arial"/>
              <a:cs typeface="Arial"/>
            </a:endParaRPr>
          </a:p>
          <a:p>
            <a:pPr marL="165100">
              <a:lnSpc>
                <a:spcPct val="100000"/>
              </a:lnSpc>
            </a:pPr>
            <a:r>
              <a:rPr dirty="0" u="heavy" sz="1200" spc="-5" b="1" i="1">
                <a:uFill>
                  <a:solidFill>
                    <a:srgbClr val="000000"/>
                  </a:solidFill>
                </a:uFill>
                <a:latin typeface="Arial"/>
                <a:cs typeface="Arial"/>
              </a:rPr>
              <a:t>However, there were many </a:t>
            </a:r>
            <a:r>
              <a:rPr dirty="0" u="heavy" sz="1200" b="1" i="1">
                <a:uFill>
                  <a:solidFill>
                    <a:srgbClr val="000000"/>
                  </a:solidFill>
                </a:uFill>
                <a:latin typeface="Arial"/>
                <a:cs typeface="Arial"/>
              </a:rPr>
              <a:t>events </a:t>
            </a:r>
            <a:r>
              <a:rPr dirty="0" u="heavy" sz="1200" spc="-5" b="1" i="1">
                <a:uFill>
                  <a:solidFill>
                    <a:srgbClr val="000000"/>
                  </a:solidFill>
                </a:uFill>
                <a:latin typeface="Arial"/>
                <a:cs typeface="Arial"/>
              </a:rPr>
              <a:t>and reasons leading </a:t>
            </a:r>
            <a:r>
              <a:rPr dirty="0" u="heavy" sz="1200" b="1" i="1">
                <a:uFill>
                  <a:solidFill>
                    <a:srgbClr val="000000"/>
                  </a:solidFill>
                </a:uFill>
                <a:latin typeface="Arial"/>
                <a:cs typeface="Arial"/>
              </a:rPr>
              <a:t>up to </a:t>
            </a:r>
            <a:r>
              <a:rPr dirty="0" u="heavy" sz="1200" spc="-5" b="1" i="1">
                <a:uFill>
                  <a:solidFill>
                    <a:srgbClr val="000000"/>
                  </a:solidFill>
                </a:uFill>
                <a:latin typeface="Arial"/>
                <a:cs typeface="Arial"/>
              </a:rPr>
              <a:t>Hijra such</a:t>
            </a:r>
            <a:r>
              <a:rPr dirty="0" u="heavy" sz="1200" spc="60" b="1" i="1">
                <a:uFill>
                  <a:solidFill>
                    <a:srgbClr val="000000"/>
                  </a:solidFill>
                </a:uFill>
                <a:latin typeface="Arial"/>
                <a:cs typeface="Arial"/>
              </a:rPr>
              <a:t> </a:t>
            </a:r>
            <a:r>
              <a:rPr dirty="0" u="heavy" sz="1200" spc="-5" b="1" i="1">
                <a:uFill>
                  <a:solidFill>
                    <a:srgbClr val="000000"/>
                  </a:solidFill>
                </a:uFill>
                <a:latin typeface="Arial"/>
                <a:cs typeface="Arial"/>
              </a:rPr>
              <a:t>as:</a:t>
            </a:r>
            <a:endParaRPr sz="1200">
              <a:latin typeface="Arial"/>
              <a:cs typeface="Arial"/>
            </a:endParaRPr>
          </a:p>
          <a:p>
            <a:pPr>
              <a:lnSpc>
                <a:spcPct val="100000"/>
              </a:lnSpc>
              <a:spcBef>
                <a:spcPts val="55"/>
              </a:spcBef>
            </a:pPr>
            <a:endParaRPr sz="1100">
              <a:latin typeface="Arial"/>
              <a:cs typeface="Arial"/>
            </a:endParaRPr>
          </a:p>
          <a:p>
            <a:pPr marL="622300" indent="-229235">
              <a:lnSpc>
                <a:spcPts val="1410"/>
              </a:lnSpc>
              <a:buAutoNum type="arabicPeriod"/>
              <a:tabLst>
                <a:tab pos="622935" algn="l"/>
              </a:tabLst>
            </a:pPr>
            <a:r>
              <a:rPr dirty="0" sz="1200" spc="-5">
                <a:latin typeface="Arial"/>
                <a:cs typeface="Arial"/>
              </a:rPr>
              <a:t>The physical and psychological</a:t>
            </a:r>
            <a:r>
              <a:rPr dirty="0" sz="1200" spc="5">
                <a:latin typeface="Arial"/>
                <a:cs typeface="Arial"/>
              </a:rPr>
              <a:t> </a:t>
            </a:r>
            <a:r>
              <a:rPr dirty="0" sz="1200" spc="-5">
                <a:latin typeface="Arial"/>
                <a:cs typeface="Arial"/>
              </a:rPr>
              <a:t>persecutions</a:t>
            </a:r>
            <a:endParaRPr sz="1200">
              <a:latin typeface="Arial"/>
              <a:cs typeface="Arial"/>
            </a:endParaRPr>
          </a:p>
          <a:p>
            <a:pPr marL="622300" indent="-229235">
              <a:lnSpc>
                <a:spcPts val="1380"/>
              </a:lnSpc>
              <a:buAutoNum type="arabicPeriod"/>
              <a:tabLst>
                <a:tab pos="622935" algn="l"/>
              </a:tabLst>
            </a:pPr>
            <a:r>
              <a:rPr dirty="0" sz="1200" spc="-5">
                <a:latin typeface="Arial"/>
                <a:cs typeface="Arial"/>
              </a:rPr>
              <a:t>The disgusting attitudes </a:t>
            </a:r>
            <a:r>
              <a:rPr dirty="0" sz="1200">
                <a:latin typeface="Arial"/>
                <a:cs typeface="Arial"/>
              </a:rPr>
              <a:t>and </a:t>
            </a:r>
            <a:r>
              <a:rPr dirty="0" sz="1200" spc="-5">
                <a:latin typeface="Arial"/>
                <a:cs typeface="Arial"/>
              </a:rPr>
              <a:t>threat of the</a:t>
            </a:r>
            <a:r>
              <a:rPr dirty="0" sz="1200" spc="10">
                <a:latin typeface="Arial"/>
                <a:cs typeface="Arial"/>
              </a:rPr>
              <a:t> </a:t>
            </a:r>
            <a:r>
              <a:rPr dirty="0" sz="1200" spc="-5">
                <a:latin typeface="Arial"/>
                <a:cs typeface="Arial"/>
              </a:rPr>
              <a:t>Quraish</a:t>
            </a:r>
            <a:endParaRPr sz="1200">
              <a:latin typeface="Arial"/>
              <a:cs typeface="Arial"/>
            </a:endParaRPr>
          </a:p>
          <a:p>
            <a:pPr marL="622300" indent="-229235">
              <a:lnSpc>
                <a:spcPts val="1380"/>
              </a:lnSpc>
              <a:buAutoNum type="arabicPeriod"/>
              <a:tabLst>
                <a:tab pos="622935" algn="l"/>
              </a:tabLst>
            </a:pPr>
            <a:r>
              <a:rPr dirty="0" sz="1200" spc="-5">
                <a:latin typeface="Arial"/>
                <a:cs typeface="Arial"/>
              </a:rPr>
              <a:t>The inability </a:t>
            </a:r>
            <a:r>
              <a:rPr dirty="0" sz="1200">
                <a:latin typeface="Arial"/>
                <a:cs typeface="Arial"/>
              </a:rPr>
              <a:t>to </a:t>
            </a:r>
            <a:r>
              <a:rPr dirty="0" sz="1200" spc="-5">
                <a:latin typeface="Arial"/>
                <a:cs typeface="Arial"/>
              </a:rPr>
              <a:t>spread and live</a:t>
            </a:r>
            <a:r>
              <a:rPr dirty="0" sz="1200">
                <a:latin typeface="Arial"/>
                <a:cs typeface="Arial"/>
              </a:rPr>
              <a:t> </a:t>
            </a:r>
            <a:r>
              <a:rPr dirty="0" sz="1200" spc="-5">
                <a:latin typeface="Arial"/>
                <a:cs typeface="Arial"/>
              </a:rPr>
              <a:t>Islam,</a:t>
            </a:r>
            <a:endParaRPr sz="1200">
              <a:latin typeface="Arial"/>
              <a:cs typeface="Arial"/>
            </a:endParaRPr>
          </a:p>
          <a:p>
            <a:pPr marL="622300" indent="-229235">
              <a:lnSpc>
                <a:spcPts val="1380"/>
              </a:lnSpc>
              <a:buAutoNum type="arabicPeriod"/>
              <a:tabLst>
                <a:tab pos="622935" algn="l"/>
              </a:tabLst>
            </a:pPr>
            <a:r>
              <a:rPr dirty="0" sz="1200" spc="-5">
                <a:latin typeface="Arial"/>
                <a:cs typeface="Arial"/>
              </a:rPr>
              <a:t>The Maccans were so uncultured </a:t>
            </a:r>
            <a:r>
              <a:rPr dirty="0" sz="1200" spc="5">
                <a:latin typeface="Arial"/>
                <a:cs typeface="Arial"/>
              </a:rPr>
              <a:t>and </a:t>
            </a:r>
            <a:r>
              <a:rPr dirty="0" sz="1200" spc="-5">
                <a:latin typeface="Arial"/>
                <a:cs typeface="Arial"/>
              </a:rPr>
              <a:t>unwilling </a:t>
            </a:r>
            <a:r>
              <a:rPr dirty="0" sz="1200" spc="5">
                <a:latin typeface="Arial"/>
                <a:cs typeface="Arial"/>
              </a:rPr>
              <a:t>to </a:t>
            </a:r>
            <a:r>
              <a:rPr dirty="0" sz="1200" spc="-5">
                <a:latin typeface="Arial"/>
                <a:cs typeface="Arial"/>
              </a:rPr>
              <a:t>listen to the prophet</a:t>
            </a:r>
            <a:r>
              <a:rPr dirty="0" sz="1200" spc="30">
                <a:latin typeface="Arial"/>
                <a:cs typeface="Arial"/>
              </a:rPr>
              <a:t> </a:t>
            </a:r>
            <a:r>
              <a:rPr dirty="0" sz="1200" spc="-5">
                <a:latin typeface="Arial"/>
                <a:cs typeface="Arial"/>
              </a:rPr>
              <a:t>(s.a.w)</a:t>
            </a:r>
            <a:endParaRPr sz="1200">
              <a:latin typeface="Arial"/>
              <a:cs typeface="Arial"/>
            </a:endParaRPr>
          </a:p>
          <a:p>
            <a:pPr marL="622300" indent="-229235">
              <a:lnSpc>
                <a:spcPts val="1375"/>
              </a:lnSpc>
              <a:buAutoNum type="arabicPeriod"/>
              <a:tabLst>
                <a:tab pos="622935" algn="l"/>
              </a:tabLst>
            </a:pPr>
            <a:r>
              <a:rPr dirty="0" sz="1200" spc="-5">
                <a:latin typeface="Arial"/>
                <a:cs typeface="Arial"/>
              </a:rPr>
              <a:t>The invitation of the Madineese </a:t>
            </a:r>
            <a:r>
              <a:rPr dirty="0" sz="1200">
                <a:latin typeface="Arial"/>
                <a:cs typeface="Arial"/>
              </a:rPr>
              <a:t>through the 2 </a:t>
            </a:r>
            <a:r>
              <a:rPr dirty="0" sz="1200" spc="-5">
                <a:latin typeface="Arial"/>
                <a:cs typeface="Arial"/>
              </a:rPr>
              <a:t>Pledges of</a:t>
            </a:r>
            <a:r>
              <a:rPr dirty="0" sz="1200" spc="5">
                <a:latin typeface="Arial"/>
                <a:cs typeface="Arial"/>
              </a:rPr>
              <a:t> </a:t>
            </a:r>
            <a:r>
              <a:rPr dirty="0" sz="1200" spc="-65">
                <a:latin typeface="Arial"/>
                <a:cs typeface="Arial"/>
              </a:rPr>
              <a:t>‗Aqabah</a:t>
            </a:r>
            <a:endParaRPr sz="1200">
              <a:latin typeface="Arial"/>
              <a:cs typeface="Arial"/>
            </a:endParaRPr>
          </a:p>
          <a:p>
            <a:pPr marL="622300" indent="-229235">
              <a:lnSpc>
                <a:spcPts val="1375"/>
              </a:lnSpc>
              <a:buAutoNum type="arabicPeriod"/>
              <a:tabLst>
                <a:tab pos="622935" algn="l"/>
              </a:tabLst>
            </a:pPr>
            <a:r>
              <a:rPr dirty="0" sz="1200" spc="-5">
                <a:latin typeface="Arial"/>
                <a:cs typeface="Arial"/>
              </a:rPr>
              <a:t>An arbitrator </a:t>
            </a:r>
            <a:r>
              <a:rPr dirty="0" sz="1200" spc="-10">
                <a:latin typeface="Arial"/>
                <a:cs typeface="Arial"/>
              </a:rPr>
              <a:t>was </a:t>
            </a:r>
            <a:r>
              <a:rPr dirty="0" sz="1200" spc="-5">
                <a:latin typeface="Arial"/>
                <a:cs typeface="Arial"/>
              </a:rPr>
              <a:t>needed between the </a:t>
            </a:r>
            <a:r>
              <a:rPr dirty="0" sz="1200" spc="-10">
                <a:latin typeface="Arial"/>
                <a:cs typeface="Arial"/>
              </a:rPr>
              <a:t>Aws </a:t>
            </a:r>
            <a:r>
              <a:rPr dirty="0" sz="1200">
                <a:latin typeface="Arial"/>
                <a:cs typeface="Arial"/>
              </a:rPr>
              <a:t>and</a:t>
            </a:r>
            <a:r>
              <a:rPr dirty="0" sz="1200" spc="40">
                <a:latin typeface="Arial"/>
                <a:cs typeface="Arial"/>
              </a:rPr>
              <a:t> </a:t>
            </a:r>
            <a:r>
              <a:rPr dirty="0" sz="1200" spc="-5">
                <a:latin typeface="Arial"/>
                <a:cs typeface="Arial"/>
              </a:rPr>
              <a:t>Khazraj</a:t>
            </a:r>
            <a:endParaRPr sz="1200">
              <a:latin typeface="Arial"/>
              <a:cs typeface="Arial"/>
            </a:endParaRPr>
          </a:p>
          <a:p>
            <a:pPr marL="622300" indent="-229235">
              <a:lnSpc>
                <a:spcPts val="1380"/>
              </a:lnSpc>
              <a:buAutoNum type="arabicPeriod"/>
              <a:tabLst>
                <a:tab pos="622935" algn="l"/>
              </a:tabLst>
            </a:pPr>
            <a:r>
              <a:rPr dirty="0" sz="1200">
                <a:latin typeface="Arial"/>
                <a:cs typeface="Arial"/>
              </a:rPr>
              <a:t>A </a:t>
            </a:r>
            <a:r>
              <a:rPr dirty="0" sz="1200" spc="-5">
                <a:latin typeface="Arial"/>
                <a:cs typeface="Arial"/>
              </a:rPr>
              <a:t>leader </a:t>
            </a:r>
            <a:r>
              <a:rPr dirty="0" sz="1200" spc="-10">
                <a:latin typeface="Arial"/>
                <a:cs typeface="Arial"/>
              </a:rPr>
              <a:t>was </a:t>
            </a:r>
            <a:r>
              <a:rPr dirty="0" sz="1200" spc="-5">
                <a:latin typeface="Arial"/>
                <a:cs typeface="Arial"/>
              </a:rPr>
              <a:t>needed at</a:t>
            </a:r>
            <a:r>
              <a:rPr dirty="0" sz="1200" spc="10">
                <a:latin typeface="Arial"/>
                <a:cs typeface="Arial"/>
              </a:rPr>
              <a:t> </a:t>
            </a:r>
            <a:r>
              <a:rPr dirty="0" sz="1200" spc="-5">
                <a:latin typeface="Arial"/>
                <a:cs typeface="Arial"/>
              </a:rPr>
              <a:t>Madina</a:t>
            </a:r>
            <a:endParaRPr sz="1200">
              <a:latin typeface="Arial"/>
              <a:cs typeface="Arial"/>
            </a:endParaRPr>
          </a:p>
          <a:p>
            <a:pPr marL="622300" indent="-229235">
              <a:lnSpc>
                <a:spcPts val="1380"/>
              </a:lnSpc>
              <a:buAutoNum type="arabicPeriod"/>
              <a:tabLst>
                <a:tab pos="622935" algn="l"/>
              </a:tabLst>
            </a:pPr>
            <a:r>
              <a:rPr dirty="0" sz="1200" spc="-5">
                <a:latin typeface="Arial"/>
                <a:cs typeface="Arial"/>
              </a:rPr>
              <a:t>The already prepared ground </a:t>
            </a:r>
            <a:r>
              <a:rPr dirty="0" sz="1200">
                <a:latin typeface="Arial"/>
                <a:cs typeface="Arial"/>
              </a:rPr>
              <a:t>at </a:t>
            </a:r>
            <a:r>
              <a:rPr dirty="0" sz="1200" spc="-5">
                <a:latin typeface="Arial"/>
                <a:cs typeface="Arial"/>
              </a:rPr>
              <a:t>Madina </a:t>
            </a:r>
            <a:r>
              <a:rPr dirty="0" sz="1200">
                <a:latin typeface="Arial"/>
                <a:cs typeface="Arial"/>
              </a:rPr>
              <a:t>to </a:t>
            </a:r>
            <a:r>
              <a:rPr dirty="0" sz="1200" spc="-5">
                <a:latin typeface="Arial"/>
                <a:cs typeface="Arial"/>
              </a:rPr>
              <a:t>welcome the</a:t>
            </a:r>
            <a:r>
              <a:rPr dirty="0" sz="1200" spc="20">
                <a:latin typeface="Arial"/>
                <a:cs typeface="Arial"/>
              </a:rPr>
              <a:t> </a:t>
            </a:r>
            <a:r>
              <a:rPr dirty="0" sz="1200" spc="-5">
                <a:latin typeface="Arial"/>
                <a:cs typeface="Arial"/>
              </a:rPr>
              <a:t>prophet</a:t>
            </a:r>
            <a:endParaRPr sz="1200">
              <a:latin typeface="Arial"/>
              <a:cs typeface="Arial"/>
            </a:endParaRPr>
          </a:p>
          <a:p>
            <a:pPr marL="622300" indent="-229235">
              <a:lnSpc>
                <a:spcPts val="1380"/>
              </a:lnSpc>
              <a:buAutoNum type="arabicPeriod"/>
              <a:tabLst>
                <a:tab pos="622935" algn="l"/>
              </a:tabLst>
            </a:pPr>
            <a:r>
              <a:rPr dirty="0" sz="1200" spc="-5">
                <a:latin typeface="Arial"/>
                <a:cs typeface="Arial"/>
              </a:rPr>
              <a:t>The willingness </a:t>
            </a:r>
            <a:r>
              <a:rPr dirty="0" sz="1200">
                <a:latin typeface="Arial"/>
                <a:cs typeface="Arial"/>
              </a:rPr>
              <a:t>of the </a:t>
            </a:r>
            <a:r>
              <a:rPr dirty="0" sz="1200" spc="-5">
                <a:latin typeface="Arial"/>
                <a:cs typeface="Arial"/>
              </a:rPr>
              <a:t>Madineese to listen </a:t>
            </a:r>
            <a:r>
              <a:rPr dirty="0" sz="1200">
                <a:latin typeface="Arial"/>
                <a:cs typeface="Arial"/>
              </a:rPr>
              <a:t>to the</a:t>
            </a:r>
            <a:r>
              <a:rPr dirty="0" sz="1200" spc="-20">
                <a:latin typeface="Arial"/>
                <a:cs typeface="Arial"/>
              </a:rPr>
              <a:t> </a:t>
            </a:r>
            <a:r>
              <a:rPr dirty="0" sz="1200" spc="-5">
                <a:latin typeface="Arial"/>
                <a:cs typeface="Arial"/>
              </a:rPr>
              <a:t>prophet</a:t>
            </a:r>
            <a:endParaRPr sz="1200">
              <a:latin typeface="Arial"/>
              <a:cs typeface="Arial"/>
            </a:endParaRPr>
          </a:p>
          <a:p>
            <a:pPr marL="622300" indent="-229235">
              <a:lnSpc>
                <a:spcPts val="1380"/>
              </a:lnSpc>
              <a:buAutoNum type="arabicPeriod"/>
              <a:tabLst>
                <a:tab pos="622935" algn="l"/>
              </a:tabLst>
            </a:pPr>
            <a:r>
              <a:rPr dirty="0" sz="1200" spc="-5">
                <a:latin typeface="Arial"/>
                <a:cs typeface="Arial"/>
              </a:rPr>
              <a:t>The order of Allah to spread </a:t>
            </a:r>
            <a:r>
              <a:rPr dirty="0" sz="1200">
                <a:latin typeface="Arial"/>
                <a:cs typeface="Arial"/>
              </a:rPr>
              <a:t>Islam at </a:t>
            </a:r>
            <a:r>
              <a:rPr dirty="0" sz="1200" spc="-5">
                <a:latin typeface="Arial"/>
                <a:cs typeface="Arial"/>
              </a:rPr>
              <a:t>Madina</a:t>
            </a:r>
            <a:endParaRPr sz="1200">
              <a:latin typeface="Arial"/>
              <a:cs typeface="Arial"/>
            </a:endParaRPr>
          </a:p>
          <a:p>
            <a:pPr marL="622300" indent="-229235">
              <a:lnSpc>
                <a:spcPts val="1410"/>
              </a:lnSpc>
              <a:buAutoNum type="arabicPeriod"/>
              <a:tabLst>
                <a:tab pos="622935" algn="l"/>
              </a:tabLst>
            </a:pPr>
            <a:r>
              <a:rPr dirty="0" sz="1200" spc="-5">
                <a:latin typeface="Arial"/>
                <a:cs typeface="Arial"/>
              </a:rPr>
              <a:t>The permission </a:t>
            </a:r>
            <a:r>
              <a:rPr dirty="0" sz="1200">
                <a:latin typeface="Arial"/>
                <a:cs typeface="Arial"/>
              </a:rPr>
              <a:t>to </a:t>
            </a:r>
            <a:r>
              <a:rPr dirty="0" sz="1200" spc="-5">
                <a:latin typeface="Arial"/>
                <a:cs typeface="Arial"/>
              </a:rPr>
              <a:t>Muslims </a:t>
            </a:r>
            <a:r>
              <a:rPr dirty="0" sz="1200">
                <a:latin typeface="Arial"/>
                <a:cs typeface="Arial"/>
              </a:rPr>
              <a:t>to </a:t>
            </a:r>
            <a:r>
              <a:rPr dirty="0" sz="1200" spc="-5">
                <a:latin typeface="Arial"/>
                <a:cs typeface="Arial"/>
              </a:rPr>
              <a:t>migrate from Macca to</a:t>
            </a:r>
            <a:r>
              <a:rPr dirty="0" sz="1200" spc="20">
                <a:latin typeface="Arial"/>
                <a:cs typeface="Arial"/>
              </a:rPr>
              <a:t> </a:t>
            </a:r>
            <a:r>
              <a:rPr dirty="0" sz="1200" spc="-5">
                <a:latin typeface="Arial"/>
                <a:cs typeface="Arial"/>
              </a:rPr>
              <a:t>Madina.</a:t>
            </a:r>
            <a:endParaRPr sz="1200">
              <a:latin typeface="Arial"/>
              <a:cs typeface="Arial"/>
            </a:endParaRPr>
          </a:p>
          <a:p>
            <a:pPr>
              <a:lnSpc>
                <a:spcPct val="100000"/>
              </a:lnSpc>
            </a:pPr>
            <a:endParaRPr sz="1200">
              <a:latin typeface="Arial"/>
              <a:cs typeface="Arial"/>
            </a:endParaRPr>
          </a:p>
          <a:p>
            <a:pPr algn="just" marL="165100" marR="155575">
              <a:lnSpc>
                <a:spcPct val="95800"/>
              </a:lnSpc>
            </a:pPr>
            <a:r>
              <a:rPr dirty="0" sz="1200" spc="-5">
                <a:latin typeface="Arial"/>
                <a:cs typeface="Arial"/>
              </a:rPr>
              <a:t>Muslims started </a:t>
            </a:r>
            <a:r>
              <a:rPr dirty="0" sz="1200">
                <a:latin typeface="Arial"/>
                <a:cs typeface="Arial"/>
              </a:rPr>
              <a:t>to </a:t>
            </a:r>
            <a:r>
              <a:rPr dirty="0" sz="1200" spc="-5">
                <a:latin typeface="Arial"/>
                <a:cs typeface="Arial"/>
              </a:rPr>
              <a:t>migrate </a:t>
            </a:r>
            <a:r>
              <a:rPr dirty="0" sz="1200">
                <a:latin typeface="Arial"/>
                <a:cs typeface="Arial"/>
              </a:rPr>
              <a:t>to </a:t>
            </a:r>
            <a:r>
              <a:rPr dirty="0" sz="1200" spc="-5">
                <a:latin typeface="Arial"/>
                <a:cs typeface="Arial"/>
              </a:rPr>
              <a:t>Yathrib. The </a:t>
            </a:r>
            <a:r>
              <a:rPr dirty="0" sz="1200">
                <a:latin typeface="Arial"/>
                <a:cs typeface="Arial"/>
              </a:rPr>
              <a:t>Quraish </a:t>
            </a:r>
            <a:r>
              <a:rPr dirty="0" sz="1200" spc="-5">
                <a:latin typeface="Arial"/>
                <a:cs typeface="Arial"/>
              </a:rPr>
              <a:t>became aware of </a:t>
            </a:r>
            <a:r>
              <a:rPr dirty="0" sz="1200">
                <a:latin typeface="Arial"/>
                <a:cs typeface="Arial"/>
              </a:rPr>
              <a:t>it </a:t>
            </a:r>
            <a:r>
              <a:rPr dirty="0" sz="1200" spc="-5">
                <a:latin typeface="Arial"/>
                <a:cs typeface="Arial"/>
              </a:rPr>
              <a:t>and decided </a:t>
            </a:r>
            <a:r>
              <a:rPr dirty="0" sz="1200">
                <a:latin typeface="Arial"/>
                <a:cs typeface="Arial"/>
              </a:rPr>
              <a:t>to hurt  the </a:t>
            </a:r>
            <a:r>
              <a:rPr dirty="0" sz="1200" spc="-5">
                <a:latin typeface="Arial"/>
                <a:cs typeface="Arial"/>
              </a:rPr>
              <a:t>prophet before </a:t>
            </a:r>
            <a:r>
              <a:rPr dirty="0" sz="1200" spc="-10">
                <a:latin typeface="Arial"/>
                <a:cs typeface="Arial"/>
              </a:rPr>
              <a:t>he </a:t>
            </a:r>
            <a:r>
              <a:rPr dirty="0" sz="1200" spc="-5">
                <a:latin typeface="Arial"/>
                <a:cs typeface="Arial"/>
              </a:rPr>
              <a:t>could leave </a:t>
            </a:r>
            <a:r>
              <a:rPr dirty="0" sz="1200">
                <a:latin typeface="Arial"/>
                <a:cs typeface="Arial"/>
              </a:rPr>
              <a:t>for </a:t>
            </a:r>
            <a:r>
              <a:rPr dirty="0" sz="1200" spc="-5">
                <a:latin typeface="Arial"/>
                <a:cs typeface="Arial"/>
              </a:rPr>
              <a:t>Yathrib. Prophet Muhammad stayed back waiting </a:t>
            </a:r>
            <a:r>
              <a:rPr dirty="0" sz="1200">
                <a:latin typeface="Arial"/>
                <a:cs typeface="Arial"/>
              </a:rPr>
              <a:t>for  </a:t>
            </a:r>
            <a:r>
              <a:rPr dirty="0" sz="1200" spc="-5">
                <a:latin typeface="Arial"/>
                <a:cs typeface="Arial"/>
              </a:rPr>
              <a:t>permission </a:t>
            </a:r>
            <a:r>
              <a:rPr dirty="0" sz="1200">
                <a:latin typeface="Arial"/>
                <a:cs typeface="Arial"/>
              </a:rPr>
              <a:t>to </a:t>
            </a:r>
            <a:r>
              <a:rPr dirty="0" sz="1200" spc="-5">
                <a:latin typeface="Arial"/>
                <a:cs typeface="Arial"/>
              </a:rPr>
              <a:t>move. One night the Quraish surrounded his house. He asked Ali (r.a) </a:t>
            </a:r>
            <a:r>
              <a:rPr dirty="0" sz="1200">
                <a:latin typeface="Arial"/>
                <a:cs typeface="Arial"/>
              </a:rPr>
              <a:t>to </a:t>
            </a:r>
            <a:r>
              <a:rPr dirty="0" sz="1200" spc="-5">
                <a:latin typeface="Arial"/>
                <a:cs typeface="Arial"/>
              </a:rPr>
              <a:t>take  his place without question and to join him </a:t>
            </a:r>
            <a:r>
              <a:rPr dirty="0" sz="1200">
                <a:latin typeface="Arial"/>
                <a:cs typeface="Arial"/>
              </a:rPr>
              <a:t>at </a:t>
            </a:r>
            <a:r>
              <a:rPr dirty="0" sz="1200" spc="-5">
                <a:latin typeface="Arial"/>
                <a:cs typeface="Arial"/>
              </a:rPr>
              <a:t>Madina. </a:t>
            </a:r>
            <a:r>
              <a:rPr dirty="0" sz="1200" spc="-10">
                <a:latin typeface="Arial"/>
                <a:cs typeface="Arial"/>
              </a:rPr>
              <a:t>He </a:t>
            </a:r>
            <a:r>
              <a:rPr dirty="0" sz="1200" spc="-5">
                <a:latin typeface="Arial"/>
                <a:cs typeface="Arial"/>
              </a:rPr>
              <a:t>trusted the words of the prophet  (s.a.w). </a:t>
            </a:r>
            <a:r>
              <a:rPr dirty="0" sz="1200">
                <a:latin typeface="Arial"/>
                <a:cs typeface="Arial"/>
              </a:rPr>
              <a:t>The </a:t>
            </a:r>
            <a:r>
              <a:rPr dirty="0" sz="1200" spc="-5">
                <a:latin typeface="Arial"/>
                <a:cs typeface="Arial"/>
              </a:rPr>
              <a:t>prophet read </a:t>
            </a:r>
            <a:r>
              <a:rPr dirty="0" sz="1200">
                <a:latin typeface="Arial"/>
                <a:cs typeface="Arial"/>
              </a:rPr>
              <a:t>the 9</a:t>
            </a:r>
            <a:r>
              <a:rPr dirty="0" baseline="38194" sz="1200">
                <a:latin typeface="Arial"/>
                <a:cs typeface="Arial"/>
              </a:rPr>
              <a:t>th </a:t>
            </a:r>
            <a:r>
              <a:rPr dirty="0" sz="1200" spc="-5">
                <a:latin typeface="Arial"/>
                <a:cs typeface="Arial"/>
              </a:rPr>
              <a:t>verse </a:t>
            </a:r>
            <a:r>
              <a:rPr dirty="0" sz="1200">
                <a:latin typeface="Arial"/>
                <a:cs typeface="Arial"/>
              </a:rPr>
              <a:t>of </a:t>
            </a:r>
            <a:r>
              <a:rPr dirty="0" sz="1200" spc="-5">
                <a:latin typeface="Arial"/>
                <a:cs typeface="Arial"/>
              </a:rPr>
              <a:t>Surah Yaasin </a:t>
            </a:r>
            <a:r>
              <a:rPr dirty="0" sz="1200" spc="-204" i="1">
                <a:latin typeface="Arial"/>
                <a:cs typeface="Arial"/>
              </a:rPr>
              <a:t>―And </a:t>
            </a:r>
            <a:r>
              <a:rPr dirty="0" sz="1200" i="1">
                <a:latin typeface="Arial"/>
                <a:cs typeface="Arial"/>
              </a:rPr>
              <a:t>We </a:t>
            </a:r>
            <a:r>
              <a:rPr dirty="0" sz="1200" spc="-5" i="1">
                <a:latin typeface="Arial"/>
                <a:cs typeface="Arial"/>
              </a:rPr>
              <a:t>have </a:t>
            </a:r>
            <a:r>
              <a:rPr dirty="0" sz="1200" i="1">
                <a:latin typeface="Arial"/>
                <a:cs typeface="Arial"/>
              </a:rPr>
              <a:t>set a bar </a:t>
            </a:r>
            <a:r>
              <a:rPr dirty="0" sz="1200" spc="-5" i="1">
                <a:latin typeface="Arial"/>
                <a:cs typeface="Arial"/>
              </a:rPr>
              <a:t>before them  </a:t>
            </a:r>
            <a:r>
              <a:rPr dirty="0" sz="1200" i="1">
                <a:latin typeface="Arial"/>
                <a:cs typeface="Arial"/>
              </a:rPr>
              <a:t>and a bar </a:t>
            </a:r>
            <a:r>
              <a:rPr dirty="0" sz="1200" spc="-5" i="1">
                <a:latin typeface="Arial"/>
                <a:cs typeface="Arial"/>
              </a:rPr>
              <a:t>behind </a:t>
            </a:r>
            <a:r>
              <a:rPr dirty="0" sz="1200" spc="-10" i="1">
                <a:latin typeface="Arial"/>
                <a:cs typeface="Arial"/>
              </a:rPr>
              <a:t>them, </a:t>
            </a:r>
            <a:r>
              <a:rPr dirty="0" sz="1200" i="1">
                <a:latin typeface="Arial"/>
                <a:cs typeface="Arial"/>
              </a:rPr>
              <a:t>and </a:t>
            </a:r>
            <a:r>
              <a:rPr dirty="0" sz="1200" spc="-5" i="1">
                <a:latin typeface="Arial"/>
                <a:cs typeface="Arial"/>
              </a:rPr>
              <a:t>(thus) have covered </a:t>
            </a:r>
            <a:r>
              <a:rPr dirty="0" sz="1200" i="1">
                <a:latin typeface="Arial"/>
                <a:cs typeface="Arial"/>
              </a:rPr>
              <a:t>them so that </a:t>
            </a:r>
            <a:r>
              <a:rPr dirty="0" sz="1200" spc="-5" i="1">
                <a:latin typeface="Arial"/>
                <a:cs typeface="Arial"/>
              </a:rPr>
              <a:t>they </a:t>
            </a:r>
            <a:r>
              <a:rPr dirty="0" sz="1200" i="1">
                <a:latin typeface="Arial"/>
                <a:cs typeface="Arial"/>
              </a:rPr>
              <a:t>see </a:t>
            </a:r>
            <a:r>
              <a:rPr dirty="0" sz="1200" spc="-25" i="1">
                <a:latin typeface="Arial"/>
                <a:cs typeface="Arial"/>
              </a:rPr>
              <a:t>not‖, </a:t>
            </a:r>
            <a:r>
              <a:rPr dirty="0" sz="1200" spc="-5">
                <a:latin typeface="Arial"/>
                <a:cs typeface="Arial"/>
              </a:rPr>
              <a:t>blew on a </a:t>
            </a:r>
            <a:r>
              <a:rPr dirty="0" sz="1200">
                <a:latin typeface="Arial"/>
                <a:cs typeface="Arial"/>
              </a:rPr>
              <a:t>fistful  </a:t>
            </a:r>
            <a:r>
              <a:rPr dirty="0" sz="1200" spc="-5">
                <a:latin typeface="Arial"/>
                <a:cs typeface="Arial"/>
              </a:rPr>
              <a:t>of sand and threw on </a:t>
            </a:r>
            <a:r>
              <a:rPr dirty="0" sz="1200">
                <a:latin typeface="Arial"/>
                <a:cs typeface="Arial"/>
              </a:rPr>
              <a:t>the Quraish </a:t>
            </a:r>
            <a:r>
              <a:rPr dirty="0" sz="1200" spc="-5">
                <a:latin typeface="Arial"/>
                <a:cs typeface="Arial"/>
              </a:rPr>
              <a:t>outside. </a:t>
            </a:r>
            <a:r>
              <a:rPr dirty="0" sz="1200">
                <a:latin typeface="Arial"/>
                <a:cs typeface="Arial"/>
              </a:rPr>
              <a:t>It </a:t>
            </a:r>
            <a:r>
              <a:rPr dirty="0" sz="1200" spc="-10">
                <a:latin typeface="Arial"/>
                <a:cs typeface="Arial"/>
              </a:rPr>
              <a:t>was </a:t>
            </a:r>
            <a:r>
              <a:rPr dirty="0" sz="1200" spc="-5">
                <a:latin typeface="Arial"/>
                <a:cs typeface="Arial"/>
              </a:rPr>
              <a:t>said that he </a:t>
            </a:r>
            <a:r>
              <a:rPr dirty="0" sz="1200" spc="5">
                <a:latin typeface="Arial"/>
                <a:cs typeface="Arial"/>
              </a:rPr>
              <a:t>passed </a:t>
            </a:r>
            <a:r>
              <a:rPr dirty="0" sz="1200" spc="-5">
                <a:latin typeface="Arial"/>
                <a:cs typeface="Arial"/>
              </a:rPr>
              <a:t>through them unseen  or </a:t>
            </a:r>
            <a:r>
              <a:rPr dirty="0" sz="1200">
                <a:latin typeface="Arial"/>
                <a:cs typeface="Arial"/>
              </a:rPr>
              <a:t>they felt </a:t>
            </a:r>
            <a:r>
              <a:rPr dirty="0" sz="1200" spc="-5">
                <a:latin typeface="Arial"/>
                <a:cs typeface="Arial"/>
              </a:rPr>
              <a:t>asleep. He </a:t>
            </a:r>
            <a:r>
              <a:rPr dirty="0" sz="1200">
                <a:latin typeface="Arial"/>
                <a:cs typeface="Arial"/>
              </a:rPr>
              <a:t>then </a:t>
            </a:r>
            <a:r>
              <a:rPr dirty="0" sz="1200" spc="-5">
                <a:latin typeface="Arial"/>
                <a:cs typeface="Arial"/>
              </a:rPr>
              <a:t>met Abu </a:t>
            </a:r>
            <a:r>
              <a:rPr dirty="0" sz="1200">
                <a:latin typeface="Arial"/>
                <a:cs typeface="Arial"/>
              </a:rPr>
              <a:t>Bakr </a:t>
            </a:r>
            <a:r>
              <a:rPr dirty="0" sz="1200" spc="-5">
                <a:latin typeface="Arial"/>
                <a:cs typeface="Arial"/>
              </a:rPr>
              <a:t>and both left on 2 camels with </a:t>
            </a:r>
            <a:r>
              <a:rPr dirty="0" sz="1200">
                <a:latin typeface="Arial"/>
                <a:cs typeface="Arial"/>
              </a:rPr>
              <a:t>their </a:t>
            </a:r>
            <a:r>
              <a:rPr dirty="0" sz="1200" spc="-5">
                <a:latin typeface="Arial"/>
                <a:cs typeface="Arial"/>
              </a:rPr>
              <a:t>provision. </a:t>
            </a:r>
            <a:r>
              <a:rPr dirty="0" sz="1200">
                <a:latin typeface="Arial"/>
                <a:cs typeface="Arial"/>
              </a:rPr>
              <a:t>They  </a:t>
            </a:r>
            <a:r>
              <a:rPr dirty="0" sz="1200" spc="-5">
                <a:latin typeface="Arial"/>
                <a:cs typeface="Arial"/>
              </a:rPr>
              <a:t>had</a:t>
            </a:r>
            <a:r>
              <a:rPr dirty="0" sz="1200" spc="135">
                <a:latin typeface="Arial"/>
                <a:cs typeface="Arial"/>
              </a:rPr>
              <a:t> </a:t>
            </a:r>
            <a:r>
              <a:rPr dirty="0" sz="1200" spc="-5">
                <a:latin typeface="Arial"/>
                <a:cs typeface="Arial"/>
              </a:rPr>
              <a:t>as</a:t>
            </a:r>
            <a:r>
              <a:rPr dirty="0" sz="1200" spc="135">
                <a:latin typeface="Arial"/>
                <a:cs typeface="Arial"/>
              </a:rPr>
              <a:t> </a:t>
            </a:r>
            <a:r>
              <a:rPr dirty="0" sz="1200" spc="-5">
                <a:latin typeface="Arial"/>
                <a:cs typeface="Arial"/>
              </a:rPr>
              <a:t>guide</a:t>
            </a:r>
            <a:r>
              <a:rPr dirty="0" sz="1200" spc="135">
                <a:latin typeface="Arial"/>
                <a:cs typeface="Arial"/>
              </a:rPr>
              <a:t> </a:t>
            </a:r>
            <a:r>
              <a:rPr dirty="0" sz="1200" spc="-5">
                <a:latin typeface="Arial"/>
                <a:cs typeface="Arial"/>
              </a:rPr>
              <a:t>Abdullah</a:t>
            </a:r>
            <a:r>
              <a:rPr dirty="0" sz="1200" spc="140">
                <a:latin typeface="Arial"/>
                <a:cs typeface="Arial"/>
              </a:rPr>
              <a:t> </a:t>
            </a:r>
            <a:r>
              <a:rPr dirty="0" sz="1200" spc="-5">
                <a:latin typeface="Arial"/>
                <a:cs typeface="Arial"/>
              </a:rPr>
              <a:t>bin</a:t>
            </a:r>
            <a:r>
              <a:rPr dirty="0" sz="1200" spc="135">
                <a:latin typeface="Arial"/>
                <a:cs typeface="Arial"/>
              </a:rPr>
              <a:t> </a:t>
            </a:r>
            <a:r>
              <a:rPr dirty="0" sz="1200" spc="-5">
                <a:latin typeface="Arial"/>
                <a:cs typeface="Arial"/>
              </a:rPr>
              <a:t>Uraiqit</a:t>
            </a:r>
            <a:r>
              <a:rPr dirty="0" sz="1200" spc="135">
                <a:latin typeface="Arial"/>
                <a:cs typeface="Arial"/>
              </a:rPr>
              <a:t> </a:t>
            </a:r>
            <a:r>
              <a:rPr dirty="0" sz="1200">
                <a:latin typeface="Arial"/>
                <a:cs typeface="Arial"/>
              </a:rPr>
              <a:t>(non-Muslim</a:t>
            </a:r>
            <a:r>
              <a:rPr dirty="0" sz="1200" spc="145">
                <a:latin typeface="Arial"/>
                <a:cs typeface="Arial"/>
              </a:rPr>
              <a:t> </a:t>
            </a:r>
            <a:r>
              <a:rPr dirty="0" sz="1200">
                <a:latin typeface="Arial"/>
                <a:cs typeface="Arial"/>
              </a:rPr>
              <a:t>Guide).</a:t>
            </a:r>
            <a:r>
              <a:rPr dirty="0" sz="1200" spc="130">
                <a:latin typeface="Arial"/>
                <a:cs typeface="Arial"/>
              </a:rPr>
              <a:t> </a:t>
            </a:r>
            <a:r>
              <a:rPr dirty="0" sz="1200" spc="-5">
                <a:latin typeface="Arial"/>
                <a:cs typeface="Arial"/>
              </a:rPr>
              <a:t>Instead</a:t>
            </a:r>
            <a:r>
              <a:rPr dirty="0" sz="1200" spc="140">
                <a:latin typeface="Arial"/>
                <a:cs typeface="Arial"/>
              </a:rPr>
              <a:t> </a:t>
            </a:r>
            <a:r>
              <a:rPr dirty="0" sz="1200" spc="-5">
                <a:latin typeface="Arial"/>
                <a:cs typeface="Arial"/>
              </a:rPr>
              <a:t>of</a:t>
            </a:r>
            <a:r>
              <a:rPr dirty="0" sz="1200" spc="135">
                <a:latin typeface="Arial"/>
                <a:cs typeface="Arial"/>
              </a:rPr>
              <a:t> </a:t>
            </a:r>
            <a:r>
              <a:rPr dirty="0" sz="1200">
                <a:latin typeface="Arial"/>
                <a:cs typeface="Arial"/>
              </a:rPr>
              <a:t>taking</a:t>
            </a:r>
            <a:r>
              <a:rPr dirty="0" sz="1200" spc="130">
                <a:latin typeface="Arial"/>
                <a:cs typeface="Arial"/>
              </a:rPr>
              <a:t> </a:t>
            </a:r>
            <a:r>
              <a:rPr dirty="0" sz="1200">
                <a:latin typeface="Arial"/>
                <a:cs typeface="Arial"/>
              </a:rPr>
              <a:t>the</a:t>
            </a:r>
            <a:r>
              <a:rPr dirty="0" sz="1200" spc="140">
                <a:latin typeface="Arial"/>
                <a:cs typeface="Arial"/>
              </a:rPr>
              <a:t> </a:t>
            </a:r>
            <a:r>
              <a:rPr dirty="0" sz="1200" spc="-5">
                <a:latin typeface="Arial"/>
                <a:cs typeface="Arial"/>
              </a:rPr>
              <a:t>usual</a:t>
            </a:r>
            <a:r>
              <a:rPr dirty="0" sz="1200" spc="130">
                <a:latin typeface="Arial"/>
                <a:cs typeface="Arial"/>
              </a:rPr>
              <a:t> </a:t>
            </a:r>
            <a:r>
              <a:rPr dirty="0" sz="1200" spc="-5">
                <a:latin typeface="Arial"/>
                <a:cs typeface="Arial"/>
              </a:rPr>
              <a:t>route</a:t>
            </a:r>
            <a:r>
              <a:rPr dirty="0" sz="1200" spc="140">
                <a:latin typeface="Arial"/>
                <a:cs typeface="Arial"/>
              </a:rPr>
              <a:t> </a:t>
            </a:r>
            <a:r>
              <a:rPr dirty="0" sz="1200">
                <a:latin typeface="Arial"/>
                <a:cs typeface="Arial"/>
              </a:rPr>
              <a:t>to</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p:nvPr/>
        </p:nvSpPr>
        <p:spPr>
          <a:xfrm>
            <a:off x="3026791"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14</a:t>
            </a:r>
            <a:endParaRPr sz="120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3" name="object 3"/>
          <p:cNvSpPr/>
          <p:nvPr/>
        </p:nvSpPr>
        <p:spPr>
          <a:xfrm>
            <a:off x="731519" y="5188330"/>
            <a:ext cx="1209040" cy="15240"/>
          </a:xfrm>
          <a:custGeom>
            <a:avLst/>
            <a:gdLst/>
            <a:ahLst/>
            <a:cxnLst/>
            <a:rect l="l" t="t" r="r" b="b"/>
            <a:pathLst>
              <a:path w="1209039" h="15239">
                <a:moveTo>
                  <a:pt x="1208836" y="0"/>
                </a:moveTo>
                <a:lnTo>
                  <a:pt x="0" y="0"/>
                </a:lnTo>
                <a:lnTo>
                  <a:pt x="0" y="15239"/>
                </a:lnTo>
                <a:lnTo>
                  <a:pt x="1208836" y="15239"/>
                </a:lnTo>
                <a:lnTo>
                  <a:pt x="1208836" y="0"/>
                </a:lnTo>
                <a:close/>
              </a:path>
            </a:pathLst>
          </a:custGeom>
          <a:solidFill>
            <a:srgbClr val="000000"/>
          </a:solidFill>
        </p:spPr>
        <p:txBody>
          <a:bodyPr wrap="square" lIns="0" tIns="0" rIns="0" bIns="0" rtlCol="0"/>
          <a:lstStyle/>
          <a:p/>
        </p:txBody>
      </p:sp>
      <p:sp>
        <p:nvSpPr>
          <p:cNvPr id="4" name="object 4"/>
          <p:cNvSpPr txBox="1"/>
          <p:nvPr/>
        </p:nvSpPr>
        <p:spPr>
          <a:xfrm>
            <a:off x="642619" y="432307"/>
            <a:ext cx="6433185" cy="9163050"/>
          </a:xfrm>
          <a:prstGeom prst="rect">
            <a:avLst/>
          </a:prstGeom>
        </p:spPr>
        <p:txBody>
          <a:bodyPr wrap="square" lIns="0" tIns="12700" rIns="0" bIns="0" rtlCol="0" vert="horz">
            <a:spAutoFit/>
          </a:bodyPr>
          <a:lstStyle/>
          <a:p>
            <a:pPr algn="just" marL="88900">
              <a:lnSpc>
                <a:spcPct val="100000"/>
              </a:lnSpc>
              <a:spcBef>
                <a:spcPts val="100"/>
              </a:spcBef>
              <a:tabLst>
                <a:tab pos="51403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88900" marR="55880">
              <a:lnSpc>
                <a:spcPct val="95900"/>
              </a:lnSpc>
            </a:pPr>
            <a:r>
              <a:rPr dirty="0" sz="1200" spc="-5">
                <a:latin typeface="Arial"/>
                <a:cs typeface="Arial"/>
              </a:rPr>
              <a:t>Madina, they passed </a:t>
            </a:r>
            <a:r>
              <a:rPr dirty="0" sz="1200" spc="-10">
                <a:latin typeface="Arial"/>
                <a:cs typeface="Arial"/>
              </a:rPr>
              <a:t>by </a:t>
            </a:r>
            <a:r>
              <a:rPr dirty="0" sz="1200">
                <a:latin typeface="Arial"/>
                <a:cs typeface="Arial"/>
              </a:rPr>
              <a:t>the </a:t>
            </a:r>
            <a:r>
              <a:rPr dirty="0" sz="1200" spc="-5">
                <a:latin typeface="Arial"/>
                <a:cs typeface="Arial"/>
              </a:rPr>
              <a:t>cave </a:t>
            </a:r>
            <a:r>
              <a:rPr dirty="0" sz="1200">
                <a:latin typeface="Arial"/>
                <a:cs typeface="Arial"/>
              </a:rPr>
              <a:t>of </a:t>
            </a:r>
            <a:r>
              <a:rPr dirty="0" sz="1200" spc="-5">
                <a:latin typeface="Arial"/>
                <a:cs typeface="Arial"/>
              </a:rPr>
              <a:t>Thawr. </a:t>
            </a:r>
            <a:r>
              <a:rPr dirty="0" sz="1200" spc="10">
                <a:latin typeface="Arial"/>
                <a:cs typeface="Arial"/>
              </a:rPr>
              <a:t>They </a:t>
            </a:r>
            <a:r>
              <a:rPr dirty="0" sz="1200" spc="-5">
                <a:latin typeface="Arial"/>
                <a:cs typeface="Arial"/>
              </a:rPr>
              <a:t>stayed </a:t>
            </a:r>
            <a:r>
              <a:rPr dirty="0" sz="1200">
                <a:latin typeface="Arial"/>
                <a:cs typeface="Arial"/>
              </a:rPr>
              <a:t>therein for </a:t>
            </a:r>
            <a:r>
              <a:rPr dirty="0" sz="1200" spc="-5">
                <a:latin typeface="Arial"/>
                <a:cs typeface="Arial"/>
              </a:rPr>
              <a:t>3 nights and days. </a:t>
            </a:r>
            <a:r>
              <a:rPr dirty="0" sz="1200">
                <a:latin typeface="Arial"/>
                <a:cs typeface="Arial"/>
              </a:rPr>
              <a:t>It </a:t>
            </a:r>
            <a:r>
              <a:rPr dirty="0" sz="1200" spc="-10">
                <a:latin typeface="Arial"/>
                <a:cs typeface="Arial"/>
              </a:rPr>
              <a:t>was  </a:t>
            </a:r>
            <a:r>
              <a:rPr dirty="0" sz="1200" spc="-5">
                <a:latin typeface="Arial"/>
                <a:cs typeface="Arial"/>
              </a:rPr>
              <a:t>3 miles away </a:t>
            </a:r>
            <a:r>
              <a:rPr dirty="0" sz="1200">
                <a:latin typeface="Arial"/>
                <a:cs typeface="Arial"/>
              </a:rPr>
              <a:t>from </a:t>
            </a:r>
            <a:r>
              <a:rPr dirty="0" sz="1200" spc="-5">
                <a:latin typeface="Arial"/>
                <a:cs typeface="Arial"/>
              </a:rPr>
              <a:t>Macca. After that </a:t>
            </a:r>
            <a:r>
              <a:rPr dirty="0" sz="1200">
                <a:latin typeface="Arial"/>
                <a:cs typeface="Arial"/>
              </a:rPr>
              <a:t>they </a:t>
            </a:r>
            <a:r>
              <a:rPr dirty="0" sz="1200" spc="-5">
                <a:latin typeface="Arial"/>
                <a:cs typeface="Arial"/>
              </a:rPr>
              <a:t>continued their </a:t>
            </a:r>
            <a:r>
              <a:rPr dirty="0" sz="1200" spc="-10">
                <a:latin typeface="Arial"/>
                <a:cs typeface="Arial"/>
              </a:rPr>
              <a:t>way </a:t>
            </a:r>
            <a:r>
              <a:rPr dirty="0" sz="1200" spc="-5">
                <a:latin typeface="Arial"/>
                <a:cs typeface="Arial"/>
              </a:rPr>
              <a:t>though </a:t>
            </a:r>
            <a:r>
              <a:rPr dirty="0" sz="1200">
                <a:latin typeface="Arial"/>
                <a:cs typeface="Arial"/>
              </a:rPr>
              <a:t>they </a:t>
            </a:r>
            <a:r>
              <a:rPr dirty="0" sz="1200" spc="-5">
                <a:latin typeface="Arial"/>
                <a:cs typeface="Arial"/>
              </a:rPr>
              <a:t>were followed by  </a:t>
            </a:r>
            <a:r>
              <a:rPr dirty="0" sz="1200">
                <a:latin typeface="Arial"/>
                <a:cs typeface="Arial"/>
              </a:rPr>
              <a:t>the </a:t>
            </a:r>
            <a:r>
              <a:rPr dirty="0" sz="1200" spc="-5">
                <a:latin typeface="Arial"/>
                <a:cs typeface="Arial"/>
              </a:rPr>
              <a:t>Quraish. Abu Bakr moved on 4 sides </a:t>
            </a:r>
            <a:r>
              <a:rPr dirty="0" sz="1200">
                <a:latin typeface="Arial"/>
                <a:cs typeface="Arial"/>
              </a:rPr>
              <a:t>to protect </a:t>
            </a:r>
            <a:r>
              <a:rPr dirty="0" sz="1200" spc="-5">
                <a:latin typeface="Arial"/>
                <a:cs typeface="Arial"/>
              </a:rPr>
              <a:t>Muhammad (s.a.w). </a:t>
            </a:r>
            <a:r>
              <a:rPr dirty="0" sz="1200" spc="5">
                <a:latin typeface="Arial"/>
                <a:cs typeface="Arial"/>
              </a:rPr>
              <a:t>When </a:t>
            </a:r>
            <a:r>
              <a:rPr dirty="0" sz="1200" spc="-5">
                <a:latin typeface="Arial"/>
                <a:cs typeface="Arial"/>
              </a:rPr>
              <a:t>a price was  fixed on the head of the prophet, Suraqah bin Malik </a:t>
            </a:r>
            <a:r>
              <a:rPr dirty="0" sz="1200" spc="-10">
                <a:latin typeface="Arial"/>
                <a:cs typeface="Arial"/>
              </a:rPr>
              <a:t>was </a:t>
            </a:r>
            <a:r>
              <a:rPr dirty="0" sz="1200">
                <a:latin typeface="Arial"/>
                <a:cs typeface="Arial"/>
              </a:rPr>
              <a:t>sent to </a:t>
            </a:r>
            <a:r>
              <a:rPr dirty="0" sz="1200" spc="-5">
                <a:latin typeface="Arial"/>
                <a:cs typeface="Arial"/>
              </a:rPr>
              <a:t>kill </a:t>
            </a:r>
            <a:r>
              <a:rPr dirty="0" sz="1200">
                <a:latin typeface="Arial"/>
                <a:cs typeface="Arial"/>
              </a:rPr>
              <a:t>the </a:t>
            </a:r>
            <a:r>
              <a:rPr dirty="0" sz="1200" spc="-5">
                <a:latin typeface="Arial"/>
                <a:cs typeface="Arial"/>
              </a:rPr>
              <a:t>prophet. But </a:t>
            </a:r>
            <a:r>
              <a:rPr dirty="0" sz="1200">
                <a:latin typeface="Arial"/>
                <a:cs typeface="Arial"/>
              </a:rPr>
              <a:t>for </a:t>
            </a:r>
            <a:r>
              <a:rPr dirty="0" sz="1200" spc="-5">
                <a:latin typeface="Arial"/>
                <a:cs typeface="Arial"/>
              </a:rPr>
              <a:t>3  </a:t>
            </a:r>
            <a:r>
              <a:rPr dirty="0" sz="1200">
                <a:latin typeface="Arial"/>
                <a:cs typeface="Arial"/>
              </a:rPr>
              <a:t>times his </a:t>
            </a:r>
            <a:r>
              <a:rPr dirty="0" sz="1200" spc="-5">
                <a:latin typeface="Arial"/>
                <a:cs typeface="Arial"/>
              </a:rPr>
              <a:t>horse stumbled in the sand </a:t>
            </a:r>
            <a:r>
              <a:rPr dirty="0" sz="1200">
                <a:latin typeface="Arial"/>
                <a:cs typeface="Arial"/>
              </a:rPr>
              <a:t>and </a:t>
            </a:r>
            <a:r>
              <a:rPr dirty="0" sz="1200" spc="-5">
                <a:latin typeface="Arial"/>
                <a:cs typeface="Arial"/>
              </a:rPr>
              <a:t>was released </a:t>
            </a:r>
            <a:r>
              <a:rPr dirty="0" sz="1200">
                <a:latin typeface="Arial"/>
                <a:cs typeface="Arial"/>
              </a:rPr>
              <a:t>by </a:t>
            </a:r>
            <a:r>
              <a:rPr dirty="0" sz="1200" spc="-5">
                <a:latin typeface="Arial"/>
                <a:cs typeface="Arial"/>
              </a:rPr>
              <a:t>the du‘a of the prophet (s.a.w). He  </a:t>
            </a:r>
            <a:r>
              <a:rPr dirty="0" sz="1200">
                <a:latin typeface="Arial"/>
                <a:cs typeface="Arial"/>
              </a:rPr>
              <a:t>thus </a:t>
            </a:r>
            <a:r>
              <a:rPr dirty="0" sz="1200" spc="-5">
                <a:latin typeface="Arial"/>
                <a:cs typeface="Arial"/>
              </a:rPr>
              <a:t>accepted Islam and returned </a:t>
            </a:r>
            <a:r>
              <a:rPr dirty="0" sz="1200">
                <a:latin typeface="Arial"/>
                <a:cs typeface="Arial"/>
              </a:rPr>
              <a:t>to </a:t>
            </a:r>
            <a:r>
              <a:rPr dirty="0" sz="1200" spc="-5">
                <a:latin typeface="Arial"/>
                <a:cs typeface="Arial"/>
              </a:rPr>
              <a:t>Macca. They reached Quba situate 3 miles </a:t>
            </a:r>
            <a:r>
              <a:rPr dirty="0" sz="1200">
                <a:latin typeface="Arial"/>
                <a:cs typeface="Arial"/>
              </a:rPr>
              <a:t>from </a:t>
            </a:r>
            <a:r>
              <a:rPr dirty="0" sz="1200" spc="-5">
                <a:latin typeface="Arial"/>
                <a:cs typeface="Arial"/>
              </a:rPr>
              <a:t>Madina  on a Monday. </a:t>
            </a:r>
            <a:r>
              <a:rPr dirty="0" sz="1200" spc="5">
                <a:latin typeface="Arial"/>
                <a:cs typeface="Arial"/>
              </a:rPr>
              <a:t>They </a:t>
            </a:r>
            <a:r>
              <a:rPr dirty="0" sz="1200" spc="-5">
                <a:latin typeface="Arial"/>
                <a:cs typeface="Arial"/>
              </a:rPr>
              <a:t>stayed </a:t>
            </a:r>
            <a:r>
              <a:rPr dirty="0" sz="1200">
                <a:latin typeface="Arial"/>
                <a:cs typeface="Arial"/>
              </a:rPr>
              <a:t>for </a:t>
            </a:r>
            <a:r>
              <a:rPr dirty="0" sz="1200" spc="-5">
                <a:latin typeface="Arial"/>
                <a:cs typeface="Arial"/>
              </a:rPr>
              <a:t>2 weeks where and when they built the Masjid Quba. They left  </a:t>
            </a:r>
            <a:r>
              <a:rPr dirty="0" sz="1200">
                <a:latin typeface="Arial"/>
                <a:cs typeface="Arial"/>
              </a:rPr>
              <a:t>on </a:t>
            </a:r>
            <a:r>
              <a:rPr dirty="0" sz="1200" spc="-5">
                <a:latin typeface="Arial"/>
                <a:cs typeface="Arial"/>
              </a:rPr>
              <a:t>Friday. </a:t>
            </a:r>
            <a:r>
              <a:rPr dirty="0" sz="1200">
                <a:latin typeface="Arial"/>
                <a:cs typeface="Arial"/>
              </a:rPr>
              <a:t>It </a:t>
            </a:r>
            <a:r>
              <a:rPr dirty="0" sz="1200" spc="-5">
                <a:latin typeface="Arial"/>
                <a:cs typeface="Arial"/>
              </a:rPr>
              <a:t>was the first Mosque of Islam where the first Swalaatul Jumu‘ah was</a:t>
            </a:r>
            <a:r>
              <a:rPr dirty="0" sz="1200" spc="105">
                <a:latin typeface="Arial"/>
                <a:cs typeface="Arial"/>
              </a:rPr>
              <a:t> </a:t>
            </a:r>
            <a:r>
              <a:rPr dirty="0" sz="1200" spc="-5">
                <a:latin typeface="Arial"/>
                <a:cs typeface="Arial"/>
              </a:rPr>
              <a:t>performed.</a:t>
            </a:r>
            <a:endParaRPr sz="1200">
              <a:latin typeface="Arial"/>
              <a:cs typeface="Arial"/>
            </a:endParaRPr>
          </a:p>
          <a:p>
            <a:pPr>
              <a:lnSpc>
                <a:spcPct val="100000"/>
              </a:lnSpc>
              <a:spcBef>
                <a:spcPts val="55"/>
              </a:spcBef>
            </a:pPr>
            <a:endParaRPr sz="1100">
              <a:latin typeface="Arial"/>
              <a:cs typeface="Arial"/>
            </a:endParaRPr>
          </a:p>
          <a:p>
            <a:pPr algn="just" marL="88900">
              <a:lnSpc>
                <a:spcPct val="100000"/>
              </a:lnSpc>
            </a:pPr>
            <a:r>
              <a:rPr dirty="0" u="heavy" sz="1200" spc="-5" b="1" i="1">
                <a:uFill>
                  <a:solidFill>
                    <a:srgbClr val="000000"/>
                  </a:solidFill>
                </a:uFill>
                <a:latin typeface="Arial"/>
                <a:cs typeface="Arial"/>
              </a:rPr>
              <a:t>The </a:t>
            </a:r>
            <a:r>
              <a:rPr dirty="0" u="heavy" sz="1200" b="1" i="1">
                <a:uFill>
                  <a:solidFill>
                    <a:srgbClr val="000000"/>
                  </a:solidFill>
                </a:uFill>
                <a:latin typeface="Arial"/>
                <a:cs typeface="Arial"/>
              </a:rPr>
              <a:t>Hijrah </a:t>
            </a:r>
            <a:r>
              <a:rPr dirty="0" u="heavy" sz="1200" spc="-5" b="1" i="1">
                <a:uFill>
                  <a:solidFill>
                    <a:srgbClr val="000000"/>
                  </a:solidFill>
                </a:uFill>
                <a:latin typeface="Arial"/>
                <a:cs typeface="Arial"/>
              </a:rPr>
              <a:t>was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utmost </a:t>
            </a:r>
            <a:r>
              <a:rPr dirty="0" u="heavy" sz="1200" b="1" i="1">
                <a:uFill>
                  <a:solidFill>
                    <a:srgbClr val="000000"/>
                  </a:solidFill>
                </a:uFill>
                <a:latin typeface="Arial"/>
                <a:cs typeface="Arial"/>
              </a:rPr>
              <a:t>importance </a:t>
            </a:r>
            <a:r>
              <a:rPr dirty="0" u="heavy" sz="1200" spc="-5" b="1" i="1">
                <a:uFill>
                  <a:solidFill>
                    <a:srgbClr val="000000"/>
                  </a:solidFill>
                </a:uFill>
                <a:latin typeface="Arial"/>
                <a:cs typeface="Arial"/>
              </a:rPr>
              <a:t>for many reasons </a:t>
            </a:r>
            <a:r>
              <a:rPr dirty="0" u="heavy" sz="1200" b="1" i="1">
                <a:uFill>
                  <a:solidFill>
                    <a:srgbClr val="000000"/>
                  </a:solidFill>
                </a:uFill>
                <a:latin typeface="Arial"/>
                <a:cs typeface="Arial"/>
              </a:rPr>
              <a:t>such </a:t>
            </a:r>
            <a:r>
              <a:rPr dirty="0" u="heavy" sz="1200" spc="-5" b="1" i="1">
                <a:uFill>
                  <a:solidFill>
                    <a:srgbClr val="000000"/>
                  </a:solidFill>
                </a:uFill>
                <a:latin typeface="Arial"/>
                <a:cs typeface="Arial"/>
              </a:rPr>
              <a:t>as:</a:t>
            </a:r>
            <a:endParaRPr sz="1200">
              <a:latin typeface="Arial"/>
              <a:cs typeface="Arial"/>
            </a:endParaRPr>
          </a:p>
          <a:p>
            <a:pPr>
              <a:lnSpc>
                <a:spcPct val="100000"/>
              </a:lnSpc>
              <a:spcBef>
                <a:spcPts val="55"/>
              </a:spcBef>
            </a:pPr>
            <a:endParaRPr sz="1100">
              <a:latin typeface="Arial"/>
              <a:cs typeface="Arial"/>
            </a:endParaRPr>
          </a:p>
          <a:p>
            <a:pPr marL="546100" indent="-229235">
              <a:lnSpc>
                <a:spcPts val="1410"/>
              </a:lnSpc>
              <a:buAutoNum type="arabicPeriod"/>
              <a:tabLst>
                <a:tab pos="546735" algn="l"/>
              </a:tabLst>
            </a:pPr>
            <a:r>
              <a:rPr dirty="0" sz="1200">
                <a:latin typeface="Arial"/>
                <a:cs typeface="Arial"/>
              </a:rPr>
              <a:t>It </a:t>
            </a:r>
            <a:r>
              <a:rPr dirty="0" sz="1200" spc="-5">
                <a:latin typeface="Arial"/>
                <a:cs typeface="Arial"/>
              </a:rPr>
              <a:t>was a </a:t>
            </a:r>
            <a:r>
              <a:rPr dirty="0" sz="1200">
                <a:latin typeface="Arial"/>
                <a:cs typeface="Arial"/>
              </a:rPr>
              <a:t>start </a:t>
            </a:r>
            <a:r>
              <a:rPr dirty="0" sz="1200" spc="-5">
                <a:latin typeface="Arial"/>
                <a:cs typeface="Arial"/>
              </a:rPr>
              <a:t>of a </a:t>
            </a:r>
            <a:r>
              <a:rPr dirty="0" sz="1200">
                <a:latin typeface="Arial"/>
                <a:cs typeface="Arial"/>
              </a:rPr>
              <a:t>new Islamic</a:t>
            </a:r>
            <a:r>
              <a:rPr dirty="0" sz="1200" spc="-10">
                <a:latin typeface="Arial"/>
                <a:cs typeface="Arial"/>
              </a:rPr>
              <a:t> era</a:t>
            </a:r>
            <a:endParaRPr sz="1200">
              <a:latin typeface="Arial"/>
              <a:cs typeface="Arial"/>
            </a:endParaRPr>
          </a:p>
          <a:p>
            <a:pPr marL="546100" indent="-229235">
              <a:lnSpc>
                <a:spcPts val="1380"/>
              </a:lnSpc>
              <a:buAutoNum type="arabicPeriod"/>
              <a:tabLst>
                <a:tab pos="546735" algn="l"/>
              </a:tabLst>
            </a:pPr>
            <a:r>
              <a:rPr dirty="0" sz="1200" spc="-5">
                <a:latin typeface="Arial"/>
                <a:cs typeface="Arial"/>
              </a:rPr>
              <a:t>The building of the Islamic</a:t>
            </a:r>
            <a:r>
              <a:rPr dirty="0" sz="1200" spc="15">
                <a:latin typeface="Arial"/>
                <a:cs typeface="Arial"/>
              </a:rPr>
              <a:t> </a:t>
            </a:r>
            <a:r>
              <a:rPr dirty="0" sz="1200" spc="-5">
                <a:latin typeface="Arial"/>
                <a:cs typeface="Arial"/>
              </a:rPr>
              <a:t>state</a:t>
            </a:r>
            <a:endParaRPr sz="1200">
              <a:latin typeface="Arial"/>
              <a:cs typeface="Arial"/>
            </a:endParaRPr>
          </a:p>
          <a:p>
            <a:pPr marL="546100" indent="-229235">
              <a:lnSpc>
                <a:spcPts val="1380"/>
              </a:lnSpc>
              <a:buAutoNum type="arabicPeriod"/>
              <a:tabLst>
                <a:tab pos="546735" algn="l"/>
              </a:tabLst>
            </a:pPr>
            <a:r>
              <a:rPr dirty="0" sz="1200" spc="-5">
                <a:latin typeface="Arial"/>
                <a:cs typeface="Arial"/>
              </a:rPr>
              <a:t>The </a:t>
            </a:r>
            <a:r>
              <a:rPr dirty="0" sz="1200">
                <a:latin typeface="Arial"/>
                <a:cs typeface="Arial"/>
              </a:rPr>
              <a:t>liberty to </a:t>
            </a:r>
            <a:r>
              <a:rPr dirty="0" sz="1200" spc="-5">
                <a:latin typeface="Arial"/>
                <a:cs typeface="Arial"/>
              </a:rPr>
              <a:t>spread Islam </a:t>
            </a:r>
            <a:r>
              <a:rPr dirty="0" sz="1200">
                <a:latin typeface="Arial"/>
                <a:cs typeface="Arial"/>
              </a:rPr>
              <a:t>more </a:t>
            </a:r>
            <a:r>
              <a:rPr dirty="0" sz="1200" spc="-5">
                <a:latin typeface="Arial"/>
                <a:cs typeface="Arial"/>
              </a:rPr>
              <a:t>than in</a:t>
            </a:r>
            <a:r>
              <a:rPr dirty="0" sz="1200" spc="-20">
                <a:latin typeface="Arial"/>
                <a:cs typeface="Arial"/>
              </a:rPr>
              <a:t> </a:t>
            </a:r>
            <a:r>
              <a:rPr dirty="0" sz="1200" spc="-5">
                <a:latin typeface="Arial"/>
                <a:cs typeface="Arial"/>
              </a:rPr>
              <a:t>Macca</a:t>
            </a:r>
            <a:endParaRPr sz="1200">
              <a:latin typeface="Arial"/>
              <a:cs typeface="Arial"/>
            </a:endParaRPr>
          </a:p>
          <a:p>
            <a:pPr marL="546100" indent="-229235">
              <a:lnSpc>
                <a:spcPts val="1380"/>
              </a:lnSpc>
              <a:buAutoNum type="arabicPeriod"/>
              <a:tabLst>
                <a:tab pos="546735" algn="l"/>
              </a:tabLst>
            </a:pPr>
            <a:r>
              <a:rPr dirty="0" sz="1200" spc="-5">
                <a:latin typeface="Arial"/>
                <a:cs typeface="Arial"/>
              </a:rPr>
              <a:t>The creation of Masjid Nabawi and consolidation of</a:t>
            </a:r>
            <a:r>
              <a:rPr dirty="0" sz="1200" spc="45">
                <a:latin typeface="Arial"/>
                <a:cs typeface="Arial"/>
              </a:rPr>
              <a:t> </a:t>
            </a:r>
            <a:r>
              <a:rPr dirty="0" sz="1200" spc="-5">
                <a:latin typeface="Arial"/>
                <a:cs typeface="Arial"/>
              </a:rPr>
              <a:t>Brotherhood</a:t>
            </a:r>
            <a:endParaRPr sz="1200">
              <a:latin typeface="Arial"/>
              <a:cs typeface="Arial"/>
            </a:endParaRPr>
          </a:p>
          <a:p>
            <a:pPr marL="546100" indent="-229235">
              <a:lnSpc>
                <a:spcPts val="1380"/>
              </a:lnSpc>
              <a:buAutoNum type="arabicPeriod"/>
              <a:tabLst>
                <a:tab pos="546735" algn="l"/>
              </a:tabLst>
            </a:pPr>
            <a:r>
              <a:rPr dirty="0" sz="1200" spc="-5">
                <a:latin typeface="Arial"/>
                <a:cs typeface="Arial"/>
              </a:rPr>
              <a:t>The </a:t>
            </a:r>
            <a:r>
              <a:rPr dirty="0" sz="1200">
                <a:latin typeface="Arial"/>
                <a:cs typeface="Arial"/>
              </a:rPr>
              <a:t>framing </a:t>
            </a:r>
            <a:r>
              <a:rPr dirty="0" sz="1200" spc="-5">
                <a:latin typeface="Arial"/>
                <a:cs typeface="Arial"/>
              </a:rPr>
              <a:t>of </a:t>
            </a:r>
            <a:r>
              <a:rPr dirty="0" sz="1200">
                <a:latin typeface="Arial"/>
                <a:cs typeface="Arial"/>
              </a:rPr>
              <a:t>the </a:t>
            </a:r>
            <a:r>
              <a:rPr dirty="0" sz="1200" spc="-5">
                <a:latin typeface="Arial"/>
                <a:cs typeface="Arial"/>
              </a:rPr>
              <a:t>Constitution of</a:t>
            </a:r>
            <a:r>
              <a:rPr dirty="0" sz="1200" spc="-15">
                <a:latin typeface="Arial"/>
                <a:cs typeface="Arial"/>
              </a:rPr>
              <a:t> </a:t>
            </a:r>
            <a:r>
              <a:rPr dirty="0" sz="1200" spc="-5">
                <a:latin typeface="Arial"/>
                <a:cs typeface="Arial"/>
              </a:rPr>
              <a:t>Madina</a:t>
            </a:r>
            <a:endParaRPr sz="1200">
              <a:latin typeface="Arial"/>
              <a:cs typeface="Arial"/>
            </a:endParaRPr>
          </a:p>
          <a:p>
            <a:pPr marL="546100" indent="-229235">
              <a:lnSpc>
                <a:spcPts val="1380"/>
              </a:lnSpc>
              <a:buAutoNum type="arabicPeriod"/>
              <a:tabLst>
                <a:tab pos="546735" algn="l"/>
              </a:tabLst>
            </a:pPr>
            <a:r>
              <a:rPr dirty="0" sz="1200" spc="-5">
                <a:latin typeface="Arial"/>
                <a:cs typeface="Arial"/>
              </a:rPr>
              <a:t>The acknowledgement of prophet Muhammad (s.a.w) and Islam </a:t>
            </a:r>
            <a:r>
              <a:rPr dirty="0" sz="1200">
                <a:latin typeface="Arial"/>
                <a:cs typeface="Arial"/>
              </a:rPr>
              <a:t>as the </a:t>
            </a:r>
            <a:r>
              <a:rPr dirty="0" sz="1200" spc="-5">
                <a:latin typeface="Arial"/>
                <a:cs typeface="Arial"/>
              </a:rPr>
              <a:t>Rising</a:t>
            </a:r>
            <a:r>
              <a:rPr dirty="0" sz="1200" spc="80">
                <a:latin typeface="Arial"/>
                <a:cs typeface="Arial"/>
              </a:rPr>
              <a:t> </a:t>
            </a:r>
            <a:r>
              <a:rPr dirty="0" sz="1200" spc="-5">
                <a:latin typeface="Arial"/>
                <a:cs typeface="Arial"/>
              </a:rPr>
              <a:t>Power</a:t>
            </a:r>
            <a:endParaRPr sz="1200">
              <a:latin typeface="Arial"/>
              <a:cs typeface="Arial"/>
            </a:endParaRPr>
          </a:p>
          <a:p>
            <a:pPr marL="546100" indent="-229235">
              <a:lnSpc>
                <a:spcPts val="1380"/>
              </a:lnSpc>
              <a:buAutoNum type="arabicPeriod"/>
              <a:tabLst>
                <a:tab pos="546735" algn="l"/>
              </a:tabLst>
            </a:pPr>
            <a:r>
              <a:rPr dirty="0" sz="1200">
                <a:latin typeface="Arial"/>
                <a:cs typeface="Arial"/>
              </a:rPr>
              <a:t>The </a:t>
            </a:r>
            <a:r>
              <a:rPr dirty="0" sz="1200" spc="-5">
                <a:latin typeface="Arial"/>
                <a:cs typeface="Arial"/>
              </a:rPr>
              <a:t>Shari‘ah being</a:t>
            </a:r>
            <a:r>
              <a:rPr dirty="0" sz="1200" spc="-10">
                <a:latin typeface="Arial"/>
                <a:cs typeface="Arial"/>
              </a:rPr>
              <a:t> </a:t>
            </a:r>
            <a:r>
              <a:rPr dirty="0" sz="1200" spc="-5">
                <a:latin typeface="Arial"/>
                <a:cs typeface="Arial"/>
              </a:rPr>
              <a:t>introduced</a:t>
            </a:r>
            <a:endParaRPr sz="1200">
              <a:latin typeface="Arial"/>
              <a:cs typeface="Arial"/>
            </a:endParaRPr>
          </a:p>
          <a:p>
            <a:pPr marL="546100" indent="-229235">
              <a:lnSpc>
                <a:spcPts val="1380"/>
              </a:lnSpc>
              <a:buAutoNum type="arabicPeriod"/>
              <a:tabLst>
                <a:tab pos="546735" algn="l"/>
              </a:tabLst>
            </a:pPr>
            <a:r>
              <a:rPr dirty="0" sz="1200" spc="-5">
                <a:latin typeface="Arial"/>
                <a:cs typeface="Arial"/>
              </a:rPr>
              <a:t>The spreading of Islam </a:t>
            </a:r>
            <a:r>
              <a:rPr dirty="0" sz="1200">
                <a:latin typeface="Arial"/>
                <a:cs typeface="Arial"/>
              </a:rPr>
              <a:t>to </a:t>
            </a:r>
            <a:r>
              <a:rPr dirty="0" sz="1200" spc="-5">
                <a:latin typeface="Arial"/>
                <a:cs typeface="Arial"/>
              </a:rPr>
              <a:t>different</a:t>
            </a:r>
            <a:r>
              <a:rPr dirty="0" sz="1200" spc="10">
                <a:latin typeface="Arial"/>
                <a:cs typeface="Arial"/>
              </a:rPr>
              <a:t> </a:t>
            </a:r>
            <a:r>
              <a:rPr dirty="0" sz="1200" spc="-5">
                <a:latin typeface="Arial"/>
                <a:cs typeface="Arial"/>
              </a:rPr>
              <a:t>countries</a:t>
            </a:r>
            <a:endParaRPr sz="1200">
              <a:latin typeface="Arial"/>
              <a:cs typeface="Arial"/>
            </a:endParaRPr>
          </a:p>
          <a:p>
            <a:pPr marL="546100" indent="-229235">
              <a:lnSpc>
                <a:spcPts val="1380"/>
              </a:lnSpc>
              <a:buAutoNum type="arabicPeriod"/>
              <a:tabLst>
                <a:tab pos="546735" algn="l"/>
              </a:tabLst>
            </a:pPr>
            <a:r>
              <a:rPr dirty="0" sz="1200" spc="-5">
                <a:latin typeface="Arial"/>
                <a:cs typeface="Arial"/>
              </a:rPr>
              <a:t>The Conquest of</a:t>
            </a:r>
            <a:r>
              <a:rPr dirty="0" sz="1200" spc="5">
                <a:latin typeface="Arial"/>
                <a:cs typeface="Arial"/>
              </a:rPr>
              <a:t> </a:t>
            </a:r>
            <a:r>
              <a:rPr dirty="0" sz="1200" spc="-5">
                <a:latin typeface="Arial"/>
                <a:cs typeface="Arial"/>
              </a:rPr>
              <a:t>Macca</a:t>
            </a:r>
            <a:endParaRPr sz="1200">
              <a:latin typeface="Arial"/>
              <a:cs typeface="Arial"/>
            </a:endParaRPr>
          </a:p>
          <a:p>
            <a:pPr marL="546100" indent="-229235">
              <a:lnSpc>
                <a:spcPts val="1410"/>
              </a:lnSpc>
              <a:buAutoNum type="arabicPeriod"/>
              <a:tabLst>
                <a:tab pos="546735" algn="l"/>
              </a:tabLst>
            </a:pPr>
            <a:r>
              <a:rPr dirty="0" sz="1200" spc="-5">
                <a:latin typeface="Arial"/>
                <a:cs typeface="Arial"/>
              </a:rPr>
              <a:t>and all achievements at Madina </a:t>
            </a:r>
            <a:r>
              <a:rPr dirty="0" sz="1200">
                <a:latin typeface="Arial"/>
                <a:cs typeface="Arial"/>
              </a:rPr>
              <a:t>as </a:t>
            </a:r>
            <a:r>
              <a:rPr dirty="0" sz="1200" spc="-5">
                <a:latin typeface="Arial"/>
                <a:cs typeface="Arial"/>
              </a:rPr>
              <a:t>a </a:t>
            </a:r>
            <a:r>
              <a:rPr dirty="0" sz="1200">
                <a:latin typeface="Arial"/>
                <a:cs typeface="Arial"/>
              </a:rPr>
              <a:t>result </a:t>
            </a:r>
            <a:r>
              <a:rPr dirty="0" sz="1200" spc="-5">
                <a:latin typeface="Arial"/>
                <a:cs typeface="Arial"/>
              </a:rPr>
              <a:t>of</a:t>
            </a:r>
            <a:r>
              <a:rPr dirty="0" sz="1200" spc="-20">
                <a:latin typeface="Arial"/>
                <a:cs typeface="Arial"/>
              </a:rPr>
              <a:t> </a:t>
            </a:r>
            <a:r>
              <a:rPr dirty="0" sz="1200" spc="-5">
                <a:latin typeface="Arial"/>
                <a:cs typeface="Arial"/>
              </a:rPr>
              <a:t>Hijra.</a:t>
            </a:r>
            <a:endParaRPr sz="1200">
              <a:latin typeface="Arial"/>
              <a:cs typeface="Arial"/>
            </a:endParaRPr>
          </a:p>
          <a:p>
            <a:pPr marL="88900" marR="5125720">
              <a:lnSpc>
                <a:spcPct val="191700"/>
              </a:lnSpc>
            </a:pPr>
            <a:r>
              <a:rPr dirty="0" u="heavy" sz="1200" spc="-5" b="1" i="1">
                <a:uFill>
                  <a:solidFill>
                    <a:srgbClr val="000000"/>
                  </a:solidFill>
                </a:uFill>
                <a:latin typeface="Arial"/>
                <a:cs typeface="Arial"/>
              </a:rPr>
              <a:t>Madinan Phase </a:t>
            </a:r>
            <a:r>
              <a:rPr dirty="0" sz="1200" spc="-5" b="1" i="1">
                <a:latin typeface="Arial"/>
                <a:cs typeface="Arial"/>
              </a:rPr>
              <a:t> </a:t>
            </a:r>
            <a:r>
              <a:rPr dirty="0" sz="1200" spc="-5" b="1" i="1">
                <a:latin typeface="Arial"/>
                <a:cs typeface="Arial"/>
              </a:rPr>
              <a:t>1</a:t>
            </a:r>
            <a:r>
              <a:rPr dirty="0" baseline="38194" sz="1200" spc="-7" b="1" i="1">
                <a:latin typeface="Arial"/>
                <a:cs typeface="Arial"/>
              </a:rPr>
              <a:t>st </a:t>
            </a:r>
            <a:r>
              <a:rPr dirty="0" sz="1200" spc="-5" b="1" i="1">
                <a:latin typeface="Arial"/>
                <a:cs typeface="Arial"/>
              </a:rPr>
              <a:t>Year of</a:t>
            </a:r>
            <a:r>
              <a:rPr dirty="0" sz="1200" spc="-165" b="1" i="1">
                <a:latin typeface="Arial"/>
                <a:cs typeface="Arial"/>
              </a:rPr>
              <a:t> </a:t>
            </a:r>
            <a:r>
              <a:rPr dirty="0" sz="1200" b="1" i="1">
                <a:latin typeface="Arial"/>
                <a:cs typeface="Arial"/>
              </a:rPr>
              <a:t>Hijrah</a:t>
            </a:r>
            <a:endParaRPr sz="1200">
              <a:latin typeface="Arial"/>
              <a:cs typeface="Arial"/>
            </a:endParaRPr>
          </a:p>
          <a:p>
            <a:pPr>
              <a:lnSpc>
                <a:spcPct val="100000"/>
              </a:lnSpc>
            </a:pPr>
            <a:endParaRPr sz="1200">
              <a:latin typeface="Arial"/>
              <a:cs typeface="Arial"/>
            </a:endParaRPr>
          </a:p>
          <a:p>
            <a:pPr algn="just" marL="88900" marR="50165">
              <a:lnSpc>
                <a:spcPct val="95800"/>
              </a:lnSpc>
            </a:pPr>
            <a:r>
              <a:rPr dirty="0" sz="1200" spc="-5">
                <a:latin typeface="Arial"/>
                <a:cs typeface="Arial"/>
              </a:rPr>
              <a:t>The prophet (s.a.w) and Abu </a:t>
            </a:r>
            <a:r>
              <a:rPr dirty="0" sz="1200">
                <a:latin typeface="Arial"/>
                <a:cs typeface="Arial"/>
              </a:rPr>
              <a:t>Bakr </a:t>
            </a:r>
            <a:r>
              <a:rPr dirty="0" sz="1200" spc="-5">
                <a:latin typeface="Arial"/>
                <a:cs typeface="Arial"/>
              </a:rPr>
              <a:t>(r.a) </a:t>
            </a:r>
            <a:r>
              <a:rPr dirty="0" sz="1200" spc="-10">
                <a:latin typeface="Arial"/>
                <a:cs typeface="Arial"/>
              </a:rPr>
              <a:t>arrived </a:t>
            </a:r>
            <a:r>
              <a:rPr dirty="0" sz="1200">
                <a:latin typeface="Arial"/>
                <a:cs typeface="Arial"/>
              </a:rPr>
              <a:t>at </a:t>
            </a:r>
            <a:r>
              <a:rPr dirty="0" sz="1200" spc="-5">
                <a:latin typeface="Arial"/>
                <a:cs typeface="Arial"/>
              </a:rPr>
              <a:t>Yathrib on </a:t>
            </a:r>
            <a:r>
              <a:rPr dirty="0" sz="1200">
                <a:latin typeface="Arial"/>
                <a:cs typeface="Arial"/>
              </a:rPr>
              <a:t>the </a:t>
            </a:r>
            <a:r>
              <a:rPr dirty="0" sz="1200" spc="-5">
                <a:latin typeface="Arial"/>
                <a:cs typeface="Arial"/>
              </a:rPr>
              <a:t>12 Rabi-ul-Awwal. </a:t>
            </a:r>
            <a:r>
              <a:rPr dirty="0" sz="1200">
                <a:latin typeface="Arial"/>
                <a:cs typeface="Arial"/>
              </a:rPr>
              <a:t>It </a:t>
            </a:r>
            <a:r>
              <a:rPr dirty="0" sz="1200" spc="-10">
                <a:latin typeface="Arial"/>
                <a:cs typeface="Arial"/>
              </a:rPr>
              <a:t>was  </a:t>
            </a:r>
            <a:r>
              <a:rPr dirty="0" sz="1200" spc="-5">
                <a:latin typeface="Arial"/>
                <a:cs typeface="Arial"/>
              </a:rPr>
              <a:t>270 miles north of Macca. People were awaited </a:t>
            </a:r>
            <a:r>
              <a:rPr dirty="0" sz="1200">
                <a:latin typeface="Arial"/>
                <a:cs typeface="Arial"/>
              </a:rPr>
              <a:t>for </a:t>
            </a:r>
            <a:r>
              <a:rPr dirty="0" sz="1200" spc="-5">
                <a:latin typeface="Arial"/>
                <a:cs typeface="Arial"/>
              </a:rPr>
              <a:t>his coming every day. </a:t>
            </a:r>
            <a:r>
              <a:rPr dirty="0" sz="1200">
                <a:latin typeface="Arial"/>
                <a:cs typeface="Arial"/>
              </a:rPr>
              <a:t>They </a:t>
            </a:r>
            <a:r>
              <a:rPr dirty="0" sz="1200" spc="-5">
                <a:latin typeface="Arial"/>
                <a:cs typeface="Arial"/>
              </a:rPr>
              <a:t>were warmly  welcome with poetry </a:t>
            </a:r>
            <a:r>
              <a:rPr dirty="0" sz="1200">
                <a:latin typeface="Arial"/>
                <a:cs typeface="Arial"/>
              </a:rPr>
              <a:t>sung </a:t>
            </a:r>
            <a:r>
              <a:rPr dirty="0" sz="1200" spc="-5">
                <a:latin typeface="Arial"/>
                <a:cs typeface="Arial"/>
              </a:rPr>
              <a:t>by </a:t>
            </a:r>
            <a:r>
              <a:rPr dirty="0" sz="1200">
                <a:latin typeface="Arial"/>
                <a:cs typeface="Arial"/>
              </a:rPr>
              <a:t>the </a:t>
            </a:r>
            <a:r>
              <a:rPr dirty="0" sz="1200" spc="-5">
                <a:latin typeface="Arial"/>
                <a:cs typeface="Arial"/>
              </a:rPr>
              <a:t>children of Madina standing in </a:t>
            </a:r>
            <a:r>
              <a:rPr dirty="0" sz="1200" spc="-10">
                <a:latin typeface="Arial"/>
                <a:cs typeface="Arial"/>
              </a:rPr>
              <a:t>rows. </a:t>
            </a:r>
            <a:r>
              <a:rPr dirty="0" sz="1200" spc="-5">
                <a:latin typeface="Arial"/>
                <a:cs typeface="Arial"/>
              </a:rPr>
              <a:t>Everyone wanted </a:t>
            </a:r>
            <a:r>
              <a:rPr dirty="0" sz="1200" spc="-10">
                <a:latin typeface="Arial"/>
                <a:cs typeface="Arial"/>
              </a:rPr>
              <a:t>him  </a:t>
            </a:r>
            <a:r>
              <a:rPr dirty="0" sz="1200">
                <a:latin typeface="Arial"/>
                <a:cs typeface="Arial"/>
              </a:rPr>
              <a:t>to stay at their place. </a:t>
            </a:r>
            <a:r>
              <a:rPr dirty="0" sz="1200" spc="-5">
                <a:latin typeface="Arial"/>
                <a:cs typeface="Arial"/>
              </a:rPr>
              <a:t>He then let </a:t>
            </a:r>
            <a:r>
              <a:rPr dirty="0" sz="1200">
                <a:latin typeface="Arial"/>
                <a:cs typeface="Arial"/>
              </a:rPr>
              <a:t>loose </a:t>
            </a:r>
            <a:r>
              <a:rPr dirty="0" sz="1200" spc="-5">
                <a:latin typeface="Arial"/>
                <a:cs typeface="Arial"/>
              </a:rPr>
              <a:t>his </a:t>
            </a:r>
            <a:r>
              <a:rPr dirty="0" sz="1200">
                <a:latin typeface="Arial"/>
                <a:cs typeface="Arial"/>
              </a:rPr>
              <a:t>camel </a:t>
            </a:r>
            <a:r>
              <a:rPr dirty="0" sz="1200" spc="-5">
                <a:latin typeface="Arial"/>
                <a:cs typeface="Arial"/>
              </a:rPr>
              <a:t>and wherever he would stop, he </a:t>
            </a:r>
            <a:r>
              <a:rPr dirty="0" sz="1200" spc="-10">
                <a:latin typeface="Arial"/>
                <a:cs typeface="Arial"/>
              </a:rPr>
              <a:t>would  </a:t>
            </a:r>
            <a:r>
              <a:rPr dirty="0" sz="1200" spc="-5">
                <a:latin typeface="Arial"/>
                <a:cs typeface="Arial"/>
              </a:rPr>
              <a:t>reside there. He stopped </a:t>
            </a:r>
            <a:r>
              <a:rPr dirty="0" sz="1200" spc="-10">
                <a:latin typeface="Arial"/>
                <a:cs typeface="Arial"/>
              </a:rPr>
              <a:t>on </a:t>
            </a:r>
            <a:r>
              <a:rPr dirty="0" sz="1200" spc="-5">
                <a:latin typeface="Arial"/>
                <a:cs typeface="Arial"/>
              </a:rPr>
              <a:t>a land owned </a:t>
            </a:r>
            <a:r>
              <a:rPr dirty="0" sz="1200" spc="-10">
                <a:latin typeface="Arial"/>
                <a:cs typeface="Arial"/>
              </a:rPr>
              <a:t>by </a:t>
            </a:r>
            <a:r>
              <a:rPr dirty="0" sz="1200" spc="-5">
                <a:latin typeface="Arial"/>
                <a:cs typeface="Arial"/>
              </a:rPr>
              <a:t>2 </a:t>
            </a:r>
            <a:r>
              <a:rPr dirty="0" sz="1200">
                <a:latin typeface="Arial"/>
                <a:cs typeface="Arial"/>
              </a:rPr>
              <a:t>brothers </a:t>
            </a:r>
            <a:r>
              <a:rPr dirty="0" sz="1200" spc="-5">
                <a:latin typeface="Arial"/>
                <a:cs typeface="Arial"/>
              </a:rPr>
              <a:t>Sahl and Suhail near the house of  Abu </a:t>
            </a:r>
            <a:r>
              <a:rPr dirty="0" sz="1200" spc="-10">
                <a:latin typeface="Arial"/>
                <a:cs typeface="Arial"/>
              </a:rPr>
              <a:t>Ayyub </a:t>
            </a:r>
            <a:r>
              <a:rPr dirty="0" sz="1200" spc="-5">
                <a:latin typeface="Arial"/>
                <a:cs typeface="Arial"/>
              </a:rPr>
              <a:t>Ansari (r.a). </a:t>
            </a:r>
            <a:r>
              <a:rPr dirty="0" sz="1200">
                <a:latin typeface="Arial"/>
                <a:cs typeface="Arial"/>
              </a:rPr>
              <a:t>The </a:t>
            </a:r>
            <a:r>
              <a:rPr dirty="0" sz="1200" spc="-5">
                <a:latin typeface="Arial"/>
                <a:cs typeface="Arial"/>
              </a:rPr>
              <a:t>prophet (s.a.w) stayed </a:t>
            </a:r>
            <a:r>
              <a:rPr dirty="0" sz="1200">
                <a:latin typeface="Arial"/>
                <a:cs typeface="Arial"/>
              </a:rPr>
              <a:t>for </a:t>
            </a:r>
            <a:r>
              <a:rPr dirty="0" sz="1200" spc="-5">
                <a:latin typeface="Arial"/>
                <a:cs typeface="Arial"/>
              </a:rPr>
              <a:t>a period of 7 months during which the  </a:t>
            </a:r>
            <a:r>
              <a:rPr dirty="0" sz="1200">
                <a:latin typeface="Arial"/>
                <a:cs typeface="Arial"/>
              </a:rPr>
              <a:t>land </a:t>
            </a:r>
            <a:r>
              <a:rPr dirty="0" sz="1200" spc="-5">
                <a:latin typeface="Arial"/>
                <a:cs typeface="Arial"/>
              </a:rPr>
              <a:t>of Sahl and Suhail </a:t>
            </a:r>
            <a:r>
              <a:rPr dirty="0" sz="1200" spc="-10">
                <a:latin typeface="Arial"/>
                <a:cs typeface="Arial"/>
              </a:rPr>
              <a:t>was </a:t>
            </a:r>
            <a:r>
              <a:rPr dirty="0" sz="1200" spc="-5">
                <a:latin typeface="Arial"/>
                <a:cs typeface="Arial"/>
              </a:rPr>
              <a:t>bought, levelled </a:t>
            </a:r>
            <a:r>
              <a:rPr dirty="0" sz="1200">
                <a:latin typeface="Arial"/>
                <a:cs typeface="Arial"/>
              </a:rPr>
              <a:t>to </a:t>
            </a:r>
            <a:r>
              <a:rPr dirty="0" sz="1200" spc="-5">
                <a:latin typeface="Arial"/>
                <a:cs typeface="Arial"/>
              </a:rPr>
              <a:t>the ground and on which a house and a  mosque were built. </a:t>
            </a:r>
            <a:r>
              <a:rPr dirty="0" sz="1200" spc="-10">
                <a:latin typeface="Arial"/>
                <a:cs typeface="Arial"/>
              </a:rPr>
              <a:t>For </a:t>
            </a:r>
            <a:r>
              <a:rPr dirty="0" sz="1200">
                <a:latin typeface="Arial"/>
                <a:cs typeface="Arial"/>
              </a:rPr>
              <a:t>these </a:t>
            </a:r>
            <a:r>
              <a:rPr dirty="0" sz="1200" spc="-5">
                <a:latin typeface="Arial"/>
                <a:cs typeface="Arial"/>
              </a:rPr>
              <a:t>7 months, </a:t>
            </a:r>
            <a:r>
              <a:rPr dirty="0" sz="1200">
                <a:latin typeface="Arial"/>
                <a:cs typeface="Arial"/>
              </a:rPr>
              <a:t>it </a:t>
            </a:r>
            <a:r>
              <a:rPr dirty="0" sz="1200" spc="-10">
                <a:latin typeface="Arial"/>
                <a:cs typeface="Arial"/>
              </a:rPr>
              <a:t>was </a:t>
            </a:r>
            <a:r>
              <a:rPr dirty="0" sz="1200" spc="-5">
                <a:latin typeface="Arial"/>
                <a:cs typeface="Arial"/>
              </a:rPr>
              <a:t>a great favour </a:t>
            </a:r>
            <a:r>
              <a:rPr dirty="0" sz="1200">
                <a:latin typeface="Arial"/>
                <a:cs typeface="Arial"/>
              </a:rPr>
              <a:t>for </a:t>
            </a:r>
            <a:r>
              <a:rPr dirty="0" sz="1200" spc="-5">
                <a:latin typeface="Arial"/>
                <a:cs typeface="Arial"/>
              </a:rPr>
              <a:t>Abu </a:t>
            </a:r>
            <a:r>
              <a:rPr dirty="0" sz="1200" spc="-10">
                <a:latin typeface="Arial"/>
                <a:cs typeface="Arial"/>
              </a:rPr>
              <a:t>Ayyub </a:t>
            </a:r>
            <a:r>
              <a:rPr dirty="0" sz="1200" spc="-5">
                <a:latin typeface="Arial"/>
                <a:cs typeface="Arial"/>
              </a:rPr>
              <a:t>Ansari (r.a). </a:t>
            </a:r>
            <a:r>
              <a:rPr dirty="0" sz="1200">
                <a:latin typeface="Arial"/>
                <a:cs typeface="Arial"/>
              </a:rPr>
              <a:t>In </a:t>
            </a:r>
            <a:r>
              <a:rPr dirty="0" sz="1200" spc="-5">
                <a:latin typeface="Arial"/>
                <a:cs typeface="Arial"/>
              </a:rPr>
              <a:t>a  hadith the prophet said that the mosque of Madina </a:t>
            </a:r>
            <a:r>
              <a:rPr dirty="0" sz="1200" spc="-10">
                <a:latin typeface="Arial"/>
                <a:cs typeface="Arial"/>
              </a:rPr>
              <a:t>was </a:t>
            </a:r>
            <a:r>
              <a:rPr dirty="0" sz="1200" spc="-5">
                <a:latin typeface="Arial"/>
                <a:cs typeface="Arial"/>
              </a:rPr>
              <a:t>his home, his place of worship and  his eternal resting place. </a:t>
            </a:r>
            <a:r>
              <a:rPr dirty="0" sz="1200">
                <a:latin typeface="Arial"/>
                <a:cs typeface="Arial"/>
              </a:rPr>
              <a:t>There </a:t>
            </a:r>
            <a:r>
              <a:rPr dirty="0" sz="1200" spc="-5">
                <a:latin typeface="Arial"/>
                <a:cs typeface="Arial"/>
              </a:rPr>
              <a:t>were 2 apartments </a:t>
            </a:r>
            <a:r>
              <a:rPr dirty="0" sz="1200">
                <a:latin typeface="Arial"/>
                <a:cs typeface="Arial"/>
              </a:rPr>
              <a:t>– </a:t>
            </a:r>
            <a:r>
              <a:rPr dirty="0" sz="1200" spc="-5">
                <a:latin typeface="Arial"/>
                <a:cs typeface="Arial"/>
              </a:rPr>
              <a:t>one </a:t>
            </a:r>
            <a:r>
              <a:rPr dirty="0" sz="1200">
                <a:latin typeface="Arial"/>
                <a:cs typeface="Arial"/>
              </a:rPr>
              <a:t>for </a:t>
            </a:r>
            <a:r>
              <a:rPr dirty="0" sz="1200" spc="-5">
                <a:latin typeface="Arial"/>
                <a:cs typeface="Arial"/>
              </a:rPr>
              <a:t>Sawdah and one </a:t>
            </a:r>
            <a:r>
              <a:rPr dirty="0" sz="1200">
                <a:latin typeface="Arial"/>
                <a:cs typeface="Arial"/>
              </a:rPr>
              <a:t>for </a:t>
            </a:r>
            <a:r>
              <a:rPr dirty="0" sz="1200" spc="-5">
                <a:latin typeface="Arial"/>
                <a:cs typeface="Arial"/>
              </a:rPr>
              <a:t>Aisha.  Swalaat </a:t>
            </a:r>
            <a:r>
              <a:rPr dirty="0" sz="1200" spc="-10">
                <a:latin typeface="Arial"/>
                <a:cs typeface="Arial"/>
              </a:rPr>
              <a:t>was </a:t>
            </a:r>
            <a:r>
              <a:rPr dirty="0" sz="1200" spc="-5">
                <a:latin typeface="Arial"/>
                <a:cs typeface="Arial"/>
              </a:rPr>
              <a:t>done facing Jerusalem. Adhan (call </a:t>
            </a:r>
            <a:r>
              <a:rPr dirty="0" sz="1200">
                <a:latin typeface="Arial"/>
                <a:cs typeface="Arial"/>
              </a:rPr>
              <a:t>for </a:t>
            </a:r>
            <a:r>
              <a:rPr dirty="0" sz="1200" spc="-5">
                <a:latin typeface="Arial"/>
                <a:cs typeface="Arial"/>
              </a:rPr>
              <a:t>prayer) </a:t>
            </a:r>
            <a:r>
              <a:rPr dirty="0" sz="1200" spc="-10">
                <a:latin typeface="Arial"/>
                <a:cs typeface="Arial"/>
              </a:rPr>
              <a:t>was </a:t>
            </a:r>
            <a:r>
              <a:rPr dirty="0" sz="1200">
                <a:latin typeface="Arial"/>
                <a:cs typeface="Arial"/>
              </a:rPr>
              <a:t>instituted. The </a:t>
            </a:r>
            <a:r>
              <a:rPr dirty="0" sz="1200" spc="-5">
                <a:latin typeface="Arial"/>
                <a:cs typeface="Arial"/>
              </a:rPr>
              <a:t>mosque of  </a:t>
            </a:r>
            <a:r>
              <a:rPr dirty="0" sz="1200">
                <a:latin typeface="Arial"/>
                <a:cs typeface="Arial"/>
              </a:rPr>
              <a:t>the </a:t>
            </a:r>
            <a:r>
              <a:rPr dirty="0" sz="1200" spc="-5">
                <a:latin typeface="Arial"/>
                <a:cs typeface="Arial"/>
              </a:rPr>
              <a:t>prophet </a:t>
            </a:r>
            <a:r>
              <a:rPr dirty="0" sz="1200" spc="-10">
                <a:latin typeface="Arial"/>
                <a:cs typeface="Arial"/>
              </a:rPr>
              <a:t>was </a:t>
            </a:r>
            <a:r>
              <a:rPr dirty="0" sz="1200" spc="-5">
                <a:latin typeface="Arial"/>
                <a:cs typeface="Arial"/>
              </a:rPr>
              <a:t>a focal point and </a:t>
            </a:r>
            <a:r>
              <a:rPr dirty="0" sz="1200" spc="-10">
                <a:latin typeface="Arial"/>
                <a:cs typeface="Arial"/>
              </a:rPr>
              <a:t>was </a:t>
            </a:r>
            <a:r>
              <a:rPr dirty="0" sz="1200" spc="-5">
                <a:latin typeface="Arial"/>
                <a:cs typeface="Arial"/>
              </a:rPr>
              <a:t>used </a:t>
            </a:r>
            <a:r>
              <a:rPr dirty="0" sz="1200">
                <a:latin typeface="Arial"/>
                <a:cs typeface="Arial"/>
              </a:rPr>
              <a:t>for </a:t>
            </a:r>
            <a:r>
              <a:rPr dirty="0" sz="1200" spc="-5">
                <a:latin typeface="Arial"/>
                <a:cs typeface="Arial"/>
              </a:rPr>
              <a:t>different purposes such as </a:t>
            </a:r>
            <a:r>
              <a:rPr dirty="0" sz="1200">
                <a:latin typeface="Arial"/>
                <a:cs typeface="Arial"/>
              </a:rPr>
              <a:t>for </a:t>
            </a:r>
            <a:r>
              <a:rPr dirty="0" sz="1200" spc="-5">
                <a:latin typeface="Arial"/>
                <a:cs typeface="Arial"/>
              </a:rPr>
              <a:t>prayer,  Da‘wah, </a:t>
            </a:r>
            <a:r>
              <a:rPr dirty="0" sz="1200">
                <a:latin typeface="Arial"/>
                <a:cs typeface="Arial"/>
              </a:rPr>
              <a:t>teaching </a:t>
            </a:r>
            <a:r>
              <a:rPr dirty="0" sz="1200" spc="-5">
                <a:latin typeface="Arial"/>
                <a:cs typeface="Arial"/>
              </a:rPr>
              <a:t>and learning, shelter </a:t>
            </a:r>
            <a:r>
              <a:rPr dirty="0" sz="1200">
                <a:latin typeface="Arial"/>
                <a:cs typeface="Arial"/>
              </a:rPr>
              <a:t>for </a:t>
            </a:r>
            <a:r>
              <a:rPr dirty="0" sz="1200" spc="-5">
                <a:latin typeface="Arial"/>
                <a:cs typeface="Arial"/>
              </a:rPr>
              <a:t>the poor, resting place </a:t>
            </a:r>
            <a:r>
              <a:rPr dirty="0" sz="1200">
                <a:latin typeface="Arial"/>
                <a:cs typeface="Arial"/>
              </a:rPr>
              <a:t>for </a:t>
            </a:r>
            <a:r>
              <a:rPr dirty="0" sz="1200" spc="-5">
                <a:latin typeface="Arial"/>
                <a:cs typeface="Arial"/>
              </a:rPr>
              <a:t>travellers, educational  and spiritual place </a:t>
            </a:r>
            <a:r>
              <a:rPr dirty="0" sz="1200">
                <a:latin typeface="Arial"/>
                <a:cs typeface="Arial"/>
              </a:rPr>
              <a:t>for the </a:t>
            </a:r>
            <a:r>
              <a:rPr dirty="0" sz="1200" spc="-5">
                <a:latin typeface="Arial"/>
                <a:cs typeface="Arial"/>
              </a:rPr>
              <a:t>Ashabus Suffah, a blessings in a community, a sign of Islamic  </a:t>
            </a:r>
            <a:r>
              <a:rPr dirty="0" sz="1200">
                <a:latin typeface="Arial"/>
                <a:cs typeface="Arial"/>
              </a:rPr>
              <a:t>Culture </a:t>
            </a:r>
            <a:r>
              <a:rPr dirty="0" sz="1200" spc="-5">
                <a:latin typeface="Arial"/>
                <a:cs typeface="Arial"/>
              </a:rPr>
              <a:t>and Architecture, a perfection of spirituality </a:t>
            </a:r>
            <a:r>
              <a:rPr dirty="0" sz="1200">
                <a:latin typeface="Arial"/>
                <a:cs typeface="Arial"/>
              </a:rPr>
              <a:t>and </a:t>
            </a:r>
            <a:r>
              <a:rPr dirty="0" sz="1200" spc="-5">
                <a:latin typeface="Arial"/>
                <a:cs typeface="Arial"/>
              </a:rPr>
              <a:t>a peaceful place </a:t>
            </a:r>
            <a:r>
              <a:rPr dirty="0" sz="1200">
                <a:latin typeface="Arial"/>
                <a:cs typeface="Arial"/>
              </a:rPr>
              <a:t>for</a:t>
            </a:r>
            <a:r>
              <a:rPr dirty="0" sz="1200" spc="105">
                <a:latin typeface="Arial"/>
                <a:cs typeface="Arial"/>
              </a:rPr>
              <a:t> </a:t>
            </a:r>
            <a:r>
              <a:rPr dirty="0" sz="1200" spc="-5">
                <a:latin typeface="Arial"/>
                <a:cs typeface="Arial"/>
              </a:rPr>
              <a:t>meditation</a:t>
            </a:r>
            <a:endParaRPr sz="1200">
              <a:latin typeface="Arial"/>
              <a:cs typeface="Arial"/>
            </a:endParaRPr>
          </a:p>
          <a:p>
            <a:pPr>
              <a:lnSpc>
                <a:spcPct val="100000"/>
              </a:lnSpc>
              <a:spcBef>
                <a:spcPts val="35"/>
              </a:spcBef>
            </a:pPr>
            <a:endParaRPr sz="1200">
              <a:latin typeface="Arial"/>
              <a:cs typeface="Arial"/>
            </a:endParaRPr>
          </a:p>
          <a:p>
            <a:pPr algn="just" marL="88900" marR="52069">
              <a:lnSpc>
                <a:spcPts val="1380"/>
              </a:lnSpc>
              <a:spcBef>
                <a:spcPts val="5"/>
              </a:spcBef>
            </a:pPr>
            <a:r>
              <a:rPr dirty="0" sz="1200" spc="-5">
                <a:latin typeface="Arial"/>
                <a:cs typeface="Arial"/>
              </a:rPr>
              <a:t>There </a:t>
            </a:r>
            <a:r>
              <a:rPr dirty="0" sz="1200" spc="-10">
                <a:latin typeface="Arial"/>
                <a:cs typeface="Arial"/>
              </a:rPr>
              <a:t>was </a:t>
            </a:r>
            <a:r>
              <a:rPr dirty="0" sz="1200">
                <a:latin typeface="Arial"/>
                <a:cs typeface="Arial"/>
              </a:rPr>
              <a:t>the </a:t>
            </a:r>
            <a:r>
              <a:rPr dirty="0" sz="1200" spc="-5">
                <a:latin typeface="Arial"/>
                <a:cs typeface="Arial"/>
              </a:rPr>
              <a:t>creation of brotherhood </a:t>
            </a:r>
            <a:r>
              <a:rPr dirty="0" sz="1200" spc="-10">
                <a:latin typeface="Arial"/>
                <a:cs typeface="Arial"/>
              </a:rPr>
              <a:t>between </a:t>
            </a:r>
            <a:r>
              <a:rPr dirty="0" sz="1200">
                <a:latin typeface="Arial"/>
                <a:cs typeface="Arial"/>
              </a:rPr>
              <a:t>the </a:t>
            </a:r>
            <a:r>
              <a:rPr dirty="0" sz="1200" spc="-5">
                <a:latin typeface="Arial"/>
                <a:cs typeface="Arial"/>
              </a:rPr>
              <a:t>Ansar (helpers of Madina) and </a:t>
            </a:r>
            <a:r>
              <a:rPr dirty="0" sz="1200">
                <a:latin typeface="Arial"/>
                <a:cs typeface="Arial"/>
              </a:rPr>
              <a:t>the  </a:t>
            </a:r>
            <a:r>
              <a:rPr dirty="0" sz="1200" spc="-5">
                <a:latin typeface="Arial"/>
                <a:cs typeface="Arial"/>
              </a:rPr>
              <a:t>Muhajiroun (emigrants of Macca). The emigrants came without their wealth. </a:t>
            </a:r>
            <a:r>
              <a:rPr dirty="0" sz="1200">
                <a:latin typeface="Arial"/>
                <a:cs typeface="Arial"/>
              </a:rPr>
              <a:t>They </a:t>
            </a:r>
            <a:r>
              <a:rPr dirty="0" sz="1200" spc="-5">
                <a:latin typeface="Arial"/>
                <a:cs typeface="Arial"/>
              </a:rPr>
              <a:t>left  everything behind and settled </a:t>
            </a:r>
            <a:r>
              <a:rPr dirty="0" sz="1200">
                <a:latin typeface="Arial"/>
                <a:cs typeface="Arial"/>
              </a:rPr>
              <a:t>to </a:t>
            </a:r>
            <a:r>
              <a:rPr dirty="0" sz="1200" spc="-5">
                <a:latin typeface="Arial"/>
                <a:cs typeface="Arial"/>
              </a:rPr>
              <a:t>Madina. The prophet (s.a.w) created </a:t>
            </a:r>
            <a:r>
              <a:rPr dirty="0" sz="1200" spc="5">
                <a:latin typeface="Arial"/>
                <a:cs typeface="Arial"/>
              </a:rPr>
              <a:t>such </a:t>
            </a:r>
            <a:r>
              <a:rPr dirty="0" sz="1200" spc="-5">
                <a:latin typeface="Arial"/>
                <a:cs typeface="Arial"/>
              </a:rPr>
              <a:t>love in between  them </a:t>
            </a:r>
            <a:r>
              <a:rPr dirty="0" sz="1200">
                <a:latin typeface="Arial"/>
                <a:cs typeface="Arial"/>
              </a:rPr>
              <a:t>that </a:t>
            </a:r>
            <a:r>
              <a:rPr dirty="0" sz="1200" spc="-5">
                <a:latin typeface="Arial"/>
                <a:cs typeface="Arial"/>
              </a:rPr>
              <a:t>whatever </a:t>
            </a:r>
            <a:r>
              <a:rPr dirty="0" sz="1200">
                <a:latin typeface="Arial"/>
                <a:cs typeface="Arial"/>
              </a:rPr>
              <a:t>they </a:t>
            </a:r>
            <a:r>
              <a:rPr dirty="0" sz="1200" spc="-5">
                <a:latin typeface="Arial"/>
                <a:cs typeface="Arial"/>
              </a:rPr>
              <a:t>had </a:t>
            </a:r>
            <a:r>
              <a:rPr dirty="0" sz="1200">
                <a:latin typeface="Arial"/>
                <a:cs typeface="Arial"/>
              </a:rPr>
              <a:t>they </a:t>
            </a:r>
            <a:r>
              <a:rPr dirty="0" sz="1200" spc="-5">
                <a:latin typeface="Arial"/>
                <a:cs typeface="Arial"/>
              </a:rPr>
              <a:t>would share. 1 ansar </a:t>
            </a:r>
            <a:r>
              <a:rPr dirty="0" sz="1200" spc="-10">
                <a:latin typeface="Arial"/>
                <a:cs typeface="Arial"/>
              </a:rPr>
              <a:t>was </a:t>
            </a:r>
            <a:r>
              <a:rPr dirty="0" sz="1200" spc="-5">
                <a:latin typeface="Arial"/>
                <a:cs typeface="Arial"/>
              </a:rPr>
              <a:t>supposed </a:t>
            </a:r>
            <a:r>
              <a:rPr dirty="0" sz="1200">
                <a:latin typeface="Arial"/>
                <a:cs typeface="Arial"/>
              </a:rPr>
              <a:t>to </a:t>
            </a:r>
            <a:r>
              <a:rPr dirty="0" sz="1200" spc="-5">
                <a:latin typeface="Arial"/>
                <a:cs typeface="Arial"/>
              </a:rPr>
              <a:t>take the  responsibility of 1</a:t>
            </a:r>
            <a:r>
              <a:rPr dirty="0" sz="1200" spc="5">
                <a:latin typeface="Arial"/>
                <a:cs typeface="Arial"/>
              </a:rPr>
              <a:t> </a:t>
            </a:r>
            <a:r>
              <a:rPr dirty="0" sz="1200" spc="-5">
                <a:latin typeface="Arial"/>
                <a:cs typeface="Arial"/>
              </a:rPr>
              <a:t>muhajiroun.</a:t>
            </a:r>
            <a:endParaRPr sz="1200">
              <a:latin typeface="Arial"/>
              <a:cs typeface="Arial"/>
            </a:endParaRPr>
          </a:p>
          <a:p>
            <a:pPr>
              <a:lnSpc>
                <a:spcPct val="100000"/>
              </a:lnSpc>
              <a:spcBef>
                <a:spcPts val="55"/>
              </a:spcBef>
            </a:pPr>
            <a:endParaRPr sz="1150">
              <a:latin typeface="Arial"/>
              <a:cs typeface="Arial"/>
            </a:endParaRPr>
          </a:p>
          <a:p>
            <a:pPr algn="just" marL="88900" marR="55244">
              <a:lnSpc>
                <a:spcPts val="1380"/>
              </a:lnSpc>
            </a:pPr>
            <a:r>
              <a:rPr dirty="0" sz="1200" spc="-5">
                <a:latin typeface="Arial"/>
                <a:cs typeface="Arial"/>
              </a:rPr>
              <a:t>There </a:t>
            </a:r>
            <a:r>
              <a:rPr dirty="0" sz="1200" spc="-10">
                <a:latin typeface="Arial"/>
                <a:cs typeface="Arial"/>
              </a:rPr>
              <a:t>was </a:t>
            </a:r>
            <a:r>
              <a:rPr dirty="0" sz="1200" spc="-5">
                <a:latin typeface="Arial"/>
                <a:cs typeface="Arial"/>
              </a:rPr>
              <a:t>the creation of the bait-ul-Maal meant to help </a:t>
            </a:r>
            <a:r>
              <a:rPr dirty="0" sz="1200">
                <a:latin typeface="Arial"/>
                <a:cs typeface="Arial"/>
              </a:rPr>
              <a:t>the </a:t>
            </a:r>
            <a:r>
              <a:rPr dirty="0" sz="1200" spc="-5">
                <a:latin typeface="Arial"/>
                <a:cs typeface="Arial"/>
              </a:rPr>
              <a:t>people and </a:t>
            </a:r>
            <a:r>
              <a:rPr dirty="0" sz="1200">
                <a:latin typeface="Arial"/>
                <a:cs typeface="Arial"/>
              </a:rPr>
              <a:t>to </a:t>
            </a:r>
            <a:r>
              <a:rPr dirty="0" sz="1200" spc="-5">
                <a:latin typeface="Arial"/>
                <a:cs typeface="Arial"/>
              </a:rPr>
              <a:t>finance the  projects</a:t>
            </a:r>
            <a:r>
              <a:rPr dirty="0" sz="1200" spc="210">
                <a:latin typeface="Arial"/>
                <a:cs typeface="Arial"/>
              </a:rPr>
              <a:t> </a:t>
            </a:r>
            <a:r>
              <a:rPr dirty="0" sz="1200" spc="-5">
                <a:latin typeface="Arial"/>
                <a:cs typeface="Arial"/>
              </a:rPr>
              <a:t>and</a:t>
            </a:r>
            <a:r>
              <a:rPr dirty="0" sz="1200" spc="220">
                <a:latin typeface="Arial"/>
                <a:cs typeface="Arial"/>
              </a:rPr>
              <a:t> </a:t>
            </a:r>
            <a:r>
              <a:rPr dirty="0" sz="1200" spc="-5">
                <a:latin typeface="Arial"/>
                <a:cs typeface="Arial"/>
              </a:rPr>
              <a:t>development</a:t>
            </a:r>
            <a:r>
              <a:rPr dirty="0" sz="1200" spc="225">
                <a:latin typeface="Arial"/>
                <a:cs typeface="Arial"/>
              </a:rPr>
              <a:t> </a:t>
            </a:r>
            <a:r>
              <a:rPr dirty="0" sz="1200" spc="-5">
                <a:latin typeface="Arial"/>
                <a:cs typeface="Arial"/>
              </a:rPr>
              <a:t>of</a:t>
            </a:r>
            <a:r>
              <a:rPr dirty="0" sz="1200" spc="229">
                <a:latin typeface="Arial"/>
                <a:cs typeface="Arial"/>
              </a:rPr>
              <a:t> </a:t>
            </a:r>
            <a:r>
              <a:rPr dirty="0" sz="1200" spc="-5">
                <a:latin typeface="Arial"/>
                <a:cs typeface="Arial"/>
              </a:rPr>
              <a:t>the</a:t>
            </a:r>
            <a:r>
              <a:rPr dirty="0" sz="1200" spc="215">
                <a:latin typeface="Arial"/>
                <a:cs typeface="Arial"/>
              </a:rPr>
              <a:t> </a:t>
            </a:r>
            <a:r>
              <a:rPr dirty="0" sz="1200">
                <a:latin typeface="Arial"/>
                <a:cs typeface="Arial"/>
              </a:rPr>
              <a:t>prophet</a:t>
            </a:r>
            <a:r>
              <a:rPr dirty="0" sz="1200" spc="215">
                <a:latin typeface="Arial"/>
                <a:cs typeface="Arial"/>
              </a:rPr>
              <a:t> </a:t>
            </a:r>
            <a:r>
              <a:rPr dirty="0" sz="1200" spc="-5">
                <a:latin typeface="Arial"/>
                <a:cs typeface="Arial"/>
              </a:rPr>
              <a:t>and</a:t>
            </a:r>
            <a:r>
              <a:rPr dirty="0" sz="1200" spc="225">
                <a:latin typeface="Arial"/>
                <a:cs typeface="Arial"/>
              </a:rPr>
              <a:t> </a:t>
            </a:r>
            <a:r>
              <a:rPr dirty="0" sz="1200" spc="-5">
                <a:latin typeface="Arial"/>
                <a:cs typeface="Arial"/>
              </a:rPr>
              <a:t>the</a:t>
            </a:r>
            <a:r>
              <a:rPr dirty="0" sz="1200" spc="220">
                <a:latin typeface="Arial"/>
                <a:cs typeface="Arial"/>
              </a:rPr>
              <a:t> </a:t>
            </a:r>
            <a:r>
              <a:rPr dirty="0" sz="1200">
                <a:latin typeface="Arial"/>
                <a:cs typeface="Arial"/>
              </a:rPr>
              <a:t>Islamic</a:t>
            </a:r>
            <a:r>
              <a:rPr dirty="0" sz="1200" spc="210">
                <a:latin typeface="Arial"/>
                <a:cs typeface="Arial"/>
              </a:rPr>
              <a:t> </a:t>
            </a:r>
            <a:r>
              <a:rPr dirty="0" sz="1200" spc="-5">
                <a:latin typeface="Arial"/>
                <a:cs typeface="Arial"/>
              </a:rPr>
              <a:t>State.</a:t>
            </a:r>
            <a:r>
              <a:rPr dirty="0" sz="1200" spc="200">
                <a:latin typeface="Arial"/>
                <a:cs typeface="Arial"/>
              </a:rPr>
              <a:t> </a:t>
            </a:r>
            <a:r>
              <a:rPr dirty="0" sz="1200" spc="-5">
                <a:latin typeface="Arial"/>
                <a:cs typeface="Arial"/>
              </a:rPr>
              <a:t>That</a:t>
            </a:r>
            <a:r>
              <a:rPr dirty="0" sz="1200" spc="215">
                <a:latin typeface="Arial"/>
                <a:cs typeface="Arial"/>
              </a:rPr>
              <a:t> </a:t>
            </a:r>
            <a:r>
              <a:rPr dirty="0" sz="1200" spc="-5">
                <a:latin typeface="Arial"/>
                <a:cs typeface="Arial"/>
              </a:rPr>
              <a:t>public</a:t>
            </a:r>
            <a:r>
              <a:rPr dirty="0" sz="1200" spc="220">
                <a:latin typeface="Arial"/>
                <a:cs typeface="Arial"/>
              </a:rPr>
              <a:t> </a:t>
            </a:r>
            <a:r>
              <a:rPr dirty="0" sz="1200" spc="-5">
                <a:latin typeface="Arial"/>
                <a:cs typeface="Arial"/>
              </a:rPr>
              <a:t>treasury</a:t>
            </a:r>
            <a:r>
              <a:rPr dirty="0" sz="1200" spc="210">
                <a:latin typeface="Arial"/>
                <a:cs typeface="Arial"/>
              </a:rPr>
              <a:t> </a:t>
            </a:r>
            <a:r>
              <a:rPr dirty="0" sz="1200" spc="-10">
                <a:latin typeface="Arial"/>
                <a:cs typeface="Arial"/>
              </a:rPr>
              <a:t>was</a:t>
            </a:r>
            <a:endParaRPr sz="1200">
              <a:latin typeface="Arial"/>
              <a:cs typeface="Arial"/>
            </a:endParaRPr>
          </a:p>
        </p:txBody>
      </p:sp>
      <p:sp>
        <p:nvSpPr>
          <p:cNvPr id="5" name="object 5"/>
          <p:cNvSpPr txBox="1"/>
          <p:nvPr/>
        </p:nvSpPr>
        <p:spPr>
          <a:xfrm>
            <a:off x="718819" y="9576723"/>
            <a:ext cx="3988435" cy="196215"/>
          </a:xfrm>
          <a:prstGeom prst="rect">
            <a:avLst/>
          </a:prstGeom>
        </p:spPr>
        <p:txBody>
          <a:bodyPr wrap="square" lIns="0" tIns="0" rIns="0" bIns="0" rtlCol="0" vert="horz">
            <a:spAutoFit/>
          </a:bodyPr>
          <a:lstStyle/>
          <a:p>
            <a:pPr marL="12700">
              <a:lnSpc>
                <a:spcPts val="1425"/>
              </a:lnSpc>
            </a:pPr>
            <a:r>
              <a:rPr dirty="0" sz="1200" spc="-5">
                <a:latin typeface="Arial"/>
                <a:cs typeface="Arial"/>
              </a:rPr>
              <a:t>funded by zakaat, sadaqa, al fay, ushr and voluntarily</a:t>
            </a:r>
            <a:r>
              <a:rPr dirty="0" sz="1200" spc="45">
                <a:latin typeface="Arial"/>
                <a:cs typeface="Arial"/>
              </a:rPr>
              <a:t> </a:t>
            </a:r>
            <a:r>
              <a:rPr dirty="0" sz="1200">
                <a:latin typeface="Arial"/>
                <a:cs typeface="Arial"/>
              </a:rPr>
              <a:t>gifts.</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15</a:t>
            </a:r>
            <a:endParaRPr sz="120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p:nvPr/>
        </p:nvSpPr>
        <p:spPr>
          <a:xfrm>
            <a:off x="547116" y="3786251"/>
            <a:ext cx="1242695" cy="15240"/>
          </a:xfrm>
          <a:custGeom>
            <a:avLst/>
            <a:gdLst/>
            <a:ahLst/>
            <a:cxnLst/>
            <a:rect l="l" t="t" r="r" b="b"/>
            <a:pathLst>
              <a:path w="1242695" h="15239">
                <a:moveTo>
                  <a:pt x="1242364" y="0"/>
                </a:moveTo>
                <a:lnTo>
                  <a:pt x="0" y="0"/>
                </a:lnTo>
                <a:lnTo>
                  <a:pt x="0" y="15240"/>
                </a:lnTo>
                <a:lnTo>
                  <a:pt x="1242364" y="15240"/>
                </a:lnTo>
                <a:lnTo>
                  <a:pt x="1242364" y="0"/>
                </a:lnTo>
                <a:close/>
              </a:path>
            </a:pathLst>
          </a:custGeom>
          <a:solidFill>
            <a:srgbClr val="000000"/>
          </a:solidFill>
        </p:spPr>
        <p:txBody>
          <a:bodyPr wrap="square" lIns="0" tIns="0" rIns="0" bIns="0" rtlCol="0"/>
          <a:lstStyle/>
          <a:p/>
        </p:txBody>
      </p:sp>
      <p:sp>
        <p:nvSpPr>
          <p:cNvPr id="6" name="object 6"/>
          <p:cNvSpPr txBox="1"/>
          <p:nvPr/>
        </p:nvSpPr>
        <p:spPr>
          <a:xfrm>
            <a:off x="394715" y="975105"/>
            <a:ext cx="6590665" cy="8796020"/>
          </a:xfrm>
          <a:prstGeom prst="rect">
            <a:avLst/>
          </a:prstGeom>
        </p:spPr>
        <p:txBody>
          <a:bodyPr wrap="square" lIns="0" tIns="24765" rIns="0" bIns="0" rtlCol="0" vert="horz">
            <a:spAutoFit/>
          </a:bodyPr>
          <a:lstStyle/>
          <a:p>
            <a:pPr algn="just" marL="152400" marR="146685">
              <a:lnSpc>
                <a:spcPts val="1380"/>
              </a:lnSpc>
              <a:spcBef>
                <a:spcPts val="195"/>
              </a:spcBef>
            </a:pPr>
            <a:r>
              <a:rPr dirty="0" sz="1200" spc="-5">
                <a:latin typeface="Arial"/>
                <a:cs typeface="Arial"/>
              </a:rPr>
              <a:t>There </a:t>
            </a:r>
            <a:r>
              <a:rPr dirty="0" sz="1200" spc="-10">
                <a:latin typeface="Arial"/>
                <a:cs typeface="Arial"/>
              </a:rPr>
              <a:t>was </a:t>
            </a:r>
            <a:r>
              <a:rPr dirty="0" sz="1200" spc="-5">
                <a:latin typeface="Arial"/>
                <a:cs typeface="Arial"/>
              </a:rPr>
              <a:t>a </a:t>
            </a:r>
            <a:r>
              <a:rPr dirty="0" sz="1200">
                <a:latin typeface="Arial"/>
                <a:cs typeface="Arial"/>
              </a:rPr>
              <a:t>pact </a:t>
            </a:r>
            <a:r>
              <a:rPr dirty="0" sz="1200" spc="-5">
                <a:latin typeface="Arial"/>
                <a:cs typeface="Arial"/>
              </a:rPr>
              <a:t>and </a:t>
            </a:r>
            <a:r>
              <a:rPr dirty="0" sz="1200">
                <a:latin typeface="Arial"/>
                <a:cs typeface="Arial"/>
              </a:rPr>
              <a:t>treaty </a:t>
            </a:r>
            <a:r>
              <a:rPr dirty="0" sz="1200" spc="-5">
                <a:latin typeface="Arial"/>
                <a:cs typeface="Arial"/>
              </a:rPr>
              <a:t>between </a:t>
            </a:r>
            <a:r>
              <a:rPr dirty="0" sz="1200">
                <a:latin typeface="Arial"/>
                <a:cs typeface="Arial"/>
              </a:rPr>
              <a:t>the </a:t>
            </a:r>
            <a:r>
              <a:rPr dirty="0" sz="1200" spc="-5">
                <a:latin typeface="Arial"/>
                <a:cs typeface="Arial"/>
              </a:rPr>
              <a:t>Muslims and the Jews. </a:t>
            </a:r>
            <a:r>
              <a:rPr dirty="0" sz="1200">
                <a:latin typeface="Arial"/>
                <a:cs typeface="Arial"/>
              </a:rPr>
              <a:t>The </a:t>
            </a:r>
            <a:r>
              <a:rPr dirty="0" sz="1200" spc="-5">
                <a:latin typeface="Arial"/>
                <a:cs typeface="Arial"/>
              </a:rPr>
              <a:t>prophet (s.a.w) </a:t>
            </a:r>
            <a:r>
              <a:rPr dirty="0" sz="1200">
                <a:latin typeface="Arial"/>
                <a:cs typeface="Arial"/>
              </a:rPr>
              <a:t>settled  the fight </a:t>
            </a:r>
            <a:r>
              <a:rPr dirty="0" sz="1200" spc="-5">
                <a:latin typeface="Arial"/>
                <a:cs typeface="Arial"/>
              </a:rPr>
              <a:t>between the </a:t>
            </a:r>
            <a:r>
              <a:rPr dirty="0" sz="1200" spc="-10">
                <a:latin typeface="Arial"/>
                <a:cs typeface="Arial"/>
              </a:rPr>
              <a:t>Aws </a:t>
            </a:r>
            <a:r>
              <a:rPr dirty="0" sz="1200" spc="-5">
                <a:latin typeface="Arial"/>
                <a:cs typeface="Arial"/>
              </a:rPr>
              <a:t>and </a:t>
            </a:r>
            <a:r>
              <a:rPr dirty="0" sz="1200">
                <a:latin typeface="Arial"/>
                <a:cs typeface="Arial"/>
              </a:rPr>
              <a:t>the </a:t>
            </a:r>
            <a:r>
              <a:rPr dirty="0" sz="1200" spc="-5">
                <a:latin typeface="Arial"/>
                <a:cs typeface="Arial"/>
              </a:rPr>
              <a:t>Khazraj in order </a:t>
            </a:r>
            <a:r>
              <a:rPr dirty="0" sz="1200">
                <a:latin typeface="Arial"/>
                <a:cs typeface="Arial"/>
              </a:rPr>
              <a:t>to </a:t>
            </a:r>
            <a:r>
              <a:rPr dirty="0" sz="1200" spc="-5">
                <a:latin typeface="Arial"/>
                <a:cs typeface="Arial"/>
              </a:rPr>
              <a:t>bring </a:t>
            </a:r>
            <a:r>
              <a:rPr dirty="0" sz="1200">
                <a:latin typeface="Arial"/>
                <a:cs typeface="Arial"/>
              </a:rPr>
              <a:t>the </a:t>
            </a:r>
            <a:r>
              <a:rPr dirty="0" sz="1200" spc="-5">
                <a:latin typeface="Arial"/>
                <a:cs typeface="Arial"/>
              </a:rPr>
              <a:t>Community as a whole. </a:t>
            </a:r>
            <a:r>
              <a:rPr dirty="0" sz="1200">
                <a:latin typeface="Arial"/>
                <a:cs typeface="Arial"/>
              </a:rPr>
              <a:t>They  </a:t>
            </a:r>
            <a:r>
              <a:rPr dirty="0" sz="1200" spc="-5">
                <a:latin typeface="Arial"/>
                <a:cs typeface="Arial"/>
              </a:rPr>
              <a:t>should </a:t>
            </a:r>
            <a:r>
              <a:rPr dirty="0" sz="1200" spc="-10">
                <a:latin typeface="Arial"/>
                <a:cs typeface="Arial"/>
              </a:rPr>
              <a:t>be </a:t>
            </a:r>
            <a:r>
              <a:rPr dirty="0" sz="1200" spc="-5">
                <a:latin typeface="Arial"/>
                <a:cs typeface="Arial"/>
              </a:rPr>
              <a:t>responsible and eligible </a:t>
            </a:r>
            <a:r>
              <a:rPr dirty="0" sz="1200">
                <a:latin typeface="Arial"/>
                <a:cs typeface="Arial"/>
              </a:rPr>
              <a:t>to </a:t>
            </a:r>
            <a:r>
              <a:rPr dirty="0" sz="1200" spc="-5">
                <a:latin typeface="Arial"/>
                <a:cs typeface="Arial"/>
              </a:rPr>
              <a:t>freedom. He </a:t>
            </a:r>
            <a:r>
              <a:rPr dirty="0" sz="1200">
                <a:latin typeface="Arial"/>
                <a:cs typeface="Arial"/>
              </a:rPr>
              <a:t>acted </a:t>
            </a:r>
            <a:r>
              <a:rPr dirty="0" sz="1200" spc="-5">
                <a:latin typeface="Arial"/>
                <a:cs typeface="Arial"/>
              </a:rPr>
              <a:t>as </a:t>
            </a:r>
            <a:r>
              <a:rPr dirty="0" sz="1200" spc="-10">
                <a:latin typeface="Arial"/>
                <a:cs typeface="Arial"/>
              </a:rPr>
              <a:t>an </a:t>
            </a:r>
            <a:r>
              <a:rPr dirty="0" sz="1200" spc="-5">
                <a:latin typeface="Arial"/>
                <a:cs typeface="Arial"/>
              </a:rPr>
              <a:t>arbitrator. </a:t>
            </a:r>
            <a:r>
              <a:rPr dirty="0" sz="1200">
                <a:latin typeface="Arial"/>
                <a:cs typeface="Arial"/>
              </a:rPr>
              <a:t>The </a:t>
            </a:r>
            <a:r>
              <a:rPr dirty="0" sz="1200" spc="-5">
                <a:latin typeface="Arial"/>
                <a:cs typeface="Arial"/>
              </a:rPr>
              <a:t>people wanted  a leader.</a:t>
            </a:r>
            <a:endParaRPr sz="1200">
              <a:latin typeface="Arial"/>
              <a:cs typeface="Arial"/>
            </a:endParaRPr>
          </a:p>
          <a:p>
            <a:pPr>
              <a:lnSpc>
                <a:spcPct val="100000"/>
              </a:lnSpc>
            </a:pPr>
            <a:endParaRPr sz="1200">
              <a:latin typeface="Arial"/>
              <a:cs typeface="Arial"/>
            </a:endParaRPr>
          </a:p>
          <a:p>
            <a:pPr algn="just" marL="152400" marR="144780">
              <a:lnSpc>
                <a:spcPts val="1380"/>
              </a:lnSpc>
            </a:pPr>
            <a:r>
              <a:rPr dirty="0" sz="1200" spc="-5">
                <a:latin typeface="Arial"/>
                <a:cs typeface="Arial"/>
              </a:rPr>
              <a:t>There </a:t>
            </a:r>
            <a:r>
              <a:rPr dirty="0" sz="1200" spc="-10">
                <a:latin typeface="Arial"/>
                <a:cs typeface="Arial"/>
              </a:rPr>
              <a:t>was </a:t>
            </a:r>
            <a:r>
              <a:rPr dirty="0" sz="1200">
                <a:latin typeface="Arial"/>
                <a:cs typeface="Arial"/>
              </a:rPr>
              <a:t>the </a:t>
            </a:r>
            <a:r>
              <a:rPr dirty="0" sz="1200" spc="-5">
                <a:latin typeface="Arial"/>
                <a:cs typeface="Arial"/>
              </a:rPr>
              <a:t>creation of </a:t>
            </a:r>
            <a:r>
              <a:rPr dirty="0" sz="1200">
                <a:latin typeface="Arial"/>
                <a:cs typeface="Arial"/>
              </a:rPr>
              <a:t>the </a:t>
            </a:r>
            <a:r>
              <a:rPr dirty="0" sz="1200" spc="-5">
                <a:latin typeface="Arial"/>
                <a:cs typeface="Arial"/>
              </a:rPr>
              <a:t>Constitution of Madina. There should not be </a:t>
            </a:r>
            <a:r>
              <a:rPr dirty="0" sz="1200" spc="-10">
                <a:latin typeface="Arial"/>
                <a:cs typeface="Arial"/>
              </a:rPr>
              <a:t>war </a:t>
            </a:r>
            <a:r>
              <a:rPr dirty="0" sz="1200" spc="-5">
                <a:latin typeface="Arial"/>
                <a:cs typeface="Arial"/>
              </a:rPr>
              <a:t>and </a:t>
            </a:r>
            <a:r>
              <a:rPr dirty="0" sz="1200">
                <a:latin typeface="Arial"/>
                <a:cs typeface="Arial"/>
              </a:rPr>
              <a:t>sins. </a:t>
            </a:r>
            <a:r>
              <a:rPr dirty="0" sz="1200" spc="-5">
                <a:latin typeface="Arial"/>
                <a:cs typeface="Arial"/>
              </a:rPr>
              <a:t>All  should defend </a:t>
            </a:r>
            <a:r>
              <a:rPr dirty="0" sz="1200">
                <a:latin typeface="Arial"/>
                <a:cs typeface="Arial"/>
              </a:rPr>
              <a:t>the </a:t>
            </a:r>
            <a:r>
              <a:rPr dirty="0" sz="1200" spc="-5">
                <a:latin typeface="Arial"/>
                <a:cs typeface="Arial"/>
              </a:rPr>
              <a:t>city. The prophet </a:t>
            </a:r>
            <a:r>
              <a:rPr dirty="0" sz="1200" spc="-10">
                <a:latin typeface="Arial"/>
                <a:cs typeface="Arial"/>
              </a:rPr>
              <a:t>should </a:t>
            </a:r>
            <a:r>
              <a:rPr dirty="0" sz="1200" spc="-5">
                <a:latin typeface="Arial"/>
                <a:cs typeface="Arial"/>
              </a:rPr>
              <a:t>protect all signing </a:t>
            </a:r>
            <a:r>
              <a:rPr dirty="0" sz="1200">
                <a:latin typeface="Arial"/>
                <a:cs typeface="Arial"/>
              </a:rPr>
              <a:t>parties. </a:t>
            </a:r>
            <a:r>
              <a:rPr dirty="0" sz="1200" spc="-5">
                <a:latin typeface="Arial"/>
                <a:cs typeface="Arial"/>
              </a:rPr>
              <a:t>He </a:t>
            </a:r>
            <a:r>
              <a:rPr dirty="0" sz="1200" spc="-10">
                <a:latin typeface="Arial"/>
                <a:cs typeface="Arial"/>
              </a:rPr>
              <a:t>was </a:t>
            </a:r>
            <a:r>
              <a:rPr dirty="0" sz="1200">
                <a:latin typeface="Arial"/>
                <a:cs typeface="Arial"/>
              </a:rPr>
              <a:t>considered </a:t>
            </a:r>
            <a:r>
              <a:rPr dirty="0" sz="1200" spc="-5">
                <a:latin typeface="Arial"/>
                <a:cs typeface="Arial"/>
              </a:rPr>
              <a:t>as  </a:t>
            </a:r>
            <a:r>
              <a:rPr dirty="0" sz="1200">
                <a:latin typeface="Arial"/>
                <a:cs typeface="Arial"/>
              </a:rPr>
              <a:t>the </a:t>
            </a:r>
            <a:r>
              <a:rPr dirty="0" sz="1200" spc="-5">
                <a:latin typeface="Arial"/>
                <a:cs typeface="Arial"/>
              </a:rPr>
              <a:t>decision taker and </a:t>
            </a:r>
            <a:r>
              <a:rPr dirty="0" sz="1200">
                <a:latin typeface="Arial"/>
                <a:cs typeface="Arial"/>
              </a:rPr>
              <a:t>maker. The </a:t>
            </a:r>
            <a:r>
              <a:rPr dirty="0" sz="1200" spc="-5">
                <a:latin typeface="Arial"/>
                <a:cs typeface="Arial"/>
              </a:rPr>
              <a:t>name of Yathrib </a:t>
            </a:r>
            <a:r>
              <a:rPr dirty="0" sz="1200" spc="-10">
                <a:latin typeface="Arial"/>
                <a:cs typeface="Arial"/>
              </a:rPr>
              <a:t>was </a:t>
            </a:r>
            <a:r>
              <a:rPr dirty="0" sz="1200" spc="-5">
                <a:latin typeface="Arial"/>
                <a:cs typeface="Arial"/>
              </a:rPr>
              <a:t>changed to </a:t>
            </a:r>
            <a:r>
              <a:rPr dirty="0" sz="1200">
                <a:latin typeface="Arial"/>
                <a:cs typeface="Arial"/>
              </a:rPr>
              <a:t>Madinat-un Nabi </a:t>
            </a:r>
            <a:r>
              <a:rPr dirty="0" sz="1200" spc="-5">
                <a:latin typeface="Arial"/>
                <a:cs typeface="Arial"/>
              </a:rPr>
              <a:t>(s.a.w).  </a:t>
            </a:r>
            <a:r>
              <a:rPr dirty="0" sz="1200">
                <a:latin typeface="Arial"/>
                <a:cs typeface="Arial"/>
              </a:rPr>
              <a:t>It </a:t>
            </a:r>
            <a:r>
              <a:rPr dirty="0" sz="1200" spc="-5">
                <a:latin typeface="Arial"/>
                <a:cs typeface="Arial"/>
              </a:rPr>
              <a:t>was </a:t>
            </a:r>
            <a:r>
              <a:rPr dirty="0" sz="1200">
                <a:latin typeface="Arial"/>
                <a:cs typeface="Arial"/>
              </a:rPr>
              <a:t>the </a:t>
            </a:r>
            <a:r>
              <a:rPr dirty="0" sz="1200" spc="-200">
                <a:latin typeface="Arial"/>
                <a:cs typeface="Arial"/>
              </a:rPr>
              <a:t>―1</a:t>
            </a:r>
            <a:r>
              <a:rPr dirty="0" baseline="38194" sz="1200" spc="-300">
                <a:latin typeface="Arial"/>
                <a:cs typeface="Arial"/>
              </a:rPr>
              <a:t>st </a:t>
            </a:r>
            <a:r>
              <a:rPr dirty="0" sz="1200">
                <a:latin typeface="Arial"/>
                <a:cs typeface="Arial"/>
              </a:rPr>
              <a:t>Written </a:t>
            </a:r>
            <a:r>
              <a:rPr dirty="0" sz="1200" spc="-5">
                <a:latin typeface="Arial"/>
                <a:cs typeface="Arial"/>
              </a:rPr>
              <a:t>Constitution of </a:t>
            </a:r>
            <a:r>
              <a:rPr dirty="0" sz="1200">
                <a:latin typeface="Arial"/>
                <a:cs typeface="Arial"/>
              </a:rPr>
              <a:t>a </a:t>
            </a:r>
            <a:r>
              <a:rPr dirty="0" sz="1200" spc="-5">
                <a:latin typeface="Arial"/>
                <a:cs typeface="Arial"/>
              </a:rPr>
              <a:t>State in </a:t>
            </a:r>
            <a:r>
              <a:rPr dirty="0" sz="1200" spc="-15">
                <a:latin typeface="Arial"/>
                <a:cs typeface="Arial"/>
              </a:rPr>
              <a:t>History‖. </a:t>
            </a:r>
            <a:r>
              <a:rPr dirty="0" sz="1200">
                <a:latin typeface="Arial"/>
                <a:cs typeface="Arial"/>
              </a:rPr>
              <a:t>It </a:t>
            </a:r>
            <a:r>
              <a:rPr dirty="0" sz="1200" spc="-5">
                <a:latin typeface="Arial"/>
                <a:cs typeface="Arial"/>
              </a:rPr>
              <a:t>was </a:t>
            </a:r>
            <a:r>
              <a:rPr dirty="0" sz="1200">
                <a:latin typeface="Arial"/>
                <a:cs typeface="Arial"/>
              </a:rPr>
              <a:t>the </a:t>
            </a:r>
            <a:r>
              <a:rPr dirty="0" sz="1200" spc="-5">
                <a:latin typeface="Arial"/>
                <a:cs typeface="Arial"/>
              </a:rPr>
              <a:t>Golden</a:t>
            </a:r>
            <a:r>
              <a:rPr dirty="0" sz="1200" spc="10">
                <a:latin typeface="Arial"/>
                <a:cs typeface="Arial"/>
              </a:rPr>
              <a:t> </a:t>
            </a:r>
            <a:r>
              <a:rPr dirty="0" sz="1200" spc="-5">
                <a:latin typeface="Arial"/>
                <a:cs typeface="Arial"/>
              </a:rPr>
              <a:t>Age.</a:t>
            </a:r>
            <a:endParaRPr sz="1200">
              <a:latin typeface="Arial"/>
              <a:cs typeface="Arial"/>
            </a:endParaRPr>
          </a:p>
          <a:p>
            <a:pPr algn="just" marL="152400" marR="151130">
              <a:lnSpc>
                <a:spcPct val="95900"/>
              </a:lnSpc>
              <a:spcBef>
                <a:spcPts val="1345"/>
              </a:spcBef>
            </a:pPr>
            <a:r>
              <a:rPr dirty="0" sz="1200" spc="-5">
                <a:latin typeface="Arial"/>
                <a:cs typeface="Arial"/>
              </a:rPr>
              <a:t>There were </a:t>
            </a:r>
            <a:r>
              <a:rPr dirty="0" sz="1200">
                <a:latin typeface="Arial"/>
                <a:cs typeface="Arial"/>
              </a:rPr>
              <a:t>the </a:t>
            </a:r>
            <a:r>
              <a:rPr dirty="0" sz="1200" spc="-5">
                <a:latin typeface="Arial"/>
                <a:cs typeface="Arial"/>
              </a:rPr>
              <a:t>Hypocrites led by Abdullah </a:t>
            </a:r>
            <a:r>
              <a:rPr dirty="0" sz="1200" spc="-10">
                <a:latin typeface="Arial"/>
                <a:cs typeface="Arial"/>
              </a:rPr>
              <a:t>bin </a:t>
            </a:r>
            <a:r>
              <a:rPr dirty="0" sz="1200" spc="-5">
                <a:latin typeface="Arial"/>
                <a:cs typeface="Arial"/>
              </a:rPr>
              <a:t>Ubayy and Abdullah </a:t>
            </a:r>
            <a:r>
              <a:rPr dirty="0" sz="1200">
                <a:latin typeface="Arial"/>
                <a:cs typeface="Arial"/>
              </a:rPr>
              <a:t>bin </a:t>
            </a:r>
            <a:r>
              <a:rPr dirty="0" sz="1200" spc="-5">
                <a:latin typeface="Arial"/>
                <a:cs typeface="Arial"/>
              </a:rPr>
              <a:t>Saba. </a:t>
            </a:r>
            <a:r>
              <a:rPr dirty="0" sz="1200">
                <a:latin typeface="Arial"/>
                <a:cs typeface="Arial"/>
              </a:rPr>
              <a:t>They </a:t>
            </a:r>
            <a:r>
              <a:rPr dirty="0" sz="1200" spc="-5">
                <a:latin typeface="Arial"/>
                <a:cs typeface="Arial"/>
              </a:rPr>
              <a:t>accepted  Islam with </a:t>
            </a:r>
            <a:r>
              <a:rPr dirty="0" sz="1200">
                <a:latin typeface="Arial"/>
                <a:cs typeface="Arial"/>
              </a:rPr>
              <a:t>the </a:t>
            </a:r>
            <a:r>
              <a:rPr dirty="0" sz="1200" spc="-5">
                <a:latin typeface="Arial"/>
                <a:cs typeface="Arial"/>
              </a:rPr>
              <a:t>tongue only. They wanted </a:t>
            </a:r>
            <a:r>
              <a:rPr dirty="0" sz="1200">
                <a:latin typeface="Arial"/>
                <a:cs typeface="Arial"/>
              </a:rPr>
              <a:t>to </a:t>
            </a:r>
            <a:r>
              <a:rPr dirty="0" sz="1200" spc="-5">
                <a:latin typeface="Arial"/>
                <a:cs typeface="Arial"/>
              </a:rPr>
              <a:t>know </a:t>
            </a:r>
            <a:r>
              <a:rPr dirty="0" sz="1200">
                <a:latin typeface="Arial"/>
                <a:cs typeface="Arial"/>
              </a:rPr>
              <a:t>the </a:t>
            </a:r>
            <a:r>
              <a:rPr dirty="0" sz="1200" spc="-5">
                <a:latin typeface="Arial"/>
                <a:cs typeface="Arial"/>
              </a:rPr>
              <a:t>plan of Muslims interiorly and destroy  </a:t>
            </a:r>
            <a:r>
              <a:rPr dirty="0" sz="1200">
                <a:latin typeface="Arial"/>
                <a:cs typeface="Arial"/>
              </a:rPr>
              <a:t>the </a:t>
            </a:r>
            <a:r>
              <a:rPr dirty="0" sz="1200" spc="-5">
                <a:latin typeface="Arial"/>
                <a:cs typeface="Arial"/>
              </a:rPr>
              <a:t>religion or at least divide the Muslims. They were termed as Munafiq, Khawarij </a:t>
            </a:r>
            <a:r>
              <a:rPr dirty="0" sz="1200" spc="-10">
                <a:latin typeface="Arial"/>
                <a:cs typeface="Arial"/>
              </a:rPr>
              <a:t>and  </a:t>
            </a:r>
            <a:r>
              <a:rPr dirty="0" sz="1200" spc="-5">
                <a:latin typeface="Arial"/>
                <a:cs typeface="Arial"/>
              </a:rPr>
              <a:t>Khariji. </a:t>
            </a:r>
            <a:r>
              <a:rPr dirty="0" sz="1200">
                <a:latin typeface="Arial"/>
                <a:cs typeface="Arial"/>
              </a:rPr>
              <a:t>They </a:t>
            </a:r>
            <a:r>
              <a:rPr dirty="0" sz="1200" spc="-5">
                <a:latin typeface="Arial"/>
                <a:cs typeface="Arial"/>
              </a:rPr>
              <a:t>cooperated with the Jews against the prophet</a:t>
            </a:r>
            <a:r>
              <a:rPr dirty="0" sz="1200" spc="25">
                <a:latin typeface="Arial"/>
                <a:cs typeface="Arial"/>
              </a:rPr>
              <a:t> </a:t>
            </a:r>
            <a:r>
              <a:rPr dirty="0" sz="1200" spc="-5">
                <a:latin typeface="Arial"/>
                <a:cs typeface="Arial"/>
              </a:rPr>
              <a:t>(s.a.w).</a:t>
            </a:r>
            <a:endParaRPr sz="1200">
              <a:latin typeface="Arial"/>
              <a:cs typeface="Arial"/>
            </a:endParaRPr>
          </a:p>
          <a:p>
            <a:pPr>
              <a:lnSpc>
                <a:spcPct val="100000"/>
              </a:lnSpc>
              <a:spcBef>
                <a:spcPts val="50"/>
              </a:spcBef>
            </a:pPr>
            <a:endParaRPr sz="1100">
              <a:latin typeface="Arial"/>
              <a:cs typeface="Arial"/>
            </a:endParaRPr>
          </a:p>
          <a:p>
            <a:pPr algn="just" marL="152400">
              <a:lnSpc>
                <a:spcPct val="100000"/>
              </a:lnSpc>
              <a:spcBef>
                <a:spcPts val="5"/>
              </a:spcBef>
            </a:pPr>
            <a:r>
              <a:rPr dirty="0" sz="1200" b="1" i="1">
                <a:latin typeface="Arial"/>
                <a:cs typeface="Arial"/>
              </a:rPr>
              <a:t>2</a:t>
            </a:r>
            <a:r>
              <a:rPr dirty="0" baseline="38194" sz="1200" b="1" i="1">
                <a:latin typeface="Arial"/>
                <a:cs typeface="Arial"/>
              </a:rPr>
              <a:t>nd </a:t>
            </a:r>
            <a:r>
              <a:rPr dirty="0" sz="1200" spc="-5" b="1" i="1">
                <a:latin typeface="Arial"/>
                <a:cs typeface="Arial"/>
              </a:rPr>
              <a:t>Year of</a:t>
            </a:r>
            <a:r>
              <a:rPr dirty="0" sz="1200" spc="-110" b="1" i="1">
                <a:latin typeface="Arial"/>
                <a:cs typeface="Arial"/>
              </a:rPr>
              <a:t> </a:t>
            </a:r>
            <a:r>
              <a:rPr dirty="0" sz="1200" spc="-5" b="1" i="1">
                <a:latin typeface="Arial"/>
                <a:cs typeface="Arial"/>
              </a:rPr>
              <a:t>Hijrah</a:t>
            </a:r>
            <a:endParaRPr sz="1200">
              <a:latin typeface="Arial"/>
              <a:cs typeface="Arial"/>
            </a:endParaRPr>
          </a:p>
          <a:p>
            <a:pPr>
              <a:lnSpc>
                <a:spcPct val="100000"/>
              </a:lnSpc>
              <a:spcBef>
                <a:spcPts val="35"/>
              </a:spcBef>
            </a:pPr>
            <a:endParaRPr sz="1200">
              <a:latin typeface="Arial"/>
              <a:cs typeface="Arial"/>
            </a:endParaRPr>
          </a:p>
          <a:p>
            <a:pPr algn="just" marL="152400" marR="144145">
              <a:lnSpc>
                <a:spcPts val="1380"/>
              </a:lnSpc>
            </a:pPr>
            <a:r>
              <a:rPr dirty="0" sz="1200" spc="-5">
                <a:latin typeface="Arial"/>
                <a:cs typeface="Arial"/>
              </a:rPr>
              <a:t>The </a:t>
            </a:r>
            <a:r>
              <a:rPr dirty="0" sz="1200">
                <a:latin typeface="Arial"/>
                <a:cs typeface="Arial"/>
              </a:rPr>
              <a:t>2</a:t>
            </a:r>
            <a:r>
              <a:rPr dirty="0" baseline="38194" sz="1200">
                <a:latin typeface="Arial"/>
                <a:cs typeface="Arial"/>
              </a:rPr>
              <a:t>nd </a:t>
            </a:r>
            <a:r>
              <a:rPr dirty="0" sz="1200" spc="-5">
                <a:latin typeface="Arial"/>
                <a:cs typeface="Arial"/>
              </a:rPr>
              <a:t>year of the prophet at Madina </a:t>
            </a:r>
            <a:r>
              <a:rPr dirty="0" sz="1200" spc="-10">
                <a:latin typeface="Arial"/>
                <a:cs typeface="Arial"/>
              </a:rPr>
              <a:t>was </a:t>
            </a:r>
            <a:r>
              <a:rPr dirty="0" sz="1200" spc="-5">
                <a:latin typeface="Arial"/>
                <a:cs typeface="Arial"/>
              </a:rPr>
              <a:t>marked by several </a:t>
            </a:r>
            <a:r>
              <a:rPr dirty="0" sz="1200">
                <a:latin typeface="Arial"/>
                <a:cs typeface="Arial"/>
              </a:rPr>
              <a:t>events. The first </a:t>
            </a:r>
            <a:r>
              <a:rPr dirty="0" sz="1200" spc="-5">
                <a:latin typeface="Arial"/>
                <a:cs typeface="Arial"/>
              </a:rPr>
              <a:t>one </a:t>
            </a:r>
            <a:r>
              <a:rPr dirty="0" sz="1200" spc="-10">
                <a:latin typeface="Arial"/>
                <a:cs typeface="Arial"/>
              </a:rPr>
              <a:t>was </a:t>
            </a:r>
            <a:r>
              <a:rPr dirty="0" sz="1200" spc="-5">
                <a:latin typeface="Arial"/>
                <a:cs typeface="Arial"/>
              </a:rPr>
              <a:t>the  introduction of </a:t>
            </a:r>
            <a:r>
              <a:rPr dirty="0" sz="1200">
                <a:latin typeface="Arial"/>
                <a:cs typeface="Arial"/>
              </a:rPr>
              <a:t>the </a:t>
            </a:r>
            <a:r>
              <a:rPr dirty="0" sz="1200" spc="-5">
                <a:latin typeface="Arial"/>
                <a:cs typeface="Arial"/>
              </a:rPr>
              <a:t>institution of Fasting. There were different kinds of </a:t>
            </a:r>
            <a:r>
              <a:rPr dirty="0" sz="1200">
                <a:latin typeface="Arial"/>
                <a:cs typeface="Arial"/>
              </a:rPr>
              <a:t>Fasting – </a:t>
            </a:r>
            <a:r>
              <a:rPr dirty="0" sz="1200" spc="-5">
                <a:latin typeface="Arial"/>
                <a:cs typeface="Arial"/>
              </a:rPr>
              <a:t>Farz, </a:t>
            </a:r>
            <a:r>
              <a:rPr dirty="0" sz="1200">
                <a:latin typeface="Arial"/>
                <a:cs typeface="Arial"/>
              </a:rPr>
              <a:t>Wajib,  </a:t>
            </a:r>
            <a:r>
              <a:rPr dirty="0" sz="1200" spc="-5">
                <a:latin typeface="Arial"/>
                <a:cs typeface="Arial"/>
              </a:rPr>
              <a:t>Sunnah and nafil. </a:t>
            </a:r>
            <a:r>
              <a:rPr dirty="0" sz="1200">
                <a:latin typeface="Arial"/>
                <a:cs typeface="Arial"/>
              </a:rPr>
              <a:t>It </a:t>
            </a:r>
            <a:r>
              <a:rPr dirty="0" sz="1200" spc="-10">
                <a:latin typeface="Arial"/>
                <a:cs typeface="Arial"/>
              </a:rPr>
              <a:t>was </a:t>
            </a:r>
            <a:r>
              <a:rPr dirty="0" sz="1200" spc="-5">
                <a:latin typeface="Arial"/>
                <a:cs typeface="Arial"/>
              </a:rPr>
              <a:t>made </a:t>
            </a:r>
            <a:r>
              <a:rPr dirty="0" sz="1200">
                <a:latin typeface="Arial"/>
                <a:cs typeface="Arial"/>
              </a:rPr>
              <a:t>farz </a:t>
            </a:r>
            <a:r>
              <a:rPr dirty="0" sz="1200" spc="-5">
                <a:latin typeface="Arial"/>
                <a:cs typeface="Arial"/>
              </a:rPr>
              <a:t>in the month of</a:t>
            </a:r>
            <a:r>
              <a:rPr dirty="0" sz="1200" spc="5">
                <a:latin typeface="Arial"/>
                <a:cs typeface="Arial"/>
              </a:rPr>
              <a:t> </a:t>
            </a:r>
            <a:r>
              <a:rPr dirty="0" sz="1200" spc="-5">
                <a:latin typeface="Arial"/>
                <a:cs typeface="Arial"/>
              </a:rPr>
              <a:t>Ramadhan.</a:t>
            </a:r>
            <a:endParaRPr sz="1200">
              <a:latin typeface="Arial"/>
              <a:cs typeface="Arial"/>
            </a:endParaRPr>
          </a:p>
          <a:p>
            <a:pPr>
              <a:lnSpc>
                <a:spcPct val="100000"/>
              </a:lnSpc>
            </a:pPr>
            <a:endParaRPr sz="1200">
              <a:latin typeface="Arial"/>
              <a:cs typeface="Arial"/>
            </a:endParaRPr>
          </a:p>
          <a:p>
            <a:pPr algn="just" marL="152400" marR="144145">
              <a:lnSpc>
                <a:spcPts val="1380"/>
              </a:lnSpc>
            </a:pPr>
            <a:r>
              <a:rPr dirty="0" sz="1200" spc="-5">
                <a:latin typeface="Arial"/>
                <a:cs typeface="Arial"/>
              </a:rPr>
              <a:t>The second one </a:t>
            </a:r>
            <a:r>
              <a:rPr dirty="0" sz="1200" spc="-10">
                <a:latin typeface="Arial"/>
                <a:cs typeface="Arial"/>
              </a:rPr>
              <a:t>was </a:t>
            </a:r>
            <a:r>
              <a:rPr dirty="0" sz="1200">
                <a:latin typeface="Arial"/>
                <a:cs typeface="Arial"/>
              </a:rPr>
              <a:t>the </a:t>
            </a:r>
            <a:r>
              <a:rPr dirty="0" sz="1200" spc="-5">
                <a:latin typeface="Arial"/>
                <a:cs typeface="Arial"/>
              </a:rPr>
              <a:t>introduction of Zakaat. </a:t>
            </a:r>
            <a:r>
              <a:rPr dirty="0" sz="1200">
                <a:latin typeface="Arial"/>
                <a:cs typeface="Arial"/>
              </a:rPr>
              <a:t>A </a:t>
            </a:r>
            <a:r>
              <a:rPr dirty="0" sz="1200" spc="-5">
                <a:latin typeface="Arial"/>
                <a:cs typeface="Arial"/>
              </a:rPr>
              <a:t>sum of money </a:t>
            </a:r>
            <a:r>
              <a:rPr dirty="0" sz="1200" spc="-10">
                <a:latin typeface="Arial"/>
                <a:cs typeface="Arial"/>
              </a:rPr>
              <a:t>was </a:t>
            </a:r>
            <a:r>
              <a:rPr dirty="0" sz="1200">
                <a:latin typeface="Arial"/>
                <a:cs typeface="Arial"/>
              </a:rPr>
              <a:t>to </a:t>
            </a:r>
            <a:r>
              <a:rPr dirty="0" sz="1200" spc="-5">
                <a:latin typeface="Arial"/>
                <a:cs typeface="Arial"/>
              </a:rPr>
              <a:t>be </a:t>
            </a:r>
            <a:r>
              <a:rPr dirty="0" sz="1200">
                <a:latin typeface="Arial"/>
                <a:cs typeface="Arial"/>
              </a:rPr>
              <a:t>taken </a:t>
            </a:r>
            <a:r>
              <a:rPr dirty="0" sz="1200" spc="-5">
                <a:latin typeface="Arial"/>
                <a:cs typeface="Arial"/>
              </a:rPr>
              <a:t>from </a:t>
            </a:r>
            <a:r>
              <a:rPr dirty="0" sz="1200">
                <a:latin typeface="Arial"/>
                <a:cs typeface="Arial"/>
              </a:rPr>
              <a:t>the  </a:t>
            </a:r>
            <a:r>
              <a:rPr dirty="0" sz="1200" spc="-5">
                <a:latin typeface="Arial"/>
                <a:cs typeface="Arial"/>
              </a:rPr>
              <a:t>rich </a:t>
            </a:r>
            <a:r>
              <a:rPr dirty="0" sz="1200">
                <a:latin typeface="Arial"/>
                <a:cs typeface="Arial"/>
              </a:rPr>
              <a:t>to </a:t>
            </a:r>
            <a:r>
              <a:rPr dirty="0" sz="1200" spc="-5">
                <a:latin typeface="Arial"/>
                <a:cs typeface="Arial"/>
              </a:rPr>
              <a:t>be </a:t>
            </a:r>
            <a:r>
              <a:rPr dirty="0" sz="1200" spc="-10">
                <a:latin typeface="Arial"/>
                <a:cs typeface="Arial"/>
              </a:rPr>
              <a:t>given </a:t>
            </a:r>
            <a:r>
              <a:rPr dirty="0" sz="1200">
                <a:latin typeface="Arial"/>
                <a:cs typeface="Arial"/>
              </a:rPr>
              <a:t>to </a:t>
            </a:r>
            <a:r>
              <a:rPr dirty="0" sz="1200" spc="-5">
                <a:latin typeface="Arial"/>
                <a:cs typeface="Arial"/>
              </a:rPr>
              <a:t>the poor. It </a:t>
            </a:r>
            <a:r>
              <a:rPr dirty="0" sz="1200" spc="-10">
                <a:latin typeface="Arial"/>
                <a:cs typeface="Arial"/>
              </a:rPr>
              <a:t>was </a:t>
            </a:r>
            <a:r>
              <a:rPr dirty="0" sz="1200" spc="-5">
                <a:latin typeface="Arial"/>
                <a:cs typeface="Arial"/>
              </a:rPr>
              <a:t>meant </a:t>
            </a:r>
            <a:r>
              <a:rPr dirty="0" sz="1200">
                <a:latin typeface="Arial"/>
                <a:cs typeface="Arial"/>
              </a:rPr>
              <a:t>to </a:t>
            </a:r>
            <a:r>
              <a:rPr dirty="0" sz="1200" spc="-5">
                <a:latin typeface="Arial"/>
                <a:cs typeface="Arial"/>
              </a:rPr>
              <a:t>purify the money and </a:t>
            </a:r>
            <a:r>
              <a:rPr dirty="0" sz="1200">
                <a:latin typeface="Arial"/>
                <a:cs typeface="Arial"/>
              </a:rPr>
              <a:t>the </a:t>
            </a:r>
            <a:r>
              <a:rPr dirty="0" sz="1200" spc="-5">
                <a:latin typeface="Arial"/>
                <a:cs typeface="Arial"/>
              </a:rPr>
              <a:t>person </a:t>
            </a:r>
            <a:r>
              <a:rPr dirty="0" sz="1200">
                <a:latin typeface="Arial"/>
                <a:cs typeface="Arial"/>
              </a:rPr>
              <a:t>at </a:t>
            </a:r>
            <a:r>
              <a:rPr dirty="0" sz="1200" spc="-5">
                <a:latin typeface="Arial"/>
                <a:cs typeface="Arial"/>
              </a:rPr>
              <a:t>the </a:t>
            </a:r>
            <a:r>
              <a:rPr dirty="0" sz="1200" spc="10">
                <a:latin typeface="Arial"/>
                <a:cs typeface="Arial"/>
              </a:rPr>
              <a:t>same  </a:t>
            </a:r>
            <a:r>
              <a:rPr dirty="0" sz="1200">
                <a:latin typeface="Arial"/>
                <a:cs typeface="Arial"/>
              </a:rPr>
              <a:t>time. It </a:t>
            </a:r>
            <a:r>
              <a:rPr dirty="0" sz="1200" spc="-5">
                <a:latin typeface="Arial"/>
                <a:cs typeface="Arial"/>
              </a:rPr>
              <a:t>is a </a:t>
            </a:r>
            <a:r>
              <a:rPr dirty="0" sz="1200" spc="-10">
                <a:latin typeface="Arial"/>
                <a:cs typeface="Arial"/>
              </a:rPr>
              <a:t>way </a:t>
            </a:r>
            <a:r>
              <a:rPr dirty="0" sz="1200">
                <a:latin typeface="Arial"/>
                <a:cs typeface="Arial"/>
              </a:rPr>
              <a:t>to </a:t>
            </a:r>
            <a:r>
              <a:rPr dirty="0" sz="1200" spc="-5">
                <a:latin typeface="Arial"/>
                <a:cs typeface="Arial"/>
              </a:rPr>
              <a:t>show </a:t>
            </a:r>
            <a:r>
              <a:rPr dirty="0" sz="1200">
                <a:latin typeface="Arial"/>
                <a:cs typeface="Arial"/>
              </a:rPr>
              <a:t>our </a:t>
            </a:r>
            <a:r>
              <a:rPr dirty="0" sz="1200" spc="-5">
                <a:latin typeface="Arial"/>
                <a:cs typeface="Arial"/>
              </a:rPr>
              <a:t>responsibility towards </a:t>
            </a:r>
            <a:r>
              <a:rPr dirty="0" sz="1200">
                <a:latin typeface="Arial"/>
                <a:cs typeface="Arial"/>
              </a:rPr>
              <a:t>other</a:t>
            </a:r>
            <a:r>
              <a:rPr dirty="0" sz="1200" spc="-15">
                <a:latin typeface="Arial"/>
                <a:cs typeface="Arial"/>
              </a:rPr>
              <a:t> </a:t>
            </a:r>
            <a:r>
              <a:rPr dirty="0" sz="1200" spc="-5">
                <a:latin typeface="Arial"/>
                <a:cs typeface="Arial"/>
              </a:rPr>
              <a:t>people.</a:t>
            </a:r>
            <a:endParaRPr sz="1200">
              <a:latin typeface="Arial"/>
              <a:cs typeface="Arial"/>
            </a:endParaRPr>
          </a:p>
          <a:p>
            <a:pPr>
              <a:lnSpc>
                <a:spcPct val="100000"/>
              </a:lnSpc>
            </a:pPr>
            <a:endParaRPr sz="1200">
              <a:latin typeface="Arial"/>
              <a:cs typeface="Arial"/>
            </a:endParaRPr>
          </a:p>
          <a:p>
            <a:pPr algn="just" marL="152400" marR="149860">
              <a:lnSpc>
                <a:spcPts val="1380"/>
              </a:lnSpc>
            </a:pPr>
            <a:r>
              <a:rPr dirty="0" sz="1200" spc="-5">
                <a:latin typeface="Arial"/>
                <a:cs typeface="Arial"/>
              </a:rPr>
              <a:t>Thirdly, </a:t>
            </a:r>
            <a:r>
              <a:rPr dirty="0" sz="1200">
                <a:latin typeface="Arial"/>
                <a:cs typeface="Arial"/>
              </a:rPr>
              <a:t>there </a:t>
            </a:r>
            <a:r>
              <a:rPr dirty="0" sz="1200" spc="-10">
                <a:latin typeface="Arial"/>
                <a:cs typeface="Arial"/>
              </a:rPr>
              <a:t>was </a:t>
            </a:r>
            <a:r>
              <a:rPr dirty="0" sz="1200" spc="-5">
                <a:latin typeface="Arial"/>
                <a:cs typeface="Arial"/>
              </a:rPr>
              <a:t>the change of Qiblah from Jerusalem to Macca, Ka‘bah. </a:t>
            </a:r>
            <a:r>
              <a:rPr dirty="0" sz="1200">
                <a:latin typeface="Arial"/>
                <a:cs typeface="Arial"/>
              </a:rPr>
              <a:t>As </a:t>
            </a:r>
            <a:r>
              <a:rPr dirty="0" sz="1200" spc="-5">
                <a:latin typeface="Arial"/>
                <a:cs typeface="Arial"/>
              </a:rPr>
              <a:t>it was  mentioned in the Qur‘an </a:t>
            </a:r>
            <a:r>
              <a:rPr dirty="0" sz="1200">
                <a:latin typeface="Arial"/>
                <a:cs typeface="Arial"/>
              </a:rPr>
              <a:t>(2: 144) </a:t>
            </a:r>
            <a:r>
              <a:rPr dirty="0" sz="1200" spc="-5">
                <a:latin typeface="Arial"/>
                <a:cs typeface="Arial"/>
              </a:rPr>
              <a:t>the Ka‘bah was </a:t>
            </a:r>
            <a:r>
              <a:rPr dirty="0" sz="1200">
                <a:latin typeface="Arial"/>
                <a:cs typeface="Arial"/>
              </a:rPr>
              <a:t>dear to </a:t>
            </a:r>
            <a:r>
              <a:rPr dirty="0" sz="1200" spc="-5">
                <a:latin typeface="Arial"/>
                <a:cs typeface="Arial"/>
              </a:rPr>
              <a:t>the prophet. So Allah assigned </a:t>
            </a:r>
            <a:r>
              <a:rPr dirty="0" sz="1200" spc="-10">
                <a:latin typeface="Arial"/>
                <a:cs typeface="Arial"/>
              </a:rPr>
              <a:t>it </a:t>
            </a:r>
            <a:r>
              <a:rPr dirty="0" sz="1200">
                <a:latin typeface="Arial"/>
                <a:cs typeface="Arial"/>
              </a:rPr>
              <a:t>as  </a:t>
            </a:r>
            <a:r>
              <a:rPr dirty="0" sz="1200" spc="-5">
                <a:latin typeface="Arial"/>
                <a:cs typeface="Arial"/>
              </a:rPr>
              <a:t>his and </a:t>
            </a:r>
            <a:r>
              <a:rPr dirty="0" sz="1200">
                <a:latin typeface="Arial"/>
                <a:cs typeface="Arial"/>
              </a:rPr>
              <a:t>our </a:t>
            </a:r>
            <a:r>
              <a:rPr dirty="0" sz="1200" spc="-5">
                <a:latin typeface="Arial"/>
                <a:cs typeface="Arial"/>
              </a:rPr>
              <a:t>directions </a:t>
            </a:r>
            <a:r>
              <a:rPr dirty="0" sz="1200">
                <a:latin typeface="Arial"/>
                <a:cs typeface="Arial"/>
              </a:rPr>
              <a:t>for</a:t>
            </a:r>
            <a:r>
              <a:rPr dirty="0" sz="1200" spc="-30">
                <a:latin typeface="Arial"/>
                <a:cs typeface="Arial"/>
              </a:rPr>
              <a:t> </a:t>
            </a:r>
            <a:r>
              <a:rPr dirty="0" sz="1200" spc="-5">
                <a:latin typeface="Arial"/>
                <a:cs typeface="Arial"/>
              </a:rPr>
              <a:t>Ibaadah.</a:t>
            </a:r>
            <a:endParaRPr sz="1200">
              <a:latin typeface="Arial"/>
              <a:cs typeface="Arial"/>
            </a:endParaRPr>
          </a:p>
          <a:p>
            <a:pPr>
              <a:lnSpc>
                <a:spcPct val="100000"/>
              </a:lnSpc>
              <a:spcBef>
                <a:spcPts val="20"/>
              </a:spcBef>
            </a:pPr>
            <a:endParaRPr sz="1150">
              <a:latin typeface="Arial"/>
              <a:cs typeface="Arial"/>
            </a:endParaRPr>
          </a:p>
          <a:p>
            <a:pPr algn="just" marL="152400" marR="144780">
              <a:lnSpc>
                <a:spcPct val="95800"/>
              </a:lnSpc>
              <a:spcBef>
                <a:spcPts val="5"/>
              </a:spcBef>
            </a:pPr>
            <a:r>
              <a:rPr dirty="0" sz="1200" spc="-5">
                <a:latin typeface="Arial"/>
                <a:cs typeface="Arial"/>
              </a:rPr>
              <a:t>There </a:t>
            </a:r>
            <a:r>
              <a:rPr dirty="0" sz="1200" spc="-10">
                <a:latin typeface="Arial"/>
                <a:cs typeface="Arial"/>
              </a:rPr>
              <a:t>was </a:t>
            </a:r>
            <a:r>
              <a:rPr dirty="0" sz="1200">
                <a:latin typeface="Arial"/>
                <a:cs typeface="Arial"/>
              </a:rPr>
              <a:t>much </a:t>
            </a:r>
            <a:r>
              <a:rPr dirty="0" sz="1200" spc="-5">
                <a:latin typeface="Arial"/>
                <a:cs typeface="Arial"/>
              </a:rPr>
              <a:t>prosperity </a:t>
            </a:r>
            <a:r>
              <a:rPr dirty="0" sz="1200">
                <a:latin typeface="Arial"/>
                <a:cs typeface="Arial"/>
              </a:rPr>
              <a:t>of </a:t>
            </a:r>
            <a:r>
              <a:rPr dirty="0" sz="1200" spc="-5">
                <a:latin typeface="Arial"/>
                <a:cs typeface="Arial"/>
              </a:rPr>
              <a:t>Muslims. The hatred of the </a:t>
            </a:r>
            <a:r>
              <a:rPr dirty="0" sz="1200">
                <a:latin typeface="Arial"/>
                <a:cs typeface="Arial"/>
              </a:rPr>
              <a:t>Quraish </a:t>
            </a:r>
            <a:r>
              <a:rPr dirty="0" sz="1200" spc="-5">
                <a:latin typeface="Arial"/>
                <a:cs typeface="Arial"/>
              </a:rPr>
              <a:t>for </a:t>
            </a:r>
            <a:r>
              <a:rPr dirty="0" sz="1200">
                <a:latin typeface="Arial"/>
                <a:cs typeface="Arial"/>
              </a:rPr>
              <a:t>the </a:t>
            </a:r>
            <a:r>
              <a:rPr dirty="0" sz="1200" spc="-5">
                <a:latin typeface="Arial"/>
                <a:cs typeface="Arial"/>
              </a:rPr>
              <a:t>Muslims increased.  Abdullah bin </a:t>
            </a:r>
            <a:r>
              <a:rPr dirty="0" sz="1200" spc="-10">
                <a:latin typeface="Arial"/>
                <a:cs typeface="Arial"/>
              </a:rPr>
              <a:t>Ubayy </a:t>
            </a:r>
            <a:r>
              <a:rPr dirty="0" sz="1200" spc="-5">
                <a:latin typeface="Arial"/>
                <a:cs typeface="Arial"/>
              </a:rPr>
              <a:t>as right </a:t>
            </a:r>
            <a:r>
              <a:rPr dirty="0" sz="1200">
                <a:latin typeface="Arial"/>
                <a:cs typeface="Arial"/>
              </a:rPr>
              <a:t>man to </a:t>
            </a:r>
            <a:r>
              <a:rPr dirty="0" sz="1200" spc="-5">
                <a:latin typeface="Arial"/>
                <a:cs typeface="Arial"/>
              </a:rPr>
              <a:t>raise and setup a plot against </a:t>
            </a:r>
            <a:r>
              <a:rPr dirty="0" sz="1200">
                <a:latin typeface="Arial"/>
                <a:cs typeface="Arial"/>
              </a:rPr>
              <a:t>the </a:t>
            </a:r>
            <a:r>
              <a:rPr dirty="0" sz="1200" spc="-5">
                <a:latin typeface="Arial"/>
                <a:cs typeface="Arial"/>
              </a:rPr>
              <a:t>prophet (s.a.w). </a:t>
            </a:r>
            <a:r>
              <a:rPr dirty="0" sz="1200">
                <a:latin typeface="Arial"/>
                <a:cs typeface="Arial"/>
              </a:rPr>
              <a:t>The  Quraish </a:t>
            </a:r>
            <a:r>
              <a:rPr dirty="0" sz="1200" spc="-5">
                <a:latin typeface="Arial"/>
                <a:cs typeface="Arial"/>
              </a:rPr>
              <a:t>wanted him to either kill or </a:t>
            </a:r>
            <a:r>
              <a:rPr dirty="0" sz="1200" spc="-10">
                <a:latin typeface="Arial"/>
                <a:cs typeface="Arial"/>
              </a:rPr>
              <a:t>drive </a:t>
            </a:r>
            <a:r>
              <a:rPr dirty="0" sz="1200" spc="-5">
                <a:latin typeface="Arial"/>
                <a:cs typeface="Arial"/>
              </a:rPr>
              <a:t>him out of Madina. Muhammad heard about </a:t>
            </a:r>
            <a:r>
              <a:rPr dirty="0" sz="1200">
                <a:latin typeface="Arial"/>
                <a:cs typeface="Arial"/>
              </a:rPr>
              <a:t>it </a:t>
            </a:r>
            <a:r>
              <a:rPr dirty="0" sz="1200" spc="-5">
                <a:latin typeface="Arial"/>
                <a:cs typeface="Arial"/>
              </a:rPr>
              <a:t>and  </a:t>
            </a:r>
            <a:r>
              <a:rPr dirty="0" sz="1200">
                <a:latin typeface="Arial"/>
                <a:cs typeface="Arial"/>
              </a:rPr>
              <a:t>talked </a:t>
            </a:r>
            <a:r>
              <a:rPr dirty="0" sz="1200" spc="-5">
                <a:latin typeface="Arial"/>
                <a:cs typeface="Arial"/>
              </a:rPr>
              <a:t>to Abdullah but in vain </a:t>
            </a:r>
            <a:r>
              <a:rPr dirty="0" sz="1200">
                <a:latin typeface="Arial"/>
                <a:cs typeface="Arial"/>
              </a:rPr>
              <a:t>– </a:t>
            </a:r>
            <a:r>
              <a:rPr dirty="0" sz="1200" spc="-5">
                <a:latin typeface="Arial"/>
                <a:cs typeface="Arial"/>
              </a:rPr>
              <a:t>he </a:t>
            </a:r>
            <a:r>
              <a:rPr dirty="0" sz="1200" spc="-10">
                <a:latin typeface="Arial"/>
                <a:cs typeface="Arial"/>
              </a:rPr>
              <a:t>was </a:t>
            </a:r>
            <a:r>
              <a:rPr dirty="0" sz="1200" spc="-5">
                <a:latin typeface="Arial"/>
                <a:cs typeface="Arial"/>
              </a:rPr>
              <a:t>a hypocrite. The Quraish went </a:t>
            </a:r>
            <a:r>
              <a:rPr dirty="0" sz="1200">
                <a:latin typeface="Arial"/>
                <a:cs typeface="Arial"/>
              </a:rPr>
              <a:t>to </a:t>
            </a:r>
            <a:r>
              <a:rPr dirty="0" sz="1200" spc="-5">
                <a:latin typeface="Arial"/>
                <a:cs typeface="Arial"/>
              </a:rPr>
              <a:t>all tribes between  Macca and Madina </a:t>
            </a:r>
            <a:r>
              <a:rPr dirty="0" sz="1200" spc="-10">
                <a:latin typeface="Arial"/>
                <a:cs typeface="Arial"/>
              </a:rPr>
              <a:t>and </a:t>
            </a:r>
            <a:r>
              <a:rPr dirty="0" sz="1200" spc="-5">
                <a:latin typeface="Arial"/>
                <a:cs typeface="Arial"/>
              </a:rPr>
              <a:t>instilled a </a:t>
            </a:r>
            <a:r>
              <a:rPr dirty="0" sz="1200">
                <a:latin typeface="Arial"/>
                <a:cs typeface="Arial"/>
              </a:rPr>
              <a:t>feeling </a:t>
            </a:r>
            <a:r>
              <a:rPr dirty="0" sz="1200" spc="-5">
                <a:latin typeface="Arial"/>
                <a:cs typeface="Arial"/>
              </a:rPr>
              <a:t>of opposition </a:t>
            </a:r>
            <a:r>
              <a:rPr dirty="0" sz="1200">
                <a:latin typeface="Arial"/>
                <a:cs typeface="Arial"/>
              </a:rPr>
              <a:t>to </a:t>
            </a:r>
            <a:r>
              <a:rPr dirty="0" sz="1200" spc="-5">
                <a:latin typeface="Arial"/>
                <a:cs typeface="Arial"/>
              </a:rPr>
              <a:t>Muhammad in their hearts. </a:t>
            </a:r>
            <a:r>
              <a:rPr dirty="0" sz="1200">
                <a:latin typeface="Arial"/>
                <a:cs typeface="Arial"/>
              </a:rPr>
              <a:t>There  </a:t>
            </a:r>
            <a:r>
              <a:rPr dirty="0" sz="1200" spc="-5">
                <a:latin typeface="Arial"/>
                <a:cs typeface="Arial"/>
              </a:rPr>
              <a:t>were 3 groups against </a:t>
            </a:r>
            <a:r>
              <a:rPr dirty="0" sz="1200">
                <a:latin typeface="Arial"/>
                <a:cs typeface="Arial"/>
              </a:rPr>
              <a:t>the </a:t>
            </a:r>
            <a:r>
              <a:rPr dirty="0" sz="1200" spc="-5">
                <a:latin typeface="Arial"/>
                <a:cs typeface="Arial"/>
              </a:rPr>
              <a:t>Muslims, namely </a:t>
            </a:r>
            <a:r>
              <a:rPr dirty="0" sz="1200">
                <a:latin typeface="Arial"/>
                <a:cs typeface="Arial"/>
              </a:rPr>
              <a:t>the Quraish, the </a:t>
            </a:r>
            <a:r>
              <a:rPr dirty="0" sz="1200" spc="-10">
                <a:latin typeface="Arial"/>
                <a:cs typeface="Arial"/>
              </a:rPr>
              <a:t>Jews </a:t>
            </a:r>
            <a:r>
              <a:rPr dirty="0" sz="1200" spc="-5">
                <a:latin typeface="Arial"/>
                <a:cs typeface="Arial"/>
              </a:rPr>
              <a:t>and </a:t>
            </a:r>
            <a:r>
              <a:rPr dirty="0" sz="1200">
                <a:latin typeface="Arial"/>
                <a:cs typeface="Arial"/>
              </a:rPr>
              <a:t>the </a:t>
            </a:r>
            <a:r>
              <a:rPr dirty="0" sz="1200" spc="-5">
                <a:latin typeface="Arial"/>
                <a:cs typeface="Arial"/>
              </a:rPr>
              <a:t>Hypocrites.  During </a:t>
            </a:r>
            <a:r>
              <a:rPr dirty="0" sz="1200">
                <a:latin typeface="Arial"/>
                <a:cs typeface="Arial"/>
              </a:rPr>
              <a:t>that </a:t>
            </a:r>
            <a:r>
              <a:rPr dirty="0" sz="1200" spc="-5">
                <a:latin typeface="Arial"/>
                <a:cs typeface="Arial"/>
              </a:rPr>
              <a:t>period, the Muslims slept </a:t>
            </a:r>
            <a:r>
              <a:rPr dirty="0" sz="1200">
                <a:latin typeface="Arial"/>
                <a:cs typeface="Arial"/>
              </a:rPr>
              <a:t>fully </a:t>
            </a:r>
            <a:r>
              <a:rPr dirty="0" sz="1200" spc="-5">
                <a:latin typeface="Arial"/>
                <a:cs typeface="Arial"/>
              </a:rPr>
              <a:t>armed till dawn. </a:t>
            </a:r>
            <a:r>
              <a:rPr dirty="0" sz="1200">
                <a:latin typeface="Arial"/>
                <a:cs typeface="Arial"/>
              </a:rPr>
              <a:t>It </a:t>
            </a:r>
            <a:r>
              <a:rPr dirty="0" sz="1200" spc="-10">
                <a:latin typeface="Arial"/>
                <a:cs typeface="Arial"/>
              </a:rPr>
              <a:t>was </a:t>
            </a:r>
            <a:r>
              <a:rPr dirty="0" sz="1200" spc="-5">
                <a:latin typeface="Arial"/>
                <a:cs typeface="Arial"/>
              </a:rPr>
              <a:t>thus </a:t>
            </a:r>
            <a:r>
              <a:rPr dirty="0" sz="1200">
                <a:latin typeface="Arial"/>
                <a:cs typeface="Arial"/>
              </a:rPr>
              <a:t>that </a:t>
            </a:r>
            <a:r>
              <a:rPr dirty="0" sz="1200" spc="-5">
                <a:latin typeface="Arial"/>
                <a:cs typeface="Arial"/>
              </a:rPr>
              <a:t>the prophet (s.a.w)  </a:t>
            </a:r>
            <a:r>
              <a:rPr dirty="0" sz="1200" spc="-10">
                <a:latin typeface="Arial"/>
                <a:cs typeface="Arial"/>
              </a:rPr>
              <a:t>was </a:t>
            </a:r>
            <a:r>
              <a:rPr dirty="0" sz="1200" spc="-5">
                <a:latin typeface="Arial"/>
                <a:cs typeface="Arial"/>
              </a:rPr>
              <a:t>given </a:t>
            </a:r>
            <a:r>
              <a:rPr dirty="0" sz="1200">
                <a:latin typeface="Arial"/>
                <a:cs typeface="Arial"/>
              </a:rPr>
              <a:t>the </a:t>
            </a:r>
            <a:r>
              <a:rPr dirty="0" sz="1200" spc="-5">
                <a:latin typeface="Arial"/>
                <a:cs typeface="Arial"/>
              </a:rPr>
              <a:t>permission </a:t>
            </a:r>
            <a:r>
              <a:rPr dirty="0" sz="1200">
                <a:latin typeface="Arial"/>
                <a:cs typeface="Arial"/>
              </a:rPr>
              <a:t>to fight </a:t>
            </a:r>
            <a:r>
              <a:rPr dirty="0" sz="1200" spc="-5">
                <a:latin typeface="Arial"/>
                <a:cs typeface="Arial"/>
              </a:rPr>
              <a:t>in </a:t>
            </a:r>
            <a:r>
              <a:rPr dirty="0" sz="1200">
                <a:latin typeface="Arial"/>
                <a:cs typeface="Arial"/>
              </a:rPr>
              <a:t>the </a:t>
            </a:r>
            <a:r>
              <a:rPr dirty="0" sz="1200" spc="-10">
                <a:latin typeface="Arial"/>
                <a:cs typeface="Arial"/>
              </a:rPr>
              <a:t>way </a:t>
            </a:r>
            <a:r>
              <a:rPr dirty="0" sz="1200">
                <a:latin typeface="Arial"/>
                <a:cs typeface="Arial"/>
              </a:rPr>
              <a:t>of </a:t>
            </a:r>
            <a:r>
              <a:rPr dirty="0" sz="1200" spc="-5">
                <a:latin typeface="Arial"/>
                <a:cs typeface="Arial"/>
              </a:rPr>
              <a:t>Allah. </a:t>
            </a:r>
            <a:r>
              <a:rPr dirty="0" sz="1200">
                <a:latin typeface="Arial"/>
                <a:cs typeface="Arial"/>
              </a:rPr>
              <a:t>As </a:t>
            </a:r>
            <a:r>
              <a:rPr dirty="0" sz="1200" spc="-5">
                <a:latin typeface="Arial"/>
                <a:cs typeface="Arial"/>
              </a:rPr>
              <a:t>such, </a:t>
            </a:r>
            <a:r>
              <a:rPr dirty="0" sz="1200">
                <a:latin typeface="Arial"/>
                <a:cs typeface="Arial"/>
              </a:rPr>
              <a:t>the </a:t>
            </a:r>
            <a:r>
              <a:rPr dirty="0" sz="1200" spc="-5">
                <a:latin typeface="Arial"/>
                <a:cs typeface="Arial"/>
              </a:rPr>
              <a:t>prophet talked </a:t>
            </a:r>
            <a:r>
              <a:rPr dirty="0" sz="1200">
                <a:latin typeface="Arial"/>
                <a:cs typeface="Arial"/>
              </a:rPr>
              <a:t>to </a:t>
            </a:r>
            <a:r>
              <a:rPr dirty="0" sz="1200" spc="-5">
                <a:latin typeface="Arial"/>
                <a:cs typeface="Arial"/>
              </a:rPr>
              <a:t>Abdullah  bin Jahsh and told him </a:t>
            </a:r>
            <a:r>
              <a:rPr dirty="0" sz="1200" spc="-270" i="1">
                <a:latin typeface="Arial"/>
                <a:cs typeface="Arial"/>
              </a:rPr>
              <a:t>―Go </a:t>
            </a:r>
            <a:r>
              <a:rPr dirty="0" sz="1200" i="1">
                <a:latin typeface="Arial"/>
                <a:cs typeface="Arial"/>
              </a:rPr>
              <a:t>to </a:t>
            </a:r>
            <a:r>
              <a:rPr dirty="0" sz="1200" spc="-5" i="1">
                <a:latin typeface="Arial"/>
                <a:cs typeface="Arial"/>
              </a:rPr>
              <a:t>Nakhlah between Macca and Ta‘if </a:t>
            </a:r>
            <a:r>
              <a:rPr dirty="0" sz="1200" i="1">
                <a:latin typeface="Arial"/>
                <a:cs typeface="Arial"/>
              </a:rPr>
              <a:t>and there spy </a:t>
            </a:r>
            <a:r>
              <a:rPr dirty="0" sz="1200" spc="-5" i="1">
                <a:latin typeface="Arial"/>
                <a:cs typeface="Arial"/>
              </a:rPr>
              <a:t>on </a:t>
            </a:r>
            <a:r>
              <a:rPr dirty="0" sz="1200" i="1">
                <a:latin typeface="Arial"/>
                <a:cs typeface="Arial"/>
              </a:rPr>
              <a:t>Quraish </a:t>
            </a:r>
            <a:r>
              <a:rPr dirty="0" sz="1200" spc="-5" i="1">
                <a:latin typeface="Arial"/>
                <a:cs typeface="Arial"/>
              </a:rPr>
              <a:t>in  </a:t>
            </a:r>
            <a:r>
              <a:rPr dirty="0" sz="1200" i="1">
                <a:latin typeface="Arial"/>
                <a:cs typeface="Arial"/>
              </a:rPr>
              <a:t>order to </a:t>
            </a:r>
            <a:r>
              <a:rPr dirty="0" sz="1200" spc="-5" i="1">
                <a:latin typeface="Arial"/>
                <a:cs typeface="Arial"/>
              </a:rPr>
              <a:t>bring </a:t>
            </a:r>
            <a:r>
              <a:rPr dirty="0" sz="1200" i="1">
                <a:latin typeface="Arial"/>
                <a:cs typeface="Arial"/>
              </a:rPr>
              <a:t>us </a:t>
            </a:r>
            <a:r>
              <a:rPr dirty="0" sz="1200" spc="-5" i="1">
                <a:latin typeface="Arial"/>
                <a:cs typeface="Arial"/>
              </a:rPr>
              <a:t>news </a:t>
            </a:r>
            <a:r>
              <a:rPr dirty="0" sz="1200" i="1">
                <a:latin typeface="Arial"/>
                <a:cs typeface="Arial"/>
              </a:rPr>
              <a:t>on </a:t>
            </a:r>
            <a:r>
              <a:rPr dirty="0" sz="1200" spc="-25" i="1">
                <a:latin typeface="Arial"/>
                <a:cs typeface="Arial"/>
              </a:rPr>
              <a:t>them‖ </a:t>
            </a:r>
            <a:r>
              <a:rPr dirty="0" sz="1200" spc="-5">
                <a:latin typeface="Arial"/>
                <a:cs typeface="Arial"/>
              </a:rPr>
              <a:t>with 11 </a:t>
            </a:r>
            <a:r>
              <a:rPr dirty="0" sz="1200">
                <a:latin typeface="Arial"/>
                <a:cs typeface="Arial"/>
              </a:rPr>
              <a:t>men</a:t>
            </a:r>
            <a:r>
              <a:rPr dirty="0" sz="1200" i="1">
                <a:latin typeface="Arial"/>
                <a:cs typeface="Arial"/>
              </a:rPr>
              <a:t>. </a:t>
            </a:r>
            <a:r>
              <a:rPr dirty="0" sz="1200" spc="-5">
                <a:latin typeface="Arial"/>
                <a:cs typeface="Arial"/>
              </a:rPr>
              <a:t>There </a:t>
            </a:r>
            <a:r>
              <a:rPr dirty="0" sz="1200" spc="-10">
                <a:latin typeface="Arial"/>
                <a:cs typeface="Arial"/>
              </a:rPr>
              <a:t>was </a:t>
            </a:r>
            <a:r>
              <a:rPr dirty="0" sz="1200" spc="-5">
                <a:latin typeface="Arial"/>
                <a:cs typeface="Arial"/>
              </a:rPr>
              <a:t>no order to </a:t>
            </a:r>
            <a:r>
              <a:rPr dirty="0" sz="1200">
                <a:latin typeface="Arial"/>
                <a:cs typeface="Arial"/>
              </a:rPr>
              <a:t>fight </a:t>
            </a:r>
            <a:r>
              <a:rPr dirty="0" sz="1200" spc="-5">
                <a:latin typeface="Arial"/>
                <a:cs typeface="Arial"/>
              </a:rPr>
              <a:t>any caravan. </a:t>
            </a:r>
            <a:r>
              <a:rPr dirty="0" sz="1200">
                <a:latin typeface="Arial"/>
                <a:cs typeface="Arial"/>
              </a:rPr>
              <a:t>But  </a:t>
            </a:r>
            <a:r>
              <a:rPr dirty="0" sz="1200" spc="-5">
                <a:latin typeface="Arial"/>
                <a:cs typeface="Arial"/>
              </a:rPr>
              <a:t>instead of spying he attacked the caravan. Abu Sufyan knew about the plot and he </a:t>
            </a:r>
            <a:r>
              <a:rPr dirty="0" sz="1200" spc="-10">
                <a:latin typeface="Arial"/>
                <a:cs typeface="Arial"/>
              </a:rPr>
              <a:t>sent  </a:t>
            </a:r>
            <a:r>
              <a:rPr dirty="0" sz="1200" spc="-5">
                <a:latin typeface="Arial"/>
                <a:cs typeface="Arial"/>
              </a:rPr>
              <a:t>Damdam </a:t>
            </a:r>
            <a:r>
              <a:rPr dirty="0" sz="1200">
                <a:latin typeface="Arial"/>
                <a:cs typeface="Arial"/>
              </a:rPr>
              <a:t>to </a:t>
            </a:r>
            <a:r>
              <a:rPr dirty="0" sz="1200" spc="-5">
                <a:latin typeface="Arial"/>
                <a:cs typeface="Arial"/>
              </a:rPr>
              <a:t>alert </a:t>
            </a:r>
            <a:r>
              <a:rPr dirty="0" sz="1200">
                <a:latin typeface="Arial"/>
                <a:cs typeface="Arial"/>
              </a:rPr>
              <a:t>the Quraish. </a:t>
            </a:r>
            <a:r>
              <a:rPr dirty="0" sz="1200" spc="-5">
                <a:latin typeface="Arial"/>
                <a:cs typeface="Arial"/>
              </a:rPr>
              <a:t>Damdam entered Haram, </a:t>
            </a:r>
            <a:r>
              <a:rPr dirty="0" sz="1200">
                <a:latin typeface="Arial"/>
                <a:cs typeface="Arial"/>
              </a:rPr>
              <a:t>cut the </a:t>
            </a:r>
            <a:r>
              <a:rPr dirty="0" sz="1200" spc="-5">
                <a:latin typeface="Arial"/>
                <a:cs typeface="Arial"/>
              </a:rPr>
              <a:t>nose of his camel, turned </a:t>
            </a:r>
            <a:r>
              <a:rPr dirty="0" sz="1200">
                <a:latin typeface="Arial"/>
                <a:cs typeface="Arial"/>
              </a:rPr>
              <a:t>its  </a:t>
            </a:r>
            <a:r>
              <a:rPr dirty="0" sz="1200" spc="-5">
                <a:latin typeface="Arial"/>
                <a:cs typeface="Arial"/>
              </a:rPr>
              <a:t>saddle, </a:t>
            </a:r>
            <a:r>
              <a:rPr dirty="0" sz="1200">
                <a:latin typeface="Arial"/>
                <a:cs typeface="Arial"/>
              </a:rPr>
              <a:t>tore </a:t>
            </a:r>
            <a:r>
              <a:rPr dirty="0" sz="1200" spc="-5">
                <a:latin typeface="Arial"/>
                <a:cs typeface="Arial"/>
              </a:rPr>
              <a:t>his shirt and invented lies </a:t>
            </a:r>
            <a:r>
              <a:rPr dirty="0" sz="1200">
                <a:latin typeface="Arial"/>
                <a:cs typeface="Arial"/>
              </a:rPr>
              <a:t>that the </a:t>
            </a:r>
            <a:r>
              <a:rPr dirty="0" sz="1200" spc="-5">
                <a:latin typeface="Arial"/>
                <a:cs typeface="Arial"/>
              </a:rPr>
              <a:t>caravan </a:t>
            </a:r>
            <a:r>
              <a:rPr dirty="0" sz="1200" spc="-10">
                <a:latin typeface="Arial"/>
                <a:cs typeface="Arial"/>
              </a:rPr>
              <a:t>was </a:t>
            </a:r>
            <a:r>
              <a:rPr dirty="0" sz="1200" spc="-5">
                <a:latin typeface="Arial"/>
                <a:cs typeface="Arial"/>
              </a:rPr>
              <a:t>being </a:t>
            </a:r>
            <a:r>
              <a:rPr dirty="0" sz="1200">
                <a:latin typeface="Arial"/>
                <a:cs typeface="Arial"/>
              </a:rPr>
              <a:t>looted </a:t>
            </a:r>
            <a:r>
              <a:rPr dirty="0" sz="1200" spc="-5">
                <a:latin typeface="Arial"/>
                <a:cs typeface="Arial"/>
              </a:rPr>
              <a:t>and Abu </a:t>
            </a:r>
            <a:r>
              <a:rPr dirty="0" sz="1200" spc="-10">
                <a:latin typeface="Arial"/>
                <a:cs typeface="Arial"/>
              </a:rPr>
              <a:t>Sufyan  was </a:t>
            </a:r>
            <a:r>
              <a:rPr dirty="0" sz="1200" spc="-5">
                <a:latin typeface="Arial"/>
                <a:cs typeface="Arial"/>
              </a:rPr>
              <a:t>dead. The Quraish decided </a:t>
            </a:r>
            <a:r>
              <a:rPr dirty="0" sz="1200">
                <a:latin typeface="Arial"/>
                <a:cs typeface="Arial"/>
              </a:rPr>
              <a:t>to </a:t>
            </a:r>
            <a:r>
              <a:rPr dirty="0" sz="1200" spc="-5">
                <a:latin typeface="Arial"/>
                <a:cs typeface="Arial"/>
              </a:rPr>
              <a:t>attack the Muslims. In the meantime, </a:t>
            </a:r>
            <a:r>
              <a:rPr dirty="0" sz="1200">
                <a:latin typeface="Arial"/>
                <a:cs typeface="Arial"/>
              </a:rPr>
              <a:t>Abdullah </a:t>
            </a:r>
            <a:r>
              <a:rPr dirty="0" sz="1200" spc="-5">
                <a:latin typeface="Arial"/>
                <a:cs typeface="Arial"/>
              </a:rPr>
              <a:t>bin </a:t>
            </a:r>
            <a:r>
              <a:rPr dirty="0" sz="1200" spc="-10">
                <a:latin typeface="Arial"/>
                <a:cs typeface="Arial"/>
              </a:rPr>
              <a:t>Jahsh  </a:t>
            </a:r>
            <a:r>
              <a:rPr dirty="0" sz="1200">
                <a:latin typeface="Arial"/>
                <a:cs typeface="Arial"/>
              </a:rPr>
              <a:t>took </a:t>
            </a:r>
            <a:r>
              <a:rPr dirty="0" sz="1200" spc="-5">
                <a:latin typeface="Arial"/>
                <a:cs typeface="Arial"/>
              </a:rPr>
              <a:t>the booty of </a:t>
            </a:r>
            <a:r>
              <a:rPr dirty="0" sz="1200" spc="-10">
                <a:latin typeface="Arial"/>
                <a:cs typeface="Arial"/>
              </a:rPr>
              <a:t>war </a:t>
            </a:r>
            <a:r>
              <a:rPr dirty="0" sz="1200" spc="-5">
                <a:latin typeface="Arial"/>
                <a:cs typeface="Arial"/>
              </a:rPr>
              <a:t>and returned </a:t>
            </a:r>
            <a:r>
              <a:rPr dirty="0" sz="1200">
                <a:latin typeface="Arial"/>
                <a:cs typeface="Arial"/>
              </a:rPr>
              <a:t>to </a:t>
            </a:r>
            <a:r>
              <a:rPr dirty="0" sz="1200" spc="-5">
                <a:latin typeface="Arial"/>
                <a:cs typeface="Arial"/>
              </a:rPr>
              <a:t>Madina. The prophet Muhammad (s.a.w) and the  Ashab were very angry because no such order </a:t>
            </a:r>
            <a:r>
              <a:rPr dirty="0" sz="1200" spc="-10">
                <a:latin typeface="Arial"/>
                <a:cs typeface="Arial"/>
              </a:rPr>
              <a:t>was </a:t>
            </a:r>
            <a:r>
              <a:rPr dirty="0" sz="1200" spc="-5">
                <a:latin typeface="Arial"/>
                <a:cs typeface="Arial"/>
              </a:rPr>
              <a:t>given. </a:t>
            </a:r>
            <a:r>
              <a:rPr dirty="0" sz="1200">
                <a:latin typeface="Arial"/>
                <a:cs typeface="Arial"/>
              </a:rPr>
              <a:t>It </a:t>
            </a:r>
            <a:r>
              <a:rPr dirty="0" sz="1200" spc="-10">
                <a:latin typeface="Arial"/>
                <a:cs typeface="Arial"/>
              </a:rPr>
              <a:t>was </a:t>
            </a:r>
            <a:r>
              <a:rPr dirty="0" sz="1200" spc="-5">
                <a:latin typeface="Arial"/>
                <a:cs typeface="Arial"/>
              </a:rPr>
              <a:t>only </a:t>
            </a:r>
            <a:r>
              <a:rPr dirty="0" sz="1200">
                <a:latin typeface="Arial"/>
                <a:cs typeface="Arial"/>
              </a:rPr>
              <a:t>to spy and</a:t>
            </a:r>
            <a:r>
              <a:rPr dirty="0" sz="1200" spc="110">
                <a:latin typeface="Arial"/>
                <a:cs typeface="Arial"/>
              </a:rPr>
              <a:t> </a:t>
            </a:r>
            <a:r>
              <a:rPr dirty="0" sz="1200" spc="-5">
                <a:latin typeface="Arial"/>
                <a:cs typeface="Arial"/>
              </a:rPr>
              <a:t>intimidate.</a:t>
            </a:r>
            <a:endParaRPr sz="1200">
              <a:latin typeface="Arial"/>
              <a:cs typeface="Arial"/>
            </a:endParaRPr>
          </a:p>
          <a:p>
            <a:pPr>
              <a:lnSpc>
                <a:spcPct val="100000"/>
              </a:lnSpc>
              <a:spcBef>
                <a:spcPts val="50"/>
              </a:spcBef>
            </a:pPr>
            <a:endParaRPr sz="1100">
              <a:latin typeface="Arial"/>
              <a:cs typeface="Arial"/>
            </a:endParaRPr>
          </a:p>
          <a:p>
            <a:pPr algn="just" marL="152400">
              <a:lnSpc>
                <a:spcPct val="100000"/>
              </a:lnSpc>
              <a:spcBef>
                <a:spcPts val="5"/>
              </a:spcBef>
            </a:pPr>
            <a:r>
              <a:rPr dirty="0" u="heavy" sz="1200" spc="-5" b="1" i="1">
                <a:uFill>
                  <a:solidFill>
                    <a:srgbClr val="000000"/>
                  </a:solidFill>
                </a:uFill>
                <a:latin typeface="Arial"/>
                <a:cs typeface="Arial"/>
              </a:rPr>
              <a:t>As such, there were many reasons leading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the </a:t>
            </a:r>
            <a:r>
              <a:rPr dirty="0" u="heavy" sz="1200" b="1" i="1">
                <a:uFill>
                  <a:solidFill>
                    <a:srgbClr val="000000"/>
                  </a:solidFill>
                </a:uFill>
                <a:latin typeface="Arial"/>
                <a:cs typeface="Arial"/>
              </a:rPr>
              <a:t>battle of </a:t>
            </a:r>
            <a:r>
              <a:rPr dirty="0" u="heavy" sz="1200" spc="-5" b="1" i="1">
                <a:uFill>
                  <a:solidFill>
                    <a:srgbClr val="000000"/>
                  </a:solidFill>
                </a:uFill>
                <a:latin typeface="Arial"/>
                <a:cs typeface="Arial"/>
              </a:rPr>
              <a:t>Badr </a:t>
            </a:r>
            <a:r>
              <a:rPr dirty="0" u="heavy" sz="1200" b="1" i="1">
                <a:uFill>
                  <a:solidFill>
                    <a:srgbClr val="000000"/>
                  </a:solidFill>
                </a:uFill>
                <a:latin typeface="Arial"/>
                <a:cs typeface="Arial"/>
              </a:rPr>
              <a:t>such</a:t>
            </a:r>
            <a:r>
              <a:rPr dirty="0" u="heavy" sz="1200" spc="55" b="1" i="1">
                <a:uFill>
                  <a:solidFill>
                    <a:srgbClr val="000000"/>
                  </a:solidFill>
                </a:uFill>
                <a:latin typeface="Arial"/>
                <a:cs typeface="Arial"/>
              </a:rPr>
              <a:t> </a:t>
            </a:r>
            <a:r>
              <a:rPr dirty="0" u="heavy" sz="1200" b="1" i="1">
                <a:uFill>
                  <a:solidFill>
                    <a:srgbClr val="000000"/>
                  </a:solidFill>
                </a:uFill>
                <a:latin typeface="Arial"/>
                <a:cs typeface="Arial"/>
              </a:rPr>
              <a:t>as:</a:t>
            </a:r>
            <a:endParaRPr sz="1200">
              <a:latin typeface="Arial"/>
              <a:cs typeface="Arial"/>
            </a:endParaRPr>
          </a:p>
          <a:p>
            <a:pPr>
              <a:lnSpc>
                <a:spcPct val="100000"/>
              </a:lnSpc>
              <a:spcBef>
                <a:spcPts val="50"/>
              </a:spcBef>
            </a:pPr>
            <a:endParaRPr sz="1100">
              <a:latin typeface="Arial"/>
              <a:cs typeface="Arial"/>
            </a:endParaRPr>
          </a:p>
          <a:p>
            <a:pPr marL="609600" indent="-229235">
              <a:lnSpc>
                <a:spcPts val="1410"/>
              </a:lnSpc>
              <a:spcBef>
                <a:spcPts val="5"/>
              </a:spcBef>
              <a:buAutoNum type="arabicPeriod"/>
              <a:tabLst>
                <a:tab pos="610235" algn="l"/>
              </a:tabLst>
            </a:pPr>
            <a:r>
              <a:rPr dirty="0" sz="1200" spc="-5">
                <a:latin typeface="Arial"/>
                <a:cs typeface="Arial"/>
              </a:rPr>
              <a:t>The disobedience of Abdullah </a:t>
            </a:r>
            <a:r>
              <a:rPr dirty="0" sz="1200">
                <a:latin typeface="Arial"/>
                <a:cs typeface="Arial"/>
              </a:rPr>
              <a:t>bin </a:t>
            </a:r>
            <a:r>
              <a:rPr dirty="0" sz="1200" spc="-10">
                <a:latin typeface="Arial"/>
                <a:cs typeface="Arial"/>
              </a:rPr>
              <a:t>Jahsh </a:t>
            </a:r>
            <a:r>
              <a:rPr dirty="0" sz="1200" spc="-5">
                <a:latin typeface="Arial"/>
                <a:cs typeface="Arial"/>
              </a:rPr>
              <a:t>led towards </a:t>
            </a:r>
            <a:r>
              <a:rPr dirty="0" sz="1200">
                <a:latin typeface="Arial"/>
                <a:cs typeface="Arial"/>
              </a:rPr>
              <a:t>the </a:t>
            </a:r>
            <a:r>
              <a:rPr dirty="0" sz="1200" spc="-5">
                <a:latin typeface="Arial"/>
                <a:cs typeface="Arial"/>
              </a:rPr>
              <a:t>battle of</a:t>
            </a:r>
            <a:r>
              <a:rPr dirty="0" sz="1200" spc="60">
                <a:latin typeface="Arial"/>
                <a:cs typeface="Arial"/>
              </a:rPr>
              <a:t> </a:t>
            </a:r>
            <a:r>
              <a:rPr dirty="0" sz="1200" spc="-5">
                <a:latin typeface="Arial"/>
                <a:cs typeface="Arial"/>
              </a:rPr>
              <a:t>Badr.</a:t>
            </a:r>
            <a:endParaRPr sz="1200">
              <a:latin typeface="Arial"/>
              <a:cs typeface="Arial"/>
            </a:endParaRPr>
          </a:p>
          <a:p>
            <a:pPr marL="609600" indent="-229235">
              <a:lnSpc>
                <a:spcPts val="1410"/>
              </a:lnSpc>
              <a:buAutoNum type="arabicPeriod"/>
              <a:tabLst>
                <a:tab pos="610235" algn="l"/>
              </a:tabLst>
            </a:pPr>
            <a:r>
              <a:rPr dirty="0" sz="1200" spc="-5">
                <a:latin typeface="Arial"/>
                <a:cs typeface="Arial"/>
              </a:rPr>
              <a:t>There were </a:t>
            </a:r>
            <a:r>
              <a:rPr dirty="0" sz="1200">
                <a:latin typeface="Arial"/>
                <a:cs typeface="Arial"/>
              </a:rPr>
              <a:t>also </a:t>
            </a:r>
            <a:r>
              <a:rPr dirty="0" sz="1200" spc="-5">
                <a:latin typeface="Arial"/>
                <a:cs typeface="Arial"/>
              </a:rPr>
              <a:t>old Enmities against Muslims </a:t>
            </a:r>
            <a:r>
              <a:rPr dirty="0" sz="1200">
                <a:latin typeface="Arial"/>
                <a:cs typeface="Arial"/>
              </a:rPr>
              <a:t>– </a:t>
            </a:r>
            <a:r>
              <a:rPr dirty="0" sz="1200" spc="-5">
                <a:latin typeface="Arial"/>
                <a:cs typeface="Arial"/>
              </a:rPr>
              <a:t>persecutions and</a:t>
            </a:r>
            <a:r>
              <a:rPr dirty="0" sz="1200" spc="65">
                <a:latin typeface="Arial"/>
                <a:cs typeface="Arial"/>
              </a:rPr>
              <a:t> </a:t>
            </a:r>
            <a:r>
              <a:rPr dirty="0" sz="1200" spc="-5">
                <a:latin typeface="Arial"/>
                <a:cs typeface="Arial"/>
              </a:rPr>
              <a:t>oppositions</a:t>
            </a:r>
            <a:endParaRPr sz="12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8" name="object 8"/>
          <p:cNvSpPr txBox="1"/>
          <p:nvPr/>
        </p:nvSpPr>
        <p:spPr>
          <a:xfrm>
            <a:off x="3026791"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16</a:t>
            </a:r>
            <a:endParaRPr sz="1200">
              <a:latin typeface="Times New Roman"/>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3" name="object 3"/>
          <p:cNvSpPr/>
          <p:nvPr/>
        </p:nvSpPr>
        <p:spPr>
          <a:xfrm>
            <a:off x="731519" y="7816342"/>
            <a:ext cx="1219835" cy="15240"/>
          </a:xfrm>
          <a:custGeom>
            <a:avLst/>
            <a:gdLst/>
            <a:ahLst/>
            <a:cxnLst/>
            <a:rect l="l" t="t" r="r" b="b"/>
            <a:pathLst>
              <a:path w="1219835" h="15240">
                <a:moveTo>
                  <a:pt x="1219504" y="0"/>
                </a:moveTo>
                <a:lnTo>
                  <a:pt x="0" y="0"/>
                </a:lnTo>
                <a:lnTo>
                  <a:pt x="0" y="15240"/>
                </a:lnTo>
                <a:lnTo>
                  <a:pt x="1219504" y="15240"/>
                </a:lnTo>
                <a:lnTo>
                  <a:pt x="1219504" y="0"/>
                </a:lnTo>
                <a:close/>
              </a:path>
            </a:pathLst>
          </a:custGeom>
          <a:solidFill>
            <a:srgbClr val="000000"/>
          </a:solidFill>
        </p:spPr>
        <p:txBody>
          <a:bodyPr wrap="square" lIns="0" tIns="0" rIns="0" bIns="0" rtlCol="0"/>
          <a:lstStyle/>
          <a:p/>
        </p:txBody>
      </p:sp>
      <p:sp>
        <p:nvSpPr>
          <p:cNvPr id="4" name="object 4"/>
          <p:cNvSpPr txBox="1"/>
          <p:nvPr/>
        </p:nvSpPr>
        <p:spPr>
          <a:xfrm>
            <a:off x="579119" y="432307"/>
            <a:ext cx="6590030" cy="9338310"/>
          </a:xfrm>
          <a:prstGeom prst="rect">
            <a:avLst/>
          </a:prstGeom>
        </p:spPr>
        <p:txBody>
          <a:bodyPr wrap="square" lIns="0" tIns="12700" rIns="0" bIns="0" rtlCol="0" vert="horz">
            <a:spAutoFit/>
          </a:bodyPr>
          <a:lstStyle/>
          <a:p>
            <a:pPr algn="just" marL="152400">
              <a:lnSpc>
                <a:spcPct val="100000"/>
              </a:lnSpc>
              <a:spcBef>
                <a:spcPts val="100"/>
              </a:spcBef>
              <a:tabLst>
                <a:tab pos="52038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609600" indent="-229235">
              <a:lnSpc>
                <a:spcPts val="1410"/>
              </a:lnSpc>
              <a:spcBef>
                <a:spcPts val="5"/>
              </a:spcBef>
              <a:buAutoNum type="arabicPeriod" startAt="3"/>
              <a:tabLst>
                <a:tab pos="610235" algn="l"/>
              </a:tabLst>
            </a:pPr>
            <a:r>
              <a:rPr dirty="0" sz="1200" spc="-5">
                <a:latin typeface="Arial"/>
                <a:cs typeface="Arial"/>
              </a:rPr>
              <a:t>The </a:t>
            </a:r>
            <a:r>
              <a:rPr dirty="0" sz="1200">
                <a:latin typeface="Arial"/>
                <a:cs typeface="Arial"/>
              </a:rPr>
              <a:t>fear </a:t>
            </a:r>
            <a:r>
              <a:rPr dirty="0" sz="1200" spc="-5">
                <a:latin typeface="Arial"/>
                <a:cs typeface="Arial"/>
              </a:rPr>
              <a:t>of the advance of</a:t>
            </a:r>
            <a:r>
              <a:rPr dirty="0" sz="1200" spc="5">
                <a:latin typeface="Arial"/>
                <a:cs typeface="Arial"/>
              </a:rPr>
              <a:t> </a:t>
            </a:r>
            <a:r>
              <a:rPr dirty="0" sz="1200">
                <a:latin typeface="Arial"/>
                <a:cs typeface="Arial"/>
              </a:rPr>
              <a:t>Islam</a:t>
            </a:r>
            <a:endParaRPr sz="1200">
              <a:latin typeface="Arial"/>
              <a:cs typeface="Arial"/>
            </a:endParaRPr>
          </a:p>
          <a:p>
            <a:pPr marL="609600" indent="-229235">
              <a:lnSpc>
                <a:spcPts val="1380"/>
              </a:lnSpc>
              <a:buAutoNum type="arabicPeriod" startAt="3"/>
              <a:tabLst>
                <a:tab pos="610235" algn="l"/>
              </a:tabLst>
            </a:pPr>
            <a:r>
              <a:rPr dirty="0" sz="1200" spc="-5">
                <a:latin typeface="Arial"/>
                <a:cs typeface="Arial"/>
              </a:rPr>
              <a:t>The decision to finish off with</a:t>
            </a:r>
            <a:r>
              <a:rPr dirty="0" sz="1200" spc="15">
                <a:latin typeface="Arial"/>
                <a:cs typeface="Arial"/>
              </a:rPr>
              <a:t> </a:t>
            </a:r>
            <a:r>
              <a:rPr dirty="0" sz="1200">
                <a:latin typeface="Arial"/>
                <a:cs typeface="Arial"/>
              </a:rPr>
              <a:t>Islam</a:t>
            </a:r>
            <a:endParaRPr sz="1200">
              <a:latin typeface="Arial"/>
              <a:cs typeface="Arial"/>
            </a:endParaRPr>
          </a:p>
          <a:p>
            <a:pPr marL="609600" indent="-229235">
              <a:lnSpc>
                <a:spcPts val="1380"/>
              </a:lnSpc>
              <a:buAutoNum type="arabicPeriod" startAt="3"/>
              <a:tabLst>
                <a:tab pos="610235" algn="l"/>
              </a:tabLst>
            </a:pPr>
            <a:r>
              <a:rPr dirty="0" sz="1200">
                <a:latin typeface="Arial"/>
                <a:cs typeface="Arial"/>
              </a:rPr>
              <a:t>The fear </a:t>
            </a:r>
            <a:r>
              <a:rPr dirty="0" sz="1200" spc="-5">
                <a:latin typeface="Arial"/>
                <a:cs typeface="Arial"/>
              </a:rPr>
              <a:t>of other countries‘ conversion </a:t>
            </a:r>
            <a:r>
              <a:rPr dirty="0" sz="1200">
                <a:latin typeface="Arial"/>
                <a:cs typeface="Arial"/>
              </a:rPr>
              <a:t>to </a:t>
            </a:r>
            <a:r>
              <a:rPr dirty="0" sz="1200" spc="-5">
                <a:latin typeface="Arial"/>
                <a:cs typeface="Arial"/>
              </a:rPr>
              <a:t>Islam and </a:t>
            </a:r>
            <a:r>
              <a:rPr dirty="0" sz="1200">
                <a:latin typeface="Arial"/>
                <a:cs typeface="Arial"/>
              </a:rPr>
              <a:t>fight </a:t>
            </a:r>
            <a:r>
              <a:rPr dirty="0" sz="1200" spc="-5">
                <a:latin typeface="Arial"/>
                <a:cs typeface="Arial"/>
              </a:rPr>
              <a:t>against the</a:t>
            </a:r>
            <a:r>
              <a:rPr dirty="0" sz="1200" spc="25">
                <a:latin typeface="Arial"/>
                <a:cs typeface="Arial"/>
              </a:rPr>
              <a:t> </a:t>
            </a:r>
            <a:r>
              <a:rPr dirty="0" sz="1200" spc="-5">
                <a:latin typeface="Arial"/>
                <a:cs typeface="Arial"/>
              </a:rPr>
              <a:t>Quraish</a:t>
            </a:r>
            <a:endParaRPr sz="1200">
              <a:latin typeface="Arial"/>
              <a:cs typeface="Arial"/>
            </a:endParaRPr>
          </a:p>
          <a:p>
            <a:pPr marL="609600" indent="-229235">
              <a:lnSpc>
                <a:spcPts val="1380"/>
              </a:lnSpc>
              <a:buAutoNum type="arabicPeriod" startAt="3"/>
              <a:tabLst>
                <a:tab pos="610235" algn="l"/>
              </a:tabLst>
            </a:pPr>
            <a:r>
              <a:rPr dirty="0" sz="1200" spc="-5">
                <a:latin typeface="Arial"/>
                <a:cs typeface="Arial"/>
              </a:rPr>
              <a:t>The accusations against </a:t>
            </a:r>
            <a:r>
              <a:rPr dirty="0" sz="1200">
                <a:latin typeface="Arial"/>
                <a:cs typeface="Arial"/>
              </a:rPr>
              <a:t>the</a:t>
            </a:r>
            <a:r>
              <a:rPr dirty="0" sz="1200" spc="5">
                <a:latin typeface="Arial"/>
                <a:cs typeface="Arial"/>
              </a:rPr>
              <a:t> </a:t>
            </a:r>
            <a:r>
              <a:rPr dirty="0" sz="1200" spc="-5">
                <a:latin typeface="Arial"/>
                <a:cs typeface="Arial"/>
              </a:rPr>
              <a:t>prophet</a:t>
            </a:r>
            <a:endParaRPr sz="1200">
              <a:latin typeface="Arial"/>
              <a:cs typeface="Arial"/>
            </a:endParaRPr>
          </a:p>
          <a:p>
            <a:pPr marL="609600" indent="-229235">
              <a:lnSpc>
                <a:spcPts val="1380"/>
              </a:lnSpc>
              <a:buAutoNum type="arabicPeriod" startAt="3"/>
              <a:tabLst>
                <a:tab pos="610235" algn="l"/>
              </a:tabLst>
            </a:pPr>
            <a:r>
              <a:rPr dirty="0" sz="1200" spc="-5">
                <a:latin typeface="Arial"/>
                <a:cs typeface="Arial"/>
              </a:rPr>
              <a:t>The jealousy of the </a:t>
            </a:r>
            <a:r>
              <a:rPr dirty="0" sz="1200" spc="-10">
                <a:latin typeface="Arial"/>
                <a:cs typeface="Arial"/>
              </a:rPr>
              <a:t>Khawarij </a:t>
            </a:r>
            <a:r>
              <a:rPr dirty="0" sz="1200" spc="-5">
                <a:latin typeface="Arial"/>
                <a:cs typeface="Arial"/>
              </a:rPr>
              <a:t>towards </a:t>
            </a:r>
            <a:r>
              <a:rPr dirty="0" sz="1200">
                <a:latin typeface="Arial"/>
                <a:cs typeface="Arial"/>
              </a:rPr>
              <a:t>the</a:t>
            </a:r>
            <a:r>
              <a:rPr dirty="0" sz="1200" spc="35">
                <a:latin typeface="Arial"/>
                <a:cs typeface="Arial"/>
              </a:rPr>
              <a:t> </a:t>
            </a:r>
            <a:r>
              <a:rPr dirty="0" sz="1200" spc="-5">
                <a:latin typeface="Arial"/>
                <a:cs typeface="Arial"/>
              </a:rPr>
              <a:t>prophet</a:t>
            </a:r>
            <a:endParaRPr sz="1200">
              <a:latin typeface="Arial"/>
              <a:cs typeface="Arial"/>
            </a:endParaRPr>
          </a:p>
          <a:p>
            <a:pPr marL="609600" indent="-229235">
              <a:lnSpc>
                <a:spcPts val="1380"/>
              </a:lnSpc>
              <a:buAutoNum type="arabicPeriod" startAt="3"/>
              <a:tabLst>
                <a:tab pos="610235" algn="l"/>
              </a:tabLst>
            </a:pPr>
            <a:r>
              <a:rPr dirty="0" sz="1200" spc="-5">
                <a:latin typeface="Arial"/>
                <a:cs typeface="Arial"/>
              </a:rPr>
              <a:t>The order and authorisation from Allah </a:t>
            </a:r>
            <a:r>
              <a:rPr dirty="0" sz="1200">
                <a:latin typeface="Arial"/>
                <a:cs typeface="Arial"/>
              </a:rPr>
              <a:t>to fight</a:t>
            </a:r>
            <a:endParaRPr sz="1200">
              <a:latin typeface="Arial"/>
              <a:cs typeface="Arial"/>
            </a:endParaRPr>
          </a:p>
          <a:p>
            <a:pPr marL="609600" indent="-229235">
              <a:lnSpc>
                <a:spcPts val="1380"/>
              </a:lnSpc>
              <a:buAutoNum type="arabicPeriod" startAt="3"/>
              <a:tabLst>
                <a:tab pos="610235" algn="l"/>
              </a:tabLst>
            </a:pPr>
            <a:r>
              <a:rPr dirty="0" sz="1200" spc="-5">
                <a:latin typeface="Arial"/>
                <a:cs typeface="Arial"/>
              </a:rPr>
              <a:t>The appropriate time </a:t>
            </a:r>
            <a:r>
              <a:rPr dirty="0" sz="1200">
                <a:latin typeface="Arial"/>
                <a:cs typeface="Arial"/>
              </a:rPr>
              <a:t>to </a:t>
            </a:r>
            <a:r>
              <a:rPr dirty="0" sz="1200" spc="-5">
                <a:latin typeface="Arial"/>
                <a:cs typeface="Arial"/>
              </a:rPr>
              <a:t>stop persecution from</a:t>
            </a:r>
            <a:r>
              <a:rPr dirty="0" sz="1200" spc="15">
                <a:latin typeface="Arial"/>
                <a:cs typeface="Arial"/>
              </a:rPr>
              <a:t> </a:t>
            </a:r>
            <a:r>
              <a:rPr dirty="0" sz="1200" spc="-5">
                <a:latin typeface="Arial"/>
                <a:cs typeface="Arial"/>
              </a:rPr>
              <a:t>Quraish</a:t>
            </a:r>
            <a:endParaRPr sz="1200">
              <a:latin typeface="Arial"/>
              <a:cs typeface="Arial"/>
            </a:endParaRPr>
          </a:p>
          <a:p>
            <a:pPr marL="609600" indent="-229235">
              <a:lnSpc>
                <a:spcPts val="1410"/>
              </a:lnSpc>
              <a:buAutoNum type="arabicPeriod" startAt="3"/>
              <a:tabLst>
                <a:tab pos="610235" algn="l"/>
              </a:tabLst>
            </a:pPr>
            <a:r>
              <a:rPr dirty="0" sz="1200" spc="-5">
                <a:latin typeface="Arial"/>
                <a:cs typeface="Arial"/>
              </a:rPr>
              <a:t>The order and right given to </a:t>
            </a:r>
            <a:r>
              <a:rPr dirty="0" sz="1200">
                <a:latin typeface="Arial"/>
                <a:cs typeface="Arial"/>
              </a:rPr>
              <a:t>all </a:t>
            </a:r>
            <a:r>
              <a:rPr dirty="0" sz="1200" spc="-5">
                <a:latin typeface="Arial"/>
                <a:cs typeface="Arial"/>
              </a:rPr>
              <a:t>Muslims </a:t>
            </a:r>
            <a:r>
              <a:rPr dirty="0" sz="1200">
                <a:latin typeface="Arial"/>
                <a:cs typeface="Arial"/>
              </a:rPr>
              <a:t>to </a:t>
            </a:r>
            <a:r>
              <a:rPr dirty="0" sz="1200" spc="-5">
                <a:latin typeface="Arial"/>
                <a:cs typeface="Arial"/>
              </a:rPr>
              <a:t>defend </a:t>
            </a:r>
            <a:r>
              <a:rPr dirty="0" sz="1200">
                <a:latin typeface="Arial"/>
                <a:cs typeface="Arial"/>
              </a:rPr>
              <a:t>their</a:t>
            </a:r>
            <a:r>
              <a:rPr dirty="0" sz="1200" spc="5">
                <a:latin typeface="Arial"/>
                <a:cs typeface="Arial"/>
              </a:rPr>
              <a:t> </a:t>
            </a:r>
            <a:r>
              <a:rPr dirty="0" sz="1200" spc="-5">
                <a:latin typeface="Arial"/>
                <a:cs typeface="Arial"/>
              </a:rPr>
              <a:t>rights</a:t>
            </a:r>
            <a:endParaRPr sz="1200">
              <a:latin typeface="Arial"/>
              <a:cs typeface="Arial"/>
            </a:endParaRPr>
          </a:p>
          <a:p>
            <a:pPr>
              <a:lnSpc>
                <a:spcPct val="100000"/>
              </a:lnSpc>
              <a:spcBef>
                <a:spcPts val="55"/>
              </a:spcBef>
            </a:pPr>
            <a:endParaRPr sz="1150">
              <a:latin typeface="Arial"/>
              <a:cs typeface="Arial"/>
            </a:endParaRPr>
          </a:p>
          <a:p>
            <a:pPr algn="just" marL="152400" marR="144780">
              <a:lnSpc>
                <a:spcPct val="95900"/>
              </a:lnSpc>
            </a:pPr>
            <a:r>
              <a:rPr dirty="0" sz="1200" spc="-5">
                <a:latin typeface="Arial"/>
                <a:cs typeface="Arial"/>
              </a:rPr>
              <a:t>The </a:t>
            </a:r>
            <a:r>
              <a:rPr dirty="0" sz="1200">
                <a:latin typeface="Arial"/>
                <a:cs typeface="Arial"/>
              </a:rPr>
              <a:t>Quraish </a:t>
            </a:r>
            <a:r>
              <a:rPr dirty="0" sz="1200" spc="-5">
                <a:latin typeface="Arial"/>
                <a:cs typeface="Arial"/>
              </a:rPr>
              <a:t>built </a:t>
            </a:r>
            <a:r>
              <a:rPr dirty="0" sz="1200" spc="-10">
                <a:latin typeface="Arial"/>
                <a:cs typeface="Arial"/>
              </a:rPr>
              <a:t>up </a:t>
            </a:r>
            <a:r>
              <a:rPr dirty="0" sz="1200" spc="-5">
                <a:latin typeface="Arial"/>
                <a:cs typeface="Arial"/>
              </a:rPr>
              <a:t>their army of 1000 men, 300 horses and 700 camels, and marched  towards </a:t>
            </a:r>
            <a:r>
              <a:rPr dirty="0" sz="1200">
                <a:latin typeface="Arial"/>
                <a:cs typeface="Arial"/>
              </a:rPr>
              <a:t>Badr. </a:t>
            </a:r>
            <a:r>
              <a:rPr dirty="0" sz="1200" spc="-5">
                <a:latin typeface="Arial"/>
                <a:cs typeface="Arial"/>
              </a:rPr>
              <a:t>All of them were well trained. </a:t>
            </a:r>
            <a:r>
              <a:rPr dirty="0" sz="1200">
                <a:latin typeface="Arial"/>
                <a:cs typeface="Arial"/>
              </a:rPr>
              <a:t>It </a:t>
            </a:r>
            <a:r>
              <a:rPr dirty="0" sz="1200" spc="-10">
                <a:latin typeface="Arial"/>
                <a:cs typeface="Arial"/>
              </a:rPr>
              <a:t>was </a:t>
            </a:r>
            <a:r>
              <a:rPr dirty="0" sz="1200" spc="-5">
                <a:latin typeface="Arial"/>
                <a:cs typeface="Arial"/>
              </a:rPr>
              <a:t>known as the </a:t>
            </a:r>
            <a:r>
              <a:rPr dirty="0" sz="1200">
                <a:latin typeface="Arial"/>
                <a:cs typeface="Arial"/>
              </a:rPr>
              <a:t>best </a:t>
            </a:r>
            <a:r>
              <a:rPr dirty="0" sz="1200" spc="-5">
                <a:latin typeface="Arial"/>
                <a:cs typeface="Arial"/>
              </a:rPr>
              <a:t>army of the Arabic  world. </a:t>
            </a:r>
            <a:r>
              <a:rPr dirty="0" sz="1200" spc="5">
                <a:latin typeface="Arial"/>
                <a:cs typeface="Arial"/>
              </a:rPr>
              <a:t>When </a:t>
            </a:r>
            <a:r>
              <a:rPr dirty="0" sz="1200" spc="-5">
                <a:latin typeface="Arial"/>
                <a:cs typeface="Arial"/>
              </a:rPr>
              <a:t>the army </a:t>
            </a:r>
            <a:r>
              <a:rPr dirty="0" sz="1200">
                <a:latin typeface="Arial"/>
                <a:cs typeface="Arial"/>
              </a:rPr>
              <a:t>met </a:t>
            </a:r>
            <a:r>
              <a:rPr dirty="0" sz="1200" spc="-5">
                <a:latin typeface="Arial"/>
                <a:cs typeface="Arial"/>
              </a:rPr>
              <a:t>Abu Sufyan </a:t>
            </a:r>
            <a:r>
              <a:rPr dirty="0" sz="1200" spc="-10">
                <a:latin typeface="Arial"/>
                <a:cs typeface="Arial"/>
              </a:rPr>
              <a:t>on the way, </a:t>
            </a:r>
            <a:r>
              <a:rPr dirty="0" sz="1200">
                <a:latin typeface="Arial"/>
                <a:cs typeface="Arial"/>
              </a:rPr>
              <a:t>they </a:t>
            </a:r>
            <a:r>
              <a:rPr dirty="0" sz="1200" spc="-5">
                <a:latin typeface="Arial"/>
                <a:cs typeface="Arial"/>
              </a:rPr>
              <a:t>didn‘t want </a:t>
            </a:r>
            <a:r>
              <a:rPr dirty="0" sz="1200">
                <a:latin typeface="Arial"/>
                <a:cs typeface="Arial"/>
              </a:rPr>
              <a:t>to </a:t>
            </a:r>
            <a:r>
              <a:rPr dirty="0" sz="1200" spc="-5">
                <a:latin typeface="Arial"/>
                <a:cs typeface="Arial"/>
              </a:rPr>
              <a:t>return </a:t>
            </a:r>
            <a:r>
              <a:rPr dirty="0" sz="1200">
                <a:latin typeface="Arial"/>
                <a:cs typeface="Arial"/>
              </a:rPr>
              <a:t>back to </a:t>
            </a:r>
            <a:r>
              <a:rPr dirty="0" sz="1200" spc="-5">
                <a:latin typeface="Arial"/>
                <a:cs typeface="Arial"/>
              </a:rPr>
              <a:t>Macca.  They </a:t>
            </a:r>
            <a:r>
              <a:rPr dirty="0" sz="1200">
                <a:latin typeface="Arial"/>
                <a:cs typeface="Arial"/>
              </a:rPr>
              <a:t>took that </a:t>
            </a:r>
            <a:r>
              <a:rPr dirty="0" sz="1200" spc="-5">
                <a:latin typeface="Arial"/>
                <a:cs typeface="Arial"/>
              </a:rPr>
              <a:t>opportunity as an excuse </a:t>
            </a:r>
            <a:r>
              <a:rPr dirty="0" sz="1200">
                <a:latin typeface="Arial"/>
                <a:cs typeface="Arial"/>
              </a:rPr>
              <a:t>to </a:t>
            </a:r>
            <a:r>
              <a:rPr dirty="0" sz="1200" spc="-5">
                <a:latin typeface="Arial"/>
                <a:cs typeface="Arial"/>
              </a:rPr>
              <a:t>fight </a:t>
            </a:r>
            <a:r>
              <a:rPr dirty="0" sz="1200">
                <a:latin typeface="Arial"/>
                <a:cs typeface="Arial"/>
              </a:rPr>
              <a:t>the </a:t>
            </a:r>
            <a:r>
              <a:rPr dirty="0" sz="1200" spc="-5">
                <a:latin typeface="Arial"/>
                <a:cs typeface="Arial"/>
              </a:rPr>
              <a:t>Muslims. </a:t>
            </a:r>
            <a:r>
              <a:rPr dirty="0" sz="1200">
                <a:latin typeface="Arial"/>
                <a:cs typeface="Arial"/>
              </a:rPr>
              <a:t>When the </a:t>
            </a:r>
            <a:r>
              <a:rPr dirty="0" sz="1200" spc="-5">
                <a:latin typeface="Arial"/>
                <a:cs typeface="Arial"/>
              </a:rPr>
              <a:t>Muslims heard about  </a:t>
            </a:r>
            <a:r>
              <a:rPr dirty="0" sz="1200">
                <a:latin typeface="Arial"/>
                <a:cs typeface="Arial"/>
              </a:rPr>
              <a:t>the </a:t>
            </a:r>
            <a:r>
              <a:rPr dirty="0" sz="1200" spc="-5">
                <a:latin typeface="Arial"/>
                <a:cs typeface="Arial"/>
              </a:rPr>
              <a:t>plan of the Quraish, he gathered his army of 313 Muslims, 2 horses and </a:t>
            </a:r>
            <a:r>
              <a:rPr dirty="0" sz="1200">
                <a:latin typeface="Arial"/>
                <a:cs typeface="Arial"/>
              </a:rPr>
              <a:t>70 </a:t>
            </a:r>
            <a:r>
              <a:rPr dirty="0" sz="1200" spc="-5">
                <a:latin typeface="Arial"/>
                <a:cs typeface="Arial"/>
              </a:rPr>
              <a:t>camels. </a:t>
            </a:r>
            <a:r>
              <a:rPr dirty="0" sz="1200">
                <a:latin typeface="Arial"/>
                <a:cs typeface="Arial"/>
              </a:rPr>
              <a:t>They  </a:t>
            </a:r>
            <a:r>
              <a:rPr dirty="0" sz="1200" spc="-5">
                <a:latin typeface="Arial"/>
                <a:cs typeface="Arial"/>
              </a:rPr>
              <a:t>advanced towards Badr, 80 miles away </a:t>
            </a:r>
            <a:r>
              <a:rPr dirty="0" sz="1200">
                <a:latin typeface="Arial"/>
                <a:cs typeface="Arial"/>
              </a:rPr>
              <a:t>from Madina. </a:t>
            </a:r>
            <a:r>
              <a:rPr dirty="0" sz="1200" spc="-5">
                <a:latin typeface="Arial"/>
                <a:cs typeface="Arial"/>
              </a:rPr>
              <a:t>It occurred </a:t>
            </a:r>
            <a:r>
              <a:rPr dirty="0" sz="1200" spc="-10">
                <a:latin typeface="Arial"/>
                <a:cs typeface="Arial"/>
              </a:rPr>
              <a:t>on </a:t>
            </a:r>
            <a:r>
              <a:rPr dirty="0" sz="1200" spc="-5">
                <a:latin typeface="Arial"/>
                <a:cs typeface="Arial"/>
              </a:rPr>
              <a:t>a Friday Morning </a:t>
            </a:r>
            <a:r>
              <a:rPr dirty="0" sz="1200">
                <a:latin typeface="Arial"/>
                <a:cs typeface="Arial"/>
              </a:rPr>
              <a:t>17</a:t>
            </a:r>
            <a:r>
              <a:rPr dirty="0" baseline="38194" sz="1200">
                <a:latin typeface="Arial"/>
                <a:cs typeface="Arial"/>
              </a:rPr>
              <a:t>th </a:t>
            </a:r>
            <a:r>
              <a:rPr dirty="0" sz="1200">
                <a:latin typeface="Arial"/>
                <a:cs typeface="Arial"/>
              </a:rPr>
              <a:t>of  </a:t>
            </a:r>
            <a:r>
              <a:rPr dirty="0" sz="1200" spc="-5">
                <a:latin typeface="Arial"/>
                <a:cs typeface="Arial"/>
              </a:rPr>
              <a:t>Ramadhan. </a:t>
            </a:r>
            <a:r>
              <a:rPr dirty="0" sz="1200">
                <a:latin typeface="Arial"/>
                <a:cs typeface="Arial"/>
              </a:rPr>
              <a:t>The </a:t>
            </a:r>
            <a:r>
              <a:rPr dirty="0" sz="1200" spc="-5">
                <a:latin typeface="Arial"/>
                <a:cs typeface="Arial"/>
              </a:rPr>
              <a:t>custom </a:t>
            </a:r>
            <a:r>
              <a:rPr dirty="0" sz="1200" spc="-10">
                <a:latin typeface="Arial"/>
                <a:cs typeface="Arial"/>
              </a:rPr>
              <a:t>was </a:t>
            </a:r>
            <a:r>
              <a:rPr dirty="0" sz="1200">
                <a:latin typeface="Arial"/>
                <a:cs typeface="Arial"/>
              </a:rPr>
              <a:t>that </a:t>
            </a:r>
            <a:r>
              <a:rPr dirty="0" sz="1200" spc="-5">
                <a:latin typeface="Arial"/>
                <a:cs typeface="Arial"/>
              </a:rPr>
              <a:t>3 men from both armies would fight and later </a:t>
            </a:r>
            <a:r>
              <a:rPr dirty="0" sz="1200" spc="-10">
                <a:latin typeface="Arial"/>
                <a:cs typeface="Arial"/>
              </a:rPr>
              <a:t>on </a:t>
            </a:r>
            <a:r>
              <a:rPr dirty="0" sz="1200" spc="-5">
                <a:latin typeface="Arial"/>
                <a:cs typeface="Arial"/>
              </a:rPr>
              <a:t>the whole  </a:t>
            </a:r>
            <a:r>
              <a:rPr dirty="0" sz="1200">
                <a:latin typeface="Arial"/>
                <a:cs typeface="Arial"/>
              </a:rPr>
              <a:t>army </a:t>
            </a:r>
            <a:r>
              <a:rPr dirty="0" sz="1200" spc="-5">
                <a:latin typeface="Arial"/>
                <a:cs typeface="Arial"/>
              </a:rPr>
              <a:t>would </a:t>
            </a:r>
            <a:r>
              <a:rPr dirty="0" sz="1200">
                <a:latin typeface="Arial"/>
                <a:cs typeface="Arial"/>
              </a:rPr>
              <a:t>meet for </a:t>
            </a:r>
            <a:r>
              <a:rPr dirty="0" sz="1200" spc="-5">
                <a:latin typeface="Arial"/>
                <a:cs typeface="Arial"/>
              </a:rPr>
              <a:t>fighting. From </a:t>
            </a:r>
            <a:r>
              <a:rPr dirty="0" sz="1200">
                <a:latin typeface="Arial"/>
                <a:cs typeface="Arial"/>
              </a:rPr>
              <a:t>the </a:t>
            </a:r>
            <a:r>
              <a:rPr dirty="0" sz="1200" spc="-5">
                <a:latin typeface="Arial"/>
                <a:cs typeface="Arial"/>
              </a:rPr>
              <a:t>Quraish </a:t>
            </a:r>
            <a:r>
              <a:rPr dirty="0" sz="1200">
                <a:latin typeface="Arial"/>
                <a:cs typeface="Arial"/>
              </a:rPr>
              <a:t>side, </a:t>
            </a:r>
            <a:r>
              <a:rPr dirty="0" sz="1200" spc="-5">
                <a:latin typeface="Arial"/>
                <a:cs typeface="Arial"/>
              </a:rPr>
              <a:t>the names of Shaibah, </a:t>
            </a:r>
            <a:r>
              <a:rPr dirty="0" sz="1200" spc="-70">
                <a:latin typeface="Arial"/>
                <a:cs typeface="Arial"/>
              </a:rPr>
              <a:t>‗Utbah </a:t>
            </a:r>
            <a:r>
              <a:rPr dirty="0" sz="1200" spc="-5">
                <a:latin typeface="Arial"/>
                <a:cs typeface="Arial"/>
              </a:rPr>
              <a:t>and  </a:t>
            </a:r>
            <a:r>
              <a:rPr dirty="0" sz="1200">
                <a:latin typeface="Arial"/>
                <a:cs typeface="Arial"/>
              </a:rPr>
              <a:t>Walid </a:t>
            </a:r>
            <a:r>
              <a:rPr dirty="0" sz="1200" spc="-5">
                <a:latin typeface="Arial"/>
                <a:cs typeface="Arial"/>
              </a:rPr>
              <a:t>bin </a:t>
            </a:r>
            <a:r>
              <a:rPr dirty="0" sz="1200" spc="-70">
                <a:latin typeface="Arial"/>
                <a:cs typeface="Arial"/>
              </a:rPr>
              <a:t>‗Utbah </a:t>
            </a:r>
            <a:r>
              <a:rPr dirty="0" sz="1200" spc="-5">
                <a:latin typeface="Arial"/>
                <a:cs typeface="Arial"/>
              </a:rPr>
              <a:t>were mentioned and </a:t>
            </a:r>
            <a:r>
              <a:rPr dirty="0" sz="1200">
                <a:latin typeface="Arial"/>
                <a:cs typeface="Arial"/>
              </a:rPr>
              <a:t>from </a:t>
            </a:r>
            <a:r>
              <a:rPr dirty="0" sz="1200" spc="-5">
                <a:latin typeface="Arial"/>
                <a:cs typeface="Arial"/>
              </a:rPr>
              <a:t>the Muslims there were </a:t>
            </a:r>
            <a:r>
              <a:rPr dirty="0" sz="1200" spc="-55">
                <a:latin typeface="Arial"/>
                <a:cs typeface="Arial"/>
              </a:rPr>
              <a:t>‗Ubaidah </a:t>
            </a:r>
            <a:r>
              <a:rPr dirty="0" sz="1200" spc="-5">
                <a:latin typeface="Arial"/>
                <a:cs typeface="Arial"/>
              </a:rPr>
              <a:t>bin </a:t>
            </a:r>
            <a:r>
              <a:rPr dirty="0" sz="1200">
                <a:latin typeface="Arial"/>
                <a:cs typeface="Arial"/>
              </a:rPr>
              <a:t>al </a:t>
            </a:r>
            <a:r>
              <a:rPr dirty="0" sz="1200" spc="-5">
                <a:latin typeface="Arial"/>
                <a:cs typeface="Arial"/>
              </a:rPr>
              <a:t>Harith,  Hamzah bin Abdul Muttalib and Ali bin Abu Twalib. </a:t>
            </a:r>
            <a:r>
              <a:rPr dirty="0" sz="1200">
                <a:latin typeface="Arial"/>
                <a:cs typeface="Arial"/>
              </a:rPr>
              <a:t>At </a:t>
            </a:r>
            <a:r>
              <a:rPr dirty="0" sz="1200" spc="-5">
                <a:latin typeface="Arial"/>
                <a:cs typeface="Arial"/>
              </a:rPr>
              <a:t>the end Hamzah killed Shaibah, Ali  killed</a:t>
            </a:r>
            <a:r>
              <a:rPr dirty="0" sz="1200" spc="130">
                <a:latin typeface="Arial"/>
                <a:cs typeface="Arial"/>
              </a:rPr>
              <a:t> </a:t>
            </a:r>
            <a:r>
              <a:rPr dirty="0" sz="1200">
                <a:latin typeface="Arial"/>
                <a:cs typeface="Arial"/>
              </a:rPr>
              <a:t>Walid</a:t>
            </a:r>
            <a:r>
              <a:rPr dirty="0" sz="1200" spc="140">
                <a:latin typeface="Arial"/>
                <a:cs typeface="Arial"/>
              </a:rPr>
              <a:t> </a:t>
            </a:r>
            <a:r>
              <a:rPr dirty="0" sz="1200" spc="-5">
                <a:latin typeface="Arial"/>
                <a:cs typeface="Arial"/>
              </a:rPr>
              <a:t>bin</a:t>
            </a:r>
            <a:r>
              <a:rPr dirty="0" sz="1200" spc="140">
                <a:latin typeface="Arial"/>
                <a:cs typeface="Arial"/>
              </a:rPr>
              <a:t> </a:t>
            </a:r>
            <a:r>
              <a:rPr dirty="0" sz="1200" spc="-60">
                <a:latin typeface="Arial"/>
                <a:cs typeface="Arial"/>
              </a:rPr>
              <a:t>‗Utbah,</a:t>
            </a:r>
            <a:r>
              <a:rPr dirty="0" sz="1200" spc="155">
                <a:latin typeface="Arial"/>
                <a:cs typeface="Arial"/>
              </a:rPr>
              <a:t> </a:t>
            </a:r>
            <a:r>
              <a:rPr dirty="0" sz="1200" spc="-70">
                <a:latin typeface="Arial"/>
                <a:cs typeface="Arial"/>
              </a:rPr>
              <a:t>‗Utbah</a:t>
            </a:r>
            <a:r>
              <a:rPr dirty="0" sz="1200" spc="140">
                <a:latin typeface="Arial"/>
                <a:cs typeface="Arial"/>
              </a:rPr>
              <a:t> </a:t>
            </a:r>
            <a:r>
              <a:rPr dirty="0" sz="1200" spc="-5">
                <a:latin typeface="Arial"/>
                <a:cs typeface="Arial"/>
              </a:rPr>
              <a:t>wounded</a:t>
            </a:r>
            <a:r>
              <a:rPr dirty="0" sz="1200" spc="155">
                <a:latin typeface="Arial"/>
                <a:cs typeface="Arial"/>
              </a:rPr>
              <a:t> </a:t>
            </a:r>
            <a:r>
              <a:rPr dirty="0" sz="1200" spc="-55">
                <a:latin typeface="Arial"/>
                <a:cs typeface="Arial"/>
              </a:rPr>
              <a:t>‗Ubaidah</a:t>
            </a:r>
            <a:r>
              <a:rPr dirty="0" sz="1200" spc="140">
                <a:latin typeface="Arial"/>
                <a:cs typeface="Arial"/>
              </a:rPr>
              <a:t> </a:t>
            </a:r>
            <a:r>
              <a:rPr dirty="0" sz="1200" spc="-5">
                <a:latin typeface="Arial"/>
                <a:cs typeface="Arial"/>
              </a:rPr>
              <a:t>and</a:t>
            </a:r>
            <a:r>
              <a:rPr dirty="0" sz="1200" spc="150">
                <a:latin typeface="Arial"/>
                <a:cs typeface="Arial"/>
              </a:rPr>
              <a:t> </a:t>
            </a:r>
            <a:r>
              <a:rPr dirty="0" sz="1200" spc="-5">
                <a:latin typeface="Arial"/>
                <a:cs typeface="Arial"/>
              </a:rPr>
              <a:t>lastly</a:t>
            </a:r>
            <a:r>
              <a:rPr dirty="0" sz="1200" spc="135">
                <a:latin typeface="Arial"/>
                <a:cs typeface="Arial"/>
              </a:rPr>
              <a:t> </a:t>
            </a:r>
            <a:r>
              <a:rPr dirty="0" sz="1200" spc="-5">
                <a:latin typeface="Arial"/>
                <a:cs typeface="Arial"/>
              </a:rPr>
              <a:t>Ali</a:t>
            </a:r>
            <a:r>
              <a:rPr dirty="0" sz="1200" spc="150">
                <a:latin typeface="Arial"/>
                <a:cs typeface="Arial"/>
              </a:rPr>
              <a:t> </a:t>
            </a:r>
            <a:r>
              <a:rPr dirty="0" sz="1200" spc="-10">
                <a:latin typeface="Arial"/>
                <a:cs typeface="Arial"/>
              </a:rPr>
              <a:t>and</a:t>
            </a:r>
            <a:r>
              <a:rPr dirty="0" sz="1200" spc="150">
                <a:latin typeface="Arial"/>
                <a:cs typeface="Arial"/>
              </a:rPr>
              <a:t> </a:t>
            </a:r>
            <a:r>
              <a:rPr dirty="0" sz="1200" spc="-5">
                <a:latin typeface="Arial"/>
                <a:cs typeface="Arial"/>
              </a:rPr>
              <a:t>Hamzah</a:t>
            </a:r>
            <a:r>
              <a:rPr dirty="0" sz="1200" spc="155">
                <a:latin typeface="Arial"/>
                <a:cs typeface="Arial"/>
              </a:rPr>
              <a:t> </a:t>
            </a:r>
            <a:r>
              <a:rPr dirty="0" sz="1200" spc="-5">
                <a:latin typeface="Arial"/>
                <a:cs typeface="Arial"/>
              </a:rPr>
              <a:t>killed</a:t>
            </a:r>
            <a:r>
              <a:rPr dirty="0" sz="1200" spc="155">
                <a:latin typeface="Arial"/>
                <a:cs typeface="Arial"/>
              </a:rPr>
              <a:t> </a:t>
            </a:r>
            <a:r>
              <a:rPr dirty="0" sz="1200" spc="-65">
                <a:latin typeface="Arial"/>
                <a:cs typeface="Arial"/>
              </a:rPr>
              <a:t>‗Utbah.</a:t>
            </a:r>
            <a:endParaRPr sz="1200">
              <a:latin typeface="Arial"/>
              <a:cs typeface="Arial"/>
            </a:endParaRPr>
          </a:p>
          <a:p>
            <a:pPr algn="just" marL="152400" marR="151765">
              <a:lnSpc>
                <a:spcPts val="1380"/>
              </a:lnSpc>
              <a:spcBef>
                <a:spcPts val="35"/>
              </a:spcBef>
            </a:pPr>
            <a:r>
              <a:rPr dirty="0" sz="1200" spc="-55">
                <a:latin typeface="Arial"/>
                <a:cs typeface="Arial"/>
              </a:rPr>
              <a:t>‗Ubaidah </a:t>
            </a:r>
            <a:r>
              <a:rPr dirty="0" sz="1200" spc="-5">
                <a:latin typeface="Arial"/>
                <a:cs typeface="Arial"/>
              </a:rPr>
              <a:t>bin Sa‘ad bin </a:t>
            </a:r>
            <a:r>
              <a:rPr dirty="0" sz="1200">
                <a:latin typeface="Arial"/>
                <a:cs typeface="Arial"/>
              </a:rPr>
              <a:t>al As </a:t>
            </a:r>
            <a:r>
              <a:rPr dirty="0" sz="1200" spc="-5">
                <a:latin typeface="Arial"/>
                <a:cs typeface="Arial"/>
              </a:rPr>
              <a:t>wanted </a:t>
            </a:r>
            <a:r>
              <a:rPr dirty="0" sz="1200">
                <a:latin typeface="Arial"/>
                <a:cs typeface="Arial"/>
              </a:rPr>
              <a:t>to </a:t>
            </a:r>
            <a:r>
              <a:rPr dirty="0" sz="1200" spc="-5">
                <a:latin typeface="Arial"/>
                <a:cs typeface="Arial"/>
              </a:rPr>
              <a:t>challenge </a:t>
            </a:r>
            <a:r>
              <a:rPr dirty="0" sz="1200">
                <a:latin typeface="Arial"/>
                <a:cs typeface="Arial"/>
              </a:rPr>
              <a:t>the </a:t>
            </a:r>
            <a:r>
              <a:rPr dirty="0" sz="1200" spc="-5">
                <a:latin typeface="Arial"/>
                <a:cs typeface="Arial"/>
              </a:rPr>
              <a:t>Muslims </a:t>
            </a:r>
            <a:r>
              <a:rPr dirty="0" sz="1200" spc="-10">
                <a:latin typeface="Arial"/>
                <a:cs typeface="Arial"/>
              </a:rPr>
              <a:t>but </a:t>
            </a:r>
            <a:r>
              <a:rPr dirty="0" sz="1200">
                <a:latin typeface="Arial"/>
                <a:cs typeface="Arial"/>
              </a:rPr>
              <a:t>Zubair </a:t>
            </a:r>
            <a:r>
              <a:rPr dirty="0" sz="1200" spc="-5">
                <a:latin typeface="Arial"/>
                <a:cs typeface="Arial"/>
              </a:rPr>
              <a:t>killed him </a:t>
            </a:r>
            <a:r>
              <a:rPr dirty="0" sz="1200" spc="-10">
                <a:latin typeface="Arial"/>
                <a:cs typeface="Arial"/>
              </a:rPr>
              <a:t>with </a:t>
            </a:r>
            <a:r>
              <a:rPr dirty="0" sz="1200">
                <a:latin typeface="Arial"/>
                <a:cs typeface="Arial"/>
              </a:rPr>
              <a:t>a  </a:t>
            </a:r>
            <a:r>
              <a:rPr dirty="0" sz="1200" spc="-5">
                <a:latin typeface="Arial"/>
                <a:cs typeface="Arial"/>
              </a:rPr>
              <a:t>spear. In that battle only 14 Muslims died but </a:t>
            </a:r>
            <a:r>
              <a:rPr dirty="0" sz="1200" spc="-10">
                <a:latin typeface="Arial"/>
                <a:cs typeface="Arial"/>
              </a:rPr>
              <a:t>70 </a:t>
            </a:r>
            <a:r>
              <a:rPr dirty="0" sz="1200">
                <a:latin typeface="Arial"/>
                <a:cs typeface="Arial"/>
              </a:rPr>
              <a:t>Quraish </a:t>
            </a:r>
            <a:r>
              <a:rPr dirty="0" sz="1200" spc="-5">
                <a:latin typeface="Arial"/>
                <a:cs typeface="Arial"/>
              </a:rPr>
              <a:t>died and </a:t>
            </a:r>
            <a:r>
              <a:rPr dirty="0" sz="1200" spc="-10">
                <a:latin typeface="Arial"/>
                <a:cs typeface="Arial"/>
              </a:rPr>
              <a:t>70 </a:t>
            </a:r>
            <a:r>
              <a:rPr dirty="0" sz="1200" spc="-5">
                <a:latin typeface="Arial"/>
                <a:cs typeface="Arial"/>
              </a:rPr>
              <a:t>were </a:t>
            </a:r>
            <a:r>
              <a:rPr dirty="0" sz="1200">
                <a:latin typeface="Arial"/>
                <a:cs typeface="Arial"/>
              </a:rPr>
              <a:t>taken </a:t>
            </a:r>
            <a:r>
              <a:rPr dirty="0" sz="1200" spc="-5">
                <a:latin typeface="Arial"/>
                <a:cs typeface="Arial"/>
              </a:rPr>
              <a:t>as  prisoners.</a:t>
            </a:r>
            <a:endParaRPr sz="1200">
              <a:latin typeface="Arial"/>
              <a:cs typeface="Arial"/>
            </a:endParaRPr>
          </a:p>
          <a:p>
            <a:pPr>
              <a:lnSpc>
                <a:spcPct val="100000"/>
              </a:lnSpc>
              <a:spcBef>
                <a:spcPts val="20"/>
              </a:spcBef>
            </a:pPr>
            <a:endParaRPr sz="1100">
              <a:latin typeface="Arial"/>
              <a:cs typeface="Arial"/>
            </a:endParaRPr>
          </a:p>
          <a:p>
            <a:pPr marL="152400">
              <a:lnSpc>
                <a:spcPct val="100000"/>
              </a:lnSpc>
            </a:pPr>
            <a:r>
              <a:rPr dirty="0" u="heavy" sz="1200" spc="-5" b="1" i="1">
                <a:uFill>
                  <a:solidFill>
                    <a:srgbClr val="000000"/>
                  </a:solidFill>
                </a:uFill>
                <a:latin typeface="Arial"/>
                <a:cs typeface="Arial"/>
              </a:rPr>
              <a:t>The </a:t>
            </a:r>
            <a:r>
              <a:rPr dirty="0" u="heavy" sz="1200" b="1" i="1">
                <a:uFill>
                  <a:solidFill>
                    <a:srgbClr val="000000"/>
                  </a:solidFill>
                </a:uFill>
                <a:latin typeface="Arial"/>
                <a:cs typeface="Arial"/>
              </a:rPr>
              <a:t>battle of </a:t>
            </a:r>
            <a:r>
              <a:rPr dirty="0" u="heavy" sz="1200" spc="-5" b="1" i="1">
                <a:uFill>
                  <a:solidFill>
                    <a:srgbClr val="000000"/>
                  </a:solidFill>
                </a:uFill>
                <a:latin typeface="Arial"/>
                <a:cs typeface="Arial"/>
              </a:rPr>
              <a:t>Badr </a:t>
            </a:r>
            <a:r>
              <a:rPr dirty="0" u="heavy" sz="1200" spc="-10" b="1" i="1">
                <a:uFill>
                  <a:solidFill>
                    <a:srgbClr val="000000"/>
                  </a:solidFill>
                </a:uFill>
                <a:latin typeface="Arial"/>
                <a:cs typeface="Arial"/>
              </a:rPr>
              <a:t>was </a:t>
            </a:r>
            <a:r>
              <a:rPr dirty="0" u="heavy" sz="1200" spc="-5" b="1" i="1">
                <a:uFill>
                  <a:solidFill>
                    <a:srgbClr val="000000"/>
                  </a:solidFill>
                </a:uFill>
                <a:latin typeface="Arial"/>
                <a:cs typeface="Arial"/>
              </a:rPr>
              <a:t>important and significant</a:t>
            </a:r>
            <a:r>
              <a:rPr dirty="0" u="heavy" sz="1200" spc="50" b="1" i="1">
                <a:uFill>
                  <a:solidFill>
                    <a:srgbClr val="000000"/>
                  </a:solidFill>
                </a:uFill>
                <a:latin typeface="Arial"/>
                <a:cs typeface="Arial"/>
              </a:rPr>
              <a:t> </a:t>
            </a:r>
            <a:r>
              <a:rPr dirty="0" u="heavy" sz="1200" spc="-5" b="1" i="1">
                <a:uFill>
                  <a:solidFill>
                    <a:srgbClr val="000000"/>
                  </a:solidFill>
                </a:uFill>
                <a:latin typeface="Arial"/>
                <a:cs typeface="Arial"/>
              </a:rPr>
              <a:t>because:</a:t>
            </a:r>
            <a:endParaRPr sz="1200">
              <a:latin typeface="Arial"/>
              <a:cs typeface="Arial"/>
            </a:endParaRPr>
          </a:p>
          <a:p>
            <a:pPr>
              <a:lnSpc>
                <a:spcPct val="100000"/>
              </a:lnSpc>
            </a:pPr>
            <a:endParaRPr sz="1150">
              <a:latin typeface="Arial"/>
              <a:cs typeface="Arial"/>
            </a:endParaRPr>
          </a:p>
          <a:p>
            <a:pPr marL="609600" indent="-229235">
              <a:lnSpc>
                <a:spcPts val="1410"/>
              </a:lnSpc>
              <a:buAutoNum type="arabicPeriod"/>
              <a:tabLst>
                <a:tab pos="610235" algn="l"/>
              </a:tabLst>
            </a:pPr>
            <a:r>
              <a:rPr dirty="0" sz="1200">
                <a:latin typeface="Arial"/>
                <a:cs typeface="Arial"/>
              </a:rPr>
              <a:t>It </a:t>
            </a:r>
            <a:r>
              <a:rPr dirty="0" sz="1200" spc="-10">
                <a:latin typeface="Arial"/>
                <a:cs typeface="Arial"/>
              </a:rPr>
              <a:t>was </a:t>
            </a:r>
            <a:r>
              <a:rPr dirty="0" sz="1200" spc="-5">
                <a:latin typeface="Arial"/>
                <a:cs typeface="Arial"/>
              </a:rPr>
              <a:t>the </a:t>
            </a:r>
            <a:r>
              <a:rPr dirty="0" sz="1200">
                <a:latin typeface="Arial"/>
                <a:cs typeface="Arial"/>
              </a:rPr>
              <a:t>1</a:t>
            </a:r>
            <a:r>
              <a:rPr dirty="0" baseline="38194" sz="1200">
                <a:latin typeface="Arial"/>
                <a:cs typeface="Arial"/>
              </a:rPr>
              <a:t>st </a:t>
            </a:r>
            <a:r>
              <a:rPr dirty="0" sz="1200" spc="-5">
                <a:latin typeface="Arial"/>
                <a:cs typeface="Arial"/>
              </a:rPr>
              <a:t>battle opening </a:t>
            </a:r>
            <a:r>
              <a:rPr dirty="0" sz="1200">
                <a:latin typeface="Arial"/>
                <a:cs typeface="Arial"/>
              </a:rPr>
              <a:t>the </a:t>
            </a:r>
            <a:r>
              <a:rPr dirty="0" sz="1200" spc="-5">
                <a:latin typeface="Arial"/>
                <a:cs typeface="Arial"/>
              </a:rPr>
              <a:t>gate </a:t>
            </a:r>
            <a:r>
              <a:rPr dirty="0" sz="1200">
                <a:latin typeface="Arial"/>
                <a:cs typeface="Arial"/>
              </a:rPr>
              <a:t>for </a:t>
            </a:r>
            <a:r>
              <a:rPr dirty="0" sz="1200" spc="-5">
                <a:latin typeface="Arial"/>
                <a:cs typeface="Arial"/>
              </a:rPr>
              <a:t>permission to</a:t>
            </a:r>
            <a:r>
              <a:rPr dirty="0" sz="1200" spc="-114">
                <a:latin typeface="Arial"/>
                <a:cs typeface="Arial"/>
              </a:rPr>
              <a:t> </a:t>
            </a:r>
            <a:r>
              <a:rPr dirty="0" sz="1200">
                <a:latin typeface="Arial"/>
                <a:cs typeface="Arial"/>
              </a:rPr>
              <a:t>fight</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a:t>
            </a:r>
            <a:r>
              <a:rPr dirty="0" sz="1200">
                <a:latin typeface="Arial"/>
                <a:cs typeface="Arial"/>
              </a:rPr>
              <a:t>1</a:t>
            </a:r>
            <a:r>
              <a:rPr dirty="0" baseline="38194" sz="1200">
                <a:latin typeface="Arial"/>
                <a:cs typeface="Arial"/>
              </a:rPr>
              <a:t>st </a:t>
            </a:r>
            <a:r>
              <a:rPr dirty="0" sz="1200" spc="-5">
                <a:latin typeface="Arial"/>
                <a:cs typeface="Arial"/>
              </a:rPr>
              <a:t>battle where a victory </a:t>
            </a:r>
            <a:r>
              <a:rPr dirty="0" sz="1200" spc="-10">
                <a:latin typeface="Arial"/>
                <a:cs typeface="Arial"/>
              </a:rPr>
              <a:t>was</a:t>
            </a:r>
            <a:r>
              <a:rPr dirty="0" sz="1200" spc="-105">
                <a:latin typeface="Arial"/>
                <a:cs typeface="Arial"/>
              </a:rPr>
              <a:t> </a:t>
            </a:r>
            <a:r>
              <a:rPr dirty="0" sz="1200">
                <a:latin typeface="Arial"/>
                <a:cs typeface="Arial"/>
              </a:rPr>
              <a:t>necessary</a:t>
            </a:r>
            <a:endParaRPr sz="1200">
              <a:latin typeface="Arial"/>
              <a:cs typeface="Arial"/>
            </a:endParaRPr>
          </a:p>
          <a:p>
            <a:pPr marL="609600" indent="-229235">
              <a:lnSpc>
                <a:spcPts val="1380"/>
              </a:lnSpc>
              <a:buAutoNum type="arabicPeriod"/>
              <a:tabLst>
                <a:tab pos="610235" algn="l"/>
              </a:tabLst>
            </a:pPr>
            <a:r>
              <a:rPr dirty="0" sz="1200">
                <a:latin typeface="Arial"/>
                <a:cs typeface="Arial"/>
              </a:rPr>
              <a:t>A </a:t>
            </a:r>
            <a:r>
              <a:rPr dirty="0" sz="1200" spc="-5">
                <a:latin typeface="Arial"/>
                <a:cs typeface="Arial"/>
              </a:rPr>
              <a:t>humiliating defeat of </a:t>
            </a:r>
            <a:r>
              <a:rPr dirty="0" sz="1200">
                <a:latin typeface="Arial"/>
                <a:cs typeface="Arial"/>
              </a:rPr>
              <a:t>the </a:t>
            </a:r>
            <a:r>
              <a:rPr dirty="0" sz="1200" spc="-5">
                <a:latin typeface="Arial"/>
                <a:cs typeface="Arial"/>
              </a:rPr>
              <a:t>Quraish</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assertion of the </a:t>
            </a:r>
            <a:r>
              <a:rPr dirty="0" sz="1200" spc="-10">
                <a:latin typeface="Arial"/>
                <a:cs typeface="Arial"/>
              </a:rPr>
              <a:t>Power </a:t>
            </a:r>
            <a:r>
              <a:rPr dirty="0" sz="1200">
                <a:latin typeface="Arial"/>
                <a:cs typeface="Arial"/>
              </a:rPr>
              <a:t>and </a:t>
            </a:r>
            <a:r>
              <a:rPr dirty="0" sz="1200" spc="-5">
                <a:latin typeface="Arial"/>
                <a:cs typeface="Arial"/>
              </a:rPr>
              <a:t>strength of</a:t>
            </a:r>
            <a:r>
              <a:rPr dirty="0" sz="1200" spc="35">
                <a:latin typeface="Arial"/>
                <a:cs typeface="Arial"/>
              </a:rPr>
              <a:t> </a:t>
            </a:r>
            <a:r>
              <a:rPr dirty="0" sz="1200" spc="-5">
                <a:latin typeface="Arial"/>
                <a:cs typeface="Arial"/>
              </a:rPr>
              <a:t>Muslims</a:t>
            </a:r>
            <a:endParaRPr sz="1200">
              <a:latin typeface="Arial"/>
              <a:cs typeface="Arial"/>
            </a:endParaRPr>
          </a:p>
          <a:p>
            <a:pPr marL="609600" indent="-229235">
              <a:lnSpc>
                <a:spcPts val="1380"/>
              </a:lnSpc>
              <a:buAutoNum type="arabicPeriod"/>
              <a:tabLst>
                <a:tab pos="610235" algn="l"/>
              </a:tabLst>
            </a:pPr>
            <a:r>
              <a:rPr dirty="0" sz="1200">
                <a:latin typeface="Arial"/>
                <a:cs typeface="Arial"/>
              </a:rPr>
              <a:t>A </a:t>
            </a:r>
            <a:r>
              <a:rPr dirty="0" sz="1200" spc="-5">
                <a:latin typeface="Arial"/>
                <a:cs typeface="Arial"/>
              </a:rPr>
              <a:t>boast </a:t>
            </a:r>
            <a:r>
              <a:rPr dirty="0" sz="1200" spc="-10">
                <a:latin typeface="Arial"/>
                <a:cs typeface="Arial"/>
              </a:rPr>
              <a:t>up </a:t>
            </a:r>
            <a:r>
              <a:rPr dirty="0" sz="1200">
                <a:latin typeface="Arial"/>
                <a:cs typeface="Arial"/>
              </a:rPr>
              <a:t>for </a:t>
            </a:r>
            <a:r>
              <a:rPr dirty="0" sz="1200" spc="-5">
                <a:latin typeface="Arial"/>
                <a:cs typeface="Arial"/>
              </a:rPr>
              <a:t>the</a:t>
            </a:r>
            <a:r>
              <a:rPr dirty="0" sz="1200" spc="5">
                <a:latin typeface="Arial"/>
                <a:cs typeface="Arial"/>
              </a:rPr>
              <a:t> </a:t>
            </a:r>
            <a:r>
              <a:rPr dirty="0" sz="1200" spc="-5">
                <a:latin typeface="Arial"/>
                <a:cs typeface="Arial"/>
              </a:rPr>
              <a:t>Muslims</a:t>
            </a:r>
            <a:endParaRPr sz="1200">
              <a:latin typeface="Arial"/>
              <a:cs typeface="Arial"/>
            </a:endParaRPr>
          </a:p>
          <a:p>
            <a:pPr marL="609600" indent="-229235">
              <a:lnSpc>
                <a:spcPts val="1380"/>
              </a:lnSpc>
              <a:buAutoNum type="arabicPeriod"/>
              <a:tabLst>
                <a:tab pos="610235" algn="l"/>
              </a:tabLst>
            </a:pPr>
            <a:r>
              <a:rPr dirty="0" sz="1200">
                <a:latin typeface="Arial"/>
                <a:cs typeface="Arial"/>
              </a:rPr>
              <a:t>A lesson for </a:t>
            </a:r>
            <a:r>
              <a:rPr dirty="0" sz="1200" spc="-10">
                <a:latin typeface="Arial"/>
                <a:cs typeface="Arial"/>
              </a:rPr>
              <a:t>the </a:t>
            </a:r>
            <a:r>
              <a:rPr dirty="0" sz="1200" spc="-5">
                <a:latin typeface="Arial"/>
                <a:cs typeface="Arial"/>
              </a:rPr>
              <a:t>Quraish </a:t>
            </a:r>
            <a:r>
              <a:rPr dirty="0" sz="1200" spc="-10">
                <a:latin typeface="Arial"/>
                <a:cs typeface="Arial"/>
              </a:rPr>
              <a:t>who </a:t>
            </a:r>
            <a:r>
              <a:rPr dirty="0" sz="1200">
                <a:latin typeface="Arial"/>
                <a:cs typeface="Arial"/>
              </a:rPr>
              <a:t>had to </a:t>
            </a:r>
            <a:r>
              <a:rPr dirty="0" sz="1200" spc="-5">
                <a:latin typeface="Arial"/>
                <a:cs typeface="Arial"/>
              </a:rPr>
              <a:t>think twice next</a:t>
            </a:r>
            <a:r>
              <a:rPr dirty="0" sz="1200" spc="10">
                <a:latin typeface="Arial"/>
                <a:cs typeface="Arial"/>
              </a:rPr>
              <a:t> </a:t>
            </a:r>
            <a:r>
              <a:rPr dirty="0" sz="1200">
                <a:latin typeface="Arial"/>
                <a:cs typeface="Arial"/>
              </a:rPr>
              <a:t>time</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Confidence of</a:t>
            </a:r>
            <a:r>
              <a:rPr dirty="0" sz="1200" spc="5">
                <a:latin typeface="Arial"/>
                <a:cs typeface="Arial"/>
              </a:rPr>
              <a:t> </a:t>
            </a:r>
            <a:r>
              <a:rPr dirty="0" sz="1200" spc="-5">
                <a:latin typeface="Arial"/>
                <a:cs typeface="Arial"/>
              </a:rPr>
              <a:t>Muslims</a:t>
            </a:r>
            <a:endParaRPr sz="1200">
              <a:latin typeface="Arial"/>
              <a:cs typeface="Arial"/>
            </a:endParaRPr>
          </a:p>
          <a:p>
            <a:pPr marL="609600" indent="-229235">
              <a:lnSpc>
                <a:spcPts val="1380"/>
              </a:lnSpc>
              <a:buAutoNum type="arabicPeriod"/>
              <a:tabLst>
                <a:tab pos="610235" algn="l"/>
              </a:tabLst>
            </a:pPr>
            <a:r>
              <a:rPr dirty="0" sz="1200">
                <a:latin typeface="Arial"/>
                <a:cs typeface="Arial"/>
              </a:rPr>
              <a:t>A </a:t>
            </a:r>
            <a:r>
              <a:rPr dirty="0" sz="1200" spc="-5">
                <a:latin typeface="Arial"/>
                <a:cs typeface="Arial"/>
              </a:rPr>
              <a:t>threatening advice towards all enemies of</a:t>
            </a:r>
            <a:r>
              <a:rPr dirty="0" sz="1200" spc="20">
                <a:latin typeface="Arial"/>
                <a:cs typeface="Arial"/>
              </a:rPr>
              <a:t> </a:t>
            </a:r>
            <a:r>
              <a:rPr dirty="0" sz="1200" spc="-5">
                <a:latin typeface="Arial"/>
                <a:cs typeface="Arial"/>
              </a:rPr>
              <a:t>Islam</a:t>
            </a:r>
            <a:endParaRPr sz="1200">
              <a:latin typeface="Arial"/>
              <a:cs typeface="Arial"/>
            </a:endParaRPr>
          </a:p>
          <a:p>
            <a:pPr marL="609600" indent="-229235">
              <a:lnSpc>
                <a:spcPts val="1375"/>
              </a:lnSpc>
              <a:buAutoNum type="arabicPeriod"/>
              <a:tabLst>
                <a:tab pos="610235" algn="l"/>
              </a:tabLst>
            </a:pPr>
            <a:r>
              <a:rPr dirty="0" sz="1200">
                <a:latin typeface="Arial"/>
                <a:cs typeface="Arial"/>
              </a:rPr>
              <a:t>A </a:t>
            </a:r>
            <a:r>
              <a:rPr dirty="0" sz="1200" spc="-5">
                <a:latin typeface="Arial"/>
                <a:cs typeface="Arial"/>
              </a:rPr>
              <a:t>gateway towards </a:t>
            </a:r>
            <a:r>
              <a:rPr dirty="0" sz="1200">
                <a:latin typeface="Arial"/>
                <a:cs typeface="Arial"/>
              </a:rPr>
              <a:t>other</a:t>
            </a:r>
            <a:r>
              <a:rPr dirty="0" sz="1200" spc="-5">
                <a:latin typeface="Arial"/>
                <a:cs typeface="Arial"/>
              </a:rPr>
              <a:t> victories</a:t>
            </a:r>
            <a:endParaRPr sz="1200">
              <a:latin typeface="Arial"/>
              <a:cs typeface="Arial"/>
            </a:endParaRPr>
          </a:p>
          <a:p>
            <a:pPr marL="609600" indent="-229235">
              <a:lnSpc>
                <a:spcPts val="1375"/>
              </a:lnSpc>
              <a:buAutoNum type="arabicPeriod"/>
              <a:tabLst>
                <a:tab pos="610235" algn="l"/>
              </a:tabLst>
            </a:pPr>
            <a:r>
              <a:rPr dirty="0" sz="1200">
                <a:latin typeface="Arial"/>
                <a:cs typeface="Arial"/>
              </a:rPr>
              <a:t>A </a:t>
            </a:r>
            <a:r>
              <a:rPr dirty="0" sz="1200" spc="-5">
                <a:latin typeface="Arial"/>
                <a:cs typeface="Arial"/>
              </a:rPr>
              <a:t>mean </a:t>
            </a:r>
            <a:r>
              <a:rPr dirty="0" sz="1200">
                <a:latin typeface="Arial"/>
                <a:cs typeface="Arial"/>
              </a:rPr>
              <a:t>to </a:t>
            </a:r>
            <a:r>
              <a:rPr dirty="0" sz="1200" spc="-5">
                <a:latin typeface="Arial"/>
                <a:cs typeface="Arial"/>
              </a:rPr>
              <a:t>stop</a:t>
            </a:r>
            <a:r>
              <a:rPr dirty="0" sz="1200" spc="-15">
                <a:latin typeface="Arial"/>
                <a:cs typeface="Arial"/>
              </a:rPr>
              <a:t> </a:t>
            </a:r>
            <a:r>
              <a:rPr dirty="0" sz="1200" spc="-5">
                <a:latin typeface="Arial"/>
                <a:cs typeface="Arial"/>
              </a:rPr>
              <a:t>persecutions</a:t>
            </a:r>
            <a:endParaRPr sz="1200">
              <a:latin typeface="Arial"/>
              <a:cs typeface="Arial"/>
            </a:endParaRPr>
          </a:p>
          <a:p>
            <a:pPr marL="609600" marR="150495" indent="-228600">
              <a:lnSpc>
                <a:spcPts val="1380"/>
              </a:lnSpc>
              <a:spcBef>
                <a:spcPts val="65"/>
              </a:spcBef>
              <a:buAutoNum type="arabicPeriod"/>
              <a:tabLst>
                <a:tab pos="610235" algn="l"/>
              </a:tabLst>
            </a:pPr>
            <a:r>
              <a:rPr dirty="0" sz="1200">
                <a:latin typeface="Arial"/>
                <a:cs typeface="Arial"/>
              </a:rPr>
              <a:t>A </a:t>
            </a:r>
            <a:r>
              <a:rPr dirty="0" sz="1200" spc="-10">
                <a:latin typeface="Arial"/>
                <a:cs typeface="Arial"/>
              </a:rPr>
              <a:t>way </a:t>
            </a:r>
            <a:r>
              <a:rPr dirty="0" sz="1200">
                <a:latin typeface="Arial"/>
                <a:cs typeface="Arial"/>
              </a:rPr>
              <a:t>to </a:t>
            </a:r>
            <a:r>
              <a:rPr dirty="0" sz="1200" spc="-5">
                <a:latin typeface="Arial"/>
                <a:cs typeface="Arial"/>
              </a:rPr>
              <a:t>know </a:t>
            </a:r>
            <a:r>
              <a:rPr dirty="0" sz="1200">
                <a:latin typeface="Arial"/>
                <a:cs typeface="Arial"/>
              </a:rPr>
              <a:t>that </a:t>
            </a:r>
            <a:r>
              <a:rPr dirty="0" sz="1200" spc="-5">
                <a:latin typeface="Arial"/>
                <a:cs typeface="Arial"/>
              </a:rPr>
              <a:t>Muslims </a:t>
            </a:r>
            <a:r>
              <a:rPr dirty="0" sz="1200" spc="-10">
                <a:latin typeface="Arial"/>
                <a:cs typeface="Arial"/>
              </a:rPr>
              <a:t>have </a:t>
            </a:r>
            <a:r>
              <a:rPr dirty="0" sz="1200">
                <a:latin typeface="Arial"/>
                <a:cs typeface="Arial"/>
              </a:rPr>
              <a:t>the </a:t>
            </a:r>
            <a:r>
              <a:rPr dirty="0" sz="1200" spc="-5">
                <a:latin typeface="Arial"/>
                <a:cs typeface="Arial"/>
              </a:rPr>
              <a:t>rights and means </a:t>
            </a:r>
            <a:r>
              <a:rPr dirty="0" sz="1200">
                <a:latin typeface="Arial"/>
                <a:cs typeface="Arial"/>
              </a:rPr>
              <a:t>to </a:t>
            </a:r>
            <a:r>
              <a:rPr dirty="0" sz="1200" spc="-5">
                <a:latin typeface="Arial"/>
                <a:cs typeface="Arial"/>
              </a:rPr>
              <a:t>rebel and voice out their  opinions</a:t>
            </a:r>
            <a:endParaRPr sz="1200">
              <a:latin typeface="Arial"/>
              <a:cs typeface="Arial"/>
            </a:endParaRPr>
          </a:p>
          <a:p>
            <a:pPr>
              <a:lnSpc>
                <a:spcPct val="100000"/>
              </a:lnSpc>
              <a:spcBef>
                <a:spcPts val="20"/>
              </a:spcBef>
            </a:pPr>
            <a:endParaRPr sz="1100">
              <a:latin typeface="Arial"/>
              <a:cs typeface="Arial"/>
            </a:endParaRPr>
          </a:p>
          <a:p>
            <a:pPr marL="152400">
              <a:lnSpc>
                <a:spcPct val="100000"/>
              </a:lnSpc>
              <a:spcBef>
                <a:spcPts val="5"/>
              </a:spcBef>
            </a:pPr>
            <a:r>
              <a:rPr dirty="0" sz="1200" spc="-5" b="1" i="1">
                <a:latin typeface="Arial"/>
                <a:cs typeface="Arial"/>
              </a:rPr>
              <a:t>3</a:t>
            </a:r>
            <a:r>
              <a:rPr dirty="0" baseline="38194" sz="1200" spc="-7" b="1" i="1">
                <a:latin typeface="Arial"/>
                <a:cs typeface="Arial"/>
              </a:rPr>
              <a:t>rd </a:t>
            </a:r>
            <a:r>
              <a:rPr dirty="0" sz="1200" spc="-5" b="1" i="1">
                <a:latin typeface="Arial"/>
                <a:cs typeface="Arial"/>
              </a:rPr>
              <a:t>Year of</a:t>
            </a:r>
            <a:r>
              <a:rPr dirty="0" sz="1200" spc="-100" b="1" i="1">
                <a:latin typeface="Arial"/>
                <a:cs typeface="Arial"/>
              </a:rPr>
              <a:t> </a:t>
            </a:r>
            <a:r>
              <a:rPr dirty="0" sz="1200" spc="-5" b="1" i="1">
                <a:latin typeface="Arial"/>
                <a:cs typeface="Arial"/>
              </a:rPr>
              <a:t>Hijrah</a:t>
            </a:r>
            <a:endParaRPr sz="1200">
              <a:latin typeface="Arial"/>
              <a:cs typeface="Arial"/>
            </a:endParaRPr>
          </a:p>
          <a:p>
            <a:pPr>
              <a:lnSpc>
                <a:spcPct val="100000"/>
              </a:lnSpc>
              <a:spcBef>
                <a:spcPts val="35"/>
              </a:spcBef>
            </a:pPr>
            <a:endParaRPr sz="1200">
              <a:latin typeface="Arial"/>
              <a:cs typeface="Arial"/>
            </a:endParaRPr>
          </a:p>
          <a:p>
            <a:pPr algn="just" marL="152400" marR="146050">
              <a:lnSpc>
                <a:spcPts val="1380"/>
              </a:lnSpc>
            </a:pPr>
            <a:r>
              <a:rPr dirty="0" sz="1200">
                <a:latin typeface="Arial"/>
                <a:cs typeface="Arial"/>
              </a:rPr>
              <a:t>That </a:t>
            </a:r>
            <a:r>
              <a:rPr dirty="0" sz="1200" spc="-5">
                <a:latin typeface="Arial"/>
                <a:cs typeface="Arial"/>
              </a:rPr>
              <a:t>year </a:t>
            </a:r>
            <a:r>
              <a:rPr dirty="0" sz="1200" spc="-10">
                <a:latin typeface="Arial"/>
                <a:cs typeface="Arial"/>
              </a:rPr>
              <a:t>was </a:t>
            </a:r>
            <a:r>
              <a:rPr dirty="0" sz="1200">
                <a:latin typeface="Arial"/>
                <a:cs typeface="Arial"/>
              </a:rPr>
              <a:t>mainly </a:t>
            </a:r>
            <a:r>
              <a:rPr dirty="0" sz="1200" spc="-5">
                <a:latin typeface="Arial"/>
                <a:cs typeface="Arial"/>
              </a:rPr>
              <a:t>characterised </a:t>
            </a:r>
            <a:r>
              <a:rPr dirty="0" sz="1200">
                <a:latin typeface="Arial"/>
                <a:cs typeface="Arial"/>
              </a:rPr>
              <a:t>by </a:t>
            </a:r>
            <a:r>
              <a:rPr dirty="0" sz="1200" spc="-5">
                <a:latin typeface="Arial"/>
                <a:cs typeface="Arial"/>
              </a:rPr>
              <a:t>the Battle of Uhud which </a:t>
            </a:r>
            <a:r>
              <a:rPr dirty="0" sz="1200" spc="-10">
                <a:latin typeface="Arial"/>
                <a:cs typeface="Arial"/>
              </a:rPr>
              <a:t>was </a:t>
            </a:r>
            <a:r>
              <a:rPr dirty="0" sz="1200" spc="-5">
                <a:latin typeface="Arial"/>
                <a:cs typeface="Arial"/>
              </a:rPr>
              <a:t>considered </a:t>
            </a:r>
            <a:r>
              <a:rPr dirty="0" sz="1200">
                <a:latin typeface="Arial"/>
                <a:cs typeface="Arial"/>
              </a:rPr>
              <a:t>as </a:t>
            </a:r>
            <a:r>
              <a:rPr dirty="0" sz="1200" spc="-5">
                <a:latin typeface="Arial"/>
                <a:cs typeface="Arial"/>
              </a:rPr>
              <a:t>a remake  of the Battle of</a:t>
            </a:r>
            <a:r>
              <a:rPr dirty="0" sz="1200" spc="10">
                <a:latin typeface="Arial"/>
                <a:cs typeface="Arial"/>
              </a:rPr>
              <a:t> </a:t>
            </a:r>
            <a:r>
              <a:rPr dirty="0" sz="1200">
                <a:latin typeface="Arial"/>
                <a:cs typeface="Arial"/>
              </a:rPr>
              <a:t>Badr.</a:t>
            </a:r>
            <a:endParaRPr sz="1200">
              <a:latin typeface="Arial"/>
              <a:cs typeface="Arial"/>
            </a:endParaRPr>
          </a:p>
          <a:p>
            <a:pPr>
              <a:lnSpc>
                <a:spcPct val="100000"/>
              </a:lnSpc>
              <a:spcBef>
                <a:spcPts val="15"/>
              </a:spcBef>
            </a:pPr>
            <a:endParaRPr sz="1100">
              <a:latin typeface="Arial"/>
              <a:cs typeface="Arial"/>
            </a:endParaRPr>
          </a:p>
          <a:p>
            <a:pPr marL="152400">
              <a:lnSpc>
                <a:spcPct val="100000"/>
              </a:lnSpc>
              <a:spcBef>
                <a:spcPts val="5"/>
              </a:spcBef>
            </a:pPr>
            <a:r>
              <a:rPr dirty="0" u="heavy" sz="1200" spc="-5" b="1" i="1">
                <a:uFill>
                  <a:solidFill>
                    <a:srgbClr val="000000"/>
                  </a:solidFill>
                </a:uFill>
                <a:latin typeface="Arial"/>
                <a:cs typeface="Arial"/>
              </a:rPr>
              <a:t>There were many reasons leading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the battle </a:t>
            </a:r>
            <a:r>
              <a:rPr dirty="0" u="heavy" sz="1200" b="1" i="1">
                <a:uFill>
                  <a:solidFill>
                    <a:srgbClr val="000000"/>
                  </a:solidFill>
                </a:uFill>
                <a:latin typeface="Arial"/>
                <a:cs typeface="Arial"/>
              </a:rPr>
              <a:t>such</a:t>
            </a:r>
            <a:r>
              <a:rPr dirty="0" u="heavy" sz="1200" spc="50" b="1" i="1">
                <a:uFill>
                  <a:solidFill>
                    <a:srgbClr val="000000"/>
                  </a:solidFill>
                </a:uFill>
                <a:latin typeface="Arial"/>
                <a:cs typeface="Arial"/>
              </a:rPr>
              <a:t> </a:t>
            </a:r>
            <a:r>
              <a:rPr dirty="0" u="heavy" sz="1200" spc="-5" b="1" i="1">
                <a:uFill>
                  <a:solidFill>
                    <a:srgbClr val="000000"/>
                  </a:solidFill>
                </a:uFill>
                <a:latin typeface="Arial"/>
                <a:cs typeface="Arial"/>
              </a:rPr>
              <a:t>as:</a:t>
            </a:r>
            <a:endParaRPr sz="1200">
              <a:latin typeface="Arial"/>
              <a:cs typeface="Arial"/>
            </a:endParaRPr>
          </a:p>
          <a:p>
            <a:pPr>
              <a:lnSpc>
                <a:spcPct val="100000"/>
              </a:lnSpc>
              <a:spcBef>
                <a:spcPts val="50"/>
              </a:spcBef>
            </a:pPr>
            <a:endParaRPr sz="1100">
              <a:latin typeface="Arial"/>
              <a:cs typeface="Arial"/>
            </a:endParaRPr>
          </a:p>
          <a:p>
            <a:pPr marL="609600" indent="-229235">
              <a:lnSpc>
                <a:spcPts val="1410"/>
              </a:lnSpc>
              <a:spcBef>
                <a:spcPts val="5"/>
              </a:spcBef>
              <a:buAutoNum type="arabicPeriod"/>
              <a:tabLst>
                <a:tab pos="610235" algn="l"/>
              </a:tabLst>
            </a:pPr>
            <a:r>
              <a:rPr dirty="0" sz="1200" spc="-5">
                <a:latin typeface="Arial"/>
                <a:cs typeface="Arial"/>
              </a:rPr>
              <a:t>The crushing defeat of Badr</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death of many of the Quraish</a:t>
            </a:r>
            <a:r>
              <a:rPr dirty="0" sz="1200" spc="25">
                <a:latin typeface="Arial"/>
                <a:cs typeface="Arial"/>
              </a:rPr>
              <a:t> </a:t>
            </a:r>
            <a:r>
              <a:rPr dirty="0" sz="1200" spc="-5">
                <a:latin typeface="Arial"/>
                <a:cs typeface="Arial"/>
              </a:rPr>
              <a:t>leaders</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promise of revenge of </a:t>
            </a:r>
            <a:r>
              <a:rPr dirty="0" sz="1200">
                <a:latin typeface="Arial"/>
                <a:cs typeface="Arial"/>
              </a:rPr>
              <a:t>their</a:t>
            </a:r>
            <a:r>
              <a:rPr dirty="0" sz="1200" spc="10">
                <a:latin typeface="Arial"/>
                <a:cs typeface="Arial"/>
              </a:rPr>
              <a:t> </a:t>
            </a:r>
            <a:r>
              <a:rPr dirty="0" sz="1200" spc="-5">
                <a:latin typeface="Arial"/>
                <a:cs typeface="Arial"/>
              </a:rPr>
              <a:t>death</a:t>
            </a:r>
            <a:endParaRPr sz="1200">
              <a:latin typeface="Arial"/>
              <a:cs typeface="Arial"/>
            </a:endParaRPr>
          </a:p>
          <a:p>
            <a:pPr marL="609600" indent="-229235">
              <a:lnSpc>
                <a:spcPts val="1380"/>
              </a:lnSpc>
              <a:buAutoNum type="arabicPeriod"/>
              <a:tabLst>
                <a:tab pos="610235" algn="l"/>
              </a:tabLst>
            </a:pPr>
            <a:r>
              <a:rPr dirty="0" sz="1200">
                <a:latin typeface="Arial"/>
                <a:cs typeface="Arial"/>
              </a:rPr>
              <a:t>The </a:t>
            </a:r>
            <a:r>
              <a:rPr dirty="0" sz="1200" spc="-5">
                <a:latin typeface="Arial"/>
                <a:cs typeface="Arial"/>
              </a:rPr>
              <a:t>Quraish humiliation in the eyes of the other </a:t>
            </a:r>
            <a:r>
              <a:rPr dirty="0" sz="1200">
                <a:latin typeface="Arial"/>
                <a:cs typeface="Arial"/>
              </a:rPr>
              <a:t>forces </a:t>
            </a:r>
            <a:r>
              <a:rPr dirty="0" sz="1200" spc="-5">
                <a:latin typeface="Arial"/>
                <a:cs typeface="Arial"/>
              </a:rPr>
              <a:t>(Persian</a:t>
            </a:r>
            <a:r>
              <a:rPr dirty="0" sz="1200" spc="10">
                <a:latin typeface="Arial"/>
                <a:cs typeface="Arial"/>
              </a:rPr>
              <a:t> </a:t>
            </a:r>
            <a:r>
              <a:rPr dirty="0" sz="1200">
                <a:latin typeface="Arial"/>
                <a:cs typeface="Arial"/>
              </a:rPr>
              <a:t>…)</a:t>
            </a:r>
            <a:endParaRPr sz="1200">
              <a:latin typeface="Arial"/>
              <a:cs typeface="Arial"/>
            </a:endParaRPr>
          </a:p>
          <a:p>
            <a:pPr marL="609600" indent="-229235">
              <a:lnSpc>
                <a:spcPts val="1410"/>
              </a:lnSpc>
              <a:buAutoNum type="arabicPeriod"/>
              <a:tabLst>
                <a:tab pos="610235" algn="l"/>
              </a:tabLst>
            </a:pPr>
            <a:r>
              <a:rPr dirty="0" sz="1200" spc="-5">
                <a:latin typeface="Arial"/>
                <a:cs typeface="Arial"/>
              </a:rPr>
              <a:t>The determination of the Quraish to kill the</a:t>
            </a:r>
            <a:r>
              <a:rPr dirty="0" sz="1200" spc="25">
                <a:latin typeface="Arial"/>
                <a:cs typeface="Arial"/>
              </a:rPr>
              <a:t> </a:t>
            </a:r>
            <a:r>
              <a:rPr dirty="0" sz="1200" spc="-5">
                <a:latin typeface="Arial"/>
                <a:cs typeface="Arial"/>
              </a:rPr>
              <a:t>prophet</a:t>
            </a:r>
            <a:endParaRPr sz="1200">
              <a:latin typeface="Arial"/>
              <a:cs typeface="Arial"/>
            </a:endParaRPr>
          </a:p>
        </p:txBody>
      </p:sp>
      <p:sp>
        <p:nvSpPr>
          <p:cNvPr id="5" name="object 5"/>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6" name="object 6"/>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17</a:t>
            </a:r>
            <a:endParaRPr sz="120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265" cy="881253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469900" indent="-229235">
              <a:lnSpc>
                <a:spcPts val="1410"/>
              </a:lnSpc>
              <a:spcBef>
                <a:spcPts val="5"/>
              </a:spcBef>
              <a:buAutoNum type="arabicPeriod" startAt="6"/>
              <a:tabLst>
                <a:tab pos="470534" algn="l"/>
              </a:tabLst>
            </a:pPr>
            <a:r>
              <a:rPr dirty="0" sz="1200" spc="-5">
                <a:latin typeface="Arial"/>
                <a:cs typeface="Arial"/>
              </a:rPr>
              <a:t>The excuse of Quraish </a:t>
            </a:r>
            <a:r>
              <a:rPr dirty="0" sz="1200">
                <a:latin typeface="Arial"/>
                <a:cs typeface="Arial"/>
              </a:rPr>
              <a:t>to</a:t>
            </a:r>
            <a:r>
              <a:rPr dirty="0" sz="1200" spc="-5">
                <a:latin typeface="Arial"/>
                <a:cs typeface="Arial"/>
              </a:rPr>
              <a:t> </a:t>
            </a:r>
            <a:r>
              <a:rPr dirty="0" sz="1200">
                <a:latin typeface="Arial"/>
                <a:cs typeface="Arial"/>
              </a:rPr>
              <a:t>fight</a:t>
            </a:r>
            <a:endParaRPr sz="1200">
              <a:latin typeface="Arial"/>
              <a:cs typeface="Arial"/>
            </a:endParaRPr>
          </a:p>
          <a:p>
            <a:pPr marL="469900" indent="-229235">
              <a:lnSpc>
                <a:spcPts val="1380"/>
              </a:lnSpc>
              <a:buAutoNum type="arabicPeriod" startAt="6"/>
              <a:tabLst>
                <a:tab pos="470534" algn="l"/>
              </a:tabLst>
            </a:pPr>
            <a:r>
              <a:rPr dirty="0" sz="1200" spc="-5">
                <a:latin typeface="Arial"/>
                <a:cs typeface="Arial"/>
              </a:rPr>
              <a:t>The idea to remake and enhance the image of </a:t>
            </a:r>
            <a:r>
              <a:rPr dirty="0" sz="1200">
                <a:latin typeface="Arial"/>
                <a:cs typeface="Arial"/>
              </a:rPr>
              <a:t>Quraish </a:t>
            </a:r>
            <a:r>
              <a:rPr dirty="0" sz="1200" spc="-10">
                <a:latin typeface="Arial"/>
                <a:cs typeface="Arial"/>
              </a:rPr>
              <a:t>in </a:t>
            </a:r>
            <a:r>
              <a:rPr dirty="0" sz="1200" spc="-5">
                <a:latin typeface="Arial"/>
                <a:cs typeface="Arial"/>
              </a:rPr>
              <a:t>the eyes of </a:t>
            </a:r>
            <a:r>
              <a:rPr dirty="0" sz="1200">
                <a:latin typeface="Arial"/>
                <a:cs typeface="Arial"/>
              </a:rPr>
              <a:t>its</a:t>
            </a:r>
            <a:r>
              <a:rPr dirty="0" sz="1200" spc="80">
                <a:latin typeface="Arial"/>
                <a:cs typeface="Arial"/>
              </a:rPr>
              <a:t> </a:t>
            </a:r>
            <a:r>
              <a:rPr dirty="0" sz="1200" spc="-5">
                <a:latin typeface="Arial"/>
                <a:cs typeface="Arial"/>
              </a:rPr>
              <a:t>enemies</a:t>
            </a:r>
            <a:endParaRPr sz="1200">
              <a:latin typeface="Arial"/>
              <a:cs typeface="Arial"/>
            </a:endParaRPr>
          </a:p>
          <a:p>
            <a:pPr marL="469900" indent="-229235">
              <a:lnSpc>
                <a:spcPts val="1380"/>
              </a:lnSpc>
              <a:buAutoNum type="arabicPeriod" startAt="6"/>
              <a:tabLst>
                <a:tab pos="470534" algn="l"/>
              </a:tabLst>
            </a:pPr>
            <a:r>
              <a:rPr dirty="0" sz="1200" spc="-5">
                <a:latin typeface="Arial"/>
                <a:cs typeface="Arial"/>
              </a:rPr>
              <a:t>The growing </a:t>
            </a:r>
            <a:r>
              <a:rPr dirty="0" sz="1200">
                <a:latin typeface="Arial"/>
                <a:cs typeface="Arial"/>
              </a:rPr>
              <a:t>up enmity </a:t>
            </a:r>
            <a:r>
              <a:rPr dirty="0" sz="1200" spc="-5">
                <a:latin typeface="Arial"/>
                <a:cs typeface="Arial"/>
              </a:rPr>
              <a:t>against Muslims</a:t>
            </a:r>
            <a:endParaRPr sz="1200">
              <a:latin typeface="Arial"/>
              <a:cs typeface="Arial"/>
            </a:endParaRPr>
          </a:p>
          <a:p>
            <a:pPr marL="469900" indent="-229235">
              <a:lnSpc>
                <a:spcPts val="1380"/>
              </a:lnSpc>
              <a:buAutoNum type="arabicPeriod" startAt="6"/>
              <a:tabLst>
                <a:tab pos="470534" algn="l"/>
              </a:tabLst>
            </a:pPr>
            <a:r>
              <a:rPr dirty="0" sz="1200" spc="-5">
                <a:latin typeface="Arial"/>
                <a:cs typeface="Arial"/>
              </a:rPr>
              <a:t>The </a:t>
            </a:r>
            <a:r>
              <a:rPr dirty="0" sz="1200">
                <a:latin typeface="Arial"/>
                <a:cs typeface="Arial"/>
              </a:rPr>
              <a:t>fear </a:t>
            </a:r>
            <a:r>
              <a:rPr dirty="0" sz="1200" spc="-5">
                <a:latin typeface="Arial"/>
                <a:cs typeface="Arial"/>
              </a:rPr>
              <a:t>of others‘ conversions </a:t>
            </a:r>
            <a:r>
              <a:rPr dirty="0" sz="1200">
                <a:latin typeface="Arial"/>
                <a:cs typeface="Arial"/>
              </a:rPr>
              <a:t>to</a:t>
            </a:r>
            <a:r>
              <a:rPr dirty="0" sz="1200" spc="-25">
                <a:latin typeface="Arial"/>
                <a:cs typeface="Arial"/>
              </a:rPr>
              <a:t> </a:t>
            </a:r>
            <a:r>
              <a:rPr dirty="0" sz="1200" spc="-5">
                <a:latin typeface="Arial"/>
                <a:cs typeface="Arial"/>
              </a:rPr>
              <a:t>Islam</a:t>
            </a:r>
            <a:endParaRPr sz="1200">
              <a:latin typeface="Arial"/>
              <a:cs typeface="Arial"/>
            </a:endParaRPr>
          </a:p>
          <a:p>
            <a:pPr marL="469900" indent="-229235">
              <a:lnSpc>
                <a:spcPts val="1410"/>
              </a:lnSpc>
              <a:buAutoNum type="arabicPeriod" startAt="6"/>
              <a:tabLst>
                <a:tab pos="470534" algn="l"/>
              </a:tabLst>
            </a:pPr>
            <a:r>
              <a:rPr dirty="0" sz="1200" spc="-5">
                <a:latin typeface="Arial"/>
                <a:cs typeface="Arial"/>
              </a:rPr>
              <a:t>The plot of the Khawarij </a:t>
            </a:r>
            <a:r>
              <a:rPr dirty="0" sz="1200">
                <a:latin typeface="Arial"/>
                <a:cs typeface="Arial"/>
              </a:rPr>
              <a:t>to </a:t>
            </a:r>
            <a:r>
              <a:rPr dirty="0" sz="1200" spc="-5">
                <a:latin typeface="Arial"/>
                <a:cs typeface="Arial"/>
              </a:rPr>
              <a:t>uproot the prophet from Madina then to rule over</a:t>
            </a:r>
            <a:r>
              <a:rPr dirty="0" sz="1200" spc="85">
                <a:latin typeface="Arial"/>
                <a:cs typeface="Arial"/>
              </a:rPr>
              <a:t> </a:t>
            </a:r>
            <a:r>
              <a:rPr dirty="0" sz="1200" spc="-5">
                <a:latin typeface="Arial"/>
                <a:cs typeface="Arial"/>
              </a:rPr>
              <a:t>there.</a:t>
            </a:r>
            <a:endParaRPr sz="1200">
              <a:latin typeface="Arial"/>
              <a:cs typeface="Arial"/>
            </a:endParaRPr>
          </a:p>
          <a:p>
            <a:pPr>
              <a:lnSpc>
                <a:spcPct val="100000"/>
              </a:lnSpc>
            </a:pPr>
            <a:endParaRPr sz="1200">
              <a:latin typeface="Arial"/>
              <a:cs typeface="Arial"/>
            </a:endParaRPr>
          </a:p>
          <a:p>
            <a:pPr algn="just" marL="12700" marR="5080">
              <a:lnSpc>
                <a:spcPct val="95800"/>
              </a:lnSpc>
            </a:pPr>
            <a:r>
              <a:rPr dirty="0" sz="1200">
                <a:latin typeface="Arial"/>
                <a:cs typeface="Arial"/>
              </a:rPr>
              <a:t>As such, </a:t>
            </a:r>
            <a:r>
              <a:rPr dirty="0" sz="1200" spc="-5">
                <a:latin typeface="Arial"/>
                <a:cs typeface="Arial"/>
              </a:rPr>
              <a:t>the </a:t>
            </a:r>
            <a:r>
              <a:rPr dirty="0" sz="1200">
                <a:latin typeface="Arial"/>
                <a:cs typeface="Arial"/>
              </a:rPr>
              <a:t>Quraish </a:t>
            </a:r>
            <a:r>
              <a:rPr dirty="0" sz="1200" spc="-5">
                <a:latin typeface="Arial"/>
                <a:cs typeface="Arial"/>
              </a:rPr>
              <a:t>promised </a:t>
            </a:r>
            <a:r>
              <a:rPr dirty="0" sz="1200">
                <a:latin typeface="Arial"/>
                <a:cs typeface="Arial"/>
              </a:rPr>
              <a:t>to </a:t>
            </a:r>
            <a:r>
              <a:rPr dirty="0" sz="1200" spc="-5">
                <a:latin typeface="Arial"/>
                <a:cs typeface="Arial"/>
              </a:rPr>
              <a:t>avenge their death and they </a:t>
            </a:r>
            <a:r>
              <a:rPr dirty="0" sz="1200">
                <a:latin typeface="Arial"/>
                <a:cs typeface="Arial"/>
              </a:rPr>
              <a:t>resorted </a:t>
            </a:r>
            <a:r>
              <a:rPr dirty="0" sz="1200" spc="-5">
                <a:latin typeface="Arial"/>
                <a:cs typeface="Arial"/>
              </a:rPr>
              <a:t>not </a:t>
            </a:r>
            <a:r>
              <a:rPr dirty="0" sz="1200">
                <a:latin typeface="Arial"/>
                <a:cs typeface="Arial"/>
              </a:rPr>
              <a:t>to </a:t>
            </a:r>
            <a:r>
              <a:rPr dirty="0" sz="1200" spc="-5">
                <a:latin typeface="Arial"/>
                <a:cs typeface="Arial"/>
              </a:rPr>
              <a:t>have sexual  </a:t>
            </a:r>
            <a:r>
              <a:rPr dirty="0" sz="1200">
                <a:latin typeface="Arial"/>
                <a:cs typeface="Arial"/>
              </a:rPr>
              <a:t>intercourse for </a:t>
            </a:r>
            <a:r>
              <a:rPr dirty="0" sz="1200" spc="-5">
                <a:latin typeface="Arial"/>
                <a:cs typeface="Arial"/>
              </a:rPr>
              <a:t>a whole year, </a:t>
            </a:r>
            <a:r>
              <a:rPr dirty="0" sz="1200">
                <a:latin typeface="Arial"/>
                <a:cs typeface="Arial"/>
              </a:rPr>
              <a:t>to </a:t>
            </a:r>
            <a:r>
              <a:rPr dirty="0" sz="1200" spc="-5">
                <a:latin typeface="Arial"/>
                <a:cs typeface="Arial"/>
              </a:rPr>
              <a:t>apply oil on </a:t>
            </a:r>
            <a:r>
              <a:rPr dirty="0" sz="1200">
                <a:latin typeface="Arial"/>
                <a:cs typeface="Arial"/>
              </a:rPr>
              <a:t>their </a:t>
            </a:r>
            <a:r>
              <a:rPr dirty="0" sz="1200" spc="-5">
                <a:latin typeface="Arial"/>
                <a:cs typeface="Arial"/>
              </a:rPr>
              <a:t>bodies </a:t>
            </a:r>
            <a:r>
              <a:rPr dirty="0" sz="1200">
                <a:latin typeface="Arial"/>
                <a:cs typeface="Arial"/>
              </a:rPr>
              <a:t>for </a:t>
            </a:r>
            <a:r>
              <a:rPr dirty="0" sz="1200" spc="-5">
                <a:latin typeface="Arial"/>
                <a:cs typeface="Arial"/>
              </a:rPr>
              <a:t>1 whole year and </a:t>
            </a:r>
            <a:r>
              <a:rPr dirty="0" sz="1200">
                <a:latin typeface="Arial"/>
                <a:cs typeface="Arial"/>
              </a:rPr>
              <a:t>to </a:t>
            </a:r>
            <a:r>
              <a:rPr dirty="0" sz="1200" spc="-5">
                <a:latin typeface="Arial"/>
                <a:cs typeface="Arial"/>
              </a:rPr>
              <a:t>make </a:t>
            </a:r>
            <a:r>
              <a:rPr dirty="0" sz="1200" spc="-10">
                <a:latin typeface="Arial"/>
                <a:cs typeface="Arial"/>
              </a:rPr>
              <a:t>much  </a:t>
            </a:r>
            <a:r>
              <a:rPr dirty="0" sz="1200" spc="-5">
                <a:latin typeface="Arial"/>
                <a:cs typeface="Arial"/>
              </a:rPr>
              <a:t>dedication to </a:t>
            </a:r>
            <a:r>
              <a:rPr dirty="0" sz="1200">
                <a:latin typeface="Arial"/>
                <a:cs typeface="Arial"/>
              </a:rPr>
              <a:t>their </a:t>
            </a:r>
            <a:r>
              <a:rPr dirty="0" sz="1200" spc="-5">
                <a:latin typeface="Arial"/>
                <a:cs typeface="Arial"/>
              </a:rPr>
              <a:t>lords. </a:t>
            </a:r>
            <a:r>
              <a:rPr dirty="0" sz="1200">
                <a:latin typeface="Arial"/>
                <a:cs typeface="Arial"/>
              </a:rPr>
              <a:t>The </a:t>
            </a:r>
            <a:r>
              <a:rPr dirty="0" sz="1200" spc="-5">
                <a:latin typeface="Arial"/>
                <a:cs typeface="Arial"/>
              </a:rPr>
              <a:t>Muslims left Madina to </a:t>
            </a:r>
            <a:r>
              <a:rPr dirty="0" sz="1200">
                <a:latin typeface="Arial"/>
                <a:cs typeface="Arial"/>
              </a:rPr>
              <a:t>Uhud </a:t>
            </a:r>
            <a:r>
              <a:rPr dirty="0" sz="1200" spc="-5">
                <a:latin typeface="Arial"/>
                <a:cs typeface="Arial"/>
              </a:rPr>
              <a:t>(3 miles north) with 1000 men.  However, on </a:t>
            </a:r>
            <a:r>
              <a:rPr dirty="0" sz="1200">
                <a:latin typeface="Arial"/>
                <a:cs typeface="Arial"/>
              </a:rPr>
              <a:t>their </a:t>
            </a:r>
            <a:r>
              <a:rPr dirty="0" sz="1200" spc="-5">
                <a:latin typeface="Arial"/>
                <a:cs typeface="Arial"/>
              </a:rPr>
              <a:t>way 300 Hypocrites led by Abdullah bin Ubayy </a:t>
            </a:r>
            <a:r>
              <a:rPr dirty="0" sz="1200">
                <a:latin typeface="Arial"/>
                <a:cs typeface="Arial"/>
              </a:rPr>
              <a:t>deserted </a:t>
            </a:r>
            <a:r>
              <a:rPr dirty="0" sz="1200" spc="-5">
                <a:latin typeface="Arial"/>
                <a:cs typeface="Arial"/>
              </a:rPr>
              <a:t>the army on the  excuse </a:t>
            </a:r>
            <a:r>
              <a:rPr dirty="0" sz="1200">
                <a:latin typeface="Arial"/>
                <a:cs typeface="Arial"/>
              </a:rPr>
              <a:t>that it </a:t>
            </a:r>
            <a:r>
              <a:rPr dirty="0" sz="1200" spc="-10">
                <a:latin typeface="Arial"/>
                <a:cs typeface="Arial"/>
              </a:rPr>
              <a:t>was </a:t>
            </a:r>
            <a:r>
              <a:rPr dirty="0" sz="1200" spc="-5">
                <a:latin typeface="Arial"/>
                <a:cs typeface="Arial"/>
              </a:rPr>
              <a:t>a </a:t>
            </a:r>
            <a:r>
              <a:rPr dirty="0" sz="1200">
                <a:latin typeface="Arial"/>
                <a:cs typeface="Arial"/>
              </a:rPr>
              <a:t>lost </a:t>
            </a:r>
            <a:r>
              <a:rPr dirty="0" sz="1200" spc="-5">
                <a:latin typeface="Arial"/>
                <a:cs typeface="Arial"/>
              </a:rPr>
              <a:t>battle and they preferred </a:t>
            </a:r>
            <a:r>
              <a:rPr dirty="0" sz="1200">
                <a:latin typeface="Arial"/>
                <a:cs typeface="Arial"/>
              </a:rPr>
              <a:t>to return to </a:t>
            </a:r>
            <a:r>
              <a:rPr dirty="0" sz="1200" spc="-5">
                <a:latin typeface="Arial"/>
                <a:cs typeface="Arial"/>
              </a:rPr>
              <a:t>protect Madina. So, </a:t>
            </a:r>
            <a:r>
              <a:rPr dirty="0" sz="1200">
                <a:latin typeface="Arial"/>
                <a:cs typeface="Arial"/>
              </a:rPr>
              <a:t>the </a:t>
            </a:r>
            <a:r>
              <a:rPr dirty="0" sz="1200" spc="-5">
                <a:latin typeface="Arial"/>
                <a:cs typeface="Arial"/>
              </a:rPr>
              <a:t>Muslim  army reached Uhud with a reduced army of 700 </a:t>
            </a:r>
            <a:r>
              <a:rPr dirty="0" sz="1200">
                <a:latin typeface="Arial"/>
                <a:cs typeface="Arial"/>
              </a:rPr>
              <a:t>men </a:t>
            </a:r>
            <a:r>
              <a:rPr dirty="0" sz="1200" spc="-5">
                <a:latin typeface="Arial"/>
                <a:cs typeface="Arial"/>
              </a:rPr>
              <a:t>against 3000 </a:t>
            </a:r>
            <a:r>
              <a:rPr dirty="0" sz="1200">
                <a:latin typeface="Arial"/>
                <a:cs typeface="Arial"/>
              </a:rPr>
              <a:t>men </a:t>
            </a:r>
            <a:r>
              <a:rPr dirty="0" sz="1200" spc="-5">
                <a:latin typeface="Arial"/>
                <a:cs typeface="Arial"/>
              </a:rPr>
              <a:t>of </a:t>
            </a:r>
            <a:r>
              <a:rPr dirty="0" sz="1200">
                <a:latin typeface="Arial"/>
                <a:cs typeface="Arial"/>
              </a:rPr>
              <a:t>the Quraish </a:t>
            </a:r>
            <a:r>
              <a:rPr dirty="0" sz="1200" spc="-10">
                <a:latin typeface="Arial"/>
                <a:cs typeface="Arial"/>
              </a:rPr>
              <a:t>army.  </a:t>
            </a:r>
            <a:r>
              <a:rPr dirty="0" sz="1200" spc="-5">
                <a:latin typeface="Arial"/>
                <a:cs typeface="Arial"/>
              </a:rPr>
              <a:t>The Muslims pitched their camps and the prophet (s.a.w) </a:t>
            </a:r>
            <a:r>
              <a:rPr dirty="0" sz="1200">
                <a:latin typeface="Arial"/>
                <a:cs typeface="Arial"/>
              </a:rPr>
              <a:t>placed </a:t>
            </a:r>
            <a:r>
              <a:rPr dirty="0" sz="1200" spc="-5">
                <a:latin typeface="Arial"/>
                <a:cs typeface="Arial"/>
              </a:rPr>
              <a:t>50 archers posted </a:t>
            </a:r>
            <a:r>
              <a:rPr dirty="0" sz="1200">
                <a:latin typeface="Arial"/>
                <a:cs typeface="Arial"/>
              </a:rPr>
              <a:t>on </a:t>
            </a:r>
            <a:r>
              <a:rPr dirty="0" sz="1200" spc="-10">
                <a:latin typeface="Arial"/>
                <a:cs typeface="Arial"/>
              </a:rPr>
              <a:t>Mount  </a:t>
            </a:r>
            <a:r>
              <a:rPr dirty="0" sz="1200">
                <a:latin typeface="Arial"/>
                <a:cs typeface="Arial"/>
              </a:rPr>
              <a:t>Uhud. They </a:t>
            </a:r>
            <a:r>
              <a:rPr dirty="0" sz="1200" spc="-5">
                <a:latin typeface="Arial"/>
                <a:cs typeface="Arial"/>
              </a:rPr>
              <a:t>were ordered not </a:t>
            </a:r>
            <a:r>
              <a:rPr dirty="0" sz="1200">
                <a:latin typeface="Arial"/>
                <a:cs typeface="Arial"/>
              </a:rPr>
              <a:t>to </a:t>
            </a:r>
            <a:r>
              <a:rPr dirty="0" sz="1200" spc="-5">
                <a:latin typeface="Arial"/>
                <a:cs typeface="Arial"/>
              </a:rPr>
              <a:t>move and to protect the rear of the Muslims. In that battle  </a:t>
            </a:r>
            <a:r>
              <a:rPr dirty="0" sz="1200">
                <a:latin typeface="Arial"/>
                <a:cs typeface="Arial"/>
              </a:rPr>
              <a:t>there </a:t>
            </a:r>
            <a:r>
              <a:rPr dirty="0" sz="1200" spc="-10">
                <a:latin typeface="Arial"/>
                <a:cs typeface="Arial"/>
              </a:rPr>
              <a:t>was </a:t>
            </a:r>
            <a:r>
              <a:rPr dirty="0" sz="1200" spc="-5">
                <a:latin typeface="Arial"/>
                <a:cs typeface="Arial"/>
              </a:rPr>
              <a:t>the participation of women </a:t>
            </a:r>
            <a:r>
              <a:rPr dirty="0" sz="1200">
                <a:latin typeface="Arial"/>
                <a:cs typeface="Arial"/>
              </a:rPr>
              <a:t>from </a:t>
            </a:r>
            <a:r>
              <a:rPr dirty="0" sz="1200" spc="-5">
                <a:latin typeface="Arial"/>
                <a:cs typeface="Arial"/>
              </a:rPr>
              <a:t>the Quraish such as Hinda (daughter of Utba),  Umm Hakeem (Granddaughter of Abu Jahl) and Fatima </a:t>
            </a:r>
            <a:r>
              <a:rPr dirty="0" sz="1200">
                <a:latin typeface="Arial"/>
                <a:cs typeface="Arial"/>
              </a:rPr>
              <a:t>(sister </a:t>
            </a:r>
            <a:r>
              <a:rPr dirty="0" sz="1200" spc="-5">
                <a:latin typeface="Arial"/>
                <a:cs typeface="Arial"/>
              </a:rPr>
              <a:t>of Khalid bin </a:t>
            </a:r>
            <a:r>
              <a:rPr dirty="0" sz="1200">
                <a:latin typeface="Arial"/>
                <a:cs typeface="Arial"/>
              </a:rPr>
              <a:t>Walid). </a:t>
            </a:r>
            <a:r>
              <a:rPr dirty="0" sz="1200" spc="-5">
                <a:latin typeface="Arial"/>
                <a:cs typeface="Arial"/>
              </a:rPr>
              <a:t>They  were </a:t>
            </a:r>
            <a:r>
              <a:rPr dirty="0" sz="1200">
                <a:latin typeface="Arial"/>
                <a:cs typeface="Arial"/>
              </a:rPr>
              <a:t>to </a:t>
            </a:r>
            <a:r>
              <a:rPr dirty="0" sz="1200" spc="-5">
                <a:latin typeface="Arial"/>
                <a:cs typeface="Arial"/>
              </a:rPr>
              <a:t>encourage the </a:t>
            </a:r>
            <a:r>
              <a:rPr dirty="0" sz="1200">
                <a:latin typeface="Arial"/>
                <a:cs typeface="Arial"/>
              </a:rPr>
              <a:t>Quraish. In </a:t>
            </a:r>
            <a:r>
              <a:rPr dirty="0" sz="1200" spc="-5">
                <a:latin typeface="Arial"/>
                <a:cs typeface="Arial"/>
              </a:rPr>
              <a:t>the </a:t>
            </a:r>
            <a:r>
              <a:rPr dirty="0" sz="1200">
                <a:latin typeface="Arial"/>
                <a:cs typeface="Arial"/>
              </a:rPr>
              <a:t>fight </a:t>
            </a:r>
            <a:r>
              <a:rPr dirty="0" sz="1200" spc="-5">
                <a:latin typeface="Arial"/>
                <a:cs typeface="Arial"/>
              </a:rPr>
              <a:t>the Muslims followed orders of Prophet and took  advantage. Many </a:t>
            </a:r>
            <a:r>
              <a:rPr dirty="0" sz="1200">
                <a:latin typeface="Arial"/>
                <a:cs typeface="Arial"/>
              </a:rPr>
              <a:t>Quraish fled </a:t>
            </a:r>
            <a:r>
              <a:rPr dirty="0" sz="1200" spc="-5">
                <a:latin typeface="Arial"/>
                <a:cs typeface="Arial"/>
              </a:rPr>
              <a:t>from battle field. </a:t>
            </a:r>
            <a:r>
              <a:rPr dirty="0" sz="1200">
                <a:latin typeface="Arial"/>
                <a:cs typeface="Arial"/>
              </a:rPr>
              <a:t>They </a:t>
            </a:r>
            <a:r>
              <a:rPr dirty="0" sz="1200" spc="-5">
                <a:latin typeface="Arial"/>
                <a:cs typeface="Arial"/>
              </a:rPr>
              <a:t>were </a:t>
            </a:r>
            <a:r>
              <a:rPr dirty="0" sz="1200">
                <a:latin typeface="Arial"/>
                <a:cs typeface="Arial"/>
              </a:rPr>
              <a:t>overtaken </a:t>
            </a:r>
            <a:r>
              <a:rPr dirty="0" sz="1200" spc="-5">
                <a:latin typeface="Arial"/>
                <a:cs typeface="Arial"/>
              </a:rPr>
              <a:t>by </a:t>
            </a:r>
            <a:r>
              <a:rPr dirty="0" sz="1200">
                <a:latin typeface="Arial"/>
                <a:cs typeface="Arial"/>
              </a:rPr>
              <a:t>the </a:t>
            </a:r>
            <a:r>
              <a:rPr dirty="0" sz="1200" spc="-5">
                <a:latin typeface="Arial"/>
                <a:cs typeface="Arial"/>
              </a:rPr>
              <a:t>Muslims. 43  archers joined the main army </a:t>
            </a:r>
            <a:r>
              <a:rPr dirty="0" sz="1200">
                <a:latin typeface="Arial"/>
                <a:cs typeface="Arial"/>
              </a:rPr>
              <a:t>thinking that </a:t>
            </a:r>
            <a:r>
              <a:rPr dirty="0" sz="1200" spc="5">
                <a:latin typeface="Arial"/>
                <a:cs typeface="Arial"/>
              </a:rPr>
              <a:t>the </a:t>
            </a:r>
            <a:r>
              <a:rPr dirty="0" sz="1200" spc="-10">
                <a:latin typeface="Arial"/>
                <a:cs typeface="Arial"/>
              </a:rPr>
              <a:t>war was </a:t>
            </a:r>
            <a:r>
              <a:rPr dirty="0" sz="1200" spc="-5">
                <a:latin typeface="Arial"/>
                <a:cs typeface="Arial"/>
              </a:rPr>
              <a:t>over. </a:t>
            </a:r>
            <a:r>
              <a:rPr dirty="0" sz="1200">
                <a:latin typeface="Arial"/>
                <a:cs typeface="Arial"/>
              </a:rPr>
              <a:t>They </a:t>
            </a:r>
            <a:r>
              <a:rPr dirty="0" sz="1200" spc="-5">
                <a:latin typeface="Arial"/>
                <a:cs typeface="Arial"/>
              </a:rPr>
              <a:t>went </a:t>
            </a:r>
            <a:r>
              <a:rPr dirty="0" sz="1200">
                <a:latin typeface="Arial"/>
                <a:cs typeface="Arial"/>
              </a:rPr>
              <a:t>to </a:t>
            </a:r>
            <a:r>
              <a:rPr dirty="0" sz="1200" spc="-5">
                <a:latin typeface="Arial"/>
                <a:cs typeface="Arial"/>
              </a:rPr>
              <a:t>collect </a:t>
            </a:r>
            <a:r>
              <a:rPr dirty="0" sz="1200">
                <a:latin typeface="Arial"/>
                <a:cs typeface="Arial"/>
              </a:rPr>
              <a:t>the </a:t>
            </a:r>
            <a:r>
              <a:rPr dirty="0" sz="1200" spc="-5">
                <a:latin typeface="Arial"/>
                <a:cs typeface="Arial"/>
              </a:rPr>
              <a:t>booty  of war. However, Khalid bin </a:t>
            </a:r>
            <a:r>
              <a:rPr dirty="0" sz="1200">
                <a:latin typeface="Arial"/>
                <a:cs typeface="Arial"/>
              </a:rPr>
              <a:t>Walid </a:t>
            </a:r>
            <a:r>
              <a:rPr dirty="0" sz="1200" spc="-10">
                <a:latin typeface="Arial"/>
                <a:cs typeface="Arial"/>
              </a:rPr>
              <a:t>who was </a:t>
            </a:r>
            <a:r>
              <a:rPr dirty="0" sz="1200">
                <a:latin typeface="Arial"/>
                <a:cs typeface="Arial"/>
              </a:rPr>
              <a:t>at </a:t>
            </a:r>
            <a:r>
              <a:rPr dirty="0" sz="1200" spc="-5">
                <a:latin typeface="Arial"/>
                <a:cs typeface="Arial"/>
              </a:rPr>
              <a:t>that time on </a:t>
            </a:r>
            <a:r>
              <a:rPr dirty="0" sz="1200">
                <a:latin typeface="Arial"/>
                <a:cs typeface="Arial"/>
              </a:rPr>
              <a:t>the </a:t>
            </a:r>
            <a:r>
              <a:rPr dirty="0" sz="1200" spc="-5">
                <a:latin typeface="Arial"/>
                <a:cs typeface="Arial"/>
              </a:rPr>
              <a:t>Quraish side had observed  </a:t>
            </a:r>
            <a:r>
              <a:rPr dirty="0" sz="1200">
                <a:latin typeface="Arial"/>
                <a:cs typeface="Arial"/>
              </a:rPr>
              <a:t>the </a:t>
            </a:r>
            <a:r>
              <a:rPr dirty="0" sz="1200" spc="-5">
                <a:latin typeface="Arial"/>
                <a:cs typeface="Arial"/>
              </a:rPr>
              <a:t>battle and </a:t>
            </a:r>
            <a:r>
              <a:rPr dirty="0" sz="1200" spc="-10">
                <a:latin typeface="Arial"/>
                <a:cs typeface="Arial"/>
              </a:rPr>
              <a:t>was </a:t>
            </a:r>
            <a:r>
              <a:rPr dirty="0" sz="1200" spc="-5">
                <a:latin typeface="Arial"/>
                <a:cs typeface="Arial"/>
              </a:rPr>
              <a:t>waiting </a:t>
            </a:r>
            <a:r>
              <a:rPr dirty="0" sz="1200">
                <a:latin typeface="Arial"/>
                <a:cs typeface="Arial"/>
              </a:rPr>
              <a:t>for the </a:t>
            </a:r>
            <a:r>
              <a:rPr dirty="0" sz="1200" spc="-5">
                <a:latin typeface="Arial"/>
                <a:cs typeface="Arial"/>
              </a:rPr>
              <a:t>right moment </a:t>
            </a:r>
            <a:r>
              <a:rPr dirty="0" sz="1200">
                <a:latin typeface="Arial"/>
                <a:cs typeface="Arial"/>
              </a:rPr>
              <a:t>to </a:t>
            </a:r>
            <a:r>
              <a:rPr dirty="0" sz="1200" spc="-5">
                <a:latin typeface="Arial"/>
                <a:cs typeface="Arial"/>
              </a:rPr>
              <a:t>interfere. Seeing </a:t>
            </a:r>
            <a:r>
              <a:rPr dirty="0" sz="1200">
                <a:latin typeface="Arial"/>
                <a:cs typeface="Arial"/>
              </a:rPr>
              <a:t>the </a:t>
            </a:r>
            <a:r>
              <a:rPr dirty="0" sz="1200" spc="-5">
                <a:latin typeface="Arial"/>
                <a:cs typeface="Arial"/>
              </a:rPr>
              <a:t>desertion of the </a:t>
            </a:r>
            <a:r>
              <a:rPr dirty="0" sz="1200" spc="-10">
                <a:latin typeface="Arial"/>
                <a:cs typeface="Arial"/>
              </a:rPr>
              <a:t>43  </a:t>
            </a:r>
            <a:r>
              <a:rPr dirty="0" sz="1200">
                <a:latin typeface="Arial"/>
                <a:cs typeface="Arial"/>
              </a:rPr>
              <a:t>archers, </a:t>
            </a:r>
            <a:r>
              <a:rPr dirty="0" sz="1200" spc="-5">
                <a:latin typeface="Arial"/>
                <a:cs typeface="Arial"/>
              </a:rPr>
              <a:t>he made the round </a:t>
            </a:r>
            <a:r>
              <a:rPr dirty="0" sz="1200">
                <a:latin typeface="Arial"/>
                <a:cs typeface="Arial"/>
              </a:rPr>
              <a:t>to </a:t>
            </a:r>
            <a:r>
              <a:rPr dirty="0" sz="1200" spc="-5">
                <a:latin typeface="Arial"/>
                <a:cs typeface="Arial"/>
              </a:rPr>
              <a:t>attack </a:t>
            </a:r>
            <a:r>
              <a:rPr dirty="0" sz="1200">
                <a:latin typeface="Arial"/>
                <a:cs typeface="Arial"/>
              </a:rPr>
              <a:t>the </a:t>
            </a:r>
            <a:r>
              <a:rPr dirty="0" sz="1200" spc="-5">
                <a:latin typeface="Arial"/>
                <a:cs typeface="Arial"/>
              </a:rPr>
              <a:t>7 remaining archers </a:t>
            </a:r>
            <a:r>
              <a:rPr dirty="0" sz="1200" spc="-10">
                <a:latin typeface="Arial"/>
                <a:cs typeface="Arial"/>
              </a:rPr>
              <a:t>who </a:t>
            </a:r>
            <a:r>
              <a:rPr dirty="0" sz="1200" spc="-5">
                <a:latin typeface="Arial"/>
                <a:cs typeface="Arial"/>
              </a:rPr>
              <a:t>were </a:t>
            </a:r>
            <a:r>
              <a:rPr dirty="0" sz="1200">
                <a:latin typeface="Arial"/>
                <a:cs typeface="Arial"/>
              </a:rPr>
              <a:t>thus </a:t>
            </a:r>
            <a:r>
              <a:rPr dirty="0" sz="1200" spc="-5">
                <a:latin typeface="Arial"/>
                <a:cs typeface="Arial"/>
              </a:rPr>
              <a:t>surrounded by  </a:t>
            </a:r>
            <a:r>
              <a:rPr dirty="0" sz="1200">
                <a:latin typeface="Arial"/>
                <a:cs typeface="Arial"/>
              </a:rPr>
              <a:t>the </a:t>
            </a:r>
            <a:r>
              <a:rPr dirty="0" sz="1200" spc="-5">
                <a:latin typeface="Arial"/>
                <a:cs typeface="Arial"/>
              </a:rPr>
              <a:t>100 horsemen. They had no chance and </a:t>
            </a:r>
            <a:r>
              <a:rPr dirty="0" sz="1200">
                <a:latin typeface="Arial"/>
                <a:cs typeface="Arial"/>
              </a:rPr>
              <a:t>they </a:t>
            </a:r>
            <a:r>
              <a:rPr dirty="0" sz="1200" spc="-5">
                <a:latin typeface="Arial"/>
                <a:cs typeface="Arial"/>
              </a:rPr>
              <a:t>were martyred. </a:t>
            </a:r>
            <a:r>
              <a:rPr dirty="0" sz="1200">
                <a:latin typeface="Arial"/>
                <a:cs typeface="Arial"/>
              </a:rPr>
              <a:t>The </a:t>
            </a:r>
            <a:r>
              <a:rPr dirty="0" sz="1200" spc="-5">
                <a:latin typeface="Arial"/>
                <a:cs typeface="Arial"/>
              </a:rPr>
              <a:t>horsemen descended  </a:t>
            </a:r>
            <a:r>
              <a:rPr dirty="0" sz="1200">
                <a:latin typeface="Arial"/>
                <a:cs typeface="Arial"/>
              </a:rPr>
              <a:t>the </a:t>
            </a:r>
            <a:r>
              <a:rPr dirty="0" sz="1200" spc="-5">
                <a:latin typeface="Arial"/>
                <a:cs typeface="Arial"/>
              </a:rPr>
              <a:t>hillside and </a:t>
            </a:r>
            <a:r>
              <a:rPr dirty="0" sz="1200">
                <a:latin typeface="Arial"/>
                <a:cs typeface="Arial"/>
              </a:rPr>
              <a:t>the </a:t>
            </a:r>
            <a:r>
              <a:rPr dirty="0" sz="1200" spc="-5">
                <a:latin typeface="Arial"/>
                <a:cs typeface="Arial"/>
              </a:rPr>
              <a:t>main Muslim army </a:t>
            </a:r>
            <a:r>
              <a:rPr dirty="0" sz="1200" spc="-10">
                <a:latin typeface="Arial"/>
                <a:cs typeface="Arial"/>
              </a:rPr>
              <a:t>was </a:t>
            </a:r>
            <a:r>
              <a:rPr dirty="0" sz="1200" spc="-5">
                <a:latin typeface="Arial"/>
                <a:cs typeface="Arial"/>
              </a:rPr>
              <a:t>surrounded from </a:t>
            </a:r>
            <a:r>
              <a:rPr dirty="0" sz="1200" spc="-10">
                <a:latin typeface="Arial"/>
                <a:cs typeface="Arial"/>
              </a:rPr>
              <a:t>every </a:t>
            </a:r>
            <a:r>
              <a:rPr dirty="0" sz="1200" spc="-5">
                <a:latin typeface="Arial"/>
                <a:cs typeface="Arial"/>
              </a:rPr>
              <a:t>side by </a:t>
            </a:r>
            <a:r>
              <a:rPr dirty="0" sz="1200">
                <a:latin typeface="Arial"/>
                <a:cs typeface="Arial"/>
              </a:rPr>
              <a:t>the Quraish. In  that </a:t>
            </a:r>
            <a:r>
              <a:rPr dirty="0" sz="1200" spc="-5">
                <a:latin typeface="Arial"/>
                <a:cs typeface="Arial"/>
              </a:rPr>
              <a:t>complete disorder </a:t>
            </a:r>
            <a:r>
              <a:rPr dirty="0" sz="1200">
                <a:latin typeface="Arial"/>
                <a:cs typeface="Arial"/>
              </a:rPr>
              <a:t>the </a:t>
            </a:r>
            <a:r>
              <a:rPr dirty="0" sz="1200" spc="-5">
                <a:latin typeface="Arial"/>
                <a:cs typeface="Arial"/>
              </a:rPr>
              <a:t>prophet (s.a.w) </a:t>
            </a:r>
            <a:r>
              <a:rPr dirty="0" sz="1200" spc="-10">
                <a:latin typeface="Arial"/>
                <a:cs typeface="Arial"/>
              </a:rPr>
              <a:t>was </a:t>
            </a:r>
            <a:r>
              <a:rPr dirty="0" sz="1200" spc="-5">
                <a:latin typeface="Arial"/>
                <a:cs typeface="Arial"/>
              </a:rPr>
              <a:t>injured. According </a:t>
            </a:r>
            <a:r>
              <a:rPr dirty="0" sz="1200">
                <a:latin typeface="Arial"/>
                <a:cs typeface="Arial"/>
              </a:rPr>
              <a:t>to different </a:t>
            </a:r>
            <a:r>
              <a:rPr dirty="0" sz="1200" spc="-5">
                <a:latin typeface="Arial"/>
                <a:cs typeface="Arial"/>
              </a:rPr>
              <a:t>reports, he  received a </a:t>
            </a:r>
            <a:r>
              <a:rPr dirty="0" sz="1200">
                <a:latin typeface="Arial"/>
                <a:cs typeface="Arial"/>
              </a:rPr>
              <a:t>stone </a:t>
            </a:r>
            <a:r>
              <a:rPr dirty="0" sz="1200" spc="-5">
                <a:latin typeface="Arial"/>
                <a:cs typeface="Arial"/>
              </a:rPr>
              <a:t>or was hit and one of his teeth </a:t>
            </a:r>
            <a:r>
              <a:rPr dirty="0" sz="1200" spc="-10">
                <a:latin typeface="Arial"/>
                <a:cs typeface="Arial"/>
              </a:rPr>
              <a:t>was </a:t>
            </a:r>
            <a:r>
              <a:rPr dirty="0" sz="1200" spc="-5">
                <a:latin typeface="Arial"/>
                <a:cs typeface="Arial"/>
              </a:rPr>
              <a:t>broken. The shock </a:t>
            </a:r>
            <a:r>
              <a:rPr dirty="0" sz="1200" spc="-10">
                <a:latin typeface="Arial"/>
                <a:cs typeface="Arial"/>
              </a:rPr>
              <a:t>was </a:t>
            </a:r>
            <a:r>
              <a:rPr dirty="0" sz="1200" spc="-5">
                <a:latin typeface="Arial"/>
                <a:cs typeface="Arial"/>
              </a:rPr>
              <a:t>so sudden that  </a:t>
            </a:r>
            <a:r>
              <a:rPr dirty="0" sz="1200">
                <a:latin typeface="Arial"/>
                <a:cs typeface="Arial"/>
              </a:rPr>
              <a:t>the </a:t>
            </a:r>
            <a:r>
              <a:rPr dirty="0" sz="1200" spc="-5">
                <a:latin typeface="Arial"/>
                <a:cs typeface="Arial"/>
              </a:rPr>
              <a:t>prophet (s.a.w) fainted </a:t>
            </a:r>
            <a:r>
              <a:rPr dirty="0" sz="1200">
                <a:latin typeface="Arial"/>
                <a:cs typeface="Arial"/>
              </a:rPr>
              <a:t>to </a:t>
            </a:r>
            <a:r>
              <a:rPr dirty="0" sz="1200" spc="-5">
                <a:latin typeface="Arial"/>
                <a:cs typeface="Arial"/>
              </a:rPr>
              <a:t>the ground. There </a:t>
            </a:r>
            <a:r>
              <a:rPr dirty="0" sz="1200" spc="-10">
                <a:latin typeface="Arial"/>
                <a:cs typeface="Arial"/>
              </a:rPr>
              <a:t>was </a:t>
            </a:r>
            <a:r>
              <a:rPr dirty="0" sz="1200" spc="-5">
                <a:latin typeface="Arial"/>
                <a:cs typeface="Arial"/>
              </a:rPr>
              <a:t>dismay </a:t>
            </a:r>
            <a:r>
              <a:rPr dirty="0" sz="1200">
                <a:latin typeface="Arial"/>
                <a:cs typeface="Arial"/>
              </a:rPr>
              <a:t>among </a:t>
            </a:r>
            <a:r>
              <a:rPr dirty="0" sz="1200" spc="-5">
                <a:latin typeface="Arial"/>
                <a:cs typeface="Arial"/>
              </a:rPr>
              <a:t>the Muslims. At the  </a:t>
            </a:r>
            <a:r>
              <a:rPr dirty="0" sz="1200">
                <a:latin typeface="Arial"/>
                <a:cs typeface="Arial"/>
              </a:rPr>
              <a:t>same </a:t>
            </a:r>
            <a:r>
              <a:rPr dirty="0" sz="1200" spc="-5">
                <a:latin typeface="Arial"/>
                <a:cs typeface="Arial"/>
              </a:rPr>
              <a:t>time, </a:t>
            </a:r>
            <a:r>
              <a:rPr dirty="0" sz="1200">
                <a:latin typeface="Arial"/>
                <a:cs typeface="Arial"/>
              </a:rPr>
              <a:t>the </a:t>
            </a:r>
            <a:r>
              <a:rPr dirty="0" sz="1200" spc="-5">
                <a:latin typeface="Arial"/>
                <a:cs typeface="Arial"/>
              </a:rPr>
              <a:t>Quraish cried </a:t>
            </a:r>
            <a:r>
              <a:rPr dirty="0" sz="1200">
                <a:latin typeface="Arial"/>
                <a:cs typeface="Arial"/>
              </a:rPr>
              <a:t>for </a:t>
            </a:r>
            <a:r>
              <a:rPr dirty="0" sz="1200" spc="-5">
                <a:latin typeface="Arial"/>
                <a:cs typeface="Arial"/>
              </a:rPr>
              <a:t>victory </a:t>
            </a:r>
            <a:r>
              <a:rPr dirty="0" sz="1200">
                <a:latin typeface="Arial"/>
                <a:cs typeface="Arial"/>
              </a:rPr>
              <a:t>and </a:t>
            </a:r>
            <a:r>
              <a:rPr dirty="0" sz="1200" spc="-5">
                <a:latin typeface="Arial"/>
                <a:cs typeface="Arial"/>
              </a:rPr>
              <a:t>the Muslims thought that </a:t>
            </a:r>
            <a:r>
              <a:rPr dirty="0" sz="1200">
                <a:latin typeface="Arial"/>
                <a:cs typeface="Arial"/>
              </a:rPr>
              <a:t>the </a:t>
            </a:r>
            <a:r>
              <a:rPr dirty="0" sz="1200" spc="-5">
                <a:latin typeface="Arial"/>
                <a:cs typeface="Arial"/>
              </a:rPr>
              <a:t>prophet (s.a.w) </a:t>
            </a:r>
            <a:r>
              <a:rPr dirty="0" sz="1200" spc="-10">
                <a:latin typeface="Arial"/>
                <a:cs typeface="Arial"/>
              </a:rPr>
              <a:t>was  </a:t>
            </a:r>
            <a:r>
              <a:rPr dirty="0" sz="1200" spc="-5">
                <a:latin typeface="Arial"/>
                <a:cs typeface="Arial"/>
              </a:rPr>
              <a:t>really dead. </a:t>
            </a:r>
            <a:r>
              <a:rPr dirty="0" sz="1200">
                <a:latin typeface="Arial"/>
                <a:cs typeface="Arial"/>
              </a:rPr>
              <a:t>They </a:t>
            </a:r>
            <a:r>
              <a:rPr dirty="0" sz="1200" spc="-5">
                <a:latin typeface="Arial"/>
                <a:cs typeface="Arial"/>
              </a:rPr>
              <a:t>dropped their weapons </a:t>
            </a:r>
            <a:r>
              <a:rPr dirty="0" sz="1200" spc="-10">
                <a:latin typeface="Arial"/>
                <a:cs typeface="Arial"/>
              </a:rPr>
              <a:t>and </a:t>
            </a:r>
            <a:r>
              <a:rPr dirty="0" sz="1200" spc="-5">
                <a:latin typeface="Arial"/>
                <a:cs typeface="Arial"/>
              </a:rPr>
              <a:t>in </a:t>
            </a:r>
            <a:r>
              <a:rPr dirty="0" sz="1200">
                <a:latin typeface="Arial"/>
                <a:cs typeface="Arial"/>
              </a:rPr>
              <a:t>that </a:t>
            </a:r>
            <a:r>
              <a:rPr dirty="0" sz="1200" spc="-5">
                <a:latin typeface="Arial"/>
                <a:cs typeface="Arial"/>
              </a:rPr>
              <a:t>confusion many </a:t>
            </a:r>
            <a:r>
              <a:rPr dirty="0" sz="1200">
                <a:latin typeface="Arial"/>
                <a:cs typeface="Arial"/>
              </a:rPr>
              <a:t>died. It </a:t>
            </a:r>
            <a:r>
              <a:rPr dirty="0" sz="1200" spc="-10">
                <a:latin typeface="Arial"/>
                <a:cs typeface="Arial"/>
              </a:rPr>
              <a:t>was </a:t>
            </a:r>
            <a:r>
              <a:rPr dirty="0" sz="1200" spc="-5">
                <a:latin typeface="Arial"/>
                <a:cs typeface="Arial"/>
              </a:rPr>
              <a:t>Abu </a:t>
            </a:r>
            <a:r>
              <a:rPr dirty="0" sz="1200">
                <a:latin typeface="Arial"/>
                <a:cs typeface="Arial"/>
              </a:rPr>
              <a:t>Bakr  </a:t>
            </a:r>
            <a:r>
              <a:rPr dirty="0" sz="1200" spc="-10">
                <a:latin typeface="Arial"/>
                <a:cs typeface="Arial"/>
              </a:rPr>
              <a:t>who </a:t>
            </a:r>
            <a:r>
              <a:rPr dirty="0" sz="1200" spc="-5">
                <a:latin typeface="Arial"/>
                <a:cs typeface="Arial"/>
              </a:rPr>
              <a:t>reaffirmed the Muslims </a:t>
            </a:r>
            <a:r>
              <a:rPr dirty="0" sz="1200">
                <a:latin typeface="Arial"/>
                <a:cs typeface="Arial"/>
              </a:rPr>
              <a:t>that </a:t>
            </a:r>
            <a:r>
              <a:rPr dirty="0" sz="1200" spc="-5">
                <a:latin typeface="Arial"/>
                <a:cs typeface="Arial"/>
              </a:rPr>
              <a:t>the prophet (s.a.w) </a:t>
            </a:r>
            <a:r>
              <a:rPr dirty="0" sz="1200" spc="-10">
                <a:latin typeface="Arial"/>
                <a:cs typeface="Arial"/>
              </a:rPr>
              <a:t>was </a:t>
            </a:r>
            <a:r>
              <a:rPr dirty="0" sz="1200" spc="-5">
                <a:latin typeface="Arial"/>
                <a:cs typeface="Arial"/>
              </a:rPr>
              <a:t>still alive and he </a:t>
            </a:r>
            <a:r>
              <a:rPr dirty="0" sz="1200" spc="-10">
                <a:latin typeface="Arial"/>
                <a:cs typeface="Arial"/>
              </a:rPr>
              <a:t>was </a:t>
            </a:r>
            <a:r>
              <a:rPr dirty="0" sz="1200" spc="5">
                <a:latin typeface="Arial"/>
                <a:cs typeface="Arial"/>
              </a:rPr>
              <a:t>carried </a:t>
            </a:r>
            <a:r>
              <a:rPr dirty="0" sz="1200">
                <a:latin typeface="Arial"/>
                <a:cs typeface="Arial"/>
              </a:rPr>
              <a:t>away  </a:t>
            </a:r>
            <a:r>
              <a:rPr dirty="0" sz="1200" spc="-5">
                <a:latin typeface="Arial"/>
                <a:cs typeface="Arial"/>
              </a:rPr>
              <a:t>in </a:t>
            </a:r>
            <a:r>
              <a:rPr dirty="0" sz="1200">
                <a:latin typeface="Arial"/>
                <a:cs typeface="Arial"/>
              </a:rPr>
              <a:t>the </a:t>
            </a:r>
            <a:r>
              <a:rPr dirty="0" sz="1200" spc="-10">
                <a:latin typeface="Arial"/>
                <a:cs typeface="Arial"/>
              </a:rPr>
              <a:t>cave </a:t>
            </a:r>
            <a:r>
              <a:rPr dirty="0" sz="1200" spc="-5">
                <a:latin typeface="Arial"/>
                <a:cs typeface="Arial"/>
              </a:rPr>
              <a:t>of Uhud for </a:t>
            </a:r>
            <a:r>
              <a:rPr dirty="0" sz="1200">
                <a:latin typeface="Arial"/>
                <a:cs typeface="Arial"/>
              </a:rPr>
              <a:t>first </a:t>
            </a:r>
            <a:r>
              <a:rPr dirty="0" sz="1200" spc="-5">
                <a:latin typeface="Arial"/>
                <a:cs typeface="Arial"/>
              </a:rPr>
              <a:t>aid. All Ashab mustered around </a:t>
            </a:r>
            <a:r>
              <a:rPr dirty="0" sz="1200">
                <a:latin typeface="Arial"/>
                <a:cs typeface="Arial"/>
              </a:rPr>
              <a:t>the </a:t>
            </a:r>
            <a:r>
              <a:rPr dirty="0" sz="1200" spc="-5">
                <a:latin typeface="Arial"/>
                <a:cs typeface="Arial"/>
              </a:rPr>
              <a:t>prophet </a:t>
            </a:r>
            <a:r>
              <a:rPr dirty="0" sz="1200">
                <a:latin typeface="Arial"/>
                <a:cs typeface="Arial"/>
              </a:rPr>
              <a:t>to </a:t>
            </a:r>
            <a:r>
              <a:rPr dirty="0" sz="1200" spc="-5">
                <a:latin typeface="Arial"/>
                <a:cs typeface="Arial"/>
              </a:rPr>
              <a:t>make a human  shield. Many were </a:t>
            </a:r>
            <a:r>
              <a:rPr dirty="0" sz="1200">
                <a:latin typeface="Arial"/>
                <a:cs typeface="Arial"/>
              </a:rPr>
              <a:t>killed </a:t>
            </a:r>
            <a:r>
              <a:rPr dirty="0" sz="1200" spc="-5">
                <a:latin typeface="Arial"/>
                <a:cs typeface="Arial"/>
              </a:rPr>
              <a:t>in </a:t>
            </a:r>
            <a:r>
              <a:rPr dirty="0" sz="1200">
                <a:latin typeface="Arial"/>
                <a:cs typeface="Arial"/>
              </a:rPr>
              <a:t>that </a:t>
            </a:r>
            <a:r>
              <a:rPr dirty="0" sz="1200" spc="-5">
                <a:latin typeface="Arial"/>
                <a:cs typeface="Arial"/>
              </a:rPr>
              <a:t>endeavour </a:t>
            </a:r>
            <a:r>
              <a:rPr dirty="0" sz="1200">
                <a:latin typeface="Arial"/>
                <a:cs typeface="Arial"/>
              </a:rPr>
              <a:t>to protect </a:t>
            </a:r>
            <a:r>
              <a:rPr dirty="0" sz="1200" spc="-5">
                <a:latin typeface="Arial"/>
                <a:cs typeface="Arial"/>
              </a:rPr>
              <a:t>their </a:t>
            </a:r>
            <a:r>
              <a:rPr dirty="0" sz="1200">
                <a:latin typeface="Arial"/>
                <a:cs typeface="Arial"/>
              </a:rPr>
              <a:t>leader. When </a:t>
            </a:r>
            <a:r>
              <a:rPr dirty="0" sz="1200" spc="-5">
                <a:latin typeface="Arial"/>
                <a:cs typeface="Arial"/>
              </a:rPr>
              <a:t>the prophet regained  his sense, the </a:t>
            </a:r>
            <a:r>
              <a:rPr dirty="0" sz="1200">
                <a:latin typeface="Arial"/>
                <a:cs typeface="Arial"/>
              </a:rPr>
              <a:t>fight </a:t>
            </a:r>
            <a:r>
              <a:rPr dirty="0" sz="1200" spc="-5">
                <a:latin typeface="Arial"/>
                <a:cs typeface="Arial"/>
              </a:rPr>
              <a:t>regained momentum </a:t>
            </a:r>
            <a:r>
              <a:rPr dirty="0" sz="1200" spc="-10">
                <a:latin typeface="Arial"/>
                <a:cs typeface="Arial"/>
              </a:rPr>
              <a:t>and </a:t>
            </a:r>
            <a:r>
              <a:rPr dirty="0" sz="1200">
                <a:latin typeface="Arial"/>
                <a:cs typeface="Arial"/>
              </a:rPr>
              <a:t>the Quraish </a:t>
            </a:r>
            <a:r>
              <a:rPr dirty="0" sz="1200" spc="-5">
                <a:latin typeface="Arial"/>
                <a:cs typeface="Arial"/>
              </a:rPr>
              <a:t>were not </a:t>
            </a:r>
            <a:r>
              <a:rPr dirty="0" sz="1200" spc="10">
                <a:latin typeface="Arial"/>
                <a:cs typeface="Arial"/>
              </a:rPr>
              <a:t>able </a:t>
            </a:r>
            <a:r>
              <a:rPr dirty="0" sz="1200">
                <a:latin typeface="Arial"/>
                <a:cs typeface="Arial"/>
              </a:rPr>
              <a:t>to </a:t>
            </a:r>
            <a:r>
              <a:rPr dirty="0" sz="1200" spc="-5">
                <a:latin typeface="Arial"/>
                <a:cs typeface="Arial"/>
              </a:rPr>
              <a:t>overcome the  comeback of the Muslim around </a:t>
            </a:r>
            <a:r>
              <a:rPr dirty="0" sz="1200">
                <a:latin typeface="Arial"/>
                <a:cs typeface="Arial"/>
              </a:rPr>
              <a:t>their </a:t>
            </a:r>
            <a:r>
              <a:rPr dirty="0" sz="1200" spc="-5">
                <a:latin typeface="Arial"/>
                <a:cs typeface="Arial"/>
              </a:rPr>
              <a:t>prophet (s.a.w). </a:t>
            </a:r>
            <a:r>
              <a:rPr dirty="0" sz="1200">
                <a:latin typeface="Arial"/>
                <a:cs typeface="Arial"/>
              </a:rPr>
              <a:t>They thus </a:t>
            </a:r>
            <a:r>
              <a:rPr dirty="0" sz="1200" spc="-5">
                <a:latin typeface="Arial"/>
                <a:cs typeface="Arial"/>
              </a:rPr>
              <a:t>fled away </a:t>
            </a:r>
            <a:r>
              <a:rPr dirty="0" sz="1200">
                <a:latin typeface="Arial"/>
                <a:cs typeface="Arial"/>
              </a:rPr>
              <a:t>from </a:t>
            </a:r>
            <a:r>
              <a:rPr dirty="0" sz="1200" spc="-5">
                <a:latin typeface="Arial"/>
                <a:cs typeface="Arial"/>
              </a:rPr>
              <a:t>the battle  field. In that battle 70 Muslims</a:t>
            </a:r>
            <a:r>
              <a:rPr dirty="0" sz="1200" spc="5">
                <a:latin typeface="Arial"/>
                <a:cs typeface="Arial"/>
              </a:rPr>
              <a:t> </a:t>
            </a:r>
            <a:r>
              <a:rPr dirty="0" sz="1200" spc="-5">
                <a:latin typeface="Arial"/>
                <a:cs typeface="Arial"/>
              </a:rPr>
              <a:t>died.</a:t>
            </a:r>
            <a:endParaRPr sz="1200">
              <a:latin typeface="Arial"/>
              <a:cs typeface="Arial"/>
            </a:endParaRPr>
          </a:p>
          <a:p>
            <a:pPr>
              <a:lnSpc>
                <a:spcPct val="100000"/>
              </a:lnSpc>
              <a:spcBef>
                <a:spcPts val="40"/>
              </a:spcBef>
            </a:pPr>
            <a:endParaRPr sz="1100">
              <a:latin typeface="Arial"/>
              <a:cs typeface="Arial"/>
            </a:endParaRPr>
          </a:p>
          <a:p>
            <a:pPr algn="just" marL="12700">
              <a:lnSpc>
                <a:spcPct val="100000"/>
              </a:lnSpc>
            </a:pPr>
            <a:r>
              <a:rPr dirty="0" u="heavy" sz="1200" spc="-5" b="1" i="1">
                <a:uFill>
                  <a:solidFill>
                    <a:srgbClr val="000000"/>
                  </a:solidFill>
                </a:uFill>
                <a:latin typeface="Arial"/>
                <a:cs typeface="Arial"/>
              </a:rPr>
              <a:t>The Battle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Uhud was important and significant </a:t>
            </a:r>
            <a:r>
              <a:rPr dirty="0" u="heavy" sz="1200" b="1" i="1">
                <a:uFill>
                  <a:solidFill>
                    <a:srgbClr val="000000"/>
                  </a:solidFill>
                </a:uFill>
                <a:latin typeface="Arial"/>
                <a:cs typeface="Arial"/>
              </a:rPr>
              <a:t>in </a:t>
            </a:r>
            <a:r>
              <a:rPr dirty="0" u="heavy" sz="1200" spc="-5" b="1" i="1">
                <a:uFill>
                  <a:solidFill>
                    <a:srgbClr val="000000"/>
                  </a:solidFill>
                </a:uFill>
                <a:latin typeface="Arial"/>
                <a:cs typeface="Arial"/>
              </a:rPr>
              <a:t>the sense</a:t>
            </a:r>
            <a:r>
              <a:rPr dirty="0" u="heavy" sz="1200" spc="55" b="1" i="1">
                <a:uFill>
                  <a:solidFill>
                    <a:srgbClr val="000000"/>
                  </a:solidFill>
                </a:uFill>
                <a:latin typeface="Arial"/>
                <a:cs typeface="Arial"/>
              </a:rPr>
              <a:t> </a:t>
            </a:r>
            <a:r>
              <a:rPr dirty="0" u="heavy" sz="1200" spc="-5" b="1" i="1">
                <a:uFill>
                  <a:solidFill>
                    <a:srgbClr val="000000"/>
                  </a:solidFill>
                </a:uFill>
                <a:latin typeface="Arial"/>
                <a:cs typeface="Arial"/>
              </a:rPr>
              <a:t>that:</a:t>
            </a:r>
            <a:endParaRPr sz="1200">
              <a:latin typeface="Arial"/>
              <a:cs typeface="Arial"/>
            </a:endParaRPr>
          </a:p>
          <a:p>
            <a:pPr>
              <a:lnSpc>
                <a:spcPct val="100000"/>
              </a:lnSpc>
            </a:pPr>
            <a:endParaRPr sz="1150">
              <a:latin typeface="Arial"/>
              <a:cs typeface="Arial"/>
            </a:endParaRPr>
          </a:p>
          <a:p>
            <a:pPr marL="469900" indent="-229235">
              <a:lnSpc>
                <a:spcPts val="1410"/>
              </a:lnSpc>
              <a:buAutoNum type="arabicPeriod"/>
              <a:tabLst>
                <a:tab pos="470534" algn="l"/>
              </a:tabLst>
            </a:pPr>
            <a:r>
              <a:rPr dirty="0" sz="1200" spc="-5">
                <a:latin typeface="Arial"/>
                <a:cs typeface="Arial"/>
              </a:rPr>
              <a:t>There </a:t>
            </a:r>
            <a:r>
              <a:rPr dirty="0" sz="1200">
                <a:latin typeface="Arial"/>
                <a:cs typeface="Arial"/>
              </a:rPr>
              <a:t>are </a:t>
            </a:r>
            <a:r>
              <a:rPr dirty="0" sz="1200" spc="-5">
                <a:latin typeface="Arial"/>
                <a:cs typeface="Arial"/>
              </a:rPr>
              <a:t>lessons </a:t>
            </a:r>
            <a:r>
              <a:rPr dirty="0" sz="1200">
                <a:latin typeface="Arial"/>
                <a:cs typeface="Arial"/>
              </a:rPr>
              <a:t>to </a:t>
            </a:r>
            <a:r>
              <a:rPr dirty="0" sz="1200" spc="-5">
                <a:latin typeface="Arial"/>
                <a:cs typeface="Arial"/>
              </a:rPr>
              <a:t>be derived </a:t>
            </a:r>
            <a:r>
              <a:rPr dirty="0" sz="1200">
                <a:latin typeface="Arial"/>
                <a:cs typeface="Arial"/>
              </a:rPr>
              <a:t>for the</a:t>
            </a:r>
            <a:r>
              <a:rPr dirty="0" sz="1200" spc="-40">
                <a:latin typeface="Arial"/>
                <a:cs typeface="Arial"/>
              </a:rPr>
              <a:t> </a:t>
            </a:r>
            <a:r>
              <a:rPr dirty="0" sz="1200" spc="-5">
                <a:latin typeface="Arial"/>
                <a:cs typeface="Arial"/>
              </a:rPr>
              <a:t>Muslims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disobedience of the Archers </a:t>
            </a:r>
            <a:r>
              <a:rPr dirty="0" sz="1200" spc="-10">
                <a:latin typeface="Arial"/>
                <a:cs typeface="Arial"/>
              </a:rPr>
              <a:t>led </a:t>
            </a:r>
            <a:r>
              <a:rPr dirty="0" sz="1200" spc="-5">
                <a:latin typeface="Arial"/>
                <a:cs typeface="Arial"/>
              </a:rPr>
              <a:t>to the dismay of the</a:t>
            </a:r>
            <a:r>
              <a:rPr dirty="0" sz="1200" spc="45">
                <a:latin typeface="Arial"/>
                <a:cs typeface="Arial"/>
              </a:rPr>
              <a:t> </a:t>
            </a:r>
            <a:r>
              <a:rPr dirty="0" sz="1200" spc="-5">
                <a:latin typeface="Arial"/>
                <a:cs typeface="Arial"/>
              </a:rPr>
              <a:t>army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identification of </a:t>
            </a:r>
            <a:r>
              <a:rPr dirty="0" sz="1200" spc="-10">
                <a:latin typeface="Arial"/>
                <a:cs typeface="Arial"/>
              </a:rPr>
              <a:t>the</a:t>
            </a:r>
            <a:r>
              <a:rPr dirty="0" sz="1200" spc="10">
                <a:latin typeface="Arial"/>
                <a:cs typeface="Arial"/>
              </a:rPr>
              <a:t> </a:t>
            </a:r>
            <a:r>
              <a:rPr dirty="0" sz="1200" spc="-5">
                <a:latin typeface="Arial"/>
                <a:cs typeface="Arial"/>
              </a:rPr>
              <a:t>Hypocrites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A </a:t>
            </a:r>
            <a:r>
              <a:rPr dirty="0" sz="1200" spc="-5">
                <a:latin typeface="Arial"/>
                <a:cs typeface="Arial"/>
              </a:rPr>
              <a:t>new strategy developed </a:t>
            </a:r>
            <a:r>
              <a:rPr dirty="0" sz="1200" spc="-10">
                <a:latin typeface="Arial"/>
                <a:cs typeface="Arial"/>
              </a:rPr>
              <a:t>in</a:t>
            </a:r>
            <a:r>
              <a:rPr dirty="0" sz="1200">
                <a:latin typeface="Arial"/>
                <a:cs typeface="Arial"/>
              </a:rPr>
              <a:t> </a:t>
            </a:r>
            <a:r>
              <a:rPr dirty="0" sz="1200" spc="-5">
                <a:latin typeface="Arial"/>
                <a:cs typeface="Arial"/>
              </a:rPr>
              <a:t>fighting</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Quraish failure in crushing</a:t>
            </a:r>
            <a:r>
              <a:rPr dirty="0" sz="1200">
                <a:latin typeface="Arial"/>
                <a:cs typeface="Arial"/>
              </a:rPr>
              <a:t> Islam</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ability </a:t>
            </a:r>
            <a:r>
              <a:rPr dirty="0" sz="1200">
                <a:latin typeface="Arial"/>
                <a:cs typeface="Arial"/>
              </a:rPr>
              <a:t>to </a:t>
            </a:r>
            <a:r>
              <a:rPr dirty="0" sz="1200" spc="-5">
                <a:latin typeface="Arial"/>
                <a:cs typeface="Arial"/>
              </a:rPr>
              <a:t>regroup the</a:t>
            </a:r>
            <a:r>
              <a:rPr dirty="0" sz="1200">
                <a:latin typeface="Arial"/>
                <a:cs typeface="Arial"/>
              </a:rPr>
              <a:t> </a:t>
            </a:r>
            <a:r>
              <a:rPr dirty="0" sz="1200" spc="-5">
                <a:latin typeface="Arial"/>
                <a:cs typeface="Arial"/>
              </a:rPr>
              <a:t>soldiers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realisation of the worthiness of the</a:t>
            </a:r>
            <a:r>
              <a:rPr dirty="0" sz="1200" spc="40">
                <a:latin typeface="Arial"/>
                <a:cs typeface="Arial"/>
              </a:rPr>
              <a:t> </a:t>
            </a:r>
            <a:r>
              <a:rPr dirty="0" sz="1200" spc="-5">
                <a:latin typeface="Arial"/>
                <a:cs typeface="Arial"/>
              </a:rPr>
              <a:t>prophet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a:t>
            </a:r>
            <a:r>
              <a:rPr dirty="0" sz="1200">
                <a:latin typeface="Arial"/>
                <a:cs typeface="Arial"/>
              </a:rPr>
              <a:t>fear </a:t>
            </a:r>
            <a:r>
              <a:rPr dirty="0" sz="1200" spc="-5">
                <a:latin typeface="Arial"/>
                <a:cs typeface="Arial"/>
              </a:rPr>
              <a:t>of losing the</a:t>
            </a:r>
            <a:r>
              <a:rPr dirty="0" sz="1200" spc="-20">
                <a:latin typeface="Arial"/>
                <a:cs typeface="Arial"/>
              </a:rPr>
              <a:t> </a:t>
            </a:r>
            <a:r>
              <a:rPr dirty="0" sz="1200" spc="-5">
                <a:latin typeface="Arial"/>
                <a:cs typeface="Arial"/>
              </a:rPr>
              <a:t>prophet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double guard from the Muslims</a:t>
            </a:r>
            <a:r>
              <a:rPr dirty="0" sz="1200" spc="10">
                <a:latin typeface="Arial"/>
                <a:cs typeface="Arial"/>
              </a:rPr>
              <a:t> </a:t>
            </a:r>
            <a:r>
              <a:rPr dirty="0" sz="1200" spc="-5">
                <a:latin typeface="Arial"/>
                <a:cs typeface="Arial"/>
              </a:rPr>
              <a:t>afterwards</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The </a:t>
            </a:r>
            <a:r>
              <a:rPr dirty="0" sz="1200">
                <a:latin typeface="Arial"/>
                <a:cs typeface="Arial"/>
              </a:rPr>
              <a:t>full </a:t>
            </a:r>
            <a:r>
              <a:rPr dirty="0" sz="1200" spc="-5">
                <a:latin typeface="Arial"/>
                <a:cs typeface="Arial"/>
              </a:rPr>
              <a:t>and complete obedience </a:t>
            </a:r>
            <a:r>
              <a:rPr dirty="0" sz="1200">
                <a:latin typeface="Arial"/>
                <a:cs typeface="Arial"/>
              </a:rPr>
              <a:t>to </a:t>
            </a:r>
            <a:r>
              <a:rPr dirty="0" sz="1200" spc="-5">
                <a:latin typeface="Arial"/>
                <a:cs typeface="Arial"/>
              </a:rPr>
              <a:t>Allah and prophet</a:t>
            </a:r>
            <a:r>
              <a:rPr dirty="0" sz="1200" spc="-45">
                <a:latin typeface="Arial"/>
                <a:cs typeface="Arial"/>
              </a:rPr>
              <a:t> </a:t>
            </a:r>
            <a:r>
              <a:rPr dirty="0" sz="1200" spc="-5">
                <a:latin typeface="Arial"/>
                <a:cs typeface="Arial"/>
              </a:rPr>
              <a:t>afterwards</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18</a:t>
            </a:r>
            <a:endParaRPr sz="120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p:nvPr/>
        </p:nvSpPr>
        <p:spPr>
          <a:xfrm>
            <a:off x="731519" y="981455"/>
            <a:ext cx="1215390" cy="15240"/>
          </a:xfrm>
          <a:custGeom>
            <a:avLst/>
            <a:gdLst/>
            <a:ahLst/>
            <a:cxnLst/>
            <a:rect l="l" t="t" r="r" b="b"/>
            <a:pathLst>
              <a:path w="1215389" h="15240">
                <a:moveTo>
                  <a:pt x="1214932" y="0"/>
                </a:moveTo>
                <a:lnTo>
                  <a:pt x="0" y="0"/>
                </a:lnTo>
                <a:lnTo>
                  <a:pt x="0" y="15240"/>
                </a:lnTo>
                <a:lnTo>
                  <a:pt x="1214932" y="15240"/>
                </a:lnTo>
                <a:lnTo>
                  <a:pt x="1214932" y="0"/>
                </a:lnTo>
                <a:close/>
              </a:path>
            </a:pathLst>
          </a:custGeom>
          <a:solidFill>
            <a:srgbClr val="000000"/>
          </a:solidFill>
        </p:spPr>
        <p:txBody>
          <a:bodyPr wrap="square" lIns="0" tIns="0" rIns="0" bIns="0" rtlCol="0"/>
          <a:lstStyle/>
          <a:p/>
        </p:txBody>
      </p:sp>
      <p:sp>
        <p:nvSpPr>
          <p:cNvPr id="6" name="object 6"/>
          <p:cNvSpPr/>
          <p:nvPr/>
        </p:nvSpPr>
        <p:spPr>
          <a:xfrm>
            <a:off x="731519" y="5013070"/>
            <a:ext cx="1215390" cy="15240"/>
          </a:xfrm>
          <a:custGeom>
            <a:avLst/>
            <a:gdLst/>
            <a:ahLst/>
            <a:cxnLst/>
            <a:rect l="l" t="t" r="r" b="b"/>
            <a:pathLst>
              <a:path w="1215389" h="15239">
                <a:moveTo>
                  <a:pt x="1214932" y="0"/>
                </a:moveTo>
                <a:lnTo>
                  <a:pt x="0" y="0"/>
                </a:lnTo>
                <a:lnTo>
                  <a:pt x="0" y="15239"/>
                </a:lnTo>
                <a:lnTo>
                  <a:pt x="1214932" y="15239"/>
                </a:lnTo>
                <a:lnTo>
                  <a:pt x="1214932" y="0"/>
                </a:lnTo>
                <a:close/>
              </a:path>
            </a:pathLst>
          </a:custGeom>
          <a:solidFill>
            <a:srgbClr val="000000"/>
          </a:solidFill>
        </p:spPr>
        <p:txBody>
          <a:bodyPr wrap="square" lIns="0" tIns="0" rIns="0" bIns="0" rtlCol="0"/>
          <a:lstStyle/>
          <a:p/>
        </p:txBody>
      </p:sp>
      <p:sp>
        <p:nvSpPr>
          <p:cNvPr id="7" name="object 7"/>
          <p:cNvSpPr txBox="1"/>
          <p:nvPr/>
        </p:nvSpPr>
        <p:spPr>
          <a:xfrm>
            <a:off x="579119" y="799592"/>
            <a:ext cx="6565265" cy="8971280"/>
          </a:xfrm>
          <a:prstGeom prst="rect">
            <a:avLst/>
          </a:prstGeom>
        </p:spPr>
        <p:txBody>
          <a:bodyPr wrap="square" lIns="0" tIns="12700" rIns="0" bIns="0" rtlCol="0" vert="horz">
            <a:spAutoFit/>
          </a:bodyPr>
          <a:lstStyle/>
          <a:p>
            <a:pPr marL="152400">
              <a:lnSpc>
                <a:spcPct val="100000"/>
              </a:lnSpc>
              <a:spcBef>
                <a:spcPts val="100"/>
              </a:spcBef>
            </a:pPr>
            <a:r>
              <a:rPr dirty="0" sz="1200" spc="-5" b="1" i="1">
                <a:latin typeface="Arial"/>
                <a:cs typeface="Arial"/>
              </a:rPr>
              <a:t>4</a:t>
            </a:r>
            <a:r>
              <a:rPr dirty="0" baseline="38194" sz="1200" spc="-7" b="1" i="1">
                <a:latin typeface="Arial"/>
                <a:cs typeface="Arial"/>
              </a:rPr>
              <a:t>th </a:t>
            </a:r>
            <a:r>
              <a:rPr dirty="0" sz="1200" spc="-5" b="1" i="1">
                <a:latin typeface="Arial"/>
                <a:cs typeface="Arial"/>
              </a:rPr>
              <a:t>Year of</a:t>
            </a:r>
            <a:r>
              <a:rPr dirty="0" sz="1200" spc="-100" b="1" i="1">
                <a:latin typeface="Arial"/>
                <a:cs typeface="Arial"/>
              </a:rPr>
              <a:t> </a:t>
            </a:r>
            <a:r>
              <a:rPr dirty="0" sz="1200" spc="-5" b="1" i="1">
                <a:latin typeface="Arial"/>
                <a:cs typeface="Arial"/>
              </a:rPr>
              <a:t>Hijrah</a:t>
            </a:r>
            <a:endParaRPr sz="1200">
              <a:latin typeface="Arial"/>
              <a:cs typeface="Arial"/>
            </a:endParaRPr>
          </a:p>
          <a:p>
            <a:pPr>
              <a:lnSpc>
                <a:spcPct val="100000"/>
              </a:lnSpc>
              <a:spcBef>
                <a:spcPts val="35"/>
              </a:spcBef>
            </a:pPr>
            <a:endParaRPr sz="1200">
              <a:latin typeface="Arial"/>
              <a:cs typeface="Arial"/>
            </a:endParaRPr>
          </a:p>
          <a:p>
            <a:pPr algn="just" marL="152400" marR="119380">
              <a:lnSpc>
                <a:spcPts val="1380"/>
              </a:lnSpc>
            </a:pPr>
            <a:r>
              <a:rPr dirty="0" sz="1200" spc="-5">
                <a:latin typeface="Arial"/>
                <a:cs typeface="Arial"/>
              </a:rPr>
              <a:t>The Jews </a:t>
            </a:r>
            <a:r>
              <a:rPr dirty="0" sz="1200">
                <a:latin typeface="Arial"/>
                <a:cs typeface="Arial"/>
              </a:rPr>
              <a:t>of </a:t>
            </a:r>
            <a:r>
              <a:rPr dirty="0" sz="1200" spc="-5">
                <a:latin typeface="Arial"/>
                <a:cs typeface="Arial"/>
              </a:rPr>
              <a:t>Madina entered in agreement with </a:t>
            </a:r>
            <a:r>
              <a:rPr dirty="0" sz="1200">
                <a:latin typeface="Arial"/>
                <a:cs typeface="Arial"/>
              </a:rPr>
              <a:t>the </a:t>
            </a:r>
            <a:r>
              <a:rPr dirty="0" sz="1200" spc="-5">
                <a:latin typeface="Arial"/>
                <a:cs typeface="Arial"/>
              </a:rPr>
              <a:t>Muslims but they conspired </a:t>
            </a:r>
            <a:r>
              <a:rPr dirty="0" sz="1200">
                <a:latin typeface="Arial"/>
                <a:cs typeface="Arial"/>
              </a:rPr>
              <a:t>against </a:t>
            </a:r>
            <a:r>
              <a:rPr dirty="0" sz="1200" spc="-5">
                <a:latin typeface="Arial"/>
                <a:cs typeface="Arial"/>
              </a:rPr>
              <a:t>the  Muslims with </a:t>
            </a:r>
            <a:r>
              <a:rPr dirty="0" sz="1200">
                <a:latin typeface="Arial"/>
                <a:cs typeface="Arial"/>
              </a:rPr>
              <a:t>the Quraish. Their </a:t>
            </a:r>
            <a:r>
              <a:rPr dirty="0" sz="1200" spc="-5">
                <a:latin typeface="Arial"/>
                <a:cs typeface="Arial"/>
              </a:rPr>
              <a:t>aim </a:t>
            </a:r>
            <a:r>
              <a:rPr dirty="0" sz="1200" spc="-10">
                <a:latin typeface="Arial"/>
                <a:cs typeface="Arial"/>
              </a:rPr>
              <a:t>was </a:t>
            </a:r>
            <a:r>
              <a:rPr dirty="0" sz="1200">
                <a:latin typeface="Arial"/>
                <a:cs typeface="Arial"/>
              </a:rPr>
              <a:t>to </a:t>
            </a:r>
            <a:r>
              <a:rPr dirty="0" sz="1200" spc="-5">
                <a:latin typeface="Arial"/>
                <a:cs typeface="Arial"/>
              </a:rPr>
              <a:t>have </a:t>
            </a:r>
            <a:r>
              <a:rPr dirty="0" sz="1200">
                <a:latin typeface="Arial"/>
                <a:cs typeface="Arial"/>
              </a:rPr>
              <a:t>the </a:t>
            </a:r>
            <a:r>
              <a:rPr dirty="0" sz="1200" spc="-5">
                <a:latin typeface="Arial"/>
                <a:cs typeface="Arial"/>
              </a:rPr>
              <a:t>prophet on their </a:t>
            </a:r>
            <a:r>
              <a:rPr dirty="0" sz="1200">
                <a:latin typeface="Arial"/>
                <a:cs typeface="Arial"/>
              </a:rPr>
              <a:t>sides </a:t>
            </a:r>
            <a:r>
              <a:rPr dirty="0" sz="1200" spc="-5">
                <a:latin typeface="Arial"/>
                <a:cs typeface="Arial"/>
              </a:rPr>
              <a:t>in order </a:t>
            </a:r>
            <a:r>
              <a:rPr dirty="0" sz="1200">
                <a:latin typeface="Arial"/>
                <a:cs typeface="Arial"/>
              </a:rPr>
              <a:t>to </a:t>
            </a:r>
            <a:r>
              <a:rPr dirty="0" sz="1200" spc="-5">
                <a:latin typeface="Arial"/>
                <a:cs typeface="Arial"/>
              </a:rPr>
              <a:t>attack  Macca and take possession of both Macca and Madina. </a:t>
            </a:r>
            <a:r>
              <a:rPr dirty="0" sz="1200">
                <a:latin typeface="Arial"/>
                <a:cs typeface="Arial"/>
              </a:rPr>
              <a:t>As </a:t>
            </a:r>
            <a:r>
              <a:rPr dirty="0" sz="1200" spc="-5">
                <a:latin typeface="Arial"/>
                <a:cs typeface="Arial"/>
              </a:rPr>
              <a:t>a result, Banu Qainuqa </a:t>
            </a:r>
            <a:r>
              <a:rPr dirty="0" sz="1200" spc="-10">
                <a:latin typeface="Arial"/>
                <a:cs typeface="Arial"/>
              </a:rPr>
              <a:t>was  </a:t>
            </a:r>
            <a:r>
              <a:rPr dirty="0" sz="1200" spc="-5">
                <a:latin typeface="Arial"/>
                <a:cs typeface="Arial"/>
              </a:rPr>
              <a:t>exiled from Madina after Battle of Badr. After the battle of Uhud, </a:t>
            </a:r>
            <a:r>
              <a:rPr dirty="0" sz="1200" spc="-10">
                <a:latin typeface="Arial"/>
                <a:cs typeface="Arial"/>
              </a:rPr>
              <a:t>Banu </a:t>
            </a:r>
            <a:r>
              <a:rPr dirty="0" sz="1200">
                <a:latin typeface="Arial"/>
                <a:cs typeface="Arial"/>
              </a:rPr>
              <a:t>Nadir </a:t>
            </a:r>
            <a:r>
              <a:rPr dirty="0" sz="1200" spc="-5">
                <a:latin typeface="Arial"/>
                <a:cs typeface="Arial"/>
              </a:rPr>
              <a:t>fortified  themselves in </a:t>
            </a:r>
            <a:r>
              <a:rPr dirty="0" sz="1200">
                <a:latin typeface="Arial"/>
                <a:cs typeface="Arial"/>
              </a:rPr>
              <a:t>their </a:t>
            </a:r>
            <a:r>
              <a:rPr dirty="0" sz="1200" spc="-5">
                <a:latin typeface="Arial"/>
                <a:cs typeface="Arial"/>
              </a:rPr>
              <a:t>forts. </a:t>
            </a:r>
            <a:r>
              <a:rPr dirty="0" sz="1200">
                <a:latin typeface="Arial"/>
                <a:cs typeface="Arial"/>
              </a:rPr>
              <a:t>There </a:t>
            </a:r>
            <a:r>
              <a:rPr dirty="0" sz="1200" spc="-10">
                <a:latin typeface="Arial"/>
                <a:cs typeface="Arial"/>
              </a:rPr>
              <a:t>was </a:t>
            </a:r>
            <a:r>
              <a:rPr dirty="0" sz="1200" spc="-5">
                <a:latin typeface="Arial"/>
                <a:cs typeface="Arial"/>
              </a:rPr>
              <a:t>a siege upon them by </a:t>
            </a:r>
            <a:r>
              <a:rPr dirty="0" sz="1200">
                <a:latin typeface="Arial"/>
                <a:cs typeface="Arial"/>
              </a:rPr>
              <a:t>the </a:t>
            </a:r>
            <a:r>
              <a:rPr dirty="0" sz="1200" spc="-5">
                <a:latin typeface="Arial"/>
                <a:cs typeface="Arial"/>
              </a:rPr>
              <a:t>prophet (s.a.w) </a:t>
            </a:r>
            <a:r>
              <a:rPr dirty="0" sz="1200">
                <a:latin typeface="Arial"/>
                <a:cs typeface="Arial"/>
              </a:rPr>
              <a:t>for </a:t>
            </a:r>
            <a:r>
              <a:rPr dirty="0" sz="1200" spc="-5">
                <a:latin typeface="Arial"/>
                <a:cs typeface="Arial"/>
              </a:rPr>
              <a:t>21 </a:t>
            </a:r>
            <a:r>
              <a:rPr dirty="0" sz="1200" spc="-10">
                <a:latin typeface="Arial"/>
                <a:cs typeface="Arial"/>
              </a:rPr>
              <a:t>days.  </a:t>
            </a:r>
            <a:r>
              <a:rPr dirty="0" sz="1200" spc="-5">
                <a:latin typeface="Arial"/>
                <a:cs typeface="Arial"/>
              </a:rPr>
              <a:t>They </a:t>
            </a:r>
            <a:r>
              <a:rPr dirty="0" sz="1200">
                <a:latin typeface="Arial"/>
                <a:cs typeface="Arial"/>
              </a:rPr>
              <a:t>finally </a:t>
            </a:r>
            <a:r>
              <a:rPr dirty="0" sz="1200" spc="-5">
                <a:latin typeface="Arial"/>
                <a:cs typeface="Arial"/>
              </a:rPr>
              <a:t>surrendered. </a:t>
            </a:r>
            <a:r>
              <a:rPr dirty="0" sz="1200">
                <a:latin typeface="Arial"/>
                <a:cs typeface="Arial"/>
              </a:rPr>
              <a:t>The </a:t>
            </a:r>
            <a:r>
              <a:rPr dirty="0" sz="1200" spc="-5">
                <a:latin typeface="Arial"/>
                <a:cs typeface="Arial"/>
              </a:rPr>
              <a:t>prophet </a:t>
            </a:r>
            <a:r>
              <a:rPr dirty="0" sz="1200">
                <a:latin typeface="Arial"/>
                <a:cs typeface="Arial"/>
              </a:rPr>
              <a:t>(s.a.w) </a:t>
            </a:r>
            <a:r>
              <a:rPr dirty="0" sz="1200" spc="-5">
                <a:latin typeface="Arial"/>
                <a:cs typeface="Arial"/>
              </a:rPr>
              <a:t>gave </a:t>
            </a:r>
            <a:r>
              <a:rPr dirty="0" sz="1200">
                <a:latin typeface="Arial"/>
                <a:cs typeface="Arial"/>
              </a:rPr>
              <a:t>them </a:t>
            </a:r>
            <a:r>
              <a:rPr dirty="0" sz="1200" spc="-5">
                <a:latin typeface="Arial"/>
                <a:cs typeface="Arial"/>
              </a:rPr>
              <a:t>10 days </a:t>
            </a:r>
            <a:r>
              <a:rPr dirty="0" sz="1200">
                <a:latin typeface="Arial"/>
                <a:cs typeface="Arial"/>
              </a:rPr>
              <a:t>to </a:t>
            </a:r>
            <a:r>
              <a:rPr dirty="0" sz="1200" spc="-5">
                <a:latin typeface="Arial"/>
                <a:cs typeface="Arial"/>
              </a:rPr>
              <a:t>leave Madina </a:t>
            </a:r>
            <a:r>
              <a:rPr dirty="0" sz="1200">
                <a:latin typeface="Arial"/>
                <a:cs typeface="Arial"/>
              </a:rPr>
              <a:t>for </a:t>
            </a:r>
            <a:r>
              <a:rPr dirty="0" sz="1200" spc="-5">
                <a:latin typeface="Arial"/>
                <a:cs typeface="Arial"/>
              </a:rPr>
              <a:t>Syria.  </a:t>
            </a:r>
            <a:r>
              <a:rPr dirty="0" sz="1200">
                <a:latin typeface="Arial"/>
                <a:cs typeface="Arial"/>
              </a:rPr>
              <a:t>A few </a:t>
            </a:r>
            <a:r>
              <a:rPr dirty="0" sz="1200" spc="-5">
                <a:latin typeface="Arial"/>
                <a:cs typeface="Arial"/>
              </a:rPr>
              <a:t>of them went </a:t>
            </a:r>
            <a:r>
              <a:rPr dirty="0" sz="1200">
                <a:latin typeface="Arial"/>
                <a:cs typeface="Arial"/>
              </a:rPr>
              <a:t>to</a:t>
            </a:r>
            <a:r>
              <a:rPr dirty="0" sz="1200" spc="-15">
                <a:latin typeface="Arial"/>
                <a:cs typeface="Arial"/>
              </a:rPr>
              <a:t> </a:t>
            </a:r>
            <a:r>
              <a:rPr dirty="0" sz="1200" spc="-5">
                <a:latin typeface="Arial"/>
                <a:cs typeface="Arial"/>
              </a:rPr>
              <a:t>Khaybar.</a:t>
            </a:r>
            <a:endParaRPr sz="1200">
              <a:latin typeface="Arial"/>
              <a:cs typeface="Arial"/>
            </a:endParaRPr>
          </a:p>
          <a:p>
            <a:pPr>
              <a:lnSpc>
                <a:spcPct val="100000"/>
              </a:lnSpc>
              <a:spcBef>
                <a:spcPts val="20"/>
              </a:spcBef>
            </a:pPr>
            <a:endParaRPr sz="1150">
              <a:latin typeface="Arial"/>
              <a:cs typeface="Arial"/>
            </a:endParaRPr>
          </a:p>
          <a:p>
            <a:pPr algn="just" marL="152400" marR="123825">
              <a:lnSpc>
                <a:spcPct val="95900"/>
              </a:lnSpc>
            </a:pPr>
            <a:r>
              <a:rPr dirty="0" sz="1200">
                <a:latin typeface="Arial"/>
                <a:cs typeface="Arial"/>
              </a:rPr>
              <a:t>At first the </a:t>
            </a:r>
            <a:r>
              <a:rPr dirty="0" sz="1200" spc="-5">
                <a:latin typeface="Arial"/>
                <a:cs typeface="Arial"/>
              </a:rPr>
              <a:t>relationship with the Jews </a:t>
            </a:r>
            <a:r>
              <a:rPr dirty="0" sz="1200" spc="-10">
                <a:latin typeface="Arial"/>
                <a:cs typeface="Arial"/>
              </a:rPr>
              <a:t>was </a:t>
            </a:r>
            <a:r>
              <a:rPr dirty="0" sz="1200">
                <a:latin typeface="Arial"/>
                <a:cs typeface="Arial"/>
              </a:rPr>
              <a:t>created </a:t>
            </a:r>
            <a:r>
              <a:rPr dirty="0" sz="1200" spc="-5">
                <a:latin typeface="Arial"/>
                <a:cs typeface="Arial"/>
              </a:rPr>
              <a:t>by the prophet (s.a.w) </a:t>
            </a:r>
            <a:r>
              <a:rPr dirty="0" sz="1200">
                <a:latin typeface="Arial"/>
                <a:cs typeface="Arial"/>
              </a:rPr>
              <a:t>because for </a:t>
            </a:r>
            <a:r>
              <a:rPr dirty="0" sz="1200" spc="-5">
                <a:latin typeface="Arial"/>
                <a:cs typeface="Arial"/>
              </a:rPr>
              <a:t>different  reasons: the prophet wanted </a:t>
            </a:r>
            <a:r>
              <a:rPr dirty="0" sz="1200">
                <a:latin typeface="Arial"/>
                <a:cs typeface="Arial"/>
              </a:rPr>
              <a:t>to </a:t>
            </a:r>
            <a:r>
              <a:rPr dirty="0" sz="1200" spc="-5">
                <a:latin typeface="Arial"/>
                <a:cs typeface="Arial"/>
              </a:rPr>
              <a:t>create and tie </a:t>
            </a:r>
            <a:r>
              <a:rPr dirty="0" sz="1200">
                <a:latin typeface="Arial"/>
                <a:cs typeface="Arial"/>
              </a:rPr>
              <a:t>the </a:t>
            </a:r>
            <a:r>
              <a:rPr dirty="0" sz="1200" spc="-5">
                <a:latin typeface="Arial"/>
                <a:cs typeface="Arial"/>
              </a:rPr>
              <a:t>links with </a:t>
            </a:r>
            <a:r>
              <a:rPr dirty="0" sz="1200">
                <a:latin typeface="Arial"/>
                <a:cs typeface="Arial"/>
              </a:rPr>
              <a:t>the </a:t>
            </a:r>
            <a:r>
              <a:rPr dirty="0" sz="1200" spc="-5">
                <a:latin typeface="Arial"/>
                <a:cs typeface="Arial"/>
              </a:rPr>
              <a:t>Jews, </a:t>
            </a:r>
            <a:r>
              <a:rPr dirty="0" sz="1200">
                <a:latin typeface="Arial"/>
                <a:cs typeface="Arial"/>
              </a:rPr>
              <a:t>the </a:t>
            </a:r>
            <a:r>
              <a:rPr dirty="0" sz="1200" spc="-5">
                <a:latin typeface="Arial"/>
                <a:cs typeface="Arial"/>
              </a:rPr>
              <a:t>prophet knew  about the similarities </a:t>
            </a:r>
            <a:r>
              <a:rPr dirty="0" sz="1200" spc="-10">
                <a:latin typeface="Arial"/>
                <a:cs typeface="Arial"/>
              </a:rPr>
              <a:t>in </a:t>
            </a:r>
            <a:r>
              <a:rPr dirty="0" sz="1200" spc="-5">
                <a:latin typeface="Arial"/>
                <a:cs typeface="Arial"/>
              </a:rPr>
              <a:t>between Islam and Judaism, the prophet wanted </a:t>
            </a:r>
            <a:r>
              <a:rPr dirty="0" sz="1200">
                <a:latin typeface="Arial"/>
                <a:cs typeface="Arial"/>
              </a:rPr>
              <a:t>to </a:t>
            </a:r>
            <a:r>
              <a:rPr dirty="0" sz="1200" spc="-5">
                <a:latin typeface="Arial"/>
                <a:cs typeface="Arial"/>
              </a:rPr>
              <a:t>create stability in  his society, the prophet wanted to embark them under his wings, the prophet wanted </a:t>
            </a:r>
            <a:r>
              <a:rPr dirty="0" sz="1200">
                <a:latin typeface="Arial"/>
                <a:cs typeface="Arial"/>
              </a:rPr>
              <a:t>to  </a:t>
            </a:r>
            <a:r>
              <a:rPr dirty="0" sz="1200" spc="-5">
                <a:latin typeface="Arial"/>
                <a:cs typeface="Arial"/>
              </a:rPr>
              <a:t>eliminate all potential enemies, the prophet wanted </a:t>
            </a:r>
            <a:r>
              <a:rPr dirty="0" sz="1200">
                <a:latin typeface="Arial"/>
                <a:cs typeface="Arial"/>
              </a:rPr>
              <a:t>to </a:t>
            </a:r>
            <a:r>
              <a:rPr dirty="0" sz="1200" spc="-5">
                <a:latin typeface="Arial"/>
                <a:cs typeface="Arial"/>
              </a:rPr>
              <a:t>show them what Islam </a:t>
            </a:r>
            <a:r>
              <a:rPr dirty="0" sz="1200" spc="-10">
                <a:latin typeface="Arial"/>
                <a:cs typeface="Arial"/>
              </a:rPr>
              <a:t>was </a:t>
            </a:r>
            <a:r>
              <a:rPr dirty="0" sz="1200" spc="-5">
                <a:latin typeface="Arial"/>
                <a:cs typeface="Arial"/>
              </a:rPr>
              <a:t>really  about and </a:t>
            </a:r>
            <a:r>
              <a:rPr dirty="0" sz="1200">
                <a:latin typeface="Arial"/>
                <a:cs typeface="Arial"/>
              </a:rPr>
              <a:t>the </a:t>
            </a:r>
            <a:r>
              <a:rPr dirty="0" sz="1200" spc="-5">
                <a:latin typeface="Arial"/>
                <a:cs typeface="Arial"/>
              </a:rPr>
              <a:t>prophet wanted </a:t>
            </a:r>
            <a:r>
              <a:rPr dirty="0" sz="1200">
                <a:latin typeface="Arial"/>
                <a:cs typeface="Arial"/>
              </a:rPr>
              <a:t>to </a:t>
            </a:r>
            <a:r>
              <a:rPr dirty="0" sz="1200" spc="-5">
                <a:latin typeface="Arial"/>
                <a:cs typeface="Arial"/>
              </a:rPr>
              <a:t>spread Islam to them with</a:t>
            </a:r>
            <a:r>
              <a:rPr dirty="0" sz="1200">
                <a:latin typeface="Arial"/>
                <a:cs typeface="Arial"/>
              </a:rPr>
              <a:t> </a:t>
            </a:r>
            <a:r>
              <a:rPr dirty="0" sz="1200" spc="-5">
                <a:latin typeface="Arial"/>
                <a:cs typeface="Arial"/>
              </a:rPr>
              <a:t>wisdom.</a:t>
            </a:r>
            <a:endParaRPr sz="1200">
              <a:latin typeface="Arial"/>
              <a:cs typeface="Arial"/>
            </a:endParaRPr>
          </a:p>
          <a:p>
            <a:pPr>
              <a:lnSpc>
                <a:spcPct val="100000"/>
              </a:lnSpc>
              <a:spcBef>
                <a:spcPts val="35"/>
              </a:spcBef>
            </a:pPr>
            <a:endParaRPr sz="1200">
              <a:latin typeface="Arial"/>
              <a:cs typeface="Arial"/>
            </a:endParaRPr>
          </a:p>
          <a:p>
            <a:pPr algn="just" marL="152400" marR="120014">
              <a:lnSpc>
                <a:spcPts val="1380"/>
              </a:lnSpc>
              <a:spcBef>
                <a:spcPts val="5"/>
              </a:spcBef>
            </a:pPr>
            <a:r>
              <a:rPr dirty="0" sz="1200" spc="-5">
                <a:latin typeface="Arial"/>
                <a:cs typeface="Arial"/>
              </a:rPr>
              <a:t>However </a:t>
            </a:r>
            <a:r>
              <a:rPr dirty="0" sz="1200">
                <a:latin typeface="Arial"/>
                <a:cs typeface="Arial"/>
              </a:rPr>
              <a:t>that </a:t>
            </a:r>
            <a:r>
              <a:rPr dirty="0" sz="1200" spc="-5">
                <a:latin typeface="Arial"/>
                <a:cs typeface="Arial"/>
              </a:rPr>
              <a:t>relationship changed after their cheap attitudes concerning </a:t>
            </a:r>
            <a:r>
              <a:rPr dirty="0" sz="1200">
                <a:latin typeface="Arial"/>
                <a:cs typeface="Arial"/>
              </a:rPr>
              <a:t>the </a:t>
            </a:r>
            <a:r>
              <a:rPr dirty="0" sz="1200" spc="-5">
                <a:latin typeface="Arial"/>
                <a:cs typeface="Arial"/>
              </a:rPr>
              <a:t>conspiracies in  </a:t>
            </a:r>
            <a:r>
              <a:rPr dirty="0" sz="1200">
                <a:latin typeface="Arial"/>
                <a:cs typeface="Arial"/>
              </a:rPr>
              <a:t>the </a:t>
            </a:r>
            <a:r>
              <a:rPr dirty="0" sz="1200" spc="-5">
                <a:latin typeface="Arial"/>
                <a:cs typeface="Arial"/>
              </a:rPr>
              <a:t>battle of Badr, battle of Uhud and later on </a:t>
            </a:r>
            <a:r>
              <a:rPr dirty="0" sz="1200" spc="-10">
                <a:latin typeface="Arial"/>
                <a:cs typeface="Arial"/>
              </a:rPr>
              <a:t>in </a:t>
            </a:r>
            <a:r>
              <a:rPr dirty="0" sz="1200" spc="-5">
                <a:latin typeface="Arial"/>
                <a:cs typeface="Arial"/>
              </a:rPr>
              <a:t>the battle of trench. </a:t>
            </a:r>
            <a:r>
              <a:rPr dirty="0" sz="1200">
                <a:latin typeface="Arial"/>
                <a:cs typeface="Arial"/>
              </a:rPr>
              <a:t>They </a:t>
            </a:r>
            <a:r>
              <a:rPr dirty="0" sz="1200" spc="-5">
                <a:latin typeface="Arial"/>
                <a:cs typeface="Arial"/>
              </a:rPr>
              <a:t>proved to be  treacherous. </a:t>
            </a:r>
            <a:r>
              <a:rPr dirty="0" sz="1200">
                <a:latin typeface="Arial"/>
                <a:cs typeface="Arial"/>
              </a:rPr>
              <a:t>They </a:t>
            </a:r>
            <a:r>
              <a:rPr dirty="0" sz="1200" spc="-10">
                <a:latin typeface="Arial"/>
                <a:cs typeface="Arial"/>
              </a:rPr>
              <a:t>proved </a:t>
            </a:r>
            <a:r>
              <a:rPr dirty="0" sz="1200">
                <a:latin typeface="Arial"/>
                <a:cs typeface="Arial"/>
              </a:rPr>
              <a:t>to </a:t>
            </a:r>
            <a:r>
              <a:rPr dirty="0" sz="1200" spc="-5">
                <a:latin typeface="Arial"/>
                <a:cs typeface="Arial"/>
              </a:rPr>
              <a:t>be interest </a:t>
            </a:r>
            <a:r>
              <a:rPr dirty="0" sz="1200" spc="-10">
                <a:latin typeface="Arial"/>
                <a:cs typeface="Arial"/>
              </a:rPr>
              <a:t>geared </a:t>
            </a:r>
            <a:r>
              <a:rPr dirty="0" sz="1200">
                <a:latin typeface="Arial"/>
                <a:cs typeface="Arial"/>
              </a:rPr>
              <a:t>– to </a:t>
            </a:r>
            <a:r>
              <a:rPr dirty="0" sz="1200" spc="-5">
                <a:latin typeface="Arial"/>
                <a:cs typeface="Arial"/>
              </a:rPr>
              <a:t>take over all cities of Hijaz. They </a:t>
            </a:r>
            <a:r>
              <a:rPr dirty="0" sz="1200">
                <a:latin typeface="Arial"/>
                <a:cs typeface="Arial"/>
              </a:rPr>
              <a:t>proved  to </a:t>
            </a:r>
            <a:r>
              <a:rPr dirty="0" sz="1200" spc="-10">
                <a:latin typeface="Arial"/>
                <a:cs typeface="Arial"/>
              </a:rPr>
              <a:t>be </a:t>
            </a:r>
            <a:r>
              <a:rPr dirty="0" sz="1200" spc="-5">
                <a:latin typeface="Arial"/>
                <a:cs typeface="Arial"/>
              </a:rPr>
              <a:t>money minded and not interested </a:t>
            </a:r>
            <a:r>
              <a:rPr dirty="0" sz="1200">
                <a:latin typeface="Arial"/>
                <a:cs typeface="Arial"/>
              </a:rPr>
              <a:t>to </a:t>
            </a:r>
            <a:r>
              <a:rPr dirty="0" sz="1200" spc="-10">
                <a:latin typeface="Arial"/>
                <a:cs typeface="Arial"/>
              </a:rPr>
              <a:t>be </a:t>
            </a:r>
            <a:r>
              <a:rPr dirty="0" sz="1200">
                <a:latin typeface="Arial"/>
                <a:cs typeface="Arial"/>
              </a:rPr>
              <a:t>part </a:t>
            </a:r>
            <a:r>
              <a:rPr dirty="0" sz="1200" spc="-5">
                <a:latin typeface="Arial"/>
                <a:cs typeface="Arial"/>
              </a:rPr>
              <a:t>of Islam but </a:t>
            </a:r>
            <a:r>
              <a:rPr dirty="0" sz="1200" spc="-10">
                <a:latin typeface="Arial"/>
                <a:cs typeface="Arial"/>
              </a:rPr>
              <a:t>only </a:t>
            </a:r>
            <a:r>
              <a:rPr dirty="0" sz="1200">
                <a:latin typeface="Arial"/>
                <a:cs typeface="Arial"/>
              </a:rPr>
              <a:t>to </a:t>
            </a:r>
            <a:r>
              <a:rPr dirty="0" sz="1200" spc="-5">
                <a:latin typeface="Arial"/>
                <a:cs typeface="Arial"/>
              </a:rPr>
              <a:t>be under the banner  and security of the prophet</a:t>
            </a:r>
            <a:r>
              <a:rPr dirty="0" sz="1200" spc="5">
                <a:latin typeface="Arial"/>
                <a:cs typeface="Arial"/>
              </a:rPr>
              <a:t> </a:t>
            </a:r>
            <a:r>
              <a:rPr dirty="0" sz="1200" spc="-5">
                <a:latin typeface="Arial"/>
                <a:cs typeface="Arial"/>
              </a:rPr>
              <a:t>(s.a.w).</a:t>
            </a:r>
            <a:endParaRPr sz="1200">
              <a:latin typeface="Arial"/>
              <a:cs typeface="Arial"/>
            </a:endParaRPr>
          </a:p>
          <a:p>
            <a:pPr>
              <a:lnSpc>
                <a:spcPct val="100000"/>
              </a:lnSpc>
              <a:spcBef>
                <a:spcPts val="15"/>
              </a:spcBef>
            </a:pPr>
            <a:endParaRPr sz="1100">
              <a:latin typeface="Arial"/>
              <a:cs typeface="Arial"/>
            </a:endParaRPr>
          </a:p>
          <a:p>
            <a:pPr marL="152400">
              <a:lnSpc>
                <a:spcPct val="100000"/>
              </a:lnSpc>
            </a:pPr>
            <a:r>
              <a:rPr dirty="0" sz="1200" spc="-5" b="1" i="1">
                <a:latin typeface="Arial"/>
                <a:cs typeface="Arial"/>
              </a:rPr>
              <a:t>5</a:t>
            </a:r>
            <a:r>
              <a:rPr dirty="0" baseline="38194" sz="1200" spc="-7" b="1" i="1">
                <a:latin typeface="Arial"/>
                <a:cs typeface="Arial"/>
              </a:rPr>
              <a:t>th </a:t>
            </a:r>
            <a:r>
              <a:rPr dirty="0" sz="1200" spc="-5" b="1" i="1">
                <a:latin typeface="Arial"/>
                <a:cs typeface="Arial"/>
              </a:rPr>
              <a:t>Year of</a:t>
            </a:r>
            <a:r>
              <a:rPr dirty="0" sz="1200" spc="-100" b="1" i="1">
                <a:latin typeface="Arial"/>
                <a:cs typeface="Arial"/>
              </a:rPr>
              <a:t> </a:t>
            </a:r>
            <a:r>
              <a:rPr dirty="0" sz="1200" spc="-5" b="1" i="1">
                <a:latin typeface="Arial"/>
                <a:cs typeface="Arial"/>
              </a:rPr>
              <a:t>Hijrah</a:t>
            </a:r>
            <a:endParaRPr sz="1200">
              <a:latin typeface="Arial"/>
              <a:cs typeface="Arial"/>
            </a:endParaRPr>
          </a:p>
          <a:p>
            <a:pPr marL="152400">
              <a:lnSpc>
                <a:spcPct val="100000"/>
              </a:lnSpc>
              <a:spcBef>
                <a:spcPts val="1320"/>
              </a:spcBef>
            </a:pPr>
            <a:r>
              <a:rPr dirty="0" sz="1200">
                <a:latin typeface="Arial"/>
                <a:cs typeface="Arial"/>
              </a:rPr>
              <a:t>In </a:t>
            </a:r>
            <a:r>
              <a:rPr dirty="0" sz="1200" spc="-5">
                <a:latin typeface="Arial"/>
                <a:cs typeface="Arial"/>
              </a:rPr>
              <a:t>the </a:t>
            </a:r>
            <a:r>
              <a:rPr dirty="0" sz="1200">
                <a:latin typeface="Arial"/>
                <a:cs typeface="Arial"/>
              </a:rPr>
              <a:t>5</a:t>
            </a:r>
            <a:r>
              <a:rPr dirty="0" baseline="38194" sz="1200">
                <a:latin typeface="Arial"/>
                <a:cs typeface="Arial"/>
              </a:rPr>
              <a:t>th </a:t>
            </a:r>
            <a:r>
              <a:rPr dirty="0" sz="1200" spc="-5">
                <a:latin typeface="Arial"/>
                <a:cs typeface="Arial"/>
              </a:rPr>
              <a:t>year the </a:t>
            </a:r>
            <a:r>
              <a:rPr dirty="0" sz="1200">
                <a:latin typeface="Arial"/>
                <a:cs typeface="Arial"/>
              </a:rPr>
              <a:t>main </a:t>
            </a:r>
            <a:r>
              <a:rPr dirty="0" sz="1200" spc="-5">
                <a:latin typeface="Arial"/>
                <a:cs typeface="Arial"/>
              </a:rPr>
              <a:t>event </a:t>
            </a:r>
            <a:r>
              <a:rPr dirty="0" sz="1200" spc="-10">
                <a:latin typeface="Arial"/>
                <a:cs typeface="Arial"/>
              </a:rPr>
              <a:t>was </a:t>
            </a:r>
            <a:r>
              <a:rPr dirty="0" sz="1200" spc="-5">
                <a:latin typeface="Arial"/>
                <a:cs typeface="Arial"/>
              </a:rPr>
              <a:t>the Battle of</a:t>
            </a:r>
            <a:r>
              <a:rPr dirty="0" sz="1200" spc="-80">
                <a:latin typeface="Arial"/>
                <a:cs typeface="Arial"/>
              </a:rPr>
              <a:t> </a:t>
            </a:r>
            <a:r>
              <a:rPr dirty="0" sz="1200">
                <a:latin typeface="Arial"/>
                <a:cs typeface="Arial"/>
              </a:rPr>
              <a:t>Trench.</a:t>
            </a:r>
            <a:endParaRPr sz="1200">
              <a:latin typeface="Arial"/>
              <a:cs typeface="Arial"/>
            </a:endParaRPr>
          </a:p>
          <a:p>
            <a:pPr marL="152400">
              <a:lnSpc>
                <a:spcPct val="100000"/>
              </a:lnSpc>
              <a:spcBef>
                <a:spcPts val="1325"/>
              </a:spcBef>
            </a:pPr>
            <a:r>
              <a:rPr dirty="0" u="heavy" sz="1200" spc="-5" b="1" i="1">
                <a:uFill>
                  <a:solidFill>
                    <a:srgbClr val="000000"/>
                  </a:solidFill>
                </a:uFill>
                <a:latin typeface="Arial"/>
                <a:cs typeface="Arial"/>
              </a:rPr>
              <a:t>There were many reasons leading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that battle </a:t>
            </a:r>
            <a:r>
              <a:rPr dirty="0" u="heavy" sz="1200" b="1" i="1">
                <a:uFill>
                  <a:solidFill>
                    <a:srgbClr val="000000"/>
                  </a:solidFill>
                </a:uFill>
                <a:latin typeface="Arial"/>
                <a:cs typeface="Arial"/>
              </a:rPr>
              <a:t>as </a:t>
            </a:r>
            <a:r>
              <a:rPr dirty="0" u="heavy" sz="1200" spc="-5" b="1" i="1">
                <a:uFill>
                  <a:solidFill>
                    <a:srgbClr val="000000"/>
                  </a:solidFill>
                </a:uFill>
                <a:latin typeface="Arial"/>
                <a:cs typeface="Arial"/>
              </a:rPr>
              <a:t>for</a:t>
            </a:r>
            <a:r>
              <a:rPr dirty="0" u="heavy" sz="1200" spc="40" b="1" i="1">
                <a:uFill>
                  <a:solidFill>
                    <a:srgbClr val="000000"/>
                  </a:solidFill>
                </a:uFill>
                <a:latin typeface="Arial"/>
                <a:cs typeface="Arial"/>
              </a:rPr>
              <a:t> </a:t>
            </a:r>
            <a:r>
              <a:rPr dirty="0" u="heavy" sz="1200" spc="-5" b="1" i="1">
                <a:uFill>
                  <a:solidFill>
                    <a:srgbClr val="000000"/>
                  </a:solidFill>
                </a:uFill>
                <a:latin typeface="Arial"/>
                <a:cs typeface="Arial"/>
              </a:rPr>
              <a:t>instance:</a:t>
            </a:r>
            <a:endParaRPr sz="1200">
              <a:latin typeface="Arial"/>
              <a:cs typeface="Arial"/>
            </a:endParaRPr>
          </a:p>
          <a:p>
            <a:pPr>
              <a:lnSpc>
                <a:spcPct val="100000"/>
              </a:lnSpc>
              <a:spcBef>
                <a:spcPts val="55"/>
              </a:spcBef>
            </a:pPr>
            <a:endParaRPr sz="1100">
              <a:latin typeface="Arial"/>
              <a:cs typeface="Arial"/>
            </a:endParaRPr>
          </a:p>
          <a:p>
            <a:pPr marL="609600" indent="-229235">
              <a:lnSpc>
                <a:spcPts val="1410"/>
              </a:lnSpc>
              <a:buAutoNum type="arabicPeriod"/>
              <a:tabLst>
                <a:tab pos="610235" algn="l"/>
              </a:tabLst>
            </a:pPr>
            <a:r>
              <a:rPr dirty="0" sz="1200" spc="-5">
                <a:latin typeface="Arial"/>
                <a:cs typeface="Arial"/>
              </a:rPr>
              <a:t>The defeat Of</a:t>
            </a:r>
            <a:r>
              <a:rPr dirty="0" sz="1200" spc="5">
                <a:latin typeface="Arial"/>
                <a:cs typeface="Arial"/>
              </a:rPr>
              <a:t> </a:t>
            </a:r>
            <a:r>
              <a:rPr dirty="0" sz="1200" spc="-5">
                <a:latin typeface="Arial"/>
                <a:cs typeface="Arial"/>
              </a:rPr>
              <a:t>Badr</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a:t>
            </a:r>
            <a:r>
              <a:rPr dirty="0" sz="1200">
                <a:latin typeface="Arial"/>
                <a:cs typeface="Arial"/>
              </a:rPr>
              <a:t>nil </a:t>
            </a:r>
            <a:r>
              <a:rPr dirty="0" sz="1200" spc="-5">
                <a:latin typeface="Arial"/>
                <a:cs typeface="Arial"/>
              </a:rPr>
              <a:t>at Uhud</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on-going plot </a:t>
            </a:r>
            <a:r>
              <a:rPr dirty="0" sz="1200">
                <a:latin typeface="Arial"/>
                <a:cs typeface="Arial"/>
              </a:rPr>
              <a:t>to </a:t>
            </a:r>
            <a:r>
              <a:rPr dirty="0" sz="1200" spc="-5">
                <a:latin typeface="Arial"/>
                <a:cs typeface="Arial"/>
              </a:rPr>
              <a:t>kill the prophet</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desire of the Quraish </a:t>
            </a:r>
            <a:r>
              <a:rPr dirty="0" sz="1200">
                <a:latin typeface="Arial"/>
                <a:cs typeface="Arial"/>
              </a:rPr>
              <a:t>to </a:t>
            </a:r>
            <a:r>
              <a:rPr dirty="0" sz="1200" spc="-5">
                <a:latin typeface="Arial"/>
                <a:cs typeface="Arial"/>
              </a:rPr>
              <a:t>erase all</a:t>
            </a:r>
            <a:r>
              <a:rPr dirty="0" sz="1200" spc="10">
                <a:latin typeface="Arial"/>
                <a:cs typeface="Arial"/>
              </a:rPr>
              <a:t> </a:t>
            </a:r>
            <a:r>
              <a:rPr dirty="0" sz="1200" spc="-5">
                <a:latin typeface="Arial"/>
                <a:cs typeface="Arial"/>
              </a:rPr>
              <a:t>defeats</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plot by Abdullah </a:t>
            </a:r>
            <a:r>
              <a:rPr dirty="0" sz="1200" spc="-10">
                <a:latin typeface="Arial"/>
                <a:cs typeface="Arial"/>
              </a:rPr>
              <a:t>bin </a:t>
            </a:r>
            <a:r>
              <a:rPr dirty="0" sz="1200" spc="-5">
                <a:latin typeface="Arial"/>
                <a:cs typeface="Arial"/>
              </a:rPr>
              <a:t>Saba and Abdullah bin Ubayy</a:t>
            </a:r>
            <a:endParaRPr sz="1200">
              <a:latin typeface="Arial"/>
              <a:cs typeface="Arial"/>
            </a:endParaRPr>
          </a:p>
          <a:p>
            <a:pPr marL="609600" indent="-229235">
              <a:lnSpc>
                <a:spcPts val="1375"/>
              </a:lnSpc>
              <a:buAutoNum type="arabicPeriod"/>
              <a:tabLst>
                <a:tab pos="610235" algn="l"/>
              </a:tabLst>
            </a:pPr>
            <a:r>
              <a:rPr dirty="0" sz="1200" spc="-5">
                <a:latin typeface="Arial"/>
                <a:cs typeface="Arial"/>
              </a:rPr>
              <a:t>The joining of many tribes/parties against</a:t>
            </a:r>
            <a:r>
              <a:rPr dirty="0" sz="1200">
                <a:latin typeface="Arial"/>
                <a:cs typeface="Arial"/>
              </a:rPr>
              <a:t> </a:t>
            </a:r>
            <a:r>
              <a:rPr dirty="0" sz="1200" spc="-5">
                <a:latin typeface="Arial"/>
                <a:cs typeface="Arial"/>
              </a:rPr>
              <a:t>Islam</a:t>
            </a:r>
            <a:endParaRPr sz="1200">
              <a:latin typeface="Arial"/>
              <a:cs typeface="Arial"/>
            </a:endParaRPr>
          </a:p>
          <a:p>
            <a:pPr marL="609600" indent="-229235">
              <a:lnSpc>
                <a:spcPts val="1375"/>
              </a:lnSpc>
              <a:buAutoNum type="arabicPeriod"/>
              <a:tabLst>
                <a:tab pos="610235" algn="l"/>
              </a:tabLst>
            </a:pPr>
            <a:r>
              <a:rPr dirty="0" sz="1200" spc="-5">
                <a:latin typeface="Arial"/>
                <a:cs typeface="Arial"/>
              </a:rPr>
              <a:t>The jealousy in the advance of</a:t>
            </a:r>
            <a:r>
              <a:rPr dirty="0" sz="1200" spc="25">
                <a:latin typeface="Arial"/>
                <a:cs typeface="Arial"/>
              </a:rPr>
              <a:t> </a:t>
            </a:r>
            <a:r>
              <a:rPr dirty="0" sz="1200" spc="-5">
                <a:latin typeface="Arial"/>
                <a:cs typeface="Arial"/>
              </a:rPr>
              <a:t>Islam</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a:t>
            </a:r>
            <a:r>
              <a:rPr dirty="0" sz="1200">
                <a:latin typeface="Arial"/>
                <a:cs typeface="Arial"/>
              </a:rPr>
              <a:t>fear </a:t>
            </a:r>
            <a:r>
              <a:rPr dirty="0" sz="1200" spc="-5">
                <a:latin typeface="Arial"/>
                <a:cs typeface="Arial"/>
              </a:rPr>
              <a:t>of the conversion of the whole</a:t>
            </a:r>
            <a:r>
              <a:rPr dirty="0" sz="1200" spc="15">
                <a:latin typeface="Arial"/>
                <a:cs typeface="Arial"/>
              </a:rPr>
              <a:t> </a:t>
            </a:r>
            <a:r>
              <a:rPr dirty="0" sz="1200" spc="-5">
                <a:latin typeface="Arial"/>
                <a:cs typeface="Arial"/>
              </a:rPr>
              <a:t>peninsula</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threat of accepting </a:t>
            </a:r>
            <a:r>
              <a:rPr dirty="0" sz="1200">
                <a:latin typeface="Arial"/>
                <a:cs typeface="Arial"/>
              </a:rPr>
              <a:t>Islam </a:t>
            </a:r>
            <a:r>
              <a:rPr dirty="0" sz="1200" spc="-5">
                <a:latin typeface="Arial"/>
                <a:cs typeface="Arial"/>
              </a:rPr>
              <a:t>and abandoning their illicit</a:t>
            </a:r>
            <a:r>
              <a:rPr dirty="0" sz="1200" spc="10">
                <a:latin typeface="Arial"/>
                <a:cs typeface="Arial"/>
              </a:rPr>
              <a:t> </a:t>
            </a:r>
            <a:r>
              <a:rPr dirty="0" sz="1200" spc="-5">
                <a:latin typeface="Arial"/>
                <a:cs typeface="Arial"/>
              </a:rPr>
              <a:t>activities</a:t>
            </a:r>
            <a:endParaRPr sz="1200">
              <a:latin typeface="Arial"/>
              <a:cs typeface="Arial"/>
            </a:endParaRPr>
          </a:p>
          <a:p>
            <a:pPr marL="609600" indent="-229235">
              <a:lnSpc>
                <a:spcPts val="1410"/>
              </a:lnSpc>
              <a:buAutoNum type="arabicPeriod"/>
              <a:tabLst>
                <a:tab pos="610235" algn="l"/>
              </a:tabLst>
            </a:pPr>
            <a:r>
              <a:rPr dirty="0" sz="1200" spc="-5">
                <a:latin typeface="Arial"/>
                <a:cs typeface="Arial"/>
              </a:rPr>
              <a:t>The </a:t>
            </a:r>
            <a:r>
              <a:rPr dirty="0" sz="1200">
                <a:latin typeface="Arial"/>
                <a:cs typeface="Arial"/>
              </a:rPr>
              <a:t>old </a:t>
            </a:r>
            <a:r>
              <a:rPr dirty="0" sz="1200" spc="-5">
                <a:latin typeface="Arial"/>
                <a:cs typeface="Arial"/>
              </a:rPr>
              <a:t>enmities with Islam.</a:t>
            </a:r>
            <a:endParaRPr sz="1200">
              <a:latin typeface="Arial"/>
              <a:cs typeface="Arial"/>
            </a:endParaRPr>
          </a:p>
          <a:p>
            <a:pPr>
              <a:lnSpc>
                <a:spcPct val="100000"/>
              </a:lnSpc>
              <a:spcBef>
                <a:spcPts val="35"/>
              </a:spcBef>
            </a:pPr>
            <a:endParaRPr sz="1200">
              <a:latin typeface="Arial"/>
              <a:cs typeface="Arial"/>
            </a:endParaRPr>
          </a:p>
          <a:p>
            <a:pPr algn="just" marL="152400" marR="118745">
              <a:lnSpc>
                <a:spcPts val="1380"/>
              </a:lnSpc>
            </a:pPr>
            <a:r>
              <a:rPr dirty="0" sz="1200" spc="-5">
                <a:latin typeface="Arial"/>
                <a:cs typeface="Arial"/>
              </a:rPr>
              <a:t>There </a:t>
            </a:r>
            <a:r>
              <a:rPr dirty="0" sz="1200" spc="-10">
                <a:latin typeface="Arial"/>
                <a:cs typeface="Arial"/>
              </a:rPr>
              <a:t>was </a:t>
            </a:r>
            <a:r>
              <a:rPr dirty="0" sz="1200" spc="-5">
                <a:latin typeface="Arial"/>
                <a:cs typeface="Arial"/>
              </a:rPr>
              <a:t>a merger of different groups </a:t>
            </a:r>
            <a:r>
              <a:rPr dirty="0" sz="1200">
                <a:latin typeface="Arial"/>
                <a:cs typeface="Arial"/>
              </a:rPr>
              <a:t>to </a:t>
            </a:r>
            <a:r>
              <a:rPr dirty="0" sz="1200" spc="-5">
                <a:latin typeface="Arial"/>
                <a:cs typeface="Arial"/>
              </a:rPr>
              <a:t>fight </a:t>
            </a:r>
            <a:r>
              <a:rPr dirty="0" sz="1200">
                <a:latin typeface="Arial"/>
                <a:cs typeface="Arial"/>
              </a:rPr>
              <a:t>the </a:t>
            </a:r>
            <a:r>
              <a:rPr dirty="0" sz="1200" spc="-5">
                <a:latin typeface="Arial"/>
                <a:cs typeface="Arial"/>
              </a:rPr>
              <a:t>prophet. </a:t>
            </a:r>
            <a:r>
              <a:rPr dirty="0" sz="1200">
                <a:latin typeface="Arial"/>
                <a:cs typeface="Arial"/>
              </a:rPr>
              <a:t>It </a:t>
            </a:r>
            <a:r>
              <a:rPr dirty="0" sz="1200" spc="-5">
                <a:latin typeface="Arial"/>
                <a:cs typeface="Arial"/>
              </a:rPr>
              <a:t>was </a:t>
            </a:r>
            <a:r>
              <a:rPr dirty="0" sz="1200">
                <a:latin typeface="Arial"/>
                <a:cs typeface="Arial"/>
              </a:rPr>
              <a:t>the idea </a:t>
            </a:r>
            <a:r>
              <a:rPr dirty="0" sz="1200" spc="-5">
                <a:latin typeface="Arial"/>
                <a:cs typeface="Arial"/>
              </a:rPr>
              <a:t>of </a:t>
            </a:r>
            <a:r>
              <a:rPr dirty="0" sz="1200" spc="5">
                <a:latin typeface="Arial"/>
                <a:cs typeface="Arial"/>
              </a:rPr>
              <a:t>Abdullah </a:t>
            </a:r>
            <a:r>
              <a:rPr dirty="0" sz="1200" spc="-5">
                <a:latin typeface="Arial"/>
                <a:cs typeface="Arial"/>
              </a:rPr>
              <a:t>bi  Saba and Abdullah </a:t>
            </a:r>
            <a:r>
              <a:rPr dirty="0" sz="1200" spc="-10">
                <a:latin typeface="Arial"/>
                <a:cs typeface="Arial"/>
              </a:rPr>
              <a:t>bin </a:t>
            </a:r>
            <a:r>
              <a:rPr dirty="0" sz="1200" spc="-5">
                <a:latin typeface="Arial"/>
                <a:cs typeface="Arial"/>
              </a:rPr>
              <a:t>Ubayy </a:t>
            </a:r>
            <a:r>
              <a:rPr dirty="0" sz="1200">
                <a:latin typeface="Arial"/>
                <a:cs typeface="Arial"/>
              </a:rPr>
              <a:t>to </a:t>
            </a:r>
            <a:r>
              <a:rPr dirty="0" sz="1200" spc="-5">
                <a:latin typeface="Arial"/>
                <a:cs typeface="Arial"/>
              </a:rPr>
              <a:t>unite </a:t>
            </a:r>
            <a:r>
              <a:rPr dirty="0" sz="1200">
                <a:latin typeface="Arial"/>
                <a:cs typeface="Arial"/>
              </a:rPr>
              <a:t>the forces </a:t>
            </a:r>
            <a:r>
              <a:rPr dirty="0" sz="1200" spc="-5">
                <a:latin typeface="Arial"/>
                <a:cs typeface="Arial"/>
              </a:rPr>
              <a:t>of the Quraish, Hypocrites, Jews and the  Surrounding tribes of Macca and Madina. </a:t>
            </a:r>
            <a:r>
              <a:rPr dirty="0" sz="1200">
                <a:latin typeface="Arial"/>
                <a:cs typeface="Arial"/>
              </a:rPr>
              <a:t>That </a:t>
            </a:r>
            <a:r>
              <a:rPr dirty="0" sz="1200" spc="-10">
                <a:latin typeface="Arial"/>
                <a:cs typeface="Arial"/>
              </a:rPr>
              <a:t>was why </a:t>
            </a:r>
            <a:r>
              <a:rPr dirty="0" sz="1200">
                <a:latin typeface="Arial"/>
                <a:cs typeface="Arial"/>
              </a:rPr>
              <a:t>that </a:t>
            </a:r>
            <a:r>
              <a:rPr dirty="0" sz="1200" spc="-5">
                <a:latin typeface="Arial"/>
                <a:cs typeface="Arial"/>
              </a:rPr>
              <a:t>battle has different names such  as the battle of Confederates, the battle of </a:t>
            </a:r>
            <a:r>
              <a:rPr dirty="0" sz="1200">
                <a:latin typeface="Arial"/>
                <a:cs typeface="Arial"/>
              </a:rPr>
              <a:t>Trench, </a:t>
            </a:r>
            <a:r>
              <a:rPr dirty="0" sz="1200" spc="-5">
                <a:latin typeface="Arial"/>
                <a:cs typeface="Arial"/>
              </a:rPr>
              <a:t>the battle of </a:t>
            </a:r>
            <a:r>
              <a:rPr dirty="0" sz="1200">
                <a:latin typeface="Arial"/>
                <a:cs typeface="Arial"/>
              </a:rPr>
              <a:t>Ditch, </a:t>
            </a:r>
            <a:r>
              <a:rPr dirty="0" sz="1200" spc="-5">
                <a:latin typeface="Arial"/>
                <a:cs typeface="Arial"/>
              </a:rPr>
              <a:t>the battle of Allies, </a:t>
            </a:r>
            <a:r>
              <a:rPr dirty="0" sz="1200" spc="-10">
                <a:latin typeface="Arial"/>
                <a:cs typeface="Arial"/>
              </a:rPr>
              <a:t>the  </a:t>
            </a:r>
            <a:r>
              <a:rPr dirty="0" sz="1200" spc="-5">
                <a:latin typeface="Arial"/>
                <a:cs typeface="Arial"/>
              </a:rPr>
              <a:t>battle of Khandaq and </a:t>
            </a:r>
            <a:r>
              <a:rPr dirty="0" sz="1200">
                <a:latin typeface="Arial"/>
                <a:cs typeface="Arial"/>
              </a:rPr>
              <a:t>the </a:t>
            </a:r>
            <a:r>
              <a:rPr dirty="0" sz="1200" spc="-5">
                <a:latin typeface="Arial"/>
                <a:cs typeface="Arial"/>
              </a:rPr>
              <a:t>battle of Ahzab. After the Majlis shurah conducted by </a:t>
            </a:r>
            <a:r>
              <a:rPr dirty="0" sz="1200">
                <a:latin typeface="Arial"/>
                <a:cs typeface="Arial"/>
              </a:rPr>
              <a:t>the </a:t>
            </a:r>
            <a:r>
              <a:rPr dirty="0" sz="1200" spc="-5">
                <a:latin typeface="Arial"/>
                <a:cs typeface="Arial"/>
              </a:rPr>
              <a:t>prophet  (s.a.w) </a:t>
            </a:r>
            <a:r>
              <a:rPr dirty="0" sz="1200">
                <a:latin typeface="Arial"/>
                <a:cs typeface="Arial"/>
              </a:rPr>
              <a:t>it </a:t>
            </a:r>
            <a:r>
              <a:rPr dirty="0" sz="1200" spc="-10">
                <a:latin typeface="Arial"/>
                <a:cs typeface="Arial"/>
              </a:rPr>
              <a:t>was </a:t>
            </a:r>
            <a:r>
              <a:rPr dirty="0" sz="1200" spc="-5">
                <a:latin typeface="Arial"/>
                <a:cs typeface="Arial"/>
              </a:rPr>
              <a:t>under the decision of one sahaba, Hazrat Salman Farsi (r.a) </a:t>
            </a:r>
            <a:r>
              <a:rPr dirty="0" sz="1200">
                <a:latin typeface="Arial"/>
                <a:cs typeface="Arial"/>
              </a:rPr>
              <a:t>to </a:t>
            </a:r>
            <a:r>
              <a:rPr dirty="0" sz="1200" spc="-5">
                <a:latin typeface="Arial"/>
                <a:cs typeface="Arial"/>
              </a:rPr>
              <a:t>develop a new  strategy. </a:t>
            </a:r>
            <a:r>
              <a:rPr dirty="0" sz="1200">
                <a:latin typeface="Arial"/>
                <a:cs typeface="Arial"/>
              </a:rPr>
              <a:t>It </a:t>
            </a:r>
            <a:r>
              <a:rPr dirty="0" sz="1200" spc="-10">
                <a:latin typeface="Arial"/>
                <a:cs typeface="Arial"/>
              </a:rPr>
              <a:t>was </a:t>
            </a:r>
            <a:r>
              <a:rPr dirty="0" sz="1200">
                <a:latin typeface="Arial"/>
                <a:cs typeface="Arial"/>
              </a:rPr>
              <a:t>to stay </a:t>
            </a:r>
            <a:r>
              <a:rPr dirty="0" sz="1200" spc="-5">
                <a:latin typeface="Arial"/>
                <a:cs typeface="Arial"/>
              </a:rPr>
              <a:t>in Madina, </a:t>
            </a:r>
            <a:r>
              <a:rPr dirty="0" sz="1200">
                <a:latin typeface="Arial"/>
                <a:cs typeface="Arial"/>
              </a:rPr>
              <a:t>to </a:t>
            </a:r>
            <a:r>
              <a:rPr dirty="0" sz="1200" spc="-5">
                <a:latin typeface="Arial"/>
                <a:cs typeface="Arial"/>
              </a:rPr>
              <a:t>dig a </a:t>
            </a:r>
            <a:r>
              <a:rPr dirty="0" sz="1200">
                <a:latin typeface="Arial"/>
                <a:cs typeface="Arial"/>
              </a:rPr>
              <a:t>trench </a:t>
            </a:r>
            <a:r>
              <a:rPr dirty="0" sz="1200" spc="-5">
                <a:latin typeface="Arial"/>
                <a:cs typeface="Arial"/>
              </a:rPr>
              <a:t>where no one could </a:t>
            </a:r>
            <a:r>
              <a:rPr dirty="0" sz="1200" spc="-10">
                <a:latin typeface="Arial"/>
                <a:cs typeface="Arial"/>
              </a:rPr>
              <a:t>go </a:t>
            </a:r>
            <a:r>
              <a:rPr dirty="0" sz="1200" spc="-5">
                <a:latin typeface="Arial"/>
                <a:cs typeface="Arial"/>
              </a:rPr>
              <a:t>through </a:t>
            </a:r>
            <a:r>
              <a:rPr dirty="0" sz="1200">
                <a:latin typeface="Arial"/>
                <a:cs typeface="Arial"/>
              </a:rPr>
              <a:t>it </a:t>
            </a:r>
            <a:r>
              <a:rPr dirty="0" sz="1200" spc="-5">
                <a:latin typeface="Arial"/>
                <a:cs typeface="Arial"/>
              </a:rPr>
              <a:t>and no  one could get out from </a:t>
            </a:r>
            <a:r>
              <a:rPr dirty="0" sz="1200">
                <a:latin typeface="Arial"/>
                <a:cs typeface="Arial"/>
              </a:rPr>
              <a:t>it </a:t>
            </a:r>
            <a:r>
              <a:rPr dirty="0" sz="1200" spc="-10">
                <a:latin typeface="Arial"/>
                <a:cs typeface="Arial"/>
              </a:rPr>
              <a:t>if </a:t>
            </a:r>
            <a:r>
              <a:rPr dirty="0" sz="1200" spc="-5">
                <a:latin typeface="Arial"/>
                <a:cs typeface="Arial"/>
              </a:rPr>
              <a:t>fallen into it. </a:t>
            </a:r>
            <a:r>
              <a:rPr dirty="0" sz="1200">
                <a:latin typeface="Arial"/>
                <a:cs typeface="Arial"/>
              </a:rPr>
              <a:t>A </a:t>
            </a:r>
            <a:r>
              <a:rPr dirty="0" sz="1200" spc="-5">
                <a:latin typeface="Arial"/>
                <a:cs typeface="Arial"/>
              </a:rPr>
              <a:t>trench </a:t>
            </a:r>
            <a:r>
              <a:rPr dirty="0" sz="1200" spc="-10">
                <a:latin typeface="Arial"/>
                <a:cs typeface="Arial"/>
              </a:rPr>
              <a:t>was </a:t>
            </a:r>
            <a:r>
              <a:rPr dirty="0" sz="1200" spc="-5">
                <a:latin typeface="Arial"/>
                <a:cs typeface="Arial"/>
              </a:rPr>
              <a:t>dug </a:t>
            </a:r>
            <a:r>
              <a:rPr dirty="0" sz="1200" spc="-10">
                <a:latin typeface="Arial"/>
                <a:cs typeface="Arial"/>
              </a:rPr>
              <a:t>on </a:t>
            </a:r>
            <a:r>
              <a:rPr dirty="0" sz="1200" spc="-5">
                <a:latin typeface="Arial"/>
                <a:cs typeface="Arial"/>
              </a:rPr>
              <a:t>the unsafe side of Madina. In  </a:t>
            </a:r>
            <a:r>
              <a:rPr dirty="0" sz="1200">
                <a:latin typeface="Arial"/>
                <a:cs typeface="Arial"/>
              </a:rPr>
              <a:t>this </a:t>
            </a:r>
            <a:r>
              <a:rPr dirty="0" sz="1200" spc="-10">
                <a:latin typeface="Arial"/>
                <a:cs typeface="Arial"/>
              </a:rPr>
              <a:t>way </a:t>
            </a:r>
            <a:r>
              <a:rPr dirty="0" sz="1200" spc="-5">
                <a:latin typeface="Arial"/>
                <a:cs typeface="Arial"/>
              </a:rPr>
              <a:t>no one </a:t>
            </a:r>
            <a:r>
              <a:rPr dirty="0" sz="1200" spc="-10">
                <a:latin typeface="Arial"/>
                <a:cs typeface="Arial"/>
              </a:rPr>
              <a:t>was </a:t>
            </a:r>
            <a:r>
              <a:rPr dirty="0" sz="1200" spc="-5">
                <a:latin typeface="Arial"/>
                <a:cs typeface="Arial"/>
              </a:rPr>
              <a:t>able </a:t>
            </a:r>
            <a:r>
              <a:rPr dirty="0" sz="1200">
                <a:latin typeface="Arial"/>
                <a:cs typeface="Arial"/>
              </a:rPr>
              <a:t>to </a:t>
            </a:r>
            <a:r>
              <a:rPr dirty="0" sz="1200" spc="-5">
                <a:latin typeface="Arial"/>
                <a:cs typeface="Arial"/>
              </a:rPr>
              <a:t>enter and </a:t>
            </a:r>
            <a:r>
              <a:rPr dirty="0" sz="1200" spc="-10">
                <a:latin typeface="Arial"/>
                <a:cs typeface="Arial"/>
              </a:rPr>
              <a:t>no </a:t>
            </a:r>
            <a:r>
              <a:rPr dirty="0" sz="1200" spc="-5">
                <a:latin typeface="Arial"/>
                <a:cs typeface="Arial"/>
              </a:rPr>
              <a:t>one </a:t>
            </a:r>
            <a:r>
              <a:rPr dirty="0" sz="1200" spc="-10">
                <a:latin typeface="Arial"/>
                <a:cs typeface="Arial"/>
              </a:rPr>
              <a:t>was </a:t>
            </a:r>
            <a:r>
              <a:rPr dirty="0" sz="1200" spc="-5">
                <a:latin typeface="Arial"/>
                <a:cs typeface="Arial"/>
              </a:rPr>
              <a:t>able </a:t>
            </a:r>
            <a:r>
              <a:rPr dirty="0" sz="1200">
                <a:latin typeface="Arial"/>
                <a:cs typeface="Arial"/>
              </a:rPr>
              <a:t>to </a:t>
            </a:r>
            <a:r>
              <a:rPr dirty="0" sz="1200" spc="-5">
                <a:latin typeface="Arial"/>
                <a:cs typeface="Arial"/>
              </a:rPr>
              <a:t>leave Madina. </a:t>
            </a:r>
            <a:r>
              <a:rPr dirty="0" sz="1200">
                <a:latin typeface="Arial"/>
                <a:cs typeface="Arial"/>
              </a:rPr>
              <a:t>The </a:t>
            </a:r>
            <a:r>
              <a:rPr dirty="0" sz="1200" spc="-10">
                <a:latin typeface="Arial"/>
                <a:cs typeface="Arial"/>
              </a:rPr>
              <a:t>siege </a:t>
            </a:r>
            <a:r>
              <a:rPr dirty="0" sz="1200" spc="-5">
                <a:latin typeface="Arial"/>
                <a:cs typeface="Arial"/>
              </a:rPr>
              <a:t>lasted </a:t>
            </a:r>
            <a:r>
              <a:rPr dirty="0" sz="1200">
                <a:latin typeface="Arial"/>
                <a:cs typeface="Arial"/>
              </a:rPr>
              <a:t>for  </a:t>
            </a:r>
            <a:r>
              <a:rPr dirty="0" sz="1200" spc="-5">
                <a:latin typeface="Arial"/>
                <a:cs typeface="Arial"/>
              </a:rPr>
              <a:t>a month and Muslims‘ hunger, thirst </a:t>
            </a:r>
            <a:r>
              <a:rPr dirty="0" sz="1200">
                <a:latin typeface="Arial"/>
                <a:cs typeface="Arial"/>
              </a:rPr>
              <a:t>and </a:t>
            </a:r>
            <a:r>
              <a:rPr dirty="0" sz="1200" spc="-5">
                <a:latin typeface="Arial"/>
                <a:cs typeface="Arial"/>
              </a:rPr>
              <a:t>cold were felt. </a:t>
            </a:r>
            <a:r>
              <a:rPr dirty="0" sz="1200">
                <a:latin typeface="Arial"/>
                <a:cs typeface="Arial"/>
              </a:rPr>
              <a:t>There </a:t>
            </a:r>
            <a:r>
              <a:rPr dirty="0" sz="1200" spc="-10">
                <a:latin typeface="Arial"/>
                <a:cs typeface="Arial"/>
              </a:rPr>
              <a:t>was </a:t>
            </a:r>
            <a:r>
              <a:rPr dirty="0" sz="1200" spc="-5">
                <a:latin typeface="Arial"/>
                <a:cs typeface="Arial"/>
              </a:rPr>
              <a:t>persistent </a:t>
            </a:r>
            <a:r>
              <a:rPr dirty="0" sz="1200">
                <a:latin typeface="Arial"/>
                <a:cs typeface="Arial"/>
              </a:rPr>
              <a:t>attack </a:t>
            </a:r>
            <a:r>
              <a:rPr dirty="0" sz="1200" spc="-5">
                <a:latin typeface="Arial"/>
                <a:cs typeface="Arial"/>
              </a:rPr>
              <a:t>from  </a:t>
            </a:r>
            <a:r>
              <a:rPr dirty="0" sz="1200">
                <a:latin typeface="Arial"/>
                <a:cs typeface="Arial"/>
              </a:rPr>
              <a:t>Quraish</a:t>
            </a:r>
            <a:r>
              <a:rPr dirty="0" sz="1200" spc="135">
                <a:latin typeface="Arial"/>
                <a:cs typeface="Arial"/>
              </a:rPr>
              <a:t> </a:t>
            </a:r>
            <a:r>
              <a:rPr dirty="0" sz="1200" spc="-5">
                <a:latin typeface="Arial"/>
                <a:cs typeface="Arial"/>
              </a:rPr>
              <a:t>but</a:t>
            </a:r>
            <a:r>
              <a:rPr dirty="0" sz="1200" spc="140">
                <a:latin typeface="Arial"/>
                <a:cs typeface="Arial"/>
              </a:rPr>
              <a:t> </a:t>
            </a:r>
            <a:r>
              <a:rPr dirty="0" sz="1200">
                <a:latin typeface="Arial"/>
                <a:cs typeface="Arial"/>
              </a:rPr>
              <a:t>they</a:t>
            </a:r>
            <a:r>
              <a:rPr dirty="0" sz="1200" spc="125">
                <a:latin typeface="Arial"/>
                <a:cs typeface="Arial"/>
              </a:rPr>
              <a:t> </a:t>
            </a:r>
            <a:r>
              <a:rPr dirty="0" sz="1200" spc="-5">
                <a:latin typeface="Arial"/>
                <a:cs typeface="Arial"/>
              </a:rPr>
              <a:t>were</a:t>
            </a:r>
            <a:r>
              <a:rPr dirty="0" sz="1200" spc="135">
                <a:latin typeface="Arial"/>
                <a:cs typeface="Arial"/>
              </a:rPr>
              <a:t> </a:t>
            </a:r>
            <a:r>
              <a:rPr dirty="0" sz="1200" spc="-5">
                <a:latin typeface="Arial"/>
                <a:cs typeface="Arial"/>
              </a:rPr>
              <a:t>not</a:t>
            </a:r>
            <a:r>
              <a:rPr dirty="0" sz="1200" spc="135">
                <a:latin typeface="Arial"/>
                <a:cs typeface="Arial"/>
              </a:rPr>
              <a:t> </a:t>
            </a:r>
            <a:r>
              <a:rPr dirty="0" sz="1200" spc="-5">
                <a:latin typeface="Arial"/>
                <a:cs typeface="Arial"/>
              </a:rPr>
              <a:t>able</a:t>
            </a:r>
            <a:r>
              <a:rPr dirty="0" sz="1200" spc="140">
                <a:latin typeface="Arial"/>
                <a:cs typeface="Arial"/>
              </a:rPr>
              <a:t> </a:t>
            </a:r>
            <a:r>
              <a:rPr dirty="0" sz="1200">
                <a:latin typeface="Arial"/>
                <a:cs typeface="Arial"/>
              </a:rPr>
              <a:t>to</a:t>
            </a:r>
            <a:r>
              <a:rPr dirty="0" sz="1200" spc="140">
                <a:latin typeface="Arial"/>
                <a:cs typeface="Arial"/>
              </a:rPr>
              <a:t> </a:t>
            </a:r>
            <a:r>
              <a:rPr dirty="0" sz="1200" spc="-5">
                <a:latin typeface="Arial"/>
                <a:cs typeface="Arial"/>
              </a:rPr>
              <a:t>enter</a:t>
            </a:r>
            <a:r>
              <a:rPr dirty="0" sz="1200" spc="130">
                <a:latin typeface="Arial"/>
                <a:cs typeface="Arial"/>
              </a:rPr>
              <a:t> </a:t>
            </a:r>
            <a:r>
              <a:rPr dirty="0" sz="1200" spc="-5">
                <a:latin typeface="Arial"/>
                <a:cs typeface="Arial"/>
              </a:rPr>
              <a:t>Madina.</a:t>
            </a:r>
            <a:r>
              <a:rPr dirty="0" sz="1200" spc="135">
                <a:latin typeface="Arial"/>
                <a:cs typeface="Arial"/>
              </a:rPr>
              <a:t> </a:t>
            </a:r>
            <a:r>
              <a:rPr dirty="0" sz="1200">
                <a:latin typeface="Arial"/>
                <a:cs typeface="Arial"/>
              </a:rPr>
              <a:t>It</a:t>
            </a:r>
            <a:r>
              <a:rPr dirty="0" sz="1200" spc="140">
                <a:latin typeface="Arial"/>
                <a:cs typeface="Arial"/>
              </a:rPr>
              <a:t> </a:t>
            </a:r>
            <a:r>
              <a:rPr dirty="0" sz="1200" spc="-10">
                <a:latin typeface="Arial"/>
                <a:cs typeface="Arial"/>
              </a:rPr>
              <a:t>was</a:t>
            </a:r>
            <a:r>
              <a:rPr dirty="0" sz="1200" spc="135">
                <a:latin typeface="Arial"/>
                <a:cs typeface="Arial"/>
              </a:rPr>
              <a:t> </a:t>
            </a:r>
            <a:r>
              <a:rPr dirty="0" sz="1200">
                <a:latin typeface="Arial"/>
                <a:cs typeface="Arial"/>
              </a:rPr>
              <a:t>the</a:t>
            </a:r>
            <a:r>
              <a:rPr dirty="0" sz="1200" spc="140">
                <a:latin typeface="Arial"/>
                <a:cs typeface="Arial"/>
              </a:rPr>
              <a:t> </a:t>
            </a:r>
            <a:r>
              <a:rPr dirty="0" sz="1200" spc="-5">
                <a:latin typeface="Arial"/>
                <a:cs typeface="Arial"/>
              </a:rPr>
              <a:t>time</a:t>
            </a:r>
            <a:r>
              <a:rPr dirty="0" sz="1200" spc="135">
                <a:latin typeface="Arial"/>
                <a:cs typeface="Arial"/>
              </a:rPr>
              <a:t> </a:t>
            </a:r>
            <a:r>
              <a:rPr dirty="0" sz="1200" spc="-5">
                <a:latin typeface="Arial"/>
                <a:cs typeface="Arial"/>
              </a:rPr>
              <a:t>that</a:t>
            </a:r>
            <a:r>
              <a:rPr dirty="0" sz="1200" spc="140">
                <a:latin typeface="Arial"/>
                <a:cs typeface="Arial"/>
              </a:rPr>
              <a:t> </a:t>
            </a:r>
            <a:r>
              <a:rPr dirty="0" sz="1200" spc="-5">
                <a:latin typeface="Arial"/>
                <a:cs typeface="Arial"/>
              </a:rPr>
              <a:t>Allah</a:t>
            </a:r>
            <a:r>
              <a:rPr dirty="0" sz="1200" spc="130">
                <a:latin typeface="Arial"/>
                <a:cs typeface="Arial"/>
              </a:rPr>
              <a:t> </a:t>
            </a:r>
            <a:r>
              <a:rPr dirty="0" sz="1200" spc="-5">
                <a:latin typeface="Arial"/>
                <a:cs typeface="Arial"/>
              </a:rPr>
              <a:t>had</a:t>
            </a:r>
            <a:r>
              <a:rPr dirty="0" sz="1200" spc="130">
                <a:latin typeface="Arial"/>
                <a:cs typeface="Arial"/>
              </a:rPr>
              <a:t> </a:t>
            </a:r>
            <a:r>
              <a:rPr dirty="0" sz="1200">
                <a:latin typeface="Arial"/>
                <a:cs typeface="Arial"/>
              </a:rPr>
              <a:t>to</a:t>
            </a:r>
            <a:r>
              <a:rPr dirty="0" sz="1200" spc="135">
                <a:latin typeface="Arial"/>
                <a:cs typeface="Arial"/>
              </a:rPr>
              <a:t> </a:t>
            </a:r>
            <a:r>
              <a:rPr dirty="0" sz="1200" spc="-5">
                <a:latin typeface="Arial"/>
                <a:cs typeface="Arial"/>
              </a:rPr>
              <a:t>help</a:t>
            </a:r>
            <a:r>
              <a:rPr dirty="0" sz="1200" spc="125">
                <a:latin typeface="Arial"/>
                <a:cs typeface="Arial"/>
              </a:rPr>
              <a:t> </a:t>
            </a:r>
            <a:r>
              <a:rPr dirty="0" sz="1200">
                <a:latin typeface="Arial"/>
                <a:cs typeface="Arial"/>
              </a:rPr>
              <a:t>the</a:t>
            </a:r>
            <a:endParaRPr sz="1200">
              <a:latin typeface="Arial"/>
              <a:cs typeface="Arial"/>
            </a:endParaRPr>
          </a:p>
        </p:txBody>
      </p:sp>
      <p:sp>
        <p:nvSpPr>
          <p:cNvPr id="8" name="object 8"/>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9" name="object 9"/>
          <p:cNvSpPr txBox="1"/>
          <p:nvPr/>
        </p:nvSpPr>
        <p:spPr>
          <a:xfrm>
            <a:off x="3211195"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19</a:t>
            </a:r>
            <a:endParaRPr sz="120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3" name="object 3"/>
          <p:cNvSpPr/>
          <p:nvPr/>
        </p:nvSpPr>
        <p:spPr>
          <a:xfrm>
            <a:off x="547116" y="3786251"/>
            <a:ext cx="1215390" cy="15240"/>
          </a:xfrm>
          <a:custGeom>
            <a:avLst/>
            <a:gdLst/>
            <a:ahLst/>
            <a:cxnLst/>
            <a:rect l="l" t="t" r="r" b="b"/>
            <a:pathLst>
              <a:path w="1215389" h="15239">
                <a:moveTo>
                  <a:pt x="1214932" y="0"/>
                </a:moveTo>
                <a:lnTo>
                  <a:pt x="0" y="0"/>
                </a:lnTo>
                <a:lnTo>
                  <a:pt x="0" y="15240"/>
                </a:lnTo>
                <a:lnTo>
                  <a:pt x="1214932" y="15240"/>
                </a:lnTo>
                <a:lnTo>
                  <a:pt x="1214932" y="0"/>
                </a:lnTo>
                <a:close/>
              </a:path>
            </a:pathLst>
          </a:custGeom>
          <a:solidFill>
            <a:srgbClr val="000000"/>
          </a:solidFill>
        </p:spPr>
        <p:txBody>
          <a:bodyPr wrap="square" lIns="0" tIns="0" rIns="0" bIns="0" rtlCol="0"/>
          <a:lstStyle/>
          <a:p/>
        </p:txBody>
      </p:sp>
      <p:sp>
        <p:nvSpPr>
          <p:cNvPr id="4" name="object 4"/>
          <p:cNvSpPr txBox="1"/>
          <p:nvPr/>
        </p:nvSpPr>
        <p:spPr>
          <a:xfrm>
            <a:off x="407416" y="432307"/>
            <a:ext cx="6532880" cy="9338310"/>
          </a:xfrm>
          <a:prstGeom prst="rect">
            <a:avLst/>
          </a:prstGeom>
        </p:spPr>
        <p:txBody>
          <a:bodyPr wrap="square" lIns="0" tIns="12700" rIns="0" bIns="0" rtlCol="0" vert="horz">
            <a:spAutoFit/>
          </a:bodyPr>
          <a:lstStyle/>
          <a:p>
            <a:pPr marL="139700">
              <a:lnSpc>
                <a:spcPct val="100000"/>
              </a:lnSpc>
              <a:spcBef>
                <a:spcPts val="100"/>
              </a:spcBef>
              <a:tabLst>
                <a:tab pos="5190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marL="139700" marR="106680">
              <a:lnSpc>
                <a:spcPts val="1380"/>
              </a:lnSpc>
            </a:pPr>
            <a:r>
              <a:rPr dirty="0" sz="1200" spc="-5">
                <a:latin typeface="Arial"/>
                <a:cs typeface="Arial"/>
              </a:rPr>
              <a:t>Muslims. Allah </a:t>
            </a:r>
            <a:r>
              <a:rPr dirty="0" sz="1200">
                <a:latin typeface="Arial"/>
                <a:cs typeface="Arial"/>
              </a:rPr>
              <a:t>sent </a:t>
            </a:r>
            <a:r>
              <a:rPr dirty="0" sz="1200" spc="-5">
                <a:latin typeface="Arial"/>
                <a:cs typeface="Arial"/>
              </a:rPr>
              <a:t>a terrible wind, frightening </a:t>
            </a:r>
            <a:r>
              <a:rPr dirty="0" sz="1200">
                <a:latin typeface="Arial"/>
                <a:cs typeface="Arial"/>
              </a:rPr>
              <a:t>the </a:t>
            </a:r>
            <a:r>
              <a:rPr dirty="0" sz="1200" spc="-5">
                <a:latin typeface="Arial"/>
                <a:cs typeface="Arial"/>
              </a:rPr>
              <a:t>horses, extinguishing </a:t>
            </a:r>
            <a:r>
              <a:rPr dirty="0" sz="1200">
                <a:latin typeface="Arial"/>
                <a:cs typeface="Arial"/>
              </a:rPr>
              <a:t>the </a:t>
            </a:r>
            <a:r>
              <a:rPr dirty="0" sz="1200" spc="-5">
                <a:latin typeface="Arial"/>
                <a:cs typeface="Arial"/>
              </a:rPr>
              <a:t>fire camps,  horses frightened and the Quraish fled </a:t>
            </a:r>
            <a:r>
              <a:rPr dirty="0" sz="1200" spc="-10">
                <a:latin typeface="Arial"/>
                <a:cs typeface="Arial"/>
              </a:rPr>
              <a:t>away.</a:t>
            </a:r>
            <a:endParaRPr sz="1200">
              <a:latin typeface="Arial"/>
              <a:cs typeface="Arial"/>
            </a:endParaRPr>
          </a:p>
          <a:p>
            <a:pPr>
              <a:lnSpc>
                <a:spcPct val="100000"/>
              </a:lnSpc>
              <a:spcBef>
                <a:spcPts val="20"/>
              </a:spcBef>
            </a:pPr>
            <a:endParaRPr sz="1100">
              <a:latin typeface="Arial"/>
              <a:cs typeface="Arial"/>
            </a:endParaRPr>
          </a:p>
          <a:p>
            <a:pPr marL="139700">
              <a:lnSpc>
                <a:spcPct val="100000"/>
              </a:lnSpc>
              <a:spcBef>
                <a:spcPts val="5"/>
              </a:spcBef>
            </a:pPr>
            <a:r>
              <a:rPr dirty="0" u="heavy" sz="1200" spc="-5" b="1" i="1">
                <a:uFill>
                  <a:solidFill>
                    <a:srgbClr val="000000"/>
                  </a:solidFill>
                </a:uFill>
                <a:latin typeface="Arial"/>
                <a:cs typeface="Arial"/>
              </a:rPr>
              <a:t>The importance, significance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benefits </a:t>
            </a:r>
            <a:r>
              <a:rPr dirty="0" u="heavy" sz="1200" b="1" i="1">
                <a:uFill>
                  <a:solidFill>
                    <a:srgbClr val="000000"/>
                  </a:solidFill>
                </a:uFill>
                <a:latin typeface="Arial"/>
                <a:cs typeface="Arial"/>
              </a:rPr>
              <a:t>of this </a:t>
            </a:r>
            <a:r>
              <a:rPr dirty="0" u="heavy" sz="1200" spc="-5" b="1" i="1">
                <a:uFill>
                  <a:solidFill>
                    <a:srgbClr val="000000"/>
                  </a:solidFill>
                </a:uFill>
                <a:latin typeface="Arial"/>
                <a:cs typeface="Arial"/>
              </a:rPr>
              <a:t>battle </a:t>
            </a:r>
            <a:r>
              <a:rPr dirty="0" u="heavy" sz="1200" b="1" i="1">
                <a:uFill>
                  <a:solidFill>
                    <a:srgbClr val="000000"/>
                  </a:solidFill>
                </a:uFill>
                <a:latin typeface="Arial"/>
                <a:cs typeface="Arial"/>
              </a:rPr>
              <a:t>can </a:t>
            </a:r>
            <a:r>
              <a:rPr dirty="0" u="heavy" sz="1200" spc="-5" b="1" i="1">
                <a:uFill>
                  <a:solidFill>
                    <a:srgbClr val="000000"/>
                  </a:solidFill>
                </a:uFill>
                <a:latin typeface="Arial"/>
                <a:cs typeface="Arial"/>
              </a:rPr>
              <a:t>be</a:t>
            </a:r>
            <a:r>
              <a:rPr dirty="0" u="heavy" sz="1200" spc="25" b="1" i="1">
                <a:uFill>
                  <a:solidFill>
                    <a:srgbClr val="000000"/>
                  </a:solidFill>
                </a:uFill>
                <a:latin typeface="Arial"/>
                <a:cs typeface="Arial"/>
              </a:rPr>
              <a:t> </a:t>
            </a:r>
            <a:r>
              <a:rPr dirty="0" u="heavy" sz="1200" spc="-5" b="1" i="1">
                <a:uFill>
                  <a:solidFill>
                    <a:srgbClr val="000000"/>
                  </a:solidFill>
                </a:uFill>
                <a:latin typeface="Arial"/>
                <a:cs typeface="Arial"/>
              </a:rPr>
              <a:t>seen:</a:t>
            </a:r>
            <a:endParaRPr sz="1200">
              <a:latin typeface="Arial"/>
              <a:cs typeface="Arial"/>
            </a:endParaRPr>
          </a:p>
          <a:p>
            <a:pPr>
              <a:lnSpc>
                <a:spcPct val="100000"/>
              </a:lnSpc>
              <a:spcBef>
                <a:spcPts val="50"/>
              </a:spcBef>
            </a:pPr>
            <a:endParaRPr sz="1100">
              <a:latin typeface="Arial"/>
              <a:cs typeface="Arial"/>
            </a:endParaRPr>
          </a:p>
          <a:p>
            <a:pPr marL="596900" indent="-229235">
              <a:lnSpc>
                <a:spcPts val="1410"/>
              </a:lnSpc>
              <a:spcBef>
                <a:spcPts val="5"/>
              </a:spcBef>
              <a:buAutoNum type="arabicPeriod"/>
              <a:tabLst>
                <a:tab pos="597535" algn="l"/>
              </a:tabLst>
            </a:pPr>
            <a:r>
              <a:rPr dirty="0" sz="1200">
                <a:latin typeface="Arial"/>
                <a:cs typeface="Arial"/>
              </a:rPr>
              <a:t>In </a:t>
            </a:r>
            <a:r>
              <a:rPr dirty="0" sz="1200" spc="-5">
                <a:latin typeface="Arial"/>
                <a:cs typeface="Arial"/>
              </a:rPr>
              <a:t>the new techniques of</a:t>
            </a:r>
            <a:r>
              <a:rPr dirty="0" sz="1200" spc="-15">
                <a:latin typeface="Arial"/>
                <a:cs typeface="Arial"/>
              </a:rPr>
              <a:t> </a:t>
            </a:r>
            <a:r>
              <a:rPr dirty="0" sz="1200" spc="-5">
                <a:latin typeface="Arial"/>
                <a:cs typeface="Arial"/>
              </a:rPr>
              <a:t>fighting</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Allah increased </a:t>
            </a:r>
            <a:r>
              <a:rPr dirty="0" sz="1200">
                <a:latin typeface="Arial"/>
                <a:cs typeface="Arial"/>
              </a:rPr>
              <a:t>their </a:t>
            </a:r>
            <a:r>
              <a:rPr dirty="0" sz="1200" spc="-5">
                <a:latin typeface="Arial"/>
                <a:cs typeface="Arial"/>
              </a:rPr>
              <a:t>Imaan</a:t>
            </a:r>
            <a:endParaRPr sz="1200">
              <a:latin typeface="Arial"/>
              <a:cs typeface="Arial"/>
            </a:endParaRPr>
          </a:p>
          <a:p>
            <a:pPr marL="596900" indent="-229235">
              <a:lnSpc>
                <a:spcPts val="1380"/>
              </a:lnSpc>
              <a:buAutoNum type="arabicPeriod"/>
              <a:tabLst>
                <a:tab pos="597535" algn="l"/>
              </a:tabLst>
            </a:pPr>
            <a:r>
              <a:rPr dirty="0" sz="1200">
                <a:latin typeface="Arial"/>
                <a:cs typeface="Arial"/>
              </a:rPr>
              <a:t>It </a:t>
            </a:r>
            <a:r>
              <a:rPr dirty="0" sz="1200" spc="-10">
                <a:latin typeface="Arial"/>
                <a:cs typeface="Arial"/>
              </a:rPr>
              <a:t>was </a:t>
            </a:r>
            <a:r>
              <a:rPr dirty="0" sz="1200" spc="-5">
                <a:latin typeface="Arial"/>
                <a:cs typeface="Arial"/>
              </a:rPr>
              <a:t>the last most important </a:t>
            </a:r>
            <a:r>
              <a:rPr dirty="0" sz="1200" spc="-10">
                <a:latin typeface="Arial"/>
                <a:cs typeface="Arial"/>
              </a:rPr>
              <a:t>war </a:t>
            </a:r>
            <a:r>
              <a:rPr dirty="0" sz="1200" spc="-5">
                <a:latin typeface="Arial"/>
                <a:cs typeface="Arial"/>
              </a:rPr>
              <a:t>against the</a:t>
            </a:r>
            <a:r>
              <a:rPr dirty="0" sz="1200" spc="40">
                <a:latin typeface="Arial"/>
                <a:cs typeface="Arial"/>
              </a:rPr>
              <a:t> </a:t>
            </a:r>
            <a:r>
              <a:rPr dirty="0" sz="1200" spc="-5">
                <a:latin typeface="Arial"/>
                <a:cs typeface="Arial"/>
              </a:rPr>
              <a:t>Quraish</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Muslims were recognised as a rising</a:t>
            </a:r>
            <a:r>
              <a:rPr dirty="0" sz="1200" spc="10">
                <a:latin typeface="Arial"/>
                <a:cs typeface="Arial"/>
              </a:rPr>
              <a:t> </a:t>
            </a:r>
            <a:r>
              <a:rPr dirty="0" sz="1200" spc="-5">
                <a:latin typeface="Arial"/>
                <a:cs typeface="Arial"/>
              </a:rPr>
              <a:t>power</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There were many converts </a:t>
            </a:r>
            <a:r>
              <a:rPr dirty="0" sz="1200">
                <a:latin typeface="Arial"/>
                <a:cs typeface="Arial"/>
              </a:rPr>
              <a:t>from </a:t>
            </a:r>
            <a:r>
              <a:rPr dirty="0" sz="1200" spc="-5">
                <a:latin typeface="Arial"/>
                <a:cs typeface="Arial"/>
              </a:rPr>
              <a:t>different</a:t>
            </a:r>
            <a:r>
              <a:rPr dirty="0" sz="1200" spc="-20">
                <a:latin typeface="Arial"/>
                <a:cs typeface="Arial"/>
              </a:rPr>
              <a:t> </a:t>
            </a:r>
            <a:r>
              <a:rPr dirty="0" sz="1200" spc="-5">
                <a:latin typeface="Arial"/>
                <a:cs typeface="Arial"/>
              </a:rPr>
              <a:t>groups</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The prophet (s.a.w) became renown </a:t>
            </a:r>
            <a:r>
              <a:rPr dirty="0" sz="1200">
                <a:latin typeface="Arial"/>
                <a:cs typeface="Arial"/>
              </a:rPr>
              <a:t>and </a:t>
            </a:r>
            <a:r>
              <a:rPr dirty="0" sz="1200" spc="-5">
                <a:latin typeface="Arial"/>
                <a:cs typeface="Arial"/>
              </a:rPr>
              <a:t>famous in Arab</a:t>
            </a:r>
            <a:r>
              <a:rPr dirty="0" sz="1200" spc="15">
                <a:latin typeface="Arial"/>
                <a:cs typeface="Arial"/>
              </a:rPr>
              <a:t> </a:t>
            </a:r>
            <a:r>
              <a:rPr dirty="0" sz="1200" spc="-5">
                <a:latin typeface="Arial"/>
                <a:cs typeface="Arial"/>
              </a:rPr>
              <a:t>peninsula</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There </a:t>
            </a:r>
            <a:r>
              <a:rPr dirty="0" sz="1200" spc="-10">
                <a:latin typeface="Arial"/>
                <a:cs typeface="Arial"/>
              </a:rPr>
              <a:t>was </a:t>
            </a:r>
            <a:r>
              <a:rPr dirty="0" sz="1200">
                <a:latin typeface="Arial"/>
                <a:cs typeface="Arial"/>
              </a:rPr>
              <a:t>more </a:t>
            </a:r>
            <a:r>
              <a:rPr dirty="0" sz="1200" spc="-5">
                <a:latin typeface="Arial"/>
                <a:cs typeface="Arial"/>
              </a:rPr>
              <a:t>conviction from</a:t>
            </a:r>
            <a:r>
              <a:rPr dirty="0" sz="1200" spc="5">
                <a:latin typeface="Arial"/>
                <a:cs typeface="Arial"/>
              </a:rPr>
              <a:t> </a:t>
            </a:r>
            <a:r>
              <a:rPr dirty="0" sz="1200" spc="-5">
                <a:latin typeface="Arial"/>
                <a:cs typeface="Arial"/>
              </a:rPr>
              <a:t>Muslims</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An ability </a:t>
            </a:r>
            <a:r>
              <a:rPr dirty="0" sz="1200">
                <a:latin typeface="Arial"/>
                <a:cs typeface="Arial"/>
              </a:rPr>
              <a:t>to face </a:t>
            </a:r>
            <a:r>
              <a:rPr dirty="0" sz="1200" spc="-5">
                <a:latin typeface="Arial"/>
                <a:cs typeface="Arial"/>
              </a:rPr>
              <a:t>different</a:t>
            </a:r>
            <a:r>
              <a:rPr dirty="0" sz="1200" spc="-15">
                <a:latin typeface="Arial"/>
                <a:cs typeface="Arial"/>
              </a:rPr>
              <a:t> </a:t>
            </a:r>
            <a:r>
              <a:rPr dirty="0" sz="1200" spc="-5">
                <a:latin typeface="Arial"/>
                <a:cs typeface="Arial"/>
              </a:rPr>
              <a:t>situations/armies</a:t>
            </a:r>
            <a:endParaRPr sz="1200">
              <a:latin typeface="Arial"/>
              <a:cs typeface="Arial"/>
            </a:endParaRPr>
          </a:p>
          <a:p>
            <a:pPr marL="596900" indent="-229235">
              <a:lnSpc>
                <a:spcPts val="1380"/>
              </a:lnSpc>
              <a:buAutoNum type="arabicPeriod"/>
              <a:tabLst>
                <a:tab pos="597535" algn="l"/>
              </a:tabLst>
            </a:pPr>
            <a:r>
              <a:rPr dirty="0" sz="1200">
                <a:latin typeface="Arial"/>
                <a:cs typeface="Arial"/>
              </a:rPr>
              <a:t>A </a:t>
            </a:r>
            <a:r>
              <a:rPr dirty="0" sz="1200" spc="-5">
                <a:latin typeface="Arial"/>
                <a:cs typeface="Arial"/>
              </a:rPr>
              <a:t>new </a:t>
            </a:r>
            <a:r>
              <a:rPr dirty="0" sz="1200">
                <a:latin typeface="Arial"/>
                <a:cs typeface="Arial"/>
              </a:rPr>
              <a:t>era </a:t>
            </a:r>
            <a:r>
              <a:rPr dirty="0" sz="1200" spc="-5">
                <a:latin typeface="Arial"/>
                <a:cs typeface="Arial"/>
              </a:rPr>
              <a:t>of </a:t>
            </a:r>
            <a:r>
              <a:rPr dirty="0" sz="1200">
                <a:latin typeface="Arial"/>
                <a:cs typeface="Arial"/>
              </a:rPr>
              <a:t>status </a:t>
            </a:r>
            <a:r>
              <a:rPr dirty="0" sz="1200" spc="-5">
                <a:latin typeface="Arial"/>
                <a:cs typeface="Arial"/>
              </a:rPr>
              <a:t>and conquest</a:t>
            </a:r>
            <a:r>
              <a:rPr dirty="0" sz="1200" spc="-10">
                <a:latin typeface="Arial"/>
                <a:cs typeface="Arial"/>
              </a:rPr>
              <a:t> </a:t>
            </a:r>
            <a:r>
              <a:rPr dirty="0" sz="1200" spc="-5">
                <a:latin typeface="Arial"/>
                <a:cs typeface="Arial"/>
              </a:rPr>
              <a:t>started</a:t>
            </a:r>
            <a:endParaRPr sz="1200">
              <a:latin typeface="Arial"/>
              <a:cs typeface="Arial"/>
            </a:endParaRPr>
          </a:p>
          <a:p>
            <a:pPr marL="596900" indent="-229235">
              <a:lnSpc>
                <a:spcPts val="1410"/>
              </a:lnSpc>
              <a:buAutoNum type="arabicPeriod"/>
              <a:tabLst>
                <a:tab pos="597535" algn="l"/>
              </a:tabLst>
            </a:pPr>
            <a:r>
              <a:rPr dirty="0" sz="1200">
                <a:latin typeface="Arial"/>
                <a:cs typeface="Arial"/>
              </a:rPr>
              <a:t>A </a:t>
            </a:r>
            <a:r>
              <a:rPr dirty="0" sz="1200" spc="-5">
                <a:latin typeface="Arial"/>
                <a:cs typeface="Arial"/>
              </a:rPr>
              <a:t>threat to the outside</a:t>
            </a:r>
            <a:r>
              <a:rPr dirty="0" sz="1200" spc="5">
                <a:latin typeface="Arial"/>
                <a:cs typeface="Arial"/>
              </a:rPr>
              <a:t> </a:t>
            </a:r>
            <a:r>
              <a:rPr dirty="0" sz="1200" spc="-10">
                <a:latin typeface="Arial"/>
                <a:cs typeface="Arial"/>
              </a:rPr>
              <a:t>world</a:t>
            </a:r>
            <a:endParaRPr sz="1200">
              <a:latin typeface="Arial"/>
              <a:cs typeface="Arial"/>
            </a:endParaRPr>
          </a:p>
          <a:p>
            <a:pPr>
              <a:lnSpc>
                <a:spcPct val="100000"/>
              </a:lnSpc>
              <a:spcBef>
                <a:spcPts val="50"/>
              </a:spcBef>
            </a:pPr>
            <a:endParaRPr sz="1100">
              <a:latin typeface="Arial"/>
              <a:cs typeface="Arial"/>
            </a:endParaRPr>
          </a:p>
          <a:p>
            <a:pPr marL="139700">
              <a:lnSpc>
                <a:spcPct val="100000"/>
              </a:lnSpc>
              <a:spcBef>
                <a:spcPts val="5"/>
              </a:spcBef>
            </a:pPr>
            <a:r>
              <a:rPr dirty="0" sz="1200" spc="-5" b="1" i="1">
                <a:latin typeface="Arial"/>
                <a:cs typeface="Arial"/>
              </a:rPr>
              <a:t>6</a:t>
            </a:r>
            <a:r>
              <a:rPr dirty="0" baseline="38194" sz="1200" spc="-7" b="1" i="1">
                <a:latin typeface="Arial"/>
                <a:cs typeface="Arial"/>
              </a:rPr>
              <a:t>th </a:t>
            </a:r>
            <a:r>
              <a:rPr dirty="0" sz="1200" spc="-5" b="1" i="1">
                <a:latin typeface="Arial"/>
                <a:cs typeface="Arial"/>
              </a:rPr>
              <a:t>Year of</a:t>
            </a:r>
            <a:r>
              <a:rPr dirty="0" sz="1200" spc="-100" b="1" i="1">
                <a:latin typeface="Arial"/>
                <a:cs typeface="Arial"/>
              </a:rPr>
              <a:t> </a:t>
            </a:r>
            <a:r>
              <a:rPr dirty="0" sz="1200" spc="-5" b="1" i="1">
                <a:latin typeface="Arial"/>
                <a:cs typeface="Arial"/>
              </a:rPr>
              <a:t>Hijrah</a:t>
            </a:r>
            <a:endParaRPr sz="1200">
              <a:latin typeface="Arial"/>
              <a:cs typeface="Arial"/>
            </a:endParaRPr>
          </a:p>
          <a:p>
            <a:pPr marL="139700">
              <a:lnSpc>
                <a:spcPct val="100000"/>
              </a:lnSpc>
              <a:spcBef>
                <a:spcPts val="1320"/>
              </a:spcBef>
            </a:pPr>
            <a:r>
              <a:rPr dirty="0" sz="1200" spc="-5">
                <a:latin typeface="Arial"/>
                <a:cs typeface="Arial"/>
              </a:rPr>
              <a:t>The </a:t>
            </a:r>
            <a:r>
              <a:rPr dirty="0" sz="1200">
                <a:latin typeface="Arial"/>
                <a:cs typeface="Arial"/>
              </a:rPr>
              <a:t>main </a:t>
            </a:r>
            <a:r>
              <a:rPr dirty="0" sz="1200" spc="-5">
                <a:latin typeface="Arial"/>
                <a:cs typeface="Arial"/>
              </a:rPr>
              <a:t>event of that </a:t>
            </a:r>
            <a:r>
              <a:rPr dirty="0" sz="1200" spc="5">
                <a:latin typeface="Arial"/>
                <a:cs typeface="Arial"/>
              </a:rPr>
              <a:t>6</a:t>
            </a:r>
            <a:r>
              <a:rPr dirty="0" baseline="38194" sz="1200" spc="7">
                <a:latin typeface="Arial"/>
                <a:cs typeface="Arial"/>
              </a:rPr>
              <a:t>th </a:t>
            </a:r>
            <a:r>
              <a:rPr dirty="0" sz="1200" spc="-5">
                <a:latin typeface="Arial"/>
                <a:cs typeface="Arial"/>
              </a:rPr>
              <a:t>year </a:t>
            </a:r>
            <a:r>
              <a:rPr dirty="0" sz="1200" spc="-10">
                <a:latin typeface="Arial"/>
                <a:cs typeface="Arial"/>
              </a:rPr>
              <a:t>was </a:t>
            </a:r>
            <a:r>
              <a:rPr dirty="0" sz="1200" spc="-5">
                <a:latin typeface="Arial"/>
                <a:cs typeface="Arial"/>
              </a:rPr>
              <a:t>the Treaty of</a:t>
            </a:r>
            <a:r>
              <a:rPr dirty="0" sz="1200" spc="-105">
                <a:latin typeface="Arial"/>
                <a:cs typeface="Arial"/>
              </a:rPr>
              <a:t> </a:t>
            </a:r>
            <a:r>
              <a:rPr dirty="0" sz="1200" spc="-5">
                <a:latin typeface="Arial"/>
                <a:cs typeface="Arial"/>
              </a:rPr>
              <a:t>Hudaibiyyah.</a:t>
            </a:r>
            <a:endParaRPr sz="1200">
              <a:latin typeface="Arial"/>
              <a:cs typeface="Arial"/>
            </a:endParaRPr>
          </a:p>
          <a:p>
            <a:pPr marL="139700">
              <a:lnSpc>
                <a:spcPct val="100000"/>
              </a:lnSpc>
              <a:spcBef>
                <a:spcPts val="1320"/>
              </a:spcBef>
            </a:pPr>
            <a:r>
              <a:rPr dirty="0" u="heavy" sz="1200" spc="-5" b="1" i="1">
                <a:uFill>
                  <a:solidFill>
                    <a:srgbClr val="000000"/>
                  </a:solidFill>
                </a:uFill>
                <a:latin typeface="Arial"/>
                <a:cs typeface="Arial"/>
              </a:rPr>
              <a:t>The latter was possible </a:t>
            </a:r>
            <a:r>
              <a:rPr dirty="0" u="heavy" sz="1200" b="1" i="1">
                <a:uFill>
                  <a:solidFill>
                    <a:srgbClr val="000000"/>
                  </a:solidFill>
                </a:uFill>
                <a:latin typeface="Arial"/>
                <a:cs typeface="Arial"/>
              </a:rPr>
              <a:t>only </a:t>
            </a:r>
            <a:r>
              <a:rPr dirty="0" u="heavy" sz="1200" spc="-5" b="1" i="1">
                <a:uFill>
                  <a:solidFill>
                    <a:srgbClr val="000000"/>
                  </a:solidFill>
                </a:uFill>
                <a:latin typeface="Arial"/>
                <a:cs typeface="Arial"/>
              </a:rPr>
              <a:t>because </a:t>
            </a:r>
            <a:r>
              <a:rPr dirty="0" u="heavy" sz="1200" b="1" i="1">
                <a:uFill>
                  <a:solidFill>
                    <a:srgbClr val="000000"/>
                  </a:solidFill>
                </a:uFill>
                <a:latin typeface="Arial"/>
                <a:cs typeface="Arial"/>
              </a:rPr>
              <a:t>of </a:t>
            </a:r>
            <a:r>
              <a:rPr dirty="0" u="heavy" sz="1200" spc="-10" b="1" i="1">
                <a:uFill>
                  <a:solidFill>
                    <a:srgbClr val="000000"/>
                  </a:solidFill>
                </a:uFill>
                <a:latin typeface="Arial"/>
                <a:cs typeface="Arial"/>
              </a:rPr>
              <a:t>the </a:t>
            </a:r>
            <a:r>
              <a:rPr dirty="0" u="heavy" sz="1200" spc="-5" b="1" i="1">
                <a:uFill>
                  <a:solidFill>
                    <a:srgbClr val="000000"/>
                  </a:solidFill>
                </a:uFill>
                <a:latin typeface="Arial"/>
                <a:cs typeface="Arial"/>
              </a:rPr>
              <a:t>following</a:t>
            </a:r>
            <a:r>
              <a:rPr dirty="0" u="heavy" sz="1200" spc="75" b="1" i="1">
                <a:uFill>
                  <a:solidFill>
                    <a:srgbClr val="000000"/>
                  </a:solidFill>
                </a:uFill>
                <a:latin typeface="Arial"/>
                <a:cs typeface="Arial"/>
              </a:rPr>
              <a:t> </a:t>
            </a:r>
            <a:r>
              <a:rPr dirty="0" u="heavy" sz="1200" spc="-5" b="1" i="1">
                <a:uFill>
                  <a:solidFill>
                    <a:srgbClr val="000000"/>
                  </a:solidFill>
                </a:uFill>
                <a:latin typeface="Arial"/>
                <a:cs typeface="Arial"/>
              </a:rPr>
              <a:t>reasons:</a:t>
            </a:r>
            <a:endParaRPr sz="1200">
              <a:latin typeface="Arial"/>
              <a:cs typeface="Arial"/>
            </a:endParaRPr>
          </a:p>
          <a:p>
            <a:pPr>
              <a:lnSpc>
                <a:spcPct val="100000"/>
              </a:lnSpc>
              <a:spcBef>
                <a:spcPts val="50"/>
              </a:spcBef>
            </a:pPr>
            <a:endParaRPr sz="1100">
              <a:latin typeface="Arial"/>
              <a:cs typeface="Arial"/>
            </a:endParaRPr>
          </a:p>
          <a:p>
            <a:pPr marL="596900" indent="-229235">
              <a:lnSpc>
                <a:spcPts val="1410"/>
              </a:lnSpc>
              <a:spcBef>
                <a:spcPts val="5"/>
              </a:spcBef>
              <a:buAutoNum type="arabicPeriod"/>
              <a:tabLst>
                <a:tab pos="597535" algn="l"/>
              </a:tabLst>
            </a:pPr>
            <a:r>
              <a:rPr dirty="0" sz="1200" spc="-5">
                <a:latin typeface="Arial"/>
                <a:cs typeface="Arial"/>
              </a:rPr>
              <a:t>The dream of prophet narrated </a:t>
            </a:r>
            <a:r>
              <a:rPr dirty="0" sz="1200">
                <a:latin typeface="Arial"/>
                <a:cs typeface="Arial"/>
              </a:rPr>
              <a:t>to</a:t>
            </a:r>
            <a:r>
              <a:rPr dirty="0" sz="1200" spc="10">
                <a:latin typeface="Arial"/>
                <a:cs typeface="Arial"/>
              </a:rPr>
              <a:t> </a:t>
            </a:r>
            <a:r>
              <a:rPr dirty="0" sz="1200" spc="-5">
                <a:latin typeface="Arial"/>
                <a:cs typeface="Arial"/>
              </a:rPr>
              <a:t>Ashab</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The decision to go to</a:t>
            </a:r>
            <a:r>
              <a:rPr dirty="0" sz="1200" spc="5">
                <a:latin typeface="Arial"/>
                <a:cs typeface="Arial"/>
              </a:rPr>
              <a:t> </a:t>
            </a:r>
            <a:r>
              <a:rPr dirty="0" sz="1200" spc="-5">
                <a:latin typeface="Arial"/>
                <a:cs typeface="Arial"/>
              </a:rPr>
              <a:t>Macca</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The driving </a:t>
            </a:r>
            <a:r>
              <a:rPr dirty="0" sz="1200">
                <a:latin typeface="Arial"/>
                <a:cs typeface="Arial"/>
              </a:rPr>
              <a:t>out </a:t>
            </a:r>
            <a:r>
              <a:rPr dirty="0" sz="1200" spc="-5">
                <a:latin typeface="Arial"/>
                <a:cs typeface="Arial"/>
              </a:rPr>
              <a:t>of </a:t>
            </a:r>
            <a:r>
              <a:rPr dirty="0" sz="1200">
                <a:latin typeface="Arial"/>
                <a:cs typeface="Arial"/>
              </a:rPr>
              <a:t>the Muslims by </a:t>
            </a:r>
            <a:r>
              <a:rPr dirty="0" sz="1200" spc="-5">
                <a:latin typeface="Arial"/>
                <a:cs typeface="Arial"/>
              </a:rPr>
              <a:t>the Quraish from</a:t>
            </a:r>
            <a:r>
              <a:rPr dirty="0" sz="1200" spc="-35">
                <a:latin typeface="Arial"/>
                <a:cs typeface="Arial"/>
              </a:rPr>
              <a:t> </a:t>
            </a:r>
            <a:r>
              <a:rPr dirty="0" sz="1200">
                <a:latin typeface="Arial"/>
                <a:cs typeface="Arial"/>
              </a:rPr>
              <a:t>Macca</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The willingness </a:t>
            </a:r>
            <a:r>
              <a:rPr dirty="0" sz="1200">
                <a:latin typeface="Arial"/>
                <a:cs typeface="Arial"/>
              </a:rPr>
              <a:t>to see the </a:t>
            </a:r>
            <a:r>
              <a:rPr dirty="0" sz="1200" spc="-5">
                <a:latin typeface="Arial"/>
                <a:cs typeface="Arial"/>
              </a:rPr>
              <a:t>homeland</a:t>
            </a:r>
            <a:r>
              <a:rPr dirty="0" sz="1200" spc="-15">
                <a:latin typeface="Arial"/>
                <a:cs typeface="Arial"/>
              </a:rPr>
              <a:t> </a:t>
            </a:r>
            <a:r>
              <a:rPr dirty="0" sz="1200" spc="-5">
                <a:latin typeface="Arial"/>
                <a:cs typeface="Arial"/>
              </a:rPr>
              <a:t>(families)</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The willingness </a:t>
            </a:r>
            <a:r>
              <a:rPr dirty="0" sz="1200">
                <a:latin typeface="Arial"/>
                <a:cs typeface="Arial"/>
              </a:rPr>
              <a:t>to </a:t>
            </a:r>
            <a:r>
              <a:rPr dirty="0" sz="1200" spc="-5">
                <a:latin typeface="Arial"/>
                <a:cs typeface="Arial"/>
              </a:rPr>
              <a:t>perform the</a:t>
            </a:r>
            <a:r>
              <a:rPr dirty="0" sz="1200" spc="10">
                <a:latin typeface="Arial"/>
                <a:cs typeface="Arial"/>
              </a:rPr>
              <a:t> </a:t>
            </a:r>
            <a:r>
              <a:rPr dirty="0" sz="1200" spc="-5">
                <a:latin typeface="Arial"/>
                <a:cs typeface="Arial"/>
              </a:rPr>
              <a:t>Umrah</a:t>
            </a:r>
            <a:endParaRPr sz="1200">
              <a:latin typeface="Arial"/>
              <a:cs typeface="Arial"/>
            </a:endParaRPr>
          </a:p>
          <a:p>
            <a:pPr marL="596900" indent="-229235">
              <a:lnSpc>
                <a:spcPts val="1380"/>
              </a:lnSpc>
              <a:buAutoNum type="arabicPeriod"/>
              <a:tabLst>
                <a:tab pos="597535" algn="l"/>
              </a:tabLst>
            </a:pPr>
            <a:r>
              <a:rPr dirty="0" sz="1200">
                <a:latin typeface="Arial"/>
                <a:cs typeface="Arial"/>
              </a:rPr>
              <a:t>The </a:t>
            </a:r>
            <a:r>
              <a:rPr dirty="0" sz="1200" spc="-5">
                <a:latin typeface="Arial"/>
                <a:cs typeface="Arial"/>
              </a:rPr>
              <a:t>willingness </a:t>
            </a:r>
            <a:r>
              <a:rPr dirty="0" sz="1200">
                <a:latin typeface="Arial"/>
                <a:cs typeface="Arial"/>
              </a:rPr>
              <a:t>to </a:t>
            </a:r>
            <a:r>
              <a:rPr dirty="0" sz="1200" spc="-5">
                <a:latin typeface="Arial"/>
                <a:cs typeface="Arial"/>
              </a:rPr>
              <a:t>visit </a:t>
            </a:r>
            <a:r>
              <a:rPr dirty="0" sz="1200">
                <a:latin typeface="Arial"/>
                <a:cs typeface="Arial"/>
              </a:rPr>
              <a:t>the </a:t>
            </a:r>
            <a:r>
              <a:rPr dirty="0" sz="1200" spc="-5">
                <a:latin typeface="Arial"/>
                <a:cs typeface="Arial"/>
              </a:rPr>
              <a:t>sacred </a:t>
            </a:r>
            <a:r>
              <a:rPr dirty="0" sz="1200">
                <a:latin typeface="Arial"/>
                <a:cs typeface="Arial"/>
              </a:rPr>
              <a:t>city </a:t>
            </a:r>
            <a:r>
              <a:rPr dirty="0" sz="1200" spc="-5">
                <a:latin typeface="Arial"/>
                <a:cs typeface="Arial"/>
              </a:rPr>
              <a:t>(Macca) </a:t>
            </a:r>
            <a:r>
              <a:rPr dirty="0" sz="1200">
                <a:latin typeface="Arial"/>
                <a:cs typeface="Arial"/>
              </a:rPr>
              <a:t>and </a:t>
            </a:r>
            <a:r>
              <a:rPr dirty="0" sz="1200" spc="-5">
                <a:latin typeface="Arial"/>
                <a:cs typeface="Arial"/>
              </a:rPr>
              <a:t>place</a:t>
            </a:r>
            <a:r>
              <a:rPr dirty="0" sz="1200" spc="10">
                <a:latin typeface="Arial"/>
                <a:cs typeface="Arial"/>
              </a:rPr>
              <a:t> </a:t>
            </a:r>
            <a:r>
              <a:rPr dirty="0" sz="1200" spc="-5">
                <a:latin typeface="Arial"/>
                <a:cs typeface="Arial"/>
              </a:rPr>
              <a:t>(Ka‘bah)</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The willingness </a:t>
            </a:r>
            <a:r>
              <a:rPr dirty="0" sz="1200">
                <a:latin typeface="Arial"/>
                <a:cs typeface="Arial"/>
              </a:rPr>
              <a:t>to </a:t>
            </a:r>
            <a:r>
              <a:rPr dirty="0" sz="1200" spc="-5">
                <a:latin typeface="Arial"/>
                <a:cs typeface="Arial"/>
              </a:rPr>
              <a:t>accompany the prophet on </a:t>
            </a:r>
            <a:r>
              <a:rPr dirty="0" sz="1200">
                <a:latin typeface="Arial"/>
                <a:cs typeface="Arial"/>
              </a:rPr>
              <a:t>such </a:t>
            </a:r>
            <a:r>
              <a:rPr dirty="0" sz="1200" spc="-5">
                <a:latin typeface="Arial"/>
                <a:cs typeface="Arial"/>
              </a:rPr>
              <a:t>a </a:t>
            </a:r>
            <a:r>
              <a:rPr dirty="0" sz="1200">
                <a:latin typeface="Arial"/>
                <a:cs typeface="Arial"/>
              </a:rPr>
              <a:t>journey</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The willingness </a:t>
            </a:r>
            <a:r>
              <a:rPr dirty="0" sz="1200">
                <a:latin typeface="Arial"/>
                <a:cs typeface="Arial"/>
              </a:rPr>
              <a:t>to </a:t>
            </a:r>
            <a:r>
              <a:rPr dirty="0" sz="1200" spc="-5">
                <a:latin typeface="Arial"/>
                <a:cs typeface="Arial"/>
              </a:rPr>
              <a:t>please</a:t>
            </a:r>
            <a:r>
              <a:rPr dirty="0" sz="1200" spc="5">
                <a:latin typeface="Arial"/>
                <a:cs typeface="Arial"/>
              </a:rPr>
              <a:t> </a:t>
            </a:r>
            <a:r>
              <a:rPr dirty="0" sz="1200" spc="-5">
                <a:latin typeface="Arial"/>
                <a:cs typeface="Arial"/>
              </a:rPr>
              <a:t>Allah</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The willingness </a:t>
            </a:r>
            <a:r>
              <a:rPr dirty="0" sz="1200">
                <a:latin typeface="Arial"/>
                <a:cs typeface="Arial"/>
              </a:rPr>
              <a:t>to be </a:t>
            </a:r>
            <a:r>
              <a:rPr dirty="0" sz="1200" spc="-5">
                <a:latin typeface="Arial"/>
                <a:cs typeface="Arial"/>
              </a:rPr>
              <a:t>rewarded </a:t>
            </a:r>
            <a:r>
              <a:rPr dirty="0" sz="1200">
                <a:latin typeface="Arial"/>
                <a:cs typeface="Arial"/>
              </a:rPr>
              <a:t>by</a:t>
            </a:r>
            <a:r>
              <a:rPr dirty="0" sz="1200" spc="-5">
                <a:latin typeface="Arial"/>
                <a:cs typeface="Arial"/>
              </a:rPr>
              <a:t> Allah</a:t>
            </a:r>
            <a:endParaRPr sz="1200">
              <a:latin typeface="Arial"/>
              <a:cs typeface="Arial"/>
            </a:endParaRPr>
          </a:p>
          <a:p>
            <a:pPr marL="596900" indent="-229235">
              <a:lnSpc>
                <a:spcPts val="1410"/>
              </a:lnSpc>
              <a:buAutoNum type="arabicPeriod"/>
              <a:tabLst>
                <a:tab pos="597535" algn="l"/>
              </a:tabLst>
            </a:pPr>
            <a:r>
              <a:rPr dirty="0" sz="1200" spc="-5">
                <a:latin typeface="Arial"/>
                <a:cs typeface="Arial"/>
              </a:rPr>
              <a:t>The refusal of the Quraish </a:t>
            </a:r>
            <a:r>
              <a:rPr dirty="0" sz="1200">
                <a:latin typeface="Arial"/>
                <a:cs typeface="Arial"/>
              </a:rPr>
              <a:t>to </a:t>
            </a:r>
            <a:r>
              <a:rPr dirty="0" sz="1200" spc="-5">
                <a:latin typeface="Arial"/>
                <a:cs typeface="Arial"/>
              </a:rPr>
              <a:t>allow the prophet </a:t>
            </a:r>
            <a:r>
              <a:rPr dirty="0" sz="1200">
                <a:latin typeface="Arial"/>
                <a:cs typeface="Arial"/>
              </a:rPr>
              <a:t>to </a:t>
            </a:r>
            <a:r>
              <a:rPr dirty="0" sz="1200" spc="-5">
                <a:latin typeface="Arial"/>
                <a:cs typeface="Arial"/>
              </a:rPr>
              <a:t>enter the</a:t>
            </a:r>
            <a:r>
              <a:rPr dirty="0" sz="1200" spc="35">
                <a:latin typeface="Arial"/>
                <a:cs typeface="Arial"/>
              </a:rPr>
              <a:t> </a:t>
            </a:r>
            <a:r>
              <a:rPr dirty="0" sz="1200" spc="-5">
                <a:latin typeface="Arial"/>
                <a:cs typeface="Arial"/>
              </a:rPr>
              <a:t>sanctuary</a:t>
            </a:r>
            <a:endParaRPr sz="1200">
              <a:latin typeface="Arial"/>
              <a:cs typeface="Arial"/>
            </a:endParaRPr>
          </a:p>
          <a:p>
            <a:pPr>
              <a:lnSpc>
                <a:spcPct val="100000"/>
              </a:lnSpc>
            </a:pPr>
            <a:endParaRPr sz="1200">
              <a:latin typeface="Arial"/>
              <a:cs typeface="Arial"/>
            </a:endParaRPr>
          </a:p>
          <a:p>
            <a:pPr algn="just" marL="139700" marR="104775">
              <a:lnSpc>
                <a:spcPct val="95700"/>
              </a:lnSpc>
            </a:pPr>
            <a:r>
              <a:rPr dirty="0" sz="1200" spc="-5">
                <a:latin typeface="Arial"/>
                <a:cs typeface="Arial"/>
              </a:rPr>
              <a:t>The holy prophet (s.a.w) </a:t>
            </a:r>
            <a:r>
              <a:rPr dirty="0" sz="1200" spc="-10">
                <a:latin typeface="Arial"/>
                <a:cs typeface="Arial"/>
              </a:rPr>
              <a:t>was </a:t>
            </a:r>
            <a:r>
              <a:rPr dirty="0" sz="1200" spc="-5">
                <a:latin typeface="Arial"/>
                <a:cs typeface="Arial"/>
              </a:rPr>
              <a:t>accompanied by 1400 </a:t>
            </a:r>
            <a:r>
              <a:rPr dirty="0" sz="1200" spc="-10">
                <a:latin typeface="Arial"/>
                <a:cs typeface="Arial"/>
              </a:rPr>
              <a:t>Ashab </a:t>
            </a:r>
            <a:r>
              <a:rPr dirty="0" sz="1200">
                <a:latin typeface="Arial"/>
                <a:cs typeface="Arial"/>
              </a:rPr>
              <a:t>for </a:t>
            </a:r>
            <a:r>
              <a:rPr dirty="0" sz="1200" spc="-5">
                <a:latin typeface="Arial"/>
                <a:cs typeface="Arial"/>
              </a:rPr>
              <a:t>the move </a:t>
            </a:r>
            <a:r>
              <a:rPr dirty="0" sz="1200">
                <a:latin typeface="Arial"/>
                <a:cs typeface="Arial"/>
              </a:rPr>
              <a:t>to </a:t>
            </a:r>
            <a:r>
              <a:rPr dirty="0" sz="1200" spc="-5">
                <a:latin typeface="Arial"/>
                <a:cs typeface="Arial"/>
              </a:rPr>
              <a:t>Macca. </a:t>
            </a:r>
            <a:r>
              <a:rPr dirty="0" sz="1200" spc="-10">
                <a:latin typeface="Arial"/>
                <a:cs typeface="Arial"/>
              </a:rPr>
              <a:t>Uthman  was </a:t>
            </a:r>
            <a:r>
              <a:rPr dirty="0" sz="1200">
                <a:latin typeface="Arial"/>
                <a:cs typeface="Arial"/>
              </a:rPr>
              <a:t>sent </a:t>
            </a:r>
            <a:r>
              <a:rPr dirty="0" sz="1200" spc="-5">
                <a:latin typeface="Arial"/>
                <a:cs typeface="Arial"/>
              </a:rPr>
              <a:t>as messenger </a:t>
            </a:r>
            <a:r>
              <a:rPr dirty="0" sz="1200">
                <a:latin typeface="Arial"/>
                <a:cs typeface="Arial"/>
              </a:rPr>
              <a:t>to </a:t>
            </a:r>
            <a:r>
              <a:rPr dirty="0" sz="1200" spc="-5">
                <a:latin typeface="Arial"/>
                <a:cs typeface="Arial"/>
              </a:rPr>
              <a:t>announce their arrival. </a:t>
            </a:r>
            <a:r>
              <a:rPr dirty="0" sz="1200">
                <a:latin typeface="Arial"/>
                <a:cs typeface="Arial"/>
              </a:rPr>
              <a:t>But there </a:t>
            </a:r>
            <a:r>
              <a:rPr dirty="0" sz="1200" spc="-10">
                <a:latin typeface="Arial"/>
                <a:cs typeface="Arial"/>
              </a:rPr>
              <a:t>was no </a:t>
            </a:r>
            <a:r>
              <a:rPr dirty="0" sz="1200" spc="-5">
                <a:latin typeface="Arial"/>
                <a:cs typeface="Arial"/>
              </a:rPr>
              <a:t>sign of Uthman and a  rumour of his death circulated among the Ashab. </a:t>
            </a:r>
            <a:r>
              <a:rPr dirty="0" sz="1200">
                <a:latin typeface="Arial"/>
                <a:cs typeface="Arial"/>
              </a:rPr>
              <a:t>The </a:t>
            </a:r>
            <a:r>
              <a:rPr dirty="0" sz="1200" spc="-5">
                <a:latin typeface="Arial"/>
                <a:cs typeface="Arial"/>
              </a:rPr>
              <a:t>Ashab then decided to take </a:t>
            </a:r>
            <a:r>
              <a:rPr dirty="0" sz="1200" spc="-10">
                <a:latin typeface="Arial"/>
                <a:cs typeface="Arial"/>
              </a:rPr>
              <a:t>an oath  </a:t>
            </a:r>
            <a:r>
              <a:rPr dirty="0" sz="1200" spc="-5">
                <a:latin typeface="Arial"/>
                <a:cs typeface="Arial"/>
              </a:rPr>
              <a:t>under a tree of Hudaibiyyah </a:t>
            </a:r>
            <a:r>
              <a:rPr dirty="0" sz="1200">
                <a:latin typeface="Arial"/>
                <a:cs typeface="Arial"/>
              </a:rPr>
              <a:t>to </a:t>
            </a:r>
            <a:r>
              <a:rPr dirty="0" sz="1200" spc="-5">
                <a:latin typeface="Arial"/>
                <a:cs typeface="Arial"/>
              </a:rPr>
              <a:t>avenge the death of Uthman. </a:t>
            </a:r>
            <a:r>
              <a:rPr dirty="0" sz="1200">
                <a:latin typeface="Arial"/>
                <a:cs typeface="Arial"/>
              </a:rPr>
              <a:t>That </a:t>
            </a:r>
            <a:r>
              <a:rPr dirty="0" sz="1200" spc="-5">
                <a:latin typeface="Arial"/>
                <a:cs typeface="Arial"/>
              </a:rPr>
              <a:t>oath </a:t>
            </a:r>
            <a:r>
              <a:rPr dirty="0" sz="1200" spc="-10">
                <a:latin typeface="Arial"/>
                <a:cs typeface="Arial"/>
              </a:rPr>
              <a:t>was </a:t>
            </a:r>
            <a:r>
              <a:rPr dirty="0" sz="1200" spc="-5">
                <a:latin typeface="Arial"/>
                <a:cs typeface="Arial"/>
              </a:rPr>
              <a:t>known as  Bay‘atul Ridwaan </a:t>
            </a:r>
            <a:r>
              <a:rPr dirty="0" sz="1200">
                <a:latin typeface="Arial"/>
                <a:cs typeface="Arial"/>
              </a:rPr>
              <a:t>– </a:t>
            </a:r>
            <a:r>
              <a:rPr dirty="0" sz="1200" spc="-5">
                <a:latin typeface="Arial"/>
                <a:cs typeface="Arial"/>
              </a:rPr>
              <a:t>the satisfied oath. </a:t>
            </a:r>
            <a:r>
              <a:rPr dirty="0" sz="1200">
                <a:latin typeface="Arial"/>
                <a:cs typeface="Arial"/>
              </a:rPr>
              <a:t>It </a:t>
            </a:r>
            <a:r>
              <a:rPr dirty="0" sz="1200" spc="-5">
                <a:latin typeface="Arial"/>
                <a:cs typeface="Arial"/>
              </a:rPr>
              <a:t>is mentioned in the Qur‘an concerning </a:t>
            </a:r>
            <a:r>
              <a:rPr dirty="0" sz="1200">
                <a:latin typeface="Arial"/>
                <a:cs typeface="Arial"/>
              </a:rPr>
              <a:t>that </a:t>
            </a:r>
            <a:r>
              <a:rPr dirty="0" sz="1200" spc="-5">
                <a:latin typeface="Arial"/>
                <a:cs typeface="Arial"/>
              </a:rPr>
              <a:t>oath.  According</a:t>
            </a:r>
            <a:r>
              <a:rPr dirty="0" sz="1200" spc="50">
                <a:latin typeface="Arial"/>
                <a:cs typeface="Arial"/>
              </a:rPr>
              <a:t> </a:t>
            </a:r>
            <a:r>
              <a:rPr dirty="0" sz="1200">
                <a:latin typeface="Arial"/>
                <a:cs typeface="Arial"/>
              </a:rPr>
              <a:t>to</a:t>
            </a:r>
            <a:r>
              <a:rPr dirty="0" sz="1200" spc="65">
                <a:latin typeface="Arial"/>
                <a:cs typeface="Arial"/>
              </a:rPr>
              <a:t> </a:t>
            </a:r>
            <a:r>
              <a:rPr dirty="0" sz="1200">
                <a:latin typeface="Arial"/>
                <a:cs typeface="Arial"/>
              </a:rPr>
              <a:t>the</a:t>
            </a:r>
            <a:r>
              <a:rPr dirty="0" sz="1200" spc="45">
                <a:latin typeface="Arial"/>
                <a:cs typeface="Arial"/>
              </a:rPr>
              <a:t> </a:t>
            </a:r>
            <a:r>
              <a:rPr dirty="0" sz="1200">
                <a:latin typeface="Arial"/>
                <a:cs typeface="Arial"/>
              </a:rPr>
              <a:t>terms</a:t>
            </a:r>
            <a:r>
              <a:rPr dirty="0" sz="1200" spc="45">
                <a:latin typeface="Arial"/>
                <a:cs typeface="Arial"/>
              </a:rPr>
              <a:t> </a:t>
            </a:r>
            <a:r>
              <a:rPr dirty="0" sz="1200">
                <a:latin typeface="Arial"/>
                <a:cs typeface="Arial"/>
              </a:rPr>
              <a:t>Of</a:t>
            </a:r>
            <a:r>
              <a:rPr dirty="0" sz="1200" spc="55">
                <a:latin typeface="Arial"/>
                <a:cs typeface="Arial"/>
              </a:rPr>
              <a:t> </a:t>
            </a:r>
            <a:r>
              <a:rPr dirty="0" sz="1200" spc="-5">
                <a:latin typeface="Arial"/>
                <a:cs typeface="Arial"/>
              </a:rPr>
              <a:t>Treaty,</a:t>
            </a:r>
            <a:r>
              <a:rPr dirty="0" sz="1200" spc="60">
                <a:latin typeface="Arial"/>
                <a:cs typeface="Arial"/>
              </a:rPr>
              <a:t> </a:t>
            </a:r>
            <a:r>
              <a:rPr dirty="0" sz="1200">
                <a:latin typeface="Arial"/>
                <a:cs typeface="Arial"/>
              </a:rPr>
              <a:t>the</a:t>
            </a:r>
            <a:r>
              <a:rPr dirty="0" sz="1200" spc="55">
                <a:latin typeface="Arial"/>
                <a:cs typeface="Arial"/>
              </a:rPr>
              <a:t> </a:t>
            </a:r>
            <a:r>
              <a:rPr dirty="0" sz="1200" spc="-5">
                <a:latin typeface="Arial"/>
                <a:cs typeface="Arial"/>
              </a:rPr>
              <a:t>Muslims</a:t>
            </a:r>
            <a:r>
              <a:rPr dirty="0" sz="1200" spc="55">
                <a:latin typeface="Arial"/>
                <a:cs typeface="Arial"/>
              </a:rPr>
              <a:t> </a:t>
            </a:r>
            <a:r>
              <a:rPr dirty="0" sz="1200" spc="-5">
                <a:latin typeface="Arial"/>
                <a:cs typeface="Arial"/>
              </a:rPr>
              <a:t>should</a:t>
            </a:r>
            <a:r>
              <a:rPr dirty="0" sz="1200" spc="60">
                <a:latin typeface="Arial"/>
                <a:cs typeface="Arial"/>
              </a:rPr>
              <a:t> </a:t>
            </a:r>
            <a:r>
              <a:rPr dirty="0" sz="1200" spc="-5">
                <a:latin typeface="Arial"/>
                <a:cs typeface="Arial"/>
              </a:rPr>
              <a:t>return</a:t>
            </a:r>
            <a:r>
              <a:rPr dirty="0" sz="1200" spc="55">
                <a:latin typeface="Arial"/>
                <a:cs typeface="Arial"/>
              </a:rPr>
              <a:t> </a:t>
            </a:r>
            <a:r>
              <a:rPr dirty="0" sz="1200">
                <a:latin typeface="Arial"/>
                <a:cs typeface="Arial"/>
              </a:rPr>
              <a:t>to</a:t>
            </a:r>
            <a:r>
              <a:rPr dirty="0" sz="1200" spc="65">
                <a:latin typeface="Arial"/>
                <a:cs typeface="Arial"/>
              </a:rPr>
              <a:t> </a:t>
            </a:r>
            <a:r>
              <a:rPr dirty="0" sz="1200" spc="-5">
                <a:latin typeface="Arial"/>
                <a:cs typeface="Arial"/>
              </a:rPr>
              <a:t>Madina,</a:t>
            </a:r>
            <a:r>
              <a:rPr dirty="0" sz="1200" spc="55">
                <a:latin typeface="Arial"/>
                <a:cs typeface="Arial"/>
              </a:rPr>
              <a:t> </a:t>
            </a:r>
            <a:r>
              <a:rPr dirty="0" sz="1200" spc="-5">
                <a:latin typeface="Arial"/>
                <a:cs typeface="Arial"/>
              </a:rPr>
              <a:t>a</a:t>
            </a:r>
            <a:r>
              <a:rPr dirty="0" sz="1200" spc="60">
                <a:latin typeface="Arial"/>
                <a:cs typeface="Arial"/>
              </a:rPr>
              <a:t> </a:t>
            </a:r>
            <a:r>
              <a:rPr dirty="0" sz="1200" spc="-5">
                <a:latin typeface="Arial"/>
                <a:cs typeface="Arial"/>
              </a:rPr>
              <a:t>permission</a:t>
            </a:r>
            <a:r>
              <a:rPr dirty="0" sz="1200" spc="55">
                <a:latin typeface="Arial"/>
                <a:cs typeface="Arial"/>
              </a:rPr>
              <a:t> </a:t>
            </a:r>
            <a:r>
              <a:rPr dirty="0" sz="1200" spc="-5">
                <a:latin typeface="Arial"/>
                <a:cs typeface="Arial"/>
              </a:rPr>
              <a:t>of</a:t>
            </a:r>
            <a:r>
              <a:rPr dirty="0" sz="1200" spc="60">
                <a:latin typeface="Arial"/>
                <a:cs typeface="Arial"/>
              </a:rPr>
              <a:t> </a:t>
            </a:r>
            <a:r>
              <a:rPr dirty="0" sz="1200" spc="-5">
                <a:latin typeface="Arial"/>
                <a:cs typeface="Arial"/>
              </a:rPr>
              <a:t>only</a:t>
            </a:r>
            <a:endParaRPr sz="1200">
              <a:latin typeface="Arial"/>
              <a:cs typeface="Arial"/>
            </a:endParaRPr>
          </a:p>
          <a:p>
            <a:pPr algn="just" marL="139700" marR="106680">
              <a:lnSpc>
                <a:spcPts val="1380"/>
              </a:lnSpc>
              <a:spcBef>
                <a:spcPts val="35"/>
              </a:spcBef>
            </a:pPr>
            <a:r>
              <a:rPr dirty="0" sz="1200" spc="-5">
                <a:latin typeface="Arial"/>
                <a:cs typeface="Arial"/>
              </a:rPr>
              <a:t>3 days </a:t>
            </a:r>
            <a:r>
              <a:rPr dirty="0" sz="1200">
                <a:latin typeface="Arial"/>
                <a:cs typeface="Arial"/>
              </a:rPr>
              <a:t>for </a:t>
            </a:r>
            <a:r>
              <a:rPr dirty="0" sz="1200" spc="-5">
                <a:latin typeface="Arial"/>
                <a:cs typeface="Arial"/>
              </a:rPr>
              <a:t>Umrah </a:t>
            </a:r>
            <a:r>
              <a:rPr dirty="0" sz="1200" spc="-10">
                <a:latin typeface="Arial"/>
                <a:cs typeface="Arial"/>
              </a:rPr>
              <a:t>next </a:t>
            </a:r>
            <a:r>
              <a:rPr dirty="0" sz="1200" spc="-5">
                <a:latin typeface="Arial"/>
                <a:cs typeface="Arial"/>
              </a:rPr>
              <a:t>year, </a:t>
            </a:r>
            <a:r>
              <a:rPr dirty="0" sz="1200">
                <a:latin typeface="Arial"/>
                <a:cs typeface="Arial"/>
              </a:rPr>
              <a:t>the </a:t>
            </a:r>
            <a:r>
              <a:rPr dirty="0" sz="1200" spc="-5">
                <a:latin typeface="Arial"/>
                <a:cs typeface="Arial"/>
              </a:rPr>
              <a:t>Muslims were not allowed </a:t>
            </a:r>
            <a:r>
              <a:rPr dirty="0" sz="1200">
                <a:latin typeface="Arial"/>
                <a:cs typeface="Arial"/>
              </a:rPr>
              <a:t>to take </a:t>
            </a:r>
            <a:r>
              <a:rPr dirty="0" sz="1200" spc="-5">
                <a:latin typeface="Arial"/>
                <a:cs typeface="Arial"/>
              </a:rPr>
              <a:t>Muslims of Macca,  Muslims leaving Macca </a:t>
            </a:r>
            <a:r>
              <a:rPr dirty="0" sz="1200">
                <a:latin typeface="Arial"/>
                <a:cs typeface="Arial"/>
              </a:rPr>
              <a:t>to </a:t>
            </a:r>
            <a:r>
              <a:rPr dirty="0" sz="1200" spc="-5">
                <a:latin typeface="Arial"/>
                <a:cs typeface="Arial"/>
              </a:rPr>
              <a:t>Madina should return </a:t>
            </a:r>
            <a:r>
              <a:rPr dirty="0" sz="1200">
                <a:latin typeface="Arial"/>
                <a:cs typeface="Arial"/>
              </a:rPr>
              <a:t>to </a:t>
            </a:r>
            <a:r>
              <a:rPr dirty="0" sz="1200" spc="-5">
                <a:latin typeface="Arial"/>
                <a:cs typeface="Arial"/>
              </a:rPr>
              <a:t>Macca, Muslims leaving Madina </a:t>
            </a:r>
            <a:r>
              <a:rPr dirty="0" sz="1200">
                <a:latin typeface="Arial"/>
                <a:cs typeface="Arial"/>
              </a:rPr>
              <a:t>to </a:t>
            </a:r>
            <a:r>
              <a:rPr dirty="0" sz="1200" spc="-5">
                <a:latin typeface="Arial"/>
                <a:cs typeface="Arial"/>
              </a:rPr>
              <a:t>Macca  would not be returned </a:t>
            </a:r>
            <a:r>
              <a:rPr dirty="0" sz="1200">
                <a:latin typeface="Arial"/>
                <a:cs typeface="Arial"/>
              </a:rPr>
              <a:t>to </a:t>
            </a:r>
            <a:r>
              <a:rPr dirty="0" sz="1200" spc="-5">
                <a:latin typeface="Arial"/>
                <a:cs typeface="Arial"/>
              </a:rPr>
              <a:t>Madina and no fighting </a:t>
            </a:r>
            <a:r>
              <a:rPr dirty="0" sz="1200">
                <a:latin typeface="Arial"/>
                <a:cs typeface="Arial"/>
              </a:rPr>
              <a:t>for </a:t>
            </a:r>
            <a:r>
              <a:rPr dirty="0" sz="1200" spc="-5">
                <a:latin typeface="Arial"/>
                <a:cs typeface="Arial"/>
              </a:rPr>
              <a:t>10 years. Many Ashab disapproved of  </a:t>
            </a:r>
            <a:r>
              <a:rPr dirty="0" sz="1200">
                <a:latin typeface="Arial"/>
                <a:cs typeface="Arial"/>
              </a:rPr>
              <a:t>the </a:t>
            </a:r>
            <a:r>
              <a:rPr dirty="0" sz="1200" spc="-5">
                <a:latin typeface="Arial"/>
                <a:cs typeface="Arial"/>
              </a:rPr>
              <a:t>treaty but on </a:t>
            </a:r>
            <a:r>
              <a:rPr dirty="0" sz="1200">
                <a:latin typeface="Arial"/>
                <a:cs typeface="Arial"/>
              </a:rPr>
              <a:t>their </a:t>
            </a:r>
            <a:r>
              <a:rPr dirty="0" sz="1200" spc="-10">
                <a:latin typeface="Arial"/>
                <a:cs typeface="Arial"/>
              </a:rPr>
              <a:t>way </a:t>
            </a:r>
            <a:r>
              <a:rPr dirty="0" sz="1200">
                <a:latin typeface="Arial"/>
                <a:cs typeface="Arial"/>
              </a:rPr>
              <a:t>back, midway to </a:t>
            </a:r>
            <a:r>
              <a:rPr dirty="0" sz="1200" spc="-5">
                <a:latin typeface="Arial"/>
                <a:cs typeface="Arial"/>
              </a:rPr>
              <a:t>Madina, Surah Al Fatah </a:t>
            </a:r>
            <a:r>
              <a:rPr dirty="0" sz="1200" spc="-10">
                <a:latin typeface="Arial"/>
                <a:cs typeface="Arial"/>
              </a:rPr>
              <a:t>was </a:t>
            </a:r>
            <a:r>
              <a:rPr dirty="0" sz="1200" spc="-5">
                <a:latin typeface="Arial"/>
                <a:cs typeface="Arial"/>
              </a:rPr>
              <a:t>revealed where  </a:t>
            </a:r>
            <a:r>
              <a:rPr dirty="0" sz="1200">
                <a:latin typeface="Arial"/>
                <a:cs typeface="Arial"/>
              </a:rPr>
              <a:t>there </a:t>
            </a:r>
            <a:r>
              <a:rPr dirty="0" sz="1200" spc="-5">
                <a:latin typeface="Arial"/>
                <a:cs typeface="Arial"/>
              </a:rPr>
              <a:t>was </a:t>
            </a:r>
            <a:r>
              <a:rPr dirty="0" sz="1200">
                <a:latin typeface="Arial"/>
                <a:cs typeface="Arial"/>
              </a:rPr>
              <a:t>the </a:t>
            </a:r>
            <a:r>
              <a:rPr dirty="0" sz="1200" spc="-5">
                <a:latin typeface="Arial"/>
                <a:cs typeface="Arial"/>
              </a:rPr>
              <a:t>promise of victory </a:t>
            </a:r>
            <a:r>
              <a:rPr dirty="0" sz="1200">
                <a:latin typeface="Arial"/>
                <a:cs typeface="Arial"/>
              </a:rPr>
              <a:t>for </a:t>
            </a:r>
            <a:r>
              <a:rPr dirty="0" sz="1200" spc="-5">
                <a:latin typeface="Arial"/>
                <a:cs typeface="Arial"/>
              </a:rPr>
              <a:t>Muslims and later on </a:t>
            </a:r>
            <a:r>
              <a:rPr dirty="0" sz="1200">
                <a:latin typeface="Arial"/>
                <a:cs typeface="Arial"/>
              </a:rPr>
              <a:t>it </a:t>
            </a:r>
            <a:r>
              <a:rPr dirty="0" sz="1200" spc="-10">
                <a:latin typeface="Arial"/>
                <a:cs typeface="Arial"/>
              </a:rPr>
              <a:t>proved </a:t>
            </a:r>
            <a:r>
              <a:rPr dirty="0" sz="1200">
                <a:latin typeface="Arial"/>
                <a:cs typeface="Arial"/>
              </a:rPr>
              <a:t>to </a:t>
            </a:r>
            <a:r>
              <a:rPr dirty="0" sz="1200" spc="-5">
                <a:latin typeface="Arial"/>
                <a:cs typeface="Arial"/>
              </a:rPr>
              <a:t>be </a:t>
            </a:r>
            <a:r>
              <a:rPr dirty="0" sz="1200">
                <a:latin typeface="Arial"/>
                <a:cs typeface="Arial"/>
              </a:rPr>
              <a:t>true </a:t>
            </a:r>
            <a:r>
              <a:rPr dirty="0" sz="1200" spc="-5">
                <a:latin typeface="Arial"/>
                <a:cs typeface="Arial"/>
              </a:rPr>
              <a:t>with </a:t>
            </a:r>
            <a:r>
              <a:rPr dirty="0" sz="1200">
                <a:latin typeface="Arial"/>
                <a:cs typeface="Arial"/>
              </a:rPr>
              <a:t>the  </a:t>
            </a:r>
            <a:r>
              <a:rPr dirty="0" sz="1200" spc="-5">
                <a:latin typeface="Arial"/>
                <a:cs typeface="Arial"/>
              </a:rPr>
              <a:t>Conquest of</a:t>
            </a:r>
            <a:r>
              <a:rPr dirty="0" sz="1200">
                <a:latin typeface="Arial"/>
                <a:cs typeface="Arial"/>
              </a:rPr>
              <a:t> </a:t>
            </a:r>
            <a:r>
              <a:rPr dirty="0" sz="1200" spc="-5">
                <a:latin typeface="Arial"/>
                <a:cs typeface="Arial"/>
              </a:rPr>
              <a:t>Macca.</a:t>
            </a:r>
            <a:endParaRPr sz="1200">
              <a:latin typeface="Arial"/>
              <a:cs typeface="Arial"/>
            </a:endParaRPr>
          </a:p>
          <a:p>
            <a:pPr>
              <a:lnSpc>
                <a:spcPct val="100000"/>
              </a:lnSpc>
              <a:spcBef>
                <a:spcPts val="20"/>
              </a:spcBef>
            </a:pPr>
            <a:endParaRPr sz="1100">
              <a:latin typeface="Arial"/>
              <a:cs typeface="Arial"/>
            </a:endParaRPr>
          </a:p>
          <a:p>
            <a:pPr marL="139700">
              <a:lnSpc>
                <a:spcPct val="100000"/>
              </a:lnSpc>
            </a:pPr>
            <a:r>
              <a:rPr dirty="0" u="heavy" sz="1200" spc="-5" b="1" i="1">
                <a:uFill>
                  <a:solidFill>
                    <a:srgbClr val="000000"/>
                  </a:solidFill>
                </a:uFill>
                <a:latin typeface="Arial"/>
                <a:cs typeface="Arial"/>
              </a:rPr>
              <a:t>The Treaty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Hudaibiyyah was important and </a:t>
            </a:r>
            <a:r>
              <a:rPr dirty="0" u="heavy" sz="1200" b="1" i="1">
                <a:uFill>
                  <a:solidFill>
                    <a:srgbClr val="000000"/>
                  </a:solidFill>
                </a:uFill>
                <a:latin typeface="Arial"/>
                <a:cs typeface="Arial"/>
              </a:rPr>
              <a:t>significant in different </a:t>
            </a:r>
            <a:r>
              <a:rPr dirty="0" u="heavy" sz="1200" spc="-5" b="1" i="1">
                <a:uFill>
                  <a:solidFill>
                    <a:srgbClr val="000000"/>
                  </a:solidFill>
                </a:uFill>
                <a:latin typeface="Arial"/>
                <a:cs typeface="Arial"/>
              </a:rPr>
              <a:t>ways because</a:t>
            </a:r>
            <a:r>
              <a:rPr dirty="0" u="heavy" sz="1200" spc="50" b="1" i="1">
                <a:uFill>
                  <a:solidFill>
                    <a:srgbClr val="000000"/>
                  </a:solidFill>
                </a:uFill>
                <a:latin typeface="Arial"/>
                <a:cs typeface="Arial"/>
              </a:rPr>
              <a:t> </a:t>
            </a:r>
            <a:r>
              <a:rPr dirty="0" u="heavy" sz="1200" b="1" i="1">
                <a:uFill>
                  <a:solidFill>
                    <a:srgbClr val="000000"/>
                  </a:solidFill>
                </a:uFill>
                <a:latin typeface="Arial"/>
                <a:cs typeface="Arial"/>
              </a:rPr>
              <a:t>of:</a:t>
            </a:r>
            <a:endParaRPr sz="1200">
              <a:latin typeface="Arial"/>
              <a:cs typeface="Arial"/>
            </a:endParaRPr>
          </a:p>
          <a:p>
            <a:pPr>
              <a:lnSpc>
                <a:spcPct val="100000"/>
              </a:lnSpc>
              <a:spcBef>
                <a:spcPts val="55"/>
              </a:spcBef>
            </a:pPr>
            <a:endParaRPr sz="1100">
              <a:latin typeface="Arial"/>
              <a:cs typeface="Arial"/>
            </a:endParaRPr>
          </a:p>
          <a:p>
            <a:pPr marL="596900" indent="-229235">
              <a:lnSpc>
                <a:spcPts val="1410"/>
              </a:lnSpc>
              <a:buAutoNum type="arabicPeriod"/>
              <a:tabLst>
                <a:tab pos="597535" algn="l"/>
              </a:tabLst>
            </a:pPr>
            <a:r>
              <a:rPr dirty="0" sz="1200" spc="-5">
                <a:latin typeface="Arial"/>
                <a:cs typeface="Arial"/>
              </a:rPr>
              <a:t>The treaty</a:t>
            </a:r>
            <a:r>
              <a:rPr dirty="0" sz="1200" spc="-10">
                <a:latin typeface="Arial"/>
                <a:cs typeface="Arial"/>
              </a:rPr>
              <a:t> </a:t>
            </a:r>
            <a:r>
              <a:rPr dirty="0" sz="1200">
                <a:latin typeface="Arial"/>
                <a:cs typeface="Arial"/>
              </a:rPr>
              <a:t>itself</a:t>
            </a:r>
            <a:endParaRPr sz="1200">
              <a:latin typeface="Arial"/>
              <a:cs typeface="Arial"/>
            </a:endParaRPr>
          </a:p>
          <a:p>
            <a:pPr marL="596900" indent="-229235">
              <a:lnSpc>
                <a:spcPts val="1380"/>
              </a:lnSpc>
              <a:buAutoNum type="arabicPeriod"/>
              <a:tabLst>
                <a:tab pos="597535" algn="l"/>
              </a:tabLst>
            </a:pPr>
            <a:r>
              <a:rPr dirty="0" sz="1200" spc="-5">
                <a:latin typeface="Arial"/>
                <a:cs typeface="Arial"/>
              </a:rPr>
              <a:t>The 10 years without</a:t>
            </a:r>
            <a:r>
              <a:rPr dirty="0" sz="1200">
                <a:latin typeface="Arial"/>
                <a:cs typeface="Arial"/>
              </a:rPr>
              <a:t> </a:t>
            </a:r>
            <a:r>
              <a:rPr dirty="0" sz="1200" spc="-10">
                <a:latin typeface="Arial"/>
                <a:cs typeface="Arial"/>
              </a:rPr>
              <a:t>war</a:t>
            </a:r>
            <a:endParaRPr sz="1200">
              <a:latin typeface="Arial"/>
              <a:cs typeface="Arial"/>
            </a:endParaRPr>
          </a:p>
          <a:p>
            <a:pPr marL="596900" indent="-229235">
              <a:lnSpc>
                <a:spcPts val="1410"/>
              </a:lnSpc>
              <a:buAutoNum type="arabicPeriod"/>
              <a:tabLst>
                <a:tab pos="597535" algn="l"/>
              </a:tabLst>
            </a:pPr>
            <a:r>
              <a:rPr dirty="0" sz="1200" spc="-5">
                <a:latin typeface="Arial"/>
                <a:cs typeface="Arial"/>
              </a:rPr>
              <a:t>The opportunity </a:t>
            </a:r>
            <a:r>
              <a:rPr dirty="0" sz="1200">
                <a:latin typeface="Arial"/>
                <a:cs typeface="Arial"/>
              </a:rPr>
              <a:t>to </a:t>
            </a:r>
            <a:r>
              <a:rPr dirty="0" sz="1200" spc="-5">
                <a:latin typeface="Arial"/>
                <a:cs typeface="Arial"/>
              </a:rPr>
              <a:t>spread of Islam </a:t>
            </a:r>
            <a:r>
              <a:rPr dirty="0" sz="1200">
                <a:latin typeface="Arial"/>
                <a:cs typeface="Arial"/>
              </a:rPr>
              <a:t>to </a:t>
            </a:r>
            <a:r>
              <a:rPr dirty="0" sz="1200" spc="-5">
                <a:latin typeface="Arial"/>
                <a:cs typeface="Arial"/>
              </a:rPr>
              <a:t>other</a:t>
            </a:r>
            <a:r>
              <a:rPr dirty="0" sz="1200" spc="5">
                <a:latin typeface="Arial"/>
                <a:cs typeface="Arial"/>
              </a:rPr>
              <a:t> </a:t>
            </a:r>
            <a:r>
              <a:rPr dirty="0" sz="1200" spc="-5">
                <a:latin typeface="Arial"/>
                <a:cs typeface="Arial"/>
              </a:rPr>
              <a:t>countries</a:t>
            </a:r>
            <a:endParaRPr sz="1200">
              <a:latin typeface="Arial"/>
              <a:cs typeface="Arial"/>
            </a:endParaRPr>
          </a:p>
        </p:txBody>
      </p:sp>
      <p:sp>
        <p:nvSpPr>
          <p:cNvPr id="5" name="object 5"/>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6" name="object 6"/>
          <p:cNvSpPr txBox="1"/>
          <p:nvPr/>
        </p:nvSpPr>
        <p:spPr>
          <a:xfrm>
            <a:off x="3026791"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20</a:t>
            </a:r>
            <a:endParaRPr sz="1200">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p:nvPr/>
        </p:nvSpPr>
        <p:spPr>
          <a:xfrm>
            <a:off x="731519" y="2383789"/>
            <a:ext cx="1215390" cy="15240"/>
          </a:xfrm>
          <a:custGeom>
            <a:avLst/>
            <a:gdLst/>
            <a:ahLst/>
            <a:cxnLst/>
            <a:rect l="l" t="t" r="r" b="b"/>
            <a:pathLst>
              <a:path w="1215389" h="15239">
                <a:moveTo>
                  <a:pt x="1214932" y="0"/>
                </a:moveTo>
                <a:lnTo>
                  <a:pt x="0" y="0"/>
                </a:lnTo>
                <a:lnTo>
                  <a:pt x="0" y="15240"/>
                </a:lnTo>
                <a:lnTo>
                  <a:pt x="1214932" y="15240"/>
                </a:lnTo>
                <a:lnTo>
                  <a:pt x="1214932" y="0"/>
                </a:lnTo>
                <a:close/>
              </a:path>
            </a:pathLst>
          </a:custGeom>
          <a:solidFill>
            <a:srgbClr val="000000"/>
          </a:solidFill>
        </p:spPr>
        <p:txBody>
          <a:bodyPr wrap="square" lIns="0" tIns="0" rIns="0" bIns="0" rtlCol="0"/>
          <a:lstStyle/>
          <a:p/>
        </p:txBody>
      </p:sp>
      <p:sp>
        <p:nvSpPr>
          <p:cNvPr id="6" name="object 6"/>
          <p:cNvSpPr/>
          <p:nvPr/>
        </p:nvSpPr>
        <p:spPr>
          <a:xfrm>
            <a:off x="731519" y="5889625"/>
            <a:ext cx="1215390" cy="15240"/>
          </a:xfrm>
          <a:custGeom>
            <a:avLst/>
            <a:gdLst/>
            <a:ahLst/>
            <a:cxnLst/>
            <a:rect l="l" t="t" r="r" b="b"/>
            <a:pathLst>
              <a:path w="1215389" h="15239">
                <a:moveTo>
                  <a:pt x="1214932" y="0"/>
                </a:moveTo>
                <a:lnTo>
                  <a:pt x="0" y="0"/>
                </a:lnTo>
                <a:lnTo>
                  <a:pt x="0" y="15239"/>
                </a:lnTo>
                <a:lnTo>
                  <a:pt x="1214932" y="15239"/>
                </a:lnTo>
                <a:lnTo>
                  <a:pt x="1214932" y="0"/>
                </a:lnTo>
                <a:close/>
              </a:path>
            </a:pathLst>
          </a:custGeom>
          <a:solidFill>
            <a:srgbClr val="000000"/>
          </a:solidFill>
        </p:spPr>
        <p:txBody>
          <a:bodyPr wrap="square" lIns="0" tIns="0" rIns="0" bIns="0" rtlCol="0"/>
          <a:lstStyle/>
          <a:p/>
        </p:txBody>
      </p:sp>
      <p:sp>
        <p:nvSpPr>
          <p:cNvPr id="7" name="object 7"/>
          <p:cNvSpPr txBox="1"/>
          <p:nvPr/>
        </p:nvSpPr>
        <p:spPr>
          <a:xfrm>
            <a:off x="553719" y="799592"/>
            <a:ext cx="6599555" cy="8971280"/>
          </a:xfrm>
          <a:prstGeom prst="rect">
            <a:avLst/>
          </a:prstGeom>
        </p:spPr>
        <p:txBody>
          <a:bodyPr wrap="square" lIns="0" tIns="12700" rIns="0" bIns="0" rtlCol="0" vert="horz">
            <a:spAutoFit/>
          </a:bodyPr>
          <a:lstStyle/>
          <a:p>
            <a:pPr marL="635000" indent="-229235">
              <a:lnSpc>
                <a:spcPts val="1410"/>
              </a:lnSpc>
              <a:spcBef>
                <a:spcPts val="100"/>
              </a:spcBef>
              <a:buAutoNum type="arabicPeriod" startAt="4"/>
              <a:tabLst>
                <a:tab pos="635635" algn="l"/>
              </a:tabLst>
            </a:pPr>
            <a:r>
              <a:rPr dirty="0" sz="1200" spc="-5">
                <a:latin typeface="Arial"/>
                <a:cs typeface="Arial"/>
              </a:rPr>
              <a:t>The ability </a:t>
            </a:r>
            <a:r>
              <a:rPr dirty="0" sz="1200">
                <a:latin typeface="Arial"/>
                <a:cs typeface="Arial"/>
              </a:rPr>
              <a:t>to </a:t>
            </a:r>
            <a:r>
              <a:rPr dirty="0" sz="1200" spc="-5">
                <a:latin typeface="Arial"/>
                <a:cs typeface="Arial"/>
              </a:rPr>
              <a:t>live </a:t>
            </a:r>
            <a:r>
              <a:rPr dirty="0" sz="1200">
                <a:latin typeface="Arial"/>
                <a:cs typeface="Arial"/>
              </a:rPr>
              <a:t>Islam </a:t>
            </a:r>
            <a:r>
              <a:rPr dirty="0" sz="1200" spc="-5">
                <a:latin typeface="Arial"/>
                <a:cs typeface="Arial"/>
              </a:rPr>
              <a:t>freely</a:t>
            </a:r>
            <a:endParaRPr sz="1200">
              <a:latin typeface="Arial"/>
              <a:cs typeface="Arial"/>
            </a:endParaRPr>
          </a:p>
          <a:p>
            <a:pPr marL="635000" indent="-229235">
              <a:lnSpc>
                <a:spcPts val="1380"/>
              </a:lnSpc>
              <a:buAutoNum type="arabicPeriod" startAt="4"/>
              <a:tabLst>
                <a:tab pos="635635" algn="l"/>
              </a:tabLst>
            </a:pPr>
            <a:r>
              <a:rPr dirty="0" sz="1200" spc="-5">
                <a:latin typeface="Arial"/>
                <a:cs typeface="Arial"/>
              </a:rPr>
              <a:t>The return </a:t>
            </a:r>
            <a:r>
              <a:rPr dirty="0" sz="1200">
                <a:latin typeface="Arial"/>
                <a:cs typeface="Arial"/>
              </a:rPr>
              <a:t>to Macca </a:t>
            </a:r>
            <a:r>
              <a:rPr dirty="0" sz="1200" spc="-5">
                <a:latin typeface="Arial"/>
                <a:cs typeface="Arial"/>
              </a:rPr>
              <a:t>for Umrah after 7 years</a:t>
            </a:r>
            <a:endParaRPr sz="1200">
              <a:latin typeface="Arial"/>
              <a:cs typeface="Arial"/>
            </a:endParaRPr>
          </a:p>
          <a:p>
            <a:pPr marL="635000" indent="-229235">
              <a:lnSpc>
                <a:spcPts val="1380"/>
              </a:lnSpc>
              <a:buAutoNum type="arabicPeriod" startAt="4"/>
              <a:tabLst>
                <a:tab pos="635635" algn="l"/>
              </a:tabLst>
            </a:pPr>
            <a:r>
              <a:rPr dirty="0" sz="1200" spc="-5">
                <a:latin typeface="Arial"/>
                <a:cs typeface="Arial"/>
              </a:rPr>
              <a:t>The possibility </a:t>
            </a:r>
            <a:r>
              <a:rPr dirty="0" sz="1200">
                <a:latin typeface="Arial"/>
                <a:cs typeface="Arial"/>
              </a:rPr>
              <a:t>of </a:t>
            </a:r>
            <a:r>
              <a:rPr dirty="0" sz="1200" spc="-5">
                <a:latin typeface="Arial"/>
                <a:cs typeface="Arial"/>
              </a:rPr>
              <a:t>tribes joining</a:t>
            </a:r>
            <a:r>
              <a:rPr dirty="0" sz="1200" spc="-25">
                <a:latin typeface="Arial"/>
                <a:cs typeface="Arial"/>
              </a:rPr>
              <a:t> </a:t>
            </a:r>
            <a:r>
              <a:rPr dirty="0" sz="1200" spc="-5">
                <a:latin typeface="Arial"/>
                <a:cs typeface="Arial"/>
              </a:rPr>
              <a:t>Muslims</a:t>
            </a:r>
            <a:endParaRPr sz="1200">
              <a:latin typeface="Arial"/>
              <a:cs typeface="Arial"/>
            </a:endParaRPr>
          </a:p>
          <a:p>
            <a:pPr marL="635000" indent="-229235">
              <a:lnSpc>
                <a:spcPts val="1380"/>
              </a:lnSpc>
              <a:buAutoNum type="arabicPeriod" startAt="4"/>
              <a:tabLst>
                <a:tab pos="635635" algn="l"/>
              </a:tabLst>
            </a:pPr>
            <a:r>
              <a:rPr dirty="0" sz="1200" spc="-5">
                <a:latin typeface="Arial"/>
                <a:cs typeface="Arial"/>
              </a:rPr>
              <a:t>The </a:t>
            </a:r>
            <a:r>
              <a:rPr dirty="0" sz="1200">
                <a:latin typeface="Arial"/>
                <a:cs typeface="Arial"/>
              </a:rPr>
              <a:t>future </a:t>
            </a:r>
            <a:r>
              <a:rPr dirty="0" sz="1200" spc="-5">
                <a:latin typeface="Arial"/>
                <a:cs typeface="Arial"/>
              </a:rPr>
              <a:t>Conquest of Macca and other </a:t>
            </a:r>
            <a:r>
              <a:rPr dirty="0" sz="1200">
                <a:latin typeface="Arial"/>
                <a:cs typeface="Arial"/>
              </a:rPr>
              <a:t>parts </a:t>
            </a:r>
            <a:r>
              <a:rPr dirty="0" sz="1200" spc="-5">
                <a:latin typeface="Arial"/>
                <a:cs typeface="Arial"/>
              </a:rPr>
              <a:t>of the</a:t>
            </a:r>
            <a:r>
              <a:rPr dirty="0" sz="1200">
                <a:latin typeface="Arial"/>
                <a:cs typeface="Arial"/>
              </a:rPr>
              <a:t> </a:t>
            </a:r>
            <a:r>
              <a:rPr dirty="0" sz="1200" spc="-10">
                <a:latin typeface="Arial"/>
                <a:cs typeface="Arial"/>
              </a:rPr>
              <a:t>world</a:t>
            </a:r>
            <a:endParaRPr sz="1200">
              <a:latin typeface="Arial"/>
              <a:cs typeface="Arial"/>
            </a:endParaRPr>
          </a:p>
          <a:p>
            <a:pPr marL="635000" indent="-229235">
              <a:lnSpc>
                <a:spcPts val="1380"/>
              </a:lnSpc>
              <a:buAutoNum type="arabicPeriod" startAt="4"/>
              <a:tabLst>
                <a:tab pos="635635" algn="l"/>
              </a:tabLst>
            </a:pPr>
            <a:r>
              <a:rPr dirty="0" sz="1200" spc="-5">
                <a:latin typeface="Arial"/>
                <a:cs typeface="Arial"/>
              </a:rPr>
              <a:t>All benefits and success </a:t>
            </a:r>
            <a:r>
              <a:rPr dirty="0" sz="1200">
                <a:latin typeface="Arial"/>
                <a:cs typeface="Arial"/>
              </a:rPr>
              <a:t>after the</a:t>
            </a:r>
            <a:r>
              <a:rPr dirty="0" sz="1200" spc="-15">
                <a:latin typeface="Arial"/>
                <a:cs typeface="Arial"/>
              </a:rPr>
              <a:t> </a:t>
            </a:r>
            <a:r>
              <a:rPr dirty="0" sz="1200">
                <a:latin typeface="Arial"/>
                <a:cs typeface="Arial"/>
              </a:rPr>
              <a:t>treaty</a:t>
            </a:r>
            <a:endParaRPr sz="1200">
              <a:latin typeface="Arial"/>
              <a:cs typeface="Arial"/>
            </a:endParaRPr>
          </a:p>
          <a:p>
            <a:pPr marL="635000" indent="-229235">
              <a:lnSpc>
                <a:spcPts val="1380"/>
              </a:lnSpc>
              <a:buAutoNum type="arabicPeriod" startAt="4"/>
              <a:tabLst>
                <a:tab pos="635635" algn="l"/>
              </a:tabLst>
            </a:pPr>
            <a:r>
              <a:rPr dirty="0" sz="1200" spc="-5">
                <a:latin typeface="Arial"/>
                <a:cs typeface="Arial"/>
              </a:rPr>
              <a:t>The Prophet (s.a.w) known </a:t>
            </a:r>
            <a:r>
              <a:rPr dirty="0" sz="1200">
                <a:latin typeface="Arial"/>
                <a:cs typeface="Arial"/>
              </a:rPr>
              <a:t>as the </a:t>
            </a:r>
            <a:r>
              <a:rPr dirty="0" sz="1200" spc="-5">
                <a:latin typeface="Arial"/>
                <a:cs typeface="Arial"/>
              </a:rPr>
              <a:t>power of </a:t>
            </a:r>
            <a:r>
              <a:rPr dirty="0" sz="1200" spc="-10">
                <a:latin typeface="Arial"/>
                <a:cs typeface="Arial"/>
              </a:rPr>
              <a:t>the </a:t>
            </a:r>
            <a:r>
              <a:rPr dirty="0" sz="1200" spc="-5">
                <a:latin typeface="Arial"/>
                <a:cs typeface="Arial"/>
              </a:rPr>
              <a:t>Arabic</a:t>
            </a:r>
            <a:r>
              <a:rPr dirty="0" sz="1200" spc="35">
                <a:latin typeface="Arial"/>
                <a:cs typeface="Arial"/>
              </a:rPr>
              <a:t> </a:t>
            </a:r>
            <a:r>
              <a:rPr dirty="0" sz="1200" spc="-5">
                <a:latin typeface="Arial"/>
                <a:cs typeface="Arial"/>
              </a:rPr>
              <a:t>Peninsula</a:t>
            </a:r>
            <a:endParaRPr sz="1200">
              <a:latin typeface="Arial"/>
              <a:cs typeface="Arial"/>
            </a:endParaRPr>
          </a:p>
          <a:p>
            <a:pPr marL="635000" indent="-229235">
              <a:lnSpc>
                <a:spcPts val="1410"/>
              </a:lnSpc>
              <a:buAutoNum type="arabicPeriod" startAt="4"/>
              <a:tabLst>
                <a:tab pos="635635" algn="l"/>
              </a:tabLst>
            </a:pPr>
            <a:r>
              <a:rPr dirty="0" sz="1200">
                <a:latin typeface="Arial"/>
                <a:cs typeface="Arial"/>
              </a:rPr>
              <a:t>It reflects </a:t>
            </a:r>
            <a:r>
              <a:rPr dirty="0" sz="1200" spc="-5">
                <a:latin typeface="Arial"/>
                <a:cs typeface="Arial"/>
              </a:rPr>
              <a:t>the </a:t>
            </a:r>
            <a:r>
              <a:rPr dirty="0" sz="1200">
                <a:latin typeface="Arial"/>
                <a:cs typeface="Arial"/>
              </a:rPr>
              <a:t>fear </a:t>
            </a:r>
            <a:r>
              <a:rPr dirty="0" sz="1200" spc="-5">
                <a:latin typeface="Arial"/>
                <a:cs typeface="Arial"/>
              </a:rPr>
              <a:t>and weakness of </a:t>
            </a:r>
            <a:r>
              <a:rPr dirty="0" sz="1200">
                <a:latin typeface="Arial"/>
                <a:cs typeface="Arial"/>
              </a:rPr>
              <a:t>the</a:t>
            </a:r>
            <a:r>
              <a:rPr dirty="0" sz="1200" spc="-40">
                <a:latin typeface="Arial"/>
                <a:cs typeface="Arial"/>
              </a:rPr>
              <a:t> </a:t>
            </a:r>
            <a:r>
              <a:rPr dirty="0" sz="1200" spc="-5">
                <a:latin typeface="Arial"/>
                <a:cs typeface="Arial"/>
              </a:rPr>
              <a:t>Quraish</a:t>
            </a:r>
            <a:endParaRPr sz="1200">
              <a:latin typeface="Arial"/>
              <a:cs typeface="Arial"/>
            </a:endParaRPr>
          </a:p>
          <a:p>
            <a:pPr>
              <a:lnSpc>
                <a:spcPct val="100000"/>
              </a:lnSpc>
              <a:spcBef>
                <a:spcPts val="55"/>
              </a:spcBef>
            </a:pPr>
            <a:endParaRPr sz="1100">
              <a:latin typeface="Arial"/>
              <a:cs typeface="Arial"/>
            </a:endParaRPr>
          </a:p>
          <a:p>
            <a:pPr marL="177800">
              <a:lnSpc>
                <a:spcPct val="100000"/>
              </a:lnSpc>
            </a:pPr>
            <a:r>
              <a:rPr dirty="0" sz="1200" spc="-5" b="1" i="1">
                <a:latin typeface="Arial"/>
                <a:cs typeface="Arial"/>
              </a:rPr>
              <a:t>7</a:t>
            </a:r>
            <a:r>
              <a:rPr dirty="0" baseline="38194" sz="1200" spc="-7" b="1" i="1">
                <a:latin typeface="Arial"/>
                <a:cs typeface="Arial"/>
              </a:rPr>
              <a:t>th </a:t>
            </a:r>
            <a:r>
              <a:rPr dirty="0" sz="1200" spc="-5" b="1" i="1">
                <a:latin typeface="Arial"/>
                <a:cs typeface="Arial"/>
              </a:rPr>
              <a:t>Year of</a:t>
            </a:r>
            <a:r>
              <a:rPr dirty="0" sz="1200" spc="-100" b="1" i="1">
                <a:latin typeface="Arial"/>
                <a:cs typeface="Arial"/>
              </a:rPr>
              <a:t> </a:t>
            </a:r>
            <a:r>
              <a:rPr dirty="0" sz="1200" spc="-5" b="1" i="1">
                <a:latin typeface="Arial"/>
                <a:cs typeface="Arial"/>
              </a:rPr>
              <a:t>Hijrah</a:t>
            </a:r>
            <a:endParaRPr sz="1200">
              <a:latin typeface="Arial"/>
              <a:cs typeface="Arial"/>
            </a:endParaRPr>
          </a:p>
          <a:p>
            <a:pPr>
              <a:lnSpc>
                <a:spcPct val="100000"/>
              </a:lnSpc>
              <a:spcBef>
                <a:spcPts val="55"/>
              </a:spcBef>
            </a:pPr>
            <a:endParaRPr sz="1150">
              <a:latin typeface="Arial"/>
              <a:cs typeface="Arial"/>
            </a:endParaRPr>
          </a:p>
          <a:p>
            <a:pPr algn="just" marL="177800" marR="132080">
              <a:lnSpc>
                <a:spcPct val="95900"/>
              </a:lnSpc>
            </a:pPr>
            <a:r>
              <a:rPr dirty="0" sz="1200" spc="-5">
                <a:latin typeface="Arial"/>
                <a:cs typeface="Arial"/>
              </a:rPr>
              <a:t>Due </a:t>
            </a:r>
            <a:r>
              <a:rPr dirty="0" sz="1200">
                <a:latin typeface="Arial"/>
                <a:cs typeface="Arial"/>
              </a:rPr>
              <a:t>to the </a:t>
            </a:r>
            <a:r>
              <a:rPr dirty="0" sz="1200" spc="-5">
                <a:latin typeface="Arial"/>
                <a:cs typeface="Arial"/>
              </a:rPr>
              <a:t>treaty </a:t>
            </a:r>
            <a:r>
              <a:rPr dirty="0" sz="1200">
                <a:latin typeface="Arial"/>
                <a:cs typeface="Arial"/>
              </a:rPr>
              <a:t>of </a:t>
            </a:r>
            <a:r>
              <a:rPr dirty="0" sz="1200" spc="-5">
                <a:latin typeface="Arial"/>
                <a:cs typeface="Arial"/>
              </a:rPr>
              <a:t>Hudaibiyyah, </a:t>
            </a:r>
            <a:r>
              <a:rPr dirty="0" sz="1200">
                <a:latin typeface="Arial"/>
                <a:cs typeface="Arial"/>
              </a:rPr>
              <a:t>Islam </a:t>
            </a:r>
            <a:r>
              <a:rPr dirty="0" sz="1200" spc="-5">
                <a:latin typeface="Arial"/>
                <a:cs typeface="Arial"/>
              </a:rPr>
              <a:t>spread outside Madina. The prophet (s.a.w) </a:t>
            </a:r>
            <a:r>
              <a:rPr dirty="0" sz="1200">
                <a:latin typeface="Arial"/>
                <a:cs typeface="Arial"/>
              </a:rPr>
              <a:t>sent  many </a:t>
            </a:r>
            <a:r>
              <a:rPr dirty="0" sz="1200" spc="-5">
                <a:latin typeface="Arial"/>
                <a:cs typeface="Arial"/>
              </a:rPr>
              <a:t>messengers </a:t>
            </a:r>
            <a:r>
              <a:rPr dirty="0" sz="1200">
                <a:latin typeface="Arial"/>
                <a:cs typeface="Arial"/>
              </a:rPr>
              <a:t>to </a:t>
            </a:r>
            <a:r>
              <a:rPr dirty="0" sz="1200" spc="-5">
                <a:latin typeface="Arial"/>
                <a:cs typeface="Arial"/>
              </a:rPr>
              <a:t>different </a:t>
            </a:r>
            <a:r>
              <a:rPr dirty="0" sz="1200">
                <a:latin typeface="Arial"/>
                <a:cs typeface="Arial"/>
              </a:rPr>
              <a:t>parts </a:t>
            </a:r>
            <a:r>
              <a:rPr dirty="0" sz="1200" spc="-5">
                <a:latin typeface="Arial"/>
                <a:cs typeface="Arial"/>
              </a:rPr>
              <a:t>of </a:t>
            </a:r>
            <a:r>
              <a:rPr dirty="0" sz="1200">
                <a:latin typeface="Arial"/>
                <a:cs typeface="Arial"/>
              </a:rPr>
              <a:t>the world. </a:t>
            </a:r>
            <a:r>
              <a:rPr dirty="0" sz="1200" spc="-5">
                <a:latin typeface="Arial"/>
                <a:cs typeface="Arial"/>
              </a:rPr>
              <a:t>Heraclius </a:t>
            </a:r>
            <a:r>
              <a:rPr dirty="0" sz="1200">
                <a:latin typeface="Arial"/>
                <a:cs typeface="Arial"/>
              </a:rPr>
              <a:t>of </a:t>
            </a:r>
            <a:r>
              <a:rPr dirty="0" sz="1200" spc="-5">
                <a:latin typeface="Arial"/>
                <a:cs typeface="Arial"/>
              </a:rPr>
              <a:t>Rome </a:t>
            </a:r>
            <a:r>
              <a:rPr dirty="0" sz="1200" spc="-10">
                <a:latin typeface="Arial"/>
                <a:cs typeface="Arial"/>
              </a:rPr>
              <a:t>was </a:t>
            </a:r>
            <a:r>
              <a:rPr dirty="0" sz="1200" spc="-5">
                <a:latin typeface="Arial"/>
                <a:cs typeface="Arial"/>
              </a:rPr>
              <a:t>a good king but  didn‘t convert </a:t>
            </a:r>
            <a:r>
              <a:rPr dirty="0" sz="1200">
                <a:latin typeface="Arial"/>
                <a:cs typeface="Arial"/>
              </a:rPr>
              <a:t>to </a:t>
            </a:r>
            <a:r>
              <a:rPr dirty="0" sz="1200" spc="-5">
                <a:latin typeface="Arial"/>
                <a:cs typeface="Arial"/>
              </a:rPr>
              <a:t>Islam. Chosroes of Persia insulted the messenger </a:t>
            </a:r>
            <a:r>
              <a:rPr dirty="0" sz="1200">
                <a:latin typeface="Arial"/>
                <a:cs typeface="Arial"/>
              </a:rPr>
              <a:t>and </a:t>
            </a:r>
            <a:r>
              <a:rPr dirty="0" sz="1200" spc="-5">
                <a:latin typeface="Arial"/>
                <a:cs typeface="Arial"/>
              </a:rPr>
              <a:t>didn‘t convert </a:t>
            </a:r>
            <a:r>
              <a:rPr dirty="0" sz="1200">
                <a:latin typeface="Arial"/>
                <a:cs typeface="Arial"/>
              </a:rPr>
              <a:t>to  Islam. </a:t>
            </a:r>
            <a:r>
              <a:rPr dirty="0" sz="1200" spc="-5">
                <a:latin typeface="Arial"/>
                <a:cs typeface="Arial"/>
              </a:rPr>
              <a:t>Negus of Abyssinia </a:t>
            </a:r>
            <a:r>
              <a:rPr dirty="0" sz="1200" spc="-10">
                <a:latin typeface="Arial"/>
                <a:cs typeface="Arial"/>
              </a:rPr>
              <a:t>was </a:t>
            </a:r>
            <a:r>
              <a:rPr dirty="0" sz="1200" spc="-5">
                <a:latin typeface="Arial"/>
                <a:cs typeface="Arial"/>
              </a:rPr>
              <a:t>a </a:t>
            </a:r>
            <a:r>
              <a:rPr dirty="0" sz="1200">
                <a:latin typeface="Arial"/>
                <a:cs typeface="Arial"/>
              </a:rPr>
              <a:t>just </a:t>
            </a:r>
            <a:r>
              <a:rPr dirty="0" sz="1200" spc="-5">
                <a:latin typeface="Arial"/>
                <a:cs typeface="Arial"/>
              </a:rPr>
              <a:t>king and converted </a:t>
            </a:r>
            <a:r>
              <a:rPr dirty="0" sz="1200">
                <a:latin typeface="Arial"/>
                <a:cs typeface="Arial"/>
              </a:rPr>
              <a:t>to </a:t>
            </a:r>
            <a:r>
              <a:rPr dirty="0" sz="1200" spc="-5">
                <a:latin typeface="Arial"/>
                <a:cs typeface="Arial"/>
              </a:rPr>
              <a:t>Islam. Cyrus </a:t>
            </a:r>
            <a:r>
              <a:rPr dirty="0" sz="1200">
                <a:latin typeface="Arial"/>
                <a:cs typeface="Arial"/>
              </a:rPr>
              <a:t>of </a:t>
            </a:r>
            <a:r>
              <a:rPr dirty="0" sz="1200" spc="-5">
                <a:latin typeface="Arial"/>
                <a:cs typeface="Arial"/>
              </a:rPr>
              <a:t>Egypt </a:t>
            </a:r>
            <a:r>
              <a:rPr dirty="0" sz="1200" spc="-10">
                <a:latin typeface="Arial"/>
                <a:cs typeface="Arial"/>
              </a:rPr>
              <a:t>was </a:t>
            </a:r>
            <a:r>
              <a:rPr dirty="0" sz="1200" spc="-5">
                <a:latin typeface="Arial"/>
                <a:cs typeface="Arial"/>
              </a:rPr>
              <a:t>good  and converted </a:t>
            </a:r>
            <a:r>
              <a:rPr dirty="0" sz="1200">
                <a:latin typeface="Arial"/>
                <a:cs typeface="Arial"/>
              </a:rPr>
              <a:t>to </a:t>
            </a:r>
            <a:r>
              <a:rPr dirty="0" sz="1200" spc="-5">
                <a:latin typeface="Arial"/>
                <a:cs typeface="Arial"/>
              </a:rPr>
              <a:t>Islam. </a:t>
            </a:r>
            <a:r>
              <a:rPr dirty="0" sz="1200">
                <a:latin typeface="Arial"/>
                <a:cs typeface="Arial"/>
              </a:rPr>
              <a:t>It </a:t>
            </a:r>
            <a:r>
              <a:rPr dirty="0" sz="1200" spc="-10">
                <a:latin typeface="Arial"/>
                <a:cs typeface="Arial"/>
              </a:rPr>
              <a:t>was </a:t>
            </a:r>
            <a:r>
              <a:rPr dirty="0" sz="1200" spc="5">
                <a:latin typeface="Arial"/>
                <a:cs typeface="Arial"/>
              </a:rPr>
              <a:t>from </a:t>
            </a:r>
            <a:r>
              <a:rPr dirty="0" sz="1200" spc="-5">
                <a:latin typeface="Arial"/>
                <a:cs typeface="Arial"/>
              </a:rPr>
              <a:t>there </a:t>
            </a:r>
            <a:r>
              <a:rPr dirty="0" sz="1200">
                <a:latin typeface="Arial"/>
                <a:cs typeface="Arial"/>
              </a:rPr>
              <a:t>that the </a:t>
            </a:r>
            <a:r>
              <a:rPr dirty="0" sz="1200" spc="-5">
                <a:latin typeface="Arial"/>
                <a:cs typeface="Arial"/>
              </a:rPr>
              <a:t>prophet got married </a:t>
            </a:r>
            <a:r>
              <a:rPr dirty="0" sz="1200">
                <a:latin typeface="Arial"/>
                <a:cs typeface="Arial"/>
              </a:rPr>
              <a:t>to </a:t>
            </a:r>
            <a:r>
              <a:rPr dirty="0" sz="1200" spc="-5">
                <a:latin typeface="Arial"/>
                <a:cs typeface="Arial"/>
              </a:rPr>
              <a:t>Hazrat Maria  Kibtiyya (r.a) and had 1 </a:t>
            </a:r>
            <a:r>
              <a:rPr dirty="0" sz="1200">
                <a:latin typeface="Arial"/>
                <a:cs typeface="Arial"/>
              </a:rPr>
              <a:t>son, </a:t>
            </a:r>
            <a:r>
              <a:rPr dirty="0" sz="1200" spc="-5">
                <a:latin typeface="Arial"/>
                <a:cs typeface="Arial"/>
              </a:rPr>
              <a:t>Ibrahim (r.a) and </a:t>
            </a:r>
            <a:r>
              <a:rPr dirty="0" sz="1200">
                <a:latin typeface="Arial"/>
                <a:cs typeface="Arial"/>
              </a:rPr>
              <a:t>the </a:t>
            </a:r>
            <a:r>
              <a:rPr dirty="0" sz="1200" spc="-5">
                <a:latin typeface="Arial"/>
                <a:cs typeface="Arial"/>
              </a:rPr>
              <a:t>rulers of Bahrain and </a:t>
            </a:r>
            <a:r>
              <a:rPr dirty="0" sz="1200">
                <a:latin typeface="Arial"/>
                <a:cs typeface="Arial"/>
              </a:rPr>
              <a:t>Oman </a:t>
            </a:r>
            <a:r>
              <a:rPr dirty="0" sz="1200" spc="-5">
                <a:latin typeface="Arial"/>
                <a:cs typeface="Arial"/>
              </a:rPr>
              <a:t>converted </a:t>
            </a:r>
            <a:r>
              <a:rPr dirty="0" sz="1200">
                <a:latin typeface="Arial"/>
                <a:cs typeface="Arial"/>
              </a:rPr>
              <a:t>to  Islam. There </a:t>
            </a:r>
            <a:r>
              <a:rPr dirty="0" sz="1200" spc="-5">
                <a:latin typeface="Arial"/>
                <a:cs typeface="Arial"/>
              </a:rPr>
              <a:t>were conversions </a:t>
            </a:r>
            <a:r>
              <a:rPr dirty="0" sz="1200">
                <a:latin typeface="Arial"/>
                <a:cs typeface="Arial"/>
              </a:rPr>
              <a:t>to</a:t>
            </a:r>
            <a:r>
              <a:rPr dirty="0" sz="1200" spc="5">
                <a:latin typeface="Arial"/>
                <a:cs typeface="Arial"/>
              </a:rPr>
              <a:t> </a:t>
            </a:r>
            <a:r>
              <a:rPr dirty="0" sz="1200" spc="-5">
                <a:latin typeface="Arial"/>
                <a:cs typeface="Arial"/>
              </a:rPr>
              <a:t>Islam.</a:t>
            </a:r>
            <a:endParaRPr sz="1200">
              <a:latin typeface="Arial"/>
              <a:cs typeface="Arial"/>
            </a:endParaRPr>
          </a:p>
          <a:p>
            <a:pPr>
              <a:lnSpc>
                <a:spcPct val="100000"/>
              </a:lnSpc>
              <a:spcBef>
                <a:spcPts val="35"/>
              </a:spcBef>
            </a:pPr>
            <a:endParaRPr sz="1200">
              <a:latin typeface="Arial"/>
              <a:cs typeface="Arial"/>
            </a:endParaRPr>
          </a:p>
          <a:p>
            <a:pPr algn="just" marL="177800" marR="129539">
              <a:lnSpc>
                <a:spcPts val="1380"/>
              </a:lnSpc>
            </a:pPr>
            <a:r>
              <a:rPr dirty="0" sz="1200">
                <a:latin typeface="Arial"/>
                <a:cs typeface="Arial"/>
              </a:rPr>
              <a:t>When the </a:t>
            </a:r>
            <a:r>
              <a:rPr dirty="0" sz="1200" spc="-5">
                <a:latin typeface="Arial"/>
                <a:cs typeface="Arial"/>
              </a:rPr>
              <a:t>Jews heard about the conversion of certain </a:t>
            </a:r>
            <a:r>
              <a:rPr dirty="0" sz="1200">
                <a:latin typeface="Arial"/>
                <a:cs typeface="Arial"/>
              </a:rPr>
              <a:t>parts </a:t>
            </a:r>
            <a:r>
              <a:rPr dirty="0" sz="1200" spc="-5">
                <a:latin typeface="Arial"/>
                <a:cs typeface="Arial"/>
              </a:rPr>
              <a:t>of the </a:t>
            </a:r>
            <a:r>
              <a:rPr dirty="0" sz="1200" spc="-10">
                <a:latin typeface="Arial"/>
                <a:cs typeface="Arial"/>
              </a:rPr>
              <a:t>world </a:t>
            </a:r>
            <a:r>
              <a:rPr dirty="0" sz="1200" spc="-5">
                <a:latin typeface="Arial"/>
                <a:cs typeface="Arial"/>
              </a:rPr>
              <a:t>and </a:t>
            </a:r>
            <a:r>
              <a:rPr dirty="0" sz="1200">
                <a:latin typeface="Arial"/>
                <a:cs typeface="Arial"/>
              </a:rPr>
              <a:t>the treaty </a:t>
            </a:r>
            <a:r>
              <a:rPr dirty="0" sz="1200" spc="-5">
                <a:latin typeface="Arial"/>
                <a:cs typeface="Arial"/>
              </a:rPr>
              <a:t>with  </a:t>
            </a:r>
            <a:r>
              <a:rPr dirty="0" sz="1200">
                <a:latin typeface="Arial"/>
                <a:cs typeface="Arial"/>
              </a:rPr>
              <a:t>the </a:t>
            </a:r>
            <a:r>
              <a:rPr dirty="0" sz="1200" spc="-5">
                <a:latin typeface="Arial"/>
                <a:cs typeface="Arial"/>
              </a:rPr>
              <a:t>Quraish, Banu Nadir, Ghatafan tribe and Hypocrites were jealous of </a:t>
            </a:r>
            <a:r>
              <a:rPr dirty="0" sz="1200">
                <a:latin typeface="Arial"/>
                <a:cs typeface="Arial"/>
              </a:rPr>
              <a:t>treaty </a:t>
            </a:r>
            <a:r>
              <a:rPr dirty="0" sz="1200" spc="-5">
                <a:latin typeface="Arial"/>
                <a:cs typeface="Arial"/>
              </a:rPr>
              <a:t>of  Hudaibiyyah. They planned </a:t>
            </a:r>
            <a:r>
              <a:rPr dirty="0" sz="1200">
                <a:latin typeface="Arial"/>
                <a:cs typeface="Arial"/>
              </a:rPr>
              <a:t>to </a:t>
            </a:r>
            <a:r>
              <a:rPr dirty="0" sz="1200" spc="-5">
                <a:latin typeface="Arial"/>
                <a:cs typeface="Arial"/>
              </a:rPr>
              <a:t>attack Madina. </a:t>
            </a:r>
            <a:r>
              <a:rPr dirty="0" sz="1200">
                <a:latin typeface="Arial"/>
                <a:cs typeface="Arial"/>
              </a:rPr>
              <a:t>The </a:t>
            </a:r>
            <a:r>
              <a:rPr dirty="0" sz="1200" spc="-5">
                <a:latin typeface="Arial"/>
                <a:cs typeface="Arial"/>
              </a:rPr>
              <a:t>prophet (s.a.w) marched with 1600 </a:t>
            </a:r>
            <a:r>
              <a:rPr dirty="0" sz="1200" spc="-10">
                <a:latin typeface="Arial"/>
                <a:cs typeface="Arial"/>
              </a:rPr>
              <a:t>men  </a:t>
            </a:r>
            <a:r>
              <a:rPr dirty="0" sz="1200" spc="-5">
                <a:latin typeface="Arial"/>
                <a:cs typeface="Arial"/>
              </a:rPr>
              <a:t>and besieged them </a:t>
            </a:r>
            <a:r>
              <a:rPr dirty="0" sz="1200">
                <a:latin typeface="Arial"/>
                <a:cs typeface="Arial"/>
              </a:rPr>
              <a:t>for </a:t>
            </a:r>
            <a:r>
              <a:rPr dirty="0" sz="1200" spc="-5">
                <a:latin typeface="Arial"/>
                <a:cs typeface="Arial"/>
              </a:rPr>
              <a:t>20 days. </a:t>
            </a:r>
            <a:r>
              <a:rPr dirty="0" sz="1200">
                <a:latin typeface="Arial"/>
                <a:cs typeface="Arial"/>
              </a:rPr>
              <a:t>They </a:t>
            </a:r>
            <a:r>
              <a:rPr dirty="0" sz="1200" spc="-5">
                <a:latin typeface="Arial"/>
                <a:cs typeface="Arial"/>
              </a:rPr>
              <a:t>were allowed </a:t>
            </a:r>
            <a:r>
              <a:rPr dirty="0" sz="1200">
                <a:latin typeface="Arial"/>
                <a:cs typeface="Arial"/>
              </a:rPr>
              <a:t>to stay </a:t>
            </a:r>
            <a:r>
              <a:rPr dirty="0" sz="1200" spc="-5">
                <a:latin typeface="Arial"/>
                <a:cs typeface="Arial"/>
              </a:rPr>
              <a:t>but in </a:t>
            </a:r>
            <a:r>
              <a:rPr dirty="0" sz="1200" spc="10">
                <a:latin typeface="Arial"/>
                <a:cs typeface="Arial"/>
              </a:rPr>
              <a:t>return </a:t>
            </a:r>
            <a:r>
              <a:rPr dirty="0" sz="1200">
                <a:latin typeface="Arial"/>
                <a:cs typeface="Arial"/>
              </a:rPr>
              <a:t>½ of </a:t>
            </a:r>
            <a:r>
              <a:rPr dirty="0" sz="1200" spc="-5">
                <a:latin typeface="Arial"/>
                <a:cs typeface="Arial"/>
              </a:rPr>
              <a:t>produce should  be </a:t>
            </a:r>
            <a:r>
              <a:rPr dirty="0" sz="1200">
                <a:latin typeface="Arial"/>
                <a:cs typeface="Arial"/>
              </a:rPr>
              <a:t>for </a:t>
            </a:r>
            <a:r>
              <a:rPr dirty="0" sz="1200" spc="-5">
                <a:latin typeface="Arial"/>
                <a:cs typeface="Arial"/>
              </a:rPr>
              <a:t>the state. </a:t>
            </a:r>
            <a:r>
              <a:rPr dirty="0" sz="1200">
                <a:latin typeface="Arial"/>
                <a:cs typeface="Arial"/>
              </a:rPr>
              <a:t>It </a:t>
            </a:r>
            <a:r>
              <a:rPr dirty="0" sz="1200" spc="-10">
                <a:latin typeface="Arial"/>
                <a:cs typeface="Arial"/>
              </a:rPr>
              <a:t>was </a:t>
            </a:r>
            <a:r>
              <a:rPr dirty="0" sz="1200" spc="-5">
                <a:latin typeface="Arial"/>
                <a:cs typeface="Arial"/>
              </a:rPr>
              <a:t>known </a:t>
            </a:r>
            <a:r>
              <a:rPr dirty="0" sz="1200">
                <a:latin typeface="Arial"/>
                <a:cs typeface="Arial"/>
              </a:rPr>
              <a:t>as </a:t>
            </a:r>
            <a:r>
              <a:rPr dirty="0" sz="1200" spc="-5">
                <a:latin typeface="Arial"/>
                <a:cs typeface="Arial"/>
              </a:rPr>
              <a:t>the Khaybar</a:t>
            </a:r>
            <a:r>
              <a:rPr dirty="0" sz="1200" spc="20">
                <a:latin typeface="Arial"/>
                <a:cs typeface="Arial"/>
              </a:rPr>
              <a:t> </a:t>
            </a:r>
            <a:r>
              <a:rPr dirty="0" sz="1200" spc="-5">
                <a:latin typeface="Arial"/>
                <a:cs typeface="Arial"/>
              </a:rPr>
              <a:t>Expedition.</a:t>
            </a:r>
            <a:endParaRPr sz="1200">
              <a:latin typeface="Arial"/>
              <a:cs typeface="Arial"/>
            </a:endParaRPr>
          </a:p>
          <a:p>
            <a:pPr>
              <a:lnSpc>
                <a:spcPct val="100000"/>
              </a:lnSpc>
              <a:spcBef>
                <a:spcPts val="20"/>
              </a:spcBef>
            </a:pPr>
            <a:endParaRPr sz="1150">
              <a:latin typeface="Arial"/>
              <a:cs typeface="Arial"/>
            </a:endParaRPr>
          </a:p>
          <a:p>
            <a:pPr algn="just" marL="177800" marR="128270">
              <a:lnSpc>
                <a:spcPct val="95900"/>
              </a:lnSpc>
            </a:pPr>
            <a:r>
              <a:rPr dirty="0" sz="1200">
                <a:latin typeface="Arial"/>
                <a:cs typeface="Arial"/>
              </a:rPr>
              <a:t>In that </a:t>
            </a:r>
            <a:r>
              <a:rPr dirty="0" sz="1200" spc="-10">
                <a:latin typeface="Arial"/>
                <a:cs typeface="Arial"/>
              </a:rPr>
              <a:t>same </a:t>
            </a:r>
            <a:r>
              <a:rPr dirty="0" sz="1200" spc="-5">
                <a:latin typeface="Arial"/>
                <a:cs typeface="Arial"/>
              </a:rPr>
              <a:t>year, as promised through the treaty </a:t>
            </a:r>
            <a:r>
              <a:rPr dirty="0" sz="1200">
                <a:latin typeface="Arial"/>
                <a:cs typeface="Arial"/>
              </a:rPr>
              <a:t>of </a:t>
            </a:r>
            <a:r>
              <a:rPr dirty="0" sz="1200" spc="-5">
                <a:latin typeface="Arial"/>
                <a:cs typeface="Arial"/>
              </a:rPr>
              <a:t>Hudaibiyyah, </a:t>
            </a:r>
            <a:r>
              <a:rPr dirty="0" sz="1200">
                <a:latin typeface="Arial"/>
                <a:cs typeface="Arial"/>
              </a:rPr>
              <a:t>the </a:t>
            </a:r>
            <a:r>
              <a:rPr dirty="0" sz="1200" spc="-5">
                <a:latin typeface="Arial"/>
                <a:cs typeface="Arial"/>
              </a:rPr>
              <a:t>Muslims were allowed  </a:t>
            </a:r>
            <a:r>
              <a:rPr dirty="0" sz="1200">
                <a:latin typeface="Arial"/>
                <a:cs typeface="Arial"/>
              </a:rPr>
              <a:t>to stay for </a:t>
            </a:r>
            <a:r>
              <a:rPr dirty="0" sz="1200" spc="-5">
                <a:latin typeface="Arial"/>
                <a:cs typeface="Arial"/>
              </a:rPr>
              <a:t>3 days </a:t>
            </a:r>
            <a:r>
              <a:rPr dirty="0" sz="1200">
                <a:latin typeface="Arial"/>
                <a:cs typeface="Arial"/>
              </a:rPr>
              <a:t>for Umrah. They </a:t>
            </a:r>
            <a:r>
              <a:rPr dirty="0" sz="1200" spc="-5">
                <a:latin typeface="Arial"/>
                <a:cs typeface="Arial"/>
              </a:rPr>
              <a:t>entered Macca with no arm and ammunition. Peace and  tranquillity prevailed during their</a:t>
            </a:r>
            <a:r>
              <a:rPr dirty="0" sz="1200" spc="-15">
                <a:latin typeface="Arial"/>
                <a:cs typeface="Arial"/>
              </a:rPr>
              <a:t> </a:t>
            </a:r>
            <a:r>
              <a:rPr dirty="0" sz="1200" spc="-5">
                <a:latin typeface="Arial"/>
                <a:cs typeface="Arial"/>
              </a:rPr>
              <a:t>stay.</a:t>
            </a:r>
            <a:endParaRPr sz="1200">
              <a:latin typeface="Arial"/>
              <a:cs typeface="Arial"/>
            </a:endParaRPr>
          </a:p>
          <a:p>
            <a:pPr>
              <a:lnSpc>
                <a:spcPct val="100000"/>
              </a:lnSpc>
            </a:pPr>
            <a:endParaRPr sz="1150">
              <a:latin typeface="Arial"/>
              <a:cs typeface="Arial"/>
            </a:endParaRPr>
          </a:p>
          <a:p>
            <a:pPr marL="177800">
              <a:lnSpc>
                <a:spcPct val="100000"/>
              </a:lnSpc>
            </a:pPr>
            <a:r>
              <a:rPr dirty="0" sz="1200" spc="-5" b="1" i="1">
                <a:latin typeface="Arial"/>
                <a:cs typeface="Arial"/>
              </a:rPr>
              <a:t>8</a:t>
            </a:r>
            <a:r>
              <a:rPr dirty="0" baseline="38194" sz="1200" spc="-7" b="1" i="1">
                <a:latin typeface="Arial"/>
                <a:cs typeface="Arial"/>
              </a:rPr>
              <a:t>th </a:t>
            </a:r>
            <a:r>
              <a:rPr dirty="0" sz="1200" spc="-5" b="1" i="1">
                <a:latin typeface="Arial"/>
                <a:cs typeface="Arial"/>
              </a:rPr>
              <a:t>Year of</a:t>
            </a:r>
            <a:r>
              <a:rPr dirty="0" sz="1200" spc="-100" b="1" i="1">
                <a:latin typeface="Arial"/>
                <a:cs typeface="Arial"/>
              </a:rPr>
              <a:t> </a:t>
            </a:r>
            <a:r>
              <a:rPr dirty="0" sz="1200" spc="-5" b="1" i="1">
                <a:latin typeface="Arial"/>
                <a:cs typeface="Arial"/>
              </a:rPr>
              <a:t>Hijrah</a:t>
            </a:r>
            <a:endParaRPr sz="1200">
              <a:latin typeface="Arial"/>
              <a:cs typeface="Arial"/>
            </a:endParaRPr>
          </a:p>
          <a:p>
            <a:pPr marL="177800">
              <a:lnSpc>
                <a:spcPct val="100000"/>
              </a:lnSpc>
              <a:spcBef>
                <a:spcPts val="1320"/>
              </a:spcBef>
            </a:pPr>
            <a:r>
              <a:rPr dirty="0" sz="1200">
                <a:latin typeface="Arial"/>
                <a:cs typeface="Arial"/>
              </a:rPr>
              <a:t>In </a:t>
            </a:r>
            <a:r>
              <a:rPr dirty="0" sz="1200" spc="-5">
                <a:latin typeface="Arial"/>
                <a:cs typeface="Arial"/>
              </a:rPr>
              <a:t>the </a:t>
            </a:r>
            <a:r>
              <a:rPr dirty="0" sz="1200">
                <a:latin typeface="Arial"/>
                <a:cs typeface="Arial"/>
              </a:rPr>
              <a:t>8</a:t>
            </a:r>
            <a:r>
              <a:rPr dirty="0" baseline="38194" sz="1200">
                <a:latin typeface="Arial"/>
                <a:cs typeface="Arial"/>
              </a:rPr>
              <a:t>th </a:t>
            </a:r>
            <a:r>
              <a:rPr dirty="0" sz="1200" spc="-5">
                <a:latin typeface="Arial"/>
                <a:cs typeface="Arial"/>
              </a:rPr>
              <a:t>year there </a:t>
            </a:r>
            <a:r>
              <a:rPr dirty="0" sz="1200" spc="-10">
                <a:latin typeface="Arial"/>
                <a:cs typeface="Arial"/>
              </a:rPr>
              <a:t>was </a:t>
            </a:r>
            <a:r>
              <a:rPr dirty="0" sz="1200" spc="-5">
                <a:latin typeface="Arial"/>
                <a:cs typeface="Arial"/>
              </a:rPr>
              <a:t>the Conquest of</a:t>
            </a:r>
            <a:r>
              <a:rPr dirty="0" sz="1200" spc="-60">
                <a:latin typeface="Arial"/>
                <a:cs typeface="Arial"/>
              </a:rPr>
              <a:t> </a:t>
            </a:r>
            <a:r>
              <a:rPr dirty="0" sz="1200">
                <a:latin typeface="Arial"/>
                <a:cs typeface="Arial"/>
              </a:rPr>
              <a:t>Macca.</a:t>
            </a:r>
            <a:endParaRPr sz="1200">
              <a:latin typeface="Arial"/>
              <a:cs typeface="Arial"/>
            </a:endParaRPr>
          </a:p>
          <a:p>
            <a:pPr marL="177800">
              <a:lnSpc>
                <a:spcPct val="100000"/>
              </a:lnSpc>
              <a:spcBef>
                <a:spcPts val="1320"/>
              </a:spcBef>
            </a:pPr>
            <a:r>
              <a:rPr dirty="0" u="heavy" sz="1200" spc="-5" b="1" i="1">
                <a:uFill>
                  <a:solidFill>
                    <a:srgbClr val="000000"/>
                  </a:solidFill>
                </a:uFill>
                <a:latin typeface="Arial"/>
                <a:cs typeface="Arial"/>
              </a:rPr>
              <a:t>The following aspects were the main reasons leading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the</a:t>
            </a:r>
            <a:r>
              <a:rPr dirty="0" u="heavy" sz="1200" spc="50" b="1" i="1">
                <a:uFill>
                  <a:solidFill>
                    <a:srgbClr val="000000"/>
                  </a:solidFill>
                </a:uFill>
                <a:latin typeface="Arial"/>
                <a:cs typeface="Arial"/>
              </a:rPr>
              <a:t> </a:t>
            </a:r>
            <a:r>
              <a:rPr dirty="0" u="heavy" sz="1200" b="1" i="1">
                <a:uFill>
                  <a:solidFill>
                    <a:srgbClr val="000000"/>
                  </a:solidFill>
                </a:uFill>
                <a:latin typeface="Arial"/>
                <a:cs typeface="Arial"/>
              </a:rPr>
              <a:t>Conquest:</a:t>
            </a:r>
            <a:endParaRPr sz="1200">
              <a:latin typeface="Arial"/>
              <a:cs typeface="Arial"/>
            </a:endParaRPr>
          </a:p>
          <a:p>
            <a:pPr>
              <a:lnSpc>
                <a:spcPct val="100000"/>
              </a:lnSpc>
              <a:spcBef>
                <a:spcPts val="55"/>
              </a:spcBef>
            </a:pPr>
            <a:endParaRPr sz="1100">
              <a:latin typeface="Arial"/>
              <a:cs typeface="Arial"/>
            </a:endParaRPr>
          </a:p>
          <a:p>
            <a:pPr marL="635000" indent="-229235">
              <a:lnSpc>
                <a:spcPts val="1405"/>
              </a:lnSpc>
              <a:buAutoNum type="arabicPeriod"/>
              <a:tabLst>
                <a:tab pos="635635" algn="l"/>
              </a:tabLst>
            </a:pPr>
            <a:r>
              <a:rPr dirty="0" sz="1200" spc="-5">
                <a:latin typeface="Arial"/>
                <a:cs typeface="Arial"/>
              </a:rPr>
              <a:t>The breach of the Hudaibiyyah</a:t>
            </a:r>
            <a:r>
              <a:rPr dirty="0" sz="1200" spc="15">
                <a:latin typeface="Arial"/>
                <a:cs typeface="Arial"/>
              </a:rPr>
              <a:t> </a:t>
            </a:r>
            <a:r>
              <a:rPr dirty="0" sz="1200">
                <a:latin typeface="Arial"/>
                <a:cs typeface="Arial"/>
              </a:rPr>
              <a:t>pact</a:t>
            </a:r>
            <a:endParaRPr sz="1200">
              <a:latin typeface="Arial"/>
              <a:cs typeface="Arial"/>
            </a:endParaRPr>
          </a:p>
          <a:p>
            <a:pPr marL="635000" indent="-229235">
              <a:lnSpc>
                <a:spcPts val="1375"/>
              </a:lnSpc>
              <a:buAutoNum type="arabicPeriod"/>
              <a:tabLst>
                <a:tab pos="635635" algn="l"/>
              </a:tabLst>
            </a:pPr>
            <a:r>
              <a:rPr dirty="0" sz="1200" spc="-5">
                <a:latin typeface="Arial"/>
                <a:cs typeface="Arial"/>
              </a:rPr>
              <a:t>The denial of the </a:t>
            </a:r>
            <a:r>
              <a:rPr dirty="0" sz="1200">
                <a:latin typeface="Arial"/>
                <a:cs typeface="Arial"/>
              </a:rPr>
              <a:t>best </a:t>
            </a:r>
            <a:r>
              <a:rPr dirty="0" sz="1200" spc="-5">
                <a:latin typeface="Arial"/>
                <a:cs typeface="Arial"/>
              </a:rPr>
              <a:t>prophet‘s</a:t>
            </a:r>
            <a:r>
              <a:rPr dirty="0" sz="1200" spc="10">
                <a:latin typeface="Arial"/>
                <a:cs typeface="Arial"/>
              </a:rPr>
              <a:t> </a:t>
            </a:r>
            <a:r>
              <a:rPr dirty="0" sz="1200" spc="-5">
                <a:latin typeface="Arial"/>
                <a:cs typeface="Arial"/>
              </a:rPr>
              <a:t>proposal</a:t>
            </a:r>
            <a:endParaRPr sz="1200">
              <a:latin typeface="Arial"/>
              <a:cs typeface="Arial"/>
            </a:endParaRPr>
          </a:p>
          <a:p>
            <a:pPr marL="635000" indent="-229235">
              <a:lnSpc>
                <a:spcPts val="1380"/>
              </a:lnSpc>
              <a:buAutoNum type="arabicPeriod"/>
              <a:tabLst>
                <a:tab pos="635635" algn="l"/>
              </a:tabLst>
            </a:pPr>
            <a:r>
              <a:rPr dirty="0" sz="1200" spc="-5">
                <a:latin typeface="Arial"/>
                <a:cs typeface="Arial"/>
              </a:rPr>
              <a:t>The desire of Muslims </a:t>
            </a:r>
            <a:r>
              <a:rPr dirty="0" sz="1200">
                <a:latin typeface="Arial"/>
                <a:cs typeface="Arial"/>
              </a:rPr>
              <a:t>to </a:t>
            </a:r>
            <a:r>
              <a:rPr dirty="0" sz="1200" spc="-5">
                <a:latin typeface="Arial"/>
                <a:cs typeface="Arial"/>
              </a:rPr>
              <a:t>take over</a:t>
            </a:r>
            <a:r>
              <a:rPr dirty="0" sz="1200" spc="20">
                <a:latin typeface="Arial"/>
                <a:cs typeface="Arial"/>
              </a:rPr>
              <a:t> </a:t>
            </a:r>
            <a:r>
              <a:rPr dirty="0" sz="1200" spc="-5">
                <a:latin typeface="Arial"/>
                <a:cs typeface="Arial"/>
              </a:rPr>
              <a:t>Macca</a:t>
            </a:r>
            <a:endParaRPr sz="1200">
              <a:latin typeface="Arial"/>
              <a:cs typeface="Arial"/>
            </a:endParaRPr>
          </a:p>
          <a:p>
            <a:pPr marL="635000" indent="-229235">
              <a:lnSpc>
                <a:spcPts val="1380"/>
              </a:lnSpc>
              <a:buAutoNum type="arabicPeriod"/>
              <a:tabLst>
                <a:tab pos="635635" algn="l"/>
              </a:tabLst>
            </a:pPr>
            <a:r>
              <a:rPr dirty="0" sz="1200" spc="-5">
                <a:latin typeface="Arial"/>
                <a:cs typeface="Arial"/>
              </a:rPr>
              <a:t>The desire of Muslims </a:t>
            </a:r>
            <a:r>
              <a:rPr dirty="0" sz="1200">
                <a:latin typeface="Arial"/>
                <a:cs typeface="Arial"/>
              </a:rPr>
              <a:t>to </a:t>
            </a:r>
            <a:r>
              <a:rPr dirty="0" sz="1200" spc="-5">
                <a:latin typeface="Arial"/>
                <a:cs typeface="Arial"/>
              </a:rPr>
              <a:t>visit Macca and their</a:t>
            </a:r>
            <a:r>
              <a:rPr dirty="0" sz="1200" spc="25">
                <a:latin typeface="Arial"/>
                <a:cs typeface="Arial"/>
              </a:rPr>
              <a:t> </a:t>
            </a:r>
            <a:r>
              <a:rPr dirty="0" sz="1200" spc="-5">
                <a:latin typeface="Arial"/>
                <a:cs typeface="Arial"/>
              </a:rPr>
              <a:t>relatives</a:t>
            </a:r>
            <a:endParaRPr sz="1200">
              <a:latin typeface="Arial"/>
              <a:cs typeface="Arial"/>
            </a:endParaRPr>
          </a:p>
          <a:p>
            <a:pPr marL="635000" indent="-229235">
              <a:lnSpc>
                <a:spcPts val="1380"/>
              </a:lnSpc>
              <a:buAutoNum type="arabicPeriod"/>
              <a:tabLst>
                <a:tab pos="635635" algn="l"/>
              </a:tabLst>
            </a:pPr>
            <a:r>
              <a:rPr dirty="0" sz="1200" spc="-5">
                <a:latin typeface="Arial"/>
                <a:cs typeface="Arial"/>
              </a:rPr>
              <a:t>The idea to </a:t>
            </a:r>
            <a:r>
              <a:rPr dirty="0" sz="1200">
                <a:latin typeface="Arial"/>
                <a:cs typeface="Arial"/>
              </a:rPr>
              <a:t>finish </a:t>
            </a:r>
            <a:r>
              <a:rPr dirty="0" sz="1200" spc="-5">
                <a:latin typeface="Arial"/>
                <a:cs typeface="Arial"/>
              </a:rPr>
              <a:t>off with the Quraish once </a:t>
            </a:r>
            <a:r>
              <a:rPr dirty="0" sz="1200">
                <a:latin typeface="Arial"/>
                <a:cs typeface="Arial"/>
              </a:rPr>
              <a:t>for</a:t>
            </a:r>
            <a:r>
              <a:rPr dirty="0" sz="1200" spc="-5">
                <a:latin typeface="Arial"/>
                <a:cs typeface="Arial"/>
              </a:rPr>
              <a:t> </a:t>
            </a:r>
            <a:r>
              <a:rPr dirty="0" sz="1200">
                <a:latin typeface="Arial"/>
                <a:cs typeface="Arial"/>
              </a:rPr>
              <a:t>all</a:t>
            </a:r>
            <a:endParaRPr sz="1200">
              <a:latin typeface="Arial"/>
              <a:cs typeface="Arial"/>
            </a:endParaRPr>
          </a:p>
          <a:p>
            <a:pPr marL="635000" indent="-229235">
              <a:lnSpc>
                <a:spcPts val="1380"/>
              </a:lnSpc>
              <a:buAutoNum type="arabicPeriod"/>
              <a:tabLst>
                <a:tab pos="635635" algn="l"/>
              </a:tabLst>
            </a:pPr>
            <a:r>
              <a:rPr dirty="0" sz="1200" spc="-5">
                <a:latin typeface="Arial"/>
                <a:cs typeface="Arial"/>
              </a:rPr>
              <a:t>The possibility </a:t>
            </a:r>
            <a:r>
              <a:rPr dirty="0" sz="1200">
                <a:latin typeface="Arial"/>
                <a:cs typeface="Arial"/>
              </a:rPr>
              <a:t>to </a:t>
            </a:r>
            <a:r>
              <a:rPr dirty="0" sz="1200" spc="-5">
                <a:latin typeface="Arial"/>
                <a:cs typeface="Arial"/>
              </a:rPr>
              <a:t>spread Islam</a:t>
            </a:r>
            <a:endParaRPr sz="1200">
              <a:latin typeface="Arial"/>
              <a:cs typeface="Arial"/>
            </a:endParaRPr>
          </a:p>
          <a:p>
            <a:pPr marL="635000" indent="-229235">
              <a:lnSpc>
                <a:spcPts val="1380"/>
              </a:lnSpc>
              <a:buAutoNum type="arabicPeriod"/>
              <a:tabLst>
                <a:tab pos="635635" algn="l"/>
              </a:tabLst>
            </a:pPr>
            <a:r>
              <a:rPr dirty="0" sz="1200" spc="-5">
                <a:latin typeface="Arial"/>
                <a:cs typeface="Arial"/>
              </a:rPr>
              <a:t>The increase in adherents of</a:t>
            </a:r>
            <a:r>
              <a:rPr dirty="0" sz="1200" spc="10">
                <a:latin typeface="Arial"/>
                <a:cs typeface="Arial"/>
              </a:rPr>
              <a:t> </a:t>
            </a:r>
            <a:r>
              <a:rPr dirty="0" sz="1200" spc="-5">
                <a:latin typeface="Arial"/>
                <a:cs typeface="Arial"/>
              </a:rPr>
              <a:t>Islam</a:t>
            </a:r>
            <a:endParaRPr sz="1200">
              <a:latin typeface="Arial"/>
              <a:cs typeface="Arial"/>
            </a:endParaRPr>
          </a:p>
          <a:p>
            <a:pPr marL="635000" indent="-229235">
              <a:lnSpc>
                <a:spcPts val="1380"/>
              </a:lnSpc>
              <a:buAutoNum type="arabicPeriod"/>
              <a:tabLst>
                <a:tab pos="635635" algn="l"/>
              </a:tabLst>
            </a:pPr>
            <a:r>
              <a:rPr dirty="0" sz="1200" spc="-5">
                <a:latin typeface="Arial"/>
                <a:cs typeface="Arial"/>
              </a:rPr>
              <a:t>The promise of victory in </a:t>
            </a:r>
            <a:r>
              <a:rPr dirty="0" sz="1200">
                <a:latin typeface="Arial"/>
                <a:cs typeface="Arial"/>
              </a:rPr>
              <a:t>surah </a:t>
            </a:r>
            <a:r>
              <a:rPr dirty="0" sz="1200" spc="-5">
                <a:latin typeface="Arial"/>
                <a:cs typeface="Arial"/>
              </a:rPr>
              <a:t>al</a:t>
            </a:r>
            <a:r>
              <a:rPr dirty="0" sz="1200" spc="15">
                <a:latin typeface="Arial"/>
                <a:cs typeface="Arial"/>
              </a:rPr>
              <a:t> </a:t>
            </a:r>
            <a:r>
              <a:rPr dirty="0" sz="1200" spc="-5">
                <a:latin typeface="Arial"/>
                <a:cs typeface="Arial"/>
              </a:rPr>
              <a:t>Fath</a:t>
            </a:r>
            <a:endParaRPr sz="1200">
              <a:latin typeface="Arial"/>
              <a:cs typeface="Arial"/>
            </a:endParaRPr>
          </a:p>
          <a:p>
            <a:pPr marL="635000" indent="-229235">
              <a:lnSpc>
                <a:spcPts val="1380"/>
              </a:lnSpc>
              <a:buAutoNum type="arabicPeriod"/>
              <a:tabLst>
                <a:tab pos="635635" algn="l"/>
              </a:tabLst>
            </a:pPr>
            <a:r>
              <a:rPr dirty="0" sz="1200">
                <a:latin typeface="Arial"/>
                <a:cs typeface="Arial"/>
              </a:rPr>
              <a:t>The </a:t>
            </a:r>
            <a:r>
              <a:rPr dirty="0" sz="1200" spc="-5">
                <a:latin typeface="Arial"/>
                <a:cs typeface="Arial"/>
              </a:rPr>
              <a:t>possibility </a:t>
            </a:r>
            <a:r>
              <a:rPr dirty="0" sz="1200">
                <a:latin typeface="Arial"/>
                <a:cs typeface="Arial"/>
              </a:rPr>
              <a:t>to clean up </a:t>
            </a:r>
            <a:r>
              <a:rPr dirty="0" sz="1200" spc="-5">
                <a:latin typeface="Arial"/>
                <a:cs typeface="Arial"/>
              </a:rPr>
              <a:t>the Ka‘bah </a:t>
            </a:r>
            <a:r>
              <a:rPr dirty="0" sz="1200">
                <a:latin typeface="Arial"/>
                <a:cs typeface="Arial"/>
              </a:rPr>
              <a:t>from </a:t>
            </a:r>
            <a:r>
              <a:rPr dirty="0" sz="1200" spc="-5">
                <a:latin typeface="Arial"/>
                <a:cs typeface="Arial"/>
              </a:rPr>
              <a:t>all imperfections and</a:t>
            </a:r>
            <a:r>
              <a:rPr dirty="0" sz="1200" spc="-25">
                <a:latin typeface="Arial"/>
                <a:cs typeface="Arial"/>
              </a:rPr>
              <a:t> </a:t>
            </a:r>
            <a:r>
              <a:rPr dirty="0" sz="1200" spc="-5">
                <a:latin typeface="Arial"/>
                <a:cs typeface="Arial"/>
              </a:rPr>
              <a:t>Shirk</a:t>
            </a:r>
            <a:endParaRPr sz="1200">
              <a:latin typeface="Arial"/>
              <a:cs typeface="Arial"/>
            </a:endParaRPr>
          </a:p>
          <a:p>
            <a:pPr marL="635000" indent="-229235">
              <a:lnSpc>
                <a:spcPts val="1380"/>
              </a:lnSpc>
              <a:buAutoNum type="arabicPeriod"/>
              <a:tabLst>
                <a:tab pos="635635" algn="l"/>
              </a:tabLst>
            </a:pPr>
            <a:r>
              <a:rPr dirty="0" sz="1200" spc="-5">
                <a:latin typeface="Arial"/>
                <a:cs typeface="Arial"/>
              </a:rPr>
              <a:t>The growing </a:t>
            </a:r>
            <a:r>
              <a:rPr dirty="0" sz="1200">
                <a:latin typeface="Arial"/>
                <a:cs typeface="Arial"/>
              </a:rPr>
              <a:t>enmity against </a:t>
            </a:r>
            <a:r>
              <a:rPr dirty="0" sz="1200" spc="-5">
                <a:latin typeface="Arial"/>
                <a:cs typeface="Arial"/>
              </a:rPr>
              <a:t>the</a:t>
            </a:r>
            <a:r>
              <a:rPr dirty="0" sz="1200" spc="-15">
                <a:latin typeface="Arial"/>
                <a:cs typeface="Arial"/>
              </a:rPr>
              <a:t> </a:t>
            </a:r>
            <a:r>
              <a:rPr dirty="0" sz="1200" spc="-5">
                <a:latin typeface="Arial"/>
                <a:cs typeface="Arial"/>
              </a:rPr>
              <a:t>Muslims</a:t>
            </a:r>
            <a:endParaRPr sz="1200">
              <a:latin typeface="Arial"/>
              <a:cs typeface="Arial"/>
            </a:endParaRPr>
          </a:p>
          <a:p>
            <a:pPr marL="635000" indent="-229235">
              <a:lnSpc>
                <a:spcPts val="1410"/>
              </a:lnSpc>
              <a:buAutoNum type="arabicPeriod"/>
              <a:tabLst>
                <a:tab pos="635635" algn="l"/>
              </a:tabLst>
            </a:pPr>
            <a:r>
              <a:rPr dirty="0" sz="1200" spc="-5">
                <a:latin typeface="Arial"/>
                <a:cs typeface="Arial"/>
              </a:rPr>
              <a:t>The chance </a:t>
            </a:r>
            <a:r>
              <a:rPr dirty="0" sz="1200">
                <a:latin typeface="Arial"/>
                <a:cs typeface="Arial"/>
              </a:rPr>
              <a:t>to </a:t>
            </a:r>
            <a:r>
              <a:rPr dirty="0" sz="1200" spc="-5">
                <a:latin typeface="Arial"/>
                <a:cs typeface="Arial"/>
              </a:rPr>
              <a:t>ascertain their supremacy of Muslims over the</a:t>
            </a:r>
            <a:r>
              <a:rPr dirty="0" sz="1200" spc="15">
                <a:latin typeface="Arial"/>
                <a:cs typeface="Arial"/>
              </a:rPr>
              <a:t> </a:t>
            </a:r>
            <a:r>
              <a:rPr dirty="0" sz="1200" spc="-5">
                <a:latin typeface="Arial"/>
                <a:cs typeface="Arial"/>
              </a:rPr>
              <a:t>Quraish.</a:t>
            </a:r>
            <a:endParaRPr sz="1200">
              <a:latin typeface="Arial"/>
              <a:cs typeface="Arial"/>
            </a:endParaRPr>
          </a:p>
          <a:p>
            <a:pPr>
              <a:lnSpc>
                <a:spcPct val="100000"/>
              </a:lnSpc>
              <a:spcBef>
                <a:spcPts val="35"/>
              </a:spcBef>
            </a:pPr>
            <a:endParaRPr sz="1200">
              <a:latin typeface="Arial"/>
              <a:cs typeface="Arial"/>
            </a:endParaRPr>
          </a:p>
          <a:p>
            <a:pPr algn="just" marL="177800" marR="129539">
              <a:lnSpc>
                <a:spcPts val="1380"/>
              </a:lnSpc>
            </a:pPr>
            <a:r>
              <a:rPr dirty="0" sz="1200">
                <a:latin typeface="Arial"/>
                <a:cs typeface="Arial"/>
              </a:rPr>
              <a:t>When </a:t>
            </a:r>
            <a:r>
              <a:rPr dirty="0" sz="1200" spc="-5">
                <a:latin typeface="Arial"/>
                <a:cs typeface="Arial"/>
              </a:rPr>
              <a:t>there was </a:t>
            </a:r>
            <a:r>
              <a:rPr dirty="0" sz="1200">
                <a:latin typeface="Arial"/>
                <a:cs typeface="Arial"/>
              </a:rPr>
              <a:t>the treaty </a:t>
            </a:r>
            <a:r>
              <a:rPr dirty="0" sz="1200" spc="-5">
                <a:latin typeface="Arial"/>
                <a:cs typeface="Arial"/>
              </a:rPr>
              <a:t>of Hudaibiyyah, </a:t>
            </a:r>
            <a:r>
              <a:rPr dirty="0" sz="1200">
                <a:latin typeface="Arial"/>
                <a:cs typeface="Arial"/>
              </a:rPr>
              <a:t>Banu </a:t>
            </a:r>
            <a:r>
              <a:rPr dirty="0" sz="1200" spc="-5">
                <a:latin typeface="Arial"/>
                <a:cs typeface="Arial"/>
              </a:rPr>
              <a:t>Khuza‘a joined </a:t>
            </a:r>
            <a:r>
              <a:rPr dirty="0" sz="1200" spc="5">
                <a:latin typeface="Arial"/>
                <a:cs typeface="Arial"/>
              </a:rPr>
              <a:t>the </a:t>
            </a:r>
            <a:r>
              <a:rPr dirty="0" sz="1200" spc="-5">
                <a:latin typeface="Arial"/>
                <a:cs typeface="Arial"/>
              </a:rPr>
              <a:t>Muslims and Banu Bakr  joined the </a:t>
            </a:r>
            <a:r>
              <a:rPr dirty="0" sz="1200">
                <a:latin typeface="Arial"/>
                <a:cs typeface="Arial"/>
              </a:rPr>
              <a:t>Quraish. </a:t>
            </a:r>
            <a:r>
              <a:rPr dirty="0" sz="1200" spc="-10">
                <a:latin typeface="Arial"/>
                <a:cs typeface="Arial"/>
              </a:rPr>
              <a:t>However, </a:t>
            </a:r>
            <a:r>
              <a:rPr dirty="0" sz="1200">
                <a:latin typeface="Arial"/>
                <a:cs typeface="Arial"/>
              </a:rPr>
              <a:t>Banu Bakr </a:t>
            </a:r>
            <a:r>
              <a:rPr dirty="0" sz="1200" spc="-5">
                <a:latin typeface="Arial"/>
                <a:cs typeface="Arial"/>
              </a:rPr>
              <a:t>killed some men of khuza‘a in </a:t>
            </a:r>
            <a:r>
              <a:rPr dirty="0" sz="1200">
                <a:latin typeface="Arial"/>
                <a:cs typeface="Arial"/>
              </a:rPr>
              <a:t>the sanctuary </a:t>
            </a:r>
            <a:r>
              <a:rPr dirty="0" sz="1200" spc="-5">
                <a:latin typeface="Arial"/>
                <a:cs typeface="Arial"/>
              </a:rPr>
              <a:t>of  Ka‘bah. It was thus </a:t>
            </a:r>
            <a:r>
              <a:rPr dirty="0" sz="1200">
                <a:latin typeface="Arial"/>
                <a:cs typeface="Arial"/>
              </a:rPr>
              <a:t>a </a:t>
            </a:r>
            <a:r>
              <a:rPr dirty="0" sz="1200" spc="-5">
                <a:latin typeface="Arial"/>
                <a:cs typeface="Arial"/>
              </a:rPr>
              <a:t>violation of treaty. The remaining men of Banu Khuza‘a met the  Prophet and narrated what did happen. As a consequence, the prophet (s.a.w) sent 3  proposals</a:t>
            </a:r>
            <a:r>
              <a:rPr dirty="0" sz="1200" spc="190">
                <a:latin typeface="Arial"/>
                <a:cs typeface="Arial"/>
              </a:rPr>
              <a:t> </a:t>
            </a:r>
            <a:r>
              <a:rPr dirty="0" sz="1200">
                <a:latin typeface="Arial"/>
                <a:cs typeface="Arial"/>
              </a:rPr>
              <a:t>to</a:t>
            </a:r>
            <a:r>
              <a:rPr dirty="0" sz="1200" spc="190">
                <a:latin typeface="Arial"/>
                <a:cs typeface="Arial"/>
              </a:rPr>
              <a:t> </a:t>
            </a:r>
            <a:r>
              <a:rPr dirty="0" sz="1200" spc="-5">
                <a:latin typeface="Arial"/>
                <a:cs typeface="Arial"/>
              </a:rPr>
              <a:t>the</a:t>
            </a:r>
            <a:r>
              <a:rPr dirty="0" sz="1200" spc="195">
                <a:latin typeface="Arial"/>
                <a:cs typeface="Arial"/>
              </a:rPr>
              <a:t> </a:t>
            </a:r>
            <a:r>
              <a:rPr dirty="0" sz="1200" spc="-5">
                <a:latin typeface="Arial"/>
                <a:cs typeface="Arial"/>
              </a:rPr>
              <a:t>Quraish</a:t>
            </a:r>
            <a:r>
              <a:rPr dirty="0" sz="1200" spc="195">
                <a:latin typeface="Arial"/>
                <a:cs typeface="Arial"/>
              </a:rPr>
              <a:t> </a:t>
            </a:r>
            <a:r>
              <a:rPr dirty="0" sz="1200" spc="-5">
                <a:latin typeface="Arial"/>
                <a:cs typeface="Arial"/>
              </a:rPr>
              <a:t>namely</a:t>
            </a:r>
            <a:r>
              <a:rPr dirty="0" sz="1200" spc="180">
                <a:latin typeface="Arial"/>
                <a:cs typeface="Arial"/>
              </a:rPr>
              <a:t> </a:t>
            </a:r>
            <a:r>
              <a:rPr dirty="0" sz="1200" spc="-5">
                <a:latin typeface="Arial"/>
                <a:cs typeface="Arial"/>
              </a:rPr>
              <a:t>either</a:t>
            </a:r>
            <a:r>
              <a:rPr dirty="0" sz="1200" spc="190">
                <a:latin typeface="Arial"/>
                <a:cs typeface="Arial"/>
              </a:rPr>
              <a:t> </a:t>
            </a:r>
            <a:r>
              <a:rPr dirty="0" sz="1200">
                <a:latin typeface="Arial"/>
                <a:cs typeface="Arial"/>
              </a:rPr>
              <a:t>to</a:t>
            </a:r>
            <a:r>
              <a:rPr dirty="0" sz="1200" spc="190">
                <a:latin typeface="Arial"/>
                <a:cs typeface="Arial"/>
              </a:rPr>
              <a:t> </a:t>
            </a:r>
            <a:r>
              <a:rPr dirty="0" sz="1200" spc="-5">
                <a:latin typeface="Arial"/>
                <a:cs typeface="Arial"/>
              </a:rPr>
              <a:t>pay</a:t>
            </a:r>
            <a:r>
              <a:rPr dirty="0" sz="1200" spc="185">
                <a:latin typeface="Arial"/>
                <a:cs typeface="Arial"/>
              </a:rPr>
              <a:t> </a:t>
            </a:r>
            <a:r>
              <a:rPr dirty="0" sz="1200" spc="-5">
                <a:latin typeface="Arial"/>
                <a:cs typeface="Arial"/>
              </a:rPr>
              <a:t>blood</a:t>
            </a:r>
            <a:r>
              <a:rPr dirty="0" sz="1200" spc="185">
                <a:latin typeface="Arial"/>
                <a:cs typeface="Arial"/>
              </a:rPr>
              <a:t> </a:t>
            </a:r>
            <a:r>
              <a:rPr dirty="0" sz="1200" spc="-5">
                <a:latin typeface="Arial"/>
                <a:cs typeface="Arial"/>
              </a:rPr>
              <a:t>money</a:t>
            </a:r>
            <a:r>
              <a:rPr dirty="0" sz="1200" spc="180">
                <a:latin typeface="Arial"/>
                <a:cs typeface="Arial"/>
              </a:rPr>
              <a:t> </a:t>
            </a:r>
            <a:r>
              <a:rPr dirty="0" sz="1200">
                <a:latin typeface="Arial"/>
                <a:cs typeface="Arial"/>
              </a:rPr>
              <a:t>to</a:t>
            </a:r>
            <a:r>
              <a:rPr dirty="0" sz="1200" spc="190">
                <a:latin typeface="Arial"/>
                <a:cs typeface="Arial"/>
              </a:rPr>
              <a:t> </a:t>
            </a:r>
            <a:r>
              <a:rPr dirty="0" sz="1200" spc="-5">
                <a:latin typeface="Arial"/>
                <a:cs typeface="Arial"/>
              </a:rPr>
              <a:t>Banu</a:t>
            </a:r>
            <a:r>
              <a:rPr dirty="0" sz="1200" spc="185">
                <a:latin typeface="Arial"/>
                <a:cs typeface="Arial"/>
              </a:rPr>
              <a:t> </a:t>
            </a:r>
            <a:r>
              <a:rPr dirty="0" sz="1200" spc="-5">
                <a:latin typeface="Arial"/>
                <a:cs typeface="Arial"/>
              </a:rPr>
              <a:t>Khuza‘a</a:t>
            </a:r>
            <a:r>
              <a:rPr dirty="0" sz="1200" spc="195">
                <a:latin typeface="Arial"/>
                <a:cs typeface="Arial"/>
              </a:rPr>
              <a:t> </a:t>
            </a:r>
            <a:r>
              <a:rPr dirty="0" sz="1200">
                <a:latin typeface="Arial"/>
                <a:cs typeface="Arial"/>
              </a:rPr>
              <a:t>or</a:t>
            </a:r>
            <a:r>
              <a:rPr dirty="0" sz="1200" spc="190">
                <a:latin typeface="Arial"/>
                <a:cs typeface="Arial"/>
              </a:rPr>
              <a:t> </a:t>
            </a:r>
            <a:r>
              <a:rPr dirty="0" sz="1200" spc="-5">
                <a:latin typeface="Arial"/>
                <a:cs typeface="Arial"/>
              </a:rPr>
              <a:t>to</a:t>
            </a:r>
            <a:r>
              <a:rPr dirty="0" sz="1200" spc="195">
                <a:latin typeface="Arial"/>
                <a:cs typeface="Arial"/>
              </a:rPr>
              <a:t> </a:t>
            </a:r>
            <a:r>
              <a:rPr dirty="0" sz="1200" spc="-5">
                <a:latin typeface="Arial"/>
                <a:cs typeface="Arial"/>
              </a:rPr>
              <a:t>break</a:t>
            </a:r>
            <a:endParaRPr sz="1200">
              <a:latin typeface="Arial"/>
              <a:cs typeface="Arial"/>
            </a:endParaRPr>
          </a:p>
        </p:txBody>
      </p:sp>
      <p:sp>
        <p:nvSpPr>
          <p:cNvPr id="8" name="object 8"/>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9" name="object 9"/>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21</a:t>
            </a:r>
            <a:endParaRPr sz="120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3" name="object 3"/>
          <p:cNvSpPr/>
          <p:nvPr/>
        </p:nvSpPr>
        <p:spPr>
          <a:xfrm>
            <a:off x="547116" y="7114920"/>
            <a:ext cx="1215390" cy="15240"/>
          </a:xfrm>
          <a:custGeom>
            <a:avLst/>
            <a:gdLst/>
            <a:ahLst/>
            <a:cxnLst/>
            <a:rect l="l" t="t" r="r" b="b"/>
            <a:pathLst>
              <a:path w="1215389" h="15240">
                <a:moveTo>
                  <a:pt x="1214932" y="0"/>
                </a:moveTo>
                <a:lnTo>
                  <a:pt x="0" y="0"/>
                </a:lnTo>
                <a:lnTo>
                  <a:pt x="0" y="15240"/>
                </a:lnTo>
                <a:lnTo>
                  <a:pt x="1214932" y="15240"/>
                </a:lnTo>
                <a:lnTo>
                  <a:pt x="1214932" y="0"/>
                </a:lnTo>
                <a:close/>
              </a:path>
            </a:pathLst>
          </a:custGeom>
          <a:solidFill>
            <a:srgbClr val="000000"/>
          </a:solidFill>
        </p:spPr>
        <p:txBody>
          <a:bodyPr wrap="square" lIns="0" tIns="0" rIns="0" bIns="0" rtlCol="0"/>
          <a:lstStyle/>
          <a:p/>
        </p:txBody>
      </p:sp>
      <p:sp>
        <p:nvSpPr>
          <p:cNvPr id="4" name="object 4"/>
          <p:cNvSpPr/>
          <p:nvPr/>
        </p:nvSpPr>
        <p:spPr>
          <a:xfrm>
            <a:off x="547116" y="9043161"/>
            <a:ext cx="1299210" cy="15240"/>
          </a:xfrm>
          <a:custGeom>
            <a:avLst/>
            <a:gdLst/>
            <a:ahLst/>
            <a:cxnLst/>
            <a:rect l="l" t="t" r="r" b="b"/>
            <a:pathLst>
              <a:path w="1299210" h="15240">
                <a:moveTo>
                  <a:pt x="1298702" y="0"/>
                </a:moveTo>
                <a:lnTo>
                  <a:pt x="0" y="0"/>
                </a:lnTo>
                <a:lnTo>
                  <a:pt x="0" y="15240"/>
                </a:lnTo>
                <a:lnTo>
                  <a:pt x="1298702" y="15240"/>
                </a:lnTo>
                <a:lnTo>
                  <a:pt x="1298702" y="0"/>
                </a:lnTo>
                <a:close/>
              </a:path>
            </a:pathLst>
          </a:custGeom>
          <a:solidFill>
            <a:srgbClr val="000000"/>
          </a:solidFill>
        </p:spPr>
        <p:txBody>
          <a:bodyPr wrap="square" lIns="0" tIns="0" rIns="0" bIns="0" rtlCol="0"/>
          <a:lstStyle/>
          <a:p/>
        </p:txBody>
      </p:sp>
      <p:sp>
        <p:nvSpPr>
          <p:cNvPr id="5" name="object 5"/>
          <p:cNvSpPr txBox="1"/>
          <p:nvPr/>
        </p:nvSpPr>
        <p:spPr>
          <a:xfrm>
            <a:off x="394715" y="432307"/>
            <a:ext cx="6588759" cy="9163050"/>
          </a:xfrm>
          <a:prstGeom prst="rect">
            <a:avLst/>
          </a:prstGeom>
        </p:spPr>
        <p:txBody>
          <a:bodyPr wrap="square" lIns="0" tIns="12700" rIns="0" bIns="0" rtlCol="0" vert="horz">
            <a:spAutoFit/>
          </a:bodyPr>
          <a:lstStyle/>
          <a:p>
            <a:pPr algn="just" marL="152400">
              <a:lnSpc>
                <a:spcPct val="100000"/>
              </a:lnSpc>
              <a:spcBef>
                <a:spcPts val="100"/>
              </a:spcBef>
              <a:tabLst>
                <a:tab pos="52031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52400" marR="144780">
              <a:lnSpc>
                <a:spcPts val="1380"/>
              </a:lnSpc>
            </a:pPr>
            <a:r>
              <a:rPr dirty="0" sz="1200" spc="-5">
                <a:latin typeface="Arial"/>
                <a:cs typeface="Arial"/>
              </a:rPr>
              <a:t>alliance with Banu Bakr or </a:t>
            </a:r>
            <a:r>
              <a:rPr dirty="0" sz="1200">
                <a:latin typeface="Arial"/>
                <a:cs typeface="Arial"/>
              </a:rPr>
              <a:t>to </a:t>
            </a:r>
            <a:r>
              <a:rPr dirty="0" sz="1200" spc="-5">
                <a:latin typeface="Arial"/>
                <a:cs typeface="Arial"/>
              </a:rPr>
              <a:t>consider the </a:t>
            </a:r>
            <a:r>
              <a:rPr dirty="0" sz="1200">
                <a:latin typeface="Arial"/>
                <a:cs typeface="Arial"/>
              </a:rPr>
              <a:t>Treaty </a:t>
            </a:r>
            <a:r>
              <a:rPr dirty="0" sz="1200" spc="-5">
                <a:latin typeface="Arial"/>
                <a:cs typeface="Arial"/>
              </a:rPr>
              <a:t>of Hudaibiyyah null and void. In their pride  and arrogance, the Quraish choose the </a:t>
            </a:r>
            <a:r>
              <a:rPr dirty="0" sz="1200" spc="10">
                <a:latin typeface="Arial"/>
                <a:cs typeface="Arial"/>
              </a:rPr>
              <a:t>3</a:t>
            </a:r>
            <a:r>
              <a:rPr dirty="0" baseline="38194" sz="1200" spc="15">
                <a:latin typeface="Arial"/>
                <a:cs typeface="Arial"/>
              </a:rPr>
              <a:t>rd </a:t>
            </a:r>
            <a:r>
              <a:rPr dirty="0" sz="1200" spc="-5">
                <a:latin typeface="Arial"/>
                <a:cs typeface="Arial"/>
              </a:rPr>
              <a:t>one, that is </a:t>
            </a:r>
            <a:r>
              <a:rPr dirty="0" sz="1200">
                <a:latin typeface="Arial"/>
                <a:cs typeface="Arial"/>
              </a:rPr>
              <a:t>to </a:t>
            </a:r>
            <a:r>
              <a:rPr dirty="0" sz="1200" spc="-5">
                <a:latin typeface="Arial"/>
                <a:cs typeface="Arial"/>
              </a:rPr>
              <a:t>declare </a:t>
            </a:r>
            <a:r>
              <a:rPr dirty="0" sz="1200">
                <a:latin typeface="Arial"/>
                <a:cs typeface="Arial"/>
              </a:rPr>
              <a:t>the treaty </a:t>
            </a:r>
            <a:r>
              <a:rPr dirty="0" sz="1200" spc="-5">
                <a:latin typeface="Arial"/>
                <a:cs typeface="Arial"/>
              </a:rPr>
              <a:t>Null and Void.  There </a:t>
            </a:r>
            <a:r>
              <a:rPr dirty="0" sz="1200" spc="-10">
                <a:latin typeface="Arial"/>
                <a:cs typeface="Arial"/>
              </a:rPr>
              <a:t>was </a:t>
            </a:r>
            <a:r>
              <a:rPr dirty="0" sz="1200">
                <a:latin typeface="Arial"/>
                <a:cs typeface="Arial"/>
              </a:rPr>
              <a:t>no </a:t>
            </a:r>
            <a:r>
              <a:rPr dirty="0" sz="1200" spc="-5">
                <a:latin typeface="Arial"/>
                <a:cs typeface="Arial"/>
              </a:rPr>
              <a:t>choice than </a:t>
            </a:r>
            <a:r>
              <a:rPr dirty="0" sz="1200">
                <a:latin typeface="Arial"/>
                <a:cs typeface="Arial"/>
              </a:rPr>
              <a:t>to </a:t>
            </a:r>
            <a:r>
              <a:rPr dirty="0" sz="1200" spc="-5">
                <a:latin typeface="Arial"/>
                <a:cs typeface="Arial"/>
              </a:rPr>
              <a:t>conquer</a:t>
            </a:r>
            <a:r>
              <a:rPr dirty="0" sz="1200" spc="5">
                <a:latin typeface="Arial"/>
                <a:cs typeface="Arial"/>
              </a:rPr>
              <a:t> </a:t>
            </a:r>
            <a:r>
              <a:rPr dirty="0" sz="1200" spc="-5">
                <a:latin typeface="Arial"/>
                <a:cs typeface="Arial"/>
              </a:rPr>
              <a:t>Macca.</a:t>
            </a:r>
            <a:endParaRPr sz="1200">
              <a:latin typeface="Arial"/>
              <a:cs typeface="Arial"/>
            </a:endParaRPr>
          </a:p>
          <a:p>
            <a:pPr>
              <a:lnSpc>
                <a:spcPct val="100000"/>
              </a:lnSpc>
              <a:spcBef>
                <a:spcPts val="25"/>
              </a:spcBef>
            </a:pPr>
            <a:endParaRPr sz="1150">
              <a:latin typeface="Arial"/>
              <a:cs typeface="Arial"/>
            </a:endParaRPr>
          </a:p>
          <a:p>
            <a:pPr algn="just" marL="152400" marR="140970">
              <a:lnSpc>
                <a:spcPct val="95800"/>
              </a:lnSpc>
            </a:pPr>
            <a:r>
              <a:rPr dirty="0" sz="1200" spc="-5">
                <a:latin typeface="Arial"/>
                <a:cs typeface="Arial"/>
              </a:rPr>
              <a:t>The holy Prophet (s.a.w) </a:t>
            </a:r>
            <a:r>
              <a:rPr dirty="0" sz="1200">
                <a:latin typeface="Arial"/>
                <a:cs typeface="Arial"/>
              </a:rPr>
              <a:t>left </a:t>
            </a:r>
            <a:r>
              <a:rPr dirty="0" sz="1200" spc="-5">
                <a:latin typeface="Arial"/>
                <a:cs typeface="Arial"/>
              </a:rPr>
              <a:t>Madinah </a:t>
            </a:r>
            <a:r>
              <a:rPr dirty="0" sz="1200" spc="-10">
                <a:latin typeface="Arial"/>
                <a:cs typeface="Arial"/>
              </a:rPr>
              <a:t>on </a:t>
            </a:r>
            <a:r>
              <a:rPr dirty="0" sz="1200" spc="-5">
                <a:latin typeface="Arial"/>
                <a:cs typeface="Arial"/>
              </a:rPr>
              <a:t>the </a:t>
            </a:r>
            <a:r>
              <a:rPr dirty="0" sz="1200" spc="5">
                <a:latin typeface="Arial"/>
                <a:cs typeface="Arial"/>
              </a:rPr>
              <a:t>10</a:t>
            </a:r>
            <a:r>
              <a:rPr dirty="0" baseline="38194" sz="1200" spc="7">
                <a:latin typeface="Arial"/>
                <a:cs typeface="Arial"/>
              </a:rPr>
              <a:t>th </a:t>
            </a:r>
            <a:r>
              <a:rPr dirty="0" sz="1200" spc="-5">
                <a:latin typeface="Arial"/>
                <a:cs typeface="Arial"/>
              </a:rPr>
              <a:t>Ramadhan) with 10000 men divided into 4  groups of 2500 men. Each one </a:t>
            </a:r>
            <a:r>
              <a:rPr dirty="0" sz="1200" spc="-10">
                <a:latin typeface="Arial"/>
                <a:cs typeface="Arial"/>
              </a:rPr>
              <a:t>was </a:t>
            </a:r>
            <a:r>
              <a:rPr dirty="0" sz="1200">
                <a:latin typeface="Arial"/>
                <a:cs typeface="Arial"/>
              </a:rPr>
              <a:t>to enter the city from </a:t>
            </a:r>
            <a:r>
              <a:rPr dirty="0" sz="1200" spc="-5">
                <a:latin typeface="Arial"/>
                <a:cs typeface="Arial"/>
              </a:rPr>
              <a:t>4 sides. Before entering </a:t>
            </a:r>
            <a:r>
              <a:rPr dirty="0" sz="1200" spc="10">
                <a:latin typeface="Arial"/>
                <a:cs typeface="Arial"/>
              </a:rPr>
              <a:t>the  </a:t>
            </a:r>
            <a:r>
              <a:rPr dirty="0" sz="1200" spc="-5">
                <a:latin typeface="Arial"/>
                <a:cs typeface="Arial"/>
              </a:rPr>
              <a:t>prophet (s.a.w) encamped on the nearby hillside and </a:t>
            </a:r>
            <a:r>
              <a:rPr dirty="0" sz="1200">
                <a:latin typeface="Arial"/>
                <a:cs typeface="Arial"/>
              </a:rPr>
              <a:t>set </a:t>
            </a:r>
            <a:r>
              <a:rPr dirty="0" sz="1200" spc="-5">
                <a:latin typeface="Arial"/>
                <a:cs typeface="Arial"/>
              </a:rPr>
              <a:t>fire camps </a:t>
            </a:r>
            <a:r>
              <a:rPr dirty="0" sz="1200">
                <a:latin typeface="Arial"/>
                <a:cs typeface="Arial"/>
              </a:rPr>
              <a:t>at </a:t>
            </a:r>
            <a:r>
              <a:rPr dirty="0" sz="1200" spc="-5">
                <a:latin typeface="Arial"/>
                <a:cs typeface="Arial"/>
              </a:rPr>
              <a:t>night. The </a:t>
            </a:r>
            <a:r>
              <a:rPr dirty="0" sz="1200">
                <a:latin typeface="Arial"/>
                <a:cs typeface="Arial"/>
              </a:rPr>
              <a:t>idea </a:t>
            </a:r>
            <a:r>
              <a:rPr dirty="0" sz="1200" spc="-10">
                <a:latin typeface="Arial"/>
                <a:cs typeface="Arial"/>
              </a:rPr>
              <a:t>was </a:t>
            </a:r>
            <a:r>
              <a:rPr dirty="0" sz="1200">
                <a:latin typeface="Arial"/>
                <a:cs typeface="Arial"/>
              </a:rPr>
              <a:t>to  </a:t>
            </a:r>
            <a:r>
              <a:rPr dirty="0" sz="1200" spc="-5">
                <a:latin typeface="Arial"/>
                <a:cs typeface="Arial"/>
              </a:rPr>
              <a:t>let </a:t>
            </a:r>
            <a:r>
              <a:rPr dirty="0" sz="1200">
                <a:latin typeface="Arial"/>
                <a:cs typeface="Arial"/>
              </a:rPr>
              <a:t>the Quraish </a:t>
            </a:r>
            <a:r>
              <a:rPr dirty="0" sz="1200" spc="-5">
                <a:latin typeface="Arial"/>
                <a:cs typeface="Arial"/>
              </a:rPr>
              <a:t>judge the army </a:t>
            </a:r>
            <a:r>
              <a:rPr dirty="0" sz="1200">
                <a:latin typeface="Arial"/>
                <a:cs typeface="Arial"/>
              </a:rPr>
              <a:t>of </a:t>
            </a:r>
            <a:r>
              <a:rPr dirty="0" sz="1200" spc="-5">
                <a:latin typeface="Arial"/>
                <a:cs typeface="Arial"/>
              </a:rPr>
              <a:t>the prophet before entering into the battle. Abu Sufyan </a:t>
            </a:r>
            <a:r>
              <a:rPr dirty="0" sz="1200" spc="-10">
                <a:latin typeface="Arial"/>
                <a:cs typeface="Arial"/>
              </a:rPr>
              <a:t>who  </a:t>
            </a:r>
            <a:r>
              <a:rPr dirty="0" sz="1200" spc="-5">
                <a:latin typeface="Arial"/>
                <a:cs typeface="Arial"/>
              </a:rPr>
              <a:t>wanted to spy on the army of the prophet (s.a.w) </a:t>
            </a:r>
            <a:r>
              <a:rPr dirty="0" sz="1200" spc="-10">
                <a:latin typeface="Arial"/>
                <a:cs typeface="Arial"/>
              </a:rPr>
              <a:t>was </a:t>
            </a:r>
            <a:r>
              <a:rPr dirty="0" sz="1200" spc="-5">
                <a:latin typeface="Arial"/>
                <a:cs typeface="Arial"/>
              </a:rPr>
              <a:t>caught and </a:t>
            </a:r>
            <a:r>
              <a:rPr dirty="0" sz="1200" spc="10">
                <a:latin typeface="Arial"/>
                <a:cs typeface="Arial"/>
              </a:rPr>
              <a:t>after </a:t>
            </a:r>
            <a:r>
              <a:rPr dirty="0" sz="1200" spc="-5">
                <a:latin typeface="Arial"/>
                <a:cs typeface="Arial"/>
              </a:rPr>
              <a:t>he had realised how  </a:t>
            </a:r>
            <a:r>
              <a:rPr dirty="0" sz="1200">
                <a:latin typeface="Arial"/>
                <a:cs typeface="Arial"/>
              </a:rPr>
              <a:t>the </a:t>
            </a:r>
            <a:r>
              <a:rPr dirty="0" sz="1200" spc="-5">
                <a:latin typeface="Arial"/>
                <a:cs typeface="Arial"/>
              </a:rPr>
              <a:t>prophet </a:t>
            </a:r>
            <a:r>
              <a:rPr dirty="0" sz="1200" spc="-10">
                <a:latin typeface="Arial"/>
                <a:cs typeface="Arial"/>
              </a:rPr>
              <a:t>was </a:t>
            </a:r>
            <a:r>
              <a:rPr dirty="0" sz="1200">
                <a:latin typeface="Arial"/>
                <a:cs typeface="Arial"/>
              </a:rPr>
              <a:t>considered </a:t>
            </a:r>
            <a:r>
              <a:rPr dirty="0" sz="1200" spc="-5">
                <a:latin typeface="Arial"/>
                <a:cs typeface="Arial"/>
              </a:rPr>
              <a:t>and respected, he converted </a:t>
            </a:r>
            <a:r>
              <a:rPr dirty="0" sz="1200">
                <a:latin typeface="Arial"/>
                <a:cs typeface="Arial"/>
              </a:rPr>
              <a:t>to </a:t>
            </a:r>
            <a:r>
              <a:rPr dirty="0" sz="1200" spc="-5">
                <a:latin typeface="Arial"/>
                <a:cs typeface="Arial"/>
              </a:rPr>
              <a:t>Islam. He went back </a:t>
            </a:r>
            <a:r>
              <a:rPr dirty="0" sz="1200">
                <a:latin typeface="Arial"/>
                <a:cs typeface="Arial"/>
              </a:rPr>
              <a:t>to </a:t>
            </a:r>
            <a:r>
              <a:rPr dirty="0" sz="1200" spc="-5">
                <a:latin typeface="Arial"/>
                <a:cs typeface="Arial"/>
              </a:rPr>
              <a:t>persuade  </a:t>
            </a:r>
            <a:r>
              <a:rPr dirty="0" sz="1200">
                <a:latin typeface="Arial"/>
                <a:cs typeface="Arial"/>
              </a:rPr>
              <a:t>the </a:t>
            </a:r>
            <a:r>
              <a:rPr dirty="0" sz="1200" spc="-5">
                <a:latin typeface="Arial"/>
                <a:cs typeface="Arial"/>
              </a:rPr>
              <a:t>Quraish not </a:t>
            </a:r>
            <a:r>
              <a:rPr dirty="0" sz="1200">
                <a:latin typeface="Arial"/>
                <a:cs typeface="Arial"/>
              </a:rPr>
              <a:t>to </a:t>
            </a:r>
            <a:r>
              <a:rPr dirty="0" sz="1200" spc="-10">
                <a:latin typeface="Arial"/>
                <a:cs typeface="Arial"/>
              </a:rPr>
              <a:t>start </a:t>
            </a:r>
            <a:r>
              <a:rPr dirty="0" sz="1200">
                <a:latin typeface="Arial"/>
                <a:cs typeface="Arial"/>
              </a:rPr>
              <a:t>the fight </a:t>
            </a:r>
            <a:r>
              <a:rPr dirty="0" sz="1200" spc="-5">
                <a:latin typeface="Arial"/>
                <a:cs typeface="Arial"/>
              </a:rPr>
              <a:t>but they refused to listen </a:t>
            </a:r>
            <a:r>
              <a:rPr dirty="0" sz="1200">
                <a:latin typeface="Arial"/>
                <a:cs typeface="Arial"/>
              </a:rPr>
              <a:t>to him. </a:t>
            </a:r>
            <a:r>
              <a:rPr dirty="0" sz="1200" spc="-5">
                <a:latin typeface="Arial"/>
                <a:cs typeface="Arial"/>
              </a:rPr>
              <a:t>The next </a:t>
            </a:r>
            <a:r>
              <a:rPr dirty="0" sz="1200" spc="-10">
                <a:latin typeface="Arial"/>
                <a:cs typeface="Arial"/>
              </a:rPr>
              <a:t>day, </a:t>
            </a:r>
            <a:r>
              <a:rPr dirty="0" sz="1200" spc="-5">
                <a:latin typeface="Arial"/>
                <a:cs typeface="Arial"/>
              </a:rPr>
              <a:t>all 4 sections  entered the </a:t>
            </a:r>
            <a:r>
              <a:rPr dirty="0" sz="1200">
                <a:latin typeface="Arial"/>
                <a:cs typeface="Arial"/>
              </a:rPr>
              <a:t>city </a:t>
            </a:r>
            <a:r>
              <a:rPr dirty="0" sz="1200" spc="-10">
                <a:latin typeface="Arial"/>
                <a:cs typeface="Arial"/>
              </a:rPr>
              <a:t>with </a:t>
            </a:r>
            <a:r>
              <a:rPr dirty="0" sz="1200">
                <a:latin typeface="Arial"/>
                <a:cs typeface="Arial"/>
              </a:rPr>
              <a:t>the </a:t>
            </a:r>
            <a:r>
              <a:rPr dirty="0" sz="1200" spc="-5">
                <a:latin typeface="Arial"/>
                <a:cs typeface="Arial"/>
              </a:rPr>
              <a:t>Talbiyyah </a:t>
            </a:r>
            <a:r>
              <a:rPr dirty="0" sz="1200" spc="-100">
                <a:latin typeface="Arial"/>
                <a:cs typeface="Arial"/>
              </a:rPr>
              <a:t>―Labbaik </a:t>
            </a:r>
            <a:r>
              <a:rPr dirty="0" sz="1200" spc="-5">
                <a:latin typeface="Arial"/>
                <a:cs typeface="Arial"/>
              </a:rPr>
              <a:t>Allahoumma Labbaik </a:t>
            </a:r>
            <a:r>
              <a:rPr dirty="0" sz="1200" spc="-50">
                <a:latin typeface="Arial"/>
                <a:cs typeface="Arial"/>
              </a:rPr>
              <a:t>…‖ </a:t>
            </a:r>
            <a:r>
              <a:rPr dirty="0" sz="1200">
                <a:latin typeface="Arial"/>
                <a:cs typeface="Arial"/>
              </a:rPr>
              <a:t>safe </a:t>
            </a:r>
            <a:r>
              <a:rPr dirty="0" sz="1200" spc="-5">
                <a:latin typeface="Arial"/>
                <a:cs typeface="Arial"/>
              </a:rPr>
              <a:t>except the army  led by Khalid bin </a:t>
            </a:r>
            <a:r>
              <a:rPr dirty="0" sz="1200">
                <a:latin typeface="Arial"/>
                <a:cs typeface="Arial"/>
              </a:rPr>
              <a:t>Walid </a:t>
            </a:r>
            <a:r>
              <a:rPr dirty="0" sz="1200" spc="-5">
                <a:latin typeface="Arial"/>
                <a:cs typeface="Arial"/>
              </a:rPr>
              <a:t>had some problems. Some Quraish wanted to interfere and </a:t>
            </a:r>
            <a:r>
              <a:rPr dirty="0" sz="1200" spc="-10">
                <a:latin typeface="Arial"/>
                <a:cs typeface="Arial"/>
              </a:rPr>
              <a:t>28   </a:t>
            </a:r>
            <a:r>
              <a:rPr dirty="0" sz="1200">
                <a:latin typeface="Arial"/>
                <a:cs typeface="Arial"/>
              </a:rPr>
              <a:t>Quraish </a:t>
            </a:r>
            <a:r>
              <a:rPr dirty="0" sz="1200" spc="-5">
                <a:latin typeface="Arial"/>
                <a:cs typeface="Arial"/>
              </a:rPr>
              <a:t>were killed. Otherwise, </a:t>
            </a:r>
            <a:r>
              <a:rPr dirty="0" sz="1200">
                <a:latin typeface="Arial"/>
                <a:cs typeface="Arial"/>
              </a:rPr>
              <a:t>there </a:t>
            </a:r>
            <a:r>
              <a:rPr dirty="0" sz="1200" spc="-10">
                <a:latin typeface="Arial"/>
                <a:cs typeface="Arial"/>
              </a:rPr>
              <a:t>was </a:t>
            </a:r>
            <a:r>
              <a:rPr dirty="0" sz="1200" spc="-5">
                <a:latin typeface="Arial"/>
                <a:cs typeface="Arial"/>
              </a:rPr>
              <a:t>no problem. </a:t>
            </a:r>
            <a:r>
              <a:rPr dirty="0" sz="1200">
                <a:latin typeface="Arial"/>
                <a:cs typeface="Arial"/>
              </a:rPr>
              <a:t>The </a:t>
            </a:r>
            <a:r>
              <a:rPr dirty="0" sz="1200" spc="-5">
                <a:latin typeface="Arial"/>
                <a:cs typeface="Arial"/>
              </a:rPr>
              <a:t>Muslim army </a:t>
            </a:r>
            <a:r>
              <a:rPr dirty="0" sz="1200" spc="-10">
                <a:latin typeface="Arial"/>
                <a:cs typeface="Arial"/>
              </a:rPr>
              <a:t>was </a:t>
            </a:r>
            <a:r>
              <a:rPr dirty="0" sz="1200" spc="-5">
                <a:latin typeface="Arial"/>
                <a:cs typeface="Arial"/>
              </a:rPr>
              <a:t>a well-  equipped army never seen before. The soldiers </a:t>
            </a:r>
            <a:r>
              <a:rPr dirty="0" sz="1200">
                <a:latin typeface="Arial"/>
                <a:cs typeface="Arial"/>
              </a:rPr>
              <a:t>entered </a:t>
            </a:r>
            <a:r>
              <a:rPr dirty="0" sz="1200" spc="-5">
                <a:latin typeface="Arial"/>
                <a:cs typeface="Arial"/>
              </a:rPr>
              <a:t>Macca without any resistance and  fighting. </a:t>
            </a:r>
            <a:r>
              <a:rPr dirty="0" sz="1200">
                <a:latin typeface="Arial"/>
                <a:cs typeface="Arial"/>
              </a:rPr>
              <a:t>There </a:t>
            </a:r>
            <a:r>
              <a:rPr dirty="0" sz="1200" spc="-10">
                <a:latin typeface="Arial"/>
                <a:cs typeface="Arial"/>
              </a:rPr>
              <a:t>was </a:t>
            </a:r>
            <a:r>
              <a:rPr dirty="0" sz="1200" spc="-5">
                <a:latin typeface="Arial"/>
                <a:cs typeface="Arial"/>
              </a:rPr>
              <a:t>a </a:t>
            </a:r>
            <a:r>
              <a:rPr dirty="0" sz="1200">
                <a:latin typeface="Arial"/>
                <a:cs typeface="Arial"/>
              </a:rPr>
              <a:t>General </a:t>
            </a:r>
            <a:r>
              <a:rPr dirty="0" sz="1200" spc="-5">
                <a:latin typeface="Arial"/>
                <a:cs typeface="Arial"/>
              </a:rPr>
              <a:t>Amnesty and Pardon except </a:t>
            </a:r>
            <a:r>
              <a:rPr dirty="0" sz="1200">
                <a:latin typeface="Arial"/>
                <a:cs typeface="Arial"/>
              </a:rPr>
              <a:t>for </a:t>
            </a:r>
            <a:r>
              <a:rPr dirty="0" sz="1200" spc="-5">
                <a:latin typeface="Arial"/>
                <a:cs typeface="Arial"/>
              </a:rPr>
              <a:t>16 </a:t>
            </a:r>
            <a:r>
              <a:rPr dirty="0" sz="1200">
                <a:latin typeface="Arial"/>
                <a:cs typeface="Arial"/>
              </a:rPr>
              <a:t>bitterest </a:t>
            </a:r>
            <a:r>
              <a:rPr dirty="0" sz="1200" spc="-5">
                <a:latin typeface="Arial"/>
                <a:cs typeface="Arial"/>
              </a:rPr>
              <a:t>enemies of Islam.  The prophet (s.a.w) </a:t>
            </a:r>
            <a:r>
              <a:rPr dirty="0" sz="1200">
                <a:latin typeface="Arial"/>
                <a:cs typeface="Arial"/>
              </a:rPr>
              <a:t>promised </a:t>
            </a:r>
            <a:r>
              <a:rPr dirty="0" sz="1200" spc="-5">
                <a:latin typeface="Arial"/>
                <a:cs typeface="Arial"/>
              </a:rPr>
              <a:t>protection to all those </a:t>
            </a:r>
            <a:r>
              <a:rPr dirty="0" sz="1200" spc="-10">
                <a:latin typeface="Arial"/>
                <a:cs typeface="Arial"/>
              </a:rPr>
              <a:t>who </a:t>
            </a:r>
            <a:r>
              <a:rPr dirty="0" sz="1200" spc="-5">
                <a:latin typeface="Arial"/>
                <a:cs typeface="Arial"/>
              </a:rPr>
              <a:t>would not oppose </a:t>
            </a:r>
            <a:r>
              <a:rPr dirty="0" sz="1200">
                <a:latin typeface="Arial"/>
                <a:cs typeface="Arial"/>
              </a:rPr>
              <a:t>him. </a:t>
            </a:r>
            <a:r>
              <a:rPr dirty="0" sz="1200" spc="-5">
                <a:latin typeface="Arial"/>
                <a:cs typeface="Arial"/>
              </a:rPr>
              <a:t>He then  proceeded to Ka‘bah, performed the </a:t>
            </a:r>
            <a:r>
              <a:rPr dirty="0" sz="1200">
                <a:latin typeface="Arial"/>
                <a:cs typeface="Arial"/>
              </a:rPr>
              <a:t>Tawaaf, </a:t>
            </a:r>
            <a:r>
              <a:rPr dirty="0" sz="1200" spc="-5">
                <a:latin typeface="Arial"/>
                <a:cs typeface="Arial"/>
              </a:rPr>
              <a:t>entered </a:t>
            </a:r>
            <a:r>
              <a:rPr dirty="0" sz="1200">
                <a:latin typeface="Arial"/>
                <a:cs typeface="Arial"/>
              </a:rPr>
              <a:t>the </a:t>
            </a:r>
            <a:r>
              <a:rPr dirty="0" sz="1200" spc="-5">
                <a:latin typeface="Arial"/>
                <a:cs typeface="Arial"/>
              </a:rPr>
              <a:t>Ka‘bah </a:t>
            </a:r>
            <a:r>
              <a:rPr dirty="0" sz="1200">
                <a:latin typeface="Arial"/>
                <a:cs typeface="Arial"/>
              </a:rPr>
              <a:t>and </a:t>
            </a:r>
            <a:r>
              <a:rPr dirty="0" sz="1200" spc="-5">
                <a:latin typeface="Arial"/>
                <a:cs typeface="Arial"/>
              </a:rPr>
              <a:t>broke down all idols.  He </a:t>
            </a:r>
            <a:r>
              <a:rPr dirty="0" sz="1200">
                <a:latin typeface="Arial"/>
                <a:cs typeface="Arial"/>
              </a:rPr>
              <a:t>then </a:t>
            </a:r>
            <a:r>
              <a:rPr dirty="0" sz="1200" spc="-5">
                <a:latin typeface="Arial"/>
                <a:cs typeface="Arial"/>
              </a:rPr>
              <a:t>pardoned 12 out of the 16. </a:t>
            </a:r>
            <a:r>
              <a:rPr dirty="0" sz="1200">
                <a:latin typeface="Arial"/>
                <a:cs typeface="Arial"/>
              </a:rPr>
              <a:t>It </a:t>
            </a:r>
            <a:r>
              <a:rPr dirty="0" sz="1200" spc="-10">
                <a:latin typeface="Arial"/>
                <a:cs typeface="Arial"/>
              </a:rPr>
              <a:t>was </a:t>
            </a:r>
            <a:r>
              <a:rPr dirty="0" sz="1200">
                <a:latin typeface="Arial"/>
                <a:cs typeface="Arial"/>
              </a:rPr>
              <a:t>time for </a:t>
            </a:r>
            <a:r>
              <a:rPr dirty="0" sz="1200" spc="-5">
                <a:latin typeface="Arial"/>
                <a:cs typeface="Arial"/>
              </a:rPr>
              <a:t>Zohar prayer </a:t>
            </a:r>
            <a:r>
              <a:rPr dirty="0" sz="1200">
                <a:latin typeface="Arial"/>
                <a:cs typeface="Arial"/>
              </a:rPr>
              <a:t>and </a:t>
            </a:r>
            <a:r>
              <a:rPr dirty="0" sz="1200" spc="-5">
                <a:latin typeface="Arial"/>
                <a:cs typeface="Arial"/>
              </a:rPr>
              <a:t>Hazrat Bilal </a:t>
            </a:r>
            <a:r>
              <a:rPr dirty="0" sz="1200">
                <a:latin typeface="Arial"/>
                <a:cs typeface="Arial"/>
              </a:rPr>
              <a:t>(r.a) </a:t>
            </a:r>
            <a:r>
              <a:rPr dirty="0" sz="1200" spc="-5">
                <a:latin typeface="Arial"/>
                <a:cs typeface="Arial"/>
              </a:rPr>
              <a:t>went  </a:t>
            </a:r>
            <a:r>
              <a:rPr dirty="0" sz="1200">
                <a:latin typeface="Arial"/>
                <a:cs typeface="Arial"/>
              </a:rPr>
              <a:t>for </a:t>
            </a:r>
            <a:r>
              <a:rPr dirty="0" sz="1200" spc="-5">
                <a:latin typeface="Arial"/>
                <a:cs typeface="Arial"/>
              </a:rPr>
              <a:t>Azan. After prayer, </a:t>
            </a:r>
            <a:r>
              <a:rPr dirty="0" sz="1200">
                <a:latin typeface="Arial"/>
                <a:cs typeface="Arial"/>
              </a:rPr>
              <a:t>the </a:t>
            </a:r>
            <a:r>
              <a:rPr dirty="0" sz="1200" spc="-5">
                <a:latin typeface="Arial"/>
                <a:cs typeface="Arial"/>
              </a:rPr>
              <a:t>prophet (s.a.w) </a:t>
            </a:r>
            <a:r>
              <a:rPr dirty="0" sz="1200">
                <a:latin typeface="Arial"/>
                <a:cs typeface="Arial"/>
              </a:rPr>
              <a:t>went </a:t>
            </a:r>
            <a:r>
              <a:rPr dirty="0" sz="1200" spc="-5">
                <a:latin typeface="Arial"/>
                <a:cs typeface="Arial"/>
              </a:rPr>
              <a:t>to Safa and Marwa </a:t>
            </a:r>
            <a:r>
              <a:rPr dirty="0" sz="1200">
                <a:latin typeface="Arial"/>
                <a:cs typeface="Arial"/>
              </a:rPr>
              <a:t>for </a:t>
            </a:r>
            <a:r>
              <a:rPr dirty="0" sz="1200" spc="-5">
                <a:latin typeface="Arial"/>
                <a:cs typeface="Arial"/>
              </a:rPr>
              <a:t>the 7 circuits. </a:t>
            </a:r>
            <a:r>
              <a:rPr dirty="0" sz="1200" spc="-10">
                <a:latin typeface="Arial"/>
                <a:cs typeface="Arial"/>
              </a:rPr>
              <a:t>Many  </a:t>
            </a:r>
            <a:r>
              <a:rPr dirty="0" sz="1200" spc="-5">
                <a:latin typeface="Arial"/>
                <a:cs typeface="Arial"/>
              </a:rPr>
              <a:t>converted to Islam. The Muslims stayed in Macca </a:t>
            </a:r>
            <a:r>
              <a:rPr dirty="0" sz="1200">
                <a:latin typeface="Arial"/>
                <a:cs typeface="Arial"/>
              </a:rPr>
              <a:t>for </a:t>
            </a:r>
            <a:r>
              <a:rPr dirty="0" sz="1200" spc="-5">
                <a:latin typeface="Arial"/>
                <a:cs typeface="Arial"/>
              </a:rPr>
              <a:t>15</a:t>
            </a:r>
            <a:r>
              <a:rPr dirty="0" sz="1200" spc="25">
                <a:latin typeface="Arial"/>
                <a:cs typeface="Arial"/>
              </a:rPr>
              <a:t> </a:t>
            </a:r>
            <a:r>
              <a:rPr dirty="0" sz="1200" spc="-5">
                <a:latin typeface="Arial"/>
                <a:cs typeface="Arial"/>
              </a:rPr>
              <a:t>days.</a:t>
            </a:r>
            <a:endParaRPr sz="1200">
              <a:latin typeface="Arial"/>
              <a:cs typeface="Arial"/>
            </a:endParaRPr>
          </a:p>
          <a:p>
            <a:pPr>
              <a:lnSpc>
                <a:spcPct val="100000"/>
              </a:lnSpc>
              <a:spcBef>
                <a:spcPts val="55"/>
              </a:spcBef>
            </a:pPr>
            <a:endParaRPr sz="1100">
              <a:latin typeface="Arial"/>
              <a:cs typeface="Arial"/>
            </a:endParaRPr>
          </a:p>
          <a:p>
            <a:pPr marL="152400">
              <a:lnSpc>
                <a:spcPct val="100000"/>
              </a:lnSpc>
            </a:pPr>
            <a:r>
              <a:rPr dirty="0" u="heavy" sz="1200" spc="-5" b="1" i="1">
                <a:uFill>
                  <a:solidFill>
                    <a:srgbClr val="000000"/>
                  </a:solidFill>
                </a:uFill>
                <a:latin typeface="Arial"/>
                <a:cs typeface="Arial"/>
              </a:rPr>
              <a:t>The importance and significance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Conquest </a:t>
            </a:r>
            <a:r>
              <a:rPr dirty="0" u="heavy" sz="1200" b="1" i="1">
                <a:uFill>
                  <a:solidFill>
                    <a:srgbClr val="000000"/>
                  </a:solidFill>
                </a:uFill>
                <a:latin typeface="Arial"/>
                <a:cs typeface="Arial"/>
              </a:rPr>
              <a:t>of Macca </a:t>
            </a:r>
            <a:r>
              <a:rPr dirty="0" u="heavy" sz="1200" spc="-5" b="1" i="1">
                <a:uFill>
                  <a:solidFill>
                    <a:srgbClr val="000000"/>
                  </a:solidFill>
                </a:uFill>
                <a:latin typeface="Arial"/>
                <a:cs typeface="Arial"/>
              </a:rPr>
              <a:t>can be seen</a:t>
            </a:r>
            <a:r>
              <a:rPr dirty="0" u="heavy" sz="1200" spc="65" b="1" i="1">
                <a:uFill>
                  <a:solidFill>
                    <a:srgbClr val="000000"/>
                  </a:solidFill>
                </a:uFill>
                <a:latin typeface="Arial"/>
                <a:cs typeface="Arial"/>
              </a:rPr>
              <a:t> </a:t>
            </a:r>
            <a:r>
              <a:rPr dirty="0" u="heavy" sz="1200" spc="-5" b="1" i="1">
                <a:uFill>
                  <a:solidFill>
                    <a:srgbClr val="000000"/>
                  </a:solidFill>
                </a:uFill>
                <a:latin typeface="Arial"/>
                <a:cs typeface="Arial"/>
              </a:rPr>
              <a:t>by:</a:t>
            </a:r>
            <a:endParaRPr sz="1200">
              <a:latin typeface="Arial"/>
              <a:cs typeface="Arial"/>
            </a:endParaRPr>
          </a:p>
          <a:p>
            <a:pPr>
              <a:lnSpc>
                <a:spcPct val="100000"/>
              </a:lnSpc>
              <a:spcBef>
                <a:spcPts val="55"/>
              </a:spcBef>
            </a:pPr>
            <a:endParaRPr sz="1100">
              <a:latin typeface="Arial"/>
              <a:cs typeface="Arial"/>
            </a:endParaRPr>
          </a:p>
          <a:p>
            <a:pPr marL="609600" indent="-229235">
              <a:lnSpc>
                <a:spcPts val="1410"/>
              </a:lnSpc>
              <a:buAutoNum type="arabicPeriod"/>
              <a:tabLst>
                <a:tab pos="610235" algn="l"/>
              </a:tabLst>
            </a:pPr>
            <a:r>
              <a:rPr dirty="0" sz="1200" spc="-5">
                <a:latin typeface="Arial"/>
                <a:cs typeface="Arial"/>
              </a:rPr>
              <a:t>The Maccan conversion </a:t>
            </a:r>
            <a:r>
              <a:rPr dirty="0" sz="1200">
                <a:latin typeface="Arial"/>
                <a:cs typeface="Arial"/>
              </a:rPr>
              <a:t>to Islam</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surrounding tribes </a:t>
            </a:r>
            <a:r>
              <a:rPr dirty="0" sz="1200">
                <a:latin typeface="Arial"/>
                <a:cs typeface="Arial"/>
              </a:rPr>
              <a:t>and </a:t>
            </a:r>
            <a:r>
              <a:rPr dirty="0" sz="1200" spc="-5">
                <a:latin typeface="Arial"/>
                <a:cs typeface="Arial"/>
              </a:rPr>
              <a:t>main centres</a:t>
            </a:r>
            <a:r>
              <a:rPr dirty="0" sz="1200">
                <a:latin typeface="Arial"/>
                <a:cs typeface="Arial"/>
              </a:rPr>
              <a:t> </a:t>
            </a:r>
            <a:r>
              <a:rPr dirty="0" sz="1200" spc="-5">
                <a:latin typeface="Arial"/>
                <a:cs typeface="Arial"/>
              </a:rPr>
              <a:t>converted</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elimination of all</a:t>
            </a:r>
            <a:r>
              <a:rPr dirty="0" sz="1200" spc="5">
                <a:latin typeface="Arial"/>
                <a:cs typeface="Arial"/>
              </a:rPr>
              <a:t> </a:t>
            </a:r>
            <a:r>
              <a:rPr dirty="0" sz="1200" spc="-5">
                <a:latin typeface="Arial"/>
                <a:cs typeface="Arial"/>
              </a:rPr>
              <a:t>threats</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prophet becoming the sole</a:t>
            </a:r>
            <a:r>
              <a:rPr dirty="0" sz="1200" spc="30">
                <a:latin typeface="Arial"/>
                <a:cs typeface="Arial"/>
              </a:rPr>
              <a:t> </a:t>
            </a:r>
            <a:r>
              <a:rPr dirty="0" sz="1200" spc="-5">
                <a:latin typeface="Arial"/>
                <a:cs typeface="Arial"/>
              </a:rPr>
              <a:t>leader</a:t>
            </a:r>
            <a:endParaRPr sz="1200">
              <a:latin typeface="Arial"/>
              <a:cs typeface="Arial"/>
            </a:endParaRPr>
          </a:p>
          <a:p>
            <a:pPr marL="609600" indent="-229235">
              <a:lnSpc>
                <a:spcPts val="1380"/>
              </a:lnSpc>
              <a:buAutoNum type="arabicPeriod"/>
              <a:tabLst>
                <a:tab pos="610235" algn="l"/>
              </a:tabLst>
            </a:pPr>
            <a:r>
              <a:rPr dirty="0" sz="1200">
                <a:latin typeface="Arial"/>
                <a:cs typeface="Arial"/>
              </a:rPr>
              <a:t>Islam </a:t>
            </a:r>
            <a:r>
              <a:rPr dirty="0" sz="1200" spc="-5">
                <a:latin typeface="Arial"/>
                <a:cs typeface="Arial"/>
              </a:rPr>
              <a:t>reigning over the whole</a:t>
            </a:r>
            <a:r>
              <a:rPr dirty="0" sz="1200">
                <a:latin typeface="Arial"/>
                <a:cs typeface="Arial"/>
              </a:rPr>
              <a:t> </a:t>
            </a:r>
            <a:r>
              <a:rPr dirty="0" sz="1200" spc="-5">
                <a:latin typeface="Arial"/>
                <a:cs typeface="Arial"/>
              </a:rPr>
              <a:t>Arabia</a:t>
            </a:r>
            <a:endParaRPr sz="1200">
              <a:latin typeface="Arial"/>
              <a:cs typeface="Arial"/>
            </a:endParaRPr>
          </a:p>
          <a:p>
            <a:pPr marL="609600" indent="-229235">
              <a:lnSpc>
                <a:spcPts val="1380"/>
              </a:lnSpc>
              <a:buAutoNum type="arabicPeriod"/>
              <a:tabLst>
                <a:tab pos="610235" algn="l"/>
              </a:tabLst>
            </a:pPr>
            <a:r>
              <a:rPr dirty="0" sz="1200">
                <a:latin typeface="Arial"/>
                <a:cs typeface="Arial"/>
              </a:rPr>
              <a:t>Islam </a:t>
            </a:r>
            <a:r>
              <a:rPr dirty="0" sz="1200" spc="-5">
                <a:latin typeface="Arial"/>
                <a:cs typeface="Arial"/>
              </a:rPr>
              <a:t>spreading outside Arabia</a:t>
            </a:r>
            <a:endParaRPr sz="1200">
              <a:latin typeface="Arial"/>
              <a:cs typeface="Arial"/>
            </a:endParaRPr>
          </a:p>
          <a:p>
            <a:pPr marL="609600" indent="-229235">
              <a:lnSpc>
                <a:spcPts val="1380"/>
              </a:lnSpc>
              <a:buAutoNum type="arabicPeriod"/>
              <a:tabLst>
                <a:tab pos="610235" algn="l"/>
              </a:tabLst>
            </a:pPr>
            <a:r>
              <a:rPr dirty="0" sz="1200">
                <a:latin typeface="Arial"/>
                <a:cs typeface="Arial"/>
              </a:rPr>
              <a:t>A </a:t>
            </a:r>
            <a:r>
              <a:rPr dirty="0" sz="1200" spc="-5">
                <a:latin typeface="Arial"/>
                <a:cs typeface="Arial"/>
              </a:rPr>
              <a:t>new Era of stability </a:t>
            </a:r>
            <a:r>
              <a:rPr dirty="0" sz="1200">
                <a:latin typeface="Arial"/>
                <a:cs typeface="Arial"/>
              </a:rPr>
              <a:t>and </a:t>
            </a:r>
            <a:r>
              <a:rPr dirty="0" sz="1200" spc="-5">
                <a:latin typeface="Arial"/>
                <a:cs typeface="Arial"/>
              </a:rPr>
              <a:t>recognition started</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Macca (Ka‘bah) being in the hands of</a:t>
            </a:r>
            <a:r>
              <a:rPr dirty="0" sz="1200" spc="15">
                <a:latin typeface="Arial"/>
                <a:cs typeface="Arial"/>
              </a:rPr>
              <a:t> </a:t>
            </a:r>
            <a:r>
              <a:rPr dirty="0" sz="1200" spc="-5">
                <a:latin typeface="Arial"/>
                <a:cs typeface="Arial"/>
              </a:rPr>
              <a:t>Muslims</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religious and spiritual significance of Macca</a:t>
            </a:r>
            <a:r>
              <a:rPr dirty="0" sz="1200" spc="45">
                <a:latin typeface="Arial"/>
                <a:cs typeface="Arial"/>
              </a:rPr>
              <a:t> </a:t>
            </a:r>
            <a:r>
              <a:rPr dirty="0" sz="1200" spc="-5">
                <a:latin typeface="Arial"/>
                <a:cs typeface="Arial"/>
              </a:rPr>
              <a:t>restored</a:t>
            </a:r>
            <a:endParaRPr sz="1200">
              <a:latin typeface="Arial"/>
              <a:cs typeface="Arial"/>
            </a:endParaRPr>
          </a:p>
          <a:p>
            <a:pPr marL="609600" indent="-229235">
              <a:lnSpc>
                <a:spcPts val="1410"/>
              </a:lnSpc>
              <a:buAutoNum type="arabicPeriod"/>
              <a:tabLst>
                <a:tab pos="610235" algn="l"/>
              </a:tabLst>
            </a:pPr>
            <a:r>
              <a:rPr dirty="0" sz="1200" spc="-5">
                <a:latin typeface="Arial"/>
                <a:cs typeface="Arial"/>
              </a:rPr>
              <a:t>The Muslims of today </a:t>
            </a:r>
            <a:r>
              <a:rPr dirty="0" sz="1200">
                <a:latin typeface="Arial"/>
                <a:cs typeface="Arial"/>
              </a:rPr>
              <a:t>are </a:t>
            </a:r>
            <a:r>
              <a:rPr dirty="0" sz="1200" spc="-5">
                <a:latin typeface="Arial"/>
                <a:cs typeface="Arial"/>
              </a:rPr>
              <a:t>benefiting </a:t>
            </a:r>
            <a:r>
              <a:rPr dirty="0" sz="1200">
                <a:latin typeface="Arial"/>
                <a:cs typeface="Arial"/>
              </a:rPr>
              <a:t>from the </a:t>
            </a:r>
            <a:r>
              <a:rPr dirty="0" sz="1200" spc="-5">
                <a:latin typeface="Arial"/>
                <a:cs typeface="Arial"/>
              </a:rPr>
              <a:t>grasp of</a:t>
            </a:r>
            <a:r>
              <a:rPr dirty="0" sz="1200" spc="10">
                <a:latin typeface="Arial"/>
                <a:cs typeface="Arial"/>
              </a:rPr>
              <a:t> </a:t>
            </a:r>
            <a:r>
              <a:rPr dirty="0" sz="1200" spc="-5">
                <a:latin typeface="Arial"/>
                <a:cs typeface="Arial"/>
              </a:rPr>
              <a:t>Macca.</a:t>
            </a:r>
            <a:endParaRPr sz="1200">
              <a:latin typeface="Arial"/>
              <a:cs typeface="Arial"/>
            </a:endParaRPr>
          </a:p>
          <a:p>
            <a:pPr>
              <a:lnSpc>
                <a:spcPct val="100000"/>
              </a:lnSpc>
              <a:spcBef>
                <a:spcPts val="45"/>
              </a:spcBef>
            </a:pPr>
            <a:endParaRPr sz="1100">
              <a:latin typeface="Arial"/>
              <a:cs typeface="Arial"/>
            </a:endParaRPr>
          </a:p>
          <a:p>
            <a:pPr marL="152400">
              <a:lnSpc>
                <a:spcPct val="100000"/>
              </a:lnSpc>
            </a:pPr>
            <a:r>
              <a:rPr dirty="0" sz="1200" spc="-5" b="1" i="1">
                <a:latin typeface="Arial"/>
                <a:cs typeface="Arial"/>
              </a:rPr>
              <a:t>9</a:t>
            </a:r>
            <a:r>
              <a:rPr dirty="0" baseline="38194" sz="1200" spc="-7" b="1" i="1">
                <a:latin typeface="Arial"/>
                <a:cs typeface="Arial"/>
              </a:rPr>
              <a:t>th </a:t>
            </a:r>
            <a:r>
              <a:rPr dirty="0" sz="1200" spc="-5" b="1" i="1">
                <a:latin typeface="Arial"/>
                <a:cs typeface="Arial"/>
              </a:rPr>
              <a:t>Year of</a:t>
            </a:r>
            <a:r>
              <a:rPr dirty="0" sz="1200" spc="-100" b="1" i="1">
                <a:latin typeface="Arial"/>
                <a:cs typeface="Arial"/>
              </a:rPr>
              <a:t> </a:t>
            </a:r>
            <a:r>
              <a:rPr dirty="0" sz="1200" spc="-5" b="1" i="1">
                <a:latin typeface="Arial"/>
                <a:cs typeface="Arial"/>
              </a:rPr>
              <a:t>Hijrah</a:t>
            </a:r>
            <a:endParaRPr sz="1200">
              <a:latin typeface="Arial"/>
              <a:cs typeface="Arial"/>
            </a:endParaRPr>
          </a:p>
          <a:p>
            <a:pPr>
              <a:lnSpc>
                <a:spcPct val="100000"/>
              </a:lnSpc>
              <a:spcBef>
                <a:spcPts val="55"/>
              </a:spcBef>
            </a:pPr>
            <a:endParaRPr sz="1150">
              <a:latin typeface="Arial"/>
              <a:cs typeface="Arial"/>
            </a:endParaRPr>
          </a:p>
          <a:p>
            <a:pPr algn="just" marL="152400" marR="145415">
              <a:lnSpc>
                <a:spcPct val="95900"/>
              </a:lnSpc>
            </a:pPr>
            <a:r>
              <a:rPr dirty="0" sz="1200">
                <a:latin typeface="Arial"/>
                <a:cs typeface="Arial"/>
              </a:rPr>
              <a:t>After </a:t>
            </a:r>
            <a:r>
              <a:rPr dirty="0" sz="1200" spc="-5">
                <a:latin typeface="Arial"/>
                <a:cs typeface="Arial"/>
              </a:rPr>
              <a:t>the conquest of Macca, the Roman Empire </a:t>
            </a:r>
            <a:r>
              <a:rPr dirty="0" sz="1200" spc="-10">
                <a:latin typeface="Arial"/>
                <a:cs typeface="Arial"/>
              </a:rPr>
              <a:t>was </a:t>
            </a:r>
            <a:r>
              <a:rPr dirty="0" sz="1200" spc="-5">
                <a:latin typeface="Arial"/>
                <a:cs typeface="Arial"/>
              </a:rPr>
              <a:t>jealous and angry </a:t>
            </a:r>
            <a:r>
              <a:rPr dirty="0" sz="1200">
                <a:latin typeface="Arial"/>
                <a:cs typeface="Arial"/>
              </a:rPr>
              <a:t>of </a:t>
            </a:r>
            <a:r>
              <a:rPr dirty="0" sz="1200" spc="-5">
                <a:latin typeface="Arial"/>
                <a:cs typeface="Arial"/>
              </a:rPr>
              <a:t>the situation. </a:t>
            </a:r>
            <a:r>
              <a:rPr dirty="0" sz="1200" spc="-10">
                <a:latin typeface="Arial"/>
                <a:cs typeface="Arial"/>
              </a:rPr>
              <a:t>He  </a:t>
            </a:r>
            <a:r>
              <a:rPr dirty="0" sz="1200" spc="-5">
                <a:latin typeface="Arial"/>
                <a:cs typeface="Arial"/>
              </a:rPr>
              <a:t>wanted </a:t>
            </a:r>
            <a:r>
              <a:rPr dirty="0" sz="1200">
                <a:latin typeface="Arial"/>
                <a:cs typeface="Arial"/>
              </a:rPr>
              <a:t>to fight </a:t>
            </a:r>
            <a:r>
              <a:rPr dirty="0" sz="1200" spc="-5">
                <a:latin typeface="Arial"/>
                <a:cs typeface="Arial"/>
              </a:rPr>
              <a:t>the Muslims. Before allowing him to </a:t>
            </a:r>
            <a:r>
              <a:rPr dirty="0" sz="1200" spc="-10">
                <a:latin typeface="Arial"/>
                <a:cs typeface="Arial"/>
              </a:rPr>
              <a:t>leave </a:t>
            </a:r>
            <a:r>
              <a:rPr dirty="0" sz="1200" spc="-5">
                <a:latin typeface="Arial"/>
                <a:cs typeface="Arial"/>
              </a:rPr>
              <a:t>his country, </a:t>
            </a:r>
            <a:r>
              <a:rPr dirty="0" sz="1200">
                <a:latin typeface="Arial"/>
                <a:cs typeface="Arial"/>
              </a:rPr>
              <a:t>the </a:t>
            </a:r>
            <a:r>
              <a:rPr dirty="0" sz="1200" spc="-5">
                <a:latin typeface="Arial"/>
                <a:cs typeface="Arial"/>
              </a:rPr>
              <a:t>prophet (s.a.w) left  Macca and embarked on the Tabuk Expedition. </a:t>
            </a:r>
            <a:r>
              <a:rPr dirty="0" sz="1200">
                <a:latin typeface="Arial"/>
                <a:cs typeface="Arial"/>
              </a:rPr>
              <a:t>It </a:t>
            </a:r>
            <a:r>
              <a:rPr dirty="0" sz="1200" spc="-10">
                <a:latin typeface="Arial"/>
                <a:cs typeface="Arial"/>
              </a:rPr>
              <a:t>was </a:t>
            </a:r>
            <a:r>
              <a:rPr dirty="0" sz="1200" spc="-5">
                <a:latin typeface="Arial"/>
                <a:cs typeface="Arial"/>
              </a:rPr>
              <a:t>a hard period of famine and drought.  That </a:t>
            </a:r>
            <a:r>
              <a:rPr dirty="0" sz="1200" spc="-10">
                <a:latin typeface="Arial"/>
                <a:cs typeface="Arial"/>
              </a:rPr>
              <a:t>was </a:t>
            </a:r>
            <a:r>
              <a:rPr dirty="0" sz="1200" spc="-5">
                <a:latin typeface="Arial"/>
                <a:cs typeface="Arial"/>
              </a:rPr>
              <a:t>why </a:t>
            </a:r>
            <a:r>
              <a:rPr dirty="0" sz="1200">
                <a:latin typeface="Arial"/>
                <a:cs typeface="Arial"/>
              </a:rPr>
              <a:t>it </a:t>
            </a:r>
            <a:r>
              <a:rPr dirty="0" sz="1200" spc="-10">
                <a:latin typeface="Arial"/>
                <a:cs typeface="Arial"/>
              </a:rPr>
              <a:t>was </a:t>
            </a:r>
            <a:r>
              <a:rPr dirty="0" sz="1200">
                <a:latin typeface="Arial"/>
                <a:cs typeface="Arial"/>
              </a:rPr>
              <a:t>known </a:t>
            </a:r>
            <a:r>
              <a:rPr dirty="0" sz="1200" spc="-5">
                <a:latin typeface="Arial"/>
                <a:cs typeface="Arial"/>
              </a:rPr>
              <a:t>as </a:t>
            </a:r>
            <a:r>
              <a:rPr dirty="0" sz="1200">
                <a:latin typeface="Arial"/>
                <a:cs typeface="Arial"/>
              </a:rPr>
              <a:t>the </a:t>
            </a:r>
            <a:r>
              <a:rPr dirty="0" sz="1200" spc="-5">
                <a:latin typeface="Arial"/>
                <a:cs typeface="Arial"/>
              </a:rPr>
              <a:t>Expedition of </a:t>
            </a:r>
            <a:r>
              <a:rPr dirty="0" sz="1200">
                <a:latin typeface="Arial"/>
                <a:cs typeface="Arial"/>
              </a:rPr>
              <a:t>Straightness. </a:t>
            </a:r>
            <a:r>
              <a:rPr dirty="0" sz="1200" spc="-5">
                <a:latin typeface="Arial"/>
                <a:cs typeface="Arial"/>
              </a:rPr>
              <a:t>The prophet (s.a.w) appealed  </a:t>
            </a:r>
            <a:r>
              <a:rPr dirty="0" sz="1200">
                <a:latin typeface="Arial"/>
                <a:cs typeface="Arial"/>
              </a:rPr>
              <a:t>for </a:t>
            </a:r>
            <a:r>
              <a:rPr dirty="0" sz="1200" spc="-5">
                <a:latin typeface="Arial"/>
                <a:cs typeface="Arial"/>
              </a:rPr>
              <a:t>donations and they marched during </a:t>
            </a:r>
            <a:r>
              <a:rPr dirty="0" sz="1200">
                <a:latin typeface="Arial"/>
                <a:cs typeface="Arial"/>
              </a:rPr>
              <a:t>the </a:t>
            </a:r>
            <a:r>
              <a:rPr dirty="0" sz="1200" spc="-10">
                <a:latin typeface="Arial"/>
                <a:cs typeface="Arial"/>
              </a:rPr>
              <a:t>night </a:t>
            </a:r>
            <a:r>
              <a:rPr dirty="0" sz="1200" spc="-5">
                <a:latin typeface="Arial"/>
                <a:cs typeface="Arial"/>
              </a:rPr>
              <a:t>and took shelter during </a:t>
            </a:r>
            <a:r>
              <a:rPr dirty="0" sz="1200">
                <a:latin typeface="Arial"/>
                <a:cs typeface="Arial"/>
              </a:rPr>
              <a:t>the </a:t>
            </a:r>
            <a:r>
              <a:rPr dirty="0" sz="1200" spc="-5">
                <a:latin typeface="Arial"/>
                <a:cs typeface="Arial"/>
              </a:rPr>
              <a:t>day because of  </a:t>
            </a:r>
            <a:r>
              <a:rPr dirty="0" sz="1200">
                <a:latin typeface="Arial"/>
                <a:cs typeface="Arial"/>
              </a:rPr>
              <a:t>the </a:t>
            </a:r>
            <a:r>
              <a:rPr dirty="0" sz="1200" spc="-5">
                <a:latin typeface="Arial"/>
                <a:cs typeface="Arial"/>
              </a:rPr>
              <a:t>intensity of </a:t>
            </a:r>
            <a:r>
              <a:rPr dirty="0" sz="1200">
                <a:latin typeface="Arial"/>
                <a:cs typeface="Arial"/>
              </a:rPr>
              <a:t>the </a:t>
            </a:r>
            <a:r>
              <a:rPr dirty="0" sz="1200" spc="-10">
                <a:latin typeface="Arial"/>
                <a:cs typeface="Arial"/>
              </a:rPr>
              <a:t>sun. </a:t>
            </a:r>
            <a:r>
              <a:rPr dirty="0" sz="1200" spc="-5">
                <a:latin typeface="Arial"/>
                <a:cs typeface="Arial"/>
              </a:rPr>
              <a:t>3000 men encamped </a:t>
            </a:r>
            <a:r>
              <a:rPr dirty="0" sz="1200">
                <a:latin typeface="Arial"/>
                <a:cs typeface="Arial"/>
              </a:rPr>
              <a:t>at Tabuk but there </a:t>
            </a:r>
            <a:r>
              <a:rPr dirty="0" sz="1200" spc="-10">
                <a:latin typeface="Arial"/>
                <a:cs typeface="Arial"/>
              </a:rPr>
              <a:t>was </a:t>
            </a:r>
            <a:r>
              <a:rPr dirty="0" sz="1200" spc="-5">
                <a:latin typeface="Arial"/>
                <a:cs typeface="Arial"/>
              </a:rPr>
              <a:t>no </a:t>
            </a:r>
            <a:r>
              <a:rPr dirty="0" sz="1200">
                <a:latin typeface="Arial"/>
                <a:cs typeface="Arial"/>
              </a:rPr>
              <a:t>fighting </a:t>
            </a:r>
            <a:r>
              <a:rPr dirty="0" sz="1200" spc="-5">
                <a:latin typeface="Arial"/>
                <a:cs typeface="Arial"/>
              </a:rPr>
              <a:t>because </a:t>
            </a:r>
            <a:r>
              <a:rPr dirty="0" sz="1200" spc="-10">
                <a:latin typeface="Arial"/>
                <a:cs typeface="Arial"/>
              </a:rPr>
              <a:t>the  </a:t>
            </a:r>
            <a:r>
              <a:rPr dirty="0" sz="1200" spc="-5">
                <a:latin typeface="Arial"/>
                <a:cs typeface="Arial"/>
              </a:rPr>
              <a:t>Roman dispersed. The Muslims stayed </a:t>
            </a:r>
            <a:r>
              <a:rPr dirty="0" sz="1200">
                <a:latin typeface="Arial"/>
                <a:cs typeface="Arial"/>
              </a:rPr>
              <a:t>for </a:t>
            </a:r>
            <a:r>
              <a:rPr dirty="0" sz="1200" spc="-5">
                <a:latin typeface="Arial"/>
                <a:cs typeface="Arial"/>
              </a:rPr>
              <a:t>20 days </a:t>
            </a:r>
            <a:r>
              <a:rPr dirty="0" sz="1200">
                <a:latin typeface="Arial"/>
                <a:cs typeface="Arial"/>
              </a:rPr>
              <a:t>to </a:t>
            </a:r>
            <a:r>
              <a:rPr dirty="0" sz="1200" spc="-5">
                <a:latin typeface="Arial"/>
                <a:cs typeface="Arial"/>
              </a:rPr>
              <a:t>spread Islam. </a:t>
            </a:r>
            <a:r>
              <a:rPr dirty="0" sz="1200">
                <a:latin typeface="Arial"/>
                <a:cs typeface="Arial"/>
              </a:rPr>
              <a:t>There </a:t>
            </a:r>
            <a:r>
              <a:rPr dirty="0" sz="1200" spc="-5">
                <a:latin typeface="Arial"/>
                <a:cs typeface="Arial"/>
              </a:rPr>
              <a:t>were numerous  converting tribes and that </a:t>
            </a:r>
            <a:r>
              <a:rPr dirty="0" sz="1200" spc="-10">
                <a:latin typeface="Arial"/>
                <a:cs typeface="Arial"/>
              </a:rPr>
              <a:t>was </a:t>
            </a:r>
            <a:r>
              <a:rPr dirty="0" sz="1200" spc="-5">
                <a:latin typeface="Arial"/>
                <a:cs typeface="Arial"/>
              </a:rPr>
              <a:t>the </a:t>
            </a:r>
            <a:r>
              <a:rPr dirty="0" sz="1200">
                <a:latin typeface="Arial"/>
                <a:cs typeface="Arial"/>
              </a:rPr>
              <a:t>last </a:t>
            </a:r>
            <a:r>
              <a:rPr dirty="0" sz="1200" spc="-5">
                <a:latin typeface="Arial"/>
                <a:cs typeface="Arial"/>
              </a:rPr>
              <a:t>military expedition of Prophet</a:t>
            </a:r>
            <a:r>
              <a:rPr dirty="0" sz="1200" spc="35">
                <a:latin typeface="Arial"/>
                <a:cs typeface="Arial"/>
              </a:rPr>
              <a:t> </a:t>
            </a:r>
            <a:r>
              <a:rPr dirty="0" sz="1200" spc="-5">
                <a:latin typeface="Arial"/>
                <a:cs typeface="Arial"/>
              </a:rPr>
              <a:t>(s.a.w).</a:t>
            </a:r>
            <a:endParaRPr sz="1200">
              <a:latin typeface="Arial"/>
              <a:cs typeface="Arial"/>
            </a:endParaRPr>
          </a:p>
          <a:p>
            <a:pPr>
              <a:lnSpc>
                <a:spcPct val="100000"/>
              </a:lnSpc>
              <a:spcBef>
                <a:spcPts val="55"/>
              </a:spcBef>
            </a:pPr>
            <a:endParaRPr sz="1100">
              <a:latin typeface="Arial"/>
              <a:cs typeface="Arial"/>
            </a:endParaRPr>
          </a:p>
          <a:p>
            <a:pPr marL="152400">
              <a:lnSpc>
                <a:spcPct val="100000"/>
              </a:lnSpc>
            </a:pPr>
            <a:r>
              <a:rPr dirty="0" sz="1200" spc="-5" b="1" i="1">
                <a:latin typeface="Arial"/>
                <a:cs typeface="Arial"/>
              </a:rPr>
              <a:t>10</a:t>
            </a:r>
            <a:r>
              <a:rPr dirty="0" baseline="38194" sz="1200" spc="-7" b="1" i="1">
                <a:latin typeface="Arial"/>
                <a:cs typeface="Arial"/>
              </a:rPr>
              <a:t>th </a:t>
            </a:r>
            <a:r>
              <a:rPr dirty="0" sz="1200" spc="-5" b="1" i="1">
                <a:latin typeface="Arial"/>
                <a:cs typeface="Arial"/>
              </a:rPr>
              <a:t>Year of</a:t>
            </a:r>
            <a:r>
              <a:rPr dirty="0" sz="1200" spc="-100" b="1" i="1">
                <a:latin typeface="Arial"/>
                <a:cs typeface="Arial"/>
              </a:rPr>
              <a:t> </a:t>
            </a:r>
            <a:r>
              <a:rPr dirty="0" sz="1200" spc="-5" b="1" i="1">
                <a:latin typeface="Arial"/>
                <a:cs typeface="Arial"/>
              </a:rPr>
              <a:t>Hijrah</a:t>
            </a:r>
            <a:endParaRPr sz="1200">
              <a:latin typeface="Arial"/>
              <a:cs typeface="Arial"/>
            </a:endParaRPr>
          </a:p>
          <a:p>
            <a:pPr>
              <a:lnSpc>
                <a:spcPct val="100000"/>
              </a:lnSpc>
              <a:spcBef>
                <a:spcPts val="35"/>
              </a:spcBef>
            </a:pPr>
            <a:endParaRPr sz="1200">
              <a:latin typeface="Arial"/>
              <a:cs typeface="Arial"/>
            </a:endParaRPr>
          </a:p>
          <a:p>
            <a:pPr algn="just" marL="152400" marR="145415">
              <a:lnSpc>
                <a:spcPts val="1380"/>
              </a:lnSpc>
            </a:pPr>
            <a:r>
              <a:rPr dirty="0" sz="1200" spc="-5">
                <a:latin typeface="Arial"/>
                <a:cs typeface="Arial"/>
              </a:rPr>
              <a:t>That year </a:t>
            </a:r>
            <a:r>
              <a:rPr dirty="0" sz="1200" spc="-10">
                <a:latin typeface="Arial"/>
                <a:cs typeface="Arial"/>
              </a:rPr>
              <a:t>was </a:t>
            </a:r>
            <a:r>
              <a:rPr dirty="0" sz="1200" spc="-5">
                <a:latin typeface="Arial"/>
                <a:cs typeface="Arial"/>
              </a:rPr>
              <a:t>known as </a:t>
            </a:r>
            <a:r>
              <a:rPr dirty="0" sz="1200">
                <a:latin typeface="Arial"/>
                <a:cs typeface="Arial"/>
              </a:rPr>
              <a:t>the </a:t>
            </a:r>
            <a:r>
              <a:rPr dirty="0" sz="1200" spc="-5">
                <a:latin typeface="Arial"/>
                <a:cs typeface="Arial"/>
              </a:rPr>
              <a:t>Year Of deputations or Amr-ul-Wafd. </a:t>
            </a:r>
            <a:r>
              <a:rPr dirty="0" sz="1200">
                <a:latin typeface="Arial"/>
                <a:cs typeface="Arial"/>
              </a:rPr>
              <a:t>The </a:t>
            </a:r>
            <a:r>
              <a:rPr dirty="0" sz="1200" spc="-5">
                <a:latin typeface="Arial"/>
                <a:cs typeface="Arial"/>
              </a:rPr>
              <a:t>reason </a:t>
            </a:r>
            <a:r>
              <a:rPr dirty="0" sz="1200" spc="-10">
                <a:latin typeface="Arial"/>
                <a:cs typeface="Arial"/>
              </a:rPr>
              <a:t>was </a:t>
            </a:r>
            <a:r>
              <a:rPr dirty="0" sz="1200">
                <a:latin typeface="Arial"/>
                <a:cs typeface="Arial"/>
              </a:rPr>
              <a:t>that </a:t>
            </a:r>
            <a:r>
              <a:rPr dirty="0" sz="1200" spc="-5">
                <a:latin typeface="Arial"/>
                <a:cs typeface="Arial"/>
              </a:rPr>
              <a:t>many  tribes converted </a:t>
            </a:r>
            <a:r>
              <a:rPr dirty="0" sz="1200">
                <a:latin typeface="Arial"/>
                <a:cs typeface="Arial"/>
              </a:rPr>
              <a:t>to</a:t>
            </a:r>
            <a:r>
              <a:rPr dirty="0" sz="1200" spc="-10">
                <a:latin typeface="Arial"/>
                <a:cs typeface="Arial"/>
              </a:rPr>
              <a:t> </a:t>
            </a:r>
            <a:r>
              <a:rPr dirty="0" sz="1200" spc="-5">
                <a:latin typeface="Arial"/>
                <a:cs typeface="Arial"/>
              </a:rPr>
              <a:t>Islam.</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22</a:t>
            </a:r>
            <a:endParaRPr sz="120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79119" y="432307"/>
            <a:ext cx="6588759" cy="9161780"/>
          </a:xfrm>
          <a:prstGeom prst="rect">
            <a:avLst/>
          </a:prstGeom>
        </p:spPr>
        <p:txBody>
          <a:bodyPr wrap="square" lIns="0" tIns="12700" rIns="0" bIns="0" rtlCol="0" vert="horz">
            <a:spAutoFit/>
          </a:bodyPr>
          <a:lstStyle/>
          <a:p>
            <a:pPr algn="just" marL="152400">
              <a:lnSpc>
                <a:spcPct val="100000"/>
              </a:lnSpc>
              <a:spcBef>
                <a:spcPts val="100"/>
              </a:spcBef>
              <a:tabLst>
                <a:tab pos="52038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52400" marR="144780">
              <a:lnSpc>
                <a:spcPct val="95900"/>
              </a:lnSpc>
            </a:pPr>
            <a:r>
              <a:rPr dirty="0" sz="1200" spc="-5">
                <a:latin typeface="Arial"/>
                <a:cs typeface="Arial"/>
              </a:rPr>
              <a:t>There </a:t>
            </a:r>
            <a:r>
              <a:rPr dirty="0" sz="1200" spc="-10">
                <a:latin typeface="Arial"/>
                <a:cs typeface="Arial"/>
              </a:rPr>
              <a:t>was </a:t>
            </a:r>
            <a:r>
              <a:rPr dirty="0" sz="1200" spc="-5">
                <a:latin typeface="Arial"/>
                <a:cs typeface="Arial"/>
              </a:rPr>
              <a:t>also </a:t>
            </a:r>
            <a:r>
              <a:rPr dirty="0" sz="1200">
                <a:latin typeface="Arial"/>
                <a:cs typeface="Arial"/>
              </a:rPr>
              <a:t>the </a:t>
            </a:r>
            <a:r>
              <a:rPr dirty="0" sz="1200" spc="-5">
                <a:latin typeface="Arial"/>
                <a:cs typeface="Arial"/>
              </a:rPr>
              <a:t>Farewell Pilgrimage </a:t>
            </a:r>
            <a:r>
              <a:rPr dirty="0" sz="1200">
                <a:latin typeface="Arial"/>
                <a:cs typeface="Arial"/>
              </a:rPr>
              <a:t>of </a:t>
            </a:r>
            <a:r>
              <a:rPr dirty="0" sz="1200" spc="-5">
                <a:latin typeface="Arial"/>
                <a:cs typeface="Arial"/>
              </a:rPr>
              <a:t>the prophet (s.a.w). The prophet </a:t>
            </a:r>
            <a:r>
              <a:rPr dirty="0" sz="1200">
                <a:latin typeface="Arial"/>
                <a:cs typeface="Arial"/>
              </a:rPr>
              <a:t>left </a:t>
            </a:r>
            <a:r>
              <a:rPr dirty="0" sz="1200" spc="-5">
                <a:latin typeface="Arial"/>
                <a:cs typeface="Arial"/>
              </a:rPr>
              <a:t>Madina on  </a:t>
            </a:r>
            <a:r>
              <a:rPr dirty="0" sz="1200">
                <a:latin typeface="Arial"/>
                <a:cs typeface="Arial"/>
              </a:rPr>
              <a:t>the 25</a:t>
            </a:r>
            <a:r>
              <a:rPr dirty="0" baseline="38194" sz="1200">
                <a:latin typeface="Arial"/>
                <a:cs typeface="Arial"/>
              </a:rPr>
              <a:t>th </a:t>
            </a:r>
            <a:r>
              <a:rPr dirty="0" sz="1200" spc="-5">
                <a:latin typeface="Arial"/>
                <a:cs typeface="Arial"/>
              </a:rPr>
              <a:t>of Dhul Qa‘dah </a:t>
            </a:r>
            <a:r>
              <a:rPr dirty="0" sz="1200">
                <a:latin typeface="Arial"/>
                <a:cs typeface="Arial"/>
              </a:rPr>
              <a:t>and </a:t>
            </a:r>
            <a:r>
              <a:rPr dirty="0" sz="1200" spc="-5">
                <a:latin typeface="Arial"/>
                <a:cs typeface="Arial"/>
              </a:rPr>
              <a:t>arrived on </a:t>
            </a:r>
            <a:r>
              <a:rPr dirty="0" sz="1200">
                <a:latin typeface="Arial"/>
                <a:cs typeface="Arial"/>
              </a:rPr>
              <a:t>the 4</a:t>
            </a:r>
            <a:r>
              <a:rPr dirty="0" baseline="38194" sz="1200">
                <a:latin typeface="Arial"/>
                <a:cs typeface="Arial"/>
              </a:rPr>
              <a:t>th </a:t>
            </a:r>
            <a:r>
              <a:rPr dirty="0" sz="1200">
                <a:latin typeface="Arial"/>
                <a:cs typeface="Arial"/>
              </a:rPr>
              <a:t>Dhul </a:t>
            </a:r>
            <a:r>
              <a:rPr dirty="0" sz="1200" spc="-5">
                <a:latin typeface="Arial"/>
                <a:cs typeface="Arial"/>
              </a:rPr>
              <a:t>Hijjah. All his </a:t>
            </a:r>
            <a:r>
              <a:rPr dirty="0" sz="1200" spc="-10">
                <a:latin typeface="Arial"/>
                <a:cs typeface="Arial"/>
              </a:rPr>
              <a:t>wives </a:t>
            </a:r>
            <a:r>
              <a:rPr dirty="0" sz="1200" spc="-5">
                <a:latin typeface="Arial"/>
                <a:cs typeface="Arial"/>
              </a:rPr>
              <a:t>accompanied him.  There </a:t>
            </a:r>
            <a:r>
              <a:rPr dirty="0" sz="1200" spc="-10">
                <a:latin typeface="Arial"/>
                <a:cs typeface="Arial"/>
              </a:rPr>
              <a:t>was </a:t>
            </a:r>
            <a:r>
              <a:rPr dirty="0" sz="1200">
                <a:latin typeface="Arial"/>
                <a:cs typeface="Arial"/>
              </a:rPr>
              <a:t>the </a:t>
            </a:r>
            <a:r>
              <a:rPr dirty="0" sz="1200" spc="-5">
                <a:latin typeface="Arial"/>
                <a:cs typeface="Arial"/>
              </a:rPr>
              <a:t>famous Sermon </a:t>
            </a:r>
            <a:r>
              <a:rPr dirty="0" sz="1200">
                <a:latin typeface="Arial"/>
                <a:cs typeface="Arial"/>
              </a:rPr>
              <a:t>at </a:t>
            </a:r>
            <a:r>
              <a:rPr dirty="0" sz="1200" spc="-5">
                <a:latin typeface="Arial"/>
                <a:cs typeface="Arial"/>
              </a:rPr>
              <a:t>Jabal Rahmah (Mount of Mercy) which </a:t>
            </a:r>
            <a:r>
              <a:rPr dirty="0" sz="1200" spc="-10">
                <a:latin typeface="Arial"/>
                <a:cs typeface="Arial"/>
              </a:rPr>
              <a:t>was </a:t>
            </a:r>
            <a:r>
              <a:rPr dirty="0" sz="1200" spc="-5">
                <a:latin typeface="Arial"/>
                <a:cs typeface="Arial"/>
              </a:rPr>
              <a:t>a memorable  sermon in </a:t>
            </a:r>
            <a:r>
              <a:rPr dirty="0" sz="1200">
                <a:latin typeface="Arial"/>
                <a:cs typeface="Arial"/>
              </a:rPr>
              <a:t>the </a:t>
            </a:r>
            <a:r>
              <a:rPr dirty="0" sz="1200" spc="-5">
                <a:latin typeface="Arial"/>
                <a:cs typeface="Arial"/>
              </a:rPr>
              <a:t>presence of 124000 of his companions. </a:t>
            </a:r>
            <a:r>
              <a:rPr dirty="0" sz="1200">
                <a:latin typeface="Arial"/>
                <a:cs typeface="Arial"/>
              </a:rPr>
              <a:t>The </a:t>
            </a:r>
            <a:r>
              <a:rPr dirty="0" sz="1200" spc="-5">
                <a:latin typeface="Arial"/>
                <a:cs typeface="Arial"/>
              </a:rPr>
              <a:t>extract of the sermon is as  follows:</a:t>
            </a:r>
            <a:endParaRPr sz="1200">
              <a:latin typeface="Arial"/>
              <a:cs typeface="Arial"/>
            </a:endParaRPr>
          </a:p>
          <a:p>
            <a:pPr>
              <a:lnSpc>
                <a:spcPct val="100000"/>
              </a:lnSpc>
              <a:spcBef>
                <a:spcPts val="55"/>
              </a:spcBef>
            </a:pPr>
            <a:endParaRPr sz="1100">
              <a:latin typeface="Arial"/>
              <a:cs typeface="Arial"/>
            </a:endParaRPr>
          </a:p>
          <a:p>
            <a:pPr algn="just" marL="152400">
              <a:lnSpc>
                <a:spcPct val="100000"/>
              </a:lnSpc>
            </a:pPr>
            <a:r>
              <a:rPr dirty="0" u="heavy" sz="1200" spc="-5" b="1" i="1">
                <a:uFill>
                  <a:solidFill>
                    <a:srgbClr val="000000"/>
                  </a:solidFill>
                </a:uFill>
                <a:latin typeface="Arial"/>
                <a:cs typeface="Arial"/>
              </a:rPr>
              <a:t>Farewell Address</a:t>
            </a:r>
            <a:endParaRPr sz="1200">
              <a:latin typeface="Arial"/>
              <a:cs typeface="Arial"/>
            </a:endParaRPr>
          </a:p>
          <a:p>
            <a:pPr>
              <a:lnSpc>
                <a:spcPct val="100000"/>
              </a:lnSpc>
              <a:spcBef>
                <a:spcPts val="25"/>
              </a:spcBef>
            </a:pPr>
            <a:endParaRPr sz="1200">
              <a:latin typeface="Arial"/>
              <a:cs typeface="Arial"/>
            </a:endParaRPr>
          </a:p>
          <a:p>
            <a:pPr algn="just" marL="152400" marR="151130">
              <a:lnSpc>
                <a:spcPts val="1380"/>
              </a:lnSpc>
            </a:pPr>
            <a:r>
              <a:rPr dirty="0" sz="1200" i="1">
                <a:latin typeface="Arial"/>
                <a:cs typeface="Arial"/>
              </a:rPr>
              <a:t>O </a:t>
            </a:r>
            <a:r>
              <a:rPr dirty="0" sz="1200" spc="-5" i="1">
                <a:latin typeface="Arial"/>
                <a:cs typeface="Arial"/>
              </a:rPr>
              <a:t>people, hear </a:t>
            </a:r>
            <a:r>
              <a:rPr dirty="0" sz="1200" spc="-15" i="1">
                <a:latin typeface="Arial"/>
                <a:cs typeface="Arial"/>
              </a:rPr>
              <a:t>me </a:t>
            </a:r>
            <a:r>
              <a:rPr dirty="0" sz="1200" spc="-5" i="1">
                <a:latin typeface="Arial"/>
                <a:cs typeface="Arial"/>
              </a:rPr>
              <a:t>well: </a:t>
            </a:r>
            <a:r>
              <a:rPr dirty="0" sz="1200" i="1">
                <a:latin typeface="Arial"/>
                <a:cs typeface="Arial"/>
              </a:rPr>
              <a:t>I </a:t>
            </a:r>
            <a:r>
              <a:rPr dirty="0" sz="1200" spc="-5" i="1">
                <a:latin typeface="Arial"/>
                <a:cs typeface="Arial"/>
              </a:rPr>
              <a:t>explain to you. For </a:t>
            </a:r>
            <a:r>
              <a:rPr dirty="0" sz="1200" i="1">
                <a:latin typeface="Arial"/>
                <a:cs typeface="Arial"/>
              </a:rPr>
              <a:t>I </a:t>
            </a:r>
            <a:r>
              <a:rPr dirty="0" sz="1200" spc="-5" i="1">
                <a:latin typeface="Arial"/>
                <a:cs typeface="Arial"/>
              </a:rPr>
              <a:t>do not know; </a:t>
            </a:r>
            <a:r>
              <a:rPr dirty="0" sz="1200" i="1">
                <a:latin typeface="Arial"/>
                <a:cs typeface="Arial"/>
              </a:rPr>
              <a:t>I </a:t>
            </a:r>
            <a:r>
              <a:rPr dirty="0" sz="1200" spc="-10" i="1">
                <a:latin typeface="Arial"/>
                <a:cs typeface="Arial"/>
              </a:rPr>
              <a:t>may </a:t>
            </a:r>
            <a:r>
              <a:rPr dirty="0" sz="1200" i="1">
                <a:latin typeface="Arial"/>
                <a:cs typeface="Arial"/>
              </a:rPr>
              <a:t>well </a:t>
            </a:r>
            <a:r>
              <a:rPr dirty="0" sz="1200" spc="-5" i="1">
                <a:latin typeface="Arial"/>
                <a:cs typeface="Arial"/>
              </a:rPr>
              <a:t>not </a:t>
            </a:r>
            <a:r>
              <a:rPr dirty="0" sz="1200" spc="-10" i="1">
                <a:latin typeface="Arial"/>
                <a:cs typeface="Arial"/>
              </a:rPr>
              <a:t>meet </a:t>
            </a:r>
            <a:r>
              <a:rPr dirty="0" sz="1200" spc="-5" i="1">
                <a:latin typeface="Arial"/>
                <a:cs typeface="Arial"/>
              </a:rPr>
              <a:t>you again in  </a:t>
            </a:r>
            <a:r>
              <a:rPr dirty="0" sz="1200" i="1">
                <a:latin typeface="Arial"/>
                <a:cs typeface="Arial"/>
              </a:rPr>
              <a:t>this </a:t>
            </a:r>
            <a:r>
              <a:rPr dirty="0" sz="1200" spc="-5" i="1">
                <a:latin typeface="Arial"/>
                <a:cs typeface="Arial"/>
              </a:rPr>
              <a:t>place where </a:t>
            </a:r>
            <a:r>
              <a:rPr dirty="0" sz="1200" i="1">
                <a:latin typeface="Arial"/>
                <a:cs typeface="Arial"/>
              </a:rPr>
              <a:t>I </a:t>
            </a:r>
            <a:r>
              <a:rPr dirty="0" sz="1200" spc="-10" i="1">
                <a:latin typeface="Arial"/>
                <a:cs typeface="Arial"/>
              </a:rPr>
              <a:t>now </a:t>
            </a:r>
            <a:r>
              <a:rPr dirty="0" sz="1200" spc="-5" i="1">
                <a:latin typeface="Arial"/>
                <a:cs typeface="Arial"/>
              </a:rPr>
              <a:t>stand, after this year of</a:t>
            </a:r>
            <a:r>
              <a:rPr dirty="0" sz="1200" i="1">
                <a:latin typeface="Arial"/>
                <a:cs typeface="Arial"/>
              </a:rPr>
              <a:t> </a:t>
            </a:r>
            <a:r>
              <a:rPr dirty="0" sz="1200" spc="-5" i="1">
                <a:latin typeface="Arial"/>
                <a:cs typeface="Arial"/>
              </a:rPr>
              <a:t>mine.</a:t>
            </a:r>
            <a:endParaRPr sz="1200">
              <a:latin typeface="Arial"/>
              <a:cs typeface="Arial"/>
            </a:endParaRPr>
          </a:p>
          <a:p>
            <a:pPr>
              <a:lnSpc>
                <a:spcPct val="100000"/>
              </a:lnSpc>
              <a:spcBef>
                <a:spcPts val="20"/>
              </a:spcBef>
            </a:pPr>
            <a:endParaRPr sz="1150">
              <a:latin typeface="Arial"/>
              <a:cs typeface="Arial"/>
            </a:endParaRPr>
          </a:p>
          <a:p>
            <a:pPr algn="just" marL="152400" marR="146050">
              <a:lnSpc>
                <a:spcPct val="95900"/>
              </a:lnSpc>
            </a:pPr>
            <a:r>
              <a:rPr dirty="0" sz="1200" i="1">
                <a:latin typeface="Arial"/>
                <a:cs typeface="Arial"/>
              </a:rPr>
              <a:t>O </a:t>
            </a:r>
            <a:r>
              <a:rPr dirty="0" sz="1200" spc="-5" i="1">
                <a:latin typeface="Arial"/>
                <a:cs typeface="Arial"/>
              </a:rPr>
              <a:t>people: your lives and your property, until </a:t>
            </a:r>
            <a:r>
              <a:rPr dirty="0" sz="1200" i="1">
                <a:latin typeface="Arial"/>
                <a:cs typeface="Arial"/>
              </a:rPr>
              <a:t>the very </a:t>
            </a:r>
            <a:r>
              <a:rPr dirty="0" sz="1200" spc="-5" i="1">
                <a:latin typeface="Arial"/>
                <a:cs typeface="Arial"/>
              </a:rPr>
              <a:t>day you </a:t>
            </a:r>
            <a:r>
              <a:rPr dirty="0" sz="1200" spc="-10" i="1">
                <a:latin typeface="Arial"/>
                <a:cs typeface="Arial"/>
              </a:rPr>
              <a:t>meet </a:t>
            </a:r>
            <a:r>
              <a:rPr dirty="0" sz="1200" spc="-5" i="1">
                <a:latin typeface="Arial"/>
                <a:cs typeface="Arial"/>
              </a:rPr>
              <a:t>your Lord, are as  </a:t>
            </a:r>
            <a:r>
              <a:rPr dirty="0" sz="1200" i="1">
                <a:latin typeface="Arial"/>
                <a:cs typeface="Arial"/>
              </a:rPr>
              <a:t>inviolable </a:t>
            </a:r>
            <a:r>
              <a:rPr dirty="0" sz="1200" spc="-5" i="1">
                <a:latin typeface="Arial"/>
                <a:cs typeface="Arial"/>
              </a:rPr>
              <a:t>to each other as </a:t>
            </a:r>
            <a:r>
              <a:rPr dirty="0" sz="1200" i="1">
                <a:latin typeface="Arial"/>
                <a:cs typeface="Arial"/>
              </a:rPr>
              <a:t>the </a:t>
            </a:r>
            <a:r>
              <a:rPr dirty="0" sz="1200" spc="-5" i="1">
                <a:latin typeface="Arial"/>
                <a:cs typeface="Arial"/>
              </a:rPr>
              <a:t>inviolability of </a:t>
            </a:r>
            <a:r>
              <a:rPr dirty="0" sz="1200" i="1">
                <a:latin typeface="Arial"/>
                <a:cs typeface="Arial"/>
              </a:rPr>
              <a:t>this </a:t>
            </a:r>
            <a:r>
              <a:rPr dirty="0" sz="1200" spc="-5" i="1">
                <a:latin typeface="Arial"/>
                <a:cs typeface="Arial"/>
              </a:rPr>
              <a:t>day you are now </a:t>
            </a:r>
            <a:r>
              <a:rPr dirty="0" sz="1200" spc="-10" i="1">
                <a:latin typeface="Arial"/>
                <a:cs typeface="Arial"/>
              </a:rPr>
              <a:t>in, </a:t>
            </a:r>
            <a:r>
              <a:rPr dirty="0" sz="1200" spc="-5" i="1">
                <a:latin typeface="Arial"/>
                <a:cs typeface="Arial"/>
              </a:rPr>
              <a:t>and the month you are  now in. Have </a:t>
            </a:r>
            <a:r>
              <a:rPr dirty="0" sz="1200" i="1">
                <a:latin typeface="Arial"/>
                <a:cs typeface="Arial"/>
              </a:rPr>
              <a:t>I </a:t>
            </a:r>
            <a:r>
              <a:rPr dirty="0" sz="1200" spc="-5" i="1">
                <a:latin typeface="Arial"/>
                <a:cs typeface="Arial"/>
              </a:rPr>
              <a:t>given the message? -- </a:t>
            </a:r>
            <a:r>
              <a:rPr dirty="0" sz="1200" i="1">
                <a:latin typeface="Arial"/>
                <a:cs typeface="Arial"/>
              </a:rPr>
              <a:t>O </a:t>
            </a:r>
            <a:r>
              <a:rPr dirty="0" sz="1200" spc="-5" i="1">
                <a:latin typeface="Arial"/>
                <a:cs typeface="Arial"/>
              </a:rPr>
              <a:t>Allah, be </a:t>
            </a:r>
            <a:r>
              <a:rPr dirty="0" sz="1200" spc="-10" i="1">
                <a:latin typeface="Arial"/>
                <a:cs typeface="Arial"/>
              </a:rPr>
              <a:t>my </a:t>
            </a:r>
            <a:r>
              <a:rPr dirty="0" sz="1200" i="1">
                <a:latin typeface="Arial"/>
                <a:cs typeface="Arial"/>
              </a:rPr>
              <a:t>witness. </a:t>
            </a:r>
            <a:r>
              <a:rPr dirty="0" sz="1200" spc="-5" i="1">
                <a:latin typeface="Arial"/>
                <a:cs typeface="Arial"/>
              </a:rPr>
              <a:t>So let whoever has been given  something for safekeeping give it back </a:t>
            </a:r>
            <a:r>
              <a:rPr dirty="0" sz="1200" spc="-10" i="1">
                <a:latin typeface="Arial"/>
                <a:cs typeface="Arial"/>
              </a:rPr>
              <a:t>to </a:t>
            </a:r>
            <a:r>
              <a:rPr dirty="0" sz="1200" i="1">
                <a:latin typeface="Arial"/>
                <a:cs typeface="Arial"/>
              </a:rPr>
              <a:t>him </a:t>
            </a:r>
            <a:r>
              <a:rPr dirty="0" sz="1200" spc="-5" i="1">
                <a:latin typeface="Arial"/>
                <a:cs typeface="Arial"/>
              </a:rPr>
              <a:t>who gave him</a:t>
            </a:r>
            <a:r>
              <a:rPr dirty="0" sz="1200" spc="10" i="1">
                <a:latin typeface="Arial"/>
                <a:cs typeface="Arial"/>
              </a:rPr>
              <a:t> </a:t>
            </a:r>
            <a:r>
              <a:rPr dirty="0" sz="1200" spc="-5" i="1">
                <a:latin typeface="Arial"/>
                <a:cs typeface="Arial"/>
              </a:rPr>
              <a:t>it.</a:t>
            </a:r>
            <a:endParaRPr sz="1200">
              <a:latin typeface="Arial"/>
              <a:cs typeface="Arial"/>
            </a:endParaRPr>
          </a:p>
          <a:p>
            <a:pPr>
              <a:lnSpc>
                <a:spcPct val="100000"/>
              </a:lnSpc>
              <a:spcBef>
                <a:spcPts val="35"/>
              </a:spcBef>
            </a:pPr>
            <a:endParaRPr sz="1200">
              <a:latin typeface="Arial"/>
              <a:cs typeface="Arial"/>
            </a:endParaRPr>
          </a:p>
          <a:p>
            <a:pPr algn="just" marL="152400" marR="141605">
              <a:lnSpc>
                <a:spcPts val="1380"/>
              </a:lnSpc>
            </a:pPr>
            <a:r>
              <a:rPr dirty="0" sz="1200" spc="-5" i="1">
                <a:latin typeface="Arial"/>
                <a:cs typeface="Arial"/>
              </a:rPr>
              <a:t>Truly, </a:t>
            </a:r>
            <a:r>
              <a:rPr dirty="0" sz="1200" i="1">
                <a:latin typeface="Arial"/>
                <a:cs typeface="Arial"/>
              </a:rPr>
              <a:t>the </a:t>
            </a:r>
            <a:r>
              <a:rPr dirty="0" sz="1200" spc="-5" i="1">
                <a:latin typeface="Arial"/>
                <a:cs typeface="Arial"/>
              </a:rPr>
              <a:t>usury </a:t>
            </a:r>
            <a:r>
              <a:rPr dirty="0" sz="1200" spc="-10" i="1">
                <a:latin typeface="Arial"/>
                <a:cs typeface="Arial"/>
              </a:rPr>
              <a:t>of the </a:t>
            </a:r>
            <a:r>
              <a:rPr dirty="0" sz="1200" spc="-5" i="1">
                <a:latin typeface="Arial"/>
                <a:cs typeface="Arial"/>
              </a:rPr>
              <a:t>Era </a:t>
            </a:r>
            <a:r>
              <a:rPr dirty="0" sz="1200" spc="10" i="1">
                <a:latin typeface="Arial"/>
                <a:cs typeface="Arial"/>
              </a:rPr>
              <a:t>of </a:t>
            </a:r>
            <a:r>
              <a:rPr dirty="0" sz="1200" spc="-5" i="1">
                <a:latin typeface="Arial"/>
                <a:cs typeface="Arial"/>
              </a:rPr>
              <a:t>Ignorance has been laid aside forever, and the first usury </a:t>
            </a:r>
            <a:r>
              <a:rPr dirty="0" sz="1200" i="1">
                <a:latin typeface="Arial"/>
                <a:cs typeface="Arial"/>
              </a:rPr>
              <a:t>I  </a:t>
            </a:r>
            <a:r>
              <a:rPr dirty="0" sz="1200" spc="-5" i="1">
                <a:latin typeface="Arial"/>
                <a:cs typeface="Arial"/>
              </a:rPr>
              <a:t>begin with is that which is </a:t>
            </a:r>
            <a:r>
              <a:rPr dirty="0" sz="1200" i="1">
                <a:latin typeface="Arial"/>
                <a:cs typeface="Arial"/>
              </a:rPr>
              <a:t>due to </a:t>
            </a:r>
            <a:r>
              <a:rPr dirty="0" sz="1200" spc="-10" i="1">
                <a:latin typeface="Arial"/>
                <a:cs typeface="Arial"/>
              </a:rPr>
              <a:t>my </a:t>
            </a:r>
            <a:r>
              <a:rPr dirty="0" sz="1200" spc="-5" i="1">
                <a:latin typeface="Arial"/>
                <a:cs typeface="Arial"/>
              </a:rPr>
              <a:t>father‘s </a:t>
            </a:r>
            <a:r>
              <a:rPr dirty="0" sz="1200" i="1">
                <a:latin typeface="Arial"/>
                <a:cs typeface="Arial"/>
              </a:rPr>
              <a:t>brother </a:t>
            </a:r>
            <a:r>
              <a:rPr dirty="0" sz="1200" spc="-70" i="1">
                <a:latin typeface="Arial"/>
                <a:cs typeface="Arial"/>
              </a:rPr>
              <a:t>‗Abbas </a:t>
            </a:r>
            <a:r>
              <a:rPr dirty="0" sz="1200" spc="-5" i="1">
                <a:latin typeface="Arial"/>
                <a:cs typeface="Arial"/>
              </a:rPr>
              <a:t>ibn </a:t>
            </a:r>
            <a:r>
              <a:rPr dirty="0" sz="1200" spc="-105" i="1">
                <a:latin typeface="Arial"/>
                <a:cs typeface="Arial"/>
              </a:rPr>
              <a:t>‗Abd </a:t>
            </a:r>
            <a:r>
              <a:rPr dirty="0" sz="1200" i="1">
                <a:latin typeface="Arial"/>
                <a:cs typeface="Arial"/>
              </a:rPr>
              <a:t>al-Muttalib. </a:t>
            </a:r>
            <a:r>
              <a:rPr dirty="0" sz="1200" spc="-5" i="1">
                <a:latin typeface="Arial"/>
                <a:cs typeface="Arial"/>
              </a:rPr>
              <a:t>And truly  </a:t>
            </a:r>
            <a:r>
              <a:rPr dirty="0" sz="1200" i="1">
                <a:latin typeface="Arial"/>
                <a:cs typeface="Arial"/>
              </a:rPr>
              <a:t>the </a:t>
            </a:r>
            <a:r>
              <a:rPr dirty="0" sz="1200" spc="-5" i="1">
                <a:latin typeface="Arial"/>
                <a:cs typeface="Arial"/>
              </a:rPr>
              <a:t>blood-vengeance </a:t>
            </a:r>
            <a:r>
              <a:rPr dirty="0" sz="1200" spc="-10" i="1">
                <a:latin typeface="Arial"/>
                <a:cs typeface="Arial"/>
              </a:rPr>
              <a:t>of </a:t>
            </a:r>
            <a:r>
              <a:rPr dirty="0" sz="1200" i="1">
                <a:latin typeface="Arial"/>
                <a:cs typeface="Arial"/>
              </a:rPr>
              <a:t>the </a:t>
            </a:r>
            <a:r>
              <a:rPr dirty="0" sz="1200" spc="-5" i="1">
                <a:latin typeface="Arial"/>
                <a:cs typeface="Arial"/>
              </a:rPr>
              <a:t>Era of Ignorance has been laid aside forever, and the first </a:t>
            </a:r>
            <a:r>
              <a:rPr dirty="0" sz="1200" spc="5" i="1">
                <a:latin typeface="Arial"/>
                <a:cs typeface="Arial"/>
              </a:rPr>
              <a:t>blood-  </a:t>
            </a:r>
            <a:r>
              <a:rPr dirty="0" sz="1200" spc="-5" i="1">
                <a:latin typeface="Arial"/>
                <a:cs typeface="Arial"/>
              </a:rPr>
              <a:t>vengeance </a:t>
            </a:r>
            <a:r>
              <a:rPr dirty="0" sz="1200" i="1">
                <a:latin typeface="Arial"/>
                <a:cs typeface="Arial"/>
              </a:rPr>
              <a:t>we </a:t>
            </a:r>
            <a:r>
              <a:rPr dirty="0" sz="1200" spc="-5" i="1">
                <a:latin typeface="Arial"/>
                <a:cs typeface="Arial"/>
              </a:rPr>
              <a:t>shall </a:t>
            </a:r>
            <a:r>
              <a:rPr dirty="0" sz="1200" i="1">
                <a:latin typeface="Arial"/>
                <a:cs typeface="Arial"/>
              </a:rPr>
              <a:t>start </a:t>
            </a:r>
            <a:r>
              <a:rPr dirty="0" sz="1200" spc="-5" i="1">
                <a:latin typeface="Arial"/>
                <a:cs typeface="Arial"/>
              </a:rPr>
              <a:t>with is </a:t>
            </a:r>
            <a:r>
              <a:rPr dirty="0" sz="1200" i="1">
                <a:latin typeface="Arial"/>
                <a:cs typeface="Arial"/>
              </a:rPr>
              <a:t>that </a:t>
            </a:r>
            <a:r>
              <a:rPr dirty="0" sz="1200" spc="-5" i="1">
                <a:latin typeface="Arial"/>
                <a:cs typeface="Arial"/>
              </a:rPr>
              <a:t>which is </a:t>
            </a:r>
            <a:r>
              <a:rPr dirty="0" sz="1200" i="1">
                <a:latin typeface="Arial"/>
                <a:cs typeface="Arial"/>
              </a:rPr>
              <a:t>due for the </a:t>
            </a:r>
            <a:r>
              <a:rPr dirty="0" sz="1200" spc="-5" i="1">
                <a:latin typeface="Arial"/>
                <a:cs typeface="Arial"/>
              </a:rPr>
              <a:t>blood </a:t>
            </a:r>
            <a:r>
              <a:rPr dirty="0" sz="1200" i="1">
                <a:latin typeface="Arial"/>
                <a:cs typeface="Arial"/>
              </a:rPr>
              <a:t>of </a:t>
            </a:r>
            <a:r>
              <a:rPr dirty="0" sz="1200" spc="-5" i="1">
                <a:latin typeface="Arial"/>
                <a:cs typeface="Arial"/>
              </a:rPr>
              <a:t>[my kinsman] </a:t>
            </a:r>
            <a:r>
              <a:rPr dirty="0" sz="1200" spc="-90" i="1">
                <a:latin typeface="Arial"/>
                <a:cs typeface="Arial"/>
              </a:rPr>
              <a:t>‗Amir </a:t>
            </a:r>
            <a:r>
              <a:rPr dirty="0" sz="1200" i="1">
                <a:latin typeface="Arial"/>
                <a:cs typeface="Arial"/>
              </a:rPr>
              <a:t>ibn  </a:t>
            </a:r>
            <a:r>
              <a:rPr dirty="0" sz="1200" spc="-75" i="1">
                <a:latin typeface="Arial"/>
                <a:cs typeface="Arial"/>
              </a:rPr>
              <a:t>Rabi‗a </a:t>
            </a:r>
            <a:r>
              <a:rPr dirty="0" sz="1200" spc="-5" i="1">
                <a:latin typeface="Arial"/>
                <a:cs typeface="Arial"/>
              </a:rPr>
              <a:t>ibn Harith ibn </a:t>
            </a:r>
            <a:r>
              <a:rPr dirty="0" sz="1200" spc="-105" i="1">
                <a:latin typeface="Arial"/>
                <a:cs typeface="Arial"/>
              </a:rPr>
              <a:t>‗Abd </a:t>
            </a:r>
            <a:r>
              <a:rPr dirty="0" sz="1200" spc="-5" i="1">
                <a:latin typeface="Arial"/>
                <a:cs typeface="Arial"/>
              </a:rPr>
              <a:t>al-Muttalib. Truly, </a:t>
            </a:r>
            <a:r>
              <a:rPr dirty="0" sz="1200" i="1">
                <a:latin typeface="Arial"/>
                <a:cs typeface="Arial"/>
              </a:rPr>
              <a:t>the </a:t>
            </a:r>
            <a:r>
              <a:rPr dirty="0" sz="1200" spc="-5" i="1">
                <a:latin typeface="Arial"/>
                <a:cs typeface="Arial"/>
              </a:rPr>
              <a:t>hereditary distinctions that were pretensions  to respect in </a:t>
            </a:r>
            <a:r>
              <a:rPr dirty="0" sz="1200" i="1">
                <a:latin typeface="Arial"/>
                <a:cs typeface="Arial"/>
              </a:rPr>
              <a:t>the </a:t>
            </a:r>
            <a:r>
              <a:rPr dirty="0" sz="1200" spc="-5" i="1">
                <a:latin typeface="Arial"/>
                <a:cs typeface="Arial"/>
              </a:rPr>
              <a:t>Era </a:t>
            </a:r>
            <a:r>
              <a:rPr dirty="0" sz="1200" spc="-10" i="1">
                <a:latin typeface="Arial"/>
                <a:cs typeface="Arial"/>
              </a:rPr>
              <a:t>of </a:t>
            </a:r>
            <a:r>
              <a:rPr dirty="0" sz="1200" spc="-5" i="1">
                <a:latin typeface="Arial"/>
                <a:cs typeface="Arial"/>
              </a:rPr>
              <a:t>Ignorance have been laid aside forever, except </a:t>
            </a:r>
            <a:r>
              <a:rPr dirty="0" sz="1200" spc="10" i="1">
                <a:latin typeface="Arial"/>
                <a:cs typeface="Arial"/>
              </a:rPr>
              <a:t>for </a:t>
            </a:r>
            <a:r>
              <a:rPr dirty="0" sz="1200" spc="-5" i="1">
                <a:latin typeface="Arial"/>
                <a:cs typeface="Arial"/>
              </a:rPr>
              <a:t>the custodianship  </a:t>
            </a:r>
            <a:r>
              <a:rPr dirty="0" sz="1200" i="1">
                <a:latin typeface="Arial"/>
                <a:cs typeface="Arial"/>
              </a:rPr>
              <a:t>of </a:t>
            </a:r>
            <a:r>
              <a:rPr dirty="0" sz="1200" spc="-5" i="1">
                <a:latin typeface="Arial"/>
                <a:cs typeface="Arial"/>
              </a:rPr>
              <a:t>the Kaaba [by Bani </a:t>
            </a:r>
            <a:r>
              <a:rPr dirty="0" sz="1200" spc="-105" i="1">
                <a:latin typeface="Arial"/>
                <a:cs typeface="Arial"/>
              </a:rPr>
              <a:t>‗Abd </a:t>
            </a:r>
            <a:r>
              <a:rPr dirty="0" sz="1200" i="1">
                <a:latin typeface="Arial"/>
                <a:cs typeface="Arial"/>
              </a:rPr>
              <a:t>al-Dar] </a:t>
            </a:r>
            <a:r>
              <a:rPr dirty="0" sz="1200" spc="-5" i="1">
                <a:latin typeface="Arial"/>
                <a:cs typeface="Arial"/>
              </a:rPr>
              <a:t>and the giving </a:t>
            </a:r>
            <a:r>
              <a:rPr dirty="0" sz="1200" i="1">
                <a:latin typeface="Arial"/>
                <a:cs typeface="Arial"/>
              </a:rPr>
              <a:t>of </a:t>
            </a:r>
            <a:r>
              <a:rPr dirty="0" sz="1200" spc="-5" i="1">
                <a:latin typeface="Arial"/>
                <a:cs typeface="Arial"/>
              </a:rPr>
              <a:t>drink </a:t>
            </a:r>
            <a:r>
              <a:rPr dirty="0" sz="1200" spc="-10" i="1">
                <a:latin typeface="Arial"/>
                <a:cs typeface="Arial"/>
              </a:rPr>
              <a:t>to </a:t>
            </a:r>
            <a:r>
              <a:rPr dirty="0" sz="1200" spc="-5" i="1">
                <a:latin typeface="Arial"/>
                <a:cs typeface="Arial"/>
              </a:rPr>
              <a:t>pilgrims [by</a:t>
            </a:r>
            <a:r>
              <a:rPr dirty="0" sz="1200" spc="-55" i="1">
                <a:latin typeface="Arial"/>
                <a:cs typeface="Arial"/>
              </a:rPr>
              <a:t> </a:t>
            </a:r>
            <a:r>
              <a:rPr dirty="0" sz="1200" spc="-40" i="1">
                <a:latin typeface="Arial"/>
                <a:cs typeface="Arial"/>
              </a:rPr>
              <a:t>al-‗Abbas].</a:t>
            </a:r>
            <a:endParaRPr sz="1200">
              <a:latin typeface="Arial"/>
              <a:cs typeface="Arial"/>
            </a:endParaRPr>
          </a:p>
          <a:p>
            <a:pPr>
              <a:lnSpc>
                <a:spcPct val="100000"/>
              </a:lnSpc>
              <a:spcBef>
                <a:spcPts val="20"/>
              </a:spcBef>
            </a:pPr>
            <a:endParaRPr sz="1150">
              <a:latin typeface="Arial"/>
              <a:cs typeface="Arial"/>
            </a:endParaRPr>
          </a:p>
          <a:p>
            <a:pPr algn="just" marL="152400" marR="145415">
              <a:lnSpc>
                <a:spcPct val="95900"/>
              </a:lnSpc>
            </a:pPr>
            <a:r>
              <a:rPr dirty="0" sz="1200" i="1">
                <a:latin typeface="Arial"/>
                <a:cs typeface="Arial"/>
              </a:rPr>
              <a:t>A </a:t>
            </a:r>
            <a:r>
              <a:rPr dirty="0" sz="1200" spc="-5" i="1">
                <a:latin typeface="Arial"/>
                <a:cs typeface="Arial"/>
              </a:rPr>
              <a:t>deliberate murder is subject </a:t>
            </a:r>
            <a:r>
              <a:rPr dirty="0" sz="1200" spc="-10" i="1">
                <a:latin typeface="Arial"/>
                <a:cs typeface="Arial"/>
              </a:rPr>
              <a:t>to </a:t>
            </a:r>
            <a:r>
              <a:rPr dirty="0" sz="1200" spc="-5" i="1">
                <a:latin typeface="Arial"/>
                <a:cs typeface="Arial"/>
              </a:rPr>
              <a:t>retaliation in </a:t>
            </a:r>
            <a:r>
              <a:rPr dirty="0" sz="1200" i="1">
                <a:latin typeface="Arial"/>
                <a:cs typeface="Arial"/>
              </a:rPr>
              <a:t>kind. </a:t>
            </a:r>
            <a:r>
              <a:rPr dirty="0" sz="1200" spc="-10" i="1">
                <a:latin typeface="Arial"/>
                <a:cs typeface="Arial"/>
              </a:rPr>
              <a:t>An </a:t>
            </a:r>
            <a:r>
              <a:rPr dirty="0" sz="1200" spc="-5" i="1">
                <a:latin typeface="Arial"/>
                <a:cs typeface="Arial"/>
              </a:rPr>
              <a:t>accidental death </a:t>
            </a:r>
            <a:r>
              <a:rPr dirty="0" sz="1200" i="1">
                <a:latin typeface="Arial"/>
                <a:cs typeface="Arial"/>
              </a:rPr>
              <a:t>from </a:t>
            </a:r>
            <a:r>
              <a:rPr dirty="0" sz="1200" spc="-5" i="1">
                <a:latin typeface="Arial"/>
                <a:cs typeface="Arial"/>
              </a:rPr>
              <a:t>a deliberate  </a:t>
            </a:r>
            <a:r>
              <a:rPr dirty="0" sz="1200" spc="-5" i="1">
                <a:latin typeface="Arial"/>
                <a:cs typeface="Arial"/>
              </a:rPr>
              <a:t>injury means a death resulting </a:t>
            </a:r>
            <a:r>
              <a:rPr dirty="0" sz="1200" i="1">
                <a:latin typeface="Arial"/>
                <a:cs typeface="Arial"/>
              </a:rPr>
              <a:t>from </a:t>
            </a:r>
            <a:r>
              <a:rPr dirty="0" sz="1200" spc="-5" i="1">
                <a:latin typeface="Arial"/>
                <a:cs typeface="Arial"/>
              </a:rPr>
              <a:t>[something not </a:t>
            </a:r>
            <a:r>
              <a:rPr dirty="0" sz="1200" i="1">
                <a:latin typeface="Arial"/>
                <a:cs typeface="Arial"/>
              </a:rPr>
              <a:t>usually </a:t>
            </a:r>
            <a:r>
              <a:rPr dirty="0" sz="1200" spc="-5" i="1">
                <a:latin typeface="Arial"/>
                <a:cs typeface="Arial"/>
              </a:rPr>
              <a:t>used or intended as a deadly  weapon such as] a stick or a </a:t>
            </a:r>
            <a:r>
              <a:rPr dirty="0" sz="1200" i="1">
                <a:latin typeface="Arial"/>
                <a:cs typeface="Arial"/>
              </a:rPr>
              <a:t>rock, for which the </a:t>
            </a:r>
            <a:r>
              <a:rPr dirty="0" sz="1200" spc="-5" i="1">
                <a:latin typeface="Arial"/>
                <a:cs typeface="Arial"/>
              </a:rPr>
              <a:t>indemnity is one hundred camels: whoever  </a:t>
            </a:r>
            <a:r>
              <a:rPr dirty="0" sz="1200" i="1">
                <a:latin typeface="Arial"/>
                <a:cs typeface="Arial"/>
              </a:rPr>
              <a:t>asks </a:t>
            </a:r>
            <a:r>
              <a:rPr dirty="0" sz="1200" spc="-5" i="1">
                <a:latin typeface="Arial"/>
                <a:cs typeface="Arial"/>
              </a:rPr>
              <a:t>for </a:t>
            </a:r>
            <a:r>
              <a:rPr dirty="0" sz="1200" spc="-10" i="1">
                <a:latin typeface="Arial"/>
                <a:cs typeface="Arial"/>
              </a:rPr>
              <a:t>more </a:t>
            </a:r>
            <a:r>
              <a:rPr dirty="0" sz="1200" spc="-5" i="1">
                <a:latin typeface="Arial"/>
                <a:cs typeface="Arial"/>
              </a:rPr>
              <a:t>is a person of the Era </a:t>
            </a:r>
            <a:r>
              <a:rPr dirty="0" sz="1200" i="1">
                <a:latin typeface="Arial"/>
                <a:cs typeface="Arial"/>
              </a:rPr>
              <a:t>of</a:t>
            </a:r>
            <a:r>
              <a:rPr dirty="0" sz="1200" spc="25" i="1">
                <a:latin typeface="Arial"/>
                <a:cs typeface="Arial"/>
              </a:rPr>
              <a:t> </a:t>
            </a:r>
            <a:r>
              <a:rPr dirty="0" sz="1200" spc="-5" i="1">
                <a:latin typeface="Arial"/>
                <a:cs typeface="Arial"/>
              </a:rPr>
              <a:t>Ignorance.</a:t>
            </a:r>
            <a:endParaRPr sz="1200">
              <a:latin typeface="Arial"/>
              <a:cs typeface="Arial"/>
            </a:endParaRPr>
          </a:p>
          <a:p>
            <a:pPr>
              <a:lnSpc>
                <a:spcPct val="100000"/>
              </a:lnSpc>
              <a:spcBef>
                <a:spcPts val="35"/>
              </a:spcBef>
            </a:pPr>
            <a:endParaRPr sz="1200">
              <a:latin typeface="Arial"/>
              <a:cs typeface="Arial"/>
            </a:endParaRPr>
          </a:p>
          <a:p>
            <a:pPr algn="just" marL="152400" marR="142875">
              <a:lnSpc>
                <a:spcPts val="1380"/>
              </a:lnSpc>
            </a:pPr>
            <a:r>
              <a:rPr dirty="0" sz="1200" i="1">
                <a:latin typeface="Arial"/>
                <a:cs typeface="Arial"/>
              </a:rPr>
              <a:t>O </a:t>
            </a:r>
            <a:r>
              <a:rPr dirty="0" sz="1200" spc="-5" i="1">
                <a:latin typeface="Arial"/>
                <a:cs typeface="Arial"/>
              </a:rPr>
              <a:t>people: </a:t>
            </a:r>
            <a:r>
              <a:rPr dirty="0" sz="1200" i="1">
                <a:latin typeface="Arial"/>
                <a:cs typeface="Arial"/>
              </a:rPr>
              <a:t>the </a:t>
            </a:r>
            <a:r>
              <a:rPr dirty="0" sz="1200" spc="-5" i="1">
                <a:latin typeface="Arial"/>
                <a:cs typeface="Arial"/>
              </a:rPr>
              <a:t>Devil has despaired </a:t>
            </a:r>
            <a:r>
              <a:rPr dirty="0" sz="1200" spc="-10" i="1">
                <a:latin typeface="Arial"/>
                <a:cs typeface="Arial"/>
              </a:rPr>
              <a:t>of </a:t>
            </a:r>
            <a:r>
              <a:rPr dirty="0" sz="1200" spc="-5" i="1">
                <a:latin typeface="Arial"/>
                <a:cs typeface="Arial"/>
              </a:rPr>
              <a:t>ever being worshipped in </a:t>
            </a:r>
            <a:r>
              <a:rPr dirty="0" sz="1200" i="1">
                <a:latin typeface="Arial"/>
                <a:cs typeface="Arial"/>
              </a:rPr>
              <a:t>this land </a:t>
            </a:r>
            <a:r>
              <a:rPr dirty="0" sz="1200" spc="-10" i="1">
                <a:latin typeface="Arial"/>
                <a:cs typeface="Arial"/>
              </a:rPr>
              <a:t>of </a:t>
            </a:r>
            <a:r>
              <a:rPr dirty="0" sz="1200" spc="-5" i="1">
                <a:latin typeface="Arial"/>
                <a:cs typeface="Arial"/>
              </a:rPr>
              <a:t>yours, though he  </a:t>
            </a:r>
            <a:r>
              <a:rPr dirty="0" sz="1200" spc="-5" i="1">
                <a:latin typeface="Arial"/>
                <a:cs typeface="Arial"/>
              </a:rPr>
              <a:t>is content </a:t>
            </a:r>
            <a:r>
              <a:rPr dirty="0" sz="1200" spc="-10" i="1">
                <a:latin typeface="Arial"/>
                <a:cs typeface="Arial"/>
              </a:rPr>
              <a:t>to </a:t>
            </a:r>
            <a:r>
              <a:rPr dirty="0" sz="1200" spc="-5" i="1">
                <a:latin typeface="Arial"/>
                <a:cs typeface="Arial"/>
              </a:rPr>
              <a:t>be obeyed in other </a:t>
            </a:r>
            <a:r>
              <a:rPr dirty="0" sz="1200" i="1">
                <a:latin typeface="Arial"/>
                <a:cs typeface="Arial"/>
              </a:rPr>
              <a:t>works </a:t>
            </a:r>
            <a:r>
              <a:rPr dirty="0" sz="1200" spc="-5" i="1">
                <a:latin typeface="Arial"/>
                <a:cs typeface="Arial"/>
              </a:rPr>
              <a:t>of yours that </a:t>
            </a:r>
            <a:r>
              <a:rPr dirty="0" sz="1200" spc="-10" i="1">
                <a:latin typeface="Arial"/>
                <a:cs typeface="Arial"/>
              </a:rPr>
              <a:t>you </a:t>
            </a:r>
            <a:r>
              <a:rPr dirty="0" sz="1200" spc="-5" i="1">
                <a:latin typeface="Arial"/>
                <a:cs typeface="Arial"/>
              </a:rPr>
              <a:t>deem to be of little</a:t>
            </a:r>
            <a:r>
              <a:rPr dirty="0" sz="1200" spc="130" i="1">
                <a:latin typeface="Arial"/>
                <a:cs typeface="Arial"/>
              </a:rPr>
              <a:t> </a:t>
            </a:r>
            <a:r>
              <a:rPr dirty="0" sz="1200" spc="-5" i="1">
                <a:latin typeface="Arial"/>
                <a:cs typeface="Arial"/>
              </a:rPr>
              <a:t>importance.</a:t>
            </a:r>
            <a:endParaRPr sz="1200">
              <a:latin typeface="Arial"/>
              <a:cs typeface="Arial"/>
            </a:endParaRPr>
          </a:p>
          <a:p>
            <a:pPr>
              <a:lnSpc>
                <a:spcPct val="100000"/>
              </a:lnSpc>
              <a:spcBef>
                <a:spcPts val="25"/>
              </a:spcBef>
            </a:pPr>
            <a:endParaRPr sz="1150">
              <a:latin typeface="Arial"/>
              <a:cs typeface="Arial"/>
            </a:endParaRPr>
          </a:p>
          <a:p>
            <a:pPr algn="just" marL="152400" marR="146050">
              <a:lnSpc>
                <a:spcPct val="95700"/>
              </a:lnSpc>
            </a:pPr>
            <a:r>
              <a:rPr dirty="0" sz="1200" i="1">
                <a:latin typeface="Arial"/>
                <a:cs typeface="Arial"/>
              </a:rPr>
              <a:t>O </a:t>
            </a:r>
            <a:r>
              <a:rPr dirty="0" sz="1200" spc="-5" i="1">
                <a:latin typeface="Arial"/>
                <a:cs typeface="Arial"/>
              </a:rPr>
              <a:t>people: postponing the inviolability of a </a:t>
            </a:r>
            <a:r>
              <a:rPr dirty="0" sz="1200" spc="-10" i="1">
                <a:latin typeface="Arial"/>
                <a:cs typeface="Arial"/>
              </a:rPr>
              <a:t>sacred </a:t>
            </a:r>
            <a:r>
              <a:rPr dirty="0" sz="1200" spc="-5" i="1">
                <a:latin typeface="Arial"/>
                <a:cs typeface="Arial"/>
              </a:rPr>
              <a:t>month [claiming to postpone the prohibition  </a:t>
            </a:r>
            <a:r>
              <a:rPr dirty="0" sz="1200" spc="-5" i="1">
                <a:latin typeface="Arial"/>
                <a:cs typeface="Arial"/>
              </a:rPr>
              <a:t>of killing in it to a subsequent month, so as to continue </a:t>
            </a:r>
            <a:r>
              <a:rPr dirty="0" sz="1200" i="1">
                <a:latin typeface="Arial"/>
                <a:cs typeface="Arial"/>
              </a:rPr>
              <a:t>warring </a:t>
            </a:r>
            <a:r>
              <a:rPr dirty="0" sz="1200" spc="-5" i="1">
                <a:latin typeface="Arial"/>
                <a:cs typeface="Arial"/>
              </a:rPr>
              <a:t>despite the sacred </a:t>
            </a:r>
            <a:r>
              <a:rPr dirty="0" sz="1200" spc="-10" i="1">
                <a:latin typeface="Arial"/>
                <a:cs typeface="Arial"/>
              </a:rPr>
              <a:t>month‘s  </a:t>
            </a:r>
            <a:r>
              <a:rPr dirty="0" sz="1200" spc="-5" i="1">
                <a:latin typeface="Arial"/>
                <a:cs typeface="Arial"/>
              </a:rPr>
              <a:t>having arrived] is a surfeit </a:t>
            </a:r>
            <a:r>
              <a:rPr dirty="0" sz="1200" i="1">
                <a:latin typeface="Arial"/>
                <a:cs typeface="Arial"/>
              </a:rPr>
              <a:t>of </a:t>
            </a:r>
            <a:r>
              <a:rPr dirty="0" sz="1200" spc="-5" i="1">
                <a:latin typeface="Arial"/>
                <a:cs typeface="Arial"/>
              </a:rPr>
              <a:t>unbelief, </a:t>
            </a:r>
            <a:r>
              <a:rPr dirty="0" sz="1200" i="1">
                <a:latin typeface="Arial"/>
                <a:cs typeface="Arial"/>
              </a:rPr>
              <a:t>by </a:t>
            </a:r>
            <a:r>
              <a:rPr dirty="0" sz="1200" spc="-5" i="1">
                <a:latin typeface="Arial"/>
                <a:cs typeface="Arial"/>
              </a:rPr>
              <a:t>which those who disbelieve </a:t>
            </a:r>
            <a:r>
              <a:rPr dirty="0" sz="1200" i="1">
                <a:latin typeface="Arial"/>
                <a:cs typeface="Arial"/>
              </a:rPr>
              <a:t>are </a:t>
            </a:r>
            <a:r>
              <a:rPr dirty="0" sz="1200" spc="-5" i="1">
                <a:latin typeface="Arial"/>
                <a:cs typeface="Arial"/>
              </a:rPr>
              <a:t>led astray, making it  lawful one year and unlawful in another, in order to match </a:t>
            </a:r>
            <a:r>
              <a:rPr dirty="0" sz="1200" i="1">
                <a:latin typeface="Arial"/>
                <a:cs typeface="Arial"/>
              </a:rPr>
              <a:t>the </a:t>
            </a:r>
            <a:r>
              <a:rPr dirty="0" sz="1200" spc="-5" i="1">
                <a:latin typeface="Arial"/>
                <a:cs typeface="Arial"/>
              </a:rPr>
              <a:t>number </a:t>
            </a:r>
            <a:r>
              <a:rPr dirty="0" sz="1200" i="1">
                <a:latin typeface="Arial"/>
                <a:cs typeface="Arial"/>
              </a:rPr>
              <a:t>[of </a:t>
            </a:r>
            <a:r>
              <a:rPr dirty="0" sz="1200" spc="-5" i="1">
                <a:latin typeface="Arial"/>
                <a:cs typeface="Arial"/>
              </a:rPr>
              <a:t>months] Allah </a:t>
            </a:r>
            <a:r>
              <a:rPr dirty="0" sz="1200" spc="-10" i="1">
                <a:latin typeface="Arial"/>
                <a:cs typeface="Arial"/>
              </a:rPr>
              <a:t>has  made </a:t>
            </a:r>
            <a:r>
              <a:rPr dirty="0" sz="1200" i="1">
                <a:latin typeface="Arial"/>
                <a:cs typeface="Arial"/>
              </a:rPr>
              <a:t>inviolable. </a:t>
            </a:r>
            <a:r>
              <a:rPr dirty="0" sz="1200" spc="-10" i="1">
                <a:latin typeface="Arial"/>
                <a:cs typeface="Arial"/>
              </a:rPr>
              <a:t>Time </a:t>
            </a:r>
            <a:r>
              <a:rPr dirty="0" sz="1200" spc="-5" i="1">
                <a:latin typeface="Arial"/>
                <a:cs typeface="Arial"/>
              </a:rPr>
              <a:t>has verily </a:t>
            </a:r>
            <a:r>
              <a:rPr dirty="0" sz="1200" spc="-10" i="1">
                <a:latin typeface="Arial"/>
                <a:cs typeface="Arial"/>
              </a:rPr>
              <a:t>come </a:t>
            </a:r>
            <a:r>
              <a:rPr dirty="0" sz="1200" i="1">
                <a:latin typeface="Arial"/>
                <a:cs typeface="Arial"/>
              </a:rPr>
              <a:t>full turn, </a:t>
            </a:r>
            <a:r>
              <a:rPr dirty="0" sz="1200" spc="-10" i="1">
                <a:latin typeface="Arial"/>
                <a:cs typeface="Arial"/>
              </a:rPr>
              <a:t>to </a:t>
            </a:r>
            <a:r>
              <a:rPr dirty="0" sz="1200" spc="-5" i="1">
                <a:latin typeface="Arial"/>
                <a:cs typeface="Arial"/>
              </a:rPr>
              <a:t>how it was </a:t>
            </a:r>
            <a:r>
              <a:rPr dirty="0" sz="1200" spc="-10" i="1">
                <a:latin typeface="Arial"/>
                <a:cs typeface="Arial"/>
              </a:rPr>
              <a:t>the </a:t>
            </a:r>
            <a:r>
              <a:rPr dirty="0" sz="1200" spc="-5" i="1">
                <a:latin typeface="Arial"/>
                <a:cs typeface="Arial"/>
              </a:rPr>
              <a:t>day Allah created the  heavens and the earth. </a:t>
            </a:r>
            <a:r>
              <a:rPr dirty="0" sz="1200" i="1">
                <a:latin typeface="Arial"/>
                <a:cs typeface="Arial"/>
              </a:rPr>
              <a:t>Four </a:t>
            </a:r>
            <a:r>
              <a:rPr dirty="0" sz="1200" spc="-5" i="1">
                <a:latin typeface="Arial"/>
                <a:cs typeface="Arial"/>
              </a:rPr>
              <a:t>months there </a:t>
            </a:r>
            <a:r>
              <a:rPr dirty="0" sz="1200" spc="-10" i="1">
                <a:latin typeface="Arial"/>
                <a:cs typeface="Arial"/>
              </a:rPr>
              <a:t>are </a:t>
            </a:r>
            <a:r>
              <a:rPr dirty="0" sz="1200" spc="-5" i="1">
                <a:latin typeface="Arial"/>
                <a:cs typeface="Arial"/>
              </a:rPr>
              <a:t>which are inviolable, </a:t>
            </a:r>
            <a:r>
              <a:rPr dirty="0" sz="1200" i="1">
                <a:latin typeface="Arial"/>
                <a:cs typeface="Arial"/>
              </a:rPr>
              <a:t>three </a:t>
            </a:r>
            <a:r>
              <a:rPr dirty="0" sz="1200" spc="-5" i="1">
                <a:latin typeface="Arial"/>
                <a:cs typeface="Arial"/>
              </a:rPr>
              <a:t>in a </a:t>
            </a:r>
            <a:r>
              <a:rPr dirty="0" sz="1200" spc="-10" i="1">
                <a:latin typeface="Arial"/>
                <a:cs typeface="Arial"/>
              </a:rPr>
              <a:t>row </a:t>
            </a:r>
            <a:r>
              <a:rPr dirty="0" sz="1200" spc="-5" i="1">
                <a:latin typeface="Arial"/>
                <a:cs typeface="Arial"/>
              </a:rPr>
              <a:t>and forth  </a:t>
            </a:r>
            <a:r>
              <a:rPr dirty="0" sz="1200" i="1">
                <a:latin typeface="Arial"/>
                <a:cs typeface="Arial"/>
              </a:rPr>
              <a:t>by </a:t>
            </a:r>
            <a:r>
              <a:rPr dirty="0" sz="1200" spc="-5" i="1">
                <a:latin typeface="Arial"/>
                <a:cs typeface="Arial"/>
              </a:rPr>
              <a:t>itself: Dhul </a:t>
            </a:r>
            <a:r>
              <a:rPr dirty="0" sz="1200" spc="-75" i="1">
                <a:latin typeface="Arial"/>
                <a:cs typeface="Arial"/>
              </a:rPr>
              <a:t>Qa‗da, </a:t>
            </a:r>
            <a:r>
              <a:rPr dirty="0" sz="1200" spc="-5" i="1">
                <a:latin typeface="Arial"/>
                <a:cs typeface="Arial"/>
              </a:rPr>
              <a:t>Dhul Hijja, and Muharram; </a:t>
            </a:r>
            <a:r>
              <a:rPr dirty="0" sz="1200" i="1">
                <a:latin typeface="Arial"/>
                <a:cs typeface="Arial"/>
              </a:rPr>
              <a:t>and </a:t>
            </a:r>
            <a:r>
              <a:rPr dirty="0" sz="1200" spc="-5" i="1">
                <a:latin typeface="Arial"/>
                <a:cs typeface="Arial"/>
              </a:rPr>
              <a:t>Rajab, which lies between </a:t>
            </a:r>
            <a:r>
              <a:rPr dirty="0" sz="1200" spc="-10" i="1">
                <a:latin typeface="Arial"/>
                <a:cs typeface="Arial"/>
              </a:rPr>
              <a:t>Jumada </a:t>
            </a:r>
            <a:r>
              <a:rPr dirty="0" sz="1200" spc="-5" i="1">
                <a:latin typeface="Arial"/>
                <a:cs typeface="Arial"/>
              </a:rPr>
              <a:t>and  </a:t>
            </a:r>
            <a:r>
              <a:rPr dirty="0" sz="1200" spc="-55" i="1">
                <a:latin typeface="Arial"/>
                <a:cs typeface="Arial"/>
              </a:rPr>
              <a:t>Sha‗ban. </a:t>
            </a:r>
            <a:r>
              <a:rPr dirty="0" sz="1200" spc="-5" i="1">
                <a:latin typeface="Arial"/>
                <a:cs typeface="Arial"/>
              </a:rPr>
              <a:t>Have </a:t>
            </a:r>
            <a:r>
              <a:rPr dirty="0" sz="1200" i="1">
                <a:latin typeface="Arial"/>
                <a:cs typeface="Arial"/>
              </a:rPr>
              <a:t>I given the </a:t>
            </a:r>
            <a:r>
              <a:rPr dirty="0" sz="1200" spc="-5" i="1">
                <a:latin typeface="Arial"/>
                <a:cs typeface="Arial"/>
              </a:rPr>
              <a:t>message? -- </a:t>
            </a:r>
            <a:r>
              <a:rPr dirty="0" sz="1200" i="1">
                <a:latin typeface="Arial"/>
                <a:cs typeface="Arial"/>
              </a:rPr>
              <a:t>O </a:t>
            </a:r>
            <a:r>
              <a:rPr dirty="0" sz="1200" spc="-5" i="1">
                <a:latin typeface="Arial"/>
                <a:cs typeface="Arial"/>
              </a:rPr>
              <a:t>Allah, </a:t>
            </a:r>
            <a:r>
              <a:rPr dirty="0" sz="1200" spc="-10" i="1">
                <a:latin typeface="Arial"/>
                <a:cs typeface="Arial"/>
              </a:rPr>
              <a:t>be my</a:t>
            </a:r>
            <a:r>
              <a:rPr dirty="0" sz="1200" spc="75" i="1">
                <a:latin typeface="Arial"/>
                <a:cs typeface="Arial"/>
              </a:rPr>
              <a:t> </a:t>
            </a:r>
            <a:r>
              <a:rPr dirty="0" sz="1200" i="1">
                <a:latin typeface="Arial"/>
                <a:cs typeface="Arial"/>
              </a:rPr>
              <a:t>witness.</a:t>
            </a:r>
            <a:endParaRPr sz="1200">
              <a:latin typeface="Arial"/>
              <a:cs typeface="Arial"/>
            </a:endParaRPr>
          </a:p>
          <a:p>
            <a:pPr>
              <a:lnSpc>
                <a:spcPct val="100000"/>
              </a:lnSpc>
              <a:spcBef>
                <a:spcPts val="35"/>
              </a:spcBef>
            </a:pPr>
            <a:endParaRPr sz="1200">
              <a:latin typeface="Arial"/>
              <a:cs typeface="Arial"/>
            </a:endParaRPr>
          </a:p>
          <a:p>
            <a:pPr algn="just" marL="152400" marR="143510">
              <a:lnSpc>
                <a:spcPts val="1380"/>
              </a:lnSpc>
            </a:pPr>
            <a:r>
              <a:rPr dirty="0" sz="1200" i="1">
                <a:latin typeface="Arial"/>
                <a:cs typeface="Arial"/>
              </a:rPr>
              <a:t>O </a:t>
            </a:r>
            <a:r>
              <a:rPr dirty="0" sz="1200" spc="-5" i="1">
                <a:latin typeface="Arial"/>
                <a:cs typeface="Arial"/>
              </a:rPr>
              <a:t>people: verily you owe your women their rights, and they owe you yours. </a:t>
            </a:r>
            <a:r>
              <a:rPr dirty="0" sz="1200" i="1">
                <a:latin typeface="Arial"/>
                <a:cs typeface="Arial"/>
              </a:rPr>
              <a:t>They </a:t>
            </a:r>
            <a:r>
              <a:rPr dirty="0" sz="1200" spc="-10" i="1">
                <a:latin typeface="Arial"/>
                <a:cs typeface="Arial"/>
              </a:rPr>
              <a:t>may </a:t>
            </a:r>
            <a:r>
              <a:rPr dirty="0" sz="1200" spc="-5" i="1">
                <a:latin typeface="Arial"/>
                <a:cs typeface="Arial"/>
              </a:rPr>
              <a:t>not lay  </a:t>
            </a:r>
            <a:r>
              <a:rPr dirty="0" sz="1200" i="1">
                <a:latin typeface="Arial"/>
                <a:cs typeface="Arial"/>
              </a:rPr>
              <a:t>with </a:t>
            </a:r>
            <a:r>
              <a:rPr dirty="0" sz="1200" spc="-5" i="1">
                <a:latin typeface="Arial"/>
                <a:cs typeface="Arial"/>
              </a:rPr>
              <a:t>other </a:t>
            </a:r>
            <a:r>
              <a:rPr dirty="0" sz="1200" spc="-10" i="1">
                <a:latin typeface="Arial"/>
                <a:cs typeface="Arial"/>
              </a:rPr>
              <a:t>men </a:t>
            </a:r>
            <a:r>
              <a:rPr dirty="0" sz="1200" spc="-5" i="1">
                <a:latin typeface="Arial"/>
                <a:cs typeface="Arial"/>
              </a:rPr>
              <a:t>in your beds, </a:t>
            </a:r>
            <a:r>
              <a:rPr dirty="0" sz="1200" spc="-10" i="1">
                <a:latin typeface="Arial"/>
                <a:cs typeface="Arial"/>
              </a:rPr>
              <a:t>let </a:t>
            </a:r>
            <a:r>
              <a:rPr dirty="0" sz="1200" spc="-5" i="1">
                <a:latin typeface="Arial"/>
                <a:cs typeface="Arial"/>
              </a:rPr>
              <a:t>anyone into your houses </a:t>
            </a:r>
            <a:r>
              <a:rPr dirty="0" sz="1200" spc="-10" i="1">
                <a:latin typeface="Arial"/>
                <a:cs typeface="Arial"/>
              </a:rPr>
              <a:t>you </a:t>
            </a:r>
            <a:r>
              <a:rPr dirty="0" sz="1200" spc="-5" i="1">
                <a:latin typeface="Arial"/>
                <a:cs typeface="Arial"/>
              </a:rPr>
              <a:t>do not </a:t>
            </a:r>
            <a:r>
              <a:rPr dirty="0" sz="1200" i="1">
                <a:latin typeface="Arial"/>
                <a:cs typeface="Arial"/>
              </a:rPr>
              <a:t>want </a:t>
            </a:r>
            <a:r>
              <a:rPr dirty="0" sz="1200" spc="-5" i="1">
                <a:latin typeface="Arial"/>
                <a:cs typeface="Arial"/>
              </a:rPr>
              <a:t>without your  permission, or commit indecency. </a:t>
            </a:r>
            <a:r>
              <a:rPr dirty="0" sz="1200" i="1">
                <a:latin typeface="Arial"/>
                <a:cs typeface="Arial"/>
              </a:rPr>
              <a:t>If </a:t>
            </a:r>
            <a:r>
              <a:rPr dirty="0" sz="1200" spc="-5" i="1">
                <a:latin typeface="Arial"/>
                <a:cs typeface="Arial"/>
              </a:rPr>
              <a:t>they do, Allah has given </a:t>
            </a:r>
            <a:r>
              <a:rPr dirty="0" sz="1200" spc="-10" i="1">
                <a:latin typeface="Arial"/>
                <a:cs typeface="Arial"/>
              </a:rPr>
              <a:t>you </a:t>
            </a:r>
            <a:r>
              <a:rPr dirty="0" sz="1200" spc="-5" i="1">
                <a:latin typeface="Arial"/>
                <a:cs typeface="Arial"/>
              </a:rPr>
              <a:t>leave </a:t>
            </a:r>
            <a:r>
              <a:rPr dirty="0" sz="1200" spc="-10" i="1">
                <a:latin typeface="Arial"/>
                <a:cs typeface="Arial"/>
              </a:rPr>
              <a:t>to </a:t>
            </a:r>
            <a:r>
              <a:rPr dirty="0" sz="1200" spc="-5" i="1">
                <a:latin typeface="Arial"/>
                <a:cs typeface="Arial"/>
              </a:rPr>
              <a:t>debar </a:t>
            </a:r>
            <a:r>
              <a:rPr dirty="0" sz="1200" spc="-10" i="1">
                <a:latin typeface="Arial"/>
                <a:cs typeface="Arial"/>
              </a:rPr>
              <a:t>them, </a:t>
            </a:r>
            <a:r>
              <a:rPr dirty="0" sz="1200" spc="-5" i="1">
                <a:latin typeface="Arial"/>
                <a:cs typeface="Arial"/>
              </a:rPr>
              <a:t>send  </a:t>
            </a:r>
            <a:r>
              <a:rPr dirty="0" sz="1200" i="1">
                <a:latin typeface="Arial"/>
                <a:cs typeface="Arial"/>
              </a:rPr>
              <a:t>them from </a:t>
            </a:r>
            <a:r>
              <a:rPr dirty="0" sz="1200" spc="-5" i="1">
                <a:latin typeface="Arial"/>
                <a:cs typeface="Arial"/>
              </a:rPr>
              <a:t>your beds, or [finally] strike them in a </a:t>
            </a:r>
            <a:r>
              <a:rPr dirty="0" sz="1200" i="1">
                <a:latin typeface="Arial"/>
                <a:cs typeface="Arial"/>
              </a:rPr>
              <a:t>way </a:t>
            </a:r>
            <a:r>
              <a:rPr dirty="0" sz="1200" spc="-5" i="1">
                <a:latin typeface="Arial"/>
                <a:cs typeface="Arial"/>
              </a:rPr>
              <a:t>that does no harm. But if </a:t>
            </a:r>
            <a:r>
              <a:rPr dirty="0" sz="1200" i="1">
                <a:latin typeface="Arial"/>
                <a:cs typeface="Arial"/>
              </a:rPr>
              <a:t>they </a:t>
            </a:r>
            <a:r>
              <a:rPr dirty="0" sz="1200" spc="-5" i="1">
                <a:latin typeface="Arial"/>
                <a:cs typeface="Arial"/>
              </a:rPr>
              <a:t>desist,  and obey you, then you must provide </a:t>
            </a:r>
            <a:r>
              <a:rPr dirty="0" sz="1200" i="1">
                <a:latin typeface="Arial"/>
                <a:cs typeface="Arial"/>
              </a:rPr>
              <a:t>for them </a:t>
            </a:r>
            <a:r>
              <a:rPr dirty="0" sz="1200" spc="-5" i="1">
                <a:latin typeface="Arial"/>
                <a:cs typeface="Arial"/>
              </a:rPr>
              <a:t>and clothe </a:t>
            </a:r>
            <a:r>
              <a:rPr dirty="0" sz="1200" i="1">
                <a:latin typeface="Arial"/>
                <a:cs typeface="Arial"/>
              </a:rPr>
              <a:t>them fittingly. </a:t>
            </a:r>
            <a:r>
              <a:rPr dirty="0" sz="1200" spc="-5" i="1">
                <a:latin typeface="Arial"/>
                <a:cs typeface="Arial"/>
              </a:rPr>
              <a:t>The women </a:t>
            </a:r>
            <a:r>
              <a:rPr dirty="0" sz="1200" i="1">
                <a:latin typeface="Arial"/>
                <a:cs typeface="Arial"/>
              </a:rPr>
              <a:t>who </a:t>
            </a:r>
            <a:r>
              <a:rPr dirty="0" sz="1200" spc="-5" i="1">
                <a:latin typeface="Arial"/>
                <a:cs typeface="Arial"/>
              </a:rPr>
              <a:t>live  </a:t>
            </a:r>
            <a:r>
              <a:rPr dirty="0" sz="1200" i="1">
                <a:latin typeface="Arial"/>
                <a:cs typeface="Arial"/>
              </a:rPr>
              <a:t>with </a:t>
            </a:r>
            <a:r>
              <a:rPr dirty="0" sz="1200" spc="-10" i="1">
                <a:latin typeface="Arial"/>
                <a:cs typeface="Arial"/>
              </a:rPr>
              <a:t>you </a:t>
            </a:r>
            <a:r>
              <a:rPr dirty="0" sz="1200" spc="-5" i="1">
                <a:latin typeface="Arial"/>
                <a:cs typeface="Arial"/>
              </a:rPr>
              <a:t>are like captives, unable to </a:t>
            </a:r>
            <a:r>
              <a:rPr dirty="0" sz="1200" spc="-10" i="1">
                <a:latin typeface="Arial"/>
                <a:cs typeface="Arial"/>
              </a:rPr>
              <a:t>manage </a:t>
            </a:r>
            <a:r>
              <a:rPr dirty="0" sz="1200" i="1">
                <a:latin typeface="Arial"/>
                <a:cs typeface="Arial"/>
              </a:rPr>
              <a:t>for </a:t>
            </a:r>
            <a:r>
              <a:rPr dirty="0" sz="1200" spc="-5" i="1">
                <a:latin typeface="Arial"/>
                <a:cs typeface="Arial"/>
              </a:rPr>
              <a:t>themselves: you </a:t>
            </a:r>
            <a:r>
              <a:rPr dirty="0" sz="1200" i="1">
                <a:latin typeface="Arial"/>
                <a:cs typeface="Arial"/>
              </a:rPr>
              <a:t>took </a:t>
            </a:r>
            <a:r>
              <a:rPr dirty="0" sz="1200" spc="-5" i="1">
                <a:latin typeface="Arial"/>
                <a:cs typeface="Arial"/>
              </a:rPr>
              <a:t>them as a </a:t>
            </a:r>
            <a:r>
              <a:rPr dirty="0" sz="1200" i="1">
                <a:latin typeface="Arial"/>
                <a:cs typeface="Arial"/>
              </a:rPr>
              <a:t>trust from  </a:t>
            </a:r>
            <a:r>
              <a:rPr dirty="0" sz="1200" spc="-5" i="1">
                <a:latin typeface="Arial"/>
                <a:cs typeface="Arial"/>
              </a:rPr>
              <a:t>Allah, and enjoyed their </a:t>
            </a:r>
            <a:r>
              <a:rPr dirty="0" sz="1200" i="1">
                <a:latin typeface="Arial"/>
                <a:cs typeface="Arial"/>
              </a:rPr>
              <a:t>sex as </a:t>
            </a:r>
            <a:r>
              <a:rPr dirty="0" sz="1200" spc="-5" i="1">
                <a:latin typeface="Arial"/>
                <a:cs typeface="Arial"/>
              </a:rPr>
              <a:t>lawful through a word [legal ruling] from Allah. So fear Allah in  respect to women, and concern yourselves </a:t>
            </a:r>
            <a:r>
              <a:rPr dirty="0" sz="1200" i="1">
                <a:latin typeface="Arial"/>
                <a:cs typeface="Arial"/>
              </a:rPr>
              <a:t>with their </a:t>
            </a:r>
            <a:r>
              <a:rPr dirty="0" sz="1200" spc="-5" i="1">
                <a:latin typeface="Arial"/>
                <a:cs typeface="Arial"/>
              </a:rPr>
              <a:t>welfare. </a:t>
            </a:r>
            <a:r>
              <a:rPr dirty="0" sz="1200" spc="-10" i="1">
                <a:latin typeface="Arial"/>
                <a:cs typeface="Arial"/>
              </a:rPr>
              <a:t>Have </a:t>
            </a:r>
            <a:r>
              <a:rPr dirty="0" sz="1200" i="1">
                <a:latin typeface="Arial"/>
                <a:cs typeface="Arial"/>
              </a:rPr>
              <a:t>I </a:t>
            </a:r>
            <a:r>
              <a:rPr dirty="0" sz="1200" spc="-5" i="1">
                <a:latin typeface="Arial"/>
                <a:cs typeface="Arial"/>
              </a:rPr>
              <a:t>given </a:t>
            </a:r>
            <a:r>
              <a:rPr dirty="0" sz="1200" i="1">
                <a:latin typeface="Arial"/>
                <a:cs typeface="Arial"/>
              </a:rPr>
              <a:t>the message? </a:t>
            </a:r>
            <a:r>
              <a:rPr dirty="0" sz="1200" spc="-5" i="1">
                <a:latin typeface="Arial"/>
                <a:cs typeface="Arial"/>
              </a:rPr>
              <a:t>--  </a:t>
            </a:r>
            <a:r>
              <a:rPr dirty="0" sz="1200" i="1">
                <a:latin typeface="Arial"/>
                <a:cs typeface="Arial"/>
              </a:rPr>
              <a:t>O </a:t>
            </a:r>
            <a:r>
              <a:rPr dirty="0" sz="1200" spc="-5" i="1">
                <a:latin typeface="Arial"/>
                <a:cs typeface="Arial"/>
              </a:rPr>
              <a:t>Allah, be </a:t>
            </a:r>
            <a:r>
              <a:rPr dirty="0" sz="1200" spc="-10" i="1">
                <a:latin typeface="Arial"/>
                <a:cs typeface="Arial"/>
              </a:rPr>
              <a:t>my</a:t>
            </a:r>
            <a:r>
              <a:rPr dirty="0" sz="1200" spc="-5" i="1">
                <a:latin typeface="Arial"/>
                <a:cs typeface="Arial"/>
              </a:rPr>
              <a:t> witness.</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23</a:t>
            </a:r>
            <a:endParaRPr sz="120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3" name="object 3"/>
          <p:cNvSpPr/>
          <p:nvPr/>
        </p:nvSpPr>
        <p:spPr>
          <a:xfrm>
            <a:off x="547116" y="7816342"/>
            <a:ext cx="1299210" cy="15240"/>
          </a:xfrm>
          <a:custGeom>
            <a:avLst/>
            <a:gdLst/>
            <a:ahLst/>
            <a:cxnLst/>
            <a:rect l="l" t="t" r="r" b="b"/>
            <a:pathLst>
              <a:path w="1299210" h="15240">
                <a:moveTo>
                  <a:pt x="1298702" y="0"/>
                </a:moveTo>
                <a:lnTo>
                  <a:pt x="0" y="0"/>
                </a:lnTo>
                <a:lnTo>
                  <a:pt x="0" y="15240"/>
                </a:lnTo>
                <a:lnTo>
                  <a:pt x="1298702" y="15240"/>
                </a:lnTo>
                <a:lnTo>
                  <a:pt x="1298702" y="0"/>
                </a:lnTo>
                <a:close/>
              </a:path>
            </a:pathLst>
          </a:custGeom>
          <a:solidFill>
            <a:srgbClr val="000000"/>
          </a:solidFill>
        </p:spPr>
        <p:txBody>
          <a:bodyPr wrap="square" lIns="0" tIns="0" rIns="0" bIns="0" rtlCol="0"/>
          <a:lstStyle/>
          <a:p/>
        </p:txBody>
      </p:sp>
      <p:sp>
        <p:nvSpPr>
          <p:cNvPr id="4" name="object 4"/>
          <p:cNvSpPr txBox="1"/>
          <p:nvPr/>
        </p:nvSpPr>
        <p:spPr>
          <a:xfrm>
            <a:off x="483616" y="432307"/>
            <a:ext cx="6399530" cy="8286750"/>
          </a:xfrm>
          <a:prstGeom prst="rect">
            <a:avLst/>
          </a:prstGeom>
        </p:spPr>
        <p:txBody>
          <a:bodyPr wrap="square" lIns="0" tIns="12700" rIns="0" bIns="0" rtlCol="0" vert="horz">
            <a:spAutoFit/>
          </a:bodyPr>
          <a:lstStyle/>
          <a:p>
            <a:pPr algn="just" marL="63500">
              <a:lnSpc>
                <a:spcPct val="100000"/>
              </a:lnSpc>
              <a:spcBef>
                <a:spcPts val="100"/>
              </a:spcBef>
              <a:tabLst>
                <a:tab pos="51142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pPr>
            <a:endParaRPr sz="1300">
              <a:latin typeface="Times New Roman"/>
              <a:cs typeface="Times New Roman"/>
            </a:endParaRPr>
          </a:p>
          <a:p>
            <a:pPr algn="just" marL="63500" marR="43815">
              <a:lnSpc>
                <a:spcPct val="95900"/>
              </a:lnSpc>
              <a:spcBef>
                <a:spcPts val="5"/>
              </a:spcBef>
            </a:pPr>
            <a:r>
              <a:rPr dirty="0" sz="1200" i="1">
                <a:latin typeface="Arial"/>
                <a:cs typeface="Arial"/>
              </a:rPr>
              <a:t>O </a:t>
            </a:r>
            <a:r>
              <a:rPr dirty="0" sz="1200" spc="-5" i="1">
                <a:latin typeface="Arial"/>
                <a:cs typeface="Arial"/>
              </a:rPr>
              <a:t>people, believers </a:t>
            </a:r>
            <a:r>
              <a:rPr dirty="0" sz="1200" spc="-10" i="1">
                <a:latin typeface="Arial"/>
                <a:cs typeface="Arial"/>
              </a:rPr>
              <a:t>are </a:t>
            </a:r>
            <a:r>
              <a:rPr dirty="0" sz="1200" i="1">
                <a:latin typeface="Arial"/>
                <a:cs typeface="Arial"/>
              </a:rPr>
              <a:t>but </a:t>
            </a:r>
            <a:r>
              <a:rPr dirty="0" sz="1200" spc="-5" i="1">
                <a:latin typeface="Arial"/>
                <a:cs typeface="Arial"/>
              </a:rPr>
              <a:t>brothers. No one </a:t>
            </a:r>
            <a:r>
              <a:rPr dirty="0" sz="1200" spc="-10" i="1">
                <a:latin typeface="Arial"/>
                <a:cs typeface="Arial"/>
              </a:rPr>
              <a:t>may </a:t>
            </a:r>
            <a:r>
              <a:rPr dirty="0" sz="1200" i="1">
                <a:latin typeface="Arial"/>
                <a:cs typeface="Arial"/>
              </a:rPr>
              <a:t>take </a:t>
            </a:r>
            <a:r>
              <a:rPr dirty="0" sz="1200" spc="-5" i="1">
                <a:latin typeface="Arial"/>
                <a:cs typeface="Arial"/>
              </a:rPr>
              <a:t>his brother‘s </a:t>
            </a:r>
            <a:r>
              <a:rPr dirty="0" sz="1200" i="1">
                <a:latin typeface="Arial"/>
                <a:cs typeface="Arial"/>
              </a:rPr>
              <a:t>property </a:t>
            </a:r>
            <a:r>
              <a:rPr dirty="0" sz="1200" spc="-5" i="1">
                <a:latin typeface="Arial"/>
                <a:cs typeface="Arial"/>
              </a:rPr>
              <a:t>without his full  </a:t>
            </a:r>
            <a:r>
              <a:rPr dirty="0" sz="1200" spc="-5" i="1">
                <a:latin typeface="Arial"/>
                <a:cs typeface="Arial"/>
              </a:rPr>
              <a:t>consent. Have </a:t>
            </a:r>
            <a:r>
              <a:rPr dirty="0" sz="1200" i="1">
                <a:latin typeface="Arial"/>
                <a:cs typeface="Arial"/>
              </a:rPr>
              <a:t>I </a:t>
            </a:r>
            <a:r>
              <a:rPr dirty="0" sz="1200" spc="-5" i="1">
                <a:latin typeface="Arial"/>
                <a:cs typeface="Arial"/>
              </a:rPr>
              <a:t>given </a:t>
            </a:r>
            <a:r>
              <a:rPr dirty="0" sz="1200" i="1">
                <a:latin typeface="Arial"/>
                <a:cs typeface="Arial"/>
              </a:rPr>
              <a:t>the </a:t>
            </a:r>
            <a:r>
              <a:rPr dirty="0" sz="1200" spc="-5" i="1">
                <a:latin typeface="Arial"/>
                <a:cs typeface="Arial"/>
              </a:rPr>
              <a:t>message? -- </a:t>
            </a:r>
            <a:r>
              <a:rPr dirty="0" sz="1200" i="1">
                <a:latin typeface="Arial"/>
                <a:cs typeface="Arial"/>
              </a:rPr>
              <a:t>O </a:t>
            </a:r>
            <a:r>
              <a:rPr dirty="0" sz="1200" spc="-5" i="1">
                <a:latin typeface="Arial"/>
                <a:cs typeface="Arial"/>
              </a:rPr>
              <a:t>Allah, be </a:t>
            </a:r>
            <a:r>
              <a:rPr dirty="0" sz="1200" spc="-10" i="1">
                <a:latin typeface="Arial"/>
                <a:cs typeface="Arial"/>
              </a:rPr>
              <a:t>my </a:t>
            </a:r>
            <a:r>
              <a:rPr dirty="0" sz="1200" i="1">
                <a:latin typeface="Arial"/>
                <a:cs typeface="Arial"/>
              </a:rPr>
              <a:t>witness. Never </a:t>
            </a:r>
            <a:r>
              <a:rPr dirty="0" sz="1200" spc="-5" i="1">
                <a:latin typeface="Arial"/>
                <a:cs typeface="Arial"/>
              </a:rPr>
              <a:t>go back to being  unbelievers, </a:t>
            </a:r>
            <a:r>
              <a:rPr dirty="0" sz="1200" spc="-10" i="1">
                <a:latin typeface="Arial"/>
                <a:cs typeface="Arial"/>
              </a:rPr>
              <a:t>smiting </a:t>
            </a:r>
            <a:r>
              <a:rPr dirty="0" sz="1200" i="1">
                <a:latin typeface="Arial"/>
                <a:cs typeface="Arial"/>
              </a:rPr>
              <a:t>each </a:t>
            </a:r>
            <a:r>
              <a:rPr dirty="0" sz="1200" spc="-5" i="1">
                <a:latin typeface="Arial"/>
                <a:cs typeface="Arial"/>
              </a:rPr>
              <a:t>other‘s </a:t>
            </a:r>
            <a:r>
              <a:rPr dirty="0" sz="1200" i="1">
                <a:latin typeface="Arial"/>
                <a:cs typeface="Arial"/>
              </a:rPr>
              <a:t>necks, </a:t>
            </a:r>
            <a:r>
              <a:rPr dirty="0" sz="1200" spc="5" i="1">
                <a:latin typeface="Arial"/>
                <a:cs typeface="Arial"/>
              </a:rPr>
              <a:t>for </a:t>
            </a:r>
            <a:r>
              <a:rPr dirty="0" sz="1200" spc="-5" i="1">
                <a:latin typeface="Arial"/>
                <a:cs typeface="Arial"/>
              </a:rPr>
              <a:t>verily, </a:t>
            </a:r>
            <a:r>
              <a:rPr dirty="0" sz="1200" i="1">
                <a:latin typeface="Arial"/>
                <a:cs typeface="Arial"/>
              </a:rPr>
              <a:t>I </a:t>
            </a:r>
            <a:r>
              <a:rPr dirty="0" sz="1200" spc="-5" i="1">
                <a:latin typeface="Arial"/>
                <a:cs typeface="Arial"/>
              </a:rPr>
              <a:t>have left among you </a:t>
            </a:r>
            <a:r>
              <a:rPr dirty="0" sz="1200" i="1">
                <a:latin typeface="Arial"/>
                <a:cs typeface="Arial"/>
              </a:rPr>
              <a:t>that which </a:t>
            </a:r>
            <a:r>
              <a:rPr dirty="0" sz="1200" spc="-5" i="1">
                <a:latin typeface="Arial"/>
                <a:cs typeface="Arial"/>
              </a:rPr>
              <a:t>if you  </a:t>
            </a:r>
            <a:r>
              <a:rPr dirty="0" sz="1200" i="1">
                <a:latin typeface="Arial"/>
                <a:cs typeface="Arial"/>
              </a:rPr>
              <a:t>take </a:t>
            </a:r>
            <a:r>
              <a:rPr dirty="0" sz="1200" spc="-5" i="1">
                <a:latin typeface="Arial"/>
                <a:cs typeface="Arial"/>
              </a:rPr>
              <a:t>it, you will never </a:t>
            </a:r>
            <a:r>
              <a:rPr dirty="0" sz="1200" i="1">
                <a:latin typeface="Arial"/>
                <a:cs typeface="Arial"/>
              </a:rPr>
              <a:t>stray </a:t>
            </a:r>
            <a:r>
              <a:rPr dirty="0" sz="1200" spc="-5" i="1">
                <a:latin typeface="Arial"/>
                <a:cs typeface="Arial"/>
              </a:rPr>
              <a:t>after </a:t>
            </a:r>
            <a:r>
              <a:rPr dirty="0" sz="1200" spc="-10" i="1">
                <a:latin typeface="Arial"/>
                <a:cs typeface="Arial"/>
              </a:rPr>
              <a:t>me: </a:t>
            </a:r>
            <a:r>
              <a:rPr dirty="0" sz="1200" i="1">
                <a:latin typeface="Arial"/>
                <a:cs typeface="Arial"/>
              </a:rPr>
              <a:t>the </a:t>
            </a:r>
            <a:r>
              <a:rPr dirty="0" sz="1200" spc="-5" i="1">
                <a:latin typeface="Arial"/>
                <a:cs typeface="Arial"/>
              </a:rPr>
              <a:t>Book of Allah. Have </a:t>
            </a:r>
            <a:r>
              <a:rPr dirty="0" sz="1200" i="1">
                <a:latin typeface="Arial"/>
                <a:cs typeface="Arial"/>
              </a:rPr>
              <a:t>I </a:t>
            </a:r>
            <a:r>
              <a:rPr dirty="0" sz="1200" spc="-5" i="1">
                <a:latin typeface="Arial"/>
                <a:cs typeface="Arial"/>
              </a:rPr>
              <a:t>given the message? </a:t>
            </a:r>
            <a:r>
              <a:rPr dirty="0" sz="1200" spc="-10" i="1">
                <a:latin typeface="Arial"/>
                <a:cs typeface="Arial"/>
              </a:rPr>
              <a:t>-- </a:t>
            </a:r>
            <a:r>
              <a:rPr dirty="0" sz="1200" i="1">
                <a:latin typeface="Arial"/>
                <a:cs typeface="Arial"/>
              </a:rPr>
              <a:t>O  </a:t>
            </a:r>
            <a:r>
              <a:rPr dirty="0" sz="1200" spc="-5" i="1">
                <a:latin typeface="Arial"/>
                <a:cs typeface="Arial"/>
              </a:rPr>
              <a:t>Allah, </a:t>
            </a:r>
            <a:r>
              <a:rPr dirty="0" sz="1200" spc="-10" i="1">
                <a:latin typeface="Arial"/>
                <a:cs typeface="Arial"/>
              </a:rPr>
              <a:t>be my</a:t>
            </a:r>
            <a:r>
              <a:rPr dirty="0" sz="1200" spc="10" i="1">
                <a:latin typeface="Arial"/>
                <a:cs typeface="Arial"/>
              </a:rPr>
              <a:t> </a:t>
            </a:r>
            <a:r>
              <a:rPr dirty="0" sz="1200" spc="-5" i="1">
                <a:latin typeface="Arial"/>
                <a:cs typeface="Arial"/>
              </a:rPr>
              <a:t>witness.</a:t>
            </a:r>
            <a:endParaRPr sz="1200">
              <a:latin typeface="Arial"/>
              <a:cs typeface="Arial"/>
            </a:endParaRPr>
          </a:p>
          <a:p>
            <a:pPr>
              <a:lnSpc>
                <a:spcPct val="100000"/>
              </a:lnSpc>
              <a:spcBef>
                <a:spcPts val="35"/>
              </a:spcBef>
            </a:pPr>
            <a:endParaRPr sz="1200">
              <a:latin typeface="Arial"/>
              <a:cs typeface="Arial"/>
            </a:endParaRPr>
          </a:p>
          <a:p>
            <a:pPr algn="just" marL="63500" marR="43180">
              <a:lnSpc>
                <a:spcPts val="1380"/>
              </a:lnSpc>
            </a:pPr>
            <a:r>
              <a:rPr dirty="0" sz="1200" i="1">
                <a:latin typeface="Arial"/>
                <a:cs typeface="Arial"/>
              </a:rPr>
              <a:t>O </a:t>
            </a:r>
            <a:r>
              <a:rPr dirty="0" sz="1200" spc="-5" i="1">
                <a:latin typeface="Arial"/>
                <a:cs typeface="Arial"/>
              </a:rPr>
              <a:t>people, your Lord is </a:t>
            </a:r>
            <a:r>
              <a:rPr dirty="0" sz="1200" i="1">
                <a:latin typeface="Arial"/>
                <a:cs typeface="Arial"/>
              </a:rPr>
              <a:t>One, </a:t>
            </a:r>
            <a:r>
              <a:rPr dirty="0" sz="1200" spc="-5" i="1">
                <a:latin typeface="Arial"/>
                <a:cs typeface="Arial"/>
              </a:rPr>
              <a:t>and your father </a:t>
            </a:r>
            <a:r>
              <a:rPr dirty="0" sz="1200" spc="-10" i="1">
                <a:latin typeface="Arial"/>
                <a:cs typeface="Arial"/>
              </a:rPr>
              <a:t>is </a:t>
            </a:r>
            <a:r>
              <a:rPr dirty="0" sz="1200" spc="-5" i="1">
                <a:latin typeface="Arial"/>
                <a:cs typeface="Arial"/>
              </a:rPr>
              <a:t>one: all </a:t>
            </a:r>
            <a:r>
              <a:rPr dirty="0" sz="1200" spc="-10" i="1">
                <a:latin typeface="Arial"/>
                <a:cs typeface="Arial"/>
              </a:rPr>
              <a:t>of </a:t>
            </a:r>
            <a:r>
              <a:rPr dirty="0" sz="1200" spc="-5" i="1">
                <a:latin typeface="Arial"/>
                <a:cs typeface="Arial"/>
              </a:rPr>
              <a:t>you are </a:t>
            </a:r>
            <a:r>
              <a:rPr dirty="0" sz="1200" i="1">
                <a:latin typeface="Arial"/>
                <a:cs typeface="Arial"/>
              </a:rPr>
              <a:t>from </a:t>
            </a:r>
            <a:r>
              <a:rPr dirty="0" sz="1200" spc="-5" i="1">
                <a:latin typeface="Arial"/>
                <a:cs typeface="Arial"/>
              </a:rPr>
              <a:t>Adam, and Adam was  </a:t>
            </a:r>
            <a:r>
              <a:rPr dirty="0" sz="1200" i="1">
                <a:latin typeface="Arial"/>
                <a:cs typeface="Arial"/>
              </a:rPr>
              <a:t>from the ground. </a:t>
            </a:r>
            <a:r>
              <a:rPr dirty="0" sz="1200" spc="-5" i="1">
                <a:latin typeface="Arial"/>
                <a:cs typeface="Arial"/>
              </a:rPr>
              <a:t>The noblest </a:t>
            </a:r>
            <a:r>
              <a:rPr dirty="0" sz="1200" i="1">
                <a:latin typeface="Arial"/>
                <a:cs typeface="Arial"/>
              </a:rPr>
              <a:t>of you </a:t>
            </a:r>
            <a:r>
              <a:rPr dirty="0" sz="1200" spc="-5" i="1">
                <a:latin typeface="Arial"/>
                <a:cs typeface="Arial"/>
              </a:rPr>
              <a:t>in Allah‘s </a:t>
            </a:r>
            <a:r>
              <a:rPr dirty="0" sz="1200" i="1">
                <a:latin typeface="Arial"/>
                <a:cs typeface="Arial"/>
              </a:rPr>
              <a:t>sight </a:t>
            </a:r>
            <a:r>
              <a:rPr dirty="0" sz="1200" spc="-5" i="1">
                <a:latin typeface="Arial"/>
                <a:cs typeface="Arial"/>
              </a:rPr>
              <a:t>is </a:t>
            </a:r>
            <a:r>
              <a:rPr dirty="0" sz="1200" i="1">
                <a:latin typeface="Arial"/>
                <a:cs typeface="Arial"/>
              </a:rPr>
              <a:t>the </a:t>
            </a:r>
            <a:r>
              <a:rPr dirty="0" sz="1200" spc="-5" i="1">
                <a:latin typeface="Arial"/>
                <a:cs typeface="Arial"/>
              </a:rPr>
              <a:t>most god-fearing: Arab has </a:t>
            </a:r>
            <a:r>
              <a:rPr dirty="0" sz="1200" spc="-10" i="1">
                <a:latin typeface="Arial"/>
                <a:cs typeface="Arial"/>
              </a:rPr>
              <a:t>no  merit </a:t>
            </a:r>
            <a:r>
              <a:rPr dirty="0" sz="1200" spc="-5" i="1">
                <a:latin typeface="Arial"/>
                <a:cs typeface="Arial"/>
              </a:rPr>
              <a:t>over </a:t>
            </a:r>
            <a:r>
              <a:rPr dirty="0" sz="1200" i="1">
                <a:latin typeface="Arial"/>
                <a:cs typeface="Arial"/>
              </a:rPr>
              <a:t>non-Arab </a:t>
            </a:r>
            <a:r>
              <a:rPr dirty="0" sz="1200" spc="-5" i="1">
                <a:latin typeface="Arial"/>
                <a:cs typeface="Arial"/>
              </a:rPr>
              <a:t>other than god-fearingness. Have </a:t>
            </a:r>
            <a:r>
              <a:rPr dirty="0" sz="1200" i="1">
                <a:latin typeface="Arial"/>
                <a:cs typeface="Arial"/>
              </a:rPr>
              <a:t>I </a:t>
            </a:r>
            <a:r>
              <a:rPr dirty="0" sz="1200" spc="-5" i="1">
                <a:latin typeface="Arial"/>
                <a:cs typeface="Arial"/>
              </a:rPr>
              <a:t>given </a:t>
            </a:r>
            <a:r>
              <a:rPr dirty="0" sz="1200" i="1">
                <a:latin typeface="Arial"/>
                <a:cs typeface="Arial"/>
              </a:rPr>
              <a:t>the </a:t>
            </a:r>
            <a:r>
              <a:rPr dirty="0" sz="1200" spc="-5" i="1">
                <a:latin typeface="Arial"/>
                <a:cs typeface="Arial"/>
              </a:rPr>
              <a:t>message? -- </a:t>
            </a:r>
            <a:r>
              <a:rPr dirty="0" sz="1200" i="1">
                <a:latin typeface="Arial"/>
                <a:cs typeface="Arial"/>
              </a:rPr>
              <a:t>O </a:t>
            </a:r>
            <a:r>
              <a:rPr dirty="0" sz="1200" spc="-5" i="1">
                <a:latin typeface="Arial"/>
                <a:cs typeface="Arial"/>
              </a:rPr>
              <a:t>Allah, be  </a:t>
            </a:r>
            <a:r>
              <a:rPr dirty="0" sz="1200" spc="-10" i="1">
                <a:latin typeface="Arial"/>
                <a:cs typeface="Arial"/>
              </a:rPr>
              <a:t>my</a:t>
            </a:r>
            <a:r>
              <a:rPr dirty="0" sz="1200" spc="-5" i="1">
                <a:latin typeface="Arial"/>
                <a:cs typeface="Arial"/>
              </a:rPr>
              <a:t> </a:t>
            </a:r>
            <a:r>
              <a:rPr dirty="0" sz="1200" i="1">
                <a:latin typeface="Arial"/>
                <a:cs typeface="Arial"/>
              </a:rPr>
              <a:t>witness.</a:t>
            </a:r>
            <a:endParaRPr sz="1200">
              <a:latin typeface="Arial"/>
              <a:cs typeface="Arial"/>
            </a:endParaRPr>
          </a:p>
          <a:p>
            <a:pPr>
              <a:lnSpc>
                <a:spcPct val="100000"/>
              </a:lnSpc>
              <a:spcBef>
                <a:spcPts val="15"/>
              </a:spcBef>
            </a:pPr>
            <a:endParaRPr sz="1100">
              <a:latin typeface="Arial"/>
              <a:cs typeface="Arial"/>
            </a:endParaRPr>
          </a:p>
          <a:p>
            <a:pPr marL="63500">
              <a:lnSpc>
                <a:spcPct val="100000"/>
              </a:lnSpc>
              <a:spcBef>
                <a:spcPts val="5"/>
              </a:spcBef>
            </a:pPr>
            <a:r>
              <a:rPr dirty="0" sz="1200" i="1">
                <a:latin typeface="Arial"/>
                <a:cs typeface="Arial"/>
              </a:rPr>
              <a:t>At this, </a:t>
            </a:r>
            <a:r>
              <a:rPr dirty="0" sz="1200" spc="-5" i="1">
                <a:latin typeface="Arial"/>
                <a:cs typeface="Arial"/>
              </a:rPr>
              <a:t>they </a:t>
            </a:r>
            <a:r>
              <a:rPr dirty="0" sz="1200" i="1">
                <a:latin typeface="Arial"/>
                <a:cs typeface="Arial"/>
              </a:rPr>
              <a:t>said</a:t>
            </a:r>
            <a:r>
              <a:rPr dirty="0" sz="1200" spc="-15" i="1">
                <a:latin typeface="Arial"/>
                <a:cs typeface="Arial"/>
              </a:rPr>
              <a:t> </a:t>
            </a:r>
            <a:r>
              <a:rPr dirty="0" sz="1200" spc="-5" i="1">
                <a:latin typeface="Arial"/>
                <a:cs typeface="Arial"/>
              </a:rPr>
              <a:t>yes.</a:t>
            </a:r>
            <a:endParaRPr sz="1200">
              <a:latin typeface="Arial"/>
              <a:cs typeface="Arial"/>
            </a:endParaRPr>
          </a:p>
          <a:p>
            <a:pPr>
              <a:lnSpc>
                <a:spcPct val="100000"/>
              </a:lnSpc>
              <a:spcBef>
                <a:spcPts val="50"/>
              </a:spcBef>
            </a:pPr>
            <a:endParaRPr sz="1100">
              <a:latin typeface="Arial"/>
              <a:cs typeface="Arial"/>
            </a:endParaRPr>
          </a:p>
          <a:p>
            <a:pPr marL="63500">
              <a:lnSpc>
                <a:spcPct val="100000"/>
              </a:lnSpc>
              <a:spcBef>
                <a:spcPts val="5"/>
              </a:spcBef>
            </a:pPr>
            <a:r>
              <a:rPr dirty="0" sz="1200" spc="-5" i="1">
                <a:latin typeface="Arial"/>
                <a:cs typeface="Arial"/>
              </a:rPr>
              <a:t>He said, Then let whomever is present </a:t>
            </a:r>
            <a:r>
              <a:rPr dirty="0" sz="1200" i="1">
                <a:latin typeface="Arial"/>
                <a:cs typeface="Arial"/>
              </a:rPr>
              <a:t>tell </a:t>
            </a:r>
            <a:r>
              <a:rPr dirty="0" sz="1200" spc="-5" i="1">
                <a:latin typeface="Arial"/>
                <a:cs typeface="Arial"/>
              </a:rPr>
              <a:t>whomever is</a:t>
            </a:r>
            <a:r>
              <a:rPr dirty="0" sz="1200" spc="25" i="1">
                <a:latin typeface="Arial"/>
                <a:cs typeface="Arial"/>
              </a:rPr>
              <a:t> </a:t>
            </a:r>
            <a:r>
              <a:rPr dirty="0" sz="1200" spc="-5" i="1">
                <a:latin typeface="Arial"/>
                <a:cs typeface="Arial"/>
              </a:rPr>
              <a:t>absent.</a:t>
            </a:r>
            <a:endParaRPr sz="1200">
              <a:latin typeface="Arial"/>
              <a:cs typeface="Arial"/>
            </a:endParaRPr>
          </a:p>
          <a:p>
            <a:pPr>
              <a:lnSpc>
                <a:spcPct val="100000"/>
              </a:lnSpc>
              <a:spcBef>
                <a:spcPts val="35"/>
              </a:spcBef>
            </a:pPr>
            <a:endParaRPr sz="1200">
              <a:latin typeface="Arial"/>
              <a:cs typeface="Arial"/>
            </a:endParaRPr>
          </a:p>
          <a:p>
            <a:pPr algn="just" marL="63500" marR="46355">
              <a:lnSpc>
                <a:spcPts val="1380"/>
              </a:lnSpc>
            </a:pPr>
            <a:r>
              <a:rPr dirty="0" sz="1200" i="1">
                <a:latin typeface="Arial"/>
                <a:cs typeface="Arial"/>
              </a:rPr>
              <a:t>O </a:t>
            </a:r>
            <a:r>
              <a:rPr dirty="0" sz="1200" spc="-5" i="1">
                <a:latin typeface="Arial"/>
                <a:cs typeface="Arial"/>
              </a:rPr>
              <a:t>people: Allah has apportioned </a:t>
            </a:r>
            <a:r>
              <a:rPr dirty="0" sz="1200" spc="-10" i="1">
                <a:latin typeface="Arial"/>
                <a:cs typeface="Arial"/>
              </a:rPr>
              <a:t>to </a:t>
            </a:r>
            <a:r>
              <a:rPr dirty="0" sz="1200" spc="-5" i="1">
                <a:latin typeface="Arial"/>
                <a:cs typeface="Arial"/>
              </a:rPr>
              <a:t>every deserving heir his share of the estate, and </a:t>
            </a:r>
            <a:r>
              <a:rPr dirty="0" sz="1200" spc="-10" i="1">
                <a:latin typeface="Arial"/>
                <a:cs typeface="Arial"/>
              </a:rPr>
              <a:t>no  </a:t>
            </a:r>
            <a:r>
              <a:rPr dirty="0" sz="1200" spc="-5" i="1">
                <a:latin typeface="Arial"/>
                <a:cs typeface="Arial"/>
              </a:rPr>
              <a:t>deserving heir </a:t>
            </a:r>
            <a:r>
              <a:rPr dirty="0" sz="1200" spc="-10" i="1">
                <a:latin typeface="Arial"/>
                <a:cs typeface="Arial"/>
              </a:rPr>
              <a:t>may </a:t>
            </a:r>
            <a:r>
              <a:rPr dirty="0" sz="1200" i="1">
                <a:latin typeface="Arial"/>
                <a:cs typeface="Arial"/>
              </a:rPr>
              <a:t>accept </a:t>
            </a:r>
            <a:r>
              <a:rPr dirty="0" sz="1200" spc="-5" i="1">
                <a:latin typeface="Arial"/>
                <a:cs typeface="Arial"/>
              </a:rPr>
              <a:t>a special bequest, and </a:t>
            </a:r>
            <a:r>
              <a:rPr dirty="0" sz="1200" spc="-10" i="1">
                <a:latin typeface="Arial"/>
                <a:cs typeface="Arial"/>
              </a:rPr>
              <a:t>no </a:t>
            </a:r>
            <a:r>
              <a:rPr dirty="0" sz="1200" spc="-5" i="1">
                <a:latin typeface="Arial"/>
                <a:cs typeface="Arial"/>
              </a:rPr>
              <a:t>special bequest </a:t>
            </a:r>
            <a:r>
              <a:rPr dirty="0" sz="1200" spc="-10" i="1">
                <a:latin typeface="Arial"/>
                <a:cs typeface="Arial"/>
              </a:rPr>
              <a:t>may </a:t>
            </a:r>
            <a:r>
              <a:rPr dirty="0" sz="1200" spc="-5" i="1">
                <a:latin typeface="Arial"/>
                <a:cs typeface="Arial"/>
              </a:rPr>
              <a:t>exceed a third </a:t>
            </a:r>
            <a:r>
              <a:rPr dirty="0" sz="1200" spc="-10" i="1">
                <a:latin typeface="Arial"/>
                <a:cs typeface="Arial"/>
              </a:rPr>
              <a:t>of  </a:t>
            </a:r>
            <a:r>
              <a:rPr dirty="0" sz="1200" i="1">
                <a:latin typeface="Arial"/>
                <a:cs typeface="Arial"/>
              </a:rPr>
              <a:t>the </a:t>
            </a:r>
            <a:r>
              <a:rPr dirty="0" sz="1200" spc="-5" i="1">
                <a:latin typeface="Arial"/>
                <a:cs typeface="Arial"/>
              </a:rPr>
              <a:t>estate. </a:t>
            </a:r>
            <a:r>
              <a:rPr dirty="0" sz="1200" i="1">
                <a:latin typeface="Arial"/>
                <a:cs typeface="Arial"/>
              </a:rPr>
              <a:t>A </a:t>
            </a:r>
            <a:r>
              <a:rPr dirty="0" sz="1200" spc="-10" i="1">
                <a:latin typeface="Arial"/>
                <a:cs typeface="Arial"/>
              </a:rPr>
              <a:t>child‘s </a:t>
            </a:r>
            <a:r>
              <a:rPr dirty="0" sz="1200" spc="-5" i="1">
                <a:latin typeface="Arial"/>
                <a:cs typeface="Arial"/>
              </a:rPr>
              <a:t>lineage is </a:t>
            </a:r>
            <a:r>
              <a:rPr dirty="0" sz="1200" i="1">
                <a:latin typeface="Arial"/>
                <a:cs typeface="Arial"/>
              </a:rPr>
              <a:t>that of </a:t>
            </a:r>
            <a:r>
              <a:rPr dirty="0" sz="1200" spc="-5" i="1">
                <a:latin typeface="Arial"/>
                <a:cs typeface="Arial"/>
              </a:rPr>
              <a:t>the [husband who owns the] bed, and adulterers shall  be stoned. Whoever claims to be </a:t>
            </a:r>
            <a:r>
              <a:rPr dirty="0" sz="1200" i="1">
                <a:latin typeface="Arial"/>
                <a:cs typeface="Arial"/>
              </a:rPr>
              <a:t>the </a:t>
            </a:r>
            <a:r>
              <a:rPr dirty="0" sz="1200" spc="-5" i="1">
                <a:latin typeface="Arial"/>
                <a:cs typeface="Arial"/>
              </a:rPr>
              <a:t>son of </a:t>
            </a:r>
            <a:r>
              <a:rPr dirty="0" sz="1200" spc="-10" i="1">
                <a:latin typeface="Arial"/>
                <a:cs typeface="Arial"/>
              </a:rPr>
              <a:t>someone </a:t>
            </a:r>
            <a:r>
              <a:rPr dirty="0" sz="1200" i="1">
                <a:latin typeface="Arial"/>
                <a:cs typeface="Arial"/>
              </a:rPr>
              <a:t>besides </a:t>
            </a:r>
            <a:r>
              <a:rPr dirty="0" sz="1200" spc="-5" i="1">
                <a:latin typeface="Arial"/>
                <a:cs typeface="Arial"/>
              </a:rPr>
              <a:t>his father or a bondsman who  claims to </a:t>
            </a:r>
            <a:r>
              <a:rPr dirty="0" sz="1200" i="1">
                <a:latin typeface="Arial"/>
                <a:cs typeface="Arial"/>
              </a:rPr>
              <a:t>belong </a:t>
            </a:r>
            <a:r>
              <a:rPr dirty="0" sz="1200" spc="-5" i="1">
                <a:latin typeface="Arial"/>
                <a:cs typeface="Arial"/>
              </a:rPr>
              <a:t>to other than his masters shall </a:t>
            </a:r>
            <a:r>
              <a:rPr dirty="0" sz="1200" i="1">
                <a:latin typeface="Arial"/>
                <a:cs typeface="Arial"/>
              </a:rPr>
              <a:t>bear </a:t>
            </a:r>
            <a:r>
              <a:rPr dirty="0" sz="1200" spc="-5" i="1">
                <a:latin typeface="Arial"/>
                <a:cs typeface="Arial"/>
              </a:rPr>
              <a:t>the </a:t>
            </a:r>
            <a:r>
              <a:rPr dirty="0" sz="1200" i="1">
                <a:latin typeface="Arial"/>
                <a:cs typeface="Arial"/>
              </a:rPr>
              <a:t>curse </a:t>
            </a:r>
            <a:r>
              <a:rPr dirty="0" sz="1200" spc="-5" i="1">
                <a:latin typeface="Arial"/>
                <a:cs typeface="Arial"/>
              </a:rPr>
              <a:t>of Allah and the angels and all  </a:t>
            </a:r>
            <a:r>
              <a:rPr dirty="0" sz="1200" spc="-10" i="1">
                <a:latin typeface="Arial"/>
                <a:cs typeface="Arial"/>
              </a:rPr>
              <a:t>men: </a:t>
            </a:r>
            <a:r>
              <a:rPr dirty="0" sz="1200" spc="-5" i="1">
                <a:latin typeface="Arial"/>
                <a:cs typeface="Arial"/>
              </a:rPr>
              <a:t>no deflecting of it or </a:t>
            </a:r>
            <a:r>
              <a:rPr dirty="0" sz="1200" i="1">
                <a:latin typeface="Arial"/>
                <a:cs typeface="Arial"/>
              </a:rPr>
              <a:t>ransom for </a:t>
            </a:r>
            <a:r>
              <a:rPr dirty="0" sz="1200" spc="-5" i="1">
                <a:latin typeface="Arial"/>
                <a:cs typeface="Arial"/>
              </a:rPr>
              <a:t>it shall be accepted </a:t>
            </a:r>
            <a:r>
              <a:rPr dirty="0" sz="1200" i="1">
                <a:latin typeface="Arial"/>
                <a:cs typeface="Arial"/>
              </a:rPr>
              <a:t>from </a:t>
            </a:r>
            <a:r>
              <a:rPr dirty="0" sz="1200" spc="-5" i="1">
                <a:latin typeface="Arial"/>
                <a:cs typeface="Arial"/>
              </a:rPr>
              <a:t>him. And peace be upon </a:t>
            </a:r>
            <a:r>
              <a:rPr dirty="0" sz="1200" spc="-10" i="1">
                <a:latin typeface="Arial"/>
                <a:cs typeface="Arial"/>
              </a:rPr>
              <a:t>all </a:t>
            </a:r>
            <a:r>
              <a:rPr dirty="0" sz="1200" spc="-5" i="1">
                <a:latin typeface="Arial"/>
                <a:cs typeface="Arial"/>
              </a:rPr>
              <a:t>of  you, and the mercy of</a:t>
            </a:r>
            <a:r>
              <a:rPr dirty="0" sz="1200" spc="-15" i="1">
                <a:latin typeface="Arial"/>
                <a:cs typeface="Arial"/>
              </a:rPr>
              <a:t> </a:t>
            </a:r>
            <a:r>
              <a:rPr dirty="0" sz="1200" spc="-5" i="1">
                <a:latin typeface="Arial"/>
                <a:cs typeface="Arial"/>
              </a:rPr>
              <a:t>Allah.</a:t>
            </a:r>
            <a:endParaRPr sz="1200">
              <a:latin typeface="Arial"/>
              <a:cs typeface="Arial"/>
            </a:endParaRPr>
          </a:p>
          <a:p>
            <a:pPr>
              <a:lnSpc>
                <a:spcPct val="100000"/>
              </a:lnSpc>
              <a:spcBef>
                <a:spcPts val="30"/>
              </a:spcBef>
            </a:pPr>
            <a:endParaRPr sz="1100">
              <a:latin typeface="Arial"/>
              <a:cs typeface="Arial"/>
            </a:endParaRPr>
          </a:p>
          <a:p>
            <a:pPr marL="63500">
              <a:lnSpc>
                <a:spcPct val="100000"/>
              </a:lnSpc>
              <a:spcBef>
                <a:spcPts val="5"/>
              </a:spcBef>
            </a:pPr>
            <a:r>
              <a:rPr dirty="0" u="heavy" sz="1200" spc="-5" b="1" i="1">
                <a:uFill>
                  <a:solidFill>
                    <a:srgbClr val="000000"/>
                  </a:solidFill>
                </a:uFill>
                <a:latin typeface="Arial"/>
                <a:cs typeface="Arial"/>
              </a:rPr>
              <a:t>At this we can summarise the address </a:t>
            </a:r>
            <a:r>
              <a:rPr dirty="0" u="heavy" sz="1200" b="1" i="1">
                <a:uFill>
                  <a:solidFill>
                    <a:srgbClr val="000000"/>
                  </a:solidFill>
                </a:uFill>
                <a:latin typeface="Arial"/>
                <a:cs typeface="Arial"/>
              </a:rPr>
              <a:t>into </a:t>
            </a:r>
            <a:r>
              <a:rPr dirty="0" u="heavy" sz="1200" spc="-5" b="1" i="1">
                <a:uFill>
                  <a:solidFill>
                    <a:srgbClr val="000000"/>
                  </a:solidFill>
                </a:uFill>
                <a:latin typeface="Arial"/>
                <a:cs typeface="Arial"/>
              </a:rPr>
              <a:t>the following main</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points:</a:t>
            </a:r>
            <a:endParaRPr sz="1200">
              <a:latin typeface="Arial"/>
              <a:cs typeface="Arial"/>
            </a:endParaRPr>
          </a:p>
          <a:p>
            <a:pPr>
              <a:lnSpc>
                <a:spcPct val="100000"/>
              </a:lnSpc>
              <a:spcBef>
                <a:spcPts val="50"/>
              </a:spcBef>
            </a:pPr>
            <a:endParaRPr sz="1100">
              <a:latin typeface="Arial"/>
              <a:cs typeface="Arial"/>
            </a:endParaRPr>
          </a:p>
          <a:p>
            <a:pPr marL="520700" indent="-229235">
              <a:lnSpc>
                <a:spcPts val="1410"/>
              </a:lnSpc>
              <a:spcBef>
                <a:spcPts val="5"/>
              </a:spcBef>
              <a:buAutoNum type="arabicPeriod"/>
              <a:tabLst>
                <a:tab pos="521334" algn="l"/>
              </a:tabLst>
            </a:pPr>
            <a:r>
              <a:rPr dirty="0" sz="1200" spc="-5">
                <a:latin typeface="Arial"/>
                <a:cs typeface="Arial"/>
              </a:rPr>
              <a:t>TRUST AND</a:t>
            </a:r>
            <a:r>
              <a:rPr dirty="0" sz="1200">
                <a:latin typeface="Arial"/>
                <a:cs typeface="Arial"/>
              </a:rPr>
              <a:t> </a:t>
            </a:r>
            <a:r>
              <a:rPr dirty="0" sz="1200" spc="-5">
                <a:latin typeface="Arial"/>
                <a:cs typeface="Arial"/>
              </a:rPr>
              <a:t>ACCOUNTABILITY</a:t>
            </a:r>
            <a:endParaRPr sz="1200">
              <a:latin typeface="Arial"/>
              <a:cs typeface="Arial"/>
            </a:endParaRPr>
          </a:p>
          <a:p>
            <a:pPr marL="520700" indent="-229235">
              <a:lnSpc>
                <a:spcPts val="1380"/>
              </a:lnSpc>
              <a:buAutoNum type="arabicPeriod"/>
              <a:tabLst>
                <a:tab pos="521334" algn="l"/>
              </a:tabLst>
            </a:pPr>
            <a:r>
              <a:rPr dirty="0" sz="1200">
                <a:latin typeface="Arial"/>
                <a:cs typeface="Arial"/>
              </a:rPr>
              <a:t>FINANCIAL</a:t>
            </a:r>
            <a:r>
              <a:rPr dirty="0" sz="1200" spc="-5">
                <a:latin typeface="Arial"/>
                <a:cs typeface="Arial"/>
              </a:rPr>
              <a:t> OBLIGATIONS</a:t>
            </a:r>
            <a:endParaRPr sz="1200">
              <a:latin typeface="Arial"/>
              <a:cs typeface="Arial"/>
            </a:endParaRPr>
          </a:p>
          <a:p>
            <a:pPr marL="520700" indent="-229235">
              <a:lnSpc>
                <a:spcPts val="1380"/>
              </a:lnSpc>
              <a:buAutoNum type="arabicPeriod"/>
              <a:tabLst>
                <a:tab pos="521334" algn="l"/>
              </a:tabLst>
            </a:pPr>
            <a:r>
              <a:rPr dirty="0" sz="1200" spc="-5">
                <a:latin typeface="Arial"/>
                <a:cs typeface="Arial"/>
              </a:rPr>
              <a:t>INTEREST (RIBAH)</a:t>
            </a:r>
            <a:endParaRPr sz="1200">
              <a:latin typeface="Arial"/>
              <a:cs typeface="Arial"/>
            </a:endParaRPr>
          </a:p>
          <a:p>
            <a:pPr marL="520700" indent="-229235">
              <a:lnSpc>
                <a:spcPts val="1380"/>
              </a:lnSpc>
              <a:buAutoNum type="arabicPeriod"/>
              <a:tabLst>
                <a:tab pos="521334" algn="l"/>
              </a:tabLst>
            </a:pPr>
            <a:r>
              <a:rPr dirty="0" sz="1200" spc="-5">
                <a:latin typeface="Arial"/>
                <a:cs typeface="Arial"/>
              </a:rPr>
              <a:t>TREATMENT </a:t>
            </a:r>
            <a:r>
              <a:rPr dirty="0" sz="1200">
                <a:latin typeface="Arial"/>
                <a:cs typeface="Arial"/>
              </a:rPr>
              <a:t>OF WIFE</a:t>
            </a:r>
            <a:r>
              <a:rPr dirty="0" sz="1200" spc="-30">
                <a:latin typeface="Arial"/>
                <a:cs typeface="Arial"/>
              </a:rPr>
              <a:t> </a:t>
            </a:r>
            <a:r>
              <a:rPr dirty="0" sz="1200">
                <a:latin typeface="Arial"/>
                <a:cs typeface="Arial"/>
              </a:rPr>
              <a:t>(SPOUSE)</a:t>
            </a:r>
            <a:endParaRPr sz="1200">
              <a:latin typeface="Arial"/>
              <a:cs typeface="Arial"/>
            </a:endParaRPr>
          </a:p>
          <a:p>
            <a:pPr marL="520700" indent="-229235">
              <a:lnSpc>
                <a:spcPts val="1380"/>
              </a:lnSpc>
              <a:buAutoNum type="arabicPeriod"/>
              <a:tabLst>
                <a:tab pos="521334" algn="l"/>
              </a:tabLst>
            </a:pPr>
            <a:r>
              <a:rPr dirty="0" sz="1200">
                <a:latin typeface="Arial"/>
                <a:cs typeface="Arial"/>
              </a:rPr>
              <a:t>WARNING </a:t>
            </a:r>
            <a:r>
              <a:rPr dirty="0" sz="1200" spc="-5">
                <a:latin typeface="Arial"/>
                <a:cs typeface="Arial"/>
              </a:rPr>
              <a:t>ABOUT SATAN</a:t>
            </a:r>
            <a:endParaRPr sz="1200">
              <a:latin typeface="Arial"/>
              <a:cs typeface="Arial"/>
            </a:endParaRPr>
          </a:p>
          <a:p>
            <a:pPr marL="520700" indent="-229235">
              <a:lnSpc>
                <a:spcPts val="1380"/>
              </a:lnSpc>
              <a:buAutoNum type="arabicPeriod"/>
              <a:tabLst>
                <a:tab pos="521334" algn="l"/>
              </a:tabLst>
            </a:pPr>
            <a:r>
              <a:rPr dirty="0" sz="1200">
                <a:latin typeface="Arial"/>
                <a:cs typeface="Arial"/>
              </a:rPr>
              <a:t>BROTHERHOOD</a:t>
            </a:r>
            <a:endParaRPr sz="1200">
              <a:latin typeface="Arial"/>
              <a:cs typeface="Arial"/>
            </a:endParaRPr>
          </a:p>
          <a:p>
            <a:pPr marL="520700" indent="-229235">
              <a:lnSpc>
                <a:spcPts val="1380"/>
              </a:lnSpc>
              <a:buAutoNum type="arabicPeriod"/>
              <a:tabLst>
                <a:tab pos="521334" algn="l"/>
              </a:tabLst>
            </a:pPr>
            <a:r>
              <a:rPr dirty="0" sz="1200" spc="-5">
                <a:latin typeface="Arial"/>
                <a:cs typeface="Arial"/>
              </a:rPr>
              <a:t>SUPERIORITY </a:t>
            </a:r>
            <a:r>
              <a:rPr dirty="0" sz="1200">
                <a:latin typeface="Arial"/>
                <a:cs typeface="Arial"/>
              </a:rPr>
              <a:t>IS </a:t>
            </a:r>
            <a:r>
              <a:rPr dirty="0" sz="1200" spc="-5">
                <a:latin typeface="Arial"/>
                <a:cs typeface="Arial"/>
              </a:rPr>
              <a:t>ONLY </a:t>
            </a:r>
            <a:r>
              <a:rPr dirty="0" sz="1200">
                <a:latin typeface="Arial"/>
                <a:cs typeface="Arial"/>
              </a:rPr>
              <a:t>IN </a:t>
            </a:r>
            <a:r>
              <a:rPr dirty="0" sz="1200" spc="-5">
                <a:latin typeface="Arial"/>
                <a:cs typeface="Arial"/>
              </a:rPr>
              <a:t>PIETY AND</a:t>
            </a:r>
            <a:r>
              <a:rPr dirty="0" sz="1200" spc="-25">
                <a:latin typeface="Arial"/>
                <a:cs typeface="Arial"/>
              </a:rPr>
              <a:t> </a:t>
            </a:r>
            <a:r>
              <a:rPr dirty="0" sz="1200">
                <a:latin typeface="Arial"/>
                <a:cs typeface="Arial"/>
              </a:rPr>
              <a:t>SUBMISSION</a:t>
            </a:r>
            <a:endParaRPr sz="1200">
              <a:latin typeface="Arial"/>
              <a:cs typeface="Arial"/>
            </a:endParaRPr>
          </a:p>
          <a:p>
            <a:pPr marL="520700" marR="46355" indent="-229235">
              <a:lnSpc>
                <a:spcPts val="1380"/>
              </a:lnSpc>
              <a:spcBef>
                <a:spcPts val="65"/>
              </a:spcBef>
              <a:buAutoNum type="arabicPeriod"/>
              <a:tabLst>
                <a:tab pos="521334" algn="l"/>
              </a:tabLst>
            </a:pPr>
            <a:r>
              <a:rPr dirty="0" sz="1200">
                <a:latin typeface="Arial"/>
                <a:cs typeface="Arial"/>
              </a:rPr>
              <a:t>IN ORDER TO BE </a:t>
            </a:r>
            <a:r>
              <a:rPr dirty="0" sz="1200" spc="-5">
                <a:latin typeface="Arial"/>
                <a:cs typeface="Arial"/>
              </a:rPr>
              <a:t>SUCCESSFUL </a:t>
            </a:r>
            <a:r>
              <a:rPr dirty="0" sz="1200" spc="20">
                <a:latin typeface="Arial"/>
                <a:cs typeface="Arial"/>
              </a:rPr>
              <a:t>WE </a:t>
            </a:r>
            <a:r>
              <a:rPr dirty="0" sz="1200" spc="-5">
                <a:latin typeface="Arial"/>
                <a:cs typeface="Arial"/>
              </a:rPr>
              <a:t>MUST OBEY BOTH </a:t>
            </a:r>
            <a:r>
              <a:rPr dirty="0" sz="1200">
                <a:latin typeface="Arial"/>
                <a:cs typeface="Arial"/>
              </a:rPr>
              <a:t>GOD </a:t>
            </a:r>
            <a:r>
              <a:rPr dirty="0" sz="1200" spc="-5">
                <a:latin typeface="Arial"/>
                <a:cs typeface="Arial"/>
              </a:rPr>
              <a:t>AND </a:t>
            </a:r>
            <a:r>
              <a:rPr dirty="0" sz="1200">
                <a:latin typeface="Arial"/>
                <a:cs typeface="Arial"/>
              </a:rPr>
              <a:t>HIS  </a:t>
            </a:r>
            <a:r>
              <a:rPr dirty="0" sz="1200" spc="-5">
                <a:latin typeface="Arial"/>
                <a:cs typeface="Arial"/>
              </a:rPr>
              <a:t>MESSENGER</a:t>
            </a:r>
            <a:endParaRPr sz="1200">
              <a:latin typeface="Arial"/>
              <a:cs typeface="Arial"/>
            </a:endParaRPr>
          </a:p>
          <a:p>
            <a:pPr marL="520700" indent="-229235">
              <a:lnSpc>
                <a:spcPts val="1310"/>
              </a:lnSpc>
              <a:buAutoNum type="arabicPeriod"/>
              <a:tabLst>
                <a:tab pos="521334" algn="l"/>
              </a:tabLst>
            </a:pPr>
            <a:r>
              <a:rPr dirty="0" sz="1200">
                <a:latin typeface="Arial"/>
                <a:cs typeface="Arial"/>
              </a:rPr>
              <a:t>OBSERVE THE </a:t>
            </a:r>
            <a:r>
              <a:rPr dirty="0" sz="1200" spc="-5">
                <a:latin typeface="Arial"/>
                <a:cs typeface="Arial"/>
              </a:rPr>
              <a:t>PILLARS </a:t>
            </a:r>
            <a:r>
              <a:rPr dirty="0" sz="1200">
                <a:latin typeface="Arial"/>
                <a:cs typeface="Arial"/>
              </a:rPr>
              <a:t>OF</a:t>
            </a:r>
            <a:r>
              <a:rPr dirty="0" sz="1200" spc="-20">
                <a:latin typeface="Arial"/>
                <a:cs typeface="Arial"/>
              </a:rPr>
              <a:t> </a:t>
            </a:r>
            <a:r>
              <a:rPr dirty="0" sz="1200" spc="-5">
                <a:latin typeface="Arial"/>
                <a:cs typeface="Arial"/>
              </a:rPr>
              <a:t>ISLAM</a:t>
            </a:r>
            <a:endParaRPr sz="1200">
              <a:latin typeface="Arial"/>
              <a:cs typeface="Arial"/>
            </a:endParaRPr>
          </a:p>
          <a:p>
            <a:pPr marL="520700" indent="-229235">
              <a:lnSpc>
                <a:spcPts val="1375"/>
              </a:lnSpc>
              <a:buAutoNum type="arabicPeriod"/>
              <a:tabLst>
                <a:tab pos="521334" algn="l"/>
              </a:tabLst>
            </a:pPr>
            <a:r>
              <a:rPr dirty="0" sz="1200">
                <a:latin typeface="Arial"/>
                <a:cs typeface="Arial"/>
              </a:rPr>
              <a:t>DUTIES </a:t>
            </a:r>
            <a:r>
              <a:rPr dirty="0" sz="1200" spc="-5">
                <a:latin typeface="Arial"/>
                <a:cs typeface="Arial"/>
              </a:rPr>
              <a:t>REGARDING </a:t>
            </a:r>
            <a:r>
              <a:rPr dirty="0" sz="1200">
                <a:latin typeface="Arial"/>
                <a:cs typeface="Arial"/>
              </a:rPr>
              <a:t>THOSE WORKING </a:t>
            </a:r>
            <a:r>
              <a:rPr dirty="0" sz="1200" spc="-5">
                <a:latin typeface="Arial"/>
                <a:cs typeface="Arial"/>
              </a:rPr>
              <a:t>UNDER</a:t>
            </a:r>
            <a:r>
              <a:rPr dirty="0" sz="1200" spc="-45">
                <a:latin typeface="Arial"/>
                <a:cs typeface="Arial"/>
              </a:rPr>
              <a:t> </a:t>
            </a:r>
            <a:r>
              <a:rPr dirty="0" sz="1200" spc="-5">
                <a:latin typeface="Arial"/>
                <a:cs typeface="Arial"/>
              </a:rPr>
              <a:t>US</a:t>
            </a:r>
            <a:endParaRPr sz="1200">
              <a:latin typeface="Arial"/>
              <a:cs typeface="Arial"/>
            </a:endParaRPr>
          </a:p>
          <a:p>
            <a:pPr marL="520700" indent="-229235">
              <a:lnSpc>
                <a:spcPts val="1380"/>
              </a:lnSpc>
              <a:buAutoNum type="arabicPeriod"/>
              <a:tabLst>
                <a:tab pos="521334" algn="l"/>
              </a:tabLst>
            </a:pPr>
            <a:r>
              <a:rPr dirty="0" sz="1200" spc="-5">
                <a:latin typeface="Arial"/>
                <a:cs typeface="Arial"/>
              </a:rPr>
              <a:t>MUHAMMAD </a:t>
            </a:r>
            <a:r>
              <a:rPr dirty="0" sz="1200" spc="10">
                <a:latin typeface="Arial"/>
                <a:cs typeface="Arial"/>
              </a:rPr>
              <a:t>WAS </a:t>
            </a:r>
            <a:r>
              <a:rPr dirty="0" sz="1200">
                <a:latin typeface="Arial"/>
                <a:cs typeface="Arial"/>
              </a:rPr>
              <a:t>THE </a:t>
            </a:r>
            <a:r>
              <a:rPr dirty="0" sz="1200" spc="-5">
                <a:latin typeface="Arial"/>
                <a:cs typeface="Arial"/>
              </a:rPr>
              <a:t>LAST</a:t>
            </a:r>
            <a:r>
              <a:rPr dirty="0" sz="1200" spc="-55">
                <a:latin typeface="Arial"/>
                <a:cs typeface="Arial"/>
              </a:rPr>
              <a:t> </a:t>
            </a:r>
            <a:r>
              <a:rPr dirty="0" sz="1200" spc="-5">
                <a:latin typeface="Arial"/>
                <a:cs typeface="Arial"/>
              </a:rPr>
              <a:t>PROPHET</a:t>
            </a:r>
            <a:endParaRPr sz="1200">
              <a:latin typeface="Arial"/>
              <a:cs typeface="Arial"/>
            </a:endParaRPr>
          </a:p>
          <a:p>
            <a:pPr marL="520700" indent="-229235">
              <a:lnSpc>
                <a:spcPts val="1410"/>
              </a:lnSpc>
              <a:buAutoNum type="arabicPeriod"/>
              <a:tabLst>
                <a:tab pos="521334" algn="l"/>
              </a:tabLst>
            </a:pPr>
            <a:r>
              <a:rPr dirty="0" sz="1200">
                <a:latin typeface="Arial"/>
                <a:cs typeface="Arial"/>
              </a:rPr>
              <a:t>OUR </a:t>
            </a:r>
            <a:r>
              <a:rPr dirty="0" sz="1200" spc="-5">
                <a:latin typeface="Arial"/>
                <a:cs typeface="Arial"/>
              </a:rPr>
              <a:t>DUTY </a:t>
            </a:r>
            <a:r>
              <a:rPr dirty="0" sz="1200">
                <a:latin typeface="Arial"/>
                <a:cs typeface="Arial"/>
              </a:rPr>
              <a:t>IS TO </a:t>
            </a:r>
            <a:r>
              <a:rPr dirty="0" sz="1200" spc="-5">
                <a:latin typeface="Arial"/>
                <a:cs typeface="Arial"/>
              </a:rPr>
              <a:t>SPREAD </a:t>
            </a:r>
            <a:r>
              <a:rPr dirty="0" sz="1200">
                <a:latin typeface="Arial"/>
                <a:cs typeface="Arial"/>
              </a:rPr>
              <a:t>THE </a:t>
            </a:r>
            <a:r>
              <a:rPr dirty="0" sz="1200" spc="-5">
                <a:latin typeface="Arial"/>
                <a:cs typeface="Arial"/>
              </a:rPr>
              <a:t>MESSAGE </a:t>
            </a:r>
            <a:r>
              <a:rPr dirty="0" sz="1200">
                <a:latin typeface="Arial"/>
                <a:cs typeface="Arial"/>
              </a:rPr>
              <a:t>OF THE </a:t>
            </a:r>
            <a:r>
              <a:rPr dirty="0" sz="1200" spc="-5">
                <a:latin typeface="Arial"/>
                <a:cs typeface="Arial"/>
              </a:rPr>
              <a:t>PROPHET</a:t>
            </a:r>
            <a:r>
              <a:rPr dirty="0" sz="1200" spc="-35">
                <a:latin typeface="Arial"/>
                <a:cs typeface="Arial"/>
              </a:rPr>
              <a:t> </a:t>
            </a:r>
            <a:r>
              <a:rPr dirty="0" sz="1200" spc="-5">
                <a:latin typeface="Arial"/>
                <a:cs typeface="Arial"/>
              </a:rPr>
              <a:t>(QURAN)</a:t>
            </a:r>
            <a:endParaRPr sz="1200">
              <a:latin typeface="Arial"/>
              <a:cs typeface="Arial"/>
            </a:endParaRPr>
          </a:p>
          <a:p>
            <a:pPr>
              <a:lnSpc>
                <a:spcPct val="100000"/>
              </a:lnSpc>
            </a:pPr>
            <a:endParaRPr sz="1150">
              <a:latin typeface="Arial"/>
              <a:cs typeface="Arial"/>
            </a:endParaRPr>
          </a:p>
          <a:p>
            <a:pPr marL="63500">
              <a:lnSpc>
                <a:spcPct val="100000"/>
              </a:lnSpc>
            </a:pPr>
            <a:r>
              <a:rPr dirty="0" sz="1200" spc="-5" b="1" i="1">
                <a:latin typeface="Arial"/>
                <a:cs typeface="Arial"/>
              </a:rPr>
              <a:t>11</a:t>
            </a:r>
            <a:r>
              <a:rPr dirty="0" baseline="38194" sz="1200" spc="-7" b="1" i="1">
                <a:latin typeface="Arial"/>
                <a:cs typeface="Arial"/>
              </a:rPr>
              <a:t>th </a:t>
            </a:r>
            <a:r>
              <a:rPr dirty="0" sz="1200" spc="-5" b="1" i="1">
                <a:latin typeface="Arial"/>
                <a:cs typeface="Arial"/>
              </a:rPr>
              <a:t>Year of</a:t>
            </a:r>
            <a:r>
              <a:rPr dirty="0" sz="1200" spc="-100" b="1" i="1">
                <a:latin typeface="Arial"/>
                <a:cs typeface="Arial"/>
              </a:rPr>
              <a:t> </a:t>
            </a:r>
            <a:r>
              <a:rPr dirty="0" sz="1200" spc="-5" b="1" i="1">
                <a:latin typeface="Arial"/>
                <a:cs typeface="Arial"/>
              </a:rPr>
              <a:t>Hijrah</a:t>
            </a:r>
            <a:endParaRPr sz="1200">
              <a:latin typeface="Arial"/>
              <a:cs typeface="Arial"/>
            </a:endParaRPr>
          </a:p>
          <a:p>
            <a:pPr>
              <a:lnSpc>
                <a:spcPct val="100000"/>
              </a:lnSpc>
              <a:spcBef>
                <a:spcPts val="35"/>
              </a:spcBef>
            </a:pPr>
            <a:endParaRPr sz="1200">
              <a:latin typeface="Arial"/>
              <a:cs typeface="Arial"/>
            </a:endParaRPr>
          </a:p>
          <a:p>
            <a:pPr algn="just" marL="63500" marR="43180">
              <a:lnSpc>
                <a:spcPts val="1380"/>
              </a:lnSpc>
            </a:pPr>
            <a:r>
              <a:rPr dirty="0" sz="1200" spc="-5">
                <a:latin typeface="Arial"/>
                <a:cs typeface="Arial"/>
              </a:rPr>
              <a:t>There </a:t>
            </a:r>
            <a:r>
              <a:rPr dirty="0" sz="1200" spc="-10">
                <a:latin typeface="Arial"/>
                <a:cs typeface="Arial"/>
              </a:rPr>
              <a:t>was </a:t>
            </a:r>
            <a:r>
              <a:rPr dirty="0" sz="1200" spc="-5">
                <a:latin typeface="Arial"/>
                <a:cs typeface="Arial"/>
              </a:rPr>
              <a:t>also a very important event in the illness and wafaat of </a:t>
            </a:r>
            <a:r>
              <a:rPr dirty="0" sz="1200">
                <a:latin typeface="Arial"/>
                <a:cs typeface="Arial"/>
              </a:rPr>
              <a:t>the </a:t>
            </a:r>
            <a:r>
              <a:rPr dirty="0" sz="1200" spc="-5">
                <a:latin typeface="Arial"/>
                <a:cs typeface="Arial"/>
              </a:rPr>
              <a:t>prophet (s.a.w). His  illness </a:t>
            </a:r>
            <a:r>
              <a:rPr dirty="0" sz="1200">
                <a:latin typeface="Arial"/>
                <a:cs typeface="Arial"/>
              </a:rPr>
              <a:t>started </a:t>
            </a:r>
            <a:r>
              <a:rPr dirty="0" sz="1200" spc="-5">
                <a:latin typeface="Arial"/>
                <a:cs typeface="Arial"/>
              </a:rPr>
              <a:t>in the month of Safar and on the </a:t>
            </a:r>
            <a:r>
              <a:rPr dirty="0" sz="1200" spc="5">
                <a:latin typeface="Arial"/>
                <a:cs typeface="Arial"/>
              </a:rPr>
              <a:t>5</a:t>
            </a:r>
            <a:r>
              <a:rPr dirty="0" baseline="38194" sz="1200" spc="7">
                <a:latin typeface="Arial"/>
                <a:cs typeface="Arial"/>
              </a:rPr>
              <a:t>th </a:t>
            </a:r>
            <a:r>
              <a:rPr dirty="0" sz="1200" spc="-5">
                <a:latin typeface="Arial"/>
                <a:cs typeface="Arial"/>
              </a:rPr>
              <a:t>day </a:t>
            </a:r>
            <a:r>
              <a:rPr dirty="0" sz="1200">
                <a:latin typeface="Arial"/>
                <a:cs typeface="Arial"/>
              </a:rPr>
              <a:t>of </a:t>
            </a:r>
            <a:r>
              <a:rPr dirty="0" sz="1200" spc="-5">
                <a:latin typeface="Arial"/>
                <a:cs typeface="Arial"/>
              </a:rPr>
              <a:t>illness, </a:t>
            </a:r>
            <a:r>
              <a:rPr dirty="0" sz="1200" spc="-10">
                <a:latin typeface="Arial"/>
                <a:cs typeface="Arial"/>
              </a:rPr>
              <a:t>he </a:t>
            </a:r>
            <a:r>
              <a:rPr dirty="0" sz="1200" spc="-5">
                <a:latin typeface="Arial"/>
                <a:cs typeface="Arial"/>
              </a:rPr>
              <a:t>shifted to Hazrat Aisha  (r.a). </a:t>
            </a:r>
            <a:r>
              <a:rPr dirty="0" sz="1200">
                <a:latin typeface="Arial"/>
                <a:cs typeface="Arial"/>
              </a:rPr>
              <a:t>It </a:t>
            </a:r>
            <a:r>
              <a:rPr dirty="0" sz="1200" spc="-5">
                <a:latin typeface="Arial"/>
                <a:cs typeface="Arial"/>
              </a:rPr>
              <a:t>lasted </a:t>
            </a:r>
            <a:r>
              <a:rPr dirty="0" sz="1200">
                <a:latin typeface="Arial"/>
                <a:cs typeface="Arial"/>
              </a:rPr>
              <a:t>for </a:t>
            </a:r>
            <a:r>
              <a:rPr dirty="0" sz="1200" spc="-5">
                <a:latin typeface="Arial"/>
                <a:cs typeface="Arial"/>
              </a:rPr>
              <a:t>13 </a:t>
            </a:r>
            <a:r>
              <a:rPr dirty="0" sz="1200" spc="-10">
                <a:latin typeface="Arial"/>
                <a:cs typeface="Arial"/>
              </a:rPr>
              <a:t>days </a:t>
            </a:r>
            <a:r>
              <a:rPr dirty="0" sz="1200">
                <a:latin typeface="Arial"/>
                <a:cs typeface="Arial"/>
              </a:rPr>
              <a:t>then </a:t>
            </a:r>
            <a:r>
              <a:rPr dirty="0" sz="1200" spc="-5">
                <a:latin typeface="Arial"/>
                <a:cs typeface="Arial"/>
              </a:rPr>
              <a:t>breathed his </a:t>
            </a:r>
            <a:r>
              <a:rPr dirty="0" sz="1200">
                <a:latin typeface="Arial"/>
                <a:cs typeface="Arial"/>
              </a:rPr>
              <a:t>last </a:t>
            </a:r>
            <a:r>
              <a:rPr dirty="0" sz="1200" spc="-5">
                <a:latin typeface="Arial"/>
                <a:cs typeface="Arial"/>
              </a:rPr>
              <a:t>on </a:t>
            </a:r>
            <a:r>
              <a:rPr dirty="0" sz="1200">
                <a:latin typeface="Arial"/>
                <a:cs typeface="Arial"/>
              </a:rPr>
              <a:t>the </a:t>
            </a:r>
            <a:r>
              <a:rPr dirty="0" sz="1200" spc="5">
                <a:latin typeface="Arial"/>
                <a:cs typeface="Arial"/>
              </a:rPr>
              <a:t>12</a:t>
            </a:r>
            <a:r>
              <a:rPr dirty="0" baseline="38194" sz="1200" spc="7">
                <a:latin typeface="Arial"/>
                <a:cs typeface="Arial"/>
              </a:rPr>
              <a:t>th </a:t>
            </a:r>
            <a:r>
              <a:rPr dirty="0" sz="1200" spc="-5">
                <a:latin typeface="Arial"/>
                <a:cs typeface="Arial"/>
              </a:rPr>
              <a:t>Rabi-ul-Awwal </a:t>
            </a:r>
            <a:r>
              <a:rPr dirty="0" sz="1200">
                <a:latin typeface="Arial"/>
                <a:cs typeface="Arial"/>
              </a:rPr>
              <a:t>at the </a:t>
            </a:r>
            <a:r>
              <a:rPr dirty="0" sz="1200" spc="-5">
                <a:latin typeface="Arial"/>
                <a:cs typeface="Arial"/>
              </a:rPr>
              <a:t>age 63. He  </a:t>
            </a:r>
            <a:r>
              <a:rPr dirty="0" sz="1200" spc="-10">
                <a:latin typeface="Arial"/>
                <a:cs typeface="Arial"/>
              </a:rPr>
              <a:t>was </a:t>
            </a:r>
            <a:r>
              <a:rPr dirty="0" sz="1200" spc="-5">
                <a:latin typeface="Arial"/>
                <a:cs typeface="Arial"/>
              </a:rPr>
              <a:t>then buried in the apartment of Hazrat Aisha</a:t>
            </a:r>
            <a:r>
              <a:rPr dirty="0" sz="1200" spc="35">
                <a:latin typeface="Arial"/>
                <a:cs typeface="Arial"/>
              </a:rPr>
              <a:t> </a:t>
            </a:r>
            <a:r>
              <a:rPr dirty="0" sz="1200">
                <a:latin typeface="Arial"/>
                <a:cs typeface="Arial"/>
              </a:rPr>
              <a:t>(r.a).</a:t>
            </a:r>
            <a:endParaRPr sz="1200">
              <a:latin typeface="Arial"/>
              <a:cs typeface="Arial"/>
            </a:endParaRPr>
          </a:p>
        </p:txBody>
      </p:sp>
      <p:sp>
        <p:nvSpPr>
          <p:cNvPr id="5" name="object 5"/>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6" name="object 6"/>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24</a:t>
            </a:r>
            <a:endParaRPr sz="120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6311265" cy="897128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Additional Material </a:t>
            </a:r>
            <a:r>
              <a:rPr dirty="0" u="heavy" sz="1200" spc="-10" b="1" i="1">
                <a:uFill>
                  <a:solidFill>
                    <a:srgbClr val="000000"/>
                  </a:solidFill>
                </a:uFill>
                <a:latin typeface="Arial"/>
                <a:cs typeface="Arial"/>
              </a:rPr>
              <a:t>For </a:t>
            </a:r>
            <a:r>
              <a:rPr dirty="0" u="heavy" sz="1200" spc="-5" b="1" i="1">
                <a:uFill>
                  <a:solidFill>
                    <a:srgbClr val="000000"/>
                  </a:solidFill>
                </a:uFill>
                <a:latin typeface="Arial"/>
                <a:cs typeface="Arial"/>
              </a:rPr>
              <a:t>Past Exam</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Questions</a:t>
            </a:r>
            <a:endParaRPr sz="1200">
              <a:latin typeface="Arial"/>
              <a:cs typeface="Arial"/>
            </a:endParaRPr>
          </a:p>
          <a:p>
            <a:pPr>
              <a:lnSpc>
                <a:spcPct val="100000"/>
              </a:lnSpc>
              <a:spcBef>
                <a:spcPts val="35"/>
              </a:spcBef>
            </a:pPr>
            <a:endParaRPr sz="1200">
              <a:latin typeface="Arial"/>
              <a:cs typeface="Arial"/>
            </a:endParaRPr>
          </a:p>
          <a:p>
            <a:pPr algn="just" marL="12700" marR="6985">
              <a:lnSpc>
                <a:spcPts val="1380"/>
              </a:lnSpc>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How </a:t>
            </a:r>
            <a:r>
              <a:rPr dirty="0" u="heavy" sz="1200" b="1" i="1">
                <a:uFill>
                  <a:solidFill>
                    <a:srgbClr val="000000"/>
                  </a:solidFill>
                </a:uFill>
                <a:latin typeface="Arial"/>
                <a:cs typeface="Arial"/>
              </a:rPr>
              <a:t>did </a:t>
            </a:r>
            <a:r>
              <a:rPr dirty="0" u="heavy" sz="1200" spc="-5" b="1" i="1">
                <a:uFill>
                  <a:solidFill>
                    <a:srgbClr val="000000"/>
                  </a:solidFill>
                </a:uFill>
                <a:latin typeface="Arial"/>
                <a:cs typeface="Arial"/>
              </a:rPr>
              <a:t>the </a:t>
            </a:r>
            <a:r>
              <a:rPr dirty="0" u="heavy" sz="1200" spc="-35" b="1" i="1">
                <a:uFill>
                  <a:solidFill>
                    <a:srgbClr val="000000"/>
                  </a:solidFill>
                </a:uFill>
                <a:latin typeface="Arial"/>
                <a:cs typeface="Arial"/>
              </a:rPr>
              <a:t>Prophet‟s </a:t>
            </a:r>
            <a:r>
              <a:rPr dirty="0" u="heavy" sz="1200" b="1" i="1">
                <a:uFill>
                  <a:solidFill>
                    <a:srgbClr val="000000"/>
                  </a:solidFill>
                </a:uFill>
                <a:latin typeface="Arial"/>
                <a:cs typeface="Arial"/>
              </a:rPr>
              <a:t>life before </a:t>
            </a:r>
            <a:r>
              <a:rPr dirty="0" u="heavy" sz="1200" spc="-5" b="1" i="1">
                <a:uFill>
                  <a:solidFill>
                    <a:srgbClr val="000000"/>
                  </a:solidFill>
                </a:uFill>
                <a:latin typeface="Arial"/>
                <a:cs typeface="Arial"/>
              </a:rPr>
              <a:t>the </a:t>
            </a:r>
            <a:r>
              <a:rPr dirty="0" u="heavy" sz="1200" b="1" i="1">
                <a:uFill>
                  <a:solidFill>
                    <a:srgbClr val="000000"/>
                  </a:solidFill>
                </a:uFill>
                <a:latin typeface="Arial"/>
                <a:cs typeface="Arial"/>
              </a:rPr>
              <a:t>first revelation prepare </a:t>
            </a:r>
            <a:r>
              <a:rPr dirty="0" u="heavy" sz="1200" spc="-5" b="1" i="1">
                <a:uFill>
                  <a:solidFill>
                    <a:srgbClr val="000000"/>
                  </a:solidFill>
                </a:uFill>
                <a:latin typeface="Arial"/>
                <a:cs typeface="Arial"/>
              </a:rPr>
              <a:t>him for the years </a:t>
            </a:r>
            <a:r>
              <a:rPr dirty="0" u="heavy" sz="1200" b="1" i="1">
                <a:uFill>
                  <a:solidFill>
                    <a:srgbClr val="000000"/>
                  </a:solidFill>
                </a:uFill>
                <a:latin typeface="Arial"/>
                <a:cs typeface="Arial"/>
              </a:rPr>
              <a:t>to </a:t>
            </a:r>
            <a:r>
              <a:rPr dirty="0" sz="1200" b="1" i="1">
                <a:latin typeface="Arial"/>
                <a:cs typeface="Arial"/>
              </a:rPr>
              <a:t> </a:t>
            </a:r>
            <a:r>
              <a:rPr dirty="0" u="heavy" sz="1200" spc="-5" b="1" i="1">
                <a:uFill>
                  <a:solidFill>
                    <a:srgbClr val="000000"/>
                  </a:solidFill>
                </a:uFill>
                <a:latin typeface="Arial"/>
                <a:cs typeface="Arial"/>
              </a:rPr>
              <a:t>come?</a:t>
            </a:r>
            <a:endParaRPr sz="1200">
              <a:latin typeface="Arial"/>
              <a:cs typeface="Arial"/>
            </a:endParaRPr>
          </a:p>
          <a:p>
            <a:pPr>
              <a:lnSpc>
                <a:spcPct val="100000"/>
              </a:lnSpc>
              <a:spcBef>
                <a:spcPts val="20"/>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He </a:t>
            </a:r>
            <a:r>
              <a:rPr dirty="0" sz="1200" spc="-10">
                <a:latin typeface="Arial"/>
                <a:cs typeface="Arial"/>
              </a:rPr>
              <a:t>was </a:t>
            </a:r>
            <a:r>
              <a:rPr dirty="0" sz="1200">
                <a:latin typeface="Arial"/>
                <a:cs typeface="Arial"/>
              </a:rPr>
              <a:t>an </a:t>
            </a:r>
            <a:r>
              <a:rPr dirty="0" sz="1200" spc="-5">
                <a:latin typeface="Arial"/>
                <a:cs typeface="Arial"/>
              </a:rPr>
              <a:t>orphan (so championed </a:t>
            </a:r>
            <a:r>
              <a:rPr dirty="0" sz="1200">
                <a:latin typeface="Arial"/>
                <a:cs typeface="Arial"/>
              </a:rPr>
              <a:t>the </a:t>
            </a:r>
            <a:r>
              <a:rPr dirty="0" sz="1200" spc="-5">
                <a:latin typeface="Arial"/>
                <a:cs typeface="Arial"/>
              </a:rPr>
              <a:t>cause of </a:t>
            </a:r>
            <a:r>
              <a:rPr dirty="0" sz="1200">
                <a:latin typeface="Arial"/>
                <a:cs typeface="Arial"/>
              </a:rPr>
              <a:t>orphans, </a:t>
            </a:r>
            <a:r>
              <a:rPr dirty="0" sz="1200" spc="-5">
                <a:latin typeface="Arial"/>
                <a:cs typeface="Arial"/>
              </a:rPr>
              <a:t>widows </a:t>
            </a:r>
            <a:r>
              <a:rPr dirty="0" sz="1200">
                <a:latin typeface="Arial"/>
                <a:cs typeface="Arial"/>
              </a:rPr>
              <a:t>and</a:t>
            </a:r>
            <a:r>
              <a:rPr dirty="0" sz="1200" spc="40">
                <a:latin typeface="Arial"/>
                <a:cs typeface="Arial"/>
              </a:rPr>
              <a:t> </a:t>
            </a:r>
            <a:r>
              <a:rPr dirty="0" sz="1200" spc="-5">
                <a:latin typeface="Arial"/>
                <a:cs typeface="Arial"/>
              </a:rPr>
              <a:t>destitute)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a:t>
            </a:r>
            <a:r>
              <a:rPr dirty="0" sz="1200" spc="-10">
                <a:latin typeface="Arial"/>
                <a:cs typeface="Arial"/>
              </a:rPr>
              <a:t>was </a:t>
            </a:r>
            <a:r>
              <a:rPr dirty="0" sz="1200">
                <a:latin typeface="Arial"/>
                <a:cs typeface="Arial"/>
              </a:rPr>
              <a:t>also </a:t>
            </a:r>
            <a:r>
              <a:rPr dirty="0" sz="1200" spc="-5">
                <a:latin typeface="Arial"/>
                <a:cs typeface="Arial"/>
              </a:rPr>
              <a:t>a shepherd, had time </a:t>
            </a:r>
            <a:r>
              <a:rPr dirty="0" sz="1200">
                <a:latin typeface="Arial"/>
                <a:cs typeface="Arial"/>
              </a:rPr>
              <a:t>to </a:t>
            </a:r>
            <a:r>
              <a:rPr dirty="0" sz="1200" spc="-5">
                <a:latin typeface="Arial"/>
                <a:cs typeface="Arial"/>
              </a:rPr>
              <a:t>contemplate on life and the </a:t>
            </a:r>
            <a:r>
              <a:rPr dirty="0" sz="1200">
                <a:latin typeface="Arial"/>
                <a:cs typeface="Arial"/>
              </a:rPr>
              <a:t>art </a:t>
            </a:r>
            <a:r>
              <a:rPr dirty="0" sz="1200" spc="-5">
                <a:latin typeface="Arial"/>
                <a:cs typeface="Arial"/>
              </a:rPr>
              <a:t>of guiding</a:t>
            </a:r>
            <a:r>
              <a:rPr dirty="0" sz="1200" spc="105">
                <a:latin typeface="Arial"/>
                <a:cs typeface="Arial"/>
              </a:rPr>
              <a:t> </a:t>
            </a:r>
            <a:r>
              <a:rPr dirty="0" sz="1200" spc="-5">
                <a:latin typeface="Arial"/>
                <a:cs typeface="Arial"/>
              </a:rPr>
              <a:t>people</a:t>
            </a:r>
            <a:endParaRPr sz="1200">
              <a:latin typeface="Arial"/>
              <a:cs typeface="Arial"/>
            </a:endParaRPr>
          </a:p>
          <a:p>
            <a:pPr marL="469900" marR="6350" indent="-228600">
              <a:lnSpc>
                <a:spcPts val="1380"/>
              </a:lnSpc>
              <a:spcBef>
                <a:spcPts val="65"/>
              </a:spcBef>
              <a:buAutoNum type="arabicPeriod"/>
              <a:tabLst>
                <a:tab pos="470534" algn="l"/>
              </a:tabLst>
            </a:pPr>
            <a:r>
              <a:rPr dirty="0" sz="1200" spc="-5">
                <a:latin typeface="Arial"/>
                <a:cs typeface="Arial"/>
              </a:rPr>
              <a:t>He </a:t>
            </a:r>
            <a:r>
              <a:rPr dirty="0" sz="1200" spc="-10">
                <a:latin typeface="Arial"/>
                <a:cs typeface="Arial"/>
              </a:rPr>
              <a:t>was </a:t>
            </a:r>
            <a:r>
              <a:rPr dirty="0" sz="1200" spc="-5">
                <a:latin typeface="Arial"/>
                <a:cs typeface="Arial"/>
              </a:rPr>
              <a:t>aware of suffering and cruelty perpetuated by wars between </a:t>
            </a:r>
            <a:r>
              <a:rPr dirty="0" sz="1200">
                <a:latin typeface="Arial"/>
                <a:cs typeface="Arial"/>
              </a:rPr>
              <a:t>Quraish </a:t>
            </a:r>
            <a:r>
              <a:rPr dirty="0" sz="1200" spc="-5">
                <a:latin typeface="Arial"/>
                <a:cs typeface="Arial"/>
              </a:rPr>
              <a:t>and  </a:t>
            </a:r>
            <a:r>
              <a:rPr dirty="0" sz="1200">
                <a:latin typeface="Arial"/>
                <a:cs typeface="Arial"/>
              </a:rPr>
              <a:t>others</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He </a:t>
            </a:r>
            <a:r>
              <a:rPr dirty="0" sz="1200" spc="-10">
                <a:latin typeface="Arial"/>
                <a:cs typeface="Arial"/>
              </a:rPr>
              <a:t>was </a:t>
            </a:r>
            <a:r>
              <a:rPr dirty="0" sz="1200">
                <a:latin typeface="Arial"/>
                <a:cs typeface="Arial"/>
              </a:rPr>
              <a:t>present </a:t>
            </a:r>
            <a:r>
              <a:rPr dirty="0" sz="1200" spc="-5">
                <a:latin typeface="Arial"/>
                <a:cs typeface="Arial"/>
              </a:rPr>
              <a:t>when the alliance (Half ul Fudul) </a:t>
            </a:r>
            <a:r>
              <a:rPr dirty="0" sz="1200" spc="-10">
                <a:latin typeface="Arial"/>
                <a:cs typeface="Arial"/>
              </a:rPr>
              <a:t>was </a:t>
            </a:r>
            <a:r>
              <a:rPr dirty="0" sz="1200" spc="-5">
                <a:latin typeface="Arial"/>
                <a:cs typeface="Arial"/>
              </a:rPr>
              <a:t>formed </a:t>
            </a:r>
            <a:r>
              <a:rPr dirty="0" sz="1200">
                <a:latin typeface="Arial"/>
                <a:cs typeface="Arial"/>
              </a:rPr>
              <a:t>to </a:t>
            </a:r>
            <a:r>
              <a:rPr dirty="0" sz="1200" spc="-5">
                <a:latin typeface="Arial"/>
                <a:cs typeface="Arial"/>
              </a:rPr>
              <a:t>protect </a:t>
            </a:r>
            <a:r>
              <a:rPr dirty="0" sz="1200">
                <a:latin typeface="Arial"/>
                <a:cs typeface="Arial"/>
              </a:rPr>
              <a:t>the</a:t>
            </a:r>
            <a:r>
              <a:rPr dirty="0" sz="1200" spc="105">
                <a:latin typeface="Arial"/>
                <a:cs typeface="Arial"/>
              </a:rPr>
              <a:t> </a:t>
            </a:r>
            <a:r>
              <a:rPr dirty="0" sz="1200" spc="-5">
                <a:latin typeface="Arial"/>
                <a:cs typeface="Arial"/>
              </a:rPr>
              <a:t>weak</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travelled with his uncle making him aware of other </a:t>
            </a:r>
            <a:r>
              <a:rPr dirty="0" sz="1200">
                <a:latin typeface="Arial"/>
                <a:cs typeface="Arial"/>
              </a:rPr>
              <a:t>faiths </a:t>
            </a:r>
            <a:r>
              <a:rPr dirty="0" sz="1200" spc="-5">
                <a:latin typeface="Arial"/>
                <a:cs typeface="Arial"/>
              </a:rPr>
              <a:t>outside</a:t>
            </a:r>
            <a:r>
              <a:rPr dirty="0" sz="1200" spc="75">
                <a:latin typeface="Arial"/>
                <a:cs typeface="Arial"/>
              </a:rPr>
              <a:t> </a:t>
            </a:r>
            <a:r>
              <a:rPr dirty="0" sz="1200" spc="-5">
                <a:latin typeface="Arial"/>
                <a:cs typeface="Arial"/>
              </a:rPr>
              <a:t>Mecca</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His </a:t>
            </a:r>
            <a:r>
              <a:rPr dirty="0" sz="1200">
                <a:latin typeface="Arial"/>
                <a:cs typeface="Arial"/>
              </a:rPr>
              <a:t>business </a:t>
            </a:r>
            <a:r>
              <a:rPr dirty="0" sz="1200" spc="-5">
                <a:latin typeface="Arial"/>
                <a:cs typeface="Arial"/>
              </a:rPr>
              <a:t>with </a:t>
            </a:r>
            <a:r>
              <a:rPr dirty="0" sz="1200">
                <a:latin typeface="Arial"/>
                <a:cs typeface="Arial"/>
              </a:rPr>
              <a:t>his </a:t>
            </a:r>
            <a:r>
              <a:rPr dirty="0" sz="1200" spc="-5">
                <a:latin typeface="Arial"/>
                <a:cs typeface="Arial"/>
              </a:rPr>
              <a:t>uncle made him mature in dealings </a:t>
            </a:r>
            <a:r>
              <a:rPr dirty="0" sz="1200">
                <a:latin typeface="Arial"/>
                <a:cs typeface="Arial"/>
              </a:rPr>
              <a:t>and</a:t>
            </a:r>
            <a:r>
              <a:rPr dirty="0" sz="1200" spc="25">
                <a:latin typeface="Arial"/>
                <a:cs typeface="Arial"/>
              </a:rPr>
              <a:t> </a:t>
            </a:r>
            <a:r>
              <a:rPr dirty="0" sz="1200" spc="-5">
                <a:latin typeface="Arial"/>
                <a:cs typeface="Arial"/>
              </a:rPr>
              <a:t>treaties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Like </a:t>
            </a:r>
            <a:r>
              <a:rPr dirty="0" sz="1200">
                <a:latin typeface="Arial"/>
                <a:cs typeface="Arial"/>
              </a:rPr>
              <a:t>all </a:t>
            </a:r>
            <a:r>
              <a:rPr dirty="0" sz="1200" spc="-5">
                <a:latin typeface="Arial"/>
                <a:cs typeface="Arial"/>
              </a:rPr>
              <a:t>Arabs he </a:t>
            </a:r>
            <a:r>
              <a:rPr dirty="0" sz="1200" spc="-10">
                <a:latin typeface="Arial"/>
                <a:cs typeface="Arial"/>
              </a:rPr>
              <a:t>was </a:t>
            </a:r>
            <a:r>
              <a:rPr dirty="0" sz="1200" spc="-5">
                <a:latin typeface="Arial"/>
                <a:cs typeface="Arial"/>
              </a:rPr>
              <a:t>aware </a:t>
            </a:r>
            <a:r>
              <a:rPr dirty="0" sz="1200">
                <a:latin typeface="Arial"/>
                <a:cs typeface="Arial"/>
              </a:rPr>
              <a:t>of </a:t>
            </a:r>
            <a:r>
              <a:rPr dirty="0" sz="1200" spc="-5">
                <a:latin typeface="Arial"/>
                <a:cs typeface="Arial"/>
              </a:rPr>
              <a:t>religious significance of the Kaaba </a:t>
            </a:r>
            <a:r>
              <a:rPr dirty="0" sz="1200" spc="-10">
                <a:latin typeface="Arial"/>
                <a:cs typeface="Arial"/>
              </a:rPr>
              <a:t>in</a:t>
            </a:r>
            <a:r>
              <a:rPr dirty="0" sz="1200" spc="55">
                <a:latin typeface="Arial"/>
                <a:cs typeface="Arial"/>
              </a:rPr>
              <a:t> </a:t>
            </a:r>
            <a:r>
              <a:rPr dirty="0" sz="1200">
                <a:latin typeface="Arial"/>
                <a:cs typeface="Arial"/>
              </a:rPr>
              <a:t>Mecca</a:t>
            </a:r>
            <a:endParaRPr sz="1200">
              <a:latin typeface="Arial"/>
              <a:cs typeface="Arial"/>
            </a:endParaRPr>
          </a:p>
          <a:p>
            <a:pPr marL="469900" marR="13335" indent="-228600">
              <a:lnSpc>
                <a:spcPts val="1380"/>
              </a:lnSpc>
              <a:spcBef>
                <a:spcPts val="70"/>
              </a:spcBef>
              <a:buAutoNum type="arabicPeriod"/>
              <a:tabLst>
                <a:tab pos="470534" algn="l"/>
              </a:tabLst>
            </a:pPr>
            <a:r>
              <a:rPr dirty="0" sz="1200" spc="-5">
                <a:latin typeface="Arial"/>
                <a:cs typeface="Arial"/>
              </a:rPr>
              <a:t>He </a:t>
            </a:r>
            <a:r>
              <a:rPr dirty="0" sz="1200" spc="-10">
                <a:latin typeface="Arial"/>
                <a:cs typeface="Arial"/>
              </a:rPr>
              <a:t>was </a:t>
            </a:r>
            <a:r>
              <a:rPr dirty="0" sz="1200" spc="-5">
                <a:latin typeface="Arial"/>
                <a:cs typeface="Arial"/>
              </a:rPr>
              <a:t>also aware of the beliefs of hanifs </a:t>
            </a:r>
            <a:r>
              <a:rPr dirty="0" sz="1200" spc="-10">
                <a:latin typeface="Arial"/>
                <a:cs typeface="Arial"/>
              </a:rPr>
              <a:t>(those who </a:t>
            </a:r>
            <a:r>
              <a:rPr dirty="0" sz="1200" spc="-5">
                <a:latin typeface="Arial"/>
                <a:cs typeface="Arial"/>
              </a:rPr>
              <a:t>followed </a:t>
            </a:r>
            <a:r>
              <a:rPr dirty="0" sz="1200" spc="-10">
                <a:latin typeface="Arial"/>
                <a:cs typeface="Arial"/>
              </a:rPr>
              <a:t>pure </a:t>
            </a:r>
            <a:r>
              <a:rPr dirty="0" sz="1200" spc="-5">
                <a:latin typeface="Arial"/>
                <a:cs typeface="Arial"/>
              </a:rPr>
              <a:t>religion of  Abraham)</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He never took </a:t>
            </a:r>
            <a:r>
              <a:rPr dirty="0" sz="1200">
                <a:latin typeface="Arial"/>
                <a:cs typeface="Arial"/>
              </a:rPr>
              <a:t>part </a:t>
            </a:r>
            <a:r>
              <a:rPr dirty="0" sz="1200" spc="-10">
                <a:latin typeface="Arial"/>
                <a:cs typeface="Arial"/>
              </a:rPr>
              <a:t>in </a:t>
            </a:r>
            <a:r>
              <a:rPr dirty="0" sz="1200" spc="-5">
                <a:latin typeface="Arial"/>
                <a:cs typeface="Arial"/>
              </a:rPr>
              <a:t>frivolous activities when</a:t>
            </a:r>
            <a:r>
              <a:rPr dirty="0" sz="1200" spc="30">
                <a:latin typeface="Arial"/>
                <a:cs typeface="Arial"/>
              </a:rPr>
              <a:t> </a:t>
            </a:r>
            <a:r>
              <a:rPr dirty="0" sz="1200" spc="-5">
                <a:latin typeface="Arial"/>
                <a:cs typeface="Arial"/>
              </a:rPr>
              <a:t>young</a:t>
            </a:r>
            <a:endParaRPr sz="1200">
              <a:latin typeface="Arial"/>
              <a:cs typeface="Arial"/>
            </a:endParaRPr>
          </a:p>
          <a:p>
            <a:pPr marL="469900" marR="8255" indent="-228600">
              <a:lnSpc>
                <a:spcPts val="1380"/>
              </a:lnSpc>
              <a:spcBef>
                <a:spcPts val="65"/>
              </a:spcBef>
              <a:buAutoNum type="arabicPeriod"/>
              <a:tabLst>
                <a:tab pos="470534" algn="l"/>
              </a:tabLst>
            </a:pPr>
            <a:r>
              <a:rPr dirty="0" sz="1200" spc="-5">
                <a:latin typeface="Arial"/>
                <a:cs typeface="Arial"/>
              </a:rPr>
              <a:t>His personal qualities known </a:t>
            </a:r>
            <a:r>
              <a:rPr dirty="0" sz="1200">
                <a:latin typeface="Arial"/>
                <a:cs typeface="Arial"/>
              </a:rPr>
              <a:t>to </a:t>
            </a:r>
            <a:r>
              <a:rPr dirty="0" sz="1200" spc="-5">
                <a:latin typeface="Arial"/>
                <a:cs typeface="Arial"/>
              </a:rPr>
              <a:t>Meccans </a:t>
            </a:r>
            <a:r>
              <a:rPr dirty="0" sz="1200" spc="-10">
                <a:latin typeface="Arial"/>
                <a:cs typeface="Arial"/>
              </a:rPr>
              <a:t>who </a:t>
            </a:r>
            <a:r>
              <a:rPr dirty="0" sz="1200" spc="-5">
                <a:latin typeface="Arial"/>
                <a:cs typeface="Arial"/>
              </a:rPr>
              <a:t>named him as Al </a:t>
            </a:r>
            <a:r>
              <a:rPr dirty="0" sz="1200">
                <a:latin typeface="Arial"/>
                <a:cs typeface="Arial"/>
              </a:rPr>
              <a:t>Amin </a:t>
            </a:r>
            <a:r>
              <a:rPr dirty="0" sz="1200" spc="-5">
                <a:latin typeface="Arial"/>
                <a:cs typeface="Arial"/>
              </a:rPr>
              <a:t>(Trustworthy)  and </a:t>
            </a:r>
            <a:r>
              <a:rPr dirty="0" sz="1200">
                <a:latin typeface="Arial"/>
                <a:cs typeface="Arial"/>
              </a:rPr>
              <a:t>As </a:t>
            </a:r>
            <a:r>
              <a:rPr dirty="0" sz="1200" spc="-5">
                <a:latin typeface="Arial"/>
                <a:cs typeface="Arial"/>
              </a:rPr>
              <a:t>Sadiq</a:t>
            </a:r>
            <a:r>
              <a:rPr dirty="0" sz="1200" spc="-15">
                <a:latin typeface="Arial"/>
                <a:cs typeface="Arial"/>
              </a:rPr>
              <a:t> </a:t>
            </a:r>
            <a:r>
              <a:rPr dirty="0" sz="1200" spc="-5">
                <a:latin typeface="Arial"/>
                <a:cs typeface="Arial"/>
              </a:rPr>
              <a:t>(Truthful)</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He never engaged in sins and immoral</a:t>
            </a:r>
            <a:r>
              <a:rPr dirty="0" sz="1200" spc="5">
                <a:latin typeface="Arial"/>
                <a:cs typeface="Arial"/>
              </a:rPr>
              <a:t> </a:t>
            </a:r>
            <a:r>
              <a:rPr dirty="0" sz="1200" spc="-5">
                <a:latin typeface="Arial"/>
                <a:cs typeface="Arial"/>
              </a:rPr>
              <a:t>activities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a:t>
            </a:r>
            <a:r>
              <a:rPr dirty="0" sz="1200" spc="-10">
                <a:latin typeface="Arial"/>
                <a:cs typeface="Arial"/>
              </a:rPr>
              <a:t>always </a:t>
            </a:r>
            <a:r>
              <a:rPr dirty="0" sz="1200">
                <a:latin typeface="Arial"/>
                <a:cs typeface="Arial"/>
              </a:rPr>
              <a:t>had </a:t>
            </a:r>
            <a:r>
              <a:rPr dirty="0" sz="1200" spc="-5">
                <a:latin typeface="Arial"/>
                <a:cs typeface="Arial"/>
              </a:rPr>
              <a:t>a different view </a:t>
            </a:r>
            <a:r>
              <a:rPr dirty="0" sz="1200">
                <a:latin typeface="Arial"/>
                <a:cs typeface="Arial"/>
              </a:rPr>
              <a:t>concerning </a:t>
            </a:r>
            <a:r>
              <a:rPr dirty="0" sz="1200" spc="-5">
                <a:latin typeface="Arial"/>
                <a:cs typeface="Arial"/>
              </a:rPr>
              <a:t>idol worshipping </a:t>
            </a:r>
            <a:r>
              <a:rPr dirty="0" sz="1200">
                <a:latin typeface="Arial"/>
                <a:cs typeface="Arial"/>
              </a:rPr>
              <a:t>and</a:t>
            </a:r>
            <a:r>
              <a:rPr dirty="0" sz="1200" spc="25">
                <a:latin typeface="Arial"/>
                <a:cs typeface="Arial"/>
              </a:rPr>
              <a:t> </a:t>
            </a:r>
            <a:r>
              <a:rPr dirty="0" sz="1200" spc="-5">
                <a:latin typeface="Arial"/>
                <a:cs typeface="Arial"/>
              </a:rPr>
              <a:t>polytheism</a:t>
            </a:r>
            <a:endParaRPr sz="1200">
              <a:latin typeface="Arial"/>
              <a:cs typeface="Arial"/>
            </a:endParaRPr>
          </a:p>
          <a:p>
            <a:pPr marL="469900" indent="-229235">
              <a:lnSpc>
                <a:spcPts val="1380"/>
              </a:lnSpc>
              <a:buFont typeface="Times New Roman"/>
              <a:buAutoNum type="arabicPeriod"/>
              <a:tabLst>
                <a:tab pos="470534" algn="l"/>
              </a:tabLst>
            </a:pPr>
            <a:r>
              <a:rPr dirty="0" sz="1200" spc="-5">
                <a:latin typeface="Arial"/>
                <a:cs typeface="Arial"/>
              </a:rPr>
              <a:t>His marriage </a:t>
            </a:r>
            <a:r>
              <a:rPr dirty="0" sz="1200">
                <a:latin typeface="Arial"/>
                <a:cs typeface="Arial"/>
              </a:rPr>
              <a:t>to </a:t>
            </a:r>
            <a:r>
              <a:rPr dirty="0" sz="1200" spc="-5">
                <a:latin typeface="Arial"/>
                <a:cs typeface="Arial"/>
              </a:rPr>
              <a:t>Khadijah allowed him financial</a:t>
            </a:r>
            <a:r>
              <a:rPr dirty="0" sz="1200" spc="20">
                <a:latin typeface="Arial"/>
                <a:cs typeface="Arial"/>
              </a:rPr>
              <a:t> </a:t>
            </a:r>
            <a:r>
              <a:rPr dirty="0" sz="1200" spc="-5">
                <a:latin typeface="Arial"/>
                <a:cs typeface="Arial"/>
              </a:rPr>
              <a:t>security</a:t>
            </a:r>
            <a:endParaRPr sz="1200">
              <a:latin typeface="Arial"/>
              <a:cs typeface="Arial"/>
            </a:endParaRPr>
          </a:p>
          <a:p>
            <a:pPr marL="469900" marR="10795" indent="-228600">
              <a:lnSpc>
                <a:spcPts val="1380"/>
              </a:lnSpc>
              <a:spcBef>
                <a:spcPts val="65"/>
              </a:spcBef>
              <a:buAutoNum type="arabicPeriod"/>
              <a:tabLst>
                <a:tab pos="470534" algn="l"/>
              </a:tabLst>
            </a:pPr>
            <a:r>
              <a:rPr dirty="0" sz="1200" spc="-5">
                <a:latin typeface="Arial"/>
                <a:cs typeface="Arial"/>
              </a:rPr>
              <a:t>He spent long hours meditating in </a:t>
            </a:r>
            <a:r>
              <a:rPr dirty="0" sz="1200">
                <a:latin typeface="Arial"/>
                <a:cs typeface="Arial"/>
              </a:rPr>
              <a:t>the </a:t>
            </a:r>
            <a:r>
              <a:rPr dirty="0" sz="1200" spc="-5">
                <a:latin typeface="Arial"/>
                <a:cs typeface="Arial"/>
              </a:rPr>
              <a:t>hills away </a:t>
            </a:r>
            <a:r>
              <a:rPr dirty="0" sz="1200">
                <a:latin typeface="Arial"/>
                <a:cs typeface="Arial"/>
              </a:rPr>
              <a:t>from </a:t>
            </a:r>
            <a:r>
              <a:rPr dirty="0" sz="1200" spc="-5">
                <a:latin typeface="Arial"/>
                <a:cs typeface="Arial"/>
              </a:rPr>
              <a:t>Mecca especially during month  of</a:t>
            </a:r>
            <a:r>
              <a:rPr dirty="0" sz="1200" spc="10">
                <a:latin typeface="Arial"/>
                <a:cs typeface="Arial"/>
              </a:rPr>
              <a:t> </a:t>
            </a:r>
            <a:r>
              <a:rPr dirty="0" sz="1200" spc="-5">
                <a:latin typeface="Arial"/>
                <a:cs typeface="Arial"/>
              </a:rPr>
              <a:t>Ramadan</a:t>
            </a:r>
            <a:endParaRPr sz="1200">
              <a:latin typeface="Arial"/>
              <a:cs typeface="Arial"/>
            </a:endParaRPr>
          </a:p>
          <a:p>
            <a:pPr marL="469900" marR="5080" indent="-228600">
              <a:lnSpc>
                <a:spcPts val="1380"/>
              </a:lnSpc>
              <a:buAutoNum type="arabicPeriod"/>
              <a:tabLst>
                <a:tab pos="470534" algn="l"/>
              </a:tabLst>
            </a:pPr>
            <a:r>
              <a:rPr dirty="0" sz="1200" spc="-5">
                <a:latin typeface="Arial"/>
                <a:cs typeface="Arial"/>
              </a:rPr>
              <a:t>His </a:t>
            </a:r>
            <a:r>
              <a:rPr dirty="0" sz="1200">
                <a:latin typeface="Arial"/>
                <a:cs typeface="Arial"/>
              </a:rPr>
              <a:t>soft </a:t>
            </a:r>
            <a:r>
              <a:rPr dirty="0" sz="1200" spc="-5">
                <a:latin typeface="Arial"/>
                <a:cs typeface="Arial"/>
              </a:rPr>
              <a:t>words and character made </a:t>
            </a:r>
            <a:r>
              <a:rPr dirty="0" sz="1200" spc="-10">
                <a:latin typeface="Arial"/>
                <a:cs typeface="Arial"/>
              </a:rPr>
              <a:t>him known </a:t>
            </a:r>
            <a:r>
              <a:rPr dirty="0" sz="1200" spc="-5">
                <a:latin typeface="Arial"/>
                <a:cs typeface="Arial"/>
              </a:rPr>
              <a:t>and famous among </a:t>
            </a:r>
            <a:r>
              <a:rPr dirty="0" sz="1200">
                <a:latin typeface="Arial"/>
                <a:cs typeface="Arial"/>
              </a:rPr>
              <a:t>the </a:t>
            </a:r>
            <a:r>
              <a:rPr dirty="0" sz="1200" spc="-5">
                <a:latin typeface="Arial"/>
                <a:cs typeface="Arial"/>
              </a:rPr>
              <a:t>Arabs and  helped him in </a:t>
            </a:r>
            <a:r>
              <a:rPr dirty="0" sz="1200">
                <a:latin typeface="Arial"/>
                <a:cs typeface="Arial"/>
              </a:rPr>
              <a:t>the </a:t>
            </a:r>
            <a:r>
              <a:rPr dirty="0" sz="1200" spc="-5">
                <a:latin typeface="Arial"/>
                <a:cs typeface="Arial"/>
              </a:rPr>
              <a:t>spreading of</a:t>
            </a:r>
            <a:r>
              <a:rPr dirty="0" sz="1200">
                <a:latin typeface="Arial"/>
                <a:cs typeface="Arial"/>
              </a:rPr>
              <a:t> </a:t>
            </a:r>
            <a:r>
              <a:rPr dirty="0" sz="1200" spc="-5">
                <a:latin typeface="Arial"/>
                <a:cs typeface="Arial"/>
              </a:rPr>
              <a:t>Islam.</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Failure at Macca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Success at</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Madina</a:t>
            </a:r>
            <a:endParaRPr sz="1200">
              <a:latin typeface="Arial"/>
              <a:cs typeface="Arial"/>
            </a:endParaRPr>
          </a:p>
          <a:p>
            <a:pPr>
              <a:lnSpc>
                <a:spcPct val="100000"/>
              </a:lnSpc>
              <a:spcBef>
                <a:spcPts val="35"/>
              </a:spcBef>
            </a:pPr>
            <a:endParaRPr sz="1200">
              <a:latin typeface="Arial"/>
              <a:cs typeface="Arial"/>
            </a:endParaRPr>
          </a:p>
          <a:p>
            <a:pPr algn="just" marL="12700" marR="10795">
              <a:lnSpc>
                <a:spcPts val="1380"/>
              </a:lnSpc>
            </a:pPr>
            <a:r>
              <a:rPr dirty="0" sz="1200" spc="-5">
                <a:latin typeface="Arial"/>
                <a:cs typeface="Arial"/>
              </a:rPr>
              <a:t>The prophet of Islam (s.a.w) spent 13 years </a:t>
            </a:r>
            <a:r>
              <a:rPr dirty="0" sz="1200">
                <a:latin typeface="Arial"/>
                <a:cs typeface="Arial"/>
              </a:rPr>
              <a:t>at </a:t>
            </a:r>
            <a:r>
              <a:rPr dirty="0" sz="1200" spc="-5">
                <a:latin typeface="Arial"/>
                <a:cs typeface="Arial"/>
              </a:rPr>
              <a:t>Macca and 10 years </a:t>
            </a:r>
            <a:r>
              <a:rPr dirty="0" sz="1200">
                <a:latin typeface="Arial"/>
                <a:cs typeface="Arial"/>
              </a:rPr>
              <a:t>at </a:t>
            </a:r>
            <a:r>
              <a:rPr dirty="0" sz="1200" spc="-5">
                <a:latin typeface="Arial"/>
                <a:cs typeface="Arial"/>
              </a:rPr>
              <a:t>Madina. The situation  was different </a:t>
            </a:r>
            <a:r>
              <a:rPr dirty="0" sz="1200">
                <a:latin typeface="Arial"/>
                <a:cs typeface="Arial"/>
              </a:rPr>
              <a:t>and </a:t>
            </a:r>
            <a:r>
              <a:rPr dirty="0" sz="1200" spc="-5">
                <a:latin typeface="Arial"/>
                <a:cs typeface="Arial"/>
              </a:rPr>
              <a:t>the people were </a:t>
            </a:r>
            <a:r>
              <a:rPr dirty="0" sz="1200">
                <a:latin typeface="Arial"/>
                <a:cs typeface="Arial"/>
              </a:rPr>
              <a:t>not </a:t>
            </a:r>
            <a:r>
              <a:rPr dirty="0" sz="1200" spc="-5">
                <a:latin typeface="Arial"/>
                <a:cs typeface="Arial"/>
              </a:rPr>
              <a:t>the same. Due </a:t>
            </a:r>
            <a:r>
              <a:rPr dirty="0" sz="1200">
                <a:latin typeface="Arial"/>
                <a:cs typeface="Arial"/>
              </a:rPr>
              <a:t>to </a:t>
            </a:r>
            <a:r>
              <a:rPr dirty="0" sz="1200" spc="-5">
                <a:latin typeface="Arial"/>
                <a:cs typeface="Arial"/>
              </a:rPr>
              <a:t>various reasons, the prophet didn‘t  succeed in spreading Islam at Macca and </a:t>
            </a:r>
            <a:r>
              <a:rPr dirty="0" sz="1200" spc="-10">
                <a:latin typeface="Arial"/>
                <a:cs typeface="Arial"/>
              </a:rPr>
              <a:t>was </a:t>
            </a:r>
            <a:r>
              <a:rPr dirty="0" sz="1200">
                <a:latin typeface="Arial"/>
                <a:cs typeface="Arial"/>
              </a:rPr>
              <a:t>more </a:t>
            </a:r>
            <a:r>
              <a:rPr dirty="0" sz="1200" spc="-5">
                <a:latin typeface="Arial"/>
                <a:cs typeface="Arial"/>
              </a:rPr>
              <a:t>accepted </a:t>
            </a:r>
            <a:r>
              <a:rPr dirty="0" sz="1200">
                <a:latin typeface="Arial"/>
                <a:cs typeface="Arial"/>
              </a:rPr>
              <a:t>at</a:t>
            </a:r>
            <a:r>
              <a:rPr dirty="0" sz="1200" spc="35">
                <a:latin typeface="Arial"/>
                <a:cs typeface="Arial"/>
              </a:rPr>
              <a:t> </a:t>
            </a:r>
            <a:r>
              <a:rPr dirty="0" sz="1200" spc="-5">
                <a:latin typeface="Arial"/>
                <a:cs typeface="Arial"/>
              </a:rPr>
              <a:t>Madina.</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b="1" i="1">
                <a:uFill>
                  <a:solidFill>
                    <a:srgbClr val="000000"/>
                  </a:solidFill>
                </a:uFill>
                <a:latin typeface="Arial"/>
                <a:cs typeface="Arial"/>
              </a:rPr>
              <a:t>Reasons </a:t>
            </a:r>
            <a:r>
              <a:rPr dirty="0" u="heavy" sz="1200" spc="-5" b="1" i="1">
                <a:uFill>
                  <a:solidFill>
                    <a:srgbClr val="000000"/>
                  </a:solidFill>
                </a:uFill>
                <a:latin typeface="Arial"/>
                <a:cs typeface="Arial"/>
              </a:rPr>
              <a:t>for failure at Macca</a:t>
            </a:r>
            <a:endParaRPr sz="1200">
              <a:latin typeface="Arial"/>
              <a:cs typeface="Arial"/>
            </a:endParaRPr>
          </a:p>
          <a:p>
            <a:pPr>
              <a:lnSpc>
                <a:spcPct val="100000"/>
              </a:lnSpc>
              <a:spcBef>
                <a:spcPts val="45"/>
              </a:spcBef>
            </a:pPr>
            <a:endParaRPr sz="1200">
              <a:latin typeface="Arial"/>
              <a:cs typeface="Arial"/>
            </a:endParaRPr>
          </a:p>
          <a:p>
            <a:pPr marL="469900" marR="10160" indent="-228600">
              <a:lnSpc>
                <a:spcPts val="1370"/>
              </a:lnSpc>
              <a:buAutoNum type="arabicPeriod"/>
              <a:tabLst>
                <a:tab pos="470534" algn="l"/>
              </a:tabLst>
            </a:pPr>
            <a:r>
              <a:rPr dirty="0" sz="1200">
                <a:latin typeface="Arial"/>
                <a:cs typeface="Arial"/>
              </a:rPr>
              <a:t>At </a:t>
            </a:r>
            <a:r>
              <a:rPr dirty="0" sz="1200" spc="-5">
                <a:latin typeface="Arial"/>
                <a:cs typeface="Arial"/>
              </a:rPr>
              <a:t>Macca the people were deeply </a:t>
            </a:r>
            <a:r>
              <a:rPr dirty="0" sz="1200">
                <a:latin typeface="Arial"/>
                <a:cs typeface="Arial"/>
              </a:rPr>
              <a:t>incrusted </a:t>
            </a:r>
            <a:r>
              <a:rPr dirty="0" sz="1200" spc="-5">
                <a:latin typeface="Arial"/>
                <a:cs typeface="Arial"/>
              </a:rPr>
              <a:t>into </a:t>
            </a:r>
            <a:r>
              <a:rPr dirty="0" sz="1200">
                <a:latin typeface="Arial"/>
                <a:cs typeface="Arial"/>
              </a:rPr>
              <a:t>their </a:t>
            </a:r>
            <a:r>
              <a:rPr dirty="0" sz="1200" spc="-5">
                <a:latin typeface="Arial"/>
                <a:cs typeface="Arial"/>
              </a:rPr>
              <a:t>religions that </a:t>
            </a:r>
            <a:r>
              <a:rPr dirty="0" sz="1200">
                <a:latin typeface="Arial"/>
                <a:cs typeface="Arial"/>
              </a:rPr>
              <a:t>it </a:t>
            </a:r>
            <a:r>
              <a:rPr dirty="0" sz="1200" spc="-10">
                <a:latin typeface="Arial"/>
                <a:cs typeface="Arial"/>
              </a:rPr>
              <a:t>was </a:t>
            </a:r>
            <a:r>
              <a:rPr dirty="0" sz="1200">
                <a:latin typeface="Arial"/>
                <a:cs typeface="Arial"/>
              </a:rPr>
              <a:t>difficult for  </a:t>
            </a:r>
            <a:r>
              <a:rPr dirty="0" sz="1200" spc="-5">
                <a:latin typeface="Arial"/>
                <a:cs typeface="Arial"/>
              </a:rPr>
              <a:t>them </a:t>
            </a:r>
            <a:r>
              <a:rPr dirty="0" sz="1200">
                <a:latin typeface="Arial"/>
                <a:cs typeface="Arial"/>
              </a:rPr>
              <a:t>to </a:t>
            </a:r>
            <a:r>
              <a:rPr dirty="0" sz="1200" spc="-5">
                <a:latin typeface="Arial"/>
                <a:cs typeface="Arial"/>
              </a:rPr>
              <a:t>change and accept another religion.</a:t>
            </a:r>
            <a:endParaRPr sz="1200">
              <a:latin typeface="Arial"/>
              <a:cs typeface="Arial"/>
            </a:endParaRPr>
          </a:p>
          <a:p>
            <a:pPr marL="469900" marR="8255" indent="-228600">
              <a:lnSpc>
                <a:spcPts val="1380"/>
              </a:lnSpc>
              <a:buAutoNum type="arabicPeriod"/>
              <a:tabLst>
                <a:tab pos="470534" algn="l"/>
              </a:tabLst>
            </a:pPr>
            <a:r>
              <a:rPr dirty="0" sz="1200" spc="-5">
                <a:latin typeface="Arial"/>
                <a:cs typeface="Arial"/>
              </a:rPr>
              <a:t>They were loyal </a:t>
            </a:r>
            <a:r>
              <a:rPr dirty="0" sz="1200">
                <a:latin typeface="Arial"/>
                <a:cs typeface="Arial"/>
              </a:rPr>
              <a:t>to </a:t>
            </a:r>
            <a:r>
              <a:rPr dirty="0" sz="1200" spc="-5">
                <a:latin typeface="Arial"/>
                <a:cs typeface="Arial"/>
              </a:rPr>
              <a:t>their tribal leaders and religious guides that </a:t>
            </a:r>
            <a:r>
              <a:rPr dirty="0" sz="1200">
                <a:latin typeface="Arial"/>
                <a:cs typeface="Arial"/>
              </a:rPr>
              <a:t>it </a:t>
            </a:r>
            <a:r>
              <a:rPr dirty="0" sz="1200" spc="-10">
                <a:latin typeface="Arial"/>
                <a:cs typeface="Arial"/>
              </a:rPr>
              <a:t>was </a:t>
            </a:r>
            <a:r>
              <a:rPr dirty="0" sz="1200" spc="-5">
                <a:latin typeface="Arial"/>
                <a:cs typeface="Arial"/>
              </a:rPr>
              <a:t>practically  impossible </a:t>
            </a:r>
            <a:r>
              <a:rPr dirty="0" sz="1200">
                <a:latin typeface="Arial"/>
                <a:cs typeface="Arial"/>
              </a:rPr>
              <a:t>to </a:t>
            </a:r>
            <a:r>
              <a:rPr dirty="0" sz="1200" spc="-5">
                <a:latin typeface="Arial"/>
                <a:cs typeface="Arial"/>
              </a:rPr>
              <a:t>shatter that loyalty.</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They were so </a:t>
            </a:r>
            <a:r>
              <a:rPr dirty="0" sz="1200">
                <a:latin typeface="Arial"/>
                <a:cs typeface="Arial"/>
              </a:rPr>
              <a:t>much </a:t>
            </a:r>
            <a:r>
              <a:rPr dirty="0" sz="1200" spc="-5">
                <a:latin typeface="Arial"/>
                <a:cs typeface="Arial"/>
              </a:rPr>
              <a:t>stubborn that they were </a:t>
            </a:r>
            <a:r>
              <a:rPr dirty="0" sz="1200">
                <a:latin typeface="Arial"/>
                <a:cs typeface="Arial"/>
              </a:rPr>
              <a:t>difficult </a:t>
            </a:r>
            <a:r>
              <a:rPr dirty="0" sz="1200" spc="-5">
                <a:latin typeface="Arial"/>
                <a:cs typeface="Arial"/>
              </a:rPr>
              <a:t>to be</a:t>
            </a:r>
            <a:r>
              <a:rPr dirty="0" sz="1200" spc="5">
                <a:latin typeface="Arial"/>
                <a:cs typeface="Arial"/>
              </a:rPr>
              <a:t> </a:t>
            </a:r>
            <a:r>
              <a:rPr dirty="0" sz="1200" spc="-5">
                <a:latin typeface="Arial"/>
                <a:cs typeface="Arial"/>
              </a:rPr>
              <a:t>convinced.</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Due </a:t>
            </a:r>
            <a:r>
              <a:rPr dirty="0" sz="1200">
                <a:latin typeface="Arial"/>
                <a:cs typeface="Arial"/>
              </a:rPr>
              <a:t>to </a:t>
            </a:r>
            <a:r>
              <a:rPr dirty="0" sz="1200" spc="-5">
                <a:latin typeface="Arial"/>
                <a:cs typeface="Arial"/>
              </a:rPr>
              <a:t>their ignorance and lack of education they were easily </a:t>
            </a:r>
            <a:r>
              <a:rPr dirty="0" sz="1200">
                <a:latin typeface="Arial"/>
                <a:cs typeface="Arial"/>
              </a:rPr>
              <a:t>corrupted </a:t>
            </a:r>
            <a:r>
              <a:rPr dirty="0" sz="1200" spc="-5">
                <a:latin typeface="Arial"/>
                <a:cs typeface="Arial"/>
              </a:rPr>
              <a:t>by the</a:t>
            </a:r>
            <a:r>
              <a:rPr dirty="0" sz="1200" spc="80">
                <a:latin typeface="Arial"/>
                <a:cs typeface="Arial"/>
              </a:rPr>
              <a:t> </a:t>
            </a:r>
            <a:r>
              <a:rPr dirty="0" sz="1200" spc="-5">
                <a:latin typeface="Arial"/>
                <a:cs typeface="Arial"/>
              </a:rPr>
              <a:t>priests.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were rough, uncultured and not refined.</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Due </a:t>
            </a:r>
            <a:r>
              <a:rPr dirty="0" sz="1200">
                <a:latin typeface="Arial"/>
                <a:cs typeface="Arial"/>
              </a:rPr>
              <a:t>to </a:t>
            </a:r>
            <a:r>
              <a:rPr dirty="0" sz="1200" spc="-5">
                <a:latin typeface="Arial"/>
                <a:cs typeface="Arial"/>
              </a:rPr>
              <a:t>their egos their eyes, ears and hearts were</a:t>
            </a:r>
            <a:r>
              <a:rPr dirty="0" sz="1200" spc="35">
                <a:latin typeface="Arial"/>
                <a:cs typeface="Arial"/>
              </a:rPr>
              <a:t> </a:t>
            </a:r>
            <a:r>
              <a:rPr dirty="0" sz="1200" spc="-5">
                <a:latin typeface="Arial"/>
                <a:cs typeface="Arial"/>
              </a:rPr>
              <a:t>veiled.</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were trapped </a:t>
            </a:r>
            <a:r>
              <a:rPr dirty="0" sz="1200" spc="-10">
                <a:latin typeface="Arial"/>
                <a:cs typeface="Arial"/>
              </a:rPr>
              <a:t>in </a:t>
            </a:r>
            <a:r>
              <a:rPr dirty="0" sz="1200" spc="-5">
                <a:latin typeface="Arial"/>
                <a:cs typeface="Arial"/>
              </a:rPr>
              <a:t>the influence of</a:t>
            </a:r>
            <a:r>
              <a:rPr dirty="0" sz="1200" spc="20">
                <a:latin typeface="Arial"/>
                <a:cs typeface="Arial"/>
              </a:rPr>
              <a:t> </a:t>
            </a:r>
            <a:r>
              <a:rPr dirty="0" sz="1200" spc="-5">
                <a:latin typeface="Arial"/>
                <a:cs typeface="Arial"/>
              </a:rPr>
              <a:t>Shaitaan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were manipulated </a:t>
            </a:r>
            <a:r>
              <a:rPr dirty="0" sz="1200">
                <a:latin typeface="Arial"/>
                <a:cs typeface="Arial"/>
              </a:rPr>
              <a:t>by </a:t>
            </a:r>
            <a:r>
              <a:rPr dirty="0" sz="1200" spc="-5">
                <a:latin typeface="Arial"/>
                <a:cs typeface="Arial"/>
              </a:rPr>
              <a:t>the Kahin and the</a:t>
            </a:r>
            <a:r>
              <a:rPr dirty="0" sz="1200" spc="-15">
                <a:latin typeface="Arial"/>
                <a:cs typeface="Arial"/>
              </a:rPr>
              <a:t> </a:t>
            </a:r>
            <a:r>
              <a:rPr dirty="0" sz="1200" spc="-5">
                <a:latin typeface="Arial"/>
                <a:cs typeface="Arial"/>
              </a:rPr>
              <a:t>soothsayers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were </a:t>
            </a:r>
            <a:r>
              <a:rPr dirty="0" sz="1200">
                <a:latin typeface="Arial"/>
                <a:cs typeface="Arial"/>
              </a:rPr>
              <a:t>not </a:t>
            </a:r>
            <a:r>
              <a:rPr dirty="0" sz="1200" spc="-5">
                <a:latin typeface="Arial"/>
                <a:cs typeface="Arial"/>
              </a:rPr>
              <a:t>ready </a:t>
            </a:r>
            <a:r>
              <a:rPr dirty="0" sz="1200">
                <a:latin typeface="Arial"/>
                <a:cs typeface="Arial"/>
              </a:rPr>
              <a:t>to </a:t>
            </a:r>
            <a:r>
              <a:rPr dirty="0" sz="1200" spc="-5">
                <a:latin typeface="Arial"/>
                <a:cs typeface="Arial"/>
              </a:rPr>
              <a:t>abandon their </a:t>
            </a:r>
            <a:r>
              <a:rPr dirty="0" sz="1200">
                <a:latin typeface="Arial"/>
                <a:cs typeface="Arial"/>
              </a:rPr>
              <a:t>old</a:t>
            </a:r>
            <a:r>
              <a:rPr dirty="0" sz="1200" spc="-35">
                <a:latin typeface="Arial"/>
                <a:cs typeface="Arial"/>
              </a:rPr>
              <a:t> </a:t>
            </a:r>
            <a:r>
              <a:rPr dirty="0" sz="1200" spc="-5">
                <a:latin typeface="Arial"/>
                <a:cs typeface="Arial"/>
              </a:rPr>
              <a:t>concepts</a:t>
            </a:r>
            <a:endParaRPr sz="1200">
              <a:latin typeface="Arial"/>
              <a:cs typeface="Arial"/>
            </a:endParaRPr>
          </a:p>
          <a:p>
            <a:pPr marL="469900" indent="-229235">
              <a:lnSpc>
                <a:spcPts val="1410"/>
              </a:lnSpc>
              <a:buAutoNum type="arabicPeriod"/>
              <a:tabLst>
                <a:tab pos="470534" algn="l"/>
              </a:tabLst>
            </a:pPr>
            <a:r>
              <a:rPr dirty="0" sz="1200">
                <a:latin typeface="Arial"/>
                <a:cs typeface="Arial"/>
              </a:rPr>
              <a:t>It </a:t>
            </a:r>
            <a:r>
              <a:rPr dirty="0" sz="1200" spc="-10">
                <a:latin typeface="Arial"/>
                <a:cs typeface="Arial"/>
              </a:rPr>
              <a:t>was </a:t>
            </a:r>
            <a:r>
              <a:rPr dirty="0" sz="1200">
                <a:latin typeface="Arial"/>
                <a:cs typeface="Arial"/>
              </a:rPr>
              <a:t>only from </a:t>
            </a:r>
            <a:r>
              <a:rPr dirty="0" sz="1200" spc="-5">
                <a:latin typeface="Arial"/>
                <a:cs typeface="Arial"/>
              </a:rPr>
              <a:t>the wish of</a:t>
            </a:r>
            <a:r>
              <a:rPr dirty="0" sz="1200" spc="5">
                <a:latin typeface="Arial"/>
                <a:cs typeface="Arial"/>
              </a:rPr>
              <a:t> </a:t>
            </a:r>
            <a:r>
              <a:rPr dirty="0" sz="1200" spc="-5">
                <a:latin typeface="Arial"/>
                <a:cs typeface="Arial"/>
              </a:rPr>
              <a:t>Allah</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b="1" i="1">
                <a:uFill>
                  <a:solidFill>
                    <a:srgbClr val="000000"/>
                  </a:solidFill>
                </a:uFill>
                <a:latin typeface="Arial"/>
                <a:cs typeface="Arial"/>
              </a:rPr>
              <a:t>Reasons </a:t>
            </a:r>
            <a:r>
              <a:rPr dirty="0" u="heavy" sz="1200" spc="-5" b="1" i="1">
                <a:uFill>
                  <a:solidFill>
                    <a:srgbClr val="000000"/>
                  </a:solidFill>
                </a:uFill>
                <a:latin typeface="Arial"/>
                <a:cs typeface="Arial"/>
              </a:rPr>
              <a:t>for success </a:t>
            </a:r>
            <a:r>
              <a:rPr dirty="0" u="heavy" sz="1200" b="1" i="1">
                <a:uFill>
                  <a:solidFill>
                    <a:srgbClr val="000000"/>
                  </a:solidFill>
                </a:uFill>
                <a:latin typeface="Arial"/>
                <a:cs typeface="Arial"/>
              </a:rPr>
              <a:t>at</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Madina</a:t>
            </a:r>
            <a:endParaRPr sz="1200">
              <a:latin typeface="Arial"/>
              <a:cs typeface="Arial"/>
            </a:endParaRPr>
          </a:p>
          <a:p>
            <a:pPr>
              <a:lnSpc>
                <a:spcPct val="100000"/>
              </a:lnSpc>
              <a:spcBef>
                <a:spcPts val="35"/>
              </a:spcBef>
            </a:pPr>
            <a:endParaRPr sz="1200">
              <a:latin typeface="Arial"/>
              <a:cs typeface="Arial"/>
            </a:endParaRPr>
          </a:p>
          <a:p>
            <a:pPr marL="469900" marR="8890" indent="-228600">
              <a:lnSpc>
                <a:spcPts val="1380"/>
              </a:lnSpc>
            </a:pPr>
            <a:r>
              <a:rPr dirty="0" sz="1200">
                <a:latin typeface="Arial"/>
                <a:cs typeface="Arial"/>
              </a:rPr>
              <a:t>1. At </a:t>
            </a:r>
            <a:r>
              <a:rPr dirty="0" sz="1200" spc="-5">
                <a:latin typeface="Arial"/>
                <a:cs typeface="Arial"/>
              </a:rPr>
              <a:t>Madina the people were </a:t>
            </a:r>
            <a:r>
              <a:rPr dirty="0" sz="1200">
                <a:latin typeface="Arial"/>
                <a:cs typeface="Arial"/>
              </a:rPr>
              <a:t>awaiting for the coming </a:t>
            </a:r>
            <a:r>
              <a:rPr dirty="0" sz="1200" spc="-5">
                <a:latin typeface="Arial"/>
                <a:cs typeface="Arial"/>
              </a:rPr>
              <a:t>of the prophet through </a:t>
            </a:r>
            <a:r>
              <a:rPr dirty="0" sz="1200">
                <a:latin typeface="Arial"/>
                <a:cs typeface="Arial"/>
              </a:rPr>
              <a:t>the </a:t>
            </a:r>
            <a:r>
              <a:rPr dirty="0" sz="1200" spc="-10">
                <a:latin typeface="Arial"/>
                <a:cs typeface="Arial"/>
              </a:rPr>
              <a:t>pledges  </a:t>
            </a:r>
            <a:r>
              <a:rPr dirty="0" sz="1200" spc="-5">
                <a:latin typeface="Arial"/>
                <a:cs typeface="Arial"/>
              </a:rPr>
              <a:t>of</a:t>
            </a:r>
            <a:r>
              <a:rPr dirty="0" sz="1200" spc="5">
                <a:latin typeface="Arial"/>
                <a:cs typeface="Arial"/>
              </a:rPr>
              <a:t> </a:t>
            </a:r>
            <a:r>
              <a:rPr dirty="0" sz="1200" spc="-55">
                <a:latin typeface="Arial"/>
                <a:cs typeface="Arial"/>
              </a:rPr>
              <a:t>‗Aqabah.</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25</a:t>
            </a:r>
            <a:endParaRPr sz="120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4715" y="432307"/>
            <a:ext cx="6635115" cy="9163050"/>
          </a:xfrm>
          <a:prstGeom prst="rect">
            <a:avLst/>
          </a:prstGeom>
        </p:spPr>
        <p:txBody>
          <a:bodyPr wrap="square" lIns="0" tIns="12700" rIns="0" bIns="0" rtlCol="0" vert="horz">
            <a:spAutoFit/>
          </a:bodyPr>
          <a:lstStyle/>
          <a:p>
            <a:pPr algn="just" marL="152400">
              <a:lnSpc>
                <a:spcPct val="100000"/>
              </a:lnSpc>
              <a:spcBef>
                <a:spcPts val="100"/>
              </a:spcBef>
              <a:tabLst>
                <a:tab pos="52031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b="1">
                <a:latin typeface="Times New Roman"/>
                <a:cs typeface="Times New Roman"/>
              </a:rPr>
              <a:t> 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609600" indent="-229235">
              <a:lnSpc>
                <a:spcPts val="1410"/>
              </a:lnSpc>
              <a:spcBef>
                <a:spcPts val="5"/>
              </a:spcBef>
              <a:buAutoNum type="arabicPeriod" startAt="2"/>
              <a:tabLst>
                <a:tab pos="610235" algn="l"/>
              </a:tabLst>
            </a:pPr>
            <a:r>
              <a:rPr dirty="0" sz="1200" spc="-5">
                <a:latin typeface="Arial"/>
                <a:cs typeface="Arial"/>
              </a:rPr>
              <a:t>They were </a:t>
            </a:r>
            <a:r>
              <a:rPr dirty="0" sz="1200">
                <a:latin typeface="Arial"/>
                <a:cs typeface="Arial"/>
              </a:rPr>
              <a:t>poor, </a:t>
            </a:r>
            <a:r>
              <a:rPr dirty="0" sz="1200" spc="-5">
                <a:latin typeface="Arial"/>
                <a:cs typeface="Arial"/>
              </a:rPr>
              <a:t>destitute and weak in need of a</a:t>
            </a:r>
            <a:r>
              <a:rPr dirty="0" sz="1200" spc="10">
                <a:latin typeface="Arial"/>
                <a:cs typeface="Arial"/>
              </a:rPr>
              <a:t> </a:t>
            </a:r>
            <a:r>
              <a:rPr dirty="0" sz="1200" spc="-5">
                <a:latin typeface="Arial"/>
                <a:cs typeface="Arial"/>
              </a:rPr>
              <a:t>protector</a:t>
            </a:r>
            <a:endParaRPr sz="1200">
              <a:latin typeface="Arial"/>
              <a:cs typeface="Arial"/>
            </a:endParaRPr>
          </a:p>
          <a:p>
            <a:pPr marL="609600" indent="-229235">
              <a:lnSpc>
                <a:spcPts val="1380"/>
              </a:lnSpc>
              <a:buAutoNum type="arabicPeriod" startAt="2"/>
              <a:tabLst>
                <a:tab pos="610235" algn="l"/>
              </a:tabLst>
            </a:pPr>
            <a:r>
              <a:rPr dirty="0" sz="1200" spc="-5">
                <a:latin typeface="Arial"/>
                <a:cs typeface="Arial"/>
              </a:rPr>
              <a:t>The tribes of </a:t>
            </a:r>
            <a:r>
              <a:rPr dirty="0" sz="1200" spc="-10">
                <a:latin typeface="Arial"/>
                <a:cs typeface="Arial"/>
              </a:rPr>
              <a:t>Aws </a:t>
            </a:r>
            <a:r>
              <a:rPr dirty="0" sz="1200">
                <a:latin typeface="Arial"/>
                <a:cs typeface="Arial"/>
              </a:rPr>
              <a:t>and </a:t>
            </a:r>
            <a:r>
              <a:rPr dirty="0" sz="1200" spc="-5">
                <a:latin typeface="Arial"/>
                <a:cs typeface="Arial"/>
              </a:rPr>
              <a:t>Khazraj needed </a:t>
            </a:r>
            <a:r>
              <a:rPr dirty="0" sz="1200">
                <a:latin typeface="Arial"/>
                <a:cs typeface="Arial"/>
              </a:rPr>
              <a:t>an </a:t>
            </a:r>
            <a:r>
              <a:rPr dirty="0" sz="1200" spc="-5">
                <a:latin typeface="Arial"/>
                <a:cs typeface="Arial"/>
              </a:rPr>
              <a:t>arbitrator </a:t>
            </a:r>
            <a:r>
              <a:rPr dirty="0" sz="1200">
                <a:latin typeface="Arial"/>
                <a:cs typeface="Arial"/>
              </a:rPr>
              <a:t>to </a:t>
            </a:r>
            <a:r>
              <a:rPr dirty="0" sz="1200" spc="-5">
                <a:latin typeface="Arial"/>
                <a:cs typeface="Arial"/>
              </a:rPr>
              <a:t>end up their </a:t>
            </a:r>
            <a:r>
              <a:rPr dirty="0" sz="1200">
                <a:latin typeface="Arial"/>
                <a:cs typeface="Arial"/>
              </a:rPr>
              <a:t>fights.</a:t>
            </a:r>
            <a:endParaRPr sz="1200">
              <a:latin typeface="Arial"/>
              <a:cs typeface="Arial"/>
            </a:endParaRPr>
          </a:p>
          <a:p>
            <a:pPr marL="609600" indent="-229235">
              <a:lnSpc>
                <a:spcPts val="1380"/>
              </a:lnSpc>
              <a:buAutoNum type="arabicPeriod" startAt="2"/>
              <a:tabLst>
                <a:tab pos="610235" algn="l"/>
              </a:tabLst>
            </a:pPr>
            <a:r>
              <a:rPr dirty="0" sz="1200" spc="-5">
                <a:latin typeface="Arial"/>
                <a:cs typeface="Arial"/>
              </a:rPr>
              <a:t>They were </a:t>
            </a:r>
            <a:r>
              <a:rPr dirty="0" sz="1200">
                <a:latin typeface="Arial"/>
                <a:cs typeface="Arial"/>
              </a:rPr>
              <a:t>refined, </a:t>
            </a:r>
            <a:r>
              <a:rPr dirty="0" sz="1200" spc="-5">
                <a:latin typeface="Arial"/>
                <a:cs typeface="Arial"/>
              </a:rPr>
              <a:t>cultured and</a:t>
            </a:r>
            <a:r>
              <a:rPr dirty="0" sz="1200">
                <a:latin typeface="Arial"/>
                <a:cs typeface="Arial"/>
              </a:rPr>
              <a:t> </a:t>
            </a:r>
            <a:r>
              <a:rPr dirty="0" sz="1200" spc="-5">
                <a:latin typeface="Arial"/>
                <a:cs typeface="Arial"/>
              </a:rPr>
              <a:t>literate.</a:t>
            </a:r>
            <a:endParaRPr sz="1200">
              <a:latin typeface="Arial"/>
              <a:cs typeface="Arial"/>
            </a:endParaRPr>
          </a:p>
          <a:p>
            <a:pPr marL="609600" indent="-229235">
              <a:lnSpc>
                <a:spcPts val="1380"/>
              </a:lnSpc>
              <a:buAutoNum type="arabicPeriod" startAt="2"/>
              <a:tabLst>
                <a:tab pos="610235" algn="l"/>
              </a:tabLst>
            </a:pPr>
            <a:r>
              <a:rPr dirty="0" sz="1200" spc="-5">
                <a:latin typeface="Arial"/>
                <a:cs typeface="Arial"/>
              </a:rPr>
              <a:t>They were </a:t>
            </a:r>
            <a:r>
              <a:rPr dirty="0" sz="1200">
                <a:latin typeface="Arial"/>
                <a:cs typeface="Arial"/>
              </a:rPr>
              <a:t>keener to </a:t>
            </a:r>
            <a:r>
              <a:rPr dirty="0" sz="1200" spc="-5">
                <a:latin typeface="Arial"/>
                <a:cs typeface="Arial"/>
              </a:rPr>
              <a:t>hear and listen </a:t>
            </a:r>
            <a:r>
              <a:rPr dirty="0" sz="1200">
                <a:latin typeface="Arial"/>
                <a:cs typeface="Arial"/>
              </a:rPr>
              <a:t>to </a:t>
            </a:r>
            <a:r>
              <a:rPr dirty="0" sz="1200" spc="-5">
                <a:latin typeface="Arial"/>
                <a:cs typeface="Arial"/>
              </a:rPr>
              <a:t>the words of </a:t>
            </a:r>
            <a:r>
              <a:rPr dirty="0" sz="1200">
                <a:latin typeface="Arial"/>
                <a:cs typeface="Arial"/>
              </a:rPr>
              <a:t>the</a:t>
            </a:r>
            <a:r>
              <a:rPr dirty="0" sz="1200" spc="-5">
                <a:latin typeface="Arial"/>
                <a:cs typeface="Arial"/>
              </a:rPr>
              <a:t> prophet</a:t>
            </a:r>
            <a:endParaRPr sz="1200">
              <a:latin typeface="Arial"/>
              <a:cs typeface="Arial"/>
            </a:endParaRPr>
          </a:p>
          <a:p>
            <a:pPr marL="609600" marR="195580" indent="-229235">
              <a:lnSpc>
                <a:spcPts val="1380"/>
              </a:lnSpc>
              <a:spcBef>
                <a:spcPts val="65"/>
              </a:spcBef>
              <a:buAutoNum type="arabicPeriod" startAt="2"/>
              <a:tabLst>
                <a:tab pos="610235" algn="l"/>
              </a:tabLst>
            </a:pPr>
            <a:r>
              <a:rPr dirty="0" sz="1200" spc="-5">
                <a:latin typeface="Arial"/>
                <a:cs typeface="Arial"/>
              </a:rPr>
              <a:t>The ground </a:t>
            </a:r>
            <a:r>
              <a:rPr dirty="0" sz="1200">
                <a:latin typeface="Arial"/>
                <a:cs typeface="Arial"/>
              </a:rPr>
              <a:t>for </a:t>
            </a:r>
            <a:r>
              <a:rPr dirty="0" sz="1200" spc="-5">
                <a:latin typeface="Arial"/>
                <a:cs typeface="Arial"/>
              </a:rPr>
              <a:t>spreading </a:t>
            </a:r>
            <a:r>
              <a:rPr dirty="0" sz="1200">
                <a:latin typeface="Arial"/>
                <a:cs typeface="Arial"/>
              </a:rPr>
              <a:t>Islam </a:t>
            </a:r>
            <a:r>
              <a:rPr dirty="0" sz="1200" spc="-5">
                <a:latin typeface="Arial"/>
                <a:cs typeface="Arial"/>
              </a:rPr>
              <a:t>was already prepared </a:t>
            </a:r>
            <a:r>
              <a:rPr dirty="0" sz="1200">
                <a:latin typeface="Arial"/>
                <a:cs typeface="Arial"/>
              </a:rPr>
              <a:t>by </a:t>
            </a:r>
            <a:r>
              <a:rPr dirty="0" sz="1200" spc="-5">
                <a:latin typeface="Arial"/>
                <a:cs typeface="Arial"/>
              </a:rPr>
              <a:t>Mus‘ad bin </a:t>
            </a:r>
            <a:r>
              <a:rPr dirty="0" sz="1200" spc="-70">
                <a:latin typeface="Arial"/>
                <a:cs typeface="Arial"/>
              </a:rPr>
              <a:t>‗Umair </a:t>
            </a:r>
            <a:r>
              <a:rPr dirty="0" sz="1200" spc="-5">
                <a:latin typeface="Arial"/>
                <a:cs typeface="Arial"/>
              </a:rPr>
              <a:t>who was  </a:t>
            </a:r>
            <a:r>
              <a:rPr dirty="0" sz="1200">
                <a:latin typeface="Arial"/>
                <a:cs typeface="Arial"/>
              </a:rPr>
              <a:t>sent </a:t>
            </a:r>
            <a:r>
              <a:rPr dirty="0" sz="1200" spc="-5">
                <a:latin typeface="Arial"/>
                <a:cs typeface="Arial"/>
              </a:rPr>
              <a:t>with the people of Madina as from the </a:t>
            </a:r>
            <a:r>
              <a:rPr dirty="0" sz="1200" spc="5">
                <a:latin typeface="Arial"/>
                <a:cs typeface="Arial"/>
              </a:rPr>
              <a:t>1</a:t>
            </a:r>
            <a:r>
              <a:rPr dirty="0" baseline="38194" sz="1200" spc="7">
                <a:latin typeface="Arial"/>
                <a:cs typeface="Arial"/>
              </a:rPr>
              <a:t>st </a:t>
            </a:r>
            <a:r>
              <a:rPr dirty="0" sz="1200" spc="-5">
                <a:latin typeface="Arial"/>
                <a:cs typeface="Arial"/>
              </a:rPr>
              <a:t>pledge of</a:t>
            </a:r>
            <a:r>
              <a:rPr dirty="0" sz="1200" spc="-105">
                <a:latin typeface="Arial"/>
                <a:cs typeface="Arial"/>
              </a:rPr>
              <a:t> </a:t>
            </a:r>
            <a:r>
              <a:rPr dirty="0" sz="1200" spc="-55">
                <a:latin typeface="Arial"/>
                <a:cs typeface="Arial"/>
              </a:rPr>
              <a:t>‗Aqabah.</a:t>
            </a:r>
            <a:endParaRPr sz="1200">
              <a:latin typeface="Arial"/>
              <a:cs typeface="Arial"/>
            </a:endParaRPr>
          </a:p>
          <a:p>
            <a:pPr marL="609600" indent="-229235">
              <a:lnSpc>
                <a:spcPts val="1315"/>
              </a:lnSpc>
              <a:buAutoNum type="arabicPeriod" startAt="2"/>
              <a:tabLst>
                <a:tab pos="610235" algn="l"/>
              </a:tabLst>
            </a:pPr>
            <a:r>
              <a:rPr dirty="0" sz="1200" spc="-5">
                <a:latin typeface="Arial"/>
                <a:cs typeface="Arial"/>
              </a:rPr>
              <a:t>The order </a:t>
            </a:r>
            <a:r>
              <a:rPr dirty="0" sz="1200" spc="-10">
                <a:latin typeface="Arial"/>
                <a:cs typeface="Arial"/>
              </a:rPr>
              <a:t>was </a:t>
            </a:r>
            <a:r>
              <a:rPr dirty="0" sz="1200" spc="-5">
                <a:latin typeface="Arial"/>
                <a:cs typeface="Arial"/>
              </a:rPr>
              <a:t>given by Allah </a:t>
            </a:r>
            <a:r>
              <a:rPr dirty="0" sz="1200">
                <a:latin typeface="Arial"/>
                <a:cs typeface="Arial"/>
              </a:rPr>
              <a:t>to </a:t>
            </a:r>
            <a:r>
              <a:rPr dirty="0" sz="1200" spc="-5">
                <a:latin typeface="Arial"/>
                <a:cs typeface="Arial"/>
              </a:rPr>
              <a:t>go </a:t>
            </a:r>
            <a:r>
              <a:rPr dirty="0" sz="1200">
                <a:latin typeface="Arial"/>
                <a:cs typeface="Arial"/>
              </a:rPr>
              <a:t>to </a:t>
            </a:r>
            <a:r>
              <a:rPr dirty="0" sz="1200" spc="-5">
                <a:latin typeface="Arial"/>
                <a:cs typeface="Arial"/>
              </a:rPr>
              <a:t>Madina, and then </a:t>
            </a:r>
            <a:r>
              <a:rPr dirty="0" sz="1200">
                <a:latin typeface="Arial"/>
                <a:cs typeface="Arial"/>
              </a:rPr>
              <a:t>success </a:t>
            </a:r>
            <a:r>
              <a:rPr dirty="0" sz="1200" spc="-10">
                <a:latin typeface="Arial"/>
                <a:cs typeface="Arial"/>
              </a:rPr>
              <a:t>was</a:t>
            </a:r>
            <a:r>
              <a:rPr dirty="0" sz="1200" spc="60">
                <a:latin typeface="Arial"/>
                <a:cs typeface="Arial"/>
              </a:rPr>
              <a:t> </a:t>
            </a:r>
            <a:r>
              <a:rPr dirty="0" sz="1200" spc="-5">
                <a:latin typeface="Arial"/>
                <a:cs typeface="Arial"/>
              </a:rPr>
              <a:t>assured.</a:t>
            </a:r>
            <a:endParaRPr sz="1200">
              <a:latin typeface="Arial"/>
              <a:cs typeface="Arial"/>
            </a:endParaRPr>
          </a:p>
          <a:p>
            <a:pPr marL="609600" indent="-229235">
              <a:lnSpc>
                <a:spcPts val="1380"/>
              </a:lnSpc>
              <a:buAutoNum type="arabicPeriod" startAt="2"/>
              <a:tabLst>
                <a:tab pos="610235" algn="l"/>
              </a:tabLst>
            </a:pPr>
            <a:r>
              <a:rPr dirty="0" sz="1200" spc="-5">
                <a:latin typeface="Arial"/>
                <a:cs typeface="Arial"/>
              </a:rPr>
              <a:t>He made </a:t>
            </a:r>
            <a:r>
              <a:rPr dirty="0" sz="1200">
                <a:latin typeface="Arial"/>
                <a:cs typeface="Arial"/>
              </a:rPr>
              <a:t>the </a:t>
            </a:r>
            <a:r>
              <a:rPr dirty="0" sz="1200" spc="-5">
                <a:latin typeface="Arial"/>
                <a:cs typeface="Arial"/>
              </a:rPr>
              <a:t>constitution of Madina and </a:t>
            </a:r>
            <a:r>
              <a:rPr dirty="0" sz="1200">
                <a:latin typeface="Arial"/>
                <a:cs typeface="Arial"/>
              </a:rPr>
              <a:t>thus </a:t>
            </a:r>
            <a:r>
              <a:rPr dirty="0" sz="1200" spc="-5">
                <a:latin typeface="Arial"/>
                <a:cs typeface="Arial"/>
              </a:rPr>
              <a:t>ensured</a:t>
            </a:r>
            <a:r>
              <a:rPr dirty="0" sz="1200" spc="-20">
                <a:latin typeface="Arial"/>
                <a:cs typeface="Arial"/>
              </a:rPr>
              <a:t> </a:t>
            </a:r>
            <a:r>
              <a:rPr dirty="0" sz="1200" spc="-5">
                <a:latin typeface="Arial"/>
                <a:cs typeface="Arial"/>
              </a:rPr>
              <a:t>security</a:t>
            </a:r>
            <a:endParaRPr sz="1200">
              <a:latin typeface="Arial"/>
              <a:cs typeface="Arial"/>
            </a:endParaRPr>
          </a:p>
          <a:p>
            <a:pPr marL="609600" indent="-229235">
              <a:lnSpc>
                <a:spcPts val="1380"/>
              </a:lnSpc>
              <a:buAutoNum type="arabicPeriod" startAt="2"/>
              <a:tabLst>
                <a:tab pos="610235" algn="l"/>
              </a:tabLst>
            </a:pPr>
            <a:r>
              <a:rPr dirty="0" sz="1200" spc="-5">
                <a:latin typeface="Arial"/>
                <a:cs typeface="Arial"/>
              </a:rPr>
              <a:t>There </a:t>
            </a:r>
            <a:r>
              <a:rPr dirty="0" sz="1200" spc="-10">
                <a:latin typeface="Arial"/>
                <a:cs typeface="Arial"/>
              </a:rPr>
              <a:t>was </a:t>
            </a:r>
            <a:r>
              <a:rPr dirty="0" sz="1200" spc="-5">
                <a:latin typeface="Arial"/>
                <a:cs typeface="Arial"/>
              </a:rPr>
              <a:t>the </a:t>
            </a:r>
            <a:r>
              <a:rPr dirty="0" sz="1200">
                <a:latin typeface="Arial"/>
                <a:cs typeface="Arial"/>
              </a:rPr>
              <a:t>treaty </a:t>
            </a:r>
            <a:r>
              <a:rPr dirty="0" sz="1200" spc="-5">
                <a:latin typeface="Arial"/>
                <a:cs typeface="Arial"/>
              </a:rPr>
              <a:t>of Hudaibiyyah </a:t>
            </a:r>
            <a:r>
              <a:rPr dirty="0" sz="1200">
                <a:latin typeface="Arial"/>
                <a:cs typeface="Arial"/>
              </a:rPr>
              <a:t>and the </a:t>
            </a:r>
            <a:r>
              <a:rPr dirty="0" sz="1200" spc="-5">
                <a:latin typeface="Arial"/>
                <a:cs typeface="Arial"/>
              </a:rPr>
              <a:t>10 years promise without</a:t>
            </a:r>
            <a:r>
              <a:rPr dirty="0" sz="1200" spc="10">
                <a:latin typeface="Arial"/>
                <a:cs typeface="Arial"/>
              </a:rPr>
              <a:t> </a:t>
            </a:r>
            <a:r>
              <a:rPr dirty="0" sz="1200">
                <a:latin typeface="Arial"/>
                <a:cs typeface="Arial"/>
              </a:rPr>
              <a:t>fight</a:t>
            </a:r>
            <a:endParaRPr sz="1200">
              <a:latin typeface="Arial"/>
              <a:cs typeface="Arial"/>
            </a:endParaRPr>
          </a:p>
          <a:p>
            <a:pPr marL="609600" marR="196850" indent="-229235">
              <a:lnSpc>
                <a:spcPts val="1380"/>
              </a:lnSpc>
              <a:spcBef>
                <a:spcPts val="65"/>
              </a:spcBef>
              <a:buAutoNum type="arabicPeriod" startAt="2"/>
              <a:tabLst>
                <a:tab pos="610235" algn="l"/>
              </a:tabLst>
            </a:pPr>
            <a:r>
              <a:rPr dirty="0" sz="1200" spc="-5">
                <a:latin typeface="Arial"/>
                <a:cs typeface="Arial"/>
              </a:rPr>
              <a:t>The Muslims had faith in Allah and His prophet (s.a.w) and they were victorious in  </a:t>
            </a:r>
            <a:r>
              <a:rPr dirty="0" sz="1200">
                <a:latin typeface="Arial"/>
                <a:cs typeface="Arial"/>
              </a:rPr>
              <a:t>their</a:t>
            </a:r>
            <a:r>
              <a:rPr dirty="0" sz="1200" spc="-15">
                <a:latin typeface="Arial"/>
                <a:cs typeface="Arial"/>
              </a:rPr>
              <a:t> </a:t>
            </a:r>
            <a:r>
              <a:rPr dirty="0" sz="1200" spc="-5">
                <a:latin typeface="Arial"/>
                <a:cs typeface="Arial"/>
              </a:rPr>
              <a:t>battles</a:t>
            </a:r>
            <a:endParaRPr sz="1200">
              <a:latin typeface="Arial"/>
              <a:cs typeface="Arial"/>
            </a:endParaRPr>
          </a:p>
          <a:p>
            <a:pPr>
              <a:lnSpc>
                <a:spcPct val="100000"/>
              </a:lnSpc>
              <a:spcBef>
                <a:spcPts val="20"/>
              </a:spcBef>
            </a:pPr>
            <a:endParaRPr sz="1100">
              <a:latin typeface="Arial"/>
              <a:cs typeface="Arial"/>
            </a:endParaRPr>
          </a:p>
          <a:p>
            <a:pPr algn="just" marL="152400">
              <a:lnSpc>
                <a:spcPct val="100000"/>
              </a:lnSpc>
            </a:pPr>
            <a:r>
              <a:rPr dirty="0" u="heavy" sz="1200" spc="-5" b="1" i="1">
                <a:uFill>
                  <a:solidFill>
                    <a:srgbClr val="000000"/>
                  </a:solidFill>
                </a:uFill>
                <a:latin typeface="Arial"/>
                <a:cs typeface="Arial"/>
              </a:rPr>
              <a:t>Prophet Muhammad (s.a.w) as the final</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Messenger</a:t>
            </a:r>
            <a:endParaRPr sz="1200">
              <a:latin typeface="Arial"/>
              <a:cs typeface="Arial"/>
            </a:endParaRPr>
          </a:p>
          <a:p>
            <a:pPr>
              <a:lnSpc>
                <a:spcPct val="100000"/>
              </a:lnSpc>
              <a:spcBef>
                <a:spcPts val="35"/>
              </a:spcBef>
            </a:pPr>
            <a:endParaRPr sz="1200">
              <a:latin typeface="Arial"/>
              <a:cs typeface="Arial"/>
            </a:endParaRPr>
          </a:p>
          <a:p>
            <a:pPr algn="just" marL="152400" marR="196215">
              <a:lnSpc>
                <a:spcPts val="1380"/>
              </a:lnSpc>
              <a:spcBef>
                <a:spcPts val="5"/>
              </a:spcBef>
            </a:pPr>
            <a:r>
              <a:rPr dirty="0" sz="1200">
                <a:latin typeface="Arial"/>
                <a:cs typeface="Arial"/>
              </a:rPr>
              <a:t>According to the </a:t>
            </a:r>
            <a:r>
              <a:rPr dirty="0" sz="1200" spc="-5">
                <a:latin typeface="Arial"/>
                <a:cs typeface="Arial"/>
              </a:rPr>
              <a:t>Qur‘an </a:t>
            </a:r>
            <a:r>
              <a:rPr dirty="0" sz="1200">
                <a:latin typeface="Arial"/>
                <a:cs typeface="Arial"/>
              </a:rPr>
              <a:t>and </a:t>
            </a:r>
            <a:r>
              <a:rPr dirty="0" sz="1200" spc="-5">
                <a:latin typeface="Arial"/>
                <a:cs typeface="Arial"/>
              </a:rPr>
              <a:t>the Hadith of </a:t>
            </a:r>
            <a:r>
              <a:rPr dirty="0" sz="1200" spc="-10">
                <a:latin typeface="Arial"/>
                <a:cs typeface="Arial"/>
              </a:rPr>
              <a:t>the </a:t>
            </a:r>
            <a:r>
              <a:rPr dirty="0" sz="1200" spc="-5">
                <a:latin typeface="Arial"/>
                <a:cs typeface="Arial"/>
              </a:rPr>
              <a:t>prophet (s.a.w) </a:t>
            </a:r>
            <a:r>
              <a:rPr dirty="0" sz="1200">
                <a:latin typeface="Arial"/>
                <a:cs typeface="Arial"/>
              </a:rPr>
              <a:t>there </a:t>
            </a:r>
            <a:r>
              <a:rPr dirty="0" sz="1200" spc="-5">
                <a:latin typeface="Arial"/>
                <a:cs typeface="Arial"/>
              </a:rPr>
              <a:t>will </a:t>
            </a:r>
            <a:r>
              <a:rPr dirty="0" sz="1200">
                <a:latin typeface="Arial"/>
                <a:cs typeface="Arial"/>
              </a:rPr>
              <a:t>not be any prophet  after </a:t>
            </a:r>
            <a:r>
              <a:rPr dirty="0" sz="1200" spc="-5">
                <a:latin typeface="Arial"/>
                <a:cs typeface="Arial"/>
              </a:rPr>
              <a:t>the prophet of Islam. That </a:t>
            </a:r>
            <a:r>
              <a:rPr dirty="0" sz="1200" spc="-10">
                <a:latin typeface="Arial"/>
                <a:cs typeface="Arial"/>
              </a:rPr>
              <a:t>was </a:t>
            </a:r>
            <a:r>
              <a:rPr dirty="0" sz="1200" spc="-5">
                <a:latin typeface="Arial"/>
                <a:cs typeface="Arial"/>
              </a:rPr>
              <a:t>confirmed also by past prophets. The following verses  and narrations </a:t>
            </a:r>
            <a:r>
              <a:rPr dirty="0" sz="1200" spc="-10">
                <a:latin typeface="Arial"/>
                <a:cs typeface="Arial"/>
              </a:rPr>
              <a:t>will </a:t>
            </a:r>
            <a:r>
              <a:rPr dirty="0" sz="1200">
                <a:latin typeface="Arial"/>
                <a:cs typeface="Arial"/>
              </a:rPr>
              <a:t>enlighten </a:t>
            </a:r>
            <a:r>
              <a:rPr dirty="0" sz="1200" spc="-5">
                <a:latin typeface="Arial"/>
                <a:cs typeface="Arial"/>
              </a:rPr>
              <a:t>us. Allah says in </a:t>
            </a:r>
            <a:r>
              <a:rPr dirty="0" sz="1200">
                <a:latin typeface="Arial"/>
                <a:cs typeface="Arial"/>
              </a:rPr>
              <a:t>the</a:t>
            </a:r>
            <a:r>
              <a:rPr dirty="0" sz="1200" spc="10">
                <a:latin typeface="Arial"/>
                <a:cs typeface="Arial"/>
              </a:rPr>
              <a:t> </a:t>
            </a:r>
            <a:r>
              <a:rPr dirty="0" sz="1200" spc="-5">
                <a:latin typeface="Arial"/>
                <a:cs typeface="Arial"/>
              </a:rPr>
              <a:t>Qur‘an:</a:t>
            </a:r>
            <a:endParaRPr sz="1200">
              <a:latin typeface="Arial"/>
              <a:cs typeface="Arial"/>
            </a:endParaRPr>
          </a:p>
          <a:p>
            <a:pPr>
              <a:lnSpc>
                <a:spcPct val="100000"/>
              </a:lnSpc>
              <a:spcBef>
                <a:spcPts val="45"/>
              </a:spcBef>
            </a:pPr>
            <a:endParaRPr sz="1150">
              <a:latin typeface="Arial"/>
              <a:cs typeface="Arial"/>
            </a:endParaRPr>
          </a:p>
          <a:p>
            <a:pPr algn="just" marL="152400" marR="195580" indent="457200">
              <a:lnSpc>
                <a:spcPts val="1380"/>
              </a:lnSpc>
            </a:pPr>
            <a:r>
              <a:rPr dirty="0" sz="1200" spc="-95" i="1">
                <a:latin typeface="Arial"/>
                <a:cs typeface="Arial"/>
              </a:rPr>
              <a:t>―Muhammad </a:t>
            </a:r>
            <a:r>
              <a:rPr dirty="0" sz="1200" spc="-5" i="1">
                <a:latin typeface="Arial"/>
                <a:cs typeface="Arial"/>
              </a:rPr>
              <a:t>is </a:t>
            </a:r>
            <a:r>
              <a:rPr dirty="0" sz="1200" i="1">
                <a:latin typeface="Arial"/>
                <a:cs typeface="Arial"/>
              </a:rPr>
              <a:t>not the father </a:t>
            </a:r>
            <a:r>
              <a:rPr dirty="0" sz="1200" spc="-5" i="1">
                <a:latin typeface="Arial"/>
                <a:cs typeface="Arial"/>
              </a:rPr>
              <a:t>of </a:t>
            </a:r>
            <a:r>
              <a:rPr dirty="0" sz="1200" i="1">
                <a:latin typeface="Arial"/>
                <a:cs typeface="Arial"/>
              </a:rPr>
              <a:t>any </a:t>
            </a:r>
            <a:r>
              <a:rPr dirty="0" sz="1200" spc="-5" i="1">
                <a:latin typeface="Arial"/>
                <a:cs typeface="Arial"/>
              </a:rPr>
              <a:t>of </a:t>
            </a:r>
            <a:r>
              <a:rPr dirty="0" sz="1200" i="1">
                <a:latin typeface="Arial"/>
                <a:cs typeface="Arial"/>
              </a:rPr>
              <a:t>your </a:t>
            </a:r>
            <a:r>
              <a:rPr dirty="0" sz="1200" spc="-5" i="1">
                <a:latin typeface="Arial"/>
                <a:cs typeface="Arial"/>
              </a:rPr>
              <a:t>men, </a:t>
            </a:r>
            <a:r>
              <a:rPr dirty="0" sz="1200" i="1">
                <a:latin typeface="Arial"/>
                <a:cs typeface="Arial"/>
              </a:rPr>
              <a:t>but he </a:t>
            </a:r>
            <a:r>
              <a:rPr dirty="0" sz="1200" spc="-5" i="1">
                <a:latin typeface="Arial"/>
                <a:cs typeface="Arial"/>
              </a:rPr>
              <a:t>is </a:t>
            </a:r>
            <a:r>
              <a:rPr dirty="0" sz="1200" i="1">
                <a:latin typeface="Arial"/>
                <a:cs typeface="Arial"/>
              </a:rPr>
              <a:t>the </a:t>
            </a:r>
            <a:r>
              <a:rPr dirty="0" sz="1200" spc="-5" i="1">
                <a:latin typeface="Arial"/>
                <a:cs typeface="Arial"/>
              </a:rPr>
              <a:t>Messenger of Allah and  </a:t>
            </a:r>
            <a:r>
              <a:rPr dirty="0" sz="1200" i="1">
                <a:latin typeface="Arial"/>
                <a:cs typeface="Arial"/>
              </a:rPr>
              <a:t>the Last of </a:t>
            </a:r>
            <a:r>
              <a:rPr dirty="0" sz="1200" spc="-5" i="1">
                <a:latin typeface="Arial"/>
                <a:cs typeface="Arial"/>
              </a:rPr>
              <a:t>the Prophets; and Allah </a:t>
            </a:r>
            <a:r>
              <a:rPr dirty="0" sz="1200" i="1">
                <a:latin typeface="Arial"/>
                <a:cs typeface="Arial"/>
              </a:rPr>
              <a:t>has </a:t>
            </a:r>
            <a:r>
              <a:rPr dirty="0" sz="1200" spc="-5" i="1">
                <a:latin typeface="Arial"/>
                <a:cs typeface="Arial"/>
              </a:rPr>
              <a:t>full knowledge </a:t>
            </a:r>
            <a:r>
              <a:rPr dirty="0" sz="1200" i="1">
                <a:latin typeface="Arial"/>
                <a:cs typeface="Arial"/>
              </a:rPr>
              <a:t>of </a:t>
            </a:r>
            <a:r>
              <a:rPr dirty="0" sz="1200" spc="-5" i="1">
                <a:latin typeface="Arial"/>
                <a:cs typeface="Arial"/>
              </a:rPr>
              <a:t>all </a:t>
            </a:r>
            <a:r>
              <a:rPr dirty="0" sz="1200" spc="-15" i="1">
                <a:latin typeface="Arial"/>
                <a:cs typeface="Arial"/>
              </a:rPr>
              <a:t>things.‖</a:t>
            </a:r>
            <a:r>
              <a:rPr dirty="0" sz="1200" spc="-55" i="1">
                <a:latin typeface="Arial"/>
                <a:cs typeface="Arial"/>
              </a:rPr>
              <a:t> </a:t>
            </a:r>
            <a:r>
              <a:rPr dirty="0" sz="1200" i="1">
                <a:latin typeface="Arial"/>
                <a:cs typeface="Arial"/>
              </a:rPr>
              <a:t>(33:40)</a:t>
            </a:r>
            <a:endParaRPr sz="1200">
              <a:latin typeface="Arial"/>
              <a:cs typeface="Arial"/>
            </a:endParaRPr>
          </a:p>
          <a:p>
            <a:pPr>
              <a:lnSpc>
                <a:spcPct val="100000"/>
              </a:lnSpc>
              <a:spcBef>
                <a:spcPts val="30"/>
              </a:spcBef>
            </a:pPr>
            <a:endParaRPr sz="1100">
              <a:latin typeface="Arial"/>
              <a:cs typeface="Arial"/>
            </a:endParaRPr>
          </a:p>
          <a:p>
            <a:pPr algn="just" marL="152400">
              <a:lnSpc>
                <a:spcPct val="100000"/>
              </a:lnSpc>
            </a:pPr>
            <a:r>
              <a:rPr dirty="0" sz="1200" spc="-5">
                <a:latin typeface="Arial"/>
                <a:cs typeface="Arial"/>
              </a:rPr>
              <a:t>Prophet Ibrahim prayed </a:t>
            </a:r>
            <a:r>
              <a:rPr dirty="0" sz="1200">
                <a:latin typeface="Arial"/>
                <a:cs typeface="Arial"/>
              </a:rPr>
              <a:t>for </a:t>
            </a:r>
            <a:r>
              <a:rPr dirty="0" sz="1200" spc="-5">
                <a:latin typeface="Arial"/>
                <a:cs typeface="Arial"/>
              </a:rPr>
              <a:t>his</a:t>
            </a:r>
            <a:r>
              <a:rPr dirty="0" sz="1200" spc="-10">
                <a:latin typeface="Arial"/>
                <a:cs typeface="Arial"/>
              </a:rPr>
              <a:t> </a:t>
            </a:r>
            <a:r>
              <a:rPr dirty="0" sz="1200" spc="-5">
                <a:latin typeface="Arial"/>
                <a:cs typeface="Arial"/>
              </a:rPr>
              <a:t>coming</a:t>
            </a:r>
            <a:endParaRPr sz="1200">
              <a:latin typeface="Arial"/>
              <a:cs typeface="Arial"/>
            </a:endParaRPr>
          </a:p>
          <a:p>
            <a:pPr>
              <a:lnSpc>
                <a:spcPct val="100000"/>
              </a:lnSpc>
              <a:spcBef>
                <a:spcPts val="25"/>
              </a:spcBef>
            </a:pPr>
            <a:endParaRPr sz="1200">
              <a:latin typeface="Arial"/>
              <a:cs typeface="Arial"/>
            </a:endParaRPr>
          </a:p>
          <a:p>
            <a:pPr algn="just" marL="152400" marR="194310" indent="457200">
              <a:lnSpc>
                <a:spcPts val="1380"/>
              </a:lnSpc>
            </a:pPr>
            <a:r>
              <a:rPr dirty="0" sz="1200" spc="-204" i="1">
                <a:latin typeface="Arial"/>
                <a:cs typeface="Arial"/>
              </a:rPr>
              <a:t>―Our </a:t>
            </a:r>
            <a:r>
              <a:rPr dirty="0" sz="1200" i="1">
                <a:latin typeface="Arial"/>
                <a:cs typeface="Arial"/>
              </a:rPr>
              <a:t>Lord! </a:t>
            </a:r>
            <a:r>
              <a:rPr dirty="0" sz="1200" spc="-5" i="1">
                <a:latin typeface="Arial"/>
                <a:cs typeface="Arial"/>
              </a:rPr>
              <a:t>And raise </a:t>
            </a:r>
            <a:r>
              <a:rPr dirty="0" sz="1200" spc="-10" i="1">
                <a:latin typeface="Arial"/>
                <a:cs typeface="Arial"/>
              </a:rPr>
              <a:t>up </a:t>
            </a:r>
            <a:r>
              <a:rPr dirty="0" sz="1200" spc="-5" i="1">
                <a:latin typeface="Arial"/>
                <a:cs typeface="Arial"/>
              </a:rPr>
              <a:t>in </a:t>
            </a:r>
            <a:r>
              <a:rPr dirty="0" sz="1200" i="1">
                <a:latin typeface="Arial"/>
                <a:cs typeface="Arial"/>
              </a:rPr>
              <a:t>their </a:t>
            </a:r>
            <a:r>
              <a:rPr dirty="0" sz="1200" spc="-5" i="1">
                <a:latin typeface="Arial"/>
                <a:cs typeface="Arial"/>
              </a:rPr>
              <a:t>midst a Messenger </a:t>
            </a:r>
            <a:r>
              <a:rPr dirty="0" sz="1200" i="1">
                <a:latin typeface="Arial"/>
                <a:cs typeface="Arial"/>
              </a:rPr>
              <a:t>from </a:t>
            </a:r>
            <a:r>
              <a:rPr dirty="0" sz="1200" spc="-5" i="1">
                <a:latin typeface="Arial"/>
                <a:cs typeface="Arial"/>
              </a:rPr>
              <a:t>among them </a:t>
            </a:r>
            <a:r>
              <a:rPr dirty="0" sz="1200" i="1">
                <a:latin typeface="Arial"/>
                <a:cs typeface="Arial"/>
              </a:rPr>
              <a:t>who </a:t>
            </a:r>
            <a:r>
              <a:rPr dirty="0" sz="1200" spc="-5" i="1">
                <a:latin typeface="Arial"/>
                <a:cs typeface="Arial"/>
              </a:rPr>
              <a:t>shall recite  </a:t>
            </a:r>
            <a:r>
              <a:rPr dirty="0" sz="1200" spc="-5" i="1">
                <a:latin typeface="Arial"/>
                <a:cs typeface="Arial"/>
              </a:rPr>
              <a:t>to them your Verses, and shall teach them </a:t>
            </a:r>
            <a:r>
              <a:rPr dirty="0" sz="1200" i="1">
                <a:latin typeface="Arial"/>
                <a:cs typeface="Arial"/>
              </a:rPr>
              <a:t>the </a:t>
            </a:r>
            <a:r>
              <a:rPr dirty="0" sz="1200" spc="-5" i="1">
                <a:latin typeface="Arial"/>
                <a:cs typeface="Arial"/>
              </a:rPr>
              <a:t>Scripture, and </a:t>
            </a:r>
            <a:r>
              <a:rPr dirty="0" sz="1200" i="1">
                <a:latin typeface="Arial"/>
                <a:cs typeface="Arial"/>
              </a:rPr>
              <a:t>the Wisdom </a:t>
            </a:r>
            <a:r>
              <a:rPr dirty="0" sz="1200" spc="-5" i="1">
                <a:latin typeface="Arial"/>
                <a:cs typeface="Arial"/>
              </a:rPr>
              <a:t>and shall </a:t>
            </a:r>
            <a:r>
              <a:rPr dirty="0" sz="1200" spc="-10" i="1">
                <a:latin typeface="Arial"/>
                <a:cs typeface="Arial"/>
              </a:rPr>
              <a:t>purify  </a:t>
            </a:r>
            <a:r>
              <a:rPr dirty="0" sz="1200" spc="-5" i="1">
                <a:latin typeface="Arial"/>
                <a:cs typeface="Arial"/>
              </a:rPr>
              <a:t>them. </a:t>
            </a:r>
            <a:r>
              <a:rPr dirty="0" sz="1200" i="1">
                <a:latin typeface="Arial"/>
                <a:cs typeface="Arial"/>
              </a:rPr>
              <a:t>Surely, </a:t>
            </a:r>
            <a:r>
              <a:rPr dirty="0" sz="1200" spc="-5" i="1">
                <a:latin typeface="Arial"/>
                <a:cs typeface="Arial"/>
              </a:rPr>
              <a:t>You </a:t>
            </a:r>
            <a:r>
              <a:rPr dirty="0" sz="1200" i="1">
                <a:latin typeface="Arial"/>
                <a:cs typeface="Arial"/>
              </a:rPr>
              <a:t>are </a:t>
            </a:r>
            <a:r>
              <a:rPr dirty="0" sz="1200" spc="-5" i="1">
                <a:latin typeface="Arial"/>
                <a:cs typeface="Arial"/>
              </a:rPr>
              <a:t>the Mighty, the </a:t>
            </a:r>
            <a:r>
              <a:rPr dirty="0" sz="1200" spc="-20" i="1">
                <a:latin typeface="Arial"/>
                <a:cs typeface="Arial"/>
              </a:rPr>
              <a:t>Wise.‖</a:t>
            </a:r>
            <a:r>
              <a:rPr dirty="0" sz="1200" spc="-15" i="1">
                <a:latin typeface="Arial"/>
                <a:cs typeface="Arial"/>
              </a:rPr>
              <a:t> </a:t>
            </a:r>
            <a:r>
              <a:rPr dirty="0" sz="1200" spc="-5" i="1">
                <a:latin typeface="Arial"/>
                <a:cs typeface="Arial"/>
              </a:rPr>
              <a:t>(2:129)</a:t>
            </a:r>
            <a:endParaRPr sz="1200">
              <a:latin typeface="Arial"/>
              <a:cs typeface="Arial"/>
            </a:endParaRPr>
          </a:p>
          <a:p>
            <a:pPr>
              <a:lnSpc>
                <a:spcPct val="100000"/>
              </a:lnSpc>
              <a:spcBef>
                <a:spcPts val="35"/>
              </a:spcBef>
            </a:pPr>
            <a:endParaRPr sz="1150">
              <a:latin typeface="Arial"/>
              <a:cs typeface="Arial"/>
            </a:endParaRPr>
          </a:p>
          <a:p>
            <a:pPr algn="just" marL="152400" marR="188595">
              <a:lnSpc>
                <a:spcPct val="95800"/>
              </a:lnSpc>
            </a:pPr>
            <a:r>
              <a:rPr dirty="0" sz="1200" spc="-5">
                <a:latin typeface="Arial"/>
                <a:cs typeface="Arial"/>
              </a:rPr>
              <a:t>Narrated Abu Huraira: </a:t>
            </a:r>
            <a:r>
              <a:rPr dirty="0" sz="1200">
                <a:latin typeface="Arial"/>
                <a:cs typeface="Arial"/>
              </a:rPr>
              <a:t>The </a:t>
            </a:r>
            <a:r>
              <a:rPr dirty="0" sz="1200" spc="-5">
                <a:latin typeface="Arial"/>
                <a:cs typeface="Arial"/>
              </a:rPr>
              <a:t>Prophet said, </a:t>
            </a:r>
            <a:r>
              <a:rPr dirty="0" sz="1200">
                <a:latin typeface="Arial"/>
                <a:cs typeface="Arial"/>
              </a:rPr>
              <a:t>"The </a:t>
            </a:r>
            <a:r>
              <a:rPr dirty="0" sz="1200" spc="-5">
                <a:latin typeface="Arial"/>
                <a:cs typeface="Arial"/>
              </a:rPr>
              <a:t>Israelis used </a:t>
            </a:r>
            <a:r>
              <a:rPr dirty="0" sz="1200">
                <a:latin typeface="Arial"/>
                <a:cs typeface="Arial"/>
              </a:rPr>
              <a:t>to </a:t>
            </a:r>
            <a:r>
              <a:rPr dirty="0" sz="1200" spc="-5">
                <a:latin typeface="Arial"/>
                <a:cs typeface="Arial"/>
              </a:rPr>
              <a:t>be ruled and guided by  prophets: </a:t>
            </a:r>
            <a:r>
              <a:rPr dirty="0" sz="1200">
                <a:latin typeface="Arial"/>
                <a:cs typeface="Arial"/>
              </a:rPr>
              <a:t>Whenever </a:t>
            </a:r>
            <a:r>
              <a:rPr dirty="0" sz="1200" spc="-5">
                <a:latin typeface="Arial"/>
                <a:cs typeface="Arial"/>
              </a:rPr>
              <a:t>a prophet died, another would </a:t>
            </a:r>
            <a:r>
              <a:rPr dirty="0" sz="1200">
                <a:latin typeface="Arial"/>
                <a:cs typeface="Arial"/>
              </a:rPr>
              <a:t>take </a:t>
            </a:r>
            <a:r>
              <a:rPr dirty="0" sz="1200" spc="-5">
                <a:latin typeface="Arial"/>
                <a:cs typeface="Arial"/>
              </a:rPr>
              <a:t>over his </a:t>
            </a:r>
            <a:r>
              <a:rPr dirty="0" sz="1200">
                <a:latin typeface="Arial"/>
                <a:cs typeface="Arial"/>
              </a:rPr>
              <a:t>place. </a:t>
            </a:r>
            <a:r>
              <a:rPr dirty="0" sz="1200" spc="-5" b="1" i="1">
                <a:latin typeface="Arial"/>
                <a:cs typeface="Arial"/>
              </a:rPr>
              <a:t>There will be </a:t>
            </a:r>
            <a:r>
              <a:rPr dirty="0" sz="1200" b="1" i="1">
                <a:latin typeface="Arial"/>
                <a:cs typeface="Arial"/>
              </a:rPr>
              <a:t>no  </a:t>
            </a:r>
            <a:r>
              <a:rPr dirty="0" sz="1200" spc="-5" b="1" i="1">
                <a:latin typeface="Arial"/>
                <a:cs typeface="Arial"/>
              </a:rPr>
              <a:t>prophet after </a:t>
            </a:r>
            <a:r>
              <a:rPr dirty="0" sz="1200" b="1" i="1">
                <a:latin typeface="Arial"/>
                <a:cs typeface="Arial"/>
              </a:rPr>
              <a:t>me</a:t>
            </a:r>
            <a:r>
              <a:rPr dirty="0" sz="1200">
                <a:latin typeface="Arial"/>
                <a:cs typeface="Arial"/>
              </a:rPr>
              <a:t>, </a:t>
            </a:r>
            <a:r>
              <a:rPr dirty="0" sz="1200" spc="-5">
                <a:latin typeface="Arial"/>
                <a:cs typeface="Arial"/>
              </a:rPr>
              <a:t>but </a:t>
            </a:r>
            <a:r>
              <a:rPr dirty="0" sz="1200">
                <a:latin typeface="Arial"/>
                <a:cs typeface="Arial"/>
              </a:rPr>
              <a:t>there </a:t>
            </a:r>
            <a:r>
              <a:rPr dirty="0" sz="1200" spc="-10">
                <a:latin typeface="Arial"/>
                <a:cs typeface="Arial"/>
              </a:rPr>
              <a:t>will </a:t>
            </a:r>
            <a:r>
              <a:rPr dirty="0" sz="1200" spc="-5">
                <a:latin typeface="Arial"/>
                <a:cs typeface="Arial"/>
              </a:rPr>
              <a:t>be </a:t>
            </a:r>
            <a:r>
              <a:rPr dirty="0" sz="1200">
                <a:latin typeface="Arial"/>
                <a:cs typeface="Arial"/>
              </a:rPr>
              <a:t>Caliphs </a:t>
            </a:r>
            <a:r>
              <a:rPr dirty="0" sz="1200" spc="-10">
                <a:latin typeface="Arial"/>
                <a:cs typeface="Arial"/>
              </a:rPr>
              <a:t>who will </a:t>
            </a:r>
            <a:r>
              <a:rPr dirty="0" sz="1200" spc="-5">
                <a:latin typeface="Arial"/>
                <a:cs typeface="Arial"/>
              </a:rPr>
              <a:t>increase in number." The people asked,  </a:t>
            </a:r>
            <a:r>
              <a:rPr dirty="0" sz="1200">
                <a:latin typeface="Arial"/>
                <a:cs typeface="Arial"/>
              </a:rPr>
              <a:t>"O </a:t>
            </a:r>
            <a:r>
              <a:rPr dirty="0" sz="1200" spc="-5">
                <a:latin typeface="Arial"/>
                <a:cs typeface="Arial"/>
              </a:rPr>
              <a:t>Allah's Apostle! </a:t>
            </a:r>
            <a:r>
              <a:rPr dirty="0" sz="1200" spc="5">
                <a:latin typeface="Arial"/>
                <a:cs typeface="Arial"/>
              </a:rPr>
              <a:t>What </a:t>
            </a:r>
            <a:r>
              <a:rPr dirty="0" sz="1200" spc="-10">
                <a:latin typeface="Arial"/>
                <a:cs typeface="Arial"/>
              </a:rPr>
              <a:t>do you </a:t>
            </a:r>
            <a:r>
              <a:rPr dirty="0" sz="1200">
                <a:latin typeface="Arial"/>
                <a:cs typeface="Arial"/>
              </a:rPr>
              <a:t>order </a:t>
            </a:r>
            <a:r>
              <a:rPr dirty="0" sz="1200" spc="-5">
                <a:latin typeface="Arial"/>
                <a:cs typeface="Arial"/>
              </a:rPr>
              <a:t>us (to do)?" He said, "Obey the one </a:t>
            </a:r>
            <a:r>
              <a:rPr dirty="0" sz="1200" spc="-10">
                <a:latin typeface="Arial"/>
                <a:cs typeface="Arial"/>
              </a:rPr>
              <a:t>who will </a:t>
            </a:r>
            <a:r>
              <a:rPr dirty="0" sz="1200" spc="-5">
                <a:latin typeface="Arial"/>
                <a:cs typeface="Arial"/>
              </a:rPr>
              <a:t>be given  </a:t>
            </a:r>
            <a:r>
              <a:rPr dirty="0" sz="1200">
                <a:latin typeface="Arial"/>
                <a:cs typeface="Arial"/>
              </a:rPr>
              <a:t>the </a:t>
            </a:r>
            <a:r>
              <a:rPr dirty="0" sz="1200" spc="-5">
                <a:latin typeface="Arial"/>
                <a:cs typeface="Arial"/>
              </a:rPr>
              <a:t>pledge of allegiance </a:t>
            </a:r>
            <a:r>
              <a:rPr dirty="0" sz="1200">
                <a:latin typeface="Arial"/>
                <a:cs typeface="Arial"/>
              </a:rPr>
              <a:t>first. </a:t>
            </a:r>
            <a:r>
              <a:rPr dirty="0" sz="1200" spc="-5">
                <a:latin typeface="Arial"/>
                <a:cs typeface="Arial"/>
              </a:rPr>
              <a:t>Fulfil their (i.e. the Caliphs) rights, </a:t>
            </a:r>
            <a:r>
              <a:rPr dirty="0" sz="1200">
                <a:latin typeface="Arial"/>
                <a:cs typeface="Arial"/>
              </a:rPr>
              <a:t>for </a:t>
            </a:r>
            <a:r>
              <a:rPr dirty="0" sz="1200" spc="-5">
                <a:latin typeface="Arial"/>
                <a:cs typeface="Arial"/>
              </a:rPr>
              <a:t>Allah </a:t>
            </a:r>
            <a:r>
              <a:rPr dirty="0" sz="1200" spc="-10">
                <a:latin typeface="Arial"/>
                <a:cs typeface="Arial"/>
              </a:rPr>
              <a:t>will </a:t>
            </a:r>
            <a:r>
              <a:rPr dirty="0" sz="1200" spc="-5">
                <a:latin typeface="Arial"/>
                <a:cs typeface="Arial"/>
              </a:rPr>
              <a:t>ask them about  (any </a:t>
            </a:r>
            <a:r>
              <a:rPr dirty="0" sz="1200">
                <a:latin typeface="Arial"/>
                <a:cs typeface="Arial"/>
              </a:rPr>
              <a:t>shortcoming) </a:t>
            </a:r>
            <a:r>
              <a:rPr dirty="0" sz="1200" spc="-5">
                <a:latin typeface="Arial"/>
                <a:cs typeface="Arial"/>
              </a:rPr>
              <a:t>in ruling </a:t>
            </a:r>
            <a:r>
              <a:rPr dirty="0" sz="1200">
                <a:latin typeface="Arial"/>
                <a:cs typeface="Arial"/>
              </a:rPr>
              <a:t>those </a:t>
            </a:r>
            <a:r>
              <a:rPr dirty="0" sz="1200" spc="-5">
                <a:latin typeface="Arial"/>
                <a:cs typeface="Arial"/>
              </a:rPr>
              <a:t>Allah has put under </a:t>
            </a:r>
            <a:r>
              <a:rPr dirty="0" sz="1200">
                <a:latin typeface="Arial"/>
                <a:cs typeface="Arial"/>
              </a:rPr>
              <a:t>their </a:t>
            </a:r>
            <a:r>
              <a:rPr dirty="0" sz="1200" spc="-5">
                <a:latin typeface="Arial"/>
                <a:cs typeface="Arial"/>
              </a:rPr>
              <a:t>guardianship." </a:t>
            </a:r>
            <a:r>
              <a:rPr dirty="0" sz="1200" spc="5">
                <a:latin typeface="Arial"/>
                <a:cs typeface="Arial"/>
              </a:rPr>
              <a:t>(</a:t>
            </a:r>
            <a:r>
              <a:rPr dirty="0" sz="1200" spc="5" i="1">
                <a:latin typeface="Arial"/>
                <a:cs typeface="Arial"/>
              </a:rPr>
              <a:t>Sahih </a:t>
            </a:r>
            <a:r>
              <a:rPr dirty="0" sz="1200" spc="-5" i="1">
                <a:latin typeface="Arial"/>
                <a:cs typeface="Arial"/>
              </a:rPr>
              <a:t>al-Bukhari</a:t>
            </a:r>
            <a:r>
              <a:rPr dirty="0" sz="1200" spc="-5">
                <a:latin typeface="Arial"/>
                <a:cs typeface="Arial"/>
              </a:rPr>
              <a:t>,  Volume </a:t>
            </a:r>
            <a:r>
              <a:rPr dirty="0" sz="1200">
                <a:latin typeface="Arial"/>
                <a:cs typeface="Arial"/>
              </a:rPr>
              <a:t>4, </a:t>
            </a:r>
            <a:r>
              <a:rPr dirty="0" sz="1200" spc="-5">
                <a:latin typeface="Arial"/>
                <a:cs typeface="Arial"/>
              </a:rPr>
              <a:t>Book 56, Number</a:t>
            </a:r>
            <a:r>
              <a:rPr dirty="0" sz="1200" spc="-10">
                <a:latin typeface="Arial"/>
                <a:cs typeface="Arial"/>
              </a:rPr>
              <a:t> </a:t>
            </a:r>
            <a:r>
              <a:rPr dirty="0" sz="1200" spc="-5">
                <a:latin typeface="Arial"/>
                <a:cs typeface="Arial"/>
              </a:rPr>
              <a:t>661)</a:t>
            </a:r>
            <a:endParaRPr sz="1200">
              <a:latin typeface="Arial"/>
              <a:cs typeface="Arial"/>
            </a:endParaRPr>
          </a:p>
          <a:p>
            <a:pPr>
              <a:lnSpc>
                <a:spcPct val="100000"/>
              </a:lnSpc>
              <a:spcBef>
                <a:spcPts val="50"/>
              </a:spcBef>
            </a:pPr>
            <a:endParaRPr sz="1150">
              <a:latin typeface="Arial"/>
              <a:cs typeface="Arial"/>
            </a:endParaRPr>
          </a:p>
          <a:p>
            <a:pPr algn="just" marL="152400" marR="188595">
              <a:lnSpc>
                <a:spcPct val="95600"/>
              </a:lnSpc>
            </a:pPr>
            <a:r>
              <a:rPr dirty="0" sz="1200" spc="-5">
                <a:latin typeface="Arial"/>
                <a:cs typeface="Arial"/>
              </a:rPr>
              <a:t>Narrated Jubair bin </a:t>
            </a:r>
            <a:r>
              <a:rPr dirty="0" sz="1200">
                <a:latin typeface="Arial"/>
                <a:cs typeface="Arial"/>
              </a:rPr>
              <a:t>Mutim: </a:t>
            </a:r>
            <a:r>
              <a:rPr dirty="0" sz="1200" spc="-5">
                <a:latin typeface="Arial"/>
                <a:cs typeface="Arial"/>
              </a:rPr>
              <a:t>Allah's Apostle said, </a:t>
            </a:r>
            <a:r>
              <a:rPr dirty="0" sz="1200">
                <a:latin typeface="Arial"/>
                <a:cs typeface="Arial"/>
              </a:rPr>
              <a:t>"I </a:t>
            </a:r>
            <a:r>
              <a:rPr dirty="0" sz="1200" spc="-5">
                <a:latin typeface="Arial"/>
                <a:cs typeface="Arial"/>
              </a:rPr>
              <a:t>have five names: </a:t>
            </a:r>
            <a:r>
              <a:rPr dirty="0" sz="1200">
                <a:latin typeface="Arial"/>
                <a:cs typeface="Arial"/>
              </a:rPr>
              <a:t>I </a:t>
            </a:r>
            <a:r>
              <a:rPr dirty="0" sz="1200" spc="-5">
                <a:latin typeface="Arial"/>
                <a:cs typeface="Arial"/>
              </a:rPr>
              <a:t>am Muhammad and  Ahmad; </a:t>
            </a:r>
            <a:r>
              <a:rPr dirty="0" sz="1200">
                <a:latin typeface="Arial"/>
                <a:cs typeface="Arial"/>
              </a:rPr>
              <a:t>I </a:t>
            </a:r>
            <a:r>
              <a:rPr dirty="0" sz="1200" spc="-5">
                <a:latin typeface="Arial"/>
                <a:cs typeface="Arial"/>
              </a:rPr>
              <a:t>am Al-Mahi through whom Allah </a:t>
            </a:r>
            <a:r>
              <a:rPr dirty="0" sz="1200" spc="-10">
                <a:latin typeface="Arial"/>
                <a:cs typeface="Arial"/>
              </a:rPr>
              <a:t>will </a:t>
            </a:r>
            <a:r>
              <a:rPr dirty="0" sz="1200" spc="-5">
                <a:latin typeface="Arial"/>
                <a:cs typeface="Arial"/>
              </a:rPr>
              <a:t>eliminate infidelity; </a:t>
            </a:r>
            <a:r>
              <a:rPr dirty="0" sz="1200">
                <a:latin typeface="Arial"/>
                <a:cs typeface="Arial"/>
              </a:rPr>
              <a:t>I </a:t>
            </a:r>
            <a:r>
              <a:rPr dirty="0" sz="1200" spc="-5">
                <a:latin typeface="Arial"/>
                <a:cs typeface="Arial"/>
              </a:rPr>
              <a:t>am </a:t>
            </a:r>
            <a:r>
              <a:rPr dirty="0" sz="1200">
                <a:latin typeface="Arial"/>
                <a:cs typeface="Arial"/>
              </a:rPr>
              <a:t>Al-Hashir </a:t>
            </a:r>
            <a:r>
              <a:rPr dirty="0" sz="1200" spc="-10">
                <a:latin typeface="Arial"/>
                <a:cs typeface="Arial"/>
              </a:rPr>
              <a:t>who </a:t>
            </a:r>
            <a:r>
              <a:rPr dirty="0" sz="1200" spc="-5">
                <a:latin typeface="Arial"/>
                <a:cs typeface="Arial"/>
              </a:rPr>
              <a:t>will be  </a:t>
            </a:r>
            <a:r>
              <a:rPr dirty="0" sz="1200">
                <a:latin typeface="Arial"/>
                <a:cs typeface="Arial"/>
              </a:rPr>
              <a:t>the first to be </a:t>
            </a:r>
            <a:r>
              <a:rPr dirty="0" sz="1200" spc="-5">
                <a:latin typeface="Arial"/>
                <a:cs typeface="Arial"/>
              </a:rPr>
              <a:t>resurrected, the people being resurrected thereafter; and </a:t>
            </a:r>
            <a:r>
              <a:rPr dirty="0" sz="1200">
                <a:latin typeface="Arial"/>
                <a:cs typeface="Arial"/>
              </a:rPr>
              <a:t>I </a:t>
            </a:r>
            <a:r>
              <a:rPr dirty="0" sz="1200" spc="-5">
                <a:latin typeface="Arial"/>
                <a:cs typeface="Arial"/>
              </a:rPr>
              <a:t>am </a:t>
            </a:r>
            <a:r>
              <a:rPr dirty="0" sz="1200">
                <a:latin typeface="Arial"/>
                <a:cs typeface="Arial"/>
              </a:rPr>
              <a:t>also </a:t>
            </a:r>
            <a:r>
              <a:rPr dirty="0" sz="1200" spc="-5">
                <a:latin typeface="Arial"/>
                <a:cs typeface="Arial"/>
              </a:rPr>
              <a:t>Al-'Aqib (i.e.  </a:t>
            </a:r>
            <a:r>
              <a:rPr dirty="0" sz="1200" spc="-5" b="1" i="1">
                <a:latin typeface="Arial"/>
                <a:cs typeface="Arial"/>
              </a:rPr>
              <a:t>There will be </a:t>
            </a:r>
            <a:r>
              <a:rPr dirty="0" sz="1200" b="1" i="1">
                <a:latin typeface="Arial"/>
                <a:cs typeface="Arial"/>
              </a:rPr>
              <a:t>no </a:t>
            </a:r>
            <a:r>
              <a:rPr dirty="0" sz="1200" spc="-5" b="1" i="1">
                <a:latin typeface="Arial"/>
                <a:cs typeface="Arial"/>
              </a:rPr>
              <a:t>prophet after </a:t>
            </a:r>
            <a:r>
              <a:rPr dirty="0" sz="1200" b="1" i="1">
                <a:latin typeface="Arial"/>
                <a:cs typeface="Arial"/>
              </a:rPr>
              <a:t>me</a:t>
            </a:r>
            <a:r>
              <a:rPr dirty="0" sz="1200">
                <a:latin typeface="Arial"/>
                <a:cs typeface="Arial"/>
              </a:rPr>
              <a:t>)." </a:t>
            </a:r>
            <a:r>
              <a:rPr dirty="0" sz="1200" spc="-5">
                <a:latin typeface="Arial"/>
                <a:cs typeface="Arial"/>
              </a:rPr>
              <a:t>(</a:t>
            </a:r>
            <a:r>
              <a:rPr dirty="0" sz="1200" spc="-5" i="1">
                <a:latin typeface="Arial"/>
                <a:cs typeface="Arial"/>
              </a:rPr>
              <a:t>Sahih al-Bukhari</a:t>
            </a:r>
            <a:r>
              <a:rPr dirty="0" sz="1200" spc="-5">
                <a:latin typeface="Arial"/>
                <a:cs typeface="Arial"/>
              </a:rPr>
              <a:t>, Volume </a:t>
            </a:r>
            <a:r>
              <a:rPr dirty="0" sz="1200">
                <a:latin typeface="Arial"/>
                <a:cs typeface="Arial"/>
              </a:rPr>
              <a:t>4, </a:t>
            </a:r>
            <a:r>
              <a:rPr dirty="0" sz="1200" spc="-5">
                <a:latin typeface="Arial"/>
                <a:cs typeface="Arial"/>
              </a:rPr>
              <a:t>Book 56, Number</a:t>
            </a:r>
            <a:r>
              <a:rPr dirty="0" sz="1200" spc="95">
                <a:latin typeface="Arial"/>
                <a:cs typeface="Arial"/>
              </a:rPr>
              <a:t> </a:t>
            </a:r>
            <a:r>
              <a:rPr dirty="0" sz="1200" spc="-5">
                <a:latin typeface="Arial"/>
                <a:cs typeface="Arial"/>
              </a:rPr>
              <a:t>732</a:t>
            </a:r>
            <a:endParaRPr sz="1200">
              <a:latin typeface="Arial"/>
              <a:cs typeface="Arial"/>
            </a:endParaRPr>
          </a:p>
          <a:p>
            <a:pPr>
              <a:lnSpc>
                <a:spcPct val="100000"/>
              </a:lnSpc>
              <a:spcBef>
                <a:spcPts val="45"/>
              </a:spcBef>
            </a:pPr>
            <a:endParaRPr sz="1200">
              <a:latin typeface="Arial"/>
              <a:cs typeface="Arial"/>
            </a:endParaRPr>
          </a:p>
          <a:p>
            <a:pPr algn="just" marL="152400" marR="189230">
              <a:lnSpc>
                <a:spcPts val="1380"/>
              </a:lnSpc>
            </a:pPr>
            <a:r>
              <a:rPr dirty="0" u="heavy" sz="1200" spc="-5" b="1" i="1">
                <a:uFill>
                  <a:solidFill>
                    <a:srgbClr val="000000"/>
                  </a:solidFill>
                </a:uFill>
                <a:latin typeface="Arial"/>
                <a:cs typeface="Arial"/>
              </a:rPr>
              <a:t>Why the prophet </a:t>
            </a:r>
            <a:r>
              <a:rPr dirty="0" u="heavy" sz="1200" b="1" i="1">
                <a:uFill>
                  <a:solidFill>
                    <a:srgbClr val="000000"/>
                  </a:solidFill>
                </a:uFill>
                <a:latin typeface="Arial"/>
                <a:cs typeface="Arial"/>
              </a:rPr>
              <a:t>was </a:t>
            </a:r>
            <a:r>
              <a:rPr dirty="0" u="heavy" sz="1200" spc="-5" b="1" i="1">
                <a:uFill>
                  <a:solidFill>
                    <a:srgbClr val="000000"/>
                  </a:solidFill>
                </a:uFill>
                <a:latin typeface="Arial"/>
                <a:cs typeface="Arial"/>
              </a:rPr>
              <a:t>given the title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As </a:t>
            </a:r>
            <a:r>
              <a:rPr dirty="0" u="heavy" sz="1200" b="1" i="1">
                <a:uFill>
                  <a:solidFill>
                    <a:srgbClr val="000000"/>
                  </a:solidFill>
                </a:uFill>
                <a:latin typeface="Arial"/>
                <a:cs typeface="Arial"/>
              </a:rPr>
              <a:t>Swadiq </a:t>
            </a:r>
            <a:r>
              <a:rPr dirty="0" u="heavy" sz="1200" spc="-5" b="1" i="1">
                <a:uFill>
                  <a:solidFill>
                    <a:srgbClr val="000000"/>
                  </a:solidFill>
                </a:uFill>
                <a:latin typeface="Arial"/>
                <a:cs typeface="Arial"/>
              </a:rPr>
              <a:t>(the Truthful) and Al Amin (the </a:t>
            </a:r>
            <a:r>
              <a:rPr dirty="0" sz="1200" spc="-5" b="1" i="1">
                <a:latin typeface="Arial"/>
                <a:cs typeface="Arial"/>
              </a:rPr>
              <a:t> </a:t>
            </a:r>
            <a:r>
              <a:rPr dirty="0" u="heavy" sz="1200" spc="-5" b="1" i="1">
                <a:uFill>
                  <a:solidFill>
                    <a:srgbClr val="000000"/>
                  </a:solidFill>
                </a:uFill>
                <a:latin typeface="Arial"/>
                <a:cs typeface="Arial"/>
              </a:rPr>
              <a:t>Trustworthy)?</a:t>
            </a:r>
            <a:endParaRPr sz="1200">
              <a:latin typeface="Arial"/>
              <a:cs typeface="Arial"/>
            </a:endParaRPr>
          </a:p>
          <a:p>
            <a:pPr>
              <a:lnSpc>
                <a:spcPct val="100000"/>
              </a:lnSpc>
              <a:spcBef>
                <a:spcPts val="20"/>
              </a:spcBef>
            </a:pPr>
            <a:endParaRPr sz="1100">
              <a:latin typeface="Arial"/>
              <a:cs typeface="Arial"/>
            </a:endParaRPr>
          </a:p>
          <a:p>
            <a:pPr marL="609600" indent="-229235">
              <a:lnSpc>
                <a:spcPts val="1410"/>
              </a:lnSpc>
              <a:buAutoNum type="arabicPeriod"/>
              <a:tabLst>
                <a:tab pos="610235" algn="l"/>
              </a:tabLst>
            </a:pPr>
            <a:r>
              <a:rPr dirty="0" sz="1200" spc="-5">
                <a:latin typeface="Arial"/>
                <a:cs typeface="Arial"/>
              </a:rPr>
              <a:t>Because of his qualities </a:t>
            </a:r>
            <a:r>
              <a:rPr dirty="0" sz="1200">
                <a:latin typeface="Arial"/>
                <a:cs typeface="Arial"/>
              </a:rPr>
              <a:t>e.g. </a:t>
            </a:r>
            <a:r>
              <a:rPr dirty="0" sz="1200" spc="-5">
                <a:latin typeface="Arial"/>
                <a:cs typeface="Arial"/>
              </a:rPr>
              <a:t>being </a:t>
            </a:r>
            <a:r>
              <a:rPr dirty="0" sz="1200">
                <a:latin typeface="Arial"/>
                <a:cs typeface="Arial"/>
              </a:rPr>
              <a:t>virtuous, </a:t>
            </a:r>
            <a:r>
              <a:rPr dirty="0" sz="1200" spc="-5">
                <a:latin typeface="Arial"/>
                <a:cs typeface="Arial"/>
              </a:rPr>
              <a:t>thoughtful towards</a:t>
            </a:r>
            <a:r>
              <a:rPr dirty="0" sz="1200" spc="35">
                <a:latin typeface="Arial"/>
                <a:cs typeface="Arial"/>
              </a:rPr>
              <a:t> </a:t>
            </a:r>
            <a:r>
              <a:rPr dirty="0" sz="1200" spc="-5">
                <a:latin typeface="Arial"/>
                <a:cs typeface="Arial"/>
              </a:rPr>
              <a:t>others</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He never took </a:t>
            </a:r>
            <a:r>
              <a:rPr dirty="0" sz="1200">
                <a:latin typeface="Arial"/>
                <a:cs typeface="Arial"/>
              </a:rPr>
              <a:t>part </a:t>
            </a:r>
            <a:r>
              <a:rPr dirty="0" sz="1200" spc="-10">
                <a:latin typeface="Arial"/>
                <a:cs typeface="Arial"/>
              </a:rPr>
              <a:t>in </a:t>
            </a:r>
            <a:r>
              <a:rPr dirty="0" sz="1200" spc="-5">
                <a:latin typeface="Arial"/>
                <a:cs typeface="Arial"/>
              </a:rPr>
              <a:t>any frivolity </a:t>
            </a:r>
            <a:r>
              <a:rPr dirty="0" sz="1200">
                <a:latin typeface="Arial"/>
                <a:cs typeface="Arial"/>
              </a:rPr>
              <a:t>of </a:t>
            </a:r>
            <a:r>
              <a:rPr dirty="0" sz="1200" spc="-5">
                <a:latin typeface="Arial"/>
                <a:cs typeface="Arial"/>
              </a:rPr>
              <a:t>Meccan</a:t>
            </a:r>
            <a:r>
              <a:rPr dirty="0" sz="1200" spc="25">
                <a:latin typeface="Arial"/>
                <a:cs typeface="Arial"/>
              </a:rPr>
              <a:t> </a:t>
            </a:r>
            <a:r>
              <a:rPr dirty="0" sz="1200" spc="-5">
                <a:latin typeface="Arial"/>
                <a:cs typeface="Arial"/>
              </a:rPr>
              <a:t>society</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employment by Khadijah and his truthfulness observed </a:t>
            </a:r>
            <a:r>
              <a:rPr dirty="0" sz="1200">
                <a:latin typeface="Arial"/>
                <a:cs typeface="Arial"/>
              </a:rPr>
              <a:t>by her maid</a:t>
            </a:r>
            <a:r>
              <a:rPr dirty="0" sz="1200" spc="30">
                <a:latin typeface="Arial"/>
                <a:cs typeface="Arial"/>
              </a:rPr>
              <a:t> </a:t>
            </a:r>
            <a:r>
              <a:rPr dirty="0" sz="1200" spc="-5">
                <a:latin typeface="Arial"/>
                <a:cs typeface="Arial"/>
              </a:rPr>
              <a:t>Maisarah,</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Led </a:t>
            </a:r>
            <a:r>
              <a:rPr dirty="0" sz="1200">
                <a:latin typeface="Arial"/>
                <a:cs typeface="Arial"/>
              </a:rPr>
              <a:t>to </a:t>
            </a:r>
            <a:r>
              <a:rPr dirty="0" sz="1200" spc="-5">
                <a:latin typeface="Arial"/>
                <a:cs typeface="Arial"/>
              </a:rPr>
              <a:t>Khadijah proposing marriage </a:t>
            </a:r>
            <a:r>
              <a:rPr dirty="0" sz="1200">
                <a:latin typeface="Arial"/>
                <a:cs typeface="Arial"/>
              </a:rPr>
              <a:t>to </a:t>
            </a:r>
            <a:r>
              <a:rPr dirty="0" sz="1200" spc="-5">
                <a:latin typeface="Arial"/>
                <a:cs typeface="Arial"/>
              </a:rPr>
              <a:t>him </a:t>
            </a:r>
            <a:r>
              <a:rPr dirty="0" sz="1200">
                <a:latin typeface="Arial"/>
                <a:cs typeface="Arial"/>
              </a:rPr>
              <a:t>– </a:t>
            </a:r>
            <a:r>
              <a:rPr dirty="0" sz="1200" spc="-5">
                <a:latin typeface="Arial"/>
                <a:cs typeface="Arial"/>
              </a:rPr>
              <a:t>a sign that </a:t>
            </a:r>
            <a:r>
              <a:rPr dirty="0" sz="1200" spc="-10">
                <a:latin typeface="Arial"/>
                <a:cs typeface="Arial"/>
              </a:rPr>
              <a:t>he was</a:t>
            </a:r>
            <a:r>
              <a:rPr dirty="0" sz="1200" spc="45">
                <a:latin typeface="Arial"/>
                <a:cs typeface="Arial"/>
              </a:rPr>
              <a:t> </a:t>
            </a:r>
            <a:r>
              <a:rPr dirty="0" sz="1200" spc="-5">
                <a:latin typeface="Arial"/>
                <a:cs typeface="Arial"/>
              </a:rPr>
              <a:t>pure.</a:t>
            </a:r>
            <a:endParaRPr sz="1200">
              <a:latin typeface="Arial"/>
              <a:cs typeface="Arial"/>
            </a:endParaRPr>
          </a:p>
          <a:p>
            <a:pPr marL="609600" marR="193675" indent="-229235">
              <a:lnSpc>
                <a:spcPts val="1380"/>
              </a:lnSpc>
              <a:spcBef>
                <a:spcPts val="65"/>
              </a:spcBef>
              <a:buAutoNum type="arabicPeriod"/>
              <a:tabLst>
                <a:tab pos="610235" algn="l"/>
              </a:tabLst>
            </a:pPr>
            <a:r>
              <a:rPr dirty="0" sz="1200" spc="-5">
                <a:latin typeface="Arial"/>
                <a:cs typeface="Arial"/>
              </a:rPr>
              <a:t>People </a:t>
            </a:r>
            <a:r>
              <a:rPr dirty="0" sz="1200">
                <a:latin typeface="Arial"/>
                <a:cs typeface="Arial"/>
              </a:rPr>
              <a:t>left their </a:t>
            </a:r>
            <a:r>
              <a:rPr dirty="0" sz="1200" spc="-5">
                <a:latin typeface="Arial"/>
                <a:cs typeface="Arial"/>
              </a:rPr>
              <a:t>belongings with him when </a:t>
            </a:r>
            <a:r>
              <a:rPr dirty="0" sz="1200">
                <a:latin typeface="Arial"/>
                <a:cs typeface="Arial"/>
              </a:rPr>
              <a:t>they </a:t>
            </a:r>
            <a:r>
              <a:rPr dirty="0" sz="1200" spc="-5">
                <a:latin typeface="Arial"/>
                <a:cs typeface="Arial"/>
              </a:rPr>
              <a:t>journeyed, claimed them on </a:t>
            </a:r>
            <a:r>
              <a:rPr dirty="0" sz="1200">
                <a:latin typeface="Arial"/>
                <a:cs typeface="Arial"/>
              </a:rPr>
              <a:t>return </a:t>
            </a:r>
            <a:r>
              <a:rPr dirty="0" sz="1200" spc="-10">
                <a:latin typeface="Arial"/>
                <a:cs typeface="Arial"/>
              </a:rPr>
              <a:t>as  </a:t>
            </a:r>
            <a:r>
              <a:rPr dirty="0" sz="1200" spc="-5">
                <a:latin typeface="Arial"/>
                <a:cs typeface="Arial"/>
              </a:rPr>
              <a:t>he </a:t>
            </a:r>
            <a:r>
              <a:rPr dirty="0" sz="1200" spc="-10">
                <a:latin typeface="Arial"/>
                <a:cs typeface="Arial"/>
              </a:rPr>
              <a:t>was</a:t>
            </a:r>
            <a:r>
              <a:rPr dirty="0" sz="1200">
                <a:latin typeface="Arial"/>
                <a:cs typeface="Arial"/>
              </a:rPr>
              <a:t> </a:t>
            </a:r>
            <a:r>
              <a:rPr dirty="0" sz="1200" spc="-5">
                <a:latin typeface="Arial"/>
                <a:cs typeface="Arial"/>
              </a:rPr>
              <a:t>trustworthy</a:t>
            </a:r>
            <a:endParaRPr sz="1200">
              <a:latin typeface="Arial"/>
              <a:cs typeface="Arial"/>
            </a:endParaRPr>
          </a:p>
          <a:p>
            <a:pPr marL="609600" indent="-229235">
              <a:lnSpc>
                <a:spcPts val="1345"/>
              </a:lnSpc>
              <a:buAutoNum type="arabicPeriod"/>
              <a:tabLst>
                <a:tab pos="610235" algn="l"/>
              </a:tabLst>
            </a:pPr>
            <a:r>
              <a:rPr dirty="0" sz="1200" spc="-5">
                <a:latin typeface="Arial"/>
                <a:cs typeface="Arial"/>
              </a:rPr>
              <a:t>He</a:t>
            </a:r>
            <a:r>
              <a:rPr dirty="0" sz="1200" spc="120">
                <a:latin typeface="Arial"/>
                <a:cs typeface="Arial"/>
              </a:rPr>
              <a:t> </a:t>
            </a:r>
            <a:r>
              <a:rPr dirty="0" sz="1200" spc="-10">
                <a:latin typeface="Arial"/>
                <a:cs typeface="Arial"/>
              </a:rPr>
              <a:t>was</a:t>
            </a:r>
            <a:r>
              <a:rPr dirty="0" sz="1200" spc="125">
                <a:latin typeface="Arial"/>
                <a:cs typeface="Arial"/>
              </a:rPr>
              <a:t> </a:t>
            </a:r>
            <a:r>
              <a:rPr dirty="0" sz="1200" spc="-5">
                <a:latin typeface="Arial"/>
                <a:cs typeface="Arial"/>
              </a:rPr>
              <a:t>already</a:t>
            </a:r>
            <a:r>
              <a:rPr dirty="0" sz="1200" spc="110">
                <a:latin typeface="Arial"/>
                <a:cs typeface="Arial"/>
              </a:rPr>
              <a:t> </a:t>
            </a:r>
            <a:r>
              <a:rPr dirty="0" sz="1200" spc="-5">
                <a:latin typeface="Arial"/>
                <a:cs typeface="Arial"/>
              </a:rPr>
              <a:t>known</a:t>
            </a:r>
            <a:r>
              <a:rPr dirty="0" sz="1200" spc="130">
                <a:latin typeface="Arial"/>
                <a:cs typeface="Arial"/>
              </a:rPr>
              <a:t> </a:t>
            </a:r>
            <a:r>
              <a:rPr dirty="0" sz="1200" spc="-5">
                <a:latin typeface="Arial"/>
                <a:cs typeface="Arial"/>
              </a:rPr>
              <a:t>as</a:t>
            </a:r>
            <a:r>
              <a:rPr dirty="0" sz="1200" spc="110">
                <a:latin typeface="Arial"/>
                <a:cs typeface="Arial"/>
              </a:rPr>
              <a:t> </a:t>
            </a:r>
            <a:r>
              <a:rPr dirty="0" sz="1200" spc="-5">
                <a:latin typeface="Arial"/>
                <a:cs typeface="Arial"/>
              </a:rPr>
              <a:t>Al</a:t>
            </a:r>
            <a:r>
              <a:rPr dirty="0" sz="1200" spc="114">
                <a:latin typeface="Arial"/>
                <a:cs typeface="Arial"/>
              </a:rPr>
              <a:t> </a:t>
            </a:r>
            <a:r>
              <a:rPr dirty="0" sz="1200" spc="-5">
                <a:latin typeface="Arial"/>
                <a:cs typeface="Arial"/>
              </a:rPr>
              <a:t>Amin</a:t>
            </a:r>
            <a:r>
              <a:rPr dirty="0" sz="1200" spc="125">
                <a:latin typeface="Arial"/>
                <a:cs typeface="Arial"/>
              </a:rPr>
              <a:t> </a:t>
            </a:r>
            <a:r>
              <a:rPr dirty="0" sz="1200" spc="-5">
                <a:latin typeface="Arial"/>
                <a:cs typeface="Arial"/>
              </a:rPr>
              <a:t>when</a:t>
            </a:r>
            <a:r>
              <a:rPr dirty="0" sz="1200" spc="114">
                <a:latin typeface="Arial"/>
                <a:cs typeface="Arial"/>
              </a:rPr>
              <a:t> </a:t>
            </a:r>
            <a:r>
              <a:rPr dirty="0" sz="1200" spc="-5">
                <a:latin typeface="Arial"/>
                <a:cs typeface="Arial"/>
              </a:rPr>
              <a:t>he</a:t>
            </a:r>
            <a:r>
              <a:rPr dirty="0" sz="1200" spc="114">
                <a:latin typeface="Arial"/>
                <a:cs typeface="Arial"/>
              </a:rPr>
              <a:t> </a:t>
            </a:r>
            <a:r>
              <a:rPr dirty="0" sz="1200" spc="-5">
                <a:latin typeface="Arial"/>
                <a:cs typeface="Arial"/>
              </a:rPr>
              <a:t>happened</a:t>
            </a:r>
            <a:r>
              <a:rPr dirty="0" sz="1200" spc="114">
                <a:latin typeface="Arial"/>
                <a:cs typeface="Arial"/>
              </a:rPr>
              <a:t> </a:t>
            </a:r>
            <a:r>
              <a:rPr dirty="0" sz="1200">
                <a:latin typeface="Arial"/>
                <a:cs typeface="Arial"/>
              </a:rPr>
              <a:t>to</a:t>
            </a:r>
            <a:r>
              <a:rPr dirty="0" sz="1200" spc="114">
                <a:latin typeface="Arial"/>
                <a:cs typeface="Arial"/>
              </a:rPr>
              <a:t> </a:t>
            </a:r>
            <a:r>
              <a:rPr dirty="0" sz="1200" spc="-5">
                <a:latin typeface="Arial"/>
                <a:cs typeface="Arial"/>
              </a:rPr>
              <a:t>come</a:t>
            </a:r>
            <a:r>
              <a:rPr dirty="0" sz="1200" spc="130">
                <a:latin typeface="Arial"/>
                <a:cs typeface="Arial"/>
              </a:rPr>
              <a:t> </a:t>
            </a:r>
            <a:r>
              <a:rPr dirty="0" sz="1200" spc="-5">
                <a:latin typeface="Arial"/>
                <a:cs typeface="Arial"/>
              </a:rPr>
              <a:t>to</a:t>
            </a:r>
            <a:r>
              <a:rPr dirty="0" sz="1200" spc="114">
                <a:latin typeface="Arial"/>
                <a:cs typeface="Arial"/>
              </a:rPr>
              <a:t> </a:t>
            </a:r>
            <a:r>
              <a:rPr dirty="0" sz="1200">
                <a:latin typeface="Arial"/>
                <a:cs typeface="Arial"/>
              </a:rPr>
              <a:t>the</a:t>
            </a:r>
            <a:r>
              <a:rPr dirty="0" sz="1200" spc="114">
                <a:latin typeface="Arial"/>
                <a:cs typeface="Arial"/>
              </a:rPr>
              <a:t> </a:t>
            </a:r>
            <a:r>
              <a:rPr dirty="0" sz="1200" spc="-5">
                <a:latin typeface="Arial"/>
                <a:cs typeface="Arial"/>
              </a:rPr>
              <a:t>Kaaba</a:t>
            </a:r>
            <a:r>
              <a:rPr dirty="0" sz="1200" spc="114">
                <a:latin typeface="Arial"/>
                <a:cs typeface="Arial"/>
              </a:rPr>
              <a:t> </a:t>
            </a:r>
            <a:r>
              <a:rPr dirty="0" sz="1200" spc="-5">
                <a:latin typeface="Arial"/>
                <a:cs typeface="Arial"/>
              </a:rPr>
              <a:t>during</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991920" y="9576723"/>
            <a:ext cx="1895475" cy="196215"/>
          </a:xfrm>
          <a:prstGeom prst="rect">
            <a:avLst/>
          </a:prstGeom>
        </p:spPr>
        <p:txBody>
          <a:bodyPr wrap="square" lIns="0" tIns="0" rIns="0" bIns="0" rtlCol="0" vert="horz">
            <a:spAutoFit/>
          </a:bodyPr>
          <a:lstStyle/>
          <a:p>
            <a:pPr marL="12700">
              <a:lnSpc>
                <a:spcPts val="1425"/>
              </a:lnSpc>
            </a:pPr>
            <a:r>
              <a:rPr dirty="0" sz="1200">
                <a:latin typeface="Arial"/>
                <a:cs typeface="Arial"/>
              </a:rPr>
              <a:t>the </a:t>
            </a:r>
            <a:r>
              <a:rPr dirty="0" sz="1200" spc="-5">
                <a:latin typeface="Arial"/>
                <a:cs typeface="Arial"/>
              </a:rPr>
              <a:t>final stages of</a:t>
            </a:r>
            <a:r>
              <a:rPr dirty="0" sz="1200" spc="-35">
                <a:latin typeface="Arial"/>
                <a:cs typeface="Arial"/>
              </a:rPr>
              <a:t> </a:t>
            </a:r>
            <a:r>
              <a:rPr dirty="0" sz="1200" spc="-5">
                <a:latin typeface="Arial"/>
                <a:cs typeface="Arial"/>
              </a:rPr>
              <a:t>repairing.</a:t>
            </a:r>
            <a:endParaRPr sz="1200">
              <a:latin typeface="Arial"/>
              <a:cs typeface="Arial"/>
            </a:endParaRPr>
          </a:p>
        </p:txBody>
      </p:sp>
      <p:sp>
        <p:nvSpPr>
          <p:cNvPr id="5" name="object 5"/>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6" name="object 6"/>
          <p:cNvSpPr txBox="1"/>
          <p:nvPr/>
        </p:nvSpPr>
        <p:spPr>
          <a:xfrm>
            <a:off x="3026791"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26</a:t>
            </a:r>
            <a:endParaRPr sz="120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6311265" cy="8766810"/>
          </a:xfrm>
          <a:prstGeom prst="rect">
            <a:avLst/>
          </a:prstGeom>
        </p:spPr>
        <p:txBody>
          <a:bodyPr wrap="square" lIns="0" tIns="12700" rIns="0" bIns="0" rtlCol="0" vert="horz">
            <a:spAutoFit/>
          </a:bodyPr>
          <a:lstStyle/>
          <a:p>
            <a:pPr marL="469900" indent="-229235">
              <a:lnSpc>
                <a:spcPts val="1410"/>
              </a:lnSpc>
              <a:spcBef>
                <a:spcPts val="100"/>
              </a:spcBef>
              <a:buAutoNum type="arabicPeriod" startAt="7"/>
              <a:tabLst>
                <a:tab pos="470534" algn="l"/>
              </a:tabLst>
            </a:pPr>
            <a:r>
              <a:rPr dirty="0" sz="1200" spc="-5">
                <a:latin typeface="Arial"/>
                <a:cs typeface="Arial"/>
              </a:rPr>
              <a:t>He </a:t>
            </a:r>
            <a:r>
              <a:rPr dirty="0" sz="1200" spc="-10">
                <a:latin typeface="Arial"/>
                <a:cs typeface="Arial"/>
              </a:rPr>
              <a:t>was </a:t>
            </a:r>
            <a:r>
              <a:rPr dirty="0" sz="1200" spc="-5">
                <a:latin typeface="Arial"/>
                <a:cs typeface="Arial"/>
              </a:rPr>
              <a:t>the arbiter in the </a:t>
            </a:r>
            <a:r>
              <a:rPr dirty="0" sz="1200">
                <a:latin typeface="Arial"/>
                <a:cs typeface="Arial"/>
              </a:rPr>
              <a:t>dispute </a:t>
            </a:r>
            <a:r>
              <a:rPr dirty="0" sz="1200" spc="-5">
                <a:latin typeface="Arial"/>
                <a:cs typeface="Arial"/>
              </a:rPr>
              <a:t>of placing the</a:t>
            </a:r>
            <a:r>
              <a:rPr dirty="0" sz="1200" spc="35">
                <a:latin typeface="Arial"/>
                <a:cs typeface="Arial"/>
              </a:rPr>
              <a:t> </a:t>
            </a:r>
            <a:r>
              <a:rPr dirty="0" sz="1200" spc="-5">
                <a:latin typeface="Arial"/>
                <a:cs typeface="Arial"/>
              </a:rPr>
              <a:t>stone</a:t>
            </a:r>
            <a:endParaRPr sz="1200">
              <a:latin typeface="Arial"/>
              <a:cs typeface="Arial"/>
            </a:endParaRPr>
          </a:p>
          <a:p>
            <a:pPr marL="469900" indent="-229235">
              <a:lnSpc>
                <a:spcPts val="1380"/>
              </a:lnSpc>
              <a:buFont typeface="Arial"/>
              <a:buAutoNum type="arabicPeriod" startAt="7"/>
              <a:tabLst>
                <a:tab pos="470534" algn="l"/>
              </a:tabLst>
            </a:pPr>
            <a:r>
              <a:rPr dirty="0" sz="1200" spc="-5">
                <a:latin typeface="Arial"/>
                <a:cs typeface="Arial"/>
              </a:rPr>
              <a:t>He worked </a:t>
            </a:r>
            <a:r>
              <a:rPr dirty="0" sz="1200">
                <a:latin typeface="Arial"/>
                <a:cs typeface="Arial"/>
              </a:rPr>
              <a:t>to </a:t>
            </a:r>
            <a:r>
              <a:rPr dirty="0" sz="1200" spc="-5">
                <a:latin typeface="Arial"/>
                <a:cs typeface="Arial"/>
              </a:rPr>
              <a:t>promote justice and</a:t>
            </a:r>
            <a:r>
              <a:rPr dirty="0" sz="1200" spc="15">
                <a:latin typeface="Arial"/>
                <a:cs typeface="Arial"/>
              </a:rPr>
              <a:t> </a:t>
            </a:r>
            <a:r>
              <a:rPr dirty="0" sz="1200" spc="-5">
                <a:latin typeface="Arial"/>
                <a:cs typeface="Arial"/>
              </a:rPr>
              <a:t>peace</a:t>
            </a:r>
            <a:endParaRPr sz="1200">
              <a:latin typeface="Arial"/>
              <a:cs typeface="Arial"/>
            </a:endParaRPr>
          </a:p>
          <a:p>
            <a:pPr marL="469900" indent="-229235">
              <a:lnSpc>
                <a:spcPts val="1380"/>
              </a:lnSpc>
              <a:buFont typeface="Arial"/>
              <a:buAutoNum type="arabicPeriod" startAt="7"/>
              <a:tabLst>
                <a:tab pos="470534" algn="l"/>
              </a:tabLst>
            </a:pPr>
            <a:r>
              <a:rPr dirty="0" sz="1200" spc="-5">
                <a:latin typeface="Arial"/>
                <a:cs typeface="Arial"/>
              </a:rPr>
              <a:t>He never lied </a:t>
            </a:r>
            <a:r>
              <a:rPr dirty="0" sz="1200">
                <a:latin typeface="Arial"/>
                <a:cs typeface="Arial"/>
              </a:rPr>
              <a:t>or </a:t>
            </a:r>
            <a:r>
              <a:rPr dirty="0" sz="1200" spc="-5">
                <a:latin typeface="Arial"/>
                <a:cs typeface="Arial"/>
              </a:rPr>
              <a:t>accused anyone</a:t>
            </a:r>
            <a:endParaRPr sz="1200">
              <a:latin typeface="Arial"/>
              <a:cs typeface="Arial"/>
            </a:endParaRPr>
          </a:p>
          <a:p>
            <a:pPr marL="469900" indent="-229235">
              <a:lnSpc>
                <a:spcPts val="1380"/>
              </a:lnSpc>
              <a:buFont typeface="Arial"/>
              <a:buAutoNum type="arabicPeriod" startAt="7"/>
              <a:tabLst>
                <a:tab pos="470534" algn="l"/>
              </a:tabLst>
            </a:pPr>
            <a:r>
              <a:rPr dirty="0" sz="1200" spc="-5">
                <a:latin typeface="Arial"/>
                <a:cs typeface="Arial"/>
              </a:rPr>
              <a:t>He </a:t>
            </a:r>
            <a:r>
              <a:rPr dirty="0" sz="1200" spc="-10">
                <a:latin typeface="Arial"/>
                <a:cs typeface="Arial"/>
              </a:rPr>
              <a:t>always </a:t>
            </a:r>
            <a:r>
              <a:rPr dirty="0" sz="1200" spc="-5">
                <a:latin typeface="Arial"/>
                <a:cs typeface="Arial"/>
              </a:rPr>
              <a:t>propounded morality </a:t>
            </a:r>
            <a:r>
              <a:rPr dirty="0" sz="1200">
                <a:latin typeface="Arial"/>
                <a:cs typeface="Arial"/>
              </a:rPr>
              <a:t>and</a:t>
            </a:r>
            <a:r>
              <a:rPr dirty="0" sz="1200" spc="-5">
                <a:latin typeface="Arial"/>
                <a:cs typeface="Arial"/>
              </a:rPr>
              <a:t> dignity</a:t>
            </a:r>
            <a:endParaRPr sz="1200">
              <a:latin typeface="Arial"/>
              <a:cs typeface="Arial"/>
            </a:endParaRPr>
          </a:p>
          <a:p>
            <a:pPr marL="469900" indent="-229235">
              <a:lnSpc>
                <a:spcPts val="1380"/>
              </a:lnSpc>
              <a:buFont typeface="Arial"/>
              <a:buAutoNum type="arabicPeriod" startAt="7"/>
              <a:tabLst>
                <a:tab pos="470534" algn="l"/>
              </a:tabLst>
            </a:pPr>
            <a:r>
              <a:rPr dirty="0" sz="1200" spc="-5">
                <a:latin typeface="Arial"/>
                <a:cs typeface="Arial"/>
              </a:rPr>
              <a:t>He never got involved in highway robbery, </a:t>
            </a:r>
            <a:r>
              <a:rPr dirty="0" sz="1200">
                <a:latin typeface="Arial"/>
                <a:cs typeface="Arial"/>
              </a:rPr>
              <a:t>theft or </a:t>
            </a:r>
            <a:r>
              <a:rPr dirty="0" sz="1200" spc="-5">
                <a:latin typeface="Arial"/>
                <a:cs typeface="Arial"/>
              </a:rPr>
              <a:t>any kind of</a:t>
            </a:r>
            <a:r>
              <a:rPr dirty="0" sz="1200" spc="25">
                <a:latin typeface="Arial"/>
                <a:cs typeface="Arial"/>
              </a:rPr>
              <a:t> </a:t>
            </a:r>
            <a:r>
              <a:rPr dirty="0" sz="1200" spc="-5">
                <a:latin typeface="Arial"/>
                <a:cs typeface="Arial"/>
              </a:rPr>
              <a:t>crime</a:t>
            </a:r>
            <a:endParaRPr sz="1200">
              <a:latin typeface="Arial"/>
              <a:cs typeface="Arial"/>
            </a:endParaRPr>
          </a:p>
          <a:p>
            <a:pPr marL="469900" indent="-229235">
              <a:lnSpc>
                <a:spcPts val="1410"/>
              </a:lnSpc>
              <a:buFont typeface="Arial"/>
              <a:buAutoNum type="arabicPeriod" startAt="7"/>
              <a:tabLst>
                <a:tab pos="470534" algn="l"/>
              </a:tabLst>
            </a:pPr>
            <a:r>
              <a:rPr dirty="0" sz="1200" spc="-5">
                <a:latin typeface="Arial"/>
                <a:cs typeface="Arial"/>
              </a:rPr>
              <a:t>He </a:t>
            </a:r>
            <a:r>
              <a:rPr dirty="0" sz="1200" spc="-10">
                <a:latin typeface="Arial"/>
                <a:cs typeface="Arial"/>
              </a:rPr>
              <a:t>always </a:t>
            </a:r>
            <a:r>
              <a:rPr dirty="0" sz="1200" spc="-5">
                <a:latin typeface="Arial"/>
                <a:cs typeface="Arial"/>
              </a:rPr>
              <a:t>tried </a:t>
            </a:r>
            <a:r>
              <a:rPr dirty="0" sz="1200">
                <a:latin typeface="Arial"/>
                <a:cs typeface="Arial"/>
              </a:rPr>
              <a:t>to </a:t>
            </a:r>
            <a:r>
              <a:rPr dirty="0" sz="1200" spc="-5">
                <a:latin typeface="Arial"/>
                <a:cs typeface="Arial"/>
              </a:rPr>
              <a:t>protect the low</a:t>
            </a:r>
            <a:r>
              <a:rPr dirty="0" sz="1200" spc="35">
                <a:latin typeface="Arial"/>
                <a:cs typeface="Arial"/>
              </a:rPr>
              <a:t> </a:t>
            </a:r>
            <a:r>
              <a:rPr dirty="0" sz="1200" spc="-5">
                <a:latin typeface="Arial"/>
                <a:cs typeface="Arial"/>
              </a:rPr>
              <a:t>class</a:t>
            </a:r>
            <a:endParaRPr sz="1200">
              <a:latin typeface="Arial"/>
              <a:cs typeface="Arial"/>
            </a:endParaRPr>
          </a:p>
          <a:p>
            <a:pPr>
              <a:lnSpc>
                <a:spcPct val="100000"/>
              </a:lnSpc>
              <a:spcBef>
                <a:spcPts val="35"/>
              </a:spcBef>
            </a:pPr>
            <a:endParaRPr sz="1200">
              <a:latin typeface="Arial"/>
              <a:cs typeface="Arial"/>
            </a:endParaRPr>
          </a:p>
          <a:p>
            <a:pPr marL="12700" marR="8890">
              <a:lnSpc>
                <a:spcPts val="1380"/>
              </a:lnSpc>
            </a:pPr>
            <a:r>
              <a:rPr dirty="0" u="heavy" sz="1200" spc="-5" b="1" i="1">
                <a:uFill>
                  <a:solidFill>
                    <a:srgbClr val="000000"/>
                  </a:solidFill>
                </a:uFill>
                <a:latin typeface="Arial"/>
                <a:cs typeface="Arial"/>
              </a:rPr>
              <a:t>How the revelations received </a:t>
            </a:r>
            <a:r>
              <a:rPr dirty="0" u="heavy" sz="1200" b="1" i="1">
                <a:uFill>
                  <a:solidFill>
                    <a:srgbClr val="000000"/>
                  </a:solidFill>
                </a:uFill>
                <a:latin typeface="Arial"/>
                <a:cs typeface="Arial"/>
              </a:rPr>
              <a:t>in </a:t>
            </a:r>
            <a:r>
              <a:rPr dirty="0" u="heavy" sz="1200" spc="-5" b="1" i="1">
                <a:uFill>
                  <a:solidFill>
                    <a:srgbClr val="000000"/>
                  </a:solidFill>
                </a:uFill>
                <a:latin typeface="Arial"/>
                <a:cs typeface="Arial"/>
              </a:rPr>
              <a:t>Medina influenced the behaviour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Muslim </a:t>
            </a:r>
            <a:r>
              <a:rPr dirty="0" sz="1200" spc="-5" b="1" i="1">
                <a:latin typeface="Arial"/>
                <a:cs typeface="Arial"/>
              </a:rPr>
              <a:t> </a:t>
            </a:r>
            <a:r>
              <a:rPr dirty="0" u="heavy" sz="1200" spc="-5" b="1" i="1">
                <a:uFill>
                  <a:solidFill>
                    <a:srgbClr val="000000"/>
                  </a:solidFill>
                </a:uFill>
                <a:latin typeface="Arial"/>
                <a:cs typeface="Arial"/>
              </a:rPr>
              <a:t>community?</a:t>
            </a:r>
            <a:endParaRPr sz="1200">
              <a:latin typeface="Arial"/>
              <a:cs typeface="Arial"/>
            </a:endParaRPr>
          </a:p>
          <a:p>
            <a:pPr>
              <a:lnSpc>
                <a:spcPct val="100000"/>
              </a:lnSpc>
              <a:spcBef>
                <a:spcPts val="20"/>
              </a:spcBef>
            </a:pPr>
            <a:endParaRPr sz="1100">
              <a:latin typeface="Arial"/>
              <a:cs typeface="Arial"/>
            </a:endParaRPr>
          </a:p>
          <a:p>
            <a:pPr marL="469900" indent="-229235">
              <a:lnSpc>
                <a:spcPts val="1410"/>
              </a:lnSpc>
              <a:buAutoNum type="arabicPeriod"/>
              <a:tabLst>
                <a:tab pos="470534" algn="l"/>
              </a:tabLst>
            </a:pPr>
            <a:r>
              <a:rPr dirty="0" sz="1200" spc="-105">
                <a:latin typeface="Arial"/>
                <a:cs typeface="Arial"/>
              </a:rPr>
              <a:t>‗Let </a:t>
            </a:r>
            <a:r>
              <a:rPr dirty="0" sz="1200" spc="-5">
                <a:latin typeface="Arial"/>
                <a:cs typeface="Arial"/>
              </a:rPr>
              <a:t>there </a:t>
            </a:r>
            <a:r>
              <a:rPr dirty="0" sz="1200">
                <a:latin typeface="Arial"/>
                <a:cs typeface="Arial"/>
              </a:rPr>
              <a:t>be no </a:t>
            </a:r>
            <a:r>
              <a:rPr dirty="0" sz="1200" spc="-5">
                <a:latin typeface="Arial"/>
                <a:cs typeface="Arial"/>
              </a:rPr>
              <a:t>compulsion in </a:t>
            </a:r>
            <a:r>
              <a:rPr dirty="0" sz="1200">
                <a:latin typeface="Arial"/>
                <a:cs typeface="Arial"/>
              </a:rPr>
              <a:t>religion‘ so </a:t>
            </a:r>
            <a:r>
              <a:rPr dirty="0" sz="1200" spc="-5">
                <a:latin typeface="Arial"/>
                <a:cs typeface="Arial"/>
              </a:rPr>
              <a:t>no forcible</a:t>
            </a:r>
            <a:r>
              <a:rPr dirty="0" sz="1200" spc="-140">
                <a:latin typeface="Arial"/>
                <a:cs typeface="Arial"/>
              </a:rPr>
              <a:t> </a:t>
            </a:r>
            <a:r>
              <a:rPr dirty="0" sz="1200" spc="-5">
                <a:latin typeface="Arial"/>
                <a:cs typeface="Arial"/>
              </a:rPr>
              <a:t>conversions</a:t>
            </a:r>
            <a:endParaRPr sz="1200">
              <a:latin typeface="Arial"/>
              <a:cs typeface="Arial"/>
            </a:endParaRPr>
          </a:p>
          <a:p>
            <a:pPr marL="469900" marR="5080" indent="-228600">
              <a:lnSpc>
                <a:spcPts val="1380"/>
              </a:lnSpc>
              <a:spcBef>
                <a:spcPts val="65"/>
              </a:spcBef>
              <a:buAutoNum type="arabicPeriod"/>
              <a:tabLst>
                <a:tab pos="470534" algn="l"/>
              </a:tabLst>
            </a:pPr>
            <a:r>
              <a:rPr dirty="0" sz="1200">
                <a:latin typeface="Arial"/>
                <a:cs typeface="Arial"/>
              </a:rPr>
              <a:t>Battle </a:t>
            </a:r>
            <a:r>
              <a:rPr dirty="0" sz="1200" spc="-5">
                <a:latin typeface="Arial"/>
                <a:cs typeface="Arial"/>
              </a:rPr>
              <a:t>of </a:t>
            </a:r>
            <a:r>
              <a:rPr dirty="0" sz="1200">
                <a:latin typeface="Arial"/>
                <a:cs typeface="Arial"/>
              </a:rPr>
              <a:t>Badr: </a:t>
            </a:r>
            <a:r>
              <a:rPr dirty="0" sz="1200" spc="-5">
                <a:latin typeface="Arial"/>
                <a:cs typeface="Arial"/>
              </a:rPr>
              <a:t>permission given </a:t>
            </a:r>
            <a:r>
              <a:rPr dirty="0" sz="1200">
                <a:latin typeface="Arial"/>
                <a:cs typeface="Arial"/>
              </a:rPr>
              <a:t>to fight </a:t>
            </a:r>
            <a:r>
              <a:rPr dirty="0" sz="1200" spc="-5">
                <a:latin typeface="Arial"/>
                <a:cs typeface="Arial"/>
              </a:rPr>
              <a:t>in self-defence (lesser jihad). </a:t>
            </a:r>
            <a:r>
              <a:rPr dirty="0" sz="1200">
                <a:latin typeface="Arial"/>
                <a:cs typeface="Arial"/>
              </a:rPr>
              <a:t>They </a:t>
            </a:r>
            <a:r>
              <a:rPr dirty="0" sz="1200" spc="-5">
                <a:latin typeface="Arial"/>
                <a:cs typeface="Arial"/>
              </a:rPr>
              <a:t>fought  bravely, unlike suffering years </a:t>
            </a:r>
            <a:r>
              <a:rPr dirty="0" sz="1200">
                <a:latin typeface="Arial"/>
                <a:cs typeface="Arial"/>
              </a:rPr>
              <a:t>of </a:t>
            </a:r>
            <a:r>
              <a:rPr dirty="0" sz="1200" spc="-5">
                <a:latin typeface="Arial"/>
                <a:cs typeface="Arial"/>
              </a:rPr>
              <a:t>persecution in Mecca when not allowed </a:t>
            </a:r>
            <a:r>
              <a:rPr dirty="0" sz="1200">
                <a:latin typeface="Arial"/>
                <a:cs typeface="Arial"/>
              </a:rPr>
              <a:t>to</a:t>
            </a:r>
            <a:r>
              <a:rPr dirty="0" sz="1200" spc="140">
                <a:latin typeface="Arial"/>
                <a:cs typeface="Arial"/>
              </a:rPr>
              <a:t> </a:t>
            </a:r>
            <a:r>
              <a:rPr dirty="0" sz="1200" spc="-5">
                <a:latin typeface="Arial"/>
                <a:cs typeface="Arial"/>
              </a:rPr>
              <a:t>retaliate</a:t>
            </a:r>
            <a:endParaRPr sz="1200">
              <a:latin typeface="Arial"/>
              <a:cs typeface="Arial"/>
            </a:endParaRPr>
          </a:p>
          <a:p>
            <a:pPr marL="469900" marR="10795" indent="-228600">
              <a:lnSpc>
                <a:spcPts val="1380"/>
              </a:lnSpc>
              <a:buAutoNum type="arabicPeriod"/>
              <a:tabLst>
                <a:tab pos="470534" algn="l"/>
              </a:tabLst>
            </a:pPr>
            <a:r>
              <a:rPr dirty="0" sz="1200" spc="-5">
                <a:latin typeface="Arial"/>
                <a:cs typeface="Arial"/>
              </a:rPr>
              <a:t>Revelation about Allah‘s help: </a:t>
            </a:r>
            <a:r>
              <a:rPr dirty="0" sz="1200">
                <a:latin typeface="Arial"/>
                <a:cs typeface="Arial"/>
              </a:rPr>
              <a:t>a small force </a:t>
            </a:r>
            <a:r>
              <a:rPr dirty="0" sz="1200" spc="-5">
                <a:latin typeface="Arial"/>
                <a:cs typeface="Arial"/>
              </a:rPr>
              <a:t>victorious over </a:t>
            </a:r>
            <a:r>
              <a:rPr dirty="0" sz="1200">
                <a:latin typeface="Arial"/>
                <a:cs typeface="Arial"/>
              </a:rPr>
              <a:t>a </a:t>
            </a:r>
            <a:r>
              <a:rPr dirty="0" sz="1200" spc="-5">
                <a:latin typeface="Arial"/>
                <a:cs typeface="Arial"/>
              </a:rPr>
              <a:t>large one, Muslims felt  Allah </a:t>
            </a:r>
            <a:r>
              <a:rPr dirty="0" sz="1200" spc="-10">
                <a:latin typeface="Arial"/>
                <a:cs typeface="Arial"/>
              </a:rPr>
              <a:t>was </a:t>
            </a:r>
            <a:r>
              <a:rPr dirty="0" sz="1200">
                <a:latin typeface="Arial"/>
                <a:cs typeface="Arial"/>
              </a:rPr>
              <a:t>on </a:t>
            </a:r>
            <a:r>
              <a:rPr dirty="0" sz="1200" spc="-5">
                <a:latin typeface="Arial"/>
                <a:cs typeface="Arial"/>
              </a:rPr>
              <a:t>their</a:t>
            </a:r>
            <a:r>
              <a:rPr dirty="0" sz="1200" spc="5">
                <a:latin typeface="Arial"/>
                <a:cs typeface="Arial"/>
              </a:rPr>
              <a:t> </a:t>
            </a:r>
            <a:r>
              <a:rPr dirty="0" sz="1200" spc="-5">
                <a:latin typeface="Arial"/>
                <a:cs typeface="Arial"/>
              </a:rPr>
              <a:t>side</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Consequences of Uhud mentioned: lesson to Muslims </a:t>
            </a:r>
            <a:r>
              <a:rPr dirty="0" sz="1200">
                <a:latin typeface="Arial"/>
                <a:cs typeface="Arial"/>
              </a:rPr>
              <a:t>to </a:t>
            </a:r>
            <a:r>
              <a:rPr dirty="0" sz="1200" spc="-5">
                <a:latin typeface="Arial"/>
                <a:cs typeface="Arial"/>
              </a:rPr>
              <a:t>remain</a:t>
            </a:r>
            <a:r>
              <a:rPr dirty="0" sz="1200" spc="55">
                <a:latin typeface="Arial"/>
                <a:cs typeface="Arial"/>
              </a:rPr>
              <a:t> </a:t>
            </a:r>
            <a:r>
              <a:rPr dirty="0" sz="1200" spc="-5">
                <a:latin typeface="Arial"/>
                <a:cs typeface="Arial"/>
              </a:rPr>
              <a:t>united</a:t>
            </a:r>
            <a:endParaRPr sz="1200">
              <a:latin typeface="Arial"/>
              <a:cs typeface="Arial"/>
            </a:endParaRPr>
          </a:p>
          <a:p>
            <a:pPr marL="469900" marR="5080" indent="-228600">
              <a:lnSpc>
                <a:spcPts val="1380"/>
              </a:lnSpc>
              <a:spcBef>
                <a:spcPts val="65"/>
              </a:spcBef>
              <a:buAutoNum type="arabicPeriod"/>
              <a:tabLst>
                <a:tab pos="470534" algn="l"/>
              </a:tabLst>
            </a:pPr>
            <a:r>
              <a:rPr dirty="0" sz="1200" spc="-5">
                <a:latin typeface="Arial"/>
                <a:cs typeface="Arial"/>
              </a:rPr>
              <a:t>Revelation about change of Qibla from Jerusalem </a:t>
            </a:r>
            <a:r>
              <a:rPr dirty="0" sz="1200">
                <a:latin typeface="Arial"/>
                <a:cs typeface="Arial"/>
              </a:rPr>
              <a:t>to </a:t>
            </a:r>
            <a:r>
              <a:rPr dirty="0" sz="1200" spc="-5">
                <a:latin typeface="Arial"/>
                <a:cs typeface="Arial"/>
              </a:rPr>
              <a:t>Mecca, focused thoughts on the  importance of</a:t>
            </a:r>
            <a:r>
              <a:rPr dirty="0" sz="1200" spc="10">
                <a:latin typeface="Arial"/>
                <a:cs typeface="Arial"/>
              </a:rPr>
              <a:t> </a:t>
            </a:r>
            <a:r>
              <a:rPr dirty="0" sz="1200" spc="-5">
                <a:latin typeface="Arial"/>
                <a:cs typeface="Arial"/>
              </a:rPr>
              <a:t>Mecca</a:t>
            </a:r>
            <a:endParaRPr sz="1200">
              <a:latin typeface="Arial"/>
              <a:cs typeface="Arial"/>
            </a:endParaRPr>
          </a:p>
          <a:p>
            <a:pPr marL="469900" indent="-229235">
              <a:lnSpc>
                <a:spcPts val="1315"/>
              </a:lnSpc>
              <a:buAutoNum type="arabicPeriod"/>
              <a:tabLst>
                <a:tab pos="470534" algn="l"/>
              </a:tabLst>
            </a:pPr>
            <a:r>
              <a:rPr dirty="0" sz="1200">
                <a:latin typeface="Arial"/>
                <a:cs typeface="Arial"/>
              </a:rPr>
              <a:t>Strong </a:t>
            </a:r>
            <a:r>
              <a:rPr dirty="0" sz="1200" spc="-5">
                <a:latin typeface="Arial"/>
                <a:cs typeface="Arial"/>
              </a:rPr>
              <a:t>wind </a:t>
            </a:r>
            <a:r>
              <a:rPr dirty="0" sz="1200">
                <a:latin typeface="Arial"/>
                <a:cs typeface="Arial"/>
              </a:rPr>
              <a:t>at </a:t>
            </a:r>
            <a:r>
              <a:rPr dirty="0" sz="1200" spc="-5">
                <a:latin typeface="Arial"/>
                <a:cs typeface="Arial"/>
              </a:rPr>
              <a:t>battle of </a:t>
            </a:r>
            <a:r>
              <a:rPr dirty="0" sz="1200">
                <a:latin typeface="Arial"/>
                <a:cs typeface="Arial"/>
              </a:rPr>
              <a:t>the </a:t>
            </a:r>
            <a:r>
              <a:rPr dirty="0" sz="1200" spc="-5">
                <a:latin typeface="Arial"/>
                <a:cs typeface="Arial"/>
              </a:rPr>
              <a:t>Ditch: </a:t>
            </a:r>
            <a:r>
              <a:rPr dirty="0" sz="1200">
                <a:latin typeface="Arial"/>
                <a:cs typeface="Arial"/>
              </a:rPr>
              <a:t>reinforced </a:t>
            </a:r>
            <a:r>
              <a:rPr dirty="0" sz="1200" spc="-5">
                <a:latin typeface="Arial"/>
                <a:cs typeface="Arial"/>
              </a:rPr>
              <a:t>faith in Allah‘s</a:t>
            </a:r>
            <a:r>
              <a:rPr dirty="0" sz="1200" spc="-10">
                <a:latin typeface="Arial"/>
                <a:cs typeface="Arial"/>
              </a:rPr>
              <a:t> </a:t>
            </a:r>
            <a:r>
              <a:rPr dirty="0" sz="1200" spc="-5">
                <a:latin typeface="Arial"/>
                <a:cs typeface="Arial"/>
              </a:rPr>
              <a:t>help</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Fasting (known </a:t>
            </a:r>
            <a:r>
              <a:rPr dirty="0" sz="1200">
                <a:latin typeface="Arial"/>
                <a:cs typeface="Arial"/>
              </a:rPr>
              <a:t>to </a:t>
            </a:r>
            <a:r>
              <a:rPr dirty="0" sz="1200" spc="-5">
                <a:latin typeface="Arial"/>
                <a:cs typeface="Arial"/>
              </a:rPr>
              <a:t>Arabs) </a:t>
            </a:r>
            <a:r>
              <a:rPr dirty="0" sz="1200">
                <a:latin typeface="Arial"/>
                <a:cs typeface="Arial"/>
              </a:rPr>
              <a:t>but </a:t>
            </a:r>
            <a:r>
              <a:rPr dirty="0" sz="1200" spc="-5">
                <a:latin typeface="Arial"/>
                <a:cs typeface="Arial"/>
              </a:rPr>
              <a:t>defined and made obligatory </a:t>
            </a:r>
            <a:r>
              <a:rPr dirty="0" sz="1200" spc="5">
                <a:latin typeface="Arial"/>
                <a:cs typeface="Arial"/>
              </a:rPr>
              <a:t>for</a:t>
            </a:r>
            <a:r>
              <a:rPr dirty="0" sz="1200" spc="10">
                <a:latin typeface="Arial"/>
                <a:cs typeface="Arial"/>
              </a:rPr>
              <a:t> </a:t>
            </a:r>
            <a:r>
              <a:rPr dirty="0" sz="1200" spc="-5">
                <a:latin typeface="Arial"/>
                <a:cs typeface="Arial"/>
              </a:rPr>
              <a:t>Muslims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Payment of zakat became obligatory as community began </a:t>
            </a:r>
            <a:r>
              <a:rPr dirty="0" sz="1200">
                <a:latin typeface="Arial"/>
                <a:cs typeface="Arial"/>
              </a:rPr>
              <a:t>to</a:t>
            </a:r>
            <a:r>
              <a:rPr dirty="0" sz="1200" spc="10">
                <a:latin typeface="Arial"/>
                <a:cs typeface="Arial"/>
              </a:rPr>
              <a:t> </a:t>
            </a:r>
            <a:r>
              <a:rPr dirty="0" sz="1200" spc="-5">
                <a:latin typeface="Arial"/>
                <a:cs typeface="Arial"/>
              </a:rPr>
              <a:t>thrive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Spending in </a:t>
            </a:r>
            <a:r>
              <a:rPr dirty="0" sz="1200">
                <a:latin typeface="Arial"/>
                <a:cs typeface="Arial"/>
              </a:rPr>
              <a:t>the </a:t>
            </a:r>
            <a:r>
              <a:rPr dirty="0" sz="1200" spc="-10">
                <a:latin typeface="Arial"/>
                <a:cs typeface="Arial"/>
              </a:rPr>
              <a:t>way </a:t>
            </a:r>
            <a:r>
              <a:rPr dirty="0" sz="1200">
                <a:latin typeface="Arial"/>
                <a:cs typeface="Arial"/>
              </a:rPr>
              <a:t>of </a:t>
            </a:r>
            <a:r>
              <a:rPr dirty="0" sz="1200" spc="-5">
                <a:latin typeface="Arial"/>
                <a:cs typeface="Arial"/>
              </a:rPr>
              <a:t>Allah </a:t>
            </a:r>
            <a:r>
              <a:rPr dirty="0" sz="1200">
                <a:latin typeface="Arial"/>
                <a:cs typeface="Arial"/>
              </a:rPr>
              <a:t>– Wealth </a:t>
            </a:r>
            <a:r>
              <a:rPr dirty="0" sz="1200" spc="-5">
                <a:latin typeface="Arial"/>
                <a:cs typeface="Arial"/>
              </a:rPr>
              <a:t>would </a:t>
            </a:r>
            <a:r>
              <a:rPr dirty="0" sz="1200">
                <a:latin typeface="Arial"/>
                <a:cs typeface="Arial"/>
              </a:rPr>
              <a:t>stay </a:t>
            </a:r>
            <a:r>
              <a:rPr dirty="0" sz="1200" spc="-5">
                <a:latin typeface="Arial"/>
                <a:cs typeface="Arial"/>
              </a:rPr>
              <a:t>in </a:t>
            </a:r>
            <a:r>
              <a:rPr dirty="0" sz="1200">
                <a:latin typeface="Arial"/>
                <a:cs typeface="Arial"/>
              </a:rPr>
              <a:t>circulation </a:t>
            </a:r>
            <a:r>
              <a:rPr dirty="0" sz="1200" spc="-5">
                <a:latin typeface="Arial"/>
                <a:cs typeface="Arial"/>
              </a:rPr>
              <a:t>and benefit</a:t>
            </a:r>
            <a:r>
              <a:rPr dirty="0" sz="1200" spc="305">
                <a:latin typeface="Arial"/>
                <a:cs typeface="Arial"/>
              </a:rPr>
              <a:t> </a:t>
            </a:r>
            <a:r>
              <a:rPr dirty="0" sz="1200" spc="-5">
                <a:latin typeface="Arial"/>
                <a:cs typeface="Arial"/>
              </a:rPr>
              <a:t>community</a:t>
            </a:r>
            <a:endParaRPr sz="1200">
              <a:latin typeface="Arial"/>
              <a:cs typeface="Arial"/>
            </a:endParaRPr>
          </a:p>
          <a:p>
            <a:pPr marL="469900">
              <a:lnSpc>
                <a:spcPts val="1380"/>
              </a:lnSpc>
            </a:pPr>
            <a:r>
              <a:rPr dirty="0" sz="1200">
                <a:latin typeface="Arial"/>
                <a:cs typeface="Arial"/>
              </a:rPr>
              <a:t>– </a:t>
            </a:r>
            <a:r>
              <a:rPr dirty="0" sz="1200" spc="-5">
                <a:latin typeface="Arial"/>
                <a:cs typeface="Arial"/>
              </a:rPr>
              <a:t>Surah</a:t>
            </a:r>
            <a:r>
              <a:rPr dirty="0" sz="1200" spc="-10">
                <a:latin typeface="Arial"/>
                <a:cs typeface="Arial"/>
              </a:rPr>
              <a:t> </a:t>
            </a:r>
            <a:r>
              <a:rPr dirty="0" sz="1200" spc="-5">
                <a:latin typeface="Arial"/>
                <a:cs typeface="Arial"/>
              </a:rPr>
              <a:t>Takathur</a:t>
            </a:r>
            <a:endParaRPr sz="1200">
              <a:latin typeface="Arial"/>
              <a:cs typeface="Arial"/>
            </a:endParaRPr>
          </a:p>
          <a:p>
            <a:pPr marL="469900" indent="-229235">
              <a:lnSpc>
                <a:spcPts val="1380"/>
              </a:lnSpc>
              <a:buAutoNum type="arabicPeriod" startAt="10"/>
              <a:tabLst>
                <a:tab pos="470534" algn="l"/>
              </a:tabLst>
            </a:pPr>
            <a:r>
              <a:rPr dirty="0" sz="1200" spc="-5">
                <a:latin typeface="Arial"/>
                <a:cs typeface="Arial"/>
              </a:rPr>
              <a:t>Gambling, drinking alcohol, games of chance </a:t>
            </a:r>
            <a:r>
              <a:rPr dirty="0" sz="1200">
                <a:latin typeface="Arial"/>
                <a:cs typeface="Arial"/>
              </a:rPr>
              <a:t>and </a:t>
            </a:r>
            <a:r>
              <a:rPr dirty="0" sz="1200" spc="-5">
                <a:latin typeface="Arial"/>
                <a:cs typeface="Arial"/>
              </a:rPr>
              <a:t>eating of swine </a:t>
            </a:r>
            <a:r>
              <a:rPr dirty="0" sz="1200" spc="-10">
                <a:latin typeface="Arial"/>
                <a:cs typeface="Arial"/>
              </a:rPr>
              <a:t>are</a:t>
            </a:r>
            <a:r>
              <a:rPr dirty="0" sz="1200" spc="90">
                <a:latin typeface="Arial"/>
                <a:cs typeface="Arial"/>
              </a:rPr>
              <a:t> </a:t>
            </a:r>
            <a:r>
              <a:rPr dirty="0" sz="1200" spc="-5">
                <a:latin typeface="Arial"/>
                <a:cs typeface="Arial"/>
              </a:rPr>
              <a:t>forbidden</a:t>
            </a:r>
            <a:endParaRPr sz="1200">
              <a:latin typeface="Arial"/>
              <a:cs typeface="Arial"/>
            </a:endParaRPr>
          </a:p>
          <a:p>
            <a:pPr marL="469900" indent="-229235">
              <a:lnSpc>
                <a:spcPts val="1380"/>
              </a:lnSpc>
              <a:buAutoNum type="arabicPeriod" startAt="10"/>
              <a:tabLst>
                <a:tab pos="470534" algn="l"/>
              </a:tabLst>
            </a:pPr>
            <a:r>
              <a:rPr dirty="0" sz="1200" spc="-5">
                <a:latin typeface="Arial"/>
                <a:cs typeface="Arial"/>
              </a:rPr>
              <a:t>Lawful </a:t>
            </a:r>
            <a:r>
              <a:rPr dirty="0" sz="1200">
                <a:latin typeface="Arial"/>
                <a:cs typeface="Arial"/>
              </a:rPr>
              <a:t>and </a:t>
            </a:r>
            <a:r>
              <a:rPr dirty="0" sz="1200" spc="-10">
                <a:latin typeface="Arial"/>
                <a:cs typeface="Arial"/>
              </a:rPr>
              <a:t>legal </a:t>
            </a:r>
            <a:r>
              <a:rPr dirty="0" sz="1200">
                <a:latin typeface="Arial"/>
                <a:cs typeface="Arial"/>
              </a:rPr>
              <a:t>trade </a:t>
            </a:r>
            <a:r>
              <a:rPr dirty="0" sz="1200" spc="-10">
                <a:latin typeface="Arial"/>
                <a:cs typeface="Arial"/>
              </a:rPr>
              <a:t>was</a:t>
            </a:r>
            <a:r>
              <a:rPr dirty="0" sz="1200" spc="-20">
                <a:latin typeface="Arial"/>
                <a:cs typeface="Arial"/>
              </a:rPr>
              <a:t> </a:t>
            </a:r>
            <a:r>
              <a:rPr dirty="0" sz="1200" spc="-5">
                <a:latin typeface="Arial"/>
                <a:cs typeface="Arial"/>
              </a:rPr>
              <a:t>encouraged</a:t>
            </a:r>
            <a:endParaRPr sz="1200">
              <a:latin typeface="Arial"/>
              <a:cs typeface="Arial"/>
            </a:endParaRPr>
          </a:p>
          <a:p>
            <a:pPr marL="469900" indent="-229235">
              <a:lnSpc>
                <a:spcPts val="1380"/>
              </a:lnSpc>
              <a:buAutoNum type="arabicPeriod" startAt="10"/>
              <a:tabLst>
                <a:tab pos="470534" algn="l"/>
              </a:tabLst>
            </a:pPr>
            <a:r>
              <a:rPr dirty="0" sz="1200" spc="-5">
                <a:latin typeface="Arial"/>
                <a:cs typeface="Arial"/>
              </a:rPr>
              <a:t>Begging </a:t>
            </a:r>
            <a:r>
              <a:rPr dirty="0" sz="1200" spc="-10">
                <a:latin typeface="Arial"/>
                <a:cs typeface="Arial"/>
              </a:rPr>
              <a:t>was </a:t>
            </a:r>
            <a:r>
              <a:rPr dirty="0" sz="1200" spc="-5">
                <a:latin typeface="Arial"/>
                <a:cs typeface="Arial"/>
              </a:rPr>
              <a:t>considered</a:t>
            </a:r>
            <a:r>
              <a:rPr dirty="0" sz="1200" spc="20">
                <a:latin typeface="Arial"/>
                <a:cs typeface="Arial"/>
              </a:rPr>
              <a:t> </a:t>
            </a:r>
            <a:r>
              <a:rPr dirty="0" sz="1200" spc="-5">
                <a:latin typeface="Arial"/>
                <a:cs typeface="Arial"/>
              </a:rPr>
              <a:t>undesirable</a:t>
            </a:r>
            <a:endParaRPr sz="1200">
              <a:latin typeface="Arial"/>
              <a:cs typeface="Arial"/>
            </a:endParaRPr>
          </a:p>
          <a:p>
            <a:pPr marL="469900" indent="-229235">
              <a:lnSpc>
                <a:spcPts val="1380"/>
              </a:lnSpc>
              <a:buAutoNum type="arabicPeriod" startAt="10"/>
              <a:tabLst>
                <a:tab pos="470534" algn="l"/>
              </a:tabLst>
            </a:pPr>
            <a:r>
              <a:rPr dirty="0" sz="1200" spc="-5">
                <a:latin typeface="Arial"/>
                <a:cs typeface="Arial"/>
              </a:rPr>
              <a:t>Law pertaining </a:t>
            </a:r>
            <a:r>
              <a:rPr dirty="0" sz="1200">
                <a:latin typeface="Arial"/>
                <a:cs typeface="Arial"/>
              </a:rPr>
              <a:t>to </a:t>
            </a:r>
            <a:r>
              <a:rPr dirty="0" sz="1200" spc="-5">
                <a:latin typeface="Arial"/>
                <a:cs typeface="Arial"/>
              </a:rPr>
              <a:t>the rights of orphans</a:t>
            </a:r>
            <a:endParaRPr sz="1200">
              <a:latin typeface="Arial"/>
              <a:cs typeface="Arial"/>
            </a:endParaRPr>
          </a:p>
          <a:p>
            <a:pPr marL="469900" indent="-229235">
              <a:lnSpc>
                <a:spcPts val="1380"/>
              </a:lnSpc>
              <a:buAutoNum type="arabicPeriod" startAt="10"/>
              <a:tabLst>
                <a:tab pos="470534" algn="l"/>
              </a:tabLst>
            </a:pPr>
            <a:r>
              <a:rPr dirty="0" sz="1200" spc="-5">
                <a:latin typeface="Arial"/>
                <a:cs typeface="Arial"/>
              </a:rPr>
              <a:t>Rights </a:t>
            </a:r>
            <a:r>
              <a:rPr dirty="0" sz="1200">
                <a:latin typeface="Arial"/>
                <a:cs typeface="Arial"/>
              </a:rPr>
              <a:t>of </a:t>
            </a:r>
            <a:r>
              <a:rPr dirty="0" sz="1200" spc="-5">
                <a:latin typeface="Arial"/>
                <a:cs typeface="Arial"/>
              </a:rPr>
              <a:t>non</a:t>
            </a:r>
            <a:r>
              <a:rPr dirty="0" sz="1200">
                <a:latin typeface="Arial"/>
                <a:cs typeface="Arial"/>
              </a:rPr>
              <a:t> </a:t>
            </a:r>
            <a:r>
              <a:rPr dirty="0" sz="1200" spc="-5">
                <a:latin typeface="Arial"/>
                <a:cs typeface="Arial"/>
              </a:rPr>
              <a:t>Muslims</a:t>
            </a:r>
            <a:endParaRPr sz="1200">
              <a:latin typeface="Arial"/>
              <a:cs typeface="Arial"/>
            </a:endParaRPr>
          </a:p>
          <a:p>
            <a:pPr marL="469900" indent="-229235">
              <a:lnSpc>
                <a:spcPts val="1380"/>
              </a:lnSpc>
              <a:buAutoNum type="arabicPeriod" startAt="10"/>
              <a:tabLst>
                <a:tab pos="470534" algn="l"/>
              </a:tabLst>
            </a:pPr>
            <a:r>
              <a:rPr dirty="0" sz="1200" spc="-5">
                <a:latin typeface="Arial"/>
                <a:cs typeface="Arial"/>
              </a:rPr>
              <a:t>Surah Fatah announcing </a:t>
            </a:r>
            <a:r>
              <a:rPr dirty="0" sz="1200">
                <a:latin typeface="Arial"/>
                <a:cs typeface="Arial"/>
              </a:rPr>
              <a:t>clear </a:t>
            </a:r>
            <a:r>
              <a:rPr dirty="0" sz="1200" spc="-5">
                <a:latin typeface="Arial"/>
                <a:cs typeface="Arial"/>
              </a:rPr>
              <a:t>victory </a:t>
            </a:r>
            <a:r>
              <a:rPr dirty="0" sz="1200">
                <a:latin typeface="Arial"/>
                <a:cs typeface="Arial"/>
              </a:rPr>
              <a:t>after </a:t>
            </a:r>
            <a:r>
              <a:rPr dirty="0" sz="1200" spc="-5">
                <a:latin typeface="Arial"/>
                <a:cs typeface="Arial"/>
              </a:rPr>
              <a:t>the </a:t>
            </a:r>
            <a:r>
              <a:rPr dirty="0" sz="1200">
                <a:latin typeface="Arial"/>
                <a:cs typeface="Arial"/>
              </a:rPr>
              <a:t>treaty </a:t>
            </a:r>
            <a:r>
              <a:rPr dirty="0" sz="1200" spc="-5">
                <a:latin typeface="Arial"/>
                <a:cs typeface="Arial"/>
              </a:rPr>
              <a:t>of Hudaibiyyah </a:t>
            </a:r>
            <a:r>
              <a:rPr dirty="0" sz="1200">
                <a:latin typeface="Arial"/>
                <a:cs typeface="Arial"/>
              </a:rPr>
              <a:t>– </a:t>
            </a:r>
            <a:r>
              <a:rPr dirty="0" sz="1200" spc="-5">
                <a:latin typeface="Arial"/>
                <a:cs typeface="Arial"/>
              </a:rPr>
              <a:t>faith</a:t>
            </a:r>
            <a:r>
              <a:rPr dirty="0" sz="1200" spc="95">
                <a:latin typeface="Arial"/>
                <a:cs typeface="Arial"/>
              </a:rPr>
              <a:t> </a:t>
            </a:r>
            <a:r>
              <a:rPr dirty="0" sz="1200" spc="-5">
                <a:latin typeface="Arial"/>
                <a:cs typeface="Arial"/>
              </a:rPr>
              <a:t>increased.</a:t>
            </a:r>
            <a:endParaRPr sz="1200">
              <a:latin typeface="Arial"/>
              <a:cs typeface="Arial"/>
            </a:endParaRPr>
          </a:p>
          <a:p>
            <a:pPr marL="469900" indent="-229235">
              <a:lnSpc>
                <a:spcPts val="1380"/>
              </a:lnSpc>
              <a:buAutoNum type="arabicPeriod" startAt="10"/>
              <a:tabLst>
                <a:tab pos="470534" algn="l"/>
              </a:tabLst>
            </a:pPr>
            <a:r>
              <a:rPr dirty="0" sz="1200">
                <a:latin typeface="Arial"/>
                <a:cs typeface="Arial"/>
              </a:rPr>
              <a:t>Women </a:t>
            </a:r>
            <a:r>
              <a:rPr dirty="0" sz="1200" spc="-5">
                <a:latin typeface="Arial"/>
                <a:cs typeface="Arial"/>
              </a:rPr>
              <a:t>were given status: </a:t>
            </a:r>
            <a:r>
              <a:rPr dirty="0" sz="1200" spc="-10">
                <a:latin typeface="Arial"/>
                <a:cs typeface="Arial"/>
              </a:rPr>
              <a:t>dowry, </a:t>
            </a:r>
            <a:r>
              <a:rPr dirty="0" sz="1200" spc="-5">
                <a:latin typeface="Arial"/>
                <a:cs typeface="Arial"/>
              </a:rPr>
              <a:t>inherit, chose husband,</a:t>
            </a:r>
            <a:r>
              <a:rPr dirty="0" sz="1200" spc="35">
                <a:latin typeface="Arial"/>
                <a:cs typeface="Arial"/>
              </a:rPr>
              <a:t> </a:t>
            </a:r>
            <a:r>
              <a:rPr dirty="0" sz="1200" spc="-5">
                <a:latin typeface="Arial"/>
                <a:cs typeface="Arial"/>
              </a:rPr>
              <a:t>divorce</a:t>
            </a:r>
            <a:endParaRPr sz="1200">
              <a:latin typeface="Arial"/>
              <a:cs typeface="Arial"/>
            </a:endParaRPr>
          </a:p>
          <a:p>
            <a:pPr marL="469900" indent="-229235">
              <a:lnSpc>
                <a:spcPts val="1380"/>
              </a:lnSpc>
              <a:buAutoNum type="arabicPeriod" startAt="10"/>
              <a:tabLst>
                <a:tab pos="470534" algn="l"/>
              </a:tabLst>
            </a:pPr>
            <a:r>
              <a:rPr dirty="0" sz="1200" spc="-5">
                <a:latin typeface="Arial"/>
                <a:cs typeface="Arial"/>
              </a:rPr>
              <a:t>Rights and duties of men and women were</a:t>
            </a:r>
            <a:r>
              <a:rPr dirty="0" sz="1200" spc="45">
                <a:latin typeface="Arial"/>
                <a:cs typeface="Arial"/>
              </a:rPr>
              <a:t> </a:t>
            </a:r>
            <a:r>
              <a:rPr dirty="0" sz="1200" spc="-5">
                <a:latin typeface="Arial"/>
                <a:cs typeface="Arial"/>
              </a:rPr>
              <a:t>defined</a:t>
            </a:r>
            <a:endParaRPr sz="1200">
              <a:latin typeface="Arial"/>
              <a:cs typeface="Arial"/>
            </a:endParaRPr>
          </a:p>
          <a:p>
            <a:pPr marL="469900" marR="10160" indent="-228600">
              <a:lnSpc>
                <a:spcPts val="1380"/>
              </a:lnSpc>
              <a:spcBef>
                <a:spcPts val="65"/>
              </a:spcBef>
              <a:buAutoNum type="arabicPeriod" startAt="10"/>
              <a:tabLst>
                <a:tab pos="470534" algn="l"/>
              </a:tabLst>
            </a:pPr>
            <a:r>
              <a:rPr dirty="0" sz="1200" spc="-5">
                <a:latin typeface="Arial"/>
                <a:cs typeface="Arial"/>
              </a:rPr>
              <a:t>History </a:t>
            </a:r>
            <a:r>
              <a:rPr dirty="0" sz="1200">
                <a:latin typeface="Arial"/>
                <a:cs typeface="Arial"/>
              </a:rPr>
              <a:t>of </a:t>
            </a:r>
            <a:r>
              <a:rPr dirty="0" sz="1200" spc="-5">
                <a:latin typeface="Arial"/>
                <a:cs typeface="Arial"/>
              </a:rPr>
              <a:t>past prophets and nations influenced their code of conduct (lessons from  surah Qasas and</a:t>
            </a:r>
            <a:r>
              <a:rPr dirty="0" sz="1200" spc="-10">
                <a:latin typeface="Arial"/>
                <a:cs typeface="Arial"/>
              </a:rPr>
              <a:t> Ambiya)</a:t>
            </a:r>
            <a:endParaRPr sz="1200">
              <a:latin typeface="Arial"/>
              <a:cs typeface="Arial"/>
            </a:endParaRPr>
          </a:p>
          <a:p>
            <a:pPr marL="12700">
              <a:lnSpc>
                <a:spcPct val="100000"/>
              </a:lnSpc>
              <a:spcBef>
                <a:spcPts val="1045"/>
              </a:spcBef>
            </a:pPr>
            <a:r>
              <a:rPr dirty="0" u="heavy" sz="1200" spc="-5" b="1" i="1">
                <a:uFill>
                  <a:solidFill>
                    <a:srgbClr val="000000"/>
                  </a:solidFill>
                </a:uFill>
                <a:latin typeface="Arial"/>
                <a:cs typeface="Arial"/>
              </a:rPr>
              <a:t>What </a:t>
            </a:r>
            <a:r>
              <a:rPr dirty="0" u="heavy" sz="1200" b="1" i="1">
                <a:uFill>
                  <a:solidFill>
                    <a:srgbClr val="000000"/>
                  </a:solidFill>
                </a:uFill>
                <a:latin typeface="Arial"/>
                <a:cs typeface="Arial"/>
              </a:rPr>
              <a:t>guidelines </a:t>
            </a:r>
            <a:r>
              <a:rPr dirty="0" u="heavy" sz="1200" spc="-5" b="1" i="1">
                <a:uFill>
                  <a:solidFill>
                    <a:srgbClr val="000000"/>
                  </a:solidFill>
                </a:uFill>
                <a:latin typeface="Arial"/>
                <a:cs typeface="Arial"/>
              </a:rPr>
              <a:t>did the Prophet establish for the communal life </a:t>
            </a:r>
            <a:r>
              <a:rPr dirty="0" u="heavy" sz="1200" b="1" i="1">
                <a:uFill>
                  <a:solidFill>
                    <a:srgbClr val="000000"/>
                  </a:solidFill>
                </a:uFill>
                <a:latin typeface="Arial"/>
                <a:cs typeface="Arial"/>
              </a:rPr>
              <a:t>of</a:t>
            </a:r>
            <a:r>
              <a:rPr dirty="0" u="heavy" sz="1200" spc="55" b="1" i="1">
                <a:uFill>
                  <a:solidFill>
                    <a:srgbClr val="000000"/>
                  </a:solidFill>
                </a:uFill>
                <a:latin typeface="Arial"/>
                <a:cs typeface="Arial"/>
              </a:rPr>
              <a:t> </a:t>
            </a:r>
            <a:r>
              <a:rPr dirty="0" u="heavy" sz="1200" spc="-5" b="1" i="1">
                <a:uFill>
                  <a:solidFill>
                    <a:srgbClr val="000000"/>
                  </a:solidFill>
                </a:uFill>
                <a:latin typeface="Arial"/>
                <a:cs typeface="Arial"/>
              </a:rPr>
              <a:t>Medina?</a:t>
            </a:r>
            <a:endParaRPr sz="1200">
              <a:latin typeface="Arial"/>
              <a:cs typeface="Arial"/>
            </a:endParaRPr>
          </a:p>
          <a:p>
            <a:pPr>
              <a:lnSpc>
                <a:spcPct val="100000"/>
              </a:lnSpc>
              <a:spcBef>
                <a:spcPts val="35"/>
              </a:spcBef>
            </a:pPr>
            <a:endParaRPr sz="1200">
              <a:latin typeface="Arial"/>
              <a:cs typeface="Arial"/>
            </a:endParaRPr>
          </a:p>
          <a:p>
            <a:pPr marL="469900" marR="10160" indent="-228600">
              <a:lnSpc>
                <a:spcPts val="1380"/>
              </a:lnSpc>
              <a:buAutoNum type="arabicPeriod"/>
              <a:tabLst>
                <a:tab pos="470534" algn="l"/>
              </a:tabLst>
            </a:pPr>
            <a:r>
              <a:rPr dirty="0" sz="1200">
                <a:latin typeface="Arial"/>
                <a:cs typeface="Arial"/>
              </a:rPr>
              <a:t>On </a:t>
            </a:r>
            <a:r>
              <a:rPr dirty="0" sz="1200" spc="-5">
                <a:latin typeface="Arial"/>
                <a:cs typeface="Arial"/>
              </a:rPr>
              <a:t>entering Medina Prophet said </a:t>
            </a:r>
            <a:r>
              <a:rPr dirty="0" sz="1200" spc="-60">
                <a:latin typeface="Arial"/>
                <a:cs typeface="Arial"/>
              </a:rPr>
              <a:t>‗Spread </a:t>
            </a:r>
            <a:r>
              <a:rPr dirty="0" sz="1200" spc="-5">
                <a:latin typeface="Arial"/>
                <a:cs typeface="Arial"/>
              </a:rPr>
              <a:t>peace [salaam], feed the </a:t>
            </a:r>
            <a:r>
              <a:rPr dirty="0" sz="1200" spc="-10">
                <a:latin typeface="Arial"/>
                <a:cs typeface="Arial"/>
              </a:rPr>
              <a:t>hungry, </a:t>
            </a:r>
            <a:r>
              <a:rPr dirty="0" sz="1200" spc="-5">
                <a:latin typeface="Arial"/>
                <a:cs typeface="Arial"/>
              </a:rPr>
              <a:t>honour  </a:t>
            </a:r>
            <a:r>
              <a:rPr dirty="0" sz="1200">
                <a:latin typeface="Arial"/>
                <a:cs typeface="Arial"/>
              </a:rPr>
              <a:t>kinship ties, pray </a:t>
            </a:r>
            <a:r>
              <a:rPr dirty="0" sz="1200" spc="-5">
                <a:latin typeface="Arial"/>
                <a:cs typeface="Arial"/>
              </a:rPr>
              <a:t>while people sleep, you shall </a:t>
            </a:r>
            <a:r>
              <a:rPr dirty="0" sz="1200">
                <a:latin typeface="Arial"/>
                <a:cs typeface="Arial"/>
              </a:rPr>
              <a:t>enter </a:t>
            </a:r>
            <a:r>
              <a:rPr dirty="0" sz="1200" spc="-5">
                <a:latin typeface="Arial"/>
                <a:cs typeface="Arial"/>
              </a:rPr>
              <a:t>Paradise in</a:t>
            </a:r>
            <a:r>
              <a:rPr dirty="0" sz="1200" spc="-15">
                <a:latin typeface="Arial"/>
                <a:cs typeface="Arial"/>
              </a:rPr>
              <a:t> </a:t>
            </a:r>
            <a:r>
              <a:rPr dirty="0" sz="1200" spc="-5">
                <a:latin typeface="Arial"/>
                <a:cs typeface="Arial"/>
              </a:rPr>
              <a:t>peace‘</a:t>
            </a:r>
            <a:endParaRPr sz="1200">
              <a:latin typeface="Arial"/>
              <a:cs typeface="Arial"/>
            </a:endParaRPr>
          </a:p>
          <a:p>
            <a:pPr marL="469900" indent="-228600">
              <a:lnSpc>
                <a:spcPts val="1315"/>
              </a:lnSpc>
              <a:buAutoNum type="arabicPeriod"/>
              <a:tabLst>
                <a:tab pos="470534" algn="l"/>
              </a:tabLst>
            </a:pPr>
            <a:r>
              <a:rPr dirty="0" sz="1200" spc="-5">
                <a:latin typeface="Arial"/>
                <a:cs typeface="Arial"/>
              </a:rPr>
              <a:t>He</a:t>
            </a:r>
            <a:r>
              <a:rPr dirty="0" sz="1200" spc="180">
                <a:latin typeface="Arial"/>
                <a:cs typeface="Arial"/>
              </a:rPr>
              <a:t> </a:t>
            </a:r>
            <a:r>
              <a:rPr dirty="0" sz="1200" spc="-5">
                <a:latin typeface="Arial"/>
                <a:cs typeface="Arial"/>
              </a:rPr>
              <a:t>established</a:t>
            </a:r>
            <a:r>
              <a:rPr dirty="0" sz="1200" spc="180">
                <a:latin typeface="Arial"/>
                <a:cs typeface="Arial"/>
              </a:rPr>
              <a:t> </a:t>
            </a:r>
            <a:r>
              <a:rPr dirty="0" sz="1200" spc="-5">
                <a:latin typeface="Arial"/>
                <a:cs typeface="Arial"/>
              </a:rPr>
              <a:t>brotherhood</a:t>
            </a:r>
            <a:r>
              <a:rPr dirty="0" sz="1200" spc="180">
                <a:latin typeface="Arial"/>
                <a:cs typeface="Arial"/>
              </a:rPr>
              <a:t> </a:t>
            </a:r>
            <a:r>
              <a:rPr dirty="0" sz="1200" spc="-5">
                <a:latin typeface="Arial"/>
                <a:cs typeface="Arial"/>
              </a:rPr>
              <a:t>between</a:t>
            </a:r>
            <a:r>
              <a:rPr dirty="0" sz="1200" spc="180">
                <a:latin typeface="Arial"/>
                <a:cs typeface="Arial"/>
              </a:rPr>
              <a:t> </a:t>
            </a:r>
            <a:r>
              <a:rPr dirty="0" sz="1200" spc="-5">
                <a:latin typeface="Arial"/>
                <a:cs typeface="Arial"/>
              </a:rPr>
              <a:t>muhajireen</a:t>
            </a:r>
            <a:r>
              <a:rPr dirty="0" sz="1200" spc="170">
                <a:latin typeface="Arial"/>
                <a:cs typeface="Arial"/>
              </a:rPr>
              <a:t> </a:t>
            </a:r>
            <a:r>
              <a:rPr dirty="0" sz="1200">
                <a:latin typeface="Arial"/>
                <a:cs typeface="Arial"/>
              </a:rPr>
              <a:t>from</a:t>
            </a:r>
            <a:r>
              <a:rPr dirty="0" sz="1200" spc="190">
                <a:latin typeface="Arial"/>
                <a:cs typeface="Arial"/>
              </a:rPr>
              <a:t> </a:t>
            </a:r>
            <a:r>
              <a:rPr dirty="0" sz="1200" spc="-5">
                <a:latin typeface="Arial"/>
                <a:cs typeface="Arial"/>
              </a:rPr>
              <a:t>Mecca</a:t>
            </a:r>
            <a:r>
              <a:rPr dirty="0" sz="1200" spc="180">
                <a:latin typeface="Arial"/>
                <a:cs typeface="Arial"/>
              </a:rPr>
              <a:t> </a:t>
            </a:r>
            <a:r>
              <a:rPr dirty="0" sz="1200" spc="-5">
                <a:latin typeface="Arial"/>
                <a:cs typeface="Arial"/>
              </a:rPr>
              <a:t>and</a:t>
            </a:r>
            <a:r>
              <a:rPr dirty="0" sz="1200" spc="170">
                <a:latin typeface="Arial"/>
                <a:cs typeface="Arial"/>
              </a:rPr>
              <a:t> </a:t>
            </a:r>
            <a:r>
              <a:rPr dirty="0" sz="1200" spc="-5">
                <a:latin typeface="Arial"/>
                <a:cs typeface="Arial"/>
              </a:rPr>
              <a:t>Medina]</a:t>
            </a:r>
            <a:r>
              <a:rPr dirty="0" sz="1200" spc="180">
                <a:latin typeface="Arial"/>
                <a:cs typeface="Arial"/>
              </a:rPr>
              <a:t> </a:t>
            </a:r>
            <a:r>
              <a:rPr dirty="0" sz="1200" spc="-5">
                <a:latin typeface="Arial"/>
                <a:cs typeface="Arial"/>
              </a:rPr>
              <a:t>because</a:t>
            </a:r>
            <a:endParaRPr sz="1200">
              <a:latin typeface="Arial"/>
              <a:cs typeface="Arial"/>
            </a:endParaRPr>
          </a:p>
          <a:p>
            <a:pPr marL="469900" marR="7620">
              <a:lnSpc>
                <a:spcPts val="1380"/>
              </a:lnSpc>
              <a:spcBef>
                <a:spcPts val="70"/>
              </a:spcBef>
            </a:pPr>
            <a:r>
              <a:rPr dirty="0" sz="1200" spc="-5">
                <a:latin typeface="Arial"/>
                <a:cs typeface="Arial"/>
              </a:rPr>
              <a:t>muhajireen were homeless and penniless. </a:t>
            </a:r>
            <a:r>
              <a:rPr dirty="0" sz="1200">
                <a:latin typeface="Arial"/>
                <a:cs typeface="Arial"/>
              </a:rPr>
              <a:t>This </a:t>
            </a:r>
            <a:r>
              <a:rPr dirty="0" sz="1200" spc="-5">
                <a:latin typeface="Arial"/>
                <a:cs typeface="Arial"/>
              </a:rPr>
              <a:t>nurtured a collective spirit based </a:t>
            </a:r>
            <a:r>
              <a:rPr dirty="0" sz="1200" spc="-10">
                <a:latin typeface="Arial"/>
                <a:cs typeface="Arial"/>
              </a:rPr>
              <a:t>on  </a:t>
            </a:r>
            <a:r>
              <a:rPr dirty="0" sz="1200" spc="-5">
                <a:latin typeface="Arial"/>
                <a:cs typeface="Arial"/>
              </a:rPr>
              <a:t>sharing </a:t>
            </a:r>
            <a:r>
              <a:rPr dirty="0" sz="1200">
                <a:latin typeface="Arial"/>
                <a:cs typeface="Arial"/>
              </a:rPr>
              <a:t>and </a:t>
            </a:r>
            <a:r>
              <a:rPr dirty="0" sz="1200" spc="-5">
                <a:latin typeface="Arial"/>
                <a:cs typeface="Arial"/>
              </a:rPr>
              <a:t>mutual assistance rather than individual</a:t>
            </a:r>
            <a:r>
              <a:rPr dirty="0" sz="1200" spc="30">
                <a:latin typeface="Arial"/>
                <a:cs typeface="Arial"/>
              </a:rPr>
              <a:t> </a:t>
            </a:r>
            <a:r>
              <a:rPr dirty="0" sz="1200" spc="-5">
                <a:latin typeface="Arial"/>
                <a:cs typeface="Arial"/>
              </a:rPr>
              <a:t>competitiveness</a:t>
            </a:r>
            <a:endParaRPr sz="1200">
              <a:latin typeface="Arial"/>
              <a:cs typeface="Arial"/>
            </a:endParaRPr>
          </a:p>
          <a:p>
            <a:pPr marL="469900" marR="10795" indent="-228600">
              <a:lnSpc>
                <a:spcPts val="1380"/>
              </a:lnSpc>
              <a:buAutoNum type="arabicPeriod" startAt="3"/>
              <a:tabLst>
                <a:tab pos="470534" algn="l"/>
              </a:tabLst>
            </a:pPr>
            <a:r>
              <a:rPr dirty="0" sz="1200" spc="-5">
                <a:latin typeface="Arial"/>
                <a:cs typeface="Arial"/>
              </a:rPr>
              <a:t>He made mutual assistance agreement between Jews </a:t>
            </a:r>
            <a:r>
              <a:rPr dirty="0" sz="1200">
                <a:latin typeface="Arial"/>
                <a:cs typeface="Arial"/>
              </a:rPr>
              <a:t>of </a:t>
            </a:r>
            <a:r>
              <a:rPr dirty="0" sz="1200" spc="-5">
                <a:latin typeface="Arial"/>
                <a:cs typeface="Arial"/>
              </a:rPr>
              <a:t>Medina and Muslims  [whether Aus, Khazraj or muhajireen] </a:t>
            </a:r>
            <a:r>
              <a:rPr dirty="0" sz="1200" spc="-10">
                <a:latin typeface="Arial"/>
                <a:cs typeface="Arial"/>
              </a:rPr>
              <a:t>known </a:t>
            </a:r>
            <a:r>
              <a:rPr dirty="0" sz="1200">
                <a:latin typeface="Arial"/>
                <a:cs typeface="Arial"/>
              </a:rPr>
              <a:t>as </a:t>
            </a:r>
            <a:r>
              <a:rPr dirty="0" sz="1200" spc="-5">
                <a:latin typeface="Arial"/>
                <a:cs typeface="Arial"/>
              </a:rPr>
              <a:t>the Charter of</a:t>
            </a:r>
            <a:r>
              <a:rPr dirty="0" sz="1200" spc="65">
                <a:latin typeface="Arial"/>
                <a:cs typeface="Arial"/>
              </a:rPr>
              <a:t> </a:t>
            </a:r>
            <a:r>
              <a:rPr dirty="0" sz="1200" spc="-5">
                <a:latin typeface="Arial"/>
                <a:cs typeface="Arial"/>
              </a:rPr>
              <a:t>Medina</a:t>
            </a:r>
            <a:endParaRPr sz="1200">
              <a:latin typeface="Arial"/>
              <a:cs typeface="Arial"/>
            </a:endParaRPr>
          </a:p>
          <a:p>
            <a:pPr marL="469900" indent="-229235">
              <a:lnSpc>
                <a:spcPts val="1315"/>
              </a:lnSpc>
              <a:buAutoNum type="arabicPeriod" startAt="3"/>
              <a:tabLst>
                <a:tab pos="470534" algn="l"/>
              </a:tabLst>
            </a:pPr>
            <a:r>
              <a:rPr dirty="0" sz="1200" spc="-5">
                <a:latin typeface="Arial"/>
                <a:cs typeface="Arial"/>
              </a:rPr>
              <a:t>He made signifying </a:t>
            </a:r>
            <a:r>
              <a:rPr dirty="0" sz="1200">
                <a:latin typeface="Arial"/>
                <a:cs typeface="Arial"/>
              </a:rPr>
              <a:t>justice </a:t>
            </a:r>
            <a:r>
              <a:rPr dirty="0" sz="1200" spc="-5">
                <a:latin typeface="Arial"/>
                <a:cs typeface="Arial"/>
              </a:rPr>
              <a:t>and dignity </a:t>
            </a:r>
            <a:r>
              <a:rPr dirty="0" sz="1200">
                <a:latin typeface="Arial"/>
                <a:cs typeface="Arial"/>
              </a:rPr>
              <a:t>for </a:t>
            </a:r>
            <a:r>
              <a:rPr dirty="0" sz="1200" spc="-5">
                <a:latin typeface="Arial"/>
                <a:cs typeface="Arial"/>
              </a:rPr>
              <a:t>all </a:t>
            </a:r>
            <a:r>
              <a:rPr dirty="0" sz="1200" spc="-10">
                <a:latin typeface="Arial"/>
                <a:cs typeface="Arial"/>
              </a:rPr>
              <a:t>on </a:t>
            </a:r>
            <a:r>
              <a:rPr dirty="0" sz="1200" spc="-5">
                <a:latin typeface="Arial"/>
                <a:cs typeface="Arial"/>
              </a:rPr>
              <a:t>a solid legal</a:t>
            </a:r>
            <a:r>
              <a:rPr dirty="0" sz="1200" spc="55">
                <a:latin typeface="Arial"/>
                <a:cs typeface="Arial"/>
              </a:rPr>
              <a:t> </a:t>
            </a:r>
            <a:r>
              <a:rPr dirty="0" sz="1200" spc="-5">
                <a:latin typeface="Arial"/>
                <a:cs typeface="Arial"/>
              </a:rPr>
              <a:t>base</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He allocated the </a:t>
            </a:r>
            <a:r>
              <a:rPr dirty="0" sz="1200" spc="-10">
                <a:latin typeface="Arial"/>
                <a:cs typeface="Arial"/>
              </a:rPr>
              <a:t>same </a:t>
            </a:r>
            <a:r>
              <a:rPr dirty="0" sz="1200" spc="-5">
                <a:latin typeface="Arial"/>
                <a:cs typeface="Arial"/>
              </a:rPr>
              <a:t>rights and same duties </a:t>
            </a:r>
            <a:r>
              <a:rPr dirty="0" sz="1200">
                <a:latin typeface="Arial"/>
                <a:cs typeface="Arial"/>
              </a:rPr>
              <a:t>for </a:t>
            </a:r>
            <a:r>
              <a:rPr dirty="0" sz="1200" spc="-5">
                <a:latin typeface="Arial"/>
                <a:cs typeface="Arial"/>
              </a:rPr>
              <a:t>all; a </a:t>
            </a:r>
            <a:r>
              <a:rPr dirty="0" sz="1200">
                <a:latin typeface="Arial"/>
                <a:cs typeface="Arial"/>
              </a:rPr>
              <a:t>multi-cultural, multi-racial</a:t>
            </a:r>
            <a:r>
              <a:rPr dirty="0" sz="1200" spc="80">
                <a:latin typeface="Arial"/>
                <a:cs typeface="Arial"/>
              </a:rPr>
              <a:t> </a:t>
            </a:r>
            <a:r>
              <a:rPr dirty="0" sz="1200" spc="-5">
                <a:latin typeface="Arial"/>
                <a:cs typeface="Arial"/>
              </a:rPr>
              <a:t>state</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The Jews </a:t>
            </a:r>
            <a:r>
              <a:rPr dirty="0" sz="1200">
                <a:latin typeface="Arial"/>
                <a:cs typeface="Arial"/>
              </a:rPr>
              <a:t>and </a:t>
            </a:r>
            <a:r>
              <a:rPr dirty="0" sz="1200" spc="-5">
                <a:latin typeface="Arial"/>
                <a:cs typeface="Arial"/>
              </a:rPr>
              <a:t>Muslims would help each other in times of attack </a:t>
            </a:r>
            <a:r>
              <a:rPr dirty="0" sz="1200">
                <a:latin typeface="Arial"/>
                <a:cs typeface="Arial"/>
              </a:rPr>
              <a:t>– </a:t>
            </a:r>
            <a:r>
              <a:rPr dirty="0" sz="1200" spc="-5">
                <a:latin typeface="Arial"/>
                <a:cs typeface="Arial"/>
              </a:rPr>
              <a:t>defend</a:t>
            </a:r>
            <a:r>
              <a:rPr dirty="0" sz="1200" spc="80">
                <a:latin typeface="Arial"/>
                <a:cs typeface="Arial"/>
              </a:rPr>
              <a:t> </a:t>
            </a:r>
            <a:r>
              <a:rPr dirty="0" sz="1200" spc="-5">
                <a:latin typeface="Arial"/>
                <a:cs typeface="Arial"/>
              </a:rPr>
              <a:t>Madina</a:t>
            </a:r>
            <a:endParaRPr sz="1200">
              <a:latin typeface="Arial"/>
              <a:cs typeface="Arial"/>
            </a:endParaRPr>
          </a:p>
          <a:p>
            <a:pPr marL="469900" marR="5715" indent="-228600">
              <a:lnSpc>
                <a:spcPts val="1380"/>
              </a:lnSpc>
              <a:spcBef>
                <a:spcPts val="65"/>
              </a:spcBef>
              <a:buAutoNum type="arabicPeriod" startAt="3"/>
              <a:tabLst>
                <a:tab pos="470534" algn="l"/>
              </a:tabLst>
            </a:pPr>
            <a:r>
              <a:rPr dirty="0" sz="1200" spc="-5">
                <a:latin typeface="Arial"/>
                <a:cs typeface="Arial"/>
              </a:rPr>
              <a:t>All relationships would be based </a:t>
            </a:r>
            <a:r>
              <a:rPr dirty="0" sz="1200" spc="-10">
                <a:latin typeface="Arial"/>
                <a:cs typeface="Arial"/>
              </a:rPr>
              <a:t>on </a:t>
            </a:r>
            <a:r>
              <a:rPr dirty="0" sz="1200">
                <a:latin typeface="Arial"/>
                <a:cs typeface="Arial"/>
              </a:rPr>
              <a:t>contracts; </a:t>
            </a:r>
            <a:r>
              <a:rPr dirty="0" sz="1200" spc="-5">
                <a:latin typeface="Arial"/>
                <a:cs typeface="Arial"/>
              </a:rPr>
              <a:t>Prophet advised Muslims </a:t>
            </a:r>
            <a:r>
              <a:rPr dirty="0" sz="1200">
                <a:latin typeface="Arial"/>
                <a:cs typeface="Arial"/>
              </a:rPr>
              <a:t>to </a:t>
            </a:r>
            <a:r>
              <a:rPr dirty="0" sz="1200" spc="-5">
                <a:latin typeface="Arial"/>
                <a:cs typeface="Arial"/>
              </a:rPr>
              <a:t>stand </a:t>
            </a:r>
            <a:r>
              <a:rPr dirty="0" sz="1200" spc="-10">
                <a:latin typeface="Arial"/>
                <a:cs typeface="Arial"/>
              </a:rPr>
              <a:t>by  </a:t>
            </a:r>
            <a:r>
              <a:rPr dirty="0" sz="1200">
                <a:latin typeface="Arial"/>
                <a:cs typeface="Arial"/>
              </a:rPr>
              <a:t>their</a:t>
            </a:r>
            <a:r>
              <a:rPr dirty="0" sz="1200" spc="-10">
                <a:latin typeface="Arial"/>
                <a:cs typeface="Arial"/>
              </a:rPr>
              <a:t> </a:t>
            </a:r>
            <a:r>
              <a:rPr dirty="0" sz="1200" spc="-5">
                <a:latin typeface="Arial"/>
                <a:cs typeface="Arial"/>
              </a:rPr>
              <a:t>contracts</a:t>
            </a:r>
            <a:endParaRPr sz="1200">
              <a:latin typeface="Arial"/>
              <a:cs typeface="Arial"/>
            </a:endParaRPr>
          </a:p>
          <a:p>
            <a:pPr marL="469900" indent="-229235">
              <a:lnSpc>
                <a:spcPts val="1315"/>
              </a:lnSpc>
              <a:buAutoNum type="arabicPeriod" startAt="3"/>
              <a:tabLst>
                <a:tab pos="470534" algn="l"/>
              </a:tabLst>
            </a:pPr>
            <a:r>
              <a:rPr dirty="0" sz="1200" spc="-5">
                <a:latin typeface="Arial"/>
                <a:cs typeface="Arial"/>
              </a:rPr>
              <a:t>He </a:t>
            </a:r>
            <a:r>
              <a:rPr dirty="0" sz="1200">
                <a:latin typeface="Arial"/>
                <a:cs typeface="Arial"/>
              </a:rPr>
              <a:t>stressed all </a:t>
            </a:r>
            <a:r>
              <a:rPr dirty="0" sz="1200" spc="-5">
                <a:latin typeface="Arial"/>
                <a:cs typeface="Arial"/>
              </a:rPr>
              <a:t>relations within </a:t>
            </a:r>
            <a:r>
              <a:rPr dirty="0" sz="1200">
                <a:latin typeface="Arial"/>
                <a:cs typeface="Arial"/>
              </a:rPr>
              <a:t>the </a:t>
            </a:r>
            <a:r>
              <a:rPr dirty="0" sz="1200" spc="-5">
                <a:latin typeface="Arial"/>
                <a:cs typeface="Arial"/>
              </a:rPr>
              <a:t>society </a:t>
            </a:r>
            <a:r>
              <a:rPr dirty="0" sz="1200">
                <a:latin typeface="Arial"/>
                <a:cs typeface="Arial"/>
              </a:rPr>
              <a:t>to </a:t>
            </a:r>
            <a:r>
              <a:rPr dirty="0" sz="1200" spc="-5">
                <a:latin typeface="Arial"/>
                <a:cs typeface="Arial"/>
              </a:rPr>
              <a:t>be</a:t>
            </a:r>
            <a:r>
              <a:rPr dirty="0" sz="1200">
                <a:latin typeface="Arial"/>
                <a:cs typeface="Arial"/>
              </a:rPr>
              <a:t> </a:t>
            </a:r>
            <a:r>
              <a:rPr dirty="0" sz="1200" spc="-5">
                <a:latin typeface="Arial"/>
                <a:cs typeface="Arial"/>
              </a:rPr>
              <a:t>egalitarian</a:t>
            </a:r>
            <a:endParaRPr sz="1200">
              <a:latin typeface="Arial"/>
              <a:cs typeface="Arial"/>
            </a:endParaRPr>
          </a:p>
          <a:p>
            <a:pPr marL="469900" indent="-229235">
              <a:lnSpc>
                <a:spcPts val="1410"/>
              </a:lnSpc>
              <a:buAutoNum type="arabicPeriod" startAt="3"/>
              <a:tabLst>
                <a:tab pos="470534" algn="l"/>
              </a:tabLst>
            </a:pPr>
            <a:r>
              <a:rPr dirty="0" sz="1200" spc="-5">
                <a:latin typeface="Arial"/>
                <a:cs typeface="Arial"/>
              </a:rPr>
              <a:t>There would </a:t>
            </a:r>
            <a:r>
              <a:rPr dirty="0" sz="1200" spc="-10">
                <a:latin typeface="Arial"/>
                <a:cs typeface="Arial"/>
              </a:rPr>
              <a:t>be </a:t>
            </a:r>
            <a:r>
              <a:rPr dirty="0" sz="1200" spc="-5">
                <a:latin typeface="Arial"/>
                <a:cs typeface="Arial"/>
              </a:rPr>
              <a:t>no forcible</a:t>
            </a:r>
            <a:r>
              <a:rPr dirty="0" sz="1200" spc="15">
                <a:latin typeface="Arial"/>
                <a:cs typeface="Arial"/>
              </a:rPr>
              <a:t> </a:t>
            </a:r>
            <a:r>
              <a:rPr dirty="0" sz="1200" spc="-5">
                <a:latin typeface="Arial"/>
                <a:cs typeface="Arial"/>
              </a:rPr>
              <a:t>conversions</a:t>
            </a:r>
            <a:endParaRPr sz="1200">
              <a:latin typeface="Arial"/>
              <a:cs typeface="Arial"/>
            </a:endParaRPr>
          </a:p>
        </p:txBody>
      </p:sp>
      <p:sp>
        <p:nvSpPr>
          <p:cNvPr id="6" name="object 6"/>
          <p:cNvSpPr txBox="1"/>
          <p:nvPr/>
        </p:nvSpPr>
        <p:spPr>
          <a:xfrm>
            <a:off x="947724" y="9547767"/>
            <a:ext cx="3015615" cy="196215"/>
          </a:xfrm>
          <a:prstGeom prst="rect">
            <a:avLst/>
          </a:prstGeom>
        </p:spPr>
        <p:txBody>
          <a:bodyPr wrap="square" lIns="0" tIns="0" rIns="0" bIns="0" rtlCol="0" vert="horz">
            <a:spAutoFit/>
          </a:bodyPr>
          <a:lstStyle/>
          <a:p>
            <a:pPr marL="12700">
              <a:lnSpc>
                <a:spcPts val="1425"/>
              </a:lnSpc>
            </a:pPr>
            <a:r>
              <a:rPr dirty="0" sz="1200" spc="-5">
                <a:latin typeface="Arial"/>
                <a:cs typeface="Arial"/>
              </a:rPr>
              <a:t>10. Working together </a:t>
            </a:r>
            <a:r>
              <a:rPr dirty="0" sz="1200">
                <a:latin typeface="Arial"/>
                <a:cs typeface="Arial"/>
              </a:rPr>
              <a:t>to </a:t>
            </a:r>
            <a:r>
              <a:rPr dirty="0" sz="1200" spc="-5">
                <a:latin typeface="Arial"/>
                <a:cs typeface="Arial"/>
              </a:rPr>
              <a:t>construct the</a:t>
            </a:r>
            <a:r>
              <a:rPr dirty="0" sz="1200" spc="-170">
                <a:latin typeface="Arial"/>
                <a:cs typeface="Arial"/>
              </a:rPr>
              <a:t> </a:t>
            </a:r>
            <a:r>
              <a:rPr dirty="0" sz="1200" spc="-5">
                <a:latin typeface="Arial"/>
                <a:cs typeface="Arial"/>
              </a:rPr>
              <a:t>society</a:t>
            </a:r>
            <a:endParaRPr sz="1200">
              <a:latin typeface="Arial"/>
              <a:cs typeface="Arial"/>
            </a:endParaRPr>
          </a:p>
        </p:txBody>
      </p:sp>
      <p:sp>
        <p:nvSpPr>
          <p:cNvPr id="7" name="object 7"/>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8" name="object 8"/>
          <p:cNvSpPr txBox="1"/>
          <p:nvPr/>
        </p:nvSpPr>
        <p:spPr>
          <a:xfrm>
            <a:off x="3211195"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27</a:t>
            </a:r>
            <a:endParaRPr sz="1200">
              <a:latin typeface="Times New Roman"/>
              <a:cs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309995" cy="8971280"/>
          </a:xfrm>
          <a:prstGeom prst="rect">
            <a:avLst/>
          </a:prstGeom>
        </p:spPr>
        <p:txBody>
          <a:bodyPr wrap="square" lIns="0" tIns="12700" rIns="0" bIns="0" rtlCol="0" vert="horz">
            <a:spAutoFit/>
          </a:bodyPr>
          <a:lstStyle/>
          <a:p>
            <a:pPr marL="469900" indent="-229235">
              <a:lnSpc>
                <a:spcPts val="1410"/>
              </a:lnSpc>
              <a:spcBef>
                <a:spcPts val="100"/>
              </a:spcBef>
              <a:buAutoNum type="arabicPeriod" startAt="11"/>
              <a:tabLst>
                <a:tab pos="470534" algn="l"/>
              </a:tabLst>
            </a:pPr>
            <a:r>
              <a:rPr dirty="0" sz="1200" spc="-5">
                <a:latin typeface="Arial"/>
                <a:cs typeface="Arial"/>
              </a:rPr>
              <a:t>Working with everyone in construction of</a:t>
            </a:r>
            <a:r>
              <a:rPr dirty="0" sz="1200" spc="15">
                <a:latin typeface="Arial"/>
                <a:cs typeface="Arial"/>
              </a:rPr>
              <a:t> </a:t>
            </a:r>
            <a:r>
              <a:rPr dirty="0" sz="1200" spc="-5">
                <a:latin typeface="Arial"/>
                <a:cs typeface="Arial"/>
              </a:rPr>
              <a:t>mosque</a:t>
            </a:r>
            <a:endParaRPr sz="1200">
              <a:latin typeface="Arial"/>
              <a:cs typeface="Arial"/>
            </a:endParaRPr>
          </a:p>
          <a:p>
            <a:pPr marL="469900" indent="-229235">
              <a:lnSpc>
                <a:spcPts val="1380"/>
              </a:lnSpc>
              <a:buAutoNum type="arabicPeriod" startAt="11"/>
              <a:tabLst>
                <a:tab pos="470534" algn="l"/>
              </a:tabLst>
            </a:pPr>
            <a:r>
              <a:rPr dirty="0" sz="1200" spc="-5">
                <a:latin typeface="Arial"/>
                <a:cs typeface="Arial"/>
              </a:rPr>
              <a:t>The call to prayer [adhan] </a:t>
            </a:r>
            <a:r>
              <a:rPr dirty="0" sz="1200" spc="-10">
                <a:latin typeface="Arial"/>
                <a:cs typeface="Arial"/>
              </a:rPr>
              <a:t>was </a:t>
            </a:r>
            <a:r>
              <a:rPr dirty="0" sz="1200" spc="-5">
                <a:latin typeface="Arial"/>
                <a:cs typeface="Arial"/>
              </a:rPr>
              <a:t>initiated and </a:t>
            </a:r>
            <a:r>
              <a:rPr dirty="0" sz="1200" spc="-10">
                <a:latin typeface="Arial"/>
                <a:cs typeface="Arial"/>
              </a:rPr>
              <a:t>still </a:t>
            </a:r>
            <a:r>
              <a:rPr dirty="0" sz="1200" spc="-5">
                <a:latin typeface="Arial"/>
                <a:cs typeface="Arial"/>
              </a:rPr>
              <a:t>resonates</a:t>
            </a:r>
            <a:r>
              <a:rPr dirty="0" sz="1200" spc="60">
                <a:latin typeface="Arial"/>
                <a:cs typeface="Arial"/>
              </a:rPr>
              <a:t> </a:t>
            </a:r>
            <a:r>
              <a:rPr dirty="0" sz="1200" spc="-5">
                <a:latin typeface="Arial"/>
                <a:cs typeface="Arial"/>
              </a:rPr>
              <a:t>today</a:t>
            </a:r>
            <a:endParaRPr sz="1200">
              <a:latin typeface="Arial"/>
              <a:cs typeface="Arial"/>
            </a:endParaRPr>
          </a:p>
          <a:p>
            <a:pPr marL="469900" indent="-229235">
              <a:lnSpc>
                <a:spcPts val="1380"/>
              </a:lnSpc>
              <a:buAutoNum type="arabicPeriod" startAt="11"/>
              <a:tabLst>
                <a:tab pos="470534" algn="l"/>
              </a:tabLst>
            </a:pPr>
            <a:r>
              <a:rPr dirty="0" sz="1200" spc="-5">
                <a:latin typeface="Arial"/>
                <a:cs typeface="Arial"/>
              </a:rPr>
              <a:t>The five daily prayers </a:t>
            </a:r>
            <a:r>
              <a:rPr dirty="0" sz="1200">
                <a:latin typeface="Arial"/>
                <a:cs typeface="Arial"/>
              </a:rPr>
              <a:t>set </a:t>
            </a:r>
            <a:r>
              <a:rPr dirty="0" sz="1200" spc="-5">
                <a:latin typeface="Arial"/>
                <a:cs typeface="Arial"/>
              </a:rPr>
              <a:t>the pace of daily </a:t>
            </a:r>
            <a:r>
              <a:rPr dirty="0" sz="1200">
                <a:latin typeface="Arial"/>
                <a:cs typeface="Arial"/>
              </a:rPr>
              <a:t>life for</a:t>
            </a:r>
            <a:r>
              <a:rPr dirty="0" sz="1200" spc="-5">
                <a:latin typeface="Arial"/>
                <a:cs typeface="Arial"/>
              </a:rPr>
              <a:t> Muslims</a:t>
            </a:r>
            <a:endParaRPr sz="1200">
              <a:latin typeface="Arial"/>
              <a:cs typeface="Arial"/>
            </a:endParaRPr>
          </a:p>
          <a:p>
            <a:pPr marL="469900" indent="-229235">
              <a:lnSpc>
                <a:spcPts val="1380"/>
              </a:lnSpc>
              <a:buAutoNum type="arabicPeriod" startAt="11"/>
              <a:tabLst>
                <a:tab pos="470534" algn="l"/>
              </a:tabLst>
            </a:pPr>
            <a:r>
              <a:rPr dirty="0" sz="1200" spc="-5">
                <a:latin typeface="Arial"/>
                <a:cs typeface="Arial"/>
              </a:rPr>
              <a:t>Fasting [sawm] became obligatory in the month of</a:t>
            </a:r>
            <a:r>
              <a:rPr dirty="0" sz="1200" spc="20">
                <a:latin typeface="Arial"/>
                <a:cs typeface="Arial"/>
              </a:rPr>
              <a:t> </a:t>
            </a:r>
            <a:r>
              <a:rPr dirty="0" sz="1200" spc="-5">
                <a:latin typeface="Arial"/>
                <a:cs typeface="Arial"/>
              </a:rPr>
              <a:t>Ramadan</a:t>
            </a:r>
            <a:endParaRPr sz="1200">
              <a:latin typeface="Arial"/>
              <a:cs typeface="Arial"/>
            </a:endParaRPr>
          </a:p>
          <a:p>
            <a:pPr marL="469900" indent="-229235">
              <a:lnSpc>
                <a:spcPts val="1380"/>
              </a:lnSpc>
              <a:buAutoNum type="arabicPeriod" startAt="11"/>
              <a:tabLst>
                <a:tab pos="470534" algn="l"/>
              </a:tabLst>
            </a:pPr>
            <a:r>
              <a:rPr dirty="0" sz="1200" spc="-5">
                <a:latin typeface="Arial"/>
                <a:cs typeface="Arial"/>
              </a:rPr>
              <a:t>Purifying </a:t>
            </a:r>
            <a:r>
              <a:rPr dirty="0" sz="1200">
                <a:latin typeface="Arial"/>
                <a:cs typeface="Arial"/>
              </a:rPr>
              <a:t>social tax </a:t>
            </a:r>
            <a:r>
              <a:rPr dirty="0" sz="1200" spc="-5">
                <a:latin typeface="Arial"/>
                <a:cs typeface="Arial"/>
              </a:rPr>
              <a:t>[zakat] made obligatory </a:t>
            </a:r>
            <a:r>
              <a:rPr dirty="0" sz="1200">
                <a:latin typeface="Arial"/>
                <a:cs typeface="Arial"/>
              </a:rPr>
              <a:t>as</a:t>
            </a:r>
            <a:r>
              <a:rPr dirty="0" sz="1200" spc="-30">
                <a:latin typeface="Arial"/>
                <a:cs typeface="Arial"/>
              </a:rPr>
              <a:t> </a:t>
            </a:r>
            <a:r>
              <a:rPr dirty="0" sz="1200" spc="-5">
                <a:latin typeface="Arial"/>
                <a:cs typeface="Arial"/>
              </a:rPr>
              <a:t>well</a:t>
            </a:r>
            <a:endParaRPr sz="1200">
              <a:latin typeface="Arial"/>
              <a:cs typeface="Arial"/>
            </a:endParaRPr>
          </a:p>
          <a:p>
            <a:pPr marL="469900" indent="-229235">
              <a:lnSpc>
                <a:spcPts val="1380"/>
              </a:lnSpc>
              <a:buAutoNum type="arabicPeriod" startAt="11"/>
              <a:tabLst>
                <a:tab pos="470534" algn="l"/>
              </a:tabLst>
            </a:pPr>
            <a:r>
              <a:rPr dirty="0" sz="1200" spc="-5">
                <a:latin typeface="Arial"/>
                <a:cs typeface="Arial"/>
              </a:rPr>
              <a:t>Morality and spirituality</a:t>
            </a:r>
            <a:r>
              <a:rPr dirty="0" sz="1200">
                <a:latin typeface="Arial"/>
                <a:cs typeface="Arial"/>
              </a:rPr>
              <a:t> </a:t>
            </a:r>
            <a:r>
              <a:rPr dirty="0" sz="1200" spc="-5">
                <a:latin typeface="Arial"/>
                <a:cs typeface="Arial"/>
              </a:rPr>
              <a:t>prevailed</a:t>
            </a:r>
            <a:endParaRPr sz="1200">
              <a:latin typeface="Arial"/>
              <a:cs typeface="Arial"/>
            </a:endParaRPr>
          </a:p>
          <a:p>
            <a:pPr marL="469900" indent="-229235">
              <a:lnSpc>
                <a:spcPts val="1380"/>
              </a:lnSpc>
              <a:buAutoNum type="arabicPeriod" startAt="11"/>
              <a:tabLst>
                <a:tab pos="470534" algn="l"/>
              </a:tabLst>
            </a:pPr>
            <a:r>
              <a:rPr dirty="0" sz="1200" spc="-5">
                <a:latin typeface="Arial"/>
                <a:cs typeface="Arial"/>
              </a:rPr>
              <a:t>Rights </a:t>
            </a:r>
            <a:r>
              <a:rPr dirty="0" sz="1200">
                <a:latin typeface="Arial"/>
                <a:cs typeface="Arial"/>
              </a:rPr>
              <a:t>of </a:t>
            </a:r>
            <a:r>
              <a:rPr dirty="0" sz="1200" spc="-5">
                <a:latin typeface="Arial"/>
                <a:cs typeface="Arial"/>
              </a:rPr>
              <a:t>girls, women and </a:t>
            </a:r>
            <a:r>
              <a:rPr dirty="0" sz="1200">
                <a:latin typeface="Arial"/>
                <a:cs typeface="Arial"/>
              </a:rPr>
              <a:t>the</a:t>
            </a:r>
            <a:r>
              <a:rPr dirty="0" sz="1200" spc="-5">
                <a:latin typeface="Arial"/>
                <a:cs typeface="Arial"/>
              </a:rPr>
              <a:t> poor</a:t>
            </a:r>
            <a:endParaRPr sz="1200">
              <a:latin typeface="Arial"/>
              <a:cs typeface="Arial"/>
            </a:endParaRPr>
          </a:p>
          <a:p>
            <a:pPr marL="469900" indent="-229235">
              <a:lnSpc>
                <a:spcPts val="1410"/>
              </a:lnSpc>
              <a:buAutoNum type="arabicPeriod" startAt="11"/>
              <a:tabLst>
                <a:tab pos="470534" algn="l"/>
              </a:tabLst>
            </a:pPr>
            <a:r>
              <a:rPr dirty="0" sz="1200" spc="-5">
                <a:latin typeface="Arial"/>
                <a:cs typeface="Arial"/>
              </a:rPr>
              <a:t>The Shari‘ah elaborated and</a:t>
            </a:r>
            <a:r>
              <a:rPr dirty="0" sz="1200" spc="5">
                <a:latin typeface="Arial"/>
                <a:cs typeface="Arial"/>
              </a:rPr>
              <a:t> </a:t>
            </a:r>
            <a:r>
              <a:rPr dirty="0" sz="1200" spc="-5">
                <a:latin typeface="Arial"/>
                <a:cs typeface="Arial"/>
              </a:rPr>
              <a:t>amended</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What were the main features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Constitution </a:t>
            </a:r>
            <a:r>
              <a:rPr dirty="0" u="heavy" sz="1200" b="1" i="1">
                <a:uFill>
                  <a:solidFill>
                    <a:srgbClr val="000000"/>
                  </a:solidFill>
                </a:uFill>
                <a:latin typeface="Arial"/>
                <a:cs typeface="Arial"/>
              </a:rPr>
              <a:t>of</a:t>
            </a:r>
            <a:r>
              <a:rPr dirty="0" u="heavy" sz="1200" spc="30" b="1" i="1">
                <a:uFill>
                  <a:solidFill>
                    <a:srgbClr val="000000"/>
                  </a:solidFill>
                </a:uFill>
                <a:latin typeface="Arial"/>
                <a:cs typeface="Arial"/>
              </a:rPr>
              <a:t> </a:t>
            </a:r>
            <a:r>
              <a:rPr dirty="0" u="heavy" sz="1200" b="1" i="1">
                <a:uFill>
                  <a:solidFill>
                    <a:srgbClr val="000000"/>
                  </a:solidFill>
                </a:uFill>
                <a:latin typeface="Arial"/>
                <a:cs typeface="Arial"/>
              </a:rPr>
              <a:t>Madina?</a:t>
            </a:r>
            <a:endParaRPr sz="1200">
              <a:latin typeface="Arial"/>
              <a:cs typeface="Arial"/>
            </a:endParaRPr>
          </a:p>
          <a:p>
            <a:pPr>
              <a:lnSpc>
                <a:spcPct val="100000"/>
              </a:lnSpc>
              <a:spcBef>
                <a:spcPts val="55"/>
              </a:spcBef>
            </a:pPr>
            <a:endParaRPr sz="1150">
              <a:latin typeface="Arial"/>
              <a:cs typeface="Arial"/>
            </a:endParaRPr>
          </a:p>
          <a:p>
            <a:pPr algn="just" marL="469900" marR="8255" indent="-229235">
              <a:lnSpc>
                <a:spcPct val="95900"/>
              </a:lnSpc>
              <a:buAutoNum type="arabicPeriod"/>
              <a:tabLst>
                <a:tab pos="470534" algn="l"/>
              </a:tabLst>
            </a:pPr>
            <a:r>
              <a:rPr dirty="0" sz="1200" spc="-5">
                <a:latin typeface="Arial"/>
                <a:cs typeface="Arial"/>
              </a:rPr>
              <a:t>Prophet Muhammad made the </a:t>
            </a:r>
            <a:r>
              <a:rPr dirty="0" sz="1200">
                <a:latin typeface="Arial"/>
                <a:cs typeface="Arial"/>
              </a:rPr>
              <a:t>first </a:t>
            </a:r>
            <a:r>
              <a:rPr dirty="0" sz="1200" spc="-5">
                <a:latin typeface="Arial"/>
                <a:cs typeface="Arial"/>
              </a:rPr>
              <a:t>and formal agreement between himself and all of  </a:t>
            </a:r>
            <a:r>
              <a:rPr dirty="0" sz="1200">
                <a:latin typeface="Arial"/>
                <a:cs typeface="Arial"/>
              </a:rPr>
              <a:t>the </a:t>
            </a:r>
            <a:r>
              <a:rPr dirty="0" sz="1200" spc="-5">
                <a:latin typeface="Arial"/>
                <a:cs typeface="Arial"/>
              </a:rPr>
              <a:t>significant tribes and </a:t>
            </a:r>
            <a:r>
              <a:rPr dirty="0" sz="1200">
                <a:latin typeface="Arial"/>
                <a:cs typeface="Arial"/>
              </a:rPr>
              <a:t>families </a:t>
            </a:r>
            <a:r>
              <a:rPr dirty="0" sz="1200" spc="-5">
                <a:latin typeface="Arial"/>
                <a:cs typeface="Arial"/>
              </a:rPr>
              <a:t>of Yathrib </a:t>
            </a:r>
            <a:r>
              <a:rPr dirty="0" sz="1200">
                <a:latin typeface="Arial"/>
                <a:cs typeface="Arial"/>
              </a:rPr>
              <a:t>[later </a:t>
            </a:r>
            <a:r>
              <a:rPr dirty="0" sz="1200" spc="-5">
                <a:latin typeface="Arial"/>
                <a:cs typeface="Arial"/>
              </a:rPr>
              <a:t>known as Medina] and those </a:t>
            </a:r>
            <a:r>
              <a:rPr dirty="0" sz="1200" spc="-10">
                <a:latin typeface="Arial"/>
                <a:cs typeface="Arial"/>
              </a:rPr>
              <a:t>who  </a:t>
            </a:r>
            <a:r>
              <a:rPr dirty="0" sz="1200" spc="-5">
                <a:latin typeface="Arial"/>
                <a:cs typeface="Arial"/>
              </a:rPr>
              <a:t>followed them from Mecca in 622 </a:t>
            </a:r>
            <a:r>
              <a:rPr dirty="0" sz="1200">
                <a:latin typeface="Arial"/>
                <a:cs typeface="Arial"/>
              </a:rPr>
              <a:t>[also </a:t>
            </a:r>
            <a:r>
              <a:rPr dirty="0" sz="1200" spc="-10">
                <a:latin typeface="Arial"/>
                <a:cs typeface="Arial"/>
              </a:rPr>
              <a:t>known </a:t>
            </a:r>
            <a:r>
              <a:rPr dirty="0" sz="1200" spc="-5">
                <a:latin typeface="Arial"/>
                <a:cs typeface="Arial"/>
              </a:rPr>
              <a:t>as </a:t>
            </a:r>
            <a:r>
              <a:rPr dirty="0" sz="1200">
                <a:latin typeface="Arial"/>
                <a:cs typeface="Arial"/>
              </a:rPr>
              <a:t>the </a:t>
            </a:r>
            <a:r>
              <a:rPr dirty="0" sz="1200" spc="-5">
                <a:latin typeface="Arial"/>
                <a:cs typeface="Arial"/>
              </a:rPr>
              <a:t>Constitution or </a:t>
            </a:r>
            <a:r>
              <a:rPr dirty="0" sz="1200">
                <a:latin typeface="Arial"/>
                <a:cs typeface="Arial"/>
              </a:rPr>
              <a:t>Charter </a:t>
            </a:r>
            <a:r>
              <a:rPr dirty="0" sz="1200" spc="-5">
                <a:latin typeface="Arial"/>
                <a:cs typeface="Arial"/>
              </a:rPr>
              <a:t>of  Medina]</a:t>
            </a:r>
            <a:endParaRPr sz="1200">
              <a:latin typeface="Arial"/>
              <a:cs typeface="Arial"/>
            </a:endParaRPr>
          </a:p>
          <a:p>
            <a:pPr algn="just" marL="469900" marR="10795" indent="-229235">
              <a:lnSpc>
                <a:spcPts val="1380"/>
              </a:lnSpc>
              <a:spcBef>
                <a:spcPts val="35"/>
              </a:spcBef>
              <a:buAutoNum type="arabicPeriod"/>
              <a:tabLst>
                <a:tab pos="470534" algn="l"/>
              </a:tabLst>
            </a:pPr>
            <a:r>
              <a:rPr dirty="0" sz="1200" spc="-5">
                <a:latin typeface="Arial"/>
                <a:cs typeface="Arial"/>
              </a:rPr>
              <a:t>The document </a:t>
            </a:r>
            <a:r>
              <a:rPr dirty="0" sz="1200" spc="-10">
                <a:latin typeface="Arial"/>
                <a:cs typeface="Arial"/>
              </a:rPr>
              <a:t>was </a:t>
            </a:r>
            <a:r>
              <a:rPr dirty="0" sz="1200" spc="-5">
                <a:latin typeface="Arial"/>
                <a:cs typeface="Arial"/>
              </a:rPr>
              <a:t>drawn up with </a:t>
            </a:r>
            <a:r>
              <a:rPr dirty="0" sz="1200">
                <a:latin typeface="Arial"/>
                <a:cs typeface="Arial"/>
              </a:rPr>
              <a:t>the </a:t>
            </a:r>
            <a:r>
              <a:rPr dirty="0" sz="1200" spc="-5">
                <a:latin typeface="Arial"/>
                <a:cs typeface="Arial"/>
              </a:rPr>
              <a:t>explicit concern of tribal fighting between the  </a:t>
            </a:r>
            <a:r>
              <a:rPr dirty="0" sz="1200">
                <a:latin typeface="Arial"/>
                <a:cs typeface="Arial"/>
              </a:rPr>
              <a:t>clans </a:t>
            </a:r>
            <a:r>
              <a:rPr dirty="0" sz="1200" spc="-5">
                <a:latin typeface="Arial"/>
                <a:cs typeface="Arial"/>
              </a:rPr>
              <a:t>of were</a:t>
            </a:r>
            <a:r>
              <a:rPr dirty="0" sz="1200">
                <a:latin typeface="Arial"/>
                <a:cs typeface="Arial"/>
              </a:rPr>
              <a:t> </a:t>
            </a:r>
            <a:r>
              <a:rPr dirty="0" sz="1200" spc="-5">
                <a:latin typeface="Arial"/>
                <a:cs typeface="Arial"/>
              </a:rPr>
              <a:t>buried.</a:t>
            </a:r>
            <a:endParaRPr sz="1200">
              <a:latin typeface="Arial"/>
              <a:cs typeface="Arial"/>
            </a:endParaRPr>
          </a:p>
          <a:p>
            <a:pPr algn="just" marL="469900" marR="10795" indent="-229235">
              <a:lnSpc>
                <a:spcPts val="1380"/>
              </a:lnSpc>
              <a:buAutoNum type="arabicPeriod"/>
              <a:tabLst>
                <a:tab pos="470534" algn="l"/>
              </a:tabLst>
            </a:pPr>
            <a:r>
              <a:rPr dirty="0" sz="1200">
                <a:latin typeface="Arial"/>
                <a:cs typeface="Arial"/>
              </a:rPr>
              <a:t>It </a:t>
            </a:r>
            <a:r>
              <a:rPr dirty="0" sz="1200" spc="-5">
                <a:latin typeface="Arial"/>
                <a:cs typeface="Arial"/>
              </a:rPr>
              <a:t>effectively established </a:t>
            </a:r>
            <a:r>
              <a:rPr dirty="0" sz="1200">
                <a:latin typeface="Arial"/>
                <a:cs typeface="Arial"/>
              </a:rPr>
              <a:t>the first Islamic </a:t>
            </a:r>
            <a:r>
              <a:rPr dirty="0" sz="1200" spc="-5">
                <a:latin typeface="Arial"/>
                <a:cs typeface="Arial"/>
              </a:rPr>
              <a:t>state, yet </a:t>
            </a:r>
            <a:r>
              <a:rPr dirty="0" sz="1200">
                <a:latin typeface="Arial"/>
                <a:cs typeface="Arial"/>
              </a:rPr>
              <a:t>this </a:t>
            </a:r>
            <a:r>
              <a:rPr dirty="0" sz="1200" spc="-5">
                <a:latin typeface="Arial"/>
                <a:cs typeface="Arial"/>
              </a:rPr>
              <a:t>political entity </a:t>
            </a:r>
            <a:r>
              <a:rPr dirty="0" sz="1200" spc="-10">
                <a:latin typeface="Arial"/>
                <a:cs typeface="Arial"/>
              </a:rPr>
              <a:t>was </a:t>
            </a:r>
            <a:r>
              <a:rPr dirty="0" sz="1200" spc="-5">
                <a:latin typeface="Arial"/>
                <a:cs typeface="Arial"/>
              </a:rPr>
              <a:t>not </a:t>
            </a:r>
            <a:r>
              <a:rPr dirty="0" sz="1200">
                <a:latin typeface="Arial"/>
                <a:cs typeface="Arial"/>
              </a:rPr>
              <a:t>Islamic  </a:t>
            </a:r>
            <a:r>
              <a:rPr dirty="0" sz="1200" spc="-5">
                <a:latin typeface="Arial"/>
                <a:cs typeface="Arial"/>
              </a:rPr>
              <a:t>law [Shari‘ah] but rather by established tribal</a:t>
            </a:r>
            <a:r>
              <a:rPr dirty="0" sz="1200" spc="10">
                <a:latin typeface="Arial"/>
                <a:cs typeface="Arial"/>
              </a:rPr>
              <a:t> </a:t>
            </a:r>
            <a:r>
              <a:rPr dirty="0" sz="1200" spc="-5">
                <a:latin typeface="Arial"/>
                <a:cs typeface="Arial"/>
              </a:rPr>
              <a:t>customs</a:t>
            </a:r>
            <a:endParaRPr sz="1200">
              <a:latin typeface="Arial"/>
              <a:cs typeface="Arial"/>
            </a:endParaRPr>
          </a:p>
          <a:p>
            <a:pPr algn="just" marL="469900" marR="6350" indent="-229235">
              <a:lnSpc>
                <a:spcPts val="1380"/>
              </a:lnSpc>
              <a:buAutoNum type="arabicPeriod"/>
              <a:tabLst>
                <a:tab pos="470534" algn="l"/>
              </a:tabLst>
            </a:pPr>
            <a:r>
              <a:rPr dirty="0" sz="1200">
                <a:latin typeface="Arial"/>
                <a:cs typeface="Arial"/>
              </a:rPr>
              <a:t>It </a:t>
            </a:r>
            <a:r>
              <a:rPr dirty="0" sz="1200" spc="-5">
                <a:latin typeface="Arial"/>
                <a:cs typeface="Arial"/>
              </a:rPr>
              <a:t>normalized tribal </a:t>
            </a:r>
            <a:r>
              <a:rPr dirty="0" sz="1200">
                <a:latin typeface="Arial"/>
                <a:cs typeface="Arial"/>
              </a:rPr>
              <a:t>relations </a:t>
            </a:r>
            <a:r>
              <a:rPr dirty="0" sz="1200" spc="-5">
                <a:latin typeface="Arial"/>
                <a:cs typeface="Arial"/>
              </a:rPr>
              <a:t>within Medina, instituted a number of rights and  responsibilities </a:t>
            </a:r>
            <a:r>
              <a:rPr dirty="0" sz="1200">
                <a:latin typeface="Arial"/>
                <a:cs typeface="Arial"/>
              </a:rPr>
              <a:t>for the </a:t>
            </a:r>
            <a:r>
              <a:rPr dirty="0" sz="1200" spc="-5">
                <a:latin typeface="Arial"/>
                <a:cs typeface="Arial"/>
              </a:rPr>
              <a:t>Muslim, Jewish, Christian and pagan communities bringing  them within </a:t>
            </a:r>
            <a:r>
              <a:rPr dirty="0" sz="1200">
                <a:latin typeface="Arial"/>
                <a:cs typeface="Arial"/>
              </a:rPr>
              <a:t>the fold </a:t>
            </a:r>
            <a:r>
              <a:rPr dirty="0" sz="1200" spc="-5">
                <a:latin typeface="Arial"/>
                <a:cs typeface="Arial"/>
              </a:rPr>
              <a:t>of one</a:t>
            </a:r>
            <a:r>
              <a:rPr dirty="0" sz="1200" spc="-10">
                <a:latin typeface="Arial"/>
                <a:cs typeface="Arial"/>
              </a:rPr>
              <a:t> </a:t>
            </a:r>
            <a:r>
              <a:rPr dirty="0" sz="1200" spc="-5">
                <a:latin typeface="Arial"/>
                <a:cs typeface="Arial"/>
              </a:rPr>
              <a:t>community.</a:t>
            </a:r>
            <a:endParaRPr sz="1200">
              <a:latin typeface="Arial"/>
              <a:cs typeface="Arial"/>
            </a:endParaRPr>
          </a:p>
          <a:p>
            <a:pPr algn="just" marL="469900" indent="-229235">
              <a:lnSpc>
                <a:spcPts val="1315"/>
              </a:lnSpc>
              <a:buAutoNum type="arabicPeriod"/>
              <a:tabLst>
                <a:tab pos="470534" algn="l"/>
              </a:tabLst>
            </a:pPr>
            <a:r>
              <a:rPr dirty="0" sz="1200" spc="-5">
                <a:latin typeface="Arial"/>
                <a:cs typeface="Arial"/>
              </a:rPr>
              <a:t>He guaranteed religious freedom and tolerance </a:t>
            </a:r>
            <a:r>
              <a:rPr dirty="0" sz="1200">
                <a:latin typeface="Arial"/>
                <a:cs typeface="Arial"/>
              </a:rPr>
              <a:t>to</a:t>
            </a:r>
            <a:r>
              <a:rPr dirty="0" sz="1200" spc="15">
                <a:latin typeface="Arial"/>
                <a:cs typeface="Arial"/>
              </a:rPr>
              <a:t> </a:t>
            </a:r>
            <a:r>
              <a:rPr dirty="0" sz="1200" spc="-5">
                <a:latin typeface="Arial"/>
                <a:cs typeface="Arial"/>
              </a:rPr>
              <a:t>all</a:t>
            </a:r>
            <a:endParaRPr sz="1200">
              <a:latin typeface="Arial"/>
              <a:cs typeface="Arial"/>
            </a:endParaRPr>
          </a:p>
          <a:p>
            <a:pPr marL="469900" marR="10795" indent="-229235">
              <a:lnSpc>
                <a:spcPts val="1380"/>
              </a:lnSpc>
              <a:spcBef>
                <a:spcPts val="65"/>
              </a:spcBef>
              <a:buAutoNum type="arabicPeriod"/>
              <a:tabLst>
                <a:tab pos="470534" algn="l"/>
              </a:tabLst>
            </a:pPr>
            <a:r>
              <a:rPr dirty="0" sz="1200" spc="-5">
                <a:latin typeface="Arial"/>
                <a:cs typeface="Arial"/>
              </a:rPr>
              <a:t>He established parameters </a:t>
            </a:r>
            <a:r>
              <a:rPr dirty="0" sz="1200">
                <a:latin typeface="Arial"/>
                <a:cs typeface="Arial"/>
              </a:rPr>
              <a:t>for </a:t>
            </a:r>
            <a:r>
              <a:rPr dirty="0" sz="1200" spc="-5">
                <a:latin typeface="Arial"/>
                <a:cs typeface="Arial"/>
              </a:rPr>
              <a:t>political alliances e.g. making peace together with  outsiders</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There </a:t>
            </a:r>
            <a:r>
              <a:rPr dirty="0" sz="1200">
                <a:latin typeface="Arial"/>
                <a:cs typeface="Arial"/>
              </a:rPr>
              <a:t>must </a:t>
            </a:r>
            <a:r>
              <a:rPr dirty="0" sz="1200" spc="-5">
                <a:latin typeface="Arial"/>
                <a:cs typeface="Arial"/>
              </a:rPr>
              <a:t>be mutual advice and</a:t>
            </a:r>
            <a:r>
              <a:rPr dirty="0" sz="1200" spc="-10">
                <a:latin typeface="Arial"/>
                <a:cs typeface="Arial"/>
              </a:rPr>
              <a:t> </a:t>
            </a:r>
            <a:r>
              <a:rPr dirty="0" sz="1200" spc="-5">
                <a:latin typeface="Arial"/>
                <a:cs typeface="Arial"/>
              </a:rPr>
              <a:t>consultation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All </a:t>
            </a:r>
            <a:r>
              <a:rPr dirty="0" sz="1200">
                <a:latin typeface="Arial"/>
                <a:cs typeface="Arial"/>
              </a:rPr>
              <a:t>parties </a:t>
            </a:r>
            <a:r>
              <a:rPr dirty="0" sz="1200" spc="-5">
                <a:latin typeface="Arial"/>
                <a:cs typeface="Arial"/>
              </a:rPr>
              <a:t>would </a:t>
            </a:r>
            <a:r>
              <a:rPr dirty="0" sz="1200" spc="-10">
                <a:latin typeface="Arial"/>
                <a:cs typeface="Arial"/>
              </a:rPr>
              <a:t>defend</a:t>
            </a:r>
            <a:r>
              <a:rPr dirty="0" sz="1200">
                <a:latin typeface="Arial"/>
                <a:cs typeface="Arial"/>
              </a:rPr>
              <a:t> </a:t>
            </a:r>
            <a:r>
              <a:rPr dirty="0" sz="1200" spc="-5">
                <a:latin typeface="Arial"/>
                <a:cs typeface="Arial"/>
              </a:rPr>
              <a:t>Medina</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established Medina </a:t>
            </a:r>
            <a:r>
              <a:rPr dirty="0" sz="1200">
                <a:latin typeface="Arial"/>
                <a:cs typeface="Arial"/>
              </a:rPr>
              <a:t>as </a:t>
            </a:r>
            <a:r>
              <a:rPr dirty="0" sz="1200" spc="-5">
                <a:latin typeface="Arial"/>
                <a:cs typeface="Arial"/>
              </a:rPr>
              <a:t>a sacred</a:t>
            </a:r>
            <a:r>
              <a:rPr dirty="0" sz="1200" spc="25">
                <a:latin typeface="Arial"/>
                <a:cs typeface="Arial"/>
              </a:rPr>
              <a:t> </a:t>
            </a:r>
            <a:r>
              <a:rPr dirty="0" sz="1200" spc="-5">
                <a:latin typeface="Arial"/>
                <a:cs typeface="Arial"/>
              </a:rPr>
              <a:t>place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ensured the security </a:t>
            </a:r>
            <a:r>
              <a:rPr dirty="0" sz="1200">
                <a:latin typeface="Arial"/>
                <a:cs typeface="Arial"/>
              </a:rPr>
              <a:t>of </a:t>
            </a:r>
            <a:r>
              <a:rPr dirty="0" sz="1200" spc="-5">
                <a:latin typeface="Arial"/>
                <a:cs typeface="Arial"/>
              </a:rPr>
              <a:t>the</a:t>
            </a:r>
            <a:r>
              <a:rPr dirty="0" sz="1200" spc="20">
                <a:latin typeface="Arial"/>
                <a:cs typeface="Arial"/>
              </a:rPr>
              <a:t> </a:t>
            </a:r>
            <a:r>
              <a:rPr dirty="0" sz="1200" spc="-5">
                <a:latin typeface="Arial"/>
                <a:cs typeface="Arial"/>
              </a:rPr>
              <a:t>community</a:t>
            </a:r>
            <a:endParaRPr sz="1200">
              <a:latin typeface="Arial"/>
              <a:cs typeface="Arial"/>
            </a:endParaRPr>
          </a:p>
          <a:p>
            <a:pPr marL="469900" marR="11430" indent="-229235">
              <a:lnSpc>
                <a:spcPts val="1380"/>
              </a:lnSpc>
              <a:spcBef>
                <a:spcPts val="70"/>
              </a:spcBef>
              <a:buAutoNum type="arabicPeriod"/>
              <a:tabLst>
                <a:tab pos="470534" algn="l"/>
              </a:tabLst>
            </a:pPr>
            <a:r>
              <a:rPr dirty="0" sz="1200" spc="-5">
                <a:latin typeface="Arial"/>
                <a:cs typeface="Arial"/>
              </a:rPr>
              <a:t>He created a system </a:t>
            </a:r>
            <a:r>
              <a:rPr dirty="0" sz="1200">
                <a:latin typeface="Arial"/>
                <a:cs typeface="Arial"/>
              </a:rPr>
              <a:t>for </a:t>
            </a:r>
            <a:r>
              <a:rPr dirty="0" sz="1200" spc="-5">
                <a:latin typeface="Arial"/>
                <a:cs typeface="Arial"/>
              </a:rPr>
              <a:t>granting protection to all individuals, especially </a:t>
            </a:r>
            <a:r>
              <a:rPr dirty="0" sz="1200">
                <a:latin typeface="Arial"/>
                <a:cs typeface="Arial"/>
              </a:rPr>
              <a:t>the </a:t>
            </a:r>
            <a:r>
              <a:rPr dirty="0" sz="1200" spc="-5">
                <a:latin typeface="Arial"/>
                <a:cs typeface="Arial"/>
              </a:rPr>
              <a:t>security of  women</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He established a tax system </a:t>
            </a:r>
            <a:r>
              <a:rPr dirty="0" sz="1200">
                <a:latin typeface="Arial"/>
                <a:cs typeface="Arial"/>
              </a:rPr>
              <a:t>for </a:t>
            </a:r>
            <a:r>
              <a:rPr dirty="0" sz="1200" spc="-5">
                <a:latin typeface="Arial"/>
                <a:cs typeface="Arial"/>
              </a:rPr>
              <a:t>supporting the community in time of</a:t>
            </a:r>
            <a:r>
              <a:rPr dirty="0" sz="1200" spc="45">
                <a:latin typeface="Arial"/>
                <a:cs typeface="Arial"/>
              </a:rPr>
              <a:t> </a:t>
            </a:r>
            <a:r>
              <a:rPr dirty="0" sz="1200">
                <a:latin typeface="Arial"/>
                <a:cs typeface="Arial"/>
              </a:rPr>
              <a:t>conflict</a:t>
            </a:r>
            <a:endParaRPr sz="1200">
              <a:latin typeface="Arial"/>
              <a:cs typeface="Arial"/>
            </a:endParaRPr>
          </a:p>
          <a:p>
            <a:pPr algn="just" marL="469900" marR="10160" indent="-229235">
              <a:lnSpc>
                <a:spcPts val="1380"/>
              </a:lnSpc>
              <a:spcBef>
                <a:spcPts val="65"/>
              </a:spcBef>
              <a:buAutoNum type="arabicPeriod"/>
              <a:tabLst>
                <a:tab pos="470534" algn="l"/>
              </a:tabLst>
            </a:pPr>
            <a:r>
              <a:rPr dirty="0" sz="1200" spc="-5">
                <a:latin typeface="Arial"/>
                <a:cs typeface="Arial"/>
              </a:rPr>
              <a:t>He instituted a judicial system </a:t>
            </a:r>
            <a:r>
              <a:rPr dirty="0" sz="1200">
                <a:latin typeface="Arial"/>
                <a:cs typeface="Arial"/>
              </a:rPr>
              <a:t>for </a:t>
            </a:r>
            <a:r>
              <a:rPr dirty="0" sz="1200" spc="-5">
                <a:latin typeface="Arial"/>
                <a:cs typeface="Arial"/>
              </a:rPr>
              <a:t>resolving disputes; only when people would differ </a:t>
            </a:r>
            <a:r>
              <a:rPr dirty="0" sz="1200">
                <a:latin typeface="Arial"/>
                <a:cs typeface="Arial"/>
              </a:rPr>
              <a:t>it  </a:t>
            </a:r>
            <a:r>
              <a:rPr dirty="0" sz="1200" spc="-5">
                <a:latin typeface="Arial"/>
                <a:cs typeface="Arial"/>
              </a:rPr>
              <a:t>would be referred </a:t>
            </a:r>
            <a:r>
              <a:rPr dirty="0" sz="1200">
                <a:latin typeface="Arial"/>
                <a:cs typeface="Arial"/>
              </a:rPr>
              <a:t>to God </a:t>
            </a:r>
            <a:r>
              <a:rPr dirty="0" sz="1200" spc="-5">
                <a:latin typeface="Arial"/>
                <a:cs typeface="Arial"/>
              </a:rPr>
              <a:t>and </a:t>
            </a:r>
            <a:r>
              <a:rPr dirty="0" sz="1200">
                <a:latin typeface="Arial"/>
                <a:cs typeface="Arial"/>
              </a:rPr>
              <a:t>to the </a:t>
            </a:r>
            <a:r>
              <a:rPr dirty="0" sz="1200" spc="-5">
                <a:latin typeface="Arial"/>
                <a:cs typeface="Arial"/>
              </a:rPr>
              <a:t>Prophet </a:t>
            </a:r>
            <a:r>
              <a:rPr dirty="0" sz="1200" spc="-10">
                <a:latin typeface="Arial"/>
                <a:cs typeface="Arial"/>
              </a:rPr>
              <a:t>who </a:t>
            </a:r>
            <a:r>
              <a:rPr dirty="0" sz="1200" spc="-5">
                <a:latin typeface="Arial"/>
                <a:cs typeface="Arial"/>
              </a:rPr>
              <a:t>would be impartial arbiter of  disputes between Muslims; his decision would be</a:t>
            </a:r>
            <a:r>
              <a:rPr dirty="0" sz="1200" spc="10">
                <a:latin typeface="Arial"/>
                <a:cs typeface="Arial"/>
              </a:rPr>
              <a:t> </a:t>
            </a:r>
            <a:r>
              <a:rPr dirty="0" sz="1200" spc="-5">
                <a:latin typeface="Arial"/>
                <a:cs typeface="Arial"/>
              </a:rPr>
              <a:t>final</a:t>
            </a:r>
            <a:endParaRPr sz="1200">
              <a:latin typeface="Arial"/>
              <a:cs typeface="Arial"/>
            </a:endParaRPr>
          </a:p>
          <a:p>
            <a:pPr algn="just" marL="469900" indent="-229235">
              <a:lnSpc>
                <a:spcPts val="1300"/>
              </a:lnSpc>
              <a:buAutoNum type="arabicPeriod"/>
              <a:tabLst>
                <a:tab pos="470534" algn="l"/>
              </a:tabLst>
            </a:pPr>
            <a:r>
              <a:rPr dirty="0" sz="1200" spc="-5">
                <a:latin typeface="Arial"/>
                <a:cs typeface="Arial"/>
              </a:rPr>
              <a:t>The payment of blood money </a:t>
            </a:r>
            <a:r>
              <a:rPr dirty="0" sz="1200">
                <a:latin typeface="Arial"/>
                <a:cs typeface="Arial"/>
              </a:rPr>
              <a:t>[for </a:t>
            </a:r>
            <a:r>
              <a:rPr dirty="0" sz="1200" spc="-5">
                <a:latin typeface="Arial"/>
                <a:cs typeface="Arial"/>
              </a:rPr>
              <a:t>the slaying of </a:t>
            </a:r>
            <a:r>
              <a:rPr dirty="0" sz="1200">
                <a:latin typeface="Arial"/>
                <a:cs typeface="Arial"/>
              </a:rPr>
              <a:t>an </a:t>
            </a:r>
            <a:r>
              <a:rPr dirty="0" sz="1200" spc="-5">
                <a:latin typeface="Arial"/>
                <a:cs typeface="Arial"/>
              </a:rPr>
              <a:t>individual] instead of taking</a:t>
            </a:r>
            <a:r>
              <a:rPr dirty="0" sz="1200" spc="170">
                <a:latin typeface="Arial"/>
                <a:cs typeface="Arial"/>
              </a:rPr>
              <a:t> </a:t>
            </a:r>
            <a:r>
              <a:rPr dirty="0" sz="1200" spc="-5">
                <a:latin typeface="Arial"/>
                <a:cs typeface="Arial"/>
              </a:rPr>
              <a:t>another</a:t>
            </a:r>
            <a:endParaRPr sz="1200">
              <a:latin typeface="Arial"/>
              <a:cs typeface="Arial"/>
            </a:endParaRPr>
          </a:p>
          <a:p>
            <a:pPr algn="just" marL="469900">
              <a:lnSpc>
                <a:spcPts val="1380"/>
              </a:lnSpc>
            </a:pPr>
            <a:r>
              <a:rPr dirty="0" sz="1200">
                <a:latin typeface="Arial"/>
                <a:cs typeface="Arial"/>
              </a:rPr>
              <a:t>life, </a:t>
            </a:r>
            <a:r>
              <a:rPr dirty="0" sz="1200" spc="-5">
                <a:latin typeface="Arial"/>
                <a:cs typeface="Arial"/>
              </a:rPr>
              <a:t>would be regulated</a:t>
            </a:r>
            <a:endParaRPr sz="1200">
              <a:latin typeface="Arial"/>
              <a:cs typeface="Arial"/>
            </a:endParaRPr>
          </a:p>
          <a:p>
            <a:pPr algn="just" marL="469900" indent="-229235">
              <a:lnSpc>
                <a:spcPts val="1410"/>
              </a:lnSpc>
              <a:buAutoNum type="arabicPeriod" startAt="15"/>
              <a:tabLst>
                <a:tab pos="470534" algn="l"/>
              </a:tabLst>
            </a:pPr>
            <a:r>
              <a:rPr dirty="0" sz="1200" spc="-5">
                <a:latin typeface="Arial"/>
                <a:cs typeface="Arial"/>
              </a:rPr>
              <a:t>The motto </a:t>
            </a:r>
            <a:r>
              <a:rPr dirty="0" sz="1200" spc="-10">
                <a:latin typeface="Arial"/>
                <a:cs typeface="Arial"/>
              </a:rPr>
              <a:t>was </a:t>
            </a:r>
            <a:r>
              <a:rPr dirty="0" sz="1200" spc="-5">
                <a:latin typeface="Arial"/>
                <a:cs typeface="Arial"/>
              </a:rPr>
              <a:t>morality </a:t>
            </a:r>
            <a:r>
              <a:rPr dirty="0" sz="1200">
                <a:latin typeface="Arial"/>
                <a:cs typeface="Arial"/>
              </a:rPr>
              <a:t>and</a:t>
            </a:r>
            <a:r>
              <a:rPr dirty="0" sz="1200" spc="-10">
                <a:latin typeface="Arial"/>
                <a:cs typeface="Arial"/>
              </a:rPr>
              <a:t> </a:t>
            </a:r>
            <a:r>
              <a:rPr dirty="0" sz="1200">
                <a:latin typeface="Arial"/>
                <a:cs typeface="Arial"/>
              </a:rPr>
              <a:t>faith.</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b="1" i="1">
                <a:uFill>
                  <a:solidFill>
                    <a:srgbClr val="000000"/>
                  </a:solidFill>
                </a:uFill>
                <a:latin typeface="Arial"/>
                <a:cs typeface="Arial"/>
              </a:rPr>
              <a:t>Proof </a:t>
            </a:r>
            <a:r>
              <a:rPr dirty="0" u="heavy" sz="1200" spc="-5" b="1" i="1">
                <a:uFill>
                  <a:solidFill>
                    <a:srgbClr val="000000"/>
                  </a:solidFill>
                </a:uFill>
                <a:latin typeface="Arial"/>
                <a:cs typeface="Arial"/>
              </a:rPr>
              <a:t>that Prophet Muhammad (s.a.w) was a</a:t>
            </a:r>
            <a:r>
              <a:rPr dirty="0" u="heavy" sz="1200" spc="30" b="1" i="1">
                <a:uFill>
                  <a:solidFill>
                    <a:srgbClr val="000000"/>
                  </a:solidFill>
                </a:uFill>
                <a:latin typeface="Arial"/>
                <a:cs typeface="Arial"/>
              </a:rPr>
              <a:t> </a:t>
            </a:r>
            <a:r>
              <a:rPr dirty="0" u="heavy" sz="1200" spc="-5" b="1" i="1">
                <a:uFill>
                  <a:solidFill>
                    <a:srgbClr val="000000"/>
                  </a:solidFill>
                </a:uFill>
                <a:latin typeface="Arial"/>
                <a:cs typeface="Arial"/>
              </a:rPr>
              <a:t>Prophet</a:t>
            </a:r>
            <a:endParaRPr sz="1200">
              <a:latin typeface="Arial"/>
              <a:cs typeface="Arial"/>
            </a:endParaRPr>
          </a:p>
          <a:p>
            <a:pPr>
              <a:lnSpc>
                <a:spcPct val="100000"/>
              </a:lnSpc>
              <a:spcBef>
                <a:spcPts val="55"/>
              </a:spcBef>
            </a:pPr>
            <a:endParaRPr sz="1100">
              <a:latin typeface="Arial"/>
              <a:cs typeface="Arial"/>
            </a:endParaRPr>
          </a:p>
          <a:p>
            <a:pPr algn="just" marL="469900" indent="-229235">
              <a:lnSpc>
                <a:spcPts val="1410"/>
              </a:lnSpc>
              <a:buAutoNum type="arabicPeriod"/>
              <a:tabLst>
                <a:tab pos="470534" algn="l"/>
              </a:tabLst>
            </a:pPr>
            <a:r>
              <a:rPr dirty="0" sz="1200" spc="-5">
                <a:latin typeface="Arial"/>
                <a:cs typeface="Arial"/>
              </a:rPr>
              <a:t>He </a:t>
            </a:r>
            <a:r>
              <a:rPr dirty="0" sz="1200" spc="-10">
                <a:latin typeface="Arial"/>
                <a:cs typeface="Arial"/>
              </a:rPr>
              <a:t>was </a:t>
            </a:r>
            <a:r>
              <a:rPr dirty="0" sz="1200" spc="-5">
                <a:latin typeface="Arial"/>
                <a:cs typeface="Arial"/>
              </a:rPr>
              <a:t>known </a:t>
            </a:r>
            <a:r>
              <a:rPr dirty="0" sz="1200">
                <a:latin typeface="Arial"/>
                <a:cs typeface="Arial"/>
              </a:rPr>
              <a:t>before </a:t>
            </a:r>
            <a:r>
              <a:rPr dirty="0" sz="1200" spc="-5">
                <a:latin typeface="Arial"/>
                <a:cs typeface="Arial"/>
              </a:rPr>
              <a:t>becoming a Prophet </a:t>
            </a:r>
            <a:r>
              <a:rPr dirty="0" sz="1200" spc="-10">
                <a:latin typeface="Arial"/>
                <a:cs typeface="Arial"/>
              </a:rPr>
              <a:t>as </a:t>
            </a:r>
            <a:r>
              <a:rPr dirty="0" sz="1200" spc="-5">
                <a:latin typeface="Arial"/>
                <a:cs typeface="Arial"/>
              </a:rPr>
              <a:t>a truthful and honest</a:t>
            </a:r>
            <a:r>
              <a:rPr dirty="0" sz="1200" spc="45">
                <a:latin typeface="Arial"/>
                <a:cs typeface="Arial"/>
              </a:rPr>
              <a:t> </a:t>
            </a:r>
            <a:r>
              <a:rPr dirty="0" sz="1200" spc="-5">
                <a:latin typeface="Arial"/>
                <a:cs typeface="Arial"/>
              </a:rPr>
              <a:t>person</a:t>
            </a:r>
            <a:endParaRPr sz="1200">
              <a:latin typeface="Arial"/>
              <a:cs typeface="Arial"/>
            </a:endParaRPr>
          </a:p>
          <a:p>
            <a:pPr algn="just" marL="469900" marR="10160" indent="-229235">
              <a:lnSpc>
                <a:spcPts val="1380"/>
              </a:lnSpc>
              <a:spcBef>
                <a:spcPts val="65"/>
              </a:spcBef>
              <a:buAutoNum type="arabicPeriod"/>
              <a:tabLst>
                <a:tab pos="470534" algn="l"/>
              </a:tabLst>
            </a:pPr>
            <a:r>
              <a:rPr dirty="0" sz="1200" spc="-5">
                <a:latin typeface="Arial"/>
                <a:cs typeface="Arial"/>
              </a:rPr>
              <a:t>His good biography and high </a:t>
            </a:r>
            <a:r>
              <a:rPr dirty="0" sz="1200">
                <a:latin typeface="Arial"/>
                <a:cs typeface="Arial"/>
              </a:rPr>
              <a:t>morals </a:t>
            </a:r>
            <a:r>
              <a:rPr dirty="0" sz="1200" spc="-5">
                <a:latin typeface="Arial"/>
                <a:cs typeface="Arial"/>
              </a:rPr>
              <a:t>as well as the noble qualities that distinguished  him</a:t>
            </a:r>
            <a:endParaRPr sz="1200">
              <a:latin typeface="Arial"/>
              <a:cs typeface="Arial"/>
            </a:endParaRPr>
          </a:p>
          <a:p>
            <a:pPr algn="just" marL="469900" marR="11430" indent="-229235">
              <a:lnSpc>
                <a:spcPts val="1380"/>
              </a:lnSpc>
              <a:buAutoNum type="arabicPeriod"/>
              <a:tabLst>
                <a:tab pos="470534" algn="l"/>
              </a:tabLst>
            </a:pPr>
            <a:r>
              <a:rPr dirty="0" sz="1200" spc="-5">
                <a:latin typeface="Arial"/>
                <a:cs typeface="Arial"/>
              </a:rPr>
              <a:t>The powers and </a:t>
            </a:r>
            <a:r>
              <a:rPr dirty="0" sz="1200">
                <a:latin typeface="Arial"/>
                <a:cs typeface="Arial"/>
              </a:rPr>
              <a:t>triumphs </a:t>
            </a:r>
            <a:r>
              <a:rPr dirty="0" sz="1200" spc="-5">
                <a:latin typeface="Arial"/>
                <a:cs typeface="Arial"/>
              </a:rPr>
              <a:t>Allaah </a:t>
            </a:r>
            <a:r>
              <a:rPr dirty="0" sz="1200" spc="-10">
                <a:latin typeface="Arial"/>
                <a:cs typeface="Arial"/>
              </a:rPr>
              <a:t>gave </a:t>
            </a:r>
            <a:r>
              <a:rPr dirty="0" sz="1200" spc="-5">
                <a:latin typeface="Arial"/>
                <a:cs typeface="Arial"/>
              </a:rPr>
              <a:t>him and </a:t>
            </a:r>
            <a:r>
              <a:rPr dirty="0" sz="1200">
                <a:latin typeface="Arial"/>
                <a:cs typeface="Arial"/>
              </a:rPr>
              <a:t>the </a:t>
            </a:r>
            <a:r>
              <a:rPr dirty="0" sz="1200" spc="-5">
                <a:latin typeface="Arial"/>
                <a:cs typeface="Arial"/>
              </a:rPr>
              <a:t>spread of the religion he preached,  as well </a:t>
            </a:r>
            <a:r>
              <a:rPr dirty="0" sz="1200">
                <a:latin typeface="Arial"/>
                <a:cs typeface="Arial"/>
              </a:rPr>
              <a:t>as </a:t>
            </a:r>
            <a:r>
              <a:rPr dirty="0" sz="1200" spc="-5">
                <a:latin typeface="Arial"/>
                <a:cs typeface="Arial"/>
              </a:rPr>
              <a:t>the triumph of this religion over all </a:t>
            </a:r>
            <a:r>
              <a:rPr dirty="0" sz="1200">
                <a:latin typeface="Arial"/>
                <a:cs typeface="Arial"/>
              </a:rPr>
              <a:t>existing </a:t>
            </a:r>
            <a:r>
              <a:rPr dirty="0" sz="1200" spc="-5">
                <a:latin typeface="Arial"/>
                <a:cs typeface="Arial"/>
              </a:rPr>
              <a:t>religions in a short period of</a:t>
            </a:r>
            <a:r>
              <a:rPr dirty="0" sz="1200" spc="160">
                <a:latin typeface="Arial"/>
                <a:cs typeface="Arial"/>
              </a:rPr>
              <a:t> </a:t>
            </a:r>
            <a:r>
              <a:rPr dirty="0" sz="1200" spc="-5">
                <a:latin typeface="Arial"/>
                <a:cs typeface="Arial"/>
              </a:rPr>
              <a:t>time</a:t>
            </a:r>
            <a:endParaRPr sz="1200">
              <a:latin typeface="Arial"/>
              <a:cs typeface="Arial"/>
            </a:endParaRPr>
          </a:p>
          <a:p>
            <a:pPr algn="just" marL="469900" marR="5080" indent="-229235">
              <a:lnSpc>
                <a:spcPts val="1380"/>
              </a:lnSpc>
              <a:buAutoNum type="arabicPeriod"/>
              <a:tabLst>
                <a:tab pos="470534" algn="l"/>
              </a:tabLst>
            </a:pPr>
            <a:r>
              <a:rPr dirty="0" sz="1200" spc="-5">
                <a:latin typeface="Arial"/>
                <a:cs typeface="Arial"/>
              </a:rPr>
              <a:t>The miracles Allaah </a:t>
            </a:r>
            <a:r>
              <a:rPr dirty="0" sz="1200" spc="-10">
                <a:latin typeface="Arial"/>
                <a:cs typeface="Arial"/>
              </a:rPr>
              <a:t>gave </a:t>
            </a:r>
            <a:r>
              <a:rPr dirty="0" sz="1200" spc="-5">
                <a:latin typeface="Arial"/>
                <a:cs typeface="Arial"/>
              </a:rPr>
              <a:t>him as supporting evidence were beyond </a:t>
            </a:r>
            <a:r>
              <a:rPr dirty="0" sz="1200">
                <a:latin typeface="Arial"/>
                <a:cs typeface="Arial"/>
              </a:rPr>
              <a:t>the </a:t>
            </a:r>
            <a:r>
              <a:rPr dirty="0" sz="1200" spc="-5">
                <a:latin typeface="Arial"/>
                <a:cs typeface="Arial"/>
              </a:rPr>
              <a:t>ability </a:t>
            </a:r>
            <a:r>
              <a:rPr dirty="0" sz="1200">
                <a:latin typeface="Arial"/>
                <a:cs typeface="Arial"/>
              </a:rPr>
              <a:t>of  </a:t>
            </a:r>
            <a:r>
              <a:rPr dirty="0" sz="1200" spc="-5">
                <a:latin typeface="Arial"/>
                <a:cs typeface="Arial"/>
              </a:rPr>
              <a:t>human beings and were beyond </a:t>
            </a:r>
            <a:r>
              <a:rPr dirty="0" sz="1200" spc="-10">
                <a:latin typeface="Arial"/>
                <a:cs typeface="Arial"/>
              </a:rPr>
              <a:t>range </a:t>
            </a:r>
            <a:r>
              <a:rPr dirty="0" sz="1200" spc="-5">
                <a:latin typeface="Arial"/>
                <a:cs typeface="Arial"/>
              </a:rPr>
              <a:t>of natural phenomena. The moon split </a:t>
            </a:r>
            <a:r>
              <a:rPr dirty="0" sz="1200">
                <a:latin typeface="Arial"/>
                <a:cs typeface="Arial"/>
              </a:rPr>
              <a:t>for </a:t>
            </a:r>
            <a:r>
              <a:rPr dirty="0" sz="1200" spc="-5">
                <a:latin typeface="Arial"/>
                <a:cs typeface="Arial"/>
              </a:rPr>
              <a:t>him,  water gushed from his </a:t>
            </a:r>
            <a:r>
              <a:rPr dirty="0" sz="1200">
                <a:latin typeface="Arial"/>
                <a:cs typeface="Arial"/>
              </a:rPr>
              <a:t>fingers, </a:t>
            </a:r>
            <a:r>
              <a:rPr dirty="0" sz="1200" spc="-5">
                <a:latin typeface="Arial"/>
                <a:cs typeface="Arial"/>
              </a:rPr>
              <a:t>food became </a:t>
            </a:r>
            <a:r>
              <a:rPr dirty="0" sz="1200">
                <a:latin typeface="Arial"/>
                <a:cs typeface="Arial"/>
              </a:rPr>
              <a:t>more </a:t>
            </a:r>
            <a:r>
              <a:rPr dirty="0" sz="1200" spc="-5">
                <a:latin typeface="Arial"/>
                <a:cs typeface="Arial"/>
              </a:rPr>
              <a:t>abundant in his hands, and similar  phenomena were authentically reported and happened in a </a:t>
            </a:r>
            <a:r>
              <a:rPr dirty="0" sz="1200" spc="-10">
                <a:latin typeface="Arial"/>
                <a:cs typeface="Arial"/>
              </a:rPr>
              <a:t>way </a:t>
            </a:r>
            <a:r>
              <a:rPr dirty="0" sz="1200" spc="-5">
                <a:latin typeface="Arial"/>
                <a:cs typeface="Arial"/>
              </a:rPr>
              <a:t>that could not </a:t>
            </a:r>
            <a:r>
              <a:rPr dirty="0" sz="1200" spc="-10">
                <a:latin typeface="Arial"/>
                <a:cs typeface="Arial"/>
              </a:rPr>
              <a:t>be  </a:t>
            </a:r>
            <a:r>
              <a:rPr dirty="0" sz="1200" spc="-5">
                <a:latin typeface="Arial"/>
                <a:cs typeface="Arial"/>
              </a:rPr>
              <a:t>denied</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p:nvPr/>
        </p:nvSpPr>
        <p:spPr>
          <a:xfrm>
            <a:off x="3026791"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28</a:t>
            </a:r>
            <a:endParaRPr sz="1200">
              <a:latin typeface="Times New Roman"/>
              <a:cs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0719" y="432307"/>
            <a:ext cx="6405880" cy="9222740"/>
          </a:xfrm>
          <a:prstGeom prst="rect">
            <a:avLst/>
          </a:prstGeom>
        </p:spPr>
        <p:txBody>
          <a:bodyPr wrap="square" lIns="0" tIns="12700" rIns="0" bIns="0" rtlCol="0" vert="horz">
            <a:spAutoFit/>
          </a:bodyPr>
          <a:lstStyle/>
          <a:p>
            <a:pPr marL="50800">
              <a:lnSpc>
                <a:spcPct val="100000"/>
              </a:lnSpc>
              <a:spcBef>
                <a:spcPts val="100"/>
              </a:spcBef>
              <a:tabLst>
                <a:tab pos="51022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5"/>
              </a:spcBef>
            </a:pPr>
            <a:endParaRPr sz="1250">
              <a:latin typeface="Times New Roman"/>
              <a:cs typeface="Times New Roman"/>
            </a:endParaRPr>
          </a:p>
          <a:p>
            <a:pPr algn="just" marL="508000" marR="60960" indent="-228600">
              <a:lnSpc>
                <a:spcPct val="96300"/>
              </a:lnSpc>
              <a:buAutoNum type="arabicPeriod" startAt="5"/>
              <a:tabLst>
                <a:tab pos="508634" algn="l"/>
              </a:tabLst>
            </a:pPr>
            <a:r>
              <a:rPr dirty="0" sz="1200" spc="-5">
                <a:latin typeface="Arial"/>
                <a:cs typeface="Arial"/>
              </a:rPr>
              <a:t>The Prophet </a:t>
            </a:r>
            <a:r>
              <a:rPr dirty="0" sz="1200" spc="-10">
                <a:latin typeface="Arial"/>
                <a:cs typeface="Arial"/>
              </a:rPr>
              <a:t>was </a:t>
            </a:r>
            <a:r>
              <a:rPr dirty="0" sz="1200" spc="-5">
                <a:latin typeface="Arial"/>
                <a:cs typeface="Arial"/>
              </a:rPr>
              <a:t>backed by </a:t>
            </a:r>
            <a:r>
              <a:rPr dirty="0" sz="1200">
                <a:latin typeface="Arial"/>
                <a:cs typeface="Arial"/>
              </a:rPr>
              <a:t>the </a:t>
            </a:r>
            <a:r>
              <a:rPr dirty="0" sz="1200" spc="-5">
                <a:latin typeface="Arial"/>
                <a:cs typeface="Arial"/>
              </a:rPr>
              <a:t>greatest miracle which is </a:t>
            </a:r>
            <a:r>
              <a:rPr dirty="0" sz="1200">
                <a:latin typeface="Arial"/>
                <a:cs typeface="Arial"/>
              </a:rPr>
              <a:t>the </a:t>
            </a:r>
            <a:r>
              <a:rPr dirty="0" sz="1200" spc="-5" i="1">
                <a:latin typeface="Arial"/>
                <a:cs typeface="Arial"/>
              </a:rPr>
              <a:t>Quran</a:t>
            </a:r>
            <a:r>
              <a:rPr dirty="0" sz="1200" spc="-5">
                <a:latin typeface="Arial"/>
                <a:cs typeface="Arial"/>
              </a:rPr>
              <a:t>. </a:t>
            </a:r>
            <a:r>
              <a:rPr dirty="0" sz="1200">
                <a:latin typeface="Arial"/>
                <a:cs typeface="Arial"/>
              </a:rPr>
              <a:t>In </a:t>
            </a:r>
            <a:r>
              <a:rPr dirty="0" sz="1200" spc="-5">
                <a:latin typeface="Arial"/>
                <a:cs typeface="Arial"/>
              </a:rPr>
              <a:t>fact, </a:t>
            </a:r>
            <a:r>
              <a:rPr dirty="0" sz="1200" spc="-5" i="1">
                <a:latin typeface="Arial"/>
                <a:cs typeface="Arial"/>
              </a:rPr>
              <a:t>Quran  </a:t>
            </a:r>
            <a:r>
              <a:rPr dirty="0" sz="1200" spc="-10">
                <a:latin typeface="Arial"/>
                <a:cs typeface="Arial"/>
              </a:rPr>
              <a:t>was </a:t>
            </a:r>
            <a:r>
              <a:rPr dirty="0" sz="1200" spc="-5">
                <a:latin typeface="Arial"/>
                <a:cs typeface="Arial"/>
              </a:rPr>
              <a:t>a challenge </a:t>
            </a:r>
            <a:r>
              <a:rPr dirty="0" sz="1200">
                <a:latin typeface="Arial"/>
                <a:cs typeface="Arial"/>
              </a:rPr>
              <a:t>and </a:t>
            </a:r>
            <a:r>
              <a:rPr dirty="0" sz="1200" spc="-5">
                <a:latin typeface="Arial"/>
                <a:cs typeface="Arial"/>
              </a:rPr>
              <a:t>remains a challenge </a:t>
            </a:r>
            <a:r>
              <a:rPr dirty="0" sz="1200">
                <a:latin typeface="Arial"/>
                <a:cs typeface="Arial"/>
              </a:rPr>
              <a:t>for </a:t>
            </a:r>
            <a:r>
              <a:rPr dirty="0" sz="1200" spc="-5">
                <a:latin typeface="Arial"/>
                <a:cs typeface="Arial"/>
              </a:rPr>
              <a:t>Arabs </a:t>
            </a:r>
            <a:r>
              <a:rPr dirty="0" sz="1200" spc="-10">
                <a:latin typeface="Arial"/>
                <a:cs typeface="Arial"/>
              </a:rPr>
              <a:t>who </a:t>
            </a:r>
            <a:r>
              <a:rPr dirty="0" sz="1200" spc="-5">
                <a:latin typeface="Arial"/>
                <a:cs typeface="Arial"/>
              </a:rPr>
              <a:t>were </a:t>
            </a:r>
            <a:r>
              <a:rPr dirty="0" sz="1200" spc="10">
                <a:latin typeface="Arial"/>
                <a:cs typeface="Arial"/>
              </a:rPr>
              <a:t>known </a:t>
            </a:r>
            <a:r>
              <a:rPr dirty="0" sz="1200">
                <a:latin typeface="Arial"/>
                <a:cs typeface="Arial"/>
              </a:rPr>
              <a:t>to be </a:t>
            </a:r>
            <a:r>
              <a:rPr dirty="0" sz="1200" spc="-5">
                <a:latin typeface="Arial"/>
                <a:cs typeface="Arial"/>
              </a:rPr>
              <a:t>good poets  and eloquent</a:t>
            </a:r>
            <a:r>
              <a:rPr dirty="0" sz="1200" spc="-10">
                <a:latin typeface="Arial"/>
                <a:cs typeface="Arial"/>
              </a:rPr>
              <a:t> </a:t>
            </a:r>
            <a:r>
              <a:rPr dirty="0" sz="1200" spc="-5">
                <a:latin typeface="Arial"/>
                <a:cs typeface="Arial"/>
              </a:rPr>
              <a:t>speakers</a:t>
            </a:r>
            <a:endParaRPr sz="1200">
              <a:latin typeface="Arial"/>
              <a:cs typeface="Arial"/>
            </a:endParaRPr>
          </a:p>
          <a:p>
            <a:pPr algn="just" marL="508000" marR="69215" indent="-228600">
              <a:lnSpc>
                <a:spcPts val="1380"/>
              </a:lnSpc>
              <a:spcBef>
                <a:spcPts val="35"/>
              </a:spcBef>
              <a:buAutoNum type="arabicPeriod" startAt="5"/>
              <a:tabLst>
                <a:tab pos="508634" algn="l"/>
              </a:tabLst>
            </a:pPr>
            <a:r>
              <a:rPr dirty="0" sz="1200" spc="-5">
                <a:latin typeface="Arial"/>
                <a:cs typeface="Arial"/>
              </a:rPr>
              <a:t>The things from </a:t>
            </a:r>
            <a:r>
              <a:rPr dirty="0" sz="1200">
                <a:latin typeface="Arial"/>
                <a:cs typeface="Arial"/>
              </a:rPr>
              <a:t>the </a:t>
            </a:r>
            <a:r>
              <a:rPr dirty="0" sz="1200" spc="-5">
                <a:latin typeface="Arial"/>
                <a:cs typeface="Arial"/>
              </a:rPr>
              <a:t>unseen that </a:t>
            </a:r>
            <a:r>
              <a:rPr dirty="0" sz="1200" spc="-10">
                <a:latin typeface="Arial"/>
                <a:cs typeface="Arial"/>
              </a:rPr>
              <a:t>he </a:t>
            </a:r>
            <a:r>
              <a:rPr dirty="0" sz="1200" spc="-5">
                <a:latin typeface="Arial"/>
                <a:cs typeface="Arial"/>
              </a:rPr>
              <a:t>(the Prophet) informed us about. Some of them  occurred during </a:t>
            </a:r>
            <a:r>
              <a:rPr dirty="0" sz="1200">
                <a:latin typeface="Arial"/>
                <a:cs typeface="Arial"/>
              </a:rPr>
              <a:t>his </a:t>
            </a:r>
            <a:r>
              <a:rPr dirty="0" sz="1200" spc="-5">
                <a:latin typeface="Arial"/>
                <a:cs typeface="Arial"/>
              </a:rPr>
              <a:t>life </a:t>
            </a:r>
            <a:r>
              <a:rPr dirty="0" sz="1200">
                <a:latin typeface="Arial"/>
                <a:cs typeface="Arial"/>
              </a:rPr>
              <a:t>time. </a:t>
            </a:r>
            <a:r>
              <a:rPr dirty="0" sz="1200" spc="-5">
                <a:latin typeface="Arial"/>
                <a:cs typeface="Arial"/>
              </a:rPr>
              <a:t>Others happened</a:t>
            </a:r>
            <a:r>
              <a:rPr dirty="0" sz="1200" spc="-15">
                <a:latin typeface="Arial"/>
                <a:cs typeface="Arial"/>
              </a:rPr>
              <a:t> </a:t>
            </a:r>
            <a:r>
              <a:rPr dirty="0" sz="1200">
                <a:latin typeface="Arial"/>
                <a:cs typeface="Arial"/>
              </a:rPr>
              <a:t>later</a:t>
            </a:r>
            <a:endParaRPr sz="1200">
              <a:latin typeface="Arial"/>
              <a:cs typeface="Arial"/>
            </a:endParaRPr>
          </a:p>
          <a:p>
            <a:pPr algn="just" marL="508000" marR="62230" indent="-228600">
              <a:lnSpc>
                <a:spcPts val="1380"/>
              </a:lnSpc>
              <a:buAutoNum type="arabicPeriod" startAt="5"/>
              <a:tabLst>
                <a:tab pos="508634" algn="l"/>
              </a:tabLst>
            </a:pPr>
            <a:r>
              <a:rPr dirty="0" sz="1200" spc="-5">
                <a:latin typeface="Arial"/>
                <a:cs typeface="Arial"/>
              </a:rPr>
              <a:t>The testimony of some </a:t>
            </a:r>
            <a:r>
              <a:rPr dirty="0" sz="1200">
                <a:latin typeface="Arial"/>
                <a:cs typeface="Arial"/>
              </a:rPr>
              <a:t>of </a:t>
            </a:r>
            <a:r>
              <a:rPr dirty="0" sz="1200" spc="-5">
                <a:latin typeface="Arial"/>
                <a:cs typeface="Arial"/>
              </a:rPr>
              <a:t>the people of the Book that he </a:t>
            </a:r>
            <a:r>
              <a:rPr dirty="0" sz="1200" spc="-10">
                <a:latin typeface="Arial"/>
                <a:cs typeface="Arial"/>
              </a:rPr>
              <a:t>was </a:t>
            </a:r>
            <a:r>
              <a:rPr dirty="0" sz="1200" spc="-5">
                <a:latin typeface="Arial"/>
                <a:cs typeface="Arial"/>
              </a:rPr>
              <a:t>a </a:t>
            </a:r>
            <a:r>
              <a:rPr dirty="0" sz="1200">
                <a:latin typeface="Arial"/>
                <a:cs typeface="Arial"/>
              </a:rPr>
              <a:t>true </a:t>
            </a:r>
            <a:r>
              <a:rPr dirty="0" sz="1200" spc="-5">
                <a:latin typeface="Arial"/>
                <a:cs typeface="Arial"/>
              </a:rPr>
              <a:t>Prophet. Some of  them believed in him like 'Abdullaah Ibn Salaam </a:t>
            </a:r>
            <a:r>
              <a:rPr dirty="0" sz="1200" spc="-10">
                <a:latin typeface="Arial"/>
                <a:cs typeface="Arial"/>
              </a:rPr>
              <a:t>who was </a:t>
            </a:r>
            <a:r>
              <a:rPr dirty="0" sz="1200" spc="-5">
                <a:latin typeface="Arial"/>
                <a:cs typeface="Arial"/>
              </a:rPr>
              <a:t>a Jew as well as Negus  (king </a:t>
            </a:r>
            <a:r>
              <a:rPr dirty="0" sz="1200">
                <a:latin typeface="Arial"/>
                <a:cs typeface="Arial"/>
              </a:rPr>
              <a:t>of </a:t>
            </a:r>
            <a:r>
              <a:rPr dirty="0" sz="1200" spc="-5">
                <a:latin typeface="Arial"/>
                <a:cs typeface="Arial"/>
              </a:rPr>
              <a:t>Abyssinia) who </a:t>
            </a:r>
            <a:r>
              <a:rPr dirty="0" sz="1200" spc="-10">
                <a:latin typeface="Arial"/>
                <a:cs typeface="Arial"/>
              </a:rPr>
              <a:t>was </a:t>
            </a:r>
            <a:r>
              <a:rPr dirty="0" sz="1200" spc="-5">
                <a:latin typeface="Arial"/>
                <a:cs typeface="Arial"/>
              </a:rPr>
              <a:t>a</a:t>
            </a:r>
            <a:r>
              <a:rPr dirty="0" sz="1200" spc="20">
                <a:latin typeface="Arial"/>
                <a:cs typeface="Arial"/>
              </a:rPr>
              <a:t> </a:t>
            </a:r>
            <a:r>
              <a:rPr dirty="0" sz="1200" spc="-5">
                <a:latin typeface="Arial"/>
                <a:cs typeface="Arial"/>
              </a:rPr>
              <a:t>Christian</a:t>
            </a:r>
            <a:endParaRPr sz="1200">
              <a:latin typeface="Arial"/>
              <a:cs typeface="Arial"/>
            </a:endParaRPr>
          </a:p>
          <a:p>
            <a:pPr algn="just" marL="508000" indent="-229235">
              <a:lnSpc>
                <a:spcPts val="1315"/>
              </a:lnSpc>
              <a:buAutoNum type="arabicPeriod" startAt="5"/>
              <a:tabLst>
                <a:tab pos="508634" algn="l"/>
              </a:tabLst>
            </a:pPr>
            <a:r>
              <a:rPr dirty="0" sz="1200" spc="-5">
                <a:latin typeface="Arial"/>
                <a:cs typeface="Arial"/>
              </a:rPr>
              <a:t>The </a:t>
            </a:r>
            <a:r>
              <a:rPr dirty="0" sz="1200" spc="-10">
                <a:latin typeface="Arial"/>
                <a:cs typeface="Arial"/>
              </a:rPr>
              <a:t>way </a:t>
            </a:r>
            <a:r>
              <a:rPr dirty="0" sz="1200">
                <a:latin typeface="Arial"/>
                <a:cs typeface="Arial"/>
              </a:rPr>
              <a:t>he dealt </a:t>
            </a:r>
            <a:r>
              <a:rPr dirty="0" sz="1200" spc="-5">
                <a:latin typeface="Arial"/>
                <a:cs typeface="Arial"/>
              </a:rPr>
              <a:t>with problems of persecutions</a:t>
            </a:r>
            <a:endParaRPr sz="1200">
              <a:latin typeface="Arial"/>
              <a:cs typeface="Arial"/>
            </a:endParaRPr>
          </a:p>
          <a:p>
            <a:pPr algn="just" marL="508000" indent="-229235">
              <a:lnSpc>
                <a:spcPts val="1380"/>
              </a:lnSpc>
              <a:buAutoNum type="arabicPeriod" startAt="5"/>
              <a:tabLst>
                <a:tab pos="508634" algn="l"/>
              </a:tabLst>
            </a:pPr>
            <a:r>
              <a:rPr dirty="0" sz="1200" spc="-5">
                <a:latin typeface="Arial"/>
                <a:cs typeface="Arial"/>
              </a:rPr>
              <a:t>His eagerly will </a:t>
            </a:r>
            <a:r>
              <a:rPr dirty="0" sz="1200">
                <a:latin typeface="Arial"/>
                <a:cs typeface="Arial"/>
              </a:rPr>
              <a:t>to </a:t>
            </a:r>
            <a:r>
              <a:rPr dirty="0" sz="1200" spc="-5">
                <a:latin typeface="Arial"/>
                <a:cs typeface="Arial"/>
              </a:rPr>
              <a:t>spread Islam </a:t>
            </a:r>
            <a:r>
              <a:rPr dirty="0" sz="1200" spc="-10">
                <a:latin typeface="Arial"/>
                <a:cs typeface="Arial"/>
              </a:rPr>
              <a:t>though </a:t>
            </a:r>
            <a:r>
              <a:rPr dirty="0" sz="1200" spc="-5">
                <a:latin typeface="Arial"/>
                <a:cs typeface="Arial"/>
              </a:rPr>
              <a:t>in dire problems and</a:t>
            </a:r>
            <a:r>
              <a:rPr dirty="0" sz="1200" spc="50">
                <a:latin typeface="Arial"/>
                <a:cs typeface="Arial"/>
              </a:rPr>
              <a:t> </a:t>
            </a:r>
            <a:r>
              <a:rPr dirty="0" sz="1200" spc="-5">
                <a:latin typeface="Arial"/>
                <a:cs typeface="Arial"/>
              </a:rPr>
              <a:t>threats</a:t>
            </a:r>
            <a:endParaRPr sz="1200">
              <a:latin typeface="Arial"/>
              <a:cs typeface="Arial"/>
            </a:endParaRPr>
          </a:p>
          <a:p>
            <a:pPr marL="508000" marR="64769" indent="-228600">
              <a:lnSpc>
                <a:spcPts val="1380"/>
              </a:lnSpc>
              <a:spcBef>
                <a:spcPts val="65"/>
              </a:spcBef>
              <a:buAutoNum type="arabicPeriod" startAt="5"/>
              <a:tabLst>
                <a:tab pos="508634" algn="l"/>
              </a:tabLst>
            </a:pPr>
            <a:r>
              <a:rPr dirty="0" sz="1200" spc="-5">
                <a:latin typeface="Arial"/>
                <a:cs typeface="Arial"/>
              </a:rPr>
              <a:t>His continuous battle against </a:t>
            </a:r>
            <a:r>
              <a:rPr dirty="0" sz="1200">
                <a:latin typeface="Arial"/>
                <a:cs typeface="Arial"/>
              </a:rPr>
              <a:t>the </a:t>
            </a:r>
            <a:r>
              <a:rPr dirty="0" sz="1200" spc="-5">
                <a:latin typeface="Arial"/>
                <a:cs typeface="Arial"/>
              </a:rPr>
              <a:t>miseries, atrocities and immoral aspects of his  society though being offered worldly luxuries </a:t>
            </a:r>
            <a:r>
              <a:rPr dirty="0" sz="1200">
                <a:latin typeface="Arial"/>
                <a:cs typeface="Arial"/>
              </a:rPr>
              <a:t>in order to </a:t>
            </a:r>
            <a:r>
              <a:rPr dirty="0" sz="1200" spc="-5">
                <a:latin typeface="Arial"/>
                <a:cs typeface="Arial"/>
              </a:rPr>
              <a:t>stop his</a:t>
            </a:r>
            <a:r>
              <a:rPr dirty="0" sz="1200">
                <a:latin typeface="Arial"/>
                <a:cs typeface="Arial"/>
              </a:rPr>
              <a:t> </a:t>
            </a:r>
            <a:r>
              <a:rPr dirty="0" sz="1200" spc="-5">
                <a:latin typeface="Arial"/>
                <a:cs typeface="Arial"/>
              </a:rPr>
              <a:t>mission</a:t>
            </a:r>
            <a:endParaRPr sz="1200">
              <a:latin typeface="Arial"/>
              <a:cs typeface="Arial"/>
            </a:endParaRPr>
          </a:p>
          <a:p>
            <a:pPr marL="508000" indent="-229235">
              <a:lnSpc>
                <a:spcPts val="1315"/>
              </a:lnSpc>
              <a:buAutoNum type="arabicPeriod" startAt="5"/>
              <a:tabLst>
                <a:tab pos="508634" algn="l"/>
              </a:tabLst>
            </a:pPr>
            <a:r>
              <a:rPr dirty="0" sz="1200" spc="-5">
                <a:latin typeface="Arial"/>
                <a:cs typeface="Arial"/>
              </a:rPr>
              <a:t>The events of Mi‘raj and its</a:t>
            </a:r>
            <a:r>
              <a:rPr dirty="0" sz="1200" spc="15">
                <a:latin typeface="Arial"/>
                <a:cs typeface="Arial"/>
              </a:rPr>
              <a:t> </a:t>
            </a:r>
            <a:r>
              <a:rPr dirty="0" sz="1200" spc="-5">
                <a:latin typeface="Arial"/>
                <a:cs typeface="Arial"/>
              </a:rPr>
              <a:t>journey.</a:t>
            </a:r>
            <a:endParaRPr sz="1200">
              <a:latin typeface="Arial"/>
              <a:cs typeface="Arial"/>
            </a:endParaRPr>
          </a:p>
          <a:p>
            <a:pPr marL="508000" indent="-229235">
              <a:lnSpc>
                <a:spcPts val="1380"/>
              </a:lnSpc>
              <a:buAutoNum type="arabicPeriod" startAt="5"/>
              <a:tabLst>
                <a:tab pos="508634" algn="l"/>
              </a:tabLst>
            </a:pPr>
            <a:r>
              <a:rPr dirty="0" sz="1200" spc="-5">
                <a:latin typeface="Arial"/>
                <a:cs typeface="Arial"/>
              </a:rPr>
              <a:t>The </a:t>
            </a:r>
            <a:r>
              <a:rPr dirty="0" sz="1200">
                <a:latin typeface="Arial"/>
                <a:cs typeface="Arial"/>
              </a:rPr>
              <a:t>far </a:t>
            </a:r>
            <a:r>
              <a:rPr dirty="0" sz="1200" spc="-5">
                <a:latin typeface="Arial"/>
                <a:cs typeface="Arial"/>
              </a:rPr>
              <a:t>sighted view </a:t>
            </a:r>
            <a:r>
              <a:rPr dirty="0" sz="1200">
                <a:latin typeface="Arial"/>
                <a:cs typeface="Arial"/>
              </a:rPr>
              <a:t>he </a:t>
            </a:r>
            <a:r>
              <a:rPr dirty="0" sz="1200" spc="-5">
                <a:latin typeface="Arial"/>
                <a:cs typeface="Arial"/>
              </a:rPr>
              <a:t>had when he advised </a:t>
            </a:r>
            <a:r>
              <a:rPr dirty="0" sz="1200">
                <a:latin typeface="Arial"/>
                <a:cs typeface="Arial"/>
              </a:rPr>
              <a:t>his </a:t>
            </a:r>
            <a:r>
              <a:rPr dirty="0" sz="1200" spc="-5">
                <a:latin typeface="Arial"/>
                <a:cs typeface="Arial"/>
              </a:rPr>
              <a:t>people </a:t>
            </a:r>
            <a:r>
              <a:rPr dirty="0" sz="1200">
                <a:latin typeface="Arial"/>
                <a:cs typeface="Arial"/>
              </a:rPr>
              <a:t>to</a:t>
            </a:r>
            <a:r>
              <a:rPr dirty="0" sz="1200" spc="60">
                <a:latin typeface="Arial"/>
                <a:cs typeface="Arial"/>
              </a:rPr>
              <a:t> </a:t>
            </a:r>
            <a:r>
              <a:rPr dirty="0" sz="1200" spc="-5">
                <a:latin typeface="Arial"/>
                <a:cs typeface="Arial"/>
              </a:rPr>
              <a:t>migrate</a:t>
            </a:r>
            <a:endParaRPr sz="1200">
              <a:latin typeface="Arial"/>
              <a:cs typeface="Arial"/>
            </a:endParaRPr>
          </a:p>
          <a:p>
            <a:pPr marL="508000" indent="-229235">
              <a:lnSpc>
                <a:spcPts val="1410"/>
              </a:lnSpc>
              <a:buAutoNum type="arabicPeriod" startAt="5"/>
              <a:tabLst>
                <a:tab pos="508634" algn="l"/>
              </a:tabLst>
            </a:pPr>
            <a:r>
              <a:rPr dirty="0" sz="1200" spc="-5">
                <a:latin typeface="Arial"/>
                <a:cs typeface="Arial"/>
              </a:rPr>
              <a:t>The ability </a:t>
            </a:r>
            <a:r>
              <a:rPr dirty="0" sz="1200">
                <a:latin typeface="Arial"/>
                <a:cs typeface="Arial"/>
              </a:rPr>
              <a:t>to </a:t>
            </a:r>
            <a:r>
              <a:rPr dirty="0" sz="1200" spc="-5">
                <a:latin typeface="Arial"/>
                <a:cs typeface="Arial"/>
              </a:rPr>
              <a:t>contain </a:t>
            </a:r>
            <a:r>
              <a:rPr dirty="0" sz="1200" spc="-10">
                <a:latin typeface="Arial"/>
                <a:cs typeface="Arial"/>
              </a:rPr>
              <a:t>all </a:t>
            </a:r>
            <a:r>
              <a:rPr dirty="0" sz="1200" spc="-5">
                <a:latin typeface="Arial"/>
                <a:cs typeface="Arial"/>
              </a:rPr>
              <a:t>problems with patience and</a:t>
            </a:r>
            <a:r>
              <a:rPr dirty="0" sz="1200" spc="114">
                <a:latin typeface="Arial"/>
                <a:cs typeface="Arial"/>
              </a:rPr>
              <a:t> </a:t>
            </a:r>
            <a:r>
              <a:rPr dirty="0" sz="1200" spc="-5">
                <a:latin typeface="Arial"/>
                <a:cs typeface="Arial"/>
              </a:rPr>
              <a:t>perseverance.</a:t>
            </a:r>
            <a:endParaRPr sz="1200">
              <a:latin typeface="Arial"/>
              <a:cs typeface="Arial"/>
            </a:endParaRPr>
          </a:p>
          <a:p>
            <a:pPr>
              <a:lnSpc>
                <a:spcPct val="100000"/>
              </a:lnSpc>
            </a:pPr>
            <a:endParaRPr sz="1150">
              <a:latin typeface="Arial"/>
              <a:cs typeface="Arial"/>
            </a:endParaRPr>
          </a:p>
          <a:p>
            <a:pPr marL="50800">
              <a:lnSpc>
                <a:spcPct val="100000"/>
              </a:lnSpc>
            </a:pPr>
            <a:r>
              <a:rPr dirty="0" u="heavy" sz="1200" spc="-5" b="1" i="1">
                <a:uFill>
                  <a:solidFill>
                    <a:srgbClr val="000000"/>
                  </a:solidFill>
                </a:uFill>
                <a:latin typeface="Arial"/>
                <a:cs typeface="Arial"/>
              </a:rPr>
              <a:t>Why the Prophet Muhammad was at first friendly towards the Jews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Medina</a:t>
            </a:r>
            <a:r>
              <a:rPr dirty="0" u="heavy" sz="1200" spc="120" b="1" i="1">
                <a:uFill>
                  <a:solidFill>
                    <a:srgbClr val="000000"/>
                  </a:solidFill>
                </a:uFill>
                <a:latin typeface="Arial"/>
                <a:cs typeface="Arial"/>
              </a:rPr>
              <a:t> </a:t>
            </a:r>
            <a:r>
              <a:rPr dirty="0" u="heavy" sz="1200" b="1" i="1">
                <a:uFill>
                  <a:solidFill>
                    <a:srgbClr val="000000"/>
                  </a:solidFill>
                </a:uFill>
                <a:latin typeface="Arial"/>
                <a:cs typeface="Arial"/>
              </a:rPr>
              <a:t>?</a:t>
            </a:r>
            <a:endParaRPr sz="1200">
              <a:latin typeface="Arial"/>
              <a:cs typeface="Arial"/>
            </a:endParaRPr>
          </a:p>
          <a:p>
            <a:pPr>
              <a:lnSpc>
                <a:spcPct val="100000"/>
              </a:lnSpc>
              <a:spcBef>
                <a:spcPts val="30"/>
              </a:spcBef>
            </a:pPr>
            <a:endParaRPr sz="1600">
              <a:latin typeface="Arial"/>
              <a:cs typeface="Arial"/>
            </a:endParaRPr>
          </a:p>
          <a:p>
            <a:pPr marL="508000" marR="66675" indent="-228600">
              <a:lnSpc>
                <a:spcPts val="1380"/>
              </a:lnSpc>
              <a:buAutoNum type="arabicPeriod"/>
              <a:tabLst>
                <a:tab pos="508634" algn="l"/>
              </a:tabLst>
            </a:pPr>
            <a:r>
              <a:rPr dirty="0" sz="1200" spc="-5">
                <a:latin typeface="Arial"/>
                <a:cs typeface="Arial"/>
              </a:rPr>
              <a:t>Prophet Muhammad‘s own conduct of </a:t>
            </a:r>
            <a:r>
              <a:rPr dirty="0" sz="1200" spc="-10">
                <a:latin typeface="Arial"/>
                <a:cs typeface="Arial"/>
              </a:rPr>
              <a:t>humility, </a:t>
            </a:r>
            <a:r>
              <a:rPr dirty="0" sz="1200" spc="-5">
                <a:latin typeface="Arial"/>
                <a:cs typeface="Arial"/>
              </a:rPr>
              <a:t>compassion, faithfulness was towards  them</a:t>
            </a:r>
            <a:endParaRPr sz="1200">
              <a:latin typeface="Arial"/>
              <a:cs typeface="Arial"/>
            </a:endParaRPr>
          </a:p>
          <a:p>
            <a:pPr marL="508000" indent="-229235">
              <a:lnSpc>
                <a:spcPts val="1315"/>
              </a:lnSpc>
              <a:buAutoNum type="arabicPeriod"/>
              <a:tabLst>
                <a:tab pos="508634" algn="l"/>
              </a:tabLst>
            </a:pPr>
            <a:r>
              <a:rPr dirty="0" sz="1200" spc="-5">
                <a:latin typeface="Arial"/>
                <a:cs typeface="Arial"/>
              </a:rPr>
              <a:t>The population of Medina accepted him as</a:t>
            </a:r>
            <a:r>
              <a:rPr dirty="0" sz="1200" spc="25">
                <a:latin typeface="Arial"/>
                <a:cs typeface="Arial"/>
              </a:rPr>
              <a:t> </a:t>
            </a:r>
            <a:r>
              <a:rPr dirty="0" sz="1200" spc="-5">
                <a:latin typeface="Arial"/>
                <a:cs typeface="Arial"/>
              </a:rPr>
              <a:t>leader</a:t>
            </a:r>
            <a:endParaRPr sz="1200">
              <a:latin typeface="Arial"/>
              <a:cs typeface="Arial"/>
            </a:endParaRPr>
          </a:p>
          <a:p>
            <a:pPr marL="508000" indent="-229235">
              <a:lnSpc>
                <a:spcPts val="1380"/>
              </a:lnSpc>
              <a:buAutoNum type="arabicPeriod"/>
              <a:tabLst>
                <a:tab pos="508634" algn="l"/>
              </a:tabLst>
            </a:pPr>
            <a:r>
              <a:rPr dirty="0" sz="1200" spc="-5">
                <a:latin typeface="Arial"/>
                <a:cs typeface="Arial"/>
              </a:rPr>
              <a:t>He made </a:t>
            </a:r>
            <a:r>
              <a:rPr dirty="0" sz="1200">
                <a:latin typeface="Arial"/>
                <a:cs typeface="Arial"/>
              </a:rPr>
              <a:t>treaties </a:t>
            </a:r>
            <a:r>
              <a:rPr dirty="0" sz="1200" spc="-5">
                <a:latin typeface="Arial"/>
                <a:cs typeface="Arial"/>
              </a:rPr>
              <a:t>with the Jews </a:t>
            </a:r>
            <a:r>
              <a:rPr dirty="0" sz="1200">
                <a:latin typeface="Arial"/>
                <a:cs typeface="Arial"/>
              </a:rPr>
              <a:t>to </a:t>
            </a:r>
            <a:r>
              <a:rPr dirty="0" sz="1200" spc="-5">
                <a:latin typeface="Arial"/>
                <a:cs typeface="Arial"/>
              </a:rPr>
              <a:t>cement peace and</a:t>
            </a:r>
            <a:r>
              <a:rPr dirty="0" sz="1200" spc="15">
                <a:latin typeface="Arial"/>
                <a:cs typeface="Arial"/>
              </a:rPr>
              <a:t> </a:t>
            </a:r>
            <a:r>
              <a:rPr dirty="0" sz="1200" spc="-5">
                <a:latin typeface="Arial"/>
                <a:cs typeface="Arial"/>
              </a:rPr>
              <a:t>friendship</a:t>
            </a:r>
            <a:endParaRPr sz="1200">
              <a:latin typeface="Arial"/>
              <a:cs typeface="Arial"/>
            </a:endParaRPr>
          </a:p>
          <a:p>
            <a:pPr marL="508000" marR="62230" indent="-228600">
              <a:lnSpc>
                <a:spcPts val="1380"/>
              </a:lnSpc>
              <a:spcBef>
                <a:spcPts val="65"/>
              </a:spcBef>
              <a:buAutoNum type="arabicPeriod"/>
              <a:tabLst>
                <a:tab pos="508634" algn="l"/>
              </a:tabLst>
            </a:pPr>
            <a:r>
              <a:rPr dirty="0" sz="1200" spc="-5">
                <a:latin typeface="Arial"/>
                <a:cs typeface="Arial"/>
              </a:rPr>
              <a:t>He granted </a:t>
            </a:r>
            <a:r>
              <a:rPr dirty="0" sz="1200">
                <a:latin typeface="Arial"/>
                <a:cs typeface="Arial"/>
              </a:rPr>
              <a:t>the </a:t>
            </a:r>
            <a:r>
              <a:rPr dirty="0" sz="1200" spc="-5">
                <a:latin typeface="Arial"/>
                <a:cs typeface="Arial"/>
              </a:rPr>
              <a:t>Jews </a:t>
            </a:r>
            <a:r>
              <a:rPr dirty="0" sz="1200">
                <a:latin typeface="Arial"/>
                <a:cs typeface="Arial"/>
              </a:rPr>
              <a:t>full </a:t>
            </a:r>
            <a:r>
              <a:rPr dirty="0" sz="1200" spc="-5">
                <a:latin typeface="Arial"/>
                <a:cs typeface="Arial"/>
              </a:rPr>
              <a:t>freedom </a:t>
            </a:r>
            <a:r>
              <a:rPr dirty="0" sz="1200">
                <a:latin typeface="Arial"/>
                <a:cs typeface="Arial"/>
              </a:rPr>
              <a:t>to </a:t>
            </a:r>
            <a:r>
              <a:rPr dirty="0" sz="1200" spc="-5">
                <a:latin typeface="Arial"/>
                <a:cs typeface="Arial"/>
              </a:rPr>
              <a:t>practise </a:t>
            </a:r>
            <a:r>
              <a:rPr dirty="0" sz="1200">
                <a:latin typeface="Arial"/>
                <a:cs typeface="Arial"/>
              </a:rPr>
              <a:t>their faith, just </a:t>
            </a:r>
            <a:r>
              <a:rPr dirty="0" sz="1200" spc="-5">
                <a:latin typeface="Arial"/>
                <a:cs typeface="Arial"/>
              </a:rPr>
              <a:t>as </a:t>
            </a:r>
            <a:r>
              <a:rPr dirty="0" sz="1200">
                <a:latin typeface="Arial"/>
                <a:cs typeface="Arial"/>
              </a:rPr>
              <a:t>Muslims </a:t>
            </a:r>
            <a:r>
              <a:rPr dirty="0" sz="1200" spc="-5">
                <a:latin typeface="Arial"/>
                <a:cs typeface="Arial"/>
              </a:rPr>
              <a:t>would practise  theirs</a:t>
            </a:r>
            <a:endParaRPr sz="1200">
              <a:latin typeface="Arial"/>
              <a:cs typeface="Arial"/>
            </a:endParaRPr>
          </a:p>
          <a:p>
            <a:pPr marL="508000" indent="-229235">
              <a:lnSpc>
                <a:spcPts val="1315"/>
              </a:lnSpc>
              <a:buAutoNum type="arabicPeriod"/>
              <a:tabLst>
                <a:tab pos="508634" algn="l"/>
              </a:tabLst>
            </a:pPr>
            <a:r>
              <a:rPr dirty="0" sz="1200" spc="-5">
                <a:latin typeface="Arial"/>
                <a:cs typeface="Arial"/>
              </a:rPr>
              <a:t>He befriended the Jews as they believed in One</a:t>
            </a:r>
            <a:r>
              <a:rPr dirty="0" sz="1200" spc="35">
                <a:latin typeface="Arial"/>
                <a:cs typeface="Arial"/>
              </a:rPr>
              <a:t> </a:t>
            </a:r>
            <a:r>
              <a:rPr dirty="0" sz="1200" spc="-5">
                <a:latin typeface="Arial"/>
                <a:cs typeface="Arial"/>
              </a:rPr>
              <a:t>God</a:t>
            </a:r>
            <a:endParaRPr sz="1200">
              <a:latin typeface="Arial"/>
              <a:cs typeface="Arial"/>
            </a:endParaRPr>
          </a:p>
          <a:p>
            <a:pPr marL="508000" indent="-229235">
              <a:lnSpc>
                <a:spcPts val="1380"/>
              </a:lnSpc>
              <a:buAutoNum type="arabicPeriod"/>
              <a:tabLst>
                <a:tab pos="508634" algn="l"/>
              </a:tabLst>
            </a:pPr>
            <a:r>
              <a:rPr dirty="0" sz="1200" spc="-5">
                <a:latin typeface="Arial"/>
                <a:cs typeface="Arial"/>
              </a:rPr>
              <a:t>The jews were also followers </a:t>
            </a:r>
            <a:r>
              <a:rPr dirty="0" sz="1200">
                <a:latin typeface="Arial"/>
                <a:cs typeface="Arial"/>
              </a:rPr>
              <a:t>of </a:t>
            </a:r>
            <a:r>
              <a:rPr dirty="0" sz="1200" spc="-5">
                <a:latin typeface="Arial"/>
                <a:cs typeface="Arial"/>
              </a:rPr>
              <a:t>a revealed book</a:t>
            </a:r>
            <a:r>
              <a:rPr dirty="0" sz="1200" spc="65">
                <a:latin typeface="Arial"/>
                <a:cs typeface="Arial"/>
              </a:rPr>
              <a:t> </a:t>
            </a:r>
            <a:r>
              <a:rPr dirty="0" sz="1200" spc="-5">
                <a:latin typeface="Arial"/>
                <a:cs typeface="Arial"/>
              </a:rPr>
              <a:t>(Tawraat)</a:t>
            </a:r>
            <a:endParaRPr sz="1200">
              <a:latin typeface="Arial"/>
              <a:cs typeface="Arial"/>
            </a:endParaRPr>
          </a:p>
          <a:p>
            <a:pPr marL="508000" indent="-229235">
              <a:lnSpc>
                <a:spcPts val="1380"/>
              </a:lnSpc>
              <a:buAutoNum type="arabicPeriod"/>
              <a:tabLst>
                <a:tab pos="508634" algn="l"/>
              </a:tabLst>
            </a:pPr>
            <a:r>
              <a:rPr dirty="0" sz="1200" spc="-5">
                <a:latin typeface="Arial"/>
                <a:cs typeface="Arial"/>
              </a:rPr>
              <a:t>There is a link between Muslims and </a:t>
            </a:r>
            <a:r>
              <a:rPr dirty="0" sz="1200" spc="-10">
                <a:latin typeface="Arial"/>
                <a:cs typeface="Arial"/>
              </a:rPr>
              <a:t>Jews </a:t>
            </a:r>
            <a:r>
              <a:rPr dirty="0" sz="1200" spc="-5">
                <a:latin typeface="Arial"/>
                <a:cs typeface="Arial"/>
              </a:rPr>
              <a:t>through Musah</a:t>
            </a:r>
            <a:r>
              <a:rPr dirty="0" sz="1200" spc="45">
                <a:latin typeface="Arial"/>
                <a:cs typeface="Arial"/>
              </a:rPr>
              <a:t> </a:t>
            </a:r>
            <a:r>
              <a:rPr dirty="0" sz="1200" spc="-5">
                <a:latin typeface="Arial"/>
                <a:cs typeface="Arial"/>
              </a:rPr>
              <a:t>(as)</a:t>
            </a:r>
            <a:endParaRPr sz="1200">
              <a:latin typeface="Arial"/>
              <a:cs typeface="Arial"/>
            </a:endParaRPr>
          </a:p>
          <a:p>
            <a:pPr marL="508000" indent="-229235">
              <a:lnSpc>
                <a:spcPts val="1380"/>
              </a:lnSpc>
              <a:buAutoNum type="arabicPeriod"/>
              <a:tabLst>
                <a:tab pos="508634" algn="l"/>
              </a:tabLst>
            </a:pPr>
            <a:r>
              <a:rPr dirty="0" sz="1200" spc="-5">
                <a:latin typeface="Arial"/>
                <a:cs typeface="Arial"/>
              </a:rPr>
              <a:t>Jews prayed towards Jerusalem </a:t>
            </a:r>
            <a:r>
              <a:rPr dirty="0" sz="1200">
                <a:latin typeface="Arial"/>
                <a:cs typeface="Arial"/>
              </a:rPr>
              <a:t>as </a:t>
            </a:r>
            <a:r>
              <a:rPr dirty="0" sz="1200" spc="-5">
                <a:latin typeface="Arial"/>
                <a:cs typeface="Arial"/>
              </a:rPr>
              <a:t>did the Muslims</a:t>
            </a:r>
            <a:r>
              <a:rPr dirty="0" sz="1200" spc="45">
                <a:latin typeface="Arial"/>
                <a:cs typeface="Arial"/>
              </a:rPr>
              <a:t> </a:t>
            </a:r>
            <a:r>
              <a:rPr dirty="0" sz="1200" spc="-5">
                <a:latin typeface="Arial"/>
                <a:cs typeface="Arial"/>
              </a:rPr>
              <a:t>(initially)</a:t>
            </a:r>
            <a:endParaRPr sz="1200">
              <a:latin typeface="Arial"/>
              <a:cs typeface="Arial"/>
            </a:endParaRPr>
          </a:p>
          <a:p>
            <a:pPr marL="508000" indent="-229235">
              <a:lnSpc>
                <a:spcPts val="1380"/>
              </a:lnSpc>
              <a:buAutoNum type="arabicPeriod"/>
              <a:tabLst>
                <a:tab pos="508634" algn="l"/>
              </a:tabLst>
            </a:pPr>
            <a:r>
              <a:rPr dirty="0" sz="1200" spc="-5">
                <a:latin typeface="Arial"/>
                <a:cs typeface="Arial"/>
              </a:rPr>
              <a:t>He believed </a:t>
            </a:r>
            <a:r>
              <a:rPr dirty="0" sz="1200">
                <a:latin typeface="Arial"/>
                <a:cs typeface="Arial"/>
              </a:rPr>
              <a:t>by </a:t>
            </a:r>
            <a:r>
              <a:rPr dirty="0" sz="1200" spc="-5">
                <a:latin typeface="Arial"/>
                <a:cs typeface="Arial"/>
              </a:rPr>
              <a:t>strengthening </a:t>
            </a:r>
            <a:r>
              <a:rPr dirty="0" sz="1200">
                <a:latin typeface="Arial"/>
                <a:cs typeface="Arial"/>
              </a:rPr>
              <a:t>ties </a:t>
            </a:r>
            <a:r>
              <a:rPr dirty="0" sz="1200" spc="-5">
                <a:latin typeface="Arial"/>
                <a:cs typeface="Arial"/>
              </a:rPr>
              <a:t>Medina would </a:t>
            </a:r>
            <a:r>
              <a:rPr dirty="0" sz="1200" spc="-10">
                <a:latin typeface="Arial"/>
                <a:cs typeface="Arial"/>
              </a:rPr>
              <a:t>be </a:t>
            </a:r>
            <a:r>
              <a:rPr dirty="0" sz="1200" spc="-5">
                <a:latin typeface="Arial"/>
                <a:cs typeface="Arial"/>
              </a:rPr>
              <a:t>secure </a:t>
            </a:r>
            <a:r>
              <a:rPr dirty="0" sz="1200" spc="-10">
                <a:latin typeface="Arial"/>
                <a:cs typeface="Arial"/>
              </a:rPr>
              <a:t>if</a:t>
            </a:r>
            <a:r>
              <a:rPr dirty="0" sz="1200" spc="35">
                <a:latin typeface="Arial"/>
                <a:cs typeface="Arial"/>
              </a:rPr>
              <a:t> </a:t>
            </a:r>
            <a:r>
              <a:rPr dirty="0" sz="1200" spc="-5">
                <a:latin typeface="Arial"/>
                <a:cs typeface="Arial"/>
              </a:rPr>
              <a:t>attacked</a:t>
            </a:r>
            <a:endParaRPr sz="1200">
              <a:latin typeface="Arial"/>
              <a:cs typeface="Arial"/>
            </a:endParaRPr>
          </a:p>
          <a:p>
            <a:pPr marL="508000" indent="-229235">
              <a:lnSpc>
                <a:spcPts val="1380"/>
              </a:lnSpc>
              <a:buAutoNum type="arabicPeriod"/>
              <a:tabLst>
                <a:tab pos="508634" algn="l"/>
              </a:tabLst>
            </a:pPr>
            <a:r>
              <a:rPr dirty="0" sz="1200" spc="-5">
                <a:latin typeface="Arial"/>
                <a:cs typeface="Arial"/>
              </a:rPr>
              <a:t>Each group would contribute resources </a:t>
            </a:r>
            <a:r>
              <a:rPr dirty="0" sz="1200">
                <a:latin typeface="Arial"/>
                <a:cs typeface="Arial"/>
              </a:rPr>
              <a:t>for </a:t>
            </a:r>
            <a:r>
              <a:rPr dirty="0" sz="1200" spc="-5">
                <a:latin typeface="Arial"/>
                <a:cs typeface="Arial"/>
              </a:rPr>
              <a:t>the betterment of the</a:t>
            </a:r>
            <a:r>
              <a:rPr dirty="0" sz="1200" spc="35">
                <a:latin typeface="Arial"/>
                <a:cs typeface="Arial"/>
              </a:rPr>
              <a:t> </a:t>
            </a:r>
            <a:r>
              <a:rPr dirty="0" sz="1200">
                <a:latin typeface="Arial"/>
                <a:cs typeface="Arial"/>
              </a:rPr>
              <a:t>city</a:t>
            </a:r>
            <a:endParaRPr sz="1200">
              <a:latin typeface="Arial"/>
              <a:cs typeface="Arial"/>
            </a:endParaRPr>
          </a:p>
          <a:p>
            <a:pPr marL="508000" indent="-229235">
              <a:lnSpc>
                <a:spcPts val="1380"/>
              </a:lnSpc>
              <a:buAutoNum type="arabicPeriod"/>
              <a:tabLst>
                <a:tab pos="508634" algn="l"/>
              </a:tabLst>
            </a:pPr>
            <a:r>
              <a:rPr dirty="0" sz="1200" spc="-5">
                <a:latin typeface="Arial"/>
                <a:cs typeface="Arial"/>
              </a:rPr>
              <a:t>Relations between </a:t>
            </a:r>
            <a:r>
              <a:rPr dirty="0" sz="1200">
                <a:latin typeface="Arial"/>
                <a:cs typeface="Arial"/>
              </a:rPr>
              <a:t>the </a:t>
            </a:r>
            <a:r>
              <a:rPr dirty="0" sz="1200" spc="-5">
                <a:latin typeface="Arial"/>
                <a:cs typeface="Arial"/>
              </a:rPr>
              <a:t>Jews </a:t>
            </a:r>
            <a:r>
              <a:rPr dirty="0" sz="1200">
                <a:latin typeface="Arial"/>
                <a:cs typeface="Arial"/>
              </a:rPr>
              <a:t>and </a:t>
            </a:r>
            <a:r>
              <a:rPr dirty="0" sz="1200" spc="-5">
                <a:latin typeface="Arial"/>
                <a:cs typeface="Arial"/>
              </a:rPr>
              <a:t>the Muslims were based on equality </a:t>
            </a:r>
            <a:r>
              <a:rPr dirty="0" sz="1200">
                <a:latin typeface="Arial"/>
                <a:cs typeface="Arial"/>
              </a:rPr>
              <a:t>and</a:t>
            </a:r>
            <a:r>
              <a:rPr dirty="0" sz="1200" spc="45">
                <a:latin typeface="Arial"/>
                <a:cs typeface="Arial"/>
              </a:rPr>
              <a:t> </a:t>
            </a:r>
            <a:r>
              <a:rPr dirty="0" sz="1200" spc="-5">
                <a:latin typeface="Arial"/>
                <a:cs typeface="Arial"/>
              </a:rPr>
              <a:t>justice</a:t>
            </a:r>
            <a:endParaRPr sz="1200">
              <a:latin typeface="Arial"/>
              <a:cs typeface="Arial"/>
            </a:endParaRPr>
          </a:p>
          <a:p>
            <a:pPr marL="508000" indent="-229235">
              <a:lnSpc>
                <a:spcPts val="1380"/>
              </a:lnSpc>
              <a:buAutoNum type="arabicPeriod"/>
              <a:tabLst>
                <a:tab pos="508634" algn="l"/>
              </a:tabLst>
            </a:pPr>
            <a:r>
              <a:rPr dirty="0" sz="1200" spc="-5">
                <a:latin typeface="Arial"/>
                <a:cs typeface="Arial"/>
              </a:rPr>
              <a:t>The prophet </a:t>
            </a:r>
            <a:r>
              <a:rPr dirty="0" sz="1200">
                <a:latin typeface="Arial"/>
                <a:cs typeface="Arial"/>
              </a:rPr>
              <a:t>as </a:t>
            </a:r>
            <a:r>
              <a:rPr dirty="0" sz="1200" spc="-5">
                <a:latin typeface="Arial"/>
                <a:cs typeface="Arial"/>
              </a:rPr>
              <a:t>leader would deal with </a:t>
            </a:r>
            <a:r>
              <a:rPr dirty="0" sz="1200">
                <a:latin typeface="Arial"/>
                <a:cs typeface="Arial"/>
              </a:rPr>
              <a:t>any</a:t>
            </a:r>
            <a:r>
              <a:rPr dirty="0" sz="1200" spc="-15">
                <a:latin typeface="Arial"/>
                <a:cs typeface="Arial"/>
              </a:rPr>
              <a:t> </a:t>
            </a:r>
            <a:r>
              <a:rPr dirty="0" sz="1200" spc="-5">
                <a:latin typeface="Arial"/>
                <a:cs typeface="Arial"/>
              </a:rPr>
              <a:t>disagreement</a:t>
            </a:r>
            <a:endParaRPr sz="1200">
              <a:latin typeface="Arial"/>
              <a:cs typeface="Arial"/>
            </a:endParaRPr>
          </a:p>
          <a:p>
            <a:pPr marL="508000" indent="-229235">
              <a:lnSpc>
                <a:spcPts val="1380"/>
              </a:lnSpc>
              <a:buAutoNum type="arabicPeriod"/>
              <a:tabLst>
                <a:tab pos="508634" algn="l"/>
              </a:tabLst>
            </a:pPr>
            <a:r>
              <a:rPr dirty="0" sz="1200">
                <a:latin typeface="Arial"/>
                <a:cs typeface="Arial"/>
              </a:rPr>
              <a:t>Initially he </a:t>
            </a:r>
            <a:r>
              <a:rPr dirty="0" sz="1200" spc="-5">
                <a:latin typeface="Arial"/>
                <a:cs typeface="Arial"/>
              </a:rPr>
              <a:t>allowed Muslims </a:t>
            </a:r>
            <a:r>
              <a:rPr dirty="0" sz="1200">
                <a:latin typeface="Arial"/>
                <a:cs typeface="Arial"/>
              </a:rPr>
              <a:t>to </a:t>
            </a:r>
            <a:r>
              <a:rPr dirty="0" sz="1200" spc="-5">
                <a:latin typeface="Arial"/>
                <a:cs typeface="Arial"/>
              </a:rPr>
              <a:t>help </a:t>
            </a:r>
            <a:r>
              <a:rPr dirty="0" sz="1200">
                <a:latin typeface="Arial"/>
                <a:cs typeface="Arial"/>
              </a:rPr>
              <a:t>the </a:t>
            </a:r>
            <a:r>
              <a:rPr dirty="0" sz="1200" spc="-5">
                <a:latin typeface="Arial"/>
                <a:cs typeface="Arial"/>
              </a:rPr>
              <a:t>Jews in the construction of their </a:t>
            </a:r>
            <a:r>
              <a:rPr dirty="0" sz="1200">
                <a:latin typeface="Arial"/>
                <a:cs typeface="Arial"/>
              </a:rPr>
              <a:t>places </a:t>
            </a:r>
            <a:r>
              <a:rPr dirty="0" sz="1200" spc="-5">
                <a:latin typeface="Arial"/>
                <a:cs typeface="Arial"/>
              </a:rPr>
              <a:t>of</a:t>
            </a:r>
            <a:r>
              <a:rPr dirty="0" sz="1200" spc="45">
                <a:latin typeface="Arial"/>
                <a:cs typeface="Arial"/>
              </a:rPr>
              <a:t> </a:t>
            </a:r>
            <a:r>
              <a:rPr dirty="0" sz="1200" spc="-5">
                <a:latin typeface="Arial"/>
                <a:cs typeface="Arial"/>
              </a:rPr>
              <a:t>cult</a:t>
            </a:r>
            <a:endParaRPr sz="1200">
              <a:latin typeface="Arial"/>
              <a:cs typeface="Arial"/>
            </a:endParaRPr>
          </a:p>
          <a:p>
            <a:pPr marL="508000" indent="-229235">
              <a:lnSpc>
                <a:spcPts val="1380"/>
              </a:lnSpc>
              <a:buAutoNum type="arabicPeriod"/>
              <a:tabLst>
                <a:tab pos="508634" algn="l"/>
              </a:tabLst>
            </a:pPr>
            <a:r>
              <a:rPr dirty="0" sz="1200" spc="-5">
                <a:latin typeface="Arial"/>
                <a:cs typeface="Arial"/>
              </a:rPr>
              <a:t>He allowed Muslims to adapt the </a:t>
            </a:r>
            <a:r>
              <a:rPr dirty="0" sz="1200">
                <a:latin typeface="Arial"/>
                <a:cs typeface="Arial"/>
              </a:rPr>
              <a:t>fast </a:t>
            </a:r>
            <a:r>
              <a:rPr dirty="0" sz="1200" spc="-5">
                <a:latin typeface="Arial"/>
                <a:cs typeface="Arial"/>
              </a:rPr>
              <a:t>on </a:t>
            </a:r>
            <a:r>
              <a:rPr dirty="0" sz="1200">
                <a:latin typeface="Arial"/>
                <a:cs typeface="Arial"/>
              </a:rPr>
              <a:t>the </a:t>
            </a:r>
            <a:r>
              <a:rPr dirty="0" sz="1200" spc="5">
                <a:latin typeface="Arial"/>
                <a:cs typeface="Arial"/>
              </a:rPr>
              <a:t>10</a:t>
            </a:r>
            <a:r>
              <a:rPr dirty="0" baseline="38194" sz="1200" spc="7">
                <a:latin typeface="Arial"/>
                <a:cs typeface="Arial"/>
              </a:rPr>
              <a:t>th </a:t>
            </a:r>
            <a:r>
              <a:rPr dirty="0" sz="1200" spc="-5">
                <a:latin typeface="Arial"/>
                <a:cs typeface="Arial"/>
              </a:rPr>
              <a:t>of</a:t>
            </a:r>
            <a:r>
              <a:rPr dirty="0" sz="1200" spc="-135">
                <a:latin typeface="Arial"/>
                <a:cs typeface="Arial"/>
              </a:rPr>
              <a:t> </a:t>
            </a:r>
            <a:r>
              <a:rPr dirty="0" sz="1200" spc="-5">
                <a:latin typeface="Arial"/>
                <a:cs typeface="Arial"/>
              </a:rPr>
              <a:t>Muharram.</a:t>
            </a:r>
            <a:endParaRPr sz="1200">
              <a:latin typeface="Arial"/>
              <a:cs typeface="Arial"/>
            </a:endParaRPr>
          </a:p>
          <a:p>
            <a:pPr marL="508000" marR="68580" indent="-228600">
              <a:lnSpc>
                <a:spcPts val="1380"/>
              </a:lnSpc>
              <a:spcBef>
                <a:spcPts val="70"/>
              </a:spcBef>
              <a:buAutoNum type="arabicPeriod"/>
              <a:tabLst>
                <a:tab pos="508634" algn="l"/>
              </a:tabLst>
            </a:pPr>
            <a:r>
              <a:rPr dirty="0" sz="1200">
                <a:latin typeface="Arial"/>
                <a:cs typeface="Arial"/>
              </a:rPr>
              <a:t>Once </a:t>
            </a:r>
            <a:r>
              <a:rPr dirty="0" sz="1200" spc="-5">
                <a:latin typeface="Arial"/>
                <a:cs typeface="Arial"/>
              </a:rPr>
              <a:t>the prophet stood up when the </a:t>
            </a:r>
            <a:r>
              <a:rPr dirty="0" sz="1200" spc="-10">
                <a:latin typeface="Arial"/>
                <a:cs typeface="Arial"/>
              </a:rPr>
              <a:t>dead </a:t>
            </a:r>
            <a:r>
              <a:rPr dirty="0" sz="1200" spc="-5">
                <a:latin typeface="Arial"/>
                <a:cs typeface="Arial"/>
              </a:rPr>
              <a:t>body </a:t>
            </a:r>
            <a:r>
              <a:rPr dirty="0" sz="1200">
                <a:latin typeface="Arial"/>
                <a:cs typeface="Arial"/>
              </a:rPr>
              <a:t>of </a:t>
            </a:r>
            <a:r>
              <a:rPr dirty="0" sz="1200" spc="-5">
                <a:latin typeface="Arial"/>
                <a:cs typeface="Arial"/>
              </a:rPr>
              <a:t>a Jew </a:t>
            </a:r>
            <a:r>
              <a:rPr dirty="0" sz="1200" spc="-10">
                <a:latin typeface="Arial"/>
                <a:cs typeface="Arial"/>
              </a:rPr>
              <a:t>was </a:t>
            </a:r>
            <a:r>
              <a:rPr dirty="0" sz="1200">
                <a:latin typeface="Arial"/>
                <a:cs typeface="Arial"/>
              </a:rPr>
              <a:t>taken to </a:t>
            </a:r>
            <a:r>
              <a:rPr dirty="0" sz="1200" spc="-5">
                <a:latin typeface="Arial"/>
                <a:cs typeface="Arial"/>
              </a:rPr>
              <a:t>the cemetery  as a sign of</a:t>
            </a:r>
            <a:r>
              <a:rPr dirty="0" sz="1200" spc="15">
                <a:latin typeface="Arial"/>
                <a:cs typeface="Arial"/>
              </a:rPr>
              <a:t> </a:t>
            </a:r>
            <a:r>
              <a:rPr dirty="0" sz="1200" spc="-5">
                <a:latin typeface="Arial"/>
                <a:cs typeface="Arial"/>
              </a:rPr>
              <a:t>respect</a:t>
            </a:r>
            <a:endParaRPr sz="1200">
              <a:latin typeface="Arial"/>
              <a:cs typeface="Arial"/>
            </a:endParaRPr>
          </a:p>
          <a:p>
            <a:pPr marL="508000" indent="-229235">
              <a:lnSpc>
                <a:spcPts val="1345"/>
              </a:lnSpc>
              <a:buAutoNum type="arabicPeriod"/>
              <a:tabLst>
                <a:tab pos="508634" algn="l"/>
              </a:tabLst>
            </a:pPr>
            <a:r>
              <a:rPr dirty="0" sz="1200" spc="-5">
                <a:latin typeface="Arial"/>
                <a:cs typeface="Arial"/>
              </a:rPr>
              <a:t>He accepted the invitation of the Jews </a:t>
            </a:r>
            <a:r>
              <a:rPr dirty="0" sz="1200">
                <a:latin typeface="Arial"/>
                <a:cs typeface="Arial"/>
              </a:rPr>
              <a:t>for </a:t>
            </a:r>
            <a:r>
              <a:rPr dirty="0" sz="1200" spc="-5">
                <a:latin typeface="Arial"/>
                <a:cs typeface="Arial"/>
              </a:rPr>
              <a:t>lunch </a:t>
            </a:r>
            <a:r>
              <a:rPr dirty="0" sz="1200">
                <a:latin typeface="Arial"/>
                <a:cs typeface="Arial"/>
              </a:rPr>
              <a:t>or</a:t>
            </a:r>
            <a:r>
              <a:rPr dirty="0" sz="1200" spc="55">
                <a:latin typeface="Arial"/>
                <a:cs typeface="Arial"/>
              </a:rPr>
              <a:t> </a:t>
            </a:r>
            <a:r>
              <a:rPr dirty="0" sz="1200" spc="-5">
                <a:latin typeface="Arial"/>
                <a:cs typeface="Arial"/>
              </a:rPr>
              <a:t>dinner</a:t>
            </a:r>
            <a:endParaRPr sz="1200">
              <a:latin typeface="Arial"/>
              <a:cs typeface="Arial"/>
            </a:endParaRPr>
          </a:p>
          <a:p>
            <a:pPr>
              <a:lnSpc>
                <a:spcPct val="100000"/>
              </a:lnSpc>
            </a:pPr>
            <a:endParaRPr sz="1150">
              <a:latin typeface="Arial"/>
              <a:cs typeface="Arial"/>
            </a:endParaRPr>
          </a:p>
          <a:p>
            <a:pPr marL="50800">
              <a:lnSpc>
                <a:spcPct val="100000"/>
              </a:lnSpc>
            </a:pPr>
            <a:r>
              <a:rPr dirty="0" u="heavy" sz="1200" spc="-5" b="1" i="1">
                <a:uFill>
                  <a:solidFill>
                    <a:srgbClr val="000000"/>
                  </a:solidFill>
                </a:uFill>
                <a:latin typeface="Arial"/>
                <a:cs typeface="Arial"/>
              </a:rPr>
              <a:t>Why </a:t>
            </a:r>
            <a:r>
              <a:rPr dirty="0" u="heavy" sz="1200" b="1" i="1">
                <a:uFill>
                  <a:solidFill>
                    <a:srgbClr val="000000"/>
                  </a:solidFill>
                </a:uFill>
                <a:latin typeface="Arial"/>
                <a:cs typeface="Arial"/>
              </a:rPr>
              <a:t>did </a:t>
            </a:r>
            <a:r>
              <a:rPr dirty="0" u="heavy" sz="1200" spc="-5" b="1" i="1">
                <a:uFill>
                  <a:solidFill>
                    <a:srgbClr val="000000"/>
                  </a:solidFill>
                </a:uFill>
                <a:latin typeface="Arial"/>
                <a:cs typeface="Arial"/>
              </a:rPr>
              <a:t>that relationship change </a:t>
            </a:r>
            <a:r>
              <a:rPr dirty="0" u="heavy" sz="1200" b="1" i="1">
                <a:uFill>
                  <a:solidFill>
                    <a:srgbClr val="000000"/>
                  </a:solidFill>
                </a:uFill>
                <a:latin typeface="Arial"/>
                <a:cs typeface="Arial"/>
              </a:rPr>
              <a:t>later</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on?</a:t>
            </a:r>
            <a:endParaRPr sz="1200">
              <a:latin typeface="Arial"/>
              <a:cs typeface="Arial"/>
            </a:endParaRPr>
          </a:p>
          <a:p>
            <a:pPr>
              <a:lnSpc>
                <a:spcPct val="100000"/>
              </a:lnSpc>
              <a:spcBef>
                <a:spcPts val="55"/>
              </a:spcBef>
            </a:pPr>
            <a:endParaRPr sz="1100">
              <a:latin typeface="Arial"/>
              <a:cs typeface="Arial"/>
            </a:endParaRPr>
          </a:p>
          <a:p>
            <a:pPr marL="500380" indent="-229235">
              <a:lnSpc>
                <a:spcPts val="1410"/>
              </a:lnSpc>
              <a:buAutoNum type="arabicPeriod"/>
              <a:tabLst>
                <a:tab pos="501015" algn="l"/>
              </a:tabLst>
            </a:pPr>
            <a:r>
              <a:rPr dirty="0" sz="1200" spc="-5">
                <a:latin typeface="Arial"/>
                <a:cs typeface="Arial"/>
              </a:rPr>
              <a:t>Jews became allies of </a:t>
            </a:r>
            <a:r>
              <a:rPr dirty="0" sz="1200">
                <a:latin typeface="Arial"/>
                <a:cs typeface="Arial"/>
              </a:rPr>
              <a:t>the</a:t>
            </a:r>
            <a:r>
              <a:rPr dirty="0" sz="1200" spc="20">
                <a:latin typeface="Arial"/>
                <a:cs typeface="Arial"/>
              </a:rPr>
              <a:t> </a:t>
            </a:r>
            <a:r>
              <a:rPr dirty="0" sz="1200" spc="-5">
                <a:latin typeface="Arial"/>
                <a:cs typeface="Arial"/>
              </a:rPr>
              <a:t>Maccans</a:t>
            </a:r>
            <a:endParaRPr sz="1200">
              <a:latin typeface="Arial"/>
              <a:cs typeface="Arial"/>
            </a:endParaRPr>
          </a:p>
          <a:p>
            <a:pPr marL="500380" indent="-229235">
              <a:lnSpc>
                <a:spcPts val="1380"/>
              </a:lnSpc>
              <a:buAutoNum type="arabicPeriod"/>
              <a:tabLst>
                <a:tab pos="501015" algn="l"/>
              </a:tabLst>
            </a:pPr>
            <a:r>
              <a:rPr dirty="0" sz="1200" spc="-5">
                <a:latin typeface="Arial"/>
                <a:cs typeface="Arial"/>
              </a:rPr>
              <a:t>They suggested the Quraish </a:t>
            </a:r>
            <a:r>
              <a:rPr dirty="0" sz="1200">
                <a:latin typeface="Arial"/>
                <a:cs typeface="Arial"/>
              </a:rPr>
              <a:t>to fight </a:t>
            </a:r>
            <a:r>
              <a:rPr dirty="0" sz="1200" spc="-5">
                <a:latin typeface="Arial"/>
                <a:cs typeface="Arial"/>
              </a:rPr>
              <a:t>the</a:t>
            </a:r>
            <a:r>
              <a:rPr dirty="0" sz="1200" spc="25">
                <a:latin typeface="Arial"/>
                <a:cs typeface="Arial"/>
              </a:rPr>
              <a:t> </a:t>
            </a:r>
            <a:r>
              <a:rPr dirty="0" sz="1200" spc="-5">
                <a:latin typeface="Arial"/>
                <a:cs typeface="Arial"/>
              </a:rPr>
              <a:t>Muslims</a:t>
            </a:r>
            <a:endParaRPr sz="1200">
              <a:latin typeface="Arial"/>
              <a:cs typeface="Arial"/>
            </a:endParaRPr>
          </a:p>
          <a:p>
            <a:pPr marL="500380" indent="-229235">
              <a:lnSpc>
                <a:spcPts val="1380"/>
              </a:lnSpc>
              <a:buAutoNum type="arabicPeriod"/>
              <a:tabLst>
                <a:tab pos="501015" algn="l"/>
              </a:tabLst>
            </a:pPr>
            <a:r>
              <a:rPr dirty="0" sz="1200" spc="-5">
                <a:latin typeface="Arial"/>
                <a:cs typeface="Arial"/>
              </a:rPr>
              <a:t>Banu Nadir (Jewish tribe) in exile in Khaybar, plotted against</a:t>
            </a:r>
            <a:r>
              <a:rPr dirty="0" sz="1200" spc="50">
                <a:latin typeface="Arial"/>
                <a:cs typeface="Arial"/>
              </a:rPr>
              <a:t> </a:t>
            </a:r>
            <a:r>
              <a:rPr dirty="0" sz="1200" spc="-5">
                <a:latin typeface="Arial"/>
                <a:cs typeface="Arial"/>
              </a:rPr>
              <a:t>Muslims</a:t>
            </a:r>
            <a:endParaRPr sz="1200">
              <a:latin typeface="Arial"/>
              <a:cs typeface="Arial"/>
            </a:endParaRPr>
          </a:p>
          <a:p>
            <a:pPr marL="500380" marR="61594" indent="-228600">
              <a:lnSpc>
                <a:spcPts val="1380"/>
              </a:lnSpc>
              <a:spcBef>
                <a:spcPts val="65"/>
              </a:spcBef>
              <a:buAutoNum type="arabicPeriod"/>
              <a:tabLst>
                <a:tab pos="501015" algn="l"/>
              </a:tabLst>
            </a:pPr>
            <a:r>
              <a:rPr dirty="0" sz="1200" spc="-5">
                <a:latin typeface="Arial"/>
                <a:cs typeface="Arial"/>
              </a:rPr>
              <a:t>Jewish delegation went to Banu Ghatafan and other tribes, suggesting </a:t>
            </a:r>
            <a:r>
              <a:rPr dirty="0" sz="1200">
                <a:latin typeface="Arial"/>
                <a:cs typeface="Arial"/>
              </a:rPr>
              <a:t>fighting  </a:t>
            </a:r>
            <a:r>
              <a:rPr dirty="0" sz="1200" spc="-5">
                <a:latin typeface="Arial"/>
                <a:cs typeface="Arial"/>
              </a:rPr>
              <a:t>Muslims </a:t>
            </a:r>
            <a:r>
              <a:rPr dirty="0" sz="1200">
                <a:latin typeface="Arial"/>
                <a:cs typeface="Arial"/>
              </a:rPr>
              <a:t>for </a:t>
            </a:r>
            <a:r>
              <a:rPr dirty="0" sz="1200" spc="-5">
                <a:latin typeface="Arial"/>
                <a:cs typeface="Arial"/>
              </a:rPr>
              <a:t>a</a:t>
            </a:r>
            <a:r>
              <a:rPr dirty="0" sz="1200" spc="-20">
                <a:latin typeface="Arial"/>
                <a:cs typeface="Arial"/>
              </a:rPr>
              <a:t> </a:t>
            </a:r>
            <a:r>
              <a:rPr dirty="0" sz="1200" spc="-5">
                <a:latin typeface="Arial"/>
                <a:cs typeface="Arial"/>
              </a:rPr>
              <a:t>reward</a:t>
            </a:r>
            <a:endParaRPr sz="1200">
              <a:latin typeface="Arial"/>
              <a:cs typeface="Arial"/>
            </a:endParaRPr>
          </a:p>
          <a:p>
            <a:pPr marL="500380" indent="-229235">
              <a:lnSpc>
                <a:spcPts val="1315"/>
              </a:lnSpc>
              <a:buAutoNum type="arabicPeriod"/>
              <a:tabLst>
                <a:tab pos="501015" algn="l"/>
              </a:tabLst>
            </a:pPr>
            <a:r>
              <a:rPr dirty="0" sz="1200">
                <a:latin typeface="Arial"/>
                <a:cs typeface="Arial"/>
              </a:rPr>
              <a:t>A </a:t>
            </a:r>
            <a:r>
              <a:rPr dirty="0" sz="1200" spc="-5">
                <a:latin typeface="Arial"/>
                <a:cs typeface="Arial"/>
              </a:rPr>
              <a:t>large </a:t>
            </a:r>
            <a:r>
              <a:rPr dirty="0" sz="1200">
                <a:latin typeface="Arial"/>
                <a:cs typeface="Arial"/>
              </a:rPr>
              <a:t>army </a:t>
            </a:r>
            <a:r>
              <a:rPr dirty="0" sz="1200" spc="-5">
                <a:latin typeface="Arial"/>
                <a:cs typeface="Arial"/>
              </a:rPr>
              <a:t>of 10 000 men (Meccans and tribes, including Jews) led </a:t>
            </a:r>
            <a:r>
              <a:rPr dirty="0" sz="1200">
                <a:latin typeface="Arial"/>
                <a:cs typeface="Arial"/>
              </a:rPr>
              <a:t>by </a:t>
            </a:r>
            <a:r>
              <a:rPr dirty="0" sz="1200" spc="-5">
                <a:latin typeface="Arial"/>
                <a:cs typeface="Arial"/>
              </a:rPr>
              <a:t>Abu</a:t>
            </a:r>
            <a:r>
              <a:rPr dirty="0" sz="1200" spc="75">
                <a:latin typeface="Arial"/>
                <a:cs typeface="Arial"/>
              </a:rPr>
              <a:t> </a:t>
            </a:r>
            <a:r>
              <a:rPr dirty="0" sz="1200" spc="-5">
                <a:latin typeface="Arial"/>
                <a:cs typeface="Arial"/>
              </a:rPr>
              <a:t>Sufiyan</a:t>
            </a:r>
            <a:endParaRPr sz="1200">
              <a:latin typeface="Arial"/>
              <a:cs typeface="Arial"/>
            </a:endParaRPr>
          </a:p>
          <a:p>
            <a:pPr marL="500380" indent="-229235">
              <a:lnSpc>
                <a:spcPts val="1380"/>
              </a:lnSpc>
              <a:buAutoNum type="arabicPeriod"/>
              <a:tabLst>
                <a:tab pos="501015" algn="l"/>
              </a:tabLst>
            </a:pPr>
            <a:r>
              <a:rPr dirty="0" sz="1200" spc="-5">
                <a:latin typeface="Arial"/>
                <a:cs typeface="Arial"/>
              </a:rPr>
              <a:t>The hypocrisy </a:t>
            </a:r>
            <a:r>
              <a:rPr dirty="0" sz="1200">
                <a:latin typeface="Arial"/>
                <a:cs typeface="Arial"/>
              </a:rPr>
              <a:t>of </a:t>
            </a:r>
            <a:r>
              <a:rPr dirty="0" sz="1200" spc="-5">
                <a:latin typeface="Arial"/>
                <a:cs typeface="Arial"/>
              </a:rPr>
              <a:t>Abdullah </a:t>
            </a:r>
            <a:r>
              <a:rPr dirty="0" sz="1200">
                <a:latin typeface="Arial"/>
                <a:cs typeface="Arial"/>
              </a:rPr>
              <a:t>bin </a:t>
            </a:r>
            <a:r>
              <a:rPr dirty="0" sz="1200" spc="-5">
                <a:latin typeface="Arial"/>
                <a:cs typeface="Arial"/>
              </a:rPr>
              <a:t>Saba and Abdullah </a:t>
            </a:r>
            <a:r>
              <a:rPr dirty="0" sz="1200">
                <a:latin typeface="Arial"/>
                <a:cs typeface="Arial"/>
              </a:rPr>
              <a:t>bin </a:t>
            </a:r>
            <a:r>
              <a:rPr dirty="0" sz="1200" spc="-10">
                <a:latin typeface="Arial"/>
                <a:cs typeface="Arial"/>
              </a:rPr>
              <a:t>Ubayy</a:t>
            </a:r>
            <a:endParaRPr sz="1200">
              <a:latin typeface="Arial"/>
              <a:cs typeface="Arial"/>
            </a:endParaRPr>
          </a:p>
          <a:p>
            <a:pPr marL="500380" indent="-229235">
              <a:lnSpc>
                <a:spcPts val="1380"/>
              </a:lnSpc>
              <a:buAutoNum type="arabicPeriod"/>
              <a:tabLst>
                <a:tab pos="501015" algn="l"/>
              </a:tabLst>
            </a:pPr>
            <a:r>
              <a:rPr dirty="0" sz="1200" spc="-5">
                <a:latin typeface="Arial"/>
                <a:cs typeface="Arial"/>
              </a:rPr>
              <a:t>300 </a:t>
            </a:r>
            <a:r>
              <a:rPr dirty="0" sz="1200" spc="-10">
                <a:latin typeface="Arial"/>
                <a:cs typeface="Arial"/>
              </a:rPr>
              <a:t>Jews </a:t>
            </a:r>
            <a:r>
              <a:rPr dirty="0" sz="1200" spc="-5">
                <a:latin typeface="Arial"/>
                <a:cs typeface="Arial"/>
              </a:rPr>
              <a:t>abandoned the army </a:t>
            </a:r>
            <a:r>
              <a:rPr dirty="0" sz="1200">
                <a:latin typeface="Arial"/>
                <a:cs typeface="Arial"/>
              </a:rPr>
              <a:t>on </a:t>
            </a:r>
            <a:r>
              <a:rPr dirty="0" sz="1200" spc="-5">
                <a:latin typeface="Arial"/>
                <a:cs typeface="Arial"/>
              </a:rPr>
              <a:t>the </a:t>
            </a:r>
            <a:r>
              <a:rPr dirty="0" sz="1200" spc="-10">
                <a:latin typeface="Arial"/>
                <a:cs typeface="Arial"/>
              </a:rPr>
              <a:t>way </a:t>
            </a:r>
            <a:r>
              <a:rPr dirty="0" sz="1200">
                <a:latin typeface="Arial"/>
                <a:cs typeface="Arial"/>
              </a:rPr>
              <a:t>to</a:t>
            </a:r>
            <a:r>
              <a:rPr dirty="0" sz="1200" spc="5">
                <a:latin typeface="Arial"/>
                <a:cs typeface="Arial"/>
              </a:rPr>
              <a:t> </a:t>
            </a:r>
            <a:r>
              <a:rPr dirty="0" sz="1200" spc="-5">
                <a:latin typeface="Arial"/>
                <a:cs typeface="Arial"/>
              </a:rPr>
              <a:t>Uhud</a:t>
            </a:r>
            <a:endParaRPr sz="1200">
              <a:latin typeface="Arial"/>
              <a:cs typeface="Arial"/>
            </a:endParaRPr>
          </a:p>
          <a:p>
            <a:pPr marL="500380" marR="62230" indent="-228600">
              <a:lnSpc>
                <a:spcPts val="1380"/>
              </a:lnSpc>
              <a:spcBef>
                <a:spcPts val="65"/>
              </a:spcBef>
              <a:buAutoNum type="arabicPeriod"/>
              <a:tabLst>
                <a:tab pos="501015" algn="l"/>
              </a:tabLst>
            </a:pPr>
            <a:r>
              <a:rPr dirty="0" sz="1200" spc="-5">
                <a:latin typeface="Arial"/>
                <a:cs typeface="Arial"/>
              </a:rPr>
              <a:t>Banu Qurayza (Jewish tribe) living in Medina, also conspired with Meccans to attack  from</a:t>
            </a:r>
            <a:r>
              <a:rPr dirty="0" sz="1200" spc="5">
                <a:latin typeface="Arial"/>
                <a:cs typeface="Arial"/>
              </a:rPr>
              <a:t> </a:t>
            </a:r>
            <a:r>
              <a:rPr dirty="0" sz="1200" spc="-5">
                <a:latin typeface="Arial"/>
                <a:cs typeface="Arial"/>
              </a:rPr>
              <a:t>rear</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29</a:t>
            </a:r>
            <a:endParaRPr sz="1200">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09360" cy="933831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marL="462280" marR="5080" indent="-229235">
              <a:lnSpc>
                <a:spcPts val="1380"/>
              </a:lnSpc>
              <a:buAutoNum type="arabicPeriod" startAt="9"/>
              <a:tabLst>
                <a:tab pos="462915" algn="l"/>
              </a:tabLst>
            </a:pPr>
            <a:r>
              <a:rPr dirty="0" sz="1200" spc="-5">
                <a:latin typeface="Arial"/>
                <a:cs typeface="Arial"/>
              </a:rPr>
              <a:t>Month </a:t>
            </a:r>
            <a:r>
              <a:rPr dirty="0" sz="1200">
                <a:latin typeface="Arial"/>
                <a:cs typeface="Arial"/>
              </a:rPr>
              <a:t>long </a:t>
            </a:r>
            <a:r>
              <a:rPr dirty="0" sz="1200" spc="-5">
                <a:latin typeface="Arial"/>
                <a:cs typeface="Arial"/>
              </a:rPr>
              <a:t>confrontation resulted in differences/disagreements </a:t>
            </a:r>
            <a:r>
              <a:rPr dirty="0" sz="1200" spc="-10">
                <a:latin typeface="Arial"/>
                <a:cs typeface="Arial"/>
              </a:rPr>
              <a:t>between </a:t>
            </a:r>
            <a:r>
              <a:rPr dirty="0" sz="1200" spc="-5">
                <a:latin typeface="Arial"/>
                <a:cs typeface="Arial"/>
              </a:rPr>
              <a:t>Muslims and  Jews</a:t>
            </a:r>
            <a:endParaRPr sz="1200">
              <a:latin typeface="Arial"/>
              <a:cs typeface="Arial"/>
            </a:endParaRPr>
          </a:p>
          <a:p>
            <a:pPr marL="462280" marR="5715" indent="-229235">
              <a:lnSpc>
                <a:spcPts val="1380"/>
              </a:lnSpc>
              <a:spcBef>
                <a:spcPts val="5"/>
              </a:spcBef>
              <a:buFont typeface="Times New Roman"/>
              <a:buAutoNum type="arabicPeriod" startAt="9"/>
              <a:tabLst>
                <a:tab pos="462915" algn="l"/>
              </a:tabLst>
            </a:pPr>
            <a:r>
              <a:rPr dirty="0" sz="1200" spc="-5">
                <a:latin typeface="Arial"/>
                <a:cs typeface="Arial"/>
              </a:rPr>
              <a:t>Jews were rich and </a:t>
            </a:r>
            <a:r>
              <a:rPr dirty="0" sz="1200" spc="5">
                <a:latin typeface="Arial"/>
                <a:cs typeface="Arial"/>
              </a:rPr>
              <a:t>thus </a:t>
            </a:r>
            <a:r>
              <a:rPr dirty="0" sz="1200" spc="-5">
                <a:latin typeface="Arial"/>
                <a:cs typeface="Arial"/>
              </a:rPr>
              <a:t>influential people in Medina. They had monopoly </a:t>
            </a:r>
            <a:r>
              <a:rPr dirty="0" sz="1200">
                <a:latin typeface="Arial"/>
                <a:cs typeface="Arial"/>
              </a:rPr>
              <a:t>of  </a:t>
            </a:r>
            <a:r>
              <a:rPr dirty="0" sz="1200" spc="-5">
                <a:latin typeface="Arial"/>
                <a:cs typeface="Arial"/>
              </a:rPr>
              <a:t>commerce and</a:t>
            </a:r>
            <a:r>
              <a:rPr dirty="0" sz="1200" spc="-15">
                <a:latin typeface="Arial"/>
                <a:cs typeface="Arial"/>
              </a:rPr>
              <a:t> </a:t>
            </a:r>
            <a:r>
              <a:rPr dirty="0" sz="1200" spc="-5">
                <a:latin typeface="Arial"/>
                <a:cs typeface="Arial"/>
              </a:rPr>
              <a:t>finance</a:t>
            </a:r>
            <a:endParaRPr sz="1200">
              <a:latin typeface="Arial"/>
              <a:cs typeface="Arial"/>
            </a:endParaRPr>
          </a:p>
          <a:p>
            <a:pPr marL="462280" indent="-229235">
              <a:lnSpc>
                <a:spcPts val="1315"/>
              </a:lnSpc>
              <a:buAutoNum type="arabicPeriod" startAt="9"/>
              <a:tabLst>
                <a:tab pos="462915" algn="l"/>
              </a:tabLst>
            </a:pPr>
            <a:r>
              <a:rPr dirty="0" sz="1200" spc="-5">
                <a:latin typeface="Arial"/>
                <a:cs typeface="Arial"/>
              </a:rPr>
              <a:t>Some became unhappy </a:t>
            </a:r>
            <a:r>
              <a:rPr dirty="0" sz="1200">
                <a:latin typeface="Arial"/>
                <a:cs typeface="Arial"/>
              </a:rPr>
              <a:t>because the prohibition </a:t>
            </a:r>
            <a:r>
              <a:rPr dirty="0" sz="1200" spc="-5">
                <a:latin typeface="Arial"/>
                <a:cs typeface="Arial"/>
              </a:rPr>
              <a:t>of</a:t>
            </a:r>
            <a:r>
              <a:rPr dirty="0" sz="1200" spc="-35">
                <a:latin typeface="Arial"/>
                <a:cs typeface="Arial"/>
              </a:rPr>
              <a:t> </a:t>
            </a:r>
            <a:r>
              <a:rPr dirty="0" sz="1200" spc="-5">
                <a:latin typeface="Arial"/>
                <a:cs typeface="Arial"/>
              </a:rPr>
              <a:t>usury</a:t>
            </a:r>
            <a:endParaRPr sz="1200">
              <a:latin typeface="Arial"/>
              <a:cs typeface="Arial"/>
            </a:endParaRPr>
          </a:p>
          <a:p>
            <a:pPr marL="462280" indent="-229235">
              <a:lnSpc>
                <a:spcPts val="1380"/>
              </a:lnSpc>
              <a:buAutoNum type="arabicPeriod" startAt="9"/>
              <a:tabLst>
                <a:tab pos="462915" algn="l"/>
              </a:tabLst>
            </a:pPr>
            <a:r>
              <a:rPr dirty="0" sz="1200" spc="-5">
                <a:latin typeface="Arial"/>
                <a:cs typeface="Arial"/>
              </a:rPr>
              <a:t>They wanted </a:t>
            </a:r>
            <a:r>
              <a:rPr dirty="0" sz="1200">
                <a:latin typeface="Arial"/>
                <a:cs typeface="Arial"/>
              </a:rPr>
              <a:t>only </a:t>
            </a:r>
            <a:r>
              <a:rPr dirty="0" sz="1200" spc="-5">
                <a:latin typeface="Arial"/>
                <a:cs typeface="Arial"/>
              </a:rPr>
              <a:t>favours </a:t>
            </a:r>
            <a:r>
              <a:rPr dirty="0" sz="1200">
                <a:latin typeface="Arial"/>
                <a:cs typeface="Arial"/>
              </a:rPr>
              <a:t>from the</a:t>
            </a:r>
            <a:r>
              <a:rPr dirty="0" sz="1200" spc="-55">
                <a:latin typeface="Arial"/>
                <a:cs typeface="Arial"/>
              </a:rPr>
              <a:t> </a:t>
            </a:r>
            <a:r>
              <a:rPr dirty="0" sz="1200" spc="-5">
                <a:latin typeface="Arial"/>
                <a:cs typeface="Arial"/>
              </a:rPr>
              <a:t>Prophet</a:t>
            </a:r>
            <a:endParaRPr sz="1200">
              <a:latin typeface="Arial"/>
              <a:cs typeface="Arial"/>
            </a:endParaRPr>
          </a:p>
          <a:p>
            <a:pPr marL="462280" indent="-229235">
              <a:lnSpc>
                <a:spcPts val="1380"/>
              </a:lnSpc>
              <a:buAutoNum type="arabicPeriod" startAt="9"/>
              <a:tabLst>
                <a:tab pos="462915" algn="l"/>
              </a:tabLst>
            </a:pPr>
            <a:r>
              <a:rPr dirty="0" sz="1200" spc="-5">
                <a:latin typeface="Arial"/>
                <a:cs typeface="Arial"/>
              </a:rPr>
              <a:t>Jews </a:t>
            </a:r>
            <a:r>
              <a:rPr dirty="0" sz="1200">
                <a:latin typeface="Arial"/>
                <a:cs typeface="Arial"/>
              </a:rPr>
              <a:t>only </a:t>
            </a:r>
            <a:r>
              <a:rPr dirty="0" sz="1200" spc="-5">
                <a:latin typeface="Arial"/>
                <a:cs typeface="Arial"/>
              </a:rPr>
              <a:t>wanted Macca </a:t>
            </a:r>
            <a:r>
              <a:rPr dirty="0" sz="1200">
                <a:latin typeface="Arial"/>
                <a:cs typeface="Arial"/>
              </a:rPr>
              <a:t>to fall </a:t>
            </a:r>
            <a:r>
              <a:rPr dirty="0" sz="1200" spc="-5">
                <a:latin typeface="Arial"/>
                <a:cs typeface="Arial"/>
              </a:rPr>
              <a:t>and then </a:t>
            </a:r>
            <a:r>
              <a:rPr dirty="0" sz="1200">
                <a:latin typeface="Arial"/>
                <a:cs typeface="Arial"/>
              </a:rPr>
              <a:t>to </a:t>
            </a:r>
            <a:r>
              <a:rPr dirty="0" sz="1200" spc="-5">
                <a:latin typeface="Arial"/>
                <a:cs typeface="Arial"/>
              </a:rPr>
              <a:t>take</a:t>
            </a:r>
            <a:r>
              <a:rPr dirty="0" sz="1200">
                <a:latin typeface="Arial"/>
                <a:cs typeface="Arial"/>
              </a:rPr>
              <a:t> </a:t>
            </a:r>
            <a:r>
              <a:rPr dirty="0" sz="1200" spc="-5">
                <a:latin typeface="Arial"/>
                <a:cs typeface="Arial"/>
              </a:rPr>
              <a:t>possession</a:t>
            </a:r>
            <a:endParaRPr sz="1200">
              <a:latin typeface="Arial"/>
              <a:cs typeface="Arial"/>
            </a:endParaRPr>
          </a:p>
          <a:p>
            <a:pPr marL="462280" indent="-229235">
              <a:lnSpc>
                <a:spcPts val="1410"/>
              </a:lnSpc>
              <a:buAutoNum type="arabicPeriod" startAt="9"/>
              <a:tabLst>
                <a:tab pos="462915" algn="l"/>
              </a:tabLst>
            </a:pPr>
            <a:r>
              <a:rPr dirty="0" sz="1200" spc="-5">
                <a:latin typeface="Arial"/>
                <a:cs typeface="Arial"/>
              </a:rPr>
              <a:t>They were </a:t>
            </a:r>
            <a:r>
              <a:rPr dirty="0" sz="1200">
                <a:latin typeface="Arial"/>
                <a:cs typeface="Arial"/>
              </a:rPr>
              <a:t>jealous </a:t>
            </a:r>
            <a:r>
              <a:rPr dirty="0" sz="1200" spc="-5">
                <a:latin typeface="Arial"/>
                <a:cs typeface="Arial"/>
              </a:rPr>
              <a:t>of the </a:t>
            </a:r>
            <a:r>
              <a:rPr dirty="0" sz="1200">
                <a:latin typeface="Arial"/>
                <a:cs typeface="Arial"/>
              </a:rPr>
              <a:t>fame </a:t>
            </a:r>
            <a:r>
              <a:rPr dirty="0" sz="1200" spc="-5">
                <a:latin typeface="Arial"/>
                <a:cs typeface="Arial"/>
              </a:rPr>
              <a:t>of the prophet</a:t>
            </a:r>
            <a:endParaRPr sz="1200">
              <a:latin typeface="Arial"/>
              <a:cs typeface="Arial"/>
            </a:endParaRPr>
          </a:p>
          <a:p>
            <a:pPr>
              <a:lnSpc>
                <a:spcPct val="100000"/>
              </a:lnSpc>
              <a:spcBef>
                <a:spcPts val="55"/>
              </a:spcBef>
            </a:pPr>
            <a:endParaRPr sz="1100">
              <a:latin typeface="Arial"/>
              <a:cs typeface="Arial"/>
            </a:endParaRPr>
          </a:p>
          <a:p>
            <a:pPr marL="12700">
              <a:lnSpc>
                <a:spcPts val="141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marL="2649220">
              <a:lnSpc>
                <a:spcPts val="141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55"/>
              </a:spcBef>
            </a:pPr>
            <a:endParaRPr sz="1150">
              <a:latin typeface="Arial"/>
              <a:cs typeface="Arial"/>
            </a:endParaRPr>
          </a:p>
          <a:p>
            <a:pPr algn="just" marL="12700" marR="5080">
              <a:lnSpc>
                <a:spcPct val="95900"/>
              </a:lnSpc>
              <a:buAutoNum type="arabicPlain"/>
              <a:tabLst>
                <a:tab pos="148590" algn="l"/>
              </a:tabLst>
            </a:pPr>
            <a:r>
              <a:rPr dirty="0" sz="1200" spc="-5">
                <a:latin typeface="Arial"/>
                <a:cs typeface="Arial"/>
              </a:rPr>
              <a:t>Referring </a:t>
            </a:r>
            <a:r>
              <a:rPr dirty="0" sz="1200">
                <a:latin typeface="Arial"/>
                <a:cs typeface="Arial"/>
              </a:rPr>
              <a:t>to the </a:t>
            </a:r>
            <a:r>
              <a:rPr dirty="0" sz="1200" spc="-5">
                <a:latin typeface="Arial"/>
                <a:cs typeface="Arial"/>
              </a:rPr>
              <a:t>main events of </a:t>
            </a:r>
            <a:r>
              <a:rPr dirty="0" sz="1200">
                <a:latin typeface="Arial"/>
                <a:cs typeface="Arial"/>
              </a:rPr>
              <a:t>the </a:t>
            </a:r>
            <a:r>
              <a:rPr dirty="0" sz="1200" spc="-5">
                <a:latin typeface="Arial"/>
                <a:cs typeface="Arial"/>
              </a:rPr>
              <a:t>Prophet‘s </a:t>
            </a:r>
            <a:r>
              <a:rPr dirty="0" sz="1200">
                <a:latin typeface="Arial"/>
                <a:cs typeface="Arial"/>
              </a:rPr>
              <a:t>career while </a:t>
            </a:r>
            <a:r>
              <a:rPr dirty="0" sz="1200" spc="-5">
                <a:latin typeface="Arial"/>
                <a:cs typeface="Arial"/>
              </a:rPr>
              <a:t>he </a:t>
            </a:r>
            <a:r>
              <a:rPr dirty="0" sz="1200">
                <a:latin typeface="Arial"/>
                <a:cs typeface="Arial"/>
              </a:rPr>
              <a:t>lived </a:t>
            </a:r>
            <a:r>
              <a:rPr dirty="0" sz="1200" spc="-5">
                <a:latin typeface="Arial"/>
                <a:cs typeface="Arial"/>
              </a:rPr>
              <a:t>in Mecca between </a:t>
            </a:r>
            <a:r>
              <a:rPr dirty="0" sz="1200" spc="-10">
                <a:latin typeface="Arial"/>
                <a:cs typeface="Arial"/>
              </a:rPr>
              <a:t>610  </a:t>
            </a:r>
            <a:r>
              <a:rPr dirty="0" sz="1200" spc="-5">
                <a:latin typeface="Arial"/>
                <a:cs typeface="Arial"/>
              </a:rPr>
              <a:t>and 622, show how </a:t>
            </a:r>
            <a:r>
              <a:rPr dirty="0" sz="1200" spc="-10">
                <a:latin typeface="Arial"/>
                <a:cs typeface="Arial"/>
              </a:rPr>
              <a:t>his </a:t>
            </a:r>
            <a:r>
              <a:rPr dirty="0" sz="1200" spc="-5">
                <a:latin typeface="Arial"/>
                <a:cs typeface="Arial"/>
              </a:rPr>
              <a:t>actions indicate his confidence that he </a:t>
            </a:r>
            <a:r>
              <a:rPr dirty="0" sz="1200" spc="-10">
                <a:latin typeface="Arial"/>
                <a:cs typeface="Arial"/>
              </a:rPr>
              <a:t>was </a:t>
            </a:r>
            <a:r>
              <a:rPr dirty="0" sz="1200" spc="-5" i="1">
                <a:latin typeface="Arial"/>
                <a:cs typeface="Arial"/>
              </a:rPr>
              <a:t>rasul Allah</a:t>
            </a:r>
            <a:r>
              <a:rPr dirty="0" sz="1200" spc="-5">
                <a:latin typeface="Arial"/>
                <a:cs typeface="Arial"/>
              </a:rPr>
              <a:t>, messenger of  </a:t>
            </a:r>
            <a:r>
              <a:rPr dirty="0" sz="1200">
                <a:latin typeface="Arial"/>
                <a:cs typeface="Arial"/>
              </a:rPr>
              <a:t>God.</a:t>
            </a:r>
            <a:r>
              <a:rPr dirty="0" sz="1200" spc="-15">
                <a:latin typeface="Arial"/>
                <a:cs typeface="Arial"/>
              </a:rPr>
              <a:t> </a:t>
            </a:r>
            <a:r>
              <a:rPr dirty="0" sz="1200" spc="-5">
                <a:latin typeface="Arial"/>
                <a:cs typeface="Arial"/>
              </a:rPr>
              <a:t>[20]</a:t>
            </a:r>
            <a:endParaRPr sz="1200">
              <a:latin typeface="Arial"/>
              <a:cs typeface="Arial"/>
            </a:endParaRPr>
          </a:p>
          <a:p>
            <a:pPr>
              <a:lnSpc>
                <a:spcPct val="100000"/>
              </a:lnSpc>
              <a:spcBef>
                <a:spcPts val="35"/>
              </a:spcBef>
              <a:buFont typeface="Arial"/>
              <a:buAutoNum type="arabicPlain"/>
            </a:pPr>
            <a:endParaRPr sz="1200">
              <a:latin typeface="Arial"/>
              <a:cs typeface="Arial"/>
            </a:endParaRPr>
          </a:p>
          <a:p>
            <a:pPr marL="12700" marR="354330">
              <a:lnSpc>
                <a:spcPts val="1380"/>
              </a:lnSpc>
              <a:buAutoNum type="arabicPlain"/>
              <a:tabLst>
                <a:tab pos="140335" algn="l"/>
              </a:tabLst>
            </a:pPr>
            <a:r>
              <a:rPr dirty="0" sz="1200" spc="-5">
                <a:latin typeface="Arial"/>
                <a:cs typeface="Arial"/>
              </a:rPr>
              <a:t>(a) Trace the development of the Prophet‘s relationship </a:t>
            </a:r>
            <a:r>
              <a:rPr dirty="0" sz="1200" spc="-10">
                <a:latin typeface="Arial"/>
                <a:cs typeface="Arial"/>
              </a:rPr>
              <a:t>with </a:t>
            </a:r>
            <a:r>
              <a:rPr dirty="0" sz="1200">
                <a:latin typeface="Arial"/>
                <a:cs typeface="Arial"/>
              </a:rPr>
              <a:t>the </a:t>
            </a:r>
            <a:r>
              <a:rPr dirty="0" sz="1200" spc="-10">
                <a:latin typeface="Arial"/>
                <a:cs typeface="Arial"/>
              </a:rPr>
              <a:t>Jews </a:t>
            </a:r>
            <a:r>
              <a:rPr dirty="0" sz="1200">
                <a:latin typeface="Arial"/>
                <a:cs typeface="Arial"/>
              </a:rPr>
              <a:t>of </a:t>
            </a:r>
            <a:r>
              <a:rPr dirty="0" sz="1200" spc="-5">
                <a:latin typeface="Arial"/>
                <a:cs typeface="Arial"/>
              </a:rPr>
              <a:t>Medinah, [12]  And (b) explain </a:t>
            </a:r>
            <a:r>
              <a:rPr dirty="0" sz="1200" spc="-10">
                <a:latin typeface="Arial"/>
                <a:cs typeface="Arial"/>
              </a:rPr>
              <a:t>why </a:t>
            </a:r>
            <a:r>
              <a:rPr dirty="0" sz="1200">
                <a:latin typeface="Arial"/>
                <a:cs typeface="Arial"/>
              </a:rPr>
              <a:t>this </a:t>
            </a:r>
            <a:r>
              <a:rPr dirty="0" sz="1200" spc="-5">
                <a:latin typeface="Arial"/>
                <a:cs typeface="Arial"/>
              </a:rPr>
              <a:t>relationship changed </a:t>
            </a:r>
            <a:r>
              <a:rPr dirty="0" sz="1200">
                <a:latin typeface="Arial"/>
                <a:cs typeface="Arial"/>
              </a:rPr>
              <a:t>as </a:t>
            </a:r>
            <a:r>
              <a:rPr dirty="0" sz="1200" spc="-5">
                <a:latin typeface="Arial"/>
                <a:cs typeface="Arial"/>
              </a:rPr>
              <a:t>time moved on. </a:t>
            </a:r>
            <a:r>
              <a:rPr dirty="0" sz="1200">
                <a:latin typeface="Arial"/>
                <a:cs typeface="Arial"/>
              </a:rPr>
              <a:t>[8]</a:t>
            </a:r>
            <a:r>
              <a:rPr dirty="0" sz="1200" spc="45">
                <a:latin typeface="Arial"/>
                <a:cs typeface="Arial"/>
              </a:rPr>
              <a:t> </a:t>
            </a:r>
            <a:r>
              <a:rPr dirty="0" sz="1200" spc="-5" b="1">
                <a:latin typeface="Arial"/>
                <a:cs typeface="Arial"/>
              </a:rPr>
              <a:t>(2004)</a:t>
            </a:r>
            <a:endParaRPr sz="1200">
              <a:latin typeface="Arial"/>
              <a:cs typeface="Arial"/>
            </a:endParaRPr>
          </a:p>
          <a:p>
            <a:pPr>
              <a:lnSpc>
                <a:spcPct val="100000"/>
              </a:lnSpc>
            </a:pPr>
            <a:endParaRPr sz="1200">
              <a:latin typeface="Arial"/>
              <a:cs typeface="Arial"/>
            </a:endParaRPr>
          </a:p>
          <a:p>
            <a:pPr marL="12700" marR="10160">
              <a:lnSpc>
                <a:spcPts val="1380"/>
              </a:lnSpc>
              <a:buAutoNum type="arabicPlain" startAt="2"/>
              <a:tabLst>
                <a:tab pos="157480" algn="l"/>
              </a:tabLst>
            </a:pPr>
            <a:r>
              <a:rPr dirty="0" sz="1200" spc="-5">
                <a:latin typeface="Arial"/>
                <a:cs typeface="Arial"/>
              </a:rPr>
              <a:t>Discuss </a:t>
            </a:r>
            <a:r>
              <a:rPr dirty="0" sz="1200">
                <a:latin typeface="Arial"/>
                <a:cs typeface="Arial"/>
              </a:rPr>
              <a:t>the </a:t>
            </a:r>
            <a:r>
              <a:rPr dirty="0" sz="1200" spc="-5">
                <a:latin typeface="Arial"/>
                <a:cs typeface="Arial"/>
              </a:rPr>
              <a:t>main reasons </a:t>
            </a:r>
            <a:r>
              <a:rPr dirty="0" sz="1200" spc="-10">
                <a:latin typeface="Arial"/>
                <a:cs typeface="Arial"/>
              </a:rPr>
              <a:t>why </a:t>
            </a:r>
            <a:r>
              <a:rPr dirty="0" sz="1200">
                <a:latin typeface="Arial"/>
                <a:cs typeface="Arial"/>
              </a:rPr>
              <a:t>the </a:t>
            </a:r>
            <a:r>
              <a:rPr dirty="0" sz="1200" spc="-5">
                <a:latin typeface="Arial"/>
                <a:cs typeface="Arial"/>
              </a:rPr>
              <a:t>Prophet faced severe opposition in Mecca during </a:t>
            </a:r>
            <a:r>
              <a:rPr dirty="0" sz="1200">
                <a:latin typeface="Arial"/>
                <a:cs typeface="Arial"/>
              </a:rPr>
              <a:t>the  </a:t>
            </a:r>
            <a:r>
              <a:rPr dirty="0" sz="1200" spc="-5">
                <a:latin typeface="Arial"/>
                <a:cs typeface="Arial"/>
              </a:rPr>
              <a:t>early days </a:t>
            </a:r>
            <a:r>
              <a:rPr dirty="0" sz="1200">
                <a:latin typeface="Arial"/>
                <a:cs typeface="Arial"/>
              </a:rPr>
              <a:t>of </a:t>
            </a:r>
            <a:r>
              <a:rPr dirty="0" sz="1200" spc="-5">
                <a:latin typeface="Arial"/>
                <a:cs typeface="Arial"/>
              </a:rPr>
              <a:t>his prophethood.</a:t>
            </a:r>
            <a:r>
              <a:rPr dirty="0" sz="1200" spc="-15">
                <a:latin typeface="Arial"/>
                <a:cs typeface="Arial"/>
              </a:rPr>
              <a:t> </a:t>
            </a:r>
            <a:r>
              <a:rPr dirty="0" sz="1200" spc="-5">
                <a:latin typeface="Arial"/>
                <a:cs typeface="Arial"/>
              </a:rPr>
              <a:t>[20]</a:t>
            </a:r>
            <a:endParaRPr sz="1200">
              <a:latin typeface="Arial"/>
              <a:cs typeface="Arial"/>
            </a:endParaRPr>
          </a:p>
          <a:p>
            <a:pPr>
              <a:lnSpc>
                <a:spcPct val="100000"/>
              </a:lnSpc>
              <a:spcBef>
                <a:spcPts val="10"/>
              </a:spcBef>
              <a:buFont typeface="Arial"/>
              <a:buAutoNum type="arabicPlain" startAt="2"/>
            </a:pPr>
            <a:endParaRPr sz="1100">
              <a:latin typeface="Arial"/>
              <a:cs typeface="Arial"/>
            </a:endParaRPr>
          </a:p>
          <a:p>
            <a:pPr marL="139700" indent="-127635">
              <a:lnSpc>
                <a:spcPts val="1415"/>
              </a:lnSpc>
              <a:buAutoNum type="arabicPlain" startAt="2"/>
              <a:tabLst>
                <a:tab pos="140335" algn="l"/>
              </a:tabLst>
            </a:pPr>
            <a:r>
              <a:rPr dirty="0" sz="1200" spc="-5">
                <a:latin typeface="Arial"/>
                <a:cs typeface="Arial"/>
              </a:rPr>
              <a:t>(a) Describe the event of the </a:t>
            </a:r>
            <a:r>
              <a:rPr dirty="0" sz="1200" spc="-5" i="1">
                <a:latin typeface="Arial"/>
                <a:cs typeface="Arial"/>
              </a:rPr>
              <a:t>Hijrah </a:t>
            </a:r>
            <a:r>
              <a:rPr dirty="0" sz="1200">
                <a:latin typeface="Arial"/>
                <a:cs typeface="Arial"/>
              </a:rPr>
              <a:t>to </a:t>
            </a:r>
            <a:r>
              <a:rPr dirty="0" sz="1200" spc="-5">
                <a:latin typeface="Arial"/>
                <a:cs typeface="Arial"/>
              </a:rPr>
              <a:t>Medina.</a:t>
            </a:r>
            <a:r>
              <a:rPr dirty="0" sz="1200" spc="50">
                <a:latin typeface="Arial"/>
                <a:cs typeface="Arial"/>
              </a:rPr>
              <a:t> </a:t>
            </a:r>
            <a:r>
              <a:rPr dirty="0" sz="1200" spc="-5">
                <a:latin typeface="Arial"/>
                <a:cs typeface="Arial"/>
              </a:rPr>
              <a:t>[8]</a:t>
            </a:r>
            <a:endParaRPr sz="1200">
              <a:latin typeface="Arial"/>
              <a:cs typeface="Arial"/>
            </a:endParaRPr>
          </a:p>
          <a:p>
            <a:pPr marL="140335">
              <a:lnSpc>
                <a:spcPts val="1415"/>
              </a:lnSpc>
            </a:pPr>
            <a:r>
              <a:rPr dirty="0" sz="1200" spc="-5">
                <a:latin typeface="Arial"/>
                <a:cs typeface="Arial"/>
              </a:rPr>
              <a:t>(b) </a:t>
            </a:r>
            <a:r>
              <a:rPr dirty="0" sz="1200" spc="5">
                <a:latin typeface="Arial"/>
                <a:cs typeface="Arial"/>
              </a:rPr>
              <a:t>What </a:t>
            </a:r>
            <a:r>
              <a:rPr dirty="0" sz="1200" spc="-5">
                <a:latin typeface="Arial"/>
                <a:cs typeface="Arial"/>
              </a:rPr>
              <a:t>is </a:t>
            </a:r>
            <a:r>
              <a:rPr dirty="0" sz="1200">
                <a:latin typeface="Arial"/>
                <a:cs typeface="Arial"/>
              </a:rPr>
              <a:t>the </a:t>
            </a:r>
            <a:r>
              <a:rPr dirty="0" sz="1200" spc="-5">
                <a:latin typeface="Arial"/>
                <a:cs typeface="Arial"/>
              </a:rPr>
              <a:t>significance of this event in Islam? [12]</a:t>
            </a:r>
            <a:r>
              <a:rPr dirty="0" sz="1200" spc="5">
                <a:latin typeface="Arial"/>
                <a:cs typeface="Arial"/>
              </a:rPr>
              <a:t> </a:t>
            </a:r>
            <a:r>
              <a:rPr dirty="0" sz="1200" spc="-5" b="1">
                <a:latin typeface="Arial"/>
                <a:cs typeface="Arial"/>
              </a:rPr>
              <a:t>(2005)</a:t>
            </a:r>
            <a:endParaRPr sz="1200">
              <a:latin typeface="Arial"/>
              <a:cs typeface="Arial"/>
            </a:endParaRPr>
          </a:p>
          <a:p>
            <a:pPr>
              <a:lnSpc>
                <a:spcPct val="100000"/>
              </a:lnSpc>
              <a:spcBef>
                <a:spcPts val="35"/>
              </a:spcBef>
            </a:pPr>
            <a:endParaRPr sz="1200">
              <a:latin typeface="Arial"/>
              <a:cs typeface="Arial"/>
            </a:endParaRPr>
          </a:p>
          <a:p>
            <a:pPr marL="12700" marR="11430">
              <a:lnSpc>
                <a:spcPts val="1380"/>
              </a:lnSpc>
              <a:buAutoNum type="arabicPlain" startAt="2"/>
              <a:tabLst>
                <a:tab pos="157480" algn="l"/>
              </a:tabLst>
            </a:pPr>
            <a:r>
              <a:rPr dirty="0" sz="1200" spc="-5">
                <a:latin typeface="Arial"/>
                <a:cs typeface="Arial"/>
              </a:rPr>
              <a:t>(a) Describe in detail </a:t>
            </a:r>
            <a:r>
              <a:rPr dirty="0" sz="1200">
                <a:latin typeface="Arial"/>
                <a:cs typeface="Arial"/>
              </a:rPr>
              <a:t>the main </a:t>
            </a:r>
            <a:r>
              <a:rPr dirty="0" sz="1200" spc="-5">
                <a:latin typeface="Arial"/>
                <a:cs typeface="Arial"/>
              </a:rPr>
              <a:t>persecutions suffered by </a:t>
            </a:r>
            <a:r>
              <a:rPr dirty="0" sz="1200">
                <a:latin typeface="Arial"/>
                <a:cs typeface="Arial"/>
              </a:rPr>
              <a:t>the </a:t>
            </a:r>
            <a:r>
              <a:rPr dirty="0" sz="1200" spc="-5">
                <a:latin typeface="Arial"/>
                <a:cs typeface="Arial"/>
              </a:rPr>
              <a:t>Prophet and his followers in  Mecca. [10]</a:t>
            </a:r>
            <a:endParaRPr sz="1200">
              <a:latin typeface="Arial"/>
              <a:cs typeface="Arial"/>
            </a:endParaRPr>
          </a:p>
          <a:p>
            <a:pPr marL="140335">
              <a:lnSpc>
                <a:spcPts val="1345"/>
              </a:lnSpc>
            </a:pPr>
            <a:r>
              <a:rPr dirty="0" sz="1200" spc="-5">
                <a:latin typeface="Arial"/>
                <a:cs typeface="Arial"/>
              </a:rPr>
              <a:t>(b) Explain how the Prophet reacted </a:t>
            </a:r>
            <a:r>
              <a:rPr dirty="0" sz="1200">
                <a:latin typeface="Arial"/>
                <a:cs typeface="Arial"/>
              </a:rPr>
              <a:t>to </a:t>
            </a:r>
            <a:r>
              <a:rPr dirty="0" sz="1200" spc="-5">
                <a:latin typeface="Arial"/>
                <a:cs typeface="Arial"/>
              </a:rPr>
              <a:t>these persecutions.</a:t>
            </a:r>
            <a:r>
              <a:rPr dirty="0" sz="1200">
                <a:latin typeface="Arial"/>
                <a:cs typeface="Arial"/>
              </a:rPr>
              <a:t> </a:t>
            </a:r>
            <a:r>
              <a:rPr dirty="0" sz="1200" spc="-5">
                <a:latin typeface="Arial"/>
                <a:cs typeface="Arial"/>
              </a:rPr>
              <a:t>[10]</a:t>
            </a:r>
            <a:endParaRPr sz="1200">
              <a:latin typeface="Arial"/>
              <a:cs typeface="Arial"/>
            </a:endParaRPr>
          </a:p>
          <a:p>
            <a:pPr>
              <a:lnSpc>
                <a:spcPct val="100000"/>
              </a:lnSpc>
              <a:spcBef>
                <a:spcPts val="35"/>
              </a:spcBef>
            </a:pPr>
            <a:endParaRPr sz="1200">
              <a:latin typeface="Arial"/>
              <a:cs typeface="Arial"/>
            </a:endParaRPr>
          </a:p>
          <a:p>
            <a:pPr marL="12700" marR="5715">
              <a:lnSpc>
                <a:spcPts val="1380"/>
              </a:lnSpc>
              <a:buAutoNum type="arabicPlain" startAt="3"/>
              <a:tabLst>
                <a:tab pos="172720" algn="l"/>
              </a:tabLst>
            </a:pPr>
            <a:r>
              <a:rPr dirty="0" sz="1200" spc="-5">
                <a:latin typeface="Arial"/>
                <a:cs typeface="Arial"/>
              </a:rPr>
              <a:t>Give reasons </a:t>
            </a:r>
            <a:r>
              <a:rPr dirty="0" sz="1200" spc="-10">
                <a:latin typeface="Arial"/>
                <a:cs typeface="Arial"/>
              </a:rPr>
              <a:t>why </a:t>
            </a:r>
            <a:r>
              <a:rPr dirty="0" sz="1200">
                <a:latin typeface="Arial"/>
                <a:cs typeface="Arial"/>
              </a:rPr>
              <a:t>the </a:t>
            </a:r>
            <a:r>
              <a:rPr dirty="0" sz="1200" spc="-5">
                <a:latin typeface="Arial"/>
                <a:cs typeface="Arial"/>
              </a:rPr>
              <a:t>following events are </a:t>
            </a:r>
            <a:r>
              <a:rPr dirty="0" sz="1200">
                <a:latin typeface="Arial"/>
                <a:cs typeface="Arial"/>
              </a:rPr>
              <a:t>significant </a:t>
            </a:r>
            <a:r>
              <a:rPr dirty="0" sz="1200" spc="-5">
                <a:latin typeface="Arial"/>
                <a:cs typeface="Arial"/>
              </a:rPr>
              <a:t>in the development of the early  Muslim</a:t>
            </a:r>
            <a:r>
              <a:rPr dirty="0" sz="1200">
                <a:latin typeface="Arial"/>
                <a:cs typeface="Arial"/>
              </a:rPr>
              <a:t> </a:t>
            </a:r>
            <a:r>
              <a:rPr dirty="0" sz="1200" spc="-5">
                <a:latin typeface="Arial"/>
                <a:cs typeface="Arial"/>
              </a:rPr>
              <a:t>community:</a:t>
            </a:r>
            <a:endParaRPr sz="1200">
              <a:latin typeface="Arial"/>
              <a:cs typeface="Arial"/>
            </a:endParaRPr>
          </a:p>
          <a:p>
            <a:pPr lvl="1" marL="367665" indent="-227965">
              <a:lnSpc>
                <a:spcPts val="1315"/>
              </a:lnSpc>
              <a:buAutoNum type="alphaLcParenBoth"/>
              <a:tabLst>
                <a:tab pos="368300" algn="l"/>
              </a:tabLst>
            </a:pPr>
            <a:r>
              <a:rPr dirty="0" sz="1200">
                <a:latin typeface="Arial"/>
                <a:cs typeface="Arial"/>
              </a:rPr>
              <a:t>The </a:t>
            </a:r>
            <a:r>
              <a:rPr dirty="0" sz="1200" spc="-5">
                <a:latin typeface="Arial"/>
                <a:cs typeface="Arial"/>
              </a:rPr>
              <a:t>Battle of </a:t>
            </a:r>
            <a:r>
              <a:rPr dirty="0" sz="1200" spc="-10">
                <a:latin typeface="Arial"/>
                <a:cs typeface="Arial"/>
              </a:rPr>
              <a:t>Badr</a:t>
            </a:r>
            <a:r>
              <a:rPr dirty="0" sz="1200">
                <a:latin typeface="Arial"/>
                <a:cs typeface="Arial"/>
              </a:rPr>
              <a:t> [5]</a:t>
            </a:r>
            <a:endParaRPr sz="1200">
              <a:latin typeface="Arial"/>
              <a:cs typeface="Arial"/>
            </a:endParaRPr>
          </a:p>
          <a:p>
            <a:pPr lvl="1" marL="367665" indent="-227965">
              <a:lnSpc>
                <a:spcPts val="1380"/>
              </a:lnSpc>
              <a:buAutoNum type="alphaLcParenBoth"/>
              <a:tabLst>
                <a:tab pos="368300" algn="l"/>
              </a:tabLst>
            </a:pPr>
            <a:r>
              <a:rPr dirty="0" sz="1200">
                <a:latin typeface="Arial"/>
                <a:cs typeface="Arial"/>
              </a:rPr>
              <a:t>The </a:t>
            </a:r>
            <a:r>
              <a:rPr dirty="0" sz="1200" spc="-5">
                <a:latin typeface="Arial"/>
                <a:cs typeface="Arial"/>
              </a:rPr>
              <a:t>Battle of Uhud</a:t>
            </a:r>
            <a:r>
              <a:rPr dirty="0" sz="1200">
                <a:latin typeface="Arial"/>
                <a:cs typeface="Arial"/>
              </a:rPr>
              <a:t> [5]</a:t>
            </a:r>
            <a:endParaRPr sz="1200">
              <a:latin typeface="Arial"/>
              <a:cs typeface="Arial"/>
            </a:endParaRPr>
          </a:p>
          <a:p>
            <a:pPr lvl="1" marL="360045" indent="-220345">
              <a:lnSpc>
                <a:spcPts val="1380"/>
              </a:lnSpc>
              <a:buAutoNum type="alphaLcParenBoth"/>
              <a:tabLst>
                <a:tab pos="360680" algn="l"/>
              </a:tabLst>
            </a:pPr>
            <a:r>
              <a:rPr dirty="0" sz="1200">
                <a:latin typeface="Arial"/>
                <a:cs typeface="Arial"/>
              </a:rPr>
              <a:t>The </a:t>
            </a:r>
            <a:r>
              <a:rPr dirty="0" sz="1200" spc="-5">
                <a:latin typeface="Arial"/>
                <a:cs typeface="Arial"/>
              </a:rPr>
              <a:t>Treaty of Hudaybiyyah</a:t>
            </a:r>
            <a:r>
              <a:rPr dirty="0" sz="1200">
                <a:latin typeface="Arial"/>
                <a:cs typeface="Arial"/>
              </a:rPr>
              <a:t> [5]</a:t>
            </a:r>
            <a:endParaRPr sz="1200">
              <a:latin typeface="Arial"/>
              <a:cs typeface="Arial"/>
            </a:endParaRPr>
          </a:p>
          <a:p>
            <a:pPr lvl="1" marL="367665" indent="-227965">
              <a:lnSpc>
                <a:spcPts val="1410"/>
              </a:lnSpc>
              <a:buAutoNum type="alphaLcParenBoth"/>
              <a:tabLst>
                <a:tab pos="368300" algn="l"/>
              </a:tabLst>
            </a:pPr>
            <a:r>
              <a:rPr dirty="0" sz="1200">
                <a:latin typeface="Arial"/>
                <a:cs typeface="Arial"/>
              </a:rPr>
              <a:t>The </a:t>
            </a:r>
            <a:r>
              <a:rPr dirty="0" sz="1200" spc="-5">
                <a:latin typeface="Arial"/>
                <a:cs typeface="Arial"/>
              </a:rPr>
              <a:t>Fall of Mecca. [5]</a:t>
            </a:r>
            <a:r>
              <a:rPr dirty="0" sz="1200" spc="20">
                <a:latin typeface="Arial"/>
                <a:cs typeface="Arial"/>
              </a:rPr>
              <a:t> </a:t>
            </a:r>
            <a:r>
              <a:rPr dirty="0" sz="1200" spc="-5" b="1">
                <a:latin typeface="Arial"/>
                <a:cs typeface="Arial"/>
              </a:rPr>
              <a:t>(2006)</a:t>
            </a:r>
            <a:endParaRPr sz="1200">
              <a:latin typeface="Arial"/>
              <a:cs typeface="Arial"/>
            </a:endParaRPr>
          </a:p>
          <a:p>
            <a:pPr>
              <a:lnSpc>
                <a:spcPct val="100000"/>
              </a:lnSpc>
              <a:spcBef>
                <a:spcPts val="30"/>
              </a:spcBef>
            </a:pPr>
            <a:endParaRPr sz="1200">
              <a:latin typeface="Arial"/>
              <a:cs typeface="Arial"/>
            </a:endParaRPr>
          </a:p>
          <a:p>
            <a:pPr marL="12700" marR="5080">
              <a:lnSpc>
                <a:spcPts val="1370"/>
              </a:lnSpc>
              <a:spcBef>
                <a:spcPts val="5"/>
              </a:spcBef>
            </a:pPr>
            <a:r>
              <a:rPr dirty="0" sz="1200" spc="-5">
                <a:latin typeface="Arial"/>
                <a:cs typeface="Arial"/>
              </a:rPr>
              <a:t>2 Explain </a:t>
            </a:r>
            <a:r>
              <a:rPr dirty="0" sz="1200">
                <a:latin typeface="Arial"/>
                <a:cs typeface="Arial"/>
              </a:rPr>
              <a:t>how the </a:t>
            </a:r>
            <a:r>
              <a:rPr dirty="0" sz="1200" spc="-5">
                <a:latin typeface="Arial"/>
                <a:cs typeface="Arial"/>
              </a:rPr>
              <a:t>Prophet‘s response </a:t>
            </a:r>
            <a:r>
              <a:rPr dirty="0" sz="1200">
                <a:latin typeface="Arial"/>
                <a:cs typeface="Arial"/>
              </a:rPr>
              <a:t>to the </a:t>
            </a:r>
            <a:r>
              <a:rPr dirty="0" sz="1200" spc="-5">
                <a:latin typeface="Arial"/>
                <a:cs typeface="Arial"/>
              </a:rPr>
              <a:t>main events </a:t>
            </a:r>
            <a:r>
              <a:rPr dirty="0" sz="1200">
                <a:latin typeface="Arial"/>
                <a:cs typeface="Arial"/>
              </a:rPr>
              <a:t>during </a:t>
            </a:r>
            <a:r>
              <a:rPr dirty="0" sz="1200" spc="-10">
                <a:latin typeface="Arial"/>
                <a:cs typeface="Arial"/>
              </a:rPr>
              <a:t>the </a:t>
            </a:r>
            <a:r>
              <a:rPr dirty="0" sz="1200" spc="-5">
                <a:latin typeface="Arial"/>
                <a:cs typeface="Arial"/>
              </a:rPr>
              <a:t>early period of Islam in  Mecca shows his belief that </a:t>
            </a:r>
            <a:r>
              <a:rPr dirty="0" sz="1200" spc="-10">
                <a:latin typeface="Arial"/>
                <a:cs typeface="Arial"/>
              </a:rPr>
              <a:t>he was </a:t>
            </a:r>
            <a:r>
              <a:rPr dirty="0" sz="1200" i="1">
                <a:latin typeface="Arial"/>
                <a:cs typeface="Arial"/>
              </a:rPr>
              <a:t>Rasul </a:t>
            </a:r>
            <a:r>
              <a:rPr dirty="0" sz="1200" spc="-5" i="1">
                <a:latin typeface="Arial"/>
                <a:cs typeface="Arial"/>
              </a:rPr>
              <a:t>Allah</a:t>
            </a:r>
            <a:r>
              <a:rPr dirty="0" sz="1200" spc="-5">
                <a:latin typeface="Arial"/>
                <a:cs typeface="Arial"/>
              </a:rPr>
              <a:t>, the Messenger of </a:t>
            </a:r>
            <a:r>
              <a:rPr dirty="0" sz="1200">
                <a:latin typeface="Arial"/>
                <a:cs typeface="Arial"/>
              </a:rPr>
              <a:t>God. </a:t>
            </a:r>
            <a:r>
              <a:rPr dirty="0" sz="1200" spc="-5">
                <a:latin typeface="Arial"/>
                <a:cs typeface="Arial"/>
              </a:rPr>
              <a:t>[20]</a:t>
            </a:r>
            <a:r>
              <a:rPr dirty="0" sz="1200" spc="120">
                <a:latin typeface="Arial"/>
                <a:cs typeface="Arial"/>
              </a:rPr>
              <a:t> </a:t>
            </a:r>
            <a:r>
              <a:rPr dirty="0" sz="1200" spc="-5" b="1">
                <a:latin typeface="Arial"/>
                <a:cs typeface="Arial"/>
              </a:rPr>
              <a:t>(2007)</a:t>
            </a:r>
            <a:endParaRPr sz="1200">
              <a:latin typeface="Arial"/>
              <a:cs typeface="Arial"/>
            </a:endParaRPr>
          </a:p>
          <a:p>
            <a:pPr>
              <a:lnSpc>
                <a:spcPct val="100000"/>
              </a:lnSpc>
              <a:spcBef>
                <a:spcPts val="50"/>
              </a:spcBef>
            </a:pPr>
            <a:endParaRPr sz="1150">
              <a:latin typeface="Arial"/>
              <a:cs typeface="Arial"/>
            </a:endParaRPr>
          </a:p>
          <a:p>
            <a:pPr marL="12700" marR="9525">
              <a:lnSpc>
                <a:spcPts val="1390"/>
              </a:lnSpc>
            </a:pPr>
            <a:r>
              <a:rPr dirty="0" sz="1200" spc="-5">
                <a:latin typeface="Arial"/>
                <a:cs typeface="Arial"/>
              </a:rPr>
              <a:t>2 Discuss </a:t>
            </a:r>
            <a:r>
              <a:rPr dirty="0" sz="1200">
                <a:latin typeface="Arial"/>
                <a:cs typeface="Arial"/>
              </a:rPr>
              <a:t>the </a:t>
            </a:r>
            <a:r>
              <a:rPr dirty="0" sz="1200" spc="-5">
                <a:latin typeface="Arial"/>
                <a:cs typeface="Arial"/>
              </a:rPr>
              <a:t>ways in which </a:t>
            </a:r>
            <a:r>
              <a:rPr dirty="0" sz="1200">
                <a:latin typeface="Arial"/>
                <a:cs typeface="Arial"/>
              </a:rPr>
              <a:t>the </a:t>
            </a:r>
            <a:r>
              <a:rPr dirty="0" sz="1200" spc="-5" i="1">
                <a:latin typeface="Arial"/>
                <a:cs typeface="Arial"/>
              </a:rPr>
              <a:t>Hijrah </a:t>
            </a:r>
            <a:r>
              <a:rPr dirty="0" sz="1200" spc="-5">
                <a:latin typeface="Arial"/>
                <a:cs typeface="Arial"/>
              </a:rPr>
              <a:t>enabled </a:t>
            </a:r>
            <a:r>
              <a:rPr dirty="0" sz="1200">
                <a:latin typeface="Arial"/>
                <a:cs typeface="Arial"/>
              </a:rPr>
              <a:t>the </a:t>
            </a:r>
            <a:r>
              <a:rPr dirty="0" sz="1200" spc="-5">
                <a:latin typeface="Arial"/>
                <a:cs typeface="Arial"/>
              </a:rPr>
              <a:t>Prophet </a:t>
            </a:r>
            <a:r>
              <a:rPr dirty="0" sz="1200">
                <a:latin typeface="Arial"/>
                <a:cs typeface="Arial"/>
              </a:rPr>
              <a:t>to </a:t>
            </a:r>
            <a:r>
              <a:rPr dirty="0" sz="1200" spc="-5">
                <a:latin typeface="Arial"/>
                <a:cs typeface="Arial"/>
              </a:rPr>
              <a:t>put into practice the teachings  he had received </a:t>
            </a:r>
            <a:r>
              <a:rPr dirty="0" sz="1200">
                <a:latin typeface="Arial"/>
                <a:cs typeface="Arial"/>
              </a:rPr>
              <a:t>at </a:t>
            </a:r>
            <a:r>
              <a:rPr dirty="0" sz="1200" spc="-5">
                <a:latin typeface="Arial"/>
                <a:cs typeface="Arial"/>
              </a:rPr>
              <a:t>Mecca. [20]</a:t>
            </a:r>
            <a:r>
              <a:rPr dirty="0" sz="1200" spc="35">
                <a:latin typeface="Arial"/>
                <a:cs typeface="Arial"/>
              </a:rPr>
              <a:t> </a:t>
            </a:r>
            <a:r>
              <a:rPr dirty="0" sz="1200" spc="-5" b="1">
                <a:latin typeface="Arial"/>
                <a:cs typeface="Arial"/>
              </a:rPr>
              <a:t>(2008)</a:t>
            </a:r>
            <a:endParaRPr sz="1200">
              <a:latin typeface="Arial"/>
              <a:cs typeface="Arial"/>
            </a:endParaRPr>
          </a:p>
          <a:p>
            <a:pPr>
              <a:lnSpc>
                <a:spcPct val="100000"/>
              </a:lnSpc>
            </a:pPr>
            <a:endParaRPr sz="1200">
              <a:latin typeface="Arial"/>
              <a:cs typeface="Arial"/>
            </a:endParaRPr>
          </a:p>
          <a:p>
            <a:pPr marL="12700" marR="9525">
              <a:lnSpc>
                <a:spcPts val="1380"/>
              </a:lnSpc>
            </a:pPr>
            <a:r>
              <a:rPr dirty="0" sz="1200" spc="-5">
                <a:latin typeface="Arial"/>
                <a:cs typeface="Arial"/>
              </a:rPr>
              <a:t>2 Discuss </a:t>
            </a:r>
            <a:r>
              <a:rPr dirty="0" sz="1200">
                <a:latin typeface="Arial"/>
                <a:cs typeface="Arial"/>
              </a:rPr>
              <a:t>the </a:t>
            </a:r>
            <a:r>
              <a:rPr dirty="0" sz="1200" spc="-5">
                <a:latin typeface="Arial"/>
                <a:cs typeface="Arial"/>
              </a:rPr>
              <a:t>significance of the event of the Hijra </a:t>
            </a:r>
            <a:r>
              <a:rPr dirty="0" sz="1200">
                <a:latin typeface="Arial"/>
                <a:cs typeface="Arial"/>
              </a:rPr>
              <a:t>to </a:t>
            </a:r>
            <a:r>
              <a:rPr dirty="0" sz="1200" spc="-5">
                <a:latin typeface="Arial"/>
                <a:cs typeface="Arial"/>
              </a:rPr>
              <a:t>Medina in the development of Islam.  </a:t>
            </a:r>
            <a:r>
              <a:rPr dirty="0" sz="1200">
                <a:latin typeface="Arial"/>
                <a:cs typeface="Arial"/>
              </a:rPr>
              <a:t>[20] </a:t>
            </a:r>
            <a:r>
              <a:rPr dirty="0" sz="1200" spc="-5" b="1">
                <a:latin typeface="Arial"/>
                <a:cs typeface="Arial"/>
              </a:rPr>
              <a:t>(2009)</a:t>
            </a:r>
            <a:endParaRPr sz="1200">
              <a:latin typeface="Arial"/>
              <a:cs typeface="Arial"/>
            </a:endParaRPr>
          </a:p>
          <a:p>
            <a:pPr>
              <a:lnSpc>
                <a:spcPct val="100000"/>
              </a:lnSpc>
              <a:spcBef>
                <a:spcPts val="20"/>
              </a:spcBef>
            </a:pPr>
            <a:endParaRPr sz="1100">
              <a:latin typeface="Arial"/>
              <a:cs typeface="Arial"/>
            </a:endParaRPr>
          </a:p>
          <a:p>
            <a:pPr marL="12700">
              <a:lnSpc>
                <a:spcPts val="1410"/>
              </a:lnSpc>
            </a:pPr>
            <a:r>
              <a:rPr dirty="0" sz="1200" spc="-5">
                <a:latin typeface="Arial"/>
                <a:cs typeface="Arial"/>
              </a:rPr>
              <a:t>2 (a) </a:t>
            </a:r>
            <a:r>
              <a:rPr dirty="0" sz="1200">
                <a:latin typeface="Arial"/>
                <a:cs typeface="Arial"/>
              </a:rPr>
              <a:t>Write </a:t>
            </a:r>
            <a:r>
              <a:rPr dirty="0" sz="1200" spc="-5">
                <a:latin typeface="Arial"/>
                <a:cs typeface="Arial"/>
              </a:rPr>
              <a:t>brief accounts of the</a:t>
            </a:r>
            <a:r>
              <a:rPr dirty="0" sz="1200" spc="-15">
                <a:latin typeface="Arial"/>
                <a:cs typeface="Arial"/>
              </a:rPr>
              <a:t> </a:t>
            </a:r>
            <a:r>
              <a:rPr dirty="0" sz="1200" spc="-5">
                <a:latin typeface="Arial"/>
                <a:cs typeface="Arial"/>
              </a:rPr>
              <a:t>following:</a:t>
            </a:r>
            <a:endParaRPr sz="1200">
              <a:latin typeface="Arial"/>
              <a:cs typeface="Arial"/>
            </a:endParaRPr>
          </a:p>
          <a:p>
            <a:pPr marL="317500" indent="-177800">
              <a:lnSpc>
                <a:spcPts val="1380"/>
              </a:lnSpc>
              <a:buAutoNum type="romanLcParenBoth"/>
              <a:tabLst>
                <a:tab pos="318135" algn="l"/>
              </a:tabLst>
            </a:pPr>
            <a:r>
              <a:rPr dirty="0" sz="1200">
                <a:latin typeface="Arial"/>
                <a:cs typeface="Arial"/>
              </a:rPr>
              <a:t>the </a:t>
            </a:r>
            <a:r>
              <a:rPr dirty="0" sz="1200" spc="-5">
                <a:latin typeface="Arial"/>
                <a:cs typeface="Arial"/>
              </a:rPr>
              <a:t>Prophet Muhammad‘s first experience of revelation</a:t>
            </a:r>
            <a:r>
              <a:rPr dirty="0" sz="1200">
                <a:latin typeface="Arial"/>
                <a:cs typeface="Arial"/>
              </a:rPr>
              <a:t> </a:t>
            </a:r>
            <a:r>
              <a:rPr dirty="0" sz="1200" spc="-5">
                <a:latin typeface="Arial"/>
                <a:cs typeface="Arial"/>
              </a:rPr>
              <a:t>[4]</a:t>
            </a:r>
            <a:endParaRPr sz="1200">
              <a:latin typeface="Arial"/>
              <a:cs typeface="Arial"/>
            </a:endParaRPr>
          </a:p>
          <a:p>
            <a:pPr marL="351155" indent="-211454">
              <a:lnSpc>
                <a:spcPts val="1380"/>
              </a:lnSpc>
              <a:buAutoNum type="romanLcParenBoth"/>
              <a:tabLst>
                <a:tab pos="351790" algn="l"/>
              </a:tabLst>
            </a:pPr>
            <a:r>
              <a:rPr dirty="0" sz="1200">
                <a:latin typeface="Arial"/>
                <a:cs typeface="Arial"/>
              </a:rPr>
              <a:t>the first </a:t>
            </a:r>
            <a:r>
              <a:rPr dirty="0" sz="1200" spc="-5">
                <a:latin typeface="Arial"/>
                <a:cs typeface="Arial"/>
              </a:rPr>
              <a:t>migration </a:t>
            </a:r>
            <a:r>
              <a:rPr dirty="0" sz="1200">
                <a:latin typeface="Arial"/>
                <a:cs typeface="Arial"/>
              </a:rPr>
              <a:t>to </a:t>
            </a:r>
            <a:r>
              <a:rPr dirty="0" sz="1200" spc="-5">
                <a:latin typeface="Arial"/>
                <a:cs typeface="Arial"/>
              </a:rPr>
              <a:t>Abyssinia</a:t>
            </a:r>
            <a:r>
              <a:rPr dirty="0" sz="1200" spc="-25">
                <a:latin typeface="Arial"/>
                <a:cs typeface="Arial"/>
              </a:rPr>
              <a:t> </a:t>
            </a:r>
            <a:r>
              <a:rPr dirty="0" sz="1200" spc="-5">
                <a:latin typeface="Arial"/>
                <a:cs typeface="Arial"/>
              </a:rPr>
              <a:t>[4]</a:t>
            </a:r>
            <a:endParaRPr sz="1200">
              <a:latin typeface="Arial"/>
              <a:cs typeface="Arial"/>
            </a:endParaRPr>
          </a:p>
          <a:p>
            <a:pPr marL="384810" indent="-245110">
              <a:lnSpc>
                <a:spcPts val="1380"/>
              </a:lnSpc>
              <a:buAutoNum type="romanLcParenBoth"/>
              <a:tabLst>
                <a:tab pos="385445" algn="l"/>
              </a:tabLst>
            </a:pPr>
            <a:r>
              <a:rPr dirty="0" sz="1200">
                <a:latin typeface="Arial"/>
                <a:cs typeface="Arial"/>
              </a:rPr>
              <a:t>the </a:t>
            </a:r>
            <a:r>
              <a:rPr dirty="0" sz="1200" spc="-5">
                <a:latin typeface="Arial"/>
                <a:cs typeface="Arial"/>
              </a:rPr>
              <a:t>Charter of Medina.</a:t>
            </a:r>
            <a:r>
              <a:rPr dirty="0" sz="1200" spc="5">
                <a:latin typeface="Arial"/>
                <a:cs typeface="Arial"/>
              </a:rPr>
              <a:t> </a:t>
            </a:r>
            <a:r>
              <a:rPr dirty="0" sz="1200">
                <a:latin typeface="Arial"/>
                <a:cs typeface="Arial"/>
              </a:rPr>
              <a:t>[4]</a:t>
            </a:r>
            <a:endParaRPr sz="1200">
              <a:latin typeface="Arial"/>
              <a:cs typeface="Arial"/>
            </a:endParaRPr>
          </a:p>
          <a:p>
            <a:pPr marL="12700" marR="10160" indent="127635">
              <a:lnSpc>
                <a:spcPts val="1380"/>
              </a:lnSpc>
              <a:spcBef>
                <a:spcPts val="65"/>
              </a:spcBef>
            </a:pPr>
            <a:r>
              <a:rPr dirty="0" sz="1200" spc="-5">
                <a:latin typeface="Arial"/>
                <a:cs typeface="Arial"/>
              </a:rPr>
              <a:t>(b) Explain the significance of any </a:t>
            </a:r>
            <a:r>
              <a:rPr dirty="0" sz="1200" spc="-10">
                <a:latin typeface="Arial"/>
                <a:cs typeface="Arial"/>
              </a:rPr>
              <a:t>two </a:t>
            </a:r>
            <a:r>
              <a:rPr dirty="0" sz="1200" spc="-5">
                <a:latin typeface="Arial"/>
                <a:cs typeface="Arial"/>
              </a:rPr>
              <a:t>of </a:t>
            </a:r>
            <a:r>
              <a:rPr dirty="0" sz="1200">
                <a:latin typeface="Arial"/>
                <a:cs typeface="Arial"/>
              </a:rPr>
              <a:t>these for </a:t>
            </a:r>
            <a:r>
              <a:rPr dirty="0" sz="1200" spc="-5">
                <a:latin typeface="Arial"/>
                <a:cs typeface="Arial"/>
              </a:rPr>
              <a:t>Muslim reflection about relations with  </a:t>
            </a:r>
            <a:r>
              <a:rPr dirty="0" sz="1200">
                <a:latin typeface="Arial"/>
                <a:cs typeface="Arial"/>
              </a:rPr>
              <a:t>other faiths. [8]</a:t>
            </a:r>
            <a:r>
              <a:rPr dirty="0" sz="1200" spc="-30">
                <a:latin typeface="Arial"/>
                <a:cs typeface="Arial"/>
              </a:rPr>
              <a:t> </a:t>
            </a:r>
            <a:r>
              <a:rPr dirty="0" sz="1200" spc="-5" b="1">
                <a:latin typeface="Arial"/>
                <a:cs typeface="Arial"/>
              </a:rPr>
              <a:t>(2010)</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30</a:t>
            </a:r>
            <a:endParaRPr sz="1200">
              <a:latin typeface="Times New Roman"/>
              <a:cs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5971540" cy="208279"/>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1062532" y="827531"/>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Caliph Hazrat </a:t>
            </a:r>
            <a:r>
              <a:rPr dirty="0" sz="1200" spc="-15" b="1">
                <a:latin typeface="Arial"/>
                <a:cs typeface="Arial"/>
              </a:rPr>
              <a:t>Abu </a:t>
            </a:r>
            <a:r>
              <a:rPr dirty="0" sz="1200" b="1">
                <a:latin typeface="Arial"/>
                <a:cs typeface="Arial"/>
              </a:rPr>
              <a:t>Bakr </a:t>
            </a:r>
            <a:r>
              <a:rPr dirty="0" sz="1200" spc="-5" b="1">
                <a:latin typeface="Arial"/>
                <a:cs typeface="Arial"/>
              </a:rPr>
              <a:t>Siddeeq</a:t>
            </a:r>
            <a:r>
              <a:rPr dirty="0" sz="1200" spc="30" b="1">
                <a:latin typeface="Arial"/>
                <a:cs typeface="Arial"/>
              </a:rPr>
              <a:t> </a:t>
            </a:r>
            <a:r>
              <a:rPr dirty="0" sz="1200" spc="-5" b="1">
                <a:latin typeface="Arial"/>
                <a:cs typeface="Arial"/>
              </a:rPr>
              <a:t>(r.a)</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31</a:t>
            </a:r>
            <a:endParaRPr sz="1200">
              <a:latin typeface="Times New Roman"/>
              <a:cs typeface="Times New Roman"/>
            </a:endParaRPr>
          </a:p>
        </p:txBody>
      </p:sp>
      <p:sp>
        <p:nvSpPr>
          <p:cNvPr id="5" name="object 5"/>
          <p:cNvSpPr txBox="1"/>
          <p:nvPr/>
        </p:nvSpPr>
        <p:spPr>
          <a:xfrm>
            <a:off x="718819" y="1162557"/>
            <a:ext cx="6311265" cy="862203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35"/>
              </a:spcBef>
            </a:pPr>
            <a:endParaRPr sz="1200">
              <a:latin typeface="Arial"/>
              <a:cs typeface="Arial"/>
            </a:endParaRPr>
          </a:p>
          <a:p>
            <a:pPr algn="just" marL="12700" marR="9525">
              <a:lnSpc>
                <a:spcPts val="1380"/>
              </a:lnSpc>
            </a:pPr>
            <a:r>
              <a:rPr dirty="0" sz="1200" spc="-5">
                <a:latin typeface="Arial"/>
                <a:cs typeface="Arial"/>
              </a:rPr>
              <a:t>Among </a:t>
            </a:r>
            <a:r>
              <a:rPr dirty="0" sz="1200">
                <a:latin typeface="Arial"/>
                <a:cs typeface="Arial"/>
              </a:rPr>
              <a:t>the </a:t>
            </a:r>
            <a:r>
              <a:rPr dirty="0" sz="1200" spc="-5">
                <a:latin typeface="Arial"/>
                <a:cs typeface="Arial"/>
              </a:rPr>
              <a:t>various personalities </a:t>
            </a:r>
            <a:r>
              <a:rPr dirty="0" sz="1200">
                <a:latin typeface="Arial"/>
                <a:cs typeface="Arial"/>
              </a:rPr>
              <a:t>the </a:t>
            </a:r>
            <a:r>
              <a:rPr dirty="0" sz="1200" spc="-5">
                <a:latin typeface="Arial"/>
                <a:cs typeface="Arial"/>
              </a:rPr>
              <a:t>Islamic </a:t>
            </a:r>
            <a:r>
              <a:rPr dirty="0" sz="1200" spc="-10">
                <a:latin typeface="Arial"/>
                <a:cs typeface="Arial"/>
              </a:rPr>
              <a:t>world </a:t>
            </a:r>
            <a:r>
              <a:rPr dirty="0" sz="1200" spc="10">
                <a:latin typeface="Arial"/>
                <a:cs typeface="Arial"/>
              </a:rPr>
              <a:t>has </a:t>
            </a:r>
            <a:r>
              <a:rPr dirty="0" sz="1200" spc="-5">
                <a:latin typeface="Arial"/>
                <a:cs typeface="Arial"/>
              </a:rPr>
              <a:t>known, the name of Abu Bakr, </a:t>
            </a:r>
            <a:r>
              <a:rPr dirty="0" sz="1200" spc="-10">
                <a:latin typeface="Arial"/>
                <a:cs typeface="Arial"/>
              </a:rPr>
              <a:t>known  </a:t>
            </a:r>
            <a:r>
              <a:rPr dirty="0" sz="1200" spc="-5">
                <a:latin typeface="Arial"/>
                <a:cs typeface="Arial"/>
              </a:rPr>
              <a:t>as Hazrat Abu </a:t>
            </a:r>
            <a:r>
              <a:rPr dirty="0" sz="1200">
                <a:latin typeface="Arial"/>
                <a:cs typeface="Arial"/>
              </a:rPr>
              <a:t>Bakr </a:t>
            </a:r>
            <a:r>
              <a:rPr dirty="0" sz="1200" spc="-5">
                <a:latin typeface="Arial"/>
                <a:cs typeface="Arial"/>
              </a:rPr>
              <a:t>Siddeeq (r.a) can be </a:t>
            </a:r>
            <a:r>
              <a:rPr dirty="0" sz="1200">
                <a:latin typeface="Arial"/>
                <a:cs typeface="Arial"/>
              </a:rPr>
              <a:t>cited. </a:t>
            </a:r>
            <a:r>
              <a:rPr dirty="0" sz="1200" spc="-5">
                <a:latin typeface="Arial"/>
                <a:cs typeface="Arial"/>
              </a:rPr>
              <a:t>His name is as much popular </a:t>
            </a:r>
            <a:r>
              <a:rPr dirty="0" sz="1200">
                <a:latin typeface="Arial"/>
                <a:cs typeface="Arial"/>
              </a:rPr>
              <a:t>for </a:t>
            </a:r>
            <a:r>
              <a:rPr dirty="0" sz="1200" spc="-5">
                <a:latin typeface="Arial"/>
                <a:cs typeface="Arial"/>
              </a:rPr>
              <a:t>his  contribution before and during his caliphate. He had contributed </a:t>
            </a:r>
            <a:r>
              <a:rPr dirty="0" sz="1200" spc="-10">
                <a:latin typeface="Arial"/>
                <a:cs typeface="Arial"/>
              </a:rPr>
              <a:t>so </a:t>
            </a:r>
            <a:r>
              <a:rPr dirty="0" sz="1200" spc="-5">
                <a:latin typeface="Arial"/>
                <a:cs typeface="Arial"/>
              </a:rPr>
              <a:t>much to the progress of  Islam that </a:t>
            </a:r>
            <a:r>
              <a:rPr dirty="0" sz="1200">
                <a:latin typeface="Arial"/>
                <a:cs typeface="Arial"/>
              </a:rPr>
              <a:t>he </a:t>
            </a:r>
            <a:r>
              <a:rPr dirty="0" sz="1200" spc="-5">
                <a:latin typeface="Arial"/>
                <a:cs typeface="Arial"/>
              </a:rPr>
              <a:t>deserves </a:t>
            </a:r>
            <a:r>
              <a:rPr dirty="0" sz="1200">
                <a:latin typeface="Arial"/>
                <a:cs typeface="Arial"/>
              </a:rPr>
              <a:t>to </a:t>
            </a:r>
            <a:r>
              <a:rPr dirty="0" sz="1200" spc="-5">
                <a:latin typeface="Arial"/>
                <a:cs typeface="Arial"/>
              </a:rPr>
              <a:t>be called the saviour of</a:t>
            </a:r>
            <a:r>
              <a:rPr dirty="0" sz="1200" spc="35">
                <a:latin typeface="Arial"/>
                <a:cs typeface="Arial"/>
              </a:rPr>
              <a:t> </a:t>
            </a:r>
            <a:r>
              <a:rPr dirty="0" sz="1200" spc="-5">
                <a:latin typeface="Arial"/>
                <a:cs typeface="Arial"/>
              </a:rPr>
              <a:t>Islam.</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b="1" i="1">
                <a:uFill>
                  <a:solidFill>
                    <a:srgbClr val="000000"/>
                  </a:solidFill>
                </a:uFill>
                <a:latin typeface="Arial"/>
                <a:cs typeface="Arial"/>
              </a:rPr>
              <a:t>Life </a:t>
            </a:r>
            <a:r>
              <a:rPr dirty="0" u="heavy" sz="1200" spc="-5" b="1" i="1">
                <a:uFill>
                  <a:solidFill>
                    <a:srgbClr val="000000"/>
                  </a:solidFill>
                </a:uFill>
                <a:latin typeface="Arial"/>
                <a:cs typeface="Arial"/>
              </a:rPr>
              <a:t>before acceptance </a:t>
            </a:r>
            <a:r>
              <a:rPr dirty="0" u="heavy" sz="1200" b="1" i="1">
                <a:uFill>
                  <a:solidFill>
                    <a:srgbClr val="000000"/>
                  </a:solidFill>
                </a:uFill>
                <a:latin typeface="Arial"/>
                <a:cs typeface="Arial"/>
              </a:rPr>
              <a:t>of</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Islam</a:t>
            </a:r>
            <a:endParaRPr sz="1200">
              <a:latin typeface="Arial"/>
              <a:cs typeface="Arial"/>
            </a:endParaRPr>
          </a:p>
          <a:p>
            <a:pPr>
              <a:lnSpc>
                <a:spcPct val="100000"/>
              </a:lnSpc>
              <a:spcBef>
                <a:spcPts val="55"/>
              </a:spcBef>
            </a:pPr>
            <a:endParaRPr sz="1150">
              <a:latin typeface="Arial"/>
              <a:cs typeface="Arial"/>
            </a:endParaRPr>
          </a:p>
          <a:p>
            <a:pPr algn="just" marL="12700" marR="5080">
              <a:lnSpc>
                <a:spcPct val="95900"/>
              </a:lnSpc>
            </a:pPr>
            <a:r>
              <a:rPr dirty="0" sz="1200" spc="-5">
                <a:latin typeface="Arial"/>
                <a:cs typeface="Arial"/>
              </a:rPr>
              <a:t>He </a:t>
            </a:r>
            <a:r>
              <a:rPr dirty="0" sz="1200" spc="-10">
                <a:latin typeface="Arial"/>
                <a:cs typeface="Arial"/>
              </a:rPr>
              <a:t>was </a:t>
            </a:r>
            <a:r>
              <a:rPr dirty="0" sz="1200">
                <a:latin typeface="Arial"/>
                <a:cs typeface="Arial"/>
              </a:rPr>
              <a:t>from </a:t>
            </a:r>
            <a:r>
              <a:rPr dirty="0" sz="1200" spc="-5">
                <a:latin typeface="Arial"/>
                <a:cs typeface="Arial"/>
              </a:rPr>
              <a:t>a simple </a:t>
            </a:r>
            <a:r>
              <a:rPr dirty="0" sz="1200">
                <a:latin typeface="Arial"/>
                <a:cs typeface="Arial"/>
              </a:rPr>
              <a:t>family of </a:t>
            </a:r>
            <a:r>
              <a:rPr dirty="0" sz="1200" spc="-5">
                <a:latin typeface="Arial"/>
                <a:cs typeface="Arial"/>
              </a:rPr>
              <a:t>the </a:t>
            </a:r>
            <a:r>
              <a:rPr dirty="0" sz="1200">
                <a:latin typeface="Arial"/>
                <a:cs typeface="Arial"/>
              </a:rPr>
              <a:t>Quraish </a:t>
            </a:r>
            <a:r>
              <a:rPr dirty="0" sz="1200" spc="-5">
                <a:latin typeface="Arial"/>
                <a:cs typeface="Arial"/>
              </a:rPr>
              <a:t>people with his </a:t>
            </a:r>
            <a:r>
              <a:rPr dirty="0" sz="1200">
                <a:latin typeface="Arial"/>
                <a:cs typeface="Arial"/>
              </a:rPr>
              <a:t>father </a:t>
            </a:r>
            <a:r>
              <a:rPr dirty="0" sz="1200" spc="-10">
                <a:latin typeface="Arial"/>
                <a:cs typeface="Arial"/>
              </a:rPr>
              <a:t>as </a:t>
            </a:r>
            <a:r>
              <a:rPr dirty="0" sz="1200">
                <a:latin typeface="Arial"/>
                <a:cs typeface="Arial"/>
              </a:rPr>
              <a:t>Uthman </a:t>
            </a:r>
            <a:r>
              <a:rPr dirty="0" sz="1200" spc="-5">
                <a:latin typeface="Arial"/>
                <a:cs typeface="Arial"/>
              </a:rPr>
              <a:t>and his mother  as Salma. He </a:t>
            </a:r>
            <a:r>
              <a:rPr dirty="0" sz="1200" spc="-10">
                <a:latin typeface="Arial"/>
                <a:cs typeface="Arial"/>
              </a:rPr>
              <a:t>was </a:t>
            </a:r>
            <a:r>
              <a:rPr dirty="0" sz="1200">
                <a:latin typeface="Arial"/>
                <a:cs typeface="Arial"/>
              </a:rPr>
              <a:t>two </a:t>
            </a:r>
            <a:r>
              <a:rPr dirty="0" sz="1200" spc="-5">
                <a:latin typeface="Arial"/>
                <a:cs typeface="Arial"/>
              </a:rPr>
              <a:t>years and </a:t>
            </a:r>
            <a:r>
              <a:rPr dirty="0" sz="1200">
                <a:latin typeface="Arial"/>
                <a:cs typeface="Arial"/>
              </a:rPr>
              <a:t>three </a:t>
            </a:r>
            <a:r>
              <a:rPr dirty="0" sz="1200" spc="-5">
                <a:latin typeface="Arial"/>
                <a:cs typeface="Arial"/>
              </a:rPr>
              <a:t>months younger </a:t>
            </a:r>
            <a:r>
              <a:rPr dirty="0" sz="1200">
                <a:latin typeface="Arial"/>
                <a:cs typeface="Arial"/>
              </a:rPr>
              <a:t>than </a:t>
            </a:r>
            <a:r>
              <a:rPr dirty="0" sz="1200" spc="-5">
                <a:latin typeface="Arial"/>
                <a:cs typeface="Arial"/>
              </a:rPr>
              <a:t>the holy prophet (s.a.w). </a:t>
            </a:r>
            <a:r>
              <a:rPr dirty="0" sz="1200" spc="-10">
                <a:latin typeface="Arial"/>
                <a:cs typeface="Arial"/>
              </a:rPr>
              <a:t>He  </a:t>
            </a:r>
            <a:r>
              <a:rPr dirty="0" sz="1200" spc="-5">
                <a:latin typeface="Arial"/>
                <a:cs typeface="Arial"/>
              </a:rPr>
              <a:t>had a common ancestor with </a:t>
            </a:r>
            <a:r>
              <a:rPr dirty="0" sz="1200">
                <a:latin typeface="Arial"/>
                <a:cs typeface="Arial"/>
              </a:rPr>
              <a:t>the </a:t>
            </a:r>
            <a:r>
              <a:rPr dirty="0" sz="1200" spc="-5">
                <a:latin typeface="Arial"/>
                <a:cs typeface="Arial"/>
              </a:rPr>
              <a:t>prophet in Murra. He received no formal education but he  </a:t>
            </a:r>
            <a:r>
              <a:rPr dirty="0" sz="1200" spc="-10">
                <a:latin typeface="Arial"/>
                <a:cs typeface="Arial"/>
              </a:rPr>
              <a:t>was </a:t>
            </a:r>
            <a:r>
              <a:rPr dirty="0" sz="1200" spc="-5">
                <a:latin typeface="Arial"/>
                <a:cs typeface="Arial"/>
              </a:rPr>
              <a:t>known </a:t>
            </a:r>
            <a:r>
              <a:rPr dirty="0" sz="1200">
                <a:latin typeface="Arial"/>
                <a:cs typeface="Arial"/>
              </a:rPr>
              <a:t>for </a:t>
            </a:r>
            <a:r>
              <a:rPr dirty="0" sz="1200" spc="-5">
                <a:latin typeface="Arial"/>
                <a:cs typeface="Arial"/>
              </a:rPr>
              <a:t>his experience and high level of intellect and wisdom. Since childhood he had  another feeling and touch </a:t>
            </a:r>
            <a:r>
              <a:rPr dirty="0" sz="1200">
                <a:latin typeface="Arial"/>
                <a:cs typeface="Arial"/>
              </a:rPr>
              <a:t>for </a:t>
            </a:r>
            <a:r>
              <a:rPr dirty="0" sz="1200" spc="-5">
                <a:latin typeface="Arial"/>
                <a:cs typeface="Arial"/>
              </a:rPr>
              <a:t>the poor and the destitute. He would always care </a:t>
            </a:r>
            <a:r>
              <a:rPr dirty="0" sz="1200">
                <a:latin typeface="Arial"/>
                <a:cs typeface="Arial"/>
              </a:rPr>
              <a:t>for </a:t>
            </a:r>
            <a:r>
              <a:rPr dirty="0" sz="1200" spc="-5">
                <a:latin typeface="Arial"/>
                <a:cs typeface="Arial"/>
              </a:rPr>
              <a:t>them and  would help them in whatever </a:t>
            </a:r>
            <a:r>
              <a:rPr dirty="0" sz="1200" spc="-10">
                <a:latin typeface="Arial"/>
                <a:cs typeface="Arial"/>
              </a:rPr>
              <a:t>ways </a:t>
            </a:r>
            <a:r>
              <a:rPr dirty="0" sz="1200" spc="-5">
                <a:latin typeface="Arial"/>
                <a:cs typeface="Arial"/>
              </a:rPr>
              <a:t>he could. He joined the </a:t>
            </a:r>
            <a:r>
              <a:rPr dirty="0" sz="1200">
                <a:latin typeface="Arial"/>
                <a:cs typeface="Arial"/>
              </a:rPr>
              <a:t>family </a:t>
            </a:r>
            <a:r>
              <a:rPr dirty="0" sz="1200" spc="-5">
                <a:latin typeface="Arial"/>
                <a:cs typeface="Arial"/>
              </a:rPr>
              <a:t>business of cloth merchant  </a:t>
            </a:r>
            <a:r>
              <a:rPr dirty="0" sz="1200">
                <a:latin typeface="Arial"/>
                <a:cs typeface="Arial"/>
              </a:rPr>
              <a:t>at the </a:t>
            </a:r>
            <a:r>
              <a:rPr dirty="0" sz="1200" spc="-5">
                <a:latin typeface="Arial"/>
                <a:cs typeface="Arial"/>
              </a:rPr>
              <a:t>age of eighteen. He never got engaged in </a:t>
            </a:r>
            <a:r>
              <a:rPr dirty="0" sz="1200">
                <a:latin typeface="Arial"/>
                <a:cs typeface="Arial"/>
              </a:rPr>
              <a:t>the </a:t>
            </a:r>
            <a:r>
              <a:rPr dirty="0" sz="1200" spc="-5">
                <a:latin typeface="Arial"/>
                <a:cs typeface="Arial"/>
              </a:rPr>
              <a:t>sins of pre </a:t>
            </a:r>
            <a:r>
              <a:rPr dirty="0" sz="1200">
                <a:latin typeface="Arial"/>
                <a:cs typeface="Arial"/>
              </a:rPr>
              <a:t>Islamic </a:t>
            </a:r>
            <a:r>
              <a:rPr dirty="0" sz="1200" spc="-5">
                <a:latin typeface="Arial"/>
                <a:cs typeface="Arial"/>
              </a:rPr>
              <a:t>Arabia and </a:t>
            </a:r>
            <a:r>
              <a:rPr dirty="0" sz="1200">
                <a:latin typeface="Arial"/>
                <a:cs typeface="Arial"/>
              </a:rPr>
              <a:t>idol  </a:t>
            </a:r>
            <a:r>
              <a:rPr dirty="0" sz="1200" spc="-5">
                <a:latin typeface="Arial"/>
                <a:cs typeface="Arial"/>
              </a:rPr>
              <a:t>worshipping. He </a:t>
            </a:r>
            <a:r>
              <a:rPr dirty="0" sz="1200" spc="-10">
                <a:latin typeface="Arial"/>
                <a:cs typeface="Arial"/>
              </a:rPr>
              <a:t>was </a:t>
            </a:r>
            <a:r>
              <a:rPr dirty="0" sz="1200" spc="-5">
                <a:latin typeface="Arial"/>
                <a:cs typeface="Arial"/>
              </a:rPr>
              <a:t>dedicated to one God and to high level of</a:t>
            </a:r>
            <a:r>
              <a:rPr dirty="0" sz="1200" spc="65">
                <a:latin typeface="Arial"/>
                <a:cs typeface="Arial"/>
              </a:rPr>
              <a:t> </a:t>
            </a:r>
            <a:r>
              <a:rPr dirty="0" sz="1200" spc="-5">
                <a:latin typeface="Arial"/>
                <a:cs typeface="Arial"/>
              </a:rPr>
              <a:t>morality.</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b="1" i="1">
                <a:uFill>
                  <a:solidFill>
                    <a:srgbClr val="000000"/>
                  </a:solidFill>
                </a:uFill>
                <a:latin typeface="Arial"/>
                <a:cs typeface="Arial"/>
              </a:rPr>
              <a:t>Life </a:t>
            </a:r>
            <a:r>
              <a:rPr dirty="0" u="heavy" sz="1200" spc="-5" b="1" i="1">
                <a:uFill>
                  <a:solidFill>
                    <a:srgbClr val="000000"/>
                  </a:solidFill>
                </a:uFill>
                <a:latin typeface="Arial"/>
                <a:cs typeface="Arial"/>
              </a:rPr>
              <a:t>after acceptance </a:t>
            </a:r>
            <a:r>
              <a:rPr dirty="0" u="heavy" sz="1200" b="1" i="1">
                <a:uFill>
                  <a:solidFill>
                    <a:srgbClr val="000000"/>
                  </a:solidFill>
                </a:uFill>
                <a:latin typeface="Arial"/>
                <a:cs typeface="Arial"/>
              </a:rPr>
              <a:t>of</a:t>
            </a:r>
            <a:r>
              <a:rPr dirty="0" u="heavy" sz="1200" spc="-10" b="1" i="1">
                <a:uFill>
                  <a:solidFill>
                    <a:srgbClr val="000000"/>
                  </a:solidFill>
                </a:uFill>
                <a:latin typeface="Arial"/>
                <a:cs typeface="Arial"/>
              </a:rPr>
              <a:t> </a:t>
            </a:r>
            <a:r>
              <a:rPr dirty="0" u="heavy" sz="1200" b="1" i="1">
                <a:uFill>
                  <a:solidFill>
                    <a:srgbClr val="000000"/>
                  </a:solidFill>
                </a:uFill>
                <a:latin typeface="Arial"/>
                <a:cs typeface="Arial"/>
              </a:rPr>
              <a:t>Islam</a:t>
            </a:r>
            <a:endParaRPr sz="1200">
              <a:latin typeface="Arial"/>
              <a:cs typeface="Arial"/>
            </a:endParaRPr>
          </a:p>
          <a:p>
            <a:pPr>
              <a:lnSpc>
                <a:spcPct val="100000"/>
              </a:lnSpc>
            </a:pPr>
            <a:endParaRPr sz="1200">
              <a:latin typeface="Arial"/>
              <a:cs typeface="Arial"/>
            </a:endParaRPr>
          </a:p>
          <a:p>
            <a:pPr algn="just" marL="12700" marR="5080">
              <a:lnSpc>
                <a:spcPct val="95800"/>
              </a:lnSpc>
            </a:pPr>
            <a:r>
              <a:rPr dirty="0" sz="1200" spc="-5">
                <a:latin typeface="Arial"/>
                <a:cs typeface="Arial"/>
              </a:rPr>
              <a:t>He </a:t>
            </a:r>
            <a:r>
              <a:rPr dirty="0" sz="1200" spc="-10">
                <a:latin typeface="Arial"/>
                <a:cs typeface="Arial"/>
              </a:rPr>
              <a:t>was </a:t>
            </a:r>
            <a:r>
              <a:rPr dirty="0" sz="1200">
                <a:latin typeface="Arial"/>
                <a:cs typeface="Arial"/>
              </a:rPr>
              <a:t>the first </a:t>
            </a:r>
            <a:r>
              <a:rPr dirty="0" sz="1200" spc="-5">
                <a:latin typeface="Arial"/>
                <a:cs typeface="Arial"/>
              </a:rPr>
              <a:t>free </a:t>
            </a:r>
            <a:r>
              <a:rPr dirty="0" sz="1200">
                <a:latin typeface="Arial"/>
                <a:cs typeface="Arial"/>
              </a:rPr>
              <a:t>man to </a:t>
            </a:r>
            <a:r>
              <a:rPr dirty="0" sz="1200" spc="-5">
                <a:latin typeface="Arial"/>
                <a:cs typeface="Arial"/>
              </a:rPr>
              <a:t>accept Islam at the hands of the prophet (s.a.w). According </a:t>
            </a:r>
            <a:r>
              <a:rPr dirty="0" sz="1200">
                <a:latin typeface="Arial"/>
                <a:cs typeface="Arial"/>
              </a:rPr>
              <a:t>to  the </a:t>
            </a:r>
            <a:r>
              <a:rPr dirty="0" sz="1200" spc="-5">
                <a:latin typeface="Arial"/>
                <a:cs typeface="Arial"/>
              </a:rPr>
              <a:t>prophet (s.a.w) Abu </a:t>
            </a:r>
            <a:r>
              <a:rPr dirty="0" sz="1200">
                <a:latin typeface="Arial"/>
                <a:cs typeface="Arial"/>
              </a:rPr>
              <a:t>Bakr </a:t>
            </a:r>
            <a:r>
              <a:rPr dirty="0" sz="1200" spc="-10">
                <a:latin typeface="Arial"/>
                <a:cs typeface="Arial"/>
              </a:rPr>
              <a:t>never </a:t>
            </a:r>
            <a:r>
              <a:rPr dirty="0" sz="1200" spc="-5">
                <a:latin typeface="Arial"/>
                <a:cs typeface="Arial"/>
              </a:rPr>
              <a:t>questioned </a:t>
            </a:r>
            <a:r>
              <a:rPr dirty="0" sz="1200" spc="-10">
                <a:latin typeface="Arial"/>
                <a:cs typeface="Arial"/>
              </a:rPr>
              <a:t>him </a:t>
            </a:r>
            <a:r>
              <a:rPr dirty="0" sz="1200" spc="-5">
                <a:latin typeface="Arial"/>
                <a:cs typeface="Arial"/>
              </a:rPr>
              <a:t>concerning </a:t>
            </a:r>
            <a:r>
              <a:rPr dirty="0" sz="1200">
                <a:latin typeface="Arial"/>
                <a:cs typeface="Arial"/>
              </a:rPr>
              <a:t>the </a:t>
            </a:r>
            <a:r>
              <a:rPr dirty="0" sz="1200" spc="-5">
                <a:latin typeface="Arial"/>
                <a:cs typeface="Arial"/>
              </a:rPr>
              <a:t>validity and truthfulness  of his claim of being a prophet. He proved </a:t>
            </a:r>
            <a:r>
              <a:rPr dirty="0" sz="1200">
                <a:latin typeface="Arial"/>
                <a:cs typeface="Arial"/>
              </a:rPr>
              <a:t>to </a:t>
            </a:r>
            <a:r>
              <a:rPr dirty="0" sz="1200" spc="-5">
                <a:latin typeface="Arial"/>
                <a:cs typeface="Arial"/>
              </a:rPr>
              <a:t>be a great </a:t>
            </a:r>
            <a:r>
              <a:rPr dirty="0" sz="1200" spc="5">
                <a:latin typeface="Arial"/>
                <a:cs typeface="Arial"/>
              </a:rPr>
              <a:t>asset </a:t>
            </a:r>
            <a:r>
              <a:rPr dirty="0" sz="1200">
                <a:latin typeface="Arial"/>
                <a:cs typeface="Arial"/>
              </a:rPr>
              <a:t>for the </a:t>
            </a:r>
            <a:r>
              <a:rPr dirty="0" sz="1200" spc="-5">
                <a:latin typeface="Arial"/>
                <a:cs typeface="Arial"/>
              </a:rPr>
              <a:t>prophet (s.a.w) </a:t>
            </a:r>
            <a:r>
              <a:rPr dirty="0" sz="1200">
                <a:latin typeface="Arial"/>
                <a:cs typeface="Arial"/>
              </a:rPr>
              <a:t>for </a:t>
            </a:r>
            <a:r>
              <a:rPr dirty="0" sz="1200" spc="-10">
                <a:latin typeface="Arial"/>
                <a:cs typeface="Arial"/>
              </a:rPr>
              <a:t>he  </a:t>
            </a:r>
            <a:r>
              <a:rPr dirty="0" sz="1200" spc="-5">
                <a:latin typeface="Arial"/>
                <a:cs typeface="Arial"/>
              </a:rPr>
              <a:t>would always be by his </a:t>
            </a:r>
            <a:r>
              <a:rPr dirty="0" sz="1200">
                <a:latin typeface="Arial"/>
                <a:cs typeface="Arial"/>
              </a:rPr>
              <a:t>side, </a:t>
            </a:r>
            <a:r>
              <a:rPr dirty="0" sz="1200" spc="-5">
                <a:latin typeface="Arial"/>
                <a:cs typeface="Arial"/>
              </a:rPr>
              <a:t>encouraging, comforting and supporting him in great difficulties.  He would </a:t>
            </a:r>
            <a:r>
              <a:rPr dirty="0" sz="1200">
                <a:latin typeface="Arial"/>
                <a:cs typeface="Arial"/>
              </a:rPr>
              <a:t>act </a:t>
            </a:r>
            <a:r>
              <a:rPr dirty="0" sz="1200" spc="-5">
                <a:latin typeface="Arial"/>
                <a:cs typeface="Arial"/>
              </a:rPr>
              <a:t>as </a:t>
            </a:r>
            <a:r>
              <a:rPr dirty="0" sz="1200">
                <a:latin typeface="Arial"/>
                <a:cs typeface="Arial"/>
              </a:rPr>
              <a:t>his </a:t>
            </a:r>
            <a:r>
              <a:rPr dirty="0" sz="1200" spc="-5">
                <a:latin typeface="Arial"/>
                <a:cs typeface="Arial"/>
              </a:rPr>
              <a:t>counsellor and advisor. His </a:t>
            </a:r>
            <a:r>
              <a:rPr dirty="0" sz="1200">
                <a:latin typeface="Arial"/>
                <a:cs typeface="Arial"/>
              </a:rPr>
              <a:t>help </a:t>
            </a:r>
            <a:r>
              <a:rPr dirty="0" sz="1200" spc="-5">
                <a:latin typeface="Arial"/>
                <a:cs typeface="Arial"/>
              </a:rPr>
              <a:t>would </a:t>
            </a:r>
            <a:r>
              <a:rPr dirty="0" sz="1200">
                <a:latin typeface="Arial"/>
                <a:cs typeface="Arial"/>
              </a:rPr>
              <a:t>extent to </a:t>
            </a:r>
            <a:r>
              <a:rPr dirty="0" sz="1200" spc="-5">
                <a:latin typeface="Arial"/>
                <a:cs typeface="Arial"/>
              </a:rPr>
              <a:t>the family </a:t>
            </a:r>
            <a:r>
              <a:rPr dirty="0" sz="1200">
                <a:latin typeface="Arial"/>
                <a:cs typeface="Arial"/>
              </a:rPr>
              <a:t>of </a:t>
            </a:r>
            <a:r>
              <a:rPr dirty="0" sz="1200" spc="-5">
                <a:latin typeface="Arial"/>
                <a:cs typeface="Arial"/>
              </a:rPr>
              <a:t>the prophet  (s.a.w) and </a:t>
            </a:r>
            <a:r>
              <a:rPr dirty="0" sz="1200">
                <a:latin typeface="Arial"/>
                <a:cs typeface="Arial"/>
              </a:rPr>
              <a:t>to </a:t>
            </a:r>
            <a:r>
              <a:rPr dirty="0" sz="1200" spc="-5">
                <a:latin typeface="Arial"/>
                <a:cs typeface="Arial"/>
              </a:rPr>
              <a:t>all </a:t>
            </a:r>
            <a:r>
              <a:rPr dirty="0" sz="1200">
                <a:latin typeface="Arial"/>
                <a:cs typeface="Arial"/>
              </a:rPr>
              <a:t>the companions </a:t>
            </a:r>
            <a:r>
              <a:rPr dirty="0" sz="1200" spc="-5">
                <a:latin typeface="Arial"/>
                <a:cs typeface="Arial"/>
              </a:rPr>
              <a:t>(Ashab). He would buy slaves and would free </a:t>
            </a:r>
            <a:r>
              <a:rPr dirty="0" sz="1200">
                <a:latin typeface="Arial"/>
                <a:cs typeface="Arial"/>
              </a:rPr>
              <a:t>them. </a:t>
            </a:r>
            <a:r>
              <a:rPr dirty="0" sz="1200" spc="-5">
                <a:latin typeface="Arial"/>
                <a:cs typeface="Arial"/>
              </a:rPr>
              <a:t>He  was given </a:t>
            </a:r>
            <a:r>
              <a:rPr dirty="0" sz="1200">
                <a:latin typeface="Arial"/>
                <a:cs typeface="Arial"/>
              </a:rPr>
              <a:t>the title </a:t>
            </a:r>
            <a:r>
              <a:rPr dirty="0" sz="1200" spc="-5">
                <a:latin typeface="Arial"/>
                <a:cs typeface="Arial"/>
              </a:rPr>
              <a:t>of Siddeeq </a:t>
            </a:r>
            <a:r>
              <a:rPr dirty="0" sz="1200">
                <a:latin typeface="Arial"/>
                <a:cs typeface="Arial"/>
              </a:rPr>
              <a:t>for </a:t>
            </a:r>
            <a:r>
              <a:rPr dirty="0" sz="1200" spc="-5">
                <a:latin typeface="Arial"/>
                <a:cs typeface="Arial"/>
              </a:rPr>
              <a:t>his acceptance of the prophet‘s (s.a.w) night journey </a:t>
            </a:r>
            <a:r>
              <a:rPr dirty="0" sz="1200">
                <a:latin typeface="Arial"/>
                <a:cs typeface="Arial"/>
              </a:rPr>
              <a:t>– the  </a:t>
            </a:r>
            <a:r>
              <a:rPr dirty="0" sz="1200" spc="-5">
                <a:latin typeface="Arial"/>
                <a:cs typeface="Arial"/>
              </a:rPr>
              <a:t>Mi‘raj. He was </a:t>
            </a:r>
            <a:r>
              <a:rPr dirty="0" sz="1200">
                <a:latin typeface="Arial"/>
                <a:cs typeface="Arial"/>
              </a:rPr>
              <a:t>the </a:t>
            </a:r>
            <a:r>
              <a:rPr dirty="0" sz="1200" spc="-5">
                <a:latin typeface="Arial"/>
                <a:cs typeface="Arial"/>
              </a:rPr>
              <a:t>leader </a:t>
            </a:r>
            <a:r>
              <a:rPr dirty="0" sz="1200">
                <a:latin typeface="Arial"/>
                <a:cs typeface="Arial"/>
              </a:rPr>
              <a:t>– </a:t>
            </a:r>
            <a:r>
              <a:rPr dirty="0" sz="1200" spc="-5">
                <a:latin typeface="Arial"/>
                <a:cs typeface="Arial"/>
              </a:rPr>
              <a:t>Ameer </a:t>
            </a:r>
            <a:r>
              <a:rPr dirty="0" sz="1200">
                <a:latin typeface="Arial"/>
                <a:cs typeface="Arial"/>
              </a:rPr>
              <a:t>– </a:t>
            </a:r>
            <a:r>
              <a:rPr dirty="0" sz="1200" spc="-5">
                <a:latin typeface="Arial"/>
                <a:cs typeface="Arial"/>
              </a:rPr>
              <a:t>of one delegation </a:t>
            </a:r>
            <a:r>
              <a:rPr dirty="0" sz="1200">
                <a:latin typeface="Arial"/>
                <a:cs typeface="Arial"/>
              </a:rPr>
              <a:t>for the </a:t>
            </a:r>
            <a:r>
              <a:rPr dirty="0" sz="1200" spc="-5">
                <a:latin typeface="Arial"/>
                <a:cs typeface="Arial"/>
              </a:rPr>
              <a:t>Hajj period. He </a:t>
            </a:r>
            <a:r>
              <a:rPr dirty="0" sz="1200" spc="-10">
                <a:latin typeface="Arial"/>
                <a:cs typeface="Arial"/>
              </a:rPr>
              <a:t>was </a:t>
            </a:r>
            <a:r>
              <a:rPr dirty="0" sz="1200" spc="-5">
                <a:latin typeface="Arial"/>
                <a:cs typeface="Arial"/>
              </a:rPr>
              <a:t>given </a:t>
            </a:r>
            <a:r>
              <a:rPr dirty="0" sz="1200">
                <a:latin typeface="Arial"/>
                <a:cs typeface="Arial"/>
              </a:rPr>
              <a:t>the  </a:t>
            </a:r>
            <a:r>
              <a:rPr dirty="0" sz="1200" spc="-5">
                <a:latin typeface="Arial"/>
                <a:cs typeface="Arial"/>
              </a:rPr>
              <a:t>good news of Jannati </a:t>
            </a:r>
            <a:r>
              <a:rPr dirty="0" sz="1200">
                <a:latin typeface="Arial"/>
                <a:cs typeface="Arial"/>
              </a:rPr>
              <a:t>– </a:t>
            </a:r>
            <a:r>
              <a:rPr dirty="0" sz="1200" spc="-5">
                <a:latin typeface="Arial"/>
                <a:cs typeface="Arial"/>
              </a:rPr>
              <a:t>inhabitant of paradise </a:t>
            </a:r>
            <a:r>
              <a:rPr dirty="0" sz="1200">
                <a:latin typeface="Arial"/>
                <a:cs typeface="Arial"/>
              </a:rPr>
              <a:t>– </a:t>
            </a:r>
            <a:r>
              <a:rPr dirty="0" sz="1200" spc="-5">
                <a:latin typeface="Arial"/>
                <a:cs typeface="Arial"/>
              </a:rPr>
              <a:t>by </a:t>
            </a:r>
            <a:r>
              <a:rPr dirty="0" sz="1200">
                <a:latin typeface="Arial"/>
                <a:cs typeface="Arial"/>
              </a:rPr>
              <a:t>the </a:t>
            </a:r>
            <a:r>
              <a:rPr dirty="0" sz="1200" spc="-5">
                <a:latin typeface="Arial"/>
                <a:cs typeface="Arial"/>
              </a:rPr>
              <a:t>prophet (s.a.w). </a:t>
            </a:r>
            <a:r>
              <a:rPr dirty="0" sz="1200">
                <a:latin typeface="Arial"/>
                <a:cs typeface="Arial"/>
              </a:rPr>
              <a:t>He </a:t>
            </a:r>
            <a:r>
              <a:rPr dirty="0" sz="1200" spc="-10">
                <a:latin typeface="Arial"/>
                <a:cs typeface="Arial"/>
              </a:rPr>
              <a:t>was </a:t>
            </a:r>
            <a:r>
              <a:rPr dirty="0" sz="1200" spc="-5">
                <a:latin typeface="Arial"/>
                <a:cs typeface="Arial"/>
              </a:rPr>
              <a:t>honoured </a:t>
            </a:r>
            <a:r>
              <a:rPr dirty="0" sz="1200">
                <a:latin typeface="Arial"/>
                <a:cs typeface="Arial"/>
              </a:rPr>
              <a:t>to  lead </a:t>
            </a:r>
            <a:r>
              <a:rPr dirty="0" sz="1200" spc="-5">
                <a:latin typeface="Arial"/>
                <a:cs typeface="Arial"/>
              </a:rPr>
              <a:t>Muslims in prayer during the </a:t>
            </a:r>
            <a:r>
              <a:rPr dirty="0" sz="1200">
                <a:latin typeface="Arial"/>
                <a:cs typeface="Arial"/>
              </a:rPr>
              <a:t>illness </a:t>
            </a:r>
            <a:r>
              <a:rPr dirty="0" sz="1200" spc="-5">
                <a:latin typeface="Arial"/>
                <a:cs typeface="Arial"/>
              </a:rPr>
              <a:t>of the prophet (s.a.w). </a:t>
            </a:r>
            <a:r>
              <a:rPr dirty="0" sz="1200">
                <a:latin typeface="Arial"/>
                <a:cs typeface="Arial"/>
              </a:rPr>
              <a:t>He used to </a:t>
            </a:r>
            <a:r>
              <a:rPr dirty="0" sz="1200" spc="-5">
                <a:latin typeface="Arial"/>
                <a:cs typeface="Arial"/>
              </a:rPr>
              <a:t>contribute a lot </a:t>
            </a:r>
            <a:r>
              <a:rPr dirty="0" sz="1200">
                <a:latin typeface="Arial"/>
                <a:cs typeface="Arial"/>
              </a:rPr>
              <a:t>for  Islam </a:t>
            </a:r>
            <a:r>
              <a:rPr dirty="0" sz="1200" spc="-5">
                <a:latin typeface="Arial"/>
                <a:cs typeface="Arial"/>
              </a:rPr>
              <a:t>and would spend all his wealth in Jihad and spreading of Islam. He would </a:t>
            </a:r>
            <a:r>
              <a:rPr dirty="0" sz="1200">
                <a:latin typeface="Arial"/>
                <a:cs typeface="Arial"/>
              </a:rPr>
              <a:t>militate for  the </a:t>
            </a:r>
            <a:r>
              <a:rPr dirty="0" sz="1200" spc="-5">
                <a:latin typeface="Arial"/>
                <a:cs typeface="Arial"/>
              </a:rPr>
              <a:t>rights of all believers </a:t>
            </a:r>
            <a:r>
              <a:rPr dirty="0" sz="1200">
                <a:latin typeface="Arial"/>
                <a:cs typeface="Arial"/>
              </a:rPr>
              <a:t>and </a:t>
            </a:r>
            <a:r>
              <a:rPr dirty="0" sz="1200" spc="-5">
                <a:latin typeface="Arial"/>
                <a:cs typeface="Arial"/>
              </a:rPr>
              <a:t>unbelievers.</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b="1" i="1">
                <a:uFill>
                  <a:solidFill>
                    <a:srgbClr val="000000"/>
                  </a:solidFill>
                </a:uFill>
                <a:latin typeface="Arial"/>
                <a:cs typeface="Arial"/>
              </a:rPr>
              <a:t>Life of </a:t>
            </a:r>
            <a:r>
              <a:rPr dirty="0" u="heavy" sz="1200" spc="-5" b="1" i="1">
                <a:uFill>
                  <a:solidFill>
                    <a:srgbClr val="000000"/>
                  </a:solidFill>
                </a:uFill>
                <a:latin typeface="Arial"/>
                <a:cs typeface="Arial"/>
              </a:rPr>
              <a:t>Caliphate and</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Achievements</a:t>
            </a:r>
            <a:endParaRPr sz="1200">
              <a:latin typeface="Arial"/>
              <a:cs typeface="Arial"/>
            </a:endParaRPr>
          </a:p>
          <a:p>
            <a:pPr>
              <a:lnSpc>
                <a:spcPct val="100000"/>
              </a:lnSpc>
              <a:spcBef>
                <a:spcPts val="55"/>
              </a:spcBef>
            </a:pPr>
            <a:endParaRPr sz="1150">
              <a:latin typeface="Arial"/>
              <a:cs typeface="Arial"/>
            </a:endParaRPr>
          </a:p>
          <a:p>
            <a:pPr algn="just" marL="12700" marR="5715">
              <a:lnSpc>
                <a:spcPct val="95900"/>
              </a:lnSpc>
            </a:pPr>
            <a:r>
              <a:rPr dirty="0" sz="1200">
                <a:latin typeface="Arial"/>
                <a:cs typeface="Arial"/>
              </a:rPr>
              <a:t>After </a:t>
            </a:r>
            <a:r>
              <a:rPr dirty="0" sz="1200" spc="-5">
                <a:latin typeface="Arial"/>
                <a:cs typeface="Arial"/>
              </a:rPr>
              <a:t>the death of </a:t>
            </a:r>
            <a:r>
              <a:rPr dirty="0" sz="1200">
                <a:latin typeface="Arial"/>
                <a:cs typeface="Arial"/>
              </a:rPr>
              <a:t>the </a:t>
            </a:r>
            <a:r>
              <a:rPr dirty="0" sz="1200" spc="-5">
                <a:latin typeface="Arial"/>
                <a:cs typeface="Arial"/>
              </a:rPr>
              <a:t>prophet (s.a.w), both the people of Macca </a:t>
            </a:r>
            <a:r>
              <a:rPr dirty="0" sz="1200">
                <a:latin typeface="Arial"/>
                <a:cs typeface="Arial"/>
              </a:rPr>
              <a:t>– the </a:t>
            </a:r>
            <a:r>
              <a:rPr dirty="0" sz="1200" spc="-5">
                <a:latin typeface="Arial"/>
                <a:cs typeface="Arial"/>
              </a:rPr>
              <a:t>Muhajiroun and </a:t>
            </a:r>
            <a:r>
              <a:rPr dirty="0" sz="1200" spc="-10">
                <a:latin typeface="Arial"/>
                <a:cs typeface="Arial"/>
              </a:rPr>
              <a:t>the  </a:t>
            </a:r>
            <a:r>
              <a:rPr dirty="0" sz="1200" spc="-5">
                <a:latin typeface="Arial"/>
                <a:cs typeface="Arial"/>
              </a:rPr>
              <a:t>people of Madina </a:t>
            </a:r>
            <a:r>
              <a:rPr dirty="0" sz="1200">
                <a:latin typeface="Arial"/>
                <a:cs typeface="Arial"/>
              </a:rPr>
              <a:t>– </a:t>
            </a:r>
            <a:r>
              <a:rPr dirty="0" sz="1200" spc="-5">
                <a:latin typeface="Arial"/>
                <a:cs typeface="Arial"/>
              </a:rPr>
              <a:t>the Ansar were demanding a </a:t>
            </a:r>
            <a:r>
              <a:rPr dirty="0" sz="1200">
                <a:latin typeface="Arial"/>
                <a:cs typeface="Arial"/>
              </a:rPr>
              <a:t>leader for </a:t>
            </a:r>
            <a:r>
              <a:rPr dirty="0" sz="1200" spc="-5">
                <a:latin typeface="Arial"/>
                <a:cs typeface="Arial"/>
              </a:rPr>
              <a:t>both camps in </a:t>
            </a:r>
            <a:r>
              <a:rPr dirty="0" sz="1200" spc="5">
                <a:latin typeface="Arial"/>
                <a:cs typeface="Arial"/>
              </a:rPr>
              <a:t>order </a:t>
            </a:r>
            <a:r>
              <a:rPr dirty="0" sz="1200">
                <a:latin typeface="Arial"/>
                <a:cs typeface="Arial"/>
              </a:rPr>
              <a:t>to </a:t>
            </a:r>
            <a:r>
              <a:rPr dirty="0" sz="1200" spc="-5">
                <a:latin typeface="Arial"/>
                <a:cs typeface="Arial"/>
              </a:rPr>
              <a:t>avoid </a:t>
            </a:r>
            <a:r>
              <a:rPr dirty="0" sz="1200">
                <a:latin typeface="Arial"/>
                <a:cs typeface="Arial"/>
              </a:rPr>
              <a:t>the  </a:t>
            </a:r>
            <a:r>
              <a:rPr dirty="0" sz="1200" spc="-5">
                <a:latin typeface="Arial"/>
                <a:cs typeface="Arial"/>
              </a:rPr>
              <a:t>discussion of </a:t>
            </a:r>
            <a:r>
              <a:rPr dirty="0" sz="1200" spc="-10">
                <a:latin typeface="Arial"/>
                <a:cs typeface="Arial"/>
              </a:rPr>
              <a:t>who </a:t>
            </a:r>
            <a:r>
              <a:rPr dirty="0" sz="1200">
                <a:latin typeface="Arial"/>
                <a:cs typeface="Arial"/>
              </a:rPr>
              <a:t>would </a:t>
            </a:r>
            <a:r>
              <a:rPr dirty="0" sz="1200" spc="-5">
                <a:latin typeface="Arial"/>
                <a:cs typeface="Arial"/>
              </a:rPr>
              <a:t>become the Ameer and caliph. For </a:t>
            </a:r>
            <a:r>
              <a:rPr dirty="0" sz="1200">
                <a:latin typeface="Arial"/>
                <a:cs typeface="Arial"/>
              </a:rPr>
              <a:t>the </a:t>
            </a:r>
            <a:r>
              <a:rPr dirty="0" sz="1200" spc="-5">
                <a:latin typeface="Arial"/>
                <a:cs typeface="Arial"/>
              </a:rPr>
              <a:t>best interest of </a:t>
            </a:r>
            <a:r>
              <a:rPr dirty="0" sz="1200" spc="-10">
                <a:latin typeface="Arial"/>
                <a:cs typeface="Arial"/>
              </a:rPr>
              <a:t>the  </a:t>
            </a:r>
            <a:r>
              <a:rPr dirty="0" sz="1200" spc="-5">
                <a:latin typeface="Arial"/>
                <a:cs typeface="Arial"/>
              </a:rPr>
              <a:t>community, Hazrat Umar (r.a) </a:t>
            </a:r>
            <a:r>
              <a:rPr dirty="0" sz="1200">
                <a:latin typeface="Arial"/>
                <a:cs typeface="Arial"/>
              </a:rPr>
              <a:t>took the </a:t>
            </a:r>
            <a:r>
              <a:rPr dirty="0" sz="1200" spc="-5">
                <a:latin typeface="Arial"/>
                <a:cs typeface="Arial"/>
              </a:rPr>
              <a:t>hand of Abu Bakr and swore allegiance </a:t>
            </a:r>
            <a:r>
              <a:rPr dirty="0" sz="1200">
                <a:latin typeface="Arial"/>
                <a:cs typeface="Arial"/>
              </a:rPr>
              <a:t>to </a:t>
            </a:r>
            <a:r>
              <a:rPr dirty="0" sz="1200" spc="-5">
                <a:latin typeface="Arial"/>
                <a:cs typeface="Arial"/>
              </a:rPr>
              <a:t>him saying  </a:t>
            </a:r>
            <a:r>
              <a:rPr dirty="0" sz="1200">
                <a:latin typeface="Arial"/>
                <a:cs typeface="Arial"/>
              </a:rPr>
              <a:t>that there </a:t>
            </a:r>
            <a:r>
              <a:rPr dirty="0" sz="1200" spc="-5">
                <a:latin typeface="Arial"/>
                <a:cs typeface="Arial"/>
              </a:rPr>
              <a:t>should </a:t>
            </a:r>
            <a:r>
              <a:rPr dirty="0" sz="1200" spc="-10">
                <a:latin typeface="Arial"/>
                <a:cs typeface="Arial"/>
              </a:rPr>
              <a:t>always </a:t>
            </a:r>
            <a:r>
              <a:rPr dirty="0" sz="1200" spc="-5">
                <a:latin typeface="Arial"/>
                <a:cs typeface="Arial"/>
              </a:rPr>
              <a:t>be one caliph not </a:t>
            </a:r>
            <a:r>
              <a:rPr dirty="0" sz="1200" spc="-10">
                <a:latin typeface="Arial"/>
                <a:cs typeface="Arial"/>
              </a:rPr>
              <a:t>two. </a:t>
            </a:r>
            <a:r>
              <a:rPr dirty="0" sz="1200" spc="-5">
                <a:latin typeface="Arial"/>
                <a:cs typeface="Arial"/>
              </a:rPr>
              <a:t>Then batches of </a:t>
            </a:r>
            <a:r>
              <a:rPr dirty="0" sz="1200">
                <a:latin typeface="Arial"/>
                <a:cs typeface="Arial"/>
              </a:rPr>
              <a:t>companions </a:t>
            </a:r>
            <a:r>
              <a:rPr dirty="0" sz="1200" spc="-5">
                <a:latin typeface="Arial"/>
                <a:cs typeface="Arial"/>
              </a:rPr>
              <a:t>would take </a:t>
            </a:r>
            <a:r>
              <a:rPr dirty="0" sz="1200">
                <a:latin typeface="Arial"/>
                <a:cs typeface="Arial"/>
              </a:rPr>
              <a:t>the  </a:t>
            </a:r>
            <a:r>
              <a:rPr dirty="0" sz="1200" spc="-5">
                <a:latin typeface="Arial"/>
                <a:cs typeface="Arial"/>
              </a:rPr>
              <a:t>oath </a:t>
            </a:r>
            <a:r>
              <a:rPr dirty="0" sz="1200">
                <a:latin typeface="Arial"/>
                <a:cs typeface="Arial"/>
              </a:rPr>
              <a:t>on his </a:t>
            </a:r>
            <a:r>
              <a:rPr dirty="0" sz="1200" spc="-5">
                <a:latin typeface="Arial"/>
                <a:cs typeface="Arial"/>
              </a:rPr>
              <a:t>hands. After his election, </a:t>
            </a:r>
            <a:r>
              <a:rPr dirty="0" sz="1200" spc="-10">
                <a:latin typeface="Arial"/>
                <a:cs typeface="Arial"/>
              </a:rPr>
              <a:t>he gave </a:t>
            </a:r>
            <a:r>
              <a:rPr dirty="0" sz="1200">
                <a:latin typeface="Arial"/>
                <a:cs typeface="Arial"/>
              </a:rPr>
              <a:t>his </a:t>
            </a:r>
            <a:r>
              <a:rPr dirty="0" sz="1200" spc="-5">
                <a:latin typeface="Arial"/>
                <a:cs typeface="Arial"/>
              </a:rPr>
              <a:t>speech </a:t>
            </a:r>
            <a:r>
              <a:rPr dirty="0" sz="1200">
                <a:latin typeface="Arial"/>
                <a:cs typeface="Arial"/>
              </a:rPr>
              <a:t>as</a:t>
            </a:r>
            <a:r>
              <a:rPr dirty="0" sz="1200" spc="25">
                <a:latin typeface="Arial"/>
                <a:cs typeface="Arial"/>
              </a:rPr>
              <a:t> </a:t>
            </a:r>
            <a:r>
              <a:rPr dirty="0" sz="1200" spc="-5">
                <a:latin typeface="Arial"/>
                <a:cs typeface="Arial"/>
              </a:rPr>
              <a:t>follows:</a:t>
            </a:r>
            <a:endParaRPr sz="1200">
              <a:latin typeface="Arial"/>
              <a:cs typeface="Arial"/>
            </a:endParaRPr>
          </a:p>
          <a:p>
            <a:pPr>
              <a:lnSpc>
                <a:spcPct val="100000"/>
              </a:lnSpc>
              <a:spcBef>
                <a:spcPts val="25"/>
              </a:spcBef>
            </a:pPr>
            <a:endParaRPr sz="1200">
              <a:latin typeface="Arial"/>
              <a:cs typeface="Arial"/>
            </a:endParaRPr>
          </a:p>
          <a:p>
            <a:pPr algn="just" marL="927100" marR="922019">
              <a:lnSpc>
                <a:spcPts val="1380"/>
              </a:lnSpc>
            </a:pPr>
            <a:r>
              <a:rPr dirty="0" sz="1200" spc="-405" i="1">
                <a:latin typeface="Arial"/>
                <a:cs typeface="Arial"/>
              </a:rPr>
              <a:t>―I</a:t>
            </a:r>
            <a:r>
              <a:rPr dirty="0" sz="1200" i="1">
                <a:latin typeface="Arial"/>
                <a:cs typeface="Arial"/>
              </a:rPr>
              <a:t> have </a:t>
            </a:r>
            <a:r>
              <a:rPr dirty="0" sz="1200" spc="-5" i="1">
                <a:latin typeface="Arial"/>
                <a:cs typeface="Arial"/>
              </a:rPr>
              <a:t>been elected as </a:t>
            </a:r>
            <a:r>
              <a:rPr dirty="0" sz="1200" i="1">
                <a:latin typeface="Arial"/>
                <a:cs typeface="Arial"/>
              </a:rPr>
              <a:t>your </a:t>
            </a:r>
            <a:r>
              <a:rPr dirty="0" sz="1200" spc="-5" i="1">
                <a:latin typeface="Arial"/>
                <a:cs typeface="Arial"/>
              </a:rPr>
              <a:t>Ameer, although </a:t>
            </a:r>
            <a:r>
              <a:rPr dirty="0" sz="1200" i="1">
                <a:latin typeface="Arial"/>
                <a:cs typeface="Arial"/>
              </a:rPr>
              <a:t>I am not better </a:t>
            </a:r>
            <a:r>
              <a:rPr dirty="0" sz="1200" spc="-10" i="1">
                <a:latin typeface="Arial"/>
                <a:cs typeface="Arial"/>
              </a:rPr>
              <a:t>than  </a:t>
            </a:r>
            <a:r>
              <a:rPr dirty="0" sz="1200" spc="-5" i="1">
                <a:latin typeface="Arial"/>
                <a:cs typeface="Arial"/>
              </a:rPr>
              <a:t>you. Help </a:t>
            </a:r>
            <a:r>
              <a:rPr dirty="0" sz="1200" spc="-10" i="1">
                <a:latin typeface="Arial"/>
                <a:cs typeface="Arial"/>
              </a:rPr>
              <a:t>me, </a:t>
            </a:r>
            <a:r>
              <a:rPr dirty="0" sz="1200" spc="-5" i="1">
                <a:latin typeface="Arial"/>
                <a:cs typeface="Arial"/>
              </a:rPr>
              <a:t>if </a:t>
            </a:r>
            <a:r>
              <a:rPr dirty="0" sz="1200" i="1">
                <a:latin typeface="Arial"/>
                <a:cs typeface="Arial"/>
              </a:rPr>
              <a:t>I </a:t>
            </a:r>
            <a:r>
              <a:rPr dirty="0" sz="1200" spc="-5" i="1">
                <a:latin typeface="Arial"/>
                <a:cs typeface="Arial"/>
              </a:rPr>
              <a:t>am in the right; set </a:t>
            </a:r>
            <a:r>
              <a:rPr dirty="0" sz="1200" spc="-15" i="1">
                <a:latin typeface="Arial"/>
                <a:cs typeface="Arial"/>
              </a:rPr>
              <a:t>me </a:t>
            </a:r>
            <a:r>
              <a:rPr dirty="0" sz="1200" spc="-5" i="1">
                <a:latin typeface="Arial"/>
                <a:cs typeface="Arial"/>
              </a:rPr>
              <a:t>right if </a:t>
            </a:r>
            <a:r>
              <a:rPr dirty="0" sz="1200" i="1">
                <a:latin typeface="Arial"/>
                <a:cs typeface="Arial"/>
              </a:rPr>
              <a:t>I </a:t>
            </a:r>
            <a:r>
              <a:rPr dirty="0" sz="1200" spc="-5" i="1">
                <a:latin typeface="Arial"/>
                <a:cs typeface="Arial"/>
              </a:rPr>
              <a:t>am in </a:t>
            </a:r>
            <a:r>
              <a:rPr dirty="0" sz="1200" i="1">
                <a:latin typeface="Arial"/>
                <a:cs typeface="Arial"/>
              </a:rPr>
              <a:t>the </a:t>
            </a:r>
            <a:r>
              <a:rPr dirty="0" sz="1200" spc="-5" i="1">
                <a:latin typeface="Arial"/>
                <a:cs typeface="Arial"/>
              </a:rPr>
              <a:t>wrong;  obey </a:t>
            </a:r>
            <a:r>
              <a:rPr dirty="0" sz="1200" spc="-15" i="1">
                <a:latin typeface="Arial"/>
                <a:cs typeface="Arial"/>
              </a:rPr>
              <a:t>me </a:t>
            </a:r>
            <a:r>
              <a:rPr dirty="0" sz="1200" spc="-5" i="1">
                <a:latin typeface="Arial"/>
                <a:cs typeface="Arial"/>
              </a:rPr>
              <a:t>as long as </a:t>
            </a:r>
            <a:r>
              <a:rPr dirty="0" sz="1200" i="1">
                <a:latin typeface="Arial"/>
                <a:cs typeface="Arial"/>
              </a:rPr>
              <a:t>I </a:t>
            </a:r>
            <a:r>
              <a:rPr dirty="0" sz="1200" spc="-5" i="1">
                <a:latin typeface="Arial"/>
                <a:cs typeface="Arial"/>
              </a:rPr>
              <a:t>obey Allah and His prophet; when </a:t>
            </a:r>
            <a:r>
              <a:rPr dirty="0" sz="1200" i="1">
                <a:latin typeface="Arial"/>
                <a:cs typeface="Arial"/>
              </a:rPr>
              <a:t>I </a:t>
            </a:r>
            <a:r>
              <a:rPr dirty="0" sz="1200" spc="-5" i="1">
                <a:latin typeface="Arial"/>
                <a:cs typeface="Arial"/>
              </a:rPr>
              <a:t>disobey  </a:t>
            </a:r>
            <a:r>
              <a:rPr dirty="0" sz="1200" i="1">
                <a:latin typeface="Arial"/>
                <a:cs typeface="Arial"/>
              </a:rPr>
              <a:t>Him and </a:t>
            </a:r>
            <a:r>
              <a:rPr dirty="0" sz="1200" spc="-5" i="1">
                <a:latin typeface="Arial"/>
                <a:cs typeface="Arial"/>
              </a:rPr>
              <a:t>His prophet, then </a:t>
            </a:r>
            <a:r>
              <a:rPr dirty="0" sz="1200" i="1">
                <a:latin typeface="Arial"/>
                <a:cs typeface="Arial"/>
              </a:rPr>
              <a:t>obey </a:t>
            </a:r>
            <a:r>
              <a:rPr dirty="0" sz="1200" spc="-10" i="1">
                <a:latin typeface="Arial"/>
                <a:cs typeface="Arial"/>
              </a:rPr>
              <a:t>me</a:t>
            </a:r>
            <a:r>
              <a:rPr dirty="0" sz="1200" spc="-45" i="1">
                <a:latin typeface="Arial"/>
                <a:cs typeface="Arial"/>
              </a:rPr>
              <a:t> </a:t>
            </a:r>
            <a:r>
              <a:rPr dirty="0" sz="1200" spc="-25" i="1">
                <a:latin typeface="Arial"/>
                <a:cs typeface="Arial"/>
              </a:rPr>
              <a:t>not‖</a:t>
            </a:r>
            <a:endParaRPr sz="1200">
              <a:latin typeface="Arial"/>
              <a:cs typeface="Arial"/>
            </a:endParaRPr>
          </a:p>
          <a:p>
            <a:pPr>
              <a:lnSpc>
                <a:spcPct val="100000"/>
              </a:lnSpc>
              <a:spcBef>
                <a:spcPts val="10"/>
              </a:spcBef>
            </a:pPr>
            <a:endParaRPr sz="1200">
              <a:latin typeface="Arial"/>
              <a:cs typeface="Arial"/>
            </a:endParaRPr>
          </a:p>
          <a:p>
            <a:pPr algn="just" marL="12700" marR="6350">
              <a:lnSpc>
                <a:spcPts val="1380"/>
              </a:lnSpc>
            </a:pPr>
            <a:r>
              <a:rPr dirty="0" sz="1200">
                <a:latin typeface="Arial"/>
                <a:cs typeface="Arial"/>
              </a:rPr>
              <a:t>It </a:t>
            </a:r>
            <a:r>
              <a:rPr dirty="0" sz="1200" spc="-5">
                <a:latin typeface="Arial"/>
                <a:cs typeface="Arial"/>
              </a:rPr>
              <a:t>opens the room </a:t>
            </a:r>
            <a:r>
              <a:rPr dirty="0" sz="1200">
                <a:latin typeface="Arial"/>
                <a:cs typeface="Arial"/>
              </a:rPr>
              <a:t>for </a:t>
            </a:r>
            <a:r>
              <a:rPr dirty="0" sz="1200" spc="-5">
                <a:latin typeface="Arial"/>
                <a:cs typeface="Arial"/>
              </a:rPr>
              <a:t>freedom and </a:t>
            </a:r>
            <a:r>
              <a:rPr dirty="0" sz="1200" spc="-10">
                <a:latin typeface="Arial"/>
                <a:cs typeface="Arial"/>
              </a:rPr>
              <a:t>democracy. </a:t>
            </a:r>
            <a:r>
              <a:rPr dirty="0" sz="1200">
                <a:latin typeface="Arial"/>
                <a:cs typeface="Arial"/>
              </a:rPr>
              <a:t>Once at the </a:t>
            </a:r>
            <a:r>
              <a:rPr dirty="0" sz="1200" spc="-5">
                <a:latin typeface="Arial"/>
                <a:cs typeface="Arial"/>
              </a:rPr>
              <a:t>head of </a:t>
            </a:r>
            <a:r>
              <a:rPr dirty="0" sz="1200">
                <a:latin typeface="Arial"/>
                <a:cs typeface="Arial"/>
              </a:rPr>
              <a:t>the state, </a:t>
            </a:r>
            <a:r>
              <a:rPr dirty="0" sz="1200" spc="-10">
                <a:latin typeface="Arial"/>
                <a:cs typeface="Arial"/>
              </a:rPr>
              <a:t>he </a:t>
            </a:r>
            <a:r>
              <a:rPr dirty="0" sz="1200" spc="-5">
                <a:latin typeface="Arial"/>
                <a:cs typeface="Arial"/>
              </a:rPr>
              <a:t>had </a:t>
            </a:r>
            <a:r>
              <a:rPr dirty="0" sz="1200">
                <a:latin typeface="Arial"/>
                <a:cs typeface="Arial"/>
              </a:rPr>
              <a:t>to </a:t>
            </a:r>
            <a:r>
              <a:rPr dirty="0" sz="1200" spc="-5">
                <a:latin typeface="Arial"/>
                <a:cs typeface="Arial"/>
              </a:rPr>
              <a:t>face  several</a:t>
            </a:r>
            <a:r>
              <a:rPr dirty="0" sz="1200" spc="40">
                <a:latin typeface="Arial"/>
                <a:cs typeface="Arial"/>
              </a:rPr>
              <a:t> </a:t>
            </a:r>
            <a:r>
              <a:rPr dirty="0" sz="1200">
                <a:latin typeface="Arial"/>
                <a:cs typeface="Arial"/>
              </a:rPr>
              <a:t>problems</a:t>
            </a:r>
            <a:r>
              <a:rPr dirty="0" sz="1200" spc="45">
                <a:latin typeface="Arial"/>
                <a:cs typeface="Arial"/>
              </a:rPr>
              <a:t> </a:t>
            </a:r>
            <a:r>
              <a:rPr dirty="0" sz="1200" spc="-5">
                <a:latin typeface="Arial"/>
                <a:cs typeface="Arial"/>
              </a:rPr>
              <a:t>as</a:t>
            </a:r>
            <a:r>
              <a:rPr dirty="0" sz="1200" spc="30">
                <a:latin typeface="Arial"/>
                <a:cs typeface="Arial"/>
              </a:rPr>
              <a:t> </a:t>
            </a:r>
            <a:r>
              <a:rPr dirty="0" sz="1200" spc="-5">
                <a:latin typeface="Arial"/>
                <a:cs typeface="Arial"/>
              </a:rPr>
              <a:t>follows.</a:t>
            </a:r>
            <a:r>
              <a:rPr dirty="0" sz="1200" spc="60">
                <a:latin typeface="Arial"/>
                <a:cs typeface="Arial"/>
              </a:rPr>
              <a:t> </a:t>
            </a:r>
            <a:r>
              <a:rPr dirty="0" sz="1200" spc="-5">
                <a:latin typeface="Arial"/>
                <a:cs typeface="Arial"/>
              </a:rPr>
              <a:t>He</a:t>
            </a:r>
            <a:r>
              <a:rPr dirty="0" sz="1200" spc="40">
                <a:latin typeface="Arial"/>
                <a:cs typeface="Arial"/>
              </a:rPr>
              <a:t> </a:t>
            </a:r>
            <a:r>
              <a:rPr dirty="0" sz="1200" spc="-5">
                <a:latin typeface="Arial"/>
                <a:cs typeface="Arial"/>
              </a:rPr>
              <a:t>created</a:t>
            </a:r>
            <a:r>
              <a:rPr dirty="0" sz="1200" spc="50">
                <a:latin typeface="Arial"/>
                <a:cs typeface="Arial"/>
              </a:rPr>
              <a:t> </a:t>
            </a:r>
            <a:r>
              <a:rPr dirty="0" sz="1200" spc="-5">
                <a:latin typeface="Arial"/>
                <a:cs typeface="Arial"/>
              </a:rPr>
              <a:t>and</a:t>
            </a:r>
            <a:r>
              <a:rPr dirty="0" sz="1200" spc="30">
                <a:latin typeface="Arial"/>
                <a:cs typeface="Arial"/>
              </a:rPr>
              <a:t> </a:t>
            </a:r>
            <a:r>
              <a:rPr dirty="0" sz="1200" spc="-5">
                <a:latin typeface="Arial"/>
                <a:cs typeface="Arial"/>
              </a:rPr>
              <a:t>founded</a:t>
            </a:r>
            <a:r>
              <a:rPr dirty="0" sz="1200" spc="30">
                <a:latin typeface="Arial"/>
                <a:cs typeface="Arial"/>
              </a:rPr>
              <a:t> </a:t>
            </a:r>
            <a:r>
              <a:rPr dirty="0" sz="1200" spc="-5">
                <a:latin typeface="Arial"/>
                <a:cs typeface="Arial"/>
              </a:rPr>
              <a:t>a</a:t>
            </a:r>
            <a:r>
              <a:rPr dirty="0" sz="1200" spc="50">
                <a:latin typeface="Arial"/>
                <a:cs typeface="Arial"/>
              </a:rPr>
              <a:t> </a:t>
            </a:r>
            <a:r>
              <a:rPr dirty="0" sz="1200">
                <a:latin typeface="Arial"/>
                <a:cs typeface="Arial"/>
              </a:rPr>
              <a:t>truly</a:t>
            </a:r>
            <a:r>
              <a:rPr dirty="0" sz="1200" spc="30">
                <a:latin typeface="Arial"/>
                <a:cs typeface="Arial"/>
              </a:rPr>
              <a:t> </a:t>
            </a:r>
            <a:r>
              <a:rPr dirty="0" sz="1200" spc="-5">
                <a:latin typeface="Arial"/>
                <a:cs typeface="Arial"/>
              </a:rPr>
              <a:t>democratic</a:t>
            </a:r>
            <a:r>
              <a:rPr dirty="0" sz="1200" spc="45">
                <a:latin typeface="Arial"/>
                <a:cs typeface="Arial"/>
              </a:rPr>
              <a:t> </a:t>
            </a:r>
            <a:r>
              <a:rPr dirty="0" sz="1200">
                <a:latin typeface="Arial"/>
                <a:cs typeface="Arial"/>
              </a:rPr>
              <a:t>state</a:t>
            </a:r>
            <a:r>
              <a:rPr dirty="0" sz="1200" spc="50">
                <a:latin typeface="Arial"/>
                <a:cs typeface="Arial"/>
              </a:rPr>
              <a:t> </a:t>
            </a:r>
            <a:r>
              <a:rPr dirty="0" sz="1200" spc="-5">
                <a:latin typeface="Arial"/>
                <a:cs typeface="Arial"/>
              </a:rPr>
              <a:t>where</a:t>
            </a:r>
            <a:r>
              <a:rPr dirty="0" sz="1200" spc="40">
                <a:latin typeface="Arial"/>
                <a:cs typeface="Arial"/>
              </a:rPr>
              <a:t> </a:t>
            </a:r>
            <a:r>
              <a:rPr dirty="0" sz="1200" spc="10">
                <a:latin typeface="Arial"/>
                <a:cs typeface="Arial"/>
              </a:rPr>
              <a:t>each</a:t>
            </a:r>
            <a:r>
              <a:rPr dirty="0" sz="1200" spc="30">
                <a:latin typeface="Arial"/>
                <a:cs typeface="Arial"/>
              </a:rPr>
              <a:t> </a:t>
            </a:r>
            <a:r>
              <a:rPr dirty="0" sz="1200" spc="-5">
                <a:latin typeface="Arial"/>
                <a:cs typeface="Arial"/>
              </a:rPr>
              <a:t>of</a:t>
            </a:r>
            <a:endParaRPr sz="120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265" cy="9051925"/>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7620">
              <a:lnSpc>
                <a:spcPts val="1380"/>
              </a:lnSpc>
            </a:pPr>
            <a:r>
              <a:rPr dirty="0" sz="1200" spc="-5">
                <a:latin typeface="Arial"/>
                <a:cs typeface="Arial"/>
              </a:rPr>
              <a:t>his people </a:t>
            </a:r>
            <a:r>
              <a:rPr dirty="0" sz="1200" spc="-10">
                <a:latin typeface="Arial"/>
                <a:cs typeface="Arial"/>
              </a:rPr>
              <a:t>was </a:t>
            </a:r>
            <a:r>
              <a:rPr dirty="0" sz="1200" spc="-5">
                <a:latin typeface="Arial"/>
                <a:cs typeface="Arial"/>
              </a:rPr>
              <a:t>authorised </a:t>
            </a:r>
            <a:r>
              <a:rPr dirty="0" sz="1200">
                <a:latin typeface="Arial"/>
                <a:cs typeface="Arial"/>
              </a:rPr>
              <a:t>to </a:t>
            </a:r>
            <a:r>
              <a:rPr dirty="0" sz="1200" spc="-5">
                <a:latin typeface="Arial"/>
                <a:cs typeface="Arial"/>
              </a:rPr>
              <a:t>have their say in </a:t>
            </a:r>
            <a:r>
              <a:rPr dirty="0" sz="1200">
                <a:latin typeface="Arial"/>
                <a:cs typeface="Arial"/>
              </a:rPr>
              <a:t>the </a:t>
            </a:r>
            <a:r>
              <a:rPr dirty="0" sz="1200" spc="-5">
                <a:latin typeface="Arial"/>
                <a:cs typeface="Arial"/>
              </a:rPr>
              <a:t>society. </a:t>
            </a:r>
            <a:r>
              <a:rPr dirty="0" sz="1200">
                <a:latin typeface="Arial"/>
                <a:cs typeface="Arial"/>
              </a:rPr>
              <a:t>They </a:t>
            </a:r>
            <a:r>
              <a:rPr dirty="0" sz="1200" spc="-5">
                <a:latin typeface="Arial"/>
                <a:cs typeface="Arial"/>
              </a:rPr>
              <a:t>had the liberty </a:t>
            </a:r>
            <a:r>
              <a:rPr dirty="0" sz="1200">
                <a:latin typeface="Arial"/>
                <a:cs typeface="Arial"/>
              </a:rPr>
              <a:t>to </a:t>
            </a:r>
            <a:r>
              <a:rPr dirty="0" sz="1200" spc="-5">
                <a:latin typeface="Arial"/>
                <a:cs typeface="Arial"/>
              </a:rPr>
              <a:t>choose  </a:t>
            </a:r>
            <a:r>
              <a:rPr dirty="0" sz="1200">
                <a:latin typeface="Arial"/>
                <a:cs typeface="Arial"/>
              </a:rPr>
              <a:t>their </a:t>
            </a:r>
            <a:r>
              <a:rPr dirty="0" sz="1200" spc="-10">
                <a:latin typeface="Arial"/>
                <a:cs typeface="Arial"/>
              </a:rPr>
              <a:t>own </a:t>
            </a:r>
            <a:r>
              <a:rPr dirty="0" sz="1200">
                <a:latin typeface="Arial"/>
                <a:cs typeface="Arial"/>
              </a:rPr>
              <a:t>leader. </a:t>
            </a:r>
            <a:r>
              <a:rPr dirty="0" sz="1200" spc="-5">
                <a:latin typeface="Arial"/>
                <a:cs typeface="Arial"/>
              </a:rPr>
              <a:t>He created and reinforced the Majlis Shura </a:t>
            </a:r>
            <a:r>
              <a:rPr dirty="0" sz="1200" spc="5">
                <a:latin typeface="Arial"/>
                <a:cs typeface="Arial"/>
              </a:rPr>
              <a:t>for </a:t>
            </a:r>
            <a:r>
              <a:rPr dirty="0" sz="1200" spc="-5">
                <a:latin typeface="Arial"/>
                <a:cs typeface="Arial"/>
              </a:rPr>
              <a:t>a better consultation with his  companions.</a:t>
            </a:r>
            <a:r>
              <a:rPr dirty="0" sz="1200" spc="30">
                <a:latin typeface="Arial"/>
                <a:cs typeface="Arial"/>
              </a:rPr>
              <a:t> </a:t>
            </a:r>
            <a:r>
              <a:rPr dirty="0" sz="1200">
                <a:latin typeface="Arial"/>
                <a:cs typeface="Arial"/>
              </a:rPr>
              <a:t>In</a:t>
            </a:r>
            <a:r>
              <a:rPr dirty="0" sz="1200" spc="40">
                <a:latin typeface="Arial"/>
                <a:cs typeface="Arial"/>
              </a:rPr>
              <a:t> </a:t>
            </a:r>
            <a:r>
              <a:rPr dirty="0" sz="1200" spc="-5">
                <a:latin typeface="Arial"/>
                <a:cs typeface="Arial"/>
              </a:rPr>
              <a:t>order</a:t>
            </a:r>
            <a:r>
              <a:rPr dirty="0" sz="1200" spc="25">
                <a:latin typeface="Arial"/>
                <a:cs typeface="Arial"/>
              </a:rPr>
              <a:t> </a:t>
            </a:r>
            <a:r>
              <a:rPr dirty="0" sz="1200">
                <a:latin typeface="Arial"/>
                <a:cs typeface="Arial"/>
              </a:rPr>
              <a:t>to</a:t>
            </a:r>
            <a:r>
              <a:rPr dirty="0" sz="1200" spc="40">
                <a:latin typeface="Arial"/>
                <a:cs typeface="Arial"/>
              </a:rPr>
              <a:t> </a:t>
            </a:r>
            <a:r>
              <a:rPr dirty="0" sz="1200" spc="-5">
                <a:latin typeface="Arial"/>
                <a:cs typeface="Arial"/>
              </a:rPr>
              <a:t>have</a:t>
            </a:r>
            <a:r>
              <a:rPr dirty="0" sz="1200" spc="35">
                <a:latin typeface="Arial"/>
                <a:cs typeface="Arial"/>
              </a:rPr>
              <a:t> </a:t>
            </a:r>
            <a:r>
              <a:rPr dirty="0" sz="1200" spc="-5">
                <a:latin typeface="Arial"/>
                <a:cs typeface="Arial"/>
              </a:rPr>
              <a:t>a</a:t>
            </a:r>
            <a:r>
              <a:rPr dirty="0" sz="1200" spc="30">
                <a:latin typeface="Arial"/>
                <a:cs typeface="Arial"/>
              </a:rPr>
              <a:t> </a:t>
            </a:r>
            <a:r>
              <a:rPr dirty="0" sz="1200" spc="-5">
                <a:latin typeface="Arial"/>
                <a:cs typeface="Arial"/>
              </a:rPr>
              <a:t>better</a:t>
            </a:r>
            <a:r>
              <a:rPr dirty="0" sz="1200" spc="30">
                <a:latin typeface="Arial"/>
                <a:cs typeface="Arial"/>
              </a:rPr>
              <a:t> </a:t>
            </a:r>
            <a:r>
              <a:rPr dirty="0" sz="1200" spc="-5">
                <a:latin typeface="Arial"/>
                <a:cs typeface="Arial"/>
              </a:rPr>
              <a:t>control</a:t>
            </a:r>
            <a:r>
              <a:rPr dirty="0" sz="1200" spc="20">
                <a:latin typeface="Arial"/>
                <a:cs typeface="Arial"/>
              </a:rPr>
              <a:t> </a:t>
            </a:r>
            <a:r>
              <a:rPr dirty="0" sz="1200" spc="-5">
                <a:latin typeface="Arial"/>
                <a:cs typeface="Arial"/>
              </a:rPr>
              <a:t>over</a:t>
            </a:r>
            <a:r>
              <a:rPr dirty="0" sz="1200" spc="25">
                <a:latin typeface="Arial"/>
                <a:cs typeface="Arial"/>
              </a:rPr>
              <a:t> </a:t>
            </a:r>
            <a:r>
              <a:rPr dirty="0" sz="1200" spc="-5">
                <a:latin typeface="Arial"/>
                <a:cs typeface="Arial"/>
              </a:rPr>
              <a:t>his</a:t>
            </a:r>
            <a:r>
              <a:rPr dirty="0" sz="1200" spc="30">
                <a:latin typeface="Arial"/>
                <a:cs typeface="Arial"/>
              </a:rPr>
              <a:t> </a:t>
            </a:r>
            <a:r>
              <a:rPr dirty="0" sz="1200">
                <a:latin typeface="Arial"/>
                <a:cs typeface="Arial"/>
              </a:rPr>
              <a:t>state,</a:t>
            </a:r>
            <a:r>
              <a:rPr dirty="0" sz="1200" spc="30">
                <a:latin typeface="Arial"/>
                <a:cs typeface="Arial"/>
              </a:rPr>
              <a:t> </a:t>
            </a:r>
            <a:r>
              <a:rPr dirty="0" sz="1200" spc="-5">
                <a:latin typeface="Arial"/>
                <a:cs typeface="Arial"/>
              </a:rPr>
              <a:t>he</a:t>
            </a:r>
            <a:r>
              <a:rPr dirty="0" sz="1200" spc="90">
                <a:latin typeface="Arial"/>
                <a:cs typeface="Arial"/>
              </a:rPr>
              <a:t> </a:t>
            </a:r>
            <a:r>
              <a:rPr dirty="0" sz="1200" spc="-5">
                <a:latin typeface="Arial"/>
                <a:cs typeface="Arial"/>
              </a:rPr>
              <a:t>divided</a:t>
            </a:r>
            <a:r>
              <a:rPr dirty="0" sz="1200" spc="35">
                <a:latin typeface="Arial"/>
                <a:cs typeface="Arial"/>
              </a:rPr>
              <a:t> </a:t>
            </a:r>
            <a:r>
              <a:rPr dirty="0" sz="1200" spc="-5">
                <a:latin typeface="Arial"/>
                <a:cs typeface="Arial"/>
              </a:rPr>
              <a:t>Arabia</a:t>
            </a:r>
            <a:r>
              <a:rPr dirty="0" sz="1200" spc="35">
                <a:latin typeface="Arial"/>
                <a:cs typeface="Arial"/>
              </a:rPr>
              <a:t> </a:t>
            </a:r>
            <a:r>
              <a:rPr dirty="0" sz="1200" spc="-5">
                <a:latin typeface="Arial"/>
                <a:cs typeface="Arial"/>
              </a:rPr>
              <a:t>into</a:t>
            </a:r>
            <a:r>
              <a:rPr dirty="0" sz="1200" spc="30">
                <a:latin typeface="Arial"/>
                <a:cs typeface="Arial"/>
              </a:rPr>
              <a:t> </a:t>
            </a:r>
            <a:r>
              <a:rPr dirty="0" sz="1200" spc="-5">
                <a:latin typeface="Arial"/>
                <a:cs typeface="Arial"/>
              </a:rPr>
              <a:t>provinces</a:t>
            </a:r>
            <a:endParaRPr sz="1200">
              <a:latin typeface="Arial"/>
              <a:cs typeface="Arial"/>
            </a:endParaRPr>
          </a:p>
          <a:p>
            <a:pPr algn="just" marL="12700" marR="5080">
              <a:lnSpc>
                <a:spcPts val="1380"/>
              </a:lnSpc>
              <a:spcBef>
                <a:spcPts val="5"/>
              </a:spcBef>
            </a:pPr>
            <a:r>
              <a:rPr dirty="0" sz="1200">
                <a:latin typeface="Arial"/>
                <a:cs typeface="Arial"/>
              </a:rPr>
              <a:t>– </a:t>
            </a:r>
            <a:r>
              <a:rPr dirty="0" sz="1200" spc="-5">
                <a:latin typeface="Arial"/>
                <a:cs typeface="Arial"/>
              </a:rPr>
              <a:t>each one with officers </a:t>
            </a:r>
            <a:r>
              <a:rPr dirty="0" sz="1200">
                <a:latin typeface="Arial"/>
                <a:cs typeface="Arial"/>
              </a:rPr>
              <a:t>to </a:t>
            </a:r>
            <a:r>
              <a:rPr dirty="0" sz="1200" spc="-5">
                <a:latin typeface="Arial"/>
                <a:cs typeface="Arial"/>
              </a:rPr>
              <a:t>work. He established Military cantonments and a reserve </a:t>
            </a:r>
            <a:r>
              <a:rPr dirty="0" sz="1200">
                <a:latin typeface="Arial"/>
                <a:cs typeface="Arial"/>
              </a:rPr>
              <a:t>force for  </a:t>
            </a:r>
            <a:r>
              <a:rPr dirty="0" sz="1200" spc="-5">
                <a:latin typeface="Arial"/>
                <a:cs typeface="Arial"/>
              </a:rPr>
              <a:t>his army and </a:t>
            </a:r>
            <a:r>
              <a:rPr dirty="0" sz="1200">
                <a:latin typeface="Arial"/>
                <a:cs typeface="Arial"/>
              </a:rPr>
              <a:t>for </a:t>
            </a:r>
            <a:r>
              <a:rPr dirty="0" sz="1200" spc="-5">
                <a:latin typeface="Arial"/>
                <a:cs typeface="Arial"/>
              </a:rPr>
              <a:t>better security. He embarked on various Expeditions </a:t>
            </a:r>
            <a:r>
              <a:rPr dirty="0" sz="1200">
                <a:latin typeface="Arial"/>
                <a:cs typeface="Arial"/>
              </a:rPr>
              <a:t>to </a:t>
            </a:r>
            <a:r>
              <a:rPr dirty="0" sz="1200" spc="-5">
                <a:latin typeface="Arial"/>
                <a:cs typeface="Arial"/>
              </a:rPr>
              <a:t>Iraq, Palestine and  </a:t>
            </a:r>
            <a:r>
              <a:rPr dirty="0" sz="1200" spc="-10">
                <a:latin typeface="Arial"/>
                <a:cs typeface="Arial"/>
              </a:rPr>
              <a:t>Syria </a:t>
            </a:r>
            <a:r>
              <a:rPr dirty="0" sz="1200" spc="-5">
                <a:latin typeface="Arial"/>
                <a:cs typeface="Arial"/>
              </a:rPr>
              <a:t>in order </a:t>
            </a:r>
            <a:r>
              <a:rPr dirty="0" sz="1200">
                <a:latin typeface="Arial"/>
                <a:cs typeface="Arial"/>
              </a:rPr>
              <a:t>to </a:t>
            </a:r>
            <a:r>
              <a:rPr dirty="0" sz="1200" spc="-5">
                <a:latin typeface="Arial"/>
                <a:cs typeface="Arial"/>
              </a:rPr>
              <a:t>reinforce and spread Islam. He observed the Rights </a:t>
            </a:r>
            <a:r>
              <a:rPr dirty="0" sz="1200">
                <a:latin typeface="Arial"/>
                <a:cs typeface="Arial"/>
              </a:rPr>
              <a:t>of </a:t>
            </a:r>
            <a:r>
              <a:rPr dirty="0" sz="1200" spc="-5">
                <a:latin typeface="Arial"/>
                <a:cs typeface="Arial"/>
              </a:rPr>
              <a:t>both Muslims and  non-Muslims ensuring freedom and security </a:t>
            </a:r>
            <a:r>
              <a:rPr dirty="0" sz="1200">
                <a:latin typeface="Arial"/>
                <a:cs typeface="Arial"/>
              </a:rPr>
              <a:t>for </a:t>
            </a:r>
            <a:r>
              <a:rPr dirty="0" sz="1200" spc="-5">
                <a:latin typeface="Arial"/>
                <a:cs typeface="Arial"/>
              </a:rPr>
              <a:t>all his people. He </a:t>
            </a:r>
            <a:r>
              <a:rPr dirty="0" sz="1200" spc="-10">
                <a:latin typeface="Arial"/>
                <a:cs typeface="Arial"/>
              </a:rPr>
              <a:t>was </a:t>
            </a:r>
            <a:r>
              <a:rPr dirty="0" sz="1200">
                <a:latin typeface="Arial"/>
                <a:cs typeface="Arial"/>
              </a:rPr>
              <a:t>the first </a:t>
            </a:r>
            <a:r>
              <a:rPr dirty="0" sz="1200" spc="-5">
                <a:latin typeface="Arial"/>
                <a:cs typeface="Arial"/>
              </a:rPr>
              <a:t>one </a:t>
            </a:r>
            <a:r>
              <a:rPr dirty="0" sz="1200">
                <a:latin typeface="Arial"/>
                <a:cs typeface="Arial"/>
              </a:rPr>
              <a:t>to  </a:t>
            </a:r>
            <a:r>
              <a:rPr dirty="0" sz="1200" spc="-5">
                <a:latin typeface="Arial"/>
                <a:cs typeface="Arial"/>
              </a:rPr>
              <a:t>undertake the work </a:t>
            </a:r>
            <a:r>
              <a:rPr dirty="0" sz="1200">
                <a:latin typeface="Arial"/>
                <a:cs typeface="Arial"/>
              </a:rPr>
              <a:t>of </a:t>
            </a:r>
            <a:r>
              <a:rPr dirty="0" sz="1200" spc="-5">
                <a:latin typeface="Arial"/>
                <a:cs typeface="Arial"/>
              </a:rPr>
              <a:t>Preservation of the Qur‘an (zaid bin </a:t>
            </a:r>
            <a:r>
              <a:rPr dirty="0" sz="1200">
                <a:latin typeface="Arial"/>
                <a:cs typeface="Arial"/>
              </a:rPr>
              <a:t>Thabit </a:t>
            </a:r>
            <a:r>
              <a:rPr dirty="0" sz="1200" spc="-5">
                <a:latin typeface="Arial"/>
                <a:cs typeface="Arial"/>
              </a:rPr>
              <a:t>to collect Qur‘anic verses)  </a:t>
            </a:r>
            <a:r>
              <a:rPr dirty="0" sz="1200">
                <a:latin typeface="Arial"/>
                <a:cs typeface="Arial"/>
              </a:rPr>
              <a:t>for </a:t>
            </a:r>
            <a:r>
              <a:rPr dirty="0" sz="1200" spc="-5">
                <a:latin typeface="Arial"/>
                <a:cs typeface="Arial"/>
              </a:rPr>
              <a:t>his Ummah. He emphasized much </a:t>
            </a:r>
            <a:r>
              <a:rPr dirty="0" sz="1200" spc="-10">
                <a:latin typeface="Arial"/>
                <a:cs typeface="Arial"/>
              </a:rPr>
              <a:t>on </a:t>
            </a:r>
            <a:r>
              <a:rPr dirty="0" sz="1200" spc="-5">
                <a:latin typeface="Arial"/>
                <a:cs typeface="Arial"/>
              </a:rPr>
              <a:t>the idea and concept of morality and self-respect  among his people. He conquered and reinforced different countries like Bahrain, Oman,  Mahrah, Yemen, Hadramuth, eastern and western Iraq, Hira, </a:t>
            </a:r>
            <a:r>
              <a:rPr dirty="0" sz="1200">
                <a:latin typeface="Arial"/>
                <a:cs typeface="Arial"/>
              </a:rPr>
              <a:t>Damascus, </a:t>
            </a:r>
            <a:r>
              <a:rPr dirty="0" sz="1200" spc="-5">
                <a:latin typeface="Arial"/>
                <a:cs typeface="Arial"/>
              </a:rPr>
              <a:t>Syria, Basrah and  Ajnadein.</a:t>
            </a:r>
            <a:endParaRPr sz="1200">
              <a:latin typeface="Arial"/>
              <a:cs typeface="Arial"/>
            </a:endParaRPr>
          </a:p>
          <a:p>
            <a:pPr>
              <a:lnSpc>
                <a:spcPct val="100000"/>
              </a:lnSpc>
              <a:spcBef>
                <a:spcPts val="15"/>
              </a:spcBef>
            </a:pPr>
            <a:endParaRPr sz="1100">
              <a:latin typeface="Arial"/>
              <a:cs typeface="Arial"/>
            </a:endParaRPr>
          </a:p>
          <a:p>
            <a:pPr algn="just" marL="12700">
              <a:lnSpc>
                <a:spcPct val="100000"/>
              </a:lnSpc>
              <a:spcBef>
                <a:spcPts val="5"/>
              </a:spcBef>
            </a:pPr>
            <a:r>
              <a:rPr dirty="0" u="heavy" sz="1200" spc="-5" b="1" i="1">
                <a:uFill>
                  <a:solidFill>
                    <a:srgbClr val="000000"/>
                  </a:solidFill>
                </a:uFill>
                <a:latin typeface="Arial"/>
                <a:cs typeface="Arial"/>
              </a:rPr>
              <a:t>Problems </a:t>
            </a:r>
            <a:r>
              <a:rPr dirty="0" u="heavy" sz="1200" spc="-10" b="1" i="1">
                <a:uFill>
                  <a:solidFill>
                    <a:srgbClr val="000000"/>
                  </a:solidFill>
                </a:uFill>
                <a:latin typeface="Arial"/>
                <a:cs typeface="Arial"/>
              </a:rPr>
              <a:t>he</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faced</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spc="-5">
                <a:latin typeface="Arial"/>
                <a:cs typeface="Arial"/>
              </a:rPr>
              <a:t>Before the death of the prophet (s.a.w), </a:t>
            </a:r>
            <a:r>
              <a:rPr dirty="0" sz="1200">
                <a:latin typeface="Arial"/>
                <a:cs typeface="Arial"/>
              </a:rPr>
              <a:t>the latter </a:t>
            </a:r>
            <a:r>
              <a:rPr dirty="0" sz="1200" spc="-5">
                <a:latin typeface="Arial"/>
                <a:cs typeface="Arial"/>
              </a:rPr>
              <a:t>had assigned </a:t>
            </a:r>
            <a:r>
              <a:rPr dirty="0" sz="1200">
                <a:latin typeface="Arial"/>
                <a:cs typeface="Arial"/>
              </a:rPr>
              <a:t>Usamah </a:t>
            </a:r>
            <a:r>
              <a:rPr dirty="0" sz="1200" spc="-5">
                <a:latin typeface="Arial"/>
                <a:cs typeface="Arial"/>
              </a:rPr>
              <a:t>bin Zaid </a:t>
            </a:r>
            <a:r>
              <a:rPr dirty="0" sz="1200">
                <a:latin typeface="Arial"/>
                <a:cs typeface="Arial"/>
              </a:rPr>
              <a:t>for </a:t>
            </a:r>
            <a:r>
              <a:rPr dirty="0" sz="1200" spc="-5">
                <a:latin typeface="Arial"/>
                <a:cs typeface="Arial"/>
              </a:rPr>
              <a:t>an  expedition </a:t>
            </a:r>
            <a:r>
              <a:rPr dirty="0" sz="1200">
                <a:latin typeface="Arial"/>
                <a:cs typeface="Arial"/>
              </a:rPr>
              <a:t>to </a:t>
            </a:r>
            <a:r>
              <a:rPr dirty="0" sz="1200" spc="-5">
                <a:latin typeface="Arial"/>
                <a:cs typeface="Arial"/>
              </a:rPr>
              <a:t>Syria. </a:t>
            </a:r>
            <a:r>
              <a:rPr dirty="0" sz="1200">
                <a:latin typeface="Arial"/>
                <a:cs typeface="Arial"/>
              </a:rPr>
              <a:t>The </a:t>
            </a:r>
            <a:r>
              <a:rPr dirty="0" sz="1200" spc="-5">
                <a:latin typeface="Arial"/>
                <a:cs typeface="Arial"/>
              </a:rPr>
              <a:t>army had not the time </a:t>
            </a:r>
            <a:r>
              <a:rPr dirty="0" sz="1200">
                <a:latin typeface="Arial"/>
                <a:cs typeface="Arial"/>
              </a:rPr>
              <a:t>to </a:t>
            </a:r>
            <a:r>
              <a:rPr dirty="0" sz="1200" spc="-10">
                <a:latin typeface="Arial"/>
                <a:cs typeface="Arial"/>
              </a:rPr>
              <a:t>leave </a:t>
            </a:r>
            <a:r>
              <a:rPr dirty="0" sz="1200" spc="-5">
                <a:latin typeface="Arial"/>
                <a:cs typeface="Arial"/>
              </a:rPr>
              <a:t>Madina when </a:t>
            </a:r>
            <a:r>
              <a:rPr dirty="0" sz="1200">
                <a:latin typeface="Arial"/>
                <a:cs typeface="Arial"/>
              </a:rPr>
              <a:t>the </a:t>
            </a:r>
            <a:r>
              <a:rPr dirty="0" sz="1200" spc="-5">
                <a:latin typeface="Arial"/>
                <a:cs typeface="Arial"/>
              </a:rPr>
              <a:t>prophet </a:t>
            </a:r>
            <a:r>
              <a:rPr dirty="0" sz="1200" spc="-10">
                <a:latin typeface="Arial"/>
                <a:cs typeface="Arial"/>
              </a:rPr>
              <a:t>(s.a.w)  </a:t>
            </a:r>
            <a:r>
              <a:rPr dirty="0" sz="1200" spc="-5">
                <a:latin typeface="Arial"/>
                <a:cs typeface="Arial"/>
              </a:rPr>
              <a:t>passed </a:t>
            </a:r>
            <a:r>
              <a:rPr dirty="0" sz="1200" spc="-10">
                <a:latin typeface="Arial"/>
                <a:cs typeface="Arial"/>
              </a:rPr>
              <a:t>away. </a:t>
            </a:r>
            <a:r>
              <a:rPr dirty="0" sz="1200" spc="-5">
                <a:latin typeface="Arial"/>
                <a:cs typeface="Arial"/>
              </a:rPr>
              <a:t>Now, </a:t>
            </a:r>
            <a:r>
              <a:rPr dirty="0" sz="1200">
                <a:latin typeface="Arial"/>
                <a:cs typeface="Arial"/>
              </a:rPr>
              <a:t>many </a:t>
            </a:r>
            <a:r>
              <a:rPr dirty="0" sz="1200" spc="-5">
                <a:latin typeface="Arial"/>
                <a:cs typeface="Arial"/>
              </a:rPr>
              <a:t>people thought </a:t>
            </a:r>
            <a:r>
              <a:rPr dirty="0" sz="1200">
                <a:latin typeface="Arial"/>
                <a:cs typeface="Arial"/>
              </a:rPr>
              <a:t>that it </a:t>
            </a:r>
            <a:r>
              <a:rPr dirty="0" sz="1200" spc="-5">
                <a:latin typeface="Arial"/>
                <a:cs typeface="Arial"/>
              </a:rPr>
              <a:t>would be better not to send any army  outside Madina </a:t>
            </a:r>
            <a:r>
              <a:rPr dirty="0" sz="1200">
                <a:latin typeface="Arial"/>
                <a:cs typeface="Arial"/>
              </a:rPr>
              <a:t>for its </a:t>
            </a:r>
            <a:r>
              <a:rPr dirty="0" sz="1200" spc="-5">
                <a:latin typeface="Arial"/>
                <a:cs typeface="Arial"/>
              </a:rPr>
              <a:t>security. Some proposed to assign a more experienced commander  </a:t>
            </a:r>
            <a:r>
              <a:rPr dirty="0" sz="1200">
                <a:latin typeface="Arial"/>
                <a:cs typeface="Arial"/>
              </a:rPr>
              <a:t>for the </a:t>
            </a:r>
            <a:r>
              <a:rPr dirty="0" sz="1200" spc="-5">
                <a:latin typeface="Arial"/>
                <a:cs typeface="Arial"/>
              </a:rPr>
              <a:t>expedition due </a:t>
            </a:r>
            <a:r>
              <a:rPr dirty="0" sz="1200">
                <a:latin typeface="Arial"/>
                <a:cs typeface="Arial"/>
              </a:rPr>
              <a:t>to </a:t>
            </a:r>
            <a:r>
              <a:rPr dirty="0" sz="1200" spc="-5">
                <a:latin typeface="Arial"/>
                <a:cs typeface="Arial"/>
              </a:rPr>
              <a:t>his </a:t>
            </a:r>
            <a:r>
              <a:rPr dirty="0" sz="1200" spc="-10">
                <a:latin typeface="Arial"/>
                <a:cs typeface="Arial"/>
              </a:rPr>
              <a:t>young </a:t>
            </a:r>
            <a:r>
              <a:rPr dirty="0" sz="1200" spc="-5">
                <a:latin typeface="Arial"/>
                <a:cs typeface="Arial"/>
              </a:rPr>
              <a:t>age and being the son of a </a:t>
            </a:r>
            <a:r>
              <a:rPr dirty="0" sz="1200" spc="-10">
                <a:latin typeface="Arial"/>
                <a:cs typeface="Arial"/>
              </a:rPr>
              <a:t>slave. </a:t>
            </a:r>
            <a:r>
              <a:rPr dirty="0" sz="1200" spc="-5">
                <a:latin typeface="Arial"/>
                <a:cs typeface="Arial"/>
              </a:rPr>
              <a:t>However, Abu Bakr  adhered by </a:t>
            </a:r>
            <a:r>
              <a:rPr dirty="0" sz="1200">
                <a:latin typeface="Arial"/>
                <a:cs typeface="Arial"/>
              </a:rPr>
              <a:t>the </a:t>
            </a:r>
            <a:r>
              <a:rPr dirty="0" sz="1200" spc="-5">
                <a:latin typeface="Arial"/>
                <a:cs typeface="Arial"/>
              </a:rPr>
              <a:t>decision of the prophet (s.a.w). </a:t>
            </a:r>
            <a:r>
              <a:rPr dirty="0" sz="1200">
                <a:latin typeface="Arial"/>
                <a:cs typeface="Arial"/>
              </a:rPr>
              <a:t>Later </a:t>
            </a:r>
            <a:r>
              <a:rPr dirty="0" sz="1200" spc="-5">
                <a:latin typeface="Arial"/>
                <a:cs typeface="Arial"/>
              </a:rPr>
              <a:t>after several months, Usamah returned  victoriously.</a:t>
            </a:r>
            <a:endParaRPr sz="1200">
              <a:latin typeface="Arial"/>
              <a:cs typeface="Arial"/>
            </a:endParaRPr>
          </a:p>
          <a:p>
            <a:pPr>
              <a:lnSpc>
                <a:spcPct val="100000"/>
              </a:lnSpc>
              <a:spcBef>
                <a:spcPts val="25"/>
              </a:spcBef>
            </a:pPr>
            <a:endParaRPr sz="1150">
              <a:latin typeface="Arial"/>
              <a:cs typeface="Arial"/>
            </a:endParaRPr>
          </a:p>
          <a:p>
            <a:pPr algn="just" marL="12700" marR="5715">
              <a:lnSpc>
                <a:spcPct val="95800"/>
              </a:lnSpc>
            </a:pPr>
            <a:r>
              <a:rPr dirty="0" sz="1200">
                <a:latin typeface="Arial"/>
                <a:cs typeface="Arial"/>
              </a:rPr>
              <a:t>After </a:t>
            </a:r>
            <a:r>
              <a:rPr dirty="0" sz="1200" spc="-5">
                <a:latin typeface="Arial"/>
                <a:cs typeface="Arial"/>
              </a:rPr>
              <a:t>the death of the prophet (s.a.w) many persons rose and pretended to </a:t>
            </a:r>
            <a:r>
              <a:rPr dirty="0" sz="1200" spc="-10">
                <a:latin typeface="Arial"/>
                <a:cs typeface="Arial"/>
              </a:rPr>
              <a:t>be </a:t>
            </a:r>
            <a:r>
              <a:rPr dirty="0" sz="1200" spc="-5">
                <a:latin typeface="Arial"/>
                <a:cs typeface="Arial"/>
              </a:rPr>
              <a:t>prophets.  Among them there </a:t>
            </a:r>
            <a:r>
              <a:rPr dirty="0" sz="1200" spc="-10">
                <a:latin typeface="Arial"/>
                <a:cs typeface="Arial"/>
              </a:rPr>
              <a:t>was </a:t>
            </a:r>
            <a:r>
              <a:rPr dirty="0" sz="1200" spc="-5">
                <a:latin typeface="Arial"/>
                <a:cs typeface="Arial"/>
              </a:rPr>
              <a:t>Aswad Ansi from the tribe of Ansi in Yemen. He </a:t>
            </a:r>
            <a:r>
              <a:rPr dirty="0" sz="1200" spc="-10">
                <a:latin typeface="Arial"/>
                <a:cs typeface="Arial"/>
              </a:rPr>
              <a:t>was </a:t>
            </a:r>
            <a:r>
              <a:rPr dirty="0" sz="1200" spc="-5">
                <a:latin typeface="Arial"/>
                <a:cs typeface="Arial"/>
              </a:rPr>
              <a:t>known as the  Veiled Prophet </a:t>
            </a:r>
            <a:r>
              <a:rPr dirty="0" sz="1200">
                <a:latin typeface="Arial"/>
                <a:cs typeface="Arial"/>
              </a:rPr>
              <a:t>for </a:t>
            </a:r>
            <a:r>
              <a:rPr dirty="0" sz="1200" spc="-5">
                <a:latin typeface="Arial"/>
                <a:cs typeface="Arial"/>
              </a:rPr>
              <a:t>his ugliness. Another one </a:t>
            </a:r>
            <a:r>
              <a:rPr dirty="0" sz="1200" spc="-10">
                <a:latin typeface="Arial"/>
                <a:cs typeface="Arial"/>
              </a:rPr>
              <a:t>was </a:t>
            </a:r>
            <a:r>
              <a:rPr dirty="0" sz="1200">
                <a:latin typeface="Arial"/>
                <a:cs typeface="Arial"/>
              </a:rPr>
              <a:t>Tulaiha </a:t>
            </a:r>
            <a:r>
              <a:rPr dirty="0" sz="1200" spc="-5">
                <a:latin typeface="Arial"/>
                <a:cs typeface="Arial"/>
              </a:rPr>
              <a:t>from north Arabia </a:t>
            </a:r>
            <a:r>
              <a:rPr dirty="0" sz="1200" spc="-10">
                <a:latin typeface="Arial"/>
                <a:cs typeface="Arial"/>
              </a:rPr>
              <a:t>who </a:t>
            </a:r>
            <a:r>
              <a:rPr dirty="0" sz="1200" spc="-5">
                <a:latin typeface="Arial"/>
                <a:cs typeface="Arial"/>
              </a:rPr>
              <a:t>claimed  prophethood during the </a:t>
            </a:r>
            <a:r>
              <a:rPr dirty="0" sz="1200">
                <a:latin typeface="Arial"/>
                <a:cs typeface="Arial"/>
              </a:rPr>
              <a:t>time </a:t>
            </a:r>
            <a:r>
              <a:rPr dirty="0" sz="1200" spc="-5">
                <a:latin typeface="Arial"/>
                <a:cs typeface="Arial"/>
              </a:rPr>
              <a:t>of </a:t>
            </a:r>
            <a:r>
              <a:rPr dirty="0" sz="1200">
                <a:latin typeface="Arial"/>
                <a:cs typeface="Arial"/>
              </a:rPr>
              <a:t>the </a:t>
            </a:r>
            <a:r>
              <a:rPr dirty="0" sz="1200" spc="-5">
                <a:latin typeface="Arial"/>
                <a:cs typeface="Arial"/>
              </a:rPr>
              <a:t>prophet (s.a.w). He </a:t>
            </a:r>
            <a:r>
              <a:rPr dirty="0" sz="1200" spc="-10">
                <a:latin typeface="Arial"/>
                <a:cs typeface="Arial"/>
              </a:rPr>
              <a:t>was </a:t>
            </a:r>
            <a:r>
              <a:rPr dirty="0" sz="1200" spc="-5">
                <a:latin typeface="Arial"/>
                <a:cs typeface="Arial"/>
              </a:rPr>
              <a:t>known as </a:t>
            </a:r>
            <a:r>
              <a:rPr dirty="0" sz="1200">
                <a:latin typeface="Arial"/>
                <a:cs typeface="Arial"/>
              </a:rPr>
              <a:t>the </a:t>
            </a:r>
            <a:r>
              <a:rPr dirty="0" sz="1200" spc="-5">
                <a:latin typeface="Arial"/>
                <a:cs typeface="Arial"/>
              </a:rPr>
              <a:t>Liar. </a:t>
            </a:r>
            <a:r>
              <a:rPr dirty="0" sz="1200">
                <a:latin typeface="Arial"/>
                <a:cs typeface="Arial"/>
              </a:rPr>
              <a:t>When </a:t>
            </a:r>
            <a:r>
              <a:rPr dirty="0" sz="1200" spc="-5">
                <a:latin typeface="Arial"/>
                <a:cs typeface="Arial"/>
              </a:rPr>
              <a:t>Khalid  bin </a:t>
            </a:r>
            <a:r>
              <a:rPr dirty="0" sz="1200">
                <a:latin typeface="Arial"/>
                <a:cs typeface="Arial"/>
              </a:rPr>
              <a:t>Walid </a:t>
            </a:r>
            <a:r>
              <a:rPr dirty="0" sz="1200" spc="-5">
                <a:latin typeface="Arial"/>
                <a:cs typeface="Arial"/>
              </a:rPr>
              <a:t>attacked him at Buzaka, </a:t>
            </a:r>
            <a:r>
              <a:rPr dirty="0" sz="1200" spc="-10">
                <a:latin typeface="Arial"/>
                <a:cs typeface="Arial"/>
              </a:rPr>
              <a:t>he </a:t>
            </a:r>
            <a:r>
              <a:rPr dirty="0" sz="1200" spc="-5">
                <a:latin typeface="Arial"/>
                <a:cs typeface="Arial"/>
              </a:rPr>
              <a:t>fled </a:t>
            </a:r>
            <a:r>
              <a:rPr dirty="0" sz="1200">
                <a:latin typeface="Arial"/>
                <a:cs typeface="Arial"/>
              </a:rPr>
              <a:t>to </a:t>
            </a:r>
            <a:r>
              <a:rPr dirty="0" sz="1200" spc="-5">
                <a:latin typeface="Arial"/>
                <a:cs typeface="Arial"/>
              </a:rPr>
              <a:t>Syria. </a:t>
            </a:r>
            <a:r>
              <a:rPr dirty="0" sz="1200">
                <a:latin typeface="Arial"/>
                <a:cs typeface="Arial"/>
              </a:rPr>
              <a:t>When </a:t>
            </a:r>
            <a:r>
              <a:rPr dirty="0" sz="1200" spc="-10">
                <a:latin typeface="Arial"/>
                <a:cs typeface="Arial"/>
              </a:rPr>
              <a:t>Syria was </a:t>
            </a:r>
            <a:r>
              <a:rPr dirty="0" sz="1200" spc="-5">
                <a:latin typeface="Arial"/>
                <a:cs typeface="Arial"/>
              </a:rPr>
              <a:t>conquered by the  Muslims, he converted </a:t>
            </a:r>
            <a:r>
              <a:rPr dirty="0" sz="1200">
                <a:latin typeface="Arial"/>
                <a:cs typeface="Arial"/>
              </a:rPr>
              <a:t>to </a:t>
            </a:r>
            <a:r>
              <a:rPr dirty="0" sz="1200" spc="-5">
                <a:latin typeface="Arial"/>
                <a:cs typeface="Arial"/>
              </a:rPr>
              <a:t>Islam. Another </a:t>
            </a:r>
            <a:r>
              <a:rPr dirty="0" sz="1200" spc="5">
                <a:latin typeface="Arial"/>
                <a:cs typeface="Arial"/>
              </a:rPr>
              <a:t>false </a:t>
            </a:r>
            <a:r>
              <a:rPr dirty="0" sz="1200" spc="-5">
                <a:latin typeface="Arial"/>
                <a:cs typeface="Arial"/>
              </a:rPr>
              <a:t>prophet </a:t>
            </a:r>
            <a:r>
              <a:rPr dirty="0" sz="1200" spc="-10">
                <a:latin typeface="Arial"/>
                <a:cs typeface="Arial"/>
              </a:rPr>
              <a:t>was </a:t>
            </a:r>
            <a:r>
              <a:rPr dirty="0" sz="1200" spc="-5">
                <a:latin typeface="Arial"/>
                <a:cs typeface="Arial"/>
              </a:rPr>
              <a:t>Musailima </a:t>
            </a:r>
            <a:r>
              <a:rPr dirty="0" sz="1200">
                <a:latin typeface="Arial"/>
                <a:cs typeface="Arial"/>
              </a:rPr>
              <a:t>/ </a:t>
            </a:r>
            <a:r>
              <a:rPr dirty="0" sz="1200" spc="-5">
                <a:latin typeface="Arial"/>
                <a:cs typeface="Arial"/>
              </a:rPr>
              <a:t>Musailama </a:t>
            </a:r>
            <a:r>
              <a:rPr dirty="0" sz="1200">
                <a:latin typeface="Arial"/>
                <a:cs typeface="Arial"/>
              </a:rPr>
              <a:t>–  </a:t>
            </a:r>
            <a:r>
              <a:rPr dirty="0" sz="1200" spc="-5">
                <a:latin typeface="Arial"/>
                <a:cs typeface="Arial"/>
              </a:rPr>
              <a:t>belonging </a:t>
            </a:r>
            <a:r>
              <a:rPr dirty="0" sz="1200">
                <a:latin typeface="Arial"/>
                <a:cs typeface="Arial"/>
              </a:rPr>
              <a:t>to </a:t>
            </a:r>
            <a:r>
              <a:rPr dirty="0" sz="1200" spc="-5">
                <a:latin typeface="Arial"/>
                <a:cs typeface="Arial"/>
              </a:rPr>
              <a:t>Banu Hanifa </a:t>
            </a:r>
            <a:r>
              <a:rPr dirty="0" sz="1200">
                <a:latin typeface="Arial"/>
                <a:cs typeface="Arial"/>
              </a:rPr>
              <a:t>tribe. </a:t>
            </a:r>
            <a:r>
              <a:rPr dirty="0" sz="1200" spc="-10">
                <a:latin typeface="Arial"/>
                <a:cs typeface="Arial"/>
              </a:rPr>
              <a:t>He </a:t>
            </a:r>
            <a:r>
              <a:rPr dirty="0" sz="1200" spc="-5">
                <a:latin typeface="Arial"/>
                <a:cs typeface="Arial"/>
              </a:rPr>
              <a:t>wanted to imitate the prophet and reduced </a:t>
            </a:r>
            <a:r>
              <a:rPr dirty="0" sz="1200">
                <a:latin typeface="Arial"/>
                <a:cs typeface="Arial"/>
              </a:rPr>
              <a:t>the </a:t>
            </a:r>
            <a:r>
              <a:rPr dirty="0" sz="1200" spc="-5">
                <a:latin typeface="Arial"/>
                <a:cs typeface="Arial"/>
              </a:rPr>
              <a:t>number of  namaz, he abolished zakaat and sawm. He Legalised drinking and adultery and composed  sentences and pretended them to </a:t>
            </a:r>
            <a:r>
              <a:rPr dirty="0" sz="1200" spc="-10">
                <a:latin typeface="Arial"/>
                <a:cs typeface="Arial"/>
              </a:rPr>
              <a:t>be </a:t>
            </a:r>
            <a:r>
              <a:rPr dirty="0" sz="1200">
                <a:latin typeface="Arial"/>
                <a:cs typeface="Arial"/>
              </a:rPr>
              <a:t>Wahy. </a:t>
            </a:r>
            <a:r>
              <a:rPr dirty="0" sz="1200" spc="10">
                <a:latin typeface="Arial"/>
                <a:cs typeface="Arial"/>
              </a:rPr>
              <a:t>He </a:t>
            </a:r>
            <a:r>
              <a:rPr dirty="0" sz="1200" spc="-10">
                <a:latin typeface="Arial"/>
                <a:cs typeface="Arial"/>
              </a:rPr>
              <a:t>was </a:t>
            </a:r>
            <a:r>
              <a:rPr dirty="0" sz="1200" spc="-5">
                <a:latin typeface="Arial"/>
                <a:cs typeface="Arial"/>
              </a:rPr>
              <a:t>known as Musalima the Liar. He </a:t>
            </a:r>
            <a:r>
              <a:rPr dirty="0" sz="1200" spc="-10">
                <a:latin typeface="Arial"/>
                <a:cs typeface="Arial"/>
              </a:rPr>
              <a:t>was  </a:t>
            </a:r>
            <a:r>
              <a:rPr dirty="0" sz="1200" spc="-5">
                <a:latin typeface="Arial"/>
                <a:cs typeface="Arial"/>
              </a:rPr>
              <a:t>killed </a:t>
            </a:r>
            <a:r>
              <a:rPr dirty="0" sz="1200">
                <a:latin typeface="Arial"/>
                <a:cs typeface="Arial"/>
              </a:rPr>
              <a:t>by </a:t>
            </a:r>
            <a:r>
              <a:rPr dirty="0" sz="1200" spc="-5">
                <a:latin typeface="Arial"/>
                <a:cs typeface="Arial"/>
              </a:rPr>
              <a:t>Khalid </a:t>
            </a:r>
            <a:r>
              <a:rPr dirty="0" sz="1200">
                <a:latin typeface="Arial"/>
                <a:cs typeface="Arial"/>
              </a:rPr>
              <a:t>bin Walid. A false </a:t>
            </a:r>
            <a:r>
              <a:rPr dirty="0" sz="1200" spc="-5">
                <a:latin typeface="Arial"/>
                <a:cs typeface="Arial"/>
              </a:rPr>
              <a:t>prophetess rose in the name of Sajjah </a:t>
            </a:r>
            <a:r>
              <a:rPr dirty="0" sz="1200">
                <a:latin typeface="Arial"/>
                <a:cs typeface="Arial"/>
              </a:rPr>
              <a:t>– </a:t>
            </a:r>
            <a:r>
              <a:rPr dirty="0" sz="1200" spc="-5">
                <a:latin typeface="Arial"/>
                <a:cs typeface="Arial"/>
              </a:rPr>
              <a:t>a Christian </a:t>
            </a:r>
            <a:r>
              <a:rPr dirty="0" sz="1200" spc="-10">
                <a:latin typeface="Arial"/>
                <a:cs typeface="Arial"/>
              </a:rPr>
              <a:t>woman  </a:t>
            </a:r>
            <a:r>
              <a:rPr dirty="0" sz="1200" spc="-5">
                <a:latin typeface="Arial"/>
                <a:cs typeface="Arial"/>
              </a:rPr>
              <a:t>belonging </a:t>
            </a:r>
            <a:r>
              <a:rPr dirty="0" sz="1200">
                <a:latin typeface="Arial"/>
                <a:cs typeface="Arial"/>
              </a:rPr>
              <a:t>to Tamim Tribe. </a:t>
            </a:r>
            <a:r>
              <a:rPr dirty="0" sz="1200" spc="-5">
                <a:latin typeface="Arial"/>
                <a:cs typeface="Arial"/>
              </a:rPr>
              <a:t>She got married to Musailima to reinforce </a:t>
            </a:r>
            <a:r>
              <a:rPr dirty="0" sz="1200">
                <a:latin typeface="Arial"/>
                <a:cs typeface="Arial"/>
              </a:rPr>
              <a:t>their </a:t>
            </a:r>
            <a:r>
              <a:rPr dirty="0" sz="1200" spc="-5">
                <a:latin typeface="Arial"/>
                <a:cs typeface="Arial"/>
              </a:rPr>
              <a:t>army. </a:t>
            </a:r>
            <a:r>
              <a:rPr dirty="0" sz="1200">
                <a:latin typeface="Arial"/>
                <a:cs typeface="Arial"/>
              </a:rPr>
              <a:t>When </a:t>
            </a:r>
            <a:r>
              <a:rPr dirty="0" sz="1200" spc="-5">
                <a:latin typeface="Arial"/>
                <a:cs typeface="Arial"/>
              </a:rPr>
              <a:t>Iraq  </a:t>
            </a:r>
            <a:r>
              <a:rPr dirty="0" sz="1200" spc="-10">
                <a:latin typeface="Arial"/>
                <a:cs typeface="Arial"/>
              </a:rPr>
              <a:t>was </a:t>
            </a:r>
            <a:r>
              <a:rPr dirty="0" sz="1200" spc="-5">
                <a:latin typeface="Arial"/>
                <a:cs typeface="Arial"/>
              </a:rPr>
              <a:t>conquered, </a:t>
            </a:r>
            <a:r>
              <a:rPr dirty="0" sz="1200" spc="-10">
                <a:latin typeface="Arial"/>
                <a:cs typeface="Arial"/>
              </a:rPr>
              <a:t>she </a:t>
            </a:r>
            <a:r>
              <a:rPr dirty="0" sz="1200" spc="-5">
                <a:latin typeface="Arial"/>
                <a:cs typeface="Arial"/>
              </a:rPr>
              <a:t>converted to</a:t>
            </a:r>
            <a:r>
              <a:rPr dirty="0" sz="1200" spc="60">
                <a:latin typeface="Arial"/>
                <a:cs typeface="Arial"/>
              </a:rPr>
              <a:t> </a:t>
            </a:r>
            <a:r>
              <a:rPr dirty="0" sz="1200" spc="-5">
                <a:latin typeface="Arial"/>
                <a:cs typeface="Arial"/>
              </a:rPr>
              <a:t>Islam.</a:t>
            </a:r>
            <a:endParaRPr sz="1200">
              <a:latin typeface="Arial"/>
              <a:cs typeface="Arial"/>
            </a:endParaRPr>
          </a:p>
          <a:p>
            <a:pPr>
              <a:lnSpc>
                <a:spcPct val="100000"/>
              </a:lnSpc>
              <a:spcBef>
                <a:spcPts val="45"/>
              </a:spcBef>
            </a:pPr>
            <a:endParaRPr sz="1150">
              <a:latin typeface="Arial"/>
              <a:cs typeface="Arial"/>
            </a:endParaRPr>
          </a:p>
          <a:p>
            <a:pPr algn="just" marL="12700" marR="5080">
              <a:lnSpc>
                <a:spcPct val="95900"/>
              </a:lnSpc>
            </a:pPr>
            <a:r>
              <a:rPr dirty="0" sz="1200" spc="-5">
                <a:latin typeface="Arial"/>
                <a:cs typeface="Arial"/>
              </a:rPr>
              <a:t>Another problem </a:t>
            </a:r>
            <a:r>
              <a:rPr dirty="0" sz="1200" spc="-10">
                <a:latin typeface="Arial"/>
                <a:cs typeface="Arial"/>
              </a:rPr>
              <a:t>was </a:t>
            </a:r>
            <a:r>
              <a:rPr dirty="0" sz="1200">
                <a:latin typeface="Arial"/>
                <a:cs typeface="Arial"/>
              </a:rPr>
              <a:t>the </a:t>
            </a:r>
            <a:r>
              <a:rPr dirty="0" sz="1200" spc="-5">
                <a:latin typeface="Arial"/>
                <a:cs typeface="Arial"/>
              </a:rPr>
              <a:t>refusal </a:t>
            </a:r>
            <a:r>
              <a:rPr dirty="0" sz="1200">
                <a:latin typeface="Arial"/>
                <a:cs typeface="Arial"/>
              </a:rPr>
              <a:t>to </a:t>
            </a:r>
            <a:r>
              <a:rPr dirty="0" sz="1200" spc="-5">
                <a:latin typeface="Arial"/>
                <a:cs typeface="Arial"/>
              </a:rPr>
              <a:t>pay Zakaat by </a:t>
            </a:r>
            <a:r>
              <a:rPr dirty="0" sz="1200">
                <a:latin typeface="Arial"/>
                <a:cs typeface="Arial"/>
              </a:rPr>
              <a:t>some </a:t>
            </a:r>
            <a:r>
              <a:rPr dirty="0" sz="1200" spc="-5">
                <a:latin typeface="Arial"/>
                <a:cs typeface="Arial"/>
              </a:rPr>
              <a:t>tribes such as Banu Asad, Banu  Ghatafan, Banu Abbas, Banu Murrah. </a:t>
            </a:r>
            <a:r>
              <a:rPr dirty="0" sz="1200">
                <a:latin typeface="Arial"/>
                <a:cs typeface="Arial"/>
              </a:rPr>
              <a:t>The </a:t>
            </a:r>
            <a:r>
              <a:rPr dirty="0" sz="1200" spc="-5">
                <a:latin typeface="Arial"/>
                <a:cs typeface="Arial"/>
              </a:rPr>
              <a:t>caliph despatched an army </a:t>
            </a:r>
            <a:r>
              <a:rPr dirty="0" sz="1200">
                <a:latin typeface="Arial"/>
                <a:cs typeface="Arial"/>
              </a:rPr>
              <a:t>of </a:t>
            </a:r>
            <a:r>
              <a:rPr dirty="0" sz="1200" spc="-5">
                <a:latin typeface="Arial"/>
                <a:cs typeface="Arial"/>
              </a:rPr>
              <a:t>eleven battalions </a:t>
            </a:r>
            <a:r>
              <a:rPr dirty="0" sz="1200">
                <a:latin typeface="Arial"/>
                <a:cs typeface="Arial"/>
              </a:rPr>
              <a:t>to  face </a:t>
            </a:r>
            <a:r>
              <a:rPr dirty="0" sz="1200" spc="-5">
                <a:latin typeface="Arial"/>
                <a:cs typeface="Arial"/>
              </a:rPr>
              <a:t>and crush all problem. </a:t>
            </a:r>
            <a:r>
              <a:rPr dirty="0" sz="1200">
                <a:latin typeface="Arial"/>
                <a:cs typeface="Arial"/>
              </a:rPr>
              <a:t>In </a:t>
            </a:r>
            <a:r>
              <a:rPr dirty="0" sz="1200" spc="-5">
                <a:latin typeface="Arial"/>
                <a:cs typeface="Arial"/>
              </a:rPr>
              <a:t>less than one year </a:t>
            </a:r>
            <a:r>
              <a:rPr dirty="0" sz="1200">
                <a:latin typeface="Arial"/>
                <a:cs typeface="Arial"/>
              </a:rPr>
              <a:t>there </a:t>
            </a:r>
            <a:r>
              <a:rPr dirty="0" sz="1200" spc="-10">
                <a:latin typeface="Arial"/>
                <a:cs typeface="Arial"/>
              </a:rPr>
              <a:t>was </a:t>
            </a:r>
            <a:r>
              <a:rPr dirty="0" sz="1200" spc="-5">
                <a:latin typeface="Arial"/>
                <a:cs typeface="Arial"/>
              </a:rPr>
              <a:t>calm and </a:t>
            </a:r>
            <a:r>
              <a:rPr dirty="0" sz="1200">
                <a:latin typeface="Arial"/>
                <a:cs typeface="Arial"/>
              </a:rPr>
              <a:t>security </a:t>
            </a:r>
            <a:r>
              <a:rPr dirty="0" sz="1200" spc="-5">
                <a:latin typeface="Arial"/>
                <a:cs typeface="Arial"/>
              </a:rPr>
              <a:t>in </a:t>
            </a:r>
            <a:r>
              <a:rPr dirty="0" sz="1200">
                <a:latin typeface="Arial"/>
                <a:cs typeface="Arial"/>
              </a:rPr>
              <a:t>the </a:t>
            </a:r>
            <a:r>
              <a:rPr dirty="0" sz="1200" spc="-5">
                <a:latin typeface="Arial"/>
                <a:cs typeface="Arial"/>
              </a:rPr>
              <a:t>Islamic  dominion.</a:t>
            </a:r>
            <a:endParaRPr sz="12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u="heavy" sz="1200" b="1" i="1">
                <a:uFill>
                  <a:solidFill>
                    <a:srgbClr val="000000"/>
                  </a:solidFill>
                </a:uFill>
                <a:latin typeface="Arial"/>
                <a:cs typeface="Arial"/>
              </a:rPr>
              <a:t>Death of </a:t>
            </a:r>
            <a:r>
              <a:rPr dirty="0" u="heavy" sz="1200" spc="-5" b="1" i="1">
                <a:uFill>
                  <a:solidFill>
                    <a:srgbClr val="000000"/>
                  </a:solidFill>
                </a:uFill>
                <a:latin typeface="Arial"/>
                <a:cs typeface="Arial"/>
              </a:rPr>
              <a:t>Hazrat Abu </a:t>
            </a:r>
            <a:r>
              <a:rPr dirty="0" u="heavy" sz="1200" b="1" i="1">
                <a:uFill>
                  <a:solidFill>
                    <a:srgbClr val="000000"/>
                  </a:solidFill>
                </a:uFill>
                <a:latin typeface="Arial"/>
                <a:cs typeface="Arial"/>
              </a:rPr>
              <a:t>Bakr Siddiq</a:t>
            </a:r>
            <a:r>
              <a:rPr dirty="0" u="heavy" sz="1200" spc="-30" b="1" i="1">
                <a:uFill>
                  <a:solidFill>
                    <a:srgbClr val="000000"/>
                  </a:solidFill>
                </a:uFill>
                <a:latin typeface="Arial"/>
                <a:cs typeface="Arial"/>
              </a:rPr>
              <a:t> </a:t>
            </a:r>
            <a:r>
              <a:rPr dirty="0" u="heavy" sz="1200" spc="-5" b="1" i="1">
                <a:uFill>
                  <a:solidFill>
                    <a:srgbClr val="000000"/>
                  </a:solidFill>
                </a:uFill>
                <a:latin typeface="Arial"/>
                <a:cs typeface="Arial"/>
              </a:rPr>
              <a:t>(ra)</a:t>
            </a:r>
            <a:endParaRPr sz="1200">
              <a:latin typeface="Arial"/>
              <a:cs typeface="Arial"/>
            </a:endParaRPr>
          </a:p>
          <a:p>
            <a:pPr>
              <a:lnSpc>
                <a:spcPct val="100000"/>
              </a:lnSpc>
              <a:spcBef>
                <a:spcPts val="20"/>
              </a:spcBef>
            </a:pPr>
            <a:endParaRPr sz="1650">
              <a:latin typeface="Arial"/>
              <a:cs typeface="Arial"/>
            </a:endParaRPr>
          </a:p>
          <a:p>
            <a:pPr algn="just" marL="12700" marR="5080">
              <a:lnSpc>
                <a:spcPts val="1380"/>
              </a:lnSpc>
            </a:pPr>
            <a:r>
              <a:rPr dirty="0" sz="1200" spc="-5">
                <a:latin typeface="Arial"/>
                <a:cs typeface="Arial"/>
              </a:rPr>
              <a:t>He </a:t>
            </a:r>
            <a:r>
              <a:rPr dirty="0" sz="1200" spc="-10">
                <a:latin typeface="Arial"/>
                <a:cs typeface="Arial"/>
              </a:rPr>
              <a:t>was </a:t>
            </a:r>
            <a:r>
              <a:rPr dirty="0" sz="1200" spc="-5">
                <a:latin typeface="Arial"/>
                <a:cs typeface="Arial"/>
              </a:rPr>
              <a:t>caliph </a:t>
            </a:r>
            <a:r>
              <a:rPr dirty="0" sz="1200">
                <a:latin typeface="Arial"/>
                <a:cs typeface="Arial"/>
              </a:rPr>
              <a:t>for </a:t>
            </a:r>
            <a:r>
              <a:rPr dirty="0" sz="1200" spc="-5">
                <a:latin typeface="Arial"/>
                <a:cs typeface="Arial"/>
              </a:rPr>
              <a:t>a </a:t>
            </a:r>
            <a:r>
              <a:rPr dirty="0" sz="1200" spc="-10">
                <a:latin typeface="Arial"/>
                <a:cs typeface="Arial"/>
              </a:rPr>
              <a:t>period </a:t>
            </a:r>
            <a:r>
              <a:rPr dirty="0" sz="1200" spc="-5">
                <a:latin typeface="Arial"/>
                <a:cs typeface="Arial"/>
              </a:rPr>
              <a:t>of 2 years and 3 </a:t>
            </a:r>
            <a:r>
              <a:rPr dirty="0" sz="1200">
                <a:latin typeface="Arial"/>
                <a:cs typeface="Arial"/>
              </a:rPr>
              <a:t>months. </a:t>
            </a:r>
            <a:r>
              <a:rPr dirty="0" sz="1200" spc="-5">
                <a:latin typeface="Arial"/>
                <a:cs typeface="Arial"/>
              </a:rPr>
              <a:t>On the 7th of Jamadi-ul-Akhir, 13 A.H.,  Abu </a:t>
            </a:r>
            <a:r>
              <a:rPr dirty="0" sz="1200">
                <a:latin typeface="Arial"/>
                <a:cs typeface="Arial"/>
              </a:rPr>
              <a:t>Bakr </a:t>
            </a:r>
            <a:r>
              <a:rPr dirty="0" sz="1200" spc="-10">
                <a:latin typeface="Arial"/>
                <a:cs typeface="Arial"/>
              </a:rPr>
              <a:t>was </a:t>
            </a:r>
            <a:r>
              <a:rPr dirty="0" sz="1200" spc="-5">
                <a:latin typeface="Arial"/>
                <a:cs typeface="Arial"/>
              </a:rPr>
              <a:t>taken ill. He had severe fever. Everything </a:t>
            </a:r>
            <a:r>
              <a:rPr dirty="0" sz="1200" spc="-10">
                <a:latin typeface="Arial"/>
                <a:cs typeface="Arial"/>
              </a:rPr>
              <a:t>was </a:t>
            </a:r>
            <a:r>
              <a:rPr dirty="0" sz="1200" spc="-5">
                <a:latin typeface="Arial"/>
                <a:cs typeface="Arial"/>
              </a:rPr>
              <a:t>done </a:t>
            </a:r>
            <a:r>
              <a:rPr dirty="0" sz="1200">
                <a:latin typeface="Arial"/>
                <a:cs typeface="Arial"/>
              </a:rPr>
              <a:t>to </a:t>
            </a:r>
            <a:r>
              <a:rPr dirty="0" sz="1200" spc="-5">
                <a:latin typeface="Arial"/>
                <a:cs typeface="Arial"/>
              </a:rPr>
              <a:t>bring </a:t>
            </a:r>
            <a:r>
              <a:rPr dirty="0" sz="1200" spc="-10">
                <a:latin typeface="Arial"/>
                <a:cs typeface="Arial"/>
              </a:rPr>
              <a:t>down </a:t>
            </a:r>
            <a:r>
              <a:rPr dirty="0" sz="1200">
                <a:latin typeface="Arial"/>
                <a:cs typeface="Arial"/>
              </a:rPr>
              <a:t>the </a:t>
            </a:r>
            <a:r>
              <a:rPr dirty="0" sz="1200" spc="-5">
                <a:latin typeface="Arial"/>
                <a:cs typeface="Arial"/>
              </a:rPr>
              <a:t>fever,  but </a:t>
            </a:r>
            <a:r>
              <a:rPr dirty="0" sz="1200">
                <a:latin typeface="Arial"/>
                <a:cs typeface="Arial"/>
              </a:rPr>
              <a:t>all </a:t>
            </a:r>
            <a:r>
              <a:rPr dirty="0" sz="1200" spc="-5">
                <a:latin typeface="Arial"/>
                <a:cs typeface="Arial"/>
              </a:rPr>
              <a:t>in vain. </a:t>
            </a:r>
            <a:r>
              <a:rPr dirty="0" sz="1200">
                <a:latin typeface="Arial"/>
                <a:cs typeface="Arial"/>
              </a:rPr>
              <a:t>It </a:t>
            </a:r>
            <a:r>
              <a:rPr dirty="0" sz="1200" spc="-5">
                <a:latin typeface="Arial"/>
                <a:cs typeface="Arial"/>
              </a:rPr>
              <a:t>became </a:t>
            </a:r>
            <a:r>
              <a:rPr dirty="0" sz="1200">
                <a:latin typeface="Arial"/>
                <a:cs typeface="Arial"/>
              </a:rPr>
              <a:t>clear to </a:t>
            </a:r>
            <a:r>
              <a:rPr dirty="0" sz="1200" spc="-5">
                <a:latin typeface="Arial"/>
                <a:cs typeface="Arial"/>
              </a:rPr>
              <a:t>the aged Caliph that his end </a:t>
            </a:r>
            <a:r>
              <a:rPr dirty="0" sz="1200">
                <a:latin typeface="Arial"/>
                <a:cs typeface="Arial"/>
              </a:rPr>
              <a:t>has </a:t>
            </a:r>
            <a:r>
              <a:rPr dirty="0" sz="1200" spc="-5">
                <a:latin typeface="Arial"/>
                <a:cs typeface="Arial"/>
              </a:rPr>
              <a:t>come. Even in these </a:t>
            </a:r>
            <a:r>
              <a:rPr dirty="0" sz="1200">
                <a:latin typeface="Arial"/>
                <a:cs typeface="Arial"/>
              </a:rPr>
              <a:t>last  </a:t>
            </a:r>
            <a:r>
              <a:rPr dirty="0" sz="1200" spc="-5">
                <a:latin typeface="Arial"/>
                <a:cs typeface="Arial"/>
              </a:rPr>
              <a:t>days, </a:t>
            </a:r>
            <a:r>
              <a:rPr dirty="0" sz="1200">
                <a:latin typeface="Arial"/>
                <a:cs typeface="Arial"/>
              </a:rPr>
              <a:t>the </a:t>
            </a:r>
            <a:r>
              <a:rPr dirty="0" sz="1200" spc="-5">
                <a:latin typeface="Arial"/>
                <a:cs typeface="Arial"/>
              </a:rPr>
              <a:t>thought that </a:t>
            </a:r>
            <a:r>
              <a:rPr dirty="0" sz="1200">
                <a:latin typeface="Arial"/>
                <a:cs typeface="Arial"/>
              </a:rPr>
              <a:t>troubled </a:t>
            </a:r>
            <a:r>
              <a:rPr dirty="0" sz="1200" spc="-5">
                <a:latin typeface="Arial"/>
                <a:cs typeface="Arial"/>
              </a:rPr>
              <a:t>Abu </a:t>
            </a:r>
            <a:r>
              <a:rPr dirty="0" sz="1200">
                <a:latin typeface="Arial"/>
                <a:cs typeface="Arial"/>
              </a:rPr>
              <a:t>Bakr </a:t>
            </a:r>
            <a:r>
              <a:rPr dirty="0" sz="1200" spc="-5">
                <a:latin typeface="Arial"/>
                <a:cs typeface="Arial"/>
              </a:rPr>
              <a:t>was </a:t>
            </a:r>
            <a:r>
              <a:rPr dirty="0" sz="1200">
                <a:latin typeface="Arial"/>
                <a:cs typeface="Arial"/>
              </a:rPr>
              <a:t>the future </a:t>
            </a:r>
            <a:r>
              <a:rPr dirty="0" sz="1200" spc="-5">
                <a:latin typeface="Arial"/>
                <a:cs typeface="Arial"/>
              </a:rPr>
              <a:t>of Islam. He </a:t>
            </a:r>
            <a:r>
              <a:rPr dirty="0" sz="1200">
                <a:latin typeface="Arial"/>
                <a:cs typeface="Arial"/>
              </a:rPr>
              <a:t>thus </a:t>
            </a:r>
            <a:r>
              <a:rPr dirty="0" sz="1200" spc="-5">
                <a:latin typeface="Arial"/>
                <a:cs typeface="Arial"/>
              </a:rPr>
              <a:t>opted </a:t>
            </a:r>
            <a:r>
              <a:rPr dirty="0" sz="1200">
                <a:latin typeface="Arial"/>
                <a:cs typeface="Arial"/>
              </a:rPr>
              <a:t>for </a:t>
            </a:r>
            <a:r>
              <a:rPr dirty="0" sz="1200" spc="-5">
                <a:latin typeface="Arial"/>
                <a:cs typeface="Arial"/>
              </a:rPr>
              <a:t>Hazrat  Umar (ra) as his successor. After </a:t>
            </a:r>
            <a:r>
              <a:rPr dirty="0" sz="1200" spc="-10">
                <a:latin typeface="Arial"/>
                <a:cs typeface="Arial"/>
              </a:rPr>
              <a:t>an </a:t>
            </a:r>
            <a:r>
              <a:rPr dirty="0" sz="1200" spc="-5">
                <a:latin typeface="Arial"/>
                <a:cs typeface="Arial"/>
              </a:rPr>
              <a:t>illness of </a:t>
            </a:r>
            <a:r>
              <a:rPr dirty="0" sz="1200" spc="-10">
                <a:latin typeface="Arial"/>
                <a:cs typeface="Arial"/>
              </a:rPr>
              <a:t>two </a:t>
            </a:r>
            <a:r>
              <a:rPr dirty="0" sz="1200" spc="-5">
                <a:latin typeface="Arial"/>
                <a:cs typeface="Arial"/>
              </a:rPr>
              <a:t>weeks, Abu Bakr passed </a:t>
            </a:r>
            <a:r>
              <a:rPr dirty="0" sz="1200">
                <a:latin typeface="Arial"/>
                <a:cs typeface="Arial"/>
              </a:rPr>
              <a:t>away. </a:t>
            </a:r>
            <a:r>
              <a:rPr dirty="0" sz="1200" spc="-5">
                <a:latin typeface="Arial"/>
                <a:cs typeface="Arial"/>
              </a:rPr>
              <a:t>He was  sixty-three </a:t>
            </a:r>
            <a:r>
              <a:rPr dirty="0" sz="1200">
                <a:latin typeface="Arial"/>
                <a:cs typeface="Arial"/>
              </a:rPr>
              <a:t>at </a:t>
            </a:r>
            <a:r>
              <a:rPr dirty="0" sz="1200" spc="-5">
                <a:latin typeface="Arial"/>
                <a:cs typeface="Arial"/>
              </a:rPr>
              <a:t>the time. He </a:t>
            </a:r>
            <a:r>
              <a:rPr dirty="0" sz="1200" spc="-10">
                <a:latin typeface="Arial"/>
                <a:cs typeface="Arial"/>
              </a:rPr>
              <a:t>was </a:t>
            </a:r>
            <a:r>
              <a:rPr dirty="0" sz="1200" spc="-5">
                <a:latin typeface="Arial"/>
                <a:cs typeface="Arial"/>
              </a:rPr>
              <a:t>buried </a:t>
            </a:r>
            <a:r>
              <a:rPr dirty="0" sz="1200">
                <a:latin typeface="Arial"/>
                <a:cs typeface="Arial"/>
              </a:rPr>
              <a:t>by </a:t>
            </a:r>
            <a:r>
              <a:rPr dirty="0" sz="1200" spc="-5">
                <a:latin typeface="Arial"/>
                <a:cs typeface="Arial"/>
              </a:rPr>
              <a:t>the side of the Holy Prophet</a:t>
            </a:r>
            <a:r>
              <a:rPr dirty="0" sz="1200" spc="60">
                <a:latin typeface="Arial"/>
                <a:cs typeface="Arial"/>
              </a:rPr>
              <a:t> </a:t>
            </a:r>
            <a:r>
              <a:rPr dirty="0" sz="1200" spc="-5">
                <a:latin typeface="Arial"/>
                <a:cs typeface="Arial"/>
              </a:rPr>
              <a:t>(s.a.w).</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32</a:t>
            </a:r>
            <a:endParaRPr sz="1200">
              <a:latin typeface="Times New Roman"/>
              <a:cs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5971540" cy="208279"/>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1062532" y="827531"/>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Hazrat Umar Farooq</a:t>
            </a:r>
            <a:r>
              <a:rPr dirty="0" sz="1200" spc="5" b="1">
                <a:latin typeface="Arial"/>
                <a:cs typeface="Arial"/>
              </a:rPr>
              <a:t> </a:t>
            </a:r>
            <a:r>
              <a:rPr dirty="0" sz="1200" spc="-5" b="1">
                <a:latin typeface="Arial"/>
                <a:cs typeface="Arial"/>
              </a:rPr>
              <a:t>(r.a)</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33</a:t>
            </a:r>
            <a:endParaRPr sz="1200">
              <a:latin typeface="Times New Roman"/>
              <a:cs typeface="Times New Roman"/>
            </a:endParaRPr>
          </a:p>
        </p:txBody>
      </p:sp>
      <p:sp>
        <p:nvSpPr>
          <p:cNvPr id="5" name="object 5"/>
          <p:cNvSpPr txBox="1"/>
          <p:nvPr/>
        </p:nvSpPr>
        <p:spPr>
          <a:xfrm>
            <a:off x="718819" y="1162557"/>
            <a:ext cx="6311900" cy="792099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35"/>
              </a:spcBef>
            </a:pPr>
            <a:endParaRPr sz="1200">
              <a:latin typeface="Arial"/>
              <a:cs typeface="Arial"/>
            </a:endParaRPr>
          </a:p>
          <a:p>
            <a:pPr algn="just" marL="12700" marR="10160">
              <a:lnSpc>
                <a:spcPts val="1380"/>
              </a:lnSpc>
            </a:pPr>
            <a:r>
              <a:rPr dirty="0" sz="1200" spc="-5">
                <a:latin typeface="Arial"/>
                <a:cs typeface="Arial"/>
              </a:rPr>
              <a:t>Among </a:t>
            </a:r>
            <a:r>
              <a:rPr dirty="0" sz="1200">
                <a:latin typeface="Arial"/>
                <a:cs typeface="Arial"/>
              </a:rPr>
              <a:t>the </a:t>
            </a:r>
            <a:r>
              <a:rPr dirty="0" sz="1200" spc="-10">
                <a:latin typeface="Arial"/>
                <a:cs typeface="Arial"/>
              </a:rPr>
              <a:t>Ashab </a:t>
            </a:r>
            <a:r>
              <a:rPr dirty="0" sz="1200" spc="-5">
                <a:latin typeface="Arial"/>
                <a:cs typeface="Arial"/>
              </a:rPr>
              <a:t>of the holy prophet (s.a.w), Hazrat Umar </a:t>
            </a:r>
            <a:r>
              <a:rPr dirty="0" sz="1200" spc="-10">
                <a:latin typeface="Arial"/>
                <a:cs typeface="Arial"/>
              </a:rPr>
              <a:t>was </a:t>
            </a:r>
            <a:r>
              <a:rPr dirty="0" sz="1200" spc="-5">
                <a:latin typeface="Arial"/>
                <a:cs typeface="Arial"/>
              </a:rPr>
              <a:t>one of </a:t>
            </a:r>
            <a:r>
              <a:rPr dirty="0" sz="1200">
                <a:latin typeface="Arial"/>
                <a:cs typeface="Arial"/>
              </a:rPr>
              <a:t>the </a:t>
            </a:r>
            <a:r>
              <a:rPr dirty="0" sz="1200" spc="-5">
                <a:latin typeface="Arial"/>
                <a:cs typeface="Arial"/>
              </a:rPr>
              <a:t>bravest. He </a:t>
            </a:r>
            <a:r>
              <a:rPr dirty="0" sz="1200" spc="-10">
                <a:latin typeface="Arial"/>
                <a:cs typeface="Arial"/>
              </a:rPr>
              <a:t>was  </a:t>
            </a:r>
            <a:r>
              <a:rPr dirty="0" sz="1200" spc="-5">
                <a:latin typeface="Arial"/>
                <a:cs typeface="Arial"/>
              </a:rPr>
              <a:t>known </a:t>
            </a:r>
            <a:r>
              <a:rPr dirty="0" sz="1200">
                <a:latin typeface="Arial"/>
                <a:cs typeface="Arial"/>
              </a:rPr>
              <a:t>for </a:t>
            </a:r>
            <a:r>
              <a:rPr dirty="0" sz="1200" spc="-5">
                <a:latin typeface="Arial"/>
                <a:cs typeface="Arial"/>
              </a:rPr>
              <a:t>his sincerity in his </a:t>
            </a:r>
            <a:r>
              <a:rPr dirty="0" sz="1200">
                <a:latin typeface="Arial"/>
                <a:cs typeface="Arial"/>
              </a:rPr>
              <a:t>work, </a:t>
            </a:r>
            <a:r>
              <a:rPr dirty="0" sz="1200" spc="-5">
                <a:latin typeface="Arial"/>
                <a:cs typeface="Arial"/>
              </a:rPr>
              <a:t>his high personality and his bravery. </a:t>
            </a:r>
            <a:r>
              <a:rPr dirty="0" sz="1200">
                <a:latin typeface="Arial"/>
                <a:cs typeface="Arial"/>
              </a:rPr>
              <a:t>There </a:t>
            </a:r>
            <a:r>
              <a:rPr dirty="0" sz="1200" spc="-5">
                <a:latin typeface="Arial"/>
                <a:cs typeface="Arial"/>
              </a:rPr>
              <a:t>had </a:t>
            </a:r>
            <a:r>
              <a:rPr dirty="0" sz="1200" spc="-10">
                <a:latin typeface="Arial"/>
                <a:cs typeface="Arial"/>
              </a:rPr>
              <a:t>been  </a:t>
            </a:r>
            <a:r>
              <a:rPr dirty="0" sz="1200">
                <a:latin typeface="Arial"/>
                <a:cs typeface="Arial"/>
              </a:rPr>
              <a:t>many </a:t>
            </a:r>
            <a:r>
              <a:rPr dirty="0" sz="1200" spc="-5">
                <a:latin typeface="Arial"/>
                <a:cs typeface="Arial"/>
              </a:rPr>
              <a:t>crucial events </a:t>
            </a:r>
            <a:r>
              <a:rPr dirty="0" sz="1200">
                <a:latin typeface="Arial"/>
                <a:cs typeface="Arial"/>
              </a:rPr>
              <a:t>where </a:t>
            </a:r>
            <a:r>
              <a:rPr dirty="0" sz="1200" spc="-5">
                <a:latin typeface="Arial"/>
                <a:cs typeface="Arial"/>
              </a:rPr>
              <a:t>his presence had been of utmost importance. </a:t>
            </a:r>
            <a:r>
              <a:rPr dirty="0" sz="1200" spc="20">
                <a:latin typeface="Arial"/>
                <a:cs typeface="Arial"/>
              </a:rPr>
              <a:t>We </a:t>
            </a:r>
            <a:r>
              <a:rPr dirty="0" sz="1200" spc="-5">
                <a:latin typeface="Arial"/>
                <a:cs typeface="Arial"/>
              </a:rPr>
              <a:t>can have the  examples of the </a:t>
            </a:r>
            <a:r>
              <a:rPr dirty="0" sz="1200">
                <a:latin typeface="Arial"/>
                <a:cs typeface="Arial"/>
              </a:rPr>
              <a:t>first </a:t>
            </a:r>
            <a:r>
              <a:rPr dirty="0" sz="1200" spc="-5">
                <a:latin typeface="Arial"/>
                <a:cs typeface="Arial"/>
              </a:rPr>
              <a:t>public swalaat, strategies </a:t>
            </a:r>
            <a:r>
              <a:rPr dirty="0" sz="1200">
                <a:latin typeface="Arial"/>
                <a:cs typeface="Arial"/>
              </a:rPr>
              <a:t>at </a:t>
            </a:r>
            <a:r>
              <a:rPr dirty="0" sz="1200" spc="-5">
                <a:latin typeface="Arial"/>
                <a:cs typeface="Arial"/>
              </a:rPr>
              <a:t>war, consultation through the Majlis Shurah  consolidation of </a:t>
            </a:r>
            <a:r>
              <a:rPr dirty="0" sz="1200">
                <a:latin typeface="Arial"/>
                <a:cs typeface="Arial"/>
              </a:rPr>
              <a:t>the </a:t>
            </a:r>
            <a:r>
              <a:rPr dirty="0" sz="1200" spc="-5">
                <a:latin typeface="Arial"/>
                <a:cs typeface="Arial"/>
              </a:rPr>
              <a:t>Islamic territories, the introduction of Tarawih Namaz in Jama‘ah and the  crushing of the</a:t>
            </a:r>
            <a:r>
              <a:rPr dirty="0" sz="1200">
                <a:latin typeface="Arial"/>
                <a:cs typeface="Arial"/>
              </a:rPr>
              <a:t> </a:t>
            </a:r>
            <a:r>
              <a:rPr dirty="0" sz="1200" spc="-5">
                <a:latin typeface="Arial"/>
                <a:cs typeface="Arial"/>
              </a:rPr>
              <a:t>Byzantines.</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b="1" i="1">
                <a:uFill>
                  <a:solidFill>
                    <a:srgbClr val="000000"/>
                  </a:solidFill>
                </a:uFill>
                <a:latin typeface="Arial"/>
                <a:cs typeface="Arial"/>
              </a:rPr>
              <a:t>Life </a:t>
            </a:r>
            <a:r>
              <a:rPr dirty="0" u="heavy" sz="1200" spc="-5" b="1" i="1">
                <a:uFill>
                  <a:solidFill>
                    <a:srgbClr val="000000"/>
                  </a:solidFill>
                </a:uFill>
                <a:latin typeface="Arial"/>
                <a:cs typeface="Arial"/>
              </a:rPr>
              <a:t>before acceptance </a:t>
            </a:r>
            <a:r>
              <a:rPr dirty="0" u="heavy" sz="1200" b="1" i="1">
                <a:uFill>
                  <a:solidFill>
                    <a:srgbClr val="000000"/>
                  </a:solidFill>
                </a:uFill>
                <a:latin typeface="Arial"/>
                <a:cs typeface="Arial"/>
              </a:rPr>
              <a:t>of</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Islam</a:t>
            </a:r>
            <a:endParaRPr sz="1200">
              <a:latin typeface="Arial"/>
              <a:cs typeface="Arial"/>
            </a:endParaRPr>
          </a:p>
          <a:p>
            <a:pPr>
              <a:lnSpc>
                <a:spcPct val="100000"/>
              </a:lnSpc>
              <a:spcBef>
                <a:spcPts val="55"/>
              </a:spcBef>
            </a:pPr>
            <a:endParaRPr sz="1150">
              <a:latin typeface="Arial"/>
              <a:cs typeface="Arial"/>
            </a:endParaRPr>
          </a:p>
          <a:p>
            <a:pPr marL="12700" marR="5080">
              <a:lnSpc>
                <a:spcPct val="95900"/>
              </a:lnSpc>
            </a:pPr>
            <a:r>
              <a:rPr dirty="0" sz="1200" spc="-5">
                <a:latin typeface="Arial"/>
                <a:cs typeface="Arial"/>
              </a:rPr>
              <a:t>He </a:t>
            </a:r>
            <a:r>
              <a:rPr dirty="0" sz="1200" spc="-10">
                <a:latin typeface="Arial"/>
                <a:cs typeface="Arial"/>
              </a:rPr>
              <a:t>was </a:t>
            </a:r>
            <a:r>
              <a:rPr dirty="0" sz="1200" spc="-5">
                <a:latin typeface="Arial"/>
                <a:cs typeface="Arial"/>
              </a:rPr>
              <a:t>born from a Merchant family and he developed the sharp idea of a successful  businessman. His Father </a:t>
            </a:r>
            <a:r>
              <a:rPr dirty="0" sz="1200" spc="-10">
                <a:latin typeface="Arial"/>
                <a:cs typeface="Arial"/>
              </a:rPr>
              <a:t>was </a:t>
            </a:r>
            <a:r>
              <a:rPr dirty="0" sz="1200">
                <a:latin typeface="Arial"/>
                <a:cs typeface="Arial"/>
              </a:rPr>
              <a:t>Khattab </a:t>
            </a:r>
            <a:r>
              <a:rPr dirty="0" sz="1200" spc="-5">
                <a:latin typeface="Arial"/>
                <a:cs typeface="Arial"/>
              </a:rPr>
              <a:t>and his Mother </a:t>
            </a:r>
            <a:r>
              <a:rPr dirty="0" sz="1200" spc="-10">
                <a:latin typeface="Arial"/>
                <a:cs typeface="Arial"/>
              </a:rPr>
              <a:t>was </a:t>
            </a:r>
            <a:r>
              <a:rPr dirty="0" sz="1200" spc="-5">
                <a:latin typeface="Arial"/>
                <a:cs typeface="Arial"/>
              </a:rPr>
              <a:t>Khatmah. According </a:t>
            </a:r>
            <a:r>
              <a:rPr dirty="0" sz="1200">
                <a:latin typeface="Arial"/>
                <a:cs typeface="Arial"/>
              </a:rPr>
              <a:t>to </a:t>
            </a:r>
            <a:r>
              <a:rPr dirty="0" sz="1200" spc="-5">
                <a:latin typeface="Arial"/>
                <a:cs typeface="Arial"/>
              </a:rPr>
              <a:t>history he  </a:t>
            </a:r>
            <a:r>
              <a:rPr dirty="0" sz="1200" spc="-10">
                <a:latin typeface="Arial"/>
                <a:cs typeface="Arial"/>
              </a:rPr>
              <a:t>was </a:t>
            </a:r>
            <a:r>
              <a:rPr dirty="0" sz="1200">
                <a:latin typeface="Arial"/>
                <a:cs typeface="Arial"/>
              </a:rPr>
              <a:t>12/13 </a:t>
            </a:r>
            <a:r>
              <a:rPr dirty="0" sz="1200" spc="-5">
                <a:latin typeface="Arial"/>
                <a:cs typeface="Arial"/>
              </a:rPr>
              <a:t>years </a:t>
            </a:r>
            <a:r>
              <a:rPr dirty="0" sz="1200" spc="-10">
                <a:latin typeface="Arial"/>
                <a:cs typeface="Arial"/>
              </a:rPr>
              <a:t>younger </a:t>
            </a:r>
            <a:r>
              <a:rPr dirty="0" sz="1200">
                <a:latin typeface="Arial"/>
                <a:cs typeface="Arial"/>
              </a:rPr>
              <a:t>than </a:t>
            </a:r>
            <a:r>
              <a:rPr dirty="0" sz="1200" spc="-5">
                <a:latin typeface="Arial"/>
                <a:cs typeface="Arial"/>
              </a:rPr>
              <a:t>the prophet (s.a.w) and they shared a common Ancestor in  Ka‘ab. He received both Formal </a:t>
            </a:r>
            <a:r>
              <a:rPr dirty="0" sz="1200">
                <a:latin typeface="Arial"/>
                <a:cs typeface="Arial"/>
              </a:rPr>
              <a:t>and </a:t>
            </a:r>
            <a:r>
              <a:rPr dirty="0" sz="1200" spc="-5">
                <a:latin typeface="Arial"/>
                <a:cs typeface="Arial"/>
              </a:rPr>
              <a:t>informal education </a:t>
            </a:r>
            <a:r>
              <a:rPr dirty="0" sz="1200" spc="5">
                <a:latin typeface="Arial"/>
                <a:cs typeface="Arial"/>
              </a:rPr>
              <a:t>making </a:t>
            </a:r>
            <a:r>
              <a:rPr dirty="0" sz="1200" spc="-5">
                <a:latin typeface="Arial"/>
                <a:cs typeface="Arial"/>
              </a:rPr>
              <a:t>him suitable and apt </a:t>
            </a:r>
            <a:r>
              <a:rPr dirty="0" sz="1200">
                <a:latin typeface="Arial"/>
                <a:cs typeface="Arial"/>
              </a:rPr>
              <a:t>for  </a:t>
            </a:r>
            <a:r>
              <a:rPr dirty="0" sz="1200" spc="-5">
                <a:latin typeface="Arial"/>
                <a:cs typeface="Arial"/>
              </a:rPr>
              <a:t>reading and writing </a:t>
            </a:r>
            <a:r>
              <a:rPr dirty="0" sz="1200">
                <a:latin typeface="Arial"/>
                <a:cs typeface="Arial"/>
              </a:rPr>
              <a:t>Arabic Language. </a:t>
            </a:r>
            <a:r>
              <a:rPr dirty="0" sz="1200" spc="-5">
                <a:latin typeface="Arial"/>
                <a:cs typeface="Arial"/>
              </a:rPr>
              <a:t>He </a:t>
            </a:r>
            <a:r>
              <a:rPr dirty="0" sz="1200" spc="-10">
                <a:latin typeface="Arial"/>
                <a:cs typeface="Arial"/>
              </a:rPr>
              <a:t>was </a:t>
            </a:r>
            <a:r>
              <a:rPr dirty="0" sz="1200" spc="-5">
                <a:latin typeface="Arial"/>
                <a:cs typeface="Arial"/>
              </a:rPr>
              <a:t>very Learned, Intelligent and studious </a:t>
            </a:r>
            <a:r>
              <a:rPr dirty="0" sz="1200">
                <a:latin typeface="Arial"/>
                <a:cs typeface="Arial"/>
              </a:rPr>
              <a:t>to </a:t>
            </a:r>
            <a:r>
              <a:rPr dirty="0" sz="1200" spc="-10">
                <a:latin typeface="Arial"/>
                <a:cs typeface="Arial"/>
              </a:rPr>
              <a:t>the  </a:t>
            </a:r>
            <a:r>
              <a:rPr dirty="0" sz="1200" spc="-5">
                <a:latin typeface="Arial"/>
                <a:cs typeface="Arial"/>
              </a:rPr>
              <a:t>extent that no one </a:t>
            </a:r>
            <a:r>
              <a:rPr dirty="0" sz="1200" spc="-10">
                <a:latin typeface="Arial"/>
                <a:cs typeface="Arial"/>
              </a:rPr>
              <a:t>was </a:t>
            </a:r>
            <a:r>
              <a:rPr dirty="0" sz="1200" spc="-5">
                <a:latin typeface="Arial"/>
                <a:cs typeface="Arial"/>
              </a:rPr>
              <a:t>able </a:t>
            </a:r>
            <a:r>
              <a:rPr dirty="0" sz="1200">
                <a:latin typeface="Arial"/>
                <a:cs typeface="Arial"/>
              </a:rPr>
              <a:t>to </a:t>
            </a:r>
            <a:r>
              <a:rPr dirty="0" sz="1200" spc="-5">
                <a:latin typeface="Arial"/>
                <a:cs typeface="Arial"/>
              </a:rPr>
              <a:t>challenge him in educational field. He </a:t>
            </a:r>
            <a:r>
              <a:rPr dirty="0" sz="1200" spc="-10">
                <a:latin typeface="Arial"/>
                <a:cs typeface="Arial"/>
              </a:rPr>
              <a:t>was </a:t>
            </a:r>
            <a:r>
              <a:rPr dirty="0" sz="1200" spc="-5">
                <a:latin typeface="Arial"/>
                <a:cs typeface="Arial"/>
              </a:rPr>
              <a:t>a </a:t>
            </a:r>
            <a:r>
              <a:rPr dirty="0" sz="1200">
                <a:latin typeface="Arial"/>
                <a:cs typeface="Arial"/>
              </a:rPr>
              <a:t>successful </a:t>
            </a:r>
            <a:r>
              <a:rPr dirty="0" sz="1200" spc="-5">
                <a:latin typeface="Arial"/>
                <a:cs typeface="Arial"/>
              </a:rPr>
              <a:t>trader  as well as a wise and loyal friend. He </a:t>
            </a:r>
            <a:r>
              <a:rPr dirty="0" sz="1200" spc="-10">
                <a:latin typeface="Arial"/>
                <a:cs typeface="Arial"/>
              </a:rPr>
              <a:t>was </a:t>
            </a:r>
            <a:r>
              <a:rPr dirty="0" sz="1200" spc="-5">
                <a:latin typeface="Arial"/>
                <a:cs typeface="Arial"/>
              </a:rPr>
              <a:t>admired </a:t>
            </a:r>
            <a:r>
              <a:rPr dirty="0" sz="1200">
                <a:latin typeface="Arial"/>
                <a:cs typeface="Arial"/>
              </a:rPr>
              <a:t>for </a:t>
            </a:r>
            <a:r>
              <a:rPr dirty="0" sz="1200" spc="-5">
                <a:latin typeface="Arial"/>
                <a:cs typeface="Arial"/>
              </a:rPr>
              <a:t>his sharp </a:t>
            </a:r>
            <a:r>
              <a:rPr dirty="0" sz="1200">
                <a:latin typeface="Arial"/>
                <a:cs typeface="Arial"/>
              </a:rPr>
              <a:t>mind, </a:t>
            </a:r>
            <a:r>
              <a:rPr dirty="0" sz="1200" spc="-5">
                <a:latin typeface="Arial"/>
                <a:cs typeface="Arial"/>
              </a:rPr>
              <a:t>his dedication to his  work, his loyalty towards </a:t>
            </a:r>
            <a:r>
              <a:rPr dirty="0" sz="1200">
                <a:latin typeface="Arial"/>
                <a:cs typeface="Arial"/>
              </a:rPr>
              <a:t>his </a:t>
            </a:r>
            <a:r>
              <a:rPr dirty="0" sz="1200" spc="-5">
                <a:latin typeface="Arial"/>
                <a:cs typeface="Arial"/>
              </a:rPr>
              <a:t>relatives, his eagerness towards his religion </a:t>
            </a:r>
            <a:r>
              <a:rPr dirty="0" sz="1200">
                <a:latin typeface="Arial"/>
                <a:cs typeface="Arial"/>
              </a:rPr>
              <a:t>and for </a:t>
            </a:r>
            <a:r>
              <a:rPr dirty="0" sz="1200" spc="-5">
                <a:latin typeface="Arial"/>
                <a:cs typeface="Arial"/>
              </a:rPr>
              <a:t>his </a:t>
            </a:r>
            <a:r>
              <a:rPr dirty="0" sz="1200" spc="-10">
                <a:latin typeface="Arial"/>
                <a:cs typeface="Arial"/>
              </a:rPr>
              <a:t>bravery.  </a:t>
            </a:r>
            <a:r>
              <a:rPr dirty="0" sz="1200" spc="-5">
                <a:latin typeface="Arial"/>
                <a:cs typeface="Arial"/>
              </a:rPr>
              <a:t>He </a:t>
            </a:r>
            <a:r>
              <a:rPr dirty="0" sz="1200" spc="-10">
                <a:latin typeface="Arial"/>
                <a:cs typeface="Arial"/>
              </a:rPr>
              <a:t>was </a:t>
            </a:r>
            <a:r>
              <a:rPr dirty="0" sz="1200">
                <a:latin typeface="Arial"/>
                <a:cs typeface="Arial"/>
              </a:rPr>
              <a:t>much </a:t>
            </a:r>
            <a:r>
              <a:rPr dirty="0" sz="1200" spc="-10">
                <a:latin typeface="Arial"/>
                <a:cs typeface="Arial"/>
              </a:rPr>
              <a:t>in </a:t>
            </a:r>
            <a:r>
              <a:rPr dirty="0" sz="1200">
                <a:latin typeface="Arial"/>
                <a:cs typeface="Arial"/>
              </a:rPr>
              <a:t>business </a:t>
            </a:r>
            <a:r>
              <a:rPr dirty="0" sz="1200" spc="-5">
                <a:latin typeface="Arial"/>
                <a:cs typeface="Arial"/>
              </a:rPr>
              <a:t>with foreign countries. He </a:t>
            </a:r>
            <a:r>
              <a:rPr dirty="0" sz="1200" spc="-10">
                <a:latin typeface="Arial"/>
                <a:cs typeface="Arial"/>
              </a:rPr>
              <a:t>was </a:t>
            </a:r>
            <a:r>
              <a:rPr dirty="0" sz="1200" spc="-5">
                <a:latin typeface="Arial"/>
                <a:cs typeface="Arial"/>
              </a:rPr>
              <a:t>known </a:t>
            </a:r>
            <a:r>
              <a:rPr dirty="0" sz="1200">
                <a:latin typeface="Arial"/>
                <a:cs typeface="Arial"/>
              </a:rPr>
              <a:t>for </a:t>
            </a:r>
            <a:r>
              <a:rPr dirty="0" sz="1200" spc="-5">
                <a:latin typeface="Arial"/>
                <a:cs typeface="Arial"/>
              </a:rPr>
              <a:t>being </a:t>
            </a:r>
            <a:r>
              <a:rPr dirty="0" sz="1200">
                <a:latin typeface="Arial"/>
                <a:cs typeface="Arial"/>
              </a:rPr>
              <a:t>powerful </a:t>
            </a:r>
            <a:r>
              <a:rPr dirty="0" sz="1200" spc="-5">
                <a:latin typeface="Arial"/>
                <a:cs typeface="Arial"/>
              </a:rPr>
              <a:t>and  influential both physically and verbally. He was among those people </a:t>
            </a:r>
            <a:r>
              <a:rPr dirty="0" sz="1200" spc="-10">
                <a:latin typeface="Arial"/>
                <a:cs typeface="Arial"/>
              </a:rPr>
              <a:t>who </a:t>
            </a:r>
            <a:r>
              <a:rPr dirty="0" sz="1200" spc="-5">
                <a:latin typeface="Arial"/>
                <a:cs typeface="Arial"/>
              </a:rPr>
              <a:t>could </a:t>
            </a:r>
            <a:r>
              <a:rPr dirty="0" sz="1200">
                <a:latin typeface="Arial"/>
                <a:cs typeface="Arial"/>
              </a:rPr>
              <a:t>just influence  </a:t>
            </a:r>
            <a:r>
              <a:rPr dirty="0" sz="1200" spc="-5">
                <a:latin typeface="Arial"/>
                <a:cs typeface="Arial"/>
              </a:rPr>
              <a:t>a whole nation by his </a:t>
            </a:r>
            <a:r>
              <a:rPr dirty="0" sz="1200">
                <a:latin typeface="Arial"/>
                <a:cs typeface="Arial"/>
              </a:rPr>
              <a:t>mere </a:t>
            </a:r>
            <a:r>
              <a:rPr dirty="0" sz="1200" spc="-5">
                <a:latin typeface="Arial"/>
                <a:cs typeface="Arial"/>
              </a:rPr>
              <a:t>presence. His Conversion </a:t>
            </a:r>
            <a:r>
              <a:rPr dirty="0" sz="1200">
                <a:latin typeface="Arial"/>
                <a:cs typeface="Arial"/>
              </a:rPr>
              <a:t>to </a:t>
            </a:r>
            <a:r>
              <a:rPr dirty="0" sz="1200" spc="-5">
                <a:latin typeface="Arial"/>
                <a:cs typeface="Arial"/>
              </a:rPr>
              <a:t>Islam </a:t>
            </a:r>
            <a:r>
              <a:rPr dirty="0" sz="1200" spc="-10">
                <a:latin typeface="Arial"/>
                <a:cs typeface="Arial"/>
              </a:rPr>
              <a:t>was </a:t>
            </a:r>
            <a:r>
              <a:rPr dirty="0" sz="1200" spc="-5">
                <a:latin typeface="Arial"/>
                <a:cs typeface="Arial"/>
              </a:rPr>
              <a:t>one of </a:t>
            </a:r>
            <a:r>
              <a:rPr dirty="0" sz="1200">
                <a:latin typeface="Arial"/>
                <a:cs typeface="Arial"/>
              </a:rPr>
              <a:t>the </a:t>
            </a:r>
            <a:r>
              <a:rPr dirty="0" sz="1200" spc="-5">
                <a:latin typeface="Arial"/>
                <a:cs typeface="Arial"/>
              </a:rPr>
              <a:t>greatest  moments in </a:t>
            </a:r>
            <a:r>
              <a:rPr dirty="0" sz="1200">
                <a:latin typeface="Arial"/>
                <a:cs typeface="Arial"/>
              </a:rPr>
              <a:t>the </a:t>
            </a:r>
            <a:r>
              <a:rPr dirty="0" sz="1200" spc="-5">
                <a:latin typeface="Arial"/>
                <a:cs typeface="Arial"/>
              </a:rPr>
              <a:t>life of the prophet and of</a:t>
            </a:r>
            <a:r>
              <a:rPr dirty="0" sz="1200" spc="10">
                <a:latin typeface="Arial"/>
                <a:cs typeface="Arial"/>
              </a:rPr>
              <a:t> </a:t>
            </a:r>
            <a:r>
              <a:rPr dirty="0" sz="1200" spc="-5">
                <a:latin typeface="Arial"/>
                <a:cs typeface="Arial"/>
              </a:rPr>
              <a:t>Islam.</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b="1" i="1">
                <a:uFill>
                  <a:solidFill>
                    <a:srgbClr val="000000"/>
                  </a:solidFill>
                </a:uFill>
                <a:latin typeface="Arial"/>
                <a:cs typeface="Arial"/>
              </a:rPr>
              <a:t>Life </a:t>
            </a:r>
            <a:r>
              <a:rPr dirty="0" u="heavy" sz="1200" spc="-5" b="1" i="1">
                <a:uFill>
                  <a:solidFill>
                    <a:srgbClr val="000000"/>
                  </a:solidFill>
                </a:uFill>
                <a:latin typeface="Arial"/>
                <a:cs typeface="Arial"/>
              </a:rPr>
              <a:t>after acceptance </a:t>
            </a:r>
            <a:r>
              <a:rPr dirty="0" u="heavy" sz="1200" b="1" i="1">
                <a:uFill>
                  <a:solidFill>
                    <a:srgbClr val="000000"/>
                  </a:solidFill>
                </a:uFill>
                <a:latin typeface="Arial"/>
                <a:cs typeface="Arial"/>
              </a:rPr>
              <a:t>of</a:t>
            </a:r>
            <a:r>
              <a:rPr dirty="0" u="heavy" sz="1200" spc="-10" b="1" i="1">
                <a:uFill>
                  <a:solidFill>
                    <a:srgbClr val="000000"/>
                  </a:solidFill>
                </a:uFill>
                <a:latin typeface="Arial"/>
                <a:cs typeface="Arial"/>
              </a:rPr>
              <a:t> </a:t>
            </a:r>
            <a:r>
              <a:rPr dirty="0" u="heavy" sz="1200" b="1" i="1">
                <a:uFill>
                  <a:solidFill>
                    <a:srgbClr val="000000"/>
                  </a:solidFill>
                </a:uFill>
                <a:latin typeface="Arial"/>
                <a:cs typeface="Arial"/>
              </a:rPr>
              <a:t>Islam</a:t>
            </a:r>
            <a:endParaRPr sz="1200">
              <a:latin typeface="Arial"/>
              <a:cs typeface="Arial"/>
            </a:endParaRPr>
          </a:p>
          <a:p>
            <a:pPr>
              <a:lnSpc>
                <a:spcPct val="100000"/>
              </a:lnSpc>
            </a:pPr>
            <a:endParaRPr sz="1200">
              <a:latin typeface="Arial"/>
              <a:cs typeface="Arial"/>
            </a:endParaRPr>
          </a:p>
          <a:p>
            <a:pPr algn="just" marL="12700" marR="5080">
              <a:lnSpc>
                <a:spcPct val="95800"/>
              </a:lnSpc>
            </a:pPr>
            <a:r>
              <a:rPr dirty="0" sz="1200" spc="-5">
                <a:latin typeface="Arial"/>
                <a:cs typeface="Arial"/>
              </a:rPr>
              <a:t>He </a:t>
            </a:r>
            <a:r>
              <a:rPr dirty="0" sz="1200" spc="-10">
                <a:latin typeface="Arial"/>
                <a:cs typeface="Arial"/>
              </a:rPr>
              <a:t>was </a:t>
            </a:r>
            <a:r>
              <a:rPr dirty="0" sz="1200">
                <a:latin typeface="Arial"/>
                <a:cs typeface="Arial"/>
              </a:rPr>
              <a:t>among the </a:t>
            </a:r>
            <a:r>
              <a:rPr dirty="0" sz="1200" spc="-5">
                <a:latin typeface="Arial"/>
                <a:cs typeface="Arial"/>
              </a:rPr>
              <a:t>polytheists and the idol worshippers but Allah had planned </a:t>
            </a:r>
            <a:r>
              <a:rPr dirty="0" sz="1200">
                <a:latin typeface="Arial"/>
                <a:cs typeface="Arial"/>
              </a:rPr>
              <a:t>otherwise.  One </a:t>
            </a:r>
            <a:r>
              <a:rPr dirty="0" sz="1200" spc="-5">
                <a:latin typeface="Arial"/>
                <a:cs typeface="Arial"/>
              </a:rPr>
              <a:t>day when he </a:t>
            </a:r>
            <a:r>
              <a:rPr dirty="0" sz="1200" spc="-10">
                <a:latin typeface="Arial"/>
                <a:cs typeface="Arial"/>
              </a:rPr>
              <a:t>was </a:t>
            </a:r>
            <a:r>
              <a:rPr dirty="0" sz="1200" spc="-5">
                <a:latin typeface="Arial"/>
                <a:cs typeface="Arial"/>
              </a:rPr>
              <a:t>on the </a:t>
            </a:r>
            <a:r>
              <a:rPr dirty="0" sz="1200" spc="-10">
                <a:latin typeface="Arial"/>
                <a:cs typeface="Arial"/>
              </a:rPr>
              <a:t>way </a:t>
            </a:r>
            <a:r>
              <a:rPr dirty="0" sz="1200">
                <a:latin typeface="Arial"/>
                <a:cs typeface="Arial"/>
              </a:rPr>
              <a:t>to </a:t>
            </a:r>
            <a:r>
              <a:rPr dirty="0" sz="1200" spc="-5">
                <a:latin typeface="Arial"/>
                <a:cs typeface="Arial"/>
              </a:rPr>
              <a:t>kill </a:t>
            </a:r>
            <a:r>
              <a:rPr dirty="0" sz="1200">
                <a:latin typeface="Arial"/>
                <a:cs typeface="Arial"/>
              </a:rPr>
              <a:t>the </a:t>
            </a:r>
            <a:r>
              <a:rPr dirty="0" sz="1200" spc="-5">
                <a:latin typeface="Arial"/>
                <a:cs typeface="Arial"/>
              </a:rPr>
              <a:t>prophet (s.a.w), he </a:t>
            </a:r>
            <a:r>
              <a:rPr dirty="0" sz="1200" spc="-10">
                <a:latin typeface="Arial"/>
                <a:cs typeface="Arial"/>
              </a:rPr>
              <a:t>was </a:t>
            </a:r>
            <a:r>
              <a:rPr dirty="0" sz="1200">
                <a:latin typeface="Arial"/>
                <a:cs typeface="Arial"/>
              </a:rPr>
              <a:t>told </a:t>
            </a:r>
            <a:r>
              <a:rPr dirty="0" sz="1200" spc="-5">
                <a:latin typeface="Arial"/>
                <a:cs typeface="Arial"/>
              </a:rPr>
              <a:t>that his </a:t>
            </a:r>
            <a:r>
              <a:rPr dirty="0" sz="1200" spc="-10">
                <a:latin typeface="Arial"/>
                <a:cs typeface="Arial"/>
              </a:rPr>
              <a:t>own </a:t>
            </a:r>
            <a:r>
              <a:rPr dirty="0" sz="1200">
                <a:latin typeface="Arial"/>
                <a:cs typeface="Arial"/>
              </a:rPr>
              <a:t>sister  had </a:t>
            </a:r>
            <a:r>
              <a:rPr dirty="0" sz="1200" spc="-5">
                <a:latin typeface="Arial"/>
                <a:cs typeface="Arial"/>
              </a:rPr>
              <a:t>converted </a:t>
            </a:r>
            <a:r>
              <a:rPr dirty="0" sz="1200">
                <a:latin typeface="Arial"/>
                <a:cs typeface="Arial"/>
              </a:rPr>
              <a:t>to </a:t>
            </a:r>
            <a:r>
              <a:rPr dirty="0" sz="1200" spc="-5">
                <a:latin typeface="Arial"/>
                <a:cs typeface="Arial"/>
              </a:rPr>
              <a:t>Islam and was reading part of </a:t>
            </a:r>
            <a:r>
              <a:rPr dirty="0" sz="1200">
                <a:latin typeface="Arial"/>
                <a:cs typeface="Arial"/>
              </a:rPr>
              <a:t>the </a:t>
            </a:r>
            <a:r>
              <a:rPr dirty="0" sz="1200" spc="-5">
                <a:latin typeface="Arial"/>
                <a:cs typeface="Arial"/>
              </a:rPr>
              <a:t>Qur‘an. He turned way towards </a:t>
            </a:r>
            <a:r>
              <a:rPr dirty="0" sz="1200">
                <a:latin typeface="Arial"/>
                <a:cs typeface="Arial"/>
              </a:rPr>
              <a:t>the  </a:t>
            </a:r>
            <a:r>
              <a:rPr dirty="0" sz="1200" spc="-5">
                <a:latin typeface="Arial"/>
                <a:cs typeface="Arial"/>
              </a:rPr>
              <a:t>house of his in law and </a:t>
            </a:r>
            <a:r>
              <a:rPr dirty="0" sz="1200">
                <a:latin typeface="Arial"/>
                <a:cs typeface="Arial"/>
              </a:rPr>
              <a:t>after </a:t>
            </a:r>
            <a:r>
              <a:rPr dirty="0" sz="1200" spc="-10">
                <a:latin typeface="Arial"/>
                <a:cs typeface="Arial"/>
              </a:rPr>
              <a:t>he </a:t>
            </a:r>
            <a:r>
              <a:rPr dirty="0" sz="1200" spc="-5">
                <a:latin typeface="Arial"/>
                <a:cs typeface="Arial"/>
              </a:rPr>
              <a:t>had read a chapter of the Quran he </a:t>
            </a:r>
            <a:r>
              <a:rPr dirty="0" sz="1200" spc="5">
                <a:latin typeface="Arial"/>
                <a:cs typeface="Arial"/>
              </a:rPr>
              <a:t>converted </a:t>
            </a:r>
            <a:r>
              <a:rPr dirty="0" sz="1200" spc="-5">
                <a:latin typeface="Arial"/>
                <a:cs typeface="Arial"/>
              </a:rPr>
              <a:t>to Islam. </a:t>
            </a:r>
            <a:r>
              <a:rPr dirty="0" sz="1200" spc="-10">
                <a:latin typeface="Arial"/>
                <a:cs typeface="Arial"/>
              </a:rPr>
              <a:t>He  </a:t>
            </a:r>
            <a:r>
              <a:rPr dirty="0" sz="1200" spc="-5">
                <a:latin typeface="Arial"/>
                <a:cs typeface="Arial"/>
              </a:rPr>
              <a:t>worked very hard </a:t>
            </a:r>
            <a:r>
              <a:rPr dirty="0" sz="1200">
                <a:latin typeface="Arial"/>
                <a:cs typeface="Arial"/>
              </a:rPr>
              <a:t>for </a:t>
            </a:r>
            <a:r>
              <a:rPr dirty="0" sz="1200" spc="-5">
                <a:latin typeface="Arial"/>
                <a:cs typeface="Arial"/>
              </a:rPr>
              <a:t>the spread of Islam. </a:t>
            </a:r>
            <a:r>
              <a:rPr dirty="0" sz="1200" spc="-10">
                <a:latin typeface="Arial"/>
                <a:cs typeface="Arial"/>
              </a:rPr>
              <a:t>He </a:t>
            </a:r>
            <a:r>
              <a:rPr dirty="0" sz="1200" spc="-5">
                <a:latin typeface="Arial"/>
                <a:cs typeface="Arial"/>
              </a:rPr>
              <a:t>obtained of </a:t>
            </a:r>
            <a:r>
              <a:rPr dirty="0" sz="1200">
                <a:latin typeface="Arial"/>
                <a:cs typeface="Arial"/>
              </a:rPr>
              <a:t>title </a:t>
            </a:r>
            <a:r>
              <a:rPr dirty="0" sz="1200" spc="-5">
                <a:latin typeface="Arial"/>
                <a:cs typeface="Arial"/>
              </a:rPr>
              <a:t>of Farooq and </a:t>
            </a:r>
            <a:r>
              <a:rPr dirty="0" sz="1200" spc="-10">
                <a:latin typeface="Arial"/>
                <a:cs typeface="Arial"/>
              </a:rPr>
              <a:t>he was </a:t>
            </a:r>
            <a:r>
              <a:rPr dirty="0" sz="1200" spc="-5">
                <a:latin typeface="Arial"/>
                <a:cs typeface="Arial"/>
              </a:rPr>
              <a:t>one of  </a:t>
            </a:r>
            <a:r>
              <a:rPr dirty="0" sz="1200">
                <a:latin typeface="Arial"/>
                <a:cs typeface="Arial"/>
              </a:rPr>
              <a:t>the </a:t>
            </a:r>
            <a:r>
              <a:rPr dirty="0" sz="1200" spc="-5">
                <a:latin typeface="Arial"/>
                <a:cs typeface="Arial"/>
              </a:rPr>
              <a:t>distinguished companions of the prophet. After his conversion to Islam, all Muslims  became bold enough to pray publicly. </a:t>
            </a:r>
            <a:r>
              <a:rPr dirty="0" sz="1200">
                <a:latin typeface="Arial"/>
                <a:cs typeface="Arial"/>
              </a:rPr>
              <a:t>The first </a:t>
            </a:r>
            <a:r>
              <a:rPr dirty="0" sz="1200" spc="-5">
                <a:latin typeface="Arial"/>
                <a:cs typeface="Arial"/>
              </a:rPr>
              <a:t>namaz </a:t>
            </a:r>
            <a:r>
              <a:rPr dirty="0" sz="1200">
                <a:latin typeface="Arial"/>
                <a:cs typeface="Arial"/>
              </a:rPr>
              <a:t>to </a:t>
            </a:r>
            <a:r>
              <a:rPr dirty="0" sz="1200" spc="-10">
                <a:latin typeface="Arial"/>
                <a:cs typeface="Arial"/>
              </a:rPr>
              <a:t>be </a:t>
            </a:r>
            <a:r>
              <a:rPr dirty="0" sz="1200" spc="-5">
                <a:latin typeface="Arial"/>
                <a:cs typeface="Arial"/>
              </a:rPr>
              <a:t>conducted openly </a:t>
            </a:r>
            <a:r>
              <a:rPr dirty="0" sz="1200" spc="-10">
                <a:latin typeface="Arial"/>
                <a:cs typeface="Arial"/>
              </a:rPr>
              <a:t>was </a:t>
            </a:r>
            <a:r>
              <a:rPr dirty="0" sz="1200" spc="-5">
                <a:latin typeface="Arial"/>
                <a:cs typeface="Arial"/>
              </a:rPr>
              <a:t>from the  endeavour of </a:t>
            </a:r>
            <a:r>
              <a:rPr dirty="0" sz="1200">
                <a:latin typeface="Arial"/>
                <a:cs typeface="Arial"/>
              </a:rPr>
              <a:t>Umar. </a:t>
            </a:r>
            <a:r>
              <a:rPr dirty="0" sz="1200" spc="-10">
                <a:latin typeface="Arial"/>
                <a:cs typeface="Arial"/>
              </a:rPr>
              <a:t>He </a:t>
            </a:r>
            <a:r>
              <a:rPr dirty="0" sz="1200" spc="-5">
                <a:latin typeface="Arial"/>
                <a:cs typeface="Arial"/>
              </a:rPr>
              <a:t>would help Abu Bakr in </a:t>
            </a:r>
            <a:r>
              <a:rPr dirty="0" sz="1200">
                <a:latin typeface="Arial"/>
                <a:cs typeface="Arial"/>
              </a:rPr>
              <a:t>the </a:t>
            </a:r>
            <a:r>
              <a:rPr dirty="0" sz="1200" spc="-5">
                <a:latin typeface="Arial"/>
                <a:cs typeface="Arial"/>
              </a:rPr>
              <a:t>affairs </a:t>
            </a:r>
            <a:r>
              <a:rPr dirty="0" sz="1200">
                <a:latin typeface="Arial"/>
                <a:cs typeface="Arial"/>
              </a:rPr>
              <a:t>of </a:t>
            </a:r>
            <a:r>
              <a:rPr dirty="0" sz="1200" spc="-5">
                <a:latin typeface="Arial"/>
                <a:cs typeface="Arial"/>
              </a:rPr>
              <a:t>the prophet. He participated in  all battles of the prophet and </a:t>
            </a:r>
            <a:r>
              <a:rPr dirty="0" sz="1200" spc="-10">
                <a:latin typeface="Arial"/>
                <a:cs typeface="Arial"/>
              </a:rPr>
              <a:t>was </a:t>
            </a:r>
            <a:r>
              <a:rPr dirty="0" sz="1200" spc="-5">
                <a:latin typeface="Arial"/>
                <a:cs typeface="Arial"/>
              </a:rPr>
              <a:t>successful in each of his conquest. </a:t>
            </a:r>
            <a:r>
              <a:rPr dirty="0" sz="1200">
                <a:latin typeface="Arial"/>
                <a:cs typeface="Arial"/>
              </a:rPr>
              <a:t>On </a:t>
            </a:r>
            <a:r>
              <a:rPr dirty="0" sz="1200" spc="-5">
                <a:latin typeface="Arial"/>
                <a:cs typeface="Arial"/>
              </a:rPr>
              <a:t>the battle field </a:t>
            </a:r>
            <a:r>
              <a:rPr dirty="0" sz="1200" spc="-10">
                <a:latin typeface="Arial"/>
                <a:cs typeface="Arial"/>
              </a:rPr>
              <a:t>he  was </a:t>
            </a:r>
            <a:r>
              <a:rPr dirty="0" sz="1200">
                <a:latin typeface="Arial"/>
                <a:cs typeface="Arial"/>
              </a:rPr>
              <a:t>fierce </a:t>
            </a:r>
            <a:r>
              <a:rPr dirty="0" sz="1200" spc="-5">
                <a:latin typeface="Arial"/>
                <a:cs typeface="Arial"/>
              </a:rPr>
              <a:t>and his enemies were not </a:t>
            </a:r>
            <a:r>
              <a:rPr dirty="0" sz="1200" spc="5">
                <a:latin typeface="Arial"/>
                <a:cs typeface="Arial"/>
              </a:rPr>
              <a:t>able </a:t>
            </a:r>
            <a:r>
              <a:rPr dirty="0" sz="1200">
                <a:latin typeface="Arial"/>
                <a:cs typeface="Arial"/>
              </a:rPr>
              <a:t>to </a:t>
            </a:r>
            <a:r>
              <a:rPr dirty="0" sz="1200" spc="-5">
                <a:latin typeface="Arial"/>
                <a:cs typeface="Arial"/>
              </a:rPr>
              <a:t>match with </a:t>
            </a:r>
            <a:r>
              <a:rPr dirty="0" sz="1200">
                <a:latin typeface="Arial"/>
                <a:cs typeface="Arial"/>
              </a:rPr>
              <a:t>him. </a:t>
            </a:r>
            <a:r>
              <a:rPr dirty="0" sz="1200" spc="-5">
                <a:latin typeface="Arial"/>
                <a:cs typeface="Arial"/>
              </a:rPr>
              <a:t>He would participate </a:t>
            </a:r>
            <a:r>
              <a:rPr dirty="0" sz="1200" spc="-10">
                <a:latin typeface="Arial"/>
                <a:cs typeface="Arial"/>
              </a:rPr>
              <a:t>both  </a:t>
            </a:r>
            <a:r>
              <a:rPr dirty="0" sz="1200" spc="-5">
                <a:latin typeface="Arial"/>
                <a:cs typeface="Arial"/>
              </a:rPr>
              <a:t>physically and financially in all </a:t>
            </a:r>
            <a:r>
              <a:rPr dirty="0" sz="1200">
                <a:latin typeface="Arial"/>
                <a:cs typeface="Arial"/>
              </a:rPr>
              <a:t>battles </a:t>
            </a:r>
            <a:r>
              <a:rPr dirty="0" sz="1200" spc="-5">
                <a:latin typeface="Arial"/>
                <a:cs typeface="Arial"/>
              </a:rPr>
              <a:t>and expeditions of the Muslim conquest. He would  always be </a:t>
            </a:r>
            <a:r>
              <a:rPr dirty="0" sz="1200">
                <a:latin typeface="Arial"/>
                <a:cs typeface="Arial"/>
              </a:rPr>
              <a:t>the first </a:t>
            </a:r>
            <a:r>
              <a:rPr dirty="0" sz="1200" spc="-5">
                <a:latin typeface="Arial"/>
                <a:cs typeface="Arial"/>
              </a:rPr>
              <a:t>to come forward and present himself in front of the prophet as one of the  </a:t>
            </a:r>
            <a:r>
              <a:rPr dirty="0" sz="1200">
                <a:latin typeface="Arial"/>
                <a:cs typeface="Arial"/>
              </a:rPr>
              <a:t>first </a:t>
            </a:r>
            <a:r>
              <a:rPr dirty="0" sz="1200" spc="-5">
                <a:latin typeface="Arial"/>
                <a:cs typeface="Arial"/>
              </a:rPr>
              <a:t>three starting soldiers. During dire situations umar </a:t>
            </a:r>
            <a:r>
              <a:rPr dirty="0" sz="1200" spc="-10">
                <a:latin typeface="Arial"/>
                <a:cs typeface="Arial"/>
              </a:rPr>
              <a:t>was </a:t>
            </a:r>
            <a:r>
              <a:rPr dirty="0" sz="1200">
                <a:latin typeface="Arial"/>
                <a:cs typeface="Arial"/>
              </a:rPr>
              <a:t>the </a:t>
            </a:r>
            <a:r>
              <a:rPr dirty="0" sz="1200" spc="-5">
                <a:latin typeface="Arial"/>
                <a:cs typeface="Arial"/>
              </a:rPr>
              <a:t>leading soldier and leader </a:t>
            </a:r>
            <a:r>
              <a:rPr dirty="0" sz="1200">
                <a:latin typeface="Arial"/>
                <a:cs typeface="Arial"/>
              </a:rPr>
              <a:t>to  </a:t>
            </a:r>
            <a:r>
              <a:rPr dirty="0" sz="1200" spc="-5">
                <a:latin typeface="Arial"/>
                <a:cs typeface="Arial"/>
              </a:rPr>
              <a:t>convert a defeat into a victory. Umar would always regard </a:t>
            </a:r>
            <a:r>
              <a:rPr dirty="0" sz="1200">
                <a:latin typeface="Arial"/>
                <a:cs typeface="Arial"/>
              </a:rPr>
              <a:t>the status </a:t>
            </a:r>
            <a:r>
              <a:rPr dirty="0" sz="1200" spc="-5">
                <a:latin typeface="Arial"/>
                <a:cs typeface="Arial"/>
              </a:rPr>
              <a:t>of the prophet, his  family, </a:t>
            </a:r>
            <a:r>
              <a:rPr dirty="0" sz="1200">
                <a:latin typeface="Arial"/>
                <a:cs typeface="Arial"/>
              </a:rPr>
              <a:t>Islam </a:t>
            </a:r>
            <a:r>
              <a:rPr dirty="0" sz="1200" spc="-5">
                <a:latin typeface="Arial"/>
                <a:cs typeface="Arial"/>
              </a:rPr>
              <a:t>and the benefit of the Ummah before his </a:t>
            </a:r>
            <a:r>
              <a:rPr dirty="0" sz="1200" spc="-10">
                <a:latin typeface="Arial"/>
                <a:cs typeface="Arial"/>
              </a:rPr>
              <a:t>own </a:t>
            </a:r>
            <a:r>
              <a:rPr dirty="0" sz="1200" spc="-5">
                <a:latin typeface="Arial"/>
                <a:cs typeface="Arial"/>
              </a:rPr>
              <a:t>interest. He </a:t>
            </a:r>
            <a:r>
              <a:rPr dirty="0" sz="1200" spc="-10">
                <a:latin typeface="Arial"/>
                <a:cs typeface="Arial"/>
              </a:rPr>
              <a:t>was </a:t>
            </a:r>
            <a:r>
              <a:rPr dirty="0" sz="1200" spc="-5">
                <a:latin typeface="Arial"/>
                <a:cs typeface="Arial"/>
              </a:rPr>
              <a:t>considered </a:t>
            </a:r>
            <a:r>
              <a:rPr dirty="0" sz="1200" spc="-10">
                <a:latin typeface="Arial"/>
                <a:cs typeface="Arial"/>
              </a:rPr>
              <a:t>as  </a:t>
            </a:r>
            <a:r>
              <a:rPr dirty="0" sz="1200" spc="-5">
                <a:latin typeface="Arial"/>
                <a:cs typeface="Arial"/>
              </a:rPr>
              <a:t>one </a:t>
            </a:r>
            <a:r>
              <a:rPr dirty="0" sz="1200">
                <a:latin typeface="Arial"/>
                <a:cs typeface="Arial"/>
              </a:rPr>
              <a:t>of </a:t>
            </a:r>
            <a:r>
              <a:rPr dirty="0" sz="1200" spc="-5">
                <a:latin typeface="Arial"/>
                <a:cs typeface="Arial"/>
              </a:rPr>
              <a:t>the </a:t>
            </a:r>
            <a:r>
              <a:rPr dirty="0" sz="1200" spc="-10">
                <a:latin typeface="Arial"/>
                <a:cs typeface="Arial"/>
              </a:rPr>
              <a:t>10 </a:t>
            </a:r>
            <a:r>
              <a:rPr dirty="0" sz="1200" spc="-5">
                <a:latin typeface="Arial"/>
                <a:cs typeface="Arial"/>
              </a:rPr>
              <a:t>persons </a:t>
            </a:r>
            <a:r>
              <a:rPr dirty="0" sz="1200">
                <a:latin typeface="Arial"/>
                <a:cs typeface="Arial"/>
              </a:rPr>
              <a:t>the </a:t>
            </a:r>
            <a:r>
              <a:rPr dirty="0" sz="1200" spc="-5">
                <a:latin typeface="Arial"/>
                <a:cs typeface="Arial"/>
              </a:rPr>
              <a:t>prophet </a:t>
            </a:r>
            <a:r>
              <a:rPr dirty="0" sz="1200" spc="-10">
                <a:latin typeface="Arial"/>
                <a:cs typeface="Arial"/>
              </a:rPr>
              <a:t>gave </a:t>
            </a:r>
            <a:r>
              <a:rPr dirty="0" sz="1200">
                <a:latin typeface="Arial"/>
                <a:cs typeface="Arial"/>
              </a:rPr>
              <a:t>the </a:t>
            </a:r>
            <a:r>
              <a:rPr dirty="0" sz="1200" spc="-5">
                <a:latin typeface="Arial"/>
                <a:cs typeface="Arial"/>
              </a:rPr>
              <a:t>good </a:t>
            </a:r>
            <a:r>
              <a:rPr dirty="0" sz="1200" spc="-10">
                <a:latin typeface="Arial"/>
                <a:cs typeface="Arial"/>
              </a:rPr>
              <a:t>news </a:t>
            </a:r>
            <a:r>
              <a:rPr dirty="0" sz="1200">
                <a:latin typeface="Arial"/>
                <a:cs typeface="Arial"/>
              </a:rPr>
              <a:t>of </a:t>
            </a:r>
            <a:r>
              <a:rPr dirty="0" sz="1200" spc="-5">
                <a:latin typeface="Arial"/>
                <a:cs typeface="Arial"/>
              </a:rPr>
              <a:t>Jannati. </a:t>
            </a:r>
            <a:r>
              <a:rPr dirty="0" sz="1200">
                <a:latin typeface="Arial"/>
                <a:cs typeface="Arial"/>
              </a:rPr>
              <a:t>At </a:t>
            </a:r>
            <a:r>
              <a:rPr dirty="0" sz="1200" spc="-5">
                <a:latin typeface="Arial"/>
                <a:cs typeface="Arial"/>
              </a:rPr>
              <a:t>the death of the  prophet </a:t>
            </a:r>
            <a:r>
              <a:rPr dirty="0" sz="1200">
                <a:latin typeface="Arial"/>
                <a:cs typeface="Arial"/>
              </a:rPr>
              <a:t>he </a:t>
            </a:r>
            <a:r>
              <a:rPr dirty="0" sz="1200" spc="-5">
                <a:latin typeface="Arial"/>
                <a:cs typeface="Arial"/>
              </a:rPr>
              <a:t>was </a:t>
            </a:r>
            <a:r>
              <a:rPr dirty="0" sz="1200">
                <a:latin typeface="Arial"/>
                <a:cs typeface="Arial"/>
              </a:rPr>
              <a:t>not </a:t>
            </a:r>
            <a:r>
              <a:rPr dirty="0" sz="1200" spc="-5">
                <a:latin typeface="Arial"/>
                <a:cs typeface="Arial"/>
              </a:rPr>
              <a:t>in his </a:t>
            </a:r>
            <a:r>
              <a:rPr dirty="0" sz="1200">
                <a:latin typeface="Arial"/>
                <a:cs typeface="Arial"/>
              </a:rPr>
              <a:t>natural </a:t>
            </a:r>
            <a:r>
              <a:rPr dirty="0" sz="1200" spc="-5">
                <a:latin typeface="Arial"/>
                <a:cs typeface="Arial"/>
              </a:rPr>
              <a:t>state of mind </a:t>
            </a:r>
            <a:r>
              <a:rPr dirty="0" sz="1200">
                <a:latin typeface="Arial"/>
                <a:cs typeface="Arial"/>
              </a:rPr>
              <a:t>as he </a:t>
            </a:r>
            <a:r>
              <a:rPr dirty="0" sz="1200" spc="-5">
                <a:latin typeface="Arial"/>
                <a:cs typeface="Arial"/>
              </a:rPr>
              <a:t>didn‘t conceive </a:t>
            </a:r>
            <a:r>
              <a:rPr dirty="0" sz="1200">
                <a:latin typeface="Arial"/>
                <a:cs typeface="Arial"/>
              </a:rPr>
              <a:t>and </a:t>
            </a:r>
            <a:r>
              <a:rPr dirty="0" sz="1200" spc="-5">
                <a:latin typeface="Arial"/>
                <a:cs typeface="Arial"/>
              </a:rPr>
              <a:t>accept </a:t>
            </a:r>
            <a:r>
              <a:rPr dirty="0" sz="1200">
                <a:latin typeface="Arial"/>
                <a:cs typeface="Arial"/>
              </a:rPr>
              <a:t>the </a:t>
            </a:r>
            <a:r>
              <a:rPr dirty="0" sz="1200" spc="-5">
                <a:latin typeface="Arial"/>
                <a:cs typeface="Arial"/>
              </a:rPr>
              <a:t>death of  his leader. According </a:t>
            </a:r>
            <a:r>
              <a:rPr dirty="0" sz="1200">
                <a:latin typeface="Arial"/>
                <a:cs typeface="Arial"/>
              </a:rPr>
              <a:t>to </a:t>
            </a:r>
            <a:r>
              <a:rPr dirty="0" sz="1200" spc="-5">
                <a:latin typeface="Arial"/>
                <a:cs typeface="Arial"/>
              </a:rPr>
              <a:t>the holy prophet </a:t>
            </a:r>
            <a:r>
              <a:rPr dirty="0" sz="1200" spc="-10">
                <a:latin typeface="Arial"/>
                <a:cs typeface="Arial"/>
              </a:rPr>
              <a:t>if </a:t>
            </a:r>
            <a:r>
              <a:rPr dirty="0" sz="1200">
                <a:latin typeface="Arial"/>
                <a:cs typeface="Arial"/>
              </a:rPr>
              <a:t>there </a:t>
            </a:r>
            <a:r>
              <a:rPr dirty="0" sz="1200" spc="-5">
                <a:latin typeface="Arial"/>
                <a:cs typeface="Arial"/>
              </a:rPr>
              <a:t>would </a:t>
            </a:r>
            <a:r>
              <a:rPr dirty="0" sz="1200" spc="-10">
                <a:latin typeface="Arial"/>
                <a:cs typeface="Arial"/>
              </a:rPr>
              <a:t>have </a:t>
            </a:r>
            <a:r>
              <a:rPr dirty="0" sz="1200" spc="-5">
                <a:latin typeface="Arial"/>
                <a:cs typeface="Arial"/>
              </a:rPr>
              <a:t>been another prophet after  Muhammad (s.a.w) Hazrat </a:t>
            </a:r>
            <a:r>
              <a:rPr dirty="0" sz="1200">
                <a:latin typeface="Arial"/>
                <a:cs typeface="Arial"/>
              </a:rPr>
              <a:t>umar </a:t>
            </a:r>
            <a:r>
              <a:rPr dirty="0" sz="1200" spc="-5">
                <a:latin typeface="Arial"/>
                <a:cs typeface="Arial"/>
              </a:rPr>
              <a:t>would </a:t>
            </a:r>
            <a:r>
              <a:rPr dirty="0" sz="1200" spc="-10">
                <a:latin typeface="Arial"/>
                <a:cs typeface="Arial"/>
              </a:rPr>
              <a:t>have </a:t>
            </a:r>
            <a:r>
              <a:rPr dirty="0" sz="1200" spc="-5">
                <a:latin typeface="Arial"/>
                <a:cs typeface="Arial"/>
              </a:rPr>
              <a:t>been that last</a:t>
            </a:r>
            <a:r>
              <a:rPr dirty="0" sz="1200" spc="70">
                <a:latin typeface="Arial"/>
                <a:cs typeface="Arial"/>
              </a:rPr>
              <a:t> </a:t>
            </a:r>
            <a:r>
              <a:rPr dirty="0" sz="1200" spc="-5">
                <a:latin typeface="Arial"/>
                <a:cs typeface="Arial"/>
              </a:rPr>
              <a:t>prophet.</a:t>
            </a:r>
            <a:endParaRPr sz="1200">
              <a:latin typeface="Arial"/>
              <a:cs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470916" y="799592"/>
            <a:ext cx="6439535" cy="8887460"/>
          </a:xfrm>
          <a:prstGeom prst="rect">
            <a:avLst/>
          </a:prstGeom>
        </p:spPr>
        <p:txBody>
          <a:bodyPr wrap="square" lIns="0" tIns="12700" rIns="0" bIns="0" rtlCol="0" vert="horz">
            <a:spAutoFit/>
          </a:bodyPr>
          <a:lstStyle/>
          <a:p>
            <a:pPr algn="just" marL="76200">
              <a:lnSpc>
                <a:spcPct val="100000"/>
              </a:lnSpc>
              <a:spcBef>
                <a:spcPts val="100"/>
              </a:spcBef>
            </a:pPr>
            <a:r>
              <a:rPr dirty="0" u="heavy" sz="1200" b="1" i="1">
                <a:uFill>
                  <a:solidFill>
                    <a:srgbClr val="000000"/>
                  </a:solidFill>
                </a:uFill>
                <a:latin typeface="Arial"/>
                <a:cs typeface="Arial"/>
              </a:rPr>
              <a:t>Life of </a:t>
            </a:r>
            <a:r>
              <a:rPr dirty="0" u="heavy" sz="1200" spc="-5" b="1" i="1">
                <a:uFill>
                  <a:solidFill>
                    <a:srgbClr val="000000"/>
                  </a:solidFill>
                </a:uFill>
                <a:latin typeface="Arial"/>
                <a:cs typeface="Arial"/>
              </a:rPr>
              <a:t>Caliphate and</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Achievements</a:t>
            </a:r>
            <a:endParaRPr sz="1200">
              <a:latin typeface="Arial"/>
              <a:cs typeface="Arial"/>
            </a:endParaRPr>
          </a:p>
          <a:p>
            <a:pPr>
              <a:lnSpc>
                <a:spcPct val="100000"/>
              </a:lnSpc>
            </a:pPr>
            <a:endParaRPr sz="1200">
              <a:latin typeface="Arial"/>
              <a:cs typeface="Arial"/>
            </a:endParaRPr>
          </a:p>
          <a:p>
            <a:pPr algn="just" marL="76200" marR="68580">
              <a:lnSpc>
                <a:spcPct val="95800"/>
              </a:lnSpc>
            </a:pPr>
            <a:r>
              <a:rPr dirty="0" sz="1200">
                <a:latin typeface="Arial"/>
                <a:cs typeface="Arial"/>
              </a:rPr>
              <a:t>After </a:t>
            </a:r>
            <a:r>
              <a:rPr dirty="0" sz="1200" spc="-5">
                <a:latin typeface="Arial"/>
                <a:cs typeface="Arial"/>
              </a:rPr>
              <a:t>the death of Hazrat Abu Bakr (r.a), </a:t>
            </a:r>
            <a:r>
              <a:rPr dirty="0" sz="1200" spc="-10">
                <a:latin typeface="Arial"/>
                <a:cs typeface="Arial"/>
              </a:rPr>
              <a:t>Hazrat </a:t>
            </a:r>
            <a:r>
              <a:rPr dirty="0" sz="1200" spc="-5">
                <a:latin typeface="Arial"/>
                <a:cs typeface="Arial"/>
              </a:rPr>
              <a:t>Umar </a:t>
            </a:r>
            <a:r>
              <a:rPr dirty="0" sz="1200" spc="-10">
                <a:latin typeface="Arial"/>
                <a:cs typeface="Arial"/>
              </a:rPr>
              <a:t>was </a:t>
            </a:r>
            <a:r>
              <a:rPr dirty="0" sz="1200" spc="-5">
                <a:latin typeface="Arial"/>
                <a:cs typeface="Arial"/>
              </a:rPr>
              <a:t>chosen as caliph on both the  demand of Abu </a:t>
            </a:r>
            <a:r>
              <a:rPr dirty="0" sz="1200">
                <a:latin typeface="Arial"/>
                <a:cs typeface="Arial"/>
              </a:rPr>
              <a:t>Bakr </a:t>
            </a:r>
            <a:r>
              <a:rPr dirty="0" sz="1200" spc="-5">
                <a:latin typeface="Arial"/>
                <a:cs typeface="Arial"/>
              </a:rPr>
              <a:t>before his death and the consensus of the Ashab. All </a:t>
            </a:r>
            <a:r>
              <a:rPr dirty="0" sz="1200" spc="-10">
                <a:latin typeface="Arial"/>
                <a:cs typeface="Arial"/>
              </a:rPr>
              <a:t>Ashab </a:t>
            </a:r>
            <a:r>
              <a:rPr dirty="0" sz="1200" spc="-5">
                <a:latin typeface="Arial"/>
                <a:cs typeface="Arial"/>
              </a:rPr>
              <a:t>pledged  allegiance to him. He </a:t>
            </a:r>
            <a:r>
              <a:rPr dirty="0" sz="1200" spc="-10">
                <a:latin typeface="Arial"/>
                <a:cs typeface="Arial"/>
              </a:rPr>
              <a:t>was </a:t>
            </a:r>
            <a:r>
              <a:rPr dirty="0" sz="1200">
                <a:latin typeface="Arial"/>
                <a:cs typeface="Arial"/>
              </a:rPr>
              <a:t>thus </a:t>
            </a:r>
            <a:r>
              <a:rPr dirty="0" sz="1200" spc="-5">
                <a:latin typeface="Arial"/>
                <a:cs typeface="Arial"/>
              </a:rPr>
              <a:t>the </a:t>
            </a:r>
            <a:r>
              <a:rPr dirty="0" sz="1200" spc="5">
                <a:latin typeface="Arial"/>
                <a:cs typeface="Arial"/>
              </a:rPr>
              <a:t>2</a:t>
            </a:r>
            <a:r>
              <a:rPr dirty="0" baseline="38194" sz="1200" spc="7">
                <a:latin typeface="Arial"/>
                <a:cs typeface="Arial"/>
              </a:rPr>
              <a:t>nd </a:t>
            </a:r>
            <a:r>
              <a:rPr dirty="0" sz="1200" spc="-5">
                <a:latin typeface="Arial"/>
                <a:cs typeface="Arial"/>
              </a:rPr>
              <a:t>Ameer-ul Mu‘minin. He consolidated the </a:t>
            </a:r>
            <a:r>
              <a:rPr dirty="0" sz="1200" spc="-10">
                <a:latin typeface="Arial"/>
                <a:cs typeface="Arial"/>
              </a:rPr>
              <a:t>Muslim  </a:t>
            </a:r>
            <a:r>
              <a:rPr dirty="0" sz="1200" spc="-5">
                <a:latin typeface="Arial"/>
                <a:cs typeface="Arial"/>
              </a:rPr>
              <a:t>territory with </a:t>
            </a:r>
            <a:r>
              <a:rPr dirty="0" sz="1200">
                <a:latin typeface="Arial"/>
                <a:cs typeface="Arial"/>
              </a:rPr>
              <a:t>the </a:t>
            </a:r>
            <a:r>
              <a:rPr dirty="0" sz="1200" spc="-5">
                <a:latin typeface="Arial"/>
                <a:cs typeface="Arial"/>
              </a:rPr>
              <a:t>creation of boundary </a:t>
            </a:r>
            <a:r>
              <a:rPr dirty="0" sz="1200">
                <a:latin typeface="Arial"/>
                <a:cs typeface="Arial"/>
              </a:rPr>
              <a:t>posts </a:t>
            </a:r>
            <a:r>
              <a:rPr dirty="0" sz="1200" spc="-5">
                <a:latin typeface="Arial"/>
                <a:cs typeface="Arial"/>
              </a:rPr>
              <a:t>and reinforced </a:t>
            </a:r>
            <a:r>
              <a:rPr dirty="0" sz="1200" spc="5">
                <a:latin typeface="Arial"/>
                <a:cs typeface="Arial"/>
              </a:rPr>
              <a:t>army. </a:t>
            </a:r>
            <a:r>
              <a:rPr dirty="0" sz="1200" spc="-5">
                <a:latin typeface="Arial"/>
                <a:cs typeface="Arial"/>
              </a:rPr>
              <a:t>He created </a:t>
            </a:r>
            <a:r>
              <a:rPr dirty="0" sz="1200" spc="-10">
                <a:latin typeface="Arial"/>
                <a:cs typeface="Arial"/>
              </a:rPr>
              <a:t>and  </a:t>
            </a:r>
            <a:r>
              <a:rPr dirty="0" sz="1200" spc="-5">
                <a:latin typeface="Arial"/>
                <a:cs typeface="Arial"/>
              </a:rPr>
              <a:t>consolidated the democratic state. He increased the members of the Majlis Shurah,  consisting </a:t>
            </a:r>
            <a:r>
              <a:rPr dirty="0" sz="1200">
                <a:latin typeface="Arial"/>
                <a:cs typeface="Arial"/>
              </a:rPr>
              <a:t>of </a:t>
            </a:r>
            <a:r>
              <a:rPr dirty="0" sz="1200" spc="-5">
                <a:latin typeface="Arial"/>
                <a:cs typeface="Arial"/>
              </a:rPr>
              <a:t>both Muhajirin and Ansar, </a:t>
            </a:r>
            <a:r>
              <a:rPr dirty="0" sz="1200">
                <a:latin typeface="Arial"/>
                <a:cs typeface="Arial"/>
              </a:rPr>
              <a:t>to </a:t>
            </a:r>
            <a:r>
              <a:rPr dirty="0" sz="1200" spc="-5">
                <a:latin typeface="Arial"/>
                <a:cs typeface="Arial"/>
              </a:rPr>
              <a:t>11. He created a Majlis Aam (more than </a:t>
            </a:r>
            <a:r>
              <a:rPr dirty="0" sz="1200" spc="-10">
                <a:latin typeface="Arial"/>
                <a:cs typeface="Arial"/>
              </a:rPr>
              <a:t>11  </a:t>
            </a:r>
            <a:r>
              <a:rPr dirty="0" sz="1200" spc="-5">
                <a:latin typeface="Arial"/>
                <a:cs typeface="Arial"/>
              </a:rPr>
              <a:t>members </a:t>
            </a:r>
            <a:r>
              <a:rPr dirty="0" sz="1200">
                <a:latin typeface="Arial"/>
                <a:cs typeface="Arial"/>
              </a:rPr>
              <a:t>– </a:t>
            </a:r>
            <a:r>
              <a:rPr dirty="0" sz="1200" spc="-5">
                <a:latin typeface="Arial"/>
                <a:cs typeface="Arial"/>
              </a:rPr>
              <a:t>public sometimes). </a:t>
            </a:r>
            <a:r>
              <a:rPr dirty="0" sz="1200" spc="-10">
                <a:latin typeface="Arial"/>
                <a:cs typeface="Arial"/>
              </a:rPr>
              <a:t>He </a:t>
            </a:r>
            <a:r>
              <a:rPr dirty="0" sz="1200" spc="-5">
                <a:latin typeface="Arial"/>
                <a:cs typeface="Arial"/>
              </a:rPr>
              <a:t>made sure that </a:t>
            </a:r>
            <a:r>
              <a:rPr dirty="0" sz="1200">
                <a:latin typeface="Arial"/>
                <a:cs typeface="Arial"/>
              </a:rPr>
              <a:t>the </a:t>
            </a:r>
            <a:r>
              <a:rPr dirty="0" sz="1200" spc="-5">
                <a:latin typeface="Arial"/>
                <a:cs typeface="Arial"/>
              </a:rPr>
              <a:t>Shari‘ah should </a:t>
            </a:r>
            <a:r>
              <a:rPr dirty="0" sz="1200">
                <a:latin typeface="Arial"/>
                <a:cs typeface="Arial"/>
              </a:rPr>
              <a:t>be </a:t>
            </a:r>
            <a:r>
              <a:rPr dirty="0" sz="1200" spc="-5">
                <a:latin typeface="Arial"/>
                <a:cs typeface="Arial"/>
              </a:rPr>
              <a:t>prevailed. He  divided </a:t>
            </a:r>
            <a:r>
              <a:rPr dirty="0" sz="1200">
                <a:latin typeface="Arial"/>
                <a:cs typeface="Arial"/>
              </a:rPr>
              <a:t>the </a:t>
            </a:r>
            <a:r>
              <a:rPr dirty="0" sz="1200" spc="-5">
                <a:latin typeface="Arial"/>
                <a:cs typeface="Arial"/>
              </a:rPr>
              <a:t>State divided into provinces with each one an Ameer. Each province </a:t>
            </a:r>
            <a:r>
              <a:rPr dirty="0" sz="1200" spc="-10">
                <a:latin typeface="Arial"/>
                <a:cs typeface="Arial"/>
              </a:rPr>
              <a:t>was </a:t>
            </a:r>
            <a:r>
              <a:rPr dirty="0" sz="1200" spc="-5">
                <a:latin typeface="Arial"/>
                <a:cs typeface="Arial"/>
              </a:rPr>
              <a:t>divided  into districts with an Amil. Both Ameer and Amil were called during period of Hajj </a:t>
            </a:r>
            <a:r>
              <a:rPr dirty="0" sz="1200">
                <a:latin typeface="Arial"/>
                <a:cs typeface="Arial"/>
              </a:rPr>
              <a:t>for </a:t>
            </a:r>
            <a:r>
              <a:rPr dirty="0" sz="1200" spc="-5">
                <a:latin typeface="Arial"/>
                <a:cs typeface="Arial"/>
              </a:rPr>
              <a:t>account  of </a:t>
            </a:r>
            <a:r>
              <a:rPr dirty="0" sz="1200">
                <a:latin typeface="Arial"/>
                <a:cs typeface="Arial"/>
              </a:rPr>
              <a:t>financial </a:t>
            </a:r>
            <a:r>
              <a:rPr dirty="0" sz="1200" spc="-5">
                <a:latin typeface="Arial"/>
                <a:cs typeface="Arial"/>
              </a:rPr>
              <a:t>year concerning problems and solutions, achievements and development,  spirituality and morality and everything related </a:t>
            </a:r>
            <a:r>
              <a:rPr dirty="0" sz="1200">
                <a:latin typeface="Arial"/>
                <a:cs typeface="Arial"/>
              </a:rPr>
              <a:t>to </a:t>
            </a:r>
            <a:r>
              <a:rPr dirty="0" sz="1200" spc="-5">
                <a:latin typeface="Arial"/>
                <a:cs typeface="Arial"/>
              </a:rPr>
              <a:t>the spreading </a:t>
            </a:r>
            <a:r>
              <a:rPr dirty="0" sz="1200">
                <a:latin typeface="Arial"/>
                <a:cs typeface="Arial"/>
              </a:rPr>
              <a:t>of Islam. </a:t>
            </a:r>
            <a:r>
              <a:rPr dirty="0" sz="1200" spc="-5">
                <a:latin typeface="Arial"/>
                <a:cs typeface="Arial"/>
              </a:rPr>
              <a:t>He watched the  activities of his officers consciously. </a:t>
            </a:r>
            <a:r>
              <a:rPr dirty="0" sz="1200">
                <a:latin typeface="Arial"/>
                <a:cs typeface="Arial"/>
              </a:rPr>
              <a:t>This </a:t>
            </a:r>
            <a:r>
              <a:rPr dirty="0" sz="1200" spc="-10">
                <a:latin typeface="Arial"/>
                <a:cs typeface="Arial"/>
              </a:rPr>
              <a:t>was </a:t>
            </a:r>
            <a:r>
              <a:rPr dirty="0" sz="1200" spc="-5">
                <a:latin typeface="Arial"/>
                <a:cs typeface="Arial"/>
              </a:rPr>
              <a:t>done </a:t>
            </a:r>
            <a:r>
              <a:rPr dirty="0" sz="1200">
                <a:latin typeface="Arial"/>
                <a:cs typeface="Arial"/>
              </a:rPr>
              <a:t>for </a:t>
            </a:r>
            <a:r>
              <a:rPr dirty="0" sz="1200" spc="-5">
                <a:latin typeface="Arial"/>
                <a:cs typeface="Arial"/>
              </a:rPr>
              <a:t>a better control. He appointed </a:t>
            </a:r>
            <a:r>
              <a:rPr dirty="0" sz="1200" spc="-10">
                <a:latin typeface="Arial"/>
                <a:cs typeface="Arial"/>
              </a:rPr>
              <a:t>Qazi </a:t>
            </a:r>
            <a:r>
              <a:rPr dirty="0" sz="1200">
                <a:latin typeface="Arial"/>
                <a:cs typeface="Arial"/>
              </a:rPr>
              <a:t>–  </a:t>
            </a:r>
            <a:r>
              <a:rPr dirty="0" sz="1200" spc="-5">
                <a:latin typeface="Arial"/>
                <a:cs typeface="Arial"/>
              </a:rPr>
              <a:t>judge </a:t>
            </a:r>
            <a:r>
              <a:rPr dirty="0" sz="1200">
                <a:latin typeface="Arial"/>
                <a:cs typeface="Arial"/>
              </a:rPr>
              <a:t>– for </a:t>
            </a:r>
            <a:r>
              <a:rPr dirty="0" sz="1200" spc="-5">
                <a:latin typeface="Arial"/>
                <a:cs typeface="Arial"/>
              </a:rPr>
              <a:t>courts. </a:t>
            </a:r>
            <a:r>
              <a:rPr dirty="0" sz="1200" spc="-10">
                <a:latin typeface="Arial"/>
                <a:cs typeface="Arial"/>
              </a:rPr>
              <a:t>He </a:t>
            </a:r>
            <a:r>
              <a:rPr dirty="0" sz="1200" spc="-5">
                <a:latin typeface="Arial"/>
                <a:cs typeface="Arial"/>
              </a:rPr>
              <a:t>standardised the Military division, Police department, Educational  department and </a:t>
            </a:r>
            <a:r>
              <a:rPr dirty="0" sz="1200">
                <a:latin typeface="Arial"/>
                <a:cs typeface="Arial"/>
              </a:rPr>
              <a:t>the </a:t>
            </a:r>
            <a:r>
              <a:rPr dirty="0" sz="1200" spc="-5">
                <a:latin typeface="Arial"/>
                <a:cs typeface="Arial"/>
              </a:rPr>
              <a:t>Finance department </a:t>
            </a:r>
            <a:r>
              <a:rPr dirty="0" sz="1200">
                <a:latin typeface="Arial"/>
                <a:cs typeface="Arial"/>
              </a:rPr>
              <a:t>– </a:t>
            </a:r>
            <a:r>
              <a:rPr dirty="0" sz="1200" spc="-10">
                <a:latin typeface="Arial"/>
                <a:cs typeface="Arial"/>
              </a:rPr>
              <a:t>Diwan. </a:t>
            </a:r>
            <a:r>
              <a:rPr dirty="0" sz="1200">
                <a:latin typeface="Arial"/>
                <a:cs typeface="Arial"/>
              </a:rPr>
              <a:t>There </a:t>
            </a:r>
            <a:r>
              <a:rPr dirty="0" sz="1200" spc="-5">
                <a:latin typeface="Arial"/>
                <a:cs typeface="Arial"/>
              </a:rPr>
              <a:t>were </a:t>
            </a:r>
            <a:r>
              <a:rPr dirty="0" sz="1200">
                <a:latin typeface="Arial"/>
                <a:cs typeface="Arial"/>
              </a:rPr>
              <a:t>different </a:t>
            </a:r>
            <a:r>
              <a:rPr dirty="0" sz="1200" spc="-5">
                <a:latin typeface="Arial"/>
                <a:cs typeface="Arial"/>
              </a:rPr>
              <a:t>sources of </a:t>
            </a:r>
            <a:r>
              <a:rPr dirty="0" sz="1200" spc="-10">
                <a:latin typeface="Arial"/>
                <a:cs typeface="Arial"/>
              </a:rPr>
              <a:t>revenue  </a:t>
            </a:r>
            <a:r>
              <a:rPr dirty="0" sz="1200" spc="-5">
                <a:latin typeface="Arial"/>
                <a:cs typeface="Arial"/>
              </a:rPr>
              <a:t>such as Jizya (poll tax), zakaat, kharaj (spoils </a:t>
            </a:r>
            <a:r>
              <a:rPr dirty="0" sz="1200">
                <a:latin typeface="Arial"/>
                <a:cs typeface="Arial"/>
              </a:rPr>
              <a:t>of </a:t>
            </a:r>
            <a:r>
              <a:rPr dirty="0" sz="1200" spc="-5">
                <a:latin typeface="Arial"/>
                <a:cs typeface="Arial"/>
              </a:rPr>
              <a:t>war), </a:t>
            </a:r>
            <a:r>
              <a:rPr dirty="0" sz="1200">
                <a:latin typeface="Arial"/>
                <a:cs typeface="Arial"/>
              </a:rPr>
              <a:t>fay </a:t>
            </a:r>
            <a:r>
              <a:rPr dirty="0" sz="1200" spc="-5">
                <a:latin typeface="Arial"/>
                <a:cs typeface="Arial"/>
              </a:rPr>
              <a:t>(income from crown </a:t>
            </a:r>
            <a:r>
              <a:rPr dirty="0" sz="1200">
                <a:latin typeface="Arial"/>
                <a:cs typeface="Arial"/>
              </a:rPr>
              <a:t>lands) </a:t>
            </a:r>
            <a:r>
              <a:rPr dirty="0" sz="1200" spc="-5">
                <a:latin typeface="Arial"/>
                <a:cs typeface="Arial"/>
              </a:rPr>
              <a:t>and  ushr (1/10 of produce). All </a:t>
            </a:r>
            <a:r>
              <a:rPr dirty="0" sz="1200">
                <a:latin typeface="Arial"/>
                <a:cs typeface="Arial"/>
              </a:rPr>
              <a:t>these </a:t>
            </a:r>
            <a:r>
              <a:rPr dirty="0" sz="1200" spc="-5">
                <a:latin typeface="Arial"/>
                <a:cs typeface="Arial"/>
              </a:rPr>
              <a:t>were meant </a:t>
            </a:r>
            <a:r>
              <a:rPr dirty="0" sz="1200">
                <a:latin typeface="Arial"/>
                <a:cs typeface="Arial"/>
              </a:rPr>
              <a:t>for </a:t>
            </a:r>
            <a:r>
              <a:rPr dirty="0" sz="1200" spc="-5">
                <a:latin typeface="Arial"/>
                <a:cs typeface="Arial"/>
              </a:rPr>
              <a:t>funding </a:t>
            </a:r>
            <a:r>
              <a:rPr dirty="0" sz="1200">
                <a:latin typeface="Arial"/>
                <a:cs typeface="Arial"/>
              </a:rPr>
              <a:t>the </a:t>
            </a:r>
            <a:r>
              <a:rPr dirty="0" sz="1200" spc="-5">
                <a:latin typeface="Arial"/>
                <a:cs typeface="Arial"/>
              </a:rPr>
              <a:t>Baitul Maal (public treasury). He  had a well-disciplined army and considered the welfare of soldiers, both Muslims and </a:t>
            </a:r>
            <a:r>
              <a:rPr dirty="0" sz="1200" spc="-10">
                <a:latin typeface="Arial"/>
                <a:cs typeface="Arial"/>
              </a:rPr>
              <a:t>non-  </a:t>
            </a:r>
            <a:r>
              <a:rPr dirty="0" sz="1200" spc="-5">
                <a:latin typeface="Arial"/>
                <a:cs typeface="Arial"/>
              </a:rPr>
              <a:t>Muslims. He dedicated great deal of </a:t>
            </a:r>
            <a:r>
              <a:rPr dirty="0" sz="1200">
                <a:latin typeface="Arial"/>
                <a:cs typeface="Arial"/>
              </a:rPr>
              <a:t>time to </a:t>
            </a:r>
            <a:r>
              <a:rPr dirty="0" sz="1200" spc="-5">
                <a:latin typeface="Arial"/>
                <a:cs typeface="Arial"/>
              </a:rPr>
              <a:t>religious affairs and </a:t>
            </a:r>
            <a:r>
              <a:rPr dirty="0" sz="1200" spc="-10">
                <a:latin typeface="Arial"/>
                <a:cs typeface="Arial"/>
              </a:rPr>
              <a:t>he </a:t>
            </a:r>
            <a:r>
              <a:rPr dirty="0" sz="1200" spc="-5">
                <a:latin typeface="Arial"/>
                <a:cs typeface="Arial"/>
              </a:rPr>
              <a:t>spiritualised the </a:t>
            </a:r>
            <a:r>
              <a:rPr dirty="0" sz="1200" spc="-10">
                <a:latin typeface="Arial"/>
                <a:cs typeface="Arial"/>
              </a:rPr>
              <a:t>whole  </a:t>
            </a:r>
            <a:r>
              <a:rPr dirty="0" sz="1200">
                <a:latin typeface="Arial"/>
                <a:cs typeface="Arial"/>
              </a:rPr>
              <a:t>state. </a:t>
            </a:r>
            <a:r>
              <a:rPr dirty="0" sz="1200" spc="-5">
                <a:latin typeface="Arial"/>
                <a:cs typeface="Arial"/>
              </a:rPr>
              <a:t>He conquered and consolidated the </a:t>
            </a:r>
            <a:r>
              <a:rPr dirty="0" sz="1200">
                <a:latin typeface="Arial"/>
                <a:cs typeface="Arial"/>
              </a:rPr>
              <a:t>whole </a:t>
            </a:r>
            <a:r>
              <a:rPr dirty="0" sz="1200" spc="-5">
                <a:latin typeface="Arial"/>
                <a:cs typeface="Arial"/>
              </a:rPr>
              <a:t>of Persia </a:t>
            </a:r>
            <a:r>
              <a:rPr dirty="0" sz="1200">
                <a:latin typeface="Arial"/>
                <a:cs typeface="Arial"/>
              </a:rPr>
              <a:t>at </a:t>
            </a:r>
            <a:r>
              <a:rPr dirty="0" sz="1200" spc="-5">
                <a:latin typeface="Arial"/>
                <a:cs typeface="Arial"/>
              </a:rPr>
              <a:t>Namarraq, Jasra and </a:t>
            </a:r>
            <a:r>
              <a:rPr dirty="0" sz="1200" spc="-10">
                <a:latin typeface="Arial"/>
                <a:cs typeface="Arial"/>
              </a:rPr>
              <a:t>Buwaid  </a:t>
            </a:r>
            <a:r>
              <a:rPr dirty="0" sz="1200" spc="-5">
                <a:latin typeface="Arial"/>
                <a:cs typeface="Arial"/>
              </a:rPr>
              <a:t>where Christians </a:t>
            </a:r>
            <a:r>
              <a:rPr dirty="0" sz="1200">
                <a:latin typeface="Arial"/>
                <a:cs typeface="Arial"/>
              </a:rPr>
              <a:t>helped the </a:t>
            </a:r>
            <a:r>
              <a:rPr dirty="0" sz="1200" spc="-5">
                <a:latin typeface="Arial"/>
                <a:cs typeface="Arial"/>
              </a:rPr>
              <a:t>Muslims. He conquered Madain, Jalula, Nahawand, Jerusalem,  Yarmuk in </a:t>
            </a:r>
            <a:r>
              <a:rPr dirty="0" sz="1200" spc="-10">
                <a:latin typeface="Arial"/>
                <a:cs typeface="Arial"/>
              </a:rPr>
              <a:t>Syria </a:t>
            </a:r>
            <a:r>
              <a:rPr dirty="0" sz="1200" spc="-5">
                <a:latin typeface="Arial"/>
                <a:cs typeface="Arial"/>
              </a:rPr>
              <a:t>and Egypt. He crushed the</a:t>
            </a:r>
            <a:r>
              <a:rPr dirty="0" sz="1200" spc="30">
                <a:latin typeface="Arial"/>
                <a:cs typeface="Arial"/>
              </a:rPr>
              <a:t> </a:t>
            </a:r>
            <a:r>
              <a:rPr dirty="0" sz="1200" spc="-5">
                <a:latin typeface="Arial"/>
                <a:cs typeface="Arial"/>
              </a:rPr>
              <a:t>Byzantines.</a:t>
            </a:r>
            <a:endParaRPr sz="1200">
              <a:latin typeface="Arial"/>
              <a:cs typeface="Arial"/>
            </a:endParaRPr>
          </a:p>
          <a:p>
            <a:pPr>
              <a:lnSpc>
                <a:spcPct val="100000"/>
              </a:lnSpc>
            </a:pPr>
            <a:endParaRPr sz="1150">
              <a:latin typeface="Arial"/>
              <a:cs typeface="Arial"/>
            </a:endParaRPr>
          </a:p>
          <a:p>
            <a:pPr algn="just" marL="76200">
              <a:lnSpc>
                <a:spcPct val="100000"/>
              </a:lnSpc>
            </a:pPr>
            <a:r>
              <a:rPr dirty="0" u="heavy" sz="1200" b="1" i="1">
                <a:uFill>
                  <a:solidFill>
                    <a:srgbClr val="000000"/>
                  </a:solidFill>
                </a:uFill>
                <a:latin typeface="Arial"/>
                <a:cs typeface="Arial"/>
              </a:rPr>
              <a:t>Death of </a:t>
            </a:r>
            <a:r>
              <a:rPr dirty="0" u="heavy" sz="1200" spc="-5" b="1" i="1">
                <a:uFill>
                  <a:solidFill>
                    <a:srgbClr val="000000"/>
                  </a:solidFill>
                </a:uFill>
                <a:latin typeface="Arial"/>
                <a:cs typeface="Arial"/>
              </a:rPr>
              <a:t>Hazrat Umar</a:t>
            </a:r>
            <a:r>
              <a:rPr dirty="0" u="heavy" sz="1200" spc="-15" b="1" i="1">
                <a:uFill>
                  <a:solidFill>
                    <a:srgbClr val="000000"/>
                  </a:solidFill>
                </a:uFill>
                <a:latin typeface="Arial"/>
                <a:cs typeface="Arial"/>
              </a:rPr>
              <a:t> </a:t>
            </a:r>
            <a:r>
              <a:rPr dirty="0" u="heavy" sz="1200" b="1" i="1">
                <a:uFill>
                  <a:solidFill>
                    <a:srgbClr val="000000"/>
                  </a:solidFill>
                </a:uFill>
                <a:latin typeface="Arial"/>
                <a:cs typeface="Arial"/>
              </a:rPr>
              <a:t>(r.a)</a:t>
            </a:r>
            <a:endParaRPr sz="1200">
              <a:latin typeface="Arial"/>
              <a:cs typeface="Arial"/>
            </a:endParaRPr>
          </a:p>
          <a:p>
            <a:pPr>
              <a:lnSpc>
                <a:spcPct val="100000"/>
              </a:lnSpc>
              <a:spcBef>
                <a:spcPts val="30"/>
              </a:spcBef>
            </a:pPr>
            <a:endParaRPr sz="1650">
              <a:latin typeface="Arial"/>
              <a:cs typeface="Arial"/>
            </a:endParaRPr>
          </a:p>
          <a:p>
            <a:pPr marL="76200" marR="69215">
              <a:lnSpc>
                <a:spcPts val="1370"/>
              </a:lnSpc>
            </a:pPr>
            <a:r>
              <a:rPr dirty="0" sz="1200" spc="-5">
                <a:latin typeface="Arial"/>
                <a:cs typeface="Arial"/>
              </a:rPr>
              <a:t>There lived in Medina a Persian slave, Abu Loulou Firoz by name. </a:t>
            </a:r>
            <a:r>
              <a:rPr dirty="0" sz="1200">
                <a:latin typeface="Arial"/>
                <a:cs typeface="Arial"/>
              </a:rPr>
              <a:t>One </a:t>
            </a:r>
            <a:r>
              <a:rPr dirty="0" sz="1200" spc="-5">
                <a:latin typeface="Arial"/>
                <a:cs typeface="Arial"/>
              </a:rPr>
              <a:t>day, he came </a:t>
            </a:r>
            <a:r>
              <a:rPr dirty="0" sz="1200">
                <a:latin typeface="Arial"/>
                <a:cs typeface="Arial"/>
              </a:rPr>
              <a:t>to </a:t>
            </a:r>
            <a:r>
              <a:rPr dirty="0" sz="1200" spc="-5">
                <a:latin typeface="Arial"/>
                <a:cs typeface="Arial"/>
              </a:rPr>
              <a:t>the  Calpih and said, "My master squeezes too heavy a </a:t>
            </a:r>
            <a:r>
              <a:rPr dirty="0" sz="1200">
                <a:latin typeface="Arial"/>
                <a:cs typeface="Arial"/>
              </a:rPr>
              <a:t>tax out </a:t>
            </a:r>
            <a:r>
              <a:rPr dirty="0" sz="1200" spc="-5">
                <a:latin typeface="Arial"/>
                <a:cs typeface="Arial"/>
              </a:rPr>
              <a:t>of me. Please get </a:t>
            </a:r>
            <a:r>
              <a:rPr dirty="0" sz="1200">
                <a:latin typeface="Arial"/>
                <a:cs typeface="Arial"/>
              </a:rPr>
              <a:t>it</a:t>
            </a:r>
            <a:r>
              <a:rPr dirty="0" sz="1200" spc="70">
                <a:latin typeface="Arial"/>
                <a:cs typeface="Arial"/>
              </a:rPr>
              <a:t> </a:t>
            </a:r>
            <a:r>
              <a:rPr dirty="0" sz="1200" spc="-5">
                <a:latin typeface="Arial"/>
                <a:cs typeface="Arial"/>
              </a:rPr>
              <a:t>reduced."</a:t>
            </a:r>
            <a:endParaRPr sz="1200">
              <a:latin typeface="Arial"/>
              <a:cs typeface="Arial"/>
            </a:endParaRPr>
          </a:p>
          <a:p>
            <a:pPr marL="76200" marR="3724275">
              <a:lnSpc>
                <a:spcPts val="2380"/>
              </a:lnSpc>
              <a:spcBef>
                <a:spcPts val="210"/>
              </a:spcBef>
            </a:pPr>
            <a:r>
              <a:rPr dirty="0" sz="1200" spc="-5">
                <a:latin typeface="Arial"/>
                <a:cs typeface="Arial"/>
              </a:rPr>
              <a:t>"How </a:t>
            </a:r>
            <a:r>
              <a:rPr dirty="0" sz="1200">
                <a:latin typeface="Arial"/>
                <a:cs typeface="Arial"/>
              </a:rPr>
              <a:t>much </a:t>
            </a:r>
            <a:r>
              <a:rPr dirty="0" sz="1200" spc="-5">
                <a:latin typeface="Arial"/>
                <a:cs typeface="Arial"/>
              </a:rPr>
              <a:t>is </a:t>
            </a:r>
            <a:r>
              <a:rPr dirty="0" sz="1200">
                <a:latin typeface="Arial"/>
                <a:cs typeface="Arial"/>
              </a:rPr>
              <a:t>the </a:t>
            </a:r>
            <a:r>
              <a:rPr dirty="0" sz="1200" spc="-5">
                <a:latin typeface="Arial"/>
                <a:cs typeface="Arial"/>
              </a:rPr>
              <a:t>tax?" asked Umar.  "Two dirhams a day," replied </a:t>
            </a:r>
            <a:r>
              <a:rPr dirty="0" sz="1200">
                <a:latin typeface="Arial"/>
                <a:cs typeface="Arial"/>
              </a:rPr>
              <a:t>the</a:t>
            </a:r>
            <a:r>
              <a:rPr dirty="0" sz="1200" spc="20">
                <a:latin typeface="Arial"/>
                <a:cs typeface="Arial"/>
              </a:rPr>
              <a:t> </a:t>
            </a:r>
            <a:r>
              <a:rPr dirty="0" sz="1200" spc="-10">
                <a:latin typeface="Arial"/>
                <a:cs typeface="Arial"/>
              </a:rPr>
              <a:t>slave.</a:t>
            </a:r>
            <a:endParaRPr sz="1200">
              <a:latin typeface="Arial"/>
              <a:cs typeface="Arial"/>
            </a:endParaRPr>
          </a:p>
          <a:p>
            <a:pPr marL="76200" marR="1597660">
              <a:lnSpc>
                <a:spcPts val="2380"/>
              </a:lnSpc>
              <a:spcBef>
                <a:spcPts val="5"/>
              </a:spcBef>
            </a:pPr>
            <a:r>
              <a:rPr dirty="0" sz="1200" spc="-5">
                <a:latin typeface="Arial"/>
                <a:cs typeface="Arial"/>
              </a:rPr>
              <a:t>"And what skills do </a:t>
            </a:r>
            <a:r>
              <a:rPr dirty="0" sz="1200" spc="-10">
                <a:latin typeface="Arial"/>
                <a:cs typeface="Arial"/>
              </a:rPr>
              <a:t>you </a:t>
            </a:r>
            <a:r>
              <a:rPr dirty="0" sz="1200" spc="-5">
                <a:latin typeface="Arial"/>
                <a:cs typeface="Arial"/>
              </a:rPr>
              <a:t>possess?" </a:t>
            </a:r>
            <a:r>
              <a:rPr dirty="0" sz="1200" spc="-10">
                <a:latin typeface="Arial"/>
                <a:cs typeface="Arial"/>
              </a:rPr>
              <a:t>was </a:t>
            </a:r>
            <a:r>
              <a:rPr dirty="0" sz="1200" spc="-5">
                <a:latin typeface="Arial"/>
                <a:cs typeface="Arial"/>
              </a:rPr>
              <a:t>the </a:t>
            </a:r>
            <a:r>
              <a:rPr dirty="0" sz="1200" spc="-10">
                <a:latin typeface="Arial"/>
                <a:cs typeface="Arial"/>
              </a:rPr>
              <a:t>next </a:t>
            </a:r>
            <a:r>
              <a:rPr dirty="0" sz="1200" spc="-5">
                <a:latin typeface="Arial"/>
                <a:cs typeface="Arial"/>
              </a:rPr>
              <a:t>question of the Caliph.  </a:t>
            </a:r>
            <a:r>
              <a:rPr dirty="0" sz="1200">
                <a:latin typeface="Arial"/>
                <a:cs typeface="Arial"/>
              </a:rPr>
              <a:t>"I </a:t>
            </a:r>
            <a:r>
              <a:rPr dirty="0" sz="1200" spc="-10">
                <a:latin typeface="Arial"/>
                <a:cs typeface="Arial"/>
              </a:rPr>
              <a:t>am </a:t>
            </a:r>
            <a:r>
              <a:rPr dirty="0" sz="1200" spc="-5">
                <a:latin typeface="Arial"/>
                <a:cs typeface="Arial"/>
              </a:rPr>
              <a:t>a carpenter, a painter, and a black-smith," Firoz</a:t>
            </a:r>
            <a:r>
              <a:rPr dirty="0" sz="1200" spc="40">
                <a:latin typeface="Arial"/>
                <a:cs typeface="Arial"/>
              </a:rPr>
              <a:t> </a:t>
            </a:r>
            <a:r>
              <a:rPr dirty="0" sz="1200">
                <a:latin typeface="Arial"/>
                <a:cs typeface="Arial"/>
              </a:rPr>
              <a:t>said.</a:t>
            </a:r>
            <a:endParaRPr sz="1200">
              <a:latin typeface="Arial"/>
              <a:cs typeface="Arial"/>
            </a:endParaRPr>
          </a:p>
          <a:p>
            <a:pPr marL="76200" marR="77470">
              <a:lnSpc>
                <a:spcPts val="1380"/>
              </a:lnSpc>
              <a:spcBef>
                <a:spcPts val="790"/>
              </a:spcBef>
            </a:pPr>
            <a:r>
              <a:rPr dirty="0" sz="1200" spc="-5">
                <a:latin typeface="Arial"/>
                <a:cs typeface="Arial"/>
              </a:rPr>
              <a:t>"Then </a:t>
            </a:r>
            <a:r>
              <a:rPr dirty="0" sz="1200">
                <a:latin typeface="Arial"/>
                <a:cs typeface="Arial"/>
              </a:rPr>
              <a:t>the tax </a:t>
            </a:r>
            <a:r>
              <a:rPr dirty="0" sz="1200" spc="-5">
                <a:latin typeface="Arial"/>
                <a:cs typeface="Arial"/>
              </a:rPr>
              <a:t>is by no means </a:t>
            </a:r>
            <a:r>
              <a:rPr dirty="0" sz="1200">
                <a:latin typeface="Arial"/>
                <a:cs typeface="Arial"/>
              </a:rPr>
              <a:t>too </a:t>
            </a:r>
            <a:r>
              <a:rPr dirty="0" sz="1200" spc="-5">
                <a:latin typeface="Arial"/>
                <a:cs typeface="Arial"/>
              </a:rPr>
              <a:t>heavy," </a:t>
            </a:r>
            <a:r>
              <a:rPr dirty="0" sz="1200">
                <a:latin typeface="Arial"/>
                <a:cs typeface="Arial"/>
              </a:rPr>
              <a:t>the </a:t>
            </a:r>
            <a:r>
              <a:rPr dirty="0" sz="1200" spc="-5">
                <a:latin typeface="Arial"/>
                <a:cs typeface="Arial"/>
              </a:rPr>
              <a:t>Calpih remarked. </a:t>
            </a:r>
            <a:r>
              <a:rPr dirty="0" sz="1200">
                <a:latin typeface="Arial"/>
                <a:cs typeface="Arial"/>
              </a:rPr>
              <a:t>"A </a:t>
            </a:r>
            <a:r>
              <a:rPr dirty="0" sz="1200" spc="-5">
                <a:latin typeface="Arial"/>
                <a:cs typeface="Arial"/>
              </a:rPr>
              <a:t>person with your skills </a:t>
            </a:r>
            <a:r>
              <a:rPr dirty="0" sz="1200">
                <a:latin typeface="Arial"/>
                <a:cs typeface="Arial"/>
              </a:rPr>
              <a:t>can  </a:t>
            </a:r>
            <a:r>
              <a:rPr dirty="0" sz="1200" spc="-5">
                <a:latin typeface="Arial"/>
                <a:cs typeface="Arial"/>
              </a:rPr>
              <a:t>easy </a:t>
            </a:r>
            <a:r>
              <a:rPr dirty="0" sz="1200">
                <a:latin typeface="Arial"/>
                <a:cs typeface="Arial"/>
              </a:rPr>
              <a:t>pay </a:t>
            </a:r>
            <a:r>
              <a:rPr dirty="0" sz="1200" spc="-5">
                <a:latin typeface="Arial"/>
                <a:cs typeface="Arial"/>
              </a:rPr>
              <a:t>this </a:t>
            </a:r>
            <a:r>
              <a:rPr dirty="0" sz="1200">
                <a:latin typeface="Arial"/>
                <a:cs typeface="Arial"/>
              </a:rPr>
              <a:t>tax and </a:t>
            </a:r>
            <a:r>
              <a:rPr dirty="0" sz="1200" spc="-5">
                <a:latin typeface="Arial"/>
                <a:cs typeface="Arial"/>
              </a:rPr>
              <a:t>shall live</a:t>
            </a:r>
            <a:r>
              <a:rPr dirty="0" sz="1200" spc="-45">
                <a:latin typeface="Arial"/>
                <a:cs typeface="Arial"/>
              </a:rPr>
              <a:t> </a:t>
            </a:r>
            <a:r>
              <a:rPr dirty="0" sz="1200" spc="-5">
                <a:latin typeface="Arial"/>
                <a:cs typeface="Arial"/>
              </a:rPr>
              <a:t>comfortably."</a:t>
            </a:r>
            <a:endParaRPr sz="1200">
              <a:latin typeface="Arial"/>
              <a:cs typeface="Arial"/>
            </a:endParaRPr>
          </a:p>
          <a:p>
            <a:pPr marL="76200" marR="1875789">
              <a:lnSpc>
                <a:spcPts val="2380"/>
              </a:lnSpc>
              <a:spcBef>
                <a:spcPts val="210"/>
              </a:spcBef>
            </a:pPr>
            <a:r>
              <a:rPr dirty="0" sz="1200" spc="-5">
                <a:latin typeface="Arial"/>
                <a:cs typeface="Arial"/>
              </a:rPr>
              <a:t>"All right, </a:t>
            </a:r>
            <a:r>
              <a:rPr dirty="0" sz="1200">
                <a:latin typeface="Arial"/>
                <a:cs typeface="Arial"/>
              </a:rPr>
              <a:t>I </a:t>
            </a:r>
            <a:r>
              <a:rPr dirty="0" sz="1200" spc="-10">
                <a:latin typeface="Arial"/>
                <a:cs typeface="Arial"/>
              </a:rPr>
              <a:t>will </a:t>
            </a:r>
            <a:r>
              <a:rPr dirty="0" sz="1200">
                <a:latin typeface="Arial"/>
                <a:cs typeface="Arial"/>
              </a:rPr>
              <a:t>settle </a:t>
            </a:r>
            <a:r>
              <a:rPr dirty="0" sz="1200" spc="-5">
                <a:latin typeface="Arial"/>
                <a:cs typeface="Arial"/>
              </a:rPr>
              <a:t>with you," grunted the slave </a:t>
            </a:r>
            <a:r>
              <a:rPr dirty="0" sz="1200">
                <a:latin typeface="Arial"/>
                <a:cs typeface="Arial"/>
              </a:rPr>
              <a:t>as he </a:t>
            </a:r>
            <a:r>
              <a:rPr dirty="0" sz="1200" spc="-5">
                <a:latin typeface="Arial"/>
                <a:cs typeface="Arial"/>
              </a:rPr>
              <a:t>went </a:t>
            </a:r>
            <a:r>
              <a:rPr dirty="0" sz="1200" spc="-10">
                <a:latin typeface="Arial"/>
                <a:cs typeface="Arial"/>
              </a:rPr>
              <a:t>away.  </a:t>
            </a:r>
            <a:r>
              <a:rPr dirty="0" sz="1200" spc="-5">
                <a:latin typeface="Arial"/>
                <a:cs typeface="Arial"/>
              </a:rPr>
              <a:t>Umar took no notice of </a:t>
            </a:r>
            <a:r>
              <a:rPr dirty="0" sz="1200">
                <a:latin typeface="Arial"/>
                <a:cs typeface="Arial"/>
              </a:rPr>
              <a:t>the</a:t>
            </a:r>
            <a:r>
              <a:rPr dirty="0" sz="1200" spc="10">
                <a:latin typeface="Arial"/>
                <a:cs typeface="Arial"/>
              </a:rPr>
              <a:t> </a:t>
            </a:r>
            <a:r>
              <a:rPr dirty="0" sz="1200" spc="-5">
                <a:latin typeface="Arial"/>
                <a:cs typeface="Arial"/>
              </a:rPr>
              <a:t>words.</a:t>
            </a:r>
            <a:endParaRPr sz="1200">
              <a:latin typeface="Arial"/>
              <a:cs typeface="Arial"/>
            </a:endParaRPr>
          </a:p>
          <a:p>
            <a:pPr algn="just" marL="76200">
              <a:lnSpc>
                <a:spcPct val="100000"/>
              </a:lnSpc>
              <a:spcBef>
                <a:spcPts val="695"/>
              </a:spcBef>
            </a:pPr>
            <a:r>
              <a:rPr dirty="0" sz="1200">
                <a:latin typeface="Arial"/>
                <a:cs typeface="Arial"/>
              </a:rPr>
              <a:t>"I </a:t>
            </a:r>
            <a:r>
              <a:rPr dirty="0" sz="1200" spc="-10">
                <a:latin typeface="Arial"/>
                <a:cs typeface="Arial"/>
              </a:rPr>
              <a:t>have </a:t>
            </a:r>
            <a:r>
              <a:rPr dirty="0" sz="1200" spc="-5">
                <a:latin typeface="Arial"/>
                <a:cs typeface="Arial"/>
              </a:rPr>
              <a:t>been rebuked by a slave." </a:t>
            </a:r>
            <a:r>
              <a:rPr dirty="0" sz="1200">
                <a:latin typeface="Arial"/>
                <a:cs typeface="Arial"/>
              </a:rPr>
              <a:t>he </a:t>
            </a:r>
            <a:r>
              <a:rPr dirty="0" sz="1200" spc="-5">
                <a:latin typeface="Arial"/>
                <a:cs typeface="Arial"/>
              </a:rPr>
              <a:t>remarked with a</a:t>
            </a:r>
            <a:r>
              <a:rPr dirty="0" sz="1200" spc="35">
                <a:latin typeface="Arial"/>
                <a:cs typeface="Arial"/>
              </a:rPr>
              <a:t> </a:t>
            </a:r>
            <a:r>
              <a:rPr dirty="0" sz="1200" spc="-5">
                <a:latin typeface="Arial"/>
                <a:cs typeface="Arial"/>
              </a:rPr>
              <a:t>smile.</a:t>
            </a:r>
            <a:endParaRPr sz="1200">
              <a:latin typeface="Arial"/>
              <a:cs typeface="Arial"/>
            </a:endParaRPr>
          </a:p>
          <a:p>
            <a:pPr algn="just" marL="76200" marR="71120">
              <a:lnSpc>
                <a:spcPts val="1380"/>
              </a:lnSpc>
              <a:spcBef>
                <a:spcPts val="530"/>
              </a:spcBef>
            </a:pPr>
            <a:r>
              <a:rPr dirty="0" sz="1200" spc="-5">
                <a:latin typeface="Arial"/>
                <a:cs typeface="Arial"/>
              </a:rPr>
              <a:t>Early next </a:t>
            </a:r>
            <a:r>
              <a:rPr dirty="0" sz="1200">
                <a:latin typeface="Arial"/>
                <a:cs typeface="Arial"/>
              </a:rPr>
              <a:t>morning </a:t>
            </a:r>
            <a:r>
              <a:rPr dirty="0" sz="1200" spc="-5">
                <a:latin typeface="Arial"/>
                <a:cs typeface="Arial"/>
              </a:rPr>
              <a:t>Umar went to the mosque as usual </a:t>
            </a:r>
            <a:r>
              <a:rPr dirty="0" sz="1200">
                <a:latin typeface="Arial"/>
                <a:cs typeface="Arial"/>
              </a:rPr>
              <a:t>to </a:t>
            </a:r>
            <a:r>
              <a:rPr dirty="0" sz="1200" spc="-5">
                <a:latin typeface="Arial"/>
                <a:cs typeface="Arial"/>
              </a:rPr>
              <a:t>lead </a:t>
            </a:r>
            <a:r>
              <a:rPr dirty="0" sz="1200">
                <a:latin typeface="Arial"/>
                <a:cs typeface="Arial"/>
              </a:rPr>
              <a:t>the </a:t>
            </a:r>
            <a:r>
              <a:rPr dirty="0" sz="1200" spc="-5">
                <a:latin typeface="Arial"/>
                <a:cs typeface="Arial"/>
              </a:rPr>
              <a:t>prayer. Abu Lolo </a:t>
            </a:r>
            <a:r>
              <a:rPr dirty="0" sz="1200" spc="-10">
                <a:latin typeface="Arial"/>
                <a:cs typeface="Arial"/>
              </a:rPr>
              <a:t>was  </a:t>
            </a:r>
            <a:r>
              <a:rPr dirty="0" sz="1200" spc="-5">
                <a:latin typeface="Arial"/>
                <a:cs typeface="Arial"/>
              </a:rPr>
              <a:t>already hiding in </a:t>
            </a:r>
            <a:r>
              <a:rPr dirty="0" sz="1200">
                <a:latin typeface="Arial"/>
                <a:cs typeface="Arial"/>
              </a:rPr>
              <a:t>the </a:t>
            </a:r>
            <a:r>
              <a:rPr dirty="0" sz="1200" spc="-5">
                <a:latin typeface="Arial"/>
                <a:cs typeface="Arial"/>
              </a:rPr>
              <a:t>corner, with a dagger in hand. </a:t>
            </a:r>
            <a:r>
              <a:rPr dirty="0" sz="1200">
                <a:latin typeface="Arial"/>
                <a:cs typeface="Arial"/>
              </a:rPr>
              <a:t>As </a:t>
            </a:r>
            <a:r>
              <a:rPr dirty="0" sz="1200" spc="-5">
                <a:latin typeface="Arial"/>
                <a:cs typeface="Arial"/>
              </a:rPr>
              <a:t>soon as Umar began the prayer, the  slave jumped on </a:t>
            </a:r>
            <a:r>
              <a:rPr dirty="0" sz="1200">
                <a:latin typeface="Arial"/>
                <a:cs typeface="Arial"/>
              </a:rPr>
              <a:t>him. </a:t>
            </a:r>
            <a:r>
              <a:rPr dirty="0" sz="1200" spc="-5">
                <a:latin typeface="Arial"/>
                <a:cs typeface="Arial"/>
              </a:rPr>
              <a:t>He </a:t>
            </a:r>
            <a:r>
              <a:rPr dirty="0" sz="1200" spc="-10">
                <a:latin typeface="Arial"/>
                <a:cs typeface="Arial"/>
              </a:rPr>
              <a:t>gave </a:t>
            </a:r>
            <a:r>
              <a:rPr dirty="0" sz="1200" spc="-5">
                <a:latin typeface="Arial"/>
                <a:cs typeface="Arial"/>
              </a:rPr>
              <a:t>six </a:t>
            </a:r>
            <a:r>
              <a:rPr dirty="0" sz="1200">
                <a:latin typeface="Arial"/>
                <a:cs typeface="Arial"/>
              </a:rPr>
              <a:t>cuts </a:t>
            </a:r>
            <a:r>
              <a:rPr dirty="0" sz="1200" spc="-5">
                <a:latin typeface="Arial"/>
                <a:cs typeface="Arial"/>
              </a:rPr>
              <a:t>with </a:t>
            </a:r>
            <a:r>
              <a:rPr dirty="0" sz="1200">
                <a:latin typeface="Arial"/>
                <a:cs typeface="Arial"/>
              </a:rPr>
              <a:t>the </a:t>
            </a:r>
            <a:r>
              <a:rPr dirty="0" sz="1200" spc="-5">
                <a:latin typeface="Arial"/>
                <a:cs typeface="Arial"/>
              </a:rPr>
              <a:t>dagger on </a:t>
            </a:r>
            <a:r>
              <a:rPr dirty="0" sz="1200">
                <a:latin typeface="Arial"/>
                <a:cs typeface="Arial"/>
              </a:rPr>
              <a:t>the </a:t>
            </a:r>
            <a:r>
              <a:rPr dirty="0" sz="1200" spc="-5">
                <a:latin typeface="Arial"/>
                <a:cs typeface="Arial"/>
              </a:rPr>
              <a:t>Caliph's </a:t>
            </a:r>
            <a:r>
              <a:rPr dirty="0" sz="1200" spc="-10">
                <a:latin typeface="Arial"/>
                <a:cs typeface="Arial"/>
              </a:rPr>
              <a:t>body. </a:t>
            </a:r>
            <a:r>
              <a:rPr dirty="0" sz="1200">
                <a:latin typeface="Arial"/>
                <a:cs typeface="Arial"/>
              </a:rPr>
              <a:t>The </a:t>
            </a:r>
            <a:r>
              <a:rPr dirty="0" sz="1200" spc="-5">
                <a:latin typeface="Arial"/>
                <a:cs typeface="Arial"/>
              </a:rPr>
              <a:t>horrified  worshippers overpowered </a:t>
            </a:r>
            <a:r>
              <a:rPr dirty="0" sz="1200">
                <a:latin typeface="Arial"/>
                <a:cs typeface="Arial"/>
              </a:rPr>
              <a:t>the </a:t>
            </a:r>
            <a:r>
              <a:rPr dirty="0" sz="1200" spc="-5">
                <a:latin typeface="Arial"/>
                <a:cs typeface="Arial"/>
              </a:rPr>
              <a:t>assassin. Thereupon </a:t>
            </a:r>
            <a:r>
              <a:rPr dirty="0" sz="1200">
                <a:latin typeface="Arial"/>
                <a:cs typeface="Arial"/>
              </a:rPr>
              <a:t>the </a:t>
            </a:r>
            <a:r>
              <a:rPr dirty="0" sz="1200" spc="-5">
                <a:latin typeface="Arial"/>
                <a:cs typeface="Arial"/>
              </a:rPr>
              <a:t>wretch slew himself with </a:t>
            </a:r>
            <a:r>
              <a:rPr dirty="0" sz="1200">
                <a:latin typeface="Arial"/>
                <a:cs typeface="Arial"/>
              </a:rPr>
              <a:t>the </a:t>
            </a:r>
            <a:r>
              <a:rPr dirty="0" sz="1200" spc="-5">
                <a:latin typeface="Arial"/>
                <a:cs typeface="Arial"/>
              </a:rPr>
              <a:t>same  dagger. The </a:t>
            </a:r>
            <a:r>
              <a:rPr dirty="0" sz="1200" spc="-10">
                <a:latin typeface="Arial"/>
                <a:cs typeface="Arial"/>
              </a:rPr>
              <a:t>next </a:t>
            </a:r>
            <a:r>
              <a:rPr dirty="0" sz="1200" spc="-5">
                <a:latin typeface="Arial"/>
                <a:cs typeface="Arial"/>
              </a:rPr>
              <a:t>moment Umar </a:t>
            </a:r>
            <a:r>
              <a:rPr dirty="0" sz="1200" spc="-10">
                <a:latin typeface="Arial"/>
                <a:cs typeface="Arial"/>
              </a:rPr>
              <a:t>was </a:t>
            </a:r>
            <a:r>
              <a:rPr dirty="0" sz="1200" spc="-5">
                <a:latin typeface="Arial"/>
                <a:cs typeface="Arial"/>
              </a:rPr>
              <a:t>in the lap of Allah's </a:t>
            </a:r>
            <a:r>
              <a:rPr dirty="0" sz="1200" spc="5">
                <a:latin typeface="Arial"/>
                <a:cs typeface="Arial"/>
              </a:rPr>
              <a:t>mercy </a:t>
            </a:r>
            <a:r>
              <a:rPr dirty="0" sz="1200" spc="-5">
                <a:latin typeface="Arial"/>
                <a:cs typeface="Arial"/>
              </a:rPr>
              <a:t>and forgiveness. He died </a:t>
            </a:r>
            <a:r>
              <a:rPr dirty="0" sz="1200" spc="-10">
                <a:latin typeface="Arial"/>
                <a:cs typeface="Arial"/>
              </a:rPr>
              <a:t>on  </a:t>
            </a:r>
            <a:r>
              <a:rPr dirty="0" sz="1200" spc="-5">
                <a:latin typeface="Arial"/>
                <a:cs typeface="Arial"/>
              </a:rPr>
              <a:t>Wednesday </a:t>
            </a:r>
            <a:r>
              <a:rPr dirty="0" sz="1200">
                <a:latin typeface="Arial"/>
                <a:cs typeface="Arial"/>
              </a:rPr>
              <a:t>the </a:t>
            </a:r>
            <a:r>
              <a:rPr dirty="0" sz="1200" spc="-5">
                <a:latin typeface="Arial"/>
                <a:cs typeface="Arial"/>
              </a:rPr>
              <a:t>27th of </a:t>
            </a:r>
            <a:r>
              <a:rPr dirty="0" sz="1200">
                <a:latin typeface="Arial"/>
                <a:cs typeface="Arial"/>
              </a:rPr>
              <a:t>Dhul </a:t>
            </a:r>
            <a:r>
              <a:rPr dirty="0" sz="1200" spc="-5">
                <a:latin typeface="Arial"/>
                <a:cs typeface="Arial"/>
              </a:rPr>
              <a:t>Hijjah, </a:t>
            </a:r>
            <a:r>
              <a:rPr dirty="0" sz="1200" spc="-10">
                <a:latin typeface="Arial"/>
                <a:cs typeface="Arial"/>
              </a:rPr>
              <a:t>23 </a:t>
            </a:r>
            <a:r>
              <a:rPr dirty="0" sz="1200" spc="-5">
                <a:latin typeface="Arial"/>
                <a:cs typeface="Arial"/>
              </a:rPr>
              <a:t>A.H., after lying wounded </a:t>
            </a:r>
            <a:r>
              <a:rPr dirty="0" sz="1200">
                <a:latin typeface="Arial"/>
                <a:cs typeface="Arial"/>
              </a:rPr>
              <a:t>for three </a:t>
            </a:r>
            <a:r>
              <a:rPr dirty="0" sz="1200" spc="-5">
                <a:latin typeface="Arial"/>
                <a:cs typeface="Arial"/>
              </a:rPr>
              <a:t>days. He was  sixty-three </a:t>
            </a:r>
            <a:r>
              <a:rPr dirty="0" sz="1200">
                <a:latin typeface="Arial"/>
                <a:cs typeface="Arial"/>
              </a:rPr>
              <a:t>at </a:t>
            </a:r>
            <a:r>
              <a:rPr dirty="0" sz="1200" spc="-5">
                <a:latin typeface="Arial"/>
                <a:cs typeface="Arial"/>
              </a:rPr>
              <a:t>the time of death. His caliphate lasted </a:t>
            </a:r>
            <a:r>
              <a:rPr dirty="0" sz="1200">
                <a:latin typeface="Arial"/>
                <a:cs typeface="Arial"/>
              </a:rPr>
              <a:t>for </a:t>
            </a:r>
            <a:r>
              <a:rPr dirty="0" sz="1200" spc="-10">
                <a:latin typeface="Arial"/>
                <a:cs typeface="Arial"/>
              </a:rPr>
              <a:t>10</a:t>
            </a:r>
            <a:r>
              <a:rPr dirty="0" sz="1200" spc="35">
                <a:latin typeface="Arial"/>
                <a:cs typeface="Arial"/>
              </a:rPr>
              <a:t> </a:t>
            </a:r>
            <a:r>
              <a:rPr dirty="0" sz="1200" spc="-5">
                <a:latin typeface="Arial"/>
                <a:cs typeface="Arial"/>
              </a:rPr>
              <a:t>years.</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34</a:t>
            </a:r>
            <a:endParaRPr sz="1200">
              <a:latin typeface="Times New Roman"/>
              <a:cs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5971540" cy="208279"/>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1062532" y="827531"/>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Hazrat Uthman Ghaniy (r.a)</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35</a:t>
            </a:r>
            <a:endParaRPr sz="1200">
              <a:latin typeface="Times New Roman"/>
              <a:cs typeface="Times New Roman"/>
            </a:endParaRPr>
          </a:p>
        </p:txBody>
      </p:sp>
      <p:sp>
        <p:nvSpPr>
          <p:cNvPr id="5" name="object 5"/>
          <p:cNvSpPr txBox="1"/>
          <p:nvPr/>
        </p:nvSpPr>
        <p:spPr>
          <a:xfrm>
            <a:off x="629919" y="1162557"/>
            <a:ext cx="6488430" cy="8622030"/>
          </a:xfrm>
          <a:prstGeom prst="rect">
            <a:avLst/>
          </a:prstGeom>
        </p:spPr>
        <p:txBody>
          <a:bodyPr wrap="square" lIns="0" tIns="12700" rIns="0" bIns="0" rtlCol="0" vert="horz">
            <a:spAutoFit/>
          </a:bodyPr>
          <a:lstStyle/>
          <a:p>
            <a:pPr marL="1016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35"/>
              </a:spcBef>
            </a:pPr>
            <a:endParaRPr sz="1200">
              <a:latin typeface="Arial"/>
              <a:cs typeface="Arial"/>
            </a:endParaRPr>
          </a:p>
          <a:p>
            <a:pPr algn="just" marL="101600" marR="98425">
              <a:lnSpc>
                <a:spcPts val="1380"/>
              </a:lnSpc>
            </a:pPr>
            <a:r>
              <a:rPr dirty="0" sz="1200" spc="-5">
                <a:latin typeface="Arial"/>
                <a:cs typeface="Arial"/>
              </a:rPr>
              <a:t>Among </a:t>
            </a:r>
            <a:r>
              <a:rPr dirty="0" sz="1200">
                <a:latin typeface="Arial"/>
                <a:cs typeface="Arial"/>
              </a:rPr>
              <a:t>the </a:t>
            </a:r>
            <a:r>
              <a:rPr dirty="0" sz="1200" spc="-5">
                <a:latin typeface="Arial"/>
                <a:cs typeface="Arial"/>
              </a:rPr>
              <a:t>Ashab the </a:t>
            </a:r>
            <a:r>
              <a:rPr dirty="0" sz="1200">
                <a:latin typeface="Arial"/>
                <a:cs typeface="Arial"/>
              </a:rPr>
              <a:t>holy prophet </a:t>
            </a:r>
            <a:r>
              <a:rPr dirty="0" sz="1200" spc="-5">
                <a:latin typeface="Arial"/>
                <a:cs typeface="Arial"/>
              </a:rPr>
              <a:t>(s.a.w) loved </a:t>
            </a:r>
            <a:r>
              <a:rPr dirty="0" sz="1200">
                <a:latin typeface="Arial"/>
                <a:cs typeface="Arial"/>
              </a:rPr>
              <a:t>the </a:t>
            </a:r>
            <a:r>
              <a:rPr dirty="0" sz="1200" spc="-5">
                <a:latin typeface="Arial"/>
                <a:cs typeface="Arial"/>
              </a:rPr>
              <a:t>most, the name of Uthman can </a:t>
            </a:r>
            <a:r>
              <a:rPr dirty="0" sz="1200">
                <a:latin typeface="Arial"/>
                <a:cs typeface="Arial"/>
              </a:rPr>
              <a:t>be </a:t>
            </a:r>
            <a:r>
              <a:rPr dirty="0" sz="1200" spc="-5">
                <a:latin typeface="Arial"/>
                <a:cs typeface="Arial"/>
              </a:rPr>
              <a:t>cited.  He loved him so </a:t>
            </a:r>
            <a:r>
              <a:rPr dirty="0" sz="1200">
                <a:latin typeface="Arial"/>
                <a:cs typeface="Arial"/>
              </a:rPr>
              <a:t>much that </a:t>
            </a:r>
            <a:r>
              <a:rPr dirty="0" sz="1200" spc="-5">
                <a:latin typeface="Arial"/>
                <a:cs typeface="Arial"/>
              </a:rPr>
              <a:t>he </a:t>
            </a:r>
            <a:r>
              <a:rPr dirty="0" sz="1200" spc="-10">
                <a:latin typeface="Arial"/>
                <a:cs typeface="Arial"/>
              </a:rPr>
              <a:t>gave </a:t>
            </a:r>
            <a:r>
              <a:rPr dirty="0" sz="1200" spc="-5">
                <a:latin typeface="Arial"/>
                <a:cs typeface="Arial"/>
              </a:rPr>
              <a:t>him 2 of his daughters in marriage and </a:t>
            </a:r>
            <a:r>
              <a:rPr dirty="0" sz="1200">
                <a:latin typeface="Arial"/>
                <a:cs typeface="Arial"/>
              </a:rPr>
              <a:t>told </a:t>
            </a:r>
            <a:r>
              <a:rPr dirty="0" sz="1200" spc="-5">
                <a:latin typeface="Arial"/>
                <a:cs typeface="Arial"/>
              </a:rPr>
              <a:t>him that </a:t>
            </a:r>
            <a:r>
              <a:rPr dirty="0" sz="1200" spc="-10">
                <a:latin typeface="Arial"/>
                <a:cs typeface="Arial"/>
              </a:rPr>
              <a:t>if he  </a:t>
            </a:r>
            <a:r>
              <a:rPr dirty="0" sz="1200">
                <a:latin typeface="Arial"/>
                <a:cs typeface="Arial"/>
              </a:rPr>
              <a:t>had </a:t>
            </a:r>
            <a:r>
              <a:rPr dirty="0" sz="1200" spc="-5">
                <a:latin typeface="Arial"/>
                <a:cs typeface="Arial"/>
              </a:rPr>
              <a:t>more </a:t>
            </a:r>
            <a:r>
              <a:rPr dirty="0" sz="1200">
                <a:latin typeface="Arial"/>
                <a:cs typeface="Arial"/>
              </a:rPr>
              <a:t>he </a:t>
            </a:r>
            <a:r>
              <a:rPr dirty="0" sz="1200" spc="-5">
                <a:latin typeface="Arial"/>
                <a:cs typeface="Arial"/>
              </a:rPr>
              <a:t>would </a:t>
            </a:r>
            <a:r>
              <a:rPr dirty="0" sz="1200" spc="-10">
                <a:latin typeface="Arial"/>
                <a:cs typeface="Arial"/>
              </a:rPr>
              <a:t>have </a:t>
            </a:r>
            <a:r>
              <a:rPr dirty="0" sz="1200" spc="-5">
                <a:latin typeface="Arial"/>
                <a:cs typeface="Arial"/>
              </a:rPr>
              <a:t>agreed </a:t>
            </a:r>
            <a:r>
              <a:rPr dirty="0" sz="1200">
                <a:latin typeface="Arial"/>
                <a:cs typeface="Arial"/>
              </a:rPr>
              <a:t>to </a:t>
            </a:r>
            <a:r>
              <a:rPr dirty="0" sz="1200" spc="-5">
                <a:latin typeface="Arial"/>
                <a:cs typeface="Arial"/>
              </a:rPr>
              <a:t>marry them off of him</a:t>
            </a:r>
            <a:r>
              <a:rPr dirty="0" sz="1200" spc="20">
                <a:latin typeface="Arial"/>
                <a:cs typeface="Arial"/>
              </a:rPr>
              <a:t> </a:t>
            </a:r>
            <a:r>
              <a:rPr dirty="0" sz="1200" spc="-45">
                <a:latin typeface="Arial"/>
                <a:cs typeface="Arial"/>
              </a:rPr>
              <a:t>(‗Uthman).</a:t>
            </a:r>
            <a:endParaRPr sz="1200">
              <a:latin typeface="Arial"/>
              <a:cs typeface="Arial"/>
            </a:endParaRPr>
          </a:p>
          <a:p>
            <a:pPr>
              <a:lnSpc>
                <a:spcPct val="100000"/>
              </a:lnSpc>
              <a:spcBef>
                <a:spcPts val="20"/>
              </a:spcBef>
            </a:pPr>
            <a:endParaRPr sz="1100">
              <a:latin typeface="Arial"/>
              <a:cs typeface="Arial"/>
            </a:endParaRPr>
          </a:p>
          <a:p>
            <a:pPr marL="101600">
              <a:lnSpc>
                <a:spcPct val="100000"/>
              </a:lnSpc>
            </a:pPr>
            <a:r>
              <a:rPr dirty="0" u="heavy" sz="1200" b="1" i="1">
                <a:uFill>
                  <a:solidFill>
                    <a:srgbClr val="000000"/>
                  </a:solidFill>
                </a:uFill>
                <a:latin typeface="Arial"/>
                <a:cs typeface="Arial"/>
              </a:rPr>
              <a:t>Life </a:t>
            </a:r>
            <a:r>
              <a:rPr dirty="0" u="heavy" sz="1200" spc="-5" b="1" i="1">
                <a:uFill>
                  <a:solidFill>
                    <a:srgbClr val="000000"/>
                  </a:solidFill>
                </a:uFill>
                <a:latin typeface="Arial"/>
                <a:cs typeface="Arial"/>
              </a:rPr>
              <a:t>before acceptance </a:t>
            </a:r>
            <a:r>
              <a:rPr dirty="0" u="heavy" sz="1200" b="1" i="1">
                <a:uFill>
                  <a:solidFill>
                    <a:srgbClr val="000000"/>
                  </a:solidFill>
                </a:uFill>
                <a:latin typeface="Arial"/>
                <a:cs typeface="Arial"/>
              </a:rPr>
              <a:t>of</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Islam</a:t>
            </a:r>
            <a:endParaRPr sz="1200">
              <a:latin typeface="Arial"/>
              <a:cs typeface="Arial"/>
            </a:endParaRPr>
          </a:p>
          <a:p>
            <a:pPr>
              <a:lnSpc>
                <a:spcPct val="100000"/>
              </a:lnSpc>
              <a:spcBef>
                <a:spcPts val="55"/>
              </a:spcBef>
            </a:pPr>
            <a:endParaRPr sz="1150">
              <a:latin typeface="Arial"/>
              <a:cs typeface="Arial"/>
            </a:endParaRPr>
          </a:p>
          <a:p>
            <a:pPr algn="just" marL="101600" marR="93980">
              <a:lnSpc>
                <a:spcPct val="95900"/>
              </a:lnSpc>
            </a:pPr>
            <a:r>
              <a:rPr dirty="0" sz="1200" spc="-5">
                <a:latin typeface="Arial"/>
                <a:cs typeface="Arial"/>
              </a:rPr>
              <a:t>He </a:t>
            </a:r>
            <a:r>
              <a:rPr dirty="0" sz="1200" spc="-10">
                <a:latin typeface="Arial"/>
                <a:cs typeface="Arial"/>
              </a:rPr>
              <a:t>was </a:t>
            </a:r>
            <a:r>
              <a:rPr dirty="0" sz="1200">
                <a:latin typeface="Arial"/>
                <a:cs typeface="Arial"/>
              </a:rPr>
              <a:t>the </a:t>
            </a:r>
            <a:r>
              <a:rPr dirty="0" sz="1200" spc="-5">
                <a:latin typeface="Arial"/>
                <a:cs typeface="Arial"/>
              </a:rPr>
              <a:t>son of </a:t>
            </a:r>
            <a:r>
              <a:rPr dirty="0" sz="1200" spc="-10">
                <a:latin typeface="Arial"/>
                <a:cs typeface="Arial"/>
              </a:rPr>
              <a:t>the </a:t>
            </a:r>
            <a:r>
              <a:rPr dirty="0" sz="1200">
                <a:latin typeface="Arial"/>
                <a:cs typeface="Arial"/>
              </a:rPr>
              <a:t>father </a:t>
            </a:r>
            <a:r>
              <a:rPr dirty="0" sz="1200" spc="-5">
                <a:latin typeface="Arial"/>
                <a:cs typeface="Arial"/>
              </a:rPr>
              <a:t>Affan and the mother Arwa. Born in Macca in </a:t>
            </a:r>
            <a:r>
              <a:rPr dirty="0" sz="1200">
                <a:latin typeface="Arial"/>
                <a:cs typeface="Arial"/>
              </a:rPr>
              <a:t>the </a:t>
            </a:r>
            <a:r>
              <a:rPr dirty="0" sz="1200" spc="15">
                <a:latin typeface="Arial"/>
                <a:cs typeface="Arial"/>
              </a:rPr>
              <a:t>6</a:t>
            </a:r>
            <a:r>
              <a:rPr dirty="0" baseline="38194" sz="1200" spc="22">
                <a:latin typeface="Arial"/>
                <a:cs typeface="Arial"/>
              </a:rPr>
              <a:t>th </a:t>
            </a:r>
            <a:r>
              <a:rPr dirty="0" sz="1200" spc="-5">
                <a:latin typeface="Arial"/>
                <a:cs typeface="Arial"/>
              </a:rPr>
              <a:t>year of  elephant, he </a:t>
            </a:r>
            <a:r>
              <a:rPr dirty="0" sz="1200" spc="-10">
                <a:latin typeface="Arial"/>
                <a:cs typeface="Arial"/>
              </a:rPr>
              <a:t>was </a:t>
            </a:r>
            <a:r>
              <a:rPr dirty="0" sz="1200" spc="-5">
                <a:latin typeface="Arial"/>
                <a:cs typeface="Arial"/>
              </a:rPr>
              <a:t>5 years younger </a:t>
            </a:r>
            <a:r>
              <a:rPr dirty="0" sz="1200">
                <a:latin typeface="Arial"/>
                <a:cs typeface="Arial"/>
              </a:rPr>
              <a:t>than the </a:t>
            </a:r>
            <a:r>
              <a:rPr dirty="0" sz="1200" spc="-5">
                <a:latin typeface="Arial"/>
                <a:cs typeface="Arial"/>
              </a:rPr>
              <a:t>Holy Prophet (s.a.w). They were related through  </a:t>
            </a:r>
            <a:r>
              <a:rPr dirty="0" sz="1200">
                <a:latin typeface="Arial"/>
                <a:cs typeface="Arial"/>
              </a:rPr>
              <a:t>the </a:t>
            </a:r>
            <a:r>
              <a:rPr dirty="0" sz="1200" spc="-5">
                <a:latin typeface="Arial"/>
                <a:cs typeface="Arial"/>
              </a:rPr>
              <a:t>common ancestor Abd Manaf. </a:t>
            </a:r>
            <a:r>
              <a:rPr dirty="0" sz="1200">
                <a:latin typeface="Arial"/>
                <a:cs typeface="Arial"/>
              </a:rPr>
              <a:t>As </a:t>
            </a:r>
            <a:r>
              <a:rPr dirty="0" sz="1200" spc="-5">
                <a:latin typeface="Arial"/>
                <a:cs typeface="Arial"/>
              </a:rPr>
              <a:t>from his formal education, he </a:t>
            </a:r>
            <a:r>
              <a:rPr dirty="0" sz="1200" spc="-10">
                <a:latin typeface="Arial"/>
                <a:cs typeface="Arial"/>
              </a:rPr>
              <a:t>was </a:t>
            </a:r>
            <a:r>
              <a:rPr dirty="0" sz="1200" spc="-5">
                <a:latin typeface="Arial"/>
                <a:cs typeface="Arial"/>
              </a:rPr>
              <a:t>able </a:t>
            </a:r>
            <a:r>
              <a:rPr dirty="0" sz="1200">
                <a:latin typeface="Arial"/>
                <a:cs typeface="Arial"/>
              </a:rPr>
              <a:t>to </a:t>
            </a:r>
            <a:r>
              <a:rPr dirty="0" sz="1200" spc="-5">
                <a:latin typeface="Arial"/>
                <a:cs typeface="Arial"/>
              </a:rPr>
              <a:t>read and  write Arabic language. He </a:t>
            </a:r>
            <a:r>
              <a:rPr dirty="0" sz="1200" spc="-10">
                <a:latin typeface="Arial"/>
                <a:cs typeface="Arial"/>
              </a:rPr>
              <a:t>was </a:t>
            </a:r>
            <a:r>
              <a:rPr dirty="0" sz="1200" spc="-5">
                <a:latin typeface="Arial"/>
                <a:cs typeface="Arial"/>
              </a:rPr>
              <a:t>much learned, </a:t>
            </a:r>
            <a:r>
              <a:rPr dirty="0" sz="1200">
                <a:latin typeface="Arial"/>
                <a:cs typeface="Arial"/>
              </a:rPr>
              <a:t>intelligent, </a:t>
            </a:r>
            <a:r>
              <a:rPr dirty="0" sz="1200" spc="-5">
                <a:latin typeface="Arial"/>
                <a:cs typeface="Arial"/>
              </a:rPr>
              <a:t>wise (wisdom) and studious. In  addition he </a:t>
            </a:r>
            <a:r>
              <a:rPr dirty="0" sz="1200" spc="-10">
                <a:latin typeface="Arial"/>
                <a:cs typeface="Arial"/>
              </a:rPr>
              <a:t>was </a:t>
            </a:r>
            <a:r>
              <a:rPr dirty="0" sz="1200" spc="-5">
                <a:latin typeface="Arial"/>
                <a:cs typeface="Arial"/>
              </a:rPr>
              <a:t>a </a:t>
            </a:r>
            <a:r>
              <a:rPr dirty="0" sz="1200">
                <a:latin typeface="Arial"/>
                <a:cs typeface="Arial"/>
              </a:rPr>
              <a:t>successful trader </a:t>
            </a:r>
            <a:r>
              <a:rPr dirty="0" sz="1200" spc="-5">
                <a:latin typeface="Arial"/>
                <a:cs typeface="Arial"/>
              </a:rPr>
              <a:t>and </a:t>
            </a:r>
            <a:r>
              <a:rPr dirty="0" sz="1200" spc="-10">
                <a:latin typeface="Arial"/>
                <a:cs typeface="Arial"/>
              </a:rPr>
              <a:t>was </a:t>
            </a:r>
            <a:r>
              <a:rPr dirty="0" sz="1200" spc="-5">
                <a:latin typeface="Arial"/>
                <a:cs typeface="Arial"/>
              </a:rPr>
              <a:t>always polite with his </a:t>
            </a:r>
            <a:r>
              <a:rPr dirty="0" sz="1200">
                <a:latin typeface="Arial"/>
                <a:cs typeface="Arial"/>
              </a:rPr>
              <a:t>customers </a:t>
            </a:r>
            <a:r>
              <a:rPr dirty="0" sz="1200" spc="-5">
                <a:latin typeface="Arial"/>
                <a:cs typeface="Arial"/>
              </a:rPr>
              <a:t>and business  </a:t>
            </a:r>
            <a:r>
              <a:rPr dirty="0" sz="1200">
                <a:latin typeface="Arial"/>
                <a:cs typeface="Arial"/>
              </a:rPr>
              <a:t>partners. </a:t>
            </a:r>
            <a:r>
              <a:rPr dirty="0" sz="1200" spc="5">
                <a:latin typeface="Arial"/>
                <a:cs typeface="Arial"/>
              </a:rPr>
              <a:t>Well </a:t>
            </a:r>
            <a:r>
              <a:rPr dirty="0" sz="1200" spc="-5">
                <a:latin typeface="Arial"/>
                <a:cs typeface="Arial"/>
              </a:rPr>
              <a:t>before his conversion </a:t>
            </a:r>
            <a:r>
              <a:rPr dirty="0" sz="1200">
                <a:latin typeface="Arial"/>
                <a:cs typeface="Arial"/>
              </a:rPr>
              <a:t>to </a:t>
            </a:r>
            <a:r>
              <a:rPr dirty="0" sz="1200" spc="-5">
                <a:latin typeface="Arial"/>
                <a:cs typeface="Arial"/>
              </a:rPr>
              <a:t>Islam, he </a:t>
            </a:r>
            <a:r>
              <a:rPr dirty="0" sz="1200" spc="-10">
                <a:latin typeface="Arial"/>
                <a:cs typeface="Arial"/>
              </a:rPr>
              <a:t>was </a:t>
            </a:r>
            <a:r>
              <a:rPr dirty="0" sz="1200" spc="-5">
                <a:latin typeface="Arial"/>
                <a:cs typeface="Arial"/>
              </a:rPr>
              <a:t>a </a:t>
            </a:r>
            <a:r>
              <a:rPr dirty="0" sz="1200">
                <a:latin typeface="Arial"/>
                <a:cs typeface="Arial"/>
              </a:rPr>
              <a:t>pious </a:t>
            </a:r>
            <a:r>
              <a:rPr dirty="0" sz="1200" spc="-5">
                <a:latin typeface="Arial"/>
                <a:cs typeface="Arial"/>
              </a:rPr>
              <a:t>man. He never indulged in  polytheism and idol worshipping. He </a:t>
            </a:r>
            <a:r>
              <a:rPr dirty="0" sz="1200" spc="-10">
                <a:latin typeface="Arial"/>
                <a:cs typeface="Arial"/>
              </a:rPr>
              <a:t>was </a:t>
            </a:r>
            <a:r>
              <a:rPr dirty="0" sz="1200" spc="-5">
                <a:latin typeface="Arial"/>
                <a:cs typeface="Arial"/>
              </a:rPr>
              <a:t>among the</a:t>
            </a:r>
            <a:r>
              <a:rPr dirty="0" sz="1200" spc="20">
                <a:latin typeface="Arial"/>
                <a:cs typeface="Arial"/>
              </a:rPr>
              <a:t> </a:t>
            </a:r>
            <a:r>
              <a:rPr dirty="0" sz="1200" spc="-5">
                <a:latin typeface="Arial"/>
                <a:cs typeface="Arial"/>
              </a:rPr>
              <a:t>Hanif.</a:t>
            </a:r>
            <a:endParaRPr sz="1200">
              <a:latin typeface="Arial"/>
              <a:cs typeface="Arial"/>
            </a:endParaRPr>
          </a:p>
          <a:p>
            <a:pPr>
              <a:lnSpc>
                <a:spcPct val="100000"/>
              </a:lnSpc>
              <a:spcBef>
                <a:spcPts val="55"/>
              </a:spcBef>
            </a:pPr>
            <a:endParaRPr sz="1100">
              <a:latin typeface="Arial"/>
              <a:cs typeface="Arial"/>
            </a:endParaRPr>
          </a:p>
          <a:p>
            <a:pPr marL="101600">
              <a:lnSpc>
                <a:spcPct val="100000"/>
              </a:lnSpc>
            </a:pPr>
            <a:r>
              <a:rPr dirty="0" u="heavy" sz="1200" b="1" i="1">
                <a:uFill>
                  <a:solidFill>
                    <a:srgbClr val="000000"/>
                  </a:solidFill>
                </a:uFill>
                <a:latin typeface="Arial"/>
                <a:cs typeface="Arial"/>
              </a:rPr>
              <a:t>Life </a:t>
            </a:r>
            <a:r>
              <a:rPr dirty="0" u="heavy" sz="1200" spc="-5" b="1" i="1">
                <a:uFill>
                  <a:solidFill>
                    <a:srgbClr val="000000"/>
                  </a:solidFill>
                </a:uFill>
                <a:latin typeface="Arial"/>
                <a:cs typeface="Arial"/>
              </a:rPr>
              <a:t>after acceptance </a:t>
            </a:r>
            <a:r>
              <a:rPr dirty="0" u="heavy" sz="1200" b="1" i="1">
                <a:uFill>
                  <a:solidFill>
                    <a:srgbClr val="000000"/>
                  </a:solidFill>
                </a:uFill>
                <a:latin typeface="Arial"/>
                <a:cs typeface="Arial"/>
              </a:rPr>
              <a:t>of</a:t>
            </a:r>
            <a:r>
              <a:rPr dirty="0" u="heavy" sz="1200" spc="-10" b="1" i="1">
                <a:uFill>
                  <a:solidFill>
                    <a:srgbClr val="000000"/>
                  </a:solidFill>
                </a:uFill>
                <a:latin typeface="Arial"/>
                <a:cs typeface="Arial"/>
              </a:rPr>
              <a:t> </a:t>
            </a:r>
            <a:r>
              <a:rPr dirty="0" u="heavy" sz="1200" b="1" i="1">
                <a:uFill>
                  <a:solidFill>
                    <a:srgbClr val="000000"/>
                  </a:solidFill>
                </a:uFill>
                <a:latin typeface="Arial"/>
                <a:cs typeface="Arial"/>
              </a:rPr>
              <a:t>Islam</a:t>
            </a:r>
            <a:endParaRPr sz="1200">
              <a:latin typeface="Arial"/>
              <a:cs typeface="Arial"/>
            </a:endParaRPr>
          </a:p>
          <a:p>
            <a:pPr>
              <a:lnSpc>
                <a:spcPct val="100000"/>
              </a:lnSpc>
              <a:spcBef>
                <a:spcPts val="35"/>
              </a:spcBef>
            </a:pPr>
            <a:endParaRPr sz="1200">
              <a:latin typeface="Arial"/>
              <a:cs typeface="Arial"/>
            </a:endParaRPr>
          </a:p>
          <a:p>
            <a:pPr algn="just" marL="101600" marR="97790">
              <a:lnSpc>
                <a:spcPts val="1380"/>
              </a:lnSpc>
            </a:pPr>
            <a:r>
              <a:rPr dirty="0" sz="1200" spc="-5">
                <a:latin typeface="Arial"/>
                <a:cs typeface="Arial"/>
              </a:rPr>
              <a:t>He embraced Islam at </a:t>
            </a:r>
            <a:r>
              <a:rPr dirty="0" sz="1200">
                <a:latin typeface="Arial"/>
                <a:cs typeface="Arial"/>
              </a:rPr>
              <a:t>the </a:t>
            </a:r>
            <a:r>
              <a:rPr dirty="0" sz="1200" spc="-5">
                <a:latin typeface="Arial"/>
                <a:cs typeface="Arial"/>
              </a:rPr>
              <a:t>demand of Hazrat Abu Bakr (ra). He was a very </a:t>
            </a:r>
            <a:r>
              <a:rPr dirty="0" sz="1200">
                <a:latin typeface="Arial"/>
                <a:cs typeface="Arial"/>
              </a:rPr>
              <a:t>tender </a:t>
            </a:r>
            <a:r>
              <a:rPr dirty="0" sz="1200" spc="-5">
                <a:latin typeface="Arial"/>
                <a:cs typeface="Arial"/>
              </a:rPr>
              <a:t>hearted  person. He would cater </a:t>
            </a:r>
            <a:r>
              <a:rPr dirty="0" sz="1200">
                <a:latin typeface="Arial"/>
                <a:cs typeface="Arial"/>
              </a:rPr>
              <a:t>for </a:t>
            </a:r>
            <a:r>
              <a:rPr dirty="0" sz="1200" spc="-5">
                <a:latin typeface="Arial"/>
                <a:cs typeface="Arial"/>
              </a:rPr>
              <a:t>the needy, </a:t>
            </a:r>
            <a:r>
              <a:rPr dirty="0" sz="1200">
                <a:latin typeface="Arial"/>
                <a:cs typeface="Arial"/>
              </a:rPr>
              <a:t>destitute, </a:t>
            </a:r>
            <a:r>
              <a:rPr dirty="0" sz="1200" spc="-5">
                <a:latin typeface="Arial"/>
                <a:cs typeface="Arial"/>
              </a:rPr>
              <a:t>low class and </a:t>
            </a:r>
            <a:r>
              <a:rPr dirty="0" sz="1200" spc="-10">
                <a:latin typeface="Arial"/>
                <a:cs typeface="Arial"/>
              </a:rPr>
              <a:t>the </a:t>
            </a:r>
            <a:r>
              <a:rPr dirty="0" sz="1200" spc="-5">
                <a:latin typeface="Arial"/>
                <a:cs typeface="Arial"/>
              </a:rPr>
              <a:t>poor. He would </a:t>
            </a:r>
            <a:r>
              <a:rPr dirty="0" sz="1200" spc="-10">
                <a:latin typeface="Arial"/>
                <a:cs typeface="Arial"/>
              </a:rPr>
              <a:t>always  </a:t>
            </a:r>
            <a:r>
              <a:rPr dirty="0" sz="1200">
                <a:latin typeface="Arial"/>
                <a:cs typeface="Arial"/>
              </a:rPr>
              <a:t>come </a:t>
            </a:r>
            <a:r>
              <a:rPr dirty="0" sz="1200" spc="-5">
                <a:latin typeface="Arial"/>
                <a:cs typeface="Arial"/>
              </a:rPr>
              <a:t>to </a:t>
            </a:r>
            <a:r>
              <a:rPr dirty="0" sz="1200">
                <a:latin typeface="Arial"/>
                <a:cs typeface="Arial"/>
              </a:rPr>
              <a:t>the </a:t>
            </a:r>
            <a:r>
              <a:rPr dirty="0" sz="1200" spc="-5">
                <a:latin typeface="Arial"/>
                <a:cs typeface="Arial"/>
              </a:rPr>
              <a:t>help of </a:t>
            </a:r>
            <a:r>
              <a:rPr dirty="0" sz="1200" spc="-10">
                <a:latin typeface="Arial"/>
                <a:cs typeface="Arial"/>
              </a:rPr>
              <a:t>the </a:t>
            </a:r>
            <a:r>
              <a:rPr dirty="0" sz="1200" spc="-5">
                <a:latin typeface="Arial"/>
                <a:cs typeface="Arial"/>
              </a:rPr>
              <a:t>persecuted. He </a:t>
            </a:r>
            <a:r>
              <a:rPr dirty="0" sz="1200" spc="-10">
                <a:latin typeface="Arial"/>
                <a:cs typeface="Arial"/>
              </a:rPr>
              <a:t>was </a:t>
            </a:r>
            <a:r>
              <a:rPr dirty="0" sz="1200" spc="-5">
                <a:latin typeface="Arial"/>
                <a:cs typeface="Arial"/>
              </a:rPr>
              <a:t>among </a:t>
            </a:r>
            <a:r>
              <a:rPr dirty="0" sz="1200">
                <a:latin typeface="Arial"/>
                <a:cs typeface="Arial"/>
              </a:rPr>
              <a:t>those </a:t>
            </a:r>
            <a:r>
              <a:rPr dirty="0" sz="1200" spc="-10">
                <a:latin typeface="Arial"/>
                <a:cs typeface="Arial"/>
              </a:rPr>
              <a:t>who </a:t>
            </a:r>
            <a:r>
              <a:rPr dirty="0" sz="1200" spc="-5">
                <a:latin typeface="Arial"/>
                <a:cs typeface="Arial"/>
              </a:rPr>
              <a:t>could do anything </a:t>
            </a:r>
            <a:r>
              <a:rPr dirty="0" sz="1200">
                <a:latin typeface="Arial"/>
                <a:cs typeface="Arial"/>
              </a:rPr>
              <a:t>to </a:t>
            </a:r>
            <a:r>
              <a:rPr dirty="0" sz="1200" spc="-5">
                <a:latin typeface="Arial"/>
                <a:cs typeface="Arial"/>
              </a:rPr>
              <a:t>help and  succour </a:t>
            </a:r>
            <a:r>
              <a:rPr dirty="0" sz="1200">
                <a:latin typeface="Arial"/>
                <a:cs typeface="Arial"/>
              </a:rPr>
              <a:t>their </a:t>
            </a:r>
            <a:r>
              <a:rPr dirty="0" sz="1200" spc="-5">
                <a:latin typeface="Arial"/>
                <a:cs typeface="Arial"/>
              </a:rPr>
              <a:t>friends, relatives and even strangers. He </a:t>
            </a:r>
            <a:r>
              <a:rPr dirty="0" sz="1200" spc="-10">
                <a:latin typeface="Arial"/>
                <a:cs typeface="Arial"/>
              </a:rPr>
              <a:t>was </a:t>
            </a:r>
            <a:r>
              <a:rPr dirty="0" sz="1200" spc="-5">
                <a:latin typeface="Arial"/>
                <a:cs typeface="Arial"/>
              </a:rPr>
              <a:t>easily moved by </a:t>
            </a:r>
            <a:r>
              <a:rPr dirty="0" sz="1200">
                <a:latin typeface="Arial"/>
                <a:cs typeface="Arial"/>
              </a:rPr>
              <a:t>the </a:t>
            </a:r>
            <a:r>
              <a:rPr dirty="0" sz="1200" spc="-5">
                <a:latin typeface="Arial"/>
                <a:cs typeface="Arial"/>
              </a:rPr>
              <a:t>sufferings of  </a:t>
            </a:r>
            <a:r>
              <a:rPr dirty="0" sz="1200">
                <a:latin typeface="Arial"/>
                <a:cs typeface="Arial"/>
              </a:rPr>
              <a:t>others. </a:t>
            </a:r>
            <a:r>
              <a:rPr dirty="0" sz="1200" spc="-5">
                <a:latin typeface="Arial"/>
                <a:cs typeface="Arial"/>
              </a:rPr>
              <a:t>He </a:t>
            </a:r>
            <a:r>
              <a:rPr dirty="0" sz="1200" spc="-10">
                <a:latin typeface="Arial"/>
                <a:cs typeface="Arial"/>
              </a:rPr>
              <a:t>was </a:t>
            </a:r>
            <a:r>
              <a:rPr dirty="0" sz="1200" spc="-5">
                <a:latin typeface="Arial"/>
                <a:cs typeface="Arial"/>
              </a:rPr>
              <a:t>among </a:t>
            </a:r>
            <a:r>
              <a:rPr dirty="0" sz="1200">
                <a:latin typeface="Arial"/>
                <a:cs typeface="Arial"/>
              </a:rPr>
              <a:t>those </a:t>
            </a:r>
            <a:r>
              <a:rPr dirty="0" sz="1200" spc="-5">
                <a:latin typeface="Arial"/>
                <a:cs typeface="Arial"/>
              </a:rPr>
              <a:t>early Muslims </a:t>
            </a:r>
            <a:r>
              <a:rPr dirty="0" sz="1200" spc="-10">
                <a:latin typeface="Arial"/>
                <a:cs typeface="Arial"/>
              </a:rPr>
              <a:t>who </a:t>
            </a:r>
            <a:r>
              <a:rPr dirty="0" sz="1200" spc="-5">
                <a:latin typeface="Arial"/>
                <a:cs typeface="Arial"/>
              </a:rPr>
              <a:t>suffered persecutions </a:t>
            </a:r>
            <a:r>
              <a:rPr dirty="0" sz="1200">
                <a:latin typeface="Arial"/>
                <a:cs typeface="Arial"/>
              </a:rPr>
              <a:t>at </a:t>
            </a:r>
            <a:r>
              <a:rPr dirty="0" sz="1200" spc="-5">
                <a:latin typeface="Arial"/>
                <a:cs typeface="Arial"/>
              </a:rPr>
              <a:t>the hands of the  </a:t>
            </a:r>
            <a:r>
              <a:rPr dirty="0" sz="1200">
                <a:latin typeface="Arial"/>
                <a:cs typeface="Arial"/>
              </a:rPr>
              <a:t>Quraish.</a:t>
            </a:r>
            <a:r>
              <a:rPr dirty="0" sz="1200" spc="30">
                <a:latin typeface="Arial"/>
                <a:cs typeface="Arial"/>
              </a:rPr>
              <a:t> </a:t>
            </a:r>
            <a:r>
              <a:rPr dirty="0" sz="1200" spc="-5">
                <a:latin typeface="Arial"/>
                <a:cs typeface="Arial"/>
              </a:rPr>
              <a:t>He</a:t>
            </a:r>
            <a:r>
              <a:rPr dirty="0" sz="1200" spc="30">
                <a:latin typeface="Arial"/>
                <a:cs typeface="Arial"/>
              </a:rPr>
              <a:t> </a:t>
            </a:r>
            <a:r>
              <a:rPr dirty="0" sz="1200" spc="-5">
                <a:latin typeface="Arial"/>
                <a:cs typeface="Arial"/>
              </a:rPr>
              <a:t>thus</a:t>
            </a:r>
            <a:r>
              <a:rPr dirty="0" sz="1200" spc="30">
                <a:latin typeface="Arial"/>
                <a:cs typeface="Arial"/>
              </a:rPr>
              <a:t> </a:t>
            </a:r>
            <a:r>
              <a:rPr dirty="0" sz="1200" spc="-5">
                <a:latin typeface="Arial"/>
                <a:cs typeface="Arial"/>
              </a:rPr>
              <a:t>went</a:t>
            </a:r>
            <a:r>
              <a:rPr dirty="0" sz="1200" spc="30">
                <a:latin typeface="Arial"/>
                <a:cs typeface="Arial"/>
              </a:rPr>
              <a:t> </a:t>
            </a:r>
            <a:r>
              <a:rPr dirty="0" sz="1200">
                <a:latin typeface="Arial"/>
                <a:cs typeface="Arial"/>
              </a:rPr>
              <a:t>to</a:t>
            </a:r>
            <a:r>
              <a:rPr dirty="0" sz="1200" spc="35">
                <a:latin typeface="Arial"/>
                <a:cs typeface="Arial"/>
              </a:rPr>
              <a:t> </a:t>
            </a:r>
            <a:r>
              <a:rPr dirty="0" sz="1200" spc="-5">
                <a:latin typeface="Arial"/>
                <a:cs typeface="Arial"/>
              </a:rPr>
              <a:t>Abyssinia.</a:t>
            </a:r>
            <a:r>
              <a:rPr dirty="0" sz="1200" spc="30">
                <a:latin typeface="Arial"/>
                <a:cs typeface="Arial"/>
              </a:rPr>
              <a:t> </a:t>
            </a:r>
            <a:r>
              <a:rPr dirty="0" sz="1200" spc="-5">
                <a:latin typeface="Arial"/>
                <a:cs typeface="Arial"/>
              </a:rPr>
              <a:t>He</a:t>
            </a:r>
            <a:r>
              <a:rPr dirty="0" sz="1200" spc="30">
                <a:latin typeface="Arial"/>
                <a:cs typeface="Arial"/>
              </a:rPr>
              <a:t> </a:t>
            </a:r>
            <a:r>
              <a:rPr dirty="0" sz="1200" spc="-5">
                <a:latin typeface="Arial"/>
                <a:cs typeface="Arial"/>
              </a:rPr>
              <a:t>got</a:t>
            </a:r>
            <a:r>
              <a:rPr dirty="0" sz="1200" spc="45">
                <a:latin typeface="Arial"/>
                <a:cs typeface="Arial"/>
              </a:rPr>
              <a:t> </a:t>
            </a:r>
            <a:r>
              <a:rPr dirty="0" sz="1200" spc="-5">
                <a:latin typeface="Arial"/>
                <a:cs typeface="Arial"/>
              </a:rPr>
              <a:t>married</a:t>
            </a:r>
            <a:r>
              <a:rPr dirty="0" sz="1200" spc="35">
                <a:latin typeface="Arial"/>
                <a:cs typeface="Arial"/>
              </a:rPr>
              <a:t> </a:t>
            </a:r>
            <a:r>
              <a:rPr dirty="0" sz="1200">
                <a:latin typeface="Arial"/>
                <a:cs typeface="Arial"/>
              </a:rPr>
              <a:t>to</a:t>
            </a:r>
            <a:r>
              <a:rPr dirty="0" sz="1200" spc="35">
                <a:latin typeface="Arial"/>
                <a:cs typeface="Arial"/>
              </a:rPr>
              <a:t> </a:t>
            </a:r>
            <a:r>
              <a:rPr dirty="0" sz="1200" spc="-5">
                <a:latin typeface="Arial"/>
                <a:cs typeface="Arial"/>
              </a:rPr>
              <a:t>two</a:t>
            </a:r>
            <a:r>
              <a:rPr dirty="0" sz="1200" spc="30">
                <a:latin typeface="Arial"/>
                <a:cs typeface="Arial"/>
              </a:rPr>
              <a:t> </a:t>
            </a:r>
            <a:r>
              <a:rPr dirty="0" sz="1200" spc="-5">
                <a:latin typeface="Arial"/>
                <a:cs typeface="Arial"/>
              </a:rPr>
              <a:t>of</a:t>
            </a:r>
            <a:r>
              <a:rPr dirty="0" sz="1200" spc="40">
                <a:latin typeface="Arial"/>
                <a:cs typeface="Arial"/>
              </a:rPr>
              <a:t> </a:t>
            </a:r>
            <a:r>
              <a:rPr dirty="0" sz="1200">
                <a:latin typeface="Arial"/>
                <a:cs typeface="Arial"/>
              </a:rPr>
              <a:t>the</a:t>
            </a:r>
            <a:r>
              <a:rPr dirty="0" sz="1200" spc="30">
                <a:latin typeface="Arial"/>
                <a:cs typeface="Arial"/>
              </a:rPr>
              <a:t> </a:t>
            </a:r>
            <a:r>
              <a:rPr dirty="0" sz="1200" spc="-5">
                <a:latin typeface="Arial"/>
                <a:cs typeface="Arial"/>
              </a:rPr>
              <a:t>prophet‘s</a:t>
            </a:r>
            <a:r>
              <a:rPr dirty="0" sz="1200" spc="30">
                <a:latin typeface="Arial"/>
                <a:cs typeface="Arial"/>
              </a:rPr>
              <a:t> </a:t>
            </a:r>
            <a:r>
              <a:rPr dirty="0" sz="1200" spc="-5">
                <a:latin typeface="Arial"/>
                <a:cs typeface="Arial"/>
              </a:rPr>
              <a:t>(s.a.w)</a:t>
            </a:r>
            <a:r>
              <a:rPr dirty="0" sz="1200" spc="25">
                <a:latin typeface="Arial"/>
                <a:cs typeface="Arial"/>
              </a:rPr>
              <a:t> </a:t>
            </a:r>
            <a:r>
              <a:rPr dirty="0" sz="1200" spc="-5">
                <a:latin typeface="Arial"/>
                <a:cs typeface="Arial"/>
              </a:rPr>
              <a:t>daughters</a:t>
            </a:r>
            <a:endParaRPr sz="1200">
              <a:latin typeface="Arial"/>
              <a:cs typeface="Arial"/>
            </a:endParaRPr>
          </a:p>
          <a:p>
            <a:pPr algn="just" marL="101600" marR="93345">
              <a:lnSpc>
                <a:spcPts val="1380"/>
              </a:lnSpc>
              <a:spcBef>
                <a:spcPts val="5"/>
              </a:spcBef>
            </a:pPr>
            <a:r>
              <a:rPr dirty="0" sz="1200">
                <a:latin typeface="Arial"/>
                <a:cs typeface="Arial"/>
              </a:rPr>
              <a:t>– </a:t>
            </a:r>
            <a:r>
              <a:rPr dirty="0" sz="1200" spc="-5">
                <a:latin typeface="Arial"/>
                <a:cs typeface="Arial"/>
              </a:rPr>
              <a:t>Kulthum and Ruqayyaah. He </a:t>
            </a:r>
            <a:r>
              <a:rPr dirty="0" sz="1200" spc="-10">
                <a:latin typeface="Arial"/>
                <a:cs typeface="Arial"/>
              </a:rPr>
              <a:t>was </a:t>
            </a:r>
            <a:r>
              <a:rPr dirty="0" sz="1200">
                <a:latin typeface="Arial"/>
                <a:cs typeface="Arial"/>
              </a:rPr>
              <a:t>thus </a:t>
            </a:r>
            <a:r>
              <a:rPr dirty="0" sz="1200" spc="-10">
                <a:latin typeface="Arial"/>
                <a:cs typeface="Arial"/>
              </a:rPr>
              <a:t>known </a:t>
            </a:r>
            <a:r>
              <a:rPr dirty="0" sz="1200" spc="-5">
                <a:latin typeface="Arial"/>
                <a:cs typeface="Arial"/>
              </a:rPr>
              <a:t>as </a:t>
            </a:r>
            <a:r>
              <a:rPr dirty="0" sz="1200">
                <a:latin typeface="Arial"/>
                <a:cs typeface="Arial"/>
              </a:rPr>
              <a:t>Dhun Nurain. </a:t>
            </a:r>
            <a:r>
              <a:rPr dirty="0" sz="1200" spc="-5">
                <a:latin typeface="Arial"/>
                <a:cs typeface="Arial"/>
              </a:rPr>
              <a:t>According </a:t>
            </a:r>
            <a:r>
              <a:rPr dirty="0" sz="1200">
                <a:latin typeface="Arial"/>
                <a:cs typeface="Arial"/>
              </a:rPr>
              <a:t>to </a:t>
            </a:r>
            <a:r>
              <a:rPr dirty="0" sz="1200" spc="-5">
                <a:latin typeface="Arial"/>
                <a:cs typeface="Arial"/>
              </a:rPr>
              <a:t>hadith </a:t>
            </a:r>
            <a:r>
              <a:rPr dirty="0" sz="1200">
                <a:latin typeface="Arial"/>
                <a:cs typeface="Arial"/>
              </a:rPr>
              <a:t>it </a:t>
            </a:r>
            <a:r>
              <a:rPr dirty="0" sz="1200" spc="-5">
                <a:latin typeface="Arial"/>
                <a:cs typeface="Arial"/>
              </a:rPr>
              <a:t>is  said that </a:t>
            </a:r>
            <a:r>
              <a:rPr dirty="0" sz="1200" spc="-10">
                <a:latin typeface="Arial"/>
                <a:cs typeface="Arial"/>
              </a:rPr>
              <a:t>if </a:t>
            </a:r>
            <a:r>
              <a:rPr dirty="0" sz="1200" spc="-5">
                <a:latin typeface="Arial"/>
                <a:cs typeface="Arial"/>
              </a:rPr>
              <a:t>the prophet had 40 daughters, </a:t>
            </a:r>
            <a:r>
              <a:rPr dirty="0" sz="1200" spc="-10">
                <a:latin typeface="Arial"/>
                <a:cs typeface="Arial"/>
              </a:rPr>
              <a:t>he </a:t>
            </a:r>
            <a:r>
              <a:rPr dirty="0" sz="1200" spc="-5">
                <a:latin typeface="Arial"/>
                <a:cs typeface="Arial"/>
              </a:rPr>
              <a:t>would get them married </a:t>
            </a:r>
            <a:r>
              <a:rPr dirty="0" sz="1200">
                <a:latin typeface="Arial"/>
                <a:cs typeface="Arial"/>
              </a:rPr>
              <a:t>to </a:t>
            </a:r>
            <a:r>
              <a:rPr dirty="0" sz="1200" spc="-5">
                <a:latin typeface="Arial"/>
                <a:cs typeface="Arial"/>
              </a:rPr>
              <a:t>hazrat Uthman. The  prophet wanted </a:t>
            </a:r>
            <a:r>
              <a:rPr dirty="0" sz="1200">
                <a:latin typeface="Arial"/>
                <a:cs typeface="Arial"/>
              </a:rPr>
              <a:t>to </a:t>
            </a:r>
            <a:r>
              <a:rPr dirty="0" sz="1200" spc="-10">
                <a:latin typeface="Arial"/>
                <a:cs typeface="Arial"/>
              </a:rPr>
              <a:t>show </a:t>
            </a:r>
            <a:r>
              <a:rPr dirty="0" sz="1200">
                <a:latin typeface="Arial"/>
                <a:cs typeface="Arial"/>
              </a:rPr>
              <a:t>how </a:t>
            </a:r>
            <a:r>
              <a:rPr dirty="0" sz="1200" spc="-5">
                <a:latin typeface="Arial"/>
                <a:cs typeface="Arial"/>
              </a:rPr>
              <a:t>excellent </a:t>
            </a:r>
            <a:r>
              <a:rPr dirty="0" sz="1200" spc="-10">
                <a:latin typeface="Arial"/>
                <a:cs typeface="Arial"/>
              </a:rPr>
              <a:t>was </a:t>
            </a:r>
            <a:r>
              <a:rPr dirty="0" sz="1200" spc="-5">
                <a:latin typeface="Arial"/>
                <a:cs typeface="Arial"/>
              </a:rPr>
              <a:t>Uthman towards his </a:t>
            </a:r>
            <a:r>
              <a:rPr dirty="0" sz="1200" spc="-10">
                <a:latin typeface="Arial"/>
                <a:cs typeface="Arial"/>
              </a:rPr>
              <a:t>wives </a:t>
            </a:r>
            <a:r>
              <a:rPr dirty="0" sz="1200" spc="-5">
                <a:latin typeface="Arial"/>
                <a:cs typeface="Arial"/>
              </a:rPr>
              <a:t>and his excellence in  morality. He </a:t>
            </a:r>
            <a:r>
              <a:rPr dirty="0" sz="1200" spc="-10">
                <a:latin typeface="Arial"/>
                <a:cs typeface="Arial"/>
              </a:rPr>
              <a:t>was </a:t>
            </a:r>
            <a:r>
              <a:rPr dirty="0" sz="1200" spc="-5">
                <a:latin typeface="Arial"/>
                <a:cs typeface="Arial"/>
              </a:rPr>
              <a:t>among </a:t>
            </a:r>
            <a:r>
              <a:rPr dirty="0" sz="1200">
                <a:latin typeface="Arial"/>
                <a:cs typeface="Arial"/>
              </a:rPr>
              <a:t>those </a:t>
            </a:r>
            <a:r>
              <a:rPr dirty="0" sz="1200" spc="-5">
                <a:latin typeface="Arial"/>
                <a:cs typeface="Arial"/>
              </a:rPr>
              <a:t>ashab </a:t>
            </a:r>
            <a:r>
              <a:rPr dirty="0" sz="1200" spc="-10">
                <a:latin typeface="Arial"/>
                <a:cs typeface="Arial"/>
              </a:rPr>
              <a:t>given </a:t>
            </a:r>
            <a:r>
              <a:rPr dirty="0" sz="1200">
                <a:latin typeface="Arial"/>
                <a:cs typeface="Arial"/>
              </a:rPr>
              <a:t>the title </a:t>
            </a:r>
            <a:r>
              <a:rPr dirty="0" sz="1200" spc="-5">
                <a:latin typeface="Arial"/>
                <a:cs typeface="Arial"/>
              </a:rPr>
              <a:t>of Jannati by the prophet. Uthman </a:t>
            </a:r>
            <a:r>
              <a:rPr dirty="0" sz="1200" spc="-10">
                <a:latin typeface="Arial"/>
                <a:cs typeface="Arial"/>
              </a:rPr>
              <a:t>was  </a:t>
            </a:r>
            <a:r>
              <a:rPr dirty="0" sz="1200" spc="-5">
                <a:latin typeface="Arial"/>
                <a:cs typeface="Arial"/>
              </a:rPr>
              <a:t>deeply </a:t>
            </a:r>
            <a:r>
              <a:rPr dirty="0" sz="1200">
                <a:latin typeface="Arial"/>
                <a:cs typeface="Arial"/>
              </a:rPr>
              <a:t>rooted </a:t>
            </a:r>
            <a:r>
              <a:rPr dirty="0" sz="1200" spc="-5">
                <a:latin typeface="Arial"/>
                <a:cs typeface="Arial"/>
              </a:rPr>
              <a:t>in </a:t>
            </a:r>
            <a:r>
              <a:rPr dirty="0" sz="1200">
                <a:latin typeface="Arial"/>
                <a:cs typeface="Arial"/>
              </a:rPr>
              <a:t>religion </a:t>
            </a:r>
            <a:r>
              <a:rPr dirty="0" sz="1200" spc="-5">
                <a:latin typeface="Arial"/>
                <a:cs typeface="Arial"/>
              </a:rPr>
              <a:t>and spirituality </a:t>
            </a:r>
            <a:r>
              <a:rPr dirty="0" sz="1200">
                <a:latin typeface="Arial"/>
                <a:cs typeface="Arial"/>
              </a:rPr>
              <a:t>that </a:t>
            </a:r>
            <a:r>
              <a:rPr dirty="0" sz="1200" spc="-5">
                <a:latin typeface="Arial"/>
                <a:cs typeface="Arial"/>
              </a:rPr>
              <a:t>he used to spend most of his nights in Ibaadah  </a:t>
            </a:r>
            <a:r>
              <a:rPr dirty="0" sz="1200">
                <a:latin typeface="Arial"/>
                <a:cs typeface="Arial"/>
              </a:rPr>
              <a:t>and </a:t>
            </a:r>
            <a:r>
              <a:rPr dirty="0" sz="1200" spc="-5">
                <a:latin typeface="Arial"/>
                <a:cs typeface="Arial"/>
              </a:rPr>
              <a:t>remembrance of Allah. The holy Qur‘an became his weapon against all his problems  whether financial, social </a:t>
            </a:r>
            <a:r>
              <a:rPr dirty="0" sz="1200">
                <a:latin typeface="Arial"/>
                <a:cs typeface="Arial"/>
              </a:rPr>
              <a:t>or </a:t>
            </a:r>
            <a:r>
              <a:rPr dirty="0" sz="1200" spc="-5">
                <a:latin typeface="Arial"/>
                <a:cs typeface="Arial"/>
              </a:rPr>
              <a:t>spiritual. Reading </a:t>
            </a:r>
            <a:r>
              <a:rPr dirty="0" sz="1200">
                <a:latin typeface="Arial"/>
                <a:cs typeface="Arial"/>
              </a:rPr>
              <a:t>the </a:t>
            </a:r>
            <a:r>
              <a:rPr dirty="0" sz="1200" spc="-5">
                <a:latin typeface="Arial"/>
                <a:cs typeface="Arial"/>
              </a:rPr>
              <a:t>Qur‘an was </a:t>
            </a:r>
            <a:r>
              <a:rPr dirty="0" sz="1200">
                <a:latin typeface="Arial"/>
                <a:cs typeface="Arial"/>
              </a:rPr>
              <a:t>the </a:t>
            </a:r>
            <a:r>
              <a:rPr dirty="0" sz="1200" spc="-5">
                <a:latin typeface="Arial"/>
                <a:cs typeface="Arial"/>
              </a:rPr>
              <a:t>blessing in which Uthman  dedicated his life. He </a:t>
            </a:r>
            <a:r>
              <a:rPr dirty="0" sz="1200" spc="-10">
                <a:latin typeface="Arial"/>
                <a:cs typeface="Arial"/>
              </a:rPr>
              <a:t>was </a:t>
            </a:r>
            <a:r>
              <a:rPr dirty="0" sz="1200" spc="-5">
                <a:latin typeface="Arial"/>
                <a:cs typeface="Arial"/>
              </a:rPr>
              <a:t>not able </a:t>
            </a:r>
            <a:r>
              <a:rPr dirty="0" sz="1200">
                <a:latin typeface="Arial"/>
                <a:cs typeface="Arial"/>
              </a:rPr>
              <a:t>to </a:t>
            </a:r>
            <a:r>
              <a:rPr dirty="0" sz="1200" spc="-5">
                <a:latin typeface="Arial"/>
                <a:cs typeface="Arial"/>
              </a:rPr>
              <a:t>participate in all battles of the prophet due </a:t>
            </a:r>
            <a:r>
              <a:rPr dirty="0" sz="1200">
                <a:latin typeface="Arial"/>
                <a:cs typeface="Arial"/>
              </a:rPr>
              <a:t>to </a:t>
            </a:r>
            <a:r>
              <a:rPr dirty="0" sz="1200" spc="-5">
                <a:latin typeface="Arial"/>
                <a:cs typeface="Arial"/>
              </a:rPr>
              <a:t>illness </a:t>
            </a:r>
            <a:r>
              <a:rPr dirty="0" sz="1200">
                <a:latin typeface="Arial"/>
                <a:cs typeface="Arial"/>
              </a:rPr>
              <a:t>of  </a:t>
            </a:r>
            <a:r>
              <a:rPr dirty="0" sz="1200" spc="-5">
                <a:latin typeface="Arial"/>
                <a:cs typeface="Arial"/>
              </a:rPr>
              <a:t>Ruqayyah </a:t>
            </a:r>
            <a:r>
              <a:rPr dirty="0" sz="1200">
                <a:latin typeface="Arial"/>
                <a:cs typeface="Arial"/>
              </a:rPr>
              <a:t>at </a:t>
            </a:r>
            <a:r>
              <a:rPr dirty="0" sz="1200" spc="-5">
                <a:latin typeface="Arial"/>
                <a:cs typeface="Arial"/>
              </a:rPr>
              <a:t>Madina. Nevertheless he </a:t>
            </a:r>
            <a:r>
              <a:rPr dirty="0" sz="1200" spc="-10">
                <a:latin typeface="Arial"/>
                <a:cs typeface="Arial"/>
              </a:rPr>
              <a:t>was </a:t>
            </a:r>
            <a:r>
              <a:rPr dirty="0" sz="1200" spc="-5">
                <a:latin typeface="Arial"/>
                <a:cs typeface="Arial"/>
              </a:rPr>
              <a:t>always </a:t>
            </a:r>
            <a:r>
              <a:rPr dirty="0" sz="1200">
                <a:latin typeface="Arial"/>
                <a:cs typeface="Arial"/>
              </a:rPr>
              <a:t>among the first to </a:t>
            </a:r>
            <a:r>
              <a:rPr dirty="0" sz="1200" spc="-5">
                <a:latin typeface="Arial"/>
                <a:cs typeface="Arial"/>
              </a:rPr>
              <a:t>spend his wealth and  property in the </a:t>
            </a:r>
            <a:r>
              <a:rPr dirty="0" sz="1200" spc="-10">
                <a:latin typeface="Arial"/>
                <a:cs typeface="Arial"/>
              </a:rPr>
              <a:t>way </a:t>
            </a:r>
            <a:r>
              <a:rPr dirty="0" sz="1200">
                <a:latin typeface="Arial"/>
                <a:cs typeface="Arial"/>
              </a:rPr>
              <a:t>of </a:t>
            </a:r>
            <a:r>
              <a:rPr dirty="0" sz="1200" spc="-5">
                <a:latin typeface="Arial"/>
                <a:cs typeface="Arial"/>
              </a:rPr>
              <a:t>Allah and</a:t>
            </a:r>
            <a:r>
              <a:rPr dirty="0" sz="1200">
                <a:latin typeface="Arial"/>
                <a:cs typeface="Arial"/>
              </a:rPr>
              <a:t> </a:t>
            </a:r>
            <a:r>
              <a:rPr dirty="0" sz="1200" spc="-5">
                <a:latin typeface="Arial"/>
                <a:cs typeface="Arial"/>
              </a:rPr>
              <a:t>Jihad.</a:t>
            </a:r>
            <a:endParaRPr sz="1200">
              <a:latin typeface="Arial"/>
              <a:cs typeface="Arial"/>
            </a:endParaRPr>
          </a:p>
          <a:p>
            <a:pPr>
              <a:lnSpc>
                <a:spcPct val="100000"/>
              </a:lnSpc>
              <a:spcBef>
                <a:spcPts val="15"/>
              </a:spcBef>
            </a:pPr>
            <a:endParaRPr sz="1100">
              <a:latin typeface="Arial"/>
              <a:cs typeface="Arial"/>
            </a:endParaRPr>
          </a:p>
          <a:p>
            <a:pPr marL="101600">
              <a:lnSpc>
                <a:spcPct val="100000"/>
              </a:lnSpc>
              <a:spcBef>
                <a:spcPts val="5"/>
              </a:spcBef>
            </a:pPr>
            <a:r>
              <a:rPr dirty="0" u="heavy" sz="1200" b="1" i="1">
                <a:uFill>
                  <a:solidFill>
                    <a:srgbClr val="000000"/>
                  </a:solidFill>
                </a:uFill>
                <a:latin typeface="Arial"/>
                <a:cs typeface="Arial"/>
              </a:rPr>
              <a:t>Life of </a:t>
            </a:r>
            <a:r>
              <a:rPr dirty="0" u="heavy" sz="1200" spc="-5" b="1" i="1">
                <a:uFill>
                  <a:solidFill>
                    <a:srgbClr val="000000"/>
                  </a:solidFill>
                </a:uFill>
                <a:latin typeface="Arial"/>
                <a:cs typeface="Arial"/>
              </a:rPr>
              <a:t>Caliphate and</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Achievements</a:t>
            </a:r>
            <a:endParaRPr sz="1200">
              <a:latin typeface="Arial"/>
              <a:cs typeface="Arial"/>
            </a:endParaRPr>
          </a:p>
          <a:p>
            <a:pPr>
              <a:lnSpc>
                <a:spcPct val="100000"/>
              </a:lnSpc>
              <a:spcBef>
                <a:spcPts val="35"/>
              </a:spcBef>
            </a:pPr>
            <a:endParaRPr sz="1200">
              <a:latin typeface="Arial"/>
              <a:cs typeface="Arial"/>
            </a:endParaRPr>
          </a:p>
          <a:p>
            <a:pPr algn="just" marL="101600" marR="92710">
              <a:lnSpc>
                <a:spcPts val="1380"/>
              </a:lnSpc>
            </a:pPr>
            <a:r>
              <a:rPr dirty="0" sz="1200">
                <a:latin typeface="Arial"/>
                <a:cs typeface="Arial"/>
              </a:rPr>
              <a:t>After </a:t>
            </a:r>
            <a:r>
              <a:rPr dirty="0" sz="1200" spc="-5">
                <a:latin typeface="Arial"/>
                <a:cs typeface="Arial"/>
              </a:rPr>
              <a:t>the death Of </a:t>
            </a:r>
            <a:r>
              <a:rPr dirty="0" sz="1200" spc="-10">
                <a:latin typeface="Arial"/>
                <a:cs typeface="Arial"/>
              </a:rPr>
              <a:t>Umar </a:t>
            </a:r>
            <a:r>
              <a:rPr dirty="0" sz="1200">
                <a:latin typeface="Arial"/>
                <a:cs typeface="Arial"/>
              </a:rPr>
              <a:t>– </a:t>
            </a:r>
            <a:r>
              <a:rPr dirty="0" sz="1200" spc="-5">
                <a:latin typeface="Arial"/>
                <a:cs typeface="Arial"/>
              </a:rPr>
              <a:t>killed by Abu Lulu known as Firoz, </a:t>
            </a:r>
            <a:r>
              <a:rPr dirty="0" sz="1200">
                <a:latin typeface="Arial"/>
                <a:cs typeface="Arial"/>
              </a:rPr>
              <a:t>there </a:t>
            </a:r>
            <a:r>
              <a:rPr dirty="0" sz="1200" spc="-10">
                <a:latin typeface="Arial"/>
                <a:cs typeface="Arial"/>
              </a:rPr>
              <a:t>was </a:t>
            </a:r>
            <a:r>
              <a:rPr dirty="0" sz="1200" spc="-5">
                <a:latin typeface="Arial"/>
                <a:cs typeface="Arial"/>
              </a:rPr>
              <a:t>a panel from which  </a:t>
            </a:r>
            <a:r>
              <a:rPr dirty="0" sz="1200">
                <a:latin typeface="Arial"/>
                <a:cs typeface="Arial"/>
              </a:rPr>
              <a:t>the </a:t>
            </a:r>
            <a:r>
              <a:rPr dirty="0" sz="1200" spc="-5">
                <a:latin typeface="Arial"/>
                <a:cs typeface="Arial"/>
              </a:rPr>
              <a:t>new caliph would be chosen. </a:t>
            </a:r>
            <a:r>
              <a:rPr dirty="0" sz="1200">
                <a:latin typeface="Arial"/>
                <a:cs typeface="Arial"/>
              </a:rPr>
              <a:t>The </a:t>
            </a:r>
            <a:r>
              <a:rPr dirty="0" sz="1200" spc="-5">
                <a:latin typeface="Arial"/>
                <a:cs typeface="Arial"/>
              </a:rPr>
              <a:t>following </a:t>
            </a:r>
            <a:r>
              <a:rPr dirty="0" sz="1200">
                <a:latin typeface="Arial"/>
                <a:cs typeface="Arial"/>
              </a:rPr>
              <a:t>names </a:t>
            </a:r>
            <a:r>
              <a:rPr dirty="0" sz="1200" spc="-5">
                <a:latin typeface="Arial"/>
                <a:cs typeface="Arial"/>
              </a:rPr>
              <a:t>can be mentioned: Hazrat Ali,  Uthman, Zubair bin Awwam, Talha, Abdur rahman bin Awf, Sa‘d bin </a:t>
            </a:r>
            <a:r>
              <a:rPr dirty="0" sz="1200">
                <a:latin typeface="Arial"/>
                <a:cs typeface="Arial"/>
              </a:rPr>
              <a:t>Abi Waqqas. </a:t>
            </a:r>
            <a:r>
              <a:rPr dirty="0" sz="1200" spc="-5">
                <a:latin typeface="Arial"/>
                <a:cs typeface="Arial"/>
              </a:rPr>
              <a:t>He was  </a:t>
            </a:r>
            <a:r>
              <a:rPr dirty="0" sz="1200">
                <a:latin typeface="Arial"/>
                <a:cs typeface="Arial"/>
              </a:rPr>
              <a:t>thus </a:t>
            </a:r>
            <a:r>
              <a:rPr dirty="0" sz="1200" spc="-5">
                <a:latin typeface="Arial"/>
                <a:cs typeface="Arial"/>
              </a:rPr>
              <a:t>selected </a:t>
            </a:r>
            <a:r>
              <a:rPr dirty="0" sz="1200">
                <a:latin typeface="Arial"/>
                <a:cs typeface="Arial"/>
              </a:rPr>
              <a:t>as </a:t>
            </a:r>
            <a:r>
              <a:rPr dirty="0" sz="1200" spc="-5">
                <a:latin typeface="Arial"/>
                <a:cs typeface="Arial"/>
              </a:rPr>
              <a:t>Ameerul Mu‘mineen. He continued </a:t>
            </a:r>
            <a:r>
              <a:rPr dirty="0" sz="1200" spc="-10">
                <a:latin typeface="Arial"/>
                <a:cs typeface="Arial"/>
              </a:rPr>
              <a:t>with </a:t>
            </a:r>
            <a:r>
              <a:rPr dirty="0" sz="1200">
                <a:latin typeface="Arial"/>
                <a:cs typeface="Arial"/>
              </a:rPr>
              <a:t>the </a:t>
            </a:r>
            <a:r>
              <a:rPr dirty="0" sz="1200" spc="-5">
                <a:latin typeface="Arial"/>
                <a:cs typeface="Arial"/>
              </a:rPr>
              <a:t>same administrative measures  as </a:t>
            </a:r>
            <a:r>
              <a:rPr dirty="0" sz="1200">
                <a:latin typeface="Arial"/>
                <a:cs typeface="Arial"/>
              </a:rPr>
              <a:t>the </a:t>
            </a:r>
            <a:r>
              <a:rPr dirty="0" sz="1200" spc="-5">
                <a:latin typeface="Arial"/>
                <a:cs typeface="Arial"/>
              </a:rPr>
              <a:t>2 previous caliphs, but </a:t>
            </a:r>
            <a:r>
              <a:rPr dirty="0" sz="1200" spc="-10">
                <a:latin typeface="Arial"/>
                <a:cs typeface="Arial"/>
              </a:rPr>
              <a:t>he was </a:t>
            </a:r>
            <a:r>
              <a:rPr dirty="0" sz="1200" spc="-5">
                <a:latin typeface="Arial"/>
                <a:cs typeface="Arial"/>
              </a:rPr>
              <a:t>a bit relaxed on </a:t>
            </a:r>
            <a:r>
              <a:rPr dirty="0" sz="1200">
                <a:latin typeface="Arial"/>
                <a:cs typeface="Arial"/>
              </a:rPr>
              <a:t>the </a:t>
            </a:r>
            <a:r>
              <a:rPr dirty="0" sz="1200" spc="-5">
                <a:latin typeface="Arial"/>
                <a:cs typeface="Arial"/>
              </a:rPr>
              <a:t>restrictions imposed on people </a:t>
            </a:r>
            <a:r>
              <a:rPr dirty="0" sz="1200" spc="-10">
                <a:latin typeface="Arial"/>
                <a:cs typeface="Arial"/>
              </a:rPr>
              <a:t>and  </a:t>
            </a:r>
            <a:r>
              <a:rPr dirty="0" sz="1200" spc="-5">
                <a:latin typeface="Arial"/>
                <a:cs typeface="Arial"/>
              </a:rPr>
              <a:t>consequences when going against </a:t>
            </a:r>
            <a:r>
              <a:rPr dirty="0" sz="1200">
                <a:latin typeface="Arial"/>
                <a:cs typeface="Arial"/>
              </a:rPr>
              <a:t>the Shari‘ah. </a:t>
            </a:r>
            <a:r>
              <a:rPr dirty="0" sz="1200" spc="-5">
                <a:latin typeface="Arial"/>
                <a:cs typeface="Arial"/>
              </a:rPr>
              <a:t>He ordered </a:t>
            </a:r>
            <a:r>
              <a:rPr dirty="0" sz="1200" spc="-10">
                <a:latin typeface="Arial"/>
                <a:cs typeface="Arial"/>
              </a:rPr>
              <a:t>the </a:t>
            </a:r>
            <a:r>
              <a:rPr dirty="0" sz="1200" spc="-5">
                <a:latin typeface="Arial"/>
                <a:cs typeface="Arial"/>
              </a:rPr>
              <a:t>construction of </a:t>
            </a:r>
            <a:r>
              <a:rPr dirty="0" sz="1200">
                <a:latin typeface="Arial"/>
                <a:cs typeface="Arial"/>
              </a:rPr>
              <a:t>inns for  </a:t>
            </a:r>
            <a:r>
              <a:rPr dirty="0" sz="1200" spc="-5">
                <a:latin typeface="Arial"/>
                <a:cs typeface="Arial"/>
              </a:rPr>
              <a:t>foreigners, border-out-posts </a:t>
            </a:r>
            <a:r>
              <a:rPr dirty="0" sz="1200">
                <a:latin typeface="Arial"/>
                <a:cs typeface="Arial"/>
              </a:rPr>
              <a:t>for </a:t>
            </a:r>
            <a:r>
              <a:rPr dirty="0" sz="1200" spc="-5">
                <a:latin typeface="Arial"/>
                <a:cs typeface="Arial"/>
              </a:rPr>
              <a:t>consolidating </a:t>
            </a:r>
            <a:r>
              <a:rPr dirty="0" sz="1200">
                <a:latin typeface="Arial"/>
                <a:cs typeface="Arial"/>
              </a:rPr>
              <a:t>the </a:t>
            </a:r>
            <a:r>
              <a:rPr dirty="0" sz="1200" spc="-5">
                <a:latin typeface="Arial"/>
                <a:cs typeface="Arial"/>
              </a:rPr>
              <a:t>borders, guest houses and supply </a:t>
            </a:r>
            <a:r>
              <a:rPr dirty="0" sz="1200">
                <a:latin typeface="Arial"/>
                <a:cs typeface="Arial"/>
              </a:rPr>
              <a:t>of </a:t>
            </a:r>
            <a:r>
              <a:rPr dirty="0" sz="1200" spc="-5">
                <a:latin typeface="Arial"/>
                <a:cs typeface="Arial"/>
              </a:rPr>
              <a:t>water  </a:t>
            </a:r>
            <a:r>
              <a:rPr dirty="0" sz="1200">
                <a:latin typeface="Arial"/>
                <a:cs typeface="Arial"/>
              </a:rPr>
              <a:t>for </a:t>
            </a:r>
            <a:r>
              <a:rPr dirty="0" sz="1200" spc="-5">
                <a:latin typeface="Arial"/>
                <a:cs typeface="Arial"/>
              </a:rPr>
              <a:t>travellers. </a:t>
            </a:r>
            <a:r>
              <a:rPr dirty="0" sz="1200">
                <a:latin typeface="Arial"/>
                <a:cs typeface="Arial"/>
              </a:rPr>
              <a:t>There </a:t>
            </a:r>
            <a:r>
              <a:rPr dirty="0" sz="1200" spc="-5">
                <a:latin typeface="Arial"/>
                <a:cs typeface="Arial"/>
              </a:rPr>
              <a:t>were wells on </a:t>
            </a:r>
            <a:r>
              <a:rPr dirty="0" sz="1200">
                <a:latin typeface="Arial"/>
                <a:cs typeface="Arial"/>
              </a:rPr>
              <a:t>the sides of </a:t>
            </a:r>
            <a:r>
              <a:rPr dirty="0" sz="1200" spc="-5">
                <a:latin typeface="Arial"/>
                <a:cs typeface="Arial"/>
              </a:rPr>
              <a:t>roads (routes) and dam </a:t>
            </a:r>
            <a:r>
              <a:rPr dirty="0" sz="1200" spc="-10">
                <a:latin typeface="Arial"/>
                <a:cs typeface="Arial"/>
              </a:rPr>
              <a:t>was </a:t>
            </a:r>
            <a:r>
              <a:rPr dirty="0" sz="1200" spc="-5">
                <a:latin typeface="Arial"/>
                <a:cs typeface="Arial"/>
              </a:rPr>
              <a:t>built </a:t>
            </a:r>
            <a:r>
              <a:rPr dirty="0" sz="1200">
                <a:latin typeface="Arial"/>
                <a:cs typeface="Arial"/>
              </a:rPr>
              <a:t>to protect  </a:t>
            </a:r>
            <a:r>
              <a:rPr dirty="0" sz="1200" spc="-5">
                <a:latin typeface="Arial"/>
                <a:cs typeface="Arial"/>
              </a:rPr>
              <a:t>Macca and Madina from flood. He raised salaries of officers </a:t>
            </a:r>
            <a:r>
              <a:rPr dirty="0" sz="1200" spc="5">
                <a:latin typeface="Arial"/>
                <a:cs typeface="Arial"/>
              </a:rPr>
              <a:t>and </a:t>
            </a:r>
            <a:r>
              <a:rPr dirty="0" sz="1200" spc="-5">
                <a:latin typeface="Arial"/>
                <a:cs typeface="Arial"/>
              </a:rPr>
              <a:t>armed </a:t>
            </a:r>
            <a:r>
              <a:rPr dirty="0" sz="1200">
                <a:latin typeface="Arial"/>
                <a:cs typeface="Arial"/>
              </a:rPr>
              <a:t>forces. </a:t>
            </a:r>
            <a:r>
              <a:rPr dirty="0" sz="1200" spc="-5">
                <a:latin typeface="Arial"/>
                <a:cs typeface="Arial"/>
              </a:rPr>
              <a:t>He increased  allowance paid to people by 25%. He helped in </a:t>
            </a:r>
            <a:r>
              <a:rPr dirty="0" sz="1200">
                <a:latin typeface="Arial"/>
                <a:cs typeface="Arial"/>
              </a:rPr>
              <a:t>the </a:t>
            </a:r>
            <a:r>
              <a:rPr dirty="0" sz="1200" spc="-5">
                <a:latin typeface="Arial"/>
                <a:cs typeface="Arial"/>
              </a:rPr>
              <a:t>spreading of Islam till India. He deputed  teachers </a:t>
            </a:r>
            <a:r>
              <a:rPr dirty="0" sz="1200">
                <a:latin typeface="Arial"/>
                <a:cs typeface="Arial"/>
              </a:rPr>
              <a:t>for </a:t>
            </a:r>
            <a:r>
              <a:rPr dirty="0" sz="1200" spc="-5">
                <a:latin typeface="Arial"/>
                <a:cs typeface="Arial"/>
              </a:rPr>
              <a:t>the spreading of Islam. He embarked in the recompilation of the Qur‘an. Due </a:t>
            </a:r>
            <a:r>
              <a:rPr dirty="0" sz="1200">
                <a:latin typeface="Arial"/>
                <a:cs typeface="Arial"/>
              </a:rPr>
              <a:t>to  the</a:t>
            </a:r>
            <a:r>
              <a:rPr dirty="0" sz="1200" spc="50">
                <a:latin typeface="Arial"/>
                <a:cs typeface="Arial"/>
              </a:rPr>
              <a:t> </a:t>
            </a:r>
            <a:r>
              <a:rPr dirty="0" sz="1200" spc="-5">
                <a:latin typeface="Arial"/>
                <a:cs typeface="Arial"/>
              </a:rPr>
              <a:t>problems</a:t>
            </a:r>
            <a:r>
              <a:rPr dirty="0" sz="1200" spc="65">
                <a:latin typeface="Arial"/>
                <a:cs typeface="Arial"/>
              </a:rPr>
              <a:t> </a:t>
            </a:r>
            <a:r>
              <a:rPr dirty="0" sz="1200" spc="-5">
                <a:latin typeface="Arial"/>
                <a:cs typeface="Arial"/>
              </a:rPr>
              <a:t>between</a:t>
            </a:r>
            <a:r>
              <a:rPr dirty="0" sz="1200" spc="50">
                <a:latin typeface="Arial"/>
                <a:cs typeface="Arial"/>
              </a:rPr>
              <a:t> </a:t>
            </a:r>
            <a:r>
              <a:rPr dirty="0" sz="1200">
                <a:latin typeface="Arial"/>
                <a:cs typeface="Arial"/>
              </a:rPr>
              <a:t>the</a:t>
            </a:r>
            <a:r>
              <a:rPr dirty="0" sz="1200" spc="70">
                <a:latin typeface="Arial"/>
                <a:cs typeface="Arial"/>
              </a:rPr>
              <a:t> </a:t>
            </a:r>
            <a:r>
              <a:rPr dirty="0" sz="1200" spc="-5">
                <a:latin typeface="Arial"/>
                <a:cs typeface="Arial"/>
              </a:rPr>
              <a:t>Yemenite</a:t>
            </a:r>
            <a:r>
              <a:rPr dirty="0" sz="1200" spc="70">
                <a:latin typeface="Arial"/>
                <a:cs typeface="Arial"/>
              </a:rPr>
              <a:t> </a:t>
            </a:r>
            <a:r>
              <a:rPr dirty="0" sz="1200" spc="-5">
                <a:latin typeface="Arial"/>
                <a:cs typeface="Arial"/>
              </a:rPr>
              <a:t>and</a:t>
            </a:r>
            <a:r>
              <a:rPr dirty="0" sz="1200" spc="50">
                <a:latin typeface="Arial"/>
                <a:cs typeface="Arial"/>
              </a:rPr>
              <a:t> </a:t>
            </a:r>
            <a:r>
              <a:rPr dirty="0" sz="1200">
                <a:latin typeface="Arial"/>
                <a:cs typeface="Arial"/>
              </a:rPr>
              <a:t>Syrian</a:t>
            </a:r>
            <a:r>
              <a:rPr dirty="0" sz="1200" spc="65">
                <a:latin typeface="Arial"/>
                <a:cs typeface="Arial"/>
              </a:rPr>
              <a:t> </a:t>
            </a:r>
            <a:r>
              <a:rPr dirty="0" sz="1200" spc="-5">
                <a:latin typeface="Arial"/>
                <a:cs typeface="Arial"/>
              </a:rPr>
              <a:t>armies</a:t>
            </a:r>
            <a:r>
              <a:rPr dirty="0" sz="1200" spc="65">
                <a:latin typeface="Arial"/>
                <a:cs typeface="Arial"/>
              </a:rPr>
              <a:t> </a:t>
            </a:r>
            <a:r>
              <a:rPr dirty="0" sz="1200" spc="-5">
                <a:latin typeface="Arial"/>
                <a:cs typeface="Arial"/>
              </a:rPr>
              <a:t>on</a:t>
            </a:r>
            <a:r>
              <a:rPr dirty="0" sz="1200" spc="60">
                <a:latin typeface="Arial"/>
                <a:cs typeface="Arial"/>
              </a:rPr>
              <a:t> </a:t>
            </a:r>
            <a:r>
              <a:rPr dirty="0" sz="1200" spc="-5">
                <a:latin typeface="Arial"/>
                <a:cs typeface="Arial"/>
              </a:rPr>
              <a:t>dialects</a:t>
            </a:r>
            <a:r>
              <a:rPr dirty="0" sz="1200" spc="55">
                <a:latin typeface="Arial"/>
                <a:cs typeface="Arial"/>
              </a:rPr>
              <a:t> </a:t>
            </a:r>
            <a:r>
              <a:rPr dirty="0" sz="1200" spc="-5">
                <a:latin typeface="Arial"/>
                <a:cs typeface="Arial"/>
              </a:rPr>
              <a:t>of</a:t>
            </a:r>
            <a:r>
              <a:rPr dirty="0" sz="1200" spc="70">
                <a:latin typeface="Arial"/>
                <a:cs typeface="Arial"/>
              </a:rPr>
              <a:t> </a:t>
            </a:r>
            <a:r>
              <a:rPr dirty="0" sz="1200" spc="-5">
                <a:latin typeface="Arial"/>
                <a:cs typeface="Arial"/>
              </a:rPr>
              <a:t>the</a:t>
            </a:r>
            <a:r>
              <a:rPr dirty="0" sz="1200" spc="65">
                <a:latin typeface="Arial"/>
                <a:cs typeface="Arial"/>
              </a:rPr>
              <a:t> </a:t>
            </a:r>
            <a:r>
              <a:rPr dirty="0" sz="1200" spc="-5">
                <a:latin typeface="Arial"/>
                <a:cs typeface="Arial"/>
              </a:rPr>
              <a:t>Qur‘an,</a:t>
            </a:r>
            <a:r>
              <a:rPr dirty="0" sz="1200" spc="65">
                <a:latin typeface="Arial"/>
                <a:cs typeface="Arial"/>
              </a:rPr>
              <a:t> </a:t>
            </a:r>
            <a:r>
              <a:rPr dirty="0" sz="1200" spc="-5">
                <a:latin typeface="Arial"/>
                <a:cs typeface="Arial"/>
              </a:rPr>
              <a:t>he</a:t>
            </a:r>
            <a:r>
              <a:rPr dirty="0" sz="1200" spc="60">
                <a:latin typeface="Arial"/>
                <a:cs typeface="Arial"/>
              </a:rPr>
              <a:t> </a:t>
            </a:r>
            <a:r>
              <a:rPr dirty="0" sz="1200" spc="-5">
                <a:latin typeface="Arial"/>
                <a:cs typeface="Arial"/>
              </a:rPr>
              <a:t>burned</a:t>
            </a:r>
            <a:endParaRPr sz="1200">
              <a:latin typeface="Arial"/>
              <a:cs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265" cy="938403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5080">
              <a:lnSpc>
                <a:spcPct val="95800"/>
              </a:lnSpc>
            </a:pPr>
            <a:r>
              <a:rPr dirty="0" sz="1200" spc="-5">
                <a:latin typeface="Arial"/>
                <a:cs typeface="Arial"/>
              </a:rPr>
              <a:t>all circulating copies of </a:t>
            </a:r>
            <a:r>
              <a:rPr dirty="0" sz="1200">
                <a:latin typeface="Arial"/>
                <a:cs typeface="Arial"/>
              </a:rPr>
              <a:t>the </a:t>
            </a:r>
            <a:r>
              <a:rPr dirty="0" sz="1200" spc="-5">
                <a:latin typeface="Arial"/>
                <a:cs typeface="Arial"/>
              </a:rPr>
              <a:t>Qur‘an, made </a:t>
            </a:r>
            <a:r>
              <a:rPr dirty="0" sz="1200">
                <a:latin typeface="Arial"/>
                <a:cs typeface="Arial"/>
              </a:rPr>
              <a:t>7 </a:t>
            </a:r>
            <a:r>
              <a:rPr dirty="0" sz="1200" spc="-5">
                <a:latin typeface="Arial"/>
                <a:cs typeface="Arial"/>
              </a:rPr>
              <a:t>copies to </a:t>
            </a:r>
            <a:r>
              <a:rPr dirty="0" sz="1200">
                <a:latin typeface="Arial"/>
                <a:cs typeface="Arial"/>
              </a:rPr>
              <a:t>be </a:t>
            </a:r>
            <a:r>
              <a:rPr dirty="0" sz="1200" spc="-5">
                <a:latin typeface="Arial"/>
                <a:cs typeface="Arial"/>
              </a:rPr>
              <a:t>distributed </a:t>
            </a:r>
            <a:r>
              <a:rPr dirty="0" sz="1200">
                <a:latin typeface="Arial"/>
                <a:cs typeface="Arial"/>
              </a:rPr>
              <a:t>to 7 </a:t>
            </a:r>
            <a:r>
              <a:rPr dirty="0" sz="1200" spc="-5">
                <a:latin typeface="Arial"/>
                <a:cs typeface="Arial"/>
              </a:rPr>
              <a:t>different </a:t>
            </a:r>
            <a:r>
              <a:rPr dirty="0" sz="1200">
                <a:latin typeface="Arial"/>
                <a:cs typeface="Arial"/>
              </a:rPr>
              <a:t>parts </a:t>
            </a:r>
            <a:r>
              <a:rPr dirty="0" sz="1200" spc="-5">
                <a:latin typeface="Arial"/>
                <a:cs typeface="Arial"/>
              </a:rPr>
              <a:t>of </a:t>
            </a:r>
            <a:r>
              <a:rPr dirty="0" sz="1200" spc="-10">
                <a:latin typeface="Arial"/>
                <a:cs typeface="Arial"/>
              </a:rPr>
              <a:t>the  </a:t>
            </a:r>
            <a:r>
              <a:rPr dirty="0" sz="1200" spc="-5">
                <a:latin typeface="Arial"/>
                <a:cs typeface="Arial"/>
              </a:rPr>
              <a:t>world. He </a:t>
            </a:r>
            <a:r>
              <a:rPr dirty="0" sz="1200">
                <a:latin typeface="Arial"/>
                <a:cs typeface="Arial"/>
              </a:rPr>
              <a:t>made </a:t>
            </a:r>
            <a:r>
              <a:rPr dirty="0" sz="1200" spc="-5">
                <a:latin typeface="Arial"/>
                <a:cs typeface="Arial"/>
              </a:rPr>
              <a:t>different conquests to the whole </a:t>
            </a:r>
            <a:r>
              <a:rPr dirty="0" sz="1200">
                <a:latin typeface="Arial"/>
                <a:cs typeface="Arial"/>
              </a:rPr>
              <a:t>of </a:t>
            </a:r>
            <a:r>
              <a:rPr dirty="0" sz="1200" spc="-5">
                <a:latin typeface="Arial"/>
                <a:cs typeface="Arial"/>
              </a:rPr>
              <a:t>North Africa, </a:t>
            </a:r>
            <a:r>
              <a:rPr dirty="0" sz="1200" spc="5">
                <a:latin typeface="Arial"/>
                <a:cs typeface="Arial"/>
              </a:rPr>
              <a:t>Libya, </a:t>
            </a:r>
            <a:r>
              <a:rPr dirty="0" sz="1200" spc="-5">
                <a:latin typeface="Arial"/>
                <a:cs typeface="Arial"/>
              </a:rPr>
              <a:t>Tunisia, Algeria,  Morocco, the Island of Cyprus and Hijaz. </a:t>
            </a:r>
            <a:r>
              <a:rPr dirty="0" sz="1200">
                <a:latin typeface="Arial"/>
                <a:cs typeface="Arial"/>
              </a:rPr>
              <a:t>In </a:t>
            </a:r>
            <a:r>
              <a:rPr dirty="0" sz="1200" spc="-5">
                <a:latin typeface="Arial"/>
                <a:cs typeface="Arial"/>
              </a:rPr>
              <a:t>this </a:t>
            </a:r>
            <a:r>
              <a:rPr dirty="0" sz="1200" spc="-10">
                <a:latin typeface="Arial"/>
                <a:cs typeface="Arial"/>
              </a:rPr>
              <a:t>way </a:t>
            </a:r>
            <a:r>
              <a:rPr dirty="0" sz="1200" spc="-5">
                <a:latin typeface="Arial"/>
                <a:cs typeface="Arial"/>
              </a:rPr>
              <a:t>he crushed down all revolts and  differences in the Qur‘anic dialects. </a:t>
            </a:r>
            <a:r>
              <a:rPr dirty="0" sz="1200">
                <a:latin typeface="Arial"/>
                <a:cs typeface="Arial"/>
              </a:rPr>
              <a:t>This </a:t>
            </a:r>
            <a:r>
              <a:rPr dirty="0" sz="1200" spc="-10">
                <a:latin typeface="Arial"/>
                <a:cs typeface="Arial"/>
              </a:rPr>
              <a:t>move was </a:t>
            </a:r>
            <a:r>
              <a:rPr dirty="0" sz="1200">
                <a:latin typeface="Arial"/>
                <a:cs typeface="Arial"/>
              </a:rPr>
              <a:t>much </a:t>
            </a:r>
            <a:r>
              <a:rPr dirty="0" sz="1200" spc="-5">
                <a:latin typeface="Arial"/>
                <a:cs typeface="Arial"/>
              </a:rPr>
              <a:t>appreciated by </a:t>
            </a:r>
            <a:r>
              <a:rPr dirty="0" sz="1200">
                <a:latin typeface="Arial"/>
                <a:cs typeface="Arial"/>
              </a:rPr>
              <a:t>the </a:t>
            </a:r>
            <a:r>
              <a:rPr dirty="0" sz="1200" spc="-5">
                <a:latin typeface="Arial"/>
                <a:cs typeface="Arial"/>
              </a:rPr>
              <a:t>people of </a:t>
            </a:r>
            <a:r>
              <a:rPr dirty="0" sz="1200">
                <a:latin typeface="Arial"/>
                <a:cs typeface="Arial"/>
              </a:rPr>
              <a:t>the  </a:t>
            </a:r>
            <a:r>
              <a:rPr dirty="0" sz="1200" spc="-5">
                <a:latin typeface="Arial"/>
                <a:cs typeface="Arial"/>
              </a:rPr>
              <a:t>whole </a:t>
            </a:r>
            <a:r>
              <a:rPr dirty="0" sz="1200">
                <a:latin typeface="Arial"/>
                <a:cs typeface="Arial"/>
              </a:rPr>
              <a:t>Islamic </a:t>
            </a:r>
            <a:r>
              <a:rPr dirty="0" sz="1200" spc="-5">
                <a:latin typeface="Arial"/>
                <a:cs typeface="Arial"/>
              </a:rPr>
              <a:t>kingdom, even the Khawarij. During his khilafat </a:t>
            </a:r>
            <a:r>
              <a:rPr dirty="0" sz="1200" spc="-10">
                <a:latin typeface="Arial"/>
                <a:cs typeface="Arial"/>
              </a:rPr>
              <a:t>he </a:t>
            </a:r>
            <a:r>
              <a:rPr dirty="0" sz="1200" spc="-5">
                <a:latin typeface="Arial"/>
                <a:cs typeface="Arial"/>
              </a:rPr>
              <a:t>ensured a constant level of  morality but due </a:t>
            </a:r>
            <a:r>
              <a:rPr dirty="0" sz="1200">
                <a:latin typeface="Arial"/>
                <a:cs typeface="Arial"/>
              </a:rPr>
              <a:t>to </a:t>
            </a:r>
            <a:r>
              <a:rPr dirty="0" sz="1200" spc="-5">
                <a:latin typeface="Arial"/>
                <a:cs typeface="Arial"/>
              </a:rPr>
              <a:t>internal rebellions </a:t>
            </a:r>
            <a:r>
              <a:rPr dirty="0" sz="1200" spc="-10">
                <a:latin typeface="Arial"/>
                <a:cs typeface="Arial"/>
              </a:rPr>
              <a:t>he was </a:t>
            </a:r>
            <a:r>
              <a:rPr dirty="0" sz="1200" spc="-5">
                <a:latin typeface="Arial"/>
                <a:cs typeface="Arial"/>
              </a:rPr>
              <a:t>not able </a:t>
            </a:r>
            <a:r>
              <a:rPr dirty="0" sz="1200">
                <a:latin typeface="Arial"/>
                <a:cs typeface="Arial"/>
              </a:rPr>
              <a:t>to </a:t>
            </a:r>
            <a:r>
              <a:rPr dirty="0" sz="1200" spc="-5">
                <a:latin typeface="Arial"/>
                <a:cs typeface="Arial"/>
              </a:rPr>
              <a:t>cope with all </a:t>
            </a:r>
            <a:r>
              <a:rPr dirty="0" sz="1200">
                <a:latin typeface="Arial"/>
                <a:cs typeface="Arial"/>
              </a:rPr>
              <a:t>problems. </a:t>
            </a:r>
            <a:r>
              <a:rPr dirty="0" sz="1200" spc="-5">
                <a:latin typeface="Arial"/>
                <a:cs typeface="Arial"/>
              </a:rPr>
              <a:t>According </a:t>
            </a:r>
            <a:r>
              <a:rPr dirty="0" sz="1200">
                <a:latin typeface="Arial"/>
                <a:cs typeface="Arial"/>
              </a:rPr>
              <a:t>to  </a:t>
            </a:r>
            <a:r>
              <a:rPr dirty="0" sz="1200" spc="-5">
                <a:latin typeface="Arial"/>
                <a:cs typeface="Arial"/>
              </a:rPr>
              <a:t>historians, he </a:t>
            </a:r>
            <a:r>
              <a:rPr dirty="0" sz="1200" spc="-10">
                <a:latin typeface="Arial"/>
                <a:cs typeface="Arial"/>
              </a:rPr>
              <a:t>was </a:t>
            </a:r>
            <a:r>
              <a:rPr dirty="0" sz="1200" spc="-5">
                <a:latin typeface="Arial"/>
                <a:cs typeface="Arial"/>
              </a:rPr>
              <a:t>considered too weak or </a:t>
            </a:r>
            <a:r>
              <a:rPr dirty="0" sz="1200">
                <a:latin typeface="Arial"/>
                <a:cs typeface="Arial"/>
              </a:rPr>
              <a:t>rather </a:t>
            </a:r>
            <a:r>
              <a:rPr dirty="0" sz="1200" spc="-5">
                <a:latin typeface="Arial"/>
                <a:cs typeface="Arial"/>
              </a:rPr>
              <a:t>too good </a:t>
            </a:r>
            <a:r>
              <a:rPr dirty="0" sz="1200">
                <a:latin typeface="Arial"/>
                <a:cs typeface="Arial"/>
              </a:rPr>
              <a:t>at </a:t>
            </a:r>
            <a:r>
              <a:rPr dirty="0" sz="1200" spc="-5">
                <a:latin typeface="Arial"/>
                <a:cs typeface="Arial"/>
              </a:rPr>
              <a:t>heart </a:t>
            </a:r>
            <a:r>
              <a:rPr dirty="0" sz="1200">
                <a:latin typeface="Arial"/>
                <a:cs typeface="Arial"/>
              </a:rPr>
              <a:t>to </a:t>
            </a:r>
            <a:r>
              <a:rPr dirty="0" sz="1200" spc="-5">
                <a:latin typeface="Arial"/>
                <a:cs typeface="Arial"/>
              </a:rPr>
              <a:t>contain all the  problems of his reign. Hazrat </a:t>
            </a:r>
            <a:r>
              <a:rPr dirty="0" sz="1200">
                <a:latin typeface="Arial"/>
                <a:cs typeface="Arial"/>
              </a:rPr>
              <a:t>Uthman </a:t>
            </a:r>
            <a:r>
              <a:rPr dirty="0" sz="1200" spc="-10">
                <a:latin typeface="Arial"/>
                <a:cs typeface="Arial"/>
              </a:rPr>
              <a:t>was </a:t>
            </a:r>
            <a:r>
              <a:rPr dirty="0" sz="1200" spc="-5">
                <a:latin typeface="Arial"/>
                <a:cs typeface="Arial"/>
              </a:rPr>
              <a:t>so </a:t>
            </a:r>
            <a:r>
              <a:rPr dirty="0" sz="1200">
                <a:latin typeface="Arial"/>
                <a:cs typeface="Arial"/>
              </a:rPr>
              <a:t>pious </a:t>
            </a:r>
            <a:r>
              <a:rPr dirty="0" sz="1200" spc="-5">
                <a:latin typeface="Arial"/>
                <a:cs typeface="Arial"/>
              </a:rPr>
              <a:t>that he did not dare </a:t>
            </a:r>
            <a:r>
              <a:rPr dirty="0" sz="1200">
                <a:latin typeface="Arial"/>
                <a:cs typeface="Arial"/>
              </a:rPr>
              <a:t>to </a:t>
            </a:r>
            <a:r>
              <a:rPr dirty="0" sz="1200" spc="-10">
                <a:latin typeface="Arial"/>
                <a:cs typeface="Arial"/>
              </a:rPr>
              <a:t>wage war </a:t>
            </a:r>
            <a:r>
              <a:rPr dirty="0" sz="1200" spc="-5">
                <a:latin typeface="Arial"/>
                <a:cs typeface="Arial"/>
              </a:rPr>
              <a:t>or </a:t>
            </a:r>
            <a:r>
              <a:rPr dirty="0" sz="1200">
                <a:latin typeface="Arial"/>
                <a:cs typeface="Arial"/>
              </a:rPr>
              <a:t>insult  </a:t>
            </a:r>
            <a:r>
              <a:rPr dirty="0" sz="1200" spc="-5">
                <a:latin typeface="Arial"/>
                <a:cs typeface="Arial"/>
              </a:rPr>
              <a:t>any individual living in </a:t>
            </a:r>
            <a:r>
              <a:rPr dirty="0" sz="1200">
                <a:latin typeface="Arial"/>
                <a:cs typeface="Arial"/>
              </a:rPr>
              <a:t>this </a:t>
            </a:r>
            <a:r>
              <a:rPr dirty="0" sz="1200" spc="-5">
                <a:latin typeface="Arial"/>
                <a:cs typeface="Arial"/>
              </a:rPr>
              <a:t>community, both Muslims and non Muslims. He </a:t>
            </a:r>
            <a:r>
              <a:rPr dirty="0" sz="1200" spc="-10">
                <a:latin typeface="Arial"/>
                <a:cs typeface="Arial"/>
              </a:rPr>
              <a:t>was </a:t>
            </a:r>
            <a:r>
              <a:rPr dirty="0" sz="1200" spc="-5">
                <a:latin typeface="Arial"/>
                <a:cs typeface="Arial"/>
              </a:rPr>
              <a:t>always </a:t>
            </a:r>
            <a:r>
              <a:rPr dirty="0" sz="1200">
                <a:latin typeface="Arial"/>
                <a:cs typeface="Arial"/>
              </a:rPr>
              <a:t>ready  to </a:t>
            </a:r>
            <a:r>
              <a:rPr dirty="0" sz="1200" spc="-5">
                <a:latin typeface="Arial"/>
                <a:cs typeface="Arial"/>
              </a:rPr>
              <a:t>help and upgrade the level and welfare of his people not leaving </a:t>
            </a:r>
            <a:r>
              <a:rPr dirty="0" sz="1200">
                <a:latin typeface="Arial"/>
                <a:cs typeface="Arial"/>
              </a:rPr>
              <a:t>the </a:t>
            </a:r>
            <a:r>
              <a:rPr dirty="0" sz="1200" spc="-5">
                <a:latin typeface="Arial"/>
                <a:cs typeface="Arial"/>
              </a:rPr>
              <a:t>poor </a:t>
            </a:r>
            <a:r>
              <a:rPr dirty="0" sz="1200">
                <a:latin typeface="Arial"/>
                <a:cs typeface="Arial"/>
              </a:rPr>
              <a:t>to </a:t>
            </a:r>
            <a:r>
              <a:rPr dirty="0" sz="1200" spc="-5">
                <a:latin typeface="Arial"/>
                <a:cs typeface="Arial"/>
              </a:rPr>
              <a:t>themselves.  During his reign education flourished and great deal of </a:t>
            </a:r>
            <a:r>
              <a:rPr dirty="0" sz="1200">
                <a:latin typeface="Arial"/>
                <a:cs typeface="Arial"/>
              </a:rPr>
              <a:t>spirituality </a:t>
            </a:r>
            <a:r>
              <a:rPr dirty="0" sz="1200" spc="-5">
                <a:latin typeface="Arial"/>
                <a:cs typeface="Arial"/>
              </a:rPr>
              <a:t>spread throughout </a:t>
            </a:r>
            <a:r>
              <a:rPr dirty="0" sz="1200" spc="-10">
                <a:latin typeface="Arial"/>
                <a:cs typeface="Arial"/>
              </a:rPr>
              <a:t>the  </a:t>
            </a:r>
            <a:r>
              <a:rPr dirty="0" sz="1200">
                <a:latin typeface="Arial"/>
                <a:cs typeface="Arial"/>
              </a:rPr>
              <a:t>land. </a:t>
            </a:r>
            <a:r>
              <a:rPr dirty="0" sz="1200" spc="-10">
                <a:latin typeface="Arial"/>
                <a:cs typeface="Arial"/>
              </a:rPr>
              <a:t>However, </a:t>
            </a:r>
            <a:r>
              <a:rPr dirty="0" sz="1200" spc="-5">
                <a:latin typeface="Arial"/>
                <a:cs typeface="Arial"/>
              </a:rPr>
              <a:t>people did not recognise and appreciate his</a:t>
            </a:r>
            <a:r>
              <a:rPr dirty="0" sz="1200" spc="20">
                <a:latin typeface="Arial"/>
                <a:cs typeface="Arial"/>
              </a:rPr>
              <a:t> </a:t>
            </a:r>
            <a:r>
              <a:rPr dirty="0" sz="1200" spc="-5">
                <a:latin typeface="Arial"/>
                <a:cs typeface="Arial"/>
              </a:rPr>
              <a:t>effort.</a:t>
            </a:r>
            <a:endParaRPr sz="1200">
              <a:latin typeface="Arial"/>
              <a:cs typeface="Arial"/>
            </a:endParaRPr>
          </a:p>
          <a:p>
            <a:pPr>
              <a:lnSpc>
                <a:spcPct val="100000"/>
              </a:lnSpc>
            </a:pPr>
            <a:endParaRPr sz="1150">
              <a:latin typeface="Arial"/>
              <a:cs typeface="Arial"/>
            </a:endParaRPr>
          </a:p>
          <a:p>
            <a:pPr algn="just" marL="12700">
              <a:lnSpc>
                <a:spcPct val="100000"/>
              </a:lnSpc>
            </a:pPr>
            <a:r>
              <a:rPr dirty="0" u="heavy" sz="1200" spc="-5" b="1" i="1">
                <a:uFill>
                  <a:solidFill>
                    <a:srgbClr val="000000"/>
                  </a:solidFill>
                </a:uFill>
                <a:latin typeface="Arial"/>
                <a:cs typeface="Arial"/>
              </a:rPr>
              <a:t>Problems </a:t>
            </a:r>
            <a:r>
              <a:rPr dirty="0" u="heavy" sz="1200" spc="-10" b="1" i="1">
                <a:uFill>
                  <a:solidFill>
                    <a:srgbClr val="000000"/>
                  </a:solidFill>
                </a:uFill>
                <a:latin typeface="Arial"/>
                <a:cs typeface="Arial"/>
              </a:rPr>
              <a:t>he</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faced</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spcBef>
                <a:spcPts val="5"/>
              </a:spcBef>
            </a:pPr>
            <a:r>
              <a:rPr dirty="0" sz="1200">
                <a:latin typeface="Arial"/>
                <a:cs typeface="Arial"/>
              </a:rPr>
              <a:t>When </a:t>
            </a:r>
            <a:r>
              <a:rPr dirty="0" sz="1200" spc="-5">
                <a:latin typeface="Arial"/>
                <a:cs typeface="Arial"/>
              </a:rPr>
              <a:t>he came </a:t>
            </a:r>
            <a:r>
              <a:rPr dirty="0" sz="1200">
                <a:latin typeface="Arial"/>
                <a:cs typeface="Arial"/>
              </a:rPr>
              <a:t>to </a:t>
            </a:r>
            <a:r>
              <a:rPr dirty="0" sz="1200" spc="-5">
                <a:latin typeface="Arial"/>
                <a:cs typeface="Arial"/>
              </a:rPr>
              <a:t>power, he wanted </a:t>
            </a:r>
            <a:r>
              <a:rPr dirty="0" sz="1200">
                <a:latin typeface="Arial"/>
                <a:cs typeface="Arial"/>
              </a:rPr>
              <a:t>to </a:t>
            </a:r>
            <a:r>
              <a:rPr dirty="0" sz="1200" spc="-5">
                <a:latin typeface="Arial"/>
                <a:cs typeface="Arial"/>
              </a:rPr>
              <a:t>make </a:t>
            </a:r>
            <a:r>
              <a:rPr dirty="0" sz="1200">
                <a:latin typeface="Arial"/>
                <a:cs typeface="Arial"/>
              </a:rPr>
              <a:t>some </a:t>
            </a:r>
            <a:r>
              <a:rPr dirty="0" sz="1200" spc="-5">
                <a:latin typeface="Arial"/>
                <a:cs typeface="Arial"/>
              </a:rPr>
              <a:t>changes in the </a:t>
            </a:r>
            <a:r>
              <a:rPr dirty="0" sz="1200">
                <a:latin typeface="Arial"/>
                <a:cs typeface="Arial"/>
              </a:rPr>
              <a:t>posts </a:t>
            </a:r>
            <a:r>
              <a:rPr dirty="0" sz="1200" spc="-5">
                <a:latin typeface="Arial"/>
                <a:cs typeface="Arial"/>
              </a:rPr>
              <a:t>of his government.  He wanted </a:t>
            </a:r>
            <a:r>
              <a:rPr dirty="0" sz="1200">
                <a:latin typeface="Arial"/>
                <a:cs typeface="Arial"/>
              </a:rPr>
              <a:t>to </a:t>
            </a:r>
            <a:r>
              <a:rPr dirty="0" sz="1200" spc="-5">
                <a:latin typeface="Arial"/>
                <a:cs typeface="Arial"/>
              </a:rPr>
              <a:t>place </a:t>
            </a:r>
            <a:r>
              <a:rPr dirty="0" sz="1200" spc="-10">
                <a:latin typeface="Arial"/>
                <a:cs typeface="Arial"/>
              </a:rPr>
              <a:t>his </a:t>
            </a:r>
            <a:r>
              <a:rPr dirty="0" sz="1200" spc="-5">
                <a:latin typeface="Arial"/>
                <a:cs typeface="Arial"/>
              </a:rPr>
              <a:t>trusted </a:t>
            </a:r>
            <a:r>
              <a:rPr dirty="0" sz="1200">
                <a:latin typeface="Arial"/>
                <a:cs typeface="Arial"/>
              </a:rPr>
              <a:t>men for </a:t>
            </a:r>
            <a:r>
              <a:rPr dirty="0" sz="1200" spc="-5">
                <a:latin typeface="Arial"/>
                <a:cs typeface="Arial"/>
              </a:rPr>
              <a:t>a better control and </a:t>
            </a:r>
            <a:r>
              <a:rPr dirty="0" sz="1200">
                <a:latin typeface="Arial"/>
                <a:cs typeface="Arial"/>
              </a:rPr>
              <a:t>to </a:t>
            </a:r>
            <a:r>
              <a:rPr dirty="0" sz="1200" spc="-5">
                <a:latin typeface="Arial"/>
                <a:cs typeface="Arial"/>
              </a:rPr>
              <a:t>crush all problems. He did  never want </a:t>
            </a:r>
            <a:r>
              <a:rPr dirty="0" sz="1200">
                <a:latin typeface="Arial"/>
                <a:cs typeface="Arial"/>
              </a:rPr>
              <a:t>to </a:t>
            </a:r>
            <a:r>
              <a:rPr dirty="0" sz="1200" spc="-10">
                <a:latin typeface="Arial"/>
                <a:cs typeface="Arial"/>
              </a:rPr>
              <a:t>give </a:t>
            </a:r>
            <a:r>
              <a:rPr dirty="0" sz="1200" spc="-5">
                <a:latin typeface="Arial"/>
                <a:cs typeface="Arial"/>
              </a:rPr>
              <a:t>any favour </a:t>
            </a:r>
            <a:r>
              <a:rPr dirty="0" sz="1200">
                <a:latin typeface="Arial"/>
                <a:cs typeface="Arial"/>
              </a:rPr>
              <a:t>to </a:t>
            </a:r>
            <a:r>
              <a:rPr dirty="0" sz="1200" spc="-5">
                <a:latin typeface="Arial"/>
                <a:cs typeface="Arial"/>
              </a:rPr>
              <a:t>any member of his family, </a:t>
            </a:r>
            <a:r>
              <a:rPr dirty="0" sz="1200" spc="15">
                <a:latin typeface="Arial"/>
                <a:cs typeface="Arial"/>
              </a:rPr>
              <a:t>but </a:t>
            </a:r>
            <a:r>
              <a:rPr dirty="0" sz="1200" spc="-5">
                <a:latin typeface="Arial"/>
                <a:cs typeface="Arial"/>
              </a:rPr>
              <a:t>instead, he </a:t>
            </a:r>
            <a:r>
              <a:rPr dirty="0" sz="1200" spc="-10">
                <a:latin typeface="Arial"/>
                <a:cs typeface="Arial"/>
              </a:rPr>
              <a:t>was </a:t>
            </a:r>
            <a:r>
              <a:rPr dirty="0" sz="1200" spc="-5">
                <a:latin typeface="Arial"/>
                <a:cs typeface="Arial"/>
              </a:rPr>
              <a:t>accused of  appointing inefficient relatives as governors and he </a:t>
            </a:r>
            <a:r>
              <a:rPr dirty="0" sz="1200" spc="-10">
                <a:latin typeface="Arial"/>
                <a:cs typeface="Arial"/>
              </a:rPr>
              <a:t>was </a:t>
            </a:r>
            <a:r>
              <a:rPr dirty="0" sz="1200" spc="-5">
                <a:latin typeface="Arial"/>
                <a:cs typeface="Arial"/>
              </a:rPr>
              <a:t>so weak at commanding his people.  He </a:t>
            </a:r>
            <a:r>
              <a:rPr dirty="0" sz="1200" spc="-10">
                <a:latin typeface="Arial"/>
                <a:cs typeface="Arial"/>
              </a:rPr>
              <a:t>was </a:t>
            </a:r>
            <a:r>
              <a:rPr dirty="0" sz="1200" spc="-5">
                <a:latin typeface="Arial"/>
                <a:cs typeface="Arial"/>
              </a:rPr>
              <a:t>also accused of his wrong and </a:t>
            </a:r>
            <a:r>
              <a:rPr dirty="0" sz="1200" spc="-10">
                <a:latin typeface="Arial"/>
                <a:cs typeface="Arial"/>
              </a:rPr>
              <a:t>bad </a:t>
            </a:r>
            <a:r>
              <a:rPr dirty="0" sz="1200" spc="-5">
                <a:latin typeface="Arial"/>
                <a:cs typeface="Arial"/>
              </a:rPr>
              <a:t>administrative measures of replacing already  existing governors and </a:t>
            </a:r>
            <a:r>
              <a:rPr dirty="0" sz="1200">
                <a:latin typeface="Arial"/>
                <a:cs typeface="Arial"/>
              </a:rPr>
              <a:t>that </a:t>
            </a:r>
            <a:r>
              <a:rPr dirty="0" sz="1200" spc="-10">
                <a:latin typeface="Arial"/>
                <a:cs typeface="Arial"/>
              </a:rPr>
              <a:t>he </a:t>
            </a:r>
            <a:r>
              <a:rPr dirty="0" sz="1200" spc="-5">
                <a:latin typeface="Arial"/>
                <a:cs typeface="Arial"/>
              </a:rPr>
              <a:t>did not check </a:t>
            </a:r>
            <a:r>
              <a:rPr dirty="0" sz="1200">
                <a:latin typeface="Arial"/>
                <a:cs typeface="Arial"/>
              </a:rPr>
              <a:t>his </a:t>
            </a:r>
            <a:r>
              <a:rPr dirty="0" sz="1200" spc="-5">
                <a:latin typeface="Arial"/>
                <a:cs typeface="Arial"/>
              </a:rPr>
              <a:t>newly appointed officers. He </a:t>
            </a:r>
            <a:r>
              <a:rPr dirty="0" sz="1200" spc="-10">
                <a:latin typeface="Arial"/>
                <a:cs typeface="Arial"/>
              </a:rPr>
              <a:t>was </a:t>
            </a:r>
            <a:r>
              <a:rPr dirty="0" sz="1200" spc="-5">
                <a:latin typeface="Arial"/>
                <a:cs typeface="Arial"/>
              </a:rPr>
              <a:t>charged of  all </a:t>
            </a:r>
            <a:r>
              <a:rPr dirty="0" sz="1200">
                <a:latin typeface="Arial"/>
                <a:cs typeface="Arial"/>
              </a:rPr>
              <a:t>the </a:t>
            </a:r>
            <a:r>
              <a:rPr dirty="0" sz="1200" spc="-5">
                <a:latin typeface="Arial"/>
                <a:cs typeface="Arial"/>
              </a:rPr>
              <a:t>problems emerging in his dominion. He </a:t>
            </a:r>
            <a:r>
              <a:rPr dirty="0" sz="1200" spc="-10">
                <a:latin typeface="Arial"/>
                <a:cs typeface="Arial"/>
              </a:rPr>
              <a:t>was </a:t>
            </a:r>
            <a:r>
              <a:rPr dirty="0" sz="1200" spc="-5">
                <a:latin typeface="Arial"/>
                <a:cs typeface="Arial"/>
              </a:rPr>
              <a:t>accused </a:t>
            </a:r>
            <a:r>
              <a:rPr dirty="0" sz="1200">
                <a:latin typeface="Arial"/>
                <a:cs typeface="Arial"/>
              </a:rPr>
              <a:t>of </a:t>
            </a:r>
            <a:r>
              <a:rPr dirty="0" sz="1200" spc="-5">
                <a:latin typeface="Arial"/>
                <a:cs typeface="Arial"/>
              </a:rPr>
              <a:t>being </a:t>
            </a:r>
            <a:r>
              <a:rPr dirty="0" sz="1200">
                <a:latin typeface="Arial"/>
                <a:cs typeface="Arial"/>
              </a:rPr>
              <a:t>too </a:t>
            </a:r>
            <a:r>
              <a:rPr dirty="0" sz="1200" spc="-5">
                <a:latin typeface="Arial"/>
                <a:cs typeface="Arial"/>
              </a:rPr>
              <a:t>tender hearted  towards </a:t>
            </a:r>
            <a:r>
              <a:rPr dirty="0" sz="1200">
                <a:latin typeface="Arial"/>
                <a:cs typeface="Arial"/>
              </a:rPr>
              <a:t>those </a:t>
            </a:r>
            <a:r>
              <a:rPr dirty="0" sz="1200" spc="-5">
                <a:latin typeface="Arial"/>
                <a:cs typeface="Arial"/>
              </a:rPr>
              <a:t>breaching </a:t>
            </a:r>
            <a:r>
              <a:rPr dirty="0" sz="1200">
                <a:latin typeface="Arial"/>
                <a:cs typeface="Arial"/>
              </a:rPr>
              <a:t>the Shari‘ah. </a:t>
            </a:r>
            <a:r>
              <a:rPr dirty="0" sz="1200" spc="-5">
                <a:latin typeface="Arial"/>
                <a:cs typeface="Arial"/>
              </a:rPr>
              <a:t>He took lesser decisions against </a:t>
            </a:r>
            <a:r>
              <a:rPr dirty="0" sz="1200">
                <a:latin typeface="Arial"/>
                <a:cs typeface="Arial"/>
              </a:rPr>
              <a:t>them. The </a:t>
            </a:r>
            <a:r>
              <a:rPr dirty="0" sz="1200" spc="-5">
                <a:latin typeface="Arial"/>
                <a:cs typeface="Arial"/>
              </a:rPr>
              <a:t>greatest  accusation </a:t>
            </a:r>
            <a:r>
              <a:rPr dirty="0" sz="1200" spc="-10">
                <a:latin typeface="Arial"/>
                <a:cs typeface="Arial"/>
              </a:rPr>
              <a:t>was </a:t>
            </a:r>
            <a:r>
              <a:rPr dirty="0" sz="1200">
                <a:latin typeface="Arial"/>
                <a:cs typeface="Arial"/>
              </a:rPr>
              <a:t>that </a:t>
            </a:r>
            <a:r>
              <a:rPr dirty="0" sz="1200" spc="-5">
                <a:latin typeface="Arial"/>
                <a:cs typeface="Arial"/>
              </a:rPr>
              <a:t>he </a:t>
            </a:r>
            <a:r>
              <a:rPr dirty="0" sz="1200">
                <a:latin typeface="Arial"/>
                <a:cs typeface="Arial"/>
              </a:rPr>
              <a:t>burned </a:t>
            </a:r>
            <a:r>
              <a:rPr dirty="0" sz="1200" spc="-10">
                <a:latin typeface="Arial"/>
                <a:cs typeface="Arial"/>
              </a:rPr>
              <a:t>down </a:t>
            </a:r>
            <a:r>
              <a:rPr dirty="0" sz="1200">
                <a:latin typeface="Arial"/>
                <a:cs typeface="Arial"/>
              </a:rPr>
              <a:t>the </a:t>
            </a:r>
            <a:r>
              <a:rPr dirty="0" sz="1200" spc="-5">
                <a:latin typeface="Arial"/>
                <a:cs typeface="Arial"/>
              </a:rPr>
              <a:t>words and message of Allah </a:t>
            </a:r>
            <a:r>
              <a:rPr dirty="0" sz="1200">
                <a:latin typeface="Arial"/>
                <a:cs typeface="Arial"/>
              </a:rPr>
              <a:t>– the </a:t>
            </a:r>
            <a:r>
              <a:rPr dirty="0" sz="1200" spc="-5">
                <a:latin typeface="Arial"/>
                <a:cs typeface="Arial"/>
              </a:rPr>
              <a:t>Qur‘an. Some of  </a:t>
            </a:r>
            <a:r>
              <a:rPr dirty="0" sz="1200">
                <a:latin typeface="Arial"/>
                <a:cs typeface="Arial"/>
              </a:rPr>
              <a:t>the </a:t>
            </a:r>
            <a:r>
              <a:rPr dirty="0" sz="1200" spc="-5">
                <a:latin typeface="Arial"/>
                <a:cs typeface="Arial"/>
              </a:rPr>
              <a:t>rebellious persons accused </a:t>
            </a:r>
            <a:r>
              <a:rPr dirty="0" sz="1200" spc="-10">
                <a:latin typeface="Arial"/>
                <a:cs typeface="Arial"/>
              </a:rPr>
              <a:t>him </a:t>
            </a:r>
            <a:r>
              <a:rPr dirty="0" sz="1200" spc="-5">
                <a:latin typeface="Arial"/>
                <a:cs typeface="Arial"/>
              </a:rPr>
              <a:t>of corruption and upsurging </a:t>
            </a:r>
            <a:r>
              <a:rPr dirty="0" sz="1200">
                <a:latin typeface="Arial"/>
                <a:cs typeface="Arial"/>
              </a:rPr>
              <a:t>the </a:t>
            </a:r>
            <a:r>
              <a:rPr dirty="0" sz="1200" spc="-5">
                <a:latin typeface="Arial"/>
                <a:cs typeface="Arial"/>
              </a:rPr>
              <a:t>right </a:t>
            </a:r>
            <a:r>
              <a:rPr dirty="0" sz="1200">
                <a:latin typeface="Arial"/>
                <a:cs typeface="Arial"/>
              </a:rPr>
              <a:t>of </a:t>
            </a:r>
            <a:r>
              <a:rPr dirty="0" sz="1200" spc="-5">
                <a:latin typeface="Arial"/>
                <a:cs typeface="Arial"/>
              </a:rPr>
              <a:t>his people and  money </a:t>
            </a:r>
            <a:r>
              <a:rPr dirty="0" sz="1200">
                <a:latin typeface="Arial"/>
                <a:cs typeface="Arial"/>
              </a:rPr>
              <a:t>from </a:t>
            </a:r>
            <a:r>
              <a:rPr dirty="0" sz="1200" spc="-5">
                <a:latin typeface="Arial"/>
                <a:cs typeface="Arial"/>
              </a:rPr>
              <a:t>the Bait-ul-Maal. All these accusations came from the</a:t>
            </a:r>
            <a:r>
              <a:rPr dirty="0" sz="1200" spc="15">
                <a:latin typeface="Arial"/>
                <a:cs typeface="Arial"/>
              </a:rPr>
              <a:t> </a:t>
            </a:r>
            <a:r>
              <a:rPr dirty="0" sz="1200" spc="-5">
                <a:latin typeface="Arial"/>
                <a:cs typeface="Arial"/>
              </a:rPr>
              <a:t>Khawarij.</a:t>
            </a:r>
            <a:endParaRPr sz="1200">
              <a:latin typeface="Arial"/>
              <a:cs typeface="Arial"/>
            </a:endParaRPr>
          </a:p>
          <a:p>
            <a:pPr>
              <a:lnSpc>
                <a:spcPct val="100000"/>
              </a:lnSpc>
              <a:spcBef>
                <a:spcPts val="20"/>
              </a:spcBef>
            </a:pPr>
            <a:endParaRPr sz="1100">
              <a:latin typeface="Arial"/>
              <a:cs typeface="Arial"/>
            </a:endParaRPr>
          </a:p>
          <a:p>
            <a:pPr algn="just" marL="12700">
              <a:lnSpc>
                <a:spcPct val="100000"/>
              </a:lnSpc>
            </a:pPr>
            <a:r>
              <a:rPr dirty="0" u="heavy" sz="1200" b="1" i="1">
                <a:uFill>
                  <a:solidFill>
                    <a:srgbClr val="000000"/>
                  </a:solidFill>
                </a:uFill>
                <a:latin typeface="Arial"/>
                <a:cs typeface="Arial"/>
              </a:rPr>
              <a:t>Death of </a:t>
            </a:r>
            <a:r>
              <a:rPr dirty="0" u="heavy" sz="1200" spc="-5" b="1" i="1">
                <a:uFill>
                  <a:solidFill>
                    <a:srgbClr val="000000"/>
                  </a:solidFill>
                </a:uFill>
                <a:latin typeface="Arial"/>
                <a:cs typeface="Arial"/>
              </a:rPr>
              <a:t>Hazrat Uthman (r.a)</a:t>
            </a:r>
            <a:endParaRPr sz="1200">
              <a:latin typeface="Arial"/>
              <a:cs typeface="Arial"/>
            </a:endParaRPr>
          </a:p>
          <a:p>
            <a:pPr>
              <a:lnSpc>
                <a:spcPct val="100000"/>
              </a:lnSpc>
              <a:spcBef>
                <a:spcPts val="45"/>
              </a:spcBef>
            </a:pPr>
            <a:endParaRPr sz="1600">
              <a:latin typeface="Arial"/>
              <a:cs typeface="Arial"/>
            </a:endParaRPr>
          </a:p>
          <a:p>
            <a:pPr algn="just" marL="12700" marR="6350">
              <a:lnSpc>
                <a:spcPct val="95700"/>
              </a:lnSpc>
            </a:pPr>
            <a:r>
              <a:rPr dirty="0" sz="1200" spc="-5">
                <a:latin typeface="Arial"/>
                <a:cs typeface="Arial"/>
              </a:rPr>
              <a:t>Uthman made use of only one weapon. </a:t>
            </a:r>
            <a:r>
              <a:rPr dirty="0" sz="1200">
                <a:latin typeface="Arial"/>
                <a:cs typeface="Arial"/>
              </a:rPr>
              <a:t>It </a:t>
            </a:r>
            <a:r>
              <a:rPr dirty="0" sz="1200" spc="-10">
                <a:latin typeface="Arial"/>
                <a:cs typeface="Arial"/>
              </a:rPr>
              <a:t>was </a:t>
            </a:r>
            <a:r>
              <a:rPr dirty="0" sz="1200" spc="-5">
                <a:latin typeface="Arial"/>
                <a:cs typeface="Arial"/>
              </a:rPr>
              <a:t>his kind and soft words. The Khawarij wanted  him </a:t>
            </a:r>
            <a:r>
              <a:rPr dirty="0" sz="1200">
                <a:latin typeface="Arial"/>
                <a:cs typeface="Arial"/>
              </a:rPr>
              <a:t>to step </a:t>
            </a:r>
            <a:r>
              <a:rPr dirty="0" sz="1200" spc="-5">
                <a:latin typeface="Arial"/>
                <a:cs typeface="Arial"/>
              </a:rPr>
              <a:t>down </a:t>
            </a:r>
            <a:r>
              <a:rPr dirty="0" sz="1200">
                <a:latin typeface="Arial"/>
                <a:cs typeface="Arial"/>
              </a:rPr>
              <a:t>from </a:t>
            </a:r>
            <a:r>
              <a:rPr dirty="0" sz="1200" spc="-5">
                <a:latin typeface="Arial"/>
                <a:cs typeface="Arial"/>
              </a:rPr>
              <a:t>caliphate. But Uthman did not want </a:t>
            </a:r>
            <a:r>
              <a:rPr dirty="0" sz="1200">
                <a:latin typeface="Arial"/>
                <a:cs typeface="Arial"/>
              </a:rPr>
              <a:t>to </a:t>
            </a:r>
            <a:r>
              <a:rPr dirty="0" sz="1200" spc="-5">
                <a:latin typeface="Arial"/>
                <a:cs typeface="Arial"/>
              </a:rPr>
              <a:t>become the reason </a:t>
            </a:r>
            <a:r>
              <a:rPr dirty="0" sz="1200" spc="25">
                <a:latin typeface="Arial"/>
                <a:cs typeface="Arial"/>
              </a:rPr>
              <a:t>of </a:t>
            </a:r>
            <a:r>
              <a:rPr dirty="0" sz="1200" spc="-5">
                <a:latin typeface="Arial"/>
                <a:cs typeface="Arial"/>
              </a:rPr>
              <a:t>any civil  </a:t>
            </a:r>
            <a:r>
              <a:rPr dirty="0" sz="1200" spc="-10">
                <a:latin typeface="Arial"/>
                <a:cs typeface="Arial"/>
              </a:rPr>
              <a:t>war </a:t>
            </a:r>
            <a:r>
              <a:rPr dirty="0" sz="1200" spc="-5">
                <a:latin typeface="Arial"/>
                <a:cs typeface="Arial"/>
              </a:rPr>
              <a:t>in his period. He went </a:t>
            </a:r>
            <a:r>
              <a:rPr dirty="0" sz="1200">
                <a:latin typeface="Arial"/>
                <a:cs typeface="Arial"/>
              </a:rPr>
              <a:t>to </a:t>
            </a:r>
            <a:r>
              <a:rPr dirty="0" sz="1200" spc="-5">
                <a:latin typeface="Arial"/>
                <a:cs typeface="Arial"/>
              </a:rPr>
              <a:t>the </a:t>
            </a:r>
            <a:r>
              <a:rPr dirty="0" sz="1200" spc="-10">
                <a:latin typeface="Arial"/>
                <a:cs typeface="Arial"/>
              </a:rPr>
              <a:t>roof </a:t>
            </a:r>
            <a:r>
              <a:rPr dirty="0" sz="1200" spc="-5">
                <a:latin typeface="Arial"/>
                <a:cs typeface="Arial"/>
              </a:rPr>
              <a:t>of his house several times and spoke </a:t>
            </a:r>
            <a:r>
              <a:rPr dirty="0" sz="1200">
                <a:latin typeface="Arial"/>
                <a:cs typeface="Arial"/>
              </a:rPr>
              <a:t>to the </a:t>
            </a:r>
            <a:r>
              <a:rPr dirty="0" sz="1200" spc="-5">
                <a:latin typeface="Arial"/>
                <a:cs typeface="Arial"/>
              </a:rPr>
              <a:t>rioters. He  </a:t>
            </a:r>
            <a:r>
              <a:rPr dirty="0" sz="1200">
                <a:latin typeface="Arial"/>
                <a:cs typeface="Arial"/>
              </a:rPr>
              <a:t>told </a:t>
            </a:r>
            <a:r>
              <a:rPr dirty="0" sz="1200" spc="-5">
                <a:latin typeface="Arial"/>
                <a:cs typeface="Arial"/>
              </a:rPr>
              <a:t>them how close he had been to </a:t>
            </a:r>
            <a:r>
              <a:rPr dirty="0" sz="1200">
                <a:latin typeface="Arial"/>
                <a:cs typeface="Arial"/>
              </a:rPr>
              <a:t>the </a:t>
            </a:r>
            <a:r>
              <a:rPr dirty="0" sz="1200" spc="-5">
                <a:latin typeface="Arial"/>
                <a:cs typeface="Arial"/>
              </a:rPr>
              <a:t>Holy </a:t>
            </a:r>
            <a:r>
              <a:rPr dirty="0" sz="1200">
                <a:latin typeface="Arial"/>
                <a:cs typeface="Arial"/>
              </a:rPr>
              <a:t>Prophet. </a:t>
            </a:r>
            <a:r>
              <a:rPr dirty="0" sz="1200" spc="-5">
                <a:latin typeface="Arial"/>
                <a:cs typeface="Arial"/>
              </a:rPr>
              <a:t>He reminded them what services he  had rendered </a:t>
            </a:r>
            <a:r>
              <a:rPr dirty="0" sz="1200">
                <a:latin typeface="Arial"/>
                <a:cs typeface="Arial"/>
              </a:rPr>
              <a:t>to </a:t>
            </a:r>
            <a:r>
              <a:rPr dirty="0" sz="1200" spc="-5">
                <a:latin typeface="Arial"/>
                <a:cs typeface="Arial"/>
              </a:rPr>
              <a:t>Islam. </a:t>
            </a:r>
            <a:r>
              <a:rPr dirty="0" sz="1200">
                <a:latin typeface="Arial"/>
                <a:cs typeface="Arial"/>
              </a:rPr>
              <a:t>But </a:t>
            </a:r>
            <a:r>
              <a:rPr dirty="0" sz="1200" spc="-5">
                <a:latin typeface="Arial"/>
                <a:cs typeface="Arial"/>
              </a:rPr>
              <a:t>his words </a:t>
            </a:r>
            <a:r>
              <a:rPr dirty="0" sz="1200">
                <a:latin typeface="Arial"/>
                <a:cs typeface="Arial"/>
              </a:rPr>
              <a:t>fell </a:t>
            </a:r>
            <a:r>
              <a:rPr dirty="0" sz="1200" spc="-5">
                <a:latin typeface="Arial"/>
                <a:cs typeface="Arial"/>
              </a:rPr>
              <a:t>on deaf </a:t>
            </a:r>
            <a:r>
              <a:rPr dirty="0" sz="1200">
                <a:latin typeface="Arial"/>
                <a:cs typeface="Arial"/>
              </a:rPr>
              <a:t>ears. </a:t>
            </a:r>
            <a:r>
              <a:rPr dirty="0" sz="1200" spc="5">
                <a:latin typeface="Arial"/>
                <a:cs typeface="Arial"/>
              </a:rPr>
              <a:t>Nothing </a:t>
            </a:r>
            <a:r>
              <a:rPr dirty="0" sz="1200" spc="-5">
                <a:latin typeface="Arial"/>
                <a:cs typeface="Arial"/>
              </a:rPr>
              <a:t>could </a:t>
            </a:r>
            <a:r>
              <a:rPr dirty="0" sz="1200">
                <a:latin typeface="Arial"/>
                <a:cs typeface="Arial"/>
              </a:rPr>
              <a:t>stop </a:t>
            </a:r>
            <a:r>
              <a:rPr dirty="0" sz="1200" spc="-5">
                <a:latin typeface="Arial"/>
                <a:cs typeface="Arial"/>
              </a:rPr>
              <a:t>the rioters from  </a:t>
            </a:r>
            <a:r>
              <a:rPr dirty="0" sz="1200">
                <a:latin typeface="Arial"/>
                <a:cs typeface="Arial"/>
              </a:rPr>
              <a:t>mischief.</a:t>
            </a:r>
            <a:endParaRPr sz="1200">
              <a:latin typeface="Arial"/>
              <a:cs typeface="Arial"/>
            </a:endParaRPr>
          </a:p>
          <a:p>
            <a:pPr algn="just" marL="12700" marR="12700">
              <a:lnSpc>
                <a:spcPct val="95500"/>
              </a:lnSpc>
              <a:spcBef>
                <a:spcPts val="1015"/>
              </a:spcBef>
            </a:pPr>
            <a:r>
              <a:rPr dirty="0" sz="1200">
                <a:latin typeface="Arial"/>
                <a:cs typeface="Arial"/>
              </a:rPr>
              <a:t>As </a:t>
            </a:r>
            <a:r>
              <a:rPr dirty="0" sz="1200" spc="-5">
                <a:latin typeface="Arial"/>
                <a:cs typeface="Arial"/>
              </a:rPr>
              <a:t>the day of Haj grew near, the rioters' anxiety grew. </a:t>
            </a:r>
            <a:r>
              <a:rPr dirty="0" sz="1200">
                <a:latin typeface="Arial"/>
                <a:cs typeface="Arial"/>
              </a:rPr>
              <a:t>In </a:t>
            </a:r>
            <a:r>
              <a:rPr dirty="0" sz="1200" spc="-5">
                <a:latin typeface="Arial"/>
                <a:cs typeface="Arial"/>
              </a:rPr>
              <a:t>a </a:t>
            </a:r>
            <a:r>
              <a:rPr dirty="0" sz="1200">
                <a:latin typeface="Arial"/>
                <a:cs typeface="Arial"/>
              </a:rPr>
              <a:t>few </a:t>
            </a:r>
            <a:r>
              <a:rPr dirty="0" sz="1200" spc="-10">
                <a:latin typeface="Arial"/>
                <a:cs typeface="Arial"/>
              </a:rPr>
              <a:t>days </a:t>
            </a:r>
            <a:r>
              <a:rPr dirty="0" sz="1200" spc="-5">
                <a:latin typeface="Arial"/>
                <a:cs typeface="Arial"/>
              </a:rPr>
              <a:t>hundreds of men would  be back from Haj, they knew. Help from provinces might also arrive. They had </a:t>
            </a:r>
            <a:r>
              <a:rPr dirty="0" sz="1200">
                <a:latin typeface="Arial"/>
                <a:cs typeface="Arial"/>
              </a:rPr>
              <a:t>to </a:t>
            </a:r>
            <a:r>
              <a:rPr dirty="0" sz="1200" spc="-5">
                <a:latin typeface="Arial"/>
                <a:cs typeface="Arial"/>
              </a:rPr>
              <a:t>put through  </a:t>
            </a:r>
            <a:r>
              <a:rPr dirty="0" sz="1200">
                <a:latin typeface="Arial"/>
                <a:cs typeface="Arial"/>
              </a:rPr>
              <a:t>their plot </a:t>
            </a:r>
            <a:r>
              <a:rPr dirty="0" sz="1200" spc="-5">
                <a:latin typeface="Arial"/>
                <a:cs typeface="Arial"/>
              </a:rPr>
              <a:t>without delay </a:t>
            </a:r>
            <a:r>
              <a:rPr dirty="0" sz="1200">
                <a:latin typeface="Arial"/>
                <a:cs typeface="Arial"/>
              </a:rPr>
              <a:t>or it </a:t>
            </a:r>
            <a:r>
              <a:rPr dirty="0" sz="1200" spc="-5">
                <a:latin typeface="Arial"/>
                <a:cs typeface="Arial"/>
              </a:rPr>
              <a:t>would be </a:t>
            </a:r>
            <a:r>
              <a:rPr dirty="0" sz="1200">
                <a:latin typeface="Arial"/>
                <a:cs typeface="Arial"/>
              </a:rPr>
              <a:t>too </a:t>
            </a:r>
            <a:r>
              <a:rPr dirty="0" sz="1200" spc="-5">
                <a:latin typeface="Arial"/>
                <a:cs typeface="Arial"/>
              </a:rPr>
              <a:t>late. They </a:t>
            </a:r>
            <a:r>
              <a:rPr dirty="0" sz="1200">
                <a:latin typeface="Arial"/>
                <a:cs typeface="Arial"/>
              </a:rPr>
              <a:t>had </a:t>
            </a:r>
            <a:r>
              <a:rPr dirty="0" sz="1200" spc="-5">
                <a:latin typeface="Arial"/>
                <a:cs typeface="Arial"/>
              </a:rPr>
              <a:t>to act</a:t>
            </a:r>
            <a:r>
              <a:rPr dirty="0" sz="1200" spc="-20">
                <a:latin typeface="Arial"/>
                <a:cs typeface="Arial"/>
              </a:rPr>
              <a:t> </a:t>
            </a:r>
            <a:r>
              <a:rPr dirty="0" sz="1200" spc="-5">
                <a:latin typeface="Arial"/>
                <a:cs typeface="Arial"/>
              </a:rPr>
              <a:t>quickly.</a:t>
            </a:r>
            <a:endParaRPr sz="1200">
              <a:latin typeface="Arial"/>
              <a:cs typeface="Arial"/>
            </a:endParaRPr>
          </a:p>
          <a:p>
            <a:pPr algn="just" marL="12700" marR="10160">
              <a:lnSpc>
                <a:spcPts val="1380"/>
              </a:lnSpc>
              <a:spcBef>
                <a:spcPts val="1040"/>
              </a:spcBef>
            </a:pPr>
            <a:r>
              <a:rPr dirty="0" sz="1200" spc="-5">
                <a:latin typeface="Arial"/>
                <a:cs typeface="Arial"/>
              </a:rPr>
              <a:t>Uthman's house </a:t>
            </a:r>
            <a:r>
              <a:rPr dirty="0" sz="1200" spc="-10">
                <a:latin typeface="Arial"/>
                <a:cs typeface="Arial"/>
              </a:rPr>
              <a:t>was </a:t>
            </a:r>
            <a:r>
              <a:rPr dirty="0" sz="1200" spc="-5">
                <a:latin typeface="Arial"/>
                <a:cs typeface="Arial"/>
              </a:rPr>
              <a:t>very big. </a:t>
            </a:r>
            <a:r>
              <a:rPr dirty="0" sz="1200">
                <a:latin typeface="Arial"/>
                <a:cs typeface="Arial"/>
              </a:rPr>
              <a:t>Hasan, </a:t>
            </a:r>
            <a:r>
              <a:rPr dirty="0" sz="1200" spc="-5">
                <a:latin typeface="Arial"/>
                <a:cs typeface="Arial"/>
              </a:rPr>
              <a:t>Husain, Muhammad bin Talha </a:t>
            </a:r>
            <a:r>
              <a:rPr dirty="0" sz="1200">
                <a:latin typeface="Arial"/>
                <a:cs typeface="Arial"/>
              </a:rPr>
              <a:t>and </a:t>
            </a:r>
            <a:r>
              <a:rPr dirty="0" sz="1200" spc="-5">
                <a:latin typeface="Arial"/>
                <a:cs typeface="Arial"/>
              </a:rPr>
              <a:t>Abdullah bin Zubair  </a:t>
            </a:r>
            <a:r>
              <a:rPr dirty="0" sz="1200">
                <a:latin typeface="Arial"/>
                <a:cs typeface="Arial"/>
              </a:rPr>
              <a:t>stood </a:t>
            </a:r>
            <a:r>
              <a:rPr dirty="0" sz="1200" spc="-5">
                <a:latin typeface="Arial"/>
                <a:cs typeface="Arial"/>
              </a:rPr>
              <a:t>guard at </a:t>
            </a:r>
            <a:r>
              <a:rPr dirty="0" sz="1200">
                <a:latin typeface="Arial"/>
                <a:cs typeface="Arial"/>
              </a:rPr>
              <a:t>the </a:t>
            </a:r>
            <a:r>
              <a:rPr dirty="0" sz="1200" spc="-5">
                <a:latin typeface="Arial"/>
                <a:cs typeface="Arial"/>
              </a:rPr>
              <a:t>main gate. </a:t>
            </a:r>
            <a:r>
              <a:rPr dirty="0" sz="1200">
                <a:latin typeface="Arial"/>
                <a:cs typeface="Arial"/>
              </a:rPr>
              <a:t>The </a:t>
            </a:r>
            <a:r>
              <a:rPr dirty="0" sz="1200" spc="-5">
                <a:latin typeface="Arial"/>
                <a:cs typeface="Arial"/>
              </a:rPr>
              <a:t>rioters had no wish </a:t>
            </a:r>
            <a:r>
              <a:rPr dirty="0" sz="1200">
                <a:latin typeface="Arial"/>
                <a:cs typeface="Arial"/>
              </a:rPr>
              <a:t>to </a:t>
            </a:r>
            <a:r>
              <a:rPr dirty="0" sz="1200" spc="-5">
                <a:latin typeface="Arial"/>
                <a:cs typeface="Arial"/>
              </a:rPr>
              <a:t>cross </a:t>
            </a:r>
            <a:r>
              <a:rPr dirty="0" sz="1200">
                <a:latin typeface="Arial"/>
                <a:cs typeface="Arial"/>
              </a:rPr>
              <a:t>swords </a:t>
            </a:r>
            <a:r>
              <a:rPr dirty="0" sz="1200" spc="-5">
                <a:latin typeface="Arial"/>
                <a:cs typeface="Arial"/>
              </a:rPr>
              <a:t>with </a:t>
            </a:r>
            <a:r>
              <a:rPr dirty="0" sz="1200">
                <a:latin typeface="Arial"/>
                <a:cs typeface="Arial"/>
              </a:rPr>
              <a:t>these </a:t>
            </a:r>
            <a:r>
              <a:rPr dirty="0" sz="1200" spc="-5">
                <a:latin typeface="Arial"/>
                <a:cs typeface="Arial"/>
              </a:rPr>
              <a:t>men. That  would draw </a:t>
            </a:r>
            <a:r>
              <a:rPr dirty="0" sz="1200">
                <a:latin typeface="Arial"/>
                <a:cs typeface="Arial"/>
              </a:rPr>
              <a:t>the </a:t>
            </a:r>
            <a:r>
              <a:rPr dirty="0" sz="1200" spc="-5">
                <a:latin typeface="Arial"/>
                <a:cs typeface="Arial"/>
              </a:rPr>
              <a:t>kinsmen of these </a:t>
            </a:r>
            <a:r>
              <a:rPr dirty="0" sz="1200" spc="5">
                <a:latin typeface="Arial"/>
                <a:cs typeface="Arial"/>
              </a:rPr>
              <a:t>men </a:t>
            </a:r>
            <a:r>
              <a:rPr dirty="0" sz="1200" spc="-5">
                <a:latin typeface="Arial"/>
                <a:cs typeface="Arial"/>
              </a:rPr>
              <a:t>into the </a:t>
            </a:r>
            <a:r>
              <a:rPr dirty="0" sz="1200">
                <a:latin typeface="Arial"/>
                <a:cs typeface="Arial"/>
              </a:rPr>
              <a:t>fight. To </a:t>
            </a:r>
            <a:r>
              <a:rPr dirty="0" sz="1200" spc="-5">
                <a:latin typeface="Arial"/>
                <a:cs typeface="Arial"/>
              </a:rPr>
              <a:t>avoid </a:t>
            </a:r>
            <a:r>
              <a:rPr dirty="0" sz="1200">
                <a:latin typeface="Arial"/>
                <a:cs typeface="Arial"/>
              </a:rPr>
              <a:t>this, </a:t>
            </a:r>
            <a:r>
              <a:rPr dirty="0" sz="1200" spc="-5">
                <a:latin typeface="Arial"/>
                <a:cs typeface="Arial"/>
              </a:rPr>
              <a:t>a </a:t>
            </a:r>
            <a:r>
              <a:rPr dirty="0" sz="1200">
                <a:latin typeface="Arial"/>
                <a:cs typeface="Arial"/>
              </a:rPr>
              <a:t>part </a:t>
            </a:r>
            <a:r>
              <a:rPr dirty="0" sz="1200" spc="-5">
                <a:latin typeface="Arial"/>
                <a:cs typeface="Arial"/>
              </a:rPr>
              <a:t>of rioters stealthily  jumped over </a:t>
            </a:r>
            <a:r>
              <a:rPr dirty="0" sz="1200">
                <a:latin typeface="Arial"/>
                <a:cs typeface="Arial"/>
              </a:rPr>
              <a:t>the </a:t>
            </a:r>
            <a:r>
              <a:rPr dirty="0" sz="1200" spc="-5">
                <a:latin typeface="Arial"/>
                <a:cs typeface="Arial"/>
              </a:rPr>
              <a:t>back wall </a:t>
            </a:r>
            <a:r>
              <a:rPr dirty="0" sz="1200">
                <a:latin typeface="Arial"/>
                <a:cs typeface="Arial"/>
              </a:rPr>
              <a:t>of the </a:t>
            </a:r>
            <a:r>
              <a:rPr dirty="0" sz="1200" spc="-5">
                <a:latin typeface="Arial"/>
                <a:cs typeface="Arial"/>
              </a:rPr>
              <a:t>house, and rushed towards where </a:t>
            </a:r>
            <a:r>
              <a:rPr dirty="0" sz="1200">
                <a:latin typeface="Arial"/>
                <a:cs typeface="Arial"/>
              </a:rPr>
              <a:t>the </a:t>
            </a:r>
            <a:r>
              <a:rPr dirty="0" sz="1200" spc="-5">
                <a:latin typeface="Arial"/>
                <a:cs typeface="Arial"/>
              </a:rPr>
              <a:t>aged Caliph </a:t>
            </a:r>
            <a:r>
              <a:rPr dirty="0" sz="1200" spc="-10">
                <a:latin typeface="Arial"/>
                <a:cs typeface="Arial"/>
              </a:rPr>
              <a:t>was.  </a:t>
            </a:r>
            <a:r>
              <a:rPr dirty="0" sz="1200" spc="-5">
                <a:latin typeface="Arial"/>
                <a:cs typeface="Arial"/>
              </a:rPr>
              <a:t>The guards </a:t>
            </a:r>
            <a:r>
              <a:rPr dirty="0" sz="1200">
                <a:latin typeface="Arial"/>
                <a:cs typeface="Arial"/>
              </a:rPr>
              <a:t>at </a:t>
            </a:r>
            <a:r>
              <a:rPr dirty="0" sz="1200" spc="-5">
                <a:latin typeface="Arial"/>
                <a:cs typeface="Arial"/>
              </a:rPr>
              <a:t>the main gate knew </a:t>
            </a:r>
            <a:r>
              <a:rPr dirty="0" sz="1200">
                <a:latin typeface="Arial"/>
                <a:cs typeface="Arial"/>
              </a:rPr>
              <a:t>nothing </a:t>
            </a:r>
            <a:r>
              <a:rPr dirty="0" sz="1200" spc="-5">
                <a:latin typeface="Arial"/>
                <a:cs typeface="Arial"/>
              </a:rPr>
              <a:t>about what </a:t>
            </a:r>
            <a:r>
              <a:rPr dirty="0" sz="1200" spc="-10">
                <a:latin typeface="Arial"/>
                <a:cs typeface="Arial"/>
              </a:rPr>
              <a:t>was </a:t>
            </a:r>
            <a:r>
              <a:rPr dirty="0" sz="1200" spc="-5">
                <a:latin typeface="Arial"/>
                <a:cs typeface="Arial"/>
              </a:rPr>
              <a:t>going </a:t>
            </a:r>
            <a:r>
              <a:rPr dirty="0" sz="1200">
                <a:latin typeface="Arial"/>
                <a:cs typeface="Arial"/>
              </a:rPr>
              <a:t>on</a:t>
            </a:r>
            <a:r>
              <a:rPr dirty="0" sz="1200" spc="25">
                <a:latin typeface="Arial"/>
                <a:cs typeface="Arial"/>
              </a:rPr>
              <a:t> </a:t>
            </a:r>
            <a:r>
              <a:rPr dirty="0" sz="1200" spc="-5">
                <a:latin typeface="Arial"/>
                <a:cs typeface="Arial"/>
              </a:rPr>
              <a:t>inside.</a:t>
            </a:r>
            <a:endParaRPr sz="1200">
              <a:latin typeface="Arial"/>
              <a:cs typeface="Arial"/>
            </a:endParaRPr>
          </a:p>
          <a:p>
            <a:pPr algn="just" marL="12700" marR="8890">
              <a:lnSpc>
                <a:spcPts val="1380"/>
              </a:lnSpc>
              <a:spcBef>
                <a:spcPts val="1000"/>
              </a:spcBef>
            </a:pPr>
            <a:r>
              <a:rPr dirty="0" sz="1200" spc="-5">
                <a:latin typeface="Arial"/>
                <a:cs typeface="Arial"/>
              </a:rPr>
              <a:t>Uthman </a:t>
            </a:r>
            <a:r>
              <a:rPr dirty="0" sz="1200" spc="-10">
                <a:latin typeface="Arial"/>
                <a:cs typeface="Arial"/>
              </a:rPr>
              <a:t>was </a:t>
            </a:r>
            <a:r>
              <a:rPr dirty="0" sz="1200">
                <a:latin typeface="Arial"/>
                <a:cs typeface="Arial"/>
              </a:rPr>
              <a:t>sitting </a:t>
            </a:r>
            <a:r>
              <a:rPr dirty="0" sz="1200" spc="-5">
                <a:latin typeface="Arial"/>
                <a:cs typeface="Arial"/>
              </a:rPr>
              <a:t>with </a:t>
            </a:r>
            <a:r>
              <a:rPr dirty="0" sz="1200">
                <a:latin typeface="Arial"/>
                <a:cs typeface="Arial"/>
              </a:rPr>
              <a:t>the Holy </a:t>
            </a:r>
            <a:r>
              <a:rPr dirty="0" sz="1200" spc="-5">
                <a:latin typeface="Arial"/>
                <a:cs typeface="Arial"/>
              </a:rPr>
              <a:t>Book open before </a:t>
            </a:r>
            <a:r>
              <a:rPr dirty="0" sz="1200">
                <a:latin typeface="Arial"/>
                <a:cs typeface="Arial"/>
              </a:rPr>
              <a:t>him. </a:t>
            </a:r>
            <a:r>
              <a:rPr dirty="0" sz="1200" spc="-5">
                <a:latin typeface="Arial"/>
                <a:cs typeface="Arial"/>
              </a:rPr>
              <a:t>He </a:t>
            </a:r>
            <a:r>
              <a:rPr dirty="0" sz="1200" spc="-10">
                <a:latin typeface="Arial"/>
                <a:cs typeface="Arial"/>
              </a:rPr>
              <a:t>was </a:t>
            </a:r>
            <a:r>
              <a:rPr dirty="0" sz="1200" spc="-5">
                <a:latin typeface="Arial"/>
                <a:cs typeface="Arial"/>
              </a:rPr>
              <a:t>reciting </a:t>
            </a:r>
            <a:r>
              <a:rPr dirty="0" sz="1200">
                <a:latin typeface="Arial"/>
                <a:cs typeface="Arial"/>
              </a:rPr>
              <a:t>the Qur'an.  </a:t>
            </a:r>
            <a:r>
              <a:rPr dirty="0" sz="1200" spc="-5">
                <a:latin typeface="Arial"/>
                <a:cs typeface="Arial"/>
              </a:rPr>
              <a:t>Muhammad bin Abu </a:t>
            </a:r>
            <a:r>
              <a:rPr dirty="0" sz="1200">
                <a:latin typeface="Arial"/>
                <a:cs typeface="Arial"/>
              </a:rPr>
              <a:t>Bakr </a:t>
            </a:r>
            <a:r>
              <a:rPr dirty="0" sz="1200" spc="-10">
                <a:latin typeface="Arial"/>
                <a:cs typeface="Arial"/>
              </a:rPr>
              <a:t>was </a:t>
            </a:r>
            <a:r>
              <a:rPr dirty="0" sz="1200">
                <a:latin typeface="Arial"/>
                <a:cs typeface="Arial"/>
              </a:rPr>
              <a:t>leading the party of </a:t>
            </a:r>
            <a:r>
              <a:rPr dirty="0" sz="1200" spc="-5">
                <a:latin typeface="Arial"/>
                <a:cs typeface="Arial"/>
              </a:rPr>
              <a:t>assassins. He got hold of </a:t>
            </a:r>
            <a:r>
              <a:rPr dirty="0" sz="1200">
                <a:latin typeface="Arial"/>
                <a:cs typeface="Arial"/>
              </a:rPr>
              <a:t>the </a:t>
            </a:r>
            <a:r>
              <a:rPr dirty="0" sz="1200" spc="-5">
                <a:latin typeface="Arial"/>
                <a:cs typeface="Arial"/>
              </a:rPr>
              <a:t>Caliph's  beard and pulled </a:t>
            </a:r>
            <a:r>
              <a:rPr dirty="0" sz="1200">
                <a:latin typeface="Arial"/>
                <a:cs typeface="Arial"/>
              </a:rPr>
              <a:t>it.</a:t>
            </a:r>
            <a:endParaRPr sz="1200">
              <a:latin typeface="Arial"/>
              <a:cs typeface="Arial"/>
            </a:endParaRPr>
          </a:p>
          <a:p>
            <a:pPr algn="just" marL="12700" marR="13335">
              <a:lnSpc>
                <a:spcPts val="1370"/>
              </a:lnSpc>
              <a:spcBef>
                <a:spcPts val="1015"/>
              </a:spcBef>
            </a:pPr>
            <a:r>
              <a:rPr dirty="0" sz="1200" spc="-5">
                <a:latin typeface="Arial"/>
                <a:cs typeface="Arial"/>
              </a:rPr>
              <a:t>"My dear nephew," said </a:t>
            </a:r>
            <a:r>
              <a:rPr dirty="0" sz="1200">
                <a:latin typeface="Arial"/>
                <a:cs typeface="Arial"/>
              </a:rPr>
              <a:t>Usman, </a:t>
            </a:r>
            <a:r>
              <a:rPr dirty="0" sz="1200" spc="-5">
                <a:latin typeface="Arial"/>
                <a:cs typeface="Arial"/>
              </a:rPr>
              <a:t>looking into Muhammad's eyes, </a:t>
            </a:r>
            <a:r>
              <a:rPr dirty="0" sz="1200">
                <a:latin typeface="Arial"/>
                <a:cs typeface="Arial"/>
              </a:rPr>
              <a:t>"if </a:t>
            </a:r>
            <a:r>
              <a:rPr dirty="0" sz="1200" spc="-5">
                <a:latin typeface="Arial"/>
                <a:cs typeface="Arial"/>
              </a:rPr>
              <a:t>your </a:t>
            </a:r>
            <a:r>
              <a:rPr dirty="0" sz="1200">
                <a:latin typeface="Arial"/>
                <a:cs typeface="Arial"/>
              </a:rPr>
              <a:t>father </a:t>
            </a:r>
            <a:r>
              <a:rPr dirty="0" sz="1200" spc="-5">
                <a:latin typeface="Arial"/>
                <a:cs typeface="Arial"/>
              </a:rPr>
              <a:t>had </a:t>
            </a:r>
            <a:r>
              <a:rPr dirty="0" sz="1200" spc="-10">
                <a:latin typeface="Arial"/>
                <a:cs typeface="Arial"/>
              </a:rPr>
              <a:t>been  </a:t>
            </a:r>
            <a:r>
              <a:rPr dirty="0" sz="1200" spc="-5">
                <a:latin typeface="Arial"/>
                <a:cs typeface="Arial"/>
              </a:rPr>
              <a:t>alive, he would not </a:t>
            </a:r>
            <a:r>
              <a:rPr dirty="0" sz="1200" spc="-10">
                <a:latin typeface="Arial"/>
                <a:cs typeface="Arial"/>
              </a:rPr>
              <a:t>have </a:t>
            </a:r>
            <a:r>
              <a:rPr dirty="0" sz="1200" spc="-5">
                <a:latin typeface="Arial"/>
                <a:cs typeface="Arial"/>
              </a:rPr>
              <a:t>liked this conduct of</a:t>
            </a:r>
            <a:r>
              <a:rPr dirty="0" sz="1200" spc="40">
                <a:latin typeface="Arial"/>
                <a:cs typeface="Arial"/>
              </a:rPr>
              <a:t> </a:t>
            </a:r>
            <a:r>
              <a:rPr dirty="0" sz="1200" spc="-5">
                <a:latin typeface="Arial"/>
                <a:cs typeface="Arial"/>
              </a:rPr>
              <a:t>yours."</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36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900" cy="313817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algn="just" marL="12700">
              <a:lnSpc>
                <a:spcPct val="100000"/>
              </a:lnSpc>
              <a:spcBef>
                <a:spcPts val="5"/>
              </a:spcBef>
            </a:pPr>
            <a:r>
              <a:rPr dirty="0" sz="1200" spc="-5">
                <a:latin typeface="Arial"/>
                <a:cs typeface="Arial"/>
              </a:rPr>
              <a:t>The young man </a:t>
            </a:r>
            <a:r>
              <a:rPr dirty="0" sz="1200" spc="-10">
                <a:latin typeface="Arial"/>
                <a:cs typeface="Arial"/>
              </a:rPr>
              <a:t>was </a:t>
            </a:r>
            <a:r>
              <a:rPr dirty="0" sz="1200" spc="-5">
                <a:latin typeface="Arial"/>
                <a:cs typeface="Arial"/>
              </a:rPr>
              <a:t>cut </a:t>
            </a:r>
            <a:r>
              <a:rPr dirty="0" sz="1200">
                <a:latin typeface="Arial"/>
                <a:cs typeface="Arial"/>
              </a:rPr>
              <a:t>to </a:t>
            </a:r>
            <a:r>
              <a:rPr dirty="0" sz="1200" spc="-5">
                <a:latin typeface="Arial"/>
                <a:cs typeface="Arial"/>
              </a:rPr>
              <a:t>the quick and turned</a:t>
            </a:r>
            <a:r>
              <a:rPr dirty="0" sz="1200" spc="35">
                <a:latin typeface="Arial"/>
                <a:cs typeface="Arial"/>
              </a:rPr>
              <a:t> </a:t>
            </a:r>
            <a:r>
              <a:rPr dirty="0" sz="1200" spc="-5">
                <a:latin typeface="Arial"/>
                <a:cs typeface="Arial"/>
              </a:rPr>
              <a:t>back.</a:t>
            </a:r>
            <a:endParaRPr sz="1200">
              <a:latin typeface="Arial"/>
              <a:cs typeface="Arial"/>
            </a:endParaRPr>
          </a:p>
          <a:p>
            <a:pPr algn="just" marL="12700" marR="5080">
              <a:lnSpc>
                <a:spcPts val="1380"/>
              </a:lnSpc>
              <a:spcBef>
                <a:spcPts val="1030"/>
              </a:spcBef>
            </a:pPr>
            <a:r>
              <a:rPr dirty="0" sz="1200" spc="-5">
                <a:latin typeface="Arial"/>
                <a:cs typeface="Arial"/>
              </a:rPr>
              <a:t>Then another man hit the Caliph </a:t>
            </a:r>
            <a:r>
              <a:rPr dirty="0" sz="1200" spc="-10">
                <a:latin typeface="Arial"/>
                <a:cs typeface="Arial"/>
              </a:rPr>
              <a:t>on </a:t>
            </a:r>
            <a:r>
              <a:rPr dirty="0" sz="1200" spc="-5">
                <a:latin typeface="Arial"/>
                <a:cs typeface="Arial"/>
              </a:rPr>
              <a:t>the head with an axe. </a:t>
            </a:r>
            <a:r>
              <a:rPr dirty="0" sz="1200">
                <a:latin typeface="Arial"/>
                <a:cs typeface="Arial"/>
              </a:rPr>
              <a:t>The </a:t>
            </a:r>
            <a:r>
              <a:rPr dirty="0" sz="1200" spc="-5">
                <a:latin typeface="Arial"/>
                <a:cs typeface="Arial"/>
              </a:rPr>
              <a:t>third </a:t>
            </a:r>
            <a:r>
              <a:rPr dirty="0" sz="1200">
                <a:latin typeface="Arial"/>
                <a:cs typeface="Arial"/>
              </a:rPr>
              <a:t>struck </a:t>
            </a:r>
            <a:r>
              <a:rPr dirty="0" sz="1200" spc="-5">
                <a:latin typeface="Arial"/>
                <a:cs typeface="Arial"/>
              </a:rPr>
              <a:t>him with a </a:t>
            </a:r>
            <a:r>
              <a:rPr dirty="0" sz="1200" spc="5">
                <a:latin typeface="Arial"/>
                <a:cs typeface="Arial"/>
              </a:rPr>
              <a:t>sword. </a:t>
            </a:r>
            <a:r>
              <a:rPr dirty="0" sz="1200" spc="340">
                <a:latin typeface="Arial"/>
                <a:cs typeface="Arial"/>
              </a:rPr>
              <a:t> </a:t>
            </a:r>
            <a:r>
              <a:rPr dirty="0" sz="1200" spc="-5">
                <a:latin typeface="Arial"/>
                <a:cs typeface="Arial"/>
              </a:rPr>
              <a:t>Naila, the </a:t>
            </a:r>
            <a:r>
              <a:rPr dirty="0" sz="1200">
                <a:latin typeface="Arial"/>
                <a:cs typeface="Arial"/>
              </a:rPr>
              <a:t>faithful </a:t>
            </a:r>
            <a:r>
              <a:rPr dirty="0" sz="1200" spc="-5">
                <a:latin typeface="Arial"/>
                <a:cs typeface="Arial"/>
              </a:rPr>
              <a:t>wife of </a:t>
            </a:r>
            <a:r>
              <a:rPr dirty="0" sz="1200">
                <a:latin typeface="Arial"/>
                <a:cs typeface="Arial"/>
              </a:rPr>
              <a:t>Uthman, </a:t>
            </a:r>
            <a:r>
              <a:rPr dirty="0" sz="1200" spc="-5">
                <a:latin typeface="Arial"/>
                <a:cs typeface="Arial"/>
              </a:rPr>
              <a:t>had her fingers </a:t>
            </a:r>
            <a:r>
              <a:rPr dirty="0" sz="1200">
                <a:latin typeface="Arial"/>
                <a:cs typeface="Arial"/>
              </a:rPr>
              <a:t>cut </a:t>
            </a:r>
            <a:r>
              <a:rPr dirty="0" sz="1200" spc="-5">
                <a:latin typeface="Arial"/>
                <a:cs typeface="Arial"/>
              </a:rPr>
              <a:t>off in trying </a:t>
            </a:r>
            <a:r>
              <a:rPr dirty="0" sz="1200">
                <a:latin typeface="Arial"/>
                <a:cs typeface="Arial"/>
              </a:rPr>
              <a:t>to shield </a:t>
            </a:r>
            <a:r>
              <a:rPr dirty="0" sz="1200" spc="-5">
                <a:latin typeface="Arial"/>
                <a:cs typeface="Arial"/>
              </a:rPr>
              <a:t>her husband. Then  all </a:t>
            </a:r>
            <a:r>
              <a:rPr dirty="0" sz="1200">
                <a:latin typeface="Arial"/>
                <a:cs typeface="Arial"/>
              </a:rPr>
              <a:t>the </a:t>
            </a:r>
            <a:r>
              <a:rPr dirty="0" sz="1200" spc="-5">
                <a:latin typeface="Arial"/>
                <a:cs typeface="Arial"/>
              </a:rPr>
              <a:t>rioters </a:t>
            </a:r>
            <a:r>
              <a:rPr dirty="0" sz="1200">
                <a:latin typeface="Arial"/>
                <a:cs typeface="Arial"/>
              </a:rPr>
              <a:t>fell </a:t>
            </a:r>
            <a:r>
              <a:rPr dirty="0" sz="1200" spc="-5">
                <a:latin typeface="Arial"/>
                <a:cs typeface="Arial"/>
              </a:rPr>
              <a:t>upon </a:t>
            </a:r>
            <a:r>
              <a:rPr dirty="0" sz="1200">
                <a:latin typeface="Arial"/>
                <a:cs typeface="Arial"/>
              </a:rPr>
              <a:t>the </a:t>
            </a:r>
            <a:r>
              <a:rPr dirty="0" sz="1200" spc="-5">
                <a:latin typeface="Arial"/>
                <a:cs typeface="Arial"/>
              </a:rPr>
              <a:t>aged </a:t>
            </a:r>
            <a:r>
              <a:rPr dirty="0" sz="1200">
                <a:latin typeface="Arial"/>
                <a:cs typeface="Arial"/>
              </a:rPr>
              <a:t>Caliph. </a:t>
            </a:r>
            <a:r>
              <a:rPr dirty="0" sz="1200" spc="-5">
                <a:latin typeface="Arial"/>
                <a:cs typeface="Arial"/>
              </a:rPr>
              <a:t>They </a:t>
            </a:r>
            <a:r>
              <a:rPr dirty="0" sz="1200">
                <a:latin typeface="Arial"/>
                <a:cs typeface="Arial"/>
              </a:rPr>
              <a:t>inflicted </a:t>
            </a:r>
            <a:r>
              <a:rPr dirty="0" sz="1200" spc="-5">
                <a:latin typeface="Arial"/>
                <a:cs typeface="Arial"/>
              </a:rPr>
              <a:t>several wounds on his </a:t>
            </a:r>
            <a:r>
              <a:rPr dirty="0" sz="1200" spc="-10">
                <a:latin typeface="Arial"/>
                <a:cs typeface="Arial"/>
              </a:rPr>
              <a:t>body. </a:t>
            </a:r>
            <a:r>
              <a:rPr dirty="0" sz="1200">
                <a:latin typeface="Arial"/>
                <a:cs typeface="Arial"/>
              </a:rPr>
              <a:t>One </a:t>
            </a:r>
            <a:r>
              <a:rPr dirty="0" sz="1200" spc="-5">
                <a:latin typeface="Arial"/>
                <a:cs typeface="Arial"/>
              </a:rPr>
              <a:t>of  </a:t>
            </a:r>
            <a:r>
              <a:rPr dirty="0" sz="1200">
                <a:latin typeface="Arial"/>
                <a:cs typeface="Arial"/>
              </a:rPr>
              <a:t>them, </a:t>
            </a:r>
            <a:r>
              <a:rPr dirty="0" sz="1200" spc="-5">
                <a:latin typeface="Arial"/>
                <a:cs typeface="Arial"/>
              </a:rPr>
              <a:t>Amr </a:t>
            </a:r>
            <a:r>
              <a:rPr dirty="0" sz="1200" spc="-10">
                <a:latin typeface="Arial"/>
                <a:cs typeface="Arial"/>
              </a:rPr>
              <a:t>bin </a:t>
            </a:r>
            <a:r>
              <a:rPr dirty="0" sz="1200" spc="-5">
                <a:latin typeface="Arial"/>
                <a:cs typeface="Arial"/>
              </a:rPr>
              <a:t>Hamq by </a:t>
            </a:r>
            <a:r>
              <a:rPr dirty="0" sz="1200">
                <a:latin typeface="Arial"/>
                <a:cs typeface="Arial"/>
              </a:rPr>
              <a:t>name, </a:t>
            </a:r>
            <a:r>
              <a:rPr dirty="0" sz="1200" spc="-5">
                <a:latin typeface="Arial"/>
                <a:cs typeface="Arial"/>
              </a:rPr>
              <a:t>cut off his</a:t>
            </a:r>
            <a:r>
              <a:rPr dirty="0" sz="1200">
                <a:latin typeface="Arial"/>
                <a:cs typeface="Arial"/>
              </a:rPr>
              <a:t> </a:t>
            </a:r>
            <a:r>
              <a:rPr dirty="0" sz="1200" spc="-5">
                <a:latin typeface="Arial"/>
                <a:cs typeface="Arial"/>
              </a:rPr>
              <a:t>head.</a:t>
            </a:r>
            <a:endParaRPr sz="1200">
              <a:latin typeface="Arial"/>
              <a:cs typeface="Arial"/>
            </a:endParaRPr>
          </a:p>
          <a:p>
            <a:pPr algn="just" marL="12700" marR="13335">
              <a:lnSpc>
                <a:spcPts val="1370"/>
              </a:lnSpc>
              <a:spcBef>
                <a:spcPts val="1020"/>
              </a:spcBef>
            </a:pPr>
            <a:r>
              <a:rPr dirty="0" sz="1200" spc="-5">
                <a:latin typeface="Arial"/>
                <a:cs typeface="Arial"/>
              </a:rPr>
              <a:t>The news of Usman's cruel murder came </a:t>
            </a:r>
            <a:r>
              <a:rPr dirty="0" sz="1200" spc="-10">
                <a:latin typeface="Arial"/>
                <a:cs typeface="Arial"/>
              </a:rPr>
              <a:t>as </a:t>
            </a:r>
            <a:r>
              <a:rPr dirty="0" sz="1200" spc="-5">
                <a:latin typeface="Arial"/>
                <a:cs typeface="Arial"/>
              </a:rPr>
              <a:t>a rude shock </a:t>
            </a:r>
            <a:r>
              <a:rPr dirty="0" sz="1200">
                <a:latin typeface="Arial"/>
                <a:cs typeface="Arial"/>
              </a:rPr>
              <a:t>to </a:t>
            </a:r>
            <a:r>
              <a:rPr dirty="0" sz="1200" spc="-10">
                <a:latin typeface="Arial"/>
                <a:cs typeface="Arial"/>
              </a:rPr>
              <a:t>everybody. </a:t>
            </a:r>
            <a:r>
              <a:rPr dirty="0" sz="1200" spc="-5">
                <a:latin typeface="Arial"/>
                <a:cs typeface="Arial"/>
              </a:rPr>
              <a:t>Ali </a:t>
            </a:r>
            <a:r>
              <a:rPr dirty="0" sz="1200" spc="-10">
                <a:latin typeface="Arial"/>
                <a:cs typeface="Arial"/>
              </a:rPr>
              <a:t>was </a:t>
            </a:r>
            <a:r>
              <a:rPr dirty="0" sz="1200" spc="-5">
                <a:latin typeface="Arial"/>
                <a:cs typeface="Arial"/>
              </a:rPr>
              <a:t>stunned  when </a:t>
            </a:r>
            <a:r>
              <a:rPr dirty="0" sz="1200">
                <a:latin typeface="Arial"/>
                <a:cs typeface="Arial"/>
              </a:rPr>
              <a:t>he </a:t>
            </a:r>
            <a:r>
              <a:rPr dirty="0" sz="1200" spc="-5">
                <a:latin typeface="Arial"/>
                <a:cs typeface="Arial"/>
              </a:rPr>
              <a:t>heard of it. </a:t>
            </a:r>
            <a:r>
              <a:rPr dirty="0" sz="1200" spc="-10">
                <a:latin typeface="Arial"/>
                <a:cs typeface="Arial"/>
              </a:rPr>
              <a:t>He </a:t>
            </a:r>
            <a:r>
              <a:rPr dirty="0" sz="1200" spc="-5">
                <a:latin typeface="Arial"/>
                <a:cs typeface="Arial"/>
              </a:rPr>
              <a:t>rushed to</a:t>
            </a:r>
            <a:r>
              <a:rPr dirty="0" sz="1200" spc="30">
                <a:latin typeface="Arial"/>
                <a:cs typeface="Arial"/>
              </a:rPr>
              <a:t> </a:t>
            </a:r>
            <a:r>
              <a:rPr dirty="0" sz="1200" spc="-5">
                <a:latin typeface="Arial"/>
                <a:cs typeface="Arial"/>
              </a:rPr>
              <a:t>Medina.</a:t>
            </a:r>
            <a:endParaRPr sz="1200">
              <a:latin typeface="Arial"/>
              <a:cs typeface="Arial"/>
            </a:endParaRPr>
          </a:p>
          <a:p>
            <a:pPr algn="just" marL="12700" marR="12700">
              <a:lnSpc>
                <a:spcPts val="1380"/>
              </a:lnSpc>
              <a:spcBef>
                <a:spcPts val="1005"/>
              </a:spcBef>
            </a:pPr>
            <a:r>
              <a:rPr dirty="0" sz="1200" spc="-5">
                <a:latin typeface="Arial"/>
                <a:cs typeface="Arial"/>
              </a:rPr>
              <a:t>"Where were you?" </a:t>
            </a:r>
            <a:r>
              <a:rPr dirty="0" sz="1200" spc="-10">
                <a:latin typeface="Arial"/>
                <a:cs typeface="Arial"/>
              </a:rPr>
              <a:t>he </a:t>
            </a:r>
            <a:r>
              <a:rPr dirty="0" sz="1200" spc="-5">
                <a:latin typeface="Arial"/>
                <a:cs typeface="Arial"/>
              </a:rPr>
              <a:t>rebuked his sons, Hasan and Husain, </a:t>
            </a:r>
            <a:r>
              <a:rPr dirty="0" sz="1200" spc="-10">
                <a:latin typeface="Arial"/>
                <a:cs typeface="Arial"/>
              </a:rPr>
              <a:t>"when </a:t>
            </a:r>
            <a:r>
              <a:rPr dirty="0" sz="1200">
                <a:latin typeface="Arial"/>
                <a:cs typeface="Arial"/>
              </a:rPr>
              <a:t>the </a:t>
            </a:r>
            <a:r>
              <a:rPr dirty="0" sz="1200" spc="-5">
                <a:latin typeface="Arial"/>
                <a:cs typeface="Arial"/>
              </a:rPr>
              <a:t>Commander of the  </a:t>
            </a:r>
            <a:r>
              <a:rPr dirty="0" sz="1200">
                <a:latin typeface="Arial"/>
                <a:cs typeface="Arial"/>
              </a:rPr>
              <a:t>Faithful </a:t>
            </a:r>
            <a:r>
              <a:rPr dirty="0" sz="1200" spc="-10">
                <a:latin typeface="Arial"/>
                <a:cs typeface="Arial"/>
              </a:rPr>
              <a:t>was</a:t>
            </a:r>
            <a:r>
              <a:rPr dirty="0" sz="1200" spc="-5">
                <a:latin typeface="Arial"/>
                <a:cs typeface="Arial"/>
              </a:rPr>
              <a:t> murdered?"</a:t>
            </a:r>
            <a:endParaRPr sz="1200">
              <a:latin typeface="Arial"/>
              <a:cs typeface="Arial"/>
            </a:endParaRPr>
          </a:p>
          <a:p>
            <a:pPr algn="just" marL="12700">
              <a:lnSpc>
                <a:spcPct val="100000"/>
              </a:lnSpc>
              <a:spcBef>
                <a:spcPts val="900"/>
              </a:spcBef>
            </a:pPr>
            <a:r>
              <a:rPr dirty="0" sz="1200" spc="-5">
                <a:latin typeface="Arial"/>
                <a:cs typeface="Arial"/>
              </a:rPr>
              <a:t>Similarly, he </a:t>
            </a:r>
            <a:r>
              <a:rPr dirty="0" sz="1200" spc="-10">
                <a:latin typeface="Arial"/>
                <a:cs typeface="Arial"/>
              </a:rPr>
              <a:t>was </a:t>
            </a:r>
            <a:r>
              <a:rPr dirty="0" sz="1200" spc="-5">
                <a:latin typeface="Arial"/>
                <a:cs typeface="Arial"/>
              </a:rPr>
              <a:t>angry with Abdullah </a:t>
            </a:r>
            <a:r>
              <a:rPr dirty="0" sz="1200">
                <a:latin typeface="Arial"/>
                <a:cs typeface="Arial"/>
              </a:rPr>
              <a:t>bin </a:t>
            </a:r>
            <a:r>
              <a:rPr dirty="0" sz="1200" spc="-5">
                <a:latin typeface="Arial"/>
                <a:cs typeface="Arial"/>
              </a:rPr>
              <a:t>Zubair and others </a:t>
            </a:r>
            <a:r>
              <a:rPr dirty="0" sz="1200" spc="-10">
                <a:latin typeface="Arial"/>
                <a:cs typeface="Arial"/>
              </a:rPr>
              <a:t>who </a:t>
            </a:r>
            <a:r>
              <a:rPr dirty="0" sz="1200" spc="-5">
                <a:latin typeface="Arial"/>
                <a:cs typeface="Arial"/>
              </a:rPr>
              <a:t>stood </a:t>
            </a:r>
            <a:r>
              <a:rPr dirty="0" sz="1200" spc="-10">
                <a:latin typeface="Arial"/>
                <a:cs typeface="Arial"/>
              </a:rPr>
              <a:t>guard </a:t>
            </a:r>
            <a:r>
              <a:rPr dirty="0" sz="1200">
                <a:latin typeface="Arial"/>
                <a:cs typeface="Arial"/>
              </a:rPr>
              <a:t>at </a:t>
            </a:r>
            <a:r>
              <a:rPr dirty="0" sz="1200" spc="-5">
                <a:latin typeface="Arial"/>
                <a:cs typeface="Arial"/>
              </a:rPr>
              <a:t>the</a:t>
            </a:r>
            <a:r>
              <a:rPr dirty="0" sz="1200" spc="105">
                <a:latin typeface="Arial"/>
                <a:cs typeface="Arial"/>
              </a:rPr>
              <a:t> </a:t>
            </a:r>
            <a:r>
              <a:rPr dirty="0" sz="1200">
                <a:latin typeface="Arial"/>
                <a:cs typeface="Arial"/>
              </a:rPr>
              <a:t>gate.</a:t>
            </a:r>
            <a:endParaRPr sz="1200">
              <a:latin typeface="Arial"/>
              <a:cs typeface="Arial"/>
            </a:endParaRPr>
          </a:p>
          <a:p>
            <a:pPr algn="just" marL="12700" marR="7620">
              <a:lnSpc>
                <a:spcPts val="1370"/>
              </a:lnSpc>
              <a:spcBef>
                <a:spcPts val="1055"/>
              </a:spcBef>
            </a:pPr>
            <a:r>
              <a:rPr dirty="0" sz="1200" spc="-5">
                <a:latin typeface="Arial"/>
                <a:cs typeface="Arial"/>
              </a:rPr>
              <a:t>Usman </a:t>
            </a:r>
            <a:r>
              <a:rPr dirty="0" sz="1200" spc="-10">
                <a:latin typeface="Arial"/>
                <a:cs typeface="Arial"/>
              </a:rPr>
              <a:t>was </a:t>
            </a:r>
            <a:r>
              <a:rPr dirty="0" sz="1200" spc="-5">
                <a:latin typeface="Arial"/>
                <a:cs typeface="Arial"/>
              </a:rPr>
              <a:t>murdered on Friday, </a:t>
            </a:r>
            <a:r>
              <a:rPr dirty="0" sz="1200">
                <a:latin typeface="Arial"/>
                <a:cs typeface="Arial"/>
              </a:rPr>
              <a:t>the </a:t>
            </a:r>
            <a:r>
              <a:rPr dirty="0" sz="1200" spc="-5">
                <a:latin typeface="Arial"/>
                <a:cs typeface="Arial"/>
              </a:rPr>
              <a:t>17th of </a:t>
            </a:r>
            <a:r>
              <a:rPr dirty="0" sz="1200">
                <a:latin typeface="Arial"/>
                <a:cs typeface="Arial"/>
              </a:rPr>
              <a:t>Dhul </a:t>
            </a:r>
            <a:r>
              <a:rPr dirty="0" sz="1200" spc="-5">
                <a:latin typeface="Arial"/>
                <a:cs typeface="Arial"/>
              </a:rPr>
              <a:t>Hijja, 35 </a:t>
            </a:r>
            <a:r>
              <a:rPr dirty="0" sz="1200">
                <a:latin typeface="Arial"/>
                <a:cs typeface="Arial"/>
              </a:rPr>
              <a:t>A.H. </a:t>
            </a:r>
            <a:r>
              <a:rPr dirty="0" sz="1200" spc="-5">
                <a:latin typeface="Arial"/>
                <a:cs typeface="Arial"/>
              </a:rPr>
              <a:t>He served </a:t>
            </a:r>
            <a:r>
              <a:rPr dirty="0" sz="1200">
                <a:latin typeface="Arial"/>
                <a:cs typeface="Arial"/>
              </a:rPr>
              <a:t>the </a:t>
            </a:r>
            <a:r>
              <a:rPr dirty="0" sz="1200" spc="-5">
                <a:latin typeface="Arial"/>
                <a:cs typeface="Arial"/>
              </a:rPr>
              <a:t>Ummah </a:t>
            </a:r>
            <a:r>
              <a:rPr dirty="0" sz="1200">
                <a:latin typeface="Arial"/>
                <a:cs typeface="Arial"/>
              </a:rPr>
              <a:t>for </a:t>
            </a:r>
            <a:r>
              <a:rPr dirty="0" sz="1200" spc="-5">
                <a:latin typeface="Arial"/>
                <a:cs typeface="Arial"/>
              </a:rPr>
              <a:t>a  period of 12</a:t>
            </a:r>
            <a:r>
              <a:rPr dirty="0" sz="1200" spc="5">
                <a:latin typeface="Arial"/>
                <a:cs typeface="Arial"/>
              </a:rPr>
              <a:t> </a:t>
            </a:r>
            <a:r>
              <a:rPr dirty="0" sz="1200" spc="-5">
                <a:latin typeface="Arial"/>
                <a:cs typeface="Arial"/>
              </a:rPr>
              <a:t>years.</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37</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5970905" cy="208279"/>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878128" y="827531"/>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Hazrat </a:t>
            </a:r>
            <a:r>
              <a:rPr dirty="0" sz="1200" spc="-75" b="1">
                <a:latin typeface="Arial"/>
                <a:cs typeface="Arial"/>
              </a:rPr>
              <a:t>„Ali </a:t>
            </a:r>
            <a:r>
              <a:rPr dirty="0" sz="1200" b="1">
                <a:latin typeface="Arial"/>
                <a:cs typeface="Arial"/>
              </a:rPr>
              <a:t>Murtadwa</a:t>
            </a:r>
            <a:r>
              <a:rPr dirty="0" sz="1200" spc="55" b="1">
                <a:latin typeface="Arial"/>
                <a:cs typeface="Arial"/>
              </a:rPr>
              <a:t> </a:t>
            </a:r>
            <a:r>
              <a:rPr dirty="0" sz="1200" b="1">
                <a:latin typeface="Arial"/>
                <a:cs typeface="Arial"/>
              </a:rPr>
              <a:t>(r.a)</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38</a:t>
            </a:r>
          </a:p>
        </p:txBody>
      </p:sp>
      <p:sp>
        <p:nvSpPr>
          <p:cNvPr id="5" name="object 5"/>
          <p:cNvSpPr txBox="1"/>
          <p:nvPr/>
        </p:nvSpPr>
        <p:spPr>
          <a:xfrm>
            <a:off x="534416" y="1162557"/>
            <a:ext cx="6311900" cy="862203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35"/>
              </a:spcBef>
            </a:pPr>
            <a:endParaRPr sz="1200">
              <a:latin typeface="Arial"/>
              <a:cs typeface="Arial"/>
            </a:endParaRPr>
          </a:p>
          <a:p>
            <a:pPr algn="just" marL="12700" marR="13335">
              <a:lnSpc>
                <a:spcPts val="1380"/>
              </a:lnSpc>
            </a:pPr>
            <a:r>
              <a:rPr dirty="0" sz="1200" spc="-5">
                <a:latin typeface="Arial"/>
                <a:cs typeface="Arial"/>
              </a:rPr>
              <a:t>He </a:t>
            </a:r>
            <a:r>
              <a:rPr dirty="0" sz="1200" spc="-10">
                <a:latin typeface="Arial"/>
                <a:cs typeface="Arial"/>
              </a:rPr>
              <a:t>was </a:t>
            </a:r>
            <a:r>
              <a:rPr dirty="0" sz="1200">
                <a:latin typeface="Arial"/>
                <a:cs typeface="Arial"/>
              </a:rPr>
              <a:t>the </a:t>
            </a:r>
            <a:r>
              <a:rPr dirty="0" sz="1200" spc="-5">
                <a:latin typeface="Arial"/>
                <a:cs typeface="Arial"/>
              </a:rPr>
              <a:t>cousin of </a:t>
            </a:r>
            <a:r>
              <a:rPr dirty="0" sz="1200">
                <a:latin typeface="Arial"/>
                <a:cs typeface="Arial"/>
              </a:rPr>
              <a:t>the </a:t>
            </a:r>
            <a:r>
              <a:rPr dirty="0" sz="1200" spc="-5">
                <a:latin typeface="Arial"/>
                <a:cs typeface="Arial"/>
              </a:rPr>
              <a:t>holy prophet (s.a.w). According </a:t>
            </a:r>
            <a:r>
              <a:rPr dirty="0" sz="1200">
                <a:latin typeface="Arial"/>
                <a:cs typeface="Arial"/>
              </a:rPr>
              <a:t>to the </a:t>
            </a:r>
            <a:r>
              <a:rPr dirty="0" sz="1200" spc="-5">
                <a:latin typeface="Arial"/>
                <a:cs typeface="Arial"/>
              </a:rPr>
              <a:t>prophet, he had a </a:t>
            </a:r>
            <a:r>
              <a:rPr dirty="0" sz="1200" spc="-10">
                <a:latin typeface="Arial"/>
                <a:cs typeface="Arial"/>
              </a:rPr>
              <a:t>huge  </a:t>
            </a:r>
            <a:r>
              <a:rPr dirty="0" sz="1200" spc="-5">
                <a:latin typeface="Arial"/>
                <a:cs typeface="Arial"/>
              </a:rPr>
              <a:t>retentive memory and </a:t>
            </a:r>
            <a:r>
              <a:rPr dirty="0" sz="1200" spc="-10">
                <a:latin typeface="Arial"/>
                <a:cs typeface="Arial"/>
              </a:rPr>
              <a:t>was </a:t>
            </a:r>
            <a:r>
              <a:rPr dirty="0" sz="1200" spc="-5">
                <a:latin typeface="Arial"/>
                <a:cs typeface="Arial"/>
              </a:rPr>
              <a:t>known </a:t>
            </a:r>
            <a:r>
              <a:rPr dirty="0" sz="1200">
                <a:latin typeface="Arial"/>
                <a:cs typeface="Arial"/>
              </a:rPr>
              <a:t>for </a:t>
            </a:r>
            <a:r>
              <a:rPr dirty="0" sz="1200" spc="-5">
                <a:latin typeface="Arial"/>
                <a:cs typeface="Arial"/>
              </a:rPr>
              <a:t>his education and intelligence. According </a:t>
            </a:r>
            <a:r>
              <a:rPr dirty="0" sz="1200">
                <a:latin typeface="Arial"/>
                <a:cs typeface="Arial"/>
              </a:rPr>
              <a:t>to </a:t>
            </a:r>
            <a:r>
              <a:rPr dirty="0" sz="1200" spc="-5">
                <a:latin typeface="Arial"/>
                <a:cs typeface="Arial"/>
              </a:rPr>
              <a:t>history, he  was </a:t>
            </a:r>
            <a:r>
              <a:rPr dirty="0" sz="1200">
                <a:latin typeface="Arial"/>
                <a:cs typeface="Arial"/>
              </a:rPr>
              <a:t>one of </a:t>
            </a:r>
            <a:r>
              <a:rPr dirty="0" sz="1200" spc="-5">
                <a:latin typeface="Arial"/>
                <a:cs typeface="Arial"/>
              </a:rPr>
              <a:t>the first, not </a:t>
            </a:r>
            <a:r>
              <a:rPr dirty="0" sz="1200">
                <a:latin typeface="Arial"/>
                <a:cs typeface="Arial"/>
              </a:rPr>
              <a:t>to say the </a:t>
            </a:r>
            <a:r>
              <a:rPr dirty="0" sz="1200" spc="-5">
                <a:latin typeface="Arial"/>
                <a:cs typeface="Arial"/>
              </a:rPr>
              <a:t>first, to have memorised the whole </a:t>
            </a:r>
            <a:r>
              <a:rPr dirty="0" sz="1200">
                <a:latin typeface="Arial"/>
                <a:cs typeface="Arial"/>
              </a:rPr>
              <a:t>of </a:t>
            </a:r>
            <a:r>
              <a:rPr dirty="0" sz="1200" spc="-5">
                <a:latin typeface="Arial"/>
                <a:cs typeface="Arial"/>
              </a:rPr>
              <a:t>the Holy Qur‘an  practically the same </a:t>
            </a:r>
            <a:r>
              <a:rPr dirty="0" sz="1200">
                <a:latin typeface="Arial"/>
                <a:cs typeface="Arial"/>
              </a:rPr>
              <a:t>time </a:t>
            </a:r>
            <a:r>
              <a:rPr dirty="0" sz="1200" spc="-5">
                <a:latin typeface="Arial"/>
                <a:cs typeface="Arial"/>
              </a:rPr>
              <a:t>of the prophet</a:t>
            </a:r>
            <a:r>
              <a:rPr dirty="0" sz="1200" spc="-10">
                <a:latin typeface="Arial"/>
                <a:cs typeface="Arial"/>
              </a:rPr>
              <a:t> </a:t>
            </a:r>
            <a:r>
              <a:rPr dirty="0" sz="1200" spc="-5">
                <a:latin typeface="Arial"/>
                <a:cs typeface="Arial"/>
              </a:rPr>
              <a:t>(s.a.w).</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b="1" i="1">
                <a:uFill>
                  <a:solidFill>
                    <a:srgbClr val="000000"/>
                  </a:solidFill>
                </a:uFill>
                <a:latin typeface="Arial"/>
                <a:cs typeface="Arial"/>
              </a:rPr>
              <a:t>Life </a:t>
            </a:r>
            <a:r>
              <a:rPr dirty="0" u="heavy" sz="1200" spc="-5" b="1" i="1">
                <a:uFill>
                  <a:solidFill>
                    <a:srgbClr val="000000"/>
                  </a:solidFill>
                </a:uFill>
                <a:latin typeface="Arial"/>
                <a:cs typeface="Arial"/>
              </a:rPr>
              <a:t>before acceptance </a:t>
            </a:r>
            <a:r>
              <a:rPr dirty="0" u="heavy" sz="1200" b="1" i="1">
                <a:uFill>
                  <a:solidFill>
                    <a:srgbClr val="000000"/>
                  </a:solidFill>
                </a:uFill>
                <a:latin typeface="Arial"/>
                <a:cs typeface="Arial"/>
              </a:rPr>
              <a:t>of</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Islam</a:t>
            </a:r>
            <a:endParaRPr sz="1200">
              <a:latin typeface="Arial"/>
              <a:cs typeface="Arial"/>
            </a:endParaRPr>
          </a:p>
          <a:p>
            <a:pPr>
              <a:lnSpc>
                <a:spcPct val="100000"/>
              </a:lnSpc>
              <a:spcBef>
                <a:spcPts val="55"/>
              </a:spcBef>
            </a:pPr>
            <a:endParaRPr sz="1150">
              <a:latin typeface="Arial"/>
              <a:cs typeface="Arial"/>
            </a:endParaRPr>
          </a:p>
          <a:p>
            <a:pPr algn="just" marL="12700" marR="6350">
              <a:lnSpc>
                <a:spcPct val="95900"/>
              </a:lnSpc>
            </a:pPr>
            <a:r>
              <a:rPr dirty="0" sz="1200" spc="-5">
                <a:latin typeface="Arial"/>
                <a:cs typeface="Arial"/>
              </a:rPr>
              <a:t>He </a:t>
            </a:r>
            <a:r>
              <a:rPr dirty="0" sz="1200" spc="-10">
                <a:latin typeface="Arial"/>
                <a:cs typeface="Arial"/>
              </a:rPr>
              <a:t>was </a:t>
            </a:r>
            <a:r>
              <a:rPr dirty="0" sz="1200">
                <a:latin typeface="Arial"/>
                <a:cs typeface="Arial"/>
              </a:rPr>
              <a:t>the </a:t>
            </a:r>
            <a:r>
              <a:rPr dirty="0" sz="1200" spc="-10">
                <a:latin typeface="Arial"/>
                <a:cs typeface="Arial"/>
              </a:rPr>
              <a:t>son </a:t>
            </a:r>
            <a:r>
              <a:rPr dirty="0" sz="1200" spc="-5">
                <a:latin typeface="Arial"/>
                <a:cs typeface="Arial"/>
              </a:rPr>
              <a:t>of Abu Twalib and as mother Faatima. He </a:t>
            </a:r>
            <a:r>
              <a:rPr dirty="0" sz="1200" spc="-10">
                <a:latin typeface="Arial"/>
                <a:cs typeface="Arial"/>
              </a:rPr>
              <a:t>was </a:t>
            </a:r>
            <a:r>
              <a:rPr dirty="0" sz="1200" spc="-5">
                <a:latin typeface="Arial"/>
                <a:cs typeface="Arial"/>
              </a:rPr>
              <a:t>a descendant of Hashim,  cousin and </a:t>
            </a:r>
            <a:r>
              <a:rPr dirty="0" sz="1200">
                <a:latin typeface="Arial"/>
                <a:cs typeface="Arial"/>
              </a:rPr>
              <a:t>in-law </a:t>
            </a:r>
            <a:r>
              <a:rPr dirty="0" sz="1200" spc="-5">
                <a:latin typeface="Arial"/>
                <a:cs typeface="Arial"/>
              </a:rPr>
              <a:t>of Holy Prophet (s.a.w). </a:t>
            </a:r>
            <a:r>
              <a:rPr dirty="0" sz="1200">
                <a:latin typeface="Arial"/>
                <a:cs typeface="Arial"/>
              </a:rPr>
              <a:t>He </a:t>
            </a:r>
            <a:r>
              <a:rPr dirty="0" sz="1200" spc="-10">
                <a:latin typeface="Arial"/>
                <a:cs typeface="Arial"/>
              </a:rPr>
              <a:t>was </a:t>
            </a:r>
            <a:r>
              <a:rPr dirty="0" sz="1200" spc="-5">
                <a:latin typeface="Arial"/>
                <a:cs typeface="Arial"/>
              </a:rPr>
              <a:t>30 years younger than the Holy Prophet  (s.a.w). Due </a:t>
            </a:r>
            <a:r>
              <a:rPr dirty="0" sz="1200">
                <a:latin typeface="Arial"/>
                <a:cs typeface="Arial"/>
              </a:rPr>
              <a:t>to </a:t>
            </a:r>
            <a:r>
              <a:rPr dirty="0" sz="1200" spc="-5">
                <a:latin typeface="Arial"/>
                <a:cs typeface="Arial"/>
              </a:rPr>
              <a:t>his surroundings, he obtained </a:t>
            </a:r>
            <a:r>
              <a:rPr dirty="0" sz="1200">
                <a:latin typeface="Arial"/>
                <a:cs typeface="Arial"/>
              </a:rPr>
              <a:t>formal </a:t>
            </a:r>
            <a:r>
              <a:rPr dirty="0" sz="1200" spc="-5">
                <a:latin typeface="Arial"/>
                <a:cs typeface="Arial"/>
              </a:rPr>
              <a:t>education by which he </a:t>
            </a:r>
            <a:r>
              <a:rPr dirty="0" sz="1200" spc="-10">
                <a:latin typeface="Arial"/>
                <a:cs typeface="Arial"/>
              </a:rPr>
              <a:t>was </a:t>
            </a:r>
            <a:r>
              <a:rPr dirty="0" sz="1200" spc="-5">
                <a:latin typeface="Arial"/>
                <a:cs typeface="Arial"/>
              </a:rPr>
              <a:t>able to </a:t>
            </a:r>
            <a:r>
              <a:rPr dirty="0" sz="1200" spc="-10">
                <a:latin typeface="Arial"/>
                <a:cs typeface="Arial"/>
              </a:rPr>
              <a:t>read  </a:t>
            </a:r>
            <a:r>
              <a:rPr dirty="0" sz="1200">
                <a:latin typeface="Arial"/>
                <a:cs typeface="Arial"/>
              </a:rPr>
              <a:t>and </a:t>
            </a:r>
            <a:r>
              <a:rPr dirty="0" sz="1200" spc="-5">
                <a:latin typeface="Arial"/>
                <a:cs typeface="Arial"/>
              </a:rPr>
              <a:t>write. He was </a:t>
            </a:r>
            <a:r>
              <a:rPr dirty="0" sz="1200">
                <a:latin typeface="Arial"/>
                <a:cs typeface="Arial"/>
              </a:rPr>
              <a:t>learned, </a:t>
            </a:r>
            <a:r>
              <a:rPr dirty="0" sz="1200" spc="-5">
                <a:latin typeface="Arial"/>
                <a:cs typeface="Arial"/>
              </a:rPr>
              <a:t>intelligent and studious. He learned the Qur‘an </a:t>
            </a:r>
            <a:r>
              <a:rPr dirty="0" sz="1200">
                <a:latin typeface="Arial"/>
                <a:cs typeface="Arial"/>
              </a:rPr>
              <a:t>by heart </a:t>
            </a:r>
            <a:r>
              <a:rPr dirty="0" sz="1200" spc="-5">
                <a:latin typeface="Arial"/>
                <a:cs typeface="Arial"/>
              </a:rPr>
              <a:t>and was  </a:t>
            </a:r>
            <a:r>
              <a:rPr dirty="0" sz="1200">
                <a:latin typeface="Arial"/>
                <a:cs typeface="Arial"/>
              </a:rPr>
              <a:t>pious </a:t>
            </a:r>
            <a:r>
              <a:rPr dirty="0" sz="1200" spc="-5">
                <a:latin typeface="Arial"/>
                <a:cs typeface="Arial"/>
              </a:rPr>
              <a:t>well before his acceptance of Islam. He had a </a:t>
            </a:r>
            <a:r>
              <a:rPr dirty="0" sz="1200" spc="-10">
                <a:latin typeface="Arial"/>
                <a:cs typeface="Arial"/>
              </a:rPr>
              <a:t>good </a:t>
            </a:r>
            <a:r>
              <a:rPr dirty="0" sz="1200" spc="-5">
                <a:latin typeface="Arial"/>
                <a:cs typeface="Arial"/>
              </a:rPr>
              <a:t>guide in </a:t>
            </a:r>
            <a:r>
              <a:rPr dirty="0" sz="1200">
                <a:latin typeface="Arial"/>
                <a:cs typeface="Arial"/>
              </a:rPr>
              <a:t>the </a:t>
            </a:r>
            <a:r>
              <a:rPr dirty="0" sz="1200" spc="-5">
                <a:latin typeface="Arial"/>
                <a:cs typeface="Arial"/>
              </a:rPr>
              <a:t>person of the holy  prophet (s.a.w)</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b="1" i="1">
                <a:uFill>
                  <a:solidFill>
                    <a:srgbClr val="000000"/>
                  </a:solidFill>
                </a:uFill>
                <a:latin typeface="Arial"/>
                <a:cs typeface="Arial"/>
              </a:rPr>
              <a:t>Life </a:t>
            </a:r>
            <a:r>
              <a:rPr dirty="0" u="heavy" sz="1200" spc="-5" b="1" i="1">
                <a:uFill>
                  <a:solidFill>
                    <a:srgbClr val="000000"/>
                  </a:solidFill>
                </a:uFill>
                <a:latin typeface="Arial"/>
                <a:cs typeface="Arial"/>
              </a:rPr>
              <a:t>after acceptance </a:t>
            </a:r>
            <a:r>
              <a:rPr dirty="0" u="heavy" sz="1200" b="1" i="1">
                <a:uFill>
                  <a:solidFill>
                    <a:srgbClr val="000000"/>
                  </a:solidFill>
                </a:uFill>
                <a:latin typeface="Arial"/>
                <a:cs typeface="Arial"/>
              </a:rPr>
              <a:t>of</a:t>
            </a:r>
            <a:r>
              <a:rPr dirty="0" u="heavy" sz="1200" spc="-10" b="1" i="1">
                <a:uFill>
                  <a:solidFill>
                    <a:srgbClr val="000000"/>
                  </a:solidFill>
                </a:uFill>
                <a:latin typeface="Arial"/>
                <a:cs typeface="Arial"/>
              </a:rPr>
              <a:t> </a:t>
            </a:r>
            <a:r>
              <a:rPr dirty="0" u="heavy" sz="1200" b="1" i="1">
                <a:uFill>
                  <a:solidFill>
                    <a:srgbClr val="000000"/>
                  </a:solidFill>
                </a:uFill>
                <a:latin typeface="Arial"/>
                <a:cs typeface="Arial"/>
              </a:rPr>
              <a:t>Islam</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spc="-5">
                <a:latin typeface="Arial"/>
                <a:cs typeface="Arial"/>
              </a:rPr>
              <a:t>He </a:t>
            </a:r>
            <a:r>
              <a:rPr dirty="0" sz="1200" spc="-10">
                <a:latin typeface="Arial"/>
                <a:cs typeface="Arial"/>
              </a:rPr>
              <a:t>was </a:t>
            </a:r>
            <a:r>
              <a:rPr dirty="0" sz="1200">
                <a:latin typeface="Arial"/>
                <a:cs typeface="Arial"/>
              </a:rPr>
              <a:t>the first </a:t>
            </a:r>
            <a:r>
              <a:rPr dirty="0" sz="1200" spc="-5">
                <a:latin typeface="Arial"/>
                <a:cs typeface="Arial"/>
              </a:rPr>
              <a:t>free boy </a:t>
            </a:r>
            <a:r>
              <a:rPr dirty="0" sz="1200">
                <a:latin typeface="Arial"/>
                <a:cs typeface="Arial"/>
              </a:rPr>
              <a:t>to </a:t>
            </a:r>
            <a:r>
              <a:rPr dirty="0" sz="1200" spc="-5">
                <a:latin typeface="Arial"/>
                <a:cs typeface="Arial"/>
              </a:rPr>
              <a:t>accept Islam </a:t>
            </a:r>
            <a:r>
              <a:rPr dirty="0" sz="1200" spc="-10">
                <a:latin typeface="Arial"/>
                <a:cs typeface="Arial"/>
              </a:rPr>
              <a:t>on </a:t>
            </a:r>
            <a:r>
              <a:rPr dirty="0" sz="1200">
                <a:latin typeface="Arial"/>
                <a:cs typeface="Arial"/>
              </a:rPr>
              <a:t>the </a:t>
            </a:r>
            <a:r>
              <a:rPr dirty="0" sz="1200" spc="-10">
                <a:latin typeface="Arial"/>
                <a:cs typeface="Arial"/>
              </a:rPr>
              <a:t>same </a:t>
            </a:r>
            <a:r>
              <a:rPr dirty="0" sz="1200" spc="-5">
                <a:latin typeface="Arial"/>
                <a:cs typeface="Arial"/>
              </a:rPr>
              <a:t>day </a:t>
            </a:r>
            <a:r>
              <a:rPr dirty="0" sz="1200">
                <a:latin typeface="Arial"/>
                <a:cs typeface="Arial"/>
              </a:rPr>
              <a:t>the </a:t>
            </a:r>
            <a:r>
              <a:rPr dirty="0" sz="1200" spc="-5">
                <a:latin typeface="Arial"/>
                <a:cs typeface="Arial"/>
              </a:rPr>
              <a:t>prophet </a:t>
            </a:r>
            <a:r>
              <a:rPr dirty="0" sz="1200" spc="-10">
                <a:latin typeface="Arial"/>
                <a:cs typeface="Arial"/>
              </a:rPr>
              <a:t>was given wahy. </a:t>
            </a:r>
            <a:r>
              <a:rPr dirty="0" sz="1200" spc="-5">
                <a:latin typeface="Arial"/>
                <a:cs typeface="Arial"/>
              </a:rPr>
              <a:t>He  </a:t>
            </a:r>
            <a:r>
              <a:rPr dirty="0" sz="1200" spc="-10">
                <a:latin typeface="Arial"/>
                <a:cs typeface="Arial"/>
              </a:rPr>
              <a:t>was </a:t>
            </a:r>
            <a:r>
              <a:rPr dirty="0" sz="1200" spc="-5">
                <a:latin typeface="Arial"/>
                <a:cs typeface="Arial"/>
              </a:rPr>
              <a:t>always </a:t>
            </a:r>
            <a:r>
              <a:rPr dirty="0" sz="1200" spc="5">
                <a:latin typeface="Arial"/>
                <a:cs typeface="Arial"/>
              </a:rPr>
              <a:t>by </a:t>
            </a:r>
            <a:r>
              <a:rPr dirty="0" sz="1200">
                <a:latin typeface="Arial"/>
                <a:cs typeface="Arial"/>
              </a:rPr>
              <a:t>the </a:t>
            </a:r>
            <a:r>
              <a:rPr dirty="0" sz="1200" spc="-5">
                <a:latin typeface="Arial"/>
                <a:cs typeface="Arial"/>
              </a:rPr>
              <a:t>side of </a:t>
            </a:r>
            <a:r>
              <a:rPr dirty="0" sz="1200">
                <a:latin typeface="Arial"/>
                <a:cs typeface="Arial"/>
              </a:rPr>
              <a:t>the </a:t>
            </a:r>
            <a:r>
              <a:rPr dirty="0" sz="1200" spc="-5">
                <a:latin typeface="Arial"/>
                <a:cs typeface="Arial"/>
              </a:rPr>
              <a:t>prophet (s.a.w) and as such </a:t>
            </a:r>
            <a:r>
              <a:rPr dirty="0" sz="1200" spc="-10">
                <a:latin typeface="Arial"/>
                <a:cs typeface="Arial"/>
              </a:rPr>
              <a:t>he </a:t>
            </a:r>
            <a:r>
              <a:rPr dirty="0" sz="1200" spc="-5">
                <a:latin typeface="Arial"/>
                <a:cs typeface="Arial"/>
              </a:rPr>
              <a:t>maintained a written record of  </a:t>
            </a:r>
            <a:r>
              <a:rPr dirty="0" sz="1200">
                <a:latin typeface="Arial"/>
                <a:cs typeface="Arial"/>
              </a:rPr>
              <a:t>the </a:t>
            </a:r>
            <a:r>
              <a:rPr dirty="0" sz="1200" spc="-5">
                <a:latin typeface="Arial"/>
                <a:cs typeface="Arial"/>
              </a:rPr>
              <a:t>sayings of the Holy Prophet (s.a.w). </a:t>
            </a:r>
            <a:r>
              <a:rPr dirty="0" sz="1200">
                <a:latin typeface="Arial"/>
                <a:cs typeface="Arial"/>
              </a:rPr>
              <a:t>The latter </a:t>
            </a:r>
            <a:r>
              <a:rPr dirty="0" sz="1200" spc="-5">
                <a:latin typeface="Arial"/>
                <a:cs typeface="Arial"/>
              </a:rPr>
              <a:t>accepted to get his daughter </a:t>
            </a:r>
            <a:r>
              <a:rPr dirty="0" sz="1200" spc="5">
                <a:latin typeface="Arial"/>
                <a:cs typeface="Arial"/>
              </a:rPr>
              <a:t>Hazrat </a:t>
            </a:r>
            <a:r>
              <a:rPr dirty="0" sz="1200" spc="-5">
                <a:latin typeface="Arial"/>
                <a:cs typeface="Arial"/>
              </a:rPr>
              <a:t>Bibi  </a:t>
            </a:r>
            <a:r>
              <a:rPr dirty="0" sz="1200">
                <a:latin typeface="Arial"/>
                <a:cs typeface="Arial"/>
              </a:rPr>
              <a:t>Faatima </a:t>
            </a:r>
            <a:r>
              <a:rPr dirty="0" sz="1200" spc="-5">
                <a:latin typeface="Arial"/>
                <a:cs typeface="Arial"/>
              </a:rPr>
              <a:t>(r.a) to Ali. </a:t>
            </a:r>
            <a:r>
              <a:rPr dirty="0" sz="1200">
                <a:latin typeface="Arial"/>
                <a:cs typeface="Arial"/>
              </a:rPr>
              <a:t>The </a:t>
            </a:r>
            <a:r>
              <a:rPr dirty="0" sz="1200" spc="-5">
                <a:latin typeface="Arial"/>
                <a:cs typeface="Arial"/>
              </a:rPr>
              <a:t>prophet‘s (s.a.w) lineage was continued through him. He held </a:t>
            </a:r>
            <a:r>
              <a:rPr dirty="0" sz="1200" spc="-10">
                <a:latin typeface="Arial"/>
                <a:cs typeface="Arial"/>
              </a:rPr>
              <a:t>the  </a:t>
            </a:r>
            <a:r>
              <a:rPr dirty="0" sz="1200">
                <a:latin typeface="Arial"/>
                <a:cs typeface="Arial"/>
              </a:rPr>
              <a:t>post </a:t>
            </a:r>
            <a:r>
              <a:rPr dirty="0" sz="1200" spc="-5">
                <a:latin typeface="Arial"/>
                <a:cs typeface="Arial"/>
              </a:rPr>
              <a:t>of Chief Justice and </a:t>
            </a:r>
            <a:r>
              <a:rPr dirty="0" sz="1200" spc="-10">
                <a:latin typeface="Arial"/>
                <a:cs typeface="Arial"/>
              </a:rPr>
              <a:t>was </a:t>
            </a:r>
            <a:r>
              <a:rPr dirty="0" sz="1200" spc="-5">
                <a:latin typeface="Arial"/>
                <a:cs typeface="Arial"/>
              </a:rPr>
              <a:t>a member of Majlis</a:t>
            </a:r>
            <a:r>
              <a:rPr dirty="0" sz="1200" spc="30">
                <a:latin typeface="Arial"/>
                <a:cs typeface="Arial"/>
              </a:rPr>
              <a:t> </a:t>
            </a:r>
            <a:r>
              <a:rPr dirty="0" sz="1200" spc="-5">
                <a:latin typeface="Arial"/>
                <a:cs typeface="Arial"/>
              </a:rPr>
              <a:t>Shurah.</a:t>
            </a:r>
            <a:endParaRPr sz="1200">
              <a:latin typeface="Arial"/>
              <a:cs typeface="Arial"/>
            </a:endParaRPr>
          </a:p>
          <a:p>
            <a:pPr>
              <a:lnSpc>
                <a:spcPct val="100000"/>
              </a:lnSpc>
              <a:spcBef>
                <a:spcPts val="20"/>
              </a:spcBef>
            </a:pPr>
            <a:endParaRPr sz="1100">
              <a:latin typeface="Arial"/>
              <a:cs typeface="Arial"/>
            </a:endParaRPr>
          </a:p>
          <a:p>
            <a:pPr marL="12700">
              <a:lnSpc>
                <a:spcPct val="100000"/>
              </a:lnSpc>
              <a:spcBef>
                <a:spcPts val="5"/>
              </a:spcBef>
            </a:pPr>
            <a:r>
              <a:rPr dirty="0" u="heavy" sz="1200" b="1" i="1">
                <a:uFill>
                  <a:solidFill>
                    <a:srgbClr val="000000"/>
                  </a:solidFill>
                </a:uFill>
                <a:latin typeface="Arial"/>
                <a:cs typeface="Arial"/>
              </a:rPr>
              <a:t>Life of </a:t>
            </a:r>
            <a:r>
              <a:rPr dirty="0" u="heavy" sz="1200" spc="-5" b="1" i="1">
                <a:uFill>
                  <a:solidFill>
                    <a:srgbClr val="000000"/>
                  </a:solidFill>
                </a:uFill>
                <a:latin typeface="Arial"/>
                <a:cs typeface="Arial"/>
              </a:rPr>
              <a:t>Caliphate and</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Achievements</a:t>
            </a:r>
            <a:endParaRPr sz="12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200">
                <a:latin typeface="Arial"/>
                <a:cs typeface="Arial"/>
              </a:rPr>
              <a:t>After the </a:t>
            </a:r>
            <a:r>
              <a:rPr dirty="0" sz="1200" spc="-5">
                <a:latin typeface="Arial"/>
                <a:cs typeface="Arial"/>
              </a:rPr>
              <a:t>death </a:t>
            </a:r>
            <a:r>
              <a:rPr dirty="0" sz="1200" spc="-60">
                <a:latin typeface="Arial"/>
                <a:cs typeface="Arial"/>
              </a:rPr>
              <a:t>‗Uthman </a:t>
            </a:r>
            <a:r>
              <a:rPr dirty="0" sz="1200" spc="-5">
                <a:latin typeface="Arial"/>
                <a:cs typeface="Arial"/>
              </a:rPr>
              <a:t>(killed </a:t>
            </a:r>
            <a:r>
              <a:rPr dirty="0" sz="1200">
                <a:latin typeface="Arial"/>
                <a:cs typeface="Arial"/>
              </a:rPr>
              <a:t>by </a:t>
            </a:r>
            <a:r>
              <a:rPr dirty="0" sz="1200" spc="-5">
                <a:latin typeface="Arial"/>
                <a:cs typeface="Arial"/>
              </a:rPr>
              <a:t>hypocrites after siege of his house </a:t>
            </a:r>
            <a:r>
              <a:rPr dirty="0" sz="1200">
                <a:latin typeface="Arial"/>
                <a:cs typeface="Arial"/>
              </a:rPr>
              <a:t>– </a:t>
            </a:r>
            <a:r>
              <a:rPr dirty="0" sz="1200" spc="-5">
                <a:latin typeface="Arial"/>
                <a:cs typeface="Arial"/>
              </a:rPr>
              <a:t>by </a:t>
            </a:r>
            <a:r>
              <a:rPr dirty="0" sz="1200">
                <a:latin typeface="Arial"/>
                <a:cs typeface="Arial"/>
              </a:rPr>
              <a:t>Amr </a:t>
            </a:r>
            <a:r>
              <a:rPr dirty="0" sz="1200" spc="-10">
                <a:latin typeface="Arial"/>
                <a:cs typeface="Arial"/>
              </a:rPr>
              <a:t>Bin </a:t>
            </a:r>
            <a:r>
              <a:rPr dirty="0" sz="1200" spc="-5">
                <a:latin typeface="Arial"/>
                <a:cs typeface="Arial"/>
              </a:rPr>
              <a:t>Hamq)  </a:t>
            </a:r>
            <a:r>
              <a:rPr dirty="0" sz="1200">
                <a:latin typeface="Arial"/>
                <a:cs typeface="Arial"/>
              </a:rPr>
              <a:t>there </a:t>
            </a:r>
            <a:r>
              <a:rPr dirty="0" sz="1200" spc="-5">
                <a:latin typeface="Arial"/>
                <a:cs typeface="Arial"/>
              </a:rPr>
              <a:t>were 3 days where no caliph </a:t>
            </a:r>
            <a:r>
              <a:rPr dirty="0" sz="1200" spc="-10">
                <a:latin typeface="Arial"/>
                <a:cs typeface="Arial"/>
              </a:rPr>
              <a:t>was </a:t>
            </a:r>
            <a:r>
              <a:rPr dirty="0" sz="1200" spc="-5">
                <a:latin typeface="Arial"/>
                <a:cs typeface="Arial"/>
              </a:rPr>
              <a:t>ruling over </a:t>
            </a:r>
            <a:r>
              <a:rPr dirty="0" sz="1200">
                <a:latin typeface="Arial"/>
                <a:cs typeface="Arial"/>
              </a:rPr>
              <a:t>the </a:t>
            </a:r>
            <a:r>
              <a:rPr dirty="0" sz="1200" spc="-5">
                <a:latin typeface="Arial"/>
                <a:cs typeface="Arial"/>
              </a:rPr>
              <a:t>Islamic dominion. </a:t>
            </a:r>
            <a:r>
              <a:rPr dirty="0" sz="1200">
                <a:latin typeface="Arial"/>
                <a:cs typeface="Arial"/>
              </a:rPr>
              <a:t>The </a:t>
            </a:r>
            <a:r>
              <a:rPr dirty="0" sz="1200" spc="-5">
                <a:latin typeface="Arial"/>
                <a:cs typeface="Arial"/>
              </a:rPr>
              <a:t>hypocrites </a:t>
            </a:r>
            <a:r>
              <a:rPr dirty="0" sz="1200">
                <a:latin typeface="Arial"/>
                <a:cs typeface="Arial"/>
              </a:rPr>
              <a:t>–  </a:t>
            </a:r>
            <a:r>
              <a:rPr dirty="0" sz="1200" spc="-5">
                <a:latin typeface="Arial"/>
                <a:cs typeface="Arial"/>
              </a:rPr>
              <a:t>Khawarij </a:t>
            </a:r>
            <a:r>
              <a:rPr dirty="0" sz="1200">
                <a:latin typeface="Arial"/>
                <a:cs typeface="Arial"/>
              </a:rPr>
              <a:t>– </a:t>
            </a:r>
            <a:r>
              <a:rPr dirty="0" sz="1200" spc="-10">
                <a:latin typeface="Arial"/>
                <a:cs typeface="Arial"/>
              </a:rPr>
              <a:t>gave </a:t>
            </a:r>
            <a:r>
              <a:rPr dirty="0" sz="1200" spc="-5">
                <a:latin typeface="Arial"/>
                <a:cs typeface="Arial"/>
              </a:rPr>
              <a:t>an ultimatum of 24 hours to elect a caliph. </a:t>
            </a:r>
            <a:r>
              <a:rPr dirty="0" sz="1200">
                <a:latin typeface="Arial"/>
                <a:cs typeface="Arial"/>
              </a:rPr>
              <a:t>There </a:t>
            </a:r>
            <a:r>
              <a:rPr dirty="0" sz="1200" spc="-5">
                <a:latin typeface="Arial"/>
                <a:cs typeface="Arial"/>
              </a:rPr>
              <a:t>were 3 names cited </a:t>
            </a:r>
            <a:r>
              <a:rPr dirty="0" sz="1200">
                <a:latin typeface="Arial"/>
                <a:cs typeface="Arial"/>
              </a:rPr>
              <a:t>for </a:t>
            </a:r>
            <a:r>
              <a:rPr dirty="0" sz="1200" spc="-10">
                <a:latin typeface="Arial"/>
                <a:cs typeface="Arial"/>
              </a:rPr>
              <a:t>the  </a:t>
            </a:r>
            <a:r>
              <a:rPr dirty="0" sz="1200" spc="-5">
                <a:latin typeface="Arial"/>
                <a:cs typeface="Arial"/>
              </a:rPr>
              <a:t>caliphate </a:t>
            </a:r>
            <a:r>
              <a:rPr dirty="0" sz="1200">
                <a:latin typeface="Arial"/>
                <a:cs typeface="Arial"/>
              </a:rPr>
              <a:t>– </a:t>
            </a:r>
            <a:r>
              <a:rPr dirty="0" sz="1200" spc="-5">
                <a:latin typeface="Arial"/>
                <a:cs typeface="Arial"/>
              </a:rPr>
              <a:t>namely </a:t>
            </a:r>
            <a:r>
              <a:rPr dirty="0" sz="1200">
                <a:latin typeface="Arial"/>
                <a:cs typeface="Arial"/>
              </a:rPr>
              <a:t>Ali, </a:t>
            </a:r>
            <a:r>
              <a:rPr dirty="0" sz="1200" spc="-5">
                <a:latin typeface="Arial"/>
                <a:cs typeface="Arial"/>
              </a:rPr>
              <a:t>Talha and Zubair. Ali </a:t>
            </a:r>
            <a:r>
              <a:rPr dirty="0" sz="1200" spc="-10">
                <a:latin typeface="Arial"/>
                <a:cs typeface="Arial"/>
              </a:rPr>
              <a:t>was </a:t>
            </a:r>
            <a:r>
              <a:rPr dirty="0" sz="1200">
                <a:latin typeface="Arial"/>
                <a:cs typeface="Arial"/>
              </a:rPr>
              <a:t>then </a:t>
            </a:r>
            <a:r>
              <a:rPr dirty="0" sz="1200" spc="-5">
                <a:latin typeface="Arial"/>
                <a:cs typeface="Arial"/>
              </a:rPr>
              <a:t>elected. Ali </a:t>
            </a:r>
            <a:r>
              <a:rPr dirty="0" sz="1200" spc="-10">
                <a:latin typeface="Arial"/>
                <a:cs typeface="Arial"/>
              </a:rPr>
              <a:t>was </a:t>
            </a:r>
            <a:r>
              <a:rPr dirty="0" sz="1200" spc="-5">
                <a:latin typeface="Arial"/>
                <a:cs typeface="Arial"/>
              </a:rPr>
              <a:t>able </a:t>
            </a:r>
            <a:r>
              <a:rPr dirty="0" sz="1200">
                <a:latin typeface="Arial"/>
                <a:cs typeface="Arial"/>
              </a:rPr>
              <a:t>to force </a:t>
            </a:r>
            <a:r>
              <a:rPr dirty="0" sz="1200" spc="-5">
                <a:latin typeface="Arial"/>
                <a:cs typeface="Arial"/>
              </a:rPr>
              <a:t>the  rebels </a:t>
            </a:r>
            <a:r>
              <a:rPr dirty="0" sz="1200">
                <a:latin typeface="Arial"/>
                <a:cs typeface="Arial"/>
              </a:rPr>
              <a:t>to </a:t>
            </a:r>
            <a:r>
              <a:rPr dirty="0" sz="1200" spc="-5">
                <a:latin typeface="Arial"/>
                <a:cs typeface="Arial"/>
              </a:rPr>
              <a:t>withdraw from Madinah and </a:t>
            </a:r>
            <a:r>
              <a:rPr dirty="0" sz="1200">
                <a:latin typeface="Arial"/>
                <a:cs typeface="Arial"/>
              </a:rPr>
              <a:t>to </a:t>
            </a:r>
            <a:r>
              <a:rPr dirty="0" sz="1200" spc="-5">
                <a:latin typeface="Arial"/>
                <a:cs typeface="Arial"/>
              </a:rPr>
              <a:t>establish peace and </a:t>
            </a:r>
            <a:r>
              <a:rPr dirty="0" sz="1200" spc="-10">
                <a:latin typeface="Arial"/>
                <a:cs typeface="Arial"/>
              </a:rPr>
              <a:t>order </a:t>
            </a:r>
            <a:r>
              <a:rPr dirty="0" sz="1200" spc="-5">
                <a:latin typeface="Arial"/>
                <a:cs typeface="Arial"/>
              </a:rPr>
              <a:t>in </a:t>
            </a:r>
            <a:r>
              <a:rPr dirty="0" sz="1200">
                <a:latin typeface="Arial"/>
                <a:cs typeface="Arial"/>
              </a:rPr>
              <a:t>the </a:t>
            </a:r>
            <a:r>
              <a:rPr dirty="0" sz="1200" spc="-5">
                <a:latin typeface="Arial"/>
                <a:cs typeface="Arial"/>
              </a:rPr>
              <a:t>city. </a:t>
            </a:r>
            <a:r>
              <a:rPr dirty="0" sz="1200">
                <a:latin typeface="Arial"/>
                <a:cs typeface="Arial"/>
              </a:rPr>
              <a:t>The </a:t>
            </a:r>
            <a:r>
              <a:rPr dirty="0" sz="1200" spc="-5">
                <a:latin typeface="Arial"/>
                <a:cs typeface="Arial"/>
              </a:rPr>
              <a:t>powerful  governor </a:t>
            </a:r>
            <a:r>
              <a:rPr dirty="0" sz="1200">
                <a:latin typeface="Arial"/>
                <a:cs typeface="Arial"/>
              </a:rPr>
              <a:t>of </a:t>
            </a:r>
            <a:r>
              <a:rPr dirty="0" sz="1200" spc="-5">
                <a:latin typeface="Arial"/>
                <a:cs typeface="Arial"/>
              </a:rPr>
              <a:t>Syria, Mu'awiyah, challenged Ali and refused </a:t>
            </a:r>
            <a:r>
              <a:rPr dirty="0" sz="1200">
                <a:latin typeface="Arial"/>
                <a:cs typeface="Arial"/>
              </a:rPr>
              <a:t>to </a:t>
            </a:r>
            <a:r>
              <a:rPr dirty="0" sz="1200" spc="-5">
                <a:latin typeface="Arial"/>
                <a:cs typeface="Arial"/>
              </a:rPr>
              <a:t>pay homage </a:t>
            </a:r>
            <a:r>
              <a:rPr dirty="0" sz="1200">
                <a:latin typeface="Arial"/>
                <a:cs typeface="Arial"/>
              </a:rPr>
              <a:t>to </a:t>
            </a:r>
            <a:r>
              <a:rPr dirty="0" sz="1200" spc="-5">
                <a:latin typeface="Arial"/>
                <a:cs typeface="Arial"/>
              </a:rPr>
              <a:t>him. Mu'awiyah  </a:t>
            </a:r>
            <a:r>
              <a:rPr dirty="0" sz="1200">
                <a:latin typeface="Arial"/>
                <a:cs typeface="Arial"/>
              </a:rPr>
              <a:t>insisted </a:t>
            </a:r>
            <a:r>
              <a:rPr dirty="0" sz="1200" spc="-5">
                <a:latin typeface="Arial"/>
                <a:cs typeface="Arial"/>
              </a:rPr>
              <a:t>that Ali should arrest the murderers of 'Uthman and hand them over </a:t>
            </a:r>
            <a:r>
              <a:rPr dirty="0" sz="1200">
                <a:latin typeface="Arial"/>
                <a:cs typeface="Arial"/>
              </a:rPr>
              <a:t>to </a:t>
            </a:r>
            <a:r>
              <a:rPr dirty="0" sz="1200" spc="-5">
                <a:latin typeface="Arial"/>
                <a:cs typeface="Arial"/>
              </a:rPr>
              <a:t>him. Ali </a:t>
            </a:r>
            <a:r>
              <a:rPr dirty="0" sz="1200" spc="-10">
                <a:latin typeface="Arial"/>
                <a:cs typeface="Arial"/>
              </a:rPr>
              <a:t>was  </a:t>
            </a:r>
            <a:r>
              <a:rPr dirty="0" sz="1200" spc="-5">
                <a:latin typeface="Arial"/>
                <a:cs typeface="Arial"/>
              </a:rPr>
              <a:t>a </a:t>
            </a:r>
            <a:r>
              <a:rPr dirty="0" sz="1200">
                <a:latin typeface="Arial"/>
                <a:cs typeface="Arial"/>
              </a:rPr>
              <a:t>man </a:t>
            </a:r>
            <a:r>
              <a:rPr dirty="0" sz="1200" spc="-5">
                <a:latin typeface="Arial"/>
                <a:cs typeface="Arial"/>
              </a:rPr>
              <a:t>with a deep </a:t>
            </a:r>
            <a:r>
              <a:rPr dirty="0" sz="1200" spc="-10">
                <a:latin typeface="Arial"/>
                <a:cs typeface="Arial"/>
              </a:rPr>
              <a:t>sense </a:t>
            </a:r>
            <a:r>
              <a:rPr dirty="0" sz="1200" spc="-5">
                <a:latin typeface="Arial"/>
                <a:cs typeface="Arial"/>
              </a:rPr>
              <a:t>of justice and did not want to accuse the wrong people. </a:t>
            </a:r>
            <a:r>
              <a:rPr dirty="0" sz="1200" spc="-10">
                <a:latin typeface="Arial"/>
                <a:cs typeface="Arial"/>
              </a:rPr>
              <a:t>He needed  </a:t>
            </a:r>
            <a:r>
              <a:rPr dirty="0" sz="1200" spc="-5">
                <a:latin typeface="Arial"/>
                <a:cs typeface="Arial"/>
              </a:rPr>
              <a:t>a peaceful period </a:t>
            </a:r>
            <a:r>
              <a:rPr dirty="0" sz="1200">
                <a:latin typeface="Arial"/>
                <a:cs typeface="Arial"/>
              </a:rPr>
              <a:t>to </a:t>
            </a:r>
            <a:r>
              <a:rPr dirty="0" sz="1200" spc="-5">
                <a:latin typeface="Arial"/>
                <a:cs typeface="Arial"/>
              </a:rPr>
              <a:t>trace </a:t>
            </a:r>
            <a:r>
              <a:rPr dirty="0" sz="1200">
                <a:latin typeface="Arial"/>
                <a:cs typeface="Arial"/>
              </a:rPr>
              <a:t>the </a:t>
            </a:r>
            <a:r>
              <a:rPr dirty="0" sz="1200" spc="-5">
                <a:latin typeface="Arial"/>
                <a:cs typeface="Arial"/>
              </a:rPr>
              <a:t>culprits. </a:t>
            </a:r>
            <a:r>
              <a:rPr dirty="0" sz="1200">
                <a:latin typeface="Arial"/>
                <a:cs typeface="Arial"/>
              </a:rPr>
              <a:t>But, </a:t>
            </a:r>
            <a:r>
              <a:rPr dirty="0" sz="1200" spc="-5">
                <a:latin typeface="Arial"/>
                <a:cs typeface="Arial"/>
              </a:rPr>
              <a:t>Mu'awiyah began accusing him of protecting </a:t>
            </a:r>
            <a:r>
              <a:rPr dirty="0" sz="1200">
                <a:latin typeface="Arial"/>
                <a:cs typeface="Arial"/>
              </a:rPr>
              <a:t>the  </a:t>
            </a:r>
            <a:r>
              <a:rPr dirty="0" sz="1200" spc="-5">
                <a:latin typeface="Arial"/>
                <a:cs typeface="Arial"/>
              </a:rPr>
              <a:t>murderers, and in </a:t>
            </a:r>
            <a:r>
              <a:rPr dirty="0" sz="1200">
                <a:latin typeface="Arial"/>
                <a:cs typeface="Arial"/>
              </a:rPr>
              <a:t>this </a:t>
            </a:r>
            <a:r>
              <a:rPr dirty="0" sz="1200" spc="-10">
                <a:latin typeface="Arial"/>
                <a:cs typeface="Arial"/>
              </a:rPr>
              <a:t>way </a:t>
            </a:r>
            <a:r>
              <a:rPr dirty="0" sz="1200">
                <a:latin typeface="Arial"/>
                <a:cs typeface="Arial"/>
              </a:rPr>
              <a:t>the </a:t>
            </a:r>
            <a:r>
              <a:rPr dirty="0" sz="1200" spc="-5">
                <a:latin typeface="Arial"/>
                <a:cs typeface="Arial"/>
              </a:rPr>
              <a:t>old </a:t>
            </a:r>
            <a:r>
              <a:rPr dirty="0" sz="1200">
                <a:latin typeface="Arial"/>
                <a:cs typeface="Arial"/>
              </a:rPr>
              <a:t>enmity between the </a:t>
            </a:r>
            <a:r>
              <a:rPr dirty="0" sz="1200" spc="-10">
                <a:latin typeface="Arial"/>
                <a:cs typeface="Arial"/>
              </a:rPr>
              <a:t>two </a:t>
            </a:r>
            <a:r>
              <a:rPr dirty="0" sz="1200" spc="-5">
                <a:latin typeface="Arial"/>
                <a:cs typeface="Arial"/>
              </a:rPr>
              <a:t>families </a:t>
            </a:r>
            <a:r>
              <a:rPr dirty="0" sz="1200" spc="-10">
                <a:latin typeface="Arial"/>
                <a:cs typeface="Arial"/>
              </a:rPr>
              <a:t>was </a:t>
            </a:r>
            <a:r>
              <a:rPr dirty="0" sz="1200" spc="-5">
                <a:latin typeface="Arial"/>
                <a:cs typeface="Arial"/>
              </a:rPr>
              <a:t>revived. </a:t>
            </a:r>
            <a:r>
              <a:rPr dirty="0" sz="1200" spc="5">
                <a:latin typeface="Arial"/>
                <a:cs typeface="Arial"/>
              </a:rPr>
              <a:t>When </a:t>
            </a:r>
            <a:r>
              <a:rPr dirty="0" sz="1200" spc="-5">
                <a:latin typeface="Arial"/>
                <a:cs typeface="Arial"/>
              </a:rPr>
              <a:t>he  </a:t>
            </a:r>
            <a:r>
              <a:rPr dirty="0" sz="1200">
                <a:latin typeface="Arial"/>
                <a:cs typeface="Arial"/>
              </a:rPr>
              <a:t>came to </a:t>
            </a:r>
            <a:r>
              <a:rPr dirty="0" sz="1200" spc="-10">
                <a:latin typeface="Arial"/>
                <a:cs typeface="Arial"/>
              </a:rPr>
              <a:t>power </a:t>
            </a:r>
            <a:r>
              <a:rPr dirty="0" sz="1200" spc="-5">
                <a:latin typeface="Arial"/>
                <a:cs typeface="Arial"/>
              </a:rPr>
              <a:t>he </a:t>
            </a:r>
            <a:r>
              <a:rPr dirty="0" sz="1200">
                <a:latin typeface="Arial"/>
                <a:cs typeface="Arial"/>
              </a:rPr>
              <a:t>wanted </a:t>
            </a:r>
            <a:r>
              <a:rPr dirty="0" sz="1200" spc="-5">
                <a:latin typeface="Arial"/>
                <a:cs typeface="Arial"/>
              </a:rPr>
              <a:t>to change governors </a:t>
            </a:r>
            <a:r>
              <a:rPr dirty="0" sz="1200">
                <a:latin typeface="Arial"/>
                <a:cs typeface="Arial"/>
              </a:rPr>
              <a:t>for </a:t>
            </a:r>
            <a:r>
              <a:rPr dirty="0" sz="1200" spc="-5">
                <a:latin typeface="Arial"/>
                <a:cs typeface="Arial"/>
              </a:rPr>
              <a:t>a better control and </a:t>
            </a:r>
            <a:r>
              <a:rPr dirty="0" sz="1200" spc="-10">
                <a:latin typeface="Arial"/>
                <a:cs typeface="Arial"/>
              </a:rPr>
              <a:t>he </a:t>
            </a:r>
            <a:r>
              <a:rPr dirty="0" sz="1200" spc="-5">
                <a:latin typeface="Arial"/>
                <a:cs typeface="Arial"/>
              </a:rPr>
              <a:t>went against all  advices from his friends not to </a:t>
            </a:r>
            <a:r>
              <a:rPr dirty="0" sz="1200" spc="-10">
                <a:latin typeface="Arial"/>
                <a:cs typeface="Arial"/>
              </a:rPr>
              <a:t>go </a:t>
            </a:r>
            <a:r>
              <a:rPr dirty="0" sz="1200" spc="-5">
                <a:latin typeface="Arial"/>
                <a:cs typeface="Arial"/>
              </a:rPr>
              <a:t>ahead. </a:t>
            </a:r>
            <a:r>
              <a:rPr dirty="0" sz="1200">
                <a:latin typeface="Arial"/>
                <a:cs typeface="Arial"/>
              </a:rPr>
              <a:t>But it </a:t>
            </a:r>
            <a:r>
              <a:rPr dirty="0" sz="1200" spc="-10">
                <a:latin typeface="Arial"/>
                <a:cs typeface="Arial"/>
              </a:rPr>
              <a:t>was </a:t>
            </a:r>
            <a:r>
              <a:rPr dirty="0" sz="1200" spc="-5">
                <a:latin typeface="Arial"/>
                <a:cs typeface="Arial"/>
              </a:rPr>
              <a:t>too late to manage and change the  situation. Due </a:t>
            </a:r>
            <a:r>
              <a:rPr dirty="0" sz="1200">
                <a:latin typeface="Arial"/>
                <a:cs typeface="Arial"/>
              </a:rPr>
              <a:t>to the last </a:t>
            </a:r>
            <a:r>
              <a:rPr dirty="0" sz="1200" spc="-5">
                <a:latin typeface="Arial"/>
                <a:cs typeface="Arial"/>
              </a:rPr>
              <a:t>6 bad years </a:t>
            </a:r>
            <a:r>
              <a:rPr dirty="0" sz="1200">
                <a:latin typeface="Arial"/>
                <a:cs typeface="Arial"/>
              </a:rPr>
              <a:t>of </a:t>
            </a:r>
            <a:r>
              <a:rPr dirty="0" sz="1200" spc="-5">
                <a:latin typeface="Arial"/>
                <a:cs typeface="Arial"/>
              </a:rPr>
              <a:t>Hazrat </a:t>
            </a:r>
            <a:r>
              <a:rPr dirty="0" sz="1200" spc="-50">
                <a:latin typeface="Arial"/>
                <a:cs typeface="Arial"/>
              </a:rPr>
              <a:t>‗Uthman, </a:t>
            </a:r>
            <a:r>
              <a:rPr dirty="0" sz="1200" spc="-5">
                <a:latin typeface="Arial"/>
                <a:cs typeface="Arial"/>
              </a:rPr>
              <a:t>it was difficult to contain all  problems.</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Problems </a:t>
            </a:r>
            <a:r>
              <a:rPr dirty="0" u="heavy" sz="1200" spc="-10" b="1" i="1">
                <a:uFill>
                  <a:solidFill>
                    <a:srgbClr val="000000"/>
                  </a:solidFill>
                </a:uFill>
                <a:latin typeface="Arial"/>
                <a:cs typeface="Arial"/>
              </a:rPr>
              <a:t>he</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faced</a:t>
            </a:r>
            <a:endParaRPr sz="1200">
              <a:latin typeface="Arial"/>
              <a:cs typeface="Arial"/>
            </a:endParaRPr>
          </a:p>
          <a:p>
            <a:pPr>
              <a:lnSpc>
                <a:spcPct val="100000"/>
              </a:lnSpc>
              <a:spcBef>
                <a:spcPts val="35"/>
              </a:spcBef>
            </a:pPr>
            <a:endParaRPr sz="1200">
              <a:latin typeface="Arial"/>
              <a:cs typeface="Arial"/>
            </a:endParaRPr>
          </a:p>
          <a:p>
            <a:pPr algn="just" marL="12700" marR="8890">
              <a:lnSpc>
                <a:spcPts val="1380"/>
              </a:lnSpc>
            </a:pPr>
            <a:r>
              <a:rPr dirty="0" sz="1200" spc="-5">
                <a:latin typeface="Arial"/>
                <a:cs typeface="Arial"/>
              </a:rPr>
              <a:t>There </a:t>
            </a:r>
            <a:r>
              <a:rPr dirty="0" sz="1200" spc="-10">
                <a:latin typeface="Arial"/>
                <a:cs typeface="Arial"/>
              </a:rPr>
              <a:t>was </a:t>
            </a:r>
            <a:r>
              <a:rPr dirty="0" sz="1200" spc="-5">
                <a:latin typeface="Arial"/>
                <a:cs typeface="Arial"/>
              </a:rPr>
              <a:t>a demand </a:t>
            </a:r>
            <a:r>
              <a:rPr dirty="0" sz="1200">
                <a:latin typeface="Arial"/>
                <a:cs typeface="Arial"/>
              </a:rPr>
              <a:t>for the </a:t>
            </a:r>
            <a:r>
              <a:rPr dirty="0" sz="1200" spc="-5">
                <a:latin typeface="Arial"/>
                <a:cs typeface="Arial"/>
              </a:rPr>
              <a:t>head of those </a:t>
            </a:r>
            <a:r>
              <a:rPr dirty="0" sz="1200" spc="-10">
                <a:latin typeface="Arial"/>
                <a:cs typeface="Arial"/>
              </a:rPr>
              <a:t>who </a:t>
            </a:r>
            <a:r>
              <a:rPr dirty="0" sz="1200">
                <a:latin typeface="Arial"/>
                <a:cs typeface="Arial"/>
              </a:rPr>
              <a:t>murdered </a:t>
            </a:r>
            <a:r>
              <a:rPr dirty="0" sz="1200" spc="-5">
                <a:latin typeface="Arial"/>
                <a:cs typeface="Arial"/>
              </a:rPr>
              <a:t>Uthman. </a:t>
            </a:r>
            <a:r>
              <a:rPr dirty="0" sz="1200">
                <a:latin typeface="Arial"/>
                <a:cs typeface="Arial"/>
              </a:rPr>
              <a:t>But </a:t>
            </a:r>
            <a:r>
              <a:rPr dirty="0" sz="1200" spc="-5">
                <a:latin typeface="Arial"/>
                <a:cs typeface="Arial"/>
              </a:rPr>
              <a:t>Ali wanted </a:t>
            </a:r>
            <a:r>
              <a:rPr dirty="0" sz="1200">
                <a:latin typeface="Arial"/>
                <a:cs typeface="Arial"/>
              </a:rPr>
              <a:t>to </a:t>
            </a:r>
            <a:r>
              <a:rPr dirty="0" sz="1200" spc="-5">
                <a:latin typeface="Arial"/>
                <a:cs typeface="Arial"/>
              </a:rPr>
              <a:t>settle  </a:t>
            </a:r>
            <a:r>
              <a:rPr dirty="0" sz="1200">
                <a:latin typeface="Arial"/>
                <a:cs typeface="Arial"/>
              </a:rPr>
              <a:t>first </a:t>
            </a:r>
            <a:r>
              <a:rPr dirty="0" sz="1200" spc="-5">
                <a:latin typeface="Arial"/>
                <a:cs typeface="Arial"/>
              </a:rPr>
              <a:t>and then find </a:t>
            </a:r>
            <a:r>
              <a:rPr dirty="0" sz="1200">
                <a:latin typeface="Arial"/>
                <a:cs typeface="Arial"/>
              </a:rPr>
              <a:t>out </a:t>
            </a:r>
            <a:r>
              <a:rPr dirty="0" sz="1200" spc="-5">
                <a:latin typeface="Arial"/>
                <a:cs typeface="Arial"/>
              </a:rPr>
              <a:t>the </a:t>
            </a:r>
            <a:r>
              <a:rPr dirty="0" sz="1200">
                <a:latin typeface="Arial"/>
                <a:cs typeface="Arial"/>
              </a:rPr>
              <a:t>culprits. But </a:t>
            </a:r>
            <a:r>
              <a:rPr dirty="0" sz="1200" spc="-5">
                <a:latin typeface="Arial"/>
                <a:cs typeface="Arial"/>
              </a:rPr>
              <a:t>Talha </a:t>
            </a:r>
            <a:r>
              <a:rPr dirty="0" sz="1200">
                <a:latin typeface="Arial"/>
                <a:cs typeface="Arial"/>
              </a:rPr>
              <a:t>and </a:t>
            </a:r>
            <a:r>
              <a:rPr dirty="0" sz="1200" spc="-5">
                <a:latin typeface="Arial"/>
                <a:cs typeface="Arial"/>
              </a:rPr>
              <a:t>Zubair wanted the hypocrites </a:t>
            </a:r>
            <a:r>
              <a:rPr dirty="0" sz="1200">
                <a:latin typeface="Arial"/>
                <a:cs typeface="Arial"/>
              </a:rPr>
              <a:t>and </a:t>
            </a:r>
            <a:r>
              <a:rPr dirty="0" sz="1200" spc="-5">
                <a:latin typeface="Arial"/>
                <a:cs typeface="Arial"/>
              </a:rPr>
              <a:t>murderers  of </a:t>
            </a:r>
            <a:r>
              <a:rPr dirty="0" sz="1200" spc="-60">
                <a:latin typeface="Arial"/>
                <a:cs typeface="Arial"/>
              </a:rPr>
              <a:t>‗Uthman </a:t>
            </a:r>
            <a:r>
              <a:rPr dirty="0" sz="1200" spc="-10">
                <a:latin typeface="Arial"/>
                <a:cs typeface="Arial"/>
              </a:rPr>
              <a:t>immediately. </a:t>
            </a:r>
            <a:r>
              <a:rPr dirty="0" sz="1200">
                <a:latin typeface="Arial"/>
                <a:cs typeface="Arial"/>
              </a:rPr>
              <a:t>So they met </a:t>
            </a:r>
            <a:r>
              <a:rPr dirty="0" sz="1200" spc="-5">
                <a:latin typeface="Arial"/>
                <a:cs typeface="Arial"/>
              </a:rPr>
              <a:t>Aisha to </a:t>
            </a:r>
            <a:r>
              <a:rPr dirty="0" sz="1200" spc="-10">
                <a:latin typeface="Arial"/>
                <a:cs typeface="Arial"/>
              </a:rPr>
              <a:t>wage </a:t>
            </a:r>
            <a:r>
              <a:rPr dirty="0" sz="1200">
                <a:latin typeface="Arial"/>
                <a:cs typeface="Arial"/>
              </a:rPr>
              <a:t>an </a:t>
            </a:r>
            <a:r>
              <a:rPr dirty="0" sz="1200" spc="-5">
                <a:latin typeface="Arial"/>
                <a:cs typeface="Arial"/>
              </a:rPr>
              <a:t>army. Ali didn‘t appreciate that move  and a </a:t>
            </a:r>
            <a:r>
              <a:rPr dirty="0" sz="1200">
                <a:latin typeface="Arial"/>
                <a:cs typeface="Arial"/>
              </a:rPr>
              <a:t>fight </a:t>
            </a:r>
            <a:r>
              <a:rPr dirty="0" sz="1200" spc="-10">
                <a:latin typeface="Arial"/>
                <a:cs typeface="Arial"/>
              </a:rPr>
              <a:t>was </a:t>
            </a:r>
            <a:r>
              <a:rPr dirty="0" sz="1200" spc="-5">
                <a:latin typeface="Arial"/>
                <a:cs typeface="Arial"/>
              </a:rPr>
              <a:t>planned between both armies. </a:t>
            </a:r>
            <a:r>
              <a:rPr dirty="0" sz="1200">
                <a:latin typeface="Arial"/>
                <a:cs typeface="Arial"/>
              </a:rPr>
              <a:t>It </a:t>
            </a:r>
            <a:r>
              <a:rPr dirty="0" sz="1200" spc="-10">
                <a:latin typeface="Arial"/>
                <a:cs typeface="Arial"/>
              </a:rPr>
              <a:t>was </a:t>
            </a:r>
            <a:r>
              <a:rPr dirty="0" sz="1200" spc="-5">
                <a:latin typeface="Arial"/>
                <a:cs typeface="Arial"/>
              </a:rPr>
              <a:t>known as the battle of camel because  during </a:t>
            </a:r>
            <a:r>
              <a:rPr dirty="0" sz="1200">
                <a:latin typeface="Arial"/>
                <a:cs typeface="Arial"/>
              </a:rPr>
              <a:t>the </a:t>
            </a:r>
            <a:r>
              <a:rPr dirty="0" sz="1200" spc="-5">
                <a:latin typeface="Arial"/>
                <a:cs typeface="Arial"/>
              </a:rPr>
              <a:t>battle Aisha‘s </a:t>
            </a:r>
            <a:r>
              <a:rPr dirty="0" sz="1200">
                <a:latin typeface="Arial"/>
                <a:cs typeface="Arial"/>
              </a:rPr>
              <a:t>camel‘s feet </a:t>
            </a:r>
            <a:r>
              <a:rPr dirty="0" sz="1200" spc="-5">
                <a:latin typeface="Arial"/>
                <a:cs typeface="Arial"/>
              </a:rPr>
              <a:t>were </a:t>
            </a:r>
            <a:r>
              <a:rPr dirty="0" sz="1200">
                <a:latin typeface="Arial"/>
                <a:cs typeface="Arial"/>
              </a:rPr>
              <a:t>cut off. The </a:t>
            </a:r>
            <a:r>
              <a:rPr dirty="0" sz="1200" spc="-10">
                <a:latin typeface="Arial"/>
                <a:cs typeface="Arial"/>
              </a:rPr>
              <a:t>war </a:t>
            </a:r>
            <a:r>
              <a:rPr dirty="0" sz="1200" spc="-5">
                <a:latin typeface="Arial"/>
                <a:cs typeface="Arial"/>
              </a:rPr>
              <a:t>was stopped and she was  escorted</a:t>
            </a:r>
            <a:r>
              <a:rPr dirty="0" sz="1200" spc="150">
                <a:latin typeface="Arial"/>
                <a:cs typeface="Arial"/>
              </a:rPr>
              <a:t> </a:t>
            </a:r>
            <a:r>
              <a:rPr dirty="0" sz="1200" spc="-5">
                <a:latin typeface="Arial"/>
                <a:cs typeface="Arial"/>
              </a:rPr>
              <a:t>to</a:t>
            </a:r>
            <a:r>
              <a:rPr dirty="0" sz="1200" spc="140">
                <a:latin typeface="Arial"/>
                <a:cs typeface="Arial"/>
              </a:rPr>
              <a:t> </a:t>
            </a:r>
            <a:r>
              <a:rPr dirty="0" sz="1200" spc="-5">
                <a:latin typeface="Arial"/>
                <a:cs typeface="Arial"/>
              </a:rPr>
              <a:t>Madina.</a:t>
            </a:r>
            <a:r>
              <a:rPr dirty="0" sz="1200" spc="155">
                <a:latin typeface="Arial"/>
                <a:cs typeface="Arial"/>
              </a:rPr>
              <a:t> </a:t>
            </a:r>
            <a:r>
              <a:rPr dirty="0" sz="1200" spc="-5">
                <a:latin typeface="Arial"/>
                <a:cs typeface="Arial"/>
              </a:rPr>
              <a:t>Sayyiduna</a:t>
            </a:r>
            <a:r>
              <a:rPr dirty="0" sz="1200" spc="145">
                <a:latin typeface="Arial"/>
                <a:cs typeface="Arial"/>
              </a:rPr>
              <a:t> </a:t>
            </a:r>
            <a:r>
              <a:rPr dirty="0" sz="1200" spc="-5">
                <a:latin typeface="Arial"/>
                <a:cs typeface="Arial"/>
              </a:rPr>
              <a:t>Ali</a:t>
            </a:r>
            <a:r>
              <a:rPr dirty="0" sz="1200" spc="135">
                <a:latin typeface="Arial"/>
                <a:cs typeface="Arial"/>
              </a:rPr>
              <a:t> </a:t>
            </a:r>
            <a:r>
              <a:rPr dirty="0" sz="1200" spc="-5">
                <a:latin typeface="Arial"/>
                <a:cs typeface="Arial"/>
              </a:rPr>
              <a:t>(radi</a:t>
            </a:r>
            <a:r>
              <a:rPr dirty="0" sz="1200" spc="140">
                <a:latin typeface="Arial"/>
                <a:cs typeface="Arial"/>
              </a:rPr>
              <a:t> </a:t>
            </a:r>
            <a:r>
              <a:rPr dirty="0" sz="1200" spc="-5">
                <a:latin typeface="Arial"/>
                <a:cs typeface="Arial"/>
              </a:rPr>
              <a:t>Allahu</a:t>
            </a:r>
            <a:r>
              <a:rPr dirty="0" sz="1200" spc="145">
                <a:latin typeface="Arial"/>
                <a:cs typeface="Arial"/>
              </a:rPr>
              <a:t> </a:t>
            </a:r>
            <a:r>
              <a:rPr dirty="0" sz="1200" spc="-5">
                <a:latin typeface="Arial"/>
                <a:cs typeface="Arial"/>
              </a:rPr>
              <a:t>anhu)</a:t>
            </a:r>
            <a:r>
              <a:rPr dirty="0" sz="1200" spc="135">
                <a:latin typeface="Arial"/>
                <a:cs typeface="Arial"/>
              </a:rPr>
              <a:t> </a:t>
            </a:r>
            <a:r>
              <a:rPr dirty="0" sz="1200" spc="-5">
                <a:latin typeface="Arial"/>
                <a:cs typeface="Arial"/>
              </a:rPr>
              <a:t>had</a:t>
            </a:r>
            <a:r>
              <a:rPr dirty="0" sz="1200" spc="145">
                <a:latin typeface="Arial"/>
                <a:cs typeface="Arial"/>
              </a:rPr>
              <a:t> </a:t>
            </a:r>
            <a:r>
              <a:rPr dirty="0" sz="1200">
                <a:latin typeface="Arial"/>
                <a:cs typeface="Arial"/>
              </a:rPr>
              <a:t>to</a:t>
            </a:r>
            <a:r>
              <a:rPr dirty="0" sz="1200" spc="145">
                <a:latin typeface="Arial"/>
                <a:cs typeface="Arial"/>
              </a:rPr>
              <a:t> </a:t>
            </a:r>
            <a:r>
              <a:rPr dirty="0" sz="1200" spc="-5">
                <a:latin typeface="Arial"/>
                <a:cs typeface="Arial"/>
              </a:rPr>
              <a:t>crush</a:t>
            </a:r>
            <a:r>
              <a:rPr dirty="0" sz="1200" spc="135">
                <a:latin typeface="Arial"/>
                <a:cs typeface="Arial"/>
              </a:rPr>
              <a:t> </a:t>
            </a:r>
            <a:r>
              <a:rPr dirty="0" sz="1200" spc="-5">
                <a:latin typeface="Arial"/>
                <a:cs typeface="Arial"/>
              </a:rPr>
              <a:t>all</a:t>
            </a:r>
            <a:r>
              <a:rPr dirty="0" sz="1200" spc="135">
                <a:latin typeface="Arial"/>
                <a:cs typeface="Arial"/>
              </a:rPr>
              <a:t> </a:t>
            </a:r>
            <a:r>
              <a:rPr dirty="0" sz="1200" spc="-5">
                <a:latin typeface="Arial"/>
                <a:cs typeface="Arial"/>
              </a:rPr>
              <a:t>opposition.</a:t>
            </a:r>
            <a:r>
              <a:rPr dirty="0" sz="1200" spc="145">
                <a:latin typeface="Arial"/>
                <a:cs typeface="Arial"/>
              </a:rPr>
              <a:t> </a:t>
            </a:r>
            <a:r>
              <a:rPr dirty="0" sz="1200">
                <a:latin typeface="Arial"/>
                <a:cs typeface="Arial"/>
              </a:rPr>
              <a:t>A</a:t>
            </a:r>
            <a:r>
              <a:rPr dirty="0" sz="1200" spc="145">
                <a:latin typeface="Arial"/>
                <a:cs typeface="Arial"/>
              </a:rPr>
              <a:t> </a:t>
            </a:r>
            <a:r>
              <a:rPr dirty="0" sz="1200" spc="-5">
                <a:latin typeface="Arial"/>
                <a:cs typeface="Arial"/>
              </a:rPr>
              <a:t>bloody</a:t>
            </a:r>
            <a:endParaRPr sz="1200">
              <a:latin typeface="Arial"/>
              <a:cs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2535" cy="898779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5080">
              <a:lnSpc>
                <a:spcPct val="95800"/>
              </a:lnSpc>
            </a:pPr>
            <a:r>
              <a:rPr dirty="0" sz="1200" spc="-5">
                <a:latin typeface="Arial"/>
                <a:cs typeface="Arial"/>
              </a:rPr>
              <a:t>battle </a:t>
            </a:r>
            <a:r>
              <a:rPr dirty="0" sz="1200">
                <a:latin typeface="Arial"/>
                <a:cs typeface="Arial"/>
              </a:rPr>
              <a:t>took </a:t>
            </a:r>
            <a:r>
              <a:rPr dirty="0" sz="1200" spc="-5">
                <a:latin typeface="Arial"/>
                <a:cs typeface="Arial"/>
              </a:rPr>
              <a:t>place near Basrah on the 9th of December 656 </a:t>
            </a:r>
            <a:r>
              <a:rPr dirty="0" sz="1200">
                <a:latin typeface="Arial"/>
                <a:cs typeface="Arial"/>
              </a:rPr>
              <a:t>A.C. This </a:t>
            </a:r>
            <a:r>
              <a:rPr dirty="0" sz="1200" spc="-5">
                <a:latin typeface="Arial"/>
                <a:cs typeface="Arial"/>
              </a:rPr>
              <a:t>battle </a:t>
            </a:r>
            <a:r>
              <a:rPr dirty="0" sz="1200" spc="-10">
                <a:latin typeface="Arial"/>
                <a:cs typeface="Arial"/>
              </a:rPr>
              <a:t>was </a:t>
            </a:r>
            <a:r>
              <a:rPr dirty="0" sz="1200" spc="-5">
                <a:latin typeface="Arial"/>
                <a:cs typeface="Arial"/>
              </a:rPr>
              <a:t>sparked off  by a third </a:t>
            </a:r>
            <a:r>
              <a:rPr dirty="0" sz="1200">
                <a:latin typeface="Arial"/>
                <a:cs typeface="Arial"/>
              </a:rPr>
              <a:t>force </a:t>
            </a:r>
            <a:r>
              <a:rPr dirty="0" sz="1200" spc="-10">
                <a:latin typeface="Arial"/>
                <a:cs typeface="Arial"/>
              </a:rPr>
              <a:t>who </a:t>
            </a:r>
            <a:r>
              <a:rPr dirty="0" sz="1200" spc="-5">
                <a:latin typeface="Arial"/>
                <a:cs typeface="Arial"/>
              </a:rPr>
              <a:t>were </a:t>
            </a:r>
            <a:r>
              <a:rPr dirty="0" sz="1200">
                <a:latin typeface="Arial"/>
                <a:cs typeface="Arial"/>
              </a:rPr>
              <a:t>the </a:t>
            </a:r>
            <a:r>
              <a:rPr dirty="0" sz="1200" spc="-5">
                <a:latin typeface="Arial"/>
                <a:cs typeface="Arial"/>
              </a:rPr>
              <a:t>real troublemakers. </a:t>
            </a:r>
            <a:r>
              <a:rPr dirty="0" sz="1200">
                <a:latin typeface="Arial"/>
                <a:cs typeface="Arial"/>
              </a:rPr>
              <a:t>Just </a:t>
            </a:r>
            <a:r>
              <a:rPr dirty="0" sz="1200" spc="-5">
                <a:latin typeface="Arial"/>
                <a:cs typeface="Arial"/>
              </a:rPr>
              <a:t>before the battle, both parties had  already reached an agreement </a:t>
            </a:r>
            <a:r>
              <a:rPr dirty="0" sz="1200">
                <a:latin typeface="Arial"/>
                <a:cs typeface="Arial"/>
              </a:rPr>
              <a:t>to </a:t>
            </a:r>
            <a:r>
              <a:rPr dirty="0" sz="1200" spc="-5">
                <a:latin typeface="Arial"/>
                <a:cs typeface="Arial"/>
              </a:rPr>
              <a:t>settle </a:t>
            </a:r>
            <a:r>
              <a:rPr dirty="0" sz="1200">
                <a:latin typeface="Arial"/>
                <a:cs typeface="Arial"/>
              </a:rPr>
              <a:t>the </a:t>
            </a:r>
            <a:r>
              <a:rPr dirty="0" sz="1200" spc="-5">
                <a:latin typeface="Arial"/>
                <a:cs typeface="Arial"/>
              </a:rPr>
              <a:t>dispute. But this third </a:t>
            </a:r>
            <a:r>
              <a:rPr dirty="0" sz="1200">
                <a:latin typeface="Arial"/>
                <a:cs typeface="Arial"/>
              </a:rPr>
              <a:t>force, </a:t>
            </a:r>
            <a:r>
              <a:rPr dirty="0" sz="1200" spc="-5">
                <a:latin typeface="Arial"/>
                <a:cs typeface="Arial"/>
              </a:rPr>
              <a:t>the real  assassinators of Sayyiduna 'Uthman (radi Allahu anhu), launched an overnight attack on  both camps simultaneously. Each side were under the impression that the other had  attacked. The battle began. Several thousand </a:t>
            </a:r>
            <a:r>
              <a:rPr dirty="0" sz="1200">
                <a:latin typeface="Arial"/>
                <a:cs typeface="Arial"/>
              </a:rPr>
              <a:t>men </a:t>
            </a:r>
            <a:r>
              <a:rPr dirty="0" sz="1200" spc="-5">
                <a:latin typeface="Arial"/>
                <a:cs typeface="Arial"/>
              </a:rPr>
              <a:t>were </a:t>
            </a:r>
            <a:r>
              <a:rPr dirty="0" sz="1200">
                <a:latin typeface="Arial"/>
                <a:cs typeface="Arial"/>
              </a:rPr>
              <a:t>lost </a:t>
            </a:r>
            <a:r>
              <a:rPr dirty="0" sz="1200" spc="-5">
                <a:latin typeface="Arial"/>
                <a:cs typeface="Arial"/>
              </a:rPr>
              <a:t>including </a:t>
            </a:r>
            <a:r>
              <a:rPr dirty="0" sz="1200">
                <a:latin typeface="Arial"/>
                <a:cs typeface="Arial"/>
              </a:rPr>
              <a:t>the </a:t>
            </a:r>
            <a:r>
              <a:rPr dirty="0" sz="1200" spc="-10">
                <a:latin typeface="Arial"/>
                <a:cs typeface="Arial"/>
              </a:rPr>
              <a:t>two </a:t>
            </a:r>
            <a:r>
              <a:rPr dirty="0" sz="1200" spc="-5">
                <a:latin typeface="Arial"/>
                <a:cs typeface="Arial"/>
              </a:rPr>
              <a:t>Sahaba.  Sayyadah Aishah (radi Allahu anha) </a:t>
            </a:r>
            <a:r>
              <a:rPr dirty="0" sz="1200" spc="-10">
                <a:latin typeface="Arial"/>
                <a:cs typeface="Arial"/>
              </a:rPr>
              <a:t>was </a:t>
            </a:r>
            <a:r>
              <a:rPr dirty="0" sz="1200">
                <a:latin typeface="Arial"/>
                <a:cs typeface="Arial"/>
              </a:rPr>
              <a:t>safe. </a:t>
            </a:r>
            <a:r>
              <a:rPr dirty="0" sz="1200" spc="-5">
                <a:latin typeface="Arial"/>
                <a:cs typeface="Arial"/>
              </a:rPr>
              <a:t>She </a:t>
            </a:r>
            <a:r>
              <a:rPr dirty="0" sz="1200" spc="-10">
                <a:latin typeface="Arial"/>
                <a:cs typeface="Arial"/>
              </a:rPr>
              <a:t>was </a:t>
            </a:r>
            <a:r>
              <a:rPr dirty="0" sz="1200" spc="-5">
                <a:latin typeface="Arial"/>
                <a:cs typeface="Arial"/>
              </a:rPr>
              <a:t>riding a </a:t>
            </a:r>
            <a:r>
              <a:rPr dirty="0" sz="1200">
                <a:latin typeface="Arial"/>
                <a:cs typeface="Arial"/>
              </a:rPr>
              <a:t>camel </a:t>
            </a:r>
            <a:r>
              <a:rPr dirty="0" sz="1200" spc="-5">
                <a:latin typeface="Arial"/>
                <a:cs typeface="Arial"/>
              </a:rPr>
              <a:t>during the battle-  hence the name "Battle of the Camel." </a:t>
            </a:r>
            <a:r>
              <a:rPr dirty="0" sz="1200" spc="-10">
                <a:latin typeface="Arial"/>
                <a:cs typeface="Arial"/>
              </a:rPr>
              <a:t>Sayyiduna </a:t>
            </a:r>
            <a:r>
              <a:rPr dirty="0" sz="1200" spc="-5">
                <a:latin typeface="Arial"/>
                <a:cs typeface="Arial"/>
              </a:rPr>
              <a:t>Ali (radi Allahu anhu) treated her in a most  noble and dignified manner and respectfully </a:t>
            </a:r>
            <a:r>
              <a:rPr dirty="0" sz="1200">
                <a:latin typeface="Arial"/>
                <a:cs typeface="Arial"/>
              </a:rPr>
              <a:t>sent </a:t>
            </a:r>
            <a:r>
              <a:rPr dirty="0" sz="1200" spc="-5">
                <a:latin typeface="Arial"/>
                <a:cs typeface="Arial"/>
              </a:rPr>
              <a:t>her back to Madinatul Munawwarah. She  praised him and deeply regretted opposing Sayyiduna Ali (radi </a:t>
            </a:r>
            <a:r>
              <a:rPr dirty="0" sz="1200">
                <a:latin typeface="Arial"/>
                <a:cs typeface="Arial"/>
              </a:rPr>
              <a:t>Allahu </a:t>
            </a:r>
            <a:r>
              <a:rPr dirty="0" sz="1200" spc="-5">
                <a:latin typeface="Arial"/>
                <a:cs typeface="Arial"/>
              </a:rPr>
              <a:t>anhu). Kufa </a:t>
            </a:r>
            <a:r>
              <a:rPr dirty="0" sz="1200" spc="-10">
                <a:latin typeface="Arial"/>
                <a:cs typeface="Arial"/>
              </a:rPr>
              <a:t>was </a:t>
            </a:r>
            <a:r>
              <a:rPr dirty="0" sz="1200" spc="-5">
                <a:latin typeface="Arial"/>
                <a:cs typeface="Arial"/>
              </a:rPr>
              <a:t>now  made the capital of the </a:t>
            </a:r>
            <a:r>
              <a:rPr dirty="0" sz="1200">
                <a:latin typeface="Arial"/>
                <a:cs typeface="Arial"/>
              </a:rPr>
              <a:t>Islamic</a:t>
            </a:r>
            <a:r>
              <a:rPr dirty="0" sz="1200" spc="5">
                <a:latin typeface="Arial"/>
                <a:cs typeface="Arial"/>
              </a:rPr>
              <a:t> </a:t>
            </a:r>
            <a:r>
              <a:rPr dirty="0" sz="1200" spc="-5">
                <a:latin typeface="Arial"/>
                <a:cs typeface="Arial"/>
              </a:rPr>
              <a:t>world.</a:t>
            </a:r>
            <a:endParaRPr sz="1200">
              <a:latin typeface="Arial"/>
              <a:cs typeface="Arial"/>
            </a:endParaRPr>
          </a:p>
          <a:p>
            <a:pPr>
              <a:lnSpc>
                <a:spcPct val="100000"/>
              </a:lnSpc>
            </a:pPr>
            <a:endParaRPr sz="1200">
              <a:latin typeface="Arial"/>
              <a:cs typeface="Arial"/>
            </a:endParaRPr>
          </a:p>
          <a:p>
            <a:pPr algn="just" marL="12700" marR="6350">
              <a:lnSpc>
                <a:spcPct val="95800"/>
              </a:lnSpc>
            </a:pPr>
            <a:r>
              <a:rPr dirty="0" sz="1200" spc="-5">
                <a:latin typeface="Arial"/>
                <a:cs typeface="Arial"/>
              </a:rPr>
              <a:t>The same problem emerged with Mu‘awiyyah in </a:t>
            </a:r>
            <a:r>
              <a:rPr dirty="0" sz="1200">
                <a:latin typeface="Arial"/>
                <a:cs typeface="Arial"/>
              </a:rPr>
              <a:t>the </a:t>
            </a:r>
            <a:r>
              <a:rPr dirty="0" sz="1200" spc="-5">
                <a:latin typeface="Arial"/>
                <a:cs typeface="Arial"/>
              </a:rPr>
              <a:t>Battle of Siffin. Mu‘awiyah didn‘t want to  </a:t>
            </a:r>
            <a:r>
              <a:rPr dirty="0" sz="1200">
                <a:latin typeface="Arial"/>
                <a:cs typeface="Arial"/>
              </a:rPr>
              <a:t>accept </a:t>
            </a:r>
            <a:r>
              <a:rPr dirty="0" sz="1200" spc="-105">
                <a:latin typeface="Arial"/>
                <a:cs typeface="Arial"/>
              </a:rPr>
              <a:t>‗Ali </a:t>
            </a:r>
            <a:r>
              <a:rPr dirty="0" sz="1200" spc="-5">
                <a:latin typeface="Arial"/>
                <a:cs typeface="Arial"/>
              </a:rPr>
              <a:t>until </a:t>
            </a:r>
            <a:r>
              <a:rPr dirty="0" sz="1200">
                <a:latin typeface="Arial"/>
                <a:cs typeface="Arial"/>
              </a:rPr>
              <a:t>the </a:t>
            </a:r>
            <a:r>
              <a:rPr dirty="0" sz="1200" spc="-5">
                <a:latin typeface="Arial"/>
                <a:cs typeface="Arial"/>
              </a:rPr>
              <a:t>latter brought the murderers of </a:t>
            </a:r>
            <a:r>
              <a:rPr dirty="0" sz="1200" spc="-60">
                <a:latin typeface="Arial"/>
                <a:cs typeface="Arial"/>
              </a:rPr>
              <a:t>‗Uthman </a:t>
            </a:r>
            <a:r>
              <a:rPr dirty="0" sz="1200" spc="-5">
                <a:latin typeface="Arial"/>
                <a:cs typeface="Arial"/>
              </a:rPr>
              <a:t>to court. The fight started through  mischief-mongers. </a:t>
            </a:r>
            <a:r>
              <a:rPr dirty="0" sz="1200" spc="-105">
                <a:latin typeface="Arial"/>
                <a:cs typeface="Arial"/>
              </a:rPr>
              <a:t>‗Ali </a:t>
            </a:r>
            <a:r>
              <a:rPr dirty="0" sz="1200" spc="-5">
                <a:latin typeface="Arial"/>
                <a:cs typeface="Arial"/>
              </a:rPr>
              <a:t>was </a:t>
            </a:r>
            <a:r>
              <a:rPr dirty="0" sz="1200">
                <a:latin typeface="Arial"/>
                <a:cs typeface="Arial"/>
              </a:rPr>
              <a:t>on the </a:t>
            </a:r>
            <a:r>
              <a:rPr dirty="0" sz="1200" spc="-5">
                <a:latin typeface="Arial"/>
                <a:cs typeface="Arial"/>
              </a:rPr>
              <a:t>point to </a:t>
            </a:r>
            <a:r>
              <a:rPr dirty="0" sz="1200" spc="-10">
                <a:latin typeface="Arial"/>
                <a:cs typeface="Arial"/>
              </a:rPr>
              <a:t>win </a:t>
            </a:r>
            <a:r>
              <a:rPr dirty="0" sz="1200" spc="-5">
                <a:latin typeface="Arial"/>
                <a:cs typeface="Arial"/>
              </a:rPr>
              <a:t>when Mu‘awiyah </a:t>
            </a:r>
            <a:r>
              <a:rPr dirty="0" sz="1200">
                <a:latin typeface="Arial"/>
                <a:cs typeface="Arial"/>
              </a:rPr>
              <a:t>took </a:t>
            </a:r>
            <a:r>
              <a:rPr dirty="0" sz="1200" spc="-5">
                <a:latin typeface="Arial"/>
                <a:cs typeface="Arial"/>
              </a:rPr>
              <a:t>pages of Qur‘an and  </a:t>
            </a:r>
            <a:r>
              <a:rPr dirty="0" sz="1200">
                <a:latin typeface="Arial"/>
                <a:cs typeface="Arial"/>
              </a:rPr>
              <a:t>stuck to </a:t>
            </a:r>
            <a:r>
              <a:rPr dirty="0" sz="1200" spc="-5">
                <a:latin typeface="Arial"/>
                <a:cs typeface="Arial"/>
              </a:rPr>
              <a:t>sword </a:t>
            </a:r>
            <a:r>
              <a:rPr dirty="0" sz="1200">
                <a:latin typeface="Arial"/>
                <a:cs typeface="Arial"/>
              </a:rPr>
              <a:t>– to </a:t>
            </a:r>
            <a:r>
              <a:rPr dirty="0" sz="1200" spc="-5">
                <a:latin typeface="Arial"/>
                <a:cs typeface="Arial"/>
              </a:rPr>
              <a:t>stop war. </a:t>
            </a:r>
            <a:r>
              <a:rPr dirty="0" sz="1200">
                <a:latin typeface="Arial"/>
                <a:cs typeface="Arial"/>
              </a:rPr>
              <a:t>By the </a:t>
            </a:r>
            <a:r>
              <a:rPr dirty="0" sz="1200" spc="-5">
                <a:latin typeface="Arial"/>
                <a:cs typeface="Arial"/>
              </a:rPr>
              <a:t>clever proposal of </a:t>
            </a:r>
            <a:r>
              <a:rPr dirty="0" sz="1200">
                <a:latin typeface="Arial"/>
                <a:cs typeface="Arial"/>
              </a:rPr>
              <a:t>Amr </a:t>
            </a:r>
            <a:r>
              <a:rPr dirty="0" sz="1200" spc="-10">
                <a:latin typeface="Arial"/>
                <a:cs typeface="Arial"/>
              </a:rPr>
              <a:t>bin Al </a:t>
            </a:r>
            <a:r>
              <a:rPr dirty="0" sz="1200">
                <a:latin typeface="Arial"/>
                <a:cs typeface="Arial"/>
              </a:rPr>
              <a:t>As, </a:t>
            </a:r>
            <a:r>
              <a:rPr dirty="0" sz="1200" spc="-5">
                <a:latin typeface="Arial"/>
                <a:cs typeface="Arial"/>
              </a:rPr>
              <a:t>the retreating army  raised pieces of the Holy </a:t>
            </a:r>
            <a:r>
              <a:rPr dirty="0" sz="1200">
                <a:latin typeface="Arial"/>
                <a:cs typeface="Arial"/>
              </a:rPr>
              <a:t>Quran </a:t>
            </a:r>
            <a:r>
              <a:rPr dirty="0" sz="1200" spc="-5">
                <a:latin typeface="Arial"/>
                <a:cs typeface="Arial"/>
              </a:rPr>
              <a:t>on </a:t>
            </a:r>
            <a:r>
              <a:rPr dirty="0" sz="1200">
                <a:latin typeface="Arial"/>
                <a:cs typeface="Arial"/>
              </a:rPr>
              <a:t>their </a:t>
            </a:r>
            <a:r>
              <a:rPr dirty="0" sz="1200" spc="-5">
                <a:latin typeface="Arial"/>
                <a:cs typeface="Arial"/>
              </a:rPr>
              <a:t>spears demanding judgement between the </a:t>
            </a:r>
            <a:r>
              <a:rPr dirty="0" sz="1200" spc="-10">
                <a:latin typeface="Arial"/>
                <a:cs typeface="Arial"/>
              </a:rPr>
              <a:t>two  </a:t>
            </a:r>
            <a:r>
              <a:rPr dirty="0" sz="1200">
                <a:latin typeface="Arial"/>
                <a:cs typeface="Arial"/>
              </a:rPr>
              <a:t>parties. </a:t>
            </a:r>
            <a:r>
              <a:rPr dirty="0" sz="1200" spc="-5">
                <a:latin typeface="Arial"/>
                <a:cs typeface="Arial"/>
              </a:rPr>
              <a:t>Many </a:t>
            </a:r>
            <a:r>
              <a:rPr dirty="0" sz="1200">
                <a:latin typeface="Arial"/>
                <a:cs typeface="Arial"/>
              </a:rPr>
              <a:t>pious </a:t>
            </a:r>
            <a:r>
              <a:rPr dirty="0" sz="1200" spc="-5">
                <a:latin typeface="Arial"/>
                <a:cs typeface="Arial"/>
              </a:rPr>
              <a:t>Muslims on </a:t>
            </a:r>
            <a:r>
              <a:rPr dirty="0" sz="1200">
                <a:latin typeface="Arial"/>
                <a:cs typeface="Arial"/>
              </a:rPr>
              <a:t>the </a:t>
            </a:r>
            <a:r>
              <a:rPr dirty="0" sz="1200" spc="-5">
                <a:latin typeface="Arial"/>
                <a:cs typeface="Arial"/>
              </a:rPr>
              <a:t>side of Ali </a:t>
            </a:r>
            <a:r>
              <a:rPr dirty="0" sz="1200">
                <a:latin typeface="Arial"/>
                <a:cs typeface="Arial"/>
              </a:rPr>
              <a:t>refused </a:t>
            </a:r>
            <a:r>
              <a:rPr dirty="0" sz="1200" spc="-5">
                <a:latin typeface="Arial"/>
                <a:cs typeface="Arial"/>
              </a:rPr>
              <a:t>to </a:t>
            </a:r>
            <a:r>
              <a:rPr dirty="0" sz="1200">
                <a:latin typeface="Arial"/>
                <a:cs typeface="Arial"/>
              </a:rPr>
              <a:t>fight </a:t>
            </a:r>
            <a:r>
              <a:rPr dirty="0" sz="1200" spc="-5">
                <a:latin typeface="Arial"/>
                <a:cs typeface="Arial"/>
              </a:rPr>
              <a:t>seeing </a:t>
            </a:r>
            <a:r>
              <a:rPr dirty="0" sz="1200">
                <a:latin typeface="Arial"/>
                <a:cs typeface="Arial"/>
              </a:rPr>
              <a:t>the </a:t>
            </a:r>
            <a:r>
              <a:rPr dirty="0" sz="1200" spc="-5">
                <a:latin typeface="Arial"/>
                <a:cs typeface="Arial"/>
              </a:rPr>
              <a:t>Holy Quran  displayed in the air. </a:t>
            </a:r>
            <a:r>
              <a:rPr dirty="0" sz="1200" spc="-110">
                <a:latin typeface="Arial"/>
                <a:cs typeface="Arial"/>
              </a:rPr>
              <a:t>‗Ali </a:t>
            </a:r>
            <a:r>
              <a:rPr dirty="0" sz="1200" spc="-5">
                <a:latin typeface="Arial"/>
                <a:cs typeface="Arial"/>
              </a:rPr>
              <a:t>thought it was </a:t>
            </a:r>
            <a:r>
              <a:rPr dirty="0" sz="1200">
                <a:latin typeface="Arial"/>
                <a:cs typeface="Arial"/>
              </a:rPr>
              <a:t>a trick and he </a:t>
            </a:r>
            <a:r>
              <a:rPr dirty="0" sz="1200" spc="-5">
                <a:latin typeface="Arial"/>
                <a:cs typeface="Arial"/>
              </a:rPr>
              <a:t>ordered </a:t>
            </a:r>
            <a:r>
              <a:rPr dirty="0" sz="1200">
                <a:latin typeface="Arial"/>
                <a:cs typeface="Arial"/>
              </a:rPr>
              <a:t>to </a:t>
            </a:r>
            <a:r>
              <a:rPr dirty="0" sz="1200" spc="-5">
                <a:latin typeface="Arial"/>
                <a:cs typeface="Arial"/>
              </a:rPr>
              <a:t>continue fight. Hypocrites in  </a:t>
            </a:r>
            <a:r>
              <a:rPr dirty="0" sz="1200">
                <a:latin typeface="Arial"/>
                <a:cs typeface="Arial"/>
              </a:rPr>
              <a:t>the army </a:t>
            </a:r>
            <a:r>
              <a:rPr dirty="0" sz="1200" spc="-5">
                <a:latin typeface="Arial"/>
                <a:cs typeface="Arial"/>
              </a:rPr>
              <a:t>of </a:t>
            </a:r>
            <a:r>
              <a:rPr dirty="0" sz="1200" spc="-105">
                <a:latin typeface="Arial"/>
                <a:cs typeface="Arial"/>
              </a:rPr>
              <a:t>‗Ali </a:t>
            </a:r>
            <a:r>
              <a:rPr dirty="0" sz="1200">
                <a:latin typeface="Arial"/>
                <a:cs typeface="Arial"/>
              </a:rPr>
              <a:t>turned </a:t>
            </a:r>
            <a:r>
              <a:rPr dirty="0" sz="1200" spc="-5">
                <a:latin typeface="Arial"/>
                <a:cs typeface="Arial"/>
              </a:rPr>
              <a:t>against him and </a:t>
            </a:r>
            <a:r>
              <a:rPr dirty="0" sz="1200">
                <a:latin typeface="Arial"/>
                <a:cs typeface="Arial"/>
              </a:rPr>
              <a:t>he had to stop </a:t>
            </a:r>
            <a:r>
              <a:rPr dirty="0" sz="1200" spc="-5">
                <a:latin typeface="Arial"/>
                <a:cs typeface="Arial"/>
              </a:rPr>
              <a:t>the war. </a:t>
            </a:r>
            <a:r>
              <a:rPr dirty="0" sz="1200">
                <a:latin typeface="Arial"/>
                <a:cs typeface="Arial"/>
              </a:rPr>
              <a:t>There </a:t>
            </a:r>
            <a:r>
              <a:rPr dirty="0" sz="1200" spc="-5">
                <a:latin typeface="Arial"/>
                <a:cs typeface="Arial"/>
              </a:rPr>
              <a:t>was </a:t>
            </a:r>
            <a:r>
              <a:rPr dirty="0" sz="1200">
                <a:latin typeface="Arial"/>
                <a:cs typeface="Arial"/>
              </a:rPr>
              <a:t>an </a:t>
            </a:r>
            <a:r>
              <a:rPr dirty="0" sz="1200" spc="-5">
                <a:latin typeface="Arial"/>
                <a:cs typeface="Arial"/>
              </a:rPr>
              <a:t>arbitration  between </a:t>
            </a:r>
            <a:r>
              <a:rPr dirty="0" sz="1200" spc="-105">
                <a:latin typeface="Arial"/>
                <a:cs typeface="Arial"/>
              </a:rPr>
              <a:t>‗Ali </a:t>
            </a:r>
            <a:r>
              <a:rPr dirty="0" sz="1200">
                <a:latin typeface="Arial"/>
                <a:cs typeface="Arial"/>
              </a:rPr>
              <a:t>and </a:t>
            </a:r>
            <a:r>
              <a:rPr dirty="0" sz="1200" spc="-5">
                <a:latin typeface="Arial"/>
                <a:cs typeface="Arial"/>
              </a:rPr>
              <a:t>Mu‘awiyah in which </a:t>
            </a:r>
            <a:r>
              <a:rPr dirty="0" sz="1200">
                <a:latin typeface="Arial"/>
                <a:cs typeface="Arial"/>
              </a:rPr>
              <a:t>Amr </a:t>
            </a:r>
            <a:r>
              <a:rPr dirty="0" sz="1200" spc="-5">
                <a:latin typeface="Arial"/>
                <a:cs typeface="Arial"/>
              </a:rPr>
              <a:t>bin </a:t>
            </a:r>
            <a:r>
              <a:rPr dirty="0" sz="1200">
                <a:latin typeface="Arial"/>
                <a:cs typeface="Arial"/>
              </a:rPr>
              <a:t>Aas </a:t>
            </a:r>
            <a:r>
              <a:rPr dirty="0" sz="1200" spc="-5">
                <a:latin typeface="Arial"/>
                <a:cs typeface="Arial"/>
              </a:rPr>
              <a:t>representing </a:t>
            </a:r>
            <a:r>
              <a:rPr dirty="0" sz="1200" spc="-10">
                <a:latin typeface="Arial"/>
                <a:cs typeface="Arial"/>
              </a:rPr>
              <a:t>Mu‘awiyah </a:t>
            </a:r>
            <a:r>
              <a:rPr dirty="0" sz="1200" spc="-5">
                <a:latin typeface="Arial"/>
                <a:cs typeface="Arial"/>
              </a:rPr>
              <a:t>and Abu Musah  Ash‘ari </a:t>
            </a:r>
            <a:r>
              <a:rPr dirty="0" sz="1200">
                <a:latin typeface="Arial"/>
                <a:cs typeface="Arial"/>
              </a:rPr>
              <a:t>for </a:t>
            </a:r>
            <a:r>
              <a:rPr dirty="0" sz="1200" spc="-85">
                <a:latin typeface="Arial"/>
                <a:cs typeface="Arial"/>
              </a:rPr>
              <a:t>‗Ali. </a:t>
            </a:r>
            <a:r>
              <a:rPr dirty="0" sz="1200" spc="-5">
                <a:latin typeface="Arial"/>
                <a:cs typeface="Arial"/>
              </a:rPr>
              <a:t>Abu Musah </a:t>
            </a:r>
            <a:r>
              <a:rPr dirty="0" sz="1200">
                <a:latin typeface="Arial"/>
                <a:cs typeface="Arial"/>
              </a:rPr>
              <a:t>Al </a:t>
            </a:r>
            <a:r>
              <a:rPr dirty="0" sz="1200" spc="-5">
                <a:latin typeface="Arial"/>
                <a:cs typeface="Arial"/>
              </a:rPr>
              <a:t>Ash‘ari said both </a:t>
            </a:r>
            <a:r>
              <a:rPr dirty="0" sz="1200">
                <a:latin typeface="Arial"/>
                <a:cs typeface="Arial"/>
              </a:rPr>
              <a:t>must </a:t>
            </a:r>
            <a:r>
              <a:rPr dirty="0" sz="1200" spc="-5">
                <a:latin typeface="Arial"/>
                <a:cs typeface="Arial"/>
              </a:rPr>
              <a:t>be abdicated but when </a:t>
            </a:r>
            <a:r>
              <a:rPr dirty="0" sz="1200">
                <a:latin typeface="Arial"/>
                <a:cs typeface="Arial"/>
              </a:rPr>
              <a:t>it </a:t>
            </a:r>
            <a:r>
              <a:rPr dirty="0" sz="1200" spc="-10">
                <a:latin typeface="Arial"/>
                <a:cs typeface="Arial"/>
              </a:rPr>
              <a:t>was </a:t>
            </a:r>
            <a:r>
              <a:rPr dirty="0" sz="1200" spc="-5">
                <a:latin typeface="Arial"/>
                <a:cs typeface="Arial"/>
              </a:rPr>
              <a:t>the turn  </a:t>
            </a:r>
            <a:r>
              <a:rPr dirty="0" sz="1200">
                <a:latin typeface="Arial"/>
                <a:cs typeface="Arial"/>
              </a:rPr>
              <a:t>for Amr </a:t>
            </a:r>
            <a:r>
              <a:rPr dirty="0" sz="1200" spc="-5">
                <a:latin typeface="Arial"/>
                <a:cs typeface="Arial"/>
              </a:rPr>
              <a:t>bin </a:t>
            </a:r>
            <a:r>
              <a:rPr dirty="0" sz="1200">
                <a:latin typeface="Arial"/>
                <a:cs typeface="Arial"/>
              </a:rPr>
              <a:t>Aas, </a:t>
            </a:r>
            <a:r>
              <a:rPr dirty="0" sz="1200" spc="-5">
                <a:latin typeface="Arial"/>
                <a:cs typeface="Arial"/>
              </a:rPr>
              <a:t>the latter surprisingly announced in favour of Mu‘awiyah. His words were:  "He has declared the removal of his leader, while </a:t>
            </a:r>
            <a:r>
              <a:rPr dirty="0" sz="1200">
                <a:latin typeface="Arial"/>
                <a:cs typeface="Arial"/>
              </a:rPr>
              <a:t>I </a:t>
            </a:r>
            <a:r>
              <a:rPr dirty="0" sz="1200" spc="-5">
                <a:latin typeface="Arial"/>
                <a:cs typeface="Arial"/>
              </a:rPr>
              <a:t>would conform Muaawiyah as the Caliph."  </a:t>
            </a:r>
            <a:r>
              <a:rPr dirty="0" sz="1200">
                <a:latin typeface="Arial"/>
                <a:cs typeface="Arial"/>
              </a:rPr>
              <a:t>Chaos </a:t>
            </a:r>
            <a:r>
              <a:rPr dirty="0" sz="1200" spc="-5">
                <a:latin typeface="Arial"/>
                <a:cs typeface="Arial"/>
              </a:rPr>
              <a:t>followed. The Islamic dominion </a:t>
            </a:r>
            <a:r>
              <a:rPr dirty="0" sz="1200" spc="-10">
                <a:latin typeface="Arial"/>
                <a:cs typeface="Arial"/>
              </a:rPr>
              <a:t>was </a:t>
            </a:r>
            <a:r>
              <a:rPr dirty="0" sz="1200">
                <a:latin typeface="Arial"/>
                <a:cs typeface="Arial"/>
              </a:rPr>
              <a:t>thus </a:t>
            </a:r>
            <a:r>
              <a:rPr dirty="0" sz="1200" spc="-5">
                <a:latin typeface="Arial"/>
                <a:cs typeface="Arial"/>
              </a:rPr>
              <a:t>divided into 2 parts with 2 caliphs. </a:t>
            </a:r>
            <a:r>
              <a:rPr dirty="0" sz="1200" spc="-10">
                <a:latin typeface="Arial"/>
                <a:cs typeface="Arial"/>
              </a:rPr>
              <a:t>Syria was  </a:t>
            </a:r>
            <a:r>
              <a:rPr dirty="0" sz="1200" spc="-5">
                <a:latin typeface="Arial"/>
                <a:cs typeface="Arial"/>
              </a:rPr>
              <a:t>under </a:t>
            </a:r>
            <a:r>
              <a:rPr dirty="0" sz="1200">
                <a:latin typeface="Arial"/>
                <a:cs typeface="Arial"/>
              </a:rPr>
              <a:t>the </a:t>
            </a:r>
            <a:r>
              <a:rPr dirty="0" sz="1200" spc="-5">
                <a:latin typeface="Arial"/>
                <a:cs typeface="Arial"/>
              </a:rPr>
              <a:t>control of Mu‘awiyyah </a:t>
            </a:r>
            <a:r>
              <a:rPr dirty="0" sz="1200">
                <a:latin typeface="Arial"/>
                <a:cs typeface="Arial"/>
              </a:rPr>
              <a:t>and the rest </a:t>
            </a:r>
            <a:r>
              <a:rPr dirty="0" sz="1200" spc="-5">
                <a:latin typeface="Arial"/>
                <a:cs typeface="Arial"/>
              </a:rPr>
              <a:t>under </a:t>
            </a:r>
            <a:r>
              <a:rPr dirty="0" sz="1200" spc="-85">
                <a:latin typeface="Arial"/>
                <a:cs typeface="Arial"/>
              </a:rPr>
              <a:t>‗Ali.</a:t>
            </a:r>
            <a:endParaRPr sz="1200">
              <a:latin typeface="Arial"/>
              <a:cs typeface="Arial"/>
            </a:endParaRPr>
          </a:p>
          <a:p>
            <a:pPr>
              <a:lnSpc>
                <a:spcPct val="100000"/>
              </a:lnSpc>
              <a:spcBef>
                <a:spcPts val="40"/>
              </a:spcBef>
            </a:pPr>
            <a:endParaRPr sz="1200">
              <a:latin typeface="Arial"/>
              <a:cs typeface="Arial"/>
            </a:endParaRPr>
          </a:p>
          <a:p>
            <a:pPr algn="just" marL="12700" marR="12700">
              <a:lnSpc>
                <a:spcPts val="1380"/>
              </a:lnSpc>
            </a:pPr>
            <a:r>
              <a:rPr dirty="0" sz="1200" spc="-5">
                <a:latin typeface="Arial"/>
                <a:cs typeface="Arial"/>
              </a:rPr>
              <a:t>There </a:t>
            </a:r>
            <a:r>
              <a:rPr dirty="0" sz="1200" spc="-10">
                <a:latin typeface="Arial"/>
                <a:cs typeface="Arial"/>
              </a:rPr>
              <a:t>was </a:t>
            </a:r>
            <a:r>
              <a:rPr dirty="0" sz="1200">
                <a:latin typeface="Arial"/>
                <a:cs typeface="Arial"/>
              </a:rPr>
              <a:t>also the </a:t>
            </a:r>
            <a:r>
              <a:rPr dirty="0" sz="1200" spc="-5">
                <a:latin typeface="Arial"/>
                <a:cs typeface="Arial"/>
              </a:rPr>
              <a:t>battle of Nahrawan against the Kharijites </a:t>
            </a:r>
            <a:r>
              <a:rPr dirty="0" sz="1200">
                <a:latin typeface="Arial"/>
                <a:cs typeface="Arial"/>
              </a:rPr>
              <a:t>where </a:t>
            </a:r>
            <a:r>
              <a:rPr dirty="0" sz="1200" spc="-5">
                <a:latin typeface="Arial"/>
                <a:cs typeface="Arial"/>
              </a:rPr>
              <a:t>a </a:t>
            </a:r>
            <a:r>
              <a:rPr dirty="0" sz="1200">
                <a:latin typeface="Arial"/>
                <a:cs typeface="Arial"/>
              </a:rPr>
              <a:t>few </a:t>
            </a:r>
            <a:r>
              <a:rPr dirty="0" sz="1200" spc="-5">
                <a:latin typeface="Arial"/>
                <a:cs typeface="Arial"/>
              </a:rPr>
              <a:t>dozens </a:t>
            </a:r>
            <a:r>
              <a:rPr dirty="0" sz="1200">
                <a:latin typeface="Arial"/>
                <a:cs typeface="Arial"/>
              </a:rPr>
              <a:t>of </a:t>
            </a:r>
            <a:r>
              <a:rPr dirty="0" sz="1200" spc="-5">
                <a:latin typeface="Arial"/>
                <a:cs typeface="Arial"/>
              </a:rPr>
              <a:t>the  hypocrites only escaped. </a:t>
            </a:r>
            <a:r>
              <a:rPr dirty="0" sz="1200">
                <a:latin typeface="Arial"/>
                <a:cs typeface="Arial"/>
              </a:rPr>
              <a:t>The </a:t>
            </a:r>
            <a:r>
              <a:rPr dirty="0" sz="1200" spc="-5">
                <a:latin typeface="Arial"/>
                <a:cs typeface="Arial"/>
              </a:rPr>
              <a:t>Kharijites decided </a:t>
            </a:r>
            <a:r>
              <a:rPr dirty="0" sz="1200">
                <a:latin typeface="Arial"/>
                <a:cs typeface="Arial"/>
              </a:rPr>
              <a:t>to </a:t>
            </a:r>
            <a:r>
              <a:rPr dirty="0" sz="1200" spc="-5">
                <a:latin typeface="Arial"/>
                <a:cs typeface="Arial"/>
              </a:rPr>
              <a:t>avenge and kill </a:t>
            </a:r>
            <a:r>
              <a:rPr dirty="0" sz="1200" spc="-85">
                <a:latin typeface="Arial"/>
                <a:cs typeface="Arial"/>
              </a:rPr>
              <a:t>‗Ali, </a:t>
            </a:r>
            <a:r>
              <a:rPr dirty="0" sz="1200">
                <a:latin typeface="Arial"/>
                <a:cs typeface="Arial"/>
              </a:rPr>
              <a:t>Amr </a:t>
            </a:r>
            <a:r>
              <a:rPr dirty="0" sz="1200" spc="-5">
                <a:latin typeface="Arial"/>
                <a:cs typeface="Arial"/>
              </a:rPr>
              <a:t>and Mu‘awiyah.  Two escaped except </a:t>
            </a:r>
            <a:r>
              <a:rPr dirty="0" sz="1200" spc="-85">
                <a:latin typeface="Arial"/>
                <a:cs typeface="Arial"/>
              </a:rPr>
              <a:t>‗Ali. </a:t>
            </a:r>
            <a:r>
              <a:rPr dirty="0" sz="1200">
                <a:latin typeface="Arial"/>
                <a:cs typeface="Arial"/>
              </a:rPr>
              <a:t>It </a:t>
            </a:r>
            <a:r>
              <a:rPr dirty="0" sz="1200" spc="-5">
                <a:latin typeface="Arial"/>
                <a:cs typeface="Arial"/>
              </a:rPr>
              <a:t>was </a:t>
            </a:r>
            <a:r>
              <a:rPr dirty="0" sz="1200">
                <a:latin typeface="Arial"/>
                <a:cs typeface="Arial"/>
              </a:rPr>
              <a:t>at the </a:t>
            </a:r>
            <a:r>
              <a:rPr dirty="0" sz="1200" spc="-5">
                <a:latin typeface="Arial"/>
                <a:cs typeface="Arial"/>
              </a:rPr>
              <a:t>time of Fajr prayer </a:t>
            </a:r>
            <a:r>
              <a:rPr dirty="0" sz="1200">
                <a:latin typeface="Arial"/>
                <a:cs typeface="Arial"/>
              </a:rPr>
              <a:t>that </a:t>
            </a:r>
            <a:r>
              <a:rPr dirty="0" sz="1200" spc="-5">
                <a:latin typeface="Arial"/>
                <a:cs typeface="Arial"/>
              </a:rPr>
              <a:t>Abdur Rahman bin </a:t>
            </a:r>
            <a:r>
              <a:rPr dirty="0" sz="1200" spc="-10">
                <a:latin typeface="Arial"/>
                <a:cs typeface="Arial"/>
              </a:rPr>
              <a:t>Muljim  </a:t>
            </a:r>
            <a:r>
              <a:rPr dirty="0" sz="1200" spc="-5">
                <a:latin typeface="Arial"/>
                <a:cs typeface="Arial"/>
              </a:rPr>
              <a:t>stabbed </a:t>
            </a:r>
            <a:r>
              <a:rPr dirty="0" sz="1200" spc="-10">
                <a:latin typeface="Arial"/>
                <a:cs typeface="Arial"/>
              </a:rPr>
              <a:t>him </a:t>
            </a:r>
            <a:r>
              <a:rPr dirty="0" sz="1200" spc="-5">
                <a:latin typeface="Arial"/>
                <a:cs typeface="Arial"/>
              </a:rPr>
              <a:t>with a poisoned dagger and he died after 4 days. </a:t>
            </a:r>
            <a:r>
              <a:rPr dirty="0" sz="1200">
                <a:latin typeface="Arial"/>
                <a:cs typeface="Arial"/>
              </a:rPr>
              <a:t>Ibn </a:t>
            </a:r>
            <a:r>
              <a:rPr dirty="0" sz="1200" spc="-5">
                <a:latin typeface="Arial"/>
                <a:cs typeface="Arial"/>
              </a:rPr>
              <a:t>Muljim </a:t>
            </a:r>
            <a:r>
              <a:rPr dirty="0" sz="1200" spc="-10">
                <a:latin typeface="Arial"/>
                <a:cs typeface="Arial"/>
              </a:rPr>
              <a:t>was </a:t>
            </a:r>
            <a:r>
              <a:rPr dirty="0" sz="1200">
                <a:latin typeface="Arial"/>
                <a:cs typeface="Arial"/>
              </a:rPr>
              <a:t>killed the </a:t>
            </a:r>
            <a:r>
              <a:rPr dirty="0" sz="1200" spc="-10">
                <a:latin typeface="Arial"/>
                <a:cs typeface="Arial"/>
              </a:rPr>
              <a:t>next  </a:t>
            </a:r>
            <a:r>
              <a:rPr dirty="0" sz="1200" spc="-5">
                <a:latin typeface="Arial"/>
                <a:cs typeface="Arial"/>
              </a:rPr>
              <a:t>day </a:t>
            </a:r>
            <a:r>
              <a:rPr dirty="0" sz="1200">
                <a:latin typeface="Arial"/>
                <a:cs typeface="Arial"/>
              </a:rPr>
              <a:t>by </a:t>
            </a:r>
            <a:r>
              <a:rPr dirty="0" sz="1200" spc="-5">
                <a:latin typeface="Arial"/>
                <a:cs typeface="Arial"/>
              </a:rPr>
              <a:t>Hazrat </a:t>
            </a:r>
            <a:r>
              <a:rPr dirty="0" sz="1200">
                <a:latin typeface="Arial"/>
                <a:cs typeface="Arial"/>
              </a:rPr>
              <a:t>Imam </a:t>
            </a:r>
            <a:r>
              <a:rPr dirty="0" sz="1200" spc="-5">
                <a:latin typeface="Arial"/>
                <a:cs typeface="Arial"/>
              </a:rPr>
              <a:t>Hassan</a:t>
            </a:r>
            <a:r>
              <a:rPr dirty="0" sz="1200" spc="-15">
                <a:latin typeface="Arial"/>
                <a:cs typeface="Arial"/>
              </a:rPr>
              <a:t> </a:t>
            </a:r>
            <a:r>
              <a:rPr dirty="0" sz="1200">
                <a:latin typeface="Arial"/>
                <a:cs typeface="Arial"/>
              </a:rPr>
              <a:t>(r.a).</a:t>
            </a:r>
            <a:endParaRPr sz="1200">
              <a:latin typeface="Arial"/>
              <a:cs typeface="Arial"/>
            </a:endParaRPr>
          </a:p>
          <a:p>
            <a:pPr>
              <a:lnSpc>
                <a:spcPct val="100000"/>
              </a:lnSpc>
              <a:spcBef>
                <a:spcPts val="20"/>
              </a:spcBef>
            </a:pPr>
            <a:endParaRPr sz="1100">
              <a:latin typeface="Arial"/>
              <a:cs typeface="Arial"/>
            </a:endParaRPr>
          </a:p>
          <a:p>
            <a:pPr algn="just" marL="12700">
              <a:lnSpc>
                <a:spcPct val="100000"/>
              </a:lnSpc>
            </a:pPr>
            <a:r>
              <a:rPr dirty="0" u="heavy" sz="1200" b="1" i="1">
                <a:uFill>
                  <a:solidFill>
                    <a:srgbClr val="000000"/>
                  </a:solidFill>
                </a:uFill>
                <a:latin typeface="Arial"/>
                <a:cs typeface="Arial"/>
              </a:rPr>
              <a:t>Death of </a:t>
            </a:r>
            <a:r>
              <a:rPr dirty="0" u="heavy" sz="1200" spc="-5" b="1" i="1">
                <a:uFill>
                  <a:solidFill>
                    <a:srgbClr val="000000"/>
                  </a:solidFill>
                </a:uFill>
                <a:latin typeface="Arial"/>
                <a:cs typeface="Arial"/>
              </a:rPr>
              <a:t>Hazrat Ali (ra)</a:t>
            </a:r>
            <a:endParaRPr sz="1200">
              <a:latin typeface="Arial"/>
              <a:cs typeface="Arial"/>
            </a:endParaRPr>
          </a:p>
          <a:p>
            <a:pPr>
              <a:lnSpc>
                <a:spcPct val="100000"/>
              </a:lnSpc>
              <a:spcBef>
                <a:spcPts val="45"/>
              </a:spcBef>
            </a:pPr>
            <a:endParaRPr sz="1150">
              <a:latin typeface="Arial"/>
              <a:cs typeface="Arial"/>
            </a:endParaRPr>
          </a:p>
          <a:p>
            <a:pPr algn="just" marL="12700" marR="6350" indent="457200">
              <a:lnSpc>
                <a:spcPct val="95900"/>
              </a:lnSpc>
            </a:pPr>
            <a:r>
              <a:rPr dirty="0" sz="1200">
                <a:latin typeface="Arial"/>
                <a:cs typeface="Arial"/>
              </a:rPr>
              <a:t>After the </a:t>
            </a:r>
            <a:r>
              <a:rPr dirty="0" sz="1200" spc="-5">
                <a:latin typeface="Arial"/>
                <a:cs typeface="Arial"/>
              </a:rPr>
              <a:t>battle of Nahrawan </a:t>
            </a:r>
            <a:r>
              <a:rPr dirty="0" sz="1200">
                <a:latin typeface="Arial"/>
                <a:cs typeface="Arial"/>
              </a:rPr>
              <a:t>the </a:t>
            </a:r>
            <a:r>
              <a:rPr dirty="0" sz="1200" spc="-5">
                <a:latin typeface="Arial"/>
                <a:cs typeface="Arial"/>
              </a:rPr>
              <a:t>"Khawarij" had gone underground. </a:t>
            </a:r>
            <a:r>
              <a:rPr dirty="0" sz="1200">
                <a:latin typeface="Arial"/>
                <a:cs typeface="Arial"/>
              </a:rPr>
              <a:t>As </a:t>
            </a:r>
            <a:r>
              <a:rPr dirty="0" sz="1200" spc="-5">
                <a:latin typeface="Arial"/>
                <a:cs typeface="Arial"/>
              </a:rPr>
              <a:t>a matter of fact  </a:t>
            </a:r>
            <a:r>
              <a:rPr dirty="0" sz="1200">
                <a:latin typeface="Arial"/>
                <a:cs typeface="Arial"/>
              </a:rPr>
              <a:t>they </a:t>
            </a:r>
            <a:r>
              <a:rPr dirty="0" sz="1200" spc="-5">
                <a:latin typeface="Arial"/>
                <a:cs typeface="Arial"/>
              </a:rPr>
              <a:t>were as </a:t>
            </a:r>
            <a:r>
              <a:rPr dirty="0" sz="1200">
                <a:latin typeface="Arial"/>
                <a:cs typeface="Arial"/>
              </a:rPr>
              <a:t>much </a:t>
            </a:r>
            <a:r>
              <a:rPr dirty="0" sz="1200" spc="-5">
                <a:latin typeface="Arial"/>
                <a:cs typeface="Arial"/>
              </a:rPr>
              <a:t>against </a:t>
            </a:r>
            <a:r>
              <a:rPr dirty="0" sz="1200">
                <a:latin typeface="Arial"/>
                <a:cs typeface="Arial"/>
              </a:rPr>
              <a:t>Hadrat </a:t>
            </a:r>
            <a:r>
              <a:rPr dirty="0" sz="1200" spc="-5">
                <a:latin typeface="Arial"/>
                <a:cs typeface="Arial"/>
              </a:rPr>
              <a:t>Ali (R.A.) as </a:t>
            </a:r>
            <a:r>
              <a:rPr dirty="0" sz="1200">
                <a:latin typeface="Arial"/>
                <a:cs typeface="Arial"/>
              </a:rPr>
              <a:t>they </a:t>
            </a:r>
            <a:r>
              <a:rPr dirty="0" sz="1200" spc="-5">
                <a:latin typeface="Arial"/>
                <a:cs typeface="Arial"/>
              </a:rPr>
              <a:t>were against </a:t>
            </a:r>
            <a:r>
              <a:rPr dirty="0" sz="1200">
                <a:latin typeface="Arial"/>
                <a:cs typeface="Arial"/>
              </a:rPr>
              <a:t>Hadrat </a:t>
            </a:r>
            <a:r>
              <a:rPr dirty="0" sz="1200" spc="-5">
                <a:latin typeface="Arial"/>
                <a:cs typeface="Arial"/>
              </a:rPr>
              <a:t>Mu'awiyah (R.A.).  They were still working against </a:t>
            </a:r>
            <a:r>
              <a:rPr dirty="0" sz="1200">
                <a:latin typeface="Arial"/>
                <a:cs typeface="Arial"/>
              </a:rPr>
              <a:t>the </a:t>
            </a:r>
            <a:r>
              <a:rPr dirty="0" sz="1200" spc="-5">
                <a:latin typeface="Arial"/>
                <a:cs typeface="Arial"/>
              </a:rPr>
              <a:t>Khilafat and </a:t>
            </a:r>
            <a:r>
              <a:rPr dirty="0" sz="1200">
                <a:latin typeface="Arial"/>
                <a:cs typeface="Arial"/>
              </a:rPr>
              <a:t>they </a:t>
            </a:r>
            <a:r>
              <a:rPr dirty="0" sz="1200" spc="-5">
                <a:latin typeface="Arial"/>
                <a:cs typeface="Arial"/>
              </a:rPr>
              <a:t>were greatly disgusted with </a:t>
            </a:r>
            <a:r>
              <a:rPr dirty="0" sz="1200">
                <a:latin typeface="Arial"/>
                <a:cs typeface="Arial"/>
              </a:rPr>
              <a:t>the </a:t>
            </a:r>
            <a:r>
              <a:rPr dirty="0" sz="1200" spc="-5">
                <a:latin typeface="Arial"/>
                <a:cs typeface="Arial"/>
              </a:rPr>
              <a:t>civil </a:t>
            </a:r>
            <a:r>
              <a:rPr dirty="0" sz="1200" spc="-10">
                <a:latin typeface="Arial"/>
                <a:cs typeface="Arial"/>
              </a:rPr>
              <a:t>war  </a:t>
            </a:r>
            <a:r>
              <a:rPr dirty="0" sz="1200">
                <a:latin typeface="Arial"/>
                <a:cs typeface="Arial"/>
              </a:rPr>
              <a:t>that </a:t>
            </a:r>
            <a:r>
              <a:rPr dirty="0" sz="1200" spc="-10">
                <a:latin typeface="Arial"/>
                <a:cs typeface="Arial"/>
              </a:rPr>
              <a:t>seemed</a:t>
            </a:r>
            <a:r>
              <a:rPr dirty="0" sz="1200" spc="-5">
                <a:latin typeface="Arial"/>
                <a:cs typeface="Arial"/>
              </a:rPr>
              <a:t> endless.</a:t>
            </a:r>
            <a:endParaRPr sz="1200">
              <a:latin typeface="Arial"/>
              <a:cs typeface="Arial"/>
            </a:endParaRPr>
          </a:p>
          <a:p>
            <a:pPr>
              <a:lnSpc>
                <a:spcPct val="100000"/>
              </a:lnSpc>
              <a:spcBef>
                <a:spcPts val="35"/>
              </a:spcBef>
            </a:pPr>
            <a:endParaRPr sz="1200">
              <a:latin typeface="Arial"/>
              <a:cs typeface="Arial"/>
            </a:endParaRPr>
          </a:p>
          <a:p>
            <a:pPr algn="just" marL="12700" marR="6985" indent="457200">
              <a:lnSpc>
                <a:spcPts val="1380"/>
              </a:lnSpc>
            </a:pPr>
            <a:r>
              <a:rPr dirty="0" sz="1200">
                <a:latin typeface="Arial"/>
                <a:cs typeface="Arial"/>
              </a:rPr>
              <a:t>To </a:t>
            </a:r>
            <a:r>
              <a:rPr dirty="0" sz="1200" spc="-5">
                <a:latin typeface="Arial"/>
                <a:cs typeface="Arial"/>
              </a:rPr>
              <a:t>end </a:t>
            </a:r>
            <a:r>
              <a:rPr dirty="0" sz="1200">
                <a:latin typeface="Arial"/>
                <a:cs typeface="Arial"/>
              </a:rPr>
              <a:t>this </a:t>
            </a:r>
            <a:r>
              <a:rPr dirty="0" sz="1200" spc="-5">
                <a:latin typeface="Arial"/>
                <a:cs typeface="Arial"/>
              </a:rPr>
              <a:t>state of affairs, </a:t>
            </a:r>
            <a:r>
              <a:rPr dirty="0" sz="1200">
                <a:latin typeface="Arial"/>
                <a:cs typeface="Arial"/>
              </a:rPr>
              <a:t>they </a:t>
            </a:r>
            <a:r>
              <a:rPr dirty="0" sz="1200" spc="-5">
                <a:latin typeface="Arial"/>
                <a:cs typeface="Arial"/>
              </a:rPr>
              <a:t>worked out a dangerous plot. </a:t>
            </a:r>
            <a:r>
              <a:rPr dirty="0" sz="1200">
                <a:latin typeface="Arial"/>
                <a:cs typeface="Arial"/>
              </a:rPr>
              <a:t>According to </a:t>
            </a:r>
            <a:r>
              <a:rPr dirty="0" sz="1200" spc="-5">
                <a:latin typeface="Arial"/>
                <a:cs typeface="Arial"/>
              </a:rPr>
              <a:t>them  Muslims were divided because of differences between Hadrat Ali and Amir Mu'awiyah. </a:t>
            </a:r>
            <a:r>
              <a:rPr dirty="0" sz="1200">
                <a:latin typeface="Arial"/>
                <a:cs typeface="Arial"/>
              </a:rPr>
              <a:t>They  </a:t>
            </a:r>
            <a:r>
              <a:rPr dirty="0" sz="1200" spc="-5">
                <a:latin typeface="Arial"/>
                <a:cs typeface="Arial"/>
              </a:rPr>
              <a:t>also disliked 'Amr ibn </a:t>
            </a:r>
            <a:r>
              <a:rPr dirty="0" sz="1200">
                <a:latin typeface="Arial"/>
                <a:cs typeface="Arial"/>
              </a:rPr>
              <a:t>'As </a:t>
            </a:r>
            <a:r>
              <a:rPr dirty="0" sz="1200" spc="-5">
                <a:latin typeface="Arial"/>
                <a:cs typeface="Arial"/>
              </a:rPr>
              <a:t>and considered him as chief planner </a:t>
            </a:r>
            <a:r>
              <a:rPr dirty="0" sz="1200">
                <a:latin typeface="Arial"/>
                <a:cs typeface="Arial"/>
              </a:rPr>
              <a:t>for Amir </a:t>
            </a:r>
            <a:r>
              <a:rPr dirty="0" sz="1200" spc="-5">
                <a:latin typeface="Arial"/>
                <a:cs typeface="Arial"/>
              </a:rPr>
              <a:t>Mu'awiyah. </a:t>
            </a:r>
            <a:r>
              <a:rPr dirty="0" sz="1200">
                <a:latin typeface="Arial"/>
                <a:cs typeface="Arial"/>
              </a:rPr>
              <a:t>They  </a:t>
            </a:r>
            <a:r>
              <a:rPr dirty="0" sz="1200" spc="-5">
                <a:latin typeface="Arial"/>
                <a:cs typeface="Arial"/>
              </a:rPr>
              <a:t>decided, therefore, to assassinate all </a:t>
            </a:r>
            <a:r>
              <a:rPr dirty="0" sz="1200">
                <a:latin typeface="Arial"/>
                <a:cs typeface="Arial"/>
              </a:rPr>
              <a:t>the </a:t>
            </a:r>
            <a:r>
              <a:rPr dirty="0" sz="1200" spc="-5">
                <a:latin typeface="Arial"/>
                <a:cs typeface="Arial"/>
              </a:rPr>
              <a:t>three of them. </a:t>
            </a:r>
            <a:r>
              <a:rPr dirty="0" sz="1200">
                <a:latin typeface="Arial"/>
                <a:cs typeface="Arial"/>
              </a:rPr>
              <a:t>It </a:t>
            </a:r>
            <a:r>
              <a:rPr dirty="0" sz="1200" spc="-10">
                <a:latin typeface="Arial"/>
                <a:cs typeface="Arial"/>
              </a:rPr>
              <a:t>was </a:t>
            </a:r>
            <a:r>
              <a:rPr dirty="0" sz="1200" spc="-5">
                <a:latin typeface="Arial"/>
                <a:cs typeface="Arial"/>
              </a:rPr>
              <a:t>planned that the three  personalities would be </a:t>
            </a:r>
            <a:r>
              <a:rPr dirty="0" sz="1200">
                <a:latin typeface="Arial"/>
                <a:cs typeface="Arial"/>
              </a:rPr>
              <a:t>struck at the </a:t>
            </a:r>
            <a:r>
              <a:rPr dirty="0" sz="1200" spc="-5">
                <a:latin typeface="Arial"/>
                <a:cs typeface="Arial"/>
              </a:rPr>
              <a:t>same time </a:t>
            </a:r>
            <a:r>
              <a:rPr dirty="0" sz="1200">
                <a:latin typeface="Arial"/>
                <a:cs typeface="Arial"/>
              </a:rPr>
              <a:t>on </a:t>
            </a:r>
            <a:r>
              <a:rPr dirty="0" sz="1200" spc="-5">
                <a:latin typeface="Arial"/>
                <a:cs typeface="Arial"/>
              </a:rPr>
              <a:t>the same</a:t>
            </a:r>
            <a:r>
              <a:rPr dirty="0" sz="1200" spc="-20">
                <a:latin typeface="Arial"/>
                <a:cs typeface="Arial"/>
              </a:rPr>
              <a:t> </a:t>
            </a:r>
            <a:r>
              <a:rPr dirty="0" sz="1200" spc="-5">
                <a:latin typeface="Arial"/>
                <a:cs typeface="Arial"/>
              </a:rPr>
              <a:t>day.</a:t>
            </a:r>
            <a:endParaRPr sz="1200">
              <a:latin typeface="Arial"/>
              <a:cs typeface="Arial"/>
            </a:endParaRPr>
          </a:p>
          <a:p>
            <a:pPr>
              <a:lnSpc>
                <a:spcPct val="100000"/>
              </a:lnSpc>
            </a:pPr>
            <a:endParaRPr sz="1200">
              <a:latin typeface="Arial"/>
              <a:cs typeface="Arial"/>
            </a:endParaRPr>
          </a:p>
          <a:p>
            <a:pPr algn="just" marL="12700" marR="6985" indent="457200">
              <a:lnSpc>
                <a:spcPts val="1380"/>
              </a:lnSpc>
            </a:pPr>
            <a:r>
              <a:rPr dirty="0" sz="1200" spc="-5">
                <a:latin typeface="Arial"/>
                <a:cs typeface="Arial"/>
              </a:rPr>
              <a:t>Three persons, appointed </a:t>
            </a:r>
            <a:r>
              <a:rPr dirty="0" sz="1200">
                <a:latin typeface="Arial"/>
                <a:cs typeface="Arial"/>
              </a:rPr>
              <a:t>to </a:t>
            </a:r>
            <a:r>
              <a:rPr dirty="0" sz="1200" spc="-5">
                <a:latin typeface="Arial"/>
                <a:cs typeface="Arial"/>
              </a:rPr>
              <a:t>assassinate Ali, Mu'awiyah, and </a:t>
            </a:r>
            <a:r>
              <a:rPr dirty="0" sz="1200" spc="10">
                <a:latin typeface="Arial"/>
                <a:cs typeface="Arial"/>
              </a:rPr>
              <a:t>'Amr </a:t>
            </a:r>
            <a:r>
              <a:rPr dirty="0" sz="1200" spc="-10">
                <a:latin typeface="Arial"/>
                <a:cs typeface="Arial"/>
              </a:rPr>
              <a:t>ibn </a:t>
            </a:r>
            <a:r>
              <a:rPr dirty="0" sz="1200">
                <a:latin typeface="Arial"/>
                <a:cs typeface="Arial"/>
              </a:rPr>
              <a:t>'As </a:t>
            </a:r>
            <a:r>
              <a:rPr dirty="0" sz="1200" spc="-5">
                <a:latin typeface="Arial"/>
                <a:cs typeface="Arial"/>
              </a:rPr>
              <a:t>(R.A.) were  Abdur Rahman Muljim, </a:t>
            </a:r>
            <a:r>
              <a:rPr dirty="0" sz="1200">
                <a:latin typeface="Arial"/>
                <a:cs typeface="Arial"/>
              </a:rPr>
              <a:t>Bark </a:t>
            </a:r>
            <a:r>
              <a:rPr dirty="0" sz="1200" spc="-5">
                <a:latin typeface="Arial"/>
                <a:cs typeface="Arial"/>
              </a:rPr>
              <a:t>ibn 'Abdullah, and </a:t>
            </a:r>
            <a:r>
              <a:rPr dirty="0" sz="1200">
                <a:latin typeface="Arial"/>
                <a:cs typeface="Arial"/>
              </a:rPr>
              <a:t>'Amr </a:t>
            </a:r>
            <a:r>
              <a:rPr dirty="0" sz="1200" spc="-5">
                <a:latin typeface="Arial"/>
                <a:cs typeface="Arial"/>
              </a:rPr>
              <a:t>ibn Bark respectively. Early </a:t>
            </a:r>
            <a:r>
              <a:rPr dirty="0" sz="1200" spc="5">
                <a:latin typeface="Arial"/>
                <a:cs typeface="Arial"/>
              </a:rPr>
              <a:t>hours </a:t>
            </a:r>
            <a:r>
              <a:rPr dirty="0" sz="1200">
                <a:latin typeface="Arial"/>
                <a:cs typeface="Arial"/>
              </a:rPr>
              <a:t>of </a:t>
            </a:r>
            <a:r>
              <a:rPr dirty="0" sz="1200" spc="-5">
                <a:latin typeface="Arial"/>
                <a:cs typeface="Arial"/>
              </a:rPr>
              <a:t>the  17th of Ramadan, 40 </a:t>
            </a:r>
            <a:r>
              <a:rPr dirty="0" sz="1200">
                <a:latin typeface="Arial"/>
                <a:cs typeface="Arial"/>
              </a:rPr>
              <a:t>A.H., </a:t>
            </a:r>
            <a:r>
              <a:rPr dirty="0" sz="1200" spc="-10">
                <a:latin typeface="Arial"/>
                <a:cs typeface="Arial"/>
              </a:rPr>
              <a:t>was </a:t>
            </a:r>
            <a:r>
              <a:rPr dirty="0" sz="1200" spc="-5">
                <a:latin typeface="Arial"/>
                <a:cs typeface="Arial"/>
              </a:rPr>
              <a:t>fixed </a:t>
            </a:r>
            <a:r>
              <a:rPr dirty="0" sz="1200">
                <a:latin typeface="Arial"/>
                <a:cs typeface="Arial"/>
              </a:rPr>
              <a:t>for </a:t>
            </a:r>
            <a:r>
              <a:rPr dirty="0" sz="1200" spc="-5">
                <a:latin typeface="Arial"/>
                <a:cs typeface="Arial"/>
              </a:rPr>
              <a:t>the</a:t>
            </a:r>
            <a:r>
              <a:rPr dirty="0" sz="1200" spc="5">
                <a:latin typeface="Arial"/>
                <a:cs typeface="Arial"/>
              </a:rPr>
              <a:t> </a:t>
            </a:r>
            <a:r>
              <a:rPr dirty="0" sz="1200" spc="-5">
                <a:latin typeface="Arial"/>
                <a:cs typeface="Arial"/>
              </a:rPr>
              <a:t>assassination.</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39</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0630" cy="933831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5080" indent="457200">
              <a:lnSpc>
                <a:spcPct val="95900"/>
              </a:lnSpc>
            </a:pPr>
            <a:r>
              <a:rPr dirty="0" sz="1200">
                <a:latin typeface="Arial"/>
                <a:cs typeface="Arial"/>
              </a:rPr>
              <a:t>After </a:t>
            </a:r>
            <a:r>
              <a:rPr dirty="0" sz="1200" spc="-5">
                <a:latin typeface="Arial"/>
                <a:cs typeface="Arial"/>
              </a:rPr>
              <a:t>the </a:t>
            </a:r>
            <a:r>
              <a:rPr dirty="0" sz="1200">
                <a:latin typeface="Arial"/>
                <a:cs typeface="Arial"/>
              </a:rPr>
              <a:t>Fajr </a:t>
            </a:r>
            <a:r>
              <a:rPr dirty="0" sz="1200" spc="-5">
                <a:latin typeface="Arial"/>
                <a:cs typeface="Arial"/>
              </a:rPr>
              <a:t>Swalat of the 17th Ramadan in </a:t>
            </a:r>
            <a:r>
              <a:rPr dirty="0" sz="1200">
                <a:latin typeface="Arial"/>
                <a:cs typeface="Arial"/>
              </a:rPr>
              <a:t>the </a:t>
            </a:r>
            <a:r>
              <a:rPr dirty="0" sz="1200" spc="-5">
                <a:latin typeface="Arial"/>
                <a:cs typeface="Arial"/>
              </a:rPr>
              <a:t>year </a:t>
            </a:r>
            <a:r>
              <a:rPr dirty="0" sz="1200" spc="-10">
                <a:latin typeface="Arial"/>
                <a:cs typeface="Arial"/>
              </a:rPr>
              <a:t>40 </a:t>
            </a:r>
            <a:r>
              <a:rPr dirty="0" sz="1200">
                <a:latin typeface="Arial"/>
                <a:cs typeface="Arial"/>
              </a:rPr>
              <a:t>A.H., </a:t>
            </a:r>
            <a:r>
              <a:rPr dirty="0" sz="1200" spc="-5">
                <a:latin typeface="Arial"/>
                <a:cs typeface="Arial"/>
              </a:rPr>
              <a:t>the three appointed  Kharljis </a:t>
            </a:r>
            <a:r>
              <a:rPr dirty="0" sz="1200">
                <a:latin typeface="Arial"/>
                <a:cs typeface="Arial"/>
              </a:rPr>
              <a:t>struck </a:t>
            </a:r>
            <a:r>
              <a:rPr dirty="0" sz="1200" spc="-5">
                <a:latin typeface="Arial"/>
                <a:cs typeface="Arial"/>
              </a:rPr>
              <a:t>the </a:t>
            </a:r>
            <a:r>
              <a:rPr dirty="0" sz="1200" spc="-10">
                <a:latin typeface="Arial"/>
                <a:cs typeface="Arial"/>
              </a:rPr>
              <a:t>three </a:t>
            </a:r>
            <a:r>
              <a:rPr dirty="0" sz="1200">
                <a:latin typeface="Arial"/>
                <a:cs typeface="Arial"/>
              </a:rPr>
              <a:t>men. Amir </a:t>
            </a:r>
            <a:r>
              <a:rPr dirty="0" sz="1200" spc="-5">
                <a:latin typeface="Arial"/>
                <a:cs typeface="Arial"/>
              </a:rPr>
              <a:t>Mu'awiyah escaped with a scratch, Hadrat Amr ibn 'As </a:t>
            </a:r>
            <a:r>
              <a:rPr dirty="0" sz="1200">
                <a:latin typeface="Arial"/>
                <a:cs typeface="Arial"/>
              </a:rPr>
              <a:t>did  </a:t>
            </a:r>
            <a:r>
              <a:rPr dirty="0" sz="1200" spc="-5">
                <a:latin typeface="Arial"/>
                <a:cs typeface="Arial"/>
              </a:rPr>
              <a:t>not </a:t>
            </a:r>
            <a:r>
              <a:rPr dirty="0" sz="1200">
                <a:latin typeface="Arial"/>
                <a:cs typeface="Arial"/>
              </a:rPr>
              <a:t>turn </a:t>
            </a:r>
            <a:r>
              <a:rPr dirty="0" sz="1200" spc="-5">
                <a:latin typeface="Arial"/>
                <a:cs typeface="Arial"/>
              </a:rPr>
              <a:t>out </a:t>
            </a:r>
            <a:r>
              <a:rPr dirty="0" sz="1200">
                <a:latin typeface="Arial"/>
                <a:cs typeface="Arial"/>
              </a:rPr>
              <a:t>for the Imamat </a:t>
            </a:r>
            <a:r>
              <a:rPr dirty="0" sz="1200" spc="-5">
                <a:latin typeface="Arial"/>
                <a:cs typeface="Arial"/>
              </a:rPr>
              <a:t>because he </a:t>
            </a:r>
            <a:r>
              <a:rPr dirty="0" sz="1200" spc="-10">
                <a:latin typeface="Arial"/>
                <a:cs typeface="Arial"/>
              </a:rPr>
              <a:t>was </a:t>
            </a:r>
            <a:r>
              <a:rPr dirty="0" sz="1200">
                <a:latin typeface="Arial"/>
                <a:cs typeface="Arial"/>
              </a:rPr>
              <a:t>sick that </a:t>
            </a:r>
            <a:r>
              <a:rPr dirty="0" sz="1200" spc="-5">
                <a:latin typeface="Arial"/>
                <a:cs typeface="Arial"/>
              </a:rPr>
              <a:t>day </a:t>
            </a:r>
            <a:r>
              <a:rPr dirty="0" sz="1200">
                <a:latin typeface="Arial"/>
                <a:cs typeface="Arial"/>
              </a:rPr>
              <a:t>thus </a:t>
            </a:r>
            <a:r>
              <a:rPr dirty="0" sz="1200" spc="-5">
                <a:latin typeface="Arial"/>
                <a:cs typeface="Arial"/>
              </a:rPr>
              <a:t>was </a:t>
            </a:r>
            <a:r>
              <a:rPr dirty="0" sz="1200">
                <a:latin typeface="Arial"/>
                <a:cs typeface="Arial"/>
              </a:rPr>
              <a:t>unhurt, </a:t>
            </a:r>
            <a:r>
              <a:rPr dirty="0" sz="1200" spc="-5">
                <a:latin typeface="Arial"/>
                <a:cs typeface="Arial"/>
              </a:rPr>
              <a:t>but </a:t>
            </a:r>
            <a:r>
              <a:rPr dirty="0" sz="1200">
                <a:latin typeface="Arial"/>
                <a:cs typeface="Arial"/>
              </a:rPr>
              <a:t>Hadrat </a:t>
            </a:r>
            <a:r>
              <a:rPr dirty="0" sz="1200" spc="-5">
                <a:latin typeface="Arial"/>
                <a:cs typeface="Arial"/>
              </a:rPr>
              <a:t>Ali  (R.A.) </a:t>
            </a:r>
            <a:r>
              <a:rPr dirty="0" sz="1200" spc="-10">
                <a:latin typeface="Arial"/>
                <a:cs typeface="Arial"/>
              </a:rPr>
              <a:t>was </a:t>
            </a:r>
            <a:r>
              <a:rPr dirty="0" sz="1200">
                <a:latin typeface="Arial"/>
                <a:cs typeface="Arial"/>
              </a:rPr>
              <a:t>mortally </a:t>
            </a:r>
            <a:r>
              <a:rPr dirty="0" sz="1200" spc="-5">
                <a:latin typeface="Arial"/>
                <a:cs typeface="Arial"/>
              </a:rPr>
              <a:t>wounded with </a:t>
            </a:r>
            <a:r>
              <a:rPr dirty="0" sz="1200">
                <a:latin typeface="Arial"/>
                <a:cs typeface="Arial"/>
              </a:rPr>
              <a:t>the </a:t>
            </a:r>
            <a:r>
              <a:rPr dirty="0" sz="1200" spc="-5">
                <a:latin typeface="Arial"/>
                <a:cs typeface="Arial"/>
              </a:rPr>
              <a:t>poisoned sword </a:t>
            </a:r>
            <a:r>
              <a:rPr dirty="0" sz="1200">
                <a:latin typeface="Arial"/>
                <a:cs typeface="Arial"/>
              </a:rPr>
              <a:t>of </a:t>
            </a:r>
            <a:r>
              <a:rPr dirty="0" sz="1200" spc="-5">
                <a:latin typeface="Arial"/>
                <a:cs typeface="Arial"/>
              </a:rPr>
              <a:t>Ibn </a:t>
            </a:r>
            <a:r>
              <a:rPr dirty="0" sz="1200">
                <a:latin typeface="Arial"/>
                <a:cs typeface="Arial"/>
              </a:rPr>
              <a:t>Muljim. </a:t>
            </a:r>
            <a:r>
              <a:rPr dirty="0" sz="1200" spc="-5">
                <a:latin typeface="Arial"/>
                <a:cs typeface="Arial"/>
              </a:rPr>
              <a:t>He passed away in the  evening </a:t>
            </a:r>
            <a:r>
              <a:rPr dirty="0" sz="1200">
                <a:latin typeface="Arial"/>
                <a:cs typeface="Arial"/>
              </a:rPr>
              <a:t>of </a:t>
            </a:r>
            <a:r>
              <a:rPr dirty="0" sz="1200" spc="-5">
                <a:latin typeface="Arial"/>
                <a:cs typeface="Arial"/>
              </a:rPr>
              <a:t>Ramadan 20, </a:t>
            </a:r>
            <a:r>
              <a:rPr dirty="0" sz="1200" spc="-10">
                <a:latin typeface="Arial"/>
                <a:cs typeface="Arial"/>
              </a:rPr>
              <a:t>40</a:t>
            </a:r>
            <a:r>
              <a:rPr dirty="0" sz="1200" spc="-5">
                <a:latin typeface="Arial"/>
                <a:cs typeface="Arial"/>
              </a:rPr>
              <a:t> </a:t>
            </a:r>
            <a:r>
              <a:rPr dirty="0" sz="1200">
                <a:latin typeface="Arial"/>
                <a:cs typeface="Arial"/>
              </a:rPr>
              <a:t>A.H.</a:t>
            </a:r>
            <a:endParaRPr sz="1200">
              <a:latin typeface="Arial"/>
              <a:cs typeface="Arial"/>
            </a:endParaRPr>
          </a:p>
          <a:p>
            <a:pPr>
              <a:lnSpc>
                <a:spcPct val="100000"/>
              </a:lnSpc>
              <a:spcBef>
                <a:spcPts val="35"/>
              </a:spcBef>
            </a:pPr>
            <a:endParaRPr sz="1200">
              <a:latin typeface="Arial"/>
              <a:cs typeface="Arial"/>
            </a:endParaRPr>
          </a:p>
          <a:p>
            <a:pPr algn="just" marL="12700" marR="5715" indent="457200">
              <a:lnSpc>
                <a:spcPts val="1380"/>
              </a:lnSpc>
            </a:pPr>
            <a:r>
              <a:rPr dirty="0" sz="1200">
                <a:latin typeface="Arial"/>
                <a:cs typeface="Arial"/>
              </a:rPr>
              <a:t>Ibn </a:t>
            </a:r>
            <a:r>
              <a:rPr dirty="0" sz="1200" spc="-5">
                <a:latin typeface="Arial"/>
                <a:cs typeface="Arial"/>
              </a:rPr>
              <a:t>Muljim </a:t>
            </a:r>
            <a:r>
              <a:rPr dirty="0" sz="1200" spc="-10">
                <a:latin typeface="Arial"/>
                <a:cs typeface="Arial"/>
              </a:rPr>
              <a:t>was </a:t>
            </a:r>
            <a:r>
              <a:rPr dirty="0" sz="1200" spc="-5">
                <a:latin typeface="Arial"/>
                <a:cs typeface="Arial"/>
              </a:rPr>
              <a:t>caught by </a:t>
            </a:r>
            <a:r>
              <a:rPr dirty="0" sz="1200">
                <a:latin typeface="Arial"/>
                <a:cs typeface="Arial"/>
              </a:rPr>
              <a:t>the </a:t>
            </a:r>
            <a:r>
              <a:rPr dirty="0" sz="1200" spc="-5">
                <a:latin typeface="Arial"/>
                <a:cs typeface="Arial"/>
              </a:rPr>
              <a:t>people after </a:t>
            </a:r>
            <a:r>
              <a:rPr dirty="0" sz="1200" spc="-10">
                <a:latin typeface="Arial"/>
                <a:cs typeface="Arial"/>
              </a:rPr>
              <a:t>he </a:t>
            </a:r>
            <a:r>
              <a:rPr dirty="0" sz="1200" spc="-5">
                <a:latin typeface="Arial"/>
                <a:cs typeface="Arial"/>
              </a:rPr>
              <a:t>had struck Hadrat Ali. </a:t>
            </a:r>
            <a:r>
              <a:rPr dirty="0" sz="1200">
                <a:latin typeface="Arial"/>
                <a:cs typeface="Arial"/>
              </a:rPr>
              <a:t>Hadrat </a:t>
            </a:r>
            <a:r>
              <a:rPr dirty="0" sz="1200" spc="-5">
                <a:latin typeface="Arial"/>
                <a:cs typeface="Arial"/>
              </a:rPr>
              <a:t>Ali asked  </a:t>
            </a:r>
            <a:r>
              <a:rPr dirty="0" sz="1200">
                <a:latin typeface="Arial"/>
                <a:cs typeface="Arial"/>
              </a:rPr>
              <a:t>the </a:t>
            </a:r>
            <a:r>
              <a:rPr dirty="0" sz="1200" spc="-5">
                <a:latin typeface="Arial"/>
                <a:cs typeface="Arial"/>
              </a:rPr>
              <a:t>Muslims to slay </a:t>
            </a:r>
            <a:r>
              <a:rPr dirty="0" sz="1200" spc="-10">
                <a:latin typeface="Arial"/>
                <a:cs typeface="Arial"/>
              </a:rPr>
              <a:t>him if </a:t>
            </a:r>
            <a:r>
              <a:rPr dirty="0" sz="1200" spc="-5">
                <a:latin typeface="Arial"/>
                <a:cs typeface="Arial"/>
              </a:rPr>
              <a:t>he died. At the </a:t>
            </a:r>
            <a:r>
              <a:rPr dirty="0" sz="1200" spc="-10">
                <a:latin typeface="Arial"/>
                <a:cs typeface="Arial"/>
              </a:rPr>
              <a:t>same </a:t>
            </a:r>
            <a:r>
              <a:rPr dirty="0" sz="1200">
                <a:latin typeface="Arial"/>
                <a:cs typeface="Arial"/>
              </a:rPr>
              <a:t>time </a:t>
            </a:r>
            <a:r>
              <a:rPr dirty="0" sz="1200" spc="-5">
                <a:latin typeface="Arial"/>
                <a:cs typeface="Arial"/>
              </a:rPr>
              <a:t>of his death </a:t>
            </a:r>
            <a:r>
              <a:rPr dirty="0" sz="1200">
                <a:latin typeface="Arial"/>
                <a:cs typeface="Arial"/>
              </a:rPr>
              <a:t>Hadrat </a:t>
            </a:r>
            <a:r>
              <a:rPr dirty="0" sz="1200" spc="-5">
                <a:latin typeface="Arial"/>
                <a:cs typeface="Arial"/>
              </a:rPr>
              <a:t>Ali called his sons  and advised them </a:t>
            </a:r>
            <a:r>
              <a:rPr dirty="0" sz="1200">
                <a:latin typeface="Arial"/>
                <a:cs typeface="Arial"/>
              </a:rPr>
              <a:t>to </a:t>
            </a:r>
            <a:r>
              <a:rPr dirty="0" sz="1200" spc="-10">
                <a:latin typeface="Arial"/>
                <a:cs typeface="Arial"/>
              </a:rPr>
              <a:t>serve </a:t>
            </a:r>
            <a:r>
              <a:rPr dirty="0" sz="1200">
                <a:latin typeface="Arial"/>
                <a:cs typeface="Arial"/>
              </a:rPr>
              <a:t>Islam </a:t>
            </a:r>
            <a:r>
              <a:rPr dirty="0" sz="1200" spc="-5">
                <a:latin typeface="Arial"/>
                <a:cs typeface="Arial"/>
              </a:rPr>
              <a:t>and to </a:t>
            </a:r>
            <a:r>
              <a:rPr dirty="0" sz="1200" spc="-10">
                <a:latin typeface="Arial"/>
                <a:cs typeface="Arial"/>
              </a:rPr>
              <a:t>be </a:t>
            </a:r>
            <a:r>
              <a:rPr dirty="0" sz="1200" spc="-5">
                <a:latin typeface="Arial"/>
                <a:cs typeface="Arial"/>
              </a:rPr>
              <a:t>good with </a:t>
            </a:r>
            <a:r>
              <a:rPr dirty="0" sz="1200">
                <a:latin typeface="Arial"/>
                <a:cs typeface="Arial"/>
              </a:rPr>
              <a:t>the </a:t>
            </a:r>
            <a:r>
              <a:rPr dirty="0" sz="1200" spc="-5">
                <a:latin typeface="Arial"/>
                <a:cs typeface="Arial"/>
              </a:rPr>
              <a:t>Muslims. </a:t>
            </a:r>
            <a:r>
              <a:rPr dirty="0" sz="1200">
                <a:latin typeface="Arial"/>
                <a:cs typeface="Arial"/>
              </a:rPr>
              <a:t>When </a:t>
            </a:r>
            <a:r>
              <a:rPr dirty="0" sz="1200" spc="-5">
                <a:latin typeface="Arial"/>
                <a:cs typeface="Arial"/>
              </a:rPr>
              <a:t>somebody asked  him </a:t>
            </a:r>
            <a:r>
              <a:rPr dirty="0" sz="1200" spc="-10">
                <a:latin typeface="Arial"/>
                <a:cs typeface="Arial"/>
              </a:rPr>
              <a:t>should </a:t>
            </a:r>
            <a:r>
              <a:rPr dirty="0" sz="1200" spc="-5">
                <a:latin typeface="Arial"/>
                <a:cs typeface="Arial"/>
              </a:rPr>
              <a:t>the Muslims </a:t>
            </a:r>
            <a:r>
              <a:rPr dirty="0" sz="1200">
                <a:latin typeface="Arial"/>
                <a:cs typeface="Arial"/>
              </a:rPr>
              <a:t>take </a:t>
            </a:r>
            <a:r>
              <a:rPr dirty="0" sz="1200" spc="-5">
                <a:latin typeface="Arial"/>
                <a:cs typeface="Arial"/>
              </a:rPr>
              <a:t>pledge of loyalty </a:t>
            </a:r>
            <a:r>
              <a:rPr dirty="0" sz="1200">
                <a:latin typeface="Arial"/>
                <a:cs typeface="Arial"/>
              </a:rPr>
              <a:t>at the </a:t>
            </a:r>
            <a:r>
              <a:rPr dirty="0" sz="1200" spc="-5">
                <a:latin typeface="Arial"/>
                <a:cs typeface="Arial"/>
              </a:rPr>
              <a:t>hands of his elder son, Hadrat Hassan,  he replied, "I leave this decision to the Muslims." He also advised people not </a:t>
            </a:r>
            <a:r>
              <a:rPr dirty="0" sz="1200">
                <a:latin typeface="Arial"/>
                <a:cs typeface="Arial"/>
              </a:rPr>
              <a:t>to </a:t>
            </a:r>
            <a:r>
              <a:rPr dirty="0" sz="1200" spc="-5">
                <a:latin typeface="Arial"/>
                <a:cs typeface="Arial"/>
              </a:rPr>
              <a:t>kill any  person other than the assassin to avenge</a:t>
            </a:r>
            <a:r>
              <a:rPr dirty="0" sz="1200" spc="15">
                <a:latin typeface="Arial"/>
                <a:cs typeface="Arial"/>
              </a:rPr>
              <a:t> </a:t>
            </a:r>
            <a:r>
              <a:rPr dirty="0" sz="1200" spc="-5">
                <a:latin typeface="Arial"/>
                <a:cs typeface="Arial"/>
              </a:rPr>
              <a:t>him.</a:t>
            </a:r>
            <a:endParaRPr sz="1200">
              <a:latin typeface="Arial"/>
              <a:cs typeface="Arial"/>
            </a:endParaRPr>
          </a:p>
          <a:p>
            <a:pPr>
              <a:lnSpc>
                <a:spcPct val="100000"/>
              </a:lnSpc>
              <a:spcBef>
                <a:spcPts val="20"/>
              </a:spcBef>
            </a:pPr>
            <a:endParaRPr sz="1150">
              <a:latin typeface="Arial"/>
              <a:cs typeface="Arial"/>
            </a:endParaRPr>
          </a:p>
          <a:p>
            <a:pPr algn="just" marL="12700" marR="5080">
              <a:lnSpc>
                <a:spcPct val="95900"/>
              </a:lnSpc>
            </a:pPr>
            <a:r>
              <a:rPr dirty="0" sz="1200" spc="-5">
                <a:latin typeface="Arial"/>
                <a:cs typeface="Arial"/>
              </a:rPr>
              <a:t>He </a:t>
            </a:r>
            <a:r>
              <a:rPr dirty="0" sz="1200" spc="-10">
                <a:latin typeface="Arial"/>
                <a:cs typeface="Arial"/>
              </a:rPr>
              <a:t>was </a:t>
            </a:r>
            <a:r>
              <a:rPr dirty="0" sz="1200">
                <a:latin typeface="Arial"/>
                <a:cs typeface="Arial"/>
              </a:rPr>
              <a:t>sixty three </a:t>
            </a:r>
            <a:r>
              <a:rPr dirty="0" sz="1200" spc="-5">
                <a:latin typeface="Arial"/>
                <a:cs typeface="Arial"/>
              </a:rPr>
              <a:t>years old </a:t>
            </a:r>
            <a:r>
              <a:rPr dirty="0" sz="1200">
                <a:latin typeface="Arial"/>
                <a:cs typeface="Arial"/>
              </a:rPr>
              <a:t>at the </a:t>
            </a:r>
            <a:r>
              <a:rPr dirty="0" sz="1200" spc="-5">
                <a:latin typeface="Arial"/>
                <a:cs typeface="Arial"/>
              </a:rPr>
              <a:t>time of his death and had ruled </a:t>
            </a:r>
            <a:r>
              <a:rPr dirty="0" sz="1200">
                <a:latin typeface="Arial"/>
                <a:cs typeface="Arial"/>
              </a:rPr>
              <a:t>for </a:t>
            </a:r>
            <a:r>
              <a:rPr dirty="0" sz="1200" spc="-5">
                <a:latin typeface="Arial"/>
                <a:cs typeface="Arial"/>
              </a:rPr>
              <a:t>five years. Ali lived a  simple </a:t>
            </a:r>
            <a:r>
              <a:rPr dirty="0" sz="1200">
                <a:latin typeface="Arial"/>
                <a:cs typeface="Arial"/>
              </a:rPr>
              <a:t>life. </a:t>
            </a:r>
            <a:r>
              <a:rPr dirty="0" sz="1200" spc="-10">
                <a:latin typeface="Arial"/>
                <a:cs typeface="Arial"/>
              </a:rPr>
              <a:t>He </a:t>
            </a:r>
            <a:r>
              <a:rPr dirty="0" sz="1200" spc="-5">
                <a:latin typeface="Arial"/>
                <a:cs typeface="Arial"/>
              </a:rPr>
              <a:t>refused any luxury food and wore simple clothes </a:t>
            </a:r>
            <a:r>
              <a:rPr dirty="0" sz="1200">
                <a:latin typeface="Arial"/>
                <a:cs typeface="Arial"/>
              </a:rPr>
              <a:t>thinking </a:t>
            </a:r>
            <a:r>
              <a:rPr dirty="0" sz="1200" spc="-5">
                <a:latin typeface="Arial"/>
                <a:cs typeface="Arial"/>
              </a:rPr>
              <a:t>of </a:t>
            </a:r>
            <a:r>
              <a:rPr dirty="0" sz="1200">
                <a:latin typeface="Arial"/>
                <a:cs typeface="Arial"/>
              </a:rPr>
              <a:t>the </a:t>
            </a:r>
            <a:r>
              <a:rPr dirty="0" sz="1200" spc="-5">
                <a:latin typeface="Arial"/>
                <a:cs typeface="Arial"/>
              </a:rPr>
              <a:t>poor. </a:t>
            </a:r>
            <a:r>
              <a:rPr dirty="0" sz="1200" spc="-10">
                <a:latin typeface="Arial"/>
                <a:cs typeface="Arial"/>
              </a:rPr>
              <a:t>He  </a:t>
            </a:r>
            <a:r>
              <a:rPr dirty="0" sz="1200" spc="-5">
                <a:latin typeface="Arial"/>
                <a:cs typeface="Arial"/>
              </a:rPr>
              <a:t>should sleep on the ground and even </a:t>
            </a:r>
            <a:r>
              <a:rPr dirty="0" sz="1200">
                <a:latin typeface="Arial"/>
                <a:cs typeface="Arial"/>
              </a:rPr>
              <a:t>sit </a:t>
            </a:r>
            <a:r>
              <a:rPr dirty="0" sz="1200" spc="-5">
                <a:latin typeface="Arial"/>
                <a:cs typeface="Arial"/>
              </a:rPr>
              <a:t>on the </a:t>
            </a:r>
            <a:r>
              <a:rPr dirty="0" sz="1200">
                <a:latin typeface="Arial"/>
                <a:cs typeface="Arial"/>
              </a:rPr>
              <a:t>floor. </a:t>
            </a:r>
            <a:r>
              <a:rPr dirty="0" sz="1200" spc="-5">
                <a:latin typeface="Arial"/>
                <a:cs typeface="Arial"/>
              </a:rPr>
              <a:t>He repaired his </a:t>
            </a:r>
            <a:r>
              <a:rPr dirty="0" sz="1200" spc="-10">
                <a:latin typeface="Arial"/>
                <a:cs typeface="Arial"/>
              </a:rPr>
              <a:t>own </a:t>
            </a:r>
            <a:r>
              <a:rPr dirty="0" sz="1200">
                <a:latin typeface="Arial"/>
                <a:cs typeface="Arial"/>
              </a:rPr>
              <a:t>clothes </a:t>
            </a:r>
            <a:r>
              <a:rPr dirty="0" sz="1200" spc="-5">
                <a:latin typeface="Arial"/>
                <a:cs typeface="Arial"/>
              </a:rPr>
              <a:t>and shoes  and even did manual labour. He </a:t>
            </a:r>
            <a:r>
              <a:rPr dirty="0" sz="1200" spc="-10">
                <a:latin typeface="Arial"/>
                <a:cs typeface="Arial"/>
              </a:rPr>
              <a:t>spent </a:t>
            </a:r>
            <a:r>
              <a:rPr dirty="0" sz="1200" spc="-5">
                <a:latin typeface="Arial"/>
                <a:cs typeface="Arial"/>
              </a:rPr>
              <a:t>nights in </a:t>
            </a:r>
            <a:r>
              <a:rPr dirty="0" sz="1200">
                <a:latin typeface="Arial"/>
                <a:cs typeface="Arial"/>
              </a:rPr>
              <a:t>Swalaat </a:t>
            </a:r>
            <a:r>
              <a:rPr dirty="0" sz="1200" spc="-5">
                <a:latin typeface="Arial"/>
                <a:cs typeface="Arial"/>
              </a:rPr>
              <a:t>and should </a:t>
            </a:r>
            <a:r>
              <a:rPr dirty="0" sz="1200">
                <a:latin typeface="Arial"/>
                <a:cs typeface="Arial"/>
              </a:rPr>
              <a:t>fast for </a:t>
            </a:r>
            <a:r>
              <a:rPr dirty="0" sz="1200" spc="-5">
                <a:latin typeface="Arial"/>
                <a:cs typeface="Arial"/>
              </a:rPr>
              <a:t>three </a:t>
            </a:r>
            <a:r>
              <a:rPr dirty="0" sz="1200" spc="-10">
                <a:latin typeface="Arial"/>
                <a:cs typeface="Arial"/>
              </a:rPr>
              <a:t>days </a:t>
            </a:r>
            <a:r>
              <a:rPr dirty="0" sz="1200" spc="-5">
                <a:latin typeface="Arial"/>
                <a:cs typeface="Arial"/>
              </a:rPr>
              <a:t>in a  row. Honesty, piety, justice and love of </a:t>
            </a:r>
            <a:r>
              <a:rPr dirty="0" sz="1200">
                <a:latin typeface="Arial"/>
                <a:cs typeface="Arial"/>
              </a:rPr>
              <a:t>truth </a:t>
            </a:r>
            <a:r>
              <a:rPr dirty="0" sz="1200" spc="-5">
                <a:latin typeface="Arial"/>
                <a:cs typeface="Arial"/>
              </a:rPr>
              <a:t>were the main </a:t>
            </a:r>
            <a:r>
              <a:rPr dirty="0" sz="1200">
                <a:latin typeface="Arial"/>
                <a:cs typeface="Arial"/>
              </a:rPr>
              <a:t>marks </a:t>
            </a:r>
            <a:r>
              <a:rPr dirty="0" sz="1200" spc="-5">
                <a:latin typeface="Arial"/>
                <a:cs typeface="Arial"/>
              </a:rPr>
              <a:t>of his</a:t>
            </a:r>
            <a:r>
              <a:rPr dirty="0" sz="1200" spc="70">
                <a:latin typeface="Arial"/>
                <a:cs typeface="Arial"/>
              </a:rPr>
              <a:t> </a:t>
            </a:r>
            <a:r>
              <a:rPr dirty="0" sz="1200" spc="-5">
                <a:latin typeface="Arial"/>
                <a:cs typeface="Arial"/>
              </a:rPr>
              <a:t>character.</a:t>
            </a:r>
            <a:endParaRPr sz="1200">
              <a:latin typeface="Arial"/>
              <a:cs typeface="Arial"/>
            </a:endParaRPr>
          </a:p>
          <a:p>
            <a:pPr>
              <a:lnSpc>
                <a:spcPct val="100000"/>
              </a:lnSpc>
            </a:pPr>
            <a:endParaRPr sz="1150">
              <a:latin typeface="Arial"/>
              <a:cs typeface="Arial"/>
            </a:endParaRPr>
          </a:p>
          <a:p>
            <a:pPr algn="just" marL="12700">
              <a:lnSpc>
                <a:spcPct val="100000"/>
              </a:lnSpc>
            </a:pPr>
            <a:r>
              <a:rPr dirty="0" u="heavy" sz="1200" spc="-5" b="1" i="1">
                <a:uFill>
                  <a:solidFill>
                    <a:srgbClr val="000000"/>
                  </a:solidFill>
                </a:uFill>
                <a:latin typeface="Arial"/>
                <a:cs typeface="Arial"/>
              </a:rPr>
              <a:t>Additional Material </a:t>
            </a:r>
            <a:r>
              <a:rPr dirty="0" u="heavy" sz="1200" spc="-10" b="1" i="1">
                <a:uFill>
                  <a:solidFill>
                    <a:srgbClr val="000000"/>
                  </a:solidFill>
                </a:uFill>
                <a:latin typeface="Arial"/>
                <a:cs typeface="Arial"/>
              </a:rPr>
              <a:t>For </a:t>
            </a:r>
            <a:r>
              <a:rPr dirty="0" u="heavy" sz="1200" spc="-5" b="1" i="1">
                <a:uFill>
                  <a:solidFill>
                    <a:srgbClr val="000000"/>
                  </a:solidFill>
                </a:uFill>
                <a:latin typeface="Arial"/>
                <a:cs typeface="Arial"/>
              </a:rPr>
              <a:t>Past Papers</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Questions</a:t>
            </a:r>
            <a:endParaRPr sz="12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u="heavy" sz="1200" spc="-5" b="1" i="1">
                <a:uFill>
                  <a:solidFill>
                    <a:srgbClr val="000000"/>
                  </a:solidFill>
                </a:uFill>
                <a:latin typeface="Arial"/>
                <a:cs typeface="Arial"/>
              </a:rPr>
              <a:t>The events that led </a:t>
            </a:r>
            <a:r>
              <a:rPr dirty="0" u="heavy" sz="1200" spc="-10" b="1" i="1">
                <a:uFill>
                  <a:solidFill>
                    <a:srgbClr val="000000"/>
                  </a:solidFill>
                </a:uFill>
                <a:latin typeface="Arial"/>
                <a:cs typeface="Arial"/>
              </a:rPr>
              <a:t>up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Umar </a:t>
            </a:r>
            <a:r>
              <a:rPr dirty="0" u="heavy" sz="1200" b="1" i="1">
                <a:uFill>
                  <a:solidFill>
                    <a:srgbClr val="000000"/>
                  </a:solidFill>
                </a:uFill>
                <a:latin typeface="Arial"/>
                <a:cs typeface="Arial"/>
              </a:rPr>
              <a:t>becoming </a:t>
            </a:r>
            <a:r>
              <a:rPr dirty="0" u="heavy" sz="1200" spc="-5" b="1" i="1">
                <a:uFill>
                  <a:solidFill>
                    <a:srgbClr val="000000"/>
                  </a:solidFill>
                </a:uFill>
                <a:latin typeface="Arial"/>
                <a:cs typeface="Arial"/>
              </a:rPr>
              <a:t>a</a:t>
            </a:r>
            <a:r>
              <a:rPr dirty="0" u="heavy" sz="1200" spc="25" b="1" i="1">
                <a:uFill>
                  <a:solidFill>
                    <a:srgbClr val="000000"/>
                  </a:solidFill>
                </a:uFill>
                <a:latin typeface="Arial"/>
                <a:cs typeface="Arial"/>
              </a:rPr>
              <a:t> </a:t>
            </a:r>
            <a:r>
              <a:rPr dirty="0" u="heavy" sz="1200" b="1" i="1">
                <a:uFill>
                  <a:solidFill>
                    <a:srgbClr val="000000"/>
                  </a:solidFill>
                </a:uFill>
                <a:latin typeface="Arial"/>
                <a:cs typeface="Arial"/>
              </a:rPr>
              <a:t>Muslim.</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He opposed the Muslims because </a:t>
            </a:r>
            <a:r>
              <a:rPr dirty="0" sz="1200">
                <a:latin typeface="Arial"/>
                <a:cs typeface="Arial"/>
              </a:rPr>
              <a:t>he </a:t>
            </a:r>
            <a:r>
              <a:rPr dirty="0" sz="1200" spc="-5">
                <a:latin typeface="Arial"/>
                <a:cs typeface="Arial"/>
              </a:rPr>
              <a:t>believed in the gods of </a:t>
            </a:r>
            <a:r>
              <a:rPr dirty="0" sz="1200">
                <a:latin typeface="Arial"/>
                <a:cs typeface="Arial"/>
              </a:rPr>
              <a:t>the</a:t>
            </a:r>
            <a:r>
              <a:rPr dirty="0" sz="1200" spc="35">
                <a:latin typeface="Arial"/>
                <a:cs typeface="Arial"/>
              </a:rPr>
              <a:t> </a:t>
            </a:r>
            <a:r>
              <a:rPr dirty="0" sz="1200" spc="-5">
                <a:latin typeface="Arial"/>
                <a:cs typeface="Arial"/>
              </a:rPr>
              <a:t>Kaaba</a:t>
            </a:r>
            <a:endParaRPr sz="1200">
              <a:latin typeface="Arial"/>
              <a:cs typeface="Arial"/>
            </a:endParaRPr>
          </a:p>
          <a:p>
            <a:pPr marL="469900" marR="10795" indent="-229235">
              <a:lnSpc>
                <a:spcPts val="1380"/>
              </a:lnSpc>
              <a:spcBef>
                <a:spcPts val="65"/>
              </a:spcBef>
              <a:buAutoNum type="arabicPeriod"/>
              <a:tabLst>
                <a:tab pos="470534" algn="l"/>
              </a:tabLst>
            </a:pPr>
            <a:r>
              <a:rPr dirty="0" sz="1200" spc="-5">
                <a:latin typeface="Arial"/>
                <a:cs typeface="Arial"/>
              </a:rPr>
              <a:t>Umar </a:t>
            </a:r>
            <a:r>
              <a:rPr dirty="0" sz="1200">
                <a:latin typeface="Arial"/>
                <a:cs typeface="Arial"/>
              </a:rPr>
              <a:t>felt </a:t>
            </a:r>
            <a:r>
              <a:rPr dirty="0" sz="1200" spc="-5">
                <a:latin typeface="Arial"/>
                <a:cs typeface="Arial"/>
              </a:rPr>
              <a:t>strongly about killing Prophet Mohammad </a:t>
            </a:r>
            <a:r>
              <a:rPr dirty="0" sz="1200">
                <a:latin typeface="Arial"/>
                <a:cs typeface="Arial"/>
              </a:rPr>
              <a:t>to </a:t>
            </a:r>
            <a:r>
              <a:rPr dirty="0" sz="1200" spc="-5">
                <a:latin typeface="Arial"/>
                <a:cs typeface="Arial"/>
              </a:rPr>
              <a:t>end all problems arising in  Mecca; </a:t>
            </a:r>
            <a:r>
              <a:rPr dirty="0" sz="1200">
                <a:latin typeface="Arial"/>
                <a:cs typeface="Arial"/>
              </a:rPr>
              <a:t>set </a:t>
            </a:r>
            <a:r>
              <a:rPr dirty="0" sz="1200" spc="-5">
                <a:latin typeface="Arial"/>
                <a:cs typeface="Arial"/>
              </a:rPr>
              <a:t>out with sword</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He </a:t>
            </a:r>
            <a:r>
              <a:rPr dirty="0" sz="1200">
                <a:latin typeface="Arial"/>
                <a:cs typeface="Arial"/>
              </a:rPr>
              <a:t>told </a:t>
            </a:r>
            <a:r>
              <a:rPr dirty="0" sz="1200" spc="-5">
                <a:latin typeface="Arial"/>
                <a:cs typeface="Arial"/>
              </a:rPr>
              <a:t>a clansman where </a:t>
            </a:r>
            <a:r>
              <a:rPr dirty="0" sz="1200">
                <a:latin typeface="Arial"/>
                <a:cs typeface="Arial"/>
              </a:rPr>
              <a:t>he </a:t>
            </a:r>
            <a:r>
              <a:rPr dirty="0" sz="1200" spc="-10">
                <a:latin typeface="Arial"/>
                <a:cs typeface="Arial"/>
              </a:rPr>
              <a:t>was</a:t>
            </a:r>
            <a:r>
              <a:rPr dirty="0" sz="1200" spc="-5">
                <a:latin typeface="Arial"/>
                <a:cs typeface="Arial"/>
              </a:rPr>
              <a:t> going</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a:t>
            </a:r>
            <a:r>
              <a:rPr dirty="0" sz="1200" spc="-10">
                <a:latin typeface="Arial"/>
                <a:cs typeface="Arial"/>
              </a:rPr>
              <a:t>who </a:t>
            </a:r>
            <a:r>
              <a:rPr dirty="0" sz="1200" spc="-5">
                <a:latin typeface="Arial"/>
                <a:cs typeface="Arial"/>
              </a:rPr>
              <a:t>suggested Umar </a:t>
            </a:r>
            <a:r>
              <a:rPr dirty="0" sz="1200">
                <a:latin typeface="Arial"/>
                <a:cs typeface="Arial"/>
              </a:rPr>
              <a:t>sort </a:t>
            </a:r>
            <a:r>
              <a:rPr dirty="0" sz="1200" spc="-5">
                <a:latin typeface="Arial"/>
                <a:cs typeface="Arial"/>
              </a:rPr>
              <a:t>out Muslims in his </a:t>
            </a:r>
            <a:r>
              <a:rPr dirty="0" sz="1200" spc="-10">
                <a:latin typeface="Arial"/>
                <a:cs typeface="Arial"/>
              </a:rPr>
              <a:t>own </a:t>
            </a:r>
            <a:r>
              <a:rPr dirty="0" sz="1200" spc="-5">
                <a:latin typeface="Arial"/>
                <a:cs typeface="Arial"/>
              </a:rPr>
              <a:t>family: his sister </a:t>
            </a:r>
            <a:r>
              <a:rPr dirty="0" sz="1200">
                <a:latin typeface="Arial"/>
                <a:cs typeface="Arial"/>
              </a:rPr>
              <a:t>and</a:t>
            </a:r>
            <a:r>
              <a:rPr dirty="0" sz="1200" spc="120">
                <a:latin typeface="Arial"/>
                <a:cs typeface="Arial"/>
              </a:rPr>
              <a:t> </a:t>
            </a:r>
            <a:r>
              <a:rPr dirty="0" sz="1200">
                <a:latin typeface="Arial"/>
                <a:cs typeface="Arial"/>
              </a:rPr>
              <a:t>husband</a:t>
            </a:r>
            <a:endParaRPr sz="1200">
              <a:latin typeface="Arial"/>
              <a:cs typeface="Arial"/>
            </a:endParaRPr>
          </a:p>
          <a:p>
            <a:pPr marL="469900" marR="5715" indent="-229235">
              <a:lnSpc>
                <a:spcPts val="1380"/>
              </a:lnSpc>
              <a:spcBef>
                <a:spcPts val="65"/>
              </a:spcBef>
              <a:buAutoNum type="arabicPeriod"/>
              <a:tabLst>
                <a:tab pos="470534" algn="l"/>
              </a:tabLst>
            </a:pPr>
            <a:r>
              <a:rPr dirty="0" sz="1200" spc="-5">
                <a:latin typeface="Arial"/>
                <a:cs typeface="Arial"/>
              </a:rPr>
              <a:t>Umar </a:t>
            </a:r>
            <a:r>
              <a:rPr dirty="0" sz="1200" spc="-10">
                <a:latin typeface="Arial"/>
                <a:cs typeface="Arial"/>
              </a:rPr>
              <a:t>angry; </a:t>
            </a:r>
            <a:r>
              <a:rPr dirty="0" sz="1200">
                <a:latin typeface="Arial"/>
                <a:cs typeface="Arial"/>
              </a:rPr>
              <a:t>Fatima </a:t>
            </a:r>
            <a:r>
              <a:rPr dirty="0" sz="1200" spc="-10">
                <a:latin typeface="Arial"/>
                <a:cs typeface="Arial"/>
              </a:rPr>
              <a:t>(his </a:t>
            </a:r>
            <a:r>
              <a:rPr dirty="0" sz="1200">
                <a:latin typeface="Arial"/>
                <a:cs typeface="Arial"/>
              </a:rPr>
              <a:t>sister) </a:t>
            </a:r>
            <a:r>
              <a:rPr dirty="0" sz="1200" spc="-5">
                <a:latin typeface="Arial"/>
                <a:cs typeface="Arial"/>
              </a:rPr>
              <a:t>hid pages of Qur‘an </a:t>
            </a:r>
            <a:r>
              <a:rPr dirty="0" sz="1200">
                <a:latin typeface="Arial"/>
                <a:cs typeface="Arial"/>
              </a:rPr>
              <a:t>she </a:t>
            </a:r>
            <a:r>
              <a:rPr dirty="0" sz="1200" spc="-5">
                <a:latin typeface="Arial"/>
                <a:cs typeface="Arial"/>
              </a:rPr>
              <a:t>was reading </a:t>
            </a:r>
            <a:r>
              <a:rPr dirty="0" sz="1200">
                <a:latin typeface="Arial"/>
                <a:cs typeface="Arial"/>
              </a:rPr>
              <a:t>but </a:t>
            </a:r>
            <a:r>
              <a:rPr dirty="0" sz="1200" spc="-5">
                <a:latin typeface="Arial"/>
                <a:cs typeface="Arial"/>
              </a:rPr>
              <a:t>Umar </a:t>
            </a:r>
            <a:r>
              <a:rPr dirty="0" sz="1200">
                <a:latin typeface="Arial"/>
                <a:cs typeface="Arial"/>
              </a:rPr>
              <a:t>saw  </a:t>
            </a:r>
            <a:r>
              <a:rPr dirty="0" sz="1200" spc="-5">
                <a:latin typeface="Arial"/>
                <a:cs typeface="Arial"/>
              </a:rPr>
              <a:t>them</a:t>
            </a:r>
            <a:endParaRPr sz="1200">
              <a:latin typeface="Arial"/>
              <a:cs typeface="Arial"/>
            </a:endParaRPr>
          </a:p>
          <a:p>
            <a:pPr marL="469900" marR="10795" indent="-229235">
              <a:lnSpc>
                <a:spcPts val="1380"/>
              </a:lnSpc>
              <a:buAutoNum type="arabicPeriod"/>
              <a:tabLst>
                <a:tab pos="470534" algn="l"/>
              </a:tabLst>
            </a:pPr>
            <a:r>
              <a:rPr dirty="0" sz="1200" spc="-5">
                <a:latin typeface="Arial"/>
                <a:cs typeface="Arial"/>
              </a:rPr>
              <a:t>He began hitting Sa‘id </a:t>
            </a:r>
            <a:r>
              <a:rPr dirty="0" sz="1200">
                <a:latin typeface="Arial"/>
                <a:cs typeface="Arial"/>
              </a:rPr>
              <a:t>(his </a:t>
            </a:r>
            <a:r>
              <a:rPr dirty="0" sz="1200" spc="-5">
                <a:latin typeface="Arial"/>
                <a:cs typeface="Arial"/>
              </a:rPr>
              <a:t>brother in law), Fatima defended </a:t>
            </a:r>
            <a:r>
              <a:rPr dirty="0" sz="1200">
                <a:latin typeface="Arial"/>
                <a:cs typeface="Arial"/>
              </a:rPr>
              <a:t>her </a:t>
            </a:r>
            <a:r>
              <a:rPr dirty="0" sz="1200" spc="-5">
                <a:latin typeface="Arial"/>
                <a:cs typeface="Arial"/>
              </a:rPr>
              <a:t>husband and she </a:t>
            </a:r>
            <a:r>
              <a:rPr dirty="0" sz="1200" spc="-10">
                <a:latin typeface="Arial"/>
                <a:cs typeface="Arial"/>
              </a:rPr>
              <a:t>got  </a:t>
            </a:r>
            <a:r>
              <a:rPr dirty="0" sz="1200" spc="-5">
                <a:latin typeface="Arial"/>
                <a:cs typeface="Arial"/>
              </a:rPr>
              <a:t>hit </a:t>
            </a:r>
            <a:r>
              <a:rPr dirty="0" sz="1200">
                <a:latin typeface="Arial"/>
                <a:cs typeface="Arial"/>
              </a:rPr>
              <a:t>by</a:t>
            </a:r>
            <a:r>
              <a:rPr dirty="0" sz="1200" spc="-15">
                <a:latin typeface="Arial"/>
                <a:cs typeface="Arial"/>
              </a:rPr>
              <a:t> </a:t>
            </a:r>
            <a:r>
              <a:rPr dirty="0" sz="1200">
                <a:latin typeface="Arial"/>
                <a:cs typeface="Arial"/>
              </a:rPr>
              <a:t>Umar</a:t>
            </a:r>
            <a:endParaRPr sz="1200">
              <a:latin typeface="Arial"/>
              <a:cs typeface="Arial"/>
            </a:endParaRPr>
          </a:p>
          <a:p>
            <a:pPr marL="469900" marR="5080" indent="-229235">
              <a:lnSpc>
                <a:spcPts val="1380"/>
              </a:lnSpc>
              <a:buAutoNum type="arabicPeriod"/>
              <a:tabLst>
                <a:tab pos="470534" algn="l"/>
              </a:tabLst>
            </a:pPr>
            <a:r>
              <a:rPr dirty="0" sz="1200" spc="-5">
                <a:latin typeface="Arial"/>
                <a:cs typeface="Arial"/>
              </a:rPr>
              <a:t>Umar </a:t>
            </a:r>
            <a:r>
              <a:rPr dirty="0" sz="1200" spc="-10">
                <a:latin typeface="Arial"/>
                <a:cs typeface="Arial"/>
              </a:rPr>
              <a:t>was </a:t>
            </a:r>
            <a:r>
              <a:rPr dirty="0" sz="1200" spc="-5">
                <a:latin typeface="Arial"/>
                <a:cs typeface="Arial"/>
              </a:rPr>
              <a:t>sorry and asked to read pages. </a:t>
            </a:r>
            <a:r>
              <a:rPr dirty="0" sz="1200">
                <a:latin typeface="Arial"/>
                <a:cs typeface="Arial"/>
              </a:rPr>
              <a:t>Fatima </a:t>
            </a:r>
            <a:r>
              <a:rPr dirty="0" sz="1200" spc="-5">
                <a:latin typeface="Arial"/>
                <a:cs typeface="Arial"/>
              </a:rPr>
              <a:t>did not trust </a:t>
            </a:r>
            <a:r>
              <a:rPr dirty="0" sz="1200" spc="-10">
                <a:latin typeface="Arial"/>
                <a:cs typeface="Arial"/>
              </a:rPr>
              <a:t>him </a:t>
            </a:r>
            <a:r>
              <a:rPr dirty="0" sz="1200" spc="10">
                <a:latin typeface="Arial"/>
                <a:cs typeface="Arial"/>
              </a:rPr>
              <a:t>and </a:t>
            </a:r>
            <a:r>
              <a:rPr dirty="0" sz="1200" spc="-5">
                <a:latin typeface="Arial"/>
                <a:cs typeface="Arial"/>
              </a:rPr>
              <a:t>told </a:t>
            </a:r>
            <a:r>
              <a:rPr dirty="0" sz="1200" spc="-10">
                <a:latin typeface="Arial"/>
                <a:cs typeface="Arial"/>
              </a:rPr>
              <a:t>him </a:t>
            </a:r>
            <a:r>
              <a:rPr dirty="0" sz="1200">
                <a:latin typeface="Arial"/>
                <a:cs typeface="Arial"/>
              </a:rPr>
              <a:t>to  take </a:t>
            </a:r>
            <a:r>
              <a:rPr dirty="0" sz="1200" spc="-5">
                <a:latin typeface="Arial"/>
                <a:cs typeface="Arial"/>
              </a:rPr>
              <a:t>off his sword wash</a:t>
            </a:r>
            <a:r>
              <a:rPr dirty="0" sz="1200" spc="5">
                <a:latin typeface="Arial"/>
                <a:cs typeface="Arial"/>
              </a:rPr>
              <a:t> </a:t>
            </a:r>
            <a:r>
              <a:rPr dirty="0" sz="1200" spc="-5">
                <a:latin typeface="Arial"/>
                <a:cs typeface="Arial"/>
              </a:rPr>
              <a:t>himself</a:t>
            </a:r>
            <a:endParaRPr sz="1200">
              <a:latin typeface="Arial"/>
              <a:cs typeface="Arial"/>
            </a:endParaRPr>
          </a:p>
          <a:p>
            <a:pPr marL="469900" indent="-229235">
              <a:lnSpc>
                <a:spcPts val="1310"/>
              </a:lnSpc>
              <a:buAutoNum type="arabicPeriod"/>
              <a:tabLst>
                <a:tab pos="470534" algn="l"/>
              </a:tabLst>
            </a:pPr>
            <a:r>
              <a:rPr dirty="0" sz="1200" spc="-5">
                <a:latin typeface="Arial"/>
                <a:cs typeface="Arial"/>
              </a:rPr>
              <a:t>He impressed by words </a:t>
            </a:r>
            <a:r>
              <a:rPr dirty="0" sz="1200">
                <a:latin typeface="Arial"/>
                <a:cs typeface="Arial"/>
              </a:rPr>
              <a:t>he </a:t>
            </a:r>
            <a:r>
              <a:rPr dirty="0" sz="1200" spc="-5">
                <a:latin typeface="Arial"/>
                <a:cs typeface="Arial"/>
              </a:rPr>
              <a:t>read of Surah</a:t>
            </a:r>
            <a:r>
              <a:rPr dirty="0" sz="1200">
                <a:latin typeface="Arial"/>
                <a:cs typeface="Arial"/>
              </a:rPr>
              <a:t> Ta-Ha</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Umar </a:t>
            </a:r>
            <a:r>
              <a:rPr dirty="0" sz="1200" spc="-10">
                <a:latin typeface="Arial"/>
                <a:cs typeface="Arial"/>
              </a:rPr>
              <a:t>went </a:t>
            </a:r>
            <a:r>
              <a:rPr dirty="0" sz="1200">
                <a:latin typeface="Arial"/>
                <a:cs typeface="Arial"/>
              </a:rPr>
              <a:t>to find</a:t>
            </a:r>
            <a:r>
              <a:rPr dirty="0" sz="1200" spc="-10">
                <a:latin typeface="Arial"/>
                <a:cs typeface="Arial"/>
              </a:rPr>
              <a:t> </a:t>
            </a:r>
            <a:r>
              <a:rPr dirty="0" sz="1200" spc="-5">
                <a:latin typeface="Arial"/>
                <a:cs typeface="Arial"/>
              </a:rPr>
              <a:t>Prophet</a:t>
            </a:r>
            <a:endParaRPr sz="1200">
              <a:latin typeface="Arial"/>
              <a:cs typeface="Arial"/>
            </a:endParaRPr>
          </a:p>
          <a:p>
            <a:pPr marL="469900" marR="11430" indent="-229235">
              <a:lnSpc>
                <a:spcPts val="1380"/>
              </a:lnSpc>
              <a:spcBef>
                <a:spcPts val="65"/>
              </a:spcBef>
              <a:buAutoNum type="arabicPeriod"/>
              <a:tabLst>
                <a:tab pos="470534" algn="l"/>
              </a:tabLst>
            </a:pPr>
            <a:r>
              <a:rPr dirty="0" sz="1200" spc="-5">
                <a:latin typeface="Arial"/>
                <a:cs typeface="Arial"/>
              </a:rPr>
              <a:t>The Prophet asked </a:t>
            </a:r>
            <a:r>
              <a:rPr dirty="0" sz="1200" spc="-10">
                <a:latin typeface="Arial"/>
                <a:cs typeface="Arial"/>
              </a:rPr>
              <a:t>why </a:t>
            </a:r>
            <a:r>
              <a:rPr dirty="0" sz="1200" spc="-5">
                <a:latin typeface="Arial"/>
                <a:cs typeface="Arial"/>
              </a:rPr>
              <a:t>he had come and Umar said </a:t>
            </a:r>
            <a:r>
              <a:rPr dirty="0" sz="1200">
                <a:latin typeface="Arial"/>
                <a:cs typeface="Arial"/>
              </a:rPr>
              <a:t>to </a:t>
            </a:r>
            <a:r>
              <a:rPr dirty="0" sz="1200" spc="-5">
                <a:latin typeface="Arial"/>
                <a:cs typeface="Arial"/>
              </a:rPr>
              <a:t>declare </a:t>
            </a:r>
            <a:r>
              <a:rPr dirty="0" sz="1200" spc="-10">
                <a:latin typeface="Arial"/>
                <a:cs typeface="Arial"/>
              </a:rPr>
              <a:t>his </a:t>
            </a:r>
            <a:r>
              <a:rPr dirty="0" sz="1200">
                <a:latin typeface="Arial"/>
                <a:cs typeface="Arial"/>
              </a:rPr>
              <a:t>faith </a:t>
            </a:r>
            <a:r>
              <a:rPr dirty="0" sz="1200" spc="-5">
                <a:latin typeface="Arial"/>
                <a:cs typeface="Arial"/>
              </a:rPr>
              <a:t>in Allah </a:t>
            </a:r>
            <a:r>
              <a:rPr dirty="0" sz="1200" spc="-10">
                <a:latin typeface="Arial"/>
                <a:cs typeface="Arial"/>
              </a:rPr>
              <a:t>and  </a:t>
            </a:r>
            <a:r>
              <a:rPr dirty="0" sz="1200" spc="-5">
                <a:latin typeface="Arial"/>
                <a:cs typeface="Arial"/>
              </a:rPr>
              <a:t>His Messenger</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Everyone rejoiced saying Allahu</a:t>
            </a:r>
            <a:r>
              <a:rPr dirty="0" sz="1200" spc="5">
                <a:latin typeface="Arial"/>
                <a:cs typeface="Arial"/>
              </a:rPr>
              <a:t> </a:t>
            </a:r>
            <a:r>
              <a:rPr dirty="0" sz="1200" spc="-5">
                <a:latin typeface="Arial"/>
                <a:cs typeface="Arial"/>
              </a:rPr>
              <a:t>Akbar</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a:t>
            </a:r>
            <a:r>
              <a:rPr dirty="0" sz="1200" spc="-10">
                <a:latin typeface="Arial"/>
                <a:cs typeface="Arial"/>
              </a:rPr>
              <a:t>was </a:t>
            </a:r>
            <a:r>
              <a:rPr dirty="0" sz="1200" spc="-5">
                <a:latin typeface="Arial"/>
                <a:cs typeface="Arial"/>
              </a:rPr>
              <a:t>told the Prophet </a:t>
            </a:r>
            <a:r>
              <a:rPr dirty="0" sz="1200" spc="-10">
                <a:latin typeface="Arial"/>
                <a:cs typeface="Arial"/>
              </a:rPr>
              <a:t>was </a:t>
            </a:r>
            <a:r>
              <a:rPr dirty="0" sz="1200" spc="-5">
                <a:latin typeface="Arial"/>
                <a:cs typeface="Arial"/>
              </a:rPr>
              <a:t>praying </a:t>
            </a:r>
            <a:r>
              <a:rPr dirty="0" sz="1200">
                <a:latin typeface="Arial"/>
                <a:cs typeface="Arial"/>
              </a:rPr>
              <a:t>to </a:t>
            </a:r>
            <a:r>
              <a:rPr dirty="0" sz="1200" spc="-5">
                <a:latin typeface="Arial"/>
                <a:cs typeface="Arial"/>
              </a:rPr>
              <a:t>Allah </a:t>
            </a:r>
            <a:r>
              <a:rPr dirty="0" sz="1200">
                <a:latin typeface="Arial"/>
                <a:cs typeface="Arial"/>
              </a:rPr>
              <a:t>to </a:t>
            </a:r>
            <a:r>
              <a:rPr dirty="0" sz="1200" spc="-5">
                <a:latin typeface="Arial"/>
                <a:cs typeface="Arial"/>
              </a:rPr>
              <a:t>strengthen Islam with</a:t>
            </a:r>
            <a:r>
              <a:rPr dirty="0" sz="1200" spc="80">
                <a:latin typeface="Arial"/>
                <a:cs typeface="Arial"/>
              </a:rPr>
              <a:t> </a:t>
            </a:r>
            <a:r>
              <a:rPr dirty="0" sz="1200" spc="-5">
                <a:latin typeface="Arial"/>
                <a:cs typeface="Arial"/>
              </a:rPr>
              <a:t>Umar</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From then on Muslims </a:t>
            </a:r>
            <a:r>
              <a:rPr dirty="0" sz="1200">
                <a:latin typeface="Arial"/>
                <a:cs typeface="Arial"/>
              </a:rPr>
              <a:t>felt </a:t>
            </a:r>
            <a:r>
              <a:rPr dirty="0" sz="1200" spc="-5">
                <a:latin typeface="Arial"/>
                <a:cs typeface="Arial"/>
              </a:rPr>
              <a:t>strong </a:t>
            </a:r>
            <a:r>
              <a:rPr dirty="0" sz="1200" spc="-10">
                <a:latin typeface="Arial"/>
                <a:cs typeface="Arial"/>
              </a:rPr>
              <a:t>enough </a:t>
            </a:r>
            <a:r>
              <a:rPr dirty="0" sz="1200">
                <a:latin typeface="Arial"/>
                <a:cs typeface="Arial"/>
              </a:rPr>
              <a:t>to </a:t>
            </a:r>
            <a:r>
              <a:rPr dirty="0" sz="1200" spc="-5">
                <a:latin typeface="Arial"/>
                <a:cs typeface="Arial"/>
              </a:rPr>
              <a:t>pray </a:t>
            </a:r>
            <a:r>
              <a:rPr dirty="0" sz="1200">
                <a:latin typeface="Arial"/>
                <a:cs typeface="Arial"/>
              </a:rPr>
              <a:t>at the</a:t>
            </a:r>
            <a:r>
              <a:rPr dirty="0" sz="1200" spc="10">
                <a:latin typeface="Arial"/>
                <a:cs typeface="Arial"/>
              </a:rPr>
              <a:t> </a:t>
            </a:r>
            <a:r>
              <a:rPr dirty="0" sz="1200" spc="-5">
                <a:latin typeface="Arial"/>
                <a:cs typeface="Arial"/>
              </a:rPr>
              <a:t>Kaaba</a:t>
            </a:r>
            <a:endParaRPr sz="1200">
              <a:latin typeface="Arial"/>
              <a:cs typeface="Arial"/>
            </a:endParaRPr>
          </a:p>
          <a:p>
            <a:pPr>
              <a:lnSpc>
                <a:spcPct val="100000"/>
              </a:lnSpc>
              <a:spcBef>
                <a:spcPts val="35"/>
              </a:spcBef>
            </a:pPr>
            <a:endParaRPr sz="1200">
              <a:latin typeface="Arial"/>
              <a:cs typeface="Arial"/>
            </a:endParaRPr>
          </a:p>
          <a:p>
            <a:pPr algn="just" marL="12700" marR="8890">
              <a:lnSpc>
                <a:spcPts val="1380"/>
              </a:lnSpc>
              <a:spcBef>
                <a:spcPts val="5"/>
              </a:spcBef>
            </a:pPr>
            <a:r>
              <a:rPr dirty="0" u="heavy" sz="1200" spc="-5" b="1" i="1">
                <a:uFill>
                  <a:solidFill>
                    <a:srgbClr val="000000"/>
                  </a:solidFill>
                </a:uFill>
                <a:latin typeface="Arial"/>
                <a:cs typeface="Arial"/>
              </a:rPr>
              <a:t>What made the four Rightly </a:t>
            </a:r>
            <a:r>
              <a:rPr dirty="0" u="heavy" sz="1200" b="1" i="1">
                <a:uFill>
                  <a:solidFill>
                    <a:srgbClr val="000000"/>
                  </a:solidFill>
                </a:uFill>
                <a:latin typeface="Arial"/>
                <a:cs typeface="Arial"/>
              </a:rPr>
              <a:t>Guided </a:t>
            </a:r>
            <a:r>
              <a:rPr dirty="0" u="heavy" sz="1200" spc="-5" b="1" i="1">
                <a:uFill>
                  <a:solidFill>
                    <a:srgbClr val="000000"/>
                  </a:solidFill>
                </a:uFill>
                <a:latin typeface="Arial"/>
                <a:cs typeface="Arial"/>
              </a:rPr>
              <a:t>Caliphs (Khulafa al </a:t>
            </a:r>
            <a:r>
              <a:rPr dirty="0" u="heavy" sz="1200" b="1" i="1">
                <a:uFill>
                  <a:solidFill>
                    <a:srgbClr val="000000"/>
                  </a:solidFill>
                </a:uFill>
                <a:latin typeface="Arial"/>
                <a:cs typeface="Arial"/>
              </a:rPr>
              <a:t>Rashidun) special in </a:t>
            </a:r>
            <a:r>
              <a:rPr dirty="0" u="heavy" sz="1200" spc="-5" b="1" i="1">
                <a:uFill>
                  <a:solidFill>
                    <a:srgbClr val="000000"/>
                  </a:solidFill>
                </a:uFill>
                <a:latin typeface="Arial"/>
                <a:cs typeface="Arial"/>
              </a:rPr>
              <a:t>Muslim </a:t>
            </a:r>
            <a:r>
              <a:rPr dirty="0" sz="1200" spc="-5" b="1" i="1">
                <a:latin typeface="Arial"/>
                <a:cs typeface="Arial"/>
              </a:rPr>
              <a:t> </a:t>
            </a:r>
            <a:r>
              <a:rPr dirty="0" u="heavy" sz="1200" spc="-5" b="1" i="1">
                <a:uFill>
                  <a:solidFill>
                    <a:srgbClr val="000000"/>
                  </a:solidFill>
                </a:uFill>
                <a:latin typeface="Arial"/>
                <a:cs typeface="Arial"/>
              </a:rPr>
              <a:t>history?</a:t>
            </a:r>
            <a:endParaRPr sz="1200">
              <a:latin typeface="Arial"/>
              <a:cs typeface="Arial"/>
            </a:endParaRPr>
          </a:p>
          <a:p>
            <a:pPr>
              <a:lnSpc>
                <a:spcPct val="100000"/>
              </a:lnSpc>
              <a:spcBef>
                <a:spcPts val="1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They were </a:t>
            </a:r>
            <a:r>
              <a:rPr dirty="0" sz="1200">
                <a:latin typeface="Arial"/>
                <a:cs typeface="Arial"/>
              </a:rPr>
              <a:t>of </a:t>
            </a:r>
            <a:r>
              <a:rPr dirty="0" sz="1200" spc="-5">
                <a:latin typeface="Arial"/>
                <a:cs typeface="Arial"/>
              </a:rPr>
              <a:t>exemplary </a:t>
            </a:r>
            <a:r>
              <a:rPr dirty="0" sz="1200">
                <a:latin typeface="Arial"/>
                <a:cs typeface="Arial"/>
              </a:rPr>
              <a:t>personal</a:t>
            </a:r>
            <a:r>
              <a:rPr dirty="0" sz="1200" spc="-15">
                <a:latin typeface="Arial"/>
                <a:cs typeface="Arial"/>
              </a:rPr>
              <a:t> </a:t>
            </a:r>
            <a:r>
              <a:rPr dirty="0" sz="1200" spc="-5">
                <a:latin typeface="Arial"/>
                <a:cs typeface="Arial"/>
              </a:rPr>
              <a:t>character</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followed the Qur‘an and</a:t>
            </a:r>
            <a:r>
              <a:rPr dirty="0" sz="1200" spc="-15">
                <a:latin typeface="Arial"/>
                <a:cs typeface="Arial"/>
              </a:rPr>
              <a:t> </a:t>
            </a:r>
            <a:r>
              <a:rPr dirty="0" sz="1200" spc="-5">
                <a:latin typeface="Arial"/>
                <a:cs typeface="Arial"/>
              </a:rPr>
              <a:t>Sunnah</a:t>
            </a:r>
            <a:endParaRPr sz="1200">
              <a:latin typeface="Arial"/>
              <a:cs typeface="Arial"/>
            </a:endParaRPr>
          </a:p>
          <a:p>
            <a:pPr marL="469900" marR="6985" indent="-229235">
              <a:lnSpc>
                <a:spcPts val="1380"/>
              </a:lnSpc>
              <a:spcBef>
                <a:spcPts val="70"/>
              </a:spcBef>
              <a:buAutoNum type="arabicPeriod"/>
              <a:tabLst>
                <a:tab pos="470534" algn="l"/>
              </a:tabLst>
            </a:pPr>
            <a:r>
              <a:rPr dirty="0" sz="1200" spc="-5">
                <a:latin typeface="Arial"/>
                <a:cs typeface="Arial"/>
              </a:rPr>
              <a:t>They had </a:t>
            </a:r>
            <a:r>
              <a:rPr dirty="0" sz="1200" spc="-10">
                <a:latin typeface="Arial"/>
                <a:cs typeface="Arial"/>
              </a:rPr>
              <a:t>known </a:t>
            </a:r>
            <a:r>
              <a:rPr dirty="0" sz="1200">
                <a:latin typeface="Arial"/>
                <a:cs typeface="Arial"/>
              </a:rPr>
              <a:t>the </a:t>
            </a:r>
            <a:r>
              <a:rPr dirty="0" sz="1200" spc="-5">
                <a:latin typeface="Arial"/>
                <a:cs typeface="Arial"/>
              </a:rPr>
              <a:t>Prophet at close quarters so had model to follow </a:t>
            </a:r>
            <a:r>
              <a:rPr dirty="0" sz="1200">
                <a:latin typeface="Arial"/>
                <a:cs typeface="Arial"/>
              </a:rPr>
              <a:t>– they </a:t>
            </a:r>
            <a:r>
              <a:rPr dirty="0" sz="1200" spc="-5">
                <a:latin typeface="Arial"/>
                <a:cs typeface="Arial"/>
              </a:rPr>
              <a:t>were  Ashab</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They lived </a:t>
            </a:r>
            <a:r>
              <a:rPr dirty="0" sz="1200">
                <a:latin typeface="Arial"/>
                <a:cs typeface="Arial"/>
              </a:rPr>
              <a:t>simply just </a:t>
            </a:r>
            <a:r>
              <a:rPr dirty="0" sz="1200" spc="-5">
                <a:latin typeface="Arial"/>
                <a:cs typeface="Arial"/>
              </a:rPr>
              <a:t>as the prophet had done</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There </a:t>
            </a:r>
            <a:r>
              <a:rPr dirty="0" sz="1200" spc="-10">
                <a:latin typeface="Arial"/>
                <a:cs typeface="Arial"/>
              </a:rPr>
              <a:t>was </a:t>
            </a:r>
            <a:r>
              <a:rPr dirty="0" sz="1200" spc="-5">
                <a:latin typeface="Arial"/>
                <a:cs typeface="Arial"/>
              </a:rPr>
              <a:t>election </a:t>
            </a:r>
            <a:r>
              <a:rPr dirty="0" sz="1200">
                <a:latin typeface="Arial"/>
                <a:cs typeface="Arial"/>
              </a:rPr>
              <a:t>by</a:t>
            </a:r>
            <a:r>
              <a:rPr dirty="0" sz="1200" spc="10">
                <a:latin typeface="Arial"/>
                <a:cs typeface="Arial"/>
              </a:rPr>
              <a:t> </a:t>
            </a:r>
            <a:r>
              <a:rPr dirty="0" sz="1200" spc="-5">
                <a:latin typeface="Arial"/>
                <a:cs typeface="Arial"/>
              </a:rPr>
              <a:t>Majlis-e-Shura</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40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900" cy="9163050"/>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469900" indent="-229235">
              <a:lnSpc>
                <a:spcPts val="1410"/>
              </a:lnSpc>
              <a:spcBef>
                <a:spcPts val="5"/>
              </a:spcBef>
              <a:buAutoNum type="arabicPeriod" startAt="6"/>
              <a:tabLst>
                <a:tab pos="470534" algn="l"/>
              </a:tabLst>
            </a:pPr>
            <a:r>
              <a:rPr dirty="0" sz="1200">
                <a:latin typeface="Arial"/>
                <a:cs typeface="Arial"/>
              </a:rPr>
              <a:t>After </a:t>
            </a:r>
            <a:r>
              <a:rPr dirty="0" sz="1200" spc="-5">
                <a:latin typeface="Arial"/>
                <a:cs typeface="Arial"/>
              </a:rPr>
              <a:t>taking oath of allegiance each one reaffirmed their adherence to</a:t>
            </a:r>
            <a:r>
              <a:rPr dirty="0" sz="1200" spc="80">
                <a:latin typeface="Arial"/>
                <a:cs typeface="Arial"/>
              </a:rPr>
              <a:t> </a:t>
            </a:r>
            <a:r>
              <a:rPr dirty="0" sz="1200" spc="-5">
                <a:latin typeface="Arial"/>
                <a:cs typeface="Arial"/>
              </a:rPr>
              <a:t>Islam</a:t>
            </a:r>
            <a:endParaRPr sz="1200">
              <a:latin typeface="Arial"/>
              <a:cs typeface="Arial"/>
            </a:endParaRPr>
          </a:p>
          <a:p>
            <a:pPr marL="469900" indent="-229235">
              <a:lnSpc>
                <a:spcPts val="1380"/>
              </a:lnSpc>
              <a:buAutoNum type="arabicPeriod" startAt="6"/>
              <a:tabLst>
                <a:tab pos="470534" algn="l"/>
              </a:tabLst>
            </a:pPr>
            <a:r>
              <a:rPr dirty="0" sz="1200" spc="-5">
                <a:latin typeface="Arial"/>
                <a:cs typeface="Arial"/>
              </a:rPr>
              <a:t>They were available </a:t>
            </a:r>
            <a:r>
              <a:rPr dirty="0" sz="1200">
                <a:latin typeface="Arial"/>
                <a:cs typeface="Arial"/>
              </a:rPr>
              <a:t>to </a:t>
            </a:r>
            <a:r>
              <a:rPr dirty="0" sz="1200" spc="-5">
                <a:latin typeface="Arial"/>
                <a:cs typeface="Arial"/>
              </a:rPr>
              <a:t>the common man </a:t>
            </a:r>
            <a:r>
              <a:rPr dirty="0" sz="1200">
                <a:latin typeface="Arial"/>
                <a:cs typeface="Arial"/>
              </a:rPr>
              <a:t>at </a:t>
            </a:r>
            <a:r>
              <a:rPr dirty="0" sz="1200" spc="-5">
                <a:latin typeface="Arial"/>
                <a:cs typeface="Arial"/>
              </a:rPr>
              <a:t>any</a:t>
            </a:r>
            <a:r>
              <a:rPr dirty="0" sz="1200" spc="-15">
                <a:latin typeface="Arial"/>
                <a:cs typeface="Arial"/>
              </a:rPr>
              <a:t> </a:t>
            </a:r>
            <a:r>
              <a:rPr dirty="0" sz="1200">
                <a:latin typeface="Arial"/>
                <a:cs typeface="Arial"/>
              </a:rPr>
              <a:t>time</a:t>
            </a:r>
            <a:endParaRPr sz="1200">
              <a:latin typeface="Arial"/>
              <a:cs typeface="Arial"/>
            </a:endParaRPr>
          </a:p>
          <a:p>
            <a:pPr marL="469900" marR="12065" indent="-228600">
              <a:lnSpc>
                <a:spcPts val="1380"/>
              </a:lnSpc>
              <a:spcBef>
                <a:spcPts val="65"/>
              </a:spcBef>
              <a:buAutoNum type="arabicPeriod" startAt="6"/>
              <a:tabLst>
                <a:tab pos="470534" algn="l"/>
              </a:tabLst>
            </a:pPr>
            <a:r>
              <a:rPr dirty="0" sz="1200" spc="-5">
                <a:latin typeface="Arial"/>
                <a:cs typeface="Arial"/>
              </a:rPr>
              <a:t>They asked Muslims to obey him only so long as </a:t>
            </a:r>
            <a:r>
              <a:rPr dirty="0" sz="1200" spc="-10">
                <a:latin typeface="Arial"/>
                <a:cs typeface="Arial"/>
              </a:rPr>
              <a:t>he </a:t>
            </a:r>
            <a:r>
              <a:rPr dirty="0" sz="1200" spc="-5">
                <a:latin typeface="Arial"/>
                <a:cs typeface="Arial"/>
              </a:rPr>
              <a:t>followed </a:t>
            </a:r>
            <a:r>
              <a:rPr dirty="0" sz="1200">
                <a:latin typeface="Arial"/>
                <a:cs typeface="Arial"/>
              </a:rPr>
              <a:t>Islam </a:t>
            </a:r>
            <a:r>
              <a:rPr dirty="0" sz="1200" spc="-5">
                <a:latin typeface="Arial"/>
                <a:cs typeface="Arial"/>
              </a:rPr>
              <a:t>e.g. Abu Bakr  when</a:t>
            </a:r>
            <a:r>
              <a:rPr dirty="0" sz="1200">
                <a:latin typeface="Arial"/>
                <a:cs typeface="Arial"/>
              </a:rPr>
              <a:t> </a:t>
            </a:r>
            <a:r>
              <a:rPr dirty="0" sz="1200" spc="-5">
                <a:latin typeface="Arial"/>
                <a:cs typeface="Arial"/>
              </a:rPr>
              <a:t>elected</a:t>
            </a:r>
            <a:endParaRPr sz="1200">
              <a:latin typeface="Arial"/>
              <a:cs typeface="Arial"/>
            </a:endParaRPr>
          </a:p>
          <a:p>
            <a:pPr marL="469900" marR="5080" indent="-228600">
              <a:lnSpc>
                <a:spcPts val="1380"/>
              </a:lnSpc>
              <a:buAutoNum type="arabicPeriod" startAt="6"/>
              <a:tabLst>
                <a:tab pos="470534" algn="l"/>
              </a:tabLst>
            </a:pPr>
            <a:r>
              <a:rPr dirty="0" sz="1200" spc="-5">
                <a:latin typeface="Arial"/>
                <a:cs typeface="Arial"/>
              </a:rPr>
              <a:t>They promoted healthy pattern of </a:t>
            </a:r>
            <a:r>
              <a:rPr dirty="0" sz="1200" spc="-10">
                <a:latin typeface="Arial"/>
                <a:cs typeface="Arial"/>
              </a:rPr>
              <a:t>democracy, </a:t>
            </a:r>
            <a:r>
              <a:rPr dirty="0" sz="1200" spc="-5">
                <a:latin typeface="Arial"/>
                <a:cs typeface="Arial"/>
              </a:rPr>
              <a:t>consultation </a:t>
            </a:r>
            <a:r>
              <a:rPr dirty="0" sz="1200" spc="-10">
                <a:latin typeface="Arial"/>
                <a:cs typeface="Arial"/>
              </a:rPr>
              <a:t>was </a:t>
            </a:r>
            <a:r>
              <a:rPr dirty="0" sz="1200">
                <a:latin typeface="Arial"/>
                <a:cs typeface="Arial"/>
              </a:rPr>
              <a:t>the </a:t>
            </a:r>
            <a:r>
              <a:rPr dirty="0" sz="1200" spc="-5">
                <a:latin typeface="Arial"/>
                <a:cs typeface="Arial"/>
              </a:rPr>
              <a:t>basis of this  society</a:t>
            </a:r>
            <a:endParaRPr sz="1200">
              <a:latin typeface="Arial"/>
              <a:cs typeface="Arial"/>
            </a:endParaRPr>
          </a:p>
          <a:p>
            <a:pPr marL="469900" marR="11430" indent="-228600">
              <a:lnSpc>
                <a:spcPts val="1380"/>
              </a:lnSpc>
              <a:buAutoNum type="arabicPeriod" startAt="6"/>
              <a:tabLst>
                <a:tab pos="470534" algn="l"/>
              </a:tabLst>
            </a:pPr>
            <a:r>
              <a:rPr dirty="0" sz="1200" spc="-5">
                <a:latin typeface="Arial"/>
                <a:cs typeface="Arial"/>
              </a:rPr>
              <a:t>They </a:t>
            </a:r>
            <a:r>
              <a:rPr dirty="0" sz="1200">
                <a:latin typeface="Arial"/>
                <a:cs typeface="Arial"/>
              </a:rPr>
              <a:t>treated </a:t>
            </a:r>
            <a:r>
              <a:rPr dirty="0" sz="1200" spc="-5">
                <a:latin typeface="Arial"/>
                <a:cs typeface="Arial"/>
              </a:rPr>
              <a:t>their Caliphate </a:t>
            </a:r>
            <a:r>
              <a:rPr dirty="0" sz="1200">
                <a:latin typeface="Arial"/>
                <a:cs typeface="Arial"/>
              </a:rPr>
              <a:t>as a </a:t>
            </a:r>
            <a:r>
              <a:rPr dirty="0" sz="1200" spc="-60">
                <a:latin typeface="Arial"/>
                <a:cs typeface="Arial"/>
              </a:rPr>
              <a:t>‗trust‘ </a:t>
            </a:r>
            <a:r>
              <a:rPr dirty="0" sz="1200" spc="-5">
                <a:latin typeface="Arial"/>
                <a:cs typeface="Arial"/>
              </a:rPr>
              <a:t>given to them </a:t>
            </a:r>
            <a:r>
              <a:rPr dirty="0" sz="1200">
                <a:latin typeface="Arial"/>
                <a:cs typeface="Arial"/>
              </a:rPr>
              <a:t>by </a:t>
            </a:r>
            <a:r>
              <a:rPr dirty="0" sz="1200" spc="-5">
                <a:latin typeface="Arial"/>
                <a:cs typeface="Arial"/>
              </a:rPr>
              <a:t>Allah </a:t>
            </a:r>
            <a:r>
              <a:rPr dirty="0" sz="1200">
                <a:latin typeface="Arial"/>
                <a:cs typeface="Arial"/>
              </a:rPr>
              <a:t>not </a:t>
            </a:r>
            <a:r>
              <a:rPr dirty="0" sz="1200" spc="-5">
                <a:latin typeface="Arial"/>
                <a:cs typeface="Arial"/>
              </a:rPr>
              <a:t>inherited like </a:t>
            </a:r>
            <a:r>
              <a:rPr dirty="0" sz="1200">
                <a:latin typeface="Arial"/>
                <a:cs typeface="Arial"/>
              </a:rPr>
              <a:t>a  </a:t>
            </a:r>
            <a:r>
              <a:rPr dirty="0" sz="1200" spc="-5">
                <a:latin typeface="Arial"/>
                <a:cs typeface="Arial"/>
              </a:rPr>
              <a:t>monarchy</a:t>
            </a:r>
            <a:endParaRPr sz="1200">
              <a:latin typeface="Arial"/>
              <a:cs typeface="Arial"/>
            </a:endParaRPr>
          </a:p>
          <a:p>
            <a:pPr marL="469900" indent="-229235">
              <a:lnSpc>
                <a:spcPts val="1315"/>
              </a:lnSpc>
              <a:buAutoNum type="arabicPeriod" startAt="6"/>
              <a:tabLst>
                <a:tab pos="470534" algn="l"/>
              </a:tabLst>
            </a:pPr>
            <a:r>
              <a:rPr dirty="0" sz="1200" spc="-5">
                <a:latin typeface="Arial"/>
                <a:cs typeface="Arial"/>
              </a:rPr>
              <a:t>They were good administrators</a:t>
            </a:r>
            <a:endParaRPr sz="1200">
              <a:latin typeface="Arial"/>
              <a:cs typeface="Arial"/>
            </a:endParaRPr>
          </a:p>
          <a:p>
            <a:pPr marL="469900" indent="-229235">
              <a:lnSpc>
                <a:spcPts val="1380"/>
              </a:lnSpc>
              <a:buAutoNum type="arabicPeriod" startAt="6"/>
              <a:tabLst>
                <a:tab pos="470534" algn="l"/>
              </a:tabLst>
            </a:pPr>
            <a:r>
              <a:rPr dirty="0" sz="1200" spc="-5">
                <a:latin typeface="Arial"/>
                <a:cs typeface="Arial"/>
              </a:rPr>
              <a:t>Basic human rights of all citizens were</a:t>
            </a:r>
            <a:r>
              <a:rPr dirty="0" sz="1200" spc="15">
                <a:latin typeface="Arial"/>
                <a:cs typeface="Arial"/>
              </a:rPr>
              <a:t> </a:t>
            </a:r>
            <a:r>
              <a:rPr dirty="0" sz="1200" spc="-5">
                <a:latin typeface="Arial"/>
                <a:cs typeface="Arial"/>
              </a:rPr>
              <a:t>guaranteed</a:t>
            </a:r>
            <a:endParaRPr sz="1200">
              <a:latin typeface="Arial"/>
              <a:cs typeface="Arial"/>
            </a:endParaRPr>
          </a:p>
          <a:p>
            <a:pPr marL="469900" indent="-229235">
              <a:lnSpc>
                <a:spcPts val="1380"/>
              </a:lnSpc>
              <a:buAutoNum type="arabicPeriod" startAt="6"/>
              <a:tabLst>
                <a:tab pos="470534" algn="l"/>
              </a:tabLst>
            </a:pPr>
            <a:r>
              <a:rPr dirty="0" sz="1200" spc="-5">
                <a:latin typeface="Arial"/>
                <a:cs typeface="Arial"/>
              </a:rPr>
              <a:t>Non-Muslims enjoyed freedom of opinion, property </a:t>
            </a:r>
            <a:r>
              <a:rPr dirty="0" sz="1200">
                <a:latin typeface="Arial"/>
                <a:cs typeface="Arial"/>
              </a:rPr>
              <a:t>and</a:t>
            </a:r>
            <a:r>
              <a:rPr dirty="0" sz="1200" spc="20">
                <a:latin typeface="Arial"/>
                <a:cs typeface="Arial"/>
              </a:rPr>
              <a:t> </a:t>
            </a:r>
            <a:r>
              <a:rPr dirty="0" sz="1200" spc="-5">
                <a:latin typeface="Arial"/>
                <a:cs typeface="Arial"/>
              </a:rPr>
              <a:t>religion</a:t>
            </a:r>
            <a:endParaRPr sz="1200">
              <a:latin typeface="Arial"/>
              <a:cs typeface="Arial"/>
            </a:endParaRPr>
          </a:p>
          <a:p>
            <a:pPr marL="469900" indent="-229235">
              <a:lnSpc>
                <a:spcPts val="1380"/>
              </a:lnSpc>
              <a:buAutoNum type="arabicPeriod" startAt="6"/>
              <a:tabLst>
                <a:tab pos="470534" algn="l"/>
              </a:tabLst>
            </a:pPr>
            <a:r>
              <a:rPr dirty="0" sz="1200" spc="-5">
                <a:latin typeface="Arial"/>
                <a:cs typeface="Arial"/>
              </a:rPr>
              <a:t>They themselves </a:t>
            </a:r>
            <a:r>
              <a:rPr dirty="0" sz="1200">
                <a:latin typeface="Arial"/>
                <a:cs typeface="Arial"/>
              </a:rPr>
              <a:t>took </a:t>
            </a:r>
            <a:r>
              <a:rPr dirty="0" sz="1200" spc="-5">
                <a:latin typeface="Arial"/>
                <a:cs typeface="Arial"/>
              </a:rPr>
              <a:t>advice from </a:t>
            </a:r>
            <a:r>
              <a:rPr dirty="0" sz="1200">
                <a:latin typeface="Arial"/>
                <a:cs typeface="Arial"/>
              </a:rPr>
              <a:t>the</a:t>
            </a:r>
            <a:r>
              <a:rPr dirty="0" sz="1200" spc="-10">
                <a:latin typeface="Arial"/>
                <a:cs typeface="Arial"/>
              </a:rPr>
              <a:t> </a:t>
            </a:r>
            <a:r>
              <a:rPr dirty="0" sz="1200" spc="-5">
                <a:latin typeface="Arial"/>
                <a:cs typeface="Arial"/>
              </a:rPr>
              <a:t>Shura</a:t>
            </a:r>
            <a:endParaRPr sz="1200">
              <a:latin typeface="Arial"/>
              <a:cs typeface="Arial"/>
            </a:endParaRPr>
          </a:p>
          <a:p>
            <a:pPr algn="just" marL="469900" marR="7620" indent="-228600">
              <a:lnSpc>
                <a:spcPct val="95900"/>
              </a:lnSpc>
              <a:spcBef>
                <a:spcPts val="30"/>
              </a:spcBef>
              <a:buAutoNum type="arabicPeriod" startAt="6"/>
              <a:tabLst>
                <a:tab pos="470534" algn="l"/>
              </a:tabLst>
            </a:pPr>
            <a:r>
              <a:rPr dirty="0" sz="1200">
                <a:latin typeface="Arial"/>
                <a:cs typeface="Arial"/>
              </a:rPr>
              <a:t>If </a:t>
            </a:r>
            <a:r>
              <a:rPr dirty="0" sz="1200" spc="-5">
                <a:latin typeface="Arial"/>
                <a:cs typeface="Arial"/>
              </a:rPr>
              <a:t>problem arose, they looked </a:t>
            </a:r>
            <a:r>
              <a:rPr dirty="0" sz="1200">
                <a:latin typeface="Arial"/>
                <a:cs typeface="Arial"/>
              </a:rPr>
              <a:t>for </a:t>
            </a:r>
            <a:r>
              <a:rPr dirty="0" sz="1200" spc="-5">
                <a:latin typeface="Arial"/>
                <a:cs typeface="Arial"/>
              </a:rPr>
              <a:t>solution in Qur‘an, then endeavoured </a:t>
            </a:r>
            <a:r>
              <a:rPr dirty="0" sz="1200">
                <a:latin typeface="Arial"/>
                <a:cs typeface="Arial"/>
              </a:rPr>
              <a:t>to </a:t>
            </a:r>
            <a:r>
              <a:rPr dirty="0" sz="1200" spc="-5">
                <a:latin typeface="Arial"/>
                <a:cs typeface="Arial"/>
              </a:rPr>
              <a:t>implement a  welfare state which would promote brotherhood, equality, prosperity without  differentiation </a:t>
            </a:r>
            <a:r>
              <a:rPr dirty="0" sz="1200">
                <a:latin typeface="Arial"/>
                <a:cs typeface="Arial"/>
              </a:rPr>
              <a:t>or</a:t>
            </a:r>
            <a:r>
              <a:rPr dirty="0" sz="1200" spc="5">
                <a:latin typeface="Arial"/>
                <a:cs typeface="Arial"/>
              </a:rPr>
              <a:t> </a:t>
            </a:r>
            <a:r>
              <a:rPr dirty="0" sz="1200" spc="-5">
                <a:latin typeface="Arial"/>
                <a:cs typeface="Arial"/>
              </a:rPr>
              <a:t>discrimination</a:t>
            </a:r>
            <a:endParaRPr sz="1200">
              <a:latin typeface="Arial"/>
              <a:cs typeface="Arial"/>
            </a:endParaRPr>
          </a:p>
          <a:p>
            <a:pPr marL="469900" indent="-229235">
              <a:lnSpc>
                <a:spcPts val="1350"/>
              </a:lnSpc>
              <a:buAutoNum type="arabicPeriod" startAt="6"/>
              <a:tabLst>
                <a:tab pos="470534" algn="l"/>
              </a:tabLst>
            </a:pPr>
            <a:r>
              <a:rPr dirty="0" sz="1200" spc="-5">
                <a:latin typeface="Arial"/>
                <a:cs typeface="Arial"/>
              </a:rPr>
              <a:t>The Baitul Mal [treasury] </a:t>
            </a:r>
            <a:r>
              <a:rPr dirty="0" sz="1200" spc="-10">
                <a:latin typeface="Arial"/>
                <a:cs typeface="Arial"/>
              </a:rPr>
              <a:t>was </a:t>
            </a:r>
            <a:r>
              <a:rPr dirty="0" sz="1200" spc="-5">
                <a:latin typeface="Arial"/>
                <a:cs typeface="Arial"/>
              </a:rPr>
              <a:t>not considered property of the</a:t>
            </a:r>
            <a:r>
              <a:rPr dirty="0" sz="1200" spc="70">
                <a:latin typeface="Arial"/>
                <a:cs typeface="Arial"/>
              </a:rPr>
              <a:t> </a:t>
            </a:r>
            <a:r>
              <a:rPr dirty="0" sz="1200" spc="-5">
                <a:latin typeface="Arial"/>
                <a:cs typeface="Arial"/>
              </a:rPr>
              <a:t>Caliph</a:t>
            </a:r>
            <a:endParaRPr sz="1200">
              <a:latin typeface="Arial"/>
              <a:cs typeface="Arial"/>
            </a:endParaRPr>
          </a:p>
          <a:p>
            <a:pPr marL="469900" indent="-229235">
              <a:lnSpc>
                <a:spcPts val="1380"/>
              </a:lnSpc>
              <a:buAutoNum type="arabicPeriod" startAt="6"/>
              <a:tabLst>
                <a:tab pos="470534" algn="l"/>
              </a:tabLst>
            </a:pPr>
            <a:r>
              <a:rPr dirty="0" sz="1200" spc="-5">
                <a:latin typeface="Arial"/>
                <a:cs typeface="Arial"/>
              </a:rPr>
              <a:t>They received </a:t>
            </a:r>
            <a:r>
              <a:rPr dirty="0" sz="1200">
                <a:latin typeface="Arial"/>
                <a:cs typeface="Arial"/>
              </a:rPr>
              <a:t>small</a:t>
            </a:r>
            <a:r>
              <a:rPr dirty="0" sz="1200" spc="-10">
                <a:latin typeface="Arial"/>
                <a:cs typeface="Arial"/>
              </a:rPr>
              <a:t> </a:t>
            </a:r>
            <a:r>
              <a:rPr dirty="0" sz="1200" spc="-5">
                <a:latin typeface="Arial"/>
                <a:cs typeface="Arial"/>
              </a:rPr>
              <a:t>allowance</a:t>
            </a:r>
            <a:endParaRPr sz="1200">
              <a:latin typeface="Arial"/>
              <a:cs typeface="Arial"/>
            </a:endParaRPr>
          </a:p>
          <a:p>
            <a:pPr marL="469900" indent="-229235">
              <a:lnSpc>
                <a:spcPts val="1380"/>
              </a:lnSpc>
              <a:buAutoNum type="arabicPeriod" startAt="6"/>
              <a:tabLst>
                <a:tab pos="470534" algn="l"/>
              </a:tabLst>
            </a:pPr>
            <a:r>
              <a:rPr dirty="0" sz="1200" spc="-5">
                <a:latin typeface="Arial"/>
                <a:cs typeface="Arial"/>
              </a:rPr>
              <a:t>Contribution in </a:t>
            </a:r>
            <a:r>
              <a:rPr dirty="0" sz="1200">
                <a:latin typeface="Arial"/>
                <a:cs typeface="Arial"/>
              </a:rPr>
              <a:t>the </a:t>
            </a:r>
            <a:r>
              <a:rPr dirty="0" sz="1200" spc="-5">
                <a:latin typeface="Arial"/>
                <a:cs typeface="Arial"/>
              </a:rPr>
              <a:t>compilation of the</a:t>
            </a:r>
            <a:r>
              <a:rPr dirty="0" sz="1200">
                <a:latin typeface="Arial"/>
                <a:cs typeface="Arial"/>
              </a:rPr>
              <a:t> </a:t>
            </a:r>
            <a:r>
              <a:rPr dirty="0" sz="1200" spc="-5">
                <a:latin typeface="Arial"/>
                <a:cs typeface="Arial"/>
              </a:rPr>
              <a:t>Qur‘an</a:t>
            </a:r>
            <a:endParaRPr sz="1200">
              <a:latin typeface="Arial"/>
              <a:cs typeface="Arial"/>
            </a:endParaRPr>
          </a:p>
          <a:p>
            <a:pPr marL="469900" marR="12065" indent="-228600">
              <a:lnSpc>
                <a:spcPts val="1380"/>
              </a:lnSpc>
              <a:spcBef>
                <a:spcPts val="65"/>
              </a:spcBef>
              <a:buAutoNum type="arabicPeriod" startAt="6"/>
              <a:tabLst>
                <a:tab pos="470534" algn="l"/>
              </a:tabLst>
            </a:pPr>
            <a:r>
              <a:rPr dirty="0" sz="1200">
                <a:latin typeface="Arial"/>
                <a:cs typeface="Arial"/>
              </a:rPr>
              <a:t>For </a:t>
            </a:r>
            <a:r>
              <a:rPr dirty="0" sz="1200" spc="-5">
                <a:latin typeface="Arial"/>
                <a:cs typeface="Arial"/>
              </a:rPr>
              <a:t>individual achievements e.g. Umar wandering around Medina at night </a:t>
            </a:r>
            <a:r>
              <a:rPr dirty="0" sz="1200">
                <a:latin typeface="Arial"/>
                <a:cs typeface="Arial"/>
              </a:rPr>
              <a:t>to </a:t>
            </a:r>
            <a:r>
              <a:rPr dirty="0" sz="1200" spc="-5">
                <a:latin typeface="Arial"/>
                <a:cs typeface="Arial"/>
              </a:rPr>
              <a:t>see how  people were</a:t>
            </a:r>
            <a:r>
              <a:rPr dirty="0" sz="1200">
                <a:latin typeface="Arial"/>
                <a:cs typeface="Arial"/>
              </a:rPr>
              <a:t> doing</a:t>
            </a:r>
            <a:endParaRPr sz="1200">
              <a:latin typeface="Arial"/>
              <a:cs typeface="Arial"/>
            </a:endParaRPr>
          </a:p>
          <a:p>
            <a:pPr>
              <a:lnSpc>
                <a:spcPct val="100000"/>
              </a:lnSpc>
            </a:pPr>
            <a:endParaRPr sz="1200">
              <a:latin typeface="Arial"/>
              <a:cs typeface="Arial"/>
            </a:endParaRPr>
          </a:p>
          <a:p>
            <a:pPr marL="12700" marR="8890">
              <a:lnSpc>
                <a:spcPts val="1380"/>
              </a:lnSpc>
            </a:pPr>
            <a:r>
              <a:rPr dirty="0" u="heavy" sz="1200" spc="-5" b="1" i="1">
                <a:uFill>
                  <a:solidFill>
                    <a:srgbClr val="000000"/>
                  </a:solidFill>
                </a:uFill>
                <a:latin typeface="Arial"/>
                <a:cs typeface="Arial"/>
              </a:rPr>
              <a:t>Give </a:t>
            </a:r>
            <a:r>
              <a:rPr dirty="0" u="heavy" sz="1200" b="1" i="1">
                <a:uFill>
                  <a:solidFill>
                    <a:srgbClr val="000000"/>
                  </a:solidFill>
                </a:uFill>
                <a:latin typeface="Arial"/>
                <a:cs typeface="Arial"/>
              </a:rPr>
              <a:t>two </a:t>
            </a:r>
            <a:r>
              <a:rPr dirty="0" u="heavy" sz="1200" spc="-5" b="1" i="1">
                <a:uFill>
                  <a:solidFill>
                    <a:srgbClr val="000000"/>
                  </a:solidFill>
                </a:uFill>
                <a:latin typeface="Arial"/>
                <a:cs typeface="Arial"/>
              </a:rPr>
              <a:t>examples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suggest </a:t>
            </a:r>
            <a:r>
              <a:rPr dirty="0" u="heavy" sz="1200" spc="5" b="1" i="1">
                <a:uFill>
                  <a:solidFill>
                    <a:srgbClr val="000000"/>
                  </a:solidFill>
                </a:uFill>
                <a:latin typeface="Arial"/>
                <a:cs typeface="Arial"/>
              </a:rPr>
              <a:t>what </a:t>
            </a:r>
            <a:r>
              <a:rPr dirty="0" u="heavy" sz="1200" spc="-5" b="1" i="1">
                <a:uFill>
                  <a:solidFill>
                    <a:srgbClr val="000000"/>
                  </a:solidFill>
                </a:uFill>
                <a:latin typeface="Arial"/>
                <a:cs typeface="Arial"/>
              </a:rPr>
              <a:t>governments today can learn from the principles </a:t>
            </a:r>
            <a:r>
              <a:rPr dirty="0" sz="1200" spc="-5" b="1" i="1">
                <a:latin typeface="Arial"/>
                <a:cs typeface="Arial"/>
              </a:rPr>
              <a:t> </a:t>
            </a:r>
            <a:r>
              <a:rPr dirty="0" u="heavy" sz="1200" spc="-5" b="1" i="1">
                <a:uFill>
                  <a:solidFill>
                    <a:srgbClr val="000000"/>
                  </a:solidFill>
                </a:uFill>
                <a:latin typeface="Arial"/>
                <a:cs typeface="Arial"/>
              </a:rPr>
              <a:t>the Caliphs</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followed.</a:t>
            </a:r>
            <a:endParaRPr sz="1200">
              <a:latin typeface="Arial"/>
              <a:cs typeface="Arial"/>
            </a:endParaRPr>
          </a:p>
          <a:p>
            <a:pPr>
              <a:lnSpc>
                <a:spcPct val="100000"/>
              </a:lnSpc>
            </a:pPr>
            <a:endParaRPr sz="1200">
              <a:latin typeface="Arial"/>
              <a:cs typeface="Arial"/>
            </a:endParaRPr>
          </a:p>
          <a:p>
            <a:pPr marL="462280" marR="15240" indent="-228600">
              <a:lnSpc>
                <a:spcPts val="1380"/>
              </a:lnSpc>
              <a:buAutoNum type="arabicPeriod"/>
              <a:tabLst>
                <a:tab pos="462915" algn="l"/>
              </a:tabLst>
            </a:pPr>
            <a:r>
              <a:rPr dirty="0" sz="1200" spc="-5">
                <a:latin typeface="Arial"/>
                <a:cs typeface="Arial"/>
              </a:rPr>
              <a:t>Officials </a:t>
            </a:r>
            <a:r>
              <a:rPr dirty="0" sz="1200">
                <a:latin typeface="Arial"/>
                <a:cs typeface="Arial"/>
              </a:rPr>
              <a:t>to </a:t>
            </a:r>
            <a:r>
              <a:rPr dirty="0" sz="1200" spc="-10">
                <a:latin typeface="Arial"/>
                <a:cs typeface="Arial"/>
              </a:rPr>
              <a:t>live </a:t>
            </a:r>
            <a:r>
              <a:rPr dirty="0" sz="1200" spc="-5">
                <a:latin typeface="Arial"/>
                <a:cs typeface="Arial"/>
              </a:rPr>
              <a:t>simply </a:t>
            </a:r>
            <a:r>
              <a:rPr dirty="0" sz="1200">
                <a:latin typeface="Arial"/>
                <a:cs typeface="Arial"/>
              </a:rPr>
              <a:t>rather </a:t>
            </a:r>
            <a:r>
              <a:rPr dirty="0" sz="1200" spc="-5">
                <a:latin typeface="Arial"/>
                <a:cs typeface="Arial"/>
              </a:rPr>
              <a:t>than </a:t>
            </a:r>
            <a:r>
              <a:rPr dirty="0" sz="1200">
                <a:latin typeface="Arial"/>
                <a:cs typeface="Arial"/>
              </a:rPr>
              <a:t>follow </a:t>
            </a:r>
            <a:r>
              <a:rPr dirty="0" sz="1200" spc="-5">
                <a:latin typeface="Arial"/>
                <a:cs typeface="Arial"/>
              </a:rPr>
              <a:t>ostentatious life styles; Abu </a:t>
            </a:r>
            <a:r>
              <a:rPr dirty="0" sz="1200">
                <a:latin typeface="Arial"/>
                <a:cs typeface="Arial"/>
              </a:rPr>
              <a:t>Bakr </a:t>
            </a:r>
            <a:r>
              <a:rPr dirty="0" sz="1200" spc="-5">
                <a:latin typeface="Arial"/>
                <a:cs typeface="Arial"/>
              </a:rPr>
              <a:t>made a </a:t>
            </a:r>
            <a:r>
              <a:rPr dirty="0" sz="1200" spc="-10">
                <a:latin typeface="Arial"/>
                <a:cs typeface="Arial"/>
              </a:rPr>
              <a:t>will  </a:t>
            </a:r>
            <a:r>
              <a:rPr dirty="0" sz="1200" spc="-5">
                <a:latin typeface="Arial"/>
                <a:cs typeface="Arial"/>
              </a:rPr>
              <a:t>saying </a:t>
            </a:r>
            <a:r>
              <a:rPr dirty="0" sz="1200">
                <a:latin typeface="Arial"/>
                <a:cs typeface="Arial"/>
              </a:rPr>
              <a:t>he </a:t>
            </a:r>
            <a:r>
              <a:rPr dirty="0" sz="1200" spc="-5">
                <a:latin typeface="Arial"/>
                <a:cs typeface="Arial"/>
              </a:rPr>
              <a:t>wanted </a:t>
            </a:r>
            <a:r>
              <a:rPr dirty="0" sz="1200">
                <a:latin typeface="Arial"/>
                <a:cs typeface="Arial"/>
              </a:rPr>
              <a:t>his </a:t>
            </a:r>
            <a:r>
              <a:rPr dirty="0" sz="1200" spc="-5">
                <a:latin typeface="Arial"/>
                <a:cs typeface="Arial"/>
              </a:rPr>
              <a:t>garden sold to refund the </a:t>
            </a:r>
            <a:r>
              <a:rPr dirty="0" sz="1200">
                <a:latin typeface="Arial"/>
                <a:cs typeface="Arial"/>
              </a:rPr>
              <a:t>salary </a:t>
            </a:r>
            <a:r>
              <a:rPr dirty="0" sz="1200" spc="-5">
                <a:latin typeface="Arial"/>
                <a:cs typeface="Arial"/>
              </a:rPr>
              <a:t>given </a:t>
            </a:r>
            <a:r>
              <a:rPr dirty="0" sz="1200">
                <a:latin typeface="Arial"/>
                <a:cs typeface="Arial"/>
              </a:rPr>
              <a:t>to </a:t>
            </a:r>
            <a:r>
              <a:rPr dirty="0" sz="1200" spc="-5">
                <a:latin typeface="Arial"/>
                <a:cs typeface="Arial"/>
              </a:rPr>
              <a:t>him as</a:t>
            </a:r>
            <a:r>
              <a:rPr dirty="0" sz="1200" spc="35">
                <a:latin typeface="Arial"/>
                <a:cs typeface="Arial"/>
              </a:rPr>
              <a:t> </a:t>
            </a:r>
            <a:r>
              <a:rPr dirty="0" sz="1200" spc="-5">
                <a:latin typeface="Arial"/>
                <a:cs typeface="Arial"/>
              </a:rPr>
              <a:t>Caliph</a:t>
            </a:r>
            <a:endParaRPr sz="1200">
              <a:latin typeface="Arial"/>
              <a:cs typeface="Arial"/>
            </a:endParaRPr>
          </a:p>
          <a:p>
            <a:pPr marL="462280" marR="12065" indent="-228600">
              <a:lnSpc>
                <a:spcPts val="1380"/>
              </a:lnSpc>
              <a:buAutoNum type="arabicPeriod"/>
              <a:tabLst>
                <a:tab pos="462915" algn="l"/>
              </a:tabLst>
            </a:pPr>
            <a:r>
              <a:rPr dirty="0" sz="1200" spc="5">
                <a:latin typeface="Arial"/>
                <a:cs typeface="Arial"/>
              </a:rPr>
              <a:t>To </a:t>
            </a:r>
            <a:r>
              <a:rPr dirty="0" sz="1200" spc="-5">
                <a:latin typeface="Arial"/>
                <a:cs typeface="Arial"/>
              </a:rPr>
              <a:t>promote healthy pattern of democracy </a:t>
            </a:r>
            <a:r>
              <a:rPr dirty="0" sz="1200">
                <a:latin typeface="Arial"/>
                <a:cs typeface="Arial"/>
              </a:rPr>
              <a:t>[many </a:t>
            </a:r>
            <a:r>
              <a:rPr dirty="0" sz="1200" spc="-5">
                <a:latin typeface="Arial"/>
                <a:cs typeface="Arial"/>
              </a:rPr>
              <a:t>are </a:t>
            </a:r>
            <a:r>
              <a:rPr dirty="0" sz="1200">
                <a:latin typeface="Arial"/>
                <a:cs typeface="Arial"/>
              </a:rPr>
              <a:t>dictators]. Caliphs </a:t>
            </a:r>
            <a:r>
              <a:rPr dirty="0" sz="1200" spc="-5">
                <a:latin typeface="Arial"/>
                <a:cs typeface="Arial"/>
              </a:rPr>
              <a:t>used the  Shura </a:t>
            </a:r>
            <a:r>
              <a:rPr dirty="0" sz="1200">
                <a:latin typeface="Arial"/>
                <a:cs typeface="Arial"/>
              </a:rPr>
              <a:t>to </a:t>
            </a:r>
            <a:r>
              <a:rPr dirty="0" sz="1200" spc="-5">
                <a:latin typeface="Arial"/>
                <a:cs typeface="Arial"/>
              </a:rPr>
              <a:t>ask</a:t>
            </a:r>
            <a:r>
              <a:rPr dirty="0" sz="1200" spc="-15">
                <a:latin typeface="Arial"/>
                <a:cs typeface="Arial"/>
              </a:rPr>
              <a:t> </a:t>
            </a:r>
            <a:r>
              <a:rPr dirty="0" sz="1200" spc="-5">
                <a:latin typeface="Arial"/>
                <a:cs typeface="Arial"/>
              </a:rPr>
              <a:t>opinions</a:t>
            </a:r>
            <a:endParaRPr sz="1200">
              <a:latin typeface="Arial"/>
              <a:cs typeface="Arial"/>
            </a:endParaRPr>
          </a:p>
          <a:p>
            <a:pPr marL="462280" marR="14604" indent="-228600">
              <a:lnSpc>
                <a:spcPts val="1380"/>
              </a:lnSpc>
              <a:buAutoNum type="arabicPeriod"/>
              <a:tabLst>
                <a:tab pos="462915" algn="l"/>
              </a:tabLst>
            </a:pPr>
            <a:r>
              <a:rPr dirty="0" sz="1200" spc="-5">
                <a:latin typeface="Arial"/>
                <a:cs typeface="Arial"/>
              </a:rPr>
              <a:t>Officials in government </a:t>
            </a:r>
            <a:r>
              <a:rPr dirty="0" sz="1200">
                <a:latin typeface="Arial"/>
                <a:cs typeface="Arial"/>
              </a:rPr>
              <a:t>to treat their position as one </a:t>
            </a:r>
            <a:r>
              <a:rPr dirty="0" sz="1200" spc="-5">
                <a:latin typeface="Arial"/>
                <a:cs typeface="Arial"/>
              </a:rPr>
              <a:t>of </a:t>
            </a:r>
            <a:r>
              <a:rPr dirty="0" sz="1200" spc="-55">
                <a:latin typeface="Arial"/>
                <a:cs typeface="Arial"/>
              </a:rPr>
              <a:t>‗trust‘, </a:t>
            </a:r>
            <a:r>
              <a:rPr dirty="0" sz="1200" spc="-5">
                <a:latin typeface="Arial"/>
                <a:cs typeface="Arial"/>
              </a:rPr>
              <a:t>not their right </a:t>
            </a:r>
            <a:r>
              <a:rPr dirty="0" sz="1200">
                <a:latin typeface="Arial"/>
                <a:cs typeface="Arial"/>
              </a:rPr>
              <a:t>to do </a:t>
            </a:r>
            <a:r>
              <a:rPr dirty="0" sz="1200" spc="-5">
                <a:latin typeface="Arial"/>
                <a:cs typeface="Arial"/>
              </a:rPr>
              <a:t>what  </a:t>
            </a:r>
            <a:r>
              <a:rPr dirty="0" sz="1200">
                <a:latin typeface="Arial"/>
                <a:cs typeface="Arial"/>
              </a:rPr>
              <a:t>they</a:t>
            </a:r>
            <a:r>
              <a:rPr dirty="0" sz="1200" spc="-20">
                <a:latin typeface="Arial"/>
                <a:cs typeface="Arial"/>
              </a:rPr>
              <a:t> </a:t>
            </a:r>
            <a:r>
              <a:rPr dirty="0" sz="1200" spc="-5">
                <a:latin typeface="Arial"/>
                <a:cs typeface="Arial"/>
              </a:rPr>
              <a:t>like</a:t>
            </a:r>
            <a:endParaRPr sz="1200">
              <a:latin typeface="Arial"/>
              <a:cs typeface="Arial"/>
            </a:endParaRPr>
          </a:p>
          <a:p>
            <a:pPr marL="462280" indent="-229235">
              <a:lnSpc>
                <a:spcPts val="1315"/>
              </a:lnSpc>
              <a:buAutoNum type="arabicPeriod"/>
              <a:tabLst>
                <a:tab pos="462915" algn="l"/>
              </a:tabLst>
            </a:pPr>
            <a:r>
              <a:rPr dirty="0" sz="1200" spc="5">
                <a:latin typeface="Arial"/>
                <a:cs typeface="Arial"/>
              </a:rPr>
              <a:t>To </a:t>
            </a:r>
            <a:r>
              <a:rPr dirty="0" sz="1200">
                <a:latin typeface="Arial"/>
                <a:cs typeface="Arial"/>
              </a:rPr>
              <a:t>make </a:t>
            </a:r>
            <a:r>
              <a:rPr dirty="0" sz="1200" spc="-5">
                <a:latin typeface="Arial"/>
                <a:cs typeface="Arial"/>
              </a:rPr>
              <a:t>sure of basic human rights of </a:t>
            </a:r>
            <a:r>
              <a:rPr dirty="0" sz="1200">
                <a:latin typeface="Arial"/>
                <a:cs typeface="Arial"/>
              </a:rPr>
              <a:t>all</a:t>
            </a:r>
            <a:r>
              <a:rPr dirty="0" sz="1200" spc="10">
                <a:latin typeface="Arial"/>
                <a:cs typeface="Arial"/>
              </a:rPr>
              <a:t> </a:t>
            </a:r>
            <a:r>
              <a:rPr dirty="0" sz="1200" spc="-5">
                <a:latin typeface="Arial"/>
                <a:cs typeface="Arial"/>
              </a:rPr>
              <a:t>citizens</a:t>
            </a:r>
            <a:endParaRPr sz="1200">
              <a:latin typeface="Arial"/>
              <a:cs typeface="Arial"/>
            </a:endParaRPr>
          </a:p>
          <a:p>
            <a:pPr marL="462280" indent="-229235">
              <a:lnSpc>
                <a:spcPts val="1380"/>
              </a:lnSpc>
              <a:buAutoNum type="arabicPeriod"/>
              <a:tabLst>
                <a:tab pos="462915" algn="l"/>
              </a:tabLst>
            </a:pPr>
            <a:r>
              <a:rPr dirty="0" sz="1200" spc="5">
                <a:latin typeface="Arial"/>
                <a:cs typeface="Arial"/>
              </a:rPr>
              <a:t>To </a:t>
            </a:r>
            <a:r>
              <a:rPr dirty="0" sz="1200" spc="-10">
                <a:latin typeface="Arial"/>
                <a:cs typeface="Arial"/>
              </a:rPr>
              <a:t>give </a:t>
            </a:r>
            <a:r>
              <a:rPr dirty="0" sz="1200" spc="-5">
                <a:latin typeface="Arial"/>
                <a:cs typeface="Arial"/>
              </a:rPr>
              <a:t>Minority subjects </a:t>
            </a:r>
            <a:r>
              <a:rPr dirty="0" sz="1200">
                <a:latin typeface="Arial"/>
                <a:cs typeface="Arial"/>
              </a:rPr>
              <a:t>the </a:t>
            </a:r>
            <a:r>
              <a:rPr dirty="0" sz="1200" spc="-5">
                <a:latin typeface="Arial"/>
                <a:cs typeface="Arial"/>
              </a:rPr>
              <a:t>same rights especially </a:t>
            </a:r>
            <a:r>
              <a:rPr dirty="0" sz="1200">
                <a:latin typeface="Arial"/>
                <a:cs typeface="Arial"/>
              </a:rPr>
              <a:t>to practice </a:t>
            </a:r>
            <a:r>
              <a:rPr dirty="0" sz="1200" spc="-5">
                <a:latin typeface="Arial"/>
                <a:cs typeface="Arial"/>
              </a:rPr>
              <a:t>their</a:t>
            </a:r>
            <a:r>
              <a:rPr dirty="0" sz="1200" spc="15">
                <a:latin typeface="Arial"/>
                <a:cs typeface="Arial"/>
              </a:rPr>
              <a:t> </a:t>
            </a:r>
            <a:r>
              <a:rPr dirty="0" sz="1200" spc="-5">
                <a:latin typeface="Arial"/>
                <a:cs typeface="Arial"/>
              </a:rPr>
              <a:t>religion</a:t>
            </a:r>
            <a:endParaRPr sz="1200">
              <a:latin typeface="Arial"/>
              <a:cs typeface="Arial"/>
            </a:endParaRPr>
          </a:p>
          <a:p>
            <a:pPr marL="462280" indent="-229235">
              <a:lnSpc>
                <a:spcPts val="1380"/>
              </a:lnSpc>
              <a:buAutoNum type="arabicPeriod"/>
              <a:tabLst>
                <a:tab pos="462915" algn="l"/>
              </a:tabLst>
            </a:pPr>
            <a:r>
              <a:rPr dirty="0" sz="1200" spc="-5">
                <a:latin typeface="Arial"/>
                <a:cs typeface="Arial"/>
              </a:rPr>
              <a:t>Baitul Mal </a:t>
            </a:r>
            <a:r>
              <a:rPr dirty="0" sz="1200">
                <a:latin typeface="Arial"/>
                <a:cs typeface="Arial"/>
              </a:rPr>
              <a:t>must </a:t>
            </a:r>
            <a:r>
              <a:rPr dirty="0" sz="1200" spc="-5">
                <a:latin typeface="Arial"/>
                <a:cs typeface="Arial"/>
              </a:rPr>
              <a:t>not </a:t>
            </a:r>
            <a:r>
              <a:rPr dirty="0" sz="1200" spc="-10">
                <a:latin typeface="Arial"/>
                <a:cs typeface="Arial"/>
              </a:rPr>
              <a:t>be </a:t>
            </a:r>
            <a:r>
              <a:rPr dirty="0" sz="1200" spc="-5">
                <a:latin typeface="Arial"/>
                <a:cs typeface="Arial"/>
              </a:rPr>
              <a:t>considered </a:t>
            </a:r>
            <a:r>
              <a:rPr dirty="0" sz="1200">
                <a:latin typeface="Arial"/>
                <a:cs typeface="Arial"/>
              </a:rPr>
              <a:t>as </a:t>
            </a:r>
            <a:r>
              <a:rPr dirty="0" sz="1200" spc="-5">
                <a:latin typeface="Arial"/>
                <a:cs typeface="Arial"/>
              </a:rPr>
              <a:t>their personal</a:t>
            </a:r>
            <a:r>
              <a:rPr dirty="0" sz="1200" spc="-10">
                <a:latin typeface="Arial"/>
                <a:cs typeface="Arial"/>
              </a:rPr>
              <a:t> </a:t>
            </a:r>
            <a:r>
              <a:rPr dirty="0" sz="1200" spc="-5">
                <a:latin typeface="Arial"/>
                <a:cs typeface="Arial"/>
              </a:rPr>
              <a:t>property</a:t>
            </a:r>
            <a:endParaRPr sz="1200">
              <a:latin typeface="Arial"/>
              <a:cs typeface="Arial"/>
            </a:endParaRPr>
          </a:p>
          <a:p>
            <a:pPr marL="462280" indent="-229235">
              <a:lnSpc>
                <a:spcPts val="1380"/>
              </a:lnSpc>
              <a:buAutoNum type="arabicPeriod"/>
              <a:tabLst>
                <a:tab pos="462915" algn="l"/>
              </a:tabLst>
            </a:pPr>
            <a:r>
              <a:rPr dirty="0" sz="1200">
                <a:latin typeface="Arial"/>
                <a:cs typeface="Arial"/>
              </a:rPr>
              <a:t>To </a:t>
            </a:r>
            <a:r>
              <a:rPr dirty="0" sz="1200" spc="-5">
                <a:latin typeface="Arial"/>
                <a:cs typeface="Arial"/>
              </a:rPr>
              <a:t>have a constant watch over their officials and other</a:t>
            </a:r>
            <a:r>
              <a:rPr dirty="0" sz="1200" spc="5">
                <a:latin typeface="Arial"/>
                <a:cs typeface="Arial"/>
              </a:rPr>
              <a:t> </a:t>
            </a:r>
            <a:r>
              <a:rPr dirty="0" sz="1200">
                <a:latin typeface="Arial"/>
                <a:cs typeface="Arial"/>
              </a:rPr>
              <a:t>ministers</a:t>
            </a:r>
            <a:endParaRPr sz="1200">
              <a:latin typeface="Arial"/>
              <a:cs typeface="Arial"/>
            </a:endParaRPr>
          </a:p>
          <a:p>
            <a:pPr marL="462280" indent="-229235">
              <a:lnSpc>
                <a:spcPts val="1375"/>
              </a:lnSpc>
              <a:buAutoNum type="arabicPeriod"/>
              <a:tabLst>
                <a:tab pos="462915" algn="l"/>
              </a:tabLst>
            </a:pPr>
            <a:r>
              <a:rPr dirty="0" sz="1200">
                <a:latin typeface="Arial"/>
                <a:cs typeface="Arial"/>
              </a:rPr>
              <a:t>To </a:t>
            </a:r>
            <a:r>
              <a:rPr dirty="0" sz="1200" spc="-5">
                <a:latin typeface="Arial"/>
                <a:cs typeface="Arial"/>
              </a:rPr>
              <a:t>constantly </a:t>
            </a:r>
            <a:r>
              <a:rPr dirty="0" sz="1200">
                <a:latin typeface="Arial"/>
                <a:cs typeface="Arial"/>
              </a:rPr>
              <a:t>monitor </a:t>
            </a:r>
            <a:r>
              <a:rPr dirty="0" sz="1200" spc="-10">
                <a:latin typeface="Arial"/>
                <a:cs typeface="Arial"/>
              </a:rPr>
              <a:t>the </a:t>
            </a:r>
            <a:r>
              <a:rPr dirty="0" sz="1200" spc="-5">
                <a:latin typeface="Arial"/>
                <a:cs typeface="Arial"/>
              </a:rPr>
              <a:t>development, projects and problems of their</a:t>
            </a:r>
            <a:r>
              <a:rPr dirty="0" sz="1200" spc="65">
                <a:latin typeface="Arial"/>
                <a:cs typeface="Arial"/>
              </a:rPr>
              <a:t> </a:t>
            </a:r>
            <a:r>
              <a:rPr dirty="0" sz="1200">
                <a:latin typeface="Arial"/>
                <a:cs typeface="Arial"/>
              </a:rPr>
              <a:t>ministers</a:t>
            </a:r>
            <a:endParaRPr sz="1200">
              <a:latin typeface="Arial"/>
              <a:cs typeface="Arial"/>
            </a:endParaRPr>
          </a:p>
          <a:p>
            <a:pPr marL="462280" indent="-229235">
              <a:lnSpc>
                <a:spcPts val="1375"/>
              </a:lnSpc>
              <a:buAutoNum type="arabicPeriod"/>
              <a:tabLst>
                <a:tab pos="462915" algn="l"/>
              </a:tabLst>
            </a:pPr>
            <a:r>
              <a:rPr dirty="0" sz="1200">
                <a:latin typeface="Arial"/>
                <a:cs typeface="Arial"/>
              </a:rPr>
              <a:t>To </a:t>
            </a:r>
            <a:r>
              <a:rPr dirty="0" sz="1200" spc="-5">
                <a:latin typeface="Arial"/>
                <a:cs typeface="Arial"/>
              </a:rPr>
              <a:t>enhance morality and spirituality throughout the country</a:t>
            </a:r>
            <a:endParaRPr sz="1200">
              <a:latin typeface="Arial"/>
              <a:cs typeface="Arial"/>
            </a:endParaRPr>
          </a:p>
          <a:p>
            <a:pPr marL="462280" indent="-229235">
              <a:lnSpc>
                <a:spcPts val="1410"/>
              </a:lnSpc>
              <a:buAutoNum type="arabicPeriod"/>
              <a:tabLst>
                <a:tab pos="462915" algn="l"/>
              </a:tabLst>
            </a:pPr>
            <a:r>
              <a:rPr dirty="0" sz="1200">
                <a:latin typeface="Arial"/>
                <a:cs typeface="Arial"/>
              </a:rPr>
              <a:t>To </a:t>
            </a:r>
            <a:r>
              <a:rPr dirty="0" sz="1200" spc="-5">
                <a:latin typeface="Arial"/>
                <a:cs typeface="Arial"/>
              </a:rPr>
              <a:t>accept different the views </a:t>
            </a:r>
            <a:r>
              <a:rPr dirty="0" sz="1200">
                <a:latin typeface="Arial"/>
                <a:cs typeface="Arial"/>
              </a:rPr>
              <a:t>of all </a:t>
            </a:r>
            <a:r>
              <a:rPr dirty="0" sz="1200" spc="-5">
                <a:latin typeface="Arial"/>
                <a:cs typeface="Arial"/>
              </a:rPr>
              <a:t>existing religious bodies, especially the</a:t>
            </a:r>
            <a:r>
              <a:rPr dirty="0" sz="1200" spc="130">
                <a:latin typeface="Arial"/>
                <a:cs typeface="Arial"/>
              </a:rPr>
              <a:t> </a:t>
            </a:r>
            <a:r>
              <a:rPr dirty="0" sz="1200" spc="-5">
                <a:latin typeface="Arial"/>
                <a:cs typeface="Arial"/>
              </a:rPr>
              <a:t>minorities.</a:t>
            </a:r>
            <a:endParaRPr sz="1200">
              <a:latin typeface="Arial"/>
              <a:cs typeface="Arial"/>
            </a:endParaRPr>
          </a:p>
          <a:p>
            <a:pPr>
              <a:lnSpc>
                <a:spcPct val="100000"/>
              </a:lnSpc>
              <a:spcBef>
                <a:spcPts val="40"/>
              </a:spcBef>
            </a:pPr>
            <a:endParaRPr sz="1200">
              <a:latin typeface="Arial"/>
              <a:cs typeface="Arial"/>
            </a:endParaRPr>
          </a:p>
          <a:p>
            <a:pPr marL="12700" marR="6350">
              <a:lnSpc>
                <a:spcPts val="1380"/>
              </a:lnSpc>
            </a:pPr>
            <a:r>
              <a:rPr dirty="0" u="heavy" sz="1200" spc="-5" b="1" i="1">
                <a:uFill>
                  <a:solidFill>
                    <a:srgbClr val="000000"/>
                  </a:solidFill>
                </a:uFill>
                <a:latin typeface="Arial"/>
                <a:cs typeface="Arial"/>
              </a:rPr>
              <a:t>Why </a:t>
            </a:r>
            <a:r>
              <a:rPr dirty="0" u="heavy" sz="1200" b="1" i="1">
                <a:uFill>
                  <a:solidFill>
                    <a:srgbClr val="000000"/>
                  </a:solidFill>
                </a:uFill>
                <a:latin typeface="Arial"/>
                <a:cs typeface="Arial"/>
              </a:rPr>
              <a:t>do </a:t>
            </a:r>
            <a:r>
              <a:rPr dirty="0" u="heavy" sz="1200" spc="-5" b="1" i="1">
                <a:uFill>
                  <a:solidFill>
                    <a:srgbClr val="000000"/>
                  </a:solidFill>
                </a:uFill>
                <a:latin typeface="Arial"/>
                <a:cs typeface="Arial"/>
              </a:rPr>
              <a:t>you think </a:t>
            </a:r>
            <a:r>
              <a:rPr dirty="0" u="heavy" sz="1200" b="1" i="1">
                <a:uFill>
                  <a:solidFill>
                    <a:srgbClr val="000000"/>
                  </a:solidFill>
                </a:uFill>
                <a:latin typeface="Arial"/>
                <a:cs typeface="Arial"/>
              </a:rPr>
              <a:t>it was important to </a:t>
            </a:r>
            <a:r>
              <a:rPr dirty="0" u="heavy" sz="1200" spc="-5" b="1" i="1">
                <a:uFill>
                  <a:solidFill>
                    <a:srgbClr val="000000"/>
                  </a:solidFill>
                </a:uFill>
                <a:latin typeface="Arial"/>
                <a:cs typeface="Arial"/>
              </a:rPr>
              <a:t>make a collection </a:t>
            </a:r>
            <a:r>
              <a:rPr dirty="0" u="heavy" sz="1200" spc="-10" b="1" i="1">
                <a:uFill>
                  <a:solidFill>
                    <a:srgbClr val="000000"/>
                  </a:solidFill>
                </a:uFill>
                <a:latin typeface="Arial"/>
                <a:cs typeface="Arial"/>
              </a:rPr>
              <a:t>of </a:t>
            </a:r>
            <a:r>
              <a:rPr dirty="0" u="heavy" sz="1200" spc="-5" b="1" i="1">
                <a:uFill>
                  <a:solidFill>
                    <a:srgbClr val="000000"/>
                  </a:solidFill>
                </a:uFill>
                <a:latin typeface="Arial"/>
                <a:cs typeface="Arial"/>
              </a:rPr>
              <a:t>the </a:t>
            </a:r>
            <a:r>
              <a:rPr dirty="0" u="heavy" sz="1200" spc="-45" b="1" i="1">
                <a:uFill>
                  <a:solidFill>
                    <a:srgbClr val="000000"/>
                  </a:solidFill>
                </a:uFill>
                <a:latin typeface="Arial"/>
                <a:cs typeface="Arial"/>
              </a:rPr>
              <a:t>Qur‟an </a:t>
            </a:r>
            <a:r>
              <a:rPr dirty="0" u="heavy" sz="1200" b="1" i="1">
                <a:uFill>
                  <a:solidFill>
                    <a:srgbClr val="000000"/>
                  </a:solidFill>
                </a:uFill>
                <a:latin typeface="Arial"/>
                <a:cs typeface="Arial"/>
              </a:rPr>
              <a:t>during </a:t>
            </a:r>
            <a:r>
              <a:rPr dirty="0" u="heavy" sz="1200" spc="-5" b="1" i="1">
                <a:uFill>
                  <a:solidFill>
                    <a:srgbClr val="000000"/>
                  </a:solidFill>
                </a:uFill>
                <a:latin typeface="Arial"/>
                <a:cs typeface="Arial"/>
              </a:rPr>
              <a:t>the </a:t>
            </a:r>
            <a:r>
              <a:rPr dirty="0" sz="1200" spc="-5" b="1" i="1">
                <a:latin typeface="Arial"/>
                <a:cs typeface="Arial"/>
              </a:rPr>
              <a:t> </a:t>
            </a:r>
            <a:r>
              <a:rPr dirty="0" u="heavy" sz="1200" b="1" i="1">
                <a:uFill>
                  <a:solidFill>
                    <a:srgbClr val="000000"/>
                  </a:solidFill>
                </a:uFill>
                <a:latin typeface="Arial"/>
                <a:cs typeface="Arial"/>
              </a:rPr>
              <a:t>periods of </a:t>
            </a:r>
            <a:r>
              <a:rPr dirty="0" u="heavy" sz="1200" spc="-5" b="1" i="1">
                <a:uFill>
                  <a:solidFill>
                    <a:srgbClr val="000000"/>
                  </a:solidFill>
                </a:uFill>
                <a:latin typeface="Arial"/>
                <a:cs typeface="Arial"/>
              </a:rPr>
              <a:t>the 4</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Caliphs?</a:t>
            </a:r>
            <a:endParaRPr sz="1200">
              <a:latin typeface="Arial"/>
              <a:cs typeface="Arial"/>
            </a:endParaRPr>
          </a:p>
          <a:p>
            <a:pPr>
              <a:lnSpc>
                <a:spcPct val="100000"/>
              </a:lnSpc>
            </a:pPr>
            <a:endParaRPr sz="1200">
              <a:latin typeface="Arial"/>
              <a:cs typeface="Arial"/>
            </a:endParaRPr>
          </a:p>
          <a:p>
            <a:pPr algn="just" marL="469900" marR="6350" indent="-228600">
              <a:lnSpc>
                <a:spcPts val="1380"/>
              </a:lnSpc>
              <a:buAutoNum type="arabicPeriod"/>
              <a:tabLst>
                <a:tab pos="470534" algn="l"/>
              </a:tabLst>
            </a:pPr>
            <a:r>
              <a:rPr dirty="0" sz="1200" spc="-5">
                <a:latin typeface="Arial"/>
                <a:cs typeface="Arial"/>
              </a:rPr>
              <a:t>The Prophet had died </a:t>
            </a:r>
            <a:r>
              <a:rPr dirty="0" sz="1200">
                <a:latin typeface="Arial"/>
                <a:cs typeface="Arial"/>
              </a:rPr>
              <a:t>and </a:t>
            </a:r>
            <a:r>
              <a:rPr dirty="0" sz="1200" spc="-5">
                <a:latin typeface="Arial"/>
                <a:cs typeface="Arial"/>
              </a:rPr>
              <a:t>therefore there were </a:t>
            </a:r>
            <a:r>
              <a:rPr dirty="0" sz="1200">
                <a:latin typeface="Arial"/>
                <a:cs typeface="Arial"/>
              </a:rPr>
              <a:t>few remaining </a:t>
            </a:r>
            <a:r>
              <a:rPr dirty="0" sz="1200" spc="-10">
                <a:latin typeface="Arial"/>
                <a:cs typeface="Arial"/>
              </a:rPr>
              <a:t>who </a:t>
            </a:r>
            <a:r>
              <a:rPr dirty="0" sz="1200" spc="-5">
                <a:latin typeface="Arial"/>
                <a:cs typeface="Arial"/>
              </a:rPr>
              <a:t>were </a:t>
            </a:r>
            <a:r>
              <a:rPr dirty="0" sz="1200">
                <a:latin typeface="Arial"/>
                <a:cs typeface="Arial"/>
              </a:rPr>
              <a:t>left </a:t>
            </a:r>
            <a:r>
              <a:rPr dirty="0" sz="1200" spc="-5">
                <a:latin typeface="Arial"/>
                <a:cs typeface="Arial"/>
              </a:rPr>
              <a:t>to consult  about Allah‘s message; </a:t>
            </a:r>
            <a:r>
              <a:rPr dirty="0" sz="1200" spc="-10">
                <a:latin typeface="Arial"/>
                <a:cs typeface="Arial"/>
              </a:rPr>
              <a:t>if </a:t>
            </a:r>
            <a:r>
              <a:rPr dirty="0" sz="1200" spc="-5">
                <a:latin typeface="Arial"/>
                <a:cs typeface="Arial"/>
              </a:rPr>
              <a:t>the revelations were not compiled </a:t>
            </a:r>
            <a:r>
              <a:rPr dirty="0" sz="1200" spc="-10">
                <a:latin typeface="Arial"/>
                <a:cs typeface="Arial"/>
              </a:rPr>
              <a:t>there </a:t>
            </a:r>
            <a:r>
              <a:rPr dirty="0" sz="1200" spc="-5">
                <a:latin typeface="Arial"/>
                <a:cs typeface="Arial"/>
              </a:rPr>
              <a:t>may have been  conflicting versions which would not </a:t>
            </a:r>
            <a:r>
              <a:rPr dirty="0" sz="1200">
                <a:latin typeface="Arial"/>
                <a:cs typeface="Arial"/>
              </a:rPr>
              <a:t>be </a:t>
            </a:r>
            <a:r>
              <a:rPr dirty="0" sz="1200" spc="-5">
                <a:latin typeface="Arial"/>
                <a:cs typeface="Arial"/>
              </a:rPr>
              <a:t>good for</a:t>
            </a:r>
            <a:r>
              <a:rPr dirty="0" sz="1200" spc="-10">
                <a:latin typeface="Arial"/>
                <a:cs typeface="Arial"/>
              </a:rPr>
              <a:t> </a:t>
            </a:r>
            <a:r>
              <a:rPr dirty="0" sz="1200">
                <a:latin typeface="Arial"/>
                <a:cs typeface="Arial"/>
              </a:rPr>
              <a:t>Islam</a:t>
            </a:r>
            <a:endParaRPr sz="1200">
              <a:latin typeface="Arial"/>
              <a:cs typeface="Arial"/>
            </a:endParaRPr>
          </a:p>
          <a:p>
            <a:pPr algn="just" marL="469900" marR="11430" indent="-228600">
              <a:lnSpc>
                <a:spcPts val="1380"/>
              </a:lnSpc>
              <a:buAutoNum type="arabicPeriod"/>
              <a:tabLst>
                <a:tab pos="470534" algn="l"/>
              </a:tabLst>
            </a:pPr>
            <a:r>
              <a:rPr dirty="0" sz="1200" spc="-5">
                <a:latin typeface="Arial"/>
                <a:cs typeface="Arial"/>
              </a:rPr>
              <a:t>Due </a:t>
            </a:r>
            <a:r>
              <a:rPr dirty="0" sz="1200">
                <a:latin typeface="Arial"/>
                <a:cs typeface="Arial"/>
              </a:rPr>
              <a:t>to the </a:t>
            </a:r>
            <a:r>
              <a:rPr dirty="0" sz="1200" spc="-5">
                <a:latin typeface="Arial"/>
                <a:cs typeface="Arial"/>
              </a:rPr>
              <a:t>anxiety of </a:t>
            </a:r>
            <a:r>
              <a:rPr dirty="0" sz="1200" spc="-85">
                <a:latin typeface="Arial"/>
                <a:cs typeface="Arial"/>
              </a:rPr>
              <a:t>‗Umar </a:t>
            </a:r>
            <a:r>
              <a:rPr dirty="0" sz="1200">
                <a:latin typeface="Arial"/>
                <a:cs typeface="Arial"/>
              </a:rPr>
              <a:t>for future </a:t>
            </a:r>
            <a:r>
              <a:rPr dirty="0" sz="1200" spc="-5">
                <a:latin typeface="Arial"/>
                <a:cs typeface="Arial"/>
              </a:rPr>
              <a:t>generations it was incumbent </a:t>
            </a:r>
            <a:r>
              <a:rPr dirty="0" sz="1200">
                <a:latin typeface="Arial"/>
                <a:cs typeface="Arial"/>
              </a:rPr>
              <a:t>to </a:t>
            </a:r>
            <a:r>
              <a:rPr dirty="0" sz="1200" spc="-5">
                <a:latin typeface="Arial"/>
                <a:cs typeface="Arial"/>
              </a:rPr>
              <a:t>compile the  Qur‘an. </a:t>
            </a:r>
            <a:r>
              <a:rPr dirty="0" sz="1200">
                <a:latin typeface="Arial"/>
                <a:cs typeface="Arial"/>
              </a:rPr>
              <a:t>The fear </a:t>
            </a:r>
            <a:r>
              <a:rPr dirty="0" sz="1200" spc="-5">
                <a:latin typeface="Arial"/>
                <a:cs typeface="Arial"/>
              </a:rPr>
              <a:t>after the death of 700 Huffaz of</a:t>
            </a:r>
            <a:r>
              <a:rPr dirty="0" sz="1200" spc="15">
                <a:latin typeface="Arial"/>
                <a:cs typeface="Arial"/>
              </a:rPr>
              <a:t> </a:t>
            </a:r>
            <a:r>
              <a:rPr dirty="0" sz="1200" spc="-5">
                <a:latin typeface="Arial"/>
                <a:cs typeface="Arial"/>
              </a:rPr>
              <a:t>Qur‘an.</a:t>
            </a:r>
            <a:endParaRPr sz="1200">
              <a:latin typeface="Arial"/>
              <a:cs typeface="Arial"/>
            </a:endParaRPr>
          </a:p>
          <a:p>
            <a:pPr algn="just" marL="469900" marR="13335" indent="-228600">
              <a:lnSpc>
                <a:spcPts val="1380"/>
              </a:lnSpc>
              <a:buAutoNum type="arabicPeriod"/>
              <a:tabLst>
                <a:tab pos="470534" algn="l"/>
              </a:tabLst>
            </a:pPr>
            <a:r>
              <a:rPr dirty="0" sz="1200">
                <a:latin typeface="Arial"/>
                <a:cs typeface="Arial"/>
              </a:rPr>
              <a:t>In order to </a:t>
            </a:r>
            <a:r>
              <a:rPr dirty="0" sz="1200" spc="-5">
                <a:latin typeface="Arial"/>
                <a:cs typeface="Arial"/>
              </a:rPr>
              <a:t>eliminate </a:t>
            </a:r>
            <a:r>
              <a:rPr dirty="0" sz="1200">
                <a:latin typeface="Arial"/>
                <a:cs typeface="Arial"/>
              </a:rPr>
              <a:t>any false </a:t>
            </a:r>
            <a:r>
              <a:rPr dirty="0" sz="1200" spc="-5">
                <a:latin typeface="Arial"/>
                <a:cs typeface="Arial"/>
              </a:rPr>
              <a:t>copy </a:t>
            </a:r>
            <a:r>
              <a:rPr dirty="0" sz="1200">
                <a:latin typeface="Arial"/>
                <a:cs typeface="Arial"/>
              </a:rPr>
              <a:t>of </a:t>
            </a:r>
            <a:r>
              <a:rPr dirty="0" sz="1200" spc="-5">
                <a:latin typeface="Arial"/>
                <a:cs typeface="Arial"/>
              </a:rPr>
              <a:t>the Qur‘an and </a:t>
            </a:r>
            <a:r>
              <a:rPr dirty="0" sz="1200">
                <a:latin typeface="Arial"/>
                <a:cs typeface="Arial"/>
              </a:rPr>
              <a:t>to </a:t>
            </a:r>
            <a:r>
              <a:rPr dirty="0" sz="1200" spc="-10">
                <a:latin typeface="Arial"/>
                <a:cs typeface="Arial"/>
              </a:rPr>
              <a:t>have </a:t>
            </a:r>
            <a:r>
              <a:rPr dirty="0" sz="1200">
                <a:latin typeface="Arial"/>
                <a:cs typeface="Arial"/>
              </a:rPr>
              <a:t>a </a:t>
            </a:r>
            <a:r>
              <a:rPr dirty="0" sz="1200" spc="-5">
                <a:latin typeface="Arial"/>
                <a:cs typeface="Arial"/>
              </a:rPr>
              <a:t>standardised text,  Uthman decided </a:t>
            </a:r>
            <a:r>
              <a:rPr dirty="0" sz="1200">
                <a:latin typeface="Arial"/>
                <a:cs typeface="Arial"/>
              </a:rPr>
              <a:t>for </a:t>
            </a:r>
            <a:r>
              <a:rPr dirty="0" sz="1200" spc="-5">
                <a:latin typeface="Arial"/>
                <a:cs typeface="Arial"/>
              </a:rPr>
              <a:t>the best interest of the</a:t>
            </a:r>
            <a:r>
              <a:rPr dirty="0" sz="1200" spc="20">
                <a:latin typeface="Arial"/>
                <a:cs typeface="Arial"/>
              </a:rPr>
              <a:t> </a:t>
            </a:r>
            <a:r>
              <a:rPr dirty="0" sz="1200">
                <a:latin typeface="Arial"/>
                <a:cs typeface="Arial"/>
              </a:rPr>
              <a:t>Ummah.</a:t>
            </a:r>
            <a:endParaRPr sz="1200">
              <a:latin typeface="Arial"/>
              <a:cs typeface="Arial"/>
            </a:endParaRPr>
          </a:p>
          <a:p>
            <a:pPr algn="just" marL="469900" marR="7620" indent="-228600">
              <a:lnSpc>
                <a:spcPts val="1380"/>
              </a:lnSpc>
              <a:buAutoNum type="arabicPeriod"/>
              <a:tabLst>
                <a:tab pos="470534" algn="l"/>
              </a:tabLst>
            </a:pPr>
            <a:r>
              <a:rPr dirty="0" sz="1200">
                <a:latin typeface="Arial"/>
                <a:cs typeface="Arial"/>
              </a:rPr>
              <a:t>The </a:t>
            </a:r>
            <a:r>
              <a:rPr dirty="0" sz="1200" spc="-5">
                <a:latin typeface="Arial"/>
                <a:cs typeface="Arial"/>
              </a:rPr>
              <a:t>Qur‘an is </a:t>
            </a:r>
            <a:r>
              <a:rPr dirty="0" sz="1200">
                <a:latin typeface="Arial"/>
                <a:cs typeface="Arial"/>
              </a:rPr>
              <a:t>a </a:t>
            </a:r>
            <a:r>
              <a:rPr dirty="0" sz="1200" spc="-5">
                <a:latin typeface="Arial"/>
                <a:cs typeface="Arial"/>
              </a:rPr>
              <a:t>miracle </a:t>
            </a:r>
            <a:r>
              <a:rPr dirty="0" sz="1200">
                <a:latin typeface="Arial"/>
                <a:cs typeface="Arial"/>
              </a:rPr>
              <a:t>for </a:t>
            </a:r>
            <a:r>
              <a:rPr dirty="0" sz="1200" spc="-5">
                <a:latin typeface="Arial"/>
                <a:cs typeface="Arial"/>
              </a:rPr>
              <a:t>the Muslims. </a:t>
            </a:r>
            <a:r>
              <a:rPr dirty="0" sz="1200">
                <a:latin typeface="Arial"/>
                <a:cs typeface="Arial"/>
              </a:rPr>
              <a:t>It </a:t>
            </a:r>
            <a:r>
              <a:rPr dirty="0" sz="1200" spc="-5">
                <a:latin typeface="Arial"/>
                <a:cs typeface="Arial"/>
              </a:rPr>
              <a:t>tells </a:t>
            </a:r>
            <a:r>
              <a:rPr dirty="0" sz="1200">
                <a:latin typeface="Arial"/>
                <a:cs typeface="Arial"/>
              </a:rPr>
              <a:t>us </a:t>
            </a:r>
            <a:r>
              <a:rPr dirty="0" sz="1200" spc="-5">
                <a:latin typeface="Arial"/>
                <a:cs typeface="Arial"/>
              </a:rPr>
              <a:t>about things </a:t>
            </a:r>
            <a:r>
              <a:rPr dirty="0" sz="1200" spc="-10">
                <a:latin typeface="Arial"/>
                <a:cs typeface="Arial"/>
              </a:rPr>
              <a:t>we </a:t>
            </a:r>
            <a:r>
              <a:rPr dirty="0" sz="1200" spc="-5">
                <a:latin typeface="Arial"/>
                <a:cs typeface="Arial"/>
              </a:rPr>
              <a:t>cannot know </a:t>
            </a:r>
            <a:r>
              <a:rPr dirty="0" sz="1200">
                <a:latin typeface="Arial"/>
                <a:cs typeface="Arial"/>
              </a:rPr>
              <a:t>of  </a:t>
            </a:r>
            <a:r>
              <a:rPr dirty="0" sz="1200" spc="-5">
                <a:latin typeface="Arial"/>
                <a:cs typeface="Arial"/>
              </a:rPr>
              <a:t>otherwise:</a:t>
            </a:r>
            <a:r>
              <a:rPr dirty="0" sz="1200" spc="225">
                <a:latin typeface="Arial"/>
                <a:cs typeface="Arial"/>
              </a:rPr>
              <a:t> </a:t>
            </a:r>
            <a:r>
              <a:rPr dirty="0" sz="1200" spc="-5">
                <a:latin typeface="Arial"/>
                <a:cs typeface="Arial"/>
              </a:rPr>
              <a:t>Allah,</a:t>
            </a:r>
            <a:r>
              <a:rPr dirty="0" sz="1200" spc="229">
                <a:latin typeface="Arial"/>
                <a:cs typeface="Arial"/>
              </a:rPr>
              <a:t> </a:t>
            </a:r>
            <a:r>
              <a:rPr dirty="0" sz="1200" spc="-5">
                <a:latin typeface="Arial"/>
                <a:cs typeface="Arial"/>
              </a:rPr>
              <a:t>His</a:t>
            </a:r>
            <a:r>
              <a:rPr dirty="0" sz="1200" spc="220">
                <a:latin typeface="Arial"/>
                <a:cs typeface="Arial"/>
              </a:rPr>
              <a:t> </a:t>
            </a:r>
            <a:r>
              <a:rPr dirty="0" sz="1200" spc="-5">
                <a:latin typeface="Arial"/>
                <a:cs typeface="Arial"/>
              </a:rPr>
              <a:t>signs</a:t>
            </a:r>
            <a:r>
              <a:rPr dirty="0" sz="1200" spc="225">
                <a:latin typeface="Arial"/>
                <a:cs typeface="Arial"/>
              </a:rPr>
              <a:t> </a:t>
            </a:r>
            <a:r>
              <a:rPr dirty="0" sz="1200" spc="-5">
                <a:latin typeface="Arial"/>
                <a:cs typeface="Arial"/>
              </a:rPr>
              <a:t>and</a:t>
            </a:r>
            <a:r>
              <a:rPr dirty="0" sz="1200" spc="225">
                <a:latin typeface="Arial"/>
                <a:cs typeface="Arial"/>
              </a:rPr>
              <a:t> </a:t>
            </a:r>
            <a:r>
              <a:rPr dirty="0" sz="1200" spc="-5">
                <a:latin typeface="Arial"/>
                <a:cs typeface="Arial"/>
              </a:rPr>
              <a:t>attributes,</a:t>
            </a:r>
            <a:r>
              <a:rPr dirty="0" sz="1200" spc="229">
                <a:latin typeface="Arial"/>
                <a:cs typeface="Arial"/>
              </a:rPr>
              <a:t> </a:t>
            </a:r>
            <a:r>
              <a:rPr dirty="0" sz="1200" spc="-5">
                <a:latin typeface="Arial"/>
                <a:cs typeface="Arial"/>
              </a:rPr>
              <a:t>the</a:t>
            </a:r>
            <a:r>
              <a:rPr dirty="0" sz="1200" spc="225">
                <a:latin typeface="Arial"/>
                <a:cs typeface="Arial"/>
              </a:rPr>
              <a:t> </a:t>
            </a:r>
            <a:r>
              <a:rPr dirty="0" sz="1200">
                <a:latin typeface="Arial"/>
                <a:cs typeface="Arial"/>
              </a:rPr>
              <a:t>past</a:t>
            </a:r>
            <a:r>
              <a:rPr dirty="0" sz="1200" spc="229">
                <a:latin typeface="Arial"/>
                <a:cs typeface="Arial"/>
              </a:rPr>
              <a:t> </a:t>
            </a:r>
            <a:r>
              <a:rPr dirty="0" sz="1200">
                <a:latin typeface="Arial"/>
                <a:cs typeface="Arial"/>
              </a:rPr>
              <a:t>(stories</a:t>
            </a:r>
            <a:r>
              <a:rPr dirty="0" sz="1200" spc="220">
                <a:latin typeface="Arial"/>
                <a:cs typeface="Arial"/>
              </a:rPr>
              <a:t> </a:t>
            </a:r>
            <a:r>
              <a:rPr dirty="0" sz="1200" spc="-5">
                <a:latin typeface="Arial"/>
                <a:cs typeface="Arial"/>
              </a:rPr>
              <a:t>of</a:t>
            </a:r>
            <a:r>
              <a:rPr dirty="0" sz="1200" spc="240">
                <a:latin typeface="Arial"/>
                <a:cs typeface="Arial"/>
              </a:rPr>
              <a:t> </a:t>
            </a:r>
            <a:r>
              <a:rPr dirty="0" sz="1200" spc="-5">
                <a:latin typeface="Arial"/>
                <a:cs typeface="Arial"/>
              </a:rPr>
              <a:t>earlier</a:t>
            </a:r>
            <a:r>
              <a:rPr dirty="0" sz="1200" spc="220">
                <a:latin typeface="Arial"/>
                <a:cs typeface="Arial"/>
              </a:rPr>
              <a:t> </a:t>
            </a:r>
            <a:r>
              <a:rPr dirty="0" sz="1200" spc="-5">
                <a:latin typeface="Arial"/>
                <a:cs typeface="Arial"/>
              </a:rPr>
              <a:t>prophets)</a:t>
            </a:r>
            <a:r>
              <a:rPr dirty="0" sz="1200" spc="225">
                <a:latin typeface="Arial"/>
                <a:cs typeface="Arial"/>
              </a:rPr>
              <a:t> </a:t>
            </a:r>
            <a:r>
              <a:rPr dirty="0" sz="1200" spc="-5">
                <a:latin typeface="Arial"/>
                <a:cs typeface="Arial"/>
              </a:rPr>
              <a:t>the</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41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900" cy="933831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469900" marR="5080">
              <a:lnSpc>
                <a:spcPts val="1380"/>
              </a:lnSpc>
            </a:pPr>
            <a:r>
              <a:rPr dirty="0" sz="1200" spc="-5">
                <a:latin typeface="Arial"/>
                <a:cs typeface="Arial"/>
              </a:rPr>
              <a:t>present and the </a:t>
            </a:r>
            <a:r>
              <a:rPr dirty="0" sz="1200">
                <a:latin typeface="Arial"/>
                <a:cs typeface="Arial"/>
              </a:rPr>
              <a:t>future (the </a:t>
            </a:r>
            <a:r>
              <a:rPr dirty="0" sz="1200" spc="-5">
                <a:latin typeface="Arial"/>
                <a:cs typeface="Arial"/>
              </a:rPr>
              <a:t>Day </a:t>
            </a:r>
            <a:r>
              <a:rPr dirty="0" sz="1200">
                <a:latin typeface="Arial"/>
                <a:cs typeface="Arial"/>
              </a:rPr>
              <a:t>of </a:t>
            </a:r>
            <a:r>
              <a:rPr dirty="0" sz="1200" spc="-5">
                <a:latin typeface="Arial"/>
                <a:cs typeface="Arial"/>
              </a:rPr>
              <a:t>Judgement, Paradise and Hell); therefore vital that  </a:t>
            </a:r>
            <a:r>
              <a:rPr dirty="0" sz="1200">
                <a:latin typeface="Arial"/>
                <a:cs typeface="Arial"/>
              </a:rPr>
              <a:t>the </a:t>
            </a:r>
            <a:r>
              <a:rPr dirty="0" sz="1200" spc="-5">
                <a:latin typeface="Arial"/>
                <a:cs typeface="Arial"/>
              </a:rPr>
              <a:t>revelations had to be</a:t>
            </a:r>
            <a:r>
              <a:rPr dirty="0" sz="1200" spc="5">
                <a:latin typeface="Arial"/>
                <a:cs typeface="Arial"/>
              </a:rPr>
              <a:t> </a:t>
            </a:r>
            <a:r>
              <a:rPr dirty="0" sz="1200" spc="-5">
                <a:latin typeface="Arial"/>
                <a:cs typeface="Arial"/>
              </a:rPr>
              <a:t>recorded</a:t>
            </a:r>
            <a:endParaRPr sz="1200">
              <a:latin typeface="Arial"/>
              <a:cs typeface="Arial"/>
            </a:endParaRPr>
          </a:p>
          <a:p>
            <a:pPr algn="just" marL="469900" marR="6985" indent="-229235">
              <a:lnSpc>
                <a:spcPts val="1380"/>
              </a:lnSpc>
              <a:spcBef>
                <a:spcPts val="5"/>
              </a:spcBef>
              <a:buAutoNum type="arabicPeriod" startAt="5"/>
              <a:tabLst>
                <a:tab pos="470534" algn="l"/>
              </a:tabLst>
            </a:pPr>
            <a:r>
              <a:rPr dirty="0" sz="1200">
                <a:latin typeface="Arial"/>
                <a:cs typeface="Arial"/>
              </a:rPr>
              <a:t>The </a:t>
            </a:r>
            <a:r>
              <a:rPr dirty="0" sz="1200" spc="-5">
                <a:latin typeface="Arial"/>
                <a:cs typeface="Arial"/>
              </a:rPr>
              <a:t>Qur‘an </a:t>
            </a:r>
            <a:r>
              <a:rPr dirty="0" sz="1200" spc="-10">
                <a:latin typeface="Arial"/>
                <a:cs typeface="Arial"/>
              </a:rPr>
              <a:t>gives </a:t>
            </a:r>
            <a:r>
              <a:rPr dirty="0" sz="1200" spc="-5">
                <a:latin typeface="Arial"/>
                <a:cs typeface="Arial"/>
              </a:rPr>
              <a:t>infallible guidance to Muslims </a:t>
            </a:r>
            <a:r>
              <a:rPr dirty="0" sz="1200">
                <a:latin typeface="Arial"/>
                <a:cs typeface="Arial"/>
              </a:rPr>
              <a:t>on how to </a:t>
            </a:r>
            <a:r>
              <a:rPr dirty="0" sz="1200" spc="-5">
                <a:latin typeface="Arial"/>
                <a:cs typeface="Arial"/>
              </a:rPr>
              <a:t>conduct </a:t>
            </a:r>
            <a:r>
              <a:rPr dirty="0" sz="1200">
                <a:latin typeface="Arial"/>
                <a:cs typeface="Arial"/>
              </a:rPr>
              <a:t>their </a:t>
            </a:r>
            <a:r>
              <a:rPr dirty="0" sz="1200" spc="-5">
                <a:latin typeface="Arial"/>
                <a:cs typeface="Arial"/>
              </a:rPr>
              <a:t>lives; it is the  foundation of Islam, guides us about Hajj, Ramadan, </a:t>
            </a:r>
            <a:r>
              <a:rPr dirty="0" sz="1200">
                <a:latin typeface="Arial"/>
                <a:cs typeface="Arial"/>
              </a:rPr>
              <a:t>Zakat </a:t>
            </a:r>
            <a:r>
              <a:rPr dirty="0" sz="1200" spc="-5">
                <a:latin typeface="Arial"/>
                <a:cs typeface="Arial"/>
              </a:rPr>
              <a:t>and worship; </a:t>
            </a:r>
            <a:r>
              <a:rPr dirty="0" sz="1200" spc="-10">
                <a:latin typeface="Arial"/>
                <a:cs typeface="Arial"/>
              </a:rPr>
              <a:t>if </a:t>
            </a:r>
            <a:r>
              <a:rPr dirty="0" sz="1200" spc="-5">
                <a:latin typeface="Arial"/>
                <a:cs typeface="Arial"/>
              </a:rPr>
              <a:t>not  compiled </a:t>
            </a:r>
            <a:r>
              <a:rPr dirty="0" sz="1200">
                <a:latin typeface="Arial"/>
                <a:cs typeface="Arial"/>
              </a:rPr>
              <a:t>it </a:t>
            </a:r>
            <a:r>
              <a:rPr dirty="0" sz="1200" spc="-5">
                <a:latin typeface="Arial"/>
                <a:cs typeface="Arial"/>
              </a:rPr>
              <a:t>would </a:t>
            </a:r>
            <a:r>
              <a:rPr dirty="0" sz="1200" spc="-10">
                <a:latin typeface="Arial"/>
                <a:cs typeface="Arial"/>
              </a:rPr>
              <a:t>be</a:t>
            </a:r>
            <a:r>
              <a:rPr dirty="0" sz="1200" spc="20">
                <a:latin typeface="Arial"/>
                <a:cs typeface="Arial"/>
              </a:rPr>
              <a:t> </a:t>
            </a:r>
            <a:r>
              <a:rPr dirty="0" sz="1200" spc="-5">
                <a:latin typeface="Arial"/>
                <a:cs typeface="Arial"/>
              </a:rPr>
              <a:t>irreplaceable</a:t>
            </a:r>
            <a:endParaRPr sz="1200">
              <a:latin typeface="Arial"/>
              <a:cs typeface="Arial"/>
            </a:endParaRPr>
          </a:p>
          <a:p>
            <a:pPr algn="just" marL="469900" marR="6350" indent="-229235">
              <a:lnSpc>
                <a:spcPts val="1380"/>
              </a:lnSpc>
              <a:buAutoNum type="arabicPeriod" startAt="5"/>
              <a:tabLst>
                <a:tab pos="470534" algn="l"/>
              </a:tabLst>
            </a:pPr>
            <a:r>
              <a:rPr dirty="0" sz="1200" spc="-5">
                <a:latin typeface="Arial"/>
                <a:cs typeface="Arial"/>
              </a:rPr>
              <a:t>Early Muslims were men of vision. </a:t>
            </a:r>
            <a:r>
              <a:rPr dirty="0" sz="1200">
                <a:latin typeface="Arial"/>
                <a:cs typeface="Arial"/>
              </a:rPr>
              <a:t>They </a:t>
            </a:r>
            <a:r>
              <a:rPr dirty="0" sz="1200" spc="-5">
                <a:latin typeface="Arial"/>
                <a:cs typeface="Arial"/>
              </a:rPr>
              <a:t>knew </a:t>
            </a:r>
            <a:r>
              <a:rPr dirty="0" sz="1200">
                <a:latin typeface="Arial"/>
                <a:cs typeface="Arial"/>
              </a:rPr>
              <a:t>the </a:t>
            </a:r>
            <a:r>
              <a:rPr dirty="0" sz="1200" spc="-5">
                <a:latin typeface="Arial"/>
                <a:cs typeface="Arial"/>
              </a:rPr>
              <a:t>message of </a:t>
            </a:r>
            <a:r>
              <a:rPr dirty="0" sz="1200">
                <a:latin typeface="Arial"/>
                <a:cs typeface="Arial"/>
              </a:rPr>
              <a:t>the </a:t>
            </a:r>
            <a:r>
              <a:rPr dirty="0" sz="1200" spc="-5">
                <a:latin typeface="Arial"/>
                <a:cs typeface="Arial"/>
              </a:rPr>
              <a:t>Qur‘an was </a:t>
            </a:r>
            <a:r>
              <a:rPr dirty="0" sz="1200">
                <a:latin typeface="Arial"/>
                <a:cs typeface="Arial"/>
              </a:rPr>
              <a:t>for </a:t>
            </a:r>
            <a:r>
              <a:rPr dirty="0" sz="1200" spc="-5">
                <a:latin typeface="Arial"/>
                <a:cs typeface="Arial"/>
              </a:rPr>
              <a:t>all  people in </a:t>
            </a:r>
            <a:r>
              <a:rPr dirty="0" sz="1200">
                <a:latin typeface="Arial"/>
                <a:cs typeface="Arial"/>
              </a:rPr>
              <a:t>the </a:t>
            </a:r>
            <a:r>
              <a:rPr dirty="0" sz="1200" spc="-10">
                <a:latin typeface="Arial"/>
                <a:cs typeface="Arial"/>
              </a:rPr>
              <a:t>world </a:t>
            </a:r>
            <a:r>
              <a:rPr dirty="0" sz="1200" spc="-5">
                <a:latin typeface="Arial"/>
                <a:cs typeface="Arial"/>
              </a:rPr>
              <a:t>not </a:t>
            </a:r>
            <a:r>
              <a:rPr dirty="0" sz="1200">
                <a:latin typeface="Arial"/>
                <a:cs typeface="Arial"/>
              </a:rPr>
              <a:t>just the </a:t>
            </a:r>
            <a:r>
              <a:rPr dirty="0" sz="1200" spc="-5">
                <a:latin typeface="Arial"/>
                <a:cs typeface="Arial"/>
              </a:rPr>
              <a:t>Arabs. The Muslim empire </a:t>
            </a:r>
            <a:r>
              <a:rPr dirty="0" sz="1200" spc="-10">
                <a:latin typeface="Arial"/>
                <a:cs typeface="Arial"/>
              </a:rPr>
              <a:t>was </a:t>
            </a:r>
            <a:r>
              <a:rPr dirty="0" sz="1200" spc="-5">
                <a:latin typeface="Arial"/>
                <a:cs typeface="Arial"/>
              </a:rPr>
              <a:t>expanding, </a:t>
            </a:r>
            <a:r>
              <a:rPr dirty="0" sz="1200">
                <a:latin typeface="Arial"/>
                <a:cs typeface="Arial"/>
              </a:rPr>
              <a:t>more  </a:t>
            </a:r>
            <a:r>
              <a:rPr dirty="0" sz="1200" spc="-5">
                <a:latin typeface="Arial"/>
                <a:cs typeface="Arial"/>
              </a:rPr>
              <a:t>people becoming Muslim, therefore vital </a:t>
            </a:r>
            <a:r>
              <a:rPr dirty="0" sz="1200">
                <a:latin typeface="Arial"/>
                <a:cs typeface="Arial"/>
              </a:rPr>
              <a:t>to </a:t>
            </a:r>
            <a:r>
              <a:rPr dirty="0" sz="1200" spc="-5">
                <a:latin typeface="Arial"/>
                <a:cs typeface="Arial"/>
              </a:rPr>
              <a:t>compile revelations so </a:t>
            </a:r>
            <a:r>
              <a:rPr dirty="0" sz="1200">
                <a:latin typeface="Arial"/>
                <a:cs typeface="Arial"/>
              </a:rPr>
              <a:t>that the </a:t>
            </a:r>
            <a:r>
              <a:rPr dirty="0" sz="1200" spc="-5">
                <a:latin typeface="Arial"/>
                <a:cs typeface="Arial"/>
              </a:rPr>
              <a:t>message  could be</a:t>
            </a:r>
            <a:r>
              <a:rPr dirty="0" sz="1200" spc="-10">
                <a:latin typeface="Arial"/>
                <a:cs typeface="Arial"/>
              </a:rPr>
              <a:t> </a:t>
            </a:r>
            <a:r>
              <a:rPr dirty="0" sz="1200" spc="-5">
                <a:latin typeface="Arial"/>
                <a:cs typeface="Arial"/>
              </a:rPr>
              <a:t>conveyed</a:t>
            </a:r>
            <a:endParaRPr sz="1200">
              <a:latin typeface="Arial"/>
              <a:cs typeface="Arial"/>
            </a:endParaRPr>
          </a:p>
          <a:p>
            <a:pPr algn="just" marL="469900" marR="11430" indent="-229235">
              <a:lnSpc>
                <a:spcPts val="1380"/>
              </a:lnSpc>
              <a:buAutoNum type="arabicPeriod" startAt="5"/>
              <a:tabLst>
                <a:tab pos="470534" algn="l"/>
              </a:tabLst>
            </a:pPr>
            <a:r>
              <a:rPr dirty="0" sz="1200" spc="-5">
                <a:latin typeface="Arial"/>
                <a:cs typeface="Arial"/>
              </a:rPr>
              <a:t>Allah tells </a:t>
            </a:r>
            <a:r>
              <a:rPr dirty="0" sz="1200">
                <a:latin typeface="Arial"/>
                <a:cs typeface="Arial"/>
              </a:rPr>
              <a:t>us </a:t>
            </a:r>
            <a:r>
              <a:rPr dirty="0" sz="1200" spc="-5">
                <a:latin typeface="Arial"/>
                <a:cs typeface="Arial"/>
              </a:rPr>
              <a:t>the Qur‘an is </a:t>
            </a:r>
            <a:r>
              <a:rPr dirty="0" sz="1200">
                <a:latin typeface="Arial"/>
                <a:cs typeface="Arial"/>
              </a:rPr>
              <a:t>for </a:t>
            </a:r>
            <a:r>
              <a:rPr dirty="0" sz="1200" spc="-75">
                <a:latin typeface="Arial"/>
                <a:cs typeface="Arial"/>
              </a:rPr>
              <a:t>‗those </a:t>
            </a:r>
            <a:r>
              <a:rPr dirty="0" sz="1200" spc="-5">
                <a:latin typeface="Arial"/>
                <a:cs typeface="Arial"/>
              </a:rPr>
              <a:t>who think‘, therefore early Muslims realised </a:t>
            </a:r>
            <a:r>
              <a:rPr dirty="0" sz="1200">
                <a:latin typeface="Arial"/>
                <a:cs typeface="Arial"/>
              </a:rPr>
              <a:t>a  </a:t>
            </a:r>
            <a:r>
              <a:rPr dirty="0" sz="1200" spc="-5">
                <a:latin typeface="Arial"/>
                <a:cs typeface="Arial"/>
              </a:rPr>
              <a:t>written version was imperative </a:t>
            </a:r>
            <a:r>
              <a:rPr dirty="0" sz="1200">
                <a:latin typeface="Arial"/>
                <a:cs typeface="Arial"/>
              </a:rPr>
              <a:t>so </a:t>
            </a:r>
            <a:r>
              <a:rPr dirty="0" sz="1200" spc="-5">
                <a:latin typeface="Arial"/>
                <a:cs typeface="Arial"/>
              </a:rPr>
              <a:t>that individual Muslims could read it </a:t>
            </a:r>
            <a:r>
              <a:rPr dirty="0" sz="1200">
                <a:latin typeface="Arial"/>
                <a:cs typeface="Arial"/>
              </a:rPr>
              <a:t>and </a:t>
            </a:r>
            <a:r>
              <a:rPr dirty="0" sz="1200" spc="-5">
                <a:latin typeface="Arial"/>
                <a:cs typeface="Arial"/>
              </a:rPr>
              <a:t>take Allah‘s  message </a:t>
            </a:r>
            <a:r>
              <a:rPr dirty="0" sz="1200">
                <a:latin typeface="Arial"/>
                <a:cs typeface="Arial"/>
              </a:rPr>
              <a:t>to</a:t>
            </a:r>
            <a:r>
              <a:rPr dirty="0" sz="1200" spc="-15">
                <a:latin typeface="Arial"/>
                <a:cs typeface="Arial"/>
              </a:rPr>
              <a:t> </a:t>
            </a:r>
            <a:r>
              <a:rPr dirty="0" sz="1200" spc="-5">
                <a:latin typeface="Arial"/>
                <a:cs typeface="Arial"/>
              </a:rPr>
              <a:t>heart</a:t>
            </a:r>
            <a:endParaRPr sz="1200">
              <a:latin typeface="Arial"/>
              <a:cs typeface="Arial"/>
            </a:endParaRPr>
          </a:p>
          <a:p>
            <a:pPr algn="just" marL="469900" marR="6350" indent="-229235">
              <a:lnSpc>
                <a:spcPts val="1380"/>
              </a:lnSpc>
              <a:buAutoNum type="arabicPeriod" startAt="5"/>
              <a:tabLst>
                <a:tab pos="470534" algn="l"/>
              </a:tabLst>
            </a:pPr>
            <a:r>
              <a:rPr dirty="0" sz="1200">
                <a:latin typeface="Arial"/>
                <a:cs typeface="Arial"/>
              </a:rPr>
              <a:t>It </a:t>
            </a:r>
            <a:r>
              <a:rPr dirty="0" sz="1200" spc="-5">
                <a:latin typeface="Arial"/>
                <a:cs typeface="Arial"/>
              </a:rPr>
              <a:t>is </a:t>
            </a:r>
            <a:r>
              <a:rPr dirty="0" sz="1200">
                <a:latin typeface="Arial"/>
                <a:cs typeface="Arial"/>
              </a:rPr>
              <a:t>a </a:t>
            </a:r>
            <a:r>
              <a:rPr dirty="0" sz="1200" spc="-5">
                <a:latin typeface="Arial"/>
                <a:cs typeface="Arial"/>
              </a:rPr>
              <a:t>mean </a:t>
            </a:r>
            <a:r>
              <a:rPr dirty="0" sz="1200">
                <a:latin typeface="Arial"/>
                <a:cs typeface="Arial"/>
              </a:rPr>
              <a:t>for </a:t>
            </a:r>
            <a:r>
              <a:rPr dirty="0" sz="1200" spc="-5">
                <a:latin typeface="Arial"/>
                <a:cs typeface="Arial"/>
              </a:rPr>
              <a:t>those who don‘t </a:t>
            </a:r>
            <a:r>
              <a:rPr dirty="0" sz="1200">
                <a:latin typeface="Arial"/>
                <a:cs typeface="Arial"/>
              </a:rPr>
              <a:t>know the </a:t>
            </a:r>
            <a:r>
              <a:rPr dirty="0" sz="1200" spc="-5">
                <a:latin typeface="Arial"/>
                <a:cs typeface="Arial"/>
              </a:rPr>
              <a:t>Qur‘an </a:t>
            </a:r>
            <a:r>
              <a:rPr dirty="0" sz="1200">
                <a:latin typeface="Arial"/>
                <a:cs typeface="Arial"/>
              </a:rPr>
              <a:t>to </a:t>
            </a:r>
            <a:r>
              <a:rPr dirty="0" sz="1200" spc="-5">
                <a:latin typeface="Arial"/>
                <a:cs typeface="Arial"/>
              </a:rPr>
              <a:t>handle the </a:t>
            </a:r>
            <a:r>
              <a:rPr dirty="0" sz="1200" spc="-10">
                <a:latin typeface="Arial"/>
                <a:cs typeface="Arial"/>
              </a:rPr>
              <a:t>book </a:t>
            </a:r>
            <a:r>
              <a:rPr dirty="0" sz="1200">
                <a:latin typeface="Arial"/>
                <a:cs typeface="Arial"/>
              </a:rPr>
              <a:t>for </a:t>
            </a:r>
            <a:r>
              <a:rPr dirty="0" sz="1200" spc="-5">
                <a:latin typeface="Arial"/>
                <a:cs typeface="Arial"/>
              </a:rPr>
              <a:t>reading and  studying.</a:t>
            </a:r>
            <a:endParaRPr sz="1200">
              <a:latin typeface="Arial"/>
              <a:cs typeface="Arial"/>
            </a:endParaRPr>
          </a:p>
          <a:p>
            <a:pPr algn="just" marL="469900" indent="-229235">
              <a:lnSpc>
                <a:spcPts val="1315"/>
              </a:lnSpc>
              <a:buAutoNum type="arabicPeriod" startAt="5"/>
              <a:tabLst>
                <a:tab pos="470534" algn="l"/>
              </a:tabLst>
            </a:pPr>
            <a:r>
              <a:rPr dirty="0" sz="1200">
                <a:latin typeface="Arial"/>
                <a:cs typeface="Arial"/>
              </a:rPr>
              <a:t>It </a:t>
            </a:r>
            <a:r>
              <a:rPr dirty="0" sz="1200" spc="-5">
                <a:latin typeface="Arial"/>
                <a:cs typeface="Arial"/>
              </a:rPr>
              <a:t>is a mean of obtaining blessing </a:t>
            </a:r>
            <a:r>
              <a:rPr dirty="0" sz="1200">
                <a:latin typeface="Arial"/>
                <a:cs typeface="Arial"/>
              </a:rPr>
              <a:t>and </a:t>
            </a:r>
            <a:r>
              <a:rPr dirty="0" sz="1200" spc="-5">
                <a:latin typeface="Arial"/>
                <a:cs typeface="Arial"/>
              </a:rPr>
              <a:t>favours from</a:t>
            </a:r>
            <a:r>
              <a:rPr dirty="0" sz="1200" spc="15">
                <a:latin typeface="Arial"/>
                <a:cs typeface="Arial"/>
              </a:rPr>
              <a:t> </a:t>
            </a:r>
            <a:r>
              <a:rPr dirty="0" sz="1200" spc="-5">
                <a:latin typeface="Arial"/>
                <a:cs typeface="Arial"/>
              </a:rPr>
              <a:t>Allah</a:t>
            </a:r>
            <a:endParaRPr sz="1200">
              <a:latin typeface="Arial"/>
              <a:cs typeface="Arial"/>
            </a:endParaRPr>
          </a:p>
          <a:p>
            <a:pPr algn="just" marL="469900" indent="-229235">
              <a:lnSpc>
                <a:spcPts val="1410"/>
              </a:lnSpc>
              <a:buAutoNum type="arabicPeriod" startAt="5"/>
              <a:tabLst>
                <a:tab pos="470534" algn="l"/>
              </a:tabLst>
            </a:pPr>
            <a:r>
              <a:rPr dirty="0" sz="1200">
                <a:latin typeface="Arial"/>
                <a:cs typeface="Arial"/>
              </a:rPr>
              <a:t>It </a:t>
            </a:r>
            <a:r>
              <a:rPr dirty="0" sz="1200" spc="-5">
                <a:latin typeface="Arial"/>
                <a:cs typeface="Arial"/>
              </a:rPr>
              <a:t>is a source of guidance and a book </a:t>
            </a:r>
            <a:r>
              <a:rPr dirty="0" sz="1200">
                <a:latin typeface="Arial"/>
                <a:cs typeface="Arial"/>
              </a:rPr>
              <a:t>to </a:t>
            </a:r>
            <a:r>
              <a:rPr dirty="0" sz="1200" spc="-5">
                <a:latin typeface="Arial"/>
                <a:cs typeface="Arial"/>
              </a:rPr>
              <a:t>help the Jurists of</a:t>
            </a:r>
            <a:r>
              <a:rPr dirty="0" sz="1200" spc="70">
                <a:latin typeface="Arial"/>
                <a:cs typeface="Arial"/>
              </a:rPr>
              <a:t> </a:t>
            </a:r>
            <a:r>
              <a:rPr dirty="0" sz="1200" spc="-5">
                <a:latin typeface="Arial"/>
                <a:cs typeface="Arial"/>
              </a:rPr>
              <a:t>Islam.</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Why is the era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four Rightly </a:t>
            </a:r>
            <a:r>
              <a:rPr dirty="0" u="heavy" sz="1200" b="1" i="1">
                <a:uFill>
                  <a:solidFill>
                    <a:srgbClr val="000000"/>
                  </a:solidFill>
                </a:uFill>
                <a:latin typeface="Arial"/>
                <a:cs typeface="Arial"/>
              </a:rPr>
              <a:t>Guided </a:t>
            </a:r>
            <a:r>
              <a:rPr dirty="0" u="heavy" sz="1200" spc="-5" b="1" i="1">
                <a:uFill>
                  <a:solidFill>
                    <a:srgbClr val="000000"/>
                  </a:solidFill>
                </a:uFill>
                <a:latin typeface="Arial"/>
                <a:cs typeface="Arial"/>
              </a:rPr>
              <a:t>Caliphs </a:t>
            </a:r>
            <a:r>
              <a:rPr dirty="0" u="heavy" sz="1200" b="1" i="1">
                <a:uFill>
                  <a:solidFill>
                    <a:srgbClr val="000000"/>
                  </a:solidFill>
                </a:uFill>
                <a:latin typeface="Arial"/>
                <a:cs typeface="Arial"/>
              </a:rPr>
              <a:t>known as </a:t>
            </a:r>
            <a:r>
              <a:rPr dirty="0" u="heavy" sz="1200" spc="-5" b="1" i="1">
                <a:uFill>
                  <a:solidFill>
                    <a:srgbClr val="000000"/>
                  </a:solidFill>
                </a:uFill>
                <a:latin typeface="Arial"/>
                <a:cs typeface="Arial"/>
              </a:rPr>
              <a:t>the </a:t>
            </a:r>
            <a:r>
              <a:rPr dirty="0" u="heavy" sz="1200" b="1" i="1">
                <a:uFill>
                  <a:solidFill>
                    <a:srgbClr val="000000"/>
                  </a:solidFill>
                </a:uFill>
                <a:latin typeface="Arial"/>
                <a:cs typeface="Arial"/>
              </a:rPr>
              <a:t>Golden </a:t>
            </a:r>
            <a:r>
              <a:rPr dirty="0" u="heavy" sz="1200" spc="-5" b="1" i="1">
                <a:uFill>
                  <a:solidFill>
                    <a:srgbClr val="000000"/>
                  </a:solidFill>
                </a:uFill>
                <a:latin typeface="Arial"/>
                <a:cs typeface="Arial"/>
              </a:rPr>
              <a:t>Age </a:t>
            </a:r>
            <a:r>
              <a:rPr dirty="0" u="heavy" sz="1200" b="1" i="1">
                <a:uFill>
                  <a:solidFill>
                    <a:srgbClr val="000000"/>
                  </a:solidFill>
                </a:uFill>
                <a:latin typeface="Arial"/>
                <a:cs typeface="Arial"/>
              </a:rPr>
              <a:t>of</a:t>
            </a:r>
            <a:r>
              <a:rPr dirty="0" u="heavy" sz="1200" spc="65" b="1" i="1">
                <a:uFill>
                  <a:solidFill>
                    <a:srgbClr val="000000"/>
                  </a:solidFill>
                </a:uFill>
                <a:latin typeface="Arial"/>
                <a:cs typeface="Arial"/>
              </a:rPr>
              <a:t> </a:t>
            </a:r>
            <a:r>
              <a:rPr dirty="0" u="heavy" sz="1200" spc="-5" b="1" i="1">
                <a:uFill>
                  <a:solidFill>
                    <a:srgbClr val="000000"/>
                  </a:solidFill>
                </a:uFill>
                <a:latin typeface="Arial"/>
                <a:cs typeface="Arial"/>
              </a:rPr>
              <a:t>Islam?</a:t>
            </a:r>
            <a:endParaRPr sz="1200">
              <a:latin typeface="Arial"/>
              <a:cs typeface="Arial"/>
            </a:endParaRPr>
          </a:p>
          <a:p>
            <a:pPr>
              <a:lnSpc>
                <a:spcPct val="100000"/>
              </a:lnSpc>
              <a:spcBef>
                <a:spcPts val="35"/>
              </a:spcBef>
            </a:pPr>
            <a:endParaRPr sz="1200">
              <a:latin typeface="Arial"/>
              <a:cs typeface="Arial"/>
            </a:endParaRPr>
          </a:p>
          <a:p>
            <a:pPr marL="469900" marR="5080" indent="-229235">
              <a:lnSpc>
                <a:spcPts val="1380"/>
              </a:lnSpc>
              <a:buAutoNum type="arabicPeriod"/>
              <a:tabLst>
                <a:tab pos="470534" algn="l"/>
              </a:tabLst>
            </a:pPr>
            <a:r>
              <a:rPr dirty="0" sz="1200">
                <a:latin typeface="Arial"/>
                <a:cs typeface="Arial"/>
              </a:rPr>
              <a:t>Caliphs </a:t>
            </a:r>
            <a:r>
              <a:rPr dirty="0" sz="1200" spc="-5">
                <a:latin typeface="Arial"/>
                <a:cs typeface="Arial"/>
              </a:rPr>
              <a:t>[khalifa] were </a:t>
            </a:r>
            <a:r>
              <a:rPr dirty="0" sz="1200">
                <a:latin typeface="Arial"/>
                <a:cs typeface="Arial"/>
              </a:rPr>
              <a:t>from </a:t>
            </a:r>
            <a:r>
              <a:rPr dirty="0" sz="1200" spc="-5">
                <a:latin typeface="Arial"/>
                <a:cs typeface="Arial"/>
              </a:rPr>
              <a:t>amongst the closest companions of the Prophet; </a:t>
            </a:r>
            <a:r>
              <a:rPr dirty="0" sz="1200" spc="-10">
                <a:latin typeface="Arial"/>
                <a:cs typeface="Arial"/>
              </a:rPr>
              <a:t>hence the  </a:t>
            </a:r>
            <a:r>
              <a:rPr dirty="0" sz="1200" spc="-5">
                <a:latin typeface="Arial"/>
                <a:cs typeface="Arial"/>
              </a:rPr>
              <a:t>were the best people after the prophets and</a:t>
            </a:r>
            <a:r>
              <a:rPr dirty="0" sz="1200" spc="25">
                <a:latin typeface="Arial"/>
                <a:cs typeface="Arial"/>
              </a:rPr>
              <a:t> </a:t>
            </a:r>
            <a:r>
              <a:rPr dirty="0" sz="1200" spc="-5">
                <a:latin typeface="Arial"/>
                <a:cs typeface="Arial"/>
              </a:rPr>
              <a:t>messengers.</a:t>
            </a:r>
            <a:endParaRPr sz="1200">
              <a:latin typeface="Arial"/>
              <a:cs typeface="Arial"/>
            </a:endParaRPr>
          </a:p>
          <a:p>
            <a:pPr marL="469900" marR="12700" indent="-229235">
              <a:lnSpc>
                <a:spcPts val="1380"/>
              </a:lnSpc>
              <a:buAutoNum type="arabicPeriod"/>
              <a:tabLst>
                <a:tab pos="470534" algn="l"/>
              </a:tabLst>
            </a:pPr>
            <a:r>
              <a:rPr dirty="0" sz="1200" spc="-5">
                <a:latin typeface="Arial"/>
                <a:cs typeface="Arial"/>
              </a:rPr>
              <a:t>Their personal character, conduct and attitude followed </a:t>
            </a:r>
            <a:r>
              <a:rPr dirty="0" sz="1200">
                <a:latin typeface="Arial"/>
                <a:cs typeface="Arial"/>
              </a:rPr>
              <a:t>the </a:t>
            </a:r>
            <a:r>
              <a:rPr dirty="0" sz="1200" spc="-5">
                <a:latin typeface="Arial"/>
                <a:cs typeface="Arial"/>
              </a:rPr>
              <a:t>letter and spirit </a:t>
            </a:r>
            <a:r>
              <a:rPr dirty="0" sz="1200">
                <a:latin typeface="Arial"/>
                <a:cs typeface="Arial"/>
              </a:rPr>
              <a:t>of </a:t>
            </a:r>
            <a:r>
              <a:rPr dirty="0" sz="1200" spc="-5">
                <a:latin typeface="Arial"/>
                <a:cs typeface="Arial"/>
              </a:rPr>
              <a:t>the  Qur‘an and</a:t>
            </a:r>
            <a:r>
              <a:rPr dirty="0" sz="1200" spc="10">
                <a:latin typeface="Arial"/>
                <a:cs typeface="Arial"/>
              </a:rPr>
              <a:t> </a:t>
            </a:r>
            <a:r>
              <a:rPr dirty="0" sz="1200" spc="-5">
                <a:latin typeface="Arial"/>
                <a:cs typeface="Arial"/>
              </a:rPr>
              <a:t>sunnah.</a:t>
            </a:r>
            <a:endParaRPr sz="1200">
              <a:latin typeface="Arial"/>
              <a:cs typeface="Arial"/>
            </a:endParaRPr>
          </a:p>
          <a:p>
            <a:pPr marL="469900" marR="9525" indent="-229235">
              <a:lnSpc>
                <a:spcPts val="1380"/>
              </a:lnSpc>
              <a:buAutoNum type="arabicPeriod"/>
              <a:tabLst>
                <a:tab pos="470534" algn="l"/>
              </a:tabLst>
            </a:pPr>
            <a:r>
              <a:rPr dirty="0" sz="1200" spc="-5">
                <a:latin typeface="Arial"/>
                <a:cs typeface="Arial"/>
              </a:rPr>
              <a:t>Their </a:t>
            </a:r>
            <a:r>
              <a:rPr dirty="0" sz="1200" spc="-10">
                <a:latin typeface="Arial"/>
                <a:cs typeface="Arial"/>
              </a:rPr>
              <a:t>way </a:t>
            </a:r>
            <a:r>
              <a:rPr dirty="0" sz="1200">
                <a:latin typeface="Arial"/>
                <a:cs typeface="Arial"/>
              </a:rPr>
              <a:t>of </a:t>
            </a:r>
            <a:r>
              <a:rPr dirty="0" sz="1200" spc="-5">
                <a:latin typeface="Arial"/>
                <a:cs typeface="Arial"/>
              </a:rPr>
              <a:t>life </a:t>
            </a:r>
            <a:r>
              <a:rPr dirty="0" sz="1200">
                <a:latin typeface="Arial"/>
                <a:cs typeface="Arial"/>
              </a:rPr>
              <a:t>far </a:t>
            </a:r>
            <a:r>
              <a:rPr dirty="0" sz="1200" spc="-5">
                <a:latin typeface="Arial"/>
                <a:cs typeface="Arial"/>
              </a:rPr>
              <a:t>from </a:t>
            </a:r>
            <a:r>
              <a:rPr dirty="0" sz="1200">
                <a:latin typeface="Arial"/>
                <a:cs typeface="Arial"/>
              </a:rPr>
              <a:t>show </a:t>
            </a:r>
            <a:r>
              <a:rPr dirty="0" sz="1200" spc="-5">
                <a:latin typeface="Arial"/>
                <a:cs typeface="Arial"/>
              </a:rPr>
              <a:t>off and exaggeration but </a:t>
            </a:r>
            <a:r>
              <a:rPr dirty="0" sz="1200">
                <a:latin typeface="Arial"/>
                <a:cs typeface="Arial"/>
              </a:rPr>
              <a:t>filled </a:t>
            </a:r>
            <a:r>
              <a:rPr dirty="0" sz="1200" spc="-5">
                <a:latin typeface="Arial"/>
                <a:cs typeface="Arial"/>
              </a:rPr>
              <a:t>with spirituality and  simplicity gave them that specific</a:t>
            </a:r>
            <a:r>
              <a:rPr dirty="0" sz="1200" spc="10">
                <a:latin typeface="Arial"/>
                <a:cs typeface="Arial"/>
              </a:rPr>
              <a:t> </a:t>
            </a:r>
            <a:r>
              <a:rPr dirty="0" sz="1200">
                <a:latin typeface="Arial"/>
                <a:cs typeface="Arial"/>
              </a:rPr>
              <a:t>beauty.</a:t>
            </a:r>
            <a:endParaRPr sz="1200">
              <a:latin typeface="Arial"/>
              <a:cs typeface="Arial"/>
            </a:endParaRPr>
          </a:p>
          <a:p>
            <a:pPr marL="469900" marR="9525" indent="-229235">
              <a:lnSpc>
                <a:spcPts val="1380"/>
              </a:lnSpc>
              <a:buAutoNum type="arabicPeriod"/>
              <a:tabLst>
                <a:tab pos="470534" algn="l"/>
              </a:tabLst>
            </a:pPr>
            <a:r>
              <a:rPr dirty="0" sz="1200" spc="-5">
                <a:latin typeface="Arial"/>
                <a:cs typeface="Arial"/>
              </a:rPr>
              <a:t>Each considered becoming Caliph [khalifa] a sacred </a:t>
            </a:r>
            <a:r>
              <a:rPr dirty="0" sz="1200">
                <a:latin typeface="Arial"/>
                <a:cs typeface="Arial"/>
              </a:rPr>
              <a:t>trust; </a:t>
            </a:r>
            <a:r>
              <a:rPr dirty="0" sz="1200" spc="-5">
                <a:latin typeface="Arial"/>
                <a:cs typeface="Arial"/>
              </a:rPr>
              <a:t>promoted the healthy  pattern of democracy known </a:t>
            </a:r>
            <a:r>
              <a:rPr dirty="0" sz="1200">
                <a:latin typeface="Arial"/>
                <a:cs typeface="Arial"/>
              </a:rPr>
              <a:t>as the </a:t>
            </a:r>
            <a:r>
              <a:rPr dirty="0" sz="1200" spc="-5">
                <a:latin typeface="Arial"/>
                <a:cs typeface="Arial"/>
              </a:rPr>
              <a:t>consultative system</a:t>
            </a:r>
            <a:r>
              <a:rPr dirty="0" sz="1200" spc="25">
                <a:latin typeface="Arial"/>
                <a:cs typeface="Arial"/>
              </a:rPr>
              <a:t> </a:t>
            </a:r>
            <a:r>
              <a:rPr dirty="0" sz="1200">
                <a:latin typeface="Arial"/>
                <a:cs typeface="Arial"/>
              </a:rPr>
              <a:t>[shura]</a:t>
            </a:r>
            <a:endParaRPr sz="1200">
              <a:latin typeface="Arial"/>
              <a:cs typeface="Arial"/>
            </a:endParaRPr>
          </a:p>
          <a:p>
            <a:pPr marL="469900" marR="6350" indent="-229235">
              <a:lnSpc>
                <a:spcPts val="1380"/>
              </a:lnSpc>
              <a:buFont typeface="Times New Roman"/>
              <a:buAutoNum type="arabicPeriod"/>
              <a:tabLst>
                <a:tab pos="470534" algn="l"/>
              </a:tabLst>
            </a:pPr>
            <a:r>
              <a:rPr dirty="0" sz="1200">
                <a:latin typeface="Arial"/>
                <a:cs typeface="Arial"/>
              </a:rPr>
              <a:t>They </a:t>
            </a:r>
            <a:r>
              <a:rPr dirty="0" sz="1200" spc="-5">
                <a:latin typeface="Arial"/>
                <a:cs typeface="Arial"/>
              </a:rPr>
              <a:t>were chosen by </a:t>
            </a:r>
            <a:r>
              <a:rPr dirty="0" sz="1200">
                <a:latin typeface="Arial"/>
                <a:cs typeface="Arial"/>
              </a:rPr>
              <a:t>this </a:t>
            </a:r>
            <a:r>
              <a:rPr dirty="0" sz="1200" spc="-5">
                <a:latin typeface="Arial"/>
                <a:cs typeface="Arial"/>
              </a:rPr>
              <a:t>system and were bound by </a:t>
            </a:r>
            <a:r>
              <a:rPr dirty="0" sz="1200">
                <a:latin typeface="Arial"/>
                <a:cs typeface="Arial"/>
              </a:rPr>
              <a:t>its decisions. </a:t>
            </a:r>
            <a:r>
              <a:rPr dirty="0" sz="1200" spc="-5">
                <a:latin typeface="Arial"/>
                <a:cs typeface="Arial"/>
              </a:rPr>
              <a:t>They didn‘t give </a:t>
            </a:r>
            <a:r>
              <a:rPr dirty="0" sz="1200">
                <a:latin typeface="Arial"/>
                <a:cs typeface="Arial"/>
              </a:rPr>
              <a:t>or  take </a:t>
            </a:r>
            <a:r>
              <a:rPr dirty="0" sz="1200" spc="-5">
                <a:latin typeface="Arial"/>
                <a:cs typeface="Arial"/>
              </a:rPr>
              <a:t>bribes to access khilafate</a:t>
            </a:r>
            <a:endParaRPr sz="1200">
              <a:latin typeface="Arial"/>
              <a:cs typeface="Arial"/>
            </a:endParaRPr>
          </a:p>
          <a:p>
            <a:pPr marL="469900" marR="11430" indent="-229235">
              <a:lnSpc>
                <a:spcPts val="1380"/>
              </a:lnSpc>
              <a:buAutoNum type="arabicPeriod"/>
              <a:tabLst>
                <a:tab pos="470534" algn="l"/>
              </a:tabLst>
            </a:pPr>
            <a:r>
              <a:rPr dirty="0" sz="1200" spc="-5">
                <a:latin typeface="Arial"/>
                <a:cs typeface="Arial"/>
              </a:rPr>
              <a:t>They were devoid of sins and immoralities. </a:t>
            </a:r>
            <a:r>
              <a:rPr dirty="0" sz="1200">
                <a:latin typeface="Arial"/>
                <a:cs typeface="Arial"/>
              </a:rPr>
              <a:t>They </a:t>
            </a:r>
            <a:r>
              <a:rPr dirty="0" sz="1200" spc="-5">
                <a:latin typeface="Arial"/>
                <a:cs typeface="Arial"/>
              </a:rPr>
              <a:t>were symbols and role models of the  Shari‘ah.</a:t>
            </a:r>
            <a:endParaRPr sz="1200">
              <a:latin typeface="Arial"/>
              <a:cs typeface="Arial"/>
            </a:endParaRPr>
          </a:p>
          <a:p>
            <a:pPr marL="469900" marR="6985" indent="-229235">
              <a:lnSpc>
                <a:spcPts val="1380"/>
              </a:lnSpc>
              <a:buFont typeface="Times New Roman"/>
              <a:buAutoNum type="arabicPeriod"/>
              <a:tabLst>
                <a:tab pos="470534" algn="l"/>
              </a:tabLst>
            </a:pPr>
            <a:r>
              <a:rPr dirty="0" sz="1200" spc="-5">
                <a:latin typeface="Arial"/>
                <a:cs typeface="Arial"/>
              </a:rPr>
              <a:t>Freedom of speech and basic human rights were </a:t>
            </a:r>
            <a:r>
              <a:rPr dirty="0" sz="1200">
                <a:latin typeface="Arial"/>
                <a:cs typeface="Arial"/>
              </a:rPr>
              <a:t>fully guaranteed for </a:t>
            </a:r>
            <a:r>
              <a:rPr dirty="0" sz="1200" spc="-5">
                <a:latin typeface="Arial"/>
                <a:cs typeface="Arial"/>
              </a:rPr>
              <a:t>Muslims and  non Muslims</a:t>
            </a:r>
            <a:r>
              <a:rPr dirty="0" sz="1200" spc="5">
                <a:latin typeface="Arial"/>
                <a:cs typeface="Arial"/>
              </a:rPr>
              <a:t> </a:t>
            </a:r>
            <a:r>
              <a:rPr dirty="0" sz="1200" spc="-5">
                <a:latin typeface="Arial"/>
                <a:cs typeface="Arial"/>
              </a:rPr>
              <a:t>alike</a:t>
            </a:r>
            <a:endParaRPr sz="1200">
              <a:latin typeface="Arial"/>
              <a:cs typeface="Arial"/>
            </a:endParaRPr>
          </a:p>
          <a:p>
            <a:pPr marL="469900" marR="5080" indent="-229235">
              <a:lnSpc>
                <a:spcPts val="1380"/>
              </a:lnSpc>
              <a:buAutoNum type="arabicPeriod"/>
              <a:tabLst>
                <a:tab pos="470534" algn="l"/>
              </a:tabLst>
            </a:pPr>
            <a:r>
              <a:rPr dirty="0" sz="1200" spc="-5">
                <a:latin typeface="Arial"/>
                <a:cs typeface="Arial"/>
              </a:rPr>
              <a:t>Caliph </a:t>
            </a:r>
            <a:r>
              <a:rPr dirty="0" sz="1200" spc="-10">
                <a:latin typeface="Arial"/>
                <a:cs typeface="Arial"/>
              </a:rPr>
              <a:t>was </a:t>
            </a:r>
            <a:r>
              <a:rPr dirty="0" sz="1200" spc="-5">
                <a:latin typeface="Arial"/>
                <a:cs typeface="Arial"/>
              </a:rPr>
              <a:t>accessible during five prayer </a:t>
            </a:r>
            <a:r>
              <a:rPr dirty="0" sz="1200">
                <a:latin typeface="Arial"/>
                <a:cs typeface="Arial"/>
              </a:rPr>
              <a:t>times </a:t>
            </a:r>
            <a:r>
              <a:rPr dirty="0" sz="1200" spc="-5">
                <a:latin typeface="Arial"/>
                <a:cs typeface="Arial"/>
              </a:rPr>
              <a:t>each day, </a:t>
            </a:r>
            <a:r>
              <a:rPr dirty="0" sz="1200" spc="-10">
                <a:latin typeface="Arial"/>
                <a:cs typeface="Arial"/>
              </a:rPr>
              <a:t>on </a:t>
            </a:r>
            <a:r>
              <a:rPr dirty="0" sz="1200" spc="-5">
                <a:latin typeface="Arial"/>
                <a:cs typeface="Arial"/>
              </a:rPr>
              <a:t>Friday and during Hajj  when people came from </a:t>
            </a:r>
            <a:r>
              <a:rPr dirty="0" sz="1200">
                <a:latin typeface="Arial"/>
                <a:cs typeface="Arial"/>
              </a:rPr>
              <a:t>far </a:t>
            </a:r>
            <a:r>
              <a:rPr dirty="0" sz="1200" spc="-5">
                <a:latin typeface="Arial"/>
                <a:cs typeface="Arial"/>
              </a:rPr>
              <a:t>and</a:t>
            </a:r>
            <a:r>
              <a:rPr dirty="0" sz="1200" spc="-10">
                <a:latin typeface="Arial"/>
                <a:cs typeface="Arial"/>
              </a:rPr>
              <a:t> </a:t>
            </a:r>
            <a:r>
              <a:rPr dirty="0" sz="1200" spc="-5">
                <a:latin typeface="Arial"/>
                <a:cs typeface="Arial"/>
              </a:rPr>
              <a:t>wide</a:t>
            </a:r>
            <a:endParaRPr sz="1200">
              <a:latin typeface="Arial"/>
              <a:cs typeface="Arial"/>
            </a:endParaRPr>
          </a:p>
          <a:p>
            <a:pPr marL="469900" indent="-229235">
              <a:lnSpc>
                <a:spcPts val="1300"/>
              </a:lnSpc>
              <a:buAutoNum type="arabicPeriod"/>
              <a:tabLst>
                <a:tab pos="470534" algn="l"/>
              </a:tabLst>
            </a:pPr>
            <a:r>
              <a:rPr dirty="0" sz="1200" spc="-5">
                <a:latin typeface="Arial"/>
                <a:cs typeface="Arial"/>
              </a:rPr>
              <a:t>They endeavoured </a:t>
            </a:r>
            <a:r>
              <a:rPr dirty="0" sz="1200">
                <a:latin typeface="Arial"/>
                <a:cs typeface="Arial"/>
              </a:rPr>
              <a:t>to make </a:t>
            </a:r>
            <a:r>
              <a:rPr dirty="0" sz="1200" spc="-5">
                <a:latin typeface="Arial"/>
                <a:cs typeface="Arial"/>
              </a:rPr>
              <a:t>the Caliphate a welfare state promoting</a:t>
            </a:r>
            <a:r>
              <a:rPr dirty="0" sz="1200">
                <a:latin typeface="Arial"/>
                <a:cs typeface="Arial"/>
              </a:rPr>
              <a:t> </a:t>
            </a:r>
            <a:r>
              <a:rPr dirty="0" sz="1200" spc="-5">
                <a:latin typeface="Arial"/>
                <a:cs typeface="Arial"/>
              </a:rPr>
              <a:t>brotherhood,</a:t>
            </a:r>
            <a:endParaRPr sz="1200">
              <a:latin typeface="Arial"/>
              <a:cs typeface="Arial"/>
            </a:endParaRPr>
          </a:p>
          <a:p>
            <a:pPr marL="469900">
              <a:lnSpc>
                <a:spcPts val="1380"/>
              </a:lnSpc>
            </a:pPr>
            <a:r>
              <a:rPr dirty="0" sz="1200" spc="-5">
                <a:latin typeface="Arial"/>
                <a:cs typeface="Arial"/>
              </a:rPr>
              <a:t>equality, prosperity </a:t>
            </a:r>
            <a:r>
              <a:rPr dirty="0" sz="1200">
                <a:latin typeface="Arial"/>
                <a:cs typeface="Arial"/>
              </a:rPr>
              <a:t>without</a:t>
            </a:r>
            <a:r>
              <a:rPr dirty="0" sz="1200" spc="-5">
                <a:latin typeface="Arial"/>
                <a:cs typeface="Arial"/>
              </a:rPr>
              <a:t> discrimination</a:t>
            </a:r>
            <a:endParaRPr sz="1200">
              <a:latin typeface="Arial"/>
              <a:cs typeface="Arial"/>
            </a:endParaRPr>
          </a:p>
          <a:p>
            <a:pPr marL="469900" marR="6985" indent="-229235">
              <a:lnSpc>
                <a:spcPts val="1380"/>
              </a:lnSpc>
              <a:spcBef>
                <a:spcPts val="70"/>
              </a:spcBef>
              <a:buAutoNum type="arabicPeriod" startAt="10"/>
              <a:tabLst>
                <a:tab pos="470534" algn="l"/>
              </a:tabLst>
            </a:pPr>
            <a:r>
              <a:rPr dirty="0" sz="1200" spc="-5">
                <a:latin typeface="Arial"/>
                <a:cs typeface="Arial"/>
              </a:rPr>
              <a:t>The state treasury </a:t>
            </a:r>
            <a:r>
              <a:rPr dirty="0" sz="1200">
                <a:latin typeface="Arial"/>
                <a:cs typeface="Arial"/>
              </a:rPr>
              <a:t>[baitul mal] </a:t>
            </a:r>
            <a:r>
              <a:rPr dirty="0" sz="1200" spc="-10">
                <a:latin typeface="Arial"/>
                <a:cs typeface="Arial"/>
              </a:rPr>
              <a:t>was </a:t>
            </a:r>
            <a:r>
              <a:rPr dirty="0" sz="1200" spc="-5">
                <a:latin typeface="Arial"/>
                <a:cs typeface="Arial"/>
              </a:rPr>
              <a:t>not private property </a:t>
            </a:r>
            <a:r>
              <a:rPr dirty="0" sz="1200">
                <a:latin typeface="Arial"/>
                <a:cs typeface="Arial"/>
              </a:rPr>
              <a:t>of </a:t>
            </a:r>
            <a:r>
              <a:rPr dirty="0" sz="1200" spc="-5">
                <a:latin typeface="Arial"/>
                <a:cs typeface="Arial"/>
              </a:rPr>
              <a:t>Caliph but </a:t>
            </a:r>
            <a:r>
              <a:rPr dirty="0" sz="1200" spc="-10">
                <a:latin typeface="Arial"/>
                <a:cs typeface="Arial"/>
              </a:rPr>
              <a:t>was </a:t>
            </a:r>
            <a:r>
              <a:rPr dirty="0" sz="1200" spc="-5">
                <a:latin typeface="Arial"/>
                <a:cs typeface="Arial"/>
              </a:rPr>
              <a:t>meant and  used </a:t>
            </a:r>
            <a:r>
              <a:rPr dirty="0" sz="1200">
                <a:latin typeface="Arial"/>
                <a:cs typeface="Arial"/>
              </a:rPr>
              <a:t>for </a:t>
            </a:r>
            <a:r>
              <a:rPr dirty="0" sz="1200" spc="-5">
                <a:latin typeface="Arial"/>
                <a:cs typeface="Arial"/>
              </a:rPr>
              <a:t>the</a:t>
            </a:r>
            <a:r>
              <a:rPr dirty="0" sz="1200" spc="-10">
                <a:latin typeface="Arial"/>
                <a:cs typeface="Arial"/>
              </a:rPr>
              <a:t> </a:t>
            </a:r>
            <a:r>
              <a:rPr dirty="0" sz="1200" spc="-5">
                <a:latin typeface="Arial"/>
                <a:cs typeface="Arial"/>
              </a:rPr>
              <a:t>public</a:t>
            </a:r>
            <a:endParaRPr sz="1200">
              <a:latin typeface="Arial"/>
              <a:cs typeface="Arial"/>
            </a:endParaRPr>
          </a:p>
          <a:p>
            <a:pPr marL="469900" marR="13335" indent="-229235">
              <a:lnSpc>
                <a:spcPts val="1380"/>
              </a:lnSpc>
              <a:buAutoNum type="arabicPeriod" startAt="10"/>
              <a:tabLst>
                <a:tab pos="470534" algn="l"/>
              </a:tabLst>
            </a:pPr>
            <a:r>
              <a:rPr dirty="0" sz="1200" spc="-5">
                <a:latin typeface="Arial"/>
                <a:cs typeface="Arial"/>
              </a:rPr>
              <a:t>Judiciary </a:t>
            </a:r>
            <a:r>
              <a:rPr dirty="0" sz="1200" spc="-10">
                <a:latin typeface="Arial"/>
                <a:cs typeface="Arial"/>
              </a:rPr>
              <a:t>was </a:t>
            </a:r>
            <a:r>
              <a:rPr dirty="0" sz="1200">
                <a:latin typeface="Arial"/>
                <a:cs typeface="Arial"/>
              </a:rPr>
              <a:t>supreme; </a:t>
            </a:r>
            <a:r>
              <a:rPr dirty="0" sz="1200" spc="-5">
                <a:latin typeface="Arial"/>
                <a:cs typeface="Arial"/>
              </a:rPr>
              <a:t>judges [qadis] were not interfered with even </a:t>
            </a:r>
            <a:r>
              <a:rPr dirty="0" sz="1200">
                <a:latin typeface="Arial"/>
                <a:cs typeface="Arial"/>
              </a:rPr>
              <a:t>if </a:t>
            </a:r>
            <a:r>
              <a:rPr dirty="0" sz="1200" spc="-5">
                <a:latin typeface="Arial"/>
                <a:cs typeface="Arial"/>
              </a:rPr>
              <a:t>judgement </a:t>
            </a:r>
            <a:r>
              <a:rPr dirty="0" sz="1200" spc="-10">
                <a:latin typeface="Arial"/>
                <a:cs typeface="Arial"/>
              </a:rPr>
              <a:t>was  </a:t>
            </a:r>
            <a:r>
              <a:rPr dirty="0" sz="1200" spc="-5">
                <a:latin typeface="Arial"/>
                <a:cs typeface="Arial"/>
              </a:rPr>
              <a:t>against Caliph</a:t>
            </a:r>
            <a:endParaRPr sz="1200">
              <a:latin typeface="Arial"/>
              <a:cs typeface="Arial"/>
            </a:endParaRPr>
          </a:p>
          <a:p>
            <a:pPr marL="469900" marR="9525" indent="-229235">
              <a:lnSpc>
                <a:spcPts val="1380"/>
              </a:lnSpc>
              <a:buAutoNum type="arabicPeriod" startAt="10"/>
              <a:tabLst>
                <a:tab pos="470534" algn="l"/>
              </a:tabLst>
            </a:pPr>
            <a:r>
              <a:rPr dirty="0" sz="1200" spc="-5">
                <a:latin typeface="Arial"/>
                <a:cs typeface="Arial"/>
              </a:rPr>
              <a:t>The Muslim empire stretched </a:t>
            </a:r>
            <a:r>
              <a:rPr dirty="0" sz="1200">
                <a:latin typeface="Arial"/>
                <a:cs typeface="Arial"/>
              </a:rPr>
              <a:t>far </a:t>
            </a:r>
            <a:r>
              <a:rPr dirty="0" sz="1200" spc="-5">
                <a:latin typeface="Arial"/>
                <a:cs typeface="Arial"/>
              </a:rPr>
              <a:t>and wide; </a:t>
            </a:r>
            <a:r>
              <a:rPr dirty="0" sz="1200">
                <a:latin typeface="Arial"/>
                <a:cs typeface="Arial"/>
              </a:rPr>
              <a:t>the </a:t>
            </a:r>
            <a:r>
              <a:rPr dirty="0" sz="1200" spc="-5">
                <a:latin typeface="Arial"/>
                <a:cs typeface="Arial"/>
              </a:rPr>
              <a:t>message of Islam continued to touch  </a:t>
            </a:r>
            <a:r>
              <a:rPr dirty="0" sz="1200">
                <a:latin typeface="Arial"/>
                <a:cs typeface="Arial"/>
              </a:rPr>
              <a:t>the </a:t>
            </a:r>
            <a:r>
              <a:rPr dirty="0" sz="1200" spc="-5">
                <a:latin typeface="Arial"/>
                <a:cs typeface="Arial"/>
              </a:rPr>
              <a:t>hearts of people, many became</a:t>
            </a:r>
            <a:r>
              <a:rPr dirty="0" sz="1200" spc="-25">
                <a:latin typeface="Arial"/>
                <a:cs typeface="Arial"/>
              </a:rPr>
              <a:t> </a:t>
            </a:r>
            <a:r>
              <a:rPr dirty="0" sz="1200" spc="-5">
                <a:latin typeface="Arial"/>
                <a:cs typeface="Arial"/>
              </a:rPr>
              <a:t>Muslim</a:t>
            </a:r>
            <a:endParaRPr sz="1200">
              <a:latin typeface="Arial"/>
              <a:cs typeface="Arial"/>
            </a:endParaRPr>
          </a:p>
          <a:p>
            <a:pPr>
              <a:lnSpc>
                <a:spcPct val="100000"/>
              </a:lnSpc>
            </a:pPr>
            <a:endParaRPr sz="1200">
              <a:latin typeface="Arial"/>
              <a:cs typeface="Arial"/>
            </a:endParaRPr>
          </a:p>
          <a:p>
            <a:pPr marL="12700" marR="10795">
              <a:lnSpc>
                <a:spcPts val="1380"/>
              </a:lnSpc>
            </a:pPr>
            <a:r>
              <a:rPr dirty="0" u="heavy" sz="1200" spc="-5" b="1" i="1">
                <a:uFill>
                  <a:solidFill>
                    <a:srgbClr val="000000"/>
                  </a:solidFill>
                </a:uFill>
                <a:latin typeface="Arial"/>
                <a:cs typeface="Arial"/>
              </a:rPr>
              <a:t>Describe the </a:t>
            </a:r>
            <a:r>
              <a:rPr dirty="0" u="heavy" sz="1200" b="1" i="1">
                <a:uFill>
                  <a:solidFill>
                    <a:srgbClr val="000000"/>
                  </a:solidFill>
                </a:uFill>
                <a:latin typeface="Arial"/>
                <a:cs typeface="Arial"/>
              </a:rPr>
              <a:t>relationship between </a:t>
            </a:r>
            <a:r>
              <a:rPr dirty="0" u="heavy" sz="1200" spc="-5" b="1" i="1">
                <a:uFill>
                  <a:solidFill>
                    <a:srgbClr val="000000"/>
                  </a:solidFill>
                </a:uFill>
                <a:latin typeface="Arial"/>
                <a:cs typeface="Arial"/>
              </a:rPr>
              <a:t>the Prophet and Ali </a:t>
            </a:r>
            <a:r>
              <a:rPr dirty="0" u="heavy" sz="1200" b="1" i="1">
                <a:uFill>
                  <a:solidFill>
                    <a:srgbClr val="000000"/>
                  </a:solidFill>
                </a:uFill>
                <a:latin typeface="Arial"/>
                <a:cs typeface="Arial"/>
              </a:rPr>
              <a:t>in the </a:t>
            </a:r>
            <a:r>
              <a:rPr dirty="0" u="heavy" sz="1200" spc="-5" b="1" i="1">
                <a:uFill>
                  <a:solidFill>
                    <a:srgbClr val="000000"/>
                  </a:solidFill>
                </a:uFill>
                <a:latin typeface="Arial"/>
                <a:cs typeface="Arial"/>
              </a:rPr>
              <a:t>years after the first </a:t>
            </a:r>
            <a:r>
              <a:rPr dirty="0" sz="1200" spc="-5" b="1" i="1">
                <a:latin typeface="Arial"/>
                <a:cs typeface="Arial"/>
              </a:rPr>
              <a:t> </a:t>
            </a:r>
            <a:r>
              <a:rPr dirty="0" u="heavy" sz="1200" spc="-5" b="1" i="1">
                <a:uFill>
                  <a:solidFill>
                    <a:srgbClr val="000000"/>
                  </a:solidFill>
                </a:uFill>
                <a:latin typeface="Arial"/>
                <a:cs typeface="Arial"/>
              </a:rPr>
              <a:t>revelation.</a:t>
            </a:r>
            <a:endParaRPr sz="1200">
              <a:latin typeface="Arial"/>
              <a:cs typeface="Arial"/>
            </a:endParaRPr>
          </a:p>
          <a:p>
            <a:pPr>
              <a:lnSpc>
                <a:spcPct val="100000"/>
              </a:lnSpc>
              <a:spcBef>
                <a:spcPts val="20"/>
              </a:spcBef>
            </a:pPr>
            <a:endParaRPr sz="1100">
              <a:latin typeface="Arial"/>
              <a:cs typeface="Arial"/>
            </a:endParaRPr>
          </a:p>
          <a:p>
            <a:pPr marL="469900" indent="-229235">
              <a:lnSpc>
                <a:spcPts val="1410"/>
              </a:lnSpc>
              <a:buAutoNum type="arabicPeriod"/>
              <a:tabLst>
                <a:tab pos="470534" algn="l"/>
              </a:tabLst>
            </a:pPr>
            <a:r>
              <a:rPr dirty="0" sz="1200">
                <a:latin typeface="Arial"/>
                <a:cs typeface="Arial"/>
              </a:rPr>
              <a:t>Both </a:t>
            </a:r>
            <a:r>
              <a:rPr dirty="0" sz="1200" spc="-5">
                <a:latin typeface="Arial"/>
                <a:cs typeface="Arial"/>
              </a:rPr>
              <a:t>were very </a:t>
            </a:r>
            <a:r>
              <a:rPr dirty="0" sz="1200">
                <a:latin typeface="Arial"/>
                <a:cs typeface="Arial"/>
              </a:rPr>
              <a:t>close; </a:t>
            </a:r>
            <a:r>
              <a:rPr dirty="0" sz="1200" spc="-5">
                <a:latin typeface="Arial"/>
                <a:cs typeface="Arial"/>
              </a:rPr>
              <a:t>Ali was brought </a:t>
            </a:r>
            <a:r>
              <a:rPr dirty="0" sz="1200">
                <a:latin typeface="Arial"/>
                <a:cs typeface="Arial"/>
              </a:rPr>
              <a:t>up </a:t>
            </a:r>
            <a:r>
              <a:rPr dirty="0" sz="1200" spc="-10">
                <a:latin typeface="Arial"/>
                <a:cs typeface="Arial"/>
              </a:rPr>
              <a:t>in </a:t>
            </a:r>
            <a:r>
              <a:rPr dirty="0" sz="1200" spc="-5">
                <a:latin typeface="Arial"/>
                <a:cs typeface="Arial"/>
              </a:rPr>
              <a:t>the </a:t>
            </a:r>
            <a:r>
              <a:rPr dirty="0" sz="1200">
                <a:latin typeface="Arial"/>
                <a:cs typeface="Arial"/>
              </a:rPr>
              <a:t>Prophet‘s</a:t>
            </a:r>
            <a:r>
              <a:rPr dirty="0" sz="1200" spc="10">
                <a:latin typeface="Arial"/>
                <a:cs typeface="Arial"/>
              </a:rPr>
              <a:t> </a:t>
            </a:r>
            <a:r>
              <a:rPr dirty="0" sz="1200" spc="-5">
                <a:latin typeface="Arial"/>
                <a:cs typeface="Arial"/>
              </a:rPr>
              <a:t>household</a:t>
            </a:r>
            <a:endParaRPr sz="1200">
              <a:latin typeface="Arial"/>
              <a:cs typeface="Arial"/>
            </a:endParaRPr>
          </a:p>
          <a:p>
            <a:pPr marL="469900" marR="10795" indent="-229235">
              <a:lnSpc>
                <a:spcPts val="1380"/>
              </a:lnSpc>
              <a:spcBef>
                <a:spcPts val="65"/>
              </a:spcBef>
              <a:buAutoNum type="arabicPeriod"/>
              <a:tabLst>
                <a:tab pos="470534" algn="l"/>
              </a:tabLst>
            </a:pPr>
            <a:r>
              <a:rPr dirty="0" sz="1200">
                <a:latin typeface="Arial"/>
                <a:cs typeface="Arial"/>
              </a:rPr>
              <a:t>When </a:t>
            </a:r>
            <a:r>
              <a:rPr dirty="0" sz="1200" spc="-5">
                <a:latin typeface="Arial"/>
                <a:cs typeface="Arial"/>
              </a:rPr>
              <a:t>the Prophet was instructed to </a:t>
            </a:r>
            <a:r>
              <a:rPr dirty="0" sz="1200" spc="-85">
                <a:latin typeface="Arial"/>
                <a:cs typeface="Arial"/>
              </a:rPr>
              <a:t>‗warn </a:t>
            </a:r>
            <a:r>
              <a:rPr dirty="0" sz="1200">
                <a:latin typeface="Arial"/>
                <a:cs typeface="Arial"/>
              </a:rPr>
              <a:t>thy nearest kin‘ </a:t>
            </a:r>
            <a:r>
              <a:rPr dirty="0" sz="1200" spc="-5">
                <a:latin typeface="Arial"/>
                <a:cs typeface="Arial"/>
              </a:rPr>
              <a:t>[26:214] Ali said </a:t>
            </a:r>
            <a:r>
              <a:rPr dirty="0" sz="1200" spc="-204">
                <a:latin typeface="Arial"/>
                <a:cs typeface="Arial"/>
              </a:rPr>
              <a:t>‗I </a:t>
            </a:r>
            <a:r>
              <a:rPr dirty="0" sz="1200" spc="-10">
                <a:latin typeface="Arial"/>
                <a:cs typeface="Arial"/>
              </a:rPr>
              <a:t>will </a:t>
            </a:r>
            <a:r>
              <a:rPr dirty="0" sz="1200" spc="-5">
                <a:latin typeface="Arial"/>
                <a:cs typeface="Arial"/>
              </a:rPr>
              <a:t>be  your helper‘</a:t>
            </a:r>
            <a:endParaRPr sz="1200">
              <a:latin typeface="Arial"/>
              <a:cs typeface="Arial"/>
            </a:endParaRPr>
          </a:p>
          <a:p>
            <a:pPr marL="469900" indent="-229235">
              <a:lnSpc>
                <a:spcPts val="1345"/>
              </a:lnSpc>
              <a:buAutoNum type="arabicPeriod"/>
              <a:tabLst>
                <a:tab pos="470534" algn="l"/>
              </a:tabLst>
            </a:pPr>
            <a:r>
              <a:rPr dirty="0" sz="1200" spc="-5">
                <a:latin typeface="Arial"/>
                <a:cs typeface="Arial"/>
              </a:rPr>
              <a:t>He </a:t>
            </a:r>
            <a:r>
              <a:rPr dirty="0" sz="1200" spc="-10">
                <a:latin typeface="Arial"/>
                <a:cs typeface="Arial"/>
              </a:rPr>
              <a:t>always </a:t>
            </a:r>
            <a:r>
              <a:rPr dirty="0" sz="1200">
                <a:latin typeface="Arial"/>
                <a:cs typeface="Arial"/>
              </a:rPr>
              <a:t>listened </a:t>
            </a:r>
            <a:r>
              <a:rPr dirty="0" sz="1200" spc="-5">
                <a:latin typeface="Arial"/>
                <a:cs typeface="Arial"/>
              </a:rPr>
              <a:t>and learned from </a:t>
            </a:r>
            <a:r>
              <a:rPr dirty="0" sz="1200">
                <a:latin typeface="Arial"/>
                <a:cs typeface="Arial"/>
              </a:rPr>
              <a:t>the </a:t>
            </a:r>
            <a:r>
              <a:rPr dirty="0" sz="1200" spc="-5">
                <a:latin typeface="Arial"/>
                <a:cs typeface="Arial"/>
              </a:rPr>
              <a:t>Prophet (relation of teacher </a:t>
            </a:r>
            <a:r>
              <a:rPr dirty="0" sz="1200">
                <a:latin typeface="Arial"/>
                <a:cs typeface="Arial"/>
              </a:rPr>
              <a:t>and</a:t>
            </a:r>
            <a:r>
              <a:rPr dirty="0" sz="1200" spc="70">
                <a:latin typeface="Arial"/>
                <a:cs typeface="Arial"/>
              </a:rPr>
              <a:t> </a:t>
            </a:r>
            <a:r>
              <a:rPr dirty="0" sz="1200" spc="-5">
                <a:latin typeface="Arial"/>
                <a:cs typeface="Arial"/>
              </a:rPr>
              <a:t>student)</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3026791"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42</a:t>
            </a:r>
            <a:endParaRPr sz="1200">
              <a:latin typeface="Times New Roman"/>
              <a:cs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06185" cy="9338310"/>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469900" indent="-229235">
              <a:lnSpc>
                <a:spcPts val="1410"/>
              </a:lnSpc>
              <a:spcBef>
                <a:spcPts val="5"/>
              </a:spcBef>
              <a:buAutoNum type="arabicPeriod" startAt="4"/>
              <a:tabLst>
                <a:tab pos="470534" algn="l"/>
              </a:tabLst>
            </a:pPr>
            <a:r>
              <a:rPr dirty="0" sz="1200" spc="-5">
                <a:latin typeface="Arial"/>
                <a:cs typeface="Arial"/>
              </a:rPr>
              <a:t>He </a:t>
            </a:r>
            <a:r>
              <a:rPr dirty="0" sz="1200" spc="-10">
                <a:latin typeface="Arial"/>
                <a:cs typeface="Arial"/>
              </a:rPr>
              <a:t>was </a:t>
            </a:r>
            <a:r>
              <a:rPr dirty="0" sz="1200" spc="-5">
                <a:latin typeface="Arial"/>
                <a:cs typeface="Arial"/>
              </a:rPr>
              <a:t>the </a:t>
            </a:r>
            <a:r>
              <a:rPr dirty="0" sz="1200">
                <a:latin typeface="Arial"/>
                <a:cs typeface="Arial"/>
              </a:rPr>
              <a:t>first </a:t>
            </a:r>
            <a:r>
              <a:rPr dirty="0" sz="1200" spc="-5">
                <a:latin typeface="Arial"/>
                <a:cs typeface="Arial"/>
              </a:rPr>
              <a:t>child to accept Islam without questioning the</a:t>
            </a:r>
            <a:r>
              <a:rPr dirty="0" sz="1200" spc="55">
                <a:latin typeface="Arial"/>
                <a:cs typeface="Arial"/>
              </a:rPr>
              <a:t> </a:t>
            </a:r>
            <a:r>
              <a:rPr dirty="0" sz="1200" spc="-5">
                <a:latin typeface="Arial"/>
                <a:cs typeface="Arial"/>
              </a:rPr>
              <a:t>prophet</a:t>
            </a:r>
            <a:endParaRPr sz="1200">
              <a:latin typeface="Arial"/>
              <a:cs typeface="Arial"/>
            </a:endParaRPr>
          </a:p>
          <a:p>
            <a:pPr marL="469900" indent="-229235">
              <a:lnSpc>
                <a:spcPts val="1380"/>
              </a:lnSpc>
              <a:buAutoNum type="arabicPeriod" startAt="4"/>
              <a:tabLst>
                <a:tab pos="470534" algn="l"/>
              </a:tabLst>
            </a:pPr>
            <a:r>
              <a:rPr dirty="0" sz="1200" spc="-5">
                <a:latin typeface="Arial"/>
                <a:cs typeface="Arial"/>
              </a:rPr>
              <a:t>Ali and Abu </a:t>
            </a:r>
            <a:r>
              <a:rPr dirty="0" sz="1200">
                <a:latin typeface="Arial"/>
                <a:cs typeface="Arial"/>
              </a:rPr>
              <a:t>Bakr </a:t>
            </a:r>
            <a:r>
              <a:rPr dirty="0" sz="1200" spc="-5">
                <a:latin typeface="Arial"/>
                <a:cs typeface="Arial"/>
              </a:rPr>
              <a:t>stayed behind </a:t>
            </a:r>
            <a:r>
              <a:rPr dirty="0" sz="1200" spc="-10">
                <a:latin typeface="Arial"/>
                <a:cs typeface="Arial"/>
              </a:rPr>
              <a:t>in </a:t>
            </a:r>
            <a:r>
              <a:rPr dirty="0" sz="1200">
                <a:latin typeface="Arial"/>
                <a:cs typeface="Arial"/>
              </a:rPr>
              <a:t>Mecca </a:t>
            </a:r>
            <a:r>
              <a:rPr dirty="0" sz="1200" spc="-5">
                <a:latin typeface="Arial"/>
                <a:cs typeface="Arial"/>
              </a:rPr>
              <a:t>with the Prophet before the</a:t>
            </a:r>
            <a:r>
              <a:rPr dirty="0" sz="1200" spc="25">
                <a:latin typeface="Arial"/>
                <a:cs typeface="Arial"/>
              </a:rPr>
              <a:t> </a:t>
            </a:r>
            <a:r>
              <a:rPr dirty="0" sz="1200" spc="-5">
                <a:latin typeface="Arial"/>
                <a:cs typeface="Arial"/>
              </a:rPr>
              <a:t>Hijra</a:t>
            </a:r>
            <a:endParaRPr sz="1200">
              <a:latin typeface="Arial"/>
              <a:cs typeface="Arial"/>
            </a:endParaRPr>
          </a:p>
          <a:p>
            <a:pPr marL="469900" indent="-229235">
              <a:lnSpc>
                <a:spcPts val="1380"/>
              </a:lnSpc>
              <a:buAutoNum type="arabicPeriod" startAt="4"/>
              <a:tabLst>
                <a:tab pos="470534" algn="l"/>
              </a:tabLst>
            </a:pPr>
            <a:r>
              <a:rPr dirty="0" sz="1200" spc="-5">
                <a:latin typeface="Arial"/>
                <a:cs typeface="Arial"/>
              </a:rPr>
              <a:t>He risked </a:t>
            </a:r>
            <a:r>
              <a:rPr dirty="0" sz="1200">
                <a:latin typeface="Arial"/>
                <a:cs typeface="Arial"/>
              </a:rPr>
              <a:t>his </a:t>
            </a:r>
            <a:r>
              <a:rPr dirty="0" sz="1200" spc="-10">
                <a:latin typeface="Arial"/>
                <a:cs typeface="Arial"/>
              </a:rPr>
              <a:t>own </a:t>
            </a:r>
            <a:r>
              <a:rPr dirty="0" sz="1200">
                <a:latin typeface="Arial"/>
                <a:cs typeface="Arial"/>
              </a:rPr>
              <a:t>life </a:t>
            </a:r>
            <a:r>
              <a:rPr dirty="0" sz="1200" spc="-5">
                <a:latin typeface="Arial"/>
                <a:cs typeface="Arial"/>
              </a:rPr>
              <a:t>by sleeping in the place of </a:t>
            </a:r>
            <a:r>
              <a:rPr dirty="0" sz="1200">
                <a:latin typeface="Arial"/>
                <a:cs typeface="Arial"/>
              </a:rPr>
              <a:t>the holy </a:t>
            </a:r>
            <a:r>
              <a:rPr dirty="0" sz="1200" spc="-5">
                <a:latin typeface="Arial"/>
                <a:cs typeface="Arial"/>
              </a:rPr>
              <a:t>Prophet </a:t>
            </a:r>
            <a:r>
              <a:rPr dirty="0" sz="1200" spc="-10">
                <a:latin typeface="Arial"/>
                <a:cs typeface="Arial"/>
              </a:rPr>
              <a:t>on </a:t>
            </a:r>
            <a:r>
              <a:rPr dirty="0" sz="1200" spc="-5">
                <a:latin typeface="Arial"/>
                <a:cs typeface="Arial"/>
              </a:rPr>
              <a:t>the night of</a:t>
            </a:r>
            <a:r>
              <a:rPr dirty="0" sz="1200" spc="155">
                <a:latin typeface="Arial"/>
                <a:cs typeface="Arial"/>
              </a:rPr>
              <a:t> </a:t>
            </a:r>
            <a:r>
              <a:rPr dirty="0" sz="1200" spc="-5">
                <a:latin typeface="Arial"/>
                <a:cs typeface="Arial"/>
              </a:rPr>
              <a:t>Hijra</a:t>
            </a:r>
            <a:endParaRPr sz="1200">
              <a:latin typeface="Arial"/>
              <a:cs typeface="Arial"/>
            </a:endParaRPr>
          </a:p>
          <a:p>
            <a:pPr marL="469900" indent="-229235">
              <a:lnSpc>
                <a:spcPts val="1380"/>
              </a:lnSpc>
              <a:buAutoNum type="arabicPeriod" startAt="4"/>
              <a:tabLst>
                <a:tab pos="470534" algn="l"/>
              </a:tabLst>
            </a:pPr>
            <a:r>
              <a:rPr dirty="0" sz="1200" spc="-5">
                <a:latin typeface="Arial"/>
                <a:cs typeface="Arial"/>
              </a:rPr>
              <a:t>Ali </a:t>
            </a:r>
            <a:r>
              <a:rPr dirty="0" sz="1200">
                <a:latin typeface="Arial"/>
                <a:cs typeface="Arial"/>
              </a:rPr>
              <a:t>had </a:t>
            </a:r>
            <a:r>
              <a:rPr dirty="0" sz="1200" spc="-5">
                <a:latin typeface="Arial"/>
                <a:cs typeface="Arial"/>
              </a:rPr>
              <a:t>mission </a:t>
            </a:r>
            <a:r>
              <a:rPr dirty="0" sz="1200">
                <a:latin typeface="Arial"/>
                <a:cs typeface="Arial"/>
              </a:rPr>
              <a:t>to </a:t>
            </a:r>
            <a:r>
              <a:rPr dirty="0" sz="1200" spc="-5">
                <a:latin typeface="Arial"/>
                <a:cs typeface="Arial"/>
              </a:rPr>
              <a:t>perform, to return things </a:t>
            </a:r>
            <a:r>
              <a:rPr dirty="0" sz="1200">
                <a:latin typeface="Arial"/>
                <a:cs typeface="Arial"/>
              </a:rPr>
              <a:t>kept </a:t>
            </a:r>
            <a:r>
              <a:rPr dirty="0" sz="1200" spc="-5">
                <a:latin typeface="Arial"/>
                <a:cs typeface="Arial"/>
              </a:rPr>
              <a:t>with the Prophet </a:t>
            </a:r>
            <a:r>
              <a:rPr dirty="0" sz="1200">
                <a:latin typeface="Arial"/>
                <a:cs typeface="Arial"/>
              </a:rPr>
              <a:t>for</a:t>
            </a:r>
            <a:r>
              <a:rPr dirty="0" sz="1200" spc="40">
                <a:latin typeface="Arial"/>
                <a:cs typeface="Arial"/>
              </a:rPr>
              <a:t> </a:t>
            </a:r>
            <a:r>
              <a:rPr dirty="0" sz="1200" spc="-5">
                <a:latin typeface="Arial"/>
                <a:cs typeface="Arial"/>
              </a:rPr>
              <a:t>safekeeping</a:t>
            </a:r>
            <a:endParaRPr sz="1200">
              <a:latin typeface="Arial"/>
              <a:cs typeface="Arial"/>
            </a:endParaRPr>
          </a:p>
          <a:p>
            <a:pPr marL="469900" marR="8255" indent="-228600">
              <a:lnSpc>
                <a:spcPts val="1380"/>
              </a:lnSpc>
              <a:spcBef>
                <a:spcPts val="65"/>
              </a:spcBef>
              <a:buAutoNum type="arabicPeriod" startAt="4"/>
              <a:tabLst>
                <a:tab pos="470534" algn="l"/>
              </a:tabLst>
            </a:pPr>
            <a:r>
              <a:rPr dirty="0" sz="1200" spc="-5">
                <a:latin typeface="Arial"/>
                <a:cs typeface="Arial"/>
              </a:rPr>
              <a:t>During </a:t>
            </a:r>
            <a:r>
              <a:rPr dirty="0" sz="1200">
                <a:latin typeface="Arial"/>
                <a:cs typeface="Arial"/>
              </a:rPr>
              <a:t>the time </a:t>
            </a:r>
            <a:r>
              <a:rPr dirty="0" sz="1200" spc="-5">
                <a:latin typeface="Arial"/>
                <a:cs typeface="Arial"/>
              </a:rPr>
              <a:t>of brotherhood in Medina Prophet declared Ali </a:t>
            </a:r>
            <a:r>
              <a:rPr dirty="0" sz="1200">
                <a:latin typeface="Arial"/>
                <a:cs typeface="Arial"/>
              </a:rPr>
              <a:t>to </a:t>
            </a:r>
            <a:r>
              <a:rPr dirty="0" sz="1200" spc="-5">
                <a:latin typeface="Arial"/>
                <a:cs typeface="Arial"/>
              </a:rPr>
              <a:t>be his brother [not  wanting </a:t>
            </a:r>
            <a:r>
              <a:rPr dirty="0" sz="1200">
                <a:latin typeface="Arial"/>
                <a:cs typeface="Arial"/>
              </a:rPr>
              <a:t>to show </a:t>
            </a:r>
            <a:r>
              <a:rPr dirty="0" sz="1200" spc="-5">
                <a:latin typeface="Arial"/>
                <a:cs typeface="Arial"/>
              </a:rPr>
              <a:t>favouritism </a:t>
            </a:r>
            <a:r>
              <a:rPr dirty="0" sz="1200">
                <a:latin typeface="Arial"/>
                <a:cs typeface="Arial"/>
              </a:rPr>
              <a:t>to </a:t>
            </a:r>
            <a:r>
              <a:rPr dirty="0" sz="1200" spc="-5">
                <a:latin typeface="Arial"/>
                <a:cs typeface="Arial"/>
              </a:rPr>
              <a:t>any</a:t>
            </a:r>
            <a:r>
              <a:rPr dirty="0" sz="1200" spc="-30">
                <a:latin typeface="Arial"/>
                <a:cs typeface="Arial"/>
              </a:rPr>
              <a:t> </a:t>
            </a:r>
            <a:r>
              <a:rPr dirty="0" sz="1200" spc="-5">
                <a:latin typeface="Arial"/>
                <a:cs typeface="Arial"/>
              </a:rPr>
              <a:t>ansar]</a:t>
            </a:r>
            <a:endParaRPr sz="1200">
              <a:latin typeface="Arial"/>
              <a:cs typeface="Arial"/>
            </a:endParaRPr>
          </a:p>
          <a:p>
            <a:pPr marL="469900" indent="-229235">
              <a:lnSpc>
                <a:spcPts val="1315"/>
              </a:lnSpc>
              <a:buAutoNum type="arabicPeriod" startAt="4"/>
              <a:tabLst>
                <a:tab pos="470534" algn="l"/>
              </a:tabLst>
            </a:pPr>
            <a:r>
              <a:rPr dirty="0" sz="1200" spc="-5">
                <a:latin typeface="Arial"/>
                <a:cs typeface="Arial"/>
              </a:rPr>
              <a:t>He was married to Fatima, </a:t>
            </a:r>
            <a:r>
              <a:rPr dirty="0" sz="1200">
                <a:latin typeface="Arial"/>
                <a:cs typeface="Arial"/>
              </a:rPr>
              <a:t>the </a:t>
            </a:r>
            <a:r>
              <a:rPr dirty="0" sz="1200" spc="-5">
                <a:latin typeface="Arial"/>
                <a:cs typeface="Arial"/>
              </a:rPr>
              <a:t>Prophet‘s</a:t>
            </a:r>
            <a:r>
              <a:rPr dirty="0" sz="1200">
                <a:latin typeface="Arial"/>
                <a:cs typeface="Arial"/>
              </a:rPr>
              <a:t> </a:t>
            </a:r>
            <a:r>
              <a:rPr dirty="0" sz="1200" spc="-5">
                <a:latin typeface="Arial"/>
                <a:cs typeface="Arial"/>
              </a:rPr>
              <a:t>daughter</a:t>
            </a:r>
            <a:endParaRPr sz="1200">
              <a:latin typeface="Arial"/>
              <a:cs typeface="Arial"/>
            </a:endParaRPr>
          </a:p>
          <a:p>
            <a:pPr marL="469900" indent="-229235">
              <a:lnSpc>
                <a:spcPts val="1380"/>
              </a:lnSpc>
              <a:buAutoNum type="arabicPeriod" startAt="4"/>
              <a:tabLst>
                <a:tab pos="470534" algn="l"/>
              </a:tabLst>
            </a:pPr>
            <a:r>
              <a:rPr dirty="0" sz="1200" spc="-5">
                <a:latin typeface="Arial"/>
                <a:cs typeface="Arial"/>
              </a:rPr>
              <a:t>Ali </a:t>
            </a:r>
            <a:r>
              <a:rPr dirty="0" sz="1200">
                <a:latin typeface="Arial"/>
                <a:cs typeface="Arial"/>
              </a:rPr>
              <a:t>and </a:t>
            </a:r>
            <a:r>
              <a:rPr dirty="0" sz="1200" spc="-5">
                <a:latin typeface="Arial"/>
                <a:cs typeface="Arial"/>
              </a:rPr>
              <a:t>his family lived </a:t>
            </a:r>
            <a:r>
              <a:rPr dirty="0" sz="1200">
                <a:latin typeface="Arial"/>
                <a:cs typeface="Arial"/>
              </a:rPr>
              <a:t>a frugal </a:t>
            </a:r>
            <a:r>
              <a:rPr dirty="0" sz="1200" spc="-5">
                <a:latin typeface="Arial"/>
                <a:cs typeface="Arial"/>
              </a:rPr>
              <a:t>life, just like </a:t>
            </a:r>
            <a:r>
              <a:rPr dirty="0" sz="1200" spc="-10">
                <a:latin typeface="Arial"/>
                <a:cs typeface="Arial"/>
              </a:rPr>
              <a:t>the </a:t>
            </a:r>
            <a:r>
              <a:rPr dirty="0" sz="1200" spc="-5">
                <a:latin typeface="Arial"/>
                <a:cs typeface="Arial"/>
              </a:rPr>
              <a:t>Prophet‘s</a:t>
            </a:r>
            <a:r>
              <a:rPr dirty="0" sz="1200" spc="-10">
                <a:latin typeface="Arial"/>
                <a:cs typeface="Arial"/>
              </a:rPr>
              <a:t> </a:t>
            </a:r>
            <a:r>
              <a:rPr dirty="0" sz="1200" spc="-5">
                <a:latin typeface="Arial"/>
                <a:cs typeface="Arial"/>
              </a:rPr>
              <a:t>family</a:t>
            </a:r>
            <a:endParaRPr sz="1200">
              <a:latin typeface="Arial"/>
              <a:cs typeface="Arial"/>
            </a:endParaRPr>
          </a:p>
          <a:p>
            <a:pPr marL="469900" indent="-229235">
              <a:lnSpc>
                <a:spcPts val="1380"/>
              </a:lnSpc>
              <a:buAutoNum type="arabicPeriod" startAt="4"/>
              <a:tabLst>
                <a:tab pos="470534" algn="l"/>
              </a:tabLst>
            </a:pPr>
            <a:r>
              <a:rPr dirty="0" sz="1200" spc="-5">
                <a:latin typeface="Arial"/>
                <a:cs typeface="Arial"/>
              </a:rPr>
              <a:t>He worked </a:t>
            </a:r>
            <a:r>
              <a:rPr dirty="0" sz="1200">
                <a:latin typeface="Arial"/>
                <a:cs typeface="Arial"/>
              </a:rPr>
              <a:t>as </a:t>
            </a:r>
            <a:r>
              <a:rPr dirty="0" sz="1200" spc="-5">
                <a:latin typeface="Arial"/>
                <a:cs typeface="Arial"/>
              </a:rPr>
              <a:t>a labourer with Prophet, building the mosque in</a:t>
            </a:r>
            <a:r>
              <a:rPr dirty="0" sz="1200" spc="55">
                <a:latin typeface="Arial"/>
                <a:cs typeface="Arial"/>
              </a:rPr>
              <a:t> </a:t>
            </a:r>
            <a:r>
              <a:rPr dirty="0" sz="1200" spc="-5">
                <a:latin typeface="Arial"/>
                <a:cs typeface="Arial"/>
              </a:rPr>
              <a:t>Medina</a:t>
            </a:r>
            <a:endParaRPr sz="1200">
              <a:latin typeface="Arial"/>
              <a:cs typeface="Arial"/>
            </a:endParaRPr>
          </a:p>
          <a:p>
            <a:pPr marL="469900" indent="-229235">
              <a:lnSpc>
                <a:spcPts val="1380"/>
              </a:lnSpc>
              <a:buAutoNum type="arabicPeriod" startAt="4"/>
              <a:tabLst>
                <a:tab pos="470534" algn="l"/>
              </a:tabLst>
            </a:pPr>
            <a:r>
              <a:rPr dirty="0" sz="1200" spc="-5">
                <a:latin typeface="Arial"/>
                <a:cs typeface="Arial"/>
              </a:rPr>
              <a:t>He </a:t>
            </a:r>
            <a:r>
              <a:rPr dirty="0" sz="1200" spc="-10">
                <a:latin typeface="Arial"/>
                <a:cs typeface="Arial"/>
              </a:rPr>
              <a:t>was </a:t>
            </a:r>
            <a:r>
              <a:rPr dirty="0" sz="1200">
                <a:latin typeface="Arial"/>
                <a:cs typeface="Arial"/>
              </a:rPr>
              <a:t>the father </a:t>
            </a:r>
            <a:r>
              <a:rPr dirty="0" sz="1200" spc="-5">
                <a:latin typeface="Arial"/>
                <a:cs typeface="Arial"/>
              </a:rPr>
              <a:t>of Hasan </a:t>
            </a:r>
            <a:r>
              <a:rPr dirty="0" sz="1200">
                <a:latin typeface="Arial"/>
                <a:cs typeface="Arial"/>
              </a:rPr>
              <a:t>and </a:t>
            </a:r>
            <a:r>
              <a:rPr dirty="0" sz="1200" spc="-5">
                <a:latin typeface="Arial"/>
                <a:cs typeface="Arial"/>
              </a:rPr>
              <a:t>Husain, Prophet‘s beloved</a:t>
            </a:r>
            <a:r>
              <a:rPr dirty="0" sz="1200" spc="25">
                <a:latin typeface="Arial"/>
                <a:cs typeface="Arial"/>
              </a:rPr>
              <a:t> </a:t>
            </a:r>
            <a:r>
              <a:rPr dirty="0" sz="1200" spc="-5">
                <a:latin typeface="Arial"/>
                <a:cs typeface="Arial"/>
              </a:rPr>
              <a:t>grandchildren</a:t>
            </a:r>
            <a:endParaRPr sz="1200">
              <a:latin typeface="Arial"/>
              <a:cs typeface="Arial"/>
            </a:endParaRPr>
          </a:p>
          <a:p>
            <a:pPr marL="469900" indent="-229235">
              <a:lnSpc>
                <a:spcPts val="1380"/>
              </a:lnSpc>
              <a:buAutoNum type="arabicPeriod" startAt="4"/>
              <a:tabLst>
                <a:tab pos="470534" algn="l"/>
              </a:tabLst>
            </a:pPr>
            <a:r>
              <a:rPr dirty="0" sz="1200" spc="-5">
                <a:latin typeface="Arial"/>
                <a:cs typeface="Arial"/>
              </a:rPr>
              <a:t>He </a:t>
            </a:r>
            <a:r>
              <a:rPr dirty="0" sz="1200" spc="-10">
                <a:latin typeface="Arial"/>
                <a:cs typeface="Arial"/>
              </a:rPr>
              <a:t>was </a:t>
            </a:r>
            <a:r>
              <a:rPr dirty="0" sz="1200" spc="-5">
                <a:latin typeface="Arial"/>
                <a:cs typeface="Arial"/>
              </a:rPr>
              <a:t>a scribe of the Prophet [main scribe at</a:t>
            </a:r>
            <a:r>
              <a:rPr dirty="0" sz="1200" spc="45">
                <a:latin typeface="Arial"/>
                <a:cs typeface="Arial"/>
              </a:rPr>
              <a:t> </a:t>
            </a:r>
            <a:r>
              <a:rPr dirty="0" sz="1200" spc="-5">
                <a:latin typeface="Arial"/>
                <a:cs typeface="Arial"/>
              </a:rPr>
              <a:t>Hudaibiyah]</a:t>
            </a:r>
            <a:endParaRPr sz="1200">
              <a:latin typeface="Arial"/>
              <a:cs typeface="Arial"/>
            </a:endParaRPr>
          </a:p>
          <a:p>
            <a:pPr marL="469900" indent="-229235">
              <a:lnSpc>
                <a:spcPts val="1380"/>
              </a:lnSpc>
              <a:buAutoNum type="arabicPeriod" startAt="4"/>
              <a:tabLst>
                <a:tab pos="470534" algn="l"/>
              </a:tabLst>
            </a:pPr>
            <a:r>
              <a:rPr dirty="0" sz="1200" spc="-5">
                <a:latin typeface="Arial"/>
                <a:cs typeface="Arial"/>
              </a:rPr>
              <a:t>He </a:t>
            </a:r>
            <a:r>
              <a:rPr dirty="0" sz="1200" spc="-10">
                <a:latin typeface="Arial"/>
                <a:cs typeface="Arial"/>
              </a:rPr>
              <a:t>was </a:t>
            </a:r>
            <a:r>
              <a:rPr dirty="0" sz="1200" spc="-5">
                <a:latin typeface="Arial"/>
                <a:cs typeface="Arial"/>
              </a:rPr>
              <a:t>made standard bearer </a:t>
            </a:r>
            <a:r>
              <a:rPr dirty="0" sz="1200">
                <a:latin typeface="Arial"/>
                <a:cs typeface="Arial"/>
              </a:rPr>
              <a:t>for </a:t>
            </a:r>
            <a:r>
              <a:rPr dirty="0" sz="1200" spc="-10">
                <a:latin typeface="Arial"/>
                <a:cs typeface="Arial"/>
              </a:rPr>
              <a:t>the</a:t>
            </a:r>
            <a:r>
              <a:rPr dirty="0" sz="1200" spc="15">
                <a:latin typeface="Arial"/>
                <a:cs typeface="Arial"/>
              </a:rPr>
              <a:t> </a:t>
            </a:r>
            <a:r>
              <a:rPr dirty="0" sz="1200" spc="-5">
                <a:latin typeface="Arial"/>
                <a:cs typeface="Arial"/>
              </a:rPr>
              <a:t>Muslims</a:t>
            </a:r>
            <a:endParaRPr sz="1200">
              <a:latin typeface="Arial"/>
              <a:cs typeface="Arial"/>
            </a:endParaRPr>
          </a:p>
          <a:p>
            <a:pPr marL="469900" indent="-229235">
              <a:lnSpc>
                <a:spcPts val="1380"/>
              </a:lnSpc>
              <a:buAutoNum type="arabicPeriod" startAt="4"/>
              <a:tabLst>
                <a:tab pos="470534" algn="l"/>
              </a:tabLst>
            </a:pPr>
            <a:r>
              <a:rPr dirty="0" sz="1200" spc="-5">
                <a:latin typeface="Arial"/>
                <a:cs typeface="Arial"/>
              </a:rPr>
              <a:t>He </a:t>
            </a:r>
            <a:r>
              <a:rPr dirty="0" sz="1200" spc="-10">
                <a:latin typeface="Arial"/>
                <a:cs typeface="Arial"/>
              </a:rPr>
              <a:t>was </a:t>
            </a:r>
            <a:r>
              <a:rPr dirty="0" sz="1200" spc="-5">
                <a:latin typeface="Arial"/>
                <a:cs typeface="Arial"/>
              </a:rPr>
              <a:t>a great warrior in </a:t>
            </a:r>
            <a:r>
              <a:rPr dirty="0" sz="1200">
                <a:latin typeface="Arial"/>
                <a:cs typeface="Arial"/>
              </a:rPr>
              <a:t>all </a:t>
            </a:r>
            <a:r>
              <a:rPr dirty="0" sz="1200" spc="-5">
                <a:latin typeface="Arial"/>
                <a:cs typeface="Arial"/>
              </a:rPr>
              <a:t>the battles during </a:t>
            </a:r>
            <a:r>
              <a:rPr dirty="0" sz="1200">
                <a:latin typeface="Arial"/>
                <a:cs typeface="Arial"/>
              </a:rPr>
              <a:t>the </a:t>
            </a:r>
            <a:r>
              <a:rPr dirty="0" sz="1200" spc="-5">
                <a:latin typeface="Arial"/>
                <a:cs typeface="Arial"/>
              </a:rPr>
              <a:t>Prophet‘s</a:t>
            </a:r>
            <a:r>
              <a:rPr dirty="0" sz="1200" spc="65">
                <a:latin typeface="Arial"/>
                <a:cs typeface="Arial"/>
              </a:rPr>
              <a:t> </a:t>
            </a:r>
            <a:r>
              <a:rPr dirty="0" sz="1200" spc="-5">
                <a:latin typeface="Arial"/>
                <a:cs typeface="Arial"/>
              </a:rPr>
              <a:t>lifetime</a:t>
            </a:r>
            <a:endParaRPr sz="1200">
              <a:latin typeface="Arial"/>
              <a:cs typeface="Arial"/>
            </a:endParaRPr>
          </a:p>
          <a:p>
            <a:pPr algn="just" marL="469900" marR="6350" indent="-228600">
              <a:lnSpc>
                <a:spcPct val="95900"/>
              </a:lnSpc>
              <a:spcBef>
                <a:spcPts val="30"/>
              </a:spcBef>
              <a:buAutoNum type="arabicPeriod" startAt="4"/>
              <a:tabLst>
                <a:tab pos="470534" algn="l"/>
              </a:tabLst>
            </a:pPr>
            <a:r>
              <a:rPr dirty="0" sz="1200">
                <a:latin typeface="Arial"/>
                <a:cs typeface="Arial"/>
              </a:rPr>
              <a:t>Ghadir </a:t>
            </a:r>
            <a:r>
              <a:rPr dirty="0" sz="1200" spc="-5">
                <a:latin typeface="Arial"/>
                <a:cs typeface="Arial"/>
              </a:rPr>
              <a:t>Khumm episode </a:t>
            </a:r>
            <a:r>
              <a:rPr dirty="0" sz="1200" spc="-80">
                <a:latin typeface="Arial"/>
                <a:cs typeface="Arial"/>
              </a:rPr>
              <a:t>[‗For </a:t>
            </a:r>
            <a:r>
              <a:rPr dirty="0" sz="1200" spc="-5">
                <a:latin typeface="Arial"/>
                <a:cs typeface="Arial"/>
              </a:rPr>
              <a:t>whomever </a:t>
            </a:r>
            <a:r>
              <a:rPr dirty="0" sz="1200">
                <a:latin typeface="Arial"/>
                <a:cs typeface="Arial"/>
              </a:rPr>
              <a:t>I </a:t>
            </a:r>
            <a:r>
              <a:rPr dirty="0" sz="1200" spc="-5">
                <a:latin typeface="Arial"/>
                <a:cs typeface="Arial"/>
              </a:rPr>
              <a:t>am the authority </a:t>
            </a:r>
            <a:r>
              <a:rPr dirty="0" sz="1200">
                <a:latin typeface="Arial"/>
                <a:cs typeface="Arial"/>
              </a:rPr>
              <a:t>and </a:t>
            </a:r>
            <a:r>
              <a:rPr dirty="0" sz="1200" spc="-5">
                <a:latin typeface="Arial"/>
                <a:cs typeface="Arial"/>
              </a:rPr>
              <a:t>guide Ali is also his  guide and authority. </a:t>
            </a:r>
            <a:r>
              <a:rPr dirty="0" sz="1200">
                <a:latin typeface="Arial"/>
                <a:cs typeface="Arial"/>
              </a:rPr>
              <a:t>Oh </a:t>
            </a:r>
            <a:r>
              <a:rPr dirty="0" sz="1200" spc="-5">
                <a:latin typeface="Arial"/>
                <a:cs typeface="Arial"/>
              </a:rPr>
              <a:t>God! Be friendly with </a:t>
            </a:r>
            <a:r>
              <a:rPr dirty="0" sz="1200">
                <a:latin typeface="Arial"/>
                <a:cs typeface="Arial"/>
              </a:rPr>
              <a:t>the </a:t>
            </a:r>
            <a:r>
              <a:rPr dirty="0" sz="1200" spc="-5">
                <a:latin typeface="Arial"/>
                <a:cs typeface="Arial"/>
              </a:rPr>
              <a:t>friends of Ali and </a:t>
            </a:r>
            <a:r>
              <a:rPr dirty="0" sz="1200">
                <a:latin typeface="Arial"/>
                <a:cs typeface="Arial"/>
              </a:rPr>
              <a:t>the </a:t>
            </a:r>
            <a:r>
              <a:rPr dirty="0" sz="1200" spc="-5">
                <a:latin typeface="Arial"/>
                <a:cs typeface="Arial"/>
              </a:rPr>
              <a:t>enemy of </a:t>
            </a:r>
            <a:r>
              <a:rPr dirty="0" sz="1200" spc="-10">
                <a:latin typeface="Arial"/>
                <a:cs typeface="Arial"/>
              </a:rPr>
              <a:t>his  </a:t>
            </a:r>
            <a:r>
              <a:rPr dirty="0" sz="1200" spc="-5">
                <a:latin typeface="Arial"/>
                <a:cs typeface="Arial"/>
              </a:rPr>
              <a:t>enemies. </a:t>
            </a:r>
            <a:r>
              <a:rPr dirty="0" sz="1200">
                <a:latin typeface="Arial"/>
                <a:cs typeface="Arial"/>
              </a:rPr>
              <a:t>Whoever </a:t>
            </a:r>
            <a:r>
              <a:rPr dirty="0" sz="1200" spc="-5">
                <a:latin typeface="Arial"/>
                <a:cs typeface="Arial"/>
              </a:rPr>
              <a:t>helps him, help him, and whoever </a:t>
            </a:r>
            <a:r>
              <a:rPr dirty="0" sz="1200">
                <a:latin typeface="Arial"/>
                <a:cs typeface="Arial"/>
              </a:rPr>
              <a:t>leaves him, </a:t>
            </a:r>
            <a:r>
              <a:rPr dirty="0" sz="1200" spc="-10">
                <a:latin typeface="Arial"/>
                <a:cs typeface="Arial"/>
              </a:rPr>
              <a:t>leave</a:t>
            </a:r>
            <a:r>
              <a:rPr dirty="0" sz="1200" spc="-15">
                <a:latin typeface="Arial"/>
                <a:cs typeface="Arial"/>
              </a:rPr>
              <a:t> </a:t>
            </a:r>
            <a:r>
              <a:rPr dirty="0" sz="1200">
                <a:latin typeface="Arial"/>
                <a:cs typeface="Arial"/>
              </a:rPr>
              <a:t>him.‘]</a:t>
            </a:r>
            <a:endParaRPr sz="1200">
              <a:latin typeface="Arial"/>
              <a:cs typeface="Arial"/>
            </a:endParaRPr>
          </a:p>
          <a:p>
            <a:pPr algn="just" marL="469900" indent="-229235">
              <a:lnSpc>
                <a:spcPts val="1380"/>
              </a:lnSpc>
              <a:buSzPct val="91666"/>
              <a:buAutoNum type="arabicPeriod" startAt="4"/>
              <a:tabLst>
                <a:tab pos="470534" algn="l"/>
              </a:tabLst>
            </a:pPr>
            <a:r>
              <a:rPr dirty="0" sz="1200" spc="-5">
                <a:latin typeface="Arial"/>
                <a:cs typeface="Arial"/>
              </a:rPr>
              <a:t>Ali [along </a:t>
            </a:r>
            <a:r>
              <a:rPr dirty="0" sz="1200" spc="-10">
                <a:latin typeface="Arial"/>
                <a:cs typeface="Arial"/>
              </a:rPr>
              <a:t>with </a:t>
            </a:r>
            <a:r>
              <a:rPr dirty="0" sz="1200">
                <a:latin typeface="Arial"/>
                <a:cs typeface="Arial"/>
              </a:rPr>
              <a:t>others] </a:t>
            </a:r>
            <a:r>
              <a:rPr dirty="0" sz="1200" spc="-5">
                <a:latin typeface="Arial"/>
                <a:cs typeface="Arial"/>
              </a:rPr>
              <a:t>washed </a:t>
            </a:r>
            <a:r>
              <a:rPr dirty="0" sz="1200">
                <a:latin typeface="Arial"/>
                <a:cs typeface="Arial"/>
              </a:rPr>
              <a:t>the </a:t>
            </a:r>
            <a:r>
              <a:rPr dirty="0" sz="1200" spc="-5">
                <a:latin typeface="Arial"/>
                <a:cs typeface="Arial"/>
              </a:rPr>
              <a:t>Prophet‘s </a:t>
            </a:r>
            <a:r>
              <a:rPr dirty="0" sz="1200">
                <a:latin typeface="Arial"/>
                <a:cs typeface="Arial"/>
              </a:rPr>
              <a:t>body and </a:t>
            </a:r>
            <a:r>
              <a:rPr dirty="0" sz="1200" spc="-5">
                <a:latin typeface="Arial"/>
                <a:cs typeface="Arial"/>
              </a:rPr>
              <a:t>buried</a:t>
            </a:r>
            <a:r>
              <a:rPr dirty="0" sz="1200" spc="-40">
                <a:latin typeface="Arial"/>
                <a:cs typeface="Arial"/>
              </a:rPr>
              <a:t> </a:t>
            </a:r>
            <a:r>
              <a:rPr dirty="0" sz="1200" spc="-5">
                <a:latin typeface="Arial"/>
                <a:cs typeface="Arial"/>
              </a:rPr>
              <a:t>him</a:t>
            </a:r>
            <a:endParaRPr sz="1200">
              <a:latin typeface="Arial"/>
              <a:cs typeface="Arial"/>
            </a:endParaRPr>
          </a:p>
          <a:p>
            <a:pPr>
              <a:lnSpc>
                <a:spcPct val="100000"/>
              </a:lnSpc>
              <a:spcBef>
                <a:spcPts val="50"/>
              </a:spcBef>
            </a:pPr>
            <a:endParaRPr sz="1100">
              <a:latin typeface="Arial"/>
              <a:cs typeface="Arial"/>
            </a:endParaRPr>
          </a:p>
          <a:p>
            <a:pPr marL="12700">
              <a:lnSpc>
                <a:spcPct val="100000"/>
              </a:lnSpc>
              <a:spcBef>
                <a:spcPts val="5"/>
              </a:spcBef>
            </a:pPr>
            <a:r>
              <a:rPr dirty="0" u="heavy" sz="1200" spc="-5" b="1" i="1">
                <a:uFill>
                  <a:solidFill>
                    <a:srgbClr val="000000"/>
                  </a:solidFill>
                </a:uFill>
                <a:latin typeface="Arial"/>
                <a:cs typeface="Arial"/>
              </a:rPr>
              <a:t>Main events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contributions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Abu </a:t>
            </a:r>
            <a:r>
              <a:rPr dirty="0" u="heavy" sz="1200" b="1" i="1">
                <a:uFill>
                  <a:solidFill>
                    <a:srgbClr val="000000"/>
                  </a:solidFill>
                </a:uFill>
                <a:latin typeface="Arial"/>
                <a:cs typeface="Arial"/>
              </a:rPr>
              <a:t>Bakr</a:t>
            </a:r>
            <a:endParaRPr sz="1200">
              <a:latin typeface="Arial"/>
              <a:cs typeface="Arial"/>
            </a:endParaRPr>
          </a:p>
          <a:p>
            <a:pPr>
              <a:lnSpc>
                <a:spcPct val="100000"/>
              </a:lnSpc>
              <a:spcBef>
                <a:spcPts val="50"/>
              </a:spcBef>
            </a:pPr>
            <a:endParaRPr sz="1100">
              <a:latin typeface="Arial"/>
              <a:cs typeface="Arial"/>
            </a:endParaRPr>
          </a:p>
          <a:p>
            <a:pPr marL="469900" indent="-229235">
              <a:lnSpc>
                <a:spcPts val="1410"/>
              </a:lnSpc>
              <a:spcBef>
                <a:spcPts val="5"/>
              </a:spcBef>
              <a:buAutoNum type="arabicPeriod"/>
              <a:tabLst>
                <a:tab pos="470534" algn="l"/>
              </a:tabLst>
            </a:pPr>
            <a:r>
              <a:rPr dirty="0" sz="1200" spc="-5">
                <a:latin typeface="Arial"/>
                <a:cs typeface="Arial"/>
              </a:rPr>
              <a:t>He solved the crisis </a:t>
            </a:r>
            <a:r>
              <a:rPr dirty="0" sz="1200">
                <a:latin typeface="Arial"/>
                <a:cs typeface="Arial"/>
              </a:rPr>
              <a:t>at the </a:t>
            </a:r>
            <a:r>
              <a:rPr dirty="0" sz="1200" spc="-5">
                <a:latin typeface="Arial"/>
                <a:cs typeface="Arial"/>
              </a:rPr>
              <a:t>death of the prophet and brought calm and</a:t>
            </a:r>
            <a:r>
              <a:rPr dirty="0" sz="1200" spc="70">
                <a:latin typeface="Arial"/>
                <a:cs typeface="Arial"/>
              </a:rPr>
              <a:t> </a:t>
            </a:r>
            <a:r>
              <a:rPr dirty="0" sz="1200" spc="-5">
                <a:latin typeface="Arial"/>
                <a:cs typeface="Arial"/>
              </a:rPr>
              <a:t>peace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His </a:t>
            </a:r>
            <a:r>
              <a:rPr dirty="0" sz="1200">
                <a:latin typeface="Arial"/>
                <a:cs typeface="Arial"/>
              </a:rPr>
              <a:t>election </a:t>
            </a:r>
            <a:r>
              <a:rPr dirty="0" sz="1200" spc="-5">
                <a:latin typeface="Arial"/>
                <a:cs typeface="Arial"/>
              </a:rPr>
              <a:t>and declaration of a democratic </a:t>
            </a:r>
            <a:r>
              <a:rPr dirty="0" sz="1200">
                <a:latin typeface="Arial"/>
                <a:cs typeface="Arial"/>
              </a:rPr>
              <a:t>country </a:t>
            </a:r>
            <a:r>
              <a:rPr dirty="0" sz="1200" spc="-5">
                <a:latin typeface="Arial"/>
                <a:cs typeface="Arial"/>
              </a:rPr>
              <a:t>and</a:t>
            </a:r>
            <a:r>
              <a:rPr dirty="0" sz="1200">
                <a:latin typeface="Arial"/>
                <a:cs typeface="Arial"/>
              </a:rPr>
              <a:t> </a:t>
            </a:r>
            <a:r>
              <a:rPr dirty="0" sz="1200" spc="-5">
                <a:latin typeface="Arial"/>
                <a:cs typeface="Arial"/>
              </a:rPr>
              <a:t>society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Sending of Usama‘s </a:t>
            </a:r>
            <a:r>
              <a:rPr dirty="0" sz="1200">
                <a:latin typeface="Arial"/>
                <a:cs typeface="Arial"/>
              </a:rPr>
              <a:t>army to</a:t>
            </a:r>
            <a:r>
              <a:rPr dirty="0" sz="1200" spc="5">
                <a:latin typeface="Arial"/>
                <a:cs typeface="Arial"/>
              </a:rPr>
              <a:t> </a:t>
            </a:r>
            <a:r>
              <a:rPr dirty="0" sz="1200" spc="-10">
                <a:latin typeface="Arial"/>
                <a:cs typeface="Arial"/>
              </a:rPr>
              <a:t>Syria</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Tribes declaring the treaties with the prophet as void and</a:t>
            </a:r>
            <a:r>
              <a:rPr dirty="0" sz="1200">
                <a:latin typeface="Arial"/>
                <a:cs typeface="Arial"/>
              </a:rPr>
              <a:t> null</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Tribes reducing the amount of Swalaat </a:t>
            </a:r>
            <a:r>
              <a:rPr dirty="0" sz="1200">
                <a:latin typeface="Arial"/>
                <a:cs typeface="Arial"/>
              </a:rPr>
              <a:t>to </a:t>
            </a:r>
            <a:r>
              <a:rPr dirty="0" sz="1200" spc="-5">
                <a:latin typeface="Arial"/>
                <a:cs typeface="Arial"/>
              </a:rPr>
              <a:t>3</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Tribes refusing </a:t>
            </a:r>
            <a:r>
              <a:rPr dirty="0" sz="1200">
                <a:latin typeface="Arial"/>
                <a:cs typeface="Arial"/>
              </a:rPr>
              <a:t>to pay</a:t>
            </a:r>
            <a:r>
              <a:rPr dirty="0" sz="1200" spc="-35">
                <a:latin typeface="Arial"/>
                <a:cs typeface="Arial"/>
              </a:rPr>
              <a:t> </a:t>
            </a:r>
            <a:r>
              <a:rPr dirty="0" sz="1200">
                <a:latin typeface="Arial"/>
                <a:cs typeface="Arial"/>
              </a:rPr>
              <a:t>Zakaat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Surrounding tribes of the Islamic dominion</a:t>
            </a:r>
            <a:r>
              <a:rPr dirty="0" sz="1200" spc="25">
                <a:latin typeface="Arial"/>
                <a:cs typeface="Arial"/>
              </a:rPr>
              <a:t> </a:t>
            </a:r>
            <a:r>
              <a:rPr dirty="0" sz="1200" spc="-5">
                <a:latin typeface="Arial"/>
                <a:cs typeface="Arial"/>
              </a:rPr>
              <a:t>rebelled</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Presence of </a:t>
            </a:r>
            <a:r>
              <a:rPr dirty="0" sz="1200">
                <a:latin typeface="Arial"/>
                <a:cs typeface="Arial"/>
              </a:rPr>
              <a:t>false</a:t>
            </a:r>
            <a:r>
              <a:rPr dirty="0" sz="1200" spc="-15">
                <a:latin typeface="Arial"/>
                <a:cs typeface="Arial"/>
              </a:rPr>
              <a:t> </a:t>
            </a:r>
            <a:r>
              <a:rPr dirty="0" sz="1200" spc="-5">
                <a:latin typeface="Arial"/>
                <a:cs typeface="Arial"/>
              </a:rPr>
              <a:t>prophets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Crushing down of </a:t>
            </a:r>
            <a:r>
              <a:rPr dirty="0" sz="1200">
                <a:latin typeface="Arial"/>
                <a:cs typeface="Arial"/>
              </a:rPr>
              <a:t>all </a:t>
            </a:r>
            <a:r>
              <a:rPr dirty="0" sz="1200" spc="-5">
                <a:latin typeface="Arial"/>
                <a:cs typeface="Arial"/>
              </a:rPr>
              <a:t>these revolts in less than 1</a:t>
            </a:r>
            <a:r>
              <a:rPr dirty="0" sz="1200" spc="30">
                <a:latin typeface="Arial"/>
                <a:cs typeface="Arial"/>
              </a:rPr>
              <a:t> </a:t>
            </a:r>
            <a:r>
              <a:rPr dirty="0" sz="1200" spc="-5">
                <a:latin typeface="Arial"/>
                <a:cs typeface="Arial"/>
              </a:rPr>
              <a:t>year</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Compilation of the</a:t>
            </a:r>
            <a:r>
              <a:rPr dirty="0" sz="1200" spc="5">
                <a:latin typeface="Arial"/>
                <a:cs typeface="Arial"/>
              </a:rPr>
              <a:t> </a:t>
            </a:r>
            <a:r>
              <a:rPr dirty="0" sz="1200" spc="-5">
                <a:latin typeface="Arial"/>
                <a:cs typeface="Arial"/>
              </a:rPr>
              <a:t>Qur‘an</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Administrative measures and achievements </a:t>
            </a:r>
            <a:r>
              <a:rPr dirty="0" sz="1200" spc="-10">
                <a:latin typeface="Arial"/>
                <a:cs typeface="Arial"/>
              </a:rPr>
              <a:t>(See </a:t>
            </a:r>
            <a:r>
              <a:rPr dirty="0" sz="1200" spc="-5">
                <a:latin typeface="Arial"/>
                <a:cs typeface="Arial"/>
              </a:rPr>
              <a:t>notes</a:t>
            </a:r>
            <a:r>
              <a:rPr dirty="0" sz="1200" spc="55">
                <a:latin typeface="Arial"/>
                <a:cs typeface="Arial"/>
              </a:rPr>
              <a:t> </a:t>
            </a:r>
            <a:r>
              <a:rPr dirty="0" sz="1200" spc="-5">
                <a:latin typeface="Arial"/>
                <a:cs typeface="Arial"/>
              </a:rPr>
              <a:t>above)</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Main events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contributions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Umar</a:t>
            </a:r>
            <a:endParaRPr sz="1200">
              <a:latin typeface="Arial"/>
              <a:cs typeface="Arial"/>
            </a:endParaRPr>
          </a:p>
          <a:p>
            <a:pPr>
              <a:lnSpc>
                <a:spcPct val="100000"/>
              </a:lnSpc>
              <a:spcBef>
                <a:spcPts val="55"/>
              </a:spcBef>
            </a:pPr>
            <a:endParaRPr sz="1100">
              <a:latin typeface="Arial"/>
              <a:cs typeface="Arial"/>
            </a:endParaRPr>
          </a:p>
          <a:p>
            <a:pPr marL="469900" indent="-229235">
              <a:lnSpc>
                <a:spcPts val="1405"/>
              </a:lnSpc>
              <a:buAutoNum type="arabicPeriod"/>
              <a:tabLst>
                <a:tab pos="470534" algn="l"/>
              </a:tabLst>
            </a:pPr>
            <a:r>
              <a:rPr dirty="0" sz="1200" spc="-5">
                <a:latin typeface="Arial"/>
                <a:cs typeface="Arial"/>
              </a:rPr>
              <a:t>Election and nomination of Umar through Abu</a:t>
            </a:r>
            <a:r>
              <a:rPr dirty="0" sz="1200" spc="35">
                <a:latin typeface="Arial"/>
                <a:cs typeface="Arial"/>
              </a:rPr>
              <a:t> </a:t>
            </a:r>
            <a:r>
              <a:rPr dirty="0" sz="1200">
                <a:latin typeface="Arial"/>
                <a:cs typeface="Arial"/>
              </a:rPr>
              <a:t>Bakr</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Crushing down of all Khawarij</a:t>
            </a:r>
            <a:r>
              <a:rPr dirty="0" sz="1200" spc="25">
                <a:latin typeface="Arial"/>
                <a:cs typeface="Arial"/>
              </a:rPr>
              <a:t> </a:t>
            </a:r>
            <a:r>
              <a:rPr dirty="0" sz="1200" spc="-5">
                <a:latin typeface="Arial"/>
                <a:cs typeface="Arial"/>
              </a:rPr>
              <a:t>groups</a:t>
            </a:r>
            <a:endParaRPr sz="1200">
              <a:latin typeface="Arial"/>
              <a:cs typeface="Arial"/>
            </a:endParaRPr>
          </a:p>
          <a:p>
            <a:pPr marL="469900" marR="5080" indent="-228600">
              <a:lnSpc>
                <a:spcPts val="1380"/>
              </a:lnSpc>
              <a:spcBef>
                <a:spcPts val="65"/>
              </a:spcBef>
              <a:buAutoNum type="arabicPeriod"/>
              <a:tabLst>
                <a:tab pos="470534" algn="l"/>
              </a:tabLst>
            </a:pPr>
            <a:r>
              <a:rPr dirty="0" sz="1200" spc="-5">
                <a:latin typeface="Arial"/>
                <a:cs typeface="Arial"/>
              </a:rPr>
              <a:t>Exile </a:t>
            </a:r>
            <a:r>
              <a:rPr dirty="0" sz="1200">
                <a:latin typeface="Arial"/>
                <a:cs typeface="Arial"/>
              </a:rPr>
              <a:t>of </a:t>
            </a:r>
            <a:r>
              <a:rPr dirty="0" sz="1200" spc="-5">
                <a:latin typeface="Arial"/>
                <a:cs typeface="Arial"/>
              </a:rPr>
              <a:t>Jews and </a:t>
            </a:r>
            <a:r>
              <a:rPr dirty="0" sz="1200">
                <a:latin typeface="Arial"/>
                <a:cs typeface="Arial"/>
              </a:rPr>
              <a:t>Christians </a:t>
            </a:r>
            <a:r>
              <a:rPr dirty="0" sz="1200" spc="-5">
                <a:latin typeface="Arial"/>
                <a:cs typeface="Arial"/>
              </a:rPr>
              <a:t>(unbelievers) from Macca and Madina </a:t>
            </a:r>
            <a:r>
              <a:rPr dirty="0" sz="1200">
                <a:latin typeface="Arial"/>
                <a:cs typeface="Arial"/>
              </a:rPr>
              <a:t>to other </a:t>
            </a:r>
            <a:r>
              <a:rPr dirty="0" sz="1200" spc="-5">
                <a:latin typeface="Arial"/>
                <a:cs typeface="Arial"/>
              </a:rPr>
              <a:t>parts of  </a:t>
            </a:r>
            <a:r>
              <a:rPr dirty="0" sz="1200">
                <a:latin typeface="Arial"/>
                <a:cs typeface="Arial"/>
              </a:rPr>
              <a:t>the </a:t>
            </a:r>
            <a:r>
              <a:rPr dirty="0" sz="1200" spc="-5">
                <a:latin typeface="Arial"/>
                <a:cs typeface="Arial"/>
              </a:rPr>
              <a:t>Islamic </a:t>
            </a:r>
            <a:r>
              <a:rPr dirty="0" sz="1200" spc="-10">
                <a:latin typeface="Arial"/>
                <a:cs typeface="Arial"/>
              </a:rPr>
              <a:t>world</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Consolidation of Islamic</a:t>
            </a:r>
            <a:r>
              <a:rPr dirty="0" sz="1200" spc="10">
                <a:latin typeface="Arial"/>
                <a:cs typeface="Arial"/>
              </a:rPr>
              <a:t> </a:t>
            </a:r>
            <a:r>
              <a:rPr dirty="0" sz="1200" spc="-5">
                <a:latin typeface="Arial"/>
                <a:cs typeface="Arial"/>
              </a:rPr>
              <a:t>frontiers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Conquest of Persia, </a:t>
            </a:r>
            <a:r>
              <a:rPr dirty="0" sz="1200" spc="-10">
                <a:latin typeface="Arial"/>
                <a:cs typeface="Arial"/>
              </a:rPr>
              <a:t>Syria </a:t>
            </a:r>
            <a:r>
              <a:rPr dirty="0" sz="1200">
                <a:latin typeface="Arial"/>
                <a:cs typeface="Arial"/>
              </a:rPr>
              <a:t>and</a:t>
            </a:r>
            <a:r>
              <a:rPr dirty="0" sz="1200" spc="15">
                <a:latin typeface="Arial"/>
                <a:cs typeface="Arial"/>
              </a:rPr>
              <a:t> </a:t>
            </a:r>
            <a:r>
              <a:rPr dirty="0" sz="1200" spc="-5">
                <a:latin typeface="Arial"/>
                <a:cs typeface="Arial"/>
              </a:rPr>
              <a:t>Egypt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Creation of a well </a:t>
            </a:r>
            <a:r>
              <a:rPr dirty="0" sz="1200">
                <a:latin typeface="Arial"/>
                <a:cs typeface="Arial"/>
              </a:rPr>
              <a:t>disciplined</a:t>
            </a:r>
            <a:r>
              <a:rPr dirty="0" sz="1200" spc="-5">
                <a:latin typeface="Arial"/>
                <a:cs typeface="Arial"/>
              </a:rPr>
              <a:t> army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Military </a:t>
            </a:r>
            <a:r>
              <a:rPr dirty="0" sz="1200">
                <a:latin typeface="Arial"/>
                <a:cs typeface="Arial"/>
              </a:rPr>
              <a:t>camps </a:t>
            </a:r>
            <a:r>
              <a:rPr dirty="0" sz="1200" spc="-5">
                <a:latin typeface="Arial"/>
                <a:cs typeface="Arial"/>
              </a:rPr>
              <a:t>outside </a:t>
            </a:r>
            <a:r>
              <a:rPr dirty="0" sz="1200">
                <a:latin typeface="Arial"/>
                <a:cs typeface="Arial"/>
              </a:rPr>
              <a:t>the </a:t>
            </a:r>
            <a:r>
              <a:rPr dirty="0" sz="1200" spc="-5">
                <a:latin typeface="Arial"/>
                <a:cs typeface="Arial"/>
              </a:rPr>
              <a:t>cities with religious</a:t>
            </a:r>
            <a:r>
              <a:rPr dirty="0" sz="1200" spc="15">
                <a:latin typeface="Arial"/>
                <a:cs typeface="Arial"/>
              </a:rPr>
              <a:t> </a:t>
            </a:r>
            <a:r>
              <a:rPr dirty="0" sz="1200" spc="-5">
                <a:latin typeface="Arial"/>
                <a:cs typeface="Arial"/>
              </a:rPr>
              <a:t>facilities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Tarawih in Jama‘ah (Umar said: </a:t>
            </a:r>
            <a:r>
              <a:rPr dirty="0" sz="1200">
                <a:latin typeface="Arial"/>
                <a:cs typeface="Arial"/>
              </a:rPr>
              <a:t>ni‘mal </a:t>
            </a:r>
            <a:r>
              <a:rPr dirty="0" sz="1200" spc="-5">
                <a:latin typeface="Arial"/>
                <a:cs typeface="Arial"/>
              </a:rPr>
              <a:t>bid‘atou</a:t>
            </a:r>
            <a:r>
              <a:rPr dirty="0" sz="1200" spc="20">
                <a:latin typeface="Arial"/>
                <a:cs typeface="Arial"/>
              </a:rPr>
              <a:t> </a:t>
            </a:r>
            <a:r>
              <a:rPr dirty="0" sz="1200" spc="-5">
                <a:latin typeface="Arial"/>
                <a:cs typeface="Arial"/>
              </a:rPr>
              <a:t>haadhihi)</a:t>
            </a:r>
            <a:endParaRPr sz="1200">
              <a:latin typeface="Arial"/>
              <a:cs typeface="Arial"/>
            </a:endParaRPr>
          </a:p>
          <a:p>
            <a:pPr marL="469900" indent="-229235">
              <a:lnSpc>
                <a:spcPts val="1380"/>
              </a:lnSpc>
              <a:buAutoNum type="arabicPeriod"/>
              <a:tabLst>
                <a:tab pos="470534" algn="l"/>
              </a:tabLst>
            </a:pPr>
            <a:r>
              <a:rPr dirty="0" sz="1200">
                <a:latin typeface="Arial"/>
                <a:cs typeface="Arial"/>
              </a:rPr>
              <a:t>Strict </a:t>
            </a:r>
            <a:r>
              <a:rPr dirty="0" sz="1200" spc="-5">
                <a:latin typeface="Arial"/>
                <a:cs typeface="Arial"/>
              </a:rPr>
              <a:t>Application of Shari‘ah </a:t>
            </a:r>
            <a:r>
              <a:rPr dirty="0" sz="1200">
                <a:latin typeface="Arial"/>
                <a:cs typeface="Arial"/>
              </a:rPr>
              <a:t>(Ex </a:t>
            </a:r>
            <a:r>
              <a:rPr dirty="0" sz="1200" spc="-5">
                <a:latin typeface="Arial"/>
                <a:cs typeface="Arial"/>
              </a:rPr>
              <a:t>3 talaq </a:t>
            </a:r>
            <a:r>
              <a:rPr dirty="0" sz="1200">
                <a:latin typeface="Arial"/>
                <a:cs typeface="Arial"/>
              </a:rPr>
              <a:t>at </a:t>
            </a:r>
            <a:r>
              <a:rPr dirty="0" sz="1200" spc="-5">
                <a:latin typeface="Arial"/>
                <a:cs typeface="Arial"/>
              </a:rPr>
              <a:t>one</a:t>
            </a:r>
            <a:r>
              <a:rPr dirty="0" sz="1200" spc="15">
                <a:latin typeface="Arial"/>
                <a:cs typeface="Arial"/>
              </a:rPr>
              <a:t> </a:t>
            </a:r>
            <a:r>
              <a:rPr dirty="0" sz="1200" spc="-5">
                <a:latin typeface="Arial"/>
                <a:cs typeface="Arial"/>
              </a:rPr>
              <a:t>instance)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His </a:t>
            </a:r>
            <a:r>
              <a:rPr dirty="0" sz="1200">
                <a:latin typeface="Arial"/>
                <a:cs typeface="Arial"/>
              </a:rPr>
              <a:t>murder </a:t>
            </a:r>
            <a:r>
              <a:rPr dirty="0" sz="1200" spc="-5">
                <a:latin typeface="Arial"/>
                <a:cs typeface="Arial"/>
              </a:rPr>
              <a:t>and</a:t>
            </a:r>
            <a:r>
              <a:rPr dirty="0" sz="1200" spc="-25">
                <a:latin typeface="Arial"/>
                <a:cs typeface="Arial"/>
              </a:rPr>
              <a:t> </a:t>
            </a:r>
            <a:r>
              <a:rPr dirty="0" sz="1200" spc="-5">
                <a:latin typeface="Arial"/>
                <a:cs typeface="Arial"/>
              </a:rPr>
              <a:t>death</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Administrative measures and achievements </a:t>
            </a:r>
            <a:r>
              <a:rPr dirty="0" sz="1200" spc="-10">
                <a:latin typeface="Arial"/>
                <a:cs typeface="Arial"/>
              </a:rPr>
              <a:t>(See </a:t>
            </a:r>
            <a:r>
              <a:rPr dirty="0" sz="1200" spc="-5">
                <a:latin typeface="Arial"/>
                <a:cs typeface="Arial"/>
              </a:rPr>
              <a:t>notes</a:t>
            </a:r>
            <a:r>
              <a:rPr dirty="0" sz="1200" spc="25">
                <a:latin typeface="Arial"/>
                <a:cs typeface="Arial"/>
              </a:rPr>
              <a:t> </a:t>
            </a:r>
            <a:r>
              <a:rPr dirty="0" sz="1200" spc="-5">
                <a:latin typeface="Arial"/>
                <a:cs typeface="Arial"/>
              </a:rPr>
              <a:t>above)</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Main events </a:t>
            </a:r>
            <a:r>
              <a:rPr dirty="0" u="heavy" sz="1200" b="1" i="1">
                <a:uFill>
                  <a:solidFill>
                    <a:srgbClr val="000000"/>
                  </a:solidFill>
                </a:uFill>
                <a:latin typeface="Arial"/>
                <a:cs typeface="Arial"/>
              </a:rPr>
              <a:t>and contributions of</a:t>
            </a:r>
            <a:r>
              <a:rPr dirty="0" u="heavy" sz="1200" spc="-50" b="1" i="1">
                <a:uFill>
                  <a:solidFill>
                    <a:srgbClr val="000000"/>
                  </a:solidFill>
                </a:uFill>
                <a:latin typeface="Arial"/>
                <a:cs typeface="Arial"/>
              </a:rPr>
              <a:t> </a:t>
            </a:r>
            <a:r>
              <a:rPr dirty="0" u="heavy" sz="1200" spc="-5" b="1" i="1">
                <a:uFill>
                  <a:solidFill>
                    <a:srgbClr val="000000"/>
                  </a:solidFill>
                </a:uFill>
                <a:latin typeface="Arial"/>
                <a:cs typeface="Arial"/>
              </a:rPr>
              <a:t>Uthman</a:t>
            </a:r>
            <a:endParaRPr sz="1200">
              <a:latin typeface="Arial"/>
              <a:cs typeface="Arial"/>
            </a:endParaRPr>
          </a:p>
          <a:p>
            <a:pPr>
              <a:lnSpc>
                <a:spcPct val="100000"/>
              </a:lnSpc>
              <a:spcBef>
                <a:spcPts val="55"/>
              </a:spcBef>
            </a:pPr>
            <a:endParaRPr sz="1100">
              <a:latin typeface="Arial"/>
              <a:cs typeface="Arial"/>
            </a:endParaRPr>
          </a:p>
          <a:p>
            <a:pPr algn="just" marL="469900" indent="-229235">
              <a:lnSpc>
                <a:spcPts val="1410"/>
              </a:lnSpc>
              <a:buAutoNum type="arabicPeriod"/>
              <a:tabLst>
                <a:tab pos="470534" algn="l"/>
              </a:tabLst>
            </a:pPr>
            <a:r>
              <a:rPr dirty="0" sz="1200">
                <a:latin typeface="Arial"/>
                <a:cs typeface="Arial"/>
              </a:rPr>
              <a:t>Chosen from </a:t>
            </a:r>
            <a:r>
              <a:rPr dirty="0" sz="1200" spc="-5">
                <a:latin typeface="Arial"/>
                <a:cs typeface="Arial"/>
              </a:rPr>
              <a:t>a panel of 6</a:t>
            </a:r>
            <a:r>
              <a:rPr dirty="0" sz="1200" spc="-85">
                <a:latin typeface="Arial"/>
                <a:cs typeface="Arial"/>
              </a:rPr>
              <a:t> </a:t>
            </a:r>
            <a:r>
              <a:rPr dirty="0" sz="1200">
                <a:latin typeface="Arial"/>
                <a:cs typeface="Arial"/>
              </a:rPr>
              <a:t>men</a:t>
            </a:r>
            <a:endParaRPr sz="1200">
              <a:latin typeface="Arial"/>
              <a:cs typeface="Arial"/>
            </a:endParaRPr>
          </a:p>
          <a:p>
            <a:pPr algn="just" marL="469900" indent="-229235">
              <a:lnSpc>
                <a:spcPts val="1410"/>
              </a:lnSpc>
              <a:buAutoNum type="arabicPeriod"/>
              <a:tabLst>
                <a:tab pos="470534" algn="l"/>
              </a:tabLst>
            </a:pPr>
            <a:r>
              <a:rPr dirty="0" sz="1200" spc="-5">
                <a:latin typeface="Arial"/>
                <a:cs typeface="Arial"/>
              </a:rPr>
              <a:t>Wanted </a:t>
            </a:r>
            <a:r>
              <a:rPr dirty="0" sz="1200">
                <a:latin typeface="Arial"/>
                <a:cs typeface="Arial"/>
              </a:rPr>
              <a:t>to </a:t>
            </a:r>
            <a:r>
              <a:rPr dirty="0" sz="1200" spc="-5">
                <a:latin typeface="Arial"/>
                <a:cs typeface="Arial"/>
              </a:rPr>
              <a:t>make changes in </a:t>
            </a:r>
            <a:r>
              <a:rPr dirty="0" sz="1200">
                <a:latin typeface="Arial"/>
                <a:cs typeface="Arial"/>
              </a:rPr>
              <a:t>his</a:t>
            </a:r>
            <a:r>
              <a:rPr dirty="0" sz="1200" spc="-5">
                <a:latin typeface="Arial"/>
                <a:cs typeface="Arial"/>
              </a:rPr>
              <a:t> government</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11195"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43</a:t>
            </a:r>
            <a:endParaRPr sz="1200">
              <a:latin typeface="Times New Roman"/>
              <a:cs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257290" cy="8971280"/>
          </a:xfrm>
          <a:prstGeom prst="rect">
            <a:avLst/>
          </a:prstGeom>
        </p:spPr>
        <p:txBody>
          <a:bodyPr wrap="square" lIns="0" tIns="12700" rIns="0" bIns="0" rtlCol="0" vert="horz">
            <a:spAutoFit/>
          </a:bodyPr>
          <a:lstStyle/>
          <a:p>
            <a:pPr marL="469900" indent="-229235">
              <a:lnSpc>
                <a:spcPts val="1410"/>
              </a:lnSpc>
              <a:spcBef>
                <a:spcPts val="100"/>
              </a:spcBef>
              <a:buAutoNum type="arabicPeriod" startAt="3"/>
              <a:tabLst>
                <a:tab pos="470534" algn="l"/>
              </a:tabLst>
            </a:pPr>
            <a:r>
              <a:rPr dirty="0" sz="1200" spc="-5">
                <a:latin typeface="Arial"/>
                <a:cs typeface="Arial"/>
              </a:rPr>
              <a:t>Severe oppositions from different governors</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Problems in his army with the Syrians </a:t>
            </a:r>
            <a:r>
              <a:rPr dirty="0" sz="1200">
                <a:latin typeface="Arial"/>
                <a:cs typeface="Arial"/>
              </a:rPr>
              <a:t>and </a:t>
            </a:r>
            <a:r>
              <a:rPr dirty="0" sz="1200" spc="-5">
                <a:latin typeface="Arial"/>
                <a:cs typeface="Arial"/>
              </a:rPr>
              <a:t>the</a:t>
            </a:r>
            <a:r>
              <a:rPr dirty="0" sz="1200" spc="5">
                <a:latin typeface="Arial"/>
                <a:cs typeface="Arial"/>
              </a:rPr>
              <a:t> </a:t>
            </a:r>
            <a:r>
              <a:rPr dirty="0" sz="1200" spc="-5">
                <a:latin typeface="Arial"/>
                <a:cs typeface="Arial"/>
              </a:rPr>
              <a:t>Yemenites</a:t>
            </a:r>
            <a:endParaRPr sz="1200">
              <a:latin typeface="Arial"/>
              <a:cs typeface="Arial"/>
            </a:endParaRPr>
          </a:p>
          <a:p>
            <a:pPr marL="469900" indent="-229235">
              <a:lnSpc>
                <a:spcPts val="1380"/>
              </a:lnSpc>
              <a:buAutoNum type="arabicPeriod" startAt="3"/>
              <a:tabLst>
                <a:tab pos="470534" algn="l"/>
              </a:tabLst>
            </a:pPr>
            <a:r>
              <a:rPr dirty="0" sz="1200">
                <a:latin typeface="Arial"/>
                <a:cs typeface="Arial"/>
              </a:rPr>
              <a:t>Burning </a:t>
            </a:r>
            <a:r>
              <a:rPr dirty="0" sz="1200" spc="-5">
                <a:latin typeface="Arial"/>
                <a:cs typeface="Arial"/>
              </a:rPr>
              <a:t>and Standardisation of the Qur‘an</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Conquest of Islamic Territories </a:t>
            </a:r>
            <a:r>
              <a:rPr dirty="0" sz="1200">
                <a:latin typeface="Arial"/>
                <a:cs typeface="Arial"/>
              </a:rPr>
              <a:t>for the first </a:t>
            </a:r>
            <a:r>
              <a:rPr dirty="0" sz="1200" spc="-5">
                <a:latin typeface="Arial"/>
                <a:cs typeface="Arial"/>
              </a:rPr>
              <a:t>6</a:t>
            </a:r>
            <a:r>
              <a:rPr dirty="0" sz="1200" spc="-20">
                <a:latin typeface="Arial"/>
                <a:cs typeface="Arial"/>
              </a:rPr>
              <a:t> </a:t>
            </a:r>
            <a:r>
              <a:rPr dirty="0" sz="1200" spc="-5">
                <a:latin typeface="Arial"/>
                <a:cs typeface="Arial"/>
              </a:rPr>
              <a:t>years</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Charges against</a:t>
            </a:r>
            <a:r>
              <a:rPr dirty="0" sz="1200">
                <a:latin typeface="Arial"/>
                <a:cs typeface="Arial"/>
              </a:rPr>
              <a:t> </a:t>
            </a:r>
            <a:r>
              <a:rPr dirty="0" sz="1200" spc="-5">
                <a:latin typeface="Arial"/>
                <a:cs typeface="Arial"/>
              </a:rPr>
              <a:t>him</a:t>
            </a:r>
            <a:endParaRPr sz="1200">
              <a:latin typeface="Arial"/>
              <a:cs typeface="Arial"/>
            </a:endParaRPr>
          </a:p>
          <a:p>
            <a:pPr marL="469900" indent="-229235">
              <a:lnSpc>
                <a:spcPts val="1380"/>
              </a:lnSpc>
              <a:buAutoNum type="arabicPeriod" startAt="3"/>
              <a:tabLst>
                <a:tab pos="470534" algn="l"/>
              </a:tabLst>
            </a:pPr>
            <a:r>
              <a:rPr dirty="0" sz="1200">
                <a:latin typeface="Arial"/>
                <a:cs typeface="Arial"/>
              </a:rPr>
              <a:t>Lost </a:t>
            </a:r>
            <a:r>
              <a:rPr dirty="0" sz="1200" spc="-5">
                <a:latin typeface="Arial"/>
                <a:cs typeface="Arial"/>
              </a:rPr>
              <a:t>of </a:t>
            </a:r>
            <a:r>
              <a:rPr dirty="0" sz="1200">
                <a:latin typeface="Arial"/>
                <a:cs typeface="Arial"/>
              </a:rPr>
              <a:t>many </a:t>
            </a:r>
            <a:r>
              <a:rPr dirty="0" sz="1200" spc="-5">
                <a:latin typeface="Arial"/>
                <a:cs typeface="Arial"/>
              </a:rPr>
              <a:t>of Islamic territories </a:t>
            </a:r>
            <a:r>
              <a:rPr dirty="0" sz="1200">
                <a:latin typeface="Arial"/>
                <a:cs typeface="Arial"/>
              </a:rPr>
              <a:t>for </a:t>
            </a:r>
            <a:r>
              <a:rPr dirty="0" sz="1200" spc="-10">
                <a:latin typeface="Arial"/>
                <a:cs typeface="Arial"/>
              </a:rPr>
              <a:t>the </a:t>
            </a:r>
            <a:r>
              <a:rPr dirty="0" sz="1200" spc="-5">
                <a:latin typeface="Arial"/>
                <a:cs typeface="Arial"/>
              </a:rPr>
              <a:t>last 6</a:t>
            </a:r>
            <a:r>
              <a:rPr dirty="0" sz="1200">
                <a:latin typeface="Arial"/>
                <a:cs typeface="Arial"/>
              </a:rPr>
              <a:t> </a:t>
            </a:r>
            <a:r>
              <a:rPr dirty="0" sz="1200" spc="-5">
                <a:latin typeface="Arial"/>
                <a:cs typeface="Arial"/>
              </a:rPr>
              <a:t>years</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Murdered by the Khawarij while reading </a:t>
            </a:r>
            <a:r>
              <a:rPr dirty="0" sz="1200">
                <a:latin typeface="Arial"/>
                <a:cs typeface="Arial"/>
              </a:rPr>
              <a:t>the</a:t>
            </a:r>
            <a:r>
              <a:rPr dirty="0" sz="1200" spc="15">
                <a:latin typeface="Arial"/>
                <a:cs typeface="Arial"/>
              </a:rPr>
              <a:t> </a:t>
            </a:r>
            <a:r>
              <a:rPr dirty="0" sz="1200" spc="-5">
                <a:latin typeface="Arial"/>
                <a:cs typeface="Arial"/>
              </a:rPr>
              <a:t>Qur‘an</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No caliph and </a:t>
            </a:r>
            <a:r>
              <a:rPr dirty="0" sz="1200">
                <a:latin typeface="Arial"/>
                <a:cs typeface="Arial"/>
              </a:rPr>
              <a:t>no </a:t>
            </a:r>
            <a:r>
              <a:rPr dirty="0" sz="1200" spc="-5">
                <a:latin typeface="Arial"/>
                <a:cs typeface="Arial"/>
              </a:rPr>
              <a:t>burial </a:t>
            </a:r>
            <a:r>
              <a:rPr dirty="0" sz="1200">
                <a:latin typeface="Arial"/>
                <a:cs typeface="Arial"/>
              </a:rPr>
              <a:t>for </a:t>
            </a:r>
            <a:r>
              <a:rPr dirty="0" sz="1200" spc="-5">
                <a:latin typeface="Arial"/>
                <a:cs typeface="Arial"/>
              </a:rPr>
              <a:t>3</a:t>
            </a:r>
            <a:r>
              <a:rPr dirty="0" sz="1200" spc="-25">
                <a:latin typeface="Arial"/>
                <a:cs typeface="Arial"/>
              </a:rPr>
              <a:t> </a:t>
            </a:r>
            <a:r>
              <a:rPr dirty="0" sz="1200" spc="-5">
                <a:latin typeface="Arial"/>
                <a:cs typeface="Arial"/>
              </a:rPr>
              <a:t>days</a:t>
            </a:r>
            <a:endParaRPr sz="1200">
              <a:latin typeface="Arial"/>
              <a:cs typeface="Arial"/>
            </a:endParaRPr>
          </a:p>
          <a:p>
            <a:pPr marL="469900" indent="-229235">
              <a:lnSpc>
                <a:spcPts val="1410"/>
              </a:lnSpc>
              <a:buAutoNum type="arabicPeriod" startAt="3"/>
              <a:tabLst>
                <a:tab pos="470534" algn="l"/>
              </a:tabLst>
            </a:pPr>
            <a:r>
              <a:rPr dirty="0" sz="1200" spc="-5">
                <a:latin typeface="Arial"/>
                <a:cs typeface="Arial"/>
              </a:rPr>
              <a:t>Administrative measures and achievements </a:t>
            </a:r>
            <a:r>
              <a:rPr dirty="0" sz="1200" spc="-10">
                <a:latin typeface="Arial"/>
                <a:cs typeface="Arial"/>
              </a:rPr>
              <a:t>(See </a:t>
            </a:r>
            <a:r>
              <a:rPr dirty="0" sz="1200" spc="-5">
                <a:latin typeface="Arial"/>
                <a:cs typeface="Arial"/>
              </a:rPr>
              <a:t>notes</a:t>
            </a:r>
            <a:r>
              <a:rPr dirty="0" sz="1200" spc="25">
                <a:latin typeface="Arial"/>
                <a:cs typeface="Arial"/>
              </a:rPr>
              <a:t> </a:t>
            </a:r>
            <a:r>
              <a:rPr dirty="0" sz="1200" spc="-5">
                <a:latin typeface="Arial"/>
                <a:cs typeface="Arial"/>
              </a:rPr>
              <a:t>above)</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Main events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contributions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Ali</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Election from a panel of 3 </a:t>
            </a:r>
            <a:r>
              <a:rPr dirty="0" sz="1200">
                <a:latin typeface="Arial"/>
                <a:cs typeface="Arial"/>
              </a:rPr>
              <a:t>men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Ultimatum of </a:t>
            </a:r>
            <a:r>
              <a:rPr dirty="0" sz="1200" spc="-10">
                <a:latin typeface="Arial"/>
                <a:cs typeface="Arial"/>
              </a:rPr>
              <a:t>24 </a:t>
            </a:r>
            <a:r>
              <a:rPr dirty="0" sz="1200" spc="-5">
                <a:latin typeface="Arial"/>
                <a:cs typeface="Arial"/>
              </a:rPr>
              <a:t>hours from the</a:t>
            </a:r>
            <a:r>
              <a:rPr dirty="0" sz="1200" spc="35">
                <a:latin typeface="Arial"/>
                <a:cs typeface="Arial"/>
              </a:rPr>
              <a:t> </a:t>
            </a:r>
            <a:r>
              <a:rPr dirty="0" sz="1200" spc="-5">
                <a:latin typeface="Arial"/>
                <a:cs typeface="Arial"/>
              </a:rPr>
              <a:t>Khawarij</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Desired </a:t>
            </a:r>
            <a:r>
              <a:rPr dirty="0" sz="1200">
                <a:latin typeface="Arial"/>
                <a:cs typeface="Arial"/>
              </a:rPr>
              <a:t>to </a:t>
            </a:r>
            <a:r>
              <a:rPr dirty="0" sz="1200" spc="-10">
                <a:latin typeface="Arial"/>
                <a:cs typeface="Arial"/>
              </a:rPr>
              <a:t>change </a:t>
            </a:r>
            <a:r>
              <a:rPr dirty="0" sz="1200" spc="-5">
                <a:latin typeface="Arial"/>
                <a:cs typeface="Arial"/>
              </a:rPr>
              <a:t>governors and went against advice of </a:t>
            </a:r>
            <a:r>
              <a:rPr dirty="0" sz="1200">
                <a:latin typeface="Arial"/>
                <a:cs typeface="Arial"/>
              </a:rPr>
              <a:t>the</a:t>
            </a:r>
            <a:r>
              <a:rPr dirty="0" sz="1200" spc="60">
                <a:latin typeface="Arial"/>
                <a:cs typeface="Arial"/>
              </a:rPr>
              <a:t> </a:t>
            </a:r>
            <a:r>
              <a:rPr dirty="0" sz="1200" spc="-5">
                <a:latin typeface="Arial"/>
                <a:cs typeface="Arial"/>
              </a:rPr>
              <a:t>Shurah</a:t>
            </a:r>
            <a:endParaRPr sz="1200">
              <a:latin typeface="Arial"/>
              <a:cs typeface="Arial"/>
            </a:endParaRPr>
          </a:p>
          <a:p>
            <a:pPr marL="469900" indent="-229235">
              <a:lnSpc>
                <a:spcPts val="1380"/>
              </a:lnSpc>
              <a:buAutoNum type="arabicPeriod"/>
              <a:tabLst>
                <a:tab pos="470534" algn="l"/>
              </a:tabLst>
            </a:pPr>
            <a:r>
              <a:rPr dirty="0" sz="1200">
                <a:latin typeface="Arial"/>
                <a:cs typeface="Arial"/>
              </a:rPr>
              <a:t>Rebellions </a:t>
            </a:r>
            <a:r>
              <a:rPr dirty="0" sz="1200" spc="-5">
                <a:latin typeface="Arial"/>
                <a:cs typeface="Arial"/>
              </a:rPr>
              <a:t>and protests against </a:t>
            </a:r>
            <a:r>
              <a:rPr dirty="0" sz="1200">
                <a:latin typeface="Arial"/>
                <a:cs typeface="Arial"/>
              </a:rPr>
              <a:t>his</a:t>
            </a:r>
            <a:r>
              <a:rPr dirty="0" sz="1200" spc="-20">
                <a:latin typeface="Arial"/>
                <a:cs typeface="Arial"/>
              </a:rPr>
              <a:t> </a:t>
            </a:r>
            <a:r>
              <a:rPr dirty="0" sz="1200" spc="-5">
                <a:latin typeface="Arial"/>
                <a:cs typeface="Arial"/>
              </a:rPr>
              <a:t>decisions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Battle </a:t>
            </a:r>
            <a:r>
              <a:rPr dirty="0" sz="1200" spc="-5">
                <a:latin typeface="Arial"/>
                <a:cs typeface="Arial"/>
              </a:rPr>
              <a:t>of camel</a:t>
            </a:r>
            <a:r>
              <a:rPr dirty="0" sz="1200">
                <a:latin typeface="Arial"/>
                <a:cs typeface="Arial"/>
              </a:rPr>
              <a:t> </a:t>
            </a:r>
            <a:r>
              <a:rPr dirty="0" sz="1200" spc="-5">
                <a:latin typeface="Arial"/>
                <a:cs typeface="Arial"/>
              </a:rPr>
              <a:t>(jamal)</a:t>
            </a:r>
            <a:endParaRPr sz="1200">
              <a:latin typeface="Arial"/>
              <a:cs typeface="Arial"/>
            </a:endParaRPr>
          </a:p>
          <a:p>
            <a:pPr marL="469900" indent="-229235">
              <a:lnSpc>
                <a:spcPts val="1380"/>
              </a:lnSpc>
              <a:buAutoNum type="arabicPeriod"/>
              <a:tabLst>
                <a:tab pos="470534" algn="l"/>
              </a:tabLst>
            </a:pPr>
            <a:r>
              <a:rPr dirty="0" sz="1200">
                <a:latin typeface="Arial"/>
                <a:cs typeface="Arial"/>
              </a:rPr>
              <a:t>Battle </a:t>
            </a:r>
            <a:r>
              <a:rPr dirty="0" sz="1200" spc="-5">
                <a:latin typeface="Arial"/>
                <a:cs typeface="Arial"/>
              </a:rPr>
              <a:t>of</a:t>
            </a:r>
            <a:r>
              <a:rPr dirty="0" sz="1200" spc="-15">
                <a:latin typeface="Arial"/>
                <a:cs typeface="Arial"/>
              </a:rPr>
              <a:t> </a:t>
            </a:r>
            <a:r>
              <a:rPr dirty="0" sz="1200">
                <a:latin typeface="Arial"/>
                <a:cs typeface="Arial"/>
              </a:rPr>
              <a:t>Siffin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Arbitration and </a:t>
            </a:r>
            <a:r>
              <a:rPr dirty="0" sz="1200">
                <a:latin typeface="Arial"/>
                <a:cs typeface="Arial"/>
              </a:rPr>
              <a:t>lost </a:t>
            </a:r>
            <a:r>
              <a:rPr dirty="0" sz="1200" spc="-5">
                <a:latin typeface="Arial"/>
                <a:cs typeface="Arial"/>
              </a:rPr>
              <a:t>of territories</a:t>
            </a:r>
            <a:r>
              <a:rPr dirty="0" sz="1200" spc="20">
                <a:latin typeface="Arial"/>
                <a:cs typeface="Arial"/>
              </a:rPr>
              <a:t> </a:t>
            </a:r>
            <a:r>
              <a:rPr dirty="0" sz="1200" spc="-5">
                <a:latin typeface="Arial"/>
                <a:cs typeface="Arial"/>
              </a:rPr>
              <a:t>(Syria)</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Islamic </a:t>
            </a:r>
            <a:r>
              <a:rPr dirty="0" sz="1200" spc="-5">
                <a:latin typeface="Arial"/>
                <a:cs typeface="Arial"/>
              </a:rPr>
              <a:t>dominion having 2 caliphs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Battle </a:t>
            </a:r>
            <a:r>
              <a:rPr dirty="0" sz="1200" spc="-5">
                <a:latin typeface="Arial"/>
                <a:cs typeface="Arial"/>
              </a:rPr>
              <a:t>of Nahrawan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Creation </a:t>
            </a:r>
            <a:r>
              <a:rPr dirty="0" sz="1200">
                <a:latin typeface="Arial"/>
                <a:cs typeface="Arial"/>
              </a:rPr>
              <a:t>and </a:t>
            </a:r>
            <a:r>
              <a:rPr dirty="0" sz="1200" spc="-5">
                <a:latin typeface="Arial"/>
                <a:cs typeface="Arial"/>
              </a:rPr>
              <a:t>foundation of Shi‘a</a:t>
            </a:r>
            <a:r>
              <a:rPr dirty="0" sz="1200" spc="-25">
                <a:latin typeface="Arial"/>
                <a:cs typeface="Arial"/>
              </a:rPr>
              <a:t> </a:t>
            </a:r>
            <a:r>
              <a:rPr dirty="0" sz="1200" spc="-5">
                <a:latin typeface="Arial"/>
                <a:cs typeface="Arial"/>
              </a:rPr>
              <a:t>movement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Murdered by the</a:t>
            </a:r>
            <a:r>
              <a:rPr dirty="0" sz="1200" spc="-15">
                <a:latin typeface="Arial"/>
                <a:cs typeface="Arial"/>
              </a:rPr>
              <a:t> </a:t>
            </a:r>
            <a:r>
              <a:rPr dirty="0" sz="1200" spc="-5">
                <a:latin typeface="Arial"/>
                <a:cs typeface="Arial"/>
              </a:rPr>
              <a:t>Khawarij</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Administrative measures and achievements </a:t>
            </a:r>
            <a:r>
              <a:rPr dirty="0" sz="1200" spc="-10">
                <a:latin typeface="Arial"/>
                <a:cs typeface="Arial"/>
              </a:rPr>
              <a:t>(See </a:t>
            </a:r>
            <a:r>
              <a:rPr dirty="0" sz="1200" spc="-5">
                <a:latin typeface="Arial"/>
                <a:cs typeface="Arial"/>
              </a:rPr>
              <a:t>notes</a:t>
            </a:r>
            <a:r>
              <a:rPr dirty="0" sz="1200" spc="25">
                <a:latin typeface="Arial"/>
                <a:cs typeface="Arial"/>
              </a:rPr>
              <a:t> </a:t>
            </a:r>
            <a:r>
              <a:rPr dirty="0" sz="1200" spc="-5">
                <a:latin typeface="Arial"/>
                <a:cs typeface="Arial"/>
              </a:rPr>
              <a:t>above)</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Explain </a:t>
            </a:r>
            <a:r>
              <a:rPr dirty="0" u="heavy" sz="1200" b="1" i="1">
                <a:uFill>
                  <a:solidFill>
                    <a:srgbClr val="000000"/>
                  </a:solidFill>
                </a:uFill>
                <a:latin typeface="Arial"/>
                <a:cs typeface="Arial"/>
              </a:rPr>
              <a:t>how </a:t>
            </a:r>
            <a:r>
              <a:rPr dirty="0" u="heavy" sz="1200" spc="-5" b="1" i="1">
                <a:uFill>
                  <a:solidFill>
                    <a:srgbClr val="000000"/>
                  </a:solidFill>
                </a:uFill>
                <a:latin typeface="Arial"/>
                <a:cs typeface="Arial"/>
              </a:rPr>
              <a:t>the policies followed by the </a:t>
            </a:r>
            <a:r>
              <a:rPr dirty="0" u="heavy" sz="1200" b="1" i="1">
                <a:uFill>
                  <a:solidFill>
                    <a:srgbClr val="000000"/>
                  </a:solidFill>
                </a:uFill>
                <a:latin typeface="Arial"/>
                <a:cs typeface="Arial"/>
              </a:rPr>
              <a:t>Four </a:t>
            </a:r>
            <a:r>
              <a:rPr dirty="0" u="heavy" sz="1200" spc="-5" b="1" i="1">
                <a:uFill>
                  <a:solidFill>
                    <a:srgbClr val="000000"/>
                  </a:solidFill>
                </a:uFill>
                <a:latin typeface="Arial"/>
                <a:cs typeface="Arial"/>
              </a:rPr>
              <a:t>Rightly </a:t>
            </a:r>
            <a:r>
              <a:rPr dirty="0" u="heavy" sz="1200" b="1" i="1">
                <a:uFill>
                  <a:solidFill>
                    <a:srgbClr val="000000"/>
                  </a:solidFill>
                </a:uFill>
                <a:latin typeface="Arial"/>
                <a:cs typeface="Arial"/>
              </a:rPr>
              <a:t>Guided </a:t>
            </a:r>
            <a:r>
              <a:rPr dirty="0" u="heavy" sz="1200" spc="-5" b="1" i="1">
                <a:uFill>
                  <a:solidFill>
                    <a:srgbClr val="000000"/>
                  </a:solidFill>
                </a:uFill>
                <a:latin typeface="Arial"/>
                <a:cs typeface="Arial"/>
              </a:rPr>
              <a:t>Caliphs were</a:t>
            </a:r>
            <a:r>
              <a:rPr dirty="0" u="heavy" sz="1200" spc="135" b="1" i="1">
                <a:uFill>
                  <a:solidFill>
                    <a:srgbClr val="000000"/>
                  </a:solidFill>
                </a:uFill>
                <a:latin typeface="Arial"/>
                <a:cs typeface="Arial"/>
              </a:rPr>
              <a:t> </a:t>
            </a:r>
            <a:r>
              <a:rPr dirty="0" u="heavy" sz="1200" spc="-5" b="1" i="1">
                <a:uFill>
                  <a:solidFill>
                    <a:srgbClr val="000000"/>
                  </a:solidFill>
                </a:uFill>
                <a:latin typeface="Arial"/>
                <a:cs typeface="Arial"/>
              </a:rPr>
              <a:t>continued:</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a:latin typeface="Arial"/>
                <a:cs typeface="Arial"/>
              </a:rPr>
              <a:t>Put </a:t>
            </a:r>
            <a:r>
              <a:rPr dirty="0" sz="1200" spc="-5">
                <a:latin typeface="Arial"/>
                <a:cs typeface="Arial"/>
              </a:rPr>
              <a:t>the shari‘ah into</a:t>
            </a:r>
            <a:r>
              <a:rPr dirty="0" sz="1200" spc="15">
                <a:latin typeface="Arial"/>
                <a:cs typeface="Arial"/>
              </a:rPr>
              <a:t> </a:t>
            </a:r>
            <a:r>
              <a:rPr dirty="0" sz="1200" spc="-5">
                <a:latin typeface="Arial"/>
                <a:cs typeface="Arial"/>
              </a:rPr>
              <a:t>practice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character of 4 caliph similar </a:t>
            </a:r>
            <a:r>
              <a:rPr dirty="0" sz="1200">
                <a:latin typeface="Arial"/>
                <a:cs typeface="Arial"/>
              </a:rPr>
              <a:t>to </a:t>
            </a:r>
            <a:r>
              <a:rPr dirty="0" sz="1200" spc="-5">
                <a:latin typeface="Arial"/>
                <a:cs typeface="Arial"/>
              </a:rPr>
              <a:t>the prophet, sincerity </a:t>
            </a:r>
            <a:r>
              <a:rPr dirty="0" sz="1200">
                <a:latin typeface="Arial"/>
                <a:cs typeface="Arial"/>
              </a:rPr>
              <a:t>and </a:t>
            </a:r>
            <a:r>
              <a:rPr dirty="0" sz="1200" spc="-5">
                <a:latin typeface="Arial"/>
                <a:cs typeface="Arial"/>
              </a:rPr>
              <a:t>truthfulness of Abu</a:t>
            </a:r>
            <a:r>
              <a:rPr dirty="0" sz="1200" spc="155">
                <a:latin typeface="Arial"/>
                <a:cs typeface="Arial"/>
              </a:rPr>
              <a:t> </a:t>
            </a:r>
            <a:r>
              <a:rPr dirty="0" sz="1200" spc="-5">
                <a:latin typeface="Arial"/>
                <a:cs typeface="Arial"/>
              </a:rPr>
              <a:t>Bakr</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Severity </a:t>
            </a:r>
            <a:r>
              <a:rPr dirty="0" sz="1200">
                <a:latin typeface="Arial"/>
                <a:cs typeface="Arial"/>
              </a:rPr>
              <a:t>and </a:t>
            </a:r>
            <a:r>
              <a:rPr dirty="0" sz="1200" spc="-5">
                <a:latin typeface="Arial"/>
                <a:cs typeface="Arial"/>
              </a:rPr>
              <a:t>hardness </a:t>
            </a:r>
            <a:r>
              <a:rPr dirty="0" sz="1200">
                <a:latin typeface="Arial"/>
                <a:cs typeface="Arial"/>
              </a:rPr>
              <a:t>concerning </a:t>
            </a:r>
            <a:r>
              <a:rPr dirty="0" sz="1200" spc="-5">
                <a:latin typeface="Arial"/>
                <a:cs typeface="Arial"/>
              </a:rPr>
              <a:t>matters of </a:t>
            </a:r>
            <a:r>
              <a:rPr dirty="0" sz="1200">
                <a:latin typeface="Arial"/>
                <a:cs typeface="Arial"/>
              </a:rPr>
              <a:t>shari‘ah by</a:t>
            </a:r>
            <a:r>
              <a:rPr dirty="0" sz="1200" spc="-45">
                <a:latin typeface="Arial"/>
                <a:cs typeface="Arial"/>
              </a:rPr>
              <a:t> </a:t>
            </a:r>
            <a:r>
              <a:rPr dirty="0" sz="1200">
                <a:latin typeface="Arial"/>
                <a:cs typeface="Arial"/>
              </a:rPr>
              <a:t>Umar</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Generosity and soft heartedness of</a:t>
            </a:r>
            <a:r>
              <a:rPr dirty="0" sz="1200" spc="5">
                <a:latin typeface="Arial"/>
                <a:cs typeface="Arial"/>
              </a:rPr>
              <a:t> </a:t>
            </a:r>
            <a:r>
              <a:rPr dirty="0" sz="1200" spc="-5">
                <a:latin typeface="Arial"/>
                <a:cs typeface="Arial"/>
              </a:rPr>
              <a:t>Uthman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Importance of education and striving in the </a:t>
            </a:r>
            <a:r>
              <a:rPr dirty="0" sz="1200" spc="-10">
                <a:latin typeface="Arial"/>
                <a:cs typeface="Arial"/>
              </a:rPr>
              <a:t>way </a:t>
            </a:r>
            <a:r>
              <a:rPr dirty="0" sz="1200">
                <a:latin typeface="Arial"/>
                <a:cs typeface="Arial"/>
              </a:rPr>
              <a:t>of </a:t>
            </a:r>
            <a:r>
              <a:rPr dirty="0" sz="1200" spc="-5">
                <a:latin typeface="Arial"/>
                <a:cs typeface="Arial"/>
              </a:rPr>
              <a:t>Allah </a:t>
            </a:r>
            <a:r>
              <a:rPr dirty="0" sz="1200">
                <a:latin typeface="Arial"/>
                <a:cs typeface="Arial"/>
              </a:rPr>
              <a:t>by</a:t>
            </a:r>
            <a:r>
              <a:rPr dirty="0" sz="1200" spc="35">
                <a:latin typeface="Arial"/>
                <a:cs typeface="Arial"/>
              </a:rPr>
              <a:t> </a:t>
            </a:r>
            <a:r>
              <a:rPr dirty="0" sz="1200" spc="-5">
                <a:latin typeface="Arial"/>
                <a:cs typeface="Arial"/>
              </a:rPr>
              <a:t>Ali</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Baitul</a:t>
            </a:r>
            <a:r>
              <a:rPr dirty="0" sz="1200" spc="-15">
                <a:latin typeface="Arial"/>
                <a:cs typeface="Arial"/>
              </a:rPr>
              <a:t> </a:t>
            </a:r>
            <a:r>
              <a:rPr dirty="0" sz="1200" spc="-5">
                <a:latin typeface="Arial"/>
                <a:cs typeface="Arial"/>
              </a:rPr>
              <a:t>maal</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Majlis shurah</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Morality </a:t>
            </a:r>
            <a:r>
              <a:rPr dirty="0" sz="1200">
                <a:latin typeface="Arial"/>
                <a:cs typeface="Arial"/>
              </a:rPr>
              <a:t>and</a:t>
            </a:r>
            <a:r>
              <a:rPr dirty="0" sz="1200" spc="-10">
                <a:latin typeface="Arial"/>
                <a:cs typeface="Arial"/>
              </a:rPr>
              <a:t> </a:t>
            </a:r>
            <a:r>
              <a:rPr dirty="0" sz="1200" spc="-5">
                <a:latin typeface="Arial"/>
                <a:cs typeface="Arial"/>
              </a:rPr>
              <a:t>spirituality</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The status of the poor and </a:t>
            </a:r>
            <a:r>
              <a:rPr dirty="0" sz="1200">
                <a:latin typeface="Arial"/>
                <a:cs typeface="Arial"/>
              </a:rPr>
              <a:t>the </a:t>
            </a:r>
            <a:r>
              <a:rPr dirty="0" sz="1200" spc="-5">
                <a:latin typeface="Arial"/>
                <a:cs typeface="Arial"/>
              </a:rPr>
              <a:t>low</a:t>
            </a:r>
            <a:r>
              <a:rPr dirty="0" sz="1200" spc="-30">
                <a:latin typeface="Arial"/>
                <a:cs typeface="Arial"/>
              </a:rPr>
              <a:t> </a:t>
            </a:r>
            <a:r>
              <a:rPr dirty="0" sz="1200" spc="-5">
                <a:latin typeface="Arial"/>
                <a:cs typeface="Arial"/>
              </a:rPr>
              <a:t>class</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The application of the last khutbah </a:t>
            </a:r>
            <a:r>
              <a:rPr dirty="0" sz="1200">
                <a:latin typeface="Arial"/>
                <a:cs typeface="Arial"/>
              </a:rPr>
              <a:t>at </a:t>
            </a:r>
            <a:r>
              <a:rPr dirty="0" sz="1200" spc="-5">
                <a:latin typeface="Arial"/>
                <a:cs typeface="Arial"/>
              </a:rPr>
              <a:t>mount</a:t>
            </a:r>
            <a:r>
              <a:rPr dirty="0" sz="1200" spc="5">
                <a:latin typeface="Arial"/>
                <a:cs typeface="Arial"/>
              </a:rPr>
              <a:t> </a:t>
            </a:r>
            <a:r>
              <a:rPr dirty="0" sz="1200" spc="-5">
                <a:latin typeface="Arial"/>
                <a:cs typeface="Arial"/>
              </a:rPr>
              <a:t>Atafat.</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5" b="1" i="1">
                <a:uFill>
                  <a:solidFill>
                    <a:srgbClr val="000000"/>
                  </a:solidFill>
                </a:uFill>
                <a:latin typeface="Arial"/>
                <a:cs typeface="Arial"/>
              </a:rPr>
              <a:t>Explain </a:t>
            </a:r>
            <a:r>
              <a:rPr dirty="0" u="heavy" sz="1200" b="1" i="1">
                <a:uFill>
                  <a:solidFill>
                    <a:srgbClr val="000000"/>
                  </a:solidFill>
                </a:uFill>
                <a:latin typeface="Arial"/>
                <a:cs typeface="Arial"/>
              </a:rPr>
              <a:t>how </a:t>
            </a:r>
            <a:r>
              <a:rPr dirty="0" u="heavy" sz="1200" spc="-5" b="1" i="1">
                <a:uFill>
                  <a:solidFill>
                    <a:srgbClr val="000000"/>
                  </a:solidFill>
                </a:uFill>
                <a:latin typeface="Arial"/>
                <a:cs typeface="Arial"/>
              </a:rPr>
              <a:t>the 4 caliphs expanded the policies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teachings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a:t>
            </a:r>
            <a:r>
              <a:rPr dirty="0" u="heavy" sz="1200" spc="60" b="1" i="1">
                <a:uFill>
                  <a:solidFill>
                    <a:srgbClr val="000000"/>
                  </a:solidFill>
                </a:uFill>
                <a:latin typeface="Arial"/>
                <a:cs typeface="Arial"/>
              </a:rPr>
              <a:t> </a:t>
            </a:r>
            <a:r>
              <a:rPr dirty="0" u="heavy" sz="1200" b="1" i="1">
                <a:uFill>
                  <a:solidFill>
                    <a:srgbClr val="000000"/>
                  </a:solidFill>
                </a:uFill>
                <a:latin typeface="Arial"/>
                <a:cs typeface="Arial"/>
              </a:rPr>
              <a:t>Prophet:</a:t>
            </a:r>
            <a:endParaRPr sz="1200">
              <a:latin typeface="Arial"/>
              <a:cs typeface="Arial"/>
            </a:endParaRPr>
          </a:p>
          <a:p>
            <a:pPr>
              <a:lnSpc>
                <a:spcPct val="100000"/>
              </a:lnSpc>
            </a:pPr>
            <a:endParaRPr sz="1150">
              <a:latin typeface="Arial"/>
              <a:cs typeface="Arial"/>
            </a:endParaRPr>
          </a:p>
          <a:p>
            <a:pPr marL="469900" indent="-229235">
              <a:lnSpc>
                <a:spcPts val="1410"/>
              </a:lnSpc>
              <a:buFont typeface="Arial"/>
              <a:buAutoNum type="arabicPeriod"/>
              <a:tabLst>
                <a:tab pos="470534" algn="l"/>
              </a:tabLst>
            </a:pPr>
            <a:r>
              <a:rPr dirty="0" sz="1200" spc="-10" b="1">
                <a:latin typeface="Arial"/>
                <a:cs typeface="Arial"/>
              </a:rPr>
              <a:t>Abu </a:t>
            </a:r>
            <a:r>
              <a:rPr dirty="0" sz="1200" spc="-5" b="1">
                <a:latin typeface="Arial"/>
                <a:cs typeface="Arial"/>
              </a:rPr>
              <a:t>Bakr: </a:t>
            </a:r>
            <a:r>
              <a:rPr dirty="0" sz="1200" spc="-5">
                <a:latin typeface="Arial"/>
                <a:cs typeface="Arial"/>
              </a:rPr>
              <a:t>crushing </a:t>
            </a:r>
            <a:r>
              <a:rPr dirty="0" sz="1200" spc="-10">
                <a:latin typeface="Arial"/>
                <a:cs typeface="Arial"/>
              </a:rPr>
              <a:t>down </a:t>
            </a:r>
            <a:r>
              <a:rPr dirty="0" sz="1200">
                <a:latin typeface="Arial"/>
                <a:cs typeface="Arial"/>
              </a:rPr>
              <a:t>of </a:t>
            </a:r>
            <a:r>
              <a:rPr dirty="0" sz="1200" spc="-5">
                <a:latin typeface="Arial"/>
                <a:cs typeface="Arial"/>
              </a:rPr>
              <a:t>rebellions and false</a:t>
            </a:r>
            <a:r>
              <a:rPr dirty="0" sz="1200" spc="55">
                <a:latin typeface="Arial"/>
                <a:cs typeface="Arial"/>
              </a:rPr>
              <a:t> </a:t>
            </a:r>
            <a:r>
              <a:rPr dirty="0" sz="1200" spc="-5">
                <a:latin typeface="Arial"/>
                <a:cs typeface="Arial"/>
              </a:rPr>
              <a:t>prophets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Expansion of the Islamic</a:t>
            </a:r>
            <a:r>
              <a:rPr dirty="0" sz="1200" spc="25">
                <a:latin typeface="Arial"/>
                <a:cs typeface="Arial"/>
              </a:rPr>
              <a:t> </a:t>
            </a:r>
            <a:r>
              <a:rPr dirty="0" sz="1200">
                <a:latin typeface="Arial"/>
                <a:cs typeface="Arial"/>
              </a:rPr>
              <a:t>state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Copies of qur‘an sent to other parts of the Islamic</a:t>
            </a:r>
            <a:r>
              <a:rPr dirty="0" sz="1200" spc="75">
                <a:latin typeface="Arial"/>
                <a:cs typeface="Arial"/>
              </a:rPr>
              <a:t> </a:t>
            </a:r>
            <a:r>
              <a:rPr dirty="0" sz="1200" spc="-5">
                <a:latin typeface="Arial"/>
                <a:cs typeface="Arial"/>
              </a:rPr>
              <a:t>dominion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Sending of teachers</a:t>
            </a:r>
            <a:r>
              <a:rPr dirty="0" sz="1200" spc="5">
                <a:latin typeface="Arial"/>
                <a:cs typeface="Arial"/>
              </a:rPr>
              <a:t> </a:t>
            </a:r>
            <a:r>
              <a:rPr dirty="0" sz="1200" spc="-5">
                <a:latin typeface="Arial"/>
                <a:cs typeface="Arial"/>
              </a:rPr>
              <a:t>alongside</a:t>
            </a:r>
            <a:endParaRPr sz="1200">
              <a:latin typeface="Arial"/>
              <a:cs typeface="Arial"/>
            </a:endParaRPr>
          </a:p>
          <a:p>
            <a:pPr marL="469900" indent="-229235">
              <a:lnSpc>
                <a:spcPts val="1380"/>
              </a:lnSpc>
              <a:buFont typeface="Arial"/>
              <a:buAutoNum type="arabicPeriod"/>
              <a:tabLst>
                <a:tab pos="470534" algn="l"/>
              </a:tabLst>
            </a:pPr>
            <a:r>
              <a:rPr dirty="0" sz="1200" spc="-5" b="1">
                <a:latin typeface="Arial"/>
                <a:cs typeface="Arial"/>
              </a:rPr>
              <a:t>Umar: </a:t>
            </a:r>
            <a:r>
              <a:rPr dirty="0" sz="1200" spc="-5">
                <a:latin typeface="Arial"/>
                <a:cs typeface="Arial"/>
              </a:rPr>
              <a:t>consolidation </a:t>
            </a:r>
            <a:r>
              <a:rPr dirty="0" sz="1200">
                <a:latin typeface="Arial"/>
                <a:cs typeface="Arial"/>
              </a:rPr>
              <a:t>of </a:t>
            </a:r>
            <a:r>
              <a:rPr dirty="0" sz="1200" spc="-5">
                <a:latin typeface="Arial"/>
                <a:cs typeface="Arial"/>
              </a:rPr>
              <a:t>empire, elimination of</a:t>
            </a:r>
            <a:r>
              <a:rPr dirty="0" sz="1200" spc="15">
                <a:latin typeface="Arial"/>
                <a:cs typeface="Arial"/>
              </a:rPr>
              <a:t> </a:t>
            </a:r>
            <a:r>
              <a:rPr dirty="0" sz="1200" spc="-5">
                <a:latin typeface="Arial"/>
                <a:cs typeface="Arial"/>
              </a:rPr>
              <a:t>jews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Conquest till Persia, Egypt, Syria,</a:t>
            </a:r>
            <a:r>
              <a:rPr dirty="0" sz="1200" spc="10">
                <a:latin typeface="Arial"/>
                <a:cs typeface="Arial"/>
              </a:rPr>
              <a:t> </a:t>
            </a:r>
            <a:r>
              <a:rPr dirty="0" sz="1200">
                <a:latin typeface="Arial"/>
                <a:cs typeface="Arial"/>
              </a:rPr>
              <a:t>Rome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Morality </a:t>
            </a:r>
            <a:r>
              <a:rPr dirty="0" sz="1200">
                <a:latin typeface="Arial"/>
                <a:cs typeface="Arial"/>
              </a:rPr>
              <a:t>and</a:t>
            </a:r>
            <a:r>
              <a:rPr dirty="0" sz="1200" spc="-10">
                <a:latin typeface="Arial"/>
                <a:cs typeface="Arial"/>
              </a:rPr>
              <a:t> </a:t>
            </a:r>
            <a:r>
              <a:rPr dirty="0" sz="1200" spc="-5">
                <a:latin typeface="Arial"/>
                <a:cs typeface="Arial"/>
              </a:rPr>
              <a:t>spirituality</a:t>
            </a:r>
            <a:endParaRPr sz="1200">
              <a:latin typeface="Arial"/>
              <a:cs typeface="Arial"/>
            </a:endParaRPr>
          </a:p>
          <a:p>
            <a:pPr marL="469900" indent="-229235">
              <a:lnSpc>
                <a:spcPts val="1380"/>
              </a:lnSpc>
              <a:buFont typeface="Arial"/>
              <a:buAutoNum type="arabicPeriod"/>
              <a:tabLst>
                <a:tab pos="470534" algn="l"/>
              </a:tabLst>
            </a:pPr>
            <a:r>
              <a:rPr dirty="0" sz="1200" spc="-5" b="1">
                <a:latin typeface="Arial"/>
                <a:cs typeface="Arial"/>
              </a:rPr>
              <a:t>Uthman: </a:t>
            </a:r>
            <a:r>
              <a:rPr dirty="0" sz="1200" spc="-5">
                <a:latin typeface="Arial"/>
                <a:cs typeface="Arial"/>
              </a:rPr>
              <a:t>education throughout the</a:t>
            </a:r>
            <a:r>
              <a:rPr dirty="0" sz="1200" spc="15">
                <a:latin typeface="Arial"/>
                <a:cs typeface="Arial"/>
              </a:rPr>
              <a:t> </a:t>
            </a:r>
            <a:r>
              <a:rPr dirty="0" sz="1200" spc="-5">
                <a:latin typeface="Arial"/>
                <a:cs typeface="Arial"/>
              </a:rPr>
              <a:t>dominion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Shari‘ah in administrative</a:t>
            </a:r>
            <a:r>
              <a:rPr dirty="0" sz="1200">
                <a:latin typeface="Arial"/>
                <a:cs typeface="Arial"/>
              </a:rPr>
              <a:t> </a:t>
            </a:r>
            <a:r>
              <a:rPr dirty="0" sz="1200" spc="-5">
                <a:latin typeface="Arial"/>
                <a:cs typeface="Arial"/>
              </a:rPr>
              <a:t>blocks</a:t>
            </a:r>
            <a:endParaRPr sz="1200">
              <a:latin typeface="Arial"/>
              <a:cs typeface="Arial"/>
            </a:endParaRPr>
          </a:p>
          <a:p>
            <a:pPr marL="469900" indent="-229235">
              <a:lnSpc>
                <a:spcPts val="1380"/>
              </a:lnSpc>
              <a:buFont typeface="Arial"/>
              <a:buAutoNum type="arabicPeriod"/>
              <a:tabLst>
                <a:tab pos="470534" algn="l"/>
              </a:tabLst>
            </a:pPr>
            <a:r>
              <a:rPr dirty="0" sz="1200" spc="-5" b="1">
                <a:latin typeface="Arial"/>
                <a:cs typeface="Arial"/>
              </a:rPr>
              <a:t>Ali: </a:t>
            </a:r>
            <a:r>
              <a:rPr dirty="0" sz="1200" spc="-5">
                <a:latin typeface="Arial"/>
                <a:cs typeface="Arial"/>
              </a:rPr>
              <a:t>justice </a:t>
            </a:r>
            <a:r>
              <a:rPr dirty="0" sz="1200">
                <a:latin typeface="Arial"/>
                <a:cs typeface="Arial"/>
              </a:rPr>
              <a:t>at </a:t>
            </a:r>
            <a:r>
              <a:rPr dirty="0" sz="1200" spc="-5">
                <a:latin typeface="Arial"/>
                <a:cs typeface="Arial"/>
              </a:rPr>
              <a:t>the </a:t>
            </a:r>
            <a:r>
              <a:rPr dirty="0" sz="1200">
                <a:latin typeface="Arial"/>
                <a:cs typeface="Arial"/>
              </a:rPr>
              <a:t>cost </a:t>
            </a:r>
            <a:r>
              <a:rPr dirty="0" sz="1200" spc="-5">
                <a:latin typeface="Arial"/>
                <a:cs typeface="Arial"/>
              </a:rPr>
              <a:t>of </a:t>
            </a:r>
            <a:r>
              <a:rPr dirty="0" sz="1200">
                <a:latin typeface="Arial"/>
                <a:cs typeface="Arial"/>
              </a:rPr>
              <a:t>his </a:t>
            </a:r>
            <a:r>
              <a:rPr dirty="0" sz="1200" spc="-10">
                <a:latin typeface="Arial"/>
                <a:cs typeface="Arial"/>
              </a:rPr>
              <a:t>own </a:t>
            </a:r>
            <a:r>
              <a:rPr dirty="0" sz="1200">
                <a:latin typeface="Arial"/>
                <a:cs typeface="Arial"/>
              </a:rPr>
              <a:t>life</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Equality </a:t>
            </a:r>
            <a:r>
              <a:rPr dirty="0" sz="1200">
                <a:latin typeface="Arial"/>
                <a:cs typeface="Arial"/>
              </a:rPr>
              <a:t>and </a:t>
            </a:r>
            <a:r>
              <a:rPr dirty="0" sz="1200" spc="-5">
                <a:latin typeface="Arial"/>
                <a:cs typeface="Arial"/>
              </a:rPr>
              <a:t>opportunity </a:t>
            </a:r>
            <a:r>
              <a:rPr dirty="0" sz="1200" spc="5">
                <a:latin typeface="Arial"/>
                <a:cs typeface="Arial"/>
              </a:rPr>
              <a:t>for </a:t>
            </a:r>
            <a:r>
              <a:rPr dirty="0" sz="1200">
                <a:latin typeface="Arial"/>
                <a:cs typeface="Arial"/>
              </a:rPr>
              <a:t>one‘s</a:t>
            </a:r>
            <a:r>
              <a:rPr dirty="0" sz="1200" spc="-25">
                <a:latin typeface="Arial"/>
                <a:cs typeface="Arial"/>
              </a:rPr>
              <a:t> </a:t>
            </a:r>
            <a:r>
              <a:rPr dirty="0" sz="1200" spc="-5">
                <a:latin typeface="Arial"/>
                <a:cs typeface="Arial"/>
              </a:rPr>
              <a:t>defence.</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44</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6304280" cy="5993130"/>
          </a:xfrm>
          <a:prstGeom prst="rect">
            <a:avLst/>
          </a:prstGeom>
        </p:spPr>
        <p:txBody>
          <a:bodyPr wrap="square" lIns="0" tIns="12700" rIns="0" bIns="0" rtlCol="0" vert="horz">
            <a:spAutoFit/>
          </a:bodyPr>
          <a:lstStyle/>
          <a:p>
            <a:pPr marL="469900" indent="-229235">
              <a:lnSpc>
                <a:spcPts val="1410"/>
              </a:lnSpc>
              <a:spcBef>
                <a:spcPts val="100"/>
              </a:spcBef>
              <a:buAutoNum type="arabicPeriod" startAt="12"/>
              <a:tabLst>
                <a:tab pos="470534" algn="l"/>
              </a:tabLst>
            </a:pPr>
            <a:r>
              <a:rPr dirty="0" sz="1200" spc="-5">
                <a:latin typeface="Arial"/>
                <a:cs typeface="Arial"/>
              </a:rPr>
              <a:t>Equal rights of human</a:t>
            </a:r>
            <a:r>
              <a:rPr dirty="0" sz="1200" spc="10">
                <a:latin typeface="Arial"/>
                <a:cs typeface="Arial"/>
              </a:rPr>
              <a:t> </a:t>
            </a:r>
            <a:r>
              <a:rPr dirty="0" sz="1200" spc="-5">
                <a:latin typeface="Arial"/>
                <a:cs typeface="Arial"/>
              </a:rPr>
              <a:t>beings</a:t>
            </a:r>
            <a:endParaRPr sz="1200">
              <a:latin typeface="Arial"/>
              <a:cs typeface="Arial"/>
            </a:endParaRPr>
          </a:p>
          <a:p>
            <a:pPr marL="469900" indent="-229235">
              <a:lnSpc>
                <a:spcPts val="1380"/>
              </a:lnSpc>
              <a:buAutoNum type="arabicPeriod" startAt="12"/>
              <a:tabLst>
                <a:tab pos="470534" algn="l"/>
              </a:tabLst>
            </a:pPr>
            <a:r>
              <a:rPr dirty="0" sz="1200" spc="-5">
                <a:latin typeface="Arial"/>
                <a:cs typeface="Arial"/>
              </a:rPr>
              <a:t>Rights </a:t>
            </a:r>
            <a:r>
              <a:rPr dirty="0" sz="1200">
                <a:latin typeface="Arial"/>
                <a:cs typeface="Arial"/>
              </a:rPr>
              <a:t>of </a:t>
            </a:r>
            <a:r>
              <a:rPr dirty="0" sz="1200" spc="-5">
                <a:latin typeface="Arial"/>
                <a:cs typeface="Arial"/>
              </a:rPr>
              <a:t>non</a:t>
            </a:r>
            <a:r>
              <a:rPr dirty="0" sz="1200">
                <a:latin typeface="Arial"/>
                <a:cs typeface="Arial"/>
              </a:rPr>
              <a:t> </a:t>
            </a:r>
            <a:r>
              <a:rPr dirty="0" sz="1200" spc="-5">
                <a:latin typeface="Arial"/>
                <a:cs typeface="Arial"/>
              </a:rPr>
              <a:t>Muslims</a:t>
            </a:r>
            <a:endParaRPr sz="1200">
              <a:latin typeface="Arial"/>
              <a:cs typeface="Arial"/>
            </a:endParaRPr>
          </a:p>
          <a:p>
            <a:pPr marL="469900" indent="-229235">
              <a:lnSpc>
                <a:spcPts val="1380"/>
              </a:lnSpc>
              <a:buAutoNum type="arabicPeriod" startAt="12"/>
              <a:tabLst>
                <a:tab pos="470534" algn="l"/>
              </a:tabLst>
            </a:pPr>
            <a:r>
              <a:rPr dirty="0" sz="1200">
                <a:latin typeface="Arial"/>
                <a:cs typeface="Arial"/>
              </a:rPr>
              <a:t>Respect </a:t>
            </a:r>
            <a:r>
              <a:rPr dirty="0" sz="1200" spc="-5">
                <a:latin typeface="Arial"/>
                <a:cs typeface="Arial"/>
              </a:rPr>
              <a:t>of treaties</a:t>
            </a:r>
            <a:endParaRPr sz="1200">
              <a:latin typeface="Arial"/>
              <a:cs typeface="Arial"/>
            </a:endParaRPr>
          </a:p>
          <a:p>
            <a:pPr marL="469900" indent="-229235">
              <a:lnSpc>
                <a:spcPts val="1380"/>
              </a:lnSpc>
              <a:buAutoNum type="arabicPeriod" startAt="12"/>
              <a:tabLst>
                <a:tab pos="470534" algn="l"/>
              </a:tabLst>
            </a:pPr>
            <a:r>
              <a:rPr dirty="0" sz="1200" spc="-5">
                <a:latin typeface="Arial"/>
                <a:cs typeface="Arial"/>
              </a:rPr>
              <a:t>Majlis</a:t>
            </a:r>
            <a:r>
              <a:rPr dirty="0" sz="1200" spc="-10">
                <a:latin typeface="Arial"/>
                <a:cs typeface="Arial"/>
              </a:rPr>
              <a:t> </a:t>
            </a:r>
            <a:r>
              <a:rPr dirty="0" sz="1200" spc="-105">
                <a:latin typeface="Arial"/>
                <a:cs typeface="Arial"/>
              </a:rPr>
              <a:t>‗Aam</a:t>
            </a:r>
            <a:endParaRPr sz="1200">
              <a:latin typeface="Arial"/>
              <a:cs typeface="Arial"/>
            </a:endParaRPr>
          </a:p>
          <a:p>
            <a:pPr marL="469900" indent="-229235">
              <a:lnSpc>
                <a:spcPts val="1380"/>
              </a:lnSpc>
              <a:buAutoNum type="arabicPeriod" startAt="12"/>
              <a:tabLst>
                <a:tab pos="470534" algn="l"/>
              </a:tabLst>
            </a:pPr>
            <a:r>
              <a:rPr dirty="0" sz="1200" spc="-5">
                <a:latin typeface="Arial"/>
                <a:cs typeface="Arial"/>
              </a:rPr>
              <a:t>Creation of</a:t>
            </a:r>
            <a:r>
              <a:rPr dirty="0" sz="1200">
                <a:latin typeface="Arial"/>
                <a:cs typeface="Arial"/>
              </a:rPr>
              <a:t> </a:t>
            </a:r>
            <a:r>
              <a:rPr dirty="0" sz="1200" spc="-5">
                <a:latin typeface="Arial"/>
                <a:cs typeface="Arial"/>
              </a:rPr>
              <a:t>Diwan</a:t>
            </a:r>
            <a:endParaRPr sz="1200">
              <a:latin typeface="Arial"/>
              <a:cs typeface="Arial"/>
            </a:endParaRPr>
          </a:p>
          <a:p>
            <a:pPr marL="469900" indent="-229235">
              <a:lnSpc>
                <a:spcPts val="1410"/>
              </a:lnSpc>
              <a:buAutoNum type="arabicPeriod" startAt="12"/>
              <a:tabLst>
                <a:tab pos="470534" algn="l"/>
              </a:tabLst>
            </a:pPr>
            <a:r>
              <a:rPr dirty="0" sz="1200" spc="-5">
                <a:latin typeface="Arial"/>
                <a:cs typeface="Arial"/>
              </a:rPr>
              <a:t>Fight against corruption and </a:t>
            </a:r>
            <a:r>
              <a:rPr dirty="0" sz="1200">
                <a:latin typeface="Arial"/>
                <a:cs typeface="Arial"/>
              </a:rPr>
              <a:t>all </a:t>
            </a:r>
            <a:r>
              <a:rPr dirty="0" sz="1200" spc="-5">
                <a:latin typeface="Arial"/>
                <a:cs typeface="Arial"/>
              </a:rPr>
              <a:t>kinds of immoralities </a:t>
            </a:r>
            <a:r>
              <a:rPr dirty="0" sz="1200">
                <a:latin typeface="Arial"/>
                <a:cs typeface="Arial"/>
              </a:rPr>
              <a:t>and</a:t>
            </a:r>
            <a:r>
              <a:rPr dirty="0" sz="1200" spc="25">
                <a:latin typeface="Arial"/>
                <a:cs typeface="Arial"/>
              </a:rPr>
              <a:t> </a:t>
            </a:r>
            <a:r>
              <a:rPr dirty="0" sz="1200">
                <a:latin typeface="Arial"/>
                <a:cs typeface="Arial"/>
              </a:rPr>
              <a:t>sins.</a:t>
            </a:r>
            <a:endParaRPr sz="1200">
              <a:latin typeface="Arial"/>
              <a:cs typeface="Arial"/>
            </a:endParaRPr>
          </a:p>
          <a:p>
            <a:pPr>
              <a:lnSpc>
                <a:spcPct val="100000"/>
              </a:lnSpc>
              <a:spcBef>
                <a:spcPts val="55"/>
              </a:spcBef>
            </a:pPr>
            <a:endParaRPr sz="1100">
              <a:latin typeface="Arial"/>
              <a:cs typeface="Arial"/>
            </a:endParaRPr>
          </a:p>
          <a:p>
            <a:pPr marL="12700">
              <a:lnSpc>
                <a:spcPts val="141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marL="2649855">
              <a:lnSpc>
                <a:spcPts val="141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55"/>
              </a:spcBef>
            </a:pPr>
            <a:endParaRPr sz="1100">
              <a:latin typeface="Arial"/>
              <a:cs typeface="Arial"/>
            </a:endParaRPr>
          </a:p>
          <a:p>
            <a:pPr marL="12700">
              <a:lnSpc>
                <a:spcPts val="1410"/>
              </a:lnSpc>
            </a:pPr>
            <a:r>
              <a:rPr dirty="0" sz="1200" spc="-5" b="1">
                <a:latin typeface="Arial"/>
                <a:cs typeface="Arial"/>
              </a:rPr>
              <a:t>3</a:t>
            </a:r>
            <a:r>
              <a:rPr dirty="0" sz="1200" b="1">
                <a:latin typeface="Arial"/>
                <a:cs typeface="Arial"/>
              </a:rPr>
              <a:t> </a:t>
            </a:r>
            <a:r>
              <a:rPr dirty="0" sz="1200" spc="-5">
                <a:latin typeface="Arial"/>
                <a:cs typeface="Arial"/>
              </a:rPr>
              <a:t>Explain:</a:t>
            </a:r>
            <a:endParaRPr sz="1200">
              <a:latin typeface="Arial"/>
              <a:cs typeface="Arial"/>
            </a:endParaRPr>
          </a:p>
          <a:p>
            <a:pPr marL="366395" indent="-226060">
              <a:lnSpc>
                <a:spcPts val="1380"/>
              </a:lnSpc>
              <a:buAutoNum type="alphaLcParenBoth"/>
              <a:tabLst>
                <a:tab pos="367030" algn="l"/>
              </a:tabLst>
            </a:pPr>
            <a:r>
              <a:rPr dirty="0" sz="1200" spc="10">
                <a:latin typeface="Arial"/>
                <a:cs typeface="Arial"/>
              </a:rPr>
              <a:t>Why </a:t>
            </a:r>
            <a:r>
              <a:rPr dirty="0" sz="1200" spc="-5">
                <a:latin typeface="Arial"/>
                <a:cs typeface="Arial"/>
              </a:rPr>
              <a:t>Abu Bakr was known </a:t>
            </a:r>
            <a:r>
              <a:rPr dirty="0" sz="1200">
                <a:latin typeface="Arial"/>
                <a:cs typeface="Arial"/>
              </a:rPr>
              <a:t>as the Saviour </a:t>
            </a:r>
            <a:r>
              <a:rPr dirty="0" sz="1200" spc="-5">
                <a:latin typeface="Arial"/>
                <a:cs typeface="Arial"/>
              </a:rPr>
              <a:t>of Islam,</a:t>
            </a:r>
            <a:r>
              <a:rPr dirty="0" sz="1200" spc="-25">
                <a:latin typeface="Arial"/>
                <a:cs typeface="Arial"/>
              </a:rPr>
              <a:t> </a:t>
            </a:r>
            <a:r>
              <a:rPr dirty="0" sz="1200" spc="-5">
                <a:latin typeface="Arial"/>
                <a:cs typeface="Arial"/>
              </a:rPr>
              <a:t>[10]</a:t>
            </a:r>
            <a:endParaRPr sz="1200">
              <a:latin typeface="Arial"/>
              <a:cs typeface="Arial"/>
            </a:endParaRPr>
          </a:p>
          <a:p>
            <a:pPr marL="12700">
              <a:lnSpc>
                <a:spcPts val="1380"/>
              </a:lnSpc>
            </a:pPr>
            <a:r>
              <a:rPr dirty="0" sz="1200" spc="-5">
                <a:latin typeface="Arial"/>
                <a:cs typeface="Arial"/>
              </a:rPr>
              <a:t>and</a:t>
            </a:r>
            <a:r>
              <a:rPr dirty="0" sz="1200" spc="70">
                <a:latin typeface="Arial"/>
                <a:cs typeface="Arial"/>
              </a:rPr>
              <a:t> </a:t>
            </a:r>
            <a:r>
              <a:rPr dirty="0" sz="1200" spc="-5">
                <a:latin typeface="Arial"/>
                <a:cs typeface="Arial"/>
              </a:rPr>
              <a:t>(b)</a:t>
            </a:r>
            <a:r>
              <a:rPr dirty="0" sz="1200" spc="75">
                <a:latin typeface="Arial"/>
                <a:cs typeface="Arial"/>
              </a:rPr>
              <a:t> </a:t>
            </a:r>
            <a:r>
              <a:rPr dirty="0" sz="1200" spc="-10">
                <a:latin typeface="Arial"/>
                <a:cs typeface="Arial"/>
              </a:rPr>
              <a:t>why</a:t>
            </a:r>
            <a:r>
              <a:rPr dirty="0" sz="1200" spc="55">
                <a:latin typeface="Arial"/>
                <a:cs typeface="Arial"/>
              </a:rPr>
              <a:t> </a:t>
            </a:r>
            <a:r>
              <a:rPr dirty="0" sz="1200" spc="-5">
                <a:latin typeface="Arial"/>
                <a:cs typeface="Arial"/>
              </a:rPr>
              <a:t>`Ali</a:t>
            </a:r>
            <a:r>
              <a:rPr dirty="0" sz="1200" spc="70">
                <a:latin typeface="Arial"/>
                <a:cs typeface="Arial"/>
              </a:rPr>
              <a:t> </a:t>
            </a:r>
            <a:r>
              <a:rPr dirty="0" sz="1200" spc="-10">
                <a:latin typeface="Arial"/>
                <a:cs typeface="Arial"/>
              </a:rPr>
              <a:t>was</a:t>
            </a:r>
            <a:r>
              <a:rPr dirty="0" sz="1200" spc="70">
                <a:latin typeface="Arial"/>
                <a:cs typeface="Arial"/>
              </a:rPr>
              <a:t> </a:t>
            </a:r>
            <a:r>
              <a:rPr dirty="0" sz="1200">
                <a:latin typeface="Arial"/>
                <a:cs typeface="Arial"/>
              </a:rPr>
              <a:t>forced</a:t>
            </a:r>
            <a:r>
              <a:rPr dirty="0" sz="1200" spc="75">
                <a:latin typeface="Arial"/>
                <a:cs typeface="Arial"/>
              </a:rPr>
              <a:t> </a:t>
            </a:r>
            <a:r>
              <a:rPr dirty="0" sz="1200">
                <a:latin typeface="Arial"/>
                <a:cs typeface="Arial"/>
              </a:rPr>
              <a:t>to</a:t>
            </a:r>
            <a:r>
              <a:rPr dirty="0" sz="1200" spc="45">
                <a:latin typeface="Arial"/>
                <a:cs typeface="Arial"/>
              </a:rPr>
              <a:t> </a:t>
            </a:r>
            <a:r>
              <a:rPr dirty="0" sz="1200">
                <a:latin typeface="Arial"/>
                <a:cs typeface="Arial"/>
              </a:rPr>
              <a:t>fight</a:t>
            </a:r>
            <a:r>
              <a:rPr dirty="0" sz="1200" spc="70">
                <a:latin typeface="Arial"/>
                <a:cs typeface="Arial"/>
              </a:rPr>
              <a:t> </a:t>
            </a:r>
            <a:r>
              <a:rPr dirty="0" sz="1200" spc="-5">
                <a:latin typeface="Arial"/>
                <a:cs typeface="Arial"/>
              </a:rPr>
              <a:t>against</a:t>
            </a:r>
            <a:r>
              <a:rPr dirty="0" sz="1200" spc="60">
                <a:latin typeface="Arial"/>
                <a:cs typeface="Arial"/>
              </a:rPr>
              <a:t> </a:t>
            </a:r>
            <a:r>
              <a:rPr dirty="0" sz="1200" spc="-5">
                <a:latin typeface="Arial"/>
                <a:cs typeface="Arial"/>
              </a:rPr>
              <a:t>his</a:t>
            </a:r>
            <a:r>
              <a:rPr dirty="0" sz="1200" spc="60">
                <a:latin typeface="Arial"/>
                <a:cs typeface="Arial"/>
              </a:rPr>
              <a:t> </a:t>
            </a:r>
            <a:r>
              <a:rPr dirty="0" sz="1200" spc="-5">
                <a:latin typeface="Arial"/>
                <a:cs typeface="Arial"/>
              </a:rPr>
              <a:t>former</a:t>
            </a:r>
            <a:r>
              <a:rPr dirty="0" sz="1200" spc="65">
                <a:latin typeface="Arial"/>
                <a:cs typeface="Arial"/>
              </a:rPr>
              <a:t> </a:t>
            </a:r>
            <a:r>
              <a:rPr dirty="0" sz="1200" spc="-5">
                <a:latin typeface="Arial"/>
                <a:cs typeface="Arial"/>
              </a:rPr>
              <a:t>allies</a:t>
            </a:r>
            <a:r>
              <a:rPr dirty="0" sz="1200" spc="70">
                <a:latin typeface="Arial"/>
                <a:cs typeface="Arial"/>
              </a:rPr>
              <a:t> </a:t>
            </a:r>
            <a:r>
              <a:rPr dirty="0" sz="1200">
                <a:latin typeface="Arial"/>
                <a:cs typeface="Arial"/>
              </a:rPr>
              <a:t>at</a:t>
            </a:r>
            <a:r>
              <a:rPr dirty="0" sz="1200" spc="65">
                <a:latin typeface="Arial"/>
                <a:cs typeface="Arial"/>
              </a:rPr>
              <a:t> </a:t>
            </a:r>
            <a:r>
              <a:rPr dirty="0" sz="1200" spc="-5">
                <a:latin typeface="Arial"/>
                <a:cs typeface="Arial"/>
              </a:rPr>
              <a:t>the</a:t>
            </a:r>
            <a:r>
              <a:rPr dirty="0" sz="1200" spc="60">
                <a:latin typeface="Arial"/>
                <a:cs typeface="Arial"/>
              </a:rPr>
              <a:t> </a:t>
            </a:r>
            <a:r>
              <a:rPr dirty="0" sz="1200" spc="-5">
                <a:latin typeface="Arial"/>
                <a:cs typeface="Arial"/>
              </a:rPr>
              <a:t>battle</a:t>
            </a:r>
            <a:r>
              <a:rPr dirty="0" sz="1200" spc="60">
                <a:latin typeface="Arial"/>
                <a:cs typeface="Arial"/>
              </a:rPr>
              <a:t> </a:t>
            </a:r>
            <a:r>
              <a:rPr dirty="0" sz="1200" spc="-5">
                <a:latin typeface="Arial"/>
                <a:cs typeface="Arial"/>
              </a:rPr>
              <a:t>of</a:t>
            </a:r>
            <a:r>
              <a:rPr dirty="0" sz="1200" spc="75">
                <a:latin typeface="Arial"/>
                <a:cs typeface="Arial"/>
              </a:rPr>
              <a:t> </a:t>
            </a:r>
            <a:r>
              <a:rPr dirty="0" sz="1200" spc="-5">
                <a:latin typeface="Arial"/>
                <a:cs typeface="Arial"/>
              </a:rPr>
              <a:t>Nahrawand.</a:t>
            </a:r>
            <a:r>
              <a:rPr dirty="0" sz="1200" spc="60">
                <a:latin typeface="Arial"/>
                <a:cs typeface="Arial"/>
              </a:rPr>
              <a:t> </a:t>
            </a:r>
            <a:r>
              <a:rPr dirty="0" sz="1200" spc="-5">
                <a:latin typeface="Arial"/>
                <a:cs typeface="Arial"/>
              </a:rPr>
              <a:t>[10]</a:t>
            </a:r>
            <a:endParaRPr sz="1200">
              <a:latin typeface="Arial"/>
              <a:cs typeface="Arial"/>
            </a:endParaRPr>
          </a:p>
          <a:p>
            <a:pPr marL="12700">
              <a:lnSpc>
                <a:spcPts val="1410"/>
              </a:lnSpc>
            </a:pPr>
            <a:r>
              <a:rPr dirty="0" sz="1200" spc="-5" b="1">
                <a:latin typeface="Arial"/>
                <a:cs typeface="Arial"/>
              </a:rPr>
              <a:t>(2004)</a:t>
            </a:r>
            <a:endParaRPr sz="1200">
              <a:latin typeface="Arial"/>
              <a:cs typeface="Arial"/>
            </a:endParaRPr>
          </a:p>
          <a:p>
            <a:pPr>
              <a:lnSpc>
                <a:spcPct val="100000"/>
              </a:lnSpc>
            </a:pPr>
            <a:endParaRPr sz="1150">
              <a:latin typeface="Arial"/>
              <a:cs typeface="Arial"/>
            </a:endParaRPr>
          </a:p>
          <a:p>
            <a:pPr marL="12700">
              <a:lnSpc>
                <a:spcPts val="1410"/>
              </a:lnSpc>
            </a:pPr>
            <a:r>
              <a:rPr dirty="0" sz="1200" spc="-5" b="1">
                <a:latin typeface="Arial"/>
                <a:cs typeface="Arial"/>
              </a:rPr>
              <a:t>3 </a:t>
            </a:r>
            <a:r>
              <a:rPr dirty="0" sz="1200" spc="-5">
                <a:latin typeface="Arial"/>
                <a:cs typeface="Arial"/>
              </a:rPr>
              <a:t>Explain how the policies followed </a:t>
            </a:r>
            <a:r>
              <a:rPr dirty="0" sz="1200">
                <a:latin typeface="Arial"/>
                <a:cs typeface="Arial"/>
              </a:rPr>
              <a:t>by </a:t>
            </a:r>
            <a:r>
              <a:rPr dirty="0" sz="1200" spc="-5">
                <a:latin typeface="Arial"/>
                <a:cs typeface="Arial"/>
              </a:rPr>
              <a:t>the </a:t>
            </a:r>
            <a:r>
              <a:rPr dirty="0" sz="1200" spc="-10">
                <a:latin typeface="Arial"/>
                <a:cs typeface="Arial"/>
              </a:rPr>
              <a:t>Four </a:t>
            </a:r>
            <a:r>
              <a:rPr dirty="0" sz="1200" spc="-5">
                <a:latin typeface="Arial"/>
                <a:cs typeface="Arial"/>
              </a:rPr>
              <a:t>Rightly </a:t>
            </a:r>
            <a:r>
              <a:rPr dirty="0" sz="1200">
                <a:latin typeface="Arial"/>
                <a:cs typeface="Arial"/>
              </a:rPr>
              <a:t>Guided</a:t>
            </a:r>
            <a:r>
              <a:rPr dirty="0" sz="1200" spc="20">
                <a:latin typeface="Arial"/>
                <a:cs typeface="Arial"/>
              </a:rPr>
              <a:t> </a:t>
            </a:r>
            <a:r>
              <a:rPr dirty="0" sz="1200" spc="-5">
                <a:latin typeface="Arial"/>
                <a:cs typeface="Arial"/>
              </a:rPr>
              <a:t>Caliphs:</a:t>
            </a:r>
            <a:endParaRPr sz="1200">
              <a:latin typeface="Arial"/>
              <a:cs typeface="Arial"/>
            </a:endParaRPr>
          </a:p>
          <a:p>
            <a:pPr marL="12700" marR="5054600" indent="128270">
              <a:lnSpc>
                <a:spcPts val="1380"/>
              </a:lnSpc>
              <a:spcBef>
                <a:spcPts val="65"/>
              </a:spcBef>
              <a:buAutoNum type="alphaLcParenBoth"/>
              <a:tabLst>
                <a:tab pos="370205" algn="l"/>
              </a:tabLst>
            </a:pPr>
            <a:r>
              <a:rPr dirty="0" sz="1200" spc="-5">
                <a:latin typeface="Arial"/>
                <a:cs typeface="Arial"/>
              </a:rPr>
              <a:t>continued</a:t>
            </a:r>
            <a:r>
              <a:rPr dirty="0" sz="1200" spc="-65">
                <a:latin typeface="Arial"/>
                <a:cs typeface="Arial"/>
              </a:rPr>
              <a:t> </a:t>
            </a:r>
            <a:r>
              <a:rPr dirty="0" sz="1200" spc="-5">
                <a:latin typeface="Arial"/>
                <a:cs typeface="Arial"/>
              </a:rPr>
              <a:t>[8]  and</a:t>
            </a:r>
            <a:endParaRPr sz="1200">
              <a:latin typeface="Arial"/>
              <a:cs typeface="Arial"/>
            </a:endParaRPr>
          </a:p>
          <a:p>
            <a:pPr marL="369570" indent="-229235">
              <a:lnSpc>
                <a:spcPts val="1345"/>
              </a:lnSpc>
              <a:buAutoNum type="alphaLcParenBoth"/>
              <a:tabLst>
                <a:tab pos="370205" algn="l"/>
              </a:tabLst>
            </a:pPr>
            <a:r>
              <a:rPr dirty="0" sz="1200" spc="-5">
                <a:latin typeface="Arial"/>
                <a:cs typeface="Arial"/>
              </a:rPr>
              <a:t>expanded the policies and </a:t>
            </a:r>
            <a:r>
              <a:rPr dirty="0" sz="1200">
                <a:latin typeface="Arial"/>
                <a:cs typeface="Arial"/>
              </a:rPr>
              <a:t>teachings </a:t>
            </a:r>
            <a:r>
              <a:rPr dirty="0" sz="1200" spc="-5">
                <a:latin typeface="Arial"/>
                <a:cs typeface="Arial"/>
              </a:rPr>
              <a:t>of the Prophet. [12]</a:t>
            </a:r>
            <a:r>
              <a:rPr dirty="0" sz="1200" spc="20">
                <a:latin typeface="Arial"/>
                <a:cs typeface="Arial"/>
              </a:rPr>
              <a:t> </a:t>
            </a:r>
            <a:r>
              <a:rPr dirty="0" sz="1200" spc="-5" b="1">
                <a:latin typeface="Arial"/>
                <a:cs typeface="Arial"/>
              </a:rPr>
              <a:t>(2007)</a:t>
            </a:r>
            <a:endParaRPr sz="1200">
              <a:latin typeface="Arial"/>
              <a:cs typeface="Arial"/>
            </a:endParaRPr>
          </a:p>
          <a:p>
            <a:pPr>
              <a:lnSpc>
                <a:spcPct val="100000"/>
              </a:lnSpc>
              <a:spcBef>
                <a:spcPts val="35"/>
              </a:spcBef>
            </a:pPr>
            <a:endParaRPr sz="1200">
              <a:latin typeface="Arial"/>
              <a:cs typeface="Arial"/>
            </a:endParaRPr>
          </a:p>
          <a:p>
            <a:pPr marL="12700" marR="6350">
              <a:lnSpc>
                <a:spcPts val="1380"/>
              </a:lnSpc>
            </a:pPr>
            <a:r>
              <a:rPr dirty="0" sz="1200" spc="-5" b="1">
                <a:latin typeface="Arial"/>
                <a:cs typeface="Arial"/>
              </a:rPr>
              <a:t>3 </a:t>
            </a:r>
            <a:r>
              <a:rPr dirty="0" sz="1200" spc="-5">
                <a:latin typeface="Arial"/>
                <a:cs typeface="Arial"/>
              </a:rPr>
              <a:t>(a) Give an outline of the expansion of the Islamic empire in the period of </a:t>
            </a:r>
            <a:r>
              <a:rPr dirty="0" sz="1200">
                <a:latin typeface="Arial"/>
                <a:cs typeface="Arial"/>
              </a:rPr>
              <a:t>the </a:t>
            </a:r>
            <a:r>
              <a:rPr dirty="0" sz="1200" spc="-5">
                <a:latin typeface="Arial"/>
                <a:cs typeface="Arial"/>
              </a:rPr>
              <a:t>Rightly  Guided Caliphs.</a:t>
            </a:r>
            <a:r>
              <a:rPr dirty="0" sz="1200" spc="-10">
                <a:latin typeface="Arial"/>
                <a:cs typeface="Arial"/>
              </a:rPr>
              <a:t> </a:t>
            </a:r>
            <a:r>
              <a:rPr dirty="0" sz="1200" spc="-5">
                <a:latin typeface="Arial"/>
                <a:cs typeface="Arial"/>
              </a:rPr>
              <a:t>[12]</a:t>
            </a:r>
            <a:endParaRPr sz="1200">
              <a:latin typeface="Arial"/>
              <a:cs typeface="Arial"/>
            </a:endParaRPr>
          </a:p>
          <a:p>
            <a:pPr marL="140970">
              <a:lnSpc>
                <a:spcPts val="1345"/>
              </a:lnSpc>
            </a:pPr>
            <a:r>
              <a:rPr dirty="0" sz="1200" spc="-5">
                <a:latin typeface="Arial"/>
                <a:cs typeface="Arial"/>
              </a:rPr>
              <a:t>(b) </a:t>
            </a:r>
            <a:r>
              <a:rPr dirty="0" sz="1200" spc="10">
                <a:latin typeface="Arial"/>
                <a:cs typeface="Arial"/>
              </a:rPr>
              <a:t>Why </a:t>
            </a:r>
            <a:r>
              <a:rPr dirty="0" sz="1200">
                <a:latin typeface="Arial"/>
                <a:cs typeface="Arial"/>
              </a:rPr>
              <a:t>did </a:t>
            </a:r>
            <a:r>
              <a:rPr dirty="0" sz="1200" spc="-5">
                <a:latin typeface="Arial"/>
                <a:cs typeface="Arial"/>
              </a:rPr>
              <a:t>the Islamic empire expand </a:t>
            </a:r>
            <a:r>
              <a:rPr dirty="0" sz="1200" spc="-10">
                <a:latin typeface="Arial"/>
                <a:cs typeface="Arial"/>
              </a:rPr>
              <a:t>so </a:t>
            </a:r>
            <a:r>
              <a:rPr dirty="0" sz="1200" spc="-5">
                <a:latin typeface="Arial"/>
                <a:cs typeface="Arial"/>
              </a:rPr>
              <a:t>rapidly in this period? [8]</a:t>
            </a:r>
            <a:r>
              <a:rPr dirty="0" sz="1200" spc="20">
                <a:latin typeface="Arial"/>
                <a:cs typeface="Arial"/>
              </a:rPr>
              <a:t> </a:t>
            </a:r>
            <a:r>
              <a:rPr dirty="0" sz="1200" spc="-5" b="1">
                <a:latin typeface="Arial"/>
                <a:cs typeface="Arial"/>
              </a:rPr>
              <a:t>(2008)</a:t>
            </a:r>
            <a:endParaRPr sz="1200">
              <a:latin typeface="Arial"/>
              <a:cs typeface="Arial"/>
            </a:endParaRPr>
          </a:p>
          <a:p>
            <a:pPr>
              <a:lnSpc>
                <a:spcPct val="100000"/>
              </a:lnSpc>
            </a:pPr>
            <a:endParaRPr sz="1150">
              <a:latin typeface="Arial"/>
              <a:cs typeface="Arial"/>
            </a:endParaRPr>
          </a:p>
          <a:p>
            <a:pPr marL="12700">
              <a:lnSpc>
                <a:spcPts val="1410"/>
              </a:lnSpc>
            </a:pPr>
            <a:r>
              <a:rPr dirty="0" sz="1200" spc="-5" b="1">
                <a:latin typeface="Arial"/>
                <a:cs typeface="Arial"/>
              </a:rPr>
              <a:t>3 </a:t>
            </a:r>
            <a:r>
              <a:rPr dirty="0" sz="1200" spc="-5">
                <a:latin typeface="Arial"/>
                <a:cs typeface="Arial"/>
              </a:rPr>
              <a:t>Give a critical assessment of the </a:t>
            </a:r>
            <a:r>
              <a:rPr dirty="0" sz="1200">
                <a:latin typeface="Arial"/>
                <a:cs typeface="Arial"/>
              </a:rPr>
              <a:t>main </a:t>
            </a:r>
            <a:r>
              <a:rPr dirty="0" sz="1200" spc="-5">
                <a:latin typeface="Arial"/>
                <a:cs typeface="Arial"/>
              </a:rPr>
              <a:t>events in the caliphates</a:t>
            </a:r>
            <a:r>
              <a:rPr dirty="0" sz="1200" spc="40">
                <a:latin typeface="Arial"/>
                <a:cs typeface="Arial"/>
              </a:rPr>
              <a:t> </a:t>
            </a:r>
            <a:r>
              <a:rPr dirty="0" sz="1200">
                <a:latin typeface="Arial"/>
                <a:cs typeface="Arial"/>
              </a:rPr>
              <a:t>of:</a:t>
            </a:r>
            <a:endParaRPr sz="1200">
              <a:latin typeface="Arial"/>
              <a:cs typeface="Arial"/>
            </a:endParaRPr>
          </a:p>
          <a:p>
            <a:pPr marL="12700" marR="5004435" indent="128270">
              <a:lnSpc>
                <a:spcPts val="1380"/>
              </a:lnSpc>
              <a:spcBef>
                <a:spcPts val="65"/>
              </a:spcBef>
              <a:buAutoNum type="alphaLcParenBoth"/>
              <a:tabLst>
                <a:tab pos="370205" algn="l"/>
              </a:tabLst>
            </a:pPr>
            <a:r>
              <a:rPr dirty="0" sz="1200" spc="-5">
                <a:latin typeface="Arial"/>
                <a:cs typeface="Arial"/>
              </a:rPr>
              <a:t>Abu Bakr</a:t>
            </a:r>
            <a:r>
              <a:rPr dirty="0" sz="1200" spc="-75">
                <a:latin typeface="Arial"/>
                <a:cs typeface="Arial"/>
              </a:rPr>
              <a:t> </a:t>
            </a:r>
            <a:r>
              <a:rPr dirty="0" sz="1200" spc="-5">
                <a:latin typeface="Arial"/>
                <a:cs typeface="Arial"/>
              </a:rPr>
              <a:t>[12]  and</a:t>
            </a:r>
            <a:r>
              <a:rPr dirty="0" sz="1200" spc="-15">
                <a:latin typeface="Arial"/>
                <a:cs typeface="Arial"/>
              </a:rPr>
              <a:t> </a:t>
            </a:r>
            <a:r>
              <a:rPr dirty="0" sz="1200" spc="-5">
                <a:latin typeface="Arial"/>
                <a:cs typeface="Arial"/>
              </a:rPr>
              <a:t>either</a:t>
            </a:r>
            <a:endParaRPr sz="1200">
              <a:latin typeface="Arial"/>
              <a:cs typeface="Arial"/>
            </a:endParaRPr>
          </a:p>
          <a:p>
            <a:pPr marL="12700" marR="4469765" indent="128270">
              <a:lnSpc>
                <a:spcPts val="1380"/>
              </a:lnSpc>
              <a:buAutoNum type="alphaLcParenBoth"/>
              <a:tabLst>
                <a:tab pos="370205" algn="l"/>
              </a:tabLst>
            </a:pPr>
            <a:r>
              <a:rPr dirty="0" sz="1200" spc="-60">
                <a:latin typeface="Arial"/>
                <a:cs typeface="Arial"/>
              </a:rPr>
              <a:t>‗Uthman </a:t>
            </a:r>
            <a:r>
              <a:rPr dirty="0" sz="1200" spc="-5">
                <a:latin typeface="Arial"/>
                <a:cs typeface="Arial"/>
              </a:rPr>
              <a:t>ibn </a:t>
            </a:r>
            <a:r>
              <a:rPr dirty="0" sz="1200" spc="-75">
                <a:latin typeface="Arial"/>
                <a:cs typeface="Arial"/>
              </a:rPr>
              <a:t>‗Affan </a:t>
            </a:r>
            <a:r>
              <a:rPr dirty="0" sz="1200">
                <a:latin typeface="Arial"/>
                <a:cs typeface="Arial"/>
              </a:rPr>
              <a:t>[8]  </a:t>
            </a:r>
            <a:r>
              <a:rPr dirty="0" sz="1200" spc="-5">
                <a:latin typeface="Arial"/>
                <a:cs typeface="Arial"/>
              </a:rPr>
              <a:t>or</a:t>
            </a:r>
            <a:endParaRPr sz="1200">
              <a:latin typeface="Arial"/>
              <a:cs typeface="Arial"/>
            </a:endParaRPr>
          </a:p>
          <a:p>
            <a:pPr marL="360045" indent="-219710">
              <a:lnSpc>
                <a:spcPts val="1345"/>
              </a:lnSpc>
              <a:buAutoNum type="alphaLcParenBoth"/>
              <a:tabLst>
                <a:tab pos="360680" algn="l"/>
              </a:tabLst>
            </a:pPr>
            <a:r>
              <a:rPr dirty="0" sz="1200" spc="-105">
                <a:latin typeface="Arial"/>
                <a:cs typeface="Arial"/>
              </a:rPr>
              <a:t>‗Ali </a:t>
            </a:r>
            <a:r>
              <a:rPr dirty="0" sz="1200" spc="-5">
                <a:latin typeface="Arial"/>
                <a:cs typeface="Arial"/>
              </a:rPr>
              <a:t>ibn Abi </a:t>
            </a:r>
            <a:r>
              <a:rPr dirty="0" sz="1200">
                <a:latin typeface="Arial"/>
                <a:cs typeface="Arial"/>
              </a:rPr>
              <a:t>Talib. </a:t>
            </a:r>
            <a:r>
              <a:rPr dirty="0" sz="1200" spc="-5">
                <a:latin typeface="Arial"/>
                <a:cs typeface="Arial"/>
              </a:rPr>
              <a:t>[8]</a:t>
            </a:r>
            <a:r>
              <a:rPr dirty="0" sz="1200" spc="-114">
                <a:latin typeface="Arial"/>
                <a:cs typeface="Arial"/>
              </a:rPr>
              <a:t> </a:t>
            </a:r>
            <a:r>
              <a:rPr dirty="0" sz="1200" spc="-5" b="1">
                <a:latin typeface="Arial"/>
                <a:cs typeface="Arial"/>
              </a:rPr>
              <a:t>(2009)</a:t>
            </a:r>
            <a:endParaRPr sz="1200">
              <a:latin typeface="Arial"/>
              <a:cs typeface="Arial"/>
            </a:endParaRPr>
          </a:p>
          <a:p>
            <a:pPr>
              <a:lnSpc>
                <a:spcPct val="100000"/>
              </a:lnSpc>
            </a:pPr>
            <a:endParaRPr sz="1150">
              <a:latin typeface="Arial"/>
              <a:cs typeface="Arial"/>
            </a:endParaRPr>
          </a:p>
          <a:p>
            <a:pPr marL="12700">
              <a:lnSpc>
                <a:spcPts val="1410"/>
              </a:lnSpc>
            </a:pPr>
            <a:r>
              <a:rPr dirty="0" sz="1200" spc="-5" b="1">
                <a:latin typeface="Arial"/>
                <a:cs typeface="Arial"/>
              </a:rPr>
              <a:t>3 </a:t>
            </a:r>
            <a:r>
              <a:rPr dirty="0" sz="1200" spc="-5">
                <a:latin typeface="Arial"/>
                <a:cs typeface="Arial"/>
              </a:rPr>
              <a:t>Explain why </a:t>
            </a:r>
            <a:r>
              <a:rPr dirty="0" sz="1200">
                <a:latin typeface="Arial"/>
                <a:cs typeface="Arial"/>
              </a:rPr>
              <a:t>the </a:t>
            </a:r>
            <a:r>
              <a:rPr dirty="0" sz="1200" spc="-5">
                <a:latin typeface="Arial"/>
                <a:cs typeface="Arial"/>
              </a:rPr>
              <a:t>Caliph </a:t>
            </a:r>
            <a:r>
              <a:rPr dirty="0" sz="1200" spc="-105">
                <a:latin typeface="Arial"/>
                <a:cs typeface="Arial"/>
              </a:rPr>
              <a:t>‗Ali </a:t>
            </a:r>
            <a:r>
              <a:rPr dirty="0" sz="1200" spc="-5">
                <a:latin typeface="Arial"/>
                <a:cs typeface="Arial"/>
              </a:rPr>
              <a:t>was compelled to fight</a:t>
            </a:r>
            <a:r>
              <a:rPr dirty="0" sz="1200" spc="-125">
                <a:latin typeface="Arial"/>
                <a:cs typeface="Arial"/>
              </a:rPr>
              <a:t> </a:t>
            </a:r>
            <a:r>
              <a:rPr dirty="0" sz="1200" spc="-5">
                <a:latin typeface="Arial"/>
                <a:cs typeface="Arial"/>
              </a:rPr>
              <a:t>against</a:t>
            </a:r>
            <a:endParaRPr sz="1200">
              <a:latin typeface="Arial"/>
              <a:cs typeface="Arial"/>
            </a:endParaRPr>
          </a:p>
          <a:p>
            <a:pPr marL="183515" marR="4393565">
              <a:lnSpc>
                <a:spcPts val="1380"/>
              </a:lnSpc>
              <a:spcBef>
                <a:spcPts val="65"/>
              </a:spcBef>
              <a:buAutoNum type="alphaLcParenBoth"/>
              <a:tabLst>
                <a:tab pos="410845" algn="l"/>
              </a:tabLst>
            </a:pPr>
            <a:r>
              <a:rPr dirty="0" sz="1200" spc="-5">
                <a:latin typeface="Arial"/>
                <a:cs typeface="Arial"/>
              </a:rPr>
              <a:t>Talha and </a:t>
            </a:r>
            <a:r>
              <a:rPr dirty="0" sz="1200" spc="-10">
                <a:latin typeface="Arial"/>
                <a:cs typeface="Arial"/>
              </a:rPr>
              <a:t>Zubayr </a:t>
            </a:r>
            <a:r>
              <a:rPr dirty="0" sz="1200">
                <a:latin typeface="Arial"/>
                <a:cs typeface="Arial"/>
              </a:rPr>
              <a:t>[10]  (b) </a:t>
            </a:r>
            <a:r>
              <a:rPr dirty="0" sz="1200" spc="-10">
                <a:latin typeface="Arial"/>
                <a:cs typeface="Arial"/>
              </a:rPr>
              <a:t>Mu‘awiya. </a:t>
            </a:r>
            <a:r>
              <a:rPr dirty="0" sz="1200">
                <a:latin typeface="Arial"/>
                <a:cs typeface="Arial"/>
              </a:rPr>
              <a:t>[10]</a:t>
            </a:r>
            <a:r>
              <a:rPr dirty="0" sz="1200" spc="-15">
                <a:latin typeface="Arial"/>
                <a:cs typeface="Arial"/>
              </a:rPr>
              <a:t> </a:t>
            </a:r>
            <a:r>
              <a:rPr dirty="0" sz="1200" spc="-5" b="1">
                <a:latin typeface="Arial"/>
                <a:cs typeface="Arial"/>
              </a:rPr>
              <a:t>(2010)</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45</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2689986" y="799592"/>
            <a:ext cx="1997710" cy="559435"/>
          </a:xfrm>
          <a:prstGeom prst="rect">
            <a:avLst/>
          </a:prstGeom>
        </p:spPr>
        <p:txBody>
          <a:bodyPr wrap="square" lIns="0" tIns="12700" rIns="0" bIns="0" rtlCol="0" vert="horz">
            <a:spAutoFit/>
          </a:bodyPr>
          <a:lstStyle/>
          <a:p>
            <a:pPr algn="ctr" marL="1270">
              <a:lnSpc>
                <a:spcPct val="100000"/>
              </a:lnSpc>
              <a:spcBef>
                <a:spcPts val="100"/>
              </a:spcBef>
            </a:pPr>
            <a:r>
              <a:rPr dirty="0" u="heavy" sz="1200" spc="-5" b="1" i="1">
                <a:uFill>
                  <a:solidFill>
                    <a:srgbClr val="000000"/>
                  </a:solidFill>
                </a:uFill>
                <a:latin typeface="Arial"/>
                <a:cs typeface="Arial"/>
              </a:rPr>
              <a:t>Paper</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1</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Section </a:t>
            </a:r>
            <a:r>
              <a:rPr dirty="0" u="heavy" sz="1200" spc="-5" b="1" i="1">
                <a:uFill>
                  <a:solidFill>
                    <a:srgbClr val="000000"/>
                  </a:solidFill>
                </a:uFill>
                <a:latin typeface="Arial"/>
                <a:cs typeface="Arial"/>
              </a:rPr>
              <a:t>B: </a:t>
            </a:r>
            <a:r>
              <a:rPr dirty="0" u="heavy" sz="1200" b="1" i="1">
                <a:uFill>
                  <a:solidFill>
                    <a:srgbClr val="000000"/>
                  </a:solidFill>
                </a:uFill>
                <a:latin typeface="Arial"/>
                <a:cs typeface="Arial"/>
              </a:rPr>
              <a:t>The </a:t>
            </a:r>
            <a:r>
              <a:rPr dirty="0" u="heavy" sz="1200" spc="-5" b="1" i="1">
                <a:uFill>
                  <a:solidFill>
                    <a:srgbClr val="000000"/>
                  </a:solidFill>
                </a:uFill>
                <a:latin typeface="Arial"/>
                <a:cs typeface="Arial"/>
              </a:rPr>
              <a:t>Holy</a:t>
            </a:r>
            <a:r>
              <a:rPr dirty="0" u="heavy" sz="1200" spc="-75" b="1" i="1">
                <a:uFill>
                  <a:solidFill>
                    <a:srgbClr val="000000"/>
                  </a:solidFill>
                </a:uFill>
                <a:latin typeface="Arial"/>
                <a:cs typeface="Arial"/>
              </a:rPr>
              <a:t> </a:t>
            </a:r>
            <a:r>
              <a:rPr dirty="0" u="heavy" sz="1200" spc="-50" b="1" i="1">
                <a:uFill>
                  <a:solidFill>
                    <a:srgbClr val="000000"/>
                  </a:solidFill>
                </a:uFill>
                <a:latin typeface="Arial"/>
                <a:cs typeface="Arial"/>
              </a:rPr>
              <a:t>Qur‟an</a:t>
            </a:r>
            <a:endParaRPr sz="1200">
              <a:latin typeface="Arial"/>
              <a:cs typeface="Arial"/>
            </a:endParaRP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46</a:t>
            </a:r>
          </a:p>
        </p:txBody>
      </p:sp>
      <p:sp>
        <p:nvSpPr>
          <p:cNvPr id="6" name="object 6"/>
          <p:cNvSpPr txBox="1"/>
          <p:nvPr/>
        </p:nvSpPr>
        <p:spPr>
          <a:xfrm>
            <a:off x="878128" y="1704085"/>
            <a:ext cx="5624830" cy="181610"/>
          </a:xfrm>
          <a:prstGeom prst="rect">
            <a:avLst/>
          </a:prstGeom>
          <a:ln w="6095">
            <a:solidFill>
              <a:srgbClr val="000000"/>
            </a:solidFill>
          </a:ln>
        </p:spPr>
        <p:txBody>
          <a:bodyPr wrap="square" lIns="0" tIns="0" rIns="0" bIns="0" rtlCol="0" vert="horz">
            <a:spAutoFit/>
          </a:bodyPr>
          <a:lstStyle/>
          <a:p>
            <a:pPr algn="ctr" marL="635">
              <a:lnSpc>
                <a:spcPts val="1370"/>
              </a:lnSpc>
            </a:pPr>
            <a:r>
              <a:rPr dirty="0" sz="1200" spc="-45" b="1">
                <a:latin typeface="Arial"/>
                <a:cs typeface="Arial"/>
              </a:rPr>
              <a:t>Qur‟an</a:t>
            </a:r>
            <a:endParaRPr sz="1200">
              <a:latin typeface="Arial"/>
              <a:cs typeface="Arial"/>
            </a:endParaRPr>
          </a:p>
        </p:txBody>
      </p:sp>
      <p:sp>
        <p:nvSpPr>
          <p:cNvPr id="7" name="object 7"/>
          <p:cNvSpPr txBox="1"/>
          <p:nvPr/>
        </p:nvSpPr>
        <p:spPr>
          <a:xfrm>
            <a:off x="496316" y="2038857"/>
            <a:ext cx="6412865" cy="7570470"/>
          </a:xfrm>
          <a:prstGeom prst="rect">
            <a:avLst/>
          </a:prstGeom>
        </p:spPr>
        <p:txBody>
          <a:bodyPr wrap="square" lIns="0" tIns="12700" rIns="0" bIns="0" rtlCol="0" vert="horz">
            <a:spAutoFit/>
          </a:bodyPr>
          <a:lstStyle/>
          <a:p>
            <a:pPr marL="508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35"/>
              </a:spcBef>
            </a:pPr>
            <a:endParaRPr sz="1200">
              <a:latin typeface="Arial"/>
              <a:cs typeface="Arial"/>
            </a:endParaRPr>
          </a:p>
          <a:p>
            <a:pPr algn="just" marL="50800" marR="68580">
              <a:lnSpc>
                <a:spcPts val="1380"/>
              </a:lnSpc>
            </a:pPr>
            <a:r>
              <a:rPr dirty="0" sz="1200" spc="-5">
                <a:latin typeface="Arial"/>
                <a:cs typeface="Arial"/>
              </a:rPr>
              <a:t>Since the sending </a:t>
            </a:r>
            <a:r>
              <a:rPr dirty="0" sz="1200">
                <a:latin typeface="Arial"/>
                <a:cs typeface="Arial"/>
              </a:rPr>
              <a:t>of </a:t>
            </a:r>
            <a:r>
              <a:rPr dirty="0" sz="1200" spc="-5">
                <a:latin typeface="Arial"/>
                <a:cs typeface="Arial"/>
              </a:rPr>
              <a:t>prophets </a:t>
            </a:r>
            <a:r>
              <a:rPr dirty="0" sz="1200">
                <a:latin typeface="Arial"/>
                <a:cs typeface="Arial"/>
              </a:rPr>
              <a:t>to </a:t>
            </a:r>
            <a:r>
              <a:rPr dirty="0" sz="1200" spc="-5">
                <a:latin typeface="Arial"/>
                <a:cs typeface="Arial"/>
              </a:rPr>
              <a:t>earth and </a:t>
            </a:r>
            <a:r>
              <a:rPr dirty="0" sz="1200">
                <a:latin typeface="Arial"/>
                <a:cs typeface="Arial"/>
              </a:rPr>
              <a:t>to </a:t>
            </a:r>
            <a:r>
              <a:rPr dirty="0" sz="1200" spc="-5">
                <a:latin typeface="Arial"/>
                <a:cs typeface="Arial"/>
              </a:rPr>
              <a:t>guide people and Mankind, Allah </a:t>
            </a:r>
            <a:r>
              <a:rPr dirty="0" sz="1200" spc="-10">
                <a:latin typeface="Arial"/>
                <a:cs typeface="Arial"/>
              </a:rPr>
              <a:t>had  </a:t>
            </a:r>
            <a:r>
              <a:rPr dirty="0" sz="1200" spc="-5">
                <a:latin typeface="Arial"/>
                <a:cs typeface="Arial"/>
              </a:rPr>
              <a:t>bestowed knowledge upon His prophets in various </a:t>
            </a:r>
            <a:r>
              <a:rPr dirty="0" sz="1200">
                <a:latin typeface="Arial"/>
                <a:cs typeface="Arial"/>
              </a:rPr>
              <a:t>forms </a:t>
            </a:r>
            <a:r>
              <a:rPr dirty="0" sz="1200" spc="-5">
                <a:latin typeface="Arial"/>
                <a:cs typeface="Arial"/>
              </a:rPr>
              <a:t>such as </a:t>
            </a:r>
            <a:r>
              <a:rPr dirty="0" sz="1200" spc="5">
                <a:latin typeface="Arial"/>
                <a:cs typeface="Arial"/>
              </a:rPr>
              <a:t>Wahy </a:t>
            </a:r>
            <a:r>
              <a:rPr dirty="0" sz="1200">
                <a:latin typeface="Arial"/>
                <a:cs typeface="Arial"/>
              </a:rPr>
              <a:t>- </a:t>
            </a:r>
            <a:r>
              <a:rPr dirty="0" sz="1200" spc="-5">
                <a:latin typeface="Arial"/>
                <a:cs typeface="Arial"/>
              </a:rPr>
              <a:t>revelation. As  </a:t>
            </a:r>
            <a:r>
              <a:rPr dirty="0" sz="1200">
                <a:latin typeface="Arial"/>
                <a:cs typeface="Arial"/>
              </a:rPr>
              <a:t>such, </a:t>
            </a:r>
            <a:r>
              <a:rPr dirty="0" sz="1200" spc="-5">
                <a:latin typeface="Arial"/>
                <a:cs typeface="Arial"/>
              </a:rPr>
              <a:t>many </a:t>
            </a:r>
            <a:r>
              <a:rPr dirty="0" sz="1200">
                <a:latin typeface="Arial"/>
                <a:cs typeface="Arial"/>
              </a:rPr>
              <a:t>books </a:t>
            </a:r>
            <a:r>
              <a:rPr dirty="0" sz="1200" spc="-5">
                <a:latin typeface="Arial"/>
                <a:cs typeface="Arial"/>
              </a:rPr>
              <a:t>like </a:t>
            </a:r>
            <a:r>
              <a:rPr dirty="0" sz="1200">
                <a:latin typeface="Arial"/>
                <a:cs typeface="Arial"/>
              </a:rPr>
              <a:t>the </a:t>
            </a:r>
            <a:r>
              <a:rPr dirty="0" sz="1200" spc="-5">
                <a:latin typeface="Arial"/>
                <a:cs typeface="Arial"/>
              </a:rPr>
              <a:t>Tawraat, Injeel, Zabour, Souhouf and the Qur‘an </a:t>
            </a:r>
            <a:r>
              <a:rPr dirty="0" sz="1200">
                <a:latin typeface="Arial"/>
                <a:cs typeface="Arial"/>
              </a:rPr>
              <a:t>can </a:t>
            </a:r>
            <a:r>
              <a:rPr dirty="0" sz="1200" spc="-5">
                <a:latin typeface="Arial"/>
                <a:cs typeface="Arial"/>
              </a:rPr>
              <a:t>be noted. All  of them </a:t>
            </a:r>
            <a:r>
              <a:rPr dirty="0" sz="1200">
                <a:latin typeface="Arial"/>
                <a:cs typeface="Arial"/>
              </a:rPr>
              <a:t>are </a:t>
            </a:r>
            <a:r>
              <a:rPr dirty="0" sz="1200" spc="-5">
                <a:latin typeface="Arial"/>
                <a:cs typeface="Arial"/>
              </a:rPr>
              <a:t>specific to </a:t>
            </a:r>
            <a:r>
              <a:rPr dirty="0" sz="1200">
                <a:latin typeface="Arial"/>
                <a:cs typeface="Arial"/>
              </a:rPr>
              <a:t>their </a:t>
            </a:r>
            <a:r>
              <a:rPr dirty="0" sz="1200" spc="-5">
                <a:latin typeface="Arial"/>
                <a:cs typeface="Arial"/>
              </a:rPr>
              <a:t>people and important </a:t>
            </a:r>
            <a:r>
              <a:rPr dirty="0" sz="1200">
                <a:latin typeface="Arial"/>
                <a:cs typeface="Arial"/>
              </a:rPr>
              <a:t>for</a:t>
            </a:r>
            <a:r>
              <a:rPr dirty="0" sz="1200" spc="5">
                <a:latin typeface="Arial"/>
                <a:cs typeface="Arial"/>
              </a:rPr>
              <a:t> </a:t>
            </a:r>
            <a:r>
              <a:rPr dirty="0" sz="1200" spc="-5">
                <a:latin typeface="Arial"/>
                <a:cs typeface="Arial"/>
              </a:rPr>
              <a:t>Mankind.</a:t>
            </a:r>
            <a:endParaRPr sz="1200">
              <a:latin typeface="Arial"/>
              <a:cs typeface="Arial"/>
            </a:endParaRPr>
          </a:p>
          <a:p>
            <a:pPr>
              <a:lnSpc>
                <a:spcPct val="100000"/>
              </a:lnSpc>
              <a:spcBef>
                <a:spcPts val="20"/>
              </a:spcBef>
            </a:pPr>
            <a:endParaRPr sz="1100">
              <a:latin typeface="Arial"/>
              <a:cs typeface="Arial"/>
            </a:endParaRPr>
          </a:p>
          <a:p>
            <a:pPr marL="50800">
              <a:lnSpc>
                <a:spcPct val="100000"/>
              </a:lnSpc>
            </a:pPr>
            <a:r>
              <a:rPr dirty="0" u="heavy" sz="1200" spc="-5" b="1" i="1">
                <a:uFill>
                  <a:solidFill>
                    <a:srgbClr val="000000"/>
                  </a:solidFill>
                </a:uFill>
                <a:latin typeface="Arial"/>
                <a:cs typeface="Arial"/>
              </a:rPr>
              <a:t>Structure</a:t>
            </a:r>
            <a:endParaRPr sz="1200">
              <a:latin typeface="Arial"/>
              <a:cs typeface="Arial"/>
            </a:endParaRPr>
          </a:p>
          <a:p>
            <a:pPr>
              <a:lnSpc>
                <a:spcPct val="100000"/>
              </a:lnSpc>
              <a:spcBef>
                <a:spcPts val="35"/>
              </a:spcBef>
            </a:pPr>
            <a:endParaRPr sz="1200">
              <a:latin typeface="Arial"/>
              <a:cs typeface="Arial"/>
            </a:endParaRPr>
          </a:p>
          <a:p>
            <a:pPr algn="just" marL="50800" marR="72390">
              <a:lnSpc>
                <a:spcPts val="1380"/>
              </a:lnSpc>
              <a:spcBef>
                <a:spcPts val="5"/>
              </a:spcBef>
            </a:pPr>
            <a:r>
              <a:rPr dirty="0" sz="1200" spc="-5">
                <a:latin typeface="Arial"/>
                <a:cs typeface="Arial"/>
              </a:rPr>
              <a:t>The holy Qur‘an is </a:t>
            </a:r>
            <a:r>
              <a:rPr dirty="0" sz="1200">
                <a:latin typeface="Arial"/>
                <a:cs typeface="Arial"/>
              </a:rPr>
              <a:t>a book </a:t>
            </a:r>
            <a:r>
              <a:rPr dirty="0" sz="1200" spc="-5">
                <a:latin typeface="Arial"/>
                <a:cs typeface="Arial"/>
              </a:rPr>
              <a:t>of 30 Juz </a:t>
            </a:r>
            <a:r>
              <a:rPr dirty="0" sz="1200">
                <a:latin typeface="Arial"/>
                <a:cs typeface="Arial"/>
              </a:rPr>
              <a:t>(Siparah), 114 </a:t>
            </a:r>
            <a:r>
              <a:rPr dirty="0" sz="1200" spc="-5">
                <a:latin typeface="Arial"/>
                <a:cs typeface="Arial"/>
              </a:rPr>
              <a:t>surah, 540 Ruku‘, </a:t>
            </a:r>
            <a:r>
              <a:rPr dirty="0" sz="1200">
                <a:latin typeface="Arial"/>
                <a:cs typeface="Arial"/>
              </a:rPr>
              <a:t>7 </a:t>
            </a:r>
            <a:r>
              <a:rPr dirty="0" sz="1200" spc="-5">
                <a:latin typeface="Arial"/>
                <a:cs typeface="Arial"/>
              </a:rPr>
              <a:t>manzil </a:t>
            </a:r>
            <a:r>
              <a:rPr dirty="0" sz="1200">
                <a:latin typeface="Arial"/>
                <a:cs typeface="Arial"/>
              </a:rPr>
              <a:t>and </a:t>
            </a:r>
            <a:r>
              <a:rPr dirty="0" sz="1200" spc="-5">
                <a:latin typeface="Arial"/>
                <a:cs typeface="Arial"/>
              </a:rPr>
              <a:t>6666  verses.</a:t>
            </a:r>
            <a:endParaRPr sz="1200">
              <a:latin typeface="Arial"/>
              <a:cs typeface="Arial"/>
            </a:endParaRPr>
          </a:p>
          <a:p>
            <a:pPr>
              <a:lnSpc>
                <a:spcPct val="100000"/>
              </a:lnSpc>
              <a:spcBef>
                <a:spcPts val="15"/>
              </a:spcBef>
            </a:pPr>
            <a:endParaRPr sz="1100">
              <a:latin typeface="Arial"/>
              <a:cs typeface="Arial"/>
            </a:endParaRPr>
          </a:p>
          <a:p>
            <a:pPr marL="50800">
              <a:lnSpc>
                <a:spcPct val="100000"/>
              </a:lnSpc>
            </a:pPr>
            <a:r>
              <a:rPr dirty="0" u="heavy" sz="1200" spc="-5" b="1" i="1">
                <a:uFill>
                  <a:solidFill>
                    <a:srgbClr val="000000"/>
                  </a:solidFill>
                </a:uFill>
                <a:latin typeface="Arial"/>
                <a:cs typeface="Arial"/>
              </a:rPr>
              <a:t>Maccan Themes</a:t>
            </a:r>
            <a:endParaRPr sz="1200">
              <a:latin typeface="Arial"/>
              <a:cs typeface="Arial"/>
            </a:endParaRPr>
          </a:p>
          <a:p>
            <a:pPr>
              <a:lnSpc>
                <a:spcPct val="100000"/>
              </a:lnSpc>
              <a:spcBef>
                <a:spcPts val="35"/>
              </a:spcBef>
            </a:pPr>
            <a:endParaRPr sz="1200">
              <a:latin typeface="Arial"/>
              <a:cs typeface="Arial"/>
            </a:endParaRPr>
          </a:p>
          <a:p>
            <a:pPr algn="just" marL="50800" marR="71120">
              <a:lnSpc>
                <a:spcPts val="1380"/>
              </a:lnSpc>
              <a:spcBef>
                <a:spcPts val="5"/>
              </a:spcBef>
            </a:pPr>
            <a:r>
              <a:rPr dirty="0" sz="1200" spc="-5">
                <a:latin typeface="Arial"/>
                <a:cs typeface="Arial"/>
              </a:rPr>
              <a:t>There </a:t>
            </a:r>
            <a:r>
              <a:rPr dirty="0" sz="1200" spc="-10">
                <a:latin typeface="Arial"/>
                <a:cs typeface="Arial"/>
              </a:rPr>
              <a:t>are 86 </a:t>
            </a:r>
            <a:r>
              <a:rPr dirty="0" sz="1200" spc="-5">
                <a:latin typeface="Arial"/>
                <a:cs typeface="Arial"/>
              </a:rPr>
              <a:t>surahs which were revealed at Macca. </a:t>
            </a:r>
            <a:r>
              <a:rPr dirty="0" sz="1200">
                <a:latin typeface="Arial"/>
                <a:cs typeface="Arial"/>
              </a:rPr>
              <a:t>The </a:t>
            </a:r>
            <a:r>
              <a:rPr dirty="0" sz="1200" spc="-5">
                <a:latin typeface="Arial"/>
                <a:cs typeface="Arial"/>
              </a:rPr>
              <a:t>main themes revealed during that  period of 13 years were </a:t>
            </a:r>
            <a:r>
              <a:rPr dirty="0" sz="1200" spc="-10">
                <a:latin typeface="Arial"/>
                <a:cs typeface="Arial"/>
              </a:rPr>
              <a:t>on </a:t>
            </a:r>
            <a:r>
              <a:rPr dirty="0" sz="1200" spc="-5">
                <a:latin typeface="Arial"/>
                <a:cs typeface="Arial"/>
              </a:rPr>
              <a:t>topics like Allah, the holy prophet, angels, books, destiny, day of  judgement, grave, paradise, hell, sacrifice, </a:t>
            </a:r>
            <a:r>
              <a:rPr dirty="0" sz="1200">
                <a:latin typeface="Arial"/>
                <a:cs typeface="Arial"/>
              </a:rPr>
              <a:t>reward, </a:t>
            </a:r>
            <a:r>
              <a:rPr dirty="0" sz="1200" spc="-5">
                <a:latin typeface="Arial"/>
                <a:cs typeface="Arial"/>
              </a:rPr>
              <a:t>punishment, strive in Allah‘s path,  education and </a:t>
            </a:r>
            <a:r>
              <a:rPr dirty="0" sz="1200">
                <a:latin typeface="Arial"/>
                <a:cs typeface="Arial"/>
              </a:rPr>
              <a:t>all </a:t>
            </a:r>
            <a:r>
              <a:rPr dirty="0" sz="1200" spc="-5">
                <a:latin typeface="Arial"/>
                <a:cs typeface="Arial"/>
              </a:rPr>
              <a:t>Islamic Theoretical</a:t>
            </a:r>
            <a:r>
              <a:rPr dirty="0" sz="1200" spc="-15">
                <a:latin typeface="Arial"/>
                <a:cs typeface="Arial"/>
              </a:rPr>
              <a:t> </a:t>
            </a:r>
            <a:r>
              <a:rPr dirty="0" sz="1200">
                <a:latin typeface="Arial"/>
                <a:cs typeface="Arial"/>
              </a:rPr>
              <a:t>Part.</a:t>
            </a:r>
            <a:endParaRPr sz="1200">
              <a:latin typeface="Arial"/>
              <a:cs typeface="Arial"/>
            </a:endParaRPr>
          </a:p>
          <a:p>
            <a:pPr>
              <a:lnSpc>
                <a:spcPct val="100000"/>
              </a:lnSpc>
              <a:spcBef>
                <a:spcPts val="20"/>
              </a:spcBef>
            </a:pPr>
            <a:endParaRPr sz="1100">
              <a:latin typeface="Arial"/>
              <a:cs typeface="Arial"/>
            </a:endParaRPr>
          </a:p>
          <a:p>
            <a:pPr marL="50800">
              <a:lnSpc>
                <a:spcPct val="100000"/>
              </a:lnSpc>
            </a:pPr>
            <a:r>
              <a:rPr dirty="0" u="heavy" sz="1200" spc="-5" b="1" i="1">
                <a:uFill>
                  <a:solidFill>
                    <a:srgbClr val="000000"/>
                  </a:solidFill>
                </a:uFill>
                <a:latin typeface="Arial"/>
                <a:cs typeface="Arial"/>
              </a:rPr>
              <a:t>Madinan Themes</a:t>
            </a:r>
            <a:endParaRPr sz="1200">
              <a:latin typeface="Arial"/>
              <a:cs typeface="Arial"/>
            </a:endParaRPr>
          </a:p>
          <a:p>
            <a:pPr>
              <a:lnSpc>
                <a:spcPct val="100000"/>
              </a:lnSpc>
              <a:spcBef>
                <a:spcPts val="35"/>
              </a:spcBef>
            </a:pPr>
            <a:endParaRPr sz="1200">
              <a:latin typeface="Arial"/>
              <a:cs typeface="Arial"/>
            </a:endParaRPr>
          </a:p>
          <a:p>
            <a:pPr algn="just" marL="50800" marR="71755">
              <a:lnSpc>
                <a:spcPts val="1380"/>
              </a:lnSpc>
            </a:pPr>
            <a:r>
              <a:rPr dirty="0" sz="1200" spc="-5">
                <a:latin typeface="Arial"/>
                <a:cs typeface="Arial"/>
              </a:rPr>
              <a:t>There are 28 surahs which were </a:t>
            </a:r>
            <a:r>
              <a:rPr dirty="0" sz="1200">
                <a:latin typeface="Arial"/>
                <a:cs typeface="Arial"/>
              </a:rPr>
              <a:t>then </a:t>
            </a:r>
            <a:r>
              <a:rPr dirty="0" sz="1200" spc="-5">
                <a:latin typeface="Arial"/>
                <a:cs typeface="Arial"/>
              </a:rPr>
              <a:t>revealed at Madina. Their </a:t>
            </a:r>
            <a:r>
              <a:rPr dirty="0" sz="1200">
                <a:latin typeface="Arial"/>
                <a:cs typeface="Arial"/>
              </a:rPr>
              <a:t>main topics </a:t>
            </a:r>
            <a:r>
              <a:rPr dirty="0" sz="1200" spc="-5">
                <a:latin typeface="Arial"/>
                <a:cs typeface="Arial"/>
              </a:rPr>
              <a:t>were on the  </a:t>
            </a:r>
            <a:r>
              <a:rPr dirty="0" sz="1200">
                <a:latin typeface="Arial"/>
                <a:cs typeface="Arial"/>
              </a:rPr>
              <a:t>Islamic </a:t>
            </a:r>
            <a:r>
              <a:rPr dirty="0" sz="1200" spc="-10">
                <a:latin typeface="Arial"/>
                <a:cs typeface="Arial"/>
              </a:rPr>
              <a:t>Law, </a:t>
            </a:r>
            <a:r>
              <a:rPr dirty="0" sz="1200" spc="-5">
                <a:latin typeface="Arial"/>
                <a:cs typeface="Arial"/>
              </a:rPr>
              <a:t>criminal </a:t>
            </a:r>
            <a:r>
              <a:rPr dirty="0" sz="1200" spc="-10">
                <a:latin typeface="Arial"/>
                <a:cs typeface="Arial"/>
              </a:rPr>
              <a:t>law, </a:t>
            </a:r>
            <a:r>
              <a:rPr dirty="0" sz="1200" spc="-5">
                <a:latin typeface="Arial"/>
                <a:cs typeface="Arial"/>
              </a:rPr>
              <a:t>inheritance, will, divorce, marriage, </a:t>
            </a:r>
            <a:r>
              <a:rPr dirty="0" sz="1200">
                <a:latin typeface="Arial"/>
                <a:cs typeface="Arial"/>
              </a:rPr>
              <a:t>fight </a:t>
            </a:r>
            <a:r>
              <a:rPr dirty="0" sz="1200" spc="-10">
                <a:latin typeface="Arial"/>
                <a:cs typeface="Arial"/>
              </a:rPr>
              <a:t>in </a:t>
            </a:r>
            <a:r>
              <a:rPr dirty="0" sz="1200" spc="-5">
                <a:latin typeface="Arial"/>
                <a:cs typeface="Arial"/>
              </a:rPr>
              <a:t>the </a:t>
            </a:r>
            <a:r>
              <a:rPr dirty="0" sz="1200" spc="-10">
                <a:latin typeface="Arial"/>
                <a:cs typeface="Arial"/>
              </a:rPr>
              <a:t>way </a:t>
            </a:r>
            <a:r>
              <a:rPr dirty="0" sz="1200">
                <a:latin typeface="Arial"/>
                <a:cs typeface="Arial"/>
              </a:rPr>
              <a:t>of </a:t>
            </a:r>
            <a:r>
              <a:rPr dirty="0" sz="1200" spc="-5">
                <a:latin typeface="Arial"/>
                <a:cs typeface="Arial"/>
              </a:rPr>
              <a:t>Allah, family  law, </a:t>
            </a:r>
            <a:r>
              <a:rPr dirty="0" sz="1200">
                <a:latin typeface="Arial"/>
                <a:cs typeface="Arial"/>
              </a:rPr>
              <a:t>the </a:t>
            </a:r>
            <a:r>
              <a:rPr dirty="0" sz="1200" spc="-5">
                <a:latin typeface="Arial"/>
                <a:cs typeface="Arial"/>
              </a:rPr>
              <a:t>hypocrites, local and foreign affairs, dedication </a:t>
            </a:r>
            <a:r>
              <a:rPr dirty="0" sz="1200">
                <a:latin typeface="Arial"/>
                <a:cs typeface="Arial"/>
              </a:rPr>
              <a:t>to </a:t>
            </a:r>
            <a:r>
              <a:rPr dirty="0" sz="1200" spc="-5">
                <a:latin typeface="Arial"/>
                <a:cs typeface="Arial"/>
              </a:rPr>
              <a:t>Islam and </a:t>
            </a:r>
            <a:r>
              <a:rPr dirty="0" sz="1200">
                <a:latin typeface="Arial"/>
                <a:cs typeface="Arial"/>
              </a:rPr>
              <a:t>Islamic </a:t>
            </a:r>
            <a:r>
              <a:rPr dirty="0" sz="1200" spc="-5">
                <a:latin typeface="Arial"/>
                <a:cs typeface="Arial"/>
              </a:rPr>
              <a:t>Practical</a:t>
            </a:r>
            <a:r>
              <a:rPr dirty="0" sz="1200" spc="85">
                <a:latin typeface="Arial"/>
                <a:cs typeface="Arial"/>
              </a:rPr>
              <a:t> </a:t>
            </a:r>
            <a:r>
              <a:rPr dirty="0" sz="1200">
                <a:latin typeface="Arial"/>
                <a:cs typeface="Arial"/>
              </a:rPr>
              <a:t>Part</a:t>
            </a:r>
            <a:endParaRPr sz="1200">
              <a:latin typeface="Arial"/>
              <a:cs typeface="Arial"/>
            </a:endParaRPr>
          </a:p>
          <a:p>
            <a:pPr>
              <a:lnSpc>
                <a:spcPct val="100000"/>
              </a:lnSpc>
              <a:spcBef>
                <a:spcPts val="20"/>
              </a:spcBef>
            </a:pPr>
            <a:endParaRPr sz="1100">
              <a:latin typeface="Arial"/>
              <a:cs typeface="Arial"/>
            </a:endParaRPr>
          </a:p>
          <a:p>
            <a:pPr marL="50800">
              <a:lnSpc>
                <a:spcPct val="100000"/>
              </a:lnSpc>
            </a:pPr>
            <a:r>
              <a:rPr dirty="0" u="heavy" sz="1200" spc="-5" b="1" i="1">
                <a:uFill>
                  <a:solidFill>
                    <a:srgbClr val="000000"/>
                  </a:solidFill>
                </a:uFill>
                <a:latin typeface="Arial"/>
                <a:cs typeface="Arial"/>
              </a:rPr>
              <a:t>Mode of </a:t>
            </a:r>
            <a:r>
              <a:rPr dirty="0" u="heavy" sz="1200" b="1" i="1">
                <a:uFill>
                  <a:solidFill>
                    <a:srgbClr val="000000"/>
                  </a:solidFill>
                </a:uFill>
                <a:latin typeface="Arial"/>
                <a:cs typeface="Arial"/>
              </a:rPr>
              <a:t>Revelation </a:t>
            </a:r>
            <a:r>
              <a:rPr dirty="0" u="heavy" sz="1200" spc="-5" b="1" i="1">
                <a:uFill>
                  <a:solidFill>
                    <a:srgbClr val="000000"/>
                  </a:solidFill>
                </a:uFill>
                <a:latin typeface="Arial"/>
                <a:cs typeface="Arial"/>
              </a:rPr>
              <a:t>upon </a:t>
            </a:r>
            <a:r>
              <a:rPr dirty="0" u="heavy" sz="1200" b="1" i="1">
                <a:uFill>
                  <a:solidFill>
                    <a:srgbClr val="000000"/>
                  </a:solidFill>
                </a:uFill>
                <a:latin typeface="Arial"/>
                <a:cs typeface="Arial"/>
              </a:rPr>
              <a:t>which the </a:t>
            </a:r>
            <a:r>
              <a:rPr dirty="0" u="heavy" sz="1200" spc="-50" b="1" i="1">
                <a:uFill>
                  <a:solidFill>
                    <a:srgbClr val="000000"/>
                  </a:solidFill>
                </a:uFill>
                <a:latin typeface="Arial"/>
                <a:cs typeface="Arial"/>
              </a:rPr>
              <a:t>Qur‟an </a:t>
            </a:r>
            <a:r>
              <a:rPr dirty="0" u="heavy" sz="1200" b="1" i="1">
                <a:uFill>
                  <a:solidFill>
                    <a:srgbClr val="000000"/>
                  </a:solidFill>
                </a:uFill>
                <a:latin typeface="Arial"/>
                <a:cs typeface="Arial"/>
              </a:rPr>
              <a:t>was</a:t>
            </a:r>
            <a:r>
              <a:rPr dirty="0" u="heavy" sz="1200" spc="45" b="1" i="1">
                <a:uFill>
                  <a:solidFill>
                    <a:srgbClr val="000000"/>
                  </a:solidFill>
                </a:uFill>
                <a:latin typeface="Arial"/>
                <a:cs typeface="Arial"/>
              </a:rPr>
              <a:t> </a:t>
            </a:r>
            <a:r>
              <a:rPr dirty="0" u="heavy" sz="1200" spc="-5" b="1" i="1">
                <a:uFill>
                  <a:solidFill>
                    <a:srgbClr val="000000"/>
                  </a:solidFill>
                </a:uFill>
                <a:latin typeface="Arial"/>
                <a:cs typeface="Arial"/>
              </a:rPr>
              <a:t>revealed:</a:t>
            </a:r>
            <a:endParaRPr sz="1200">
              <a:latin typeface="Arial"/>
              <a:cs typeface="Arial"/>
            </a:endParaRPr>
          </a:p>
          <a:p>
            <a:pPr>
              <a:lnSpc>
                <a:spcPct val="100000"/>
              </a:lnSpc>
              <a:spcBef>
                <a:spcPts val="40"/>
              </a:spcBef>
            </a:pPr>
            <a:endParaRPr sz="1100">
              <a:latin typeface="Arial"/>
              <a:cs typeface="Arial"/>
            </a:endParaRPr>
          </a:p>
          <a:p>
            <a:pPr marL="508000" indent="-229235">
              <a:lnSpc>
                <a:spcPts val="1415"/>
              </a:lnSpc>
              <a:spcBef>
                <a:spcPts val="5"/>
              </a:spcBef>
              <a:buAutoNum type="arabicPeriod"/>
              <a:tabLst>
                <a:tab pos="508634" algn="l"/>
              </a:tabLst>
            </a:pPr>
            <a:r>
              <a:rPr dirty="0" sz="1200" spc="-5">
                <a:latin typeface="Arial"/>
                <a:cs typeface="Arial"/>
              </a:rPr>
              <a:t>Hazrat Jibril (as) </a:t>
            </a:r>
            <a:r>
              <a:rPr dirty="0" sz="1200">
                <a:latin typeface="Arial"/>
                <a:cs typeface="Arial"/>
              </a:rPr>
              <a:t>came </a:t>
            </a:r>
            <a:r>
              <a:rPr dirty="0" sz="1200" spc="-5">
                <a:latin typeface="Arial"/>
                <a:cs typeface="Arial"/>
              </a:rPr>
              <a:t>in </a:t>
            </a:r>
            <a:r>
              <a:rPr dirty="0" sz="1200">
                <a:latin typeface="Arial"/>
                <a:cs typeface="Arial"/>
              </a:rPr>
              <a:t>his </a:t>
            </a:r>
            <a:r>
              <a:rPr dirty="0" sz="1200" spc="-5">
                <a:latin typeface="Arial"/>
                <a:cs typeface="Arial"/>
              </a:rPr>
              <a:t>real </a:t>
            </a:r>
            <a:r>
              <a:rPr dirty="0" sz="1200">
                <a:latin typeface="Arial"/>
                <a:cs typeface="Arial"/>
              </a:rPr>
              <a:t>form </a:t>
            </a:r>
            <a:r>
              <a:rPr dirty="0" sz="1200" spc="-5">
                <a:latin typeface="Arial"/>
                <a:cs typeface="Arial"/>
              </a:rPr>
              <a:t>with wings </a:t>
            </a:r>
            <a:r>
              <a:rPr dirty="0" sz="1200">
                <a:latin typeface="Arial"/>
                <a:cs typeface="Arial"/>
              </a:rPr>
              <a:t>to </a:t>
            </a:r>
            <a:r>
              <a:rPr dirty="0" sz="1200" spc="-5">
                <a:latin typeface="Arial"/>
                <a:cs typeface="Arial"/>
              </a:rPr>
              <a:t>the prophet. </a:t>
            </a:r>
            <a:r>
              <a:rPr dirty="0" sz="1200">
                <a:latin typeface="Arial"/>
                <a:cs typeface="Arial"/>
              </a:rPr>
              <a:t>– </a:t>
            </a:r>
            <a:r>
              <a:rPr dirty="0" sz="1200" spc="-10" i="1">
                <a:latin typeface="Arial"/>
                <a:cs typeface="Arial"/>
              </a:rPr>
              <a:t>In </a:t>
            </a:r>
            <a:r>
              <a:rPr dirty="0" sz="1200" spc="-5" i="1">
                <a:latin typeface="Arial"/>
                <a:cs typeface="Arial"/>
              </a:rPr>
              <a:t>the cave </a:t>
            </a:r>
            <a:r>
              <a:rPr dirty="0" sz="1200" i="1">
                <a:latin typeface="Arial"/>
                <a:cs typeface="Arial"/>
              </a:rPr>
              <a:t>of</a:t>
            </a:r>
            <a:r>
              <a:rPr dirty="0" sz="1200" spc="114" i="1">
                <a:latin typeface="Arial"/>
                <a:cs typeface="Arial"/>
              </a:rPr>
              <a:t> </a:t>
            </a:r>
            <a:r>
              <a:rPr dirty="0" sz="1200" spc="-5" i="1">
                <a:latin typeface="Arial"/>
                <a:cs typeface="Arial"/>
              </a:rPr>
              <a:t>Hira</a:t>
            </a:r>
            <a:endParaRPr sz="1200">
              <a:latin typeface="Arial"/>
              <a:cs typeface="Arial"/>
            </a:endParaRPr>
          </a:p>
          <a:p>
            <a:pPr marL="508000" marR="69850" indent="-229235">
              <a:lnSpc>
                <a:spcPts val="1370"/>
              </a:lnSpc>
              <a:spcBef>
                <a:spcPts val="80"/>
              </a:spcBef>
              <a:buAutoNum type="arabicPeriod"/>
              <a:tabLst>
                <a:tab pos="508634" algn="l"/>
              </a:tabLst>
            </a:pPr>
            <a:r>
              <a:rPr dirty="0" sz="1200" spc="-5">
                <a:latin typeface="Arial"/>
                <a:cs typeface="Arial"/>
              </a:rPr>
              <a:t>He used </a:t>
            </a:r>
            <a:r>
              <a:rPr dirty="0" sz="1200">
                <a:latin typeface="Arial"/>
                <a:cs typeface="Arial"/>
              </a:rPr>
              <a:t>to </a:t>
            </a:r>
            <a:r>
              <a:rPr dirty="0" sz="1200" spc="-5">
                <a:latin typeface="Arial"/>
                <a:cs typeface="Arial"/>
              </a:rPr>
              <a:t>take the </a:t>
            </a:r>
            <a:r>
              <a:rPr dirty="0" sz="1200">
                <a:latin typeface="Arial"/>
                <a:cs typeface="Arial"/>
              </a:rPr>
              <a:t>form </a:t>
            </a:r>
            <a:r>
              <a:rPr dirty="0" sz="1200" spc="-5">
                <a:latin typeface="Arial"/>
                <a:cs typeface="Arial"/>
              </a:rPr>
              <a:t>of a human </a:t>
            </a:r>
            <a:r>
              <a:rPr dirty="0" sz="1200" spc="-10">
                <a:latin typeface="Arial"/>
                <a:cs typeface="Arial"/>
              </a:rPr>
              <a:t>being, </a:t>
            </a:r>
            <a:r>
              <a:rPr dirty="0" sz="1200" spc="-5">
                <a:latin typeface="Arial"/>
                <a:cs typeface="Arial"/>
              </a:rPr>
              <a:t>a Sahaba </a:t>
            </a:r>
            <a:r>
              <a:rPr dirty="0" sz="1200">
                <a:latin typeface="Arial"/>
                <a:cs typeface="Arial"/>
              </a:rPr>
              <a:t>known </a:t>
            </a:r>
            <a:r>
              <a:rPr dirty="0" sz="1200" spc="-10">
                <a:latin typeface="Arial"/>
                <a:cs typeface="Arial"/>
              </a:rPr>
              <a:t>as </a:t>
            </a:r>
            <a:r>
              <a:rPr dirty="0" sz="1200" spc="-5">
                <a:latin typeface="Arial"/>
                <a:cs typeface="Arial"/>
              </a:rPr>
              <a:t>Hazrat Dahyah  </a:t>
            </a:r>
            <a:r>
              <a:rPr dirty="0" sz="1200">
                <a:latin typeface="Arial"/>
                <a:cs typeface="Arial"/>
              </a:rPr>
              <a:t>Qalbiy </a:t>
            </a:r>
            <a:r>
              <a:rPr dirty="0" sz="1200" spc="-5">
                <a:latin typeface="Arial"/>
                <a:cs typeface="Arial"/>
              </a:rPr>
              <a:t>(ra). </a:t>
            </a:r>
            <a:r>
              <a:rPr dirty="0" sz="1200">
                <a:latin typeface="Arial"/>
                <a:cs typeface="Arial"/>
              </a:rPr>
              <a:t>– </a:t>
            </a:r>
            <a:r>
              <a:rPr dirty="0" sz="1200" i="1">
                <a:latin typeface="Arial"/>
                <a:cs typeface="Arial"/>
              </a:rPr>
              <a:t>the </a:t>
            </a:r>
            <a:r>
              <a:rPr dirty="0" sz="1200" spc="-5" i="1">
                <a:latin typeface="Arial"/>
                <a:cs typeface="Arial"/>
              </a:rPr>
              <a:t>hadith </a:t>
            </a:r>
            <a:r>
              <a:rPr dirty="0" sz="1200" i="1">
                <a:latin typeface="Arial"/>
                <a:cs typeface="Arial"/>
              </a:rPr>
              <a:t>on </a:t>
            </a:r>
            <a:r>
              <a:rPr dirty="0" sz="1200" spc="-5" i="1">
                <a:latin typeface="Arial"/>
                <a:cs typeface="Arial"/>
              </a:rPr>
              <a:t>Islam, Iman </a:t>
            </a:r>
            <a:r>
              <a:rPr dirty="0" sz="1200" i="1">
                <a:latin typeface="Arial"/>
                <a:cs typeface="Arial"/>
              </a:rPr>
              <a:t>and</a:t>
            </a:r>
            <a:r>
              <a:rPr dirty="0" sz="1200" spc="-25" i="1">
                <a:latin typeface="Arial"/>
                <a:cs typeface="Arial"/>
              </a:rPr>
              <a:t> </a:t>
            </a:r>
            <a:r>
              <a:rPr dirty="0" sz="1200" spc="-5" i="1">
                <a:latin typeface="Arial"/>
                <a:cs typeface="Arial"/>
              </a:rPr>
              <a:t>Ihsan</a:t>
            </a:r>
            <a:endParaRPr sz="1200">
              <a:latin typeface="Arial"/>
              <a:cs typeface="Arial"/>
            </a:endParaRPr>
          </a:p>
          <a:p>
            <a:pPr marL="508000" marR="71755" indent="-229235">
              <a:lnSpc>
                <a:spcPts val="1370"/>
              </a:lnSpc>
              <a:spcBef>
                <a:spcPts val="20"/>
              </a:spcBef>
              <a:buAutoNum type="arabicPeriod"/>
              <a:tabLst>
                <a:tab pos="508634" algn="l"/>
              </a:tabLst>
            </a:pPr>
            <a:r>
              <a:rPr dirty="0" sz="1200" spc="-5">
                <a:latin typeface="Arial"/>
                <a:cs typeface="Arial"/>
              </a:rPr>
              <a:t>The prophet (s.a.w) </a:t>
            </a:r>
            <a:r>
              <a:rPr dirty="0" sz="1200">
                <a:latin typeface="Arial"/>
                <a:cs typeface="Arial"/>
              </a:rPr>
              <a:t>would </a:t>
            </a:r>
            <a:r>
              <a:rPr dirty="0" sz="1200" spc="-5">
                <a:latin typeface="Arial"/>
                <a:cs typeface="Arial"/>
              </a:rPr>
              <a:t>hear </a:t>
            </a:r>
            <a:r>
              <a:rPr dirty="0" sz="1200">
                <a:latin typeface="Arial"/>
                <a:cs typeface="Arial"/>
              </a:rPr>
              <a:t>the </a:t>
            </a:r>
            <a:r>
              <a:rPr dirty="0" sz="1200" spc="-5">
                <a:latin typeface="Arial"/>
                <a:cs typeface="Arial"/>
              </a:rPr>
              <a:t>sound of a bell and </a:t>
            </a:r>
            <a:r>
              <a:rPr dirty="0" sz="1200">
                <a:latin typeface="Arial"/>
                <a:cs typeface="Arial"/>
              </a:rPr>
              <a:t>verses </a:t>
            </a:r>
            <a:r>
              <a:rPr dirty="0" sz="1200" spc="-5">
                <a:latin typeface="Arial"/>
                <a:cs typeface="Arial"/>
              </a:rPr>
              <a:t>would be revealed to  </a:t>
            </a:r>
            <a:r>
              <a:rPr dirty="0" sz="1200">
                <a:latin typeface="Arial"/>
                <a:cs typeface="Arial"/>
              </a:rPr>
              <a:t>him. – </a:t>
            </a:r>
            <a:r>
              <a:rPr dirty="0" sz="1200" spc="-5" i="1">
                <a:latin typeface="Arial"/>
                <a:cs typeface="Arial"/>
              </a:rPr>
              <a:t>the hadith </a:t>
            </a:r>
            <a:r>
              <a:rPr dirty="0" sz="1200" i="1">
                <a:latin typeface="Arial"/>
                <a:cs typeface="Arial"/>
              </a:rPr>
              <a:t>of </a:t>
            </a:r>
            <a:r>
              <a:rPr dirty="0" sz="1200" spc="-5" i="1">
                <a:latin typeface="Arial"/>
                <a:cs typeface="Arial"/>
              </a:rPr>
              <a:t>Aisha during winter the prophet</a:t>
            </a:r>
            <a:r>
              <a:rPr dirty="0" sz="1200" spc="15" i="1">
                <a:latin typeface="Arial"/>
                <a:cs typeface="Arial"/>
              </a:rPr>
              <a:t> </a:t>
            </a:r>
            <a:r>
              <a:rPr dirty="0" sz="1200" spc="-5" i="1">
                <a:latin typeface="Arial"/>
                <a:cs typeface="Arial"/>
              </a:rPr>
              <a:t>perspired</a:t>
            </a:r>
            <a:endParaRPr sz="1200">
              <a:latin typeface="Arial"/>
              <a:cs typeface="Arial"/>
            </a:endParaRPr>
          </a:p>
          <a:p>
            <a:pPr marL="508000" marR="68580" indent="-229235">
              <a:lnSpc>
                <a:spcPts val="1380"/>
              </a:lnSpc>
              <a:buAutoNum type="arabicPeriod"/>
              <a:tabLst>
                <a:tab pos="508634" algn="l"/>
              </a:tabLst>
            </a:pPr>
            <a:r>
              <a:rPr dirty="0" sz="1200" spc="-5">
                <a:latin typeface="Arial"/>
                <a:cs typeface="Arial"/>
              </a:rPr>
              <a:t>He would have a </a:t>
            </a:r>
            <a:r>
              <a:rPr dirty="0" sz="1200">
                <a:latin typeface="Arial"/>
                <a:cs typeface="Arial"/>
              </a:rPr>
              <a:t>dream </a:t>
            </a:r>
            <a:r>
              <a:rPr dirty="0" sz="1200" spc="-5">
                <a:latin typeface="Arial"/>
                <a:cs typeface="Arial"/>
              </a:rPr>
              <a:t>which would become reality. </a:t>
            </a:r>
            <a:r>
              <a:rPr dirty="0" sz="1200">
                <a:latin typeface="Arial"/>
                <a:cs typeface="Arial"/>
              </a:rPr>
              <a:t>– </a:t>
            </a:r>
            <a:r>
              <a:rPr dirty="0" sz="1200" i="1">
                <a:latin typeface="Arial"/>
                <a:cs typeface="Arial"/>
              </a:rPr>
              <a:t>the </a:t>
            </a:r>
            <a:r>
              <a:rPr dirty="0" sz="1200" spc="-10" i="1">
                <a:latin typeface="Arial"/>
                <a:cs typeface="Arial"/>
              </a:rPr>
              <a:t>move </a:t>
            </a:r>
            <a:r>
              <a:rPr dirty="0" sz="1200" spc="-5" i="1">
                <a:latin typeface="Arial"/>
                <a:cs typeface="Arial"/>
              </a:rPr>
              <a:t>to Macca in </a:t>
            </a:r>
            <a:r>
              <a:rPr dirty="0" sz="1200" i="1">
                <a:latin typeface="Arial"/>
                <a:cs typeface="Arial"/>
              </a:rPr>
              <a:t>the 6</a:t>
            </a:r>
            <a:r>
              <a:rPr dirty="0" baseline="38194" sz="1200" i="1">
                <a:latin typeface="Arial"/>
                <a:cs typeface="Arial"/>
              </a:rPr>
              <a:t>th </a:t>
            </a:r>
            <a:r>
              <a:rPr dirty="0" sz="800" i="1">
                <a:latin typeface="Arial"/>
                <a:cs typeface="Arial"/>
              </a:rPr>
              <a:t> </a:t>
            </a:r>
            <a:r>
              <a:rPr dirty="0" sz="1200" spc="-5" i="1">
                <a:latin typeface="Arial"/>
                <a:cs typeface="Arial"/>
              </a:rPr>
              <a:t>Hijri </a:t>
            </a:r>
            <a:r>
              <a:rPr dirty="0" sz="1200" i="1">
                <a:latin typeface="Arial"/>
                <a:cs typeface="Arial"/>
              </a:rPr>
              <a:t>with </a:t>
            </a:r>
            <a:r>
              <a:rPr dirty="0" sz="1200" spc="-5" i="1">
                <a:latin typeface="Arial"/>
                <a:cs typeface="Arial"/>
              </a:rPr>
              <a:t>the treaty </a:t>
            </a:r>
            <a:r>
              <a:rPr dirty="0" sz="1200" i="1">
                <a:latin typeface="Arial"/>
                <a:cs typeface="Arial"/>
              </a:rPr>
              <a:t>of</a:t>
            </a:r>
            <a:r>
              <a:rPr dirty="0" sz="1200" spc="-15" i="1">
                <a:latin typeface="Arial"/>
                <a:cs typeface="Arial"/>
              </a:rPr>
              <a:t> </a:t>
            </a:r>
            <a:r>
              <a:rPr dirty="0" sz="1200" spc="-5" i="1">
                <a:latin typeface="Arial"/>
                <a:cs typeface="Arial"/>
              </a:rPr>
              <a:t>Hudaibiyyah</a:t>
            </a:r>
            <a:endParaRPr sz="1200">
              <a:latin typeface="Arial"/>
              <a:cs typeface="Arial"/>
            </a:endParaRPr>
          </a:p>
          <a:p>
            <a:pPr marL="508000" indent="-229235">
              <a:lnSpc>
                <a:spcPts val="1320"/>
              </a:lnSpc>
              <a:buAutoNum type="arabicPeriod"/>
              <a:tabLst>
                <a:tab pos="508634" algn="l"/>
              </a:tabLst>
            </a:pPr>
            <a:r>
              <a:rPr dirty="0" sz="1200" spc="-5">
                <a:latin typeface="Arial"/>
                <a:cs typeface="Arial"/>
              </a:rPr>
              <a:t>Allah </a:t>
            </a:r>
            <a:r>
              <a:rPr dirty="0" sz="1200" spc="-10">
                <a:latin typeface="Arial"/>
                <a:cs typeface="Arial"/>
              </a:rPr>
              <a:t>will </a:t>
            </a:r>
            <a:r>
              <a:rPr dirty="0" sz="1200" spc="-5">
                <a:latin typeface="Arial"/>
                <a:cs typeface="Arial"/>
              </a:rPr>
              <a:t>converse with </a:t>
            </a:r>
            <a:r>
              <a:rPr dirty="0" sz="1200">
                <a:latin typeface="Arial"/>
                <a:cs typeface="Arial"/>
              </a:rPr>
              <a:t>him </a:t>
            </a:r>
            <a:r>
              <a:rPr dirty="0" sz="1200" spc="-5">
                <a:latin typeface="Arial"/>
                <a:cs typeface="Arial"/>
              </a:rPr>
              <a:t>through a</a:t>
            </a:r>
            <a:r>
              <a:rPr dirty="0" sz="1200" spc="35">
                <a:latin typeface="Arial"/>
                <a:cs typeface="Arial"/>
              </a:rPr>
              <a:t> </a:t>
            </a:r>
            <a:r>
              <a:rPr dirty="0" sz="1200" spc="-5">
                <a:latin typeface="Arial"/>
                <a:cs typeface="Arial"/>
              </a:rPr>
              <a:t>veil.</a:t>
            </a:r>
            <a:endParaRPr sz="1200">
              <a:latin typeface="Arial"/>
              <a:cs typeface="Arial"/>
            </a:endParaRPr>
          </a:p>
          <a:p>
            <a:pPr marL="508000" indent="-229235">
              <a:lnSpc>
                <a:spcPts val="1405"/>
              </a:lnSpc>
              <a:buAutoNum type="arabicPeriod"/>
              <a:tabLst>
                <a:tab pos="508634" algn="l"/>
              </a:tabLst>
            </a:pPr>
            <a:r>
              <a:rPr dirty="0" sz="1200" spc="-5">
                <a:latin typeface="Arial"/>
                <a:cs typeface="Arial"/>
              </a:rPr>
              <a:t>He would see Allah with </a:t>
            </a:r>
            <a:r>
              <a:rPr dirty="0" sz="1200">
                <a:latin typeface="Arial"/>
                <a:cs typeface="Arial"/>
              </a:rPr>
              <a:t>his </a:t>
            </a:r>
            <a:r>
              <a:rPr dirty="0" sz="1200" spc="-5">
                <a:latin typeface="Arial"/>
                <a:cs typeface="Arial"/>
              </a:rPr>
              <a:t>naked eyes. </a:t>
            </a:r>
            <a:r>
              <a:rPr dirty="0" sz="1200" i="1">
                <a:latin typeface="Arial"/>
                <a:cs typeface="Arial"/>
              </a:rPr>
              <a:t>– </a:t>
            </a:r>
            <a:r>
              <a:rPr dirty="0" sz="1200" spc="-5" i="1">
                <a:latin typeface="Arial"/>
                <a:cs typeface="Arial"/>
              </a:rPr>
              <a:t>Mi‘raj </a:t>
            </a:r>
            <a:r>
              <a:rPr dirty="0" sz="1200" i="1">
                <a:latin typeface="Arial"/>
                <a:cs typeface="Arial"/>
              </a:rPr>
              <a:t>(53:</a:t>
            </a:r>
            <a:r>
              <a:rPr dirty="0" sz="1200" spc="50" i="1">
                <a:latin typeface="Arial"/>
                <a:cs typeface="Arial"/>
              </a:rPr>
              <a:t> </a:t>
            </a:r>
            <a:r>
              <a:rPr dirty="0" sz="1200" spc="-5" i="1">
                <a:latin typeface="Arial"/>
                <a:cs typeface="Arial"/>
              </a:rPr>
              <a:t>8-13)</a:t>
            </a:r>
            <a:endParaRPr sz="1200">
              <a:latin typeface="Arial"/>
              <a:cs typeface="Arial"/>
            </a:endParaRPr>
          </a:p>
          <a:p>
            <a:pPr>
              <a:lnSpc>
                <a:spcPct val="100000"/>
              </a:lnSpc>
              <a:spcBef>
                <a:spcPts val="10"/>
              </a:spcBef>
            </a:pPr>
            <a:endParaRPr sz="1150">
              <a:latin typeface="Arial"/>
              <a:cs typeface="Arial"/>
            </a:endParaRPr>
          </a:p>
          <a:p>
            <a:pPr marL="50800">
              <a:lnSpc>
                <a:spcPct val="100000"/>
              </a:lnSpc>
            </a:pPr>
            <a:r>
              <a:rPr dirty="0" u="heavy" sz="1200" spc="-5" b="1" i="1">
                <a:uFill>
                  <a:solidFill>
                    <a:srgbClr val="000000"/>
                  </a:solidFill>
                </a:uFill>
                <a:latin typeface="Arial"/>
                <a:cs typeface="Arial"/>
              </a:rPr>
              <a:t>Compilation of the </a:t>
            </a:r>
            <a:r>
              <a:rPr dirty="0" u="heavy" sz="1200" spc="-50" b="1" i="1">
                <a:uFill>
                  <a:solidFill>
                    <a:srgbClr val="000000"/>
                  </a:solidFill>
                </a:uFill>
                <a:latin typeface="Arial"/>
                <a:cs typeface="Arial"/>
              </a:rPr>
              <a:t>Qur‟an </a:t>
            </a:r>
            <a:r>
              <a:rPr dirty="0" u="heavy" sz="1200" b="1" i="1">
                <a:uFill>
                  <a:solidFill>
                    <a:srgbClr val="000000"/>
                  </a:solidFill>
                </a:uFill>
                <a:latin typeface="Arial"/>
                <a:cs typeface="Arial"/>
              </a:rPr>
              <a:t>into </a:t>
            </a:r>
            <a:r>
              <a:rPr dirty="0" u="heavy" sz="1200" spc="-5" b="1" i="1">
                <a:uFill>
                  <a:solidFill>
                    <a:srgbClr val="000000"/>
                  </a:solidFill>
                </a:uFill>
                <a:latin typeface="Arial"/>
                <a:cs typeface="Arial"/>
              </a:rPr>
              <a:t>5</a:t>
            </a:r>
            <a:r>
              <a:rPr dirty="0" u="heavy" sz="1200" spc="60" b="1" i="1">
                <a:uFill>
                  <a:solidFill>
                    <a:srgbClr val="000000"/>
                  </a:solidFill>
                </a:uFill>
                <a:latin typeface="Arial"/>
                <a:cs typeface="Arial"/>
              </a:rPr>
              <a:t> </a:t>
            </a:r>
            <a:r>
              <a:rPr dirty="0" u="heavy" sz="1200" spc="-5" b="1" i="1">
                <a:uFill>
                  <a:solidFill>
                    <a:srgbClr val="000000"/>
                  </a:solidFill>
                </a:uFill>
                <a:latin typeface="Arial"/>
                <a:cs typeface="Arial"/>
              </a:rPr>
              <a:t>stages:</a:t>
            </a:r>
            <a:endParaRPr sz="1200">
              <a:latin typeface="Arial"/>
              <a:cs typeface="Arial"/>
            </a:endParaRPr>
          </a:p>
          <a:p>
            <a:pPr>
              <a:lnSpc>
                <a:spcPct val="100000"/>
              </a:lnSpc>
              <a:spcBef>
                <a:spcPts val="35"/>
              </a:spcBef>
            </a:pPr>
            <a:endParaRPr sz="1200">
              <a:latin typeface="Arial"/>
              <a:cs typeface="Arial"/>
            </a:endParaRPr>
          </a:p>
          <a:p>
            <a:pPr algn="just" marL="508000" marR="71120" indent="-229235">
              <a:lnSpc>
                <a:spcPts val="1380"/>
              </a:lnSpc>
            </a:pPr>
            <a:r>
              <a:rPr dirty="0" sz="1200">
                <a:latin typeface="Arial"/>
                <a:cs typeface="Arial"/>
              </a:rPr>
              <a:t>1. It </a:t>
            </a:r>
            <a:r>
              <a:rPr dirty="0" sz="1200" spc="-10">
                <a:latin typeface="Arial"/>
                <a:cs typeface="Arial"/>
              </a:rPr>
              <a:t>was </a:t>
            </a:r>
            <a:r>
              <a:rPr dirty="0" sz="1200" spc="-5">
                <a:latin typeface="Arial"/>
                <a:cs typeface="Arial"/>
              </a:rPr>
              <a:t>during </a:t>
            </a:r>
            <a:r>
              <a:rPr dirty="0" sz="1200">
                <a:latin typeface="Arial"/>
                <a:cs typeface="Arial"/>
              </a:rPr>
              <a:t>the time </a:t>
            </a:r>
            <a:r>
              <a:rPr dirty="0" sz="1200" spc="-5">
                <a:latin typeface="Arial"/>
                <a:cs typeface="Arial"/>
              </a:rPr>
              <a:t>of </a:t>
            </a:r>
            <a:r>
              <a:rPr dirty="0" sz="1200">
                <a:latin typeface="Arial"/>
                <a:cs typeface="Arial"/>
              </a:rPr>
              <a:t>the </a:t>
            </a:r>
            <a:r>
              <a:rPr dirty="0" sz="1200" spc="-5">
                <a:latin typeface="Arial"/>
                <a:cs typeface="Arial"/>
              </a:rPr>
              <a:t>holy prophet (s.a.w). </a:t>
            </a:r>
            <a:r>
              <a:rPr dirty="0" sz="1200">
                <a:latin typeface="Arial"/>
                <a:cs typeface="Arial"/>
              </a:rPr>
              <a:t>The </a:t>
            </a:r>
            <a:r>
              <a:rPr dirty="0" sz="1200" spc="-5">
                <a:latin typeface="Arial"/>
                <a:cs typeface="Arial"/>
              </a:rPr>
              <a:t>latter had several scribes </a:t>
            </a:r>
            <a:r>
              <a:rPr dirty="0" sz="1200" spc="-10">
                <a:latin typeface="Arial"/>
                <a:cs typeface="Arial"/>
              </a:rPr>
              <a:t>who  </a:t>
            </a:r>
            <a:r>
              <a:rPr dirty="0" sz="1200" spc="-5">
                <a:latin typeface="Arial"/>
                <a:cs typeface="Arial"/>
              </a:rPr>
              <a:t>would jot down in their books or records verses revealed by Allah and recited by the  prophet (s.a.w). These records were known as Musnad. </a:t>
            </a:r>
            <a:r>
              <a:rPr dirty="0" sz="1200">
                <a:latin typeface="Arial"/>
                <a:cs typeface="Arial"/>
              </a:rPr>
              <a:t>For </a:t>
            </a:r>
            <a:r>
              <a:rPr dirty="0" sz="1200" spc="-5">
                <a:latin typeface="Arial"/>
                <a:cs typeface="Arial"/>
              </a:rPr>
              <a:t>example, in the Musnad  of</a:t>
            </a:r>
            <a:r>
              <a:rPr dirty="0" sz="1200" spc="260">
                <a:latin typeface="Arial"/>
                <a:cs typeface="Arial"/>
              </a:rPr>
              <a:t> </a:t>
            </a:r>
            <a:r>
              <a:rPr dirty="0" sz="1200" spc="-5">
                <a:latin typeface="Arial"/>
                <a:cs typeface="Arial"/>
              </a:rPr>
              <a:t>Zaid</a:t>
            </a:r>
            <a:r>
              <a:rPr dirty="0" sz="1200" spc="240">
                <a:latin typeface="Arial"/>
                <a:cs typeface="Arial"/>
              </a:rPr>
              <a:t> </a:t>
            </a:r>
            <a:r>
              <a:rPr dirty="0" sz="1200" spc="-5">
                <a:latin typeface="Arial"/>
                <a:cs typeface="Arial"/>
              </a:rPr>
              <a:t>bin</a:t>
            </a:r>
            <a:r>
              <a:rPr dirty="0" sz="1200" spc="225">
                <a:latin typeface="Arial"/>
                <a:cs typeface="Arial"/>
              </a:rPr>
              <a:t> </a:t>
            </a:r>
            <a:r>
              <a:rPr dirty="0" sz="1200" spc="-5">
                <a:latin typeface="Arial"/>
                <a:cs typeface="Arial"/>
              </a:rPr>
              <a:t>Thabit,</a:t>
            </a:r>
            <a:r>
              <a:rPr dirty="0" sz="1200" spc="235">
                <a:latin typeface="Arial"/>
                <a:cs typeface="Arial"/>
              </a:rPr>
              <a:t> </a:t>
            </a:r>
            <a:r>
              <a:rPr dirty="0" sz="1200" spc="-5">
                <a:latin typeface="Arial"/>
                <a:cs typeface="Arial"/>
              </a:rPr>
              <a:t>there</a:t>
            </a:r>
            <a:r>
              <a:rPr dirty="0" sz="1200" spc="250">
                <a:latin typeface="Arial"/>
                <a:cs typeface="Arial"/>
              </a:rPr>
              <a:t> </a:t>
            </a:r>
            <a:r>
              <a:rPr dirty="0" sz="1200" spc="-5">
                <a:latin typeface="Arial"/>
                <a:cs typeface="Arial"/>
              </a:rPr>
              <a:t>were</a:t>
            </a:r>
            <a:r>
              <a:rPr dirty="0" sz="1200" spc="245">
                <a:latin typeface="Arial"/>
                <a:cs typeface="Arial"/>
              </a:rPr>
              <a:t> </a:t>
            </a:r>
            <a:r>
              <a:rPr dirty="0" sz="1200" spc="-5">
                <a:latin typeface="Arial"/>
                <a:cs typeface="Arial"/>
              </a:rPr>
              <a:t>only</a:t>
            </a:r>
            <a:r>
              <a:rPr dirty="0" sz="1200" spc="229">
                <a:latin typeface="Arial"/>
                <a:cs typeface="Arial"/>
              </a:rPr>
              <a:t> </a:t>
            </a:r>
            <a:r>
              <a:rPr dirty="0" sz="1200" spc="-5">
                <a:latin typeface="Arial"/>
                <a:cs typeface="Arial"/>
              </a:rPr>
              <a:t>verses</a:t>
            </a:r>
            <a:r>
              <a:rPr dirty="0" sz="1200" spc="245">
                <a:latin typeface="Arial"/>
                <a:cs typeface="Arial"/>
              </a:rPr>
              <a:t> </a:t>
            </a:r>
            <a:r>
              <a:rPr dirty="0" sz="1200" spc="-5">
                <a:latin typeface="Arial"/>
                <a:cs typeface="Arial"/>
              </a:rPr>
              <a:t>heard</a:t>
            </a:r>
            <a:r>
              <a:rPr dirty="0" sz="1200" spc="245">
                <a:latin typeface="Arial"/>
                <a:cs typeface="Arial"/>
              </a:rPr>
              <a:t> </a:t>
            </a:r>
            <a:r>
              <a:rPr dirty="0" sz="1200" spc="-5">
                <a:latin typeface="Arial"/>
                <a:cs typeface="Arial"/>
              </a:rPr>
              <a:t>by</a:t>
            </a:r>
            <a:r>
              <a:rPr dirty="0" sz="1200" spc="240">
                <a:latin typeface="Arial"/>
                <a:cs typeface="Arial"/>
              </a:rPr>
              <a:t> </a:t>
            </a:r>
            <a:r>
              <a:rPr dirty="0" sz="1200" spc="-10">
                <a:latin typeface="Arial"/>
                <a:cs typeface="Arial"/>
              </a:rPr>
              <a:t>him</a:t>
            </a:r>
            <a:r>
              <a:rPr dirty="0" sz="1200" spc="254">
                <a:latin typeface="Arial"/>
                <a:cs typeface="Arial"/>
              </a:rPr>
              <a:t> </a:t>
            </a:r>
            <a:r>
              <a:rPr dirty="0" sz="1200" spc="-5">
                <a:latin typeface="Arial"/>
                <a:cs typeface="Arial"/>
              </a:rPr>
              <a:t>directly</a:t>
            </a:r>
            <a:r>
              <a:rPr dirty="0" sz="1200" spc="235">
                <a:latin typeface="Arial"/>
                <a:cs typeface="Arial"/>
              </a:rPr>
              <a:t> </a:t>
            </a:r>
            <a:r>
              <a:rPr dirty="0" sz="1200">
                <a:latin typeface="Arial"/>
                <a:cs typeface="Arial"/>
              </a:rPr>
              <a:t>from</a:t>
            </a:r>
            <a:r>
              <a:rPr dirty="0" sz="1200" spc="245">
                <a:latin typeface="Arial"/>
                <a:cs typeface="Arial"/>
              </a:rPr>
              <a:t> </a:t>
            </a:r>
            <a:r>
              <a:rPr dirty="0" sz="1200" spc="-5">
                <a:latin typeface="Arial"/>
                <a:cs typeface="Arial"/>
              </a:rPr>
              <a:t>the</a:t>
            </a:r>
            <a:r>
              <a:rPr dirty="0" sz="1200" spc="235">
                <a:latin typeface="Arial"/>
                <a:cs typeface="Arial"/>
              </a:rPr>
              <a:t> </a:t>
            </a:r>
            <a:r>
              <a:rPr dirty="0" sz="1200" spc="-5">
                <a:latin typeface="Arial"/>
                <a:cs typeface="Arial"/>
              </a:rPr>
              <a:t>prophet</a:t>
            </a:r>
            <a:endParaRPr sz="1200">
              <a:latin typeface="Arial"/>
              <a:cs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9338310"/>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469900" marR="10795">
              <a:lnSpc>
                <a:spcPts val="1380"/>
              </a:lnSpc>
            </a:pPr>
            <a:r>
              <a:rPr dirty="0" sz="1200" spc="-5">
                <a:latin typeface="Arial"/>
                <a:cs typeface="Arial"/>
              </a:rPr>
              <a:t>(s.a.w). </a:t>
            </a:r>
            <a:r>
              <a:rPr dirty="0" sz="1200">
                <a:latin typeface="Arial"/>
                <a:cs typeface="Arial"/>
              </a:rPr>
              <a:t>The </a:t>
            </a:r>
            <a:r>
              <a:rPr dirty="0" sz="1200" spc="-5">
                <a:latin typeface="Arial"/>
                <a:cs typeface="Arial"/>
              </a:rPr>
              <a:t>prophet also </a:t>
            </a:r>
            <a:r>
              <a:rPr dirty="0" sz="1200">
                <a:latin typeface="Arial"/>
                <a:cs typeface="Arial"/>
              </a:rPr>
              <a:t>used to </a:t>
            </a:r>
            <a:r>
              <a:rPr dirty="0" sz="1200" spc="-5">
                <a:latin typeface="Arial"/>
                <a:cs typeface="Arial"/>
              </a:rPr>
              <a:t>encourage his </a:t>
            </a:r>
            <a:r>
              <a:rPr dirty="0" sz="1200">
                <a:latin typeface="Arial"/>
                <a:cs typeface="Arial"/>
              </a:rPr>
              <a:t>Ashab to </a:t>
            </a:r>
            <a:r>
              <a:rPr dirty="0" sz="1200" spc="-5">
                <a:latin typeface="Arial"/>
                <a:cs typeface="Arial"/>
              </a:rPr>
              <a:t>learn the Qur‘an </a:t>
            </a:r>
            <a:r>
              <a:rPr dirty="0" sz="1200">
                <a:latin typeface="Arial"/>
                <a:cs typeface="Arial"/>
              </a:rPr>
              <a:t>by heart  </a:t>
            </a:r>
            <a:r>
              <a:rPr dirty="0" sz="1200" spc="-5">
                <a:latin typeface="Arial"/>
                <a:cs typeface="Arial"/>
              </a:rPr>
              <a:t>and </a:t>
            </a:r>
            <a:r>
              <a:rPr dirty="0" sz="1200">
                <a:latin typeface="Arial"/>
                <a:cs typeface="Arial"/>
              </a:rPr>
              <a:t>there </a:t>
            </a:r>
            <a:r>
              <a:rPr dirty="0" sz="1200" spc="-5">
                <a:latin typeface="Arial"/>
                <a:cs typeface="Arial"/>
              </a:rPr>
              <a:t>were Qur‘anic</a:t>
            </a:r>
            <a:r>
              <a:rPr dirty="0" sz="1200" spc="-15">
                <a:latin typeface="Arial"/>
                <a:cs typeface="Arial"/>
              </a:rPr>
              <a:t> </a:t>
            </a:r>
            <a:r>
              <a:rPr dirty="0" sz="1200" spc="-5">
                <a:latin typeface="Arial"/>
                <a:cs typeface="Arial"/>
              </a:rPr>
              <a:t>competition.</a:t>
            </a:r>
            <a:endParaRPr sz="1200">
              <a:latin typeface="Arial"/>
              <a:cs typeface="Arial"/>
            </a:endParaRPr>
          </a:p>
          <a:p>
            <a:pPr algn="just" marL="469900" marR="6350" indent="-228600">
              <a:lnSpc>
                <a:spcPts val="1380"/>
              </a:lnSpc>
              <a:spcBef>
                <a:spcPts val="5"/>
              </a:spcBef>
              <a:buAutoNum type="arabicPeriod" startAt="2"/>
              <a:tabLst>
                <a:tab pos="470534" algn="l"/>
              </a:tabLst>
            </a:pPr>
            <a:r>
              <a:rPr dirty="0" sz="1200">
                <a:latin typeface="Arial"/>
                <a:cs typeface="Arial"/>
              </a:rPr>
              <a:t>It </a:t>
            </a:r>
            <a:r>
              <a:rPr dirty="0" sz="1200" spc="-10">
                <a:latin typeface="Arial"/>
                <a:cs typeface="Arial"/>
              </a:rPr>
              <a:t>was </a:t>
            </a:r>
            <a:r>
              <a:rPr dirty="0" sz="1200" spc="-5">
                <a:latin typeface="Arial"/>
                <a:cs typeface="Arial"/>
              </a:rPr>
              <a:t>during </a:t>
            </a:r>
            <a:r>
              <a:rPr dirty="0" sz="1200" spc="5">
                <a:latin typeface="Arial"/>
                <a:cs typeface="Arial"/>
              </a:rPr>
              <a:t>the </a:t>
            </a:r>
            <a:r>
              <a:rPr dirty="0" sz="1200" spc="-5">
                <a:latin typeface="Arial"/>
                <a:cs typeface="Arial"/>
              </a:rPr>
              <a:t>caliphate of Abu </a:t>
            </a:r>
            <a:r>
              <a:rPr dirty="0" sz="1200">
                <a:latin typeface="Arial"/>
                <a:cs typeface="Arial"/>
              </a:rPr>
              <a:t>Bakr when </a:t>
            </a:r>
            <a:r>
              <a:rPr dirty="0" sz="1200" spc="-5">
                <a:latin typeface="Arial"/>
                <a:cs typeface="Arial"/>
              </a:rPr>
              <a:t>700 huffaz Qur‘an were killed in </a:t>
            </a:r>
            <a:r>
              <a:rPr dirty="0" sz="1200">
                <a:latin typeface="Arial"/>
                <a:cs typeface="Arial"/>
              </a:rPr>
              <a:t>the  </a:t>
            </a:r>
            <a:r>
              <a:rPr dirty="0" sz="1200" spc="-5">
                <a:latin typeface="Arial"/>
                <a:cs typeface="Arial"/>
              </a:rPr>
              <a:t>battle of Yamama. </a:t>
            </a:r>
            <a:r>
              <a:rPr dirty="0" sz="1200" spc="-10">
                <a:latin typeface="Arial"/>
                <a:cs typeface="Arial"/>
              </a:rPr>
              <a:t>Hazrat </a:t>
            </a:r>
            <a:r>
              <a:rPr dirty="0" sz="1200" spc="-5">
                <a:latin typeface="Arial"/>
                <a:cs typeface="Arial"/>
              </a:rPr>
              <a:t>Umar </a:t>
            </a:r>
            <a:r>
              <a:rPr dirty="0" sz="1200" spc="-10">
                <a:latin typeface="Arial"/>
                <a:cs typeface="Arial"/>
              </a:rPr>
              <a:t>was </a:t>
            </a:r>
            <a:r>
              <a:rPr dirty="0" sz="1200" spc="-5">
                <a:latin typeface="Arial"/>
                <a:cs typeface="Arial"/>
              </a:rPr>
              <a:t>anxious concerning </a:t>
            </a:r>
            <a:r>
              <a:rPr dirty="0" sz="1200">
                <a:latin typeface="Arial"/>
                <a:cs typeface="Arial"/>
              </a:rPr>
              <a:t>the </a:t>
            </a:r>
            <a:r>
              <a:rPr dirty="0" sz="1200" spc="-5">
                <a:latin typeface="Arial"/>
                <a:cs typeface="Arial"/>
              </a:rPr>
              <a:t>loss of the holy Qur‘an,  not </a:t>
            </a:r>
            <a:r>
              <a:rPr dirty="0" sz="1200">
                <a:latin typeface="Arial"/>
                <a:cs typeface="Arial"/>
              </a:rPr>
              <a:t>for </a:t>
            </a:r>
            <a:r>
              <a:rPr dirty="0" sz="1200" spc="-5">
                <a:latin typeface="Arial"/>
                <a:cs typeface="Arial"/>
              </a:rPr>
              <a:t>his generation but </a:t>
            </a:r>
            <a:r>
              <a:rPr dirty="0" sz="1200">
                <a:latin typeface="Arial"/>
                <a:cs typeface="Arial"/>
              </a:rPr>
              <a:t>for future </a:t>
            </a:r>
            <a:r>
              <a:rPr dirty="0" sz="1200" spc="-5">
                <a:latin typeface="Arial"/>
                <a:cs typeface="Arial"/>
              </a:rPr>
              <a:t>ones. He </a:t>
            </a:r>
            <a:r>
              <a:rPr dirty="0" sz="1200">
                <a:latin typeface="Arial"/>
                <a:cs typeface="Arial"/>
              </a:rPr>
              <a:t>then </a:t>
            </a:r>
            <a:r>
              <a:rPr dirty="0" sz="1200" spc="-5">
                <a:latin typeface="Arial"/>
                <a:cs typeface="Arial"/>
              </a:rPr>
              <a:t>urged Abu Bakr </a:t>
            </a:r>
            <a:r>
              <a:rPr dirty="0" sz="1200">
                <a:latin typeface="Arial"/>
                <a:cs typeface="Arial"/>
              </a:rPr>
              <a:t>to </a:t>
            </a:r>
            <a:r>
              <a:rPr dirty="0" sz="1200" spc="-5">
                <a:latin typeface="Arial"/>
                <a:cs typeface="Arial"/>
              </a:rPr>
              <a:t>compile </a:t>
            </a:r>
            <a:r>
              <a:rPr dirty="0" sz="1200" spc="-10">
                <a:latin typeface="Arial"/>
                <a:cs typeface="Arial"/>
              </a:rPr>
              <a:t>the  </a:t>
            </a:r>
            <a:r>
              <a:rPr dirty="0" sz="1200" spc="-5">
                <a:latin typeface="Arial"/>
                <a:cs typeface="Arial"/>
              </a:rPr>
              <a:t>verses into a book form. </a:t>
            </a:r>
            <a:r>
              <a:rPr dirty="0" sz="1200" spc="10">
                <a:latin typeface="Arial"/>
                <a:cs typeface="Arial"/>
              </a:rPr>
              <a:t>With </a:t>
            </a:r>
            <a:r>
              <a:rPr dirty="0" sz="1200">
                <a:latin typeface="Arial"/>
                <a:cs typeface="Arial"/>
              </a:rPr>
              <a:t>much </a:t>
            </a:r>
            <a:r>
              <a:rPr dirty="0" sz="1200" spc="-5">
                <a:latin typeface="Arial"/>
                <a:cs typeface="Arial"/>
              </a:rPr>
              <a:t>reluctance and consultation, he agreed </a:t>
            </a:r>
            <a:r>
              <a:rPr dirty="0" sz="1200">
                <a:latin typeface="Arial"/>
                <a:cs typeface="Arial"/>
              </a:rPr>
              <a:t>to </a:t>
            </a:r>
            <a:r>
              <a:rPr dirty="0" sz="1200" spc="-10">
                <a:latin typeface="Arial"/>
                <a:cs typeface="Arial"/>
              </a:rPr>
              <a:t>go  </a:t>
            </a:r>
            <a:r>
              <a:rPr dirty="0" sz="1200" spc="-5">
                <a:latin typeface="Arial"/>
                <a:cs typeface="Arial"/>
              </a:rPr>
              <a:t>ahead and he appointed Zaid bin Thabit </a:t>
            </a:r>
            <a:r>
              <a:rPr dirty="0" sz="1200">
                <a:latin typeface="Arial"/>
                <a:cs typeface="Arial"/>
              </a:rPr>
              <a:t>for the task. </a:t>
            </a:r>
            <a:r>
              <a:rPr dirty="0" sz="1200" spc="-5">
                <a:latin typeface="Arial"/>
                <a:cs typeface="Arial"/>
              </a:rPr>
              <a:t>He </a:t>
            </a:r>
            <a:r>
              <a:rPr dirty="0" sz="1200" spc="-10">
                <a:latin typeface="Arial"/>
                <a:cs typeface="Arial"/>
              </a:rPr>
              <a:t>was </a:t>
            </a:r>
            <a:r>
              <a:rPr dirty="0" sz="1200" spc="-5">
                <a:latin typeface="Arial"/>
                <a:cs typeface="Arial"/>
              </a:rPr>
              <a:t>authorised </a:t>
            </a:r>
            <a:r>
              <a:rPr dirty="0" sz="1200">
                <a:latin typeface="Arial"/>
                <a:cs typeface="Arial"/>
              </a:rPr>
              <a:t>to </a:t>
            </a:r>
            <a:r>
              <a:rPr dirty="0" sz="1200" spc="-5">
                <a:latin typeface="Arial"/>
                <a:cs typeface="Arial"/>
              </a:rPr>
              <a:t>collect all  verses </a:t>
            </a:r>
            <a:r>
              <a:rPr dirty="0" sz="1200">
                <a:latin typeface="Arial"/>
                <a:cs typeface="Arial"/>
              </a:rPr>
              <a:t>kept by </a:t>
            </a:r>
            <a:r>
              <a:rPr dirty="0" sz="1200" spc="-5">
                <a:latin typeface="Arial"/>
                <a:cs typeface="Arial"/>
              </a:rPr>
              <a:t>all </a:t>
            </a:r>
            <a:r>
              <a:rPr dirty="0" sz="1200">
                <a:latin typeface="Arial"/>
                <a:cs typeface="Arial"/>
              </a:rPr>
              <a:t>Ashab and he </a:t>
            </a:r>
            <a:r>
              <a:rPr dirty="0" sz="1200" spc="-5">
                <a:latin typeface="Arial"/>
                <a:cs typeface="Arial"/>
              </a:rPr>
              <a:t>made the first compiled verses of the Qur‘an in </a:t>
            </a:r>
            <a:r>
              <a:rPr dirty="0" sz="1200">
                <a:latin typeface="Arial"/>
                <a:cs typeface="Arial"/>
              </a:rPr>
              <a:t>a  </a:t>
            </a:r>
            <a:r>
              <a:rPr dirty="0" sz="1200" spc="-5">
                <a:latin typeface="Arial"/>
                <a:cs typeface="Arial"/>
              </a:rPr>
              <a:t>Book </a:t>
            </a:r>
            <a:r>
              <a:rPr dirty="0" sz="1200">
                <a:latin typeface="Arial"/>
                <a:cs typeface="Arial"/>
              </a:rPr>
              <a:t>form. </a:t>
            </a:r>
            <a:r>
              <a:rPr dirty="0" sz="1200" spc="-10">
                <a:latin typeface="Arial"/>
                <a:cs typeface="Arial"/>
              </a:rPr>
              <a:t>He </a:t>
            </a:r>
            <a:r>
              <a:rPr dirty="0" sz="1200" spc="-5">
                <a:latin typeface="Arial"/>
                <a:cs typeface="Arial"/>
              </a:rPr>
              <a:t>followed </a:t>
            </a:r>
            <a:r>
              <a:rPr dirty="0" sz="1200">
                <a:latin typeface="Arial"/>
                <a:cs typeface="Arial"/>
              </a:rPr>
              <a:t>four </a:t>
            </a:r>
            <a:r>
              <a:rPr dirty="0" sz="1200" spc="-5">
                <a:latin typeface="Arial"/>
                <a:cs typeface="Arial"/>
              </a:rPr>
              <a:t>steps. First he verified the verse with his </a:t>
            </a:r>
            <a:r>
              <a:rPr dirty="0" sz="1200" spc="-10">
                <a:latin typeface="Arial"/>
                <a:cs typeface="Arial"/>
              </a:rPr>
              <a:t>own </a:t>
            </a:r>
            <a:r>
              <a:rPr dirty="0" sz="1200" spc="-5">
                <a:latin typeface="Arial"/>
                <a:cs typeface="Arial"/>
              </a:rPr>
              <a:t>memory.  Secondly, Sayyidna </a:t>
            </a:r>
            <a:r>
              <a:rPr dirty="0" sz="1200">
                <a:latin typeface="Arial"/>
                <a:cs typeface="Arial"/>
              </a:rPr>
              <a:t>Umar, </a:t>
            </a:r>
            <a:r>
              <a:rPr dirty="0" sz="1200" spc="-5">
                <a:latin typeface="Arial"/>
                <a:cs typeface="Arial"/>
              </a:rPr>
              <a:t>Radi-Allahu anhu, </a:t>
            </a:r>
            <a:r>
              <a:rPr dirty="0" sz="1200" spc="-10">
                <a:latin typeface="Arial"/>
                <a:cs typeface="Arial"/>
              </a:rPr>
              <a:t>who was </a:t>
            </a:r>
            <a:r>
              <a:rPr dirty="0" sz="1200" spc="-5">
                <a:latin typeface="Arial"/>
                <a:cs typeface="Arial"/>
              </a:rPr>
              <a:t>a </a:t>
            </a:r>
            <a:r>
              <a:rPr dirty="0" sz="1200">
                <a:latin typeface="Arial"/>
                <a:cs typeface="Arial"/>
              </a:rPr>
              <a:t>Hafiz, </a:t>
            </a:r>
            <a:r>
              <a:rPr dirty="0" sz="1200" spc="-5">
                <a:latin typeface="Arial"/>
                <a:cs typeface="Arial"/>
              </a:rPr>
              <a:t>was also in charge of  </a:t>
            </a:r>
            <a:r>
              <a:rPr dirty="0" sz="1200">
                <a:latin typeface="Arial"/>
                <a:cs typeface="Arial"/>
              </a:rPr>
              <a:t>the </a:t>
            </a:r>
            <a:r>
              <a:rPr dirty="0" sz="1200" spc="-5">
                <a:latin typeface="Arial"/>
                <a:cs typeface="Arial"/>
              </a:rPr>
              <a:t>project and </a:t>
            </a:r>
            <a:r>
              <a:rPr dirty="0" sz="1200" spc="-10">
                <a:latin typeface="Arial"/>
                <a:cs typeface="Arial"/>
              </a:rPr>
              <a:t>he </a:t>
            </a:r>
            <a:r>
              <a:rPr dirty="0" sz="1200" spc="-5">
                <a:latin typeface="Arial"/>
                <a:cs typeface="Arial"/>
              </a:rPr>
              <a:t>verified </a:t>
            </a:r>
            <a:r>
              <a:rPr dirty="0" sz="1200">
                <a:latin typeface="Arial"/>
                <a:cs typeface="Arial"/>
              </a:rPr>
              <a:t>it, </a:t>
            </a:r>
            <a:r>
              <a:rPr dirty="0" sz="1200" spc="-5">
                <a:latin typeface="Arial"/>
                <a:cs typeface="Arial"/>
              </a:rPr>
              <a:t>too. Thirdly, before </a:t>
            </a:r>
            <a:r>
              <a:rPr dirty="0" sz="1200">
                <a:latin typeface="Arial"/>
                <a:cs typeface="Arial"/>
              </a:rPr>
              <a:t>the </a:t>
            </a:r>
            <a:r>
              <a:rPr dirty="0" sz="1200" spc="-5">
                <a:latin typeface="Arial"/>
                <a:cs typeface="Arial"/>
              </a:rPr>
              <a:t>verse could be accepted, the </a:t>
            </a:r>
            <a:r>
              <a:rPr dirty="0" sz="1200" spc="-10">
                <a:latin typeface="Arial"/>
                <a:cs typeface="Arial"/>
              </a:rPr>
              <a:t>two  </a:t>
            </a:r>
            <a:r>
              <a:rPr dirty="0" sz="1200" spc="-5">
                <a:latin typeface="Arial"/>
                <a:cs typeface="Arial"/>
              </a:rPr>
              <a:t>reliable witnesses had </a:t>
            </a:r>
            <a:r>
              <a:rPr dirty="0" sz="1200">
                <a:latin typeface="Arial"/>
                <a:cs typeface="Arial"/>
              </a:rPr>
              <a:t>to testify that it </a:t>
            </a:r>
            <a:r>
              <a:rPr dirty="0" sz="1200" spc="-5">
                <a:latin typeface="Arial"/>
                <a:cs typeface="Arial"/>
              </a:rPr>
              <a:t>was written in </a:t>
            </a:r>
            <a:r>
              <a:rPr dirty="0" sz="1200">
                <a:latin typeface="Arial"/>
                <a:cs typeface="Arial"/>
              </a:rPr>
              <a:t>the </a:t>
            </a:r>
            <a:r>
              <a:rPr dirty="0" sz="1200" spc="-5">
                <a:latin typeface="Arial"/>
                <a:cs typeface="Arial"/>
              </a:rPr>
              <a:t>presence of Prophet  Muhammad Sall-Allahu alayhi </a:t>
            </a:r>
            <a:r>
              <a:rPr dirty="0" sz="1200" spc="-10">
                <a:latin typeface="Arial"/>
                <a:cs typeface="Arial"/>
              </a:rPr>
              <a:t>wa </a:t>
            </a:r>
            <a:r>
              <a:rPr dirty="0" sz="1200" spc="-5">
                <a:latin typeface="Arial"/>
                <a:cs typeface="Arial"/>
              </a:rPr>
              <a:t>sallam. Fourthly, </a:t>
            </a:r>
            <a:r>
              <a:rPr dirty="0" sz="1200">
                <a:latin typeface="Arial"/>
                <a:cs typeface="Arial"/>
              </a:rPr>
              <a:t>after </a:t>
            </a:r>
            <a:r>
              <a:rPr dirty="0" sz="1200" spc="-5">
                <a:latin typeface="Arial"/>
                <a:cs typeface="Arial"/>
              </a:rPr>
              <a:t>that, written verses were  collated with </a:t>
            </a:r>
            <a:r>
              <a:rPr dirty="0" sz="1200">
                <a:latin typeface="Arial"/>
                <a:cs typeface="Arial"/>
              </a:rPr>
              <a:t>the </a:t>
            </a:r>
            <a:r>
              <a:rPr dirty="0" sz="1200" spc="-5">
                <a:latin typeface="Arial"/>
                <a:cs typeface="Arial"/>
              </a:rPr>
              <a:t>collections of different Companions. </a:t>
            </a:r>
            <a:r>
              <a:rPr dirty="0" sz="1200">
                <a:latin typeface="Arial"/>
                <a:cs typeface="Arial"/>
              </a:rPr>
              <a:t>It </a:t>
            </a:r>
            <a:r>
              <a:rPr dirty="0" sz="1200" spc="-10">
                <a:latin typeface="Arial"/>
                <a:cs typeface="Arial"/>
              </a:rPr>
              <a:t>was </a:t>
            </a:r>
            <a:r>
              <a:rPr dirty="0" sz="1200" spc="-5">
                <a:latin typeface="Arial"/>
                <a:cs typeface="Arial"/>
              </a:rPr>
              <a:t>then kept with</a:t>
            </a:r>
            <a:r>
              <a:rPr dirty="0" sz="1200" spc="100">
                <a:latin typeface="Arial"/>
                <a:cs typeface="Arial"/>
              </a:rPr>
              <a:t> </a:t>
            </a:r>
            <a:r>
              <a:rPr dirty="0" sz="1200" spc="-5">
                <a:latin typeface="Arial"/>
                <a:cs typeface="Arial"/>
              </a:rPr>
              <a:t>Hazrat</a:t>
            </a:r>
            <a:endParaRPr sz="1200">
              <a:latin typeface="Arial"/>
              <a:cs typeface="Arial"/>
            </a:endParaRPr>
          </a:p>
          <a:p>
            <a:pPr algn="just" marL="469900">
              <a:lnSpc>
                <a:spcPts val="1315"/>
              </a:lnSpc>
            </a:pPr>
            <a:r>
              <a:rPr dirty="0" sz="1200" spc="-5">
                <a:latin typeface="Arial"/>
                <a:cs typeface="Arial"/>
              </a:rPr>
              <a:t>Hafsa (ra).</a:t>
            </a:r>
            <a:endParaRPr sz="1200">
              <a:latin typeface="Arial"/>
              <a:cs typeface="Arial"/>
            </a:endParaRPr>
          </a:p>
          <a:p>
            <a:pPr algn="just" marL="469900" marR="8890" indent="-228600">
              <a:lnSpc>
                <a:spcPts val="1380"/>
              </a:lnSpc>
              <a:spcBef>
                <a:spcPts val="65"/>
              </a:spcBef>
              <a:buAutoNum type="arabicPeriod" startAt="3"/>
              <a:tabLst>
                <a:tab pos="470534" algn="l"/>
              </a:tabLst>
            </a:pPr>
            <a:r>
              <a:rPr dirty="0" sz="1200" spc="-5">
                <a:latin typeface="Arial"/>
                <a:cs typeface="Arial"/>
              </a:rPr>
              <a:t>There </a:t>
            </a:r>
            <a:r>
              <a:rPr dirty="0" sz="1200" spc="-10">
                <a:latin typeface="Arial"/>
                <a:cs typeface="Arial"/>
              </a:rPr>
              <a:t>was </a:t>
            </a:r>
            <a:r>
              <a:rPr dirty="0" sz="1200" spc="-5">
                <a:latin typeface="Arial"/>
                <a:cs typeface="Arial"/>
              </a:rPr>
              <a:t>a discussion in </a:t>
            </a:r>
            <a:r>
              <a:rPr dirty="0" sz="1200">
                <a:latin typeface="Arial"/>
                <a:cs typeface="Arial"/>
              </a:rPr>
              <a:t>the </a:t>
            </a:r>
            <a:r>
              <a:rPr dirty="0" sz="1200" spc="5">
                <a:latin typeface="Arial"/>
                <a:cs typeface="Arial"/>
              </a:rPr>
              <a:t>army </a:t>
            </a:r>
            <a:r>
              <a:rPr dirty="0" sz="1200" spc="-5">
                <a:latin typeface="Arial"/>
                <a:cs typeface="Arial"/>
              </a:rPr>
              <a:t>of Hazrat Uthman concerning </a:t>
            </a:r>
            <a:r>
              <a:rPr dirty="0" sz="1200">
                <a:latin typeface="Arial"/>
                <a:cs typeface="Arial"/>
              </a:rPr>
              <a:t>the </a:t>
            </a:r>
            <a:r>
              <a:rPr dirty="0" sz="1200" spc="-5">
                <a:latin typeface="Arial"/>
                <a:cs typeface="Arial"/>
              </a:rPr>
              <a:t>recitation of the  Qur‘an </a:t>
            </a:r>
            <a:r>
              <a:rPr dirty="0" sz="1200">
                <a:latin typeface="Arial"/>
                <a:cs typeface="Arial"/>
              </a:rPr>
              <a:t>by the </a:t>
            </a:r>
            <a:r>
              <a:rPr dirty="0" sz="1200" spc="-5">
                <a:latin typeface="Arial"/>
                <a:cs typeface="Arial"/>
              </a:rPr>
              <a:t>Yemenites and the Syrians. He gathered </a:t>
            </a:r>
            <a:r>
              <a:rPr dirty="0" sz="1200">
                <a:latin typeface="Arial"/>
                <a:cs typeface="Arial"/>
              </a:rPr>
              <a:t>and </a:t>
            </a:r>
            <a:r>
              <a:rPr dirty="0" sz="1200" spc="-5">
                <a:latin typeface="Arial"/>
                <a:cs typeface="Arial"/>
              </a:rPr>
              <a:t>collected all circulating  copies of the Qur‘an, </a:t>
            </a:r>
            <a:r>
              <a:rPr dirty="0" sz="1200">
                <a:latin typeface="Arial"/>
                <a:cs typeface="Arial"/>
              </a:rPr>
              <a:t>burnt </a:t>
            </a:r>
            <a:r>
              <a:rPr dirty="0" sz="1200" spc="-5">
                <a:latin typeface="Arial"/>
                <a:cs typeface="Arial"/>
              </a:rPr>
              <a:t>them and made </a:t>
            </a:r>
            <a:r>
              <a:rPr dirty="0" sz="1200">
                <a:latin typeface="Arial"/>
                <a:cs typeface="Arial"/>
              </a:rPr>
              <a:t>7 </a:t>
            </a:r>
            <a:r>
              <a:rPr dirty="0" sz="1200" spc="-5">
                <a:latin typeface="Arial"/>
                <a:cs typeface="Arial"/>
              </a:rPr>
              <a:t>copies </a:t>
            </a:r>
            <a:r>
              <a:rPr dirty="0" sz="1200">
                <a:latin typeface="Arial"/>
                <a:cs typeface="Arial"/>
              </a:rPr>
              <a:t>for </a:t>
            </a:r>
            <a:r>
              <a:rPr dirty="0" sz="1200" spc="-5">
                <a:latin typeface="Arial"/>
                <a:cs typeface="Arial"/>
              </a:rPr>
              <a:t>distribution to </a:t>
            </a:r>
            <a:r>
              <a:rPr dirty="0" sz="1200">
                <a:latin typeface="Arial"/>
                <a:cs typeface="Arial"/>
              </a:rPr>
              <a:t>7 </a:t>
            </a:r>
            <a:r>
              <a:rPr dirty="0" sz="1200" spc="-5">
                <a:latin typeface="Arial"/>
                <a:cs typeface="Arial"/>
              </a:rPr>
              <a:t>different  </a:t>
            </a:r>
            <a:r>
              <a:rPr dirty="0" sz="1200">
                <a:latin typeface="Arial"/>
                <a:cs typeface="Arial"/>
              </a:rPr>
              <a:t>places </a:t>
            </a:r>
            <a:r>
              <a:rPr dirty="0" sz="1200" spc="-5">
                <a:latin typeface="Arial"/>
                <a:cs typeface="Arial"/>
              </a:rPr>
              <a:t>of the Islamic</a:t>
            </a:r>
            <a:r>
              <a:rPr dirty="0" sz="1200" spc="-10">
                <a:latin typeface="Arial"/>
                <a:cs typeface="Arial"/>
              </a:rPr>
              <a:t> </a:t>
            </a:r>
            <a:r>
              <a:rPr dirty="0" sz="1200" spc="-5">
                <a:latin typeface="Arial"/>
                <a:cs typeface="Arial"/>
              </a:rPr>
              <a:t>dominion.</a:t>
            </a:r>
            <a:endParaRPr sz="1200">
              <a:latin typeface="Arial"/>
              <a:cs typeface="Arial"/>
            </a:endParaRPr>
          </a:p>
          <a:p>
            <a:pPr algn="just" marL="469900" marR="5080" indent="-228600">
              <a:lnSpc>
                <a:spcPts val="1380"/>
              </a:lnSpc>
              <a:buAutoNum type="arabicPeriod" startAt="3"/>
              <a:tabLst>
                <a:tab pos="470534" algn="l"/>
              </a:tabLst>
            </a:pPr>
            <a:r>
              <a:rPr dirty="0" sz="1200" spc="-5">
                <a:latin typeface="Arial"/>
                <a:cs typeface="Arial"/>
              </a:rPr>
              <a:t>Due to the increasing converts </a:t>
            </a:r>
            <a:r>
              <a:rPr dirty="0" sz="1200">
                <a:latin typeface="Arial"/>
                <a:cs typeface="Arial"/>
              </a:rPr>
              <a:t>to Islam </a:t>
            </a:r>
            <a:r>
              <a:rPr dirty="0" sz="1200" spc="-5">
                <a:latin typeface="Arial"/>
                <a:cs typeface="Arial"/>
              </a:rPr>
              <a:t>and </a:t>
            </a:r>
            <a:r>
              <a:rPr dirty="0" sz="1200">
                <a:latin typeface="Arial"/>
                <a:cs typeface="Arial"/>
              </a:rPr>
              <a:t>the </a:t>
            </a:r>
            <a:r>
              <a:rPr dirty="0" sz="1200" spc="-5">
                <a:latin typeface="Arial"/>
                <a:cs typeface="Arial"/>
              </a:rPr>
              <a:t>difficulties </a:t>
            </a:r>
            <a:r>
              <a:rPr dirty="0" sz="1200">
                <a:latin typeface="Arial"/>
                <a:cs typeface="Arial"/>
              </a:rPr>
              <a:t>to read the </a:t>
            </a:r>
            <a:r>
              <a:rPr dirty="0" sz="1200" spc="-5">
                <a:latin typeface="Arial"/>
                <a:cs typeface="Arial"/>
              </a:rPr>
              <a:t>Qur‘an </a:t>
            </a:r>
            <a:r>
              <a:rPr dirty="0" sz="1200">
                <a:latin typeface="Arial"/>
                <a:cs typeface="Arial"/>
              </a:rPr>
              <a:t>by </a:t>
            </a:r>
            <a:r>
              <a:rPr dirty="0" sz="1200" spc="-5">
                <a:latin typeface="Arial"/>
                <a:cs typeface="Arial"/>
              </a:rPr>
              <a:t>the  non-Arab </a:t>
            </a:r>
            <a:r>
              <a:rPr dirty="0" sz="1200">
                <a:latin typeface="Arial"/>
                <a:cs typeface="Arial"/>
              </a:rPr>
              <a:t>and </a:t>
            </a:r>
            <a:r>
              <a:rPr dirty="0" sz="1200" spc="-5">
                <a:latin typeface="Arial"/>
                <a:cs typeface="Arial"/>
              </a:rPr>
              <a:t>Arab children, Mu‘awiyyah bin Sufyan during </a:t>
            </a:r>
            <a:r>
              <a:rPr dirty="0" sz="1200">
                <a:latin typeface="Arial"/>
                <a:cs typeface="Arial"/>
              </a:rPr>
              <a:t>the </a:t>
            </a:r>
            <a:r>
              <a:rPr dirty="0" sz="1200" spc="-5">
                <a:latin typeface="Arial"/>
                <a:cs typeface="Arial"/>
              </a:rPr>
              <a:t>Umayyad dynasty  introduced the syntactical </a:t>
            </a:r>
            <a:r>
              <a:rPr dirty="0" sz="1200">
                <a:latin typeface="Arial"/>
                <a:cs typeface="Arial"/>
              </a:rPr>
              <a:t>marks </a:t>
            </a:r>
            <a:r>
              <a:rPr dirty="0" sz="1200" spc="-5">
                <a:latin typeface="Arial"/>
                <a:cs typeface="Arial"/>
              </a:rPr>
              <a:t>like fatha, kasra, dwamma, soukoun, tanween, madd  among</a:t>
            </a:r>
            <a:r>
              <a:rPr dirty="0" sz="1200" spc="-15">
                <a:latin typeface="Arial"/>
                <a:cs typeface="Arial"/>
              </a:rPr>
              <a:t> </a:t>
            </a:r>
            <a:r>
              <a:rPr dirty="0" sz="1200">
                <a:latin typeface="Arial"/>
                <a:cs typeface="Arial"/>
              </a:rPr>
              <a:t>others.</a:t>
            </a:r>
            <a:endParaRPr sz="1200">
              <a:latin typeface="Arial"/>
              <a:cs typeface="Arial"/>
            </a:endParaRPr>
          </a:p>
          <a:p>
            <a:pPr algn="just" marL="469900" marR="11430" indent="-228600">
              <a:lnSpc>
                <a:spcPts val="1380"/>
              </a:lnSpc>
              <a:buAutoNum type="arabicPeriod" startAt="3"/>
              <a:tabLst>
                <a:tab pos="470534" algn="l"/>
              </a:tabLst>
            </a:pPr>
            <a:r>
              <a:rPr dirty="0" sz="1200" spc="-5">
                <a:latin typeface="Arial"/>
                <a:cs typeface="Arial"/>
              </a:rPr>
              <a:t>Due </a:t>
            </a:r>
            <a:r>
              <a:rPr dirty="0" sz="1200">
                <a:latin typeface="Arial"/>
                <a:cs typeface="Arial"/>
              </a:rPr>
              <a:t>to </a:t>
            </a:r>
            <a:r>
              <a:rPr dirty="0" sz="1200" spc="-5">
                <a:latin typeface="Arial"/>
                <a:cs typeface="Arial"/>
              </a:rPr>
              <a:t>the problem of differentiating between the alphabets of </a:t>
            </a:r>
            <a:r>
              <a:rPr dirty="0" sz="1200">
                <a:latin typeface="Arial"/>
                <a:cs typeface="Arial"/>
              </a:rPr>
              <a:t>the </a:t>
            </a:r>
            <a:r>
              <a:rPr dirty="0" sz="1200" spc="-5">
                <a:latin typeface="Arial"/>
                <a:cs typeface="Arial"/>
              </a:rPr>
              <a:t>Arabic language,  Abdul </a:t>
            </a:r>
            <a:r>
              <a:rPr dirty="0" sz="1200" spc="-10">
                <a:latin typeface="Arial"/>
                <a:cs typeface="Arial"/>
              </a:rPr>
              <a:t>Malik </a:t>
            </a:r>
            <a:r>
              <a:rPr dirty="0" sz="1200">
                <a:latin typeface="Arial"/>
                <a:cs typeface="Arial"/>
              </a:rPr>
              <a:t>bin </a:t>
            </a:r>
            <a:r>
              <a:rPr dirty="0" sz="1200" spc="-5">
                <a:latin typeface="Arial"/>
                <a:cs typeface="Arial"/>
              </a:rPr>
              <a:t>Marwan introduced dots </a:t>
            </a:r>
            <a:r>
              <a:rPr dirty="0" sz="1200" spc="-10">
                <a:latin typeface="Arial"/>
                <a:cs typeface="Arial"/>
              </a:rPr>
              <a:t>above </a:t>
            </a:r>
            <a:r>
              <a:rPr dirty="0" sz="1200" spc="-5">
                <a:latin typeface="Arial"/>
                <a:cs typeface="Arial"/>
              </a:rPr>
              <a:t>and below the Arabic</a:t>
            </a:r>
            <a:r>
              <a:rPr dirty="0" sz="1200" spc="85">
                <a:latin typeface="Arial"/>
                <a:cs typeface="Arial"/>
              </a:rPr>
              <a:t> </a:t>
            </a:r>
            <a:r>
              <a:rPr dirty="0" sz="1200" spc="-5">
                <a:latin typeface="Arial"/>
                <a:cs typeface="Arial"/>
              </a:rPr>
              <a:t>alphabets.</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Importance </a:t>
            </a:r>
            <a:r>
              <a:rPr dirty="0" u="heavy" sz="1200" b="1" i="1">
                <a:uFill>
                  <a:solidFill>
                    <a:srgbClr val="000000"/>
                  </a:solidFill>
                </a:uFill>
                <a:latin typeface="Arial"/>
                <a:cs typeface="Arial"/>
              </a:rPr>
              <a:t>of The</a:t>
            </a:r>
            <a:r>
              <a:rPr dirty="0" u="heavy" sz="1200" spc="-5" b="1" i="1">
                <a:uFill>
                  <a:solidFill>
                    <a:srgbClr val="000000"/>
                  </a:solidFill>
                </a:uFill>
                <a:latin typeface="Arial"/>
                <a:cs typeface="Arial"/>
              </a:rPr>
              <a:t> </a:t>
            </a:r>
            <a:r>
              <a:rPr dirty="0" u="heavy" sz="1200" spc="-50" b="1" i="1">
                <a:uFill>
                  <a:solidFill>
                    <a:srgbClr val="000000"/>
                  </a:solidFill>
                </a:uFill>
                <a:latin typeface="Arial"/>
                <a:cs typeface="Arial"/>
              </a:rPr>
              <a:t>Qur‟an</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The message itself is</a:t>
            </a:r>
            <a:r>
              <a:rPr dirty="0" sz="1200" spc="20">
                <a:latin typeface="Arial"/>
                <a:cs typeface="Arial"/>
              </a:rPr>
              <a:t> </a:t>
            </a:r>
            <a:r>
              <a:rPr dirty="0" sz="1200" spc="-5">
                <a:latin typeface="Arial"/>
                <a:cs typeface="Arial"/>
              </a:rPr>
              <a:t>divine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Qur‘an is </a:t>
            </a:r>
            <a:r>
              <a:rPr dirty="0" sz="1200">
                <a:latin typeface="Arial"/>
                <a:cs typeface="Arial"/>
              </a:rPr>
              <a:t>a </a:t>
            </a:r>
            <a:r>
              <a:rPr dirty="0" sz="1200" spc="-5">
                <a:latin typeface="Arial"/>
                <a:cs typeface="Arial"/>
              </a:rPr>
              <a:t>book of guidance </a:t>
            </a:r>
            <a:r>
              <a:rPr dirty="0" sz="1200">
                <a:latin typeface="Arial"/>
                <a:cs typeface="Arial"/>
              </a:rPr>
              <a:t>for </a:t>
            </a:r>
            <a:r>
              <a:rPr dirty="0" sz="1200" spc="-5">
                <a:latin typeface="Arial"/>
                <a:cs typeface="Arial"/>
              </a:rPr>
              <a:t>all</a:t>
            </a:r>
            <a:r>
              <a:rPr dirty="0" sz="1200" spc="10">
                <a:latin typeface="Arial"/>
                <a:cs typeface="Arial"/>
              </a:rPr>
              <a:t> </a:t>
            </a:r>
            <a:r>
              <a:rPr dirty="0" sz="1200" spc="-5">
                <a:latin typeface="Arial"/>
                <a:cs typeface="Arial"/>
              </a:rPr>
              <a:t>generations.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enables people </a:t>
            </a:r>
            <a:r>
              <a:rPr dirty="0" sz="1200">
                <a:latin typeface="Arial"/>
                <a:cs typeface="Arial"/>
              </a:rPr>
              <a:t>to </a:t>
            </a:r>
            <a:r>
              <a:rPr dirty="0" sz="1200" spc="-5">
                <a:latin typeface="Arial"/>
                <a:cs typeface="Arial"/>
              </a:rPr>
              <a:t>a new </a:t>
            </a:r>
            <a:r>
              <a:rPr dirty="0" sz="1200">
                <a:latin typeface="Arial"/>
                <a:cs typeface="Arial"/>
              </a:rPr>
              <a:t>path </a:t>
            </a:r>
            <a:r>
              <a:rPr dirty="0" sz="1200" spc="-5">
                <a:latin typeface="Arial"/>
                <a:cs typeface="Arial"/>
              </a:rPr>
              <a:t>from darkness </a:t>
            </a:r>
            <a:r>
              <a:rPr dirty="0" sz="1200">
                <a:latin typeface="Arial"/>
                <a:cs typeface="Arial"/>
              </a:rPr>
              <a:t>to</a:t>
            </a:r>
            <a:r>
              <a:rPr dirty="0" sz="1200" spc="-30">
                <a:latin typeface="Arial"/>
                <a:cs typeface="Arial"/>
              </a:rPr>
              <a:t> </a:t>
            </a:r>
            <a:r>
              <a:rPr dirty="0" sz="1200" spc="-5">
                <a:latin typeface="Arial"/>
                <a:cs typeface="Arial"/>
              </a:rPr>
              <a:t>light.</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allows </a:t>
            </a:r>
            <a:r>
              <a:rPr dirty="0" sz="1200">
                <a:latin typeface="Arial"/>
                <a:cs typeface="Arial"/>
              </a:rPr>
              <a:t>man to </a:t>
            </a:r>
            <a:r>
              <a:rPr dirty="0" sz="1200" spc="-5">
                <a:latin typeface="Arial"/>
                <a:cs typeface="Arial"/>
              </a:rPr>
              <a:t>be </a:t>
            </a:r>
            <a:r>
              <a:rPr dirty="0" sz="1200">
                <a:latin typeface="Arial"/>
                <a:cs typeface="Arial"/>
              </a:rPr>
              <a:t>far </a:t>
            </a:r>
            <a:r>
              <a:rPr dirty="0" sz="1200" spc="-5">
                <a:latin typeface="Arial"/>
                <a:cs typeface="Arial"/>
              </a:rPr>
              <a:t>from sins and to avoid</a:t>
            </a:r>
            <a:r>
              <a:rPr dirty="0" sz="1200" spc="-35">
                <a:latin typeface="Arial"/>
                <a:cs typeface="Arial"/>
              </a:rPr>
              <a:t> </a:t>
            </a:r>
            <a:r>
              <a:rPr dirty="0" sz="1200" spc="-5">
                <a:latin typeface="Arial"/>
                <a:cs typeface="Arial"/>
              </a:rPr>
              <a:t>pitfalls.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Qur‘an is </a:t>
            </a:r>
            <a:r>
              <a:rPr dirty="0" sz="1200">
                <a:latin typeface="Arial"/>
                <a:cs typeface="Arial"/>
              </a:rPr>
              <a:t>a </a:t>
            </a:r>
            <a:r>
              <a:rPr dirty="0" sz="1200" spc="-5">
                <a:latin typeface="Arial"/>
                <a:cs typeface="Arial"/>
              </a:rPr>
              <a:t>book of</a:t>
            </a:r>
            <a:r>
              <a:rPr dirty="0" sz="1200" spc="15">
                <a:latin typeface="Arial"/>
                <a:cs typeface="Arial"/>
              </a:rPr>
              <a:t> </a:t>
            </a:r>
            <a:r>
              <a:rPr dirty="0" sz="1200" spc="-5">
                <a:latin typeface="Arial"/>
                <a:cs typeface="Arial"/>
              </a:rPr>
              <a:t>spirituality.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Qur‘an is </a:t>
            </a:r>
            <a:r>
              <a:rPr dirty="0" sz="1200">
                <a:latin typeface="Arial"/>
                <a:cs typeface="Arial"/>
              </a:rPr>
              <a:t>a </a:t>
            </a:r>
            <a:r>
              <a:rPr dirty="0" sz="1200" spc="-5">
                <a:latin typeface="Arial"/>
                <a:cs typeface="Arial"/>
              </a:rPr>
              <a:t>total and complete code of</a:t>
            </a:r>
            <a:r>
              <a:rPr dirty="0" sz="1200" spc="20">
                <a:latin typeface="Arial"/>
                <a:cs typeface="Arial"/>
              </a:rPr>
              <a:t> </a:t>
            </a:r>
            <a:r>
              <a:rPr dirty="0" sz="1200" spc="-5">
                <a:latin typeface="Arial"/>
                <a:cs typeface="Arial"/>
              </a:rPr>
              <a:t>conduct.</a:t>
            </a:r>
            <a:endParaRPr sz="1200">
              <a:latin typeface="Arial"/>
              <a:cs typeface="Arial"/>
            </a:endParaRPr>
          </a:p>
          <a:p>
            <a:pPr marL="469900" indent="-229235">
              <a:lnSpc>
                <a:spcPts val="1375"/>
              </a:lnSpc>
              <a:buAutoNum type="arabicPeriod"/>
              <a:tabLst>
                <a:tab pos="470534" algn="l"/>
              </a:tabLst>
            </a:pPr>
            <a:r>
              <a:rPr dirty="0" sz="1200">
                <a:latin typeface="Arial"/>
                <a:cs typeface="Arial"/>
              </a:rPr>
              <a:t>It </a:t>
            </a:r>
            <a:r>
              <a:rPr dirty="0" sz="1200" spc="-5">
                <a:latin typeface="Arial"/>
                <a:cs typeface="Arial"/>
              </a:rPr>
              <a:t>enables man to lead a life </a:t>
            </a:r>
            <a:r>
              <a:rPr dirty="0" sz="1200">
                <a:latin typeface="Arial"/>
                <a:cs typeface="Arial"/>
              </a:rPr>
              <a:t>based on </a:t>
            </a:r>
            <a:r>
              <a:rPr dirty="0" sz="1200" spc="-5">
                <a:latin typeface="Arial"/>
                <a:cs typeface="Arial"/>
              </a:rPr>
              <a:t>a </a:t>
            </a:r>
            <a:r>
              <a:rPr dirty="0" sz="1200">
                <a:latin typeface="Arial"/>
                <a:cs typeface="Arial"/>
              </a:rPr>
              <a:t>moral</a:t>
            </a:r>
            <a:r>
              <a:rPr dirty="0" sz="1200" spc="-15">
                <a:latin typeface="Arial"/>
                <a:cs typeface="Arial"/>
              </a:rPr>
              <a:t> </a:t>
            </a:r>
            <a:r>
              <a:rPr dirty="0" sz="1200" spc="-5">
                <a:latin typeface="Arial"/>
                <a:cs typeface="Arial"/>
              </a:rPr>
              <a:t>discipline.</a:t>
            </a:r>
            <a:endParaRPr sz="1200">
              <a:latin typeface="Arial"/>
              <a:cs typeface="Arial"/>
            </a:endParaRPr>
          </a:p>
          <a:p>
            <a:pPr marL="469900" indent="-229235">
              <a:lnSpc>
                <a:spcPts val="1375"/>
              </a:lnSpc>
              <a:buAutoNum type="arabicPeriod"/>
              <a:tabLst>
                <a:tab pos="470534" algn="l"/>
              </a:tabLst>
            </a:pPr>
            <a:r>
              <a:rPr dirty="0" sz="1200">
                <a:latin typeface="Arial"/>
                <a:cs typeface="Arial"/>
              </a:rPr>
              <a:t>It </a:t>
            </a:r>
            <a:r>
              <a:rPr dirty="0" sz="1200" spc="-5">
                <a:latin typeface="Arial"/>
                <a:cs typeface="Arial"/>
              </a:rPr>
              <a:t>is a mean of approaching</a:t>
            </a:r>
            <a:r>
              <a:rPr dirty="0" sz="1200" spc="5">
                <a:latin typeface="Arial"/>
                <a:cs typeface="Arial"/>
              </a:rPr>
              <a:t> </a:t>
            </a:r>
            <a:r>
              <a:rPr dirty="0" sz="1200" spc="-5">
                <a:latin typeface="Arial"/>
                <a:cs typeface="Arial"/>
              </a:rPr>
              <a:t>Allah.</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Its </a:t>
            </a:r>
            <a:r>
              <a:rPr dirty="0" sz="1200" spc="-5">
                <a:latin typeface="Arial"/>
                <a:cs typeface="Arial"/>
              </a:rPr>
              <a:t>readings purify the heart from sins and</a:t>
            </a:r>
            <a:r>
              <a:rPr dirty="0" sz="1200" spc="-15">
                <a:latin typeface="Arial"/>
                <a:cs typeface="Arial"/>
              </a:rPr>
              <a:t> </a:t>
            </a:r>
            <a:r>
              <a:rPr dirty="0" sz="1200">
                <a:latin typeface="Arial"/>
                <a:cs typeface="Arial"/>
              </a:rPr>
              <a:t>diseases.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eradicates doubts of human beings concerning the law of Halal and</a:t>
            </a:r>
            <a:r>
              <a:rPr dirty="0" sz="1200" spc="50">
                <a:latin typeface="Arial"/>
                <a:cs typeface="Arial"/>
              </a:rPr>
              <a:t> </a:t>
            </a:r>
            <a:r>
              <a:rPr dirty="0" sz="1200" spc="-5">
                <a:latin typeface="Arial"/>
                <a:cs typeface="Arial"/>
              </a:rPr>
              <a:t>Haram.</a:t>
            </a:r>
            <a:endParaRPr sz="1200">
              <a:latin typeface="Arial"/>
              <a:cs typeface="Arial"/>
            </a:endParaRPr>
          </a:p>
          <a:p>
            <a:pPr marL="469900" indent="-229235">
              <a:lnSpc>
                <a:spcPts val="1410"/>
              </a:lnSpc>
              <a:buAutoNum type="arabicPeriod"/>
              <a:tabLst>
                <a:tab pos="470534" algn="l"/>
              </a:tabLst>
            </a:pPr>
            <a:r>
              <a:rPr dirty="0" sz="1200">
                <a:latin typeface="Arial"/>
                <a:cs typeface="Arial"/>
              </a:rPr>
              <a:t>It </a:t>
            </a:r>
            <a:r>
              <a:rPr dirty="0" sz="1200" spc="-5">
                <a:latin typeface="Arial"/>
                <a:cs typeface="Arial"/>
              </a:rPr>
              <a:t>is a book without</a:t>
            </a:r>
            <a:r>
              <a:rPr dirty="0" sz="1200" spc="-10">
                <a:latin typeface="Arial"/>
                <a:cs typeface="Arial"/>
              </a:rPr>
              <a:t> </a:t>
            </a:r>
            <a:r>
              <a:rPr dirty="0" sz="1200" spc="-5">
                <a:latin typeface="Arial"/>
                <a:cs typeface="Arial"/>
              </a:rPr>
              <a:t>error.</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What </a:t>
            </a:r>
            <a:r>
              <a:rPr dirty="0" u="heavy" sz="1200" b="1" i="1">
                <a:uFill>
                  <a:solidFill>
                    <a:srgbClr val="000000"/>
                  </a:solidFill>
                </a:uFill>
                <a:latin typeface="Arial"/>
                <a:cs typeface="Arial"/>
              </a:rPr>
              <a:t>is meant </a:t>
            </a:r>
            <a:r>
              <a:rPr dirty="0" u="heavy" sz="1200" spc="-10" b="1" i="1">
                <a:uFill>
                  <a:solidFill>
                    <a:srgbClr val="000000"/>
                  </a:solidFill>
                </a:uFill>
                <a:latin typeface="Arial"/>
                <a:cs typeface="Arial"/>
              </a:rPr>
              <a:t>by </a:t>
            </a:r>
            <a:r>
              <a:rPr dirty="0" u="heavy" sz="1200" b="1" i="1">
                <a:uFill>
                  <a:solidFill>
                    <a:srgbClr val="000000"/>
                  </a:solidFill>
                </a:uFill>
                <a:latin typeface="Arial"/>
                <a:cs typeface="Arial"/>
              </a:rPr>
              <a:t>the </a:t>
            </a:r>
            <a:r>
              <a:rPr dirty="0" u="heavy" sz="1200" spc="-45" b="1" i="1">
                <a:uFill>
                  <a:solidFill>
                    <a:srgbClr val="000000"/>
                  </a:solidFill>
                </a:uFill>
                <a:latin typeface="Arial"/>
                <a:cs typeface="Arial"/>
              </a:rPr>
              <a:t>Qur‟an </a:t>
            </a:r>
            <a:r>
              <a:rPr dirty="0" u="heavy" sz="1200" spc="-5" b="1" i="1">
                <a:uFill>
                  <a:solidFill>
                    <a:srgbClr val="000000"/>
                  </a:solidFill>
                </a:uFill>
                <a:latin typeface="Arial"/>
                <a:cs typeface="Arial"/>
              </a:rPr>
              <a:t>is the kalam </a:t>
            </a:r>
            <a:r>
              <a:rPr dirty="0" u="heavy" sz="1200" b="1" i="1">
                <a:uFill>
                  <a:solidFill>
                    <a:srgbClr val="000000"/>
                  </a:solidFill>
                </a:uFill>
                <a:latin typeface="Arial"/>
                <a:cs typeface="Arial"/>
              </a:rPr>
              <a:t>Allah, </a:t>
            </a:r>
            <a:r>
              <a:rPr dirty="0" u="heavy" sz="1200" spc="-5" b="1" i="1">
                <a:uFill>
                  <a:solidFill>
                    <a:srgbClr val="000000"/>
                  </a:solidFill>
                </a:uFill>
                <a:latin typeface="Arial"/>
                <a:cs typeface="Arial"/>
              </a:rPr>
              <a:t>the </a:t>
            </a:r>
            <a:r>
              <a:rPr dirty="0" u="heavy" sz="1200" b="1" i="1">
                <a:uFill>
                  <a:solidFill>
                    <a:srgbClr val="000000"/>
                  </a:solidFill>
                </a:uFill>
                <a:latin typeface="Arial"/>
                <a:cs typeface="Arial"/>
              </a:rPr>
              <a:t>word of</a:t>
            </a:r>
            <a:r>
              <a:rPr dirty="0" u="heavy" sz="1200" spc="50" b="1" i="1">
                <a:uFill>
                  <a:solidFill>
                    <a:srgbClr val="000000"/>
                  </a:solidFill>
                </a:uFill>
                <a:latin typeface="Arial"/>
                <a:cs typeface="Arial"/>
              </a:rPr>
              <a:t> </a:t>
            </a:r>
            <a:r>
              <a:rPr dirty="0" u="heavy" sz="1200" spc="-5" b="1" i="1">
                <a:uFill>
                  <a:solidFill>
                    <a:srgbClr val="000000"/>
                  </a:solidFill>
                </a:uFill>
                <a:latin typeface="Arial"/>
                <a:cs typeface="Arial"/>
              </a:rPr>
              <a:t>God?</a:t>
            </a:r>
            <a:endParaRPr sz="1200">
              <a:latin typeface="Arial"/>
              <a:cs typeface="Arial"/>
            </a:endParaRPr>
          </a:p>
          <a:p>
            <a:pPr>
              <a:lnSpc>
                <a:spcPct val="100000"/>
              </a:lnSpc>
            </a:pPr>
            <a:endParaRPr sz="1150">
              <a:latin typeface="Arial"/>
              <a:cs typeface="Arial"/>
            </a:endParaRPr>
          </a:p>
          <a:p>
            <a:pPr marL="469900" indent="-229235">
              <a:lnSpc>
                <a:spcPts val="1410"/>
              </a:lnSpc>
              <a:buAutoNum type="arabicPeriod"/>
              <a:tabLst>
                <a:tab pos="470534" algn="l"/>
              </a:tabLst>
            </a:pPr>
            <a:r>
              <a:rPr dirty="0" sz="1200">
                <a:latin typeface="Arial"/>
                <a:cs typeface="Arial"/>
              </a:rPr>
              <a:t>It </a:t>
            </a:r>
            <a:r>
              <a:rPr dirty="0" sz="1200" spc="-5">
                <a:latin typeface="Arial"/>
                <a:cs typeface="Arial"/>
              </a:rPr>
              <a:t>is the word </a:t>
            </a:r>
            <a:r>
              <a:rPr dirty="0" sz="1200">
                <a:latin typeface="Arial"/>
                <a:cs typeface="Arial"/>
              </a:rPr>
              <a:t>and </a:t>
            </a:r>
            <a:r>
              <a:rPr dirty="0" sz="1200" spc="-5">
                <a:latin typeface="Arial"/>
                <a:cs typeface="Arial"/>
              </a:rPr>
              <a:t>saying (speech) directly </a:t>
            </a:r>
            <a:r>
              <a:rPr dirty="0" sz="1200">
                <a:latin typeface="Arial"/>
                <a:cs typeface="Arial"/>
              </a:rPr>
              <a:t>from</a:t>
            </a:r>
            <a:r>
              <a:rPr dirty="0" sz="1200" spc="15">
                <a:latin typeface="Arial"/>
                <a:cs typeface="Arial"/>
              </a:rPr>
              <a:t> </a:t>
            </a:r>
            <a:r>
              <a:rPr dirty="0" sz="1200" spc="-5">
                <a:latin typeface="Arial"/>
                <a:cs typeface="Arial"/>
              </a:rPr>
              <a:t>Allah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There is </a:t>
            </a:r>
            <a:r>
              <a:rPr dirty="0" sz="1200" spc="-10">
                <a:latin typeface="Arial"/>
                <a:cs typeface="Arial"/>
              </a:rPr>
              <a:t>no </a:t>
            </a:r>
            <a:r>
              <a:rPr dirty="0" sz="1200">
                <a:latin typeface="Arial"/>
                <a:cs typeface="Arial"/>
              </a:rPr>
              <a:t>mistake </a:t>
            </a:r>
            <a:r>
              <a:rPr dirty="0" sz="1200" spc="-5">
                <a:latin typeface="Arial"/>
                <a:cs typeface="Arial"/>
              </a:rPr>
              <a:t>in </a:t>
            </a:r>
            <a:r>
              <a:rPr dirty="0" sz="1200">
                <a:latin typeface="Arial"/>
                <a:cs typeface="Arial"/>
              </a:rPr>
              <a:t>that</a:t>
            </a:r>
            <a:r>
              <a:rPr dirty="0" sz="1200" spc="-20">
                <a:latin typeface="Arial"/>
                <a:cs typeface="Arial"/>
              </a:rPr>
              <a:t> </a:t>
            </a:r>
            <a:r>
              <a:rPr dirty="0" sz="1200" spc="-5">
                <a:latin typeface="Arial"/>
                <a:cs typeface="Arial"/>
              </a:rPr>
              <a:t>book</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a:t>
            </a:r>
            <a:r>
              <a:rPr dirty="0" sz="1200">
                <a:latin typeface="Arial"/>
                <a:cs typeface="Arial"/>
              </a:rPr>
              <a:t>pure </a:t>
            </a:r>
            <a:r>
              <a:rPr dirty="0" sz="1200" spc="-5">
                <a:latin typeface="Arial"/>
                <a:cs typeface="Arial"/>
              </a:rPr>
              <a:t>from error, contradiction and</a:t>
            </a:r>
            <a:r>
              <a:rPr dirty="0" sz="1200">
                <a:latin typeface="Arial"/>
                <a:cs typeface="Arial"/>
              </a:rPr>
              <a:t> </a:t>
            </a:r>
            <a:r>
              <a:rPr dirty="0" sz="1200" spc="-5">
                <a:latin typeface="Arial"/>
                <a:cs typeface="Arial"/>
              </a:rPr>
              <a:t>lies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a sacred book with divine lessons and</a:t>
            </a:r>
            <a:r>
              <a:rPr dirty="0" sz="1200">
                <a:latin typeface="Arial"/>
                <a:cs typeface="Arial"/>
              </a:rPr>
              <a:t> </a:t>
            </a:r>
            <a:r>
              <a:rPr dirty="0" sz="1200" spc="-5">
                <a:latin typeface="Arial"/>
                <a:cs typeface="Arial"/>
              </a:rPr>
              <a:t>advices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the unaltered and preserved </a:t>
            </a:r>
            <a:r>
              <a:rPr dirty="0" sz="1200">
                <a:latin typeface="Arial"/>
                <a:cs typeface="Arial"/>
              </a:rPr>
              <a:t>words </a:t>
            </a:r>
            <a:r>
              <a:rPr dirty="0" sz="1200" spc="-5">
                <a:latin typeface="Arial"/>
                <a:cs typeface="Arial"/>
              </a:rPr>
              <a:t>of</a:t>
            </a:r>
            <a:r>
              <a:rPr dirty="0" sz="1200" spc="20">
                <a:latin typeface="Arial"/>
                <a:cs typeface="Arial"/>
              </a:rPr>
              <a:t> </a:t>
            </a:r>
            <a:r>
              <a:rPr dirty="0" sz="1200" spc="-5">
                <a:latin typeface="Arial"/>
                <a:cs typeface="Arial"/>
              </a:rPr>
              <a:t>Allah</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the message and guidance from Allah but in the Arabic</a:t>
            </a:r>
            <a:r>
              <a:rPr dirty="0" sz="1200" spc="50">
                <a:latin typeface="Arial"/>
                <a:cs typeface="Arial"/>
              </a:rPr>
              <a:t> </a:t>
            </a:r>
            <a:r>
              <a:rPr dirty="0" sz="1200" spc="-10">
                <a:latin typeface="Arial"/>
                <a:cs typeface="Arial"/>
              </a:rPr>
              <a:t>Language</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a:t>
            </a:r>
            <a:r>
              <a:rPr dirty="0" sz="1200">
                <a:latin typeface="Arial"/>
                <a:cs typeface="Arial"/>
              </a:rPr>
              <a:t>an </a:t>
            </a:r>
            <a:r>
              <a:rPr dirty="0" sz="1200" spc="-5">
                <a:latin typeface="Arial"/>
                <a:cs typeface="Arial"/>
              </a:rPr>
              <a:t>oath and promise of</a:t>
            </a:r>
            <a:r>
              <a:rPr dirty="0" sz="1200" spc="-10">
                <a:latin typeface="Arial"/>
                <a:cs typeface="Arial"/>
              </a:rPr>
              <a:t> </a:t>
            </a:r>
            <a:r>
              <a:rPr dirty="0" sz="1200" spc="-5">
                <a:latin typeface="Arial"/>
                <a:cs typeface="Arial"/>
              </a:rPr>
              <a:t>Allah</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the response from Allah after </a:t>
            </a:r>
            <a:r>
              <a:rPr dirty="0" sz="1200" spc="-10">
                <a:latin typeface="Arial"/>
                <a:cs typeface="Arial"/>
              </a:rPr>
              <a:t>the </a:t>
            </a:r>
            <a:r>
              <a:rPr dirty="0" sz="1200" spc="-5">
                <a:latin typeface="Arial"/>
                <a:cs typeface="Arial"/>
              </a:rPr>
              <a:t>believer </a:t>
            </a:r>
            <a:r>
              <a:rPr dirty="0" sz="1200">
                <a:latin typeface="Arial"/>
                <a:cs typeface="Arial"/>
              </a:rPr>
              <a:t>has </a:t>
            </a:r>
            <a:r>
              <a:rPr dirty="0" sz="1200" spc="-5">
                <a:latin typeface="Arial"/>
                <a:cs typeface="Arial"/>
              </a:rPr>
              <a:t>asked </a:t>
            </a:r>
            <a:r>
              <a:rPr dirty="0" sz="1200">
                <a:latin typeface="Arial"/>
                <a:cs typeface="Arial"/>
              </a:rPr>
              <a:t>for</a:t>
            </a:r>
            <a:r>
              <a:rPr dirty="0" sz="1200" spc="25">
                <a:latin typeface="Arial"/>
                <a:cs typeface="Arial"/>
              </a:rPr>
              <a:t> </a:t>
            </a:r>
            <a:r>
              <a:rPr dirty="0" sz="1200" spc="-5">
                <a:latin typeface="Arial"/>
                <a:cs typeface="Arial"/>
              </a:rPr>
              <a:t>guidance</a:t>
            </a:r>
            <a:endParaRPr sz="1200">
              <a:latin typeface="Arial"/>
              <a:cs typeface="Arial"/>
            </a:endParaRPr>
          </a:p>
          <a:p>
            <a:pPr marL="469900" indent="-229235">
              <a:lnSpc>
                <a:spcPts val="1410"/>
              </a:lnSpc>
              <a:buAutoNum type="arabicPeriod"/>
              <a:tabLst>
                <a:tab pos="470534" algn="l"/>
              </a:tabLst>
            </a:pPr>
            <a:r>
              <a:rPr dirty="0" sz="1200">
                <a:latin typeface="Arial"/>
                <a:cs typeface="Arial"/>
              </a:rPr>
              <a:t>It </a:t>
            </a:r>
            <a:r>
              <a:rPr dirty="0" sz="1200" spc="-5">
                <a:latin typeface="Arial"/>
                <a:cs typeface="Arial"/>
              </a:rPr>
              <a:t>is the answer of Allah </a:t>
            </a:r>
            <a:r>
              <a:rPr dirty="0" sz="1200">
                <a:latin typeface="Arial"/>
                <a:cs typeface="Arial"/>
              </a:rPr>
              <a:t>to the </a:t>
            </a:r>
            <a:r>
              <a:rPr dirty="0" sz="1200" spc="-5">
                <a:latin typeface="Arial"/>
                <a:cs typeface="Arial"/>
              </a:rPr>
              <a:t>prophet in search of the Truth </a:t>
            </a:r>
            <a:r>
              <a:rPr dirty="0" sz="1200">
                <a:latin typeface="Arial"/>
                <a:cs typeface="Arial"/>
              </a:rPr>
              <a:t>…</a:t>
            </a:r>
            <a:r>
              <a:rPr dirty="0" sz="1200" spc="50">
                <a:latin typeface="Arial"/>
                <a:cs typeface="Arial"/>
              </a:rPr>
              <a:t> </a:t>
            </a:r>
            <a:r>
              <a:rPr dirty="0" sz="1200" spc="-5">
                <a:latin typeface="Arial"/>
                <a:cs typeface="Arial"/>
              </a:rPr>
              <a:t>Allah</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47</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311265" cy="9035415"/>
          </a:xfrm>
          <a:prstGeom prst="rect">
            <a:avLst/>
          </a:prstGeom>
        </p:spPr>
        <p:txBody>
          <a:bodyPr wrap="square" lIns="0" tIns="12700" rIns="0" bIns="0" rtlCol="0" vert="horz">
            <a:spAutoFit/>
          </a:bodyPr>
          <a:lstStyle/>
          <a:p>
            <a:pPr marL="469900" indent="-229235">
              <a:lnSpc>
                <a:spcPts val="1410"/>
              </a:lnSpc>
              <a:spcBef>
                <a:spcPts val="100"/>
              </a:spcBef>
              <a:buAutoNum type="arabicPeriod" startAt="10"/>
              <a:tabLst>
                <a:tab pos="470534" algn="l"/>
              </a:tabLst>
            </a:pPr>
            <a:r>
              <a:rPr dirty="0" sz="1200">
                <a:latin typeface="Arial"/>
                <a:cs typeface="Arial"/>
              </a:rPr>
              <a:t>It </a:t>
            </a:r>
            <a:r>
              <a:rPr dirty="0" sz="1200" spc="-5">
                <a:latin typeface="Arial"/>
                <a:cs typeface="Arial"/>
              </a:rPr>
              <a:t>is the cured words (shifa) from Allah </a:t>
            </a:r>
            <a:r>
              <a:rPr dirty="0" sz="1200">
                <a:latin typeface="Arial"/>
                <a:cs typeface="Arial"/>
              </a:rPr>
              <a:t>to</a:t>
            </a:r>
            <a:r>
              <a:rPr dirty="0" sz="1200" spc="10">
                <a:latin typeface="Arial"/>
                <a:cs typeface="Arial"/>
              </a:rPr>
              <a:t> </a:t>
            </a:r>
            <a:r>
              <a:rPr dirty="0" sz="1200" spc="-5">
                <a:latin typeface="Arial"/>
                <a:cs typeface="Arial"/>
              </a:rPr>
              <a:t>Mankind</a:t>
            </a:r>
            <a:endParaRPr sz="1200">
              <a:latin typeface="Arial"/>
              <a:cs typeface="Arial"/>
            </a:endParaRPr>
          </a:p>
          <a:p>
            <a:pPr marL="469900" indent="-229235">
              <a:lnSpc>
                <a:spcPts val="1410"/>
              </a:lnSpc>
              <a:buAutoNum type="arabicPeriod" startAt="10"/>
              <a:tabLst>
                <a:tab pos="470534" algn="l"/>
              </a:tabLst>
            </a:pPr>
            <a:r>
              <a:rPr dirty="0" sz="1200">
                <a:latin typeface="Arial"/>
                <a:cs typeface="Arial"/>
              </a:rPr>
              <a:t>It </a:t>
            </a:r>
            <a:r>
              <a:rPr dirty="0" sz="1200" spc="-5">
                <a:latin typeface="Arial"/>
                <a:cs typeface="Arial"/>
              </a:rPr>
              <a:t>is </a:t>
            </a:r>
            <a:r>
              <a:rPr dirty="0" sz="1200">
                <a:latin typeface="Arial"/>
                <a:cs typeface="Arial"/>
              </a:rPr>
              <a:t>simply </a:t>
            </a:r>
            <a:r>
              <a:rPr dirty="0" sz="1200" spc="-5">
                <a:latin typeface="Arial"/>
                <a:cs typeface="Arial"/>
              </a:rPr>
              <a:t>the rules </a:t>
            </a:r>
            <a:r>
              <a:rPr dirty="0" sz="1200" spc="-10">
                <a:latin typeface="Arial"/>
                <a:cs typeface="Arial"/>
              </a:rPr>
              <a:t>and </a:t>
            </a:r>
            <a:r>
              <a:rPr dirty="0" sz="1200" spc="-5">
                <a:latin typeface="Arial"/>
                <a:cs typeface="Arial"/>
              </a:rPr>
              <a:t>regulations </a:t>
            </a:r>
            <a:r>
              <a:rPr dirty="0" sz="1200">
                <a:latin typeface="Arial"/>
                <a:cs typeface="Arial"/>
              </a:rPr>
              <a:t>as </a:t>
            </a:r>
            <a:r>
              <a:rPr dirty="0" sz="1200" spc="-5">
                <a:latin typeface="Arial"/>
                <a:cs typeface="Arial"/>
              </a:rPr>
              <a:t>in the </a:t>
            </a:r>
            <a:r>
              <a:rPr dirty="0" sz="1200">
                <a:latin typeface="Arial"/>
                <a:cs typeface="Arial"/>
              </a:rPr>
              <a:t>form </a:t>
            </a:r>
            <a:r>
              <a:rPr dirty="0" sz="1200" spc="-5">
                <a:latin typeface="Arial"/>
                <a:cs typeface="Arial"/>
              </a:rPr>
              <a:t>of</a:t>
            </a:r>
            <a:r>
              <a:rPr dirty="0" sz="1200" spc="-10">
                <a:latin typeface="Arial"/>
                <a:cs typeface="Arial"/>
              </a:rPr>
              <a:t> </a:t>
            </a:r>
            <a:r>
              <a:rPr dirty="0" sz="1200" spc="-5">
                <a:latin typeface="Arial"/>
                <a:cs typeface="Arial"/>
              </a:rPr>
              <a:t>Law</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Books revealed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other </a:t>
            </a:r>
            <a:r>
              <a:rPr dirty="0" u="heavy" sz="1200" b="1" i="1">
                <a:uFill>
                  <a:solidFill>
                    <a:srgbClr val="000000"/>
                  </a:solidFill>
                </a:uFill>
                <a:latin typeface="Arial"/>
                <a:cs typeface="Arial"/>
              </a:rPr>
              <a:t>prophets and </a:t>
            </a:r>
            <a:r>
              <a:rPr dirty="0" u="heavy" sz="1200" spc="-10" b="1" i="1">
                <a:uFill>
                  <a:solidFill>
                    <a:srgbClr val="000000"/>
                  </a:solidFill>
                </a:uFill>
                <a:latin typeface="Arial"/>
                <a:cs typeface="Arial"/>
              </a:rPr>
              <a:t>their</a:t>
            </a:r>
            <a:r>
              <a:rPr dirty="0" u="heavy" sz="1200" spc="30" b="1" i="1">
                <a:uFill>
                  <a:solidFill>
                    <a:srgbClr val="000000"/>
                  </a:solidFill>
                </a:uFill>
                <a:latin typeface="Arial"/>
                <a:cs typeface="Arial"/>
              </a:rPr>
              <a:t> </a:t>
            </a:r>
            <a:r>
              <a:rPr dirty="0" u="heavy" sz="1200" b="1" i="1">
                <a:uFill>
                  <a:solidFill>
                    <a:srgbClr val="000000"/>
                  </a:solidFill>
                </a:uFill>
                <a:latin typeface="Arial"/>
                <a:cs typeface="Arial"/>
              </a:rPr>
              <a:t>worthiness</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Suhuf </a:t>
            </a:r>
            <a:r>
              <a:rPr dirty="0" sz="1200">
                <a:latin typeface="Arial"/>
                <a:cs typeface="Arial"/>
              </a:rPr>
              <a:t>to </a:t>
            </a:r>
            <a:r>
              <a:rPr dirty="0" sz="1200" spc="-5">
                <a:latin typeface="Arial"/>
                <a:cs typeface="Arial"/>
              </a:rPr>
              <a:t>Ibrahim</a:t>
            </a:r>
            <a:r>
              <a:rPr dirty="0" sz="1200">
                <a:latin typeface="Arial"/>
                <a:cs typeface="Arial"/>
              </a:rPr>
              <a:t> (as)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Zaboor to </a:t>
            </a:r>
            <a:r>
              <a:rPr dirty="0" sz="1200" spc="-5">
                <a:latin typeface="Arial"/>
                <a:cs typeface="Arial"/>
              </a:rPr>
              <a:t>Dawoud</a:t>
            </a:r>
            <a:r>
              <a:rPr dirty="0" sz="1200" spc="-15">
                <a:latin typeface="Arial"/>
                <a:cs typeface="Arial"/>
              </a:rPr>
              <a:t> </a:t>
            </a:r>
            <a:r>
              <a:rPr dirty="0" sz="1200" spc="-5">
                <a:latin typeface="Arial"/>
                <a:cs typeface="Arial"/>
              </a:rPr>
              <a:t>(as)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Tawraat to Musah</a:t>
            </a:r>
            <a:r>
              <a:rPr dirty="0" sz="1200" spc="5">
                <a:latin typeface="Arial"/>
                <a:cs typeface="Arial"/>
              </a:rPr>
              <a:t> </a:t>
            </a:r>
            <a:r>
              <a:rPr dirty="0" sz="1200">
                <a:latin typeface="Arial"/>
                <a:cs typeface="Arial"/>
              </a:rPr>
              <a:t>(as)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Injil </a:t>
            </a:r>
            <a:r>
              <a:rPr dirty="0" sz="1200">
                <a:latin typeface="Arial"/>
                <a:cs typeface="Arial"/>
              </a:rPr>
              <a:t>to</a:t>
            </a:r>
            <a:r>
              <a:rPr dirty="0" sz="1200" spc="5">
                <a:latin typeface="Arial"/>
                <a:cs typeface="Arial"/>
              </a:rPr>
              <a:t> </a:t>
            </a:r>
            <a:r>
              <a:rPr dirty="0" sz="1200" spc="-5">
                <a:latin typeface="Arial"/>
                <a:cs typeface="Arial"/>
              </a:rPr>
              <a:t>Isa)</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Holy Qur‘an </a:t>
            </a:r>
            <a:r>
              <a:rPr dirty="0" sz="1200">
                <a:latin typeface="Arial"/>
                <a:cs typeface="Arial"/>
              </a:rPr>
              <a:t>to </a:t>
            </a:r>
            <a:r>
              <a:rPr dirty="0" sz="1200" spc="-5">
                <a:latin typeface="Arial"/>
                <a:cs typeface="Arial"/>
              </a:rPr>
              <a:t>Muhammad (s.a.w)</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Their importance can be examined as above</a:t>
            </a:r>
            <a:r>
              <a:rPr dirty="0" sz="1200" spc="5">
                <a:latin typeface="Arial"/>
                <a:cs typeface="Arial"/>
              </a:rPr>
              <a:t> </a:t>
            </a:r>
            <a:r>
              <a:rPr dirty="0" sz="1200" spc="-5">
                <a:latin typeface="Arial"/>
                <a:cs typeface="Arial"/>
              </a:rPr>
              <a:t>mentioned.</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were </a:t>
            </a:r>
            <a:r>
              <a:rPr dirty="0" sz="1200">
                <a:latin typeface="Arial"/>
                <a:cs typeface="Arial"/>
              </a:rPr>
              <a:t>sources </a:t>
            </a:r>
            <a:r>
              <a:rPr dirty="0" sz="1200" spc="-5">
                <a:latin typeface="Arial"/>
                <a:cs typeface="Arial"/>
              </a:rPr>
              <a:t>of</a:t>
            </a:r>
            <a:r>
              <a:rPr dirty="0" sz="1200" spc="-10">
                <a:latin typeface="Arial"/>
                <a:cs typeface="Arial"/>
              </a:rPr>
              <a:t> </a:t>
            </a:r>
            <a:r>
              <a:rPr dirty="0" sz="1200" spc="-5">
                <a:latin typeface="Arial"/>
                <a:cs typeface="Arial"/>
              </a:rPr>
              <a:t>guidance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removed people </a:t>
            </a:r>
            <a:r>
              <a:rPr dirty="0" sz="1200">
                <a:latin typeface="Arial"/>
                <a:cs typeface="Arial"/>
              </a:rPr>
              <a:t>from </a:t>
            </a:r>
            <a:r>
              <a:rPr dirty="0" sz="1200" spc="-5">
                <a:latin typeface="Arial"/>
                <a:cs typeface="Arial"/>
              </a:rPr>
              <a:t>darkness </a:t>
            </a:r>
            <a:r>
              <a:rPr dirty="0" sz="1200">
                <a:latin typeface="Arial"/>
                <a:cs typeface="Arial"/>
              </a:rPr>
              <a:t>to </a:t>
            </a:r>
            <a:r>
              <a:rPr dirty="0" sz="1200" spc="-5">
                <a:latin typeface="Arial"/>
                <a:cs typeface="Arial"/>
              </a:rPr>
              <a:t>light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However, nowadays there </a:t>
            </a:r>
            <a:r>
              <a:rPr dirty="0" sz="1200">
                <a:latin typeface="Arial"/>
                <a:cs typeface="Arial"/>
              </a:rPr>
              <a:t>are </a:t>
            </a:r>
            <a:r>
              <a:rPr dirty="0" sz="1200" spc="-5">
                <a:latin typeface="Arial"/>
                <a:cs typeface="Arial"/>
              </a:rPr>
              <a:t>only </a:t>
            </a:r>
            <a:r>
              <a:rPr dirty="0" sz="1200">
                <a:latin typeface="Arial"/>
                <a:cs typeface="Arial"/>
              </a:rPr>
              <a:t>fragments </a:t>
            </a:r>
            <a:r>
              <a:rPr dirty="0" sz="1200" spc="-5">
                <a:latin typeface="Arial"/>
                <a:cs typeface="Arial"/>
              </a:rPr>
              <a:t>of the</a:t>
            </a:r>
            <a:r>
              <a:rPr dirty="0" sz="1200" spc="-10">
                <a:latin typeface="Arial"/>
                <a:cs typeface="Arial"/>
              </a:rPr>
              <a:t> </a:t>
            </a:r>
            <a:r>
              <a:rPr dirty="0" sz="1200" spc="-5">
                <a:latin typeface="Arial"/>
                <a:cs typeface="Arial"/>
              </a:rPr>
              <a:t>Truth</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All </a:t>
            </a:r>
            <a:r>
              <a:rPr dirty="0" sz="1200">
                <a:latin typeface="Arial"/>
                <a:cs typeface="Arial"/>
              </a:rPr>
              <a:t>past </a:t>
            </a:r>
            <a:r>
              <a:rPr dirty="0" sz="1200" spc="-5">
                <a:latin typeface="Arial"/>
                <a:cs typeface="Arial"/>
              </a:rPr>
              <a:t>books except the Holy Qur‘an were</a:t>
            </a:r>
            <a:r>
              <a:rPr dirty="0" sz="1200" spc="25">
                <a:latin typeface="Arial"/>
                <a:cs typeface="Arial"/>
              </a:rPr>
              <a:t> </a:t>
            </a:r>
            <a:r>
              <a:rPr dirty="0" sz="1200">
                <a:latin typeface="Arial"/>
                <a:cs typeface="Arial"/>
              </a:rPr>
              <a:t>falsified</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Importance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memorise </a:t>
            </a:r>
            <a:r>
              <a:rPr dirty="0" u="heavy" sz="1200" b="1" i="1">
                <a:uFill>
                  <a:solidFill>
                    <a:srgbClr val="000000"/>
                  </a:solidFill>
                </a:uFill>
                <a:latin typeface="Arial"/>
                <a:cs typeface="Arial"/>
              </a:rPr>
              <a:t>the </a:t>
            </a:r>
            <a:r>
              <a:rPr dirty="0" u="heavy" sz="1200" spc="-45" b="1" i="1">
                <a:uFill>
                  <a:solidFill>
                    <a:srgbClr val="000000"/>
                  </a:solidFill>
                </a:uFill>
                <a:latin typeface="Arial"/>
                <a:cs typeface="Arial"/>
              </a:rPr>
              <a:t>Qur‟an </a:t>
            </a:r>
            <a:r>
              <a:rPr dirty="0" u="heavy" sz="1200" b="1" i="1">
                <a:uFill>
                  <a:solidFill>
                    <a:srgbClr val="000000"/>
                  </a:solidFill>
                </a:uFill>
                <a:latin typeface="Arial"/>
                <a:cs typeface="Arial"/>
              </a:rPr>
              <a:t>as to </a:t>
            </a:r>
            <a:r>
              <a:rPr dirty="0" u="heavy" sz="1200" spc="-5" b="1" i="1">
                <a:uFill>
                  <a:solidFill>
                    <a:srgbClr val="000000"/>
                  </a:solidFill>
                </a:uFill>
                <a:latin typeface="Arial"/>
                <a:cs typeface="Arial"/>
              </a:rPr>
              <a:t>study </a:t>
            </a:r>
            <a:r>
              <a:rPr dirty="0" u="heavy" sz="1200" b="1" i="1">
                <a:uFill>
                  <a:solidFill>
                    <a:srgbClr val="000000"/>
                  </a:solidFill>
                </a:uFill>
                <a:latin typeface="Arial"/>
                <a:cs typeface="Arial"/>
              </a:rPr>
              <a:t>its</a:t>
            </a:r>
            <a:r>
              <a:rPr dirty="0" u="heavy" sz="1200" spc="45" b="1" i="1">
                <a:uFill>
                  <a:solidFill>
                    <a:srgbClr val="000000"/>
                  </a:solidFill>
                </a:uFill>
                <a:latin typeface="Arial"/>
                <a:cs typeface="Arial"/>
              </a:rPr>
              <a:t> </a:t>
            </a:r>
            <a:r>
              <a:rPr dirty="0" u="heavy" sz="1200" spc="-5" b="1" i="1">
                <a:uFill>
                  <a:solidFill>
                    <a:srgbClr val="000000"/>
                  </a:solidFill>
                </a:uFill>
                <a:latin typeface="Arial"/>
                <a:cs typeface="Arial"/>
              </a:rPr>
              <a:t>meaning?</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Benefits found in the</a:t>
            </a:r>
            <a:r>
              <a:rPr dirty="0" sz="1200" spc="-10">
                <a:latin typeface="Arial"/>
                <a:cs typeface="Arial"/>
              </a:rPr>
              <a:t> </a:t>
            </a:r>
            <a:r>
              <a:rPr dirty="0" sz="1200" spc="-5">
                <a:latin typeface="Arial"/>
                <a:cs typeface="Arial"/>
              </a:rPr>
              <a:t>Qur‘an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People of the Qur‘an are of exalted</a:t>
            </a:r>
            <a:r>
              <a:rPr dirty="0" sz="1200" spc="35">
                <a:latin typeface="Arial"/>
                <a:cs typeface="Arial"/>
              </a:rPr>
              <a:t> </a:t>
            </a:r>
            <a:r>
              <a:rPr dirty="0" sz="1200">
                <a:latin typeface="Arial"/>
                <a:cs typeface="Arial"/>
              </a:rPr>
              <a:t>rank</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People of </a:t>
            </a:r>
            <a:r>
              <a:rPr dirty="0" sz="1200">
                <a:latin typeface="Arial"/>
                <a:cs typeface="Arial"/>
              </a:rPr>
              <a:t>Qur‘an </a:t>
            </a:r>
            <a:r>
              <a:rPr dirty="0" sz="1200" spc="-5">
                <a:latin typeface="Arial"/>
                <a:cs typeface="Arial"/>
              </a:rPr>
              <a:t>hope </a:t>
            </a:r>
            <a:r>
              <a:rPr dirty="0" sz="1200">
                <a:latin typeface="Arial"/>
                <a:cs typeface="Arial"/>
              </a:rPr>
              <a:t>for </a:t>
            </a:r>
            <a:r>
              <a:rPr dirty="0" sz="1200" spc="-5">
                <a:latin typeface="Arial"/>
                <a:cs typeface="Arial"/>
              </a:rPr>
              <a:t>a trade that will never</a:t>
            </a:r>
            <a:r>
              <a:rPr dirty="0" sz="1200" spc="-25">
                <a:latin typeface="Arial"/>
                <a:cs typeface="Arial"/>
              </a:rPr>
              <a:t> </a:t>
            </a:r>
            <a:r>
              <a:rPr dirty="0" sz="1200" spc="-5">
                <a:latin typeface="Arial"/>
                <a:cs typeface="Arial"/>
              </a:rPr>
              <a:t>perish</a:t>
            </a:r>
            <a:endParaRPr sz="1200">
              <a:latin typeface="Arial"/>
              <a:cs typeface="Arial"/>
            </a:endParaRPr>
          </a:p>
          <a:p>
            <a:pPr marL="469900" indent="-229235">
              <a:lnSpc>
                <a:spcPts val="1380"/>
              </a:lnSpc>
              <a:buAutoNum type="arabicPeriod"/>
              <a:tabLst>
                <a:tab pos="470534" algn="l"/>
              </a:tabLst>
            </a:pPr>
            <a:r>
              <a:rPr dirty="0" sz="1200" spc="15">
                <a:latin typeface="Arial"/>
                <a:cs typeface="Arial"/>
              </a:rPr>
              <a:t>We </a:t>
            </a:r>
            <a:r>
              <a:rPr dirty="0" sz="1200" spc="-5">
                <a:latin typeface="Arial"/>
                <a:cs typeface="Arial"/>
              </a:rPr>
              <a:t>cannot do without the Book of</a:t>
            </a:r>
            <a:r>
              <a:rPr dirty="0" sz="1200" spc="-35">
                <a:latin typeface="Arial"/>
                <a:cs typeface="Arial"/>
              </a:rPr>
              <a:t> </a:t>
            </a:r>
            <a:r>
              <a:rPr dirty="0" sz="1200" spc="-5">
                <a:latin typeface="Arial"/>
                <a:cs typeface="Arial"/>
              </a:rPr>
              <a:t>Allah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Memorisation of the Qur‘an guides you </a:t>
            </a:r>
            <a:r>
              <a:rPr dirty="0" sz="1200">
                <a:latin typeface="Arial"/>
                <a:cs typeface="Arial"/>
              </a:rPr>
              <a:t>to </a:t>
            </a:r>
            <a:r>
              <a:rPr dirty="0" sz="1200" spc="-5">
                <a:latin typeface="Arial"/>
                <a:cs typeface="Arial"/>
              </a:rPr>
              <a:t>the Straight</a:t>
            </a:r>
            <a:r>
              <a:rPr dirty="0" sz="1200" spc="35">
                <a:latin typeface="Arial"/>
                <a:cs typeface="Arial"/>
              </a:rPr>
              <a:t> </a:t>
            </a:r>
            <a:r>
              <a:rPr dirty="0" sz="1200" spc="-5">
                <a:latin typeface="Arial"/>
                <a:cs typeface="Arial"/>
              </a:rPr>
              <a:t>Path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Qur‘an is a </a:t>
            </a:r>
            <a:r>
              <a:rPr dirty="0" sz="1200">
                <a:latin typeface="Arial"/>
                <a:cs typeface="Arial"/>
              </a:rPr>
              <a:t>cure </a:t>
            </a:r>
            <a:r>
              <a:rPr dirty="0" sz="1200" spc="-5">
                <a:latin typeface="Arial"/>
                <a:cs typeface="Arial"/>
              </a:rPr>
              <a:t>for the hardening of the</a:t>
            </a:r>
            <a:r>
              <a:rPr dirty="0" sz="1200" spc="20">
                <a:latin typeface="Arial"/>
                <a:cs typeface="Arial"/>
              </a:rPr>
              <a:t> </a:t>
            </a:r>
            <a:r>
              <a:rPr dirty="0" sz="1200" spc="-5">
                <a:latin typeface="Arial"/>
                <a:cs typeface="Arial"/>
              </a:rPr>
              <a:t>heart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Qur‘an increases your</a:t>
            </a:r>
            <a:r>
              <a:rPr dirty="0" sz="1200">
                <a:latin typeface="Arial"/>
                <a:cs typeface="Arial"/>
              </a:rPr>
              <a:t> </a:t>
            </a:r>
            <a:r>
              <a:rPr dirty="0" sz="1200" spc="-5">
                <a:latin typeface="Arial"/>
                <a:cs typeface="Arial"/>
              </a:rPr>
              <a:t>Imaan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Memorisation of Qur‘an is </a:t>
            </a:r>
            <a:r>
              <a:rPr dirty="0" sz="1200">
                <a:latin typeface="Arial"/>
                <a:cs typeface="Arial"/>
              </a:rPr>
              <a:t>easy </a:t>
            </a:r>
            <a:r>
              <a:rPr dirty="0" sz="1200" spc="-5">
                <a:latin typeface="Arial"/>
                <a:cs typeface="Arial"/>
              </a:rPr>
              <a:t>and</a:t>
            </a:r>
            <a:r>
              <a:rPr dirty="0" sz="1200" spc="10">
                <a:latin typeface="Arial"/>
                <a:cs typeface="Arial"/>
              </a:rPr>
              <a:t> </a:t>
            </a:r>
            <a:r>
              <a:rPr dirty="0" sz="1200" spc="-5">
                <a:latin typeface="Arial"/>
                <a:cs typeface="Arial"/>
              </a:rPr>
              <a:t>easily-accomplished</a:t>
            </a:r>
            <a:endParaRPr sz="1200">
              <a:latin typeface="Arial"/>
              <a:cs typeface="Arial"/>
            </a:endParaRPr>
          </a:p>
          <a:p>
            <a:pPr marL="469900" indent="-229235">
              <a:lnSpc>
                <a:spcPts val="1380"/>
              </a:lnSpc>
              <a:buAutoNum type="arabicPeriod"/>
              <a:tabLst>
                <a:tab pos="470534" algn="l"/>
              </a:tabLst>
            </a:pPr>
            <a:r>
              <a:rPr dirty="0" sz="1200">
                <a:latin typeface="Arial"/>
                <a:cs typeface="Arial"/>
              </a:rPr>
              <a:t>None </a:t>
            </a:r>
            <a:r>
              <a:rPr dirty="0" sz="1200" spc="-5">
                <a:latin typeface="Arial"/>
                <a:cs typeface="Arial"/>
              </a:rPr>
              <a:t>takes delight in the Night </a:t>
            </a:r>
            <a:r>
              <a:rPr dirty="0" sz="1200">
                <a:latin typeface="Arial"/>
                <a:cs typeface="Arial"/>
              </a:rPr>
              <a:t>prayer </a:t>
            </a:r>
            <a:r>
              <a:rPr dirty="0" sz="1200" spc="-5">
                <a:latin typeface="Arial"/>
                <a:cs typeface="Arial"/>
              </a:rPr>
              <a:t>except </a:t>
            </a:r>
            <a:r>
              <a:rPr dirty="0" sz="1200">
                <a:latin typeface="Arial"/>
                <a:cs typeface="Arial"/>
              </a:rPr>
              <a:t>the </a:t>
            </a:r>
            <a:r>
              <a:rPr dirty="0" sz="1200" spc="-5">
                <a:latin typeface="Arial"/>
                <a:cs typeface="Arial"/>
              </a:rPr>
              <a:t>people of</a:t>
            </a:r>
            <a:r>
              <a:rPr dirty="0" sz="1200" spc="10">
                <a:latin typeface="Arial"/>
                <a:cs typeface="Arial"/>
              </a:rPr>
              <a:t> </a:t>
            </a:r>
            <a:r>
              <a:rPr dirty="0" sz="1200" spc="-5">
                <a:latin typeface="Arial"/>
                <a:cs typeface="Arial"/>
              </a:rPr>
              <a:t>Qur‘an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Treasures of goodness in the memorisation of</a:t>
            </a:r>
            <a:r>
              <a:rPr dirty="0" sz="1200" spc="15">
                <a:latin typeface="Arial"/>
                <a:cs typeface="Arial"/>
              </a:rPr>
              <a:t> </a:t>
            </a:r>
            <a:r>
              <a:rPr dirty="0" sz="1200">
                <a:latin typeface="Arial"/>
                <a:cs typeface="Arial"/>
              </a:rPr>
              <a:t>Qur‘an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Hifdh al-Qur‘an is one of the causes of salvation from the</a:t>
            </a:r>
            <a:r>
              <a:rPr dirty="0" sz="1200" spc="50">
                <a:latin typeface="Arial"/>
                <a:cs typeface="Arial"/>
              </a:rPr>
              <a:t> </a:t>
            </a:r>
            <a:r>
              <a:rPr dirty="0" sz="1200" spc="-5">
                <a:latin typeface="Arial"/>
                <a:cs typeface="Arial"/>
              </a:rPr>
              <a:t>Hellfire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From the honour of Allah is to honour the carrier (preserver) </a:t>
            </a:r>
            <a:r>
              <a:rPr dirty="0" sz="1200">
                <a:latin typeface="Arial"/>
                <a:cs typeface="Arial"/>
              </a:rPr>
              <a:t>of</a:t>
            </a:r>
            <a:r>
              <a:rPr dirty="0" sz="1200" spc="80">
                <a:latin typeface="Arial"/>
                <a:cs typeface="Arial"/>
              </a:rPr>
              <a:t> </a:t>
            </a:r>
            <a:r>
              <a:rPr dirty="0" sz="1200" spc="-5">
                <a:latin typeface="Arial"/>
                <a:cs typeface="Arial"/>
              </a:rPr>
              <a:t>Qur‘an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Memorisation of the Qur‘an is better than the </a:t>
            </a:r>
            <a:r>
              <a:rPr dirty="0" sz="1200" spc="-10">
                <a:latin typeface="Arial"/>
                <a:cs typeface="Arial"/>
              </a:rPr>
              <a:t>world </a:t>
            </a:r>
            <a:r>
              <a:rPr dirty="0" sz="1200">
                <a:latin typeface="Arial"/>
                <a:cs typeface="Arial"/>
              </a:rPr>
              <a:t>and all </a:t>
            </a:r>
            <a:r>
              <a:rPr dirty="0" sz="1200" spc="-5">
                <a:latin typeface="Arial"/>
                <a:cs typeface="Arial"/>
              </a:rPr>
              <a:t>that </a:t>
            </a:r>
            <a:r>
              <a:rPr dirty="0" sz="1200" spc="5">
                <a:latin typeface="Arial"/>
                <a:cs typeface="Arial"/>
              </a:rPr>
              <a:t>is </a:t>
            </a:r>
            <a:r>
              <a:rPr dirty="0" sz="1200" spc="-5">
                <a:latin typeface="Arial"/>
                <a:cs typeface="Arial"/>
              </a:rPr>
              <a:t>in</a:t>
            </a:r>
            <a:r>
              <a:rPr dirty="0" sz="1200" spc="35">
                <a:latin typeface="Arial"/>
                <a:cs typeface="Arial"/>
              </a:rPr>
              <a:t> </a:t>
            </a:r>
            <a:r>
              <a:rPr dirty="0" sz="1200">
                <a:latin typeface="Arial"/>
                <a:cs typeface="Arial"/>
              </a:rPr>
              <a:t>it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Tranquillity descends upon </a:t>
            </a:r>
            <a:r>
              <a:rPr dirty="0" sz="1200">
                <a:latin typeface="Arial"/>
                <a:cs typeface="Arial"/>
              </a:rPr>
              <a:t>the </a:t>
            </a:r>
            <a:r>
              <a:rPr dirty="0" sz="1200" spc="-5">
                <a:latin typeface="Arial"/>
                <a:cs typeface="Arial"/>
              </a:rPr>
              <a:t>people of Qur‘an and </a:t>
            </a:r>
            <a:r>
              <a:rPr dirty="0" sz="1200">
                <a:latin typeface="Arial"/>
                <a:cs typeface="Arial"/>
              </a:rPr>
              <a:t>mercy </a:t>
            </a:r>
            <a:r>
              <a:rPr dirty="0" sz="1200" spc="-5">
                <a:latin typeface="Arial"/>
                <a:cs typeface="Arial"/>
              </a:rPr>
              <a:t>envelopes</a:t>
            </a:r>
            <a:r>
              <a:rPr dirty="0" sz="1200" spc="10">
                <a:latin typeface="Arial"/>
                <a:cs typeface="Arial"/>
              </a:rPr>
              <a:t> </a:t>
            </a:r>
            <a:r>
              <a:rPr dirty="0" sz="1200" spc="-5">
                <a:latin typeface="Arial"/>
                <a:cs typeface="Arial"/>
              </a:rPr>
              <a:t>them</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Qur‘an opens up the doors of goodness for the</a:t>
            </a:r>
            <a:r>
              <a:rPr dirty="0" sz="1200" spc="20">
                <a:latin typeface="Arial"/>
                <a:cs typeface="Arial"/>
              </a:rPr>
              <a:t> </a:t>
            </a:r>
            <a:r>
              <a:rPr dirty="0" sz="1200" spc="-5">
                <a:latin typeface="Arial"/>
                <a:cs typeface="Arial"/>
              </a:rPr>
              <a:t>Muslim</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Qur‘an is </a:t>
            </a:r>
            <a:r>
              <a:rPr dirty="0" sz="1200">
                <a:latin typeface="Arial"/>
                <a:cs typeface="Arial"/>
              </a:rPr>
              <a:t>a </a:t>
            </a:r>
            <a:r>
              <a:rPr dirty="0" sz="1200" spc="-5">
                <a:latin typeface="Arial"/>
                <a:cs typeface="Arial"/>
              </a:rPr>
              <a:t>Cure</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The </a:t>
            </a:r>
            <a:r>
              <a:rPr dirty="0" sz="1200">
                <a:latin typeface="Arial"/>
                <a:cs typeface="Arial"/>
              </a:rPr>
              <a:t>recitor </a:t>
            </a:r>
            <a:r>
              <a:rPr dirty="0" sz="1200" spc="-5">
                <a:latin typeface="Arial"/>
                <a:cs typeface="Arial"/>
              </a:rPr>
              <a:t>of Qur‘an is </a:t>
            </a:r>
            <a:r>
              <a:rPr dirty="0" sz="1200">
                <a:latin typeface="Arial"/>
                <a:cs typeface="Arial"/>
              </a:rPr>
              <a:t>not </a:t>
            </a:r>
            <a:r>
              <a:rPr dirty="0" sz="1200" spc="-5">
                <a:latin typeface="Arial"/>
                <a:cs typeface="Arial"/>
              </a:rPr>
              <a:t>returned to senile old</a:t>
            </a:r>
            <a:r>
              <a:rPr dirty="0" sz="1200">
                <a:latin typeface="Arial"/>
                <a:cs typeface="Arial"/>
              </a:rPr>
              <a:t> </a:t>
            </a:r>
            <a:r>
              <a:rPr dirty="0" sz="1200" spc="-5">
                <a:latin typeface="Arial"/>
                <a:cs typeface="Arial"/>
              </a:rPr>
              <a:t>age</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The Haafidh of Qur‘an is in </a:t>
            </a:r>
            <a:r>
              <a:rPr dirty="0" sz="1200">
                <a:latin typeface="Arial"/>
                <a:cs typeface="Arial"/>
              </a:rPr>
              <a:t>the </a:t>
            </a:r>
            <a:r>
              <a:rPr dirty="0" sz="1200" spc="-5">
                <a:latin typeface="Arial"/>
                <a:cs typeface="Arial"/>
              </a:rPr>
              <a:t>Shade of </a:t>
            </a:r>
            <a:r>
              <a:rPr dirty="0" sz="1200">
                <a:latin typeface="Arial"/>
                <a:cs typeface="Arial"/>
              </a:rPr>
              <a:t>the </a:t>
            </a:r>
            <a:r>
              <a:rPr dirty="0" sz="1200" spc="-5">
                <a:latin typeface="Arial"/>
                <a:cs typeface="Arial"/>
              </a:rPr>
              <a:t>Throne of the Most</a:t>
            </a:r>
            <a:r>
              <a:rPr dirty="0" sz="1200" spc="35">
                <a:latin typeface="Arial"/>
                <a:cs typeface="Arial"/>
              </a:rPr>
              <a:t> </a:t>
            </a:r>
            <a:r>
              <a:rPr dirty="0" sz="1200" spc="-5">
                <a:latin typeface="Arial"/>
                <a:cs typeface="Arial"/>
              </a:rPr>
              <a:t>Merciful</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Qur‘an intercedes </a:t>
            </a:r>
            <a:r>
              <a:rPr dirty="0" sz="1200">
                <a:latin typeface="Arial"/>
                <a:cs typeface="Arial"/>
              </a:rPr>
              <a:t>for its </a:t>
            </a:r>
            <a:r>
              <a:rPr dirty="0" sz="1200" spc="-5">
                <a:latin typeface="Arial"/>
                <a:cs typeface="Arial"/>
              </a:rPr>
              <a:t>companion in Qabr and </a:t>
            </a:r>
            <a:r>
              <a:rPr dirty="0" sz="1200" spc="-10">
                <a:latin typeface="Arial"/>
                <a:cs typeface="Arial"/>
              </a:rPr>
              <a:t>on </a:t>
            </a:r>
            <a:r>
              <a:rPr dirty="0" sz="1200" spc="-5">
                <a:latin typeface="Arial"/>
                <a:cs typeface="Arial"/>
              </a:rPr>
              <a:t>the Day of</a:t>
            </a:r>
            <a:r>
              <a:rPr dirty="0" sz="1200" spc="85">
                <a:latin typeface="Arial"/>
                <a:cs typeface="Arial"/>
              </a:rPr>
              <a:t> </a:t>
            </a:r>
            <a:r>
              <a:rPr dirty="0" sz="1200" spc="-5">
                <a:latin typeface="Arial"/>
                <a:cs typeface="Arial"/>
              </a:rPr>
              <a:t>Judgement</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The Haafidh of Qur‘an ascends through the levels </a:t>
            </a:r>
            <a:r>
              <a:rPr dirty="0" sz="1200">
                <a:latin typeface="Arial"/>
                <a:cs typeface="Arial"/>
              </a:rPr>
              <a:t>of</a:t>
            </a:r>
            <a:r>
              <a:rPr dirty="0" sz="1200" spc="40">
                <a:latin typeface="Arial"/>
                <a:cs typeface="Arial"/>
              </a:rPr>
              <a:t> </a:t>
            </a:r>
            <a:r>
              <a:rPr dirty="0" sz="1200" spc="-5">
                <a:latin typeface="Arial"/>
                <a:cs typeface="Arial"/>
              </a:rPr>
              <a:t>Paradise</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Main teachings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a:t>
            </a:r>
            <a:r>
              <a:rPr dirty="0" u="heavy" sz="1200" spc="-45" b="1" i="1">
                <a:uFill>
                  <a:solidFill>
                    <a:srgbClr val="000000"/>
                  </a:solidFill>
                </a:uFill>
                <a:latin typeface="Arial"/>
                <a:cs typeface="Arial"/>
              </a:rPr>
              <a:t>Qur‟an </a:t>
            </a:r>
            <a:r>
              <a:rPr dirty="0" u="heavy" sz="1200" b="1" i="1">
                <a:uFill>
                  <a:solidFill>
                    <a:srgbClr val="000000"/>
                  </a:solidFill>
                </a:uFill>
                <a:latin typeface="Arial"/>
                <a:cs typeface="Arial"/>
              </a:rPr>
              <a:t>about the </a:t>
            </a:r>
            <a:r>
              <a:rPr dirty="0" u="heavy" sz="1200" spc="-5" b="1" i="1">
                <a:uFill>
                  <a:solidFill>
                    <a:srgbClr val="000000"/>
                  </a:solidFill>
                </a:uFill>
                <a:latin typeface="Arial"/>
                <a:cs typeface="Arial"/>
              </a:rPr>
              <a:t>line </a:t>
            </a:r>
            <a:r>
              <a:rPr dirty="0" u="heavy" sz="1200" b="1" i="1">
                <a:uFill>
                  <a:solidFill>
                    <a:srgbClr val="000000"/>
                  </a:solidFill>
                </a:uFill>
                <a:latin typeface="Arial"/>
                <a:cs typeface="Arial"/>
              </a:rPr>
              <a:t>of prophetic </a:t>
            </a:r>
            <a:r>
              <a:rPr dirty="0" u="heavy" sz="1200" spc="-5" b="1" i="1">
                <a:uFill>
                  <a:solidFill>
                    <a:srgbClr val="000000"/>
                  </a:solidFill>
                </a:uFill>
                <a:latin typeface="Arial"/>
                <a:cs typeface="Arial"/>
              </a:rPr>
              <a:t>messengers sent </a:t>
            </a:r>
            <a:r>
              <a:rPr dirty="0" u="heavy" sz="1200" b="1" i="1">
                <a:uFill>
                  <a:solidFill>
                    <a:srgbClr val="000000"/>
                  </a:solidFill>
                </a:uFill>
                <a:latin typeface="Arial"/>
                <a:cs typeface="Arial"/>
              </a:rPr>
              <a:t>by</a:t>
            </a:r>
            <a:r>
              <a:rPr dirty="0" u="heavy" sz="1200" spc="45" b="1" i="1">
                <a:uFill>
                  <a:solidFill>
                    <a:srgbClr val="000000"/>
                  </a:solidFill>
                </a:uFill>
                <a:latin typeface="Arial"/>
                <a:cs typeface="Arial"/>
              </a:rPr>
              <a:t> </a:t>
            </a:r>
            <a:r>
              <a:rPr dirty="0" u="heavy" sz="1200" b="1" i="1">
                <a:uFill>
                  <a:solidFill>
                    <a:srgbClr val="000000"/>
                  </a:solidFill>
                </a:uFill>
                <a:latin typeface="Arial"/>
                <a:cs typeface="Arial"/>
              </a:rPr>
              <a:t>God</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a:latin typeface="Arial"/>
                <a:cs typeface="Arial"/>
              </a:rPr>
              <a:t>In </a:t>
            </a:r>
            <a:r>
              <a:rPr dirty="0" sz="1200" spc="-5">
                <a:latin typeface="Arial"/>
                <a:cs typeface="Arial"/>
              </a:rPr>
              <a:t>Islam </a:t>
            </a:r>
            <a:r>
              <a:rPr dirty="0" sz="1200" spc="-10">
                <a:latin typeface="Arial"/>
                <a:cs typeface="Arial"/>
              </a:rPr>
              <a:t>we </a:t>
            </a:r>
            <a:r>
              <a:rPr dirty="0" sz="1200" spc="-5">
                <a:latin typeface="Arial"/>
                <a:cs typeface="Arial"/>
              </a:rPr>
              <a:t>believe in all </a:t>
            </a:r>
            <a:r>
              <a:rPr dirty="0" sz="1200">
                <a:latin typeface="Arial"/>
                <a:cs typeface="Arial"/>
              </a:rPr>
              <a:t>the </a:t>
            </a:r>
            <a:r>
              <a:rPr dirty="0" sz="1200" spc="-5">
                <a:latin typeface="Arial"/>
                <a:cs typeface="Arial"/>
              </a:rPr>
              <a:t>prophets that </a:t>
            </a:r>
            <a:r>
              <a:rPr dirty="0" sz="1200" spc="-10">
                <a:latin typeface="Arial"/>
                <a:cs typeface="Arial"/>
              </a:rPr>
              <a:t>was </a:t>
            </a:r>
            <a:r>
              <a:rPr dirty="0" sz="1200">
                <a:latin typeface="Arial"/>
                <a:cs typeface="Arial"/>
              </a:rPr>
              <a:t>sent </a:t>
            </a:r>
            <a:r>
              <a:rPr dirty="0" sz="1200" spc="-5">
                <a:latin typeface="Arial"/>
                <a:cs typeface="Arial"/>
              </a:rPr>
              <a:t>by </a:t>
            </a:r>
            <a:r>
              <a:rPr dirty="0" sz="1200">
                <a:latin typeface="Arial"/>
                <a:cs typeface="Arial"/>
              </a:rPr>
              <a:t>GOD </a:t>
            </a:r>
            <a:r>
              <a:rPr dirty="0" sz="1200" spc="-5">
                <a:latin typeface="Arial"/>
                <a:cs typeface="Arial"/>
              </a:rPr>
              <a:t>before </a:t>
            </a:r>
            <a:r>
              <a:rPr dirty="0" sz="1200">
                <a:latin typeface="Arial"/>
                <a:cs typeface="Arial"/>
              </a:rPr>
              <a:t>the time </a:t>
            </a:r>
            <a:r>
              <a:rPr dirty="0" sz="1200" spc="-5">
                <a:latin typeface="Arial"/>
                <a:cs typeface="Arial"/>
              </a:rPr>
              <a:t>of Mohammad  (s.a.w) and </a:t>
            </a:r>
            <a:r>
              <a:rPr dirty="0" sz="1200">
                <a:latin typeface="Arial"/>
                <a:cs typeface="Arial"/>
              </a:rPr>
              <a:t>that </a:t>
            </a:r>
            <a:r>
              <a:rPr dirty="0" sz="1200" spc="-10">
                <a:latin typeface="Arial"/>
                <a:cs typeface="Arial"/>
              </a:rPr>
              <a:t>was </a:t>
            </a:r>
            <a:r>
              <a:rPr dirty="0" sz="1200">
                <a:latin typeface="Arial"/>
                <a:cs typeface="Arial"/>
              </a:rPr>
              <a:t>mentioned </a:t>
            </a:r>
            <a:r>
              <a:rPr dirty="0" sz="1200" spc="-5">
                <a:latin typeface="Arial"/>
                <a:cs typeface="Arial"/>
              </a:rPr>
              <a:t>in the holy Qur‘an. </a:t>
            </a:r>
            <a:r>
              <a:rPr dirty="0" sz="1200">
                <a:latin typeface="Arial"/>
                <a:cs typeface="Arial"/>
              </a:rPr>
              <a:t>The </a:t>
            </a:r>
            <a:r>
              <a:rPr dirty="0" sz="1200" spc="-5">
                <a:latin typeface="Arial"/>
                <a:cs typeface="Arial"/>
              </a:rPr>
              <a:t>messenger believed in </a:t>
            </a:r>
            <a:r>
              <a:rPr dirty="0" sz="1200">
                <a:latin typeface="Arial"/>
                <a:cs typeface="Arial"/>
              </a:rPr>
              <a:t>that </a:t>
            </a:r>
            <a:r>
              <a:rPr dirty="0" sz="1200" spc="-5">
                <a:latin typeface="Arial"/>
                <a:cs typeface="Arial"/>
              </a:rPr>
              <a:t>which  had been revealed unto </a:t>
            </a:r>
            <a:r>
              <a:rPr dirty="0" sz="1200" spc="-10">
                <a:latin typeface="Arial"/>
                <a:cs typeface="Arial"/>
              </a:rPr>
              <a:t>him </a:t>
            </a:r>
            <a:r>
              <a:rPr dirty="0" sz="1200" spc="-5">
                <a:latin typeface="Arial"/>
                <a:cs typeface="Arial"/>
              </a:rPr>
              <a:t>from his Lord and (so </a:t>
            </a:r>
            <a:r>
              <a:rPr dirty="0" sz="1200" spc="10">
                <a:latin typeface="Arial"/>
                <a:cs typeface="Arial"/>
              </a:rPr>
              <a:t>do) </a:t>
            </a:r>
            <a:r>
              <a:rPr dirty="0" sz="1200" spc="-5">
                <a:latin typeface="Arial"/>
                <a:cs typeface="Arial"/>
              </a:rPr>
              <a:t>believers. Each one believed in </a:t>
            </a:r>
            <a:r>
              <a:rPr dirty="0" sz="1200" spc="-10">
                <a:latin typeface="Arial"/>
                <a:cs typeface="Arial"/>
              </a:rPr>
              <a:t>Allah  </a:t>
            </a:r>
            <a:r>
              <a:rPr dirty="0" sz="1200" spc="-5">
                <a:latin typeface="Arial"/>
                <a:cs typeface="Arial"/>
              </a:rPr>
              <a:t>and His angels and </a:t>
            </a:r>
            <a:r>
              <a:rPr dirty="0" sz="1200" spc="-10">
                <a:latin typeface="Arial"/>
                <a:cs typeface="Arial"/>
              </a:rPr>
              <a:t>His </a:t>
            </a:r>
            <a:r>
              <a:rPr dirty="0" sz="1200" spc="-5">
                <a:latin typeface="Arial"/>
                <a:cs typeface="Arial"/>
              </a:rPr>
              <a:t>scriptures and His messengers </a:t>
            </a:r>
            <a:r>
              <a:rPr dirty="0" sz="1200">
                <a:latin typeface="Arial"/>
                <a:cs typeface="Arial"/>
              </a:rPr>
              <a:t>– </a:t>
            </a:r>
            <a:r>
              <a:rPr dirty="0" sz="1200" spc="15">
                <a:latin typeface="Arial"/>
                <a:cs typeface="Arial"/>
              </a:rPr>
              <a:t>We </a:t>
            </a:r>
            <a:r>
              <a:rPr dirty="0" sz="1200" spc="-5">
                <a:latin typeface="Arial"/>
                <a:cs typeface="Arial"/>
              </a:rPr>
              <a:t>make no distinction between  any </a:t>
            </a:r>
            <a:r>
              <a:rPr dirty="0" sz="1200">
                <a:latin typeface="Arial"/>
                <a:cs typeface="Arial"/>
              </a:rPr>
              <a:t>of </a:t>
            </a:r>
            <a:r>
              <a:rPr dirty="0" sz="1200" spc="-5">
                <a:latin typeface="Arial"/>
                <a:cs typeface="Arial"/>
              </a:rPr>
              <a:t>His messengers </a:t>
            </a:r>
            <a:r>
              <a:rPr dirty="0" sz="1200">
                <a:latin typeface="Arial"/>
                <a:cs typeface="Arial"/>
              </a:rPr>
              <a:t>– </a:t>
            </a:r>
            <a:r>
              <a:rPr dirty="0" sz="1200" spc="-5">
                <a:latin typeface="Arial"/>
                <a:cs typeface="Arial"/>
              </a:rPr>
              <a:t>and </a:t>
            </a:r>
            <a:r>
              <a:rPr dirty="0" sz="1200">
                <a:latin typeface="Arial"/>
                <a:cs typeface="Arial"/>
              </a:rPr>
              <a:t>they </a:t>
            </a:r>
            <a:r>
              <a:rPr dirty="0" sz="1200" spc="-5">
                <a:latin typeface="Arial"/>
                <a:cs typeface="Arial"/>
              </a:rPr>
              <a:t>say: </a:t>
            </a:r>
            <a:r>
              <a:rPr dirty="0" sz="1200" spc="20">
                <a:latin typeface="Arial"/>
                <a:cs typeface="Arial"/>
              </a:rPr>
              <a:t>We </a:t>
            </a:r>
            <a:r>
              <a:rPr dirty="0" sz="1200" spc="-5">
                <a:latin typeface="Arial"/>
                <a:cs typeface="Arial"/>
              </a:rPr>
              <a:t>hear, and </a:t>
            </a:r>
            <a:r>
              <a:rPr dirty="0" sz="1200" spc="-10">
                <a:latin typeface="Arial"/>
                <a:cs typeface="Arial"/>
              </a:rPr>
              <a:t>we </a:t>
            </a:r>
            <a:r>
              <a:rPr dirty="0" sz="1200" spc="-5">
                <a:latin typeface="Arial"/>
                <a:cs typeface="Arial"/>
              </a:rPr>
              <a:t>obey. </a:t>
            </a:r>
            <a:r>
              <a:rPr dirty="0" sz="1200">
                <a:latin typeface="Arial"/>
                <a:cs typeface="Arial"/>
              </a:rPr>
              <a:t>(Grant </a:t>
            </a:r>
            <a:r>
              <a:rPr dirty="0" sz="1200" spc="-5">
                <a:latin typeface="Arial"/>
                <a:cs typeface="Arial"/>
              </a:rPr>
              <a:t>us) </a:t>
            </a:r>
            <a:r>
              <a:rPr dirty="0" sz="1200">
                <a:latin typeface="Arial"/>
                <a:cs typeface="Arial"/>
              </a:rPr>
              <a:t>Thy </a:t>
            </a:r>
            <a:r>
              <a:rPr dirty="0" sz="1200" spc="-5">
                <a:latin typeface="Arial"/>
                <a:cs typeface="Arial"/>
              </a:rPr>
              <a:t>forgiveness,  our Lord. Unto Thee is </a:t>
            </a:r>
            <a:r>
              <a:rPr dirty="0" sz="1200">
                <a:latin typeface="Arial"/>
                <a:cs typeface="Arial"/>
              </a:rPr>
              <a:t>the </a:t>
            </a:r>
            <a:r>
              <a:rPr dirty="0" sz="1200" spc="-5">
                <a:latin typeface="Arial"/>
                <a:cs typeface="Arial"/>
              </a:rPr>
              <a:t>journeying.</a:t>
            </a:r>
            <a:endParaRPr sz="1200">
              <a:latin typeface="Arial"/>
              <a:cs typeface="Arial"/>
            </a:endParaRPr>
          </a:p>
          <a:p>
            <a:pPr algn="just" marL="12700" marR="5080">
              <a:lnSpc>
                <a:spcPct val="95900"/>
              </a:lnSpc>
              <a:spcBef>
                <a:spcPts val="470"/>
              </a:spcBef>
            </a:pPr>
            <a:r>
              <a:rPr dirty="0" sz="1200" spc="-5">
                <a:latin typeface="Arial"/>
                <a:cs typeface="Arial"/>
              </a:rPr>
              <a:t>Prophets were infallible in conveying </a:t>
            </a:r>
            <a:r>
              <a:rPr dirty="0" sz="1200">
                <a:latin typeface="Arial"/>
                <a:cs typeface="Arial"/>
              </a:rPr>
              <a:t>the </a:t>
            </a:r>
            <a:r>
              <a:rPr dirty="0" sz="1200" spc="-5">
                <a:latin typeface="Arial"/>
                <a:cs typeface="Arial"/>
              </a:rPr>
              <a:t>message from Allaah. </a:t>
            </a:r>
            <a:r>
              <a:rPr dirty="0" sz="1200">
                <a:latin typeface="Arial"/>
                <a:cs typeface="Arial"/>
              </a:rPr>
              <a:t>They </a:t>
            </a:r>
            <a:r>
              <a:rPr dirty="0" sz="1200" spc="5">
                <a:latin typeface="Arial"/>
                <a:cs typeface="Arial"/>
              </a:rPr>
              <a:t>did </a:t>
            </a:r>
            <a:r>
              <a:rPr dirty="0" sz="1200" spc="-5">
                <a:latin typeface="Arial"/>
                <a:cs typeface="Arial"/>
              </a:rPr>
              <a:t>not conceal  anything </a:t>
            </a:r>
            <a:r>
              <a:rPr dirty="0" sz="1200">
                <a:latin typeface="Arial"/>
                <a:cs typeface="Arial"/>
              </a:rPr>
              <a:t>that Allah </a:t>
            </a:r>
            <a:r>
              <a:rPr dirty="0" sz="1200" spc="-5">
                <a:latin typeface="Arial"/>
                <a:cs typeface="Arial"/>
              </a:rPr>
              <a:t>had revealed </a:t>
            </a:r>
            <a:r>
              <a:rPr dirty="0" sz="1200">
                <a:latin typeface="Arial"/>
                <a:cs typeface="Arial"/>
              </a:rPr>
              <a:t>to them, </a:t>
            </a:r>
            <a:r>
              <a:rPr dirty="0" sz="1200" spc="-5">
                <a:latin typeface="Arial"/>
                <a:cs typeface="Arial"/>
              </a:rPr>
              <a:t>and </a:t>
            </a:r>
            <a:r>
              <a:rPr dirty="0" sz="1200">
                <a:latin typeface="Arial"/>
                <a:cs typeface="Arial"/>
              </a:rPr>
              <a:t>they </a:t>
            </a:r>
            <a:r>
              <a:rPr dirty="0" sz="1200" spc="-5">
                <a:latin typeface="Arial"/>
                <a:cs typeface="Arial"/>
              </a:rPr>
              <a:t>did not add anything </a:t>
            </a:r>
            <a:r>
              <a:rPr dirty="0" sz="1200">
                <a:latin typeface="Arial"/>
                <a:cs typeface="Arial"/>
              </a:rPr>
              <a:t>from </a:t>
            </a:r>
            <a:r>
              <a:rPr dirty="0" sz="1200" spc="-5">
                <a:latin typeface="Arial"/>
                <a:cs typeface="Arial"/>
              </a:rPr>
              <a:t>themselves.  Allah said to His Prophet Muhammad (peace and blessings of Allaah be upon him)  (interpretation of the meaning):</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48</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900" cy="9081135"/>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13335">
              <a:lnSpc>
                <a:spcPts val="1380"/>
              </a:lnSpc>
            </a:pPr>
            <a:r>
              <a:rPr dirty="0" sz="1200" spc="-405">
                <a:latin typeface="Arial"/>
                <a:cs typeface="Arial"/>
              </a:rPr>
              <a:t>―O</a:t>
            </a:r>
            <a:r>
              <a:rPr dirty="0" sz="1200" spc="15">
                <a:latin typeface="Arial"/>
                <a:cs typeface="Arial"/>
              </a:rPr>
              <a:t> </a:t>
            </a:r>
            <a:r>
              <a:rPr dirty="0" sz="1200" spc="-5">
                <a:latin typeface="Arial"/>
                <a:cs typeface="Arial"/>
              </a:rPr>
              <a:t>Messenger (Muhammad)! Proclaim </a:t>
            </a:r>
            <a:r>
              <a:rPr dirty="0" sz="1200">
                <a:latin typeface="Arial"/>
                <a:cs typeface="Arial"/>
              </a:rPr>
              <a:t>(the </a:t>
            </a:r>
            <a:r>
              <a:rPr dirty="0" sz="1200" spc="-5">
                <a:latin typeface="Arial"/>
                <a:cs typeface="Arial"/>
              </a:rPr>
              <a:t>Message) which has been sent down </a:t>
            </a:r>
            <a:r>
              <a:rPr dirty="0" sz="1200">
                <a:latin typeface="Arial"/>
                <a:cs typeface="Arial"/>
              </a:rPr>
              <a:t>to </a:t>
            </a:r>
            <a:r>
              <a:rPr dirty="0" sz="1200" spc="-10">
                <a:latin typeface="Arial"/>
                <a:cs typeface="Arial"/>
              </a:rPr>
              <a:t>you </a:t>
            </a:r>
            <a:r>
              <a:rPr dirty="0" sz="1200" spc="-5">
                <a:latin typeface="Arial"/>
                <a:cs typeface="Arial"/>
              </a:rPr>
              <a:t>from  your Lord. And </a:t>
            </a:r>
            <a:r>
              <a:rPr dirty="0" sz="1200" spc="-10">
                <a:latin typeface="Arial"/>
                <a:cs typeface="Arial"/>
              </a:rPr>
              <a:t>if you </a:t>
            </a:r>
            <a:r>
              <a:rPr dirty="0" sz="1200" spc="-5">
                <a:latin typeface="Arial"/>
                <a:cs typeface="Arial"/>
              </a:rPr>
              <a:t>do not, then </a:t>
            </a:r>
            <a:r>
              <a:rPr dirty="0" sz="1200" spc="-10">
                <a:latin typeface="Arial"/>
                <a:cs typeface="Arial"/>
              </a:rPr>
              <a:t>you </a:t>
            </a:r>
            <a:r>
              <a:rPr dirty="0" sz="1200" spc="-5">
                <a:latin typeface="Arial"/>
                <a:cs typeface="Arial"/>
              </a:rPr>
              <a:t>have not </a:t>
            </a:r>
            <a:r>
              <a:rPr dirty="0" sz="1200" spc="-10">
                <a:latin typeface="Arial"/>
                <a:cs typeface="Arial"/>
              </a:rPr>
              <a:t>conveyed </a:t>
            </a:r>
            <a:r>
              <a:rPr dirty="0" sz="1200" spc="-5">
                <a:latin typeface="Arial"/>
                <a:cs typeface="Arial"/>
              </a:rPr>
              <a:t>His Message. Allaah </a:t>
            </a:r>
            <a:r>
              <a:rPr dirty="0" sz="1200" spc="-10">
                <a:latin typeface="Arial"/>
                <a:cs typeface="Arial"/>
              </a:rPr>
              <a:t>will </a:t>
            </a:r>
            <a:r>
              <a:rPr dirty="0" sz="1200">
                <a:latin typeface="Arial"/>
                <a:cs typeface="Arial"/>
              </a:rPr>
              <a:t>protect  </a:t>
            </a:r>
            <a:r>
              <a:rPr dirty="0" sz="1200" spc="-5">
                <a:latin typeface="Arial"/>
                <a:cs typeface="Arial"/>
              </a:rPr>
              <a:t>you </a:t>
            </a:r>
            <a:r>
              <a:rPr dirty="0" sz="1200">
                <a:latin typeface="Arial"/>
                <a:cs typeface="Arial"/>
              </a:rPr>
              <a:t>from </a:t>
            </a:r>
            <a:r>
              <a:rPr dirty="0" sz="1200" spc="-15">
                <a:latin typeface="Arial"/>
                <a:cs typeface="Arial"/>
              </a:rPr>
              <a:t>mankind‖</a:t>
            </a:r>
            <a:r>
              <a:rPr dirty="0" sz="1200" spc="-5">
                <a:latin typeface="Arial"/>
                <a:cs typeface="Arial"/>
              </a:rPr>
              <a:t> [5:67]</a:t>
            </a:r>
            <a:endParaRPr sz="1200">
              <a:latin typeface="Arial"/>
              <a:cs typeface="Arial"/>
            </a:endParaRPr>
          </a:p>
          <a:p>
            <a:pPr algn="just" marL="12700" marR="6350">
              <a:lnSpc>
                <a:spcPts val="1380"/>
              </a:lnSpc>
              <a:spcBef>
                <a:spcPts val="1000"/>
              </a:spcBef>
            </a:pPr>
            <a:r>
              <a:rPr dirty="0" sz="1200" spc="-204">
                <a:latin typeface="Arial"/>
                <a:cs typeface="Arial"/>
              </a:rPr>
              <a:t>―And </a:t>
            </a:r>
            <a:r>
              <a:rPr dirty="0" sz="1200" spc="-10">
                <a:latin typeface="Arial"/>
                <a:cs typeface="Arial"/>
              </a:rPr>
              <a:t>if </a:t>
            </a:r>
            <a:r>
              <a:rPr dirty="0" sz="1200" spc="-5">
                <a:latin typeface="Arial"/>
                <a:cs typeface="Arial"/>
              </a:rPr>
              <a:t>he (Muhammad) </a:t>
            </a:r>
            <a:r>
              <a:rPr dirty="0" sz="1200">
                <a:latin typeface="Arial"/>
                <a:cs typeface="Arial"/>
              </a:rPr>
              <a:t>had </a:t>
            </a:r>
            <a:r>
              <a:rPr dirty="0" sz="1200" spc="-5">
                <a:latin typeface="Arial"/>
                <a:cs typeface="Arial"/>
              </a:rPr>
              <a:t>forged </a:t>
            </a:r>
            <a:r>
              <a:rPr dirty="0" sz="1200">
                <a:latin typeface="Arial"/>
                <a:cs typeface="Arial"/>
              </a:rPr>
              <a:t>a false </a:t>
            </a:r>
            <a:r>
              <a:rPr dirty="0" sz="1200" spc="-5">
                <a:latin typeface="Arial"/>
                <a:cs typeface="Arial"/>
              </a:rPr>
              <a:t>saying </a:t>
            </a:r>
            <a:r>
              <a:rPr dirty="0" sz="1200">
                <a:latin typeface="Arial"/>
                <a:cs typeface="Arial"/>
              </a:rPr>
              <a:t>concerning </a:t>
            </a:r>
            <a:r>
              <a:rPr dirty="0" sz="1200" spc="-5">
                <a:latin typeface="Arial"/>
                <a:cs typeface="Arial"/>
              </a:rPr>
              <a:t>Us (Allaah), </a:t>
            </a:r>
            <a:r>
              <a:rPr dirty="0" sz="1200" spc="15">
                <a:latin typeface="Arial"/>
                <a:cs typeface="Arial"/>
              </a:rPr>
              <a:t>We </a:t>
            </a:r>
            <a:r>
              <a:rPr dirty="0" sz="1200" spc="-5">
                <a:latin typeface="Arial"/>
                <a:cs typeface="Arial"/>
              </a:rPr>
              <a:t>surely would  have seized him by his right hand (or with power and might), And </a:t>
            </a:r>
            <a:r>
              <a:rPr dirty="0" sz="1200">
                <a:latin typeface="Arial"/>
                <a:cs typeface="Arial"/>
              </a:rPr>
              <a:t>then </a:t>
            </a:r>
            <a:r>
              <a:rPr dirty="0" sz="1200" spc="15">
                <a:latin typeface="Arial"/>
                <a:cs typeface="Arial"/>
              </a:rPr>
              <a:t>We </a:t>
            </a:r>
            <a:r>
              <a:rPr dirty="0" sz="1200" spc="-5">
                <a:latin typeface="Arial"/>
                <a:cs typeface="Arial"/>
              </a:rPr>
              <a:t>certainly would  have </a:t>
            </a:r>
            <a:r>
              <a:rPr dirty="0" sz="1200">
                <a:latin typeface="Arial"/>
                <a:cs typeface="Arial"/>
              </a:rPr>
              <a:t>cut </a:t>
            </a:r>
            <a:r>
              <a:rPr dirty="0" sz="1200" spc="-5">
                <a:latin typeface="Arial"/>
                <a:cs typeface="Arial"/>
              </a:rPr>
              <a:t>off his life artery </a:t>
            </a:r>
            <a:r>
              <a:rPr dirty="0" sz="1200">
                <a:latin typeface="Arial"/>
                <a:cs typeface="Arial"/>
              </a:rPr>
              <a:t>(aorta), </a:t>
            </a:r>
            <a:r>
              <a:rPr dirty="0" sz="1200" spc="-5">
                <a:latin typeface="Arial"/>
                <a:cs typeface="Arial"/>
              </a:rPr>
              <a:t>And none of </a:t>
            </a:r>
            <a:r>
              <a:rPr dirty="0" sz="1200" spc="-10">
                <a:latin typeface="Arial"/>
                <a:cs typeface="Arial"/>
              </a:rPr>
              <a:t>you </a:t>
            </a:r>
            <a:r>
              <a:rPr dirty="0" sz="1200" spc="-5">
                <a:latin typeface="Arial"/>
                <a:cs typeface="Arial"/>
              </a:rPr>
              <a:t>could have withheld Us from (punishing)  </a:t>
            </a:r>
            <a:r>
              <a:rPr dirty="0" sz="1200" spc="-30">
                <a:latin typeface="Arial"/>
                <a:cs typeface="Arial"/>
              </a:rPr>
              <a:t>him‖</a:t>
            </a:r>
            <a:r>
              <a:rPr dirty="0" sz="1200" spc="-5">
                <a:latin typeface="Arial"/>
                <a:cs typeface="Arial"/>
              </a:rPr>
              <a:t> [69:44-47]</a:t>
            </a:r>
            <a:endParaRPr sz="1200">
              <a:latin typeface="Arial"/>
              <a:cs typeface="Arial"/>
            </a:endParaRPr>
          </a:p>
          <a:p>
            <a:pPr algn="just" marL="12700" marR="5080">
              <a:lnSpc>
                <a:spcPct val="95400"/>
              </a:lnSpc>
              <a:spcBef>
                <a:spcPts val="980"/>
              </a:spcBef>
            </a:pPr>
            <a:r>
              <a:rPr dirty="0" sz="1200" spc="-5">
                <a:latin typeface="Arial"/>
                <a:cs typeface="Arial"/>
              </a:rPr>
              <a:t>All the Muslims </a:t>
            </a:r>
            <a:r>
              <a:rPr dirty="0" sz="1200">
                <a:latin typeface="Arial"/>
                <a:cs typeface="Arial"/>
              </a:rPr>
              <a:t>are </a:t>
            </a:r>
            <a:r>
              <a:rPr dirty="0" sz="1200" spc="-5">
                <a:latin typeface="Arial"/>
                <a:cs typeface="Arial"/>
              </a:rPr>
              <a:t>unanimously agreed </a:t>
            </a:r>
            <a:r>
              <a:rPr dirty="0" sz="1200">
                <a:latin typeface="Arial"/>
                <a:cs typeface="Arial"/>
              </a:rPr>
              <a:t>that the </a:t>
            </a:r>
            <a:r>
              <a:rPr dirty="0" sz="1200" spc="-5">
                <a:latin typeface="Arial"/>
                <a:cs typeface="Arial"/>
              </a:rPr>
              <a:t>Prophets (peace be upon them) </a:t>
            </a:r>
            <a:r>
              <a:rPr dirty="0" sz="1200">
                <a:latin typeface="Arial"/>
                <a:cs typeface="Arial"/>
              </a:rPr>
              <a:t>– </a:t>
            </a:r>
            <a:r>
              <a:rPr dirty="0" sz="1200" spc="-5">
                <a:latin typeface="Arial"/>
                <a:cs typeface="Arial"/>
              </a:rPr>
              <a:t>especially  Muhammad </a:t>
            </a:r>
            <a:r>
              <a:rPr dirty="0" sz="1200" spc="-10">
                <a:latin typeface="Arial"/>
                <a:cs typeface="Arial"/>
              </a:rPr>
              <a:t>(peace and </a:t>
            </a:r>
            <a:r>
              <a:rPr dirty="0" sz="1200" spc="-5">
                <a:latin typeface="Arial"/>
                <a:cs typeface="Arial"/>
              </a:rPr>
              <a:t>blessings of Allaah be </a:t>
            </a:r>
            <a:r>
              <a:rPr dirty="0" sz="1200" spc="-10">
                <a:latin typeface="Arial"/>
                <a:cs typeface="Arial"/>
              </a:rPr>
              <a:t>upon </a:t>
            </a:r>
            <a:r>
              <a:rPr dirty="0" sz="1200" spc="-5">
                <a:latin typeface="Arial"/>
                <a:cs typeface="Arial"/>
              </a:rPr>
              <a:t>him) </a:t>
            </a:r>
            <a:r>
              <a:rPr dirty="0" sz="1200">
                <a:latin typeface="Arial"/>
                <a:cs typeface="Arial"/>
              </a:rPr>
              <a:t>– </a:t>
            </a:r>
            <a:r>
              <a:rPr dirty="0" sz="1200" spc="-5">
                <a:latin typeface="Arial"/>
                <a:cs typeface="Arial"/>
              </a:rPr>
              <a:t>are infallible and protected from  error in that which </a:t>
            </a:r>
            <a:r>
              <a:rPr dirty="0" sz="1200">
                <a:latin typeface="Arial"/>
                <a:cs typeface="Arial"/>
              </a:rPr>
              <a:t>they </a:t>
            </a:r>
            <a:r>
              <a:rPr dirty="0" sz="1200" spc="-5">
                <a:latin typeface="Arial"/>
                <a:cs typeface="Arial"/>
              </a:rPr>
              <a:t>conveyed </a:t>
            </a:r>
            <a:r>
              <a:rPr dirty="0" sz="1200">
                <a:latin typeface="Arial"/>
                <a:cs typeface="Arial"/>
              </a:rPr>
              <a:t>from </a:t>
            </a:r>
            <a:r>
              <a:rPr dirty="0" sz="1200" spc="-5">
                <a:latin typeface="Arial"/>
                <a:cs typeface="Arial"/>
              </a:rPr>
              <a:t>Allaah. Allaah </a:t>
            </a:r>
            <a:r>
              <a:rPr dirty="0" sz="1200" spc="-10">
                <a:latin typeface="Arial"/>
                <a:cs typeface="Arial"/>
              </a:rPr>
              <a:t>says </a:t>
            </a:r>
            <a:r>
              <a:rPr dirty="0" sz="1200" spc="-5">
                <a:latin typeface="Arial"/>
                <a:cs typeface="Arial"/>
              </a:rPr>
              <a:t>(interpretation of the</a:t>
            </a:r>
            <a:r>
              <a:rPr dirty="0" sz="1200" spc="105">
                <a:latin typeface="Arial"/>
                <a:cs typeface="Arial"/>
              </a:rPr>
              <a:t> </a:t>
            </a:r>
            <a:r>
              <a:rPr dirty="0" sz="1200" spc="-5">
                <a:latin typeface="Arial"/>
                <a:cs typeface="Arial"/>
              </a:rPr>
              <a:t>meaning):</a:t>
            </a:r>
            <a:endParaRPr sz="1200">
              <a:latin typeface="Arial"/>
              <a:cs typeface="Arial"/>
            </a:endParaRPr>
          </a:p>
          <a:p>
            <a:pPr algn="just" marL="12700" marR="5080">
              <a:lnSpc>
                <a:spcPct val="95900"/>
              </a:lnSpc>
              <a:spcBef>
                <a:spcPts val="1005"/>
              </a:spcBef>
            </a:pPr>
            <a:r>
              <a:rPr dirty="0" sz="1200" spc="-270">
                <a:latin typeface="Arial"/>
                <a:cs typeface="Arial"/>
              </a:rPr>
              <a:t>―By </a:t>
            </a:r>
            <a:r>
              <a:rPr dirty="0" sz="1200">
                <a:latin typeface="Arial"/>
                <a:cs typeface="Arial"/>
              </a:rPr>
              <a:t>the star </a:t>
            </a:r>
            <a:r>
              <a:rPr dirty="0" sz="1200" spc="-5">
                <a:latin typeface="Arial"/>
                <a:cs typeface="Arial"/>
              </a:rPr>
              <a:t>when </a:t>
            </a:r>
            <a:r>
              <a:rPr dirty="0" sz="1200">
                <a:latin typeface="Arial"/>
                <a:cs typeface="Arial"/>
              </a:rPr>
              <a:t>it </a:t>
            </a:r>
            <a:r>
              <a:rPr dirty="0" sz="1200" spc="-5">
                <a:latin typeface="Arial"/>
                <a:cs typeface="Arial"/>
              </a:rPr>
              <a:t>goes down (or vanishes).Your companion (Muhammad) has neither  gone </a:t>
            </a:r>
            <a:r>
              <a:rPr dirty="0" sz="1200">
                <a:latin typeface="Arial"/>
                <a:cs typeface="Arial"/>
              </a:rPr>
              <a:t>astray </a:t>
            </a:r>
            <a:r>
              <a:rPr dirty="0" sz="1200" spc="-5">
                <a:latin typeface="Arial"/>
                <a:cs typeface="Arial"/>
              </a:rPr>
              <a:t>nor has erred. Nor does he speak of (his own) desire. </a:t>
            </a:r>
            <a:r>
              <a:rPr dirty="0" sz="1200">
                <a:latin typeface="Arial"/>
                <a:cs typeface="Arial"/>
              </a:rPr>
              <a:t>It </a:t>
            </a:r>
            <a:r>
              <a:rPr dirty="0" sz="1200" spc="-5">
                <a:latin typeface="Arial"/>
                <a:cs typeface="Arial"/>
              </a:rPr>
              <a:t>is only a Revelation  revealed. He has been taught </a:t>
            </a:r>
            <a:r>
              <a:rPr dirty="0" sz="1200">
                <a:latin typeface="Arial"/>
                <a:cs typeface="Arial"/>
              </a:rPr>
              <a:t>(this </a:t>
            </a:r>
            <a:r>
              <a:rPr dirty="0" sz="1200" spc="-5">
                <a:latin typeface="Arial"/>
                <a:cs typeface="Arial"/>
              </a:rPr>
              <a:t>Qur‘aan) </a:t>
            </a:r>
            <a:r>
              <a:rPr dirty="0" sz="1200">
                <a:latin typeface="Arial"/>
                <a:cs typeface="Arial"/>
              </a:rPr>
              <a:t>by one </a:t>
            </a:r>
            <a:r>
              <a:rPr dirty="0" sz="1200" spc="-5">
                <a:latin typeface="Arial"/>
                <a:cs typeface="Arial"/>
              </a:rPr>
              <a:t>mighty in power </a:t>
            </a:r>
            <a:r>
              <a:rPr dirty="0" sz="1200">
                <a:latin typeface="Arial"/>
                <a:cs typeface="Arial"/>
              </a:rPr>
              <a:t>[Jibreel </a:t>
            </a:r>
            <a:r>
              <a:rPr dirty="0" sz="1200" spc="-15">
                <a:latin typeface="Arial"/>
                <a:cs typeface="Arial"/>
              </a:rPr>
              <a:t>(Gabriel)]‖ </a:t>
            </a:r>
            <a:r>
              <a:rPr dirty="0" sz="1200" spc="-5">
                <a:latin typeface="Arial"/>
                <a:cs typeface="Arial"/>
              </a:rPr>
              <a:t>[53:  1-5]</a:t>
            </a:r>
            <a:endParaRPr sz="1200">
              <a:latin typeface="Arial"/>
              <a:cs typeface="Arial"/>
            </a:endParaRPr>
          </a:p>
          <a:p>
            <a:pPr>
              <a:lnSpc>
                <a:spcPct val="100000"/>
              </a:lnSpc>
              <a:spcBef>
                <a:spcPts val="30"/>
              </a:spcBef>
            </a:pPr>
            <a:endParaRPr sz="1550">
              <a:latin typeface="Arial"/>
              <a:cs typeface="Arial"/>
            </a:endParaRPr>
          </a:p>
          <a:p>
            <a:pPr marL="12700">
              <a:lnSpc>
                <a:spcPts val="141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marL="2649855">
              <a:lnSpc>
                <a:spcPts val="141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55"/>
              </a:spcBef>
            </a:pPr>
            <a:endParaRPr sz="1100">
              <a:latin typeface="Arial"/>
              <a:cs typeface="Arial"/>
            </a:endParaRPr>
          </a:p>
          <a:p>
            <a:pPr marL="12700">
              <a:lnSpc>
                <a:spcPts val="1410"/>
              </a:lnSpc>
            </a:pPr>
            <a:r>
              <a:rPr dirty="0" sz="1200" spc="-5">
                <a:latin typeface="Arial"/>
                <a:cs typeface="Arial"/>
              </a:rPr>
              <a:t>4 If you were talking </a:t>
            </a:r>
            <a:r>
              <a:rPr dirty="0" sz="1200">
                <a:latin typeface="Arial"/>
                <a:cs typeface="Arial"/>
              </a:rPr>
              <a:t>to </a:t>
            </a:r>
            <a:r>
              <a:rPr dirty="0" sz="1200" spc="-5">
                <a:latin typeface="Arial"/>
                <a:cs typeface="Arial"/>
              </a:rPr>
              <a:t>someone who had </a:t>
            </a:r>
            <a:r>
              <a:rPr dirty="0" sz="1200">
                <a:latin typeface="Arial"/>
                <a:cs typeface="Arial"/>
              </a:rPr>
              <a:t>not read </a:t>
            </a:r>
            <a:r>
              <a:rPr dirty="0" sz="1200" spc="-5">
                <a:latin typeface="Arial"/>
                <a:cs typeface="Arial"/>
              </a:rPr>
              <a:t>the Qur‘an, </a:t>
            </a:r>
            <a:r>
              <a:rPr dirty="0" sz="1200">
                <a:latin typeface="Arial"/>
                <a:cs typeface="Arial"/>
              </a:rPr>
              <a:t>how </a:t>
            </a:r>
            <a:r>
              <a:rPr dirty="0" sz="1200" spc="-5">
                <a:latin typeface="Arial"/>
                <a:cs typeface="Arial"/>
              </a:rPr>
              <a:t>would</a:t>
            </a:r>
            <a:r>
              <a:rPr dirty="0" sz="1200">
                <a:latin typeface="Arial"/>
                <a:cs typeface="Arial"/>
              </a:rPr>
              <a:t> </a:t>
            </a:r>
            <a:r>
              <a:rPr dirty="0" sz="1200" spc="-5">
                <a:latin typeface="Arial"/>
                <a:cs typeface="Arial"/>
              </a:rPr>
              <a:t>you</a:t>
            </a:r>
            <a:endParaRPr sz="1200">
              <a:latin typeface="Arial"/>
              <a:cs typeface="Arial"/>
            </a:endParaRPr>
          </a:p>
          <a:p>
            <a:pPr marL="412115" indent="-229235">
              <a:lnSpc>
                <a:spcPts val="1380"/>
              </a:lnSpc>
              <a:buAutoNum type="alphaLcParenBoth"/>
              <a:tabLst>
                <a:tab pos="412750" algn="l"/>
              </a:tabLst>
            </a:pPr>
            <a:r>
              <a:rPr dirty="0" sz="1200" spc="-5">
                <a:latin typeface="Arial"/>
                <a:cs typeface="Arial"/>
              </a:rPr>
              <a:t>describe </a:t>
            </a:r>
            <a:r>
              <a:rPr dirty="0" sz="1200">
                <a:latin typeface="Arial"/>
                <a:cs typeface="Arial"/>
              </a:rPr>
              <a:t>its </a:t>
            </a:r>
            <a:r>
              <a:rPr dirty="0" sz="1200" spc="-5">
                <a:latin typeface="Arial"/>
                <a:cs typeface="Arial"/>
              </a:rPr>
              <a:t>contents,</a:t>
            </a:r>
            <a:r>
              <a:rPr dirty="0" sz="1200" spc="-10">
                <a:latin typeface="Arial"/>
                <a:cs typeface="Arial"/>
              </a:rPr>
              <a:t> </a:t>
            </a:r>
            <a:r>
              <a:rPr dirty="0" sz="1200">
                <a:latin typeface="Arial"/>
                <a:cs typeface="Arial"/>
              </a:rPr>
              <a:t>[8]</a:t>
            </a:r>
            <a:endParaRPr sz="1200">
              <a:latin typeface="Arial"/>
              <a:cs typeface="Arial"/>
            </a:endParaRPr>
          </a:p>
          <a:p>
            <a:pPr marL="12700">
              <a:lnSpc>
                <a:spcPts val="1410"/>
              </a:lnSpc>
            </a:pPr>
            <a:r>
              <a:rPr dirty="0" sz="1200" spc="-5">
                <a:latin typeface="Arial"/>
                <a:cs typeface="Arial"/>
              </a:rPr>
              <a:t>and (b) explain </a:t>
            </a:r>
            <a:r>
              <a:rPr dirty="0" sz="1200">
                <a:latin typeface="Arial"/>
                <a:cs typeface="Arial"/>
              </a:rPr>
              <a:t>its </a:t>
            </a:r>
            <a:r>
              <a:rPr dirty="0" sz="1200" spc="-5">
                <a:latin typeface="Arial"/>
                <a:cs typeface="Arial"/>
              </a:rPr>
              <a:t>importance in the life of a Muslim?</a:t>
            </a:r>
            <a:r>
              <a:rPr dirty="0" sz="1200" spc="15">
                <a:latin typeface="Arial"/>
                <a:cs typeface="Arial"/>
              </a:rPr>
              <a:t> </a:t>
            </a:r>
            <a:r>
              <a:rPr dirty="0" sz="1200" spc="-5">
                <a:latin typeface="Arial"/>
                <a:cs typeface="Arial"/>
              </a:rPr>
              <a:t>[12]</a:t>
            </a:r>
            <a:endParaRPr sz="1200">
              <a:latin typeface="Arial"/>
              <a:cs typeface="Arial"/>
            </a:endParaRPr>
          </a:p>
          <a:p>
            <a:pPr>
              <a:lnSpc>
                <a:spcPct val="100000"/>
              </a:lnSpc>
              <a:spcBef>
                <a:spcPts val="55"/>
              </a:spcBef>
            </a:pPr>
            <a:endParaRPr sz="1100">
              <a:latin typeface="Arial"/>
              <a:cs typeface="Arial"/>
            </a:endParaRPr>
          </a:p>
          <a:p>
            <a:pPr marL="12700">
              <a:lnSpc>
                <a:spcPts val="1405"/>
              </a:lnSpc>
            </a:pPr>
            <a:r>
              <a:rPr dirty="0" sz="1200" spc="-5">
                <a:latin typeface="Arial"/>
                <a:cs typeface="Arial"/>
              </a:rPr>
              <a:t>6 (a) How </a:t>
            </a:r>
            <a:r>
              <a:rPr dirty="0" sz="1200">
                <a:latin typeface="Arial"/>
                <a:cs typeface="Arial"/>
              </a:rPr>
              <a:t>did the </a:t>
            </a:r>
            <a:r>
              <a:rPr dirty="0" sz="1200" spc="-5">
                <a:latin typeface="Arial"/>
                <a:cs typeface="Arial"/>
              </a:rPr>
              <a:t>Prophet describe </a:t>
            </a:r>
            <a:r>
              <a:rPr dirty="0" sz="1200">
                <a:latin typeface="Arial"/>
                <a:cs typeface="Arial"/>
              </a:rPr>
              <a:t>the </a:t>
            </a:r>
            <a:r>
              <a:rPr dirty="0" sz="1200" spc="-5">
                <a:latin typeface="Arial"/>
                <a:cs typeface="Arial"/>
              </a:rPr>
              <a:t>different </a:t>
            </a:r>
            <a:r>
              <a:rPr dirty="0" sz="1200" spc="-10">
                <a:latin typeface="Arial"/>
                <a:cs typeface="Arial"/>
              </a:rPr>
              <a:t>ways </a:t>
            </a:r>
            <a:r>
              <a:rPr dirty="0" sz="1200" spc="-5">
                <a:latin typeface="Arial"/>
                <a:cs typeface="Arial"/>
              </a:rPr>
              <a:t>in which he received revelation?</a:t>
            </a:r>
            <a:r>
              <a:rPr dirty="0" sz="1200" spc="130">
                <a:latin typeface="Arial"/>
                <a:cs typeface="Arial"/>
              </a:rPr>
              <a:t> </a:t>
            </a:r>
            <a:r>
              <a:rPr dirty="0" sz="1200" spc="-5">
                <a:latin typeface="Arial"/>
                <a:cs typeface="Arial"/>
              </a:rPr>
              <a:t>[10]</a:t>
            </a:r>
            <a:endParaRPr sz="1200">
              <a:latin typeface="Arial"/>
              <a:cs typeface="Arial"/>
            </a:endParaRPr>
          </a:p>
          <a:p>
            <a:pPr marL="140970">
              <a:lnSpc>
                <a:spcPts val="1380"/>
              </a:lnSpc>
            </a:pPr>
            <a:r>
              <a:rPr dirty="0" sz="1200" spc="-5">
                <a:latin typeface="Arial"/>
                <a:cs typeface="Arial"/>
              </a:rPr>
              <a:t>(b)</a:t>
            </a:r>
            <a:r>
              <a:rPr dirty="0" sz="1200" spc="75">
                <a:latin typeface="Arial"/>
                <a:cs typeface="Arial"/>
              </a:rPr>
              <a:t> </a:t>
            </a:r>
            <a:r>
              <a:rPr dirty="0" sz="1200" spc="5">
                <a:latin typeface="Arial"/>
                <a:cs typeface="Arial"/>
              </a:rPr>
              <a:t>What</a:t>
            </a:r>
            <a:r>
              <a:rPr dirty="0" sz="1200" spc="90">
                <a:latin typeface="Arial"/>
                <a:cs typeface="Arial"/>
              </a:rPr>
              <a:t> </a:t>
            </a:r>
            <a:r>
              <a:rPr dirty="0" sz="1200">
                <a:latin typeface="Arial"/>
                <a:cs typeface="Arial"/>
              </a:rPr>
              <a:t>do</a:t>
            </a:r>
            <a:r>
              <a:rPr dirty="0" sz="1200" spc="95">
                <a:latin typeface="Arial"/>
                <a:cs typeface="Arial"/>
              </a:rPr>
              <a:t> </a:t>
            </a:r>
            <a:r>
              <a:rPr dirty="0" sz="1200" spc="-5">
                <a:latin typeface="Arial"/>
                <a:cs typeface="Arial"/>
              </a:rPr>
              <a:t>Muslims</a:t>
            </a:r>
            <a:r>
              <a:rPr dirty="0" sz="1200" spc="100">
                <a:latin typeface="Arial"/>
                <a:cs typeface="Arial"/>
              </a:rPr>
              <a:t> </a:t>
            </a:r>
            <a:r>
              <a:rPr dirty="0" sz="1200" spc="-5">
                <a:latin typeface="Arial"/>
                <a:cs typeface="Arial"/>
              </a:rPr>
              <a:t>mean</a:t>
            </a:r>
            <a:r>
              <a:rPr dirty="0" sz="1200" spc="105">
                <a:latin typeface="Arial"/>
                <a:cs typeface="Arial"/>
              </a:rPr>
              <a:t> </a:t>
            </a:r>
            <a:r>
              <a:rPr dirty="0" sz="1200" spc="-5">
                <a:latin typeface="Arial"/>
                <a:cs typeface="Arial"/>
              </a:rPr>
              <a:t>when</a:t>
            </a:r>
            <a:r>
              <a:rPr dirty="0" sz="1200" spc="100">
                <a:latin typeface="Arial"/>
                <a:cs typeface="Arial"/>
              </a:rPr>
              <a:t> </a:t>
            </a:r>
            <a:r>
              <a:rPr dirty="0" sz="1200" spc="-5">
                <a:latin typeface="Arial"/>
                <a:cs typeface="Arial"/>
              </a:rPr>
              <a:t>they</a:t>
            </a:r>
            <a:r>
              <a:rPr dirty="0" sz="1200" spc="90">
                <a:latin typeface="Arial"/>
                <a:cs typeface="Arial"/>
              </a:rPr>
              <a:t> </a:t>
            </a:r>
            <a:r>
              <a:rPr dirty="0" sz="1200" spc="-5">
                <a:latin typeface="Arial"/>
                <a:cs typeface="Arial"/>
              </a:rPr>
              <a:t>call</a:t>
            </a:r>
            <a:r>
              <a:rPr dirty="0" sz="1200" spc="95">
                <a:latin typeface="Arial"/>
                <a:cs typeface="Arial"/>
              </a:rPr>
              <a:t> </a:t>
            </a:r>
            <a:r>
              <a:rPr dirty="0" sz="1200">
                <a:latin typeface="Arial"/>
                <a:cs typeface="Arial"/>
              </a:rPr>
              <a:t>the</a:t>
            </a:r>
            <a:r>
              <a:rPr dirty="0" sz="1200" spc="95">
                <a:latin typeface="Arial"/>
                <a:cs typeface="Arial"/>
              </a:rPr>
              <a:t> </a:t>
            </a:r>
            <a:r>
              <a:rPr dirty="0" sz="1200" spc="-5">
                <a:latin typeface="Arial"/>
                <a:cs typeface="Arial"/>
              </a:rPr>
              <a:t>Qur‘an</a:t>
            </a:r>
            <a:r>
              <a:rPr dirty="0" sz="1200" spc="125">
                <a:latin typeface="Arial"/>
                <a:cs typeface="Arial"/>
              </a:rPr>
              <a:t> </a:t>
            </a:r>
            <a:r>
              <a:rPr dirty="0" sz="1200" spc="-5" i="1">
                <a:latin typeface="Arial"/>
                <a:cs typeface="Arial"/>
              </a:rPr>
              <a:t>kalam</a:t>
            </a:r>
            <a:r>
              <a:rPr dirty="0" sz="1200" spc="85" i="1">
                <a:latin typeface="Arial"/>
                <a:cs typeface="Arial"/>
              </a:rPr>
              <a:t> </a:t>
            </a:r>
            <a:r>
              <a:rPr dirty="0" sz="1200" spc="-5" i="1">
                <a:latin typeface="Arial"/>
                <a:cs typeface="Arial"/>
              </a:rPr>
              <a:t>Allah</a:t>
            </a:r>
            <a:r>
              <a:rPr dirty="0" sz="1200" spc="-5">
                <a:latin typeface="Arial"/>
                <a:cs typeface="Arial"/>
              </a:rPr>
              <a:t>,</a:t>
            </a:r>
            <a:r>
              <a:rPr dirty="0" sz="1200" spc="105">
                <a:latin typeface="Arial"/>
                <a:cs typeface="Arial"/>
              </a:rPr>
              <a:t> </a:t>
            </a:r>
            <a:r>
              <a:rPr dirty="0" sz="1200" spc="-5">
                <a:latin typeface="Arial"/>
                <a:cs typeface="Arial"/>
              </a:rPr>
              <a:t>the</a:t>
            </a:r>
            <a:r>
              <a:rPr dirty="0" sz="1200" spc="105">
                <a:latin typeface="Arial"/>
                <a:cs typeface="Arial"/>
              </a:rPr>
              <a:t> </a:t>
            </a:r>
            <a:r>
              <a:rPr dirty="0" sz="1200" spc="-5">
                <a:latin typeface="Arial"/>
                <a:cs typeface="Arial"/>
              </a:rPr>
              <a:t>word</a:t>
            </a:r>
            <a:r>
              <a:rPr dirty="0" sz="1200" spc="100">
                <a:latin typeface="Arial"/>
                <a:cs typeface="Arial"/>
              </a:rPr>
              <a:t> </a:t>
            </a:r>
            <a:r>
              <a:rPr dirty="0" sz="1200" spc="-5">
                <a:latin typeface="Arial"/>
                <a:cs typeface="Arial"/>
              </a:rPr>
              <a:t>of</a:t>
            </a:r>
            <a:r>
              <a:rPr dirty="0" sz="1200" spc="100">
                <a:latin typeface="Arial"/>
                <a:cs typeface="Arial"/>
              </a:rPr>
              <a:t> </a:t>
            </a:r>
            <a:r>
              <a:rPr dirty="0" sz="1200" spc="-5">
                <a:latin typeface="Arial"/>
                <a:cs typeface="Arial"/>
              </a:rPr>
              <a:t>God?</a:t>
            </a:r>
            <a:r>
              <a:rPr dirty="0" sz="1200" spc="105">
                <a:latin typeface="Arial"/>
                <a:cs typeface="Arial"/>
              </a:rPr>
              <a:t> </a:t>
            </a:r>
            <a:r>
              <a:rPr dirty="0" sz="1200" spc="-5">
                <a:latin typeface="Arial"/>
                <a:cs typeface="Arial"/>
              </a:rPr>
              <a:t>[10]</a:t>
            </a:r>
            <a:endParaRPr sz="1200">
              <a:latin typeface="Arial"/>
              <a:cs typeface="Arial"/>
            </a:endParaRPr>
          </a:p>
          <a:p>
            <a:pPr marL="12700">
              <a:lnSpc>
                <a:spcPts val="1415"/>
              </a:lnSpc>
            </a:pPr>
            <a:r>
              <a:rPr dirty="0" sz="1200" spc="-5" b="1">
                <a:latin typeface="Arial"/>
                <a:cs typeface="Arial"/>
              </a:rPr>
              <a:t>(2004)</a:t>
            </a:r>
            <a:endParaRPr sz="1200">
              <a:latin typeface="Arial"/>
              <a:cs typeface="Arial"/>
            </a:endParaRPr>
          </a:p>
          <a:p>
            <a:pPr>
              <a:lnSpc>
                <a:spcPct val="100000"/>
              </a:lnSpc>
              <a:spcBef>
                <a:spcPts val="35"/>
              </a:spcBef>
            </a:pPr>
            <a:endParaRPr sz="1200">
              <a:latin typeface="Arial"/>
              <a:cs typeface="Arial"/>
            </a:endParaRPr>
          </a:p>
          <a:p>
            <a:pPr marL="12700" marR="14604">
              <a:lnSpc>
                <a:spcPts val="1380"/>
              </a:lnSpc>
            </a:pPr>
            <a:r>
              <a:rPr dirty="0" sz="1200" spc="-5">
                <a:latin typeface="Arial"/>
                <a:cs typeface="Arial"/>
              </a:rPr>
              <a:t>4 </a:t>
            </a:r>
            <a:r>
              <a:rPr dirty="0" sz="1200" spc="-100">
                <a:latin typeface="Arial"/>
                <a:cs typeface="Arial"/>
              </a:rPr>
              <a:t>‗The </a:t>
            </a:r>
            <a:r>
              <a:rPr dirty="0" sz="1200" spc="-5">
                <a:latin typeface="Arial"/>
                <a:cs typeface="Arial"/>
              </a:rPr>
              <a:t>compilers of the Qur‘an followed </a:t>
            </a:r>
            <a:r>
              <a:rPr dirty="0" sz="1200">
                <a:latin typeface="Arial"/>
                <a:cs typeface="Arial"/>
              </a:rPr>
              <a:t>a very clear, </a:t>
            </a:r>
            <a:r>
              <a:rPr dirty="0" sz="1200" spc="-5">
                <a:latin typeface="Arial"/>
                <a:cs typeface="Arial"/>
              </a:rPr>
              <a:t>systematic </a:t>
            </a:r>
            <a:r>
              <a:rPr dirty="0" sz="1200">
                <a:latin typeface="Arial"/>
                <a:cs typeface="Arial"/>
              </a:rPr>
              <a:t>and </a:t>
            </a:r>
            <a:r>
              <a:rPr dirty="0" sz="1200" spc="-5">
                <a:latin typeface="Arial"/>
                <a:cs typeface="Arial"/>
              </a:rPr>
              <a:t>careful method‘. Give  reasons </a:t>
            </a:r>
            <a:r>
              <a:rPr dirty="0" sz="1200">
                <a:latin typeface="Arial"/>
                <a:cs typeface="Arial"/>
              </a:rPr>
              <a:t>to either </a:t>
            </a:r>
            <a:r>
              <a:rPr dirty="0" sz="1200" spc="-5">
                <a:latin typeface="Arial"/>
                <a:cs typeface="Arial"/>
              </a:rPr>
              <a:t>agree </a:t>
            </a:r>
            <a:r>
              <a:rPr dirty="0" sz="1200">
                <a:latin typeface="Arial"/>
                <a:cs typeface="Arial"/>
              </a:rPr>
              <a:t>or </a:t>
            </a:r>
            <a:r>
              <a:rPr dirty="0" sz="1200" spc="-5">
                <a:latin typeface="Arial"/>
                <a:cs typeface="Arial"/>
              </a:rPr>
              <a:t>disagree with this statement.</a:t>
            </a:r>
            <a:r>
              <a:rPr dirty="0" sz="1200">
                <a:latin typeface="Arial"/>
                <a:cs typeface="Arial"/>
              </a:rPr>
              <a:t> </a:t>
            </a:r>
            <a:r>
              <a:rPr dirty="0" sz="1200" spc="-5">
                <a:latin typeface="Arial"/>
                <a:cs typeface="Arial"/>
              </a:rPr>
              <a:t>[20]</a:t>
            </a:r>
            <a:endParaRPr sz="1200">
              <a:latin typeface="Arial"/>
              <a:cs typeface="Arial"/>
            </a:endParaRPr>
          </a:p>
          <a:p>
            <a:pPr>
              <a:lnSpc>
                <a:spcPct val="100000"/>
              </a:lnSpc>
            </a:pPr>
            <a:endParaRPr sz="1200">
              <a:latin typeface="Arial"/>
              <a:cs typeface="Arial"/>
            </a:endParaRPr>
          </a:p>
          <a:p>
            <a:pPr marL="12700" marR="12065">
              <a:lnSpc>
                <a:spcPts val="1380"/>
              </a:lnSpc>
            </a:pPr>
            <a:r>
              <a:rPr dirty="0" sz="1200" spc="-5">
                <a:latin typeface="Arial"/>
                <a:cs typeface="Arial"/>
              </a:rPr>
              <a:t>6 (a) Describe </a:t>
            </a:r>
            <a:r>
              <a:rPr dirty="0" sz="1200">
                <a:latin typeface="Arial"/>
                <a:cs typeface="Arial"/>
              </a:rPr>
              <a:t>the </a:t>
            </a:r>
            <a:r>
              <a:rPr dirty="0" sz="1200" spc="-5">
                <a:latin typeface="Arial"/>
                <a:cs typeface="Arial"/>
              </a:rPr>
              <a:t>main teachings of the Qur‘an about the line of prophetic messengers sent  by </a:t>
            </a:r>
            <a:r>
              <a:rPr dirty="0" sz="1200">
                <a:latin typeface="Arial"/>
                <a:cs typeface="Arial"/>
              </a:rPr>
              <a:t>God.</a:t>
            </a:r>
            <a:r>
              <a:rPr dirty="0" sz="1200" spc="-15">
                <a:latin typeface="Arial"/>
                <a:cs typeface="Arial"/>
              </a:rPr>
              <a:t> </a:t>
            </a:r>
            <a:r>
              <a:rPr dirty="0" sz="1200" spc="-5">
                <a:latin typeface="Arial"/>
                <a:cs typeface="Arial"/>
              </a:rPr>
              <a:t>[8]</a:t>
            </a:r>
            <a:endParaRPr sz="1200">
              <a:latin typeface="Arial"/>
              <a:cs typeface="Arial"/>
            </a:endParaRPr>
          </a:p>
          <a:p>
            <a:pPr marL="183515">
              <a:lnSpc>
                <a:spcPts val="1345"/>
              </a:lnSpc>
            </a:pPr>
            <a:r>
              <a:rPr dirty="0" sz="1200" spc="-5">
                <a:latin typeface="Arial"/>
                <a:cs typeface="Arial"/>
              </a:rPr>
              <a:t>(b) Assess the value of the books revealed </a:t>
            </a:r>
            <a:r>
              <a:rPr dirty="0" sz="1200">
                <a:latin typeface="Arial"/>
                <a:cs typeface="Arial"/>
              </a:rPr>
              <a:t>to </a:t>
            </a:r>
            <a:r>
              <a:rPr dirty="0" sz="1200" spc="-5">
                <a:latin typeface="Arial"/>
                <a:cs typeface="Arial"/>
              </a:rPr>
              <a:t>these messengers. [12]</a:t>
            </a:r>
            <a:r>
              <a:rPr dirty="0" sz="1200" spc="80">
                <a:latin typeface="Arial"/>
                <a:cs typeface="Arial"/>
              </a:rPr>
              <a:t> </a:t>
            </a:r>
            <a:r>
              <a:rPr dirty="0" sz="1200" spc="-5" b="1">
                <a:latin typeface="Arial"/>
                <a:cs typeface="Arial"/>
              </a:rPr>
              <a:t>(2005)</a:t>
            </a:r>
            <a:endParaRPr sz="1200">
              <a:latin typeface="Arial"/>
              <a:cs typeface="Arial"/>
            </a:endParaRPr>
          </a:p>
          <a:p>
            <a:pPr>
              <a:lnSpc>
                <a:spcPct val="100000"/>
              </a:lnSpc>
              <a:spcBef>
                <a:spcPts val="35"/>
              </a:spcBef>
            </a:pPr>
            <a:endParaRPr sz="1200">
              <a:latin typeface="Arial"/>
              <a:cs typeface="Arial"/>
            </a:endParaRPr>
          </a:p>
          <a:p>
            <a:pPr marL="12700" marR="10795">
              <a:lnSpc>
                <a:spcPts val="1380"/>
              </a:lnSpc>
              <a:buAutoNum type="arabicPlain" startAt="5"/>
              <a:tabLst>
                <a:tab pos="150495" algn="l"/>
              </a:tabLst>
            </a:pPr>
            <a:r>
              <a:rPr dirty="0" sz="1200" spc="-5">
                <a:latin typeface="Arial"/>
                <a:cs typeface="Arial"/>
              </a:rPr>
              <a:t>Give an account of the </a:t>
            </a:r>
            <a:r>
              <a:rPr dirty="0" sz="1200">
                <a:latin typeface="Arial"/>
                <a:cs typeface="Arial"/>
              </a:rPr>
              <a:t>process by </a:t>
            </a:r>
            <a:r>
              <a:rPr dirty="0" sz="1200" spc="-5">
                <a:latin typeface="Arial"/>
                <a:cs typeface="Arial"/>
              </a:rPr>
              <a:t>which it is generally believed </a:t>
            </a:r>
            <a:r>
              <a:rPr dirty="0" sz="1200">
                <a:latin typeface="Arial"/>
                <a:cs typeface="Arial"/>
              </a:rPr>
              <a:t>the </a:t>
            </a:r>
            <a:r>
              <a:rPr dirty="0" sz="1200" spc="-5">
                <a:latin typeface="Arial"/>
                <a:cs typeface="Arial"/>
              </a:rPr>
              <a:t>Qur‘an was compiled  in </a:t>
            </a:r>
            <a:r>
              <a:rPr dirty="0" sz="1200">
                <a:latin typeface="Arial"/>
                <a:cs typeface="Arial"/>
              </a:rPr>
              <a:t>its </a:t>
            </a:r>
            <a:r>
              <a:rPr dirty="0" sz="1200" spc="-5">
                <a:latin typeface="Arial"/>
                <a:cs typeface="Arial"/>
              </a:rPr>
              <a:t>present form, between </a:t>
            </a:r>
            <a:r>
              <a:rPr dirty="0" sz="1200">
                <a:latin typeface="Arial"/>
                <a:cs typeface="Arial"/>
              </a:rPr>
              <a:t>the </a:t>
            </a:r>
            <a:r>
              <a:rPr dirty="0" sz="1200" spc="-5">
                <a:latin typeface="Arial"/>
                <a:cs typeface="Arial"/>
              </a:rPr>
              <a:t>death of </a:t>
            </a:r>
            <a:r>
              <a:rPr dirty="0" sz="1200">
                <a:latin typeface="Arial"/>
                <a:cs typeface="Arial"/>
              </a:rPr>
              <a:t>the </a:t>
            </a:r>
            <a:r>
              <a:rPr dirty="0" sz="1200" spc="-5">
                <a:latin typeface="Arial"/>
                <a:cs typeface="Arial"/>
              </a:rPr>
              <a:t>Prophet and the end of the caliphate</a:t>
            </a:r>
            <a:r>
              <a:rPr dirty="0" sz="1200" spc="170">
                <a:latin typeface="Arial"/>
                <a:cs typeface="Arial"/>
              </a:rPr>
              <a:t> </a:t>
            </a:r>
            <a:r>
              <a:rPr dirty="0" sz="1200" spc="-5">
                <a:latin typeface="Arial"/>
                <a:cs typeface="Arial"/>
              </a:rPr>
              <a:t>of</a:t>
            </a:r>
            <a:endParaRPr sz="1200">
              <a:latin typeface="Arial"/>
              <a:cs typeface="Arial"/>
            </a:endParaRPr>
          </a:p>
          <a:p>
            <a:pPr marL="12700">
              <a:lnSpc>
                <a:spcPts val="1345"/>
              </a:lnSpc>
            </a:pPr>
            <a:r>
              <a:rPr dirty="0" sz="1200" spc="-55">
                <a:latin typeface="Arial"/>
                <a:cs typeface="Arial"/>
              </a:rPr>
              <a:t>‗Uthman.</a:t>
            </a:r>
            <a:r>
              <a:rPr dirty="0" sz="1200" spc="-5">
                <a:latin typeface="Arial"/>
                <a:cs typeface="Arial"/>
              </a:rPr>
              <a:t> [20]</a:t>
            </a:r>
            <a:endParaRPr sz="1200">
              <a:latin typeface="Arial"/>
              <a:cs typeface="Arial"/>
            </a:endParaRPr>
          </a:p>
          <a:p>
            <a:pPr>
              <a:lnSpc>
                <a:spcPct val="100000"/>
              </a:lnSpc>
              <a:spcBef>
                <a:spcPts val="40"/>
              </a:spcBef>
            </a:pPr>
            <a:endParaRPr sz="1200">
              <a:latin typeface="Arial"/>
              <a:cs typeface="Arial"/>
            </a:endParaRPr>
          </a:p>
          <a:p>
            <a:pPr marL="12700" marR="5080">
              <a:lnSpc>
                <a:spcPts val="1380"/>
              </a:lnSpc>
              <a:buAutoNum type="arabicPlain" startAt="6"/>
              <a:tabLst>
                <a:tab pos="142875" algn="l"/>
              </a:tabLst>
            </a:pPr>
            <a:r>
              <a:rPr dirty="0" sz="1200" spc="-5">
                <a:latin typeface="Arial"/>
                <a:cs typeface="Arial"/>
              </a:rPr>
              <a:t>Discuss </a:t>
            </a:r>
            <a:r>
              <a:rPr dirty="0" sz="1200">
                <a:latin typeface="Arial"/>
                <a:cs typeface="Arial"/>
              </a:rPr>
              <a:t>the </a:t>
            </a:r>
            <a:r>
              <a:rPr dirty="0" sz="1200" spc="-5">
                <a:latin typeface="Arial"/>
                <a:cs typeface="Arial"/>
              </a:rPr>
              <a:t>significance of the Qur‘an in the beliefs and practices </a:t>
            </a:r>
            <a:r>
              <a:rPr dirty="0" sz="1200">
                <a:latin typeface="Arial"/>
                <a:cs typeface="Arial"/>
              </a:rPr>
              <a:t>of </a:t>
            </a:r>
            <a:r>
              <a:rPr dirty="0" sz="1200" spc="-5">
                <a:latin typeface="Arial"/>
                <a:cs typeface="Arial"/>
              </a:rPr>
              <a:t>the Muslim </a:t>
            </a:r>
            <a:r>
              <a:rPr dirty="0" sz="1200">
                <a:latin typeface="Arial"/>
                <a:cs typeface="Arial"/>
              </a:rPr>
              <a:t>community  </a:t>
            </a:r>
            <a:r>
              <a:rPr dirty="0" sz="1200" spc="-5">
                <a:latin typeface="Arial"/>
                <a:cs typeface="Arial"/>
              </a:rPr>
              <a:t>today. [20]</a:t>
            </a:r>
            <a:r>
              <a:rPr dirty="0" sz="1200" spc="10">
                <a:latin typeface="Arial"/>
                <a:cs typeface="Arial"/>
              </a:rPr>
              <a:t> </a:t>
            </a:r>
            <a:r>
              <a:rPr dirty="0" sz="1200" spc="-5" b="1">
                <a:latin typeface="Arial"/>
                <a:cs typeface="Arial"/>
              </a:rPr>
              <a:t>(2006)</a:t>
            </a:r>
            <a:endParaRPr sz="1200">
              <a:latin typeface="Arial"/>
              <a:cs typeface="Arial"/>
            </a:endParaRPr>
          </a:p>
          <a:p>
            <a:pPr>
              <a:lnSpc>
                <a:spcPct val="100000"/>
              </a:lnSpc>
            </a:pPr>
            <a:endParaRPr sz="1200">
              <a:latin typeface="Arial"/>
              <a:cs typeface="Arial"/>
            </a:endParaRPr>
          </a:p>
          <a:p>
            <a:pPr marL="12700" marR="13335">
              <a:lnSpc>
                <a:spcPts val="1380"/>
              </a:lnSpc>
              <a:buAutoNum type="arabicPlain" startAt="5"/>
              <a:tabLst>
                <a:tab pos="163830" algn="l"/>
              </a:tabLst>
            </a:pPr>
            <a:r>
              <a:rPr dirty="0" sz="1200" spc="-5">
                <a:latin typeface="Arial"/>
                <a:cs typeface="Arial"/>
              </a:rPr>
              <a:t>(a) Explain why </a:t>
            </a:r>
            <a:r>
              <a:rPr dirty="0" sz="1200">
                <a:latin typeface="Arial"/>
                <a:cs typeface="Arial"/>
              </a:rPr>
              <a:t>the </a:t>
            </a:r>
            <a:r>
              <a:rPr dirty="0" sz="1200" spc="-5">
                <a:latin typeface="Arial"/>
                <a:cs typeface="Arial"/>
              </a:rPr>
              <a:t>early Muslims thought it important </a:t>
            </a:r>
            <a:r>
              <a:rPr dirty="0" sz="1200">
                <a:latin typeface="Arial"/>
                <a:cs typeface="Arial"/>
              </a:rPr>
              <a:t>to </a:t>
            </a:r>
            <a:r>
              <a:rPr dirty="0" sz="1200" spc="-10">
                <a:latin typeface="Arial"/>
                <a:cs typeface="Arial"/>
              </a:rPr>
              <a:t>collect </a:t>
            </a:r>
            <a:r>
              <a:rPr dirty="0" sz="1200" spc="-5">
                <a:latin typeface="Arial"/>
                <a:cs typeface="Arial"/>
              </a:rPr>
              <a:t>the Qur‘an in </a:t>
            </a:r>
            <a:r>
              <a:rPr dirty="0" sz="1200">
                <a:latin typeface="Arial"/>
                <a:cs typeface="Arial"/>
              </a:rPr>
              <a:t>a </a:t>
            </a:r>
            <a:r>
              <a:rPr dirty="0" sz="1200" spc="-5">
                <a:latin typeface="Arial"/>
                <a:cs typeface="Arial"/>
              </a:rPr>
              <a:t>written  </a:t>
            </a:r>
            <a:r>
              <a:rPr dirty="0" sz="1200">
                <a:latin typeface="Arial"/>
                <a:cs typeface="Arial"/>
              </a:rPr>
              <a:t>form.</a:t>
            </a:r>
            <a:r>
              <a:rPr dirty="0" sz="1200" spc="-15">
                <a:latin typeface="Arial"/>
                <a:cs typeface="Arial"/>
              </a:rPr>
              <a:t> </a:t>
            </a:r>
            <a:r>
              <a:rPr dirty="0" sz="1200">
                <a:latin typeface="Arial"/>
                <a:cs typeface="Arial"/>
              </a:rPr>
              <a:t>[8]</a:t>
            </a:r>
            <a:endParaRPr sz="1200">
              <a:latin typeface="Arial"/>
              <a:cs typeface="Arial"/>
            </a:endParaRPr>
          </a:p>
          <a:p>
            <a:pPr lvl="1" marL="369570" indent="-229235">
              <a:lnSpc>
                <a:spcPts val="1345"/>
              </a:lnSpc>
              <a:buAutoNum type="alphaLcParenBoth" startAt="2"/>
              <a:tabLst>
                <a:tab pos="370205" algn="l"/>
              </a:tabLst>
            </a:pPr>
            <a:r>
              <a:rPr dirty="0" sz="1200" spc="-5">
                <a:latin typeface="Arial"/>
                <a:cs typeface="Arial"/>
              </a:rPr>
              <a:t>Describe how this </a:t>
            </a:r>
            <a:r>
              <a:rPr dirty="0" sz="1200" spc="-10">
                <a:latin typeface="Arial"/>
                <a:cs typeface="Arial"/>
              </a:rPr>
              <a:t>was </a:t>
            </a:r>
            <a:r>
              <a:rPr dirty="0" sz="1200">
                <a:latin typeface="Arial"/>
                <a:cs typeface="Arial"/>
              </a:rPr>
              <a:t>done </a:t>
            </a:r>
            <a:r>
              <a:rPr dirty="0" sz="1200" spc="-5">
                <a:latin typeface="Arial"/>
                <a:cs typeface="Arial"/>
              </a:rPr>
              <a:t>in the period of </a:t>
            </a:r>
            <a:r>
              <a:rPr dirty="0" sz="1200">
                <a:latin typeface="Arial"/>
                <a:cs typeface="Arial"/>
              </a:rPr>
              <a:t>the </a:t>
            </a:r>
            <a:r>
              <a:rPr dirty="0" sz="1200" spc="-5">
                <a:latin typeface="Arial"/>
                <a:cs typeface="Arial"/>
              </a:rPr>
              <a:t>early caliphs.</a:t>
            </a:r>
            <a:r>
              <a:rPr dirty="0" sz="1200" spc="15">
                <a:latin typeface="Arial"/>
                <a:cs typeface="Arial"/>
              </a:rPr>
              <a:t> </a:t>
            </a:r>
            <a:r>
              <a:rPr dirty="0" sz="1200" spc="-5">
                <a:latin typeface="Arial"/>
                <a:cs typeface="Arial"/>
              </a:rPr>
              <a:t>[12]</a:t>
            </a:r>
            <a:endParaRPr sz="1200">
              <a:latin typeface="Arial"/>
              <a:cs typeface="Arial"/>
            </a:endParaRPr>
          </a:p>
          <a:p>
            <a:pPr lvl="1">
              <a:lnSpc>
                <a:spcPct val="100000"/>
              </a:lnSpc>
              <a:spcBef>
                <a:spcPts val="35"/>
              </a:spcBef>
              <a:buFont typeface="Arial"/>
              <a:buAutoNum type="alphaLcParenBoth" startAt="2"/>
            </a:pPr>
            <a:endParaRPr sz="1200">
              <a:latin typeface="Arial"/>
              <a:cs typeface="Arial"/>
            </a:endParaRPr>
          </a:p>
          <a:p>
            <a:pPr marL="12700" marR="7620">
              <a:lnSpc>
                <a:spcPts val="1380"/>
              </a:lnSpc>
              <a:buAutoNum type="arabicPlain" startAt="5"/>
              <a:tabLst>
                <a:tab pos="156210" algn="l"/>
              </a:tabLst>
            </a:pPr>
            <a:r>
              <a:rPr dirty="0" sz="1200" spc="-5">
                <a:latin typeface="Arial"/>
                <a:cs typeface="Arial"/>
              </a:rPr>
              <a:t>(a) How did the Prophet describe the different ways in which he received the revelation?  </a:t>
            </a:r>
            <a:r>
              <a:rPr dirty="0" sz="1200">
                <a:latin typeface="Arial"/>
                <a:cs typeface="Arial"/>
              </a:rPr>
              <a:t>[12]</a:t>
            </a:r>
            <a:endParaRPr sz="1200">
              <a:latin typeface="Arial"/>
              <a:cs typeface="Arial"/>
            </a:endParaRPr>
          </a:p>
          <a:p>
            <a:pPr lvl="1" marL="366395" indent="-226060">
              <a:lnSpc>
                <a:spcPts val="1330"/>
              </a:lnSpc>
              <a:buAutoNum type="alphaLcParenBoth" startAt="2"/>
              <a:tabLst>
                <a:tab pos="367030" algn="l"/>
              </a:tabLst>
            </a:pPr>
            <a:r>
              <a:rPr dirty="0" sz="1200" spc="5">
                <a:latin typeface="Arial"/>
                <a:cs typeface="Arial"/>
              </a:rPr>
              <a:t>What </a:t>
            </a:r>
            <a:r>
              <a:rPr dirty="0" sz="1200">
                <a:latin typeface="Arial"/>
                <a:cs typeface="Arial"/>
              </a:rPr>
              <a:t>do </a:t>
            </a:r>
            <a:r>
              <a:rPr dirty="0" sz="1200" spc="-5">
                <a:latin typeface="Arial"/>
                <a:cs typeface="Arial"/>
              </a:rPr>
              <a:t>Muslims mean when </a:t>
            </a:r>
            <a:r>
              <a:rPr dirty="0" sz="1200">
                <a:latin typeface="Arial"/>
                <a:cs typeface="Arial"/>
              </a:rPr>
              <a:t>they call </a:t>
            </a:r>
            <a:r>
              <a:rPr dirty="0" sz="1200" spc="-5">
                <a:latin typeface="Arial"/>
                <a:cs typeface="Arial"/>
              </a:rPr>
              <a:t>the Qur‘an </a:t>
            </a:r>
            <a:r>
              <a:rPr dirty="0" sz="1200" spc="-5" i="1">
                <a:latin typeface="Arial"/>
                <a:cs typeface="Arial"/>
              </a:rPr>
              <a:t>Kalam Allah</a:t>
            </a:r>
            <a:r>
              <a:rPr dirty="0" sz="1200" spc="-5">
                <a:latin typeface="Arial"/>
                <a:cs typeface="Arial"/>
              </a:rPr>
              <a:t>? </a:t>
            </a:r>
            <a:r>
              <a:rPr dirty="0" sz="1200">
                <a:latin typeface="Arial"/>
                <a:cs typeface="Arial"/>
              </a:rPr>
              <a:t>[8]</a:t>
            </a:r>
            <a:r>
              <a:rPr dirty="0" sz="1200" spc="-10">
                <a:latin typeface="Arial"/>
                <a:cs typeface="Arial"/>
              </a:rPr>
              <a:t> </a:t>
            </a:r>
            <a:r>
              <a:rPr dirty="0" sz="1200" spc="-5" b="1">
                <a:latin typeface="Arial"/>
                <a:cs typeface="Arial"/>
              </a:rPr>
              <a:t>(2007)</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49</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07455" cy="2854325"/>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12700">
              <a:lnSpc>
                <a:spcPts val="1410"/>
              </a:lnSpc>
              <a:spcBef>
                <a:spcPts val="5"/>
              </a:spcBef>
            </a:pPr>
            <a:r>
              <a:rPr dirty="0" sz="1200" spc="-5">
                <a:latin typeface="Arial"/>
                <a:cs typeface="Arial"/>
              </a:rPr>
              <a:t>6 (a) </a:t>
            </a:r>
            <a:r>
              <a:rPr dirty="0" sz="1200" spc="5">
                <a:latin typeface="Arial"/>
                <a:cs typeface="Arial"/>
              </a:rPr>
              <a:t>What </a:t>
            </a:r>
            <a:r>
              <a:rPr dirty="0" sz="1200">
                <a:latin typeface="Arial"/>
                <a:cs typeface="Arial"/>
              </a:rPr>
              <a:t>are </a:t>
            </a:r>
            <a:r>
              <a:rPr dirty="0" sz="1200" spc="-5">
                <a:latin typeface="Arial"/>
                <a:cs typeface="Arial"/>
              </a:rPr>
              <a:t>the basic teachings of the Qur‘an about other revealed Books?`</a:t>
            </a:r>
            <a:r>
              <a:rPr dirty="0" sz="1200" spc="30">
                <a:latin typeface="Arial"/>
                <a:cs typeface="Arial"/>
              </a:rPr>
              <a:t> </a:t>
            </a:r>
            <a:r>
              <a:rPr dirty="0" sz="1200" spc="-5">
                <a:latin typeface="Arial"/>
                <a:cs typeface="Arial"/>
              </a:rPr>
              <a:t>[12]</a:t>
            </a:r>
            <a:endParaRPr sz="1200">
              <a:latin typeface="Arial"/>
              <a:cs typeface="Arial"/>
            </a:endParaRPr>
          </a:p>
          <a:p>
            <a:pPr marL="12700" marR="5080" indent="127635">
              <a:lnSpc>
                <a:spcPts val="1380"/>
              </a:lnSpc>
              <a:spcBef>
                <a:spcPts val="65"/>
              </a:spcBef>
            </a:pPr>
            <a:r>
              <a:rPr dirty="0" sz="1200" spc="-5">
                <a:latin typeface="Arial"/>
                <a:cs typeface="Arial"/>
              </a:rPr>
              <a:t>(b) </a:t>
            </a:r>
            <a:r>
              <a:rPr dirty="0" sz="1200" spc="5">
                <a:latin typeface="Arial"/>
                <a:cs typeface="Arial"/>
              </a:rPr>
              <a:t>Why, </a:t>
            </a:r>
            <a:r>
              <a:rPr dirty="0" sz="1200" spc="-5">
                <a:latin typeface="Arial"/>
                <a:cs typeface="Arial"/>
              </a:rPr>
              <a:t>according </a:t>
            </a:r>
            <a:r>
              <a:rPr dirty="0" sz="1200">
                <a:latin typeface="Arial"/>
                <a:cs typeface="Arial"/>
              </a:rPr>
              <a:t>to </a:t>
            </a:r>
            <a:r>
              <a:rPr dirty="0" sz="1200" spc="-5">
                <a:latin typeface="Arial"/>
                <a:cs typeface="Arial"/>
              </a:rPr>
              <a:t>general belief, </a:t>
            </a:r>
            <a:r>
              <a:rPr dirty="0" sz="1200" spc="-10">
                <a:latin typeface="Arial"/>
                <a:cs typeface="Arial"/>
              </a:rPr>
              <a:t>was </a:t>
            </a:r>
            <a:r>
              <a:rPr dirty="0" sz="1200">
                <a:latin typeface="Arial"/>
                <a:cs typeface="Arial"/>
              </a:rPr>
              <a:t>the Qur‘an </a:t>
            </a:r>
            <a:r>
              <a:rPr dirty="0" sz="1200" spc="-5">
                <a:latin typeface="Arial"/>
                <a:cs typeface="Arial"/>
              </a:rPr>
              <a:t>revealed </a:t>
            </a:r>
            <a:r>
              <a:rPr dirty="0" sz="1200">
                <a:latin typeface="Arial"/>
                <a:cs typeface="Arial"/>
              </a:rPr>
              <a:t>to the </a:t>
            </a:r>
            <a:r>
              <a:rPr dirty="0" sz="1200" spc="-5">
                <a:latin typeface="Arial"/>
                <a:cs typeface="Arial"/>
              </a:rPr>
              <a:t>Prophet over </a:t>
            </a:r>
            <a:r>
              <a:rPr dirty="0" sz="1200">
                <a:latin typeface="Arial"/>
                <a:cs typeface="Arial"/>
              </a:rPr>
              <a:t>a </a:t>
            </a:r>
            <a:r>
              <a:rPr dirty="0" sz="1200" spc="-5">
                <a:latin typeface="Arial"/>
                <a:cs typeface="Arial"/>
              </a:rPr>
              <a:t>period  of time? </a:t>
            </a:r>
            <a:r>
              <a:rPr dirty="0" sz="1200">
                <a:latin typeface="Arial"/>
                <a:cs typeface="Arial"/>
              </a:rPr>
              <a:t>[8]</a:t>
            </a:r>
            <a:r>
              <a:rPr dirty="0" sz="1200" spc="15">
                <a:latin typeface="Arial"/>
                <a:cs typeface="Arial"/>
              </a:rPr>
              <a:t> </a:t>
            </a:r>
            <a:r>
              <a:rPr dirty="0" sz="1200" spc="-10" b="1">
                <a:latin typeface="Arial"/>
                <a:cs typeface="Arial"/>
              </a:rPr>
              <a:t>(2008)</a:t>
            </a:r>
            <a:endParaRPr sz="1200">
              <a:latin typeface="Arial"/>
              <a:cs typeface="Arial"/>
            </a:endParaRPr>
          </a:p>
          <a:p>
            <a:pPr>
              <a:lnSpc>
                <a:spcPct val="100000"/>
              </a:lnSpc>
              <a:spcBef>
                <a:spcPts val="20"/>
              </a:spcBef>
            </a:pPr>
            <a:endParaRPr sz="1100">
              <a:latin typeface="Arial"/>
              <a:cs typeface="Arial"/>
            </a:endParaRPr>
          </a:p>
          <a:p>
            <a:pPr marL="140335" indent="-128270">
              <a:lnSpc>
                <a:spcPct val="100000"/>
              </a:lnSpc>
              <a:buAutoNum type="arabicPlain" startAt="5"/>
              <a:tabLst>
                <a:tab pos="140970" algn="l"/>
              </a:tabLst>
            </a:pPr>
            <a:r>
              <a:rPr dirty="0" sz="1200" spc="-5">
                <a:latin typeface="Arial"/>
                <a:cs typeface="Arial"/>
              </a:rPr>
              <a:t>Discuss the significance of the Qur‘an in the beliefs and practices of Muslims today.</a:t>
            </a:r>
            <a:r>
              <a:rPr dirty="0" sz="1200" spc="110">
                <a:latin typeface="Arial"/>
                <a:cs typeface="Arial"/>
              </a:rPr>
              <a:t> </a:t>
            </a:r>
            <a:r>
              <a:rPr dirty="0" sz="1200">
                <a:latin typeface="Arial"/>
                <a:cs typeface="Arial"/>
              </a:rPr>
              <a:t>[20]</a:t>
            </a:r>
            <a:endParaRPr sz="1200">
              <a:latin typeface="Arial"/>
              <a:cs typeface="Arial"/>
            </a:endParaRPr>
          </a:p>
          <a:p>
            <a:pPr>
              <a:lnSpc>
                <a:spcPct val="100000"/>
              </a:lnSpc>
              <a:spcBef>
                <a:spcPts val="35"/>
              </a:spcBef>
              <a:buFont typeface="Arial"/>
              <a:buAutoNum type="arabicPlain" startAt="5"/>
            </a:pPr>
            <a:endParaRPr sz="1200">
              <a:latin typeface="Arial"/>
              <a:cs typeface="Arial"/>
            </a:endParaRPr>
          </a:p>
          <a:p>
            <a:pPr marL="12700" marR="8255">
              <a:lnSpc>
                <a:spcPts val="1380"/>
              </a:lnSpc>
              <a:buAutoNum type="arabicPlain" startAt="5"/>
              <a:tabLst>
                <a:tab pos="174625" algn="l"/>
              </a:tabLst>
            </a:pPr>
            <a:r>
              <a:rPr dirty="0" sz="1200">
                <a:latin typeface="Arial"/>
                <a:cs typeface="Arial"/>
              </a:rPr>
              <a:t>With </a:t>
            </a:r>
            <a:r>
              <a:rPr dirty="0" sz="1200" spc="-5">
                <a:latin typeface="Arial"/>
                <a:cs typeface="Arial"/>
              </a:rPr>
              <a:t>reference </a:t>
            </a:r>
            <a:r>
              <a:rPr dirty="0" sz="1200">
                <a:latin typeface="Arial"/>
                <a:cs typeface="Arial"/>
              </a:rPr>
              <a:t>to parts </a:t>
            </a:r>
            <a:r>
              <a:rPr dirty="0" sz="1200" spc="-5">
                <a:latin typeface="Arial"/>
                <a:cs typeface="Arial"/>
              </a:rPr>
              <a:t>of the Qur‘an you </a:t>
            </a:r>
            <a:r>
              <a:rPr dirty="0" sz="1200" spc="-10">
                <a:latin typeface="Arial"/>
                <a:cs typeface="Arial"/>
              </a:rPr>
              <a:t>have </a:t>
            </a:r>
            <a:r>
              <a:rPr dirty="0" sz="1200" spc="-5">
                <a:latin typeface="Arial"/>
                <a:cs typeface="Arial"/>
              </a:rPr>
              <a:t>studied, explain why Tawhid is often  thought </a:t>
            </a:r>
            <a:r>
              <a:rPr dirty="0" sz="1200">
                <a:latin typeface="Arial"/>
                <a:cs typeface="Arial"/>
              </a:rPr>
              <a:t>to be the main theme </a:t>
            </a:r>
            <a:r>
              <a:rPr dirty="0" sz="1200" spc="-5">
                <a:latin typeface="Arial"/>
                <a:cs typeface="Arial"/>
              </a:rPr>
              <a:t>of the Qur‘an. [20]</a:t>
            </a:r>
            <a:r>
              <a:rPr dirty="0" sz="1200" spc="-10">
                <a:latin typeface="Arial"/>
                <a:cs typeface="Arial"/>
              </a:rPr>
              <a:t> </a:t>
            </a:r>
            <a:r>
              <a:rPr dirty="0" sz="1200" spc="-5" b="1">
                <a:latin typeface="Arial"/>
                <a:cs typeface="Arial"/>
              </a:rPr>
              <a:t>(2009)</a:t>
            </a:r>
            <a:endParaRPr sz="1200">
              <a:latin typeface="Arial"/>
              <a:cs typeface="Arial"/>
            </a:endParaRPr>
          </a:p>
          <a:p>
            <a:pPr>
              <a:lnSpc>
                <a:spcPct val="100000"/>
              </a:lnSpc>
              <a:spcBef>
                <a:spcPts val="20"/>
              </a:spcBef>
            </a:pPr>
            <a:endParaRPr sz="1100">
              <a:latin typeface="Arial"/>
              <a:cs typeface="Arial"/>
            </a:endParaRPr>
          </a:p>
          <a:p>
            <a:pPr marL="12700">
              <a:lnSpc>
                <a:spcPts val="1410"/>
              </a:lnSpc>
            </a:pPr>
            <a:r>
              <a:rPr dirty="0" sz="1200">
                <a:latin typeface="Arial"/>
                <a:cs typeface="Arial"/>
              </a:rPr>
              <a:t>4 (a) </a:t>
            </a:r>
            <a:r>
              <a:rPr dirty="0" sz="1200" spc="-5">
                <a:latin typeface="Arial"/>
                <a:cs typeface="Arial"/>
              </a:rPr>
              <a:t>Describe the </a:t>
            </a:r>
            <a:r>
              <a:rPr dirty="0" sz="1200">
                <a:latin typeface="Arial"/>
                <a:cs typeface="Arial"/>
              </a:rPr>
              <a:t>part </a:t>
            </a:r>
            <a:r>
              <a:rPr dirty="0" sz="1200" spc="-5">
                <a:latin typeface="Arial"/>
                <a:cs typeface="Arial"/>
              </a:rPr>
              <a:t>played </a:t>
            </a:r>
            <a:r>
              <a:rPr dirty="0" sz="1200">
                <a:latin typeface="Arial"/>
                <a:cs typeface="Arial"/>
              </a:rPr>
              <a:t>by </a:t>
            </a:r>
            <a:r>
              <a:rPr dirty="0" sz="1200" spc="-5">
                <a:latin typeface="Arial"/>
                <a:cs typeface="Arial"/>
              </a:rPr>
              <a:t>Zayd ibn Thabit in </a:t>
            </a:r>
            <a:r>
              <a:rPr dirty="0" sz="1200">
                <a:latin typeface="Arial"/>
                <a:cs typeface="Arial"/>
              </a:rPr>
              <a:t>the process </a:t>
            </a:r>
            <a:r>
              <a:rPr dirty="0" sz="1200" spc="-5">
                <a:latin typeface="Arial"/>
                <a:cs typeface="Arial"/>
              </a:rPr>
              <a:t>of compiling the Qur‘an.</a:t>
            </a:r>
            <a:r>
              <a:rPr dirty="0" sz="1200" spc="5">
                <a:latin typeface="Arial"/>
                <a:cs typeface="Arial"/>
              </a:rPr>
              <a:t> </a:t>
            </a:r>
            <a:r>
              <a:rPr dirty="0" sz="1200" spc="-5">
                <a:latin typeface="Arial"/>
                <a:cs typeface="Arial"/>
              </a:rPr>
              <a:t>[10]</a:t>
            </a:r>
            <a:endParaRPr sz="1200">
              <a:latin typeface="Arial"/>
              <a:cs typeface="Arial"/>
            </a:endParaRPr>
          </a:p>
          <a:p>
            <a:pPr marL="182880">
              <a:lnSpc>
                <a:spcPts val="1410"/>
              </a:lnSpc>
            </a:pPr>
            <a:r>
              <a:rPr dirty="0" sz="1200" spc="-5">
                <a:latin typeface="Arial"/>
                <a:cs typeface="Arial"/>
              </a:rPr>
              <a:t>(b) Explain the differences between </a:t>
            </a:r>
            <a:r>
              <a:rPr dirty="0" sz="1200">
                <a:latin typeface="Arial"/>
                <a:cs typeface="Arial"/>
              </a:rPr>
              <a:t>the </a:t>
            </a:r>
            <a:r>
              <a:rPr dirty="0" sz="1200" spc="-5">
                <a:latin typeface="Arial"/>
                <a:cs typeface="Arial"/>
              </a:rPr>
              <a:t>revelations delivered in Mecca and Medina.</a:t>
            </a:r>
            <a:r>
              <a:rPr dirty="0" sz="1200" spc="90">
                <a:latin typeface="Arial"/>
                <a:cs typeface="Arial"/>
              </a:rPr>
              <a:t> </a:t>
            </a:r>
            <a:r>
              <a:rPr dirty="0" sz="1200" spc="-5">
                <a:latin typeface="Arial"/>
                <a:cs typeface="Arial"/>
              </a:rPr>
              <a:t>[10]</a:t>
            </a:r>
            <a:endParaRPr sz="1200">
              <a:latin typeface="Arial"/>
              <a:cs typeface="Arial"/>
            </a:endParaRPr>
          </a:p>
          <a:p>
            <a:pPr>
              <a:lnSpc>
                <a:spcPct val="100000"/>
              </a:lnSpc>
              <a:spcBef>
                <a:spcPts val="35"/>
              </a:spcBef>
            </a:pPr>
            <a:endParaRPr sz="1200">
              <a:latin typeface="Arial"/>
              <a:cs typeface="Arial"/>
            </a:endParaRPr>
          </a:p>
          <a:p>
            <a:pPr marL="12700" marR="6985">
              <a:lnSpc>
                <a:spcPts val="1380"/>
              </a:lnSpc>
            </a:pPr>
            <a:r>
              <a:rPr dirty="0" sz="1200" spc="-5">
                <a:latin typeface="Arial"/>
                <a:cs typeface="Arial"/>
              </a:rPr>
              <a:t>6 </a:t>
            </a:r>
            <a:r>
              <a:rPr dirty="0" sz="1200" spc="10">
                <a:latin typeface="Arial"/>
                <a:cs typeface="Arial"/>
              </a:rPr>
              <a:t>Why </a:t>
            </a:r>
            <a:r>
              <a:rPr dirty="0" sz="1200">
                <a:latin typeface="Arial"/>
                <a:cs typeface="Arial"/>
              </a:rPr>
              <a:t>do many Muslims </a:t>
            </a:r>
            <a:r>
              <a:rPr dirty="0" sz="1200" spc="-5">
                <a:latin typeface="Arial"/>
                <a:cs typeface="Arial"/>
              </a:rPr>
              <a:t>attach </a:t>
            </a:r>
            <a:r>
              <a:rPr dirty="0" sz="1200">
                <a:latin typeface="Arial"/>
                <a:cs typeface="Arial"/>
              </a:rPr>
              <a:t>as </a:t>
            </a:r>
            <a:r>
              <a:rPr dirty="0" sz="1200" spc="-5">
                <a:latin typeface="Arial"/>
                <a:cs typeface="Arial"/>
              </a:rPr>
              <a:t>much importance </a:t>
            </a:r>
            <a:r>
              <a:rPr dirty="0" sz="1200">
                <a:latin typeface="Arial"/>
                <a:cs typeface="Arial"/>
              </a:rPr>
              <a:t>to </a:t>
            </a:r>
            <a:r>
              <a:rPr dirty="0" sz="1200" spc="-5">
                <a:latin typeface="Arial"/>
                <a:cs typeface="Arial"/>
              </a:rPr>
              <a:t>memorising </a:t>
            </a:r>
            <a:r>
              <a:rPr dirty="0" sz="1200">
                <a:latin typeface="Arial"/>
                <a:cs typeface="Arial"/>
              </a:rPr>
              <a:t>the </a:t>
            </a:r>
            <a:r>
              <a:rPr dirty="0" sz="1200" spc="-5">
                <a:latin typeface="Arial"/>
                <a:cs typeface="Arial"/>
              </a:rPr>
              <a:t>Qur‘an </a:t>
            </a:r>
            <a:r>
              <a:rPr dirty="0" sz="1200">
                <a:latin typeface="Arial"/>
                <a:cs typeface="Arial"/>
              </a:rPr>
              <a:t>as to </a:t>
            </a:r>
            <a:r>
              <a:rPr dirty="0" sz="1200" spc="-5">
                <a:latin typeface="Arial"/>
                <a:cs typeface="Arial"/>
              </a:rPr>
              <a:t>studying  </a:t>
            </a:r>
            <a:r>
              <a:rPr dirty="0" sz="1200">
                <a:latin typeface="Arial"/>
                <a:cs typeface="Arial"/>
              </a:rPr>
              <a:t>its </a:t>
            </a:r>
            <a:r>
              <a:rPr dirty="0" sz="1200" spc="-5">
                <a:latin typeface="Arial"/>
                <a:cs typeface="Arial"/>
              </a:rPr>
              <a:t>meaning? [20]</a:t>
            </a:r>
            <a:r>
              <a:rPr dirty="0" sz="1200" spc="15">
                <a:latin typeface="Arial"/>
                <a:cs typeface="Arial"/>
              </a:rPr>
              <a:t> </a:t>
            </a:r>
            <a:r>
              <a:rPr dirty="0" sz="1200" spc="-5" b="1">
                <a:latin typeface="Arial"/>
                <a:cs typeface="Arial"/>
              </a:rPr>
              <a:t>(2010)</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50</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5971540" cy="208279"/>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1062532" y="827531"/>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Surah </a:t>
            </a:r>
            <a:r>
              <a:rPr dirty="0" sz="1200" b="1">
                <a:latin typeface="Arial"/>
                <a:cs typeface="Arial"/>
              </a:rPr>
              <a:t>For </a:t>
            </a:r>
            <a:r>
              <a:rPr dirty="0" sz="1200" spc="-5" b="1">
                <a:latin typeface="Arial"/>
                <a:cs typeface="Arial"/>
              </a:rPr>
              <a:t>HSC</a:t>
            </a:r>
            <a:endParaRPr sz="1200">
              <a:latin typeface="Arial"/>
              <a:cs typeface="Arial"/>
            </a:endParaRP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51</a:t>
            </a:r>
          </a:p>
        </p:txBody>
      </p:sp>
      <p:sp>
        <p:nvSpPr>
          <p:cNvPr id="5" name="object 5"/>
          <p:cNvSpPr txBox="1"/>
          <p:nvPr/>
        </p:nvSpPr>
        <p:spPr>
          <a:xfrm>
            <a:off x="718819" y="1162557"/>
            <a:ext cx="6311265" cy="3188335"/>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35"/>
              </a:spcBef>
            </a:pPr>
            <a:endParaRPr sz="1200">
              <a:latin typeface="Arial"/>
              <a:cs typeface="Arial"/>
            </a:endParaRPr>
          </a:p>
          <a:p>
            <a:pPr algn="just" marL="12700" marR="6985">
              <a:lnSpc>
                <a:spcPts val="1380"/>
              </a:lnSpc>
            </a:pPr>
            <a:r>
              <a:rPr dirty="0" sz="1200" spc="-5">
                <a:latin typeface="Arial"/>
                <a:cs typeface="Arial"/>
              </a:rPr>
              <a:t>All </a:t>
            </a:r>
            <a:r>
              <a:rPr dirty="0" sz="1200">
                <a:latin typeface="Arial"/>
                <a:cs typeface="Arial"/>
              </a:rPr>
              <a:t>the </a:t>
            </a:r>
            <a:r>
              <a:rPr dirty="0" sz="1200" spc="-5">
                <a:latin typeface="Arial"/>
                <a:cs typeface="Arial"/>
              </a:rPr>
              <a:t>Surah that </a:t>
            </a:r>
            <a:r>
              <a:rPr dirty="0" sz="1200" spc="-10">
                <a:latin typeface="Arial"/>
                <a:cs typeface="Arial"/>
              </a:rPr>
              <a:t>we </a:t>
            </a:r>
            <a:r>
              <a:rPr dirty="0" sz="1200" spc="-5">
                <a:latin typeface="Arial"/>
                <a:cs typeface="Arial"/>
              </a:rPr>
              <a:t>have in the holy Qur‘an they </a:t>
            </a:r>
            <a:r>
              <a:rPr dirty="0" sz="1200">
                <a:latin typeface="Arial"/>
                <a:cs typeface="Arial"/>
              </a:rPr>
              <a:t>are for </a:t>
            </a:r>
            <a:r>
              <a:rPr dirty="0" sz="1200" spc="-5">
                <a:latin typeface="Arial"/>
                <a:cs typeface="Arial"/>
              </a:rPr>
              <a:t>specific purposes. Allah </a:t>
            </a:r>
            <a:r>
              <a:rPr dirty="0" sz="1200">
                <a:latin typeface="Arial"/>
                <a:cs typeface="Arial"/>
              </a:rPr>
              <a:t>has </a:t>
            </a:r>
            <a:r>
              <a:rPr dirty="0" sz="1200" spc="-5">
                <a:latin typeface="Arial"/>
                <a:cs typeface="Arial"/>
              </a:rPr>
              <a:t>never  revealed a verse upon any messenger in vain. </a:t>
            </a:r>
            <a:r>
              <a:rPr dirty="0" sz="1200">
                <a:latin typeface="Arial"/>
                <a:cs typeface="Arial"/>
              </a:rPr>
              <a:t>There </a:t>
            </a:r>
            <a:r>
              <a:rPr dirty="0" sz="1200" spc="-10">
                <a:latin typeface="Arial"/>
                <a:cs typeface="Arial"/>
              </a:rPr>
              <a:t>was </a:t>
            </a:r>
            <a:r>
              <a:rPr dirty="0" sz="1200" spc="-5">
                <a:latin typeface="Arial"/>
                <a:cs typeface="Arial"/>
              </a:rPr>
              <a:t>a reason. </a:t>
            </a:r>
            <a:r>
              <a:rPr dirty="0" sz="1200">
                <a:latin typeface="Arial"/>
                <a:cs typeface="Arial"/>
              </a:rPr>
              <a:t>It </a:t>
            </a:r>
            <a:r>
              <a:rPr dirty="0" sz="1200" spc="-5">
                <a:latin typeface="Arial"/>
                <a:cs typeface="Arial"/>
              </a:rPr>
              <a:t>is </a:t>
            </a:r>
            <a:r>
              <a:rPr dirty="0" sz="1200" spc="-10">
                <a:latin typeface="Arial"/>
                <a:cs typeface="Arial"/>
              </a:rPr>
              <a:t>then </a:t>
            </a:r>
            <a:r>
              <a:rPr dirty="0" sz="1200" spc="-5">
                <a:latin typeface="Arial"/>
                <a:cs typeface="Arial"/>
              </a:rPr>
              <a:t>the duty and  responsibility </a:t>
            </a:r>
            <a:r>
              <a:rPr dirty="0" sz="1200">
                <a:latin typeface="Arial"/>
                <a:cs typeface="Arial"/>
              </a:rPr>
              <a:t>of </a:t>
            </a:r>
            <a:r>
              <a:rPr dirty="0" sz="1200" spc="-5">
                <a:latin typeface="Arial"/>
                <a:cs typeface="Arial"/>
              </a:rPr>
              <a:t>each one of </a:t>
            </a:r>
            <a:r>
              <a:rPr dirty="0" sz="1200">
                <a:latin typeface="Arial"/>
                <a:cs typeface="Arial"/>
              </a:rPr>
              <a:t>us to </a:t>
            </a:r>
            <a:r>
              <a:rPr dirty="0" sz="1200" spc="-5">
                <a:latin typeface="Arial"/>
                <a:cs typeface="Arial"/>
              </a:rPr>
              <a:t>learn and study these Surah to </a:t>
            </a:r>
            <a:r>
              <a:rPr dirty="0" sz="1200">
                <a:latin typeface="Arial"/>
                <a:cs typeface="Arial"/>
              </a:rPr>
              <a:t>our </a:t>
            </a:r>
            <a:r>
              <a:rPr dirty="0" sz="1200" spc="-5">
                <a:latin typeface="Arial"/>
                <a:cs typeface="Arial"/>
              </a:rPr>
              <a:t>maximum. </a:t>
            </a:r>
            <a:r>
              <a:rPr dirty="0" sz="1200">
                <a:latin typeface="Arial"/>
                <a:cs typeface="Arial"/>
              </a:rPr>
              <a:t>This </a:t>
            </a:r>
            <a:r>
              <a:rPr dirty="0" sz="1200" spc="-5">
                <a:latin typeface="Arial"/>
                <a:cs typeface="Arial"/>
              </a:rPr>
              <a:t>chapter  will be based on the </a:t>
            </a:r>
            <a:r>
              <a:rPr dirty="0" sz="1200">
                <a:latin typeface="Arial"/>
                <a:cs typeface="Arial"/>
              </a:rPr>
              <a:t>Tafsir </a:t>
            </a:r>
            <a:r>
              <a:rPr dirty="0" sz="1200" spc="-5">
                <a:latin typeface="Arial"/>
                <a:cs typeface="Arial"/>
              </a:rPr>
              <a:t>of </a:t>
            </a:r>
            <a:r>
              <a:rPr dirty="0" sz="1200" spc="-10">
                <a:latin typeface="Arial"/>
                <a:cs typeface="Arial"/>
              </a:rPr>
              <a:t>Hazrat </a:t>
            </a:r>
            <a:r>
              <a:rPr dirty="0" sz="1200" spc="-5">
                <a:latin typeface="Arial"/>
                <a:cs typeface="Arial"/>
              </a:rPr>
              <a:t>Abdullah Ibn Abbas </a:t>
            </a:r>
            <a:r>
              <a:rPr dirty="0" sz="1200">
                <a:latin typeface="Arial"/>
                <a:cs typeface="Arial"/>
              </a:rPr>
              <a:t>(ra), </a:t>
            </a:r>
            <a:r>
              <a:rPr dirty="0" sz="1200" spc="-5">
                <a:latin typeface="Arial"/>
                <a:cs typeface="Arial"/>
              </a:rPr>
              <a:t>sahaba and cousin of the holy  prophet (s.a.w)</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Surah Al</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Faatiha</a:t>
            </a:r>
            <a:endParaRPr sz="1200">
              <a:latin typeface="Arial"/>
              <a:cs typeface="Arial"/>
            </a:endParaRPr>
          </a:p>
          <a:p>
            <a:pPr>
              <a:lnSpc>
                <a:spcPct val="100000"/>
              </a:lnSpc>
              <a:spcBef>
                <a:spcPts val="55"/>
              </a:spcBef>
            </a:pPr>
            <a:endParaRPr sz="1150">
              <a:latin typeface="Arial"/>
              <a:cs typeface="Arial"/>
            </a:endParaRPr>
          </a:p>
          <a:p>
            <a:pPr algn="just" marL="12700" marR="5080">
              <a:lnSpc>
                <a:spcPct val="95900"/>
              </a:lnSpc>
            </a:pPr>
            <a:r>
              <a:rPr dirty="0" sz="1200" spc="-5">
                <a:latin typeface="Arial"/>
                <a:cs typeface="Arial"/>
              </a:rPr>
              <a:t>According </a:t>
            </a:r>
            <a:r>
              <a:rPr dirty="0" sz="1200">
                <a:latin typeface="Arial"/>
                <a:cs typeface="Arial"/>
              </a:rPr>
              <a:t>to </a:t>
            </a:r>
            <a:r>
              <a:rPr dirty="0" sz="1200" spc="-5">
                <a:latin typeface="Arial"/>
                <a:cs typeface="Arial"/>
              </a:rPr>
              <a:t>a group of Ulama, </a:t>
            </a:r>
            <a:r>
              <a:rPr dirty="0" sz="1200">
                <a:latin typeface="Arial"/>
                <a:cs typeface="Arial"/>
              </a:rPr>
              <a:t>the </a:t>
            </a:r>
            <a:r>
              <a:rPr dirty="0" sz="1200" spc="-5">
                <a:latin typeface="Arial"/>
                <a:cs typeface="Arial"/>
              </a:rPr>
              <a:t>Basmallah </a:t>
            </a:r>
            <a:r>
              <a:rPr dirty="0" sz="1200">
                <a:latin typeface="Arial"/>
                <a:cs typeface="Arial"/>
              </a:rPr>
              <a:t>forms part </a:t>
            </a:r>
            <a:r>
              <a:rPr dirty="0" sz="1200" spc="-5">
                <a:latin typeface="Arial"/>
                <a:cs typeface="Arial"/>
              </a:rPr>
              <a:t>of </a:t>
            </a:r>
            <a:r>
              <a:rPr dirty="0" sz="1200">
                <a:latin typeface="Arial"/>
                <a:cs typeface="Arial"/>
              </a:rPr>
              <a:t>the </a:t>
            </a:r>
            <a:r>
              <a:rPr dirty="0" sz="1200" spc="-5">
                <a:latin typeface="Arial"/>
                <a:cs typeface="Arial"/>
              </a:rPr>
              <a:t>surah but according </a:t>
            </a:r>
            <a:r>
              <a:rPr dirty="0" sz="1200">
                <a:latin typeface="Arial"/>
                <a:cs typeface="Arial"/>
              </a:rPr>
              <a:t>to </a:t>
            </a:r>
            <a:r>
              <a:rPr dirty="0" sz="1200" spc="-5">
                <a:latin typeface="Arial"/>
                <a:cs typeface="Arial"/>
              </a:rPr>
              <a:t>others  it doesn‘t. It was revealed </a:t>
            </a:r>
            <a:r>
              <a:rPr dirty="0" sz="1200">
                <a:latin typeface="Arial"/>
                <a:cs typeface="Arial"/>
              </a:rPr>
              <a:t>as a </a:t>
            </a:r>
            <a:r>
              <a:rPr dirty="0" sz="1200" spc="-5">
                <a:latin typeface="Arial"/>
                <a:cs typeface="Arial"/>
              </a:rPr>
              <a:t>blessing </a:t>
            </a:r>
            <a:r>
              <a:rPr dirty="0" sz="1200">
                <a:latin typeface="Arial"/>
                <a:cs typeface="Arial"/>
              </a:rPr>
              <a:t>for </a:t>
            </a:r>
            <a:r>
              <a:rPr dirty="0" sz="1200" spc="-5">
                <a:latin typeface="Arial"/>
                <a:cs typeface="Arial"/>
              </a:rPr>
              <a:t>Mankind because </a:t>
            </a:r>
            <a:r>
              <a:rPr dirty="0" sz="1200">
                <a:latin typeface="Arial"/>
                <a:cs typeface="Arial"/>
              </a:rPr>
              <a:t>according to the </a:t>
            </a:r>
            <a:r>
              <a:rPr dirty="0" sz="1200" spc="-5">
                <a:latin typeface="Arial"/>
                <a:cs typeface="Arial"/>
              </a:rPr>
              <a:t>prophet  (s.a.w), </a:t>
            </a:r>
            <a:r>
              <a:rPr dirty="0" sz="1200">
                <a:latin typeface="Arial"/>
                <a:cs typeface="Arial"/>
              </a:rPr>
              <a:t>there </a:t>
            </a:r>
            <a:r>
              <a:rPr dirty="0" sz="1200" spc="-5">
                <a:latin typeface="Arial"/>
                <a:cs typeface="Arial"/>
              </a:rPr>
              <a:t>is </a:t>
            </a:r>
            <a:r>
              <a:rPr dirty="0" sz="1200" spc="-10">
                <a:latin typeface="Arial"/>
                <a:cs typeface="Arial"/>
              </a:rPr>
              <a:t>no </a:t>
            </a:r>
            <a:r>
              <a:rPr dirty="0" sz="1200" spc="-5">
                <a:latin typeface="Arial"/>
                <a:cs typeface="Arial"/>
              </a:rPr>
              <a:t>such surah before the time of the prophet (s.a.w). </a:t>
            </a:r>
            <a:r>
              <a:rPr dirty="0" sz="1200">
                <a:latin typeface="Arial"/>
                <a:cs typeface="Arial"/>
              </a:rPr>
              <a:t>The </a:t>
            </a:r>
            <a:r>
              <a:rPr dirty="0" sz="1200" spc="-5">
                <a:latin typeface="Arial"/>
                <a:cs typeface="Arial"/>
              </a:rPr>
              <a:t>surah is about the  praise and characteristics </a:t>
            </a:r>
            <a:r>
              <a:rPr dirty="0" sz="1200">
                <a:latin typeface="Arial"/>
                <a:cs typeface="Arial"/>
              </a:rPr>
              <a:t>of </a:t>
            </a:r>
            <a:r>
              <a:rPr dirty="0" sz="1200" spc="-5">
                <a:latin typeface="Arial"/>
                <a:cs typeface="Arial"/>
              </a:rPr>
              <a:t>Allah. The </a:t>
            </a:r>
            <a:r>
              <a:rPr dirty="0" sz="1200">
                <a:latin typeface="Arial"/>
                <a:cs typeface="Arial"/>
              </a:rPr>
              <a:t>first four </a:t>
            </a:r>
            <a:r>
              <a:rPr dirty="0" sz="1200" spc="-5">
                <a:latin typeface="Arial"/>
                <a:cs typeface="Arial"/>
              </a:rPr>
              <a:t>verses deal with </a:t>
            </a:r>
            <a:r>
              <a:rPr dirty="0" sz="1200">
                <a:latin typeface="Arial"/>
                <a:cs typeface="Arial"/>
              </a:rPr>
              <a:t>the </a:t>
            </a:r>
            <a:r>
              <a:rPr dirty="0" sz="1200" spc="-5">
                <a:latin typeface="Arial"/>
                <a:cs typeface="Arial"/>
              </a:rPr>
              <a:t>attributes, praise, glory  and status of Allah. </a:t>
            </a:r>
            <a:r>
              <a:rPr dirty="0" sz="1200">
                <a:latin typeface="Arial"/>
                <a:cs typeface="Arial"/>
              </a:rPr>
              <a:t>It </a:t>
            </a:r>
            <a:r>
              <a:rPr dirty="0" sz="1200" spc="-5">
                <a:latin typeface="Arial"/>
                <a:cs typeface="Arial"/>
              </a:rPr>
              <a:t>gives us an indication of how Allah supersedes everyone. </a:t>
            </a:r>
            <a:r>
              <a:rPr dirty="0" sz="1200">
                <a:latin typeface="Arial"/>
                <a:cs typeface="Arial"/>
              </a:rPr>
              <a:t>It </a:t>
            </a:r>
            <a:r>
              <a:rPr dirty="0" sz="1200" spc="30">
                <a:latin typeface="Arial"/>
                <a:cs typeface="Arial"/>
              </a:rPr>
              <a:t>is </a:t>
            </a:r>
            <a:r>
              <a:rPr dirty="0" sz="1200" spc="-5">
                <a:latin typeface="Arial"/>
                <a:cs typeface="Arial"/>
              </a:rPr>
              <a:t>also  about worship and </a:t>
            </a:r>
            <a:r>
              <a:rPr dirty="0" sz="1200" spc="-10">
                <a:latin typeface="Arial"/>
                <a:cs typeface="Arial"/>
              </a:rPr>
              <a:t>help </a:t>
            </a:r>
            <a:r>
              <a:rPr dirty="0" sz="1200" spc="-5">
                <a:latin typeface="Arial"/>
                <a:cs typeface="Arial"/>
              </a:rPr>
              <a:t>being </a:t>
            </a:r>
            <a:r>
              <a:rPr dirty="0" sz="1200">
                <a:latin typeface="Arial"/>
                <a:cs typeface="Arial"/>
              </a:rPr>
              <a:t>for </a:t>
            </a:r>
            <a:r>
              <a:rPr dirty="0" sz="1200" spc="-5">
                <a:latin typeface="Arial"/>
                <a:cs typeface="Arial"/>
              </a:rPr>
              <a:t>and from Allah. Then </a:t>
            </a:r>
            <a:r>
              <a:rPr dirty="0" sz="1200" spc="-10">
                <a:latin typeface="Arial"/>
                <a:cs typeface="Arial"/>
              </a:rPr>
              <a:t>we </a:t>
            </a:r>
            <a:r>
              <a:rPr dirty="0" sz="1200" spc="-5">
                <a:latin typeface="Arial"/>
                <a:cs typeface="Arial"/>
              </a:rPr>
              <a:t>ask </a:t>
            </a:r>
            <a:r>
              <a:rPr dirty="0" sz="1200">
                <a:latin typeface="Arial"/>
                <a:cs typeface="Arial"/>
              </a:rPr>
              <a:t>for </a:t>
            </a:r>
            <a:r>
              <a:rPr dirty="0" sz="1200" spc="-5">
                <a:latin typeface="Arial"/>
                <a:cs typeface="Arial"/>
              </a:rPr>
              <a:t>guidance and </a:t>
            </a:r>
            <a:r>
              <a:rPr dirty="0" sz="1200" spc="-10">
                <a:latin typeface="Arial"/>
                <a:cs typeface="Arial"/>
              </a:rPr>
              <a:t>we </a:t>
            </a:r>
            <a:r>
              <a:rPr dirty="0" sz="1200" spc="-5">
                <a:latin typeface="Arial"/>
                <a:cs typeface="Arial"/>
              </a:rPr>
              <a:t>are  selective in our demand. </a:t>
            </a:r>
            <a:r>
              <a:rPr dirty="0" sz="1200" spc="15">
                <a:latin typeface="Arial"/>
                <a:cs typeface="Arial"/>
              </a:rPr>
              <a:t>We </a:t>
            </a:r>
            <a:r>
              <a:rPr dirty="0" sz="1200" spc="-5">
                <a:latin typeface="Arial"/>
                <a:cs typeface="Arial"/>
              </a:rPr>
              <a:t>ask </a:t>
            </a:r>
            <a:r>
              <a:rPr dirty="0" sz="1200">
                <a:latin typeface="Arial"/>
                <a:cs typeface="Arial"/>
              </a:rPr>
              <a:t>for </a:t>
            </a:r>
            <a:r>
              <a:rPr dirty="0" sz="1200" spc="-5">
                <a:latin typeface="Arial"/>
                <a:cs typeface="Arial"/>
              </a:rPr>
              <a:t>the right path not </a:t>
            </a:r>
            <a:r>
              <a:rPr dirty="0" sz="1200">
                <a:latin typeface="Arial"/>
                <a:cs typeface="Arial"/>
              </a:rPr>
              <a:t>the </a:t>
            </a:r>
            <a:r>
              <a:rPr dirty="0" sz="1200" spc="-5">
                <a:latin typeface="Arial"/>
                <a:cs typeface="Arial"/>
              </a:rPr>
              <a:t>opposite. Allah warns us  concerning those </a:t>
            </a:r>
            <a:r>
              <a:rPr dirty="0" sz="1200" spc="-10">
                <a:latin typeface="Arial"/>
                <a:cs typeface="Arial"/>
              </a:rPr>
              <a:t>who </a:t>
            </a:r>
            <a:r>
              <a:rPr dirty="0" sz="1200">
                <a:latin typeface="Arial"/>
                <a:cs typeface="Arial"/>
              </a:rPr>
              <a:t>took </a:t>
            </a:r>
            <a:r>
              <a:rPr dirty="0" sz="1200" spc="-5">
                <a:latin typeface="Arial"/>
                <a:cs typeface="Arial"/>
              </a:rPr>
              <a:t>a different</a:t>
            </a:r>
            <a:r>
              <a:rPr dirty="0" sz="1200" spc="-10">
                <a:latin typeface="Arial"/>
                <a:cs typeface="Arial"/>
              </a:rPr>
              <a:t> way.</a:t>
            </a:r>
            <a:endParaRPr sz="1200">
              <a:latin typeface="Arial"/>
              <a:cs typeface="Arial"/>
            </a:endParaRPr>
          </a:p>
        </p:txBody>
      </p:sp>
      <p:sp>
        <p:nvSpPr>
          <p:cNvPr id="6" name="object 6"/>
          <p:cNvSpPr txBox="1"/>
          <p:nvPr/>
        </p:nvSpPr>
        <p:spPr>
          <a:xfrm>
            <a:off x="5243448" y="4498975"/>
            <a:ext cx="1750060" cy="299720"/>
          </a:xfrm>
          <a:prstGeom prst="rect">
            <a:avLst/>
          </a:prstGeom>
        </p:spPr>
        <p:txBody>
          <a:bodyPr wrap="square" lIns="0" tIns="12700" rIns="0" bIns="0" rtlCol="0" vert="horz">
            <a:spAutoFit/>
          </a:bodyPr>
          <a:lstStyle/>
          <a:p>
            <a:pPr marL="38100">
              <a:lnSpc>
                <a:spcPct val="100000"/>
              </a:lnSpc>
              <a:spcBef>
                <a:spcPts val="100"/>
              </a:spcBef>
            </a:pPr>
            <a:r>
              <a:rPr dirty="0" baseline="3086" sz="2700" spc="-367" b="1">
                <a:latin typeface="Arial"/>
                <a:cs typeface="Arial"/>
              </a:rPr>
              <a:t>م</a:t>
            </a:r>
            <a:r>
              <a:rPr dirty="0" baseline="-12345" sz="2700" spc="-367" b="1">
                <a:latin typeface="Arial"/>
                <a:cs typeface="Arial"/>
              </a:rPr>
              <a:t>ِ </a:t>
            </a:r>
            <a:r>
              <a:rPr dirty="0" baseline="3086" sz="2700" spc="-630" b="1">
                <a:latin typeface="Arial"/>
                <a:cs typeface="Arial"/>
              </a:rPr>
              <a:t>ـيحِ</a:t>
            </a:r>
            <a:r>
              <a:rPr dirty="0" baseline="3086" sz="2700" spc="-509" b="1">
                <a:latin typeface="Arial"/>
                <a:cs typeface="Arial"/>
              </a:rPr>
              <a:t> </a:t>
            </a:r>
            <a:r>
              <a:rPr dirty="0" baseline="3086" sz="2700" spc="-277" b="1">
                <a:latin typeface="Arial"/>
                <a:cs typeface="Arial"/>
              </a:rPr>
              <a:t>ر</a:t>
            </a:r>
            <a:r>
              <a:rPr dirty="0" sz="1800" spc="-185" b="1">
                <a:latin typeface="Arial"/>
                <a:cs typeface="Arial"/>
              </a:rPr>
              <a:t>َّ </a:t>
            </a:r>
            <a:r>
              <a:rPr dirty="0" baseline="3086" sz="2700" spc="-300" b="1">
                <a:latin typeface="Arial"/>
                <a:cs typeface="Arial"/>
              </a:rPr>
              <a:t>لا </a:t>
            </a:r>
            <a:r>
              <a:rPr dirty="0" baseline="3086" sz="2700" spc="-637" b="1">
                <a:latin typeface="Arial"/>
                <a:cs typeface="Arial"/>
              </a:rPr>
              <a:t>ن</a:t>
            </a:r>
            <a:r>
              <a:rPr dirty="0" baseline="-9259" sz="2700" spc="-637" b="1">
                <a:latin typeface="Arial"/>
                <a:cs typeface="Arial"/>
              </a:rPr>
              <a:t>ِ </a:t>
            </a:r>
            <a:r>
              <a:rPr dirty="0" baseline="3086" sz="2700" spc="-232" b="1">
                <a:latin typeface="Arial"/>
                <a:cs typeface="Arial"/>
              </a:rPr>
              <a:t>م</a:t>
            </a:r>
            <a:r>
              <a:rPr dirty="0" baseline="7716" sz="2700" spc="-232" b="1">
                <a:latin typeface="Arial"/>
                <a:cs typeface="Arial"/>
              </a:rPr>
              <a:t>ٰ </a:t>
            </a:r>
            <a:r>
              <a:rPr dirty="0" baseline="3086" sz="2700" spc="-577" b="1">
                <a:latin typeface="Arial"/>
                <a:cs typeface="Arial"/>
              </a:rPr>
              <a:t>ح</a:t>
            </a:r>
            <a:r>
              <a:rPr dirty="0" sz="1800" spc="-385" b="1">
                <a:latin typeface="Arial"/>
                <a:cs typeface="Arial"/>
              </a:rPr>
              <a:t>ْ </a:t>
            </a:r>
            <a:r>
              <a:rPr dirty="0" baseline="3086" sz="2700" spc="-284" b="1">
                <a:latin typeface="Arial"/>
                <a:cs typeface="Arial"/>
              </a:rPr>
              <a:t>ر</a:t>
            </a:r>
            <a:r>
              <a:rPr dirty="0" sz="1800" spc="-190" b="1">
                <a:latin typeface="Arial"/>
                <a:cs typeface="Arial"/>
              </a:rPr>
              <a:t>َّ </a:t>
            </a:r>
            <a:r>
              <a:rPr dirty="0" baseline="3086" sz="2700" spc="-300" b="1">
                <a:latin typeface="Arial"/>
                <a:cs typeface="Arial"/>
              </a:rPr>
              <a:t>لا </a:t>
            </a:r>
            <a:r>
              <a:rPr dirty="0" baseline="3086" sz="2700" spc="-375" b="1">
                <a:latin typeface="Arial"/>
                <a:cs typeface="Arial"/>
              </a:rPr>
              <a:t>للهٱ </a:t>
            </a:r>
            <a:r>
              <a:rPr dirty="0" baseline="3086" sz="2700" spc="-352" b="1">
                <a:latin typeface="Arial"/>
                <a:cs typeface="Arial"/>
              </a:rPr>
              <a:t>م</a:t>
            </a:r>
            <a:r>
              <a:rPr dirty="0" baseline="-12345" sz="2700" spc="-352" b="1">
                <a:latin typeface="Arial"/>
                <a:cs typeface="Arial"/>
              </a:rPr>
              <a:t>ِ</a:t>
            </a:r>
            <a:r>
              <a:rPr dirty="0" baseline="-12345" sz="2700" spc="-97" b="1">
                <a:latin typeface="Arial"/>
                <a:cs typeface="Arial"/>
              </a:rPr>
              <a:t> </a:t>
            </a:r>
            <a:r>
              <a:rPr dirty="0" baseline="3086" sz="2700" spc="-855" b="1">
                <a:latin typeface="Arial"/>
                <a:cs typeface="Arial"/>
              </a:rPr>
              <a:t>سب</a:t>
            </a:r>
            <a:r>
              <a:rPr dirty="0" baseline="-9259" sz="2700" spc="-855" b="1">
                <a:latin typeface="Arial"/>
                <a:cs typeface="Arial"/>
              </a:rPr>
              <a:t>ِ</a:t>
            </a:r>
            <a:endParaRPr baseline="-9259" sz="2700">
              <a:latin typeface="Arial"/>
              <a:cs typeface="Arial"/>
            </a:endParaRPr>
          </a:p>
        </p:txBody>
      </p:sp>
      <p:sp>
        <p:nvSpPr>
          <p:cNvPr id="7" name="object 7"/>
          <p:cNvSpPr txBox="1"/>
          <p:nvPr/>
        </p:nvSpPr>
        <p:spPr>
          <a:xfrm>
            <a:off x="668019" y="4905882"/>
            <a:ext cx="6412865" cy="3956685"/>
          </a:xfrm>
          <a:prstGeom prst="rect">
            <a:avLst/>
          </a:prstGeom>
        </p:spPr>
        <p:txBody>
          <a:bodyPr wrap="square" lIns="0" tIns="12700" rIns="0" bIns="0" rtlCol="0" vert="horz">
            <a:spAutoFit/>
          </a:bodyPr>
          <a:lstStyle/>
          <a:p>
            <a:pPr algn="just" marL="63500">
              <a:lnSpc>
                <a:spcPct val="100000"/>
              </a:lnSpc>
              <a:spcBef>
                <a:spcPts val="100"/>
              </a:spcBef>
            </a:pPr>
            <a:r>
              <a:rPr dirty="0" sz="1200" spc="-5" i="1">
                <a:latin typeface="Arial"/>
                <a:cs typeface="Arial"/>
              </a:rPr>
              <a:t>In the </a:t>
            </a:r>
            <a:r>
              <a:rPr dirty="0" sz="1200" spc="-10" i="1">
                <a:latin typeface="Arial"/>
                <a:cs typeface="Arial"/>
              </a:rPr>
              <a:t>name </a:t>
            </a:r>
            <a:r>
              <a:rPr dirty="0" sz="1200" i="1">
                <a:latin typeface="Arial"/>
                <a:cs typeface="Arial"/>
              </a:rPr>
              <a:t>of </a:t>
            </a:r>
            <a:r>
              <a:rPr dirty="0" sz="1200" spc="-5" i="1">
                <a:latin typeface="Arial"/>
                <a:cs typeface="Arial"/>
              </a:rPr>
              <a:t>Allah, the Beneficent, the</a:t>
            </a:r>
            <a:r>
              <a:rPr dirty="0" sz="1200" spc="40" i="1">
                <a:latin typeface="Arial"/>
                <a:cs typeface="Arial"/>
              </a:rPr>
              <a:t> </a:t>
            </a:r>
            <a:r>
              <a:rPr dirty="0" sz="1200" spc="-5" i="1">
                <a:latin typeface="Arial"/>
                <a:cs typeface="Arial"/>
              </a:rPr>
              <a:t>Merciful.</a:t>
            </a:r>
            <a:endParaRPr sz="1200">
              <a:latin typeface="Arial"/>
              <a:cs typeface="Arial"/>
            </a:endParaRPr>
          </a:p>
          <a:p>
            <a:pPr>
              <a:lnSpc>
                <a:spcPct val="100000"/>
              </a:lnSpc>
              <a:spcBef>
                <a:spcPts val="10"/>
              </a:spcBef>
            </a:pPr>
            <a:endParaRPr sz="1200">
              <a:latin typeface="Arial"/>
              <a:cs typeface="Arial"/>
            </a:endParaRPr>
          </a:p>
          <a:p>
            <a:pPr algn="just" marL="63500" marR="55880">
              <a:lnSpc>
                <a:spcPct val="95900"/>
              </a:lnSpc>
            </a:pPr>
            <a:r>
              <a:rPr dirty="0" sz="1200" spc="-5">
                <a:latin typeface="Arial"/>
                <a:cs typeface="Arial"/>
              </a:rPr>
              <a:t>The name of Allah must </a:t>
            </a:r>
            <a:r>
              <a:rPr dirty="0" sz="1200" spc="-10">
                <a:latin typeface="Arial"/>
                <a:cs typeface="Arial"/>
              </a:rPr>
              <a:t>always </a:t>
            </a:r>
            <a:r>
              <a:rPr dirty="0" sz="1200" spc="-5">
                <a:latin typeface="Arial"/>
                <a:cs typeface="Arial"/>
              </a:rPr>
              <a:t>be present at all </a:t>
            </a:r>
            <a:r>
              <a:rPr dirty="0" sz="1200">
                <a:latin typeface="Arial"/>
                <a:cs typeface="Arial"/>
              </a:rPr>
              <a:t>times. In </a:t>
            </a:r>
            <a:r>
              <a:rPr dirty="0" sz="1200" spc="-5">
                <a:latin typeface="Arial"/>
                <a:cs typeface="Arial"/>
              </a:rPr>
              <a:t>whatever </a:t>
            </a:r>
            <a:r>
              <a:rPr dirty="0" sz="1200" spc="-10">
                <a:latin typeface="Arial"/>
                <a:cs typeface="Arial"/>
              </a:rPr>
              <a:t>we </a:t>
            </a:r>
            <a:r>
              <a:rPr dirty="0" sz="1200" spc="-5">
                <a:latin typeface="Arial"/>
                <a:cs typeface="Arial"/>
              </a:rPr>
              <a:t>undertake, </a:t>
            </a:r>
            <a:r>
              <a:rPr dirty="0" sz="1200" spc="-10">
                <a:latin typeface="Arial"/>
                <a:cs typeface="Arial"/>
              </a:rPr>
              <a:t>we </a:t>
            </a:r>
            <a:r>
              <a:rPr dirty="0" sz="1200" spc="-5">
                <a:latin typeface="Arial"/>
                <a:cs typeface="Arial"/>
              </a:rPr>
              <a:t>must  imperatively </a:t>
            </a:r>
            <a:r>
              <a:rPr dirty="0" sz="1200">
                <a:latin typeface="Arial"/>
                <a:cs typeface="Arial"/>
              </a:rPr>
              <a:t>start </a:t>
            </a:r>
            <a:r>
              <a:rPr dirty="0" sz="1200" spc="-5">
                <a:latin typeface="Arial"/>
                <a:cs typeface="Arial"/>
              </a:rPr>
              <a:t>with </a:t>
            </a:r>
            <a:r>
              <a:rPr dirty="0" sz="1200">
                <a:latin typeface="Arial"/>
                <a:cs typeface="Arial"/>
              </a:rPr>
              <a:t>the </a:t>
            </a:r>
            <a:r>
              <a:rPr dirty="0" sz="1200" spc="-5">
                <a:latin typeface="Arial"/>
                <a:cs typeface="Arial"/>
              </a:rPr>
              <a:t>blessings from Allah. Allah </a:t>
            </a:r>
            <a:r>
              <a:rPr dirty="0" sz="1200" spc="-10">
                <a:latin typeface="Arial"/>
                <a:cs typeface="Arial"/>
              </a:rPr>
              <a:t>gives </a:t>
            </a:r>
            <a:r>
              <a:rPr dirty="0" sz="1200" spc="-5">
                <a:latin typeface="Arial"/>
                <a:cs typeface="Arial"/>
              </a:rPr>
              <a:t>us a clue </a:t>
            </a:r>
            <a:r>
              <a:rPr dirty="0" sz="1200" spc="-10">
                <a:latin typeface="Arial"/>
                <a:cs typeface="Arial"/>
              </a:rPr>
              <a:t>on two </a:t>
            </a:r>
            <a:r>
              <a:rPr dirty="0" sz="1200" spc="-5">
                <a:latin typeface="Arial"/>
                <a:cs typeface="Arial"/>
              </a:rPr>
              <a:t>of His attributes  and characters. According </a:t>
            </a:r>
            <a:r>
              <a:rPr dirty="0" sz="1200">
                <a:latin typeface="Arial"/>
                <a:cs typeface="Arial"/>
              </a:rPr>
              <a:t>to </a:t>
            </a:r>
            <a:r>
              <a:rPr dirty="0" sz="1200" spc="-5">
                <a:latin typeface="Arial"/>
                <a:cs typeface="Arial"/>
              </a:rPr>
              <a:t>some ulama both attributes mentioned </a:t>
            </a:r>
            <a:r>
              <a:rPr dirty="0" sz="1200" spc="-10">
                <a:latin typeface="Arial"/>
                <a:cs typeface="Arial"/>
              </a:rPr>
              <a:t>above </a:t>
            </a:r>
            <a:r>
              <a:rPr dirty="0" sz="1200">
                <a:latin typeface="Arial"/>
                <a:cs typeface="Arial"/>
              </a:rPr>
              <a:t>(Ar </a:t>
            </a:r>
            <a:r>
              <a:rPr dirty="0" sz="1200" spc="-5">
                <a:latin typeface="Arial"/>
                <a:cs typeface="Arial"/>
              </a:rPr>
              <a:t>Rahman and  </a:t>
            </a:r>
            <a:r>
              <a:rPr dirty="0" sz="1200">
                <a:latin typeface="Arial"/>
                <a:cs typeface="Arial"/>
              </a:rPr>
              <a:t>Ar </a:t>
            </a:r>
            <a:r>
              <a:rPr dirty="0" sz="1200" spc="-5">
                <a:latin typeface="Arial"/>
                <a:cs typeface="Arial"/>
              </a:rPr>
              <a:t>Rahim) have the same meanings. However, Allah is the </a:t>
            </a:r>
            <a:r>
              <a:rPr dirty="0" sz="1200">
                <a:latin typeface="Arial"/>
                <a:cs typeface="Arial"/>
              </a:rPr>
              <a:t>most </a:t>
            </a:r>
            <a:r>
              <a:rPr dirty="0" sz="1200" spc="-5">
                <a:latin typeface="Arial"/>
                <a:cs typeface="Arial"/>
              </a:rPr>
              <a:t>compassionate (towards His  people) and merciful (concerning the sufferings </a:t>
            </a:r>
            <a:r>
              <a:rPr dirty="0" sz="1200">
                <a:latin typeface="Arial"/>
                <a:cs typeface="Arial"/>
              </a:rPr>
              <a:t>and </a:t>
            </a:r>
            <a:r>
              <a:rPr dirty="0" sz="1200" spc="-5">
                <a:latin typeface="Arial"/>
                <a:cs typeface="Arial"/>
              </a:rPr>
              <a:t>sins of </a:t>
            </a:r>
            <a:r>
              <a:rPr dirty="0" sz="1200" spc="5">
                <a:latin typeface="Arial"/>
                <a:cs typeface="Arial"/>
              </a:rPr>
              <a:t>His</a:t>
            </a:r>
            <a:r>
              <a:rPr dirty="0" sz="1200" spc="25">
                <a:latin typeface="Arial"/>
                <a:cs typeface="Arial"/>
              </a:rPr>
              <a:t> </a:t>
            </a:r>
            <a:r>
              <a:rPr dirty="0" sz="1200" spc="-5">
                <a:latin typeface="Arial"/>
                <a:cs typeface="Arial"/>
              </a:rPr>
              <a:t>people)</a:t>
            </a:r>
            <a:endParaRPr sz="1200">
              <a:latin typeface="Arial"/>
              <a:cs typeface="Arial"/>
            </a:endParaRPr>
          </a:p>
          <a:p>
            <a:pPr>
              <a:lnSpc>
                <a:spcPct val="100000"/>
              </a:lnSpc>
              <a:spcBef>
                <a:spcPts val="45"/>
              </a:spcBef>
            </a:pPr>
            <a:endParaRPr sz="1150">
              <a:latin typeface="Arial"/>
              <a:cs typeface="Arial"/>
            </a:endParaRPr>
          </a:p>
          <a:p>
            <a:pPr algn="r" marR="55880">
              <a:lnSpc>
                <a:spcPct val="100000"/>
              </a:lnSpc>
            </a:pPr>
            <a:r>
              <a:rPr dirty="0" baseline="3086" sz="2700" spc="-517" b="1">
                <a:latin typeface="Arial"/>
                <a:cs typeface="Arial"/>
              </a:rPr>
              <a:t>نَ </a:t>
            </a:r>
            <a:r>
              <a:rPr dirty="0" baseline="3086" sz="2700" spc="-607" b="1">
                <a:latin typeface="Arial"/>
                <a:cs typeface="Arial"/>
              </a:rPr>
              <a:t>يمِ </a:t>
            </a:r>
            <a:r>
              <a:rPr dirty="0" baseline="10802" sz="2700" spc="-352" b="1">
                <a:latin typeface="Arial"/>
                <a:cs typeface="Arial"/>
              </a:rPr>
              <a:t>َ</a:t>
            </a:r>
            <a:r>
              <a:rPr dirty="0" baseline="3086" sz="2700" spc="-352" b="1">
                <a:latin typeface="Arial"/>
                <a:cs typeface="Arial"/>
              </a:rPr>
              <a:t>لاع</a:t>
            </a:r>
            <a:r>
              <a:rPr dirty="0" sz="1800" spc="-235" b="1">
                <a:latin typeface="Arial"/>
                <a:cs typeface="Arial"/>
              </a:rPr>
              <a:t>َ </a:t>
            </a:r>
            <a:r>
              <a:rPr dirty="0" baseline="3086" sz="2700" spc="-577" b="1">
                <a:latin typeface="Arial"/>
                <a:cs typeface="Arial"/>
              </a:rPr>
              <a:t>ل</a:t>
            </a:r>
            <a:r>
              <a:rPr dirty="0" baseline="10802" sz="2700" spc="-577" b="1">
                <a:latin typeface="Arial"/>
                <a:cs typeface="Arial"/>
              </a:rPr>
              <a:t>ْ </a:t>
            </a:r>
            <a:r>
              <a:rPr dirty="0" baseline="3086" sz="2700" b="1">
                <a:latin typeface="Arial"/>
                <a:cs typeface="Arial"/>
              </a:rPr>
              <a:t>ٱ </a:t>
            </a:r>
            <a:r>
              <a:rPr dirty="0" baseline="3086" sz="2700" spc="-457" b="1">
                <a:latin typeface="Arial"/>
                <a:cs typeface="Arial"/>
              </a:rPr>
              <a:t>ب</a:t>
            </a:r>
            <a:r>
              <a:rPr dirty="0" sz="1800" spc="-305" b="1">
                <a:latin typeface="Arial"/>
                <a:cs typeface="Arial"/>
              </a:rPr>
              <a:t>ِّ</a:t>
            </a:r>
            <a:r>
              <a:rPr dirty="0" sz="1800" spc="-110" b="1">
                <a:latin typeface="Arial"/>
                <a:cs typeface="Arial"/>
              </a:rPr>
              <a:t> </a:t>
            </a:r>
            <a:r>
              <a:rPr dirty="0" baseline="3086" sz="2700" spc="-419" b="1">
                <a:latin typeface="Arial"/>
                <a:cs typeface="Arial"/>
              </a:rPr>
              <a:t>ر</a:t>
            </a:r>
            <a:r>
              <a:rPr dirty="0" sz="1800" spc="-280" b="1">
                <a:latin typeface="Arial"/>
                <a:cs typeface="Arial"/>
              </a:rPr>
              <a:t>َ </a:t>
            </a:r>
            <a:r>
              <a:rPr dirty="0" baseline="3086" sz="2700" spc="-847" b="1">
                <a:latin typeface="Arial"/>
                <a:cs typeface="Arial"/>
              </a:rPr>
              <a:t>لله</a:t>
            </a:r>
            <a:r>
              <a:rPr dirty="0" baseline="1543" sz="2700" spc="-847" b="1">
                <a:latin typeface="Arial"/>
                <a:cs typeface="Arial"/>
              </a:rPr>
              <a:t>ِ</a:t>
            </a:r>
            <a:r>
              <a:rPr dirty="0" baseline="1543" sz="2700" spc="-97" b="1">
                <a:latin typeface="Arial"/>
                <a:cs typeface="Arial"/>
              </a:rPr>
              <a:t> </a:t>
            </a:r>
            <a:r>
              <a:rPr dirty="0" baseline="18518" sz="2700" b="1">
                <a:latin typeface="Arial"/>
                <a:cs typeface="Arial"/>
              </a:rPr>
              <a:t>َّ </a:t>
            </a:r>
            <a:r>
              <a:rPr dirty="0" baseline="3086" sz="2700" spc="-367" b="1">
                <a:latin typeface="Arial"/>
                <a:cs typeface="Arial"/>
              </a:rPr>
              <a:t>دُ </a:t>
            </a:r>
            <a:r>
              <a:rPr dirty="0" baseline="3086" sz="2700" spc="-359" b="1">
                <a:latin typeface="Arial"/>
                <a:cs typeface="Arial"/>
              </a:rPr>
              <a:t>م</a:t>
            </a:r>
            <a:r>
              <a:rPr dirty="0" sz="1800" spc="-240" b="1">
                <a:latin typeface="Arial"/>
                <a:cs typeface="Arial"/>
              </a:rPr>
              <a:t>ْ </a:t>
            </a:r>
            <a:r>
              <a:rPr dirty="0" baseline="3086" sz="2700" spc="-615" b="1">
                <a:latin typeface="Arial"/>
                <a:cs typeface="Arial"/>
              </a:rPr>
              <a:t>ح</a:t>
            </a:r>
            <a:r>
              <a:rPr dirty="0" sz="1800" spc="-409" b="1">
                <a:latin typeface="Arial"/>
                <a:cs typeface="Arial"/>
              </a:rPr>
              <a:t>َ </a:t>
            </a:r>
            <a:r>
              <a:rPr dirty="0" baseline="3086" sz="2700" spc="-577" b="1">
                <a:latin typeface="Arial"/>
                <a:cs typeface="Arial"/>
              </a:rPr>
              <a:t>ل</a:t>
            </a:r>
            <a:r>
              <a:rPr dirty="0" baseline="10802" sz="2700" spc="-577" b="1">
                <a:latin typeface="Arial"/>
                <a:cs typeface="Arial"/>
              </a:rPr>
              <a:t>ْ </a:t>
            </a:r>
            <a:r>
              <a:rPr dirty="0" baseline="3086" sz="2700" b="1">
                <a:latin typeface="Arial"/>
                <a:cs typeface="Arial"/>
              </a:rPr>
              <a:t>ٱ</a:t>
            </a:r>
            <a:endParaRPr baseline="3086" sz="2700">
              <a:latin typeface="Arial"/>
              <a:cs typeface="Arial"/>
            </a:endParaRPr>
          </a:p>
          <a:p>
            <a:pPr algn="just" marL="63500">
              <a:lnSpc>
                <a:spcPct val="100000"/>
              </a:lnSpc>
              <a:spcBef>
                <a:spcPts val="1055"/>
              </a:spcBef>
            </a:pPr>
            <a:r>
              <a:rPr dirty="0" sz="1200" spc="-5" i="1">
                <a:latin typeface="Arial"/>
                <a:cs typeface="Arial"/>
              </a:rPr>
              <a:t>Praise be to Allah, Lord </a:t>
            </a:r>
            <a:r>
              <a:rPr dirty="0" sz="1200" i="1">
                <a:latin typeface="Arial"/>
                <a:cs typeface="Arial"/>
              </a:rPr>
              <a:t>of the</a:t>
            </a:r>
            <a:r>
              <a:rPr dirty="0" sz="1200" spc="-25" i="1">
                <a:latin typeface="Arial"/>
                <a:cs typeface="Arial"/>
              </a:rPr>
              <a:t> </a:t>
            </a:r>
            <a:r>
              <a:rPr dirty="0" sz="1200" spc="-5" i="1">
                <a:latin typeface="Arial"/>
                <a:cs typeface="Arial"/>
              </a:rPr>
              <a:t>Worlds</a:t>
            </a:r>
            <a:endParaRPr sz="1200">
              <a:latin typeface="Arial"/>
              <a:cs typeface="Arial"/>
            </a:endParaRPr>
          </a:p>
          <a:p>
            <a:pPr>
              <a:lnSpc>
                <a:spcPct val="100000"/>
              </a:lnSpc>
              <a:spcBef>
                <a:spcPts val="10"/>
              </a:spcBef>
            </a:pPr>
            <a:endParaRPr sz="1200">
              <a:latin typeface="Arial"/>
              <a:cs typeface="Arial"/>
            </a:endParaRPr>
          </a:p>
          <a:p>
            <a:pPr algn="just" marL="63500" marR="56515">
              <a:lnSpc>
                <a:spcPct val="95900"/>
              </a:lnSpc>
            </a:pPr>
            <a:r>
              <a:rPr dirty="0" sz="1200" spc="-5">
                <a:latin typeface="Arial"/>
                <a:cs typeface="Arial"/>
              </a:rPr>
              <a:t>And on his authority </a:t>
            </a:r>
            <a:r>
              <a:rPr dirty="0" sz="1200">
                <a:latin typeface="Arial"/>
                <a:cs typeface="Arial"/>
              </a:rPr>
              <a:t>it </a:t>
            </a:r>
            <a:r>
              <a:rPr dirty="0" sz="1200" spc="-5">
                <a:latin typeface="Arial"/>
                <a:cs typeface="Arial"/>
              </a:rPr>
              <a:t>is related that Ibn 'Abbas said, regarding the saying </a:t>
            </a:r>
            <a:r>
              <a:rPr dirty="0" sz="1200">
                <a:latin typeface="Arial"/>
                <a:cs typeface="Arial"/>
              </a:rPr>
              <a:t>of </a:t>
            </a:r>
            <a:r>
              <a:rPr dirty="0" sz="1200" spc="-5">
                <a:latin typeface="Arial"/>
                <a:cs typeface="Arial"/>
              </a:rPr>
              <a:t>Allah, Exalted </a:t>
            </a:r>
            <a:r>
              <a:rPr dirty="0" sz="1200" spc="-10">
                <a:latin typeface="Arial"/>
                <a:cs typeface="Arial"/>
              </a:rPr>
              <a:t>is  </a:t>
            </a:r>
            <a:r>
              <a:rPr dirty="0" sz="1200">
                <a:latin typeface="Arial"/>
                <a:cs typeface="Arial"/>
              </a:rPr>
              <a:t>He, </a:t>
            </a:r>
            <a:r>
              <a:rPr dirty="0" sz="1200" spc="-5">
                <a:latin typeface="Arial"/>
                <a:cs typeface="Arial"/>
              </a:rPr>
              <a:t>(Praise be </a:t>
            </a:r>
            <a:r>
              <a:rPr dirty="0" sz="1200">
                <a:latin typeface="Arial"/>
                <a:cs typeface="Arial"/>
              </a:rPr>
              <a:t>to </a:t>
            </a:r>
            <a:r>
              <a:rPr dirty="0" sz="1200" spc="-5">
                <a:latin typeface="Arial"/>
                <a:cs typeface="Arial"/>
              </a:rPr>
              <a:t>Allah): 'He says: laudation is Allah's in </a:t>
            </a:r>
            <a:r>
              <a:rPr dirty="0" sz="1200">
                <a:latin typeface="Arial"/>
                <a:cs typeface="Arial"/>
              </a:rPr>
              <a:t>that </a:t>
            </a:r>
            <a:r>
              <a:rPr dirty="0" sz="1200" spc="-5">
                <a:latin typeface="Arial"/>
                <a:cs typeface="Arial"/>
              </a:rPr>
              <a:t>He is kind </a:t>
            </a:r>
            <a:r>
              <a:rPr dirty="0" sz="1200" spc="5">
                <a:latin typeface="Arial"/>
                <a:cs typeface="Arial"/>
              </a:rPr>
              <a:t>towards </a:t>
            </a:r>
            <a:r>
              <a:rPr dirty="0" sz="1200" spc="-5">
                <a:latin typeface="Arial"/>
                <a:cs typeface="Arial"/>
              </a:rPr>
              <a:t>His created  beings and, hence, they praise Him. </a:t>
            </a:r>
            <a:r>
              <a:rPr dirty="0" sz="1200">
                <a:latin typeface="Arial"/>
                <a:cs typeface="Arial"/>
              </a:rPr>
              <a:t>It </a:t>
            </a:r>
            <a:r>
              <a:rPr dirty="0" sz="1200" spc="-5">
                <a:latin typeface="Arial"/>
                <a:cs typeface="Arial"/>
              </a:rPr>
              <a:t>is </a:t>
            </a:r>
            <a:r>
              <a:rPr dirty="0" sz="1200">
                <a:latin typeface="Arial"/>
                <a:cs typeface="Arial"/>
              </a:rPr>
              <a:t>also </a:t>
            </a:r>
            <a:r>
              <a:rPr dirty="0" sz="1200" spc="-5">
                <a:latin typeface="Arial"/>
                <a:cs typeface="Arial"/>
              </a:rPr>
              <a:t>said </a:t>
            </a:r>
            <a:r>
              <a:rPr dirty="0" sz="1200">
                <a:latin typeface="Arial"/>
                <a:cs typeface="Arial"/>
              </a:rPr>
              <a:t>that </a:t>
            </a:r>
            <a:r>
              <a:rPr dirty="0" sz="1200" spc="-5">
                <a:latin typeface="Arial"/>
                <a:cs typeface="Arial"/>
              </a:rPr>
              <a:t>laudation is Allah's because of His  excessive blessings upon His servants whom He has guided to </a:t>
            </a:r>
            <a:r>
              <a:rPr dirty="0" sz="1200" spc="-10">
                <a:latin typeface="Arial"/>
                <a:cs typeface="Arial"/>
              </a:rPr>
              <a:t>believe </a:t>
            </a:r>
            <a:r>
              <a:rPr dirty="0" sz="1200" spc="-5">
                <a:latin typeface="Arial"/>
                <a:cs typeface="Arial"/>
              </a:rPr>
              <a:t>in Him. </a:t>
            </a:r>
            <a:r>
              <a:rPr dirty="0" sz="1200">
                <a:latin typeface="Arial"/>
                <a:cs typeface="Arial"/>
              </a:rPr>
              <a:t>It </a:t>
            </a:r>
            <a:r>
              <a:rPr dirty="0" sz="1200" spc="-5">
                <a:latin typeface="Arial"/>
                <a:cs typeface="Arial"/>
              </a:rPr>
              <a:t>is also said:  laudation, absolute unity and godhood all belong </a:t>
            </a:r>
            <a:r>
              <a:rPr dirty="0" sz="1200">
                <a:latin typeface="Arial"/>
                <a:cs typeface="Arial"/>
              </a:rPr>
              <a:t>to </a:t>
            </a:r>
            <a:r>
              <a:rPr dirty="0" sz="1200" spc="5">
                <a:latin typeface="Arial"/>
                <a:cs typeface="Arial"/>
              </a:rPr>
              <a:t>Allah Who </a:t>
            </a:r>
            <a:r>
              <a:rPr dirty="0" sz="1200" spc="-5">
                <a:latin typeface="Arial"/>
                <a:cs typeface="Arial"/>
              </a:rPr>
              <a:t>has neither progeny, partner,  </a:t>
            </a:r>
            <a:r>
              <a:rPr dirty="0" sz="1200">
                <a:latin typeface="Arial"/>
                <a:cs typeface="Arial"/>
              </a:rPr>
              <a:t>helper </a:t>
            </a:r>
            <a:r>
              <a:rPr dirty="0" sz="1200" spc="-5">
                <a:latin typeface="Arial"/>
                <a:cs typeface="Arial"/>
              </a:rPr>
              <a:t>nor an assistant. (Lord of the worlds): Lord of any </a:t>
            </a:r>
            <a:r>
              <a:rPr dirty="0" sz="1200">
                <a:latin typeface="Arial"/>
                <a:cs typeface="Arial"/>
              </a:rPr>
              <a:t>that </a:t>
            </a:r>
            <a:r>
              <a:rPr dirty="0" sz="1200" spc="-5">
                <a:latin typeface="Arial"/>
                <a:cs typeface="Arial"/>
              </a:rPr>
              <a:t>has a spirit and walks about </a:t>
            </a:r>
            <a:r>
              <a:rPr dirty="0" sz="1200" spc="-10">
                <a:latin typeface="Arial"/>
                <a:cs typeface="Arial"/>
              </a:rPr>
              <a:t>on  </a:t>
            </a:r>
            <a:r>
              <a:rPr dirty="0" sz="1200">
                <a:latin typeface="Arial"/>
                <a:cs typeface="Arial"/>
              </a:rPr>
              <a:t>the face </a:t>
            </a:r>
            <a:r>
              <a:rPr dirty="0" sz="1200" spc="-5">
                <a:latin typeface="Arial"/>
                <a:cs typeface="Arial"/>
              </a:rPr>
              <a:t>of the earth and also of the dwellers of heaven. </a:t>
            </a:r>
            <a:r>
              <a:rPr dirty="0" sz="1200">
                <a:latin typeface="Arial"/>
                <a:cs typeface="Arial"/>
              </a:rPr>
              <a:t>It </a:t>
            </a:r>
            <a:r>
              <a:rPr dirty="0" sz="1200" spc="-5">
                <a:latin typeface="Arial"/>
                <a:cs typeface="Arial"/>
              </a:rPr>
              <a:t>is also said that this means: </a:t>
            </a:r>
            <a:r>
              <a:rPr dirty="0" sz="1200" spc="-10">
                <a:latin typeface="Arial"/>
                <a:cs typeface="Arial"/>
              </a:rPr>
              <a:t>the  </a:t>
            </a:r>
            <a:r>
              <a:rPr dirty="0" sz="1200">
                <a:latin typeface="Arial"/>
                <a:cs typeface="Arial"/>
              </a:rPr>
              <a:t>Master </a:t>
            </a:r>
            <a:r>
              <a:rPr dirty="0" sz="1200" spc="-5">
                <a:latin typeface="Arial"/>
                <a:cs typeface="Arial"/>
              </a:rPr>
              <a:t>of the jinn </a:t>
            </a:r>
            <a:r>
              <a:rPr dirty="0" sz="1200" spc="-10">
                <a:latin typeface="Arial"/>
                <a:cs typeface="Arial"/>
              </a:rPr>
              <a:t>and </a:t>
            </a:r>
            <a:r>
              <a:rPr dirty="0" sz="1200">
                <a:latin typeface="Arial"/>
                <a:cs typeface="Arial"/>
              </a:rPr>
              <a:t>human </a:t>
            </a:r>
            <a:r>
              <a:rPr dirty="0" sz="1200" spc="-5">
                <a:latin typeface="Arial"/>
                <a:cs typeface="Arial"/>
              </a:rPr>
              <a:t>beings. </a:t>
            </a:r>
            <a:r>
              <a:rPr dirty="0" sz="1200">
                <a:latin typeface="Arial"/>
                <a:cs typeface="Arial"/>
              </a:rPr>
              <a:t>It </a:t>
            </a:r>
            <a:r>
              <a:rPr dirty="0" sz="1200" spc="-5">
                <a:latin typeface="Arial"/>
                <a:cs typeface="Arial"/>
              </a:rPr>
              <a:t>is also said that (Lord of the worlds) </a:t>
            </a:r>
            <a:r>
              <a:rPr dirty="0" sz="1200">
                <a:latin typeface="Arial"/>
                <a:cs typeface="Arial"/>
              </a:rPr>
              <a:t>means the  </a:t>
            </a:r>
            <a:r>
              <a:rPr dirty="0" sz="1200" spc="-5">
                <a:latin typeface="Arial"/>
                <a:cs typeface="Arial"/>
              </a:rPr>
              <a:t>Creator of all created beings, </a:t>
            </a:r>
            <a:r>
              <a:rPr dirty="0" sz="1200">
                <a:latin typeface="Arial"/>
                <a:cs typeface="Arial"/>
              </a:rPr>
              <a:t>their </a:t>
            </a:r>
            <a:r>
              <a:rPr dirty="0" sz="1200" spc="-5">
                <a:latin typeface="Arial"/>
                <a:cs typeface="Arial"/>
              </a:rPr>
              <a:t>Provider and the One </a:t>
            </a:r>
            <a:r>
              <a:rPr dirty="0" sz="1200" spc="5">
                <a:latin typeface="Arial"/>
                <a:cs typeface="Arial"/>
              </a:rPr>
              <a:t>Who </a:t>
            </a:r>
            <a:r>
              <a:rPr dirty="0" sz="1200" spc="-10">
                <a:latin typeface="Arial"/>
                <a:cs typeface="Arial"/>
              </a:rPr>
              <a:t>changes </a:t>
            </a:r>
            <a:r>
              <a:rPr dirty="0" sz="1200" spc="-5">
                <a:latin typeface="Arial"/>
                <a:cs typeface="Arial"/>
              </a:rPr>
              <a:t>them from one state  into another.</a:t>
            </a:r>
            <a:endParaRPr sz="1200">
              <a:latin typeface="Arial"/>
              <a:cs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680836" y="793495"/>
            <a:ext cx="1191260" cy="299720"/>
          </a:xfrm>
          <a:prstGeom prst="rect">
            <a:avLst/>
          </a:prstGeom>
        </p:spPr>
        <p:txBody>
          <a:bodyPr wrap="square" lIns="0" tIns="12700" rIns="0" bIns="0" rtlCol="0" vert="horz">
            <a:spAutoFit/>
          </a:bodyPr>
          <a:lstStyle/>
          <a:p>
            <a:pPr marL="38100">
              <a:lnSpc>
                <a:spcPct val="100000"/>
              </a:lnSpc>
              <a:spcBef>
                <a:spcPts val="100"/>
              </a:spcBef>
            </a:pPr>
            <a:r>
              <a:rPr dirty="0" sz="1800" spc="-245" b="1">
                <a:latin typeface="Arial"/>
                <a:cs typeface="Arial"/>
              </a:rPr>
              <a:t>م</a:t>
            </a:r>
            <a:r>
              <a:rPr dirty="0" baseline="-15432" sz="2700" spc="-367" b="1">
                <a:latin typeface="Arial"/>
                <a:cs typeface="Arial"/>
              </a:rPr>
              <a:t>ِ </a:t>
            </a:r>
            <a:r>
              <a:rPr dirty="0" sz="1800" spc="-555" b="1">
                <a:latin typeface="Arial"/>
                <a:cs typeface="Arial"/>
              </a:rPr>
              <a:t>يحِ</a:t>
            </a:r>
            <a:r>
              <a:rPr dirty="0" sz="1800" spc="380" b="1">
                <a:latin typeface="Arial"/>
                <a:cs typeface="Arial"/>
              </a:rPr>
              <a:t> </a:t>
            </a:r>
            <a:r>
              <a:rPr dirty="0" sz="1800" spc="-185" b="1">
                <a:latin typeface="Arial"/>
                <a:cs typeface="Arial"/>
              </a:rPr>
              <a:t>ر</a:t>
            </a:r>
            <a:r>
              <a:rPr dirty="0" baseline="-3086" sz="2700" spc="-277" b="1">
                <a:latin typeface="Arial"/>
                <a:cs typeface="Arial"/>
              </a:rPr>
              <a:t>َّ </a:t>
            </a:r>
            <a:r>
              <a:rPr dirty="0" sz="1800" spc="-200" b="1">
                <a:latin typeface="Arial"/>
                <a:cs typeface="Arial"/>
              </a:rPr>
              <a:t>لٱ </a:t>
            </a:r>
            <a:r>
              <a:rPr dirty="0" sz="1800" spc="-425" b="1">
                <a:latin typeface="Arial"/>
                <a:cs typeface="Arial"/>
              </a:rPr>
              <a:t>ن</a:t>
            </a:r>
            <a:r>
              <a:rPr dirty="0" baseline="-12345" sz="2700" spc="-637" b="1">
                <a:latin typeface="Arial"/>
                <a:cs typeface="Arial"/>
              </a:rPr>
              <a:t>ِ </a:t>
            </a:r>
            <a:r>
              <a:rPr dirty="0" sz="1800" spc="-90" b="1">
                <a:latin typeface="Arial"/>
                <a:cs typeface="Arial"/>
              </a:rPr>
              <a:t>ـ</a:t>
            </a:r>
            <a:r>
              <a:rPr dirty="0" baseline="-4629" sz="2700" spc="-135" b="1">
                <a:latin typeface="Arial"/>
                <a:cs typeface="Arial"/>
              </a:rPr>
              <a:t>ٰ </a:t>
            </a:r>
            <a:r>
              <a:rPr dirty="0" sz="1800" spc="-225" b="1">
                <a:latin typeface="Arial"/>
                <a:cs typeface="Arial"/>
              </a:rPr>
              <a:t>مح</a:t>
            </a:r>
            <a:r>
              <a:rPr dirty="0" baseline="-3086" sz="2700" spc="-337" b="1">
                <a:latin typeface="Arial"/>
                <a:cs typeface="Arial"/>
              </a:rPr>
              <a:t>ْ </a:t>
            </a:r>
            <a:r>
              <a:rPr dirty="0" sz="1800" spc="-185" b="1">
                <a:latin typeface="Arial"/>
                <a:cs typeface="Arial"/>
              </a:rPr>
              <a:t>ر</a:t>
            </a:r>
            <a:r>
              <a:rPr dirty="0" baseline="-3086" sz="2700" spc="-277" b="1">
                <a:latin typeface="Arial"/>
                <a:cs typeface="Arial"/>
              </a:rPr>
              <a:t>َّ</a:t>
            </a:r>
            <a:r>
              <a:rPr dirty="0" baseline="-3086" sz="2700" spc="-67" b="1">
                <a:latin typeface="Arial"/>
                <a:cs typeface="Arial"/>
              </a:rPr>
              <a:t> </a:t>
            </a:r>
            <a:r>
              <a:rPr dirty="0" sz="1800" spc="-200" b="1">
                <a:latin typeface="Arial"/>
                <a:cs typeface="Arial"/>
              </a:rPr>
              <a:t>لٱ</a:t>
            </a:r>
            <a:endParaRPr sz="1800">
              <a:latin typeface="Arial"/>
              <a:cs typeface="Arial"/>
            </a:endParaRPr>
          </a:p>
        </p:txBody>
      </p:sp>
      <p:sp>
        <p:nvSpPr>
          <p:cNvPr id="11" name="object 11"/>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12" name="object 12"/>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52</a:t>
            </a:r>
          </a:p>
        </p:txBody>
      </p:sp>
      <p:sp>
        <p:nvSpPr>
          <p:cNvPr id="6" name="object 6"/>
          <p:cNvSpPr txBox="1"/>
          <p:nvPr/>
        </p:nvSpPr>
        <p:spPr>
          <a:xfrm>
            <a:off x="534416" y="1212850"/>
            <a:ext cx="6304280" cy="911225"/>
          </a:xfrm>
          <a:prstGeom prst="rect">
            <a:avLst/>
          </a:prstGeom>
        </p:spPr>
        <p:txBody>
          <a:bodyPr wrap="square" lIns="0" tIns="12700" rIns="0" bIns="0" rtlCol="0" vert="horz">
            <a:spAutoFit/>
          </a:bodyPr>
          <a:lstStyle/>
          <a:p>
            <a:pPr algn="just" marL="12700">
              <a:lnSpc>
                <a:spcPct val="100000"/>
              </a:lnSpc>
              <a:spcBef>
                <a:spcPts val="100"/>
              </a:spcBef>
            </a:pPr>
            <a:r>
              <a:rPr dirty="0" sz="1200" spc="-5" i="1">
                <a:latin typeface="Arial"/>
                <a:cs typeface="Arial"/>
              </a:rPr>
              <a:t>The Beneficent, the</a:t>
            </a:r>
            <a:r>
              <a:rPr dirty="0" sz="1200" spc="10" i="1">
                <a:latin typeface="Arial"/>
                <a:cs typeface="Arial"/>
              </a:rPr>
              <a:t> </a:t>
            </a:r>
            <a:r>
              <a:rPr dirty="0" sz="1200" spc="-5" i="1">
                <a:latin typeface="Arial"/>
                <a:cs typeface="Arial"/>
              </a:rPr>
              <a:t>Merciful</a:t>
            </a:r>
            <a:endParaRPr sz="1200">
              <a:latin typeface="Arial"/>
              <a:cs typeface="Arial"/>
            </a:endParaRPr>
          </a:p>
          <a:p>
            <a:pPr>
              <a:lnSpc>
                <a:spcPct val="100000"/>
              </a:lnSpc>
              <a:spcBef>
                <a:spcPts val="45"/>
              </a:spcBef>
            </a:pPr>
            <a:endParaRPr sz="1200">
              <a:latin typeface="Arial"/>
              <a:cs typeface="Arial"/>
            </a:endParaRPr>
          </a:p>
          <a:p>
            <a:pPr algn="just" marL="12700" marR="5080">
              <a:lnSpc>
                <a:spcPts val="1380"/>
              </a:lnSpc>
            </a:pPr>
            <a:r>
              <a:rPr dirty="0" sz="1200">
                <a:latin typeface="Arial"/>
                <a:cs typeface="Arial"/>
              </a:rPr>
              <a:t>(The </a:t>
            </a:r>
            <a:r>
              <a:rPr dirty="0" sz="1200" spc="-5">
                <a:latin typeface="Arial"/>
                <a:cs typeface="Arial"/>
              </a:rPr>
              <a:t>Beneficent) the Gentle. (The Merciful) </a:t>
            </a:r>
            <a:r>
              <a:rPr dirty="0" sz="1200">
                <a:latin typeface="Arial"/>
                <a:cs typeface="Arial"/>
              </a:rPr>
              <a:t>the </a:t>
            </a:r>
            <a:r>
              <a:rPr dirty="0" sz="1200" spc="-5">
                <a:latin typeface="Arial"/>
                <a:cs typeface="Arial"/>
              </a:rPr>
              <a:t>Gentle. </a:t>
            </a:r>
            <a:r>
              <a:rPr dirty="0" sz="1200">
                <a:latin typeface="Arial"/>
                <a:cs typeface="Arial"/>
              </a:rPr>
              <a:t>The Compassionate, </a:t>
            </a:r>
            <a:r>
              <a:rPr dirty="0" sz="1200" spc="-5">
                <a:latin typeface="Arial"/>
                <a:cs typeface="Arial"/>
              </a:rPr>
              <a:t>the Merciful:  </a:t>
            </a:r>
            <a:r>
              <a:rPr dirty="0" sz="1200">
                <a:latin typeface="Arial"/>
                <a:cs typeface="Arial"/>
              </a:rPr>
              <a:t>that </a:t>
            </a:r>
            <a:r>
              <a:rPr dirty="0" sz="1200" spc="-5">
                <a:latin typeface="Arial"/>
                <a:cs typeface="Arial"/>
              </a:rPr>
              <a:t>is </a:t>
            </a:r>
            <a:r>
              <a:rPr dirty="0" sz="1200">
                <a:latin typeface="Arial"/>
                <a:cs typeface="Arial"/>
              </a:rPr>
              <a:t>to </a:t>
            </a:r>
            <a:r>
              <a:rPr dirty="0" sz="1200" spc="-5">
                <a:latin typeface="Arial"/>
                <a:cs typeface="Arial"/>
              </a:rPr>
              <a:t>say, the One who possesses </a:t>
            </a:r>
            <a:r>
              <a:rPr dirty="0" sz="1200" spc="-60">
                <a:latin typeface="Arial"/>
                <a:cs typeface="Arial"/>
              </a:rPr>
              <a:t>‗mercy‘, </a:t>
            </a:r>
            <a:r>
              <a:rPr dirty="0" sz="1200" spc="-5">
                <a:latin typeface="Arial"/>
                <a:cs typeface="Arial"/>
              </a:rPr>
              <a:t>which means to want what is good </a:t>
            </a:r>
            <a:r>
              <a:rPr dirty="0" sz="1200">
                <a:latin typeface="Arial"/>
                <a:cs typeface="Arial"/>
              </a:rPr>
              <a:t>for </a:t>
            </a:r>
            <a:r>
              <a:rPr dirty="0" sz="1200" spc="-5">
                <a:latin typeface="Arial"/>
                <a:cs typeface="Arial"/>
              </a:rPr>
              <a:t>those  </a:t>
            </a:r>
            <a:r>
              <a:rPr dirty="0" sz="1200" spc="-10">
                <a:latin typeface="Arial"/>
                <a:cs typeface="Arial"/>
              </a:rPr>
              <a:t>who </a:t>
            </a:r>
            <a:r>
              <a:rPr dirty="0" sz="1200" spc="-5">
                <a:latin typeface="Arial"/>
                <a:cs typeface="Arial"/>
              </a:rPr>
              <a:t>deserve</a:t>
            </a:r>
            <a:r>
              <a:rPr dirty="0" sz="1200" spc="5">
                <a:latin typeface="Arial"/>
                <a:cs typeface="Arial"/>
              </a:rPr>
              <a:t> </a:t>
            </a:r>
            <a:r>
              <a:rPr dirty="0" sz="1200">
                <a:latin typeface="Arial"/>
                <a:cs typeface="Arial"/>
              </a:rPr>
              <a:t>it.</a:t>
            </a:r>
            <a:endParaRPr sz="1200">
              <a:latin typeface="Arial"/>
              <a:cs typeface="Arial"/>
            </a:endParaRPr>
          </a:p>
        </p:txBody>
      </p:sp>
      <p:sp>
        <p:nvSpPr>
          <p:cNvPr id="7" name="object 7"/>
          <p:cNvSpPr txBox="1"/>
          <p:nvPr/>
        </p:nvSpPr>
        <p:spPr>
          <a:xfrm>
            <a:off x="5737605" y="2261361"/>
            <a:ext cx="1123315" cy="299720"/>
          </a:xfrm>
          <a:prstGeom prst="rect">
            <a:avLst/>
          </a:prstGeom>
        </p:spPr>
        <p:txBody>
          <a:bodyPr wrap="square" lIns="0" tIns="12700" rIns="0" bIns="0" rtlCol="0" vert="horz">
            <a:spAutoFit/>
          </a:bodyPr>
          <a:lstStyle/>
          <a:p>
            <a:pPr marL="38100">
              <a:lnSpc>
                <a:spcPct val="100000"/>
              </a:lnSpc>
              <a:spcBef>
                <a:spcPts val="100"/>
              </a:spcBef>
            </a:pPr>
            <a:r>
              <a:rPr dirty="0" sz="1800" spc="-425" b="1">
                <a:latin typeface="Arial"/>
                <a:cs typeface="Arial"/>
              </a:rPr>
              <a:t>ن</a:t>
            </a:r>
            <a:r>
              <a:rPr dirty="0" baseline="-10802" sz="2700" spc="-637" b="1">
                <a:latin typeface="Arial"/>
                <a:cs typeface="Arial"/>
              </a:rPr>
              <a:t>ِ </a:t>
            </a:r>
            <a:r>
              <a:rPr dirty="0" sz="1800" spc="-280" b="1">
                <a:latin typeface="Arial"/>
                <a:cs typeface="Arial"/>
              </a:rPr>
              <a:t>يدِّ </a:t>
            </a:r>
            <a:r>
              <a:rPr dirty="0" sz="1800" spc="-200" b="1">
                <a:latin typeface="Arial"/>
                <a:cs typeface="Arial"/>
              </a:rPr>
              <a:t>لٱ </a:t>
            </a:r>
            <a:r>
              <a:rPr dirty="0" sz="1800" spc="-235" b="1">
                <a:latin typeface="Arial"/>
                <a:cs typeface="Arial"/>
              </a:rPr>
              <a:t>م</a:t>
            </a:r>
            <a:r>
              <a:rPr dirty="0" baseline="-15432" sz="2700" spc="-352" b="1">
                <a:latin typeface="Arial"/>
                <a:cs typeface="Arial"/>
              </a:rPr>
              <a:t>ِ </a:t>
            </a:r>
            <a:r>
              <a:rPr dirty="0" sz="1800" spc="-200" b="1">
                <a:latin typeface="Arial"/>
                <a:cs typeface="Arial"/>
              </a:rPr>
              <a:t>و</a:t>
            </a:r>
            <a:r>
              <a:rPr dirty="0" baseline="-3086" sz="2700" spc="-300" b="1">
                <a:latin typeface="Arial"/>
                <a:cs typeface="Arial"/>
              </a:rPr>
              <a:t>ْ </a:t>
            </a:r>
            <a:r>
              <a:rPr dirty="0" sz="1800" spc="-535" b="1">
                <a:latin typeface="Arial"/>
                <a:cs typeface="Arial"/>
              </a:rPr>
              <a:t>ي</a:t>
            </a:r>
            <a:r>
              <a:rPr dirty="0" baseline="-3086" sz="2700" spc="-802" b="1">
                <a:latin typeface="Arial"/>
                <a:cs typeface="Arial"/>
              </a:rPr>
              <a:t>َ</a:t>
            </a:r>
            <a:r>
              <a:rPr dirty="0" baseline="-3086" sz="2700" spc="577" b="1">
                <a:latin typeface="Arial"/>
                <a:cs typeface="Arial"/>
              </a:rPr>
              <a:t> </a:t>
            </a:r>
            <a:r>
              <a:rPr dirty="0" sz="1800" spc="-375" b="1">
                <a:latin typeface="Arial"/>
                <a:cs typeface="Arial"/>
              </a:rPr>
              <a:t>كِ </a:t>
            </a:r>
            <a:r>
              <a:rPr dirty="0" sz="1800" spc="-145" b="1">
                <a:latin typeface="Arial"/>
                <a:cs typeface="Arial"/>
              </a:rPr>
              <a:t>ِلـ</a:t>
            </a:r>
            <a:r>
              <a:rPr dirty="0" baseline="-4629" sz="2700" spc="-217" b="1">
                <a:latin typeface="Arial"/>
                <a:cs typeface="Arial"/>
              </a:rPr>
              <a:t>ٰ</a:t>
            </a:r>
            <a:r>
              <a:rPr dirty="0" baseline="-4629" sz="2700" spc="-60" b="1">
                <a:latin typeface="Arial"/>
                <a:cs typeface="Arial"/>
              </a:rPr>
              <a:t> </a:t>
            </a:r>
            <a:r>
              <a:rPr dirty="0" sz="1800" spc="-525" b="1">
                <a:latin typeface="Arial"/>
                <a:cs typeface="Arial"/>
              </a:rPr>
              <a:t>م</a:t>
            </a:r>
            <a:endParaRPr sz="1800">
              <a:latin typeface="Arial"/>
              <a:cs typeface="Arial"/>
            </a:endParaRPr>
          </a:p>
        </p:txBody>
      </p:sp>
      <p:sp>
        <p:nvSpPr>
          <p:cNvPr id="8" name="object 8"/>
          <p:cNvSpPr txBox="1"/>
          <p:nvPr/>
        </p:nvSpPr>
        <p:spPr>
          <a:xfrm>
            <a:off x="534416" y="2680461"/>
            <a:ext cx="6303645" cy="911225"/>
          </a:xfrm>
          <a:prstGeom prst="rect">
            <a:avLst/>
          </a:prstGeom>
        </p:spPr>
        <p:txBody>
          <a:bodyPr wrap="square" lIns="0" tIns="12700" rIns="0" bIns="0" rtlCol="0" vert="horz">
            <a:spAutoFit/>
          </a:bodyPr>
          <a:lstStyle/>
          <a:p>
            <a:pPr algn="just" marL="12700">
              <a:lnSpc>
                <a:spcPct val="100000"/>
              </a:lnSpc>
              <a:spcBef>
                <a:spcPts val="100"/>
              </a:spcBef>
            </a:pPr>
            <a:r>
              <a:rPr dirty="0" sz="1200" spc="-5" i="1">
                <a:latin typeface="Arial"/>
                <a:cs typeface="Arial"/>
              </a:rPr>
              <a:t>Owner of </a:t>
            </a:r>
            <a:r>
              <a:rPr dirty="0" sz="1200" i="1">
                <a:latin typeface="Arial"/>
                <a:cs typeface="Arial"/>
              </a:rPr>
              <a:t>the </a:t>
            </a:r>
            <a:r>
              <a:rPr dirty="0" sz="1200" spc="-5" i="1">
                <a:latin typeface="Arial"/>
                <a:cs typeface="Arial"/>
              </a:rPr>
              <a:t>Day of Judgment</a:t>
            </a:r>
            <a:endParaRPr sz="1200">
              <a:latin typeface="Arial"/>
              <a:cs typeface="Arial"/>
            </a:endParaRPr>
          </a:p>
          <a:p>
            <a:pPr>
              <a:lnSpc>
                <a:spcPct val="100000"/>
              </a:lnSpc>
              <a:spcBef>
                <a:spcPts val="10"/>
              </a:spcBef>
            </a:pPr>
            <a:endParaRPr sz="1200">
              <a:latin typeface="Arial"/>
              <a:cs typeface="Arial"/>
            </a:endParaRPr>
          </a:p>
          <a:p>
            <a:pPr algn="just" marL="12700" marR="5080">
              <a:lnSpc>
                <a:spcPct val="95900"/>
              </a:lnSpc>
            </a:pPr>
            <a:r>
              <a:rPr dirty="0" sz="1200" spc="-5">
                <a:latin typeface="Arial"/>
                <a:cs typeface="Arial"/>
              </a:rPr>
              <a:t>(Owner </a:t>
            </a:r>
            <a:r>
              <a:rPr dirty="0" sz="1200">
                <a:latin typeface="Arial"/>
                <a:cs typeface="Arial"/>
              </a:rPr>
              <a:t>of the </a:t>
            </a:r>
            <a:r>
              <a:rPr dirty="0" sz="1200" spc="-5">
                <a:latin typeface="Arial"/>
                <a:cs typeface="Arial"/>
              </a:rPr>
              <a:t>Day </a:t>
            </a:r>
            <a:r>
              <a:rPr dirty="0" sz="1200">
                <a:latin typeface="Arial"/>
                <a:cs typeface="Arial"/>
              </a:rPr>
              <a:t>of </a:t>
            </a:r>
            <a:r>
              <a:rPr dirty="0" sz="1200" spc="-5">
                <a:latin typeface="Arial"/>
                <a:cs typeface="Arial"/>
              </a:rPr>
              <a:t>Judgement) </a:t>
            </a:r>
            <a:r>
              <a:rPr dirty="0" sz="1200">
                <a:latin typeface="Arial"/>
                <a:cs typeface="Arial"/>
              </a:rPr>
              <a:t>the </a:t>
            </a:r>
            <a:r>
              <a:rPr dirty="0" sz="1200" spc="-5">
                <a:latin typeface="Arial"/>
                <a:cs typeface="Arial"/>
              </a:rPr>
              <a:t>Arbitrator on </a:t>
            </a:r>
            <a:r>
              <a:rPr dirty="0" sz="1200">
                <a:latin typeface="Arial"/>
                <a:cs typeface="Arial"/>
              </a:rPr>
              <a:t>the </a:t>
            </a:r>
            <a:r>
              <a:rPr dirty="0" sz="1200" spc="-5">
                <a:latin typeface="Arial"/>
                <a:cs typeface="Arial"/>
              </a:rPr>
              <a:t>Day </a:t>
            </a:r>
            <a:r>
              <a:rPr dirty="0" sz="1200">
                <a:latin typeface="Arial"/>
                <a:cs typeface="Arial"/>
              </a:rPr>
              <a:t>of </a:t>
            </a:r>
            <a:r>
              <a:rPr dirty="0" sz="1200" spc="-5">
                <a:latin typeface="Arial"/>
                <a:cs typeface="Arial"/>
              </a:rPr>
              <a:t>Judgement which is </a:t>
            </a:r>
            <a:r>
              <a:rPr dirty="0" sz="1200">
                <a:latin typeface="Arial"/>
                <a:cs typeface="Arial"/>
              </a:rPr>
              <a:t>the Day </a:t>
            </a:r>
            <a:r>
              <a:rPr dirty="0" sz="1200" spc="-5">
                <a:latin typeface="Arial"/>
                <a:cs typeface="Arial"/>
              </a:rPr>
              <a:t>of  </a:t>
            </a:r>
            <a:r>
              <a:rPr dirty="0" sz="1200">
                <a:latin typeface="Arial"/>
                <a:cs typeface="Arial"/>
              </a:rPr>
              <a:t>Reckoning </a:t>
            </a:r>
            <a:r>
              <a:rPr dirty="0" sz="1200" spc="-5">
                <a:latin typeface="Arial"/>
                <a:cs typeface="Arial"/>
              </a:rPr>
              <a:t>and settlement of disputes </a:t>
            </a:r>
            <a:r>
              <a:rPr dirty="0" sz="1200" spc="-10">
                <a:latin typeface="Arial"/>
                <a:cs typeface="Arial"/>
              </a:rPr>
              <a:t>between </a:t>
            </a:r>
            <a:r>
              <a:rPr dirty="0" sz="1200" spc="-5">
                <a:latin typeface="Arial"/>
                <a:cs typeface="Arial"/>
              </a:rPr>
              <a:t>created beings, i.e. the Day when people are  judged according </a:t>
            </a:r>
            <a:r>
              <a:rPr dirty="0" sz="1200">
                <a:latin typeface="Arial"/>
                <a:cs typeface="Arial"/>
              </a:rPr>
              <a:t>to </a:t>
            </a:r>
            <a:r>
              <a:rPr dirty="0" sz="1200" spc="-5">
                <a:latin typeface="Arial"/>
                <a:cs typeface="Arial"/>
              </a:rPr>
              <a:t>their deeds; there is no </a:t>
            </a:r>
            <a:r>
              <a:rPr dirty="0" sz="1200" spc="-10">
                <a:latin typeface="Arial"/>
                <a:cs typeface="Arial"/>
              </a:rPr>
              <a:t>judge </a:t>
            </a:r>
            <a:r>
              <a:rPr dirty="0" sz="1200" spc="-5">
                <a:latin typeface="Arial"/>
                <a:cs typeface="Arial"/>
              </a:rPr>
              <a:t>save</a:t>
            </a:r>
            <a:r>
              <a:rPr dirty="0" sz="1200" spc="40">
                <a:latin typeface="Arial"/>
                <a:cs typeface="Arial"/>
              </a:rPr>
              <a:t> </a:t>
            </a:r>
            <a:r>
              <a:rPr dirty="0" sz="1200" spc="-5">
                <a:latin typeface="Arial"/>
                <a:cs typeface="Arial"/>
              </a:rPr>
              <a:t>Him.</a:t>
            </a:r>
            <a:endParaRPr sz="1200">
              <a:latin typeface="Arial"/>
              <a:cs typeface="Arial"/>
            </a:endParaRPr>
          </a:p>
        </p:txBody>
      </p:sp>
      <p:sp>
        <p:nvSpPr>
          <p:cNvPr id="9" name="object 9"/>
          <p:cNvSpPr txBox="1"/>
          <p:nvPr/>
        </p:nvSpPr>
        <p:spPr>
          <a:xfrm>
            <a:off x="5109336" y="3740022"/>
            <a:ext cx="1762760" cy="299720"/>
          </a:xfrm>
          <a:prstGeom prst="rect">
            <a:avLst/>
          </a:prstGeom>
        </p:spPr>
        <p:txBody>
          <a:bodyPr wrap="square" lIns="0" tIns="12700" rIns="0" bIns="0" rtlCol="0" vert="horz">
            <a:spAutoFit/>
          </a:bodyPr>
          <a:lstStyle/>
          <a:p>
            <a:pPr marL="38100">
              <a:lnSpc>
                <a:spcPct val="100000"/>
              </a:lnSpc>
              <a:spcBef>
                <a:spcPts val="100"/>
              </a:spcBef>
            </a:pPr>
            <a:r>
              <a:rPr dirty="0" baseline="3086" sz="2700" spc="-555" b="1">
                <a:latin typeface="Arial"/>
                <a:cs typeface="Arial"/>
              </a:rPr>
              <a:t>نُ </a:t>
            </a:r>
            <a:r>
              <a:rPr dirty="0" baseline="3086" sz="2700" spc="-765" b="1">
                <a:latin typeface="Arial"/>
                <a:cs typeface="Arial"/>
              </a:rPr>
              <a:t>يعِ</a:t>
            </a:r>
            <a:r>
              <a:rPr dirty="0" baseline="3086" sz="2700" b="1">
                <a:latin typeface="Arial"/>
                <a:cs typeface="Arial"/>
              </a:rPr>
              <a:t> </a:t>
            </a:r>
            <a:r>
              <a:rPr dirty="0" baseline="3086" sz="2700" spc="-810" b="1">
                <a:latin typeface="Arial"/>
                <a:cs typeface="Arial"/>
              </a:rPr>
              <a:t>ت</a:t>
            </a:r>
            <a:r>
              <a:rPr dirty="0" baseline="7716" sz="2700" spc="-810" b="1">
                <a:latin typeface="Arial"/>
                <a:cs typeface="Arial"/>
              </a:rPr>
              <a:t>َ</a:t>
            </a:r>
            <a:r>
              <a:rPr dirty="0" baseline="7716" sz="2700" spc="-150" b="1">
                <a:latin typeface="Arial"/>
                <a:cs typeface="Arial"/>
              </a:rPr>
              <a:t> </a:t>
            </a:r>
            <a:r>
              <a:rPr dirty="0" baseline="3086" sz="2700" spc="-1050" b="1">
                <a:latin typeface="Arial"/>
                <a:cs typeface="Arial"/>
              </a:rPr>
              <a:t>س</a:t>
            </a:r>
            <a:r>
              <a:rPr dirty="0" sz="1800" spc="-700" b="1">
                <a:latin typeface="Arial"/>
                <a:cs typeface="Arial"/>
              </a:rPr>
              <a:t>ْ</a:t>
            </a:r>
            <a:r>
              <a:rPr dirty="0" sz="1800" spc="365" b="1">
                <a:latin typeface="Arial"/>
                <a:cs typeface="Arial"/>
              </a:rPr>
              <a:t> </a:t>
            </a:r>
            <a:r>
              <a:rPr dirty="0" baseline="3086" sz="2700" spc="-667" b="1">
                <a:latin typeface="Arial"/>
                <a:cs typeface="Arial"/>
              </a:rPr>
              <a:t>ن</a:t>
            </a:r>
            <a:r>
              <a:rPr dirty="0" baseline="7716" sz="2700" spc="-667" b="1">
                <a:latin typeface="Arial"/>
                <a:cs typeface="Arial"/>
              </a:rPr>
              <a:t>َ </a:t>
            </a:r>
            <a:r>
              <a:rPr dirty="0" baseline="3086" sz="2700" spc="-637" b="1">
                <a:latin typeface="Arial"/>
                <a:cs typeface="Arial"/>
              </a:rPr>
              <a:t>ك</a:t>
            </a:r>
            <a:r>
              <a:rPr dirty="0" baseline="4629" sz="2700" spc="-637" b="1">
                <a:latin typeface="Arial"/>
                <a:cs typeface="Arial"/>
              </a:rPr>
              <a:t>َ </a:t>
            </a:r>
            <a:r>
              <a:rPr dirty="0" baseline="3086" sz="2700" spc="-390" b="1">
                <a:latin typeface="Arial"/>
                <a:cs typeface="Arial"/>
              </a:rPr>
              <a:t>اي</a:t>
            </a:r>
            <a:r>
              <a:rPr dirty="0" sz="1800" spc="-260" b="1">
                <a:latin typeface="Arial"/>
                <a:cs typeface="Arial"/>
              </a:rPr>
              <a:t>َّ </a:t>
            </a:r>
            <a:r>
              <a:rPr dirty="0" baseline="-9259" sz="2700" spc="-172" b="1">
                <a:latin typeface="Arial"/>
                <a:cs typeface="Arial"/>
              </a:rPr>
              <a:t>ِ</a:t>
            </a:r>
            <a:r>
              <a:rPr dirty="0" baseline="3086" sz="2700" spc="-172" b="1">
                <a:latin typeface="Arial"/>
                <a:cs typeface="Arial"/>
              </a:rPr>
              <a:t>إو</a:t>
            </a:r>
            <a:r>
              <a:rPr dirty="0" sz="1800" spc="-114" b="1">
                <a:latin typeface="Arial"/>
                <a:cs typeface="Arial"/>
              </a:rPr>
              <a:t>َ </a:t>
            </a:r>
            <a:r>
              <a:rPr dirty="0" baseline="3086" sz="2700" spc="-367" b="1">
                <a:latin typeface="Arial"/>
                <a:cs typeface="Arial"/>
              </a:rPr>
              <a:t>دُ </a:t>
            </a:r>
            <a:r>
              <a:rPr dirty="0" baseline="3086" sz="2700" spc="-847" b="1">
                <a:latin typeface="Arial"/>
                <a:cs typeface="Arial"/>
              </a:rPr>
              <a:t>ب</a:t>
            </a:r>
            <a:r>
              <a:rPr dirty="0" sz="1800" spc="-565" b="1">
                <a:latin typeface="Arial"/>
                <a:cs typeface="Arial"/>
              </a:rPr>
              <a:t>ُ</a:t>
            </a:r>
            <a:r>
              <a:rPr dirty="0" sz="1800" spc="-55" b="1">
                <a:latin typeface="Arial"/>
                <a:cs typeface="Arial"/>
              </a:rPr>
              <a:t> </a:t>
            </a:r>
            <a:r>
              <a:rPr dirty="0" baseline="3086" sz="2700" spc="-577" b="1">
                <a:latin typeface="Arial"/>
                <a:cs typeface="Arial"/>
              </a:rPr>
              <a:t>ع</a:t>
            </a:r>
            <a:r>
              <a:rPr dirty="0" sz="1800" spc="-385" b="1">
                <a:latin typeface="Arial"/>
                <a:cs typeface="Arial"/>
              </a:rPr>
              <a:t>ْ </a:t>
            </a:r>
            <a:r>
              <a:rPr dirty="0" baseline="3086" sz="2700" spc="-667" b="1">
                <a:latin typeface="Arial"/>
                <a:cs typeface="Arial"/>
              </a:rPr>
              <a:t>ن</a:t>
            </a:r>
            <a:r>
              <a:rPr dirty="0" baseline="7716" sz="2700" spc="-667" b="1">
                <a:latin typeface="Arial"/>
                <a:cs typeface="Arial"/>
              </a:rPr>
              <a:t>َ </a:t>
            </a:r>
            <a:r>
              <a:rPr dirty="0" baseline="3086" sz="2700" spc="-637" b="1">
                <a:latin typeface="Arial"/>
                <a:cs typeface="Arial"/>
              </a:rPr>
              <a:t>ك</a:t>
            </a:r>
            <a:r>
              <a:rPr dirty="0" baseline="4629" sz="2700" spc="-637" b="1">
                <a:latin typeface="Arial"/>
                <a:cs typeface="Arial"/>
              </a:rPr>
              <a:t>َ </a:t>
            </a:r>
            <a:r>
              <a:rPr dirty="0" baseline="3086" sz="2700" spc="-390" b="1">
                <a:latin typeface="Arial"/>
                <a:cs typeface="Arial"/>
              </a:rPr>
              <a:t>اي</a:t>
            </a:r>
            <a:r>
              <a:rPr dirty="0" sz="1800" spc="-260" b="1">
                <a:latin typeface="Arial"/>
                <a:cs typeface="Arial"/>
              </a:rPr>
              <a:t>َّ</a:t>
            </a:r>
            <a:r>
              <a:rPr dirty="0" sz="1800" spc="-145" b="1">
                <a:latin typeface="Arial"/>
                <a:cs typeface="Arial"/>
              </a:rPr>
              <a:t> </a:t>
            </a:r>
            <a:r>
              <a:rPr dirty="0" baseline="-9259" sz="2700" b="1">
                <a:latin typeface="Arial"/>
                <a:cs typeface="Arial"/>
              </a:rPr>
              <a:t>ِ</a:t>
            </a:r>
            <a:r>
              <a:rPr dirty="0" baseline="3086" sz="2700" b="1">
                <a:latin typeface="Arial"/>
                <a:cs typeface="Arial"/>
              </a:rPr>
              <a:t>إ</a:t>
            </a:r>
            <a:endParaRPr baseline="3086" sz="2700">
              <a:latin typeface="Arial"/>
              <a:cs typeface="Arial"/>
            </a:endParaRPr>
          </a:p>
        </p:txBody>
      </p:sp>
      <p:sp>
        <p:nvSpPr>
          <p:cNvPr id="10" name="object 10"/>
          <p:cNvSpPr txBox="1"/>
          <p:nvPr/>
        </p:nvSpPr>
        <p:spPr>
          <a:xfrm>
            <a:off x="445516" y="4146930"/>
            <a:ext cx="6515734" cy="5598160"/>
          </a:xfrm>
          <a:prstGeom prst="rect">
            <a:avLst/>
          </a:prstGeom>
        </p:spPr>
        <p:txBody>
          <a:bodyPr wrap="square" lIns="0" tIns="12700" rIns="0" bIns="0" rtlCol="0" vert="horz">
            <a:spAutoFit/>
          </a:bodyPr>
          <a:lstStyle/>
          <a:p>
            <a:pPr marL="101600">
              <a:lnSpc>
                <a:spcPct val="100000"/>
              </a:lnSpc>
              <a:spcBef>
                <a:spcPts val="100"/>
              </a:spcBef>
            </a:pPr>
            <a:r>
              <a:rPr dirty="0" sz="1200" spc="-5" i="1">
                <a:latin typeface="Arial"/>
                <a:cs typeface="Arial"/>
              </a:rPr>
              <a:t>You (alone) </a:t>
            </a:r>
            <a:r>
              <a:rPr dirty="0" sz="1200" i="1">
                <a:latin typeface="Arial"/>
                <a:cs typeface="Arial"/>
              </a:rPr>
              <a:t>we </a:t>
            </a:r>
            <a:r>
              <a:rPr dirty="0" sz="1200" spc="-5" i="1">
                <a:latin typeface="Arial"/>
                <a:cs typeface="Arial"/>
              </a:rPr>
              <a:t>worship and You alone </a:t>
            </a:r>
            <a:r>
              <a:rPr dirty="0" sz="1200" i="1">
                <a:latin typeface="Arial"/>
                <a:cs typeface="Arial"/>
              </a:rPr>
              <a:t>we </a:t>
            </a:r>
            <a:r>
              <a:rPr dirty="0" sz="1200" spc="-5" i="1">
                <a:latin typeface="Arial"/>
                <a:cs typeface="Arial"/>
              </a:rPr>
              <a:t>ask for</a:t>
            </a:r>
            <a:r>
              <a:rPr dirty="0" sz="1200" spc="-10" i="1">
                <a:latin typeface="Arial"/>
                <a:cs typeface="Arial"/>
              </a:rPr>
              <a:t> </a:t>
            </a:r>
            <a:r>
              <a:rPr dirty="0" sz="1200" spc="-5" i="1">
                <a:latin typeface="Arial"/>
                <a:cs typeface="Arial"/>
              </a:rPr>
              <a:t>help</a:t>
            </a:r>
            <a:endParaRPr sz="1200">
              <a:latin typeface="Arial"/>
              <a:cs typeface="Arial"/>
            </a:endParaRPr>
          </a:p>
          <a:p>
            <a:pPr>
              <a:lnSpc>
                <a:spcPct val="100000"/>
              </a:lnSpc>
              <a:spcBef>
                <a:spcPts val="45"/>
              </a:spcBef>
            </a:pPr>
            <a:endParaRPr sz="1200">
              <a:latin typeface="Arial"/>
              <a:cs typeface="Arial"/>
            </a:endParaRPr>
          </a:p>
          <a:p>
            <a:pPr algn="just" marL="101600" marR="127635">
              <a:lnSpc>
                <a:spcPts val="1380"/>
              </a:lnSpc>
            </a:pPr>
            <a:r>
              <a:rPr dirty="0" sz="1200" spc="-5">
                <a:latin typeface="Arial"/>
                <a:cs typeface="Arial"/>
              </a:rPr>
              <a:t>(Thee </a:t>
            </a:r>
            <a:r>
              <a:rPr dirty="0" sz="1200">
                <a:latin typeface="Arial"/>
                <a:cs typeface="Arial"/>
              </a:rPr>
              <a:t>(alone) </a:t>
            </a:r>
            <a:r>
              <a:rPr dirty="0" sz="1200" spc="-10">
                <a:latin typeface="Arial"/>
                <a:cs typeface="Arial"/>
              </a:rPr>
              <a:t>we </a:t>
            </a:r>
            <a:r>
              <a:rPr dirty="0" sz="1200" spc="-5">
                <a:latin typeface="Arial"/>
                <a:cs typeface="Arial"/>
              </a:rPr>
              <a:t>worship), </a:t>
            </a:r>
            <a:r>
              <a:rPr dirty="0" sz="1200" spc="-10">
                <a:latin typeface="Arial"/>
                <a:cs typeface="Arial"/>
              </a:rPr>
              <a:t>we </a:t>
            </a:r>
            <a:r>
              <a:rPr dirty="0" sz="1200">
                <a:latin typeface="Arial"/>
                <a:cs typeface="Arial"/>
              </a:rPr>
              <a:t>turn to </a:t>
            </a:r>
            <a:r>
              <a:rPr dirty="0" sz="1200" spc="-10">
                <a:latin typeface="Arial"/>
                <a:cs typeface="Arial"/>
              </a:rPr>
              <a:t>you </a:t>
            </a:r>
            <a:r>
              <a:rPr dirty="0" sz="1200" spc="-5">
                <a:latin typeface="Arial"/>
                <a:cs typeface="Arial"/>
              </a:rPr>
              <a:t>as </a:t>
            </a:r>
            <a:r>
              <a:rPr dirty="0" sz="1200">
                <a:latin typeface="Arial"/>
                <a:cs typeface="Arial"/>
              </a:rPr>
              <a:t>the </a:t>
            </a:r>
            <a:r>
              <a:rPr dirty="0" sz="1200" spc="-5">
                <a:latin typeface="Arial"/>
                <a:cs typeface="Arial"/>
              </a:rPr>
              <a:t>only </a:t>
            </a:r>
            <a:r>
              <a:rPr dirty="0" sz="1200">
                <a:latin typeface="Arial"/>
                <a:cs typeface="Arial"/>
              </a:rPr>
              <a:t>One God </a:t>
            </a:r>
            <a:r>
              <a:rPr dirty="0" sz="1200" spc="-5">
                <a:latin typeface="Arial"/>
                <a:cs typeface="Arial"/>
              </a:rPr>
              <a:t>and </a:t>
            </a:r>
            <a:r>
              <a:rPr dirty="0" sz="1200" spc="-10">
                <a:latin typeface="Arial"/>
                <a:cs typeface="Arial"/>
              </a:rPr>
              <a:t>we </a:t>
            </a:r>
            <a:r>
              <a:rPr dirty="0" sz="1200" spc="-5">
                <a:latin typeface="Arial"/>
                <a:cs typeface="Arial"/>
              </a:rPr>
              <a:t>obey you; ((Thee  </a:t>
            </a:r>
            <a:r>
              <a:rPr dirty="0" sz="1200">
                <a:latin typeface="Arial"/>
                <a:cs typeface="Arial"/>
              </a:rPr>
              <a:t>alone) </a:t>
            </a:r>
            <a:r>
              <a:rPr dirty="0" sz="1200" spc="-10">
                <a:latin typeface="Arial"/>
                <a:cs typeface="Arial"/>
              </a:rPr>
              <a:t>we </a:t>
            </a:r>
            <a:r>
              <a:rPr dirty="0" sz="1200" spc="-5">
                <a:latin typeface="Arial"/>
                <a:cs typeface="Arial"/>
              </a:rPr>
              <a:t>ask </a:t>
            </a:r>
            <a:r>
              <a:rPr dirty="0" sz="1200">
                <a:latin typeface="Arial"/>
                <a:cs typeface="Arial"/>
              </a:rPr>
              <a:t>for </a:t>
            </a:r>
            <a:r>
              <a:rPr dirty="0" sz="1200" spc="-5">
                <a:latin typeface="Arial"/>
                <a:cs typeface="Arial"/>
              </a:rPr>
              <a:t>help), </a:t>
            </a:r>
            <a:r>
              <a:rPr dirty="0" sz="1200" spc="-10">
                <a:latin typeface="Arial"/>
                <a:cs typeface="Arial"/>
              </a:rPr>
              <a:t>we </a:t>
            </a:r>
            <a:r>
              <a:rPr dirty="0" sz="1200" spc="-5">
                <a:latin typeface="Arial"/>
                <a:cs typeface="Arial"/>
              </a:rPr>
              <a:t>ask </a:t>
            </a:r>
            <a:r>
              <a:rPr dirty="0" sz="1200">
                <a:latin typeface="Arial"/>
                <a:cs typeface="Arial"/>
              </a:rPr>
              <a:t>for </a:t>
            </a:r>
            <a:r>
              <a:rPr dirty="0" sz="1200" spc="-5">
                <a:latin typeface="Arial"/>
                <a:cs typeface="Arial"/>
              </a:rPr>
              <a:t>your help in worshipping You and </a:t>
            </a:r>
            <a:r>
              <a:rPr dirty="0" sz="1200">
                <a:latin typeface="Arial"/>
                <a:cs typeface="Arial"/>
              </a:rPr>
              <a:t>from </a:t>
            </a:r>
            <a:r>
              <a:rPr dirty="0" sz="1200" spc="-5">
                <a:latin typeface="Arial"/>
                <a:cs typeface="Arial"/>
              </a:rPr>
              <a:t>You </a:t>
            </a:r>
            <a:r>
              <a:rPr dirty="0" sz="1200" spc="-10">
                <a:latin typeface="Arial"/>
                <a:cs typeface="Arial"/>
              </a:rPr>
              <a:t>we </a:t>
            </a:r>
            <a:r>
              <a:rPr dirty="0" sz="1200" spc="-5">
                <a:latin typeface="Arial"/>
                <a:cs typeface="Arial"/>
              </a:rPr>
              <a:t>obtain  confidence </a:t>
            </a:r>
            <a:r>
              <a:rPr dirty="0" sz="1200" spc="-10">
                <a:latin typeface="Arial"/>
                <a:cs typeface="Arial"/>
              </a:rPr>
              <a:t>in </a:t>
            </a:r>
            <a:r>
              <a:rPr dirty="0" sz="1200" spc="-5">
                <a:latin typeface="Arial"/>
                <a:cs typeface="Arial"/>
              </a:rPr>
              <a:t>obeying</a:t>
            </a:r>
            <a:r>
              <a:rPr dirty="0" sz="1200" spc="5">
                <a:latin typeface="Arial"/>
                <a:cs typeface="Arial"/>
              </a:rPr>
              <a:t> </a:t>
            </a:r>
            <a:r>
              <a:rPr dirty="0" sz="1200" spc="-5">
                <a:latin typeface="Arial"/>
                <a:cs typeface="Arial"/>
              </a:rPr>
              <a:t>You.</a:t>
            </a:r>
            <a:endParaRPr sz="1200">
              <a:latin typeface="Arial"/>
              <a:cs typeface="Arial"/>
            </a:endParaRPr>
          </a:p>
          <a:p>
            <a:pPr>
              <a:lnSpc>
                <a:spcPct val="100000"/>
              </a:lnSpc>
              <a:spcBef>
                <a:spcPts val="10"/>
              </a:spcBef>
            </a:pPr>
            <a:endParaRPr sz="1150">
              <a:latin typeface="Arial"/>
              <a:cs typeface="Arial"/>
            </a:endParaRPr>
          </a:p>
          <a:p>
            <a:pPr algn="r" marR="119380">
              <a:lnSpc>
                <a:spcPct val="100000"/>
              </a:lnSpc>
              <a:spcBef>
                <a:spcPts val="5"/>
              </a:spcBef>
            </a:pPr>
            <a:r>
              <a:rPr dirty="0" baseline="3086" sz="2700" spc="-419" b="1">
                <a:latin typeface="Arial"/>
                <a:cs typeface="Arial"/>
              </a:rPr>
              <a:t>م</a:t>
            </a:r>
            <a:r>
              <a:rPr dirty="0" baseline="-6172" sz="2700" spc="-419" b="1">
                <a:latin typeface="Arial"/>
                <a:cs typeface="Arial"/>
              </a:rPr>
              <a:t>َ </a:t>
            </a:r>
            <a:r>
              <a:rPr dirty="0" baseline="3086" sz="2700" spc="-690" b="1">
                <a:latin typeface="Arial"/>
                <a:cs typeface="Arial"/>
              </a:rPr>
              <a:t>يِقت</a:t>
            </a:r>
            <a:r>
              <a:rPr dirty="0" baseline="7716" sz="2700" spc="-690" b="1">
                <a:latin typeface="Arial"/>
                <a:cs typeface="Arial"/>
              </a:rPr>
              <a:t>َ </a:t>
            </a:r>
            <a:r>
              <a:rPr dirty="0" baseline="3086" sz="2700" spc="-1050" b="1">
                <a:latin typeface="Arial"/>
                <a:cs typeface="Arial"/>
              </a:rPr>
              <a:t>س</a:t>
            </a:r>
            <a:r>
              <a:rPr dirty="0" sz="1800" spc="-700" b="1">
                <a:latin typeface="Arial"/>
                <a:cs typeface="Arial"/>
              </a:rPr>
              <a:t>ْ</a:t>
            </a:r>
            <a:r>
              <a:rPr dirty="0" sz="1800" spc="355" b="1">
                <a:latin typeface="Arial"/>
                <a:cs typeface="Arial"/>
              </a:rPr>
              <a:t> </a:t>
            </a:r>
            <a:r>
              <a:rPr dirty="0" baseline="3086" sz="2700" spc="-427" b="1">
                <a:latin typeface="Arial"/>
                <a:cs typeface="Arial"/>
              </a:rPr>
              <a:t>م</a:t>
            </a:r>
            <a:r>
              <a:rPr dirty="0" sz="1800" spc="-285" b="1">
                <a:latin typeface="Arial"/>
                <a:cs typeface="Arial"/>
              </a:rPr>
              <a:t>ُ </a:t>
            </a:r>
            <a:r>
              <a:rPr dirty="0" baseline="3086" sz="2700" spc="-577" b="1">
                <a:latin typeface="Arial"/>
                <a:cs typeface="Arial"/>
              </a:rPr>
              <a:t>ل</a:t>
            </a:r>
            <a:r>
              <a:rPr dirty="0" baseline="10802" sz="2700" spc="-577" b="1">
                <a:latin typeface="Arial"/>
                <a:cs typeface="Arial"/>
              </a:rPr>
              <a:t>ْ </a:t>
            </a:r>
            <a:r>
              <a:rPr dirty="0" baseline="3086" sz="2700" b="1">
                <a:latin typeface="Arial"/>
                <a:cs typeface="Arial"/>
              </a:rPr>
              <a:t>ٱ </a:t>
            </a:r>
            <a:r>
              <a:rPr dirty="0" baseline="3086" sz="2700" spc="-577" b="1">
                <a:latin typeface="Arial"/>
                <a:cs typeface="Arial"/>
              </a:rPr>
              <a:t>ط</a:t>
            </a:r>
            <a:r>
              <a:rPr dirty="0" baseline="13888" sz="2700" spc="-577" b="1">
                <a:latin typeface="Arial"/>
                <a:cs typeface="Arial"/>
              </a:rPr>
              <a:t>َ </a:t>
            </a:r>
            <a:r>
              <a:rPr dirty="0" baseline="3086" sz="2700" spc="-284" b="1">
                <a:latin typeface="Arial"/>
                <a:cs typeface="Arial"/>
              </a:rPr>
              <a:t>ار</a:t>
            </a:r>
            <a:r>
              <a:rPr dirty="0" sz="1800" spc="-190" b="1">
                <a:latin typeface="Arial"/>
                <a:cs typeface="Arial"/>
              </a:rPr>
              <a:t>َ </a:t>
            </a:r>
            <a:r>
              <a:rPr dirty="0" baseline="3086" sz="2700" spc="-869" b="1">
                <a:latin typeface="Arial"/>
                <a:cs typeface="Arial"/>
              </a:rPr>
              <a:t>ص</a:t>
            </a:r>
            <a:r>
              <a:rPr dirty="0" sz="1800" spc="-580" b="1">
                <a:latin typeface="Arial"/>
                <a:cs typeface="Arial"/>
              </a:rPr>
              <a:t>ِّ</a:t>
            </a:r>
            <a:r>
              <a:rPr dirty="0" sz="1800" spc="705" b="1">
                <a:latin typeface="Arial"/>
                <a:cs typeface="Arial"/>
              </a:rPr>
              <a:t> </a:t>
            </a:r>
            <a:r>
              <a:rPr dirty="0" baseline="3086" sz="2700" spc="-300" b="1">
                <a:latin typeface="Arial"/>
                <a:cs typeface="Arial"/>
              </a:rPr>
              <a:t>لٱ </a:t>
            </a:r>
            <a:r>
              <a:rPr dirty="0" baseline="3086" sz="2700" spc="-427" b="1">
                <a:latin typeface="Arial"/>
                <a:cs typeface="Arial"/>
              </a:rPr>
              <a:t>ان</a:t>
            </a:r>
            <a:r>
              <a:rPr dirty="0" baseline="7716" sz="2700" spc="-427" b="1">
                <a:latin typeface="Arial"/>
                <a:cs typeface="Arial"/>
              </a:rPr>
              <a:t>َ </a:t>
            </a:r>
            <a:r>
              <a:rPr dirty="0" baseline="3086" sz="2700" spc="-367" b="1">
                <a:latin typeface="Arial"/>
                <a:cs typeface="Arial"/>
              </a:rPr>
              <a:t>دِ </a:t>
            </a:r>
            <a:r>
              <a:rPr dirty="0" baseline="3086" sz="2700" spc="-315" b="1">
                <a:latin typeface="Arial"/>
                <a:cs typeface="Arial"/>
              </a:rPr>
              <a:t>هْ</a:t>
            </a:r>
            <a:r>
              <a:rPr dirty="0" baseline="3086" sz="2700" spc="-359" b="1">
                <a:latin typeface="Arial"/>
                <a:cs typeface="Arial"/>
              </a:rPr>
              <a:t> </a:t>
            </a:r>
            <a:r>
              <a:rPr dirty="0" baseline="3086" sz="2700" b="1">
                <a:latin typeface="Arial"/>
                <a:cs typeface="Arial"/>
              </a:rPr>
              <a:t>ٱ</a:t>
            </a:r>
            <a:endParaRPr baseline="3086" sz="2700">
              <a:latin typeface="Arial"/>
              <a:cs typeface="Arial"/>
            </a:endParaRPr>
          </a:p>
          <a:p>
            <a:pPr marL="101600">
              <a:lnSpc>
                <a:spcPct val="100000"/>
              </a:lnSpc>
              <a:spcBef>
                <a:spcPts val="1055"/>
              </a:spcBef>
            </a:pPr>
            <a:r>
              <a:rPr dirty="0" sz="1200" spc="-5" i="1">
                <a:latin typeface="Arial"/>
                <a:cs typeface="Arial"/>
              </a:rPr>
              <a:t>Show </a:t>
            </a:r>
            <a:r>
              <a:rPr dirty="0" sz="1200" i="1">
                <a:latin typeface="Arial"/>
                <a:cs typeface="Arial"/>
              </a:rPr>
              <a:t>us </a:t>
            </a:r>
            <a:r>
              <a:rPr dirty="0" sz="1200" spc="-5" i="1">
                <a:latin typeface="Arial"/>
                <a:cs typeface="Arial"/>
              </a:rPr>
              <a:t>the straight path</a:t>
            </a:r>
            <a:endParaRPr sz="1200">
              <a:latin typeface="Arial"/>
              <a:cs typeface="Arial"/>
            </a:endParaRPr>
          </a:p>
          <a:p>
            <a:pPr>
              <a:lnSpc>
                <a:spcPct val="100000"/>
              </a:lnSpc>
              <a:spcBef>
                <a:spcPts val="10"/>
              </a:spcBef>
            </a:pPr>
            <a:endParaRPr sz="1150">
              <a:latin typeface="Arial"/>
              <a:cs typeface="Arial"/>
            </a:endParaRPr>
          </a:p>
          <a:p>
            <a:pPr algn="just" marL="101600">
              <a:lnSpc>
                <a:spcPts val="1410"/>
              </a:lnSpc>
            </a:pPr>
            <a:r>
              <a:rPr dirty="0" sz="1200" spc="-5">
                <a:latin typeface="Arial"/>
                <a:cs typeface="Arial"/>
              </a:rPr>
              <a:t>(Guide </a:t>
            </a:r>
            <a:r>
              <a:rPr dirty="0" sz="1200">
                <a:latin typeface="Arial"/>
                <a:cs typeface="Arial"/>
              </a:rPr>
              <a:t>us to </a:t>
            </a:r>
            <a:r>
              <a:rPr dirty="0" sz="1200" spc="-5">
                <a:latin typeface="Arial"/>
                <a:cs typeface="Arial"/>
              </a:rPr>
              <a:t>the straight path) guide </a:t>
            </a:r>
            <a:r>
              <a:rPr dirty="0" sz="1200">
                <a:latin typeface="Arial"/>
                <a:cs typeface="Arial"/>
              </a:rPr>
              <a:t>us to </a:t>
            </a:r>
            <a:r>
              <a:rPr dirty="0" sz="1200" spc="5">
                <a:latin typeface="Arial"/>
                <a:cs typeface="Arial"/>
              </a:rPr>
              <a:t>the </a:t>
            </a:r>
            <a:r>
              <a:rPr dirty="0" sz="1200" spc="-5">
                <a:latin typeface="Arial"/>
                <a:cs typeface="Arial"/>
              </a:rPr>
              <a:t>established Religion </a:t>
            </a:r>
            <a:r>
              <a:rPr dirty="0" sz="1200">
                <a:latin typeface="Arial"/>
                <a:cs typeface="Arial"/>
              </a:rPr>
              <a:t>that </a:t>
            </a:r>
            <a:r>
              <a:rPr dirty="0" sz="1200" spc="-5">
                <a:latin typeface="Arial"/>
                <a:cs typeface="Arial"/>
              </a:rPr>
              <a:t>You </a:t>
            </a:r>
            <a:r>
              <a:rPr dirty="0" sz="1200">
                <a:latin typeface="Arial"/>
                <a:cs typeface="Arial"/>
              </a:rPr>
              <a:t>are </a:t>
            </a:r>
            <a:r>
              <a:rPr dirty="0" sz="1200" spc="-5">
                <a:latin typeface="Arial"/>
                <a:cs typeface="Arial"/>
              </a:rPr>
              <a:t>pleased</a:t>
            </a:r>
            <a:r>
              <a:rPr dirty="0" sz="1200" spc="135">
                <a:latin typeface="Arial"/>
                <a:cs typeface="Arial"/>
              </a:rPr>
              <a:t> </a:t>
            </a:r>
            <a:r>
              <a:rPr dirty="0" sz="1200" spc="-5">
                <a:latin typeface="Arial"/>
                <a:cs typeface="Arial"/>
              </a:rPr>
              <a:t>with,</a:t>
            </a:r>
            <a:endParaRPr sz="1200">
              <a:latin typeface="Arial"/>
              <a:cs typeface="Arial"/>
            </a:endParaRPr>
          </a:p>
          <a:p>
            <a:pPr algn="just" marL="101600" marR="128270">
              <a:lnSpc>
                <a:spcPts val="1380"/>
              </a:lnSpc>
              <a:spcBef>
                <a:spcPts val="65"/>
              </a:spcBef>
            </a:pPr>
            <a:r>
              <a:rPr dirty="0" sz="1200">
                <a:latin typeface="Arial"/>
                <a:cs typeface="Arial"/>
              </a:rPr>
              <a:t>i.e. </a:t>
            </a:r>
            <a:r>
              <a:rPr dirty="0" sz="1200" spc="-5">
                <a:latin typeface="Arial"/>
                <a:cs typeface="Arial"/>
              </a:rPr>
              <a:t>Islam. </a:t>
            </a:r>
            <a:r>
              <a:rPr dirty="0" sz="1200">
                <a:latin typeface="Arial"/>
                <a:cs typeface="Arial"/>
              </a:rPr>
              <a:t>It </a:t>
            </a:r>
            <a:r>
              <a:rPr dirty="0" sz="1200" spc="-5">
                <a:latin typeface="Arial"/>
                <a:cs typeface="Arial"/>
              </a:rPr>
              <a:t>is also said </a:t>
            </a:r>
            <a:r>
              <a:rPr dirty="0" sz="1200">
                <a:latin typeface="Arial"/>
                <a:cs typeface="Arial"/>
              </a:rPr>
              <a:t>that </a:t>
            </a:r>
            <a:r>
              <a:rPr dirty="0" sz="1200" spc="-5">
                <a:latin typeface="Arial"/>
                <a:cs typeface="Arial"/>
              </a:rPr>
              <a:t>this means: make us firm in holding </a:t>
            </a:r>
            <a:r>
              <a:rPr dirty="0" sz="1200">
                <a:latin typeface="Arial"/>
                <a:cs typeface="Arial"/>
              </a:rPr>
              <a:t>fast to it. It </a:t>
            </a:r>
            <a:r>
              <a:rPr dirty="0" sz="1200" spc="-5">
                <a:latin typeface="Arial"/>
                <a:cs typeface="Arial"/>
              </a:rPr>
              <a:t>is also said that  </a:t>
            </a:r>
            <a:r>
              <a:rPr dirty="0" sz="1200">
                <a:latin typeface="Arial"/>
                <a:cs typeface="Arial"/>
              </a:rPr>
              <a:t>the </a:t>
            </a:r>
            <a:r>
              <a:rPr dirty="0" sz="1200" spc="-5">
                <a:latin typeface="Arial"/>
                <a:cs typeface="Arial"/>
              </a:rPr>
              <a:t>straight path refers </a:t>
            </a:r>
            <a:r>
              <a:rPr dirty="0" sz="1200">
                <a:latin typeface="Arial"/>
                <a:cs typeface="Arial"/>
              </a:rPr>
              <a:t>to </a:t>
            </a:r>
            <a:r>
              <a:rPr dirty="0" sz="1200" spc="-5">
                <a:latin typeface="Arial"/>
                <a:cs typeface="Arial"/>
              </a:rPr>
              <a:t>Allah's </a:t>
            </a:r>
            <a:r>
              <a:rPr dirty="0" sz="1200">
                <a:latin typeface="Arial"/>
                <a:cs typeface="Arial"/>
              </a:rPr>
              <a:t>Book, </a:t>
            </a:r>
            <a:r>
              <a:rPr dirty="0" sz="1200" spc="-5">
                <a:latin typeface="Arial"/>
                <a:cs typeface="Arial"/>
              </a:rPr>
              <a:t>and guidance </a:t>
            </a:r>
            <a:r>
              <a:rPr dirty="0" sz="1200">
                <a:latin typeface="Arial"/>
                <a:cs typeface="Arial"/>
              </a:rPr>
              <a:t>to this </a:t>
            </a:r>
            <a:r>
              <a:rPr dirty="0" sz="1200" spc="-5">
                <a:latin typeface="Arial"/>
                <a:cs typeface="Arial"/>
              </a:rPr>
              <a:t>means guidance </a:t>
            </a:r>
            <a:r>
              <a:rPr dirty="0" sz="1200">
                <a:latin typeface="Arial"/>
                <a:cs typeface="Arial"/>
              </a:rPr>
              <a:t>to </a:t>
            </a:r>
            <a:r>
              <a:rPr dirty="0" sz="1200" spc="-5">
                <a:latin typeface="Arial"/>
                <a:cs typeface="Arial"/>
              </a:rPr>
              <a:t>that which </a:t>
            </a:r>
            <a:r>
              <a:rPr dirty="0" sz="1200">
                <a:latin typeface="Arial"/>
                <a:cs typeface="Arial"/>
              </a:rPr>
              <a:t>it  </a:t>
            </a:r>
            <a:r>
              <a:rPr dirty="0" sz="1200" spc="-5">
                <a:latin typeface="Arial"/>
                <a:cs typeface="Arial"/>
              </a:rPr>
              <a:t>prescribes </a:t>
            </a:r>
            <a:r>
              <a:rPr dirty="0" sz="1200">
                <a:latin typeface="Arial"/>
                <a:cs typeface="Arial"/>
              </a:rPr>
              <a:t>as </a:t>
            </a:r>
            <a:r>
              <a:rPr dirty="0" sz="1200" spc="-5">
                <a:latin typeface="Arial"/>
                <a:cs typeface="Arial"/>
              </a:rPr>
              <a:t>lawful or unlawful and </a:t>
            </a:r>
            <a:r>
              <a:rPr dirty="0" sz="1200">
                <a:latin typeface="Arial"/>
                <a:cs typeface="Arial"/>
              </a:rPr>
              <a:t>to the </a:t>
            </a:r>
            <a:r>
              <a:rPr dirty="0" sz="1200" spc="-5">
                <a:latin typeface="Arial"/>
                <a:cs typeface="Arial"/>
              </a:rPr>
              <a:t>exposition of </a:t>
            </a:r>
            <a:r>
              <a:rPr dirty="0" sz="1200">
                <a:latin typeface="Arial"/>
                <a:cs typeface="Arial"/>
              </a:rPr>
              <a:t>its</a:t>
            </a:r>
            <a:r>
              <a:rPr dirty="0" sz="1200" spc="-15">
                <a:latin typeface="Arial"/>
                <a:cs typeface="Arial"/>
              </a:rPr>
              <a:t> </a:t>
            </a:r>
            <a:r>
              <a:rPr dirty="0" sz="1200" spc="-5">
                <a:latin typeface="Arial"/>
                <a:cs typeface="Arial"/>
              </a:rPr>
              <a:t>content.</a:t>
            </a:r>
            <a:endParaRPr sz="1200">
              <a:latin typeface="Arial"/>
              <a:cs typeface="Arial"/>
            </a:endParaRPr>
          </a:p>
          <a:p>
            <a:pPr>
              <a:lnSpc>
                <a:spcPct val="100000"/>
              </a:lnSpc>
              <a:spcBef>
                <a:spcPts val="10"/>
              </a:spcBef>
            </a:pPr>
            <a:endParaRPr sz="1150">
              <a:latin typeface="Arial"/>
              <a:cs typeface="Arial"/>
            </a:endParaRPr>
          </a:p>
          <a:p>
            <a:pPr marL="2000250">
              <a:lnSpc>
                <a:spcPct val="100000"/>
              </a:lnSpc>
            </a:pPr>
            <a:r>
              <a:rPr dirty="0" baseline="3086" sz="2700" spc="-525" b="1">
                <a:latin typeface="Arial"/>
                <a:cs typeface="Arial"/>
              </a:rPr>
              <a:t>نَ ي</a:t>
            </a:r>
            <a:r>
              <a:rPr dirty="0" baseline="10802" sz="2700" spc="-525" b="1">
                <a:latin typeface="Arial"/>
                <a:cs typeface="Arial"/>
              </a:rPr>
              <a:t>ِّ</a:t>
            </a:r>
            <a:r>
              <a:rPr dirty="0" baseline="3086" sz="2700" spc="-525" b="1">
                <a:latin typeface="Arial"/>
                <a:cs typeface="Arial"/>
              </a:rPr>
              <a:t>لآض</a:t>
            </a:r>
            <a:r>
              <a:rPr dirty="0" sz="1800" spc="-350" b="1">
                <a:latin typeface="Arial"/>
                <a:cs typeface="Arial"/>
              </a:rPr>
              <a:t>َّ </a:t>
            </a:r>
            <a:r>
              <a:rPr dirty="0" baseline="3086" sz="2700" spc="-300" b="1">
                <a:latin typeface="Arial"/>
                <a:cs typeface="Arial"/>
              </a:rPr>
              <a:t>لٱ </a:t>
            </a:r>
            <a:r>
              <a:rPr dirty="0" baseline="9259" sz="2700" spc="-240" b="1">
                <a:latin typeface="Arial"/>
                <a:cs typeface="Arial"/>
              </a:rPr>
              <a:t>َ</a:t>
            </a:r>
            <a:r>
              <a:rPr dirty="0" baseline="3086" sz="2700" spc="-240" b="1">
                <a:latin typeface="Arial"/>
                <a:cs typeface="Arial"/>
              </a:rPr>
              <a:t>لاو</a:t>
            </a:r>
            <a:r>
              <a:rPr dirty="0" sz="1800" spc="-160" b="1">
                <a:latin typeface="Arial"/>
                <a:cs typeface="Arial"/>
              </a:rPr>
              <a:t>َ </a:t>
            </a:r>
            <a:r>
              <a:rPr dirty="0" baseline="3086" sz="2700" spc="-270" b="1">
                <a:latin typeface="Arial"/>
                <a:cs typeface="Arial"/>
              </a:rPr>
              <a:t>مه</a:t>
            </a:r>
            <a:r>
              <a:rPr dirty="0" baseline="-7716" sz="2700" spc="-270" b="1">
                <a:latin typeface="Arial"/>
                <a:cs typeface="Arial"/>
              </a:rPr>
              <a:t>ِ </a:t>
            </a:r>
            <a:r>
              <a:rPr dirty="0" baseline="3086" sz="2700" spc="-765" b="1">
                <a:latin typeface="Arial"/>
                <a:cs typeface="Arial"/>
              </a:rPr>
              <a:t>ي</a:t>
            </a:r>
            <a:r>
              <a:rPr dirty="0" sz="1800" spc="-509" b="1">
                <a:latin typeface="Arial"/>
                <a:cs typeface="Arial"/>
              </a:rPr>
              <a:t>ْ</a:t>
            </a:r>
            <a:r>
              <a:rPr dirty="0" sz="1800" spc="-155" b="1">
                <a:latin typeface="Arial"/>
                <a:cs typeface="Arial"/>
              </a:rPr>
              <a:t> </a:t>
            </a:r>
            <a:r>
              <a:rPr dirty="0" baseline="10802" sz="2700" spc="-450" b="1">
                <a:latin typeface="Arial"/>
                <a:cs typeface="Arial"/>
              </a:rPr>
              <a:t>َ</a:t>
            </a:r>
            <a:r>
              <a:rPr dirty="0" baseline="3086" sz="2700" spc="-450" b="1">
                <a:latin typeface="Arial"/>
                <a:cs typeface="Arial"/>
              </a:rPr>
              <a:t>لع</a:t>
            </a:r>
            <a:r>
              <a:rPr dirty="0" sz="1800" spc="-300" b="1">
                <a:latin typeface="Arial"/>
                <a:cs typeface="Arial"/>
              </a:rPr>
              <a:t>َ </a:t>
            </a:r>
            <a:r>
              <a:rPr dirty="0" baseline="3086" sz="2700" spc="-787" b="1">
                <a:latin typeface="Arial"/>
                <a:cs typeface="Arial"/>
              </a:rPr>
              <a:t>بِ</a:t>
            </a:r>
            <a:r>
              <a:rPr dirty="0" baseline="3086" sz="2700" spc="802" b="1">
                <a:latin typeface="Arial"/>
                <a:cs typeface="Arial"/>
              </a:rPr>
              <a:t> </a:t>
            </a:r>
            <a:r>
              <a:rPr dirty="0" baseline="3086" sz="2700" spc="-892" b="1">
                <a:latin typeface="Arial"/>
                <a:cs typeface="Arial"/>
              </a:rPr>
              <a:t>وض</a:t>
            </a:r>
            <a:r>
              <a:rPr dirty="0" sz="1800" spc="-595" b="1">
                <a:latin typeface="Arial"/>
                <a:cs typeface="Arial"/>
              </a:rPr>
              <a:t>ُ</a:t>
            </a:r>
            <a:r>
              <a:rPr dirty="0" sz="1800" spc="760" b="1">
                <a:latin typeface="Arial"/>
                <a:cs typeface="Arial"/>
              </a:rPr>
              <a:t> </a:t>
            </a:r>
            <a:r>
              <a:rPr dirty="0" baseline="3086" sz="2700" spc="-569" b="1">
                <a:latin typeface="Arial"/>
                <a:cs typeface="Arial"/>
              </a:rPr>
              <a:t>غ</a:t>
            </a:r>
            <a:r>
              <a:rPr dirty="0" baseline="10802" sz="2700" spc="-569" b="1">
                <a:latin typeface="Arial"/>
                <a:cs typeface="Arial"/>
              </a:rPr>
              <a:t>ْ </a:t>
            </a:r>
            <a:r>
              <a:rPr dirty="0" baseline="3086" sz="2700" spc="-397" b="1">
                <a:latin typeface="Arial"/>
                <a:cs typeface="Arial"/>
              </a:rPr>
              <a:t>م</a:t>
            </a:r>
            <a:r>
              <a:rPr dirty="0" sz="1800" spc="-265" b="1">
                <a:latin typeface="Arial"/>
                <a:cs typeface="Arial"/>
              </a:rPr>
              <a:t>َ </a:t>
            </a:r>
            <a:r>
              <a:rPr dirty="0" baseline="3086" sz="2700" spc="-577" b="1">
                <a:latin typeface="Arial"/>
                <a:cs typeface="Arial"/>
              </a:rPr>
              <a:t>ل</a:t>
            </a:r>
            <a:r>
              <a:rPr dirty="0" baseline="10802" sz="2700" spc="-577" b="1">
                <a:latin typeface="Arial"/>
                <a:cs typeface="Arial"/>
              </a:rPr>
              <a:t>ْ </a:t>
            </a:r>
            <a:r>
              <a:rPr dirty="0" baseline="3086" sz="2700" b="1">
                <a:latin typeface="Arial"/>
                <a:cs typeface="Arial"/>
              </a:rPr>
              <a:t>ٱ </a:t>
            </a:r>
            <a:r>
              <a:rPr dirty="0" baseline="3086" sz="2700" spc="-390" b="1">
                <a:latin typeface="Arial"/>
                <a:cs typeface="Arial"/>
              </a:rPr>
              <a:t>ر</a:t>
            </a:r>
            <a:r>
              <a:rPr dirty="0" baseline="-9259" sz="2700" spc="-390" b="1">
                <a:latin typeface="Arial"/>
                <a:cs typeface="Arial"/>
              </a:rPr>
              <a:t>ِ </a:t>
            </a:r>
            <a:r>
              <a:rPr dirty="0" baseline="3086" sz="2700" spc="-765" b="1">
                <a:latin typeface="Arial"/>
                <a:cs typeface="Arial"/>
              </a:rPr>
              <a:t>ي</a:t>
            </a:r>
            <a:r>
              <a:rPr dirty="0" sz="1800" spc="-509" b="1">
                <a:latin typeface="Arial"/>
                <a:cs typeface="Arial"/>
              </a:rPr>
              <a:t>ْ</a:t>
            </a:r>
            <a:r>
              <a:rPr dirty="0" sz="1800" spc="-155" b="1">
                <a:latin typeface="Arial"/>
                <a:cs typeface="Arial"/>
              </a:rPr>
              <a:t> </a:t>
            </a:r>
            <a:r>
              <a:rPr dirty="0" baseline="3086" sz="2700" spc="-600" b="1">
                <a:latin typeface="Arial"/>
                <a:cs typeface="Arial"/>
              </a:rPr>
              <a:t>غ</a:t>
            </a:r>
            <a:r>
              <a:rPr dirty="0" baseline="10802" sz="2700" spc="-600" b="1">
                <a:latin typeface="Arial"/>
                <a:cs typeface="Arial"/>
              </a:rPr>
              <a:t>َ </a:t>
            </a:r>
            <a:r>
              <a:rPr dirty="0" baseline="3086" sz="2700" spc="-382" b="1">
                <a:latin typeface="Arial"/>
                <a:cs typeface="Arial"/>
              </a:rPr>
              <a:t>م</a:t>
            </a:r>
            <a:r>
              <a:rPr dirty="0" baseline="-6172" sz="2700" spc="-382" b="1">
                <a:latin typeface="Arial"/>
                <a:cs typeface="Arial"/>
              </a:rPr>
              <a:t>ْ </a:t>
            </a:r>
            <a:r>
              <a:rPr dirty="0" baseline="3086" sz="2700" spc="-397" b="1">
                <a:latin typeface="Arial"/>
                <a:cs typeface="Arial"/>
              </a:rPr>
              <a:t>ه</a:t>
            </a:r>
            <a:r>
              <a:rPr dirty="0" baseline="-7716" sz="2700" spc="-397" b="1">
                <a:latin typeface="Arial"/>
                <a:cs typeface="Arial"/>
              </a:rPr>
              <a:t>ِ </a:t>
            </a:r>
            <a:r>
              <a:rPr dirty="0" baseline="3086" sz="2700" spc="-765" b="1">
                <a:latin typeface="Arial"/>
                <a:cs typeface="Arial"/>
              </a:rPr>
              <a:t>ي</a:t>
            </a:r>
            <a:r>
              <a:rPr dirty="0" sz="1800" spc="-509" b="1">
                <a:latin typeface="Arial"/>
                <a:cs typeface="Arial"/>
              </a:rPr>
              <a:t>ْ</a:t>
            </a:r>
            <a:r>
              <a:rPr dirty="0" sz="1800" spc="-150" b="1">
                <a:latin typeface="Arial"/>
                <a:cs typeface="Arial"/>
              </a:rPr>
              <a:t> </a:t>
            </a:r>
            <a:r>
              <a:rPr dirty="0" baseline="3086" sz="2700" spc="-615" b="1">
                <a:latin typeface="Arial"/>
                <a:cs typeface="Arial"/>
              </a:rPr>
              <a:t>ل</a:t>
            </a:r>
            <a:r>
              <a:rPr dirty="0" baseline="10802" sz="2700" spc="-615" b="1">
                <a:latin typeface="Arial"/>
                <a:cs typeface="Arial"/>
              </a:rPr>
              <a:t>َ </a:t>
            </a:r>
            <a:r>
              <a:rPr dirty="0" baseline="3086" sz="2700" spc="-600" b="1">
                <a:latin typeface="Arial"/>
                <a:cs typeface="Arial"/>
              </a:rPr>
              <a:t>ع</a:t>
            </a:r>
            <a:r>
              <a:rPr dirty="0" sz="1800" spc="-400" b="1">
                <a:latin typeface="Arial"/>
                <a:cs typeface="Arial"/>
              </a:rPr>
              <a:t>َ </a:t>
            </a:r>
            <a:r>
              <a:rPr dirty="0" baseline="3086" sz="2700" spc="-682" b="1">
                <a:latin typeface="Arial"/>
                <a:cs typeface="Arial"/>
              </a:rPr>
              <a:t>ت</a:t>
            </a:r>
            <a:r>
              <a:rPr dirty="0" baseline="4629" sz="2700" spc="-682" b="1">
                <a:latin typeface="Arial"/>
                <a:cs typeface="Arial"/>
              </a:rPr>
              <a:t>َ </a:t>
            </a:r>
            <a:r>
              <a:rPr dirty="0" baseline="3086" sz="2700" spc="-359" b="1">
                <a:latin typeface="Arial"/>
                <a:cs typeface="Arial"/>
              </a:rPr>
              <a:t>م</a:t>
            </a:r>
            <a:r>
              <a:rPr dirty="0" sz="1800" spc="-240" b="1">
                <a:latin typeface="Arial"/>
                <a:cs typeface="Arial"/>
              </a:rPr>
              <a:t>ْ </a:t>
            </a:r>
            <a:r>
              <a:rPr dirty="0" baseline="3086" sz="2700" spc="-600" b="1">
                <a:latin typeface="Arial"/>
                <a:cs typeface="Arial"/>
              </a:rPr>
              <a:t>ع</a:t>
            </a:r>
            <a:r>
              <a:rPr dirty="0" sz="1800" spc="-400" b="1">
                <a:latin typeface="Arial"/>
                <a:cs typeface="Arial"/>
              </a:rPr>
              <a:t>َ </a:t>
            </a:r>
            <a:r>
              <a:rPr dirty="0" baseline="3086" sz="2700" spc="-630" b="1">
                <a:latin typeface="Arial"/>
                <a:cs typeface="Arial"/>
              </a:rPr>
              <a:t>ن</a:t>
            </a:r>
            <a:r>
              <a:rPr dirty="0" baseline="7716" sz="2700" spc="-630" b="1">
                <a:latin typeface="Arial"/>
                <a:cs typeface="Arial"/>
              </a:rPr>
              <a:t>ْ </a:t>
            </a:r>
            <a:r>
              <a:rPr dirty="0" baseline="16975" sz="2700" b="1">
                <a:latin typeface="Arial"/>
                <a:cs typeface="Arial"/>
              </a:rPr>
              <a:t>َ</a:t>
            </a:r>
            <a:r>
              <a:rPr dirty="0" baseline="3086" sz="2700" b="1">
                <a:latin typeface="Arial"/>
                <a:cs typeface="Arial"/>
              </a:rPr>
              <a:t>أ </a:t>
            </a:r>
            <a:r>
              <a:rPr dirty="0" baseline="3086" sz="2700" spc="-517" b="1">
                <a:latin typeface="Arial"/>
                <a:cs typeface="Arial"/>
              </a:rPr>
              <a:t>نَ </a:t>
            </a:r>
            <a:r>
              <a:rPr dirty="0" baseline="3086" sz="2700" spc="-585" b="1">
                <a:latin typeface="Arial"/>
                <a:cs typeface="Arial"/>
              </a:rPr>
              <a:t>يذِ </a:t>
            </a:r>
            <a:r>
              <a:rPr dirty="0" baseline="10802" sz="2700" spc="-150" b="1">
                <a:latin typeface="Arial"/>
                <a:cs typeface="Arial"/>
              </a:rPr>
              <a:t>َّ</a:t>
            </a:r>
            <a:r>
              <a:rPr dirty="0" baseline="3086" sz="2700" spc="-150" b="1">
                <a:latin typeface="Arial"/>
                <a:cs typeface="Arial"/>
              </a:rPr>
              <a:t>لٱ </a:t>
            </a:r>
            <a:r>
              <a:rPr dirty="0" baseline="3086" sz="2700" spc="-585" b="1">
                <a:latin typeface="Arial"/>
                <a:cs typeface="Arial"/>
              </a:rPr>
              <a:t>ط</a:t>
            </a:r>
            <a:r>
              <a:rPr dirty="0" baseline="13888" sz="2700" spc="-585" b="1">
                <a:latin typeface="Arial"/>
                <a:cs typeface="Arial"/>
              </a:rPr>
              <a:t>َ </a:t>
            </a:r>
            <a:r>
              <a:rPr dirty="0" baseline="3086" sz="2700" spc="-277" b="1">
                <a:latin typeface="Arial"/>
                <a:cs typeface="Arial"/>
              </a:rPr>
              <a:t>ار</a:t>
            </a:r>
            <a:r>
              <a:rPr dirty="0" sz="1800" spc="-185" b="1">
                <a:latin typeface="Arial"/>
                <a:cs typeface="Arial"/>
              </a:rPr>
              <a:t>َ</a:t>
            </a:r>
            <a:r>
              <a:rPr dirty="0" sz="1800" spc="-265" b="1">
                <a:latin typeface="Arial"/>
                <a:cs typeface="Arial"/>
              </a:rPr>
              <a:t> </a:t>
            </a:r>
            <a:r>
              <a:rPr dirty="0" baseline="3086" sz="2700" spc="-2407" b="1">
                <a:latin typeface="Arial"/>
                <a:cs typeface="Arial"/>
              </a:rPr>
              <a:t>ص</a:t>
            </a:r>
            <a:endParaRPr baseline="3086" sz="2700">
              <a:latin typeface="Arial"/>
              <a:cs typeface="Arial"/>
            </a:endParaRPr>
          </a:p>
          <a:p>
            <a:pPr algn="just" marL="101600" marR="127000">
              <a:lnSpc>
                <a:spcPts val="1380"/>
              </a:lnSpc>
              <a:spcBef>
                <a:spcPts val="1140"/>
              </a:spcBef>
            </a:pPr>
            <a:r>
              <a:rPr dirty="0" sz="1200" spc="-5" i="1">
                <a:latin typeface="Arial"/>
                <a:cs typeface="Arial"/>
              </a:rPr>
              <a:t>The path of those whom </a:t>
            </a:r>
            <a:r>
              <a:rPr dirty="0" sz="1200" i="1">
                <a:latin typeface="Arial"/>
                <a:cs typeface="Arial"/>
              </a:rPr>
              <a:t>Thou </a:t>
            </a:r>
            <a:r>
              <a:rPr dirty="0" sz="1200" spc="-5" i="1">
                <a:latin typeface="Arial"/>
                <a:cs typeface="Arial"/>
              </a:rPr>
              <a:t>hast favoured; Not (the path) of those </a:t>
            </a:r>
            <a:r>
              <a:rPr dirty="0" sz="1200" i="1">
                <a:latin typeface="Arial"/>
                <a:cs typeface="Arial"/>
              </a:rPr>
              <a:t>who </a:t>
            </a:r>
            <a:r>
              <a:rPr dirty="0" sz="1200" spc="-5" i="1">
                <a:latin typeface="Arial"/>
                <a:cs typeface="Arial"/>
              </a:rPr>
              <a:t>earn Thine anger  </a:t>
            </a:r>
            <a:r>
              <a:rPr dirty="0" sz="1200" spc="-5" i="1">
                <a:latin typeface="Arial"/>
                <a:cs typeface="Arial"/>
              </a:rPr>
              <a:t>nor of those who go</a:t>
            </a:r>
            <a:r>
              <a:rPr dirty="0" sz="1200" i="1">
                <a:latin typeface="Arial"/>
                <a:cs typeface="Arial"/>
              </a:rPr>
              <a:t> </a:t>
            </a:r>
            <a:r>
              <a:rPr dirty="0" sz="1200" spc="-5" i="1">
                <a:latin typeface="Arial"/>
                <a:cs typeface="Arial"/>
              </a:rPr>
              <a:t>astray</a:t>
            </a:r>
            <a:endParaRPr sz="1200">
              <a:latin typeface="Arial"/>
              <a:cs typeface="Arial"/>
            </a:endParaRPr>
          </a:p>
          <a:p>
            <a:pPr>
              <a:lnSpc>
                <a:spcPct val="100000"/>
              </a:lnSpc>
              <a:spcBef>
                <a:spcPts val="15"/>
              </a:spcBef>
            </a:pPr>
            <a:endParaRPr sz="1200">
              <a:latin typeface="Arial"/>
              <a:cs typeface="Arial"/>
            </a:endParaRPr>
          </a:p>
          <a:p>
            <a:pPr algn="just" marL="101600" marR="123189">
              <a:lnSpc>
                <a:spcPts val="1380"/>
              </a:lnSpc>
            </a:pPr>
            <a:r>
              <a:rPr dirty="0" sz="1200">
                <a:latin typeface="Arial"/>
                <a:cs typeface="Arial"/>
              </a:rPr>
              <a:t>(The </a:t>
            </a:r>
            <a:r>
              <a:rPr dirty="0" sz="1200" spc="-5">
                <a:latin typeface="Arial"/>
                <a:cs typeface="Arial"/>
              </a:rPr>
              <a:t>path of those whom Thou </a:t>
            </a:r>
            <a:r>
              <a:rPr dirty="0" sz="1200">
                <a:latin typeface="Arial"/>
                <a:cs typeface="Arial"/>
              </a:rPr>
              <a:t>hast </a:t>
            </a:r>
            <a:r>
              <a:rPr dirty="0" sz="1200" spc="-5">
                <a:latin typeface="Arial"/>
                <a:cs typeface="Arial"/>
              </a:rPr>
              <a:t>favoured), </a:t>
            </a:r>
            <a:r>
              <a:rPr dirty="0" sz="1200">
                <a:latin typeface="Arial"/>
                <a:cs typeface="Arial"/>
              </a:rPr>
              <a:t>the Religion of </a:t>
            </a:r>
            <a:r>
              <a:rPr dirty="0" sz="1200" spc="-10">
                <a:latin typeface="Arial"/>
                <a:cs typeface="Arial"/>
              </a:rPr>
              <a:t>those </a:t>
            </a:r>
            <a:r>
              <a:rPr dirty="0" sz="1200" spc="-5">
                <a:latin typeface="Arial"/>
                <a:cs typeface="Arial"/>
              </a:rPr>
              <a:t>whom You have </a:t>
            </a:r>
            <a:r>
              <a:rPr dirty="0" sz="1200">
                <a:latin typeface="Arial"/>
                <a:cs typeface="Arial"/>
              </a:rPr>
              <a:t>blessed  </a:t>
            </a:r>
            <a:r>
              <a:rPr dirty="0" sz="1200" spc="-5">
                <a:latin typeface="Arial"/>
                <a:cs typeface="Arial"/>
              </a:rPr>
              <a:t>with </a:t>
            </a:r>
            <a:r>
              <a:rPr dirty="0" sz="1200">
                <a:latin typeface="Arial"/>
                <a:cs typeface="Arial"/>
              </a:rPr>
              <a:t>the </a:t>
            </a:r>
            <a:r>
              <a:rPr dirty="0" sz="1200" spc="-5">
                <a:latin typeface="Arial"/>
                <a:cs typeface="Arial"/>
              </a:rPr>
              <a:t>Religion and </a:t>
            </a:r>
            <a:r>
              <a:rPr dirty="0" sz="1200" spc="-10">
                <a:latin typeface="Arial"/>
                <a:cs typeface="Arial"/>
              </a:rPr>
              <a:t>who </a:t>
            </a:r>
            <a:r>
              <a:rPr dirty="0" sz="1200" spc="-5">
                <a:latin typeface="Arial"/>
                <a:cs typeface="Arial"/>
              </a:rPr>
              <a:t>are </a:t>
            </a:r>
            <a:r>
              <a:rPr dirty="0" sz="1200">
                <a:latin typeface="Arial"/>
                <a:cs typeface="Arial"/>
              </a:rPr>
              <a:t>the </a:t>
            </a:r>
            <a:r>
              <a:rPr dirty="0" sz="1200" spc="-5">
                <a:latin typeface="Arial"/>
                <a:cs typeface="Arial"/>
              </a:rPr>
              <a:t>followers of Moses, before </a:t>
            </a:r>
            <a:r>
              <a:rPr dirty="0" sz="1200">
                <a:latin typeface="Arial"/>
                <a:cs typeface="Arial"/>
              </a:rPr>
              <a:t>the </a:t>
            </a:r>
            <a:r>
              <a:rPr dirty="0" sz="1200" spc="-5">
                <a:latin typeface="Arial"/>
                <a:cs typeface="Arial"/>
              </a:rPr>
              <a:t>blessings of Allah deserted  </a:t>
            </a:r>
            <a:r>
              <a:rPr dirty="0" sz="1200">
                <a:latin typeface="Arial"/>
                <a:cs typeface="Arial"/>
              </a:rPr>
              <a:t>them, </a:t>
            </a:r>
            <a:r>
              <a:rPr dirty="0" sz="1200" spc="-5">
                <a:latin typeface="Arial"/>
                <a:cs typeface="Arial"/>
              </a:rPr>
              <a:t>in that He shaded them with a white </a:t>
            </a:r>
            <a:r>
              <a:rPr dirty="0" sz="1200">
                <a:latin typeface="Arial"/>
                <a:cs typeface="Arial"/>
              </a:rPr>
              <a:t>cloud </a:t>
            </a:r>
            <a:r>
              <a:rPr dirty="0" sz="1200" spc="-5">
                <a:latin typeface="Arial"/>
                <a:cs typeface="Arial"/>
              </a:rPr>
              <a:t>and sent down on them honey and quails  when </a:t>
            </a:r>
            <a:r>
              <a:rPr dirty="0" sz="1200">
                <a:latin typeface="Arial"/>
                <a:cs typeface="Arial"/>
              </a:rPr>
              <a:t>they </a:t>
            </a:r>
            <a:r>
              <a:rPr dirty="0" sz="1200" spc="-5">
                <a:latin typeface="Arial"/>
                <a:cs typeface="Arial"/>
              </a:rPr>
              <a:t>were in </a:t>
            </a:r>
            <a:r>
              <a:rPr dirty="0" sz="1200">
                <a:latin typeface="Arial"/>
                <a:cs typeface="Arial"/>
              </a:rPr>
              <a:t>the </a:t>
            </a:r>
            <a:r>
              <a:rPr dirty="0" sz="1200" spc="-5">
                <a:latin typeface="Arial"/>
                <a:cs typeface="Arial"/>
              </a:rPr>
              <a:t>wilderness. </a:t>
            </a:r>
            <a:r>
              <a:rPr dirty="0" sz="1200">
                <a:latin typeface="Arial"/>
                <a:cs typeface="Arial"/>
              </a:rPr>
              <a:t>It </a:t>
            </a:r>
            <a:r>
              <a:rPr dirty="0" sz="1200" spc="-5">
                <a:latin typeface="Arial"/>
                <a:cs typeface="Arial"/>
              </a:rPr>
              <a:t>is also said </a:t>
            </a:r>
            <a:r>
              <a:rPr dirty="0" sz="1200">
                <a:latin typeface="Arial"/>
                <a:cs typeface="Arial"/>
              </a:rPr>
              <a:t>that (the </a:t>
            </a:r>
            <a:r>
              <a:rPr dirty="0" sz="1200" spc="-5">
                <a:latin typeface="Arial"/>
                <a:cs typeface="Arial"/>
              </a:rPr>
              <a:t>path of those whom Thou hast  favoured) refers </a:t>
            </a:r>
            <a:r>
              <a:rPr dirty="0" sz="1200">
                <a:latin typeface="Arial"/>
                <a:cs typeface="Arial"/>
              </a:rPr>
              <a:t>to </a:t>
            </a:r>
            <a:r>
              <a:rPr dirty="0" sz="1200" spc="-5">
                <a:latin typeface="Arial"/>
                <a:cs typeface="Arial"/>
              </a:rPr>
              <a:t>the prophets. (Not of those </a:t>
            </a:r>
            <a:r>
              <a:rPr dirty="0" sz="1200" spc="-10">
                <a:latin typeface="Arial"/>
                <a:cs typeface="Arial"/>
              </a:rPr>
              <a:t>who </a:t>
            </a:r>
            <a:r>
              <a:rPr dirty="0" sz="1200" spc="-5">
                <a:latin typeface="Arial"/>
                <a:cs typeface="Arial"/>
              </a:rPr>
              <a:t>earn Thine anger), not </a:t>
            </a:r>
            <a:r>
              <a:rPr dirty="0" sz="1200">
                <a:latin typeface="Arial"/>
                <a:cs typeface="Arial"/>
              </a:rPr>
              <a:t>the </a:t>
            </a:r>
            <a:r>
              <a:rPr dirty="0" sz="1200" spc="-5">
                <a:latin typeface="Arial"/>
                <a:cs typeface="Arial"/>
              </a:rPr>
              <a:t>religion of the  Jews </a:t>
            </a:r>
            <a:r>
              <a:rPr dirty="0" sz="1200" spc="-10">
                <a:latin typeface="Arial"/>
                <a:cs typeface="Arial"/>
              </a:rPr>
              <a:t>who </a:t>
            </a:r>
            <a:r>
              <a:rPr dirty="0" sz="1200" spc="-5">
                <a:latin typeface="Arial"/>
                <a:cs typeface="Arial"/>
              </a:rPr>
              <a:t>earned </a:t>
            </a:r>
            <a:r>
              <a:rPr dirty="0" sz="1200" spc="-10">
                <a:latin typeface="Arial"/>
                <a:cs typeface="Arial"/>
              </a:rPr>
              <a:t>Your </a:t>
            </a:r>
            <a:r>
              <a:rPr dirty="0" sz="1200" spc="-5">
                <a:latin typeface="Arial"/>
                <a:cs typeface="Arial"/>
              </a:rPr>
              <a:t>anger, whom You forsook and whose hearts You did not protect until  </a:t>
            </a:r>
            <a:r>
              <a:rPr dirty="0" sz="1200">
                <a:latin typeface="Arial"/>
                <a:cs typeface="Arial"/>
              </a:rPr>
              <a:t>they </a:t>
            </a:r>
            <a:r>
              <a:rPr dirty="0" sz="1200" spc="-5">
                <a:latin typeface="Arial"/>
                <a:cs typeface="Arial"/>
              </a:rPr>
              <a:t>became complaisant. (Nor of </a:t>
            </a:r>
            <a:r>
              <a:rPr dirty="0" sz="1200">
                <a:latin typeface="Arial"/>
                <a:cs typeface="Arial"/>
              </a:rPr>
              <a:t>those </a:t>
            </a:r>
            <a:r>
              <a:rPr dirty="0" sz="1200" spc="-10">
                <a:latin typeface="Arial"/>
                <a:cs typeface="Arial"/>
              </a:rPr>
              <a:t>who go </a:t>
            </a:r>
            <a:r>
              <a:rPr dirty="0" sz="1200" spc="-5">
                <a:latin typeface="Arial"/>
                <a:cs typeface="Arial"/>
              </a:rPr>
              <a:t>astray), nor </a:t>
            </a:r>
            <a:r>
              <a:rPr dirty="0" sz="1200">
                <a:latin typeface="Arial"/>
                <a:cs typeface="Arial"/>
              </a:rPr>
              <a:t>the </a:t>
            </a:r>
            <a:r>
              <a:rPr dirty="0" sz="1200" spc="-5">
                <a:latin typeface="Arial"/>
                <a:cs typeface="Arial"/>
              </a:rPr>
              <a:t>religion </a:t>
            </a:r>
            <a:r>
              <a:rPr dirty="0" sz="1200">
                <a:latin typeface="Arial"/>
                <a:cs typeface="Arial"/>
              </a:rPr>
              <a:t>of </a:t>
            </a:r>
            <a:r>
              <a:rPr dirty="0" sz="1200" spc="-5">
                <a:latin typeface="Arial"/>
                <a:cs typeface="Arial"/>
              </a:rPr>
              <a:t>the Christians  </a:t>
            </a:r>
            <a:r>
              <a:rPr dirty="0" sz="1200" spc="-10">
                <a:latin typeface="Arial"/>
                <a:cs typeface="Arial"/>
              </a:rPr>
              <a:t>who </a:t>
            </a:r>
            <a:r>
              <a:rPr dirty="0" sz="1200" spc="-5">
                <a:latin typeface="Arial"/>
                <a:cs typeface="Arial"/>
              </a:rPr>
              <a:t>erred </a:t>
            </a:r>
            <a:r>
              <a:rPr dirty="0" sz="1200">
                <a:latin typeface="Arial"/>
                <a:cs typeface="Arial"/>
              </a:rPr>
              <a:t>from </a:t>
            </a:r>
            <a:r>
              <a:rPr dirty="0" sz="1200" spc="-5">
                <a:latin typeface="Arial"/>
                <a:cs typeface="Arial"/>
              </a:rPr>
              <a:t>Islam. Amen: thus shall be </a:t>
            </a:r>
            <a:r>
              <a:rPr dirty="0" sz="1200">
                <a:latin typeface="Arial"/>
                <a:cs typeface="Arial"/>
              </a:rPr>
              <a:t>its </a:t>
            </a:r>
            <a:r>
              <a:rPr dirty="0" sz="1200" spc="-5">
                <a:latin typeface="Arial"/>
                <a:cs typeface="Arial"/>
              </a:rPr>
              <a:t>custodians; </a:t>
            </a:r>
            <a:r>
              <a:rPr dirty="0" sz="1200">
                <a:latin typeface="Arial"/>
                <a:cs typeface="Arial"/>
              </a:rPr>
              <a:t>it </a:t>
            </a:r>
            <a:r>
              <a:rPr dirty="0" sz="1200" spc="-5">
                <a:latin typeface="Arial"/>
                <a:cs typeface="Arial"/>
              </a:rPr>
              <a:t>is also said </a:t>
            </a:r>
            <a:r>
              <a:rPr dirty="0" sz="1200">
                <a:latin typeface="Arial"/>
                <a:cs typeface="Arial"/>
              </a:rPr>
              <a:t>that </a:t>
            </a:r>
            <a:r>
              <a:rPr dirty="0" sz="1200" spc="-5">
                <a:latin typeface="Arial"/>
                <a:cs typeface="Arial"/>
              </a:rPr>
              <a:t>Amen means </a:t>
            </a:r>
            <a:r>
              <a:rPr dirty="0" sz="1200" spc="-10">
                <a:latin typeface="Arial"/>
                <a:cs typeface="Arial"/>
              </a:rPr>
              <a:t>let  </a:t>
            </a:r>
            <a:r>
              <a:rPr dirty="0" sz="1200">
                <a:latin typeface="Arial"/>
                <a:cs typeface="Arial"/>
              </a:rPr>
              <a:t>it be </a:t>
            </a:r>
            <a:r>
              <a:rPr dirty="0" sz="1200" spc="-5">
                <a:latin typeface="Arial"/>
                <a:cs typeface="Arial"/>
              </a:rPr>
              <a:t>so. </a:t>
            </a:r>
            <a:r>
              <a:rPr dirty="0" sz="1200">
                <a:latin typeface="Arial"/>
                <a:cs typeface="Arial"/>
              </a:rPr>
              <a:t>It </a:t>
            </a:r>
            <a:r>
              <a:rPr dirty="0" sz="1200" spc="-5">
                <a:latin typeface="Arial"/>
                <a:cs typeface="Arial"/>
              </a:rPr>
              <a:t>is </a:t>
            </a:r>
            <a:r>
              <a:rPr dirty="0" sz="1200">
                <a:latin typeface="Arial"/>
                <a:cs typeface="Arial"/>
              </a:rPr>
              <a:t>also </a:t>
            </a:r>
            <a:r>
              <a:rPr dirty="0" sz="1200" spc="-5">
                <a:latin typeface="Arial"/>
                <a:cs typeface="Arial"/>
              </a:rPr>
              <a:t>said that </a:t>
            </a:r>
            <a:r>
              <a:rPr dirty="0" sz="1200">
                <a:latin typeface="Arial"/>
                <a:cs typeface="Arial"/>
              </a:rPr>
              <a:t>it </a:t>
            </a:r>
            <a:r>
              <a:rPr dirty="0" sz="1200" spc="-5">
                <a:latin typeface="Arial"/>
                <a:cs typeface="Arial"/>
              </a:rPr>
              <a:t>means: </a:t>
            </a:r>
            <a:r>
              <a:rPr dirty="0" sz="1200">
                <a:latin typeface="Arial"/>
                <a:cs typeface="Arial"/>
              </a:rPr>
              <a:t>O </a:t>
            </a:r>
            <a:r>
              <a:rPr dirty="0" sz="1200" spc="-5">
                <a:latin typeface="Arial"/>
                <a:cs typeface="Arial"/>
              </a:rPr>
              <a:t>our Lord! Do with </a:t>
            </a:r>
            <a:r>
              <a:rPr dirty="0" sz="1200">
                <a:latin typeface="Arial"/>
                <a:cs typeface="Arial"/>
              </a:rPr>
              <a:t>us </a:t>
            </a:r>
            <a:r>
              <a:rPr dirty="0" sz="1200" spc="-5">
                <a:latin typeface="Arial"/>
                <a:cs typeface="Arial"/>
              </a:rPr>
              <a:t>as </a:t>
            </a:r>
            <a:r>
              <a:rPr dirty="0" sz="1200" spc="-10">
                <a:latin typeface="Arial"/>
                <a:cs typeface="Arial"/>
              </a:rPr>
              <a:t>we have </a:t>
            </a:r>
            <a:r>
              <a:rPr dirty="0" sz="1200" spc="-5">
                <a:latin typeface="Arial"/>
                <a:cs typeface="Arial"/>
              </a:rPr>
              <a:t>requested</a:t>
            </a:r>
            <a:r>
              <a:rPr dirty="0" sz="1200" spc="95">
                <a:latin typeface="Arial"/>
                <a:cs typeface="Arial"/>
              </a:rPr>
              <a:t> </a:t>
            </a:r>
            <a:r>
              <a:rPr dirty="0" sz="1200" spc="-5">
                <a:latin typeface="Arial"/>
                <a:cs typeface="Arial"/>
              </a:rPr>
              <a:t>You.</a:t>
            </a:r>
            <a:endParaRPr sz="1200">
              <a:latin typeface="Arial"/>
              <a:cs typeface="Arial"/>
            </a:endParaRPr>
          </a:p>
          <a:p>
            <a:pPr>
              <a:lnSpc>
                <a:spcPct val="100000"/>
              </a:lnSpc>
              <a:spcBef>
                <a:spcPts val="15"/>
              </a:spcBef>
            </a:pPr>
            <a:endParaRPr sz="1100">
              <a:latin typeface="Arial"/>
              <a:cs typeface="Arial"/>
            </a:endParaRPr>
          </a:p>
          <a:p>
            <a:pPr marL="101600">
              <a:lnSpc>
                <a:spcPct val="100000"/>
              </a:lnSpc>
              <a:spcBef>
                <a:spcPts val="5"/>
              </a:spcBef>
            </a:pPr>
            <a:r>
              <a:rPr dirty="0" sz="1200" spc="-5">
                <a:latin typeface="Arial"/>
                <a:cs typeface="Arial"/>
              </a:rPr>
              <a:t>And Allah knows </a:t>
            </a:r>
            <a:r>
              <a:rPr dirty="0" sz="1200">
                <a:latin typeface="Arial"/>
                <a:cs typeface="Arial"/>
              </a:rPr>
              <a:t>best'.</a:t>
            </a:r>
            <a:endParaRPr sz="1200">
              <a:latin typeface="Arial"/>
              <a:cs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629919" y="799592"/>
            <a:ext cx="6513195" cy="8625205"/>
          </a:xfrm>
          <a:prstGeom prst="rect">
            <a:avLst/>
          </a:prstGeom>
        </p:spPr>
        <p:txBody>
          <a:bodyPr wrap="square" lIns="0" tIns="12700" rIns="0" bIns="0" rtlCol="0" vert="horz">
            <a:spAutoFit/>
          </a:bodyPr>
          <a:lstStyle/>
          <a:p>
            <a:pPr marL="101600">
              <a:lnSpc>
                <a:spcPct val="100000"/>
              </a:lnSpc>
              <a:spcBef>
                <a:spcPts val="100"/>
              </a:spcBef>
            </a:pPr>
            <a:r>
              <a:rPr dirty="0" u="heavy" sz="1200" spc="-5" b="1" i="1">
                <a:uFill>
                  <a:solidFill>
                    <a:srgbClr val="000000"/>
                  </a:solidFill>
                </a:uFill>
                <a:latin typeface="Arial"/>
                <a:cs typeface="Arial"/>
              </a:rPr>
              <a:t>Surah Al Baqarah (2: </a:t>
            </a:r>
            <a:r>
              <a:rPr dirty="0" u="heavy" sz="1200" b="1" i="1">
                <a:uFill>
                  <a:solidFill>
                    <a:srgbClr val="000000"/>
                  </a:solidFill>
                </a:uFill>
                <a:latin typeface="Arial"/>
                <a:cs typeface="Arial"/>
              </a:rPr>
              <a:t>1-193)</a:t>
            </a:r>
            <a:endParaRPr sz="1200">
              <a:latin typeface="Arial"/>
              <a:cs typeface="Arial"/>
            </a:endParaRPr>
          </a:p>
          <a:p>
            <a:pPr>
              <a:lnSpc>
                <a:spcPct val="100000"/>
              </a:lnSpc>
              <a:spcBef>
                <a:spcPts val="35"/>
              </a:spcBef>
            </a:pPr>
            <a:endParaRPr sz="1200">
              <a:latin typeface="Arial"/>
              <a:cs typeface="Arial"/>
            </a:endParaRPr>
          </a:p>
          <a:p>
            <a:pPr algn="just" marL="101600" marR="123825">
              <a:lnSpc>
                <a:spcPts val="1380"/>
              </a:lnSpc>
            </a:pPr>
            <a:r>
              <a:rPr dirty="0" sz="1200">
                <a:latin typeface="Arial"/>
                <a:cs typeface="Arial"/>
              </a:rPr>
              <a:t>This </a:t>
            </a:r>
            <a:r>
              <a:rPr dirty="0" sz="1200" spc="-5">
                <a:latin typeface="Arial"/>
                <a:cs typeface="Arial"/>
              </a:rPr>
              <a:t>surah is considered </a:t>
            </a:r>
            <a:r>
              <a:rPr dirty="0" sz="1200">
                <a:latin typeface="Arial"/>
                <a:cs typeface="Arial"/>
              </a:rPr>
              <a:t>as </a:t>
            </a:r>
            <a:r>
              <a:rPr dirty="0" sz="1200" spc="-5">
                <a:latin typeface="Arial"/>
                <a:cs typeface="Arial"/>
              </a:rPr>
              <a:t>the longest surah </a:t>
            </a:r>
            <a:r>
              <a:rPr dirty="0" sz="1200">
                <a:latin typeface="Arial"/>
                <a:cs typeface="Arial"/>
              </a:rPr>
              <a:t>and according to </a:t>
            </a:r>
            <a:r>
              <a:rPr dirty="0" sz="1200" spc="-5">
                <a:latin typeface="Arial"/>
                <a:cs typeface="Arial"/>
              </a:rPr>
              <a:t>Hazrat </a:t>
            </a:r>
            <a:r>
              <a:rPr dirty="0" sz="1200" spc="-105">
                <a:latin typeface="Arial"/>
                <a:cs typeface="Arial"/>
              </a:rPr>
              <a:t>‗Ali </a:t>
            </a:r>
            <a:r>
              <a:rPr dirty="0" sz="1200" spc="-5">
                <a:latin typeface="Arial"/>
                <a:cs typeface="Arial"/>
              </a:rPr>
              <a:t>(ra) it englobes all  teachings </a:t>
            </a:r>
            <a:r>
              <a:rPr dirty="0" sz="1200">
                <a:latin typeface="Arial"/>
                <a:cs typeface="Arial"/>
              </a:rPr>
              <a:t>of </a:t>
            </a:r>
            <a:r>
              <a:rPr dirty="0" sz="1200" spc="-5">
                <a:latin typeface="Arial"/>
                <a:cs typeface="Arial"/>
              </a:rPr>
              <a:t>the Qur‘an. </a:t>
            </a:r>
            <a:r>
              <a:rPr dirty="0" sz="1200">
                <a:latin typeface="Arial"/>
                <a:cs typeface="Arial"/>
              </a:rPr>
              <a:t>There are many </a:t>
            </a:r>
            <a:r>
              <a:rPr dirty="0" sz="1200" spc="-5">
                <a:latin typeface="Arial"/>
                <a:cs typeface="Arial"/>
              </a:rPr>
              <a:t>topics discussed in that surah </a:t>
            </a:r>
            <a:r>
              <a:rPr dirty="0" sz="1200">
                <a:latin typeface="Arial"/>
                <a:cs typeface="Arial"/>
              </a:rPr>
              <a:t>and </a:t>
            </a:r>
            <a:r>
              <a:rPr dirty="0" sz="1200" spc="-5">
                <a:latin typeface="Arial"/>
                <a:cs typeface="Arial"/>
              </a:rPr>
              <a:t>the following </a:t>
            </a:r>
            <a:r>
              <a:rPr dirty="0" sz="1200">
                <a:latin typeface="Arial"/>
                <a:cs typeface="Arial"/>
              </a:rPr>
              <a:t>are  those </a:t>
            </a:r>
            <a:r>
              <a:rPr dirty="0" sz="1200" spc="-5">
                <a:latin typeface="Arial"/>
                <a:cs typeface="Arial"/>
              </a:rPr>
              <a:t>from verse 1 till 193 according to the</a:t>
            </a:r>
            <a:r>
              <a:rPr dirty="0" sz="1200">
                <a:latin typeface="Arial"/>
                <a:cs typeface="Arial"/>
              </a:rPr>
              <a:t> </a:t>
            </a:r>
            <a:r>
              <a:rPr dirty="0" sz="1200" spc="-5">
                <a:latin typeface="Arial"/>
                <a:cs typeface="Arial"/>
              </a:rPr>
              <a:t>syllabus.</a:t>
            </a:r>
            <a:endParaRPr sz="1200">
              <a:latin typeface="Arial"/>
              <a:cs typeface="Arial"/>
            </a:endParaRPr>
          </a:p>
          <a:p>
            <a:pPr>
              <a:lnSpc>
                <a:spcPct val="100000"/>
              </a:lnSpc>
              <a:spcBef>
                <a:spcPts val="20"/>
              </a:spcBef>
            </a:pPr>
            <a:endParaRPr sz="1100">
              <a:latin typeface="Arial"/>
              <a:cs typeface="Arial"/>
            </a:endParaRPr>
          </a:p>
          <a:p>
            <a:pPr marL="101600">
              <a:lnSpc>
                <a:spcPct val="100000"/>
              </a:lnSpc>
            </a:pPr>
            <a:r>
              <a:rPr dirty="0" sz="1200" spc="-5" b="1">
                <a:latin typeface="Arial"/>
                <a:cs typeface="Arial"/>
              </a:rPr>
              <a:t>(Verses 1 </a:t>
            </a:r>
            <a:r>
              <a:rPr dirty="0" sz="1200" b="1">
                <a:latin typeface="Arial"/>
                <a:cs typeface="Arial"/>
              </a:rPr>
              <a:t>–</a:t>
            </a:r>
            <a:r>
              <a:rPr dirty="0" sz="1200" spc="10" b="1">
                <a:latin typeface="Arial"/>
                <a:cs typeface="Arial"/>
              </a:rPr>
              <a:t> </a:t>
            </a:r>
            <a:r>
              <a:rPr dirty="0" sz="1200" spc="-5" b="1">
                <a:latin typeface="Arial"/>
                <a:cs typeface="Arial"/>
              </a:rPr>
              <a:t>20):</a:t>
            </a:r>
            <a:endParaRPr sz="1200">
              <a:latin typeface="Arial"/>
              <a:cs typeface="Arial"/>
            </a:endParaRPr>
          </a:p>
          <a:p>
            <a:pPr>
              <a:lnSpc>
                <a:spcPct val="100000"/>
              </a:lnSpc>
            </a:pPr>
            <a:endParaRPr sz="1200">
              <a:latin typeface="Arial"/>
              <a:cs typeface="Arial"/>
            </a:endParaRPr>
          </a:p>
          <a:p>
            <a:pPr algn="just" marL="101600" marR="116839">
              <a:lnSpc>
                <a:spcPct val="95900"/>
              </a:lnSpc>
            </a:pPr>
            <a:r>
              <a:rPr dirty="0" sz="1200" spc="-5">
                <a:latin typeface="Arial"/>
                <a:cs typeface="Arial"/>
              </a:rPr>
              <a:t>These introductory verses declare the Quran </a:t>
            </a:r>
            <a:r>
              <a:rPr dirty="0" sz="1200">
                <a:latin typeface="Arial"/>
                <a:cs typeface="Arial"/>
              </a:rPr>
              <a:t>to </a:t>
            </a:r>
            <a:r>
              <a:rPr dirty="0" sz="1200" spc="-5">
                <a:latin typeface="Arial"/>
                <a:cs typeface="Arial"/>
              </a:rPr>
              <a:t>be the Book of </a:t>
            </a:r>
            <a:r>
              <a:rPr dirty="0" sz="1200">
                <a:latin typeface="Arial"/>
                <a:cs typeface="Arial"/>
              </a:rPr>
              <a:t>Guidance: </a:t>
            </a:r>
            <a:r>
              <a:rPr dirty="0" sz="1200" spc="-5">
                <a:latin typeface="Arial"/>
                <a:cs typeface="Arial"/>
              </a:rPr>
              <a:t>enunciate the  articles of the </a:t>
            </a:r>
            <a:r>
              <a:rPr dirty="0" sz="1200">
                <a:latin typeface="Arial"/>
                <a:cs typeface="Arial"/>
              </a:rPr>
              <a:t>Faith </a:t>
            </a:r>
            <a:r>
              <a:rPr dirty="0" sz="1200" spc="-5">
                <a:latin typeface="Arial"/>
                <a:cs typeface="Arial"/>
              </a:rPr>
              <a:t>-- belief in Allah, Prophethood and Life-after-death; divide mankind </a:t>
            </a:r>
            <a:r>
              <a:rPr dirty="0" sz="1200" spc="-10">
                <a:latin typeface="Arial"/>
                <a:cs typeface="Arial"/>
              </a:rPr>
              <a:t>into  </a:t>
            </a:r>
            <a:r>
              <a:rPr dirty="0" sz="1200">
                <a:latin typeface="Arial"/>
                <a:cs typeface="Arial"/>
              </a:rPr>
              <a:t>three main </a:t>
            </a:r>
            <a:r>
              <a:rPr dirty="0" sz="1200" spc="-5">
                <a:latin typeface="Arial"/>
                <a:cs typeface="Arial"/>
              </a:rPr>
              <a:t>groups with regard </a:t>
            </a:r>
            <a:r>
              <a:rPr dirty="0" sz="1200">
                <a:latin typeface="Arial"/>
                <a:cs typeface="Arial"/>
              </a:rPr>
              <a:t>to its </a:t>
            </a:r>
            <a:r>
              <a:rPr dirty="0" sz="1200" spc="-5">
                <a:latin typeface="Arial"/>
                <a:cs typeface="Arial"/>
              </a:rPr>
              <a:t>acceptance or rejection -- Believers, disbelievers and  hypocrites. Allah elaborates </a:t>
            </a:r>
            <a:r>
              <a:rPr dirty="0" sz="1200" spc="-10">
                <a:latin typeface="Arial"/>
                <a:cs typeface="Arial"/>
              </a:rPr>
              <a:t>on </a:t>
            </a:r>
            <a:r>
              <a:rPr dirty="0" sz="1200" spc="-5">
                <a:latin typeface="Arial"/>
                <a:cs typeface="Arial"/>
              </a:rPr>
              <a:t>the characteristics </a:t>
            </a:r>
            <a:r>
              <a:rPr dirty="0" sz="1200">
                <a:latin typeface="Arial"/>
                <a:cs typeface="Arial"/>
              </a:rPr>
              <a:t>of the </a:t>
            </a:r>
            <a:r>
              <a:rPr dirty="0" sz="1200" spc="-5">
                <a:latin typeface="Arial"/>
                <a:cs typeface="Arial"/>
              </a:rPr>
              <a:t>believers </a:t>
            </a:r>
            <a:r>
              <a:rPr dirty="0" sz="1200" spc="-10">
                <a:latin typeface="Arial"/>
                <a:cs typeface="Arial"/>
              </a:rPr>
              <a:t>who </a:t>
            </a:r>
            <a:r>
              <a:rPr dirty="0" sz="1200" spc="-5">
                <a:latin typeface="Arial"/>
                <a:cs typeface="Arial"/>
              </a:rPr>
              <a:t>really believer in  Allah, then the unbelievers </a:t>
            </a:r>
            <a:r>
              <a:rPr dirty="0" sz="1200" spc="-10">
                <a:latin typeface="Arial"/>
                <a:cs typeface="Arial"/>
              </a:rPr>
              <a:t>who </a:t>
            </a:r>
            <a:r>
              <a:rPr dirty="0" sz="1200" spc="-5">
                <a:latin typeface="Arial"/>
                <a:cs typeface="Arial"/>
              </a:rPr>
              <a:t>openly declare their rejection of </a:t>
            </a:r>
            <a:r>
              <a:rPr dirty="0" sz="1200">
                <a:latin typeface="Arial"/>
                <a:cs typeface="Arial"/>
              </a:rPr>
              <a:t>Islam </a:t>
            </a:r>
            <a:r>
              <a:rPr dirty="0" sz="1200" spc="-5">
                <a:latin typeface="Arial"/>
                <a:cs typeface="Arial"/>
              </a:rPr>
              <a:t>and the </a:t>
            </a:r>
            <a:r>
              <a:rPr dirty="0" sz="1200">
                <a:latin typeface="Arial"/>
                <a:cs typeface="Arial"/>
              </a:rPr>
              <a:t>hypocrites  </a:t>
            </a:r>
            <a:r>
              <a:rPr dirty="0" sz="1200" spc="-5">
                <a:latin typeface="Arial"/>
                <a:cs typeface="Arial"/>
              </a:rPr>
              <a:t>whose hearts and what is therein are concealed. </a:t>
            </a:r>
            <a:r>
              <a:rPr dirty="0" sz="1200">
                <a:latin typeface="Arial"/>
                <a:cs typeface="Arial"/>
              </a:rPr>
              <a:t>To </a:t>
            </a:r>
            <a:r>
              <a:rPr dirty="0" sz="1200" spc="-5">
                <a:latin typeface="Arial"/>
                <a:cs typeface="Arial"/>
              </a:rPr>
              <a:t>one they are Muslims </a:t>
            </a:r>
            <a:r>
              <a:rPr dirty="0" sz="1200">
                <a:latin typeface="Arial"/>
                <a:cs typeface="Arial"/>
              </a:rPr>
              <a:t>to </a:t>
            </a:r>
            <a:r>
              <a:rPr dirty="0" sz="1200" spc="-5">
                <a:latin typeface="Arial"/>
                <a:cs typeface="Arial"/>
              </a:rPr>
              <a:t>others they are  </a:t>
            </a:r>
            <a:r>
              <a:rPr dirty="0" sz="1200">
                <a:latin typeface="Arial"/>
                <a:cs typeface="Arial"/>
              </a:rPr>
              <a:t>non </a:t>
            </a:r>
            <a:r>
              <a:rPr dirty="0" sz="1200" spc="-5">
                <a:latin typeface="Arial"/>
                <a:cs typeface="Arial"/>
              </a:rPr>
              <a:t>Muslims </a:t>
            </a:r>
            <a:r>
              <a:rPr dirty="0" sz="1200">
                <a:latin typeface="Arial"/>
                <a:cs typeface="Arial"/>
              </a:rPr>
              <a:t>… </a:t>
            </a:r>
            <a:r>
              <a:rPr dirty="0" sz="1200" spc="-5">
                <a:latin typeface="Arial"/>
                <a:cs typeface="Arial"/>
              </a:rPr>
              <a:t>they </a:t>
            </a:r>
            <a:r>
              <a:rPr dirty="0" sz="1200">
                <a:latin typeface="Arial"/>
                <a:cs typeface="Arial"/>
              </a:rPr>
              <a:t>are </a:t>
            </a:r>
            <a:r>
              <a:rPr dirty="0" sz="1200" spc="-5">
                <a:latin typeface="Arial"/>
                <a:cs typeface="Arial"/>
              </a:rPr>
              <a:t>the</a:t>
            </a:r>
            <a:r>
              <a:rPr dirty="0" sz="1200" spc="-10">
                <a:latin typeface="Arial"/>
                <a:cs typeface="Arial"/>
              </a:rPr>
              <a:t> </a:t>
            </a:r>
            <a:r>
              <a:rPr dirty="0" sz="1200" spc="-5">
                <a:latin typeface="Arial"/>
                <a:cs typeface="Arial"/>
              </a:rPr>
              <a:t>hypocrites.</a:t>
            </a:r>
            <a:endParaRPr sz="1200">
              <a:latin typeface="Arial"/>
              <a:cs typeface="Arial"/>
            </a:endParaRPr>
          </a:p>
          <a:p>
            <a:pPr>
              <a:lnSpc>
                <a:spcPct val="100000"/>
              </a:lnSpc>
              <a:spcBef>
                <a:spcPts val="35"/>
              </a:spcBef>
            </a:pPr>
            <a:endParaRPr sz="1200">
              <a:latin typeface="Arial"/>
              <a:cs typeface="Arial"/>
            </a:endParaRPr>
          </a:p>
          <a:p>
            <a:pPr algn="just" marL="101600" marR="116839">
              <a:lnSpc>
                <a:spcPts val="1380"/>
              </a:lnSpc>
            </a:pPr>
            <a:r>
              <a:rPr dirty="0" sz="1200">
                <a:latin typeface="Arial"/>
                <a:cs typeface="Arial"/>
              </a:rPr>
              <a:t>Concerning </a:t>
            </a:r>
            <a:r>
              <a:rPr dirty="0" sz="1200" spc="-5">
                <a:latin typeface="Arial"/>
                <a:cs typeface="Arial"/>
              </a:rPr>
              <a:t>the </a:t>
            </a:r>
            <a:r>
              <a:rPr dirty="0" sz="1200">
                <a:latin typeface="Arial"/>
                <a:cs typeface="Arial"/>
              </a:rPr>
              <a:t>first </a:t>
            </a:r>
            <a:r>
              <a:rPr dirty="0" sz="1200" spc="-5">
                <a:latin typeface="Arial"/>
                <a:cs typeface="Arial"/>
              </a:rPr>
              <a:t>verse of the surah, Hazrat Abdullah Ibn Abbas (ra) said: </a:t>
            </a:r>
            <a:r>
              <a:rPr dirty="0" sz="1200" spc="-75">
                <a:latin typeface="Arial"/>
                <a:cs typeface="Arial"/>
              </a:rPr>
              <a:t>―concerning  </a:t>
            </a:r>
            <a:r>
              <a:rPr dirty="0" sz="1200" spc="-5">
                <a:latin typeface="Arial"/>
                <a:cs typeface="Arial"/>
              </a:rPr>
              <a:t>Allah's saying, exalted is </a:t>
            </a:r>
            <a:r>
              <a:rPr dirty="0" sz="1200">
                <a:latin typeface="Arial"/>
                <a:cs typeface="Arial"/>
              </a:rPr>
              <a:t>He, (Alif. </a:t>
            </a:r>
            <a:r>
              <a:rPr dirty="0" sz="1200" spc="-5">
                <a:latin typeface="Arial"/>
                <a:cs typeface="Arial"/>
              </a:rPr>
              <a:t>Lam. Mim): </a:t>
            </a:r>
            <a:r>
              <a:rPr dirty="0" sz="1200">
                <a:latin typeface="Arial"/>
                <a:cs typeface="Arial"/>
              </a:rPr>
              <a:t>'Alif </a:t>
            </a:r>
            <a:r>
              <a:rPr dirty="0" sz="1200" spc="-5">
                <a:latin typeface="Arial"/>
                <a:cs typeface="Arial"/>
              </a:rPr>
              <a:t>stands </a:t>
            </a:r>
            <a:r>
              <a:rPr dirty="0" sz="1200">
                <a:latin typeface="Arial"/>
                <a:cs typeface="Arial"/>
              </a:rPr>
              <a:t>for </a:t>
            </a:r>
            <a:r>
              <a:rPr dirty="0" sz="1200" spc="-5">
                <a:latin typeface="Arial"/>
                <a:cs typeface="Arial"/>
              </a:rPr>
              <a:t>Allah, Lam </a:t>
            </a:r>
            <a:r>
              <a:rPr dirty="0" sz="1200">
                <a:latin typeface="Arial"/>
                <a:cs typeface="Arial"/>
              </a:rPr>
              <a:t>for the </a:t>
            </a:r>
            <a:r>
              <a:rPr dirty="0" sz="1200" spc="-5">
                <a:latin typeface="Arial"/>
                <a:cs typeface="Arial"/>
              </a:rPr>
              <a:t>Archangel  Gabriel (Jibril) and </a:t>
            </a:r>
            <a:r>
              <a:rPr dirty="0" sz="1200">
                <a:latin typeface="Arial"/>
                <a:cs typeface="Arial"/>
              </a:rPr>
              <a:t>Mim for </a:t>
            </a:r>
            <a:r>
              <a:rPr dirty="0" sz="1200" spc="-5">
                <a:latin typeface="Arial"/>
                <a:cs typeface="Arial"/>
              </a:rPr>
              <a:t>Muhammad. </a:t>
            </a:r>
            <a:r>
              <a:rPr dirty="0" sz="1200">
                <a:latin typeface="Arial"/>
                <a:cs typeface="Arial"/>
              </a:rPr>
              <a:t>It </a:t>
            </a:r>
            <a:r>
              <a:rPr dirty="0" sz="1200" spc="-5">
                <a:latin typeface="Arial"/>
                <a:cs typeface="Arial"/>
              </a:rPr>
              <a:t>is also said Alif stands </a:t>
            </a:r>
            <a:r>
              <a:rPr dirty="0" sz="1200">
                <a:latin typeface="Arial"/>
                <a:cs typeface="Arial"/>
              </a:rPr>
              <a:t>for </a:t>
            </a:r>
            <a:r>
              <a:rPr dirty="0" sz="1200" spc="-5">
                <a:latin typeface="Arial"/>
                <a:cs typeface="Arial"/>
              </a:rPr>
              <a:t>Allah's blessings  </a:t>
            </a:r>
            <a:r>
              <a:rPr dirty="0" sz="1200">
                <a:latin typeface="Arial"/>
                <a:cs typeface="Arial"/>
              </a:rPr>
              <a:t>(ala'uh), </a:t>
            </a:r>
            <a:r>
              <a:rPr dirty="0" sz="1200" spc="-5">
                <a:latin typeface="Arial"/>
                <a:cs typeface="Arial"/>
              </a:rPr>
              <a:t>Lam </a:t>
            </a:r>
            <a:r>
              <a:rPr dirty="0" sz="1200">
                <a:latin typeface="Arial"/>
                <a:cs typeface="Arial"/>
              </a:rPr>
              <a:t>for </a:t>
            </a:r>
            <a:r>
              <a:rPr dirty="0" sz="1200" spc="-5">
                <a:latin typeface="Arial"/>
                <a:cs typeface="Arial"/>
              </a:rPr>
              <a:t>His kindness (lutfuh) and Mim </a:t>
            </a:r>
            <a:r>
              <a:rPr dirty="0" sz="1200">
                <a:latin typeface="Arial"/>
                <a:cs typeface="Arial"/>
              </a:rPr>
              <a:t>for </a:t>
            </a:r>
            <a:r>
              <a:rPr dirty="0" sz="1200" spc="-5">
                <a:latin typeface="Arial"/>
                <a:cs typeface="Arial"/>
              </a:rPr>
              <a:t>His </a:t>
            </a:r>
            <a:r>
              <a:rPr dirty="0" sz="1200">
                <a:latin typeface="Arial"/>
                <a:cs typeface="Arial"/>
              </a:rPr>
              <a:t>dominion </a:t>
            </a:r>
            <a:r>
              <a:rPr dirty="0" sz="1200" spc="-5">
                <a:latin typeface="Arial"/>
                <a:cs typeface="Arial"/>
              </a:rPr>
              <a:t>(mulkuh). </a:t>
            </a:r>
            <a:r>
              <a:rPr dirty="0" sz="1200">
                <a:latin typeface="Arial"/>
                <a:cs typeface="Arial"/>
              </a:rPr>
              <a:t>It </a:t>
            </a:r>
            <a:r>
              <a:rPr dirty="0" sz="1200" spc="-5">
                <a:latin typeface="Arial"/>
                <a:cs typeface="Arial"/>
              </a:rPr>
              <a:t>is also said that  Alif stands </a:t>
            </a:r>
            <a:r>
              <a:rPr dirty="0" sz="1200">
                <a:latin typeface="Arial"/>
                <a:cs typeface="Arial"/>
              </a:rPr>
              <a:t>for </a:t>
            </a:r>
            <a:r>
              <a:rPr dirty="0" sz="1200" spc="-5">
                <a:latin typeface="Arial"/>
                <a:cs typeface="Arial"/>
              </a:rPr>
              <a:t>the beginning of the Name Allah, Lam </a:t>
            </a:r>
            <a:r>
              <a:rPr dirty="0" sz="1200">
                <a:latin typeface="Arial"/>
                <a:cs typeface="Arial"/>
              </a:rPr>
              <a:t>for </a:t>
            </a:r>
            <a:r>
              <a:rPr dirty="0" sz="1200" spc="-5">
                <a:latin typeface="Arial"/>
                <a:cs typeface="Arial"/>
              </a:rPr>
              <a:t>the beginning </a:t>
            </a:r>
            <a:r>
              <a:rPr dirty="0" sz="1200">
                <a:latin typeface="Arial"/>
                <a:cs typeface="Arial"/>
              </a:rPr>
              <a:t>of </a:t>
            </a:r>
            <a:r>
              <a:rPr dirty="0" sz="1200" spc="-5">
                <a:latin typeface="Arial"/>
                <a:cs typeface="Arial"/>
              </a:rPr>
              <a:t>His Name the Kind  (al-Latif) and Mim </a:t>
            </a:r>
            <a:r>
              <a:rPr dirty="0" sz="1200">
                <a:latin typeface="Arial"/>
                <a:cs typeface="Arial"/>
              </a:rPr>
              <a:t>for the </a:t>
            </a:r>
            <a:r>
              <a:rPr dirty="0" sz="1200" spc="-5">
                <a:latin typeface="Arial"/>
                <a:cs typeface="Arial"/>
              </a:rPr>
              <a:t>beginning of His </a:t>
            </a:r>
            <a:r>
              <a:rPr dirty="0" sz="1200">
                <a:latin typeface="Arial"/>
                <a:cs typeface="Arial"/>
              </a:rPr>
              <a:t>Name </a:t>
            </a:r>
            <a:r>
              <a:rPr dirty="0" sz="1200" spc="-5">
                <a:latin typeface="Arial"/>
                <a:cs typeface="Arial"/>
              </a:rPr>
              <a:t>the Glorious </a:t>
            </a:r>
            <a:r>
              <a:rPr dirty="0" sz="1200">
                <a:latin typeface="Arial"/>
                <a:cs typeface="Arial"/>
              </a:rPr>
              <a:t>(al-Majid). It </a:t>
            </a:r>
            <a:r>
              <a:rPr dirty="0" sz="1200" spc="-5">
                <a:latin typeface="Arial"/>
                <a:cs typeface="Arial"/>
              </a:rPr>
              <a:t>is also said </a:t>
            </a:r>
            <a:r>
              <a:rPr dirty="0" sz="1200">
                <a:latin typeface="Arial"/>
                <a:cs typeface="Arial"/>
              </a:rPr>
              <a:t>that  </a:t>
            </a:r>
            <a:r>
              <a:rPr dirty="0" sz="1200" spc="-5">
                <a:latin typeface="Arial"/>
                <a:cs typeface="Arial"/>
              </a:rPr>
              <a:t>only Allah </a:t>
            </a:r>
            <a:r>
              <a:rPr dirty="0" sz="1200" spc="-10">
                <a:latin typeface="Arial"/>
                <a:cs typeface="Arial"/>
              </a:rPr>
              <a:t>knows </a:t>
            </a:r>
            <a:r>
              <a:rPr dirty="0" sz="1200">
                <a:latin typeface="Arial"/>
                <a:cs typeface="Arial"/>
              </a:rPr>
              <a:t>the </a:t>
            </a:r>
            <a:r>
              <a:rPr dirty="0" sz="1200" spc="-5">
                <a:latin typeface="Arial"/>
                <a:cs typeface="Arial"/>
              </a:rPr>
              <a:t>meaning of these disjointed letters; while </a:t>
            </a:r>
            <a:r>
              <a:rPr dirty="0" sz="1200">
                <a:latin typeface="Arial"/>
                <a:cs typeface="Arial"/>
              </a:rPr>
              <a:t>some </a:t>
            </a:r>
            <a:r>
              <a:rPr dirty="0" sz="1200" spc="-5">
                <a:latin typeface="Arial"/>
                <a:cs typeface="Arial"/>
              </a:rPr>
              <a:t>maintain that </a:t>
            </a:r>
            <a:r>
              <a:rPr dirty="0" sz="1200">
                <a:latin typeface="Arial"/>
                <a:cs typeface="Arial"/>
              </a:rPr>
              <a:t>it </a:t>
            </a:r>
            <a:r>
              <a:rPr dirty="0" sz="1200" spc="-10">
                <a:latin typeface="Arial"/>
                <a:cs typeface="Arial"/>
              </a:rPr>
              <a:t>is an  </a:t>
            </a:r>
            <a:r>
              <a:rPr dirty="0" sz="1200" spc="-5">
                <a:latin typeface="Arial"/>
                <a:cs typeface="Arial"/>
              </a:rPr>
              <a:t>oath that He</a:t>
            </a:r>
            <a:r>
              <a:rPr dirty="0" sz="1200" spc="-10">
                <a:latin typeface="Arial"/>
                <a:cs typeface="Arial"/>
              </a:rPr>
              <a:t> </a:t>
            </a:r>
            <a:r>
              <a:rPr dirty="0" sz="1200" spc="-20">
                <a:latin typeface="Arial"/>
                <a:cs typeface="Arial"/>
              </a:rPr>
              <a:t>made.‖</a:t>
            </a:r>
            <a:endParaRPr sz="1200">
              <a:latin typeface="Arial"/>
              <a:cs typeface="Arial"/>
            </a:endParaRPr>
          </a:p>
          <a:p>
            <a:pPr>
              <a:lnSpc>
                <a:spcPct val="100000"/>
              </a:lnSpc>
              <a:spcBef>
                <a:spcPts val="20"/>
              </a:spcBef>
            </a:pPr>
            <a:endParaRPr sz="1100">
              <a:latin typeface="Arial"/>
              <a:cs typeface="Arial"/>
            </a:endParaRPr>
          </a:p>
          <a:p>
            <a:pPr marL="558800" indent="-229235">
              <a:lnSpc>
                <a:spcPct val="100000"/>
              </a:lnSpc>
              <a:buFont typeface="Wingdings"/>
              <a:buChar char=""/>
              <a:tabLst>
                <a:tab pos="559435" algn="l"/>
              </a:tabLst>
            </a:pPr>
            <a:r>
              <a:rPr dirty="0" u="heavy" sz="1200" spc="-5" b="1">
                <a:uFill>
                  <a:solidFill>
                    <a:srgbClr val="000000"/>
                  </a:solidFill>
                </a:uFill>
                <a:latin typeface="Arial"/>
                <a:cs typeface="Arial"/>
              </a:rPr>
              <a:t>Concerning the believers, </a:t>
            </a:r>
            <a:r>
              <a:rPr dirty="0" u="heavy" sz="1200" spc="-10" b="1">
                <a:uFill>
                  <a:solidFill>
                    <a:srgbClr val="000000"/>
                  </a:solidFill>
                </a:uFill>
                <a:latin typeface="Arial"/>
                <a:cs typeface="Arial"/>
              </a:rPr>
              <a:t>Allah</a:t>
            </a:r>
            <a:r>
              <a:rPr dirty="0" u="heavy" sz="1200" spc="35" b="1">
                <a:uFill>
                  <a:solidFill>
                    <a:srgbClr val="000000"/>
                  </a:solidFill>
                </a:uFill>
                <a:latin typeface="Arial"/>
                <a:cs typeface="Arial"/>
              </a:rPr>
              <a:t> </a:t>
            </a:r>
            <a:r>
              <a:rPr dirty="0" u="heavy" sz="1200" spc="-5" b="1">
                <a:uFill>
                  <a:solidFill>
                    <a:srgbClr val="000000"/>
                  </a:solidFill>
                </a:uFill>
                <a:latin typeface="Arial"/>
                <a:cs typeface="Arial"/>
              </a:rPr>
              <a:t>says:</a:t>
            </a:r>
            <a:endParaRPr sz="1200">
              <a:latin typeface="Arial"/>
              <a:cs typeface="Arial"/>
            </a:endParaRPr>
          </a:p>
          <a:p>
            <a:pPr>
              <a:lnSpc>
                <a:spcPct val="100000"/>
              </a:lnSpc>
            </a:pPr>
            <a:endParaRPr sz="1150">
              <a:latin typeface="Arial"/>
              <a:cs typeface="Arial"/>
            </a:endParaRPr>
          </a:p>
          <a:p>
            <a:pPr algn="r" marR="119380">
              <a:lnSpc>
                <a:spcPct val="100000"/>
              </a:lnSpc>
            </a:pPr>
            <a:r>
              <a:rPr dirty="0" baseline="1543" sz="2700" spc="-509">
                <a:latin typeface="Arial"/>
                <a:cs typeface="Arial"/>
              </a:rPr>
              <a:t>ن</a:t>
            </a:r>
            <a:r>
              <a:rPr dirty="0" baseline="-1543" sz="2700" spc="-509">
                <a:latin typeface="Arial"/>
                <a:cs typeface="Arial"/>
              </a:rPr>
              <a:t>َ </a:t>
            </a:r>
            <a:r>
              <a:rPr dirty="0" baseline="1543" sz="2700" spc="-600">
                <a:latin typeface="Arial"/>
                <a:cs typeface="Arial"/>
              </a:rPr>
              <a:t>و</a:t>
            </a:r>
            <a:r>
              <a:rPr dirty="0" baseline="9259" sz="2700" spc="-600">
                <a:latin typeface="Arial"/>
                <a:cs typeface="Arial"/>
              </a:rPr>
              <a:t>ُ</a:t>
            </a:r>
            <a:r>
              <a:rPr dirty="0" baseline="1543" sz="2700" spc="-600">
                <a:latin typeface="Arial"/>
                <a:cs typeface="Arial"/>
              </a:rPr>
              <a:t>قف</a:t>
            </a:r>
            <a:r>
              <a:rPr dirty="0" sz="1800" spc="-400">
                <a:latin typeface="Arial"/>
                <a:cs typeface="Arial"/>
              </a:rPr>
              <a:t>ِ </a:t>
            </a:r>
            <a:r>
              <a:rPr dirty="0" baseline="1543" sz="2700" spc="-607">
                <a:latin typeface="Arial"/>
                <a:cs typeface="Arial"/>
              </a:rPr>
              <a:t>ن</a:t>
            </a:r>
            <a:r>
              <a:rPr dirty="0" baseline="9259" sz="2700" spc="-607">
                <a:latin typeface="Arial"/>
                <a:cs typeface="Arial"/>
              </a:rPr>
              <a:t>ْ </a:t>
            </a:r>
            <a:r>
              <a:rPr dirty="0" baseline="1543" sz="270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 </a:t>
            </a:r>
            <a:r>
              <a:rPr dirty="0" baseline="1543" sz="2700" spc="-412">
                <a:latin typeface="Arial"/>
                <a:cs typeface="Arial"/>
              </a:rPr>
              <a:t>ان</a:t>
            </a:r>
            <a:r>
              <a:rPr dirty="0" baseline="6172" sz="2700" spc="-412">
                <a:latin typeface="Arial"/>
                <a:cs typeface="Arial"/>
              </a:rPr>
              <a:t>َ </a:t>
            </a:r>
            <a:r>
              <a:rPr dirty="0" baseline="1543" sz="2700" spc="-719">
                <a:latin typeface="Arial"/>
                <a:cs typeface="Arial"/>
              </a:rPr>
              <a:t>ق</a:t>
            </a:r>
            <a:r>
              <a:rPr dirty="0" baseline="9259" sz="2700" spc="-719">
                <a:latin typeface="Arial"/>
                <a:cs typeface="Arial"/>
              </a:rPr>
              <a:t>ْ </a:t>
            </a:r>
            <a:r>
              <a:rPr dirty="0" baseline="1543" sz="2700" spc="-494">
                <a:latin typeface="Arial"/>
                <a:cs typeface="Arial"/>
              </a:rPr>
              <a:t>ز</a:t>
            </a:r>
            <a:r>
              <a:rPr dirty="0" baseline="6172" sz="2700" spc="-494">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179">
                <a:latin typeface="Arial"/>
                <a:cs typeface="Arial"/>
              </a:rPr>
              <a:t>ام</a:t>
            </a:r>
            <a:r>
              <a:rPr dirty="0" sz="1800" spc="-120">
                <a:latin typeface="Arial"/>
                <a:cs typeface="Arial"/>
              </a:rPr>
              <a:t>َّ </a:t>
            </a:r>
            <a:r>
              <a:rPr dirty="0" baseline="1543" sz="2700" spc="-157">
                <a:latin typeface="Arial"/>
                <a:cs typeface="Arial"/>
              </a:rPr>
              <a:t>مو</a:t>
            </a:r>
            <a:r>
              <a:rPr dirty="0" baseline="-1543" sz="2700" spc="-157">
                <a:latin typeface="Arial"/>
                <a:cs typeface="Arial"/>
              </a:rPr>
              <a:t>َ </a:t>
            </a:r>
            <a:r>
              <a:rPr dirty="0" baseline="1543" sz="2700" spc="-345">
                <a:latin typeface="Arial"/>
                <a:cs typeface="Arial"/>
              </a:rPr>
              <a:t>ة</a:t>
            </a:r>
            <a:r>
              <a:rPr dirty="0" baseline="3086" sz="2700" spc="-345">
                <a:latin typeface="Arial"/>
                <a:cs typeface="Arial"/>
              </a:rPr>
              <a:t>َ </a:t>
            </a:r>
            <a:r>
              <a:rPr dirty="0" baseline="1543" sz="2700" spc="-615">
                <a:latin typeface="Arial"/>
                <a:cs typeface="Arial"/>
              </a:rPr>
              <a:t>لاص</a:t>
            </a:r>
            <a:r>
              <a:rPr dirty="0" sz="1800" spc="-409">
                <a:latin typeface="Arial"/>
                <a:cs typeface="Arial"/>
              </a:rPr>
              <a:t>َّ </a:t>
            </a:r>
            <a:r>
              <a:rPr dirty="0" baseline="1543" sz="2700" spc="-412">
                <a:latin typeface="Arial"/>
                <a:cs typeface="Arial"/>
              </a:rPr>
              <a:t>لٱ </a:t>
            </a:r>
            <a:r>
              <a:rPr dirty="0" baseline="1543" sz="2700" spc="-494">
                <a:latin typeface="Arial"/>
                <a:cs typeface="Arial"/>
              </a:rPr>
              <a:t>ن</a:t>
            </a:r>
            <a:r>
              <a:rPr dirty="0" baseline="-1543" sz="2700" spc="-494">
                <a:latin typeface="Arial"/>
                <a:cs typeface="Arial"/>
              </a:rPr>
              <a:t>َ </a:t>
            </a:r>
            <a:r>
              <a:rPr dirty="0" baseline="1543" sz="2700" spc="-270">
                <a:latin typeface="Arial"/>
                <a:cs typeface="Arial"/>
              </a:rPr>
              <a:t>ومُ </a:t>
            </a:r>
            <a:r>
              <a:rPr dirty="0" baseline="1543" sz="2700" spc="-525">
                <a:latin typeface="Arial"/>
                <a:cs typeface="Arial"/>
              </a:rPr>
              <a:t>ٌق</a:t>
            </a:r>
            <a:r>
              <a:rPr dirty="0" sz="1800" spc="-350">
                <a:latin typeface="Arial"/>
                <a:cs typeface="Arial"/>
              </a:rPr>
              <a:t>ِ </a:t>
            </a:r>
            <a:r>
              <a:rPr dirty="0" baseline="1543" sz="2700">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862">
                <a:latin typeface="Arial"/>
                <a:cs typeface="Arial"/>
              </a:rPr>
              <a:t>ب</a:t>
            </a:r>
            <a:r>
              <a:rPr dirty="0" sz="1800" spc="-575">
                <a:latin typeface="Arial"/>
                <a:cs typeface="Arial"/>
              </a:rPr>
              <a:t>ِ</a:t>
            </a:r>
            <a:r>
              <a:rPr dirty="0" sz="1800" spc="635">
                <a:latin typeface="Arial"/>
                <a:cs typeface="Arial"/>
              </a:rPr>
              <a:t> </a:t>
            </a:r>
            <a:r>
              <a:rPr dirty="0" baseline="1543" sz="2700">
                <a:latin typeface="Arial"/>
                <a:cs typeface="Arial"/>
              </a:rPr>
              <a:t>ٌْ </a:t>
            </a:r>
            <a:r>
              <a:rPr dirty="0" baseline="1543" sz="2700" spc="-727">
                <a:latin typeface="Arial"/>
                <a:cs typeface="Arial"/>
              </a:rPr>
              <a:t>ؽ</a:t>
            </a:r>
            <a:r>
              <a:rPr dirty="0" baseline="3086" sz="2700" spc="-727">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spc="-622">
                <a:latin typeface="Arial"/>
                <a:cs typeface="Arial"/>
              </a:rPr>
              <a:t>ٲب</a:t>
            </a:r>
            <a:r>
              <a:rPr dirty="0" baseline="-12345" sz="2700" spc="-622">
                <a:latin typeface="Arial"/>
                <a:cs typeface="Arial"/>
              </a:rPr>
              <a:t>ِ </a:t>
            </a:r>
            <a:r>
              <a:rPr dirty="0" baseline="1543" sz="2700" spc="-509">
                <a:latin typeface="Arial"/>
                <a:cs typeface="Arial"/>
              </a:rPr>
              <a:t>ن</a:t>
            </a:r>
            <a:r>
              <a:rPr dirty="0" baseline="-1543" sz="2700" spc="-509">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352">
                <a:latin typeface="Arial"/>
                <a:cs typeface="Arial"/>
              </a:rPr>
              <a:t>م</a:t>
            </a:r>
            <a:r>
              <a:rPr dirty="0" sz="1800" spc="-235">
                <a:latin typeface="Arial"/>
                <a:cs typeface="Arial"/>
              </a:rPr>
              <a:t>ِ </a:t>
            </a:r>
            <a:r>
              <a:rPr dirty="0" baseline="1543" sz="2700" spc="30">
                <a:latin typeface="Arial"/>
                <a:cs typeface="Arial"/>
              </a:rPr>
              <a:t>إْ </a:t>
            </a:r>
            <a:r>
              <a:rPr dirty="0" baseline="1543" sz="2700">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32">
                <a:latin typeface="Arial"/>
                <a:cs typeface="Arial"/>
              </a:rPr>
              <a:t>ٌذ</a:t>
            </a:r>
            <a:r>
              <a:rPr dirty="0" sz="1800" spc="-155">
                <a:latin typeface="Arial"/>
                <a:cs typeface="Arial"/>
              </a:rPr>
              <a:t>ِ</a:t>
            </a:r>
            <a:r>
              <a:rPr dirty="0" sz="1800" spc="-215">
                <a:latin typeface="Arial"/>
                <a:cs typeface="Arial"/>
              </a:rPr>
              <a:t> </a:t>
            </a:r>
            <a:r>
              <a:rPr dirty="0" baseline="10802" sz="2700" spc="-209">
                <a:latin typeface="Arial"/>
                <a:cs typeface="Arial"/>
              </a:rPr>
              <a:t>َّ</a:t>
            </a:r>
            <a:r>
              <a:rPr dirty="0" baseline="1543" sz="2700" spc="-209">
                <a:latin typeface="Arial"/>
                <a:cs typeface="Arial"/>
              </a:rPr>
              <a:t>لٱ</a:t>
            </a:r>
            <a:endParaRPr baseline="1543" sz="2700">
              <a:latin typeface="Arial"/>
              <a:cs typeface="Arial"/>
            </a:endParaRPr>
          </a:p>
          <a:p>
            <a:pPr marL="101600" marR="125730">
              <a:lnSpc>
                <a:spcPts val="1380"/>
              </a:lnSpc>
              <a:spcBef>
                <a:spcPts val="1380"/>
              </a:spcBef>
              <a:buAutoNum type="arabicPeriod" startAt="3"/>
              <a:tabLst>
                <a:tab pos="280670" algn="l"/>
              </a:tabLst>
            </a:pPr>
            <a:r>
              <a:rPr dirty="0" sz="1200" spc="5">
                <a:latin typeface="Arial"/>
                <a:cs typeface="Arial"/>
              </a:rPr>
              <a:t>Who </a:t>
            </a:r>
            <a:r>
              <a:rPr dirty="0" sz="1200" spc="-5">
                <a:latin typeface="Arial"/>
                <a:cs typeface="Arial"/>
              </a:rPr>
              <a:t>believe in </a:t>
            </a:r>
            <a:r>
              <a:rPr dirty="0" sz="1200">
                <a:latin typeface="Arial"/>
                <a:cs typeface="Arial"/>
              </a:rPr>
              <a:t>the </a:t>
            </a:r>
            <a:r>
              <a:rPr dirty="0" sz="1200" spc="-5">
                <a:latin typeface="Arial"/>
                <a:cs typeface="Arial"/>
              </a:rPr>
              <a:t>unseen, and establish worship, and spend of </a:t>
            </a:r>
            <a:r>
              <a:rPr dirty="0" sz="1200">
                <a:latin typeface="Arial"/>
                <a:cs typeface="Arial"/>
              </a:rPr>
              <a:t>that </a:t>
            </a:r>
            <a:r>
              <a:rPr dirty="0" sz="1200" spc="20">
                <a:latin typeface="Arial"/>
                <a:cs typeface="Arial"/>
              </a:rPr>
              <a:t>We </a:t>
            </a:r>
            <a:r>
              <a:rPr dirty="0" sz="1200" spc="-10">
                <a:latin typeface="Arial"/>
                <a:cs typeface="Arial"/>
              </a:rPr>
              <a:t>have </a:t>
            </a:r>
            <a:r>
              <a:rPr dirty="0" sz="1200" spc="-5">
                <a:latin typeface="Arial"/>
                <a:cs typeface="Arial"/>
              </a:rPr>
              <a:t>bestowed  upon them</a:t>
            </a:r>
            <a:endParaRPr sz="1200">
              <a:latin typeface="Arial"/>
              <a:cs typeface="Arial"/>
            </a:endParaRPr>
          </a:p>
          <a:p>
            <a:pPr>
              <a:lnSpc>
                <a:spcPct val="100000"/>
              </a:lnSpc>
              <a:spcBef>
                <a:spcPts val="20"/>
              </a:spcBef>
              <a:buFont typeface="Arial"/>
              <a:buAutoNum type="arabicPeriod" startAt="3"/>
            </a:pPr>
            <a:endParaRPr sz="1100">
              <a:latin typeface="Arial"/>
              <a:cs typeface="Arial"/>
            </a:endParaRPr>
          </a:p>
          <a:p>
            <a:pPr algn="r" marR="118745">
              <a:lnSpc>
                <a:spcPct val="100000"/>
              </a:lnSpc>
            </a:pPr>
            <a:r>
              <a:rPr dirty="0" baseline="1543" sz="2700" spc="-494">
                <a:latin typeface="Arial"/>
                <a:cs typeface="Arial"/>
              </a:rPr>
              <a:t>ن</a:t>
            </a:r>
            <a:r>
              <a:rPr dirty="0" baseline="-1543" sz="2700" spc="-494">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780">
                <a:latin typeface="Arial"/>
                <a:cs typeface="Arial"/>
              </a:rPr>
              <a:t>ق</a:t>
            </a:r>
            <a:r>
              <a:rPr dirty="0" sz="1800" spc="-520">
                <a:latin typeface="Arial"/>
                <a:cs typeface="Arial"/>
              </a:rPr>
              <a:t>ِ</a:t>
            </a:r>
            <a:r>
              <a:rPr dirty="0" sz="1800" spc="-35">
                <a:latin typeface="Arial"/>
                <a:cs typeface="Arial"/>
              </a:rPr>
              <a:t> </a:t>
            </a:r>
            <a:r>
              <a:rPr dirty="0" baseline="1543" sz="2700" spc="-7">
                <a:latin typeface="Arial"/>
                <a:cs typeface="Arial"/>
              </a:rPr>
              <a:t>وٌُ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 </a:t>
            </a:r>
            <a:r>
              <a:rPr dirty="0" baseline="1543" sz="2700" spc="-337">
                <a:latin typeface="Arial"/>
                <a:cs typeface="Arial"/>
              </a:rPr>
              <a:t>ة</a:t>
            </a:r>
            <a:r>
              <a:rPr dirty="0" sz="1800" spc="-225">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719">
                <a:latin typeface="Arial"/>
                <a:cs typeface="Arial"/>
              </a:rPr>
              <a:t>خ</a:t>
            </a:r>
            <a:r>
              <a:rPr dirty="0" sz="1800" spc="-480">
                <a:latin typeface="Arial"/>
                <a:cs typeface="Arial"/>
              </a:rPr>
              <a:t>ِ </a:t>
            </a:r>
            <a:r>
              <a:rPr dirty="0" baseline="1543" sz="2700" spc="-465">
                <a:latin typeface="Arial"/>
                <a:cs typeface="Arial"/>
              </a:rPr>
              <a:t>لآٲب</a:t>
            </a:r>
            <a:r>
              <a:rPr dirty="0" baseline="-12345" sz="2700" spc="-465">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682">
                <a:latin typeface="Arial"/>
                <a:cs typeface="Arial"/>
              </a:rPr>
              <a:t>ك</a:t>
            </a:r>
            <a:r>
              <a:rPr dirty="0" baseline="-1543" sz="2700" spc="-682">
                <a:latin typeface="Arial"/>
                <a:cs typeface="Arial"/>
              </a:rPr>
              <a:t>َ </a:t>
            </a:r>
            <a:r>
              <a:rPr dirty="0" sz="1800" spc="-425">
                <a:latin typeface="Arial"/>
                <a:cs typeface="Arial"/>
              </a:rPr>
              <a:t>ِ</a:t>
            </a:r>
            <a:r>
              <a:rPr dirty="0" baseline="1543" sz="2700" spc="-637">
                <a:latin typeface="Arial"/>
                <a:cs typeface="Arial"/>
              </a:rPr>
              <a:t>لبْ </a:t>
            </a:r>
            <a:r>
              <a:rPr dirty="0" baseline="1543" sz="2700" spc="-757">
                <a:latin typeface="Arial"/>
                <a:cs typeface="Arial"/>
              </a:rPr>
              <a:t>ق</a:t>
            </a:r>
            <a:r>
              <a:rPr dirty="0" baseline="6172" sz="2700" spc="-757">
                <a:latin typeface="Arial"/>
                <a:cs typeface="Arial"/>
              </a:rPr>
              <a:t>َ</a:t>
            </a:r>
            <a:r>
              <a:rPr dirty="0" baseline="6172" sz="2700" spc="667">
                <a:latin typeface="Arial"/>
                <a:cs typeface="Arial"/>
              </a:rPr>
              <a:t> </a:t>
            </a:r>
            <a:r>
              <a:rPr dirty="0" baseline="1543" sz="2700" spc="-247">
                <a:latin typeface="Arial"/>
                <a:cs typeface="Arial"/>
              </a:rPr>
              <a:t>نم</a:t>
            </a:r>
            <a:r>
              <a:rPr dirty="0" sz="1800" spc="-165">
                <a:latin typeface="Arial"/>
                <a:cs typeface="Arial"/>
              </a:rPr>
              <a:t>ِ </a:t>
            </a:r>
            <a:r>
              <a:rPr dirty="0" baseline="1543" sz="2700" spc="-615">
                <a:latin typeface="Arial"/>
                <a:cs typeface="Arial"/>
              </a:rPr>
              <a:t>ل</a:t>
            </a:r>
            <a:r>
              <a:rPr dirty="0" baseline="-1543" sz="2700" spc="-615">
                <a:latin typeface="Arial"/>
                <a:cs typeface="Arial"/>
              </a:rPr>
              <a:t>َ </a:t>
            </a:r>
            <a:r>
              <a:rPr dirty="0" baseline="1543" sz="2700" spc="-457">
                <a:latin typeface="Arial"/>
                <a:cs typeface="Arial"/>
              </a:rPr>
              <a:t>ز</a:t>
            </a:r>
            <a:r>
              <a:rPr dirty="0" baseline="-13888" sz="2700" spc="-457">
                <a:latin typeface="Arial"/>
                <a:cs typeface="Arial"/>
              </a:rPr>
              <a:t>ِ </a:t>
            </a:r>
            <a:r>
              <a:rPr dirty="0" baseline="1543" sz="2700" spc="-607">
                <a:latin typeface="Arial"/>
                <a:cs typeface="Arial"/>
              </a:rPr>
              <a:t>ن</a:t>
            </a:r>
            <a:r>
              <a:rPr dirty="0" baseline="9259" sz="2700" spc="-607">
                <a:latin typeface="Arial"/>
                <a:cs typeface="Arial"/>
              </a:rPr>
              <a:t>ْ </a:t>
            </a:r>
            <a:r>
              <a:rPr dirty="0" baseline="18518" sz="2700">
                <a:latin typeface="Arial"/>
                <a:cs typeface="Arial"/>
              </a:rPr>
              <a:t>ُ</a:t>
            </a:r>
            <a:r>
              <a:rPr dirty="0" baseline="1543" sz="2700">
                <a:latin typeface="Arial"/>
                <a:cs typeface="Arial"/>
              </a:rPr>
              <a:t>أ </a:t>
            </a:r>
            <a:r>
              <a:rPr dirty="0" baseline="1543" sz="2700" spc="-225">
                <a:latin typeface="Arial"/>
                <a:cs typeface="Arial"/>
              </a:rPr>
              <a:t>آم</a:t>
            </a:r>
            <a:r>
              <a:rPr dirty="0" baseline="-1543" sz="2700" spc="-225">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682">
                <a:latin typeface="Arial"/>
                <a:cs typeface="Arial"/>
              </a:rPr>
              <a:t>ك</a:t>
            </a:r>
            <a:r>
              <a:rPr dirty="0" baseline="-1543" sz="2700" spc="-682">
                <a:latin typeface="Arial"/>
                <a:cs typeface="Arial"/>
              </a:rPr>
              <a:t>َ </a:t>
            </a:r>
            <a:r>
              <a:rPr dirty="0" baseline="1543" sz="2700">
                <a:latin typeface="Arial"/>
                <a:cs typeface="Arial"/>
              </a:rPr>
              <a:t>ٌْ </a:t>
            </a:r>
            <a:r>
              <a:rPr dirty="0" baseline="9259" sz="2700" spc="-217">
                <a:latin typeface="Arial"/>
                <a:cs typeface="Arial"/>
              </a:rPr>
              <a:t>َ</a:t>
            </a:r>
            <a:r>
              <a:rPr dirty="0" baseline="1543" sz="2700" spc="-217">
                <a:latin typeface="Arial"/>
                <a:cs typeface="Arial"/>
              </a:rPr>
              <a:t>ل</a:t>
            </a:r>
            <a:r>
              <a:rPr dirty="0" baseline="-12345" sz="2700" spc="-217">
                <a:latin typeface="Arial"/>
                <a:cs typeface="Arial"/>
              </a:rPr>
              <a:t>ِ</a:t>
            </a:r>
            <a:r>
              <a:rPr dirty="0" baseline="1543" sz="2700" spc="-217">
                <a:latin typeface="Arial"/>
                <a:cs typeface="Arial"/>
              </a:rPr>
              <a:t>إ </a:t>
            </a:r>
            <a:r>
              <a:rPr dirty="0" baseline="1543" sz="2700" spc="-615">
                <a:latin typeface="Arial"/>
                <a:cs typeface="Arial"/>
              </a:rPr>
              <a:t>ل</a:t>
            </a:r>
            <a:r>
              <a:rPr dirty="0" baseline="-1543" sz="2700" spc="-615">
                <a:latin typeface="Arial"/>
                <a:cs typeface="Arial"/>
              </a:rPr>
              <a:t>َ </a:t>
            </a:r>
            <a:r>
              <a:rPr dirty="0" baseline="1543" sz="2700" spc="-457">
                <a:latin typeface="Arial"/>
                <a:cs typeface="Arial"/>
              </a:rPr>
              <a:t>ز</a:t>
            </a:r>
            <a:r>
              <a:rPr dirty="0" baseline="-13888" sz="2700" spc="-457">
                <a:latin typeface="Arial"/>
                <a:cs typeface="Arial"/>
              </a:rPr>
              <a:t>ِ </a:t>
            </a:r>
            <a:r>
              <a:rPr dirty="0" baseline="1543" sz="2700" spc="-615">
                <a:latin typeface="Arial"/>
                <a:cs typeface="Arial"/>
              </a:rPr>
              <a:t>ن</a:t>
            </a:r>
            <a:r>
              <a:rPr dirty="0" baseline="9259" sz="2700" spc="-615">
                <a:latin typeface="Arial"/>
                <a:cs typeface="Arial"/>
              </a:rPr>
              <a:t>ْ </a:t>
            </a:r>
            <a:r>
              <a:rPr dirty="0" baseline="18518" sz="2700">
                <a:latin typeface="Arial"/>
                <a:cs typeface="Arial"/>
              </a:rPr>
              <a:t>ُ</a:t>
            </a:r>
            <a:r>
              <a:rPr dirty="0" baseline="1543" sz="2700">
                <a:latin typeface="Arial"/>
                <a:cs typeface="Arial"/>
              </a:rPr>
              <a:t>أ </a:t>
            </a:r>
            <a:r>
              <a:rPr dirty="0" baseline="1543" sz="2700" spc="-225">
                <a:latin typeface="Arial"/>
                <a:cs typeface="Arial"/>
              </a:rPr>
              <a:t>آم</a:t>
            </a:r>
            <a:r>
              <a:rPr dirty="0" baseline="-1543" sz="2700" spc="-225">
                <a:latin typeface="Arial"/>
                <a:cs typeface="Arial"/>
              </a:rPr>
              <a:t>َ </a:t>
            </a:r>
            <a:r>
              <a:rPr dirty="0" baseline="1543" sz="2700" spc="-960">
                <a:latin typeface="Arial"/>
                <a:cs typeface="Arial"/>
              </a:rPr>
              <a:t>ب</a:t>
            </a:r>
            <a:r>
              <a:rPr dirty="0" baseline="-12345" sz="2700" spc="-960">
                <a:latin typeface="Arial"/>
                <a:cs typeface="Arial"/>
              </a:rPr>
              <a:t>ِ</a:t>
            </a:r>
            <a:r>
              <a:rPr dirty="0" baseline="-12345" sz="2700" spc="667">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352">
                <a:latin typeface="Arial"/>
                <a:cs typeface="Arial"/>
              </a:rPr>
              <a:t>م</a:t>
            </a:r>
            <a:r>
              <a:rPr dirty="0" sz="1800" spc="-235">
                <a:latin typeface="Arial"/>
                <a:cs typeface="Arial"/>
              </a:rPr>
              <a:t>ِ </a:t>
            </a:r>
            <a:r>
              <a:rPr dirty="0" baseline="1543" sz="2700" spc="30">
                <a:latin typeface="Arial"/>
                <a:cs typeface="Arial"/>
              </a:rPr>
              <a:t>إْ </a:t>
            </a:r>
            <a:r>
              <a:rPr dirty="0" baseline="1543" sz="2700">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32">
                <a:latin typeface="Arial"/>
                <a:cs typeface="Arial"/>
              </a:rPr>
              <a:t>ٌذ</a:t>
            </a:r>
            <a:r>
              <a:rPr dirty="0" sz="1800" spc="-155">
                <a:latin typeface="Arial"/>
                <a:cs typeface="Arial"/>
              </a:rPr>
              <a:t>ِ</a:t>
            </a:r>
            <a:r>
              <a:rPr dirty="0" sz="1800" spc="-240">
                <a:latin typeface="Arial"/>
                <a:cs typeface="Arial"/>
              </a:rPr>
              <a:t> </a:t>
            </a:r>
            <a:r>
              <a:rPr dirty="0" baseline="10802" sz="2700" spc="-165">
                <a:latin typeface="Arial"/>
                <a:cs typeface="Arial"/>
              </a:rPr>
              <a:t>َّ</a:t>
            </a:r>
            <a:r>
              <a:rPr dirty="0" baseline="1543" sz="2700" spc="-165">
                <a:latin typeface="Arial"/>
                <a:cs typeface="Arial"/>
              </a:rPr>
              <a:t>لٱو</a:t>
            </a:r>
            <a:endParaRPr baseline="1543" sz="2700">
              <a:latin typeface="Arial"/>
              <a:cs typeface="Arial"/>
            </a:endParaRPr>
          </a:p>
          <a:p>
            <a:pPr marL="101600" marR="121285">
              <a:lnSpc>
                <a:spcPts val="1380"/>
              </a:lnSpc>
              <a:spcBef>
                <a:spcPts val="1390"/>
              </a:spcBef>
              <a:buAutoNum type="arabicPeriod" startAt="4"/>
              <a:tabLst>
                <a:tab pos="297180" algn="l"/>
              </a:tabLst>
            </a:pPr>
            <a:r>
              <a:rPr dirty="0" sz="1200" spc="-5">
                <a:latin typeface="Arial"/>
                <a:cs typeface="Arial"/>
              </a:rPr>
              <a:t>And </a:t>
            </a:r>
            <a:r>
              <a:rPr dirty="0" sz="1200" spc="-10">
                <a:latin typeface="Arial"/>
                <a:cs typeface="Arial"/>
              </a:rPr>
              <a:t>who </a:t>
            </a:r>
            <a:r>
              <a:rPr dirty="0" sz="1200" spc="-5">
                <a:latin typeface="Arial"/>
                <a:cs typeface="Arial"/>
              </a:rPr>
              <a:t>believe in that which is revealed unto </a:t>
            </a:r>
            <a:r>
              <a:rPr dirty="0" sz="1200" spc="5">
                <a:latin typeface="Arial"/>
                <a:cs typeface="Arial"/>
              </a:rPr>
              <a:t>thee </a:t>
            </a:r>
            <a:r>
              <a:rPr dirty="0" sz="1200" spc="-5">
                <a:latin typeface="Arial"/>
                <a:cs typeface="Arial"/>
              </a:rPr>
              <a:t>(Muhammad) and that which </a:t>
            </a:r>
            <a:r>
              <a:rPr dirty="0" sz="1200" spc="-10">
                <a:latin typeface="Arial"/>
                <a:cs typeface="Arial"/>
              </a:rPr>
              <a:t>was  </a:t>
            </a:r>
            <a:r>
              <a:rPr dirty="0" sz="1200" spc="-5">
                <a:latin typeface="Arial"/>
                <a:cs typeface="Arial"/>
              </a:rPr>
              <a:t>revealed before thee, and are certain of the</a:t>
            </a:r>
            <a:r>
              <a:rPr dirty="0" sz="1200" spc="30">
                <a:latin typeface="Arial"/>
                <a:cs typeface="Arial"/>
              </a:rPr>
              <a:t> </a:t>
            </a:r>
            <a:r>
              <a:rPr dirty="0" sz="1200">
                <a:latin typeface="Arial"/>
                <a:cs typeface="Arial"/>
              </a:rPr>
              <a:t>Hereafter</a:t>
            </a:r>
            <a:endParaRPr sz="1200">
              <a:latin typeface="Arial"/>
              <a:cs typeface="Arial"/>
            </a:endParaRPr>
          </a:p>
          <a:p>
            <a:pPr>
              <a:lnSpc>
                <a:spcPct val="100000"/>
              </a:lnSpc>
              <a:spcBef>
                <a:spcPts val="20"/>
              </a:spcBef>
              <a:buFont typeface="Arial"/>
              <a:buAutoNum type="arabicPeriod" startAt="4"/>
            </a:pPr>
            <a:endParaRPr sz="1100">
              <a:latin typeface="Arial"/>
              <a:cs typeface="Arial"/>
            </a:endParaRPr>
          </a:p>
          <a:p>
            <a:pPr marL="101600">
              <a:lnSpc>
                <a:spcPct val="100000"/>
              </a:lnSpc>
              <a:spcBef>
                <a:spcPts val="5"/>
              </a:spcBef>
            </a:pPr>
            <a:r>
              <a:rPr dirty="0" sz="1200">
                <a:latin typeface="Arial"/>
                <a:cs typeface="Arial"/>
              </a:rPr>
              <a:t>In </a:t>
            </a:r>
            <a:r>
              <a:rPr dirty="0" sz="1200" spc="-5">
                <a:latin typeface="Arial"/>
                <a:cs typeface="Arial"/>
              </a:rPr>
              <a:t>these verses above, Allah </a:t>
            </a:r>
            <a:r>
              <a:rPr dirty="0" sz="1200">
                <a:latin typeface="Arial"/>
                <a:cs typeface="Arial"/>
              </a:rPr>
              <a:t>describes </a:t>
            </a:r>
            <a:r>
              <a:rPr dirty="0" sz="1200" spc="-5">
                <a:latin typeface="Arial"/>
                <a:cs typeface="Arial"/>
              </a:rPr>
              <a:t>the characteristics of those </a:t>
            </a:r>
            <a:r>
              <a:rPr dirty="0" sz="1200" spc="-10">
                <a:latin typeface="Arial"/>
                <a:cs typeface="Arial"/>
              </a:rPr>
              <a:t>who </a:t>
            </a:r>
            <a:r>
              <a:rPr dirty="0" sz="1200" spc="-5">
                <a:latin typeface="Arial"/>
                <a:cs typeface="Arial"/>
              </a:rPr>
              <a:t>really believe in</a:t>
            </a:r>
            <a:r>
              <a:rPr dirty="0" sz="1200" spc="140">
                <a:latin typeface="Arial"/>
                <a:cs typeface="Arial"/>
              </a:rPr>
              <a:t> </a:t>
            </a:r>
            <a:r>
              <a:rPr dirty="0" sz="1200" spc="-5">
                <a:latin typeface="Arial"/>
                <a:cs typeface="Arial"/>
              </a:rPr>
              <a:t>Him.</a:t>
            </a:r>
            <a:endParaRPr sz="1200">
              <a:latin typeface="Arial"/>
              <a:cs typeface="Arial"/>
            </a:endParaRPr>
          </a:p>
          <a:p>
            <a:pPr>
              <a:lnSpc>
                <a:spcPct val="100000"/>
              </a:lnSpc>
              <a:spcBef>
                <a:spcPts val="50"/>
              </a:spcBef>
            </a:pPr>
            <a:endParaRPr sz="1100">
              <a:latin typeface="Arial"/>
              <a:cs typeface="Arial"/>
            </a:endParaRPr>
          </a:p>
          <a:p>
            <a:pPr lvl="1" marL="558800" indent="-229235">
              <a:lnSpc>
                <a:spcPct val="100000"/>
              </a:lnSpc>
              <a:spcBef>
                <a:spcPts val="5"/>
              </a:spcBef>
              <a:buFont typeface="Wingdings"/>
              <a:buChar char=""/>
              <a:tabLst>
                <a:tab pos="559435" algn="l"/>
              </a:tabLst>
            </a:pPr>
            <a:r>
              <a:rPr dirty="0" u="heavy" sz="1200" spc="-5" b="1">
                <a:uFill>
                  <a:solidFill>
                    <a:srgbClr val="000000"/>
                  </a:solidFill>
                </a:uFill>
                <a:latin typeface="Arial"/>
                <a:cs typeface="Arial"/>
              </a:rPr>
              <a:t>Concerning the unbelievers, </a:t>
            </a:r>
            <a:r>
              <a:rPr dirty="0" u="heavy" sz="1200" spc="-10" b="1">
                <a:uFill>
                  <a:solidFill>
                    <a:srgbClr val="000000"/>
                  </a:solidFill>
                </a:uFill>
                <a:latin typeface="Arial"/>
                <a:cs typeface="Arial"/>
              </a:rPr>
              <a:t>Allah</a:t>
            </a:r>
            <a:r>
              <a:rPr dirty="0" u="heavy" sz="1200" spc="30" b="1">
                <a:uFill>
                  <a:solidFill>
                    <a:srgbClr val="000000"/>
                  </a:solidFill>
                </a:uFill>
                <a:latin typeface="Arial"/>
                <a:cs typeface="Arial"/>
              </a:rPr>
              <a:t> </a:t>
            </a:r>
            <a:r>
              <a:rPr dirty="0" u="heavy" sz="1200" spc="-5" b="1">
                <a:uFill>
                  <a:solidFill>
                    <a:srgbClr val="000000"/>
                  </a:solidFill>
                </a:uFill>
                <a:latin typeface="Arial"/>
                <a:cs typeface="Arial"/>
              </a:rPr>
              <a:t>says:</a:t>
            </a:r>
            <a:endParaRPr sz="1200">
              <a:latin typeface="Arial"/>
              <a:cs typeface="Arial"/>
            </a:endParaRPr>
          </a:p>
          <a:p>
            <a:pPr>
              <a:lnSpc>
                <a:spcPct val="100000"/>
              </a:lnSpc>
              <a:spcBef>
                <a:spcPts val="40"/>
              </a:spcBef>
            </a:pPr>
            <a:endParaRPr sz="1100">
              <a:latin typeface="Arial"/>
              <a:cs typeface="Arial"/>
            </a:endParaRPr>
          </a:p>
          <a:p>
            <a:pPr algn="r" marR="119380">
              <a:lnSpc>
                <a:spcPct val="100000"/>
              </a:lnSpc>
            </a:pPr>
            <a:r>
              <a:rPr dirty="0" baseline="1543" sz="2700" spc="-509">
                <a:latin typeface="Arial"/>
                <a:cs typeface="Arial"/>
              </a:rPr>
              <a:t>ن</a:t>
            </a:r>
            <a:r>
              <a:rPr dirty="0" baseline="-1543" sz="2700" spc="-509">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352">
                <a:latin typeface="Arial"/>
                <a:cs typeface="Arial"/>
              </a:rPr>
              <a:t>م</a:t>
            </a:r>
            <a:r>
              <a:rPr dirty="0" sz="1800" spc="-235">
                <a:latin typeface="Arial"/>
                <a:cs typeface="Arial"/>
              </a:rPr>
              <a:t>ِ </a:t>
            </a:r>
            <a:r>
              <a:rPr dirty="0" baseline="1543" sz="2700" spc="30">
                <a:latin typeface="Arial"/>
                <a:cs typeface="Arial"/>
              </a:rPr>
              <a:t>إْ </a:t>
            </a:r>
            <a:r>
              <a:rPr dirty="0" baseline="1543" sz="2700">
                <a:latin typeface="Arial"/>
                <a:cs typeface="Arial"/>
              </a:rPr>
              <a:t>ٌُ </a:t>
            </a:r>
            <a:r>
              <a:rPr dirty="0" baseline="7716" sz="2700" spc="-157">
                <a:latin typeface="Arial"/>
                <a:cs typeface="Arial"/>
              </a:rPr>
              <a:t>َ</a:t>
            </a:r>
            <a:r>
              <a:rPr dirty="0" baseline="1543" sz="2700" spc="-157">
                <a:latin typeface="Arial"/>
                <a:cs typeface="Arial"/>
              </a:rPr>
              <a:t>لا </a:t>
            </a:r>
            <a:r>
              <a:rPr dirty="0" baseline="1543" sz="2700" spc="-359">
                <a:latin typeface="Arial"/>
                <a:cs typeface="Arial"/>
              </a:rPr>
              <a:t>م</a:t>
            </a:r>
            <a:r>
              <a:rPr dirty="0" baseline="-3086" sz="2700" spc="-359">
                <a:latin typeface="Arial"/>
                <a:cs typeface="Arial"/>
              </a:rPr>
              <a:t>ْ </a:t>
            </a:r>
            <a:r>
              <a:rPr dirty="0" baseline="1543" sz="2700" spc="-307">
                <a:latin typeface="Arial"/>
                <a:cs typeface="Arial"/>
              </a:rPr>
              <a:t>هُ </a:t>
            </a:r>
            <a:r>
              <a:rPr dirty="0" baseline="1543" sz="2700" spc="-457">
                <a:latin typeface="Arial"/>
                <a:cs typeface="Arial"/>
              </a:rPr>
              <a:t>رْ </a:t>
            </a:r>
            <a:r>
              <a:rPr dirty="0" baseline="1543" sz="2700" spc="-352">
                <a:latin typeface="Arial"/>
                <a:cs typeface="Arial"/>
              </a:rPr>
              <a:t>ذ</a:t>
            </a:r>
            <a:r>
              <a:rPr dirty="0" sz="1800" spc="-235">
                <a:latin typeface="Arial"/>
                <a:cs typeface="Arial"/>
              </a:rPr>
              <a:t>ِ </a:t>
            </a:r>
            <a:r>
              <a:rPr dirty="0" baseline="1543" sz="2700" spc="-607">
                <a:latin typeface="Arial"/>
                <a:cs typeface="Arial"/>
              </a:rPr>
              <a:t>ن</a:t>
            </a:r>
            <a:r>
              <a:rPr dirty="0" baseline="9259" sz="2700" spc="-607">
                <a:latin typeface="Arial"/>
                <a:cs typeface="Arial"/>
              </a:rPr>
              <a:t>ْ </a:t>
            </a:r>
            <a:r>
              <a:rPr dirty="0" baseline="1543" sz="2700" spc="-937">
                <a:latin typeface="Arial"/>
                <a:cs typeface="Arial"/>
              </a:rPr>
              <a:t>ت</a:t>
            </a:r>
            <a:r>
              <a:rPr dirty="0" baseline="9259" sz="2700" spc="-937">
                <a:latin typeface="Arial"/>
                <a:cs typeface="Arial"/>
              </a:rPr>
              <a:t>ُ</a:t>
            </a:r>
            <a:r>
              <a:rPr dirty="0" baseline="9259" sz="2700" spc="58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359">
                <a:latin typeface="Arial"/>
                <a:cs typeface="Arial"/>
              </a:rPr>
              <a:t>م</a:t>
            </a:r>
            <a:r>
              <a:rPr dirty="0" baseline="-3086" sz="2700" spc="-359">
                <a:latin typeface="Arial"/>
                <a:cs typeface="Arial"/>
              </a:rPr>
              <a:t>ْ </a:t>
            </a:r>
            <a:r>
              <a:rPr dirty="0" baseline="15432" sz="2700">
                <a:latin typeface="Arial"/>
                <a:cs typeface="Arial"/>
              </a:rPr>
              <a:t>َ</a:t>
            </a:r>
            <a:r>
              <a:rPr dirty="0" baseline="1543" sz="2700">
                <a:latin typeface="Arial"/>
                <a:cs typeface="Arial"/>
              </a:rPr>
              <a:t>أ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1543" sz="2700" spc="-892">
                <a:latin typeface="Arial"/>
                <a:cs typeface="Arial"/>
              </a:rPr>
              <a:t>ت</a:t>
            </a:r>
            <a:r>
              <a:rPr dirty="0" baseline="6172" sz="2700" spc="-892">
                <a:latin typeface="Arial"/>
                <a:cs typeface="Arial"/>
              </a:rPr>
              <a:t>َ</a:t>
            </a:r>
            <a:r>
              <a:rPr dirty="0" baseline="6172" sz="2700" spc="-232">
                <a:latin typeface="Arial"/>
                <a:cs typeface="Arial"/>
              </a:rPr>
              <a:t> </a:t>
            </a:r>
            <a:r>
              <a:rPr dirty="0" baseline="1543" sz="2700" spc="-457">
                <a:latin typeface="Arial"/>
                <a:cs typeface="Arial"/>
              </a:rPr>
              <a:t>رْ </a:t>
            </a:r>
            <a:r>
              <a:rPr dirty="0" baseline="1543" sz="2700" spc="-322">
                <a:latin typeface="Arial"/>
                <a:cs typeface="Arial"/>
              </a:rPr>
              <a:t>ذ</a:t>
            </a:r>
            <a:r>
              <a:rPr dirty="0" baseline="10802" sz="2700" spc="-322">
                <a:latin typeface="Arial"/>
                <a:cs typeface="Arial"/>
              </a:rPr>
              <a:t>َ </a:t>
            </a:r>
            <a:r>
              <a:rPr dirty="0" baseline="1543" sz="2700" spc="-209">
                <a:latin typeface="Arial"/>
                <a:cs typeface="Arial"/>
              </a:rPr>
              <a:t>نأ</a:t>
            </a:r>
            <a:r>
              <a:rPr dirty="0" baseline="15432" sz="2700" spc="-209">
                <a:latin typeface="Arial"/>
                <a:cs typeface="Arial"/>
              </a:rPr>
              <a:t>ََ </a:t>
            </a:r>
            <a:r>
              <a:rPr dirty="0" baseline="1543" sz="2700">
                <a:latin typeface="Arial"/>
                <a:cs typeface="Arial"/>
              </a:rPr>
              <a:t>أ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a:t>
            </a:r>
            <a:r>
              <a:rPr dirty="0" baseline="-10802" sz="2700" spc="-307">
                <a:latin typeface="Arial"/>
                <a:cs typeface="Arial"/>
              </a:rPr>
              <a:t>ِ </a:t>
            </a:r>
            <a:r>
              <a:rPr dirty="0" baseline="1543" sz="2700">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607">
                <a:latin typeface="Arial"/>
                <a:cs typeface="Arial"/>
              </a:rPr>
              <a:t>ع</a:t>
            </a:r>
            <a:r>
              <a:rPr dirty="0" baseline="-1543" sz="2700" spc="-607">
                <a:latin typeface="Arial"/>
                <a:cs typeface="Arial"/>
              </a:rPr>
              <a:t>َ  </a:t>
            </a:r>
            <a:r>
              <a:rPr dirty="0" baseline="1543" sz="2700" spc="-494">
                <a:latin typeface="Arial"/>
                <a:cs typeface="Arial"/>
              </a:rPr>
              <a:t>ء</a:t>
            </a:r>
            <a:r>
              <a:rPr dirty="0" baseline="3086" sz="2700" spc="-494">
                <a:latin typeface="Arial"/>
                <a:cs typeface="Arial"/>
              </a:rPr>
              <a:t>ٌ </a:t>
            </a:r>
            <a:r>
              <a:rPr dirty="0" baseline="1543" sz="2700" spc="-209">
                <a:latin typeface="Arial"/>
                <a:cs typeface="Arial"/>
              </a:rPr>
              <a:t>آو</a:t>
            </a:r>
            <a:r>
              <a:rPr dirty="0" baseline="-1543" sz="2700" spc="-209">
                <a:latin typeface="Arial"/>
                <a:cs typeface="Arial"/>
              </a:rPr>
              <a:t>َ </a:t>
            </a:r>
            <a:r>
              <a:rPr dirty="0" baseline="1543" sz="2700" spc="-989">
                <a:latin typeface="Arial"/>
                <a:cs typeface="Arial"/>
              </a:rPr>
              <a:t>س</a:t>
            </a:r>
            <a:r>
              <a:rPr dirty="0" baseline="-1543" sz="2700" spc="-989">
                <a:latin typeface="Arial"/>
                <a:cs typeface="Arial"/>
              </a:rPr>
              <a:t>َ</a:t>
            </a:r>
            <a:r>
              <a:rPr dirty="0" baseline="-1543" sz="2700" spc="1185">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352">
                <a:latin typeface="Arial"/>
                <a:cs typeface="Arial"/>
              </a:rPr>
              <a:t>ورُ </a:t>
            </a:r>
            <a:r>
              <a:rPr dirty="0" baseline="1543" sz="2700" spc="-1035">
                <a:latin typeface="Arial"/>
                <a:cs typeface="Arial"/>
              </a:rPr>
              <a:t>ف</a:t>
            </a:r>
            <a:r>
              <a:rPr dirty="0" baseline="6172" sz="2700" spc="-1035">
                <a:latin typeface="Arial"/>
                <a:cs typeface="Arial"/>
              </a:rPr>
              <a:t>َ</a:t>
            </a:r>
            <a:r>
              <a:rPr dirty="0" baseline="6172" sz="2700" spc="-120">
                <a:latin typeface="Arial"/>
                <a:cs typeface="Arial"/>
              </a:rPr>
              <a:t> </a:t>
            </a:r>
            <a:r>
              <a:rPr dirty="0" baseline="1543" sz="2700" spc="-719">
                <a:latin typeface="Arial"/>
                <a:cs typeface="Arial"/>
              </a:rPr>
              <a:t>ك</a:t>
            </a:r>
            <a:r>
              <a:rPr dirty="0" baseline="6172" sz="2700" spc="-719">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32">
                <a:latin typeface="Arial"/>
                <a:cs typeface="Arial"/>
              </a:rPr>
              <a:t>ٌذ</a:t>
            </a:r>
            <a:r>
              <a:rPr dirty="0" sz="1800" spc="-155">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345">
                <a:latin typeface="Arial"/>
                <a:cs typeface="Arial"/>
              </a:rPr>
              <a:t>ن</a:t>
            </a:r>
            <a:r>
              <a:rPr dirty="0" sz="1800" spc="-229">
                <a:latin typeface="Arial"/>
                <a:cs typeface="Arial"/>
              </a:rPr>
              <a:t>َّ</a:t>
            </a:r>
            <a:r>
              <a:rPr dirty="0" sz="1800" spc="-65">
                <a:latin typeface="Arial"/>
                <a:cs typeface="Arial"/>
              </a:rPr>
              <a:t> </a:t>
            </a:r>
            <a:r>
              <a:rPr dirty="0" baseline="-12345" sz="2700">
                <a:latin typeface="Arial"/>
                <a:cs typeface="Arial"/>
              </a:rPr>
              <a:t>ِ</a:t>
            </a:r>
            <a:r>
              <a:rPr dirty="0" baseline="1543" sz="2700">
                <a:latin typeface="Arial"/>
                <a:cs typeface="Arial"/>
              </a:rPr>
              <a:t>إ</a:t>
            </a:r>
            <a:endParaRPr baseline="1543" sz="2700">
              <a:latin typeface="Arial"/>
              <a:cs typeface="Arial"/>
            </a:endParaRPr>
          </a:p>
          <a:p>
            <a:pPr marL="101600" marR="123189">
              <a:lnSpc>
                <a:spcPts val="1380"/>
              </a:lnSpc>
              <a:spcBef>
                <a:spcPts val="1395"/>
              </a:spcBef>
            </a:pPr>
            <a:r>
              <a:rPr dirty="0" sz="1200">
                <a:latin typeface="Arial"/>
                <a:cs typeface="Arial"/>
              </a:rPr>
              <a:t>6. As for the </a:t>
            </a:r>
            <a:r>
              <a:rPr dirty="0" sz="1200" spc="-5">
                <a:latin typeface="Arial"/>
                <a:cs typeface="Arial"/>
              </a:rPr>
              <a:t>disbelievers, whether thou warn them or thou warn </a:t>
            </a:r>
            <a:r>
              <a:rPr dirty="0" sz="1200">
                <a:latin typeface="Arial"/>
                <a:cs typeface="Arial"/>
              </a:rPr>
              <a:t>them </a:t>
            </a:r>
            <a:r>
              <a:rPr dirty="0" sz="1200" spc="-5">
                <a:latin typeface="Arial"/>
                <a:cs typeface="Arial"/>
              </a:rPr>
              <a:t>not </a:t>
            </a:r>
            <a:r>
              <a:rPr dirty="0" sz="1200">
                <a:latin typeface="Arial"/>
                <a:cs typeface="Arial"/>
              </a:rPr>
              <a:t>it </a:t>
            </a:r>
            <a:r>
              <a:rPr dirty="0" sz="1200" spc="-5">
                <a:latin typeface="Arial"/>
                <a:cs typeface="Arial"/>
              </a:rPr>
              <a:t>is all one </a:t>
            </a:r>
            <a:r>
              <a:rPr dirty="0" sz="1200">
                <a:latin typeface="Arial"/>
                <a:cs typeface="Arial"/>
              </a:rPr>
              <a:t>for  them; </a:t>
            </a:r>
            <a:r>
              <a:rPr dirty="0" sz="1200" spc="-5">
                <a:latin typeface="Arial"/>
                <a:cs typeface="Arial"/>
              </a:rPr>
              <a:t>they believe</a:t>
            </a:r>
            <a:r>
              <a:rPr dirty="0" sz="1200" spc="-15">
                <a:latin typeface="Arial"/>
                <a:cs typeface="Arial"/>
              </a:rPr>
              <a:t> </a:t>
            </a:r>
            <a:r>
              <a:rPr dirty="0" sz="1200" spc="-5">
                <a:latin typeface="Arial"/>
                <a:cs typeface="Arial"/>
              </a:rPr>
              <a:t>not</a:t>
            </a:r>
            <a:endParaRPr sz="1200">
              <a:latin typeface="Arial"/>
              <a:cs typeface="Arial"/>
            </a:endParaRPr>
          </a:p>
          <a:p>
            <a:pPr>
              <a:lnSpc>
                <a:spcPct val="100000"/>
              </a:lnSpc>
              <a:spcBef>
                <a:spcPts val="15"/>
              </a:spcBef>
            </a:pPr>
            <a:endParaRPr sz="1100">
              <a:latin typeface="Arial"/>
              <a:cs typeface="Arial"/>
            </a:endParaRPr>
          </a:p>
          <a:p>
            <a:pPr marL="1032510">
              <a:lnSpc>
                <a:spcPct val="100000"/>
              </a:lnSpc>
            </a:pPr>
            <a:r>
              <a:rPr dirty="0" baseline="1543" sz="2700" spc="-434">
                <a:latin typeface="Arial"/>
                <a:cs typeface="Arial"/>
              </a:rPr>
              <a:t>م</a:t>
            </a:r>
            <a:r>
              <a:rPr dirty="0" baseline="-3086" sz="2700" spc="-434">
                <a:latin typeface="Arial"/>
                <a:cs typeface="Arial"/>
              </a:rPr>
              <a:t>ٌ </a:t>
            </a:r>
            <a:r>
              <a:rPr dirty="0" baseline="1543" sz="2700" spc="-390">
                <a:latin typeface="Arial"/>
                <a:cs typeface="Arial"/>
              </a:rPr>
              <a:t>ٌظ</a:t>
            </a:r>
            <a:r>
              <a:rPr dirty="0" sz="1800" spc="-260">
                <a:latin typeface="Arial"/>
                <a:cs typeface="Arial"/>
              </a:rPr>
              <a:t>ِ </a:t>
            </a:r>
            <a:r>
              <a:rPr dirty="0" baseline="1543" sz="2700" spc="-52">
                <a:latin typeface="Arial"/>
                <a:cs typeface="Arial"/>
              </a:rPr>
              <a:t>ع </a:t>
            </a:r>
            <a:r>
              <a:rPr dirty="0" baseline="1543" sz="2700" spc="-802">
                <a:latin typeface="Arial"/>
                <a:cs typeface="Arial"/>
              </a:rPr>
              <a:t>ب</a:t>
            </a:r>
            <a:r>
              <a:rPr dirty="0" baseline="3086" sz="2700" spc="-802">
                <a:latin typeface="Arial"/>
                <a:cs typeface="Arial"/>
              </a:rPr>
              <a:t>ٌ</a:t>
            </a:r>
            <a:r>
              <a:rPr dirty="0" baseline="3086" sz="2700" spc="914">
                <a:latin typeface="Arial"/>
                <a:cs typeface="Arial"/>
              </a:rPr>
              <a:t> </a:t>
            </a:r>
            <a:r>
              <a:rPr dirty="0" baseline="1543" sz="2700" spc="-217">
                <a:latin typeface="Arial"/>
                <a:cs typeface="Arial"/>
              </a:rPr>
              <a:t>اذ</a:t>
            </a:r>
            <a:r>
              <a:rPr dirty="0" baseline="10802" sz="2700" spc="-217">
                <a:latin typeface="Arial"/>
                <a:cs typeface="Arial"/>
              </a:rPr>
              <a:t>َ </a:t>
            </a:r>
            <a:r>
              <a:rPr dirty="0" baseline="1543" sz="2700" spc="-607">
                <a:latin typeface="Arial"/>
                <a:cs typeface="Arial"/>
              </a:rPr>
              <a:t>ع</a:t>
            </a:r>
            <a:r>
              <a:rPr dirty="0" baseline="-1543" sz="2700" spc="-607">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9259" sz="2700" spc="-359">
                <a:latin typeface="Arial"/>
                <a:cs typeface="Arial"/>
              </a:rPr>
              <a:t>َ</a:t>
            </a:r>
            <a:r>
              <a:rPr dirty="0" baseline="1543" sz="2700" spc="-359">
                <a:latin typeface="Arial"/>
                <a:cs typeface="Arial"/>
              </a:rPr>
              <a:t>لو</a:t>
            </a:r>
            <a:r>
              <a:rPr dirty="0" baseline="-1543" sz="2700" spc="-359">
                <a:latin typeface="Arial"/>
                <a:cs typeface="Arial"/>
              </a:rPr>
              <a:t>َ </a:t>
            </a:r>
            <a:r>
              <a:rPr dirty="0" baseline="1543" sz="2700" spc="-382">
                <a:latin typeface="Arial"/>
                <a:cs typeface="Arial"/>
              </a:rPr>
              <a:t>ة</a:t>
            </a:r>
            <a:r>
              <a:rPr dirty="0" baseline="7716" sz="2700" spc="-382">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682">
                <a:latin typeface="Arial"/>
                <a:cs typeface="Arial"/>
              </a:rPr>
              <a:t>اش</a:t>
            </a:r>
            <a:r>
              <a:rPr dirty="0" baseline="6172" sz="2700" spc="-682">
                <a:latin typeface="Arial"/>
                <a:cs typeface="Arial"/>
              </a:rPr>
              <a:t>َ </a:t>
            </a:r>
            <a:r>
              <a:rPr dirty="0" baseline="1543" sz="2700" spc="-952">
                <a:latin typeface="Arial"/>
                <a:cs typeface="Arial"/>
              </a:rPr>
              <a:t>ؼ</a:t>
            </a:r>
            <a:r>
              <a:rPr dirty="0" sz="1800" spc="-635">
                <a:latin typeface="Arial"/>
                <a:cs typeface="Arial"/>
              </a:rPr>
              <a:t>ِ</a:t>
            </a:r>
            <a:r>
              <a:rPr dirty="0" sz="1800" spc="81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a:t>
            </a:r>
            <a:r>
              <a:rPr dirty="0" sz="1800" spc="-204">
                <a:latin typeface="Arial"/>
                <a:cs typeface="Arial"/>
              </a:rPr>
              <a:t>ِ </a:t>
            </a:r>
            <a:r>
              <a:rPr dirty="0" baseline="1543" sz="2700" spc="-457">
                <a:latin typeface="Arial"/>
                <a:cs typeface="Arial"/>
              </a:rPr>
              <a:t>ر</a:t>
            </a:r>
            <a:r>
              <a:rPr dirty="0" baseline="-13888" sz="2700" spc="-457">
                <a:latin typeface="Arial"/>
                <a:cs typeface="Arial"/>
              </a:rPr>
              <a:t>ِ </a:t>
            </a:r>
            <a:r>
              <a:rPr dirty="0" baseline="1543" sz="2700" spc="-885">
                <a:latin typeface="Arial"/>
                <a:cs typeface="Arial"/>
              </a:rPr>
              <a:t>اص</a:t>
            </a:r>
            <a:r>
              <a:rPr dirty="0" baseline="-1543" sz="2700" spc="-885">
                <a:latin typeface="Arial"/>
                <a:cs typeface="Arial"/>
              </a:rPr>
              <a:t>َ</a:t>
            </a:r>
            <a:r>
              <a:rPr dirty="0" baseline="-1543" sz="2700" spc="1342">
                <a:latin typeface="Arial"/>
                <a:cs typeface="Arial"/>
              </a:rPr>
              <a:t> </a:t>
            </a:r>
            <a:r>
              <a:rPr dirty="0" baseline="1543" sz="2700" spc="-869">
                <a:latin typeface="Arial"/>
                <a:cs typeface="Arial"/>
              </a:rPr>
              <a:t>بْ</a:t>
            </a:r>
            <a:r>
              <a:rPr dirty="0" baseline="1543" sz="2700" spc="-315">
                <a:latin typeface="Arial"/>
                <a:cs typeface="Arial"/>
              </a:rPr>
              <a:t> </a:t>
            </a:r>
            <a:r>
              <a:rPr dirty="0" baseline="15432" sz="2700">
                <a:latin typeface="Arial"/>
                <a:cs typeface="Arial"/>
              </a:rPr>
              <a:t>َ</a:t>
            </a:r>
            <a:r>
              <a:rPr dirty="0" baseline="1543" sz="2700">
                <a:latin typeface="Arial"/>
                <a:cs typeface="Arial"/>
              </a:rPr>
              <a:t>أ </a:t>
            </a:r>
            <a:r>
              <a:rPr dirty="0" baseline="1543" sz="2700" spc="-532">
                <a:latin typeface="Arial"/>
                <a:cs typeface="Arial"/>
              </a:rPr>
              <a:t>ى</a:t>
            </a:r>
            <a:r>
              <a:rPr dirty="0" baseline="6172" sz="2700" spc="-532">
                <a:latin typeface="Arial"/>
                <a:cs typeface="Arial"/>
              </a:rPr>
              <a:t>ٰ </a:t>
            </a:r>
            <a:r>
              <a:rPr dirty="0" baseline="9259" sz="2700" spc="-509">
                <a:latin typeface="Arial"/>
                <a:cs typeface="Arial"/>
              </a:rPr>
              <a:t>َ</a:t>
            </a:r>
            <a:r>
              <a:rPr dirty="0" baseline="1543" sz="2700" spc="-509">
                <a:latin typeface="Arial"/>
                <a:cs typeface="Arial"/>
              </a:rPr>
              <a:t>لع</a:t>
            </a:r>
            <a:r>
              <a:rPr dirty="0" baseline="-1543" sz="2700" spc="-509">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a:t>
            </a:r>
            <a:r>
              <a:rPr dirty="0" baseline="-10802" sz="2700" spc="-307">
                <a:latin typeface="Arial"/>
                <a:cs typeface="Arial"/>
              </a:rPr>
              <a:t>ِ </a:t>
            </a:r>
            <a:r>
              <a:rPr dirty="0" baseline="1543" sz="2700" spc="-622">
                <a:latin typeface="Arial"/>
                <a:cs typeface="Arial"/>
              </a:rPr>
              <a:t>ع</a:t>
            </a:r>
            <a:r>
              <a:rPr dirty="0" sz="1800" spc="-415">
                <a:latin typeface="Arial"/>
                <a:cs typeface="Arial"/>
              </a:rPr>
              <a:t>ِ </a:t>
            </a:r>
            <a:r>
              <a:rPr dirty="0" baseline="1543" sz="2700" spc="-322">
                <a:latin typeface="Arial"/>
                <a:cs typeface="Arial"/>
              </a:rPr>
              <a:t>مْ </a:t>
            </a:r>
            <a:r>
              <a:rPr dirty="0" baseline="1543" sz="2700" spc="-982">
                <a:latin typeface="Arial"/>
                <a:cs typeface="Arial"/>
              </a:rPr>
              <a:t>س</a:t>
            </a:r>
            <a:r>
              <a:rPr dirty="0" baseline="-1543" sz="2700" spc="-982">
                <a:latin typeface="Arial"/>
                <a:cs typeface="Arial"/>
              </a:rPr>
              <a:t>َ</a:t>
            </a:r>
            <a:r>
              <a:rPr dirty="0" baseline="-1543" sz="2700" spc="1252">
                <a:latin typeface="Arial"/>
                <a:cs typeface="Arial"/>
              </a:rPr>
              <a:t> </a:t>
            </a:r>
            <a:r>
              <a:rPr dirty="0" baseline="1543" sz="2700" spc="-532">
                <a:latin typeface="Arial"/>
                <a:cs typeface="Arial"/>
              </a:rPr>
              <a:t>ى</a:t>
            </a:r>
            <a:r>
              <a:rPr dirty="0" baseline="6172" sz="2700" spc="-532">
                <a:latin typeface="Arial"/>
                <a:cs typeface="Arial"/>
              </a:rPr>
              <a:t>ٰ </a:t>
            </a:r>
            <a:r>
              <a:rPr dirty="0" baseline="9259" sz="2700" spc="-509">
                <a:latin typeface="Arial"/>
                <a:cs typeface="Arial"/>
              </a:rPr>
              <a:t>َ</a:t>
            </a:r>
            <a:r>
              <a:rPr dirty="0" baseline="1543" sz="2700" spc="-509">
                <a:latin typeface="Arial"/>
                <a:cs typeface="Arial"/>
              </a:rPr>
              <a:t>لع</a:t>
            </a:r>
            <a:r>
              <a:rPr dirty="0" baseline="-1543" sz="2700" spc="-509">
                <a:latin typeface="Arial"/>
                <a:cs typeface="Arial"/>
              </a:rPr>
              <a:t>َ </a:t>
            </a:r>
            <a:r>
              <a:rPr dirty="0" baseline="1543" sz="2700" spc="-315">
                <a:latin typeface="Arial"/>
                <a:cs typeface="Arial"/>
              </a:rPr>
              <a:t>و</a:t>
            </a:r>
            <a:r>
              <a:rPr dirty="0" baseline="-1543" sz="2700" spc="-31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540">
                <a:latin typeface="Arial"/>
                <a:cs typeface="Arial"/>
              </a:rPr>
              <a:t>هب</a:t>
            </a:r>
            <a:r>
              <a:rPr dirty="0" baseline="-12345" sz="2700" spc="-540">
                <a:latin typeface="Arial"/>
                <a:cs typeface="Arial"/>
              </a:rPr>
              <a:t>ِ  </a:t>
            </a:r>
            <a:r>
              <a:rPr dirty="0" baseline="1543" sz="2700" spc="-352">
                <a:latin typeface="Arial"/>
                <a:cs typeface="Arial"/>
              </a:rPr>
              <a:t>و</a:t>
            </a:r>
            <a:r>
              <a:rPr dirty="0" baseline="12345" sz="2700" spc="-352">
                <a:latin typeface="Arial"/>
                <a:cs typeface="Arial"/>
              </a:rPr>
              <a:t>ُ</a:t>
            </a:r>
            <a:r>
              <a:rPr dirty="0" baseline="1543" sz="2700" spc="-352">
                <a:latin typeface="Arial"/>
                <a:cs typeface="Arial"/>
              </a:rPr>
              <a:t>ل</a:t>
            </a:r>
            <a:r>
              <a:rPr dirty="0" baseline="9259" sz="2700" spc="-352">
                <a:latin typeface="Arial"/>
                <a:cs typeface="Arial"/>
              </a:rPr>
              <a:t>ُ</a:t>
            </a:r>
            <a:r>
              <a:rPr dirty="0" baseline="1543" sz="2700" spc="-352">
                <a:latin typeface="Arial"/>
                <a:cs typeface="Arial"/>
              </a:rPr>
              <a:t>ق </a:t>
            </a:r>
            <a:r>
              <a:rPr dirty="0" baseline="1543" sz="2700" spc="-532">
                <a:latin typeface="Arial"/>
                <a:cs typeface="Arial"/>
              </a:rPr>
              <a:t>ى</a:t>
            </a:r>
            <a:r>
              <a:rPr dirty="0" baseline="6172" sz="2700" spc="-532">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607">
                <a:latin typeface="Arial"/>
                <a:cs typeface="Arial"/>
              </a:rPr>
              <a:t>ع</a:t>
            </a:r>
            <a:r>
              <a:rPr dirty="0" baseline="-1543" sz="2700" spc="-607">
                <a:latin typeface="Arial"/>
                <a:cs typeface="Arial"/>
              </a:rPr>
              <a:t>َ  </a:t>
            </a:r>
            <a:r>
              <a:rPr dirty="0" baseline="-7716" sz="2700" spc="-630">
                <a:latin typeface="Arial"/>
                <a:cs typeface="Arial"/>
              </a:rPr>
              <a:t>ُ</a:t>
            </a:r>
            <a:r>
              <a:rPr dirty="0" baseline="1543" sz="2700" spc="-630">
                <a:latin typeface="Arial"/>
                <a:cs typeface="Arial"/>
              </a:rPr>
              <a:t>للَّ</a:t>
            </a:r>
            <a:r>
              <a:rPr dirty="0" baseline="13888" sz="2700" spc="-630">
                <a:latin typeface="Arial"/>
                <a:cs typeface="Arial"/>
              </a:rPr>
              <a:t>َّ </a:t>
            </a:r>
            <a:r>
              <a:rPr dirty="0" baseline="1543" sz="2700">
                <a:latin typeface="Arial"/>
                <a:cs typeface="Arial"/>
              </a:rPr>
              <a:t>ٱ </a:t>
            </a:r>
            <a:r>
              <a:rPr dirty="0" baseline="1543" sz="2700" spc="-390">
                <a:latin typeface="Arial"/>
                <a:cs typeface="Arial"/>
              </a:rPr>
              <a:t>م</a:t>
            </a:r>
            <a:r>
              <a:rPr dirty="0" baseline="-7716" sz="2700" spc="-390">
                <a:latin typeface="Arial"/>
                <a:cs typeface="Arial"/>
              </a:rPr>
              <a:t>َ</a:t>
            </a:r>
            <a:r>
              <a:rPr dirty="0" baseline="-7716" sz="2700" spc="-52">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09">
                <a:latin typeface="Arial"/>
                <a:cs typeface="Arial"/>
              </a:rPr>
              <a:t> </a:t>
            </a:r>
            <a:r>
              <a:rPr dirty="0" baseline="1543" sz="2700" spc="-1185">
                <a:latin typeface="Arial"/>
                <a:cs typeface="Arial"/>
              </a:rPr>
              <a:t>خ</a:t>
            </a:r>
            <a:endParaRPr baseline="1543" sz="27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53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6615" y="432307"/>
            <a:ext cx="6678295" cy="8791575"/>
          </a:xfrm>
          <a:prstGeom prst="rect">
            <a:avLst/>
          </a:prstGeom>
        </p:spPr>
        <p:txBody>
          <a:bodyPr wrap="square" lIns="0" tIns="12700" rIns="0" bIns="0" rtlCol="0" vert="horz">
            <a:spAutoFit/>
          </a:bodyPr>
          <a:lstStyle/>
          <a:p>
            <a:pPr algn="just" marL="190500">
              <a:lnSpc>
                <a:spcPct val="100000"/>
              </a:lnSpc>
              <a:spcBef>
                <a:spcPts val="100"/>
              </a:spcBef>
              <a:tabLst>
                <a:tab pos="52412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b="1">
                <a:latin typeface="Times New Roman"/>
                <a:cs typeface="Times New Roman"/>
              </a:rPr>
              <a:t> 9013</a:t>
            </a:r>
            <a:endParaRPr sz="1200">
              <a:latin typeface="Times New Roman"/>
              <a:cs typeface="Times New Roman"/>
            </a:endParaRPr>
          </a:p>
          <a:p>
            <a:pPr>
              <a:lnSpc>
                <a:spcPct val="100000"/>
              </a:lnSpc>
              <a:spcBef>
                <a:spcPts val="50"/>
              </a:spcBef>
            </a:pPr>
            <a:endParaRPr sz="1300">
              <a:latin typeface="Times New Roman"/>
              <a:cs typeface="Times New Roman"/>
            </a:endParaRPr>
          </a:p>
          <a:p>
            <a:pPr marL="190500" marR="201930">
              <a:lnSpc>
                <a:spcPts val="1380"/>
              </a:lnSpc>
              <a:buAutoNum type="arabicPeriod" startAt="7"/>
              <a:tabLst>
                <a:tab pos="384175" algn="l"/>
              </a:tabLst>
            </a:pPr>
            <a:r>
              <a:rPr dirty="0" sz="1200" spc="-5">
                <a:latin typeface="Arial"/>
                <a:cs typeface="Arial"/>
              </a:rPr>
              <a:t>Allah hath sealed their hearing and their </a:t>
            </a:r>
            <a:r>
              <a:rPr dirty="0" sz="1200">
                <a:latin typeface="Arial"/>
                <a:cs typeface="Arial"/>
              </a:rPr>
              <a:t>hearts, </a:t>
            </a:r>
            <a:r>
              <a:rPr dirty="0" sz="1200" spc="-5">
                <a:latin typeface="Arial"/>
                <a:cs typeface="Arial"/>
              </a:rPr>
              <a:t>and on their eyes </a:t>
            </a:r>
            <a:r>
              <a:rPr dirty="0" sz="1200">
                <a:latin typeface="Arial"/>
                <a:cs typeface="Arial"/>
              </a:rPr>
              <a:t>there </a:t>
            </a:r>
            <a:r>
              <a:rPr dirty="0" sz="1200" spc="-5">
                <a:latin typeface="Arial"/>
                <a:cs typeface="Arial"/>
              </a:rPr>
              <a:t>is a covering.  Theirs will be </a:t>
            </a:r>
            <a:r>
              <a:rPr dirty="0" sz="1200">
                <a:latin typeface="Arial"/>
                <a:cs typeface="Arial"/>
              </a:rPr>
              <a:t>an </a:t>
            </a:r>
            <a:r>
              <a:rPr dirty="0" sz="1200" spc="-5">
                <a:latin typeface="Arial"/>
                <a:cs typeface="Arial"/>
              </a:rPr>
              <a:t>awful</a:t>
            </a:r>
            <a:r>
              <a:rPr dirty="0" sz="1200" spc="-15">
                <a:latin typeface="Arial"/>
                <a:cs typeface="Arial"/>
              </a:rPr>
              <a:t> </a:t>
            </a:r>
            <a:r>
              <a:rPr dirty="0" sz="1200" spc="-5">
                <a:latin typeface="Arial"/>
                <a:cs typeface="Arial"/>
              </a:rPr>
              <a:t>doom</a:t>
            </a:r>
            <a:endParaRPr sz="1200">
              <a:latin typeface="Arial"/>
              <a:cs typeface="Arial"/>
            </a:endParaRPr>
          </a:p>
          <a:p>
            <a:pPr>
              <a:lnSpc>
                <a:spcPct val="100000"/>
              </a:lnSpc>
              <a:spcBef>
                <a:spcPts val="20"/>
              </a:spcBef>
              <a:buFont typeface="Arial"/>
              <a:buAutoNum type="arabicPeriod" startAt="7"/>
            </a:pPr>
            <a:endParaRPr sz="1100">
              <a:latin typeface="Arial"/>
              <a:cs typeface="Arial"/>
            </a:endParaRPr>
          </a:p>
          <a:p>
            <a:pPr lvl="1" marL="647700" indent="-229235">
              <a:lnSpc>
                <a:spcPct val="100000"/>
              </a:lnSpc>
              <a:spcBef>
                <a:spcPts val="5"/>
              </a:spcBef>
              <a:buFont typeface="Wingdings"/>
              <a:buChar char=""/>
              <a:tabLst>
                <a:tab pos="648335" algn="l"/>
              </a:tabLst>
            </a:pPr>
            <a:r>
              <a:rPr dirty="0" u="heavy" sz="1200" spc="-5" b="1">
                <a:uFill>
                  <a:solidFill>
                    <a:srgbClr val="000000"/>
                  </a:solidFill>
                </a:uFill>
                <a:latin typeface="Arial"/>
                <a:cs typeface="Arial"/>
              </a:rPr>
              <a:t>Concerning the hypocrites, </a:t>
            </a:r>
            <a:r>
              <a:rPr dirty="0" u="heavy" sz="1200" spc="-10" b="1">
                <a:uFill>
                  <a:solidFill>
                    <a:srgbClr val="000000"/>
                  </a:solidFill>
                </a:uFill>
                <a:latin typeface="Arial"/>
                <a:cs typeface="Arial"/>
              </a:rPr>
              <a:t>Allah</a:t>
            </a:r>
            <a:r>
              <a:rPr dirty="0" u="heavy" sz="1200" spc="15" b="1">
                <a:uFill>
                  <a:solidFill>
                    <a:srgbClr val="000000"/>
                  </a:solidFill>
                </a:uFill>
                <a:latin typeface="Arial"/>
                <a:cs typeface="Arial"/>
              </a:rPr>
              <a:t> </a:t>
            </a:r>
            <a:r>
              <a:rPr dirty="0" u="heavy" sz="1200" spc="-5" b="1">
                <a:uFill>
                  <a:solidFill>
                    <a:srgbClr val="000000"/>
                  </a:solidFill>
                </a:uFill>
                <a:latin typeface="Arial"/>
                <a:cs typeface="Arial"/>
              </a:rPr>
              <a:t>says:</a:t>
            </a:r>
            <a:endParaRPr sz="1200">
              <a:latin typeface="Arial"/>
              <a:cs typeface="Arial"/>
            </a:endParaRPr>
          </a:p>
          <a:p>
            <a:pPr lvl="1">
              <a:lnSpc>
                <a:spcPct val="100000"/>
              </a:lnSpc>
              <a:spcBef>
                <a:spcPts val="55"/>
              </a:spcBef>
              <a:buFont typeface="Wingdings"/>
              <a:buChar char=""/>
            </a:pPr>
            <a:endParaRPr sz="1150">
              <a:latin typeface="Arial"/>
              <a:cs typeface="Arial"/>
            </a:endParaRPr>
          </a:p>
          <a:p>
            <a:pPr algn="r" marR="247015">
              <a:lnSpc>
                <a:spcPct val="100000"/>
              </a:lnSpc>
            </a:pPr>
            <a:r>
              <a:rPr dirty="0" baseline="3086" sz="2700" spc="-509">
                <a:latin typeface="Arial"/>
                <a:cs typeface="Arial"/>
              </a:rPr>
              <a:t>ن</a:t>
            </a:r>
            <a:r>
              <a:rPr dirty="0" sz="1800" spc="-340">
                <a:latin typeface="Arial"/>
                <a:cs typeface="Arial"/>
              </a:rPr>
              <a:t>َ </a:t>
            </a:r>
            <a:r>
              <a:rPr dirty="0" baseline="3086" sz="2700" spc="-480">
                <a:latin typeface="Arial"/>
                <a:cs typeface="Arial"/>
              </a:rPr>
              <a:t>ٌن</a:t>
            </a:r>
            <a:r>
              <a:rPr dirty="0" baseline="1543" sz="2700" spc="-48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30">
                <a:latin typeface="Arial"/>
                <a:cs typeface="Arial"/>
              </a:rPr>
              <a:t>إْ </a:t>
            </a:r>
            <a:r>
              <a:rPr dirty="0" baseline="3086" sz="2700" spc="-397">
                <a:latin typeface="Arial"/>
                <a:cs typeface="Arial"/>
              </a:rPr>
              <a:t>مُ </a:t>
            </a:r>
            <a:r>
              <a:rPr dirty="0" baseline="3086" sz="2700" spc="-960">
                <a:latin typeface="Arial"/>
                <a:cs typeface="Arial"/>
              </a:rPr>
              <a:t>ب</a:t>
            </a:r>
            <a:r>
              <a:rPr dirty="0" baseline="-10802" sz="2700" spc="-960">
                <a:latin typeface="Arial"/>
                <a:cs typeface="Arial"/>
              </a:rPr>
              <a:t>ِ</a:t>
            </a:r>
            <a:r>
              <a:rPr dirty="0" baseline="-10802" sz="2700" spc="705">
                <a:latin typeface="Arial"/>
                <a:cs typeface="Arial"/>
              </a:rPr>
              <a:t> </a:t>
            </a:r>
            <a:r>
              <a:rPr dirty="0" baseline="3086" sz="2700" spc="-202">
                <a:latin typeface="Arial"/>
                <a:cs typeface="Arial"/>
              </a:rPr>
              <a:t>مهُ </a:t>
            </a:r>
            <a:r>
              <a:rPr dirty="0" baseline="3086" sz="2700" spc="-225">
                <a:latin typeface="Arial"/>
                <a:cs typeface="Arial"/>
              </a:rPr>
              <a:t>ام</a:t>
            </a:r>
            <a:r>
              <a:rPr dirty="0" sz="1800" spc="-150">
                <a:latin typeface="Arial"/>
                <a:cs typeface="Arial"/>
              </a:rPr>
              <a:t>َ </a:t>
            </a:r>
            <a:r>
              <a:rPr dirty="0" baseline="3086" sz="2700" spc="-307">
                <a:latin typeface="Arial"/>
                <a:cs typeface="Arial"/>
              </a:rPr>
              <a:t>و</a:t>
            </a:r>
            <a:r>
              <a:rPr dirty="0" sz="1800" spc="-204">
                <a:latin typeface="Arial"/>
                <a:cs typeface="Arial"/>
              </a:rPr>
              <a:t>َ </a:t>
            </a:r>
            <a:r>
              <a:rPr dirty="0" baseline="3086" sz="2700" spc="-457">
                <a:latin typeface="Arial"/>
                <a:cs typeface="Arial"/>
              </a:rPr>
              <a:t>ر</a:t>
            </a:r>
            <a:r>
              <a:rPr dirty="0" baseline="-10802" sz="2700" spc="-457">
                <a:latin typeface="Arial"/>
                <a:cs typeface="Arial"/>
              </a:rPr>
              <a:t>ِ </a:t>
            </a:r>
            <a:r>
              <a:rPr dirty="0" baseline="3086" sz="2700" spc="-719">
                <a:latin typeface="Arial"/>
                <a:cs typeface="Arial"/>
              </a:rPr>
              <a:t>خ</a:t>
            </a:r>
            <a:r>
              <a:rPr dirty="0" baseline="1543" sz="2700" spc="-719">
                <a:latin typeface="Arial"/>
                <a:cs typeface="Arial"/>
              </a:rPr>
              <a:t>ِ </a:t>
            </a:r>
            <a:r>
              <a:rPr dirty="0" baseline="3086" sz="2700" spc="-157">
                <a:latin typeface="Arial"/>
                <a:cs typeface="Arial"/>
              </a:rPr>
              <a:t>لآٱ </a:t>
            </a:r>
            <a:r>
              <a:rPr dirty="0" baseline="3086" sz="2700" spc="-322">
                <a:latin typeface="Arial"/>
                <a:cs typeface="Arial"/>
              </a:rPr>
              <a:t>م</a:t>
            </a:r>
            <a:r>
              <a:rPr dirty="0" baseline="-13888" sz="2700" spc="-322">
                <a:latin typeface="Arial"/>
                <a:cs typeface="Arial"/>
              </a:rPr>
              <a:t>ِ </a:t>
            </a:r>
            <a:r>
              <a:rPr dirty="0" baseline="3086" sz="2700" spc="-270">
                <a:latin typeface="Arial"/>
                <a:cs typeface="Arial"/>
              </a:rPr>
              <a:t>وْ </a:t>
            </a:r>
            <a:r>
              <a:rPr dirty="0" baseline="3086" sz="2700">
                <a:latin typeface="Arial"/>
                <a:cs typeface="Arial"/>
              </a:rPr>
              <a:t>ٌ</a:t>
            </a:r>
            <a:r>
              <a:rPr dirty="0" sz="180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622">
                <a:latin typeface="Arial"/>
                <a:cs typeface="Arial"/>
              </a:rPr>
              <a:t>ٲب</a:t>
            </a:r>
            <a:r>
              <a:rPr dirty="0" baseline="-10802" sz="2700" spc="-622">
                <a:latin typeface="Arial"/>
                <a:cs typeface="Arial"/>
              </a:rPr>
              <a:t>ِ </a:t>
            </a:r>
            <a:r>
              <a:rPr dirty="0" baseline="3086" sz="2700" spc="-307">
                <a:latin typeface="Arial"/>
                <a:cs typeface="Arial"/>
              </a:rPr>
              <a:t>و</a:t>
            </a:r>
            <a:r>
              <a:rPr dirty="0" sz="1800" spc="-204">
                <a:latin typeface="Arial"/>
                <a:cs typeface="Arial"/>
              </a:rPr>
              <a:t>َ </a:t>
            </a:r>
            <a:r>
              <a:rPr dirty="0" baseline="3086" sz="2700" spc="-885">
                <a:latin typeface="Arial"/>
                <a:cs typeface="Arial"/>
              </a:rPr>
              <a:t>للَّ</a:t>
            </a:r>
            <a:r>
              <a:rPr dirty="0" sz="1800" spc="-590">
                <a:latin typeface="Arial"/>
                <a:cs typeface="Arial"/>
              </a:rPr>
              <a:t>ِ</a:t>
            </a:r>
            <a:r>
              <a:rPr dirty="0" sz="1800" spc="-70">
                <a:latin typeface="Arial"/>
                <a:cs typeface="Arial"/>
              </a:rPr>
              <a:t> </a:t>
            </a:r>
            <a:r>
              <a:rPr dirty="0" baseline="15432" sz="2700">
                <a:latin typeface="Arial"/>
                <a:cs typeface="Arial"/>
              </a:rPr>
              <a:t>َّ </a:t>
            </a:r>
            <a:r>
              <a:rPr dirty="0" baseline="3086" sz="2700" spc="-622">
                <a:latin typeface="Arial"/>
                <a:cs typeface="Arial"/>
              </a:rPr>
              <a:t>ٲب</a:t>
            </a:r>
            <a:r>
              <a:rPr dirty="0" baseline="-10802" sz="2700" spc="-622">
                <a:latin typeface="Arial"/>
                <a:cs typeface="Arial"/>
              </a:rPr>
              <a:t>ِ </a:t>
            </a:r>
            <a:r>
              <a:rPr dirty="0" baseline="3086" sz="2700" spc="-322">
                <a:latin typeface="Arial"/>
                <a:cs typeface="Arial"/>
              </a:rPr>
              <a:t>ان</a:t>
            </a:r>
            <a:r>
              <a:rPr dirty="0" baseline="10802" sz="2700" spc="-322">
                <a:latin typeface="Arial"/>
                <a:cs typeface="Arial"/>
              </a:rPr>
              <a:t>َّ </a:t>
            </a:r>
            <a:r>
              <a:rPr dirty="0" baseline="3086" sz="2700" spc="-359">
                <a:latin typeface="Arial"/>
                <a:cs typeface="Arial"/>
              </a:rPr>
              <a:t>م</a:t>
            </a:r>
            <a:r>
              <a:rPr dirty="0" sz="1800" spc="-240">
                <a:latin typeface="Arial"/>
                <a:cs typeface="Arial"/>
              </a:rPr>
              <a:t>َ </a:t>
            </a:r>
            <a:r>
              <a:rPr dirty="0" baseline="3086" sz="2700">
                <a:latin typeface="Arial"/>
                <a:cs typeface="Arial"/>
              </a:rPr>
              <a:t>آ </a:t>
            </a:r>
            <a:r>
              <a:rPr dirty="0" baseline="3086" sz="2700" spc="-652">
                <a:latin typeface="Arial"/>
                <a:cs typeface="Arial"/>
              </a:rPr>
              <a:t>لُ </a:t>
            </a:r>
            <a:r>
              <a:rPr dirty="0" baseline="3086" sz="2700" spc="-179">
                <a:latin typeface="Arial"/>
                <a:cs typeface="Arial"/>
              </a:rPr>
              <a:t>و</a:t>
            </a:r>
            <a:r>
              <a:rPr dirty="0" baseline="10802" sz="2700" spc="-179">
                <a:latin typeface="Arial"/>
                <a:cs typeface="Arial"/>
              </a:rPr>
              <a:t>ُ</a:t>
            </a:r>
            <a:r>
              <a:rPr dirty="0" baseline="3086" sz="2700" spc="-179">
                <a:latin typeface="Arial"/>
                <a:cs typeface="Arial"/>
              </a:rPr>
              <a:t>قٌ</a:t>
            </a:r>
            <a:r>
              <a:rPr dirty="0" sz="1800" spc="-120">
                <a:latin typeface="Arial"/>
                <a:cs typeface="Arial"/>
              </a:rPr>
              <a:t>َ </a:t>
            </a:r>
            <a:r>
              <a:rPr dirty="0" baseline="3086" sz="2700" spc="-240">
                <a:latin typeface="Arial"/>
                <a:cs typeface="Arial"/>
              </a:rPr>
              <a:t>نم</a:t>
            </a:r>
            <a:r>
              <a:rPr dirty="0" sz="1800" spc="-160">
                <a:latin typeface="Arial"/>
                <a:cs typeface="Arial"/>
              </a:rPr>
              <a:t>َ </a:t>
            </a:r>
            <a:r>
              <a:rPr dirty="0" baseline="3086" sz="2700" spc="-869">
                <a:latin typeface="Arial"/>
                <a:cs typeface="Arial"/>
              </a:rPr>
              <a:t>س</a:t>
            </a:r>
            <a:r>
              <a:rPr dirty="0" baseline="-10802" sz="2700" spc="-869">
                <a:latin typeface="Arial"/>
                <a:cs typeface="Arial"/>
              </a:rPr>
              <a:t>ِ</a:t>
            </a:r>
            <a:r>
              <a:rPr dirty="0" baseline="-10802" sz="2700" spc="1072">
                <a:latin typeface="Arial"/>
                <a:cs typeface="Arial"/>
              </a:rPr>
              <a:t> </a:t>
            </a:r>
            <a:r>
              <a:rPr dirty="0" baseline="3086" sz="2700" spc="-322">
                <a:latin typeface="Arial"/>
                <a:cs typeface="Arial"/>
              </a:rPr>
              <a:t>ان</a:t>
            </a:r>
            <a:r>
              <a:rPr dirty="0" baseline="10802" sz="2700" spc="-322">
                <a:latin typeface="Arial"/>
                <a:cs typeface="Arial"/>
              </a:rPr>
              <a:t>َّ </a:t>
            </a:r>
            <a:r>
              <a:rPr dirty="0" baseline="3086" sz="2700" spc="-412">
                <a:latin typeface="Arial"/>
                <a:cs typeface="Arial"/>
              </a:rPr>
              <a:t>لٱ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a:t>
            </a:r>
            <a:r>
              <a:rPr dirty="0" baseline="1543" sz="2700" spc="-179">
                <a:latin typeface="Arial"/>
                <a:cs typeface="Arial"/>
              </a:rPr>
              <a:t> </a:t>
            </a:r>
            <a:r>
              <a:rPr dirty="0" baseline="3086" sz="2700" spc="-615">
                <a:latin typeface="Arial"/>
                <a:cs typeface="Arial"/>
              </a:rPr>
              <a:t>و</a:t>
            </a:r>
            <a:endParaRPr baseline="3086" sz="2700">
              <a:latin typeface="Arial"/>
              <a:cs typeface="Arial"/>
            </a:endParaRPr>
          </a:p>
          <a:p>
            <a:pPr marL="190500" marR="201930">
              <a:lnSpc>
                <a:spcPts val="1380"/>
              </a:lnSpc>
              <a:spcBef>
                <a:spcPts val="1320"/>
              </a:spcBef>
              <a:buAutoNum type="arabicPeriod" startAt="8"/>
              <a:tabLst>
                <a:tab pos="386080" algn="l"/>
              </a:tabLst>
            </a:pPr>
            <a:r>
              <a:rPr dirty="0" sz="1200" spc="-5">
                <a:latin typeface="Arial"/>
                <a:cs typeface="Arial"/>
              </a:rPr>
              <a:t>And of mankind </a:t>
            </a:r>
            <a:r>
              <a:rPr dirty="0" sz="1200" spc="-10">
                <a:latin typeface="Arial"/>
                <a:cs typeface="Arial"/>
              </a:rPr>
              <a:t>are </a:t>
            </a:r>
            <a:r>
              <a:rPr dirty="0" sz="1200" spc="-5">
                <a:latin typeface="Arial"/>
                <a:cs typeface="Arial"/>
              </a:rPr>
              <a:t>some </a:t>
            </a:r>
            <a:r>
              <a:rPr dirty="0" sz="1200" spc="-10">
                <a:latin typeface="Arial"/>
                <a:cs typeface="Arial"/>
              </a:rPr>
              <a:t>who </a:t>
            </a:r>
            <a:r>
              <a:rPr dirty="0" sz="1200" spc="-5">
                <a:latin typeface="Arial"/>
                <a:cs typeface="Arial"/>
              </a:rPr>
              <a:t>say: </a:t>
            </a:r>
            <a:r>
              <a:rPr dirty="0" sz="1200" spc="20">
                <a:latin typeface="Arial"/>
                <a:cs typeface="Arial"/>
              </a:rPr>
              <a:t>We </a:t>
            </a:r>
            <a:r>
              <a:rPr dirty="0" sz="1200" spc="-5">
                <a:latin typeface="Arial"/>
                <a:cs typeface="Arial"/>
              </a:rPr>
              <a:t>believe in Allah and </a:t>
            </a:r>
            <a:r>
              <a:rPr dirty="0" sz="1200">
                <a:latin typeface="Arial"/>
                <a:cs typeface="Arial"/>
              </a:rPr>
              <a:t>the </a:t>
            </a:r>
            <a:r>
              <a:rPr dirty="0" sz="1200" spc="-5">
                <a:latin typeface="Arial"/>
                <a:cs typeface="Arial"/>
              </a:rPr>
              <a:t>Last Day, when </a:t>
            </a:r>
            <a:r>
              <a:rPr dirty="0" sz="1200">
                <a:latin typeface="Arial"/>
                <a:cs typeface="Arial"/>
              </a:rPr>
              <a:t>they  </a:t>
            </a:r>
            <a:r>
              <a:rPr dirty="0" sz="1200" spc="-5">
                <a:latin typeface="Arial"/>
                <a:cs typeface="Arial"/>
              </a:rPr>
              <a:t>believe </a:t>
            </a:r>
            <a:r>
              <a:rPr dirty="0" sz="1200">
                <a:latin typeface="Arial"/>
                <a:cs typeface="Arial"/>
              </a:rPr>
              <a:t>not</a:t>
            </a:r>
            <a:endParaRPr sz="1200">
              <a:latin typeface="Arial"/>
              <a:cs typeface="Arial"/>
            </a:endParaRPr>
          </a:p>
          <a:p>
            <a:pPr>
              <a:lnSpc>
                <a:spcPct val="100000"/>
              </a:lnSpc>
              <a:spcBef>
                <a:spcPts val="20"/>
              </a:spcBef>
              <a:buFont typeface="Arial"/>
              <a:buAutoNum type="arabicPeriod" startAt="8"/>
            </a:pPr>
            <a:endParaRPr sz="1150">
              <a:latin typeface="Arial"/>
              <a:cs typeface="Arial"/>
            </a:endParaRPr>
          </a:p>
          <a:p>
            <a:pPr algn="r" marR="245745">
              <a:lnSpc>
                <a:spcPct val="100000"/>
              </a:lnSpc>
            </a:pPr>
            <a:r>
              <a:rPr dirty="0" baseline="3086" sz="2700" spc="-494">
                <a:latin typeface="Arial"/>
                <a:cs typeface="Arial"/>
              </a:rPr>
              <a:t>ن</a:t>
            </a:r>
            <a:r>
              <a:rPr dirty="0" sz="1800" spc="-330">
                <a:latin typeface="Arial"/>
                <a:cs typeface="Arial"/>
              </a:rPr>
              <a:t>َ </a:t>
            </a:r>
            <a:r>
              <a:rPr dirty="0" baseline="3086" sz="2700" spc="-352">
                <a:latin typeface="Arial"/>
                <a:cs typeface="Arial"/>
              </a:rPr>
              <a:t>ورُ </a:t>
            </a:r>
            <a:r>
              <a:rPr dirty="0" baseline="3086" sz="2700" spc="-637">
                <a:latin typeface="Arial"/>
                <a:cs typeface="Arial"/>
              </a:rPr>
              <a:t>عُ </a:t>
            </a:r>
            <a:r>
              <a:rPr dirty="0" baseline="3086" sz="2700" spc="-1005">
                <a:latin typeface="Arial"/>
                <a:cs typeface="Arial"/>
              </a:rPr>
              <a:t>ش</a:t>
            </a:r>
            <a:r>
              <a:rPr dirty="0" baseline="12345" sz="2700" spc="-1005">
                <a:latin typeface="Arial"/>
                <a:cs typeface="Arial"/>
              </a:rPr>
              <a:t>ْ</a:t>
            </a:r>
            <a:r>
              <a:rPr dirty="0" baseline="12345" sz="2700" spc="540">
                <a:latin typeface="Arial"/>
                <a:cs typeface="Arial"/>
              </a:rPr>
              <a:t> </a:t>
            </a:r>
            <a:r>
              <a:rPr dirty="0" baseline="3086" sz="2700">
                <a:latin typeface="Arial"/>
                <a:cs typeface="Arial"/>
              </a:rPr>
              <a:t>ٌ</a:t>
            </a:r>
            <a:r>
              <a:rPr dirty="0" sz="1800">
                <a:latin typeface="Arial"/>
                <a:cs typeface="Arial"/>
              </a:rPr>
              <a:t>َ </a:t>
            </a:r>
            <a:r>
              <a:rPr dirty="0" baseline="3086" sz="2700" spc="-225">
                <a:latin typeface="Arial"/>
                <a:cs typeface="Arial"/>
              </a:rPr>
              <a:t>ام</a:t>
            </a:r>
            <a:r>
              <a:rPr dirty="0" sz="1800" spc="-150">
                <a:latin typeface="Arial"/>
                <a:cs typeface="Arial"/>
              </a:rPr>
              <a:t>َ </a:t>
            </a:r>
            <a:r>
              <a:rPr dirty="0" baseline="3086" sz="2700" spc="-307">
                <a:latin typeface="Arial"/>
                <a:cs typeface="Arial"/>
              </a:rPr>
              <a:t>و</a:t>
            </a:r>
            <a:r>
              <a:rPr dirty="0" sz="1800" spc="-204">
                <a:latin typeface="Arial"/>
                <a:cs typeface="Arial"/>
              </a:rPr>
              <a:t>َ </a:t>
            </a:r>
            <a:r>
              <a:rPr dirty="0" baseline="3086" sz="2700" spc="-240">
                <a:latin typeface="Arial"/>
                <a:cs typeface="Arial"/>
              </a:rPr>
              <a:t>مهُ </a:t>
            </a:r>
            <a:r>
              <a:rPr dirty="0" baseline="3086" sz="2700" spc="-982">
                <a:latin typeface="Arial"/>
                <a:cs typeface="Arial"/>
              </a:rPr>
              <a:t>س</a:t>
            </a:r>
            <a:r>
              <a:rPr dirty="0" sz="1800" spc="-655">
                <a:latin typeface="Arial"/>
                <a:cs typeface="Arial"/>
              </a:rPr>
              <a:t>َ</a:t>
            </a:r>
            <a:r>
              <a:rPr dirty="0" sz="1800" spc="320">
                <a:latin typeface="Arial"/>
                <a:cs typeface="Arial"/>
              </a:rPr>
              <a:t> </a:t>
            </a:r>
            <a:r>
              <a:rPr dirty="0" baseline="10802" sz="2700" spc="-660">
                <a:latin typeface="Arial"/>
                <a:cs typeface="Arial"/>
              </a:rPr>
              <a:t>ُ</a:t>
            </a:r>
            <a:r>
              <a:rPr dirty="0" baseline="3086" sz="2700" spc="-660">
                <a:latin typeface="Arial"/>
                <a:cs typeface="Arial"/>
              </a:rPr>
              <a:t>فن</a:t>
            </a:r>
            <a:r>
              <a:rPr dirty="0" baseline="12345" sz="2700" spc="-660">
                <a:latin typeface="Arial"/>
                <a:cs typeface="Arial"/>
              </a:rPr>
              <a:t>ْ </a:t>
            </a:r>
            <a:r>
              <a:rPr dirty="0" baseline="16975" sz="2700">
                <a:latin typeface="Arial"/>
                <a:cs typeface="Arial"/>
              </a:rPr>
              <a:t>َ</a:t>
            </a:r>
            <a:r>
              <a:rPr dirty="0" baseline="3086" sz="2700">
                <a:latin typeface="Arial"/>
                <a:cs typeface="Arial"/>
              </a:rPr>
              <a:t>أ </a:t>
            </a:r>
            <a:r>
              <a:rPr dirty="0" baseline="12345" sz="2700" spc="-82">
                <a:latin typeface="Arial"/>
                <a:cs typeface="Arial"/>
              </a:rPr>
              <a:t>َّ</a:t>
            </a:r>
            <a:r>
              <a:rPr dirty="0" baseline="3086" sz="2700" spc="-82">
                <a:latin typeface="Arial"/>
                <a:cs typeface="Arial"/>
              </a:rPr>
              <a:t>لا</a:t>
            </a:r>
            <a:r>
              <a:rPr dirty="0" baseline="-10802" sz="2700" spc="-82">
                <a:latin typeface="Arial"/>
                <a:cs typeface="Arial"/>
              </a:rPr>
              <a:t>ِ</a:t>
            </a:r>
            <a:r>
              <a:rPr dirty="0" baseline="3086" sz="2700" spc="-82">
                <a:latin typeface="Arial"/>
                <a:cs typeface="Arial"/>
              </a:rPr>
              <a:t>إ </a:t>
            </a:r>
            <a:r>
              <a:rPr dirty="0" baseline="3086" sz="2700" spc="-494">
                <a:latin typeface="Arial"/>
                <a:cs typeface="Arial"/>
              </a:rPr>
              <a:t>ن</a:t>
            </a:r>
            <a:r>
              <a:rPr dirty="0" sz="1800" spc="-330">
                <a:latin typeface="Arial"/>
                <a:cs typeface="Arial"/>
              </a:rPr>
              <a:t>َ </a:t>
            </a:r>
            <a:r>
              <a:rPr dirty="0" baseline="3086" sz="2700" spc="-434">
                <a:latin typeface="Arial"/>
                <a:cs typeface="Arial"/>
              </a:rPr>
              <a:t>وعُ </a:t>
            </a:r>
            <a:r>
              <a:rPr dirty="0" baseline="3086" sz="2700" spc="-322">
                <a:latin typeface="Arial"/>
                <a:cs typeface="Arial"/>
              </a:rPr>
              <a:t>دَ </a:t>
            </a:r>
            <a:r>
              <a:rPr dirty="0" baseline="3086" sz="2700" spc="-555">
                <a:latin typeface="Arial"/>
                <a:cs typeface="Arial"/>
              </a:rPr>
              <a:t>خ</a:t>
            </a:r>
            <a:r>
              <a:rPr dirty="0" baseline="12345" sz="2700" spc="-555">
                <a:latin typeface="Arial"/>
                <a:cs typeface="Arial"/>
              </a:rPr>
              <a:t>ْ </a:t>
            </a:r>
            <a:r>
              <a:rPr dirty="0" baseline="3086" sz="2700">
                <a:latin typeface="Arial"/>
                <a:cs typeface="Arial"/>
              </a:rPr>
              <a:t>ٌ</a:t>
            </a:r>
            <a:r>
              <a:rPr dirty="0" sz="1800">
                <a:latin typeface="Arial"/>
                <a:cs typeface="Arial"/>
              </a:rPr>
              <a:t>َ </a:t>
            </a:r>
            <a:r>
              <a:rPr dirty="0" baseline="3086" sz="2700" spc="-225">
                <a:latin typeface="Arial"/>
                <a:cs typeface="Arial"/>
              </a:rPr>
              <a:t>ام</a:t>
            </a:r>
            <a:r>
              <a:rPr dirty="0" sz="1800" spc="-150">
                <a:latin typeface="Arial"/>
                <a:cs typeface="Arial"/>
              </a:rPr>
              <a:t>َ </a:t>
            </a:r>
            <a:r>
              <a:rPr dirty="0" baseline="3086" sz="2700" spc="-307">
                <a:latin typeface="Arial"/>
                <a:cs typeface="Arial"/>
              </a:rPr>
              <a:t>و</a:t>
            </a:r>
            <a:r>
              <a:rPr dirty="0" sz="1800" spc="-204">
                <a:latin typeface="Arial"/>
                <a:cs typeface="Arial"/>
              </a:rPr>
              <a:t>َ </a:t>
            </a:r>
            <a:r>
              <a:rPr dirty="0" baseline="3086" sz="2700" spc="-345">
                <a:latin typeface="Arial"/>
                <a:cs typeface="Arial"/>
              </a:rPr>
              <a:t>اون</a:t>
            </a:r>
            <a:r>
              <a:rPr dirty="0" baseline="10802" sz="2700" spc="-345">
                <a:latin typeface="Arial"/>
                <a:cs typeface="Arial"/>
              </a:rPr>
              <a:t>ُ </a:t>
            </a:r>
            <a:r>
              <a:rPr dirty="0" baseline="3086" sz="2700" spc="-359">
                <a:latin typeface="Arial"/>
                <a:cs typeface="Arial"/>
              </a:rPr>
              <a:t>م</a:t>
            </a:r>
            <a:r>
              <a:rPr dirty="0" sz="1800" spc="-240">
                <a:latin typeface="Arial"/>
                <a:cs typeface="Arial"/>
              </a:rPr>
              <a:t>َ </a:t>
            </a:r>
            <a:r>
              <a:rPr dirty="0" baseline="3086" sz="2700">
                <a:latin typeface="Arial"/>
                <a:cs typeface="Arial"/>
              </a:rPr>
              <a:t>آ </a:t>
            </a:r>
            <a:r>
              <a:rPr dirty="0" baseline="3086" sz="2700" spc="-494">
                <a:latin typeface="Arial"/>
                <a:cs typeface="Arial"/>
              </a:rPr>
              <a:t>ن</a:t>
            </a:r>
            <a:r>
              <a:rPr dirty="0" sz="1800" spc="-330">
                <a:latin typeface="Arial"/>
                <a:cs typeface="Arial"/>
              </a:rPr>
              <a:t>َ </a:t>
            </a:r>
            <a:r>
              <a:rPr dirty="0" baseline="3086" sz="2700" spc="-232">
                <a:latin typeface="Arial"/>
                <a:cs typeface="Arial"/>
              </a:rPr>
              <a:t>ٌذ</a:t>
            </a:r>
            <a:r>
              <a:rPr dirty="0" baseline="1543" sz="2700" spc="-232">
                <a:latin typeface="Arial"/>
                <a:cs typeface="Arial"/>
              </a:rPr>
              <a:t>ِ </a:t>
            </a:r>
            <a:r>
              <a:rPr dirty="0" baseline="13888" sz="2700" spc="-240">
                <a:latin typeface="Arial"/>
                <a:cs typeface="Arial"/>
              </a:rPr>
              <a:t>َّ</a:t>
            </a:r>
            <a:r>
              <a:rPr dirty="0" baseline="3086" sz="2700" spc="-240">
                <a:latin typeface="Arial"/>
                <a:cs typeface="Arial"/>
              </a:rPr>
              <a:t>لٱو</a:t>
            </a:r>
            <a:r>
              <a:rPr dirty="0" sz="1800" spc="-160">
                <a:latin typeface="Arial"/>
                <a:cs typeface="Arial"/>
              </a:rPr>
              <a:t>َ </a:t>
            </a:r>
            <a:r>
              <a:rPr dirty="0" baseline="3086" sz="2700" spc="-885">
                <a:latin typeface="Arial"/>
                <a:cs typeface="Arial"/>
              </a:rPr>
              <a:t>للَّ</a:t>
            </a:r>
            <a:r>
              <a:rPr dirty="0" baseline="-7716" sz="2700" spc="-885">
                <a:latin typeface="Arial"/>
                <a:cs typeface="Arial"/>
              </a:rPr>
              <a:t>َ</a:t>
            </a:r>
            <a:r>
              <a:rPr dirty="0" baseline="-7716" sz="2700" spc="-89">
                <a:latin typeface="Arial"/>
                <a:cs typeface="Arial"/>
              </a:rPr>
              <a:t> </a:t>
            </a:r>
            <a:r>
              <a:rPr dirty="0" baseline="15432" sz="2700">
                <a:latin typeface="Arial"/>
                <a:cs typeface="Arial"/>
              </a:rPr>
              <a:t>َّ </a:t>
            </a:r>
            <a:r>
              <a:rPr dirty="0" baseline="3086" sz="2700">
                <a:latin typeface="Arial"/>
                <a:cs typeface="Arial"/>
              </a:rPr>
              <a:t>ٱ </a:t>
            </a:r>
            <a:r>
              <a:rPr dirty="0" baseline="3086" sz="2700" spc="-494">
                <a:latin typeface="Arial"/>
                <a:cs typeface="Arial"/>
              </a:rPr>
              <a:t>ن</a:t>
            </a:r>
            <a:r>
              <a:rPr dirty="0" sz="1800" spc="-330">
                <a:latin typeface="Arial"/>
                <a:cs typeface="Arial"/>
              </a:rPr>
              <a:t>َ </a:t>
            </a:r>
            <a:r>
              <a:rPr dirty="0" baseline="3086" sz="2700" spc="-427">
                <a:latin typeface="Arial"/>
                <a:cs typeface="Arial"/>
              </a:rPr>
              <a:t>وعُ </a:t>
            </a:r>
            <a:r>
              <a:rPr dirty="0" baseline="3086" sz="2700" spc="-352">
                <a:latin typeface="Arial"/>
                <a:cs typeface="Arial"/>
              </a:rPr>
              <a:t>د</a:t>
            </a:r>
            <a:r>
              <a:rPr dirty="0" baseline="1543" sz="2700" spc="-352">
                <a:latin typeface="Arial"/>
                <a:cs typeface="Arial"/>
              </a:rPr>
              <a:t>ِ </a:t>
            </a:r>
            <a:r>
              <a:rPr dirty="0" baseline="3086" sz="2700" spc="-382">
                <a:latin typeface="Arial"/>
                <a:cs typeface="Arial"/>
              </a:rPr>
              <a:t>اخ</a:t>
            </a:r>
            <a:r>
              <a:rPr dirty="0" baseline="7716" sz="2700" spc="-382">
                <a:latin typeface="Arial"/>
                <a:cs typeface="Arial"/>
              </a:rPr>
              <a:t>َ</a:t>
            </a:r>
            <a:r>
              <a:rPr dirty="0" baseline="7716" sz="2700" spc="-209">
                <a:latin typeface="Arial"/>
                <a:cs typeface="Arial"/>
              </a:rPr>
              <a:t> </a:t>
            </a:r>
            <a:r>
              <a:rPr dirty="0" baseline="3086" sz="2700">
                <a:latin typeface="Arial"/>
                <a:cs typeface="Arial"/>
              </a:rPr>
              <a:t>ٌ</a:t>
            </a:r>
            <a:endParaRPr baseline="3086" sz="2700">
              <a:latin typeface="Arial"/>
              <a:cs typeface="Arial"/>
            </a:endParaRPr>
          </a:p>
          <a:p>
            <a:pPr marL="190500" marR="203835">
              <a:lnSpc>
                <a:spcPts val="1380"/>
              </a:lnSpc>
              <a:spcBef>
                <a:spcPts val="1335"/>
              </a:spcBef>
              <a:buAutoNum type="arabicPeriod" startAt="9"/>
              <a:tabLst>
                <a:tab pos="419100" algn="l"/>
              </a:tabLst>
            </a:pPr>
            <a:r>
              <a:rPr dirty="0" sz="1200">
                <a:latin typeface="Arial"/>
                <a:cs typeface="Arial"/>
              </a:rPr>
              <a:t>They think to </a:t>
            </a:r>
            <a:r>
              <a:rPr dirty="0" sz="1200" spc="-10">
                <a:latin typeface="Arial"/>
                <a:cs typeface="Arial"/>
              </a:rPr>
              <a:t>beguile </a:t>
            </a:r>
            <a:r>
              <a:rPr dirty="0" sz="1200" spc="-5">
                <a:latin typeface="Arial"/>
                <a:cs typeface="Arial"/>
              </a:rPr>
              <a:t>Allah and </a:t>
            </a:r>
            <a:r>
              <a:rPr dirty="0" sz="1200" spc="-10">
                <a:latin typeface="Arial"/>
                <a:cs typeface="Arial"/>
              </a:rPr>
              <a:t>those who </a:t>
            </a:r>
            <a:r>
              <a:rPr dirty="0" sz="1200" spc="-5">
                <a:latin typeface="Arial"/>
                <a:cs typeface="Arial"/>
              </a:rPr>
              <a:t>believe, and </a:t>
            </a:r>
            <a:r>
              <a:rPr dirty="0" sz="1200">
                <a:latin typeface="Arial"/>
                <a:cs typeface="Arial"/>
              </a:rPr>
              <a:t>they </a:t>
            </a:r>
            <a:r>
              <a:rPr dirty="0" sz="1200" spc="-5">
                <a:latin typeface="Arial"/>
                <a:cs typeface="Arial"/>
              </a:rPr>
              <a:t>beguile none save  themselves; but they perceive </a:t>
            </a:r>
            <a:r>
              <a:rPr dirty="0" sz="1200">
                <a:latin typeface="Arial"/>
                <a:cs typeface="Arial"/>
              </a:rPr>
              <a:t>not.</a:t>
            </a:r>
            <a:endParaRPr sz="1200">
              <a:latin typeface="Arial"/>
              <a:cs typeface="Arial"/>
            </a:endParaRPr>
          </a:p>
          <a:p>
            <a:pPr>
              <a:lnSpc>
                <a:spcPct val="100000"/>
              </a:lnSpc>
              <a:buFont typeface="Arial"/>
              <a:buAutoNum type="arabicPeriod" startAt="9"/>
            </a:pPr>
            <a:endParaRPr sz="1300">
              <a:latin typeface="Arial"/>
              <a:cs typeface="Arial"/>
            </a:endParaRPr>
          </a:p>
          <a:p>
            <a:pPr algn="r" marR="255270">
              <a:lnSpc>
                <a:spcPct val="100000"/>
              </a:lnSpc>
              <a:spcBef>
                <a:spcPts val="1145"/>
              </a:spcBef>
            </a:pPr>
            <a:r>
              <a:rPr dirty="0" sz="1800" spc="-340">
                <a:latin typeface="Arial"/>
                <a:cs typeface="Arial"/>
              </a:rPr>
              <a:t>ن</a:t>
            </a:r>
            <a:r>
              <a:rPr dirty="0" baseline="-3086" sz="2700" spc="-509">
                <a:latin typeface="Arial"/>
                <a:cs typeface="Arial"/>
              </a:rPr>
              <a:t>َ </a:t>
            </a:r>
            <a:r>
              <a:rPr dirty="0" sz="1800" spc="-415">
                <a:latin typeface="Arial"/>
                <a:cs typeface="Arial"/>
              </a:rPr>
              <a:t>وبُ </a:t>
            </a:r>
            <a:r>
              <a:rPr dirty="0" sz="1800" spc="-235">
                <a:latin typeface="Arial"/>
                <a:cs typeface="Arial"/>
              </a:rPr>
              <a:t>ذِ </a:t>
            </a:r>
            <a:r>
              <a:rPr dirty="0" sz="1800" spc="-455">
                <a:latin typeface="Arial"/>
                <a:cs typeface="Arial"/>
              </a:rPr>
              <a:t>ك</a:t>
            </a:r>
            <a:r>
              <a:rPr dirty="0" baseline="9259" sz="2700" spc="-682">
                <a:latin typeface="Arial"/>
                <a:cs typeface="Arial"/>
              </a:rPr>
              <a:t>ْ </a:t>
            </a:r>
            <a:r>
              <a:rPr dirty="0" sz="1800">
                <a:latin typeface="Arial"/>
                <a:cs typeface="Arial"/>
              </a:rPr>
              <a:t>ٌ</a:t>
            </a:r>
            <a:r>
              <a:rPr dirty="0" baseline="-3086" sz="2700">
                <a:latin typeface="Arial"/>
                <a:cs typeface="Arial"/>
              </a:rPr>
              <a:t>َ </a:t>
            </a:r>
            <a:r>
              <a:rPr dirty="0" sz="1800" spc="-229">
                <a:latin typeface="Arial"/>
                <a:cs typeface="Arial"/>
              </a:rPr>
              <a:t>اون</a:t>
            </a:r>
            <a:r>
              <a:rPr dirty="0" baseline="9259" sz="2700" spc="-345">
                <a:latin typeface="Arial"/>
                <a:cs typeface="Arial"/>
              </a:rPr>
              <a:t>ُ </a:t>
            </a:r>
            <a:r>
              <a:rPr dirty="0" sz="1800" spc="-310">
                <a:latin typeface="Arial"/>
                <a:cs typeface="Arial"/>
              </a:rPr>
              <a:t>اك</a:t>
            </a:r>
            <a:r>
              <a:rPr dirty="0" baseline="6172" sz="2700" spc="-465">
                <a:latin typeface="Arial"/>
                <a:cs typeface="Arial"/>
              </a:rPr>
              <a:t>َ</a:t>
            </a:r>
            <a:r>
              <a:rPr dirty="0" baseline="6172" sz="2700" spc="-179">
                <a:latin typeface="Arial"/>
                <a:cs typeface="Arial"/>
              </a:rPr>
              <a:t> </a:t>
            </a:r>
            <a:r>
              <a:rPr dirty="0" sz="1800" spc="-150">
                <a:latin typeface="Arial"/>
                <a:cs typeface="Arial"/>
              </a:rPr>
              <a:t>ام</a:t>
            </a:r>
            <a:r>
              <a:rPr dirty="0" baseline="-3086" sz="2700" spc="-225">
                <a:latin typeface="Arial"/>
                <a:cs typeface="Arial"/>
              </a:rPr>
              <a:t>َ </a:t>
            </a:r>
            <a:r>
              <a:rPr dirty="0" sz="1800" spc="-640">
                <a:latin typeface="Arial"/>
                <a:cs typeface="Arial"/>
              </a:rPr>
              <a:t>ب</a:t>
            </a:r>
            <a:r>
              <a:rPr dirty="0" baseline="-12345" sz="2700" spc="-960">
                <a:latin typeface="Arial"/>
                <a:cs typeface="Arial"/>
              </a:rPr>
              <a:t>ِ</a:t>
            </a:r>
            <a:r>
              <a:rPr dirty="0" baseline="-12345" sz="2700" spc="735">
                <a:latin typeface="Arial"/>
                <a:cs typeface="Arial"/>
              </a:rPr>
              <a:t> </a:t>
            </a:r>
            <a:r>
              <a:rPr dirty="0" sz="1800" spc="-290">
                <a:latin typeface="Arial"/>
                <a:cs typeface="Arial"/>
              </a:rPr>
              <a:t>م</a:t>
            </a:r>
            <a:r>
              <a:rPr dirty="0" baseline="-3086" sz="2700" spc="-434">
                <a:latin typeface="Arial"/>
                <a:cs typeface="Arial"/>
              </a:rPr>
              <a:t>ٌ </a:t>
            </a:r>
            <a:r>
              <a:rPr dirty="0" sz="1800" spc="-114">
                <a:latin typeface="Arial"/>
                <a:cs typeface="Arial"/>
              </a:rPr>
              <a:t>ٌِل</a:t>
            </a:r>
            <a:r>
              <a:rPr dirty="0" baseline="13888" sz="2700" spc="-172">
                <a:latin typeface="Arial"/>
                <a:cs typeface="Arial"/>
              </a:rPr>
              <a:t>َ</a:t>
            </a:r>
            <a:r>
              <a:rPr dirty="0" sz="1800" spc="-114">
                <a:latin typeface="Arial"/>
                <a:cs typeface="Arial"/>
              </a:rPr>
              <a:t>أ </a:t>
            </a:r>
            <a:r>
              <a:rPr dirty="0" sz="1800" spc="-535">
                <a:latin typeface="Arial"/>
                <a:cs typeface="Arial"/>
              </a:rPr>
              <a:t>ب</a:t>
            </a:r>
            <a:r>
              <a:rPr dirty="0" baseline="1543" sz="2700" spc="-802">
                <a:latin typeface="Arial"/>
                <a:cs typeface="Arial"/>
              </a:rPr>
              <a:t>ٌ</a:t>
            </a:r>
            <a:r>
              <a:rPr dirty="0" baseline="1543" sz="2700" spc="944">
                <a:latin typeface="Arial"/>
                <a:cs typeface="Arial"/>
              </a:rPr>
              <a:t> </a:t>
            </a:r>
            <a:r>
              <a:rPr dirty="0" sz="1800" spc="-145">
                <a:latin typeface="Arial"/>
                <a:cs typeface="Arial"/>
              </a:rPr>
              <a:t>اذ</a:t>
            </a:r>
            <a:r>
              <a:rPr dirty="0" baseline="10802" sz="2700" spc="-217">
                <a:latin typeface="Arial"/>
                <a:cs typeface="Arial"/>
              </a:rPr>
              <a:t>َ </a:t>
            </a:r>
            <a:r>
              <a:rPr dirty="0" sz="1800" spc="-405">
                <a:latin typeface="Arial"/>
                <a:cs typeface="Arial"/>
              </a:rPr>
              <a:t>ع</a:t>
            </a:r>
            <a:r>
              <a:rPr dirty="0" baseline="-3086" sz="2700" spc="-607">
                <a:latin typeface="Arial"/>
                <a:cs typeface="Arial"/>
              </a:rPr>
              <a:t>َ </a:t>
            </a:r>
            <a:r>
              <a:rPr dirty="0" sz="1800" spc="-160">
                <a:latin typeface="Arial"/>
                <a:cs typeface="Arial"/>
              </a:rPr>
              <a:t>مهُ </a:t>
            </a:r>
            <a:r>
              <a:rPr dirty="0" baseline="7716" sz="2700" spc="-359">
                <a:latin typeface="Arial"/>
                <a:cs typeface="Arial"/>
              </a:rPr>
              <a:t>َ</a:t>
            </a:r>
            <a:r>
              <a:rPr dirty="0" sz="1800" spc="-240">
                <a:latin typeface="Arial"/>
                <a:cs typeface="Arial"/>
              </a:rPr>
              <a:t>لو</a:t>
            </a:r>
            <a:r>
              <a:rPr dirty="0" baseline="-3086" sz="2700" spc="-359">
                <a:latin typeface="Arial"/>
                <a:cs typeface="Arial"/>
              </a:rPr>
              <a:t>َ </a:t>
            </a:r>
            <a:r>
              <a:rPr dirty="0" baseline="9259" sz="2700" spc="-330">
                <a:latin typeface="Arial"/>
                <a:cs typeface="Arial"/>
              </a:rPr>
              <a:t>ً</a:t>
            </a:r>
            <a:r>
              <a:rPr dirty="0" sz="1800" spc="-220">
                <a:latin typeface="Arial"/>
                <a:cs typeface="Arial"/>
              </a:rPr>
              <a:t>اضر</a:t>
            </a:r>
            <a:r>
              <a:rPr dirty="0" baseline="-3086" sz="2700" spc="-330">
                <a:latin typeface="Arial"/>
                <a:cs typeface="Arial"/>
              </a:rPr>
              <a:t>َ </a:t>
            </a:r>
            <a:r>
              <a:rPr dirty="0" sz="1800" spc="-240">
                <a:latin typeface="Arial"/>
                <a:cs typeface="Arial"/>
              </a:rPr>
              <a:t>م</a:t>
            </a:r>
            <a:r>
              <a:rPr dirty="0" baseline="-3086" sz="2700" spc="-359">
                <a:latin typeface="Arial"/>
                <a:cs typeface="Arial"/>
              </a:rPr>
              <a:t>َ </a:t>
            </a:r>
            <a:r>
              <a:rPr dirty="0" baseline="-7716" sz="2700" spc="-630">
                <a:latin typeface="Arial"/>
                <a:cs typeface="Arial"/>
              </a:rPr>
              <a:t>ُ</a:t>
            </a:r>
            <a:r>
              <a:rPr dirty="0" sz="1800" spc="-420">
                <a:latin typeface="Arial"/>
                <a:cs typeface="Arial"/>
              </a:rPr>
              <a:t>للَّ</a:t>
            </a:r>
            <a:r>
              <a:rPr dirty="0" baseline="12345" sz="2700" spc="-630">
                <a:latin typeface="Arial"/>
                <a:cs typeface="Arial"/>
              </a:rPr>
              <a:t>َّ </a:t>
            </a:r>
            <a:r>
              <a:rPr dirty="0" sz="1800">
                <a:latin typeface="Arial"/>
                <a:cs typeface="Arial"/>
              </a:rPr>
              <a:t>ٱ </a:t>
            </a:r>
            <a:r>
              <a:rPr dirty="0" sz="1800" spc="-290">
                <a:latin typeface="Arial"/>
                <a:cs typeface="Arial"/>
              </a:rPr>
              <a:t>م</a:t>
            </a:r>
            <a:r>
              <a:rPr dirty="0" baseline="-4629" sz="2700" spc="-434">
                <a:latin typeface="Arial"/>
                <a:cs typeface="Arial"/>
              </a:rPr>
              <a:t>ُ </a:t>
            </a:r>
            <a:r>
              <a:rPr dirty="0" sz="1800" spc="-204">
                <a:latin typeface="Arial"/>
                <a:cs typeface="Arial"/>
              </a:rPr>
              <a:t>هُ </a:t>
            </a:r>
            <a:r>
              <a:rPr dirty="0" sz="1800" spc="-215">
                <a:latin typeface="Arial"/>
                <a:cs typeface="Arial"/>
              </a:rPr>
              <a:t>دَ </a:t>
            </a:r>
            <a:r>
              <a:rPr dirty="0" sz="1800" spc="-220">
                <a:latin typeface="Arial"/>
                <a:cs typeface="Arial"/>
              </a:rPr>
              <a:t>از</a:t>
            </a:r>
            <a:r>
              <a:rPr dirty="0" baseline="6172" sz="2700" spc="-330">
                <a:latin typeface="Arial"/>
                <a:cs typeface="Arial"/>
              </a:rPr>
              <a:t>َ </a:t>
            </a:r>
            <a:r>
              <a:rPr dirty="0" sz="1800" spc="-690">
                <a:latin typeface="Arial"/>
                <a:cs typeface="Arial"/>
              </a:rPr>
              <a:t>ف</a:t>
            </a:r>
            <a:r>
              <a:rPr dirty="0" baseline="6172" sz="2700" spc="-1035">
                <a:latin typeface="Arial"/>
                <a:cs typeface="Arial"/>
              </a:rPr>
              <a:t>َ</a:t>
            </a:r>
            <a:r>
              <a:rPr dirty="0" baseline="6172" sz="2700" spc="735">
                <a:latin typeface="Arial"/>
                <a:cs typeface="Arial"/>
              </a:rPr>
              <a:t> </a:t>
            </a:r>
            <a:r>
              <a:rPr dirty="0" sz="1800" spc="-885">
                <a:latin typeface="Arial"/>
                <a:cs typeface="Arial"/>
              </a:rPr>
              <a:t>ض</a:t>
            </a:r>
            <a:r>
              <a:rPr dirty="0" baseline="1543" sz="2700" spc="-1327">
                <a:latin typeface="Arial"/>
                <a:cs typeface="Arial"/>
              </a:rPr>
              <a:t>ٌ</a:t>
            </a:r>
            <a:r>
              <a:rPr dirty="0" baseline="1543" sz="2700" spc="2047">
                <a:latin typeface="Arial"/>
                <a:cs typeface="Arial"/>
              </a:rPr>
              <a:t> </a:t>
            </a:r>
            <a:r>
              <a:rPr dirty="0" sz="1800" spc="-330">
                <a:latin typeface="Arial"/>
                <a:cs typeface="Arial"/>
              </a:rPr>
              <a:t>ر</a:t>
            </a:r>
            <a:r>
              <a:rPr dirty="0" baseline="-3086" sz="2700" spc="-494">
                <a:latin typeface="Arial"/>
                <a:cs typeface="Arial"/>
              </a:rPr>
              <a:t>َ </a:t>
            </a:r>
            <a:r>
              <a:rPr dirty="0" sz="1800" spc="-170">
                <a:latin typeface="Arial"/>
                <a:cs typeface="Arial"/>
              </a:rPr>
              <a:t>مَّ </a:t>
            </a:r>
            <a:r>
              <a:rPr dirty="0" sz="1800" spc="-135">
                <a:latin typeface="Arial"/>
                <a:cs typeface="Arial"/>
              </a:rPr>
              <a:t>مه</a:t>
            </a:r>
            <a:r>
              <a:rPr dirty="0" baseline="-10802" sz="2700" spc="-202">
                <a:latin typeface="Arial"/>
                <a:cs typeface="Arial"/>
              </a:rPr>
              <a:t>ِ </a:t>
            </a:r>
            <a:r>
              <a:rPr dirty="0" sz="1800" spc="-640">
                <a:latin typeface="Arial"/>
                <a:cs typeface="Arial"/>
              </a:rPr>
              <a:t>ب</a:t>
            </a:r>
            <a:r>
              <a:rPr dirty="0" baseline="-12345" sz="2700" spc="-960">
                <a:latin typeface="Arial"/>
                <a:cs typeface="Arial"/>
              </a:rPr>
              <a:t>ِ</a:t>
            </a:r>
            <a:r>
              <a:rPr dirty="0" baseline="-12345" sz="2700" spc="-67">
                <a:latin typeface="Arial"/>
                <a:cs typeface="Arial"/>
              </a:rPr>
              <a:t> </a:t>
            </a:r>
            <a:r>
              <a:rPr dirty="0" sz="1800" spc="-330">
                <a:latin typeface="Arial"/>
                <a:cs typeface="Arial"/>
              </a:rPr>
              <a:t>و</a:t>
            </a:r>
            <a:r>
              <a:rPr dirty="0" baseline="10802" sz="2700" spc="-494">
                <a:latin typeface="Arial"/>
                <a:cs typeface="Arial"/>
              </a:rPr>
              <a:t>ُ</a:t>
            </a:r>
            <a:r>
              <a:rPr dirty="0" sz="1800" spc="-330">
                <a:latin typeface="Arial"/>
                <a:cs typeface="Arial"/>
              </a:rPr>
              <a:t>لق</a:t>
            </a:r>
            <a:r>
              <a:rPr dirty="0" baseline="9259" sz="2700" spc="-494">
                <a:latin typeface="Arial"/>
                <a:cs typeface="Arial"/>
              </a:rPr>
              <a:t>ُ</a:t>
            </a:r>
            <a:r>
              <a:rPr dirty="0" baseline="9259" sz="2700" spc="-465">
                <a:latin typeface="Arial"/>
                <a:cs typeface="Arial"/>
              </a:rPr>
              <a:t> </a:t>
            </a:r>
            <a:r>
              <a:rPr dirty="0" sz="1800" spc="-705">
                <a:latin typeface="Arial"/>
                <a:cs typeface="Arial"/>
              </a:rPr>
              <a:t>ًف</a:t>
            </a:r>
            <a:endParaRPr sz="1800">
              <a:latin typeface="Arial"/>
              <a:cs typeface="Arial"/>
            </a:endParaRPr>
          </a:p>
          <a:p>
            <a:pPr marL="190500" marR="198755">
              <a:lnSpc>
                <a:spcPts val="1380"/>
              </a:lnSpc>
              <a:spcBef>
                <a:spcPts val="1405"/>
              </a:spcBef>
              <a:buAutoNum type="arabicPeriod" startAt="10"/>
              <a:tabLst>
                <a:tab pos="473709" algn="l"/>
              </a:tabLst>
            </a:pPr>
            <a:r>
              <a:rPr dirty="0" sz="1200" spc="-5">
                <a:latin typeface="Arial"/>
                <a:cs typeface="Arial"/>
              </a:rPr>
              <a:t>In their hearts is a disease, and Allah increases </a:t>
            </a:r>
            <a:r>
              <a:rPr dirty="0" sz="1200">
                <a:latin typeface="Arial"/>
                <a:cs typeface="Arial"/>
              </a:rPr>
              <a:t>their </a:t>
            </a:r>
            <a:r>
              <a:rPr dirty="0" sz="1200" spc="-5">
                <a:latin typeface="Arial"/>
                <a:cs typeface="Arial"/>
              </a:rPr>
              <a:t>disease. </a:t>
            </a:r>
            <a:r>
              <a:rPr dirty="0" sz="1200">
                <a:latin typeface="Arial"/>
                <a:cs typeface="Arial"/>
              </a:rPr>
              <a:t>A </a:t>
            </a:r>
            <a:r>
              <a:rPr dirty="0" sz="1200" spc="-5">
                <a:latin typeface="Arial"/>
                <a:cs typeface="Arial"/>
              </a:rPr>
              <a:t>painful doom theirs  because they</a:t>
            </a:r>
            <a:r>
              <a:rPr dirty="0" sz="1200" spc="-15">
                <a:latin typeface="Arial"/>
                <a:cs typeface="Arial"/>
              </a:rPr>
              <a:t> </a:t>
            </a:r>
            <a:r>
              <a:rPr dirty="0" sz="1200" spc="-5">
                <a:latin typeface="Arial"/>
                <a:cs typeface="Arial"/>
              </a:rPr>
              <a:t>lie.</a:t>
            </a:r>
            <a:endParaRPr sz="1200">
              <a:latin typeface="Arial"/>
              <a:cs typeface="Arial"/>
            </a:endParaRPr>
          </a:p>
          <a:p>
            <a:pPr>
              <a:lnSpc>
                <a:spcPct val="100000"/>
              </a:lnSpc>
              <a:spcBef>
                <a:spcPts val="20"/>
              </a:spcBef>
            </a:pPr>
            <a:endParaRPr sz="1100">
              <a:latin typeface="Arial"/>
              <a:cs typeface="Arial"/>
            </a:endParaRPr>
          </a:p>
          <a:p>
            <a:pPr algn="r" marR="194945">
              <a:lnSpc>
                <a:spcPct val="100000"/>
              </a:lnSpc>
            </a:pPr>
            <a:r>
              <a:rPr dirty="0" baseline="1543" sz="2700" spc="-509">
                <a:latin typeface="Arial"/>
                <a:cs typeface="Arial"/>
              </a:rPr>
              <a:t>ن</a:t>
            </a:r>
            <a:r>
              <a:rPr dirty="0" baseline="-1543" sz="2700" spc="-509">
                <a:latin typeface="Arial"/>
                <a:cs typeface="Arial"/>
              </a:rPr>
              <a:t>َ </a:t>
            </a:r>
            <a:r>
              <a:rPr dirty="0" baseline="1543" sz="2700" spc="-232">
                <a:latin typeface="Arial"/>
                <a:cs typeface="Arial"/>
              </a:rPr>
              <a:t>ٌد</a:t>
            </a:r>
            <a:r>
              <a:rPr dirty="0" sz="1800" spc="-155">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32">
                <a:latin typeface="Arial"/>
                <a:cs typeface="Arial"/>
              </a:rPr>
              <a:t> </a:t>
            </a:r>
            <a:r>
              <a:rPr dirty="0" baseline="1543" sz="2700" spc="-284">
                <a:latin typeface="Arial"/>
                <a:cs typeface="Arial"/>
              </a:rPr>
              <a:t>هْ </a:t>
            </a:r>
            <a:r>
              <a:rPr dirty="0" baseline="1543" sz="2700" spc="-397">
                <a:latin typeface="Arial"/>
                <a:cs typeface="Arial"/>
              </a:rPr>
              <a:t>مُ </a:t>
            </a:r>
            <a:r>
              <a:rPr dirty="0" baseline="1543" sz="2700" spc="-262">
                <a:latin typeface="Arial"/>
                <a:cs typeface="Arial"/>
              </a:rPr>
              <a:t>ا</a:t>
            </a:r>
            <a:r>
              <a:rPr dirty="0" baseline="9259" sz="2700" spc="-262">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465">
                <a:latin typeface="Arial"/>
                <a:cs typeface="Arial"/>
              </a:rPr>
              <a:t>اك</a:t>
            </a:r>
            <a:r>
              <a:rPr dirty="0" baseline="6172" sz="2700" spc="-465">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1543" sz="2700" spc="-930">
                <a:latin typeface="Arial"/>
                <a:cs typeface="Arial"/>
              </a:rPr>
              <a:t>ت</a:t>
            </a:r>
            <a:r>
              <a:rPr dirty="0" baseline="9259" sz="2700" spc="-930">
                <a:latin typeface="Arial"/>
                <a:cs typeface="Arial"/>
              </a:rPr>
              <a:t>ُ</a:t>
            </a:r>
            <a:r>
              <a:rPr dirty="0" baseline="9259" sz="2700" spc="-157">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382">
                <a:latin typeface="Arial"/>
                <a:cs typeface="Arial"/>
              </a:rPr>
              <a:t>اج</a:t>
            </a:r>
            <a:r>
              <a:rPr dirty="0" baseline="-1543" sz="2700" spc="-382">
                <a:latin typeface="Arial"/>
                <a:cs typeface="Arial"/>
              </a:rPr>
              <a:t>َ </a:t>
            </a:r>
            <a:r>
              <a:rPr dirty="0" baseline="1543" sz="2700" spc="-607">
                <a:latin typeface="Arial"/>
                <a:cs typeface="Arial"/>
              </a:rPr>
              <a:t>ت</a:t>
            </a:r>
            <a:r>
              <a:rPr dirty="0" baseline="9259" sz="2700" spc="-607">
                <a:latin typeface="Arial"/>
                <a:cs typeface="Arial"/>
              </a:rPr>
              <a:t>ِّ  </a:t>
            </a:r>
            <a:r>
              <a:rPr dirty="0" baseline="1543" sz="2700" spc="-735">
                <a:latin typeface="Arial"/>
                <a:cs typeface="Arial"/>
              </a:rPr>
              <a:t>ت</a:t>
            </a:r>
            <a:r>
              <a:rPr dirty="0" baseline="7716" sz="2700" spc="-735">
                <a:latin typeface="Arial"/>
                <a:cs typeface="Arial"/>
              </a:rPr>
              <a:t>ْ </a:t>
            </a:r>
            <a:r>
              <a:rPr dirty="0" baseline="1543" sz="2700" spc="-592">
                <a:latin typeface="Arial"/>
                <a:cs typeface="Arial"/>
              </a:rPr>
              <a:t>ح</a:t>
            </a:r>
            <a:r>
              <a:rPr dirty="0" baseline="-1543" sz="2700" spc="-592">
                <a:latin typeface="Arial"/>
                <a:cs typeface="Arial"/>
              </a:rPr>
              <a:t>َ </a:t>
            </a:r>
            <a:r>
              <a:rPr dirty="0" baseline="1543" sz="2700" spc="-967">
                <a:latin typeface="Arial"/>
                <a:cs typeface="Arial"/>
              </a:rPr>
              <a:t>ب</a:t>
            </a:r>
            <a:r>
              <a:rPr dirty="0" baseline="-12345" sz="2700" spc="-967">
                <a:latin typeface="Arial"/>
                <a:cs typeface="Arial"/>
              </a:rPr>
              <a:t>ِ</a:t>
            </a:r>
            <a:r>
              <a:rPr dirty="0" baseline="-12345" sz="2700" spc="-97">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660">
                <a:latin typeface="Arial"/>
                <a:cs typeface="Arial"/>
              </a:rPr>
              <a:t> </a:t>
            </a:r>
            <a:r>
              <a:rPr dirty="0" baseline="1543" sz="2700" spc="-532">
                <a:latin typeface="Arial"/>
                <a:cs typeface="Arial"/>
              </a:rPr>
              <a:t>ى</a:t>
            </a:r>
            <a:r>
              <a:rPr dirty="0" baseline="6172" sz="2700" spc="-532">
                <a:latin typeface="Arial"/>
                <a:cs typeface="Arial"/>
              </a:rPr>
              <a:t>ٰ </a:t>
            </a:r>
            <a:r>
              <a:rPr dirty="0" baseline="1543" sz="2700" spc="-322">
                <a:latin typeface="Arial"/>
                <a:cs typeface="Arial"/>
              </a:rPr>
              <a:t>د</a:t>
            </a:r>
            <a:r>
              <a:rPr dirty="0" sz="1800" spc="-215">
                <a:latin typeface="Arial"/>
                <a:cs typeface="Arial"/>
              </a:rPr>
              <a:t>َ </a:t>
            </a:r>
            <a:r>
              <a:rPr dirty="0" baseline="1543" sz="2700" spc="-359">
                <a:latin typeface="Arial"/>
                <a:cs typeface="Arial"/>
              </a:rPr>
              <a:t>هُ </a:t>
            </a:r>
            <a:r>
              <a:rPr dirty="0" baseline="1543" sz="2700" spc="-652">
                <a:latin typeface="Arial"/>
                <a:cs typeface="Arial"/>
              </a:rPr>
              <a:t>ل</a:t>
            </a:r>
            <a:r>
              <a:rPr dirty="0" baseline="12345" sz="2700" spc="-652">
                <a:latin typeface="Arial"/>
                <a:cs typeface="Arial"/>
              </a:rPr>
              <a:t>ْ </a:t>
            </a:r>
            <a:r>
              <a:rPr dirty="0" baseline="1543" sz="2700" spc="-622">
                <a:latin typeface="Arial"/>
                <a:cs typeface="Arial"/>
              </a:rPr>
              <a:t>ٲب</a:t>
            </a:r>
            <a:r>
              <a:rPr dirty="0" baseline="-12345" sz="2700" spc="-622">
                <a:latin typeface="Arial"/>
                <a:cs typeface="Arial"/>
              </a:rPr>
              <a:t>ِ </a:t>
            </a:r>
            <a:r>
              <a:rPr dirty="0" baseline="1543" sz="2700" spc="-284">
                <a:latin typeface="Arial"/>
                <a:cs typeface="Arial"/>
              </a:rPr>
              <a:t>ة</a:t>
            </a:r>
            <a:r>
              <a:rPr dirty="0" baseline="9259" sz="2700" spc="-284">
                <a:latin typeface="Arial"/>
                <a:cs typeface="Arial"/>
              </a:rPr>
              <a:t>َ </a:t>
            </a:r>
            <a:r>
              <a:rPr dirty="0" baseline="9259" sz="2700" spc="-487">
                <a:latin typeface="Arial"/>
                <a:cs typeface="Arial"/>
              </a:rPr>
              <a:t>َ</a:t>
            </a:r>
            <a:r>
              <a:rPr dirty="0" baseline="1543" sz="2700" spc="-487">
                <a:latin typeface="Arial"/>
                <a:cs typeface="Arial"/>
              </a:rPr>
              <a:t>ل</a:t>
            </a:r>
            <a:r>
              <a:rPr dirty="0" baseline="7716" sz="2700" spc="-487">
                <a:latin typeface="Arial"/>
                <a:cs typeface="Arial"/>
              </a:rPr>
              <a:t>َ</a:t>
            </a:r>
            <a:r>
              <a:rPr dirty="0" baseline="1543" sz="2700" spc="-487">
                <a:latin typeface="Arial"/>
                <a:cs typeface="Arial"/>
              </a:rPr>
              <a:t>لاض</a:t>
            </a:r>
            <a:r>
              <a:rPr dirty="0" sz="1800" spc="-325">
                <a:latin typeface="Arial"/>
                <a:cs typeface="Arial"/>
              </a:rPr>
              <a:t>َّ </a:t>
            </a:r>
            <a:r>
              <a:rPr dirty="0" baseline="1543" sz="2700" spc="-412">
                <a:latin typeface="Arial"/>
                <a:cs typeface="Arial"/>
              </a:rPr>
              <a:t>لٱ </a:t>
            </a:r>
            <a:r>
              <a:rPr dirty="0" baseline="1543" sz="2700" spc="-277">
                <a:latin typeface="Arial"/>
                <a:cs typeface="Arial"/>
              </a:rPr>
              <a:t>ا</a:t>
            </a:r>
            <a:r>
              <a:rPr dirty="0" baseline="9259" sz="2700" spc="-277">
                <a:latin typeface="Arial"/>
                <a:cs typeface="Arial"/>
              </a:rPr>
              <a:t>ْ </a:t>
            </a:r>
            <a:r>
              <a:rPr dirty="0" baseline="1543" sz="2700" spc="-345">
                <a:latin typeface="Arial"/>
                <a:cs typeface="Arial"/>
              </a:rPr>
              <a:t>وُ </a:t>
            </a:r>
            <a:r>
              <a:rPr dirty="0" baseline="1543" sz="2700" spc="-494">
                <a:latin typeface="Arial"/>
                <a:cs typeface="Arial"/>
              </a:rPr>
              <a:t>ر</a:t>
            </a:r>
            <a:r>
              <a:rPr dirty="0" baseline="-1543" sz="2700" spc="-494">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25">
                <a:latin typeface="Arial"/>
                <a:cs typeface="Arial"/>
              </a:rPr>
              <a:t> </a:t>
            </a:r>
            <a:r>
              <a:rPr dirty="0" baseline="1543" sz="2700" spc="-1005">
                <a:latin typeface="Arial"/>
                <a:cs typeface="Arial"/>
              </a:rPr>
              <a:t>ش</a:t>
            </a:r>
            <a:r>
              <a:rPr dirty="0" baseline="9259" sz="2700" spc="-1005">
                <a:latin typeface="Arial"/>
                <a:cs typeface="Arial"/>
              </a:rPr>
              <a:t>ْ</a:t>
            </a:r>
            <a:r>
              <a:rPr dirty="0" baseline="9259" sz="2700" spc="480">
                <a:latin typeface="Arial"/>
                <a:cs typeface="Arial"/>
              </a:rPr>
              <a:t> </a:t>
            </a:r>
            <a:r>
              <a:rPr dirty="0" baseline="1543" sz="2700">
                <a:latin typeface="Arial"/>
                <a:cs typeface="Arial"/>
              </a:rPr>
              <a:t>ٱ </a:t>
            </a:r>
            <a:r>
              <a:rPr dirty="0" baseline="1543" sz="2700" spc="-509">
                <a:latin typeface="Arial"/>
                <a:cs typeface="Arial"/>
              </a:rPr>
              <a:t>ن</a:t>
            </a:r>
            <a:r>
              <a:rPr dirty="0" baseline="-1543" sz="2700" spc="-509">
                <a:latin typeface="Arial"/>
                <a:cs typeface="Arial"/>
              </a:rPr>
              <a:t>َ </a:t>
            </a:r>
            <a:r>
              <a:rPr dirty="0" baseline="1543" sz="2700" spc="-232">
                <a:latin typeface="Arial"/>
                <a:cs typeface="Arial"/>
              </a:rPr>
              <a:t>ٌذ</a:t>
            </a:r>
            <a:r>
              <a:rPr dirty="0" sz="1800" spc="-155">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682">
                <a:latin typeface="Arial"/>
                <a:cs typeface="Arial"/>
              </a:rPr>
              <a:t>ك</a:t>
            </a:r>
            <a:r>
              <a:rPr dirty="0" baseline="-1543" sz="2700" spc="-682">
                <a:latin typeface="Arial"/>
                <a:cs typeface="Arial"/>
              </a:rPr>
              <a:t>َ </a:t>
            </a:r>
            <a:r>
              <a:rPr dirty="0" baseline="1543" sz="2700" spc="-855">
                <a:latin typeface="Arial"/>
                <a:cs typeface="Arial"/>
              </a:rPr>
              <a:t>ئ</a:t>
            </a:r>
            <a:r>
              <a:rPr dirty="0" sz="1800" spc="-570">
                <a:latin typeface="Arial"/>
                <a:cs typeface="Arial"/>
              </a:rPr>
              <a:t>ِ</a:t>
            </a:r>
            <a:r>
              <a:rPr dirty="0" sz="1800" spc="-70">
                <a:latin typeface="Arial"/>
                <a:cs typeface="Arial"/>
              </a:rPr>
              <a:t> </a:t>
            </a:r>
            <a:r>
              <a:rPr dirty="0" baseline="1543" sz="2700" spc="-150">
                <a:latin typeface="Arial"/>
                <a:cs typeface="Arial"/>
              </a:rPr>
              <a:t>ـ</a:t>
            </a:r>
            <a:r>
              <a:rPr dirty="0" baseline="-4629" sz="2700" spc="-150">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270">
                <a:latin typeface="Arial"/>
                <a:cs typeface="Arial"/>
              </a:rPr>
              <a:t>وْ</a:t>
            </a:r>
            <a:r>
              <a:rPr dirty="0" baseline="1543" sz="2700" spc="-232">
                <a:latin typeface="Arial"/>
                <a:cs typeface="Arial"/>
              </a:rPr>
              <a:t> </a:t>
            </a:r>
            <a:r>
              <a:rPr dirty="0" baseline="18518" sz="2700">
                <a:latin typeface="Arial"/>
                <a:cs typeface="Arial"/>
              </a:rPr>
              <a:t>ُ</a:t>
            </a:r>
            <a:r>
              <a:rPr dirty="0" baseline="1543" sz="2700">
                <a:latin typeface="Arial"/>
                <a:cs typeface="Arial"/>
              </a:rPr>
              <a:t>أ</a:t>
            </a:r>
            <a:endParaRPr baseline="1543" sz="2700">
              <a:latin typeface="Arial"/>
              <a:cs typeface="Arial"/>
            </a:endParaRPr>
          </a:p>
          <a:p>
            <a:pPr marL="190500" marR="201295">
              <a:lnSpc>
                <a:spcPts val="1380"/>
              </a:lnSpc>
              <a:spcBef>
                <a:spcPts val="1390"/>
              </a:spcBef>
            </a:pPr>
            <a:r>
              <a:rPr dirty="0" sz="1200" spc="-5">
                <a:latin typeface="Arial"/>
                <a:cs typeface="Arial"/>
              </a:rPr>
              <a:t>16. These are they who purchase error </a:t>
            </a:r>
            <a:r>
              <a:rPr dirty="0" sz="1200">
                <a:latin typeface="Arial"/>
                <a:cs typeface="Arial"/>
              </a:rPr>
              <a:t>at </a:t>
            </a:r>
            <a:r>
              <a:rPr dirty="0" sz="1200" spc="-5">
                <a:latin typeface="Arial"/>
                <a:cs typeface="Arial"/>
              </a:rPr>
              <a:t>the price of guidance, so </a:t>
            </a:r>
            <a:r>
              <a:rPr dirty="0" sz="1200">
                <a:latin typeface="Arial"/>
                <a:cs typeface="Arial"/>
              </a:rPr>
              <a:t>their </a:t>
            </a:r>
            <a:r>
              <a:rPr dirty="0" sz="1200" spc="-5">
                <a:latin typeface="Arial"/>
                <a:cs typeface="Arial"/>
              </a:rPr>
              <a:t>commerce doth </a:t>
            </a:r>
            <a:r>
              <a:rPr dirty="0" sz="1200" spc="-10">
                <a:latin typeface="Arial"/>
                <a:cs typeface="Arial"/>
              </a:rPr>
              <a:t>not  </a:t>
            </a:r>
            <a:r>
              <a:rPr dirty="0" sz="1200" spc="-5">
                <a:latin typeface="Arial"/>
                <a:cs typeface="Arial"/>
              </a:rPr>
              <a:t>prosper, neither are they</a:t>
            </a:r>
            <a:r>
              <a:rPr dirty="0" sz="1200" spc="-10">
                <a:latin typeface="Arial"/>
                <a:cs typeface="Arial"/>
              </a:rPr>
              <a:t> </a:t>
            </a:r>
            <a:r>
              <a:rPr dirty="0" sz="1200" spc="-5">
                <a:latin typeface="Arial"/>
                <a:cs typeface="Arial"/>
              </a:rPr>
              <a:t>guided.</a:t>
            </a:r>
            <a:endParaRPr sz="1200">
              <a:latin typeface="Arial"/>
              <a:cs typeface="Arial"/>
            </a:endParaRPr>
          </a:p>
          <a:p>
            <a:pPr>
              <a:lnSpc>
                <a:spcPct val="100000"/>
              </a:lnSpc>
              <a:spcBef>
                <a:spcPts val="45"/>
              </a:spcBef>
            </a:pPr>
            <a:endParaRPr sz="1050">
              <a:latin typeface="Arial"/>
              <a:cs typeface="Arial"/>
            </a:endParaRPr>
          </a:p>
          <a:p>
            <a:pPr marL="4368165">
              <a:lnSpc>
                <a:spcPct val="100000"/>
              </a:lnSpc>
            </a:pPr>
            <a:r>
              <a:rPr dirty="0" sz="1800" spc="-330">
                <a:latin typeface="Arial"/>
                <a:cs typeface="Arial"/>
              </a:rPr>
              <a:t>ن</a:t>
            </a:r>
            <a:r>
              <a:rPr dirty="0" baseline="-3086" sz="2700" spc="-494">
                <a:latin typeface="Arial"/>
                <a:cs typeface="Arial"/>
              </a:rPr>
              <a:t>َ </a:t>
            </a:r>
            <a:r>
              <a:rPr dirty="0" sz="1800" spc="-285">
                <a:latin typeface="Arial"/>
                <a:cs typeface="Arial"/>
              </a:rPr>
              <a:t>وعُ </a:t>
            </a:r>
            <a:r>
              <a:rPr dirty="0" sz="1800" spc="-480">
                <a:latin typeface="Arial"/>
                <a:cs typeface="Arial"/>
              </a:rPr>
              <a:t>ج</a:t>
            </a:r>
            <a:r>
              <a:rPr dirty="0" baseline="-10802" sz="2700" spc="-719">
                <a:latin typeface="Arial"/>
                <a:cs typeface="Arial"/>
              </a:rPr>
              <a:t>ِ </a:t>
            </a:r>
            <a:r>
              <a:rPr dirty="0" sz="1800" spc="-305">
                <a:latin typeface="Arial"/>
                <a:cs typeface="Arial"/>
              </a:rPr>
              <a:t>رْ </a:t>
            </a:r>
            <a:r>
              <a:rPr dirty="0" sz="1800">
                <a:latin typeface="Arial"/>
                <a:cs typeface="Arial"/>
              </a:rPr>
              <a:t>ٌ</a:t>
            </a:r>
            <a:r>
              <a:rPr dirty="0" baseline="-3086" sz="2700">
                <a:latin typeface="Arial"/>
                <a:cs typeface="Arial"/>
              </a:rPr>
              <a:t>َ </a:t>
            </a:r>
            <a:r>
              <a:rPr dirty="0" baseline="6172" sz="2700" spc="-157">
                <a:latin typeface="Arial"/>
                <a:cs typeface="Arial"/>
              </a:rPr>
              <a:t>َ</a:t>
            </a:r>
            <a:r>
              <a:rPr dirty="0" sz="1800" spc="-105">
                <a:latin typeface="Arial"/>
                <a:cs typeface="Arial"/>
              </a:rPr>
              <a:t>لا </a:t>
            </a:r>
            <a:r>
              <a:rPr dirty="0" sz="1800" spc="-235">
                <a:latin typeface="Arial"/>
                <a:cs typeface="Arial"/>
              </a:rPr>
              <a:t>م</a:t>
            </a:r>
            <a:r>
              <a:rPr dirty="0" baseline="-4629" sz="2700" spc="-352">
                <a:latin typeface="Arial"/>
                <a:cs typeface="Arial"/>
              </a:rPr>
              <a:t>ْ </a:t>
            </a:r>
            <a:r>
              <a:rPr dirty="0" sz="1800" spc="-240">
                <a:latin typeface="Arial"/>
                <a:cs typeface="Arial"/>
              </a:rPr>
              <a:t>هُ </a:t>
            </a:r>
            <a:r>
              <a:rPr dirty="0" sz="1800" spc="-690">
                <a:latin typeface="Arial"/>
                <a:cs typeface="Arial"/>
              </a:rPr>
              <a:t>ف</a:t>
            </a:r>
            <a:r>
              <a:rPr dirty="0" baseline="4629" sz="2700" spc="-1035">
                <a:latin typeface="Arial"/>
                <a:cs typeface="Arial"/>
              </a:rPr>
              <a:t>َ</a:t>
            </a:r>
            <a:r>
              <a:rPr dirty="0" baseline="4629" sz="2700" spc="644">
                <a:latin typeface="Arial"/>
                <a:cs typeface="Arial"/>
              </a:rPr>
              <a:t> </a:t>
            </a:r>
            <a:r>
              <a:rPr dirty="0" sz="1800">
                <a:latin typeface="Arial"/>
                <a:cs typeface="Arial"/>
              </a:rPr>
              <a:t>ً</a:t>
            </a:r>
            <a:r>
              <a:rPr dirty="0" baseline="1543" sz="2700">
                <a:latin typeface="Arial"/>
                <a:cs typeface="Arial"/>
              </a:rPr>
              <a:t>ٌ </a:t>
            </a:r>
            <a:r>
              <a:rPr dirty="0" sz="1800" spc="-215">
                <a:latin typeface="Arial"/>
                <a:cs typeface="Arial"/>
              </a:rPr>
              <a:t>مْ </a:t>
            </a:r>
            <a:r>
              <a:rPr dirty="0" sz="1800" spc="-425">
                <a:latin typeface="Arial"/>
                <a:cs typeface="Arial"/>
              </a:rPr>
              <a:t>عُ </a:t>
            </a:r>
            <a:r>
              <a:rPr dirty="0" sz="1800" spc="-290">
                <a:latin typeface="Arial"/>
                <a:cs typeface="Arial"/>
              </a:rPr>
              <a:t>م</a:t>
            </a:r>
            <a:r>
              <a:rPr dirty="0" baseline="-4629" sz="2700" spc="-434">
                <a:latin typeface="Arial"/>
                <a:cs typeface="Arial"/>
              </a:rPr>
              <a:t>ٌ </a:t>
            </a:r>
            <a:r>
              <a:rPr dirty="0" sz="1800" spc="-455">
                <a:latin typeface="Arial"/>
                <a:cs typeface="Arial"/>
              </a:rPr>
              <a:t>ك</a:t>
            </a:r>
            <a:r>
              <a:rPr dirty="0" baseline="9259" sz="2700" spc="-682">
                <a:latin typeface="Arial"/>
                <a:cs typeface="Arial"/>
              </a:rPr>
              <a:t>ْ </a:t>
            </a:r>
            <a:r>
              <a:rPr dirty="0" sz="1800" spc="-620">
                <a:latin typeface="Arial"/>
                <a:cs typeface="Arial"/>
              </a:rPr>
              <a:t>بُ</a:t>
            </a:r>
            <a:r>
              <a:rPr dirty="0" sz="1800" spc="395">
                <a:latin typeface="Arial"/>
                <a:cs typeface="Arial"/>
              </a:rPr>
              <a:t> </a:t>
            </a:r>
            <a:r>
              <a:rPr dirty="0" sz="1800" spc="-175">
                <a:latin typeface="Arial"/>
                <a:cs typeface="Arial"/>
              </a:rPr>
              <a:t>م</a:t>
            </a:r>
            <a:r>
              <a:rPr dirty="0" baseline="-6172" sz="2700" spc="-262">
                <a:latin typeface="Arial"/>
                <a:cs typeface="Arial"/>
              </a:rPr>
              <a:t>ٌّ</a:t>
            </a:r>
            <a:r>
              <a:rPr dirty="0" baseline="-6172" sz="2700" spc="-434">
                <a:latin typeface="Arial"/>
                <a:cs typeface="Arial"/>
              </a:rPr>
              <a:t> </a:t>
            </a:r>
            <a:r>
              <a:rPr dirty="0" sz="1800" spc="-1850">
                <a:latin typeface="Arial"/>
                <a:cs typeface="Arial"/>
              </a:rPr>
              <a:t>ص</a:t>
            </a:r>
            <a:endParaRPr sz="1800">
              <a:latin typeface="Arial"/>
              <a:cs typeface="Arial"/>
            </a:endParaRPr>
          </a:p>
          <a:p>
            <a:pPr marL="190500">
              <a:lnSpc>
                <a:spcPct val="100000"/>
              </a:lnSpc>
              <a:spcBef>
                <a:spcPts val="1320"/>
              </a:spcBef>
            </a:pPr>
            <a:r>
              <a:rPr dirty="0" sz="1200" spc="-5">
                <a:latin typeface="Arial"/>
                <a:cs typeface="Arial"/>
              </a:rPr>
              <a:t>18. Deaf, dumb and blind; and they return</a:t>
            </a:r>
            <a:r>
              <a:rPr dirty="0" sz="1200" spc="-20">
                <a:latin typeface="Arial"/>
                <a:cs typeface="Arial"/>
              </a:rPr>
              <a:t> </a:t>
            </a:r>
            <a:r>
              <a:rPr dirty="0" sz="1200" spc="-5">
                <a:latin typeface="Arial"/>
                <a:cs typeface="Arial"/>
              </a:rPr>
              <a:t>not</a:t>
            </a:r>
            <a:endParaRPr sz="1200">
              <a:latin typeface="Arial"/>
              <a:cs typeface="Arial"/>
            </a:endParaRPr>
          </a:p>
          <a:p>
            <a:pPr>
              <a:lnSpc>
                <a:spcPct val="100000"/>
              </a:lnSpc>
            </a:pPr>
            <a:endParaRPr sz="1300">
              <a:latin typeface="Arial"/>
              <a:cs typeface="Arial"/>
            </a:endParaRPr>
          </a:p>
          <a:p>
            <a:pPr>
              <a:lnSpc>
                <a:spcPct val="100000"/>
              </a:lnSpc>
              <a:spcBef>
                <a:spcPts val="55"/>
              </a:spcBef>
            </a:pPr>
            <a:endParaRPr sz="1000">
              <a:latin typeface="Arial"/>
              <a:cs typeface="Arial"/>
            </a:endParaRPr>
          </a:p>
          <a:p>
            <a:pPr algn="just" marL="190500">
              <a:lnSpc>
                <a:spcPct val="100000"/>
              </a:lnSpc>
            </a:pPr>
            <a:r>
              <a:rPr dirty="0" sz="1200" spc="-5" b="1">
                <a:latin typeface="Arial"/>
                <a:cs typeface="Arial"/>
              </a:rPr>
              <a:t>(Verse 21 </a:t>
            </a:r>
            <a:r>
              <a:rPr dirty="0" sz="1200" b="1">
                <a:latin typeface="Arial"/>
                <a:cs typeface="Arial"/>
              </a:rPr>
              <a:t>– </a:t>
            </a:r>
            <a:r>
              <a:rPr dirty="0" sz="1200" spc="-5" b="1">
                <a:latin typeface="Arial"/>
                <a:cs typeface="Arial"/>
              </a:rPr>
              <a:t>29):</a:t>
            </a:r>
            <a:endParaRPr sz="1200">
              <a:latin typeface="Arial"/>
              <a:cs typeface="Arial"/>
            </a:endParaRPr>
          </a:p>
          <a:p>
            <a:pPr>
              <a:lnSpc>
                <a:spcPct val="100000"/>
              </a:lnSpc>
            </a:pPr>
            <a:endParaRPr sz="1200">
              <a:latin typeface="Arial"/>
              <a:cs typeface="Arial"/>
            </a:endParaRPr>
          </a:p>
          <a:p>
            <a:pPr algn="just" marL="190500" marR="194310">
              <a:lnSpc>
                <a:spcPct val="95900"/>
              </a:lnSpc>
            </a:pPr>
            <a:r>
              <a:rPr dirty="0" sz="1200" spc="-5">
                <a:latin typeface="Arial"/>
                <a:cs typeface="Arial"/>
              </a:rPr>
              <a:t>Allah invites mankind to accept </a:t>
            </a:r>
            <a:r>
              <a:rPr dirty="0" sz="1200">
                <a:latin typeface="Arial"/>
                <a:cs typeface="Arial"/>
              </a:rPr>
              <a:t>the </a:t>
            </a:r>
            <a:r>
              <a:rPr dirty="0" sz="1200" spc="-5">
                <a:latin typeface="Arial"/>
                <a:cs typeface="Arial"/>
              </a:rPr>
              <a:t>Guidance voluntarily and to submit to Him, the Lord and  </a:t>
            </a:r>
            <a:r>
              <a:rPr dirty="0" sz="1200">
                <a:latin typeface="Arial"/>
                <a:cs typeface="Arial"/>
              </a:rPr>
              <a:t>the </a:t>
            </a:r>
            <a:r>
              <a:rPr dirty="0" sz="1200" spc="-5">
                <a:latin typeface="Arial"/>
                <a:cs typeface="Arial"/>
              </a:rPr>
              <a:t>Creator of </a:t>
            </a:r>
            <a:r>
              <a:rPr dirty="0" sz="1200">
                <a:latin typeface="Arial"/>
                <a:cs typeface="Arial"/>
              </a:rPr>
              <a:t>the </a:t>
            </a:r>
            <a:r>
              <a:rPr dirty="0" sz="1200" spc="-5">
                <a:latin typeface="Arial"/>
                <a:cs typeface="Arial"/>
              </a:rPr>
              <a:t>Universe, and </a:t>
            </a:r>
            <a:r>
              <a:rPr dirty="0" sz="1200">
                <a:latin typeface="Arial"/>
                <a:cs typeface="Arial"/>
              </a:rPr>
              <a:t>to </a:t>
            </a:r>
            <a:r>
              <a:rPr dirty="0" sz="1200" spc="-5">
                <a:latin typeface="Arial"/>
                <a:cs typeface="Arial"/>
              </a:rPr>
              <a:t>believe in </a:t>
            </a:r>
            <a:r>
              <a:rPr dirty="0" sz="1200">
                <a:latin typeface="Arial"/>
                <a:cs typeface="Arial"/>
              </a:rPr>
              <a:t>the </a:t>
            </a:r>
            <a:r>
              <a:rPr dirty="0" sz="1200" spc="-5">
                <a:latin typeface="Arial"/>
                <a:cs typeface="Arial"/>
              </a:rPr>
              <a:t>Quran, His Guidance, and in the </a:t>
            </a:r>
            <a:r>
              <a:rPr dirty="0" sz="1200">
                <a:latin typeface="Arial"/>
                <a:cs typeface="Arial"/>
              </a:rPr>
              <a:t>Life-after-  </a:t>
            </a:r>
            <a:r>
              <a:rPr dirty="0" sz="1200" spc="-5">
                <a:latin typeface="Arial"/>
                <a:cs typeface="Arial"/>
              </a:rPr>
              <a:t>death. </a:t>
            </a:r>
            <a:r>
              <a:rPr dirty="0" sz="1200">
                <a:latin typeface="Arial"/>
                <a:cs typeface="Arial"/>
              </a:rPr>
              <a:t>It </a:t>
            </a:r>
            <a:r>
              <a:rPr dirty="0" sz="1200" spc="-5">
                <a:latin typeface="Arial"/>
                <a:cs typeface="Arial"/>
              </a:rPr>
              <a:t>is our responsibility </a:t>
            </a:r>
            <a:r>
              <a:rPr dirty="0" sz="1200">
                <a:latin typeface="Arial"/>
                <a:cs typeface="Arial"/>
              </a:rPr>
              <a:t>to put the </a:t>
            </a:r>
            <a:r>
              <a:rPr dirty="0" sz="1200" spc="-5">
                <a:latin typeface="Arial"/>
                <a:cs typeface="Arial"/>
              </a:rPr>
              <a:t>Shari‘ah into practice irrespective </a:t>
            </a:r>
            <a:r>
              <a:rPr dirty="0" sz="1200">
                <a:latin typeface="Arial"/>
                <a:cs typeface="Arial"/>
              </a:rPr>
              <a:t>of </a:t>
            </a:r>
            <a:r>
              <a:rPr dirty="0" sz="1200" spc="-5">
                <a:latin typeface="Arial"/>
                <a:cs typeface="Arial"/>
              </a:rPr>
              <a:t>the place </a:t>
            </a:r>
            <a:r>
              <a:rPr dirty="0" sz="1200">
                <a:latin typeface="Arial"/>
                <a:cs typeface="Arial"/>
              </a:rPr>
              <a:t>, </a:t>
            </a:r>
            <a:r>
              <a:rPr dirty="0" sz="1200" spc="-5">
                <a:latin typeface="Arial"/>
                <a:cs typeface="Arial"/>
              </a:rPr>
              <a:t>time  and ideology or feelings towards human beings. </a:t>
            </a:r>
            <a:r>
              <a:rPr dirty="0" sz="1200">
                <a:latin typeface="Arial"/>
                <a:cs typeface="Arial"/>
              </a:rPr>
              <a:t>There must </a:t>
            </a:r>
            <a:r>
              <a:rPr dirty="0" sz="1200" spc="-10">
                <a:latin typeface="Arial"/>
                <a:cs typeface="Arial"/>
              </a:rPr>
              <a:t>be </a:t>
            </a:r>
            <a:r>
              <a:rPr dirty="0" sz="1200" spc="-5">
                <a:latin typeface="Arial"/>
                <a:cs typeface="Arial"/>
              </a:rPr>
              <a:t>no </a:t>
            </a:r>
            <a:r>
              <a:rPr dirty="0" sz="1200">
                <a:latin typeface="Arial"/>
                <a:cs typeface="Arial"/>
              </a:rPr>
              <a:t>distraction </a:t>
            </a:r>
            <a:r>
              <a:rPr dirty="0" sz="1200" spc="-5">
                <a:latin typeface="Arial"/>
                <a:cs typeface="Arial"/>
              </a:rPr>
              <a:t>in the hearts of  </a:t>
            </a:r>
            <a:r>
              <a:rPr dirty="0" sz="1200">
                <a:latin typeface="Arial"/>
                <a:cs typeface="Arial"/>
              </a:rPr>
              <a:t>the </a:t>
            </a:r>
            <a:r>
              <a:rPr dirty="0" sz="1200" spc="-5">
                <a:latin typeface="Arial"/>
                <a:cs typeface="Arial"/>
              </a:rPr>
              <a:t>Muslims and </a:t>
            </a:r>
            <a:r>
              <a:rPr dirty="0" sz="1200" spc="-10">
                <a:latin typeface="Arial"/>
                <a:cs typeface="Arial"/>
              </a:rPr>
              <a:t>we </a:t>
            </a:r>
            <a:r>
              <a:rPr dirty="0" sz="1200" spc="-5">
                <a:latin typeface="Arial"/>
                <a:cs typeface="Arial"/>
              </a:rPr>
              <a:t>will </a:t>
            </a:r>
            <a:r>
              <a:rPr dirty="0" sz="1200">
                <a:latin typeface="Arial"/>
                <a:cs typeface="Arial"/>
              </a:rPr>
              <a:t>be </a:t>
            </a:r>
            <a:r>
              <a:rPr dirty="0" sz="1200" spc="-5">
                <a:latin typeface="Arial"/>
                <a:cs typeface="Arial"/>
              </a:rPr>
              <a:t>accountable </a:t>
            </a:r>
            <a:r>
              <a:rPr dirty="0" sz="1200">
                <a:latin typeface="Arial"/>
                <a:cs typeface="Arial"/>
              </a:rPr>
              <a:t>for </a:t>
            </a:r>
            <a:r>
              <a:rPr dirty="0" sz="1200" spc="-5">
                <a:latin typeface="Arial"/>
                <a:cs typeface="Arial"/>
              </a:rPr>
              <a:t>all </a:t>
            </a:r>
            <a:r>
              <a:rPr dirty="0" sz="1200">
                <a:latin typeface="Arial"/>
                <a:cs typeface="Arial"/>
              </a:rPr>
              <a:t>our </a:t>
            </a:r>
            <a:r>
              <a:rPr dirty="0" sz="1200" spc="-5">
                <a:latin typeface="Arial"/>
                <a:cs typeface="Arial"/>
              </a:rPr>
              <a:t>deeds and sayings.</a:t>
            </a:r>
            <a:endParaRPr sz="1200">
              <a:latin typeface="Arial"/>
              <a:cs typeface="Arial"/>
            </a:endParaRPr>
          </a:p>
          <a:p>
            <a:pPr>
              <a:lnSpc>
                <a:spcPct val="100000"/>
              </a:lnSpc>
              <a:spcBef>
                <a:spcPts val="55"/>
              </a:spcBef>
            </a:pPr>
            <a:endParaRPr sz="1100">
              <a:latin typeface="Arial"/>
              <a:cs typeface="Arial"/>
            </a:endParaRPr>
          </a:p>
          <a:p>
            <a:pPr algn="just" marL="190500">
              <a:lnSpc>
                <a:spcPct val="100000"/>
              </a:lnSpc>
            </a:pPr>
            <a:r>
              <a:rPr dirty="0" sz="1200" spc="-5">
                <a:latin typeface="Arial"/>
                <a:cs typeface="Arial"/>
              </a:rPr>
              <a:t>Allah says:</a:t>
            </a:r>
            <a:endParaRPr sz="1200">
              <a:latin typeface="Arial"/>
              <a:cs typeface="Arial"/>
            </a:endParaRPr>
          </a:p>
          <a:p>
            <a:pPr>
              <a:lnSpc>
                <a:spcPct val="100000"/>
              </a:lnSpc>
              <a:spcBef>
                <a:spcPts val="55"/>
              </a:spcBef>
            </a:pPr>
            <a:endParaRPr sz="1100">
              <a:latin typeface="Arial"/>
              <a:cs typeface="Arial"/>
            </a:endParaRPr>
          </a:p>
          <a:p>
            <a:pPr algn="r" marR="236854">
              <a:lnSpc>
                <a:spcPct val="100000"/>
              </a:lnSpc>
            </a:pPr>
            <a:r>
              <a:rPr dirty="0" baseline="1543" sz="2700" spc="-509">
                <a:latin typeface="Arial"/>
                <a:cs typeface="Arial"/>
              </a:rPr>
              <a:t>ن</a:t>
            </a:r>
            <a:r>
              <a:rPr dirty="0" baseline="-1543" sz="2700" spc="-509">
                <a:latin typeface="Arial"/>
                <a:cs typeface="Arial"/>
              </a:rPr>
              <a:t>َ </a:t>
            </a:r>
            <a:r>
              <a:rPr dirty="0" baseline="1543" sz="2700" spc="-450">
                <a:latin typeface="Arial"/>
                <a:cs typeface="Arial"/>
              </a:rPr>
              <a:t>و</a:t>
            </a:r>
            <a:r>
              <a:rPr dirty="0" baseline="9259" sz="2700" spc="-450">
                <a:latin typeface="Arial"/>
                <a:cs typeface="Arial"/>
              </a:rPr>
              <a:t>ُ</a:t>
            </a:r>
            <a:r>
              <a:rPr dirty="0" baseline="1543" sz="2700" spc="-450">
                <a:latin typeface="Arial"/>
                <a:cs typeface="Arial"/>
              </a:rPr>
              <a:t>قت</a:t>
            </a:r>
            <a:r>
              <a:rPr dirty="0" baseline="9259" sz="2700" spc="-450">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532">
                <a:latin typeface="Arial"/>
                <a:cs typeface="Arial"/>
              </a:rPr>
              <a:t> </a:t>
            </a:r>
            <a:r>
              <a:rPr dirty="0" baseline="1543" sz="2700" spc="-359">
                <a:latin typeface="Arial"/>
                <a:cs typeface="Arial"/>
              </a:rPr>
              <a:t>م</a:t>
            </a:r>
            <a:r>
              <a:rPr dirty="0" baseline="-3086" sz="2700" spc="-359">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50">
                <a:latin typeface="Arial"/>
                <a:cs typeface="Arial"/>
              </a:rPr>
              <a:t> </a:t>
            </a:r>
            <a:r>
              <a:rPr dirty="0" baseline="10802" sz="2700" spc="-405">
                <a:latin typeface="Arial"/>
                <a:cs typeface="Arial"/>
              </a:rPr>
              <a:t>َّ</a:t>
            </a:r>
            <a:r>
              <a:rPr dirty="0" baseline="1543" sz="2700" spc="-405">
                <a:latin typeface="Arial"/>
                <a:cs typeface="Arial"/>
              </a:rPr>
              <a:t>لع</a:t>
            </a:r>
            <a:r>
              <a:rPr dirty="0" baseline="-1543" sz="2700" spc="-405">
                <a:latin typeface="Arial"/>
                <a:cs typeface="Arial"/>
              </a:rPr>
              <a:t>َ </a:t>
            </a:r>
            <a:r>
              <a:rPr dirty="0" baseline="9259" sz="2700" spc="-405">
                <a:latin typeface="Arial"/>
                <a:cs typeface="Arial"/>
              </a:rPr>
              <a:t>َ</a:t>
            </a:r>
            <a:r>
              <a:rPr dirty="0" baseline="1543" sz="2700" spc="-405">
                <a:latin typeface="Arial"/>
                <a:cs typeface="Arial"/>
              </a:rPr>
              <a:t>ل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72">
                <a:latin typeface="Arial"/>
                <a:cs typeface="Arial"/>
              </a:rPr>
              <a:t> </a:t>
            </a:r>
            <a:r>
              <a:rPr dirty="0" sz="1800" spc="-425">
                <a:latin typeface="Arial"/>
                <a:cs typeface="Arial"/>
              </a:rPr>
              <a:t>ِ</a:t>
            </a:r>
            <a:r>
              <a:rPr dirty="0" baseline="1543" sz="2700" spc="-637">
                <a:latin typeface="Arial"/>
                <a:cs typeface="Arial"/>
              </a:rPr>
              <a:t>لبْ </a:t>
            </a:r>
            <a:r>
              <a:rPr dirty="0" baseline="1543" sz="2700" spc="-757">
                <a:latin typeface="Arial"/>
                <a:cs typeface="Arial"/>
              </a:rPr>
              <a:t>ق</a:t>
            </a:r>
            <a:r>
              <a:rPr dirty="0" baseline="6172" sz="2700" spc="-757">
                <a:latin typeface="Arial"/>
                <a:cs typeface="Arial"/>
              </a:rPr>
              <a:t>َ</a:t>
            </a:r>
            <a:r>
              <a:rPr dirty="0" baseline="6172" sz="2700" spc="667">
                <a:latin typeface="Arial"/>
                <a:cs typeface="Arial"/>
              </a:rPr>
              <a:t> </a:t>
            </a:r>
            <a:r>
              <a:rPr dirty="0" baseline="1543" sz="2700" spc="-240">
                <a:latin typeface="Arial"/>
                <a:cs typeface="Arial"/>
              </a:rPr>
              <a:t>نم</a:t>
            </a:r>
            <a:r>
              <a:rPr dirty="0" sz="1800" spc="-160">
                <a:latin typeface="Arial"/>
                <a:cs typeface="Arial"/>
              </a:rPr>
              <a:t>ِ </a:t>
            </a:r>
            <a:r>
              <a:rPr dirty="0" baseline="1543" sz="2700" spc="-509">
                <a:latin typeface="Arial"/>
                <a:cs typeface="Arial"/>
              </a:rPr>
              <a:t>ن</a:t>
            </a:r>
            <a:r>
              <a:rPr dirty="0" baseline="-1543" sz="2700" spc="-509">
                <a:latin typeface="Arial"/>
                <a:cs typeface="Arial"/>
              </a:rPr>
              <a:t>َ </a:t>
            </a:r>
            <a:r>
              <a:rPr dirty="0" baseline="1543" sz="2700" spc="-240">
                <a:latin typeface="Arial"/>
                <a:cs typeface="Arial"/>
              </a:rPr>
              <a:t>ٌذ</a:t>
            </a:r>
            <a:r>
              <a:rPr dirty="0" sz="1800" spc="-160">
                <a:latin typeface="Arial"/>
                <a:cs typeface="Arial"/>
              </a:rPr>
              <a:t>ِ </a:t>
            </a:r>
            <a:r>
              <a:rPr dirty="0" baseline="10802" sz="2700" spc="-240">
                <a:latin typeface="Arial"/>
                <a:cs typeface="Arial"/>
              </a:rPr>
              <a:t>َّ</a:t>
            </a:r>
            <a:r>
              <a:rPr dirty="0" baseline="1543" sz="2700" spc="-240">
                <a:latin typeface="Arial"/>
                <a:cs typeface="Arial"/>
              </a:rPr>
              <a:t>لٱو</a:t>
            </a:r>
            <a:r>
              <a:rPr dirty="0" baseline="-1543" sz="2700" spc="-24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1543" sz="2700" spc="-750">
                <a:latin typeface="Arial"/>
                <a:cs typeface="Arial"/>
              </a:rPr>
              <a:t>ق</a:t>
            </a:r>
            <a:r>
              <a:rPr dirty="0" baseline="6172" sz="2700" spc="-750">
                <a:latin typeface="Arial"/>
                <a:cs typeface="Arial"/>
              </a:rPr>
              <a:t>َ</a:t>
            </a:r>
            <a:r>
              <a:rPr dirty="0" baseline="9259" sz="2700" spc="-502">
                <a:latin typeface="Arial"/>
                <a:cs typeface="Arial"/>
              </a:rPr>
              <a:t>َ</a:t>
            </a:r>
            <a:r>
              <a:rPr dirty="0" baseline="1543" sz="2700" spc="-502">
                <a:latin typeface="Arial"/>
                <a:cs typeface="Arial"/>
              </a:rPr>
              <a:t>لخ</a:t>
            </a:r>
            <a:r>
              <a:rPr dirty="0" baseline="6172" sz="2700" spc="-502">
                <a:latin typeface="Arial"/>
                <a:cs typeface="Arial"/>
              </a:rPr>
              <a:t>َ </a:t>
            </a:r>
            <a:r>
              <a:rPr dirty="0" baseline="1543" sz="2700" spc="-232">
                <a:latin typeface="Arial"/>
                <a:cs typeface="Arial"/>
              </a:rPr>
              <a:t>يذ</a:t>
            </a:r>
            <a:r>
              <a:rPr dirty="0" sz="1800" spc="-155">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427">
                <a:latin typeface="Arial"/>
                <a:cs typeface="Arial"/>
              </a:rPr>
              <a:t>م</a:t>
            </a:r>
            <a:r>
              <a:rPr dirty="0" baseline="-4629" sz="2700" spc="-427">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1543" sz="2700" spc="-615">
                <a:latin typeface="Arial"/>
                <a:cs typeface="Arial"/>
              </a:rPr>
              <a:t>ب</a:t>
            </a:r>
            <a:r>
              <a:rPr dirty="0" sz="1800" spc="-409">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277">
                <a:latin typeface="Arial"/>
                <a:cs typeface="Arial"/>
              </a:rPr>
              <a:t>ا</a:t>
            </a:r>
            <a:r>
              <a:rPr dirty="0" baseline="9259" sz="2700" spc="-277">
                <a:latin typeface="Arial"/>
                <a:cs typeface="Arial"/>
              </a:rPr>
              <a:t>ْ </a:t>
            </a:r>
            <a:r>
              <a:rPr dirty="0" baseline="1543" sz="2700" spc="-240">
                <a:latin typeface="Arial"/>
                <a:cs typeface="Arial"/>
              </a:rPr>
              <a:t>ود</a:t>
            </a:r>
            <a:r>
              <a:rPr dirty="0" baseline="3086" sz="2700" spc="-240">
                <a:latin typeface="Arial"/>
                <a:cs typeface="Arial"/>
              </a:rPr>
              <a:t>ُ </a:t>
            </a:r>
            <a:r>
              <a:rPr dirty="0" baseline="1543" sz="2700" spc="-930">
                <a:latin typeface="Arial"/>
                <a:cs typeface="Arial"/>
              </a:rPr>
              <a:t>بُ</a:t>
            </a:r>
            <a:r>
              <a:rPr dirty="0" baseline="1543" sz="2700" spc="-157">
                <a:latin typeface="Arial"/>
                <a:cs typeface="Arial"/>
              </a:rPr>
              <a:t> </a:t>
            </a:r>
            <a:r>
              <a:rPr dirty="0" baseline="1543" sz="2700" spc="-569">
                <a:latin typeface="Arial"/>
                <a:cs typeface="Arial"/>
              </a:rPr>
              <a:t>عْ </a:t>
            </a:r>
            <a:r>
              <a:rPr dirty="0" baseline="1543" sz="2700">
                <a:latin typeface="Arial"/>
                <a:cs typeface="Arial"/>
              </a:rPr>
              <a:t>ٱ </a:t>
            </a:r>
            <a:r>
              <a:rPr dirty="0" baseline="1543" sz="2700" spc="-914">
                <a:latin typeface="Arial"/>
                <a:cs typeface="Arial"/>
              </a:rPr>
              <a:t>سُ</a:t>
            </a:r>
            <a:r>
              <a:rPr dirty="0" baseline="1543" sz="2700" spc="1080">
                <a:latin typeface="Arial"/>
                <a:cs typeface="Arial"/>
              </a:rPr>
              <a:t> </a:t>
            </a:r>
            <a:r>
              <a:rPr dirty="0" baseline="1543" sz="2700" spc="-322">
                <a:latin typeface="Arial"/>
                <a:cs typeface="Arial"/>
              </a:rPr>
              <a:t>ان</a:t>
            </a:r>
            <a:r>
              <a:rPr dirty="0" baseline="9259" sz="2700" spc="-322">
                <a:latin typeface="Arial"/>
                <a:cs typeface="Arial"/>
              </a:rPr>
              <a:t>َّ </a:t>
            </a:r>
            <a:r>
              <a:rPr dirty="0" baseline="1543" sz="2700" spc="-412">
                <a:latin typeface="Arial"/>
                <a:cs typeface="Arial"/>
              </a:rPr>
              <a:t>لٱ </a:t>
            </a:r>
            <a:r>
              <a:rPr dirty="0" baseline="1543" sz="2700" spc="-202">
                <a:latin typeface="Arial"/>
                <a:cs typeface="Arial"/>
              </a:rPr>
              <a:t>اه</a:t>
            </a:r>
            <a:r>
              <a:rPr dirty="0" baseline="-1543" sz="2700" spc="-202">
                <a:latin typeface="Arial"/>
                <a:cs typeface="Arial"/>
              </a:rPr>
              <a:t>َ </a:t>
            </a:r>
            <a:r>
              <a:rPr dirty="0" baseline="1543" sz="2700">
                <a:latin typeface="Arial"/>
                <a:cs typeface="Arial"/>
              </a:rPr>
              <a:t>ٌ</a:t>
            </a:r>
            <a:r>
              <a:rPr dirty="0" sz="1800">
                <a:latin typeface="Arial"/>
                <a:cs typeface="Arial"/>
              </a:rPr>
              <a:t>ُّ</a:t>
            </a:r>
            <a:r>
              <a:rPr dirty="0" sz="1800" spc="120">
                <a:latin typeface="Arial"/>
                <a:cs typeface="Arial"/>
              </a:rPr>
              <a:t> </a:t>
            </a:r>
            <a:r>
              <a:rPr dirty="0" baseline="15432" sz="2700" spc="7">
                <a:latin typeface="Arial"/>
                <a:cs typeface="Arial"/>
              </a:rPr>
              <a:t>َ</a:t>
            </a:r>
            <a:r>
              <a:rPr dirty="0" baseline="1543" sz="2700" spc="7">
                <a:latin typeface="Arial"/>
                <a:cs typeface="Arial"/>
              </a:rPr>
              <a:t>أاٌ</a:t>
            </a:r>
            <a:endParaRPr baseline="1543" sz="2700">
              <a:latin typeface="Arial"/>
              <a:cs typeface="Arial"/>
            </a:endParaRPr>
          </a:p>
          <a:p>
            <a:pPr marL="190500" marR="201930">
              <a:lnSpc>
                <a:spcPts val="1380"/>
              </a:lnSpc>
              <a:spcBef>
                <a:spcPts val="1210"/>
              </a:spcBef>
            </a:pPr>
            <a:r>
              <a:rPr dirty="0" sz="1200" spc="-5">
                <a:latin typeface="Arial"/>
                <a:cs typeface="Arial"/>
              </a:rPr>
              <a:t>21. </a:t>
            </a:r>
            <a:r>
              <a:rPr dirty="0" sz="1200">
                <a:latin typeface="Arial"/>
                <a:cs typeface="Arial"/>
              </a:rPr>
              <a:t>O </a:t>
            </a:r>
            <a:r>
              <a:rPr dirty="0" sz="1200" spc="-5">
                <a:latin typeface="Arial"/>
                <a:cs typeface="Arial"/>
              </a:rPr>
              <a:t>mankind! </a:t>
            </a:r>
            <a:r>
              <a:rPr dirty="0" sz="1200">
                <a:latin typeface="Arial"/>
                <a:cs typeface="Arial"/>
              </a:rPr>
              <a:t>Worship </a:t>
            </a:r>
            <a:r>
              <a:rPr dirty="0" sz="1200" spc="-5">
                <a:latin typeface="Arial"/>
                <a:cs typeface="Arial"/>
              </a:rPr>
              <a:t>your Lord, </a:t>
            </a:r>
            <a:r>
              <a:rPr dirty="0" sz="1200" spc="5">
                <a:latin typeface="Arial"/>
                <a:cs typeface="Arial"/>
              </a:rPr>
              <a:t>Who </a:t>
            </a:r>
            <a:r>
              <a:rPr dirty="0" sz="1200" spc="-5">
                <a:latin typeface="Arial"/>
                <a:cs typeface="Arial"/>
              </a:rPr>
              <a:t>hath created </a:t>
            </a:r>
            <a:r>
              <a:rPr dirty="0" sz="1200" spc="-10">
                <a:latin typeface="Arial"/>
                <a:cs typeface="Arial"/>
              </a:rPr>
              <a:t>you </a:t>
            </a:r>
            <a:r>
              <a:rPr dirty="0" sz="1200" spc="-5">
                <a:latin typeface="Arial"/>
                <a:cs typeface="Arial"/>
              </a:rPr>
              <a:t>and those before you, so that </a:t>
            </a:r>
            <a:r>
              <a:rPr dirty="0" sz="1200" spc="-10">
                <a:latin typeface="Arial"/>
                <a:cs typeface="Arial"/>
              </a:rPr>
              <a:t>ye  </a:t>
            </a:r>
            <a:r>
              <a:rPr dirty="0" sz="1200">
                <a:latin typeface="Arial"/>
                <a:cs typeface="Arial"/>
              </a:rPr>
              <a:t>may </a:t>
            </a:r>
            <a:r>
              <a:rPr dirty="0" sz="1200" spc="-5">
                <a:latin typeface="Arial"/>
                <a:cs typeface="Arial"/>
              </a:rPr>
              <a:t>ward </a:t>
            </a:r>
            <a:r>
              <a:rPr dirty="0" sz="1200">
                <a:latin typeface="Arial"/>
                <a:cs typeface="Arial"/>
              </a:rPr>
              <a:t>off</a:t>
            </a:r>
            <a:r>
              <a:rPr dirty="0" sz="1200" spc="-15">
                <a:latin typeface="Arial"/>
                <a:cs typeface="Arial"/>
              </a:rPr>
              <a:t> </a:t>
            </a:r>
            <a:r>
              <a:rPr dirty="0" sz="1200" spc="-5">
                <a:latin typeface="Arial"/>
                <a:cs typeface="Arial"/>
              </a:rPr>
              <a:t>(evil).</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54</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99388" y="799592"/>
            <a:ext cx="6280150" cy="826135"/>
          </a:xfrm>
          <a:prstGeom prst="rect">
            <a:avLst/>
          </a:prstGeom>
        </p:spPr>
        <p:txBody>
          <a:bodyPr wrap="square" lIns="0" tIns="31114" rIns="0" bIns="0" rtlCol="0" vert="horz">
            <a:spAutoFit/>
          </a:bodyPr>
          <a:lstStyle/>
          <a:p>
            <a:pPr algn="r" marL="355600" marR="107950" indent="-254635">
              <a:lnSpc>
                <a:spcPts val="2070"/>
              </a:lnSpc>
              <a:spcBef>
                <a:spcPts val="244"/>
              </a:spcBef>
            </a:pPr>
            <a:r>
              <a:rPr dirty="0" baseline="1543" sz="2700" spc="-262">
                <a:latin typeface="Arial"/>
                <a:cs typeface="Arial"/>
              </a:rPr>
              <a:t>ا</a:t>
            </a:r>
            <a:r>
              <a:rPr dirty="0" baseline="9259" sz="2700" spc="-262">
                <a:latin typeface="Arial"/>
                <a:cs typeface="Arial"/>
              </a:rPr>
              <a:t>ْ </a:t>
            </a:r>
            <a:r>
              <a:rPr dirty="0" baseline="1543" sz="2700" spc="-352">
                <a:latin typeface="Arial"/>
                <a:cs typeface="Arial"/>
              </a:rPr>
              <a:t>و</a:t>
            </a:r>
            <a:r>
              <a:rPr dirty="0" baseline="9259" sz="2700" spc="-352">
                <a:latin typeface="Arial"/>
                <a:cs typeface="Arial"/>
              </a:rPr>
              <a:t>ُ</a:t>
            </a:r>
            <a:r>
              <a:rPr dirty="0" baseline="1543" sz="2700" spc="-352">
                <a:latin typeface="Arial"/>
                <a:cs typeface="Arial"/>
              </a:rPr>
              <a:t>قز</a:t>
            </a:r>
            <a:r>
              <a:rPr dirty="0" baseline="-13888" sz="2700" spc="-352">
                <a:latin typeface="Arial"/>
                <a:cs typeface="Arial"/>
              </a:rPr>
              <a:t>ِ </a:t>
            </a:r>
            <a:r>
              <a:rPr dirty="0" baseline="1543" sz="2700" spc="-525">
                <a:latin typeface="Arial"/>
                <a:cs typeface="Arial"/>
              </a:rPr>
              <a:t>رُ </a:t>
            </a:r>
            <a:r>
              <a:rPr dirty="0" baseline="1543" sz="2700" spc="-225">
                <a:latin typeface="Arial"/>
                <a:cs typeface="Arial"/>
              </a:rPr>
              <a:t>ام</a:t>
            </a:r>
            <a:r>
              <a:rPr dirty="0" baseline="-1543" sz="2700" spc="-225">
                <a:latin typeface="Arial"/>
                <a:cs typeface="Arial"/>
              </a:rPr>
              <a:t>َ </a:t>
            </a:r>
            <a:r>
              <a:rPr dirty="0" baseline="10802" sz="2700" spc="-465">
                <a:latin typeface="Arial"/>
                <a:cs typeface="Arial"/>
              </a:rPr>
              <a:t>َّ</a:t>
            </a:r>
            <a:r>
              <a:rPr dirty="0" baseline="1543" sz="2700" spc="-465">
                <a:latin typeface="Arial"/>
                <a:cs typeface="Arial"/>
              </a:rPr>
              <a:t>لك</a:t>
            </a:r>
            <a:r>
              <a:rPr dirty="0" baseline="9259" sz="2700" spc="-465">
                <a:latin typeface="Arial"/>
                <a:cs typeface="Arial"/>
              </a:rPr>
              <a:t>ُ</a:t>
            </a:r>
            <a:r>
              <a:rPr dirty="0" baseline="9259" sz="2700" spc="-179">
                <a:latin typeface="Arial"/>
                <a:cs typeface="Arial"/>
              </a:rPr>
              <a:t> </a:t>
            </a:r>
            <a:r>
              <a:rPr dirty="0" baseline="1543" sz="2700" spc="-525">
                <a:latin typeface="Arial"/>
                <a:cs typeface="Arial"/>
              </a:rPr>
              <a:t>رُ </a:t>
            </a:r>
            <a:r>
              <a:rPr dirty="0" baseline="1543" sz="2700" spc="-202">
                <a:latin typeface="Arial"/>
                <a:cs typeface="Arial"/>
              </a:rPr>
              <a:t>اه</a:t>
            </a:r>
            <a:r>
              <a:rPr dirty="0" baseline="-1543" sz="2700" spc="-202">
                <a:latin typeface="Arial"/>
                <a:cs typeface="Arial"/>
              </a:rPr>
              <a:t>َ </a:t>
            </a:r>
            <a:r>
              <a:rPr dirty="0" baseline="1543" sz="2700" spc="-607">
                <a:latin typeface="Arial"/>
                <a:cs typeface="Arial"/>
              </a:rPr>
              <a:t>ن</a:t>
            </a:r>
            <a:r>
              <a:rPr dirty="0" baseline="9259" sz="2700" spc="-607">
                <a:latin typeface="Arial"/>
                <a:cs typeface="Arial"/>
              </a:rPr>
              <a:t>ْ </a:t>
            </a:r>
            <a:r>
              <a:rPr dirty="0" baseline="15432" sz="2700" spc="-120">
                <a:latin typeface="Arial"/>
                <a:cs typeface="Arial"/>
              </a:rPr>
              <a:t>َ</a:t>
            </a:r>
            <a:r>
              <a:rPr dirty="0" baseline="1543" sz="2700" spc="-120">
                <a:latin typeface="Arial"/>
                <a:cs typeface="Arial"/>
              </a:rPr>
              <a:t>لأٱ </a:t>
            </a:r>
            <a:r>
              <a:rPr dirty="0" baseline="1543" sz="2700" spc="-202">
                <a:latin typeface="Arial"/>
                <a:cs typeface="Arial"/>
              </a:rPr>
              <a:t>اه</a:t>
            </a:r>
            <a:r>
              <a:rPr dirty="0" baseline="-1543" sz="2700" spc="-202">
                <a:latin typeface="Arial"/>
                <a:cs typeface="Arial"/>
              </a:rPr>
              <a:t>َ </a:t>
            </a:r>
            <a:r>
              <a:rPr dirty="0" baseline="1543" sz="2700" spc="-960">
                <a:latin typeface="Arial"/>
                <a:cs typeface="Arial"/>
              </a:rPr>
              <a:t>ت</a:t>
            </a:r>
            <a:r>
              <a:rPr dirty="0" sz="1800" spc="-640">
                <a:latin typeface="Arial"/>
                <a:cs typeface="Arial"/>
              </a:rPr>
              <a:t>ِ</a:t>
            </a:r>
            <a:r>
              <a:rPr dirty="0" sz="1800" spc="-70">
                <a:latin typeface="Arial"/>
                <a:cs typeface="Arial"/>
              </a:rPr>
              <a:t> </a:t>
            </a:r>
            <a:r>
              <a:rPr dirty="0" baseline="1543" sz="2700" spc="-562">
                <a:latin typeface="Arial"/>
                <a:cs typeface="Arial"/>
              </a:rPr>
              <a:t>حْ </a:t>
            </a:r>
            <a:r>
              <a:rPr dirty="0" baseline="1543" sz="2700" spc="-892">
                <a:latin typeface="Arial"/>
                <a:cs typeface="Arial"/>
              </a:rPr>
              <a:t>ت</a:t>
            </a:r>
            <a:r>
              <a:rPr dirty="0" baseline="6172" sz="2700" spc="-892">
                <a:latin typeface="Arial"/>
                <a:cs typeface="Arial"/>
              </a:rPr>
              <a:t>َ</a:t>
            </a:r>
            <a:r>
              <a:rPr dirty="0" baseline="6172" sz="2700" spc="540">
                <a:latin typeface="Arial"/>
                <a:cs typeface="Arial"/>
              </a:rPr>
              <a:t> </a:t>
            </a:r>
            <a:r>
              <a:rPr dirty="0" baseline="1543" sz="2700" spc="-240">
                <a:latin typeface="Arial"/>
                <a:cs typeface="Arial"/>
              </a:rPr>
              <a:t>نم</a:t>
            </a:r>
            <a:r>
              <a:rPr dirty="0" sz="1800" spc="-160">
                <a:latin typeface="Arial"/>
                <a:cs typeface="Arial"/>
              </a:rPr>
              <a:t>ِ </a:t>
            </a:r>
            <a:r>
              <a:rPr dirty="0" baseline="1543" sz="2700" spc="-307">
                <a:latin typeface="Arial"/>
                <a:cs typeface="Arial"/>
              </a:rPr>
              <a:t>ير</a:t>
            </a:r>
            <a:r>
              <a:rPr dirty="0" baseline="-13888" sz="2700" spc="-307">
                <a:latin typeface="Arial"/>
                <a:cs typeface="Arial"/>
              </a:rPr>
              <a:t>ِ </a:t>
            </a:r>
            <a:r>
              <a:rPr dirty="0" baseline="1543" sz="2700" spc="-555">
                <a:latin typeface="Arial"/>
                <a:cs typeface="Arial"/>
              </a:rPr>
              <a:t>جْ </a:t>
            </a:r>
            <a:r>
              <a:rPr dirty="0" baseline="1543" sz="2700" spc="-892">
                <a:latin typeface="Arial"/>
                <a:cs typeface="Arial"/>
              </a:rPr>
              <a:t>ت</a:t>
            </a:r>
            <a:r>
              <a:rPr dirty="0" baseline="6172" sz="2700" spc="-892">
                <a:latin typeface="Arial"/>
                <a:cs typeface="Arial"/>
              </a:rPr>
              <a:t>َ</a:t>
            </a:r>
            <a:r>
              <a:rPr dirty="0" baseline="6172" sz="2700" spc="532">
                <a:latin typeface="Arial"/>
                <a:cs typeface="Arial"/>
              </a:rPr>
              <a:t> </a:t>
            </a:r>
            <a:r>
              <a:rPr dirty="0" baseline="1543" sz="2700" spc="-869">
                <a:latin typeface="Arial"/>
                <a:cs typeface="Arial"/>
              </a:rPr>
              <a:t>تٍ</a:t>
            </a:r>
            <a:r>
              <a:rPr dirty="0" baseline="1543" sz="2700" spc="989">
                <a:latin typeface="Arial"/>
                <a:cs typeface="Arial"/>
              </a:rPr>
              <a:t> </a:t>
            </a:r>
            <a:r>
              <a:rPr dirty="0" baseline="1543" sz="2700" spc="-322">
                <a:latin typeface="Arial"/>
                <a:cs typeface="Arial"/>
              </a:rPr>
              <a:t>ان</a:t>
            </a:r>
            <a:r>
              <a:rPr dirty="0" baseline="9259" sz="2700" spc="-322">
                <a:latin typeface="Arial"/>
                <a:cs typeface="Arial"/>
              </a:rPr>
              <a:t>َّ </a:t>
            </a:r>
            <a:r>
              <a:rPr dirty="0" baseline="1543" sz="2700" spc="-592">
                <a:latin typeface="Arial"/>
                <a:cs typeface="Arial"/>
              </a:rPr>
              <a:t>ج</a:t>
            </a:r>
            <a:r>
              <a:rPr dirty="0" baseline="-1543" sz="2700" spc="-592">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9259" sz="2700" spc="-405">
                <a:latin typeface="Arial"/>
                <a:cs typeface="Arial"/>
              </a:rPr>
              <a:t>َ</a:t>
            </a:r>
            <a:r>
              <a:rPr dirty="0" baseline="1543" sz="2700" spc="-405">
                <a:latin typeface="Arial"/>
                <a:cs typeface="Arial"/>
              </a:rPr>
              <a:t>ل </a:t>
            </a:r>
            <a:r>
              <a:rPr dirty="0" baseline="1543" sz="2700" spc="-345">
                <a:latin typeface="Arial"/>
                <a:cs typeface="Arial"/>
              </a:rPr>
              <a:t>ن</a:t>
            </a:r>
            <a:r>
              <a:rPr dirty="0" sz="1800" spc="-229">
                <a:latin typeface="Arial"/>
                <a:cs typeface="Arial"/>
              </a:rPr>
              <a:t>َّ </a:t>
            </a:r>
            <a:r>
              <a:rPr dirty="0" baseline="15432" sz="2700">
                <a:latin typeface="Arial"/>
                <a:cs typeface="Arial"/>
              </a:rPr>
              <a:t>َ</a:t>
            </a:r>
            <a:r>
              <a:rPr dirty="0" baseline="1543" sz="2700">
                <a:latin typeface="Arial"/>
                <a:cs typeface="Arial"/>
              </a:rPr>
              <a:t>أ </a:t>
            </a:r>
            <a:r>
              <a:rPr dirty="0" baseline="1543" sz="2700" spc="-862">
                <a:latin typeface="Arial"/>
                <a:cs typeface="Arial"/>
              </a:rPr>
              <a:t>ت</a:t>
            </a:r>
            <a:r>
              <a:rPr dirty="0" sz="1800" spc="-575">
                <a:latin typeface="Arial"/>
                <a:cs typeface="Arial"/>
              </a:rPr>
              <a:t>ِ</a:t>
            </a:r>
            <a:r>
              <a:rPr dirty="0" sz="1800" spc="640">
                <a:latin typeface="Arial"/>
                <a:cs typeface="Arial"/>
              </a:rPr>
              <a:t> </a:t>
            </a:r>
            <a:r>
              <a:rPr dirty="0" baseline="1543" sz="2700" spc="-382">
                <a:latin typeface="Arial"/>
                <a:cs typeface="Arial"/>
              </a:rPr>
              <a:t>اح</a:t>
            </a:r>
            <a:r>
              <a:rPr dirty="0" baseline="-1543" sz="2700" spc="-382">
                <a:latin typeface="Arial"/>
                <a:cs typeface="Arial"/>
              </a:rPr>
              <a:t>َ </a:t>
            </a:r>
            <a:r>
              <a:rPr dirty="0" sz="1800" spc="-390">
                <a:latin typeface="Arial"/>
                <a:cs typeface="Arial"/>
              </a:rPr>
              <a:t>ِ</a:t>
            </a:r>
            <a:r>
              <a:rPr dirty="0" baseline="1543" sz="2700" spc="-585">
                <a:latin typeface="Arial"/>
                <a:cs typeface="Arial"/>
              </a:rPr>
              <a:t>لاص</a:t>
            </a:r>
            <a:r>
              <a:rPr dirty="0" sz="1800" spc="-390">
                <a:latin typeface="Arial"/>
                <a:cs typeface="Arial"/>
              </a:rPr>
              <a:t>َّ </a:t>
            </a:r>
            <a:r>
              <a:rPr dirty="0" baseline="1543" sz="2700" spc="-412">
                <a:latin typeface="Arial"/>
                <a:cs typeface="Arial"/>
              </a:rPr>
              <a:t>لٱ </a:t>
            </a:r>
            <a:r>
              <a:rPr dirty="0" baseline="1543" sz="2700" spc="-262">
                <a:latin typeface="Arial"/>
                <a:cs typeface="Arial"/>
              </a:rPr>
              <a:t>ا</a:t>
            </a:r>
            <a:r>
              <a:rPr dirty="0" baseline="9259" sz="2700" spc="-262">
                <a:latin typeface="Arial"/>
                <a:cs typeface="Arial"/>
              </a:rPr>
              <a:t>ْ </a:t>
            </a:r>
            <a:r>
              <a:rPr dirty="0" baseline="1543" sz="2700" spc="-322">
                <a:latin typeface="Arial"/>
                <a:cs typeface="Arial"/>
              </a:rPr>
              <a:t>و</a:t>
            </a:r>
            <a:r>
              <a:rPr dirty="0" baseline="12345" sz="2700" spc="-322">
                <a:latin typeface="Arial"/>
                <a:cs typeface="Arial"/>
              </a:rPr>
              <a:t>ُ</a:t>
            </a:r>
            <a:r>
              <a:rPr dirty="0" baseline="1543" sz="2700" spc="-322">
                <a:latin typeface="Arial"/>
                <a:cs typeface="Arial"/>
              </a:rPr>
              <a:t>لم</a:t>
            </a:r>
            <a:r>
              <a:rPr dirty="0" sz="1800" spc="-215">
                <a:latin typeface="Arial"/>
                <a:cs typeface="Arial"/>
              </a:rPr>
              <a:t>ِ </a:t>
            </a:r>
            <a:r>
              <a:rPr dirty="0" baseline="1543" sz="2700" spc="-615">
                <a:latin typeface="Arial"/>
                <a:cs typeface="Arial"/>
              </a:rPr>
              <a:t>ع</a:t>
            </a:r>
            <a:r>
              <a:rPr dirty="0" baseline="-1543" sz="2700" spc="-615">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277">
                <a:latin typeface="Arial"/>
                <a:cs typeface="Arial"/>
              </a:rPr>
              <a:t>ا</a:t>
            </a:r>
            <a:r>
              <a:rPr dirty="0" baseline="9259" sz="2700" spc="-277">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a:latin typeface="Arial"/>
                <a:cs typeface="Arial"/>
              </a:rPr>
              <a:t>آ </a:t>
            </a:r>
            <a:r>
              <a:rPr dirty="0" baseline="1543" sz="2700" spc="-179">
                <a:latin typeface="Arial"/>
                <a:cs typeface="Arial"/>
              </a:rPr>
              <a:t>نٌذ</a:t>
            </a:r>
            <a:r>
              <a:rPr dirty="0" sz="1800" spc="-120">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457">
                <a:latin typeface="Arial"/>
                <a:cs typeface="Arial"/>
              </a:rPr>
              <a:t>ر</a:t>
            </a:r>
            <a:r>
              <a:rPr dirty="0" baseline="-13888" sz="2700" spc="-457">
                <a:latin typeface="Arial"/>
                <a:cs typeface="Arial"/>
              </a:rPr>
              <a:t>ِ </a:t>
            </a:r>
            <a:r>
              <a:rPr dirty="0" baseline="1543" sz="2700" spc="-705">
                <a:latin typeface="Arial"/>
                <a:cs typeface="Arial"/>
              </a:rPr>
              <a:t>ش</a:t>
            </a:r>
            <a:r>
              <a:rPr dirty="0" baseline="9259" sz="2700" spc="-705">
                <a:latin typeface="Arial"/>
                <a:cs typeface="Arial"/>
              </a:rPr>
              <a:t>ِّ</a:t>
            </a:r>
            <a:r>
              <a:rPr dirty="0" baseline="9259" sz="2700" spc="-675">
                <a:latin typeface="Arial"/>
                <a:cs typeface="Arial"/>
              </a:rPr>
              <a:t> </a:t>
            </a:r>
            <a:r>
              <a:rPr dirty="0" baseline="1543" sz="2700" spc="-892">
                <a:latin typeface="Arial"/>
                <a:cs typeface="Arial"/>
              </a:rPr>
              <a:t>ب</a:t>
            </a:r>
            <a:r>
              <a:rPr dirty="0" baseline="-1543" sz="2700" spc="-892">
                <a:latin typeface="Arial"/>
                <a:cs typeface="Arial"/>
              </a:rPr>
              <a:t>َ</a:t>
            </a:r>
            <a:r>
              <a:rPr dirty="0" baseline="-1543" sz="2700" spc="-232">
                <a:latin typeface="Arial"/>
                <a:cs typeface="Arial"/>
              </a:rPr>
              <a:t> </a:t>
            </a:r>
            <a:r>
              <a:rPr dirty="0" baseline="1543" sz="2700" spc="-615">
                <a:latin typeface="Arial"/>
                <a:cs typeface="Arial"/>
              </a:rPr>
              <a:t>و         </a:t>
            </a:r>
            <a:r>
              <a:rPr dirty="0" baseline="1543" sz="2700" spc="-667">
                <a:latin typeface="Arial"/>
                <a:cs typeface="Arial"/>
              </a:rPr>
              <a:t>ج</a:t>
            </a:r>
            <a:r>
              <a:rPr dirty="0" baseline="3086" sz="2700" spc="-667">
                <a:latin typeface="Arial"/>
                <a:cs typeface="Arial"/>
              </a:rPr>
              <a:t>ٌ </a:t>
            </a:r>
            <a:r>
              <a:rPr dirty="0" baseline="1543" sz="2700" spc="-209">
                <a:latin typeface="Arial"/>
                <a:cs typeface="Arial"/>
              </a:rPr>
              <a:t>او</a:t>
            </a:r>
            <a:r>
              <a:rPr dirty="0" baseline="-1543" sz="2700" spc="-209">
                <a:latin typeface="Arial"/>
                <a:cs typeface="Arial"/>
              </a:rPr>
              <a:t>َ </a:t>
            </a:r>
            <a:r>
              <a:rPr dirty="0" baseline="1543" sz="2700" spc="-457">
                <a:latin typeface="Arial"/>
                <a:cs typeface="Arial"/>
              </a:rPr>
              <a:t>ز</a:t>
            </a:r>
            <a:r>
              <a:rPr dirty="0" baseline="9259" sz="2700" spc="-457">
                <a:latin typeface="Arial"/>
                <a:cs typeface="Arial"/>
              </a:rPr>
              <a:t>ْ </a:t>
            </a:r>
            <a:r>
              <a:rPr dirty="0" baseline="15432" sz="2700">
                <a:latin typeface="Arial"/>
                <a:cs typeface="Arial"/>
              </a:rPr>
              <a:t>َ</a:t>
            </a:r>
            <a:r>
              <a:rPr dirty="0" baseline="1543" sz="2700">
                <a:latin typeface="Arial"/>
                <a:cs typeface="Arial"/>
              </a:rPr>
              <a:t>أ </a:t>
            </a:r>
            <a:r>
              <a:rPr dirty="0" baseline="1543" sz="2700" spc="-202">
                <a:latin typeface="Arial"/>
                <a:cs typeface="Arial"/>
              </a:rPr>
              <a:t>آه</a:t>
            </a:r>
            <a:r>
              <a:rPr dirty="0" baseline="-1543" sz="2700" spc="-202">
                <a:latin typeface="Arial"/>
                <a:cs typeface="Arial"/>
              </a:rPr>
              <a:t>َ </a:t>
            </a:r>
            <a:r>
              <a:rPr dirty="0" baseline="1543" sz="2700" spc="-705">
                <a:latin typeface="Arial"/>
                <a:cs typeface="Arial"/>
              </a:rPr>
              <a:t>ٌف</a:t>
            </a:r>
            <a:r>
              <a:rPr dirty="0" sz="1800" spc="-47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9259" sz="2700" spc="-359">
                <a:latin typeface="Arial"/>
                <a:cs typeface="Arial"/>
              </a:rPr>
              <a:t>َ</a:t>
            </a:r>
            <a:r>
              <a:rPr dirty="0" baseline="1543" sz="2700" spc="-359">
                <a:latin typeface="Arial"/>
                <a:cs typeface="Arial"/>
              </a:rPr>
              <a:t>لو</a:t>
            </a:r>
            <a:r>
              <a:rPr dirty="0" baseline="-1543" sz="2700" spc="-359">
                <a:latin typeface="Arial"/>
                <a:cs typeface="Arial"/>
              </a:rPr>
              <a:t>َ </a:t>
            </a:r>
            <a:r>
              <a:rPr dirty="0" baseline="9259" sz="2700" spc="-375">
                <a:latin typeface="Arial"/>
                <a:cs typeface="Arial"/>
              </a:rPr>
              <a:t>ً</a:t>
            </a:r>
            <a:r>
              <a:rPr dirty="0" baseline="1543" sz="2700" spc="-375">
                <a:latin typeface="Arial"/>
                <a:cs typeface="Arial"/>
              </a:rPr>
              <a:t>اه</a:t>
            </a:r>
            <a:r>
              <a:rPr dirty="0" baseline="-12345" sz="2700" spc="-375">
                <a:latin typeface="Arial"/>
                <a:cs typeface="Arial"/>
              </a:rPr>
              <a:t>ِ</a:t>
            </a:r>
            <a:r>
              <a:rPr dirty="0" baseline="1543" sz="2700" spc="-375">
                <a:latin typeface="Arial"/>
                <a:cs typeface="Arial"/>
              </a:rPr>
              <a:t>باش</a:t>
            </a:r>
            <a:r>
              <a:rPr dirty="0" baseline="6172" sz="2700" spc="-375">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25">
                <a:latin typeface="Arial"/>
                <a:cs typeface="Arial"/>
              </a:rPr>
              <a:t> </a:t>
            </a:r>
            <a:r>
              <a:rPr dirty="0" baseline="1543" sz="2700" spc="-405">
                <a:latin typeface="Arial"/>
                <a:cs typeface="Arial"/>
              </a:rPr>
              <a:t>مُ </a:t>
            </a:r>
            <a:r>
              <a:rPr dirty="0" baseline="1543" sz="2700" spc="-337">
                <a:latin typeface="Arial"/>
                <a:cs typeface="Arial"/>
              </a:rPr>
              <a:t>ه</a:t>
            </a:r>
            <a:r>
              <a:rPr dirty="0" sz="1800" spc="-225">
                <a:latin typeface="Arial"/>
                <a:cs typeface="Arial"/>
              </a:rPr>
              <a:t>ِ </a:t>
            </a:r>
            <a:r>
              <a:rPr dirty="0" baseline="1543" sz="2700" spc="-960">
                <a:latin typeface="Arial"/>
                <a:cs typeface="Arial"/>
              </a:rPr>
              <a:t>ب</a:t>
            </a:r>
            <a:r>
              <a:rPr dirty="0" baseline="-12345" sz="2700" spc="-960">
                <a:latin typeface="Arial"/>
                <a:cs typeface="Arial"/>
              </a:rPr>
              <a:t>ِ</a:t>
            </a:r>
            <a:r>
              <a:rPr dirty="0" baseline="-12345" sz="2700" spc="667">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622">
                <a:latin typeface="Arial"/>
                <a:cs typeface="Arial"/>
              </a:rPr>
              <a:t>وت</a:t>
            </a:r>
            <a:r>
              <a:rPr dirty="0" baseline="9259" sz="2700" spc="-622">
                <a:latin typeface="Arial"/>
                <a:cs typeface="Arial"/>
              </a:rPr>
              <a:t>ُ </a:t>
            </a:r>
            <a:r>
              <a:rPr dirty="0" baseline="18518" sz="2700" spc="-165">
                <a:latin typeface="Arial"/>
                <a:cs typeface="Arial"/>
              </a:rPr>
              <a:t>ُ</a:t>
            </a:r>
            <a:r>
              <a:rPr dirty="0" baseline="1543" sz="2700" spc="-165">
                <a:latin typeface="Arial"/>
                <a:cs typeface="Arial"/>
              </a:rPr>
              <a:t>أو</a:t>
            </a:r>
            <a:r>
              <a:rPr dirty="0" baseline="-1543" sz="2700" spc="-165">
                <a:latin typeface="Arial"/>
                <a:cs typeface="Arial"/>
              </a:rPr>
              <a:t>َ </a:t>
            </a:r>
            <a:r>
              <a:rPr dirty="0" baseline="1543" sz="2700" spc="-652">
                <a:latin typeface="Arial"/>
                <a:cs typeface="Arial"/>
              </a:rPr>
              <a:t>لُ </a:t>
            </a:r>
            <a:r>
              <a:rPr dirty="0" baseline="1543" sz="2700" spc="-862">
                <a:latin typeface="Arial"/>
                <a:cs typeface="Arial"/>
              </a:rPr>
              <a:t>بْ</a:t>
            </a:r>
            <a:r>
              <a:rPr dirty="0" baseline="1543" sz="2700" spc="-300">
                <a:latin typeface="Arial"/>
                <a:cs typeface="Arial"/>
              </a:rPr>
              <a:t> </a:t>
            </a:r>
            <a:r>
              <a:rPr dirty="0" baseline="1543" sz="2700" spc="-757">
                <a:latin typeface="Arial"/>
                <a:cs typeface="Arial"/>
              </a:rPr>
              <a:t>ق</a:t>
            </a:r>
            <a:r>
              <a:rPr dirty="0" baseline="6172" sz="2700" spc="-757">
                <a:latin typeface="Arial"/>
                <a:cs typeface="Arial"/>
              </a:rPr>
              <a:t>َ</a:t>
            </a:r>
            <a:r>
              <a:rPr dirty="0" baseline="6172" sz="2700" spc="675">
                <a:latin typeface="Arial"/>
                <a:cs typeface="Arial"/>
              </a:rPr>
              <a:t> </a:t>
            </a:r>
            <a:r>
              <a:rPr dirty="0" baseline="1543" sz="2700" spc="-240">
                <a:latin typeface="Arial"/>
                <a:cs typeface="Arial"/>
              </a:rPr>
              <a:t>نم</a:t>
            </a:r>
            <a:r>
              <a:rPr dirty="0" sz="1800" spc="-160">
                <a:latin typeface="Arial"/>
                <a:cs typeface="Arial"/>
              </a:rPr>
              <a:t>ِ </a:t>
            </a:r>
            <a:r>
              <a:rPr dirty="0" baseline="1543" sz="2700" spc="-412">
                <a:latin typeface="Arial"/>
                <a:cs typeface="Arial"/>
              </a:rPr>
              <a:t>ان</a:t>
            </a:r>
            <a:r>
              <a:rPr dirty="0" baseline="6172" sz="2700" spc="-412">
                <a:latin typeface="Arial"/>
                <a:cs typeface="Arial"/>
              </a:rPr>
              <a:t>َ </a:t>
            </a:r>
            <a:r>
              <a:rPr dirty="0" baseline="1543" sz="2700" spc="-719">
                <a:latin typeface="Arial"/>
                <a:cs typeface="Arial"/>
              </a:rPr>
              <a:t>ق</a:t>
            </a:r>
            <a:r>
              <a:rPr dirty="0" baseline="9259" sz="2700" spc="-719">
                <a:latin typeface="Arial"/>
                <a:cs typeface="Arial"/>
              </a:rPr>
              <a:t>ْ </a:t>
            </a:r>
            <a:r>
              <a:rPr dirty="0" baseline="1543" sz="2700" spc="-457">
                <a:latin typeface="Arial"/>
                <a:cs typeface="Arial"/>
              </a:rPr>
              <a:t>ز</a:t>
            </a:r>
            <a:r>
              <a:rPr dirty="0" baseline="-13888" sz="2700" spc="-457">
                <a:latin typeface="Arial"/>
                <a:cs typeface="Arial"/>
              </a:rPr>
              <a:t>ِ </a:t>
            </a:r>
            <a:r>
              <a:rPr dirty="0" baseline="1543" sz="2700" spc="-525">
                <a:latin typeface="Arial"/>
                <a:cs typeface="Arial"/>
              </a:rPr>
              <a:t>رُ </a:t>
            </a:r>
            <a:r>
              <a:rPr dirty="0" baseline="1543" sz="2700" spc="-232">
                <a:latin typeface="Arial"/>
                <a:cs typeface="Arial"/>
              </a:rPr>
              <a:t>يذ</a:t>
            </a:r>
            <a:r>
              <a:rPr dirty="0" sz="1800" spc="-155">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225">
                <a:latin typeface="Arial"/>
                <a:cs typeface="Arial"/>
              </a:rPr>
              <a:t>اذ</a:t>
            </a:r>
            <a:r>
              <a:rPr dirty="0" baseline="10802" sz="2700" spc="-225">
                <a:latin typeface="Arial"/>
                <a:cs typeface="Arial"/>
              </a:rPr>
              <a:t>َ </a:t>
            </a:r>
            <a:r>
              <a:rPr dirty="0" baseline="1543" sz="2700" spc="-150">
                <a:latin typeface="Arial"/>
                <a:cs typeface="Arial"/>
              </a:rPr>
              <a:t>ـ</a:t>
            </a:r>
            <a:r>
              <a:rPr dirty="0" baseline="-4629" sz="2700" spc="-150">
                <a:latin typeface="Arial"/>
                <a:cs typeface="Arial"/>
              </a:rPr>
              <a:t>ٰ </a:t>
            </a:r>
            <a:r>
              <a:rPr dirty="0" baseline="1543" sz="2700" spc="-270">
                <a:latin typeface="Arial"/>
                <a:cs typeface="Arial"/>
              </a:rPr>
              <a:t>ه</a:t>
            </a:r>
            <a:r>
              <a:rPr dirty="0" baseline="-1543" sz="2700" spc="-270">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390">
                <a:latin typeface="Arial"/>
                <a:cs typeface="Arial"/>
              </a:rPr>
              <a:t>و</a:t>
            </a:r>
            <a:r>
              <a:rPr dirty="0" baseline="12345" sz="2700" spc="-390">
                <a:latin typeface="Arial"/>
                <a:cs typeface="Arial"/>
              </a:rPr>
              <a:t>ُ</a:t>
            </a:r>
            <a:r>
              <a:rPr dirty="0" baseline="1543" sz="2700" spc="-390">
                <a:latin typeface="Arial"/>
                <a:cs typeface="Arial"/>
              </a:rPr>
              <a:t>لاق</a:t>
            </a:r>
            <a:r>
              <a:rPr dirty="0" baseline="6172" sz="2700" spc="-390">
                <a:latin typeface="Arial"/>
                <a:cs typeface="Arial"/>
              </a:rPr>
              <a:t>َ </a:t>
            </a:r>
            <a:r>
              <a:rPr dirty="0" baseline="9259" sz="2700" spc="-345">
                <a:latin typeface="Arial"/>
                <a:cs typeface="Arial"/>
              </a:rPr>
              <a:t>ً</a:t>
            </a:r>
            <a:r>
              <a:rPr dirty="0" baseline="1543" sz="2700" spc="-345">
                <a:latin typeface="Arial"/>
                <a:cs typeface="Arial"/>
              </a:rPr>
              <a:t>اقز</a:t>
            </a:r>
            <a:r>
              <a:rPr dirty="0" baseline="9259" sz="2700" spc="-345">
                <a:latin typeface="Arial"/>
                <a:cs typeface="Arial"/>
              </a:rPr>
              <a:t>ْ </a:t>
            </a:r>
            <a:r>
              <a:rPr dirty="0" baseline="1543" sz="2700" spc="-345">
                <a:latin typeface="Arial"/>
                <a:cs typeface="Arial"/>
              </a:rPr>
              <a:t>رِّ ةٍ </a:t>
            </a:r>
            <a:r>
              <a:rPr dirty="0" baseline="1543" sz="2700" spc="-494">
                <a:latin typeface="Arial"/>
                <a:cs typeface="Arial"/>
              </a:rPr>
              <a:t>ر</a:t>
            </a:r>
            <a:r>
              <a:rPr dirty="0" baseline="-1543" sz="2700" spc="-494">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892">
                <a:latin typeface="Arial"/>
                <a:cs typeface="Arial"/>
              </a:rPr>
              <a:t>ث</a:t>
            </a:r>
            <a:r>
              <a:rPr dirty="0" baseline="10802" sz="2700" spc="-892">
                <a:latin typeface="Arial"/>
                <a:cs typeface="Arial"/>
              </a:rPr>
              <a:t>َ</a:t>
            </a:r>
            <a:r>
              <a:rPr dirty="0" baseline="10802" sz="2700" spc="547">
                <a:latin typeface="Arial"/>
                <a:cs typeface="Arial"/>
              </a:rPr>
              <a:t> </a:t>
            </a:r>
            <a:r>
              <a:rPr dirty="0" baseline="1543" sz="2700" spc="-240">
                <a:latin typeface="Arial"/>
                <a:cs typeface="Arial"/>
              </a:rPr>
              <a:t>نم</a:t>
            </a:r>
            <a:r>
              <a:rPr dirty="0" sz="1800" spc="-160">
                <a:latin typeface="Arial"/>
                <a:cs typeface="Arial"/>
              </a:rPr>
              <a:t>ِ </a:t>
            </a:r>
            <a:r>
              <a:rPr dirty="0" baseline="1543" sz="2700" spc="-202">
                <a:latin typeface="Arial"/>
                <a:cs typeface="Arial"/>
              </a:rPr>
              <a:t>اه</a:t>
            </a:r>
            <a:r>
              <a:rPr dirty="0" baseline="-1543" sz="2700" spc="-202">
                <a:latin typeface="Arial"/>
                <a:cs typeface="Arial"/>
              </a:rPr>
              <a:t>َ </a:t>
            </a:r>
            <a:r>
              <a:rPr dirty="0" baseline="1543" sz="2700" spc="-607">
                <a:latin typeface="Arial"/>
                <a:cs typeface="Arial"/>
              </a:rPr>
              <a:t>ن</a:t>
            </a:r>
            <a:r>
              <a:rPr dirty="0" baseline="9259" sz="2700" spc="-607">
                <a:latin typeface="Arial"/>
                <a:cs typeface="Arial"/>
              </a:rPr>
              <a:t>ْ</a:t>
            </a:r>
            <a:r>
              <a:rPr dirty="0" baseline="9259" sz="2700" spc="-532">
                <a:latin typeface="Arial"/>
                <a:cs typeface="Arial"/>
              </a:rPr>
              <a:t> </a:t>
            </a:r>
            <a:r>
              <a:rPr dirty="0" baseline="1543" sz="2700" spc="-705">
                <a:latin typeface="Arial"/>
                <a:cs typeface="Arial"/>
              </a:rPr>
              <a:t>م</a:t>
            </a:r>
            <a:endParaRPr baseline="1543" sz="2700">
              <a:latin typeface="Arial"/>
              <a:cs typeface="Arial"/>
            </a:endParaRPr>
          </a:p>
          <a:p>
            <a:pPr algn="r" marR="131445">
              <a:lnSpc>
                <a:spcPts val="2020"/>
              </a:lnSpc>
            </a:pPr>
            <a:r>
              <a:rPr dirty="0" baseline="1543" sz="2700" spc="-494">
                <a:latin typeface="Arial"/>
                <a:cs typeface="Arial"/>
              </a:rPr>
              <a:t>ن</a:t>
            </a:r>
            <a:r>
              <a:rPr dirty="0" baseline="-1543" sz="2700" spc="-494">
                <a:latin typeface="Arial"/>
                <a:cs typeface="Arial"/>
              </a:rPr>
              <a:t>َ    </a:t>
            </a:r>
            <a:r>
              <a:rPr dirty="0" baseline="1543" sz="2700" spc="-240">
                <a:latin typeface="Arial"/>
                <a:cs typeface="Arial"/>
              </a:rPr>
              <a:t>ود</a:t>
            </a:r>
            <a:r>
              <a:rPr dirty="0" baseline="3086" sz="2700" spc="-240">
                <a:latin typeface="Arial"/>
                <a:cs typeface="Arial"/>
              </a:rPr>
              <a:t>ُ </a:t>
            </a:r>
            <a:r>
              <a:rPr dirty="0" sz="1800" spc="-265">
                <a:latin typeface="Arial"/>
                <a:cs typeface="Arial"/>
              </a:rPr>
              <a:t>ِ</a:t>
            </a:r>
            <a:r>
              <a:rPr dirty="0" baseline="1543" sz="2700" spc="-397">
                <a:latin typeface="Arial"/>
                <a:cs typeface="Arial"/>
              </a:rPr>
              <a:t>لاخ</a:t>
            </a:r>
            <a:r>
              <a:rPr dirty="0" baseline="6172" sz="2700" spc="-397">
                <a:latin typeface="Arial"/>
                <a:cs typeface="Arial"/>
              </a:rPr>
              <a:t>َ     </a:t>
            </a:r>
            <a:r>
              <a:rPr dirty="0" baseline="1543" sz="2700" spc="-202">
                <a:latin typeface="Arial"/>
                <a:cs typeface="Arial"/>
              </a:rPr>
              <a:t>اه</a:t>
            </a:r>
            <a:r>
              <a:rPr dirty="0" baseline="-1543" sz="2700" spc="-202">
                <a:latin typeface="Arial"/>
                <a:cs typeface="Arial"/>
              </a:rPr>
              <a:t>َ</a:t>
            </a:r>
            <a:r>
              <a:rPr dirty="0" baseline="-1543" sz="2700" spc="345">
                <a:latin typeface="Arial"/>
                <a:cs typeface="Arial"/>
              </a:rPr>
              <a:t> </a:t>
            </a:r>
            <a:r>
              <a:rPr dirty="0" baseline="1543" sz="2700" spc="-705">
                <a:latin typeface="Arial"/>
                <a:cs typeface="Arial"/>
              </a:rPr>
              <a:t>ٌف</a:t>
            </a:r>
            <a:r>
              <a:rPr dirty="0" sz="1800" spc="-47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  و</a:t>
            </a:r>
            <a:r>
              <a:rPr dirty="0" baseline="-1543" sz="2700" spc="-307">
                <a:latin typeface="Arial"/>
                <a:cs typeface="Arial"/>
              </a:rPr>
              <a:t>َ   </a:t>
            </a:r>
            <a:r>
              <a:rPr dirty="0" baseline="7716" sz="2700" spc="-247">
                <a:latin typeface="Arial"/>
                <a:cs typeface="Arial"/>
              </a:rPr>
              <a:t>ٌ</a:t>
            </a:r>
            <a:r>
              <a:rPr dirty="0" baseline="1543" sz="2700" spc="-247">
                <a:latin typeface="Arial"/>
                <a:cs typeface="Arial"/>
              </a:rPr>
              <a:t>ةر</a:t>
            </a:r>
            <a:r>
              <a:rPr dirty="0" baseline="-1543" sz="2700" spc="-247">
                <a:latin typeface="Arial"/>
                <a:cs typeface="Arial"/>
              </a:rPr>
              <a:t>َ  </a:t>
            </a:r>
            <a:r>
              <a:rPr dirty="0" baseline="1543" sz="2700" spc="-225">
                <a:latin typeface="Arial"/>
                <a:cs typeface="Arial"/>
              </a:rPr>
              <a:t>ه</a:t>
            </a:r>
            <a:r>
              <a:rPr dirty="0" sz="1800" spc="-150">
                <a:latin typeface="Arial"/>
                <a:cs typeface="Arial"/>
              </a:rPr>
              <a:t>َّ  </a:t>
            </a:r>
            <a:r>
              <a:rPr dirty="0" baseline="1543" sz="2700" spc="-652">
                <a:latin typeface="Arial"/>
                <a:cs typeface="Arial"/>
              </a:rPr>
              <a:t>ط</a:t>
            </a:r>
            <a:r>
              <a:rPr dirty="0" baseline="10802" sz="2700" spc="-652">
                <a:latin typeface="Arial"/>
                <a:cs typeface="Arial"/>
              </a:rPr>
              <a:t>َ            </a:t>
            </a:r>
            <a:r>
              <a:rPr dirty="0" baseline="10802" sz="2700" spc="-644">
                <a:latin typeface="Arial"/>
                <a:cs typeface="Arial"/>
              </a:rPr>
              <a:t> </a:t>
            </a:r>
            <a:r>
              <a:rPr dirty="0" baseline="1543" sz="2700" spc="-757">
                <a:latin typeface="Arial"/>
                <a:cs typeface="Arial"/>
              </a:rPr>
              <a:t>م</a:t>
            </a:r>
            <a:endParaRPr baseline="1543" sz="27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55</a:t>
            </a:r>
          </a:p>
        </p:txBody>
      </p:sp>
      <p:sp>
        <p:nvSpPr>
          <p:cNvPr id="6" name="object 6"/>
          <p:cNvSpPr txBox="1"/>
          <p:nvPr/>
        </p:nvSpPr>
        <p:spPr>
          <a:xfrm>
            <a:off x="591819" y="1763014"/>
            <a:ext cx="6589395" cy="8009255"/>
          </a:xfrm>
          <a:prstGeom prst="rect">
            <a:avLst/>
          </a:prstGeom>
        </p:spPr>
        <p:txBody>
          <a:bodyPr wrap="square" lIns="0" tIns="24765" rIns="0" bIns="0" rtlCol="0" vert="horz">
            <a:spAutoFit/>
          </a:bodyPr>
          <a:lstStyle/>
          <a:p>
            <a:pPr algn="just" marL="139700" marR="158750">
              <a:lnSpc>
                <a:spcPts val="1380"/>
              </a:lnSpc>
              <a:spcBef>
                <a:spcPts val="195"/>
              </a:spcBef>
            </a:pPr>
            <a:r>
              <a:rPr dirty="0" sz="1200" spc="-5">
                <a:latin typeface="Arial"/>
                <a:cs typeface="Arial"/>
              </a:rPr>
              <a:t>25. And </a:t>
            </a:r>
            <a:r>
              <a:rPr dirty="0" sz="1200" spc="-10">
                <a:latin typeface="Arial"/>
                <a:cs typeface="Arial"/>
              </a:rPr>
              <a:t>give </a:t>
            </a:r>
            <a:r>
              <a:rPr dirty="0" sz="1200" spc="-5">
                <a:latin typeface="Arial"/>
                <a:cs typeface="Arial"/>
              </a:rPr>
              <a:t>glad tidings </a:t>
            </a:r>
            <a:r>
              <a:rPr dirty="0" sz="1200">
                <a:latin typeface="Arial"/>
                <a:cs typeface="Arial"/>
              </a:rPr>
              <a:t>(O </a:t>
            </a:r>
            <a:r>
              <a:rPr dirty="0" sz="1200" spc="-5">
                <a:latin typeface="Arial"/>
                <a:cs typeface="Arial"/>
              </a:rPr>
              <a:t>Muhammad) unto those </a:t>
            </a:r>
            <a:r>
              <a:rPr dirty="0" sz="1200" spc="-10">
                <a:latin typeface="Arial"/>
                <a:cs typeface="Arial"/>
              </a:rPr>
              <a:t>who </a:t>
            </a:r>
            <a:r>
              <a:rPr dirty="0" sz="1200" spc="-5">
                <a:latin typeface="Arial"/>
                <a:cs typeface="Arial"/>
              </a:rPr>
              <a:t>believe and do good works; </a:t>
            </a:r>
            <a:r>
              <a:rPr dirty="0" sz="1200">
                <a:latin typeface="Arial"/>
                <a:cs typeface="Arial"/>
              </a:rPr>
              <a:t>that  </a:t>
            </a:r>
            <a:r>
              <a:rPr dirty="0" sz="1200" spc="-5">
                <a:latin typeface="Arial"/>
                <a:cs typeface="Arial"/>
              </a:rPr>
              <a:t>theirs are Gardens underneath which rivers flow; as often as </a:t>
            </a:r>
            <a:r>
              <a:rPr dirty="0" sz="1200">
                <a:latin typeface="Arial"/>
                <a:cs typeface="Arial"/>
              </a:rPr>
              <a:t>they </a:t>
            </a:r>
            <a:r>
              <a:rPr dirty="0" sz="1200" spc="-5">
                <a:latin typeface="Arial"/>
                <a:cs typeface="Arial"/>
              </a:rPr>
              <a:t>are regaled with food </a:t>
            </a:r>
            <a:r>
              <a:rPr dirty="0" sz="1200" spc="15">
                <a:latin typeface="Arial"/>
                <a:cs typeface="Arial"/>
              </a:rPr>
              <a:t>of  </a:t>
            </a:r>
            <a:r>
              <a:rPr dirty="0" sz="1200">
                <a:latin typeface="Arial"/>
                <a:cs typeface="Arial"/>
              </a:rPr>
              <a:t>the fruit </a:t>
            </a:r>
            <a:r>
              <a:rPr dirty="0" sz="1200" spc="-5">
                <a:latin typeface="Arial"/>
                <a:cs typeface="Arial"/>
              </a:rPr>
              <a:t>thereof, </a:t>
            </a:r>
            <a:r>
              <a:rPr dirty="0" sz="1200">
                <a:latin typeface="Arial"/>
                <a:cs typeface="Arial"/>
              </a:rPr>
              <a:t>they </a:t>
            </a:r>
            <a:r>
              <a:rPr dirty="0" sz="1200" spc="-5">
                <a:latin typeface="Arial"/>
                <a:cs typeface="Arial"/>
              </a:rPr>
              <a:t>say: </a:t>
            </a:r>
            <a:r>
              <a:rPr dirty="0" sz="1200">
                <a:latin typeface="Arial"/>
                <a:cs typeface="Arial"/>
              </a:rPr>
              <a:t>This </a:t>
            </a:r>
            <a:r>
              <a:rPr dirty="0" sz="1200" spc="-5">
                <a:latin typeface="Arial"/>
                <a:cs typeface="Arial"/>
              </a:rPr>
              <a:t>is what </a:t>
            </a:r>
            <a:r>
              <a:rPr dirty="0" sz="1200" spc="-10">
                <a:latin typeface="Arial"/>
                <a:cs typeface="Arial"/>
              </a:rPr>
              <a:t>was </a:t>
            </a:r>
            <a:r>
              <a:rPr dirty="0" sz="1200" spc="-5">
                <a:latin typeface="Arial"/>
                <a:cs typeface="Arial"/>
              </a:rPr>
              <a:t>given us aforetime; and </a:t>
            </a:r>
            <a:r>
              <a:rPr dirty="0" sz="1200">
                <a:latin typeface="Arial"/>
                <a:cs typeface="Arial"/>
              </a:rPr>
              <a:t>it </a:t>
            </a:r>
            <a:r>
              <a:rPr dirty="0" sz="1200" spc="-5">
                <a:latin typeface="Arial"/>
                <a:cs typeface="Arial"/>
              </a:rPr>
              <a:t>is </a:t>
            </a:r>
            <a:r>
              <a:rPr dirty="0" sz="1200" spc="-10">
                <a:latin typeface="Arial"/>
                <a:cs typeface="Arial"/>
              </a:rPr>
              <a:t>given </a:t>
            </a:r>
            <a:r>
              <a:rPr dirty="0" sz="1200">
                <a:latin typeface="Arial"/>
                <a:cs typeface="Arial"/>
              </a:rPr>
              <a:t>to </a:t>
            </a:r>
            <a:r>
              <a:rPr dirty="0" sz="1200" spc="-5">
                <a:latin typeface="Arial"/>
                <a:cs typeface="Arial"/>
              </a:rPr>
              <a:t>them in  resemblance. There </a:t>
            </a:r>
            <a:r>
              <a:rPr dirty="0" sz="1200">
                <a:latin typeface="Arial"/>
                <a:cs typeface="Arial"/>
              </a:rPr>
              <a:t>for </a:t>
            </a:r>
            <a:r>
              <a:rPr dirty="0" sz="1200" spc="-5">
                <a:latin typeface="Arial"/>
                <a:cs typeface="Arial"/>
              </a:rPr>
              <a:t>them </a:t>
            </a:r>
            <a:r>
              <a:rPr dirty="0" sz="1200">
                <a:latin typeface="Arial"/>
                <a:cs typeface="Arial"/>
              </a:rPr>
              <a:t>are </a:t>
            </a:r>
            <a:r>
              <a:rPr dirty="0" sz="1200" spc="-5">
                <a:latin typeface="Arial"/>
                <a:cs typeface="Arial"/>
              </a:rPr>
              <a:t>pure companions; </a:t>
            </a:r>
            <a:r>
              <a:rPr dirty="0" sz="1200">
                <a:latin typeface="Arial"/>
                <a:cs typeface="Arial"/>
              </a:rPr>
              <a:t>there for </a:t>
            </a:r>
            <a:r>
              <a:rPr dirty="0" sz="1200" spc="-5">
                <a:latin typeface="Arial"/>
                <a:cs typeface="Arial"/>
              </a:rPr>
              <a:t>ever they</a:t>
            </a:r>
            <a:r>
              <a:rPr dirty="0" sz="1200" spc="-50">
                <a:latin typeface="Arial"/>
                <a:cs typeface="Arial"/>
              </a:rPr>
              <a:t> </a:t>
            </a:r>
            <a:r>
              <a:rPr dirty="0" sz="1200">
                <a:latin typeface="Arial"/>
                <a:cs typeface="Arial"/>
              </a:rPr>
              <a:t>abide.</a:t>
            </a:r>
            <a:endParaRPr sz="1200">
              <a:latin typeface="Arial"/>
              <a:cs typeface="Arial"/>
            </a:endParaRPr>
          </a:p>
          <a:p>
            <a:pPr>
              <a:lnSpc>
                <a:spcPct val="100000"/>
              </a:lnSpc>
              <a:spcBef>
                <a:spcPts val="20"/>
              </a:spcBef>
            </a:pPr>
            <a:endParaRPr sz="1150">
              <a:latin typeface="Arial"/>
              <a:cs typeface="Arial"/>
            </a:endParaRPr>
          </a:p>
          <a:p>
            <a:pPr algn="r" marR="157480">
              <a:lnSpc>
                <a:spcPts val="2090"/>
              </a:lnSpc>
            </a:pPr>
            <a:r>
              <a:rPr dirty="0" baseline="3086" sz="2700" spc="-472">
                <a:latin typeface="Arial"/>
                <a:cs typeface="Arial"/>
              </a:rPr>
              <a:t>ً</a:t>
            </a:r>
            <a:r>
              <a:rPr dirty="0" baseline="1543" sz="2700" spc="-472">
                <a:latin typeface="Arial"/>
                <a:cs typeface="Arial"/>
              </a:rPr>
              <a:t>ِ</a:t>
            </a:r>
            <a:r>
              <a:rPr dirty="0" baseline="3086" sz="2700" spc="-472">
                <a:latin typeface="Arial"/>
                <a:cs typeface="Arial"/>
              </a:rPr>
              <a:t>ف   </a:t>
            </a:r>
            <a:r>
              <a:rPr dirty="0" baseline="3086" sz="2700" spc="-494">
                <a:latin typeface="Arial"/>
                <a:cs typeface="Arial"/>
              </a:rPr>
              <a:t>ن</a:t>
            </a:r>
            <a:r>
              <a:rPr dirty="0" sz="1800" spc="-330">
                <a:latin typeface="Arial"/>
                <a:cs typeface="Arial"/>
              </a:rPr>
              <a:t>َ    </a:t>
            </a:r>
            <a:r>
              <a:rPr dirty="0" baseline="3086" sz="2700" spc="-247">
                <a:latin typeface="Arial"/>
                <a:cs typeface="Arial"/>
              </a:rPr>
              <a:t>ود</a:t>
            </a:r>
            <a:r>
              <a:rPr dirty="0" baseline="6172" sz="2700" spc="-247">
                <a:latin typeface="Arial"/>
                <a:cs typeface="Arial"/>
              </a:rPr>
              <a:t>ُ  </a:t>
            </a:r>
            <a:r>
              <a:rPr dirty="0" baseline="3086" sz="2700" spc="-937">
                <a:latin typeface="Arial"/>
                <a:cs typeface="Arial"/>
              </a:rPr>
              <a:t>س</a:t>
            </a:r>
            <a:r>
              <a:rPr dirty="0" baseline="1543" sz="2700" spc="-937">
                <a:latin typeface="Arial"/>
                <a:cs typeface="Arial"/>
              </a:rPr>
              <a:t>ِ</a:t>
            </a:r>
            <a:r>
              <a:rPr dirty="0" baseline="1543" sz="2700" spc="405">
                <a:latin typeface="Arial"/>
                <a:cs typeface="Arial"/>
              </a:rPr>
              <a:t> </a:t>
            </a:r>
            <a:r>
              <a:rPr dirty="0" baseline="3086" sz="2700" spc="-997">
                <a:latin typeface="Arial"/>
                <a:cs typeface="Arial"/>
              </a:rPr>
              <a:t>ف</a:t>
            </a:r>
            <a:r>
              <a:rPr dirty="0" baseline="12345" sz="2700" spc="-997">
                <a:latin typeface="Arial"/>
                <a:cs typeface="Arial"/>
              </a:rPr>
              <a:t>ْ</a:t>
            </a:r>
            <a:r>
              <a:rPr dirty="0" baseline="12345" sz="2700" spc="-150">
                <a:latin typeface="Arial"/>
                <a:cs typeface="Arial"/>
              </a:rPr>
              <a:t> </a:t>
            </a:r>
            <a:r>
              <a:rPr dirty="0" baseline="3086" sz="2700">
                <a:latin typeface="Arial"/>
                <a:cs typeface="Arial"/>
              </a:rPr>
              <a:t>ٌُ </a:t>
            </a:r>
            <a:r>
              <a:rPr dirty="0" baseline="3086" sz="2700" spc="-307">
                <a:latin typeface="Arial"/>
                <a:cs typeface="Arial"/>
              </a:rPr>
              <a:t>و</a:t>
            </a:r>
            <a:r>
              <a:rPr dirty="0" sz="1800" spc="-204">
                <a:latin typeface="Arial"/>
                <a:cs typeface="Arial"/>
              </a:rPr>
              <a:t>َ   </a:t>
            </a:r>
            <a:r>
              <a:rPr dirty="0" baseline="3086" sz="2700" spc="-615">
                <a:latin typeface="Arial"/>
                <a:cs typeface="Arial"/>
              </a:rPr>
              <a:t>ل</a:t>
            </a:r>
            <a:r>
              <a:rPr dirty="0" sz="1800" spc="-409">
                <a:latin typeface="Arial"/>
                <a:cs typeface="Arial"/>
              </a:rPr>
              <a:t>َ          </a:t>
            </a:r>
            <a:r>
              <a:rPr dirty="0" baseline="3086" sz="2700" spc="-1350">
                <a:latin typeface="Arial"/>
                <a:cs typeface="Arial"/>
              </a:rPr>
              <a:t>ص</a:t>
            </a:r>
            <a:r>
              <a:rPr dirty="0" sz="1800" spc="-900">
                <a:latin typeface="Arial"/>
                <a:cs typeface="Arial"/>
              </a:rPr>
              <a:t>َ</a:t>
            </a:r>
            <a:r>
              <a:rPr dirty="0" sz="1800" spc="944">
                <a:latin typeface="Arial"/>
                <a:cs typeface="Arial"/>
              </a:rPr>
              <a:t> </a:t>
            </a:r>
            <a:r>
              <a:rPr dirty="0" baseline="3086" sz="2700">
                <a:latin typeface="Arial"/>
                <a:cs typeface="Arial"/>
              </a:rPr>
              <a:t>وٌُ  </a:t>
            </a:r>
            <a:r>
              <a:rPr dirty="0" baseline="3086" sz="2700" spc="-15">
                <a:latin typeface="Arial"/>
                <a:cs typeface="Arial"/>
              </a:rPr>
              <a:t>ن</a:t>
            </a:r>
            <a:r>
              <a:rPr dirty="0" baseline="16975" sz="2700" spc="-15">
                <a:latin typeface="Arial"/>
                <a:cs typeface="Arial"/>
              </a:rPr>
              <a:t>َ</a:t>
            </a:r>
            <a:r>
              <a:rPr dirty="0" baseline="3086" sz="2700" spc="-15">
                <a:latin typeface="Arial"/>
                <a:cs typeface="Arial"/>
              </a:rPr>
              <a:t>أ </a:t>
            </a:r>
            <a:r>
              <a:rPr dirty="0" baseline="3086" sz="2700" spc="-337">
                <a:latin typeface="Arial"/>
                <a:cs typeface="Arial"/>
              </a:rPr>
              <a:t>ه</a:t>
            </a:r>
            <a:r>
              <a:rPr dirty="0" baseline="1543" sz="2700" spc="-337">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690">
                <a:latin typeface="Arial"/>
                <a:cs typeface="Arial"/>
              </a:rPr>
              <a:t> </a:t>
            </a:r>
            <a:r>
              <a:rPr dirty="0" baseline="-4629" sz="2700" spc="-630">
                <a:latin typeface="Arial"/>
                <a:cs typeface="Arial"/>
              </a:rPr>
              <a:t>ُ</a:t>
            </a:r>
            <a:r>
              <a:rPr dirty="0" baseline="3086" sz="2700" spc="-630">
                <a:latin typeface="Arial"/>
                <a:cs typeface="Arial"/>
              </a:rPr>
              <a:t>للَّ</a:t>
            </a:r>
            <a:r>
              <a:rPr dirty="0" baseline="15432" sz="2700" spc="-630">
                <a:latin typeface="Arial"/>
                <a:cs typeface="Arial"/>
              </a:rPr>
              <a:t>َّ         </a:t>
            </a:r>
            <a:r>
              <a:rPr dirty="0" baseline="3086" sz="2700">
                <a:latin typeface="Arial"/>
                <a:cs typeface="Arial"/>
              </a:rPr>
              <a:t>ٱ </a:t>
            </a:r>
            <a:r>
              <a:rPr dirty="0" baseline="3086" sz="2700" spc="-494">
                <a:latin typeface="Arial"/>
                <a:cs typeface="Arial"/>
              </a:rPr>
              <a:t>ر</a:t>
            </a:r>
            <a:r>
              <a:rPr dirty="0" sz="1800" spc="-330">
                <a:latin typeface="Arial"/>
                <a:cs typeface="Arial"/>
              </a:rPr>
              <a:t>َ    </a:t>
            </a:r>
            <a:r>
              <a:rPr dirty="0" baseline="3086" sz="2700" spc="-359">
                <a:latin typeface="Arial"/>
                <a:cs typeface="Arial"/>
              </a:rPr>
              <a:t>م</a:t>
            </a:r>
            <a:r>
              <a:rPr dirty="0" sz="1800" spc="-240">
                <a:latin typeface="Arial"/>
                <a:cs typeface="Arial"/>
              </a:rPr>
              <a:t>َ  </a:t>
            </a:r>
            <a:r>
              <a:rPr dirty="0" baseline="16975" sz="2700">
                <a:latin typeface="Arial"/>
                <a:cs typeface="Arial"/>
              </a:rPr>
              <a:t>َ</a:t>
            </a:r>
            <a:r>
              <a:rPr dirty="0" baseline="3086" sz="2700">
                <a:latin typeface="Arial"/>
                <a:cs typeface="Arial"/>
              </a:rPr>
              <a:t>أ </a:t>
            </a:r>
            <a:r>
              <a:rPr dirty="0" baseline="3086" sz="2700" spc="-225">
                <a:latin typeface="Arial"/>
                <a:cs typeface="Arial"/>
              </a:rPr>
              <a:t>آم</a:t>
            </a:r>
            <a:r>
              <a:rPr dirty="0" sz="1800" spc="-150">
                <a:latin typeface="Arial"/>
                <a:cs typeface="Arial"/>
              </a:rPr>
              <a:t>َ   </a:t>
            </a:r>
            <a:r>
              <a:rPr dirty="0" baseline="3086" sz="2700" spc="-494">
                <a:latin typeface="Arial"/>
                <a:cs typeface="Arial"/>
              </a:rPr>
              <a:t>ن</a:t>
            </a:r>
            <a:r>
              <a:rPr dirty="0" sz="1800" spc="-330">
                <a:latin typeface="Arial"/>
                <a:cs typeface="Arial"/>
              </a:rPr>
              <a:t>َ    </a:t>
            </a:r>
            <a:r>
              <a:rPr dirty="0" baseline="3086" sz="2700" spc="-427">
                <a:latin typeface="Arial"/>
                <a:cs typeface="Arial"/>
              </a:rPr>
              <a:t>وعُ   </a:t>
            </a:r>
            <a:r>
              <a:rPr dirty="0" baseline="3086" sz="2700" spc="-652">
                <a:latin typeface="Arial"/>
                <a:cs typeface="Arial"/>
              </a:rPr>
              <a:t>ط</a:t>
            </a:r>
            <a:r>
              <a:rPr dirty="0" baseline="13888" sz="2700" spc="-652">
                <a:latin typeface="Arial"/>
                <a:cs typeface="Arial"/>
              </a:rPr>
              <a:t>َ              </a:t>
            </a:r>
            <a:r>
              <a:rPr dirty="0" baseline="3086" sz="2700" spc="-727">
                <a:latin typeface="Arial"/>
                <a:cs typeface="Arial"/>
              </a:rPr>
              <a:t>ق</a:t>
            </a:r>
            <a:r>
              <a:rPr dirty="0" baseline="12345" sz="2700" spc="-727">
                <a:latin typeface="Arial"/>
                <a:cs typeface="Arial"/>
              </a:rPr>
              <a:t>ْ                           </a:t>
            </a:r>
            <a:r>
              <a:rPr dirty="0" baseline="3086" sz="2700">
                <a:latin typeface="Arial"/>
                <a:cs typeface="Arial"/>
              </a:rPr>
              <a:t>ٌ</a:t>
            </a:r>
            <a:r>
              <a:rPr dirty="0" sz="1800">
                <a:latin typeface="Arial"/>
                <a:cs typeface="Arial"/>
              </a:rPr>
              <a:t>َ </a:t>
            </a:r>
            <a:r>
              <a:rPr dirty="0" baseline="3086" sz="2700" spc="-307">
                <a:latin typeface="Arial"/>
                <a:cs typeface="Arial"/>
              </a:rPr>
              <a:t>و</a:t>
            </a:r>
            <a:r>
              <a:rPr dirty="0" sz="1800" spc="-204">
                <a:latin typeface="Arial"/>
                <a:cs typeface="Arial"/>
              </a:rPr>
              <a:t>َ   </a:t>
            </a:r>
            <a:r>
              <a:rPr dirty="0" baseline="3086" sz="2700" spc="-337">
                <a:latin typeface="Arial"/>
                <a:cs typeface="Arial"/>
              </a:rPr>
              <a:t>ه</a:t>
            </a:r>
            <a:r>
              <a:rPr dirty="0" baseline="1543" sz="2700" spc="-337">
                <a:latin typeface="Arial"/>
                <a:cs typeface="Arial"/>
              </a:rPr>
              <a:t>ِ  </a:t>
            </a:r>
            <a:r>
              <a:rPr dirty="0" baseline="3086" sz="2700" spc="-780">
                <a:latin typeface="Arial"/>
                <a:cs typeface="Arial"/>
              </a:rPr>
              <a:t>ق</a:t>
            </a:r>
            <a:r>
              <a:rPr dirty="0" baseline="1543" sz="2700" spc="-780">
                <a:latin typeface="Arial"/>
                <a:cs typeface="Arial"/>
              </a:rPr>
              <a:t>ِ</a:t>
            </a:r>
            <a:r>
              <a:rPr dirty="0" baseline="1543" sz="2700">
                <a:latin typeface="Arial"/>
                <a:cs typeface="Arial"/>
              </a:rPr>
              <a:t> </a:t>
            </a:r>
            <a:r>
              <a:rPr dirty="0" baseline="3086" sz="2700" spc="-585">
                <a:latin typeface="Arial"/>
                <a:cs typeface="Arial"/>
              </a:rPr>
              <a:t>اث</a:t>
            </a:r>
            <a:r>
              <a:rPr dirty="0" baseline="13888" sz="2700" spc="-585">
                <a:latin typeface="Arial"/>
                <a:cs typeface="Arial"/>
              </a:rPr>
              <a:t>َ   </a:t>
            </a:r>
            <a:r>
              <a:rPr dirty="0" baseline="3086" sz="2700" spc="-240">
                <a:latin typeface="Arial"/>
                <a:cs typeface="Arial"/>
              </a:rPr>
              <a:t>ٌم</a:t>
            </a:r>
            <a:r>
              <a:rPr dirty="0" baseline="1543" sz="2700" spc="-240">
                <a:latin typeface="Arial"/>
                <a:cs typeface="Arial"/>
              </a:rPr>
              <a:t>ِ   </a:t>
            </a:r>
            <a:r>
              <a:rPr dirty="0" baseline="3086" sz="2700" spc="-352">
                <a:latin typeface="Arial"/>
                <a:cs typeface="Arial"/>
              </a:rPr>
              <a:t>د</a:t>
            </a:r>
            <a:r>
              <a:rPr dirty="0" baseline="1543" sz="2700" spc="-352">
                <a:latin typeface="Arial"/>
                <a:cs typeface="Arial"/>
              </a:rPr>
              <a:t>ِ  </a:t>
            </a:r>
            <a:r>
              <a:rPr dirty="0" baseline="3086" sz="2700" spc="-569">
                <a:latin typeface="Arial"/>
                <a:cs typeface="Arial"/>
              </a:rPr>
              <a:t>عْ    </a:t>
            </a:r>
            <a:r>
              <a:rPr dirty="0" baseline="3086" sz="2700" spc="-892">
                <a:latin typeface="Arial"/>
                <a:cs typeface="Arial"/>
              </a:rPr>
              <a:t>ب</a:t>
            </a:r>
            <a:r>
              <a:rPr dirty="0" sz="1800" spc="-595">
                <a:latin typeface="Arial"/>
                <a:cs typeface="Arial"/>
              </a:rPr>
              <a:t>َ</a:t>
            </a:r>
            <a:r>
              <a:rPr dirty="0" sz="1800" spc="420">
                <a:latin typeface="Arial"/>
                <a:cs typeface="Arial"/>
              </a:rPr>
              <a:t> </a:t>
            </a:r>
            <a:r>
              <a:rPr dirty="0" baseline="3086" sz="2700" spc="-240">
                <a:latin typeface="Arial"/>
                <a:cs typeface="Arial"/>
              </a:rPr>
              <a:t>نم</a:t>
            </a:r>
            <a:r>
              <a:rPr dirty="0" baseline="1543" sz="2700" spc="-240">
                <a:latin typeface="Arial"/>
                <a:cs typeface="Arial"/>
              </a:rPr>
              <a:t>ِ   </a:t>
            </a:r>
            <a:r>
              <a:rPr dirty="0" baseline="3086" sz="2700" spc="-885">
                <a:latin typeface="Arial"/>
                <a:cs typeface="Arial"/>
              </a:rPr>
              <a:t>للَّ</a:t>
            </a:r>
            <a:r>
              <a:rPr dirty="0" sz="1800" spc="-590">
                <a:latin typeface="Arial"/>
                <a:cs typeface="Arial"/>
              </a:rPr>
              <a:t>ِ</a:t>
            </a:r>
            <a:r>
              <a:rPr dirty="0" sz="1800" spc="-65">
                <a:latin typeface="Arial"/>
                <a:cs typeface="Arial"/>
              </a:rPr>
              <a:t> </a:t>
            </a:r>
            <a:r>
              <a:rPr dirty="0" baseline="15432" sz="2700">
                <a:latin typeface="Arial"/>
                <a:cs typeface="Arial"/>
              </a:rPr>
              <a:t>َّ  </a:t>
            </a:r>
            <a:r>
              <a:rPr dirty="0" baseline="3086" sz="2700">
                <a:latin typeface="Arial"/>
                <a:cs typeface="Arial"/>
              </a:rPr>
              <a:t>ٱ </a:t>
            </a:r>
            <a:r>
              <a:rPr dirty="0" baseline="3086" sz="2700" spc="-322">
                <a:latin typeface="Arial"/>
                <a:cs typeface="Arial"/>
              </a:rPr>
              <a:t>دَ  </a:t>
            </a:r>
            <a:r>
              <a:rPr dirty="0" baseline="3086" sz="2700" spc="-292">
                <a:latin typeface="Arial"/>
                <a:cs typeface="Arial"/>
              </a:rPr>
              <a:t>هْ  </a:t>
            </a:r>
            <a:r>
              <a:rPr dirty="0" baseline="3086" sz="2700" spc="-607">
                <a:latin typeface="Arial"/>
                <a:cs typeface="Arial"/>
              </a:rPr>
              <a:t>ع</a:t>
            </a:r>
            <a:r>
              <a:rPr dirty="0" sz="1800" spc="-405">
                <a:latin typeface="Arial"/>
                <a:cs typeface="Arial"/>
              </a:rPr>
              <a:t>َ               </a:t>
            </a:r>
            <a:r>
              <a:rPr dirty="0" baseline="3086" sz="2700" spc="-494">
                <a:latin typeface="Arial"/>
                <a:cs typeface="Arial"/>
              </a:rPr>
              <a:t>ن</a:t>
            </a:r>
            <a:r>
              <a:rPr dirty="0" sz="1800" spc="-330">
                <a:latin typeface="Arial"/>
                <a:cs typeface="Arial"/>
              </a:rPr>
              <a:t>َ    </a:t>
            </a:r>
            <a:r>
              <a:rPr dirty="0" baseline="3086" sz="2700" spc="-930">
                <a:latin typeface="Arial"/>
                <a:cs typeface="Arial"/>
              </a:rPr>
              <a:t>وضُ</a:t>
            </a:r>
            <a:r>
              <a:rPr dirty="0" baseline="3086" sz="2700" spc="1507">
                <a:latin typeface="Arial"/>
                <a:cs typeface="Arial"/>
              </a:rPr>
              <a:t> </a:t>
            </a:r>
            <a:r>
              <a:rPr dirty="0" baseline="10802" sz="2700" spc="-330">
                <a:latin typeface="Arial"/>
                <a:cs typeface="Arial"/>
              </a:rPr>
              <a:t>ُ</a:t>
            </a:r>
            <a:r>
              <a:rPr dirty="0" baseline="3086" sz="2700" spc="-330">
                <a:latin typeface="Arial"/>
                <a:cs typeface="Arial"/>
              </a:rPr>
              <a:t>قنٌ</a:t>
            </a:r>
            <a:r>
              <a:rPr dirty="0" sz="1800" spc="-220">
                <a:latin typeface="Arial"/>
                <a:cs typeface="Arial"/>
              </a:rPr>
              <a:t>َ   </a:t>
            </a:r>
            <a:r>
              <a:rPr dirty="0" baseline="3086" sz="2700" spc="-494">
                <a:latin typeface="Arial"/>
                <a:cs typeface="Arial"/>
              </a:rPr>
              <a:t>ن</a:t>
            </a:r>
            <a:r>
              <a:rPr dirty="0" sz="1800" spc="-330">
                <a:latin typeface="Arial"/>
                <a:cs typeface="Arial"/>
              </a:rPr>
              <a:t>َ    </a:t>
            </a:r>
            <a:r>
              <a:rPr dirty="0" baseline="3086" sz="2700" spc="-232">
                <a:latin typeface="Arial"/>
                <a:cs typeface="Arial"/>
              </a:rPr>
              <a:t>ٌذ</a:t>
            </a:r>
            <a:r>
              <a:rPr dirty="0" baseline="1543" sz="2700" spc="-232">
                <a:latin typeface="Arial"/>
                <a:cs typeface="Arial"/>
              </a:rPr>
              <a:t>ِ </a:t>
            </a:r>
            <a:r>
              <a:rPr dirty="0" baseline="1543" sz="2700" spc="30">
                <a:latin typeface="Arial"/>
                <a:cs typeface="Arial"/>
              </a:rPr>
              <a:t> </a:t>
            </a:r>
            <a:r>
              <a:rPr dirty="0" baseline="13888" sz="2700" spc="-209">
                <a:latin typeface="Arial"/>
                <a:cs typeface="Arial"/>
              </a:rPr>
              <a:t>َّ</a:t>
            </a:r>
            <a:r>
              <a:rPr dirty="0" baseline="3086" sz="2700" spc="-209">
                <a:latin typeface="Arial"/>
                <a:cs typeface="Arial"/>
              </a:rPr>
              <a:t>لٱ</a:t>
            </a:r>
            <a:endParaRPr baseline="3086" sz="2700">
              <a:latin typeface="Arial"/>
              <a:cs typeface="Arial"/>
            </a:endParaRPr>
          </a:p>
          <a:p>
            <a:pPr algn="r" marR="157480">
              <a:lnSpc>
                <a:spcPts val="2090"/>
              </a:lnSpc>
            </a:pPr>
            <a:r>
              <a:rPr dirty="0" baseline="1543" sz="2700" spc="-494">
                <a:latin typeface="Arial"/>
                <a:cs typeface="Arial"/>
              </a:rPr>
              <a:t>ن</a:t>
            </a:r>
            <a:r>
              <a:rPr dirty="0" baseline="-1543" sz="2700" spc="-494">
                <a:latin typeface="Arial"/>
                <a:cs typeface="Arial"/>
              </a:rPr>
              <a:t>َ    </a:t>
            </a:r>
            <a:r>
              <a:rPr dirty="0" baseline="1543" sz="2700" spc="-352">
                <a:latin typeface="Arial"/>
                <a:cs typeface="Arial"/>
              </a:rPr>
              <a:t>ورُ   </a:t>
            </a:r>
            <a:r>
              <a:rPr dirty="0" baseline="1543" sz="2700" spc="-937">
                <a:latin typeface="Arial"/>
                <a:cs typeface="Arial"/>
              </a:rPr>
              <a:t>س</a:t>
            </a:r>
            <a:r>
              <a:rPr dirty="0" sz="1800" spc="-625">
                <a:latin typeface="Arial"/>
                <a:cs typeface="Arial"/>
              </a:rPr>
              <a:t>ِ</a:t>
            </a:r>
            <a:r>
              <a:rPr dirty="0" sz="1800" spc="215">
                <a:latin typeface="Arial"/>
                <a:cs typeface="Arial"/>
              </a:rPr>
              <a:t> </a:t>
            </a:r>
            <a:r>
              <a:rPr dirty="0" baseline="1543" sz="2700" spc="-390">
                <a:latin typeface="Arial"/>
                <a:cs typeface="Arial"/>
              </a:rPr>
              <a:t>اخ</a:t>
            </a:r>
            <a:r>
              <a:rPr dirty="0" baseline="6172" sz="2700" spc="-390">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427">
                <a:latin typeface="Arial"/>
                <a:cs typeface="Arial"/>
              </a:rPr>
              <a:t>م</a:t>
            </a:r>
            <a:r>
              <a:rPr dirty="0" baseline="-4629" sz="2700" spc="-427">
                <a:latin typeface="Arial"/>
                <a:cs typeface="Arial"/>
              </a:rPr>
              <a:t>ُ   </a:t>
            </a:r>
            <a:r>
              <a:rPr dirty="0" baseline="1543" sz="2700" spc="-307">
                <a:latin typeface="Arial"/>
                <a:cs typeface="Arial"/>
              </a:rPr>
              <a:t>هُ    </a:t>
            </a:r>
            <a:r>
              <a:rPr dirty="0" baseline="1543" sz="2700" spc="-682">
                <a:latin typeface="Arial"/>
                <a:cs typeface="Arial"/>
              </a:rPr>
              <a:t>ك</a:t>
            </a:r>
            <a:r>
              <a:rPr dirty="0" baseline="-1543" sz="2700" spc="-682">
                <a:latin typeface="Arial"/>
                <a:cs typeface="Arial"/>
              </a:rPr>
              <a:t>َ                    </a:t>
            </a:r>
            <a:r>
              <a:rPr dirty="0" baseline="1543" sz="2700" spc="-855">
                <a:latin typeface="Arial"/>
                <a:cs typeface="Arial"/>
              </a:rPr>
              <a:t>ئ</a:t>
            </a:r>
            <a:r>
              <a:rPr dirty="0" sz="1800" spc="-570">
                <a:latin typeface="Arial"/>
                <a:cs typeface="Arial"/>
              </a:rPr>
              <a:t>ِ</a:t>
            </a:r>
            <a:r>
              <a:rPr dirty="0" sz="1800" spc="-65">
                <a:latin typeface="Arial"/>
                <a:cs typeface="Arial"/>
              </a:rPr>
              <a:t> </a:t>
            </a:r>
            <a:r>
              <a:rPr dirty="0" baseline="1543" sz="2700" spc="-150">
                <a:latin typeface="Arial"/>
                <a:cs typeface="Arial"/>
              </a:rPr>
              <a:t>ـ</a:t>
            </a:r>
            <a:r>
              <a:rPr dirty="0" baseline="-3086" sz="2700" spc="-150">
                <a:latin typeface="Arial"/>
                <a:cs typeface="Arial"/>
              </a:rPr>
              <a:t>ۤ </a:t>
            </a:r>
            <a:r>
              <a:rPr dirty="0" baseline="9259" sz="2700" spc="-187">
                <a:latin typeface="Arial"/>
                <a:cs typeface="Arial"/>
              </a:rPr>
              <a:t>َ</a:t>
            </a:r>
            <a:r>
              <a:rPr dirty="0" baseline="1543" sz="2700" spc="-187">
                <a:latin typeface="Arial"/>
                <a:cs typeface="Arial"/>
              </a:rPr>
              <a:t>لو</a:t>
            </a:r>
            <a:r>
              <a:rPr dirty="0" baseline="18518" sz="2700" spc="-187">
                <a:latin typeface="Arial"/>
                <a:cs typeface="Arial"/>
              </a:rPr>
              <a:t>ُ</a:t>
            </a:r>
            <a:r>
              <a:rPr dirty="0" baseline="1543" sz="2700" spc="-187">
                <a:latin typeface="Arial"/>
                <a:cs typeface="Arial"/>
              </a:rPr>
              <a:t>أ </a:t>
            </a:r>
            <a:r>
              <a:rPr dirty="0" baseline="1543" sz="2700" spc="-787">
                <a:latin typeface="Arial"/>
                <a:cs typeface="Arial"/>
              </a:rPr>
              <a:t>ض</a:t>
            </a:r>
            <a:r>
              <a:rPr dirty="0" baseline="-3086" sz="2700" spc="-787">
                <a:latin typeface="Arial"/>
                <a:cs typeface="Arial"/>
              </a:rPr>
              <a:t>ِ</a:t>
            </a:r>
            <a:r>
              <a:rPr dirty="0" baseline="-3086" sz="2700" spc="817">
                <a:latin typeface="Arial"/>
                <a:cs typeface="Arial"/>
              </a:rPr>
              <a:t> </a:t>
            </a:r>
            <a:r>
              <a:rPr dirty="0" baseline="1543" sz="2700" spc="-457">
                <a:latin typeface="Arial"/>
                <a:cs typeface="Arial"/>
              </a:rPr>
              <a:t>رْ</a:t>
            </a:r>
            <a:r>
              <a:rPr dirty="0" baseline="1543" sz="2700" spc="-240">
                <a:latin typeface="Arial"/>
                <a:cs typeface="Arial"/>
              </a:rPr>
              <a:t> </a:t>
            </a:r>
            <a:r>
              <a:rPr dirty="0" baseline="1543" sz="2700" spc="-157">
                <a:latin typeface="Arial"/>
                <a:cs typeface="Arial"/>
              </a:rPr>
              <a:t>لأٱ</a:t>
            </a:r>
            <a:endParaRPr baseline="1543" sz="2700">
              <a:latin typeface="Arial"/>
              <a:cs typeface="Arial"/>
            </a:endParaRPr>
          </a:p>
          <a:p>
            <a:pPr>
              <a:lnSpc>
                <a:spcPct val="100000"/>
              </a:lnSpc>
              <a:spcBef>
                <a:spcPts val="5"/>
              </a:spcBef>
            </a:pPr>
            <a:endParaRPr sz="2400">
              <a:latin typeface="Arial"/>
              <a:cs typeface="Arial"/>
            </a:endParaRPr>
          </a:p>
          <a:p>
            <a:pPr algn="just" marL="139700" marR="158750">
              <a:lnSpc>
                <a:spcPts val="1380"/>
              </a:lnSpc>
            </a:pPr>
            <a:r>
              <a:rPr dirty="0" sz="1200" spc="-5">
                <a:latin typeface="Arial"/>
                <a:cs typeface="Arial"/>
              </a:rPr>
              <a:t>27. Those </a:t>
            </a:r>
            <a:r>
              <a:rPr dirty="0" sz="1200" spc="-10">
                <a:latin typeface="Arial"/>
                <a:cs typeface="Arial"/>
              </a:rPr>
              <a:t>who </a:t>
            </a:r>
            <a:r>
              <a:rPr dirty="0" sz="1200" spc="-5">
                <a:latin typeface="Arial"/>
                <a:cs typeface="Arial"/>
              </a:rPr>
              <a:t>break </a:t>
            </a:r>
            <a:r>
              <a:rPr dirty="0" sz="1200">
                <a:latin typeface="Arial"/>
                <a:cs typeface="Arial"/>
              </a:rPr>
              <a:t>the </a:t>
            </a:r>
            <a:r>
              <a:rPr dirty="0" sz="1200" spc="-5">
                <a:latin typeface="Arial"/>
                <a:cs typeface="Arial"/>
              </a:rPr>
              <a:t>covenant of Allah after </a:t>
            </a:r>
            <a:r>
              <a:rPr dirty="0" sz="1200">
                <a:latin typeface="Arial"/>
                <a:cs typeface="Arial"/>
              </a:rPr>
              <a:t>ratifying it </a:t>
            </a:r>
            <a:r>
              <a:rPr dirty="0" sz="1200" spc="-5">
                <a:latin typeface="Arial"/>
                <a:cs typeface="Arial"/>
              </a:rPr>
              <a:t>and sever </a:t>
            </a:r>
            <a:r>
              <a:rPr dirty="0" sz="1200">
                <a:latin typeface="Arial"/>
                <a:cs typeface="Arial"/>
              </a:rPr>
              <a:t>that </a:t>
            </a:r>
            <a:r>
              <a:rPr dirty="0" sz="1200" spc="-5">
                <a:latin typeface="Arial"/>
                <a:cs typeface="Arial"/>
              </a:rPr>
              <a:t>which Allah  ordered to be joined, and (who) </a:t>
            </a:r>
            <a:r>
              <a:rPr dirty="0" sz="1200">
                <a:latin typeface="Arial"/>
                <a:cs typeface="Arial"/>
              </a:rPr>
              <a:t>make </a:t>
            </a:r>
            <a:r>
              <a:rPr dirty="0" sz="1200" spc="-5">
                <a:latin typeface="Arial"/>
                <a:cs typeface="Arial"/>
              </a:rPr>
              <a:t>mischief in </a:t>
            </a:r>
            <a:r>
              <a:rPr dirty="0" sz="1200">
                <a:latin typeface="Arial"/>
                <a:cs typeface="Arial"/>
              </a:rPr>
              <a:t>the </a:t>
            </a:r>
            <a:r>
              <a:rPr dirty="0" sz="1200" spc="-5">
                <a:latin typeface="Arial"/>
                <a:cs typeface="Arial"/>
              </a:rPr>
              <a:t>earth: Those are </a:t>
            </a:r>
            <a:r>
              <a:rPr dirty="0" sz="1200">
                <a:latin typeface="Arial"/>
                <a:cs typeface="Arial"/>
              </a:rPr>
              <a:t>they </a:t>
            </a:r>
            <a:r>
              <a:rPr dirty="0" sz="1200" spc="-10">
                <a:latin typeface="Arial"/>
                <a:cs typeface="Arial"/>
              </a:rPr>
              <a:t>who </a:t>
            </a:r>
            <a:r>
              <a:rPr dirty="0" sz="1200" spc="-5">
                <a:latin typeface="Arial"/>
                <a:cs typeface="Arial"/>
              </a:rPr>
              <a:t>are the  </a:t>
            </a:r>
            <a:r>
              <a:rPr dirty="0" sz="1200">
                <a:latin typeface="Arial"/>
                <a:cs typeface="Arial"/>
              </a:rPr>
              <a:t>losers</a:t>
            </a:r>
            <a:endParaRPr sz="1200">
              <a:latin typeface="Arial"/>
              <a:cs typeface="Arial"/>
            </a:endParaRPr>
          </a:p>
          <a:p>
            <a:pPr>
              <a:lnSpc>
                <a:spcPct val="100000"/>
              </a:lnSpc>
            </a:pPr>
            <a:endParaRPr sz="1300">
              <a:latin typeface="Arial"/>
              <a:cs typeface="Arial"/>
            </a:endParaRPr>
          </a:p>
          <a:p>
            <a:pPr algn="just" marL="139700">
              <a:lnSpc>
                <a:spcPct val="100000"/>
              </a:lnSpc>
              <a:spcBef>
                <a:spcPts val="1170"/>
              </a:spcBef>
            </a:pPr>
            <a:r>
              <a:rPr dirty="0" sz="1200" spc="-5" b="1">
                <a:latin typeface="Arial"/>
                <a:cs typeface="Arial"/>
              </a:rPr>
              <a:t>(Verse 30 </a:t>
            </a:r>
            <a:r>
              <a:rPr dirty="0" sz="1200" b="1">
                <a:latin typeface="Arial"/>
                <a:cs typeface="Arial"/>
              </a:rPr>
              <a:t>– </a:t>
            </a:r>
            <a:r>
              <a:rPr dirty="0" sz="1200" spc="-5" b="1">
                <a:latin typeface="Arial"/>
                <a:cs typeface="Arial"/>
              </a:rPr>
              <a:t>39):</a:t>
            </a:r>
            <a:endParaRPr sz="1200">
              <a:latin typeface="Arial"/>
              <a:cs typeface="Arial"/>
            </a:endParaRPr>
          </a:p>
          <a:p>
            <a:pPr>
              <a:lnSpc>
                <a:spcPct val="100000"/>
              </a:lnSpc>
              <a:spcBef>
                <a:spcPts val="55"/>
              </a:spcBef>
            </a:pPr>
            <a:endParaRPr sz="1150">
              <a:latin typeface="Arial"/>
              <a:cs typeface="Arial"/>
            </a:endParaRPr>
          </a:p>
          <a:p>
            <a:pPr algn="just" marL="139700" marR="155575">
              <a:lnSpc>
                <a:spcPct val="95900"/>
              </a:lnSpc>
            </a:pPr>
            <a:r>
              <a:rPr dirty="0" sz="1200" spc="-5">
                <a:latin typeface="Arial"/>
                <a:cs typeface="Arial"/>
              </a:rPr>
              <a:t>The </a:t>
            </a:r>
            <a:r>
              <a:rPr dirty="0" sz="1200">
                <a:latin typeface="Arial"/>
                <a:cs typeface="Arial"/>
              </a:rPr>
              <a:t>story of the </a:t>
            </a:r>
            <a:r>
              <a:rPr dirty="0" sz="1200" spc="-5">
                <a:latin typeface="Arial"/>
                <a:cs typeface="Arial"/>
              </a:rPr>
              <a:t>appointment of </a:t>
            </a:r>
            <a:r>
              <a:rPr dirty="0" sz="1200" spc="-10">
                <a:latin typeface="Arial"/>
                <a:cs typeface="Arial"/>
              </a:rPr>
              <a:t>Adam </a:t>
            </a:r>
            <a:r>
              <a:rPr dirty="0" sz="1200" spc="-5">
                <a:latin typeface="Arial"/>
                <a:cs typeface="Arial"/>
              </a:rPr>
              <a:t>as Allah's Vicegerent on </a:t>
            </a:r>
            <a:r>
              <a:rPr dirty="0" sz="1200">
                <a:latin typeface="Arial"/>
                <a:cs typeface="Arial"/>
              </a:rPr>
              <a:t>Earth, </a:t>
            </a:r>
            <a:r>
              <a:rPr dirty="0" sz="1200" spc="-5">
                <a:latin typeface="Arial"/>
                <a:cs typeface="Arial"/>
              </a:rPr>
              <a:t>of his life in </a:t>
            </a:r>
            <a:r>
              <a:rPr dirty="0" sz="1200">
                <a:latin typeface="Arial"/>
                <a:cs typeface="Arial"/>
              </a:rPr>
              <a:t>the  </a:t>
            </a:r>
            <a:r>
              <a:rPr dirty="0" sz="1200" spc="-5">
                <a:latin typeface="Arial"/>
                <a:cs typeface="Arial"/>
              </a:rPr>
              <a:t>Garden, of his falling a prey </a:t>
            </a:r>
            <a:r>
              <a:rPr dirty="0" sz="1200">
                <a:latin typeface="Arial"/>
                <a:cs typeface="Arial"/>
              </a:rPr>
              <a:t>to the </a:t>
            </a:r>
            <a:r>
              <a:rPr dirty="0" sz="1200" spc="-5">
                <a:latin typeface="Arial"/>
                <a:cs typeface="Arial"/>
              </a:rPr>
              <a:t>temptations of Satan, of his repentance and </a:t>
            </a:r>
            <a:r>
              <a:rPr dirty="0" sz="1200">
                <a:latin typeface="Arial"/>
                <a:cs typeface="Arial"/>
              </a:rPr>
              <a:t>its  </a:t>
            </a:r>
            <a:r>
              <a:rPr dirty="0" sz="1200" spc="-5">
                <a:latin typeface="Arial"/>
                <a:cs typeface="Arial"/>
              </a:rPr>
              <a:t>acceptance, has been </a:t>
            </a:r>
            <a:r>
              <a:rPr dirty="0" sz="1200">
                <a:latin typeface="Arial"/>
                <a:cs typeface="Arial"/>
              </a:rPr>
              <a:t>related </a:t>
            </a:r>
            <a:r>
              <a:rPr dirty="0" sz="1200" spc="-5">
                <a:latin typeface="Arial"/>
                <a:cs typeface="Arial"/>
              </a:rPr>
              <a:t>to show </a:t>
            </a:r>
            <a:r>
              <a:rPr dirty="0" sz="1200">
                <a:latin typeface="Arial"/>
                <a:cs typeface="Arial"/>
              </a:rPr>
              <a:t>to </a:t>
            </a:r>
            <a:r>
              <a:rPr dirty="0" sz="1200" spc="-5">
                <a:latin typeface="Arial"/>
                <a:cs typeface="Arial"/>
              </a:rPr>
              <a:t>mankind (Adam's offspring), </a:t>
            </a:r>
            <a:r>
              <a:rPr dirty="0" sz="1200">
                <a:latin typeface="Arial"/>
                <a:cs typeface="Arial"/>
              </a:rPr>
              <a:t>that </a:t>
            </a:r>
            <a:r>
              <a:rPr dirty="0" sz="1200" spc="-5">
                <a:latin typeface="Arial"/>
                <a:cs typeface="Arial"/>
              </a:rPr>
              <a:t>the only right thing  </a:t>
            </a:r>
            <a:r>
              <a:rPr dirty="0" sz="1200">
                <a:latin typeface="Arial"/>
                <a:cs typeface="Arial"/>
              </a:rPr>
              <a:t>for </a:t>
            </a:r>
            <a:r>
              <a:rPr dirty="0" sz="1200" spc="-5">
                <a:latin typeface="Arial"/>
                <a:cs typeface="Arial"/>
              </a:rPr>
              <a:t>them is </a:t>
            </a:r>
            <a:r>
              <a:rPr dirty="0" sz="1200">
                <a:latin typeface="Arial"/>
                <a:cs typeface="Arial"/>
              </a:rPr>
              <a:t>to </a:t>
            </a:r>
            <a:r>
              <a:rPr dirty="0" sz="1200" spc="-5">
                <a:latin typeface="Arial"/>
                <a:cs typeface="Arial"/>
              </a:rPr>
              <a:t>accept and follow </a:t>
            </a:r>
            <a:r>
              <a:rPr dirty="0" sz="1200">
                <a:latin typeface="Arial"/>
                <a:cs typeface="Arial"/>
              </a:rPr>
              <a:t>the </a:t>
            </a:r>
            <a:r>
              <a:rPr dirty="0" sz="1200" spc="-5">
                <a:latin typeface="Arial"/>
                <a:cs typeface="Arial"/>
              </a:rPr>
              <a:t>Guidance. </a:t>
            </a:r>
            <a:r>
              <a:rPr dirty="0" sz="1200">
                <a:latin typeface="Arial"/>
                <a:cs typeface="Arial"/>
              </a:rPr>
              <a:t>This story </a:t>
            </a:r>
            <a:r>
              <a:rPr dirty="0" sz="1200" spc="-5">
                <a:latin typeface="Arial"/>
                <a:cs typeface="Arial"/>
              </a:rPr>
              <a:t>also shows </a:t>
            </a:r>
            <a:r>
              <a:rPr dirty="0" sz="1200">
                <a:latin typeface="Arial"/>
                <a:cs typeface="Arial"/>
              </a:rPr>
              <a:t>that the </a:t>
            </a:r>
            <a:r>
              <a:rPr dirty="0" sz="1200" spc="-5">
                <a:latin typeface="Arial"/>
                <a:cs typeface="Arial"/>
              </a:rPr>
              <a:t>Guidance of  Islam is the same that </a:t>
            </a:r>
            <a:r>
              <a:rPr dirty="0" sz="1200" spc="-10">
                <a:latin typeface="Arial"/>
                <a:cs typeface="Arial"/>
              </a:rPr>
              <a:t>was </a:t>
            </a:r>
            <a:r>
              <a:rPr dirty="0" sz="1200" spc="-5">
                <a:latin typeface="Arial"/>
                <a:cs typeface="Arial"/>
              </a:rPr>
              <a:t>given </a:t>
            </a:r>
            <a:r>
              <a:rPr dirty="0" sz="1200">
                <a:latin typeface="Arial"/>
                <a:cs typeface="Arial"/>
              </a:rPr>
              <a:t>to </a:t>
            </a:r>
            <a:r>
              <a:rPr dirty="0" sz="1200" spc="-5">
                <a:latin typeface="Arial"/>
                <a:cs typeface="Arial"/>
              </a:rPr>
              <a:t>Adam </a:t>
            </a:r>
            <a:r>
              <a:rPr dirty="0" sz="1200" spc="-10">
                <a:latin typeface="Arial"/>
                <a:cs typeface="Arial"/>
              </a:rPr>
              <a:t>and </a:t>
            </a:r>
            <a:r>
              <a:rPr dirty="0" sz="1200">
                <a:latin typeface="Arial"/>
                <a:cs typeface="Arial"/>
              </a:rPr>
              <a:t>that it </a:t>
            </a:r>
            <a:r>
              <a:rPr dirty="0" sz="1200" spc="-5">
                <a:latin typeface="Arial"/>
                <a:cs typeface="Arial"/>
              </a:rPr>
              <a:t>is the </a:t>
            </a:r>
            <a:r>
              <a:rPr dirty="0" sz="1200">
                <a:latin typeface="Arial"/>
                <a:cs typeface="Arial"/>
              </a:rPr>
              <a:t>original </a:t>
            </a:r>
            <a:r>
              <a:rPr dirty="0" sz="1200" spc="-5">
                <a:latin typeface="Arial"/>
                <a:cs typeface="Arial"/>
              </a:rPr>
              <a:t>religion </a:t>
            </a:r>
            <a:r>
              <a:rPr dirty="0" sz="1200">
                <a:latin typeface="Arial"/>
                <a:cs typeface="Arial"/>
              </a:rPr>
              <a:t>of mankind. </a:t>
            </a:r>
            <a:r>
              <a:rPr dirty="0" sz="1200" spc="-5">
                <a:latin typeface="Arial"/>
                <a:cs typeface="Arial"/>
              </a:rPr>
              <a:t>There  is also evidence of Shaitaan (Iblis) </a:t>
            </a:r>
            <a:r>
              <a:rPr dirty="0" sz="1200">
                <a:latin typeface="Arial"/>
                <a:cs typeface="Arial"/>
              </a:rPr>
              <a:t>being </a:t>
            </a:r>
            <a:r>
              <a:rPr dirty="0" sz="1200" spc="-5">
                <a:latin typeface="Arial"/>
                <a:cs typeface="Arial"/>
              </a:rPr>
              <a:t>the open and declared</a:t>
            </a:r>
            <a:r>
              <a:rPr dirty="0" sz="1200" spc="20">
                <a:latin typeface="Arial"/>
                <a:cs typeface="Arial"/>
              </a:rPr>
              <a:t> </a:t>
            </a:r>
            <a:r>
              <a:rPr dirty="0" sz="1200" spc="-5">
                <a:latin typeface="Arial"/>
                <a:cs typeface="Arial"/>
              </a:rPr>
              <a:t>enemy.</a:t>
            </a:r>
            <a:endParaRPr sz="1200">
              <a:latin typeface="Arial"/>
              <a:cs typeface="Arial"/>
            </a:endParaRPr>
          </a:p>
          <a:p>
            <a:pPr>
              <a:lnSpc>
                <a:spcPct val="100000"/>
              </a:lnSpc>
              <a:spcBef>
                <a:spcPts val="55"/>
              </a:spcBef>
            </a:pPr>
            <a:endParaRPr sz="1100">
              <a:latin typeface="Arial"/>
              <a:cs typeface="Arial"/>
            </a:endParaRPr>
          </a:p>
          <a:p>
            <a:pPr algn="just" marL="139700">
              <a:lnSpc>
                <a:spcPct val="100000"/>
              </a:lnSpc>
            </a:pPr>
            <a:r>
              <a:rPr dirty="0" sz="1200" spc="-5">
                <a:latin typeface="Arial"/>
                <a:cs typeface="Arial"/>
              </a:rPr>
              <a:t>Allah says:</a:t>
            </a:r>
            <a:endParaRPr sz="1200">
              <a:latin typeface="Arial"/>
              <a:cs typeface="Arial"/>
            </a:endParaRPr>
          </a:p>
          <a:p>
            <a:pPr>
              <a:lnSpc>
                <a:spcPct val="100000"/>
              </a:lnSpc>
              <a:spcBef>
                <a:spcPts val="30"/>
              </a:spcBef>
            </a:pPr>
            <a:endParaRPr sz="1100">
              <a:latin typeface="Arial"/>
              <a:cs typeface="Arial"/>
            </a:endParaRPr>
          </a:p>
          <a:p>
            <a:pPr algn="r" marR="209550">
              <a:lnSpc>
                <a:spcPts val="2130"/>
              </a:lnSpc>
            </a:pPr>
            <a:r>
              <a:rPr dirty="0" sz="1800" spc="-475">
                <a:latin typeface="Arial"/>
                <a:cs typeface="Arial"/>
              </a:rPr>
              <a:t>كُ </a:t>
            </a:r>
            <a:r>
              <a:rPr dirty="0" sz="1800" spc="-710">
                <a:latin typeface="Arial"/>
                <a:cs typeface="Arial"/>
              </a:rPr>
              <a:t>فِ</a:t>
            </a:r>
            <a:r>
              <a:rPr dirty="0" sz="1800" spc="-45">
                <a:latin typeface="Arial"/>
                <a:cs typeface="Arial"/>
              </a:rPr>
              <a:t> </a:t>
            </a:r>
            <a:r>
              <a:rPr dirty="0" sz="1800" spc="-630">
                <a:latin typeface="Arial"/>
                <a:cs typeface="Arial"/>
              </a:rPr>
              <a:t>س</a:t>
            </a:r>
            <a:r>
              <a:rPr dirty="0" baseline="1543" sz="2700" spc="-944">
                <a:latin typeface="Arial"/>
                <a:cs typeface="Arial"/>
              </a:rPr>
              <a:t>ْ</a:t>
            </a:r>
            <a:r>
              <a:rPr dirty="0" baseline="1543" sz="2700" spc="352">
                <a:latin typeface="Arial"/>
                <a:cs typeface="Arial"/>
              </a:rPr>
              <a:t> </a:t>
            </a:r>
            <a:r>
              <a:rPr dirty="0" sz="1800">
                <a:latin typeface="Arial"/>
                <a:cs typeface="Arial"/>
              </a:rPr>
              <a:t>ٌ</a:t>
            </a:r>
            <a:r>
              <a:rPr dirty="0" baseline="-3086" sz="2700">
                <a:latin typeface="Arial"/>
                <a:cs typeface="Arial"/>
              </a:rPr>
              <a:t>َ </a:t>
            </a:r>
            <a:r>
              <a:rPr dirty="0" sz="1800" spc="-204">
                <a:latin typeface="Arial"/>
                <a:cs typeface="Arial"/>
              </a:rPr>
              <a:t>و</a:t>
            </a:r>
            <a:r>
              <a:rPr dirty="0" baseline="-3086" sz="2700" spc="-307">
                <a:latin typeface="Arial"/>
                <a:cs typeface="Arial"/>
              </a:rPr>
              <a:t>َ </a:t>
            </a:r>
            <a:r>
              <a:rPr dirty="0" sz="1800" spc="-135">
                <a:latin typeface="Arial"/>
                <a:cs typeface="Arial"/>
              </a:rPr>
              <a:t>اه</a:t>
            </a:r>
            <a:r>
              <a:rPr dirty="0" baseline="-3086" sz="2700" spc="-202">
                <a:latin typeface="Arial"/>
                <a:cs typeface="Arial"/>
              </a:rPr>
              <a:t>َ </a:t>
            </a:r>
            <a:r>
              <a:rPr dirty="0" sz="1800" spc="-470">
                <a:latin typeface="Arial"/>
                <a:cs typeface="Arial"/>
              </a:rPr>
              <a:t>ٌفِ </a:t>
            </a:r>
            <a:r>
              <a:rPr dirty="0" sz="1800" spc="-245">
                <a:latin typeface="Arial"/>
                <a:cs typeface="Arial"/>
              </a:rPr>
              <a:t>د</a:t>
            </a:r>
            <a:r>
              <a:rPr dirty="0" baseline="3086" sz="2700" spc="-367">
                <a:latin typeface="Arial"/>
                <a:cs typeface="Arial"/>
              </a:rPr>
              <a:t>ُ </a:t>
            </a:r>
            <a:r>
              <a:rPr dirty="0" sz="1800" spc="-625">
                <a:latin typeface="Arial"/>
                <a:cs typeface="Arial"/>
              </a:rPr>
              <a:t>سِ</a:t>
            </a:r>
            <a:r>
              <a:rPr dirty="0" sz="1800" spc="225">
                <a:latin typeface="Arial"/>
                <a:cs typeface="Arial"/>
              </a:rPr>
              <a:t> </a:t>
            </a:r>
            <a:r>
              <a:rPr dirty="0" sz="1800" spc="-665">
                <a:latin typeface="Arial"/>
                <a:cs typeface="Arial"/>
              </a:rPr>
              <a:t>ف</a:t>
            </a:r>
            <a:r>
              <a:rPr dirty="0" baseline="9259" sz="2700" spc="-997">
                <a:latin typeface="Arial"/>
                <a:cs typeface="Arial"/>
              </a:rPr>
              <a:t>ْ</a:t>
            </a:r>
            <a:r>
              <a:rPr dirty="0" baseline="9259" sz="2700" spc="-195">
                <a:latin typeface="Arial"/>
                <a:cs typeface="Arial"/>
              </a:rPr>
              <a:t> </a:t>
            </a:r>
            <a:r>
              <a:rPr dirty="0" sz="1800">
                <a:latin typeface="Arial"/>
                <a:cs typeface="Arial"/>
              </a:rPr>
              <a:t>ٌُ </a:t>
            </a:r>
            <a:r>
              <a:rPr dirty="0" sz="1800" spc="-160">
                <a:latin typeface="Arial"/>
                <a:cs typeface="Arial"/>
              </a:rPr>
              <a:t>نم</a:t>
            </a:r>
            <a:r>
              <a:rPr dirty="0" baseline="-3086" sz="2700" spc="-240">
                <a:latin typeface="Arial"/>
                <a:cs typeface="Arial"/>
              </a:rPr>
              <a:t>َ </a:t>
            </a:r>
            <a:r>
              <a:rPr dirty="0" sz="1800" spc="-135">
                <a:latin typeface="Arial"/>
                <a:cs typeface="Arial"/>
              </a:rPr>
              <a:t>اه</a:t>
            </a:r>
            <a:r>
              <a:rPr dirty="0" baseline="-3086" sz="2700" spc="-202">
                <a:latin typeface="Arial"/>
                <a:cs typeface="Arial"/>
              </a:rPr>
              <a:t>َ </a:t>
            </a:r>
            <a:r>
              <a:rPr dirty="0" sz="1800" spc="-470">
                <a:latin typeface="Arial"/>
                <a:cs typeface="Arial"/>
              </a:rPr>
              <a:t>ٌفِ </a:t>
            </a:r>
            <a:r>
              <a:rPr dirty="0" sz="1800" spc="-434">
                <a:latin typeface="Arial"/>
                <a:cs typeface="Arial"/>
              </a:rPr>
              <a:t>لُ </a:t>
            </a:r>
            <a:r>
              <a:rPr dirty="0" sz="1800" spc="-400">
                <a:latin typeface="Arial"/>
                <a:cs typeface="Arial"/>
              </a:rPr>
              <a:t>ع</a:t>
            </a:r>
            <a:r>
              <a:rPr dirty="0" baseline="-3086" sz="2700" spc="-600">
                <a:latin typeface="Arial"/>
                <a:cs typeface="Arial"/>
              </a:rPr>
              <a:t>َ </a:t>
            </a:r>
            <a:r>
              <a:rPr dirty="0" sz="1800" spc="-370">
                <a:latin typeface="Arial"/>
                <a:cs typeface="Arial"/>
              </a:rPr>
              <a:t>ج</a:t>
            </a:r>
            <a:r>
              <a:rPr dirty="0" baseline="1543" sz="2700" spc="-555">
                <a:latin typeface="Arial"/>
                <a:cs typeface="Arial"/>
              </a:rPr>
              <a:t>ْ </a:t>
            </a:r>
            <a:r>
              <a:rPr dirty="0" sz="1800" spc="-595">
                <a:latin typeface="Arial"/>
                <a:cs typeface="Arial"/>
              </a:rPr>
              <a:t>ت</a:t>
            </a:r>
            <a:r>
              <a:rPr dirty="0" baseline="6172" sz="2700" spc="-892">
                <a:latin typeface="Arial"/>
                <a:cs typeface="Arial"/>
              </a:rPr>
              <a:t>َ</a:t>
            </a:r>
            <a:r>
              <a:rPr dirty="0" baseline="6172" sz="2700" spc="-262">
                <a:latin typeface="Arial"/>
                <a:cs typeface="Arial"/>
              </a:rPr>
              <a:t> </a:t>
            </a:r>
            <a:r>
              <a:rPr dirty="0" baseline="13888" sz="2700">
                <a:latin typeface="Arial"/>
                <a:cs typeface="Arial"/>
              </a:rPr>
              <a:t>َ</a:t>
            </a:r>
            <a:r>
              <a:rPr dirty="0" sz="1800">
                <a:latin typeface="Arial"/>
                <a:cs typeface="Arial"/>
              </a:rPr>
              <a:t>أ </a:t>
            </a:r>
            <a:r>
              <a:rPr dirty="0" sz="1800" spc="-175">
                <a:latin typeface="Arial"/>
                <a:cs typeface="Arial"/>
              </a:rPr>
              <a:t>ا</a:t>
            </a:r>
            <a:r>
              <a:rPr dirty="0" baseline="9259" sz="2700" spc="-262">
                <a:latin typeface="Arial"/>
                <a:cs typeface="Arial"/>
              </a:rPr>
              <a:t>ْ </a:t>
            </a:r>
            <a:r>
              <a:rPr dirty="0" sz="1800" spc="-265">
                <a:latin typeface="Arial"/>
                <a:cs typeface="Arial"/>
              </a:rPr>
              <a:t>و</a:t>
            </a:r>
            <a:r>
              <a:rPr dirty="0" baseline="10802" sz="2700" spc="-397">
                <a:latin typeface="Arial"/>
                <a:cs typeface="Arial"/>
              </a:rPr>
              <a:t>ُ</a:t>
            </a:r>
            <a:r>
              <a:rPr dirty="0" sz="1800" spc="-265">
                <a:latin typeface="Arial"/>
                <a:cs typeface="Arial"/>
              </a:rPr>
              <a:t>لاق</a:t>
            </a:r>
            <a:r>
              <a:rPr dirty="0" baseline="6172" sz="2700" spc="-397">
                <a:latin typeface="Arial"/>
                <a:cs typeface="Arial"/>
              </a:rPr>
              <a:t>َ </a:t>
            </a:r>
            <a:r>
              <a:rPr dirty="0" sz="1800" spc="-190">
                <a:latin typeface="Arial"/>
                <a:cs typeface="Arial"/>
              </a:rPr>
              <a:t>ة</a:t>
            </a:r>
            <a:r>
              <a:rPr dirty="0" baseline="12345" sz="2700" spc="-284">
                <a:latin typeface="Arial"/>
                <a:cs typeface="Arial"/>
              </a:rPr>
              <a:t>ً </a:t>
            </a:r>
            <a:r>
              <a:rPr dirty="0" sz="1800" spc="-690">
                <a:latin typeface="Arial"/>
                <a:cs typeface="Arial"/>
              </a:rPr>
              <a:t>ف</a:t>
            </a:r>
            <a:r>
              <a:rPr dirty="0" baseline="6172" sz="2700" spc="-1035">
                <a:latin typeface="Arial"/>
                <a:cs typeface="Arial"/>
              </a:rPr>
              <a:t>َ</a:t>
            </a:r>
            <a:r>
              <a:rPr dirty="0" baseline="6172" sz="2700" spc="-127">
                <a:latin typeface="Arial"/>
                <a:cs typeface="Arial"/>
              </a:rPr>
              <a:t> </a:t>
            </a:r>
            <a:r>
              <a:rPr dirty="0" sz="1800" spc="-270">
                <a:latin typeface="Arial"/>
                <a:cs typeface="Arial"/>
              </a:rPr>
              <a:t>ٌِلخ</a:t>
            </a:r>
            <a:r>
              <a:rPr dirty="0" baseline="6172" sz="2700" spc="-405">
                <a:latin typeface="Arial"/>
                <a:cs typeface="Arial"/>
              </a:rPr>
              <a:t>َ </a:t>
            </a:r>
            <a:r>
              <a:rPr dirty="0" sz="1800" spc="-525">
                <a:latin typeface="Arial"/>
                <a:cs typeface="Arial"/>
              </a:rPr>
              <a:t>ض</a:t>
            </a:r>
            <a:r>
              <a:rPr dirty="0" baseline="-3086" sz="2700" spc="-787">
                <a:latin typeface="Arial"/>
                <a:cs typeface="Arial"/>
              </a:rPr>
              <a:t>ِ</a:t>
            </a:r>
            <a:r>
              <a:rPr dirty="0" baseline="-3086" sz="2700" spc="825">
                <a:latin typeface="Arial"/>
                <a:cs typeface="Arial"/>
              </a:rPr>
              <a:t> </a:t>
            </a:r>
            <a:r>
              <a:rPr dirty="0" sz="1800" spc="-305">
                <a:latin typeface="Arial"/>
                <a:cs typeface="Arial"/>
              </a:rPr>
              <a:t>ر</a:t>
            </a:r>
            <a:r>
              <a:rPr dirty="0" baseline="1543" sz="2700" spc="-457">
                <a:latin typeface="Arial"/>
                <a:cs typeface="Arial"/>
              </a:rPr>
              <a:t>ْ </a:t>
            </a:r>
            <a:r>
              <a:rPr dirty="0" baseline="15432" sz="2700" spc="-120">
                <a:latin typeface="Arial"/>
                <a:cs typeface="Arial"/>
              </a:rPr>
              <a:t>َ</a:t>
            </a:r>
            <a:r>
              <a:rPr dirty="0" sz="1800" spc="-80">
                <a:latin typeface="Arial"/>
                <a:cs typeface="Arial"/>
              </a:rPr>
              <a:t>لأٱ </a:t>
            </a:r>
            <a:r>
              <a:rPr dirty="0" sz="1800" spc="-470">
                <a:latin typeface="Arial"/>
                <a:cs typeface="Arial"/>
              </a:rPr>
              <a:t>ًفِ </a:t>
            </a:r>
            <a:r>
              <a:rPr dirty="0" sz="1800" spc="-434">
                <a:latin typeface="Arial"/>
                <a:cs typeface="Arial"/>
              </a:rPr>
              <a:t>ل</a:t>
            </a:r>
            <a:r>
              <a:rPr dirty="0" baseline="1543" sz="2700" spc="-652">
                <a:latin typeface="Arial"/>
                <a:cs typeface="Arial"/>
              </a:rPr>
              <a:t>ٌ </a:t>
            </a:r>
            <a:r>
              <a:rPr dirty="0" sz="1800" spc="-395">
                <a:latin typeface="Arial"/>
                <a:cs typeface="Arial"/>
              </a:rPr>
              <a:t>عِ </a:t>
            </a:r>
            <a:r>
              <a:rPr dirty="0" sz="1800" spc="-254">
                <a:latin typeface="Arial"/>
                <a:cs typeface="Arial"/>
              </a:rPr>
              <a:t>اج</a:t>
            </a:r>
            <a:r>
              <a:rPr dirty="0" baseline="-3086" sz="2700" spc="-382">
                <a:latin typeface="Arial"/>
                <a:cs typeface="Arial"/>
              </a:rPr>
              <a:t>َ </a:t>
            </a:r>
            <a:r>
              <a:rPr dirty="0" sz="1800" spc="-220">
                <a:latin typeface="Arial"/>
                <a:cs typeface="Arial"/>
              </a:rPr>
              <a:t>ًن</a:t>
            </a:r>
            <a:r>
              <a:rPr dirty="0" baseline="9259" sz="2700" spc="-330">
                <a:latin typeface="Arial"/>
                <a:cs typeface="Arial"/>
              </a:rPr>
              <a:t>ِّ </a:t>
            </a:r>
            <a:r>
              <a:rPr dirty="0" baseline="-12345" sz="2700">
                <a:latin typeface="Arial"/>
                <a:cs typeface="Arial"/>
              </a:rPr>
              <a:t>ِ</a:t>
            </a:r>
            <a:r>
              <a:rPr dirty="0" sz="1800">
                <a:latin typeface="Arial"/>
                <a:cs typeface="Arial"/>
              </a:rPr>
              <a:t>إ </a:t>
            </a:r>
            <a:r>
              <a:rPr dirty="0" sz="1800" spc="-235">
                <a:latin typeface="Arial"/>
                <a:cs typeface="Arial"/>
              </a:rPr>
              <a:t>ةِ </a:t>
            </a:r>
            <a:r>
              <a:rPr dirty="0" sz="1800" spc="-480">
                <a:latin typeface="Arial"/>
                <a:cs typeface="Arial"/>
              </a:rPr>
              <a:t>ك</a:t>
            </a:r>
            <a:r>
              <a:rPr dirty="0" baseline="6172" sz="2700" spc="-719">
                <a:latin typeface="Arial"/>
                <a:cs typeface="Arial"/>
              </a:rPr>
              <a:t>َ </a:t>
            </a:r>
            <a:r>
              <a:rPr dirty="0" sz="1800" spc="-570">
                <a:latin typeface="Arial"/>
                <a:cs typeface="Arial"/>
              </a:rPr>
              <a:t>ئِ</a:t>
            </a:r>
            <a:r>
              <a:rPr dirty="0" sz="1800" spc="-80">
                <a:latin typeface="Arial"/>
                <a:cs typeface="Arial"/>
              </a:rPr>
              <a:t> </a:t>
            </a:r>
            <a:r>
              <a:rPr dirty="0" baseline="6172" sz="2700" spc="-209">
                <a:latin typeface="Arial"/>
                <a:cs typeface="Arial"/>
              </a:rPr>
              <a:t>َ</a:t>
            </a:r>
            <a:r>
              <a:rPr dirty="0" sz="1800" spc="-140">
                <a:latin typeface="Arial"/>
                <a:cs typeface="Arial"/>
              </a:rPr>
              <a:t>لام</a:t>
            </a:r>
            <a:r>
              <a:rPr dirty="0" baseline="-3086" sz="2700" spc="-209">
                <a:latin typeface="Arial"/>
                <a:cs typeface="Arial"/>
              </a:rPr>
              <a:t>َ </a:t>
            </a:r>
            <a:r>
              <a:rPr dirty="0" sz="1800" spc="-434">
                <a:latin typeface="Arial"/>
                <a:cs typeface="Arial"/>
              </a:rPr>
              <a:t>ل</a:t>
            </a:r>
            <a:r>
              <a:rPr dirty="0" baseline="12345" sz="2700" spc="-652">
                <a:latin typeface="Arial"/>
                <a:cs typeface="Arial"/>
              </a:rPr>
              <a:t>ْ </a:t>
            </a:r>
            <a:r>
              <a:rPr dirty="0" sz="1800" spc="-270">
                <a:latin typeface="Arial"/>
                <a:cs typeface="Arial"/>
              </a:rPr>
              <a:t>ِل </a:t>
            </a:r>
            <a:r>
              <a:rPr dirty="0" sz="1800" spc="-455">
                <a:latin typeface="Arial"/>
                <a:cs typeface="Arial"/>
              </a:rPr>
              <a:t>ك</a:t>
            </a:r>
            <a:r>
              <a:rPr dirty="0" baseline="-3086" sz="2700" spc="-682">
                <a:latin typeface="Arial"/>
                <a:cs typeface="Arial"/>
              </a:rPr>
              <a:t>َ </a:t>
            </a:r>
            <a:r>
              <a:rPr dirty="0" sz="1800" spc="-405">
                <a:latin typeface="Arial"/>
                <a:cs typeface="Arial"/>
              </a:rPr>
              <a:t>بُّ </a:t>
            </a:r>
            <a:r>
              <a:rPr dirty="0" sz="1800" spc="-330">
                <a:latin typeface="Arial"/>
                <a:cs typeface="Arial"/>
              </a:rPr>
              <a:t>ر</a:t>
            </a:r>
            <a:r>
              <a:rPr dirty="0" baseline="-3086" sz="2700" spc="-494">
                <a:latin typeface="Arial"/>
                <a:cs typeface="Arial"/>
              </a:rPr>
              <a:t>َ </a:t>
            </a:r>
            <a:r>
              <a:rPr dirty="0" sz="1800" spc="-409">
                <a:latin typeface="Arial"/>
                <a:cs typeface="Arial"/>
              </a:rPr>
              <a:t>ل</a:t>
            </a:r>
            <a:r>
              <a:rPr dirty="0" baseline="-3086" sz="2700" spc="-615">
                <a:latin typeface="Arial"/>
                <a:cs typeface="Arial"/>
              </a:rPr>
              <a:t>َ </a:t>
            </a:r>
            <a:r>
              <a:rPr dirty="0" sz="1800" spc="-325">
                <a:latin typeface="Arial"/>
                <a:cs typeface="Arial"/>
              </a:rPr>
              <a:t>اق</a:t>
            </a:r>
            <a:r>
              <a:rPr dirty="0" baseline="6172" sz="2700" spc="-487">
                <a:latin typeface="Arial"/>
                <a:cs typeface="Arial"/>
              </a:rPr>
              <a:t>َ </a:t>
            </a:r>
            <a:r>
              <a:rPr dirty="0" sz="1800" spc="-190">
                <a:latin typeface="Arial"/>
                <a:cs typeface="Arial"/>
              </a:rPr>
              <a:t>ذ</a:t>
            </a:r>
            <a:r>
              <a:rPr dirty="0" baseline="13888" sz="2700" spc="-284">
                <a:latin typeface="Arial"/>
                <a:cs typeface="Arial"/>
              </a:rPr>
              <a:t>ْ</a:t>
            </a:r>
            <a:r>
              <a:rPr dirty="0" baseline="13888" sz="2700" spc="-382">
                <a:latin typeface="Arial"/>
                <a:cs typeface="Arial"/>
              </a:rPr>
              <a:t> </a:t>
            </a:r>
            <a:r>
              <a:rPr dirty="0" baseline="-12345" sz="2700" spc="-209">
                <a:latin typeface="Arial"/>
                <a:cs typeface="Arial"/>
              </a:rPr>
              <a:t>ِ</a:t>
            </a:r>
            <a:r>
              <a:rPr dirty="0" sz="1800" spc="-140">
                <a:latin typeface="Arial"/>
                <a:cs typeface="Arial"/>
              </a:rPr>
              <a:t>إو</a:t>
            </a:r>
            <a:endParaRPr sz="1800">
              <a:latin typeface="Arial"/>
              <a:cs typeface="Arial"/>
            </a:endParaRPr>
          </a:p>
          <a:p>
            <a:pPr algn="r" marR="157480">
              <a:lnSpc>
                <a:spcPts val="2130"/>
              </a:lnSpc>
            </a:pPr>
            <a:r>
              <a:rPr dirty="0" baseline="1543" sz="2700" spc="-509">
                <a:latin typeface="Arial"/>
                <a:cs typeface="Arial"/>
              </a:rPr>
              <a:t>ن</a:t>
            </a:r>
            <a:r>
              <a:rPr dirty="0" baseline="-1543" sz="2700" spc="-509">
                <a:latin typeface="Arial"/>
                <a:cs typeface="Arial"/>
              </a:rPr>
              <a:t>َ </a:t>
            </a:r>
            <a:r>
              <a:rPr dirty="0" baseline="1543" sz="2700" spc="-270">
                <a:latin typeface="Arial"/>
                <a:cs typeface="Arial"/>
              </a:rPr>
              <a:t>ومُ </a:t>
            </a:r>
            <a:r>
              <a:rPr dirty="0" baseline="9259" sz="2700" spc="-487">
                <a:latin typeface="Arial"/>
                <a:cs typeface="Arial"/>
              </a:rPr>
              <a:t>َ</a:t>
            </a:r>
            <a:r>
              <a:rPr dirty="0" baseline="1543" sz="2700" spc="-487">
                <a:latin typeface="Arial"/>
                <a:cs typeface="Arial"/>
              </a:rPr>
              <a:t>لعْ </a:t>
            </a:r>
            <a:r>
              <a:rPr dirty="0" baseline="1543" sz="2700" spc="-892">
                <a:latin typeface="Arial"/>
                <a:cs typeface="Arial"/>
              </a:rPr>
              <a:t>ت</a:t>
            </a:r>
            <a:r>
              <a:rPr dirty="0" baseline="6172" sz="2700" spc="-892">
                <a:latin typeface="Arial"/>
                <a:cs typeface="Arial"/>
              </a:rPr>
              <a:t>َ</a:t>
            </a:r>
            <a:r>
              <a:rPr dirty="0" baseline="6172" sz="2700" spc="487">
                <a:latin typeface="Arial"/>
                <a:cs typeface="Arial"/>
              </a:rPr>
              <a:t> </a:t>
            </a:r>
            <a:r>
              <a:rPr dirty="0" baseline="7716" sz="2700" spc="-157">
                <a:latin typeface="Arial"/>
                <a:cs typeface="Arial"/>
              </a:rPr>
              <a:t>َ</a:t>
            </a:r>
            <a:r>
              <a:rPr dirty="0" baseline="1543" sz="2700" spc="-157">
                <a:latin typeface="Arial"/>
                <a:cs typeface="Arial"/>
              </a:rPr>
              <a:t>لا </a:t>
            </a:r>
            <a:r>
              <a:rPr dirty="0" baseline="1543" sz="2700" spc="-225">
                <a:latin typeface="Arial"/>
                <a:cs typeface="Arial"/>
              </a:rPr>
              <a:t>ام</a:t>
            </a:r>
            <a:r>
              <a:rPr dirty="0" baseline="-1543" sz="2700" spc="-225">
                <a:latin typeface="Arial"/>
                <a:cs typeface="Arial"/>
              </a:rPr>
              <a:t>َ </a:t>
            </a:r>
            <a:r>
              <a:rPr dirty="0" baseline="1543" sz="2700" spc="-427">
                <a:latin typeface="Arial"/>
                <a:cs typeface="Arial"/>
              </a:rPr>
              <a:t>م</a:t>
            </a:r>
            <a:r>
              <a:rPr dirty="0" baseline="-4629" sz="2700" spc="-427">
                <a:latin typeface="Arial"/>
                <a:cs typeface="Arial"/>
              </a:rPr>
              <a:t>ُ </a:t>
            </a:r>
            <a:r>
              <a:rPr dirty="0" baseline="9259" sz="2700" spc="-487">
                <a:latin typeface="Arial"/>
                <a:cs typeface="Arial"/>
              </a:rPr>
              <a:t>َ</a:t>
            </a:r>
            <a:r>
              <a:rPr dirty="0" baseline="1543" sz="2700" spc="-487">
                <a:latin typeface="Arial"/>
                <a:cs typeface="Arial"/>
              </a:rPr>
              <a:t>لعْ </a:t>
            </a:r>
            <a:r>
              <a:rPr dirty="0" baseline="15432" sz="2700">
                <a:latin typeface="Arial"/>
                <a:cs typeface="Arial"/>
              </a:rPr>
              <a:t>َ</a:t>
            </a:r>
            <a:r>
              <a:rPr dirty="0" baseline="1543" sz="2700">
                <a:latin typeface="Arial"/>
                <a:cs typeface="Arial"/>
              </a:rPr>
              <a:t>أ ً</a:t>
            </a:r>
            <a:r>
              <a:rPr dirty="0" baseline="7716" sz="2700">
                <a:latin typeface="Arial"/>
                <a:cs typeface="Arial"/>
              </a:rPr>
              <a:t>ۤ </a:t>
            </a:r>
            <a:r>
              <a:rPr dirty="0" baseline="1543" sz="2700" spc="-450">
                <a:latin typeface="Arial"/>
                <a:cs typeface="Arial"/>
              </a:rPr>
              <a:t>ن</a:t>
            </a:r>
            <a:r>
              <a:rPr dirty="0" baseline="9259" sz="2700" spc="-450">
                <a:latin typeface="Arial"/>
                <a:cs typeface="Arial"/>
              </a:rPr>
              <a:t>ِّ </a:t>
            </a:r>
            <a:r>
              <a:rPr dirty="0" baseline="-12345" sz="2700">
                <a:latin typeface="Arial"/>
                <a:cs typeface="Arial"/>
              </a:rPr>
              <a:t>ِ</a:t>
            </a:r>
            <a:r>
              <a:rPr dirty="0" baseline="1543" sz="2700">
                <a:latin typeface="Arial"/>
                <a:cs typeface="Arial"/>
              </a:rPr>
              <a:t>إ </a:t>
            </a:r>
            <a:r>
              <a:rPr dirty="0" baseline="1543" sz="2700" spc="-615">
                <a:latin typeface="Arial"/>
                <a:cs typeface="Arial"/>
              </a:rPr>
              <a:t>ل</a:t>
            </a:r>
            <a:r>
              <a:rPr dirty="0" baseline="-1543" sz="2700" spc="-615">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spc="-682">
                <a:latin typeface="Arial"/>
                <a:cs typeface="Arial"/>
              </a:rPr>
              <a:t>ك</a:t>
            </a:r>
            <a:r>
              <a:rPr dirty="0" baseline="-1543" sz="2700" spc="-682">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914">
                <a:latin typeface="Arial"/>
                <a:cs typeface="Arial"/>
              </a:rPr>
              <a:t>سُ</a:t>
            </a:r>
            <a:r>
              <a:rPr dirty="0" baseline="1543" sz="2700" spc="1072">
                <a:latin typeface="Arial"/>
                <a:cs typeface="Arial"/>
              </a:rPr>
              <a:t> </a:t>
            </a:r>
            <a:r>
              <a:rPr dirty="0" baseline="1543" sz="2700" spc="-232">
                <a:latin typeface="Arial"/>
                <a:cs typeface="Arial"/>
              </a:rPr>
              <a:t>د</a:t>
            </a:r>
            <a:r>
              <a:rPr dirty="0" baseline="4629" sz="2700" spc="-232">
                <a:latin typeface="Arial"/>
                <a:cs typeface="Arial"/>
              </a:rPr>
              <a:t>ِّ </a:t>
            </a:r>
            <a:r>
              <a:rPr dirty="0" baseline="1543" sz="2700" spc="-750">
                <a:latin typeface="Arial"/>
                <a:cs typeface="Arial"/>
              </a:rPr>
              <a:t>ق</a:t>
            </a:r>
            <a:r>
              <a:rPr dirty="0" baseline="6172" sz="2700" spc="-750">
                <a:latin typeface="Arial"/>
                <a:cs typeface="Arial"/>
              </a:rPr>
              <a:t>َ</a:t>
            </a:r>
            <a:r>
              <a:rPr dirty="0" baseline="1543" sz="2700" spc="-682">
                <a:latin typeface="Arial"/>
                <a:cs typeface="Arial"/>
              </a:rPr>
              <a:t>ن</a:t>
            </a:r>
            <a:r>
              <a:rPr dirty="0" baseline="9259" sz="2700" spc="-682">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682">
                <a:latin typeface="Arial"/>
                <a:cs typeface="Arial"/>
              </a:rPr>
              <a:t>ك</a:t>
            </a:r>
            <a:r>
              <a:rPr dirty="0" baseline="-1543" sz="2700" spc="-682">
                <a:latin typeface="Arial"/>
                <a:cs typeface="Arial"/>
              </a:rPr>
              <a:t>َ </a:t>
            </a:r>
            <a:r>
              <a:rPr dirty="0" baseline="1543" sz="2700" spc="-352">
                <a:latin typeface="Arial"/>
                <a:cs typeface="Arial"/>
              </a:rPr>
              <a:t>د</a:t>
            </a:r>
            <a:r>
              <a:rPr dirty="0" sz="1800" spc="-235">
                <a:latin typeface="Arial"/>
                <a:cs typeface="Arial"/>
              </a:rPr>
              <a:t>ِ </a:t>
            </a:r>
            <a:r>
              <a:rPr dirty="0" baseline="1543" sz="2700" spc="-322">
                <a:latin typeface="Arial"/>
                <a:cs typeface="Arial"/>
              </a:rPr>
              <a:t>مْ </a:t>
            </a:r>
            <a:r>
              <a:rPr dirty="0" baseline="1543" sz="2700" spc="-592">
                <a:latin typeface="Arial"/>
                <a:cs typeface="Arial"/>
              </a:rPr>
              <a:t>ح</a:t>
            </a:r>
            <a:r>
              <a:rPr dirty="0" baseline="-1543" sz="2700" spc="-592">
                <a:latin typeface="Arial"/>
                <a:cs typeface="Arial"/>
              </a:rPr>
              <a:t>َ </a:t>
            </a:r>
            <a:r>
              <a:rPr dirty="0" baseline="1543" sz="2700" spc="-960">
                <a:latin typeface="Arial"/>
                <a:cs typeface="Arial"/>
              </a:rPr>
              <a:t>ب</a:t>
            </a:r>
            <a:r>
              <a:rPr dirty="0" baseline="-12345" sz="2700" spc="-960">
                <a:latin typeface="Arial"/>
                <a:cs typeface="Arial"/>
              </a:rPr>
              <a:t>ِ</a:t>
            </a:r>
            <a:r>
              <a:rPr dirty="0" baseline="-12345" sz="2700" spc="630">
                <a:latin typeface="Arial"/>
                <a:cs typeface="Arial"/>
              </a:rPr>
              <a:t> </a:t>
            </a:r>
            <a:r>
              <a:rPr dirty="0" baseline="1543" sz="2700" spc="-667">
                <a:latin typeface="Arial"/>
                <a:cs typeface="Arial"/>
              </a:rPr>
              <a:t>حُ  </a:t>
            </a:r>
            <a:r>
              <a:rPr dirty="0" baseline="1543" sz="2700" spc="-607">
                <a:latin typeface="Arial"/>
                <a:cs typeface="Arial"/>
              </a:rPr>
              <a:t>بِّ </a:t>
            </a:r>
            <a:r>
              <a:rPr dirty="0" baseline="1543" sz="2700" spc="-989">
                <a:latin typeface="Arial"/>
                <a:cs typeface="Arial"/>
              </a:rPr>
              <a:t>س</a:t>
            </a:r>
            <a:r>
              <a:rPr dirty="0" baseline="-1543" sz="2700" spc="-989">
                <a:latin typeface="Arial"/>
                <a:cs typeface="Arial"/>
              </a:rPr>
              <a:t>َ</a:t>
            </a:r>
            <a:r>
              <a:rPr dirty="0" baseline="-1543" sz="2700" spc="419">
                <a:latin typeface="Arial"/>
                <a:cs typeface="Arial"/>
              </a:rPr>
              <a:t> </a:t>
            </a:r>
            <a:r>
              <a:rPr dirty="0" baseline="1543" sz="2700" spc="-682">
                <a:latin typeface="Arial"/>
                <a:cs typeface="Arial"/>
              </a:rPr>
              <a:t>ن</a:t>
            </a:r>
            <a:r>
              <a:rPr dirty="0" baseline="9259" sz="2700" spc="-682">
                <a:latin typeface="Arial"/>
                <a:cs typeface="Arial"/>
              </a:rPr>
              <a:t>ُ </a:t>
            </a:r>
            <a:r>
              <a:rPr dirty="0" baseline="1543" sz="2700" spc="-532">
                <a:latin typeface="Arial"/>
                <a:cs typeface="Arial"/>
              </a:rPr>
              <a:t>نُ </a:t>
            </a:r>
            <a:r>
              <a:rPr dirty="0" baseline="1543" sz="2700" spc="-555">
                <a:latin typeface="Arial"/>
                <a:cs typeface="Arial"/>
              </a:rPr>
              <a:t>حْ </a:t>
            </a:r>
            <a:r>
              <a:rPr dirty="0" baseline="1543" sz="2700" spc="-644">
                <a:latin typeface="Arial"/>
                <a:cs typeface="Arial"/>
              </a:rPr>
              <a:t>ن</a:t>
            </a:r>
            <a:r>
              <a:rPr dirty="0" baseline="6172" sz="2700" spc="-644">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465">
                <a:latin typeface="Arial"/>
                <a:cs typeface="Arial"/>
              </a:rPr>
              <a:t>ء</a:t>
            </a:r>
            <a:r>
              <a:rPr dirty="0" baseline="-1543" sz="2700" spc="-465">
                <a:latin typeface="Arial"/>
                <a:cs typeface="Arial"/>
              </a:rPr>
              <a:t>َ  </a:t>
            </a:r>
            <a:r>
              <a:rPr dirty="0" baseline="1543" sz="2700" spc="-225">
                <a:latin typeface="Arial"/>
                <a:cs typeface="Arial"/>
              </a:rPr>
              <a:t>آم</a:t>
            </a:r>
            <a:r>
              <a:rPr dirty="0" baseline="-1543" sz="2700" spc="-225">
                <a:latin typeface="Arial"/>
                <a:cs typeface="Arial"/>
              </a:rPr>
              <a:t>َ </a:t>
            </a:r>
            <a:r>
              <a:rPr dirty="0" baseline="1543" sz="2700" spc="-232">
                <a:latin typeface="Arial"/>
                <a:cs typeface="Arial"/>
              </a:rPr>
              <a:t>د</a:t>
            </a:r>
            <a:r>
              <a:rPr dirty="0" baseline="4629" sz="2700" spc="-232">
                <a:latin typeface="Arial"/>
                <a:cs typeface="Arial"/>
              </a:rPr>
              <a:t>ِّ</a:t>
            </a:r>
            <a:r>
              <a:rPr dirty="0" baseline="4629" sz="2700" spc="-209">
                <a:latin typeface="Arial"/>
                <a:cs typeface="Arial"/>
              </a:rPr>
              <a:t> </a:t>
            </a:r>
            <a:r>
              <a:rPr dirty="0" baseline="1543" sz="2700" spc="-412">
                <a:latin typeface="Arial"/>
                <a:cs typeface="Arial"/>
              </a:rPr>
              <a:t>لٱ</a:t>
            </a:r>
            <a:endParaRPr baseline="1543" sz="2700">
              <a:latin typeface="Arial"/>
              <a:cs typeface="Arial"/>
            </a:endParaRPr>
          </a:p>
          <a:p>
            <a:pPr algn="just" marL="139700" marR="161290">
              <a:lnSpc>
                <a:spcPts val="1380"/>
              </a:lnSpc>
              <a:spcBef>
                <a:spcPts val="1380"/>
              </a:spcBef>
            </a:pPr>
            <a:r>
              <a:rPr dirty="0" sz="1200" spc="-5">
                <a:latin typeface="Arial"/>
                <a:cs typeface="Arial"/>
              </a:rPr>
              <a:t>30. And when </a:t>
            </a:r>
            <a:r>
              <a:rPr dirty="0" sz="1200">
                <a:latin typeface="Arial"/>
                <a:cs typeface="Arial"/>
              </a:rPr>
              <a:t>thy </a:t>
            </a:r>
            <a:r>
              <a:rPr dirty="0" sz="1200" spc="-5">
                <a:latin typeface="Arial"/>
                <a:cs typeface="Arial"/>
              </a:rPr>
              <a:t>Lord said unto </a:t>
            </a:r>
            <a:r>
              <a:rPr dirty="0" sz="1200">
                <a:latin typeface="Arial"/>
                <a:cs typeface="Arial"/>
              </a:rPr>
              <a:t>the </a:t>
            </a:r>
            <a:r>
              <a:rPr dirty="0" sz="1200" spc="-5">
                <a:latin typeface="Arial"/>
                <a:cs typeface="Arial"/>
              </a:rPr>
              <a:t>angels: Lo! </a:t>
            </a:r>
            <a:r>
              <a:rPr dirty="0" sz="1200">
                <a:latin typeface="Arial"/>
                <a:cs typeface="Arial"/>
              </a:rPr>
              <a:t>I </a:t>
            </a:r>
            <a:r>
              <a:rPr dirty="0" sz="1200" spc="-10">
                <a:latin typeface="Arial"/>
                <a:cs typeface="Arial"/>
              </a:rPr>
              <a:t>am </a:t>
            </a:r>
            <a:r>
              <a:rPr dirty="0" sz="1200" spc="-5">
                <a:latin typeface="Arial"/>
                <a:cs typeface="Arial"/>
              </a:rPr>
              <a:t>about </a:t>
            </a:r>
            <a:r>
              <a:rPr dirty="0" sz="1200">
                <a:latin typeface="Arial"/>
                <a:cs typeface="Arial"/>
              </a:rPr>
              <a:t>to </a:t>
            </a:r>
            <a:r>
              <a:rPr dirty="0" sz="1200" spc="-5">
                <a:latin typeface="Arial"/>
                <a:cs typeface="Arial"/>
              </a:rPr>
              <a:t>place a viceroy in </a:t>
            </a:r>
            <a:r>
              <a:rPr dirty="0" sz="1200">
                <a:latin typeface="Arial"/>
                <a:cs typeface="Arial"/>
              </a:rPr>
              <a:t>the </a:t>
            </a:r>
            <a:r>
              <a:rPr dirty="0" sz="1200" spc="-5">
                <a:latin typeface="Arial"/>
                <a:cs typeface="Arial"/>
              </a:rPr>
              <a:t>earth,  </a:t>
            </a:r>
            <a:r>
              <a:rPr dirty="0" sz="1200">
                <a:latin typeface="Arial"/>
                <a:cs typeface="Arial"/>
              </a:rPr>
              <a:t>they </a:t>
            </a:r>
            <a:r>
              <a:rPr dirty="0" sz="1200" spc="-5">
                <a:latin typeface="Arial"/>
                <a:cs typeface="Arial"/>
              </a:rPr>
              <a:t>said: </a:t>
            </a:r>
            <a:r>
              <a:rPr dirty="0" sz="1200" spc="-10">
                <a:latin typeface="Arial"/>
                <a:cs typeface="Arial"/>
              </a:rPr>
              <a:t>wilt </a:t>
            </a:r>
            <a:r>
              <a:rPr dirty="0" sz="1200">
                <a:latin typeface="Arial"/>
                <a:cs typeface="Arial"/>
              </a:rPr>
              <a:t>Thou </a:t>
            </a:r>
            <a:r>
              <a:rPr dirty="0" sz="1200" spc="-5">
                <a:latin typeface="Arial"/>
                <a:cs typeface="Arial"/>
              </a:rPr>
              <a:t>place therein one </a:t>
            </a:r>
            <a:r>
              <a:rPr dirty="0" sz="1200" spc="-10">
                <a:latin typeface="Arial"/>
                <a:cs typeface="Arial"/>
              </a:rPr>
              <a:t>who </a:t>
            </a:r>
            <a:r>
              <a:rPr dirty="0" sz="1200" spc="-5">
                <a:latin typeface="Arial"/>
                <a:cs typeface="Arial"/>
              </a:rPr>
              <a:t>will do </a:t>
            </a:r>
            <a:r>
              <a:rPr dirty="0" sz="1200" spc="-10">
                <a:latin typeface="Arial"/>
                <a:cs typeface="Arial"/>
              </a:rPr>
              <a:t>harm </a:t>
            </a:r>
            <a:r>
              <a:rPr dirty="0" sz="1200" spc="-5">
                <a:latin typeface="Arial"/>
                <a:cs typeface="Arial"/>
              </a:rPr>
              <a:t>therein and will shed blood, while </a:t>
            </a:r>
            <a:r>
              <a:rPr dirty="0" sz="1200" spc="-10">
                <a:latin typeface="Arial"/>
                <a:cs typeface="Arial"/>
              </a:rPr>
              <a:t>we,  we </a:t>
            </a:r>
            <a:r>
              <a:rPr dirty="0" sz="1200" spc="-5">
                <a:latin typeface="Arial"/>
                <a:cs typeface="Arial"/>
              </a:rPr>
              <a:t>hymn </a:t>
            </a:r>
            <a:r>
              <a:rPr dirty="0" sz="1200">
                <a:latin typeface="Arial"/>
                <a:cs typeface="Arial"/>
              </a:rPr>
              <a:t>Thy praise </a:t>
            </a:r>
            <a:r>
              <a:rPr dirty="0" sz="1200" spc="-5">
                <a:latin typeface="Arial"/>
                <a:cs typeface="Arial"/>
              </a:rPr>
              <a:t>and sanctify Thee? He said: Surely </a:t>
            </a:r>
            <a:r>
              <a:rPr dirty="0" sz="1200">
                <a:latin typeface="Arial"/>
                <a:cs typeface="Arial"/>
              </a:rPr>
              <a:t>I know that </a:t>
            </a:r>
            <a:r>
              <a:rPr dirty="0" sz="1200" spc="-5">
                <a:latin typeface="Arial"/>
                <a:cs typeface="Arial"/>
              </a:rPr>
              <a:t>which </a:t>
            </a:r>
            <a:r>
              <a:rPr dirty="0" sz="1200" spc="-10">
                <a:latin typeface="Arial"/>
                <a:cs typeface="Arial"/>
              </a:rPr>
              <a:t>ye </a:t>
            </a:r>
            <a:r>
              <a:rPr dirty="0" sz="1200">
                <a:latin typeface="Arial"/>
                <a:cs typeface="Arial"/>
              </a:rPr>
              <a:t>know</a:t>
            </a:r>
            <a:r>
              <a:rPr dirty="0" sz="1200" spc="25">
                <a:latin typeface="Arial"/>
                <a:cs typeface="Arial"/>
              </a:rPr>
              <a:t> </a:t>
            </a:r>
            <a:r>
              <a:rPr dirty="0" sz="1200">
                <a:latin typeface="Arial"/>
                <a:cs typeface="Arial"/>
              </a:rPr>
              <a:t>not.</a:t>
            </a:r>
            <a:endParaRPr sz="1200">
              <a:latin typeface="Arial"/>
              <a:cs typeface="Arial"/>
            </a:endParaRPr>
          </a:p>
          <a:p>
            <a:pPr>
              <a:lnSpc>
                <a:spcPct val="100000"/>
              </a:lnSpc>
              <a:spcBef>
                <a:spcPts val="25"/>
              </a:spcBef>
            </a:pPr>
            <a:endParaRPr sz="1150">
              <a:latin typeface="Arial"/>
              <a:cs typeface="Arial"/>
            </a:endParaRPr>
          </a:p>
          <a:p>
            <a:pPr marL="805815">
              <a:lnSpc>
                <a:spcPct val="100000"/>
              </a:lnSpc>
            </a:pPr>
            <a:r>
              <a:rPr dirty="0" baseline="3086" sz="2700" spc="-494">
                <a:latin typeface="Arial"/>
                <a:cs typeface="Arial"/>
              </a:rPr>
              <a:t>ن</a:t>
            </a:r>
            <a:r>
              <a:rPr dirty="0" sz="1800" spc="-330">
                <a:latin typeface="Arial"/>
                <a:cs typeface="Arial"/>
              </a:rPr>
              <a:t>َ </a:t>
            </a:r>
            <a:r>
              <a:rPr dirty="0" baseline="3086" sz="2700" spc="-307">
                <a:latin typeface="Arial"/>
                <a:cs typeface="Arial"/>
              </a:rPr>
              <a:t>ٌر</a:t>
            </a:r>
            <a:r>
              <a:rPr dirty="0" baseline="-10802" sz="2700" spc="-307">
                <a:latin typeface="Arial"/>
                <a:cs typeface="Arial"/>
              </a:rPr>
              <a:t>ِ </a:t>
            </a:r>
            <a:r>
              <a:rPr dirty="0" baseline="3086" sz="2700" spc="-1057">
                <a:latin typeface="Arial"/>
                <a:cs typeface="Arial"/>
              </a:rPr>
              <a:t>ف</a:t>
            </a:r>
            <a:r>
              <a:rPr dirty="0" baseline="1543" sz="2700" spc="-1057">
                <a:latin typeface="Arial"/>
                <a:cs typeface="Arial"/>
              </a:rPr>
              <a:t>ِ</a:t>
            </a:r>
            <a:r>
              <a:rPr dirty="0" baseline="1543" sz="2700" spc="-52">
                <a:latin typeface="Arial"/>
                <a:cs typeface="Arial"/>
              </a:rPr>
              <a:t> </a:t>
            </a:r>
            <a:r>
              <a:rPr dirty="0" baseline="3086" sz="2700" spc="-465">
                <a:latin typeface="Arial"/>
                <a:cs typeface="Arial"/>
              </a:rPr>
              <a:t>اك</a:t>
            </a:r>
            <a:r>
              <a:rPr dirty="0" baseline="7716" sz="2700" spc="-46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494">
                <a:latin typeface="Arial"/>
                <a:cs typeface="Arial"/>
              </a:rPr>
              <a:t>ن</a:t>
            </a:r>
            <a:r>
              <a:rPr dirty="0" sz="1800" spc="-330">
                <a:latin typeface="Arial"/>
                <a:cs typeface="Arial"/>
              </a:rPr>
              <a:t>َ </a:t>
            </a:r>
            <a:r>
              <a:rPr dirty="0" baseline="3086" sz="2700" spc="-472">
                <a:latin typeface="Arial"/>
                <a:cs typeface="Arial"/>
              </a:rPr>
              <a:t>اك</a:t>
            </a:r>
            <a:r>
              <a:rPr dirty="0" baseline="7716" sz="2700" spc="-472">
                <a:latin typeface="Arial"/>
                <a:cs typeface="Arial"/>
              </a:rPr>
              <a:t>َ </a:t>
            </a:r>
            <a:r>
              <a:rPr dirty="0" baseline="3086" sz="2700" spc="-307">
                <a:latin typeface="Arial"/>
                <a:cs typeface="Arial"/>
              </a:rPr>
              <a:t>و</a:t>
            </a:r>
            <a:r>
              <a:rPr dirty="0" sz="1800" spc="-204">
                <a:latin typeface="Arial"/>
                <a:cs typeface="Arial"/>
              </a:rPr>
              <a:t>َ </a:t>
            </a:r>
            <a:r>
              <a:rPr dirty="0" baseline="3086" sz="2700" spc="-494">
                <a:latin typeface="Arial"/>
                <a:cs typeface="Arial"/>
              </a:rPr>
              <a:t>ر</a:t>
            </a:r>
            <a:r>
              <a:rPr dirty="0" sz="1800" spc="-330">
                <a:latin typeface="Arial"/>
                <a:cs typeface="Arial"/>
              </a:rPr>
              <a:t>َ </a:t>
            </a:r>
            <a:r>
              <a:rPr dirty="0" baseline="3086" sz="2700" spc="-892">
                <a:latin typeface="Arial"/>
                <a:cs typeface="Arial"/>
              </a:rPr>
              <a:t>ب</a:t>
            </a:r>
            <a:r>
              <a:rPr dirty="0" sz="1800" spc="-595">
                <a:latin typeface="Arial"/>
                <a:cs typeface="Arial"/>
              </a:rPr>
              <a:t>َ</a:t>
            </a:r>
            <a:r>
              <a:rPr dirty="0" sz="1800" spc="-150">
                <a:latin typeface="Arial"/>
                <a:cs typeface="Arial"/>
              </a:rPr>
              <a:t> </a:t>
            </a:r>
            <a:r>
              <a:rPr dirty="0" baseline="3086" sz="2700" spc="-682">
                <a:latin typeface="Arial"/>
                <a:cs typeface="Arial"/>
              </a:rPr>
              <a:t>ك</a:t>
            </a:r>
            <a:r>
              <a:rPr dirty="0" baseline="12345" sz="2700" spc="-682">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25">
                <a:latin typeface="Arial"/>
                <a:cs typeface="Arial"/>
              </a:rPr>
              <a:t> </a:t>
            </a:r>
            <a:r>
              <a:rPr dirty="0" baseline="3086" sz="2700" spc="-952">
                <a:latin typeface="Arial"/>
                <a:cs typeface="Arial"/>
              </a:rPr>
              <a:t>سْ</a:t>
            </a:r>
            <a:r>
              <a:rPr dirty="0" baseline="3086" sz="2700" spc="352">
                <a:latin typeface="Arial"/>
                <a:cs typeface="Arial"/>
              </a:rPr>
              <a:t> </a:t>
            </a:r>
            <a:r>
              <a:rPr dirty="0" baseline="3086" sz="2700" spc="-209">
                <a:latin typeface="Arial"/>
                <a:cs typeface="Arial"/>
              </a:rPr>
              <a:t>ٱو</a:t>
            </a:r>
            <a:r>
              <a:rPr dirty="0" sz="1800" spc="-140">
                <a:latin typeface="Arial"/>
                <a:cs typeface="Arial"/>
              </a:rPr>
              <a:t>َ </a:t>
            </a:r>
            <a:r>
              <a:rPr dirty="0" baseline="3086" sz="2700" spc="-532">
                <a:latin typeface="Arial"/>
                <a:cs typeface="Arial"/>
              </a:rPr>
              <a:t>ى</a:t>
            </a:r>
            <a:r>
              <a:rPr dirty="0" baseline="7716" sz="2700" spc="-532">
                <a:latin typeface="Arial"/>
                <a:cs typeface="Arial"/>
              </a:rPr>
              <a:t>ٰ </a:t>
            </a:r>
            <a:r>
              <a:rPr dirty="0" baseline="3086" sz="2700" spc="-892">
                <a:latin typeface="Arial"/>
                <a:cs typeface="Arial"/>
              </a:rPr>
              <a:t>ب</a:t>
            </a:r>
            <a:r>
              <a:rPr dirty="0" sz="1800" spc="-595">
                <a:latin typeface="Arial"/>
                <a:cs typeface="Arial"/>
              </a:rPr>
              <a:t>َ</a:t>
            </a:r>
            <a:r>
              <a:rPr dirty="0" sz="1800" spc="-175">
                <a:latin typeface="Arial"/>
                <a:cs typeface="Arial"/>
              </a:rPr>
              <a:t> </a:t>
            </a:r>
            <a:r>
              <a:rPr dirty="0" baseline="16975" sz="2700">
                <a:latin typeface="Arial"/>
                <a:cs typeface="Arial"/>
              </a:rPr>
              <a:t>َ</a:t>
            </a:r>
            <a:r>
              <a:rPr dirty="0" baseline="3086" sz="2700">
                <a:latin typeface="Arial"/>
                <a:cs typeface="Arial"/>
              </a:rPr>
              <a:t>أ </a:t>
            </a:r>
            <a:r>
              <a:rPr dirty="0" baseline="3086" sz="2700" spc="-877">
                <a:latin typeface="Arial"/>
                <a:cs typeface="Arial"/>
              </a:rPr>
              <a:t>س</a:t>
            </a:r>
            <a:r>
              <a:rPr dirty="0" sz="1800" spc="-585">
                <a:latin typeface="Arial"/>
                <a:cs typeface="Arial"/>
              </a:rPr>
              <a:t>َ</a:t>
            </a:r>
            <a:r>
              <a:rPr dirty="0" sz="1800" spc="670">
                <a:latin typeface="Arial"/>
                <a:cs typeface="Arial"/>
              </a:rPr>
              <a:t> </a:t>
            </a:r>
            <a:r>
              <a:rPr dirty="0" baseline="3086" sz="2700" spc="-509">
                <a:latin typeface="Arial"/>
                <a:cs typeface="Arial"/>
              </a:rPr>
              <a:t>ٌ</a:t>
            </a:r>
            <a:r>
              <a:rPr dirty="0" baseline="1543" sz="2700" spc="-509">
                <a:latin typeface="Arial"/>
                <a:cs typeface="Arial"/>
              </a:rPr>
              <a:t>ِ</a:t>
            </a:r>
            <a:r>
              <a:rPr dirty="0" baseline="3086" sz="2700" spc="-509">
                <a:latin typeface="Arial"/>
                <a:cs typeface="Arial"/>
              </a:rPr>
              <a:t>لبْ </a:t>
            </a:r>
            <a:r>
              <a:rPr dirty="0" baseline="-10802" sz="2700">
                <a:latin typeface="Arial"/>
                <a:cs typeface="Arial"/>
              </a:rPr>
              <a:t>ِ</a:t>
            </a:r>
            <a:r>
              <a:rPr dirty="0" baseline="3086" sz="2700">
                <a:latin typeface="Arial"/>
                <a:cs typeface="Arial"/>
              </a:rPr>
              <a:t>إ </a:t>
            </a:r>
            <a:r>
              <a:rPr dirty="0" baseline="12345" sz="2700" spc="-89">
                <a:latin typeface="Arial"/>
                <a:cs typeface="Arial"/>
              </a:rPr>
              <a:t>َّ</a:t>
            </a:r>
            <a:r>
              <a:rPr dirty="0" baseline="3086" sz="2700" spc="-89">
                <a:latin typeface="Arial"/>
                <a:cs typeface="Arial"/>
              </a:rPr>
              <a:t>لا</a:t>
            </a:r>
            <a:r>
              <a:rPr dirty="0" baseline="-10802" sz="2700" spc="-89">
                <a:latin typeface="Arial"/>
                <a:cs typeface="Arial"/>
              </a:rPr>
              <a:t>ِ</a:t>
            </a:r>
            <a:r>
              <a:rPr dirty="0" baseline="3086" sz="2700" spc="-89">
                <a:latin typeface="Arial"/>
                <a:cs typeface="Arial"/>
              </a:rPr>
              <a:t>إ </a:t>
            </a:r>
            <a:r>
              <a:rPr dirty="0" baseline="3086" sz="2700" spc="-262">
                <a:latin typeface="Arial"/>
                <a:cs typeface="Arial"/>
              </a:rPr>
              <a:t>ا</a:t>
            </a:r>
            <a:r>
              <a:rPr dirty="0" baseline="10802" sz="2700" spc="-262">
                <a:latin typeface="Arial"/>
                <a:cs typeface="Arial"/>
              </a:rPr>
              <a:t>ْ </a:t>
            </a:r>
            <a:r>
              <a:rPr dirty="0" baseline="3086" sz="2700" spc="-240">
                <a:latin typeface="Arial"/>
                <a:cs typeface="Arial"/>
              </a:rPr>
              <a:t>ود</a:t>
            </a:r>
            <a:r>
              <a:rPr dirty="0" baseline="6172" sz="2700" spc="-240">
                <a:latin typeface="Arial"/>
                <a:cs typeface="Arial"/>
              </a:rPr>
              <a:t>ُ </a:t>
            </a:r>
            <a:r>
              <a:rPr dirty="0" baseline="3086" sz="2700" spc="-592">
                <a:latin typeface="Arial"/>
                <a:cs typeface="Arial"/>
              </a:rPr>
              <a:t>ج</a:t>
            </a:r>
            <a:r>
              <a:rPr dirty="0" sz="1800" spc="-395">
                <a:latin typeface="Arial"/>
                <a:cs typeface="Arial"/>
              </a:rPr>
              <a:t>َ </a:t>
            </a:r>
            <a:r>
              <a:rPr dirty="0" baseline="3086" sz="2700" spc="-982">
                <a:latin typeface="Arial"/>
                <a:cs typeface="Arial"/>
              </a:rPr>
              <a:t>س</a:t>
            </a:r>
            <a:r>
              <a:rPr dirty="0" sz="1800" spc="-655">
                <a:latin typeface="Arial"/>
                <a:cs typeface="Arial"/>
              </a:rPr>
              <a:t>َ</a:t>
            </a:r>
            <a:r>
              <a:rPr dirty="0" sz="1800" spc="280">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67">
                <a:latin typeface="Arial"/>
                <a:cs typeface="Arial"/>
              </a:rPr>
              <a:t> </a:t>
            </a:r>
            <a:r>
              <a:rPr dirty="0" baseline="3086" sz="2700" spc="-390">
                <a:latin typeface="Arial"/>
                <a:cs typeface="Arial"/>
              </a:rPr>
              <a:t>م</a:t>
            </a:r>
            <a:r>
              <a:rPr dirty="0" baseline="-6172" sz="2700" spc="-390">
                <a:latin typeface="Arial"/>
                <a:cs typeface="Arial"/>
              </a:rPr>
              <a:t>َ </a:t>
            </a:r>
            <a:r>
              <a:rPr dirty="0" baseline="3086" sz="2700" spc="-330">
                <a:latin typeface="Arial"/>
                <a:cs typeface="Arial"/>
              </a:rPr>
              <a:t>دَ </a:t>
            </a:r>
            <a:r>
              <a:rPr dirty="0" baseline="16975" sz="2700" spc="-157">
                <a:latin typeface="Arial"/>
                <a:cs typeface="Arial"/>
              </a:rPr>
              <a:t>َ</a:t>
            </a:r>
            <a:r>
              <a:rPr dirty="0" baseline="3086" sz="2700" spc="-157">
                <a:latin typeface="Arial"/>
                <a:cs typeface="Arial"/>
              </a:rPr>
              <a:t>لأ </a:t>
            </a:r>
            <a:r>
              <a:rPr dirty="0" baseline="3086" sz="2700" spc="-262">
                <a:latin typeface="Arial"/>
                <a:cs typeface="Arial"/>
              </a:rPr>
              <a:t>ا</a:t>
            </a:r>
            <a:r>
              <a:rPr dirty="0" baseline="10802" sz="2700" spc="-262">
                <a:latin typeface="Arial"/>
                <a:cs typeface="Arial"/>
              </a:rPr>
              <a:t>ْ </a:t>
            </a:r>
            <a:r>
              <a:rPr dirty="0" baseline="3086" sz="2700" spc="-247">
                <a:latin typeface="Arial"/>
                <a:cs typeface="Arial"/>
              </a:rPr>
              <a:t>ود</a:t>
            </a:r>
            <a:r>
              <a:rPr dirty="0" baseline="6172" sz="2700" spc="-247">
                <a:latin typeface="Arial"/>
                <a:cs typeface="Arial"/>
              </a:rPr>
              <a:t>ُ </a:t>
            </a:r>
            <a:r>
              <a:rPr dirty="0" baseline="3086" sz="2700" spc="-630">
                <a:latin typeface="Arial"/>
                <a:cs typeface="Arial"/>
              </a:rPr>
              <a:t>جُ </a:t>
            </a:r>
            <a:r>
              <a:rPr dirty="0" baseline="3086" sz="2700" spc="-944">
                <a:latin typeface="Arial"/>
                <a:cs typeface="Arial"/>
              </a:rPr>
              <a:t>سْ</a:t>
            </a:r>
            <a:r>
              <a:rPr dirty="0" baseline="3086" sz="2700" spc="352">
                <a:latin typeface="Arial"/>
                <a:cs typeface="Arial"/>
              </a:rPr>
              <a:t> </a:t>
            </a:r>
            <a:r>
              <a:rPr dirty="0" baseline="3086" sz="2700">
                <a:latin typeface="Arial"/>
                <a:cs typeface="Arial"/>
              </a:rPr>
              <a:t>ٱ </a:t>
            </a:r>
            <a:r>
              <a:rPr dirty="0" baseline="3086" sz="2700" spc="-337">
                <a:latin typeface="Arial"/>
                <a:cs typeface="Arial"/>
              </a:rPr>
              <a:t>ة</a:t>
            </a:r>
            <a:r>
              <a:rPr dirty="0" baseline="1543" sz="2700" spc="-337">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855">
                <a:latin typeface="Arial"/>
                <a:cs typeface="Arial"/>
              </a:rPr>
              <a:t>ئ</a:t>
            </a:r>
            <a:r>
              <a:rPr dirty="0" baseline="1543" sz="2700" spc="-855">
                <a:latin typeface="Arial"/>
                <a:cs typeface="Arial"/>
              </a:rPr>
              <a:t>ِ</a:t>
            </a:r>
            <a:r>
              <a:rPr dirty="0" baseline="1543" sz="2700" spc="-120">
                <a:latin typeface="Arial"/>
                <a:cs typeface="Arial"/>
              </a:rPr>
              <a:t> </a:t>
            </a:r>
            <a:r>
              <a:rPr dirty="0" baseline="9259" sz="2700" spc="-209">
                <a:latin typeface="Arial"/>
                <a:cs typeface="Arial"/>
              </a:rPr>
              <a:t>َ</a:t>
            </a:r>
            <a:r>
              <a:rPr dirty="0" baseline="3086" sz="2700" spc="-209">
                <a:latin typeface="Arial"/>
                <a:cs typeface="Arial"/>
              </a:rPr>
              <a:t>لام</a:t>
            </a:r>
            <a:r>
              <a:rPr dirty="0" sz="1800" spc="-140">
                <a:latin typeface="Arial"/>
                <a:cs typeface="Arial"/>
              </a:rPr>
              <a:t>َ </a:t>
            </a:r>
            <a:r>
              <a:rPr dirty="0" baseline="3086" sz="2700" spc="-652">
                <a:latin typeface="Arial"/>
                <a:cs typeface="Arial"/>
              </a:rPr>
              <a:t>ل</a:t>
            </a:r>
            <a:r>
              <a:rPr dirty="0" baseline="13888" sz="2700" spc="-652">
                <a:latin typeface="Arial"/>
                <a:cs typeface="Arial"/>
              </a:rPr>
              <a:t>ْ </a:t>
            </a:r>
            <a:r>
              <a:rPr dirty="0" baseline="1543" sz="2700" spc="-405">
                <a:latin typeface="Arial"/>
                <a:cs typeface="Arial"/>
              </a:rPr>
              <a:t>ِ</a:t>
            </a:r>
            <a:r>
              <a:rPr dirty="0" baseline="3086" sz="2700" spc="-405">
                <a:latin typeface="Arial"/>
                <a:cs typeface="Arial"/>
              </a:rPr>
              <a:t>ل </a:t>
            </a:r>
            <a:r>
              <a:rPr dirty="0" baseline="3086" sz="2700" spc="-412">
                <a:latin typeface="Arial"/>
                <a:cs typeface="Arial"/>
              </a:rPr>
              <a:t>ان</a:t>
            </a:r>
            <a:r>
              <a:rPr dirty="0" baseline="7716" sz="2700" spc="-412">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794">
                <a:latin typeface="Arial"/>
                <a:cs typeface="Arial"/>
              </a:rPr>
              <a:t>ق</a:t>
            </a:r>
            <a:r>
              <a:rPr dirty="0" baseline="10802" sz="2700" spc="-794">
                <a:latin typeface="Arial"/>
                <a:cs typeface="Arial"/>
              </a:rPr>
              <a:t>ُ</a:t>
            </a:r>
            <a:r>
              <a:rPr dirty="0" baseline="10802" sz="2700" spc="735">
                <a:latin typeface="Arial"/>
                <a:cs typeface="Arial"/>
              </a:rPr>
              <a:t> </a:t>
            </a:r>
            <a:r>
              <a:rPr dirty="0" baseline="3086" sz="2700" spc="-284">
                <a:latin typeface="Arial"/>
                <a:cs typeface="Arial"/>
              </a:rPr>
              <a:t>ذ</a:t>
            </a:r>
            <a:r>
              <a:rPr dirty="0" baseline="16975" sz="2700" spc="-284">
                <a:latin typeface="Arial"/>
                <a:cs typeface="Arial"/>
              </a:rPr>
              <a:t>ْ</a:t>
            </a:r>
            <a:r>
              <a:rPr dirty="0" baseline="16975" sz="2700" spc="-187">
                <a:latin typeface="Arial"/>
                <a:cs typeface="Arial"/>
              </a:rPr>
              <a:t> </a:t>
            </a:r>
            <a:r>
              <a:rPr dirty="0" baseline="-10802" sz="2700" spc="-209">
                <a:latin typeface="Arial"/>
                <a:cs typeface="Arial"/>
              </a:rPr>
              <a:t>ِ</a:t>
            </a:r>
            <a:r>
              <a:rPr dirty="0" baseline="3086" sz="2700" spc="-209">
                <a:latin typeface="Arial"/>
                <a:cs typeface="Arial"/>
              </a:rPr>
              <a:t>إو</a:t>
            </a:r>
            <a:endParaRPr baseline="3086" sz="2700">
              <a:latin typeface="Arial"/>
              <a:cs typeface="Arial"/>
            </a:endParaRPr>
          </a:p>
          <a:p>
            <a:pPr algn="just" marL="139700" marR="162560">
              <a:lnSpc>
                <a:spcPts val="1380"/>
              </a:lnSpc>
              <a:spcBef>
                <a:spcPts val="1335"/>
              </a:spcBef>
              <a:buAutoNum type="arabicPeriod" startAt="34"/>
              <a:tabLst>
                <a:tab pos="447675" algn="l"/>
              </a:tabLst>
            </a:pPr>
            <a:r>
              <a:rPr dirty="0" sz="1200" spc="-5">
                <a:latin typeface="Arial"/>
                <a:cs typeface="Arial"/>
              </a:rPr>
              <a:t>And when </a:t>
            </a:r>
            <a:r>
              <a:rPr dirty="0" sz="1200" spc="20">
                <a:latin typeface="Arial"/>
                <a:cs typeface="Arial"/>
              </a:rPr>
              <a:t>We </a:t>
            </a:r>
            <a:r>
              <a:rPr dirty="0" sz="1200" spc="-5">
                <a:latin typeface="Arial"/>
                <a:cs typeface="Arial"/>
              </a:rPr>
              <a:t>said unto the angels: </a:t>
            </a:r>
            <a:r>
              <a:rPr dirty="0" sz="1200">
                <a:latin typeface="Arial"/>
                <a:cs typeface="Arial"/>
              </a:rPr>
              <a:t>Prostrate </a:t>
            </a:r>
            <a:r>
              <a:rPr dirty="0" sz="1200" spc="-5">
                <a:latin typeface="Arial"/>
                <a:cs typeface="Arial"/>
              </a:rPr>
              <a:t>yourselves before Adam, they </a:t>
            </a:r>
            <a:r>
              <a:rPr dirty="0" sz="1200">
                <a:latin typeface="Arial"/>
                <a:cs typeface="Arial"/>
              </a:rPr>
              <a:t>fell  </a:t>
            </a:r>
            <a:r>
              <a:rPr dirty="0" sz="1200" spc="-5">
                <a:latin typeface="Arial"/>
                <a:cs typeface="Arial"/>
              </a:rPr>
              <a:t>prostrate, all save Iblis He demurred through pride, and </a:t>
            </a:r>
            <a:r>
              <a:rPr dirty="0" sz="1200" spc="-10">
                <a:latin typeface="Arial"/>
                <a:cs typeface="Arial"/>
              </a:rPr>
              <a:t>so </a:t>
            </a:r>
            <a:r>
              <a:rPr dirty="0" sz="1200" spc="-5">
                <a:latin typeface="Arial"/>
                <a:cs typeface="Arial"/>
              </a:rPr>
              <a:t>became a</a:t>
            </a:r>
            <a:r>
              <a:rPr dirty="0" sz="1200" spc="75">
                <a:latin typeface="Arial"/>
                <a:cs typeface="Arial"/>
              </a:rPr>
              <a:t> </a:t>
            </a:r>
            <a:r>
              <a:rPr dirty="0" sz="1200" spc="-5">
                <a:latin typeface="Arial"/>
                <a:cs typeface="Arial"/>
              </a:rPr>
              <a:t>disbeliever.</a:t>
            </a:r>
            <a:endParaRPr sz="1200">
              <a:latin typeface="Arial"/>
              <a:cs typeface="Arial"/>
            </a:endParaRPr>
          </a:p>
          <a:p>
            <a:pPr>
              <a:lnSpc>
                <a:spcPct val="100000"/>
              </a:lnSpc>
              <a:spcBef>
                <a:spcPts val="15"/>
              </a:spcBef>
              <a:buFont typeface="Arial"/>
              <a:buAutoNum type="arabicPeriod" startAt="34"/>
            </a:pPr>
            <a:endParaRPr sz="1100">
              <a:latin typeface="Arial"/>
              <a:cs typeface="Arial"/>
            </a:endParaRPr>
          </a:p>
          <a:p>
            <a:pPr algn="r" marR="208915">
              <a:lnSpc>
                <a:spcPts val="2140"/>
              </a:lnSpc>
            </a:pPr>
            <a:r>
              <a:rPr dirty="0" baseline="1543" sz="2700" spc="-345">
                <a:latin typeface="Arial"/>
                <a:cs typeface="Arial"/>
              </a:rPr>
              <a:t>ة</a:t>
            </a:r>
            <a:r>
              <a:rPr dirty="0" baseline="3086" sz="2700" spc="-345">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592">
                <a:latin typeface="Arial"/>
                <a:cs typeface="Arial"/>
              </a:rPr>
              <a:t>ج</a:t>
            </a:r>
            <a:r>
              <a:rPr dirty="0" baseline="-1543" sz="2700" spc="-592">
                <a:latin typeface="Arial"/>
                <a:cs typeface="Arial"/>
              </a:rPr>
              <a:t>َ       </a:t>
            </a:r>
            <a:r>
              <a:rPr dirty="0" baseline="1543" sz="2700" spc="-705">
                <a:latin typeface="Arial"/>
                <a:cs typeface="Arial"/>
              </a:rPr>
              <a:t>ش</a:t>
            </a:r>
            <a:r>
              <a:rPr dirty="0" baseline="9259" sz="2700" spc="-705">
                <a:latin typeface="Arial"/>
                <a:cs typeface="Arial"/>
              </a:rPr>
              <a:t>َّ                             </a:t>
            </a:r>
            <a:r>
              <a:rPr dirty="0" baseline="1543" sz="2700" spc="-412">
                <a:latin typeface="Arial"/>
                <a:cs typeface="Arial"/>
              </a:rPr>
              <a:t>لٱ  </a:t>
            </a:r>
            <a:r>
              <a:rPr dirty="0" baseline="1543" sz="2700" spc="-337">
                <a:latin typeface="Arial"/>
                <a:cs typeface="Arial"/>
              </a:rPr>
              <a:t>ه</a:t>
            </a:r>
            <a:r>
              <a:rPr dirty="0" sz="1800" spc="-225">
                <a:latin typeface="Arial"/>
                <a:cs typeface="Arial"/>
              </a:rPr>
              <a:t>ِ </a:t>
            </a:r>
            <a:r>
              <a:rPr dirty="0" baseline="1543" sz="2700" spc="-352">
                <a:latin typeface="Arial"/>
                <a:cs typeface="Arial"/>
              </a:rPr>
              <a:t>ذ</a:t>
            </a:r>
            <a:r>
              <a:rPr dirty="0" sz="1800" spc="-235">
                <a:latin typeface="Arial"/>
                <a:cs typeface="Arial"/>
              </a:rPr>
              <a:t>ِ  </a:t>
            </a:r>
            <a:r>
              <a:rPr dirty="0" baseline="1543" sz="2700" spc="-150">
                <a:latin typeface="Arial"/>
                <a:cs typeface="Arial"/>
              </a:rPr>
              <a:t>ـ</a:t>
            </a:r>
            <a:r>
              <a:rPr dirty="0" baseline="-4629" sz="2700" spc="-150">
                <a:latin typeface="Arial"/>
                <a:cs typeface="Arial"/>
              </a:rPr>
              <a:t>ٰ </a:t>
            </a:r>
            <a:r>
              <a:rPr dirty="0" baseline="1543" sz="2700" spc="-270">
                <a:latin typeface="Arial"/>
                <a:cs typeface="Arial"/>
              </a:rPr>
              <a:t>ه</a:t>
            </a:r>
            <a:r>
              <a:rPr dirty="0" baseline="-1543" sz="2700" spc="-270">
                <a:latin typeface="Arial"/>
                <a:cs typeface="Arial"/>
              </a:rPr>
              <a:t>َ    </a:t>
            </a:r>
            <a:r>
              <a:rPr dirty="0" baseline="1543" sz="2700" spc="-585">
                <a:latin typeface="Arial"/>
                <a:cs typeface="Arial"/>
              </a:rPr>
              <a:t>اب</a:t>
            </a:r>
            <a:r>
              <a:rPr dirty="0" baseline="-1543" sz="2700" spc="-585">
                <a:latin typeface="Arial"/>
                <a:cs typeface="Arial"/>
              </a:rPr>
              <a:t>َ </a:t>
            </a:r>
            <a:r>
              <a:rPr dirty="0" baseline="-1543" sz="2700" spc="-419">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719">
                <a:latin typeface="Arial"/>
                <a:cs typeface="Arial"/>
              </a:rPr>
              <a:t>ق</a:t>
            </a:r>
            <a:r>
              <a:rPr dirty="0" baseline="9259" sz="2700" spc="-719">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487">
                <a:latin typeface="Arial"/>
                <a:cs typeface="Arial"/>
              </a:rPr>
              <a:t> </a:t>
            </a:r>
            <a:r>
              <a:rPr dirty="0" baseline="7716" sz="2700" spc="-217">
                <a:latin typeface="Arial"/>
                <a:cs typeface="Arial"/>
              </a:rPr>
              <a:t>َ</a:t>
            </a:r>
            <a:r>
              <a:rPr dirty="0" baseline="1543" sz="2700" spc="-217">
                <a:latin typeface="Arial"/>
                <a:cs typeface="Arial"/>
              </a:rPr>
              <a:t>لاو</a:t>
            </a:r>
            <a:r>
              <a:rPr dirty="0" baseline="-1543" sz="2700" spc="-217">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930">
                <a:latin typeface="Arial"/>
                <a:cs typeface="Arial"/>
              </a:rPr>
              <a:t>ت</a:t>
            </a:r>
            <a:r>
              <a:rPr dirty="0" baseline="9259" sz="2700" spc="-930">
                <a:latin typeface="Arial"/>
                <a:cs typeface="Arial"/>
              </a:rPr>
              <a:t>ُ</a:t>
            </a:r>
            <a:r>
              <a:rPr dirty="0" baseline="9259" sz="2700" spc="-150">
                <a:latin typeface="Arial"/>
                <a:cs typeface="Arial"/>
              </a:rPr>
              <a:t> </a:t>
            </a:r>
            <a:r>
              <a:rPr dirty="0" baseline="1543" sz="2700" spc="-757">
                <a:latin typeface="Arial"/>
                <a:cs typeface="Arial"/>
              </a:rPr>
              <a:t>ئ</a:t>
            </a:r>
            <a:r>
              <a:rPr dirty="0" baseline="9259" sz="2700" spc="-757">
                <a:latin typeface="Arial"/>
                <a:cs typeface="Arial"/>
              </a:rPr>
              <a:t>ْ</a:t>
            </a:r>
            <a:r>
              <a:rPr dirty="0" baseline="9259" sz="2700" spc="-307">
                <a:latin typeface="Arial"/>
                <a:cs typeface="Arial"/>
              </a:rPr>
              <a:t> </a:t>
            </a:r>
            <a:r>
              <a:rPr dirty="0" baseline="1543" sz="2700" spc="-944">
                <a:latin typeface="Arial"/>
                <a:cs typeface="Arial"/>
              </a:rPr>
              <a:t>ش</a:t>
            </a:r>
            <a:r>
              <a:rPr dirty="0" sz="1800" spc="-630">
                <a:latin typeface="Arial"/>
                <a:cs typeface="Arial"/>
              </a:rPr>
              <a:t>ِ</a:t>
            </a:r>
            <a:r>
              <a:rPr dirty="0" sz="1800" spc="730">
                <a:latin typeface="Arial"/>
                <a:cs typeface="Arial"/>
              </a:rPr>
              <a:t> </a:t>
            </a:r>
            <a:r>
              <a:rPr dirty="0" baseline="1543" sz="2700" spc="-802">
                <a:latin typeface="Arial"/>
                <a:cs typeface="Arial"/>
              </a:rPr>
              <a:t>ث</a:t>
            </a:r>
            <a:r>
              <a:rPr dirty="0" baseline="12345" sz="2700" spc="-802">
                <a:latin typeface="Arial"/>
                <a:cs typeface="Arial"/>
              </a:rPr>
              <a:t>ُ</a:t>
            </a:r>
            <a:r>
              <a:rPr dirty="0" baseline="12345" sz="2700" spc="855">
                <a:latin typeface="Arial"/>
                <a:cs typeface="Arial"/>
              </a:rPr>
              <a:t> </a:t>
            </a:r>
            <a:r>
              <a:rPr dirty="0" baseline="1543" sz="2700">
                <a:latin typeface="Arial"/>
                <a:cs typeface="Arial"/>
              </a:rPr>
              <a:t>ٌْ </a:t>
            </a:r>
            <a:r>
              <a:rPr dirty="0" baseline="1543" sz="2700" spc="-592">
                <a:latin typeface="Arial"/>
                <a:cs typeface="Arial"/>
              </a:rPr>
              <a:t>ح</a:t>
            </a:r>
            <a:r>
              <a:rPr dirty="0" baseline="-1543" sz="2700" spc="-592">
                <a:latin typeface="Arial"/>
                <a:cs typeface="Arial"/>
              </a:rPr>
              <a:t>َ           </a:t>
            </a:r>
            <a:r>
              <a:rPr dirty="0" baseline="9259" sz="2700" spc="-390">
                <a:latin typeface="Arial"/>
                <a:cs typeface="Arial"/>
              </a:rPr>
              <a:t>ً</a:t>
            </a:r>
            <a:r>
              <a:rPr dirty="0" baseline="1543" sz="2700" spc="-390">
                <a:latin typeface="Arial"/>
                <a:cs typeface="Arial"/>
              </a:rPr>
              <a:t>ادؼ</a:t>
            </a:r>
            <a:r>
              <a:rPr dirty="0" baseline="3086" sz="2700" spc="-390">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202">
                <a:latin typeface="Arial"/>
                <a:cs typeface="Arial"/>
              </a:rPr>
              <a:t>اه</a:t>
            </a:r>
            <a:r>
              <a:rPr dirty="0" baseline="-1543" sz="2700" spc="-202">
                <a:latin typeface="Arial"/>
                <a:cs typeface="Arial"/>
              </a:rPr>
              <a:t>َ  </a:t>
            </a:r>
            <a:r>
              <a:rPr dirty="0" baseline="1543" sz="2700" spc="-607">
                <a:latin typeface="Arial"/>
                <a:cs typeface="Arial"/>
              </a:rPr>
              <a:t>ن</a:t>
            </a:r>
            <a:r>
              <a:rPr dirty="0" baseline="9259" sz="2700" spc="-607">
                <a:latin typeface="Arial"/>
                <a:cs typeface="Arial"/>
              </a:rPr>
              <a:t>ْ   </a:t>
            </a:r>
            <a:r>
              <a:rPr dirty="0" baseline="1543" sz="2700" spc="-352">
                <a:latin typeface="Arial"/>
                <a:cs typeface="Arial"/>
              </a:rPr>
              <a:t>م</a:t>
            </a:r>
            <a:r>
              <a:rPr dirty="0" sz="1800" spc="-235">
                <a:latin typeface="Arial"/>
                <a:cs typeface="Arial"/>
              </a:rPr>
              <a:t>ِ    </a:t>
            </a:r>
            <a:r>
              <a:rPr dirty="0" baseline="7716" sz="2700" spc="-367">
                <a:latin typeface="Arial"/>
                <a:cs typeface="Arial"/>
              </a:rPr>
              <a:t>َ</a:t>
            </a:r>
            <a:r>
              <a:rPr dirty="0" baseline="1543" sz="2700" spc="-367">
                <a:latin typeface="Arial"/>
                <a:cs typeface="Arial"/>
              </a:rPr>
              <a:t>لاك</a:t>
            </a:r>
            <a:r>
              <a:rPr dirty="0" baseline="9259" sz="2700" spc="-367">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284">
                <a:latin typeface="Arial"/>
                <a:cs typeface="Arial"/>
              </a:rPr>
              <a:t>ة</a:t>
            </a:r>
            <a:r>
              <a:rPr dirty="0" baseline="9259" sz="2700" spc="-284">
                <a:latin typeface="Arial"/>
                <a:cs typeface="Arial"/>
              </a:rPr>
              <a:t>َ  </a:t>
            </a:r>
            <a:r>
              <a:rPr dirty="0" baseline="1543" sz="2700" spc="-442">
                <a:latin typeface="Arial"/>
                <a:cs typeface="Arial"/>
              </a:rPr>
              <a:t>ن</a:t>
            </a:r>
            <a:r>
              <a:rPr dirty="0" baseline="9259" sz="2700" spc="-442">
                <a:latin typeface="Arial"/>
                <a:cs typeface="Arial"/>
              </a:rPr>
              <a:t>َّ  </a:t>
            </a:r>
            <a:r>
              <a:rPr dirty="0" baseline="1543" sz="2700" spc="-592">
                <a:latin typeface="Arial"/>
                <a:cs typeface="Arial"/>
              </a:rPr>
              <a:t>ج</a:t>
            </a:r>
            <a:r>
              <a:rPr dirty="0" baseline="-1543" sz="2700" spc="-592">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682">
                <a:latin typeface="Arial"/>
                <a:cs typeface="Arial"/>
              </a:rPr>
              <a:t>ك</a:t>
            </a:r>
            <a:r>
              <a:rPr dirty="0" baseline="-1543" sz="2700" spc="-682">
                <a:latin typeface="Arial"/>
                <a:cs typeface="Arial"/>
              </a:rPr>
              <a:t>َ                    </a:t>
            </a:r>
            <a:r>
              <a:rPr dirty="0" baseline="1543" sz="2700" spc="-630">
                <a:latin typeface="Arial"/>
                <a:cs typeface="Arial"/>
              </a:rPr>
              <a:t>جُ         </a:t>
            </a:r>
            <a:r>
              <a:rPr dirty="0" baseline="1543" sz="2700" spc="-270">
                <a:latin typeface="Arial"/>
                <a:cs typeface="Arial"/>
              </a:rPr>
              <a:t>وْ </a:t>
            </a:r>
            <a:r>
              <a:rPr dirty="0" baseline="1543" sz="2700" spc="-494">
                <a:latin typeface="Arial"/>
                <a:cs typeface="Arial"/>
              </a:rPr>
              <a:t>ز</a:t>
            </a:r>
            <a:r>
              <a:rPr dirty="0" baseline="6172" sz="2700" spc="-494">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780">
                <a:latin typeface="Arial"/>
                <a:cs typeface="Arial"/>
              </a:rPr>
              <a:t>ت</a:t>
            </a:r>
            <a:r>
              <a:rPr dirty="0" baseline="3086" sz="2700" spc="-780">
                <a:latin typeface="Arial"/>
                <a:cs typeface="Arial"/>
              </a:rPr>
              <a:t>َ</a:t>
            </a:r>
            <a:r>
              <a:rPr dirty="0" baseline="3086" sz="2700" spc="780">
                <a:latin typeface="Arial"/>
                <a:cs typeface="Arial"/>
              </a:rPr>
              <a:t> </a:t>
            </a:r>
            <a:r>
              <a:rPr dirty="0" baseline="1543" sz="2700" spc="-607">
                <a:latin typeface="Arial"/>
                <a:cs typeface="Arial"/>
              </a:rPr>
              <a:t>ن</a:t>
            </a:r>
            <a:r>
              <a:rPr dirty="0" baseline="9259" sz="2700" spc="-607">
                <a:latin typeface="Arial"/>
                <a:cs typeface="Arial"/>
              </a:rPr>
              <a:t>ْ   </a:t>
            </a:r>
            <a:r>
              <a:rPr dirty="0" baseline="15432" sz="2700">
                <a:latin typeface="Arial"/>
                <a:cs typeface="Arial"/>
              </a:rPr>
              <a:t>َ</a:t>
            </a:r>
            <a:r>
              <a:rPr dirty="0" baseline="1543" sz="2700">
                <a:latin typeface="Arial"/>
                <a:cs typeface="Arial"/>
              </a:rPr>
              <a:t>أ </a:t>
            </a:r>
            <a:r>
              <a:rPr dirty="0" baseline="1543" sz="2700" spc="-465">
                <a:latin typeface="Arial"/>
                <a:cs typeface="Arial"/>
              </a:rPr>
              <a:t>نْ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1543" sz="2700" spc="-944">
                <a:latin typeface="Arial"/>
                <a:cs typeface="Arial"/>
              </a:rPr>
              <a:t>سْ</a:t>
            </a:r>
            <a:r>
              <a:rPr dirty="0" baseline="1543" sz="2700" spc="345">
                <a:latin typeface="Arial"/>
                <a:cs typeface="Arial"/>
              </a:rPr>
              <a:t> </a:t>
            </a:r>
            <a:r>
              <a:rPr dirty="0" baseline="1543" sz="2700">
                <a:latin typeface="Arial"/>
                <a:cs typeface="Arial"/>
              </a:rPr>
              <a:t>ٱ </a:t>
            </a:r>
            <a:r>
              <a:rPr dirty="0" baseline="1543" sz="2700" spc="-427">
                <a:latin typeface="Arial"/>
                <a:cs typeface="Arial"/>
              </a:rPr>
              <a:t>م</a:t>
            </a:r>
            <a:r>
              <a:rPr dirty="0" baseline="-4629" sz="2700" spc="-427">
                <a:latin typeface="Arial"/>
                <a:cs typeface="Arial"/>
              </a:rPr>
              <a:t>ُ  </a:t>
            </a:r>
            <a:r>
              <a:rPr dirty="0" baseline="1543" sz="2700" spc="-322">
                <a:latin typeface="Arial"/>
                <a:cs typeface="Arial"/>
              </a:rPr>
              <a:t>د</a:t>
            </a:r>
            <a:r>
              <a:rPr dirty="0" sz="1800" spc="-215">
                <a:latin typeface="Arial"/>
                <a:cs typeface="Arial"/>
              </a:rPr>
              <a:t>َ </a:t>
            </a:r>
            <a:r>
              <a:rPr dirty="0" baseline="1543" sz="2700" spc="-315">
                <a:latin typeface="Arial"/>
                <a:cs typeface="Arial"/>
              </a:rPr>
              <a:t>اء</a:t>
            </a:r>
            <a:r>
              <a:rPr dirty="0" baseline="-1543" sz="2700" spc="-315">
                <a:latin typeface="Arial"/>
                <a:cs typeface="Arial"/>
              </a:rPr>
              <a:t>َ  </a:t>
            </a:r>
            <a:r>
              <a:rPr dirty="0" baseline="1543" sz="2700" spc="15">
                <a:latin typeface="Arial"/>
                <a:cs typeface="Arial"/>
              </a:rPr>
              <a:t>آٌ</a:t>
            </a:r>
            <a:r>
              <a:rPr dirty="0" baseline="-1543" sz="2700" spc="15">
                <a:latin typeface="Arial"/>
                <a:cs typeface="Arial"/>
              </a:rPr>
              <a:t>َ  </a:t>
            </a:r>
            <a:r>
              <a:rPr dirty="0" baseline="1543" sz="2700" spc="-412">
                <a:latin typeface="Arial"/>
                <a:cs typeface="Arial"/>
              </a:rPr>
              <a:t>ان</a:t>
            </a:r>
            <a:r>
              <a:rPr dirty="0" baseline="6172" sz="2700" spc="-412">
                <a:latin typeface="Arial"/>
                <a:cs typeface="Arial"/>
              </a:rPr>
              <a:t>َ </a:t>
            </a:r>
            <a:r>
              <a:rPr dirty="0" baseline="1543" sz="2700" spc="-652">
                <a:latin typeface="Arial"/>
                <a:cs typeface="Arial"/>
              </a:rPr>
              <a:t>ل</a:t>
            </a:r>
            <a:r>
              <a:rPr dirty="0" baseline="12345" sz="2700" spc="-652">
                <a:latin typeface="Arial"/>
                <a:cs typeface="Arial"/>
              </a:rPr>
              <a:t>ْ   </a:t>
            </a:r>
            <a:r>
              <a:rPr dirty="0" baseline="12345" sz="2700" spc="-637">
                <a:latin typeface="Arial"/>
                <a:cs typeface="Arial"/>
              </a:rPr>
              <a:t> </a:t>
            </a:r>
            <a:r>
              <a:rPr dirty="0" baseline="9259" sz="2700" spc="-494">
                <a:latin typeface="Arial"/>
                <a:cs typeface="Arial"/>
              </a:rPr>
              <a:t>ُ</a:t>
            </a:r>
            <a:r>
              <a:rPr dirty="0" baseline="1543" sz="2700" spc="-494">
                <a:latin typeface="Arial"/>
                <a:cs typeface="Arial"/>
              </a:rPr>
              <a:t>قو</a:t>
            </a:r>
            <a:endParaRPr baseline="1543" sz="2700">
              <a:latin typeface="Arial"/>
              <a:cs typeface="Arial"/>
            </a:endParaRPr>
          </a:p>
          <a:p>
            <a:pPr algn="r" marR="212090">
              <a:lnSpc>
                <a:spcPts val="2140"/>
              </a:lnSpc>
            </a:pPr>
            <a:r>
              <a:rPr dirty="0" baseline="3086" sz="2700" spc="-509">
                <a:latin typeface="Arial"/>
                <a:cs typeface="Arial"/>
              </a:rPr>
              <a:t>ن</a:t>
            </a:r>
            <a:r>
              <a:rPr dirty="0" sz="1800" spc="-340">
                <a:latin typeface="Arial"/>
                <a:cs typeface="Arial"/>
              </a:rPr>
              <a:t>َ    </a:t>
            </a:r>
            <a:r>
              <a:rPr dirty="0" baseline="3086" sz="2700" spc="-240">
                <a:latin typeface="Arial"/>
                <a:cs typeface="Arial"/>
              </a:rPr>
              <a:t>ٌم</a:t>
            </a:r>
            <a:r>
              <a:rPr dirty="0" baseline="1543" sz="2700" spc="-240">
                <a:latin typeface="Arial"/>
                <a:cs typeface="Arial"/>
              </a:rPr>
              <a:t>ِ  </a:t>
            </a:r>
            <a:r>
              <a:rPr dirty="0" baseline="1543" sz="2700" spc="-352">
                <a:latin typeface="Arial"/>
                <a:cs typeface="Arial"/>
              </a:rPr>
              <a:t>ِ</a:t>
            </a:r>
            <a:r>
              <a:rPr dirty="0" baseline="3086" sz="2700" spc="-352">
                <a:latin typeface="Arial"/>
                <a:cs typeface="Arial"/>
              </a:rPr>
              <a:t>لاظ</a:t>
            </a:r>
            <a:r>
              <a:rPr dirty="0" baseline="15432" sz="2700" spc="-352">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502">
                <a:latin typeface="Arial"/>
                <a:cs typeface="Arial"/>
              </a:rPr>
              <a:t>وك</a:t>
            </a:r>
            <a:r>
              <a:rPr dirty="0" baseline="10802" sz="2700" spc="-502">
                <a:latin typeface="Arial"/>
                <a:cs typeface="Arial"/>
              </a:rPr>
              <a:t>ُ </a:t>
            </a:r>
            <a:r>
              <a:rPr dirty="0" baseline="10802" sz="2700" spc="-382">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40">
                <a:latin typeface="Arial"/>
                <a:cs typeface="Arial"/>
              </a:rPr>
              <a:t> </a:t>
            </a:r>
            <a:r>
              <a:rPr dirty="0" baseline="3086" sz="2700" spc="-2062">
                <a:latin typeface="Arial"/>
                <a:cs typeface="Arial"/>
              </a:rPr>
              <a:t>ف</a:t>
            </a:r>
            <a:endParaRPr baseline="3086" sz="2700">
              <a:latin typeface="Arial"/>
              <a:cs typeface="Arial"/>
            </a:endParaRPr>
          </a:p>
          <a:p>
            <a:pPr algn="just" marL="139700" marR="156845">
              <a:lnSpc>
                <a:spcPts val="1380"/>
              </a:lnSpc>
              <a:spcBef>
                <a:spcPts val="1335"/>
              </a:spcBef>
              <a:buAutoNum type="arabicPeriod" startAt="35"/>
              <a:tabLst>
                <a:tab pos="401955" algn="l"/>
              </a:tabLst>
            </a:pPr>
            <a:r>
              <a:rPr dirty="0" sz="1200" spc="-5">
                <a:latin typeface="Arial"/>
                <a:cs typeface="Arial"/>
              </a:rPr>
              <a:t>And </a:t>
            </a:r>
            <a:r>
              <a:rPr dirty="0" sz="1200" spc="20">
                <a:latin typeface="Arial"/>
                <a:cs typeface="Arial"/>
              </a:rPr>
              <a:t>We </a:t>
            </a:r>
            <a:r>
              <a:rPr dirty="0" sz="1200" spc="-5">
                <a:latin typeface="Arial"/>
                <a:cs typeface="Arial"/>
              </a:rPr>
              <a:t>said: </a:t>
            </a:r>
            <a:r>
              <a:rPr dirty="0" sz="1200">
                <a:latin typeface="Arial"/>
                <a:cs typeface="Arial"/>
              </a:rPr>
              <a:t>O </a:t>
            </a:r>
            <a:r>
              <a:rPr dirty="0" sz="1200" spc="-5">
                <a:latin typeface="Arial"/>
                <a:cs typeface="Arial"/>
              </a:rPr>
              <a:t>Adam! Dwell </a:t>
            </a:r>
            <a:r>
              <a:rPr dirty="0" sz="1200">
                <a:latin typeface="Arial"/>
                <a:cs typeface="Arial"/>
              </a:rPr>
              <a:t>thou </a:t>
            </a:r>
            <a:r>
              <a:rPr dirty="0" sz="1200" spc="-5">
                <a:latin typeface="Arial"/>
                <a:cs typeface="Arial"/>
              </a:rPr>
              <a:t>and thy wife in </a:t>
            </a:r>
            <a:r>
              <a:rPr dirty="0" sz="1200">
                <a:latin typeface="Arial"/>
                <a:cs typeface="Arial"/>
              </a:rPr>
              <a:t>the </a:t>
            </a:r>
            <a:r>
              <a:rPr dirty="0" sz="1200" spc="-5">
                <a:latin typeface="Arial"/>
                <a:cs typeface="Arial"/>
              </a:rPr>
              <a:t>Garden, and eat </a:t>
            </a:r>
            <a:r>
              <a:rPr dirty="0" sz="1200" spc="-10">
                <a:latin typeface="Arial"/>
                <a:cs typeface="Arial"/>
              </a:rPr>
              <a:t>you </a:t>
            </a:r>
            <a:r>
              <a:rPr dirty="0" sz="1200" spc="-5">
                <a:latin typeface="Arial"/>
                <a:cs typeface="Arial"/>
              </a:rPr>
              <a:t>freely </a:t>
            </a:r>
            <a:r>
              <a:rPr dirty="0" sz="1200">
                <a:latin typeface="Arial"/>
                <a:cs typeface="Arial"/>
              </a:rPr>
              <a:t>(of </a:t>
            </a:r>
            <a:r>
              <a:rPr dirty="0" sz="1200" spc="-5">
                <a:latin typeface="Arial"/>
                <a:cs typeface="Arial"/>
              </a:rPr>
              <a:t>the  </a:t>
            </a:r>
            <a:r>
              <a:rPr dirty="0" sz="1200">
                <a:latin typeface="Arial"/>
                <a:cs typeface="Arial"/>
              </a:rPr>
              <a:t>fruits) </a:t>
            </a:r>
            <a:r>
              <a:rPr dirty="0" sz="1200" spc="-10">
                <a:latin typeface="Arial"/>
                <a:cs typeface="Arial"/>
              </a:rPr>
              <a:t>will; </a:t>
            </a:r>
            <a:r>
              <a:rPr dirty="0" sz="1200" spc="-5">
                <a:latin typeface="Arial"/>
                <a:cs typeface="Arial"/>
              </a:rPr>
              <a:t>but come not nigh this tree </a:t>
            </a:r>
            <a:r>
              <a:rPr dirty="0" sz="1200">
                <a:latin typeface="Arial"/>
                <a:cs typeface="Arial"/>
              </a:rPr>
              <a:t>lest </a:t>
            </a:r>
            <a:r>
              <a:rPr dirty="0" sz="1200" spc="-10">
                <a:latin typeface="Arial"/>
                <a:cs typeface="Arial"/>
              </a:rPr>
              <a:t>ye </a:t>
            </a:r>
            <a:r>
              <a:rPr dirty="0" sz="1200" spc="-5">
                <a:latin typeface="Arial"/>
                <a:cs typeface="Arial"/>
              </a:rPr>
              <a:t>become</a:t>
            </a:r>
            <a:r>
              <a:rPr dirty="0" sz="1200" spc="40">
                <a:latin typeface="Arial"/>
                <a:cs typeface="Arial"/>
              </a:rPr>
              <a:t> </a:t>
            </a:r>
            <a:r>
              <a:rPr dirty="0" sz="1200" spc="-5">
                <a:latin typeface="Arial"/>
                <a:cs typeface="Arial"/>
              </a:rPr>
              <a:t>wrongdoers.</a:t>
            </a:r>
            <a:endParaRPr sz="1200">
              <a:latin typeface="Arial"/>
              <a:cs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1457248" y="1150366"/>
            <a:ext cx="1092200" cy="299720"/>
          </a:xfrm>
          <a:prstGeom prst="rect">
            <a:avLst/>
          </a:prstGeom>
        </p:spPr>
        <p:txBody>
          <a:bodyPr wrap="square" lIns="0" tIns="12700" rIns="0" bIns="0" rtlCol="0" vert="horz">
            <a:spAutoFit/>
          </a:bodyPr>
          <a:lstStyle/>
          <a:p>
            <a:pPr marL="38100">
              <a:lnSpc>
                <a:spcPct val="100000"/>
              </a:lnSpc>
              <a:spcBef>
                <a:spcPts val="100"/>
              </a:spcBef>
            </a:pPr>
            <a:r>
              <a:rPr dirty="0" baseline="-1543" sz="2700">
                <a:latin typeface="Arial"/>
                <a:cs typeface="Arial"/>
              </a:rPr>
              <a:t>َ </a:t>
            </a:r>
            <a:r>
              <a:rPr dirty="0" baseline="1543" sz="2700" spc="-794">
                <a:latin typeface="Arial"/>
                <a:cs typeface="Arial"/>
              </a:rPr>
              <a:t>ض</a:t>
            </a:r>
            <a:r>
              <a:rPr dirty="0" baseline="-1543" sz="2700" spc="-794">
                <a:latin typeface="Arial"/>
                <a:cs typeface="Arial"/>
              </a:rPr>
              <a:t>ٍ</a:t>
            </a:r>
            <a:r>
              <a:rPr dirty="0" baseline="-1543" sz="2700" spc="810">
                <a:latin typeface="Arial"/>
                <a:cs typeface="Arial"/>
              </a:rPr>
              <a:t> </a:t>
            </a:r>
            <a:r>
              <a:rPr dirty="0" baseline="1543" sz="2700" spc="-569">
                <a:latin typeface="Arial"/>
                <a:cs typeface="Arial"/>
              </a:rPr>
              <a:t>عْ </a:t>
            </a:r>
            <a:r>
              <a:rPr dirty="0" baseline="1543" sz="2700" spc="-892">
                <a:latin typeface="Arial"/>
                <a:cs typeface="Arial"/>
              </a:rPr>
              <a:t>ب</a:t>
            </a:r>
            <a:r>
              <a:rPr dirty="0" baseline="-1543" sz="2700" spc="-892">
                <a:latin typeface="Arial"/>
                <a:cs typeface="Arial"/>
              </a:rPr>
              <a:t>َ</a:t>
            </a:r>
            <a:r>
              <a:rPr dirty="0" baseline="-1543" sz="2700" spc="-247">
                <a:latin typeface="Arial"/>
                <a:cs typeface="Arial"/>
              </a:rPr>
              <a:t> </a:t>
            </a:r>
            <a:r>
              <a:rPr dirty="0" sz="1800" spc="-270">
                <a:latin typeface="Arial"/>
                <a:cs typeface="Arial"/>
              </a:rPr>
              <a:t>ِ</a:t>
            </a:r>
            <a:r>
              <a:rPr dirty="0" baseline="1543" sz="2700" spc="-405">
                <a:latin typeface="Arial"/>
                <a:cs typeface="Arial"/>
              </a:rPr>
              <a:t>ل </a:t>
            </a:r>
            <a:r>
              <a:rPr dirty="0" baseline="1543" sz="2700" spc="-352">
                <a:latin typeface="Arial"/>
                <a:cs typeface="Arial"/>
              </a:rPr>
              <a:t>م</a:t>
            </a:r>
            <a:r>
              <a:rPr dirty="0" baseline="-3086" sz="2700" spc="-352">
                <a:latin typeface="Arial"/>
                <a:cs typeface="Arial"/>
              </a:rPr>
              <a:t>ْ</a:t>
            </a:r>
            <a:r>
              <a:rPr dirty="0" baseline="-3086" sz="2700" spc="-412">
                <a:latin typeface="Arial"/>
                <a:cs typeface="Arial"/>
              </a:rPr>
              <a:t> </a:t>
            </a:r>
            <a:r>
              <a:rPr dirty="0" baseline="1543" sz="2700" spc="-765">
                <a:latin typeface="Arial"/>
                <a:cs typeface="Arial"/>
              </a:rPr>
              <a:t>ك</a:t>
            </a:r>
            <a:r>
              <a:rPr dirty="0" baseline="9259" sz="2700" spc="-765">
                <a:latin typeface="Arial"/>
                <a:cs typeface="Arial"/>
              </a:rPr>
              <a:t>ُ</a:t>
            </a:r>
            <a:r>
              <a:rPr dirty="0" baseline="9259" sz="2700" spc="172">
                <a:latin typeface="Arial"/>
                <a:cs typeface="Arial"/>
              </a:rPr>
              <a:t> </a:t>
            </a:r>
            <a:r>
              <a:rPr dirty="0" baseline="1543" sz="2700" spc="-2775">
                <a:latin typeface="Arial"/>
                <a:cs typeface="Arial"/>
              </a:rPr>
              <a:t>ض</a:t>
            </a:r>
            <a:endParaRPr baseline="1543" sz="2700">
              <a:latin typeface="Arial"/>
              <a:cs typeface="Arial"/>
            </a:endParaRPr>
          </a:p>
        </p:txBody>
      </p:sp>
      <p:sp>
        <p:nvSpPr>
          <p:cNvPr id="14" name="object 1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15" name="object 1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56</a:t>
            </a:r>
          </a:p>
        </p:txBody>
      </p:sp>
      <p:sp>
        <p:nvSpPr>
          <p:cNvPr id="6" name="object 6"/>
          <p:cNvSpPr txBox="1"/>
          <p:nvPr/>
        </p:nvSpPr>
        <p:spPr>
          <a:xfrm>
            <a:off x="2296464" y="1157985"/>
            <a:ext cx="4573270" cy="299720"/>
          </a:xfrm>
          <a:prstGeom prst="rect">
            <a:avLst/>
          </a:prstGeom>
        </p:spPr>
        <p:txBody>
          <a:bodyPr wrap="square" lIns="0" tIns="12700" rIns="0" bIns="0" rtlCol="0" vert="horz">
            <a:spAutoFit/>
          </a:bodyPr>
          <a:lstStyle/>
          <a:p>
            <a:pPr marL="50800">
              <a:lnSpc>
                <a:spcPct val="100000"/>
              </a:lnSpc>
              <a:spcBef>
                <a:spcPts val="100"/>
              </a:spcBef>
            </a:pPr>
            <a:r>
              <a:rPr dirty="0" baseline="3086" sz="2700">
                <a:latin typeface="Arial"/>
                <a:cs typeface="Arial"/>
              </a:rPr>
              <a:t>ُ </a:t>
            </a:r>
            <a:r>
              <a:rPr dirty="0" baseline="3086" sz="2700" spc="-569">
                <a:latin typeface="Arial"/>
                <a:cs typeface="Arial"/>
              </a:rPr>
              <a:t>عْ </a:t>
            </a:r>
            <a:r>
              <a:rPr dirty="0" baseline="3086" sz="2700" spc="-892">
                <a:latin typeface="Arial"/>
                <a:cs typeface="Arial"/>
              </a:rPr>
              <a:t>ب</a:t>
            </a:r>
            <a:r>
              <a:rPr dirty="0" sz="1800" spc="-595">
                <a:latin typeface="Arial"/>
                <a:cs typeface="Arial"/>
              </a:rPr>
              <a:t>َ</a:t>
            </a:r>
            <a:r>
              <a:rPr dirty="0" sz="1800" spc="340">
                <a:latin typeface="Arial"/>
                <a:cs typeface="Arial"/>
              </a:rPr>
              <a:t> </a:t>
            </a:r>
            <a:r>
              <a:rPr dirty="0" baseline="3086" sz="2700" spc="-262">
                <a:latin typeface="Arial"/>
                <a:cs typeface="Arial"/>
              </a:rPr>
              <a:t>ا</a:t>
            </a:r>
            <a:r>
              <a:rPr dirty="0" baseline="10802" sz="2700" spc="-262">
                <a:latin typeface="Arial"/>
                <a:cs typeface="Arial"/>
              </a:rPr>
              <a:t>ْ </a:t>
            </a:r>
            <a:r>
              <a:rPr dirty="0" baseline="3086" sz="2700" spc="-457">
                <a:latin typeface="Arial"/>
                <a:cs typeface="Arial"/>
              </a:rPr>
              <a:t>وط</a:t>
            </a:r>
            <a:r>
              <a:rPr dirty="0" baseline="16975" sz="2700" spc="-457">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104">
                <a:latin typeface="Arial"/>
                <a:cs typeface="Arial"/>
              </a:rPr>
              <a:t> </a:t>
            </a:r>
            <a:r>
              <a:rPr dirty="0" baseline="3086" sz="2700" spc="-232">
                <a:latin typeface="Arial"/>
                <a:cs typeface="Arial"/>
              </a:rPr>
              <a:t>هْ </a:t>
            </a:r>
            <a:r>
              <a:rPr dirty="0" baseline="3086" sz="2700">
                <a:latin typeface="Arial"/>
                <a:cs typeface="Arial"/>
              </a:rPr>
              <a:t>ٱ </a:t>
            </a:r>
            <a:r>
              <a:rPr dirty="0" baseline="3086" sz="2700" spc="-412">
                <a:latin typeface="Arial"/>
                <a:cs typeface="Arial"/>
              </a:rPr>
              <a:t>ان</a:t>
            </a:r>
            <a:r>
              <a:rPr dirty="0" baseline="7716" sz="2700" spc="-412">
                <a:latin typeface="Arial"/>
                <a:cs typeface="Arial"/>
              </a:rPr>
              <a:t>َ </a:t>
            </a:r>
            <a:r>
              <a:rPr dirty="0" baseline="3086" sz="2700" spc="-652">
                <a:latin typeface="Arial"/>
                <a:cs typeface="Arial"/>
              </a:rPr>
              <a:t>ل</a:t>
            </a:r>
            <a:r>
              <a:rPr dirty="0" baseline="13888" sz="2700" spc="-652">
                <a:latin typeface="Arial"/>
                <a:cs typeface="Arial"/>
              </a:rPr>
              <a:t>ْ </a:t>
            </a:r>
            <a:r>
              <a:rPr dirty="0" baseline="10802" sz="2700" spc="-367">
                <a:latin typeface="Arial"/>
                <a:cs typeface="Arial"/>
              </a:rPr>
              <a:t>ُ</a:t>
            </a:r>
            <a:r>
              <a:rPr dirty="0" baseline="3086" sz="2700" spc="-367">
                <a:latin typeface="Arial"/>
                <a:cs typeface="Arial"/>
              </a:rPr>
              <a:t>قو</a:t>
            </a:r>
            <a:r>
              <a:rPr dirty="0" sz="1800" spc="-245">
                <a:latin typeface="Arial"/>
                <a:cs typeface="Arial"/>
              </a:rPr>
              <a:t>َ </a:t>
            </a:r>
            <a:r>
              <a:rPr dirty="0" baseline="3086" sz="2700" spc="-337">
                <a:latin typeface="Arial"/>
                <a:cs typeface="Arial"/>
              </a:rPr>
              <a:t>ه</a:t>
            </a:r>
            <a:r>
              <a:rPr dirty="0" baseline="1543" sz="2700" spc="-337">
                <a:latin typeface="Arial"/>
                <a:cs typeface="Arial"/>
              </a:rPr>
              <a:t>ِ </a:t>
            </a:r>
            <a:r>
              <a:rPr dirty="0" baseline="3086" sz="2700" spc="-705">
                <a:latin typeface="Arial"/>
                <a:cs typeface="Arial"/>
              </a:rPr>
              <a:t>ٌف</a:t>
            </a:r>
            <a:r>
              <a:rPr dirty="0" baseline="1543" sz="2700" spc="-705">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457">
                <a:latin typeface="Arial"/>
                <a:cs typeface="Arial"/>
              </a:rPr>
              <a:t>اك</a:t>
            </a:r>
            <a:r>
              <a:rPr dirty="0" baseline="7716" sz="2700" spc="-457">
                <a:latin typeface="Arial"/>
                <a:cs typeface="Arial"/>
              </a:rPr>
              <a:t>َ  </a:t>
            </a:r>
            <a:r>
              <a:rPr dirty="0" baseline="3086" sz="2700" spc="-179">
                <a:latin typeface="Arial"/>
                <a:cs typeface="Arial"/>
              </a:rPr>
              <a:t>امَّ </a:t>
            </a:r>
            <a:r>
              <a:rPr dirty="0" baseline="3086" sz="2700" spc="-352">
                <a:latin typeface="Arial"/>
                <a:cs typeface="Arial"/>
              </a:rPr>
              <a:t>م</a:t>
            </a:r>
            <a:r>
              <a:rPr dirty="0" baseline="1543" sz="2700" spc="-352">
                <a:latin typeface="Arial"/>
                <a:cs typeface="Arial"/>
              </a:rPr>
              <a:t>ِ </a:t>
            </a:r>
            <a:r>
              <a:rPr dirty="0" baseline="3086" sz="2700" spc="-225">
                <a:latin typeface="Arial"/>
                <a:cs typeface="Arial"/>
              </a:rPr>
              <a:t>ام</a:t>
            </a:r>
            <a:r>
              <a:rPr dirty="0" sz="1800" spc="-150">
                <a:latin typeface="Arial"/>
                <a:cs typeface="Arial"/>
              </a:rPr>
              <a:t>َ </a:t>
            </a:r>
            <a:r>
              <a:rPr dirty="0" baseline="3086" sz="2700" spc="-359">
                <a:latin typeface="Arial"/>
                <a:cs typeface="Arial"/>
              </a:rPr>
              <a:t>هُ </a:t>
            </a:r>
            <a:r>
              <a:rPr dirty="0" baseline="3086" sz="2700" spc="-592">
                <a:latin typeface="Arial"/>
                <a:cs typeface="Arial"/>
              </a:rPr>
              <a:t>ج</a:t>
            </a:r>
            <a:r>
              <a:rPr dirty="0" sz="1800" spc="-395">
                <a:latin typeface="Arial"/>
                <a:cs typeface="Arial"/>
              </a:rPr>
              <a:t>َ </a:t>
            </a:r>
            <a:r>
              <a:rPr dirty="0" baseline="3086" sz="2700" spc="-480">
                <a:latin typeface="Arial"/>
                <a:cs typeface="Arial"/>
              </a:rPr>
              <a:t>ر</a:t>
            </a:r>
            <a:r>
              <a:rPr dirty="0" sz="1800" spc="-320">
                <a:latin typeface="Arial"/>
                <a:cs typeface="Arial"/>
              </a:rPr>
              <a:t>َ </a:t>
            </a:r>
            <a:r>
              <a:rPr dirty="0" baseline="3086" sz="2700" spc="-555">
                <a:latin typeface="Arial"/>
                <a:cs typeface="Arial"/>
              </a:rPr>
              <a:t>خ</a:t>
            </a:r>
            <a:r>
              <a:rPr dirty="0" baseline="12345" sz="2700" spc="-555">
                <a:latin typeface="Arial"/>
                <a:cs typeface="Arial"/>
              </a:rPr>
              <a:t>ْ </a:t>
            </a:r>
            <a:r>
              <a:rPr dirty="0" baseline="16975" sz="2700" spc="-660">
                <a:latin typeface="Arial"/>
                <a:cs typeface="Arial"/>
              </a:rPr>
              <a:t>َ</a:t>
            </a:r>
            <a:r>
              <a:rPr dirty="0" baseline="3086" sz="2700" spc="-660">
                <a:latin typeface="Arial"/>
                <a:cs typeface="Arial"/>
              </a:rPr>
              <a:t>ؤف</a:t>
            </a:r>
            <a:r>
              <a:rPr dirty="0" baseline="7716" sz="2700" spc="-660">
                <a:latin typeface="Arial"/>
                <a:cs typeface="Arial"/>
              </a:rPr>
              <a:t>َ </a:t>
            </a:r>
            <a:r>
              <a:rPr dirty="0" baseline="3086" sz="2700" spc="-202">
                <a:latin typeface="Arial"/>
                <a:cs typeface="Arial"/>
              </a:rPr>
              <a:t>اه</a:t>
            </a:r>
            <a:r>
              <a:rPr dirty="0" sz="1800" spc="-135">
                <a:latin typeface="Arial"/>
                <a:cs typeface="Arial"/>
              </a:rPr>
              <a:t>َ </a:t>
            </a:r>
            <a:r>
              <a:rPr dirty="0" baseline="3086" sz="2700" spc="-607">
                <a:latin typeface="Arial"/>
                <a:cs typeface="Arial"/>
              </a:rPr>
              <a:t>ن</a:t>
            </a:r>
            <a:r>
              <a:rPr dirty="0" baseline="12345" sz="2700" spc="-607">
                <a:latin typeface="Arial"/>
                <a:cs typeface="Arial"/>
              </a:rPr>
              <a:t>ْ </a:t>
            </a:r>
            <a:r>
              <a:rPr dirty="0" baseline="3086" sz="2700" spc="-607">
                <a:latin typeface="Arial"/>
                <a:cs typeface="Arial"/>
              </a:rPr>
              <a:t>ع</a:t>
            </a:r>
            <a:r>
              <a:rPr dirty="0" sz="1800" spc="-405">
                <a:latin typeface="Arial"/>
                <a:cs typeface="Arial"/>
              </a:rPr>
              <a:t>َ  </a:t>
            </a:r>
            <a:r>
              <a:rPr dirty="0" baseline="3086" sz="2700" spc="-532">
                <a:latin typeface="Arial"/>
                <a:cs typeface="Arial"/>
              </a:rPr>
              <a:t>نُ </a:t>
            </a:r>
            <a:r>
              <a:rPr dirty="0" baseline="3086" sz="2700" spc="-419">
                <a:latin typeface="Arial"/>
                <a:cs typeface="Arial"/>
              </a:rPr>
              <a:t>اط</a:t>
            </a:r>
            <a:r>
              <a:rPr dirty="0" baseline="13888" sz="2700" spc="-419">
                <a:latin typeface="Arial"/>
                <a:cs typeface="Arial"/>
              </a:rPr>
              <a:t>َ </a:t>
            </a:r>
            <a:r>
              <a:rPr dirty="0" baseline="3086" sz="2700">
                <a:latin typeface="Arial"/>
                <a:cs typeface="Arial"/>
              </a:rPr>
              <a:t>ٌْ </a:t>
            </a:r>
            <a:r>
              <a:rPr dirty="0" baseline="3086" sz="2700" spc="-705">
                <a:latin typeface="Arial"/>
                <a:cs typeface="Arial"/>
              </a:rPr>
              <a:t>ش</a:t>
            </a:r>
            <a:r>
              <a:rPr dirty="0" baseline="10802" sz="2700" spc="-705">
                <a:latin typeface="Arial"/>
                <a:cs typeface="Arial"/>
              </a:rPr>
              <a:t>َّ</a:t>
            </a:r>
            <a:r>
              <a:rPr dirty="0" baseline="10802" sz="2700" spc="-690">
                <a:latin typeface="Arial"/>
                <a:cs typeface="Arial"/>
              </a:rPr>
              <a:t> </a:t>
            </a:r>
            <a:r>
              <a:rPr dirty="0" baseline="3086" sz="2700" spc="-412">
                <a:latin typeface="Arial"/>
                <a:cs typeface="Arial"/>
              </a:rPr>
              <a:t>لٱ </a:t>
            </a:r>
            <a:r>
              <a:rPr dirty="0" baseline="3086" sz="2700" spc="-225">
                <a:latin typeface="Arial"/>
                <a:cs typeface="Arial"/>
              </a:rPr>
              <a:t>ام</a:t>
            </a:r>
            <a:r>
              <a:rPr dirty="0" sz="1800" spc="-150">
                <a:latin typeface="Arial"/>
                <a:cs typeface="Arial"/>
              </a:rPr>
              <a:t>َ </a:t>
            </a:r>
            <a:r>
              <a:rPr dirty="0" baseline="3086" sz="2700" spc="-359">
                <a:latin typeface="Arial"/>
                <a:cs typeface="Arial"/>
              </a:rPr>
              <a:t>هُ </a:t>
            </a:r>
            <a:r>
              <a:rPr dirty="0" baseline="13888" sz="2700" spc="-359">
                <a:latin typeface="Arial"/>
                <a:cs typeface="Arial"/>
              </a:rPr>
              <a:t>َّ</a:t>
            </a:r>
            <a:r>
              <a:rPr dirty="0" baseline="3086" sz="2700" spc="-359">
                <a:latin typeface="Arial"/>
                <a:cs typeface="Arial"/>
              </a:rPr>
              <a:t>لز</a:t>
            </a:r>
            <a:r>
              <a:rPr dirty="0" baseline="7716" sz="2700" spc="-359">
                <a:latin typeface="Arial"/>
                <a:cs typeface="Arial"/>
              </a:rPr>
              <a:t>َ </a:t>
            </a:r>
            <a:r>
              <a:rPr dirty="0" baseline="16975" sz="2700" spc="-877">
                <a:latin typeface="Arial"/>
                <a:cs typeface="Arial"/>
              </a:rPr>
              <a:t>َ</a:t>
            </a:r>
            <a:r>
              <a:rPr dirty="0" baseline="3086" sz="2700" spc="-877">
                <a:latin typeface="Arial"/>
                <a:cs typeface="Arial"/>
              </a:rPr>
              <a:t>ؤف</a:t>
            </a:r>
            <a:endParaRPr baseline="3086" sz="2700">
              <a:latin typeface="Arial"/>
              <a:cs typeface="Arial"/>
            </a:endParaRPr>
          </a:p>
        </p:txBody>
      </p:sp>
      <p:sp>
        <p:nvSpPr>
          <p:cNvPr id="7" name="object 7"/>
          <p:cNvSpPr txBox="1"/>
          <p:nvPr/>
        </p:nvSpPr>
        <p:spPr>
          <a:xfrm>
            <a:off x="623316" y="1150366"/>
            <a:ext cx="995044" cy="299720"/>
          </a:xfrm>
          <a:prstGeom prst="rect">
            <a:avLst/>
          </a:prstGeom>
        </p:spPr>
        <p:txBody>
          <a:bodyPr wrap="square" lIns="0" tIns="12700" rIns="0" bIns="0" rtlCol="0" vert="horz">
            <a:spAutoFit/>
          </a:bodyPr>
          <a:lstStyle/>
          <a:p>
            <a:pPr marL="38100">
              <a:lnSpc>
                <a:spcPct val="100000"/>
              </a:lnSpc>
              <a:spcBef>
                <a:spcPts val="100"/>
              </a:spcBef>
            </a:pPr>
            <a:r>
              <a:rPr dirty="0" baseline="1543" sz="2700" spc="-712">
                <a:latin typeface="Arial"/>
                <a:cs typeface="Arial"/>
              </a:rPr>
              <a:t>ًف</a:t>
            </a:r>
            <a:r>
              <a:rPr dirty="0" sz="1800" spc="-47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72">
                <a:latin typeface="Arial"/>
                <a:cs typeface="Arial"/>
              </a:rPr>
              <a:t> </a:t>
            </a:r>
            <a:r>
              <a:rPr dirty="0" baseline="9259" sz="2700" spc="-359">
                <a:latin typeface="Arial"/>
                <a:cs typeface="Arial"/>
              </a:rPr>
              <a:t>َ</a:t>
            </a:r>
            <a:r>
              <a:rPr dirty="0" baseline="1543" sz="2700" spc="-359">
                <a:latin typeface="Arial"/>
                <a:cs typeface="Arial"/>
              </a:rPr>
              <a:t>لو</a:t>
            </a:r>
            <a:r>
              <a:rPr dirty="0" baseline="-1543" sz="2700" spc="-359">
                <a:latin typeface="Arial"/>
                <a:cs typeface="Arial"/>
              </a:rPr>
              <a:t>َ </a:t>
            </a:r>
            <a:r>
              <a:rPr dirty="0" baseline="1543" sz="2700" spc="-209">
                <a:latin typeface="Arial"/>
                <a:cs typeface="Arial"/>
              </a:rPr>
              <a:t>و</a:t>
            </a:r>
            <a:r>
              <a:rPr dirty="0" sz="1800" spc="-140">
                <a:latin typeface="Arial"/>
                <a:cs typeface="Arial"/>
              </a:rPr>
              <a:t>ٌّ </a:t>
            </a:r>
            <a:r>
              <a:rPr dirty="0" baseline="1543" sz="2700" spc="-359">
                <a:latin typeface="Arial"/>
                <a:cs typeface="Arial"/>
              </a:rPr>
              <a:t>د</a:t>
            </a:r>
            <a:r>
              <a:rPr dirty="0" baseline="3086" sz="2700" spc="-359">
                <a:latin typeface="Arial"/>
                <a:cs typeface="Arial"/>
              </a:rPr>
              <a:t>ُ</a:t>
            </a:r>
            <a:r>
              <a:rPr dirty="0" baseline="3086" sz="2700" spc="-307">
                <a:latin typeface="Arial"/>
                <a:cs typeface="Arial"/>
              </a:rPr>
              <a:t> </a:t>
            </a:r>
            <a:r>
              <a:rPr dirty="0" baseline="1543" sz="2700" spc="-1207">
                <a:latin typeface="Arial"/>
                <a:cs typeface="Arial"/>
              </a:rPr>
              <a:t>ع</a:t>
            </a:r>
            <a:endParaRPr baseline="1543" sz="2700">
              <a:latin typeface="Arial"/>
              <a:cs typeface="Arial"/>
            </a:endParaRPr>
          </a:p>
        </p:txBody>
      </p:sp>
      <p:sp>
        <p:nvSpPr>
          <p:cNvPr id="8" name="object 8"/>
          <p:cNvSpPr txBox="1"/>
          <p:nvPr/>
        </p:nvSpPr>
        <p:spPr>
          <a:xfrm>
            <a:off x="445516" y="1409445"/>
            <a:ext cx="6500495" cy="3717290"/>
          </a:xfrm>
          <a:prstGeom prst="rect">
            <a:avLst/>
          </a:prstGeom>
        </p:spPr>
        <p:txBody>
          <a:bodyPr wrap="square" lIns="0" tIns="12700" rIns="0" bIns="0" rtlCol="0" vert="horz">
            <a:spAutoFit/>
          </a:bodyPr>
          <a:lstStyle/>
          <a:p>
            <a:pPr algn="r" marR="106045">
              <a:lnSpc>
                <a:spcPct val="100000"/>
              </a:lnSpc>
              <a:spcBef>
                <a:spcPts val="100"/>
              </a:spcBef>
            </a:pPr>
            <a:r>
              <a:rPr dirty="0" sz="1800" spc="-240">
                <a:latin typeface="Arial"/>
                <a:cs typeface="Arial"/>
              </a:rPr>
              <a:t>نٌحِ </a:t>
            </a:r>
            <a:r>
              <a:rPr dirty="0" sz="1800" spc="-355">
                <a:latin typeface="Arial"/>
                <a:cs typeface="Arial"/>
              </a:rPr>
              <a:t>ى</a:t>
            </a:r>
            <a:r>
              <a:rPr dirty="0" baseline="6172" sz="2700" spc="-532">
                <a:latin typeface="Arial"/>
                <a:cs typeface="Arial"/>
              </a:rPr>
              <a:t>ٰ </a:t>
            </a:r>
            <a:r>
              <a:rPr dirty="0" baseline="7716" sz="2700" spc="-217">
                <a:latin typeface="Arial"/>
                <a:cs typeface="Arial"/>
              </a:rPr>
              <a:t>َ</a:t>
            </a:r>
            <a:r>
              <a:rPr dirty="0" sz="1800" spc="-145">
                <a:latin typeface="Arial"/>
                <a:cs typeface="Arial"/>
              </a:rPr>
              <a:t>ل</a:t>
            </a:r>
            <a:r>
              <a:rPr dirty="0" baseline="-12345" sz="2700" spc="-217">
                <a:latin typeface="Arial"/>
                <a:cs typeface="Arial"/>
              </a:rPr>
              <a:t>ِ</a:t>
            </a:r>
            <a:r>
              <a:rPr dirty="0" sz="1800" spc="-145">
                <a:latin typeface="Arial"/>
                <a:cs typeface="Arial"/>
              </a:rPr>
              <a:t>إ </a:t>
            </a:r>
            <a:r>
              <a:rPr dirty="0" sz="1800" spc="-409">
                <a:latin typeface="Arial"/>
                <a:cs typeface="Arial"/>
              </a:rPr>
              <a:t>ع</a:t>
            </a:r>
            <a:r>
              <a:rPr dirty="0" baseline="1543" sz="2700" spc="-615">
                <a:latin typeface="Arial"/>
                <a:cs typeface="Arial"/>
              </a:rPr>
              <a:t>ٌ </a:t>
            </a:r>
            <a:r>
              <a:rPr dirty="0" sz="1800" spc="-390">
                <a:latin typeface="Arial"/>
                <a:cs typeface="Arial"/>
              </a:rPr>
              <a:t>ات</a:t>
            </a:r>
            <a:r>
              <a:rPr dirty="0" baseline="6172" sz="2700" spc="-585">
                <a:latin typeface="Arial"/>
                <a:cs typeface="Arial"/>
              </a:rPr>
              <a:t>َ </a:t>
            </a:r>
            <a:r>
              <a:rPr dirty="0" sz="1800" spc="-240">
                <a:latin typeface="Arial"/>
                <a:cs typeface="Arial"/>
              </a:rPr>
              <a:t>م</a:t>
            </a:r>
            <a:r>
              <a:rPr dirty="0" baseline="-3086" sz="2700" spc="-359">
                <a:latin typeface="Arial"/>
                <a:cs typeface="Arial"/>
              </a:rPr>
              <a:t>َ </a:t>
            </a:r>
            <a:r>
              <a:rPr dirty="0" sz="1800" spc="-204">
                <a:latin typeface="Arial"/>
                <a:cs typeface="Arial"/>
              </a:rPr>
              <a:t>و</a:t>
            </a:r>
            <a:r>
              <a:rPr dirty="0" baseline="-3086" sz="2700" spc="-307">
                <a:latin typeface="Arial"/>
                <a:cs typeface="Arial"/>
              </a:rPr>
              <a:t>َ </a:t>
            </a:r>
            <a:r>
              <a:rPr dirty="0" sz="1800" spc="-225">
                <a:latin typeface="Arial"/>
                <a:cs typeface="Arial"/>
              </a:rPr>
              <a:t>رٌّ </a:t>
            </a:r>
            <a:r>
              <a:rPr dirty="0" sz="1800" spc="-500">
                <a:latin typeface="Arial"/>
                <a:cs typeface="Arial"/>
              </a:rPr>
              <a:t>ق</a:t>
            </a:r>
            <a:r>
              <a:rPr dirty="0" baseline="6172" sz="2700" spc="-750">
                <a:latin typeface="Arial"/>
                <a:cs typeface="Arial"/>
              </a:rPr>
              <a:t>َ</a:t>
            </a:r>
            <a:r>
              <a:rPr dirty="0" sz="1800" spc="-595">
                <a:latin typeface="Arial"/>
                <a:cs typeface="Arial"/>
              </a:rPr>
              <a:t>ت</a:t>
            </a:r>
            <a:r>
              <a:rPr dirty="0" baseline="6172" sz="2700" spc="-892">
                <a:latin typeface="Arial"/>
                <a:cs typeface="Arial"/>
              </a:rPr>
              <a:t>َ</a:t>
            </a:r>
            <a:r>
              <a:rPr dirty="0" baseline="6172" sz="2700" spc="-232">
                <a:latin typeface="Arial"/>
                <a:cs typeface="Arial"/>
              </a:rPr>
              <a:t> </a:t>
            </a:r>
            <a:r>
              <a:rPr dirty="0" sz="1800" spc="-630">
                <a:latin typeface="Arial"/>
                <a:cs typeface="Arial"/>
              </a:rPr>
              <a:t>س</a:t>
            </a:r>
            <a:r>
              <a:rPr dirty="0" baseline="1543" sz="2700" spc="-944">
                <a:latin typeface="Arial"/>
                <a:cs typeface="Arial"/>
              </a:rPr>
              <a:t>ْ</a:t>
            </a:r>
            <a:r>
              <a:rPr dirty="0" baseline="1543" sz="2700" spc="345">
                <a:latin typeface="Arial"/>
                <a:cs typeface="Arial"/>
              </a:rPr>
              <a:t> </a:t>
            </a:r>
            <a:r>
              <a:rPr dirty="0" sz="1800" spc="-265">
                <a:latin typeface="Arial"/>
                <a:cs typeface="Arial"/>
              </a:rPr>
              <a:t>مُ</a:t>
            </a:r>
            <a:r>
              <a:rPr dirty="0" sz="1800" spc="-40">
                <a:latin typeface="Arial"/>
                <a:cs typeface="Arial"/>
              </a:rPr>
              <a:t> </a:t>
            </a:r>
            <a:r>
              <a:rPr dirty="0" sz="1800" spc="-525">
                <a:latin typeface="Arial"/>
                <a:cs typeface="Arial"/>
              </a:rPr>
              <a:t>ض</a:t>
            </a:r>
            <a:r>
              <a:rPr dirty="0" baseline="-3086" sz="2700" spc="-787">
                <a:latin typeface="Arial"/>
                <a:cs typeface="Arial"/>
              </a:rPr>
              <a:t>ِ</a:t>
            </a:r>
            <a:r>
              <a:rPr dirty="0" baseline="-3086" sz="2700" spc="817">
                <a:latin typeface="Arial"/>
                <a:cs typeface="Arial"/>
              </a:rPr>
              <a:t> </a:t>
            </a:r>
            <a:r>
              <a:rPr dirty="0" sz="1800" spc="-305">
                <a:latin typeface="Arial"/>
                <a:cs typeface="Arial"/>
              </a:rPr>
              <a:t>ر</a:t>
            </a:r>
            <a:r>
              <a:rPr dirty="0" baseline="1543" sz="2700" spc="-457">
                <a:latin typeface="Arial"/>
                <a:cs typeface="Arial"/>
              </a:rPr>
              <a:t>ْ </a:t>
            </a:r>
            <a:r>
              <a:rPr dirty="0" baseline="15432" sz="2700" spc="-120">
                <a:latin typeface="Arial"/>
                <a:cs typeface="Arial"/>
              </a:rPr>
              <a:t>َ</a:t>
            </a:r>
            <a:r>
              <a:rPr dirty="0" sz="1800" spc="-80">
                <a:latin typeface="Arial"/>
                <a:cs typeface="Arial"/>
              </a:rPr>
              <a:t>لأٱ</a:t>
            </a:r>
            <a:endParaRPr sz="1800">
              <a:latin typeface="Arial"/>
              <a:cs typeface="Arial"/>
            </a:endParaRPr>
          </a:p>
          <a:p>
            <a:pPr algn="just" marL="101600" marR="111125">
              <a:lnSpc>
                <a:spcPts val="1380"/>
              </a:lnSpc>
              <a:spcBef>
                <a:spcPts val="1415"/>
              </a:spcBef>
              <a:buAutoNum type="arabicPeriod" startAt="36"/>
              <a:tabLst>
                <a:tab pos="363855" algn="l"/>
              </a:tabLst>
            </a:pPr>
            <a:r>
              <a:rPr dirty="0" sz="1200">
                <a:latin typeface="Arial"/>
                <a:cs typeface="Arial"/>
              </a:rPr>
              <a:t>But </a:t>
            </a:r>
            <a:r>
              <a:rPr dirty="0" sz="1200" spc="-5">
                <a:latin typeface="Arial"/>
                <a:cs typeface="Arial"/>
              </a:rPr>
              <a:t>Satan caused them to deflect therefrom and expelled them </a:t>
            </a:r>
            <a:r>
              <a:rPr dirty="0" sz="1200">
                <a:latin typeface="Arial"/>
                <a:cs typeface="Arial"/>
              </a:rPr>
              <a:t>from </a:t>
            </a:r>
            <a:r>
              <a:rPr dirty="0" sz="1200" spc="-5">
                <a:latin typeface="Arial"/>
                <a:cs typeface="Arial"/>
              </a:rPr>
              <a:t>the </a:t>
            </a:r>
            <a:r>
              <a:rPr dirty="0" sz="1200" spc="-10">
                <a:latin typeface="Arial"/>
                <a:cs typeface="Arial"/>
              </a:rPr>
              <a:t>(happy) </a:t>
            </a:r>
            <a:r>
              <a:rPr dirty="0" sz="1200" spc="-5">
                <a:latin typeface="Arial"/>
                <a:cs typeface="Arial"/>
              </a:rPr>
              <a:t>state in  which </a:t>
            </a:r>
            <a:r>
              <a:rPr dirty="0" sz="1200">
                <a:latin typeface="Arial"/>
                <a:cs typeface="Arial"/>
              </a:rPr>
              <a:t>they </a:t>
            </a:r>
            <a:r>
              <a:rPr dirty="0" sz="1200" spc="-5">
                <a:latin typeface="Arial"/>
                <a:cs typeface="Arial"/>
              </a:rPr>
              <a:t>were; and </a:t>
            </a:r>
            <a:r>
              <a:rPr dirty="0" sz="1200" spc="-10">
                <a:latin typeface="Arial"/>
                <a:cs typeface="Arial"/>
              </a:rPr>
              <a:t>we </a:t>
            </a:r>
            <a:r>
              <a:rPr dirty="0" sz="1200" spc="-5">
                <a:latin typeface="Arial"/>
                <a:cs typeface="Arial"/>
              </a:rPr>
              <a:t>said: Fall down, one of </a:t>
            </a:r>
            <a:r>
              <a:rPr dirty="0" sz="1200" spc="-10">
                <a:latin typeface="Arial"/>
                <a:cs typeface="Arial"/>
              </a:rPr>
              <a:t>you </a:t>
            </a:r>
            <a:r>
              <a:rPr dirty="0" sz="1200" spc="-5">
                <a:latin typeface="Arial"/>
                <a:cs typeface="Arial"/>
              </a:rPr>
              <a:t>a foe unto the </a:t>
            </a:r>
            <a:r>
              <a:rPr dirty="0" sz="1200">
                <a:latin typeface="Arial"/>
                <a:cs typeface="Arial"/>
              </a:rPr>
              <a:t>other! </a:t>
            </a:r>
            <a:r>
              <a:rPr dirty="0" sz="1200" spc="-5">
                <a:latin typeface="Arial"/>
                <a:cs typeface="Arial"/>
              </a:rPr>
              <a:t>There shall </a:t>
            </a:r>
            <a:r>
              <a:rPr dirty="0" sz="1200" spc="-10">
                <a:latin typeface="Arial"/>
                <a:cs typeface="Arial"/>
              </a:rPr>
              <a:t>be </a:t>
            </a:r>
            <a:r>
              <a:rPr dirty="0" sz="1200">
                <a:latin typeface="Arial"/>
                <a:cs typeface="Arial"/>
              </a:rPr>
              <a:t>for  </a:t>
            </a:r>
            <a:r>
              <a:rPr dirty="0" sz="1200" spc="-10">
                <a:latin typeface="Arial"/>
                <a:cs typeface="Arial"/>
              </a:rPr>
              <a:t>you </a:t>
            </a:r>
            <a:r>
              <a:rPr dirty="0" sz="1200">
                <a:latin typeface="Arial"/>
                <a:cs typeface="Arial"/>
              </a:rPr>
              <a:t>on </a:t>
            </a:r>
            <a:r>
              <a:rPr dirty="0" sz="1200" spc="-5">
                <a:latin typeface="Arial"/>
                <a:cs typeface="Arial"/>
              </a:rPr>
              <a:t>earth a habitation and provision </a:t>
            </a:r>
            <a:r>
              <a:rPr dirty="0" sz="1200">
                <a:latin typeface="Arial"/>
                <a:cs typeface="Arial"/>
              </a:rPr>
              <a:t>for </a:t>
            </a:r>
            <a:r>
              <a:rPr dirty="0" sz="1200" spc="-5">
                <a:latin typeface="Arial"/>
                <a:cs typeface="Arial"/>
              </a:rPr>
              <a:t>a tune.</a:t>
            </a:r>
            <a:endParaRPr sz="1200">
              <a:latin typeface="Arial"/>
              <a:cs typeface="Arial"/>
            </a:endParaRPr>
          </a:p>
          <a:p>
            <a:pPr>
              <a:lnSpc>
                <a:spcPct val="100000"/>
              </a:lnSpc>
              <a:spcBef>
                <a:spcPts val="20"/>
              </a:spcBef>
              <a:buFont typeface="Arial"/>
              <a:buAutoNum type="arabicPeriod" startAt="36"/>
            </a:pPr>
            <a:endParaRPr sz="1100">
              <a:latin typeface="Arial"/>
              <a:cs typeface="Arial"/>
            </a:endParaRPr>
          </a:p>
          <a:p>
            <a:pPr algn="r" marR="161290">
              <a:lnSpc>
                <a:spcPct val="100000"/>
              </a:lnSpc>
            </a:pPr>
            <a:r>
              <a:rPr dirty="0" baseline="1543" sz="2700" spc="-434">
                <a:latin typeface="Arial"/>
                <a:cs typeface="Arial"/>
              </a:rPr>
              <a:t>م</a:t>
            </a:r>
            <a:r>
              <a:rPr dirty="0" baseline="-4629" sz="2700" spc="-434">
                <a:latin typeface="Arial"/>
                <a:cs typeface="Arial"/>
              </a:rPr>
              <a:t>ُ </a:t>
            </a:r>
            <a:r>
              <a:rPr dirty="0" baseline="1543" sz="2700" spc="-480">
                <a:latin typeface="Arial"/>
                <a:cs typeface="Arial"/>
              </a:rPr>
              <a:t>ٌح</a:t>
            </a:r>
            <a:r>
              <a:rPr dirty="0" sz="1800" spc="-320">
                <a:latin typeface="Arial"/>
                <a:cs typeface="Arial"/>
              </a:rPr>
              <a:t>ِ </a:t>
            </a:r>
            <a:r>
              <a:rPr dirty="0" baseline="1543" sz="2700" spc="-345">
                <a:latin typeface="Arial"/>
                <a:cs typeface="Arial"/>
              </a:rPr>
              <a:t>ر</a:t>
            </a:r>
            <a:r>
              <a:rPr dirty="0" sz="1800" spc="-229">
                <a:latin typeface="Arial"/>
                <a:cs typeface="Arial"/>
              </a:rPr>
              <a:t>َّ </a:t>
            </a:r>
            <a:r>
              <a:rPr dirty="0" baseline="1543" sz="2700" spc="-412">
                <a:latin typeface="Arial"/>
                <a:cs typeface="Arial"/>
              </a:rPr>
              <a:t>لٱ </a:t>
            </a:r>
            <a:r>
              <a:rPr dirty="0" baseline="1543" sz="2700" spc="-802">
                <a:latin typeface="Arial"/>
                <a:cs typeface="Arial"/>
              </a:rPr>
              <a:t>بُ</a:t>
            </a:r>
            <a:r>
              <a:rPr dirty="0" baseline="1543" sz="2700" spc="855">
                <a:latin typeface="Arial"/>
                <a:cs typeface="Arial"/>
              </a:rPr>
              <a:t> </a:t>
            </a:r>
            <a:r>
              <a:rPr dirty="0" baseline="1543" sz="2700" spc="-165">
                <a:latin typeface="Arial"/>
                <a:cs typeface="Arial"/>
              </a:rPr>
              <a:t>او</a:t>
            </a:r>
            <a:r>
              <a:rPr dirty="0" sz="1800" spc="-110">
                <a:latin typeface="Arial"/>
                <a:cs typeface="Arial"/>
              </a:rPr>
              <a:t>َّ </a:t>
            </a:r>
            <a:r>
              <a:rPr dirty="0" baseline="1543" sz="2700" spc="-607">
                <a:latin typeface="Arial"/>
                <a:cs typeface="Arial"/>
              </a:rPr>
              <a:t>ت</a:t>
            </a:r>
            <a:r>
              <a:rPr dirty="0" baseline="9259" sz="2700" spc="-607">
                <a:latin typeface="Arial"/>
                <a:cs typeface="Arial"/>
              </a:rPr>
              <a:t>َّ </a:t>
            </a:r>
            <a:r>
              <a:rPr dirty="0" baseline="1543" sz="2700" spc="-412">
                <a:latin typeface="Arial"/>
                <a:cs typeface="Arial"/>
              </a:rPr>
              <a:t>لٱ </a:t>
            </a:r>
            <a:r>
              <a:rPr dirty="0" baseline="1543" sz="2700" spc="-307">
                <a:latin typeface="Arial"/>
                <a:cs typeface="Arial"/>
              </a:rPr>
              <a:t>و</a:t>
            </a:r>
            <a:r>
              <a:rPr dirty="0" baseline="-1543" sz="2700" spc="-307">
                <a:latin typeface="Arial"/>
                <a:cs typeface="Arial"/>
              </a:rPr>
              <a:t>َ </a:t>
            </a:r>
            <a:r>
              <a:rPr dirty="0" baseline="1543" sz="2700" spc="-315">
                <a:latin typeface="Arial"/>
                <a:cs typeface="Arial"/>
              </a:rPr>
              <a:t>هُ </a:t>
            </a:r>
            <a:r>
              <a:rPr dirty="0" baseline="1543" sz="2700" spc="-322">
                <a:latin typeface="Arial"/>
                <a:cs typeface="Arial"/>
              </a:rPr>
              <a:t>هُ </a:t>
            </a:r>
            <a:r>
              <a:rPr dirty="0" baseline="1543" sz="2700" spc="-442">
                <a:latin typeface="Arial"/>
                <a:cs typeface="Arial"/>
              </a:rPr>
              <a:t>ن</a:t>
            </a:r>
            <a:r>
              <a:rPr dirty="0" baseline="9259" sz="2700" spc="-442">
                <a:latin typeface="Arial"/>
                <a:cs typeface="Arial"/>
              </a:rPr>
              <a:t>َّ </a:t>
            </a:r>
            <a:r>
              <a:rPr dirty="0" baseline="-12345" sz="2700">
                <a:latin typeface="Arial"/>
                <a:cs typeface="Arial"/>
              </a:rPr>
              <a:t>ِ</a:t>
            </a:r>
            <a:r>
              <a:rPr dirty="0" baseline="1543" sz="2700">
                <a:latin typeface="Arial"/>
                <a:cs typeface="Arial"/>
              </a:rPr>
              <a:t>إ </a:t>
            </a:r>
            <a:r>
              <a:rPr dirty="0" baseline="1543" sz="2700" spc="-337">
                <a:latin typeface="Arial"/>
                <a:cs typeface="Arial"/>
              </a:rPr>
              <a:t>ه</a:t>
            </a:r>
            <a:r>
              <a:rPr dirty="0" sz="1800" spc="-225">
                <a:latin typeface="Arial"/>
                <a:cs typeface="Arial"/>
              </a:rPr>
              <a:t>ِ </a:t>
            </a:r>
            <a:r>
              <a:rPr dirty="0" baseline="1543" sz="2700">
                <a:latin typeface="Arial"/>
                <a:cs typeface="Arial"/>
              </a:rPr>
              <a:t>ٌْ </a:t>
            </a:r>
            <a:r>
              <a:rPr dirty="0" baseline="9259" sz="2700" spc="-509">
                <a:latin typeface="Arial"/>
                <a:cs typeface="Arial"/>
              </a:rPr>
              <a:t>َ</a:t>
            </a:r>
            <a:r>
              <a:rPr dirty="0" baseline="1543" sz="2700" spc="-509">
                <a:latin typeface="Arial"/>
                <a:cs typeface="Arial"/>
              </a:rPr>
              <a:t>لع</a:t>
            </a:r>
            <a:r>
              <a:rPr dirty="0" baseline="-1543" sz="2700" spc="-509">
                <a:latin typeface="Arial"/>
                <a:cs typeface="Arial"/>
              </a:rPr>
              <a:t>َ </a:t>
            </a:r>
            <a:r>
              <a:rPr dirty="0" baseline="1543" sz="2700" spc="-772">
                <a:latin typeface="Arial"/>
                <a:cs typeface="Arial"/>
              </a:rPr>
              <a:t>ب</a:t>
            </a:r>
            <a:r>
              <a:rPr dirty="0" baseline="-1543" sz="2700" spc="-772">
                <a:latin typeface="Arial"/>
                <a:cs typeface="Arial"/>
              </a:rPr>
              <a:t>َ</a:t>
            </a:r>
            <a:r>
              <a:rPr dirty="0" baseline="-1543" sz="2700" spc="780">
                <a:latin typeface="Arial"/>
                <a:cs typeface="Arial"/>
              </a:rPr>
              <a:t> </a:t>
            </a:r>
            <a:r>
              <a:rPr dirty="0" baseline="1543" sz="2700" spc="-585">
                <a:latin typeface="Arial"/>
                <a:cs typeface="Arial"/>
              </a:rPr>
              <a:t>ات</a:t>
            </a:r>
            <a:r>
              <a:rPr dirty="0" baseline="6172" sz="2700" spc="-585">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660">
                <a:latin typeface="Arial"/>
                <a:cs typeface="Arial"/>
              </a:rPr>
              <a:t> </a:t>
            </a:r>
            <a:r>
              <a:rPr dirty="0" baseline="1543" sz="2700" spc="-869">
                <a:latin typeface="Arial"/>
                <a:cs typeface="Arial"/>
              </a:rPr>
              <a:t>تٍ</a:t>
            </a:r>
            <a:r>
              <a:rPr dirty="0" baseline="1543" sz="2700" spc="982">
                <a:latin typeface="Arial"/>
                <a:cs typeface="Arial"/>
              </a:rPr>
              <a:t> </a:t>
            </a:r>
            <a:r>
              <a:rPr dirty="0" baseline="1543" sz="2700" spc="-225">
                <a:latin typeface="Arial"/>
                <a:cs typeface="Arial"/>
              </a:rPr>
              <a:t>ام</a:t>
            </a:r>
            <a:r>
              <a:rPr dirty="0" baseline="-1543" sz="2700" spc="-225">
                <a:latin typeface="Arial"/>
                <a:cs typeface="Arial"/>
              </a:rPr>
              <a:t>َ </a:t>
            </a:r>
            <a:r>
              <a:rPr dirty="0" sz="1800" spc="-380">
                <a:latin typeface="Arial"/>
                <a:cs typeface="Arial"/>
              </a:rPr>
              <a:t>ِ</a:t>
            </a:r>
            <a:r>
              <a:rPr dirty="0" baseline="1543" sz="2700" spc="-569">
                <a:latin typeface="Arial"/>
                <a:cs typeface="Arial"/>
              </a:rPr>
              <a:t>لك</a:t>
            </a:r>
            <a:r>
              <a:rPr dirty="0" baseline="6172" sz="2700" spc="-569">
                <a:latin typeface="Arial"/>
                <a:cs typeface="Arial"/>
              </a:rPr>
              <a:t>َ </a:t>
            </a:r>
            <a:r>
              <a:rPr dirty="0" baseline="1543" sz="2700" spc="-337">
                <a:latin typeface="Arial"/>
                <a:cs typeface="Arial"/>
              </a:rPr>
              <a:t>ه</a:t>
            </a:r>
            <a:r>
              <a:rPr dirty="0" sz="1800" spc="-225">
                <a:latin typeface="Arial"/>
                <a:cs typeface="Arial"/>
              </a:rPr>
              <a:t>ِ </a:t>
            </a:r>
            <a:r>
              <a:rPr dirty="0" baseline="1543" sz="2700" spc="-607">
                <a:latin typeface="Arial"/>
                <a:cs typeface="Arial"/>
              </a:rPr>
              <a:t>بِّ </a:t>
            </a:r>
            <a:r>
              <a:rPr dirty="0" baseline="1543" sz="2700" spc="-345">
                <a:latin typeface="Arial"/>
                <a:cs typeface="Arial"/>
              </a:rPr>
              <a:t>ر</a:t>
            </a:r>
            <a:r>
              <a:rPr dirty="0" sz="1800" spc="-229">
                <a:latin typeface="Arial"/>
                <a:cs typeface="Arial"/>
              </a:rPr>
              <a:t>َّ </a:t>
            </a:r>
            <a:r>
              <a:rPr dirty="0" baseline="1543" sz="2700" spc="-240">
                <a:latin typeface="Arial"/>
                <a:cs typeface="Arial"/>
              </a:rPr>
              <a:t>نم</a:t>
            </a:r>
            <a:r>
              <a:rPr dirty="0" sz="1800" spc="-160">
                <a:latin typeface="Arial"/>
                <a:cs typeface="Arial"/>
              </a:rPr>
              <a:t>ِ </a:t>
            </a:r>
            <a:r>
              <a:rPr dirty="0" baseline="1543" sz="2700" spc="-427">
                <a:latin typeface="Arial"/>
                <a:cs typeface="Arial"/>
              </a:rPr>
              <a:t>م</a:t>
            </a:r>
            <a:r>
              <a:rPr dirty="0" baseline="-4629" sz="2700" spc="-427">
                <a:latin typeface="Arial"/>
                <a:cs typeface="Arial"/>
              </a:rPr>
              <a:t>ُ </a:t>
            </a:r>
            <a:r>
              <a:rPr dirty="0" baseline="1543" sz="2700" spc="-322">
                <a:latin typeface="Arial"/>
                <a:cs typeface="Arial"/>
              </a:rPr>
              <a:t>د</a:t>
            </a:r>
            <a:r>
              <a:rPr dirty="0" sz="1800" spc="-215">
                <a:latin typeface="Arial"/>
                <a:cs typeface="Arial"/>
              </a:rPr>
              <a:t>َ </a:t>
            </a:r>
            <a:r>
              <a:rPr dirty="0" baseline="1543" sz="2700" spc="-315">
                <a:latin typeface="Arial"/>
                <a:cs typeface="Arial"/>
              </a:rPr>
              <a:t>اء</a:t>
            </a:r>
            <a:r>
              <a:rPr dirty="0" baseline="-1543" sz="2700" spc="-315">
                <a:latin typeface="Arial"/>
                <a:cs typeface="Arial"/>
              </a:rPr>
              <a:t>َ </a:t>
            </a:r>
            <a:r>
              <a:rPr dirty="0" baseline="1543" sz="2700" spc="-532">
                <a:latin typeface="Arial"/>
                <a:cs typeface="Arial"/>
              </a:rPr>
              <a:t>ى</a:t>
            </a:r>
            <a:r>
              <a:rPr dirty="0" baseline="6172" sz="2700" spc="-532">
                <a:latin typeface="Arial"/>
                <a:cs typeface="Arial"/>
              </a:rPr>
              <a:t>ٰ </a:t>
            </a:r>
            <a:r>
              <a:rPr dirty="0" baseline="1543" sz="2700" spc="-517">
                <a:latin typeface="Arial"/>
                <a:cs typeface="Arial"/>
              </a:rPr>
              <a:t>ق</a:t>
            </a:r>
            <a:r>
              <a:rPr dirty="0" baseline="9259" sz="2700" spc="-517">
                <a:latin typeface="Arial"/>
                <a:cs typeface="Arial"/>
              </a:rPr>
              <a:t>َّ</a:t>
            </a:r>
            <a:r>
              <a:rPr dirty="0" baseline="9259" sz="2700" spc="-427">
                <a:latin typeface="Arial"/>
                <a:cs typeface="Arial"/>
              </a:rPr>
              <a:t> </a:t>
            </a:r>
            <a:r>
              <a:rPr dirty="0" baseline="9259" sz="2700" spc="-652">
                <a:latin typeface="Arial"/>
                <a:cs typeface="Arial"/>
              </a:rPr>
              <a:t>َ</a:t>
            </a:r>
            <a:r>
              <a:rPr dirty="0" baseline="1543" sz="2700" spc="-652">
                <a:latin typeface="Arial"/>
                <a:cs typeface="Arial"/>
              </a:rPr>
              <a:t>لت</a:t>
            </a:r>
            <a:r>
              <a:rPr dirty="0" baseline="6172" sz="2700" spc="-652">
                <a:latin typeface="Arial"/>
                <a:cs typeface="Arial"/>
              </a:rPr>
              <a:t>َ </a:t>
            </a:r>
            <a:r>
              <a:rPr dirty="0" baseline="1543" sz="2700" spc="-2062">
                <a:latin typeface="Arial"/>
                <a:cs typeface="Arial"/>
              </a:rPr>
              <a:t>ف</a:t>
            </a:r>
            <a:endParaRPr baseline="1543" sz="2700">
              <a:latin typeface="Arial"/>
              <a:cs typeface="Arial"/>
            </a:endParaRPr>
          </a:p>
          <a:p>
            <a:pPr algn="just" marL="101600" marR="111125">
              <a:lnSpc>
                <a:spcPts val="1380"/>
              </a:lnSpc>
              <a:spcBef>
                <a:spcPts val="1380"/>
              </a:spcBef>
              <a:buAutoNum type="arabicPeriod" startAt="37"/>
              <a:tabLst>
                <a:tab pos="357505" algn="l"/>
              </a:tabLst>
            </a:pPr>
            <a:r>
              <a:rPr dirty="0" sz="1200" spc="-5">
                <a:latin typeface="Arial"/>
                <a:cs typeface="Arial"/>
              </a:rPr>
              <a:t>Then Adam received </a:t>
            </a:r>
            <a:r>
              <a:rPr dirty="0" sz="1200">
                <a:latin typeface="Arial"/>
                <a:cs typeface="Arial"/>
              </a:rPr>
              <a:t>from his </a:t>
            </a:r>
            <a:r>
              <a:rPr dirty="0" sz="1200" spc="-5">
                <a:latin typeface="Arial"/>
                <a:cs typeface="Arial"/>
              </a:rPr>
              <a:t>Lord words </a:t>
            </a:r>
            <a:r>
              <a:rPr dirty="0" sz="1200">
                <a:latin typeface="Arial"/>
                <a:cs typeface="Arial"/>
              </a:rPr>
              <a:t>(of </a:t>
            </a:r>
            <a:r>
              <a:rPr dirty="0" sz="1200" spc="-5">
                <a:latin typeface="Arial"/>
                <a:cs typeface="Arial"/>
              </a:rPr>
              <a:t>revelation), and He </a:t>
            </a:r>
            <a:r>
              <a:rPr dirty="0" sz="1200">
                <a:latin typeface="Arial"/>
                <a:cs typeface="Arial"/>
              </a:rPr>
              <a:t>relented </a:t>
            </a:r>
            <a:r>
              <a:rPr dirty="0" sz="1200" spc="-5">
                <a:latin typeface="Arial"/>
                <a:cs typeface="Arial"/>
              </a:rPr>
              <a:t>toward </a:t>
            </a:r>
            <a:r>
              <a:rPr dirty="0" sz="1200">
                <a:latin typeface="Arial"/>
                <a:cs typeface="Arial"/>
              </a:rPr>
              <a:t>him. </a:t>
            </a:r>
            <a:r>
              <a:rPr dirty="0" sz="1200" spc="-5">
                <a:latin typeface="Arial"/>
                <a:cs typeface="Arial"/>
              </a:rPr>
              <a:t>Lo!  He is </a:t>
            </a:r>
            <a:r>
              <a:rPr dirty="0" sz="1200">
                <a:latin typeface="Arial"/>
                <a:cs typeface="Arial"/>
              </a:rPr>
              <a:t>the </a:t>
            </a:r>
            <a:r>
              <a:rPr dirty="0" sz="1200" spc="-5">
                <a:latin typeface="Arial"/>
                <a:cs typeface="Arial"/>
              </a:rPr>
              <a:t>Relenting the</a:t>
            </a:r>
            <a:r>
              <a:rPr dirty="0" sz="1200">
                <a:latin typeface="Arial"/>
                <a:cs typeface="Arial"/>
              </a:rPr>
              <a:t> </a:t>
            </a:r>
            <a:r>
              <a:rPr dirty="0" sz="1200" spc="-5">
                <a:latin typeface="Arial"/>
                <a:cs typeface="Arial"/>
              </a:rPr>
              <a:t>Merciful.</a:t>
            </a:r>
            <a:endParaRPr sz="1200">
              <a:latin typeface="Arial"/>
              <a:cs typeface="Arial"/>
            </a:endParaRPr>
          </a:p>
          <a:p>
            <a:pPr>
              <a:lnSpc>
                <a:spcPct val="100000"/>
              </a:lnSpc>
            </a:pPr>
            <a:endParaRPr sz="1300">
              <a:latin typeface="Arial"/>
              <a:cs typeface="Arial"/>
            </a:endParaRPr>
          </a:p>
          <a:p>
            <a:pPr>
              <a:lnSpc>
                <a:spcPct val="100000"/>
              </a:lnSpc>
              <a:spcBef>
                <a:spcPts val="20"/>
              </a:spcBef>
            </a:pPr>
            <a:endParaRPr sz="1000">
              <a:latin typeface="Arial"/>
              <a:cs typeface="Arial"/>
            </a:endParaRPr>
          </a:p>
          <a:p>
            <a:pPr algn="just" marL="101600">
              <a:lnSpc>
                <a:spcPct val="100000"/>
              </a:lnSpc>
            </a:pPr>
            <a:r>
              <a:rPr dirty="0" sz="1200" spc="-5" b="1">
                <a:latin typeface="Arial"/>
                <a:cs typeface="Arial"/>
              </a:rPr>
              <a:t>(Verse 40 </a:t>
            </a:r>
            <a:r>
              <a:rPr dirty="0" sz="1200" b="1">
                <a:latin typeface="Arial"/>
                <a:cs typeface="Arial"/>
              </a:rPr>
              <a:t>– </a:t>
            </a:r>
            <a:r>
              <a:rPr dirty="0" sz="1200" spc="-10" b="1">
                <a:latin typeface="Arial"/>
                <a:cs typeface="Arial"/>
              </a:rPr>
              <a:t>120):</a:t>
            </a:r>
            <a:endParaRPr sz="1200">
              <a:latin typeface="Arial"/>
              <a:cs typeface="Arial"/>
            </a:endParaRPr>
          </a:p>
          <a:p>
            <a:pPr>
              <a:lnSpc>
                <a:spcPct val="100000"/>
              </a:lnSpc>
              <a:spcBef>
                <a:spcPts val="35"/>
              </a:spcBef>
            </a:pPr>
            <a:endParaRPr sz="1200">
              <a:latin typeface="Arial"/>
              <a:cs typeface="Arial"/>
            </a:endParaRPr>
          </a:p>
          <a:p>
            <a:pPr algn="just" marL="101600" marR="107314">
              <a:lnSpc>
                <a:spcPts val="1380"/>
              </a:lnSpc>
            </a:pPr>
            <a:r>
              <a:rPr dirty="0" sz="1200">
                <a:latin typeface="Arial"/>
                <a:cs typeface="Arial"/>
              </a:rPr>
              <a:t>In this </a:t>
            </a:r>
            <a:r>
              <a:rPr dirty="0" sz="1200" spc="-5">
                <a:latin typeface="Arial"/>
                <a:cs typeface="Arial"/>
              </a:rPr>
              <a:t>portion invitation </a:t>
            </a:r>
            <a:r>
              <a:rPr dirty="0" sz="1200">
                <a:latin typeface="Arial"/>
                <a:cs typeface="Arial"/>
              </a:rPr>
              <a:t>to the </a:t>
            </a:r>
            <a:r>
              <a:rPr dirty="0" sz="1200" spc="-5">
                <a:latin typeface="Arial"/>
                <a:cs typeface="Arial"/>
              </a:rPr>
              <a:t>Guidance </a:t>
            </a:r>
            <a:r>
              <a:rPr dirty="0" sz="1200" spc="-10">
                <a:latin typeface="Arial"/>
                <a:cs typeface="Arial"/>
              </a:rPr>
              <a:t>has </a:t>
            </a:r>
            <a:r>
              <a:rPr dirty="0" sz="1200" spc="-5">
                <a:latin typeface="Arial"/>
                <a:cs typeface="Arial"/>
              </a:rPr>
              <a:t>particularly been extended to the children of  </a:t>
            </a:r>
            <a:r>
              <a:rPr dirty="0" sz="1200">
                <a:latin typeface="Arial"/>
                <a:cs typeface="Arial"/>
              </a:rPr>
              <a:t>Israel </a:t>
            </a:r>
            <a:r>
              <a:rPr dirty="0" sz="1200" spc="-5">
                <a:latin typeface="Arial"/>
                <a:cs typeface="Arial"/>
              </a:rPr>
              <a:t>and their </a:t>
            </a:r>
            <a:r>
              <a:rPr dirty="0" sz="1200">
                <a:latin typeface="Arial"/>
                <a:cs typeface="Arial"/>
              </a:rPr>
              <a:t>past </a:t>
            </a:r>
            <a:r>
              <a:rPr dirty="0" sz="1200" spc="-5">
                <a:latin typeface="Arial"/>
                <a:cs typeface="Arial"/>
              </a:rPr>
              <a:t>and present attitude has been criticised </a:t>
            </a:r>
            <a:r>
              <a:rPr dirty="0" sz="1200">
                <a:latin typeface="Arial"/>
                <a:cs typeface="Arial"/>
              </a:rPr>
              <a:t>to </a:t>
            </a:r>
            <a:r>
              <a:rPr dirty="0" sz="1200" spc="-10">
                <a:latin typeface="Arial"/>
                <a:cs typeface="Arial"/>
              </a:rPr>
              <a:t>show </a:t>
            </a:r>
            <a:r>
              <a:rPr dirty="0" sz="1200">
                <a:latin typeface="Arial"/>
                <a:cs typeface="Arial"/>
              </a:rPr>
              <a:t>that the </a:t>
            </a:r>
            <a:r>
              <a:rPr dirty="0" sz="1200" spc="-5">
                <a:latin typeface="Arial"/>
                <a:cs typeface="Arial"/>
              </a:rPr>
              <a:t>cause of their  degradation </a:t>
            </a:r>
            <a:r>
              <a:rPr dirty="0" sz="1200" spc="-10">
                <a:latin typeface="Arial"/>
                <a:cs typeface="Arial"/>
              </a:rPr>
              <a:t>was </a:t>
            </a:r>
            <a:r>
              <a:rPr dirty="0" sz="1200">
                <a:latin typeface="Arial"/>
                <a:cs typeface="Arial"/>
              </a:rPr>
              <a:t>their </a:t>
            </a:r>
            <a:r>
              <a:rPr dirty="0" sz="1200" spc="-5">
                <a:latin typeface="Arial"/>
                <a:cs typeface="Arial"/>
              </a:rPr>
              <a:t>deviation from the Guidance. Allah </a:t>
            </a:r>
            <a:r>
              <a:rPr dirty="0" sz="1200">
                <a:latin typeface="Arial"/>
                <a:cs typeface="Arial"/>
              </a:rPr>
              <a:t>asks for </a:t>
            </a:r>
            <a:r>
              <a:rPr dirty="0" sz="1200" spc="-5">
                <a:latin typeface="Arial"/>
                <a:cs typeface="Arial"/>
              </a:rPr>
              <a:t>being </a:t>
            </a:r>
            <a:r>
              <a:rPr dirty="0" sz="1200">
                <a:latin typeface="Arial"/>
                <a:cs typeface="Arial"/>
              </a:rPr>
              <a:t>worshipped, to  </a:t>
            </a:r>
            <a:r>
              <a:rPr dirty="0" sz="1200" spc="-5">
                <a:latin typeface="Arial"/>
                <a:cs typeface="Arial"/>
              </a:rPr>
              <a:t>observe </a:t>
            </a:r>
            <a:r>
              <a:rPr dirty="0" sz="1200">
                <a:latin typeface="Arial"/>
                <a:cs typeface="Arial"/>
              </a:rPr>
              <a:t>Sabr, to </a:t>
            </a:r>
            <a:r>
              <a:rPr dirty="0" sz="1200" spc="-5">
                <a:latin typeface="Arial"/>
                <a:cs typeface="Arial"/>
              </a:rPr>
              <a:t>remember </a:t>
            </a:r>
            <a:r>
              <a:rPr dirty="0" sz="1200">
                <a:latin typeface="Arial"/>
                <a:cs typeface="Arial"/>
              </a:rPr>
              <a:t>the </a:t>
            </a:r>
            <a:r>
              <a:rPr dirty="0" sz="1200" spc="-5">
                <a:latin typeface="Arial"/>
                <a:cs typeface="Arial"/>
              </a:rPr>
              <a:t>favours of Allah and </a:t>
            </a:r>
            <a:r>
              <a:rPr dirty="0" sz="1200">
                <a:latin typeface="Arial"/>
                <a:cs typeface="Arial"/>
              </a:rPr>
              <a:t>to fear </a:t>
            </a:r>
            <a:r>
              <a:rPr dirty="0" sz="1200" spc="-5">
                <a:latin typeface="Arial"/>
                <a:cs typeface="Arial"/>
              </a:rPr>
              <a:t>His</a:t>
            </a:r>
            <a:r>
              <a:rPr dirty="0" sz="1200" spc="-25">
                <a:latin typeface="Arial"/>
                <a:cs typeface="Arial"/>
              </a:rPr>
              <a:t> </a:t>
            </a:r>
            <a:r>
              <a:rPr dirty="0" sz="1200" spc="-5">
                <a:latin typeface="Arial"/>
                <a:cs typeface="Arial"/>
              </a:rPr>
              <a:t>punishment.</a:t>
            </a:r>
            <a:endParaRPr sz="1200">
              <a:latin typeface="Arial"/>
              <a:cs typeface="Arial"/>
            </a:endParaRPr>
          </a:p>
          <a:p>
            <a:pPr>
              <a:lnSpc>
                <a:spcPct val="100000"/>
              </a:lnSpc>
              <a:spcBef>
                <a:spcPts val="20"/>
              </a:spcBef>
            </a:pPr>
            <a:endParaRPr sz="1100">
              <a:latin typeface="Arial"/>
              <a:cs typeface="Arial"/>
            </a:endParaRPr>
          </a:p>
          <a:p>
            <a:pPr algn="just" marL="101600">
              <a:lnSpc>
                <a:spcPct val="100000"/>
              </a:lnSpc>
            </a:pPr>
            <a:r>
              <a:rPr dirty="0" sz="1200" spc="-5">
                <a:latin typeface="Arial"/>
                <a:cs typeface="Arial"/>
              </a:rPr>
              <a:t>Allah says:</a:t>
            </a:r>
            <a:endParaRPr sz="1200">
              <a:latin typeface="Arial"/>
              <a:cs typeface="Arial"/>
            </a:endParaRPr>
          </a:p>
        </p:txBody>
      </p:sp>
      <p:sp>
        <p:nvSpPr>
          <p:cNvPr id="9" name="object 9"/>
          <p:cNvSpPr txBox="1"/>
          <p:nvPr/>
        </p:nvSpPr>
        <p:spPr>
          <a:xfrm>
            <a:off x="1048816" y="5268848"/>
            <a:ext cx="1252855" cy="299720"/>
          </a:xfrm>
          <a:prstGeom prst="rect">
            <a:avLst/>
          </a:prstGeom>
        </p:spPr>
        <p:txBody>
          <a:bodyPr wrap="square" lIns="0" tIns="12700" rIns="0" bIns="0" rtlCol="0" vert="horz">
            <a:spAutoFit/>
          </a:bodyPr>
          <a:lstStyle/>
          <a:p>
            <a:pPr marL="38100">
              <a:lnSpc>
                <a:spcPct val="100000"/>
              </a:lnSpc>
              <a:spcBef>
                <a:spcPts val="100"/>
              </a:spcBef>
            </a:pPr>
            <a:r>
              <a:rPr dirty="0" baseline="1543" sz="2700" spc="-697">
                <a:latin typeface="Arial"/>
                <a:cs typeface="Arial"/>
              </a:rPr>
              <a:t>ي</a:t>
            </a:r>
            <a:r>
              <a:rPr dirty="0" baseline="-1543" sz="2700" spc="-697">
                <a:latin typeface="Arial"/>
                <a:cs typeface="Arial"/>
              </a:rPr>
              <a:t>َ </a:t>
            </a:r>
            <a:r>
              <a:rPr dirty="0" baseline="1543" sz="2700" spc="7">
                <a:latin typeface="Arial"/>
                <a:cs typeface="Arial"/>
              </a:rPr>
              <a:t>اٌ</a:t>
            </a:r>
            <a:r>
              <a:rPr dirty="0" sz="1800" spc="5">
                <a:latin typeface="Arial"/>
                <a:cs typeface="Arial"/>
              </a:rPr>
              <a:t>َّ </a:t>
            </a:r>
            <a:r>
              <a:rPr dirty="0" baseline="-12345" sz="2700" spc="-165">
                <a:latin typeface="Arial"/>
                <a:cs typeface="Arial"/>
              </a:rPr>
              <a:t>ِ</a:t>
            </a:r>
            <a:r>
              <a:rPr dirty="0" baseline="1543" sz="2700" spc="-165">
                <a:latin typeface="Arial"/>
                <a:cs typeface="Arial"/>
              </a:rPr>
              <a:t>إو</a:t>
            </a:r>
            <a:r>
              <a:rPr dirty="0" baseline="-1543" sz="2700" spc="-16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72">
                <a:latin typeface="Arial"/>
                <a:cs typeface="Arial"/>
              </a:rPr>
              <a:t> </a:t>
            </a:r>
            <a:r>
              <a:rPr dirty="0" baseline="1543" sz="2700" spc="-352">
                <a:latin typeface="Arial"/>
                <a:cs typeface="Arial"/>
              </a:rPr>
              <a:t>د</a:t>
            </a:r>
            <a:r>
              <a:rPr dirty="0" sz="1800" spc="-235">
                <a:latin typeface="Arial"/>
                <a:cs typeface="Arial"/>
              </a:rPr>
              <a:t>ِ </a:t>
            </a:r>
            <a:r>
              <a:rPr dirty="0" baseline="1543" sz="2700" spc="-284">
                <a:latin typeface="Arial"/>
                <a:cs typeface="Arial"/>
              </a:rPr>
              <a:t>هْ </a:t>
            </a:r>
            <a:r>
              <a:rPr dirty="0" baseline="1543" sz="2700" spc="-600">
                <a:latin typeface="Arial"/>
                <a:cs typeface="Arial"/>
              </a:rPr>
              <a:t>ع</a:t>
            </a:r>
            <a:r>
              <a:rPr dirty="0" baseline="-1543" sz="2700" spc="-600">
                <a:latin typeface="Arial"/>
                <a:cs typeface="Arial"/>
              </a:rPr>
              <a:t>َ</a:t>
            </a:r>
            <a:r>
              <a:rPr dirty="0" baseline="-1543" sz="2700" spc="-577">
                <a:latin typeface="Arial"/>
                <a:cs typeface="Arial"/>
              </a:rPr>
              <a:t> </a:t>
            </a:r>
            <a:r>
              <a:rPr dirty="0" baseline="1543" sz="2700" spc="-960">
                <a:latin typeface="Arial"/>
                <a:cs typeface="Arial"/>
              </a:rPr>
              <a:t>ب</a:t>
            </a:r>
            <a:r>
              <a:rPr dirty="0" baseline="-12345" sz="2700" spc="-960">
                <a:latin typeface="Arial"/>
                <a:cs typeface="Arial"/>
              </a:rPr>
              <a:t>ِ</a:t>
            </a:r>
            <a:r>
              <a:rPr dirty="0" baseline="-12345" sz="2700" spc="644">
                <a:latin typeface="Arial"/>
                <a:cs typeface="Arial"/>
              </a:rPr>
              <a:t> </a:t>
            </a:r>
            <a:r>
              <a:rPr dirty="0" baseline="1543" sz="2700" spc="-1439">
                <a:latin typeface="Arial"/>
                <a:cs typeface="Arial"/>
              </a:rPr>
              <a:t>ؾ</a:t>
            </a:r>
            <a:endParaRPr baseline="1543" sz="2700">
              <a:latin typeface="Arial"/>
              <a:cs typeface="Arial"/>
            </a:endParaRPr>
          </a:p>
        </p:txBody>
      </p:sp>
      <p:sp>
        <p:nvSpPr>
          <p:cNvPr id="10" name="object 10"/>
          <p:cNvSpPr txBox="1"/>
          <p:nvPr/>
        </p:nvSpPr>
        <p:spPr>
          <a:xfrm>
            <a:off x="2082088" y="5268848"/>
            <a:ext cx="1857375" cy="299720"/>
          </a:xfrm>
          <a:prstGeom prst="rect">
            <a:avLst/>
          </a:prstGeom>
        </p:spPr>
        <p:txBody>
          <a:bodyPr wrap="square" lIns="0" tIns="12700" rIns="0" bIns="0" rtlCol="0" vert="horz">
            <a:spAutoFit/>
          </a:bodyPr>
          <a:lstStyle/>
          <a:p>
            <a:pPr marL="38100">
              <a:lnSpc>
                <a:spcPct val="100000"/>
              </a:lnSpc>
              <a:spcBef>
                <a:spcPts val="100"/>
              </a:spcBef>
            </a:pPr>
            <a:r>
              <a:rPr dirty="0" sz="1800">
                <a:latin typeface="Arial"/>
                <a:cs typeface="Arial"/>
              </a:rPr>
              <a:t>ِ </a:t>
            </a:r>
            <a:r>
              <a:rPr dirty="0" baseline="1543" sz="2700" spc="-44">
                <a:latin typeface="Arial"/>
                <a:cs typeface="Arial"/>
              </a:rPr>
              <a:t>و</a:t>
            </a:r>
            <a:r>
              <a:rPr dirty="0" baseline="18518" sz="2700" spc="-44">
                <a:latin typeface="Arial"/>
                <a:cs typeface="Arial"/>
              </a:rPr>
              <a:t>ُ</a:t>
            </a:r>
            <a:r>
              <a:rPr dirty="0" baseline="1543" sz="2700" spc="-44">
                <a:latin typeface="Arial"/>
                <a:cs typeface="Arial"/>
              </a:rPr>
              <a:t>أ </a:t>
            </a:r>
            <a:r>
              <a:rPr dirty="0" baseline="1543" sz="2700" spc="-540">
                <a:latin typeface="Arial"/>
                <a:cs typeface="Arial"/>
              </a:rPr>
              <a:t>ي</a:t>
            </a:r>
            <a:r>
              <a:rPr dirty="0" baseline="7716" sz="2700" spc="-540">
                <a:latin typeface="Arial"/>
                <a:cs typeface="Arial"/>
              </a:rPr>
              <a:t>ۤ </a:t>
            </a:r>
            <a:r>
              <a:rPr dirty="0" baseline="1543" sz="2700" spc="-352">
                <a:latin typeface="Arial"/>
                <a:cs typeface="Arial"/>
              </a:rPr>
              <a:t>د</a:t>
            </a:r>
            <a:r>
              <a:rPr dirty="0" sz="1800" spc="-235">
                <a:latin typeface="Arial"/>
                <a:cs typeface="Arial"/>
              </a:rPr>
              <a:t>ِ </a:t>
            </a:r>
            <a:r>
              <a:rPr dirty="0" baseline="1543" sz="2700" spc="-284">
                <a:latin typeface="Arial"/>
                <a:cs typeface="Arial"/>
              </a:rPr>
              <a:t>هْ </a:t>
            </a:r>
            <a:r>
              <a:rPr dirty="0" baseline="1543" sz="2700" spc="-600">
                <a:latin typeface="Arial"/>
                <a:cs typeface="Arial"/>
              </a:rPr>
              <a:t>ع</a:t>
            </a:r>
            <a:r>
              <a:rPr dirty="0" baseline="-1543" sz="2700" spc="-600">
                <a:latin typeface="Arial"/>
                <a:cs typeface="Arial"/>
              </a:rPr>
              <a:t>َ </a:t>
            </a:r>
            <a:r>
              <a:rPr dirty="0" baseline="1543" sz="2700" spc="-960">
                <a:latin typeface="Arial"/>
                <a:cs typeface="Arial"/>
              </a:rPr>
              <a:t>ب</a:t>
            </a:r>
            <a:r>
              <a:rPr dirty="0" baseline="-12345" sz="2700" spc="-960">
                <a:latin typeface="Arial"/>
                <a:cs typeface="Arial"/>
              </a:rPr>
              <a:t>ِ</a:t>
            </a:r>
            <a:r>
              <a:rPr dirty="0" baseline="-12345" sz="2700" spc="630">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712">
                <a:latin typeface="Arial"/>
                <a:cs typeface="Arial"/>
              </a:rPr>
              <a:t>وف</a:t>
            </a:r>
            <a:r>
              <a:rPr dirty="0" baseline="9259" sz="2700" spc="-712">
                <a:latin typeface="Arial"/>
                <a:cs typeface="Arial"/>
              </a:rPr>
              <a:t>ُ </a:t>
            </a:r>
            <a:r>
              <a:rPr dirty="0" baseline="1543" sz="2700" spc="-270">
                <a:latin typeface="Arial"/>
                <a:cs typeface="Arial"/>
              </a:rPr>
              <a:t>وْ </a:t>
            </a:r>
            <a:r>
              <a:rPr dirty="0" baseline="15432" sz="2700" spc="-157">
                <a:latin typeface="Arial"/>
                <a:cs typeface="Arial"/>
              </a:rPr>
              <a:t>َ</a:t>
            </a:r>
            <a:r>
              <a:rPr dirty="0" baseline="1543" sz="2700" spc="-157">
                <a:latin typeface="Arial"/>
                <a:cs typeface="Arial"/>
              </a:rPr>
              <a:t>أو</a:t>
            </a:r>
            <a:r>
              <a:rPr dirty="0" baseline="-1543" sz="2700" spc="-157">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1543" sz="2700">
                <a:latin typeface="Arial"/>
                <a:cs typeface="Arial"/>
              </a:rPr>
              <a:t>ٌْ</a:t>
            </a:r>
            <a:r>
              <a:rPr dirty="0" baseline="1543" sz="2700" spc="-615">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1222">
                <a:latin typeface="Arial"/>
                <a:cs typeface="Arial"/>
              </a:rPr>
              <a:t>ع</a:t>
            </a:r>
            <a:endParaRPr baseline="1543" sz="2700">
              <a:latin typeface="Arial"/>
              <a:cs typeface="Arial"/>
            </a:endParaRPr>
          </a:p>
        </p:txBody>
      </p:sp>
      <p:sp>
        <p:nvSpPr>
          <p:cNvPr id="11" name="object 11"/>
          <p:cNvSpPr txBox="1"/>
          <p:nvPr/>
        </p:nvSpPr>
        <p:spPr>
          <a:xfrm>
            <a:off x="3776776" y="5276469"/>
            <a:ext cx="3084195" cy="563880"/>
          </a:xfrm>
          <a:prstGeom prst="rect">
            <a:avLst/>
          </a:prstGeom>
        </p:spPr>
        <p:txBody>
          <a:bodyPr wrap="square" lIns="0" tIns="12700" rIns="0" bIns="0" rtlCol="0" vert="horz">
            <a:spAutoFit/>
          </a:bodyPr>
          <a:lstStyle/>
          <a:p>
            <a:pPr algn="r" marR="62865">
              <a:lnSpc>
                <a:spcPts val="2120"/>
              </a:lnSpc>
              <a:spcBef>
                <a:spcPts val="100"/>
              </a:spcBef>
            </a:pPr>
            <a:r>
              <a:rPr dirty="0" sz="1800">
                <a:latin typeface="Arial"/>
                <a:cs typeface="Arial"/>
              </a:rPr>
              <a:t>َ   </a:t>
            </a:r>
            <a:r>
              <a:rPr dirty="0" baseline="3086" sz="2700" spc="-802">
                <a:latin typeface="Arial"/>
                <a:cs typeface="Arial"/>
              </a:rPr>
              <a:t>ت</a:t>
            </a:r>
            <a:r>
              <a:rPr dirty="0" baseline="7716" sz="2700" spc="-802">
                <a:latin typeface="Arial"/>
                <a:cs typeface="Arial"/>
              </a:rPr>
              <a:t>ُ</a:t>
            </a:r>
            <a:r>
              <a:rPr dirty="0" baseline="7716" sz="2700" spc="847">
                <a:latin typeface="Arial"/>
                <a:cs typeface="Arial"/>
              </a:rPr>
              <a:t> </a:t>
            </a:r>
            <a:r>
              <a:rPr dirty="0" baseline="3086" sz="2700" spc="-322">
                <a:latin typeface="Arial"/>
                <a:cs typeface="Arial"/>
              </a:rPr>
              <a:t>مْ  </a:t>
            </a:r>
            <a:r>
              <a:rPr dirty="0" baseline="3086" sz="2700" spc="-600">
                <a:latin typeface="Arial"/>
                <a:cs typeface="Arial"/>
              </a:rPr>
              <a:t>ع</a:t>
            </a:r>
            <a:r>
              <a:rPr dirty="0" sz="1800" spc="-400">
                <a:latin typeface="Arial"/>
                <a:cs typeface="Arial"/>
              </a:rPr>
              <a:t>َ     </a:t>
            </a:r>
            <a:r>
              <a:rPr dirty="0" baseline="3086" sz="2700" spc="-607">
                <a:latin typeface="Arial"/>
                <a:cs typeface="Arial"/>
              </a:rPr>
              <a:t>ن</a:t>
            </a:r>
            <a:r>
              <a:rPr dirty="0" baseline="12345" sz="2700" spc="-607">
                <a:latin typeface="Arial"/>
                <a:cs typeface="Arial"/>
              </a:rPr>
              <a:t>ْ   </a:t>
            </a:r>
            <a:r>
              <a:rPr dirty="0" baseline="16975" sz="2700">
                <a:latin typeface="Arial"/>
                <a:cs typeface="Arial"/>
              </a:rPr>
              <a:t>َ</a:t>
            </a:r>
            <a:r>
              <a:rPr dirty="0" baseline="3086" sz="2700">
                <a:latin typeface="Arial"/>
                <a:cs typeface="Arial"/>
              </a:rPr>
              <a:t>أ </a:t>
            </a:r>
            <a:r>
              <a:rPr dirty="0" baseline="3086" sz="2700" spc="-637">
                <a:latin typeface="Arial"/>
                <a:cs typeface="Arial"/>
              </a:rPr>
              <a:t>ًت</a:t>
            </a:r>
            <a:r>
              <a:rPr dirty="0" baseline="1543" sz="2700" spc="-637">
                <a:latin typeface="Arial"/>
                <a:cs typeface="Arial"/>
              </a:rPr>
              <a:t>ِ     </a:t>
            </a:r>
            <a:r>
              <a:rPr dirty="0" baseline="13888" sz="2700" spc="-209">
                <a:latin typeface="Arial"/>
                <a:cs typeface="Arial"/>
              </a:rPr>
              <a:t>َّ</a:t>
            </a:r>
            <a:r>
              <a:rPr dirty="0" baseline="3086" sz="2700" spc="-209">
                <a:latin typeface="Arial"/>
                <a:cs typeface="Arial"/>
              </a:rPr>
              <a:t>لٱ </a:t>
            </a:r>
            <a:r>
              <a:rPr dirty="0" baseline="3086" sz="2700">
                <a:latin typeface="Arial"/>
                <a:cs typeface="Arial"/>
              </a:rPr>
              <a:t>ً</a:t>
            </a:r>
            <a:r>
              <a:rPr dirty="0" sz="1800">
                <a:latin typeface="Arial"/>
                <a:cs typeface="Arial"/>
              </a:rPr>
              <a:t>َ  </a:t>
            </a:r>
            <a:r>
              <a:rPr dirty="0" baseline="3086" sz="2700" spc="-960">
                <a:latin typeface="Arial"/>
                <a:cs typeface="Arial"/>
              </a:rPr>
              <a:t>ت</a:t>
            </a:r>
            <a:r>
              <a:rPr dirty="0" baseline="1543" sz="2700" spc="-960">
                <a:latin typeface="Arial"/>
                <a:cs typeface="Arial"/>
              </a:rPr>
              <a:t>ِ</a:t>
            </a:r>
            <a:r>
              <a:rPr dirty="0" baseline="1543" sz="2700" spc="-104">
                <a:latin typeface="Arial"/>
                <a:cs typeface="Arial"/>
              </a:rPr>
              <a:t> </a:t>
            </a:r>
            <a:r>
              <a:rPr dirty="0" baseline="3086" sz="2700" spc="-359">
                <a:latin typeface="Arial"/>
                <a:cs typeface="Arial"/>
              </a:rPr>
              <a:t>م</a:t>
            </a:r>
            <a:r>
              <a:rPr dirty="0" sz="1800" spc="-240">
                <a:latin typeface="Arial"/>
                <a:cs typeface="Arial"/>
              </a:rPr>
              <a:t>َ  </a:t>
            </a:r>
            <a:r>
              <a:rPr dirty="0" baseline="3086" sz="2700" spc="-569">
                <a:latin typeface="Arial"/>
                <a:cs typeface="Arial"/>
              </a:rPr>
              <a:t>عْ    </a:t>
            </a:r>
            <a:r>
              <a:rPr dirty="0" baseline="3086" sz="2700" spc="-705">
                <a:latin typeface="Arial"/>
                <a:cs typeface="Arial"/>
              </a:rPr>
              <a:t>ن</a:t>
            </a:r>
            <a:r>
              <a:rPr dirty="0" baseline="1543" sz="2700" spc="-705">
                <a:latin typeface="Arial"/>
                <a:cs typeface="Arial"/>
              </a:rPr>
              <a:t>ِ                               </a:t>
            </a:r>
            <a:r>
              <a:rPr dirty="0" baseline="3086" sz="2700" spc="-277">
                <a:latin typeface="Arial"/>
                <a:cs typeface="Arial"/>
              </a:rPr>
              <a:t>ا</a:t>
            </a:r>
            <a:r>
              <a:rPr dirty="0" baseline="10802" sz="2700" spc="-277">
                <a:latin typeface="Arial"/>
                <a:cs typeface="Arial"/>
              </a:rPr>
              <a:t>ْ </a:t>
            </a:r>
            <a:r>
              <a:rPr dirty="0" baseline="3086" sz="2700" spc="-352">
                <a:latin typeface="Arial"/>
                <a:cs typeface="Arial"/>
              </a:rPr>
              <a:t>ورُ   </a:t>
            </a:r>
            <a:r>
              <a:rPr dirty="0" baseline="3086" sz="2700" spc="-757">
                <a:latin typeface="Arial"/>
                <a:cs typeface="Arial"/>
              </a:rPr>
              <a:t>ك</a:t>
            </a:r>
            <a:r>
              <a:rPr dirty="0" baseline="10802" sz="2700" spc="-757">
                <a:latin typeface="Arial"/>
                <a:cs typeface="Arial"/>
              </a:rPr>
              <a:t>ُ</a:t>
            </a:r>
            <a:r>
              <a:rPr dirty="0" baseline="10802" sz="2700" spc="187">
                <a:latin typeface="Arial"/>
                <a:cs typeface="Arial"/>
              </a:rPr>
              <a:t> </a:t>
            </a:r>
            <a:r>
              <a:rPr dirty="0" baseline="3086" sz="2700" spc="-284">
                <a:latin typeface="Arial"/>
                <a:cs typeface="Arial"/>
              </a:rPr>
              <a:t>ذ</a:t>
            </a:r>
            <a:r>
              <a:rPr dirty="0" baseline="16975" sz="2700" spc="-284">
                <a:latin typeface="Arial"/>
                <a:cs typeface="Arial"/>
              </a:rPr>
              <a:t>ْ </a:t>
            </a:r>
            <a:r>
              <a:rPr dirty="0" baseline="3086" sz="2700">
                <a:latin typeface="Arial"/>
                <a:cs typeface="Arial"/>
              </a:rPr>
              <a:t>ٱ </a:t>
            </a:r>
            <a:r>
              <a:rPr dirty="0" baseline="3086" sz="2700" spc="-615">
                <a:latin typeface="Arial"/>
                <a:cs typeface="Arial"/>
              </a:rPr>
              <a:t>ل</a:t>
            </a:r>
            <a:r>
              <a:rPr dirty="0" sz="1800" spc="-409">
                <a:latin typeface="Arial"/>
                <a:cs typeface="Arial"/>
              </a:rPr>
              <a:t>َ         </a:t>
            </a:r>
            <a:r>
              <a:rPr dirty="0" baseline="3086" sz="2700" spc="-345">
                <a:latin typeface="Arial"/>
                <a:cs typeface="Arial"/>
              </a:rPr>
              <a:t>ٌ</a:t>
            </a:r>
            <a:r>
              <a:rPr dirty="0" baseline="1543" sz="2700" spc="-345">
                <a:latin typeface="Arial"/>
                <a:cs typeface="Arial"/>
              </a:rPr>
              <a:t>ِ</a:t>
            </a:r>
            <a:r>
              <a:rPr dirty="0" baseline="3086" sz="2700" spc="-345">
                <a:latin typeface="Arial"/>
                <a:cs typeface="Arial"/>
              </a:rPr>
              <a:t>ئار</a:t>
            </a:r>
            <a:r>
              <a:rPr dirty="0" sz="1800" spc="-229">
                <a:latin typeface="Arial"/>
                <a:cs typeface="Arial"/>
              </a:rPr>
              <a:t>َ  </a:t>
            </a:r>
            <a:r>
              <a:rPr dirty="0" baseline="3086" sz="2700" spc="-944">
                <a:latin typeface="Arial"/>
                <a:cs typeface="Arial"/>
              </a:rPr>
              <a:t>سْ</a:t>
            </a:r>
            <a:r>
              <a:rPr dirty="0" baseline="3086" sz="2700" spc="307">
                <a:latin typeface="Arial"/>
                <a:cs typeface="Arial"/>
              </a:rPr>
              <a:t> </a:t>
            </a:r>
            <a:r>
              <a:rPr dirty="0" baseline="-10802" sz="2700">
                <a:latin typeface="Arial"/>
                <a:cs typeface="Arial"/>
              </a:rPr>
              <a:t>ِ</a:t>
            </a:r>
            <a:r>
              <a:rPr dirty="0" baseline="3086" sz="2700">
                <a:latin typeface="Arial"/>
                <a:cs typeface="Arial"/>
              </a:rPr>
              <a:t>إ </a:t>
            </a:r>
            <a:r>
              <a:rPr dirty="0" baseline="3086" sz="2700" spc="-472">
                <a:latin typeface="Arial"/>
                <a:cs typeface="Arial"/>
              </a:rPr>
              <a:t>ًن</a:t>
            </a:r>
            <a:r>
              <a:rPr dirty="0" baseline="1543" sz="2700" spc="-472">
                <a:latin typeface="Arial"/>
                <a:cs typeface="Arial"/>
              </a:rPr>
              <a:t>ِ</a:t>
            </a:r>
            <a:r>
              <a:rPr dirty="0" baseline="1543" sz="2700" spc="-247">
                <a:latin typeface="Arial"/>
                <a:cs typeface="Arial"/>
              </a:rPr>
              <a:t> </a:t>
            </a:r>
            <a:r>
              <a:rPr dirty="0" baseline="3086" sz="2700" spc="-892">
                <a:latin typeface="Arial"/>
                <a:cs typeface="Arial"/>
              </a:rPr>
              <a:t>ب</a:t>
            </a:r>
            <a:r>
              <a:rPr dirty="0" sz="1800" spc="-595">
                <a:latin typeface="Arial"/>
                <a:cs typeface="Arial"/>
              </a:rPr>
              <a:t>َ</a:t>
            </a:r>
            <a:r>
              <a:rPr dirty="0" sz="1800" spc="-155">
                <a:latin typeface="Arial"/>
                <a:cs typeface="Arial"/>
              </a:rPr>
              <a:t> </a:t>
            </a:r>
            <a:r>
              <a:rPr dirty="0" baseline="3086" sz="2700" spc="22">
                <a:latin typeface="Arial"/>
                <a:cs typeface="Arial"/>
              </a:rPr>
              <a:t>اٌ</a:t>
            </a:r>
            <a:endParaRPr baseline="3086" sz="2700">
              <a:latin typeface="Arial"/>
              <a:cs typeface="Arial"/>
            </a:endParaRPr>
          </a:p>
          <a:p>
            <a:pPr algn="r" marR="72390">
              <a:lnSpc>
                <a:spcPts val="2120"/>
              </a:lnSpc>
            </a:pPr>
            <a:r>
              <a:rPr dirty="0" baseline="3086" sz="2700" spc="-607">
                <a:latin typeface="Arial"/>
                <a:cs typeface="Arial"/>
              </a:rPr>
              <a:t>ن</a:t>
            </a:r>
            <a:r>
              <a:rPr dirty="0" baseline="-10802" sz="2700" spc="-607">
                <a:latin typeface="Arial"/>
                <a:cs typeface="Arial"/>
              </a:rPr>
              <a:t>ِ        </a:t>
            </a:r>
            <a:r>
              <a:rPr dirty="0" baseline="3086" sz="2700" spc="-622">
                <a:latin typeface="Arial"/>
                <a:cs typeface="Arial"/>
              </a:rPr>
              <a:t>وبُ     </a:t>
            </a:r>
            <a:r>
              <a:rPr dirty="0" baseline="3086" sz="2700" spc="-270">
                <a:latin typeface="Arial"/>
                <a:cs typeface="Arial"/>
              </a:rPr>
              <a:t>ه</a:t>
            </a:r>
            <a:r>
              <a:rPr dirty="0" sz="1800" spc="-180">
                <a:latin typeface="Arial"/>
                <a:cs typeface="Arial"/>
              </a:rPr>
              <a:t>َ  </a:t>
            </a:r>
            <a:r>
              <a:rPr dirty="0" baseline="3086" sz="2700" spc="-457">
                <a:latin typeface="Arial"/>
                <a:cs typeface="Arial"/>
              </a:rPr>
              <a:t>رْ </a:t>
            </a:r>
            <a:r>
              <a:rPr dirty="0" baseline="3086" sz="2700" spc="-225">
                <a:latin typeface="Arial"/>
                <a:cs typeface="Arial"/>
              </a:rPr>
              <a:t> </a:t>
            </a:r>
            <a:r>
              <a:rPr dirty="0" baseline="3086" sz="2700" spc="-1012">
                <a:latin typeface="Arial"/>
                <a:cs typeface="Arial"/>
              </a:rPr>
              <a:t>ٲف</a:t>
            </a:r>
            <a:endParaRPr baseline="3086" sz="2700">
              <a:latin typeface="Arial"/>
              <a:cs typeface="Arial"/>
            </a:endParaRPr>
          </a:p>
        </p:txBody>
      </p:sp>
      <p:sp>
        <p:nvSpPr>
          <p:cNvPr id="12" name="object 12"/>
          <p:cNvSpPr txBox="1"/>
          <p:nvPr/>
        </p:nvSpPr>
        <p:spPr>
          <a:xfrm>
            <a:off x="534416" y="6122289"/>
            <a:ext cx="6303645" cy="383540"/>
          </a:xfrm>
          <a:prstGeom prst="rect">
            <a:avLst/>
          </a:prstGeom>
        </p:spPr>
        <p:txBody>
          <a:bodyPr wrap="square" lIns="0" tIns="24765" rIns="0" bIns="0" rtlCol="0" vert="horz">
            <a:spAutoFit/>
          </a:bodyPr>
          <a:lstStyle/>
          <a:p>
            <a:pPr marL="12700" marR="5080">
              <a:lnSpc>
                <a:spcPts val="1380"/>
              </a:lnSpc>
              <a:spcBef>
                <a:spcPts val="195"/>
              </a:spcBef>
            </a:pPr>
            <a:r>
              <a:rPr dirty="0" sz="1200" spc="-5">
                <a:latin typeface="Arial"/>
                <a:cs typeface="Arial"/>
              </a:rPr>
              <a:t>40. </a:t>
            </a:r>
            <a:r>
              <a:rPr dirty="0" sz="1200">
                <a:latin typeface="Arial"/>
                <a:cs typeface="Arial"/>
              </a:rPr>
              <a:t>O </a:t>
            </a:r>
            <a:r>
              <a:rPr dirty="0" sz="1200" spc="-5">
                <a:latin typeface="Arial"/>
                <a:cs typeface="Arial"/>
              </a:rPr>
              <a:t>Children of Israel! Remember My favour wherewith </a:t>
            </a:r>
            <a:r>
              <a:rPr dirty="0" sz="1200">
                <a:latin typeface="Arial"/>
                <a:cs typeface="Arial"/>
              </a:rPr>
              <a:t>I </a:t>
            </a:r>
            <a:r>
              <a:rPr dirty="0" sz="1200" spc="-5">
                <a:latin typeface="Arial"/>
                <a:cs typeface="Arial"/>
              </a:rPr>
              <a:t>favoured you, and </a:t>
            </a:r>
            <a:r>
              <a:rPr dirty="0" sz="1200">
                <a:latin typeface="Arial"/>
                <a:cs typeface="Arial"/>
              </a:rPr>
              <a:t>fulfil </a:t>
            </a:r>
            <a:r>
              <a:rPr dirty="0" sz="1200" spc="-5">
                <a:latin typeface="Arial"/>
                <a:cs typeface="Arial"/>
              </a:rPr>
              <a:t>your </a:t>
            </a:r>
            <a:r>
              <a:rPr dirty="0" sz="1200">
                <a:latin typeface="Arial"/>
                <a:cs typeface="Arial"/>
              </a:rPr>
              <a:t>(part  </a:t>
            </a:r>
            <a:r>
              <a:rPr dirty="0" sz="1200" spc="-5">
                <a:latin typeface="Arial"/>
                <a:cs typeface="Arial"/>
              </a:rPr>
              <a:t>of the) covenant, </a:t>
            </a:r>
            <a:r>
              <a:rPr dirty="0" sz="1200">
                <a:latin typeface="Arial"/>
                <a:cs typeface="Arial"/>
              </a:rPr>
              <a:t>I </a:t>
            </a:r>
            <a:r>
              <a:rPr dirty="0" sz="1200" spc="-5">
                <a:latin typeface="Arial"/>
                <a:cs typeface="Arial"/>
              </a:rPr>
              <a:t>shall fulfil </a:t>
            </a:r>
            <a:r>
              <a:rPr dirty="0" sz="1200">
                <a:latin typeface="Arial"/>
                <a:cs typeface="Arial"/>
              </a:rPr>
              <a:t>My (part of </a:t>
            </a:r>
            <a:r>
              <a:rPr dirty="0" sz="1200" spc="-5">
                <a:latin typeface="Arial"/>
                <a:cs typeface="Arial"/>
              </a:rPr>
              <a:t>the) covenant and </a:t>
            </a:r>
            <a:r>
              <a:rPr dirty="0" sz="1200">
                <a:latin typeface="Arial"/>
                <a:cs typeface="Arial"/>
              </a:rPr>
              <a:t>fear</a:t>
            </a:r>
            <a:r>
              <a:rPr dirty="0" sz="1200" spc="10">
                <a:latin typeface="Arial"/>
                <a:cs typeface="Arial"/>
              </a:rPr>
              <a:t> </a:t>
            </a:r>
            <a:r>
              <a:rPr dirty="0" sz="1200" spc="-5">
                <a:latin typeface="Arial"/>
                <a:cs typeface="Arial"/>
              </a:rPr>
              <a:t>Me.</a:t>
            </a:r>
            <a:endParaRPr sz="1200">
              <a:latin typeface="Arial"/>
              <a:cs typeface="Arial"/>
            </a:endParaRPr>
          </a:p>
        </p:txBody>
      </p:sp>
      <p:sp>
        <p:nvSpPr>
          <p:cNvPr id="13" name="object 13"/>
          <p:cNvSpPr txBox="1"/>
          <p:nvPr/>
        </p:nvSpPr>
        <p:spPr>
          <a:xfrm>
            <a:off x="432816" y="6648068"/>
            <a:ext cx="6464935" cy="2804160"/>
          </a:xfrm>
          <a:prstGeom prst="rect">
            <a:avLst/>
          </a:prstGeom>
        </p:spPr>
        <p:txBody>
          <a:bodyPr wrap="square" lIns="0" tIns="12700" rIns="0" bIns="0" rtlCol="0" vert="horz">
            <a:spAutoFit/>
          </a:bodyPr>
          <a:lstStyle/>
          <a:p>
            <a:pPr algn="r" marR="107950">
              <a:lnSpc>
                <a:spcPts val="2150"/>
              </a:lnSpc>
              <a:spcBef>
                <a:spcPts val="100"/>
              </a:spcBef>
            </a:pPr>
            <a:r>
              <a:rPr dirty="0" baseline="10802" sz="2700" spc="-337">
                <a:latin typeface="Arial"/>
                <a:cs typeface="Arial"/>
              </a:rPr>
              <a:t>ً</a:t>
            </a:r>
            <a:r>
              <a:rPr dirty="0" baseline="1543" sz="2700" spc="-337">
                <a:latin typeface="Arial"/>
                <a:cs typeface="Arial"/>
              </a:rPr>
              <a:t>لاٌ</a:t>
            </a:r>
            <a:r>
              <a:rPr dirty="0" sz="1800" spc="-225">
                <a:latin typeface="Arial"/>
                <a:cs typeface="Arial"/>
              </a:rPr>
              <a:t>ِ</a:t>
            </a:r>
            <a:r>
              <a:rPr dirty="0" baseline="1543" sz="2700" spc="-337">
                <a:latin typeface="Arial"/>
                <a:cs typeface="Arial"/>
              </a:rPr>
              <a:t>لق</a:t>
            </a:r>
            <a:r>
              <a:rPr dirty="0" baseline="6172" sz="2700" spc="-337">
                <a:latin typeface="Arial"/>
                <a:cs typeface="Arial"/>
              </a:rPr>
              <a:t>َ   </a:t>
            </a:r>
            <a:r>
              <a:rPr dirty="0" baseline="9259" sz="2700" spc="-292">
                <a:latin typeface="Arial"/>
                <a:cs typeface="Arial"/>
              </a:rPr>
              <a:t>ً</a:t>
            </a:r>
            <a:r>
              <a:rPr dirty="0" baseline="1543" sz="2700" spc="-292">
                <a:latin typeface="Arial"/>
                <a:cs typeface="Arial"/>
              </a:rPr>
              <a:t>انم</a:t>
            </a:r>
            <a:r>
              <a:rPr dirty="0" baseline="-1543" sz="2700" spc="-292">
                <a:latin typeface="Arial"/>
                <a:cs typeface="Arial"/>
              </a:rPr>
              <a:t>َ  </a:t>
            </a:r>
            <a:r>
              <a:rPr dirty="0" baseline="1543" sz="2700" spc="-892">
                <a:latin typeface="Arial"/>
                <a:cs typeface="Arial"/>
              </a:rPr>
              <a:t>ث</a:t>
            </a:r>
            <a:r>
              <a:rPr dirty="0" baseline="10802" sz="2700" spc="-892">
                <a:latin typeface="Arial"/>
                <a:cs typeface="Arial"/>
              </a:rPr>
              <a:t>َ</a:t>
            </a:r>
            <a:r>
              <a:rPr dirty="0" baseline="10802" sz="2700" spc="682">
                <a:latin typeface="Arial"/>
                <a:cs typeface="Arial"/>
              </a:rPr>
              <a:t> </a:t>
            </a:r>
            <a:r>
              <a:rPr dirty="0" baseline="1543" sz="2700" spc="-637">
                <a:latin typeface="Arial"/>
                <a:cs typeface="Arial"/>
              </a:rPr>
              <a:t>ًت</a:t>
            </a:r>
            <a:r>
              <a:rPr dirty="0" sz="1800" spc="-425">
                <a:latin typeface="Arial"/>
                <a:cs typeface="Arial"/>
              </a:rPr>
              <a:t>ِ      </a:t>
            </a:r>
            <a:r>
              <a:rPr dirty="0" baseline="1543" sz="2700" spc="15">
                <a:latin typeface="Arial"/>
                <a:cs typeface="Arial"/>
              </a:rPr>
              <a:t>اٌ</a:t>
            </a:r>
            <a:r>
              <a:rPr dirty="0" baseline="-1543" sz="2700" spc="15">
                <a:latin typeface="Arial"/>
                <a:cs typeface="Arial"/>
              </a:rPr>
              <a:t>َ </a:t>
            </a:r>
            <a:r>
              <a:rPr dirty="0" baseline="1543" sz="2700" spc="-622">
                <a:latin typeface="Arial"/>
                <a:cs typeface="Arial"/>
              </a:rPr>
              <a:t>آب</a:t>
            </a:r>
            <a:r>
              <a:rPr dirty="0" baseline="-12345" sz="2700" spc="-622">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352">
                <a:latin typeface="Arial"/>
                <a:cs typeface="Arial"/>
              </a:rPr>
              <a:t>ورُ   </a:t>
            </a:r>
            <a:r>
              <a:rPr dirty="0" baseline="1543" sz="2700" spc="-892">
                <a:latin typeface="Arial"/>
                <a:cs typeface="Arial"/>
              </a:rPr>
              <a:t>ت</a:t>
            </a:r>
            <a:r>
              <a:rPr dirty="0" baseline="6172" sz="2700" spc="-892">
                <a:latin typeface="Arial"/>
                <a:cs typeface="Arial"/>
              </a:rPr>
              <a:t>َ</a:t>
            </a:r>
            <a:r>
              <a:rPr dirty="0" baseline="6172" sz="2700" spc="-225">
                <a:latin typeface="Arial"/>
                <a:cs typeface="Arial"/>
              </a:rPr>
              <a:t> </a:t>
            </a:r>
            <a:r>
              <a:rPr dirty="0" baseline="1543" sz="2700" spc="-1005">
                <a:latin typeface="Arial"/>
                <a:cs typeface="Arial"/>
              </a:rPr>
              <a:t>ش</a:t>
            </a:r>
            <a:r>
              <a:rPr dirty="0" baseline="9259" sz="2700" spc="-1005">
                <a:latin typeface="Arial"/>
                <a:cs typeface="Arial"/>
              </a:rPr>
              <a:t>ْ</a:t>
            </a:r>
            <a:r>
              <a:rPr dirty="0" baseline="9259" sz="2700" spc="480">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675">
                <a:latin typeface="Arial"/>
                <a:cs typeface="Arial"/>
              </a:rPr>
              <a:t> </a:t>
            </a:r>
            <a:r>
              <a:rPr dirty="0" baseline="7716" sz="2700" spc="-209">
                <a:latin typeface="Arial"/>
                <a:cs typeface="Arial"/>
              </a:rPr>
              <a:t>َ</a:t>
            </a:r>
            <a:r>
              <a:rPr dirty="0" baseline="1543" sz="2700" spc="-209">
                <a:latin typeface="Arial"/>
                <a:cs typeface="Arial"/>
              </a:rPr>
              <a:t>لاو</a:t>
            </a:r>
            <a:r>
              <a:rPr dirty="0" baseline="-1543" sz="2700" spc="-209">
                <a:latin typeface="Arial"/>
                <a:cs typeface="Arial"/>
              </a:rPr>
              <a:t>َ   </a:t>
            </a:r>
            <a:r>
              <a:rPr dirty="0" baseline="1543" sz="2700" spc="-337">
                <a:latin typeface="Arial"/>
                <a:cs typeface="Arial"/>
              </a:rPr>
              <a:t>ه</a:t>
            </a:r>
            <a:r>
              <a:rPr dirty="0" sz="1800" spc="-225">
                <a:latin typeface="Arial"/>
                <a:cs typeface="Arial"/>
              </a:rPr>
              <a:t>ِ  </a:t>
            </a:r>
            <a:r>
              <a:rPr dirty="0" baseline="1543" sz="2700" spc="-960">
                <a:latin typeface="Arial"/>
                <a:cs typeface="Arial"/>
              </a:rPr>
              <a:t>ب</a:t>
            </a:r>
            <a:r>
              <a:rPr dirty="0" baseline="-12345" sz="2700" spc="-960">
                <a:latin typeface="Arial"/>
                <a:cs typeface="Arial"/>
              </a:rPr>
              <a:t>ِ</a:t>
            </a:r>
            <a:r>
              <a:rPr dirty="0" baseline="-12345" sz="2700" spc="810">
                <a:latin typeface="Arial"/>
                <a:cs typeface="Arial"/>
              </a:rPr>
              <a:t> </a:t>
            </a:r>
            <a:r>
              <a:rPr dirty="0" baseline="1543" sz="2700" spc="-465">
                <a:latin typeface="Arial"/>
                <a:cs typeface="Arial"/>
              </a:rPr>
              <a:t>ر</a:t>
            </a:r>
            <a:r>
              <a:rPr dirty="0" baseline="-12345" sz="2700" spc="-465">
                <a:latin typeface="Arial"/>
                <a:cs typeface="Arial"/>
              </a:rPr>
              <a:t>ٍ   </a:t>
            </a:r>
            <a:r>
              <a:rPr dirty="0" baseline="1543" sz="2700" spc="-1057">
                <a:latin typeface="Arial"/>
                <a:cs typeface="Arial"/>
              </a:rPr>
              <a:t>ف</a:t>
            </a:r>
            <a:r>
              <a:rPr dirty="0" sz="1800" spc="-705">
                <a:latin typeface="Arial"/>
                <a:cs typeface="Arial"/>
              </a:rPr>
              <a:t>ِ</a:t>
            </a:r>
            <a:r>
              <a:rPr dirty="0" sz="1800" spc="-30">
                <a:latin typeface="Arial"/>
                <a:cs typeface="Arial"/>
              </a:rPr>
              <a:t> </a:t>
            </a:r>
            <a:r>
              <a:rPr dirty="0" baseline="1543" sz="2700" spc="-465">
                <a:latin typeface="Arial"/>
                <a:cs typeface="Arial"/>
              </a:rPr>
              <a:t>اك</a:t>
            </a:r>
            <a:r>
              <a:rPr dirty="0" baseline="6172" sz="2700" spc="-465">
                <a:latin typeface="Arial"/>
                <a:cs typeface="Arial"/>
              </a:rPr>
              <a:t>َ      </a:t>
            </a:r>
            <a:r>
              <a:rPr dirty="0" baseline="1543" sz="2700" spc="-615">
                <a:latin typeface="Arial"/>
                <a:cs typeface="Arial"/>
              </a:rPr>
              <a:t>ل</a:t>
            </a:r>
            <a:r>
              <a:rPr dirty="0" baseline="-1543" sz="2700" spc="-615">
                <a:latin typeface="Arial"/>
                <a:cs typeface="Arial"/>
              </a:rPr>
              <a:t>َ         </a:t>
            </a:r>
            <a:r>
              <a:rPr dirty="0" baseline="1543" sz="2700" spc="-217">
                <a:latin typeface="Arial"/>
                <a:cs typeface="Arial"/>
              </a:rPr>
              <a:t>و</a:t>
            </a:r>
            <a:r>
              <a:rPr dirty="0" sz="1800" spc="-145">
                <a:latin typeface="Arial"/>
                <a:cs typeface="Arial"/>
              </a:rPr>
              <a:t>َّ </a:t>
            </a:r>
            <a:r>
              <a:rPr dirty="0" baseline="15432" sz="2700">
                <a:latin typeface="Arial"/>
                <a:cs typeface="Arial"/>
              </a:rPr>
              <a:t>َ</a:t>
            </a:r>
            <a:r>
              <a:rPr dirty="0" baseline="1543" sz="2700">
                <a:latin typeface="Arial"/>
                <a:cs typeface="Arial"/>
              </a:rPr>
              <a:t>أ </a:t>
            </a:r>
            <a:r>
              <a:rPr dirty="0" baseline="1543" sz="2700" spc="-262">
                <a:latin typeface="Arial"/>
                <a:cs typeface="Arial"/>
              </a:rPr>
              <a:t>ا</a:t>
            </a:r>
            <a:r>
              <a:rPr dirty="0" baseline="9259" sz="2700" spc="-262">
                <a:latin typeface="Arial"/>
                <a:cs typeface="Arial"/>
              </a:rPr>
              <a:t>ْ </a:t>
            </a:r>
            <a:r>
              <a:rPr dirty="0" baseline="1543" sz="2700" spc="-142">
                <a:latin typeface="Arial"/>
                <a:cs typeface="Arial"/>
              </a:rPr>
              <a:t>و</a:t>
            </a:r>
            <a:r>
              <a:rPr dirty="0" baseline="7716" sz="2700" spc="-142">
                <a:latin typeface="Arial"/>
                <a:cs typeface="Arial"/>
              </a:rPr>
              <a:t>ۤ </a:t>
            </a:r>
            <a:r>
              <a:rPr dirty="0" baseline="1543" sz="2700" spc="-682">
                <a:latin typeface="Arial"/>
                <a:cs typeface="Arial"/>
              </a:rPr>
              <a:t>ن</a:t>
            </a:r>
            <a:r>
              <a:rPr dirty="0" baseline="9259" sz="2700" spc="-682">
                <a:latin typeface="Arial"/>
                <a:cs typeface="Arial"/>
              </a:rPr>
              <a:t>ُ         </a:t>
            </a:r>
            <a:r>
              <a:rPr dirty="0" baseline="1543" sz="2700" spc="-502">
                <a:latin typeface="Arial"/>
                <a:cs typeface="Arial"/>
              </a:rPr>
              <a:t>وك</a:t>
            </a:r>
            <a:r>
              <a:rPr dirty="0" baseline="9259" sz="2700" spc="-502">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667">
                <a:latin typeface="Arial"/>
                <a:cs typeface="Arial"/>
              </a:rPr>
              <a:t> </a:t>
            </a:r>
            <a:r>
              <a:rPr dirty="0" baseline="7716" sz="2700" spc="-217">
                <a:latin typeface="Arial"/>
                <a:cs typeface="Arial"/>
              </a:rPr>
              <a:t>َ</a:t>
            </a:r>
            <a:r>
              <a:rPr dirty="0" baseline="1543" sz="2700" spc="-217">
                <a:latin typeface="Arial"/>
                <a:cs typeface="Arial"/>
              </a:rPr>
              <a:t>لاو</a:t>
            </a:r>
            <a:r>
              <a:rPr dirty="0" baseline="-1543" sz="2700" spc="-217">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95">
                <a:latin typeface="Arial"/>
                <a:cs typeface="Arial"/>
              </a:rPr>
              <a:t> </a:t>
            </a:r>
            <a:r>
              <a:rPr dirty="0" baseline="1543" sz="2700" spc="-600">
                <a:latin typeface="Arial"/>
                <a:cs typeface="Arial"/>
              </a:rPr>
              <a:t>ع</a:t>
            </a:r>
            <a:r>
              <a:rPr dirty="0" baseline="-1543" sz="2700" spc="-600">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225">
                <a:latin typeface="Arial"/>
                <a:cs typeface="Arial"/>
              </a:rPr>
              <a:t>ام</a:t>
            </a:r>
            <a:r>
              <a:rPr dirty="0" baseline="-1543" sz="2700" spc="-225">
                <a:latin typeface="Arial"/>
                <a:cs typeface="Arial"/>
              </a:rPr>
              <a:t>َ </a:t>
            </a:r>
            <a:r>
              <a:rPr dirty="0" baseline="12345" sz="2700" spc="-270">
                <a:latin typeface="Arial"/>
                <a:cs typeface="Arial"/>
              </a:rPr>
              <a:t>ِّ</a:t>
            </a:r>
            <a:r>
              <a:rPr dirty="0" baseline="1543" sz="2700" spc="-270">
                <a:latin typeface="Arial"/>
                <a:cs typeface="Arial"/>
              </a:rPr>
              <a:t>ل  </a:t>
            </a:r>
            <a:r>
              <a:rPr dirty="0" baseline="9259" sz="2700" spc="-254">
                <a:latin typeface="Arial"/>
                <a:cs typeface="Arial"/>
              </a:rPr>
              <a:t>ً</a:t>
            </a:r>
            <a:r>
              <a:rPr dirty="0" baseline="1543" sz="2700" spc="-254">
                <a:latin typeface="Arial"/>
                <a:cs typeface="Arial"/>
              </a:rPr>
              <a:t>اقد</a:t>
            </a:r>
            <a:r>
              <a:rPr dirty="0" baseline="4629" sz="2700" spc="-254">
                <a:latin typeface="Arial"/>
                <a:cs typeface="Arial"/>
              </a:rPr>
              <a:t>ِّ </a:t>
            </a:r>
            <a:r>
              <a:rPr dirty="0" baseline="1543" sz="2700" spc="-1350">
                <a:latin typeface="Arial"/>
                <a:cs typeface="Arial"/>
              </a:rPr>
              <a:t>ص</a:t>
            </a:r>
            <a:r>
              <a:rPr dirty="0" baseline="-1543" sz="2700" spc="-1350">
                <a:latin typeface="Arial"/>
                <a:cs typeface="Arial"/>
              </a:rPr>
              <a:t>َ</a:t>
            </a:r>
            <a:r>
              <a:rPr dirty="0" baseline="-1543" sz="2700" spc="1282">
                <a:latin typeface="Arial"/>
                <a:cs typeface="Arial"/>
              </a:rPr>
              <a:t> </a:t>
            </a:r>
            <a:r>
              <a:rPr dirty="0" baseline="1543" sz="2700" spc="-397">
                <a:latin typeface="Arial"/>
                <a:cs typeface="Arial"/>
              </a:rPr>
              <a:t>مُ     </a:t>
            </a:r>
            <a:r>
              <a:rPr dirty="0" baseline="1543" sz="2700" spc="-802">
                <a:latin typeface="Arial"/>
                <a:cs typeface="Arial"/>
              </a:rPr>
              <a:t>ت</a:t>
            </a:r>
            <a:r>
              <a:rPr dirty="0" baseline="6172" sz="2700" spc="-802">
                <a:latin typeface="Arial"/>
                <a:cs typeface="Arial"/>
              </a:rPr>
              <a:t>ُ</a:t>
            </a:r>
            <a:r>
              <a:rPr dirty="0" baseline="6172" sz="2700" spc="862">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spc="-494">
                <a:latin typeface="Arial"/>
                <a:cs typeface="Arial"/>
              </a:rPr>
              <a:t>ز</a:t>
            </a:r>
            <a:r>
              <a:rPr dirty="0" baseline="6172" sz="2700" spc="-494">
                <a:latin typeface="Arial"/>
                <a:cs typeface="Arial"/>
              </a:rPr>
              <a:t>َ    </a:t>
            </a:r>
            <a:r>
              <a:rPr dirty="0" baseline="1543" sz="2700" spc="-270">
                <a:latin typeface="Arial"/>
                <a:cs typeface="Arial"/>
              </a:rPr>
              <a:t>ن</a:t>
            </a:r>
            <a:r>
              <a:rPr dirty="0" baseline="15432" sz="2700" spc="-270">
                <a:latin typeface="Arial"/>
                <a:cs typeface="Arial"/>
              </a:rPr>
              <a:t>َ</a:t>
            </a:r>
            <a:r>
              <a:rPr dirty="0" baseline="1543" sz="2700" spc="-270">
                <a:latin typeface="Arial"/>
                <a:cs typeface="Arial"/>
              </a:rPr>
              <a:t>أ  </a:t>
            </a:r>
            <a:r>
              <a:rPr dirty="0" baseline="1543" sz="2700" spc="-225">
                <a:latin typeface="Arial"/>
                <a:cs typeface="Arial"/>
              </a:rPr>
              <a:t>آم</a:t>
            </a:r>
            <a:r>
              <a:rPr dirty="0" baseline="-1543" sz="2700" spc="-225">
                <a:latin typeface="Arial"/>
                <a:cs typeface="Arial"/>
              </a:rPr>
              <a:t>َ  </a:t>
            </a:r>
            <a:r>
              <a:rPr dirty="0" baseline="1543" sz="2700" spc="-960">
                <a:latin typeface="Arial"/>
                <a:cs typeface="Arial"/>
              </a:rPr>
              <a:t>ب</a:t>
            </a:r>
            <a:r>
              <a:rPr dirty="0" baseline="-12345" sz="2700" spc="-960">
                <a:latin typeface="Arial"/>
                <a:cs typeface="Arial"/>
              </a:rPr>
              <a:t>ِ</a:t>
            </a:r>
            <a:r>
              <a:rPr dirty="0" baseline="-12345" sz="2700" spc="817">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352">
                <a:latin typeface="Arial"/>
                <a:cs typeface="Arial"/>
              </a:rPr>
              <a:t>م</a:t>
            </a:r>
            <a:r>
              <a:rPr dirty="0" sz="1800" spc="-235">
                <a:latin typeface="Arial"/>
                <a:cs typeface="Arial"/>
              </a:rPr>
              <a:t>ِ </a:t>
            </a:r>
            <a:r>
              <a:rPr dirty="0" sz="1800" spc="-65">
                <a:latin typeface="Arial"/>
                <a:cs typeface="Arial"/>
              </a:rPr>
              <a:t> </a:t>
            </a:r>
            <a:r>
              <a:rPr dirty="0" baseline="1543" sz="2700" spc="-315">
                <a:latin typeface="Arial"/>
                <a:cs typeface="Arial"/>
              </a:rPr>
              <a:t>آو</a:t>
            </a:r>
            <a:endParaRPr baseline="1543" sz="2700">
              <a:latin typeface="Arial"/>
              <a:cs typeface="Arial"/>
            </a:endParaRPr>
          </a:p>
          <a:p>
            <a:pPr algn="r" marR="106680">
              <a:lnSpc>
                <a:spcPts val="2150"/>
              </a:lnSpc>
            </a:pPr>
            <a:r>
              <a:rPr dirty="0" baseline="3086" sz="2700" spc="-607">
                <a:latin typeface="Arial"/>
                <a:cs typeface="Arial"/>
              </a:rPr>
              <a:t>ن</a:t>
            </a:r>
            <a:r>
              <a:rPr dirty="0" baseline="-10802" sz="2700" spc="-607">
                <a:latin typeface="Arial"/>
                <a:cs typeface="Arial"/>
              </a:rPr>
              <a:t>ِ        </a:t>
            </a:r>
            <a:r>
              <a:rPr dirty="0" baseline="3086" sz="2700" spc="-450">
                <a:latin typeface="Arial"/>
                <a:cs typeface="Arial"/>
              </a:rPr>
              <a:t>و</a:t>
            </a:r>
            <a:r>
              <a:rPr dirty="0" baseline="10802" sz="2700" spc="-450">
                <a:latin typeface="Arial"/>
                <a:cs typeface="Arial"/>
              </a:rPr>
              <a:t>ُ</a:t>
            </a:r>
            <a:r>
              <a:rPr dirty="0" baseline="3086" sz="2700" spc="-450">
                <a:latin typeface="Arial"/>
                <a:cs typeface="Arial"/>
              </a:rPr>
              <a:t>قت</a:t>
            </a:r>
            <a:r>
              <a:rPr dirty="0" baseline="10802" sz="2700" spc="-450">
                <a:latin typeface="Arial"/>
                <a:cs typeface="Arial"/>
              </a:rPr>
              <a:t>َّ  </a:t>
            </a:r>
            <a:r>
              <a:rPr dirty="0" baseline="3086" sz="2700" spc="-675">
                <a:latin typeface="Arial"/>
                <a:cs typeface="Arial"/>
              </a:rPr>
              <a:t>ٲف</a:t>
            </a:r>
            <a:r>
              <a:rPr dirty="0" baseline="7716" sz="2700" spc="-675">
                <a:latin typeface="Arial"/>
                <a:cs typeface="Arial"/>
              </a:rPr>
              <a:t>َ                   </a:t>
            </a:r>
            <a:r>
              <a:rPr dirty="0" baseline="3086" sz="2700" spc="-697">
                <a:latin typeface="Arial"/>
                <a:cs typeface="Arial"/>
              </a:rPr>
              <a:t>ي</a:t>
            </a:r>
            <a:r>
              <a:rPr dirty="0" sz="1800" spc="-465">
                <a:latin typeface="Arial"/>
                <a:cs typeface="Arial"/>
              </a:rPr>
              <a:t>َ                          </a:t>
            </a:r>
            <a:r>
              <a:rPr dirty="0" baseline="3086" sz="2700" spc="7">
                <a:latin typeface="Arial"/>
                <a:cs typeface="Arial"/>
              </a:rPr>
              <a:t>اٌَّ</a:t>
            </a:r>
            <a:r>
              <a:rPr dirty="0" baseline="3086" sz="2700" spc="-300">
                <a:latin typeface="Arial"/>
                <a:cs typeface="Arial"/>
              </a:rPr>
              <a:t> </a:t>
            </a:r>
            <a:r>
              <a:rPr dirty="0" baseline="-10802" sz="2700" spc="-209">
                <a:latin typeface="Arial"/>
                <a:cs typeface="Arial"/>
              </a:rPr>
              <a:t>ِ</a:t>
            </a:r>
            <a:r>
              <a:rPr dirty="0" baseline="3086" sz="2700" spc="-209">
                <a:latin typeface="Arial"/>
                <a:cs typeface="Arial"/>
              </a:rPr>
              <a:t>إو</a:t>
            </a:r>
            <a:endParaRPr baseline="3086" sz="2700">
              <a:latin typeface="Arial"/>
              <a:cs typeface="Arial"/>
            </a:endParaRPr>
          </a:p>
          <a:p>
            <a:pPr>
              <a:lnSpc>
                <a:spcPct val="100000"/>
              </a:lnSpc>
              <a:spcBef>
                <a:spcPts val="50"/>
              </a:spcBef>
            </a:pPr>
            <a:endParaRPr sz="2150">
              <a:latin typeface="Arial"/>
              <a:cs typeface="Arial"/>
            </a:endParaRPr>
          </a:p>
          <a:p>
            <a:pPr algn="just" marL="114300" marR="62865">
              <a:lnSpc>
                <a:spcPts val="1380"/>
              </a:lnSpc>
              <a:buAutoNum type="arabicPeriod" startAt="41"/>
              <a:tabLst>
                <a:tab pos="400685" algn="l"/>
              </a:tabLst>
            </a:pPr>
            <a:r>
              <a:rPr dirty="0" sz="1200" spc="-5">
                <a:latin typeface="Arial"/>
                <a:cs typeface="Arial"/>
              </a:rPr>
              <a:t>And believe in </a:t>
            </a:r>
            <a:r>
              <a:rPr dirty="0" sz="1200">
                <a:latin typeface="Arial"/>
                <a:cs typeface="Arial"/>
              </a:rPr>
              <a:t>that </a:t>
            </a:r>
            <a:r>
              <a:rPr dirty="0" sz="1200" spc="-5">
                <a:latin typeface="Arial"/>
                <a:cs typeface="Arial"/>
              </a:rPr>
              <a:t>which </a:t>
            </a:r>
            <a:r>
              <a:rPr dirty="0" sz="1200">
                <a:latin typeface="Arial"/>
                <a:cs typeface="Arial"/>
              </a:rPr>
              <a:t>I </a:t>
            </a:r>
            <a:r>
              <a:rPr dirty="0" sz="1200" spc="-5">
                <a:latin typeface="Arial"/>
                <a:cs typeface="Arial"/>
              </a:rPr>
              <a:t>reveal, confirming </a:t>
            </a:r>
            <a:r>
              <a:rPr dirty="0" sz="1200">
                <a:latin typeface="Arial"/>
                <a:cs typeface="Arial"/>
              </a:rPr>
              <a:t>that </a:t>
            </a:r>
            <a:r>
              <a:rPr dirty="0" sz="1200" spc="-5">
                <a:latin typeface="Arial"/>
                <a:cs typeface="Arial"/>
              </a:rPr>
              <a:t>which </a:t>
            </a:r>
            <a:r>
              <a:rPr dirty="0" sz="1200" spc="-10">
                <a:latin typeface="Arial"/>
                <a:cs typeface="Arial"/>
              </a:rPr>
              <a:t>ye </a:t>
            </a:r>
            <a:r>
              <a:rPr dirty="0" sz="1200" spc="-5">
                <a:latin typeface="Arial"/>
                <a:cs typeface="Arial"/>
              </a:rPr>
              <a:t>possess already </a:t>
            </a:r>
            <a:r>
              <a:rPr dirty="0" sz="1200">
                <a:latin typeface="Arial"/>
                <a:cs typeface="Arial"/>
              </a:rPr>
              <a:t>(of </a:t>
            </a:r>
            <a:r>
              <a:rPr dirty="0" sz="1200" spc="-10">
                <a:latin typeface="Arial"/>
                <a:cs typeface="Arial"/>
              </a:rPr>
              <a:t>the  </a:t>
            </a:r>
            <a:r>
              <a:rPr dirty="0" sz="1200" spc="-5">
                <a:latin typeface="Arial"/>
                <a:cs typeface="Arial"/>
              </a:rPr>
              <a:t>Scripture), and </a:t>
            </a:r>
            <a:r>
              <a:rPr dirty="0" sz="1200" spc="-10">
                <a:latin typeface="Arial"/>
                <a:cs typeface="Arial"/>
              </a:rPr>
              <a:t>be </a:t>
            </a:r>
            <a:r>
              <a:rPr dirty="0" sz="1200" spc="-5">
                <a:latin typeface="Arial"/>
                <a:cs typeface="Arial"/>
              </a:rPr>
              <a:t>not </a:t>
            </a:r>
            <a:r>
              <a:rPr dirty="0" sz="1200">
                <a:latin typeface="Arial"/>
                <a:cs typeface="Arial"/>
              </a:rPr>
              <a:t>first </a:t>
            </a:r>
            <a:r>
              <a:rPr dirty="0" sz="1200" spc="-5">
                <a:latin typeface="Arial"/>
                <a:cs typeface="Arial"/>
              </a:rPr>
              <a:t>to disbelieve therein, and </a:t>
            </a:r>
            <a:r>
              <a:rPr dirty="0" sz="1200">
                <a:latin typeface="Arial"/>
                <a:cs typeface="Arial"/>
              </a:rPr>
              <a:t>part </a:t>
            </a:r>
            <a:r>
              <a:rPr dirty="0" sz="1200" spc="-5">
                <a:latin typeface="Arial"/>
                <a:cs typeface="Arial"/>
              </a:rPr>
              <a:t>not with My revelations </a:t>
            </a:r>
            <a:r>
              <a:rPr dirty="0" sz="1200">
                <a:latin typeface="Arial"/>
                <a:cs typeface="Arial"/>
              </a:rPr>
              <a:t>for </a:t>
            </a:r>
            <a:r>
              <a:rPr dirty="0" sz="1200" spc="-5">
                <a:latin typeface="Arial"/>
                <a:cs typeface="Arial"/>
              </a:rPr>
              <a:t>a trifling  price, and keep your duty </a:t>
            </a:r>
            <a:r>
              <a:rPr dirty="0" sz="1200">
                <a:latin typeface="Arial"/>
                <a:cs typeface="Arial"/>
              </a:rPr>
              <a:t>unto</a:t>
            </a:r>
            <a:r>
              <a:rPr dirty="0" sz="1200" spc="15">
                <a:latin typeface="Arial"/>
                <a:cs typeface="Arial"/>
              </a:rPr>
              <a:t> </a:t>
            </a:r>
            <a:r>
              <a:rPr dirty="0" sz="1200" spc="-5">
                <a:latin typeface="Arial"/>
                <a:cs typeface="Arial"/>
              </a:rPr>
              <a:t>Me.</a:t>
            </a:r>
            <a:endParaRPr sz="1200">
              <a:latin typeface="Arial"/>
              <a:cs typeface="Arial"/>
            </a:endParaRPr>
          </a:p>
          <a:p>
            <a:pPr>
              <a:lnSpc>
                <a:spcPct val="100000"/>
              </a:lnSpc>
              <a:spcBef>
                <a:spcPts val="20"/>
              </a:spcBef>
              <a:buFont typeface="Arial"/>
              <a:buAutoNum type="arabicPeriod" startAt="41"/>
            </a:pPr>
            <a:endParaRPr sz="1150">
              <a:latin typeface="Arial"/>
              <a:cs typeface="Arial"/>
            </a:endParaRPr>
          </a:p>
          <a:p>
            <a:pPr marL="2722245">
              <a:lnSpc>
                <a:spcPct val="100000"/>
              </a:lnSpc>
            </a:pPr>
            <a:r>
              <a:rPr dirty="0" baseline="3086" sz="2700" spc="-509">
                <a:latin typeface="Arial"/>
                <a:cs typeface="Arial"/>
              </a:rPr>
              <a:t>ن</a:t>
            </a:r>
            <a:r>
              <a:rPr dirty="0" sz="1800" spc="-340">
                <a:latin typeface="Arial"/>
                <a:cs typeface="Arial"/>
              </a:rPr>
              <a:t>َ </a:t>
            </a:r>
            <a:r>
              <a:rPr dirty="0" baseline="3086" sz="2700" spc="-270">
                <a:latin typeface="Arial"/>
                <a:cs typeface="Arial"/>
              </a:rPr>
              <a:t>ومُ </a:t>
            </a:r>
            <a:r>
              <a:rPr dirty="0" baseline="10802" sz="2700" spc="-487">
                <a:latin typeface="Arial"/>
                <a:cs typeface="Arial"/>
              </a:rPr>
              <a:t>َ</a:t>
            </a:r>
            <a:r>
              <a:rPr dirty="0" baseline="3086" sz="2700" spc="-487">
                <a:latin typeface="Arial"/>
                <a:cs typeface="Arial"/>
              </a:rPr>
              <a:t>لعْ </a:t>
            </a:r>
            <a:r>
              <a:rPr dirty="0" baseline="3086" sz="2700" spc="-892">
                <a:latin typeface="Arial"/>
                <a:cs typeface="Arial"/>
              </a:rPr>
              <a:t>ت</a:t>
            </a:r>
            <a:r>
              <a:rPr dirty="0" baseline="7716" sz="2700" spc="-892">
                <a:latin typeface="Arial"/>
                <a:cs typeface="Arial"/>
              </a:rPr>
              <a:t>َ</a:t>
            </a:r>
            <a:r>
              <a:rPr dirty="0" baseline="7716" sz="2700" spc="525">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930">
                <a:latin typeface="Arial"/>
                <a:cs typeface="Arial"/>
              </a:rPr>
              <a:t>ت</a:t>
            </a:r>
            <a:r>
              <a:rPr dirty="0" baseline="10802" sz="2700" spc="-930">
                <a:latin typeface="Arial"/>
                <a:cs typeface="Arial"/>
              </a:rPr>
              <a:t>ُ</a:t>
            </a:r>
            <a:r>
              <a:rPr dirty="0" baseline="10802" sz="2700" spc="-157">
                <a:latin typeface="Arial"/>
                <a:cs typeface="Arial"/>
              </a:rPr>
              <a:t> </a:t>
            </a:r>
            <a:r>
              <a:rPr dirty="0" baseline="3086" sz="2700" spc="-615">
                <a:latin typeface="Arial"/>
                <a:cs typeface="Arial"/>
              </a:rPr>
              <a:t>ن</a:t>
            </a:r>
            <a:r>
              <a:rPr dirty="0" baseline="12345" sz="2700" spc="-615">
                <a:latin typeface="Arial"/>
                <a:cs typeface="Arial"/>
              </a:rPr>
              <a:t>ْ </a:t>
            </a:r>
            <a:r>
              <a:rPr dirty="0" baseline="16975" sz="2700" spc="-157">
                <a:latin typeface="Arial"/>
                <a:cs typeface="Arial"/>
              </a:rPr>
              <a:t>َ</a:t>
            </a:r>
            <a:r>
              <a:rPr dirty="0" baseline="3086" sz="2700" spc="-157">
                <a:latin typeface="Arial"/>
                <a:cs typeface="Arial"/>
              </a:rPr>
              <a:t>أو</a:t>
            </a:r>
            <a:r>
              <a:rPr dirty="0" sz="1800" spc="-105">
                <a:latin typeface="Arial"/>
                <a:cs typeface="Arial"/>
              </a:rPr>
              <a:t>َ </a:t>
            </a:r>
            <a:r>
              <a:rPr dirty="0" baseline="3086" sz="2700" spc="-382">
                <a:latin typeface="Arial"/>
                <a:cs typeface="Arial"/>
              </a:rPr>
              <a:t>ق</a:t>
            </a:r>
            <a:r>
              <a:rPr dirty="0" baseline="7716" sz="2700" spc="-382">
                <a:latin typeface="Arial"/>
                <a:cs typeface="Arial"/>
              </a:rPr>
              <a:t>َّ </a:t>
            </a:r>
            <a:r>
              <a:rPr dirty="0" baseline="3086" sz="2700" spc="-592">
                <a:latin typeface="Arial"/>
                <a:cs typeface="Arial"/>
              </a:rPr>
              <a:t>ح</a:t>
            </a:r>
            <a:r>
              <a:rPr dirty="0" sz="1800" spc="-39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262">
                <a:latin typeface="Arial"/>
                <a:cs typeface="Arial"/>
              </a:rPr>
              <a:t>ا</a:t>
            </a:r>
            <a:r>
              <a:rPr dirty="0" baseline="10802" sz="2700" spc="-262">
                <a:latin typeface="Arial"/>
                <a:cs typeface="Arial"/>
              </a:rPr>
              <a:t>ْ </a:t>
            </a:r>
            <a:r>
              <a:rPr dirty="0" baseline="3086" sz="2700" spc="-270">
                <a:latin typeface="Arial"/>
                <a:cs typeface="Arial"/>
              </a:rPr>
              <a:t>ومُ </a:t>
            </a:r>
            <a:r>
              <a:rPr dirty="0" baseline="3086" sz="2700" spc="-930">
                <a:latin typeface="Arial"/>
                <a:cs typeface="Arial"/>
              </a:rPr>
              <a:t>ت</a:t>
            </a:r>
            <a:r>
              <a:rPr dirty="0" baseline="10802" sz="2700" spc="-930">
                <a:latin typeface="Arial"/>
                <a:cs typeface="Arial"/>
              </a:rPr>
              <a:t>ُ</a:t>
            </a:r>
            <a:r>
              <a:rPr dirty="0" baseline="10802" sz="2700" spc="-157">
                <a:latin typeface="Arial"/>
                <a:cs typeface="Arial"/>
              </a:rPr>
              <a:t> </a:t>
            </a:r>
            <a:r>
              <a:rPr dirty="0" baseline="3086" sz="2700" spc="-682">
                <a:latin typeface="Arial"/>
                <a:cs typeface="Arial"/>
              </a:rPr>
              <a:t>ك</a:t>
            </a:r>
            <a:r>
              <a:rPr dirty="0" baseline="12345" sz="2700" spc="-682">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spc="-307">
                <a:latin typeface="Arial"/>
                <a:cs typeface="Arial"/>
              </a:rPr>
              <a:t>و</a:t>
            </a:r>
            <a:r>
              <a:rPr dirty="0" sz="1800" spc="-204">
                <a:latin typeface="Arial"/>
                <a:cs typeface="Arial"/>
              </a:rPr>
              <a:t>َ </a:t>
            </a:r>
            <a:r>
              <a:rPr dirty="0" baseline="3086" sz="2700" spc="-525">
                <a:latin typeface="Arial"/>
                <a:cs typeface="Arial"/>
              </a:rPr>
              <a:t>ل</a:t>
            </a:r>
            <a:r>
              <a:rPr dirty="0" baseline="-4629" sz="2700" spc="-525">
                <a:latin typeface="Arial"/>
                <a:cs typeface="Arial"/>
              </a:rPr>
              <a:t>ِ </a:t>
            </a:r>
            <a:r>
              <a:rPr dirty="0" baseline="3086" sz="2700" spc="-585">
                <a:latin typeface="Arial"/>
                <a:cs typeface="Arial"/>
              </a:rPr>
              <a:t>ط</a:t>
            </a:r>
            <a:r>
              <a:rPr dirty="0" baseline="1543" sz="2700" spc="-585">
                <a:latin typeface="Arial"/>
                <a:cs typeface="Arial"/>
              </a:rPr>
              <a:t>ِ </a:t>
            </a:r>
            <a:r>
              <a:rPr dirty="0" baseline="3086" sz="2700" spc="-585">
                <a:latin typeface="Arial"/>
                <a:cs typeface="Arial"/>
              </a:rPr>
              <a:t>اب</a:t>
            </a:r>
            <a:r>
              <a:rPr dirty="0" sz="1800" spc="-39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622">
                <a:latin typeface="Arial"/>
                <a:cs typeface="Arial"/>
              </a:rPr>
              <a:t>ٲب</a:t>
            </a:r>
            <a:r>
              <a:rPr dirty="0" baseline="-10802" sz="2700" spc="-622">
                <a:latin typeface="Arial"/>
                <a:cs typeface="Arial"/>
              </a:rPr>
              <a:t>ِ </a:t>
            </a:r>
            <a:r>
              <a:rPr dirty="0" baseline="3086" sz="2700" spc="-382">
                <a:latin typeface="Arial"/>
                <a:cs typeface="Arial"/>
              </a:rPr>
              <a:t>ق</a:t>
            </a:r>
            <a:r>
              <a:rPr dirty="0" baseline="7716" sz="2700" spc="-382">
                <a:latin typeface="Arial"/>
                <a:cs typeface="Arial"/>
              </a:rPr>
              <a:t>َّ </a:t>
            </a:r>
            <a:r>
              <a:rPr dirty="0" baseline="3086" sz="2700" spc="-592">
                <a:latin typeface="Arial"/>
                <a:cs typeface="Arial"/>
              </a:rPr>
              <a:t>ح</a:t>
            </a:r>
            <a:r>
              <a:rPr dirty="0" sz="1800" spc="-39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262">
                <a:latin typeface="Arial"/>
                <a:cs typeface="Arial"/>
              </a:rPr>
              <a:t>ا</a:t>
            </a:r>
            <a:r>
              <a:rPr dirty="0" baseline="10802" sz="2700" spc="-262">
                <a:latin typeface="Arial"/>
                <a:cs typeface="Arial"/>
              </a:rPr>
              <a:t>ْ </a:t>
            </a:r>
            <a:r>
              <a:rPr dirty="0" baseline="3086" sz="2700" spc="-675">
                <a:latin typeface="Arial"/>
                <a:cs typeface="Arial"/>
              </a:rPr>
              <a:t>وسُ </a:t>
            </a:r>
            <a:r>
              <a:rPr dirty="0" baseline="3086" sz="2700" spc="-960">
                <a:latin typeface="Arial"/>
                <a:cs typeface="Arial"/>
              </a:rPr>
              <a:t>ب</a:t>
            </a:r>
            <a:r>
              <a:rPr dirty="0" baseline="-10802" sz="2700" spc="-960">
                <a:latin typeface="Arial"/>
                <a:cs typeface="Arial"/>
              </a:rPr>
              <a:t>ِ</a:t>
            </a:r>
            <a:r>
              <a:rPr dirty="0" baseline="-10802" sz="2700" spc="-104">
                <a:latin typeface="Arial"/>
                <a:cs typeface="Arial"/>
              </a:rPr>
              <a:t> </a:t>
            </a:r>
            <a:r>
              <a:rPr dirty="0" baseline="3086" sz="2700" spc="-660">
                <a:latin typeface="Arial"/>
                <a:cs typeface="Arial"/>
              </a:rPr>
              <a:t>ل</a:t>
            </a:r>
            <a:r>
              <a:rPr dirty="0" baseline="13888" sz="2700" spc="-660">
                <a:latin typeface="Arial"/>
                <a:cs typeface="Arial"/>
              </a:rPr>
              <a:t>ْ</a:t>
            </a:r>
            <a:r>
              <a:rPr dirty="0" baseline="13888" sz="2700" spc="-592">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509">
                <a:latin typeface="Arial"/>
                <a:cs typeface="Arial"/>
              </a:rPr>
              <a:t> </a:t>
            </a:r>
            <a:r>
              <a:rPr dirty="0" baseline="9259" sz="2700" spc="-270">
                <a:latin typeface="Arial"/>
                <a:cs typeface="Arial"/>
              </a:rPr>
              <a:t>َ</a:t>
            </a:r>
            <a:r>
              <a:rPr dirty="0" baseline="3086" sz="2700" spc="-270">
                <a:latin typeface="Arial"/>
                <a:cs typeface="Arial"/>
              </a:rPr>
              <a:t>لاو</a:t>
            </a:r>
            <a:endParaRPr baseline="3086" sz="2700">
              <a:latin typeface="Arial"/>
              <a:cs typeface="Arial"/>
            </a:endParaRPr>
          </a:p>
          <a:p>
            <a:pPr algn="just" marL="369570" indent="-255904">
              <a:lnSpc>
                <a:spcPct val="100000"/>
              </a:lnSpc>
              <a:spcBef>
                <a:spcPts val="2435"/>
              </a:spcBef>
              <a:buAutoNum type="arabicPeriod" startAt="42"/>
              <a:tabLst>
                <a:tab pos="370205" algn="l"/>
              </a:tabLst>
            </a:pPr>
            <a:r>
              <a:rPr dirty="0" sz="1200" spc="-5">
                <a:latin typeface="Arial"/>
                <a:cs typeface="Arial"/>
              </a:rPr>
              <a:t>Confound not truth with falsehood, nor knowingly </a:t>
            </a:r>
            <a:r>
              <a:rPr dirty="0" sz="1200">
                <a:latin typeface="Arial"/>
                <a:cs typeface="Arial"/>
              </a:rPr>
              <a:t>conceal </a:t>
            </a:r>
            <a:r>
              <a:rPr dirty="0" sz="1200" spc="-5">
                <a:latin typeface="Arial"/>
                <a:cs typeface="Arial"/>
              </a:rPr>
              <a:t>the</a:t>
            </a:r>
            <a:r>
              <a:rPr dirty="0" sz="1200">
                <a:latin typeface="Arial"/>
                <a:cs typeface="Arial"/>
              </a:rPr>
              <a:t> </a:t>
            </a:r>
            <a:r>
              <a:rPr dirty="0" sz="1200" spc="-5">
                <a:latin typeface="Arial"/>
                <a:cs typeface="Arial"/>
              </a:rPr>
              <a:t>truth.</a:t>
            </a:r>
            <a:endParaRPr sz="1200">
              <a:latin typeface="Arial"/>
              <a:cs typeface="Arial"/>
            </a:endParaRPr>
          </a:p>
          <a:p>
            <a:pPr>
              <a:lnSpc>
                <a:spcPct val="100000"/>
              </a:lnSpc>
            </a:pPr>
            <a:endParaRPr sz="1200">
              <a:latin typeface="Arial"/>
              <a:cs typeface="Arial"/>
            </a:endParaRPr>
          </a:p>
          <a:p>
            <a:pPr marL="2874645">
              <a:lnSpc>
                <a:spcPct val="100000"/>
              </a:lnSpc>
            </a:pPr>
            <a:r>
              <a:rPr dirty="0" baseline="3086" sz="2700" spc="-494">
                <a:latin typeface="Arial"/>
                <a:cs typeface="Arial"/>
              </a:rPr>
              <a:t>ن</a:t>
            </a:r>
            <a:r>
              <a:rPr dirty="0" sz="1800" spc="-330">
                <a:latin typeface="Arial"/>
                <a:cs typeface="Arial"/>
              </a:rPr>
              <a:t>َ </a:t>
            </a:r>
            <a:r>
              <a:rPr dirty="0" baseline="3086" sz="2700" spc="-412">
                <a:latin typeface="Arial"/>
                <a:cs typeface="Arial"/>
              </a:rPr>
              <a:t>ٌع</a:t>
            </a:r>
            <a:r>
              <a:rPr dirty="0" baseline="1543" sz="2700" spc="-412">
                <a:latin typeface="Arial"/>
                <a:cs typeface="Arial"/>
              </a:rPr>
              <a:t>ِ </a:t>
            </a:r>
            <a:r>
              <a:rPr dirty="0" baseline="3086" sz="2700" spc="-727">
                <a:latin typeface="Arial"/>
                <a:cs typeface="Arial"/>
              </a:rPr>
              <a:t>ك</a:t>
            </a:r>
            <a:r>
              <a:rPr dirty="0" baseline="1543" sz="2700" spc="-727">
                <a:latin typeface="Arial"/>
                <a:cs typeface="Arial"/>
              </a:rPr>
              <a:t>ِ </a:t>
            </a:r>
            <a:r>
              <a:rPr dirty="0" baseline="3086" sz="2700" spc="-262">
                <a:latin typeface="Arial"/>
                <a:cs typeface="Arial"/>
              </a:rPr>
              <a:t>ارَّ </a:t>
            </a:r>
            <a:r>
              <a:rPr dirty="0" baseline="3086" sz="2700" spc="-412">
                <a:latin typeface="Arial"/>
                <a:cs typeface="Arial"/>
              </a:rPr>
              <a:t>لٱ </a:t>
            </a:r>
            <a:r>
              <a:rPr dirty="0" baseline="3086" sz="2700" spc="-569">
                <a:latin typeface="Arial"/>
                <a:cs typeface="Arial"/>
              </a:rPr>
              <a:t>ع</a:t>
            </a:r>
            <a:r>
              <a:rPr dirty="0" sz="1800" spc="-380">
                <a:latin typeface="Arial"/>
                <a:cs typeface="Arial"/>
              </a:rPr>
              <a:t>َ </a:t>
            </a:r>
            <a:r>
              <a:rPr dirty="0" baseline="3086" sz="2700" spc="-359">
                <a:latin typeface="Arial"/>
                <a:cs typeface="Arial"/>
              </a:rPr>
              <a:t>م</a:t>
            </a:r>
            <a:r>
              <a:rPr dirty="0" sz="1800" spc="-240">
                <a:latin typeface="Arial"/>
                <a:cs typeface="Arial"/>
              </a:rPr>
              <a:t>َ </a:t>
            </a:r>
            <a:r>
              <a:rPr dirty="0" baseline="3086" sz="2700" spc="-262">
                <a:latin typeface="Arial"/>
                <a:cs typeface="Arial"/>
              </a:rPr>
              <a:t>ا</a:t>
            </a:r>
            <a:r>
              <a:rPr dirty="0" baseline="10802" sz="2700" spc="-262">
                <a:latin typeface="Arial"/>
                <a:cs typeface="Arial"/>
              </a:rPr>
              <a:t>ْ </a:t>
            </a:r>
            <a:r>
              <a:rPr dirty="0" baseline="3086" sz="2700" spc="-427">
                <a:latin typeface="Arial"/>
                <a:cs typeface="Arial"/>
              </a:rPr>
              <a:t>وعُ </a:t>
            </a:r>
            <a:r>
              <a:rPr dirty="0" baseline="3086" sz="2700" spc="-719">
                <a:latin typeface="Arial"/>
                <a:cs typeface="Arial"/>
              </a:rPr>
              <a:t>ك</a:t>
            </a:r>
            <a:r>
              <a:rPr dirty="0" baseline="7716" sz="2700" spc="-719">
                <a:latin typeface="Arial"/>
                <a:cs typeface="Arial"/>
              </a:rPr>
              <a:t>َ </a:t>
            </a:r>
            <a:r>
              <a:rPr dirty="0" baseline="3086" sz="2700" spc="-457">
                <a:latin typeface="Arial"/>
                <a:cs typeface="Arial"/>
              </a:rPr>
              <a:t>رْ </a:t>
            </a:r>
            <a:r>
              <a:rPr dirty="0" baseline="3086" sz="2700" spc="-209">
                <a:latin typeface="Arial"/>
                <a:cs typeface="Arial"/>
              </a:rPr>
              <a:t>ٱو</a:t>
            </a:r>
            <a:r>
              <a:rPr dirty="0" sz="1800" spc="-140">
                <a:latin typeface="Arial"/>
                <a:cs typeface="Arial"/>
              </a:rPr>
              <a:t>َ </a:t>
            </a:r>
            <a:r>
              <a:rPr dirty="0" baseline="3086" sz="2700" spc="-345">
                <a:latin typeface="Arial"/>
                <a:cs typeface="Arial"/>
              </a:rPr>
              <a:t>ة</a:t>
            </a:r>
            <a:r>
              <a:rPr dirty="0" baseline="4629" sz="2700" spc="-345">
                <a:latin typeface="Arial"/>
                <a:cs typeface="Arial"/>
              </a:rPr>
              <a:t>َ </a:t>
            </a:r>
            <a:r>
              <a:rPr dirty="0" baseline="3086" sz="2700" spc="-465">
                <a:latin typeface="Arial"/>
                <a:cs typeface="Arial"/>
              </a:rPr>
              <a:t>اك</a:t>
            </a:r>
            <a:r>
              <a:rPr dirty="0" baseline="7716" sz="2700" spc="-465">
                <a:latin typeface="Arial"/>
                <a:cs typeface="Arial"/>
              </a:rPr>
              <a:t>َ  </a:t>
            </a:r>
            <a:r>
              <a:rPr dirty="0" baseline="3086" sz="2700" spc="-345">
                <a:latin typeface="Arial"/>
                <a:cs typeface="Arial"/>
              </a:rPr>
              <a:t>ز</a:t>
            </a:r>
            <a:r>
              <a:rPr dirty="0" baseline="10802" sz="2700" spc="-345">
                <a:latin typeface="Arial"/>
                <a:cs typeface="Arial"/>
              </a:rPr>
              <a:t>َّ </a:t>
            </a:r>
            <a:r>
              <a:rPr dirty="0" baseline="3086" sz="2700" spc="-412">
                <a:latin typeface="Arial"/>
                <a:cs typeface="Arial"/>
              </a:rPr>
              <a:t>لٱ </a:t>
            </a:r>
            <a:r>
              <a:rPr dirty="0" baseline="3086" sz="2700" spc="-262">
                <a:latin typeface="Arial"/>
                <a:cs typeface="Arial"/>
              </a:rPr>
              <a:t>ا</a:t>
            </a:r>
            <a:r>
              <a:rPr dirty="0" baseline="10802" sz="2700" spc="-262">
                <a:latin typeface="Arial"/>
                <a:cs typeface="Arial"/>
              </a:rPr>
              <a:t>ْ </a:t>
            </a:r>
            <a:r>
              <a:rPr dirty="0" baseline="3086" sz="2700" spc="-630">
                <a:latin typeface="Arial"/>
                <a:cs typeface="Arial"/>
              </a:rPr>
              <a:t>وت</a:t>
            </a:r>
            <a:r>
              <a:rPr dirty="0" baseline="10802" sz="2700" spc="-630">
                <a:latin typeface="Arial"/>
                <a:cs typeface="Arial"/>
              </a:rPr>
              <a:t>ُ </a:t>
            </a:r>
            <a:r>
              <a:rPr dirty="0" baseline="3086" sz="2700" spc="-209">
                <a:latin typeface="Arial"/>
                <a:cs typeface="Arial"/>
              </a:rPr>
              <a:t>آو</a:t>
            </a:r>
            <a:r>
              <a:rPr dirty="0" sz="1800" spc="-140">
                <a:latin typeface="Arial"/>
                <a:cs typeface="Arial"/>
              </a:rPr>
              <a:t>َ </a:t>
            </a:r>
            <a:r>
              <a:rPr dirty="0" baseline="3086" sz="2700" spc="-345">
                <a:latin typeface="Arial"/>
                <a:cs typeface="Arial"/>
              </a:rPr>
              <a:t>ة</a:t>
            </a:r>
            <a:r>
              <a:rPr dirty="0" baseline="4629" sz="2700" spc="-345">
                <a:latin typeface="Arial"/>
                <a:cs typeface="Arial"/>
              </a:rPr>
              <a:t>َ </a:t>
            </a:r>
            <a:r>
              <a:rPr dirty="0" baseline="3086" sz="2700" spc="-637">
                <a:latin typeface="Arial"/>
                <a:cs typeface="Arial"/>
              </a:rPr>
              <a:t>ول</a:t>
            </a:r>
            <a:r>
              <a:rPr dirty="0" baseline="18518" sz="2700" spc="-637">
                <a:latin typeface="Arial"/>
                <a:cs typeface="Arial"/>
              </a:rPr>
              <a:t>ٰ</a:t>
            </a:r>
            <a:r>
              <a:rPr dirty="0" baseline="3086" sz="2700" spc="-637">
                <a:latin typeface="Arial"/>
                <a:cs typeface="Arial"/>
              </a:rPr>
              <a:t>صَّ </a:t>
            </a:r>
            <a:r>
              <a:rPr dirty="0" baseline="3086" sz="2700" spc="-412">
                <a:latin typeface="Arial"/>
                <a:cs typeface="Arial"/>
              </a:rPr>
              <a:t>لٱ </a:t>
            </a:r>
            <a:r>
              <a:rPr dirty="0" baseline="3086" sz="2700" spc="-262">
                <a:latin typeface="Arial"/>
                <a:cs typeface="Arial"/>
              </a:rPr>
              <a:t>ا</a:t>
            </a:r>
            <a:r>
              <a:rPr dirty="0" baseline="10802" sz="2700" spc="-262">
                <a:latin typeface="Arial"/>
                <a:cs typeface="Arial"/>
              </a:rPr>
              <a:t>ْ </a:t>
            </a:r>
            <a:r>
              <a:rPr dirty="0" baseline="3086" sz="2700" spc="-270">
                <a:latin typeface="Arial"/>
                <a:cs typeface="Arial"/>
              </a:rPr>
              <a:t>ومُ </a:t>
            </a:r>
            <a:r>
              <a:rPr dirty="0" baseline="3086" sz="2700" spc="-517">
                <a:latin typeface="Arial"/>
                <a:cs typeface="Arial"/>
              </a:rPr>
              <a:t>ٌق</a:t>
            </a:r>
            <a:r>
              <a:rPr dirty="0" baseline="1543" sz="2700" spc="-517">
                <a:latin typeface="Arial"/>
                <a:cs typeface="Arial"/>
              </a:rPr>
              <a:t>ِ</a:t>
            </a:r>
            <a:r>
              <a:rPr dirty="0" baseline="1543" sz="2700" spc="-412">
                <a:latin typeface="Arial"/>
                <a:cs typeface="Arial"/>
              </a:rPr>
              <a:t> </a:t>
            </a:r>
            <a:r>
              <a:rPr dirty="0" baseline="16975" sz="2700" spc="-209">
                <a:latin typeface="Arial"/>
                <a:cs typeface="Arial"/>
              </a:rPr>
              <a:t>َ</a:t>
            </a:r>
            <a:r>
              <a:rPr dirty="0" baseline="3086" sz="2700" spc="-209">
                <a:latin typeface="Arial"/>
                <a:cs typeface="Arial"/>
              </a:rPr>
              <a:t>أو</a:t>
            </a:r>
            <a:endParaRPr baseline="3086" sz="2700">
              <a:latin typeface="Arial"/>
              <a:cs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80644" y="432307"/>
            <a:ext cx="6563995" cy="8916670"/>
          </a:xfrm>
          <a:prstGeom prst="rect">
            <a:avLst/>
          </a:prstGeom>
        </p:spPr>
        <p:txBody>
          <a:bodyPr wrap="square" lIns="0" tIns="12700" rIns="0" bIns="0" rtlCol="0" vert="horz">
            <a:spAutoFit/>
          </a:bodyPr>
          <a:lstStyle/>
          <a:p>
            <a:pPr marL="150495">
              <a:lnSpc>
                <a:spcPct val="100000"/>
              </a:lnSpc>
              <a:spcBef>
                <a:spcPts val="100"/>
              </a:spcBef>
              <a:tabLst>
                <a:tab pos="520255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marL="150495" marR="125730">
              <a:lnSpc>
                <a:spcPts val="1380"/>
              </a:lnSpc>
              <a:buAutoNum type="arabicPeriod" startAt="43"/>
              <a:tabLst>
                <a:tab pos="446405" algn="l"/>
              </a:tabLst>
            </a:pPr>
            <a:r>
              <a:rPr dirty="0" sz="1200" spc="-5">
                <a:latin typeface="Arial"/>
                <a:cs typeface="Arial"/>
              </a:rPr>
              <a:t>Establish worship, pay </a:t>
            </a:r>
            <a:r>
              <a:rPr dirty="0" sz="1200">
                <a:latin typeface="Arial"/>
                <a:cs typeface="Arial"/>
              </a:rPr>
              <a:t>the poor-due, </a:t>
            </a:r>
            <a:r>
              <a:rPr dirty="0" sz="1200" spc="-5">
                <a:latin typeface="Arial"/>
                <a:cs typeface="Arial"/>
              </a:rPr>
              <a:t>and bow your heads with </a:t>
            </a:r>
            <a:r>
              <a:rPr dirty="0" sz="1200">
                <a:latin typeface="Arial"/>
                <a:cs typeface="Arial"/>
              </a:rPr>
              <a:t>those </a:t>
            </a:r>
            <a:r>
              <a:rPr dirty="0" sz="1200" spc="-10">
                <a:latin typeface="Arial"/>
                <a:cs typeface="Arial"/>
              </a:rPr>
              <a:t>who </a:t>
            </a:r>
            <a:r>
              <a:rPr dirty="0" sz="1200" spc="-5">
                <a:latin typeface="Arial"/>
                <a:cs typeface="Arial"/>
              </a:rPr>
              <a:t>bow (in  worship).</a:t>
            </a:r>
            <a:endParaRPr sz="1200">
              <a:latin typeface="Arial"/>
              <a:cs typeface="Arial"/>
            </a:endParaRPr>
          </a:p>
          <a:p>
            <a:pPr>
              <a:lnSpc>
                <a:spcPct val="100000"/>
              </a:lnSpc>
              <a:spcBef>
                <a:spcPts val="20"/>
              </a:spcBef>
              <a:buFont typeface="Arial"/>
              <a:buAutoNum type="arabicPeriod" startAt="43"/>
            </a:pPr>
            <a:endParaRPr sz="1100">
              <a:latin typeface="Arial"/>
              <a:cs typeface="Arial"/>
            </a:endParaRPr>
          </a:p>
          <a:p>
            <a:pPr algn="r" marR="119380">
              <a:lnSpc>
                <a:spcPct val="100000"/>
              </a:lnSpc>
              <a:spcBef>
                <a:spcPts val="5"/>
              </a:spcBef>
            </a:pPr>
            <a:r>
              <a:rPr dirty="0" baseline="1543" sz="2700" spc="-494">
                <a:latin typeface="Arial"/>
                <a:cs typeface="Arial"/>
              </a:rPr>
              <a:t>ن</a:t>
            </a:r>
            <a:r>
              <a:rPr dirty="0" baseline="-1543" sz="2700" spc="-494">
                <a:latin typeface="Arial"/>
                <a:cs typeface="Arial"/>
              </a:rPr>
              <a:t>َ </a:t>
            </a:r>
            <a:r>
              <a:rPr dirty="0" baseline="1543" sz="2700" spc="-494">
                <a:latin typeface="Arial"/>
                <a:cs typeface="Arial"/>
              </a:rPr>
              <a:t>و</a:t>
            </a:r>
            <a:r>
              <a:rPr dirty="0" baseline="12345" sz="2700" spc="-494">
                <a:latin typeface="Arial"/>
                <a:cs typeface="Arial"/>
              </a:rPr>
              <a:t>ُ</a:t>
            </a:r>
            <a:r>
              <a:rPr dirty="0" baseline="1543" sz="2700" spc="-494">
                <a:latin typeface="Arial"/>
                <a:cs typeface="Arial"/>
              </a:rPr>
              <a:t>لق</a:t>
            </a:r>
            <a:r>
              <a:rPr dirty="0" sz="1800" spc="-330">
                <a:latin typeface="Arial"/>
                <a:cs typeface="Arial"/>
              </a:rPr>
              <a:t>ِ </a:t>
            </a:r>
            <a:r>
              <a:rPr dirty="0" baseline="1543" sz="2700" spc="-569">
                <a:latin typeface="Arial"/>
                <a:cs typeface="Arial"/>
              </a:rPr>
              <a:t>عْ </a:t>
            </a:r>
            <a:r>
              <a:rPr dirty="0" baseline="1543" sz="2700" spc="-892">
                <a:latin typeface="Arial"/>
                <a:cs typeface="Arial"/>
              </a:rPr>
              <a:t>ت</a:t>
            </a:r>
            <a:r>
              <a:rPr dirty="0" baseline="6172" sz="2700" spc="-892">
                <a:latin typeface="Arial"/>
                <a:cs typeface="Arial"/>
              </a:rPr>
              <a:t>َ</a:t>
            </a:r>
            <a:r>
              <a:rPr dirty="0" baseline="6172" sz="2700" spc="517">
                <a:latin typeface="Arial"/>
                <a:cs typeface="Arial"/>
              </a:rPr>
              <a:t> </a:t>
            </a:r>
            <a:r>
              <a:rPr dirty="0" baseline="7716" sz="2700" spc="-480">
                <a:latin typeface="Arial"/>
                <a:cs typeface="Arial"/>
              </a:rPr>
              <a:t>َ</a:t>
            </a:r>
            <a:r>
              <a:rPr dirty="0" baseline="1543" sz="2700" spc="-480">
                <a:latin typeface="Arial"/>
                <a:cs typeface="Arial"/>
              </a:rPr>
              <a:t>لاف</a:t>
            </a:r>
            <a:r>
              <a:rPr dirty="0" baseline="6172" sz="2700" spc="-480">
                <a:latin typeface="Arial"/>
                <a:cs typeface="Arial"/>
              </a:rPr>
              <a:t>َ </a:t>
            </a:r>
            <a:r>
              <a:rPr dirty="0" baseline="15432" sz="2700">
                <a:latin typeface="Arial"/>
                <a:cs typeface="Arial"/>
              </a:rPr>
              <a:t>َ</a:t>
            </a:r>
            <a:r>
              <a:rPr dirty="0" baseline="1543" sz="2700">
                <a:latin typeface="Arial"/>
                <a:cs typeface="Arial"/>
              </a:rPr>
              <a:t>أ </a:t>
            </a:r>
            <a:r>
              <a:rPr dirty="0" baseline="1543" sz="2700" spc="-772">
                <a:latin typeface="Arial"/>
                <a:cs typeface="Arial"/>
              </a:rPr>
              <a:t>ب</a:t>
            </a:r>
            <a:r>
              <a:rPr dirty="0" baseline="-1543" sz="2700" spc="-772">
                <a:latin typeface="Arial"/>
                <a:cs typeface="Arial"/>
              </a:rPr>
              <a:t>َ</a:t>
            </a:r>
            <a:r>
              <a:rPr dirty="0" baseline="-1543" sz="2700" spc="787">
                <a:latin typeface="Arial"/>
                <a:cs typeface="Arial"/>
              </a:rPr>
              <a:t> </a:t>
            </a:r>
            <a:r>
              <a:rPr dirty="0" baseline="1543" sz="2700" spc="-585">
                <a:latin typeface="Arial"/>
                <a:cs typeface="Arial"/>
              </a:rPr>
              <a:t>ات</a:t>
            </a:r>
            <a:r>
              <a:rPr dirty="0" baseline="6172" sz="2700" spc="-585">
                <a:latin typeface="Arial"/>
                <a:cs typeface="Arial"/>
              </a:rPr>
              <a:t>َ </a:t>
            </a:r>
            <a:r>
              <a:rPr dirty="0" baseline="1543" sz="2700" spc="-735">
                <a:latin typeface="Arial"/>
                <a:cs typeface="Arial"/>
              </a:rPr>
              <a:t>ك</a:t>
            </a:r>
            <a:r>
              <a:rPr dirty="0" sz="1800" spc="-490">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494">
                <a:latin typeface="Arial"/>
                <a:cs typeface="Arial"/>
              </a:rPr>
              <a:t>ن</a:t>
            </a:r>
            <a:r>
              <a:rPr dirty="0" baseline="-1543" sz="2700" spc="-494">
                <a:latin typeface="Arial"/>
                <a:cs typeface="Arial"/>
              </a:rPr>
              <a:t>َ </a:t>
            </a:r>
            <a:r>
              <a:rPr dirty="0" baseline="1543" sz="2700" spc="-525">
                <a:latin typeface="Arial"/>
                <a:cs typeface="Arial"/>
              </a:rPr>
              <a:t>و</a:t>
            </a:r>
            <a:r>
              <a:rPr dirty="0" baseline="12345" sz="2700" spc="-525">
                <a:latin typeface="Arial"/>
                <a:cs typeface="Arial"/>
              </a:rPr>
              <a:t>ُ</a:t>
            </a:r>
            <a:r>
              <a:rPr dirty="0" baseline="1543" sz="2700" spc="-525">
                <a:latin typeface="Arial"/>
                <a:cs typeface="Arial"/>
              </a:rPr>
              <a:t>لت</a:t>
            </a:r>
            <a:r>
              <a:rPr dirty="0" baseline="9259" sz="2700" spc="-525">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517">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930">
                <a:latin typeface="Arial"/>
                <a:cs typeface="Arial"/>
              </a:rPr>
              <a:t>ت</a:t>
            </a:r>
            <a:r>
              <a:rPr dirty="0" baseline="9259" sz="2700" spc="-930">
                <a:latin typeface="Arial"/>
                <a:cs typeface="Arial"/>
              </a:rPr>
              <a:t>ُ</a:t>
            </a:r>
            <a:r>
              <a:rPr dirty="0" baseline="9259" sz="2700" spc="-150">
                <a:latin typeface="Arial"/>
                <a:cs typeface="Arial"/>
              </a:rPr>
              <a:t> </a:t>
            </a:r>
            <a:r>
              <a:rPr dirty="0" baseline="1543" sz="2700" spc="-615">
                <a:latin typeface="Arial"/>
                <a:cs typeface="Arial"/>
              </a:rPr>
              <a:t>ن</a:t>
            </a:r>
            <a:r>
              <a:rPr dirty="0" baseline="9259" sz="2700" spc="-615">
                <a:latin typeface="Arial"/>
                <a:cs typeface="Arial"/>
              </a:rPr>
              <a:t>ْ </a:t>
            </a:r>
            <a:r>
              <a:rPr dirty="0" baseline="15432" sz="2700" spc="-157">
                <a:latin typeface="Arial"/>
                <a:cs typeface="Arial"/>
              </a:rPr>
              <a:t>َ</a:t>
            </a:r>
            <a:r>
              <a:rPr dirty="0" baseline="1543" sz="2700" spc="-157">
                <a:latin typeface="Arial"/>
                <a:cs typeface="Arial"/>
              </a:rPr>
              <a:t>أو</a:t>
            </a:r>
            <a:r>
              <a:rPr dirty="0" baseline="-1543" sz="2700" spc="-157">
                <a:latin typeface="Arial"/>
                <a:cs typeface="Arial"/>
              </a:rPr>
              <a:t>َ </a:t>
            </a:r>
            <a:r>
              <a:rPr dirty="0" baseline="1543" sz="2700" spc="-359">
                <a:latin typeface="Arial"/>
                <a:cs typeface="Arial"/>
              </a:rPr>
              <a:t>م</a:t>
            </a:r>
            <a:r>
              <a:rPr dirty="0" baseline="-3086" sz="2700" spc="-359">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95">
                <a:latin typeface="Arial"/>
                <a:cs typeface="Arial"/>
              </a:rPr>
              <a:t> </a:t>
            </a:r>
            <a:r>
              <a:rPr dirty="0" baseline="1543" sz="2700" spc="-982">
                <a:latin typeface="Arial"/>
                <a:cs typeface="Arial"/>
              </a:rPr>
              <a:t>س</a:t>
            </a:r>
            <a:r>
              <a:rPr dirty="0" baseline="-1543" sz="2700" spc="-982">
                <a:latin typeface="Arial"/>
                <a:cs typeface="Arial"/>
              </a:rPr>
              <a:t>َ</a:t>
            </a:r>
            <a:r>
              <a:rPr dirty="0" baseline="-1543" sz="2700" spc="427">
                <a:latin typeface="Arial"/>
                <a:cs typeface="Arial"/>
              </a:rPr>
              <a:t> </a:t>
            </a:r>
            <a:r>
              <a:rPr dirty="0" baseline="9259" sz="2700" spc="-660">
                <a:latin typeface="Arial"/>
                <a:cs typeface="Arial"/>
              </a:rPr>
              <a:t>ُ</a:t>
            </a:r>
            <a:r>
              <a:rPr dirty="0" baseline="1543" sz="2700" spc="-660">
                <a:latin typeface="Arial"/>
                <a:cs typeface="Arial"/>
              </a:rPr>
              <a:t>فن</a:t>
            </a:r>
            <a:r>
              <a:rPr dirty="0" baseline="9259" sz="2700" spc="-660">
                <a:latin typeface="Arial"/>
                <a:cs typeface="Arial"/>
              </a:rPr>
              <a:t>ْ </a:t>
            </a:r>
            <a:r>
              <a:rPr dirty="0" baseline="15432" sz="2700">
                <a:latin typeface="Arial"/>
                <a:cs typeface="Arial"/>
              </a:rPr>
              <a:t>َ</a:t>
            </a:r>
            <a:r>
              <a:rPr dirty="0" baseline="1543" sz="2700">
                <a:latin typeface="Arial"/>
                <a:cs typeface="Arial"/>
              </a:rPr>
              <a:t>أ </a:t>
            </a:r>
            <a:r>
              <a:rPr dirty="0" baseline="1543" sz="2700" spc="-494">
                <a:latin typeface="Arial"/>
                <a:cs typeface="Arial"/>
              </a:rPr>
              <a:t>ن</a:t>
            </a:r>
            <a:r>
              <a:rPr dirty="0" baseline="-1543" sz="2700" spc="-494">
                <a:latin typeface="Arial"/>
                <a:cs typeface="Arial"/>
              </a:rPr>
              <a:t>َ </a:t>
            </a:r>
            <a:r>
              <a:rPr dirty="0" baseline="1543" sz="2700" spc="-270">
                <a:latin typeface="Arial"/>
                <a:cs typeface="Arial"/>
              </a:rPr>
              <a:t>وْ </a:t>
            </a:r>
            <a:r>
              <a:rPr dirty="0" baseline="1543" sz="2700" spc="-989">
                <a:latin typeface="Arial"/>
                <a:cs typeface="Arial"/>
              </a:rPr>
              <a:t>س</a:t>
            </a:r>
            <a:r>
              <a:rPr dirty="0" baseline="-1543" sz="2700" spc="-989">
                <a:latin typeface="Arial"/>
                <a:cs typeface="Arial"/>
              </a:rPr>
              <a:t>َ</a:t>
            </a:r>
            <a:r>
              <a:rPr dirty="0" baseline="-1543" sz="2700" spc="427">
                <a:latin typeface="Arial"/>
                <a:cs typeface="Arial"/>
              </a:rPr>
              <a:t> </a:t>
            </a:r>
            <a:r>
              <a:rPr dirty="0" baseline="1543" sz="2700" spc="-607">
                <a:latin typeface="Arial"/>
                <a:cs typeface="Arial"/>
              </a:rPr>
              <a:t>ن</a:t>
            </a:r>
            <a:r>
              <a:rPr dirty="0" baseline="9259" sz="2700" spc="-607">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25">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45">
                <a:latin typeface="Arial"/>
                <a:cs typeface="Arial"/>
              </a:rPr>
              <a:t>رِّ </a:t>
            </a:r>
            <a:r>
              <a:rPr dirty="0" baseline="1543" sz="2700" spc="-960">
                <a:latin typeface="Arial"/>
                <a:cs typeface="Arial"/>
              </a:rPr>
              <a:t>ب</a:t>
            </a:r>
            <a:r>
              <a:rPr dirty="0" baseline="-12345" sz="2700" spc="-960">
                <a:latin typeface="Arial"/>
                <a:cs typeface="Arial"/>
              </a:rPr>
              <a:t>ِ</a:t>
            </a:r>
            <a:r>
              <a:rPr dirty="0" baseline="-12345" sz="2700" spc="-97">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spc="-622">
                <a:latin typeface="Arial"/>
                <a:cs typeface="Arial"/>
              </a:rPr>
              <a:t>ٲب</a:t>
            </a:r>
            <a:r>
              <a:rPr dirty="0" baseline="-12345" sz="2700" spc="-622">
                <a:latin typeface="Arial"/>
                <a:cs typeface="Arial"/>
              </a:rPr>
              <a:t>ِ </a:t>
            </a:r>
            <a:r>
              <a:rPr dirty="0" baseline="1543" sz="2700" spc="-877">
                <a:latin typeface="Arial"/>
                <a:cs typeface="Arial"/>
              </a:rPr>
              <a:t>س</a:t>
            </a:r>
            <a:r>
              <a:rPr dirty="0" baseline="-1543" sz="2700" spc="-877">
                <a:latin typeface="Arial"/>
                <a:cs typeface="Arial"/>
              </a:rPr>
              <a:t>َ</a:t>
            </a:r>
            <a:r>
              <a:rPr dirty="0" baseline="-1543" sz="2700" spc="1012">
                <a:latin typeface="Arial"/>
                <a:cs typeface="Arial"/>
              </a:rPr>
              <a:t> </a:t>
            </a:r>
            <a:r>
              <a:rPr dirty="0" baseline="1543" sz="2700" spc="-322">
                <a:latin typeface="Arial"/>
                <a:cs typeface="Arial"/>
              </a:rPr>
              <a:t>ان</a:t>
            </a:r>
            <a:r>
              <a:rPr dirty="0" baseline="9259" sz="2700" spc="-322">
                <a:latin typeface="Arial"/>
                <a:cs typeface="Arial"/>
              </a:rPr>
              <a:t>َّ </a:t>
            </a:r>
            <a:r>
              <a:rPr dirty="0" baseline="1543" sz="2700" spc="-412">
                <a:latin typeface="Arial"/>
                <a:cs typeface="Arial"/>
              </a:rPr>
              <a:t>لٱ </a:t>
            </a:r>
            <a:r>
              <a:rPr dirty="0" baseline="1543" sz="2700" spc="-494">
                <a:latin typeface="Arial"/>
                <a:cs typeface="Arial"/>
              </a:rPr>
              <a:t>ن</a:t>
            </a:r>
            <a:r>
              <a:rPr dirty="0" baseline="-1543" sz="2700" spc="-494">
                <a:latin typeface="Arial"/>
                <a:cs typeface="Arial"/>
              </a:rPr>
              <a:t>َ </a:t>
            </a:r>
            <a:r>
              <a:rPr dirty="0" baseline="1543" sz="2700" spc="-352">
                <a:latin typeface="Arial"/>
                <a:cs typeface="Arial"/>
              </a:rPr>
              <a:t>ورُ </a:t>
            </a:r>
            <a:r>
              <a:rPr dirty="0" baseline="1543" sz="2700" spc="-397">
                <a:latin typeface="Arial"/>
                <a:cs typeface="Arial"/>
              </a:rPr>
              <a:t>مُ </a:t>
            </a:r>
            <a:r>
              <a:rPr dirty="0" baseline="18518" sz="2700" spc="-592">
                <a:latin typeface="Arial"/>
                <a:cs typeface="Arial"/>
              </a:rPr>
              <a:t>ْ</a:t>
            </a:r>
            <a:r>
              <a:rPr dirty="0" baseline="1543" sz="2700" spc="-592">
                <a:latin typeface="Arial"/>
                <a:cs typeface="Arial"/>
              </a:rPr>
              <a:t>ؤت</a:t>
            </a:r>
            <a:r>
              <a:rPr dirty="0" baseline="6172" sz="2700" spc="-592">
                <a:latin typeface="Arial"/>
                <a:cs typeface="Arial"/>
              </a:rPr>
              <a:t>َ</a:t>
            </a:r>
            <a:r>
              <a:rPr dirty="0" baseline="6172" sz="2700" spc="-442">
                <a:latin typeface="Arial"/>
                <a:cs typeface="Arial"/>
              </a:rPr>
              <a:t> </a:t>
            </a:r>
            <a:r>
              <a:rPr dirty="0" baseline="15432" sz="2700">
                <a:latin typeface="Arial"/>
                <a:cs typeface="Arial"/>
              </a:rPr>
              <a:t>َ</a:t>
            </a:r>
            <a:r>
              <a:rPr dirty="0" baseline="1543" sz="2700">
                <a:latin typeface="Arial"/>
                <a:cs typeface="Arial"/>
              </a:rPr>
              <a:t>أ</a:t>
            </a:r>
            <a:endParaRPr baseline="1543" sz="2700">
              <a:latin typeface="Arial"/>
              <a:cs typeface="Arial"/>
            </a:endParaRPr>
          </a:p>
          <a:p>
            <a:pPr marL="150495" marR="127635">
              <a:lnSpc>
                <a:spcPts val="1380"/>
              </a:lnSpc>
              <a:spcBef>
                <a:spcPts val="2580"/>
              </a:spcBef>
              <a:buAutoNum type="arabicPeriod" startAt="44"/>
              <a:tabLst>
                <a:tab pos="409575" algn="l"/>
              </a:tabLst>
            </a:pPr>
            <a:r>
              <a:rPr dirty="0" sz="1200" spc="-5">
                <a:latin typeface="Arial"/>
                <a:cs typeface="Arial"/>
              </a:rPr>
              <a:t>Enjoin </a:t>
            </a:r>
            <a:r>
              <a:rPr dirty="0" sz="1200" spc="-10">
                <a:latin typeface="Arial"/>
                <a:cs typeface="Arial"/>
              </a:rPr>
              <a:t>ye </a:t>
            </a:r>
            <a:r>
              <a:rPr dirty="0" sz="1200" spc="-5">
                <a:latin typeface="Arial"/>
                <a:cs typeface="Arial"/>
              </a:rPr>
              <a:t>righteousness upon mankind while </a:t>
            </a:r>
            <a:r>
              <a:rPr dirty="0" sz="1200" spc="-10">
                <a:latin typeface="Arial"/>
                <a:cs typeface="Arial"/>
              </a:rPr>
              <a:t>ye </a:t>
            </a:r>
            <a:r>
              <a:rPr dirty="0" sz="1200" spc="-5">
                <a:latin typeface="Arial"/>
                <a:cs typeface="Arial"/>
              </a:rPr>
              <a:t>yourselves forget </a:t>
            </a:r>
            <a:r>
              <a:rPr dirty="0" sz="1200">
                <a:latin typeface="Arial"/>
                <a:cs typeface="Arial"/>
              </a:rPr>
              <a:t>(to </a:t>
            </a:r>
            <a:r>
              <a:rPr dirty="0" sz="1200" spc="-5">
                <a:latin typeface="Arial"/>
                <a:cs typeface="Arial"/>
              </a:rPr>
              <a:t>practise it)? And </a:t>
            </a:r>
            <a:r>
              <a:rPr dirty="0" sz="1200" spc="-10">
                <a:latin typeface="Arial"/>
                <a:cs typeface="Arial"/>
              </a:rPr>
              <a:t>ye  </a:t>
            </a:r>
            <a:r>
              <a:rPr dirty="0" sz="1200" spc="-5">
                <a:latin typeface="Arial"/>
                <a:cs typeface="Arial"/>
              </a:rPr>
              <a:t>are readers of the Scripture! </a:t>
            </a:r>
            <a:r>
              <a:rPr dirty="0" sz="1200" spc="-10">
                <a:latin typeface="Arial"/>
                <a:cs typeface="Arial"/>
              </a:rPr>
              <a:t>Have ye </a:t>
            </a:r>
            <a:r>
              <a:rPr dirty="0" sz="1200" spc="-5">
                <a:latin typeface="Arial"/>
                <a:cs typeface="Arial"/>
              </a:rPr>
              <a:t>then no</a:t>
            </a:r>
            <a:r>
              <a:rPr dirty="0" sz="1200" spc="55">
                <a:latin typeface="Arial"/>
                <a:cs typeface="Arial"/>
              </a:rPr>
              <a:t> </a:t>
            </a:r>
            <a:r>
              <a:rPr dirty="0" sz="1200" spc="-5">
                <a:latin typeface="Arial"/>
                <a:cs typeface="Arial"/>
              </a:rPr>
              <a:t>sense?</a:t>
            </a:r>
            <a:endParaRPr sz="1200">
              <a:latin typeface="Arial"/>
              <a:cs typeface="Arial"/>
            </a:endParaRPr>
          </a:p>
          <a:p>
            <a:pPr>
              <a:lnSpc>
                <a:spcPct val="100000"/>
              </a:lnSpc>
              <a:spcBef>
                <a:spcPts val="20"/>
              </a:spcBef>
              <a:buFont typeface="Arial"/>
              <a:buAutoNum type="arabicPeriod" startAt="44"/>
            </a:pPr>
            <a:endParaRPr sz="1150">
              <a:latin typeface="Arial"/>
              <a:cs typeface="Arial"/>
            </a:endParaRPr>
          </a:p>
          <a:p>
            <a:pPr algn="r" marR="170815">
              <a:lnSpc>
                <a:spcPct val="100000"/>
              </a:lnSpc>
            </a:pPr>
            <a:r>
              <a:rPr dirty="0" baseline="3086" sz="2700" spc="-494">
                <a:latin typeface="Arial"/>
                <a:cs typeface="Arial"/>
              </a:rPr>
              <a:t>ن</a:t>
            </a:r>
            <a:r>
              <a:rPr dirty="0" sz="1800" spc="-330">
                <a:latin typeface="Arial"/>
                <a:cs typeface="Arial"/>
              </a:rPr>
              <a:t>َ </a:t>
            </a:r>
            <a:r>
              <a:rPr dirty="0" baseline="3086" sz="2700" spc="-412">
                <a:latin typeface="Arial"/>
                <a:cs typeface="Arial"/>
              </a:rPr>
              <a:t>ٌع</a:t>
            </a:r>
            <a:r>
              <a:rPr dirty="0" baseline="1543" sz="2700" spc="-412">
                <a:latin typeface="Arial"/>
                <a:cs typeface="Arial"/>
              </a:rPr>
              <a:t>ِ </a:t>
            </a:r>
            <a:r>
              <a:rPr dirty="0" baseline="3086" sz="2700" spc="-937">
                <a:latin typeface="Arial"/>
                <a:cs typeface="Arial"/>
              </a:rPr>
              <a:t>ش</a:t>
            </a:r>
            <a:r>
              <a:rPr dirty="0" baseline="1543" sz="2700" spc="-937">
                <a:latin typeface="Arial"/>
                <a:cs typeface="Arial"/>
              </a:rPr>
              <a:t>ِ</a:t>
            </a:r>
            <a:r>
              <a:rPr dirty="0" baseline="1543" sz="2700" spc="330">
                <a:latin typeface="Arial"/>
                <a:cs typeface="Arial"/>
              </a:rPr>
              <a:t> </a:t>
            </a:r>
            <a:r>
              <a:rPr dirty="0" baseline="3086" sz="2700" spc="-382">
                <a:latin typeface="Arial"/>
                <a:cs typeface="Arial"/>
              </a:rPr>
              <a:t>اخ</a:t>
            </a:r>
            <a:r>
              <a:rPr dirty="0" baseline="7716" sz="2700" spc="-382">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509">
                <a:latin typeface="Arial"/>
                <a:cs typeface="Arial"/>
              </a:rPr>
              <a:t>ىل</a:t>
            </a:r>
            <a:r>
              <a:rPr dirty="0" baseline="10802" sz="2700" spc="-509">
                <a:latin typeface="Arial"/>
                <a:cs typeface="Arial"/>
              </a:rPr>
              <a:t>َ </a:t>
            </a:r>
            <a:r>
              <a:rPr dirty="0" baseline="3086" sz="2700" spc="-607">
                <a:latin typeface="Arial"/>
                <a:cs typeface="Arial"/>
              </a:rPr>
              <a:t>ع</a:t>
            </a:r>
            <a:r>
              <a:rPr dirty="0" sz="1800" spc="-405">
                <a:latin typeface="Arial"/>
                <a:cs typeface="Arial"/>
              </a:rPr>
              <a:t>َ  </a:t>
            </a:r>
            <a:r>
              <a:rPr dirty="0" baseline="12345" sz="2700" spc="-89">
                <a:latin typeface="Arial"/>
                <a:cs typeface="Arial"/>
              </a:rPr>
              <a:t>َّ</a:t>
            </a:r>
            <a:r>
              <a:rPr dirty="0" baseline="3086" sz="2700" spc="-89">
                <a:latin typeface="Arial"/>
                <a:cs typeface="Arial"/>
              </a:rPr>
              <a:t>لا</a:t>
            </a:r>
            <a:r>
              <a:rPr dirty="0" baseline="-10802" sz="2700" spc="-89">
                <a:latin typeface="Arial"/>
                <a:cs typeface="Arial"/>
              </a:rPr>
              <a:t>ِ</a:t>
            </a:r>
            <a:r>
              <a:rPr dirty="0" baseline="3086" sz="2700" spc="-89">
                <a:latin typeface="Arial"/>
                <a:cs typeface="Arial"/>
              </a:rPr>
              <a:t>إ </a:t>
            </a:r>
            <a:r>
              <a:rPr dirty="0" baseline="9259" sz="2700" spc="-247">
                <a:latin typeface="Arial"/>
                <a:cs typeface="Arial"/>
              </a:rPr>
              <a:t>ٌ</a:t>
            </a:r>
            <a:r>
              <a:rPr dirty="0" baseline="3086" sz="2700" spc="-247">
                <a:latin typeface="Arial"/>
                <a:cs typeface="Arial"/>
              </a:rPr>
              <a:t>ةر</a:t>
            </a:r>
            <a:r>
              <a:rPr dirty="0" sz="1800" spc="-165">
                <a:latin typeface="Arial"/>
                <a:cs typeface="Arial"/>
              </a:rPr>
              <a:t>َ </a:t>
            </a:r>
            <a:r>
              <a:rPr dirty="0" baseline="3086" sz="2700" spc="-637">
                <a:latin typeface="Arial"/>
                <a:cs typeface="Arial"/>
              </a:rPr>
              <a:t>ٌب</a:t>
            </a:r>
            <a:r>
              <a:rPr dirty="0" baseline="-10802" sz="2700" spc="-637">
                <a:latin typeface="Arial"/>
                <a:cs typeface="Arial"/>
              </a:rPr>
              <a:t>ِ </a:t>
            </a:r>
            <a:r>
              <a:rPr dirty="0" baseline="3086" sz="2700" spc="-719">
                <a:latin typeface="Arial"/>
                <a:cs typeface="Arial"/>
              </a:rPr>
              <a:t>ك</a:t>
            </a:r>
            <a:r>
              <a:rPr dirty="0" baseline="7716" sz="2700" spc="-719">
                <a:latin typeface="Arial"/>
                <a:cs typeface="Arial"/>
              </a:rPr>
              <a:t>َ </a:t>
            </a:r>
            <a:r>
              <a:rPr dirty="0" baseline="10802" sz="2700" spc="-405">
                <a:latin typeface="Arial"/>
                <a:cs typeface="Arial"/>
              </a:rPr>
              <a:t>َ</a:t>
            </a:r>
            <a:r>
              <a:rPr dirty="0" baseline="3086" sz="2700" spc="-405">
                <a:latin typeface="Arial"/>
                <a:cs typeface="Arial"/>
              </a:rPr>
              <a:t>ل </a:t>
            </a:r>
            <a:r>
              <a:rPr dirty="0" baseline="3086" sz="2700" spc="-202">
                <a:latin typeface="Arial"/>
                <a:cs typeface="Arial"/>
              </a:rPr>
              <a:t>اه</a:t>
            </a:r>
            <a:r>
              <a:rPr dirty="0" sz="1800" spc="-135">
                <a:latin typeface="Arial"/>
                <a:cs typeface="Arial"/>
              </a:rPr>
              <a:t>َ </a:t>
            </a:r>
            <a:r>
              <a:rPr dirty="0" baseline="3086" sz="2700" spc="-442">
                <a:latin typeface="Arial"/>
                <a:cs typeface="Arial"/>
              </a:rPr>
              <a:t>ن</a:t>
            </a:r>
            <a:r>
              <a:rPr dirty="0" baseline="10802" sz="2700" spc="-442">
                <a:latin typeface="Arial"/>
                <a:cs typeface="Arial"/>
              </a:rPr>
              <a:t>َّ </a:t>
            </a:r>
            <a:r>
              <a:rPr dirty="0" baseline="-10802" sz="2700" spc="-157">
                <a:latin typeface="Arial"/>
                <a:cs typeface="Arial"/>
              </a:rPr>
              <a:t>ِ</a:t>
            </a:r>
            <a:r>
              <a:rPr dirty="0" baseline="3086" sz="2700" spc="-157">
                <a:latin typeface="Arial"/>
                <a:cs typeface="Arial"/>
              </a:rPr>
              <a:t>إو</a:t>
            </a:r>
            <a:r>
              <a:rPr dirty="0" sz="1800" spc="-105">
                <a:latin typeface="Arial"/>
                <a:cs typeface="Arial"/>
              </a:rPr>
              <a:t>َ </a:t>
            </a:r>
            <a:r>
              <a:rPr dirty="0" baseline="3086" sz="2700" spc="-337">
                <a:latin typeface="Arial"/>
                <a:cs typeface="Arial"/>
              </a:rPr>
              <a:t>ة</a:t>
            </a:r>
            <a:r>
              <a:rPr dirty="0" baseline="1543" sz="2700" spc="-337">
                <a:latin typeface="Arial"/>
                <a:cs typeface="Arial"/>
              </a:rPr>
              <a:t>ِ </a:t>
            </a:r>
            <a:r>
              <a:rPr dirty="0" baseline="9259" sz="2700" spc="-509">
                <a:latin typeface="Arial"/>
                <a:cs typeface="Arial"/>
              </a:rPr>
              <a:t>َ</a:t>
            </a:r>
            <a:r>
              <a:rPr dirty="0" baseline="3086" sz="2700" spc="-509">
                <a:latin typeface="Arial"/>
                <a:cs typeface="Arial"/>
              </a:rPr>
              <a:t>لاصَّ </a:t>
            </a:r>
            <a:r>
              <a:rPr dirty="0" baseline="3086" sz="2700" spc="-367">
                <a:latin typeface="Arial"/>
                <a:cs typeface="Arial"/>
              </a:rPr>
              <a:t>لٱو</a:t>
            </a:r>
            <a:r>
              <a:rPr dirty="0" sz="1800" spc="-245">
                <a:latin typeface="Arial"/>
                <a:cs typeface="Arial"/>
              </a:rPr>
              <a:t>َ </a:t>
            </a:r>
            <a:r>
              <a:rPr dirty="0" baseline="3086" sz="2700" spc="-457">
                <a:latin typeface="Arial"/>
                <a:cs typeface="Arial"/>
              </a:rPr>
              <a:t>ر</a:t>
            </a:r>
            <a:r>
              <a:rPr dirty="0" baseline="-10802" sz="2700" spc="-457">
                <a:latin typeface="Arial"/>
                <a:cs typeface="Arial"/>
              </a:rPr>
              <a:t>ِ </a:t>
            </a:r>
            <a:r>
              <a:rPr dirty="0" baseline="3086" sz="2700" spc="-862">
                <a:latin typeface="Arial"/>
                <a:cs typeface="Arial"/>
              </a:rPr>
              <a:t>بْ</a:t>
            </a:r>
            <a:r>
              <a:rPr dirty="0" baseline="3086" sz="2700" spc="-307">
                <a:latin typeface="Arial"/>
                <a:cs typeface="Arial"/>
              </a:rPr>
              <a:t> </a:t>
            </a:r>
            <a:r>
              <a:rPr dirty="0" baseline="3086" sz="2700" spc="-922">
                <a:latin typeface="Arial"/>
                <a:cs typeface="Arial"/>
              </a:rPr>
              <a:t>صَّ</a:t>
            </a:r>
            <a:r>
              <a:rPr dirty="0" baseline="3086" sz="2700" spc="1320">
                <a:latin typeface="Arial"/>
                <a:cs typeface="Arial"/>
              </a:rPr>
              <a:t> </a:t>
            </a:r>
            <a:r>
              <a:rPr dirty="0" baseline="3086" sz="2700" spc="-675">
                <a:latin typeface="Arial"/>
                <a:cs typeface="Arial"/>
              </a:rPr>
              <a:t>لٲب</a:t>
            </a:r>
            <a:r>
              <a:rPr dirty="0" baseline="-10802" sz="2700" spc="-675">
                <a:latin typeface="Arial"/>
                <a:cs typeface="Arial"/>
              </a:rPr>
              <a:t>ِ </a:t>
            </a:r>
            <a:r>
              <a:rPr dirty="0" baseline="3086" sz="2700" spc="-262">
                <a:latin typeface="Arial"/>
                <a:cs typeface="Arial"/>
              </a:rPr>
              <a:t>ا</a:t>
            </a:r>
            <a:r>
              <a:rPr dirty="0" baseline="10802" sz="2700" spc="-262">
                <a:latin typeface="Arial"/>
                <a:cs typeface="Arial"/>
              </a:rPr>
              <a:t>ْ </a:t>
            </a:r>
            <a:r>
              <a:rPr dirty="0" baseline="3086" sz="2700" spc="-457">
                <a:latin typeface="Arial"/>
                <a:cs typeface="Arial"/>
              </a:rPr>
              <a:t>ون</a:t>
            </a:r>
            <a:r>
              <a:rPr dirty="0" baseline="10802" sz="2700" spc="-457">
                <a:latin typeface="Arial"/>
                <a:cs typeface="Arial"/>
              </a:rPr>
              <a:t>ُ </a:t>
            </a:r>
            <a:r>
              <a:rPr dirty="0" baseline="3086" sz="2700" spc="-412">
                <a:latin typeface="Arial"/>
                <a:cs typeface="Arial"/>
              </a:rPr>
              <a:t>ٌع</a:t>
            </a:r>
            <a:r>
              <a:rPr dirty="0" baseline="1543" sz="2700" spc="-412">
                <a:latin typeface="Arial"/>
                <a:cs typeface="Arial"/>
              </a:rPr>
              <a:t>ِ</a:t>
            </a:r>
            <a:r>
              <a:rPr dirty="0" baseline="1543" sz="2700" spc="-382">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25">
                <a:latin typeface="Arial"/>
                <a:cs typeface="Arial"/>
              </a:rPr>
              <a:t> </a:t>
            </a:r>
            <a:r>
              <a:rPr dirty="0" baseline="3086" sz="2700" spc="-944">
                <a:latin typeface="Arial"/>
                <a:cs typeface="Arial"/>
              </a:rPr>
              <a:t>سْ</a:t>
            </a:r>
            <a:r>
              <a:rPr dirty="0" baseline="3086" sz="2700" spc="352">
                <a:latin typeface="Arial"/>
                <a:cs typeface="Arial"/>
              </a:rPr>
              <a:t> </a:t>
            </a:r>
            <a:r>
              <a:rPr dirty="0" baseline="3086" sz="2700" spc="-315">
                <a:latin typeface="Arial"/>
                <a:cs typeface="Arial"/>
              </a:rPr>
              <a:t>ٱو</a:t>
            </a:r>
            <a:endParaRPr baseline="3086" sz="2700">
              <a:latin typeface="Arial"/>
              <a:cs typeface="Arial"/>
            </a:endParaRPr>
          </a:p>
          <a:p>
            <a:pPr marL="406400" indent="-256540">
              <a:lnSpc>
                <a:spcPct val="100000"/>
              </a:lnSpc>
              <a:spcBef>
                <a:spcPts val="2435"/>
              </a:spcBef>
              <a:buAutoNum type="arabicPeriod" startAt="45"/>
              <a:tabLst>
                <a:tab pos="407034" algn="l"/>
              </a:tabLst>
            </a:pPr>
            <a:r>
              <a:rPr dirty="0" sz="1200" spc="-5">
                <a:latin typeface="Arial"/>
                <a:cs typeface="Arial"/>
              </a:rPr>
              <a:t>Seek help in patience and prayer; and truly </a:t>
            </a:r>
            <a:r>
              <a:rPr dirty="0" sz="1200">
                <a:latin typeface="Arial"/>
                <a:cs typeface="Arial"/>
              </a:rPr>
              <a:t>it </a:t>
            </a:r>
            <a:r>
              <a:rPr dirty="0" sz="1200" spc="-5">
                <a:latin typeface="Arial"/>
                <a:cs typeface="Arial"/>
              </a:rPr>
              <a:t>is hard save </a:t>
            </a:r>
            <a:r>
              <a:rPr dirty="0" sz="1200">
                <a:latin typeface="Arial"/>
                <a:cs typeface="Arial"/>
              </a:rPr>
              <a:t>for </a:t>
            </a:r>
            <a:r>
              <a:rPr dirty="0" sz="1200" spc="-10">
                <a:latin typeface="Arial"/>
                <a:cs typeface="Arial"/>
              </a:rPr>
              <a:t>the</a:t>
            </a:r>
            <a:r>
              <a:rPr dirty="0" sz="1200" spc="40">
                <a:latin typeface="Arial"/>
                <a:cs typeface="Arial"/>
              </a:rPr>
              <a:t> </a:t>
            </a:r>
            <a:r>
              <a:rPr dirty="0" sz="1200">
                <a:latin typeface="Arial"/>
                <a:cs typeface="Arial"/>
              </a:rPr>
              <a:t>humble-minded,</a:t>
            </a:r>
            <a:endParaRPr sz="1200">
              <a:latin typeface="Arial"/>
              <a:cs typeface="Arial"/>
            </a:endParaRPr>
          </a:p>
          <a:p>
            <a:pPr>
              <a:lnSpc>
                <a:spcPct val="100000"/>
              </a:lnSpc>
              <a:buFont typeface="Arial"/>
              <a:buAutoNum type="arabicPeriod" startAt="45"/>
            </a:pPr>
            <a:endParaRPr sz="1150">
              <a:latin typeface="Arial"/>
              <a:cs typeface="Arial"/>
            </a:endParaRPr>
          </a:p>
          <a:p>
            <a:pPr algn="r" marR="119380">
              <a:lnSpc>
                <a:spcPct val="100000"/>
              </a:lnSpc>
            </a:pPr>
            <a:r>
              <a:rPr dirty="0" baseline="1543" sz="2700" spc="-494">
                <a:latin typeface="Arial"/>
                <a:cs typeface="Arial"/>
              </a:rPr>
              <a:t>ن</a:t>
            </a:r>
            <a:r>
              <a:rPr dirty="0" baseline="-1543" sz="2700" spc="-494">
                <a:latin typeface="Arial"/>
                <a:cs typeface="Arial"/>
              </a:rPr>
              <a:t>َ </a:t>
            </a:r>
            <a:r>
              <a:rPr dirty="0" baseline="1543" sz="2700" spc="-427">
                <a:latin typeface="Arial"/>
                <a:cs typeface="Arial"/>
              </a:rPr>
              <a:t>وعُ </a:t>
            </a:r>
            <a:r>
              <a:rPr dirty="0" baseline="1543" sz="2700" spc="-719">
                <a:latin typeface="Arial"/>
                <a:cs typeface="Arial"/>
              </a:rPr>
              <a:t>ج</a:t>
            </a:r>
            <a:r>
              <a:rPr dirty="0" baseline="-9259" sz="2700" spc="-719">
                <a:latin typeface="Arial"/>
                <a:cs typeface="Arial"/>
              </a:rPr>
              <a:t>ِ  </a:t>
            </a:r>
            <a:r>
              <a:rPr dirty="0" baseline="1543" sz="2700" spc="-337">
                <a:latin typeface="Arial"/>
                <a:cs typeface="Arial"/>
              </a:rPr>
              <a:t>ار</a:t>
            </a:r>
            <a:r>
              <a:rPr dirty="0" baseline="-1543" sz="2700" spc="-337">
                <a:latin typeface="Arial"/>
                <a:cs typeface="Arial"/>
              </a:rPr>
              <a:t>َ </a:t>
            </a:r>
            <a:r>
              <a:rPr dirty="0" baseline="1543" sz="2700" spc="-337">
                <a:latin typeface="Arial"/>
                <a:cs typeface="Arial"/>
              </a:rPr>
              <a:t>ه</a:t>
            </a:r>
            <a:r>
              <a:rPr dirty="0" sz="1800" spc="-225">
                <a:latin typeface="Arial"/>
                <a:cs typeface="Arial"/>
              </a:rPr>
              <a:t>ِ </a:t>
            </a:r>
            <a:r>
              <a:rPr dirty="0" baseline="1543" sz="2700">
                <a:latin typeface="Arial"/>
                <a:cs typeface="Arial"/>
              </a:rPr>
              <a:t>ٌْ </a:t>
            </a:r>
            <a:r>
              <a:rPr dirty="0" baseline="9259" sz="2700" spc="-217">
                <a:latin typeface="Arial"/>
                <a:cs typeface="Arial"/>
              </a:rPr>
              <a:t>َ</a:t>
            </a:r>
            <a:r>
              <a:rPr dirty="0" baseline="1543" sz="2700" spc="-217">
                <a:latin typeface="Arial"/>
                <a:cs typeface="Arial"/>
              </a:rPr>
              <a:t>ل</a:t>
            </a:r>
            <a:r>
              <a:rPr dirty="0" baseline="-12345" sz="2700" spc="-217">
                <a:latin typeface="Arial"/>
                <a:cs typeface="Arial"/>
              </a:rPr>
              <a:t>ِ</a:t>
            </a:r>
            <a:r>
              <a:rPr dirty="0" baseline="1543" sz="2700" spc="-217">
                <a:latin typeface="Arial"/>
                <a:cs typeface="Arial"/>
              </a:rPr>
              <a:t>إ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1543" sz="2700" spc="-442">
                <a:latin typeface="Arial"/>
                <a:cs typeface="Arial"/>
              </a:rPr>
              <a:t>ن</a:t>
            </a:r>
            <a:r>
              <a:rPr dirty="0" baseline="9259" sz="2700" spc="-442">
                <a:latin typeface="Arial"/>
                <a:cs typeface="Arial"/>
              </a:rPr>
              <a:t>َّ </a:t>
            </a:r>
            <a:r>
              <a:rPr dirty="0" baseline="15432" sz="2700" spc="-165">
                <a:latin typeface="Arial"/>
                <a:cs typeface="Arial"/>
              </a:rPr>
              <a:t>َ</a:t>
            </a:r>
            <a:r>
              <a:rPr dirty="0" baseline="1543" sz="2700" spc="-165">
                <a:latin typeface="Arial"/>
                <a:cs typeface="Arial"/>
              </a:rPr>
              <a:t>أو</a:t>
            </a:r>
            <a:r>
              <a:rPr dirty="0" baseline="-1543" sz="2700" spc="-16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a:t>
            </a:r>
            <a:r>
              <a:rPr dirty="0" baseline="-10802" sz="2700" spc="-307">
                <a:latin typeface="Arial"/>
                <a:cs typeface="Arial"/>
              </a:rPr>
              <a:t>ِ </a:t>
            </a:r>
            <a:r>
              <a:rPr dirty="0" baseline="1543" sz="2700" spc="-607">
                <a:latin typeface="Arial"/>
                <a:cs typeface="Arial"/>
              </a:rPr>
              <a:t>بِّ </a:t>
            </a:r>
            <a:r>
              <a:rPr dirty="0" baseline="1543" sz="2700" spc="-494">
                <a:latin typeface="Arial"/>
                <a:cs typeface="Arial"/>
              </a:rPr>
              <a:t>ر</a:t>
            </a:r>
            <a:r>
              <a:rPr dirty="0" baseline="-1543" sz="2700" spc="-494">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450">
                <a:latin typeface="Arial"/>
                <a:cs typeface="Arial"/>
              </a:rPr>
              <a:t>و</a:t>
            </a:r>
            <a:r>
              <a:rPr dirty="0" baseline="9259" sz="2700" spc="-450">
                <a:latin typeface="Arial"/>
                <a:cs typeface="Arial"/>
              </a:rPr>
              <a:t>ُ</a:t>
            </a:r>
            <a:r>
              <a:rPr dirty="0" baseline="1543" sz="2700" spc="-450">
                <a:latin typeface="Arial"/>
                <a:cs typeface="Arial"/>
              </a:rPr>
              <a:t>قل</a:t>
            </a:r>
            <a:r>
              <a:rPr dirty="0" baseline="9259" sz="2700" spc="-450">
                <a:latin typeface="Arial"/>
                <a:cs typeface="Arial"/>
              </a:rPr>
              <a:t>َ </a:t>
            </a:r>
            <a:r>
              <a:rPr dirty="0" baseline="23148" sz="2700" spc="-195">
                <a:latin typeface="Arial"/>
                <a:cs typeface="Arial"/>
              </a:rPr>
              <a:t>ٰ</a:t>
            </a:r>
            <a:r>
              <a:rPr dirty="0" baseline="1543" sz="2700" spc="-195">
                <a:latin typeface="Arial"/>
                <a:cs typeface="Arial"/>
              </a:rPr>
              <a:t>م</a:t>
            </a:r>
            <a:r>
              <a:rPr dirty="0" sz="1800" spc="-130">
                <a:latin typeface="Arial"/>
                <a:cs typeface="Arial"/>
              </a:rPr>
              <a:t>ُّ </a:t>
            </a:r>
            <a:r>
              <a:rPr dirty="0" baseline="1543" sz="2700" spc="-240">
                <a:latin typeface="Arial"/>
                <a:cs typeface="Arial"/>
              </a:rPr>
              <a:t>مهُ </a:t>
            </a:r>
            <a:r>
              <a:rPr dirty="0" baseline="1543" sz="2700" spc="-442">
                <a:latin typeface="Arial"/>
                <a:cs typeface="Arial"/>
              </a:rPr>
              <a:t>ن</a:t>
            </a:r>
            <a:r>
              <a:rPr dirty="0" baseline="9259" sz="2700" spc="-442">
                <a:latin typeface="Arial"/>
                <a:cs typeface="Arial"/>
              </a:rPr>
              <a:t>َّ </a:t>
            </a:r>
            <a:r>
              <a:rPr dirty="0" baseline="15432" sz="2700">
                <a:latin typeface="Arial"/>
                <a:cs typeface="Arial"/>
              </a:rPr>
              <a:t>َ</a:t>
            </a:r>
            <a:r>
              <a:rPr dirty="0" baseline="1543" sz="2700">
                <a:latin typeface="Arial"/>
                <a:cs typeface="Arial"/>
              </a:rPr>
              <a:t>أ </a:t>
            </a:r>
            <a:r>
              <a:rPr dirty="0" baseline="1543" sz="2700" spc="-494">
                <a:latin typeface="Arial"/>
                <a:cs typeface="Arial"/>
              </a:rPr>
              <a:t>ن</a:t>
            </a:r>
            <a:r>
              <a:rPr dirty="0" baseline="-1543" sz="2700" spc="-494">
                <a:latin typeface="Arial"/>
                <a:cs typeface="Arial"/>
              </a:rPr>
              <a:t>َ </a:t>
            </a:r>
            <a:r>
              <a:rPr dirty="0" baseline="1543" sz="2700" spc="-330">
                <a:latin typeface="Arial"/>
                <a:cs typeface="Arial"/>
              </a:rPr>
              <a:t>ون</a:t>
            </a:r>
            <a:r>
              <a:rPr dirty="0" baseline="9259" sz="2700" spc="-330">
                <a:latin typeface="Arial"/>
                <a:cs typeface="Arial"/>
              </a:rPr>
              <a:t>ُّ </a:t>
            </a:r>
            <a:r>
              <a:rPr dirty="0" baseline="1543" sz="2700" spc="-690">
                <a:latin typeface="Arial"/>
                <a:cs typeface="Arial"/>
              </a:rPr>
              <a:t>ظ</a:t>
            </a:r>
            <a:r>
              <a:rPr dirty="0" baseline="13888" sz="2700" spc="-690">
                <a:latin typeface="Arial"/>
                <a:cs typeface="Arial"/>
              </a:rPr>
              <a:t>ُ </a:t>
            </a:r>
            <a:r>
              <a:rPr dirty="0" baseline="1543" sz="2700">
                <a:latin typeface="Arial"/>
                <a:cs typeface="Arial"/>
              </a:rPr>
              <a:t>ٌ</a:t>
            </a:r>
            <a:r>
              <a:rPr dirty="0" baseline="-1543" sz="2700">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32">
                <a:latin typeface="Arial"/>
                <a:cs typeface="Arial"/>
              </a:rPr>
              <a:t>ٌذ</a:t>
            </a:r>
            <a:r>
              <a:rPr dirty="0" sz="1800" spc="-155">
                <a:latin typeface="Arial"/>
                <a:cs typeface="Arial"/>
              </a:rPr>
              <a:t>ِ</a:t>
            </a:r>
            <a:r>
              <a:rPr dirty="0" sz="1800" spc="-260">
                <a:latin typeface="Arial"/>
                <a:cs typeface="Arial"/>
              </a:rPr>
              <a:t> </a:t>
            </a:r>
            <a:r>
              <a:rPr dirty="0" baseline="10802" sz="2700" spc="-209">
                <a:latin typeface="Arial"/>
                <a:cs typeface="Arial"/>
              </a:rPr>
              <a:t>َّ</a:t>
            </a:r>
            <a:r>
              <a:rPr dirty="0" baseline="1543" sz="2700" spc="-209">
                <a:latin typeface="Arial"/>
                <a:cs typeface="Arial"/>
              </a:rPr>
              <a:t>لٱ</a:t>
            </a:r>
            <a:endParaRPr baseline="1543" sz="2700">
              <a:latin typeface="Arial"/>
              <a:cs typeface="Arial"/>
            </a:endParaRPr>
          </a:p>
          <a:p>
            <a:pPr marL="401955" indent="-252095">
              <a:lnSpc>
                <a:spcPct val="100000"/>
              </a:lnSpc>
              <a:spcBef>
                <a:spcPts val="2485"/>
              </a:spcBef>
              <a:buAutoNum type="arabicPeriod" startAt="46"/>
              <a:tabLst>
                <a:tab pos="402590" algn="l"/>
              </a:tabLst>
            </a:pPr>
            <a:r>
              <a:rPr dirty="0" sz="1200" spc="10">
                <a:latin typeface="Arial"/>
                <a:cs typeface="Arial"/>
              </a:rPr>
              <a:t>Who </a:t>
            </a:r>
            <a:r>
              <a:rPr dirty="0" sz="1200" spc="-5">
                <a:latin typeface="Arial"/>
                <a:cs typeface="Arial"/>
              </a:rPr>
              <a:t>know </a:t>
            </a:r>
            <a:r>
              <a:rPr dirty="0" sz="1200">
                <a:latin typeface="Arial"/>
                <a:cs typeface="Arial"/>
              </a:rPr>
              <a:t>that </a:t>
            </a:r>
            <a:r>
              <a:rPr dirty="0" sz="1200" spc="-5">
                <a:latin typeface="Arial"/>
                <a:cs typeface="Arial"/>
              </a:rPr>
              <a:t>they will have </a:t>
            </a:r>
            <a:r>
              <a:rPr dirty="0" sz="1200">
                <a:latin typeface="Arial"/>
                <a:cs typeface="Arial"/>
              </a:rPr>
              <a:t>to meet </a:t>
            </a:r>
            <a:r>
              <a:rPr dirty="0" sz="1200" spc="-5">
                <a:latin typeface="Arial"/>
                <a:cs typeface="Arial"/>
              </a:rPr>
              <a:t>their </a:t>
            </a:r>
            <a:r>
              <a:rPr dirty="0" sz="1200">
                <a:latin typeface="Arial"/>
                <a:cs typeface="Arial"/>
              </a:rPr>
              <a:t>Lord, </a:t>
            </a:r>
            <a:r>
              <a:rPr dirty="0" sz="1200" spc="-5">
                <a:latin typeface="Arial"/>
                <a:cs typeface="Arial"/>
              </a:rPr>
              <a:t>and that unto Him they </a:t>
            </a:r>
            <a:r>
              <a:rPr dirty="0" sz="1200">
                <a:latin typeface="Arial"/>
                <a:cs typeface="Arial"/>
              </a:rPr>
              <a:t>are</a:t>
            </a:r>
            <a:r>
              <a:rPr dirty="0" sz="1200" spc="-10">
                <a:latin typeface="Arial"/>
                <a:cs typeface="Arial"/>
              </a:rPr>
              <a:t> </a:t>
            </a:r>
            <a:r>
              <a:rPr dirty="0" sz="1200" spc="-5">
                <a:latin typeface="Arial"/>
                <a:cs typeface="Arial"/>
              </a:rPr>
              <a:t>returning.</a:t>
            </a:r>
            <a:endParaRPr sz="1200">
              <a:latin typeface="Arial"/>
              <a:cs typeface="Arial"/>
            </a:endParaRPr>
          </a:p>
          <a:p>
            <a:pPr>
              <a:lnSpc>
                <a:spcPct val="100000"/>
              </a:lnSpc>
            </a:pPr>
            <a:endParaRPr sz="1300">
              <a:latin typeface="Arial"/>
              <a:cs typeface="Arial"/>
            </a:endParaRPr>
          </a:p>
          <a:p>
            <a:pPr>
              <a:lnSpc>
                <a:spcPct val="100000"/>
              </a:lnSpc>
            </a:pPr>
            <a:endParaRPr sz="1100">
              <a:latin typeface="Arial"/>
              <a:cs typeface="Arial"/>
            </a:endParaRPr>
          </a:p>
          <a:p>
            <a:pPr algn="r" marR="171450">
              <a:lnSpc>
                <a:spcPts val="2090"/>
              </a:lnSpc>
            </a:pPr>
            <a:r>
              <a:rPr dirty="0" baseline="3086" sz="2700" spc="-359">
                <a:latin typeface="Arial"/>
                <a:cs typeface="Arial"/>
              </a:rPr>
              <a:t>م</a:t>
            </a:r>
            <a:r>
              <a:rPr dirty="0" baseline="-1543" sz="2700" spc="-359">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187">
                <a:latin typeface="Arial"/>
                <a:cs typeface="Arial"/>
              </a:rPr>
              <a:t> </a:t>
            </a:r>
            <a:r>
              <a:rPr dirty="0" baseline="3086" sz="2700" spc="-472">
                <a:latin typeface="Arial"/>
                <a:cs typeface="Arial"/>
              </a:rPr>
              <a:t>ء</a:t>
            </a:r>
            <a:r>
              <a:rPr dirty="0" sz="1800" spc="-315">
                <a:latin typeface="Arial"/>
                <a:cs typeface="Arial"/>
              </a:rPr>
              <a:t>َ   </a:t>
            </a:r>
            <a:r>
              <a:rPr dirty="0" baseline="3086" sz="2700" spc="-637">
                <a:latin typeface="Arial"/>
                <a:cs typeface="Arial"/>
              </a:rPr>
              <a:t>آس</a:t>
            </a:r>
            <a:r>
              <a:rPr dirty="0" sz="1800" spc="-425">
                <a:latin typeface="Arial"/>
                <a:cs typeface="Arial"/>
              </a:rPr>
              <a:t>َ          </a:t>
            </a:r>
            <a:r>
              <a:rPr dirty="0" baseline="3086" sz="2700" spc="-705">
                <a:latin typeface="Arial"/>
                <a:cs typeface="Arial"/>
              </a:rPr>
              <a:t>ن</a:t>
            </a:r>
            <a:r>
              <a:rPr dirty="0" baseline="1543" sz="2700" spc="-705">
                <a:latin typeface="Arial"/>
                <a:cs typeface="Arial"/>
              </a:rPr>
              <a:t>ِ                                     </a:t>
            </a:r>
            <a:r>
              <a:rPr dirty="0" baseline="3086" sz="2700" spc="-494">
                <a:latin typeface="Arial"/>
                <a:cs typeface="Arial"/>
              </a:rPr>
              <a:t>ن</a:t>
            </a:r>
            <a:r>
              <a:rPr dirty="0" sz="1800" spc="-330">
                <a:latin typeface="Arial"/>
                <a:cs typeface="Arial"/>
              </a:rPr>
              <a:t>َ    </a:t>
            </a:r>
            <a:r>
              <a:rPr dirty="0" baseline="3086" sz="2700">
                <a:latin typeface="Arial"/>
                <a:cs typeface="Arial"/>
              </a:rPr>
              <a:t>وٌُ </a:t>
            </a:r>
            <a:r>
              <a:rPr dirty="0" baseline="3086" sz="2700" spc="-555">
                <a:latin typeface="Arial"/>
                <a:cs typeface="Arial"/>
              </a:rPr>
              <a:t>حْ     </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spc="-944">
                <a:latin typeface="Arial"/>
                <a:cs typeface="Arial"/>
              </a:rPr>
              <a:t>سْ</a:t>
            </a:r>
            <a:r>
              <a:rPr dirty="0" baseline="3086" sz="2700" spc="352">
                <a:latin typeface="Arial"/>
                <a:cs typeface="Arial"/>
              </a:rPr>
              <a:t> </a:t>
            </a:r>
            <a:r>
              <a:rPr dirty="0" baseline="3086" sz="2700">
                <a:latin typeface="Arial"/>
                <a:cs typeface="Arial"/>
              </a:rPr>
              <a:t>ٌ</a:t>
            </a:r>
            <a:r>
              <a:rPr dirty="0" sz="1800">
                <a:latin typeface="Arial"/>
                <a:cs typeface="Arial"/>
              </a:rPr>
              <a:t>َ </a:t>
            </a:r>
            <a:r>
              <a:rPr dirty="0" baseline="3086" sz="2700" spc="-307">
                <a:latin typeface="Arial"/>
                <a:cs typeface="Arial"/>
              </a:rPr>
              <a:t>و</a:t>
            </a:r>
            <a:r>
              <a:rPr dirty="0" sz="1800" spc="-204">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179">
                <a:latin typeface="Arial"/>
                <a:cs typeface="Arial"/>
              </a:rPr>
              <a:t> </a:t>
            </a:r>
            <a:r>
              <a:rPr dirty="0" baseline="3086" sz="2700" spc="-465">
                <a:latin typeface="Arial"/>
                <a:cs typeface="Arial"/>
              </a:rPr>
              <a:t>ء</a:t>
            </a:r>
            <a:r>
              <a:rPr dirty="0" sz="1800" spc="-310">
                <a:latin typeface="Arial"/>
                <a:cs typeface="Arial"/>
              </a:rPr>
              <a:t>َ   </a:t>
            </a:r>
            <a:r>
              <a:rPr dirty="0" baseline="3086" sz="2700" spc="-419">
                <a:latin typeface="Arial"/>
                <a:cs typeface="Arial"/>
              </a:rPr>
              <a:t>آن</a:t>
            </a:r>
            <a:r>
              <a:rPr dirty="0" baseline="7716" sz="2700" spc="-419">
                <a:latin typeface="Arial"/>
                <a:cs typeface="Arial"/>
              </a:rPr>
              <a:t>َ  </a:t>
            </a:r>
            <a:r>
              <a:rPr dirty="0" baseline="3086" sz="2700" spc="-862">
                <a:latin typeface="Arial"/>
                <a:cs typeface="Arial"/>
              </a:rPr>
              <a:t>بْ</a:t>
            </a:r>
            <a:r>
              <a:rPr dirty="0" baseline="3086" sz="2700" spc="-337">
                <a:latin typeface="Arial"/>
                <a:cs typeface="Arial"/>
              </a:rPr>
              <a:t> </a:t>
            </a:r>
            <a:r>
              <a:rPr dirty="0" baseline="16975" sz="2700">
                <a:latin typeface="Arial"/>
                <a:cs typeface="Arial"/>
              </a:rPr>
              <a:t>َ</a:t>
            </a:r>
            <a:r>
              <a:rPr dirty="0" baseline="3086" sz="2700">
                <a:latin typeface="Arial"/>
                <a:cs typeface="Arial"/>
              </a:rPr>
              <a:t>أ </a:t>
            </a:r>
            <a:r>
              <a:rPr dirty="0" baseline="3086" sz="2700" spc="-494">
                <a:latin typeface="Arial"/>
                <a:cs typeface="Arial"/>
              </a:rPr>
              <a:t>ن</a:t>
            </a:r>
            <a:r>
              <a:rPr dirty="0" sz="1800" spc="-330">
                <a:latin typeface="Arial"/>
                <a:cs typeface="Arial"/>
              </a:rPr>
              <a:t>َ    </a:t>
            </a:r>
            <a:r>
              <a:rPr dirty="0" baseline="3086" sz="2700" spc="-419">
                <a:latin typeface="Arial"/>
                <a:cs typeface="Arial"/>
              </a:rPr>
              <a:t>وحُ   </a:t>
            </a:r>
            <a:r>
              <a:rPr dirty="0" baseline="3086" sz="2700" spc="-607">
                <a:latin typeface="Arial"/>
                <a:cs typeface="Arial"/>
              </a:rPr>
              <a:t>بِّ    </a:t>
            </a:r>
            <a:r>
              <a:rPr dirty="0" baseline="3086" sz="2700" spc="-330">
                <a:latin typeface="Arial"/>
                <a:cs typeface="Arial"/>
              </a:rPr>
              <a:t>ذ</a:t>
            </a:r>
            <a:r>
              <a:rPr dirty="0" baseline="13888" sz="2700" spc="-330">
                <a:latin typeface="Arial"/>
                <a:cs typeface="Arial"/>
              </a:rPr>
              <a:t>َ </a:t>
            </a:r>
            <a:r>
              <a:rPr dirty="0" baseline="3086" sz="2700">
                <a:latin typeface="Arial"/>
                <a:cs typeface="Arial"/>
              </a:rPr>
              <a:t>ٌُ  </a:t>
            </a:r>
            <a:r>
              <a:rPr dirty="0" baseline="3086" sz="2700" spc="-862">
                <a:latin typeface="Arial"/>
                <a:cs typeface="Arial"/>
              </a:rPr>
              <a:t>ب</a:t>
            </a:r>
            <a:r>
              <a:rPr dirty="0" baseline="1543" sz="2700" spc="-862">
                <a:latin typeface="Arial"/>
                <a:cs typeface="Arial"/>
              </a:rPr>
              <a:t>ِ</a:t>
            </a:r>
            <a:r>
              <a:rPr dirty="0" baseline="1543" sz="2700" spc="960">
                <a:latin typeface="Arial"/>
                <a:cs typeface="Arial"/>
              </a:rPr>
              <a:t> </a:t>
            </a:r>
            <a:r>
              <a:rPr dirty="0" baseline="3086" sz="2700" spc="-217">
                <a:latin typeface="Arial"/>
                <a:cs typeface="Arial"/>
              </a:rPr>
              <a:t>اذ</a:t>
            </a:r>
            <a:r>
              <a:rPr dirty="0" baseline="13888" sz="2700" spc="-217">
                <a:latin typeface="Arial"/>
                <a:cs typeface="Arial"/>
              </a:rPr>
              <a:t>َ </a:t>
            </a:r>
            <a:r>
              <a:rPr dirty="0" baseline="3086" sz="2700" spc="-600">
                <a:latin typeface="Arial"/>
                <a:cs typeface="Arial"/>
              </a:rPr>
              <a:t>ع</a:t>
            </a:r>
            <a:r>
              <a:rPr dirty="0" sz="1800" spc="-40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465">
                <a:latin typeface="Arial"/>
                <a:cs typeface="Arial"/>
              </a:rPr>
              <a:t>ء</a:t>
            </a:r>
            <a:r>
              <a:rPr dirty="0" sz="1800" spc="-310">
                <a:latin typeface="Arial"/>
                <a:cs typeface="Arial"/>
              </a:rPr>
              <a:t>َ   </a:t>
            </a:r>
            <a:r>
              <a:rPr dirty="0" baseline="3086" sz="2700" spc="-157">
                <a:latin typeface="Arial"/>
                <a:cs typeface="Arial"/>
              </a:rPr>
              <a:t>و</a:t>
            </a:r>
            <a:r>
              <a:rPr dirty="0" baseline="9259" sz="2700" spc="-157">
                <a:latin typeface="Arial"/>
                <a:cs typeface="Arial"/>
              </a:rPr>
              <a:t>ۤ </a:t>
            </a:r>
            <a:r>
              <a:rPr dirty="0" baseline="3086" sz="2700" spc="-1012">
                <a:latin typeface="Arial"/>
                <a:cs typeface="Arial"/>
              </a:rPr>
              <a:t>سُ</a:t>
            </a:r>
            <a:r>
              <a:rPr dirty="0" baseline="3086" sz="2700" spc="1537">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765">
                <a:latin typeface="Arial"/>
                <a:cs typeface="Arial"/>
              </a:rPr>
              <a:t>ك</a:t>
            </a:r>
            <a:r>
              <a:rPr dirty="0" baseline="10802" sz="2700" spc="-765">
                <a:latin typeface="Arial"/>
                <a:cs typeface="Arial"/>
              </a:rPr>
              <a:t>ُ</a:t>
            </a:r>
            <a:r>
              <a:rPr dirty="0" baseline="10802" sz="2700" spc="179">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270">
                <a:latin typeface="Arial"/>
                <a:cs typeface="Arial"/>
              </a:rPr>
              <a:t>ومُ  </a:t>
            </a:r>
            <a:r>
              <a:rPr dirty="0" baseline="3086" sz="2700" spc="-675">
                <a:latin typeface="Arial"/>
                <a:cs typeface="Arial"/>
              </a:rPr>
              <a:t>وسُ                </a:t>
            </a:r>
            <a:r>
              <a:rPr dirty="0" baseline="3086" sz="2700">
                <a:latin typeface="Arial"/>
                <a:cs typeface="Arial"/>
              </a:rPr>
              <a:t>ٌ</a:t>
            </a:r>
            <a:r>
              <a:rPr dirty="0" sz="1800">
                <a:latin typeface="Arial"/>
                <a:cs typeface="Arial"/>
              </a:rPr>
              <a:t>َ  </a:t>
            </a:r>
            <a:r>
              <a:rPr dirty="0" baseline="3086" sz="2700" spc="-494">
                <a:latin typeface="Arial"/>
                <a:cs typeface="Arial"/>
              </a:rPr>
              <a:t>ن</a:t>
            </a:r>
            <a:r>
              <a:rPr dirty="0" sz="1800" spc="-330">
                <a:latin typeface="Arial"/>
                <a:cs typeface="Arial"/>
              </a:rPr>
              <a:t>َ    </a:t>
            </a:r>
            <a:r>
              <a:rPr dirty="0" baseline="3086" sz="2700" spc="-270">
                <a:latin typeface="Arial"/>
                <a:cs typeface="Arial"/>
              </a:rPr>
              <a:t>وْ </a:t>
            </a:r>
            <a:r>
              <a:rPr dirty="0" baseline="3086" sz="2700" spc="-607">
                <a:latin typeface="Arial"/>
                <a:cs typeface="Arial"/>
              </a:rPr>
              <a:t>ع</a:t>
            </a:r>
            <a:r>
              <a:rPr dirty="0" sz="1800" spc="-405">
                <a:latin typeface="Arial"/>
                <a:cs typeface="Arial"/>
              </a:rPr>
              <a:t>َ        </a:t>
            </a:r>
            <a:r>
              <a:rPr dirty="0" baseline="3086" sz="2700" spc="-457">
                <a:latin typeface="Arial"/>
                <a:cs typeface="Arial"/>
              </a:rPr>
              <a:t>رْ   </a:t>
            </a:r>
            <a:r>
              <a:rPr dirty="0" baseline="3086" sz="2700" spc="-1072">
                <a:latin typeface="Arial"/>
                <a:cs typeface="Arial"/>
              </a:rPr>
              <a:t>ف</a:t>
            </a:r>
            <a:r>
              <a:rPr dirty="0" baseline="1543" sz="2700" spc="-1072">
                <a:latin typeface="Arial"/>
                <a:cs typeface="Arial"/>
              </a:rPr>
              <a:t>ِ</a:t>
            </a:r>
            <a:r>
              <a:rPr dirty="0" baseline="1543" sz="2700" spc="997">
                <a:latin typeface="Arial"/>
                <a:cs typeface="Arial"/>
              </a:rPr>
              <a:t> </a:t>
            </a:r>
            <a:r>
              <a:rPr dirty="0" baseline="3086" sz="2700" spc="-525">
                <a:latin typeface="Arial"/>
                <a:cs typeface="Arial"/>
              </a:rPr>
              <a:t>ل</a:t>
            </a:r>
            <a:r>
              <a:rPr dirty="0" baseline="-4629" sz="2700" spc="-525">
                <a:latin typeface="Arial"/>
                <a:cs typeface="Arial"/>
              </a:rPr>
              <a:t>ِ     </a:t>
            </a:r>
            <a:r>
              <a:rPr dirty="0" baseline="3086" sz="2700">
                <a:latin typeface="Arial"/>
                <a:cs typeface="Arial"/>
              </a:rPr>
              <a:t>آ </a:t>
            </a:r>
            <a:r>
              <a:rPr dirty="0" baseline="3086" sz="2700" spc="-465">
                <a:latin typeface="Arial"/>
                <a:cs typeface="Arial"/>
              </a:rPr>
              <a:t>نْ   </a:t>
            </a:r>
            <a:r>
              <a:rPr dirty="0" baseline="3086" sz="2700" spc="-254">
                <a:latin typeface="Arial"/>
                <a:cs typeface="Arial"/>
              </a:rPr>
              <a:t>مِّ    </a:t>
            </a:r>
            <a:r>
              <a:rPr dirty="0" baseline="3086" sz="2700" spc="-502">
                <a:latin typeface="Arial"/>
                <a:cs typeface="Arial"/>
              </a:rPr>
              <a:t>مك</a:t>
            </a:r>
            <a:r>
              <a:rPr dirty="0" baseline="10802" sz="2700" spc="-502">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a:latin typeface="Arial"/>
                <a:cs typeface="Arial"/>
              </a:rPr>
              <a:t>ٌْ </a:t>
            </a:r>
            <a:r>
              <a:rPr dirty="0" baseline="3086" sz="2700" spc="-405">
                <a:latin typeface="Arial"/>
                <a:cs typeface="Arial"/>
              </a:rPr>
              <a:t>جَّ   </a:t>
            </a:r>
            <a:r>
              <a:rPr dirty="0" baseline="3086" sz="2700" spc="-644">
                <a:latin typeface="Arial"/>
                <a:cs typeface="Arial"/>
              </a:rPr>
              <a:t>ن</a:t>
            </a:r>
            <a:r>
              <a:rPr dirty="0" baseline="7716" sz="2700" spc="-644">
                <a:latin typeface="Arial"/>
                <a:cs typeface="Arial"/>
              </a:rPr>
              <a:t>َ               </a:t>
            </a:r>
            <a:r>
              <a:rPr dirty="0" baseline="3086" sz="2700" spc="-284">
                <a:latin typeface="Arial"/>
                <a:cs typeface="Arial"/>
              </a:rPr>
              <a:t>ذ</a:t>
            </a:r>
            <a:r>
              <a:rPr dirty="0" baseline="16975" sz="2700" spc="-284">
                <a:latin typeface="Arial"/>
                <a:cs typeface="Arial"/>
              </a:rPr>
              <a:t>ْ </a:t>
            </a:r>
            <a:r>
              <a:rPr dirty="0" baseline="16975" sz="2700" spc="-179">
                <a:latin typeface="Arial"/>
                <a:cs typeface="Arial"/>
              </a:rPr>
              <a:t> </a:t>
            </a:r>
            <a:r>
              <a:rPr dirty="0" baseline="-10802" sz="2700" spc="-209">
                <a:latin typeface="Arial"/>
                <a:cs typeface="Arial"/>
              </a:rPr>
              <a:t>ِ</a:t>
            </a:r>
            <a:r>
              <a:rPr dirty="0" baseline="3086" sz="2700" spc="-209">
                <a:latin typeface="Arial"/>
                <a:cs typeface="Arial"/>
              </a:rPr>
              <a:t>إو</a:t>
            </a:r>
            <a:endParaRPr baseline="3086" sz="2700">
              <a:latin typeface="Arial"/>
              <a:cs typeface="Arial"/>
            </a:endParaRPr>
          </a:p>
          <a:p>
            <a:pPr algn="r" marR="170815">
              <a:lnSpc>
                <a:spcPts val="2090"/>
              </a:lnSpc>
            </a:pPr>
            <a:r>
              <a:rPr dirty="0" baseline="1543" sz="2700" spc="-427">
                <a:latin typeface="Arial"/>
                <a:cs typeface="Arial"/>
              </a:rPr>
              <a:t>م</a:t>
            </a:r>
            <a:r>
              <a:rPr dirty="0" baseline="-3086" sz="2700" spc="-427">
                <a:latin typeface="Arial"/>
                <a:cs typeface="Arial"/>
              </a:rPr>
              <a:t>ٌ   </a:t>
            </a:r>
            <a:r>
              <a:rPr dirty="0" baseline="1543" sz="2700" spc="-390">
                <a:latin typeface="Arial"/>
                <a:cs typeface="Arial"/>
              </a:rPr>
              <a:t>ٌظ</a:t>
            </a:r>
            <a:r>
              <a:rPr dirty="0" sz="1800" spc="-260">
                <a:latin typeface="Arial"/>
                <a:cs typeface="Arial"/>
              </a:rPr>
              <a:t>ِ   </a:t>
            </a:r>
            <a:r>
              <a:rPr dirty="0" baseline="1543" sz="2700" spc="-607">
                <a:latin typeface="Arial"/>
                <a:cs typeface="Arial"/>
              </a:rPr>
              <a:t>ع</a:t>
            </a:r>
            <a:r>
              <a:rPr dirty="0" baseline="-1543" sz="2700" spc="-607">
                <a:latin typeface="Arial"/>
                <a:cs typeface="Arial"/>
              </a:rPr>
              <a:t>َ           </a:t>
            </a:r>
            <a:r>
              <a:rPr dirty="0" baseline="-1543" sz="2700" spc="-46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79">
                <a:latin typeface="Arial"/>
                <a:cs typeface="Arial"/>
              </a:rPr>
              <a:t> </a:t>
            </a:r>
            <a:r>
              <a:rPr dirty="0" baseline="1543" sz="2700" spc="-615">
                <a:latin typeface="Arial"/>
                <a:cs typeface="Arial"/>
              </a:rPr>
              <a:t>بِّ    </a:t>
            </a:r>
            <a:r>
              <a:rPr dirty="0" baseline="1543" sz="2700" spc="-345">
                <a:latin typeface="Arial"/>
                <a:cs typeface="Arial"/>
              </a:rPr>
              <a:t>ر</a:t>
            </a:r>
            <a:r>
              <a:rPr dirty="0" sz="1800" spc="-229">
                <a:latin typeface="Arial"/>
                <a:cs typeface="Arial"/>
              </a:rPr>
              <a:t>َّ    </a:t>
            </a:r>
            <a:r>
              <a:rPr dirty="0" baseline="1543" sz="2700" spc="-195">
                <a:latin typeface="Arial"/>
                <a:cs typeface="Arial"/>
              </a:rPr>
              <a:t>نمِّ   </a:t>
            </a:r>
            <a:r>
              <a:rPr dirty="0" baseline="1543" sz="2700" spc="-509">
                <a:latin typeface="Arial"/>
                <a:cs typeface="Arial"/>
              </a:rPr>
              <a:t>ء</a:t>
            </a:r>
            <a:r>
              <a:rPr dirty="0" baseline="3086" sz="2700" spc="-509">
                <a:latin typeface="Arial"/>
                <a:cs typeface="Arial"/>
              </a:rPr>
              <a:t>ٌ    </a:t>
            </a:r>
            <a:r>
              <a:rPr dirty="0" baseline="1543" sz="2700" spc="-652">
                <a:latin typeface="Arial"/>
                <a:cs typeface="Arial"/>
              </a:rPr>
              <a:t>لا</a:t>
            </a:r>
            <a:r>
              <a:rPr dirty="0" baseline="16975" sz="2700" spc="-652">
                <a:latin typeface="Arial"/>
                <a:cs typeface="Arial"/>
              </a:rPr>
              <a:t>ۤ              </a:t>
            </a:r>
            <a:r>
              <a:rPr dirty="0" baseline="1543" sz="2700" spc="-892">
                <a:latin typeface="Arial"/>
                <a:cs typeface="Arial"/>
              </a:rPr>
              <a:t>ب</a:t>
            </a:r>
            <a:r>
              <a:rPr dirty="0" baseline="-1543" sz="2700" spc="-892">
                <a:latin typeface="Arial"/>
                <a:cs typeface="Arial"/>
              </a:rPr>
              <a:t>َ</a:t>
            </a:r>
            <a:r>
              <a:rPr dirty="0" baseline="-1543" sz="2700" spc="52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65">
                <a:latin typeface="Arial"/>
                <a:cs typeface="Arial"/>
              </a:rPr>
              <a:t> </a:t>
            </a:r>
            <a:r>
              <a:rPr dirty="0" sz="1800" spc="-245">
                <a:latin typeface="Arial"/>
                <a:cs typeface="Arial"/>
              </a:rPr>
              <a:t>ِ</a:t>
            </a:r>
            <a:r>
              <a:rPr dirty="0" baseline="1543" sz="2700" spc="-367">
                <a:latin typeface="Arial"/>
                <a:cs typeface="Arial"/>
              </a:rPr>
              <a:t>لذ</a:t>
            </a:r>
            <a:r>
              <a:rPr dirty="0" baseline="10802" sz="2700" spc="-367">
                <a:latin typeface="Arial"/>
                <a:cs typeface="Arial"/>
              </a:rPr>
              <a:t>َ    </a:t>
            </a:r>
            <a:r>
              <a:rPr dirty="0" baseline="1543" sz="2700" spc="-705">
                <a:latin typeface="Arial"/>
                <a:cs typeface="Arial"/>
              </a:rPr>
              <a:t>ًف</a:t>
            </a:r>
            <a:r>
              <a:rPr dirty="0" sz="1800" spc="-470">
                <a:latin typeface="Arial"/>
                <a:cs typeface="Arial"/>
              </a:rPr>
              <a:t>ِ          </a:t>
            </a:r>
            <a:r>
              <a:rPr dirty="0" sz="1800" spc="-465">
                <a:latin typeface="Arial"/>
                <a:cs typeface="Arial"/>
              </a:rPr>
              <a:t> </a:t>
            </a:r>
            <a:r>
              <a:rPr dirty="0" baseline="1543" sz="2700" spc="-615">
                <a:latin typeface="Arial"/>
                <a:cs typeface="Arial"/>
              </a:rPr>
              <a:t>و</a:t>
            </a:r>
            <a:endParaRPr baseline="1543" sz="2700">
              <a:latin typeface="Arial"/>
              <a:cs typeface="Arial"/>
            </a:endParaRPr>
          </a:p>
          <a:p>
            <a:pPr algn="just" marL="150495" marR="125095">
              <a:lnSpc>
                <a:spcPct val="95900"/>
              </a:lnSpc>
              <a:spcBef>
                <a:spcPts val="1165"/>
              </a:spcBef>
            </a:pPr>
            <a:r>
              <a:rPr dirty="0" sz="1200" spc="-5">
                <a:latin typeface="Arial"/>
                <a:cs typeface="Arial"/>
              </a:rPr>
              <a:t>49. And (remember) when </a:t>
            </a:r>
            <a:r>
              <a:rPr dirty="0" sz="1200" spc="20">
                <a:latin typeface="Arial"/>
                <a:cs typeface="Arial"/>
              </a:rPr>
              <a:t>We </a:t>
            </a:r>
            <a:r>
              <a:rPr dirty="0" sz="1200" spc="-5">
                <a:latin typeface="Arial"/>
                <a:cs typeface="Arial"/>
              </a:rPr>
              <a:t>did deliver you from Pharaoh's folk, </a:t>
            </a:r>
            <a:r>
              <a:rPr dirty="0" sz="1200" spc="-10">
                <a:latin typeface="Arial"/>
                <a:cs typeface="Arial"/>
              </a:rPr>
              <a:t>who </a:t>
            </a:r>
            <a:r>
              <a:rPr dirty="0" sz="1200" spc="-5">
                <a:latin typeface="Arial"/>
                <a:cs typeface="Arial"/>
              </a:rPr>
              <a:t>were afflicting </a:t>
            </a:r>
            <a:r>
              <a:rPr dirty="0" sz="1200" spc="-10">
                <a:latin typeface="Arial"/>
                <a:cs typeface="Arial"/>
              </a:rPr>
              <a:t>you  </a:t>
            </a:r>
            <a:r>
              <a:rPr dirty="0" sz="1200" spc="-5">
                <a:latin typeface="Arial"/>
                <a:cs typeface="Arial"/>
              </a:rPr>
              <a:t>with </a:t>
            </a:r>
            <a:r>
              <a:rPr dirty="0" sz="1200">
                <a:latin typeface="Arial"/>
                <a:cs typeface="Arial"/>
              </a:rPr>
              <a:t>dreadful </a:t>
            </a:r>
            <a:r>
              <a:rPr dirty="0" sz="1200" spc="-5">
                <a:latin typeface="Arial"/>
                <a:cs typeface="Arial"/>
              </a:rPr>
              <a:t>torment, slaying your sons and sparing your women: </a:t>
            </a:r>
            <a:r>
              <a:rPr dirty="0" sz="1200">
                <a:latin typeface="Arial"/>
                <a:cs typeface="Arial"/>
              </a:rPr>
              <a:t>That </a:t>
            </a:r>
            <a:r>
              <a:rPr dirty="0" sz="1200" spc="-10">
                <a:latin typeface="Arial"/>
                <a:cs typeface="Arial"/>
              </a:rPr>
              <a:t>was </a:t>
            </a:r>
            <a:r>
              <a:rPr dirty="0" sz="1200" spc="-5">
                <a:latin typeface="Arial"/>
                <a:cs typeface="Arial"/>
              </a:rPr>
              <a:t>a tremendous  trial from your</a:t>
            </a:r>
            <a:r>
              <a:rPr dirty="0" sz="1200" spc="10">
                <a:latin typeface="Arial"/>
                <a:cs typeface="Arial"/>
              </a:rPr>
              <a:t> </a:t>
            </a:r>
            <a:r>
              <a:rPr dirty="0" sz="1200" spc="-5">
                <a:latin typeface="Arial"/>
                <a:cs typeface="Arial"/>
              </a:rPr>
              <a:t>Lord.</a:t>
            </a:r>
            <a:endParaRPr sz="1200">
              <a:latin typeface="Arial"/>
              <a:cs typeface="Arial"/>
            </a:endParaRPr>
          </a:p>
          <a:p>
            <a:pPr>
              <a:lnSpc>
                <a:spcPct val="100000"/>
              </a:lnSpc>
              <a:spcBef>
                <a:spcPts val="50"/>
              </a:spcBef>
            </a:pPr>
            <a:endParaRPr sz="1100">
              <a:latin typeface="Arial"/>
              <a:cs typeface="Arial"/>
            </a:endParaRPr>
          </a:p>
          <a:p>
            <a:pPr algn="r" marR="171450">
              <a:lnSpc>
                <a:spcPct val="100000"/>
              </a:lnSpc>
              <a:spcBef>
                <a:spcPts val="5"/>
              </a:spcBef>
            </a:pPr>
            <a:r>
              <a:rPr dirty="0" baseline="1543" sz="2700" spc="-494">
                <a:latin typeface="Arial"/>
                <a:cs typeface="Arial"/>
              </a:rPr>
              <a:t>ن</a:t>
            </a:r>
            <a:r>
              <a:rPr dirty="0" baseline="-1543" sz="2700" spc="-494">
                <a:latin typeface="Arial"/>
                <a:cs typeface="Arial"/>
              </a:rPr>
              <a:t>َ </a:t>
            </a:r>
            <a:r>
              <a:rPr dirty="0" baseline="1543" sz="2700" spc="-270">
                <a:latin typeface="Arial"/>
                <a:cs typeface="Arial"/>
              </a:rPr>
              <a:t>ومُ </a:t>
            </a:r>
            <a:r>
              <a:rPr dirty="0" sz="1800" spc="-280">
                <a:latin typeface="Arial"/>
                <a:cs typeface="Arial"/>
              </a:rPr>
              <a:t>ِ</a:t>
            </a:r>
            <a:r>
              <a:rPr dirty="0" baseline="1543" sz="2700" spc="-419">
                <a:latin typeface="Arial"/>
                <a:cs typeface="Arial"/>
              </a:rPr>
              <a:t>لاظ</a:t>
            </a:r>
            <a:r>
              <a:rPr dirty="0" baseline="10802" sz="2700" spc="-419">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930">
                <a:latin typeface="Arial"/>
                <a:cs typeface="Arial"/>
              </a:rPr>
              <a:t>ت</a:t>
            </a:r>
            <a:r>
              <a:rPr dirty="0" baseline="9259" sz="2700" spc="-930">
                <a:latin typeface="Arial"/>
                <a:cs typeface="Arial"/>
              </a:rPr>
              <a:t>ُ</a:t>
            </a:r>
            <a:r>
              <a:rPr dirty="0" baseline="9259" sz="2700" spc="-157">
                <a:latin typeface="Arial"/>
                <a:cs typeface="Arial"/>
              </a:rPr>
              <a:t> </a:t>
            </a:r>
            <a:r>
              <a:rPr dirty="0" baseline="1543" sz="2700" spc="-615">
                <a:latin typeface="Arial"/>
                <a:cs typeface="Arial"/>
              </a:rPr>
              <a:t>ن</a:t>
            </a:r>
            <a:r>
              <a:rPr dirty="0" baseline="9259" sz="2700" spc="-615">
                <a:latin typeface="Arial"/>
                <a:cs typeface="Arial"/>
              </a:rPr>
              <a:t>ْ </a:t>
            </a:r>
            <a:r>
              <a:rPr dirty="0" baseline="15432" sz="2700" spc="-157">
                <a:latin typeface="Arial"/>
                <a:cs typeface="Arial"/>
              </a:rPr>
              <a:t>َ</a:t>
            </a:r>
            <a:r>
              <a:rPr dirty="0" baseline="1543" sz="2700" spc="-157">
                <a:latin typeface="Arial"/>
                <a:cs typeface="Arial"/>
              </a:rPr>
              <a:t>أو</a:t>
            </a:r>
            <a:r>
              <a:rPr dirty="0" baseline="-1543" sz="2700" spc="-157">
                <a:latin typeface="Arial"/>
                <a:cs typeface="Arial"/>
              </a:rPr>
              <a:t>َ </a:t>
            </a:r>
            <a:r>
              <a:rPr dirty="0" baseline="1543" sz="2700" spc="-337">
                <a:latin typeface="Arial"/>
                <a:cs typeface="Arial"/>
              </a:rPr>
              <a:t>ه</a:t>
            </a:r>
            <a:r>
              <a:rPr dirty="0" sz="1800" spc="-225">
                <a:latin typeface="Arial"/>
                <a:cs typeface="Arial"/>
              </a:rPr>
              <a:t>ِ </a:t>
            </a:r>
            <a:r>
              <a:rPr dirty="0" baseline="1543" sz="2700" spc="-352">
                <a:latin typeface="Arial"/>
                <a:cs typeface="Arial"/>
              </a:rPr>
              <a:t>د</a:t>
            </a:r>
            <a:r>
              <a:rPr dirty="0" sz="1800" spc="-235">
                <a:latin typeface="Arial"/>
                <a:cs typeface="Arial"/>
              </a:rPr>
              <a:t>ِ </a:t>
            </a:r>
            <a:r>
              <a:rPr dirty="0" baseline="1543" sz="2700" spc="-569">
                <a:latin typeface="Arial"/>
                <a:cs typeface="Arial"/>
              </a:rPr>
              <a:t>عْ </a:t>
            </a:r>
            <a:r>
              <a:rPr dirty="0" baseline="1543" sz="2700" spc="-892">
                <a:latin typeface="Arial"/>
                <a:cs typeface="Arial"/>
              </a:rPr>
              <a:t>ب</a:t>
            </a:r>
            <a:r>
              <a:rPr dirty="0" baseline="-1543" sz="2700" spc="-892">
                <a:latin typeface="Arial"/>
                <a:cs typeface="Arial"/>
              </a:rPr>
              <a:t>َ</a:t>
            </a:r>
            <a:r>
              <a:rPr dirty="0" baseline="-1543" sz="2700" spc="532">
                <a:latin typeface="Arial"/>
                <a:cs typeface="Arial"/>
              </a:rPr>
              <a:t> </a:t>
            </a:r>
            <a:r>
              <a:rPr dirty="0" baseline="1543" sz="2700" spc="-240">
                <a:latin typeface="Arial"/>
                <a:cs typeface="Arial"/>
              </a:rPr>
              <a:t>نم</a:t>
            </a:r>
            <a:r>
              <a:rPr dirty="0" sz="1800" spc="-160">
                <a:latin typeface="Arial"/>
                <a:cs typeface="Arial"/>
              </a:rPr>
              <a:t>ِ </a:t>
            </a:r>
            <a:r>
              <a:rPr dirty="0" baseline="1543" sz="2700" spc="-615">
                <a:latin typeface="Arial"/>
                <a:cs typeface="Arial"/>
              </a:rPr>
              <a:t>ل</a:t>
            </a:r>
            <a:r>
              <a:rPr dirty="0" baseline="-1543" sz="2700" spc="-615">
                <a:latin typeface="Arial"/>
                <a:cs typeface="Arial"/>
              </a:rPr>
              <a:t>َ </a:t>
            </a:r>
            <a:r>
              <a:rPr dirty="0" baseline="1543" sz="2700" spc="-555">
                <a:latin typeface="Arial"/>
                <a:cs typeface="Arial"/>
              </a:rPr>
              <a:t>جْ </a:t>
            </a:r>
            <a:r>
              <a:rPr dirty="0" baseline="1543" sz="2700" spc="-630">
                <a:latin typeface="Arial"/>
                <a:cs typeface="Arial"/>
              </a:rPr>
              <a:t>ع</a:t>
            </a:r>
            <a:r>
              <a:rPr dirty="0" sz="1800" spc="-420">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427">
                <a:latin typeface="Arial"/>
                <a:cs typeface="Arial"/>
              </a:rPr>
              <a:t>م</a:t>
            </a:r>
            <a:r>
              <a:rPr dirty="0" baseline="-4629" sz="2700" spc="-427">
                <a:latin typeface="Arial"/>
                <a:cs typeface="Arial"/>
              </a:rPr>
              <a:t>ُ </a:t>
            </a:r>
            <a:r>
              <a:rPr dirty="0" baseline="1543" sz="2700" spc="-930">
                <a:latin typeface="Arial"/>
                <a:cs typeface="Arial"/>
              </a:rPr>
              <a:t>ت</a:t>
            </a:r>
            <a:r>
              <a:rPr dirty="0" baseline="9259" sz="2700" spc="-930">
                <a:latin typeface="Arial"/>
                <a:cs typeface="Arial"/>
              </a:rPr>
              <a:t>ُ</a:t>
            </a:r>
            <a:r>
              <a:rPr dirty="0" baseline="9259" sz="2700" spc="-157">
                <a:latin typeface="Arial"/>
                <a:cs typeface="Arial"/>
              </a:rPr>
              <a:t> </a:t>
            </a:r>
            <a:r>
              <a:rPr dirty="0" baseline="1543" sz="2700" spc="-300">
                <a:latin typeface="Arial"/>
                <a:cs typeface="Arial"/>
              </a:rPr>
              <a:t>ذ</a:t>
            </a:r>
            <a:r>
              <a:rPr dirty="0" baseline="15432" sz="2700" spc="-300">
                <a:latin typeface="Arial"/>
                <a:cs typeface="Arial"/>
              </a:rPr>
              <a:t>ْ </a:t>
            </a:r>
            <a:r>
              <a:rPr dirty="0" baseline="1543" sz="2700" spc="-592">
                <a:latin typeface="Arial"/>
                <a:cs typeface="Arial"/>
              </a:rPr>
              <a:t>خ</a:t>
            </a:r>
            <a:r>
              <a:rPr dirty="0" baseline="6172" sz="2700" spc="-592">
                <a:latin typeface="Arial"/>
                <a:cs typeface="Arial"/>
              </a:rPr>
              <a:t>َ </a:t>
            </a:r>
            <a:r>
              <a:rPr dirty="0" baseline="1543" sz="2700" spc="-607">
                <a:latin typeface="Arial"/>
                <a:cs typeface="Arial"/>
              </a:rPr>
              <a:t>ت</a:t>
            </a:r>
            <a:r>
              <a:rPr dirty="0" baseline="9259" sz="2700" spc="-607">
                <a:latin typeface="Arial"/>
                <a:cs typeface="Arial"/>
              </a:rPr>
              <a:t>َّ </a:t>
            </a:r>
            <a:r>
              <a:rPr dirty="0" baseline="1543" sz="2700">
                <a:latin typeface="Arial"/>
                <a:cs typeface="Arial"/>
              </a:rPr>
              <a:t>ٱ </a:t>
            </a:r>
            <a:r>
              <a:rPr dirty="0" baseline="1543" sz="2700" spc="-270">
                <a:latin typeface="Arial"/>
                <a:cs typeface="Arial"/>
              </a:rPr>
              <a:t>م</a:t>
            </a:r>
            <a:r>
              <a:rPr dirty="0" baseline="-4629" sz="2700" spc="-270">
                <a:latin typeface="Arial"/>
                <a:cs typeface="Arial"/>
              </a:rPr>
              <a:t>َّ </a:t>
            </a:r>
            <a:r>
              <a:rPr dirty="0" baseline="1543" sz="2700" spc="-937">
                <a:latin typeface="Arial"/>
                <a:cs typeface="Arial"/>
              </a:rPr>
              <a:t>ث</a:t>
            </a:r>
            <a:r>
              <a:rPr dirty="0" baseline="13888" sz="2700" spc="-937">
                <a:latin typeface="Arial"/>
                <a:cs typeface="Arial"/>
              </a:rPr>
              <a:t>ُ</a:t>
            </a:r>
            <a:r>
              <a:rPr dirty="0" baseline="13888" sz="2700" spc="600">
                <a:latin typeface="Arial"/>
                <a:cs typeface="Arial"/>
              </a:rPr>
              <a:t> </a:t>
            </a:r>
            <a:r>
              <a:rPr dirty="0" baseline="1543" sz="2700" spc="-284">
                <a:latin typeface="Arial"/>
                <a:cs typeface="Arial"/>
              </a:rPr>
              <a:t>ة</a:t>
            </a:r>
            <a:r>
              <a:rPr dirty="0" baseline="12345" sz="2700" spc="-284">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412">
                <a:latin typeface="Arial"/>
                <a:cs typeface="Arial"/>
              </a:rPr>
              <a:t>ٌع</a:t>
            </a:r>
            <a:r>
              <a:rPr dirty="0" sz="1800" spc="-275">
                <a:latin typeface="Arial"/>
                <a:cs typeface="Arial"/>
              </a:rPr>
              <a:t>ِ </a:t>
            </a:r>
            <a:r>
              <a:rPr dirty="0" baseline="1543" sz="2700" spc="-907">
                <a:latin typeface="Arial"/>
                <a:cs typeface="Arial"/>
              </a:rPr>
              <a:t>ب</a:t>
            </a:r>
            <a:r>
              <a:rPr dirty="0" baseline="-1543" sz="2700" spc="-907">
                <a:latin typeface="Arial"/>
                <a:cs typeface="Arial"/>
              </a:rPr>
              <a:t>َ</a:t>
            </a:r>
            <a:r>
              <a:rPr dirty="0" baseline="-1543" sz="2700" spc="-232">
                <a:latin typeface="Arial"/>
                <a:cs typeface="Arial"/>
              </a:rPr>
              <a:t> </a:t>
            </a:r>
            <a:r>
              <a:rPr dirty="0" baseline="1543" sz="2700" spc="-457">
                <a:latin typeface="Arial"/>
                <a:cs typeface="Arial"/>
              </a:rPr>
              <a:t>رْ </a:t>
            </a:r>
            <a:r>
              <a:rPr dirty="0" baseline="15432" sz="2700">
                <a:latin typeface="Arial"/>
                <a:cs typeface="Arial"/>
              </a:rPr>
              <a:t>َ</a:t>
            </a:r>
            <a:r>
              <a:rPr dirty="0" baseline="1543" sz="2700">
                <a:latin typeface="Arial"/>
                <a:cs typeface="Arial"/>
              </a:rPr>
              <a:t>أ </a:t>
            </a:r>
            <a:r>
              <a:rPr dirty="0" baseline="1543" sz="2700" spc="-532">
                <a:latin typeface="Arial"/>
                <a:cs typeface="Arial"/>
              </a:rPr>
              <a:t>ى</a:t>
            </a:r>
            <a:r>
              <a:rPr dirty="0" baseline="6172" sz="2700" spc="-532">
                <a:latin typeface="Arial"/>
                <a:cs typeface="Arial"/>
              </a:rPr>
              <a:t>ٰ </a:t>
            </a:r>
            <a:r>
              <a:rPr dirty="0" baseline="1543" sz="2700" spc="-982">
                <a:latin typeface="Arial"/>
                <a:cs typeface="Arial"/>
              </a:rPr>
              <a:t>س</a:t>
            </a:r>
            <a:r>
              <a:rPr dirty="0" baseline="-1543" sz="2700" spc="-982">
                <a:latin typeface="Arial"/>
                <a:cs typeface="Arial"/>
              </a:rPr>
              <a:t>َ</a:t>
            </a:r>
            <a:r>
              <a:rPr dirty="0" baseline="-1543" sz="2700" spc="419">
                <a:latin typeface="Arial"/>
                <a:cs typeface="Arial"/>
              </a:rPr>
              <a:t> </a:t>
            </a:r>
            <a:r>
              <a:rPr dirty="0" baseline="1543" sz="2700" spc="-270">
                <a:latin typeface="Arial"/>
                <a:cs typeface="Arial"/>
              </a:rPr>
              <a:t>ومُ </a:t>
            </a:r>
            <a:r>
              <a:rPr dirty="0" baseline="1543" sz="2700" spc="-412">
                <a:latin typeface="Arial"/>
                <a:cs typeface="Arial"/>
              </a:rPr>
              <a:t>ان</a:t>
            </a:r>
            <a:r>
              <a:rPr dirty="0" baseline="6172" sz="2700" spc="-412">
                <a:latin typeface="Arial"/>
                <a:cs typeface="Arial"/>
              </a:rPr>
              <a:t>َ </a:t>
            </a:r>
            <a:r>
              <a:rPr dirty="0" baseline="1543" sz="2700" spc="-284">
                <a:latin typeface="Arial"/>
                <a:cs typeface="Arial"/>
              </a:rPr>
              <a:t>د</a:t>
            </a:r>
            <a:r>
              <a:rPr dirty="0" baseline="4629" sz="2700" spc="-284">
                <a:latin typeface="Arial"/>
                <a:cs typeface="Arial"/>
              </a:rPr>
              <a:t>ْ </a:t>
            </a:r>
            <a:r>
              <a:rPr dirty="0" baseline="1543" sz="2700" spc="-615">
                <a:latin typeface="Arial"/>
                <a:cs typeface="Arial"/>
              </a:rPr>
              <a:t>ع</a:t>
            </a:r>
            <a:r>
              <a:rPr dirty="0" baseline="-1543" sz="2700" spc="-615">
                <a:latin typeface="Arial"/>
                <a:cs typeface="Arial"/>
              </a:rPr>
              <a:t>َ </a:t>
            </a:r>
            <a:r>
              <a:rPr dirty="0" baseline="1543" sz="2700" spc="-209">
                <a:latin typeface="Arial"/>
                <a:cs typeface="Arial"/>
              </a:rPr>
              <a:t>او</a:t>
            </a:r>
            <a:r>
              <a:rPr dirty="0" baseline="-1543" sz="2700" spc="-209">
                <a:latin typeface="Arial"/>
                <a:cs typeface="Arial"/>
              </a:rPr>
              <a:t>َ </a:t>
            </a:r>
            <a:r>
              <a:rPr dirty="0" baseline="1543" sz="2700" spc="-284">
                <a:latin typeface="Arial"/>
                <a:cs typeface="Arial"/>
              </a:rPr>
              <a:t>ذ</a:t>
            </a:r>
            <a:r>
              <a:rPr dirty="0" baseline="15432" sz="2700" spc="-284">
                <a:latin typeface="Arial"/>
                <a:cs typeface="Arial"/>
              </a:rPr>
              <a:t>ْ  </a:t>
            </a:r>
            <a:r>
              <a:rPr dirty="0" baseline="-12345" sz="2700" spc="-209">
                <a:latin typeface="Arial"/>
                <a:cs typeface="Arial"/>
              </a:rPr>
              <a:t>ِ</a:t>
            </a:r>
            <a:r>
              <a:rPr dirty="0" baseline="1543" sz="2700" spc="-209">
                <a:latin typeface="Arial"/>
                <a:cs typeface="Arial"/>
              </a:rPr>
              <a:t>إو</a:t>
            </a:r>
            <a:endParaRPr baseline="1543" sz="2700">
              <a:latin typeface="Arial"/>
              <a:cs typeface="Arial"/>
            </a:endParaRPr>
          </a:p>
          <a:p>
            <a:pPr marL="150495" marR="127635">
              <a:lnSpc>
                <a:spcPts val="1380"/>
              </a:lnSpc>
              <a:spcBef>
                <a:spcPts val="2590"/>
              </a:spcBef>
            </a:pPr>
            <a:r>
              <a:rPr dirty="0" sz="1200" spc="-5">
                <a:latin typeface="Arial"/>
                <a:cs typeface="Arial"/>
              </a:rPr>
              <a:t>51. And when </a:t>
            </a:r>
            <a:r>
              <a:rPr dirty="0" sz="1200" spc="20">
                <a:latin typeface="Arial"/>
                <a:cs typeface="Arial"/>
              </a:rPr>
              <a:t>We </a:t>
            </a:r>
            <a:r>
              <a:rPr dirty="0" sz="1200" spc="-5">
                <a:latin typeface="Arial"/>
                <a:cs typeface="Arial"/>
              </a:rPr>
              <a:t>did appoint </a:t>
            </a:r>
            <a:r>
              <a:rPr dirty="0" sz="1200">
                <a:latin typeface="Arial"/>
                <a:cs typeface="Arial"/>
              </a:rPr>
              <a:t>for </a:t>
            </a:r>
            <a:r>
              <a:rPr dirty="0" sz="1200" spc="-5">
                <a:latin typeface="Arial"/>
                <a:cs typeface="Arial"/>
              </a:rPr>
              <a:t>Moses </a:t>
            </a:r>
            <a:r>
              <a:rPr dirty="0" sz="1200">
                <a:latin typeface="Arial"/>
                <a:cs typeface="Arial"/>
              </a:rPr>
              <a:t>forty </a:t>
            </a:r>
            <a:r>
              <a:rPr dirty="0" sz="1200" spc="-5">
                <a:latin typeface="Arial"/>
                <a:cs typeface="Arial"/>
              </a:rPr>
              <a:t>nights (of solitude), </a:t>
            </a:r>
            <a:r>
              <a:rPr dirty="0" sz="1200" spc="-10">
                <a:latin typeface="Arial"/>
                <a:cs typeface="Arial"/>
              </a:rPr>
              <a:t>and </a:t>
            </a:r>
            <a:r>
              <a:rPr dirty="0" sz="1200" spc="-5">
                <a:latin typeface="Arial"/>
                <a:cs typeface="Arial"/>
              </a:rPr>
              <a:t>then </a:t>
            </a:r>
            <a:r>
              <a:rPr dirty="0" sz="1200" spc="-10">
                <a:latin typeface="Arial"/>
                <a:cs typeface="Arial"/>
              </a:rPr>
              <a:t>ye </a:t>
            </a:r>
            <a:r>
              <a:rPr dirty="0" sz="1200" spc="-5">
                <a:latin typeface="Arial"/>
                <a:cs typeface="Arial"/>
              </a:rPr>
              <a:t>chose the calf,  when </a:t>
            </a:r>
            <a:r>
              <a:rPr dirty="0" sz="1200">
                <a:latin typeface="Arial"/>
                <a:cs typeface="Arial"/>
              </a:rPr>
              <a:t>he </a:t>
            </a:r>
            <a:r>
              <a:rPr dirty="0" sz="1200" spc="-5">
                <a:latin typeface="Arial"/>
                <a:cs typeface="Arial"/>
              </a:rPr>
              <a:t>had gone </a:t>
            </a:r>
            <a:r>
              <a:rPr dirty="0" sz="1200">
                <a:latin typeface="Arial"/>
                <a:cs typeface="Arial"/>
              </a:rPr>
              <a:t>from </a:t>
            </a:r>
            <a:r>
              <a:rPr dirty="0" sz="1200" spc="-5">
                <a:latin typeface="Arial"/>
                <a:cs typeface="Arial"/>
              </a:rPr>
              <a:t>you, and were</a:t>
            </a:r>
            <a:r>
              <a:rPr dirty="0" sz="1200" spc="15">
                <a:latin typeface="Arial"/>
                <a:cs typeface="Arial"/>
              </a:rPr>
              <a:t> </a:t>
            </a:r>
            <a:r>
              <a:rPr dirty="0" sz="1200" spc="-5">
                <a:latin typeface="Arial"/>
                <a:cs typeface="Arial"/>
              </a:rPr>
              <a:t>wrongdoers.</a:t>
            </a:r>
            <a:endParaRPr sz="1200">
              <a:latin typeface="Arial"/>
              <a:cs typeface="Arial"/>
            </a:endParaRPr>
          </a:p>
          <a:p>
            <a:pPr>
              <a:lnSpc>
                <a:spcPct val="100000"/>
              </a:lnSpc>
              <a:spcBef>
                <a:spcPts val="20"/>
              </a:spcBef>
            </a:pPr>
            <a:endParaRPr sz="1100">
              <a:latin typeface="Arial"/>
              <a:cs typeface="Arial"/>
            </a:endParaRPr>
          </a:p>
          <a:p>
            <a:pPr algn="r" marR="171450">
              <a:lnSpc>
                <a:spcPct val="100000"/>
              </a:lnSpc>
            </a:pPr>
            <a:r>
              <a:rPr dirty="0" baseline="1543" sz="2700" spc="-494">
                <a:latin typeface="Arial"/>
                <a:cs typeface="Arial"/>
              </a:rPr>
              <a:t>ن</a:t>
            </a:r>
            <a:r>
              <a:rPr dirty="0" baseline="-1543" sz="2700" spc="-494">
                <a:latin typeface="Arial"/>
                <a:cs typeface="Arial"/>
              </a:rPr>
              <a:t>َ </a:t>
            </a:r>
            <a:r>
              <a:rPr dirty="0" baseline="1543" sz="2700" spc="-240">
                <a:latin typeface="Arial"/>
                <a:cs typeface="Arial"/>
              </a:rPr>
              <a:t>ود</a:t>
            </a:r>
            <a:r>
              <a:rPr dirty="0" baseline="3086" sz="2700" spc="-240">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32">
                <a:latin typeface="Arial"/>
                <a:cs typeface="Arial"/>
              </a:rPr>
              <a:t> </a:t>
            </a:r>
            <a:r>
              <a:rPr dirty="0" baseline="1543" sz="2700" spc="-284">
                <a:latin typeface="Arial"/>
                <a:cs typeface="Arial"/>
              </a:rPr>
              <a:t>هْ </a:t>
            </a:r>
            <a:r>
              <a:rPr dirty="0" baseline="1543" sz="2700" spc="-892">
                <a:latin typeface="Arial"/>
                <a:cs typeface="Arial"/>
              </a:rPr>
              <a:t>ت</a:t>
            </a:r>
            <a:r>
              <a:rPr dirty="0" baseline="6172" sz="2700" spc="-892">
                <a:latin typeface="Arial"/>
                <a:cs typeface="Arial"/>
              </a:rPr>
              <a:t>َ</a:t>
            </a:r>
            <a:r>
              <a:rPr dirty="0" baseline="6172" sz="2700" spc="52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50">
                <a:latin typeface="Arial"/>
                <a:cs typeface="Arial"/>
              </a:rPr>
              <a:t> </a:t>
            </a:r>
            <a:r>
              <a:rPr dirty="0" baseline="10802" sz="2700" spc="-405">
                <a:latin typeface="Arial"/>
                <a:cs typeface="Arial"/>
              </a:rPr>
              <a:t>َّ</a:t>
            </a:r>
            <a:r>
              <a:rPr dirty="0" baseline="1543" sz="2700" spc="-405">
                <a:latin typeface="Arial"/>
                <a:cs typeface="Arial"/>
              </a:rPr>
              <a:t>لع</a:t>
            </a:r>
            <a:r>
              <a:rPr dirty="0" baseline="-1543" sz="2700" spc="-405">
                <a:latin typeface="Arial"/>
                <a:cs typeface="Arial"/>
              </a:rPr>
              <a:t>َ </a:t>
            </a:r>
            <a:r>
              <a:rPr dirty="0" baseline="9259" sz="2700" spc="-405">
                <a:latin typeface="Arial"/>
                <a:cs typeface="Arial"/>
              </a:rPr>
              <a:t>َ</a:t>
            </a:r>
            <a:r>
              <a:rPr dirty="0" baseline="1543" sz="2700" spc="-405">
                <a:latin typeface="Arial"/>
                <a:cs typeface="Arial"/>
              </a:rPr>
              <a:t>ل </a:t>
            </a:r>
            <a:r>
              <a:rPr dirty="0" baseline="1543" sz="2700" spc="-494">
                <a:latin typeface="Arial"/>
                <a:cs typeface="Arial"/>
              </a:rPr>
              <a:t>ن</a:t>
            </a:r>
            <a:r>
              <a:rPr dirty="0" baseline="-1543" sz="2700" spc="-494">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spc="-457">
                <a:latin typeface="Arial"/>
                <a:cs typeface="Arial"/>
              </a:rPr>
              <a:t>رْ </a:t>
            </a:r>
            <a:r>
              <a:rPr dirty="0" baseline="9259" sz="2700" spc="-682">
                <a:latin typeface="Arial"/>
                <a:cs typeface="Arial"/>
              </a:rPr>
              <a:t>ُ</a:t>
            </a:r>
            <a:r>
              <a:rPr dirty="0" baseline="1543" sz="2700" spc="-682">
                <a:latin typeface="Arial"/>
                <a:cs typeface="Arial"/>
              </a:rPr>
              <a:t>فل</a:t>
            </a:r>
            <a:r>
              <a:rPr dirty="0" baseline="12345" sz="2700" spc="-682">
                <a:latin typeface="Arial"/>
                <a:cs typeface="Arial"/>
              </a:rPr>
              <a:t>ْ </a:t>
            </a:r>
            <a:r>
              <a:rPr dirty="0" baseline="1543" sz="2700" spc="-209">
                <a:latin typeface="Arial"/>
                <a:cs typeface="Arial"/>
              </a:rPr>
              <a:t>ٱو</a:t>
            </a:r>
            <a:r>
              <a:rPr dirty="0" baseline="-1543" sz="2700" spc="-209">
                <a:latin typeface="Arial"/>
                <a:cs typeface="Arial"/>
              </a:rPr>
              <a:t>َ </a:t>
            </a:r>
            <a:r>
              <a:rPr dirty="0" baseline="1543" sz="2700" spc="-772">
                <a:latin typeface="Arial"/>
                <a:cs typeface="Arial"/>
              </a:rPr>
              <a:t>ب</a:t>
            </a:r>
            <a:r>
              <a:rPr dirty="0" baseline="-1543" sz="2700" spc="-772">
                <a:latin typeface="Arial"/>
                <a:cs typeface="Arial"/>
              </a:rPr>
              <a:t>َ</a:t>
            </a:r>
            <a:r>
              <a:rPr dirty="0" baseline="-1543" sz="2700" spc="772">
                <a:latin typeface="Arial"/>
                <a:cs typeface="Arial"/>
              </a:rPr>
              <a:t> </a:t>
            </a:r>
            <a:r>
              <a:rPr dirty="0" baseline="1543" sz="2700" spc="-585">
                <a:latin typeface="Arial"/>
                <a:cs typeface="Arial"/>
              </a:rPr>
              <a:t>ات</a:t>
            </a:r>
            <a:r>
              <a:rPr dirty="0" baseline="6172" sz="2700" spc="-585">
                <a:latin typeface="Arial"/>
                <a:cs typeface="Arial"/>
              </a:rPr>
              <a:t>َ </a:t>
            </a:r>
            <a:r>
              <a:rPr dirty="0" baseline="1543" sz="2700" spc="-727">
                <a:latin typeface="Arial"/>
                <a:cs typeface="Arial"/>
              </a:rPr>
              <a:t>ك</a:t>
            </a:r>
            <a:r>
              <a:rPr dirty="0" sz="1800" spc="-484">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712">
                <a:latin typeface="Arial"/>
                <a:cs typeface="Arial"/>
              </a:rPr>
              <a:t>ىس</a:t>
            </a:r>
            <a:r>
              <a:rPr dirty="0" baseline="-1543" sz="2700" spc="-712">
                <a:latin typeface="Arial"/>
                <a:cs typeface="Arial"/>
              </a:rPr>
              <a:t>َ </a:t>
            </a:r>
            <a:r>
              <a:rPr dirty="0" baseline="1543" sz="2700" spc="-270">
                <a:latin typeface="Arial"/>
                <a:cs typeface="Arial"/>
              </a:rPr>
              <a:t>ومُ </a:t>
            </a:r>
            <a:r>
              <a:rPr dirty="0" baseline="1543" sz="2700" spc="-412">
                <a:latin typeface="Arial"/>
                <a:cs typeface="Arial"/>
              </a:rPr>
              <a:t>ان</a:t>
            </a:r>
            <a:r>
              <a:rPr dirty="0" baseline="6172" sz="2700" spc="-412">
                <a:latin typeface="Arial"/>
                <a:cs typeface="Arial"/>
              </a:rPr>
              <a:t>َ </a:t>
            </a:r>
            <a:r>
              <a:rPr dirty="0" baseline="1543" sz="2700">
                <a:latin typeface="Arial"/>
                <a:cs typeface="Arial"/>
              </a:rPr>
              <a:t>ٌْ</a:t>
            </a:r>
            <a:r>
              <a:rPr dirty="0" baseline="1543" sz="2700" spc="-562">
                <a:latin typeface="Arial"/>
                <a:cs typeface="Arial"/>
              </a:rPr>
              <a:t> </a:t>
            </a:r>
            <a:r>
              <a:rPr dirty="0" baseline="1543" sz="2700" spc="-907">
                <a:latin typeface="Arial"/>
                <a:cs typeface="Arial"/>
              </a:rPr>
              <a:t>ت</a:t>
            </a:r>
            <a:r>
              <a:rPr dirty="0" baseline="6172" sz="2700" spc="-907">
                <a:latin typeface="Arial"/>
                <a:cs typeface="Arial"/>
              </a:rPr>
              <a:t>َ</a:t>
            </a:r>
            <a:r>
              <a:rPr dirty="0" baseline="6172" sz="2700" spc="-232">
                <a:latin typeface="Arial"/>
                <a:cs typeface="Arial"/>
              </a:rPr>
              <a:t> </a:t>
            </a:r>
            <a:r>
              <a:rPr dirty="0" baseline="1543" sz="2700">
                <a:latin typeface="Arial"/>
                <a:cs typeface="Arial"/>
              </a:rPr>
              <a:t>آ </a:t>
            </a:r>
            <a:r>
              <a:rPr dirty="0" baseline="1543" sz="2700" spc="-284">
                <a:latin typeface="Arial"/>
                <a:cs typeface="Arial"/>
              </a:rPr>
              <a:t>ذ</a:t>
            </a:r>
            <a:r>
              <a:rPr dirty="0" baseline="15432" sz="2700" spc="-284">
                <a:latin typeface="Arial"/>
                <a:cs typeface="Arial"/>
              </a:rPr>
              <a:t>ْ </a:t>
            </a:r>
            <a:r>
              <a:rPr dirty="0" baseline="-12345" sz="2700" spc="-209">
                <a:latin typeface="Arial"/>
                <a:cs typeface="Arial"/>
              </a:rPr>
              <a:t>ِ</a:t>
            </a:r>
            <a:r>
              <a:rPr dirty="0" baseline="1543" sz="2700" spc="-209">
                <a:latin typeface="Arial"/>
                <a:cs typeface="Arial"/>
              </a:rPr>
              <a:t>إو</a:t>
            </a:r>
            <a:endParaRPr baseline="1543" sz="2700">
              <a:latin typeface="Arial"/>
              <a:cs typeface="Arial"/>
            </a:endParaRPr>
          </a:p>
          <a:p>
            <a:pPr marL="150495" marR="127635">
              <a:lnSpc>
                <a:spcPts val="1380"/>
              </a:lnSpc>
              <a:spcBef>
                <a:spcPts val="2580"/>
              </a:spcBef>
            </a:pPr>
            <a:r>
              <a:rPr dirty="0" sz="1200" spc="-5">
                <a:latin typeface="Arial"/>
                <a:cs typeface="Arial"/>
              </a:rPr>
              <a:t>53. And when </a:t>
            </a:r>
            <a:r>
              <a:rPr dirty="0" sz="1200" spc="20">
                <a:latin typeface="Arial"/>
                <a:cs typeface="Arial"/>
              </a:rPr>
              <a:t>We </a:t>
            </a:r>
            <a:r>
              <a:rPr dirty="0" sz="1200" spc="-10">
                <a:latin typeface="Arial"/>
                <a:cs typeface="Arial"/>
              </a:rPr>
              <a:t>gave </a:t>
            </a:r>
            <a:r>
              <a:rPr dirty="0" sz="1200" spc="-5">
                <a:latin typeface="Arial"/>
                <a:cs typeface="Arial"/>
              </a:rPr>
              <a:t>unto Moses the Scripture and </a:t>
            </a:r>
            <a:r>
              <a:rPr dirty="0" sz="1200">
                <a:latin typeface="Arial"/>
                <a:cs typeface="Arial"/>
              </a:rPr>
              <a:t>the </a:t>
            </a:r>
            <a:r>
              <a:rPr dirty="0" sz="1200" spc="-5">
                <a:latin typeface="Arial"/>
                <a:cs typeface="Arial"/>
              </a:rPr>
              <a:t>Criterion </a:t>
            </a:r>
            <a:r>
              <a:rPr dirty="0" sz="1200">
                <a:latin typeface="Arial"/>
                <a:cs typeface="Arial"/>
              </a:rPr>
              <a:t>(of </a:t>
            </a:r>
            <a:r>
              <a:rPr dirty="0" sz="1200" spc="-5">
                <a:latin typeface="Arial"/>
                <a:cs typeface="Arial"/>
              </a:rPr>
              <a:t>right and wrong), that  </a:t>
            </a:r>
            <a:r>
              <a:rPr dirty="0" sz="1200" spc="-10">
                <a:latin typeface="Arial"/>
                <a:cs typeface="Arial"/>
              </a:rPr>
              <a:t>ye </a:t>
            </a:r>
            <a:r>
              <a:rPr dirty="0" sz="1200" spc="-5">
                <a:latin typeface="Arial"/>
                <a:cs typeface="Arial"/>
              </a:rPr>
              <a:t>might be led</a:t>
            </a:r>
            <a:r>
              <a:rPr dirty="0" sz="1200" spc="15">
                <a:latin typeface="Arial"/>
                <a:cs typeface="Arial"/>
              </a:rPr>
              <a:t> </a:t>
            </a:r>
            <a:r>
              <a:rPr dirty="0" sz="1200">
                <a:latin typeface="Arial"/>
                <a:cs typeface="Arial"/>
              </a:rPr>
              <a:t>aright.</a:t>
            </a:r>
            <a:endParaRPr sz="1200">
              <a:latin typeface="Arial"/>
              <a:cs typeface="Arial"/>
            </a:endParaRPr>
          </a:p>
          <a:p>
            <a:pPr>
              <a:lnSpc>
                <a:spcPct val="100000"/>
              </a:lnSpc>
              <a:spcBef>
                <a:spcPts val="20"/>
              </a:spcBef>
            </a:pPr>
            <a:endParaRPr sz="1100">
              <a:latin typeface="Arial"/>
              <a:cs typeface="Arial"/>
            </a:endParaRPr>
          </a:p>
          <a:p>
            <a:pPr algn="r" marR="174625">
              <a:lnSpc>
                <a:spcPts val="2150"/>
              </a:lnSpc>
            </a:pPr>
            <a:r>
              <a:rPr dirty="0" baseline="1543" sz="2700" spc="-232">
                <a:latin typeface="Arial"/>
                <a:cs typeface="Arial"/>
              </a:rPr>
              <a:t>ام</a:t>
            </a:r>
            <a:r>
              <a:rPr dirty="0" baseline="-1543" sz="2700" spc="-232">
                <a:latin typeface="Arial"/>
                <a:cs typeface="Arial"/>
              </a:rPr>
              <a:t>َ  </a:t>
            </a:r>
            <a:r>
              <a:rPr dirty="0" baseline="1543" sz="2700" spc="-960">
                <a:latin typeface="Arial"/>
                <a:cs typeface="Arial"/>
              </a:rPr>
              <a:t>ب</a:t>
            </a:r>
            <a:r>
              <a:rPr dirty="0" baseline="-12345" sz="2700" spc="-960">
                <a:latin typeface="Arial"/>
                <a:cs typeface="Arial"/>
              </a:rPr>
              <a:t>ِ</a:t>
            </a:r>
            <a:r>
              <a:rPr dirty="0" baseline="-12345" sz="2700" spc="780">
                <a:latin typeface="Arial"/>
                <a:cs typeface="Arial"/>
              </a:rPr>
              <a:t> </a:t>
            </a:r>
            <a:r>
              <a:rPr dirty="0" baseline="1543" sz="2700" spc="-427">
                <a:latin typeface="Arial"/>
                <a:cs typeface="Arial"/>
              </a:rPr>
              <a:t>ء</a:t>
            </a:r>
            <a:r>
              <a:rPr dirty="0" baseline="-3086" sz="2700" spc="-427">
                <a:latin typeface="Arial"/>
                <a:cs typeface="Arial"/>
              </a:rPr>
              <a:t>ِ   </a:t>
            </a:r>
            <a:r>
              <a:rPr dirty="0" baseline="1543" sz="2700" spc="-225">
                <a:latin typeface="Arial"/>
                <a:cs typeface="Arial"/>
              </a:rPr>
              <a:t>آم</a:t>
            </a:r>
            <a:r>
              <a:rPr dirty="0" baseline="-1543" sz="2700" spc="-225">
                <a:latin typeface="Arial"/>
                <a:cs typeface="Arial"/>
              </a:rPr>
              <a:t>َ  </a:t>
            </a:r>
            <a:r>
              <a:rPr dirty="0" baseline="1543" sz="2700" spc="-667">
                <a:latin typeface="Arial"/>
                <a:cs typeface="Arial"/>
              </a:rPr>
              <a:t>س</a:t>
            </a:r>
            <a:r>
              <a:rPr dirty="0" sz="1800" spc="-445">
                <a:latin typeface="Arial"/>
                <a:cs typeface="Arial"/>
              </a:rPr>
              <a:t>َّ               </a:t>
            </a:r>
            <a:r>
              <a:rPr dirty="0" baseline="1543" sz="2700" spc="-412">
                <a:latin typeface="Arial"/>
                <a:cs typeface="Arial"/>
              </a:rPr>
              <a:t>لٱ  </a:t>
            </a:r>
            <a:r>
              <a:rPr dirty="0" baseline="1543" sz="2700" spc="-494">
                <a:latin typeface="Arial"/>
                <a:cs typeface="Arial"/>
              </a:rPr>
              <a:t>ن</a:t>
            </a:r>
            <a:r>
              <a:rPr dirty="0" baseline="-1543" sz="2700" spc="-494">
                <a:latin typeface="Arial"/>
                <a:cs typeface="Arial"/>
              </a:rPr>
              <a:t>َ    </a:t>
            </a:r>
            <a:r>
              <a:rPr dirty="0" baseline="1543" sz="2700" spc="-254">
                <a:latin typeface="Arial"/>
                <a:cs typeface="Arial"/>
              </a:rPr>
              <a:t>مِّ   </a:t>
            </a:r>
            <a:r>
              <a:rPr dirty="0" baseline="9259" sz="2700" spc="-225">
                <a:latin typeface="Arial"/>
                <a:cs typeface="Arial"/>
              </a:rPr>
              <a:t>ً</a:t>
            </a:r>
            <a:r>
              <a:rPr dirty="0" baseline="1543" sz="2700" spc="-225">
                <a:latin typeface="Arial"/>
                <a:cs typeface="Arial"/>
              </a:rPr>
              <a:t>ازجْ  </a:t>
            </a:r>
            <a:r>
              <a:rPr dirty="0" baseline="1543" sz="2700" spc="-457">
                <a:latin typeface="Arial"/>
                <a:cs typeface="Arial"/>
              </a:rPr>
              <a:t>ر</a:t>
            </a:r>
            <a:r>
              <a:rPr dirty="0" baseline="-13888" sz="2700" spc="-457">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270">
                <a:latin typeface="Arial"/>
                <a:cs typeface="Arial"/>
              </a:rPr>
              <a:t>ومُ  </a:t>
            </a:r>
            <a:r>
              <a:rPr dirty="0" baseline="9259" sz="2700" spc="-532">
                <a:latin typeface="Arial"/>
                <a:cs typeface="Arial"/>
              </a:rPr>
              <a:t>َ</a:t>
            </a:r>
            <a:r>
              <a:rPr dirty="0" baseline="1543" sz="2700" spc="-532">
                <a:latin typeface="Arial"/>
                <a:cs typeface="Arial"/>
              </a:rPr>
              <a:t>لظ</a:t>
            </a:r>
            <a:r>
              <a:rPr dirty="0" baseline="10802" sz="2700" spc="-532">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32">
                <a:latin typeface="Arial"/>
                <a:cs typeface="Arial"/>
              </a:rPr>
              <a:t>ٌذ</a:t>
            </a:r>
            <a:r>
              <a:rPr dirty="0" sz="1800" spc="-155">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434">
                <a:latin typeface="Arial"/>
                <a:cs typeface="Arial"/>
              </a:rPr>
              <a:t>ى</a:t>
            </a:r>
            <a:r>
              <a:rPr dirty="0" baseline="9259" sz="2700" spc="-434">
                <a:latin typeface="Arial"/>
                <a:cs typeface="Arial"/>
              </a:rPr>
              <a:t>َ</a:t>
            </a:r>
            <a:r>
              <a:rPr dirty="0" baseline="1543" sz="2700" spc="-434">
                <a:latin typeface="Arial"/>
                <a:cs typeface="Arial"/>
              </a:rPr>
              <a:t>لع</a:t>
            </a:r>
            <a:r>
              <a:rPr dirty="0" baseline="-1543" sz="2700" spc="-434">
                <a:latin typeface="Arial"/>
                <a:cs typeface="Arial"/>
              </a:rPr>
              <a:t>َ      </a:t>
            </a:r>
            <a:r>
              <a:rPr dirty="0" baseline="1543" sz="2700" spc="-412">
                <a:latin typeface="Arial"/>
                <a:cs typeface="Arial"/>
              </a:rPr>
              <a:t>ان</a:t>
            </a:r>
            <a:r>
              <a:rPr dirty="0" baseline="6172" sz="2700" spc="-412">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spc="-494">
                <a:latin typeface="Arial"/>
                <a:cs typeface="Arial"/>
              </a:rPr>
              <a:t>ز</a:t>
            </a:r>
            <a:r>
              <a:rPr dirty="0" baseline="6172" sz="2700" spc="-494">
                <a:latin typeface="Arial"/>
                <a:cs typeface="Arial"/>
              </a:rPr>
              <a:t>َ    </a:t>
            </a:r>
            <a:r>
              <a:rPr dirty="0" baseline="1543" sz="2700" spc="-697">
                <a:latin typeface="Arial"/>
                <a:cs typeface="Arial"/>
              </a:rPr>
              <a:t>ن</a:t>
            </a:r>
            <a:r>
              <a:rPr dirty="0" baseline="15432" sz="2700" spc="-697">
                <a:latin typeface="Arial"/>
                <a:cs typeface="Arial"/>
              </a:rPr>
              <a:t>َ</a:t>
            </a:r>
            <a:r>
              <a:rPr dirty="0" baseline="1543" sz="2700" spc="-697">
                <a:latin typeface="Arial"/>
                <a:cs typeface="Arial"/>
              </a:rPr>
              <a:t>ؤف</a:t>
            </a:r>
            <a:r>
              <a:rPr dirty="0" baseline="6172" sz="2700" spc="-697">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1543" sz="2700" spc="-690">
                <a:latin typeface="Arial"/>
                <a:cs typeface="Arial"/>
              </a:rPr>
              <a:t>ل</a:t>
            </a:r>
            <a:r>
              <a:rPr dirty="0" baseline="9259" sz="2700" spc="-690">
                <a:latin typeface="Arial"/>
                <a:cs typeface="Arial"/>
              </a:rPr>
              <a:t>َ                        </a:t>
            </a:r>
            <a:r>
              <a:rPr dirty="0" baseline="1543" sz="2700" spc="-615">
                <a:latin typeface="Arial"/>
                <a:cs typeface="Arial"/>
              </a:rPr>
              <a:t>ل</a:t>
            </a:r>
            <a:r>
              <a:rPr dirty="0" baseline="-1543" sz="2700" spc="-615">
                <a:latin typeface="Arial"/>
                <a:cs typeface="Arial"/>
              </a:rPr>
              <a:t>َ         </a:t>
            </a:r>
            <a:r>
              <a:rPr dirty="0" baseline="1543" sz="2700" spc="-517">
                <a:latin typeface="Arial"/>
                <a:cs typeface="Arial"/>
              </a:rPr>
              <a:t>ٌق</a:t>
            </a:r>
            <a:r>
              <a:rPr dirty="0" sz="1800" spc="-345">
                <a:latin typeface="Arial"/>
                <a:cs typeface="Arial"/>
              </a:rPr>
              <a:t>ِ       </a:t>
            </a:r>
            <a:r>
              <a:rPr dirty="0" baseline="1543" sz="2700" spc="-240">
                <a:latin typeface="Arial"/>
                <a:cs typeface="Arial"/>
              </a:rPr>
              <a:t>يذ</a:t>
            </a:r>
            <a:r>
              <a:rPr dirty="0" sz="1800" spc="-160">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494">
                <a:latin typeface="Arial"/>
                <a:cs typeface="Arial"/>
              </a:rPr>
              <a:t>ر</a:t>
            </a:r>
            <a:r>
              <a:rPr dirty="0" baseline="-1543" sz="2700" spc="-494">
                <a:latin typeface="Arial"/>
                <a:cs typeface="Arial"/>
              </a:rPr>
              <a:t>َ    </a:t>
            </a:r>
            <a:r>
              <a:rPr dirty="0" baseline="1543" sz="2700">
                <a:latin typeface="Arial"/>
                <a:cs typeface="Arial"/>
              </a:rPr>
              <a:t>ٌْ </a:t>
            </a:r>
            <a:r>
              <a:rPr dirty="0" baseline="1543" sz="2700" spc="-967">
                <a:latin typeface="Arial"/>
                <a:cs typeface="Arial"/>
              </a:rPr>
              <a:t>ؼ</a:t>
            </a:r>
            <a:r>
              <a:rPr dirty="0" baseline="3086" sz="2700" spc="-967">
                <a:latin typeface="Arial"/>
                <a:cs typeface="Arial"/>
              </a:rPr>
              <a:t>َ</a:t>
            </a:r>
            <a:r>
              <a:rPr dirty="0" baseline="3086" sz="2700" spc="1282">
                <a:latin typeface="Arial"/>
                <a:cs typeface="Arial"/>
              </a:rPr>
              <a:t> </a:t>
            </a:r>
            <a:r>
              <a:rPr dirty="0" baseline="10802" sz="2700" spc="-202">
                <a:latin typeface="Arial"/>
                <a:cs typeface="Arial"/>
              </a:rPr>
              <a:t>ً</a:t>
            </a:r>
            <a:r>
              <a:rPr dirty="0" baseline="1543" sz="2700" spc="-202">
                <a:latin typeface="Arial"/>
                <a:cs typeface="Arial"/>
              </a:rPr>
              <a:t>لاوْ </a:t>
            </a:r>
            <a:r>
              <a:rPr dirty="0" baseline="1543" sz="2700" spc="-757">
                <a:latin typeface="Arial"/>
                <a:cs typeface="Arial"/>
              </a:rPr>
              <a:t>ق</a:t>
            </a:r>
            <a:r>
              <a:rPr dirty="0" baseline="6172" sz="2700" spc="-757">
                <a:latin typeface="Arial"/>
                <a:cs typeface="Arial"/>
              </a:rPr>
              <a:t>َ</a:t>
            </a:r>
            <a:r>
              <a:rPr dirty="0" baseline="6172" sz="2700" spc="787">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270">
                <a:latin typeface="Arial"/>
                <a:cs typeface="Arial"/>
              </a:rPr>
              <a:t>ومُ  </a:t>
            </a:r>
            <a:r>
              <a:rPr dirty="0" baseline="1543" sz="2700" spc="-690">
                <a:latin typeface="Arial"/>
                <a:cs typeface="Arial"/>
              </a:rPr>
              <a:t>ل</a:t>
            </a:r>
            <a:r>
              <a:rPr dirty="0" baseline="9259" sz="2700" spc="-690">
                <a:latin typeface="Arial"/>
                <a:cs typeface="Arial"/>
              </a:rPr>
              <a:t>َ         </a:t>
            </a:r>
            <a:r>
              <a:rPr dirty="0" baseline="1543" sz="2700" spc="-652">
                <a:latin typeface="Arial"/>
                <a:cs typeface="Arial"/>
              </a:rPr>
              <a:t>ظ</a:t>
            </a:r>
            <a:r>
              <a:rPr dirty="0" baseline="10802" sz="2700" spc="-652">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40">
                <a:latin typeface="Arial"/>
                <a:cs typeface="Arial"/>
              </a:rPr>
              <a:t>ٌذ</a:t>
            </a:r>
            <a:r>
              <a:rPr dirty="0" sz="1800" spc="-160">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615">
                <a:latin typeface="Arial"/>
                <a:cs typeface="Arial"/>
              </a:rPr>
              <a:t>ل</a:t>
            </a:r>
            <a:r>
              <a:rPr dirty="0" baseline="-1543" sz="2700" spc="-615">
                <a:latin typeface="Arial"/>
                <a:cs typeface="Arial"/>
              </a:rPr>
              <a:t>َ         </a:t>
            </a:r>
            <a:r>
              <a:rPr dirty="0" baseline="1543" sz="2700" spc="-232">
                <a:latin typeface="Arial"/>
                <a:cs typeface="Arial"/>
              </a:rPr>
              <a:t>د</a:t>
            </a:r>
            <a:r>
              <a:rPr dirty="0" baseline="3086" sz="2700" spc="-232">
                <a:latin typeface="Arial"/>
                <a:cs typeface="Arial"/>
              </a:rPr>
              <a:t>َّ</a:t>
            </a:r>
            <a:r>
              <a:rPr dirty="0" baseline="3086" sz="2700" spc="-60">
                <a:latin typeface="Arial"/>
                <a:cs typeface="Arial"/>
              </a:rPr>
              <a:t> </a:t>
            </a:r>
            <a:r>
              <a:rPr dirty="0" baseline="1543" sz="2700" spc="-892">
                <a:latin typeface="Arial"/>
                <a:cs typeface="Arial"/>
              </a:rPr>
              <a:t>ب</a:t>
            </a:r>
            <a:r>
              <a:rPr dirty="0" baseline="-1543" sz="2700" spc="-892">
                <a:latin typeface="Arial"/>
                <a:cs typeface="Arial"/>
              </a:rPr>
              <a:t>َ</a:t>
            </a:r>
            <a:r>
              <a:rPr dirty="0" baseline="-1543" sz="2700" spc="-232">
                <a:latin typeface="Arial"/>
                <a:cs typeface="Arial"/>
              </a:rPr>
              <a:t> </a:t>
            </a:r>
            <a:r>
              <a:rPr dirty="0" baseline="1543" sz="2700" spc="-2062">
                <a:latin typeface="Arial"/>
                <a:cs typeface="Arial"/>
              </a:rPr>
              <a:t>ف</a:t>
            </a:r>
            <a:endParaRPr baseline="1543" sz="2700">
              <a:latin typeface="Arial"/>
              <a:cs typeface="Arial"/>
            </a:endParaRPr>
          </a:p>
          <a:p>
            <a:pPr algn="r" marR="191770">
              <a:lnSpc>
                <a:spcPts val="2150"/>
              </a:lnSpc>
            </a:pPr>
            <a:r>
              <a:rPr dirty="0" baseline="3086" sz="2700" spc="-494">
                <a:latin typeface="Arial"/>
                <a:cs typeface="Arial"/>
              </a:rPr>
              <a:t>ن</a:t>
            </a:r>
            <a:r>
              <a:rPr dirty="0" sz="1800" spc="-330">
                <a:latin typeface="Arial"/>
                <a:cs typeface="Arial"/>
              </a:rPr>
              <a:t>َ    </a:t>
            </a:r>
            <a:r>
              <a:rPr dirty="0" baseline="3086" sz="2700" spc="-585">
                <a:latin typeface="Arial"/>
                <a:cs typeface="Arial"/>
              </a:rPr>
              <a:t>و</a:t>
            </a:r>
            <a:r>
              <a:rPr dirty="0" baseline="10802" sz="2700" spc="-585">
                <a:latin typeface="Arial"/>
                <a:cs typeface="Arial"/>
              </a:rPr>
              <a:t>ُ</a:t>
            </a:r>
            <a:r>
              <a:rPr dirty="0" baseline="3086" sz="2700" spc="-585">
                <a:latin typeface="Arial"/>
                <a:cs typeface="Arial"/>
              </a:rPr>
              <a:t>قسُ        </a:t>
            </a:r>
            <a:r>
              <a:rPr dirty="0" baseline="3086" sz="2700" spc="-997">
                <a:latin typeface="Arial"/>
                <a:cs typeface="Arial"/>
              </a:rPr>
              <a:t>ف</a:t>
            </a:r>
            <a:r>
              <a:rPr dirty="0" baseline="12345" sz="2700" spc="-997">
                <a:latin typeface="Arial"/>
                <a:cs typeface="Arial"/>
              </a:rPr>
              <a:t>ْ</a:t>
            </a:r>
            <a:r>
              <a:rPr dirty="0" baseline="12345" sz="2700" spc="-209">
                <a:latin typeface="Arial"/>
                <a:cs typeface="Arial"/>
              </a:rPr>
              <a:t> </a:t>
            </a:r>
            <a:r>
              <a:rPr dirty="0" baseline="3086" sz="2700">
                <a:latin typeface="Arial"/>
                <a:cs typeface="Arial"/>
              </a:rPr>
              <a:t>ٌ</a:t>
            </a:r>
            <a:r>
              <a:rPr dirty="0" sz="1800">
                <a:latin typeface="Arial"/>
                <a:cs typeface="Arial"/>
              </a:rPr>
              <a:t>َ  </a:t>
            </a:r>
            <a:r>
              <a:rPr dirty="0" baseline="3086" sz="2700" spc="-262">
                <a:latin typeface="Arial"/>
                <a:cs typeface="Arial"/>
              </a:rPr>
              <a:t>ا</a:t>
            </a:r>
            <a:r>
              <a:rPr dirty="0" baseline="10802" sz="2700" spc="-262">
                <a:latin typeface="Arial"/>
                <a:cs typeface="Arial"/>
              </a:rPr>
              <a:t>ْ </a:t>
            </a:r>
            <a:r>
              <a:rPr dirty="0" baseline="3086" sz="2700" spc="-457">
                <a:latin typeface="Arial"/>
                <a:cs typeface="Arial"/>
              </a:rPr>
              <a:t>ون</a:t>
            </a:r>
            <a:r>
              <a:rPr dirty="0" baseline="10802" sz="2700" spc="-457">
                <a:latin typeface="Arial"/>
                <a:cs typeface="Arial"/>
              </a:rPr>
              <a:t>ُ</a:t>
            </a:r>
            <a:r>
              <a:rPr dirty="0" baseline="10802" sz="2700" spc="-540">
                <a:latin typeface="Arial"/>
                <a:cs typeface="Arial"/>
              </a:rPr>
              <a:t> </a:t>
            </a:r>
            <a:r>
              <a:rPr dirty="0" baseline="3086" sz="2700" spc="-697">
                <a:latin typeface="Arial"/>
                <a:cs typeface="Arial"/>
              </a:rPr>
              <a:t>اك</a:t>
            </a:r>
            <a:endParaRPr baseline="3086" sz="2700">
              <a:latin typeface="Arial"/>
              <a:cs typeface="Arial"/>
            </a:endParaRPr>
          </a:p>
          <a:p>
            <a:pPr>
              <a:lnSpc>
                <a:spcPct val="100000"/>
              </a:lnSpc>
              <a:spcBef>
                <a:spcPts val="50"/>
              </a:spcBef>
            </a:pPr>
            <a:endParaRPr sz="2150">
              <a:latin typeface="Arial"/>
              <a:cs typeface="Arial"/>
            </a:endParaRPr>
          </a:p>
          <a:p>
            <a:pPr marL="150495" marR="120650">
              <a:lnSpc>
                <a:spcPts val="1380"/>
              </a:lnSpc>
            </a:pPr>
            <a:r>
              <a:rPr dirty="0" sz="1200" spc="-5">
                <a:latin typeface="Arial"/>
                <a:cs typeface="Arial"/>
              </a:rPr>
              <a:t>59. </a:t>
            </a:r>
            <a:r>
              <a:rPr dirty="0" sz="1200">
                <a:latin typeface="Arial"/>
                <a:cs typeface="Arial"/>
              </a:rPr>
              <a:t>But </a:t>
            </a:r>
            <a:r>
              <a:rPr dirty="0" sz="1200" spc="-5">
                <a:latin typeface="Arial"/>
                <a:cs typeface="Arial"/>
              </a:rPr>
              <a:t>those </a:t>
            </a:r>
            <a:r>
              <a:rPr dirty="0" sz="1200" spc="-10">
                <a:latin typeface="Arial"/>
                <a:cs typeface="Arial"/>
              </a:rPr>
              <a:t>who </a:t>
            </a:r>
            <a:r>
              <a:rPr dirty="0" sz="1200" spc="-5">
                <a:latin typeface="Arial"/>
                <a:cs typeface="Arial"/>
              </a:rPr>
              <a:t>did wrong changed </a:t>
            </a:r>
            <a:r>
              <a:rPr dirty="0" sz="1200">
                <a:latin typeface="Arial"/>
                <a:cs typeface="Arial"/>
              </a:rPr>
              <a:t>the </a:t>
            </a:r>
            <a:r>
              <a:rPr dirty="0" sz="1200" spc="-5">
                <a:latin typeface="Arial"/>
                <a:cs typeface="Arial"/>
              </a:rPr>
              <a:t>word which had been </a:t>
            </a:r>
            <a:r>
              <a:rPr dirty="0" sz="1200">
                <a:latin typeface="Arial"/>
                <a:cs typeface="Arial"/>
              </a:rPr>
              <a:t>told </a:t>
            </a:r>
            <a:r>
              <a:rPr dirty="0" sz="1200" spc="-5">
                <a:latin typeface="Arial"/>
                <a:cs typeface="Arial"/>
              </a:rPr>
              <a:t>the evil-doers wrath  from Heaven </a:t>
            </a:r>
            <a:r>
              <a:rPr dirty="0" sz="1200">
                <a:latin typeface="Arial"/>
                <a:cs typeface="Arial"/>
              </a:rPr>
              <a:t>for </a:t>
            </a:r>
            <a:r>
              <a:rPr dirty="0" sz="1200" spc="-5">
                <a:latin typeface="Arial"/>
                <a:cs typeface="Arial"/>
              </a:rPr>
              <a:t>their </a:t>
            </a:r>
            <a:r>
              <a:rPr dirty="0" sz="1200" spc="-10">
                <a:latin typeface="Arial"/>
                <a:cs typeface="Arial"/>
              </a:rPr>
              <a:t>evil </a:t>
            </a:r>
            <a:r>
              <a:rPr dirty="0" sz="1200" spc="-5">
                <a:latin typeface="Arial"/>
                <a:cs typeface="Arial"/>
              </a:rPr>
              <a:t>doing.</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57</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372363" y="807211"/>
            <a:ext cx="6601459" cy="5010150"/>
          </a:xfrm>
          <a:prstGeom prst="rect">
            <a:avLst/>
          </a:prstGeom>
        </p:spPr>
        <p:txBody>
          <a:bodyPr wrap="square" lIns="0" tIns="36830" rIns="0" bIns="0" rtlCol="0" vert="horz">
            <a:spAutoFit/>
          </a:bodyPr>
          <a:lstStyle/>
          <a:p>
            <a:pPr marL="2052320" marR="132080" indent="-1875155">
              <a:lnSpc>
                <a:spcPts val="2010"/>
              </a:lnSpc>
              <a:spcBef>
                <a:spcPts val="290"/>
              </a:spcBef>
            </a:pPr>
            <a:r>
              <a:rPr dirty="0" baseline="3086" sz="2700" spc="-615">
                <a:latin typeface="Arial"/>
                <a:cs typeface="Arial"/>
              </a:rPr>
              <a:t>ل</a:t>
            </a:r>
            <a:r>
              <a:rPr dirty="0" sz="1800" spc="-409">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607">
                <a:latin typeface="Arial"/>
                <a:cs typeface="Arial"/>
              </a:rPr>
              <a:t>ع</a:t>
            </a:r>
            <a:r>
              <a:rPr dirty="0" sz="1800" spc="-405">
                <a:latin typeface="Arial"/>
                <a:cs typeface="Arial"/>
              </a:rPr>
              <a:t>َ</a:t>
            </a:r>
            <a:r>
              <a:rPr dirty="0" sz="1800" spc="-310">
                <a:latin typeface="Arial"/>
                <a:cs typeface="Arial"/>
              </a:rPr>
              <a:t> </a:t>
            </a:r>
            <a:r>
              <a:rPr dirty="0" baseline="3086" sz="2700" spc="-307">
                <a:latin typeface="Arial"/>
                <a:cs typeface="Arial"/>
              </a:rPr>
              <a:t>و</a:t>
            </a:r>
            <a:r>
              <a:rPr dirty="0" sz="1800" spc="-204">
                <a:latin typeface="Arial"/>
                <a:cs typeface="Arial"/>
              </a:rPr>
              <a:t>َ </a:t>
            </a:r>
            <a:r>
              <a:rPr dirty="0" baseline="3086" sz="2700" spc="-457">
                <a:latin typeface="Arial"/>
                <a:cs typeface="Arial"/>
              </a:rPr>
              <a:t>ر</a:t>
            </a:r>
            <a:r>
              <a:rPr dirty="0" baseline="-10802" sz="2700" spc="-457">
                <a:latin typeface="Arial"/>
                <a:cs typeface="Arial"/>
              </a:rPr>
              <a:t>ِ </a:t>
            </a:r>
            <a:r>
              <a:rPr dirty="0" baseline="3086" sz="2700" spc="-719">
                <a:latin typeface="Arial"/>
                <a:cs typeface="Arial"/>
              </a:rPr>
              <a:t>خ</a:t>
            </a:r>
            <a:r>
              <a:rPr dirty="0" baseline="1543" sz="2700" spc="-719">
                <a:latin typeface="Arial"/>
                <a:cs typeface="Arial"/>
              </a:rPr>
              <a:t>ِ </a:t>
            </a:r>
            <a:r>
              <a:rPr dirty="0" baseline="3086" sz="2700" spc="-157">
                <a:latin typeface="Arial"/>
                <a:cs typeface="Arial"/>
              </a:rPr>
              <a:t>لآٱ </a:t>
            </a:r>
            <a:r>
              <a:rPr dirty="0" baseline="3086" sz="2700" spc="-315">
                <a:latin typeface="Arial"/>
                <a:cs typeface="Arial"/>
              </a:rPr>
              <a:t>م</a:t>
            </a:r>
            <a:r>
              <a:rPr dirty="0" baseline="-13888" sz="2700" spc="-315">
                <a:latin typeface="Arial"/>
                <a:cs typeface="Arial"/>
              </a:rPr>
              <a:t>ِ </a:t>
            </a:r>
            <a:r>
              <a:rPr dirty="0" baseline="3086" sz="2700" spc="-270">
                <a:latin typeface="Arial"/>
                <a:cs typeface="Arial"/>
              </a:rPr>
              <a:t>وْ </a:t>
            </a:r>
            <a:r>
              <a:rPr dirty="0" baseline="3086" sz="2700">
                <a:latin typeface="Arial"/>
                <a:cs typeface="Arial"/>
              </a:rPr>
              <a:t>ٌ</a:t>
            </a:r>
            <a:r>
              <a:rPr dirty="0" sz="180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209">
                <a:latin typeface="Arial"/>
                <a:cs typeface="Arial"/>
              </a:rPr>
              <a:t>ٱو</a:t>
            </a:r>
            <a:r>
              <a:rPr dirty="0" sz="1800" spc="-140">
                <a:latin typeface="Arial"/>
                <a:cs typeface="Arial"/>
              </a:rPr>
              <a:t>َ </a:t>
            </a:r>
            <a:r>
              <a:rPr dirty="0" baseline="3086" sz="2700" spc="-885">
                <a:latin typeface="Arial"/>
                <a:cs typeface="Arial"/>
              </a:rPr>
              <a:t>للَّ</a:t>
            </a:r>
            <a:r>
              <a:rPr dirty="0" sz="1800" spc="-590">
                <a:latin typeface="Arial"/>
                <a:cs typeface="Arial"/>
              </a:rPr>
              <a:t>ِ</a:t>
            </a:r>
            <a:r>
              <a:rPr dirty="0" sz="1800" spc="-80">
                <a:latin typeface="Arial"/>
                <a:cs typeface="Arial"/>
              </a:rPr>
              <a:t> </a:t>
            </a:r>
            <a:r>
              <a:rPr dirty="0" baseline="15432" sz="2700">
                <a:latin typeface="Arial"/>
                <a:cs typeface="Arial"/>
              </a:rPr>
              <a:t>َّ </a:t>
            </a:r>
            <a:r>
              <a:rPr dirty="0" baseline="3086" sz="2700" spc="-412">
                <a:latin typeface="Arial"/>
                <a:cs typeface="Arial"/>
              </a:rPr>
              <a:t>ٲ</a:t>
            </a:r>
            <a:r>
              <a:rPr dirty="0" baseline="-10802" sz="2700" spc="-412">
                <a:latin typeface="Arial"/>
                <a:cs typeface="Arial"/>
              </a:rPr>
              <a:t>ِ</a:t>
            </a:r>
            <a:r>
              <a:rPr dirty="0" baseline="3086" sz="2700" spc="-412">
                <a:latin typeface="Arial"/>
                <a:cs typeface="Arial"/>
              </a:rPr>
              <a:t>ب </a:t>
            </a:r>
            <a:r>
              <a:rPr dirty="0" baseline="3086" sz="2700" spc="-494">
                <a:latin typeface="Arial"/>
                <a:cs typeface="Arial"/>
              </a:rPr>
              <a:t>ن</a:t>
            </a:r>
            <a:r>
              <a:rPr dirty="0" sz="1800" spc="-330">
                <a:latin typeface="Arial"/>
                <a:cs typeface="Arial"/>
              </a:rPr>
              <a:t>َ </a:t>
            </a:r>
            <a:r>
              <a:rPr dirty="0" baseline="3086" sz="2700" spc="-359">
                <a:latin typeface="Arial"/>
                <a:cs typeface="Arial"/>
              </a:rPr>
              <a:t>م</a:t>
            </a:r>
            <a:r>
              <a:rPr dirty="0" sz="1800" spc="-240">
                <a:latin typeface="Arial"/>
                <a:cs typeface="Arial"/>
              </a:rPr>
              <a:t>َ </a:t>
            </a:r>
            <a:r>
              <a:rPr dirty="0" baseline="3086" sz="2700">
                <a:latin typeface="Arial"/>
                <a:cs typeface="Arial"/>
              </a:rPr>
              <a:t>آ </a:t>
            </a:r>
            <a:r>
              <a:rPr dirty="0" baseline="3086" sz="2700" spc="-465">
                <a:latin typeface="Arial"/>
                <a:cs typeface="Arial"/>
              </a:rPr>
              <a:t>نْ  </a:t>
            </a:r>
            <a:r>
              <a:rPr dirty="0" baseline="3086" sz="2700" spc="-359">
                <a:latin typeface="Arial"/>
                <a:cs typeface="Arial"/>
              </a:rPr>
              <a:t>م</a:t>
            </a:r>
            <a:r>
              <a:rPr dirty="0" sz="1800" spc="-240">
                <a:latin typeface="Arial"/>
                <a:cs typeface="Arial"/>
              </a:rPr>
              <a:t>َ </a:t>
            </a:r>
            <a:r>
              <a:rPr dirty="0" baseline="3086" sz="2700" spc="-494">
                <a:latin typeface="Arial"/>
                <a:cs typeface="Arial"/>
              </a:rPr>
              <a:t>ن</a:t>
            </a:r>
            <a:r>
              <a:rPr dirty="0" sz="1800" spc="-330">
                <a:latin typeface="Arial"/>
                <a:cs typeface="Arial"/>
              </a:rPr>
              <a:t>َ </a:t>
            </a:r>
            <a:r>
              <a:rPr dirty="0" baseline="3086" sz="2700" spc="-569">
                <a:latin typeface="Arial"/>
                <a:cs typeface="Arial"/>
              </a:rPr>
              <a:t>ٌئ</a:t>
            </a:r>
            <a:r>
              <a:rPr dirty="0" baseline="1543" sz="2700" spc="-569">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82">
                <a:latin typeface="Arial"/>
                <a:cs typeface="Arial"/>
              </a:rPr>
              <a:t> </a:t>
            </a:r>
            <a:r>
              <a:rPr dirty="0" baseline="3086" sz="2700" spc="-675">
                <a:latin typeface="Arial"/>
                <a:cs typeface="Arial"/>
              </a:rPr>
              <a:t>اصَّ </a:t>
            </a:r>
            <a:r>
              <a:rPr dirty="0" baseline="3086" sz="2700" spc="-359">
                <a:latin typeface="Arial"/>
                <a:cs typeface="Arial"/>
              </a:rPr>
              <a:t>لٱو</a:t>
            </a:r>
            <a:r>
              <a:rPr dirty="0" sz="1800" spc="-240">
                <a:latin typeface="Arial"/>
                <a:cs typeface="Arial"/>
              </a:rPr>
              <a:t>َ </a:t>
            </a:r>
            <a:r>
              <a:rPr dirty="0" baseline="3086" sz="2700" spc="-532">
                <a:latin typeface="Arial"/>
                <a:cs typeface="Arial"/>
              </a:rPr>
              <a:t>ى</a:t>
            </a:r>
            <a:r>
              <a:rPr dirty="0" baseline="7716" sz="2700" spc="-532">
                <a:latin typeface="Arial"/>
                <a:cs typeface="Arial"/>
              </a:rPr>
              <a:t>ٰ </a:t>
            </a:r>
            <a:r>
              <a:rPr dirty="0" baseline="3086" sz="2700" spc="-494">
                <a:latin typeface="Arial"/>
                <a:cs typeface="Arial"/>
              </a:rPr>
              <a:t>ر</a:t>
            </a:r>
            <a:r>
              <a:rPr dirty="0" sz="1800" spc="-330">
                <a:latin typeface="Arial"/>
                <a:cs typeface="Arial"/>
              </a:rPr>
              <a:t>َ </a:t>
            </a:r>
            <a:r>
              <a:rPr dirty="0" baseline="3086" sz="2700" spc="-885">
                <a:latin typeface="Arial"/>
                <a:cs typeface="Arial"/>
              </a:rPr>
              <a:t>اص</a:t>
            </a:r>
            <a:r>
              <a:rPr dirty="0" sz="1800" spc="-590">
                <a:latin typeface="Arial"/>
                <a:cs typeface="Arial"/>
              </a:rPr>
              <a:t>َ</a:t>
            </a:r>
            <a:r>
              <a:rPr dirty="0" sz="1800" spc="890">
                <a:latin typeface="Arial"/>
                <a:cs typeface="Arial"/>
              </a:rPr>
              <a:t> </a:t>
            </a:r>
            <a:r>
              <a:rPr dirty="0" baseline="3086" sz="2700" spc="-442">
                <a:latin typeface="Arial"/>
                <a:cs typeface="Arial"/>
              </a:rPr>
              <a:t>ن</a:t>
            </a:r>
            <a:r>
              <a:rPr dirty="0" baseline="10802" sz="2700" spc="-442">
                <a:latin typeface="Arial"/>
                <a:cs typeface="Arial"/>
              </a:rPr>
              <a:t>َّ </a:t>
            </a:r>
            <a:r>
              <a:rPr dirty="0" baseline="3086" sz="2700" spc="-359">
                <a:latin typeface="Arial"/>
                <a:cs typeface="Arial"/>
              </a:rPr>
              <a:t>لٱو</a:t>
            </a:r>
            <a:r>
              <a:rPr dirty="0" sz="1800" spc="-240">
                <a:latin typeface="Arial"/>
                <a:cs typeface="Arial"/>
              </a:rPr>
              <a:t>َ </a:t>
            </a:r>
            <a:r>
              <a:rPr dirty="0" baseline="3086" sz="2700" spc="-262">
                <a:latin typeface="Arial"/>
                <a:cs typeface="Arial"/>
              </a:rPr>
              <a:t>ا</a:t>
            </a:r>
            <a:r>
              <a:rPr dirty="0" baseline="10802" sz="2700" spc="-262">
                <a:latin typeface="Arial"/>
                <a:cs typeface="Arial"/>
              </a:rPr>
              <a:t>ْ </a:t>
            </a:r>
            <a:r>
              <a:rPr dirty="0" baseline="3086" sz="2700" spc="-240">
                <a:latin typeface="Arial"/>
                <a:cs typeface="Arial"/>
              </a:rPr>
              <a:t>ود</a:t>
            </a:r>
            <a:r>
              <a:rPr dirty="0" baseline="6172" sz="2700" spc="-240">
                <a:latin typeface="Arial"/>
                <a:cs typeface="Arial"/>
              </a:rPr>
              <a:t>ُ </a:t>
            </a:r>
            <a:r>
              <a:rPr dirty="0" baseline="3086" sz="2700" spc="-165">
                <a:latin typeface="Arial"/>
                <a:cs typeface="Arial"/>
              </a:rPr>
              <a:t>اه</a:t>
            </a:r>
            <a:r>
              <a:rPr dirty="0" sz="1800" spc="-110">
                <a:latin typeface="Arial"/>
                <a:cs typeface="Arial"/>
              </a:rPr>
              <a:t>َ </a:t>
            </a:r>
            <a:r>
              <a:rPr dirty="0" baseline="3086" sz="2700" spc="-494">
                <a:latin typeface="Arial"/>
                <a:cs typeface="Arial"/>
              </a:rPr>
              <a:t>ن</a:t>
            </a:r>
            <a:r>
              <a:rPr dirty="0" sz="1800" spc="-330">
                <a:latin typeface="Arial"/>
                <a:cs typeface="Arial"/>
              </a:rPr>
              <a:t>َ </a:t>
            </a:r>
            <a:r>
              <a:rPr dirty="0" baseline="3086" sz="2700" spc="-240">
                <a:latin typeface="Arial"/>
                <a:cs typeface="Arial"/>
              </a:rPr>
              <a:t>ٌذ</a:t>
            </a:r>
            <a:r>
              <a:rPr dirty="0" baseline="1543" sz="2700" spc="-240">
                <a:latin typeface="Arial"/>
                <a:cs typeface="Arial"/>
              </a:rPr>
              <a:t>ِ </a:t>
            </a:r>
            <a:r>
              <a:rPr dirty="0" baseline="13888" sz="2700" spc="-240">
                <a:latin typeface="Arial"/>
                <a:cs typeface="Arial"/>
              </a:rPr>
              <a:t>َّ</a:t>
            </a:r>
            <a:r>
              <a:rPr dirty="0" baseline="3086" sz="2700" spc="-240">
                <a:latin typeface="Arial"/>
                <a:cs typeface="Arial"/>
              </a:rPr>
              <a:t>لٱو</a:t>
            </a:r>
            <a:r>
              <a:rPr dirty="0" sz="1800" spc="-160">
                <a:latin typeface="Arial"/>
                <a:cs typeface="Arial"/>
              </a:rPr>
              <a:t>َ </a:t>
            </a:r>
            <a:r>
              <a:rPr dirty="0" baseline="3086" sz="2700" spc="-262">
                <a:latin typeface="Arial"/>
                <a:cs typeface="Arial"/>
              </a:rPr>
              <a:t>ا</a:t>
            </a:r>
            <a:r>
              <a:rPr dirty="0" baseline="10802" sz="2700" spc="-262">
                <a:latin typeface="Arial"/>
                <a:cs typeface="Arial"/>
              </a:rPr>
              <a:t>ْ </a:t>
            </a:r>
            <a:r>
              <a:rPr dirty="0" baseline="3086" sz="2700" spc="-457">
                <a:latin typeface="Arial"/>
                <a:cs typeface="Arial"/>
              </a:rPr>
              <a:t>ون</a:t>
            </a:r>
            <a:r>
              <a:rPr dirty="0" baseline="10802" sz="2700" spc="-457">
                <a:latin typeface="Arial"/>
                <a:cs typeface="Arial"/>
              </a:rPr>
              <a:t>ُ </a:t>
            </a:r>
            <a:r>
              <a:rPr dirty="0" baseline="3086" sz="2700" spc="-359">
                <a:latin typeface="Arial"/>
                <a:cs typeface="Arial"/>
              </a:rPr>
              <a:t>م</a:t>
            </a:r>
            <a:r>
              <a:rPr dirty="0" sz="1800" spc="-240">
                <a:latin typeface="Arial"/>
                <a:cs typeface="Arial"/>
              </a:rPr>
              <a:t>َ </a:t>
            </a:r>
            <a:r>
              <a:rPr dirty="0" baseline="3086" sz="2700">
                <a:latin typeface="Arial"/>
                <a:cs typeface="Arial"/>
              </a:rPr>
              <a:t>آ </a:t>
            </a:r>
            <a:r>
              <a:rPr dirty="0" baseline="3086" sz="2700" spc="-494">
                <a:latin typeface="Arial"/>
                <a:cs typeface="Arial"/>
              </a:rPr>
              <a:t>ن</a:t>
            </a:r>
            <a:r>
              <a:rPr dirty="0" sz="1800" spc="-330">
                <a:latin typeface="Arial"/>
                <a:cs typeface="Arial"/>
              </a:rPr>
              <a:t>َ </a:t>
            </a:r>
            <a:r>
              <a:rPr dirty="0" baseline="3086" sz="2700" spc="-232">
                <a:latin typeface="Arial"/>
                <a:cs typeface="Arial"/>
              </a:rPr>
              <a:t>ٌذ</a:t>
            </a:r>
            <a:r>
              <a:rPr dirty="0" baseline="1543" sz="2700" spc="-232">
                <a:latin typeface="Arial"/>
                <a:cs typeface="Arial"/>
              </a:rPr>
              <a:t>ِ </a:t>
            </a:r>
            <a:r>
              <a:rPr dirty="0" baseline="13888" sz="2700" spc="-209">
                <a:latin typeface="Arial"/>
                <a:cs typeface="Arial"/>
              </a:rPr>
              <a:t>َّ</a:t>
            </a:r>
            <a:r>
              <a:rPr dirty="0" baseline="3086" sz="2700" spc="-209">
                <a:latin typeface="Arial"/>
                <a:cs typeface="Arial"/>
              </a:rPr>
              <a:t>لٱ </a:t>
            </a:r>
            <a:r>
              <a:rPr dirty="0" baseline="3086" sz="2700" spc="-345">
                <a:latin typeface="Arial"/>
                <a:cs typeface="Arial"/>
              </a:rPr>
              <a:t>نَّ </a:t>
            </a:r>
            <a:r>
              <a:rPr dirty="0" baseline="-10802" sz="2700">
                <a:latin typeface="Arial"/>
                <a:cs typeface="Arial"/>
              </a:rPr>
              <a:t>ِ</a:t>
            </a:r>
            <a:r>
              <a:rPr dirty="0" baseline="3086" sz="2700">
                <a:latin typeface="Arial"/>
                <a:cs typeface="Arial"/>
              </a:rPr>
              <a:t>إ  </a:t>
            </a:r>
            <a:r>
              <a:rPr dirty="0" baseline="1543" sz="2700" spc="-494">
                <a:latin typeface="Arial"/>
                <a:cs typeface="Arial"/>
              </a:rPr>
              <a:t>ن</a:t>
            </a:r>
            <a:r>
              <a:rPr dirty="0" baseline="-1543" sz="2700" spc="-494">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494">
                <a:latin typeface="Arial"/>
                <a:cs typeface="Arial"/>
              </a:rPr>
              <a:t>ز</a:t>
            </a:r>
            <a:r>
              <a:rPr dirty="0" baseline="6172" sz="2700" spc="-494">
                <a:latin typeface="Arial"/>
                <a:cs typeface="Arial"/>
              </a:rPr>
              <a:t>َ </a:t>
            </a:r>
            <a:r>
              <a:rPr dirty="0" baseline="1543" sz="2700" spc="-555">
                <a:latin typeface="Arial"/>
                <a:cs typeface="Arial"/>
              </a:rPr>
              <a:t>حْ </a:t>
            </a:r>
            <a:r>
              <a:rPr dirty="0" baseline="1543" sz="2700">
                <a:latin typeface="Arial"/>
                <a:cs typeface="Arial"/>
              </a:rPr>
              <a:t>ٌ</a:t>
            </a:r>
            <a:r>
              <a:rPr dirty="0" baseline="-1543" sz="270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15">
                <a:latin typeface="Arial"/>
                <a:cs typeface="Arial"/>
              </a:rPr>
              <a:t>هُ </a:t>
            </a:r>
            <a:r>
              <a:rPr dirty="0" baseline="7716" sz="2700" spc="-217">
                <a:latin typeface="Arial"/>
                <a:cs typeface="Arial"/>
              </a:rPr>
              <a:t>َ</a:t>
            </a:r>
            <a:r>
              <a:rPr dirty="0" baseline="1543" sz="2700" spc="-217">
                <a:latin typeface="Arial"/>
                <a:cs typeface="Arial"/>
              </a:rPr>
              <a:t>لاو</a:t>
            </a:r>
            <a:r>
              <a:rPr dirty="0" baseline="-1543" sz="2700" spc="-217">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a:t>
            </a:r>
            <a:r>
              <a:rPr dirty="0" baseline="-10802" sz="2700" spc="-307">
                <a:latin typeface="Arial"/>
                <a:cs typeface="Arial"/>
              </a:rPr>
              <a:t>ِ </a:t>
            </a:r>
            <a:r>
              <a:rPr dirty="0" baseline="1543" sz="2700">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607">
                <a:latin typeface="Arial"/>
                <a:cs typeface="Arial"/>
              </a:rPr>
              <a:t>ع</a:t>
            </a:r>
            <a:r>
              <a:rPr dirty="0" baseline="-1543" sz="2700" spc="-607">
                <a:latin typeface="Arial"/>
                <a:cs typeface="Arial"/>
              </a:rPr>
              <a:t>َ  </a:t>
            </a:r>
            <a:r>
              <a:rPr dirty="0" baseline="1543" sz="2700" spc="-667">
                <a:latin typeface="Arial"/>
                <a:cs typeface="Arial"/>
              </a:rPr>
              <a:t>ؾ</a:t>
            </a:r>
            <a:r>
              <a:rPr dirty="0" baseline="3086" sz="2700" spc="-667">
                <a:latin typeface="Arial"/>
                <a:cs typeface="Arial"/>
              </a:rPr>
              <a:t>ٌ </a:t>
            </a:r>
            <a:r>
              <a:rPr dirty="0" baseline="1543" sz="2700" spc="-270">
                <a:latin typeface="Arial"/>
                <a:cs typeface="Arial"/>
              </a:rPr>
              <a:t>وْ </a:t>
            </a:r>
            <a:r>
              <a:rPr dirty="0" baseline="1543" sz="2700" spc="-592">
                <a:latin typeface="Arial"/>
                <a:cs typeface="Arial"/>
              </a:rPr>
              <a:t>خ</a:t>
            </a:r>
            <a:r>
              <a:rPr dirty="0" baseline="6172" sz="2700" spc="-592">
                <a:latin typeface="Arial"/>
                <a:cs typeface="Arial"/>
              </a:rPr>
              <a:t>َ </a:t>
            </a:r>
            <a:r>
              <a:rPr dirty="0" baseline="7716" sz="2700" spc="-217">
                <a:latin typeface="Arial"/>
                <a:cs typeface="Arial"/>
              </a:rPr>
              <a:t>َ</a:t>
            </a:r>
            <a:r>
              <a:rPr dirty="0" baseline="1543" sz="2700" spc="-217">
                <a:latin typeface="Arial"/>
                <a:cs typeface="Arial"/>
              </a:rPr>
              <a:t>لاو</a:t>
            </a:r>
            <a:r>
              <a:rPr dirty="0" baseline="-1543" sz="2700" spc="-217">
                <a:latin typeface="Arial"/>
                <a:cs typeface="Arial"/>
              </a:rPr>
              <a:t>َ </a:t>
            </a:r>
            <a:r>
              <a:rPr dirty="0" baseline="1543" sz="2700" spc="-359">
                <a:latin typeface="Arial"/>
                <a:cs typeface="Arial"/>
              </a:rPr>
              <a:t>م</a:t>
            </a:r>
            <a:r>
              <a:rPr dirty="0" baseline="-3086" sz="2700" spc="-359">
                <a:latin typeface="Arial"/>
                <a:cs typeface="Arial"/>
              </a:rPr>
              <a:t>ْ </a:t>
            </a:r>
            <a:r>
              <a:rPr dirty="0" baseline="1543" sz="2700" spc="-307">
                <a:latin typeface="Arial"/>
                <a:cs typeface="Arial"/>
              </a:rPr>
              <a:t>ه</a:t>
            </a:r>
            <a:r>
              <a:rPr dirty="0" baseline="-10802" sz="2700" spc="-307">
                <a:latin typeface="Arial"/>
                <a:cs typeface="Arial"/>
              </a:rPr>
              <a:t>ِ </a:t>
            </a:r>
            <a:r>
              <a:rPr dirty="0" baseline="1543" sz="2700" spc="-607">
                <a:latin typeface="Arial"/>
                <a:cs typeface="Arial"/>
              </a:rPr>
              <a:t>بِّ </a:t>
            </a:r>
            <a:r>
              <a:rPr dirty="0" baseline="1543" sz="2700" spc="-494">
                <a:latin typeface="Arial"/>
                <a:cs typeface="Arial"/>
              </a:rPr>
              <a:t>ر</a:t>
            </a:r>
            <a:r>
              <a:rPr dirty="0" baseline="-1543" sz="2700" spc="-494">
                <a:latin typeface="Arial"/>
                <a:cs typeface="Arial"/>
              </a:rPr>
              <a:t>َ </a:t>
            </a:r>
            <a:r>
              <a:rPr dirty="0" baseline="1543" sz="2700" spc="-322">
                <a:latin typeface="Arial"/>
                <a:cs typeface="Arial"/>
              </a:rPr>
              <a:t>د</a:t>
            </a:r>
            <a:r>
              <a:rPr dirty="0" sz="1800" spc="-215">
                <a:latin typeface="Arial"/>
                <a:cs typeface="Arial"/>
              </a:rPr>
              <a:t>َ </a:t>
            </a:r>
            <a:r>
              <a:rPr dirty="0" baseline="1543" sz="2700" spc="-660">
                <a:latin typeface="Arial"/>
                <a:cs typeface="Arial"/>
              </a:rPr>
              <a:t>نع</a:t>
            </a:r>
            <a:r>
              <a:rPr dirty="0" sz="1800" spc="-44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 </a:t>
            </a:r>
            <a:r>
              <a:rPr dirty="0" baseline="1543" sz="2700" spc="-525">
                <a:latin typeface="Arial"/>
                <a:cs typeface="Arial"/>
              </a:rPr>
              <a:t>رُ </a:t>
            </a:r>
            <a:r>
              <a:rPr dirty="0" baseline="1543" sz="2700" spc="-547">
                <a:latin typeface="Arial"/>
                <a:cs typeface="Arial"/>
              </a:rPr>
              <a:t>جْ </a:t>
            </a:r>
            <a:r>
              <a:rPr dirty="0" baseline="15432" sz="2700">
                <a:latin typeface="Arial"/>
                <a:cs typeface="Arial"/>
              </a:rPr>
              <a:t>َ</a:t>
            </a:r>
            <a:r>
              <a:rPr dirty="0" baseline="1543" sz="2700">
                <a:latin typeface="Arial"/>
                <a:cs typeface="Arial"/>
              </a:rPr>
              <a:t>أ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a:t>
            </a:r>
            <a:r>
              <a:rPr dirty="0" baseline="1543" sz="2700" spc="30">
                <a:latin typeface="Arial"/>
                <a:cs typeface="Arial"/>
              </a:rPr>
              <a:t> </a:t>
            </a:r>
            <a:r>
              <a:rPr dirty="0" baseline="9259" sz="2700" spc="-719">
                <a:latin typeface="Arial"/>
                <a:cs typeface="Arial"/>
              </a:rPr>
              <a:t>َ</a:t>
            </a:r>
            <a:r>
              <a:rPr dirty="0" baseline="1543" sz="2700" spc="-719">
                <a:latin typeface="Arial"/>
                <a:cs typeface="Arial"/>
              </a:rPr>
              <a:t>لف</a:t>
            </a:r>
            <a:r>
              <a:rPr dirty="0" baseline="6172" sz="2700" spc="-719">
                <a:latin typeface="Arial"/>
                <a:cs typeface="Arial"/>
              </a:rPr>
              <a:t>َ </a:t>
            </a:r>
            <a:r>
              <a:rPr dirty="0" baseline="9259" sz="2700" spc="-509">
                <a:latin typeface="Arial"/>
                <a:cs typeface="Arial"/>
              </a:rPr>
              <a:t>ً</a:t>
            </a:r>
            <a:r>
              <a:rPr dirty="0" baseline="1543" sz="2700" spc="-509">
                <a:latin typeface="Arial"/>
                <a:cs typeface="Arial"/>
              </a:rPr>
              <a:t>اح</a:t>
            </a:r>
            <a:r>
              <a:rPr dirty="0" sz="1800" spc="-340">
                <a:latin typeface="Arial"/>
                <a:cs typeface="Arial"/>
              </a:rPr>
              <a:t>ِ</a:t>
            </a:r>
            <a:r>
              <a:rPr dirty="0" baseline="1543" sz="2700" spc="-509">
                <a:latin typeface="Arial"/>
                <a:cs typeface="Arial"/>
              </a:rPr>
              <a:t>لاص</a:t>
            </a:r>
            <a:endParaRPr baseline="1543" sz="2700">
              <a:latin typeface="Arial"/>
              <a:cs typeface="Arial"/>
            </a:endParaRPr>
          </a:p>
          <a:p>
            <a:pPr>
              <a:lnSpc>
                <a:spcPct val="100000"/>
              </a:lnSpc>
              <a:spcBef>
                <a:spcPts val="15"/>
              </a:spcBef>
            </a:pPr>
            <a:endParaRPr sz="2200">
              <a:latin typeface="Arial"/>
              <a:cs typeface="Arial"/>
            </a:endParaRPr>
          </a:p>
          <a:p>
            <a:pPr algn="just" marL="174625" marR="136525">
              <a:lnSpc>
                <a:spcPts val="1380"/>
              </a:lnSpc>
            </a:pPr>
            <a:r>
              <a:rPr dirty="0" sz="1200" spc="-5">
                <a:latin typeface="Arial"/>
                <a:cs typeface="Arial"/>
              </a:rPr>
              <a:t>62. Lo! those </a:t>
            </a:r>
            <a:r>
              <a:rPr dirty="0" sz="1200" spc="-10">
                <a:latin typeface="Arial"/>
                <a:cs typeface="Arial"/>
              </a:rPr>
              <a:t>who </a:t>
            </a:r>
            <a:r>
              <a:rPr dirty="0" sz="1200" spc="-5">
                <a:latin typeface="Arial"/>
                <a:cs typeface="Arial"/>
              </a:rPr>
              <a:t>believe (in </a:t>
            </a:r>
            <a:r>
              <a:rPr dirty="0" sz="1200">
                <a:latin typeface="Arial"/>
                <a:cs typeface="Arial"/>
              </a:rPr>
              <a:t>that </a:t>
            </a:r>
            <a:r>
              <a:rPr dirty="0" sz="1200" spc="-5">
                <a:latin typeface="Arial"/>
                <a:cs typeface="Arial"/>
              </a:rPr>
              <a:t>which is revealed unto thee, Muhammad), and those </a:t>
            </a:r>
            <a:r>
              <a:rPr dirty="0" sz="1200" spc="-10">
                <a:latin typeface="Arial"/>
                <a:cs typeface="Arial"/>
              </a:rPr>
              <a:t>who  </a:t>
            </a:r>
            <a:r>
              <a:rPr dirty="0" sz="1200" spc="-5">
                <a:latin typeface="Arial"/>
                <a:cs typeface="Arial"/>
              </a:rPr>
              <a:t>are Jews, and Christians, and Sabaeans whoever believeth in Allah and </a:t>
            </a:r>
            <a:r>
              <a:rPr dirty="0" sz="1200">
                <a:latin typeface="Arial"/>
                <a:cs typeface="Arial"/>
              </a:rPr>
              <a:t>the Last </a:t>
            </a:r>
            <a:r>
              <a:rPr dirty="0" sz="1200" spc="-5">
                <a:latin typeface="Arial"/>
                <a:cs typeface="Arial"/>
              </a:rPr>
              <a:t>Day and  doeth right surely their reward is with </a:t>
            </a:r>
            <a:r>
              <a:rPr dirty="0" sz="1200">
                <a:latin typeface="Arial"/>
                <a:cs typeface="Arial"/>
              </a:rPr>
              <a:t>their </a:t>
            </a:r>
            <a:r>
              <a:rPr dirty="0" sz="1200" spc="-5">
                <a:latin typeface="Arial"/>
                <a:cs typeface="Arial"/>
              </a:rPr>
              <a:t>Lord, and there shall no </a:t>
            </a:r>
            <a:r>
              <a:rPr dirty="0" sz="1200">
                <a:latin typeface="Arial"/>
                <a:cs typeface="Arial"/>
              </a:rPr>
              <a:t>fear </a:t>
            </a:r>
            <a:r>
              <a:rPr dirty="0" sz="1200" spc="-10">
                <a:latin typeface="Arial"/>
                <a:cs typeface="Arial"/>
              </a:rPr>
              <a:t>come upon them  </a:t>
            </a:r>
            <a:r>
              <a:rPr dirty="0" sz="1200" spc="-5">
                <a:latin typeface="Arial"/>
                <a:cs typeface="Arial"/>
              </a:rPr>
              <a:t>neither </a:t>
            </a:r>
            <a:r>
              <a:rPr dirty="0" sz="1200">
                <a:latin typeface="Arial"/>
                <a:cs typeface="Arial"/>
              </a:rPr>
              <a:t>shall </a:t>
            </a:r>
            <a:r>
              <a:rPr dirty="0" sz="1200" spc="-5">
                <a:latin typeface="Arial"/>
                <a:cs typeface="Arial"/>
              </a:rPr>
              <a:t>they</a:t>
            </a:r>
            <a:r>
              <a:rPr dirty="0" sz="1200" spc="-20">
                <a:latin typeface="Arial"/>
                <a:cs typeface="Arial"/>
              </a:rPr>
              <a:t> </a:t>
            </a:r>
            <a:r>
              <a:rPr dirty="0" sz="1200" spc="-5">
                <a:latin typeface="Arial"/>
                <a:cs typeface="Arial"/>
              </a:rPr>
              <a:t>grieve.</a:t>
            </a:r>
            <a:endParaRPr sz="1200">
              <a:latin typeface="Arial"/>
              <a:cs typeface="Arial"/>
            </a:endParaRPr>
          </a:p>
          <a:p>
            <a:pPr>
              <a:lnSpc>
                <a:spcPct val="100000"/>
              </a:lnSpc>
              <a:spcBef>
                <a:spcPts val="20"/>
              </a:spcBef>
            </a:pPr>
            <a:endParaRPr sz="1100">
              <a:latin typeface="Arial"/>
              <a:cs typeface="Arial"/>
            </a:endParaRPr>
          </a:p>
          <a:p>
            <a:pPr algn="just" marL="174625">
              <a:lnSpc>
                <a:spcPct val="100000"/>
              </a:lnSpc>
            </a:pPr>
            <a:r>
              <a:rPr dirty="0" sz="1200" spc="-5" b="1">
                <a:latin typeface="Arial"/>
                <a:cs typeface="Arial"/>
              </a:rPr>
              <a:t>(Verse 121 </a:t>
            </a:r>
            <a:r>
              <a:rPr dirty="0" sz="1200" b="1">
                <a:latin typeface="Arial"/>
                <a:cs typeface="Arial"/>
              </a:rPr>
              <a:t>– </a:t>
            </a:r>
            <a:r>
              <a:rPr dirty="0" sz="1200" spc="-5" b="1">
                <a:latin typeface="Arial"/>
                <a:cs typeface="Arial"/>
              </a:rPr>
              <a:t>141):</a:t>
            </a:r>
            <a:endParaRPr sz="1200">
              <a:latin typeface="Arial"/>
              <a:cs typeface="Arial"/>
            </a:endParaRPr>
          </a:p>
          <a:p>
            <a:pPr>
              <a:lnSpc>
                <a:spcPct val="100000"/>
              </a:lnSpc>
            </a:pPr>
            <a:endParaRPr sz="1200">
              <a:latin typeface="Arial"/>
              <a:cs typeface="Arial"/>
            </a:endParaRPr>
          </a:p>
          <a:p>
            <a:pPr algn="just" marL="174625" marR="136525">
              <a:lnSpc>
                <a:spcPct val="95900"/>
              </a:lnSpc>
            </a:pPr>
            <a:r>
              <a:rPr dirty="0" sz="1200" spc="-5">
                <a:latin typeface="Arial"/>
                <a:cs typeface="Arial"/>
              </a:rPr>
              <a:t>The Jews have been exhorted </a:t>
            </a:r>
            <a:r>
              <a:rPr dirty="0" sz="1200">
                <a:latin typeface="Arial"/>
                <a:cs typeface="Arial"/>
              </a:rPr>
              <a:t>to follow </a:t>
            </a:r>
            <a:r>
              <a:rPr dirty="0" sz="1200" spc="-5">
                <a:latin typeface="Arial"/>
                <a:cs typeface="Arial"/>
              </a:rPr>
              <a:t>Prophet Muhammad (Allah's peace </a:t>
            </a:r>
            <a:r>
              <a:rPr dirty="0" sz="1200" spc="-10">
                <a:latin typeface="Arial"/>
                <a:cs typeface="Arial"/>
              </a:rPr>
              <a:t>be </a:t>
            </a:r>
            <a:r>
              <a:rPr dirty="0" sz="1200" spc="-5">
                <a:latin typeface="Arial"/>
                <a:cs typeface="Arial"/>
              </a:rPr>
              <a:t>upon him)  </a:t>
            </a:r>
            <a:r>
              <a:rPr dirty="0" sz="1200" spc="-10">
                <a:latin typeface="Arial"/>
                <a:cs typeface="Arial"/>
              </a:rPr>
              <a:t>who </a:t>
            </a:r>
            <a:r>
              <a:rPr dirty="0" sz="1200" spc="-5">
                <a:latin typeface="Arial"/>
                <a:cs typeface="Arial"/>
              </a:rPr>
              <a:t>had come with the same Guidance and </a:t>
            </a:r>
            <a:r>
              <a:rPr dirty="0" sz="1200" spc="-10">
                <a:latin typeface="Arial"/>
                <a:cs typeface="Arial"/>
              </a:rPr>
              <a:t>who was </a:t>
            </a:r>
            <a:r>
              <a:rPr dirty="0" sz="1200" spc="-5">
                <a:latin typeface="Arial"/>
                <a:cs typeface="Arial"/>
              </a:rPr>
              <a:t>a descendant and follower </a:t>
            </a:r>
            <a:r>
              <a:rPr dirty="0" sz="1200">
                <a:latin typeface="Arial"/>
                <a:cs typeface="Arial"/>
              </a:rPr>
              <a:t>of </a:t>
            </a:r>
            <a:r>
              <a:rPr dirty="0" sz="1200" spc="-5">
                <a:latin typeface="Arial"/>
                <a:cs typeface="Arial"/>
              </a:rPr>
              <a:t>Prophet  Abraham whom they highly honoured </a:t>
            </a:r>
            <a:r>
              <a:rPr dirty="0" sz="1200">
                <a:latin typeface="Arial"/>
                <a:cs typeface="Arial"/>
              </a:rPr>
              <a:t>as </a:t>
            </a:r>
            <a:r>
              <a:rPr dirty="0" sz="1200" spc="-5">
                <a:latin typeface="Arial"/>
                <a:cs typeface="Arial"/>
              </a:rPr>
              <a:t>their ancestor, and professed </a:t>
            </a:r>
            <a:r>
              <a:rPr dirty="0" sz="1200">
                <a:latin typeface="Arial"/>
                <a:cs typeface="Arial"/>
              </a:rPr>
              <a:t>to </a:t>
            </a:r>
            <a:r>
              <a:rPr dirty="0" sz="1200" spc="-5">
                <a:latin typeface="Arial"/>
                <a:cs typeface="Arial"/>
              </a:rPr>
              <a:t>follow </a:t>
            </a:r>
            <a:r>
              <a:rPr dirty="0" sz="1200">
                <a:latin typeface="Arial"/>
                <a:cs typeface="Arial"/>
              </a:rPr>
              <a:t>as </a:t>
            </a:r>
            <a:r>
              <a:rPr dirty="0" sz="1200" spc="-5">
                <a:latin typeface="Arial"/>
                <a:cs typeface="Arial"/>
              </a:rPr>
              <a:t>a prophet.  The </a:t>
            </a:r>
            <a:r>
              <a:rPr dirty="0" sz="1200">
                <a:latin typeface="Arial"/>
                <a:cs typeface="Arial"/>
              </a:rPr>
              <a:t>story of </a:t>
            </a:r>
            <a:r>
              <a:rPr dirty="0" sz="1200" spc="-5">
                <a:latin typeface="Arial"/>
                <a:cs typeface="Arial"/>
              </a:rPr>
              <a:t>the building </a:t>
            </a:r>
            <a:r>
              <a:rPr dirty="0" sz="1200">
                <a:latin typeface="Arial"/>
                <a:cs typeface="Arial"/>
              </a:rPr>
              <a:t>of </a:t>
            </a:r>
            <a:r>
              <a:rPr dirty="0" sz="1200" spc="-5">
                <a:latin typeface="Arial"/>
                <a:cs typeface="Arial"/>
              </a:rPr>
              <a:t>the Ka‘bah by him has been mentioned because </a:t>
            </a:r>
            <a:r>
              <a:rPr dirty="0" sz="1200">
                <a:latin typeface="Arial"/>
                <a:cs typeface="Arial"/>
              </a:rPr>
              <a:t>it </a:t>
            </a:r>
            <a:r>
              <a:rPr dirty="0" sz="1200" spc="-10">
                <a:latin typeface="Arial"/>
                <a:cs typeface="Arial"/>
              </a:rPr>
              <a:t>was </a:t>
            </a:r>
            <a:r>
              <a:rPr dirty="0" sz="1200" spc="-5">
                <a:latin typeface="Arial"/>
                <a:cs typeface="Arial"/>
              </a:rPr>
              <a:t>going </a:t>
            </a:r>
            <a:r>
              <a:rPr dirty="0" sz="1200">
                <a:latin typeface="Arial"/>
                <a:cs typeface="Arial"/>
              </a:rPr>
              <a:t>to  </a:t>
            </a:r>
            <a:r>
              <a:rPr dirty="0" sz="1200" spc="-5">
                <a:latin typeface="Arial"/>
                <a:cs typeface="Arial"/>
              </a:rPr>
              <a:t>be made the Qiblah of the Muslim</a:t>
            </a:r>
            <a:r>
              <a:rPr dirty="0" sz="1200" spc="40">
                <a:latin typeface="Arial"/>
                <a:cs typeface="Arial"/>
              </a:rPr>
              <a:t> </a:t>
            </a:r>
            <a:r>
              <a:rPr dirty="0" sz="1200" spc="-5">
                <a:latin typeface="Arial"/>
                <a:cs typeface="Arial"/>
              </a:rPr>
              <a:t>Community.</a:t>
            </a:r>
            <a:endParaRPr sz="1200">
              <a:latin typeface="Arial"/>
              <a:cs typeface="Arial"/>
            </a:endParaRPr>
          </a:p>
          <a:p>
            <a:pPr>
              <a:lnSpc>
                <a:spcPct val="100000"/>
              </a:lnSpc>
              <a:spcBef>
                <a:spcPts val="55"/>
              </a:spcBef>
            </a:pPr>
            <a:endParaRPr sz="1100">
              <a:latin typeface="Arial"/>
              <a:cs typeface="Arial"/>
            </a:endParaRPr>
          </a:p>
          <a:p>
            <a:pPr algn="just" marL="174625">
              <a:lnSpc>
                <a:spcPct val="100000"/>
              </a:lnSpc>
            </a:pPr>
            <a:r>
              <a:rPr dirty="0" sz="1200" spc="-5">
                <a:latin typeface="Arial"/>
                <a:cs typeface="Arial"/>
              </a:rPr>
              <a:t>Allah says:</a:t>
            </a:r>
            <a:endParaRPr sz="1200">
              <a:latin typeface="Arial"/>
              <a:cs typeface="Arial"/>
            </a:endParaRPr>
          </a:p>
          <a:p>
            <a:pPr>
              <a:lnSpc>
                <a:spcPct val="100000"/>
              </a:lnSpc>
              <a:spcBef>
                <a:spcPts val="55"/>
              </a:spcBef>
            </a:pPr>
            <a:endParaRPr sz="1100">
              <a:latin typeface="Arial"/>
              <a:cs typeface="Arial"/>
            </a:endParaRPr>
          </a:p>
          <a:p>
            <a:pPr marL="1179195">
              <a:lnSpc>
                <a:spcPct val="100000"/>
              </a:lnSpc>
            </a:pPr>
            <a:r>
              <a:rPr dirty="0" baseline="1543" sz="2700" spc="-494">
                <a:latin typeface="Arial"/>
                <a:cs typeface="Arial"/>
              </a:rPr>
              <a:t>ن</a:t>
            </a:r>
            <a:r>
              <a:rPr dirty="0" baseline="-1543" sz="2700" spc="-494">
                <a:latin typeface="Arial"/>
                <a:cs typeface="Arial"/>
              </a:rPr>
              <a:t>َ </a:t>
            </a:r>
            <a:r>
              <a:rPr dirty="0" baseline="1543" sz="2700" spc="-240">
                <a:latin typeface="Arial"/>
                <a:cs typeface="Arial"/>
              </a:rPr>
              <a:t>ٌم</a:t>
            </a:r>
            <a:r>
              <a:rPr dirty="0" sz="1800" spc="-160">
                <a:latin typeface="Arial"/>
                <a:cs typeface="Arial"/>
              </a:rPr>
              <a:t>ِ </a:t>
            </a:r>
            <a:r>
              <a:rPr dirty="0" baseline="9259" sz="2700" spc="-397">
                <a:latin typeface="Arial"/>
                <a:cs typeface="Arial"/>
              </a:rPr>
              <a:t>َ</a:t>
            </a:r>
            <a:r>
              <a:rPr dirty="0" baseline="1543" sz="2700" spc="-397">
                <a:latin typeface="Arial"/>
                <a:cs typeface="Arial"/>
              </a:rPr>
              <a:t>لاع</a:t>
            </a:r>
            <a:r>
              <a:rPr dirty="0" baseline="-1543" sz="2700" spc="-397">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615">
                <a:latin typeface="Arial"/>
                <a:cs typeface="Arial"/>
              </a:rPr>
              <a:t>ىلع</a:t>
            </a:r>
            <a:r>
              <a:rPr dirty="0" baseline="9259" sz="2700" spc="-615">
                <a:latin typeface="Arial"/>
                <a:cs typeface="Arial"/>
              </a:rPr>
              <a:t>َ </a:t>
            </a:r>
            <a:r>
              <a:rPr dirty="0" baseline="-1543" sz="270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79">
                <a:latin typeface="Arial"/>
                <a:cs typeface="Arial"/>
              </a:rPr>
              <a:t> </a:t>
            </a:r>
            <a:r>
              <a:rPr dirty="0" baseline="1543" sz="2700" spc="-930">
                <a:latin typeface="Arial"/>
                <a:cs typeface="Arial"/>
              </a:rPr>
              <a:t>ت</a:t>
            </a:r>
            <a:r>
              <a:rPr dirty="0" baseline="9259" sz="2700" spc="-930">
                <a:latin typeface="Arial"/>
                <a:cs typeface="Arial"/>
              </a:rPr>
              <a:t>ُ</a:t>
            </a:r>
            <a:r>
              <a:rPr dirty="0" baseline="9259" sz="2700" spc="-150">
                <a:latin typeface="Arial"/>
                <a:cs typeface="Arial"/>
              </a:rPr>
              <a:t> </a:t>
            </a:r>
            <a:r>
              <a:rPr dirty="0" baseline="1543" sz="2700" spc="-660">
                <a:latin typeface="Arial"/>
                <a:cs typeface="Arial"/>
              </a:rPr>
              <a:t>ل</a:t>
            </a:r>
            <a:r>
              <a:rPr dirty="0" baseline="12345" sz="2700" spc="-660">
                <a:latin typeface="Arial"/>
                <a:cs typeface="Arial"/>
              </a:rPr>
              <a:t>ْ </a:t>
            </a:r>
            <a:r>
              <a:rPr dirty="0" baseline="1543" sz="2700" spc="-914">
                <a:latin typeface="Arial"/>
                <a:cs typeface="Arial"/>
              </a:rPr>
              <a:t>ض</a:t>
            </a:r>
            <a:r>
              <a:rPr dirty="0" sz="1800" spc="-610">
                <a:latin typeface="Arial"/>
                <a:cs typeface="Arial"/>
              </a:rPr>
              <a:t>َّ</a:t>
            </a:r>
            <a:r>
              <a:rPr dirty="0" sz="1800" spc="869">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660">
                <a:latin typeface="Arial"/>
                <a:cs typeface="Arial"/>
              </a:rPr>
              <a:t> </a:t>
            </a:r>
            <a:r>
              <a:rPr dirty="0" baseline="1543" sz="2700" spc="-330">
                <a:latin typeface="Arial"/>
                <a:cs typeface="Arial"/>
              </a:rPr>
              <a:t>ًن</a:t>
            </a:r>
            <a:r>
              <a:rPr dirty="0" baseline="9259" sz="2700" spc="-330">
                <a:latin typeface="Arial"/>
                <a:cs typeface="Arial"/>
              </a:rPr>
              <a:t>ِّ </a:t>
            </a:r>
            <a:r>
              <a:rPr dirty="0" baseline="15432" sz="2700" spc="-157">
                <a:latin typeface="Arial"/>
                <a:cs typeface="Arial"/>
              </a:rPr>
              <a:t>َ</a:t>
            </a:r>
            <a:r>
              <a:rPr dirty="0" baseline="1543" sz="2700" spc="-157">
                <a:latin typeface="Arial"/>
                <a:cs typeface="Arial"/>
              </a:rPr>
              <a:t>أو</a:t>
            </a:r>
            <a:r>
              <a:rPr dirty="0" baseline="-1543" sz="2700" spc="-157">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1543" sz="2700">
                <a:latin typeface="Arial"/>
                <a:cs typeface="Arial"/>
              </a:rPr>
              <a:t>ٌْ </a:t>
            </a:r>
            <a:r>
              <a:rPr dirty="0" baseline="9259" sz="2700" spc="-509">
                <a:latin typeface="Arial"/>
                <a:cs typeface="Arial"/>
              </a:rPr>
              <a:t>َ</a:t>
            </a:r>
            <a:r>
              <a:rPr dirty="0" baseline="1543" sz="2700" spc="-509">
                <a:latin typeface="Arial"/>
                <a:cs typeface="Arial"/>
              </a:rPr>
              <a:t>لع</a:t>
            </a:r>
            <a:r>
              <a:rPr dirty="0" baseline="-1543" sz="2700" spc="-509">
                <a:latin typeface="Arial"/>
                <a:cs typeface="Arial"/>
              </a:rPr>
              <a:t>َ </a:t>
            </a:r>
            <a:r>
              <a:rPr dirty="0" baseline="1543" sz="2700" spc="-802">
                <a:latin typeface="Arial"/>
                <a:cs typeface="Arial"/>
              </a:rPr>
              <a:t>ت</a:t>
            </a:r>
            <a:r>
              <a:rPr dirty="0" baseline="6172" sz="2700" spc="-802">
                <a:latin typeface="Arial"/>
                <a:cs typeface="Arial"/>
              </a:rPr>
              <a:t>ُ</a:t>
            </a:r>
            <a:r>
              <a:rPr dirty="0" baseline="6172" sz="2700" spc="855">
                <a:latin typeface="Arial"/>
                <a:cs typeface="Arial"/>
              </a:rPr>
              <a:t> </a:t>
            </a:r>
            <a:r>
              <a:rPr dirty="0" baseline="1543" sz="2700" spc="-322">
                <a:latin typeface="Arial"/>
                <a:cs typeface="Arial"/>
              </a:rPr>
              <a:t>مْ </a:t>
            </a:r>
            <a:r>
              <a:rPr dirty="0" baseline="1543" sz="2700" spc="-600">
                <a:latin typeface="Arial"/>
                <a:cs typeface="Arial"/>
              </a:rPr>
              <a:t>ع</a:t>
            </a:r>
            <a:r>
              <a:rPr dirty="0" baseline="-1543" sz="2700" spc="-600">
                <a:latin typeface="Arial"/>
                <a:cs typeface="Arial"/>
              </a:rPr>
              <a:t>َ </a:t>
            </a:r>
            <a:r>
              <a:rPr dirty="0" baseline="1543" sz="2700" spc="-607">
                <a:latin typeface="Arial"/>
                <a:cs typeface="Arial"/>
              </a:rPr>
              <a:t>ن</a:t>
            </a:r>
            <a:r>
              <a:rPr dirty="0" baseline="9259" sz="2700" spc="-607">
                <a:latin typeface="Arial"/>
                <a:cs typeface="Arial"/>
              </a:rPr>
              <a:t>ْ </a:t>
            </a:r>
            <a:r>
              <a:rPr dirty="0" baseline="15432" sz="2700">
                <a:latin typeface="Arial"/>
                <a:cs typeface="Arial"/>
              </a:rPr>
              <a:t>َ</a:t>
            </a:r>
            <a:r>
              <a:rPr dirty="0" baseline="1543" sz="2700">
                <a:latin typeface="Arial"/>
                <a:cs typeface="Arial"/>
              </a:rPr>
              <a:t>أ ً</a:t>
            </a:r>
            <a:r>
              <a:rPr dirty="0" baseline="7716" sz="2700">
                <a:latin typeface="Arial"/>
                <a:cs typeface="Arial"/>
              </a:rPr>
              <a:t>ۤ </a:t>
            </a:r>
            <a:r>
              <a:rPr dirty="0" baseline="1543" sz="2700" spc="-960">
                <a:latin typeface="Arial"/>
                <a:cs typeface="Arial"/>
              </a:rPr>
              <a:t>ت</a:t>
            </a:r>
            <a:r>
              <a:rPr dirty="0" sz="1800" spc="-640">
                <a:latin typeface="Arial"/>
                <a:cs typeface="Arial"/>
              </a:rPr>
              <a:t>ِ</a:t>
            </a:r>
            <a:r>
              <a:rPr dirty="0" sz="1800" spc="-95">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a:latin typeface="Arial"/>
                <a:cs typeface="Arial"/>
              </a:rPr>
              <a:t>ً</a:t>
            </a:r>
            <a:r>
              <a:rPr dirty="0" baseline="-1543" sz="2700">
                <a:latin typeface="Arial"/>
                <a:cs typeface="Arial"/>
              </a:rPr>
              <a:t>َ </a:t>
            </a:r>
            <a:r>
              <a:rPr dirty="0" baseline="1543" sz="2700" spc="-960">
                <a:latin typeface="Arial"/>
                <a:cs typeface="Arial"/>
              </a:rPr>
              <a:t>ت</a:t>
            </a:r>
            <a:r>
              <a:rPr dirty="0" sz="1800" spc="-640">
                <a:latin typeface="Arial"/>
                <a:cs typeface="Arial"/>
              </a:rPr>
              <a:t>ِ</a:t>
            </a:r>
            <a:r>
              <a:rPr dirty="0" sz="1800" spc="-65">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569">
                <a:latin typeface="Arial"/>
                <a:cs typeface="Arial"/>
              </a:rPr>
              <a:t>عْ </a:t>
            </a:r>
            <a:r>
              <a:rPr dirty="0" baseline="1543" sz="2700" spc="-705">
                <a:latin typeface="Arial"/>
                <a:cs typeface="Arial"/>
              </a:rPr>
              <a:t>ن</a:t>
            </a:r>
            <a:r>
              <a:rPr dirty="0" sz="1800" spc="-470">
                <a:latin typeface="Arial"/>
                <a:cs typeface="Arial"/>
              </a:rPr>
              <a:t>ِ  </a:t>
            </a:r>
            <a:r>
              <a:rPr dirty="0" baseline="1543" sz="2700" spc="-277">
                <a:latin typeface="Arial"/>
                <a:cs typeface="Arial"/>
              </a:rPr>
              <a:t>ا</a:t>
            </a:r>
            <a:r>
              <a:rPr dirty="0" baseline="9259" sz="2700" spc="-277">
                <a:latin typeface="Arial"/>
                <a:cs typeface="Arial"/>
              </a:rPr>
              <a:t>ْ </a:t>
            </a:r>
            <a:r>
              <a:rPr dirty="0" baseline="1543" sz="2700" spc="-352">
                <a:latin typeface="Arial"/>
                <a:cs typeface="Arial"/>
              </a:rPr>
              <a:t>ورُ </a:t>
            </a:r>
            <a:r>
              <a:rPr dirty="0" baseline="1543" sz="2700" spc="-757">
                <a:latin typeface="Arial"/>
                <a:cs typeface="Arial"/>
              </a:rPr>
              <a:t>ك</a:t>
            </a:r>
            <a:r>
              <a:rPr dirty="0" baseline="9259" sz="2700" spc="-757">
                <a:latin typeface="Arial"/>
                <a:cs typeface="Arial"/>
              </a:rPr>
              <a:t>ُ</a:t>
            </a:r>
            <a:r>
              <a:rPr dirty="0" baseline="9259" sz="2700" spc="179">
                <a:latin typeface="Arial"/>
                <a:cs typeface="Arial"/>
              </a:rPr>
              <a:t> </a:t>
            </a:r>
            <a:r>
              <a:rPr dirty="0" baseline="1543" sz="2700" spc="-284">
                <a:latin typeface="Arial"/>
                <a:cs typeface="Arial"/>
              </a:rPr>
              <a:t>ذ</a:t>
            </a:r>
            <a:r>
              <a:rPr dirty="0" baseline="15432" sz="2700" spc="-284">
                <a:latin typeface="Arial"/>
                <a:cs typeface="Arial"/>
              </a:rPr>
              <a:t>ْ </a:t>
            </a:r>
            <a:r>
              <a:rPr dirty="0" baseline="1543" sz="2700">
                <a:latin typeface="Arial"/>
                <a:cs typeface="Arial"/>
              </a:rPr>
              <a:t>ٱ </a:t>
            </a:r>
            <a:r>
              <a:rPr dirty="0" baseline="1543" sz="2700" spc="-615">
                <a:latin typeface="Arial"/>
                <a:cs typeface="Arial"/>
              </a:rPr>
              <a:t>ل</a:t>
            </a:r>
            <a:r>
              <a:rPr dirty="0" baseline="-1543" sz="2700" spc="-615">
                <a:latin typeface="Arial"/>
                <a:cs typeface="Arial"/>
              </a:rPr>
              <a:t>َ </a:t>
            </a:r>
            <a:r>
              <a:rPr dirty="0" baseline="1543" sz="2700" spc="-577">
                <a:latin typeface="Arial"/>
                <a:cs typeface="Arial"/>
              </a:rPr>
              <a:t>ٌئ</a:t>
            </a:r>
            <a:r>
              <a:rPr dirty="0" sz="1800" spc="-385">
                <a:latin typeface="Arial"/>
                <a:cs typeface="Arial"/>
              </a:rPr>
              <a:t>ِ </a:t>
            </a:r>
            <a:r>
              <a:rPr dirty="0" baseline="1543" sz="2700" spc="-330">
                <a:latin typeface="Arial"/>
                <a:cs typeface="Arial"/>
              </a:rPr>
              <a:t>ار</a:t>
            </a:r>
            <a:r>
              <a:rPr dirty="0" baseline="-1543" sz="2700" spc="-330">
                <a:latin typeface="Arial"/>
                <a:cs typeface="Arial"/>
              </a:rPr>
              <a:t>َ </a:t>
            </a:r>
            <a:r>
              <a:rPr dirty="0" baseline="1543" sz="2700" spc="-944">
                <a:latin typeface="Arial"/>
                <a:cs typeface="Arial"/>
              </a:rPr>
              <a:t>سْ</a:t>
            </a:r>
            <a:r>
              <a:rPr dirty="0" baseline="1543" sz="2700" spc="315">
                <a:latin typeface="Arial"/>
                <a:cs typeface="Arial"/>
              </a:rPr>
              <a:t> </a:t>
            </a:r>
            <a:r>
              <a:rPr dirty="0" baseline="-12345" sz="2700">
                <a:latin typeface="Arial"/>
                <a:cs typeface="Arial"/>
              </a:rPr>
              <a:t>ِ</a:t>
            </a:r>
            <a:r>
              <a:rPr dirty="0" baseline="1543" sz="2700">
                <a:latin typeface="Arial"/>
                <a:cs typeface="Arial"/>
              </a:rPr>
              <a:t>إ </a:t>
            </a:r>
            <a:r>
              <a:rPr dirty="0" baseline="1543" sz="2700" spc="-472">
                <a:latin typeface="Arial"/>
                <a:cs typeface="Arial"/>
              </a:rPr>
              <a:t>ًن</a:t>
            </a:r>
            <a:r>
              <a:rPr dirty="0" sz="1800" spc="-315">
                <a:latin typeface="Arial"/>
                <a:cs typeface="Arial"/>
              </a:rPr>
              <a:t>ِ</a:t>
            </a:r>
            <a:r>
              <a:rPr dirty="0" sz="1800" spc="-295">
                <a:latin typeface="Arial"/>
                <a:cs typeface="Arial"/>
              </a:rPr>
              <a:t> </a:t>
            </a:r>
            <a:r>
              <a:rPr dirty="0" baseline="1543" sz="2700" spc="-892">
                <a:latin typeface="Arial"/>
                <a:cs typeface="Arial"/>
              </a:rPr>
              <a:t>ب</a:t>
            </a:r>
            <a:r>
              <a:rPr dirty="0" baseline="-1543" sz="2700" spc="-892">
                <a:latin typeface="Arial"/>
                <a:cs typeface="Arial"/>
              </a:rPr>
              <a:t>َ</a:t>
            </a:r>
            <a:r>
              <a:rPr dirty="0" baseline="-1543" sz="2700" spc="-232">
                <a:latin typeface="Arial"/>
                <a:cs typeface="Arial"/>
              </a:rPr>
              <a:t> </a:t>
            </a:r>
            <a:r>
              <a:rPr dirty="0" baseline="1543" sz="2700" spc="22">
                <a:latin typeface="Arial"/>
                <a:cs typeface="Arial"/>
              </a:rPr>
              <a:t>اٌ</a:t>
            </a:r>
            <a:endParaRPr baseline="1543" sz="2700">
              <a:latin typeface="Arial"/>
              <a:cs typeface="Arial"/>
            </a:endParaRPr>
          </a:p>
          <a:p>
            <a:pPr algn="just" marL="174625" marR="133985">
              <a:lnSpc>
                <a:spcPts val="1380"/>
              </a:lnSpc>
              <a:spcBef>
                <a:spcPts val="1380"/>
              </a:spcBef>
            </a:pPr>
            <a:r>
              <a:rPr dirty="0" sz="1200" spc="-5">
                <a:latin typeface="Arial"/>
                <a:cs typeface="Arial"/>
              </a:rPr>
              <a:t>122. </a:t>
            </a:r>
            <a:r>
              <a:rPr dirty="0" sz="1200">
                <a:latin typeface="Arial"/>
                <a:cs typeface="Arial"/>
              </a:rPr>
              <a:t>O </a:t>
            </a:r>
            <a:r>
              <a:rPr dirty="0" sz="1200" spc="-5">
                <a:latin typeface="Arial"/>
                <a:cs typeface="Arial"/>
              </a:rPr>
              <a:t>Children of Israel! Remember My favour wherewith </a:t>
            </a:r>
            <a:r>
              <a:rPr dirty="0" sz="1200">
                <a:latin typeface="Arial"/>
                <a:cs typeface="Arial"/>
              </a:rPr>
              <a:t>I </a:t>
            </a:r>
            <a:r>
              <a:rPr dirty="0" sz="1200" spc="-5">
                <a:latin typeface="Arial"/>
                <a:cs typeface="Arial"/>
              </a:rPr>
              <a:t>favoured </a:t>
            </a:r>
            <a:r>
              <a:rPr dirty="0" sz="1200" spc="-10">
                <a:latin typeface="Arial"/>
                <a:cs typeface="Arial"/>
              </a:rPr>
              <a:t>you </a:t>
            </a:r>
            <a:r>
              <a:rPr dirty="0" sz="1200" spc="10">
                <a:latin typeface="Arial"/>
                <a:cs typeface="Arial"/>
              </a:rPr>
              <a:t>and </a:t>
            </a:r>
            <a:r>
              <a:rPr dirty="0" sz="1200" spc="-5">
                <a:latin typeface="Arial"/>
                <a:cs typeface="Arial"/>
              </a:rPr>
              <a:t>how </a:t>
            </a:r>
            <a:r>
              <a:rPr dirty="0" sz="1200">
                <a:latin typeface="Arial"/>
                <a:cs typeface="Arial"/>
              </a:rPr>
              <a:t>I </a:t>
            </a:r>
            <a:r>
              <a:rPr dirty="0" sz="1200" spc="-5">
                <a:latin typeface="Arial"/>
                <a:cs typeface="Arial"/>
              </a:rPr>
              <a:t>referred  </a:t>
            </a:r>
            <a:r>
              <a:rPr dirty="0" sz="1200" spc="-10">
                <a:latin typeface="Arial"/>
                <a:cs typeface="Arial"/>
              </a:rPr>
              <a:t>you </a:t>
            </a:r>
            <a:r>
              <a:rPr dirty="0" sz="1200">
                <a:latin typeface="Arial"/>
                <a:cs typeface="Arial"/>
              </a:rPr>
              <a:t>to </a:t>
            </a:r>
            <a:r>
              <a:rPr dirty="0" sz="1200" spc="-5">
                <a:latin typeface="Arial"/>
                <a:cs typeface="Arial"/>
              </a:rPr>
              <a:t>(all)</a:t>
            </a:r>
            <a:r>
              <a:rPr dirty="0" sz="1200">
                <a:latin typeface="Arial"/>
                <a:cs typeface="Arial"/>
              </a:rPr>
              <a:t> </a:t>
            </a:r>
            <a:r>
              <a:rPr dirty="0" sz="1200" spc="-5">
                <a:latin typeface="Arial"/>
                <a:cs typeface="Arial"/>
              </a:rPr>
              <a:t>creatures.</a:t>
            </a:r>
            <a:endParaRPr sz="1200">
              <a:latin typeface="Arial"/>
              <a:cs typeface="Arial"/>
            </a:endParaRPr>
          </a:p>
          <a:p>
            <a:pPr>
              <a:lnSpc>
                <a:spcPct val="100000"/>
              </a:lnSpc>
              <a:spcBef>
                <a:spcPts val="25"/>
              </a:spcBef>
            </a:pPr>
            <a:endParaRPr sz="1150">
              <a:latin typeface="Arial"/>
              <a:cs typeface="Arial"/>
            </a:endParaRPr>
          </a:p>
          <a:p>
            <a:pPr algn="r" marR="186690">
              <a:lnSpc>
                <a:spcPts val="2120"/>
              </a:lnSpc>
            </a:pPr>
            <a:r>
              <a:rPr dirty="0" baseline="9259" sz="2700" spc="-157">
                <a:latin typeface="Arial"/>
                <a:cs typeface="Arial"/>
              </a:rPr>
              <a:t>َ</a:t>
            </a:r>
            <a:r>
              <a:rPr dirty="0" baseline="3086" sz="2700" spc="-157">
                <a:latin typeface="Arial"/>
                <a:cs typeface="Arial"/>
              </a:rPr>
              <a:t>لا </a:t>
            </a:r>
            <a:r>
              <a:rPr dirty="0" baseline="3086" sz="2700" spc="-615">
                <a:latin typeface="Arial"/>
                <a:cs typeface="Arial"/>
              </a:rPr>
              <a:t>ل</a:t>
            </a:r>
            <a:r>
              <a:rPr dirty="0" sz="1800" spc="-409">
                <a:latin typeface="Arial"/>
                <a:cs typeface="Arial"/>
              </a:rPr>
              <a:t>َ         </a:t>
            </a:r>
            <a:r>
              <a:rPr dirty="0" baseline="3086" sz="2700" spc="-487">
                <a:latin typeface="Arial"/>
                <a:cs typeface="Arial"/>
              </a:rPr>
              <a:t>اق</a:t>
            </a:r>
            <a:r>
              <a:rPr dirty="0" baseline="7716" sz="2700" spc="-487">
                <a:latin typeface="Arial"/>
                <a:cs typeface="Arial"/>
              </a:rPr>
              <a:t>َ     </a:t>
            </a:r>
            <a:r>
              <a:rPr dirty="0" baseline="3086" sz="2700" spc="-637">
                <a:latin typeface="Arial"/>
                <a:cs typeface="Arial"/>
              </a:rPr>
              <a:t>ًت</a:t>
            </a:r>
            <a:r>
              <a:rPr dirty="0" baseline="1543" sz="2700" spc="-637">
                <a:latin typeface="Arial"/>
                <a:cs typeface="Arial"/>
              </a:rPr>
              <a:t>ِ      </a:t>
            </a:r>
            <a:r>
              <a:rPr dirty="0" baseline="3086" sz="2700">
                <a:latin typeface="Arial"/>
                <a:cs typeface="Arial"/>
              </a:rPr>
              <a:t>ٌَّ </a:t>
            </a:r>
            <a:r>
              <a:rPr dirty="0" baseline="3086" sz="2700" spc="-345">
                <a:latin typeface="Arial"/>
                <a:cs typeface="Arial"/>
              </a:rPr>
              <a:t>رِّ   </a:t>
            </a:r>
            <a:r>
              <a:rPr dirty="0" baseline="3086" sz="2700" spc="-359">
                <a:latin typeface="Arial"/>
                <a:cs typeface="Arial"/>
              </a:rPr>
              <a:t>ذ</a:t>
            </a:r>
            <a:r>
              <a:rPr dirty="0" baseline="16975" sz="2700" spc="-359">
                <a:latin typeface="Arial"/>
                <a:cs typeface="Arial"/>
              </a:rPr>
              <a:t>ُ    </a:t>
            </a:r>
            <a:r>
              <a:rPr dirty="0" baseline="3086" sz="2700" spc="-240">
                <a:latin typeface="Arial"/>
                <a:cs typeface="Arial"/>
              </a:rPr>
              <a:t>نم</a:t>
            </a:r>
            <a:r>
              <a:rPr dirty="0" baseline="1543" sz="2700" spc="-240">
                <a:latin typeface="Arial"/>
                <a:cs typeface="Arial"/>
              </a:rPr>
              <a:t>ِ</a:t>
            </a:r>
            <a:r>
              <a:rPr dirty="0" baseline="1543" sz="2700" spc="270">
                <a:latin typeface="Arial"/>
                <a:cs typeface="Arial"/>
              </a:rPr>
              <a:t> </a:t>
            </a:r>
            <a:r>
              <a:rPr dirty="0" baseline="3086" sz="2700" spc="-307">
                <a:latin typeface="Arial"/>
                <a:cs typeface="Arial"/>
              </a:rPr>
              <a:t>و</a:t>
            </a:r>
            <a:r>
              <a:rPr dirty="0" sz="1800" spc="-204">
                <a:latin typeface="Arial"/>
                <a:cs typeface="Arial"/>
              </a:rPr>
              <a:t>َ   </a:t>
            </a:r>
            <a:r>
              <a:rPr dirty="0" baseline="3086" sz="2700" spc="-615">
                <a:latin typeface="Arial"/>
                <a:cs typeface="Arial"/>
              </a:rPr>
              <a:t>ل</a:t>
            </a:r>
            <a:r>
              <a:rPr dirty="0" sz="1800" spc="-409">
                <a:latin typeface="Arial"/>
                <a:cs typeface="Arial"/>
              </a:rPr>
              <a:t>َ         </a:t>
            </a:r>
            <a:r>
              <a:rPr dirty="0" baseline="3086" sz="2700" spc="-487">
                <a:latin typeface="Arial"/>
                <a:cs typeface="Arial"/>
              </a:rPr>
              <a:t>اق</a:t>
            </a:r>
            <a:r>
              <a:rPr dirty="0" baseline="7716" sz="2700" spc="-487">
                <a:latin typeface="Arial"/>
                <a:cs typeface="Arial"/>
              </a:rPr>
              <a:t>َ     </a:t>
            </a:r>
            <a:r>
              <a:rPr dirty="0" baseline="12345" sz="2700" spc="-82">
                <a:latin typeface="Arial"/>
                <a:cs typeface="Arial"/>
              </a:rPr>
              <a:t>ً</a:t>
            </a:r>
            <a:r>
              <a:rPr dirty="0" baseline="3086" sz="2700" spc="-82">
                <a:latin typeface="Arial"/>
                <a:cs typeface="Arial"/>
              </a:rPr>
              <a:t>امام</a:t>
            </a:r>
            <a:r>
              <a:rPr dirty="0" sz="1800" spc="-55">
                <a:latin typeface="Arial"/>
                <a:cs typeface="Arial"/>
              </a:rPr>
              <a:t>َ </a:t>
            </a:r>
            <a:r>
              <a:rPr dirty="0" baseline="-10802" sz="2700">
                <a:latin typeface="Arial"/>
                <a:cs typeface="Arial"/>
              </a:rPr>
              <a:t>ِ</a:t>
            </a:r>
            <a:r>
              <a:rPr dirty="0" baseline="3086" sz="2700">
                <a:latin typeface="Arial"/>
                <a:cs typeface="Arial"/>
              </a:rPr>
              <a:t>إ </a:t>
            </a:r>
            <a:r>
              <a:rPr dirty="0" baseline="3086" sz="2700" spc="-869">
                <a:latin typeface="Arial"/>
                <a:cs typeface="Arial"/>
              </a:rPr>
              <a:t>س</a:t>
            </a:r>
            <a:r>
              <a:rPr dirty="0" baseline="-10802" sz="2700" spc="-869">
                <a:latin typeface="Arial"/>
                <a:cs typeface="Arial"/>
              </a:rPr>
              <a:t>ِ</a:t>
            </a:r>
            <a:r>
              <a:rPr dirty="0" baseline="-10802" sz="2700" spc="997">
                <a:latin typeface="Arial"/>
                <a:cs typeface="Arial"/>
              </a:rPr>
              <a:t> </a:t>
            </a:r>
            <a:r>
              <a:rPr dirty="0" baseline="3086" sz="2700" spc="-322">
                <a:latin typeface="Arial"/>
                <a:cs typeface="Arial"/>
              </a:rPr>
              <a:t>ان</a:t>
            </a:r>
            <a:r>
              <a:rPr dirty="0" baseline="10802" sz="2700" spc="-322">
                <a:latin typeface="Arial"/>
                <a:cs typeface="Arial"/>
              </a:rPr>
              <a:t>َّ </a:t>
            </a:r>
            <a:r>
              <a:rPr dirty="0" baseline="3086" sz="2700" spc="-547">
                <a:latin typeface="Arial"/>
                <a:cs typeface="Arial"/>
              </a:rPr>
              <a:t>ل</a:t>
            </a:r>
            <a:r>
              <a:rPr dirty="0" baseline="1543" sz="2700" spc="-547">
                <a:latin typeface="Arial"/>
                <a:cs typeface="Arial"/>
              </a:rPr>
              <a:t>ِ</a:t>
            </a:r>
            <a:r>
              <a:rPr dirty="0" baseline="3086" sz="2700" spc="-547">
                <a:latin typeface="Arial"/>
                <a:cs typeface="Arial"/>
              </a:rPr>
              <a:t>ل    </a:t>
            </a:r>
            <a:r>
              <a:rPr dirty="0" baseline="3086" sz="2700" spc="-682">
                <a:latin typeface="Arial"/>
                <a:cs typeface="Arial"/>
              </a:rPr>
              <a:t>ك</a:t>
            </a:r>
            <a:r>
              <a:rPr dirty="0" sz="1800" spc="-455">
                <a:latin typeface="Arial"/>
                <a:cs typeface="Arial"/>
              </a:rPr>
              <a:t>َ                   </a:t>
            </a:r>
            <a:r>
              <a:rPr dirty="0" baseline="13888" sz="2700" spc="-502">
                <a:latin typeface="Arial"/>
                <a:cs typeface="Arial"/>
              </a:rPr>
              <a:t>ُ</a:t>
            </a:r>
            <a:r>
              <a:rPr dirty="0" baseline="3086" sz="2700" spc="-502">
                <a:latin typeface="Arial"/>
                <a:cs typeface="Arial"/>
              </a:rPr>
              <a:t>لع</a:t>
            </a:r>
            <a:r>
              <a:rPr dirty="0" baseline="1543" sz="2700" spc="-502">
                <a:latin typeface="Arial"/>
                <a:cs typeface="Arial"/>
              </a:rPr>
              <a:t>ِ     </a:t>
            </a:r>
            <a:r>
              <a:rPr dirty="0" baseline="3086" sz="2700" spc="-382">
                <a:latin typeface="Arial"/>
                <a:cs typeface="Arial"/>
              </a:rPr>
              <a:t>اج</a:t>
            </a:r>
            <a:r>
              <a:rPr dirty="0" sz="1800" spc="-254">
                <a:latin typeface="Arial"/>
                <a:cs typeface="Arial"/>
              </a:rPr>
              <a:t>َ     </a:t>
            </a:r>
            <a:r>
              <a:rPr dirty="0" baseline="3086" sz="2700" spc="-337">
                <a:latin typeface="Arial"/>
                <a:cs typeface="Arial"/>
              </a:rPr>
              <a:t>ًن</a:t>
            </a:r>
            <a:r>
              <a:rPr dirty="0" baseline="10802" sz="2700" spc="-337">
                <a:latin typeface="Arial"/>
                <a:cs typeface="Arial"/>
              </a:rPr>
              <a:t>ِّ </a:t>
            </a:r>
            <a:r>
              <a:rPr dirty="0" baseline="-10802" sz="2700">
                <a:latin typeface="Arial"/>
                <a:cs typeface="Arial"/>
              </a:rPr>
              <a:t>ِ</a:t>
            </a:r>
            <a:r>
              <a:rPr dirty="0" baseline="3086" sz="2700">
                <a:latin typeface="Arial"/>
                <a:cs typeface="Arial"/>
              </a:rPr>
              <a:t>إ </a:t>
            </a:r>
            <a:r>
              <a:rPr dirty="0" baseline="3086" sz="2700" spc="-615">
                <a:latin typeface="Arial"/>
                <a:cs typeface="Arial"/>
              </a:rPr>
              <a:t>ل</a:t>
            </a:r>
            <a:r>
              <a:rPr dirty="0" sz="1800" spc="-409">
                <a:latin typeface="Arial"/>
                <a:cs typeface="Arial"/>
              </a:rPr>
              <a:t>َ         </a:t>
            </a:r>
            <a:r>
              <a:rPr dirty="0" baseline="3086" sz="2700" spc="-487">
                <a:latin typeface="Arial"/>
                <a:cs typeface="Arial"/>
              </a:rPr>
              <a:t>اق</a:t>
            </a:r>
            <a:r>
              <a:rPr dirty="0" baseline="7716" sz="2700" spc="-487">
                <a:latin typeface="Arial"/>
                <a:cs typeface="Arial"/>
              </a:rPr>
              <a:t>َ     </a:t>
            </a:r>
            <a:r>
              <a:rPr dirty="0" baseline="3086" sz="2700" spc="-345">
                <a:latin typeface="Arial"/>
                <a:cs typeface="Arial"/>
              </a:rPr>
              <a:t>نَّ   </a:t>
            </a:r>
            <a:r>
              <a:rPr dirty="0" baseline="3086" sz="2700" spc="-359">
                <a:latin typeface="Arial"/>
                <a:cs typeface="Arial"/>
              </a:rPr>
              <a:t>هُ   </a:t>
            </a:r>
            <a:r>
              <a:rPr dirty="0" baseline="3086" sz="2700" spc="-254">
                <a:latin typeface="Arial"/>
                <a:cs typeface="Arial"/>
              </a:rPr>
              <a:t>مَّ  </a:t>
            </a:r>
            <a:r>
              <a:rPr dirty="0" baseline="3086" sz="2700" spc="-892">
                <a:latin typeface="Arial"/>
                <a:cs typeface="Arial"/>
              </a:rPr>
              <a:t>ت</a:t>
            </a:r>
            <a:r>
              <a:rPr dirty="0" baseline="7716" sz="2700" spc="-892">
                <a:latin typeface="Arial"/>
                <a:cs typeface="Arial"/>
              </a:rPr>
              <a:t>َ</a:t>
            </a:r>
            <a:r>
              <a:rPr dirty="0" baseline="7716" sz="2700" spc="-337">
                <a:latin typeface="Arial"/>
                <a:cs typeface="Arial"/>
              </a:rPr>
              <a:t> </a:t>
            </a:r>
            <a:r>
              <a:rPr dirty="0" baseline="16975" sz="2700" spc="-660">
                <a:latin typeface="Arial"/>
                <a:cs typeface="Arial"/>
              </a:rPr>
              <a:t>َ</a:t>
            </a:r>
            <a:r>
              <a:rPr dirty="0" baseline="3086" sz="2700" spc="-660">
                <a:latin typeface="Arial"/>
                <a:cs typeface="Arial"/>
              </a:rPr>
              <a:t>ؤف</a:t>
            </a:r>
            <a:r>
              <a:rPr dirty="0" baseline="7716" sz="2700" spc="-660">
                <a:latin typeface="Arial"/>
                <a:cs typeface="Arial"/>
              </a:rPr>
              <a:t>َ                </a:t>
            </a:r>
            <a:r>
              <a:rPr dirty="0" baseline="3086" sz="2700" spc="-869">
                <a:latin typeface="Arial"/>
                <a:cs typeface="Arial"/>
              </a:rPr>
              <a:t>تٍ</a:t>
            </a:r>
            <a:r>
              <a:rPr dirty="0" baseline="3086" sz="2700" spc="1005">
                <a:latin typeface="Arial"/>
                <a:cs typeface="Arial"/>
              </a:rPr>
              <a:t> </a:t>
            </a:r>
            <a:r>
              <a:rPr dirty="0" baseline="3086" sz="2700" spc="-225">
                <a:latin typeface="Arial"/>
                <a:cs typeface="Arial"/>
              </a:rPr>
              <a:t>ام</a:t>
            </a:r>
            <a:r>
              <a:rPr dirty="0" sz="1800" spc="-150">
                <a:latin typeface="Arial"/>
                <a:cs typeface="Arial"/>
              </a:rPr>
              <a:t>َ  </a:t>
            </a:r>
            <a:r>
              <a:rPr dirty="0" baseline="1543" sz="2700" spc="-562">
                <a:latin typeface="Arial"/>
                <a:cs typeface="Arial"/>
              </a:rPr>
              <a:t>ِ</a:t>
            </a:r>
            <a:r>
              <a:rPr dirty="0" baseline="3086" sz="2700" spc="-562">
                <a:latin typeface="Arial"/>
                <a:cs typeface="Arial"/>
              </a:rPr>
              <a:t>لك</a:t>
            </a:r>
            <a:r>
              <a:rPr dirty="0" baseline="7716" sz="2700" spc="-562">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667">
                <a:latin typeface="Arial"/>
                <a:cs typeface="Arial"/>
              </a:rPr>
              <a:t> </a:t>
            </a:r>
            <a:r>
              <a:rPr dirty="0" baseline="3086" sz="2700" spc="-330">
                <a:latin typeface="Arial"/>
                <a:cs typeface="Arial"/>
              </a:rPr>
              <a:t>هُ  </a:t>
            </a:r>
            <a:r>
              <a:rPr dirty="0" baseline="3086" sz="2700" spc="-607">
                <a:latin typeface="Arial"/>
                <a:cs typeface="Arial"/>
              </a:rPr>
              <a:t>بُّ    </a:t>
            </a:r>
            <a:r>
              <a:rPr dirty="0" baseline="3086" sz="2700" spc="-494">
                <a:latin typeface="Arial"/>
                <a:cs typeface="Arial"/>
              </a:rPr>
              <a:t>ر</a:t>
            </a:r>
            <a:r>
              <a:rPr dirty="0" sz="1800" spc="-330">
                <a:latin typeface="Arial"/>
                <a:cs typeface="Arial"/>
              </a:rPr>
              <a:t>َ       </a:t>
            </a:r>
            <a:r>
              <a:rPr dirty="0" baseline="3086" sz="2700" spc="-390">
                <a:latin typeface="Arial"/>
                <a:cs typeface="Arial"/>
              </a:rPr>
              <a:t>م</a:t>
            </a:r>
            <a:r>
              <a:rPr dirty="0" baseline="-6172" sz="2700" spc="-390">
                <a:latin typeface="Arial"/>
                <a:cs typeface="Arial"/>
              </a:rPr>
              <a:t>َ  </a:t>
            </a:r>
            <a:r>
              <a:rPr dirty="0" baseline="3086" sz="2700" spc="-209">
                <a:latin typeface="Arial"/>
                <a:cs typeface="Arial"/>
              </a:rPr>
              <a:t>ٌه</a:t>
            </a:r>
            <a:r>
              <a:rPr dirty="0" baseline="1543" sz="2700" spc="-209">
                <a:latin typeface="Arial"/>
                <a:cs typeface="Arial"/>
              </a:rPr>
              <a:t>ِ  </a:t>
            </a:r>
            <a:r>
              <a:rPr dirty="0" baseline="3086" sz="2700" spc="-330">
                <a:latin typeface="Arial"/>
                <a:cs typeface="Arial"/>
              </a:rPr>
              <a:t>ار</a:t>
            </a:r>
            <a:r>
              <a:rPr dirty="0" sz="1800" spc="-220">
                <a:latin typeface="Arial"/>
                <a:cs typeface="Arial"/>
              </a:rPr>
              <a:t>َ  </a:t>
            </a:r>
            <a:r>
              <a:rPr dirty="0" baseline="3086" sz="2700" spc="-862">
                <a:latin typeface="Arial"/>
                <a:cs typeface="Arial"/>
              </a:rPr>
              <a:t>بْ</a:t>
            </a:r>
            <a:r>
              <a:rPr dirty="0" baseline="3086" sz="2700" spc="-330">
                <a:latin typeface="Arial"/>
                <a:cs typeface="Arial"/>
              </a:rPr>
              <a:t> </a:t>
            </a:r>
            <a:r>
              <a:rPr dirty="0" baseline="-10802" sz="2700">
                <a:latin typeface="Arial"/>
                <a:cs typeface="Arial"/>
              </a:rPr>
              <a:t>ِ</a:t>
            </a:r>
            <a:r>
              <a:rPr dirty="0" baseline="3086" sz="2700">
                <a:latin typeface="Arial"/>
                <a:cs typeface="Arial"/>
              </a:rPr>
              <a:t>إ </a:t>
            </a:r>
            <a:r>
              <a:rPr dirty="0" baseline="3086" sz="2700" spc="-532">
                <a:latin typeface="Arial"/>
                <a:cs typeface="Arial"/>
              </a:rPr>
              <a:t>ى</a:t>
            </a:r>
            <a:r>
              <a:rPr dirty="0" baseline="7716" sz="2700" spc="-532">
                <a:latin typeface="Arial"/>
                <a:cs typeface="Arial"/>
              </a:rPr>
              <a:t>ٰ    </a:t>
            </a:r>
            <a:r>
              <a:rPr dirty="0" baseline="10802" sz="2700" spc="-652">
                <a:latin typeface="Arial"/>
                <a:cs typeface="Arial"/>
              </a:rPr>
              <a:t>َ</a:t>
            </a:r>
            <a:r>
              <a:rPr dirty="0" baseline="3086" sz="2700" spc="-652">
                <a:latin typeface="Arial"/>
                <a:cs typeface="Arial"/>
              </a:rPr>
              <a:t>لت</a:t>
            </a:r>
            <a:r>
              <a:rPr dirty="0" baseline="7716" sz="2700" spc="-652">
                <a:latin typeface="Arial"/>
                <a:cs typeface="Arial"/>
              </a:rPr>
              <a:t>َ     </a:t>
            </a:r>
            <a:r>
              <a:rPr dirty="0" baseline="3086" sz="2700" spc="-869">
                <a:latin typeface="Arial"/>
                <a:cs typeface="Arial"/>
              </a:rPr>
              <a:t>بْ</a:t>
            </a:r>
            <a:r>
              <a:rPr dirty="0" baseline="3086" sz="2700" spc="-300">
                <a:latin typeface="Arial"/>
                <a:cs typeface="Arial"/>
              </a:rPr>
              <a:t> </a:t>
            </a:r>
            <a:r>
              <a:rPr dirty="0" baseline="3086" sz="2700">
                <a:latin typeface="Arial"/>
                <a:cs typeface="Arial"/>
              </a:rPr>
              <a:t>ٱ </a:t>
            </a:r>
            <a:r>
              <a:rPr dirty="0" baseline="3086" sz="2700" spc="-352">
                <a:latin typeface="Arial"/>
                <a:cs typeface="Arial"/>
              </a:rPr>
              <a:t>ذ</a:t>
            </a:r>
            <a:r>
              <a:rPr dirty="0" baseline="1543" sz="2700" spc="-352">
                <a:latin typeface="Arial"/>
                <a:cs typeface="Arial"/>
              </a:rPr>
              <a:t>ِ</a:t>
            </a:r>
            <a:r>
              <a:rPr dirty="0" baseline="1543" sz="2700" spc="-262">
                <a:latin typeface="Arial"/>
                <a:cs typeface="Arial"/>
              </a:rPr>
              <a:t> </a:t>
            </a:r>
            <a:r>
              <a:rPr dirty="0" baseline="-10802" sz="2700" spc="-209">
                <a:latin typeface="Arial"/>
                <a:cs typeface="Arial"/>
              </a:rPr>
              <a:t>ِ</a:t>
            </a:r>
            <a:r>
              <a:rPr dirty="0" baseline="3086" sz="2700" spc="-209">
                <a:latin typeface="Arial"/>
                <a:cs typeface="Arial"/>
              </a:rPr>
              <a:t>إو</a:t>
            </a:r>
            <a:endParaRPr baseline="3086" sz="2700">
              <a:latin typeface="Arial"/>
              <a:cs typeface="Arial"/>
            </a:endParaRPr>
          </a:p>
          <a:p>
            <a:pPr algn="r" marR="178435">
              <a:lnSpc>
                <a:spcPts val="2120"/>
              </a:lnSpc>
            </a:pPr>
            <a:r>
              <a:rPr dirty="0" baseline="3086" sz="2700" spc="-494">
                <a:latin typeface="Arial"/>
                <a:cs typeface="Arial"/>
              </a:rPr>
              <a:t>ن</a:t>
            </a:r>
            <a:r>
              <a:rPr dirty="0" sz="1800" spc="-330">
                <a:latin typeface="Arial"/>
                <a:cs typeface="Arial"/>
              </a:rPr>
              <a:t>َ    </a:t>
            </a:r>
            <a:r>
              <a:rPr dirty="0" baseline="3086" sz="2700" spc="-240">
                <a:latin typeface="Arial"/>
                <a:cs typeface="Arial"/>
              </a:rPr>
              <a:t>ٌم</a:t>
            </a:r>
            <a:r>
              <a:rPr dirty="0" baseline="1543" sz="2700" spc="-240">
                <a:latin typeface="Arial"/>
                <a:cs typeface="Arial"/>
              </a:rPr>
              <a:t>ِ  </a:t>
            </a:r>
            <a:r>
              <a:rPr dirty="0" baseline="1543" sz="2700" spc="-352">
                <a:latin typeface="Arial"/>
                <a:cs typeface="Arial"/>
              </a:rPr>
              <a:t>ِ</a:t>
            </a:r>
            <a:r>
              <a:rPr dirty="0" baseline="3086" sz="2700" spc="-352">
                <a:latin typeface="Arial"/>
                <a:cs typeface="Arial"/>
              </a:rPr>
              <a:t>لاظ</a:t>
            </a:r>
            <a:r>
              <a:rPr dirty="0" baseline="15432" sz="2700" spc="-352">
                <a:latin typeface="Arial"/>
                <a:cs typeface="Arial"/>
              </a:rPr>
              <a:t>َّ   </a:t>
            </a:r>
            <a:r>
              <a:rPr dirty="0" baseline="3086" sz="2700" spc="-412">
                <a:latin typeface="Arial"/>
                <a:cs typeface="Arial"/>
              </a:rPr>
              <a:t>لٱ  </a:t>
            </a:r>
            <a:r>
              <a:rPr dirty="0" baseline="3086" sz="2700" spc="-240">
                <a:latin typeface="Arial"/>
                <a:cs typeface="Arial"/>
              </a:rPr>
              <a:t>يد</a:t>
            </a:r>
            <a:r>
              <a:rPr dirty="0" baseline="1543" sz="2700" spc="-240">
                <a:latin typeface="Arial"/>
                <a:cs typeface="Arial"/>
              </a:rPr>
              <a:t>ِ </a:t>
            </a:r>
            <a:r>
              <a:rPr dirty="0" baseline="3086" sz="2700" spc="-284">
                <a:latin typeface="Arial"/>
                <a:cs typeface="Arial"/>
              </a:rPr>
              <a:t>هْ  </a:t>
            </a:r>
            <a:r>
              <a:rPr dirty="0" baseline="3086" sz="2700" spc="-607">
                <a:latin typeface="Arial"/>
                <a:cs typeface="Arial"/>
              </a:rPr>
              <a:t>ع</a:t>
            </a:r>
            <a:r>
              <a:rPr dirty="0" sz="1800" spc="-405">
                <a:latin typeface="Arial"/>
                <a:cs typeface="Arial"/>
              </a:rPr>
              <a:t>َ           </a:t>
            </a:r>
            <a:r>
              <a:rPr dirty="0" sz="1800" spc="-310">
                <a:latin typeface="Arial"/>
                <a:cs typeface="Arial"/>
              </a:rPr>
              <a:t> </a:t>
            </a:r>
            <a:r>
              <a:rPr dirty="0" baseline="3086" sz="2700" spc="-652">
                <a:latin typeface="Arial"/>
                <a:cs typeface="Arial"/>
              </a:rPr>
              <a:t>لُ             </a:t>
            </a:r>
            <a:r>
              <a:rPr dirty="0" baseline="3086" sz="2700" spc="-412">
                <a:latin typeface="Arial"/>
                <a:cs typeface="Arial"/>
              </a:rPr>
              <a:t>ان</a:t>
            </a:r>
            <a:r>
              <a:rPr dirty="0" baseline="7716" sz="2700" spc="-412">
                <a:latin typeface="Arial"/>
                <a:cs typeface="Arial"/>
              </a:rPr>
              <a:t>َ</a:t>
            </a:r>
            <a:r>
              <a:rPr dirty="0" baseline="7716" sz="2700" spc="-150">
                <a:latin typeface="Arial"/>
                <a:cs typeface="Arial"/>
              </a:rPr>
              <a:t> </a:t>
            </a:r>
            <a:r>
              <a:rPr dirty="0" baseline="3086" sz="2700">
                <a:latin typeface="Arial"/>
                <a:cs typeface="Arial"/>
              </a:rPr>
              <a:t>ٌ</a:t>
            </a:r>
            <a:endParaRPr baseline="3086" sz="2700">
              <a:latin typeface="Arial"/>
              <a:cs typeface="Arial"/>
            </a:endParaRPr>
          </a:p>
        </p:txBody>
      </p:sp>
      <p:sp>
        <p:nvSpPr>
          <p:cNvPr id="13" name="object 13"/>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14" name="object 14"/>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58</a:t>
            </a:r>
          </a:p>
        </p:txBody>
      </p:sp>
      <p:sp>
        <p:nvSpPr>
          <p:cNvPr id="6" name="object 6"/>
          <p:cNvSpPr txBox="1"/>
          <p:nvPr/>
        </p:nvSpPr>
        <p:spPr>
          <a:xfrm>
            <a:off x="2313177" y="6655689"/>
            <a:ext cx="4555490" cy="299720"/>
          </a:xfrm>
          <a:prstGeom prst="rect">
            <a:avLst/>
          </a:prstGeom>
        </p:spPr>
        <p:txBody>
          <a:bodyPr wrap="square" lIns="0" tIns="12700" rIns="0" bIns="0" rtlCol="0" vert="horz">
            <a:spAutoFit/>
          </a:bodyPr>
          <a:lstStyle/>
          <a:p>
            <a:pPr marL="50800">
              <a:lnSpc>
                <a:spcPct val="100000"/>
              </a:lnSpc>
              <a:spcBef>
                <a:spcPts val="100"/>
              </a:spcBef>
            </a:pPr>
            <a:r>
              <a:rPr dirty="0" sz="1800">
                <a:latin typeface="Arial"/>
                <a:cs typeface="Arial"/>
              </a:rPr>
              <a:t>َ </a:t>
            </a:r>
            <a:r>
              <a:rPr dirty="0" baseline="3086" sz="2700" spc="-397">
                <a:latin typeface="Arial"/>
                <a:cs typeface="Arial"/>
              </a:rPr>
              <a:t>مُ </a:t>
            </a:r>
            <a:r>
              <a:rPr dirty="0" baseline="3086" sz="2700" spc="-390">
                <a:latin typeface="Arial"/>
                <a:cs typeface="Arial"/>
              </a:rPr>
              <a:t>م</a:t>
            </a:r>
            <a:r>
              <a:rPr dirty="0" baseline="-6172" sz="2700" spc="-390">
                <a:latin typeface="Arial"/>
                <a:cs typeface="Arial"/>
              </a:rPr>
              <a:t>َ </a:t>
            </a:r>
            <a:r>
              <a:rPr dirty="0" baseline="3086" sz="2700" spc="-202">
                <a:latin typeface="Arial"/>
                <a:cs typeface="Arial"/>
              </a:rPr>
              <a:t>ٌه</a:t>
            </a:r>
            <a:r>
              <a:rPr dirty="0" baseline="1543" sz="2700" spc="-202">
                <a:latin typeface="Arial"/>
                <a:cs typeface="Arial"/>
              </a:rPr>
              <a:t>ِ </a:t>
            </a:r>
            <a:r>
              <a:rPr dirty="0" baseline="3086" sz="2700" spc="-330">
                <a:latin typeface="Arial"/>
                <a:cs typeface="Arial"/>
              </a:rPr>
              <a:t>ار</a:t>
            </a:r>
            <a:r>
              <a:rPr dirty="0" sz="1800" spc="-220">
                <a:latin typeface="Arial"/>
                <a:cs typeface="Arial"/>
              </a:rPr>
              <a:t>َ </a:t>
            </a:r>
            <a:r>
              <a:rPr dirty="0" baseline="3086" sz="2700" spc="-862">
                <a:latin typeface="Arial"/>
                <a:cs typeface="Arial"/>
              </a:rPr>
              <a:t>بْ</a:t>
            </a:r>
            <a:r>
              <a:rPr dirty="0" baseline="3086" sz="2700" spc="-337">
                <a:latin typeface="Arial"/>
                <a:cs typeface="Arial"/>
              </a:rPr>
              <a:t> </a:t>
            </a:r>
            <a:r>
              <a:rPr dirty="0" baseline="-10802" sz="2700">
                <a:latin typeface="Arial"/>
                <a:cs typeface="Arial"/>
              </a:rPr>
              <a:t>ِ</a:t>
            </a:r>
            <a:r>
              <a:rPr dirty="0" baseline="3086" sz="2700">
                <a:latin typeface="Arial"/>
                <a:cs typeface="Arial"/>
              </a:rPr>
              <a:t>إ </a:t>
            </a:r>
            <a:r>
              <a:rPr dirty="0" baseline="3086" sz="2700" spc="-315">
                <a:latin typeface="Arial"/>
                <a:cs typeface="Arial"/>
              </a:rPr>
              <a:t>م</a:t>
            </a:r>
            <a:r>
              <a:rPr dirty="0" baseline="-13888" sz="2700" spc="-315">
                <a:latin typeface="Arial"/>
                <a:cs typeface="Arial"/>
              </a:rPr>
              <a:t>ِ </a:t>
            </a:r>
            <a:r>
              <a:rPr dirty="0" baseline="3086" sz="2700" spc="-487">
                <a:latin typeface="Arial"/>
                <a:cs typeface="Arial"/>
              </a:rPr>
              <a:t>اق</a:t>
            </a:r>
            <a:r>
              <a:rPr dirty="0" baseline="7716" sz="2700" spc="-487">
                <a:latin typeface="Arial"/>
                <a:cs typeface="Arial"/>
              </a:rPr>
              <a:t>َ </a:t>
            </a:r>
            <a:r>
              <a:rPr dirty="0" baseline="3086" sz="2700" spc="-254">
                <a:latin typeface="Arial"/>
                <a:cs typeface="Arial"/>
              </a:rPr>
              <a:t>مَّ  </a:t>
            </a:r>
            <a:r>
              <a:rPr dirty="0" baseline="3086" sz="2700" spc="-240">
                <a:latin typeface="Arial"/>
                <a:cs typeface="Arial"/>
              </a:rPr>
              <a:t>نم</a:t>
            </a:r>
            <a:r>
              <a:rPr dirty="0" baseline="1543" sz="2700" spc="-240">
                <a:latin typeface="Arial"/>
                <a:cs typeface="Arial"/>
              </a:rPr>
              <a:t>ِ </a:t>
            </a:r>
            <a:r>
              <a:rPr dirty="0" baseline="3086" sz="2700" spc="-262">
                <a:latin typeface="Arial"/>
                <a:cs typeface="Arial"/>
              </a:rPr>
              <a:t>ا</a:t>
            </a:r>
            <a:r>
              <a:rPr dirty="0" baseline="10802" sz="2700" spc="-262">
                <a:latin typeface="Arial"/>
                <a:cs typeface="Arial"/>
              </a:rPr>
              <a:t>ْ </a:t>
            </a:r>
            <a:r>
              <a:rPr dirty="0" baseline="3086" sz="2700" spc="-240">
                <a:latin typeface="Arial"/>
                <a:cs typeface="Arial"/>
              </a:rPr>
              <a:t>وذ</a:t>
            </a:r>
            <a:r>
              <a:rPr dirty="0" baseline="16975" sz="2700" spc="-240">
                <a:latin typeface="Arial"/>
                <a:cs typeface="Arial"/>
              </a:rPr>
              <a:t>ُ </a:t>
            </a:r>
            <a:r>
              <a:rPr dirty="0" baseline="3086" sz="2700" spc="-719">
                <a:latin typeface="Arial"/>
                <a:cs typeface="Arial"/>
              </a:rPr>
              <a:t>خ</a:t>
            </a:r>
            <a:r>
              <a:rPr dirty="0" baseline="1543" sz="2700" spc="-719">
                <a:latin typeface="Arial"/>
                <a:cs typeface="Arial"/>
              </a:rPr>
              <a:t>ِ  </a:t>
            </a:r>
            <a:r>
              <a:rPr dirty="0" baseline="3086" sz="2700" spc="-607">
                <a:latin typeface="Arial"/>
                <a:cs typeface="Arial"/>
              </a:rPr>
              <a:t>ت</a:t>
            </a:r>
            <a:r>
              <a:rPr dirty="0" baseline="10802" sz="2700" spc="-607">
                <a:latin typeface="Arial"/>
                <a:cs typeface="Arial"/>
              </a:rPr>
              <a:t>َّ </a:t>
            </a:r>
            <a:r>
              <a:rPr dirty="0" baseline="3086" sz="2700" spc="-209">
                <a:latin typeface="Arial"/>
                <a:cs typeface="Arial"/>
              </a:rPr>
              <a:t>ٱو</a:t>
            </a:r>
            <a:r>
              <a:rPr dirty="0" sz="1800" spc="-140">
                <a:latin typeface="Arial"/>
                <a:cs typeface="Arial"/>
              </a:rPr>
              <a:t>َ </a:t>
            </a:r>
            <a:r>
              <a:rPr dirty="0" baseline="12345" sz="2700" spc="-277">
                <a:latin typeface="Arial"/>
                <a:cs typeface="Arial"/>
              </a:rPr>
              <a:t>ً</a:t>
            </a:r>
            <a:r>
              <a:rPr dirty="0" baseline="3086" sz="2700" spc="-277">
                <a:latin typeface="Arial"/>
                <a:cs typeface="Arial"/>
              </a:rPr>
              <a:t>انمْ </a:t>
            </a:r>
            <a:r>
              <a:rPr dirty="0" baseline="16975" sz="2700" spc="-157">
                <a:latin typeface="Arial"/>
                <a:cs typeface="Arial"/>
              </a:rPr>
              <a:t>َ</a:t>
            </a:r>
            <a:r>
              <a:rPr dirty="0" baseline="3086" sz="2700" spc="-157">
                <a:latin typeface="Arial"/>
                <a:cs typeface="Arial"/>
              </a:rPr>
              <a:t>أو</a:t>
            </a:r>
            <a:r>
              <a:rPr dirty="0" sz="1800" spc="-105">
                <a:latin typeface="Arial"/>
                <a:cs typeface="Arial"/>
              </a:rPr>
              <a:t>َ </a:t>
            </a:r>
            <a:r>
              <a:rPr dirty="0" baseline="3086" sz="2700" spc="-869">
                <a:latin typeface="Arial"/>
                <a:cs typeface="Arial"/>
              </a:rPr>
              <a:t>س</a:t>
            </a:r>
            <a:r>
              <a:rPr dirty="0" baseline="-10802" sz="2700" spc="-869">
                <a:latin typeface="Arial"/>
                <a:cs typeface="Arial"/>
              </a:rPr>
              <a:t>ِ</a:t>
            </a:r>
            <a:r>
              <a:rPr dirty="0" baseline="-10802" sz="2700" spc="989">
                <a:latin typeface="Arial"/>
                <a:cs typeface="Arial"/>
              </a:rPr>
              <a:t> </a:t>
            </a:r>
            <a:r>
              <a:rPr dirty="0" baseline="3086" sz="2700" spc="-322">
                <a:latin typeface="Arial"/>
                <a:cs typeface="Arial"/>
              </a:rPr>
              <a:t>ان</a:t>
            </a:r>
            <a:r>
              <a:rPr dirty="0" baseline="10802" sz="2700" spc="-322">
                <a:latin typeface="Arial"/>
                <a:cs typeface="Arial"/>
              </a:rPr>
              <a:t>َّ </a:t>
            </a:r>
            <a:r>
              <a:rPr dirty="0" baseline="3086" sz="2700" spc="-419">
                <a:latin typeface="Arial"/>
                <a:cs typeface="Arial"/>
              </a:rPr>
              <a:t>ل</a:t>
            </a:r>
            <a:r>
              <a:rPr dirty="0" baseline="13888" sz="2700" spc="-419">
                <a:latin typeface="Arial"/>
                <a:cs typeface="Arial"/>
              </a:rPr>
              <a:t>ِّ</a:t>
            </a:r>
            <a:r>
              <a:rPr dirty="0" baseline="3086" sz="2700" spc="-419">
                <a:latin typeface="Arial"/>
                <a:cs typeface="Arial"/>
              </a:rPr>
              <a:t>ل </a:t>
            </a:r>
            <a:r>
              <a:rPr dirty="0" baseline="3086" sz="2700" spc="-284">
                <a:latin typeface="Arial"/>
                <a:cs typeface="Arial"/>
              </a:rPr>
              <a:t>ة</a:t>
            </a:r>
            <a:r>
              <a:rPr dirty="0" baseline="15432" sz="2700" spc="-284">
                <a:latin typeface="Arial"/>
                <a:cs typeface="Arial"/>
              </a:rPr>
              <a:t>ً </a:t>
            </a:r>
            <a:r>
              <a:rPr dirty="0" baseline="3086" sz="2700" spc="-892">
                <a:latin typeface="Arial"/>
                <a:cs typeface="Arial"/>
              </a:rPr>
              <a:t>ب</a:t>
            </a:r>
            <a:r>
              <a:rPr dirty="0" sz="1800" spc="-595">
                <a:latin typeface="Arial"/>
                <a:cs typeface="Arial"/>
              </a:rPr>
              <a:t>َ</a:t>
            </a:r>
            <a:r>
              <a:rPr dirty="0" sz="1800" spc="-150">
                <a:latin typeface="Arial"/>
                <a:cs typeface="Arial"/>
              </a:rPr>
              <a:t> </a:t>
            </a:r>
            <a:r>
              <a:rPr dirty="0" baseline="3086" sz="2700" spc="-585">
                <a:latin typeface="Arial"/>
                <a:cs typeface="Arial"/>
              </a:rPr>
              <a:t>اث</a:t>
            </a:r>
            <a:r>
              <a:rPr dirty="0" baseline="13888" sz="2700" spc="-585">
                <a:latin typeface="Arial"/>
                <a:cs typeface="Arial"/>
              </a:rPr>
              <a:t>َ </a:t>
            </a:r>
            <a:r>
              <a:rPr dirty="0" baseline="3086" sz="2700" spc="-359">
                <a:latin typeface="Arial"/>
                <a:cs typeface="Arial"/>
              </a:rPr>
              <a:t>م</a:t>
            </a:r>
            <a:r>
              <a:rPr dirty="0" sz="1800" spc="-240">
                <a:latin typeface="Arial"/>
                <a:cs typeface="Arial"/>
              </a:rPr>
              <a:t>َ </a:t>
            </a:r>
            <a:r>
              <a:rPr dirty="0" baseline="3086" sz="2700" spc="-780">
                <a:latin typeface="Arial"/>
                <a:cs typeface="Arial"/>
              </a:rPr>
              <a:t>ت</a:t>
            </a:r>
            <a:r>
              <a:rPr dirty="0" baseline="4629" sz="2700" spc="-780">
                <a:latin typeface="Arial"/>
                <a:cs typeface="Arial"/>
              </a:rPr>
              <a:t>َ</a:t>
            </a:r>
            <a:r>
              <a:rPr dirty="0" baseline="4629" sz="2700" spc="780">
                <a:latin typeface="Arial"/>
                <a:cs typeface="Arial"/>
              </a:rPr>
              <a:t> </a:t>
            </a:r>
            <a:r>
              <a:rPr dirty="0" baseline="3086" sz="2700">
                <a:latin typeface="Arial"/>
                <a:cs typeface="Arial"/>
              </a:rPr>
              <a:t>ٌْ </a:t>
            </a:r>
            <a:r>
              <a:rPr dirty="0" baseline="3086" sz="2700" spc="-892">
                <a:latin typeface="Arial"/>
                <a:cs typeface="Arial"/>
              </a:rPr>
              <a:t>ب</a:t>
            </a:r>
            <a:r>
              <a:rPr dirty="0" sz="1800" spc="-595">
                <a:latin typeface="Arial"/>
                <a:cs typeface="Arial"/>
              </a:rPr>
              <a:t>َ</a:t>
            </a:r>
            <a:r>
              <a:rPr dirty="0" sz="1800" spc="-15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412">
                <a:latin typeface="Arial"/>
                <a:cs typeface="Arial"/>
              </a:rPr>
              <a:t>ان</a:t>
            </a:r>
            <a:r>
              <a:rPr dirty="0" baseline="7716" sz="2700" spc="-412">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600">
                <a:latin typeface="Arial"/>
                <a:cs typeface="Arial"/>
              </a:rPr>
              <a:t>ع</a:t>
            </a:r>
            <a:r>
              <a:rPr dirty="0" sz="1800" spc="-400">
                <a:latin typeface="Arial"/>
                <a:cs typeface="Arial"/>
              </a:rPr>
              <a:t>َ </a:t>
            </a:r>
            <a:r>
              <a:rPr dirty="0" baseline="3086" sz="2700" spc="-592">
                <a:latin typeface="Arial"/>
                <a:cs typeface="Arial"/>
              </a:rPr>
              <a:t>ج</a:t>
            </a:r>
            <a:r>
              <a:rPr dirty="0" sz="1800" spc="-395">
                <a:latin typeface="Arial"/>
                <a:cs typeface="Arial"/>
              </a:rPr>
              <a:t>َ </a:t>
            </a:r>
            <a:r>
              <a:rPr dirty="0" baseline="3086" sz="2700" spc="-284">
                <a:latin typeface="Arial"/>
                <a:cs typeface="Arial"/>
              </a:rPr>
              <a:t>ذ</a:t>
            </a:r>
            <a:r>
              <a:rPr dirty="0" baseline="16975" sz="2700" spc="-284">
                <a:latin typeface="Arial"/>
                <a:cs typeface="Arial"/>
              </a:rPr>
              <a:t>ْ</a:t>
            </a:r>
            <a:r>
              <a:rPr dirty="0" baseline="16975" sz="2700" spc="-97">
                <a:latin typeface="Arial"/>
                <a:cs typeface="Arial"/>
              </a:rPr>
              <a:t> </a:t>
            </a:r>
            <a:r>
              <a:rPr dirty="0" baseline="-10802" sz="2700" spc="-209">
                <a:latin typeface="Arial"/>
                <a:cs typeface="Arial"/>
              </a:rPr>
              <a:t>ِ</a:t>
            </a:r>
            <a:r>
              <a:rPr dirty="0" baseline="3086" sz="2700" spc="-209">
                <a:latin typeface="Arial"/>
                <a:cs typeface="Arial"/>
              </a:rPr>
              <a:t>إو</a:t>
            </a:r>
            <a:endParaRPr baseline="3086" sz="2700">
              <a:latin typeface="Arial"/>
              <a:cs typeface="Arial"/>
            </a:endParaRPr>
          </a:p>
        </p:txBody>
      </p:sp>
      <p:sp>
        <p:nvSpPr>
          <p:cNvPr id="7" name="object 7"/>
          <p:cNvSpPr txBox="1"/>
          <p:nvPr/>
        </p:nvSpPr>
        <p:spPr>
          <a:xfrm>
            <a:off x="509016" y="5947028"/>
            <a:ext cx="6360795" cy="1008380"/>
          </a:xfrm>
          <a:prstGeom prst="rect">
            <a:avLst/>
          </a:prstGeom>
        </p:spPr>
        <p:txBody>
          <a:bodyPr wrap="square" lIns="0" tIns="24765" rIns="0" bIns="0" rtlCol="0" vert="horz">
            <a:spAutoFit/>
          </a:bodyPr>
          <a:lstStyle/>
          <a:p>
            <a:pPr algn="just" marL="38100" marR="30480">
              <a:lnSpc>
                <a:spcPts val="1380"/>
              </a:lnSpc>
              <a:spcBef>
                <a:spcPts val="195"/>
              </a:spcBef>
            </a:pPr>
            <a:r>
              <a:rPr dirty="0" sz="1200" spc="-5">
                <a:latin typeface="Arial"/>
                <a:cs typeface="Arial"/>
              </a:rPr>
              <a:t>124. And (remember) when his Lord tried Abraham with (His) commands and he fulfilled  </a:t>
            </a:r>
            <a:r>
              <a:rPr dirty="0" sz="1200">
                <a:latin typeface="Arial"/>
                <a:cs typeface="Arial"/>
              </a:rPr>
              <a:t>them, </a:t>
            </a:r>
            <a:r>
              <a:rPr dirty="0" sz="1200" spc="-5">
                <a:latin typeface="Arial"/>
                <a:cs typeface="Arial"/>
              </a:rPr>
              <a:t>He said: Lo! </a:t>
            </a:r>
            <a:r>
              <a:rPr dirty="0" sz="1200">
                <a:latin typeface="Arial"/>
                <a:cs typeface="Arial"/>
              </a:rPr>
              <a:t>I </a:t>
            </a:r>
            <a:r>
              <a:rPr dirty="0" sz="1200" spc="-5">
                <a:latin typeface="Arial"/>
                <a:cs typeface="Arial"/>
              </a:rPr>
              <a:t>have appointed thee a leader </a:t>
            </a:r>
            <a:r>
              <a:rPr dirty="0" sz="1200">
                <a:latin typeface="Arial"/>
                <a:cs typeface="Arial"/>
              </a:rPr>
              <a:t>for </a:t>
            </a:r>
            <a:r>
              <a:rPr dirty="0" sz="1200" spc="-5">
                <a:latin typeface="Arial"/>
                <a:cs typeface="Arial"/>
              </a:rPr>
              <a:t>mankind. (Abraham) said: And of </a:t>
            </a:r>
            <a:r>
              <a:rPr dirty="0" sz="1200">
                <a:latin typeface="Arial"/>
                <a:cs typeface="Arial"/>
              </a:rPr>
              <a:t>my  </a:t>
            </a:r>
            <a:r>
              <a:rPr dirty="0" sz="1200" spc="-5">
                <a:latin typeface="Arial"/>
                <a:cs typeface="Arial"/>
              </a:rPr>
              <a:t>offspring (will </a:t>
            </a:r>
            <a:r>
              <a:rPr dirty="0" sz="1200">
                <a:latin typeface="Arial"/>
                <a:cs typeface="Arial"/>
              </a:rPr>
              <a:t>there </a:t>
            </a:r>
            <a:r>
              <a:rPr dirty="0" sz="1200" spc="-5">
                <a:latin typeface="Arial"/>
                <a:cs typeface="Arial"/>
              </a:rPr>
              <a:t>be leaders)? He </a:t>
            </a:r>
            <a:r>
              <a:rPr dirty="0" sz="1200">
                <a:latin typeface="Arial"/>
                <a:cs typeface="Arial"/>
              </a:rPr>
              <a:t>said: My </a:t>
            </a:r>
            <a:r>
              <a:rPr dirty="0" sz="1200" spc="-5">
                <a:latin typeface="Arial"/>
                <a:cs typeface="Arial"/>
              </a:rPr>
              <a:t>covenant includes not</a:t>
            </a:r>
            <a:r>
              <a:rPr dirty="0" sz="1200" spc="20">
                <a:latin typeface="Arial"/>
                <a:cs typeface="Arial"/>
              </a:rPr>
              <a:t> </a:t>
            </a:r>
            <a:r>
              <a:rPr dirty="0" sz="1200" spc="-5">
                <a:latin typeface="Arial"/>
                <a:cs typeface="Arial"/>
              </a:rPr>
              <a:t>wrongdoers.</a:t>
            </a:r>
            <a:endParaRPr sz="1200">
              <a:latin typeface="Arial"/>
              <a:cs typeface="Arial"/>
            </a:endParaRPr>
          </a:p>
          <a:p>
            <a:pPr>
              <a:lnSpc>
                <a:spcPct val="100000"/>
              </a:lnSpc>
              <a:spcBef>
                <a:spcPts val="20"/>
              </a:spcBef>
            </a:pPr>
            <a:endParaRPr sz="1150">
              <a:latin typeface="Arial"/>
              <a:cs typeface="Arial"/>
            </a:endParaRPr>
          </a:p>
          <a:p>
            <a:pPr marL="238760">
              <a:lnSpc>
                <a:spcPct val="100000"/>
              </a:lnSpc>
            </a:pPr>
            <a:r>
              <a:rPr dirty="0" baseline="3086" sz="2700" spc="-397">
                <a:latin typeface="Arial"/>
                <a:cs typeface="Arial"/>
              </a:rPr>
              <a:t>م</a:t>
            </a:r>
            <a:r>
              <a:rPr dirty="0" baseline="-6172" sz="2700" spc="-397">
                <a:latin typeface="Arial"/>
                <a:cs typeface="Arial"/>
              </a:rPr>
              <a:t>َ </a:t>
            </a:r>
            <a:r>
              <a:rPr dirty="0" baseline="3086" sz="2700" spc="-209">
                <a:latin typeface="Arial"/>
                <a:cs typeface="Arial"/>
              </a:rPr>
              <a:t>ٌه</a:t>
            </a:r>
            <a:r>
              <a:rPr dirty="0" baseline="1543" sz="2700" spc="-209">
                <a:latin typeface="Arial"/>
                <a:cs typeface="Arial"/>
              </a:rPr>
              <a:t>ِ </a:t>
            </a:r>
            <a:r>
              <a:rPr dirty="0" baseline="3086" sz="2700" spc="-330">
                <a:latin typeface="Arial"/>
                <a:cs typeface="Arial"/>
              </a:rPr>
              <a:t>ار</a:t>
            </a:r>
            <a:r>
              <a:rPr dirty="0" sz="1800" spc="-220">
                <a:latin typeface="Arial"/>
                <a:cs typeface="Arial"/>
              </a:rPr>
              <a:t>َ </a:t>
            </a:r>
            <a:r>
              <a:rPr dirty="0" baseline="3086" sz="2700" spc="-862">
                <a:latin typeface="Arial"/>
                <a:cs typeface="Arial"/>
              </a:rPr>
              <a:t>بْ</a:t>
            </a:r>
            <a:r>
              <a:rPr dirty="0" baseline="3086" sz="2700" spc="-337">
                <a:latin typeface="Arial"/>
                <a:cs typeface="Arial"/>
              </a:rPr>
              <a:t> </a:t>
            </a:r>
            <a:r>
              <a:rPr dirty="0" baseline="-10802" sz="2700">
                <a:latin typeface="Arial"/>
                <a:cs typeface="Arial"/>
              </a:rPr>
              <a:t>ِ</a:t>
            </a:r>
            <a:r>
              <a:rPr dirty="0" baseline="3086" sz="2700">
                <a:latin typeface="Arial"/>
                <a:cs typeface="Arial"/>
              </a:rPr>
              <a:t>إ </a:t>
            </a:r>
            <a:r>
              <a:rPr dirty="0" baseline="3086" sz="2700" spc="-532">
                <a:latin typeface="Arial"/>
                <a:cs typeface="Arial"/>
              </a:rPr>
              <a:t>ى</a:t>
            </a:r>
            <a:r>
              <a:rPr dirty="0" baseline="7716" sz="2700" spc="-532">
                <a:latin typeface="Arial"/>
                <a:cs typeface="Arial"/>
              </a:rPr>
              <a:t>ٰ </a:t>
            </a:r>
            <a:r>
              <a:rPr dirty="0" baseline="10802" sz="2700" spc="-217">
                <a:latin typeface="Arial"/>
                <a:cs typeface="Arial"/>
              </a:rPr>
              <a:t>َ</a:t>
            </a:r>
            <a:r>
              <a:rPr dirty="0" baseline="3086" sz="2700" spc="-217">
                <a:latin typeface="Arial"/>
                <a:cs typeface="Arial"/>
              </a:rPr>
              <a:t>ل</a:t>
            </a:r>
            <a:r>
              <a:rPr dirty="0" baseline="-10802" sz="2700" spc="-217">
                <a:latin typeface="Arial"/>
                <a:cs typeface="Arial"/>
              </a:rPr>
              <a:t>ِ</a:t>
            </a:r>
            <a:r>
              <a:rPr dirty="0" baseline="3086" sz="2700" spc="-217">
                <a:latin typeface="Arial"/>
                <a:cs typeface="Arial"/>
              </a:rPr>
              <a:t>إ </a:t>
            </a:r>
            <a:r>
              <a:rPr dirty="0" baseline="3086" sz="2700" spc="-412">
                <a:latin typeface="Arial"/>
                <a:cs typeface="Arial"/>
              </a:rPr>
              <a:t>آن</a:t>
            </a:r>
            <a:r>
              <a:rPr dirty="0" baseline="7716" sz="2700" spc="-412">
                <a:latin typeface="Arial"/>
                <a:cs typeface="Arial"/>
              </a:rPr>
              <a:t>َ </a:t>
            </a:r>
            <a:r>
              <a:rPr dirty="0" baseline="3086" sz="2700" spc="-284">
                <a:latin typeface="Arial"/>
                <a:cs typeface="Arial"/>
              </a:rPr>
              <a:t>د</a:t>
            </a:r>
            <a:r>
              <a:rPr dirty="0" baseline="6172" sz="2700" spc="-284">
                <a:latin typeface="Arial"/>
                <a:cs typeface="Arial"/>
              </a:rPr>
              <a:t>ْ </a:t>
            </a:r>
            <a:r>
              <a:rPr dirty="0" baseline="3086" sz="2700" spc="-307">
                <a:latin typeface="Arial"/>
                <a:cs typeface="Arial"/>
              </a:rPr>
              <a:t>ه</a:t>
            </a:r>
            <a:r>
              <a:rPr dirty="0" baseline="-9259" sz="2700" spc="-307">
                <a:latin typeface="Arial"/>
                <a:cs typeface="Arial"/>
              </a:rPr>
              <a:t>ِ </a:t>
            </a:r>
            <a:r>
              <a:rPr dirty="0" baseline="3086" sz="2700" spc="-607">
                <a:latin typeface="Arial"/>
                <a:cs typeface="Arial"/>
              </a:rPr>
              <a:t>ع</a:t>
            </a:r>
            <a:r>
              <a:rPr dirty="0" sz="1800" spc="-405">
                <a:latin typeface="Arial"/>
                <a:cs typeface="Arial"/>
              </a:rPr>
              <a:t>َ </a:t>
            </a:r>
            <a:r>
              <a:rPr dirty="0" baseline="3086" sz="2700" spc="-307">
                <a:latin typeface="Arial"/>
                <a:cs typeface="Arial"/>
              </a:rPr>
              <a:t>و</a:t>
            </a:r>
            <a:r>
              <a:rPr dirty="0" sz="1800" spc="-204">
                <a:latin typeface="Arial"/>
                <a:cs typeface="Arial"/>
              </a:rPr>
              <a:t>َ</a:t>
            </a:r>
            <a:r>
              <a:rPr dirty="0" sz="1800" spc="30">
                <a:latin typeface="Arial"/>
                <a:cs typeface="Arial"/>
              </a:rPr>
              <a:t> </a:t>
            </a:r>
            <a:r>
              <a:rPr dirty="0" baseline="3086" sz="2700" spc="-750">
                <a:latin typeface="Arial"/>
                <a:cs typeface="Arial"/>
              </a:rPr>
              <a:t>ى</a:t>
            </a:r>
            <a:r>
              <a:rPr dirty="0" baseline="13888" sz="2700" spc="-750">
                <a:latin typeface="Arial"/>
                <a:cs typeface="Arial"/>
              </a:rPr>
              <a:t>ّ</a:t>
            </a:r>
            <a:r>
              <a:rPr dirty="0" baseline="23148" sz="2700" spc="-750">
                <a:latin typeface="Arial"/>
                <a:cs typeface="Arial"/>
              </a:rPr>
              <a:t>ً</a:t>
            </a:r>
            <a:r>
              <a:rPr dirty="0" baseline="3086" sz="2700" spc="-750">
                <a:latin typeface="Arial"/>
                <a:cs typeface="Arial"/>
              </a:rPr>
              <a:t>لص</a:t>
            </a:r>
            <a:endParaRPr baseline="3086" sz="2700">
              <a:latin typeface="Arial"/>
              <a:cs typeface="Arial"/>
            </a:endParaRPr>
          </a:p>
        </p:txBody>
      </p:sp>
      <p:sp>
        <p:nvSpPr>
          <p:cNvPr id="8" name="object 8"/>
          <p:cNvSpPr txBox="1"/>
          <p:nvPr/>
        </p:nvSpPr>
        <p:spPr>
          <a:xfrm>
            <a:off x="2537586" y="6919340"/>
            <a:ext cx="4331970" cy="299720"/>
          </a:xfrm>
          <a:prstGeom prst="rect">
            <a:avLst/>
          </a:prstGeom>
        </p:spPr>
        <p:txBody>
          <a:bodyPr wrap="square" lIns="0" tIns="12700" rIns="0" bIns="0" rtlCol="0" vert="horz">
            <a:spAutoFit/>
          </a:bodyPr>
          <a:lstStyle/>
          <a:p>
            <a:pPr marL="50800">
              <a:lnSpc>
                <a:spcPct val="100000"/>
              </a:lnSpc>
              <a:spcBef>
                <a:spcPts val="100"/>
              </a:spcBef>
            </a:pPr>
            <a:r>
              <a:rPr dirty="0" baseline="3086" sz="2700" spc="-359">
                <a:latin typeface="Arial"/>
                <a:cs typeface="Arial"/>
              </a:rPr>
              <a:t>د</a:t>
            </a:r>
            <a:r>
              <a:rPr dirty="0" baseline="1543" sz="2700" spc="-359">
                <a:latin typeface="Arial"/>
                <a:cs typeface="Arial"/>
              </a:rPr>
              <a:t>ِ </a:t>
            </a:r>
            <a:r>
              <a:rPr dirty="0" baseline="3086" sz="2700" spc="-419">
                <a:latin typeface="Arial"/>
                <a:cs typeface="Arial"/>
              </a:rPr>
              <a:t>وجُ </a:t>
            </a:r>
            <a:r>
              <a:rPr dirty="0" baseline="3086" sz="2700" spc="-667">
                <a:latin typeface="Arial"/>
                <a:cs typeface="Arial"/>
              </a:rPr>
              <a:t>سُّ</a:t>
            </a:r>
            <a:r>
              <a:rPr dirty="0" baseline="3086" sz="2700" spc="-585">
                <a:latin typeface="Arial"/>
                <a:cs typeface="Arial"/>
              </a:rPr>
              <a:t> </a:t>
            </a:r>
            <a:r>
              <a:rPr dirty="0" baseline="3086" sz="2700" spc="-412">
                <a:latin typeface="Arial"/>
                <a:cs typeface="Arial"/>
              </a:rPr>
              <a:t>لٱ </a:t>
            </a:r>
            <a:r>
              <a:rPr dirty="0" baseline="3086" sz="2700" spc="-562">
                <a:latin typeface="Arial"/>
                <a:cs typeface="Arial"/>
              </a:rPr>
              <a:t>ع</a:t>
            </a:r>
            <a:r>
              <a:rPr dirty="0" baseline="-15432" sz="2700" spc="-562">
                <a:latin typeface="Arial"/>
                <a:cs typeface="Arial"/>
              </a:rPr>
              <a:t>ِ </a:t>
            </a:r>
            <a:r>
              <a:rPr dirty="0" baseline="3086" sz="2700" spc="-494">
                <a:latin typeface="Arial"/>
                <a:cs typeface="Arial"/>
              </a:rPr>
              <a:t>ك</a:t>
            </a:r>
            <a:r>
              <a:rPr dirty="0" baseline="10802" sz="2700" spc="-494">
                <a:latin typeface="Arial"/>
                <a:cs typeface="Arial"/>
              </a:rPr>
              <a:t>َّ </a:t>
            </a:r>
            <a:r>
              <a:rPr dirty="0" baseline="3086" sz="2700" spc="-345">
                <a:latin typeface="Arial"/>
                <a:cs typeface="Arial"/>
              </a:rPr>
              <a:t>رُّ </a:t>
            </a:r>
            <a:r>
              <a:rPr dirty="0" baseline="3086" sz="2700" spc="-359">
                <a:latin typeface="Arial"/>
                <a:cs typeface="Arial"/>
              </a:rPr>
              <a:t>لٱو</a:t>
            </a:r>
            <a:r>
              <a:rPr dirty="0" sz="1800" spc="-240">
                <a:latin typeface="Arial"/>
                <a:cs typeface="Arial"/>
              </a:rPr>
              <a:t>َ </a:t>
            </a:r>
            <a:r>
              <a:rPr dirty="0" baseline="3086" sz="2700" spc="-494">
                <a:latin typeface="Arial"/>
                <a:cs typeface="Arial"/>
              </a:rPr>
              <a:t>ن</a:t>
            </a:r>
            <a:r>
              <a:rPr dirty="0" sz="1800" spc="-330">
                <a:latin typeface="Arial"/>
                <a:cs typeface="Arial"/>
              </a:rPr>
              <a:t>َ </a:t>
            </a:r>
            <a:r>
              <a:rPr dirty="0" baseline="3086" sz="2700" spc="-712">
                <a:latin typeface="Arial"/>
                <a:cs typeface="Arial"/>
              </a:rPr>
              <a:t>ٌف</a:t>
            </a:r>
            <a:r>
              <a:rPr dirty="0" baseline="1543" sz="2700" spc="-712">
                <a:latin typeface="Arial"/>
                <a:cs typeface="Arial"/>
              </a:rPr>
              <a:t>ِ </a:t>
            </a:r>
            <a:r>
              <a:rPr dirty="0" baseline="3086" sz="2700" spc="-727">
                <a:latin typeface="Arial"/>
                <a:cs typeface="Arial"/>
              </a:rPr>
              <a:t>ك</a:t>
            </a:r>
            <a:r>
              <a:rPr dirty="0" baseline="1543" sz="2700" spc="-727">
                <a:latin typeface="Arial"/>
                <a:cs typeface="Arial"/>
              </a:rPr>
              <a:t>ِ </a:t>
            </a:r>
            <a:r>
              <a:rPr dirty="0" baseline="3086" sz="2700" spc="-390">
                <a:latin typeface="Arial"/>
                <a:cs typeface="Arial"/>
              </a:rPr>
              <a:t>اع</a:t>
            </a:r>
            <a:r>
              <a:rPr dirty="0" sz="1800" spc="-26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209">
                <a:latin typeface="Arial"/>
                <a:cs typeface="Arial"/>
              </a:rPr>
              <a:t>ٱو</a:t>
            </a:r>
            <a:r>
              <a:rPr dirty="0" sz="1800" spc="-140">
                <a:latin typeface="Arial"/>
                <a:cs typeface="Arial"/>
              </a:rPr>
              <a:t>َ </a:t>
            </a:r>
            <a:r>
              <a:rPr dirty="0" baseline="3086" sz="2700" spc="-494">
                <a:latin typeface="Arial"/>
                <a:cs typeface="Arial"/>
              </a:rPr>
              <a:t>ن</a:t>
            </a:r>
            <a:r>
              <a:rPr dirty="0" sz="1800" spc="-330">
                <a:latin typeface="Arial"/>
                <a:cs typeface="Arial"/>
              </a:rPr>
              <a:t>َ </a:t>
            </a:r>
            <a:r>
              <a:rPr dirty="0" baseline="3086" sz="2700" spc="-712">
                <a:latin typeface="Arial"/>
                <a:cs typeface="Arial"/>
              </a:rPr>
              <a:t>ٌف</a:t>
            </a:r>
            <a:r>
              <a:rPr dirty="0" baseline="1543" sz="2700" spc="-712">
                <a:latin typeface="Arial"/>
                <a:cs typeface="Arial"/>
              </a:rPr>
              <a:t>ِ </a:t>
            </a:r>
            <a:r>
              <a:rPr dirty="0" baseline="3086" sz="2700" spc="-855">
                <a:latin typeface="Arial"/>
                <a:cs typeface="Arial"/>
              </a:rPr>
              <a:t>ئ</a:t>
            </a:r>
            <a:r>
              <a:rPr dirty="0" baseline="1543" sz="2700" spc="-855">
                <a:latin typeface="Arial"/>
                <a:cs typeface="Arial"/>
              </a:rPr>
              <a:t>ِ</a:t>
            </a:r>
            <a:r>
              <a:rPr dirty="0" baseline="1543" sz="2700" spc="-104">
                <a:latin typeface="Arial"/>
                <a:cs typeface="Arial"/>
              </a:rPr>
              <a:t> </a:t>
            </a:r>
            <a:r>
              <a:rPr dirty="0" baseline="3086" sz="2700" spc="-330">
                <a:latin typeface="Arial"/>
                <a:cs typeface="Arial"/>
              </a:rPr>
              <a:t>اط</a:t>
            </a:r>
            <a:r>
              <a:rPr dirty="0" baseline="15432" sz="2700" spc="-330">
                <a:latin typeface="Arial"/>
                <a:cs typeface="Arial"/>
              </a:rPr>
              <a:t>َّ  </a:t>
            </a:r>
            <a:r>
              <a:rPr dirty="0" baseline="3086" sz="2700" spc="-547">
                <a:latin typeface="Arial"/>
                <a:cs typeface="Arial"/>
              </a:rPr>
              <a:t>ل</a:t>
            </a:r>
            <a:r>
              <a:rPr dirty="0" baseline="1543" sz="2700" spc="-547">
                <a:latin typeface="Arial"/>
                <a:cs typeface="Arial"/>
              </a:rPr>
              <a:t>ِ</a:t>
            </a:r>
            <a:r>
              <a:rPr dirty="0" baseline="3086" sz="2700" spc="-547">
                <a:latin typeface="Arial"/>
                <a:cs typeface="Arial"/>
              </a:rPr>
              <a:t>ل </a:t>
            </a:r>
            <a:r>
              <a:rPr dirty="0" baseline="3086" sz="2700">
                <a:latin typeface="Arial"/>
                <a:cs typeface="Arial"/>
              </a:rPr>
              <a:t>ً</a:t>
            </a:r>
            <a:r>
              <a:rPr dirty="0" sz="1800">
                <a:latin typeface="Arial"/>
                <a:cs typeface="Arial"/>
              </a:rPr>
              <a:t>َ </a:t>
            </a:r>
            <a:r>
              <a:rPr dirty="0" baseline="3086" sz="2700" spc="-960">
                <a:latin typeface="Arial"/>
                <a:cs typeface="Arial"/>
              </a:rPr>
              <a:t>ت</a:t>
            </a:r>
            <a:r>
              <a:rPr dirty="0" baseline="1543" sz="2700" spc="-960">
                <a:latin typeface="Arial"/>
                <a:cs typeface="Arial"/>
              </a:rPr>
              <a:t>ِ</a:t>
            </a:r>
            <a:r>
              <a:rPr dirty="0" baseline="1543" sz="2700" spc="-104">
                <a:latin typeface="Arial"/>
                <a:cs typeface="Arial"/>
              </a:rPr>
              <a:t> </a:t>
            </a:r>
            <a:r>
              <a:rPr dirty="0" baseline="3086" sz="2700">
                <a:latin typeface="Arial"/>
                <a:cs typeface="Arial"/>
              </a:rPr>
              <a:t>ٌْ </a:t>
            </a:r>
            <a:r>
              <a:rPr dirty="0" baseline="3086" sz="2700" spc="-907">
                <a:latin typeface="Arial"/>
                <a:cs typeface="Arial"/>
              </a:rPr>
              <a:t>ب</a:t>
            </a:r>
            <a:r>
              <a:rPr dirty="0" sz="1800" spc="-605">
                <a:latin typeface="Arial"/>
                <a:cs typeface="Arial"/>
              </a:rPr>
              <a:t>َ</a:t>
            </a:r>
            <a:r>
              <a:rPr dirty="0" sz="1800" spc="355">
                <a:latin typeface="Arial"/>
                <a:cs typeface="Arial"/>
              </a:rPr>
              <a:t> </a:t>
            </a:r>
            <a:r>
              <a:rPr dirty="0" baseline="3086" sz="2700" spc="-330">
                <a:latin typeface="Arial"/>
                <a:cs typeface="Arial"/>
              </a:rPr>
              <a:t>ار</a:t>
            </a:r>
            <a:r>
              <a:rPr dirty="0" sz="1800" spc="-220">
                <a:latin typeface="Arial"/>
                <a:cs typeface="Arial"/>
              </a:rPr>
              <a:t>َ </a:t>
            </a:r>
            <a:r>
              <a:rPr dirty="0" baseline="3086" sz="2700" spc="-225">
                <a:latin typeface="Arial"/>
                <a:cs typeface="Arial"/>
              </a:rPr>
              <a:t>هِّ </a:t>
            </a:r>
            <a:r>
              <a:rPr dirty="0" baseline="3086" sz="2700" spc="-652">
                <a:latin typeface="Arial"/>
                <a:cs typeface="Arial"/>
              </a:rPr>
              <a:t>ط</a:t>
            </a:r>
            <a:r>
              <a:rPr dirty="0" baseline="13888" sz="2700" spc="-652">
                <a:latin typeface="Arial"/>
                <a:cs typeface="Arial"/>
              </a:rPr>
              <a:t>َ </a:t>
            </a:r>
            <a:r>
              <a:rPr dirty="0" baseline="3086" sz="2700" spc="-15">
                <a:latin typeface="Arial"/>
                <a:cs typeface="Arial"/>
              </a:rPr>
              <a:t>ن</a:t>
            </a:r>
            <a:r>
              <a:rPr dirty="0" baseline="16975" sz="2700" spc="-15">
                <a:latin typeface="Arial"/>
                <a:cs typeface="Arial"/>
              </a:rPr>
              <a:t>َ</a:t>
            </a:r>
            <a:r>
              <a:rPr dirty="0" baseline="3086" sz="2700" spc="-15">
                <a:latin typeface="Arial"/>
                <a:cs typeface="Arial"/>
              </a:rPr>
              <a:t>أ </a:t>
            </a:r>
            <a:r>
              <a:rPr dirty="0" baseline="3086" sz="2700" spc="-615">
                <a:latin typeface="Arial"/>
                <a:cs typeface="Arial"/>
              </a:rPr>
              <a:t>ل</a:t>
            </a:r>
            <a:r>
              <a:rPr dirty="0" sz="1800" spc="-409">
                <a:latin typeface="Arial"/>
                <a:cs typeface="Arial"/>
              </a:rPr>
              <a:t>َ </a:t>
            </a:r>
            <a:r>
              <a:rPr dirty="0" baseline="3086" sz="2700" spc="-397">
                <a:latin typeface="Arial"/>
                <a:cs typeface="Arial"/>
              </a:rPr>
              <a:t>ٌع</a:t>
            </a:r>
            <a:r>
              <a:rPr dirty="0" baseline="1543" sz="2700" spc="-397">
                <a:latin typeface="Arial"/>
                <a:cs typeface="Arial"/>
              </a:rPr>
              <a:t>ِ </a:t>
            </a:r>
            <a:r>
              <a:rPr dirty="0" baseline="3086" sz="2700" spc="-225">
                <a:latin typeface="Arial"/>
                <a:cs typeface="Arial"/>
              </a:rPr>
              <a:t>ام</a:t>
            </a:r>
            <a:r>
              <a:rPr dirty="0" sz="1800" spc="-150">
                <a:latin typeface="Arial"/>
                <a:cs typeface="Arial"/>
              </a:rPr>
              <a:t>َ</a:t>
            </a:r>
            <a:r>
              <a:rPr dirty="0" sz="1800" spc="85">
                <a:latin typeface="Arial"/>
                <a:cs typeface="Arial"/>
              </a:rPr>
              <a:t> </a:t>
            </a:r>
            <a:r>
              <a:rPr dirty="0" baseline="3086" sz="2700" spc="-944">
                <a:latin typeface="Arial"/>
                <a:cs typeface="Arial"/>
              </a:rPr>
              <a:t>سْ</a:t>
            </a:r>
            <a:r>
              <a:rPr dirty="0" baseline="3086" sz="2700" spc="307">
                <a:latin typeface="Arial"/>
                <a:cs typeface="Arial"/>
              </a:rPr>
              <a:t> </a:t>
            </a:r>
            <a:r>
              <a:rPr dirty="0" baseline="-10802" sz="2700" spc="-209">
                <a:latin typeface="Arial"/>
                <a:cs typeface="Arial"/>
              </a:rPr>
              <a:t>ِ</a:t>
            </a:r>
            <a:r>
              <a:rPr dirty="0" baseline="3086" sz="2700" spc="-209">
                <a:latin typeface="Arial"/>
                <a:cs typeface="Arial"/>
              </a:rPr>
              <a:t>إو</a:t>
            </a:r>
            <a:endParaRPr baseline="3086" sz="2700">
              <a:latin typeface="Arial"/>
              <a:cs typeface="Arial"/>
            </a:endParaRPr>
          </a:p>
        </p:txBody>
      </p:sp>
      <p:sp>
        <p:nvSpPr>
          <p:cNvPr id="9" name="object 9"/>
          <p:cNvSpPr txBox="1"/>
          <p:nvPr/>
        </p:nvSpPr>
        <p:spPr>
          <a:xfrm>
            <a:off x="534416" y="7349108"/>
            <a:ext cx="6307455" cy="909955"/>
          </a:xfrm>
          <a:prstGeom prst="rect">
            <a:avLst/>
          </a:prstGeom>
        </p:spPr>
        <p:txBody>
          <a:bodyPr wrap="square" lIns="0" tIns="20320" rIns="0" bIns="0" rtlCol="0" vert="horz">
            <a:spAutoFit/>
          </a:bodyPr>
          <a:lstStyle/>
          <a:p>
            <a:pPr algn="just" marL="12700" marR="5080">
              <a:lnSpc>
                <a:spcPct val="95900"/>
              </a:lnSpc>
              <a:spcBef>
                <a:spcPts val="160"/>
              </a:spcBef>
            </a:pPr>
            <a:r>
              <a:rPr dirty="0" sz="1200" spc="-5">
                <a:latin typeface="Arial"/>
                <a:cs typeface="Arial"/>
              </a:rPr>
              <a:t>125. And when </a:t>
            </a:r>
            <a:r>
              <a:rPr dirty="0" sz="1200" spc="20">
                <a:latin typeface="Arial"/>
                <a:cs typeface="Arial"/>
              </a:rPr>
              <a:t>We </a:t>
            </a:r>
            <a:r>
              <a:rPr dirty="0" sz="1200" spc="-5">
                <a:latin typeface="Arial"/>
                <a:cs typeface="Arial"/>
              </a:rPr>
              <a:t>made </a:t>
            </a:r>
            <a:r>
              <a:rPr dirty="0" sz="1200">
                <a:latin typeface="Arial"/>
                <a:cs typeface="Arial"/>
              </a:rPr>
              <a:t>the </a:t>
            </a:r>
            <a:r>
              <a:rPr dirty="0" sz="1200" spc="-5">
                <a:latin typeface="Arial"/>
                <a:cs typeface="Arial"/>
              </a:rPr>
              <a:t>House </a:t>
            </a:r>
            <a:r>
              <a:rPr dirty="0" sz="1200">
                <a:latin typeface="Arial"/>
                <a:cs typeface="Arial"/>
              </a:rPr>
              <a:t>(at </a:t>
            </a:r>
            <a:r>
              <a:rPr dirty="0" sz="1200" spc="-5">
                <a:latin typeface="Arial"/>
                <a:cs typeface="Arial"/>
              </a:rPr>
              <a:t>Mecca) a </a:t>
            </a:r>
            <a:r>
              <a:rPr dirty="0" sz="1200">
                <a:latin typeface="Arial"/>
                <a:cs typeface="Arial"/>
              </a:rPr>
              <a:t>resort for </a:t>
            </a:r>
            <a:r>
              <a:rPr dirty="0" sz="1200" spc="-5">
                <a:latin typeface="Arial"/>
                <a:cs typeface="Arial"/>
              </a:rPr>
              <a:t>mankind and a sanctuary,  (saying): Take as your place of worship </a:t>
            </a:r>
            <a:r>
              <a:rPr dirty="0" sz="1200">
                <a:latin typeface="Arial"/>
                <a:cs typeface="Arial"/>
              </a:rPr>
              <a:t>the </a:t>
            </a:r>
            <a:r>
              <a:rPr dirty="0" sz="1200" spc="-5">
                <a:latin typeface="Arial"/>
                <a:cs typeface="Arial"/>
              </a:rPr>
              <a:t>place where Abraham stood </a:t>
            </a:r>
            <a:r>
              <a:rPr dirty="0" sz="1200">
                <a:latin typeface="Arial"/>
                <a:cs typeface="Arial"/>
              </a:rPr>
              <a:t>(to </a:t>
            </a:r>
            <a:r>
              <a:rPr dirty="0" sz="1200" spc="-5">
                <a:latin typeface="Arial"/>
                <a:cs typeface="Arial"/>
              </a:rPr>
              <a:t>pray). </a:t>
            </a:r>
            <a:r>
              <a:rPr dirty="0" sz="1200" spc="-10">
                <a:latin typeface="Arial"/>
                <a:cs typeface="Arial"/>
              </a:rPr>
              <a:t>And </a:t>
            </a:r>
            <a:r>
              <a:rPr dirty="0" sz="1200" spc="15">
                <a:latin typeface="Arial"/>
                <a:cs typeface="Arial"/>
              </a:rPr>
              <a:t>We  </a:t>
            </a:r>
            <a:r>
              <a:rPr dirty="0" sz="1200" spc="-5">
                <a:latin typeface="Arial"/>
                <a:cs typeface="Arial"/>
              </a:rPr>
              <a:t>imposed a duty upon Abraham and Ishmael, (saying): </a:t>
            </a:r>
            <a:r>
              <a:rPr dirty="0" sz="1200">
                <a:latin typeface="Arial"/>
                <a:cs typeface="Arial"/>
              </a:rPr>
              <a:t>Purify </a:t>
            </a:r>
            <a:r>
              <a:rPr dirty="0" sz="1200" spc="-5">
                <a:latin typeface="Arial"/>
                <a:cs typeface="Arial"/>
              </a:rPr>
              <a:t>My house </a:t>
            </a:r>
            <a:r>
              <a:rPr dirty="0" sz="1200">
                <a:latin typeface="Arial"/>
                <a:cs typeface="Arial"/>
              </a:rPr>
              <a:t>for </a:t>
            </a:r>
            <a:r>
              <a:rPr dirty="0" sz="1200" spc="-5">
                <a:latin typeface="Arial"/>
                <a:cs typeface="Arial"/>
              </a:rPr>
              <a:t>those </a:t>
            </a:r>
            <a:r>
              <a:rPr dirty="0" sz="1200" spc="-10">
                <a:latin typeface="Arial"/>
                <a:cs typeface="Arial"/>
              </a:rPr>
              <a:t>who go  </a:t>
            </a:r>
            <a:r>
              <a:rPr dirty="0" sz="1200" spc="-5">
                <a:latin typeface="Arial"/>
                <a:cs typeface="Arial"/>
              </a:rPr>
              <a:t>around and those </a:t>
            </a:r>
            <a:r>
              <a:rPr dirty="0" sz="1200" spc="-10">
                <a:latin typeface="Arial"/>
                <a:cs typeface="Arial"/>
              </a:rPr>
              <a:t>who </a:t>
            </a:r>
            <a:r>
              <a:rPr dirty="0" sz="1200">
                <a:latin typeface="Arial"/>
                <a:cs typeface="Arial"/>
              </a:rPr>
              <a:t>meditate </a:t>
            </a:r>
            <a:r>
              <a:rPr dirty="0" sz="1200" spc="-5">
                <a:latin typeface="Arial"/>
                <a:cs typeface="Arial"/>
              </a:rPr>
              <a:t>therein and those </a:t>
            </a:r>
            <a:r>
              <a:rPr dirty="0" sz="1200" spc="-10">
                <a:latin typeface="Arial"/>
                <a:cs typeface="Arial"/>
              </a:rPr>
              <a:t>who </a:t>
            </a:r>
            <a:r>
              <a:rPr dirty="0" sz="1200" spc="-5">
                <a:latin typeface="Arial"/>
                <a:cs typeface="Arial"/>
              </a:rPr>
              <a:t>bow down and prostrate themselves  (in worship).</a:t>
            </a:r>
            <a:endParaRPr sz="1200">
              <a:latin typeface="Arial"/>
              <a:cs typeface="Arial"/>
            </a:endParaRPr>
          </a:p>
        </p:txBody>
      </p:sp>
      <p:sp>
        <p:nvSpPr>
          <p:cNvPr id="10" name="object 10"/>
          <p:cNvSpPr txBox="1"/>
          <p:nvPr/>
        </p:nvSpPr>
        <p:spPr>
          <a:xfrm>
            <a:off x="569976" y="8401050"/>
            <a:ext cx="3814445" cy="299720"/>
          </a:xfrm>
          <a:prstGeom prst="rect">
            <a:avLst/>
          </a:prstGeom>
        </p:spPr>
        <p:txBody>
          <a:bodyPr wrap="square" lIns="0" tIns="12700" rIns="0" bIns="0" rtlCol="0" vert="horz">
            <a:spAutoFit/>
          </a:bodyPr>
          <a:lstStyle/>
          <a:p>
            <a:pPr marL="38100">
              <a:lnSpc>
                <a:spcPct val="100000"/>
              </a:lnSpc>
              <a:spcBef>
                <a:spcPts val="100"/>
              </a:spcBef>
            </a:pPr>
            <a:r>
              <a:rPr dirty="0" baseline="1543" sz="2700" spc="-772">
                <a:latin typeface="Arial"/>
                <a:cs typeface="Arial"/>
              </a:rPr>
              <a:t>ت</a:t>
            </a:r>
            <a:r>
              <a:rPr dirty="0" baseline="3086" sz="2700" spc="-772">
                <a:latin typeface="Arial"/>
                <a:cs typeface="Arial"/>
              </a:rPr>
              <a:t>َ</a:t>
            </a:r>
            <a:r>
              <a:rPr dirty="0" baseline="3086" sz="2700" spc="794">
                <a:latin typeface="Arial"/>
                <a:cs typeface="Arial"/>
              </a:rPr>
              <a:t> </a:t>
            </a:r>
            <a:r>
              <a:rPr dirty="0" baseline="1543" sz="2700" spc="-277">
                <a:latin typeface="Arial"/>
                <a:cs typeface="Arial"/>
              </a:rPr>
              <a:t>ن</a:t>
            </a:r>
            <a:r>
              <a:rPr dirty="0" baseline="15432" sz="2700" spc="-277">
                <a:latin typeface="Arial"/>
                <a:cs typeface="Arial"/>
              </a:rPr>
              <a:t>َ</a:t>
            </a:r>
            <a:r>
              <a:rPr dirty="0" baseline="1543" sz="2700" spc="-277">
                <a:latin typeface="Arial"/>
                <a:cs typeface="Arial"/>
              </a:rPr>
              <a:t>أ </a:t>
            </a:r>
            <a:r>
              <a:rPr dirty="0" baseline="1543" sz="2700" spc="-682">
                <a:latin typeface="Arial"/>
                <a:cs typeface="Arial"/>
              </a:rPr>
              <a:t>ك</a:t>
            </a:r>
            <a:r>
              <a:rPr dirty="0" baseline="-1543" sz="2700" spc="-682">
                <a:latin typeface="Arial"/>
                <a:cs typeface="Arial"/>
              </a:rPr>
              <a:t>َ </a:t>
            </a:r>
            <a:r>
              <a:rPr dirty="0" baseline="1543" sz="2700" spc="-442">
                <a:latin typeface="Arial"/>
                <a:cs typeface="Arial"/>
              </a:rPr>
              <a:t>ن</a:t>
            </a:r>
            <a:r>
              <a:rPr dirty="0" baseline="9259" sz="2700" spc="-442">
                <a:latin typeface="Arial"/>
                <a:cs typeface="Arial"/>
              </a:rPr>
              <a:t>َّ </a:t>
            </a:r>
            <a:r>
              <a:rPr dirty="0" baseline="-12345" sz="2700">
                <a:latin typeface="Arial"/>
                <a:cs typeface="Arial"/>
              </a:rPr>
              <a:t>ِ</a:t>
            </a:r>
            <a:r>
              <a:rPr dirty="0" baseline="1543" sz="2700">
                <a:latin typeface="Arial"/>
                <a:cs typeface="Arial"/>
              </a:rPr>
              <a:t>إ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a:t>
            </a:r>
            <a:r>
              <a:rPr dirty="0" baseline="-10802" sz="2700" spc="-307">
                <a:latin typeface="Arial"/>
                <a:cs typeface="Arial"/>
              </a:rPr>
              <a:t>ِ </a:t>
            </a:r>
            <a:r>
              <a:rPr dirty="0" baseline="1543" sz="2700" spc="-367">
                <a:latin typeface="Arial"/>
                <a:cs typeface="Arial"/>
              </a:rPr>
              <a:t>ٌك</a:t>
            </a:r>
            <a:r>
              <a:rPr dirty="0" baseline="9259" sz="2700" spc="-367">
                <a:latin typeface="Arial"/>
                <a:cs typeface="Arial"/>
              </a:rPr>
              <a:t>ِّ </a:t>
            </a:r>
            <a:r>
              <a:rPr dirty="0" baseline="1543" sz="2700" spc="-494">
                <a:latin typeface="Arial"/>
                <a:cs typeface="Arial"/>
              </a:rPr>
              <a:t>ز</a:t>
            </a:r>
            <a:r>
              <a:rPr dirty="0" baseline="6172" sz="2700" spc="-494">
                <a:latin typeface="Arial"/>
                <a:cs typeface="Arial"/>
              </a:rPr>
              <a:t>َ </a:t>
            </a:r>
            <a:r>
              <a:rPr dirty="0" baseline="1543" sz="2700">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284">
                <a:latin typeface="Arial"/>
                <a:cs typeface="Arial"/>
              </a:rPr>
              <a:t>ة</a:t>
            </a:r>
            <a:r>
              <a:rPr dirty="0" baseline="9259" sz="2700" spc="-284">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682">
                <a:latin typeface="Arial"/>
                <a:cs typeface="Arial"/>
              </a:rPr>
              <a:t>ك</a:t>
            </a:r>
            <a:r>
              <a:rPr dirty="0" baseline="9259" sz="2700" spc="-682">
                <a:latin typeface="Arial"/>
                <a:cs typeface="Arial"/>
              </a:rPr>
              <a:t>ْ </a:t>
            </a:r>
            <a:r>
              <a:rPr dirty="0" baseline="1543" sz="2700" spc="-719">
                <a:latin typeface="Arial"/>
                <a:cs typeface="Arial"/>
              </a:rPr>
              <a:t>ح</a:t>
            </a:r>
            <a:r>
              <a:rPr dirty="0" sz="1800" spc="-480">
                <a:latin typeface="Arial"/>
                <a:cs typeface="Arial"/>
              </a:rPr>
              <a:t>ِ  </a:t>
            </a:r>
            <a:r>
              <a:rPr dirty="0" baseline="1543" sz="2700" spc="-660">
                <a:latin typeface="Arial"/>
                <a:cs typeface="Arial"/>
              </a:rPr>
              <a:t>ل</a:t>
            </a:r>
            <a:r>
              <a:rPr dirty="0" baseline="12345" sz="2700" spc="-660">
                <a:latin typeface="Arial"/>
                <a:cs typeface="Arial"/>
              </a:rPr>
              <a:t>ْ </a:t>
            </a:r>
            <a:r>
              <a:rPr dirty="0" baseline="1543" sz="2700" spc="-209">
                <a:latin typeface="Arial"/>
                <a:cs typeface="Arial"/>
              </a:rPr>
              <a:t>ٱو</a:t>
            </a:r>
            <a:r>
              <a:rPr dirty="0" baseline="-1543" sz="2700" spc="-209">
                <a:latin typeface="Arial"/>
                <a:cs typeface="Arial"/>
              </a:rPr>
              <a:t>َ </a:t>
            </a:r>
            <a:r>
              <a:rPr dirty="0" baseline="1543" sz="2700" spc="-780">
                <a:latin typeface="Arial"/>
                <a:cs typeface="Arial"/>
              </a:rPr>
              <a:t>ب</a:t>
            </a:r>
            <a:r>
              <a:rPr dirty="0" baseline="-1543" sz="2700" spc="-780">
                <a:latin typeface="Arial"/>
                <a:cs typeface="Arial"/>
              </a:rPr>
              <a:t>َ</a:t>
            </a:r>
            <a:r>
              <a:rPr dirty="0" baseline="-1543" sz="2700" spc="794">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405">
                <a:latin typeface="Arial"/>
                <a:cs typeface="Arial"/>
              </a:rPr>
              <a:t> </a:t>
            </a:r>
            <a:r>
              <a:rPr dirty="0" baseline="20061" sz="2700" spc="-487">
                <a:latin typeface="Arial"/>
                <a:cs typeface="Arial"/>
              </a:rPr>
              <a:t>ٰ</a:t>
            </a:r>
            <a:r>
              <a:rPr dirty="0" baseline="1543" sz="2700" spc="-487">
                <a:latin typeface="Arial"/>
                <a:cs typeface="Arial"/>
              </a:rPr>
              <a:t>ك</a:t>
            </a:r>
            <a:r>
              <a:rPr dirty="0" sz="1800" spc="-325">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427">
                <a:latin typeface="Arial"/>
                <a:cs typeface="Arial"/>
              </a:rPr>
              <a:t>م</a:t>
            </a:r>
            <a:r>
              <a:rPr dirty="0" baseline="-4629" sz="2700" spc="-427">
                <a:latin typeface="Arial"/>
                <a:cs typeface="Arial"/>
              </a:rPr>
              <a:t>ُ </a:t>
            </a:r>
            <a:r>
              <a:rPr dirty="0" baseline="1543" sz="2700" spc="-359">
                <a:latin typeface="Arial"/>
                <a:cs typeface="Arial"/>
              </a:rPr>
              <a:t>هُ </a:t>
            </a:r>
            <a:r>
              <a:rPr dirty="0" baseline="1543" sz="2700" spc="-397">
                <a:latin typeface="Arial"/>
                <a:cs typeface="Arial"/>
              </a:rPr>
              <a:t>مُ </a:t>
            </a:r>
            <a:r>
              <a:rPr dirty="0" baseline="12345" sz="2700" spc="-405">
                <a:latin typeface="Arial"/>
                <a:cs typeface="Arial"/>
              </a:rPr>
              <a:t>ِّ</a:t>
            </a:r>
            <a:r>
              <a:rPr dirty="0" baseline="1543" sz="2700" spc="-405">
                <a:latin typeface="Arial"/>
                <a:cs typeface="Arial"/>
              </a:rPr>
              <a:t>لع</a:t>
            </a:r>
            <a:r>
              <a:rPr dirty="0" baseline="-1543" sz="2700" spc="-405">
                <a:latin typeface="Arial"/>
                <a:cs typeface="Arial"/>
              </a:rPr>
              <a:t>َ </a:t>
            </a:r>
            <a:r>
              <a:rPr dirty="0" baseline="1543" sz="2700">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682">
                <a:latin typeface="Arial"/>
                <a:cs typeface="Arial"/>
              </a:rPr>
              <a:t>ك</a:t>
            </a:r>
            <a:r>
              <a:rPr dirty="0" baseline="-1543" sz="2700" spc="-682">
                <a:latin typeface="Arial"/>
                <a:cs typeface="Arial"/>
              </a:rPr>
              <a:t>َ </a:t>
            </a:r>
            <a:r>
              <a:rPr dirty="0" sz="1800" spc="-215">
                <a:latin typeface="Arial"/>
                <a:cs typeface="Arial"/>
              </a:rPr>
              <a:t>ِ</a:t>
            </a:r>
            <a:r>
              <a:rPr dirty="0" baseline="1543" sz="2700" spc="-322">
                <a:latin typeface="Arial"/>
                <a:cs typeface="Arial"/>
              </a:rPr>
              <a:t>تٌ</a:t>
            </a:r>
            <a:r>
              <a:rPr dirty="0" baseline="-1543" sz="2700" spc="-322">
                <a:latin typeface="Arial"/>
                <a:cs typeface="Arial"/>
              </a:rPr>
              <a:t>َ </a:t>
            </a:r>
            <a:r>
              <a:rPr dirty="0" baseline="12345" sz="2700">
                <a:latin typeface="Arial"/>
                <a:cs typeface="Arial"/>
              </a:rPr>
              <a:t>ٰ</a:t>
            </a:r>
            <a:r>
              <a:rPr dirty="0" baseline="1543" sz="2700">
                <a:latin typeface="Arial"/>
                <a:cs typeface="Arial"/>
              </a:rPr>
              <a:t>آ </a:t>
            </a:r>
            <a:r>
              <a:rPr dirty="0" baseline="1543" sz="2700" spc="-359">
                <a:latin typeface="Arial"/>
                <a:cs typeface="Arial"/>
              </a:rPr>
              <a:t>م</a:t>
            </a:r>
            <a:r>
              <a:rPr dirty="0" baseline="-3086" sz="2700" spc="-359">
                <a:latin typeface="Arial"/>
                <a:cs typeface="Arial"/>
              </a:rPr>
              <a:t>ْ </a:t>
            </a:r>
            <a:r>
              <a:rPr dirty="0" baseline="1543" sz="2700" spc="-307">
                <a:latin typeface="Arial"/>
                <a:cs typeface="Arial"/>
              </a:rPr>
              <a:t>ه</a:t>
            </a:r>
            <a:r>
              <a:rPr dirty="0" baseline="-10802" sz="2700" spc="-307">
                <a:latin typeface="Arial"/>
                <a:cs typeface="Arial"/>
              </a:rPr>
              <a:t>ِ </a:t>
            </a:r>
            <a:r>
              <a:rPr dirty="0" baseline="1543" sz="2700">
                <a:latin typeface="Arial"/>
                <a:cs typeface="Arial"/>
              </a:rPr>
              <a:t>ٌْ</a:t>
            </a:r>
            <a:r>
              <a:rPr dirty="0" baseline="1543" sz="2700" spc="517">
                <a:latin typeface="Arial"/>
                <a:cs typeface="Arial"/>
              </a:rPr>
              <a:t> </a:t>
            </a:r>
            <a:r>
              <a:rPr dirty="0" baseline="9259" sz="2700" spc="-675">
                <a:latin typeface="Arial"/>
                <a:cs typeface="Arial"/>
              </a:rPr>
              <a:t>َ</a:t>
            </a:r>
            <a:r>
              <a:rPr dirty="0" baseline="1543" sz="2700" spc="-675">
                <a:latin typeface="Arial"/>
                <a:cs typeface="Arial"/>
              </a:rPr>
              <a:t>لع</a:t>
            </a:r>
            <a:endParaRPr baseline="1543" sz="2700">
              <a:latin typeface="Arial"/>
              <a:cs typeface="Arial"/>
            </a:endParaRPr>
          </a:p>
        </p:txBody>
      </p:sp>
      <p:sp>
        <p:nvSpPr>
          <p:cNvPr id="11" name="object 11"/>
          <p:cNvSpPr txBox="1"/>
          <p:nvPr/>
        </p:nvSpPr>
        <p:spPr>
          <a:xfrm>
            <a:off x="4223258" y="8401050"/>
            <a:ext cx="2647315" cy="563880"/>
          </a:xfrm>
          <a:prstGeom prst="rect">
            <a:avLst/>
          </a:prstGeom>
        </p:spPr>
        <p:txBody>
          <a:bodyPr wrap="square" lIns="0" tIns="12700" rIns="0" bIns="0" rtlCol="0" vert="horz">
            <a:spAutoFit/>
          </a:bodyPr>
          <a:lstStyle/>
          <a:p>
            <a:pPr algn="r" marR="113664">
              <a:lnSpc>
                <a:spcPts val="2120"/>
              </a:lnSpc>
              <a:spcBef>
                <a:spcPts val="100"/>
              </a:spcBef>
            </a:pPr>
            <a:r>
              <a:rPr dirty="0" baseline="-1543" sz="2700">
                <a:latin typeface="Arial"/>
                <a:cs typeface="Arial"/>
              </a:rPr>
              <a:t>َ </a:t>
            </a:r>
            <a:r>
              <a:rPr dirty="0" baseline="1543" sz="2700" spc="-277">
                <a:latin typeface="Arial"/>
                <a:cs typeface="Arial"/>
              </a:rPr>
              <a:t>ا</a:t>
            </a:r>
            <a:r>
              <a:rPr dirty="0" baseline="9259" sz="2700" spc="-277">
                <a:latin typeface="Arial"/>
                <a:cs typeface="Arial"/>
              </a:rPr>
              <a:t>ْ </a:t>
            </a:r>
            <a:r>
              <a:rPr dirty="0" baseline="1543" sz="2700" spc="-525">
                <a:latin typeface="Arial"/>
                <a:cs typeface="Arial"/>
              </a:rPr>
              <a:t>و</a:t>
            </a:r>
            <a:r>
              <a:rPr dirty="0" baseline="12345" sz="2700" spc="-525">
                <a:latin typeface="Arial"/>
                <a:cs typeface="Arial"/>
              </a:rPr>
              <a:t>ُ</a:t>
            </a:r>
            <a:r>
              <a:rPr dirty="0" baseline="1543" sz="2700" spc="-525">
                <a:latin typeface="Arial"/>
                <a:cs typeface="Arial"/>
              </a:rPr>
              <a:t>لت</a:t>
            </a:r>
            <a:r>
              <a:rPr dirty="0" baseline="9259" sz="2700" spc="-525">
                <a:latin typeface="Arial"/>
                <a:cs typeface="Arial"/>
              </a:rPr>
              <a:t>ْ </a:t>
            </a:r>
            <a:r>
              <a:rPr dirty="0" baseline="1543" sz="2700">
                <a:latin typeface="Arial"/>
                <a:cs typeface="Arial"/>
              </a:rPr>
              <a:t>ٌ</a:t>
            </a:r>
            <a:r>
              <a:rPr dirty="0" baseline="-1543" sz="270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1543" sz="2700" spc="-607">
                <a:latin typeface="Arial"/>
                <a:cs typeface="Arial"/>
              </a:rPr>
              <a:t>ن</a:t>
            </a:r>
            <a:r>
              <a:rPr dirty="0" baseline="9259" sz="2700" spc="-607">
                <a:latin typeface="Arial"/>
                <a:cs typeface="Arial"/>
              </a:rPr>
              <a:t>ْ </a:t>
            </a:r>
            <a:r>
              <a:rPr dirty="0" baseline="1543" sz="2700" spc="-254">
                <a:latin typeface="Arial"/>
                <a:cs typeface="Arial"/>
              </a:rPr>
              <a:t>مِّ  </a:t>
            </a:r>
            <a:r>
              <a:rPr dirty="0" baseline="10802" sz="2700" spc="-419">
                <a:latin typeface="Arial"/>
                <a:cs typeface="Arial"/>
              </a:rPr>
              <a:t>ً</a:t>
            </a:r>
            <a:r>
              <a:rPr dirty="0" baseline="1543" sz="2700" spc="-419">
                <a:latin typeface="Arial"/>
                <a:cs typeface="Arial"/>
              </a:rPr>
              <a:t>لاوسُ </a:t>
            </a:r>
            <a:r>
              <a:rPr dirty="0" baseline="1543" sz="2700" spc="-494">
                <a:latin typeface="Arial"/>
                <a:cs typeface="Arial"/>
              </a:rPr>
              <a:t>ر</a:t>
            </a:r>
            <a:r>
              <a:rPr dirty="0" baseline="-1543" sz="2700" spc="-494">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15">
                <a:latin typeface="Arial"/>
                <a:cs typeface="Arial"/>
              </a:rPr>
              <a:t>ه</a:t>
            </a:r>
            <a:r>
              <a:rPr dirty="0" baseline="-10802" sz="2700" spc="-315">
                <a:latin typeface="Arial"/>
                <a:cs typeface="Arial"/>
              </a:rPr>
              <a:t>ِ </a:t>
            </a:r>
            <a:r>
              <a:rPr dirty="0" baseline="1543" sz="2700" spc="-705">
                <a:latin typeface="Arial"/>
                <a:cs typeface="Arial"/>
              </a:rPr>
              <a:t>ٌف</a:t>
            </a:r>
            <a:r>
              <a:rPr dirty="0" sz="1800" spc="-470">
                <a:latin typeface="Arial"/>
                <a:cs typeface="Arial"/>
              </a:rPr>
              <a:t>ِ </a:t>
            </a:r>
            <a:r>
              <a:rPr dirty="0" baseline="1543" sz="2700" spc="-735">
                <a:latin typeface="Arial"/>
                <a:cs typeface="Arial"/>
              </a:rPr>
              <a:t>ث</a:t>
            </a:r>
            <a:r>
              <a:rPr dirty="0" baseline="12345" sz="2700" spc="-735">
                <a:latin typeface="Arial"/>
                <a:cs typeface="Arial"/>
              </a:rPr>
              <a:t>ْ </a:t>
            </a:r>
            <a:r>
              <a:rPr dirty="0" baseline="1543" sz="2700" spc="-600">
                <a:latin typeface="Arial"/>
                <a:cs typeface="Arial"/>
              </a:rPr>
              <a:t>ع</a:t>
            </a:r>
            <a:r>
              <a:rPr dirty="0" baseline="-1543" sz="2700" spc="-600">
                <a:latin typeface="Arial"/>
                <a:cs typeface="Arial"/>
              </a:rPr>
              <a:t>َ </a:t>
            </a:r>
            <a:r>
              <a:rPr dirty="0" baseline="1543" sz="2700" spc="-862">
                <a:latin typeface="Arial"/>
                <a:cs typeface="Arial"/>
              </a:rPr>
              <a:t>بْ</a:t>
            </a:r>
            <a:r>
              <a:rPr dirty="0" baseline="1543" sz="2700" spc="-307">
                <a:latin typeface="Arial"/>
                <a:cs typeface="Arial"/>
              </a:rPr>
              <a:t> </a:t>
            </a:r>
            <a:r>
              <a:rPr dirty="0" baseline="1543" sz="2700" spc="-209">
                <a:latin typeface="Arial"/>
                <a:cs typeface="Arial"/>
              </a:rPr>
              <a:t>ٱو</a:t>
            </a:r>
            <a:r>
              <a:rPr dirty="0" baseline="-1543" sz="2700" spc="-209">
                <a:latin typeface="Arial"/>
                <a:cs typeface="Arial"/>
              </a:rPr>
              <a:t>َ </a:t>
            </a:r>
            <a:r>
              <a:rPr dirty="0" baseline="1543" sz="2700" spc="-412">
                <a:latin typeface="Arial"/>
                <a:cs typeface="Arial"/>
              </a:rPr>
              <a:t>ان</a:t>
            </a:r>
            <a:r>
              <a:rPr dirty="0" baseline="6172" sz="2700" spc="-412">
                <a:latin typeface="Arial"/>
                <a:cs typeface="Arial"/>
              </a:rPr>
              <a:t>َ</a:t>
            </a:r>
            <a:r>
              <a:rPr dirty="0" baseline="6172" sz="2700" spc="-307">
                <a:latin typeface="Arial"/>
                <a:cs typeface="Arial"/>
              </a:rPr>
              <a:t> </a:t>
            </a:r>
            <a:r>
              <a:rPr dirty="0" baseline="1543" sz="2700" spc="-607">
                <a:latin typeface="Arial"/>
                <a:cs typeface="Arial"/>
              </a:rPr>
              <a:t>ب</a:t>
            </a:r>
            <a:r>
              <a:rPr dirty="0" sz="1800" spc="-405">
                <a:latin typeface="Arial"/>
                <a:cs typeface="Arial"/>
              </a:rPr>
              <a:t>َّ </a:t>
            </a:r>
            <a:r>
              <a:rPr dirty="0" baseline="1543" sz="2700" spc="-982">
                <a:latin typeface="Arial"/>
                <a:cs typeface="Arial"/>
              </a:rPr>
              <a:t>ر</a:t>
            </a:r>
            <a:endParaRPr baseline="1543" sz="2700">
              <a:latin typeface="Arial"/>
              <a:cs typeface="Arial"/>
            </a:endParaRPr>
          </a:p>
          <a:p>
            <a:pPr algn="r" marR="30480">
              <a:lnSpc>
                <a:spcPts val="2120"/>
              </a:lnSpc>
            </a:pPr>
            <a:r>
              <a:rPr dirty="0" baseline="1543" sz="2700" spc="-427">
                <a:latin typeface="Arial"/>
                <a:cs typeface="Arial"/>
              </a:rPr>
              <a:t>م</a:t>
            </a:r>
            <a:r>
              <a:rPr dirty="0" baseline="-4629" sz="2700" spc="-427">
                <a:latin typeface="Arial"/>
                <a:cs typeface="Arial"/>
              </a:rPr>
              <a:t>ُ </a:t>
            </a:r>
            <a:r>
              <a:rPr dirty="0" baseline="1543" sz="2700" spc="-487">
                <a:latin typeface="Arial"/>
                <a:cs typeface="Arial"/>
              </a:rPr>
              <a:t>ٌك</a:t>
            </a:r>
            <a:r>
              <a:rPr dirty="0" sz="1800" spc="-325">
                <a:latin typeface="Arial"/>
                <a:cs typeface="Arial"/>
              </a:rPr>
              <a:t>ِ </a:t>
            </a:r>
            <a:r>
              <a:rPr dirty="0" baseline="1543" sz="2700" spc="-592">
                <a:latin typeface="Arial"/>
                <a:cs typeface="Arial"/>
              </a:rPr>
              <a:t>ح</a:t>
            </a:r>
            <a:r>
              <a:rPr dirty="0" baseline="-1543" sz="2700" spc="-592">
                <a:latin typeface="Arial"/>
                <a:cs typeface="Arial"/>
              </a:rPr>
              <a:t>َ </a:t>
            </a:r>
            <a:r>
              <a:rPr dirty="0" baseline="1543" sz="2700" spc="-412">
                <a:latin typeface="Arial"/>
                <a:cs typeface="Arial"/>
              </a:rPr>
              <a:t>لٱ </a:t>
            </a:r>
            <a:r>
              <a:rPr dirty="0" baseline="1543" sz="2700" spc="-525">
                <a:latin typeface="Arial"/>
                <a:cs typeface="Arial"/>
              </a:rPr>
              <a:t>ز</a:t>
            </a:r>
            <a:r>
              <a:rPr dirty="0" baseline="9259" sz="2700" spc="-525">
                <a:latin typeface="Arial"/>
                <a:cs typeface="Arial"/>
              </a:rPr>
              <a:t>ُ </a:t>
            </a:r>
            <a:r>
              <a:rPr dirty="0" baseline="1543" sz="2700" spc="-307">
                <a:latin typeface="Arial"/>
                <a:cs typeface="Arial"/>
              </a:rPr>
              <a:t>ٌز</a:t>
            </a:r>
            <a:r>
              <a:rPr dirty="0" baseline="-13888" sz="2700" spc="-307">
                <a:latin typeface="Arial"/>
                <a:cs typeface="Arial"/>
              </a:rPr>
              <a:t>ِ </a:t>
            </a:r>
            <a:r>
              <a:rPr dirty="0" baseline="1543" sz="2700" spc="-600">
                <a:latin typeface="Arial"/>
                <a:cs typeface="Arial"/>
              </a:rPr>
              <a:t>ع</a:t>
            </a:r>
            <a:r>
              <a:rPr dirty="0" baseline="-1543" sz="2700" spc="-600">
                <a:latin typeface="Arial"/>
                <a:cs typeface="Arial"/>
              </a:rPr>
              <a:t>َ</a:t>
            </a:r>
            <a:r>
              <a:rPr dirty="0" baseline="-1543" sz="2700" spc="-577">
                <a:latin typeface="Arial"/>
                <a:cs typeface="Arial"/>
              </a:rPr>
              <a:t> </a:t>
            </a:r>
            <a:r>
              <a:rPr dirty="0" baseline="1543" sz="2700" spc="-412">
                <a:latin typeface="Arial"/>
                <a:cs typeface="Arial"/>
              </a:rPr>
              <a:t>لٱ</a:t>
            </a:r>
            <a:endParaRPr baseline="1543" sz="2700">
              <a:latin typeface="Arial"/>
              <a:cs typeface="Arial"/>
            </a:endParaRPr>
          </a:p>
        </p:txBody>
      </p:sp>
      <p:sp>
        <p:nvSpPr>
          <p:cNvPr id="12" name="object 12"/>
          <p:cNvSpPr txBox="1"/>
          <p:nvPr/>
        </p:nvSpPr>
        <p:spPr>
          <a:xfrm>
            <a:off x="534416" y="9102090"/>
            <a:ext cx="6306820" cy="558800"/>
          </a:xfrm>
          <a:prstGeom prst="rect">
            <a:avLst/>
          </a:prstGeom>
        </p:spPr>
        <p:txBody>
          <a:bodyPr wrap="square" lIns="0" tIns="24765" rIns="0" bIns="0" rtlCol="0" vert="horz">
            <a:spAutoFit/>
          </a:bodyPr>
          <a:lstStyle/>
          <a:p>
            <a:pPr algn="just" marL="12700" marR="5080">
              <a:lnSpc>
                <a:spcPts val="1380"/>
              </a:lnSpc>
              <a:spcBef>
                <a:spcPts val="195"/>
              </a:spcBef>
            </a:pPr>
            <a:r>
              <a:rPr dirty="0" sz="1200" spc="-5">
                <a:latin typeface="Arial"/>
                <a:cs typeface="Arial"/>
              </a:rPr>
              <a:t>129. </a:t>
            </a:r>
            <a:r>
              <a:rPr dirty="0" sz="1200">
                <a:latin typeface="Arial"/>
                <a:cs typeface="Arial"/>
              </a:rPr>
              <a:t>Our </a:t>
            </a:r>
            <a:r>
              <a:rPr dirty="0" sz="1200" spc="-5">
                <a:latin typeface="Arial"/>
                <a:cs typeface="Arial"/>
              </a:rPr>
              <a:t>Lord! And raise up in their </a:t>
            </a:r>
            <a:r>
              <a:rPr dirty="0" sz="1200">
                <a:latin typeface="Arial"/>
                <a:cs typeface="Arial"/>
              </a:rPr>
              <a:t>midst </a:t>
            </a:r>
            <a:r>
              <a:rPr dirty="0" sz="1200" spc="-5">
                <a:latin typeface="Arial"/>
                <a:cs typeface="Arial"/>
              </a:rPr>
              <a:t>a messenger from among them </a:t>
            </a:r>
            <a:r>
              <a:rPr dirty="0" sz="1200" spc="-10">
                <a:latin typeface="Arial"/>
                <a:cs typeface="Arial"/>
              </a:rPr>
              <a:t>who </a:t>
            </a:r>
            <a:r>
              <a:rPr dirty="0" sz="1200" spc="-5">
                <a:latin typeface="Arial"/>
                <a:cs typeface="Arial"/>
              </a:rPr>
              <a:t>shall recite  unto them </a:t>
            </a:r>
            <a:r>
              <a:rPr dirty="0" sz="1200">
                <a:latin typeface="Arial"/>
                <a:cs typeface="Arial"/>
              </a:rPr>
              <a:t>Thy </a:t>
            </a:r>
            <a:r>
              <a:rPr dirty="0" sz="1200" spc="-5">
                <a:latin typeface="Arial"/>
                <a:cs typeface="Arial"/>
              </a:rPr>
              <a:t>revelations, and shall </a:t>
            </a:r>
            <a:r>
              <a:rPr dirty="0" sz="1200">
                <a:latin typeface="Arial"/>
                <a:cs typeface="Arial"/>
              </a:rPr>
              <a:t>instruct </a:t>
            </a:r>
            <a:r>
              <a:rPr dirty="0" sz="1200" spc="-5">
                <a:latin typeface="Arial"/>
                <a:cs typeface="Arial"/>
              </a:rPr>
              <a:t>them in the Scripture and in wisdom and </a:t>
            </a:r>
            <a:r>
              <a:rPr dirty="0" sz="1200" spc="-10">
                <a:latin typeface="Arial"/>
                <a:cs typeface="Arial"/>
              </a:rPr>
              <a:t>shall  </a:t>
            </a:r>
            <a:r>
              <a:rPr dirty="0" sz="1200">
                <a:latin typeface="Arial"/>
                <a:cs typeface="Arial"/>
              </a:rPr>
              <a:t>make </a:t>
            </a:r>
            <a:r>
              <a:rPr dirty="0" sz="1200" spc="-5">
                <a:latin typeface="Arial"/>
                <a:cs typeface="Arial"/>
              </a:rPr>
              <a:t>them grow. Lo! </a:t>
            </a:r>
            <a:r>
              <a:rPr dirty="0" sz="1200">
                <a:latin typeface="Arial"/>
                <a:cs typeface="Arial"/>
              </a:rPr>
              <a:t>Thou, only </a:t>
            </a:r>
            <a:r>
              <a:rPr dirty="0" sz="1200" spc="-5">
                <a:latin typeface="Arial"/>
                <a:cs typeface="Arial"/>
              </a:rPr>
              <a:t>Thou, </a:t>
            </a:r>
            <a:r>
              <a:rPr dirty="0" sz="1200">
                <a:latin typeface="Arial"/>
                <a:cs typeface="Arial"/>
              </a:rPr>
              <a:t>art the </a:t>
            </a:r>
            <a:r>
              <a:rPr dirty="0" sz="1200" spc="-5">
                <a:latin typeface="Arial"/>
                <a:cs typeface="Arial"/>
              </a:rPr>
              <a:t>Mighty,</a:t>
            </a:r>
            <a:r>
              <a:rPr dirty="0" sz="1200" spc="-45">
                <a:latin typeface="Arial"/>
                <a:cs typeface="Arial"/>
              </a:rPr>
              <a:t> </a:t>
            </a:r>
            <a:r>
              <a:rPr dirty="0" sz="1200" spc="5">
                <a:latin typeface="Arial"/>
                <a:cs typeface="Arial"/>
              </a:rPr>
              <a:t>Wise.</a:t>
            </a:r>
            <a:endParaRPr sz="1200">
              <a:latin typeface="Arial"/>
              <a:cs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93419" y="432307"/>
            <a:ext cx="1636395" cy="675005"/>
          </a:xfrm>
          <a:prstGeom prst="rect">
            <a:avLst/>
          </a:prstGeom>
        </p:spPr>
        <p:txBody>
          <a:bodyPr wrap="square" lIns="0" tIns="12700" rIns="0" bIns="0" rtlCol="0" vert="horz">
            <a:spAutoFit/>
          </a:bodyPr>
          <a:lstStyle/>
          <a:p>
            <a:pPr marL="38100">
              <a:lnSpc>
                <a:spcPct val="100000"/>
              </a:lnSpc>
              <a:spcBef>
                <a:spcPts val="100"/>
              </a:spcBef>
            </a:pPr>
            <a:r>
              <a:rPr dirty="0" sz="1200" spc="-5" b="1">
                <a:latin typeface="Times New Roman"/>
                <a:cs typeface="Times New Roman"/>
              </a:rPr>
              <a:t>Islamic Studies</a:t>
            </a:r>
            <a:endParaRPr sz="1200">
              <a:latin typeface="Times New Roman"/>
              <a:cs typeface="Times New Roman"/>
            </a:endParaRPr>
          </a:p>
          <a:p>
            <a:pPr>
              <a:lnSpc>
                <a:spcPct val="100000"/>
              </a:lnSpc>
              <a:spcBef>
                <a:spcPts val="15"/>
              </a:spcBef>
            </a:pPr>
            <a:endParaRPr sz="1300">
              <a:latin typeface="Times New Roman"/>
              <a:cs typeface="Times New Roman"/>
            </a:endParaRPr>
          </a:p>
          <a:p>
            <a:pPr marL="212090">
              <a:lnSpc>
                <a:spcPct val="100000"/>
              </a:lnSpc>
            </a:pPr>
            <a:r>
              <a:rPr dirty="0" baseline="3086" sz="2700" spc="-577">
                <a:latin typeface="Arial"/>
                <a:cs typeface="Arial"/>
              </a:rPr>
              <a:t>لْ </a:t>
            </a:r>
            <a:r>
              <a:rPr dirty="0" baseline="10802" sz="2700" spc="-427">
                <a:latin typeface="Arial"/>
                <a:cs typeface="Arial"/>
              </a:rPr>
              <a:t>ُ</a:t>
            </a:r>
            <a:r>
              <a:rPr dirty="0" baseline="3086" sz="2700" spc="-427">
                <a:latin typeface="Arial"/>
                <a:cs typeface="Arial"/>
              </a:rPr>
              <a:t>ق </a:t>
            </a:r>
            <a:r>
              <a:rPr dirty="0" baseline="3086" sz="2700" spc="-532">
                <a:latin typeface="Arial"/>
                <a:cs typeface="Arial"/>
              </a:rPr>
              <a:t>ى</a:t>
            </a:r>
            <a:r>
              <a:rPr dirty="0" baseline="7716" sz="2700" spc="-532">
                <a:latin typeface="Arial"/>
                <a:cs typeface="Arial"/>
              </a:rPr>
              <a:t>ٰ </a:t>
            </a:r>
            <a:r>
              <a:rPr dirty="0" baseline="3086" sz="2700" spc="-494">
                <a:latin typeface="Arial"/>
                <a:cs typeface="Arial"/>
              </a:rPr>
              <a:t>ر</a:t>
            </a:r>
            <a:r>
              <a:rPr dirty="0" sz="1800" spc="-330">
                <a:latin typeface="Arial"/>
                <a:cs typeface="Arial"/>
              </a:rPr>
              <a:t>َ </a:t>
            </a:r>
            <a:r>
              <a:rPr dirty="0" baseline="3086" sz="2700" spc="-885">
                <a:latin typeface="Arial"/>
                <a:cs typeface="Arial"/>
              </a:rPr>
              <a:t>اص</a:t>
            </a:r>
            <a:r>
              <a:rPr dirty="0" sz="1800" spc="-590">
                <a:latin typeface="Arial"/>
                <a:cs typeface="Arial"/>
              </a:rPr>
              <a:t>َ</a:t>
            </a:r>
            <a:r>
              <a:rPr dirty="0" sz="1800" spc="835">
                <a:latin typeface="Arial"/>
                <a:cs typeface="Arial"/>
              </a:rPr>
              <a:t> </a:t>
            </a:r>
            <a:r>
              <a:rPr dirty="0" baseline="3086" sz="2700" spc="-652">
                <a:latin typeface="Arial"/>
                <a:cs typeface="Arial"/>
              </a:rPr>
              <a:t>ن</a:t>
            </a:r>
            <a:r>
              <a:rPr dirty="0" baseline="7716" sz="2700" spc="-652">
                <a:latin typeface="Arial"/>
                <a:cs typeface="Arial"/>
              </a:rPr>
              <a:t>َ </a:t>
            </a:r>
            <a:r>
              <a:rPr dirty="0" baseline="3086" sz="2700" spc="-270">
                <a:latin typeface="Arial"/>
                <a:cs typeface="Arial"/>
              </a:rPr>
              <a:t>وْ </a:t>
            </a:r>
            <a:r>
              <a:rPr dirty="0" baseline="16975" sz="2700">
                <a:latin typeface="Arial"/>
                <a:cs typeface="Arial"/>
              </a:rPr>
              <a:t>َ</a:t>
            </a:r>
            <a:r>
              <a:rPr dirty="0" baseline="3086" sz="2700">
                <a:latin typeface="Arial"/>
                <a:cs typeface="Arial"/>
              </a:rPr>
              <a:t>أ</a:t>
            </a:r>
            <a:r>
              <a:rPr dirty="0" baseline="3086" sz="2700" spc="-82">
                <a:latin typeface="Arial"/>
                <a:cs typeface="Arial"/>
              </a:rPr>
              <a:t> </a:t>
            </a:r>
            <a:r>
              <a:rPr dirty="0" baseline="12345" sz="2700" spc="-127">
                <a:latin typeface="Arial"/>
                <a:cs typeface="Arial"/>
              </a:rPr>
              <a:t>ً</a:t>
            </a:r>
            <a:r>
              <a:rPr dirty="0" baseline="3086" sz="2700" spc="-127">
                <a:latin typeface="Arial"/>
                <a:cs typeface="Arial"/>
              </a:rPr>
              <a:t>ادوه</a:t>
            </a:r>
            <a:endParaRPr baseline="3086" sz="2700">
              <a:latin typeface="Arial"/>
              <a:cs typeface="Arial"/>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2176576" y="799592"/>
            <a:ext cx="4877435" cy="299720"/>
          </a:xfrm>
          <a:prstGeom prst="rect">
            <a:avLst/>
          </a:prstGeom>
        </p:spPr>
        <p:txBody>
          <a:bodyPr wrap="square" lIns="0" tIns="12700" rIns="0" bIns="0" rtlCol="0" vert="horz">
            <a:spAutoFit/>
          </a:bodyPr>
          <a:lstStyle/>
          <a:p>
            <a:pPr marL="38100">
              <a:lnSpc>
                <a:spcPct val="100000"/>
              </a:lnSpc>
              <a:spcBef>
                <a:spcPts val="100"/>
              </a:spcBef>
            </a:pPr>
            <a:r>
              <a:rPr dirty="0" baseline="1543" sz="2700">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465">
                <a:latin typeface="Arial"/>
                <a:cs typeface="Arial"/>
              </a:rPr>
              <a:t>اك</a:t>
            </a:r>
            <a:r>
              <a:rPr dirty="0" baseline="6172" sz="2700" spc="-465">
                <a:latin typeface="Arial"/>
                <a:cs typeface="Arial"/>
              </a:rPr>
              <a:t>َ</a:t>
            </a:r>
            <a:r>
              <a:rPr dirty="0" baseline="6172" sz="2700" spc="-179">
                <a:latin typeface="Arial"/>
                <a:cs typeface="Arial"/>
              </a:rPr>
              <a:t> </a:t>
            </a:r>
            <a:r>
              <a:rPr dirty="0" baseline="1543" sz="2700" spc="-652">
                <a:latin typeface="Arial"/>
                <a:cs typeface="Arial"/>
              </a:rPr>
              <a:t>ط</a:t>
            </a:r>
            <a:r>
              <a:rPr dirty="0" baseline="10802" sz="2700" spc="-652">
                <a:latin typeface="Arial"/>
                <a:cs typeface="Arial"/>
              </a:rPr>
              <a:t>َ </a:t>
            </a:r>
            <a:r>
              <a:rPr dirty="0" baseline="1543" sz="2700" spc="-585">
                <a:latin typeface="Arial"/>
                <a:cs typeface="Arial"/>
              </a:rPr>
              <a:t>اب</a:t>
            </a:r>
            <a:r>
              <a:rPr dirty="0" baseline="-1543" sz="2700" spc="-585">
                <a:latin typeface="Arial"/>
                <a:cs typeface="Arial"/>
              </a:rPr>
              <a:t>َ </a:t>
            </a:r>
            <a:r>
              <a:rPr dirty="0" baseline="1543" sz="2700" spc="-952">
                <a:latin typeface="Arial"/>
                <a:cs typeface="Arial"/>
              </a:rPr>
              <a:t>سْ</a:t>
            </a:r>
            <a:r>
              <a:rPr dirty="0" baseline="1543" sz="2700" spc="330">
                <a:latin typeface="Arial"/>
                <a:cs typeface="Arial"/>
              </a:rPr>
              <a:t> </a:t>
            </a:r>
            <a:r>
              <a:rPr dirty="0" baseline="15432" sz="2700" spc="-179">
                <a:latin typeface="Arial"/>
                <a:cs typeface="Arial"/>
              </a:rPr>
              <a:t>َ</a:t>
            </a:r>
            <a:r>
              <a:rPr dirty="0" baseline="1543" sz="2700" spc="-179">
                <a:latin typeface="Arial"/>
                <a:cs typeface="Arial"/>
              </a:rPr>
              <a:t>لأاو</a:t>
            </a:r>
            <a:r>
              <a:rPr dirty="0" baseline="-1543" sz="2700" spc="-179">
                <a:latin typeface="Arial"/>
                <a:cs typeface="Arial"/>
              </a:rPr>
              <a:t>َ  </a:t>
            </a:r>
            <a:r>
              <a:rPr dirty="0" baseline="1543" sz="2700" spc="-772">
                <a:latin typeface="Arial"/>
                <a:cs typeface="Arial"/>
              </a:rPr>
              <a:t>ب</a:t>
            </a:r>
            <a:r>
              <a:rPr dirty="0" baseline="-1543" sz="2700" spc="-772">
                <a:latin typeface="Arial"/>
                <a:cs typeface="Arial"/>
              </a:rPr>
              <a:t>َ</a:t>
            </a:r>
            <a:r>
              <a:rPr dirty="0" baseline="-1543" sz="2700" spc="787">
                <a:latin typeface="Arial"/>
                <a:cs typeface="Arial"/>
              </a:rPr>
              <a:t> </a:t>
            </a:r>
            <a:r>
              <a:rPr dirty="0" baseline="1543" sz="2700" spc="-525">
                <a:latin typeface="Arial"/>
                <a:cs typeface="Arial"/>
              </a:rPr>
              <a:t>وق</a:t>
            </a:r>
            <a:r>
              <a:rPr dirty="0" baseline="9259" sz="2700" spc="-525">
                <a:latin typeface="Arial"/>
                <a:cs typeface="Arial"/>
              </a:rPr>
              <a:t>ُ </a:t>
            </a:r>
            <a:r>
              <a:rPr dirty="0" baseline="1543" sz="2700" spc="-569">
                <a:latin typeface="Arial"/>
                <a:cs typeface="Arial"/>
              </a:rPr>
              <a:t>عْ </a:t>
            </a:r>
            <a:r>
              <a:rPr dirty="0" baseline="1543" sz="2700">
                <a:latin typeface="Arial"/>
                <a:cs typeface="Arial"/>
              </a:rPr>
              <a:t>ٌ</a:t>
            </a:r>
            <a:r>
              <a:rPr dirty="0" baseline="-1543" sz="2700">
                <a:latin typeface="Arial"/>
                <a:cs typeface="Arial"/>
              </a:rPr>
              <a:t>َ </a:t>
            </a:r>
            <a:r>
              <a:rPr dirty="0" baseline="1543" sz="2700" spc="-315">
                <a:latin typeface="Arial"/>
                <a:cs typeface="Arial"/>
              </a:rPr>
              <a:t>و</a:t>
            </a:r>
            <a:r>
              <a:rPr dirty="0" baseline="-1543" sz="2700" spc="-315">
                <a:latin typeface="Arial"/>
                <a:cs typeface="Arial"/>
              </a:rPr>
              <a:t>َ </a:t>
            </a:r>
            <a:r>
              <a:rPr dirty="0" baseline="1543" sz="2700" spc="-555">
                <a:latin typeface="Arial"/>
                <a:cs typeface="Arial"/>
              </a:rPr>
              <a:t>ق</a:t>
            </a:r>
            <a:r>
              <a:rPr dirty="0" baseline="3086" sz="2700" spc="-555">
                <a:latin typeface="Arial"/>
                <a:cs typeface="Arial"/>
              </a:rPr>
              <a:t>َ </a:t>
            </a:r>
            <a:r>
              <a:rPr dirty="0" baseline="1543" sz="2700" spc="-292">
                <a:latin typeface="Arial"/>
                <a:cs typeface="Arial"/>
              </a:rPr>
              <a:t>اـح</a:t>
            </a:r>
            <a:r>
              <a:rPr dirty="0" baseline="-1543" sz="2700" spc="-292">
                <a:latin typeface="Arial"/>
                <a:cs typeface="Arial"/>
              </a:rPr>
              <a:t>َ </a:t>
            </a:r>
            <a:r>
              <a:rPr dirty="0" baseline="1543" sz="2700" spc="-944">
                <a:latin typeface="Arial"/>
                <a:cs typeface="Arial"/>
              </a:rPr>
              <a:t>سْ</a:t>
            </a:r>
            <a:r>
              <a:rPr dirty="0" baseline="1543" sz="2700" spc="315">
                <a:latin typeface="Arial"/>
                <a:cs typeface="Arial"/>
              </a:rPr>
              <a:t> </a:t>
            </a:r>
            <a:r>
              <a:rPr dirty="0" baseline="-12345" sz="2700" spc="-157">
                <a:latin typeface="Arial"/>
                <a:cs typeface="Arial"/>
              </a:rPr>
              <a:t>ِ</a:t>
            </a:r>
            <a:r>
              <a:rPr dirty="0" baseline="1543" sz="2700" spc="-157">
                <a:latin typeface="Arial"/>
                <a:cs typeface="Arial"/>
              </a:rPr>
              <a:t>إو</a:t>
            </a:r>
            <a:r>
              <a:rPr dirty="0" baseline="-1543" sz="2700" spc="-157">
                <a:latin typeface="Arial"/>
                <a:cs typeface="Arial"/>
              </a:rPr>
              <a:t>َ </a:t>
            </a:r>
            <a:r>
              <a:rPr dirty="0" baseline="1543" sz="2700" spc="-615">
                <a:latin typeface="Arial"/>
                <a:cs typeface="Arial"/>
              </a:rPr>
              <a:t>ل</a:t>
            </a:r>
            <a:r>
              <a:rPr dirty="0" baseline="-1543" sz="2700" spc="-615">
                <a:latin typeface="Arial"/>
                <a:cs typeface="Arial"/>
              </a:rPr>
              <a:t>َ </a:t>
            </a:r>
            <a:r>
              <a:rPr dirty="0" baseline="1543" sz="2700" spc="-397">
                <a:latin typeface="Arial"/>
                <a:cs typeface="Arial"/>
              </a:rPr>
              <a:t>ٌع</a:t>
            </a:r>
            <a:r>
              <a:rPr dirty="0" sz="1800" spc="-265">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944">
                <a:latin typeface="Arial"/>
                <a:cs typeface="Arial"/>
              </a:rPr>
              <a:t>سْ</a:t>
            </a:r>
            <a:r>
              <a:rPr dirty="0" baseline="1543" sz="2700" spc="322">
                <a:latin typeface="Arial"/>
                <a:cs typeface="Arial"/>
              </a:rPr>
              <a:t> </a:t>
            </a:r>
            <a:r>
              <a:rPr dirty="0" baseline="-12345" sz="2700" spc="-157">
                <a:latin typeface="Arial"/>
                <a:cs typeface="Arial"/>
              </a:rPr>
              <a:t>ِ</a:t>
            </a:r>
            <a:r>
              <a:rPr dirty="0" baseline="1543" sz="2700" spc="-157">
                <a:latin typeface="Arial"/>
                <a:cs typeface="Arial"/>
              </a:rPr>
              <a:t>إو</a:t>
            </a:r>
            <a:r>
              <a:rPr dirty="0" baseline="-1543" sz="2700" spc="-157">
                <a:latin typeface="Arial"/>
                <a:cs typeface="Arial"/>
              </a:rPr>
              <a:t>َ </a:t>
            </a:r>
            <a:r>
              <a:rPr dirty="0" baseline="1543" sz="2700" spc="-390">
                <a:latin typeface="Arial"/>
                <a:cs typeface="Arial"/>
              </a:rPr>
              <a:t>م</a:t>
            </a:r>
            <a:r>
              <a:rPr dirty="0" baseline="-7716" sz="2700" spc="-390">
                <a:latin typeface="Arial"/>
                <a:cs typeface="Arial"/>
              </a:rPr>
              <a:t>َ </a:t>
            </a:r>
            <a:r>
              <a:rPr dirty="0" baseline="1543" sz="2700" spc="-202">
                <a:latin typeface="Arial"/>
                <a:cs typeface="Arial"/>
              </a:rPr>
              <a:t>ٌه</a:t>
            </a:r>
            <a:r>
              <a:rPr dirty="0" sz="1800" spc="-135">
                <a:latin typeface="Arial"/>
                <a:cs typeface="Arial"/>
              </a:rPr>
              <a:t>ِ </a:t>
            </a:r>
            <a:r>
              <a:rPr dirty="0" baseline="1543" sz="2700" spc="-330">
                <a:latin typeface="Arial"/>
                <a:cs typeface="Arial"/>
              </a:rPr>
              <a:t>ار</a:t>
            </a:r>
            <a:r>
              <a:rPr dirty="0" baseline="-1543" sz="2700" spc="-330">
                <a:latin typeface="Arial"/>
                <a:cs typeface="Arial"/>
              </a:rPr>
              <a:t>َ </a:t>
            </a:r>
            <a:r>
              <a:rPr dirty="0" baseline="1543" sz="2700" spc="-862">
                <a:latin typeface="Arial"/>
                <a:cs typeface="Arial"/>
              </a:rPr>
              <a:t>بْ</a:t>
            </a:r>
            <a:r>
              <a:rPr dirty="0" baseline="1543" sz="2700" spc="-337">
                <a:latin typeface="Arial"/>
                <a:cs typeface="Arial"/>
              </a:rPr>
              <a:t> </a:t>
            </a:r>
            <a:r>
              <a:rPr dirty="0" baseline="-12345" sz="2700">
                <a:latin typeface="Arial"/>
                <a:cs typeface="Arial"/>
              </a:rPr>
              <a:t>ِ</a:t>
            </a:r>
            <a:r>
              <a:rPr dirty="0" baseline="1543" sz="2700">
                <a:latin typeface="Arial"/>
                <a:cs typeface="Arial"/>
              </a:rPr>
              <a:t>إ </a:t>
            </a:r>
            <a:r>
              <a:rPr dirty="0" baseline="1543" sz="2700" spc="-352">
                <a:latin typeface="Arial"/>
                <a:cs typeface="Arial"/>
              </a:rPr>
              <a:t>ن</a:t>
            </a:r>
            <a:r>
              <a:rPr dirty="0" sz="1800" spc="-235">
                <a:latin typeface="Arial"/>
                <a:cs typeface="Arial"/>
              </a:rPr>
              <a:t>َّ </a:t>
            </a:r>
            <a:r>
              <a:rPr dirty="0" baseline="-12345" sz="2700">
                <a:latin typeface="Arial"/>
                <a:cs typeface="Arial"/>
              </a:rPr>
              <a:t>ِ</a:t>
            </a:r>
            <a:r>
              <a:rPr dirty="0" baseline="1543" sz="2700">
                <a:latin typeface="Arial"/>
                <a:cs typeface="Arial"/>
              </a:rPr>
              <a:t>إ </a:t>
            </a:r>
            <a:r>
              <a:rPr dirty="0" baseline="1543" sz="2700" spc="-494">
                <a:latin typeface="Arial"/>
                <a:cs typeface="Arial"/>
              </a:rPr>
              <a:t>ن</a:t>
            </a:r>
            <a:r>
              <a:rPr dirty="0" baseline="-1543" sz="2700" spc="-494">
                <a:latin typeface="Arial"/>
                <a:cs typeface="Arial"/>
              </a:rPr>
              <a:t>َ </a:t>
            </a:r>
            <a:r>
              <a:rPr dirty="0" baseline="1543" sz="2700" spc="-450">
                <a:latin typeface="Arial"/>
                <a:cs typeface="Arial"/>
              </a:rPr>
              <a:t>و</a:t>
            </a:r>
            <a:r>
              <a:rPr dirty="0" baseline="12345" sz="2700" spc="-450">
                <a:latin typeface="Arial"/>
                <a:cs typeface="Arial"/>
              </a:rPr>
              <a:t>ُ</a:t>
            </a:r>
            <a:r>
              <a:rPr dirty="0" baseline="1543" sz="2700" spc="-450">
                <a:latin typeface="Arial"/>
                <a:cs typeface="Arial"/>
              </a:rPr>
              <a:t>لو</a:t>
            </a:r>
            <a:r>
              <a:rPr dirty="0" baseline="9259" sz="2700" spc="-450">
                <a:latin typeface="Arial"/>
                <a:cs typeface="Arial"/>
              </a:rPr>
              <a:t>ُ</a:t>
            </a:r>
            <a:r>
              <a:rPr dirty="0" baseline="1543" sz="2700" spc="-450">
                <a:latin typeface="Arial"/>
                <a:cs typeface="Arial"/>
              </a:rPr>
              <a:t>قت</a:t>
            </a:r>
            <a:r>
              <a:rPr dirty="0" baseline="6172" sz="2700" spc="-450">
                <a:latin typeface="Arial"/>
                <a:cs typeface="Arial"/>
              </a:rPr>
              <a:t>َ </a:t>
            </a:r>
            <a:r>
              <a:rPr dirty="0" baseline="1543" sz="2700" spc="-352">
                <a:latin typeface="Arial"/>
                <a:cs typeface="Arial"/>
              </a:rPr>
              <a:t>م</a:t>
            </a:r>
            <a:r>
              <a:rPr dirty="0" baseline="-3086" sz="2700" spc="-352">
                <a:latin typeface="Arial"/>
                <a:cs typeface="Arial"/>
              </a:rPr>
              <a:t>ْ</a:t>
            </a:r>
            <a:r>
              <a:rPr dirty="0" baseline="-3086" sz="2700" spc="-487">
                <a:latin typeface="Arial"/>
                <a:cs typeface="Arial"/>
              </a:rPr>
              <a:t> </a:t>
            </a:r>
            <a:r>
              <a:rPr dirty="0" baseline="15432" sz="2700">
                <a:latin typeface="Arial"/>
                <a:cs typeface="Arial"/>
              </a:rPr>
              <a:t>َ</a:t>
            </a:r>
            <a:r>
              <a:rPr dirty="0" baseline="1543" sz="2700">
                <a:latin typeface="Arial"/>
                <a:cs typeface="Arial"/>
              </a:rPr>
              <a:t>أ</a:t>
            </a:r>
            <a:endParaRPr baseline="1543" sz="2700">
              <a:latin typeface="Arial"/>
              <a:cs typeface="Arial"/>
            </a:endParaRPr>
          </a:p>
        </p:txBody>
      </p:sp>
      <p:sp>
        <p:nvSpPr>
          <p:cNvPr id="15" name="object 15"/>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16" name="object 16"/>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59</a:t>
            </a:r>
          </a:p>
        </p:txBody>
      </p:sp>
      <p:sp>
        <p:nvSpPr>
          <p:cNvPr id="6" name="object 6"/>
          <p:cNvSpPr txBox="1"/>
          <p:nvPr/>
        </p:nvSpPr>
        <p:spPr>
          <a:xfrm>
            <a:off x="1205738" y="1061973"/>
            <a:ext cx="5860415" cy="299720"/>
          </a:xfrm>
          <a:prstGeom prst="rect">
            <a:avLst/>
          </a:prstGeom>
        </p:spPr>
        <p:txBody>
          <a:bodyPr wrap="square" lIns="0" tIns="12700" rIns="0" bIns="0" rtlCol="0" vert="horz">
            <a:spAutoFit/>
          </a:bodyPr>
          <a:lstStyle/>
          <a:p>
            <a:pPr marL="76200">
              <a:lnSpc>
                <a:spcPct val="100000"/>
              </a:lnSpc>
              <a:spcBef>
                <a:spcPts val="100"/>
              </a:spcBef>
            </a:pPr>
            <a:r>
              <a:rPr dirty="0" baseline="1543" sz="2700" spc="-494">
                <a:latin typeface="Arial"/>
                <a:cs typeface="Arial"/>
              </a:rPr>
              <a:t>ن</a:t>
            </a:r>
            <a:r>
              <a:rPr dirty="0" baseline="-1543" sz="2700" spc="-494">
                <a:latin typeface="Arial"/>
                <a:cs typeface="Arial"/>
              </a:rPr>
              <a:t>َ </a:t>
            </a:r>
            <a:r>
              <a:rPr dirty="0" baseline="1543" sz="2700" spc="-322">
                <a:latin typeface="Arial"/>
                <a:cs typeface="Arial"/>
              </a:rPr>
              <a:t>و</a:t>
            </a:r>
            <a:r>
              <a:rPr dirty="0" baseline="12345" sz="2700" spc="-322">
                <a:latin typeface="Arial"/>
                <a:cs typeface="Arial"/>
              </a:rPr>
              <a:t>ُ</a:t>
            </a:r>
            <a:r>
              <a:rPr dirty="0" baseline="1543" sz="2700" spc="-322">
                <a:latin typeface="Arial"/>
                <a:cs typeface="Arial"/>
              </a:rPr>
              <a:t>لم</a:t>
            </a:r>
            <a:r>
              <a:rPr dirty="0" baseline="-1543" sz="2700" spc="-322">
                <a:latin typeface="Arial"/>
                <a:cs typeface="Arial"/>
              </a:rPr>
              <a:t>َ </a:t>
            </a:r>
            <a:r>
              <a:rPr dirty="0" baseline="1543" sz="2700" spc="-569">
                <a:latin typeface="Arial"/>
                <a:cs typeface="Arial"/>
              </a:rPr>
              <a:t>عْ </a:t>
            </a:r>
            <a:r>
              <a:rPr dirty="0" baseline="1543" sz="2700" spc="-892">
                <a:latin typeface="Arial"/>
                <a:cs typeface="Arial"/>
              </a:rPr>
              <a:t>ت</a:t>
            </a:r>
            <a:r>
              <a:rPr dirty="0" baseline="6172" sz="2700" spc="-892">
                <a:latin typeface="Arial"/>
                <a:cs typeface="Arial"/>
              </a:rPr>
              <a:t>َ</a:t>
            </a:r>
            <a:r>
              <a:rPr dirty="0" baseline="6172" sz="2700" spc="667">
                <a:latin typeface="Arial"/>
                <a:cs typeface="Arial"/>
              </a:rPr>
              <a:t> </a:t>
            </a:r>
            <a:r>
              <a:rPr dirty="0" baseline="1543" sz="2700" spc="-179">
                <a:latin typeface="Arial"/>
                <a:cs typeface="Arial"/>
              </a:rPr>
              <a:t>ام</a:t>
            </a:r>
            <a:r>
              <a:rPr dirty="0" sz="1800" spc="-120">
                <a:latin typeface="Arial"/>
                <a:cs typeface="Arial"/>
              </a:rPr>
              <a:t>َّ </a:t>
            </a:r>
            <a:r>
              <a:rPr dirty="0" baseline="1543" sz="2700" spc="-607">
                <a:latin typeface="Arial"/>
                <a:cs typeface="Arial"/>
              </a:rPr>
              <a:t>ع</a:t>
            </a:r>
            <a:r>
              <a:rPr dirty="0" baseline="-1543" sz="2700" spc="-607">
                <a:latin typeface="Arial"/>
                <a:cs typeface="Arial"/>
              </a:rPr>
              <a:t>َ </a:t>
            </a:r>
            <a:r>
              <a:rPr dirty="0" baseline="1543" sz="2700" spc="-532">
                <a:latin typeface="Arial"/>
                <a:cs typeface="Arial"/>
              </a:rPr>
              <a:t>ل</a:t>
            </a:r>
            <a:r>
              <a:rPr dirty="0" baseline="-4629" sz="2700" spc="-532">
                <a:latin typeface="Arial"/>
                <a:cs typeface="Arial"/>
              </a:rPr>
              <a:t>ٍ </a:t>
            </a:r>
            <a:r>
              <a:rPr dirty="0" baseline="1543" sz="2700" spc="-1057">
                <a:latin typeface="Arial"/>
                <a:cs typeface="Arial"/>
              </a:rPr>
              <a:t>ف</a:t>
            </a:r>
            <a:r>
              <a:rPr dirty="0" sz="1800" spc="-705">
                <a:latin typeface="Arial"/>
                <a:cs typeface="Arial"/>
              </a:rPr>
              <a:t>ِ</a:t>
            </a:r>
            <a:r>
              <a:rPr dirty="0" sz="1800" spc="20">
                <a:latin typeface="Arial"/>
                <a:cs typeface="Arial"/>
              </a:rPr>
              <a:t> </a:t>
            </a:r>
            <a:r>
              <a:rPr dirty="0" baseline="1543" sz="2700" spc="-472">
                <a:latin typeface="Arial"/>
                <a:cs typeface="Arial"/>
              </a:rPr>
              <a:t>اؽ</a:t>
            </a:r>
            <a:r>
              <a:rPr dirty="0" baseline="3086" sz="2700" spc="-472">
                <a:latin typeface="Arial"/>
                <a:cs typeface="Arial"/>
              </a:rPr>
              <a:t>َ </a:t>
            </a:r>
            <a:r>
              <a:rPr dirty="0" baseline="1543" sz="2700" spc="-967">
                <a:latin typeface="Arial"/>
                <a:cs typeface="Arial"/>
              </a:rPr>
              <a:t>ب</a:t>
            </a:r>
            <a:r>
              <a:rPr dirty="0" baseline="-12345" sz="2700" spc="-967">
                <a:latin typeface="Arial"/>
                <a:cs typeface="Arial"/>
              </a:rPr>
              <a:t>ِ</a:t>
            </a:r>
            <a:r>
              <a:rPr dirty="0" baseline="-12345" sz="2700" spc="727">
                <a:latin typeface="Arial"/>
                <a:cs typeface="Arial"/>
              </a:rPr>
              <a:t> </a:t>
            </a:r>
            <a:r>
              <a:rPr dirty="0" baseline="-7716" sz="2700" spc="-630">
                <a:latin typeface="Arial"/>
                <a:cs typeface="Arial"/>
              </a:rPr>
              <a:t>ُ</a:t>
            </a:r>
            <a:r>
              <a:rPr dirty="0" baseline="1543" sz="2700" spc="-630">
                <a:latin typeface="Arial"/>
                <a:cs typeface="Arial"/>
              </a:rPr>
              <a:t>للَّ</a:t>
            </a:r>
            <a:r>
              <a:rPr dirty="0" baseline="13888" sz="2700" spc="-630">
                <a:latin typeface="Arial"/>
                <a:cs typeface="Arial"/>
              </a:rPr>
              <a:t>َّ </a:t>
            </a:r>
            <a:r>
              <a:rPr dirty="0" baseline="1543" sz="2700">
                <a:latin typeface="Arial"/>
                <a:cs typeface="Arial"/>
              </a:rPr>
              <a:t>ٱ </a:t>
            </a:r>
            <a:r>
              <a:rPr dirty="0" baseline="1543" sz="2700" spc="-225">
                <a:latin typeface="Arial"/>
                <a:cs typeface="Arial"/>
              </a:rPr>
              <a:t>ام</a:t>
            </a:r>
            <a:r>
              <a:rPr dirty="0" baseline="-1543" sz="2700" spc="-225">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885">
                <a:latin typeface="Arial"/>
                <a:cs typeface="Arial"/>
              </a:rPr>
              <a:t>للَّ</a:t>
            </a:r>
            <a:r>
              <a:rPr dirty="0" baseline="-1543" sz="2700" spc="-885">
                <a:latin typeface="Arial"/>
                <a:cs typeface="Arial"/>
              </a:rPr>
              <a:t>ِ</a:t>
            </a:r>
            <a:r>
              <a:rPr dirty="0" baseline="-1543" sz="2700" spc="-75">
                <a:latin typeface="Arial"/>
                <a:cs typeface="Arial"/>
              </a:rPr>
              <a:t> </a:t>
            </a:r>
            <a:r>
              <a:rPr dirty="0" baseline="13888" sz="2700">
                <a:latin typeface="Arial"/>
                <a:cs typeface="Arial"/>
              </a:rPr>
              <a:t>َّ </a:t>
            </a:r>
            <a:r>
              <a:rPr dirty="0" baseline="1543" sz="2700">
                <a:latin typeface="Arial"/>
                <a:cs typeface="Arial"/>
              </a:rPr>
              <a:t>ٱ </a:t>
            </a:r>
            <a:r>
              <a:rPr dirty="0" baseline="1543" sz="2700" spc="-494">
                <a:latin typeface="Arial"/>
                <a:cs typeface="Arial"/>
              </a:rPr>
              <a:t>ن</a:t>
            </a:r>
            <a:r>
              <a:rPr dirty="0" baseline="-1543" sz="2700" spc="-494">
                <a:latin typeface="Arial"/>
                <a:cs typeface="Arial"/>
              </a:rPr>
              <a:t>َ </a:t>
            </a:r>
            <a:r>
              <a:rPr dirty="0" baseline="1543" sz="2700" spc="-352">
                <a:latin typeface="Arial"/>
                <a:cs typeface="Arial"/>
              </a:rPr>
              <a:t>م</a:t>
            </a:r>
            <a:r>
              <a:rPr dirty="0" sz="1800" spc="-235">
                <a:latin typeface="Arial"/>
                <a:cs typeface="Arial"/>
              </a:rPr>
              <a:t>ِ </a:t>
            </a:r>
            <a:r>
              <a:rPr dirty="0" baseline="1543" sz="2700" spc="-165">
                <a:latin typeface="Arial"/>
                <a:cs typeface="Arial"/>
              </a:rPr>
              <a:t>ُهد</a:t>
            </a:r>
            <a:r>
              <a:rPr dirty="0" sz="1800" spc="-110">
                <a:latin typeface="Arial"/>
                <a:cs typeface="Arial"/>
              </a:rPr>
              <a:t>َ </a:t>
            </a:r>
            <a:r>
              <a:rPr dirty="0" baseline="1543" sz="2700" spc="-652">
                <a:latin typeface="Arial"/>
                <a:cs typeface="Arial"/>
              </a:rPr>
              <a:t>نع</a:t>
            </a:r>
            <a:r>
              <a:rPr dirty="0" sz="1800" spc="-434">
                <a:latin typeface="Arial"/>
                <a:cs typeface="Arial"/>
              </a:rPr>
              <a:t>ِ </a:t>
            </a:r>
            <a:r>
              <a:rPr dirty="0" baseline="1543" sz="2700" spc="-345">
                <a:latin typeface="Arial"/>
                <a:cs typeface="Arial"/>
              </a:rPr>
              <a:t>ة</a:t>
            </a:r>
            <a:r>
              <a:rPr dirty="0" baseline="7716" sz="2700" spc="-345">
                <a:latin typeface="Arial"/>
                <a:cs typeface="Arial"/>
              </a:rPr>
              <a:t>ً </a:t>
            </a:r>
            <a:r>
              <a:rPr dirty="0" baseline="1543" sz="2700" spc="-322">
                <a:latin typeface="Arial"/>
                <a:cs typeface="Arial"/>
              </a:rPr>
              <a:t>د</a:t>
            </a:r>
            <a:r>
              <a:rPr dirty="0" sz="1800" spc="-215">
                <a:latin typeface="Arial"/>
                <a:cs typeface="Arial"/>
              </a:rPr>
              <a:t>َ </a:t>
            </a:r>
            <a:r>
              <a:rPr dirty="0" baseline="1543" sz="2700" spc="-202">
                <a:latin typeface="Arial"/>
                <a:cs typeface="Arial"/>
              </a:rPr>
              <a:t>اه</a:t>
            </a:r>
            <a:r>
              <a:rPr dirty="0" baseline="-1543" sz="2700" spc="-202">
                <a:latin typeface="Arial"/>
                <a:cs typeface="Arial"/>
              </a:rPr>
              <a:t>َ </a:t>
            </a:r>
            <a:r>
              <a:rPr dirty="0" baseline="1543" sz="2700" spc="-1042">
                <a:latin typeface="Arial"/>
                <a:cs typeface="Arial"/>
              </a:rPr>
              <a:t>ش</a:t>
            </a:r>
            <a:r>
              <a:rPr dirty="0" baseline="6172" sz="2700" spc="-1042">
                <a:latin typeface="Arial"/>
                <a:cs typeface="Arial"/>
              </a:rPr>
              <a:t>َ</a:t>
            </a:r>
            <a:r>
              <a:rPr dirty="0" baseline="6172" sz="2700" spc="1514">
                <a:latin typeface="Arial"/>
                <a:cs typeface="Arial"/>
              </a:rPr>
              <a:t> </a:t>
            </a:r>
            <a:r>
              <a:rPr dirty="0" baseline="1543" sz="2700" spc="-390">
                <a:latin typeface="Arial"/>
                <a:cs typeface="Arial"/>
              </a:rPr>
              <a:t>م</a:t>
            </a:r>
            <a:r>
              <a:rPr dirty="0" baseline="-7716" sz="2700" spc="-390">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172">
                <a:latin typeface="Arial"/>
                <a:cs typeface="Arial"/>
              </a:rPr>
              <a:t> </a:t>
            </a:r>
            <a:r>
              <a:rPr dirty="0" baseline="1543" sz="2700" spc="-719">
                <a:latin typeface="Arial"/>
                <a:cs typeface="Arial"/>
              </a:rPr>
              <a:t>ك</a:t>
            </a:r>
            <a:r>
              <a:rPr dirty="0" baseline="6172" sz="2700" spc="-719">
                <a:latin typeface="Arial"/>
                <a:cs typeface="Arial"/>
              </a:rPr>
              <a:t>َ </a:t>
            </a:r>
            <a:r>
              <a:rPr dirty="0" baseline="1543" sz="2700" spc="-465">
                <a:latin typeface="Arial"/>
                <a:cs typeface="Arial"/>
              </a:rPr>
              <a:t>نْ </a:t>
            </a:r>
            <a:r>
              <a:rPr dirty="0" baseline="1543" sz="2700" spc="-254">
                <a:latin typeface="Arial"/>
                <a:cs typeface="Arial"/>
              </a:rPr>
              <a:t>م</a:t>
            </a:r>
            <a:r>
              <a:rPr dirty="0" sz="1800" spc="-170">
                <a:latin typeface="Arial"/>
                <a:cs typeface="Arial"/>
              </a:rPr>
              <a:t>َّ </a:t>
            </a:r>
            <a:r>
              <a:rPr dirty="0" baseline="1543" sz="2700" spc="-352">
                <a:latin typeface="Arial"/>
                <a:cs typeface="Arial"/>
              </a:rPr>
              <a:t>م</a:t>
            </a:r>
            <a:r>
              <a:rPr dirty="0" sz="1800" spc="-235">
                <a:latin typeface="Arial"/>
                <a:cs typeface="Arial"/>
              </a:rPr>
              <a:t>ِ </a:t>
            </a:r>
            <a:r>
              <a:rPr dirty="0" baseline="1543" sz="2700" spc="-427">
                <a:latin typeface="Arial"/>
                <a:cs typeface="Arial"/>
              </a:rPr>
              <a:t>م</a:t>
            </a:r>
            <a:r>
              <a:rPr dirty="0" baseline="-4629" sz="2700" spc="-427">
                <a:latin typeface="Arial"/>
                <a:cs typeface="Arial"/>
              </a:rPr>
              <a:t>ُ </a:t>
            </a:r>
            <a:r>
              <a:rPr dirty="0" baseline="9259" sz="2700" spc="-517">
                <a:latin typeface="Arial"/>
                <a:cs typeface="Arial"/>
              </a:rPr>
              <a:t>َ</a:t>
            </a:r>
            <a:r>
              <a:rPr dirty="0" baseline="1543" sz="2700" spc="-517">
                <a:latin typeface="Arial"/>
                <a:cs typeface="Arial"/>
              </a:rPr>
              <a:t>لظ</a:t>
            </a:r>
            <a:r>
              <a:rPr dirty="0" baseline="15432" sz="2700" spc="-517">
                <a:latin typeface="Arial"/>
                <a:cs typeface="Arial"/>
              </a:rPr>
              <a:t>ْ </a:t>
            </a:r>
            <a:r>
              <a:rPr dirty="0" baseline="15432" sz="2700">
                <a:latin typeface="Arial"/>
                <a:cs typeface="Arial"/>
              </a:rPr>
              <a:t>َ</a:t>
            </a:r>
            <a:r>
              <a:rPr dirty="0" baseline="1543" sz="2700">
                <a:latin typeface="Arial"/>
                <a:cs typeface="Arial"/>
              </a:rPr>
              <a:t>أ </a:t>
            </a:r>
            <a:r>
              <a:rPr dirty="0" baseline="1543" sz="2700" spc="-472">
                <a:latin typeface="Arial"/>
                <a:cs typeface="Arial"/>
              </a:rPr>
              <a:t>نْ </a:t>
            </a:r>
            <a:r>
              <a:rPr dirty="0" baseline="1543" sz="2700" spc="-359">
                <a:latin typeface="Arial"/>
                <a:cs typeface="Arial"/>
              </a:rPr>
              <a:t>م</a:t>
            </a:r>
            <a:r>
              <a:rPr dirty="0" baseline="-1543" sz="2700" spc="-359">
                <a:latin typeface="Arial"/>
                <a:cs typeface="Arial"/>
              </a:rPr>
              <a:t>َ </a:t>
            </a:r>
            <a:r>
              <a:rPr dirty="0" baseline="1543" sz="2700" spc="-307">
                <a:latin typeface="Arial"/>
                <a:cs typeface="Arial"/>
              </a:rPr>
              <a:t>و</a:t>
            </a:r>
            <a:r>
              <a:rPr dirty="0" baseline="-1543" sz="2700" spc="-307">
                <a:latin typeface="Arial"/>
                <a:cs typeface="Arial"/>
              </a:rPr>
              <a:t>َ </a:t>
            </a:r>
            <a:r>
              <a:rPr dirty="0" baseline="-7716" sz="2700" spc="-630">
                <a:latin typeface="Arial"/>
                <a:cs typeface="Arial"/>
              </a:rPr>
              <a:t>ُ</a:t>
            </a:r>
            <a:r>
              <a:rPr dirty="0" baseline="1543" sz="2700" spc="-630">
                <a:latin typeface="Arial"/>
                <a:cs typeface="Arial"/>
              </a:rPr>
              <a:t>للَّ</a:t>
            </a:r>
            <a:r>
              <a:rPr dirty="0" baseline="13888" sz="2700" spc="-630">
                <a:latin typeface="Arial"/>
                <a:cs typeface="Arial"/>
              </a:rPr>
              <a:t>َّ </a:t>
            </a:r>
            <a:r>
              <a:rPr dirty="0" baseline="1543" sz="2700">
                <a:latin typeface="Arial"/>
                <a:cs typeface="Arial"/>
              </a:rPr>
              <a:t>ٱ </a:t>
            </a:r>
            <a:r>
              <a:rPr dirty="0" baseline="1543" sz="2700" spc="-315">
                <a:latin typeface="Arial"/>
                <a:cs typeface="Arial"/>
              </a:rPr>
              <a:t>م</a:t>
            </a:r>
            <a:r>
              <a:rPr dirty="0" baseline="-16975" sz="2700" spc="-315">
                <a:latin typeface="Arial"/>
                <a:cs typeface="Arial"/>
              </a:rPr>
              <a:t>ِ </a:t>
            </a:r>
            <a:r>
              <a:rPr dirty="0" baseline="15432" sz="2700">
                <a:latin typeface="Arial"/>
                <a:cs typeface="Arial"/>
              </a:rPr>
              <a:t>َ</a:t>
            </a:r>
            <a:r>
              <a:rPr dirty="0" baseline="1543" sz="2700">
                <a:latin typeface="Arial"/>
                <a:cs typeface="Arial"/>
              </a:rPr>
              <a:t>أ </a:t>
            </a:r>
            <a:r>
              <a:rPr dirty="0" baseline="1543" sz="2700" spc="-427">
                <a:latin typeface="Arial"/>
                <a:cs typeface="Arial"/>
              </a:rPr>
              <a:t>م</a:t>
            </a:r>
            <a:r>
              <a:rPr dirty="0" baseline="-4629" sz="2700" spc="-427">
                <a:latin typeface="Arial"/>
                <a:cs typeface="Arial"/>
              </a:rPr>
              <a:t>ُ </a:t>
            </a:r>
            <a:r>
              <a:rPr dirty="0" baseline="9259" sz="2700" spc="-494">
                <a:latin typeface="Arial"/>
                <a:cs typeface="Arial"/>
              </a:rPr>
              <a:t>َ</a:t>
            </a:r>
            <a:r>
              <a:rPr dirty="0" baseline="1543" sz="2700" spc="-494">
                <a:latin typeface="Arial"/>
                <a:cs typeface="Arial"/>
              </a:rPr>
              <a:t>لعْ  </a:t>
            </a:r>
            <a:r>
              <a:rPr dirty="0" baseline="15432" sz="2700">
                <a:latin typeface="Arial"/>
                <a:cs typeface="Arial"/>
              </a:rPr>
              <a:t>َ</a:t>
            </a:r>
            <a:r>
              <a:rPr dirty="0" baseline="1543" sz="2700">
                <a:latin typeface="Arial"/>
                <a:cs typeface="Arial"/>
              </a:rPr>
              <a:t>أ </a:t>
            </a:r>
            <a:r>
              <a:rPr dirty="0" baseline="1543" sz="2700" spc="-352">
                <a:latin typeface="Arial"/>
                <a:cs typeface="Arial"/>
              </a:rPr>
              <a:t>م</a:t>
            </a:r>
            <a:r>
              <a:rPr dirty="0" baseline="-3086" sz="2700" spc="-352">
                <a:latin typeface="Arial"/>
                <a:cs typeface="Arial"/>
              </a:rPr>
              <a:t>ْ</a:t>
            </a:r>
            <a:r>
              <a:rPr dirty="0" baseline="-3086" sz="2700" spc="-52">
                <a:latin typeface="Arial"/>
                <a:cs typeface="Arial"/>
              </a:rPr>
              <a:t> </a:t>
            </a:r>
            <a:r>
              <a:rPr dirty="0" baseline="1543" sz="2700" spc="-930">
                <a:latin typeface="Arial"/>
                <a:cs typeface="Arial"/>
              </a:rPr>
              <a:t>ت</a:t>
            </a:r>
            <a:r>
              <a:rPr dirty="0" baseline="9259" sz="2700" spc="-930">
                <a:latin typeface="Arial"/>
                <a:cs typeface="Arial"/>
              </a:rPr>
              <a:t>ُ</a:t>
            </a:r>
            <a:r>
              <a:rPr dirty="0" baseline="9259" sz="2700" spc="-89">
                <a:latin typeface="Arial"/>
                <a:cs typeface="Arial"/>
              </a:rPr>
              <a:t> </a:t>
            </a:r>
            <a:r>
              <a:rPr dirty="0" baseline="1543" sz="2700" spc="-607">
                <a:latin typeface="Arial"/>
                <a:cs typeface="Arial"/>
              </a:rPr>
              <a:t>ن</a:t>
            </a:r>
            <a:r>
              <a:rPr dirty="0" baseline="9259" sz="2700" spc="-607">
                <a:latin typeface="Arial"/>
                <a:cs typeface="Arial"/>
              </a:rPr>
              <a:t>ْ </a:t>
            </a:r>
            <a:r>
              <a:rPr dirty="0" baseline="15432" sz="2700" spc="-15">
                <a:latin typeface="Arial"/>
                <a:cs typeface="Arial"/>
              </a:rPr>
              <a:t>َ</a:t>
            </a:r>
            <a:r>
              <a:rPr dirty="0" baseline="1543" sz="2700" spc="-15">
                <a:latin typeface="Arial"/>
                <a:cs typeface="Arial"/>
              </a:rPr>
              <a:t>أ</a:t>
            </a:r>
            <a:r>
              <a:rPr dirty="0" baseline="15432" sz="2700" spc="-15">
                <a:latin typeface="Arial"/>
                <a:cs typeface="Arial"/>
              </a:rPr>
              <a:t>َ</a:t>
            </a:r>
            <a:r>
              <a:rPr dirty="0" baseline="1543" sz="2700" spc="-15">
                <a:latin typeface="Arial"/>
                <a:cs typeface="Arial"/>
              </a:rPr>
              <a:t>أ</a:t>
            </a:r>
            <a:endParaRPr baseline="1543" sz="2700">
              <a:latin typeface="Arial"/>
              <a:cs typeface="Arial"/>
            </a:endParaRPr>
          </a:p>
        </p:txBody>
      </p:sp>
      <p:sp>
        <p:nvSpPr>
          <p:cNvPr id="7" name="object 7"/>
          <p:cNvSpPr txBox="1"/>
          <p:nvPr/>
        </p:nvSpPr>
        <p:spPr>
          <a:xfrm>
            <a:off x="718819" y="1500885"/>
            <a:ext cx="6309360" cy="2312035"/>
          </a:xfrm>
          <a:prstGeom prst="rect">
            <a:avLst/>
          </a:prstGeom>
        </p:spPr>
        <p:txBody>
          <a:bodyPr wrap="square" lIns="0" tIns="24765" rIns="0" bIns="0" rtlCol="0" vert="horz">
            <a:spAutoFit/>
          </a:bodyPr>
          <a:lstStyle/>
          <a:p>
            <a:pPr algn="just" marL="12700" marR="6985">
              <a:lnSpc>
                <a:spcPts val="1380"/>
              </a:lnSpc>
              <a:spcBef>
                <a:spcPts val="195"/>
              </a:spcBef>
            </a:pPr>
            <a:r>
              <a:rPr dirty="0" sz="1200" spc="-5">
                <a:latin typeface="Arial"/>
                <a:cs typeface="Arial"/>
              </a:rPr>
              <a:t>140. </a:t>
            </a:r>
            <a:r>
              <a:rPr dirty="0" sz="1200">
                <a:latin typeface="Arial"/>
                <a:cs typeface="Arial"/>
              </a:rPr>
              <a:t>Or </a:t>
            </a:r>
            <a:r>
              <a:rPr dirty="0" sz="1200" spc="-5">
                <a:latin typeface="Arial"/>
                <a:cs typeface="Arial"/>
              </a:rPr>
              <a:t>say </a:t>
            </a:r>
            <a:r>
              <a:rPr dirty="0" sz="1200" spc="-10">
                <a:latin typeface="Arial"/>
                <a:cs typeface="Arial"/>
              </a:rPr>
              <a:t>ye </a:t>
            </a:r>
            <a:r>
              <a:rPr dirty="0" sz="1200" spc="-5">
                <a:latin typeface="Arial"/>
                <a:cs typeface="Arial"/>
              </a:rPr>
              <a:t>that Abraham, and Ishmael, and Isaac, and Jacob, and the tribes were </a:t>
            </a:r>
            <a:r>
              <a:rPr dirty="0" sz="1200" spc="-10">
                <a:latin typeface="Arial"/>
                <a:cs typeface="Arial"/>
              </a:rPr>
              <a:t>Jews  </a:t>
            </a:r>
            <a:r>
              <a:rPr dirty="0" sz="1200" spc="-5">
                <a:latin typeface="Arial"/>
                <a:cs typeface="Arial"/>
              </a:rPr>
              <a:t>or Christians? Say: </a:t>
            </a:r>
            <a:r>
              <a:rPr dirty="0" sz="1200">
                <a:latin typeface="Arial"/>
                <a:cs typeface="Arial"/>
              </a:rPr>
              <a:t>Do </a:t>
            </a:r>
            <a:r>
              <a:rPr dirty="0" sz="1200" spc="-10">
                <a:latin typeface="Arial"/>
                <a:cs typeface="Arial"/>
              </a:rPr>
              <a:t>ye </a:t>
            </a:r>
            <a:r>
              <a:rPr dirty="0" sz="1200">
                <a:latin typeface="Arial"/>
                <a:cs typeface="Arial"/>
              </a:rPr>
              <a:t>know best, </a:t>
            </a:r>
            <a:r>
              <a:rPr dirty="0" sz="1200" spc="-5">
                <a:latin typeface="Arial"/>
                <a:cs typeface="Arial"/>
              </a:rPr>
              <a:t>or doth Allah? And </a:t>
            </a:r>
            <a:r>
              <a:rPr dirty="0" sz="1200" spc="-10">
                <a:latin typeface="Arial"/>
                <a:cs typeface="Arial"/>
              </a:rPr>
              <a:t>who </a:t>
            </a:r>
            <a:r>
              <a:rPr dirty="0" sz="1200" spc="-5">
                <a:latin typeface="Arial"/>
                <a:cs typeface="Arial"/>
              </a:rPr>
              <a:t>is </a:t>
            </a:r>
            <a:r>
              <a:rPr dirty="0" sz="1200">
                <a:latin typeface="Arial"/>
                <a:cs typeface="Arial"/>
              </a:rPr>
              <a:t>more </a:t>
            </a:r>
            <a:r>
              <a:rPr dirty="0" sz="1200" spc="-5">
                <a:latin typeface="Arial"/>
                <a:cs typeface="Arial"/>
              </a:rPr>
              <a:t>unjust than he </a:t>
            </a:r>
            <a:r>
              <a:rPr dirty="0" sz="1200" spc="-10">
                <a:latin typeface="Arial"/>
                <a:cs typeface="Arial"/>
              </a:rPr>
              <a:t>who  </a:t>
            </a:r>
            <a:r>
              <a:rPr dirty="0" sz="1200">
                <a:latin typeface="Arial"/>
                <a:cs typeface="Arial"/>
              </a:rPr>
              <a:t>hides </a:t>
            </a:r>
            <a:r>
              <a:rPr dirty="0" sz="1200" spc="-5">
                <a:latin typeface="Arial"/>
                <a:cs typeface="Arial"/>
              </a:rPr>
              <a:t>a testimony which </a:t>
            </a:r>
            <a:r>
              <a:rPr dirty="0" sz="1200">
                <a:latin typeface="Arial"/>
                <a:cs typeface="Arial"/>
              </a:rPr>
              <a:t>he </a:t>
            </a:r>
            <a:r>
              <a:rPr dirty="0" sz="1200" spc="-5">
                <a:latin typeface="Arial"/>
                <a:cs typeface="Arial"/>
              </a:rPr>
              <a:t>hath received from Allah? Allah is not unaware of what </a:t>
            </a:r>
            <a:r>
              <a:rPr dirty="0" sz="1200" spc="-10">
                <a:latin typeface="Arial"/>
                <a:cs typeface="Arial"/>
              </a:rPr>
              <a:t>ye</a:t>
            </a:r>
            <a:r>
              <a:rPr dirty="0" sz="1200" spc="114">
                <a:latin typeface="Arial"/>
                <a:cs typeface="Arial"/>
              </a:rPr>
              <a:t> </a:t>
            </a:r>
            <a:r>
              <a:rPr dirty="0" sz="1200" spc="-5">
                <a:latin typeface="Arial"/>
                <a:cs typeface="Arial"/>
              </a:rPr>
              <a:t>do.</a:t>
            </a:r>
            <a:endParaRPr sz="1200">
              <a:latin typeface="Arial"/>
              <a:cs typeface="Arial"/>
            </a:endParaRPr>
          </a:p>
          <a:p>
            <a:pPr>
              <a:lnSpc>
                <a:spcPct val="100000"/>
              </a:lnSpc>
            </a:pPr>
            <a:endParaRPr sz="1300">
              <a:latin typeface="Arial"/>
              <a:cs typeface="Arial"/>
            </a:endParaRPr>
          </a:p>
          <a:p>
            <a:pPr>
              <a:lnSpc>
                <a:spcPct val="100000"/>
              </a:lnSpc>
              <a:spcBef>
                <a:spcPts val="20"/>
              </a:spcBef>
            </a:pPr>
            <a:endParaRPr sz="1000">
              <a:latin typeface="Arial"/>
              <a:cs typeface="Arial"/>
            </a:endParaRPr>
          </a:p>
          <a:p>
            <a:pPr algn="just" marL="12700">
              <a:lnSpc>
                <a:spcPct val="100000"/>
              </a:lnSpc>
            </a:pPr>
            <a:r>
              <a:rPr dirty="0" sz="1200" spc="-5" b="1">
                <a:latin typeface="Arial"/>
                <a:cs typeface="Arial"/>
              </a:rPr>
              <a:t>(Verse 142 </a:t>
            </a:r>
            <a:r>
              <a:rPr dirty="0" sz="1200" b="1">
                <a:latin typeface="Arial"/>
                <a:cs typeface="Arial"/>
              </a:rPr>
              <a:t>– </a:t>
            </a:r>
            <a:r>
              <a:rPr dirty="0" sz="1200" spc="-5" b="1">
                <a:latin typeface="Arial"/>
                <a:cs typeface="Arial"/>
              </a:rPr>
              <a:t>152):</a:t>
            </a:r>
            <a:endParaRPr sz="1200">
              <a:latin typeface="Arial"/>
              <a:cs typeface="Arial"/>
            </a:endParaRPr>
          </a:p>
          <a:p>
            <a:pPr>
              <a:lnSpc>
                <a:spcPct val="100000"/>
              </a:lnSpc>
              <a:spcBef>
                <a:spcPts val="55"/>
              </a:spcBef>
            </a:pPr>
            <a:endParaRPr sz="1150">
              <a:latin typeface="Arial"/>
              <a:cs typeface="Arial"/>
            </a:endParaRPr>
          </a:p>
          <a:p>
            <a:pPr algn="just" marL="12700" marR="5080">
              <a:lnSpc>
                <a:spcPct val="95900"/>
              </a:lnSpc>
            </a:pPr>
            <a:r>
              <a:rPr dirty="0" sz="1200">
                <a:latin typeface="Arial"/>
                <a:cs typeface="Arial"/>
              </a:rPr>
              <a:t>In this </a:t>
            </a:r>
            <a:r>
              <a:rPr dirty="0" sz="1200" spc="-5">
                <a:latin typeface="Arial"/>
                <a:cs typeface="Arial"/>
              </a:rPr>
              <a:t>portion, the declaration of the change of Qiblah </a:t>
            </a:r>
            <a:r>
              <a:rPr dirty="0" sz="1200">
                <a:latin typeface="Arial"/>
                <a:cs typeface="Arial"/>
              </a:rPr>
              <a:t>from </a:t>
            </a:r>
            <a:r>
              <a:rPr dirty="0" sz="1200" spc="-5">
                <a:latin typeface="Arial"/>
                <a:cs typeface="Arial"/>
              </a:rPr>
              <a:t>the Temple (Jerusalem) </a:t>
            </a:r>
            <a:r>
              <a:rPr dirty="0" sz="1200">
                <a:latin typeface="Arial"/>
                <a:cs typeface="Arial"/>
              </a:rPr>
              <a:t>to </a:t>
            </a:r>
            <a:r>
              <a:rPr dirty="0" sz="1200" spc="-5">
                <a:latin typeface="Arial"/>
                <a:cs typeface="Arial"/>
              </a:rPr>
              <a:t>the  Ka‘bah (Makkah) has been made as a symbol </a:t>
            </a:r>
            <a:r>
              <a:rPr dirty="0" sz="1200">
                <a:latin typeface="Arial"/>
                <a:cs typeface="Arial"/>
              </a:rPr>
              <a:t>of </a:t>
            </a:r>
            <a:r>
              <a:rPr dirty="0" sz="1200" spc="-5">
                <a:latin typeface="Arial"/>
                <a:cs typeface="Arial"/>
              </a:rPr>
              <a:t>the change of leadership from </a:t>
            </a:r>
            <a:r>
              <a:rPr dirty="0" sz="1200">
                <a:latin typeface="Arial"/>
                <a:cs typeface="Arial"/>
              </a:rPr>
              <a:t>the </a:t>
            </a:r>
            <a:r>
              <a:rPr dirty="0" sz="1200" spc="-5">
                <a:latin typeface="Arial"/>
                <a:cs typeface="Arial"/>
              </a:rPr>
              <a:t>children  of </a:t>
            </a:r>
            <a:r>
              <a:rPr dirty="0" sz="1200">
                <a:latin typeface="Arial"/>
                <a:cs typeface="Arial"/>
              </a:rPr>
              <a:t>Israel to </a:t>
            </a:r>
            <a:r>
              <a:rPr dirty="0" sz="1200" spc="-5">
                <a:latin typeface="Arial"/>
                <a:cs typeface="Arial"/>
              </a:rPr>
              <a:t>the Muslim Community, which has also been </a:t>
            </a:r>
            <a:r>
              <a:rPr dirty="0" sz="1200">
                <a:latin typeface="Arial"/>
                <a:cs typeface="Arial"/>
              </a:rPr>
              <a:t>fore-warned to </a:t>
            </a:r>
            <a:r>
              <a:rPr dirty="0" sz="1200" spc="-5">
                <a:latin typeface="Arial"/>
                <a:cs typeface="Arial"/>
              </a:rPr>
              <a:t>guard against those  transgressions against the Guidance that had led to the deposition of </a:t>
            </a:r>
            <a:r>
              <a:rPr dirty="0" sz="1200">
                <a:latin typeface="Arial"/>
                <a:cs typeface="Arial"/>
              </a:rPr>
              <a:t>the</a:t>
            </a:r>
            <a:r>
              <a:rPr dirty="0" sz="1200" spc="35">
                <a:latin typeface="Arial"/>
                <a:cs typeface="Arial"/>
              </a:rPr>
              <a:t> </a:t>
            </a:r>
            <a:r>
              <a:rPr dirty="0" sz="1200" spc="-5">
                <a:latin typeface="Arial"/>
                <a:cs typeface="Arial"/>
              </a:rPr>
              <a:t>Jews.</a:t>
            </a:r>
            <a:endParaRPr sz="12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sz="1200" spc="-5">
                <a:latin typeface="Arial"/>
                <a:cs typeface="Arial"/>
              </a:rPr>
              <a:t>Allah says:</a:t>
            </a:r>
            <a:endParaRPr sz="1200">
              <a:latin typeface="Arial"/>
              <a:cs typeface="Arial"/>
            </a:endParaRPr>
          </a:p>
        </p:txBody>
      </p:sp>
      <p:sp>
        <p:nvSpPr>
          <p:cNvPr id="8" name="object 8"/>
          <p:cNvSpPr txBox="1"/>
          <p:nvPr/>
        </p:nvSpPr>
        <p:spPr>
          <a:xfrm>
            <a:off x="853744" y="3962526"/>
            <a:ext cx="1512570" cy="299720"/>
          </a:xfrm>
          <a:prstGeom prst="rect">
            <a:avLst/>
          </a:prstGeom>
        </p:spPr>
        <p:txBody>
          <a:bodyPr wrap="square" lIns="0" tIns="12700" rIns="0" bIns="0" rtlCol="0" vert="horz">
            <a:spAutoFit/>
          </a:bodyPr>
          <a:lstStyle/>
          <a:p>
            <a:pPr marL="38100">
              <a:lnSpc>
                <a:spcPct val="100000"/>
              </a:lnSpc>
              <a:spcBef>
                <a:spcPts val="100"/>
              </a:spcBef>
            </a:pPr>
            <a:r>
              <a:rPr dirty="0" baseline="3086" sz="2700" spc="-315">
                <a:latin typeface="Arial"/>
                <a:cs typeface="Arial"/>
              </a:rPr>
              <a:t>م</a:t>
            </a:r>
            <a:r>
              <a:rPr dirty="0" baseline="-13888" sz="2700" spc="-315">
                <a:latin typeface="Arial"/>
                <a:cs typeface="Arial"/>
              </a:rPr>
              <a:t>ِ </a:t>
            </a:r>
            <a:r>
              <a:rPr dirty="0" baseline="3086" sz="2700" spc="-330">
                <a:latin typeface="Arial"/>
                <a:cs typeface="Arial"/>
              </a:rPr>
              <a:t>ار</a:t>
            </a:r>
            <a:r>
              <a:rPr dirty="0" sz="1800" spc="-220">
                <a:latin typeface="Arial"/>
                <a:cs typeface="Arial"/>
              </a:rPr>
              <a:t>َ </a:t>
            </a:r>
            <a:r>
              <a:rPr dirty="0" baseline="3086" sz="2700" spc="-592">
                <a:latin typeface="Arial"/>
                <a:cs typeface="Arial"/>
              </a:rPr>
              <a:t>ح</a:t>
            </a:r>
            <a:r>
              <a:rPr dirty="0" sz="1800" spc="-39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352">
                <a:latin typeface="Arial"/>
                <a:cs typeface="Arial"/>
              </a:rPr>
              <a:t>د</a:t>
            </a:r>
            <a:r>
              <a:rPr dirty="0" baseline="1543" sz="2700" spc="-352">
                <a:latin typeface="Arial"/>
                <a:cs typeface="Arial"/>
              </a:rPr>
              <a:t>ِ </a:t>
            </a:r>
            <a:r>
              <a:rPr dirty="0" baseline="3086" sz="2700" spc="-719">
                <a:latin typeface="Arial"/>
                <a:cs typeface="Arial"/>
              </a:rPr>
              <a:t>ج</a:t>
            </a:r>
            <a:r>
              <a:rPr dirty="0" baseline="-7716" sz="2700" spc="-719">
                <a:latin typeface="Arial"/>
                <a:cs typeface="Arial"/>
              </a:rPr>
              <a:t>ِ </a:t>
            </a:r>
            <a:r>
              <a:rPr dirty="0" baseline="3086" sz="2700" spc="-944">
                <a:latin typeface="Arial"/>
                <a:cs typeface="Arial"/>
              </a:rPr>
              <a:t>سْ</a:t>
            </a:r>
            <a:r>
              <a:rPr dirty="0" baseline="3086" sz="2700" spc="330">
                <a:latin typeface="Arial"/>
                <a:cs typeface="Arial"/>
              </a:rPr>
              <a:t> </a:t>
            </a:r>
            <a:r>
              <a:rPr dirty="0" baseline="3086" sz="2700" spc="-359">
                <a:latin typeface="Arial"/>
                <a:cs typeface="Arial"/>
              </a:rPr>
              <a:t>م</a:t>
            </a:r>
            <a:r>
              <a:rPr dirty="0" sz="1800" spc="-2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494">
                <a:latin typeface="Arial"/>
                <a:cs typeface="Arial"/>
              </a:rPr>
              <a:t>ر</a:t>
            </a:r>
            <a:r>
              <a:rPr dirty="0" sz="1800" spc="-330">
                <a:latin typeface="Arial"/>
                <a:cs typeface="Arial"/>
              </a:rPr>
              <a:t>َ </a:t>
            </a:r>
            <a:r>
              <a:rPr dirty="0" baseline="3086" sz="2700" spc="-615">
                <a:latin typeface="Arial"/>
                <a:cs typeface="Arial"/>
              </a:rPr>
              <a:t>ط</a:t>
            </a:r>
            <a:r>
              <a:rPr dirty="0" baseline="16975" sz="2700" spc="-615">
                <a:latin typeface="Arial"/>
                <a:cs typeface="Arial"/>
              </a:rPr>
              <a:t>ْ</a:t>
            </a:r>
            <a:r>
              <a:rPr dirty="0" baseline="16975" sz="2700" spc="-509">
                <a:latin typeface="Arial"/>
                <a:cs typeface="Arial"/>
              </a:rPr>
              <a:t> </a:t>
            </a:r>
            <a:r>
              <a:rPr dirty="0" baseline="3086" sz="2700" spc="-2077">
                <a:latin typeface="Arial"/>
                <a:cs typeface="Arial"/>
              </a:rPr>
              <a:t>ش</a:t>
            </a:r>
            <a:endParaRPr baseline="3086" sz="2700">
              <a:latin typeface="Arial"/>
              <a:cs typeface="Arial"/>
            </a:endParaRPr>
          </a:p>
        </p:txBody>
      </p:sp>
      <p:sp>
        <p:nvSpPr>
          <p:cNvPr id="9" name="object 9"/>
          <p:cNvSpPr txBox="1"/>
          <p:nvPr/>
        </p:nvSpPr>
        <p:spPr>
          <a:xfrm>
            <a:off x="2193340" y="3951858"/>
            <a:ext cx="4847590" cy="492125"/>
          </a:xfrm>
          <a:prstGeom prst="rect">
            <a:avLst/>
          </a:prstGeom>
        </p:spPr>
        <p:txBody>
          <a:bodyPr wrap="square" lIns="0" tIns="12700" rIns="0" bIns="0" rtlCol="0" vert="horz">
            <a:spAutoFit/>
          </a:bodyPr>
          <a:lstStyle/>
          <a:p>
            <a:pPr marL="38100">
              <a:lnSpc>
                <a:spcPts val="1835"/>
              </a:lnSpc>
              <a:spcBef>
                <a:spcPts val="100"/>
              </a:spcBef>
            </a:pPr>
            <a:r>
              <a:rPr dirty="0" baseline="6172" sz="2700">
                <a:latin typeface="Arial"/>
                <a:cs typeface="Arial"/>
              </a:rPr>
              <a:t>َ </a:t>
            </a:r>
            <a:r>
              <a:rPr dirty="0" sz="1800" spc="-455">
                <a:latin typeface="Arial"/>
                <a:cs typeface="Arial"/>
              </a:rPr>
              <a:t>ك</a:t>
            </a:r>
            <a:r>
              <a:rPr dirty="0" baseline="-3086" sz="2700" spc="-682">
                <a:latin typeface="Arial"/>
                <a:cs typeface="Arial"/>
              </a:rPr>
              <a:t>َ </a:t>
            </a:r>
            <a:r>
              <a:rPr dirty="0" sz="1800" spc="-215">
                <a:latin typeface="Arial"/>
                <a:cs typeface="Arial"/>
              </a:rPr>
              <a:t>ه</a:t>
            </a:r>
            <a:r>
              <a:rPr dirty="0" baseline="-3086" sz="2700" spc="-322">
                <a:latin typeface="Arial"/>
                <a:cs typeface="Arial"/>
              </a:rPr>
              <a:t>َ </a:t>
            </a:r>
            <a:r>
              <a:rPr dirty="0" sz="1800" spc="-370">
                <a:latin typeface="Arial"/>
                <a:cs typeface="Arial"/>
              </a:rPr>
              <a:t>ج</a:t>
            </a:r>
            <a:r>
              <a:rPr dirty="0" baseline="1543" sz="2700" spc="-555">
                <a:latin typeface="Arial"/>
                <a:cs typeface="Arial"/>
              </a:rPr>
              <a:t>ْ </a:t>
            </a:r>
            <a:r>
              <a:rPr dirty="0" sz="1800" spc="-204">
                <a:latin typeface="Arial"/>
                <a:cs typeface="Arial"/>
              </a:rPr>
              <a:t>و</a:t>
            </a:r>
            <a:r>
              <a:rPr dirty="0" baseline="-3086" sz="2700" spc="-307">
                <a:latin typeface="Arial"/>
                <a:cs typeface="Arial"/>
              </a:rPr>
              <a:t>َ </a:t>
            </a:r>
            <a:r>
              <a:rPr dirty="0" sz="1800" spc="-280">
                <a:latin typeface="Arial"/>
                <a:cs typeface="Arial"/>
              </a:rPr>
              <a:t>لِّ </a:t>
            </a:r>
            <a:r>
              <a:rPr dirty="0" sz="1800" spc="-204">
                <a:latin typeface="Arial"/>
                <a:cs typeface="Arial"/>
              </a:rPr>
              <a:t>و</a:t>
            </a:r>
            <a:r>
              <a:rPr dirty="0" baseline="-3086" sz="2700" spc="-307">
                <a:latin typeface="Arial"/>
                <a:cs typeface="Arial"/>
              </a:rPr>
              <a:t>َ </a:t>
            </a:r>
            <a:r>
              <a:rPr dirty="0" sz="1800" spc="-690">
                <a:latin typeface="Arial"/>
                <a:cs typeface="Arial"/>
              </a:rPr>
              <a:t>ف</a:t>
            </a:r>
            <a:r>
              <a:rPr dirty="0" baseline="6172" sz="2700" spc="-1035">
                <a:latin typeface="Arial"/>
                <a:cs typeface="Arial"/>
              </a:rPr>
              <a:t>َ</a:t>
            </a:r>
            <a:r>
              <a:rPr dirty="0" baseline="6172" sz="2700" spc="652">
                <a:latin typeface="Arial"/>
                <a:cs typeface="Arial"/>
              </a:rPr>
              <a:t> </a:t>
            </a:r>
            <a:r>
              <a:rPr dirty="0" sz="1800" spc="-110">
                <a:latin typeface="Arial"/>
                <a:cs typeface="Arial"/>
              </a:rPr>
              <a:t>اه</a:t>
            </a:r>
            <a:r>
              <a:rPr dirty="0" baseline="-3086" sz="2700" spc="-165">
                <a:latin typeface="Arial"/>
                <a:cs typeface="Arial"/>
              </a:rPr>
              <a:t>َ </a:t>
            </a:r>
            <a:r>
              <a:rPr dirty="0" sz="1800" spc="-590">
                <a:latin typeface="Arial"/>
                <a:cs typeface="Arial"/>
              </a:rPr>
              <a:t>اض</a:t>
            </a:r>
            <a:r>
              <a:rPr dirty="0" baseline="-3086" sz="2700" spc="-885">
                <a:latin typeface="Arial"/>
                <a:cs typeface="Arial"/>
              </a:rPr>
              <a:t>َ</a:t>
            </a:r>
            <a:r>
              <a:rPr dirty="0" baseline="-3086" sz="2700" spc="1275">
                <a:latin typeface="Arial"/>
                <a:cs typeface="Arial"/>
              </a:rPr>
              <a:t> </a:t>
            </a:r>
            <a:r>
              <a:rPr dirty="0" sz="1800" spc="-305">
                <a:latin typeface="Arial"/>
                <a:cs typeface="Arial"/>
              </a:rPr>
              <a:t>ر</a:t>
            </a:r>
            <a:r>
              <a:rPr dirty="0" baseline="1543" sz="2700" spc="-457">
                <a:latin typeface="Arial"/>
                <a:cs typeface="Arial"/>
              </a:rPr>
              <a:t>ْ </a:t>
            </a:r>
            <a:r>
              <a:rPr dirty="0" sz="1800" spc="-595">
                <a:latin typeface="Arial"/>
                <a:cs typeface="Arial"/>
              </a:rPr>
              <a:t>ت</a:t>
            </a:r>
            <a:r>
              <a:rPr dirty="0" baseline="6172" sz="2700" spc="-892">
                <a:latin typeface="Arial"/>
                <a:cs typeface="Arial"/>
              </a:rPr>
              <a:t>َ</a:t>
            </a:r>
            <a:r>
              <a:rPr dirty="0" baseline="6172" sz="2700" spc="525">
                <a:latin typeface="Arial"/>
                <a:cs typeface="Arial"/>
              </a:rPr>
              <a:t> </a:t>
            </a:r>
            <a:r>
              <a:rPr dirty="0" sz="1800" spc="-190">
                <a:latin typeface="Arial"/>
                <a:cs typeface="Arial"/>
              </a:rPr>
              <a:t>ة</a:t>
            </a:r>
            <a:r>
              <a:rPr dirty="0" baseline="12345" sz="2700" spc="-284">
                <a:latin typeface="Arial"/>
                <a:cs typeface="Arial"/>
              </a:rPr>
              <a:t>ً </a:t>
            </a:r>
            <a:r>
              <a:rPr dirty="0" baseline="7716" sz="2700" spc="-637">
                <a:latin typeface="Arial"/>
                <a:cs typeface="Arial"/>
              </a:rPr>
              <a:t>َ</a:t>
            </a:r>
            <a:r>
              <a:rPr dirty="0" sz="1800" spc="-425">
                <a:latin typeface="Arial"/>
                <a:cs typeface="Arial"/>
              </a:rPr>
              <a:t>لب</a:t>
            </a:r>
            <a:r>
              <a:rPr dirty="0" baseline="1543" sz="2700" spc="-637">
                <a:latin typeface="Arial"/>
                <a:cs typeface="Arial"/>
              </a:rPr>
              <a:t>ْ </a:t>
            </a:r>
            <a:r>
              <a:rPr dirty="0" sz="1800" spc="-530">
                <a:latin typeface="Arial"/>
                <a:cs typeface="Arial"/>
              </a:rPr>
              <a:t>قِ</a:t>
            </a:r>
            <a:r>
              <a:rPr dirty="0" sz="1800" spc="475">
                <a:latin typeface="Arial"/>
                <a:cs typeface="Arial"/>
              </a:rPr>
              <a:t> </a:t>
            </a:r>
            <a:r>
              <a:rPr dirty="0" sz="1800" spc="-455">
                <a:latin typeface="Arial"/>
                <a:cs typeface="Arial"/>
              </a:rPr>
              <a:t>ك</a:t>
            </a:r>
            <a:r>
              <a:rPr dirty="0" baseline="-3086" sz="2700" spc="-682">
                <a:latin typeface="Arial"/>
                <a:cs typeface="Arial"/>
              </a:rPr>
              <a:t>َ </a:t>
            </a:r>
            <a:r>
              <a:rPr dirty="0" sz="1800" spc="-295">
                <a:latin typeface="Arial"/>
                <a:cs typeface="Arial"/>
              </a:rPr>
              <a:t>ن</a:t>
            </a:r>
            <a:r>
              <a:rPr dirty="0" baseline="7716" sz="2700" spc="-442">
                <a:latin typeface="Arial"/>
                <a:cs typeface="Arial"/>
              </a:rPr>
              <a:t>َّ </a:t>
            </a:r>
            <a:r>
              <a:rPr dirty="0" sz="1800">
                <a:latin typeface="Arial"/>
                <a:cs typeface="Arial"/>
              </a:rPr>
              <a:t>ٌ</a:t>
            </a:r>
            <a:r>
              <a:rPr dirty="0" baseline="-3086" sz="2700">
                <a:latin typeface="Arial"/>
                <a:cs typeface="Arial"/>
              </a:rPr>
              <a:t>َ </a:t>
            </a:r>
            <a:r>
              <a:rPr dirty="0" baseline="10802" sz="2700" spc="-292">
                <a:latin typeface="Arial"/>
                <a:cs typeface="Arial"/>
              </a:rPr>
              <a:t>ِّ</a:t>
            </a:r>
            <a:r>
              <a:rPr dirty="0" sz="1800" spc="-195">
                <a:latin typeface="Arial"/>
                <a:cs typeface="Arial"/>
              </a:rPr>
              <a:t>لو</a:t>
            </a:r>
            <a:r>
              <a:rPr dirty="0" baseline="-3086" sz="2700" spc="-292">
                <a:latin typeface="Arial"/>
                <a:cs typeface="Arial"/>
              </a:rPr>
              <a:t>َ </a:t>
            </a:r>
            <a:r>
              <a:rPr dirty="0" sz="1800" spc="-455">
                <a:latin typeface="Arial"/>
                <a:cs typeface="Arial"/>
              </a:rPr>
              <a:t>ن</a:t>
            </a:r>
            <a:r>
              <a:rPr dirty="0" baseline="9259" sz="2700" spc="-682">
                <a:latin typeface="Arial"/>
                <a:cs typeface="Arial"/>
              </a:rPr>
              <a:t>ُ </a:t>
            </a:r>
            <a:r>
              <a:rPr dirty="0" sz="1800" spc="-459">
                <a:latin typeface="Arial"/>
                <a:cs typeface="Arial"/>
              </a:rPr>
              <a:t>ل</a:t>
            </a:r>
            <a:r>
              <a:rPr dirty="0" baseline="7716" sz="2700" spc="-690">
                <a:latin typeface="Arial"/>
                <a:cs typeface="Arial"/>
              </a:rPr>
              <a:t>َ </a:t>
            </a:r>
            <a:r>
              <a:rPr dirty="0" sz="1800" spc="-690">
                <a:latin typeface="Arial"/>
                <a:cs typeface="Arial"/>
              </a:rPr>
              <a:t>ف</a:t>
            </a:r>
            <a:r>
              <a:rPr dirty="0" baseline="6172" sz="2700" spc="-1035">
                <a:latin typeface="Arial"/>
                <a:cs typeface="Arial"/>
              </a:rPr>
              <a:t>َ</a:t>
            </a:r>
            <a:r>
              <a:rPr dirty="0" baseline="6172" sz="2700" spc="660">
                <a:latin typeface="Arial"/>
                <a:cs typeface="Arial"/>
              </a:rPr>
              <a:t> </a:t>
            </a:r>
            <a:r>
              <a:rPr dirty="0" sz="1800" spc="-290">
                <a:latin typeface="Arial"/>
                <a:cs typeface="Arial"/>
              </a:rPr>
              <a:t>ء</a:t>
            </a:r>
            <a:r>
              <a:rPr dirty="0" baseline="-3086" sz="2700" spc="-434">
                <a:latin typeface="Arial"/>
                <a:cs typeface="Arial"/>
              </a:rPr>
              <a:t>ِ </a:t>
            </a:r>
            <a:r>
              <a:rPr dirty="0" sz="1800" spc="-150">
                <a:latin typeface="Arial"/>
                <a:cs typeface="Arial"/>
              </a:rPr>
              <a:t>آم</a:t>
            </a:r>
            <a:r>
              <a:rPr dirty="0" baseline="-3086" sz="2700" spc="-225">
                <a:latin typeface="Arial"/>
                <a:cs typeface="Arial"/>
              </a:rPr>
              <a:t>َ </a:t>
            </a:r>
            <a:r>
              <a:rPr dirty="0" sz="1800" spc="-445">
                <a:latin typeface="Arial"/>
                <a:cs typeface="Arial"/>
              </a:rPr>
              <a:t>سَّ  </a:t>
            </a:r>
            <a:r>
              <a:rPr dirty="0" sz="1800" spc="-275">
                <a:latin typeface="Arial"/>
                <a:cs typeface="Arial"/>
              </a:rPr>
              <a:t>لٱ </a:t>
            </a:r>
            <a:r>
              <a:rPr dirty="0" sz="1800" spc="-470">
                <a:latin typeface="Arial"/>
                <a:cs typeface="Arial"/>
              </a:rPr>
              <a:t>ًفِ </a:t>
            </a:r>
            <a:r>
              <a:rPr dirty="0" sz="1800" spc="-455">
                <a:latin typeface="Arial"/>
                <a:cs typeface="Arial"/>
              </a:rPr>
              <a:t>ك</a:t>
            </a:r>
            <a:r>
              <a:rPr dirty="0" baseline="-3086" sz="2700" spc="-682">
                <a:latin typeface="Arial"/>
                <a:cs typeface="Arial"/>
              </a:rPr>
              <a:t>َ </a:t>
            </a:r>
            <a:r>
              <a:rPr dirty="0" sz="1800" spc="-204">
                <a:latin typeface="Arial"/>
                <a:cs typeface="Arial"/>
              </a:rPr>
              <a:t>ه</a:t>
            </a:r>
            <a:r>
              <a:rPr dirty="0" baseline="-10802" sz="2700" spc="-307">
                <a:latin typeface="Arial"/>
                <a:cs typeface="Arial"/>
              </a:rPr>
              <a:t>ِ </a:t>
            </a:r>
            <a:r>
              <a:rPr dirty="0" sz="1800" spc="-370">
                <a:latin typeface="Arial"/>
                <a:cs typeface="Arial"/>
              </a:rPr>
              <a:t>ج</a:t>
            </a:r>
            <a:r>
              <a:rPr dirty="0" baseline="1543" sz="2700" spc="-555">
                <a:latin typeface="Arial"/>
                <a:cs typeface="Arial"/>
              </a:rPr>
              <a:t>ْ </a:t>
            </a:r>
            <a:r>
              <a:rPr dirty="0" sz="1800" spc="-204">
                <a:latin typeface="Arial"/>
                <a:cs typeface="Arial"/>
              </a:rPr>
              <a:t>و</a:t>
            </a:r>
            <a:r>
              <a:rPr dirty="0" baseline="-3086" sz="2700" spc="-307">
                <a:latin typeface="Arial"/>
                <a:cs typeface="Arial"/>
              </a:rPr>
              <a:t>َ </a:t>
            </a:r>
            <a:r>
              <a:rPr dirty="0" sz="1800" spc="-515">
                <a:latin typeface="Arial"/>
                <a:cs typeface="Arial"/>
              </a:rPr>
              <a:t>ب</a:t>
            </a:r>
            <a:r>
              <a:rPr dirty="0" baseline="-3086" sz="2700" spc="-772">
                <a:latin typeface="Arial"/>
                <a:cs typeface="Arial"/>
              </a:rPr>
              <a:t>َ</a:t>
            </a:r>
            <a:r>
              <a:rPr dirty="0" baseline="-3086" sz="2700" spc="750">
                <a:latin typeface="Arial"/>
                <a:cs typeface="Arial"/>
              </a:rPr>
              <a:t> </a:t>
            </a:r>
            <a:r>
              <a:rPr dirty="0" baseline="10802" sz="2700" spc="-465">
                <a:latin typeface="Arial"/>
                <a:cs typeface="Arial"/>
              </a:rPr>
              <a:t>ُّ</a:t>
            </a:r>
            <a:r>
              <a:rPr dirty="0" sz="1800" spc="-310">
                <a:latin typeface="Arial"/>
                <a:cs typeface="Arial"/>
              </a:rPr>
              <a:t>لق</a:t>
            </a:r>
            <a:r>
              <a:rPr dirty="0" baseline="6172" sz="2700" spc="-465">
                <a:latin typeface="Arial"/>
                <a:cs typeface="Arial"/>
              </a:rPr>
              <a:t>َ </a:t>
            </a:r>
            <a:r>
              <a:rPr dirty="0" sz="1800" spc="-595">
                <a:latin typeface="Arial"/>
                <a:cs typeface="Arial"/>
              </a:rPr>
              <a:t>ت</a:t>
            </a:r>
            <a:r>
              <a:rPr dirty="0" baseline="6172" sz="2700" spc="-892">
                <a:latin typeface="Arial"/>
                <a:cs typeface="Arial"/>
              </a:rPr>
              <a:t>َ</a:t>
            </a:r>
            <a:r>
              <a:rPr dirty="0" baseline="6172" sz="2700" spc="509">
                <a:latin typeface="Arial"/>
                <a:cs typeface="Arial"/>
              </a:rPr>
              <a:t> </a:t>
            </a:r>
            <a:r>
              <a:rPr dirty="0" sz="1800" spc="-355">
                <a:latin typeface="Arial"/>
                <a:cs typeface="Arial"/>
              </a:rPr>
              <a:t>ى</a:t>
            </a:r>
            <a:r>
              <a:rPr dirty="0" baseline="6172" sz="2700" spc="-532">
                <a:latin typeface="Arial"/>
                <a:cs typeface="Arial"/>
              </a:rPr>
              <a:t>ٰ </a:t>
            </a:r>
            <a:r>
              <a:rPr dirty="0" sz="1800" spc="-330">
                <a:latin typeface="Arial"/>
                <a:cs typeface="Arial"/>
              </a:rPr>
              <a:t>ر</a:t>
            </a:r>
            <a:r>
              <a:rPr dirty="0" baseline="-3086" sz="2700" spc="-494">
                <a:latin typeface="Arial"/>
                <a:cs typeface="Arial"/>
              </a:rPr>
              <a:t>َ </a:t>
            </a:r>
            <a:r>
              <a:rPr dirty="0" sz="1800" spc="-430">
                <a:latin typeface="Arial"/>
                <a:cs typeface="Arial"/>
              </a:rPr>
              <a:t>ن</a:t>
            </a:r>
            <a:r>
              <a:rPr dirty="0" baseline="6172" sz="2700" spc="-644">
                <a:latin typeface="Arial"/>
                <a:cs typeface="Arial"/>
              </a:rPr>
              <a:t>َ</a:t>
            </a:r>
            <a:r>
              <a:rPr dirty="0" baseline="6172" sz="2700" spc="-555">
                <a:latin typeface="Arial"/>
                <a:cs typeface="Arial"/>
              </a:rPr>
              <a:t> </a:t>
            </a:r>
            <a:r>
              <a:rPr dirty="0" sz="1800" spc="-190">
                <a:latin typeface="Arial"/>
                <a:cs typeface="Arial"/>
              </a:rPr>
              <a:t>د</a:t>
            </a:r>
            <a:r>
              <a:rPr dirty="0" baseline="3086" sz="2700" spc="-284">
                <a:latin typeface="Arial"/>
                <a:cs typeface="Arial"/>
              </a:rPr>
              <a:t>ْ </a:t>
            </a:r>
            <a:r>
              <a:rPr dirty="0" sz="1800" spc="-1005">
                <a:latin typeface="Arial"/>
                <a:cs typeface="Arial"/>
              </a:rPr>
              <a:t>ق</a:t>
            </a:r>
            <a:endParaRPr sz="1800">
              <a:latin typeface="Arial"/>
              <a:cs typeface="Arial"/>
            </a:endParaRPr>
          </a:p>
          <a:p>
            <a:pPr marL="1407795">
              <a:lnSpc>
                <a:spcPts val="1835"/>
              </a:lnSpc>
            </a:pPr>
            <a:r>
              <a:rPr dirty="0" sz="1800">
                <a:latin typeface="Arial"/>
                <a:cs typeface="Arial"/>
              </a:rPr>
              <a:t>ُ</a:t>
            </a:r>
            <a:endParaRPr sz="1800">
              <a:latin typeface="Arial"/>
              <a:cs typeface="Arial"/>
            </a:endParaRPr>
          </a:p>
        </p:txBody>
      </p:sp>
      <p:sp>
        <p:nvSpPr>
          <p:cNvPr id="10" name="object 10"/>
          <p:cNvSpPr txBox="1"/>
          <p:nvPr/>
        </p:nvSpPr>
        <p:spPr>
          <a:xfrm>
            <a:off x="779272" y="4217034"/>
            <a:ext cx="6275070" cy="299720"/>
          </a:xfrm>
          <a:prstGeom prst="rect">
            <a:avLst/>
          </a:prstGeom>
        </p:spPr>
        <p:txBody>
          <a:bodyPr wrap="square" lIns="0" tIns="12700" rIns="0" bIns="0" rtlCol="0" vert="horz">
            <a:spAutoFit/>
          </a:bodyPr>
          <a:lstStyle/>
          <a:p>
            <a:pPr marL="63500">
              <a:lnSpc>
                <a:spcPct val="100000"/>
              </a:lnSpc>
              <a:spcBef>
                <a:spcPts val="100"/>
              </a:spcBef>
            </a:pP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a:t>
            </a:r>
            <a:r>
              <a:rPr dirty="0" baseline="-10802" sz="2700" spc="-307">
                <a:latin typeface="Arial"/>
                <a:cs typeface="Arial"/>
              </a:rPr>
              <a:t>ِ </a:t>
            </a:r>
            <a:r>
              <a:rPr dirty="0" baseline="1543" sz="2700" spc="-615">
                <a:latin typeface="Arial"/>
                <a:cs typeface="Arial"/>
              </a:rPr>
              <a:t>بِّ </a:t>
            </a:r>
            <a:r>
              <a:rPr dirty="0" baseline="1543" sz="2700" spc="-345">
                <a:latin typeface="Arial"/>
                <a:cs typeface="Arial"/>
              </a:rPr>
              <a:t>ر</a:t>
            </a:r>
            <a:r>
              <a:rPr dirty="0" sz="1800" spc="-229">
                <a:latin typeface="Arial"/>
                <a:cs typeface="Arial"/>
              </a:rPr>
              <a:t>َّ </a:t>
            </a:r>
            <a:r>
              <a:rPr dirty="0" baseline="1543" sz="2700" spc="-240">
                <a:latin typeface="Arial"/>
                <a:cs typeface="Arial"/>
              </a:rPr>
              <a:t>نم</a:t>
            </a:r>
            <a:r>
              <a:rPr dirty="0" sz="1800" spc="-160">
                <a:latin typeface="Arial"/>
                <a:cs typeface="Arial"/>
              </a:rPr>
              <a:t>ِ </a:t>
            </a:r>
            <a:r>
              <a:rPr dirty="0" baseline="1543" sz="2700" spc="-382">
                <a:latin typeface="Arial"/>
                <a:cs typeface="Arial"/>
              </a:rPr>
              <a:t>ق</a:t>
            </a:r>
            <a:r>
              <a:rPr dirty="0" baseline="6172" sz="2700" spc="-382">
                <a:latin typeface="Arial"/>
                <a:cs typeface="Arial"/>
              </a:rPr>
              <a:t>ُّ </a:t>
            </a:r>
            <a:r>
              <a:rPr dirty="0" baseline="1543" sz="2700" spc="-592">
                <a:latin typeface="Arial"/>
                <a:cs typeface="Arial"/>
              </a:rPr>
              <a:t>ح</a:t>
            </a:r>
            <a:r>
              <a:rPr dirty="0" baseline="-1543" sz="2700" spc="-592">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322">
                <a:latin typeface="Arial"/>
                <a:cs typeface="Arial"/>
              </a:rPr>
              <a:t>هُ </a:t>
            </a:r>
            <a:r>
              <a:rPr dirty="0" baseline="1543" sz="2700" spc="-442">
                <a:latin typeface="Arial"/>
                <a:cs typeface="Arial"/>
              </a:rPr>
              <a:t>ن</a:t>
            </a:r>
            <a:r>
              <a:rPr dirty="0" baseline="9259" sz="2700" spc="-442">
                <a:latin typeface="Arial"/>
                <a:cs typeface="Arial"/>
              </a:rPr>
              <a:t>َّ </a:t>
            </a:r>
            <a:r>
              <a:rPr dirty="0" baseline="15432" sz="2700">
                <a:latin typeface="Arial"/>
                <a:cs typeface="Arial"/>
              </a:rPr>
              <a:t>َ</a:t>
            </a:r>
            <a:r>
              <a:rPr dirty="0" baseline="1543" sz="2700">
                <a:latin typeface="Arial"/>
                <a:cs typeface="Arial"/>
              </a:rPr>
              <a:t>أ </a:t>
            </a:r>
            <a:r>
              <a:rPr dirty="0" baseline="1543" sz="2700" spc="-494">
                <a:latin typeface="Arial"/>
                <a:cs typeface="Arial"/>
              </a:rPr>
              <a:t>ن</a:t>
            </a:r>
            <a:r>
              <a:rPr dirty="0" baseline="-1543" sz="2700" spc="-494">
                <a:latin typeface="Arial"/>
                <a:cs typeface="Arial"/>
              </a:rPr>
              <a:t>َ </a:t>
            </a:r>
            <a:r>
              <a:rPr dirty="0" baseline="1543" sz="2700" spc="-270">
                <a:latin typeface="Arial"/>
                <a:cs typeface="Arial"/>
              </a:rPr>
              <a:t>ومُ </a:t>
            </a:r>
            <a:r>
              <a:rPr dirty="0" baseline="9259" sz="2700" spc="-494">
                <a:latin typeface="Arial"/>
                <a:cs typeface="Arial"/>
              </a:rPr>
              <a:t>َ</a:t>
            </a:r>
            <a:r>
              <a:rPr dirty="0" baseline="1543" sz="2700" spc="-494">
                <a:latin typeface="Arial"/>
                <a:cs typeface="Arial"/>
              </a:rPr>
              <a:t>لعْ </a:t>
            </a:r>
            <a:r>
              <a:rPr dirty="0" baseline="1543" sz="2700">
                <a:latin typeface="Arial"/>
                <a:cs typeface="Arial"/>
              </a:rPr>
              <a:t>ٌ</a:t>
            </a:r>
            <a:r>
              <a:rPr dirty="0" baseline="-1543" sz="2700">
                <a:latin typeface="Arial"/>
                <a:cs typeface="Arial"/>
              </a:rPr>
              <a:t>َ </a:t>
            </a:r>
            <a:r>
              <a:rPr dirty="0" baseline="9259" sz="2700" spc="-405">
                <a:latin typeface="Arial"/>
                <a:cs typeface="Arial"/>
              </a:rPr>
              <a:t>َ</a:t>
            </a:r>
            <a:r>
              <a:rPr dirty="0" baseline="1543" sz="2700" spc="-405">
                <a:latin typeface="Arial"/>
                <a:cs typeface="Arial"/>
              </a:rPr>
              <a:t>ل </a:t>
            </a:r>
            <a:r>
              <a:rPr dirty="0" baseline="1543" sz="2700" spc="-772">
                <a:latin typeface="Arial"/>
                <a:cs typeface="Arial"/>
              </a:rPr>
              <a:t>ب</a:t>
            </a:r>
            <a:r>
              <a:rPr dirty="0" baseline="-1543" sz="2700" spc="-772">
                <a:latin typeface="Arial"/>
                <a:cs typeface="Arial"/>
              </a:rPr>
              <a:t>َ</a:t>
            </a:r>
            <a:r>
              <a:rPr dirty="0" baseline="-1543" sz="2700" spc="780">
                <a:latin typeface="Arial"/>
                <a:cs typeface="Arial"/>
              </a:rPr>
              <a:t> </a:t>
            </a:r>
            <a:r>
              <a:rPr dirty="0" baseline="1543" sz="2700" spc="-585">
                <a:latin typeface="Arial"/>
                <a:cs typeface="Arial"/>
              </a:rPr>
              <a:t>ات</a:t>
            </a:r>
            <a:r>
              <a:rPr dirty="0" baseline="6172" sz="2700" spc="-585">
                <a:latin typeface="Arial"/>
                <a:cs typeface="Arial"/>
              </a:rPr>
              <a:t>َ </a:t>
            </a:r>
            <a:r>
              <a:rPr dirty="0" baseline="1543" sz="2700" spc="-727">
                <a:latin typeface="Arial"/>
                <a:cs typeface="Arial"/>
              </a:rPr>
              <a:t>ك</a:t>
            </a:r>
            <a:r>
              <a:rPr dirty="0" sz="1800" spc="-484">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262">
                <a:latin typeface="Arial"/>
                <a:cs typeface="Arial"/>
              </a:rPr>
              <a:t>ا</a:t>
            </a:r>
            <a:r>
              <a:rPr dirty="0" baseline="9259" sz="2700" spc="-262">
                <a:latin typeface="Arial"/>
                <a:cs typeface="Arial"/>
              </a:rPr>
              <a:t>ْ </a:t>
            </a:r>
            <a:r>
              <a:rPr dirty="0" baseline="1543" sz="2700" spc="-622">
                <a:latin typeface="Arial"/>
                <a:cs typeface="Arial"/>
              </a:rPr>
              <a:t>وت</a:t>
            </a:r>
            <a:r>
              <a:rPr dirty="0" baseline="9259" sz="2700" spc="-622">
                <a:latin typeface="Arial"/>
                <a:cs typeface="Arial"/>
              </a:rPr>
              <a:t>ُ </a:t>
            </a:r>
            <a:r>
              <a:rPr dirty="0" baseline="1543" sz="2700" spc="-7">
                <a:latin typeface="Arial"/>
                <a:cs typeface="Arial"/>
              </a:rPr>
              <a:t>وأ </a:t>
            </a:r>
            <a:r>
              <a:rPr dirty="0" baseline="1543" sz="2700" spc="-494">
                <a:latin typeface="Arial"/>
                <a:cs typeface="Arial"/>
              </a:rPr>
              <a:t>ن</a:t>
            </a:r>
            <a:r>
              <a:rPr dirty="0" baseline="-1543" sz="2700" spc="-494">
                <a:latin typeface="Arial"/>
                <a:cs typeface="Arial"/>
              </a:rPr>
              <a:t>َ </a:t>
            </a:r>
            <a:r>
              <a:rPr dirty="0" baseline="1543" sz="2700" spc="-232">
                <a:latin typeface="Arial"/>
                <a:cs typeface="Arial"/>
              </a:rPr>
              <a:t>ٌذ</a:t>
            </a:r>
            <a:r>
              <a:rPr dirty="0" sz="1800" spc="-155">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345">
                <a:latin typeface="Arial"/>
                <a:cs typeface="Arial"/>
              </a:rPr>
              <a:t>ن</a:t>
            </a:r>
            <a:r>
              <a:rPr dirty="0" sz="1800" spc="-229">
                <a:latin typeface="Arial"/>
                <a:cs typeface="Arial"/>
              </a:rPr>
              <a:t>َّ </a:t>
            </a:r>
            <a:r>
              <a:rPr dirty="0" baseline="-12345" sz="2700" spc="-157">
                <a:latin typeface="Arial"/>
                <a:cs typeface="Arial"/>
              </a:rPr>
              <a:t>ِ</a:t>
            </a:r>
            <a:r>
              <a:rPr dirty="0" baseline="1543" sz="2700" spc="-157">
                <a:latin typeface="Arial"/>
                <a:cs typeface="Arial"/>
              </a:rPr>
              <a:t>إو</a:t>
            </a:r>
            <a:r>
              <a:rPr dirty="0" baseline="-1543" sz="2700" spc="-157">
                <a:latin typeface="Arial"/>
                <a:cs typeface="Arial"/>
              </a:rPr>
              <a:t>َ </a:t>
            </a:r>
            <a:r>
              <a:rPr dirty="0" baseline="1543" sz="2700" spc="-382">
                <a:latin typeface="Arial"/>
                <a:cs typeface="Arial"/>
              </a:rPr>
              <a:t>هُ </a:t>
            </a:r>
            <a:r>
              <a:rPr dirty="0" baseline="1543" sz="2700" spc="-494">
                <a:latin typeface="Arial"/>
                <a:cs typeface="Arial"/>
              </a:rPr>
              <a:t>ر</a:t>
            </a:r>
            <a:r>
              <a:rPr dirty="0" baseline="-1543" sz="2700" spc="-494">
                <a:latin typeface="Arial"/>
                <a:cs typeface="Arial"/>
              </a:rPr>
              <a:t>َ </a:t>
            </a:r>
            <a:r>
              <a:rPr dirty="0" baseline="1543" sz="2700" spc="-615">
                <a:latin typeface="Arial"/>
                <a:cs typeface="Arial"/>
              </a:rPr>
              <a:t>ط</a:t>
            </a:r>
            <a:r>
              <a:rPr dirty="0" baseline="15432" sz="2700" spc="-615">
                <a:latin typeface="Arial"/>
                <a:cs typeface="Arial"/>
              </a:rPr>
              <a:t>ْ </a:t>
            </a:r>
            <a:r>
              <a:rPr dirty="0" baseline="1543" sz="2700" spc="-1042">
                <a:latin typeface="Arial"/>
                <a:cs typeface="Arial"/>
              </a:rPr>
              <a:t>ش</a:t>
            </a:r>
            <a:r>
              <a:rPr dirty="0" baseline="6172" sz="2700" spc="-1042">
                <a:latin typeface="Arial"/>
                <a:cs typeface="Arial"/>
              </a:rPr>
              <a:t>َ</a:t>
            </a:r>
            <a:r>
              <a:rPr dirty="0" baseline="6172" sz="2700" spc="1312">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1543" sz="2700" spc="-270">
                <a:latin typeface="Arial"/>
                <a:cs typeface="Arial"/>
              </a:rPr>
              <a:t>ه</a:t>
            </a:r>
            <a:r>
              <a:rPr dirty="0" baseline="-1543" sz="2700" spc="-270">
                <a:latin typeface="Arial"/>
                <a:cs typeface="Arial"/>
              </a:rPr>
              <a:t>َ </a:t>
            </a:r>
            <a:r>
              <a:rPr dirty="0" baseline="1543" sz="2700" spc="-442">
                <a:latin typeface="Arial"/>
                <a:cs typeface="Arial"/>
              </a:rPr>
              <a:t>و</a:t>
            </a:r>
            <a:r>
              <a:rPr dirty="0" baseline="-12345" sz="2700" spc="-442">
                <a:latin typeface="Arial"/>
                <a:cs typeface="Arial"/>
              </a:rPr>
              <a:t>ِ </a:t>
            </a:r>
            <a:r>
              <a:rPr dirty="0" baseline="1543" sz="2700" spc="-630">
                <a:latin typeface="Arial"/>
                <a:cs typeface="Arial"/>
              </a:rPr>
              <a:t>جُ </a:t>
            </a:r>
            <a:r>
              <a:rPr dirty="0" baseline="1543" sz="2700" spc="-345">
                <a:latin typeface="Arial"/>
                <a:cs typeface="Arial"/>
              </a:rPr>
              <a:t>وُ </a:t>
            </a:r>
            <a:r>
              <a:rPr dirty="0" baseline="1543" sz="2700" spc="-262">
                <a:latin typeface="Arial"/>
                <a:cs typeface="Arial"/>
              </a:rPr>
              <a:t>ا</a:t>
            </a:r>
            <a:r>
              <a:rPr dirty="0" baseline="9259" sz="2700" spc="-262">
                <a:latin typeface="Arial"/>
                <a:cs typeface="Arial"/>
              </a:rPr>
              <a:t>ْ </a:t>
            </a:r>
            <a:r>
              <a:rPr dirty="0" baseline="1543" sz="2700" spc="-247">
                <a:latin typeface="Arial"/>
                <a:cs typeface="Arial"/>
              </a:rPr>
              <a:t>و</a:t>
            </a:r>
            <a:r>
              <a:rPr dirty="0" baseline="10802" sz="2700" spc="-247">
                <a:latin typeface="Arial"/>
                <a:cs typeface="Arial"/>
              </a:rPr>
              <a:t>ُّ</a:t>
            </a:r>
            <a:r>
              <a:rPr dirty="0" baseline="1543" sz="2700" spc="-247">
                <a:latin typeface="Arial"/>
                <a:cs typeface="Arial"/>
              </a:rPr>
              <a:t>لو</a:t>
            </a:r>
            <a:r>
              <a:rPr dirty="0" baseline="-1543" sz="2700" spc="-247">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660">
                <a:latin typeface="Arial"/>
                <a:cs typeface="Arial"/>
              </a:rPr>
              <a:t> </a:t>
            </a:r>
            <a:r>
              <a:rPr dirty="0" baseline="1543" sz="2700" spc="-359">
                <a:latin typeface="Arial"/>
                <a:cs typeface="Arial"/>
              </a:rPr>
              <a:t>م</a:t>
            </a:r>
            <a:r>
              <a:rPr dirty="0" baseline="-3086" sz="2700" spc="-359">
                <a:latin typeface="Arial"/>
                <a:cs typeface="Arial"/>
              </a:rPr>
              <a:t>ْ </a:t>
            </a:r>
            <a:r>
              <a:rPr dirty="0" baseline="1543" sz="2700" spc="-930">
                <a:latin typeface="Arial"/>
                <a:cs typeface="Arial"/>
              </a:rPr>
              <a:t>ت</a:t>
            </a:r>
            <a:r>
              <a:rPr dirty="0" baseline="9259" sz="2700" spc="-930">
                <a:latin typeface="Arial"/>
                <a:cs typeface="Arial"/>
              </a:rPr>
              <a:t>ُ</a:t>
            </a:r>
            <a:r>
              <a:rPr dirty="0" baseline="9259" sz="2700" spc="-157">
                <a:latin typeface="Arial"/>
                <a:cs typeface="Arial"/>
              </a:rPr>
              <a:t> </a:t>
            </a:r>
            <a:r>
              <a:rPr dirty="0" baseline="1543" sz="2700" spc="-607">
                <a:latin typeface="Arial"/>
                <a:cs typeface="Arial"/>
              </a:rPr>
              <a:t>ن</a:t>
            </a:r>
            <a:r>
              <a:rPr dirty="0" baseline="9259" sz="2700" spc="-607">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952">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802">
                <a:latin typeface="Arial"/>
                <a:cs typeface="Arial"/>
              </a:rPr>
              <a:t>ث</a:t>
            </a:r>
            <a:r>
              <a:rPr dirty="0" baseline="12345" sz="2700" spc="-802">
                <a:latin typeface="Arial"/>
                <a:cs typeface="Arial"/>
              </a:rPr>
              <a:t>ُ</a:t>
            </a:r>
            <a:r>
              <a:rPr dirty="0" baseline="12345" sz="2700" spc="855">
                <a:latin typeface="Arial"/>
                <a:cs typeface="Arial"/>
              </a:rPr>
              <a:t> </a:t>
            </a:r>
            <a:r>
              <a:rPr dirty="0" baseline="1543" sz="2700">
                <a:latin typeface="Arial"/>
                <a:cs typeface="Arial"/>
              </a:rPr>
              <a:t>ٌْ </a:t>
            </a:r>
            <a:r>
              <a:rPr dirty="0" baseline="1543" sz="2700" spc="-592">
                <a:latin typeface="Arial"/>
                <a:cs typeface="Arial"/>
              </a:rPr>
              <a:t>ح</a:t>
            </a:r>
            <a:r>
              <a:rPr dirty="0" baseline="-1543" sz="2700" spc="-592">
                <a:latin typeface="Arial"/>
                <a:cs typeface="Arial"/>
              </a:rPr>
              <a:t>َ</a:t>
            </a:r>
            <a:r>
              <a:rPr dirty="0" baseline="-1543" sz="2700" spc="-540">
                <a:latin typeface="Arial"/>
                <a:cs typeface="Arial"/>
              </a:rPr>
              <a:t> </a:t>
            </a:r>
            <a:r>
              <a:rPr dirty="0" baseline="1543" sz="2700" spc="-615">
                <a:latin typeface="Arial"/>
                <a:cs typeface="Arial"/>
              </a:rPr>
              <a:t>و</a:t>
            </a:r>
            <a:endParaRPr baseline="1543" sz="2700">
              <a:latin typeface="Arial"/>
              <a:cs typeface="Arial"/>
            </a:endParaRPr>
          </a:p>
        </p:txBody>
      </p:sp>
      <p:sp>
        <p:nvSpPr>
          <p:cNvPr id="11" name="object 11"/>
          <p:cNvSpPr txBox="1"/>
          <p:nvPr/>
        </p:nvSpPr>
        <p:spPr>
          <a:xfrm>
            <a:off x="5140833" y="4488307"/>
            <a:ext cx="1913255" cy="299720"/>
          </a:xfrm>
          <a:prstGeom prst="rect">
            <a:avLst/>
          </a:prstGeom>
        </p:spPr>
        <p:txBody>
          <a:bodyPr wrap="square" lIns="0" tIns="12700" rIns="0" bIns="0" rtlCol="0" vert="horz">
            <a:spAutoFit/>
          </a:bodyPr>
          <a:lstStyle/>
          <a:p>
            <a:pPr marL="50800">
              <a:lnSpc>
                <a:spcPct val="100000"/>
              </a:lnSpc>
              <a:spcBef>
                <a:spcPts val="100"/>
              </a:spcBef>
            </a:pPr>
            <a:r>
              <a:rPr dirty="0" baseline="3086" sz="2700" spc="-494">
                <a:latin typeface="Arial"/>
                <a:cs typeface="Arial"/>
              </a:rPr>
              <a:t>ن</a:t>
            </a:r>
            <a:r>
              <a:rPr dirty="0" sz="1800" spc="-330">
                <a:latin typeface="Arial"/>
                <a:cs typeface="Arial"/>
              </a:rPr>
              <a:t>َ </a:t>
            </a:r>
            <a:r>
              <a:rPr dirty="0" baseline="3086" sz="2700" spc="-322">
                <a:latin typeface="Arial"/>
                <a:cs typeface="Arial"/>
              </a:rPr>
              <a:t>و</a:t>
            </a:r>
            <a:r>
              <a:rPr dirty="0" baseline="13888" sz="2700" spc="-322">
                <a:latin typeface="Arial"/>
                <a:cs typeface="Arial"/>
              </a:rPr>
              <a:t>ُ</a:t>
            </a:r>
            <a:r>
              <a:rPr dirty="0" baseline="3086" sz="2700" spc="-322">
                <a:latin typeface="Arial"/>
                <a:cs typeface="Arial"/>
              </a:rPr>
              <a:t>لم</a:t>
            </a:r>
            <a:r>
              <a:rPr dirty="0" sz="1800" spc="-215">
                <a:latin typeface="Arial"/>
                <a:cs typeface="Arial"/>
              </a:rPr>
              <a:t>َ </a:t>
            </a:r>
            <a:r>
              <a:rPr dirty="0" baseline="3086" sz="2700" spc="-569">
                <a:latin typeface="Arial"/>
                <a:cs typeface="Arial"/>
              </a:rPr>
              <a:t>عْ </a:t>
            </a:r>
            <a:r>
              <a:rPr dirty="0" baseline="3086" sz="2700">
                <a:latin typeface="Arial"/>
                <a:cs typeface="Arial"/>
              </a:rPr>
              <a:t>ٌ</a:t>
            </a:r>
            <a:r>
              <a:rPr dirty="0" sz="1800">
                <a:latin typeface="Arial"/>
                <a:cs typeface="Arial"/>
              </a:rPr>
              <a:t>َ </a:t>
            </a:r>
            <a:r>
              <a:rPr dirty="0" baseline="3086" sz="2700" spc="-179">
                <a:latin typeface="Arial"/>
                <a:cs typeface="Arial"/>
              </a:rPr>
              <a:t>امَّ </a:t>
            </a:r>
            <a:r>
              <a:rPr dirty="0" baseline="3086" sz="2700" spc="-607">
                <a:latin typeface="Arial"/>
                <a:cs typeface="Arial"/>
              </a:rPr>
              <a:t>ع</a:t>
            </a:r>
            <a:r>
              <a:rPr dirty="0" sz="1800" spc="-405">
                <a:latin typeface="Arial"/>
                <a:cs typeface="Arial"/>
              </a:rPr>
              <a:t>َ </a:t>
            </a:r>
            <a:r>
              <a:rPr dirty="0" baseline="3086" sz="2700" spc="-532">
                <a:latin typeface="Arial"/>
                <a:cs typeface="Arial"/>
              </a:rPr>
              <a:t>ل</a:t>
            </a:r>
            <a:r>
              <a:rPr dirty="0" baseline="-3086" sz="2700" spc="-532">
                <a:latin typeface="Arial"/>
                <a:cs typeface="Arial"/>
              </a:rPr>
              <a:t>ٍ </a:t>
            </a:r>
            <a:r>
              <a:rPr dirty="0" baseline="3086" sz="2700" spc="-1057">
                <a:latin typeface="Arial"/>
                <a:cs typeface="Arial"/>
              </a:rPr>
              <a:t>ف</a:t>
            </a:r>
            <a:r>
              <a:rPr dirty="0" baseline="1543" sz="2700" spc="-1057">
                <a:latin typeface="Arial"/>
                <a:cs typeface="Arial"/>
              </a:rPr>
              <a:t>ِ</a:t>
            </a:r>
            <a:r>
              <a:rPr dirty="0" baseline="1543" sz="2700" spc="22">
                <a:latin typeface="Arial"/>
                <a:cs typeface="Arial"/>
              </a:rPr>
              <a:t> </a:t>
            </a:r>
            <a:r>
              <a:rPr dirty="0" baseline="3086" sz="2700" spc="-472">
                <a:latin typeface="Arial"/>
                <a:cs typeface="Arial"/>
              </a:rPr>
              <a:t>اؽ</a:t>
            </a:r>
            <a:r>
              <a:rPr dirty="0" baseline="4629" sz="2700" spc="-472">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727">
                <a:latin typeface="Arial"/>
                <a:cs typeface="Arial"/>
              </a:rPr>
              <a:t> </a:t>
            </a:r>
            <a:r>
              <a:rPr dirty="0" baseline="-4629" sz="2700" spc="-630">
                <a:latin typeface="Arial"/>
                <a:cs typeface="Arial"/>
              </a:rPr>
              <a:t>ُ</a:t>
            </a:r>
            <a:r>
              <a:rPr dirty="0" baseline="3086" sz="2700" spc="-630">
                <a:latin typeface="Arial"/>
                <a:cs typeface="Arial"/>
              </a:rPr>
              <a:t>للَّ</a:t>
            </a:r>
            <a:r>
              <a:rPr dirty="0" baseline="15432" sz="2700" spc="-630">
                <a:latin typeface="Arial"/>
                <a:cs typeface="Arial"/>
              </a:rPr>
              <a:t>َّ </a:t>
            </a:r>
            <a:r>
              <a:rPr dirty="0" baseline="3086" sz="2700">
                <a:latin typeface="Arial"/>
                <a:cs typeface="Arial"/>
              </a:rPr>
              <a:t>ٱ </a:t>
            </a:r>
            <a:r>
              <a:rPr dirty="0" baseline="3086" sz="2700" spc="-225">
                <a:latin typeface="Arial"/>
                <a:cs typeface="Arial"/>
              </a:rPr>
              <a:t>ام</a:t>
            </a:r>
            <a:r>
              <a:rPr dirty="0" sz="1800" spc="-150">
                <a:latin typeface="Arial"/>
                <a:cs typeface="Arial"/>
              </a:rPr>
              <a:t>َ</a:t>
            </a:r>
            <a:r>
              <a:rPr dirty="0" sz="1800" spc="-15">
                <a:latin typeface="Arial"/>
                <a:cs typeface="Arial"/>
              </a:rPr>
              <a:t> </a:t>
            </a:r>
            <a:r>
              <a:rPr dirty="0" baseline="3086" sz="2700" spc="-615">
                <a:latin typeface="Arial"/>
                <a:cs typeface="Arial"/>
              </a:rPr>
              <a:t>و</a:t>
            </a:r>
            <a:endParaRPr baseline="3086" sz="2700">
              <a:latin typeface="Arial"/>
              <a:cs typeface="Arial"/>
            </a:endParaRPr>
          </a:p>
        </p:txBody>
      </p:sp>
      <p:sp>
        <p:nvSpPr>
          <p:cNvPr id="12" name="object 12"/>
          <p:cNvSpPr txBox="1"/>
          <p:nvPr/>
        </p:nvSpPr>
        <p:spPr>
          <a:xfrm>
            <a:off x="718819" y="4918075"/>
            <a:ext cx="6311900" cy="909955"/>
          </a:xfrm>
          <a:prstGeom prst="rect">
            <a:avLst/>
          </a:prstGeom>
        </p:spPr>
        <p:txBody>
          <a:bodyPr wrap="square" lIns="0" tIns="20320" rIns="0" bIns="0" rtlCol="0" vert="horz">
            <a:spAutoFit/>
          </a:bodyPr>
          <a:lstStyle/>
          <a:p>
            <a:pPr algn="just" marL="12700" marR="5080">
              <a:lnSpc>
                <a:spcPct val="95900"/>
              </a:lnSpc>
              <a:spcBef>
                <a:spcPts val="160"/>
              </a:spcBef>
            </a:pPr>
            <a:r>
              <a:rPr dirty="0" sz="1200" spc="-5">
                <a:latin typeface="Arial"/>
                <a:cs typeface="Arial"/>
              </a:rPr>
              <a:t>144. </a:t>
            </a:r>
            <a:r>
              <a:rPr dirty="0" sz="1200" spc="20">
                <a:latin typeface="Arial"/>
                <a:cs typeface="Arial"/>
              </a:rPr>
              <a:t>We </a:t>
            </a:r>
            <a:r>
              <a:rPr dirty="0" sz="1200" spc="-5">
                <a:latin typeface="Arial"/>
                <a:cs typeface="Arial"/>
              </a:rPr>
              <a:t>have seen the </a:t>
            </a:r>
            <a:r>
              <a:rPr dirty="0" sz="1200">
                <a:latin typeface="Arial"/>
                <a:cs typeface="Arial"/>
              </a:rPr>
              <a:t>turning of thy face to </a:t>
            </a:r>
            <a:r>
              <a:rPr dirty="0" sz="1200" spc="-5">
                <a:latin typeface="Arial"/>
                <a:cs typeface="Arial"/>
              </a:rPr>
              <a:t>heaven </a:t>
            </a:r>
            <a:r>
              <a:rPr dirty="0" sz="1200">
                <a:latin typeface="Arial"/>
                <a:cs typeface="Arial"/>
              </a:rPr>
              <a:t>(for </a:t>
            </a:r>
            <a:r>
              <a:rPr dirty="0" sz="1200" spc="-5">
                <a:latin typeface="Arial"/>
                <a:cs typeface="Arial"/>
              </a:rPr>
              <a:t>guidance, </a:t>
            </a:r>
            <a:r>
              <a:rPr dirty="0" sz="1200">
                <a:latin typeface="Arial"/>
                <a:cs typeface="Arial"/>
              </a:rPr>
              <a:t>O </a:t>
            </a:r>
            <a:r>
              <a:rPr dirty="0" sz="1200" spc="5">
                <a:latin typeface="Arial"/>
                <a:cs typeface="Arial"/>
              </a:rPr>
              <a:t>Muhammad). </a:t>
            </a:r>
            <a:r>
              <a:rPr dirty="0" sz="1200" spc="-5">
                <a:latin typeface="Arial"/>
                <a:cs typeface="Arial"/>
              </a:rPr>
              <a:t>And now  verily </a:t>
            </a:r>
            <a:r>
              <a:rPr dirty="0" sz="1200" spc="20">
                <a:latin typeface="Arial"/>
                <a:cs typeface="Arial"/>
              </a:rPr>
              <a:t>We </a:t>
            </a:r>
            <a:r>
              <a:rPr dirty="0" sz="1200" spc="-5">
                <a:latin typeface="Arial"/>
                <a:cs typeface="Arial"/>
              </a:rPr>
              <a:t>shall </a:t>
            </a:r>
            <a:r>
              <a:rPr dirty="0" sz="1200">
                <a:latin typeface="Arial"/>
                <a:cs typeface="Arial"/>
              </a:rPr>
              <a:t>make </a:t>
            </a:r>
            <a:r>
              <a:rPr dirty="0" sz="1200" spc="-5">
                <a:latin typeface="Arial"/>
                <a:cs typeface="Arial"/>
              </a:rPr>
              <a:t>thee </a:t>
            </a:r>
            <a:r>
              <a:rPr dirty="0" sz="1200">
                <a:latin typeface="Arial"/>
                <a:cs typeface="Arial"/>
              </a:rPr>
              <a:t>turn </a:t>
            </a:r>
            <a:r>
              <a:rPr dirty="0" sz="1200" spc="-5">
                <a:latin typeface="Arial"/>
                <a:cs typeface="Arial"/>
              </a:rPr>
              <a:t>(in prayer) toward a Qiblah which is dear </a:t>
            </a:r>
            <a:r>
              <a:rPr dirty="0" sz="1200">
                <a:latin typeface="Arial"/>
                <a:cs typeface="Arial"/>
              </a:rPr>
              <a:t>to </a:t>
            </a:r>
            <a:r>
              <a:rPr dirty="0" sz="1200" spc="-5">
                <a:latin typeface="Arial"/>
                <a:cs typeface="Arial"/>
              </a:rPr>
              <a:t>thee. So turn </a:t>
            </a:r>
            <a:r>
              <a:rPr dirty="0" sz="1200">
                <a:latin typeface="Arial"/>
                <a:cs typeface="Arial"/>
              </a:rPr>
              <a:t>thy  face </a:t>
            </a:r>
            <a:r>
              <a:rPr dirty="0" sz="1200" spc="-5">
                <a:latin typeface="Arial"/>
                <a:cs typeface="Arial"/>
              </a:rPr>
              <a:t>toward </a:t>
            </a:r>
            <a:r>
              <a:rPr dirty="0" sz="1200">
                <a:latin typeface="Arial"/>
                <a:cs typeface="Arial"/>
              </a:rPr>
              <a:t>the </a:t>
            </a:r>
            <a:r>
              <a:rPr dirty="0" sz="1200" spc="-5">
                <a:latin typeface="Arial"/>
                <a:cs typeface="Arial"/>
              </a:rPr>
              <a:t>Inviolable Place of </a:t>
            </a:r>
            <a:r>
              <a:rPr dirty="0" sz="1200">
                <a:latin typeface="Arial"/>
                <a:cs typeface="Arial"/>
              </a:rPr>
              <a:t>Worship, </a:t>
            </a:r>
            <a:r>
              <a:rPr dirty="0" sz="1200" spc="-5">
                <a:latin typeface="Arial"/>
                <a:cs typeface="Arial"/>
              </a:rPr>
              <a:t>and </a:t>
            </a:r>
            <a:r>
              <a:rPr dirty="0" sz="1200" spc="-10">
                <a:latin typeface="Arial"/>
                <a:cs typeface="Arial"/>
              </a:rPr>
              <a:t>ye </a:t>
            </a:r>
            <a:r>
              <a:rPr dirty="0" sz="1200">
                <a:latin typeface="Arial"/>
                <a:cs typeface="Arial"/>
              </a:rPr>
              <a:t>(O </a:t>
            </a:r>
            <a:r>
              <a:rPr dirty="0" sz="1200" spc="-5">
                <a:latin typeface="Arial"/>
                <a:cs typeface="Arial"/>
              </a:rPr>
              <a:t>Muslims), wheresoever </a:t>
            </a:r>
            <a:r>
              <a:rPr dirty="0" sz="1200" spc="-10">
                <a:latin typeface="Arial"/>
                <a:cs typeface="Arial"/>
              </a:rPr>
              <a:t>ye </a:t>
            </a:r>
            <a:r>
              <a:rPr dirty="0" sz="1200">
                <a:latin typeface="Arial"/>
                <a:cs typeface="Arial"/>
              </a:rPr>
              <a:t>may </a:t>
            </a:r>
            <a:r>
              <a:rPr dirty="0" sz="1200" spc="-5">
                <a:latin typeface="Arial"/>
                <a:cs typeface="Arial"/>
              </a:rPr>
              <a:t>be,  </a:t>
            </a:r>
            <a:r>
              <a:rPr dirty="0" sz="1200">
                <a:latin typeface="Arial"/>
                <a:cs typeface="Arial"/>
              </a:rPr>
              <a:t>turn </a:t>
            </a:r>
            <a:r>
              <a:rPr dirty="0" sz="1200" spc="-5">
                <a:latin typeface="Arial"/>
                <a:cs typeface="Arial"/>
              </a:rPr>
              <a:t>your </a:t>
            </a:r>
            <a:r>
              <a:rPr dirty="0" sz="1200">
                <a:latin typeface="Arial"/>
                <a:cs typeface="Arial"/>
              </a:rPr>
              <a:t>faces </a:t>
            </a:r>
            <a:r>
              <a:rPr dirty="0" sz="1200" spc="-5">
                <a:latin typeface="Arial"/>
                <a:cs typeface="Arial"/>
              </a:rPr>
              <a:t>when </a:t>
            </a:r>
            <a:r>
              <a:rPr dirty="0" sz="1200" spc="-10">
                <a:latin typeface="Arial"/>
                <a:cs typeface="Arial"/>
              </a:rPr>
              <a:t>ye </a:t>
            </a:r>
            <a:r>
              <a:rPr dirty="0" sz="1200" spc="-5">
                <a:latin typeface="Arial"/>
                <a:cs typeface="Arial"/>
              </a:rPr>
              <a:t>pray) toward </a:t>
            </a:r>
            <a:r>
              <a:rPr dirty="0" sz="1200">
                <a:latin typeface="Arial"/>
                <a:cs typeface="Arial"/>
              </a:rPr>
              <a:t>it. </a:t>
            </a:r>
            <a:r>
              <a:rPr dirty="0" sz="1200" spc="-5">
                <a:latin typeface="Arial"/>
                <a:cs typeface="Arial"/>
              </a:rPr>
              <a:t>Lo! Those </a:t>
            </a:r>
            <a:r>
              <a:rPr dirty="0" sz="1200" spc="-10">
                <a:latin typeface="Arial"/>
                <a:cs typeface="Arial"/>
              </a:rPr>
              <a:t>who </a:t>
            </a:r>
            <a:r>
              <a:rPr dirty="0" sz="1200" spc="-5">
                <a:latin typeface="Arial"/>
                <a:cs typeface="Arial"/>
              </a:rPr>
              <a:t>have received </a:t>
            </a:r>
            <a:r>
              <a:rPr dirty="0" sz="1200">
                <a:latin typeface="Arial"/>
                <a:cs typeface="Arial"/>
              </a:rPr>
              <a:t>the </a:t>
            </a:r>
            <a:r>
              <a:rPr dirty="0" sz="1200" spc="-5">
                <a:latin typeface="Arial"/>
                <a:cs typeface="Arial"/>
              </a:rPr>
              <a:t>Scripture know  </a:t>
            </a:r>
            <a:r>
              <a:rPr dirty="0" sz="1200">
                <a:latin typeface="Arial"/>
                <a:cs typeface="Arial"/>
              </a:rPr>
              <a:t>that </a:t>
            </a:r>
            <a:r>
              <a:rPr dirty="0" sz="1200" spc="-5">
                <a:latin typeface="Arial"/>
                <a:cs typeface="Arial"/>
              </a:rPr>
              <a:t>(this Revelation) is the Truth from </a:t>
            </a:r>
            <a:r>
              <a:rPr dirty="0" sz="1200">
                <a:latin typeface="Arial"/>
                <a:cs typeface="Arial"/>
              </a:rPr>
              <a:t>their </a:t>
            </a:r>
            <a:r>
              <a:rPr dirty="0" sz="1200" spc="-5">
                <a:latin typeface="Arial"/>
                <a:cs typeface="Arial"/>
              </a:rPr>
              <a:t>Lord. And Allah is not </a:t>
            </a:r>
            <a:r>
              <a:rPr dirty="0" sz="1200" spc="-10">
                <a:latin typeface="Arial"/>
                <a:cs typeface="Arial"/>
              </a:rPr>
              <a:t>unaware </a:t>
            </a:r>
            <a:r>
              <a:rPr dirty="0" sz="1200">
                <a:latin typeface="Arial"/>
                <a:cs typeface="Arial"/>
              </a:rPr>
              <a:t>of </a:t>
            </a:r>
            <a:r>
              <a:rPr dirty="0" sz="1200" spc="-5">
                <a:latin typeface="Arial"/>
                <a:cs typeface="Arial"/>
              </a:rPr>
              <a:t>what they</a:t>
            </a:r>
            <a:r>
              <a:rPr dirty="0" sz="1200" spc="110">
                <a:latin typeface="Arial"/>
                <a:cs typeface="Arial"/>
              </a:rPr>
              <a:t> </a:t>
            </a:r>
            <a:r>
              <a:rPr dirty="0" sz="1200">
                <a:latin typeface="Arial"/>
                <a:cs typeface="Arial"/>
              </a:rPr>
              <a:t>do.</a:t>
            </a:r>
            <a:endParaRPr sz="1200">
              <a:latin typeface="Arial"/>
              <a:cs typeface="Arial"/>
            </a:endParaRPr>
          </a:p>
        </p:txBody>
      </p:sp>
      <p:sp>
        <p:nvSpPr>
          <p:cNvPr id="13" name="object 13"/>
          <p:cNvSpPr txBox="1"/>
          <p:nvPr/>
        </p:nvSpPr>
        <p:spPr>
          <a:xfrm>
            <a:off x="855776" y="5977508"/>
            <a:ext cx="6198870" cy="563880"/>
          </a:xfrm>
          <a:prstGeom prst="rect">
            <a:avLst/>
          </a:prstGeom>
        </p:spPr>
        <p:txBody>
          <a:bodyPr wrap="square" lIns="0" tIns="12700" rIns="0" bIns="0" rtlCol="0" vert="horz">
            <a:spAutoFit/>
          </a:bodyPr>
          <a:lstStyle/>
          <a:p>
            <a:pPr marL="101600">
              <a:lnSpc>
                <a:spcPts val="2120"/>
              </a:lnSpc>
              <a:spcBef>
                <a:spcPts val="100"/>
              </a:spcBef>
            </a:pPr>
            <a:r>
              <a:rPr dirty="0" baseline="3086" sz="2700" spc="-532">
                <a:latin typeface="Arial"/>
                <a:cs typeface="Arial"/>
              </a:rPr>
              <a:t>ل</a:t>
            </a:r>
            <a:r>
              <a:rPr dirty="0" baseline="-3086" sz="2700" spc="-532">
                <a:latin typeface="Arial"/>
                <a:cs typeface="Arial"/>
              </a:rPr>
              <a:t>ٍ </a:t>
            </a:r>
            <a:r>
              <a:rPr dirty="0" baseline="3086" sz="2700" spc="-1057">
                <a:latin typeface="Arial"/>
                <a:cs typeface="Arial"/>
              </a:rPr>
              <a:t>ف</a:t>
            </a:r>
            <a:r>
              <a:rPr dirty="0" baseline="1543" sz="2700" spc="-1057">
                <a:latin typeface="Arial"/>
                <a:cs typeface="Arial"/>
              </a:rPr>
              <a:t>ِ</a:t>
            </a:r>
            <a:r>
              <a:rPr dirty="0" baseline="1543" sz="2700" spc="-30">
                <a:latin typeface="Arial"/>
                <a:cs typeface="Arial"/>
              </a:rPr>
              <a:t> </a:t>
            </a:r>
            <a:r>
              <a:rPr dirty="0" baseline="3086" sz="2700" spc="-472">
                <a:latin typeface="Arial"/>
                <a:cs typeface="Arial"/>
              </a:rPr>
              <a:t>اؽ</a:t>
            </a:r>
            <a:r>
              <a:rPr dirty="0" baseline="4629" sz="2700" spc="-472">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622">
                <a:latin typeface="Arial"/>
                <a:cs typeface="Arial"/>
              </a:rPr>
              <a:t> </a:t>
            </a:r>
            <a:r>
              <a:rPr dirty="0" baseline="-4629" sz="2700" spc="-630">
                <a:latin typeface="Arial"/>
                <a:cs typeface="Arial"/>
              </a:rPr>
              <a:t>ُ</a:t>
            </a:r>
            <a:r>
              <a:rPr dirty="0" baseline="3086" sz="2700" spc="-630">
                <a:latin typeface="Arial"/>
                <a:cs typeface="Arial"/>
              </a:rPr>
              <a:t>للَّ</a:t>
            </a:r>
            <a:r>
              <a:rPr dirty="0" baseline="15432" sz="2700" spc="-630">
                <a:latin typeface="Arial"/>
                <a:cs typeface="Arial"/>
              </a:rPr>
              <a:t>َّ </a:t>
            </a:r>
            <a:r>
              <a:rPr dirty="0" baseline="3086" sz="2700">
                <a:latin typeface="Arial"/>
                <a:cs typeface="Arial"/>
              </a:rPr>
              <a:t>ٱ </a:t>
            </a:r>
            <a:r>
              <a:rPr dirty="0" baseline="3086" sz="2700" spc="-225">
                <a:latin typeface="Arial"/>
                <a:cs typeface="Arial"/>
              </a:rPr>
              <a:t>ام</a:t>
            </a:r>
            <a:r>
              <a:rPr dirty="0" sz="1800" spc="-150">
                <a:latin typeface="Arial"/>
                <a:cs typeface="Arial"/>
              </a:rPr>
              <a:t>َ </a:t>
            </a:r>
            <a:r>
              <a:rPr dirty="0" baseline="3086" sz="2700" spc="-307">
                <a:latin typeface="Arial"/>
                <a:cs typeface="Arial"/>
              </a:rPr>
              <a:t>و</a:t>
            </a:r>
            <a:r>
              <a:rPr dirty="0" sz="1800" spc="-204">
                <a:latin typeface="Arial"/>
                <a:cs typeface="Arial"/>
              </a:rPr>
              <a:t>َ </a:t>
            </a:r>
            <a:r>
              <a:rPr dirty="0" baseline="3086" sz="2700" spc="-682">
                <a:latin typeface="Arial"/>
                <a:cs typeface="Arial"/>
              </a:rPr>
              <a:t>ك</a:t>
            </a:r>
            <a:r>
              <a:rPr dirty="0" sz="1800" spc="-455">
                <a:latin typeface="Arial"/>
                <a:cs typeface="Arial"/>
              </a:rPr>
              <a:t>َ  </a:t>
            </a:r>
            <a:r>
              <a:rPr dirty="0" baseline="3086" sz="2700" spc="-607">
                <a:latin typeface="Arial"/>
                <a:cs typeface="Arial"/>
              </a:rPr>
              <a:t>بِّ </a:t>
            </a:r>
            <a:r>
              <a:rPr dirty="0" baseline="3086" sz="2700" spc="-345">
                <a:latin typeface="Arial"/>
                <a:cs typeface="Arial"/>
              </a:rPr>
              <a:t>رَّ </a:t>
            </a:r>
            <a:r>
              <a:rPr dirty="0" baseline="3086" sz="2700" spc="-240">
                <a:latin typeface="Arial"/>
                <a:cs typeface="Arial"/>
              </a:rPr>
              <a:t>نم</a:t>
            </a:r>
            <a:r>
              <a:rPr dirty="0" baseline="1543" sz="2700" spc="-240">
                <a:latin typeface="Arial"/>
                <a:cs typeface="Arial"/>
              </a:rPr>
              <a:t>ِ </a:t>
            </a:r>
            <a:r>
              <a:rPr dirty="0" baseline="3086" sz="2700" spc="-382">
                <a:latin typeface="Arial"/>
                <a:cs typeface="Arial"/>
              </a:rPr>
              <a:t>ق</a:t>
            </a:r>
            <a:r>
              <a:rPr dirty="0" baseline="7716" sz="2700" spc="-382">
                <a:latin typeface="Arial"/>
                <a:cs typeface="Arial"/>
              </a:rPr>
              <a:t>ُّ </a:t>
            </a:r>
            <a:r>
              <a:rPr dirty="0" baseline="3086" sz="2700" spc="-592">
                <a:latin typeface="Arial"/>
                <a:cs typeface="Arial"/>
              </a:rPr>
              <a:t>ح</a:t>
            </a:r>
            <a:r>
              <a:rPr dirty="0" sz="1800" spc="-39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322">
                <a:latin typeface="Arial"/>
                <a:cs typeface="Arial"/>
              </a:rPr>
              <a:t>هُ </a:t>
            </a:r>
            <a:r>
              <a:rPr dirty="0" baseline="3086" sz="2700" spc="-442">
                <a:latin typeface="Arial"/>
                <a:cs typeface="Arial"/>
              </a:rPr>
              <a:t>ن</a:t>
            </a:r>
            <a:r>
              <a:rPr dirty="0" baseline="10802" sz="2700" spc="-442">
                <a:latin typeface="Arial"/>
                <a:cs typeface="Arial"/>
              </a:rPr>
              <a:t>َّ </a:t>
            </a:r>
            <a:r>
              <a:rPr dirty="0" baseline="-10802" sz="2700" spc="-157">
                <a:latin typeface="Arial"/>
                <a:cs typeface="Arial"/>
              </a:rPr>
              <a:t>ِ</a:t>
            </a:r>
            <a:r>
              <a:rPr dirty="0" baseline="3086" sz="2700" spc="-157">
                <a:latin typeface="Arial"/>
                <a:cs typeface="Arial"/>
              </a:rPr>
              <a:t>إو</a:t>
            </a:r>
            <a:r>
              <a:rPr dirty="0" sz="1800" spc="-105">
                <a:latin typeface="Arial"/>
                <a:cs typeface="Arial"/>
              </a:rPr>
              <a:t>َ </a:t>
            </a:r>
            <a:r>
              <a:rPr dirty="0" baseline="3086" sz="2700" spc="-315">
                <a:latin typeface="Arial"/>
                <a:cs typeface="Arial"/>
              </a:rPr>
              <a:t>م</a:t>
            </a:r>
            <a:r>
              <a:rPr dirty="0" baseline="-13888" sz="2700" spc="-315">
                <a:latin typeface="Arial"/>
                <a:cs typeface="Arial"/>
              </a:rPr>
              <a:t>ِ </a:t>
            </a:r>
            <a:r>
              <a:rPr dirty="0" baseline="3086" sz="2700" spc="-330">
                <a:latin typeface="Arial"/>
                <a:cs typeface="Arial"/>
              </a:rPr>
              <a:t>ار</a:t>
            </a:r>
            <a:r>
              <a:rPr dirty="0" sz="1800" spc="-220">
                <a:latin typeface="Arial"/>
                <a:cs typeface="Arial"/>
              </a:rPr>
              <a:t>َ </a:t>
            </a:r>
            <a:r>
              <a:rPr dirty="0" baseline="3086" sz="2700" spc="-592">
                <a:latin typeface="Arial"/>
                <a:cs typeface="Arial"/>
              </a:rPr>
              <a:t>ح</a:t>
            </a:r>
            <a:r>
              <a:rPr dirty="0" sz="1800" spc="-39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352">
                <a:latin typeface="Arial"/>
                <a:cs typeface="Arial"/>
              </a:rPr>
              <a:t>د</a:t>
            </a:r>
            <a:r>
              <a:rPr dirty="0" baseline="1543" sz="2700" spc="-352">
                <a:latin typeface="Arial"/>
                <a:cs typeface="Arial"/>
              </a:rPr>
              <a:t>ِ </a:t>
            </a:r>
            <a:r>
              <a:rPr dirty="0" baseline="3086" sz="2700" spc="-719">
                <a:latin typeface="Arial"/>
                <a:cs typeface="Arial"/>
              </a:rPr>
              <a:t>ج</a:t>
            </a:r>
            <a:r>
              <a:rPr dirty="0" baseline="-7716" sz="2700" spc="-719">
                <a:latin typeface="Arial"/>
                <a:cs typeface="Arial"/>
              </a:rPr>
              <a:t>ِ </a:t>
            </a:r>
            <a:r>
              <a:rPr dirty="0" baseline="3086" sz="2700" spc="-944">
                <a:latin typeface="Arial"/>
                <a:cs typeface="Arial"/>
              </a:rPr>
              <a:t>سْ</a:t>
            </a:r>
            <a:r>
              <a:rPr dirty="0" baseline="3086" sz="2700" spc="382">
                <a:latin typeface="Arial"/>
                <a:cs typeface="Arial"/>
              </a:rPr>
              <a:t> </a:t>
            </a:r>
            <a:r>
              <a:rPr dirty="0" baseline="3086" sz="2700" spc="-359">
                <a:latin typeface="Arial"/>
                <a:cs typeface="Arial"/>
              </a:rPr>
              <a:t>م</a:t>
            </a:r>
            <a:r>
              <a:rPr dirty="0" sz="1800" spc="-2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494">
                <a:latin typeface="Arial"/>
                <a:cs typeface="Arial"/>
              </a:rPr>
              <a:t>ر</a:t>
            </a:r>
            <a:r>
              <a:rPr dirty="0" sz="1800" spc="-330">
                <a:latin typeface="Arial"/>
                <a:cs typeface="Arial"/>
              </a:rPr>
              <a:t>َ </a:t>
            </a:r>
            <a:r>
              <a:rPr dirty="0" baseline="3086" sz="2700" spc="-615">
                <a:latin typeface="Arial"/>
                <a:cs typeface="Arial"/>
              </a:rPr>
              <a:t>ط</a:t>
            </a:r>
            <a:r>
              <a:rPr dirty="0" baseline="16975" sz="2700" spc="-615">
                <a:latin typeface="Arial"/>
                <a:cs typeface="Arial"/>
              </a:rPr>
              <a:t>ْ </a:t>
            </a:r>
            <a:r>
              <a:rPr dirty="0" baseline="3086" sz="2700" spc="-1042">
                <a:latin typeface="Arial"/>
                <a:cs typeface="Arial"/>
              </a:rPr>
              <a:t>ش</a:t>
            </a:r>
            <a:r>
              <a:rPr dirty="0" baseline="7716" sz="2700" spc="-1042">
                <a:latin typeface="Arial"/>
                <a:cs typeface="Arial"/>
              </a:rPr>
              <a:t>َ</a:t>
            </a:r>
            <a:r>
              <a:rPr dirty="0" baseline="7716" sz="2700" spc="1364">
                <a:latin typeface="Arial"/>
                <a:cs typeface="Arial"/>
              </a:rPr>
              <a:t> </a:t>
            </a:r>
            <a:r>
              <a:rPr dirty="0" baseline="3086" sz="2700" spc="-682">
                <a:latin typeface="Arial"/>
                <a:cs typeface="Arial"/>
              </a:rPr>
              <a:t>ك</a:t>
            </a:r>
            <a:r>
              <a:rPr dirty="0" sz="1800" spc="-455">
                <a:latin typeface="Arial"/>
                <a:cs typeface="Arial"/>
              </a:rPr>
              <a:t>َ  </a:t>
            </a:r>
            <a:r>
              <a:rPr dirty="0" baseline="3086" sz="2700" spc="-322">
                <a:latin typeface="Arial"/>
                <a:cs typeface="Arial"/>
              </a:rPr>
              <a:t>ه</a:t>
            </a:r>
            <a:r>
              <a:rPr dirty="0" sz="1800" spc="-215">
                <a:latin typeface="Arial"/>
                <a:cs typeface="Arial"/>
              </a:rPr>
              <a:t>َ </a:t>
            </a:r>
            <a:r>
              <a:rPr dirty="0" baseline="3086" sz="2700" spc="-555">
                <a:latin typeface="Arial"/>
                <a:cs typeface="Arial"/>
              </a:rPr>
              <a:t>جْ </a:t>
            </a:r>
            <a:r>
              <a:rPr dirty="0" baseline="3086" sz="2700" spc="-307">
                <a:latin typeface="Arial"/>
                <a:cs typeface="Arial"/>
              </a:rPr>
              <a:t>و</a:t>
            </a:r>
            <a:r>
              <a:rPr dirty="0" sz="1800" spc="-204">
                <a:latin typeface="Arial"/>
                <a:cs typeface="Arial"/>
              </a:rPr>
              <a:t>َ </a:t>
            </a:r>
            <a:r>
              <a:rPr dirty="0" baseline="3086" sz="2700" spc="-419">
                <a:latin typeface="Arial"/>
                <a:cs typeface="Arial"/>
              </a:rPr>
              <a:t>لِّ </a:t>
            </a:r>
            <a:r>
              <a:rPr dirty="0" baseline="3086" sz="2700" spc="-307">
                <a:latin typeface="Arial"/>
                <a:cs typeface="Arial"/>
              </a:rPr>
              <a:t>و</a:t>
            </a:r>
            <a:r>
              <a:rPr dirty="0" sz="1800" spc="-204">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97">
                <a:latin typeface="Arial"/>
                <a:cs typeface="Arial"/>
              </a:rPr>
              <a:t> </a:t>
            </a:r>
            <a:r>
              <a:rPr dirty="0" baseline="3086" sz="2700" spc="-772">
                <a:latin typeface="Arial"/>
                <a:cs typeface="Arial"/>
              </a:rPr>
              <a:t>ت</a:t>
            </a:r>
            <a:r>
              <a:rPr dirty="0" baseline="4629" sz="2700" spc="-772">
                <a:latin typeface="Arial"/>
                <a:cs typeface="Arial"/>
              </a:rPr>
              <a:t>َ</a:t>
            </a:r>
            <a:r>
              <a:rPr dirty="0" baseline="4629" sz="2700" spc="825">
                <a:latin typeface="Arial"/>
                <a:cs typeface="Arial"/>
              </a:rPr>
              <a:t> </a:t>
            </a:r>
            <a:r>
              <a:rPr dirty="0" baseline="3086" sz="2700" spc="-555">
                <a:latin typeface="Arial"/>
                <a:cs typeface="Arial"/>
              </a:rPr>
              <a:t>جْ </a:t>
            </a:r>
            <a:r>
              <a:rPr dirty="0" baseline="3086" sz="2700" spc="-494">
                <a:latin typeface="Arial"/>
                <a:cs typeface="Arial"/>
              </a:rPr>
              <a:t>ر</a:t>
            </a:r>
            <a:r>
              <a:rPr dirty="0" sz="1800" spc="-330">
                <a:latin typeface="Arial"/>
                <a:cs typeface="Arial"/>
              </a:rPr>
              <a:t>َ </a:t>
            </a:r>
            <a:r>
              <a:rPr dirty="0" baseline="3086" sz="2700" spc="-592">
                <a:latin typeface="Arial"/>
                <a:cs typeface="Arial"/>
              </a:rPr>
              <a:t>خ</a:t>
            </a:r>
            <a:r>
              <a:rPr dirty="0" baseline="7716" sz="2700" spc="-592">
                <a:latin typeface="Arial"/>
                <a:cs typeface="Arial"/>
              </a:rPr>
              <a:t>َ </a:t>
            </a:r>
            <a:r>
              <a:rPr dirty="0" baseline="3086" sz="2700" spc="-802">
                <a:latin typeface="Arial"/>
                <a:cs typeface="Arial"/>
              </a:rPr>
              <a:t>ث</a:t>
            </a:r>
            <a:r>
              <a:rPr dirty="0" baseline="13888" sz="2700" spc="-802">
                <a:latin typeface="Arial"/>
                <a:cs typeface="Arial"/>
              </a:rPr>
              <a:t>ُ</a:t>
            </a:r>
            <a:r>
              <a:rPr dirty="0" baseline="13888" sz="2700" spc="900">
                <a:latin typeface="Arial"/>
                <a:cs typeface="Arial"/>
              </a:rPr>
              <a:t> </a:t>
            </a:r>
            <a:r>
              <a:rPr dirty="0" baseline="3086" sz="2700">
                <a:latin typeface="Arial"/>
                <a:cs typeface="Arial"/>
              </a:rPr>
              <a:t>ٌْ </a:t>
            </a:r>
            <a:r>
              <a:rPr dirty="0" baseline="3086" sz="2700" spc="-592">
                <a:latin typeface="Arial"/>
                <a:cs typeface="Arial"/>
              </a:rPr>
              <a:t>ح</a:t>
            </a:r>
            <a:r>
              <a:rPr dirty="0" sz="1800" spc="-395">
                <a:latin typeface="Arial"/>
                <a:cs typeface="Arial"/>
              </a:rPr>
              <a:t>َ </a:t>
            </a:r>
            <a:r>
              <a:rPr dirty="0" baseline="3086" sz="2700" spc="-465">
                <a:latin typeface="Arial"/>
                <a:cs typeface="Arial"/>
              </a:rPr>
              <a:t>نْ  </a:t>
            </a:r>
            <a:r>
              <a:rPr dirty="0" baseline="3086" sz="2700" spc="-352">
                <a:latin typeface="Arial"/>
                <a:cs typeface="Arial"/>
              </a:rPr>
              <a:t>م</a:t>
            </a:r>
            <a:r>
              <a:rPr dirty="0" baseline="1543" sz="2700" spc="-352">
                <a:latin typeface="Arial"/>
                <a:cs typeface="Arial"/>
              </a:rPr>
              <a:t>ِ</a:t>
            </a:r>
            <a:r>
              <a:rPr dirty="0" baseline="1543" sz="2700" spc="15">
                <a:latin typeface="Arial"/>
                <a:cs typeface="Arial"/>
              </a:rPr>
              <a:t> </a:t>
            </a:r>
            <a:r>
              <a:rPr dirty="0" baseline="3086" sz="2700" spc="-615">
                <a:latin typeface="Arial"/>
                <a:cs typeface="Arial"/>
              </a:rPr>
              <a:t>و</a:t>
            </a:r>
            <a:endParaRPr baseline="3086" sz="2700">
              <a:latin typeface="Arial"/>
              <a:cs typeface="Arial"/>
            </a:endParaRPr>
          </a:p>
          <a:p>
            <a:pPr algn="r" marR="127635">
              <a:lnSpc>
                <a:spcPts val="2120"/>
              </a:lnSpc>
            </a:pPr>
            <a:r>
              <a:rPr dirty="0" baseline="3086" sz="2700" spc="-494">
                <a:latin typeface="Arial"/>
                <a:cs typeface="Arial"/>
              </a:rPr>
              <a:t>ن</a:t>
            </a:r>
            <a:r>
              <a:rPr dirty="0" sz="1800" spc="-330">
                <a:latin typeface="Arial"/>
                <a:cs typeface="Arial"/>
              </a:rPr>
              <a:t>َ </a:t>
            </a:r>
            <a:r>
              <a:rPr dirty="0" baseline="3086" sz="2700" spc="-322">
                <a:latin typeface="Arial"/>
                <a:cs typeface="Arial"/>
              </a:rPr>
              <a:t>و</a:t>
            </a:r>
            <a:r>
              <a:rPr dirty="0" baseline="13888" sz="2700" spc="-322">
                <a:latin typeface="Arial"/>
                <a:cs typeface="Arial"/>
              </a:rPr>
              <a:t>ُ</a:t>
            </a:r>
            <a:r>
              <a:rPr dirty="0" baseline="3086" sz="2700" spc="-322">
                <a:latin typeface="Arial"/>
                <a:cs typeface="Arial"/>
              </a:rPr>
              <a:t>لم</a:t>
            </a:r>
            <a:r>
              <a:rPr dirty="0" sz="1800" spc="-215">
                <a:latin typeface="Arial"/>
                <a:cs typeface="Arial"/>
              </a:rPr>
              <a:t>َ </a:t>
            </a:r>
            <a:r>
              <a:rPr dirty="0" baseline="3086" sz="2700" spc="-569">
                <a:latin typeface="Arial"/>
                <a:cs typeface="Arial"/>
              </a:rPr>
              <a:t>عْ </a:t>
            </a:r>
            <a:r>
              <a:rPr dirty="0" baseline="3086" sz="2700" spc="-892">
                <a:latin typeface="Arial"/>
                <a:cs typeface="Arial"/>
              </a:rPr>
              <a:t>ت</a:t>
            </a:r>
            <a:r>
              <a:rPr dirty="0" baseline="7716" sz="2700" spc="-892">
                <a:latin typeface="Arial"/>
                <a:cs typeface="Arial"/>
              </a:rPr>
              <a:t>َ</a:t>
            </a:r>
            <a:r>
              <a:rPr dirty="0" baseline="7716" sz="2700" spc="502">
                <a:latin typeface="Arial"/>
                <a:cs typeface="Arial"/>
              </a:rPr>
              <a:t> </a:t>
            </a:r>
            <a:r>
              <a:rPr dirty="0" baseline="3086" sz="2700" spc="-179">
                <a:latin typeface="Arial"/>
                <a:cs typeface="Arial"/>
              </a:rPr>
              <a:t>امَّ</a:t>
            </a:r>
            <a:r>
              <a:rPr dirty="0" baseline="3086" sz="2700" spc="67">
                <a:latin typeface="Arial"/>
                <a:cs typeface="Arial"/>
              </a:rPr>
              <a:t> </a:t>
            </a:r>
            <a:r>
              <a:rPr dirty="0" baseline="3086" sz="2700" spc="-1207">
                <a:latin typeface="Arial"/>
                <a:cs typeface="Arial"/>
              </a:rPr>
              <a:t>ع</a:t>
            </a:r>
            <a:endParaRPr baseline="3086" sz="2700">
              <a:latin typeface="Arial"/>
              <a:cs typeface="Arial"/>
            </a:endParaRPr>
          </a:p>
        </p:txBody>
      </p:sp>
      <p:sp>
        <p:nvSpPr>
          <p:cNvPr id="14" name="object 14"/>
          <p:cNvSpPr txBox="1"/>
          <p:nvPr/>
        </p:nvSpPr>
        <p:spPr>
          <a:xfrm>
            <a:off x="680719" y="6670929"/>
            <a:ext cx="6398260" cy="3100070"/>
          </a:xfrm>
          <a:prstGeom prst="rect">
            <a:avLst/>
          </a:prstGeom>
        </p:spPr>
        <p:txBody>
          <a:bodyPr wrap="square" lIns="0" tIns="24765" rIns="0" bIns="0" rtlCol="0" vert="horz">
            <a:spAutoFit/>
          </a:bodyPr>
          <a:lstStyle/>
          <a:p>
            <a:pPr algn="just" marL="50800" marR="57150">
              <a:lnSpc>
                <a:spcPts val="1380"/>
              </a:lnSpc>
              <a:spcBef>
                <a:spcPts val="195"/>
              </a:spcBef>
            </a:pPr>
            <a:r>
              <a:rPr dirty="0" sz="1200" spc="-5">
                <a:latin typeface="Arial"/>
                <a:cs typeface="Arial"/>
              </a:rPr>
              <a:t>149. And whencesoever </a:t>
            </a:r>
            <a:r>
              <a:rPr dirty="0" sz="1200">
                <a:latin typeface="Arial"/>
                <a:cs typeface="Arial"/>
              </a:rPr>
              <a:t>thou </a:t>
            </a:r>
            <a:r>
              <a:rPr dirty="0" sz="1200" spc="-5">
                <a:latin typeface="Arial"/>
                <a:cs typeface="Arial"/>
              </a:rPr>
              <a:t>comes </a:t>
            </a:r>
            <a:r>
              <a:rPr dirty="0" sz="1200">
                <a:latin typeface="Arial"/>
                <a:cs typeface="Arial"/>
              </a:rPr>
              <a:t>forth </a:t>
            </a:r>
            <a:r>
              <a:rPr dirty="0" sz="1200" spc="-5">
                <a:latin typeface="Arial"/>
                <a:cs typeface="Arial"/>
              </a:rPr>
              <a:t>(for prayer, </a:t>
            </a:r>
            <a:r>
              <a:rPr dirty="0" sz="1200">
                <a:latin typeface="Arial"/>
                <a:cs typeface="Arial"/>
              </a:rPr>
              <a:t>O </a:t>
            </a:r>
            <a:r>
              <a:rPr dirty="0" sz="1200" spc="-5">
                <a:latin typeface="Arial"/>
                <a:cs typeface="Arial"/>
              </a:rPr>
              <a:t>Muhammad) </a:t>
            </a:r>
            <a:r>
              <a:rPr dirty="0" sz="1200">
                <a:latin typeface="Arial"/>
                <a:cs typeface="Arial"/>
              </a:rPr>
              <a:t>turn thy face </a:t>
            </a:r>
            <a:r>
              <a:rPr dirty="0" sz="1200" spc="-5">
                <a:latin typeface="Arial"/>
                <a:cs typeface="Arial"/>
              </a:rPr>
              <a:t>toward  </a:t>
            </a:r>
            <a:r>
              <a:rPr dirty="0" sz="1200">
                <a:latin typeface="Arial"/>
                <a:cs typeface="Arial"/>
              </a:rPr>
              <a:t>the </a:t>
            </a:r>
            <a:r>
              <a:rPr dirty="0" sz="1200" spc="-5">
                <a:latin typeface="Arial"/>
                <a:cs typeface="Arial"/>
              </a:rPr>
              <a:t>Inviolable Place of </a:t>
            </a:r>
            <a:r>
              <a:rPr dirty="0" sz="1200">
                <a:latin typeface="Arial"/>
                <a:cs typeface="Arial"/>
              </a:rPr>
              <a:t>Worship. </a:t>
            </a:r>
            <a:r>
              <a:rPr dirty="0" sz="1200" spc="-5">
                <a:latin typeface="Arial"/>
                <a:cs typeface="Arial"/>
              </a:rPr>
              <a:t>Lo! </a:t>
            </a:r>
            <a:r>
              <a:rPr dirty="0" sz="1200">
                <a:latin typeface="Arial"/>
                <a:cs typeface="Arial"/>
              </a:rPr>
              <a:t>It </a:t>
            </a:r>
            <a:r>
              <a:rPr dirty="0" sz="1200" spc="-5">
                <a:latin typeface="Arial"/>
                <a:cs typeface="Arial"/>
              </a:rPr>
              <a:t>is the Truth from </a:t>
            </a:r>
            <a:r>
              <a:rPr dirty="0" sz="1200">
                <a:latin typeface="Arial"/>
                <a:cs typeface="Arial"/>
              </a:rPr>
              <a:t>thy </a:t>
            </a:r>
            <a:r>
              <a:rPr dirty="0" sz="1200" spc="-10">
                <a:latin typeface="Arial"/>
                <a:cs typeface="Arial"/>
              </a:rPr>
              <a:t>Lord </a:t>
            </a:r>
            <a:r>
              <a:rPr dirty="0" sz="1200" spc="-5">
                <a:latin typeface="Arial"/>
                <a:cs typeface="Arial"/>
              </a:rPr>
              <a:t>Allah is not unaware of what  </a:t>
            </a:r>
            <a:r>
              <a:rPr dirty="0" sz="1200" spc="-10">
                <a:latin typeface="Arial"/>
                <a:cs typeface="Arial"/>
              </a:rPr>
              <a:t>ye</a:t>
            </a:r>
            <a:r>
              <a:rPr dirty="0" sz="1200" spc="-5">
                <a:latin typeface="Arial"/>
                <a:cs typeface="Arial"/>
              </a:rPr>
              <a:t> </a:t>
            </a:r>
            <a:r>
              <a:rPr dirty="0" sz="1200">
                <a:latin typeface="Arial"/>
                <a:cs typeface="Arial"/>
              </a:rPr>
              <a:t>do.</a:t>
            </a:r>
            <a:endParaRPr sz="1200">
              <a:latin typeface="Arial"/>
              <a:cs typeface="Arial"/>
            </a:endParaRPr>
          </a:p>
          <a:p>
            <a:pPr>
              <a:lnSpc>
                <a:spcPct val="100000"/>
              </a:lnSpc>
              <a:spcBef>
                <a:spcPts val="20"/>
              </a:spcBef>
            </a:pPr>
            <a:endParaRPr sz="1100">
              <a:latin typeface="Arial"/>
              <a:cs typeface="Arial"/>
            </a:endParaRPr>
          </a:p>
          <a:p>
            <a:pPr algn="just" marL="50800">
              <a:lnSpc>
                <a:spcPct val="100000"/>
              </a:lnSpc>
            </a:pPr>
            <a:r>
              <a:rPr dirty="0" sz="1200" spc="-5" b="1">
                <a:latin typeface="Arial"/>
                <a:cs typeface="Arial"/>
              </a:rPr>
              <a:t>(Verse 153 </a:t>
            </a:r>
            <a:r>
              <a:rPr dirty="0" sz="1200" b="1">
                <a:latin typeface="Arial"/>
                <a:cs typeface="Arial"/>
              </a:rPr>
              <a:t>– </a:t>
            </a:r>
            <a:r>
              <a:rPr dirty="0" sz="1200" spc="-5" b="1">
                <a:latin typeface="Arial"/>
                <a:cs typeface="Arial"/>
              </a:rPr>
              <a:t>193):</a:t>
            </a:r>
            <a:endParaRPr sz="1200">
              <a:latin typeface="Arial"/>
              <a:cs typeface="Arial"/>
            </a:endParaRPr>
          </a:p>
          <a:p>
            <a:pPr>
              <a:lnSpc>
                <a:spcPct val="100000"/>
              </a:lnSpc>
              <a:spcBef>
                <a:spcPts val="35"/>
              </a:spcBef>
            </a:pPr>
            <a:endParaRPr sz="1200">
              <a:latin typeface="Arial"/>
              <a:cs typeface="Arial"/>
            </a:endParaRPr>
          </a:p>
          <a:p>
            <a:pPr algn="just" marL="50800" marR="55244">
              <a:lnSpc>
                <a:spcPts val="1380"/>
              </a:lnSpc>
              <a:spcBef>
                <a:spcPts val="5"/>
              </a:spcBef>
            </a:pPr>
            <a:r>
              <a:rPr dirty="0" sz="1200">
                <a:latin typeface="Arial"/>
                <a:cs typeface="Arial"/>
              </a:rPr>
              <a:t>If </a:t>
            </a:r>
            <a:r>
              <a:rPr dirty="0" sz="1200" spc="-10">
                <a:latin typeface="Arial"/>
                <a:cs typeface="Arial"/>
              </a:rPr>
              <a:t>we </a:t>
            </a:r>
            <a:r>
              <a:rPr dirty="0" sz="1200" spc="-5">
                <a:latin typeface="Arial"/>
                <a:cs typeface="Arial"/>
              </a:rPr>
              <a:t>are unbelievers </a:t>
            </a:r>
            <a:r>
              <a:rPr dirty="0" sz="1200">
                <a:latin typeface="Arial"/>
                <a:cs typeface="Arial"/>
              </a:rPr>
              <a:t>there </a:t>
            </a:r>
            <a:r>
              <a:rPr dirty="0" sz="1200" spc="-10">
                <a:latin typeface="Arial"/>
                <a:cs typeface="Arial"/>
              </a:rPr>
              <a:t>will </a:t>
            </a:r>
            <a:r>
              <a:rPr dirty="0" sz="1200">
                <a:latin typeface="Arial"/>
                <a:cs typeface="Arial"/>
              </a:rPr>
              <a:t>surely </a:t>
            </a:r>
            <a:r>
              <a:rPr dirty="0" sz="1200" spc="-5">
                <a:latin typeface="Arial"/>
                <a:cs typeface="Arial"/>
              </a:rPr>
              <a:t>be </a:t>
            </a:r>
            <a:r>
              <a:rPr dirty="0" sz="1200">
                <a:latin typeface="Arial"/>
                <a:cs typeface="Arial"/>
              </a:rPr>
              <a:t>the </a:t>
            </a:r>
            <a:r>
              <a:rPr dirty="0" sz="1200" spc="-5">
                <a:latin typeface="Arial"/>
                <a:cs typeface="Arial"/>
              </a:rPr>
              <a:t>curse of Allah. </a:t>
            </a:r>
            <a:r>
              <a:rPr dirty="0" sz="1200">
                <a:latin typeface="Arial"/>
                <a:cs typeface="Arial"/>
              </a:rPr>
              <a:t>In </a:t>
            </a:r>
            <a:r>
              <a:rPr dirty="0" sz="1200" spc="-5">
                <a:latin typeface="Arial"/>
                <a:cs typeface="Arial"/>
              </a:rPr>
              <a:t>this portion practical measures  have been prescribed </a:t>
            </a:r>
            <a:r>
              <a:rPr dirty="0" sz="1200">
                <a:latin typeface="Arial"/>
                <a:cs typeface="Arial"/>
              </a:rPr>
              <a:t>to </a:t>
            </a:r>
            <a:r>
              <a:rPr dirty="0" sz="1200" spc="-5">
                <a:latin typeface="Arial"/>
                <a:cs typeface="Arial"/>
              </a:rPr>
              <a:t>enable the Muslims </a:t>
            </a:r>
            <a:r>
              <a:rPr dirty="0" sz="1200">
                <a:latin typeface="Arial"/>
                <a:cs typeface="Arial"/>
              </a:rPr>
              <a:t>to </a:t>
            </a:r>
            <a:r>
              <a:rPr dirty="0" sz="1200" spc="-5">
                <a:latin typeface="Arial"/>
                <a:cs typeface="Arial"/>
              </a:rPr>
              <a:t>discharge </a:t>
            </a:r>
            <a:r>
              <a:rPr dirty="0" sz="1200">
                <a:latin typeface="Arial"/>
                <a:cs typeface="Arial"/>
              </a:rPr>
              <a:t>the </a:t>
            </a:r>
            <a:r>
              <a:rPr dirty="0" sz="1200" spc="-5">
                <a:latin typeface="Arial"/>
                <a:cs typeface="Arial"/>
              </a:rPr>
              <a:t>heavy responsibilities of </a:t>
            </a:r>
            <a:r>
              <a:rPr dirty="0" sz="1200">
                <a:latin typeface="Arial"/>
                <a:cs typeface="Arial"/>
              </a:rPr>
              <a:t>the  </a:t>
            </a:r>
            <a:r>
              <a:rPr dirty="0" sz="1200" spc="-5">
                <a:latin typeface="Arial"/>
                <a:cs typeface="Arial"/>
              </a:rPr>
              <a:t>leadership that had been entrusted </a:t>
            </a:r>
            <a:r>
              <a:rPr dirty="0" sz="1200">
                <a:latin typeface="Arial"/>
                <a:cs typeface="Arial"/>
              </a:rPr>
              <a:t>to </a:t>
            </a:r>
            <a:r>
              <a:rPr dirty="0" sz="1200" spc="-5">
                <a:latin typeface="Arial"/>
                <a:cs typeface="Arial"/>
              </a:rPr>
              <a:t>them </a:t>
            </a:r>
            <a:r>
              <a:rPr dirty="0" sz="1200">
                <a:latin typeface="Arial"/>
                <a:cs typeface="Arial"/>
              </a:rPr>
              <a:t>for the </a:t>
            </a:r>
            <a:r>
              <a:rPr dirty="0" sz="1200" spc="-5">
                <a:latin typeface="Arial"/>
                <a:cs typeface="Arial"/>
              </a:rPr>
              <a:t>promulgation of Guidance. Salat, Fast,  </a:t>
            </a:r>
            <a:r>
              <a:rPr dirty="0" sz="1200">
                <a:latin typeface="Arial"/>
                <a:cs typeface="Arial"/>
              </a:rPr>
              <a:t>Zakat, </a:t>
            </a:r>
            <a:r>
              <a:rPr dirty="0" sz="1200" spc="-5">
                <a:latin typeface="Arial"/>
                <a:cs typeface="Arial"/>
              </a:rPr>
              <a:t>Haj and Jihad </a:t>
            </a:r>
            <a:r>
              <a:rPr dirty="0" sz="1200" spc="-10">
                <a:latin typeface="Arial"/>
                <a:cs typeface="Arial"/>
              </a:rPr>
              <a:t>have </a:t>
            </a:r>
            <a:r>
              <a:rPr dirty="0" sz="1200">
                <a:latin typeface="Arial"/>
                <a:cs typeface="Arial"/>
              </a:rPr>
              <a:t>been </a:t>
            </a:r>
            <a:r>
              <a:rPr dirty="0" sz="1200" spc="-5">
                <a:latin typeface="Arial"/>
                <a:cs typeface="Arial"/>
              </a:rPr>
              <a:t>prescribed for </a:t>
            </a:r>
            <a:r>
              <a:rPr dirty="0" sz="1200" spc="5">
                <a:latin typeface="Arial"/>
                <a:cs typeface="Arial"/>
              </a:rPr>
              <a:t>the </a:t>
            </a:r>
            <a:r>
              <a:rPr dirty="0" sz="1200">
                <a:latin typeface="Arial"/>
                <a:cs typeface="Arial"/>
              </a:rPr>
              <a:t>moral </a:t>
            </a:r>
            <a:r>
              <a:rPr dirty="0" sz="1200" spc="-5">
                <a:latin typeface="Arial"/>
                <a:cs typeface="Arial"/>
              </a:rPr>
              <a:t>training of the</a:t>
            </a:r>
            <a:r>
              <a:rPr dirty="0" sz="1200" spc="20">
                <a:latin typeface="Arial"/>
                <a:cs typeface="Arial"/>
              </a:rPr>
              <a:t> </a:t>
            </a:r>
            <a:r>
              <a:rPr dirty="0" sz="1200" spc="-5">
                <a:latin typeface="Arial"/>
                <a:cs typeface="Arial"/>
              </a:rPr>
              <a:t>Ummat.</a:t>
            </a:r>
            <a:endParaRPr sz="1200">
              <a:latin typeface="Arial"/>
              <a:cs typeface="Arial"/>
            </a:endParaRPr>
          </a:p>
          <a:p>
            <a:pPr>
              <a:lnSpc>
                <a:spcPct val="100000"/>
              </a:lnSpc>
              <a:spcBef>
                <a:spcPts val="15"/>
              </a:spcBef>
            </a:pPr>
            <a:endParaRPr sz="1100">
              <a:latin typeface="Arial"/>
              <a:cs typeface="Arial"/>
            </a:endParaRPr>
          </a:p>
          <a:p>
            <a:pPr algn="just" marL="50800">
              <a:lnSpc>
                <a:spcPct val="100000"/>
              </a:lnSpc>
            </a:pPr>
            <a:r>
              <a:rPr dirty="0" sz="1200" spc="-5">
                <a:latin typeface="Arial"/>
                <a:cs typeface="Arial"/>
              </a:rPr>
              <a:t>Allah says:</a:t>
            </a:r>
            <a:endParaRPr sz="1200">
              <a:latin typeface="Arial"/>
              <a:cs typeface="Arial"/>
            </a:endParaRPr>
          </a:p>
          <a:p>
            <a:pPr>
              <a:lnSpc>
                <a:spcPct val="100000"/>
              </a:lnSpc>
            </a:pPr>
            <a:endParaRPr sz="1200">
              <a:latin typeface="Arial"/>
              <a:cs typeface="Arial"/>
            </a:endParaRPr>
          </a:p>
          <a:p>
            <a:pPr marL="1812925">
              <a:lnSpc>
                <a:spcPct val="100000"/>
              </a:lnSpc>
            </a:pPr>
            <a:r>
              <a:rPr dirty="0" baseline="3086" sz="2700" spc="-509">
                <a:latin typeface="Arial"/>
                <a:cs typeface="Arial"/>
              </a:rPr>
              <a:t>ن</a:t>
            </a:r>
            <a:r>
              <a:rPr dirty="0" sz="1800" spc="-340">
                <a:latin typeface="Arial"/>
                <a:cs typeface="Arial"/>
              </a:rPr>
              <a:t>َ </a:t>
            </a:r>
            <a:r>
              <a:rPr dirty="0" baseline="3086" sz="2700" spc="-307">
                <a:latin typeface="Arial"/>
                <a:cs typeface="Arial"/>
              </a:rPr>
              <a:t>ٌر</a:t>
            </a:r>
            <a:r>
              <a:rPr dirty="0" baseline="-10802" sz="2700" spc="-307">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75">
                <a:latin typeface="Arial"/>
                <a:cs typeface="Arial"/>
              </a:rPr>
              <a:t> </a:t>
            </a:r>
            <a:r>
              <a:rPr dirty="0" baseline="3086" sz="2700" spc="-675">
                <a:latin typeface="Arial"/>
                <a:cs typeface="Arial"/>
              </a:rPr>
              <a:t>اصَّ </a:t>
            </a:r>
            <a:r>
              <a:rPr dirty="0" baseline="3086" sz="2700" spc="-412">
                <a:latin typeface="Arial"/>
                <a:cs typeface="Arial"/>
              </a:rPr>
              <a:t>لٱ </a:t>
            </a:r>
            <a:r>
              <a:rPr dirty="0" baseline="3086" sz="2700" spc="-569">
                <a:latin typeface="Arial"/>
                <a:cs typeface="Arial"/>
              </a:rPr>
              <a:t>ع</a:t>
            </a:r>
            <a:r>
              <a:rPr dirty="0" sz="1800" spc="-380">
                <a:latin typeface="Arial"/>
                <a:cs typeface="Arial"/>
              </a:rPr>
              <a:t>َ </a:t>
            </a:r>
            <a:r>
              <a:rPr dirty="0" baseline="3086" sz="2700" spc="-359">
                <a:latin typeface="Arial"/>
                <a:cs typeface="Arial"/>
              </a:rPr>
              <a:t>م</a:t>
            </a:r>
            <a:r>
              <a:rPr dirty="0" sz="1800" spc="-240">
                <a:latin typeface="Arial"/>
                <a:cs typeface="Arial"/>
              </a:rPr>
              <a:t>َ </a:t>
            </a:r>
            <a:r>
              <a:rPr dirty="0" baseline="3086" sz="2700" spc="-885">
                <a:latin typeface="Arial"/>
                <a:cs typeface="Arial"/>
              </a:rPr>
              <a:t>للَّ</a:t>
            </a:r>
            <a:r>
              <a:rPr dirty="0" baseline="-7716" sz="2700" spc="-885">
                <a:latin typeface="Arial"/>
                <a:cs typeface="Arial"/>
              </a:rPr>
              <a:t>َ</a:t>
            </a:r>
            <a:r>
              <a:rPr dirty="0" baseline="-7716" sz="2700" spc="-97">
                <a:latin typeface="Arial"/>
                <a:cs typeface="Arial"/>
              </a:rPr>
              <a:t> </a:t>
            </a:r>
            <a:r>
              <a:rPr dirty="0" baseline="15432" sz="2700">
                <a:latin typeface="Arial"/>
                <a:cs typeface="Arial"/>
              </a:rPr>
              <a:t>َّ </a:t>
            </a:r>
            <a:r>
              <a:rPr dirty="0" baseline="3086" sz="2700">
                <a:latin typeface="Arial"/>
                <a:cs typeface="Arial"/>
              </a:rPr>
              <a:t>ٱ </a:t>
            </a:r>
            <a:r>
              <a:rPr dirty="0" baseline="3086" sz="2700" spc="-345">
                <a:latin typeface="Arial"/>
                <a:cs typeface="Arial"/>
              </a:rPr>
              <a:t>نَّ </a:t>
            </a:r>
            <a:r>
              <a:rPr dirty="0" baseline="-10802" sz="2700">
                <a:latin typeface="Arial"/>
                <a:cs typeface="Arial"/>
              </a:rPr>
              <a:t>ِ</a:t>
            </a:r>
            <a:r>
              <a:rPr dirty="0" baseline="3086" sz="2700">
                <a:latin typeface="Arial"/>
                <a:cs typeface="Arial"/>
              </a:rPr>
              <a:t>إ </a:t>
            </a:r>
            <a:r>
              <a:rPr dirty="0" baseline="3086" sz="2700" spc="-337">
                <a:latin typeface="Arial"/>
                <a:cs typeface="Arial"/>
              </a:rPr>
              <a:t>ة</a:t>
            </a:r>
            <a:r>
              <a:rPr dirty="0" baseline="1543" sz="2700" spc="-337">
                <a:latin typeface="Arial"/>
                <a:cs typeface="Arial"/>
              </a:rPr>
              <a:t>ِ </a:t>
            </a:r>
            <a:r>
              <a:rPr dirty="0" baseline="9259" sz="2700" spc="-509">
                <a:latin typeface="Arial"/>
                <a:cs typeface="Arial"/>
              </a:rPr>
              <a:t>َ</a:t>
            </a:r>
            <a:r>
              <a:rPr dirty="0" baseline="3086" sz="2700" spc="-509">
                <a:latin typeface="Arial"/>
                <a:cs typeface="Arial"/>
              </a:rPr>
              <a:t>لاصَّ </a:t>
            </a:r>
            <a:r>
              <a:rPr dirty="0" baseline="3086" sz="2700" spc="-359">
                <a:latin typeface="Arial"/>
                <a:cs typeface="Arial"/>
              </a:rPr>
              <a:t>لٱو</a:t>
            </a:r>
            <a:r>
              <a:rPr dirty="0" sz="1800" spc="-240">
                <a:latin typeface="Arial"/>
                <a:cs typeface="Arial"/>
              </a:rPr>
              <a:t>َ </a:t>
            </a:r>
            <a:r>
              <a:rPr dirty="0" baseline="3086" sz="2700" spc="-457">
                <a:latin typeface="Arial"/>
                <a:cs typeface="Arial"/>
              </a:rPr>
              <a:t>ر</a:t>
            </a:r>
            <a:r>
              <a:rPr dirty="0" baseline="-10802" sz="2700" spc="-457">
                <a:latin typeface="Arial"/>
                <a:cs typeface="Arial"/>
              </a:rPr>
              <a:t>ِ </a:t>
            </a:r>
            <a:r>
              <a:rPr dirty="0" baseline="3086" sz="2700" spc="-862">
                <a:latin typeface="Arial"/>
                <a:cs typeface="Arial"/>
              </a:rPr>
              <a:t>بْ</a:t>
            </a:r>
            <a:r>
              <a:rPr dirty="0" baseline="3086" sz="2700" spc="-277">
                <a:latin typeface="Arial"/>
                <a:cs typeface="Arial"/>
              </a:rPr>
              <a:t> </a:t>
            </a:r>
            <a:r>
              <a:rPr dirty="0" baseline="3086" sz="2700" spc="-914">
                <a:latin typeface="Arial"/>
                <a:cs typeface="Arial"/>
              </a:rPr>
              <a:t>صَّ</a:t>
            </a:r>
            <a:r>
              <a:rPr dirty="0" baseline="3086" sz="2700" spc="1402">
                <a:latin typeface="Arial"/>
                <a:cs typeface="Arial"/>
              </a:rPr>
              <a:t> </a:t>
            </a:r>
            <a:r>
              <a:rPr dirty="0" baseline="3086" sz="2700" spc="-675">
                <a:latin typeface="Arial"/>
                <a:cs typeface="Arial"/>
              </a:rPr>
              <a:t>لٲب</a:t>
            </a:r>
            <a:r>
              <a:rPr dirty="0" baseline="-10802" sz="2700" spc="-675">
                <a:latin typeface="Arial"/>
                <a:cs typeface="Arial"/>
              </a:rPr>
              <a:t>ِ </a:t>
            </a:r>
            <a:r>
              <a:rPr dirty="0" baseline="3086" sz="2700" spc="-262">
                <a:latin typeface="Arial"/>
                <a:cs typeface="Arial"/>
              </a:rPr>
              <a:t>ا</a:t>
            </a:r>
            <a:r>
              <a:rPr dirty="0" baseline="10802" sz="2700" spc="-262">
                <a:latin typeface="Arial"/>
                <a:cs typeface="Arial"/>
              </a:rPr>
              <a:t>ْ </a:t>
            </a:r>
            <a:r>
              <a:rPr dirty="0" baseline="3086" sz="2700" spc="-457">
                <a:latin typeface="Arial"/>
                <a:cs typeface="Arial"/>
              </a:rPr>
              <a:t>ون</a:t>
            </a:r>
            <a:r>
              <a:rPr dirty="0" baseline="10802" sz="2700" spc="-457">
                <a:latin typeface="Arial"/>
                <a:cs typeface="Arial"/>
              </a:rPr>
              <a:t>ُ </a:t>
            </a:r>
            <a:r>
              <a:rPr dirty="0" baseline="3086" sz="2700" spc="-419">
                <a:latin typeface="Arial"/>
                <a:cs typeface="Arial"/>
              </a:rPr>
              <a:t>ٌع</a:t>
            </a:r>
            <a:r>
              <a:rPr dirty="0" baseline="1543" sz="2700" spc="-419">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02">
                <a:latin typeface="Arial"/>
                <a:cs typeface="Arial"/>
              </a:rPr>
              <a:t> </a:t>
            </a:r>
            <a:r>
              <a:rPr dirty="0" baseline="3086" sz="2700" spc="-952">
                <a:latin typeface="Arial"/>
                <a:cs typeface="Arial"/>
              </a:rPr>
              <a:t>سْ</a:t>
            </a:r>
            <a:r>
              <a:rPr dirty="0" baseline="3086" sz="2700" spc="397">
                <a:latin typeface="Arial"/>
                <a:cs typeface="Arial"/>
              </a:rPr>
              <a:t> </a:t>
            </a:r>
            <a:r>
              <a:rPr dirty="0" baseline="3086" sz="2700">
                <a:latin typeface="Arial"/>
                <a:cs typeface="Arial"/>
              </a:rPr>
              <a:t>ٱ </a:t>
            </a:r>
            <a:r>
              <a:rPr dirty="0" baseline="3086" sz="2700" spc="-262">
                <a:latin typeface="Arial"/>
                <a:cs typeface="Arial"/>
              </a:rPr>
              <a:t>ا</a:t>
            </a:r>
            <a:r>
              <a:rPr dirty="0" baseline="10802" sz="2700" spc="-262">
                <a:latin typeface="Arial"/>
                <a:cs typeface="Arial"/>
              </a:rPr>
              <a:t>ْ </a:t>
            </a:r>
            <a:r>
              <a:rPr dirty="0" baseline="3086" sz="2700" spc="-457">
                <a:latin typeface="Arial"/>
                <a:cs typeface="Arial"/>
              </a:rPr>
              <a:t>ون</a:t>
            </a:r>
            <a:r>
              <a:rPr dirty="0" baseline="10802" sz="2700" spc="-457">
                <a:latin typeface="Arial"/>
                <a:cs typeface="Arial"/>
              </a:rPr>
              <a:t>ُ </a:t>
            </a:r>
            <a:r>
              <a:rPr dirty="0" baseline="3086" sz="2700" spc="-367">
                <a:latin typeface="Arial"/>
                <a:cs typeface="Arial"/>
              </a:rPr>
              <a:t>م</a:t>
            </a:r>
            <a:r>
              <a:rPr dirty="0" sz="1800" spc="-245">
                <a:latin typeface="Arial"/>
                <a:cs typeface="Arial"/>
              </a:rPr>
              <a:t>َ </a:t>
            </a:r>
            <a:r>
              <a:rPr dirty="0" baseline="3086" sz="2700">
                <a:latin typeface="Arial"/>
                <a:cs typeface="Arial"/>
              </a:rPr>
              <a:t>آ </a:t>
            </a:r>
            <a:r>
              <a:rPr dirty="0" baseline="3086" sz="2700" spc="-494">
                <a:latin typeface="Arial"/>
                <a:cs typeface="Arial"/>
              </a:rPr>
              <a:t>ن</a:t>
            </a:r>
            <a:r>
              <a:rPr dirty="0" sz="1800" spc="-330">
                <a:latin typeface="Arial"/>
                <a:cs typeface="Arial"/>
              </a:rPr>
              <a:t>َ </a:t>
            </a:r>
            <a:r>
              <a:rPr dirty="0" baseline="3086" sz="2700" spc="-232">
                <a:latin typeface="Arial"/>
                <a:cs typeface="Arial"/>
              </a:rPr>
              <a:t>ٌذ</a:t>
            </a:r>
            <a:r>
              <a:rPr dirty="0" baseline="1543" sz="2700" spc="-232">
                <a:latin typeface="Arial"/>
                <a:cs typeface="Arial"/>
              </a:rPr>
              <a:t>ِ </a:t>
            </a:r>
            <a:r>
              <a:rPr dirty="0" baseline="13888" sz="2700" spc="-209">
                <a:latin typeface="Arial"/>
                <a:cs typeface="Arial"/>
              </a:rPr>
              <a:t>َّ</a:t>
            </a:r>
            <a:r>
              <a:rPr dirty="0" baseline="3086" sz="2700" spc="-209">
                <a:latin typeface="Arial"/>
                <a:cs typeface="Arial"/>
              </a:rPr>
              <a:t>لٱ </a:t>
            </a:r>
            <a:r>
              <a:rPr dirty="0" baseline="3086" sz="2700" spc="-202">
                <a:latin typeface="Arial"/>
                <a:cs typeface="Arial"/>
              </a:rPr>
              <a:t>اه</a:t>
            </a:r>
            <a:r>
              <a:rPr dirty="0" sz="1800" spc="-135">
                <a:latin typeface="Arial"/>
                <a:cs typeface="Arial"/>
              </a:rPr>
              <a:t>َ </a:t>
            </a:r>
            <a:r>
              <a:rPr dirty="0" baseline="3086" sz="2700">
                <a:latin typeface="Arial"/>
                <a:cs typeface="Arial"/>
              </a:rPr>
              <a:t>ٌُّ</a:t>
            </a:r>
            <a:r>
              <a:rPr dirty="0" baseline="3086" sz="2700" spc="-480">
                <a:latin typeface="Arial"/>
                <a:cs typeface="Arial"/>
              </a:rPr>
              <a:t> </a:t>
            </a:r>
            <a:r>
              <a:rPr dirty="0" baseline="16975" sz="2700" spc="7">
                <a:latin typeface="Arial"/>
                <a:cs typeface="Arial"/>
              </a:rPr>
              <a:t>َ</a:t>
            </a:r>
            <a:r>
              <a:rPr dirty="0" baseline="3086" sz="2700" spc="7">
                <a:latin typeface="Arial"/>
                <a:cs typeface="Arial"/>
              </a:rPr>
              <a:t>أآٌ</a:t>
            </a:r>
            <a:endParaRPr baseline="3086" sz="2700">
              <a:latin typeface="Arial"/>
              <a:cs typeface="Arial"/>
            </a:endParaRPr>
          </a:p>
          <a:p>
            <a:pPr algn="just" marL="50800" marR="60960">
              <a:lnSpc>
                <a:spcPts val="1380"/>
              </a:lnSpc>
              <a:spcBef>
                <a:spcPts val="1320"/>
              </a:spcBef>
            </a:pPr>
            <a:r>
              <a:rPr dirty="0" sz="1200" spc="-5">
                <a:latin typeface="Arial"/>
                <a:cs typeface="Arial"/>
              </a:rPr>
              <a:t>153. </a:t>
            </a:r>
            <a:r>
              <a:rPr dirty="0" sz="1200">
                <a:latin typeface="Arial"/>
                <a:cs typeface="Arial"/>
              </a:rPr>
              <a:t>O </a:t>
            </a:r>
            <a:r>
              <a:rPr dirty="0" sz="1200" spc="-10">
                <a:latin typeface="Arial"/>
                <a:cs typeface="Arial"/>
              </a:rPr>
              <a:t>ye who believe! </a:t>
            </a:r>
            <a:r>
              <a:rPr dirty="0" sz="1200" spc="-5">
                <a:latin typeface="Arial"/>
                <a:cs typeface="Arial"/>
              </a:rPr>
              <a:t>Seek help in steadfastness, and prayer. Lo! Allah is with </a:t>
            </a:r>
            <a:r>
              <a:rPr dirty="0" sz="1200">
                <a:latin typeface="Arial"/>
                <a:cs typeface="Arial"/>
              </a:rPr>
              <a:t>the  steadfast.</a:t>
            </a:r>
            <a:endParaRPr sz="1200">
              <a:latin typeface="Arial"/>
              <a:cs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367284" y="982726"/>
            <a:ext cx="6654165" cy="8526145"/>
          </a:xfrm>
          <a:prstGeom prst="rect">
            <a:avLst/>
          </a:prstGeom>
        </p:spPr>
        <p:txBody>
          <a:bodyPr wrap="square" lIns="0" tIns="12700" rIns="0" bIns="0" rtlCol="0" vert="horz">
            <a:spAutoFit/>
          </a:bodyPr>
          <a:lstStyle/>
          <a:p>
            <a:pPr algn="r" marR="233679">
              <a:lnSpc>
                <a:spcPct val="100000"/>
              </a:lnSpc>
              <a:spcBef>
                <a:spcPts val="100"/>
              </a:spcBef>
            </a:pPr>
            <a:r>
              <a:rPr dirty="0" baseline="3086" sz="2700" spc="-494">
                <a:latin typeface="Arial"/>
                <a:cs typeface="Arial"/>
              </a:rPr>
              <a:t>ن</a:t>
            </a:r>
            <a:r>
              <a:rPr dirty="0" sz="1800" spc="-330">
                <a:latin typeface="Arial"/>
                <a:cs typeface="Arial"/>
              </a:rPr>
              <a:t>َ </a:t>
            </a:r>
            <a:r>
              <a:rPr dirty="0" baseline="3086" sz="2700" spc="-359">
                <a:latin typeface="Arial"/>
                <a:cs typeface="Arial"/>
              </a:rPr>
              <a:t>ورُ </a:t>
            </a:r>
            <a:r>
              <a:rPr dirty="0" baseline="3086" sz="2700" spc="-637">
                <a:latin typeface="Arial"/>
                <a:cs typeface="Arial"/>
              </a:rPr>
              <a:t>عُ </a:t>
            </a:r>
            <a:r>
              <a:rPr dirty="0" baseline="3086" sz="2700" spc="-1005">
                <a:latin typeface="Arial"/>
                <a:cs typeface="Arial"/>
              </a:rPr>
              <a:t>ش</a:t>
            </a:r>
            <a:r>
              <a:rPr dirty="0" baseline="12345" sz="2700" spc="-1005">
                <a:latin typeface="Arial"/>
                <a:cs typeface="Arial"/>
              </a:rPr>
              <a:t>ْ</a:t>
            </a:r>
            <a:r>
              <a:rPr dirty="0" baseline="12345" sz="2700" spc="547">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517">
                <a:latin typeface="Arial"/>
                <a:cs typeface="Arial"/>
              </a:rPr>
              <a:t> </a:t>
            </a:r>
            <a:r>
              <a:rPr dirty="0" baseline="12345" sz="2700" spc="-120">
                <a:latin typeface="Arial"/>
                <a:cs typeface="Arial"/>
              </a:rPr>
              <a:t>َّ</a:t>
            </a:r>
            <a:r>
              <a:rPr dirty="0" baseline="3086" sz="2700" spc="-120">
                <a:latin typeface="Arial"/>
                <a:cs typeface="Arial"/>
              </a:rPr>
              <a:t>لا </a:t>
            </a:r>
            <a:r>
              <a:rPr dirty="0" baseline="3086" sz="2700" spc="-487">
                <a:latin typeface="Arial"/>
                <a:cs typeface="Arial"/>
              </a:rPr>
              <a:t>نك</a:t>
            </a:r>
            <a:r>
              <a:rPr dirty="0" baseline="1543" sz="2700" spc="-487">
                <a:latin typeface="Arial"/>
                <a:cs typeface="Arial"/>
              </a:rPr>
              <a:t>ِ </a:t>
            </a:r>
            <a:r>
              <a:rPr dirty="0" baseline="10802" sz="2700" spc="-359">
                <a:latin typeface="Arial"/>
                <a:cs typeface="Arial"/>
              </a:rPr>
              <a:t>َ</a:t>
            </a:r>
            <a:r>
              <a:rPr dirty="0" baseline="3086" sz="2700" spc="-359">
                <a:latin typeface="Arial"/>
                <a:cs typeface="Arial"/>
              </a:rPr>
              <a:t>لو</a:t>
            </a:r>
            <a:r>
              <a:rPr dirty="0" sz="1800" spc="-240">
                <a:latin typeface="Arial"/>
                <a:cs typeface="Arial"/>
              </a:rPr>
              <a:t>َ </a:t>
            </a:r>
            <a:r>
              <a:rPr dirty="0" baseline="3086" sz="2700" spc="-494">
                <a:latin typeface="Arial"/>
                <a:cs typeface="Arial"/>
              </a:rPr>
              <a:t>ء</a:t>
            </a:r>
            <a:r>
              <a:rPr dirty="0" baseline="4629" sz="2700" spc="-494">
                <a:latin typeface="Arial"/>
                <a:cs typeface="Arial"/>
              </a:rPr>
              <a:t>ٌ </a:t>
            </a:r>
            <a:r>
              <a:rPr dirty="0" baseline="3086" sz="2700" spc="15">
                <a:latin typeface="Arial"/>
                <a:cs typeface="Arial"/>
              </a:rPr>
              <a:t>اٌ</a:t>
            </a:r>
            <a:r>
              <a:rPr dirty="0" sz="1800" spc="10">
                <a:latin typeface="Arial"/>
                <a:cs typeface="Arial"/>
              </a:rPr>
              <a:t>َ </a:t>
            </a:r>
            <a:r>
              <a:rPr dirty="0" baseline="3086" sz="2700" spc="-555">
                <a:latin typeface="Arial"/>
                <a:cs typeface="Arial"/>
              </a:rPr>
              <a:t>حْ </a:t>
            </a:r>
            <a:r>
              <a:rPr dirty="0" baseline="16975" sz="2700">
                <a:latin typeface="Arial"/>
                <a:cs typeface="Arial"/>
              </a:rPr>
              <a:t>َ</a:t>
            </a:r>
            <a:r>
              <a:rPr dirty="0" baseline="3086" sz="2700">
                <a:latin typeface="Arial"/>
                <a:cs typeface="Arial"/>
              </a:rPr>
              <a:t>أ </a:t>
            </a:r>
            <a:r>
              <a:rPr dirty="0" baseline="3086" sz="2700" spc="-585">
                <a:latin typeface="Arial"/>
                <a:cs typeface="Arial"/>
              </a:rPr>
              <a:t>لْ </a:t>
            </a:r>
            <a:r>
              <a:rPr dirty="0" baseline="3086" sz="2700" spc="-892">
                <a:latin typeface="Arial"/>
                <a:cs typeface="Arial"/>
              </a:rPr>
              <a:t>ب</a:t>
            </a:r>
            <a:r>
              <a:rPr dirty="0" sz="1800" spc="-595">
                <a:latin typeface="Arial"/>
                <a:cs typeface="Arial"/>
              </a:rPr>
              <a:t>َ</a:t>
            </a:r>
            <a:r>
              <a:rPr dirty="0" sz="1800" spc="405">
                <a:latin typeface="Arial"/>
                <a:cs typeface="Arial"/>
              </a:rPr>
              <a:t> </a:t>
            </a:r>
            <a:r>
              <a:rPr dirty="0" baseline="3086" sz="2700" spc="-802">
                <a:latin typeface="Arial"/>
                <a:cs typeface="Arial"/>
              </a:rPr>
              <a:t>ت</a:t>
            </a:r>
            <a:r>
              <a:rPr dirty="0" baseline="9259" sz="2700" spc="-802">
                <a:latin typeface="Arial"/>
                <a:cs typeface="Arial"/>
              </a:rPr>
              <a:t>ٌ</a:t>
            </a:r>
            <a:r>
              <a:rPr dirty="0" baseline="9259" sz="2700" spc="944">
                <a:latin typeface="Arial"/>
                <a:cs typeface="Arial"/>
              </a:rPr>
              <a:t> </a:t>
            </a:r>
            <a:r>
              <a:rPr dirty="0" baseline="3086" sz="2700" spc="-209">
                <a:latin typeface="Arial"/>
                <a:cs typeface="Arial"/>
              </a:rPr>
              <a:t>او</a:t>
            </a:r>
            <a:r>
              <a:rPr dirty="0" sz="1800" spc="-140">
                <a:latin typeface="Arial"/>
                <a:cs typeface="Arial"/>
              </a:rPr>
              <a:t>َ </a:t>
            </a:r>
            <a:r>
              <a:rPr dirty="0" baseline="3086" sz="2700" spc="-322">
                <a:latin typeface="Arial"/>
                <a:cs typeface="Arial"/>
              </a:rPr>
              <a:t>مْ </a:t>
            </a:r>
            <a:r>
              <a:rPr dirty="0" baseline="16975" sz="2700">
                <a:latin typeface="Arial"/>
                <a:cs typeface="Arial"/>
              </a:rPr>
              <a:t>َ</a:t>
            </a:r>
            <a:r>
              <a:rPr dirty="0" baseline="3086" sz="2700">
                <a:latin typeface="Arial"/>
                <a:cs typeface="Arial"/>
              </a:rPr>
              <a:t>أ </a:t>
            </a:r>
            <a:r>
              <a:rPr dirty="0" baseline="3086" sz="2700" spc="-885">
                <a:latin typeface="Arial"/>
                <a:cs typeface="Arial"/>
              </a:rPr>
              <a:t>للَّ</a:t>
            </a:r>
            <a:r>
              <a:rPr dirty="0" sz="1800" spc="-590">
                <a:latin typeface="Arial"/>
                <a:cs typeface="Arial"/>
              </a:rPr>
              <a:t>ِ</a:t>
            </a:r>
            <a:r>
              <a:rPr dirty="0" sz="1800" spc="-70">
                <a:latin typeface="Arial"/>
                <a:cs typeface="Arial"/>
              </a:rPr>
              <a:t> </a:t>
            </a:r>
            <a:r>
              <a:rPr dirty="0" baseline="15432" sz="2700">
                <a:latin typeface="Arial"/>
                <a:cs typeface="Arial"/>
              </a:rPr>
              <a:t>َّ </a:t>
            </a:r>
            <a:r>
              <a:rPr dirty="0" baseline="3086" sz="2700">
                <a:latin typeface="Arial"/>
                <a:cs typeface="Arial"/>
              </a:rPr>
              <a:t>ٱ </a:t>
            </a:r>
            <a:r>
              <a:rPr dirty="0" baseline="3086" sz="2700" spc="-532">
                <a:latin typeface="Arial"/>
                <a:cs typeface="Arial"/>
              </a:rPr>
              <a:t>ل</a:t>
            </a:r>
            <a:r>
              <a:rPr dirty="0" baseline="-4629" sz="2700" spc="-532">
                <a:latin typeface="Arial"/>
                <a:cs typeface="Arial"/>
              </a:rPr>
              <a:t>ِ </a:t>
            </a:r>
            <a:r>
              <a:rPr dirty="0" baseline="3086" sz="2700" spc="-810">
                <a:latin typeface="Arial"/>
                <a:cs typeface="Arial"/>
              </a:rPr>
              <a:t>ٌبس</a:t>
            </a:r>
            <a:r>
              <a:rPr dirty="0" sz="1800" spc="-540">
                <a:latin typeface="Arial"/>
                <a:cs typeface="Arial"/>
              </a:rPr>
              <a:t>َ</a:t>
            </a:r>
            <a:r>
              <a:rPr dirty="0" sz="1800" spc="860">
                <a:latin typeface="Arial"/>
                <a:cs typeface="Arial"/>
              </a:rPr>
              <a:t> </a:t>
            </a:r>
            <a:r>
              <a:rPr dirty="0" baseline="3086" sz="2700" spc="-472">
                <a:latin typeface="Arial"/>
                <a:cs typeface="Arial"/>
              </a:rPr>
              <a:t>ً</a:t>
            </a:r>
            <a:r>
              <a:rPr dirty="0" baseline="1543" sz="2700" spc="-472">
                <a:latin typeface="Arial"/>
                <a:cs typeface="Arial"/>
              </a:rPr>
              <a:t>ِ</a:t>
            </a:r>
            <a:r>
              <a:rPr dirty="0" baseline="3086" sz="2700" spc="-472">
                <a:latin typeface="Arial"/>
                <a:cs typeface="Arial"/>
              </a:rPr>
              <a:t>ف </a:t>
            </a:r>
            <a:r>
              <a:rPr dirty="0" baseline="3086" sz="2700" spc="-652">
                <a:latin typeface="Arial"/>
                <a:cs typeface="Arial"/>
              </a:rPr>
              <a:t>لُ </a:t>
            </a:r>
            <a:r>
              <a:rPr dirty="0" baseline="3086" sz="2700" spc="-892">
                <a:latin typeface="Arial"/>
                <a:cs typeface="Arial"/>
              </a:rPr>
              <a:t>ت</a:t>
            </a:r>
            <a:r>
              <a:rPr dirty="0" baseline="7716" sz="2700" spc="-892">
                <a:latin typeface="Arial"/>
                <a:cs typeface="Arial"/>
              </a:rPr>
              <a:t>َ</a:t>
            </a:r>
            <a:r>
              <a:rPr dirty="0" baseline="7716" sz="2700" spc="-202">
                <a:latin typeface="Arial"/>
                <a:cs typeface="Arial"/>
              </a:rPr>
              <a:t> </a:t>
            </a:r>
            <a:r>
              <a:rPr dirty="0" baseline="3086" sz="2700" spc="-719">
                <a:latin typeface="Arial"/>
                <a:cs typeface="Arial"/>
              </a:rPr>
              <a:t>ق</a:t>
            </a:r>
            <a:r>
              <a:rPr dirty="0" baseline="12345" sz="2700" spc="-719">
                <a:latin typeface="Arial"/>
                <a:cs typeface="Arial"/>
              </a:rPr>
              <a:t>ْ </a:t>
            </a:r>
            <a:r>
              <a:rPr dirty="0" baseline="3086" sz="2700">
                <a:latin typeface="Arial"/>
                <a:cs typeface="Arial"/>
              </a:rPr>
              <a:t>ٌُ </a:t>
            </a:r>
            <a:r>
              <a:rPr dirty="0" baseline="3086" sz="2700" spc="-472">
                <a:latin typeface="Arial"/>
                <a:cs typeface="Arial"/>
              </a:rPr>
              <a:t>نْ </a:t>
            </a:r>
            <a:r>
              <a:rPr dirty="0" baseline="3086" sz="2700" spc="-359">
                <a:latin typeface="Arial"/>
                <a:cs typeface="Arial"/>
              </a:rPr>
              <a:t>م</a:t>
            </a:r>
            <a:r>
              <a:rPr dirty="0" sz="1800" spc="-240">
                <a:latin typeface="Arial"/>
                <a:cs typeface="Arial"/>
              </a:rPr>
              <a:t>َ </a:t>
            </a:r>
            <a:r>
              <a:rPr dirty="0" baseline="1543" sz="2700" spc="-405">
                <a:latin typeface="Arial"/>
                <a:cs typeface="Arial"/>
              </a:rPr>
              <a:t>ِ</a:t>
            </a:r>
            <a:r>
              <a:rPr dirty="0" baseline="3086" sz="2700" spc="-405">
                <a:latin typeface="Arial"/>
                <a:cs typeface="Arial"/>
              </a:rPr>
              <a:t>ل </a:t>
            </a:r>
            <a:r>
              <a:rPr dirty="0" baseline="3086" sz="2700" spc="-262">
                <a:latin typeface="Arial"/>
                <a:cs typeface="Arial"/>
              </a:rPr>
              <a:t>ا</a:t>
            </a:r>
            <a:r>
              <a:rPr dirty="0" baseline="10802" sz="2700" spc="-262">
                <a:latin typeface="Arial"/>
                <a:cs typeface="Arial"/>
              </a:rPr>
              <a:t>ْ </a:t>
            </a:r>
            <a:r>
              <a:rPr dirty="0" baseline="3086" sz="2700" spc="-450">
                <a:latin typeface="Arial"/>
                <a:cs typeface="Arial"/>
              </a:rPr>
              <a:t>و</a:t>
            </a:r>
            <a:r>
              <a:rPr dirty="0" baseline="13888" sz="2700" spc="-450">
                <a:latin typeface="Arial"/>
                <a:cs typeface="Arial"/>
              </a:rPr>
              <a:t>ُ</a:t>
            </a:r>
            <a:r>
              <a:rPr dirty="0" baseline="3086" sz="2700" spc="-450">
                <a:latin typeface="Arial"/>
                <a:cs typeface="Arial"/>
              </a:rPr>
              <a:t>لو</a:t>
            </a:r>
            <a:r>
              <a:rPr dirty="0" baseline="10802" sz="2700" spc="-450">
                <a:latin typeface="Arial"/>
                <a:cs typeface="Arial"/>
              </a:rPr>
              <a:t>ُ</a:t>
            </a:r>
            <a:r>
              <a:rPr dirty="0" baseline="3086" sz="2700" spc="-450">
                <a:latin typeface="Arial"/>
                <a:cs typeface="Arial"/>
              </a:rPr>
              <a:t>قت</a:t>
            </a:r>
            <a:r>
              <a:rPr dirty="0" baseline="7716" sz="2700" spc="-450">
                <a:latin typeface="Arial"/>
                <a:cs typeface="Arial"/>
              </a:rPr>
              <a:t>َ</a:t>
            </a:r>
            <a:r>
              <a:rPr dirty="0" baseline="7716" sz="2700" spc="-300">
                <a:latin typeface="Arial"/>
                <a:cs typeface="Arial"/>
              </a:rPr>
              <a:t> </a:t>
            </a:r>
            <a:r>
              <a:rPr dirty="0" baseline="9259" sz="2700" spc="-270">
                <a:latin typeface="Arial"/>
                <a:cs typeface="Arial"/>
              </a:rPr>
              <a:t>َ</a:t>
            </a:r>
            <a:r>
              <a:rPr dirty="0" baseline="3086" sz="2700" spc="-270">
                <a:latin typeface="Arial"/>
                <a:cs typeface="Arial"/>
              </a:rPr>
              <a:t>لاو</a:t>
            </a:r>
            <a:endParaRPr baseline="3086" sz="2700">
              <a:latin typeface="Arial"/>
              <a:cs typeface="Arial"/>
            </a:endParaRPr>
          </a:p>
          <a:p>
            <a:pPr algn="just" marL="179705" marR="191770">
              <a:lnSpc>
                <a:spcPts val="1380"/>
              </a:lnSpc>
              <a:spcBef>
                <a:spcPts val="1320"/>
              </a:spcBef>
            </a:pPr>
            <a:r>
              <a:rPr dirty="0" sz="1200" spc="-5">
                <a:latin typeface="Arial"/>
                <a:cs typeface="Arial"/>
              </a:rPr>
              <a:t>154. And call not those </a:t>
            </a:r>
            <a:r>
              <a:rPr dirty="0" sz="1200" spc="-10">
                <a:latin typeface="Arial"/>
                <a:cs typeface="Arial"/>
              </a:rPr>
              <a:t>who </a:t>
            </a:r>
            <a:r>
              <a:rPr dirty="0" sz="1200" spc="-5">
                <a:latin typeface="Arial"/>
                <a:cs typeface="Arial"/>
              </a:rPr>
              <a:t>are slain in </a:t>
            </a:r>
            <a:r>
              <a:rPr dirty="0" sz="1200">
                <a:latin typeface="Arial"/>
                <a:cs typeface="Arial"/>
              </a:rPr>
              <a:t>the </a:t>
            </a:r>
            <a:r>
              <a:rPr dirty="0" sz="1200" spc="-5">
                <a:latin typeface="Arial"/>
                <a:cs typeface="Arial"/>
              </a:rPr>
              <a:t>way </a:t>
            </a:r>
            <a:r>
              <a:rPr dirty="0" sz="1200">
                <a:latin typeface="Arial"/>
                <a:cs typeface="Arial"/>
              </a:rPr>
              <a:t>of </a:t>
            </a:r>
            <a:r>
              <a:rPr dirty="0" sz="1200" spc="-5">
                <a:latin typeface="Arial"/>
                <a:cs typeface="Arial"/>
              </a:rPr>
              <a:t>Allah "dead." Nay, </a:t>
            </a:r>
            <a:r>
              <a:rPr dirty="0" sz="1200">
                <a:latin typeface="Arial"/>
                <a:cs typeface="Arial"/>
              </a:rPr>
              <a:t>they </a:t>
            </a:r>
            <a:r>
              <a:rPr dirty="0" sz="1200" spc="-5">
                <a:latin typeface="Arial"/>
                <a:cs typeface="Arial"/>
              </a:rPr>
              <a:t>are living, </a:t>
            </a:r>
            <a:r>
              <a:rPr dirty="0" sz="1200">
                <a:latin typeface="Arial"/>
                <a:cs typeface="Arial"/>
              </a:rPr>
              <a:t>only </a:t>
            </a:r>
            <a:r>
              <a:rPr dirty="0" sz="1200" spc="-10">
                <a:latin typeface="Arial"/>
                <a:cs typeface="Arial"/>
              </a:rPr>
              <a:t>ye  </a:t>
            </a:r>
            <a:r>
              <a:rPr dirty="0" sz="1200" spc="-5">
                <a:latin typeface="Arial"/>
                <a:cs typeface="Arial"/>
              </a:rPr>
              <a:t>perceive </a:t>
            </a:r>
            <a:r>
              <a:rPr dirty="0" sz="1200">
                <a:latin typeface="Arial"/>
                <a:cs typeface="Arial"/>
              </a:rPr>
              <a:t>not.</a:t>
            </a:r>
            <a:endParaRPr sz="1200">
              <a:latin typeface="Arial"/>
              <a:cs typeface="Arial"/>
            </a:endParaRPr>
          </a:p>
          <a:p>
            <a:pPr>
              <a:lnSpc>
                <a:spcPct val="100000"/>
              </a:lnSpc>
              <a:spcBef>
                <a:spcPts val="20"/>
              </a:spcBef>
            </a:pPr>
            <a:endParaRPr sz="1150">
              <a:latin typeface="Arial"/>
              <a:cs typeface="Arial"/>
            </a:endParaRPr>
          </a:p>
          <a:p>
            <a:pPr algn="r" marR="181610">
              <a:lnSpc>
                <a:spcPts val="2075"/>
              </a:lnSpc>
            </a:pPr>
            <a:r>
              <a:rPr dirty="0" baseline="3086" sz="2700" spc="-225">
                <a:latin typeface="Arial"/>
                <a:cs typeface="Arial"/>
              </a:rPr>
              <a:t>ام</a:t>
            </a:r>
            <a:r>
              <a:rPr dirty="0" sz="1800" spc="-150">
                <a:latin typeface="Arial"/>
                <a:cs typeface="Arial"/>
              </a:rPr>
              <a:t>َ </a:t>
            </a:r>
            <a:r>
              <a:rPr dirty="0" baseline="3086" sz="2700" spc="-315">
                <a:latin typeface="Arial"/>
                <a:cs typeface="Arial"/>
              </a:rPr>
              <a:t>ه</a:t>
            </a:r>
            <a:r>
              <a:rPr dirty="0" baseline="-9259" sz="2700" spc="-315">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705">
                <a:latin typeface="Arial"/>
                <a:cs typeface="Arial"/>
              </a:rPr>
              <a:t> </a:t>
            </a:r>
            <a:r>
              <a:rPr dirty="0" baseline="3086" sz="2700" spc="-630">
                <a:latin typeface="Arial"/>
                <a:cs typeface="Arial"/>
              </a:rPr>
              <a:t>ؾ</a:t>
            </a:r>
            <a:r>
              <a:rPr dirty="0" sz="1800" spc="-420">
                <a:latin typeface="Arial"/>
                <a:cs typeface="Arial"/>
              </a:rPr>
              <a:t>َ </a:t>
            </a:r>
            <a:r>
              <a:rPr dirty="0" baseline="3086" sz="2700" spc="-217">
                <a:latin typeface="Arial"/>
                <a:cs typeface="Arial"/>
              </a:rPr>
              <a:t>وَّ </a:t>
            </a:r>
            <a:r>
              <a:rPr dirty="0" baseline="3086" sz="2700" spc="-450">
                <a:latin typeface="Arial"/>
                <a:cs typeface="Arial"/>
              </a:rPr>
              <a:t>ط</a:t>
            </a:r>
            <a:r>
              <a:rPr dirty="0" baseline="15432" sz="2700" spc="-450">
                <a:latin typeface="Arial"/>
                <a:cs typeface="Arial"/>
              </a:rPr>
              <a:t>َّ </a:t>
            </a:r>
            <a:r>
              <a:rPr dirty="0" baseline="3086" sz="2700">
                <a:latin typeface="Arial"/>
                <a:cs typeface="Arial"/>
              </a:rPr>
              <a:t>ٌ</a:t>
            </a:r>
            <a:r>
              <a:rPr dirty="0" sz="1800">
                <a:latin typeface="Arial"/>
                <a:cs typeface="Arial"/>
              </a:rPr>
              <a:t>َ </a:t>
            </a:r>
            <a:r>
              <a:rPr dirty="0" baseline="3086" sz="2700" spc="-15">
                <a:latin typeface="Arial"/>
                <a:cs typeface="Arial"/>
              </a:rPr>
              <a:t>ن</a:t>
            </a:r>
            <a:r>
              <a:rPr dirty="0" baseline="16975" sz="2700" spc="-15">
                <a:latin typeface="Arial"/>
                <a:cs typeface="Arial"/>
              </a:rPr>
              <a:t>َ</a:t>
            </a:r>
            <a:r>
              <a:rPr dirty="0" baseline="3086" sz="2700" spc="-15">
                <a:latin typeface="Arial"/>
                <a:cs typeface="Arial"/>
              </a:rPr>
              <a:t>أ </a:t>
            </a:r>
            <a:r>
              <a:rPr dirty="0" baseline="3086" sz="2700" spc="-337">
                <a:latin typeface="Arial"/>
                <a:cs typeface="Arial"/>
              </a:rPr>
              <a:t>ه</a:t>
            </a:r>
            <a:r>
              <a:rPr dirty="0" baseline="1543" sz="2700" spc="-337">
                <a:latin typeface="Arial"/>
                <a:cs typeface="Arial"/>
              </a:rPr>
              <a:t>ِ </a:t>
            </a:r>
            <a:r>
              <a:rPr dirty="0" baseline="3086" sz="2700">
                <a:latin typeface="Arial"/>
                <a:cs typeface="Arial"/>
              </a:rPr>
              <a:t>ٌْ </a:t>
            </a:r>
            <a:r>
              <a:rPr dirty="0" baseline="10802" sz="2700" spc="-509">
                <a:latin typeface="Arial"/>
                <a:cs typeface="Arial"/>
              </a:rPr>
              <a:t>َ</a:t>
            </a:r>
            <a:r>
              <a:rPr dirty="0" baseline="3086" sz="2700" spc="-509">
                <a:latin typeface="Arial"/>
                <a:cs typeface="Arial"/>
              </a:rPr>
              <a:t>لع</a:t>
            </a:r>
            <a:r>
              <a:rPr dirty="0" sz="1800" spc="-340">
                <a:latin typeface="Arial"/>
                <a:cs typeface="Arial"/>
              </a:rPr>
              <a:t>َ </a:t>
            </a:r>
            <a:r>
              <a:rPr dirty="0" baseline="3086" sz="2700" spc="-630">
                <a:latin typeface="Arial"/>
                <a:cs typeface="Arial"/>
              </a:rPr>
              <a:t>ح</a:t>
            </a:r>
            <a:r>
              <a:rPr dirty="0" sz="1800" spc="-420">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630">
                <a:latin typeface="Arial"/>
                <a:cs typeface="Arial"/>
              </a:rPr>
              <a:t>جُ </a:t>
            </a:r>
            <a:r>
              <a:rPr dirty="0" baseline="9259" sz="2700" spc="-480">
                <a:latin typeface="Arial"/>
                <a:cs typeface="Arial"/>
              </a:rPr>
              <a:t>َ</a:t>
            </a:r>
            <a:r>
              <a:rPr dirty="0" baseline="3086" sz="2700" spc="-480">
                <a:latin typeface="Arial"/>
                <a:cs typeface="Arial"/>
              </a:rPr>
              <a:t>لاف</a:t>
            </a:r>
            <a:r>
              <a:rPr dirty="0" baseline="7716" sz="2700" spc="-480">
                <a:latin typeface="Arial"/>
                <a:cs typeface="Arial"/>
              </a:rPr>
              <a:t>َ </a:t>
            </a:r>
            <a:r>
              <a:rPr dirty="0" baseline="3086" sz="2700" spc="-494">
                <a:latin typeface="Arial"/>
                <a:cs typeface="Arial"/>
              </a:rPr>
              <a:t>ر</a:t>
            </a:r>
            <a:r>
              <a:rPr dirty="0" sz="1800" spc="-330">
                <a:latin typeface="Arial"/>
                <a:cs typeface="Arial"/>
              </a:rPr>
              <a:t>َ </a:t>
            </a:r>
            <a:r>
              <a:rPr dirty="0" baseline="3086" sz="2700" spc="-359">
                <a:latin typeface="Arial"/>
                <a:cs typeface="Arial"/>
              </a:rPr>
              <a:t>م</a:t>
            </a:r>
            <a:r>
              <a:rPr dirty="0" sz="1800" spc="-240">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17">
                <a:latin typeface="Arial"/>
                <a:cs typeface="Arial"/>
              </a:rPr>
              <a:t> </a:t>
            </a:r>
            <a:r>
              <a:rPr dirty="0" baseline="3086" sz="2700" spc="-569">
                <a:latin typeface="Arial"/>
                <a:cs typeface="Arial"/>
              </a:rPr>
              <a:t>عْ </a:t>
            </a:r>
            <a:r>
              <a:rPr dirty="0" baseline="3086" sz="2700">
                <a:latin typeface="Arial"/>
                <a:cs typeface="Arial"/>
              </a:rPr>
              <a:t>ٱ </a:t>
            </a:r>
            <a:r>
              <a:rPr dirty="0" baseline="3086" sz="2700" spc="-450">
                <a:latin typeface="Arial"/>
                <a:cs typeface="Arial"/>
              </a:rPr>
              <a:t>و</a:t>
            </a:r>
            <a:r>
              <a:rPr dirty="0" baseline="-10802" sz="2700" spc="-450">
                <a:latin typeface="Arial"/>
                <a:cs typeface="Arial"/>
              </a:rPr>
              <a:t>ِ </a:t>
            </a:r>
            <a:r>
              <a:rPr dirty="0" baseline="16975" sz="2700">
                <a:latin typeface="Arial"/>
                <a:cs typeface="Arial"/>
              </a:rPr>
              <a:t>َ</a:t>
            </a:r>
            <a:r>
              <a:rPr dirty="0" baseline="3086" sz="2700">
                <a:latin typeface="Arial"/>
                <a:cs typeface="Arial"/>
              </a:rPr>
              <a:t>أ </a:t>
            </a:r>
            <a:r>
              <a:rPr dirty="0" baseline="3086" sz="2700" spc="-772">
                <a:latin typeface="Arial"/>
                <a:cs typeface="Arial"/>
              </a:rPr>
              <a:t>ت</a:t>
            </a:r>
            <a:r>
              <a:rPr dirty="0" baseline="4629" sz="2700" spc="-772">
                <a:latin typeface="Arial"/>
                <a:cs typeface="Arial"/>
              </a:rPr>
              <a:t>َ</a:t>
            </a:r>
            <a:r>
              <a:rPr dirty="0" baseline="4629" sz="2700" spc="832">
                <a:latin typeface="Arial"/>
                <a:cs typeface="Arial"/>
              </a:rPr>
              <a:t> </a:t>
            </a:r>
            <a:r>
              <a:rPr dirty="0" baseline="3086" sz="2700">
                <a:latin typeface="Arial"/>
                <a:cs typeface="Arial"/>
              </a:rPr>
              <a:t>ٌْ </a:t>
            </a:r>
            <a:r>
              <a:rPr dirty="0" baseline="3086" sz="2700" spc="-892">
                <a:latin typeface="Arial"/>
                <a:cs typeface="Arial"/>
              </a:rPr>
              <a:t>ب</a:t>
            </a:r>
            <a:r>
              <a:rPr dirty="0" sz="1800" spc="-595">
                <a:latin typeface="Arial"/>
                <a:cs typeface="Arial"/>
              </a:rPr>
              <a:t>َ</a:t>
            </a:r>
            <a:r>
              <a:rPr dirty="0" sz="1800" spc="-1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434">
                <a:latin typeface="Arial"/>
                <a:cs typeface="Arial"/>
              </a:rPr>
              <a:t>جَّ </a:t>
            </a:r>
            <a:r>
              <a:rPr dirty="0" baseline="3086" sz="2700" spc="-592">
                <a:latin typeface="Arial"/>
                <a:cs typeface="Arial"/>
              </a:rPr>
              <a:t>ح</a:t>
            </a:r>
            <a:r>
              <a:rPr dirty="0" sz="1800" spc="-395">
                <a:latin typeface="Arial"/>
                <a:cs typeface="Arial"/>
              </a:rPr>
              <a:t>َ </a:t>
            </a:r>
            <a:r>
              <a:rPr dirty="0" baseline="3086" sz="2700" spc="-465">
                <a:latin typeface="Arial"/>
                <a:cs typeface="Arial"/>
              </a:rPr>
              <a:t>نْ  </a:t>
            </a:r>
            <a:r>
              <a:rPr dirty="0" baseline="3086" sz="2700" spc="-359">
                <a:latin typeface="Arial"/>
                <a:cs typeface="Arial"/>
              </a:rPr>
              <a:t>م</a:t>
            </a:r>
            <a:r>
              <a:rPr dirty="0" sz="1800" spc="-240">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705">
                <a:latin typeface="Arial"/>
                <a:cs typeface="Arial"/>
              </a:rPr>
              <a:t> </a:t>
            </a:r>
            <a:r>
              <a:rPr dirty="0" baseline="3086" sz="2700" spc="-885">
                <a:latin typeface="Arial"/>
                <a:cs typeface="Arial"/>
              </a:rPr>
              <a:t>للَّ</a:t>
            </a:r>
            <a:r>
              <a:rPr dirty="0" sz="1800" spc="-590">
                <a:latin typeface="Arial"/>
                <a:cs typeface="Arial"/>
              </a:rPr>
              <a:t>ِ</a:t>
            </a:r>
            <a:r>
              <a:rPr dirty="0" sz="1800" spc="-80">
                <a:latin typeface="Arial"/>
                <a:cs typeface="Arial"/>
              </a:rPr>
              <a:t> </a:t>
            </a:r>
            <a:r>
              <a:rPr dirty="0" baseline="15432" sz="2700">
                <a:latin typeface="Arial"/>
                <a:cs typeface="Arial"/>
              </a:rPr>
              <a:t>َّ </a:t>
            </a:r>
            <a:r>
              <a:rPr dirty="0" baseline="3086" sz="2700">
                <a:latin typeface="Arial"/>
                <a:cs typeface="Arial"/>
              </a:rPr>
              <a:t>ٱ </a:t>
            </a:r>
            <a:r>
              <a:rPr dirty="0" baseline="3086" sz="2700" spc="-457">
                <a:latin typeface="Arial"/>
                <a:cs typeface="Arial"/>
              </a:rPr>
              <a:t>ر</a:t>
            </a:r>
            <a:r>
              <a:rPr dirty="0" baseline="-10802" sz="2700" spc="-457">
                <a:latin typeface="Arial"/>
                <a:cs typeface="Arial"/>
              </a:rPr>
              <a:t>ِ </a:t>
            </a:r>
            <a:r>
              <a:rPr dirty="0" baseline="3086" sz="2700" spc="-855">
                <a:latin typeface="Arial"/>
                <a:cs typeface="Arial"/>
              </a:rPr>
              <a:t>ئ</a:t>
            </a:r>
            <a:r>
              <a:rPr dirty="0" baseline="1543" sz="2700" spc="-855">
                <a:latin typeface="Arial"/>
                <a:cs typeface="Arial"/>
              </a:rPr>
              <a:t>ِ</a:t>
            </a:r>
            <a:r>
              <a:rPr dirty="0" baseline="1543" sz="2700" spc="-75">
                <a:latin typeface="Arial"/>
                <a:cs typeface="Arial"/>
              </a:rPr>
              <a:t> </a:t>
            </a:r>
            <a:r>
              <a:rPr dirty="0" baseline="3086" sz="2700" spc="-390">
                <a:latin typeface="Arial"/>
                <a:cs typeface="Arial"/>
              </a:rPr>
              <a:t>آع</a:t>
            </a:r>
            <a:r>
              <a:rPr dirty="0" sz="1800" spc="-260">
                <a:latin typeface="Arial"/>
                <a:cs typeface="Arial"/>
              </a:rPr>
              <a:t>َ </a:t>
            </a:r>
            <a:r>
              <a:rPr dirty="0" baseline="3086" sz="2700" spc="-1042">
                <a:latin typeface="Arial"/>
                <a:cs typeface="Arial"/>
              </a:rPr>
              <a:t>ش</a:t>
            </a:r>
            <a:r>
              <a:rPr dirty="0" baseline="7716" sz="2700" spc="-1042">
                <a:latin typeface="Arial"/>
                <a:cs typeface="Arial"/>
              </a:rPr>
              <a:t>َ</a:t>
            </a:r>
            <a:r>
              <a:rPr dirty="0" baseline="7716" sz="2700" spc="1372">
                <a:latin typeface="Arial"/>
                <a:cs typeface="Arial"/>
              </a:rPr>
              <a:t> </a:t>
            </a:r>
            <a:r>
              <a:rPr dirty="0" baseline="3086" sz="2700" spc="-240">
                <a:latin typeface="Arial"/>
                <a:cs typeface="Arial"/>
              </a:rPr>
              <a:t>نم</a:t>
            </a:r>
            <a:r>
              <a:rPr dirty="0" baseline="1543" sz="2700" spc="-240">
                <a:latin typeface="Arial"/>
                <a:cs typeface="Arial"/>
              </a:rPr>
              <a:t>ِ </a:t>
            </a:r>
            <a:r>
              <a:rPr dirty="0" baseline="3086" sz="2700" spc="-345">
                <a:latin typeface="Arial"/>
                <a:cs typeface="Arial"/>
              </a:rPr>
              <a:t>ة</a:t>
            </a:r>
            <a:r>
              <a:rPr dirty="0" baseline="4629" sz="2700" spc="-345">
                <a:latin typeface="Arial"/>
                <a:cs typeface="Arial"/>
              </a:rPr>
              <a:t>َ </a:t>
            </a:r>
            <a:r>
              <a:rPr dirty="0" baseline="3086" sz="2700" spc="-307">
                <a:latin typeface="Arial"/>
                <a:cs typeface="Arial"/>
              </a:rPr>
              <a:t>و</a:t>
            </a:r>
            <a:r>
              <a:rPr dirty="0" sz="1800" spc="-204">
                <a:latin typeface="Arial"/>
                <a:cs typeface="Arial"/>
              </a:rPr>
              <a:t>َ </a:t>
            </a:r>
            <a:r>
              <a:rPr dirty="0" baseline="3086" sz="2700" spc="-457">
                <a:latin typeface="Arial"/>
                <a:cs typeface="Arial"/>
              </a:rPr>
              <a:t>رْ </a:t>
            </a:r>
            <a:r>
              <a:rPr dirty="0" baseline="3086" sz="2700" spc="-359">
                <a:latin typeface="Arial"/>
                <a:cs typeface="Arial"/>
              </a:rPr>
              <a:t>م</a:t>
            </a:r>
            <a:r>
              <a:rPr dirty="0" sz="1800" spc="-2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209">
                <a:latin typeface="Arial"/>
                <a:cs typeface="Arial"/>
              </a:rPr>
              <a:t>ٱو</a:t>
            </a:r>
            <a:r>
              <a:rPr dirty="0" sz="1800" spc="-140">
                <a:latin typeface="Arial"/>
                <a:cs typeface="Arial"/>
              </a:rPr>
              <a:t>َ </a:t>
            </a:r>
            <a:r>
              <a:rPr dirty="0" baseline="3086" sz="2700" spc="-675">
                <a:latin typeface="Arial"/>
                <a:cs typeface="Arial"/>
              </a:rPr>
              <a:t>اف</a:t>
            </a:r>
            <a:r>
              <a:rPr dirty="0" baseline="7716" sz="2700" spc="-675">
                <a:latin typeface="Arial"/>
                <a:cs typeface="Arial"/>
              </a:rPr>
              <a:t>َ </a:t>
            </a:r>
            <a:r>
              <a:rPr dirty="0" baseline="3086" sz="2700" spc="-914">
                <a:latin typeface="Arial"/>
                <a:cs typeface="Arial"/>
              </a:rPr>
              <a:t>صَّ</a:t>
            </a:r>
            <a:r>
              <a:rPr dirty="0" baseline="3086" sz="2700" spc="1380">
                <a:latin typeface="Arial"/>
                <a:cs typeface="Arial"/>
              </a:rPr>
              <a:t> </a:t>
            </a:r>
            <a:r>
              <a:rPr dirty="0" baseline="3086" sz="2700" spc="-412">
                <a:latin typeface="Arial"/>
                <a:cs typeface="Arial"/>
              </a:rPr>
              <a:t>لٱ </a:t>
            </a:r>
            <a:r>
              <a:rPr dirty="0" baseline="3086" sz="2700" spc="-345">
                <a:latin typeface="Arial"/>
                <a:cs typeface="Arial"/>
              </a:rPr>
              <a:t>نَّ</a:t>
            </a:r>
            <a:r>
              <a:rPr dirty="0" baseline="3086" sz="2700" spc="-30">
                <a:latin typeface="Arial"/>
                <a:cs typeface="Arial"/>
              </a:rPr>
              <a:t> </a:t>
            </a:r>
            <a:r>
              <a:rPr dirty="0" baseline="-10802" sz="2700">
                <a:latin typeface="Arial"/>
                <a:cs typeface="Arial"/>
              </a:rPr>
              <a:t>ِ</a:t>
            </a:r>
            <a:r>
              <a:rPr dirty="0" baseline="3086" sz="2700">
                <a:latin typeface="Arial"/>
                <a:cs typeface="Arial"/>
              </a:rPr>
              <a:t>إ</a:t>
            </a:r>
            <a:endParaRPr baseline="3086" sz="2700">
              <a:latin typeface="Arial"/>
              <a:cs typeface="Arial"/>
            </a:endParaRPr>
          </a:p>
          <a:p>
            <a:pPr algn="r" marR="233679">
              <a:lnSpc>
                <a:spcPts val="2075"/>
              </a:lnSpc>
            </a:pPr>
            <a:r>
              <a:rPr dirty="0" sz="1800" spc="-285">
                <a:latin typeface="Arial"/>
                <a:cs typeface="Arial"/>
              </a:rPr>
              <a:t>م</a:t>
            </a:r>
            <a:r>
              <a:rPr dirty="0" baseline="-3086" sz="2700" spc="-427">
                <a:latin typeface="Arial"/>
                <a:cs typeface="Arial"/>
              </a:rPr>
              <a:t>ٌ </a:t>
            </a:r>
            <a:r>
              <a:rPr dirty="0" sz="1800" spc="-270">
                <a:latin typeface="Arial"/>
                <a:cs typeface="Arial"/>
              </a:rPr>
              <a:t>ٌِلع</a:t>
            </a:r>
            <a:r>
              <a:rPr dirty="0" baseline="-3086" sz="2700" spc="-405">
                <a:latin typeface="Arial"/>
                <a:cs typeface="Arial"/>
              </a:rPr>
              <a:t>َ </a:t>
            </a:r>
            <a:r>
              <a:rPr dirty="0" sz="1800" spc="-350">
                <a:latin typeface="Arial"/>
                <a:cs typeface="Arial"/>
              </a:rPr>
              <a:t>ر</a:t>
            </a:r>
            <a:r>
              <a:rPr dirty="0" baseline="1543" sz="2700" spc="-525">
                <a:latin typeface="Arial"/>
                <a:cs typeface="Arial"/>
              </a:rPr>
              <a:t>ٌ </a:t>
            </a:r>
            <a:r>
              <a:rPr dirty="0" sz="1800" spc="-484">
                <a:latin typeface="Arial"/>
                <a:cs typeface="Arial"/>
              </a:rPr>
              <a:t>كِ </a:t>
            </a:r>
            <a:r>
              <a:rPr dirty="0" sz="1800" spc="-455">
                <a:latin typeface="Arial"/>
                <a:cs typeface="Arial"/>
              </a:rPr>
              <a:t>اش</a:t>
            </a:r>
            <a:r>
              <a:rPr dirty="0" baseline="6172" sz="2700" spc="-682">
                <a:latin typeface="Arial"/>
                <a:cs typeface="Arial"/>
              </a:rPr>
              <a:t>َ </a:t>
            </a:r>
            <a:r>
              <a:rPr dirty="0" sz="1800" spc="-590">
                <a:latin typeface="Arial"/>
                <a:cs typeface="Arial"/>
              </a:rPr>
              <a:t>للَّ</a:t>
            </a:r>
            <a:r>
              <a:rPr dirty="0" baseline="-10802" sz="2700" spc="-885">
                <a:latin typeface="Arial"/>
                <a:cs typeface="Arial"/>
              </a:rPr>
              <a:t>َ</a:t>
            </a:r>
            <a:r>
              <a:rPr dirty="0" baseline="-10802" sz="2700" spc="-75">
                <a:latin typeface="Arial"/>
                <a:cs typeface="Arial"/>
              </a:rPr>
              <a:t> </a:t>
            </a:r>
            <a:r>
              <a:rPr dirty="0" baseline="12345" sz="2700">
                <a:latin typeface="Arial"/>
                <a:cs typeface="Arial"/>
              </a:rPr>
              <a:t>َّ </a:t>
            </a:r>
            <a:r>
              <a:rPr dirty="0" sz="1800">
                <a:latin typeface="Arial"/>
                <a:cs typeface="Arial"/>
              </a:rPr>
              <a:t>ٱ </a:t>
            </a:r>
            <a:r>
              <a:rPr dirty="0" sz="1800" spc="-229">
                <a:latin typeface="Arial"/>
                <a:cs typeface="Arial"/>
              </a:rPr>
              <a:t>نَّ </a:t>
            </a:r>
            <a:r>
              <a:rPr dirty="0" baseline="-12345" sz="2700" spc="-509">
                <a:latin typeface="Arial"/>
                <a:cs typeface="Arial"/>
              </a:rPr>
              <a:t>ِ</a:t>
            </a:r>
            <a:r>
              <a:rPr dirty="0" sz="1800" spc="-340">
                <a:latin typeface="Arial"/>
                <a:cs typeface="Arial"/>
              </a:rPr>
              <a:t>إف</a:t>
            </a:r>
            <a:r>
              <a:rPr dirty="0" baseline="6172" sz="2700" spc="-509">
                <a:latin typeface="Arial"/>
                <a:cs typeface="Arial"/>
              </a:rPr>
              <a:t>َ </a:t>
            </a:r>
            <a:r>
              <a:rPr dirty="0" baseline="9259" sz="2700" spc="-7">
                <a:latin typeface="Arial"/>
                <a:cs typeface="Arial"/>
              </a:rPr>
              <a:t>ً</a:t>
            </a:r>
            <a:r>
              <a:rPr dirty="0" sz="1800" spc="-5">
                <a:latin typeface="Arial"/>
                <a:cs typeface="Arial"/>
              </a:rPr>
              <a:t>ارٌ</a:t>
            </a:r>
            <a:r>
              <a:rPr dirty="0" baseline="1543" sz="2700" spc="-7">
                <a:latin typeface="Arial"/>
                <a:cs typeface="Arial"/>
              </a:rPr>
              <a:t>ْ </a:t>
            </a:r>
            <a:r>
              <a:rPr dirty="0" sz="1800" spc="-395">
                <a:latin typeface="Arial"/>
                <a:cs typeface="Arial"/>
              </a:rPr>
              <a:t>خ</a:t>
            </a:r>
            <a:r>
              <a:rPr dirty="0" baseline="6172" sz="2700" spc="-592">
                <a:latin typeface="Arial"/>
                <a:cs typeface="Arial"/>
              </a:rPr>
              <a:t>َ </a:t>
            </a:r>
            <a:r>
              <a:rPr dirty="0" sz="1800" spc="-380">
                <a:latin typeface="Arial"/>
                <a:cs typeface="Arial"/>
              </a:rPr>
              <a:t>ع</a:t>
            </a:r>
            <a:r>
              <a:rPr dirty="0" baseline="-3086" sz="2700" spc="-569">
                <a:latin typeface="Arial"/>
                <a:cs typeface="Arial"/>
              </a:rPr>
              <a:t>َ </a:t>
            </a:r>
            <a:r>
              <a:rPr dirty="0" sz="1800" spc="-145">
                <a:latin typeface="Arial"/>
                <a:cs typeface="Arial"/>
              </a:rPr>
              <a:t>وَّ </a:t>
            </a:r>
            <a:r>
              <a:rPr dirty="0" sz="1800" spc="-434">
                <a:latin typeface="Arial"/>
                <a:cs typeface="Arial"/>
              </a:rPr>
              <a:t>ط</a:t>
            </a:r>
            <a:r>
              <a:rPr dirty="0" baseline="10802" sz="2700" spc="-652">
                <a:latin typeface="Arial"/>
                <a:cs typeface="Arial"/>
              </a:rPr>
              <a:t>َ </a:t>
            </a:r>
            <a:r>
              <a:rPr dirty="0" sz="1800" spc="-595">
                <a:latin typeface="Arial"/>
                <a:cs typeface="Arial"/>
              </a:rPr>
              <a:t>ت</a:t>
            </a:r>
            <a:r>
              <a:rPr dirty="0" baseline="6172" sz="2700" spc="-892">
                <a:latin typeface="Arial"/>
                <a:cs typeface="Arial"/>
              </a:rPr>
              <a:t>َ</a:t>
            </a:r>
            <a:r>
              <a:rPr dirty="0" baseline="6172" sz="2700" spc="644">
                <a:latin typeface="Arial"/>
                <a:cs typeface="Arial"/>
              </a:rPr>
              <a:t> </a:t>
            </a:r>
            <a:r>
              <a:rPr dirty="0" sz="1800" spc="-160">
                <a:latin typeface="Arial"/>
                <a:cs typeface="Arial"/>
              </a:rPr>
              <a:t>نم</a:t>
            </a:r>
            <a:r>
              <a:rPr dirty="0" baseline="-3086" sz="2700" spc="-240">
                <a:latin typeface="Arial"/>
                <a:cs typeface="Arial"/>
              </a:rPr>
              <a:t>َ</a:t>
            </a:r>
            <a:r>
              <a:rPr dirty="0" baseline="-3086" sz="2700" spc="-382">
                <a:latin typeface="Arial"/>
                <a:cs typeface="Arial"/>
              </a:rPr>
              <a:t> </a:t>
            </a:r>
            <a:r>
              <a:rPr dirty="0" sz="1800" spc="-409">
                <a:latin typeface="Arial"/>
                <a:cs typeface="Arial"/>
              </a:rPr>
              <a:t>و</a:t>
            </a:r>
            <a:endParaRPr sz="1800">
              <a:latin typeface="Arial"/>
              <a:cs typeface="Arial"/>
            </a:endParaRPr>
          </a:p>
          <a:p>
            <a:pPr algn="just" marL="179705" marR="181610">
              <a:lnSpc>
                <a:spcPct val="95900"/>
              </a:lnSpc>
              <a:spcBef>
                <a:spcPts val="1365"/>
              </a:spcBef>
            </a:pPr>
            <a:r>
              <a:rPr dirty="0" sz="1200" spc="-5">
                <a:latin typeface="Arial"/>
                <a:cs typeface="Arial"/>
              </a:rPr>
              <a:t>158. Lo! </a:t>
            </a:r>
            <a:r>
              <a:rPr dirty="0" sz="1200">
                <a:latin typeface="Arial"/>
                <a:cs typeface="Arial"/>
              </a:rPr>
              <a:t>(The </a:t>
            </a:r>
            <a:r>
              <a:rPr dirty="0" sz="1200" spc="-5">
                <a:latin typeface="Arial"/>
                <a:cs typeface="Arial"/>
              </a:rPr>
              <a:t>mountains) Al-Safa and Al-Marwah are among </a:t>
            </a:r>
            <a:r>
              <a:rPr dirty="0" sz="1200">
                <a:latin typeface="Arial"/>
                <a:cs typeface="Arial"/>
              </a:rPr>
              <a:t>the </a:t>
            </a:r>
            <a:r>
              <a:rPr dirty="0" sz="1200" spc="-5">
                <a:latin typeface="Arial"/>
                <a:cs typeface="Arial"/>
              </a:rPr>
              <a:t>indications of Allah. </a:t>
            </a:r>
            <a:r>
              <a:rPr dirty="0" sz="1200">
                <a:latin typeface="Arial"/>
                <a:cs typeface="Arial"/>
              </a:rPr>
              <a:t>It </a:t>
            </a:r>
            <a:r>
              <a:rPr dirty="0" sz="1200" spc="-5">
                <a:latin typeface="Arial"/>
                <a:cs typeface="Arial"/>
              </a:rPr>
              <a:t>is  therefore no sin </a:t>
            </a:r>
            <a:r>
              <a:rPr dirty="0" sz="1200">
                <a:latin typeface="Arial"/>
                <a:cs typeface="Arial"/>
              </a:rPr>
              <a:t>for </a:t>
            </a:r>
            <a:r>
              <a:rPr dirty="0" sz="1200" spc="-10">
                <a:latin typeface="Arial"/>
                <a:cs typeface="Arial"/>
              </a:rPr>
              <a:t>him who </a:t>
            </a:r>
            <a:r>
              <a:rPr dirty="0" sz="1200" spc="-5">
                <a:latin typeface="Arial"/>
                <a:cs typeface="Arial"/>
              </a:rPr>
              <a:t>is on pilgrimage </a:t>
            </a:r>
            <a:r>
              <a:rPr dirty="0" sz="1200">
                <a:latin typeface="Arial"/>
                <a:cs typeface="Arial"/>
              </a:rPr>
              <a:t>to the </a:t>
            </a:r>
            <a:r>
              <a:rPr dirty="0" sz="1200" spc="-5">
                <a:latin typeface="Arial"/>
                <a:cs typeface="Arial"/>
              </a:rPr>
              <a:t>House (of God) or visits </a:t>
            </a:r>
            <a:r>
              <a:rPr dirty="0" sz="1200">
                <a:latin typeface="Arial"/>
                <a:cs typeface="Arial"/>
              </a:rPr>
              <a:t>it, to </a:t>
            </a:r>
            <a:r>
              <a:rPr dirty="0" sz="1200" spc="-10">
                <a:latin typeface="Arial"/>
                <a:cs typeface="Arial"/>
              </a:rPr>
              <a:t>go </a:t>
            </a:r>
            <a:r>
              <a:rPr dirty="0" sz="1200" spc="-5">
                <a:latin typeface="Arial"/>
                <a:cs typeface="Arial"/>
              </a:rPr>
              <a:t>around  them (as </a:t>
            </a:r>
            <a:r>
              <a:rPr dirty="0" sz="1200">
                <a:latin typeface="Arial"/>
                <a:cs typeface="Arial"/>
              </a:rPr>
              <a:t>the </a:t>
            </a:r>
            <a:r>
              <a:rPr dirty="0" sz="1200" spc="-5">
                <a:latin typeface="Arial"/>
                <a:cs typeface="Arial"/>
              </a:rPr>
              <a:t>pagan custom is). And </a:t>
            </a:r>
            <a:r>
              <a:rPr dirty="0" sz="1200" spc="-10">
                <a:latin typeface="Arial"/>
                <a:cs typeface="Arial"/>
              </a:rPr>
              <a:t>he who </a:t>
            </a:r>
            <a:r>
              <a:rPr dirty="0" sz="1200" spc="-5">
                <a:latin typeface="Arial"/>
                <a:cs typeface="Arial"/>
              </a:rPr>
              <a:t>doeth good of his </a:t>
            </a:r>
            <a:r>
              <a:rPr dirty="0" sz="1200" spc="-10">
                <a:latin typeface="Arial"/>
                <a:cs typeface="Arial"/>
              </a:rPr>
              <a:t>own </a:t>
            </a:r>
            <a:r>
              <a:rPr dirty="0" sz="1200" spc="-5">
                <a:latin typeface="Arial"/>
                <a:cs typeface="Arial"/>
              </a:rPr>
              <a:t>accord (for </a:t>
            </a:r>
            <a:r>
              <a:rPr dirty="0" sz="1200">
                <a:latin typeface="Arial"/>
                <a:cs typeface="Arial"/>
              </a:rPr>
              <a:t>him), </a:t>
            </a:r>
            <a:r>
              <a:rPr dirty="0" sz="1200" spc="-5">
                <a:latin typeface="Arial"/>
                <a:cs typeface="Arial"/>
              </a:rPr>
              <a:t>Lo! </a:t>
            </a:r>
            <a:r>
              <a:rPr dirty="0" sz="1200" spc="-10">
                <a:latin typeface="Arial"/>
                <a:cs typeface="Arial"/>
              </a:rPr>
              <a:t>Allah  </a:t>
            </a:r>
            <a:r>
              <a:rPr dirty="0" sz="1200" spc="-5">
                <a:latin typeface="Arial"/>
                <a:cs typeface="Arial"/>
              </a:rPr>
              <a:t>is Responsive,</a:t>
            </a:r>
            <a:r>
              <a:rPr dirty="0" sz="1200">
                <a:latin typeface="Arial"/>
                <a:cs typeface="Arial"/>
              </a:rPr>
              <a:t> </a:t>
            </a:r>
            <a:r>
              <a:rPr dirty="0" sz="1200" spc="-5">
                <a:latin typeface="Arial"/>
                <a:cs typeface="Arial"/>
              </a:rPr>
              <a:t>Aware.</a:t>
            </a:r>
            <a:endParaRPr sz="1200">
              <a:latin typeface="Arial"/>
              <a:cs typeface="Arial"/>
            </a:endParaRPr>
          </a:p>
          <a:p>
            <a:pPr>
              <a:lnSpc>
                <a:spcPct val="100000"/>
              </a:lnSpc>
            </a:pPr>
            <a:endParaRPr sz="1150">
              <a:latin typeface="Arial"/>
              <a:cs typeface="Arial"/>
            </a:endParaRPr>
          </a:p>
          <a:p>
            <a:pPr algn="r" marR="181610">
              <a:lnSpc>
                <a:spcPct val="100000"/>
              </a:lnSpc>
            </a:pPr>
            <a:r>
              <a:rPr dirty="0" baseline="1543" sz="2700" spc="-494">
                <a:latin typeface="Arial"/>
                <a:cs typeface="Arial"/>
              </a:rPr>
              <a:t>ن</a:t>
            </a:r>
            <a:r>
              <a:rPr dirty="0" baseline="-1543" sz="2700" spc="-494">
                <a:latin typeface="Arial"/>
                <a:cs typeface="Arial"/>
              </a:rPr>
              <a:t>َ </a:t>
            </a:r>
            <a:r>
              <a:rPr dirty="0" baseline="1543" sz="2700" spc="-412">
                <a:latin typeface="Arial"/>
                <a:cs typeface="Arial"/>
              </a:rPr>
              <a:t>ٌع</a:t>
            </a:r>
            <a:r>
              <a:rPr dirty="0" sz="1800" spc="-275">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555">
                <a:latin typeface="Arial"/>
                <a:cs typeface="Arial"/>
              </a:rPr>
              <a:t>جْ </a:t>
            </a:r>
            <a:r>
              <a:rPr dirty="0" baseline="15432" sz="2700">
                <a:latin typeface="Arial"/>
                <a:cs typeface="Arial"/>
              </a:rPr>
              <a:t>َ</a:t>
            </a:r>
            <a:r>
              <a:rPr dirty="0" baseline="1543" sz="2700">
                <a:latin typeface="Arial"/>
                <a:cs typeface="Arial"/>
              </a:rPr>
              <a:t>أ </a:t>
            </a:r>
            <a:r>
              <a:rPr dirty="0" baseline="1543" sz="2700" spc="-869">
                <a:latin typeface="Arial"/>
                <a:cs typeface="Arial"/>
              </a:rPr>
              <a:t>س</a:t>
            </a:r>
            <a:r>
              <a:rPr dirty="0" baseline="-12345" sz="2700" spc="-869">
                <a:latin typeface="Arial"/>
                <a:cs typeface="Arial"/>
              </a:rPr>
              <a:t>ِ</a:t>
            </a:r>
            <a:r>
              <a:rPr dirty="0" baseline="-12345" sz="2700" spc="1057">
                <a:latin typeface="Arial"/>
                <a:cs typeface="Arial"/>
              </a:rPr>
              <a:t> </a:t>
            </a:r>
            <a:r>
              <a:rPr dirty="0" baseline="1543" sz="2700" spc="-322">
                <a:latin typeface="Arial"/>
                <a:cs typeface="Arial"/>
              </a:rPr>
              <a:t>ان</a:t>
            </a:r>
            <a:r>
              <a:rPr dirty="0" baseline="9259" sz="2700" spc="-322">
                <a:latin typeface="Arial"/>
                <a:cs typeface="Arial"/>
              </a:rPr>
              <a:t>َّ </a:t>
            </a:r>
            <a:r>
              <a:rPr dirty="0" baseline="1543" sz="2700" spc="-367">
                <a:latin typeface="Arial"/>
                <a:cs typeface="Arial"/>
              </a:rPr>
              <a:t>لٱو</a:t>
            </a:r>
            <a:r>
              <a:rPr dirty="0" baseline="-1543" sz="2700" spc="-367">
                <a:latin typeface="Arial"/>
                <a:cs typeface="Arial"/>
              </a:rPr>
              <a:t>َ </a:t>
            </a:r>
            <a:r>
              <a:rPr dirty="0" baseline="1543" sz="2700" spc="-337">
                <a:latin typeface="Arial"/>
                <a:cs typeface="Arial"/>
              </a:rPr>
              <a:t>ة</a:t>
            </a:r>
            <a:r>
              <a:rPr dirty="0" sz="1800" spc="-225">
                <a:latin typeface="Arial"/>
                <a:cs typeface="Arial"/>
              </a:rPr>
              <a:t>ِ </a:t>
            </a:r>
            <a:r>
              <a:rPr dirty="0" baseline="1543" sz="2700" spc="-719">
                <a:latin typeface="Arial"/>
                <a:cs typeface="Arial"/>
              </a:rPr>
              <a:t>ك</a:t>
            </a:r>
            <a:r>
              <a:rPr dirty="0" baseline="6172" sz="2700" spc="-719">
                <a:latin typeface="Arial"/>
                <a:cs typeface="Arial"/>
              </a:rPr>
              <a:t>َ </a:t>
            </a:r>
            <a:r>
              <a:rPr dirty="0" baseline="1543" sz="2700" spc="-855">
                <a:latin typeface="Arial"/>
                <a:cs typeface="Arial"/>
              </a:rPr>
              <a:t>ئ</a:t>
            </a:r>
            <a:r>
              <a:rPr dirty="0" sz="1800" spc="-570">
                <a:latin typeface="Arial"/>
                <a:cs typeface="Arial"/>
              </a:rPr>
              <a:t>ِ</a:t>
            </a:r>
            <a:r>
              <a:rPr dirty="0" sz="1800" spc="-50">
                <a:latin typeface="Arial"/>
                <a:cs typeface="Arial"/>
              </a:rPr>
              <a:t> </a:t>
            </a:r>
            <a:r>
              <a:rPr dirty="0" baseline="1543" sz="2700" spc="-652">
                <a:latin typeface="Arial"/>
                <a:cs typeface="Arial"/>
              </a:rPr>
              <a:t>لا</a:t>
            </a:r>
            <a:r>
              <a:rPr dirty="0" baseline="16975" sz="2700" spc="-652">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spc="-209">
                <a:latin typeface="Arial"/>
                <a:cs typeface="Arial"/>
              </a:rPr>
              <a:t>ٱو</a:t>
            </a:r>
            <a:r>
              <a:rPr dirty="0" baseline="-1543" sz="2700" spc="-209">
                <a:latin typeface="Arial"/>
                <a:cs typeface="Arial"/>
              </a:rPr>
              <a:t>َ </a:t>
            </a:r>
            <a:r>
              <a:rPr dirty="0" baseline="1543" sz="2700" spc="-885">
                <a:latin typeface="Arial"/>
                <a:cs typeface="Arial"/>
              </a:rPr>
              <a:t>للَّ</a:t>
            </a:r>
            <a:r>
              <a:rPr dirty="0" baseline="-1543" sz="2700" spc="-885">
                <a:latin typeface="Arial"/>
                <a:cs typeface="Arial"/>
              </a:rPr>
              <a:t>ِ</a:t>
            </a:r>
            <a:r>
              <a:rPr dirty="0" baseline="-1543" sz="2700" spc="-112">
                <a:latin typeface="Arial"/>
                <a:cs typeface="Arial"/>
              </a:rPr>
              <a:t> </a:t>
            </a:r>
            <a:r>
              <a:rPr dirty="0" baseline="13888" sz="2700">
                <a:latin typeface="Arial"/>
                <a:cs typeface="Arial"/>
              </a:rPr>
              <a:t>َّ </a:t>
            </a:r>
            <a:r>
              <a:rPr dirty="0" baseline="1543" sz="2700">
                <a:latin typeface="Arial"/>
                <a:cs typeface="Arial"/>
              </a:rPr>
              <a:t>ٱ </a:t>
            </a:r>
            <a:r>
              <a:rPr dirty="0" baseline="1543" sz="2700" spc="-322">
                <a:latin typeface="Arial"/>
                <a:cs typeface="Arial"/>
              </a:rPr>
              <a:t>ة</a:t>
            </a:r>
            <a:r>
              <a:rPr dirty="0" baseline="12345" sz="2700" spc="-322">
                <a:latin typeface="Arial"/>
                <a:cs typeface="Arial"/>
              </a:rPr>
              <a:t>ُ </a:t>
            </a:r>
            <a:r>
              <a:rPr dirty="0" baseline="1543" sz="2700" spc="-644">
                <a:latin typeface="Arial"/>
                <a:cs typeface="Arial"/>
              </a:rPr>
              <a:t>ن</a:t>
            </a:r>
            <a:r>
              <a:rPr dirty="0" baseline="6172" sz="2700" spc="-644">
                <a:latin typeface="Arial"/>
                <a:cs typeface="Arial"/>
              </a:rPr>
              <a:t>َ </a:t>
            </a:r>
            <a:r>
              <a:rPr dirty="0" baseline="1543" sz="2700" spc="-569">
                <a:latin typeface="Arial"/>
                <a:cs typeface="Arial"/>
              </a:rPr>
              <a:t>عْ </a:t>
            </a:r>
            <a:r>
              <a:rPr dirty="0" baseline="1543" sz="2700" spc="-690">
                <a:latin typeface="Arial"/>
                <a:cs typeface="Arial"/>
              </a:rPr>
              <a:t>ل</a:t>
            </a:r>
            <a:r>
              <a:rPr dirty="0" baseline="9259" sz="2700" spc="-69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15">
                <a:latin typeface="Arial"/>
                <a:cs typeface="Arial"/>
              </a:rPr>
              <a:t>ه</a:t>
            </a:r>
            <a:r>
              <a:rPr dirty="0" baseline="-10802" sz="2700" spc="-315">
                <a:latin typeface="Arial"/>
                <a:cs typeface="Arial"/>
              </a:rPr>
              <a:t>ِ </a:t>
            </a:r>
            <a:r>
              <a:rPr dirty="0" baseline="1543" sz="2700">
                <a:latin typeface="Arial"/>
                <a:cs typeface="Arial"/>
              </a:rPr>
              <a:t>ٌْ </a:t>
            </a:r>
            <a:r>
              <a:rPr dirty="0" baseline="9259" sz="2700" spc="-509">
                <a:latin typeface="Arial"/>
                <a:cs typeface="Arial"/>
              </a:rPr>
              <a:t>َ</a:t>
            </a:r>
            <a:r>
              <a:rPr dirty="0" baseline="1543" sz="2700" spc="-509">
                <a:latin typeface="Arial"/>
                <a:cs typeface="Arial"/>
              </a:rPr>
              <a:t>لع</a:t>
            </a:r>
            <a:r>
              <a:rPr dirty="0" baseline="-1543" sz="2700" spc="-509">
                <a:latin typeface="Arial"/>
                <a:cs typeface="Arial"/>
              </a:rPr>
              <a:t>َ </a:t>
            </a:r>
            <a:r>
              <a:rPr dirty="0" baseline="1543" sz="2700" spc="-682">
                <a:latin typeface="Arial"/>
                <a:cs typeface="Arial"/>
              </a:rPr>
              <a:t>ك</a:t>
            </a:r>
            <a:r>
              <a:rPr dirty="0" baseline="-1543" sz="2700" spc="-682">
                <a:latin typeface="Arial"/>
                <a:cs typeface="Arial"/>
              </a:rPr>
              <a:t>َ  </a:t>
            </a:r>
            <a:r>
              <a:rPr dirty="0" baseline="1543" sz="2700" spc="-855">
                <a:latin typeface="Arial"/>
                <a:cs typeface="Arial"/>
              </a:rPr>
              <a:t>ئ</a:t>
            </a:r>
            <a:r>
              <a:rPr dirty="0" sz="1800" spc="-570">
                <a:latin typeface="Arial"/>
                <a:cs typeface="Arial"/>
              </a:rPr>
              <a:t>ِ</a:t>
            </a:r>
            <a:r>
              <a:rPr dirty="0" sz="1800" spc="-50">
                <a:latin typeface="Arial"/>
                <a:cs typeface="Arial"/>
              </a:rPr>
              <a:t> </a:t>
            </a:r>
            <a:r>
              <a:rPr dirty="0" baseline="9259" sz="2700" spc="-187">
                <a:latin typeface="Arial"/>
                <a:cs typeface="Arial"/>
              </a:rPr>
              <a:t>َ</a:t>
            </a:r>
            <a:r>
              <a:rPr dirty="0" baseline="1543" sz="2700" spc="-187">
                <a:latin typeface="Arial"/>
                <a:cs typeface="Arial"/>
              </a:rPr>
              <a:t>لو</a:t>
            </a:r>
            <a:r>
              <a:rPr dirty="0" baseline="18518" sz="2700" spc="-187">
                <a:latin typeface="Arial"/>
                <a:cs typeface="Arial"/>
              </a:rPr>
              <a:t>ُ</a:t>
            </a:r>
            <a:r>
              <a:rPr dirty="0" baseline="1543" sz="2700" spc="-187">
                <a:latin typeface="Arial"/>
                <a:cs typeface="Arial"/>
              </a:rPr>
              <a:t>أ </a:t>
            </a:r>
            <a:r>
              <a:rPr dirty="0" baseline="1543" sz="2700" spc="-525">
                <a:latin typeface="Arial"/>
                <a:cs typeface="Arial"/>
              </a:rPr>
              <a:t>ر</a:t>
            </a:r>
            <a:r>
              <a:rPr dirty="0" baseline="3086" sz="2700" spc="-525">
                <a:latin typeface="Arial"/>
                <a:cs typeface="Arial"/>
              </a:rPr>
              <a:t>ٌ </a:t>
            </a:r>
            <a:r>
              <a:rPr dirty="0" baseline="1543" sz="2700" spc="-517">
                <a:latin typeface="Arial"/>
                <a:cs typeface="Arial"/>
              </a:rPr>
              <a:t>اف</a:t>
            </a:r>
            <a:r>
              <a:rPr dirty="0" baseline="9259" sz="2700" spc="-517">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019">
                <a:latin typeface="Arial"/>
                <a:cs typeface="Arial"/>
              </a:rPr>
              <a:t> </a:t>
            </a:r>
            <a:r>
              <a:rPr dirty="0" baseline="1543" sz="2700" spc="-359">
                <a:latin typeface="Arial"/>
                <a:cs typeface="Arial"/>
              </a:rPr>
              <a:t>م</a:t>
            </a:r>
            <a:r>
              <a:rPr dirty="0" baseline="-3086" sz="2700" spc="-359">
                <a:latin typeface="Arial"/>
                <a:cs typeface="Arial"/>
              </a:rPr>
              <a:t>ْ </a:t>
            </a:r>
            <a:r>
              <a:rPr dirty="0" baseline="1543" sz="2700" spc="-307">
                <a:latin typeface="Arial"/>
                <a:cs typeface="Arial"/>
              </a:rPr>
              <a:t>هُ و</a:t>
            </a:r>
            <a:r>
              <a:rPr dirty="0" baseline="-1543" sz="2700" spc="-307">
                <a:latin typeface="Arial"/>
                <a:cs typeface="Arial"/>
              </a:rPr>
              <a:t>َ </a:t>
            </a:r>
            <a:r>
              <a:rPr dirty="0" baseline="1543" sz="2700" spc="-472">
                <a:latin typeface="Arial"/>
                <a:cs typeface="Arial"/>
              </a:rPr>
              <a:t>اوت</a:t>
            </a:r>
            <a:r>
              <a:rPr dirty="0" baseline="9259" sz="2700" spc="-472">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270">
                <a:latin typeface="Arial"/>
                <a:cs typeface="Arial"/>
              </a:rPr>
              <a:t>اورُ </a:t>
            </a:r>
            <a:r>
              <a:rPr dirty="0" baseline="1543" sz="2700" spc="-1035">
                <a:latin typeface="Arial"/>
                <a:cs typeface="Arial"/>
              </a:rPr>
              <a:t>ف</a:t>
            </a:r>
            <a:r>
              <a:rPr dirty="0" baseline="6172" sz="2700" spc="-1035">
                <a:latin typeface="Arial"/>
                <a:cs typeface="Arial"/>
              </a:rPr>
              <a:t>َ</a:t>
            </a:r>
            <a:r>
              <a:rPr dirty="0" baseline="6172" sz="2700" spc="-89">
                <a:latin typeface="Arial"/>
                <a:cs typeface="Arial"/>
              </a:rPr>
              <a:t> </a:t>
            </a:r>
            <a:r>
              <a:rPr dirty="0" baseline="1543" sz="2700" spc="-719">
                <a:latin typeface="Arial"/>
                <a:cs typeface="Arial"/>
              </a:rPr>
              <a:t>ك</a:t>
            </a:r>
            <a:r>
              <a:rPr dirty="0" baseline="6172" sz="2700" spc="-719">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32">
                <a:latin typeface="Arial"/>
                <a:cs typeface="Arial"/>
              </a:rPr>
              <a:t>ٌذ</a:t>
            </a:r>
            <a:r>
              <a:rPr dirty="0" sz="1800" spc="-155">
                <a:latin typeface="Arial"/>
                <a:cs typeface="Arial"/>
              </a:rPr>
              <a:t>ِ </a:t>
            </a:r>
            <a:r>
              <a:rPr dirty="0" baseline="10802" sz="2700" spc="-209">
                <a:latin typeface="Arial"/>
                <a:cs typeface="Arial"/>
              </a:rPr>
              <a:t>َّ</a:t>
            </a:r>
            <a:r>
              <a:rPr dirty="0" baseline="1543" sz="2700" spc="-209">
                <a:latin typeface="Arial"/>
                <a:cs typeface="Arial"/>
              </a:rPr>
              <a:t>لا</a:t>
            </a:r>
            <a:r>
              <a:rPr dirty="0" baseline="1543" sz="2700" spc="127">
                <a:latin typeface="Arial"/>
                <a:cs typeface="Arial"/>
              </a:rPr>
              <a:t> </a:t>
            </a:r>
            <a:r>
              <a:rPr dirty="0" baseline="1543" sz="2700" spc="-7">
                <a:latin typeface="Arial"/>
                <a:cs typeface="Arial"/>
              </a:rPr>
              <a:t>ن</a:t>
            </a:r>
            <a:r>
              <a:rPr dirty="0" baseline="-12345" sz="2700" spc="-7">
                <a:latin typeface="Arial"/>
                <a:cs typeface="Arial"/>
              </a:rPr>
              <a:t>ِ</a:t>
            </a:r>
            <a:r>
              <a:rPr dirty="0" baseline="1543" sz="2700" spc="-7">
                <a:latin typeface="Arial"/>
                <a:cs typeface="Arial"/>
              </a:rPr>
              <a:t>إ</a:t>
            </a:r>
            <a:endParaRPr baseline="1543" sz="2700">
              <a:latin typeface="Arial"/>
              <a:cs typeface="Arial"/>
            </a:endParaRPr>
          </a:p>
          <a:p>
            <a:pPr algn="just" marL="179705" marR="189230">
              <a:lnSpc>
                <a:spcPts val="1380"/>
              </a:lnSpc>
              <a:spcBef>
                <a:spcPts val="1390"/>
              </a:spcBef>
            </a:pPr>
            <a:r>
              <a:rPr dirty="0" sz="1200" spc="-5">
                <a:latin typeface="Arial"/>
                <a:cs typeface="Arial"/>
              </a:rPr>
              <a:t>161. Lo! Those </a:t>
            </a:r>
            <a:r>
              <a:rPr dirty="0" sz="1200" spc="-10">
                <a:latin typeface="Arial"/>
                <a:cs typeface="Arial"/>
              </a:rPr>
              <a:t>who </a:t>
            </a:r>
            <a:r>
              <a:rPr dirty="0" sz="1200" spc="-5">
                <a:latin typeface="Arial"/>
                <a:cs typeface="Arial"/>
              </a:rPr>
              <a:t>disbelieve, and die while </a:t>
            </a:r>
            <a:r>
              <a:rPr dirty="0" sz="1200">
                <a:latin typeface="Arial"/>
                <a:cs typeface="Arial"/>
              </a:rPr>
              <a:t>they </a:t>
            </a:r>
            <a:r>
              <a:rPr dirty="0" sz="1200" spc="-5">
                <a:latin typeface="Arial"/>
                <a:cs typeface="Arial"/>
              </a:rPr>
              <a:t>are disbelievers; on them is </a:t>
            </a:r>
            <a:r>
              <a:rPr dirty="0" sz="1200">
                <a:latin typeface="Arial"/>
                <a:cs typeface="Arial"/>
              </a:rPr>
              <a:t>the </a:t>
            </a:r>
            <a:r>
              <a:rPr dirty="0" sz="1200" spc="-5">
                <a:latin typeface="Arial"/>
                <a:cs typeface="Arial"/>
              </a:rPr>
              <a:t>curse </a:t>
            </a:r>
            <a:r>
              <a:rPr dirty="0" sz="1200">
                <a:latin typeface="Arial"/>
                <a:cs typeface="Arial"/>
              </a:rPr>
              <a:t>of  </a:t>
            </a:r>
            <a:r>
              <a:rPr dirty="0" sz="1200" spc="-5">
                <a:latin typeface="Arial"/>
                <a:cs typeface="Arial"/>
              </a:rPr>
              <a:t>Allah and of angels and of men</a:t>
            </a:r>
            <a:r>
              <a:rPr dirty="0" sz="1200" spc="40">
                <a:latin typeface="Arial"/>
                <a:cs typeface="Arial"/>
              </a:rPr>
              <a:t> </a:t>
            </a:r>
            <a:r>
              <a:rPr dirty="0" sz="1200" spc="-5">
                <a:latin typeface="Arial"/>
                <a:cs typeface="Arial"/>
              </a:rPr>
              <a:t>combined.</a:t>
            </a:r>
            <a:endParaRPr sz="1200">
              <a:latin typeface="Arial"/>
              <a:cs typeface="Arial"/>
            </a:endParaRPr>
          </a:p>
          <a:p>
            <a:pPr>
              <a:lnSpc>
                <a:spcPct val="100000"/>
              </a:lnSpc>
              <a:spcBef>
                <a:spcPts val="20"/>
              </a:spcBef>
            </a:pPr>
            <a:endParaRPr sz="1150">
              <a:latin typeface="Arial"/>
              <a:cs typeface="Arial"/>
            </a:endParaRPr>
          </a:p>
          <a:p>
            <a:pPr marL="228600">
              <a:lnSpc>
                <a:spcPts val="2070"/>
              </a:lnSpc>
              <a:spcBef>
                <a:spcPts val="5"/>
              </a:spcBef>
            </a:pPr>
            <a:r>
              <a:rPr dirty="0" baseline="9259" sz="2700" spc="-217">
                <a:latin typeface="Arial"/>
                <a:cs typeface="Arial"/>
              </a:rPr>
              <a:t>َ</a:t>
            </a:r>
            <a:r>
              <a:rPr dirty="0" baseline="3086" sz="2700" spc="-217">
                <a:latin typeface="Arial"/>
                <a:cs typeface="Arial"/>
              </a:rPr>
              <a:t>لاو</a:t>
            </a:r>
            <a:r>
              <a:rPr dirty="0" sz="1800" spc="-145">
                <a:latin typeface="Arial"/>
                <a:cs typeface="Arial"/>
              </a:rPr>
              <a:t>َ</a:t>
            </a:r>
            <a:r>
              <a:rPr dirty="0" sz="1800" spc="210">
                <a:latin typeface="Arial"/>
                <a:cs typeface="Arial"/>
              </a:rPr>
              <a:t> </a:t>
            </a:r>
            <a:r>
              <a:rPr dirty="0" baseline="3086" sz="2700" spc="-569">
                <a:latin typeface="Arial"/>
                <a:cs typeface="Arial"/>
              </a:rPr>
              <a:t>غ</a:t>
            </a:r>
            <a:r>
              <a:rPr dirty="0" baseline="-13888" sz="2700" spc="-569">
                <a:latin typeface="Arial"/>
                <a:cs typeface="Arial"/>
              </a:rPr>
              <a:t>ٍ </a:t>
            </a:r>
            <a:r>
              <a:rPr dirty="0" baseline="3086" sz="2700" spc="-585">
                <a:latin typeface="Arial"/>
                <a:cs typeface="Arial"/>
              </a:rPr>
              <a:t>اب</a:t>
            </a:r>
            <a:r>
              <a:rPr dirty="0" sz="1800" spc="-390">
                <a:latin typeface="Arial"/>
                <a:cs typeface="Arial"/>
              </a:rPr>
              <a:t>َ </a:t>
            </a:r>
            <a:r>
              <a:rPr dirty="0" baseline="3086" sz="2700" spc="-494">
                <a:latin typeface="Arial"/>
                <a:cs typeface="Arial"/>
              </a:rPr>
              <a:t>ر</a:t>
            </a:r>
            <a:r>
              <a:rPr dirty="0" sz="1800" spc="-330">
                <a:latin typeface="Arial"/>
                <a:cs typeface="Arial"/>
              </a:rPr>
              <a:t>َ </a:t>
            </a:r>
            <a:r>
              <a:rPr dirty="0" baseline="3086" sz="2700">
                <a:latin typeface="Arial"/>
                <a:cs typeface="Arial"/>
              </a:rPr>
              <a:t>ٌْ </a:t>
            </a:r>
            <a:r>
              <a:rPr dirty="0" baseline="3086" sz="2700" spc="-967">
                <a:latin typeface="Arial"/>
                <a:cs typeface="Arial"/>
              </a:rPr>
              <a:t>ؼ</a:t>
            </a:r>
            <a:r>
              <a:rPr dirty="0" baseline="4629" sz="2700" spc="-967">
                <a:latin typeface="Arial"/>
                <a:cs typeface="Arial"/>
              </a:rPr>
              <a:t>َ</a:t>
            </a:r>
            <a:r>
              <a:rPr dirty="0" baseline="4629" sz="2700" spc="1222">
                <a:latin typeface="Arial"/>
                <a:cs typeface="Arial"/>
              </a:rPr>
              <a:t> </a:t>
            </a:r>
            <a:r>
              <a:rPr dirty="0" baseline="3086" sz="2700" spc="-345">
                <a:latin typeface="Arial"/>
                <a:cs typeface="Arial"/>
              </a:rPr>
              <a:t>رَّ </a:t>
            </a:r>
            <a:r>
              <a:rPr dirty="0" baseline="3086" sz="2700" spc="-690">
                <a:latin typeface="Arial"/>
                <a:cs typeface="Arial"/>
              </a:rPr>
              <a:t>ط</a:t>
            </a:r>
            <a:r>
              <a:rPr dirty="0" baseline="16975" sz="2700" spc="-690">
                <a:latin typeface="Arial"/>
                <a:cs typeface="Arial"/>
              </a:rPr>
              <a:t>ُ </a:t>
            </a:r>
            <a:r>
              <a:rPr dirty="0" baseline="3086" sz="2700" spc="-1320">
                <a:latin typeface="Arial"/>
                <a:cs typeface="Arial"/>
              </a:rPr>
              <a:t>ضْ</a:t>
            </a:r>
            <a:r>
              <a:rPr dirty="0" baseline="3086" sz="2700" spc="1260">
                <a:latin typeface="Arial"/>
                <a:cs typeface="Arial"/>
              </a:rPr>
              <a:t> </a:t>
            </a:r>
            <a:r>
              <a:rPr dirty="0" baseline="3086" sz="2700">
                <a:latin typeface="Arial"/>
                <a:cs typeface="Arial"/>
              </a:rPr>
              <a:t>ٱ </a:t>
            </a:r>
            <a:r>
              <a:rPr dirty="0" baseline="3086" sz="2700" spc="-607">
                <a:latin typeface="Arial"/>
                <a:cs typeface="Arial"/>
              </a:rPr>
              <a:t>ن</a:t>
            </a:r>
            <a:r>
              <a:rPr dirty="0" baseline="-10802" sz="2700" spc="-607">
                <a:latin typeface="Arial"/>
                <a:cs typeface="Arial"/>
              </a:rPr>
              <a:t>ِ  </a:t>
            </a:r>
            <a:r>
              <a:rPr dirty="0" baseline="3086" sz="2700" spc="-359">
                <a:latin typeface="Arial"/>
                <a:cs typeface="Arial"/>
              </a:rPr>
              <a:t>م</a:t>
            </a:r>
            <a:r>
              <a:rPr dirty="0" sz="1800" spc="-240">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705">
                <a:latin typeface="Arial"/>
                <a:cs typeface="Arial"/>
              </a:rPr>
              <a:t> </a:t>
            </a:r>
            <a:r>
              <a:rPr dirty="0" baseline="3086" sz="2700" spc="-885">
                <a:latin typeface="Arial"/>
                <a:cs typeface="Arial"/>
              </a:rPr>
              <a:t>للَّ</a:t>
            </a:r>
            <a:r>
              <a:rPr dirty="0" sz="1800" spc="-590">
                <a:latin typeface="Arial"/>
                <a:cs typeface="Arial"/>
              </a:rPr>
              <a:t>ِ</a:t>
            </a:r>
            <a:r>
              <a:rPr dirty="0" sz="1800" spc="-80">
                <a:latin typeface="Arial"/>
                <a:cs typeface="Arial"/>
              </a:rPr>
              <a:t> </a:t>
            </a:r>
            <a:r>
              <a:rPr dirty="0" baseline="15432" sz="2700">
                <a:latin typeface="Arial"/>
                <a:cs typeface="Arial"/>
              </a:rPr>
              <a:t>َّ </a:t>
            </a:r>
            <a:r>
              <a:rPr dirty="0" baseline="3086" sz="2700">
                <a:latin typeface="Arial"/>
                <a:cs typeface="Arial"/>
              </a:rPr>
              <a:t>ٱ </a:t>
            </a:r>
            <a:r>
              <a:rPr dirty="0" baseline="3086" sz="2700" spc="-457">
                <a:latin typeface="Arial"/>
                <a:cs typeface="Arial"/>
              </a:rPr>
              <a:t>ر</a:t>
            </a:r>
            <a:r>
              <a:rPr dirty="0" baseline="-10802" sz="2700" spc="-457">
                <a:latin typeface="Arial"/>
                <a:cs typeface="Arial"/>
              </a:rPr>
              <a:t>ِ </a:t>
            </a:r>
            <a:r>
              <a:rPr dirty="0" baseline="3086" sz="2700">
                <a:latin typeface="Arial"/>
                <a:cs typeface="Arial"/>
              </a:rPr>
              <a:t>ٌْ </a:t>
            </a:r>
            <a:r>
              <a:rPr dirty="0" baseline="3086" sz="2700" spc="-742">
                <a:latin typeface="Arial"/>
                <a:cs typeface="Arial"/>
              </a:rPr>
              <a:t>ؽ</a:t>
            </a:r>
            <a:r>
              <a:rPr dirty="0" baseline="4629" sz="2700" spc="-742">
                <a:latin typeface="Arial"/>
                <a:cs typeface="Arial"/>
              </a:rPr>
              <a:t>َ </a:t>
            </a:r>
            <a:r>
              <a:rPr dirty="0" baseline="1543" sz="2700" spc="-405">
                <a:latin typeface="Arial"/>
                <a:cs typeface="Arial"/>
              </a:rPr>
              <a:t>ِ</a:t>
            </a:r>
            <a:r>
              <a:rPr dirty="0" baseline="3086" sz="2700" spc="-405">
                <a:latin typeface="Arial"/>
                <a:cs typeface="Arial"/>
              </a:rPr>
              <a:t>ل </a:t>
            </a:r>
            <a:r>
              <a:rPr dirty="0" baseline="3086" sz="2700" spc="-337">
                <a:latin typeface="Arial"/>
                <a:cs typeface="Arial"/>
              </a:rPr>
              <a:t>ه</a:t>
            </a:r>
            <a:r>
              <a:rPr dirty="0" baseline="1543" sz="2700" spc="-337">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697">
                <a:latin typeface="Arial"/>
                <a:cs typeface="Arial"/>
              </a:rPr>
              <a:t> </a:t>
            </a:r>
            <a:r>
              <a:rPr dirty="0" baseline="3086" sz="2700" spc="-419">
                <a:latin typeface="Arial"/>
                <a:cs typeface="Arial"/>
              </a:rPr>
              <a:t>لَّ </a:t>
            </a:r>
            <a:r>
              <a:rPr dirty="0" baseline="3086" sz="2700" spc="-307">
                <a:latin typeface="Arial"/>
                <a:cs typeface="Arial"/>
              </a:rPr>
              <a:t>ه</a:t>
            </a:r>
            <a:r>
              <a:rPr dirty="0" baseline="1543" sz="2700" spc="-307">
                <a:latin typeface="Arial"/>
                <a:cs typeface="Arial"/>
              </a:rPr>
              <a:t>ِ </a:t>
            </a:r>
            <a:r>
              <a:rPr dirty="0" baseline="20061" sz="2700">
                <a:latin typeface="Arial"/>
                <a:cs typeface="Arial"/>
              </a:rPr>
              <a:t>ُ</a:t>
            </a:r>
            <a:r>
              <a:rPr dirty="0" baseline="3086" sz="2700">
                <a:latin typeface="Arial"/>
                <a:cs typeface="Arial"/>
              </a:rPr>
              <a:t>أ </a:t>
            </a:r>
            <a:r>
              <a:rPr dirty="0" baseline="3086" sz="2700" spc="-225">
                <a:latin typeface="Arial"/>
                <a:cs typeface="Arial"/>
              </a:rPr>
              <a:t>آم</a:t>
            </a:r>
            <a:r>
              <a:rPr dirty="0" sz="1800" spc="-150">
                <a:latin typeface="Arial"/>
                <a:cs typeface="Arial"/>
              </a:rPr>
              <a:t>َ </a:t>
            </a:r>
            <a:r>
              <a:rPr dirty="0" baseline="3086" sz="2700" spc="-307">
                <a:latin typeface="Arial"/>
                <a:cs typeface="Arial"/>
              </a:rPr>
              <a:t>و</a:t>
            </a:r>
            <a:r>
              <a:rPr dirty="0" sz="1800" spc="-204">
                <a:latin typeface="Arial"/>
                <a:cs typeface="Arial"/>
              </a:rPr>
              <a:t>َ </a:t>
            </a:r>
            <a:r>
              <a:rPr dirty="0" baseline="3086" sz="2700" spc="-457">
                <a:latin typeface="Arial"/>
                <a:cs typeface="Arial"/>
              </a:rPr>
              <a:t>ر</a:t>
            </a:r>
            <a:r>
              <a:rPr dirty="0" baseline="-10802" sz="2700" spc="-457">
                <a:latin typeface="Arial"/>
                <a:cs typeface="Arial"/>
              </a:rPr>
              <a:t>ِ </a:t>
            </a:r>
            <a:r>
              <a:rPr dirty="0" baseline="3086" sz="2700" spc="-307">
                <a:latin typeface="Arial"/>
                <a:cs typeface="Arial"/>
              </a:rPr>
              <a:t>ٌز</a:t>
            </a:r>
            <a:r>
              <a:rPr dirty="0" baseline="-10802" sz="2700" spc="-307">
                <a:latin typeface="Arial"/>
                <a:cs typeface="Arial"/>
              </a:rPr>
              <a:t>ِ </a:t>
            </a:r>
            <a:r>
              <a:rPr dirty="0" baseline="3086" sz="2700" spc="-735">
                <a:latin typeface="Arial"/>
                <a:cs typeface="Arial"/>
              </a:rPr>
              <a:t>نخ</a:t>
            </a:r>
            <a:r>
              <a:rPr dirty="0" baseline="1543" sz="2700" spc="-73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390">
                <a:latin typeface="Arial"/>
                <a:cs typeface="Arial"/>
              </a:rPr>
              <a:t>م</a:t>
            </a:r>
            <a:r>
              <a:rPr dirty="0" baseline="-6172" sz="2700" spc="-390">
                <a:latin typeface="Arial"/>
                <a:cs typeface="Arial"/>
              </a:rPr>
              <a:t>َ </a:t>
            </a:r>
            <a:r>
              <a:rPr dirty="0" baseline="3086" sz="2700" spc="-555">
                <a:latin typeface="Arial"/>
                <a:cs typeface="Arial"/>
              </a:rPr>
              <a:t>حْ </a:t>
            </a:r>
            <a:r>
              <a:rPr dirty="0" baseline="3086" sz="2700" spc="-690">
                <a:latin typeface="Arial"/>
                <a:cs typeface="Arial"/>
              </a:rPr>
              <a:t>ل</a:t>
            </a:r>
            <a:r>
              <a:rPr dirty="0" baseline="10802" sz="2700" spc="-690">
                <a:latin typeface="Arial"/>
                <a:cs typeface="Arial"/>
              </a:rPr>
              <a:t>َ </a:t>
            </a:r>
            <a:r>
              <a:rPr dirty="0" baseline="3086" sz="2700" spc="-307">
                <a:latin typeface="Arial"/>
                <a:cs typeface="Arial"/>
              </a:rPr>
              <a:t>و</a:t>
            </a:r>
            <a:r>
              <a:rPr dirty="0" sz="1800" spc="-204">
                <a:latin typeface="Arial"/>
                <a:cs typeface="Arial"/>
              </a:rPr>
              <a:t>َ </a:t>
            </a:r>
            <a:r>
              <a:rPr dirty="0" baseline="3086" sz="2700" spc="-390">
                <a:latin typeface="Arial"/>
                <a:cs typeface="Arial"/>
              </a:rPr>
              <a:t>م</a:t>
            </a:r>
            <a:r>
              <a:rPr dirty="0" baseline="-6172" sz="2700" spc="-390">
                <a:latin typeface="Arial"/>
                <a:cs typeface="Arial"/>
              </a:rPr>
              <a:t>َ </a:t>
            </a:r>
            <a:r>
              <a:rPr dirty="0" baseline="3086" sz="2700" spc="-232">
                <a:latin typeface="Arial"/>
                <a:cs typeface="Arial"/>
              </a:rPr>
              <a:t>د</a:t>
            </a:r>
            <a:r>
              <a:rPr dirty="0" baseline="4629" sz="2700" spc="-232">
                <a:latin typeface="Arial"/>
                <a:cs typeface="Arial"/>
              </a:rPr>
              <a:t>َّ </a:t>
            </a:r>
            <a:r>
              <a:rPr dirty="0" baseline="3086" sz="2700" spc="-359">
                <a:latin typeface="Arial"/>
                <a:cs typeface="Arial"/>
              </a:rPr>
              <a:t>لٱو</a:t>
            </a:r>
            <a:r>
              <a:rPr dirty="0" sz="1800" spc="-240">
                <a:latin typeface="Arial"/>
                <a:cs typeface="Arial"/>
              </a:rPr>
              <a:t>َ </a:t>
            </a:r>
            <a:r>
              <a:rPr dirty="0" baseline="3086" sz="2700" spc="-292">
                <a:latin typeface="Arial"/>
                <a:cs typeface="Arial"/>
              </a:rPr>
              <a:t>ة</a:t>
            </a:r>
            <a:r>
              <a:rPr dirty="0" baseline="10802" sz="2700" spc="-292">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09">
                <a:latin typeface="Arial"/>
                <a:cs typeface="Arial"/>
              </a:rPr>
              <a:t> </a:t>
            </a:r>
            <a:r>
              <a:rPr dirty="0" baseline="3086" sz="2700">
                <a:latin typeface="Arial"/>
                <a:cs typeface="Arial"/>
              </a:rPr>
              <a:t>ٌْ </a:t>
            </a:r>
            <a:r>
              <a:rPr dirty="0" baseline="3086" sz="2700" spc="-359">
                <a:latin typeface="Arial"/>
                <a:cs typeface="Arial"/>
              </a:rPr>
              <a:t>م</a:t>
            </a:r>
            <a:r>
              <a:rPr dirty="0" sz="1800" spc="-2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427">
                <a:latin typeface="Arial"/>
                <a:cs typeface="Arial"/>
              </a:rPr>
              <a:t>م</a:t>
            </a:r>
            <a:r>
              <a:rPr dirty="0" baseline="-3086" sz="2700" spc="-427">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209">
                <a:latin typeface="Arial"/>
                <a:cs typeface="Arial"/>
              </a:rPr>
              <a:t> </a:t>
            </a:r>
            <a:r>
              <a:rPr dirty="0" baseline="3086" sz="2700">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607">
                <a:latin typeface="Arial"/>
                <a:cs typeface="Arial"/>
              </a:rPr>
              <a:t>ع</a:t>
            </a:r>
            <a:r>
              <a:rPr dirty="0" sz="1800" spc="-405">
                <a:latin typeface="Arial"/>
                <a:cs typeface="Arial"/>
              </a:rPr>
              <a:t>َ </a:t>
            </a:r>
            <a:r>
              <a:rPr dirty="0" baseline="3086" sz="2700" spc="-390">
                <a:latin typeface="Arial"/>
                <a:cs typeface="Arial"/>
              </a:rPr>
              <a:t>م</a:t>
            </a:r>
            <a:r>
              <a:rPr dirty="0" baseline="-6172" sz="2700" spc="-390">
                <a:latin typeface="Arial"/>
                <a:cs typeface="Arial"/>
              </a:rPr>
              <a:t>َ </a:t>
            </a:r>
            <a:r>
              <a:rPr dirty="0" baseline="3086" sz="2700" spc="-345">
                <a:latin typeface="Arial"/>
                <a:cs typeface="Arial"/>
              </a:rPr>
              <a:t>رَّ </a:t>
            </a:r>
            <a:r>
              <a:rPr dirty="0" baseline="3086" sz="2700" spc="-592">
                <a:latin typeface="Arial"/>
                <a:cs typeface="Arial"/>
              </a:rPr>
              <a:t>ح</a:t>
            </a:r>
            <a:r>
              <a:rPr dirty="0" sz="1800" spc="-395">
                <a:latin typeface="Arial"/>
                <a:cs typeface="Arial"/>
              </a:rPr>
              <a:t>َ </a:t>
            </a:r>
            <a:r>
              <a:rPr dirty="0" baseline="3086" sz="2700" spc="-225">
                <a:latin typeface="Arial"/>
                <a:cs typeface="Arial"/>
              </a:rPr>
              <a:t>ام</a:t>
            </a:r>
            <a:r>
              <a:rPr dirty="0" sz="1800" spc="-150">
                <a:latin typeface="Arial"/>
                <a:cs typeface="Arial"/>
              </a:rPr>
              <a:t>َ</a:t>
            </a:r>
            <a:r>
              <a:rPr dirty="0" sz="1800" spc="-265">
                <a:latin typeface="Arial"/>
                <a:cs typeface="Arial"/>
              </a:rPr>
              <a:t> </a:t>
            </a:r>
            <a:r>
              <a:rPr dirty="0" baseline="3086" sz="2700" spc="-442">
                <a:latin typeface="Arial"/>
                <a:cs typeface="Arial"/>
              </a:rPr>
              <a:t>ن</a:t>
            </a:r>
            <a:r>
              <a:rPr dirty="0" baseline="10802" sz="2700" spc="-442">
                <a:latin typeface="Arial"/>
                <a:cs typeface="Arial"/>
              </a:rPr>
              <a:t>َّ </a:t>
            </a:r>
            <a:r>
              <a:rPr dirty="0" baseline="-10802" sz="2700">
                <a:latin typeface="Arial"/>
                <a:cs typeface="Arial"/>
              </a:rPr>
              <a:t>ِ</a:t>
            </a:r>
            <a:r>
              <a:rPr dirty="0" baseline="3086" sz="2700">
                <a:latin typeface="Arial"/>
                <a:cs typeface="Arial"/>
              </a:rPr>
              <a:t>إ</a:t>
            </a:r>
            <a:endParaRPr baseline="3086" sz="2700">
              <a:latin typeface="Arial"/>
              <a:cs typeface="Arial"/>
            </a:endParaRPr>
          </a:p>
          <a:p>
            <a:pPr marL="3969385">
              <a:lnSpc>
                <a:spcPts val="2070"/>
              </a:lnSpc>
            </a:pPr>
            <a:r>
              <a:rPr dirty="0" sz="1800" spc="-285">
                <a:latin typeface="Arial"/>
                <a:cs typeface="Arial"/>
              </a:rPr>
              <a:t>م</a:t>
            </a:r>
            <a:r>
              <a:rPr dirty="0" baseline="-3086" sz="2700" spc="-427">
                <a:latin typeface="Arial"/>
                <a:cs typeface="Arial"/>
              </a:rPr>
              <a:t>ٌ </a:t>
            </a:r>
            <a:r>
              <a:rPr dirty="0" sz="1800" spc="-320">
                <a:latin typeface="Arial"/>
                <a:cs typeface="Arial"/>
              </a:rPr>
              <a:t>ٌحِ </a:t>
            </a:r>
            <a:r>
              <a:rPr dirty="0" sz="1800" spc="-229">
                <a:latin typeface="Arial"/>
                <a:cs typeface="Arial"/>
              </a:rPr>
              <a:t>رَّ </a:t>
            </a:r>
            <a:r>
              <a:rPr dirty="0" sz="1800" spc="-350">
                <a:latin typeface="Arial"/>
                <a:cs typeface="Arial"/>
              </a:rPr>
              <a:t>ر</a:t>
            </a:r>
            <a:r>
              <a:rPr dirty="0" baseline="1543" sz="2700" spc="-525">
                <a:latin typeface="Arial"/>
                <a:cs typeface="Arial"/>
              </a:rPr>
              <a:t>ٌ </a:t>
            </a:r>
            <a:r>
              <a:rPr dirty="0" sz="1800" spc="-450">
                <a:latin typeface="Arial"/>
                <a:cs typeface="Arial"/>
              </a:rPr>
              <a:t>و</a:t>
            </a:r>
            <a:r>
              <a:rPr dirty="0" baseline="9259" sz="2700" spc="-675">
                <a:latin typeface="Arial"/>
                <a:cs typeface="Arial"/>
              </a:rPr>
              <a:t>ُ</a:t>
            </a:r>
            <a:r>
              <a:rPr dirty="0" sz="1800" spc="-450">
                <a:latin typeface="Arial"/>
                <a:cs typeface="Arial"/>
              </a:rPr>
              <a:t>فؼ</a:t>
            </a:r>
            <a:r>
              <a:rPr dirty="0" baseline="3086" sz="2700" spc="-675">
                <a:latin typeface="Arial"/>
                <a:cs typeface="Arial"/>
              </a:rPr>
              <a:t>َ </a:t>
            </a:r>
            <a:r>
              <a:rPr dirty="0" sz="1800" spc="-590">
                <a:latin typeface="Arial"/>
                <a:cs typeface="Arial"/>
              </a:rPr>
              <a:t>للَّ</a:t>
            </a:r>
            <a:r>
              <a:rPr dirty="0" baseline="-10802" sz="2700" spc="-885">
                <a:latin typeface="Arial"/>
                <a:cs typeface="Arial"/>
              </a:rPr>
              <a:t>َ</a:t>
            </a:r>
            <a:r>
              <a:rPr dirty="0" baseline="-10802" sz="2700" spc="-89">
                <a:latin typeface="Arial"/>
                <a:cs typeface="Arial"/>
              </a:rPr>
              <a:t> </a:t>
            </a:r>
            <a:r>
              <a:rPr dirty="0" baseline="12345" sz="2700">
                <a:latin typeface="Arial"/>
                <a:cs typeface="Arial"/>
              </a:rPr>
              <a:t>َّ </a:t>
            </a:r>
            <a:r>
              <a:rPr dirty="0" sz="1800">
                <a:latin typeface="Arial"/>
                <a:cs typeface="Arial"/>
              </a:rPr>
              <a:t>ٱ </a:t>
            </a:r>
            <a:r>
              <a:rPr dirty="0" sz="1800" spc="-229">
                <a:latin typeface="Arial"/>
                <a:cs typeface="Arial"/>
              </a:rPr>
              <a:t>نَّ </a:t>
            </a:r>
            <a:r>
              <a:rPr dirty="0" baseline="-12345" sz="2700">
                <a:latin typeface="Arial"/>
                <a:cs typeface="Arial"/>
              </a:rPr>
              <a:t>ِ</a:t>
            </a:r>
            <a:r>
              <a:rPr dirty="0" sz="1800">
                <a:latin typeface="Arial"/>
                <a:cs typeface="Arial"/>
              </a:rPr>
              <a:t>إ </a:t>
            </a:r>
            <a:r>
              <a:rPr dirty="0" sz="1800" spc="-225">
                <a:latin typeface="Arial"/>
                <a:cs typeface="Arial"/>
              </a:rPr>
              <a:t>هِ </a:t>
            </a:r>
            <a:r>
              <a:rPr dirty="0" sz="1800">
                <a:latin typeface="Arial"/>
                <a:cs typeface="Arial"/>
              </a:rPr>
              <a:t>ٌ</a:t>
            </a:r>
            <a:r>
              <a:rPr dirty="0" baseline="1543" sz="2700">
                <a:latin typeface="Arial"/>
                <a:cs typeface="Arial"/>
              </a:rPr>
              <a:t>ْ </a:t>
            </a:r>
            <a:r>
              <a:rPr dirty="0" baseline="7716" sz="2700" spc="-509">
                <a:latin typeface="Arial"/>
                <a:cs typeface="Arial"/>
              </a:rPr>
              <a:t>َ</a:t>
            </a:r>
            <a:r>
              <a:rPr dirty="0" sz="1800" spc="-340">
                <a:latin typeface="Arial"/>
                <a:cs typeface="Arial"/>
              </a:rPr>
              <a:t>لع</a:t>
            </a:r>
            <a:r>
              <a:rPr dirty="0" baseline="-3086" sz="2700" spc="-509">
                <a:latin typeface="Arial"/>
                <a:cs typeface="Arial"/>
              </a:rPr>
              <a:t>َ </a:t>
            </a:r>
            <a:r>
              <a:rPr dirty="0" sz="1800" spc="-260">
                <a:latin typeface="Arial"/>
                <a:cs typeface="Arial"/>
              </a:rPr>
              <a:t>م</a:t>
            </a:r>
            <a:r>
              <a:rPr dirty="0" baseline="-7716" sz="2700" spc="-390">
                <a:latin typeface="Arial"/>
                <a:cs typeface="Arial"/>
              </a:rPr>
              <a:t>َ </a:t>
            </a:r>
            <a:r>
              <a:rPr dirty="0" sz="1800" spc="-575">
                <a:latin typeface="Arial"/>
                <a:cs typeface="Arial"/>
              </a:rPr>
              <a:t>ث</a:t>
            </a:r>
            <a:r>
              <a:rPr dirty="0" baseline="13888" sz="2700" spc="-862">
                <a:latin typeface="Arial"/>
                <a:cs typeface="Arial"/>
              </a:rPr>
              <a:t>ْ</a:t>
            </a:r>
            <a:r>
              <a:rPr dirty="0" baseline="13888" sz="2700" spc="-307">
                <a:latin typeface="Arial"/>
                <a:cs typeface="Arial"/>
              </a:rPr>
              <a:t> </a:t>
            </a:r>
            <a:r>
              <a:rPr dirty="0" baseline="-12345" sz="2700">
                <a:latin typeface="Arial"/>
                <a:cs typeface="Arial"/>
              </a:rPr>
              <a:t>ِ</a:t>
            </a:r>
            <a:r>
              <a:rPr dirty="0" sz="1800">
                <a:latin typeface="Arial"/>
                <a:cs typeface="Arial"/>
              </a:rPr>
              <a:t>إ </a:t>
            </a:r>
            <a:r>
              <a:rPr dirty="0" sz="1800" spc="-434">
                <a:latin typeface="Arial"/>
                <a:cs typeface="Arial"/>
              </a:rPr>
              <a:t>لا</a:t>
            </a:r>
            <a:r>
              <a:rPr dirty="0" baseline="16975" sz="2700" spc="-652">
                <a:latin typeface="Arial"/>
                <a:cs typeface="Arial"/>
              </a:rPr>
              <a:t>ۤ </a:t>
            </a:r>
            <a:r>
              <a:rPr dirty="0" sz="1800" spc="-690">
                <a:latin typeface="Arial"/>
                <a:cs typeface="Arial"/>
              </a:rPr>
              <a:t>ف</a:t>
            </a:r>
            <a:r>
              <a:rPr dirty="0" baseline="6172" sz="2700" spc="-1035">
                <a:latin typeface="Arial"/>
                <a:cs typeface="Arial"/>
              </a:rPr>
              <a:t>َ</a:t>
            </a:r>
            <a:r>
              <a:rPr dirty="0" baseline="6172" sz="2700" spc="757">
                <a:latin typeface="Arial"/>
                <a:cs typeface="Arial"/>
              </a:rPr>
              <a:t> </a:t>
            </a:r>
            <a:r>
              <a:rPr dirty="0" sz="1800" spc="-240">
                <a:latin typeface="Arial"/>
                <a:cs typeface="Arial"/>
              </a:rPr>
              <a:t>دٍ</a:t>
            </a:r>
            <a:r>
              <a:rPr dirty="0" sz="1800" spc="-190">
                <a:latin typeface="Arial"/>
                <a:cs typeface="Arial"/>
              </a:rPr>
              <a:t> </a:t>
            </a:r>
            <a:r>
              <a:rPr dirty="0" sz="1800" spc="-390">
                <a:latin typeface="Arial"/>
                <a:cs typeface="Arial"/>
              </a:rPr>
              <a:t>اع</a:t>
            </a:r>
            <a:endParaRPr sz="1800">
              <a:latin typeface="Arial"/>
              <a:cs typeface="Arial"/>
            </a:endParaRPr>
          </a:p>
          <a:p>
            <a:pPr algn="just" marL="179705" marR="186055">
              <a:lnSpc>
                <a:spcPts val="1380"/>
              </a:lnSpc>
              <a:spcBef>
                <a:spcPts val="1415"/>
              </a:spcBef>
            </a:pPr>
            <a:r>
              <a:rPr dirty="0" sz="1200" spc="-5">
                <a:latin typeface="Arial"/>
                <a:cs typeface="Arial"/>
              </a:rPr>
              <a:t>173. He hath forbidden </a:t>
            </a:r>
            <a:r>
              <a:rPr dirty="0" sz="1200" spc="-10">
                <a:latin typeface="Arial"/>
                <a:cs typeface="Arial"/>
              </a:rPr>
              <a:t>you </a:t>
            </a:r>
            <a:r>
              <a:rPr dirty="0" sz="1200" spc="-5">
                <a:latin typeface="Arial"/>
                <a:cs typeface="Arial"/>
              </a:rPr>
              <a:t>only carrion, and blood, and swine </a:t>
            </a:r>
            <a:r>
              <a:rPr dirty="0" sz="1200">
                <a:latin typeface="Arial"/>
                <a:cs typeface="Arial"/>
              </a:rPr>
              <a:t>flesh, </a:t>
            </a:r>
            <a:r>
              <a:rPr dirty="0" sz="1200" spc="-5">
                <a:latin typeface="Arial"/>
                <a:cs typeface="Arial"/>
              </a:rPr>
              <a:t>and that which hath  been immolated </a:t>
            </a:r>
            <a:r>
              <a:rPr dirty="0" sz="1200">
                <a:latin typeface="Arial"/>
                <a:cs typeface="Arial"/>
              </a:rPr>
              <a:t>to </a:t>
            </a:r>
            <a:r>
              <a:rPr dirty="0" sz="1200" spc="-5">
                <a:latin typeface="Arial"/>
                <a:cs typeface="Arial"/>
              </a:rPr>
              <a:t>(the name </a:t>
            </a:r>
            <a:r>
              <a:rPr dirty="0" sz="1200">
                <a:latin typeface="Arial"/>
                <a:cs typeface="Arial"/>
              </a:rPr>
              <a:t>of) </a:t>
            </a:r>
            <a:r>
              <a:rPr dirty="0" sz="1200" spc="-5">
                <a:latin typeface="Arial"/>
                <a:cs typeface="Arial"/>
              </a:rPr>
              <a:t>any </a:t>
            </a:r>
            <a:r>
              <a:rPr dirty="0" sz="1200">
                <a:latin typeface="Arial"/>
                <a:cs typeface="Arial"/>
              </a:rPr>
              <a:t>other than </a:t>
            </a:r>
            <a:r>
              <a:rPr dirty="0" sz="1200" spc="-5">
                <a:latin typeface="Arial"/>
                <a:cs typeface="Arial"/>
              </a:rPr>
              <a:t>Allah. But he </a:t>
            </a:r>
            <a:r>
              <a:rPr dirty="0" sz="1200" spc="-10">
                <a:latin typeface="Arial"/>
                <a:cs typeface="Arial"/>
              </a:rPr>
              <a:t>who </a:t>
            </a:r>
            <a:r>
              <a:rPr dirty="0" sz="1200" spc="-5">
                <a:latin typeface="Arial"/>
                <a:cs typeface="Arial"/>
              </a:rPr>
              <a:t>is driven </a:t>
            </a:r>
            <a:r>
              <a:rPr dirty="0" sz="1200" spc="5">
                <a:latin typeface="Arial"/>
                <a:cs typeface="Arial"/>
              </a:rPr>
              <a:t>by </a:t>
            </a:r>
            <a:r>
              <a:rPr dirty="0" sz="1200" spc="-5">
                <a:latin typeface="Arial"/>
                <a:cs typeface="Arial"/>
              </a:rPr>
              <a:t>necessity,  neither craving </a:t>
            </a:r>
            <a:r>
              <a:rPr dirty="0" sz="1200">
                <a:latin typeface="Arial"/>
                <a:cs typeface="Arial"/>
              </a:rPr>
              <a:t>nor </a:t>
            </a:r>
            <a:r>
              <a:rPr dirty="0" sz="1200" spc="-5">
                <a:latin typeface="Arial"/>
                <a:cs typeface="Arial"/>
              </a:rPr>
              <a:t>transgressing, </a:t>
            </a:r>
            <a:r>
              <a:rPr dirty="0" sz="1200">
                <a:latin typeface="Arial"/>
                <a:cs typeface="Arial"/>
              </a:rPr>
              <a:t>it </a:t>
            </a:r>
            <a:r>
              <a:rPr dirty="0" sz="1200" spc="-5">
                <a:latin typeface="Arial"/>
                <a:cs typeface="Arial"/>
              </a:rPr>
              <a:t>is </a:t>
            </a:r>
            <a:r>
              <a:rPr dirty="0" sz="1200">
                <a:latin typeface="Arial"/>
                <a:cs typeface="Arial"/>
              </a:rPr>
              <a:t>no </a:t>
            </a:r>
            <a:r>
              <a:rPr dirty="0" sz="1200" spc="-5">
                <a:latin typeface="Arial"/>
                <a:cs typeface="Arial"/>
              </a:rPr>
              <a:t>sin </a:t>
            </a:r>
            <a:r>
              <a:rPr dirty="0" sz="1200">
                <a:latin typeface="Arial"/>
                <a:cs typeface="Arial"/>
              </a:rPr>
              <a:t>for him. </a:t>
            </a:r>
            <a:r>
              <a:rPr dirty="0" sz="1200" spc="-5">
                <a:latin typeface="Arial"/>
                <a:cs typeface="Arial"/>
              </a:rPr>
              <a:t>Lo! Allah is Forgiving,</a:t>
            </a:r>
            <a:r>
              <a:rPr dirty="0" sz="1200" spc="90">
                <a:latin typeface="Arial"/>
                <a:cs typeface="Arial"/>
              </a:rPr>
              <a:t> </a:t>
            </a:r>
            <a:r>
              <a:rPr dirty="0" sz="1200">
                <a:latin typeface="Arial"/>
                <a:cs typeface="Arial"/>
              </a:rPr>
              <a:t>Merciful.</a:t>
            </a:r>
            <a:endParaRPr sz="1200">
              <a:latin typeface="Arial"/>
              <a:cs typeface="Arial"/>
            </a:endParaRPr>
          </a:p>
          <a:p>
            <a:pPr>
              <a:lnSpc>
                <a:spcPct val="100000"/>
              </a:lnSpc>
              <a:spcBef>
                <a:spcPts val="20"/>
              </a:spcBef>
            </a:pPr>
            <a:endParaRPr sz="1100">
              <a:latin typeface="Arial"/>
              <a:cs typeface="Arial"/>
            </a:endParaRPr>
          </a:p>
          <a:p>
            <a:pPr algn="r" marR="183515">
              <a:lnSpc>
                <a:spcPct val="100000"/>
              </a:lnSpc>
            </a:pPr>
            <a:r>
              <a:rPr dirty="0" baseline="1543" sz="2700" spc="-457">
                <a:latin typeface="Arial"/>
                <a:cs typeface="Arial"/>
              </a:rPr>
              <a:t>ر</a:t>
            </a:r>
            <a:r>
              <a:rPr dirty="0" baseline="-13888" sz="2700" spc="-457">
                <a:latin typeface="Arial"/>
                <a:cs typeface="Arial"/>
              </a:rPr>
              <a:t>ِ </a:t>
            </a:r>
            <a:r>
              <a:rPr dirty="0" baseline="1543" sz="2700" spc="-322">
                <a:latin typeface="Arial"/>
                <a:cs typeface="Arial"/>
              </a:rPr>
              <a:t>ان</a:t>
            </a:r>
            <a:r>
              <a:rPr dirty="0" baseline="9259" sz="2700" spc="-322">
                <a:latin typeface="Arial"/>
                <a:cs typeface="Arial"/>
              </a:rPr>
              <a:t>َّ </a:t>
            </a:r>
            <a:r>
              <a:rPr dirty="0" baseline="1543" sz="2700" spc="-419">
                <a:latin typeface="Arial"/>
                <a:cs typeface="Arial"/>
              </a:rPr>
              <a:t>لٱ </a:t>
            </a:r>
            <a:r>
              <a:rPr dirty="0" baseline="1543" sz="2700" spc="-434">
                <a:latin typeface="Arial"/>
                <a:cs typeface="Arial"/>
              </a:rPr>
              <a:t>ى</a:t>
            </a:r>
            <a:r>
              <a:rPr dirty="0" baseline="9259" sz="2700" spc="-434">
                <a:latin typeface="Arial"/>
                <a:cs typeface="Arial"/>
              </a:rPr>
              <a:t>َ</a:t>
            </a:r>
            <a:r>
              <a:rPr dirty="0" baseline="1543" sz="2700" spc="-434">
                <a:latin typeface="Arial"/>
                <a:cs typeface="Arial"/>
              </a:rPr>
              <a:t>لع</a:t>
            </a:r>
            <a:r>
              <a:rPr dirty="0" baseline="-1543" sz="2700" spc="-434">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 </a:t>
            </a:r>
            <a:r>
              <a:rPr dirty="0" baseline="1543" sz="2700" spc="-480">
                <a:latin typeface="Arial"/>
                <a:cs typeface="Arial"/>
              </a:rPr>
              <a:t>ر</a:t>
            </a:r>
            <a:r>
              <a:rPr dirty="0" baseline="-1543" sz="2700" spc="-480">
                <a:latin typeface="Arial"/>
                <a:cs typeface="Arial"/>
              </a:rPr>
              <a:t>َ </a:t>
            </a:r>
            <a:r>
              <a:rPr dirty="0" baseline="1543" sz="2700" spc="-892">
                <a:latin typeface="Arial"/>
                <a:cs typeface="Arial"/>
              </a:rPr>
              <a:t>ب</a:t>
            </a:r>
            <a:r>
              <a:rPr dirty="0" baseline="-1543" sz="2700" spc="-892">
                <a:latin typeface="Arial"/>
                <a:cs typeface="Arial"/>
              </a:rPr>
              <a:t>َ</a:t>
            </a:r>
            <a:r>
              <a:rPr dirty="0" baseline="-1543" sz="2700" spc="-232">
                <a:latin typeface="Arial"/>
                <a:cs typeface="Arial"/>
              </a:rPr>
              <a:t> </a:t>
            </a:r>
            <a:r>
              <a:rPr dirty="0" baseline="1543" sz="2700" spc="-1320">
                <a:latin typeface="Arial"/>
                <a:cs typeface="Arial"/>
              </a:rPr>
              <a:t>صْ</a:t>
            </a:r>
            <a:r>
              <a:rPr dirty="0" baseline="1543" sz="2700" spc="1170">
                <a:latin typeface="Arial"/>
                <a:cs typeface="Arial"/>
              </a:rPr>
              <a:t> </a:t>
            </a:r>
            <a:r>
              <a:rPr dirty="0" baseline="15432" sz="2700">
                <a:latin typeface="Arial"/>
                <a:cs typeface="Arial"/>
              </a:rPr>
              <a:t>َ</a:t>
            </a:r>
            <a:r>
              <a:rPr dirty="0" baseline="1543" sz="2700">
                <a:latin typeface="Arial"/>
                <a:cs typeface="Arial"/>
              </a:rPr>
              <a:t>أ </a:t>
            </a:r>
            <a:r>
              <a:rPr dirty="0" baseline="1543" sz="2700" spc="-225">
                <a:latin typeface="Arial"/>
                <a:cs typeface="Arial"/>
              </a:rPr>
              <a:t>آم</a:t>
            </a:r>
            <a:r>
              <a:rPr dirty="0" baseline="-1543" sz="2700" spc="-225">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667">
                <a:latin typeface="Arial"/>
                <a:cs typeface="Arial"/>
              </a:rPr>
              <a:t> </a:t>
            </a:r>
            <a:r>
              <a:rPr dirty="0" baseline="1543" sz="2700" spc="-337">
                <a:latin typeface="Arial"/>
                <a:cs typeface="Arial"/>
              </a:rPr>
              <a:t>ة</a:t>
            </a:r>
            <a:r>
              <a:rPr dirty="0" sz="1800" spc="-225">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1064">
                <a:latin typeface="Arial"/>
                <a:cs typeface="Arial"/>
              </a:rPr>
              <a:t>ف</a:t>
            </a:r>
            <a:r>
              <a:rPr dirty="0" sz="1800" spc="-710">
                <a:latin typeface="Arial"/>
                <a:cs typeface="Arial"/>
              </a:rPr>
              <a:t>ِ</a:t>
            </a:r>
            <a:r>
              <a:rPr dirty="0" sz="1800" spc="-40">
                <a:latin typeface="Arial"/>
                <a:cs typeface="Arial"/>
              </a:rPr>
              <a:t> </a:t>
            </a:r>
            <a:r>
              <a:rPr dirty="0" baseline="1543" sz="2700" spc="-697">
                <a:latin typeface="Arial"/>
                <a:cs typeface="Arial"/>
              </a:rPr>
              <a:t>ؽ</a:t>
            </a:r>
            <a:r>
              <a:rPr dirty="0" baseline="7716" sz="2700" spc="-697">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spc="-622">
                <a:latin typeface="Arial"/>
                <a:cs typeface="Arial"/>
              </a:rPr>
              <a:t>ٲب</a:t>
            </a:r>
            <a:r>
              <a:rPr dirty="0" baseline="-12345" sz="2700" spc="-622">
                <a:latin typeface="Arial"/>
                <a:cs typeface="Arial"/>
              </a:rPr>
              <a:t>ِ </a:t>
            </a:r>
            <a:r>
              <a:rPr dirty="0" baseline="1543" sz="2700" spc="-772">
                <a:latin typeface="Arial"/>
                <a:cs typeface="Arial"/>
              </a:rPr>
              <a:t>ب</a:t>
            </a:r>
            <a:r>
              <a:rPr dirty="0" baseline="-1543" sz="2700" spc="-772">
                <a:latin typeface="Arial"/>
                <a:cs typeface="Arial"/>
              </a:rPr>
              <a:t>َ</a:t>
            </a:r>
            <a:r>
              <a:rPr dirty="0" baseline="-1543" sz="2700" spc="780">
                <a:latin typeface="Arial"/>
                <a:cs typeface="Arial"/>
              </a:rPr>
              <a:t> </a:t>
            </a:r>
            <a:r>
              <a:rPr dirty="0" baseline="1543" sz="2700" spc="-225">
                <a:latin typeface="Arial"/>
                <a:cs typeface="Arial"/>
              </a:rPr>
              <a:t>اذ</a:t>
            </a:r>
            <a:r>
              <a:rPr dirty="0" baseline="10802" sz="2700" spc="-225">
                <a:latin typeface="Arial"/>
                <a:cs typeface="Arial"/>
              </a:rPr>
              <a:t>َ </a:t>
            </a:r>
            <a:r>
              <a:rPr dirty="0" baseline="1543" sz="2700" spc="-600">
                <a:latin typeface="Arial"/>
                <a:cs typeface="Arial"/>
              </a:rPr>
              <a:t>ع</a:t>
            </a:r>
            <a:r>
              <a:rPr dirty="0" baseline="-1543" sz="2700" spc="-600">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spc="-209">
                <a:latin typeface="Arial"/>
                <a:cs typeface="Arial"/>
              </a:rPr>
              <a:t>ٱو</a:t>
            </a:r>
            <a:r>
              <a:rPr dirty="0" baseline="-1543" sz="2700" spc="-209">
                <a:latin typeface="Arial"/>
                <a:cs typeface="Arial"/>
              </a:rPr>
              <a:t>َ </a:t>
            </a:r>
            <a:r>
              <a:rPr dirty="0" baseline="1543" sz="2700" spc="-532">
                <a:latin typeface="Arial"/>
                <a:cs typeface="Arial"/>
              </a:rPr>
              <a:t>ى</a:t>
            </a:r>
            <a:r>
              <a:rPr dirty="0" baseline="6172" sz="2700" spc="-532">
                <a:latin typeface="Arial"/>
                <a:cs typeface="Arial"/>
              </a:rPr>
              <a:t>ٰ </a:t>
            </a:r>
            <a:r>
              <a:rPr dirty="0" baseline="1543" sz="2700" spc="-322">
                <a:latin typeface="Arial"/>
                <a:cs typeface="Arial"/>
              </a:rPr>
              <a:t>د</a:t>
            </a:r>
            <a:r>
              <a:rPr dirty="0" sz="1800" spc="-215">
                <a:latin typeface="Arial"/>
                <a:cs typeface="Arial"/>
              </a:rPr>
              <a:t>َ </a:t>
            </a:r>
            <a:r>
              <a:rPr dirty="0" baseline="1543" sz="2700" spc="-359">
                <a:latin typeface="Arial"/>
                <a:cs typeface="Arial"/>
              </a:rPr>
              <a:t>هُ </a:t>
            </a:r>
            <a:r>
              <a:rPr dirty="0" baseline="1543" sz="2700" spc="-652">
                <a:latin typeface="Arial"/>
                <a:cs typeface="Arial"/>
              </a:rPr>
              <a:t>ل</a:t>
            </a:r>
            <a:r>
              <a:rPr dirty="0" baseline="12345" sz="2700" spc="-652">
                <a:latin typeface="Arial"/>
                <a:cs typeface="Arial"/>
              </a:rPr>
              <a:t>ْ </a:t>
            </a:r>
            <a:r>
              <a:rPr dirty="0" baseline="1543" sz="2700" spc="-622">
                <a:latin typeface="Arial"/>
                <a:cs typeface="Arial"/>
              </a:rPr>
              <a:t>ٲب</a:t>
            </a:r>
            <a:r>
              <a:rPr dirty="0" baseline="-12345" sz="2700" spc="-622">
                <a:latin typeface="Arial"/>
                <a:cs typeface="Arial"/>
              </a:rPr>
              <a:t>ِ </a:t>
            </a:r>
            <a:r>
              <a:rPr dirty="0" baseline="1543" sz="2700" spc="-284">
                <a:latin typeface="Arial"/>
                <a:cs typeface="Arial"/>
              </a:rPr>
              <a:t>ة</a:t>
            </a:r>
            <a:r>
              <a:rPr dirty="0" baseline="9259" sz="2700" spc="-284">
                <a:latin typeface="Arial"/>
                <a:cs typeface="Arial"/>
              </a:rPr>
              <a:t>َ </a:t>
            </a:r>
            <a:r>
              <a:rPr dirty="0" baseline="1543" sz="2700" spc="-690">
                <a:latin typeface="Arial"/>
                <a:cs typeface="Arial"/>
              </a:rPr>
              <a:t>ل</a:t>
            </a:r>
            <a:r>
              <a:rPr dirty="0" baseline="9259" sz="2700" spc="-690">
                <a:latin typeface="Arial"/>
                <a:cs typeface="Arial"/>
              </a:rPr>
              <a:t>َ </a:t>
            </a:r>
            <a:r>
              <a:rPr dirty="0" baseline="7716" sz="2700" spc="-509">
                <a:latin typeface="Arial"/>
                <a:cs typeface="Arial"/>
              </a:rPr>
              <a:t>َ</a:t>
            </a:r>
            <a:r>
              <a:rPr dirty="0" baseline="1543" sz="2700" spc="-509">
                <a:latin typeface="Arial"/>
                <a:cs typeface="Arial"/>
              </a:rPr>
              <a:t>لاض</a:t>
            </a:r>
            <a:r>
              <a:rPr dirty="0" sz="1800" spc="-340">
                <a:latin typeface="Arial"/>
                <a:cs typeface="Arial"/>
              </a:rPr>
              <a:t>َّ </a:t>
            </a:r>
            <a:r>
              <a:rPr dirty="0" baseline="1543" sz="2700" spc="-412">
                <a:latin typeface="Arial"/>
                <a:cs typeface="Arial"/>
              </a:rPr>
              <a:t>لٱ </a:t>
            </a:r>
            <a:r>
              <a:rPr dirty="0" baseline="1543" sz="2700" spc="-277">
                <a:latin typeface="Arial"/>
                <a:cs typeface="Arial"/>
              </a:rPr>
              <a:t>ا</a:t>
            </a:r>
            <a:r>
              <a:rPr dirty="0" baseline="9259" sz="2700" spc="-277">
                <a:latin typeface="Arial"/>
                <a:cs typeface="Arial"/>
              </a:rPr>
              <a:t>ْ </a:t>
            </a:r>
            <a:r>
              <a:rPr dirty="0" baseline="1543" sz="2700" spc="-345">
                <a:latin typeface="Arial"/>
                <a:cs typeface="Arial"/>
              </a:rPr>
              <a:t>وُ </a:t>
            </a:r>
            <a:r>
              <a:rPr dirty="0" baseline="1543" sz="2700" spc="-494">
                <a:latin typeface="Arial"/>
                <a:cs typeface="Arial"/>
              </a:rPr>
              <a:t>ر</a:t>
            </a:r>
            <a:r>
              <a:rPr dirty="0" baseline="-1543" sz="2700" spc="-494">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25">
                <a:latin typeface="Arial"/>
                <a:cs typeface="Arial"/>
              </a:rPr>
              <a:t> </a:t>
            </a:r>
            <a:r>
              <a:rPr dirty="0" baseline="1543" sz="2700" spc="-1005">
                <a:latin typeface="Arial"/>
                <a:cs typeface="Arial"/>
              </a:rPr>
              <a:t>ش</a:t>
            </a:r>
            <a:r>
              <a:rPr dirty="0" baseline="9259" sz="2700" spc="-1005">
                <a:latin typeface="Arial"/>
                <a:cs typeface="Arial"/>
              </a:rPr>
              <a:t>ْ</a:t>
            </a:r>
            <a:r>
              <a:rPr dirty="0" baseline="9259" sz="2700" spc="487">
                <a:latin typeface="Arial"/>
                <a:cs typeface="Arial"/>
              </a:rPr>
              <a:t> </a:t>
            </a:r>
            <a:r>
              <a:rPr dirty="0" baseline="1543" sz="2700">
                <a:latin typeface="Arial"/>
                <a:cs typeface="Arial"/>
              </a:rPr>
              <a:t>ٱ </a:t>
            </a:r>
            <a:r>
              <a:rPr dirty="0" baseline="1543" sz="2700" spc="-509">
                <a:latin typeface="Arial"/>
                <a:cs typeface="Arial"/>
              </a:rPr>
              <a:t>ن</a:t>
            </a:r>
            <a:r>
              <a:rPr dirty="0" baseline="-1543" sz="2700" spc="-509">
                <a:latin typeface="Arial"/>
                <a:cs typeface="Arial"/>
              </a:rPr>
              <a:t>َ </a:t>
            </a:r>
            <a:r>
              <a:rPr dirty="0" baseline="1543" sz="2700" spc="-232">
                <a:latin typeface="Arial"/>
                <a:cs typeface="Arial"/>
              </a:rPr>
              <a:t>ٌذ</a:t>
            </a:r>
            <a:r>
              <a:rPr dirty="0" sz="1800" spc="-155">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682">
                <a:latin typeface="Arial"/>
                <a:cs typeface="Arial"/>
              </a:rPr>
              <a:t>ك</a:t>
            </a:r>
            <a:r>
              <a:rPr dirty="0" baseline="-1543" sz="2700" spc="-682">
                <a:latin typeface="Arial"/>
                <a:cs typeface="Arial"/>
              </a:rPr>
              <a:t>َ</a:t>
            </a:r>
            <a:r>
              <a:rPr dirty="0" baseline="-1543" sz="2700" spc="-660">
                <a:latin typeface="Arial"/>
                <a:cs typeface="Arial"/>
              </a:rPr>
              <a:t> </a:t>
            </a:r>
            <a:r>
              <a:rPr dirty="0" baseline="1543" sz="2700" spc="-855">
                <a:latin typeface="Arial"/>
                <a:cs typeface="Arial"/>
              </a:rPr>
              <a:t>ئ</a:t>
            </a:r>
            <a:r>
              <a:rPr dirty="0" sz="1800" spc="-570">
                <a:latin typeface="Arial"/>
                <a:cs typeface="Arial"/>
              </a:rPr>
              <a:t>ِ</a:t>
            </a:r>
            <a:r>
              <a:rPr dirty="0" sz="1800" spc="-70">
                <a:latin typeface="Arial"/>
                <a:cs typeface="Arial"/>
              </a:rPr>
              <a:t> </a:t>
            </a:r>
            <a:r>
              <a:rPr dirty="0" baseline="1543" sz="2700" spc="-150">
                <a:latin typeface="Arial"/>
                <a:cs typeface="Arial"/>
              </a:rPr>
              <a:t>ـ</a:t>
            </a:r>
            <a:r>
              <a:rPr dirty="0" baseline="-4629" sz="2700" spc="-150">
                <a:latin typeface="Arial"/>
                <a:cs typeface="Arial"/>
              </a:rPr>
              <a:t>ٰ </a:t>
            </a:r>
            <a:r>
              <a:rPr dirty="0" baseline="9259" sz="2700" spc="-187">
                <a:latin typeface="Arial"/>
                <a:cs typeface="Arial"/>
              </a:rPr>
              <a:t>َ</a:t>
            </a:r>
            <a:r>
              <a:rPr dirty="0" baseline="1543" sz="2700" spc="-187">
                <a:latin typeface="Arial"/>
                <a:cs typeface="Arial"/>
              </a:rPr>
              <a:t>لو</a:t>
            </a:r>
            <a:r>
              <a:rPr dirty="0" baseline="18518" sz="2700" spc="-187">
                <a:latin typeface="Arial"/>
                <a:cs typeface="Arial"/>
              </a:rPr>
              <a:t>ُ</a:t>
            </a:r>
            <a:r>
              <a:rPr dirty="0" baseline="1543" sz="2700" spc="-187">
                <a:latin typeface="Arial"/>
                <a:cs typeface="Arial"/>
              </a:rPr>
              <a:t>أ</a:t>
            </a:r>
            <a:endParaRPr baseline="1543" sz="2700">
              <a:latin typeface="Arial"/>
              <a:cs typeface="Arial"/>
            </a:endParaRPr>
          </a:p>
          <a:p>
            <a:pPr algn="just" marL="179705" marR="191135">
              <a:lnSpc>
                <a:spcPts val="1380"/>
              </a:lnSpc>
              <a:spcBef>
                <a:spcPts val="1380"/>
              </a:spcBef>
            </a:pPr>
            <a:r>
              <a:rPr dirty="0" sz="1200" spc="-5">
                <a:latin typeface="Arial"/>
                <a:cs typeface="Arial"/>
              </a:rPr>
              <a:t>175. </a:t>
            </a:r>
            <a:r>
              <a:rPr dirty="0" sz="1200">
                <a:latin typeface="Arial"/>
                <a:cs typeface="Arial"/>
              </a:rPr>
              <a:t>Those </a:t>
            </a:r>
            <a:r>
              <a:rPr dirty="0" sz="1200" spc="-5">
                <a:latin typeface="Arial"/>
                <a:cs typeface="Arial"/>
              </a:rPr>
              <a:t>are they who purchase error </a:t>
            </a:r>
            <a:r>
              <a:rPr dirty="0" sz="1200">
                <a:latin typeface="Arial"/>
                <a:cs typeface="Arial"/>
              </a:rPr>
              <a:t>at </a:t>
            </a:r>
            <a:r>
              <a:rPr dirty="0" sz="1200" spc="-5">
                <a:latin typeface="Arial"/>
                <a:cs typeface="Arial"/>
              </a:rPr>
              <a:t>the price of guidance, and torment </a:t>
            </a:r>
            <a:r>
              <a:rPr dirty="0" sz="1200">
                <a:latin typeface="Arial"/>
                <a:cs typeface="Arial"/>
              </a:rPr>
              <a:t>at </a:t>
            </a:r>
            <a:r>
              <a:rPr dirty="0" sz="1200" spc="-5">
                <a:latin typeface="Arial"/>
                <a:cs typeface="Arial"/>
              </a:rPr>
              <a:t>the </a:t>
            </a:r>
            <a:r>
              <a:rPr dirty="0" sz="1200" spc="-10">
                <a:latin typeface="Arial"/>
                <a:cs typeface="Arial"/>
              </a:rPr>
              <a:t>price </a:t>
            </a:r>
            <a:r>
              <a:rPr dirty="0" sz="1200" spc="-5">
                <a:latin typeface="Arial"/>
                <a:cs typeface="Arial"/>
              </a:rPr>
              <a:t>of  pardon. How constant are they in their strife to </a:t>
            </a:r>
            <a:r>
              <a:rPr dirty="0" sz="1200">
                <a:latin typeface="Arial"/>
                <a:cs typeface="Arial"/>
              </a:rPr>
              <a:t>reach </a:t>
            </a:r>
            <a:r>
              <a:rPr dirty="0" sz="1200" spc="-5">
                <a:latin typeface="Arial"/>
                <a:cs typeface="Arial"/>
              </a:rPr>
              <a:t>the</a:t>
            </a:r>
            <a:r>
              <a:rPr dirty="0" sz="1200" spc="20">
                <a:latin typeface="Arial"/>
                <a:cs typeface="Arial"/>
              </a:rPr>
              <a:t> </a:t>
            </a:r>
            <a:r>
              <a:rPr dirty="0" sz="1200" spc="-5">
                <a:latin typeface="Arial"/>
                <a:cs typeface="Arial"/>
              </a:rPr>
              <a:t>Fire!</a:t>
            </a:r>
            <a:endParaRPr sz="1200">
              <a:latin typeface="Arial"/>
              <a:cs typeface="Arial"/>
            </a:endParaRPr>
          </a:p>
          <a:p>
            <a:pPr>
              <a:lnSpc>
                <a:spcPct val="100000"/>
              </a:lnSpc>
              <a:spcBef>
                <a:spcPts val="20"/>
              </a:spcBef>
            </a:pPr>
            <a:endParaRPr sz="1100">
              <a:latin typeface="Arial"/>
              <a:cs typeface="Arial"/>
            </a:endParaRPr>
          </a:p>
          <a:p>
            <a:pPr algn="r" marR="199390">
              <a:lnSpc>
                <a:spcPct val="100000"/>
              </a:lnSpc>
            </a:pPr>
            <a:r>
              <a:rPr dirty="0" baseline="1543" sz="2700" spc="-509">
                <a:latin typeface="Arial"/>
                <a:cs typeface="Arial"/>
              </a:rPr>
              <a:t>ن</a:t>
            </a:r>
            <a:r>
              <a:rPr dirty="0" baseline="-1543" sz="2700" spc="-509">
                <a:latin typeface="Arial"/>
                <a:cs typeface="Arial"/>
              </a:rPr>
              <a:t>َ </a:t>
            </a:r>
            <a:r>
              <a:rPr dirty="0" baseline="1543" sz="2700" spc="-450">
                <a:latin typeface="Arial"/>
                <a:cs typeface="Arial"/>
              </a:rPr>
              <a:t>و</a:t>
            </a:r>
            <a:r>
              <a:rPr dirty="0" baseline="9259" sz="2700" spc="-450">
                <a:latin typeface="Arial"/>
                <a:cs typeface="Arial"/>
              </a:rPr>
              <a:t>ُ</a:t>
            </a:r>
            <a:r>
              <a:rPr dirty="0" baseline="1543" sz="2700" spc="-450">
                <a:latin typeface="Arial"/>
                <a:cs typeface="Arial"/>
              </a:rPr>
              <a:t>قت</a:t>
            </a:r>
            <a:r>
              <a:rPr dirty="0" baseline="9259" sz="2700" spc="-450">
                <a:latin typeface="Arial"/>
                <a:cs typeface="Arial"/>
              </a:rPr>
              <a:t>َّ </a:t>
            </a:r>
            <a:r>
              <a:rPr dirty="0" baseline="1543" sz="2700" spc="-907">
                <a:latin typeface="Arial"/>
                <a:cs typeface="Arial"/>
              </a:rPr>
              <a:t>ت</a:t>
            </a:r>
            <a:r>
              <a:rPr dirty="0" baseline="6172" sz="2700" spc="-907">
                <a:latin typeface="Arial"/>
                <a:cs typeface="Arial"/>
              </a:rPr>
              <a:t>َ</a:t>
            </a:r>
            <a:r>
              <a:rPr dirty="0" baseline="6172" sz="2700" spc="532">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57">
                <a:latin typeface="Arial"/>
                <a:cs typeface="Arial"/>
              </a:rPr>
              <a:t> </a:t>
            </a:r>
            <a:r>
              <a:rPr dirty="0" baseline="10802" sz="2700" spc="-405">
                <a:latin typeface="Arial"/>
                <a:cs typeface="Arial"/>
              </a:rPr>
              <a:t>َّ</a:t>
            </a:r>
            <a:r>
              <a:rPr dirty="0" baseline="1543" sz="2700" spc="-405">
                <a:latin typeface="Arial"/>
                <a:cs typeface="Arial"/>
              </a:rPr>
              <a:t>لع</a:t>
            </a:r>
            <a:r>
              <a:rPr dirty="0" baseline="-1543" sz="2700" spc="-405">
                <a:latin typeface="Arial"/>
                <a:cs typeface="Arial"/>
              </a:rPr>
              <a:t>َ </a:t>
            </a:r>
            <a:r>
              <a:rPr dirty="0" baseline="9259" sz="2700" spc="-405">
                <a:latin typeface="Arial"/>
                <a:cs typeface="Arial"/>
              </a:rPr>
              <a:t>َ</a:t>
            </a:r>
            <a:r>
              <a:rPr dirty="0" baseline="1543" sz="2700" spc="-405">
                <a:latin typeface="Arial"/>
                <a:cs typeface="Arial"/>
              </a:rPr>
              <a:t>ل </a:t>
            </a:r>
            <a:r>
              <a:rPr dirty="0" baseline="1543" sz="2700" spc="-352">
                <a:latin typeface="Arial"/>
                <a:cs typeface="Arial"/>
              </a:rPr>
              <a:t>م</a:t>
            </a:r>
            <a:r>
              <a:rPr dirty="0" baseline="-3086" sz="2700" spc="-352">
                <a:latin typeface="Arial"/>
                <a:cs typeface="Arial"/>
              </a:rPr>
              <a:t>ْ </a:t>
            </a:r>
            <a:r>
              <a:rPr dirty="0" baseline="1543" sz="2700" spc="-765">
                <a:latin typeface="Arial"/>
                <a:cs typeface="Arial"/>
              </a:rPr>
              <a:t>ك</a:t>
            </a:r>
            <a:r>
              <a:rPr dirty="0" baseline="9259" sz="2700" spc="-765">
                <a:latin typeface="Arial"/>
                <a:cs typeface="Arial"/>
              </a:rPr>
              <a:t>ُ</a:t>
            </a:r>
            <a:r>
              <a:rPr dirty="0" baseline="9259" sz="2700" spc="172">
                <a:latin typeface="Arial"/>
                <a:cs typeface="Arial"/>
              </a:rPr>
              <a:t> </a:t>
            </a:r>
            <a:r>
              <a:rPr dirty="0" sz="1800" spc="-425">
                <a:latin typeface="Arial"/>
                <a:cs typeface="Arial"/>
              </a:rPr>
              <a:t>ِ</a:t>
            </a:r>
            <a:r>
              <a:rPr dirty="0" baseline="1543" sz="2700" spc="-637">
                <a:latin typeface="Arial"/>
                <a:cs typeface="Arial"/>
              </a:rPr>
              <a:t>لبْ </a:t>
            </a:r>
            <a:r>
              <a:rPr dirty="0" baseline="1543" sz="2700" spc="-757">
                <a:latin typeface="Arial"/>
                <a:cs typeface="Arial"/>
              </a:rPr>
              <a:t>ق</a:t>
            </a:r>
            <a:r>
              <a:rPr dirty="0" baseline="6172" sz="2700" spc="-757">
                <a:latin typeface="Arial"/>
                <a:cs typeface="Arial"/>
              </a:rPr>
              <a:t>َ</a:t>
            </a:r>
            <a:r>
              <a:rPr dirty="0" baseline="6172" sz="2700" spc="667">
                <a:latin typeface="Arial"/>
                <a:cs typeface="Arial"/>
              </a:rPr>
              <a:t> </a:t>
            </a:r>
            <a:r>
              <a:rPr dirty="0" baseline="1543" sz="2700" spc="-240">
                <a:latin typeface="Arial"/>
                <a:cs typeface="Arial"/>
              </a:rPr>
              <a:t>نم</a:t>
            </a:r>
            <a:r>
              <a:rPr dirty="0" sz="1800" spc="-160">
                <a:latin typeface="Arial"/>
                <a:cs typeface="Arial"/>
              </a:rPr>
              <a:t>ِ </a:t>
            </a:r>
            <a:r>
              <a:rPr dirty="0" baseline="1543" sz="2700" spc="-509">
                <a:latin typeface="Arial"/>
                <a:cs typeface="Arial"/>
              </a:rPr>
              <a:t>ن</a:t>
            </a:r>
            <a:r>
              <a:rPr dirty="0" baseline="-1543" sz="2700" spc="-509">
                <a:latin typeface="Arial"/>
                <a:cs typeface="Arial"/>
              </a:rPr>
              <a:t>َ </a:t>
            </a:r>
            <a:r>
              <a:rPr dirty="0" baseline="1543" sz="2700" spc="-232">
                <a:latin typeface="Arial"/>
                <a:cs typeface="Arial"/>
              </a:rPr>
              <a:t>ٌذ</a:t>
            </a:r>
            <a:r>
              <a:rPr dirty="0" sz="1800" spc="-155">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509">
                <a:latin typeface="Arial"/>
                <a:cs typeface="Arial"/>
              </a:rPr>
              <a:t>ىل</a:t>
            </a:r>
            <a:r>
              <a:rPr dirty="0" baseline="9259" sz="2700" spc="-509">
                <a:latin typeface="Arial"/>
                <a:cs typeface="Arial"/>
              </a:rPr>
              <a:t>َ </a:t>
            </a:r>
            <a:r>
              <a:rPr dirty="0" baseline="1543" sz="2700" spc="-607">
                <a:latin typeface="Arial"/>
                <a:cs typeface="Arial"/>
              </a:rPr>
              <a:t>ع</a:t>
            </a:r>
            <a:r>
              <a:rPr dirty="0" baseline="-1543" sz="2700" spc="-607">
                <a:latin typeface="Arial"/>
                <a:cs typeface="Arial"/>
              </a:rPr>
              <a:t>َ </a:t>
            </a:r>
            <a:r>
              <a:rPr dirty="0" baseline="1543" sz="2700" spc="-772">
                <a:latin typeface="Arial"/>
                <a:cs typeface="Arial"/>
              </a:rPr>
              <a:t>ب</a:t>
            </a:r>
            <a:r>
              <a:rPr dirty="0" baseline="-1543" sz="2700" spc="-772">
                <a:latin typeface="Arial"/>
                <a:cs typeface="Arial"/>
              </a:rPr>
              <a:t>َ</a:t>
            </a:r>
            <a:r>
              <a:rPr dirty="0" baseline="-1543" sz="2700" spc="787">
                <a:latin typeface="Arial"/>
                <a:cs typeface="Arial"/>
              </a:rPr>
              <a:t> </a:t>
            </a:r>
            <a:r>
              <a:rPr dirty="0" sz="1800" spc="-465">
                <a:latin typeface="Arial"/>
                <a:cs typeface="Arial"/>
              </a:rPr>
              <a:t>ِ</a:t>
            </a:r>
            <a:r>
              <a:rPr dirty="0" baseline="1543" sz="2700" spc="-697">
                <a:latin typeface="Arial"/>
                <a:cs typeface="Arial"/>
              </a:rPr>
              <a:t>تك</a:t>
            </a:r>
            <a:r>
              <a:rPr dirty="0" baseline="9259" sz="2700" spc="-697">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719">
                <a:latin typeface="Arial"/>
                <a:cs typeface="Arial"/>
              </a:rPr>
              <a:t>ك</a:t>
            </a:r>
            <a:r>
              <a:rPr dirty="0" baseline="6172" sz="2700" spc="-719">
                <a:latin typeface="Arial"/>
                <a:cs typeface="Arial"/>
              </a:rPr>
              <a:t>َ </a:t>
            </a:r>
            <a:r>
              <a:rPr dirty="0" baseline="1543" sz="2700" spc="-434">
                <a:latin typeface="Arial"/>
                <a:cs typeface="Arial"/>
              </a:rPr>
              <a:t>م</a:t>
            </a:r>
            <a:r>
              <a:rPr dirty="0" baseline="-4629" sz="2700" spc="-434">
                <a:latin typeface="Arial"/>
                <a:cs typeface="Arial"/>
              </a:rPr>
              <a:t>ُ </a:t>
            </a:r>
            <a:r>
              <a:rPr dirty="0" baseline="1543" sz="2700" spc="15">
                <a:latin typeface="Arial"/>
                <a:cs typeface="Arial"/>
              </a:rPr>
              <a:t>اٌ</a:t>
            </a:r>
            <a:r>
              <a:rPr dirty="0" baseline="-1543" sz="2700" spc="15">
                <a:latin typeface="Arial"/>
                <a:cs typeface="Arial"/>
              </a:rPr>
              <a:t>َ </a:t>
            </a:r>
            <a:r>
              <a:rPr dirty="0" baseline="1543" sz="2700" spc="-914">
                <a:latin typeface="Arial"/>
                <a:cs typeface="Arial"/>
              </a:rPr>
              <a:t>صِّ</a:t>
            </a:r>
            <a:r>
              <a:rPr dirty="0" baseline="1543" sz="2700" spc="1320">
                <a:latin typeface="Arial"/>
                <a:cs typeface="Arial"/>
              </a:rPr>
              <a:t> </a:t>
            </a:r>
            <a:r>
              <a:rPr dirty="0" baseline="1543" sz="2700" spc="-412">
                <a:latin typeface="Arial"/>
                <a:cs typeface="Arial"/>
              </a:rPr>
              <a:t>لٱ </a:t>
            </a:r>
            <a:r>
              <a:rPr dirty="0" baseline="1543" sz="2700" spc="-427">
                <a:latin typeface="Arial"/>
                <a:cs typeface="Arial"/>
              </a:rPr>
              <a:t>م</a:t>
            </a:r>
            <a:r>
              <a:rPr dirty="0" baseline="-4629" sz="2700" spc="-427">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1543" sz="2700">
                <a:latin typeface="Arial"/>
                <a:cs typeface="Arial"/>
              </a:rPr>
              <a:t>ٌْ </a:t>
            </a:r>
            <a:r>
              <a:rPr dirty="0" baseline="9259" sz="2700" spc="-509">
                <a:latin typeface="Arial"/>
                <a:cs typeface="Arial"/>
              </a:rPr>
              <a:t>َ</a:t>
            </a:r>
            <a:r>
              <a:rPr dirty="0" baseline="1543" sz="2700" spc="-509">
                <a:latin typeface="Arial"/>
                <a:cs typeface="Arial"/>
              </a:rPr>
              <a:t>لع</a:t>
            </a:r>
            <a:r>
              <a:rPr dirty="0" baseline="-1543" sz="2700" spc="-509">
                <a:latin typeface="Arial"/>
                <a:cs typeface="Arial"/>
              </a:rPr>
              <a:t>َ </a:t>
            </a:r>
            <a:r>
              <a:rPr dirty="0" baseline="1543" sz="2700" spc="-780">
                <a:latin typeface="Arial"/>
                <a:cs typeface="Arial"/>
              </a:rPr>
              <a:t>ب</a:t>
            </a:r>
            <a:r>
              <a:rPr dirty="0" baseline="-1543" sz="2700" spc="-780">
                <a:latin typeface="Arial"/>
                <a:cs typeface="Arial"/>
              </a:rPr>
              <a:t>َ</a:t>
            </a:r>
            <a:r>
              <a:rPr dirty="0" baseline="-1543" sz="2700" spc="787">
                <a:latin typeface="Arial"/>
                <a:cs typeface="Arial"/>
              </a:rPr>
              <a:t> </a:t>
            </a:r>
            <a:r>
              <a:rPr dirty="0" baseline="1543" sz="2700" spc="-960">
                <a:latin typeface="Arial"/>
                <a:cs typeface="Arial"/>
              </a:rPr>
              <a:t>ت</a:t>
            </a:r>
            <a:r>
              <a:rPr dirty="0" sz="1800" spc="-640">
                <a:latin typeface="Arial"/>
                <a:cs typeface="Arial"/>
              </a:rPr>
              <a:t>ِ</a:t>
            </a:r>
            <a:r>
              <a:rPr dirty="0" sz="1800" spc="-65">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960">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367">
                <a:latin typeface="Arial"/>
                <a:cs typeface="Arial"/>
              </a:rPr>
              <a:t>م</a:t>
            </a:r>
            <a:r>
              <a:rPr dirty="0" baseline="-1543" sz="2700" spc="-367">
                <a:latin typeface="Arial"/>
                <a:cs typeface="Arial"/>
              </a:rPr>
              <a:t>َ </a:t>
            </a:r>
            <a:r>
              <a:rPr dirty="0" baseline="1543" sz="2700">
                <a:latin typeface="Arial"/>
                <a:cs typeface="Arial"/>
              </a:rPr>
              <a:t>آ </a:t>
            </a:r>
            <a:r>
              <a:rPr dirty="0" baseline="1543" sz="2700" spc="-494">
                <a:latin typeface="Arial"/>
                <a:cs typeface="Arial"/>
              </a:rPr>
              <a:t>ن</a:t>
            </a:r>
            <a:r>
              <a:rPr dirty="0" baseline="-1543" sz="2700" spc="-494">
                <a:latin typeface="Arial"/>
                <a:cs typeface="Arial"/>
              </a:rPr>
              <a:t>َ </a:t>
            </a:r>
            <a:r>
              <a:rPr dirty="0" baseline="1543" sz="2700" spc="-232">
                <a:latin typeface="Arial"/>
                <a:cs typeface="Arial"/>
              </a:rPr>
              <a:t>ٌذ</a:t>
            </a:r>
            <a:r>
              <a:rPr dirty="0" sz="1800" spc="-155">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202">
                <a:latin typeface="Arial"/>
                <a:cs typeface="Arial"/>
              </a:rPr>
              <a:t>اه</a:t>
            </a:r>
            <a:r>
              <a:rPr dirty="0" baseline="-1543" sz="2700" spc="-202">
                <a:latin typeface="Arial"/>
                <a:cs typeface="Arial"/>
              </a:rPr>
              <a:t>َ </a:t>
            </a:r>
            <a:r>
              <a:rPr dirty="0" baseline="1543" sz="2700">
                <a:latin typeface="Arial"/>
                <a:cs typeface="Arial"/>
              </a:rPr>
              <a:t>ٌ</a:t>
            </a:r>
            <a:r>
              <a:rPr dirty="0" sz="1800">
                <a:latin typeface="Arial"/>
                <a:cs typeface="Arial"/>
              </a:rPr>
              <a:t>ُّ</a:t>
            </a:r>
            <a:r>
              <a:rPr dirty="0" sz="1800" spc="-225">
                <a:latin typeface="Arial"/>
                <a:cs typeface="Arial"/>
              </a:rPr>
              <a:t> </a:t>
            </a:r>
            <a:r>
              <a:rPr dirty="0" baseline="15432" sz="2700" spc="-187">
                <a:latin typeface="Arial"/>
                <a:cs typeface="Arial"/>
              </a:rPr>
              <a:t>َ</a:t>
            </a:r>
            <a:r>
              <a:rPr dirty="0" baseline="1543" sz="2700" spc="-187">
                <a:latin typeface="Arial"/>
                <a:cs typeface="Arial"/>
              </a:rPr>
              <a:t>ؤٌ</a:t>
            </a:r>
            <a:endParaRPr baseline="1543" sz="2700">
              <a:latin typeface="Arial"/>
              <a:cs typeface="Arial"/>
            </a:endParaRPr>
          </a:p>
          <a:p>
            <a:pPr algn="just" marL="179705" marR="182245">
              <a:lnSpc>
                <a:spcPts val="1380"/>
              </a:lnSpc>
              <a:spcBef>
                <a:spcPts val="1390"/>
              </a:spcBef>
              <a:buAutoNum type="arabicPeriod" startAt="183"/>
              <a:tabLst>
                <a:tab pos="541020" algn="l"/>
              </a:tabLst>
            </a:pPr>
            <a:r>
              <a:rPr dirty="0" sz="1200">
                <a:latin typeface="Arial"/>
                <a:cs typeface="Arial"/>
              </a:rPr>
              <a:t>O </a:t>
            </a:r>
            <a:r>
              <a:rPr dirty="0" sz="1200" spc="-10">
                <a:latin typeface="Arial"/>
                <a:cs typeface="Arial"/>
              </a:rPr>
              <a:t>ye who </a:t>
            </a:r>
            <a:r>
              <a:rPr dirty="0" sz="1200" spc="-5">
                <a:latin typeface="Arial"/>
                <a:cs typeface="Arial"/>
              </a:rPr>
              <a:t>believe! Fasting is prescribed </a:t>
            </a:r>
            <a:r>
              <a:rPr dirty="0" sz="1200">
                <a:latin typeface="Arial"/>
                <a:cs typeface="Arial"/>
              </a:rPr>
              <a:t>for </a:t>
            </a:r>
            <a:r>
              <a:rPr dirty="0" sz="1200" spc="-5">
                <a:latin typeface="Arial"/>
                <a:cs typeface="Arial"/>
              </a:rPr>
              <a:t>you, even as </a:t>
            </a:r>
            <a:r>
              <a:rPr dirty="0" sz="1200" spc="20">
                <a:latin typeface="Arial"/>
                <a:cs typeface="Arial"/>
              </a:rPr>
              <a:t>it </a:t>
            </a:r>
            <a:r>
              <a:rPr dirty="0" sz="1200" spc="-10">
                <a:latin typeface="Arial"/>
                <a:cs typeface="Arial"/>
              </a:rPr>
              <a:t>was </a:t>
            </a:r>
            <a:r>
              <a:rPr dirty="0" sz="1200" spc="-5">
                <a:latin typeface="Arial"/>
                <a:cs typeface="Arial"/>
              </a:rPr>
              <a:t>prescribed </a:t>
            </a:r>
            <a:r>
              <a:rPr dirty="0" sz="1200">
                <a:latin typeface="Arial"/>
                <a:cs typeface="Arial"/>
              </a:rPr>
              <a:t>for </a:t>
            </a:r>
            <a:r>
              <a:rPr dirty="0" sz="1200" spc="-5">
                <a:latin typeface="Arial"/>
                <a:cs typeface="Arial"/>
              </a:rPr>
              <a:t>those  before you that </a:t>
            </a:r>
            <a:r>
              <a:rPr dirty="0" sz="1200" spc="-10">
                <a:latin typeface="Arial"/>
                <a:cs typeface="Arial"/>
              </a:rPr>
              <a:t>ye </a:t>
            </a:r>
            <a:r>
              <a:rPr dirty="0" sz="1200">
                <a:latin typeface="Arial"/>
                <a:cs typeface="Arial"/>
              </a:rPr>
              <a:t>may </a:t>
            </a:r>
            <a:r>
              <a:rPr dirty="0" sz="1200" spc="-5">
                <a:latin typeface="Arial"/>
                <a:cs typeface="Arial"/>
              </a:rPr>
              <a:t>ward </a:t>
            </a:r>
            <a:r>
              <a:rPr dirty="0" sz="1200">
                <a:latin typeface="Arial"/>
                <a:cs typeface="Arial"/>
              </a:rPr>
              <a:t>off</a:t>
            </a:r>
            <a:r>
              <a:rPr dirty="0" sz="1200" spc="20">
                <a:latin typeface="Arial"/>
                <a:cs typeface="Arial"/>
              </a:rPr>
              <a:t> </a:t>
            </a:r>
            <a:r>
              <a:rPr dirty="0" sz="1200" spc="-5">
                <a:latin typeface="Arial"/>
                <a:cs typeface="Arial"/>
              </a:rPr>
              <a:t>evil)</a:t>
            </a:r>
            <a:endParaRPr sz="1200">
              <a:latin typeface="Arial"/>
              <a:cs typeface="Arial"/>
            </a:endParaRPr>
          </a:p>
          <a:p>
            <a:pPr>
              <a:lnSpc>
                <a:spcPct val="100000"/>
              </a:lnSpc>
              <a:spcBef>
                <a:spcPts val="55"/>
              </a:spcBef>
              <a:buFont typeface="Arial"/>
              <a:buAutoNum type="arabicPeriod" startAt="183"/>
            </a:pPr>
            <a:endParaRPr sz="1300">
              <a:latin typeface="Arial"/>
              <a:cs typeface="Arial"/>
            </a:endParaRPr>
          </a:p>
          <a:p>
            <a:pPr algn="r" marL="362585" marR="182245" indent="412750">
              <a:lnSpc>
                <a:spcPts val="2000"/>
              </a:lnSpc>
            </a:pPr>
            <a:r>
              <a:rPr dirty="0" baseline="3086" sz="2700" spc="-494">
                <a:latin typeface="Arial"/>
                <a:cs typeface="Arial"/>
              </a:rPr>
              <a:t>ن</a:t>
            </a:r>
            <a:r>
              <a:rPr dirty="0" sz="1800" spc="-330">
                <a:latin typeface="Arial"/>
                <a:cs typeface="Arial"/>
              </a:rPr>
              <a:t>َ </a:t>
            </a:r>
            <a:r>
              <a:rPr dirty="0" baseline="3086" sz="2700" spc="-232">
                <a:latin typeface="Arial"/>
                <a:cs typeface="Arial"/>
              </a:rPr>
              <a:t>ٌذ</a:t>
            </a:r>
            <a:r>
              <a:rPr dirty="0" baseline="1543" sz="2700" spc="-232">
                <a:latin typeface="Arial"/>
                <a:cs typeface="Arial"/>
              </a:rPr>
              <a:t>ِ </a:t>
            </a:r>
            <a:r>
              <a:rPr dirty="0" baseline="13888" sz="2700" spc="-209">
                <a:latin typeface="Arial"/>
                <a:cs typeface="Arial"/>
              </a:rPr>
              <a:t>َّ</a:t>
            </a:r>
            <a:r>
              <a:rPr dirty="0" baseline="3086" sz="2700" spc="-209">
                <a:latin typeface="Arial"/>
                <a:cs typeface="Arial"/>
              </a:rPr>
              <a:t>لٱ </a:t>
            </a:r>
            <a:r>
              <a:rPr dirty="0" baseline="3086" sz="2700" spc="-509">
                <a:latin typeface="Arial"/>
                <a:cs typeface="Arial"/>
              </a:rPr>
              <a:t>ىل</a:t>
            </a:r>
            <a:r>
              <a:rPr dirty="0" baseline="10802" sz="2700" spc="-509">
                <a:latin typeface="Arial"/>
                <a:cs typeface="Arial"/>
              </a:rPr>
              <a:t>َ </a:t>
            </a:r>
            <a:r>
              <a:rPr dirty="0" baseline="3086" sz="2700" spc="-607">
                <a:latin typeface="Arial"/>
                <a:cs typeface="Arial"/>
              </a:rPr>
              <a:t>ع</a:t>
            </a:r>
            <a:r>
              <a:rPr dirty="0" sz="1800" spc="-405">
                <a:latin typeface="Arial"/>
                <a:cs typeface="Arial"/>
              </a:rPr>
              <a:t>َ </a:t>
            </a:r>
            <a:r>
              <a:rPr dirty="0" baseline="3086" sz="2700" spc="-307">
                <a:latin typeface="Arial"/>
                <a:cs typeface="Arial"/>
              </a:rPr>
              <a:t>و</a:t>
            </a:r>
            <a:r>
              <a:rPr dirty="0" sz="1800" spc="-204">
                <a:latin typeface="Arial"/>
                <a:cs typeface="Arial"/>
              </a:rPr>
              <a:t>َ </a:t>
            </a:r>
            <a:r>
              <a:rPr dirty="0" baseline="3086" sz="2700" spc="-494">
                <a:latin typeface="Arial"/>
                <a:cs typeface="Arial"/>
              </a:rPr>
              <a:t>ر</a:t>
            </a:r>
            <a:r>
              <a:rPr dirty="0" sz="1800" spc="-330">
                <a:latin typeface="Arial"/>
                <a:cs typeface="Arial"/>
              </a:rPr>
              <a:t>َ </a:t>
            </a:r>
            <a:r>
              <a:rPr dirty="0" baseline="3086" sz="2700" spc="-592">
                <a:latin typeface="Arial"/>
                <a:cs typeface="Arial"/>
              </a:rPr>
              <a:t>خ</a:t>
            </a:r>
            <a:r>
              <a:rPr dirty="0" baseline="7716" sz="2700" spc="-592">
                <a:latin typeface="Arial"/>
                <a:cs typeface="Arial"/>
              </a:rPr>
              <a:t>َ </a:t>
            </a:r>
            <a:r>
              <a:rPr dirty="0" baseline="20061" sz="2700">
                <a:latin typeface="Arial"/>
                <a:cs typeface="Arial"/>
              </a:rPr>
              <a:t>ُ</a:t>
            </a:r>
            <a:r>
              <a:rPr dirty="0" baseline="3086" sz="2700">
                <a:latin typeface="Arial"/>
                <a:cs typeface="Arial"/>
              </a:rPr>
              <a:t>أ </a:t>
            </a:r>
            <a:r>
              <a:rPr dirty="0" baseline="3086" sz="2700" spc="-322">
                <a:latin typeface="Arial"/>
                <a:cs typeface="Arial"/>
              </a:rPr>
              <a:t>م</a:t>
            </a:r>
            <a:r>
              <a:rPr dirty="0" baseline="-12345" sz="2700" spc="-322">
                <a:latin typeface="Arial"/>
                <a:cs typeface="Arial"/>
              </a:rPr>
              <a:t>ٍ </a:t>
            </a:r>
            <a:r>
              <a:rPr dirty="0" baseline="3086" sz="2700" spc="7">
                <a:latin typeface="Arial"/>
                <a:cs typeface="Arial"/>
              </a:rPr>
              <a:t>اٌَّ </a:t>
            </a:r>
            <a:r>
              <a:rPr dirty="0" baseline="16975" sz="2700">
                <a:latin typeface="Arial"/>
                <a:cs typeface="Arial"/>
              </a:rPr>
              <a:t>َ</a:t>
            </a:r>
            <a:r>
              <a:rPr dirty="0" baseline="3086" sz="2700">
                <a:latin typeface="Arial"/>
                <a:cs typeface="Arial"/>
              </a:rPr>
              <a:t>أ </a:t>
            </a:r>
            <a:r>
              <a:rPr dirty="0" baseline="3086" sz="2700" spc="-465">
                <a:latin typeface="Arial"/>
                <a:cs typeface="Arial"/>
              </a:rPr>
              <a:t>نْ  </a:t>
            </a:r>
            <a:r>
              <a:rPr dirty="0" baseline="3086" sz="2700" spc="-254">
                <a:latin typeface="Arial"/>
                <a:cs typeface="Arial"/>
              </a:rPr>
              <a:t>مِّ  </a:t>
            </a:r>
            <a:r>
              <a:rPr dirty="0" baseline="9259" sz="2700" spc="-142">
                <a:latin typeface="Arial"/>
                <a:cs typeface="Arial"/>
              </a:rPr>
              <a:t>ٌ</a:t>
            </a:r>
            <a:r>
              <a:rPr dirty="0" baseline="3086" sz="2700" spc="-142">
                <a:latin typeface="Arial"/>
                <a:cs typeface="Arial"/>
              </a:rPr>
              <a:t>ةد</a:t>
            </a:r>
            <a:r>
              <a:rPr dirty="0" baseline="4629" sz="2700" spc="-142">
                <a:latin typeface="Arial"/>
                <a:cs typeface="Arial"/>
              </a:rPr>
              <a:t>َّ </a:t>
            </a:r>
            <a:r>
              <a:rPr dirty="0" baseline="3086" sz="2700" spc="-622">
                <a:latin typeface="Arial"/>
                <a:cs typeface="Arial"/>
              </a:rPr>
              <a:t>ع</a:t>
            </a:r>
            <a:r>
              <a:rPr dirty="0" baseline="1543" sz="2700" spc="-622">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75">
                <a:latin typeface="Arial"/>
                <a:cs typeface="Arial"/>
              </a:rPr>
              <a:t> </a:t>
            </a:r>
            <a:r>
              <a:rPr dirty="0" baseline="3086" sz="2700" spc="-465">
                <a:latin typeface="Arial"/>
                <a:cs typeface="Arial"/>
              </a:rPr>
              <a:t>ر</a:t>
            </a:r>
            <a:r>
              <a:rPr dirty="0" baseline="-9259" sz="2700" spc="-465">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120">
                <a:latin typeface="Arial"/>
                <a:cs typeface="Arial"/>
              </a:rPr>
              <a:t> </a:t>
            </a:r>
            <a:r>
              <a:rPr dirty="0" baseline="3086" sz="2700" spc="-982">
                <a:latin typeface="Arial"/>
                <a:cs typeface="Arial"/>
              </a:rPr>
              <a:t>س</a:t>
            </a:r>
            <a:r>
              <a:rPr dirty="0" sz="1800" spc="-655">
                <a:latin typeface="Arial"/>
                <a:cs typeface="Arial"/>
              </a:rPr>
              <a:t>َ</a:t>
            </a:r>
            <a:r>
              <a:rPr dirty="0" sz="1800" spc="800">
                <a:latin typeface="Arial"/>
                <a:cs typeface="Arial"/>
              </a:rPr>
              <a:t> </a:t>
            </a:r>
            <a:r>
              <a:rPr dirty="0" baseline="3086" sz="2700" spc="-532">
                <a:latin typeface="Arial"/>
                <a:cs typeface="Arial"/>
              </a:rPr>
              <a:t>ى</a:t>
            </a:r>
            <a:r>
              <a:rPr dirty="0" baseline="7716" sz="2700" spc="-532">
                <a:latin typeface="Arial"/>
                <a:cs typeface="Arial"/>
              </a:rPr>
              <a:t>ٰ </a:t>
            </a:r>
            <a:r>
              <a:rPr dirty="0" baseline="10802" sz="2700" spc="-509">
                <a:latin typeface="Arial"/>
                <a:cs typeface="Arial"/>
              </a:rPr>
              <a:t>َ</a:t>
            </a:r>
            <a:r>
              <a:rPr dirty="0" baseline="3086" sz="2700" spc="-509">
                <a:latin typeface="Arial"/>
                <a:cs typeface="Arial"/>
              </a:rPr>
              <a:t>لع</a:t>
            </a:r>
            <a:r>
              <a:rPr dirty="0" sz="1800" spc="-340">
                <a:latin typeface="Arial"/>
                <a:cs typeface="Arial"/>
              </a:rPr>
              <a:t>َ </a:t>
            </a:r>
            <a:r>
              <a:rPr dirty="0" baseline="3086" sz="2700" spc="-277">
                <a:latin typeface="Arial"/>
                <a:cs typeface="Arial"/>
              </a:rPr>
              <a:t>وْ </a:t>
            </a:r>
            <a:r>
              <a:rPr dirty="0" baseline="16975" sz="2700">
                <a:latin typeface="Arial"/>
                <a:cs typeface="Arial"/>
              </a:rPr>
              <a:t>َ</a:t>
            </a:r>
            <a:r>
              <a:rPr dirty="0" baseline="3086" sz="2700">
                <a:latin typeface="Arial"/>
                <a:cs typeface="Arial"/>
              </a:rPr>
              <a:t>أ </a:t>
            </a:r>
            <a:r>
              <a:rPr dirty="0" baseline="12345" sz="2700" spc="-262">
                <a:latin typeface="Arial"/>
                <a:cs typeface="Arial"/>
              </a:rPr>
              <a:t>ً</a:t>
            </a:r>
            <a:r>
              <a:rPr dirty="0" baseline="3086" sz="2700" spc="-262">
                <a:latin typeface="Arial"/>
                <a:cs typeface="Arial"/>
              </a:rPr>
              <a:t>اضٌر</a:t>
            </a:r>
            <a:r>
              <a:rPr dirty="0" baseline="-10802" sz="2700" spc="-262">
                <a:latin typeface="Arial"/>
                <a:cs typeface="Arial"/>
              </a:rPr>
              <a:t>ِ </a:t>
            </a:r>
            <a:r>
              <a:rPr dirty="0" baseline="3086" sz="2700" spc="-254">
                <a:latin typeface="Arial"/>
                <a:cs typeface="Arial"/>
              </a:rPr>
              <a:t>مَّ  </a:t>
            </a:r>
            <a:r>
              <a:rPr dirty="0" baseline="3086" sz="2700" spc="-502">
                <a:latin typeface="Arial"/>
                <a:cs typeface="Arial"/>
              </a:rPr>
              <a:t>مك</a:t>
            </a:r>
            <a:r>
              <a:rPr dirty="0" baseline="10802" sz="2700" spc="-502">
                <a:latin typeface="Arial"/>
                <a:cs typeface="Arial"/>
              </a:rPr>
              <a:t>ُ </a:t>
            </a:r>
            <a:r>
              <a:rPr dirty="0" baseline="3086" sz="2700" spc="-494">
                <a:latin typeface="Arial"/>
                <a:cs typeface="Arial"/>
              </a:rPr>
              <a:t>نم</a:t>
            </a:r>
            <a:r>
              <a:rPr dirty="0" baseline="1543" sz="2700" spc="-494">
                <a:latin typeface="Arial"/>
                <a:cs typeface="Arial"/>
              </a:rPr>
              <a:t>ِ </a:t>
            </a:r>
            <a:r>
              <a:rPr dirty="0" baseline="3086" sz="2700" spc="-494">
                <a:latin typeface="Arial"/>
                <a:cs typeface="Arial"/>
              </a:rPr>
              <a:t>ن</a:t>
            </a:r>
            <a:r>
              <a:rPr dirty="0" sz="1800" spc="-330">
                <a:latin typeface="Arial"/>
                <a:cs typeface="Arial"/>
              </a:rPr>
              <a:t>َ </a:t>
            </a:r>
            <a:r>
              <a:rPr dirty="0" baseline="3086" sz="2700" spc="-472">
                <a:latin typeface="Arial"/>
                <a:cs typeface="Arial"/>
              </a:rPr>
              <a:t>اك</a:t>
            </a:r>
            <a:r>
              <a:rPr dirty="0" baseline="7716" sz="2700" spc="-472">
                <a:latin typeface="Arial"/>
                <a:cs typeface="Arial"/>
              </a:rPr>
              <a:t>َ </a:t>
            </a:r>
            <a:r>
              <a:rPr dirty="0" baseline="3086" sz="2700" spc="-240">
                <a:latin typeface="Arial"/>
                <a:cs typeface="Arial"/>
              </a:rPr>
              <a:t>نم</a:t>
            </a:r>
            <a:r>
              <a:rPr dirty="0" sz="1800" spc="-160">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75">
                <a:latin typeface="Arial"/>
                <a:cs typeface="Arial"/>
              </a:rPr>
              <a:t> </a:t>
            </a:r>
            <a:r>
              <a:rPr dirty="0" baseline="3086" sz="2700" spc="-869">
                <a:latin typeface="Arial"/>
                <a:cs typeface="Arial"/>
              </a:rPr>
              <a:t>تٍ</a:t>
            </a:r>
            <a:r>
              <a:rPr dirty="0" baseline="3086" sz="2700" spc="1005">
                <a:latin typeface="Arial"/>
                <a:cs typeface="Arial"/>
              </a:rPr>
              <a:t> </a:t>
            </a:r>
            <a:r>
              <a:rPr dirty="0" baseline="3086" sz="2700" spc="-217">
                <a:latin typeface="Arial"/>
                <a:cs typeface="Arial"/>
              </a:rPr>
              <a:t>ادَ </a:t>
            </a:r>
            <a:r>
              <a:rPr dirty="0" baseline="3086" sz="2700" spc="-240">
                <a:latin typeface="Arial"/>
                <a:cs typeface="Arial"/>
              </a:rPr>
              <a:t>ود</a:t>
            </a:r>
            <a:r>
              <a:rPr dirty="0" baseline="6172" sz="2700" spc="-240">
                <a:latin typeface="Arial"/>
                <a:cs typeface="Arial"/>
              </a:rPr>
              <a:t>ُ </a:t>
            </a:r>
            <a:r>
              <a:rPr dirty="0" baseline="3086" sz="2700" spc="-569">
                <a:latin typeface="Arial"/>
                <a:cs typeface="Arial"/>
              </a:rPr>
              <a:t>عْ </a:t>
            </a:r>
            <a:r>
              <a:rPr dirty="0" baseline="3086" sz="2700" spc="-254">
                <a:latin typeface="Arial"/>
                <a:cs typeface="Arial"/>
              </a:rPr>
              <a:t>مَّ</a:t>
            </a:r>
            <a:r>
              <a:rPr dirty="0" baseline="3086" sz="2700" spc="89">
                <a:latin typeface="Arial"/>
                <a:cs typeface="Arial"/>
              </a:rPr>
              <a:t> </a:t>
            </a:r>
            <a:r>
              <a:rPr dirty="0" baseline="12345" sz="2700" spc="30">
                <a:latin typeface="Arial"/>
                <a:cs typeface="Arial"/>
              </a:rPr>
              <a:t>ً</a:t>
            </a:r>
            <a:r>
              <a:rPr dirty="0" baseline="3086" sz="2700" spc="30">
                <a:latin typeface="Arial"/>
                <a:cs typeface="Arial"/>
              </a:rPr>
              <a:t>اماٌَّ</a:t>
            </a:r>
            <a:r>
              <a:rPr dirty="0" baseline="3086" sz="2700" spc="-225">
                <a:latin typeface="Arial"/>
                <a:cs typeface="Arial"/>
              </a:rPr>
              <a:t> </a:t>
            </a:r>
            <a:r>
              <a:rPr dirty="0" baseline="16975" sz="2700">
                <a:latin typeface="Arial"/>
                <a:cs typeface="Arial"/>
              </a:rPr>
              <a:t>َ</a:t>
            </a:r>
            <a:r>
              <a:rPr dirty="0" baseline="3086" sz="2700">
                <a:latin typeface="Arial"/>
                <a:cs typeface="Arial"/>
              </a:rPr>
              <a:t>أ    </a:t>
            </a:r>
            <a:r>
              <a:rPr dirty="0" baseline="1543" sz="2700" spc="-359">
                <a:latin typeface="Arial"/>
                <a:cs typeface="Arial"/>
              </a:rPr>
              <a:t>م</a:t>
            </a:r>
            <a:r>
              <a:rPr dirty="0" baseline="-3086" sz="2700" spc="-359">
                <a:latin typeface="Arial"/>
                <a:cs typeface="Arial"/>
              </a:rPr>
              <a:t>ْ </a:t>
            </a:r>
            <a:r>
              <a:rPr dirty="0" baseline="1543" sz="2700" spc="-930">
                <a:latin typeface="Arial"/>
                <a:cs typeface="Arial"/>
              </a:rPr>
              <a:t>ت</a:t>
            </a:r>
            <a:r>
              <a:rPr dirty="0" baseline="9259" sz="2700" spc="-930">
                <a:latin typeface="Arial"/>
                <a:cs typeface="Arial"/>
              </a:rPr>
              <a:t>ُ</a:t>
            </a:r>
            <a:r>
              <a:rPr dirty="0" baseline="9259" sz="2700" spc="-157">
                <a:latin typeface="Arial"/>
                <a:cs typeface="Arial"/>
              </a:rPr>
              <a:t> </a:t>
            </a:r>
            <a:r>
              <a:rPr dirty="0" baseline="1543" sz="2700" spc="-615">
                <a:latin typeface="Arial"/>
                <a:cs typeface="Arial"/>
              </a:rPr>
              <a:t>ن</a:t>
            </a:r>
            <a:r>
              <a:rPr dirty="0" baseline="9259" sz="2700" spc="-615">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944">
                <a:latin typeface="Arial"/>
                <a:cs typeface="Arial"/>
              </a:rPr>
              <a:t> </a:t>
            </a:r>
            <a:r>
              <a:rPr dirty="0" baseline="1543" sz="2700" spc="-15">
                <a:latin typeface="Arial"/>
                <a:cs typeface="Arial"/>
              </a:rPr>
              <a:t>ن</a:t>
            </a:r>
            <a:r>
              <a:rPr dirty="0" baseline="-12345" sz="2700" spc="-15">
                <a:latin typeface="Arial"/>
                <a:cs typeface="Arial"/>
              </a:rPr>
              <a:t>ِ</a:t>
            </a:r>
            <a:r>
              <a:rPr dirty="0" baseline="1543" sz="2700" spc="-15">
                <a:latin typeface="Arial"/>
                <a:cs typeface="Arial"/>
              </a:rPr>
              <a:t>إ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50">
                <a:latin typeface="Arial"/>
                <a:cs typeface="Arial"/>
              </a:rPr>
              <a:t> </a:t>
            </a:r>
            <a:r>
              <a:rPr dirty="0" baseline="10802" sz="2700" spc="-270">
                <a:latin typeface="Arial"/>
                <a:cs typeface="Arial"/>
              </a:rPr>
              <a:t>َّ</a:t>
            </a:r>
            <a:r>
              <a:rPr dirty="0" baseline="1543" sz="2700" spc="-270">
                <a:latin typeface="Arial"/>
                <a:cs typeface="Arial"/>
              </a:rPr>
              <a:t>ل </a:t>
            </a:r>
            <a:r>
              <a:rPr dirty="0" baseline="1543" sz="2700" spc="-525">
                <a:latin typeface="Arial"/>
                <a:cs typeface="Arial"/>
              </a:rPr>
              <a:t>ر</a:t>
            </a:r>
            <a:r>
              <a:rPr dirty="0" baseline="3086" sz="2700" spc="-525">
                <a:latin typeface="Arial"/>
                <a:cs typeface="Arial"/>
              </a:rPr>
              <a:t>ٌ </a:t>
            </a:r>
            <a:r>
              <a:rPr dirty="0" baseline="1543" sz="2700">
                <a:latin typeface="Arial"/>
                <a:cs typeface="Arial"/>
              </a:rPr>
              <a:t>ٌْ </a:t>
            </a:r>
            <a:r>
              <a:rPr dirty="0" baseline="1543" sz="2700" spc="-592">
                <a:latin typeface="Arial"/>
                <a:cs typeface="Arial"/>
              </a:rPr>
              <a:t>خ</a:t>
            </a:r>
            <a:r>
              <a:rPr dirty="0" baseline="6172" sz="2700" spc="-592">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270">
                <a:latin typeface="Arial"/>
                <a:cs typeface="Arial"/>
              </a:rPr>
              <a:t>ومُ </a:t>
            </a:r>
            <a:r>
              <a:rPr dirty="0" baseline="1543" sz="2700" spc="-930">
                <a:latin typeface="Arial"/>
                <a:cs typeface="Arial"/>
              </a:rPr>
              <a:t>وصُ</a:t>
            </a:r>
            <a:r>
              <a:rPr dirty="0" baseline="1543" sz="2700" spc="1342">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532">
                <a:latin typeface="Arial"/>
                <a:cs typeface="Arial"/>
              </a:rPr>
              <a:t> </a:t>
            </a:r>
            <a:r>
              <a:rPr dirty="0" baseline="1543" sz="2700" spc="-135">
                <a:latin typeface="Arial"/>
                <a:cs typeface="Arial"/>
              </a:rPr>
              <a:t>ن</a:t>
            </a:r>
            <a:r>
              <a:rPr dirty="0" baseline="15432" sz="2700" spc="-135">
                <a:latin typeface="Arial"/>
                <a:cs typeface="Arial"/>
              </a:rPr>
              <a:t>َ</a:t>
            </a:r>
            <a:r>
              <a:rPr dirty="0" baseline="1543" sz="2700" spc="-135">
                <a:latin typeface="Arial"/>
                <a:cs typeface="Arial"/>
              </a:rPr>
              <a:t>أو</a:t>
            </a:r>
            <a:r>
              <a:rPr dirty="0" baseline="-1543" sz="2700" spc="-135">
                <a:latin typeface="Arial"/>
                <a:cs typeface="Arial"/>
              </a:rPr>
              <a:t>َ </a:t>
            </a:r>
            <a:r>
              <a:rPr dirty="0" baseline="1543" sz="2700" spc="-322">
                <a:latin typeface="Arial"/>
                <a:cs typeface="Arial"/>
              </a:rPr>
              <a:t>هُ </a:t>
            </a:r>
            <a:r>
              <a:rPr dirty="0" baseline="10802" sz="2700" spc="-270">
                <a:latin typeface="Arial"/>
                <a:cs typeface="Arial"/>
              </a:rPr>
              <a:t>َّ</a:t>
            </a:r>
            <a:r>
              <a:rPr dirty="0" baseline="1543" sz="2700" spc="-270">
                <a:latin typeface="Arial"/>
                <a:cs typeface="Arial"/>
              </a:rPr>
              <a:t>ل </a:t>
            </a:r>
            <a:r>
              <a:rPr dirty="0" baseline="1543" sz="2700" spc="-525">
                <a:latin typeface="Arial"/>
                <a:cs typeface="Arial"/>
              </a:rPr>
              <a:t>ر</a:t>
            </a:r>
            <a:r>
              <a:rPr dirty="0" baseline="3086" sz="2700" spc="-525">
                <a:latin typeface="Arial"/>
                <a:cs typeface="Arial"/>
              </a:rPr>
              <a:t>ٌ </a:t>
            </a:r>
            <a:r>
              <a:rPr dirty="0" baseline="1543" sz="2700">
                <a:latin typeface="Arial"/>
                <a:cs typeface="Arial"/>
              </a:rPr>
              <a:t>ٌْ </a:t>
            </a:r>
            <a:r>
              <a:rPr dirty="0" baseline="1543" sz="2700" spc="-592">
                <a:latin typeface="Arial"/>
                <a:cs typeface="Arial"/>
              </a:rPr>
              <a:t>خ</a:t>
            </a:r>
            <a:r>
              <a:rPr dirty="0" baseline="6172" sz="2700" spc="-592">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59">
                <a:latin typeface="Arial"/>
                <a:cs typeface="Arial"/>
              </a:rPr>
              <a:t>هُ </a:t>
            </a:r>
            <a:r>
              <a:rPr dirty="0" baseline="1543" sz="2700" spc="-1035">
                <a:latin typeface="Arial"/>
                <a:cs typeface="Arial"/>
              </a:rPr>
              <a:t>ف</a:t>
            </a:r>
            <a:r>
              <a:rPr dirty="0" baseline="6172" sz="2700" spc="-1035">
                <a:latin typeface="Arial"/>
                <a:cs typeface="Arial"/>
              </a:rPr>
              <a:t>َ</a:t>
            </a:r>
            <a:r>
              <a:rPr dirty="0" baseline="6172" sz="2700" spc="622">
                <a:latin typeface="Arial"/>
                <a:cs typeface="Arial"/>
              </a:rPr>
              <a:t> </a:t>
            </a:r>
            <a:r>
              <a:rPr dirty="0" baseline="9259" sz="2700" spc="-7">
                <a:latin typeface="Arial"/>
                <a:cs typeface="Arial"/>
              </a:rPr>
              <a:t>ً</a:t>
            </a:r>
            <a:r>
              <a:rPr dirty="0" baseline="1543" sz="2700" spc="-7">
                <a:latin typeface="Arial"/>
                <a:cs typeface="Arial"/>
              </a:rPr>
              <a:t>ارٌْ </a:t>
            </a:r>
            <a:r>
              <a:rPr dirty="0" baseline="1543" sz="2700" spc="-592">
                <a:latin typeface="Arial"/>
                <a:cs typeface="Arial"/>
              </a:rPr>
              <a:t>خ</a:t>
            </a:r>
            <a:r>
              <a:rPr dirty="0" baseline="6172" sz="2700" spc="-592">
                <a:latin typeface="Arial"/>
                <a:cs typeface="Arial"/>
              </a:rPr>
              <a:t>َ </a:t>
            </a:r>
            <a:r>
              <a:rPr dirty="0" baseline="1543" sz="2700" spc="-569">
                <a:latin typeface="Arial"/>
                <a:cs typeface="Arial"/>
              </a:rPr>
              <a:t>ع</a:t>
            </a:r>
            <a:r>
              <a:rPr dirty="0" baseline="-1543" sz="2700" spc="-569">
                <a:latin typeface="Arial"/>
                <a:cs typeface="Arial"/>
              </a:rPr>
              <a:t>َ </a:t>
            </a:r>
            <a:r>
              <a:rPr dirty="0" baseline="1543" sz="2700" spc="-217">
                <a:latin typeface="Arial"/>
                <a:cs typeface="Arial"/>
              </a:rPr>
              <a:t>و</a:t>
            </a:r>
            <a:r>
              <a:rPr dirty="0" sz="1800" spc="-145">
                <a:latin typeface="Arial"/>
                <a:cs typeface="Arial"/>
              </a:rPr>
              <a:t>َّ </a:t>
            </a:r>
            <a:r>
              <a:rPr dirty="0" baseline="1543" sz="2700" spc="-652">
                <a:latin typeface="Arial"/>
                <a:cs typeface="Arial"/>
              </a:rPr>
              <a:t>ط</a:t>
            </a:r>
            <a:r>
              <a:rPr dirty="0" baseline="10802" sz="2700" spc="-652">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502">
                <a:latin typeface="Arial"/>
                <a:cs typeface="Arial"/>
              </a:rPr>
              <a:t> </a:t>
            </a:r>
            <a:r>
              <a:rPr dirty="0" baseline="1543" sz="2700" spc="-240">
                <a:latin typeface="Arial"/>
                <a:cs typeface="Arial"/>
              </a:rPr>
              <a:t>نم</a:t>
            </a:r>
            <a:r>
              <a:rPr dirty="0" baseline="-1543" sz="2700" spc="-240">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660">
                <a:latin typeface="Arial"/>
                <a:cs typeface="Arial"/>
              </a:rPr>
              <a:t> </a:t>
            </a:r>
            <a:r>
              <a:rPr dirty="0" baseline="1543" sz="2700" spc="-615">
                <a:latin typeface="Arial"/>
                <a:cs typeface="Arial"/>
              </a:rPr>
              <a:t>ن</a:t>
            </a:r>
            <a:r>
              <a:rPr dirty="0" baseline="-10802" sz="2700" spc="-615">
                <a:latin typeface="Arial"/>
                <a:cs typeface="Arial"/>
              </a:rPr>
              <a:t>ٍ </a:t>
            </a:r>
            <a:r>
              <a:rPr dirty="0" baseline="1543" sz="2700" spc="-487">
                <a:latin typeface="Arial"/>
                <a:cs typeface="Arial"/>
              </a:rPr>
              <a:t>ٌك</a:t>
            </a:r>
            <a:r>
              <a:rPr dirty="0" sz="1800" spc="-325">
                <a:latin typeface="Arial"/>
                <a:cs typeface="Arial"/>
              </a:rPr>
              <a:t>ِ </a:t>
            </a:r>
            <a:r>
              <a:rPr dirty="0" baseline="1543" sz="2700" spc="-944">
                <a:latin typeface="Arial"/>
                <a:cs typeface="Arial"/>
              </a:rPr>
              <a:t>سْ</a:t>
            </a:r>
            <a:r>
              <a:rPr dirty="0" baseline="1543" sz="2700" spc="352">
                <a:latin typeface="Arial"/>
                <a:cs typeface="Arial"/>
              </a:rPr>
              <a:t> </a:t>
            </a:r>
            <a:r>
              <a:rPr dirty="0" baseline="1543" sz="2700" spc="-359">
                <a:latin typeface="Arial"/>
                <a:cs typeface="Arial"/>
              </a:rPr>
              <a:t>م</a:t>
            </a:r>
            <a:r>
              <a:rPr dirty="0" sz="1800" spc="-240">
                <a:latin typeface="Arial"/>
                <a:cs typeface="Arial"/>
              </a:rPr>
              <a:t>ِ </a:t>
            </a:r>
            <a:r>
              <a:rPr dirty="0" baseline="1543" sz="2700" spc="-427">
                <a:latin typeface="Arial"/>
                <a:cs typeface="Arial"/>
              </a:rPr>
              <a:t>م</a:t>
            </a:r>
            <a:r>
              <a:rPr dirty="0" baseline="-4629" sz="2700" spc="-427">
                <a:latin typeface="Arial"/>
                <a:cs typeface="Arial"/>
              </a:rPr>
              <a:t>ُ </a:t>
            </a:r>
            <a:r>
              <a:rPr dirty="0" baseline="1543" sz="2700" spc="-390">
                <a:latin typeface="Arial"/>
                <a:cs typeface="Arial"/>
              </a:rPr>
              <a:t>اع</a:t>
            </a:r>
            <a:r>
              <a:rPr dirty="0" baseline="-1543" sz="2700" spc="-390">
                <a:latin typeface="Arial"/>
                <a:cs typeface="Arial"/>
              </a:rPr>
              <a:t>َ </a:t>
            </a:r>
            <a:r>
              <a:rPr dirty="0" baseline="1543" sz="2700" spc="-652">
                <a:latin typeface="Arial"/>
                <a:cs typeface="Arial"/>
              </a:rPr>
              <a:t>ط</a:t>
            </a:r>
            <a:r>
              <a:rPr dirty="0" baseline="10802" sz="2700" spc="-652">
                <a:latin typeface="Arial"/>
                <a:cs typeface="Arial"/>
              </a:rPr>
              <a:t>َ </a:t>
            </a:r>
            <a:r>
              <a:rPr dirty="0" baseline="1543" sz="2700" spc="-322">
                <a:latin typeface="Arial"/>
                <a:cs typeface="Arial"/>
              </a:rPr>
              <a:t>ة</a:t>
            </a:r>
            <a:r>
              <a:rPr dirty="0" baseline="13888" sz="2700" spc="-322">
                <a:latin typeface="Arial"/>
                <a:cs typeface="Arial"/>
              </a:rPr>
              <a:t>ٌ </a:t>
            </a:r>
            <a:r>
              <a:rPr dirty="0" baseline="1543" sz="2700">
                <a:latin typeface="Arial"/>
                <a:cs typeface="Arial"/>
              </a:rPr>
              <a:t>ٌ</a:t>
            </a:r>
            <a:r>
              <a:rPr dirty="0" baseline="-1543" sz="2700">
                <a:latin typeface="Arial"/>
                <a:cs typeface="Arial"/>
              </a:rPr>
              <a:t>َ </a:t>
            </a:r>
            <a:r>
              <a:rPr dirty="0" baseline="1543" sz="2700" spc="-284">
                <a:latin typeface="Arial"/>
                <a:cs typeface="Arial"/>
              </a:rPr>
              <a:t>د</a:t>
            </a:r>
            <a:r>
              <a:rPr dirty="0" baseline="4629" sz="2700" spc="-284">
                <a:latin typeface="Arial"/>
                <a:cs typeface="Arial"/>
              </a:rPr>
              <a:t>ْ </a:t>
            </a:r>
            <a:r>
              <a:rPr dirty="0" baseline="1543" sz="2700" spc="-1057">
                <a:latin typeface="Arial"/>
                <a:cs typeface="Arial"/>
              </a:rPr>
              <a:t>ف</a:t>
            </a:r>
            <a:r>
              <a:rPr dirty="0" sz="1800" spc="-705">
                <a:latin typeface="Arial"/>
                <a:cs typeface="Arial"/>
              </a:rPr>
              <a:t>ِ</a:t>
            </a:r>
            <a:r>
              <a:rPr dirty="0" sz="1800" spc="475">
                <a:latin typeface="Arial"/>
                <a:cs typeface="Arial"/>
              </a:rPr>
              <a:t> </a:t>
            </a:r>
            <a:r>
              <a:rPr dirty="0" baseline="1543" sz="2700" spc="-322">
                <a:latin typeface="Arial"/>
                <a:cs typeface="Arial"/>
              </a:rPr>
              <a:t>هُ </a:t>
            </a:r>
            <a:r>
              <a:rPr dirty="0" baseline="1543" sz="2700" spc="-644">
                <a:latin typeface="Arial"/>
                <a:cs typeface="Arial"/>
              </a:rPr>
              <a:t>ن</a:t>
            </a:r>
            <a:r>
              <a:rPr dirty="0" baseline="6172" sz="2700" spc="-644">
                <a:latin typeface="Arial"/>
                <a:cs typeface="Arial"/>
              </a:rPr>
              <a:t>َ </a:t>
            </a:r>
            <a:r>
              <a:rPr dirty="0" baseline="1543" sz="2700" spc="-525">
                <a:latin typeface="Arial"/>
                <a:cs typeface="Arial"/>
              </a:rPr>
              <a:t>وق</a:t>
            </a:r>
            <a:r>
              <a:rPr dirty="0" baseline="9259" sz="2700" spc="-525">
                <a:latin typeface="Arial"/>
                <a:cs typeface="Arial"/>
              </a:rPr>
              <a:t>ُ </a:t>
            </a:r>
            <a:r>
              <a:rPr dirty="0" baseline="1543" sz="2700" spc="-390">
                <a:latin typeface="Arial"/>
                <a:cs typeface="Arial"/>
              </a:rPr>
              <a:t>ٌط</a:t>
            </a:r>
            <a:r>
              <a:rPr dirty="0" sz="1800" spc="-260">
                <a:latin typeface="Arial"/>
                <a:cs typeface="Arial"/>
              </a:rPr>
              <a:t>ِ</a:t>
            </a:r>
            <a:r>
              <a:rPr dirty="0" sz="1800" spc="-95">
                <a:latin typeface="Arial"/>
                <a:cs typeface="Arial"/>
              </a:rPr>
              <a:t> </a:t>
            </a:r>
            <a:r>
              <a:rPr dirty="0" baseline="1543" sz="2700">
                <a:latin typeface="Arial"/>
                <a:cs typeface="Arial"/>
              </a:rPr>
              <a:t>ٌ</a:t>
            </a:r>
            <a:endParaRPr baseline="1543" sz="2700">
              <a:latin typeface="Arial"/>
              <a:cs typeface="Arial"/>
            </a:endParaRPr>
          </a:p>
          <a:p>
            <a:pPr algn="r" marR="226060">
              <a:lnSpc>
                <a:spcPts val="2100"/>
              </a:lnSpc>
            </a:pPr>
            <a:r>
              <a:rPr dirty="0" baseline="3086" sz="2700" spc="-494">
                <a:latin typeface="Arial"/>
                <a:cs typeface="Arial"/>
              </a:rPr>
              <a:t>ن</a:t>
            </a:r>
            <a:r>
              <a:rPr dirty="0" sz="1800" spc="-330">
                <a:latin typeface="Arial"/>
                <a:cs typeface="Arial"/>
              </a:rPr>
              <a:t>َ </a:t>
            </a:r>
            <a:r>
              <a:rPr dirty="0" baseline="3086" sz="2700" spc="-270">
                <a:latin typeface="Arial"/>
                <a:cs typeface="Arial"/>
              </a:rPr>
              <a:t>ومُ </a:t>
            </a:r>
            <a:r>
              <a:rPr dirty="0" baseline="10802" sz="2700" spc="-487">
                <a:latin typeface="Arial"/>
                <a:cs typeface="Arial"/>
              </a:rPr>
              <a:t>َ</a:t>
            </a:r>
            <a:r>
              <a:rPr dirty="0" baseline="3086" sz="2700" spc="-487">
                <a:latin typeface="Arial"/>
                <a:cs typeface="Arial"/>
              </a:rPr>
              <a:t>لعْ</a:t>
            </a:r>
            <a:r>
              <a:rPr dirty="0" baseline="3086" sz="2700" spc="-240">
                <a:latin typeface="Arial"/>
                <a:cs typeface="Arial"/>
              </a:rPr>
              <a:t> </a:t>
            </a:r>
            <a:r>
              <a:rPr dirty="0" baseline="3086" sz="2700" spc="-1785">
                <a:latin typeface="Arial"/>
                <a:cs typeface="Arial"/>
              </a:rPr>
              <a:t>ت</a:t>
            </a:r>
            <a:endParaRPr baseline="3086" sz="2700">
              <a:latin typeface="Arial"/>
              <a:cs typeface="Arial"/>
            </a:endParaRPr>
          </a:p>
          <a:p>
            <a:pPr algn="just" marL="179705" marR="183515">
              <a:lnSpc>
                <a:spcPts val="1380"/>
              </a:lnSpc>
              <a:spcBef>
                <a:spcPts val="1320"/>
              </a:spcBef>
              <a:buAutoNum type="arabicPeriod" startAt="184"/>
              <a:tabLst>
                <a:tab pos="528320" algn="l"/>
              </a:tabLst>
            </a:pPr>
            <a:r>
              <a:rPr dirty="0" sz="1200" spc="-5">
                <a:latin typeface="Arial"/>
                <a:cs typeface="Arial"/>
              </a:rPr>
              <a:t>(Fast) a certain number of days; and (for) him </a:t>
            </a:r>
            <a:r>
              <a:rPr dirty="0" sz="1200" spc="-10">
                <a:latin typeface="Arial"/>
                <a:cs typeface="Arial"/>
              </a:rPr>
              <a:t>who </a:t>
            </a:r>
            <a:r>
              <a:rPr dirty="0" sz="1200" spc="-5">
                <a:latin typeface="Arial"/>
                <a:cs typeface="Arial"/>
              </a:rPr>
              <a:t>is </a:t>
            </a:r>
            <a:r>
              <a:rPr dirty="0" sz="1200">
                <a:latin typeface="Arial"/>
                <a:cs typeface="Arial"/>
              </a:rPr>
              <a:t>sick </a:t>
            </a:r>
            <a:r>
              <a:rPr dirty="0" sz="1200" spc="-5">
                <a:latin typeface="Arial"/>
                <a:cs typeface="Arial"/>
              </a:rPr>
              <a:t>among you, or on a </a:t>
            </a:r>
            <a:r>
              <a:rPr dirty="0" sz="1200" spc="-10">
                <a:latin typeface="Arial"/>
                <a:cs typeface="Arial"/>
              </a:rPr>
              <a:t>journey,  </a:t>
            </a:r>
            <a:r>
              <a:rPr dirty="0" sz="1200">
                <a:latin typeface="Arial"/>
                <a:cs typeface="Arial"/>
              </a:rPr>
              <a:t>(the </a:t>
            </a:r>
            <a:r>
              <a:rPr dirty="0" sz="1200" spc="-5">
                <a:latin typeface="Arial"/>
                <a:cs typeface="Arial"/>
              </a:rPr>
              <a:t>same) number of </a:t>
            </a:r>
            <a:r>
              <a:rPr dirty="0" sz="1200">
                <a:latin typeface="Arial"/>
                <a:cs typeface="Arial"/>
              </a:rPr>
              <a:t>other </a:t>
            </a:r>
            <a:r>
              <a:rPr dirty="0" sz="1200" spc="-5">
                <a:latin typeface="Arial"/>
                <a:cs typeface="Arial"/>
              </a:rPr>
              <a:t>days; and </a:t>
            </a:r>
            <a:r>
              <a:rPr dirty="0" sz="1200">
                <a:latin typeface="Arial"/>
                <a:cs typeface="Arial"/>
              </a:rPr>
              <a:t>for </a:t>
            </a:r>
            <a:r>
              <a:rPr dirty="0" sz="1200" spc="-5">
                <a:latin typeface="Arial"/>
                <a:cs typeface="Arial"/>
              </a:rPr>
              <a:t>those </a:t>
            </a:r>
            <a:r>
              <a:rPr dirty="0" sz="1200" spc="-10">
                <a:latin typeface="Arial"/>
                <a:cs typeface="Arial"/>
              </a:rPr>
              <a:t>who </a:t>
            </a:r>
            <a:r>
              <a:rPr dirty="0" sz="1200" spc="-5">
                <a:latin typeface="Arial"/>
                <a:cs typeface="Arial"/>
              </a:rPr>
              <a:t>can </a:t>
            </a:r>
            <a:r>
              <a:rPr dirty="0" sz="1200">
                <a:latin typeface="Arial"/>
                <a:cs typeface="Arial"/>
              </a:rPr>
              <a:t>afford </a:t>
            </a:r>
            <a:r>
              <a:rPr dirty="0" sz="1200" spc="-10">
                <a:latin typeface="Arial"/>
                <a:cs typeface="Arial"/>
              </a:rPr>
              <a:t>it </a:t>
            </a:r>
            <a:r>
              <a:rPr dirty="0" sz="1200">
                <a:latin typeface="Arial"/>
                <a:cs typeface="Arial"/>
              </a:rPr>
              <a:t>there </a:t>
            </a:r>
            <a:r>
              <a:rPr dirty="0" sz="1200" spc="-5">
                <a:latin typeface="Arial"/>
                <a:cs typeface="Arial"/>
              </a:rPr>
              <a:t>is a ransom: </a:t>
            </a:r>
            <a:r>
              <a:rPr dirty="0" sz="1200" spc="-10">
                <a:latin typeface="Arial"/>
                <a:cs typeface="Arial"/>
              </a:rPr>
              <a:t>the  </a:t>
            </a:r>
            <a:r>
              <a:rPr dirty="0" sz="1200" spc="-5">
                <a:latin typeface="Arial"/>
                <a:cs typeface="Arial"/>
              </a:rPr>
              <a:t>feeding </a:t>
            </a:r>
            <a:r>
              <a:rPr dirty="0" sz="1200">
                <a:latin typeface="Arial"/>
                <a:cs typeface="Arial"/>
              </a:rPr>
              <a:t>of </a:t>
            </a:r>
            <a:r>
              <a:rPr dirty="0" sz="1200" spc="-5">
                <a:latin typeface="Arial"/>
                <a:cs typeface="Arial"/>
              </a:rPr>
              <a:t>a man in need. But whoso doeth good of his </a:t>
            </a:r>
            <a:r>
              <a:rPr dirty="0" sz="1200" spc="-10">
                <a:latin typeface="Arial"/>
                <a:cs typeface="Arial"/>
              </a:rPr>
              <a:t>own </a:t>
            </a:r>
            <a:r>
              <a:rPr dirty="0" sz="1200" spc="-5">
                <a:latin typeface="Arial"/>
                <a:cs typeface="Arial"/>
              </a:rPr>
              <a:t>accord, </a:t>
            </a:r>
            <a:r>
              <a:rPr dirty="0" sz="1200">
                <a:latin typeface="Arial"/>
                <a:cs typeface="Arial"/>
              </a:rPr>
              <a:t>it </a:t>
            </a:r>
            <a:r>
              <a:rPr dirty="0" sz="1200" spc="-5">
                <a:latin typeface="Arial"/>
                <a:cs typeface="Arial"/>
              </a:rPr>
              <a:t>is </a:t>
            </a:r>
            <a:r>
              <a:rPr dirty="0" sz="1200">
                <a:latin typeface="Arial"/>
                <a:cs typeface="Arial"/>
              </a:rPr>
              <a:t>better for </a:t>
            </a:r>
            <a:r>
              <a:rPr dirty="0" sz="1200" spc="-5">
                <a:latin typeface="Arial"/>
                <a:cs typeface="Arial"/>
              </a:rPr>
              <a:t>him: and  </a:t>
            </a:r>
            <a:r>
              <a:rPr dirty="0" sz="1200">
                <a:latin typeface="Arial"/>
                <a:cs typeface="Arial"/>
              </a:rPr>
              <a:t>that </a:t>
            </a:r>
            <a:r>
              <a:rPr dirty="0" sz="1200" spc="-10">
                <a:latin typeface="Arial"/>
                <a:cs typeface="Arial"/>
              </a:rPr>
              <a:t>ye </a:t>
            </a:r>
            <a:r>
              <a:rPr dirty="0" sz="1200">
                <a:latin typeface="Arial"/>
                <a:cs typeface="Arial"/>
              </a:rPr>
              <a:t>fast </a:t>
            </a:r>
            <a:r>
              <a:rPr dirty="0" sz="1200" spc="-5">
                <a:latin typeface="Arial"/>
                <a:cs typeface="Arial"/>
              </a:rPr>
              <a:t>is better </a:t>
            </a:r>
            <a:r>
              <a:rPr dirty="0" sz="1200">
                <a:latin typeface="Arial"/>
                <a:cs typeface="Arial"/>
              </a:rPr>
              <a:t>for </a:t>
            </a:r>
            <a:r>
              <a:rPr dirty="0" sz="1200" spc="-5">
                <a:latin typeface="Arial"/>
                <a:cs typeface="Arial"/>
              </a:rPr>
              <a:t>you </a:t>
            </a:r>
            <a:r>
              <a:rPr dirty="0" sz="1200">
                <a:latin typeface="Arial"/>
                <a:cs typeface="Arial"/>
              </a:rPr>
              <a:t>if </a:t>
            </a:r>
            <a:r>
              <a:rPr dirty="0" sz="1200" spc="-10">
                <a:latin typeface="Arial"/>
                <a:cs typeface="Arial"/>
              </a:rPr>
              <a:t>ye </a:t>
            </a:r>
            <a:r>
              <a:rPr dirty="0" sz="1200" spc="-5">
                <a:latin typeface="Arial"/>
                <a:cs typeface="Arial"/>
              </a:rPr>
              <a:t>did but</a:t>
            </a:r>
            <a:r>
              <a:rPr dirty="0" sz="1200">
                <a:latin typeface="Arial"/>
                <a:cs typeface="Arial"/>
              </a:rPr>
              <a:t> </a:t>
            </a:r>
            <a:r>
              <a:rPr dirty="0" sz="1200" spc="-5">
                <a:latin typeface="Arial"/>
                <a:cs typeface="Arial"/>
              </a:rPr>
              <a:t>know</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60</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5971540" cy="208279"/>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591819" y="807211"/>
            <a:ext cx="6600825" cy="8526145"/>
          </a:xfrm>
          <a:prstGeom prst="rect">
            <a:avLst/>
          </a:prstGeom>
        </p:spPr>
        <p:txBody>
          <a:bodyPr wrap="square" lIns="0" tIns="12700" rIns="0" bIns="0" rtlCol="0" vert="horz">
            <a:spAutoFit/>
          </a:bodyPr>
          <a:lstStyle/>
          <a:p>
            <a:pPr marL="139700">
              <a:lnSpc>
                <a:spcPts val="2065"/>
              </a:lnSpc>
              <a:spcBef>
                <a:spcPts val="100"/>
              </a:spcBef>
            </a:pPr>
            <a:r>
              <a:rPr dirty="0" baseline="3086" sz="2700" spc="-322">
                <a:latin typeface="Arial"/>
                <a:cs typeface="Arial"/>
              </a:rPr>
              <a:t>م</a:t>
            </a:r>
            <a:r>
              <a:rPr dirty="0" baseline="-13888" sz="2700" spc="-322">
                <a:latin typeface="Arial"/>
                <a:cs typeface="Arial"/>
              </a:rPr>
              <a:t>ِ </a:t>
            </a:r>
            <a:r>
              <a:rPr dirty="0" baseline="3086" sz="2700" spc="-862">
                <a:latin typeface="Arial"/>
                <a:cs typeface="Arial"/>
              </a:rPr>
              <a:t>ث</a:t>
            </a:r>
            <a:r>
              <a:rPr dirty="0" baseline="16975" sz="2700" spc="-862">
                <a:latin typeface="Arial"/>
                <a:cs typeface="Arial"/>
              </a:rPr>
              <a:t>ْ</a:t>
            </a:r>
            <a:r>
              <a:rPr dirty="0" baseline="16975" sz="2700" spc="-300">
                <a:latin typeface="Arial"/>
                <a:cs typeface="Arial"/>
              </a:rPr>
              <a:t> </a:t>
            </a:r>
            <a:r>
              <a:rPr dirty="0" baseline="3086" sz="2700" spc="-644">
                <a:latin typeface="Arial"/>
                <a:cs typeface="Arial"/>
              </a:rPr>
              <a:t>لإ</a:t>
            </a:r>
            <a:r>
              <a:rPr dirty="0" baseline="-10802" sz="2700" spc="-644">
                <a:latin typeface="Arial"/>
                <a:cs typeface="Arial"/>
              </a:rPr>
              <a:t>ِ </a:t>
            </a:r>
            <a:r>
              <a:rPr dirty="0" baseline="3086" sz="2700" spc="-622">
                <a:latin typeface="Arial"/>
                <a:cs typeface="Arial"/>
              </a:rPr>
              <a:t>ٲب</a:t>
            </a:r>
            <a:r>
              <a:rPr dirty="0" baseline="-10802" sz="2700" spc="-622">
                <a:latin typeface="Arial"/>
                <a:cs typeface="Arial"/>
              </a:rPr>
              <a:t>ِ </a:t>
            </a:r>
            <a:r>
              <a:rPr dirty="0" baseline="3086" sz="2700" spc="-869">
                <a:latin typeface="Arial"/>
                <a:cs typeface="Arial"/>
              </a:rPr>
              <a:t>س</a:t>
            </a:r>
            <a:r>
              <a:rPr dirty="0" baseline="-10802" sz="2700" spc="-869">
                <a:latin typeface="Arial"/>
                <a:cs typeface="Arial"/>
              </a:rPr>
              <a:t>ِ</a:t>
            </a:r>
            <a:r>
              <a:rPr dirty="0" baseline="-10802" sz="2700" spc="1005">
                <a:latin typeface="Arial"/>
                <a:cs typeface="Arial"/>
              </a:rPr>
              <a:t> </a:t>
            </a:r>
            <a:r>
              <a:rPr dirty="0" baseline="3086" sz="2700" spc="-322">
                <a:latin typeface="Arial"/>
                <a:cs typeface="Arial"/>
              </a:rPr>
              <a:t>ان</a:t>
            </a:r>
            <a:r>
              <a:rPr dirty="0" baseline="10802" sz="2700" spc="-322">
                <a:latin typeface="Arial"/>
                <a:cs typeface="Arial"/>
              </a:rPr>
              <a:t>َّ </a:t>
            </a:r>
            <a:r>
              <a:rPr dirty="0" baseline="3086" sz="2700" spc="-412">
                <a:latin typeface="Arial"/>
                <a:cs typeface="Arial"/>
              </a:rPr>
              <a:t>لٱ </a:t>
            </a:r>
            <a:r>
              <a:rPr dirty="0" baseline="3086" sz="2700" spc="-525">
                <a:latin typeface="Arial"/>
                <a:cs typeface="Arial"/>
              </a:rPr>
              <a:t>ل</a:t>
            </a:r>
            <a:r>
              <a:rPr dirty="0" baseline="-4629" sz="2700" spc="-525">
                <a:latin typeface="Arial"/>
                <a:cs typeface="Arial"/>
              </a:rPr>
              <a:t>ِ </a:t>
            </a:r>
            <a:r>
              <a:rPr dirty="0" baseline="3086" sz="2700" spc="-209">
                <a:latin typeface="Arial"/>
                <a:cs typeface="Arial"/>
              </a:rPr>
              <a:t>او</a:t>
            </a:r>
            <a:r>
              <a:rPr dirty="0" sz="1800" spc="-140">
                <a:latin typeface="Arial"/>
                <a:cs typeface="Arial"/>
              </a:rPr>
              <a:t>َ </a:t>
            </a:r>
            <a:r>
              <a:rPr dirty="0" baseline="3086" sz="2700" spc="-322">
                <a:latin typeface="Arial"/>
                <a:cs typeface="Arial"/>
              </a:rPr>
              <a:t>مْ </a:t>
            </a:r>
            <a:r>
              <a:rPr dirty="0" baseline="16975" sz="2700">
                <a:latin typeface="Arial"/>
                <a:cs typeface="Arial"/>
              </a:rPr>
              <a:t>َ</a:t>
            </a:r>
            <a:r>
              <a:rPr dirty="0" baseline="3086" sz="2700">
                <a:latin typeface="Arial"/>
                <a:cs typeface="Arial"/>
              </a:rPr>
              <a:t>أ </a:t>
            </a:r>
            <a:r>
              <a:rPr dirty="0" baseline="3086" sz="2700" spc="-465">
                <a:latin typeface="Arial"/>
                <a:cs typeface="Arial"/>
              </a:rPr>
              <a:t>نْ  </a:t>
            </a:r>
            <a:r>
              <a:rPr dirty="0" baseline="3086" sz="2700" spc="-254">
                <a:latin typeface="Arial"/>
                <a:cs typeface="Arial"/>
              </a:rPr>
              <a:t>مِّ  </a:t>
            </a:r>
            <a:r>
              <a:rPr dirty="0" baseline="12345" sz="2700" spc="-292">
                <a:latin typeface="Arial"/>
                <a:cs typeface="Arial"/>
              </a:rPr>
              <a:t>ً</a:t>
            </a:r>
            <a:r>
              <a:rPr dirty="0" baseline="3086" sz="2700" spc="-292">
                <a:latin typeface="Arial"/>
                <a:cs typeface="Arial"/>
              </a:rPr>
              <a:t>اقٌر</a:t>
            </a:r>
            <a:r>
              <a:rPr dirty="0" baseline="-10802" sz="2700" spc="-292">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82">
                <a:latin typeface="Arial"/>
                <a:cs typeface="Arial"/>
              </a:rPr>
              <a:t> </a:t>
            </a:r>
            <a:r>
              <a:rPr dirty="0" baseline="3086" sz="2700" spc="-262">
                <a:latin typeface="Arial"/>
                <a:cs typeface="Arial"/>
              </a:rPr>
              <a:t>ا</a:t>
            </a:r>
            <a:r>
              <a:rPr dirty="0" baseline="10802" sz="2700" spc="-262">
                <a:latin typeface="Arial"/>
                <a:cs typeface="Arial"/>
              </a:rPr>
              <a:t>ْ </a:t>
            </a:r>
            <a:r>
              <a:rPr dirty="0" baseline="3086" sz="2700" spc="-480">
                <a:latin typeface="Arial"/>
                <a:cs typeface="Arial"/>
              </a:rPr>
              <a:t>و</a:t>
            </a:r>
            <a:r>
              <a:rPr dirty="0" baseline="13888" sz="2700" spc="-480">
                <a:latin typeface="Arial"/>
                <a:cs typeface="Arial"/>
              </a:rPr>
              <a:t>ُ</a:t>
            </a:r>
            <a:r>
              <a:rPr dirty="0" baseline="3086" sz="2700" spc="-480">
                <a:latin typeface="Arial"/>
                <a:cs typeface="Arial"/>
              </a:rPr>
              <a:t>لك</a:t>
            </a:r>
            <a:r>
              <a:rPr dirty="0" baseline="10802" sz="2700" spc="-480">
                <a:latin typeface="Arial"/>
                <a:cs typeface="Arial"/>
              </a:rPr>
              <a:t>ُ </a:t>
            </a:r>
            <a:r>
              <a:rPr dirty="0" baseline="20061" sz="2700" spc="-592">
                <a:latin typeface="Arial"/>
                <a:cs typeface="Arial"/>
              </a:rPr>
              <a:t>ْ</a:t>
            </a:r>
            <a:r>
              <a:rPr dirty="0" baseline="3086" sz="2700" spc="-592">
                <a:latin typeface="Arial"/>
                <a:cs typeface="Arial"/>
              </a:rPr>
              <a:t>ؤت</a:t>
            </a:r>
            <a:r>
              <a:rPr dirty="0" baseline="7716" sz="2700" spc="-592">
                <a:latin typeface="Arial"/>
                <a:cs typeface="Arial"/>
              </a:rPr>
              <a:t>َ </a:t>
            </a:r>
            <a:r>
              <a:rPr dirty="0" baseline="1543" sz="2700" spc="-405">
                <a:latin typeface="Arial"/>
                <a:cs typeface="Arial"/>
              </a:rPr>
              <a:t>ِ</a:t>
            </a:r>
            <a:r>
              <a:rPr dirty="0" baseline="3086" sz="2700" spc="-405">
                <a:latin typeface="Arial"/>
                <a:cs typeface="Arial"/>
              </a:rPr>
              <a:t>ل </a:t>
            </a:r>
            <a:r>
              <a:rPr dirty="0" baseline="3086" sz="2700" spc="-315">
                <a:latin typeface="Arial"/>
                <a:cs typeface="Arial"/>
              </a:rPr>
              <a:t>م</a:t>
            </a:r>
            <a:r>
              <a:rPr dirty="0" baseline="-13888" sz="2700" spc="-315">
                <a:latin typeface="Arial"/>
                <a:cs typeface="Arial"/>
              </a:rPr>
              <a:t>ِ </a:t>
            </a:r>
            <a:r>
              <a:rPr dirty="0" baseline="3086" sz="2700" spc="-359">
                <a:latin typeface="Arial"/>
                <a:cs typeface="Arial"/>
              </a:rPr>
              <a:t>اك</a:t>
            </a:r>
            <a:r>
              <a:rPr dirty="0" baseline="10802" sz="2700" spc="-359">
                <a:latin typeface="Arial"/>
                <a:cs typeface="Arial"/>
              </a:rPr>
              <a:t>َّ </a:t>
            </a:r>
            <a:r>
              <a:rPr dirty="0" baseline="3086" sz="2700" spc="-630">
                <a:latin typeface="Arial"/>
                <a:cs typeface="Arial"/>
              </a:rPr>
              <a:t>حُ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509">
                <a:latin typeface="Arial"/>
                <a:cs typeface="Arial"/>
              </a:rPr>
              <a:t>ىل</a:t>
            </a:r>
            <a:r>
              <a:rPr dirty="0" baseline="10802" sz="2700" spc="-509">
                <a:latin typeface="Arial"/>
                <a:cs typeface="Arial"/>
              </a:rPr>
              <a:t>َ </a:t>
            </a:r>
            <a:r>
              <a:rPr dirty="0" baseline="-10802" sz="2700">
                <a:latin typeface="Arial"/>
                <a:cs typeface="Arial"/>
              </a:rPr>
              <a:t>ِ</a:t>
            </a:r>
            <a:r>
              <a:rPr dirty="0" baseline="3086" sz="2700">
                <a:latin typeface="Arial"/>
                <a:cs typeface="Arial"/>
              </a:rPr>
              <a:t>إ </a:t>
            </a:r>
            <a:r>
              <a:rPr dirty="0" baseline="3086" sz="2700" spc="-202">
                <a:latin typeface="Arial"/>
                <a:cs typeface="Arial"/>
              </a:rPr>
              <a:t>اه</a:t>
            </a:r>
            <a:r>
              <a:rPr dirty="0" sz="1800" spc="-135">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675">
                <a:latin typeface="Arial"/>
                <a:cs typeface="Arial"/>
              </a:rPr>
              <a:t> </a:t>
            </a:r>
            <a:r>
              <a:rPr dirty="0" baseline="3086" sz="2700" spc="-262">
                <a:latin typeface="Arial"/>
                <a:cs typeface="Arial"/>
              </a:rPr>
              <a:t>ا</a:t>
            </a:r>
            <a:r>
              <a:rPr dirty="0" baseline="10802" sz="2700" spc="-262">
                <a:latin typeface="Arial"/>
                <a:cs typeface="Arial"/>
              </a:rPr>
              <a:t>ْ </a:t>
            </a:r>
            <a:r>
              <a:rPr dirty="0" baseline="3086" sz="2700" spc="-292">
                <a:latin typeface="Arial"/>
                <a:cs typeface="Arial"/>
              </a:rPr>
              <a:t>و</a:t>
            </a:r>
            <a:r>
              <a:rPr dirty="0" baseline="13888" sz="2700" spc="-292">
                <a:latin typeface="Arial"/>
                <a:cs typeface="Arial"/>
              </a:rPr>
              <a:t>ُ</a:t>
            </a:r>
            <a:r>
              <a:rPr dirty="0" baseline="3086" sz="2700" spc="-292">
                <a:latin typeface="Arial"/>
                <a:cs typeface="Arial"/>
              </a:rPr>
              <a:t>لد</a:t>
            </a:r>
            <a:r>
              <a:rPr dirty="0" baseline="6172" sz="2700" spc="-292">
                <a:latin typeface="Arial"/>
                <a:cs typeface="Arial"/>
              </a:rPr>
              <a:t>ْ </a:t>
            </a:r>
            <a:r>
              <a:rPr dirty="0" baseline="3086" sz="2700" spc="-937">
                <a:latin typeface="Arial"/>
                <a:cs typeface="Arial"/>
              </a:rPr>
              <a:t>ت</a:t>
            </a:r>
            <a:r>
              <a:rPr dirty="0" baseline="10802" sz="2700" spc="-937">
                <a:latin typeface="Arial"/>
                <a:cs typeface="Arial"/>
              </a:rPr>
              <a:t>ُ</a:t>
            </a:r>
            <a:r>
              <a:rPr dirty="0" baseline="10802" sz="2700" spc="-142">
                <a:latin typeface="Arial"/>
                <a:cs typeface="Arial"/>
              </a:rPr>
              <a:t> </a:t>
            </a:r>
            <a:r>
              <a:rPr dirty="0" baseline="3086" sz="2700" spc="-307">
                <a:latin typeface="Arial"/>
                <a:cs typeface="Arial"/>
              </a:rPr>
              <a:t>و</a:t>
            </a:r>
            <a:r>
              <a:rPr dirty="0" sz="1800" spc="-204">
                <a:latin typeface="Arial"/>
                <a:cs typeface="Arial"/>
              </a:rPr>
              <a:t>َ </a:t>
            </a:r>
            <a:r>
              <a:rPr dirty="0" baseline="3086" sz="2700" spc="-525">
                <a:latin typeface="Arial"/>
                <a:cs typeface="Arial"/>
              </a:rPr>
              <a:t>ل</a:t>
            </a:r>
            <a:r>
              <a:rPr dirty="0" baseline="-4629" sz="2700" spc="-525">
                <a:latin typeface="Arial"/>
                <a:cs typeface="Arial"/>
              </a:rPr>
              <a:t>ِ </a:t>
            </a:r>
            <a:r>
              <a:rPr dirty="0" baseline="3086" sz="2700" spc="-585">
                <a:latin typeface="Arial"/>
                <a:cs typeface="Arial"/>
              </a:rPr>
              <a:t>ط</a:t>
            </a:r>
            <a:r>
              <a:rPr dirty="0" baseline="1543" sz="2700" spc="-585">
                <a:latin typeface="Arial"/>
                <a:cs typeface="Arial"/>
              </a:rPr>
              <a:t>ِ </a:t>
            </a:r>
            <a:r>
              <a:rPr dirty="0" baseline="3086" sz="2700" spc="-585">
                <a:latin typeface="Arial"/>
                <a:cs typeface="Arial"/>
              </a:rPr>
              <a:t>اب</a:t>
            </a:r>
            <a:r>
              <a:rPr dirty="0" sz="1800" spc="-39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622">
                <a:latin typeface="Arial"/>
                <a:cs typeface="Arial"/>
              </a:rPr>
              <a:t>ٲب</a:t>
            </a:r>
            <a:r>
              <a:rPr dirty="0" baseline="-10802" sz="2700" spc="-622">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209">
                <a:latin typeface="Arial"/>
                <a:cs typeface="Arial"/>
              </a:rPr>
              <a:t> </a:t>
            </a:r>
            <a:r>
              <a:rPr dirty="0" baseline="3086" sz="2700" spc="-652">
                <a:latin typeface="Arial"/>
                <a:cs typeface="Arial"/>
              </a:rPr>
              <a:t>ن</a:t>
            </a:r>
            <a:r>
              <a:rPr dirty="0" baseline="7716" sz="2700" spc="-652">
                <a:latin typeface="Arial"/>
                <a:cs typeface="Arial"/>
              </a:rPr>
              <a:t>َ </a:t>
            </a:r>
            <a:r>
              <a:rPr dirty="0" baseline="3086" sz="2700">
                <a:latin typeface="Arial"/>
                <a:cs typeface="Arial"/>
              </a:rPr>
              <a:t>ٌْ </a:t>
            </a:r>
            <a:r>
              <a:rPr dirty="0" baseline="3086" sz="2700" spc="-892">
                <a:latin typeface="Arial"/>
                <a:cs typeface="Arial"/>
              </a:rPr>
              <a:t>ب</a:t>
            </a:r>
            <a:r>
              <a:rPr dirty="0" sz="1800" spc="-595">
                <a:latin typeface="Arial"/>
                <a:cs typeface="Arial"/>
              </a:rPr>
              <a:t>َ</a:t>
            </a:r>
            <a:r>
              <a:rPr dirty="0" sz="1800" spc="365">
                <a:latin typeface="Arial"/>
                <a:cs typeface="Arial"/>
              </a:rPr>
              <a:t> </a:t>
            </a:r>
            <a:r>
              <a:rPr dirty="0" baseline="3086" sz="2700" spc="-359">
                <a:latin typeface="Arial"/>
                <a:cs typeface="Arial"/>
              </a:rPr>
              <a:t>م</a:t>
            </a:r>
            <a:r>
              <a:rPr dirty="0" baseline="-1543" sz="2700" spc="-359">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202">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209">
                <a:latin typeface="Arial"/>
                <a:cs typeface="Arial"/>
              </a:rPr>
              <a:t>او</a:t>
            </a:r>
            <a:r>
              <a:rPr dirty="0" sz="1800" spc="-140">
                <a:latin typeface="Arial"/>
                <a:cs typeface="Arial"/>
              </a:rPr>
              <a:t>َ </a:t>
            </a:r>
            <a:r>
              <a:rPr dirty="0" baseline="3086" sz="2700" spc="-322">
                <a:latin typeface="Arial"/>
                <a:cs typeface="Arial"/>
              </a:rPr>
              <a:t>مْ </a:t>
            </a:r>
            <a:r>
              <a:rPr dirty="0" baseline="16975" sz="2700">
                <a:latin typeface="Arial"/>
                <a:cs typeface="Arial"/>
              </a:rPr>
              <a:t>َ</a:t>
            </a:r>
            <a:r>
              <a:rPr dirty="0" baseline="3086" sz="2700">
                <a:latin typeface="Arial"/>
                <a:cs typeface="Arial"/>
              </a:rPr>
              <a:t>أ </a:t>
            </a:r>
            <a:r>
              <a:rPr dirty="0" baseline="3086" sz="2700" spc="-262">
                <a:latin typeface="Arial"/>
                <a:cs typeface="Arial"/>
              </a:rPr>
              <a:t>ا</a:t>
            </a:r>
            <a:r>
              <a:rPr dirty="0" baseline="10802" sz="2700" spc="-262">
                <a:latin typeface="Arial"/>
                <a:cs typeface="Arial"/>
              </a:rPr>
              <a:t>ْ </a:t>
            </a:r>
            <a:r>
              <a:rPr dirty="0" baseline="3086" sz="2700" spc="-434">
                <a:latin typeface="Arial"/>
                <a:cs typeface="Arial"/>
              </a:rPr>
              <a:t>و</a:t>
            </a:r>
            <a:r>
              <a:rPr dirty="0" baseline="9259" sz="2700" spc="-434">
                <a:latin typeface="Arial"/>
                <a:cs typeface="Arial"/>
              </a:rPr>
              <a:t>ۤ</a:t>
            </a:r>
            <a:r>
              <a:rPr dirty="0" baseline="13888" sz="2700" spc="-434">
                <a:latin typeface="Arial"/>
                <a:cs typeface="Arial"/>
              </a:rPr>
              <a:t>ُ</a:t>
            </a:r>
            <a:r>
              <a:rPr dirty="0" baseline="3086" sz="2700" spc="-434">
                <a:latin typeface="Arial"/>
                <a:cs typeface="Arial"/>
              </a:rPr>
              <a:t>لك</a:t>
            </a:r>
            <a:r>
              <a:rPr dirty="0" baseline="10802" sz="2700" spc="-434">
                <a:latin typeface="Arial"/>
                <a:cs typeface="Arial"/>
              </a:rPr>
              <a:t>ُ </a:t>
            </a:r>
            <a:r>
              <a:rPr dirty="0" baseline="20061" sz="2700" spc="-592">
                <a:latin typeface="Arial"/>
                <a:cs typeface="Arial"/>
              </a:rPr>
              <a:t>ْ</a:t>
            </a:r>
            <a:r>
              <a:rPr dirty="0" baseline="3086" sz="2700" spc="-592">
                <a:latin typeface="Arial"/>
                <a:cs typeface="Arial"/>
              </a:rPr>
              <a:t>ؤت</a:t>
            </a:r>
            <a:r>
              <a:rPr dirty="0" baseline="7716" sz="2700" spc="-592">
                <a:latin typeface="Arial"/>
                <a:cs typeface="Arial"/>
              </a:rPr>
              <a:t>َ</a:t>
            </a:r>
            <a:r>
              <a:rPr dirty="0" baseline="7716" sz="2700" spc="-502">
                <a:latin typeface="Arial"/>
                <a:cs typeface="Arial"/>
              </a:rPr>
              <a:t> </a:t>
            </a:r>
            <a:r>
              <a:rPr dirty="0" baseline="9259" sz="2700" spc="-270">
                <a:latin typeface="Arial"/>
                <a:cs typeface="Arial"/>
              </a:rPr>
              <a:t>َ</a:t>
            </a:r>
            <a:r>
              <a:rPr dirty="0" baseline="3086" sz="2700" spc="-270">
                <a:latin typeface="Arial"/>
                <a:cs typeface="Arial"/>
              </a:rPr>
              <a:t>لاو</a:t>
            </a:r>
            <a:endParaRPr baseline="3086" sz="2700">
              <a:latin typeface="Arial"/>
              <a:cs typeface="Arial"/>
            </a:endParaRPr>
          </a:p>
          <a:p>
            <a:pPr algn="r" marR="220345">
              <a:lnSpc>
                <a:spcPts val="2065"/>
              </a:lnSpc>
            </a:pPr>
            <a:r>
              <a:rPr dirty="0" sz="1800" spc="-340">
                <a:latin typeface="Arial"/>
                <a:cs typeface="Arial"/>
              </a:rPr>
              <a:t>ن</a:t>
            </a:r>
            <a:r>
              <a:rPr dirty="0" baseline="-3086" sz="2700" spc="-509">
                <a:latin typeface="Arial"/>
                <a:cs typeface="Arial"/>
              </a:rPr>
              <a:t>َ </a:t>
            </a:r>
            <a:r>
              <a:rPr dirty="0" sz="1800" spc="-180">
                <a:latin typeface="Arial"/>
                <a:cs typeface="Arial"/>
              </a:rPr>
              <a:t>ومُ </a:t>
            </a:r>
            <a:r>
              <a:rPr dirty="0" baseline="7716" sz="2700" spc="-487">
                <a:latin typeface="Arial"/>
                <a:cs typeface="Arial"/>
              </a:rPr>
              <a:t>َ</a:t>
            </a:r>
            <a:r>
              <a:rPr dirty="0" sz="1800" spc="-325">
                <a:latin typeface="Arial"/>
                <a:cs typeface="Arial"/>
              </a:rPr>
              <a:t>لعْ </a:t>
            </a:r>
            <a:r>
              <a:rPr dirty="0" sz="1800" spc="-595">
                <a:latin typeface="Arial"/>
                <a:cs typeface="Arial"/>
              </a:rPr>
              <a:t>ت</a:t>
            </a:r>
            <a:r>
              <a:rPr dirty="0" baseline="4629" sz="2700" spc="-892">
                <a:latin typeface="Arial"/>
                <a:cs typeface="Arial"/>
              </a:rPr>
              <a:t>َ</a:t>
            </a:r>
            <a:r>
              <a:rPr dirty="0" baseline="4629" sz="2700" spc="502">
                <a:latin typeface="Arial"/>
                <a:cs typeface="Arial"/>
              </a:rPr>
              <a:t> </a:t>
            </a:r>
            <a:r>
              <a:rPr dirty="0" sz="1800" spc="-240">
                <a:latin typeface="Arial"/>
                <a:cs typeface="Arial"/>
              </a:rPr>
              <a:t>م</a:t>
            </a:r>
            <a:r>
              <a:rPr dirty="0" baseline="-4629" sz="2700" spc="-359">
                <a:latin typeface="Arial"/>
                <a:cs typeface="Arial"/>
              </a:rPr>
              <a:t>ْ </a:t>
            </a:r>
            <a:r>
              <a:rPr dirty="0" sz="1800" spc="-620">
                <a:latin typeface="Arial"/>
                <a:cs typeface="Arial"/>
              </a:rPr>
              <a:t>ت</a:t>
            </a:r>
            <a:r>
              <a:rPr dirty="0" baseline="7716" sz="2700" spc="-930">
                <a:latin typeface="Arial"/>
                <a:cs typeface="Arial"/>
              </a:rPr>
              <a:t>ُ</a:t>
            </a:r>
            <a:r>
              <a:rPr dirty="0" baseline="7716" sz="2700" spc="-165">
                <a:latin typeface="Arial"/>
                <a:cs typeface="Arial"/>
              </a:rPr>
              <a:t> </a:t>
            </a:r>
            <a:r>
              <a:rPr dirty="0" sz="1800" spc="-405">
                <a:latin typeface="Arial"/>
                <a:cs typeface="Arial"/>
              </a:rPr>
              <a:t>ن</a:t>
            </a:r>
            <a:r>
              <a:rPr dirty="0" baseline="9259" sz="2700" spc="-607">
                <a:latin typeface="Arial"/>
                <a:cs typeface="Arial"/>
              </a:rPr>
              <a:t>ْ</a:t>
            </a:r>
            <a:r>
              <a:rPr dirty="0" baseline="9259" sz="2700" spc="-555">
                <a:latin typeface="Arial"/>
                <a:cs typeface="Arial"/>
              </a:rPr>
              <a:t> </a:t>
            </a:r>
            <a:r>
              <a:rPr dirty="0" baseline="13888" sz="2700" spc="-209">
                <a:latin typeface="Arial"/>
                <a:cs typeface="Arial"/>
              </a:rPr>
              <a:t>َ</a:t>
            </a:r>
            <a:r>
              <a:rPr dirty="0" sz="1800" spc="-140">
                <a:latin typeface="Arial"/>
                <a:cs typeface="Arial"/>
              </a:rPr>
              <a:t>أو</a:t>
            </a:r>
            <a:endParaRPr sz="1800">
              <a:latin typeface="Arial"/>
              <a:cs typeface="Arial"/>
            </a:endParaRPr>
          </a:p>
          <a:p>
            <a:pPr algn="just" marL="139700" marR="172085">
              <a:lnSpc>
                <a:spcPts val="1380"/>
              </a:lnSpc>
              <a:spcBef>
                <a:spcPts val="1425"/>
              </a:spcBef>
            </a:pPr>
            <a:r>
              <a:rPr dirty="0" sz="1200" spc="-5">
                <a:latin typeface="Arial"/>
                <a:cs typeface="Arial"/>
              </a:rPr>
              <a:t>188. And eat not up your property among yourselves in vanity, nor seek by </a:t>
            </a:r>
            <a:r>
              <a:rPr dirty="0" sz="1200">
                <a:latin typeface="Arial"/>
                <a:cs typeface="Arial"/>
              </a:rPr>
              <a:t>it to </a:t>
            </a:r>
            <a:r>
              <a:rPr dirty="0" sz="1200" spc="-5">
                <a:latin typeface="Arial"/>
                <a:cs typeface="Arial"/>
              </a:rPr>
              <a:t>gain the  hearing of </a:t>
            </a:r>
            <a:r>
              <a:rPr dirty="0" sz="1200">
                <a:latin typeface="Arial"/>
                <a:cs typeface="Arial"/>
              </a:rPr>
              <a:t>the </a:t>
            </a:r>
            <a:r>
              <a:rPr dirty="0" sz="1200" spc="-5">
                <a:latin typeface="Arial"/>
                <a:cs typeface="Arial"/>
              </a:rPr>
              <a:t>judges </a:t>
            </a:r>
            <a:r>
              <a:rPr dirty="0" sz="1200">
                <a:latin typeface="Arial"/>
                <a:cs typeface="Arial"/>
              </a:rPr>
              <a:t>that ye may </a:t>
            </a:r>
            <a:r>
              <a:rPr dirty="0" sz="1200" spc="-5">
                <a:latin typeface="Arial"/>
                <a:cs typeface="Arial"/>
              </a:rPr>
              <a:t>knowingly devour a portion of </a:t>
            </a:r>
            <a:r>
              <a:rPr dirty="0" sz="1200">
                <a:latin typeface="Arial"/>
                <a:cs typeface="Arial"/>
              </a:rPr>
              <a:t>the </a:t>
            </a:r>
            <a:r>
              <a:rPr dirty="0" sz="1200" spc="-5">
                <a:latin typeface="Arial"/>
                <a:cs typeface="Arial"/>
              </a:rPr>
              <a:t>property </a:t>
            </a:r>
            <a:r>
              <a:rPr dirty="0" sz="1200">
                <a:latin typeface="Arial"/>
                <a:cs typeface="Arial"/>
              </a:rPr>
              <a:t>of </a:t>
            </a:r>
            <a:r>
              <a:rPr dirty="0" sz="1200" spc="-5">
                <a:latin typeface="Arial"/>
                <a:cs typeface="Arial"/>
              </a:rPr>
              <a:t>others  wrongfully.</a:t>
            </a:r>
            <a:endParaRPr sz="1200">
              <a:latin typeface="Arial"/>
              <a:cs typeface="Arial"/>
            </a:endParaRPr>
          </a:p>
          <a:p>
            <a:pPr>
              <a:lnSpc>
                <a:spcPct val="100000"/>
              </a:lnSpc>
              <a:spcBef>
                <a:spcPts val="20"/>
              </a:spcBef>
            </a:pPr>
            <a:endParaRPr sz="1150">
              <a:latin typeface="Arial"/>
              <a:cs typeface="Arial"/>
            </a:endParaRPr>
          </a:p>
          <a:p>
            <a:pPr algn="r" marR="220979">
              <a:lnSpc>
                <a:spcPct val="100000"/>
              </a:lnSpc>
              <a:spcBef>
                <a:spcPts val="5"/>
              </a:spcBef>
            </a:pPr>
            <a:r>
              <a:rPr dirty="0" baseline="3086" sz="2700" spc="-509">
                <a:latin typeface="Arial"/>
                <a:cs typeface="Arial"/>
              </a:rPr>
              <a:t>ن</a:t>
            </a:r>
            <a:r>
              <a:rPr dirty="0" sz="1800" spc="-340">
                <a:latin typeface="Arial"/>
                <a:cs typeface="Arial"/>
              </a:rPr>
              <a:t>َ </a:t>
            </a:r>
            <a:r>
              <a:rPr dirty="0" baseline="3086" sz="2700" spc="-232">
                <a:latin typeface="Arial"/>
                <a:cs typeface="Arial"/>
              </a:rPr>
              <a:t>ٌد</a:t>
            </a:r>
            <a:r>
              <a:rPr dirty="0" baseline="1543" sz="2700" spc="-232">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179">
                <a:latin typeface="Arial"/>
                <a:cs typeface="Arial"/>
              </a:rPr>
              <a:t> </a:t>
            </a:r>
            <a:r>
              <a:rPr dirty="0" baseline="3086" sz="2700" spc="-569">
                <a:latin typeface="Arial"/>
                <a:cs typeface="Arial"/>
              </a:rPr>
              <a:t>عْ </a:t>
            </a:r>
            <a:r>
              <a:rPr dirty="0" baseline="3086" sz="2700" spc="-397">
                <a:latin typeface="Arial"/>
                <a:cs typeface="Arial"/>
              </a:rPr>
              <a:t>مُ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525">
                <a:latin typeface="Arial"/>
                <a:cs typeface="Arial"/>
              </a:rPr>
              <a:t>بُّ</a:t>
            </a:r>
            <a:r>
              <a:rPr dirty="0" baseline="3086" sz="2700" spc="-359">
                <a:latin typeface="Arial"/>
                <a:cs typeface="Arial"/>
              </a:rPr>
              <a:t> </a:t>
            </a:r>
            <a:r>
              <a:rPr dirty="0" baseline="3086" sz="2700" spc="-719">
                <a:latin typeface="Arial"/>
                <a:cs typeface="Arial"/>
              </a:rPr>
              <a:t>ح</a:t>
            </a:r>
            <a:r>
              <a:rPr dirty="0" baseline="1543" sz="2700" spc="-719">
                <a:latin typeface="Arial"/>
                <a:cs typeface="Arial"/>
              </a:rPr>
              <a:t>ِ  </a:t>
            </a:r>
            <a:r>
              <a:rPr dirty="0" baseline="3086" sz="2700">
                <a:latin typeface="Arial"/>
                <a:cs typeface="Arial"/>
              </a:rPr>
              <a:t>ٌُ </a:t>
            </a:r>
            <a:r>
              <a:rPr dirty="0" baseline="9259" sz="2700" spc="-157">
                <a:latin typeface="Arial"/>
                <a:cs typeface="Arial"/>
              </a:rPr>
              <a:t>َ</a:t>
            </a:r>
            <a:r>
              <a:rPr dirty="0" baseline="3086" sz="2700" spc="-157">
                <a:latin typeface="Arial"/>
                <a:cs typeface="Arial"/>
              </a:rPr>
              <a:t>لا </a:t>
            </a:r>
            <a:r>
              <a:rPr dirty="0" baseline="3086" sz="2700" spc="-885">
                <a:latin typeface="Arial"/>
                <a:cs typeface="Arial"/>
              </a:rPr>
              <a:t>للَّ</a:t>
            </a:r>
            <a:r>
              <a:rPr dirty="0" baseline="-7716" sz="2700" spc="-885">
                <a:latin typeface="Arial"/>
                <a:cs typeface="Arial"/>
              </a:rPr>
              <a:t>َ</a:t>
            </a:r>
            <a:r>
              <a:rPr dirty="0" baseline="-7716" sz="2700" spc="-67">
                <a:latin typeface="Arial"/>
                <a:cs typeface="Arial"/>
              </a:rPr>
              <a:t> </a:t>
            </a:r>
            <a:r>
              <a:rPr dirty="0" baseline="15432" sz="2700">
                <a:latin typeface="Arial"/>
                <a:cs typeface="Arial"/>
              </a:rPr>
              <a:t>َّ </a:t>
            </a:r>
            <a:r>
              <a:rPr dirty="0" baseline="3086" sz="2700">
                <a:latin typeface="Arial"/>
                <a:cs typeface="Arial"/>
              </a:rPr>
              <a:t>ٱ </a:t>
            </a:r>
            <a:r>
              <a:rPr dirty="0" baseline="3086" sz="2700" spc="-345">
                <a:latin typeface="Arial"/>
                <a:cs typeface="Arial"/>
              </a:rPr>
              <a:t>نَّ </a:t>
            </a:r>
            <a:r>
              <a:rPr dirty="0" baseline="-10802" sz="2700">
                <a:latin typeface="Arial"/>
                <a:cs typeface="Arial"/>
              </a:rPr>
              <a:t>ِ</a:t>
            </a:r>
            <a:r>
              <a:rPr dirty="0" baseline="3086" sz="2700">
                <a:latin typeface="Arial"/>
                <a:cs typeface="Arial"/>
              </a:rPr>
              <a:t>إ </a:t>
            </a:r>
            <a:r>
              <a:rPr dirty="0" baseline="3086" sz="2700" spc="-262">
                <a:latin typeface="Arial"/>
                <a:cs typeface="Arial"/>
              </a:rPr>
              <a:t>ا</a:t>
            </a:r>
            <a:r>
              <a:rPr dirty="0" baseline="10802" sz="2700" spc="-262">
                <a:latin typeface="Arial"/>
                <a:cs typeface="Arial"/>
              </a:rPr>
              <a:t>ْ </a:t>
            </a:r>
            <a:r>
              <a:rPr dirty="0" baseline="3086" sz="2700" spc="-142">
                <a:latin typeface="Arial"/>
                <a:cs typeface="Arial"/>
              </a:rPr>
              <a:t>و</a:t>
            </a:r>
            <a:r>
              <a:rPr dirty="0" baseline="9259" sz="2700" spc="-142">
                <a:latin typeface="Arial"/>
                <a:cs typeface="Arial"/>
              </a:rPr>
              <a:t>ۤ </a:t>
            </a:r>
            <a:r>
              <a:rPr dirty="0" baseline="3086" sz="2700" spc="-367">
                <a:latin typeface="Arial"/>
                <a:cs typeface="Arial"/>
              </a:rPr>
              <a:t>د</a:t>
            </a:r>
            <a:r>
              <a:rPr dirty="0" baseline="6172" sz="2700" spc="-367">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179">
                <a:latin typeface="Arial"/>
                <a:cs typeface="Arial"/>
              </a:rPr>
              <a:t> </a:t>
            </a:r>
            <a:r>
              <a:rPr dirty="0" baseline="3086" sz="2700" spc="-569">
                <a:latin typeface="Arial"/>
                <a:cs typeface="Arial"/>
              </a:rPr>
              <a:t>عْ </a:t>
            </a:r>
            <a:r>
              <a:rPr dirty="0" baseline="3086" sz="2700" spc="-892">
                <a:latin typeface="Arial"/>
                <a:cs typeface="Arial"/>
              </a:rPr>
              <a:t>ت</a:t>
            </a:r>
            <a:r>
              <a:rPr dirty="0" baseline="7716" sz="2700" spc="-892">
                <a:latin typeface="Arial"/>
                <a:cs typeface="Arial"/>
              </a:rPr>
              <a:t>َ</a:t>
            </a:r>
            <a:r>
              <a:rPr dirty="0" baseline="7716" sz="2700" spc="615">
                <a:latin typeface="Arial"/>
                <a:cs typeface="Arial"/>
              </a:rPr>
              <a:t> </a:t>
            </a:r>
            <a:r>
              <a:rPr dirty="0" baseline="9259" sz="2700" spc="-217">
                <a:latin typeface="Arial"/>
                <a:cs typeface="Arial"/>
              </a:rPr>
              <a:t>َ</a:t>
            </a:r>
            <a:r>
              <a:rPr dirty="0" baseline="3086" sz="2700" spc="-217">
                <a:latin typeface="Arial"/>
                <a:cs typeface="Arial"/>
              </a:rPr>
              <a:t>لاو</a:t>
            </a:r>
            <a:r>
              <a:rPr dirty="0" sz="1800" spc="-145">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277">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562">
                <a:latin typeface="Arial"/>
                <a:cs typeface="Arial"/>
              </a:rPr>
              <a:t>و</a:t>
            </a:r>
            <a:r>
              <a:rPr dirty="0" baseline="13888" sz="2700" spc="-562">
                <a:latin typeface="Arial"/>
                <a:cs typeface="Arial"/>
              </a:rPr>
              <a:t>ُ</a:t>
            </a:r>
            <a:r>
              <a:rPr dirty="0" baseline="3086" sz="2700" spc="-562">
                <a:latin typeface="Arial"/>
                <a:cs typeface="Arial"/>
              </a:rPr>
              <a:t>لت</a:t>
            </a:r>
            <a:r>
              <a:rPr dirty="0" baseline="1543" sz="2700" spc="-562">
                <a:latin typeface="Arial"/>
                <a:cs typeface="Arial"/>
              </a:rPr>
              <a:t>ِ </a:t>
            </a:r>
            <a:r>
              <a:rPr dirty="0" baseline="3086" sz="2700" spc="-487">
                <a:latin typeface="Arial"/>
                <a:cs typeface="Arial"/>
              </a:rPr>
              <a:t>اق</a:t>
            </a:r>
            <a:r>
              <a:rPr dirty="0" baseline="7716" sz="2700" spc="-487">
                <a:latin typeface="Arial"/>
                <a:cs typeface="Arial"/>
              </a:rPr>
              <a:t>َ </a:t>
            </a:r>
            <a:r>
              <a:rPr dirty="0" baseline="3086" sz="2700">
                <a:latin typeface="Arial"/>
                <a:cs typeface="Arial"/>
              </a:rPr>
              <a:t>ٌُ </a:t>
            </a:r>
            <a:r>
              <a:rPr dirty="0" baseline="3086" sz="2700" spc="-494">
                <a:latin typeface="Arial"/>
                <a:cs typeface="Arial"/>
              </a:rPr>
              <a:t>ن</a:t>
            </a:r>
            <a:r>
              <a:rPr dirty="0" sz="1800" spc="-330">
                <a:latin typeface="Arial"/>
                <a:cs typeface="Arial"/>
              </a:rPr>
              <a:t>َ </a:t>
            </a:r>
            <a:r>
              <a:rPr dirty="0" baseline="3086" sz="2700" spc="-232">
                <a:latin typeface="Arial"/>
                <a:cs typeface="Arial"/>
              </a:rPr>
              <a:t>ٌذ</a:t>
            </a:r>
            <a:r>
              <a:rPr dirty="0" baseline="1543" sz="2700" spc="-232">
                <a:latin typeface="Arial"/>
                <a:cs typeface="Arial"/>
              </a:rPr>
              <a:t>ِ </a:t>
            </a:r>
            <a:r>
              <a:rPr dirty="0" baseline="13888" sz="2700" spc="-209">
                <a:latin typeface="Arial"/>
                <a:cs typeface="Arial"/>
              </a:rPr>
              <a:t>َّ</a:t>
            </a:r>
            <a:r>
              <a:rPr dirty="0" baseline="3086" sz="2700" spc="-209">
                <a:latin typeface="Arial"/>
                <a:cs typeface="Arial"/>
              </a:rPr>
              <a:t>لٱ </a:t>
            </a:r>
            <a:r>
              <a:rPr dirty="0" baseline="3086" sz="2700" spc="-885">
                <a:latin typeface="Arial"/>
                <a:cs typeface="Arial"/>
              </a:rPr>
              <a:t>للَّ</a:t>
            </a:r>
            <a:r>
              <a:rPr dirty="0" sz="1800" spc="-590">
                <a:latin typeface="Arial"/>
                <a:cs typeface="Arial"/>
              </a:rPr>
              <a:t>ِ</a:t>
            </a:r>
            <a:r>
              <a:rPr dirty="0" sz="1800" spc="-55">
                <a:latin typeface="Arial"/>
                <a:cs typeface="Arial"/>
              </a:rPr>
              <a:t> </a:t>
            </a:r>
            <a:r>
              <a:rPr dirty="0" baseline="15432" sz="2700">
                <a:latin typeface="Arial"/>
                <a:cs typeface="Arial"/>
              </a:rPr>
              <a:t>َّ </a:t>
            </a:r>
            <a:r>
              <a:rPr dirty="0" baseline="3086" sz="2700">
                <a:latin typeface="Arial"/>
                <a:cs typeface="Arial"/>
              </a:rPr>
              <a:t>ٱ </a:t>
            </a:r>
            <a:r>
              <a:rPr dirty="0" baseline="3086" sz="2700" spc="-525">
                <a:latin typeface="Arial"/>
                <a:cs typeface="Arial"/>
              </a:rPr>
              <a:t>ل</a:t>
            </a:r>
            <a:r>
              <a:rPr dirty="0" baseline="-4629" sz="2700" spc="-525">
                <a:latin typeface="Arial"/>
                <a:cs typeface="Arial"/>
              </a:rPr>
              <a:t>ِ </a:t>
            </a:r>
            <a:r>
              <a:rPr dirty="0" baseline="3086" sz="2700" spc="-637">
                <a:latin typeface="Arial"/>
                <a:cs typeface="Arial"/>
              </a:rPr>
              <a:t>ٌب</a:t>
            </a:r>
            <a:r>
              <a:rPr dirty="0" baseline="-10802" sz="2700" spc="-637">
                <a:latin typeface="Arial"/>
                <a:cs typeface="Arial"/>
              </a:rPr>
              <a:t>ِ </a:t>
            </a:r>
            <a:r>
              <a:rPr dirty="0" baseline="3086" sz="2700" spc="-982">
                <a:latin typeface="Arial"/>
                <a:cs typeface="Arial"/>
              </a:rPr>
              <a:t>س</a:t>
            </a:r>
            <a:r>
              <a:rPr dirty="0" sz="1800" spc="-655">
                <a:latin typeface="Arial"/>
                <a:cs typeface="Arial"/>
              </a:rPr>
              <a:t>َ</a:t>
            </a:r>
            <a:r>
              <a:rPr dirty="0" sz="1800" spc="910">
                <a:latin typeface="Arial"/>
                <a:cs typeface="Arial"/>
              </a:rPr>
              <a:t> </a:t>
            </a:r>
            <a:r>
              <a:rPr dirty="0" baseline="3086" sz="2700" spc="-705">
                <a:latin typeface="Arial"/>
                <a:cs typeface="Arial"/>
              </a:rPr>
              <a:t>ًف</a:t>
            </a:r>
            <a:r>
              <a:rPr dirty="0" baseline="1543" sz="2700" spc="-705">
                <a:latin typeface="Arial"/>
                <a:cs typeface="Arial"/>
              </a:rPr>
              <a:t>ِ </a:t>
            </a:r>
            <a:r>
              <a:rPr dirty="0" baseline="3086" sz="2700" spc="-262">
                <a:latin typeface="Arial"/>
                <a:cs typeface="Arial"/>
              </a:rPr>
              <a:t>ا</a:t>
            </a:r>
            <a:r>
              <a:rPr dirty="0" baseline="10802" sz="2700" spc="-262">
                <a:latin typeface="Arial"/>
                <a:cs typeface="Arial"/>
              </a:rPr>
              <a:t>ْ </a:t>
            </a:r>
            <a:r>
              <a:rPr dirty="0" baseline="3086" sz="2700" spc="-562">
                <a:latin typeface="Arial"/>
                <a:cs typeface="Arial"/>
              </a:rPr>
              <a:t>و</a:t>
            </a:r>
            <a:r>
              <a:rPr dirty="0" baseline="13888" sz="2700" spc="-562">
                <a:latin typeface="Arial"/>
                <a:cs typeface="Arial"/>
              </a:rPr>
              <a:t>ُ</a:t>
            </a:r>
            <a:r>
              <a:rPr dirty="0" baseline="3086" sz="2700" spc="-562">
                <a:latin typeface="Arial"/>
                <a:cs typeface="Arial"/>
              </a:rPr>
              <a:t>لت</a:t>
            </a:r>
            <a:r>
              <a:rPr dirty="0" baseline="1543" sz="2700" spc="-562">
                <a:latin typeface="Arial"/>
                <a:cs typeface="Arial"/>
              </a:rPr>
              <a:t>ِ </a:t>
            </a:r>
            <a:r>
              <a:rPr dirty="0" baseline="3086" sz="2700" spc="-487">
                <a:latin typeface="Arial"/>
                <a:cs typeface="Arial"/>
              </a:rPr>
              <a:t>اق</a:t>
            </a:r>
            <a:r>
              <a:rPr dirty="0" baseline="7716" sz="2700" spc="-487">
                <a:latin typeface="Arial"/>
                <a:cs typeface="Arial"/>
              </a:rPr>
              <a:t>َ </a:t>
            </a:r>
            <a:r>
              <a:rPr dirty="0" baseline="3086" sz="2700" spc="-615">
                <a:latin typeface="Arial"/>
                <a:cs typeface="Arial"/>
              </a:rPr>
              <a:t>و</a:t>
            </a:r>
            <a:endParaRPr baseline="3086" sz="2700">
              <a:latin typeface="Arial"/>
              <a:cs typeface="Arial"/>
            </a:endParaRPr>
          </a:p>
          <a:p>
            <a:pPr algn="just" marL="139700" marR="173355">
              <a:lnSpc>
                <a:spcPts val="1380"/>
              </a:lnSpc>
              <a:spcBef>
                <a:spcPts val="1320"/>
              </a:spcBef>
              <a:buAutoNum type="arabicPeriod" startAt="190"/>
              <a:tabLst>
                <a:tab pos="494665" algn="l"/>
              </a:tabLst>
            </a:pPr>
            <a:r>
              <a:rPr dirty="0" sz="1200" spc="-5">
                <a:latin typeface="Arial"/>
                <a:cs typeface="Arial"/>
              </a:rPr>
              <a:t>Fight in the </a:t>
            </a:r>
            <a:r>
              <a:rPr dirty="0" sz="1200" spc="-10">
                <a:latin typeface="Arial"/>
                <a:cs typeface="Arial"/>
              </a:rPr>
              <a:t>way </a:t>
            </a:r>
            <a:r>
              <a:rPr dirty="0" sz="1200" spc="-5">
                <a:latin typeface="Arial"/>
                <a:cs typeface="Arial"/>
              </a:rPr>
              <a:t>of Allah against those </a:t>
            </a:r>
            <a:r>
              <a:rPr dirty="0" sz="1200" spc="-10">
                <a:latin typeface="Arial"/>
                <a:cs typeface="Arial"/>
              </a:rPr>
              <a:t>who </a:t>
            </a:r>
            <a:r>
              <a:rPr dirty="0" sz="1200">
                <a:latin typeface="Arial"/>
                <a:cs typeface="Arial"/>
              </a:rPr>
              <a:t>fight </a:t>
            </a:r>
            <a:r>
              <a:rPr dirty="0" sz="1200" spc="-5">
                <a:latin typeface="Arial"/>
                <a:cs typeface="Arial"/>
              </a:rPr>
              <a:t>against you, but begin not hostilities.  Lo! Allah loves not,</a:t>
            </a:r>
            <a:r>
              <a:rPr dirty="0" sz="1200" spc="15">
                <a:latin typeface="Arial"/>
                <a:cs typeface="Arial"/>
              </a:rPr>
              <a:t> </a:t>
            </a:r>
            <a:r>
              <a:rPr dirty="0" sz="1200" spc="-5">
                <a:latin typeface="Arial"/>
                <a:cs typeface="Arial"/>
              </a:rPr>
              <a:t>aggressors.</a:t>
            </a:r>
            <a:endParaRPr sz="1200">
              <a:latin typeface="Arial"/>
              <a:cs typeface="Arial"/>
            </a:endParaRPr>
          </a:p>
          <a:p>
            <a:pPr>
              <a:lnSpc>
                <a:spcPct val="100000"/>
              </a:lnSpc>
              <a:spcBef>
                <a:spcPts val="35"/>
              </a:spcBef>
              <a:buFont typeface="Arial"/>
              <a:buAutoNum type="arabicPeriod" startAt="190"/>
            </a:pPr>
            <a:endParaRPr sz="1300">
              <a:latin typeface="Arial"/>
              <a:cs typeface="Arial"/>
            </a:endParaRPr>
          </a:p>
          <a:p>
            <a:pPr algn="r" marL="262890" marR="219710" indent="473709">
              <a:lnSpc>
                <a:spcPts val="2020"/>
              </a:lnSpc>
            </a:pPr>
            <a:r>
              <a:rPr dirty="0" baseline="9259" sz="2700" spc="-217">
                <a:latin typeface="Arial"/>
                <a:cs typeface="Arial"/>
              </a:rPr>
              <a:t>َ</a:t>
            </a:r>
            <a:r>
              <a:rPr dirty="0" baseline="3086" sz="2700" spc="-217">
                <a:latin typeface="Arial"/>
                <a:cs typeface="Arial"/>
              </a:rPr>
              <a:t>لاو</a:t>
            </a:r>
            <a:r>
              <a:rPr dirty="0" sz="1800" spc="-145">
                <a:latin typeface="Arial"/>
                <a:cs typeface="Arial"/>
              </a:rPr>
              <a:t>َ</a:t>
            </a:r>
            <a:r>
              <a:rPr dirty="0" sz="1800" spc="210">
                <a:latin typeface="Arial"/>
                <a:cs typeface="Arial"/>
              </a:rPr>
              <a:t> </a:t>
            </a:r>
            <a:r>
              <a:rPr dirty="0" baseline="3086" sz="2700" spc="-532">
                <a:latin typeface="Arial"/>
                <a:cs typeface="Arial"/>
              </a:rPr>
              <a:t>ل</a:t>
            </a:r>
            <a:r>
              <a:rPr dirty="0" baseline="-4629" sz="2700" spc="-532">
                <a:latin typeface="Arial"/>
                <a:cs typeface="Arial"/>
              </a:rPr>
              <a:t>ِ </a:t>
            </a:r>
            <a:r>
              <a:rPr dirty="0" baseline="3086" sz="2700" spc="-862">
                <a:latin typeface="Arial"/>
                <a:cs typeface="Arial"/>
              </a:rPr>
              <a:t>ت</a:t>
            </a:r>
            <a:r>
              <a:rPr dirty="0" baseline="12345" sz="2700" spc="-862">
                <a:latin typeface="Arial"/>
                <a:cs typeface="Arial"/>
              </a:rPr>
              <a:t>ْ</a:t>
            </a:r>
            <a:r>
              <a:rPr dirty="0" baseline="12345" sz="2700" spc="-307">
                <a:latin typeface="Arial"/>
                <a:cs typeface="Arial"/>
              </a:rPr>
              <a:t> </a:t>
            </a:r>
            <a:r>
              <a:rPr dirty="0" baseline="3086" sz="2700" spc="-750">
                <a:latin typeface="Arial"/>
                <a:cs typeface="Arial"/>
              </a:rPr>
              <a:t>ق</a:t>
            </a:r>
            <a:r>
              <a:rPr dirty="0" baseline="7716" sz="2700" spc="-750">
                <a:latin typeface="Arial"/>
                <a:cs typeface="Arial"/>
              </a:rPr>
              <a:t>َ</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232">
                <a:latin typeface="Arial"/>
                <a:cs typeface="Arial"/>
              </a:rPr>
              <a:t>د</a:t>
            </a:r>
            <a:r>
              <a:rPr dirty="0" baseline="4629" sz="2700" spc="-232">
                <a:latin typeface="Arial"/>
                <a:cs typeface="Arial"/>
              </a:rPr>
              <a:t>ُّ </a:t>
            </a:r>
            <a:r>
              <a:rPr dirty="0" baseline="3086" sz="2700" spc="-1042">
                <a:latin typeface="Arial"/>
                <a:cs typeface="Arial"/>
              </a:rPr>
              <a:t>ش</a:t>
            </a:r>
            <a:r>
              <a:rPr dirty="0" baseline="7716" sz="2700" spc="-1042">
                <a:latin typeface="Arial"/>
                <a:cs typeface="Arial"/>
              </a:rPr>
              <a:t>َ</a:t>
            </a:r>
            <a:r>
              <a:rPr dirty="0" baseline="7716" sz="2700" spc="509">
                <a:latin typeface="Arial"/>
                <a:cs typeface="Arial"/>
              </a:rPr>
              <a:t> </a:t>
            </a:r>
            <a:r>
              <a:rPr dirty="0" baseline="16975" sz="2700">
                <a:latin typeface="Arial"/>
                <a:cs typeface="Arial"/>
              </a:rPr>
              <a:t>َ</a:t>
            </a:r>
            <a:r>
              <a:rPr dirty="0" baseline="3086" sz="2700">
                <a:latin typeface="Arial"/>
                <a:cs typeface="Arial"/>
              </a:rPr>
              <a:t>أ </a:t>
            </a:r>
            <a:r>
              <a:rPr dirty="0" baseline="3086" sz="2700" spc="-322">
                <a:latin typeface="Arial"/>
                <a:cs typeface="Arial"/>
              </a:rPr>
              <a:t>ة</a:t>
            </a:r>
            <a:r>
              <a:rPr dirty="0" baseline="13888" sz="2700" spc="-322">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862">
                <a:latin typeface="Arial"/>
                <a:cs typeface="Arial"/>
              </a:rPr>
              <a:t>ت</a:t>
            </a:r>
            <a:r>
              <a:rPr dirty="0" baseline="12345" sz="2700" spc="-862">
                <a:latin typeface="Arial"/>
                <a:cs typeface="Arial"/>
              </a:rPr>
              <a:t>ْ</a:t>
            </a:r>
            <a:r>
              <a:rPr dirty="0" baseline="12345" sz="2700" spc="-307">
                <a:latin typeface="Arial"/>
                <a:cs typeface="Arial"/>
              </a:rPr>
              <a:t> </a:t>
            </a:r>
            <a:r>
              <a:rPr dirty="0" baseline="3086" sz="2700" spc="-1064">
                <a:latin typeface="Arial"/>
                <a:cs typeface="Arial"/>
              </a:rPr>
              <a:t>ف</a:t>
            </a:r>
            <a:r>
              <a:rPr dirty="0" baseline="1543" sz="2700" spc="-1064">
                <a:latin typeface="Arial"/>
                <a:cs typeface="Arial"/>
              </a:rPr>
              <a:t>ِ</a:t>
            </a:r>
            <a:r>
              <a:rPr dirty="0" baseline="1543" sz="2700" spc="-6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209">
                <a:latin typeface="Arial"/>
                <a:cs typeface="Arial"/>
              </a:rPr>
              <a:t>ٱو</a:t>
            </a:r>
            <a:r>
              <a:rPr dirty="0" sz="1800" spc="-14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179">
                <a:latin typeface="Arial"/>
                <a:cs typeface="Arial"/>
              </a:rPr>
              <a:t> </a:t>
            </a:r>
            <a:r>
              <a:rPr dirty="0" baseline="3086" sz="2700" spc="-419">
                <a:latin typeface="Arial"/>
                <a:cs typeface="Arial"/>
              </a:rPr>
              <a:t>وجُ </a:t>
            </a:r>
            <a:r>
              <a:rPr dirty="0" baseline="3086" sz="2700" spc="-494">
                <a:latin typeface="Arial"/>
                <a:cs typeface="Arial"/>
              </a:rPr>
              <a:t>ر</a:t>
            </a:r>
            <a:r>
              <a:rPr dirty="0" sz="1800" spc="-330">
                <a:latin typeface="Arial"/>
                <a:cs typeface="Arial"/>
              </a:rPr>
              <a:t>َ </a:t>
            </a:r>
            <a:r>
              <a:rPr dirty="0" baseline="3086" sz="2700" spc="-555">
                <a:latin typeface="Arial"/>
                <a:cs typeface="Arial"/>
              </a:rPr>
              <a:t>خ</a:t>
            </a:r>
            <a:r>
              <a:rPr dirty="0" baseline="12345" sz="2700" spc="-555">
                <a:latin typeface="Arial"/>
                <a:cs typeface="Arial"/>
              </a:rPr>
              <a:t>ْ </a:t>
            </a:r>
            <a:r>
              <a:rPr dirty="0" baseline="16975" sz="2700">
                <a:latin typeface="Arial"/>
                <a:cs typeface="Arial"/>
              </a:rPr>
              <a:t>َ</a:t>
            </a:r>
            <a:r>
              <a:rPr dirty="0" baseline="3086" sz="2700">
                <a:latin typeface="Arial"/>
                <a:cs typeface="Arial"/>
              </a:rPr>
              <a:t>أ </a:t>
            </a:r>
            <a:r>
              <a:rPr dirty="0" baseline="3086" sz="2700" spc="-802">
                <a:latin typeface="Arial"/>
                <a:cs typeface="Arial"/>
              </a:rPr>
              <a:t>ث</a:t>
            </a:r>
            <a:r>
              <a:rPr dirty="0" baseline="13888" sz="2700" spc="-802">
                <a:latin typeface="Arial"/>
                <a:cs typeface="Arial"/>
              </a:rPr>
              <a:t>ُ</a:t>
            </a:r>
            <a:r>
              <a:rPr dirty="0" baseline="13888" sz="2700" spc="862">
                <a:latin typeface="Arial"/>
                <a:cs typeface="Arial"/>
              </a:rPr>
              <a:t> </a:t>
            </a:r>
            <a:r>
              <a:rPr dirty="0" baseline="3086" sz="2700">
                <a:latin typeface="Arial"/>
                <a:cs typeface="Arial"/>
              </a:rPr>
              <a:t>ٌْ </a:t>
            </a:r>
            <a:r>
              <a:rPr dirty="0" baseline="3086" sz="2700" spc="-592">
                <a:latin typeface="Arial"/>
                <a:cs typeface="Arial"/>
              </a:rPr>
              <a:t>ح</a:t>
            </a:r>
            <a:r>
              <a:rPr dirty="0" sz="1800" spc="-395">
                <a:latin typeface="Arial"/>
                <a:cs typeface="Arial"/>
              </a:rPr>
              <a:t>َ </a:t>
            </a:r>
            <a:r>
              <a:rPr dirty="0" baseline="3086" sz="2700" spc="-465">
                <a:latin typeface="Arial"/>
                <a:cs typeface="Arial"/>
              </a:rPr>
              <a:t>نْ  </a:t>
            </a:r>
            <a:r>
              <a:rPr dirty="0" baseline="3086" sz="2700" spc="-254">
                <a:latin typeface="Arial"/>
                <a:cs typeface="Arial"/>
              </a:rPr>
              <a:t>مِّ  </a:t>
            </a:r>
            <a:r>
              <a:rPr dirty="0" baseline="3086" sz="2700" spc="-352">
                <a:latin typeface="Arial"/>
                <a:cs typeface="Arial"/>
              </a:rPr>
              <a:t>م</a:t>
            </a:r>
            <a:r>
              <a:rPr dirty="0" baseline="-1543" sz="2700" spc="-352">
                <a:latin typeface="Arial"/>
                <a:cs typeface="Arial"/>
              </a:rPr>
              <a:t>ْ </a:t>
            </a:r>
            <a:r>
              <a:rPr dirty="0" baseline="3086" sz="2700" spc="-307">
                <a:latin typeface="Arial"/>
                <a:cs typeface="Arial"/>
              </a:rPr>
              <a:t>هُ </a:t>
            </a:r>
            <a:r>
              <a:rPr dirty="0" baseline="3086" sz="2700" spc="-419">
                <a:latin typeface="Arial"/>
                <a:cs typeface="Arial"/>
              </a:rPr>
              <a:t>وجُ </a:t>
            </a:r>
            <a:r>
              <a:rPr dirty="0" baseline="3086" sz="2700" spc="-457">
                <a:latin typeface="Arial"/>
                <a:cs typeface="Arial"/>
              </a:rPr>
              <a:t>ر</a:t>
            </a:r>
            <a:r>
              <a:rPr dirty="0" baseline="-10802" sz="2700" spc="-457">
                <a:latin typeface="Arial"/>
                <a:cs typeface="Arial"/>
              </a:rPr>
              <a:t>ِ </a:t>
            </a:r>
            <a:r>
              <a:rPr dirty="0" baseline="3086" sz="2700" spc="-555">
                <a:latin typeface="Arial"/>
                <a:cs typeface="Arial"/>
              </a:rPr>
              <a:t>خ</a:t>
            </a:r>
            <a:r>
              <a:rPr dirty="0" baseline="12345" sz="2700" spc="-555">
                <a:latin typeface="Arial"/>
                <a:cs typeface="Arial"/>
              </a:rPr>
              <a:t>ْ </a:t>
            </a:r>
            <a:r>
              <a:rPr dirty="0" baseline="16975" sz="2700" spc="-157">
                <a:latin typeface="Arial"/>
                <a:cs typeface="Arial"/>
              </a:rPr>
              <a:t>َ</a:t>
            </a:r>
            <a:r>
              <a:rPr dirty="0" baseline="3086" sz="2700" spc="-157">
                <a:latin typeface="Arial"/>
                <a:cs typeface="Arial"/>
              </a:rPr>
              <a:t>أو</a:t>
            </a:r>
            <a:r>
              <a:rPr dirty="0" sz="1800" spc="-105">
                <a:latin typeface="Arial"/>
                <a:cs typeface="Arial"/>
              </a:rPr>
              <a:t>َ </a:t>
            </a:r>
            <a:r>
              <a:rPr dirty="0" baseline="3086" sz="2700" spc="-202">
                <a:latin typeface="Arial"/>
                <a:cs typeface="Arial"/>
              </a:rPr>
              <a:t>مهُ </a:t>
            </a:r>
            <a:r>
              <a:rPr dirty="0" baseline="3086" sz="2700" spc="-270">
                <a:latin typeface="Arial"/>
                <a:cs typeface="Arial"/>
              </a:rPr>
              <a:t>ومُ </a:t>
            </a:r>
            <a:r>
              <a:rPr dirty="0" baseline="3086" sz="2700" spc="-930">
                <a:latin typeface="Arial"/>
                <a:cs typeface="Arial"/>
              </a:rPr>
              <a:t>ت</a:t>
            </a:r>
            <a:r>
              <a:rPr dirty="0" baseline="10802" sz="2700" spc="-930">
                <a:latin typeface="Arial"/>
                <a:cs typeface="Arial"/>
              </a:rPr>
              <a:t>ُ</a:t>
            </a:r>
            <a:r>
              <a:rPr dirty="0" baseline="10802" sz="2700" spc="-157">
                <a:latin typeface="Arial"/>
                <a:cs typeface="Arial"/>
              </a:rPr>
              <a:t> </a:t>
            </a:r>
            <a:r>
              <a:rPr dirty="0" baseline="3086" sz="2700" spc="-997">
                <a:latin typeface="Arial"/>
                <a:cs typeface="Arial"/>
              </a:rPr>
              <a:t>ف</a:t>
            </a:r>
            <a:r>
              <a:rPr dirty="0" baseline="12345" sz="2700" spc="-997">
                <a:latin typeface="Arial"/>
                <a:cs typeface="Arial"/>
              </a:rPr>
              <a:t>ْ</a:t>
            </a:r>
            <a:r>
              <a:rPr dirty="0" baseline="12345" sz="2700" spc="-187">
                <a:latin typeface="Arial"/>
                <a:cs typeface="Arial"/>
              </a:rPr>
              <a:t> </a:t>
            </a:r>
            <a:r>
              <a:rPr dirty="0" baseline="3086" sz="2700" spc="-780">
                <a:latin typeface="Arial"/>
                <a:cs typeface="Arial"/>
              </a:rPr>
              <a:t>ق</a:t>
            </a:r>
            <a:r>
              <a:rPr dirty="0" baseline="1543" sz="2700" spc="-780">
                <a:latin typeface="Arial"/>
                <a:cs typeface="Arial"/>
              </a:rPr>
              <a:t>ِ</a:t>
            </a:r>
            <a:r>
              <a:rPr dirty="0" baseline="1543" sz="2700" spc="-67">
                <a:latin typeface="Arial"/>
                <a:cs typeface="Arial"/>
              </a:rPr>
              <a:t> </a:t>
            </a:r>
            <a:r>
              <a:rPr dirty="0" baseline="3086" sz="2700" spc="-892">
                <a:latin typeface="Arial"/>
                <a:cs typeface="Arial"/>
              </a:rPr>
              <a:t>ث</a:t>
            </a:r>
            <a:r>
              <a:rPr dirty="0" baseline="13888" sz="2700" spc="-892">
                <a:latin typeface="Arial"/>
                <a:cs typeface="Arial"/>
              </a:rPr>
              <a:t>َ</a:t>
            </a:r>
            <a:r>
              <a:rPr dirty="0" baseline="13888" sz="2700" spc="540">
                <a:latin typeface="Arial"/>
                <a:cs typeface="Arial"/>
              </a:rPr>
              <a:t> </a:t>
            </a:r>
            <a:r>
              <a:rPr dirty="0" baseline="3086" sz="2700" spc="-802">
                <a:latin typeface="Arial"/>
                <a:cs typeface="Arial"/>
              </a:rPr>
              <a:t>ث</a:t>
            </a:r>
            <a:r>
              <a:rPr dirty="0" baseline="13888" sz="2700" spc="-802">
                <a:latin typeface="Arial"/>
                <a:cs typeface="Arial"/>
              </a:rPr>
              <a:t>ُ</a:t>
            </a:r>
            <a:r>
              <a:rPr dirty="0" baseline="13888" sz="2700" spc="855">
                <a:latin typeface="Arial"/>
                <a:cs typeface="Arial"/>
              </a:rPr>
              <a:t> </a:t>
            </a:r>
            <a:r>
              <a:rPr dirty="0" baseline="3086" sz="2700">
                <a:latin typeface="Arial"/>
                <a:cs typeface="Arial"/>
              </a:rPr>
              <a:t>ٌْ </a:t>
            </a:r>
            <a:r>
              <a:rPr dirty="0" baseline="3086" sz="2700" spc="-592">
                <a:latin typeface="Arial"/>
                <a:cs typeface="Arial"/>
              </a:rPr>
              <a:t>ح</a:t>
            </a:r>
            <a:r>
              <a:rPr dirty="0" sz="1800" spc="-395">
                <a:latin typeface="Arial"/>
                <a:cs typeface="Arial"/>
              </a:rPr>
              <a:t>َ </a:t>
            </a:r>
            <a:r>
              <a:rPr dirty="0" baseline="3086" sz="2700" spc="-359">
                <a:latin typeface="Arial"/>
                <a:cs typeface="Arial"/>
              </a:rPr>
              <a:t>م</a:t>
            </a:r>
            <a:r>
              <a:rPr dirty="0" baseline="-1543" sz="2700" spc="-359">
                <a:latin typeface="Arial"/>
                <a:cs typeface="Arial"/>
              </a:rPr>
              <a:t>ْ </a:t>
            </a:r>
            <a:r>
              <a:rPr dirty="0" baseline="3086" sz="2700" spc="-307">
                <a:latin typeface="Arial"/>
                <a:cs typeface="Arial"/>
              </a:rPr>
              <a:t>هُ</a:t>
            </a:r>
            <a:r>
              <a:rPr dirty="0" baseline="3086" sz="2700" spc="-15">
                <a:latin typeface="Arial"/>
                <a:cs typeface="Arial"/>
              </a:rPr>
              <a:t> </a:t>
            </a:r>
            <a:r>
              <a:rPr dirty="0" baseline="3086" sz="2700" spc="-555">
                <a:latin typeface="Arial"/>
                <a:cs typeface="Arial"/>
              </a:rPr>
              <a:t>و</a:t>
            </a:r>
            <a:r>
              <a:rPr dirty="0" baseline="13888" sz="2700" spc="-555">
                <a:latin typeface="Arial"/>
                <a:cs typeface="Arial"/>
              </a:rPr>
              <a:t>ُ</a:t>
            </a:r>
            <a:r>
              <a:rPr dirty="0" baseline="3086" sz="2700" spc="-555">
                <a:latin typeface="Arial"/>
                <a:cs typeface="Arial"/>
              </a:rPr>
              <a:t>لت</a:t>
            </a:r>
            <a:r>
              <a:rPr dirty="0" baseline="10802" sz="2700" spc="-555">
                <a:latin typeface="Arial"/>
                <a:cs typeface="Arial"/>
              </a:rPr>
              <a:t>ُ </a:t>
            </a:r>
            <a:r>
              <a:rPr dirty="0" baseline="3086" sz="2700" spc="-719">
                <a:latin typeface="Arial"/>
                <a:cs typeface="Arial"/>
              </a:rPr>
              <a:t>ق</a:t>
            </a:r>
            <a:r>
              <a:rPr dirty="0" baseline="12345" sz="2700" spc="-719">
                <a:latin typeface="Arial"/>
                <a:cs typeface="Arial"/>
              </a:rPr>
              <a:t>ْ </a:t>
            </a:r>
            <a:r>
              <a:rPr dirty="0" baseline="3086" sz="2700" spc="-315">
                <a:latin typeface="Arial"/>
                <a:cs typeface="Arial"/>
              </a:rPr>
              <a:t>ٱو </a:t>
            </a:r>
            <a:r>
              <a:rPr dirty="0" baseline="3086" sz="2700" spc="-615">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307">
                <a:latin typeface="Arial"/>
                <a:cs typeface="Arial"/>
              </a:rPr>
              <a:t>ٌر</a:t>
            </a:r>
            <a:r>
              <a:rPr dirty="0" baseline="-13888" sz="2700" spc="-307">
                <a:latin typeface="Arial"/>
                <a:cs typeface="Arial"/>
              </a:rPr>
              <a:t>ِ </a:t>
            </a:r>
            <a:r>
              <a:rPr dirty="0" baseline="1543" sz="2700" spc="-1057">
                <a:latin typeface="Arial"/>
                <a:cs typeface="Arial"/>
              </a:rPr>
              <a:t>ف</a:t>
            </a:r>
            <a:r>
              <a:rPr dirty="0" sz="1800" spc="-705">
                <a:latin typeface="Arial"/>
                <a:cs typeface="Arial"/>
              </a:rPr>
              <a:t>ِ</a:t>
            </a:r>
            <a:r>
              <a:rPr dirty="0" sz="1800" spc="-30">
                <a:latin typeface="Arial"/>
                <a:cs typeface="Arial"/>
              </a:rPr>
              <a:t> </a:t>
            </a:r>
            <a:r>
              <a:rPr dirty="0" baseline="1543" sz="2700" spc="-465">
                <a:latin typeface="Arial"/>
                <a:cs typeface="Arial"/>
              </a:rPr>
              <a:t>اك</a:t>
            </a:r>
            <a:r>
              <a:rPr dirty="0" baseline="6172" sz="2700" spc="-465">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494">
                <a:latin typeface="Arial"/>
                <a:cs typeface="Arial"/>
              </a:rPr>
              <a:t>ءُ </a:t>
            </a:r>
            <a:r>
              <a:rPr dirty="0" baseline="1543" sz="2700" spc="-330">
                <a:latin typeface="Arial"/>
                <a:cs typeface="Arial"/>
              </a:rPr>
              <a:t>آز</a:t>
            </a:r>
            <a:r>
              <a:rPr dirty="0" baseline="6172" sz="2700" spc="-330">
                <a:latin typeface="Arial"/>
                <a:cs typeface="Arial"/>
              </a:rPr>
              <a:t>َ </a:t>
            </a:r>
            <a:r>
              <a:rPr dirty="0" baseline="1543" sz="2700" spc="-592">
                <a:latin typeface="Arial"/>
                <a:cs typeface="Arial"/>
              </a:rPr>
              <a:t>ج</a:t>
            </a:r>
            <a:r>
              <a:rPr dirty="0" baseline="-1543" sz="2700" spc="-592">
                <a:latin typeface="Arial"/>
                <a:cs typeface="Arial"/>
              </a:rPr>
              <a:t>َ </a:t>
            </a:r>
            <a:r>
              <a:rPr dirty="0" baseline="1543" sz="2700" spc="-682">
                <a:latin typeface="Arial"/>
                <a:cs typeface="Arial"/>
              </a:rPr>
              <a:t>ك</a:t>
            </a:r>
            <a:r>
              <a:rPr dirty="0" baseline="-1543" sz="2700" spc="-682">
                <a:latin typeface="Arial"/>
                <a:cs typeface="Arial"/>
              </a:rPr>
              <a:t>َ </a:t>
            </a:r>
            <a:r>
              <a:rPr dirty="0" sz="1800" spc="-245">
                <a:latin typeface="Arial"/>
                <a:cs typeface="Arial"/>
              </a:rPr>
              <a:t>ِ</a:t>
            </a:r>
            <a:r>
              <a:rPr dirty="0" baseline="1543" sz="2700" spc="-367">
                <a:latin typeface="Arial"/>
                <a:cs typeface="Arial"/>
              </a:rPr>
              <a:t>لذ</a:t>
            </a:r>
            <a:r>
              <a:rPr dirty="0" baseline="10802" sz="2700" spc="-367">
                <a:latin typeface="Arial"/>
                <a:cs typeface="Arial"/>
              </a:rPr>
              <a:t>َ </a:t>
            </a:r>
            <a:r>
              <a:rPr dirty="0" baseline="1543" sz="2700" spc="-719">
                <a:latin typeface="Arial"/>
                <a:cs typeface="Arial"/>
              </a:rPr>
              <a:t>ك</a:t>
            </a:r>
            <a:r>
              <a:rPr dirty="0" baseline="6172" sz="2700" spc="-719">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15">
                <a:latin typeface="Arial"/>
                <a:cs typeface="Arial"/>
              </a:rPr>
              <a:t>هُ </a:t>
            </a:r>
            <a:r>
              <a:rPr dirty="0" baseline="1543" sz="2700" spc="-555">
                <a:latin typeface="Arial"/>
                <a:cs typeface="Arial"/>
              </a:rPr>
              <a:t>و</a:t>
            </a:r>
            <a:r>
              <a:rPr dirty="0" baseline="12345" sz="2700" spc="-555">
                <a:latin typeface="Arial"/>
                <a:cs typeface="Arial"/>
              </a:rPr>
              <a:t>ُ</a:t>
            </a:r>
            <a:r>
              <a:rPr dirty="0" baseline="1543" sz="2700" spc="-555">
                <a:latin typeface="Arial"/>
                <a:cs typeface="Arial"/>
              </a:rPr>
              <a:t>لت</a:t>
            </a:r>
            <a:r>
              <a:rPr dirty="0" baseline="9259" sz="2700" spc="-555">
                <a:latin typeface="Arial"/>
                <a:cs typeface="Arial"/>
              </a:rPr>
              <a:t>ُ </a:t>
            </a:r>
            <a:r>
              <a:rPr dirty="0" baseline="1543" sz="2700" spc="-719">
                <a:latin typeface="Arial"/>
                <a:cs typeface="Arial"/>
              </a:rPr>
              <a:t>ق</a:t>
            </a:r>
            <a:r>
              <a:rPr dirty="0" baseline="9259" sz="2700" spc="-719">
                <a:latin typeface="Arial"/>
                <a:cs typeface="Arial"/>
              </a:rPr>
              <a:t>ْ </a:t>
            </a:r>
            <a:r>
              <a:rPr dirty="0" baseline="1543" sz="2700" spc="-675">
                <a:latin typeface="Arial"/>
                <a:cs typeface="Arial"/>
              </a:rPr>
              <a:t>ٲف</a:t>
            </a:r>
            <a:r>
              <a:rPr dirty="0" baseline="6172" sz="2700" spc="-67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1543" sz="2700" spc="-540">
                <a:latin typeface="Arial"/>
                <a:cs typeface="Arial"/>
              </a:rPr>
              <a:t>و</a:t>
            </a:r>
            <a:r>
              <a:rPr dirty="0" baseline="12345" sz="2700" spc="-540">
                <a:latin typeface="Arial"/>
                <a:cs typeface="Arial"/>
              </a:rPr>
              <a:t>ُ</a:t>
            </a:r>
            <a:r>
              <a:rPr dirty="0" baseline="1543" sz="2700" spc="-540">
                <a:latin typeface="Arial"/>
                <a:cs typeface="Arial"/>
              </a:rPr>
              <a:t>لت</a:t>
            </a:r>
            <a:r>
              <a:rPr dirty="0" baseline="6172" sz="2700" spc="-540">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spc="-412">
                <a:latin typeface="Arial"/>
                <a:cs typeface="Arial"/>
              </a:rPr>
              <a:t>ن</a:t>
            </a:r>
            <a:r>
              <a:rPr dirty="0" baseline="-12345" sz="2700" spc="-412">
                <a:latin typeface="Arial"/>
                <a:cs typeface="Arial"/>
              </a:rPr>
              <a:t>ِ</a:t>
            </a:r>
            <a:r>
              <a:rPr dirty="0" baseline="1543" sz="2700" spc="-412">
                <a:latin typeface="Arial"/>
                <a:cs typeface="Arial"/>
              </a:rPr>
              <a:t>إف</a:t>
            </a:r>
            <a:r>
              <a:rPr dirty="0" baseline="6172" sz="2700" spc="-412">
                <a:latin typeface="Arial"/>
                <a:cs typeface="Arial"/>
              </a:rPr>
              <a:t>َ </a:t>
            </a:r>
            <a:r>
              <a:rPr dirty="0" baseline="1543" sz="2700" spc="-337">
                <a:latin typeface="Arial"/>
                <a:cs typeface="Arial"/>
              </a:rPr>
              <a:t>ه</a:t>
            </a:r>
            <a:r>
              <a:rPr dirty="0" sz="1800" spc="-225">
                <a:latin typeface="Arial"/>
                <a:cs typeface="Arial"/>
              </a:rPr>
              <a:t>ِ </a:t>
            </a:r>
            <a:r>
              <a:rPr dirty="0" baseline="1543" sz="2700" spc="-705">
                <a:latin typeface="Arial"/>
                <a:cs typeface="Arial"/>
              </a:rPr>
              <a:t>ٌف</a:t>
            </a:r>
            <a:r>
              <a:rPr dirty="0" sz="1800" spc="-47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1543" sz="2700" spc="-562">
                <a:latin typeface="Arial"/>
                <a:cs typeface="Arial"/>
              </a:rPr>
              <a:t>و</a:t>
            </a:r>
            <a:r>
              <a:rPr dirty="0" baseline="12345" sz="2700" spc="-562">
                <a:latin typeface="Arial"/>
                <a:cs typeface="Arial"/>
              </a:rPr>
              <a:t>ُ</a:t>
            </a:r>
            <a:r>
              <a:rPr dirty="0" baseline="1543" sz="2700" spc="-562">
                <a:latin typeface="Arial"/>
                <a:cs typeface="Arial"/>
              </a:rPr>
              <a:t>لت</a:t>
            </a:r>
            <a:r>
              <a:rPr dirty="0" sz="1800" spc="-375">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a:latin typeface="Arial"/>
                <a:cs typeface="Arial"/>
              </a:rPr>
              <a:t>ٌُ </a:t>
            </a:r>
            <a:r>
              <a:rPr dirty="0" baseline="1543" sz="2700" spc="-532">
                <a:latin typeface="Arial"/>
                <a:cs typeface="Arial"/>
              </a:rPr>
              <a:t>ى</a:t>
            </a:r>
            <a:r>
              <a:rPr dirty="0" baseline="6172" sz="2700" spc="-532">
                <a:latin typeface="Arial"/>
                <a:cs typeface="Arial"/>
              </a:rPr>
              <a:t>ٰ </a:t>
            </a:r>
            <a:r>
              <a:rPr dirty="0" baseline="1543" sz="2700" spc="-607">
                <a:latin typeface="Arial"/>
                <a:cs typeface="Arial"/>
              </a:rPr>
              <a:t>ت</a:t>
            </a:r>
            <a:r>
              <a:rPr dirty="0" baseline="9259" sz="2700" spc="-607">
                <a:latin typeface="Arial"/>
                <a:cs typeface="Arial"/>
              </a:rPr>
              <a:t>َّ </a:t>
            </a:r>
            <a:r>
              <a:rPr dirty="0" baseline="1543" sz="2700" spc="-592">
                <a:latin typeface="Arial"/>
                <a:cs typeface="Arial"/>
              </a:rPr>
              <a:t>ح</a:t>
            </a:r>
            <a:r>
              <a:rPr dirty="0" baseline="-1543" sz="2700" spc="-592">
                <a:latin typeface="Arial"/>
                <a:cs typeface="Arial"/>
              </a:rPr>
              <a:t>َ </a:t>
            </a:r>
            <a:r>
              <a:rPr dirty="0" baseline="1543" sz="2700" spc="-315">
                <a:latin typeface="Arial"/>
                <a:cs typeface="Arial"/>
              </a:rPr>
              <a:t>م</a:t>
            </a:r>
            <a:r>
              <a:rPr dirty="0" baseline="-16975" sz="2700" spc="-315">
                <a:latin typeface="Arial"/>
                <a:cs typeface="Arial"/>
              </a:rPr>
              <a:t>ِ </a:t>
            </a:r>
            <a:r>
              <a:rPr dirty="0" baseline="1543" sz="2700" spc="-330">
                <a:latin typeface="Arial"/>
                <a:cs typeface="Arial"/>
              </a:rPr>
              <a:t>ار</a:t>
            </a:r>
            <a:r>
              <a:rPr dirty="0" baseline="-1543" sz="2700" spc="-330">
                <a:latin typeface="Arial"/>
                <a:cs typeface="Arial"/>
              </a:rPr>
              <a:t>َ </a:t>
            </a:r>
            <a:r>
              <a:rPr dirty="0" baseline="1543" sz="2700" spc="-592">
                <a:latin typeface="Arial"/>
                <a:cs typeface="Arial"/>
              </a:rPr>
              <a:t>ح</a:t>
            </a:r>
            <a:r>
              <a:rPr dirty="0" baseline="-1543" sz="2700" spc="-592">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352">
                <a:latin typeface="Arial"/>
                <a:cs typeface="Arial"/>
              </a:rPr>
              <a:t>د</a:t>
            </a:r>
            <a:r>
              <a:rPr dirty="0" sz="1800" spc="-235">
                <a:latin typeface="Arial"/>
                <a:cs typeface="Arial"/>
              </a:rPr>
              <a:t>ِ </a:t>
            </a:r>
            <a:r>
              <a:rPr dirty="0" baseline="1543" sz="2700" spc="-719">
                <a:latin typeface="Arial"/>
                <a:cs typeface="Arial"/>
              </a:rPr>
              <a:t>ج</a:t>
            </a:r>
            <a:r>
              <a:rPr dirty="0" baseline="-9259" sz="2700" spc="-719">
                <a:latin typeface="Arial"/>
                <a:cs typeface="Arial"/>
              </a:rPr>
              <a:t>ِ  </a:t>
            </a:r>
            <a:r>
              <a:rPr dirty="0" baseline="1543" sz="2700" spc="-944">
                <a:latin typeface="Arial"/>
                <a:cs typeface="Arial"/>
              </a:rPr>
              <a:t>سْ</a:t>
            </a:r>
            <a:r>
              <a:rPr dirty="0" baseline="1543" sz="2700" spc="359">
                <a:latin typeface="Arial"/>
                <a:cs typeface="Arial"/>
              </a:rPr>
              <a:t> </a:t>
            </a:r>
            <a:r>
              <a:rPr dirty="0" baseline="1543" sz="2700" spc="-367">
                <a:latin typeface="Arial"/>
                <a:cs typeface="Arial"/>
              </a:rPr>
              <a:t>م</a:t>
            </a:r>
            <a:r>
              <a:rPr dirty="0" baseline="-1543" sz="2700" spc="-367">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322">
                <a:latin typeface="Arial"/>
                <a:cs typeface="Arial"/>
              </a:rPr>
              <a:t>د</a:t>
            </a:r>
            <a:r>
              <a:rPr dirty="0" sz="1800" spc="-215">
                <a:latin typeface="Arial"/>
                <a:cs typeface="Arial"/>
              </a:rPr>
              <a:t>َ </a:t>
            </a:r>
            <a:r>
              <a:rPr dirty="0" baseline="1543" sz="2700" spc="-607">
                <a:latin typeface="Arial"/>
                <a:cs typeface="Arial"/>
              </a:rPr>
              <a:t>ن</a:t>
            </a:r>
            <a:r>
              <a:rPr dirty="0" baseline="9259" sz="2700" spc="-607">
                <a:latin typeface="Arial"/>
                <a:cs typeface="Arial"/>
              </a:rPr>
              <a:t>ْ </a:t>
            </a:r>
            <a:r>
              <a:rPr dirty="0" baseline="1543" sz="2700" spc="-607">
                <a:latin typeface="Arial"/>
                <a:cs typeface="Arial"/>
              </a:rPr>
              <a:t>ع</a:t>
            </a:r>
            <a:r>
              <a:rPr dirty="0" sz="1800" spc="-40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a:t>
            </a:r>
            <a:r>
              <a:rPr dirty="0" baseline="1543" sz="2700" spc="-195">
                <a:latin typeface="Arial"/>
                <a:cs typeface="Arial"/>
              </a:rPr>
              <a:t> </a:t>
            </a:r>
            <a:r>
              <a:rPr dirty="0" baseline="1543" sz="2700" spc="-562">
                <a:latin typeface="Arial"/>
                <a:cs typeface="Arial"/>
              </a:rPr>
              <a:t>و</a:t>
            </a:r>
            <a:r>
              <a:rPr dirty="0" baseline="12345" sz="2700" spc="-562">
                <a:latin typeface="Arial"/>
                <a:cs typeface="Arial"/>
              </a:rPr>
              <a:t>ُ</a:t>
            </a:r>
            <a:r>
              <a:rPr dirty="0" baseline="1543" sz="2700" spc="-562">
                <a:latin typeface="Arial"/>
                <a:cs typeface="Arial"/>
              </a:rPr>
              <a:t>لت</a:t>
            </a:r>
            <a:r>
              <a:rPr dirty="0" sz="1800" spc="-375">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spc="-1860">
                <a:latin typeface="Arial"/>
                <a:cs typeface="Arial"/>
              </a:rPr>
              <a:t>ت</a:t>
            </a:r>
            <a:endParaRPr baseline="1543" sz="2700">
              <a:latin typeface="Arial"/>
              <a:cs typeface="Arial"/>
            </a:endParaRPr>
          </a:p>
          <a:p>
            <a:pPr algn="just" marL="139700" marR="169545">
              <a:lnSpc>
                <a:spcPts val="1380"/>
              </a:lnSpc>
              <a:spcBef>
                <a:spcPts val="1330"/>
              </a:spcBef>
              <a:buAutoNum type="arabicPeriod" startAt="191"/>
              <a:tabLst>
                <a:tab pos="497840" algn="l"/>
              </a:tabLst>
            </a:pPr>
            <a:r>
              <a:rPr dirty="0" sz="1200" spc="-5">
                <a:latin typeface="Arial"/>
                <a:cs typeface="Arial"/>
              </a:rPr>
              <a:t>And slay them wherever </a:t>
            </a:r>
            <a:r>
              <a:rPr dirty="0" sz="1200" spc="-10">
                <a:latin typeface="Arial"/>
                <a:cs typeface="Arial"/>
              </a:rPr>
              <a:t>ye </a:t>
            </a:r>
            <a:r>
              <a:rPr dirty="0" sz="1200" spc="-5">
                <a:latin typeface="Arial"/>
                <a:cs typeface="Arial"/>
              </a:rPr>
              <a:t>find </a:t>
            </a:r>
            <a:r>
              <a:rPr dirty="0" sz="1200">
                <a:latin typeface="Arial"/>
                <a:cs typeface="Arial"/>
              </a:rPr>
              <a:t>them, </a:t>
            </a:r>
            <a:r>
              <a:rPr dirty="0" sz="1200" spc="-5">
                <a:latin typeface="Arial"/>
                <a:cs typeface="Arial"/>
              </a:rPr>
              <a:t>and </a:t>
            </a:r>
            <a:r>
              <a:rPr dirty="0" sz="1200" spc="-10">
                <a:latin typeface="Arial"/>
                <a:cs typeface="Arial"/>
              </a:rPr>
              <a:t>drive </a:t>
            </a:r>
            <a:r>
              <a:rPr dirty="0" sz="1200" spc="-5">
                <a:latin typeface="Arial"/>
                <a:cs typeface="Arial"/>
              </a:rPr>
              <a:t>them out of </a:t>
            </a:r>
            <a:r>
              <a:rPr dirty="0" sz="1200">
                <a:latin typeface="Arial"/>
                <a:cs typeface="Arial"/>
              </a:rPr>
              <a:t>the </a:t>
            </a:r>
            <a:r>
              <a:rPr dirty="0" sz="1200" spc="-5">
                <a:latin typeface="Arial"/>
                <a:cs typeface="Arial"/>
              </a:rPr>
              <a:t>places </a:t>
            </a:r>
            <a:r>
              <a:rPr dirty="0" sz="1200" spc="-10">
                <a:latin typeface="Arial"/>
                <a:cs typeface="Arial"/>
              </a:rPr>
              <a:t>whence </a:t>
            </a:r>
            <a:r>
              <a:rPr dirty="0" sz="1200" spc="-5">
                <a:latin typeface="Arial"/>
                <a:cs typeface="Arial"/>
              </a:rPr>
              <a:t>they  drove </a:t>
            </a:r>
            <a:r>
              <a:rPr dirty="0" sz="1200" spc="-10">
                <a:latin typeface="Arial"/>
                <a:cs typeface="Arial"/>
              </a:rPr>
              <a:t>you </a:t>
            </a:r>
            <a:r>
              <a:rPr dirty="0" sz="1200">
                <a:latin typeface="Arial"/>
                <a:cs typeface="Arial"/>
              </a:rPr>
              <a:t>out, for </a:t>
            </a:r>
            <a:r>
              <a:rPr dirty="0" sz="1200" spc="-5">
                <a:latin typeface="Arial"/>
                <a:cs typeface="Arial"/>
              </a:rPr>
              <a:t>persecution is worse than slaughter. And </a:t>
            </a:r>
            <a:r>
              <a:rPr dirty="0" sz="1200">
                <a:latin typeface="Arial"/>
                <a:cs typeface="Arial"/>
              </a:rPr>
              <a:t>fight </a:t>
            </a:r>
            <a:r>
              <a:rPr dirty="0" sz="1200" spc="-5">
                <a:latin typeface="Arial"/>
                <a:cs typeface="Arial"/>
              </a:rPr>
              <a:t>not with </a:t>
            </a:r>
            <a:r>
              <a:rPr dirty="0" sz="1200">
                <a:latin typeface="Arial"/>
                <a:cs typeface="Arial"/>
              </a:rPr>
              <a:t>them at </a:t>
            </a:r>
            <a:r>
              <a:rPr dirty="0" sz="1200" spc="-5">
                <a:latin typeface="Arial"/>
                <a:cs typeface="Arial"/>
              </a:rPr>
              <a:t>the  Inviolable Place of </a:t>
            </a:r>
            <a:r>
              <a:rPr dirty="0" sz="1200">
                <a:latin typeface="Arial"/>
                <a:cs typeface="Arial"/>
              </a:rPr>
              <a:t>Worship </a:t>
            </a:r>
            <a:r>
              <a:rPr dirty="0" sz="1200" spc="-5">
                <a:latin typeface="Arial"/>
                <a:cs typeface="Arial"/>
              </a:rPr>
              <a:t>until they </a:t>
            </a:r>
            <a:r>
              <a:rPr dirty="0" sz="1200">
                <a:latin typeface="Arial"/>
                <a:cs typeface="Arial"/>
              </a:rPr>
              <a:t>first </a:t>
            </a:r>
            <a:r>
              <a:rPr dirty="0" sz="1200" spc="-5">
                <a:latin typeface="Arial"/>
                <a:cs typeface="Arial"/>
              </a:rPr>
              <a:t>attack </a:t>
            </a:r>
            <a:r>
              <a:rPr dirty="0" sz="1200" spc="-10">
                <a:latin typeface="Arial"/>
                <a:cs typeface="Arial"/>
              </a:rPr>
              <a:t>you </a:t>
            </a:r>
            <a:r>
              <a:rPr dirty="0" sz="1200" spc="-5">
                <a:latin typeface="Arial"/>
                <a:cs typeface="Arial"/>
              </a:rPr>
              <a:t>there, but </a:t>
            </a:r>
            <a:r>
              <a:rPr dirty="0" sz="1200" spc="-10">
                <a:latin typeface="Arial"/>
                <a:cs typeface="Arial"/>
              </a:rPr>
              <a:t>if </a:t>
            </a:r>
            <a:r>
              <a:rPr dirty="0" sz="1200" spc="-5">
                <a:latin typeface="Arial"/>
                <a:cs typeface="Arial"/>
              </a:rPr>
              <a:t>they </a:t>
            </a:r>
            <a:r>
              <a:rPr dirty="0" sz="1200">
                <a:latin typeface="Arial"/>
                <a:cs typeface="Arial"/>
              </a:rPr>
              <a:t>attack </a:t>
            </a:r>
            <a:r>
              <a:rPr dirty="0" sz="1200" spc="-10">
                <a:latin typeface="Arial"/>
                <a:cs typeface="Arial"/>
              </a:rPr>
              <a:t>you </a:t>
            </a:r>
            <a:r>
              <a:rPr dirty="0" sz="1200" spc="-5">
                <a:latin typeface="Arial"/>
                <a:cs typeface="Arial"/>
              </a:rPr>
              <a:t>(there) </a:t>
            </a:r>
            <a:r>
              <a:rPr dirty="0" sz="1200" spc="-10">
                <a:latin typeface="Arial"/>
                <a:cs typeface="Arial"/>
              </a:rPr>
              <a:t>then  </a:t>
            </a:r>
            <a:r>
              <a:rPr dirty="0" sz="1200" spc="-5">
                <a:latin typeface="Arial"/>
                <a:cs typeface="Arial"/>
              </a:rPr>
              <a:t>slay </a:t>
            </a:r>
            <a:r>
              <a:rPr dirty="0" sz="1200">
                <a:latin typeface="Arial"/>
                <a:cs typeface="Arial"/>
              </a:rPr>
              <a:t>them. </a:t>
            </a:r>
            <a:r>
              <a:rPr dirty="0" sz="1200" spc="-5">
                <a:latin typeface="Arial"/>
                <a:cs typeface="Arial"/>
              </a:rPr>
              <a:t>Such is the reward </a:t>
            </a:r>
            <a:r>
              <a:rPr dirty="0" sz="1200">
                <a:latin typeface="Arial"/>
                <a:cs typeface="Arial"/>
              </a:rPr>
              <a:t>of</a:t>
            </a:r>
            <a:r>
              <a:rPr dirty="0" sz="1200" spc="-5">
                <a:latin typeface="Arial"/>
                <a:cs typeface="Arial"/>
              </a:rPr>
              <a:t> disbelievers.</a:t>
            </a:r>
            <a:endParaRPr sz="1200">
              <a:latin typeface="Arial"/>
              <a:cs typeface="Arial"/>
            </a:endParaRPr>
          </a:p>
          <a:p>
            <a:pPr>
              <a:lnSpc>
                <a:spcPct val="100000"/>
              </a:lnSpc>
              <a:spcBef>
                <a:spcPts val="55"/>
              </a:spcBef>
              <a:buFont typeface="Arial"/>
              <a:buAutoNum type="arabicPeriod" startAt="191"/>
            </a:pPr>
            <a:endParaRPr sz="1050">
              <a:latin typeface="Arial"/>
              <a:cs typeface="Arial"/>
            </a:endParaRPr>
          </a:p>
          <a:p>
            <a:pPr algn="r" marR="222885">
              <a:lnSpc>
                <a:spcPct val="100000"/>
              </a:lnSpc>
            </a:pPr>
            <a:r>
              <a:rPr dirty="0" sz="1800" spc="-285">
                <a:latin typeface="Arial"/>
                <a:cs typeface="Arial"/>
              </a:rPr>
              <a:t>م</a:t>
            </a:r>
            <a:r>
              <a:rPr dirty="0" baseline="-3086" sz="2700" spc="-427">
                <a:latin typeface="Arial"/>
                <a:cs typeface="Arial"/>
              </a:rPr>
              <a:t>ٌ </a:t>
            </a:r>
            <a:r>
              <a:rPr dirty="0" sz="1800" spc="-320">
                <a:latin typeface="Arial"/>
                <a:cs typeface="Arial"/>
              </a:rPr>
              <a:t>ٌحِ </a:t>
            </a:r>
            <a:r>
              <a:rPr dirty="0" sz="1800" spc="-229">
                <a:latin typeface="Arial"/>
                <a:cs typeface="Arial"/>
              </a:rPr>
              <a:t>رَّ </a:t>
            </a:r>
            <a:r>
              <a:rPr dirty="0" sz="1800" spc="-350">
                <a:latin typeface="Arial"/>
                <a:cs typeface="Arial"/>
              </a:rPr>
              <a:t>ر</a:t>
            </a:r>
            <a:r>
              <a:rPr dirty="0" baseline="1543" sz="2700" spc="-525">
                <a:latin typeface="Arial"/>
                <a:cs typeface="Arial"/>
              </a:rPr>
              <a:t>ٌ </a:t>
            </a:r>
            <a:r>
              <a:rPr dirty="0" sz="1800" spc="-450">
                <a:latin typeface="Arial"/>
                <a:cs typeface="Arial"/>
              </a:rPr>
              <a:t>و</a:t>
            </a:r>
            <a:r>
              <a:rPr dirty="0" baseline="9259" sz="2700" spc="-675">
                <a:latin typeface="Arial"/>
                <a:cs typeface="Arial"/>
              </a:rPr>
              <a:t>ُ</a:t>
            </a:r>
            <a:r>
              <a:rPr dirty="0" sz="1800" spc="-450">
                <a:latin typeface="Arial"/>
                <a:cs typeface="Arial"/>
              </a:rPr>
              <a:t>فؼ</a:t>
            </a:r>
            <a:r>
              <a:rPr dirty="0" baseline="3086" sz="2700" spc="-675">
                <a:latin typeface="Arial"/>
                <a:cs typeface="Arial"/>
              </a:rPr>
              <a:t>َ </a:t>
            </a:r>
            <a:r>
              <a:rPr dirty="0" sz="1800" spc="-590">
                <a:latin typeface="Arial"/>
                <a:cs typeface="Arial"/>
              </a:rPr>
              <a:t>للَّ</a:t>
            </a:r>
            <a:r>
              <a:rPr dirty="0" baseline="-10802" sz="2700" spc="-885">
                <a:latin typeface="Arial"/>
                <a:cs typeface="Arial"/>
              </a:rPr>
              <a:t>َ</a:t>
            </a:r>
            <a:r>
              <a:rPr dirty="0" baseline="-10802" sz="2700" spc="-67">
                <a:latin typeface="Arial"/>
                <a:cs typeface="Arial"/>
              </a:rPr>
              <a:t> </a:t>
            </a:r>
            <a:r>
              <a:rPr dirty="0" baseline="12345" sz="2700">
                <a:latin typeface="Arial"/>
                <a:cs typeface="Arial"/>
              </a:rPr>
              <a:t>َّ </a:t>
            </a:r>
            <a:r>
              <a:rPr dirty="0" sz="1800">
                <a:latin typeface="Arial"/>
                <a:cs typeface="Arial"/>
              </a:rPr>
              <a:t>ٱ </a:t>
            </a:r>
            <a:r>
              <a:rPr dirty="0" sz="1800" spc="-229">
                <a:latin typeface="Arial"/>
                <a:cs typeface="Arial"/>
              </a:rPr>
              <a:t>نَّ </a:t>
            </a:r>
            <a:r>
              <a:rPr dirty="0" baseline="-12345" sz="2700" spc="-509">
                <a:latin typeface="Arial"/>
                <a:cs typeface="Arial"/>
              </a:rPr>
              <a:t>ِ</a:t>
            </a:r>
            <a:r>
              <a:rPr dirty="0" sz="1800" spc="-340">
                <a:latin typeface="Arial"/>
                <a:cs typeface="Arial"/>
              </a:rPr>
              <a:t>إف</a:t>
            </a:r>
            <a:r>
              <a:rPr dirty="0" baseline="6172" sz="2700" spc="-509">
                <a:latin typeface="Arial"/>
                <a:cs typeface="Arial"/>
              </a:rPr>
              <a:t>َ </a:t>
            </a:r>
            <a:r>
              <a:rPr dirty="0" sz="1800" spc="-175">
                <a:latin typeface="Arial"/>
                <a:cs typeface="Arial"/>
              </a:rPr>
              <a:t>ا</a:t>
            </a:r>
            <a:r>
              <a:rPr dirty="0" baseline="9259" sz="2700" spc="-262">
                <a:latin typeface="Arial"/>
                <a:cs typeface="Arial"/>
              </a:rPr>
              <a:t>ْ </a:t>
            </a:r>
            <a:r>
              <a:rPr dirty="0" sz="1800" spc="-180">
                <a:latin typeface="Arial"/>
                <a:cs typeface="Arial"/>
              </a:rPr>
              <a:t>و</a:t>
            </a:r>
            <a:r>
              <a:rPr dirty="0" baseline="1543" sz="2700" spc="-270">
                <a:latin typeface="Arial"/>
                <a:cs typeface="Arial"/>
              </a:rPr>
              <a:t>ْ </a:t>
            </a:r>
            <a:r>
              <a:rPr dirty="0" sz="1800" spc="-215">
                <a:latin typeface="Arial"/>
                <a:cs typeface="Arial"/>
              </a:rPr>
              <a:t>ه</a:t>
            </a:r>
            <a:r>
              <a:rPr dirty="0" baseline="-3086" sz="2700" spc="-322">
                <a:latin typeface="Arial"/>
                <a:cs typeface="Arial"/>
              </a:rPr>
              <a:t>َ </a:t>
            </a:r>
            <a:r>
              <a:rPr dirty="0" sz="1800" spc="-595">
                <a:latin typeface="Arial"/>
                <a:cs typeface="Arial"/>
              </a:rPr>
              <a:t>ت</a:t>
            </a:r>
            <a:r>
              <a:rPr dirty="0" baseline="6172" sz="2700" spc="-892">
                <a:latin typeface="Arial"/>
                <a:cs typeface="Arial"/>
              </a:rPr>
              <a:t>َ</a:t>
            </a:r>
            <a:r>
              <a:rPr dirty="0" baseline="6172" sz="2700" spc="-172">
                <a:latin typeface="Arial"/>
                <a:cs typeface="Arial"/>
              </a:rPr>
              <a:t> </a:t>
            </a:r>
            <a:r>
              <a:rPr dirty="0" sz="1800" spc="-254">
                <a:latin typeface="Arial"/>
                <a:cs typeface="Arial"/>
              </a:rPr>
              <a:t>نٱ </a:t>
            </a:r>
            <a:r>
              <a:rPr dirty="0" sz="1800" spc="-405">
                <a:latin typeface="Arial"/>
                <a:cs typeface="Arial"/>
              </a:rPr>
              <a:t>ن</a:t>
            </a:r>
            <a:r>
              <a:rPr dirty="0" baseline="-12345" sz="2700" spc="-607">
                <a:latin typeface="Arial"/>
                <a:cs typeface="Arial"/>
              </a:rPr>
              <a:t>ِ</a:t>
            </a:r>
            <a:r>
              <a:rPr dirty="0" baseline="-12345" sz="2700" spc="-487">
                <a:latin typeface="Arial"/>
                <a:cs typeface="Arial"/>
              </a:rPr>
              <a:t> </a:t>
            </a:r>
            <a:r>
              <a:rPr dirty="0" baseline="-12345" sz="2700" spc="-675">
                <a:latin typeface="Arial"/>
                <a:cs typeface="Arial"/>
              </a:rPr>
              <a:t>ِ</a:t>
            </a:r>
            <a:r>
              <a:rPr dirty="0" sz="1800" spc="-450">
                <a:latin typeface="Arial"/>
                <a:cs typeface="Arial"/>
              </a:rPr>
              <a:t>إف</a:t>
            </a:r>
            <a:endParaRPr sz="1800">
              <a:latin typeface="Arial"/>
              <a:cs typeface="Arial"/>
            </a:endParaRPr>
          </a:p>
          <a:p>
            <a:pPr algn="just" marL="478790" indent="-339090">
              <a:lnSpc>
                <a:spcPct val="100000"/>
              </a:lnSpc>
              <a:spcBef>
                <a:spcPts val="1320"/>
              </a:spcBef>
              <a:buAutoNum type="arabicPeriod" startAt="192"/>
              <a:tabLst>
                <a:tab pos="478790" algn="l"/>
              </a:tabLst>
            </a:pPr>
            <a:r>
              <a:rPr dirty="0" sz="1200">
                <a:latin typeface="Arial"/>
                <a:cs typeface="Arial"/>
              </a:rPr>
              <a:t>But </a:t>
            </a:r>
            <a:r>
              <a:rPr dirty="0" sz="1200" spc="-10">
                <a:latin typeface="Arial"/>
                <a:cs typeface="Arial"/>
              </a:rPr>
              <a:t>if </a:t>
            </a:r>
            <a:r>
              <a:rPr dirty="0" sz="1200" spc="-5">
                <a:latin typeface="Arial"/>
                <a:cs typeface="Arial"/>
              </a:rPr>
              <a:t>they </a:t>
            </a:r>
            <a:r>
              <a:rPr dirty="0" sz="1200">
                <a:latin typeface="Arial"/>
                <a:cs typeface="Arial"/>
              </a:rPr>
              <a:t>desist, then </a:t>
            </a:r>
            <a:r>
              <a:rPr dirty="0" sz="1200" spc="-5">
                <a:latin typeface="Arial"/>
                <a:cs typeface="Arial"/>
              </a:rPr>
              <a:t>lo! Allah is Forgiving, Merciful.</a:t>
            </a:r>
            <a:endParaRPr sz="1200">
              <a:latin typeface="Arial"/>
              <a:cs typeface="Arial"/>
            </a:endParaRPr>
          </a:p>
          <a:p>
            <a:pPr>
              <a:lnSpc>
                <a:spcPct val="100000"/>
              </a:lnSpc>
              <a:spcBef>
                <a:spcPts val="55"/>
              </a:spcBef>
              <a:buFont typeface="Arial"/>
              <a:buAutoNum type="arabicPeriod" startAt="192"/>
            </a:pPr>
            <a:endParaRPr sz="1100">
              <a:latin typeface="Arial"/>
              <a:cs typeface="Arial"/>
            </a:endParaRPr>
          </a:p>
          <a:p>
            <a:pPr algn="r" marR="220979">
              <a:lnSpc>
                <a:spcPct val="100000"/>
              </a:lnSpc>
            </a:pPr>
            <a:r>
              <a:rPr dirty="0" baseline="1543" sz="2700" spc="-509">
                <a:latin typeface="Arial"/>
                <a:cs typeface="Arial"/>
              </a:rPr>
              <a:t>ن</a:t>
            </a:r>
            <a:r>
              <a:rPr dirty="0" baseline="-1543" sz="2700" spc="-509">
                <a:latin typeface="Arial"/>
                <a:cs typeface="Arial"/>
              </a:rPr>
              <a:t>َ </a:t>
            </a:r>
            <a:r>
              <a:rPr dirty="0" baseline="1543" sz="2700" spc="-240">
                <a:latin typeface="Arial"/>
                <a:cs typeface="Arial"/>
              </a:rPr>
              <a:t>ٌم</a:t>
            </a:r>
            <a:r>
              <a:rPr dirty="0" sz="1800" spc="-160">
                <a:latin typeface="Arial"/>
                <a:cs typeface="Arial"/>
              </a:rPr>
              <a:t>ِ </a:t>
            </a:r>
            <a:r>
              <a:rPr dirty="0" sz="1800" spc="-235">
                <a:latin typeface="Arial"/>
                <a:cs typeface="Arial"/>
              </a:rPr>
              <a:t>ِ</a:t>
            </a:r>
            <a:r>
              <a:rPr dirty="0" baseline="1543" sz="2700" spc="-352">
                <a:latin typeface="Arial"/>
                <a:cs typeface="Arial"/>
              </a:rPr>
              <a:t>لاظ</a:t>
            </a:r>
            <a:r>
              <a:rPr dirty="0" baseline="13888" sz="2700" spc="-352">
                <a:latin typeface="Arial"/>
                <a:cs typeface="Arial"/>
              </a:rPr>
              <a:t>َّ </a:t>
            </a:r>
            <a:r>
              <a:rPr dirty="0" baseline="1543" sz="2700" spc="-412">
                <a:latin typeface="Arial"/>
                <a:cs typeface="Arial"/>
              </a:rPr>
              <a:t>لٱ </a:t>
            </a:r>
            <a:r>
              <a:rPr dirty="0" baseline="1543" sz="2700" spc="-434">
                <a:latin typeface="Arial"/>
                <a:cs typeface="Arial"/>
              </a:rPr>
              <a:t>ى</a:t>
            </a:r>
            <a:r>
              <a:rPr dirty="0" baseline="9259" sz="2700" spc="-434">
                <a:latin typeface="Arial"/>
                <a:cs typeface="Arial"/>
              </a:rPr>
              <a:t>َ</a:t>
            </a:r>
            <a:r>
              <a:rPr dirty="0" baseline="1543" sz="2700" spc="-434">
                <a:latin typeface="Arial"/>
                <a:cs typeface="Arial"/>
              </a:rPr>
              <a:t>لع</a:t>
            </a:r>
            <a:r>
              <a:rPr dirty="0" baseline="-1543" sz="2700" spc="-434">
                <a:latin typeface="Arial"/>
                <a:cs typeface="Arial"/>
              </a:rPr>
              <a:t>َ </a:t>
            </a:r>
            <a:r>
              <a:rPr dirty="0" baseline="9259" sz="2700" spc="-82">
                <a:latin typeface="Arial"/>
                <a:cs typeface="Arial"/>
              </a:rPr>
              <a:t>َّ</a:t>
            </a:r>
            <a:r>
              <a:rPr dirty="0" baseline="1543" sz="2700" spc="-82">
                <a:latin typeface="Arial"/>
                <a:cs typeface="Arial"/>
              </a:rPr>
              <a:t>لا</a:t>
            </a:r>
            <a:r>
              <a:rPr dirty="0" baseline="-12345" sz="2700" spc="-82">
                <a:latin typeface="Arial"/>
                <a:cs typeface="Arial"/>
              </a:rPr>
              <a:t>ِ</a:t>
            </a:r>
            <a:r>
              <a:rPr dirty="0" baseline="1543" sz="2700" spc="-82">
                <a:latin typeface="Arial"/>
                <a:cs typeface="Arial"/>
              </a:rPr>
              <a:t>إ </a:t>
            </a:r>
            <a:r>
              <a:rPr dirty="0" baseline="1543" sz="2700" spc="-494">
                <a:latin typeface="Arial"/>
                <a:cs typeface="Arial"/>
              </a:rPr>
              <a:t>ن</a:t>
            </a:r>
            <a:r>
              <a:rPr dirty="0" baseline="-1543" sz="2700" spc="-494">
                <a:latin typeface="Arial"/>
                <a:cs typeface="Arial"/>
              </a:rPr>
              <a:t>َ </a:t>
            </a:r>
            <a:r>
              <a:rPr dirty="0" baseline="1543" sz="2700" spc="-217">
                <a:latin typeface="Arial"/>
                <a:cs typeface="Arial"/>
              </a:rPr>
              <a:t>او</a:t>
            </a:r>
            <a:r>
              <a:rPr dirty="0" baseline="-1543" sz="2700" spc="-217">
                <a:latin typeface="Arial"/>
                <a:cs typeface="Arial"/>
              </a:rPr>
              <a:t>َ </a:t>
            </a:r>
            <a:r>
              <a:rPr dirty="0" baseline="1543" sz="2700" spc="-284">
                <a:latin typeface="Arial"/>
                <a:cs typeface="Arial"/>
              </a:rPr>
              <a:t>د</a:t>
            </a:r>
            <a:r>
              <a:rPr dirty="0" baseline="4629" sz="2700" spc="-284">
                <a:latin typeface="Arial"/>
                <a:cs typeface="Arial"/>
              </a:rPr>
              <a:t>ْ </a:t>
            </a:r>
            <a:r>
              <a:rPr dirty="0" baseline="1543" sz="2700" spc="-637">
                <a:latin typeface="Arial"/>
                <a:cs typeface="Arial"/>
              </a:rPr>
              <a:t>عُ </a:t>
            </a:r>
            <a:r>
              <a:rPr dirty="0" baseline="7716" sz="2700" spc="-480">
                <a:latin typeface="Arial"/>
                <a:cs typeface="Arial"/>
              </a:rPr>
              <a:t>َ</a:t>
            </a:r>
            <a:r>
              <a:rPr dirty="0" baseline="1543" sz="2700" spc="-480">
                <a:latin typeface="Arial"/>
                <a:cs typeface="Arial"/>
              </a:rPr>
              <a:t>لاف</a:t>
            </a:r>
            <a:r>
              <a:rPr dirty="0" baseline="6172" sz="2700" spc="-480">
                <a:latin typeface="Arial"/>
                <a:cs typeface="Arial"/>
              </a:rPr>
              <a:t>َ </a:t>
            </a:r>
            <a:r>
              <a:rPr dirty="0" baseline="1543" sz="2700" spc="-262">
                <a:latin typeface="Arial"/>
                <a:cs typeface="Arial"/>
              </a:rPr>
              <a:t>ا</a:t>
            </a:r>
            <a:r>
              <a:rPr dirty="0" baseline="9259" sz="2700" spc="-262">
                <a:latin typeface="Arial"/>
                <a:cs typeface="Arial"/>
              </a:rPr>
              <a:t>ْ </a:t>
            </a:r>
            <a:r>
              <a:rPr dirty="0" baseline="1543" sz="2700" spc="-217">
                <a:latin typeface="Arial"/>
                <a:cs typeface="Arial"/>
              </a:rPr>
              <a:t>وه</a:t>
            </a:r>
            <a:r>
              <a:rPr dirty="0" baseline="-1543" sz="2700" spc="-217">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09">
                <a:latin typeface="Arial"/>
                <a:cs typeface="Arial"/>
              </a:rPr>
              <a:t> </a:t>
            </a:r>
            <a:r>
              <a:rPr dirty="0" baseline="1543" sz="2700" spc="-607">
                <a:latin typeface="Arial"/>
                <a:cs typeface="Arial"/>
              </a:rPr>
              <a:t>ن</a:t>
            </a:r>
            <a:r>
              <a:rPr dirty="0" baseline="9259" sz="2700" spc="-607">
                <a:latin typeface="Arial"/>
                <a:cs typeface="Arial"/>
              </a:rPr>
              <a:t>ْ </a:t>
            </a:r>
            <a:r>
              <a:rPr dirty="0" baseline="1543" sz="2700">
                <a:latin typeface="Arial"/>
                <a:cs typeface="Arial"/>
              </a:rPr>
              <a:t>ٱ </a:t>
            </a:r>
            <a:r>
              <a:rPr dirty="0" baseline="1543" sz="2700" spc="-607">
                <a:latin typeface="Arial"/>
                <a:cs typeface="Arial"/>
              </a:rPr>
              <a:t>ن</a:t>
            </a:r>
            <a:r>
              <a:rPr dirty="0" baseline="-12345" sz="2700" spc="-607">
                <a:latin typeface="Arial"/>
                <a:cs typeface="Arial"/>
              </a:rPr>
              <a:t>ِ  </a:t>
            </a:r>
            <a:r>
              <a:rPr dirty="0" baseline="-12345" sz="2700" spc="-509">
                <a:latin typeface="Arial"/>
                <a:cs typeface="Arial"/>
              </a:rPr>
              <a:t>ِ</a:t>
            </a:r>
            <a:r>
              <a:rPr dirty="0" baseline="1543" sz="2700" spc="-509">
                <a:latin typeface="Arial"/>
                <a:cs typeface="Arial"/>
              </a:rPr>
              <a:t>إف</a:t>
            </a:r>
            <a:r>
              <a:rPr dirty="0" baseline="6172" sz="2700" spc="-509">
                <a:latin typeface="Arial"/>
                <a:cs typeface="Arial"/>
              </a:rPr>
              <a:t>َ </a:t>
            </a:r>
            <a:r>
              <a:rPr dirty="0" baseline="1543" sz="2700" spc="-885">
                <a:latin typeface="Arial"/>
                <a:cs typeface="Arial"/>
              </a:rPr>
              <a:t>للَّ</a:t>
            </a:r>
            <a:r>
              <a:rPr dirty="0" baseline="-1543" sz="2700" spc="-885">
                <a:latin typeface="Arial"/>
                <a:cs typeface="Arial"/>
              </a:rPr>
              <a:t>ِ</a:t>
            </a:r>
            <a:r>
              <a:rPr dirty="0" baseline="-1543" sz="2700" spc="-112">
                <a:latin typeface="Arial"/>
                <a:cs typeface="Arial"/>
              </a:rPr>
              <a:t> </a:t>
            </a:r>
            <a:r>
              <a:rPr dirty="0" baseline="13888" sz="2700">
                <a:latin typeface="Arial"/>
                <a:cs typeface="Arial"/>
              </a:rPr>
              <a:t>َّ </a:t>
            </a:r>
            <a:r>
              <a:rPr dirty="0" baseline="1543" sz="2700" spc="-532">
                <a:latin typeface="Arial"/>
                <a:cs typeface="Arial"/>
              </a:rPr>
              <a:t>نُ </a:t>
            </a:r>
            <a:r>
              <a:rPr dirty="0" baseline="1543" sz="2700" spc="-179">
                <a:latin typeface="Arial"/>
                <a:cs typeface="Arial"/>
              </a:rPr>
              <a:t>ٌد</a:t>
            </a:r>
            <a:r>
              <a:rPr dirty="0" baseline="4629" sz="2700" spc="-179">
                <a:latin typeface="Arial"/>
                <a:cs typeface="Arial"/>
              </a:rPr>
              <a:t>ِّ </a:t>
            </a:r>
            <a:r>
              <a:rPr dirty="0" baseline="1543" sz="2700" spc="-412">
                <a:latin typeface="Arial"/>
                <a:cs typeface="Arial"/>
              </a:rPr>
              <a:t>لٱ </a:t>
            </a:r>
            <a:r>
              <a:rPr dirty="0" baseline="1543" sz="2700" spc="-494">
                <a:latin typeface="Arial"/>
                <a:cs typeface="Arial"/>
              </a:rPr>
              <a:t>ن</a:t>
            </a:r>
            <a:r>
              <a:rPr dirty="0" baseline="-1543" sz="2700" spc="-494">
                <a:latin typeface="Arial"/>
                <a:cs typeface="Arial"/>
              </a:rPr>
              <a:t>َ </a:t>
            </a:r>
            <a:r>
              <a:rPr dirty="0" baseline="1543" sz="2700" spc="-502">
                <a:latin typeface="Arial"/>
                <a:cs typeface="Arial"/>
              </a:rPr>
              <a:t>وك</a:t>
            </a:r>
            <a:r>
              <a:rPr dirty="0" baseline="9259" sz="2700" spc="-502">
                <a:latin typeface="Arial"/>
                <a:cs typeface="Arial"/>
              </a:rPr>
              <a:t>ُ </a:t>
            </a:r>
            <a:r>
              <a:rPr dirty="0" baseline="1543" sz="2700">
                <a:latin typeface="Arial"/>
                <a:cs typeface="Arial"/>
              </a:rPr>
              <a:t>ٌ</a:t>
            </a:r>
            <a:r>
              <a:rPr dirty="0" baseline="-1543" sz="2700">
                <a:latin typeface="Arial"/>
                <a:cs typeface="Arial"/>
              </a:rPr>
              <a:t>َ </a:t>
            </a:r>
            <a:r>
              <a:rPr dirty="0" baseline="1543" sz="2700" spc="-315">
                <a:latin typeface="Arial"/>
                <a:cs typeface="Arial"/>
              </a:rPr>
              <a:t>و</a:t>
            </a:r>
            <a:r>
              <a:rPr dirty="0" baseline="-1543" sz="2700" spc="-315">
                <a:latin typeface="Arial"/>
                <a:cs typeface="Arial"/>
              </a:rPr>
              <a:t>َ </a:t>
            </a:r>
            <a:r>
              <a:rPr dirty="0" baseline="1543" sz="2700" spc="-322">
                <a:latin typeface="Arial"/>
                <a:cs typeface="Arial"/>
              </a:rPr>
              <a:t>ة</a:t>
            </a:r>
            <a:r>
              <a:rPr dirty="0" baseline="13888" sz="2700" spc="-322">
                <a:latin typeface="Arial"/>
                <a:cs typeface="Arial"/>
              </a:rPr>
              <a:t>ٌ </a:t>
            </a:r>
            <a:r>
              <a:rPr dirty="0" baseline="1543" sz="2700" spc="-644">
                <a:latin typeface="Arial"/>
                <a:cs typeface="Arial"/>
              </a:rPr>
              <a:t>ن</a:t>
            </a:r>
            <a:r>
              <a:rPr dirty="0" baseline="6172" sz="2700" spc="-644">
                <a:latin typeface="Arial"/>
                <a:cs typeface="Arial"/>
              </a:rPr>
              <a:t>َ </a:t>
            </a:r>
            <a:r>
              <a:rPr dirty="0" baseline="1543" sz="2700" spc="-862">
                <a:latin typeface="Arial"/>
                <a:cs typeface="Arial"/>
              </a:rPr>
              <a:t>ت</a:t>
            </a:r>
            <a:r>
              <a:rPr dirty="0" baseline="9259" sz="2700" spc="-862">
                <a:latin typeface="Arial"/>
                <a:cs typeface="Arial"/>
              </a:rPr>
              <a:t>ْ</a:t>
            </a:r>
            <a:r>
              <a:rPr dirty="0" baseline="9259" sz="2700" spc="-284">
                <a:latin typeface="Arial"/>
                <a:cs typeface="Arial"/>
              </a:rPr>
              <a:t> </a:t>
            </a:r>
            <a:r>
              <a:rPr dirty="0" baseline="1543" sz="2700" spc="-1057">
                <a:latin typeface="Arial"/>
                <a:cs typeface="Arial"/>
              </a:rPr>
              <a:t>ف</a:t>
            </a:r>
            <a:r>
              <a:rPr dirty="0" sz="1800" spc="-705">
                <a:latin typeface="Arial"/>
                <a:cs typeface="Arial"/>
              </a:rPr>
              <a:t>ِ</a:t>
            </a:r>
            <a:r>
              <a:rPr dirty="0" sz="1800" spc="520">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509">
                <a:latin typeface="Arial"/>
                <a:cs typeface="Arial"/>
              </a:rPr>
              <a:t>وك</a:t>
            </a:r>
            <a:r>
              <a:rPr dirty="0" baseline="9259" sz="2700" spc="-509">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569">
                <a:latin typeface="Arial"/>
                <a:cs typeface="Arial"/>
              </a:rPr>
              <a:t> </a:t>
            </a:r>
            <a:r>
              <a:rPr dirty="0" baseline="7716" sz="2700" spc="-157">
                <a:latin typeface="Arial"/>
                <a:cs typeface="Arial"/>
              </a:rPr>
              <a:t>َ</a:t>
            </a:r>
            <a:r>
              <a:rPr dirty="0" baseline="1543" sz="2700" spc="-157">
                <a:latin typeface="Arial"/>
                <a:cs typeface="Arial"/>
              </a:rPr>
              <a:t>لا </a:t>
            </a:r>
            <a:r>
              <a:rPr dirty="0" baseline="1543" sz="2700" spc="-532">
                <a:latin typeface="Arial"/>
                <a:cs typeface="Arial"/>
              </a:rPr>
              <a:t>ى</a:t>
            </a:r>
            <a:r>
              <a:rPr dirty="0" baseline="6172" sz="2700" spc="-532">
                <a:latin typeface="Arial"/>
                <a:cs typeface="Arial"/>
              </a:rPr>
              <a:t>ٰ </a:t>
            </a:r>
            <a:r>
              <a:rPr dirty="0" baseline="1543" sz="2700" spc="-607">
                <a:latin typeface="Arial"/>
                <a:cs typeface="Arial"/>
              </a:rPr>
              <a:t>ت</a:t>
            </a:r>
            <a:r>
              <a:rPr dirty="0" baseline="9259" sz="2700" spc="-607">
                <a:latin typeface="Arial"/>
                <a:cs typeface="Arial"/>
              </a:rPr>
              <a:t>َّ </a:t>
            </a:r>
            <a:r>
              <a:rPr dirty="0" baseline="1543" sz="2700" spc="-592">
                <a:latin typeface="Arial"/>
                <a:cs typeface="Arial"/>
              </a:rPr>
              <a:t>ح</a:t>
            </a:r>
            <a:r>
              <a:rPr dirty="0" baseline="-1543" sz="2700" spc="-592">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 </a:t>
            </a:r>
            <a:r>
              <a:rPr dirty="0" baseline="1543" sz="2700" spc="-562">
                <a:latin typeface="Arial"/>
                <a:cs typeface="Arial"/>
              </a:rPr>
              <a:t>و</a:t>
            </a:r>
            <a:r>
              <a:rPr dirty="0" baseline="12345" sz="2700" spc="-562">
                <a:latin typeface="Arial"/>
                <a:cs typeface="Arial"/>
              </a:rPr>
              <a:t>ُ</a:t>
            </a:r>
            <a:r>
              <a:rPr dirty="0" baseline="1543" sz="2700" spc="-562">
                <a:latin typeface="Arial"/>
                <a:cs typeface="Arial"/>
              </a:rPr>
              <a:t>لت</a:t>
            </a:r>
            <a:r>
              <a:rPr dirty="0" sz="1800" spc="-375">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spc="-615">
                <a:latin typeface="Arial"/>
                <a:cs typeface="Arial"/>
              </a:rPr>
              <a:t>و</a:t>
            </a:r>
            <a:endParaRPr baseline="1543" sz="2700">
              <a:latin typeface="Arial"/>
              <a:cs typeface="Arial"/>
            </a:endParaRPr>
          </a:p>
          <a:p>
            <a:pPr algn="just" marL="139700" marR="175260">
              <a:lnSpc>
                <a:spcPts val="1380"/>
              </a:lnSpc>
              <a:spcBef>
                <a:spcPts val="1380"/>
              </a:spcBef>
              <a:buAutoNum type="arabicPeriod" startAt="193"/>
              <a:tabLst>
                <a:tab pos="490220" algn="l"/>
              </a:tabLst>
            </a:pPr>
            <a:r>
              <a:rPr dirty="0" sz="1200" spc="-5">
                <a:latin typeface="Arial"/>
                <a:cs typeface="Arial"/>
              </a:rPr>
              <a:t>And </a:t>
            </a:r>
            <a:r>
              <a:rPr dirty="0" sz="1200">
                <a:latin typeface="Arial"/>
                <a:cs typeface="Arial"/>
              </a:rPr>
              <a:t>fight </a:t>
            </a:r>
            <a:r>
              <a:rPr dirty="0" sz="1200" spc="-5">
                <a:latin typeface="Arial"/>
                <a:cs typeface="Arial"/>
              </a:rPr>
              <a:t>them until persecution is no </a:t>
            </a:r>
            <a:r>
              <a:rPr dirty="0" sz="1200">
                <a:latin typeface="Arial"/>
                <a:cs typeface="Arial"/>
              </a:rPr>
              <a:t>more, </a:t>
            </a:r>
            <a:r>
              <a:rPr dirty="0" sz="1200" spc="-5">
                <a:latin typeface="Arial"/>
                <a:cs typeface="Arial"/>
              </a:rPr>
              <a:t>and religion is </a:t>
            </a:r>
            <a:r>
              <a:rPr dirty="0" sz="1200">
                <a:latin typeface="Arial"/>
                <a:cs typeface="Arial"/>
              </a:rPr>
              <a:t>for </a:t>
            </a:r>
            <a:r>
              <a:rPr dirty="0" sz="1200" spc="-5">
                <a:latin typeface="Arial"/>
                <a:cs typeface="Arial"/>
              </a:rPr>
              <a:t>Allah. But </a:t>
            </a:r>
            <a:r>
              <a:rPr dirty="0" sz="1200" spc="-10">
                <a:latin typeface="Arial"/>
                <a:cs typeface="Arial"/>
              </a:rPr>
              <a:t>if </a:t>
            </a:r>
            <a:r>
              <a:rPr dirty="0" sz="1200" spc="-5">
                <a:latin typeface="Arial"/>
                <a:cs typeface="Arial"/>
              </a:rPr>
              <a:t>they desist,  </a:t>
            </a:r>
            <a:r>
              <a:rPr dirty="0" sz="1200">
                <a:latin typeface="Arial"/>
                <a:cs typeface="Arial"/>
              </a:rPr>
              <a:t>then </a:t>
            </a:r>
            <a:r>
              <a:rPr dirty="0" sz="1200" spc="-5">
                <a:latin typeface="Arial"/>
                <a:cs typeface="Arial"/>
              </a:rPr>
              <a:t>let there be no hostility except against</a:t>
            </a:r>
            <a:r>
              <a:rPr dirty="0" sz="1200">
                <a:latin typeface="Arial"/>
                <a:cs typeface="Arial"/>
              </a:rPr>
              <a:t> </a:t>
            </a:r>
            <a:r>
              <a:rPr dirty="0" sz="1200" spc="-5">
                <a:latin typeface="Arial"/>
                <a:cs typeface="Arial"/>
              </a:rPr>
              <a:t>wrongdoers.</a:t>
            </a:r>
            <a:endParaRPr sz="1200">
              <a:latin typeface="Arial"/>
              <a:cs typeface="Arial"/>
            </a:endParaRPr>
          </a:p>
          <a:p>
            <a:pPr>
              <a:lnSpc>
                <a:spcPct val="100000"/>
              </a:lnSpc>
              <a:spcBef>
                <a:spcPts val="20"/>
              </a:spcBef>
            </a:pPr>
            <a:endParaRPr sz="1100">
              <a:latin typeface="Arial"/>
              <a:cs typeface="Arial"/>
            </a:endParaRPr>
          </a:p>
          <a:p>
            <a:pPr marL="139700">
              <a:lnSpc>
                <a:spcPct val="100000"/>
              </a:lnSpc>
            </a:pPr>
            <a:r>
              <a:rPr dirty="0" sz="1200" spc="-5">
                <a:latin typeface="Arial"/>
                <a:cs typeface="Arial"/>
              </a:rPr>
              <a:t>Allah knows</a:t>
            </a:r>
            <a:r>
              <a:rPr dirty="0" sz="1200">
                <a:latin typeface="Arial"/>
                <a:cs typeface="Arial"/>
              </a:rPr>
              <a:t> best.</a:t>
            </a:r>
            <a:endParaRPr sz="1200">
              <a:latin typeface="Arial"/>
              <a:cs typeface="Arial"/>
            </a:endParaRPr>
          </a:p>
          <a:p>
            <a:pPr>
              <a:lnSpc>
                <a:spcPct val="100000"/>
              </a:lnSpc>
              <a:spcBef>
                <a:spcPts val="55"/>
              </a:spcBef>
            </a:pPr>
            <a:endParaRPr sz="1100">
              <a:latin typeface="Arial"/>
              <a:cs typeface="Arial"/>
            </a:endParaRPr>
          </a:p>
          <a:p>
            <a:pPr marL="139700">
              <a:lnSpc>
                <a:spcPct val="100000"/>
              </a:lnSpc>
            </a:pPr>
            <a:r>
              <a:rPr dirty="0" u="heavy" sz="1200" spc="-5" b="1" i="1">
                <a:uFill>
                  <a:solidFill>
                    <a:srgbClr val="000000"/>
                  </a:solidFill>
                </a:uFill>
                <a:latin typeface="Arial"/>
                <a:cs typeface="Arial"/>
              </a:rPr>
              <a:t>Surah Ali </a:t>
            </a:r>
            <a:r>
              <a:rPr dirty="0" u="heavy" sz="1200" spc="-50" b="1" i="1">
                <a:uFill>
                  <a:solidFill>
                    <a:srgbClr val="000000"/>
                  </a:solidFill>
                </a:uFill>
                <a:latin typeface="Arial"/>
                <a:cs typeface="Arial"/>
              </a:rPr>
              <a:t>„Imran </a:t>
            </a:r>
            <a:r>
              <a:rPr dirty="0" u="heavy" sz="1200" b="1" i="1">
                <a:uFill>
                  <a:solidFill>
                    <a:srgbClr val="000000"/>
                  </a:solidFill>
                </a:uFill>
                <a:latin typeface="Arial"/>
                <a:cs typeface="Arial"/>
              </a:rPr>
              <a:t>(3: </a:t>
            </a:r>
            <a:r>
              <a:rPr dirty="0" u="heavy" sz="1200" spc="-5" b="1" i="1">
                <a:uFill>
                  <a:solidFill>
                    <a:srgbClr val="000000"/>
                  </a:solidFill>
                </a:uFill>
                <a:latin typeface="Arial"/>
                <a:cs typeface="Arial"/>
              </a:rPr>
              <a:t>35 </a:t>
            </a:r>
            <a:r>
              <a:rPr dirty="0" u="heavy" sz="1200" b="1" i="1">
                <a:uFill>
                  <a:solidFill>
                    <a:srgbClr val="000000"/>
                  </a:solidFill>
                </a:uFill>
                <a:latin typeface="Arial"/>
                <a:cs typeface="Arial"/>
              </a:rPr>
              <a:t>–</a:t>
            </a:r>
            <a:r>
              <a:rPr dirty="0" u="heavy" sz="1200" spc="55" b="1" i="1">
                <a:uFill>
                  <a:solidFill>
                    <a:srgbClr val="000000"/>
                  </a:solidFill>
                </a:uFill>
                <a:latin typeface="Arial"/>
                <a:cs typeface="Arial"/>
              </a:rPr>
              <a:t> </a:t>
            </a:r>
            <a:r>
              <a:rPr dirty="0" u="heavy" sz="1200" spc="-5" b="1" i="1">
                <a:uFill>
                  <a:solidFill>
                    <a:srgbClr val="000000"/>
                  </a:solidFill>
                </a:uFill>
                <a:latin typeface="Arial"/>
                <a:cs typeface="Arial"/>
              </a:rPr>
              <a:t>62)</a:t>
            </a:r>
            <a:endParaRPr sz="1200">
              <a:latin typeface="Arial"/>
              <a:cs typeface="Arial"/>
            </a:endParaRPr>
          </a:p>
          <a:p>
            <a:pPr>
              <a:lnSpc>
                <a:spcPct val="100000"/>
              </a:lnSpc>
            </a:pPr>
            <a:endParaRPr sz="1200">
              <a:latin typeface="Arial"/>
              <a:cs typeface="Arial"/>
            </a:endParaRPr>
          </a:p>
          <a:p>
            <a:pPr algn="just" marL="139700" marR="168275">
              <a:lnSpc>
                <a:spcPct val="95900"/>
              </a:lnSpc>
            </a:pPr>
            <a:r>
              <a:rPr dirty="0" sz="1200">
                <a:latin typeface="Arial"/>
                <a:cs typeface="Arial"/>
              </a:rPr>
              <a:t>This </a:t>
            </a:r>
            <a:r>
              <a:rPr dirty="0" sz="1200" spc="-5">
                <a:latin typeface="Arial"/>
                <a:cs typeface="Arial"/>
              </a:rPr>
              <a:t>surah deals with </a:t>
            </a:r>
            <a:r>
              <a:rPr dirty="0" sz="1200">
                <a:latin typeface="Arial"/>
                <a:cs typeface="Arial"/>
              </a:rPr>
              <a:t>the </a:t>
            </a:r>
            <a:r>
              <a:rPr dirty="0" sz="1200" spc="-5">
                <a:latin typeface="Arial"/>
                <a:cs typeface="Arial"/>
              </a:rPr>
              <a:t>family of </a:t>
            </a:r>
            <a:r>
              <a:rPr dirty="0" sz="1200" spc="-65">
                <a:latin typeface="Arial"/>
                <a:cs typeface="Arial"/>
              </a:rPr>
              <a:t>‗Imran, </a:t>
            </a:r>
            <a:r>
              <a:rPr dirty="0" sz="1200" spc="-5">
                <a:latin typeface="Arial"/>
                <a:cs typeface="Arial"/>
              </a:rPr>
              <a:t>Hannah, Maryam, Hazrat Zakariyyah </a:t>
            </a:r>
            <a:r>
              <a:rPr dirty="0" sz="1200">
                <a:latin typeface="Arial"/>
                <a:cs typeface="Arial"/>
              </a:rPr>
              <a:t>and </a:t>
            </a:r>
            <a:r>
              <a:rPr dirty="0" sz="1200" spc="-5">
                <a:latin typeface="Arial"/>
                <a:cs typeface="Arial"/>
              </a:rPr>
              <a:t>their  surroundings. </a:t>
            </a:r>
            <a:r>
              <a:rPr dirty="0" sz="1200">
                <a:latin typeface="Arial"/>
                <a:cs typeface="Arial"/>
              </a:rPr>
              <a:t>It </a:t>
            </a:r>
            <a:r>
              <a:rPr dirty="0" sz="1200" spc="-5">
                <a:latin typeface="Arial"/>
                <a:cs typeface="Arial"/>
              </a:rPr>
              <a:t>relates </a:t>
            </a:r>
            <a:r>
              <a:rPr dirty="0" sz="1200">
                <a:latin typeface="Arial"/>
                <a:cs typeface="Arial"/>
              </a:rPr>
              <a:t>the story of </a:t>
            </a:r>
            <a:r>
              <a:rPr dirty="0" sz="1200" spc="-5">
                <a:latin typeface="Arial"/>
                <a:cs typeface="Arial"/>
              </a:rPr>
              <a:t>Hazrat </a:t>
            </a:r>
            <a:r>
              <a:rPr dirty="0" sz="1200">
                <a:latin typeface="Arial"/>
                <a:cs typeface="Arial"/>
              </a:rPr>
              <a:t>Hannah </a:t>
            </a:r>
            <a:r>
              <a:rPr dirty="0" sz="1200" spc="-10">
                <a:latin typeface="Arial"/>
                <a:cs typeface="Arial"/>
              </a:rPr>
              <a:t>who </a:t>
            </a:r>
            <a:r>
              <a:rPr dirty="0" sz="1200" spc="-5">
                <a:latin typeface="Arial"/>
                <a:cs typeface="Arial"/>
              </a:rPr>
              <a:t>desired a boy and she would  dedicate him to God. However, Allah gave her a girl, Maryam </a:t>
            </a:r>
            <a:r>
              <a:rPr dirty="0" sz="1200" spc="-10">
                <a:latin typeface="Arial"/>
                <a:cs typeface="Arial"/>
              </a:rPr>
              <a:t>who was </a:t>
            </a:r>
            <a:r>
              <a:rPr dirty="0" sz="1200">
                <a:latin typeface="Arial"/>
                <a:cs typeface="Arial"/>
              </a:rPr>
              <a:t>left </a:t>
            </a:r>
            <a:r>
              <a:rPr dirty="0" sz="1200" spc="-5">
                <a:latin typeface="Arial"/>
                <a:cs typeface="Arial"/>
              </a:rPr>
              <a:t>under </a:t>
            </a:r>
            <a:r>
              <a:rPr dirty="0" sz="1200">
                <a:latin typeface="Arial"/>
                <a:cs typeface="Arial"/>
              </a:rPr>
              <a:t>the </a:t>
            </a:r>
            <a:r>
              <a:rPr dirty="0" sz="1200" spc="-10">
                <a:latin typeface="Arial"/>
                <a:cs typeface="Arial"/>
              </a:rPr>
              <a:t>care </a:t>
            </a:r>
            <a:r>
              <a:rPr dirty="0" sz="1200" spc="-5">
                <a:latin typeface="Arial"/>
                <a:cs typeface="Arial"/>
              </a:rPr>
              <a:t>of  Zakariyyah. Miracles of foodstuff were produced </a:t>
            </a:r>
            <a:r>
              <a:rPr dirty="0" sz="1200">
                <a:latin typeface="Arial"/>
                <a:cs typeface="Arial"/>
              </a:rPr>
              <a:t>to fulfil the </a:t>
            </a:r>
            <a:r>
              <a:rPr dirty="0" sz="1200" spc="-5">
                <a:latin typeface="Arial"/>
                <a:cs typeface="Arial"/>
              </a:rPr>
              <a:t>needs of Maryam. Fruits of  winter were available during summer and vice versa. Hazrat Zakariyya </a:t>
            </a:r>
            <a:r>
              <a:rPr dirty="0" sz="1200" spc="-10">
                <a:latin typeface="Arial"/>
                <a:cs typeface="Arial"/>
              </a:rPr>
              <a:t>was </a:t>
            </a:r>
            <a:r>
              <a:rPr dirty="0" sz="1200" spc="-5">
                <a:latin typeface="Arial"/>
                <a:cs typeface="Arial"/>
              </a:rPr>
              <a:t>impressed </a:t>
            </a:r>
            <a:r>
              <a:rPr dirty="0" sz="1200" spc="-10">
                <a:latin typeface="Arial"/>
                <a:cs typeface="Arial"/>
              </a:rPr>
              <a:t>and  </a:t>
            </a:r>
            <a:r>
              <a:rPr dirty="0" sz="1200" spc="-5">
                <a:latin typeface="Arial"/>
                <a:cs typeface="Arial"/>
              </a:rPr>
              <a:t>wanted a son but </a:t>
            </a:r>
            <a:r>
              <a:rPr dirty="0" sz="1200">
                <a:latin typeface="Arial"/>
                <a:cs typeface="Arial"/>
              </a:rPr>
              <a:t>the </a:t>
            </a:r>
            <a:r>
              <a:rPr dirty="0" sz="1200" spc="-5">
                <a:latin typeface="Arial"/>
                <a:cs typeface="Arial"/>
              </a:rPr>
              <a:t>couple </a:t>
            </a:r>
            <a:r>
              <a:rPr dirty="0" sz="1200" spc="-10">
                <a:latin typeface="Arial"/>
                <a:cs typeface="Arial"/>
              </a:rPr>
              <a:t>was </a:t>
            </a:r>
            <a:r>
              <a:rPr dirty="0" sz="1200" spc="-5">
                <a:latin typeface="Arial"/>
                <a:cs typeface="Arial"/>
              </a:rPr>
              <a:t>barren. He </a:t>
            </a:r>
            <a:r>
              <a:rPr dirty="0" sz="1200" spc="-10">
                <a:latin typeface="Arial"/>
                <a:cs typeface="Arial"/>
              </a:rPr>
              <a:t>was </a:t>
            </a:r>
            <a:r>
              <a:rPr dirty="0" sz="1200" spc="-5">
                <a:latin typeface="Arial"/>
                <a:cs typeface="Arial"/>
              </a:rPr>
              <a:t>ordered </a:t>
            </a:r>
            <a:r>
              <a:rPr dirty="0" sz="1200">
                <a:latin typeface="Arial"/>
                <a:cs typeface="Arial"/>
              </a:rPr>
              <a:t>to fast for </a:t>
            </a:r>
            <a:r>
              <a:rPr dirty="0" sz="1200" spc="-5">
                <a:latin typeface="Arial"/>
                <a:cs typeface="Arial"/>
              </a:rPr>
              <a:t>3 days and </a:t>
            </a:r>
            <a:r>
              <a:rPr dirty="0" sz="1200">
                <a:latin typeface="Arial"/>
                <a:cs typeface="Arial"/>
              </a:rPr>
              <a:t>then </a:t>
            </a:r>
            <a:r>
              <a:rPr dirty="0" sz="1200" spc="-5">
                <a:latin typeface="Arial"/>
                <a:cs typeface="Arial"/>
              </a:rPr>
              <a:t>to </a:t>
            </a:r>
            <a:r>
              <a:rPr dirty="0" sz="1200" spc="-10">
                <a:latin typeface="Arial"/>
                <a:cs typeface="Arial"/>
              </a:rPr>
              <a:t>have  </a:t>
            </a:r>
            <a:r>
              <a:rPr dirty="0" sz="1200" spc="-5">
                <a:latin typeface="Arial"/>
                <a:cs typeface="Arial"/>
              </a:rPr>
              <a:t>sex with his </a:t>
            </a:r>
            <a:r>
              <a:rPr dirty="0" sz="1200">
                <a:latin typeface="Arial"/>
                <a:cs typeface="Arial"/>
              </a:rPr>
              <a:t>wife. </a:t>
            </a:r>
            <a:r>
              <a:rPr dirty="0" sz="1200" spc="-5">
                <a:latin typeface="Arial"/>
                <a:cs typeface="Arial"/>
              </a:rPr>
              <a:t>Allah </a:t>
            </a:r>
            <a:r>
              <a:rPr dirty="0" sz="1200" spc="-10">
                <a:latin typeface="Arial"/>
                <a:cs typeface="Arial"/>
              </a:rPr>
              <a:t>gave </a:t>
            </a:r>
            <a:r>
              <a:rPr dirty="0" sz="1200" spc="-5">
                <a:latin typeface="Arial"/>
                <a:cs typeface="Arial"/>
              </a:rPr>
              <a:t>him Hazrat Yahya </a:t>
            </a:r>
            <a:r>
              <a:rPr dirty="0" sz="1200">
                <a:latin typeface="Arial"/>
                <a:cs typeface="Arial"/>
              </a:rPr>
              <a:t>(as). There </a:t>
            </a:r>
            <a:r>
              <a:rPr dirty="0" sz="1200" spc="-5">
                <a:latin typeface="Arial"/>
                <a:cs typeface="Arial"/>
              </a:rPr>
              <a:t>is also </a:t>
            </a:r>
            <a:r>
              <a:rPr dirty="0" sz="1200">
                <a:latin typeface="Arial"/>
                <a:cs typeface="Arial"/>
              </a:rPr>
              <a:t>the </a:t>
            </a:r>
            <a:r>
              <a:rPr dirty="0" sz="1200" spc="-5">
                <a:latin typeface="Arial"/>
                <a:cs typeface="Arial"/>
              </a:rPr>
              <a:t>miraculous birth of  Jesus </a:t>
            </a:r>
            <a:r>
              <a:rPr dirty="0" sz="1200" spc="-10">
                <a:latin typeface="Arial"/>
                <a:cs typeface="Arial"/>
              </a:rPr>
              <a:t>who </a:t>
            </a:r>
            <a:r>
              <a:rPr dirty="0" sz="1200" spc="-5">
                <a:latin typeface="Arial"/>
                <a:cs typeface="Arial"/>
              </a:rPr>
              <a:t>talked in his cradle and made miracles. The Injeel </a:t>
            </a:r>
            <a:r>
              <a:rPr dirty="0" sz="1200" spc="-10">
                <a:latin typeface="Arial"/>
                <a:cs typeface="Arial"/>
              </a:rPr>
              <a:t>was </a:t>
            </a:r>
            <a:r>
              <a:rPr dirty="0" sz="1200" spc="-5">
                <a:latin typeface="Arial"/>
                <a:cs typeface="Arial"/>
              </a:rPr>
              <a:t>given </a:t>
            </a:r>
            <a:r>
              <a:rPr dirty="0" sz="1200">
                <a:latin typeface="Arial"/>
                <a:cs typeface="Arial"/>
              </a:rPr>
              <a:t>to </a:t>
            </a:r>
            <a:r>
              <a:rPr dirty="0" sz="1200" spc="-5">
                <a:latin typeface="Arial"/>
                <a:cs typeface="Arial"/>
              </a:rPr>
              <a:t>him and he </a:t>
            </a:r>
            <a:r>
              <a:rPr dirty="0" sz="1200" spc="-10">
                <a:latin typeface="Arial"/>
                <a:cs typeface="Arial"/>
              </a:rPr>
              <a:t>was  </a:t>
            </a:r>
            <a:r>
              <a:rPr dirty="0" sz="1200" spc="-5">
                <a:latin typeface="Arial"/>
                <a:cs typeface="Arial"/>
              </a:rPr>
              <a:t>ordered to spread Islam towards his people. There is also </a:t>
            </a:r>
            <a:r>
              <a:rPr dirty="0" sz="1200">
                <a:latin typeface="Arial"/>
                <a:cs typeface="Arial"/>
              </a:rPr>
              <a:t>the </a:t>
            </a:r>
            <a:r>
              <a:rPr dirty="0" sz="1200" spc="-10">
                <a:latin typeface="Arial"/>
                <a:cs typeface="Arial"/>
              </a:rPr>
              <a:t>will </a:t>
            </a:r>
            <a:r>
              <a:rPr dirty="0" sz="1200">
                <a:latin typeface="Arial"/>
                <a:cs typeface="Arial"/>
              </a:rPr>
              <a:t>of </a:t>
            </a:r>
            <a:r>
              <a:rPr dirty="0" sz="1200" spc="-5">
                <a:latin typeface="Arial"/>
                <a:cs typeface="Arial"/>
              </a:rPr>
              <a:t>Allah </a:t>
            </a:r>
            <a:r>
              <a:rPr dirty="0" sz="1200">
                <a:latin typeface="Arial"/>
                <a:cs typeface="Arial"/>
              </a:rPr>
              <a:t>– </a:t>
            </a:r>
            <a:r>
              <a:rPr dirty="0" sz="1200" spc="-5">
                <a:latin typeface="Arial"/>
                <a:cs typeface="Arial"/>
              </a:rPr>
              <a:t>He doesn‘t need  a </a:t>
            </a:r>
            <a:r>
              <a:rPr dirty="0" sz="1200">
                <a:latin typeface="Arial"/>
                <a:cs typeface="Arial"/>
              </a:rPr>
              <a:t>father for </a:t>
            </a:r>
            <a:r>
              <a:rPr dirty="0" sz="1200" spc="-5">
                <a:latin typeface="Arial"/>
                <a:cs typeface="Arial"/>
              </a:rPr>
              <a:t>a </a:t>
            </a:r>
            <a:r>
              <a:rPr dirty="0" sz="1200" spc="-10">
                <a:latin typeface="Arial"/>
                <a:cs typeface="Arial"/>
              </a:rPr>
              <a:t>son </a:t>
            </a:r>
            <a:r>
              <a:rPr dirty="0" sz="1200" spc="-5">
                <a:latin typeface="Arial"/>
                <a:cs typeface="Arial"/>
              </a:rPr>
              <a:t>or daughter </a:t>
            </a:r>
            <a:r>
              <a:rPr dirty="0" sz="1200">
                <a:latin typeface="Arial"/>
                <a:cs typeface="Arial"/>
              </a:rPr>
              <a:t>to take birth. </a:t>
            </a:r>
            <a:r>
              <a:rPr dirty="0" sz="1200" spc="-5">
                <a:latin typeface="Arial"/>
                <a:cs typeface="Arial"/>
              </a:rPr>
              <a:t>He is</a:t>
            </a:r>
            <a:r>
              <a:rPr dirty="0" sz="1200" spc="-30">
                <a:latin typeface="Arial"/>
                <a:cs typeface="Arial"/>
              </a:rPr>
              <a:t> </a:t>
            </a:r>
            <a:r>
              <a:rPr dirty="0" sz="1200">
                <a:latin typeface="Arial"/>
                <a:cs typeface="Arial"/>
              </a:rPr>
              <a:t>enough.</a:t>
            </a:r>
            <a:endParaRPr sz="1200">
              <a:latin typeface="Arial"/>
              <a:cs typeface="Arial"/>
            </a:endParaRPr>
          </a:p>
          <a:p>
            <a:pPr>
              <a:lnSpc>
                <a:spcPct val="100000"/>
              </a:lnSpc>
              <a:spcBef>
                <a:spcPts val="55"/>
              </a:spcBef>
            </a:pPr>
            <a:endParaRPr sz="1100">
              <a:latin typeface="Arial"/>
              <a:cs typeface="Arial"/>
            </a:endParaRPr>
          </a:p>
          <a:p>
            <a:pPr marL="139700">
              <a:lnSpc>
                <a:spcPct val="100000"/>
              </a:lnSpc>
            </a:pPr>
            <a:r>
              <a:rPr dirty="0" sz="1200" spc="-5">
                <a:latin typeface="Arial"/>
                <a:cs typeface="Arial"/>
              </a:rPr>
              <a:t>Allah says:</a:t>
            </a:r>
            <a:endParaRPr sz="1200">
              <a:latin typeface="Arial"/>
              <a:cs typeface="Arial"/>
            </a:endParaRPr>
          </a:p>
        </p:txBody>
      </p:sp>
      <p:sp>
        <p:nvSpPr>
          <p:cNvPr id="5" name="object 5"/>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6" name="object 6"/>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61</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5970905" cy="208279"/>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1001572" y="807211"/>
            <a:ext cx="4756150" cy="299720"/>
          </a:xfrm>
          <a:prstGeom prst="rect">
            <a:avLst/>
          </a:prstGeom>
        </p:spPr>
        <p:txBody>
          <a:bodyPr wrap="square" lIns="0" tIns="12700" rIns="0" bIns="0" rtlCol="0" vert="horz">
            <a:spAutoFit/>
          </a:bodyPr>
          <a:lstStyle/>
          <a:p>
            <a:pPr marL="38100">
              <a:lnSpc>
                <a:spcPct val="100000"/>
              </a:lnSpc>
              <a:spcBef>
                <a:spcPts val="100"/>
              </a:spcBef>
            </a:pPr>
            <a:r>
              <a:rPr dirty="0" baseline="3086" sz="2700" spc="-772">
                <a:latin typeface="Arial"/>
                <a:cs typeface="Arial"/>
              </a:rPr>
              <a:t>ت</a:t>
            </a:r>
            <a:r>
              <a:rPr dirty="0" baseline="4629" sz="2700" spc="-772">
                <a:latin typeface="Arial"/>
                <a:cs typeface="Arial"/>
              </a:rPr>
              <a:t>َ</a:t>
            </a:r>
            <a:r>
              <a:rPr dirty="0" baseline="4629" sz="2700" spc="772">
                <a:latin typeface="Arial"/>
                <a:cs typeface="Arial"/>
              </a:rPr>
              <a:t> </a:t>
            </a:r>
            <a:r>
              <a:rPr dirty="0" baseline="3086" sz="2700" spc="-270">
                <a:latin typeface="Arial"/>
                <a:cs typeface="Arial"/>
              </a:rPr>
              <a:t>ن</a:t>
            </a:r>
            <a:r>
              <a:rPr dirty="0" baseline="16975" sz="2700" spc="-270">
                <a:latin typeface="Arial"/>
                <a:cs typeface="Arial"/>
              </a:rPr>
              <a:t>َ</a:t>
            </a:r>
            <a:r>
              <a:rPr dirty="0" baseline="3086" sz="2700" spc="-270">
                <a:latin typeface="Arial"/>
                <a:cs typeface="Arial"/>
              </a:rPr>
              <a:t>أ </a:t>
            </a:r>
            <a:r>
              <a:rPr dirty="0" baseline="3086" sz="2700" spc="-690">
                <a:latin typeface="Arial"/>
                <a:cs typeface="Arial"/>
              </a:rPr>
              <a:t>ك</a:t>
            </a:r>
            <a:r>
              <a:rPr dirty="0" sz="1800" spc="-459">
                <a:latin typeface="Arial"/>
                <a:cs typeface="Arial"/>
              </a:rPr>
              <a:t>َ </a:t>
            </a:r>
            <a:r>
              <a:rPr dirty="0" baseline="3086" sz="2700" spc="-442">
                <a:latin typeface="Arial"/>
                <a:cs typeface="Arial"/>
              </a:rPr>
              <a:t>ن</a:t>
            </a:r>
            <a:r>
              <a:rPr dirty="0" baseline="10802" sz="2700" spc="-442">
                <a:latin typeface="Arial"/>
                <a:cs typeface="Arial"/>
              </a:rPr>
              <a:t>َّ </a:t>
            </a:r>
            <a:r>
              <a:rPr dirty="0" baseline="-10802" sz="2700">
                <a:latin typeface="Arial"/>
                <a:cs typeface="Arial"/>
              </a:rPr>
              <a:t>ِ</a:t>
            </a:r>
            <a:r>
              <a:rPr dirty="0" baseline="3086" sz="2700">
                <a:latin typeface="Arial"/>
                <a:cs typeface="Arial"/>
              </a:rPr>
              <a:t>إ </a:t>
            </a:r>
            <a:r>
              <a:rPr dirty="0" baseline="3086" sz="2700" spc="-330">
                <a:latin typeface="Arial"/>
                <a:cs typeface="Arial"/>
              </a:rPr>
              <a:t>ًن</a:t>
            </a:r>
            <a:r>
              <a:rPr dirty="0" baseline="10802" sz="27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577">
                <a:latin typeface="Arial"/>
                <a:cs typeface="Arial"/>
              </a:rPr>
              <a:t>لْ </a:t>
            </a:r>
            <a:r>
              <a:rPr dirty="0" baseline="3086" sz="2700" spc="-607">
                <a:latin typeface="Arial"/>
                <a:cs typeface="Arial"/>
              </a:rPr>
              <a:t>بَّ </a:t>
            </a:r>
            <a:r>
              <a:rPr dirty="0" baseline="3086" sz="2700" spc="-750">
                <a:latin typeface="Arial"/>
                <a:cs typeface="Arial"/>
              </a:rPr>
              <a:t>ق</a:t>
            </a:r>
            <a:r>
              <a:rPr dirty="0" baseline="7716" sz="2700" spc="-750">
                <a:latin typeface="Arial"/>
                <a:cs typeface="Arial"/>
              </a:rPr>
              <a:t>َ</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spc="-1027">
                <a:latin typeface="Arial"/>
                <a:cs typeface="Arial"/>
              </a:rPr>
              <a:t>ف</a:t>
            </a:r>
            <a:r>
              <a:rPr dirty="0" baseline="7716" sz="2700" spc="-1027">
                <a:latin typeface="Arial"/>
                <a:cs typeface="Arial"/>
              </a:rPr>
              <a:t>َ</a:t>
            </a:r>
            <a:r>
              <a:rPr dirty="0" baseline="7716" sz="2700" spc="615">
                <a:latin typeface="Arial"/>
                <a:cs typeface="Arial"/>
              </a:rPr>
              <a:t> </a:t>
            </a:r>
            <a:r>
              <a:rPr dirty="0" baseline="12345" sz="2700" spc="-172">
                <a:latin typeface="Arial"/>
                <a:cs typeface="Arial"/>
              </a:rPr>
              <a:t>ً</a:t>
            </a:r>
            <a:r>
              <a:rPr dirty="0" baseline="3086" sz="2700" spc="-172">
                <a:latin typeface="Arial"/>
                <a:cs typeface="Arial"/>
              </a:rPr>
              <a:t>اررَّ </a:t>
            </a:r>
            <a:r>
              <a:rPr dirty="0" baseline="3086" sz="2700" spc="-592">
                <a:latin typeface="Arial"/>
                <a:cs typeface="Arial"/>
              </a:rPr>
              <a:t>ح</a:t>
            </a:r>
            <a:r>
              <a:rPr dirty="0" sz="1800" spc="-395">
                <a:latin typeface="Arial"/>
                <a:cs typeface="Arial"/>
              </a:rPr>
              <a:t>َ </a:t>
            </a:r>
            <a:r>
              <a:rPr dirty="0" baseline="3086" sz="2700" spc="-397">
                <a:latin typeface="Arial"/>
                <a:cs typeface="Arial"/>
              </a:rPr>
              <a:t>مُ </a:t>
            </a:r>
            <a:r>
              <a:rPr dirty="0" baseline="3086" sz="2700" spc="-472">
                <a:latin typeface="Arial"/>
                <a:cs typeface="Arial"/>
              </a:rPr>
              <a:t>ًن</a:t>
            </a:r>
            <a:r>
              <a:rPr dirty="0" baseline="1543" sz="2700" spc="-472">
                <a:latin typeface="Arial"/>
                <a:cs typeface="Arial"/>
              </a:rPr>
              <a:t>ِ </a:t>
            </a:r>
            <a:r>
              <a:rPr dirty="0" baseline="3086" sz="2700" spc="-615">
                <a:latin typeface="Arial"/>
                <a:cs typeface="Arial"/>
              </a:rPr>
              <a:t>ط</a:t>
            </a:r>
            <a:r>
              <a:rPr dirty="0" baseline="16975" sz="2700" spc="-615">
                <a:latin typeface="Arial"/>
                <a:cs typeface="Arial"/>
              </a:rPr>
              <a:t>ْ </a:t>
            </a:r>
            <a:r>
              <a:rPr dirty="0" baseline="3086" sz="2700" spc="-892">
                <a:latin typeface="Arial"/>
                <a:cs typeface="Arial"/>
              </a:rPr>
              <a:t>ب</a:t>
            </a:r>
            <a:r>
              <a:rPr dirty="0" sz="1800" spc="-595">
                <a:latin typeface="Arial"/>
                <a:cs typeface="Arial"/>
              </a:rPr>
              <a:t>َ</a:t>
            </a:r>
            <a:r>
              <a:rPr dirty="0" sz="1800" spc="355">
                <a:latin typeface="Arial"/>
                <a:cs typeface="Arial"/>
              </a:rPr>
              <a:t> </a:t>
            </a:r>
            <a:r>
              <a:rPr dirty="0" baseline="3086" sz="2700" spc="-705">
                <a:latin typeface="Arial"/>
                <a:cs typeface="Arial"/>
              </a:rPr>
              <a:t>ًف</a:t>
            </a:r>
            <a:r>
              <a:rPr dirty="0" baseline="1543" sz="2700" spc="-705">
                <a:latin typeface="Arial"/>
                <a:cs typeface="Arial"/>
              </a:rPr>
              <a:t>ِ </a:t>
            </a:r>
            <a:r>
              <a:rPr dirty="0" baseline="3086" sz="2700" spc="-225">
                <a:latin typeface="Arial"/>
                <a:cs typeface="Arial"/>
              </a:rPr>
              <a:t>ام</a:t>
            </a:r>
            <a:r>
              <a:rPr dirty="0" sz="1800" spc="-150">
                <a:latin typeface="Arial"/>
                <a:cs typeface="Arial"/>
              </a:rPr>
              <a:t>َ </a:t>
            </a:r>
            <a:r>
              <a:rPr dirty="0" baseline="3086" sz="2700" spc="-682">
                <a:latin typeface="Arial"/>
                <a:cs typeface="Arial"/>
              </a:rPr>
              <a:t>ك</a:t>
            </a:r>
            <a:r>
              <a:rPr dirty="0" sz="1800" spc="-455">
                <a:latin typeface="Arial"/>
                <a:cs typeface="Arial"/>
              </a:rPr>
              <a:t>َ </a:t>
            </a:r>
            <a:r>
              <a:rPr dirty="0" baseline="10802" sz="2700" spc="-405">
                <a:latin typeface="Arial"/>
                <a:cs typeface="Arial"/>
              </a:rPr>
              <a:t>َ</a:t>
            </a:r>
            <a:r>
              <a:rPr dirty="0" baseline="3086" sz="2700" spc="-405">
                <a:latin typeface="Arial"/>
                <a:cs typeface="Arial"/>
              </a:rPr>
              <a:t>ل </a:t>
            </a:r>
            <a:r>
              <a:rPr dirty="0" baseline="3086" sz="2700" spc="-802">
                <a:latin typeface="Arial"/>
                <a:cs typeface="Arial"/>
              </a:rPr>
              <a:t>ت</a:t>
            </a:r>
            <a:r>
              <a:rPr dirty="0" baseline="7716" sz="2700" spc="-802">
                <a:latin typeface="Arial"/>
                <a:cs typeface="Arial"/>
              </a:rPr>
              <a:t>ُ</a:t>
            </a:r>
            <a:r>
              <a:rPr dirty="0" baseline="7716" sz="2700" spc="847">
                <a:latin typeface="Arial"/>
                <a:cs typeface="Arial"/>
              </a:rPr>
              <a:t> </a:t>
            </a:r>
            <a:r>
              <a:rPr dirty="0" baseline="3086" sz="2700" spc="-457">
                <a:latin typeface="Arial"/>
                <a:cs typeface="Arial"/>
              </a:rPr>
              <a:t>رْ </a:t>
            </a:r>
            <a:r>
              <a:rPr dirty="0" baseline="3086" sz="2700" spc="-322">
                <a:latin typeface="Arial"/>
                <a:cs typeface="Arial"/>
              </a:rPr>
              <a:t>ذ</a:t>
            </a:r>
            <a:r>
              <a:rPr dirty="0" baseline="13888" sz="2700" spc="-322">
                <a:latin typeface="Arial"/>
                <a:cs typeface="Arial"/>
              </a:rPr>
              <a:t>َ </a:t>
            </a:r>
            <a:r>
              <a:rPr dirty="0" baseline="3086" sz="2700" spc="-652">
                <a:latin typeface="Arial"/>
                <a:cs typeface="Arial"/>
              </a:rPr>
              <a:t>ن</a:t>
            </a:r>
            <a:r>
              <a:rPr dirty="0" baseline="7716" sz="2700" spc="-652">
                <a:latin typeface="Arial"/>
                <a:cs typeface="Arial"/>
              </a:rPr>
              <a:t>َ </a:t>
            </a:r>
            <a:r>
              <a:rPr dirty="0" baseline="3086" sz="2700" spc="-330">
                <a:latin typeface="Arial"/>
                <a:cs typeface="Arial"/>
              </a:rPr>
              <a:t>ًن</a:t>
            </a:r>
            <a:r>
              <a:rPr dirty="0" baseline="10802" sz="2700" spc="-330">
                <a:latin typeface="Arial"/>
                <a:cs typeface="Arial"/>
              </a:rPr>
              <a:t>ِّ </a:t>
            </a:r>
            <a:r>
              <a:rPr dirty="0" baseline="-10802" sz="2700">
                <a:latin typeface="Arial"/>
                <a:cs typeface="Arial"/>
              </a:rPr>
              <a:t>ِ</a:t>
            </a:r>
            <a:r>
              <a:rPr dirty="0" baseline="3086" sz="2700">
                <a:latin typeface="Arial"/>
                <a:cs typeface="Arial"/>
              </a:rPr>
              <a:t>إ </a:t>
            </a:r>
            <a:r>
              <a:rPr dirty="0" baseline="3086" sz="2700" spc="-525">
                <a:latin typeface="Arial"/>
                <a:cs typeface="Arial"/>
              </a:rPr>
              <a:t>بِّ </a:t>
            </a:r>
            <a:r>
              <a:rPr dirty="0" baseline="3086" sz="2700" spc="-494">
                <a:latin typeface="Arial"/>
                <a:cs typeface="Arial"/>
              </a:rPr>
              <a:t>ر</a:t>
            </a:r>
            <a:r>
              <a:rPr dirty="0" sz="1800" spc="-330">
                <a:latin typeface="Arial"/>
                <a:cs typeface="Arial"/>
              </a:rPr>
              <a:t>َ </a:t>
            </a:r>
            <a:r>
              <a:rPr dirty="0" baseline="3086" sz="2700" spc="-494">
                <a:latin typeface="Arial"/>
                <a:cs typeface="Arial"/>
              </a:rPr>
              <a:t>ن</a:t>
            </a:r>
            <a:r>
              <a:rPr dirty="0" sz="1800" spc="-330">
                <a:latin typeface="Arial"/>
                <a:cs typeface="Arial"/>
              </a:rPr>
              <a:t>َ </a:t>
            </a:r>
            <a:r>
              <a:rPr dirty="0" baseline="3086" sz="2700" spc="-330">
                <a:latin typeface="Arial"/>
                <a:cs typeface="Arial"/>
              </a:rPr>
              <a:t>ار</a:t>
            </a:r>
            <a:r>
              <a:rPr dirty="0" sz="1800" spc="-220">
                <a:latin typeface="Arial"/>
                <a:cs typeface="Arial"/>
              </a:rPr>
              <a:t>َ </a:t>
            </a:r>
            <a:r>
              <a:rPr dirty="0" baseline="3086" sz="2700" spc="-322">
                <a:latin typeface="Arial"/>
                <a:cs typeface="Arial"/>
              </a:rPr>
              <a:t>مْ</a:t>
            </a:r>
            <a:r>
              <a:rPr dirty="0" baseline="3086" sz="2700" spc="-337">
                <a:latin typeface="Arial"/>
                <a:cs typeface="Arial"/>
              </a:rPr>
              <a:t> </a:t>
            </a:r>
            <a:r>
              <a:rPr dirty="0" baseline="3086" sz="2700" spc="-1185">
                <a:latin typeface="Arial"/>
                <a:cs typeface="Arial"/>
              </a:rPr>
              <a:t>ع</a:t>
            </a:r>
            <a:endParaRPr baseline="3086" sz="27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62</a:t>
            </a:r>
          </a:p>
        </p:txBody>
      </p:sp>
      <p:sp>
        <p:nvSpPr>
          <p:cNvPr id="5" name="object 5"/>
          <p:cNvSpPr txBox="1"/>
          <p:nvPr/>
        </p:nvSpPr>
        <p:spPr>
          <a:xfrm>
            <a:off x="5597956" y="807211"/>
            <a:ext cx="1272540" cy="554990"/>
          </a:xfrm>
          <a:prstGeom prst="rect">
            <a:avLst/>
          </a:prstGeom>
        </p:spPr>
        <p:txBody>
          <a:bodyPr wrap="square" lIns="0" tIns="36830" rIns="0" bIns="0" rtlCol="0" vert="horz">
            <a:spAutoFit/>
          </a:bodyPr>
          <a:lstStyle/>
          <a:p>
            <a:pPr marL="340360" marR="30480" indent="-302895">
              <a:lnSpc>
                <a:spcPts val="2010"/>
              </a:lnSpc>
              <a:spcBef>
                <a:spcPts val="290"/>
              </a:spcBef>
            </a:pPr>
            <a:r>
              <a:rPr dirty="0" baseline="1543" sz="2700">
                <a:latin typeface="Arial"/>
                <a:cs typeface="Arial"/>
              </a:rPr>
              <a:t>ِ </a:t>
            </a:r>
            <a:r>
              <a:rPr dirty="0" baseline="3086" sz="2700" spc="-802">
                <a:latin typeface="Arial"/>
                <a:cs typeface="Arial"/>
              </a:rPr>
              <a:t>ت</a:t>
            </a:r>
            <a:r>
              <a:rPr dirty="0" baseline="7716" sz="2700" spc="-802">
                <a:latin typeface="Arial"/>
                <a:cs typeface="Arial"/>
              </a:rPr>
              <a:t>ُ</a:t>
            </a:r>
            <a:r>
              <a:rPr dirty="0" baseline="7716" sz="2700" spc="794">
                <a:latin typeface="Arial"/>
                <a:cs typeface="Arial"/>
              </a:rPr>
              <a:t> </a:t>
            </a:r>
            <a:r>
              <a:rPr dirty="0" baseline="16975" sz="2700" spc="-247">
                <a:latin typeface="Arial"/>
                <a:cs typeface="Arial"/>
              </a:rPr>
              <a:t>َ</a:t>
            </a:r>
            <a:r>
              <a:rPr dirty="0" baseline="3086" sz="2700" spc="-247">
                <a:latin typeface="Arial"/>
                <a:cs typeface="Arial"/>
              </a:rPr>
              <a:t>أر</a:t>
            </a:r>
            <a:r>
              <a:rPr dirty="0" sz="1800" spc="-165">
                <a:latin typeface="Arial"/>
                <a:cs typeface="Arial"/>
              </a:rPr>
              <a:t>َ </a:t>
            </a:r>
            <a:r>
              <a:rPr dirty="0" baseline="3086" sz="2700" spc="-322">
                <a:latin typeface="Arial"/>
                <a:cs typeface="Arial"/>
              </a:rPr>
              <a:t>مْ </a:t>
            </a:r>
            <a:r>
              <a:rPr dirty="0" baseline="3086" sz="2700">
                <a:latin typeface="Arial"/>
                <a:cs typeface="Arial"/>
              </a:rPr>
              <a:t>ٱ </a:t>
            </a:r>
            <a:r>
              <a:rPr dirty="0" baseline="3086" sz="2700" spc="-862">
                <a:latin typeface="Arial"/>
                <a:cs typeface="Arial"/>
              </a:rPr>
              <a:t>ت</a:t>
            </a:r>
            <a:r>
              <a:rPr dirty="0" baseline="1543" sz="2700" spc="-862">
                <a:latin typeface="Arial"/>
                <a:cs typeface="Arial"/>
              </a:rPr>
              <a:t>ِ</a:t>
            </a:r>
            <a:r>
              <a:rPr dirty="0" baseline="1543" sz="2700" spc="944">
                <a:latin typeface="Arial"/>
                <a:cs typeface="Arial"/>
              </a:rPr>
              <a:t> </a:t>
            </a:r>
            <a:r>
              <a:rPr dirty="0" baseline="10802" sz="2700" spc="-457">
                <a:latin typeface="Arial"/>
                <a:cs typeface="Arial"/>
              </a:rPr>
              <a:t>َ</a:t>
            </a:r>
            <a:r>
              <a:rPr dirty="0" baseline="3086" sz="2700" spc="-457">
                <a:latin typeface="Arial"/>
                <a:cs typeface="Arial"/>
              </a:rPr>
              <a:t>لاق</a:t>
            </a:r>
            <a:r>
              <a:rPr dirty="0" baseline="7716" sz="2700" spc="-457">
                <a:latin typeface="Arial"/>
                <a:cs typeface="Arial"/>
              </a:rPr>
              <a:t>َ  </a:t>
            </a:r>
            <a:r>
              <a:rPr dirty="0" baseline="3086" sz="2700" spc="-284">
                <a:latin typeface="Arial"/>
                <a:cs typeface="Arial"/>
              </a:rPr>
              <a:t>ذ</a:t>
            </a:r>
            <a:r>
              <a:rPr dirty="0" baseline="16975" sz="2700" spc="-284">
                <a:latin typeface="Arial"/>
                <a:cs typeface="Arial"/>
              </a:rPr>
              <a:t>ْ </a:t>
            </a:r>
            <a:r>
              <a:rPr dirty="0" baseline="-10802" sz="2700">
                <a:latin typeface="Arial"/>
                <a:cs typeface="Arial"/>
              </a:rPr>
              <a:t>ِ</a:t>
            </a:r>
            <a:r>
              <a:rPr dirty="0" baseline="3086" sz="2700">
                <a:latin typeface="Arial"/>
                <a:cs typeface="Arial"/>
              </a:rPr>
              <a:t>إ  </a:t>
            </a:r>
            <a:r>
              <a:rPr dirty="0" baseline="3086" sz="2700" spc="-434">
                <a:latin typeface="Arial"/>
                <a:cs typeface="Arial"/>
              </a:rPr>
              <a:t>      </a:t>
            </a:r>
            <a:r>
              <a:rPr dirty="0" baseline="3086" sz="2700" spc="-397">
                <a:latin typeface="Arial"/>
                <a:cs typeface="Arial"/>
              </a:rPr>
              <a:t> </a:t>
            </a:r>
            <a:r>
              <a:rPr dirty="0" baseline="1543" sz="2700" spc="-434">
                <a:latin typeface="Arial"/>
                <a:cs typeface="Arial"/>
              </a:rPr>
              <a:t>م</a:t>
            </a:r>
            <a:r>
              <a:rPr dirty="0" baseline="-4629" sz="2700" spc="-434">
                <a:latin typeface="Arial"/>
                <a:cs typeface="Arial"/>
              </a:rPr>
              <a:t>ُ </a:t>
            </a:r>
            <a:r>
              <a:rPr dirty="0" baseline="1543" sz="2700" spc="-405">
                <a:latin typeface="Arial"/>
                <a:cs typeface="Arial"/>
              </a:rPr>
              <a:t>ٌ</a:t>
            </a:r>
            <a:r>
              <a:rPr dirty="0" sz="1800" spc="-270">
                <a:latin typeface="Arial"/>
                <a:cs typeface="Arial"/>
              </a:rPr>
              <a:t>ِ</a:t>
            </a:r>
            <a:r>
              <a:rPr dirty="0" baseline="1543" sz="2700" spc="-405">
                <a:latin typeface="Arial"/>
                <a:cs typeface="Arial"/>
              </a:rPr>
              <a:t>لع</a:t>
            </a:r>
            <a:r>
              <a:rPr dirty="0" baseline="-1543" sz="2700" spc="-405">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607">
                <a:latin typeface="Arial"/>
                <a:cs typeface="Arial"/>
              </a:rPr>
              <a:t>عُ </a:t>
            </a:r>
            <a:r>
              <a:rPr dirty="0" baseline="1543" sz="2700" spc="-240">
                <a:latin typeface="Arial"/>
                <a:cs typeface="Arial"/>
              </a:rPr>
              <a:t>ٌم</a:t>
            </a:r>
            <a:r>
              <a:rPr dirty="0" sz="1800" spc="-160">
                <a:latin typeface="Arial"/>
                <a:cs typeface="Arial"/>
              </a:rPr>
              <a:t>ِ </a:t>
            </a:r>
            <a:r>
              <a:rPr dirty="0" baseline="1543" sz="2700" spc="-667">
                <a:latin typeface="Arial"/>
                <a:cs typeface="Arial"/>
              </a:rPr>
              <a:t>س</a:t>
            </a:r>
            <a:r>
              <a:rPr dirty="0" sz="1800" spc="-445">
                <a:latin typeface="Arial"/>
                <a:cs typeface="Arial"/>
              </a:rPr>
              <a:t>َّ </a:t>
            </a:r>
            <a:r>
              <a:rPr dirty="0" baseline="1543" sz="2700" spc="-412">
                <a:latin typeface="Arial"/>
                <a:cs typeface="Arial"/>
              </a:rPr>
              <a:t>لٱ</a:t>
            </a:r>
            <a:endParaRPr baseline="1543" sz="2700">
              <a:latin typeface="Arial"/>
              <a:cs typeface="Arial"/>
            </a:endParaRPr>
          </a:p>
        </p:txBody>
      </p:sp>
      <p:sp>
        <p:nvSpPr>
          <p:cNvPr id="6" name="object 6"/>
          <p:cNvSpPr txBox="1"/>
          <p:nvPr/>
        </p:nvSpPr>
        <p:spPr>
          <a:xfrm>
            <a:off x="407416" y="1500885"/>
            <a:ext cx="6589395" cy="7844790"/>
          </a:xfrm>
          <a:prstGeom prst="rect">
            <a:avLst/>
          </a:prstGeom>
        </p:spPr>
        <p:txBody>
          <a:bodyPr wrap="square" lIns="0" tIns="24765" rIns="0" bIns="0" rtlCol="0" vert="horz">
            <a:spAutoFit/>
          </a:bodyPr>
          <a:lstStyle/>
          <a:p>
            <a:pPr algn="just" marL="139700" marR="161925">
              <a:lnSpc>
                <a:spcPts val="1380"/>
              </a:lnSpc>
              <a:spcBef>
                <a:spcPts val="195"/>
              </a:spcBef>
              <a:buAutoNum type="arabicPeriod" startAt="35"/>
              <a:tabLst>
                <a:tab pos="400050" algn="l"/>
              </a:tabLst>
            </a:pPr>
            <a:r>
              <a:rPr dirty="0" sz="1200" spc="-5">
                <a:latin typeface="Arial"/>
                <a:cs typeface="Arial"/>
              </a:rPr>
              <a:t>(Remember) when </a:t>
            </a:r>
            <a:r>
              <a:rPr dirty="0" sz="1200">
                <a:latin typeface="Arial"/>
                <a:cs typeface="Arial"/>
              </a:rPr>
              <a:t>the </a:t>
            </a:r>
            <a:r>
              <a:rPr dirty="0" sz="1200" spc="-5">
                <a:latin typeface="Arial"/>
                <a:cs typeface="Arial"/>
              </a:rPr>
              <a:t>wife of Imran said: My Lord </a:t>
            </a:r>
            <a:r>
              <a:rPr dirty="0" sz="1200">
                <a:latin typeface="Arial"/>
                <a:cs typeface="Arial"/>
              </a:rPr>
              <a:t>I </a:t>
            </a:r>
            <a:r>
              <a:rPr dirty="0" sz="1200" spc="-5">
                <a:latin typeface="Arial"/>
                <a:cs typeface="Arial"/>
              </a:rPr>
              <a:t>have vowed unto Thee that which is  in </a:t>
            </a:r>
            <a:r>
              <a:rPr dirty="0" sz="1200">
                <a:latin typeface="Arial"/>
                <a:cs typeface="Arial"/>
              </a:rPr>
              <a:t>my </a:t>
            </a:r>
            <a:r>
              <a:rPr dirty="0" sz="1200" spc="-5">
                <a:latin typeface="Arial"/>
                <a:cs typeface="Arial"/>
              </a:rPr>
              <a:t>belly as a consecrated (offering). Accept </a:t>
            </a:r>
            <a:r>
              <a:rPr dirty="0" sz="1200">
                <a:latin typeface="Arial"/>
                <a:cs typeface="Arial"/>
              </a:rPr>
              <a:t>it </a:t>
            </a:r>
            <a:r>
              <a:rPr dirty="0" sz="1200" spc="-5">
                <a:latin typeface="Arial"/>
                <a:cs typeface="Arial"/>
              </a:rPr>
              <a:t>from me. Lo! Thou, only Thou, </a:t>
            </a:r>
            <a:r>
              <a:rPr dirty="0" sz="1200">
                <a:latin typeface="Arial"/>
                <a:cs typeface="Arial"/>
              </a:rPr>
              <a:t>art the  Hearer, </a:t>
            </a:r>
            <a:r>
              <a:rPr dirty="0" sz="1200" spc="-5">
                <a:latin typeface="Arial"/>
                <a:cs typeface="Arial"/>
              </a:rPr>
              <a:t>the Knower!</a:t>
            </a:r>
            <a:endParaRPr sz="1200">
              <a:latin typeface="Arial"/>
              <a:cs typeface="Arial"/>
            </a:endParaRPr>
          </a:p>
          <a:p>
            <a:pPr>
              <a:lnSpc>
                <a:spcPct val="100000"/>
              </a:lnSpc>
              <a:buFont typeface="Arial"/>
              <a:buAutoNum type="arabicPeriod" startAt="35"/>
            </a:pPr>
            <a:endParaRPr sz="1300">
              <a:latin typeface="Arial"/>
              <a:cs typeface="Arial"/>
            </a:endParaRPr>
          </a:p>
          <a:p>
            <a:pPr algn="r" marL="1941195" marR="208915" indent="-1486535">
              <a:lnSpc>
                <a:spcPts val="2060"/>
              </a:lnSpc>
            </a:pPr>
            <a:r>
              <a:rPr dirty="0" baseline="3086" sz="2700" spc="-532">
                <a:latin typeface="Arial"/>
                <a:cs typeface="Arial"/>
              </a:rPr>
              <a:t>ى</a:t>
            </a:r>
            <a:r>
              <a:rPr dirty="0" baseline="7716" sz="2700" spc="-532">
                <a:latin typeface="Arial"/>
                <a:cs typeface="Arial"/>
              </a:rPr>
              <a:t>ٰ </a:t>
            </a:r>
            <a:r>
              <a:rPr dirty="0" baseline="3086" sz="2700" spc="-892">
                <a:latin typeface="Arial"/>
                <a:cs typeface="Arial"/>
              </a:rPr>
              <a:t>ث</a:t>
            </a:r>
            <a:r>
              <a:rPr dirty="0" baseline="13888" sz="2700" spc="-892">
                <a:latin typeface="Arial"/>
                <a:cs typeface="Arial"/>
              </a:rPr>
              <a:t>َ</a:t>
            </a:r>
            <a:r>
              <a:rPr dirty="0" baseline="13888" sz="2700" spc="-209">
                <a:latin typeface="Arial"/>
                <a:cs typeface="Arial"/>
              </a:rPr>
              <a:t> </a:t>
            </a:r>
            <a:r>
              <a:rPr dirty="0" baseline="3086" sz="2700" spc="-607">
                <a:latin typeface="Arial"/>
                <a:cs typeface="Arial"/>
              </a:rPr>
              <a:t>ن</a:t>
            </a:r>
            <a:r>
              <a:rPr dirty="0" baseline="12345" sz="2700" spc="-607">
                <a:latin typeface="Arial"/>
                <a:cs typeface="Arial"/>
              </a:rPr>
              <a:t>ْ </a:t>
            </a:r>
            <a:r>
              <a:rPr dirty="0" baseline="20061" sz="2700" spc="-315">
                <a:latin typeface="Arial"/>
                <a:cs typeface="Arial"/>
              </a:rPr>
              <a:t>ُ</a:t>
            </a:r>
            <a:r>
              <a:rPr dirty="0" baseline="3086" sz="2700" spc="-315">
                <a:latin typeface="Arial"/>
                <a:cs typeface="Arial"/>
              </a:rPr>
              <a:t>لأٲك</a:t>
            </a:r>
            <a:r>
              <a:rPr dirty="0" baseline="7716" sz="2700" spc="-315">
                <a:latin typeface="Arial"/>
                <a:cs typeface="Arial"/>
              </a:rPr>
              <a:t>َ </a:t>
            </a:r>
            <a:r>
              <a:rPr dirty="0" baseline="3086" sz="2700" spc="-525">
                <a:latin typeface="Arial"/>
                <a:cs typeface="Arial"/>
              </a:rPr>
              <a:t>رُ </a:t>
            </a:r>
            <a:r>
              <a:rPr dirty="0" baseline="3086" sz="2700" spc="-719">
                <a:latin typeface="Arial"/>
                <a:cs typeface="Arial"/>
              </a:rPr>
              <a:t>ك</a:t>
            </a:r>
            <a:r>
              <a:rPr dirty="0" baseline="7716" sz="2700" spc="-719">
                <a:latin typeface="Arial"/>
                <a:cs typeface="Arial"/>
              </a:rPr>
              <a:t>َ </a:t>
            </a:r>
            <a:r>
              <a:rPr dirty="0" baseline="3086" sz="2700" spc="-232">
                <a:latin typeface="Arial"/>
                <a:cs typeface="Arial"/>
              </a:rPr>
              <a:t>ذ</a:t>
            </a:r>
            <a:r>
              <a:rPr dirty="0" baseline="15432" sz="2700" spc="-232">
                <a:latin typeface="Arial"/>
                <a:cs typeface="Arial"/>
              </a:rPr>
              <a:t>َّ </a:t>
            </a:r>
            <a:r>
              <a:rPr dirty="0" baseline="3086" sz="2700" spc="-412">
                <a:latin typeface="Arial"/>
                <a:cs typeface="Arial"/>
              </a:rPr>
              <a:t>لٱ </a:t>
            </a:r>
            <a:r>
              <a:rPr dirty="0" baseline="3086" sz="2700" spc="-877">
                <a:latin typeface="Arial"/>
                <a:cs typeface="Arial"/>
              </a:rPr>
              <a:t>س</a:t>
            </a:r>
            <a:r>
              <a:rPr dirty="0" sz="1800" spc="-585">
                <a:latin typeface="Arial"/>
                <a:cs typeface="Arial"/>
              </a:rPr>
              <a:t>َ</a:t>
            </a:r>
            <a:r>
              <a:rPr dirty="0" sz="1800" spc="710">
                <a:latin typeface="Arial"/>
                <a:cs typeface="Arial"/>
              </a:rPr>
              <a:t> </a:t>
            </a:r>
            <a:r>
              <a:rPr dirty="0" baseline="3086" sz="2700">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307">
                <a:latin typeface="Arial"/>
                <a:cs typeface="Arial"/>
              </a:rPr>
              <a:t>و</a:t>
            </a:r>
            <a:r>
              <a:rPr dirty="0" sz="1800" spc="-204">
                <a:latin typeface="Arial"/>
                <a:cs typeface="Arial"/>
              </a:rPr>
              <a:t>َ </a:t>
            </a:r>
            <a:r>
              <a:rPr dirty="0" baseline="3086" sz="2700" spc="-742">
                <a:latin typeface="Arial"/>
                <a:cs typeface="Arial"/>
              </a:rPr>
              <a:t>ت</a:t>
            </a:r>
            <a:r>
              <a:rPr dirty="0" baseline="9259" sz="2700" spc="-742">
                <a:latin typeface="Arial"/>
                <a:cs typeface="Arial"/>
              </a:rPr>
              <a:t>ْ  </a:t>
            </a:r>
            <a:r>
              <a:rPr dirty="0" baseline="3086" sz="2700" spc="-600">
                <a:latin typeface="Arial"/>
                <a:cs typeface="Arial"/>
              </a:rPr>
              <a:t>ع</a:t>
            </a:r>
            <a:r>
              <a:rPr dirty="0" sz="1800" spc="-400">
                <a:latin typeface="Arial"/>
                <a:cs typeface="Arial"/>
              </a:rPr>
              <a:t>َ </a:t>
            </a:r>
            <a:r>
              <a:rPr dirty="0" baseline="3086" sz="2700" spc="-1350">
                <a:latin typeface="Arial"/>
                <a:cs typeface="Arial"/>
              </a:rPr>
              <a:t>ض</a:t>
            </a:r>
            <a:r>
              <a:rPr dirty="0" sz="1800" spc="-900">
                <a:latin typeface="Arial"/>
                <a:cs typeface="Arial"/>
              </a:rPr>
              <a:t>َ</a:t>
            </a:r>
            <a:r>
              <a:rPr dirty="0" sz="1800" spc="900">
                <a:latin typeface="Arial"/>
                <a:cs typeface="Arial"/>
              </a:rPr>
              <a:t> </a:t>
            </a:r>
            <a:r>
              <a:rPr dirty="0" baseline="3086" sz="2700" spc="-307">
                <a:latin typeface="Arial"/>
                <a:cs typeface="Arial"/>
              </a:rPr>
              <a:t>و</a:t>
            </a:r>
            <a:r>
              <a:rPr dirty="0" sz="1800" spc="-204">
                <a:latin typeface="Arial"/>
                <a:cs typeface="Arial"/>
              </a:rPr>
              <a:t>َ </a:t>
            </a:r>
            <a:r>
              <a:rPr dirty="0" baseline="3086" sz="2700" spc="-225">
                <a:latin typeface="Arial"/>
                <a:cs typeface="Arial"/>
              </a:rPr>
              <a:t>ام</a:t>
            </a:r>
            <a:r>
              <a:rPr dirty="0" sz="1800" spc="-150">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712">
                <a:latin typeface="Arial"/>
                <a:cs typeface="Arial"/>
              </a:rPr>
              <a:t> </a:t>
            </a:r>
            <a:r>
              <a:rPr dirty="0" baseline="3086" sz="2700" spc="-427">
                <a:latin typeface="Arial"/>
                <a:cs typeface="Arial"/>
              </a:rPr>
              <a:t>م</a:t>
            </a:r>
            <a:r>
              <a:rPr dirty="0" baseline="-3086" sz="2700" spc="-427">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569">
                <a:latin typeface="Arial"/>
                <a:cs typeface="Arial"/>
              </a:rPr>
              <a:t>عْ </a:t>
            </a:r>
            <a:r>
              <a:rPr dirty="0" baseline="16975" sz="2700">
                <a:latin typeface="Arial"/>
                <a:cs typeface="Arial"/>
              </a:rPr>
              <a:t>َ</a:t>
            </a:r>
            <a:r>
              <a:rPr dirty="0" baseline="3086" sz="2700">
                <a:latin typeface="Arial"/>
                <a:cs typeface="Arial"/>
              </a:rPr>
              <a:t>أ </a:t>
            </a:r>
            <a:r>
              <a:rPr dirty="0" baseline="-4629" sz="2700" spc="-630">
                <a:latin typeface="Arial"/>
                <a:cs typeface="Arial"/>
              </a:rPr>
              <a:t>ُ</a:t>
            </a:r>
            <a:r>
              <a:rPr dirty="0" baseline="3086" sz="2700" spc="-630">
                <a:latin typeface="Arial"/>
                <a:cs typeface="Arial"/>
              </a:rPr>
              <a:t>للَّ</a:t>
            </a:r>
            <a:r>
              <a:rPr dirty="0" baseline="15432" sz="2700" spc="-630">
                <a:latin typeface="Arial"/>
                <a:cs typeface="Arial"/>
              </a:rPr>
              <a:t>َّ </a:t>
            </a:r>
            <a:r>
              <a:rPr dirty="0" baseline="3086" sz="2700" spc="-209">
                <a:latin typeface="Arial"/>
                <a:cs typeface="Arial"/>
              </a:rPr>
              <a:t>ٱو</a:t>
            </a:r>
            <a:r>
              <a:rPr dirty="0" sz="1800" spc="-140">
                <a:latin typeface="Arial"/>
                <a:cs typeface="Arial"/>
              </a:rPr>
              <a:t>َ </a:t>
            </a:r>
            <a:r>
              <a:rPr dirty="0" baseline="3086" sz="2700" spc="-532">
                <a:latin typeface="Arial"/>
                <a:cs typeface="Arial"/>
              </a:rPr>
              <a:t>ى</a:t>
            </a:r>
            <a:r>
              <a:rPr dirty="0" baseline="7716" sz="2700" spc="-532">
                <a:latin typeface="Arial"/>
                <a:cs typeface="Arial"/>
              </a:rPr>
              <a:t>ٰ </a:t>
            </a:r>
            <a:r>
              <a:rPr dirty="0" baseline="3086" sz="2700" spc="-892">
                <a:latin typeface="Arial"/>
                <a:cs typeface="Arial"/>
              </a:rPr>
              <a:t>ث</a:t>
            </a:r>
            <a:r>
              <a:rPr dirty="0" baseline="13888" sz="2700" spc="-892">
                <a:latin typeface="Arial"/>
                <a:cs typeface="Arial"/>
              </a:rPr>
              <a:t>َ</a:t>
            </a:r>
            <a:r>
              <a:rPr dirty="0" baseline="13888" sz="2700" spc="-209">
                <a:latin typeface="Arial"/>
                <a:cs typeface="Arial"/>
              </a:rPr>
              <a:t> </a:t>
            </a:r>
            <a:r>
              <a:rPr dirty="0" baseline="3086" sz="2700" spc="-607">
                <a:latin typeface="Arial"/>
                <a:cs typeface="Arial"/>
              </a:rPr>
              <a:t>ن</a:t>
            </a:r>
            <a:r>
              <a:rPr dirty="0" baseline="12345" sz="2700" spc="-607">
                <a:latin typeface="Arial"/>
                <a:cs typeface="Arial"/>
              </a:rPr>
              <a:t>ْ </a:t>
            </a:r>
            <a:r>
              <a:rPr dirty="0" baseline="20061" sz="2700">
                <a:latin typeface="Arial"/>
                <a:cs typeface="Arial"/>
              </a:rPr>
              <a:t>ُ</a:t>
            </a:r>
            <a:r>
              <a:rPr dirty="0" baseline="3086" sz="2700">
                <a:latin typeface="Arial"/>
                <a:cs typeface="Arial"/>
              </a:rPr>
              <a:t>أ </a:t>
            </a:r>
            <a:r>
              <a:rPr dirty="0" baseline="3086" sz="2700" spc="-202">
                <a:latin typeface="Arial"/>
                <a:cs typeface="Arial"/>
              </a:rPr>
              <a:t>آه</a:t>
            </a:r>
            <a:r>
              <a:rPr dirty="0" sz="1800" spc="-135">
                <a:latin typeface="Arial"/>
                <a:cs typeface="Arial"/>
              </a:rPr>
              <a:t>َ </a:t>
            </a:r>
            <a:r>
              <a:rPr dirty="0" baseline="3086" sz="2700" spc="-930">
                <a:latin typeface="Arial"/>
                <a:cs typeface="Arial"/>
              </a:rPr>
              <a:t>ت</a:t>
            </a:r>
            <a:r>
              <a:rPr dirty="0" baseline="10802" sz="2700" spc="-930">
                <a:latin typeface="Arial"/>
                <a:cs typeface="Arial"/>
              </a:rPr>
              <a:t>ُ</a:t>
            </a:r>
            <a:r>
              <a:rPr dirty="0" baseline="10802" sz="2700" spc="-127">
                <a:latin typeface="Arial"/>
                <a:cs typeface="Arial"/>
              </a:rPr>
              <a:t> </a:t>
            </a:r>
            <a:r>
              <a:rPr dirty="0" baseline="3086" sz="2700" spc="-569">
                <a:latin typeface="Arial"/>
                <a:cs typeface="Arial"/>
              </a:rPr>
              <a:t>عْ </a:t>
            </a:r>
            <a:r>
              <a:rPr dirty="0" baseline="3086" sz="2700" spc="-1350">
                <a:latin typeface="Arial"/>
                <a:cs typeface="Arial"/>
              </a:rPr>
              <a:t>ض</a:t>
            </a:r>
            <a:r>
              <a:rPr dirty="0" sz="1800" spc="-900">
                <a:latin typeface="Arial"/>
                <a:cs typeface="Arial"/>
              </a:rPr>
              <a:t>َ</a:t>
            </a:r>
            <a:r>
              <a:rPr dirty="0" sz="1800" spc="894">
                <a:latin typeface="Arial"/>
                <a:cs typeface="Arial"/>
              </a:rPr>
              <a:t> </a:t>
            </a:r>
            <a:r>
              <a:rPr dirty="0" baseline="3086" sz="2700" spc="-307">
                <a:latin typeface="Arial"/>
                <a:cs typeface="Arial"/>
              </a:rPr>
              <a:t>و</a:t>
            </a:r>
            <a:r>
              <a:rPr dirty="0" sz="1800" spc="-204">
                <a:latin typeface="Arial"/>
                <a:cs typeface="Arial"/>
              </a:rPr>
              <a:t>َ </a:t>
            </a:r>
            <a:r>
              <a:rPr dirty="0" baseline="3086" sz="2700" spc="-330">
                <a:latin typeface="Arial"/>
                <a:cs typeface="Arial"/>
              </a:rPr>
              <a:t>ًن</a:t>
            </a:r>
            <a:r>
              <a:rPr dirty="0" baseline="10802" sz="2700" spc="-330">
                <a:latin typeface="Arial"/>
                <a:cs typeface="Arial"/>
              </a:rPr>
              <a:t>ِّ </a:t>
            </a:r>
            <a:r>
              <a:rPr dirty="0" baseline="-10802" sz="2700">
                <a:latin typeface="Arial"/>
                <a:cs typeface="Arial"/>
              </a:rPr>
              <a:t>ِ</a:t>
            </a:r>
            <a:r>
              <a:rPr dirty="0" baseline="3086" sz="2700">
                <a:latin typeface="Arial"/>
                <a:cs typeface="Arial"/>
              </a:rPr>
              <a:t>إ </a:t>
            </a:r>
            <a:r>
              <a:rPr dirty="0" baseline="3086" sz="2700" spc="-525">
                <a:latin typeface="Arial"/>
                <a:cs typeface="Arial"/>
              </a:rPr>
              <a:t>بِّ </a:t>
            </a:r>
            <a:r>
              <a:rPr dirty="0" baseline="3086" sz="2700" spc="-480">
                <a:latin typeface="Arial"/>
                <a:cs typeface="Arial"/>
              </a:rPr>
              <a:t>ر</a:t>
            </a:r>
            <a:r>
              <a:rPr dirty="0" sz="1800" spc="-320">
                <a:latin typeface="Arial"/>
                <a:cs typeface="Arial"/>
              </a:rPr>
              <a:t>َ  </a:t>
            </a:r>
            <a:r>
              <a:rPr dirty="0" baseline="3086" sz="2700" spc="-735">
                <a:latin typeface="Arial"/>
                <a:cs typeface="Arial"/>
              </a:rPr>
              <a:t>ت</a:t>
            </a:r>
            <a:r>
              <a:rPr dirty="0" baseline="9259" sz="2700" spc="-735">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487">
                <a:latin typeface="Arial"/>
                <a:cs typeface="Arial"/>
              </a:rPr>
              <a:t>اق</a:t>
            </a:r>
            <a:r>
              <a:rPr dirty="0" baseline="7716" sz="2700" spc="-487">
                <a:latin typeface="Arial"/>
                <a:cs typeface="Arial"/>
              </a:rPr>
              <a:t>َ </a:t>
            </a:r>
            <a:r>
              <a:rPr dirty="0" baseline="3086" sz="2700" spc="-202">
                <a:latin typeface="Arial"/>
                <a:cs typeface="Arial"/>
              </a:rPr>
              <a:t>اه</a:t>
            </a:r>
            <a:r>
              <a:rPr dirty="0" sz="1800" spc="-135">
                <a:latin typeface="Arial"/>
                <a:cs typeface="Arial"/>
              </a:rPr>
              <a:t>َ </a:t>
            </a:r>
            <a:r>
              <a:rPr dirty="0" baseline="3086" sz="2700" spc="-862">
                <a:latin typeface="Arial"/>
                <a:cs typeface="Arial"/>
              </a:rPr>
              <a:t>ت</a:t>
            </a:r>
            <a:r>
              <a:rPr dirty="0" baseline="12345" sz="2700" spc="-862">
                <a:latin typeface="Arial"/>
                <a:cs typeface="Arial"/>
              </a:rPr>
              <a:t>ْ</a:t>
            </a:r>
            <a:r>
              <a:rPr dirty="0" baseline="12345" sz="2700" spc="-284">
                <a:latin typeface="Arial"/>
                <a:cs typeface="Arial"/>
              </a:rPr>
              <a:t> </a:t>
            </a:r>
            <a:r>
              <a:rPr dirty="0" baseline="3086" sz="2700" spc="-600">
                <a:latin typeface="Arial"/>
                <a:cs typeface="Arial"/>
              </a:rPr>
              <a:t>ع</a:t>
            </a:r>
            <a:r>
              <a:rPr dirty="0" sz="1800" spc="-400">
                <a:latin typeface="Arial"/>
                <a:cs typeface="Arial"/>
              </a:rPr>
              <a:t>َ </a:t>
            </a:r>
            <a:r>
              <a:rPr dirty="0" baseline="3086" sz="2700" spc="-1350">
                <a:latin typeface="Arial"/>
                <a:cs typeface="Arial"/>
              </a:rPr>
              <a:t>ض</a:t>
            </a:r>
            <a:r>
              <a:rPr dirty="0" sz="1800" spc="-900">
                <a:latin typeface="Arial"/>
                <a:cs typeface="Arial"/>
              </a:rPr>
              <a:t>َ</a:t>
            </a:r>
            <a:r>
              <a:rPr dirty="0" sz="1800" spc="900">
                <a:latin typeface="Arial"/>
                <a:cs typeface="Arial"/>
              </a:rPr>
              <a:t> </a:t>
            </a:r>
            <a:r>
              <a:rPr dirty="0" baseline="3086" sz="2700" spc="-307">
                <a:latin typeface="Arial"/>
                <a:cs typeface="Arial"/>
              </a:rPr>
              <a:t>و</a:t>
            </a:r>
            <a:r>
              <a:rPr dirty="0" sz="1800" spc="-204">
                <a:latin typeface="Arial"/>
                <a:cs typeface="Arial"/>
              </a:rPr>
              <a:t>َ </a:t>
            </a:r>
            <a:r>
              <a:rPr dirty="0" baseline="3086" sz="2700" spc="-179">
                <a:latin typeface="Arial"/>
                <a:cs typeface="Arial"/>
              </a:rPr>
              <a:t>امَّ </a:t>
            </a:r>
            <a:r>
              <a:rPr dirty="0" baseline="10802" sz="2700" spc="-960">
                <a:latin typeface="Arial"/>
                <a:cs typeface="Arial"/>
              </a:rPr>
              <a:t>َ</a:t>
            </a:r>
            <a:r>
              <a:rPr dirty="0" baseline="3086" sz="2700" spc="-960">
                <a:latin typeface="Arial"/>
                <a:cs typeface="Arial"/>
              </a:rPr>
              <a:t>لف</a:t>
            </a:r>
            <a:r>
              <a:rPr dirty="0" baseline="3086" sz="2700" spc="-322">
                <a:latin typeface="Arial"/>
                <a:cs typeface="Arial"/>
              </a:rPr>
              <a:t>م</a:t>
            </a:r>
            <a:r>
              <a:rPr dirty="0" baseline="-13888" sz="2700" spc="-322">
                <a:latin typeface="Arial"/>
                <a:cs typeface="Arial"/>
              </a:rPr>
              <a:t>ِ</a:t>
            </a:r>
            <a:r>
              <a:rPr dirty="0" baseline="-13888" sz="2700" spc="-337">
                <a:latin typeface="Arial"/>
                <a:cs typeface="Arial"/>
              </a:rPr>
              <a:t> </a:t>
            </a:r>
            <a:r>
              <a:rPr dirty="0" baseline="3086" sz="2700" spc="-480">
                <a:latin typeface="Arial"/>
                <a:cs typeface="Arial"/>
              </a:rPr>
              <a:t>ٌج</a:t>
            </a:r>
            <a:r>
              <a:rPr dirty="0" baseline="-7716" sz="2700" spc="-480">
                <a:latin typeface="Arial"/>
                <a:cs typeface="Arial"/>
              </a:rPr>
              <a:t>ِ</a:t>
            </a:r>
            <a:r>
              <a:rPr dirty="0" baseline="-7716" sz="2700" spc="-442">
                <a:latin typeface="Arial"/>
                <a:cs typeface="Arial"/>
              </a:rPr>
              <a:t> </a:t>
            </a:r>
            <a:r>
              <a:rPr dirty="0" baseline="3086" sz="2700" spc="-345">
                <a:latin typeface="Arial"/>
                <a:cs typeface="Arial"/>
              </a:rPr>
              <a:t>رَّ </a:t>
            </a:r>
            <a:r>
              <a:rPr dirty="0" baseline="3086" sz="2700" spc="254">
                <a:latin typeface="Arial"/>
                <a:cs typeface="Arial"/>
              </a:rPr>
              <a:t> </a:t>
            </a:r>
            <a:r>
              <a:rPr dirty="0" baseline="3086" sz="2700" spc="-412">
                <a:latin typeface="Arial"/>
                <a:cs typeface="Arial"/>
              </a:rPr>
              <a:t>لٱ </a:t>
            </a:r>
            <a:r>
              <a:rPr dirty="0" baseline="3086" sz="2700" spc="-607">
                <a:latin typeface="Arial"/>
                <a:cs typeface="Arial"/>
              </a:rPr>
              <a:t>ن</a:t>
            </a:r>
            <a:r>
              <a:rPr dirty="0" baseline="-10802" sz="2700" spc="-607">
                <a:latin typeface="Arial"/>
                <a:cs typeface="Arial"/>
              </a:rPr>
              <a:t>ِ </a:t>
            </a:r>
            <a:r>
              <a:rPr dirty="0" baseline="3086" sz="2700" spc="-419">
                <a:latin typeface="Arial"/>
                <a:cs typeface="Arial"/>
              </a:rPr>
              <a:t>اط</a:t>
            </a:r>
            <a:r>
              <a:rPr dirty="0" baseline="13888" sz="2700" spc="-419">
                <a:latin typeface="Arial"/>
                <a:cs typeface="Arial"/>
              </a:rPr>
              <a:t>َ </a:t>
            </a:r>
            <a:r>
              <a:rPr dirty="0" baseline="3086" sz="2700">
                <a:latin typeface="Arial"/>
                <a:cs typeface="Arial"/>
              </a:rPr>
              <a:t>ٌْ </a:t>
            </a:r>
            <a:r>
              <a:rPr dirty="0" baseline="3086" sz="2700" spc="-705">
                <a:latin typeface="Arial"/>
                <a:cs typeface="Arial"/>
              </a:rPr>
              <a:t>ش</a:t>
            </a:r>
            <a:r>
              <a:rPr dirty="0" baseline="10802" sz="2700" spc="-705">
                <a:latin typeface="Arial"/>
                <a:cs typeface="Arial"/>
              </a:rPr>
              <a:t>َّ </a:t>
            </a:r>
            <a:r>
              <a:rPr dirty="0" baseline="3086" sz="2700" spc="-412">
                <a:latin typeface="Arial"/>
                <a:cs typeface="Arial"/>
              </a:rPr>
              <a:t>لٱ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209">
                <a:latin typeface="Arial"/>
                <a:cs typeface="Arial"/>
              </a:rPr>
              <a:t>اه</a:t>
            </a:r>
            <a:r>
              <a:rPr dirty="0" sz="1800" spc="-140">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a:latin typeface="Arial"/>
                <a:cs typeface="Arial"/>
              </a:rPr>
              <a:t>ٌَّ </a:t>
            </a:r>
            <a:r>
              <a:rPr dirty="0" baseline="3086" sz="2700" spc="-345">
                <a:latin typeface="Arial"/>
                <a:cs typeface="Arial"/>
              </a:rPr>
              <a:t>رِّ </a:t>
            </a:r>
            <a:r>
              <a:rPr dirty="0" baseline="3086" sz="2700" spc="-359">
                <a:latin typeface="Arial"/>
                <a:cs typeface="Arial"/>
              </a:rPr>
              <a:t>ذ</a:t>
            </a:r>
            <a:r>
              <a:rPr dirty="0" baseline="16975" sz="2700" spc="-359">
                <a:latin typeface="Arial"/>
                <a:cs typeface="Arial"/>
              </a:rPr>
              <a:t>ُ </a:t>
            </a:r>
            <a:r>
              <a:rPr dirty="0" baseline="3086" sz="2700" spc="-315">
                <a:latin typeface="Arial"/>
                <a:cs typeface="Arial"/>
              </a:rPr>
              <a:t>و</a:t>
            </a:r>
            <a:r>
              <a:rPr dirty="0" sz="1800" spc="-210">
                <a:latin typeface="Arial"/>
                <a:cs typeface="Arial"/>
              </a:rPr>
              <a:t>َ </a:t>
            </a:r>
            <a:r>
              <a:rPr dirty="0" baseline="3086" sz="2700" spc="-682">
                <a:latin typeface="Arial"/>
                <a:cs typeface="Arial"/>
              </a:rPr>
              <a:t>ك</a:t>
            </a:r>
            <a:r>
              <a:rPr dirty="0" sz="1800" spc="-455">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637">
                <a:latin typeface="Arial"/>
                <a:cs typeface="Arial"/>
              </a:rPr>
              <a:t> </a:t>
            </a:r>
            <a:r>
              <a:rPr dirty="0" baseline="3086" sz="2700" spc="-165">
                <a:latin typeface="Arial"/>
                <a:cs typeface="Arial"/>
              </a:rPr>
              <a:t>اه</a:t>
            </a:r>
            <a:r>
              <a:rPr dirty="0" sz="1800" spc="-110">
                <a:latin typeface="Arial"/>
                <a:cs typeface="Arial"/>
              </a:rPr>
              <a:t>َ </a:t>
            </a:r>
            <a:r>
              <a:rPr dirty="0" baseline="3086" sz="2700" spc="-359">
                <a:latin typeface="Arial"/>
                <a:cs typeface="Arial"/>
              </a:rPr>
              <a:t>ذ</a:t>
            </a:r>
            <a:r>
              <a:rPr dirty="0" baseline="16975" sz="2700" spc="-359">
                <a:latin typeface="Arial"/>
                <a:cs typeface="Arial"/>
              </a:rPr>
              <a:t>ُ </a:t>
            </a:r>
            <a:r>
              <a:rPr dirty="0" baseline="3086" sz="2700" spc="-397">
                <a:latin typeface="Arial"/>
                <a:cs typeface="Arial"/>
              </a:rPr>
              <a:t>ٌع</a:t>
            </a:r>
            <a:r>
              <a:rPr dirty="0" baseline="1543" sz="2700" spc="-397">
                <a:latin typeface="Arial"/>
                <a:cs typeface="Arial"/>
              </a:rPr>
              <a:t>ِ </a:t>
            </a:r>
            <a:r>
              <a:rPr dirty="0" baseline="20061" sz="2700">
                <a:latin typeface="Arial"/>
                <a:cs typeface="Arial"/>
              </a:rPr>
              <a:t>ُ</a:t>
            </a:r>
            <a:r>
              <a:rPr dirty="0" baseline="3086" sz="2700">
                <a:latin typeface="Arial"/>
                <a:cs typeface="Arial"/>
              </a:rPr>
              <a:t>أ </a:t>
            </a:r>
            <a:r>
              <a:rPr dirty="0" baseline="3086" sz="2700" spc="-337">
                <a:latin typeface="Arial"/>
                <a:cs typeface="Arial"/>
              </a:rPr>
              <a:t>ًن</a:t>
            </a:r>
            <a:r>
              <a:rPr dirty="0" baseline="10802" sz="2700" spc="-337">
                <a:latin typeface="Arial"/>
                <a:cs typeface="Arial"/>
              </a:rPr>
              <a:t>ِّ </a:t>
            </a:r>
            <a:r>
              <a:rPr dirty="0" baseline="-10802" sz="2700" spc="-232">
                <a:latin typeface="Arial"/>
                <a:cs typeface="Arial"/>
              </a:rPr>
              <a:t>ِ</a:t>
            </a:r>
            <a:r>
              <a:rPr dirty="0" baseline="3086" sz="2700" spc="-232">
                <a:latin typeface="Arial"/>
                <a:cs typeface="Arial"/>
              </a:rPr>
              <a:t>إو</a:t>
            </a:r>
            <a:r>
              <a:rPr dirty="0" baseline="-10802" sz="2700" spc="-232">
                <a:latin typeface="Arial"/>
                <a:cs typeface="Arial"/>
              </a:rPr>
              <a:t>ِ </a:t>
            </a:r>
            <a:r>
              <a:rPr dirty="0" baseline="3086" sz="2700" spc="-390">
                <a:latin typeface="Arial"/>
                <a:cs typeface="Arial"/>
              </a:rPr>
              <a:t>م</a:t>
            </a:r>
            <a:r>
              <a:rPr dirty="0" baseline="-6172" sz="2700" spc="-390">
                <a:latin typeface="Arial"/>
                <a:cs typeface="Arial"/>
              </a:rPr>
              <a:t>َ </a:t>
            </a:r>
            <a:r>
              <a:rPr dirty="0" baseline="3086" sz="2700">
                <a:latin typeface="Arial"/>
                <a:cs typeface="Arial"/>
              </a:rPr>
              <a:t>ٌ</a:t>
            </a:r>
            <a:r>
              <a:rPr dirty="0" sz="1800">
                <a:latin typeface="Arial"/>
                <a:cs typeface="Arial"/>
              </a:rPr>
              <a:t>َ </a:t>
            </a:r>
            <a:r>
              <a:rPr dirty="0" baseline="3086" sz="2700" spc="-457">
                <a:latin typeface="Arial"/>
                <a:cs typeface="Arial"/>
              </a:rPr>
              <a:t>رْ </a:t>
            </a:r>
            <a:r>
              <a:rPr dirty="0" baseline="3086" sz="2700" spc="-359">
                <a:latin typeface="Arial"/>
                <a:cs typeface="Arial"/>
              </a:rPr>
              <a:t>م</a:t>
            </a:r>
            <a:r>
              <a:rPr dirty="0" sz="1800" spc="-240">
                <a:latin typeface="Arial"/>
                <a:cs typeface="Arial"/>
              </a:rPr>
              <a:t>َ </a:t>
            </a:r>
            <a:r>
              <a:rPr dirty="0" baseline="3086" sz="2700" spc="-202">
                <a:latin typeface="Arial"/>
                <a:cs typeface="Arial"/>
              </a:rPr>
              <a:t>اه</a:t>
            </a:r>
            <a:r>
              <a:rPr dirty="0" sz="1800" spc="-135">
                <a:latin typeface="Arial"/>
                <a:cs typeface="Arial"/>
              </a:rPr>
              <a:t>َ </a:t>
            </a:r>
            <a:r>
              <a:rPr dirty="0" baseline="3086" sz="2700" spc="-930">
                <a:latin typeface="Arial"/>
                <a:cs typeface="Arial"/>
              </a:rPr>
              <a:t>ت</a:t>
            </a:r>
            <a:r>
              <a:rPr dirty="0" baseline="10802" sz="2700" spc="-930">
                <a:latin typeface="Arial"/>
                <a:cs typeface="Arial"/>
              </a:rPr>
              <a:t>ُ</a:t>
            </a:r>
            <a:r>
              <a:rPr dirty="0" baseline="10802" sz="2700" spc="-150">
                <a:latin typeface="Arial"/>
                <a:cs typeface="Arial"/>
              </a:rPr>
              <a:t> </a:t>
            </a:r>
            <a:r>
              <a:rPr dirty="0" baseline="3086" sz="2700">
                <a:latin typeface="Arial"/>
                <a:cs typeface="Arial"/>
              </a:rPr>
              <a:t>ٌْ </a:t>
            </a:r>
            <a:r>
              <a:rPr dirty="0" baseline="3086" sz="2700" spc="-254">
                <a:latin typeface="Arial"/>
                <a:cs typeface="Arial"/>
              </a:rPr>
              <a:t>مَّ </a:t>
            </a:r>
            <a:r>
              <a:rPr dirty="0" baseline="3086" sz="2700" spc="-982">
                <a:latin typeface="Arial"/>
                <a:cs typeface="Arial"/>
              </a:rPr>
              <a:t>س</a:t>
            </a:r>
            <a:r>
              <a:rPr dirty="0" sz="1800" spc="-655">
                <a:latin typeface="Arial"/>
                <a:cs typeface="Arial"/>
              </a:rPr>
              <a:t>َ</a:t>
            </a:r>
            <a:r>
              <a:rPr dirty="0" sz="1800" spc="790">
                <a:latin typeface="Arial"/>
                <a:cs typeface="Arial"/>
              </a:rPr>
              <a:t> </a:t>
            </a:r>
            <a:r>
              <a:rPr dirty="0" baseline="3086" sz="2700" spc="-330">
                <a:latin typeface="Arial"/>
                <a:cs typeface="Arial"/>
              </a:rPr>
              <a:t>ًن</a:t>
            </a:r>
            <a:r>
              <a:rPr dirty="0" baseline="10802" sz="2700" spc="-330">
                <a:latin typeface="Arial"/>
                <a:cs typeface="Arial"/>
              </a:rPr>
              <a:t>ِّ</a:t>
            </a:r>
            <a:r>
              <a:rPr dirty="0" baseline="10802" sz="2700" spc="-562">
                <a:latin typeface="Arial"/>
                <a:cs typeface="Arial"/>
              </a:rPr>
              <a:t> </a:t>
            </a:r>
            <a:r>
              <a:rPr dirty="0" baseline="-10802" sz="2700" spc="-202">
                <a:latin typeface="Arial"/>
                <a:cs typeface="Arial"/>
              </a:rPr>
              <a:t>ِ</a:t>
            </a:r>
            <a:r>
              <a:rPr dirty="0" baseline="3086" sz="2700" spc="-202">
                <a:latin typeface="Arial"/>
                <a:cs typeface="Arial"/>
              </a:rPr>
              <a:t>إو</a:t>
            </a:r>
            <a:endParaRPr baseline="3086" sz="2700">
              <a:latin typeface="Arial"/>
              <a:cs typeface="Arial"/>
            </a:endParaRPr>
          </a:p>
          <a:p>
            <a:pPr algn="just" marL="139700" marR="158115">
              <a:lnSpc>
                <a:spcPct val="95900"/>
              </a:lnSpc>
              <a:spcBef>
                <a:spcPts val="1250"/>
              </a:spcBef>
              <a:buAutoNum type="arabicPeriod" startAt="36"/>
              <a:tabLst>
                <a:tab pos="414020" algn="l"/>
              </a:tabLst>
            </a:pPr>
            <a:r>
              <a:rPr dirty="0" sz="1200" spc="-5">
                <a:latin typeface="Arial"/>
                <a:cs typeface="Arial"/>
              </a:rPr>
              <a:t>And when she was delivered she said: My Lord! Lo! </a:t>
            </a:r>
            <a:r>
              <a:rPr dirty="0" sz="1200">
                <a:latin typeface="Arial"/>
                <a:cs typeface="Arial"/>
              </a:rPr>
              <a:t>I </a:t>
            </a:r>
            <a:r>
              <a:rPr dirty="0" sz="1200" spc="-5">
                <a:latin typeface="Arial"/>
                <a:cs typeface="Arial"/>
              </a:rPr>
              <a:t>am delivered </a:t>
            </a:r>
            <a:r>
              <a:rPr dirty="0" sz="1200">
                <a:latin typeface="Arial"/>
                <a:cs typeface="Arial"/>
              </a:rPr>
              <a:t>of </a:t>
            </a:r>
            <a:r>
              <a:rPr dirty="0" sz="1200" spc="-5">
                <a:latin typeface="Arial"/>
                <a:cs typeface="Arial"/>
              </a:rPr>
              <a:t>a female. Allah  knew </a:t>
            </a:r>
            <a:r>
              <a:rPr dirty="0" sz="1200">
                <a:latin typeface="Arial"/>
                <a:cs typeface="Arial"/>
              </a:rPr>
              <a:t>best </a:t>
            </a:r>
            <a:r>
              <a:rPr dirty="0" sz="1200" spc="-5">
                <a:latin typeface="Arial"/>
                <a:cs typeface="Arial"/>
              </a:rPr>
              <a:t>of what she </a:t>
            </a:r>
            <a:r>
              <a:rPr dirty="0" sz="1200" spc="-10">
                <a:latin typeface="Arial"/>
                <a:cs typeface="Arial"/>
              </a:rPr>
              <a:t>was </a:t>
            </a:r>
            <a:r>
              <a:rPr dirty="0" sz="1200" spc="-5">
                <a:latin typeface="Arial"/>
                <a:cs typeface="Arial"/>
              </a:rPr>
              <a:t>delivered. </a:t>
            </a:r>
            <a:r>
              <a:rPr dirty="0" sz="1200">
                <a:latin typeface="Arial"/>
                <a:cs typeface="Arial"/>
              </a:rPr>
              <a:t>The </a:t>
            </a:r>
            <a:r>
              <a:rPr dirty="0" sz="1200" spc="-5">
                <a:latin typeface="Arial"/>
                <a:cs typeface="Arial"/>
              </a:rPr>
              <a:t>male is not as </a:t>
            </a:r>
            <a:r>
              <a:rPr dirty="0" sz="1200">
                <a:latin typeface="Arial"/>
                <a:cs typeface="Arial"/>
              </a:rPr>
              <a:t>the </a:t>
            </a:r>
            <a:r>
              <a:rPr dirty="0" sz="1200" spc="-5">
                <a:latin typeface="Arial"/>
                <a:cs typeface="Arial"/>
              </a:rPr>
              <a:t>female; and Lo! </a:t>
            </a:r>
            <a:r>
              <a:rPr dirty="0" sz="1200">
                <a:latin typeface="Arial"/>
                <a:cs typeface="Arial"/>
              </a:rPr>
              <a:t>I </a:t>
            </a:r>
            <a:r>
              <a:rPr dirty="0" sz="1200" spc="-5">
                <a:latin typeface="Arial"/>
                <a:cs typeface="Arial"/>
              </a:rPr>
              <a:t>have named  her Mary, and Lo! </a:t>
            </a:r>
            <a:r>
              <a:rPr dirty="0" sz="1200">
                <a:latin typeface="Arial"/>
                <a:cs typeface="Arial"/>
              </a:rPr>
              <a:t>I </a:t>
            </a:r>
            <a:r>
              <a:rPr dirty="0" sz="1200" spc="-10">
                <a:latin typeface="Arial"/>
                <a:cs typeface="Arial"/>
              </a:rPr>
              <a:t>crave </a:t>
            </a:r>
            <a:r>
              <a:rPr dirty="0" sz="1200">
                <a:latin typeface="Arial"/>
                <a:cs typeface="Arial"/>
              </a:rPr>
              <a:t>Thy </a:t>
            </a:r>
            <a:r>
              <a:rPr dirty="0" sz="1200" spc="-5">
                <a:latin typeface="Arial"/>
                <a:cs typeface="Arial"/>
              </a:rPr>
              <a:t>protection </a:t>
            </a:r>
            <a:r>
              <a:rPr dirty="0" sz="1200">
                <a:latin typeface="Arial"/>
                <a:cs typeface="Arial"/>
              </a:rPr>
              <a:t>for </a:t>
            </a:r>
            <a:r>
              <a:rPr dirty="0" sz="1200" spc="-5">
                <a:latin typeface="Arial"/>
                <a:cs typeface="Arial"/>
              </a:rPr>
              <a:t>her </a:t>
            </a:r>
            <a:r>
              <a:rPr dirty="0" sz="1200">
                <a:latin typeface="Arial"/>
                <a:cs typeface="Arial"/>
              </a:rPr>
              <a:t>and for </a:t>
            </a:r>
            <a:r>
              <a:rPr dirty="0" sz="1200" spc="-5">
                <a:latin typeface="Arial"/>
                <a:cs typeface="Arial"/>
              </a:rPr>
              <a:t>her offspring from Satan the</a:t>
            </a:r>
            <a:r>
              <a:rPr dirty="0" sz="1200" spc="100">
                <a:latin typeface="Arial"/>
                <a:cs typeface="Arial"/>
              </a:rPr>
              <a:t> </a:t>
            </a:r>
            <a:r>
              <a:rPr dirty="0" sz="1200" spc="-5">
                <a:latin typeface="Arial"/>
                <a:cs typeface="Arial"/>
              </a:rPr>
              <a:t>outcast.</a:t>
            </a:r>
            <a:endParaRPr sz="1200">
              <a:latin typeface="Arial"/>
              <a:cs typeface="Arial"/>
            </a:endParaRPr>
          </a:p>
          <a:p>
            <a:pPr>
              <a:lnSpc>
                <a:spcPct val="100000"/>
              </a:lnSpc>
              <a:spcBef>
                <a:spcPts val="25"/>
              </a:spcBef>
              <a:buFont typeface="Arial"/>
              <a:buAutoNum type="arabicPeriod" startAt="36"/>
            </a:pPr>
            <a:endParaRPr sz="1350">
              <a:latin typeface="Arial"/>
              <a:cs typeface="Arial"/>
            </a:endParaRPr>
          </a:p>
          <a:p>
            <a:pPr algn="r" marL="503555" marR="209550" indent="-337185">
              <a:lnSpc>
                <a:spcPts val="2000"/>
              </a:lnSpc>
            </a:pPr>
            <a:r>
              <a:rPr dirty="0" baseline="3086" sz="2700" spc="-772">
                <a:latin typeface="Arial"/>
                <a:cs typeface="Arial"/>
              </a:rPr>
              <a:t>ب</a:t>
            </a:r>
            <a:r>
              <a:rPr dirty="0" sz="1800" spc="-515">
                <a:latin typeface="Arial"/>
                <a:cs typeface="Arial"/>
              </a:rPr>
              <a:t>َ</a:t>
            </a:r>
            <a:r>
              <a:rPr dirty="0" sz="1800" spc="520">
                <a:latin typeface="Arial"/>
                <a:cs typeface="Arial"/>
              </a:rPr>
              <a:t> </a:t>
            </a:r>
            <a:r>
              <a:rPr dirty="0" baseline="3086" sz="2700" spc="-322">
                <a:latin typeface="Arial"/>
                <a:cs typeface="Arial"/>
              </a:rPr>
              <a:t>ار</a:t>
            </a:r>
            <a:r>
              <a:rPr dirty="0" sz="1800" spc="-215">
                <a:latin typeface="Arial"/>
                <a:cs typeface="Arial"/>
              </a:rPr>
              <a:t>َ </a:t>
            </a:r>
            <a:r>
              <a:rPr dirty="0" baseline="3086" sz="2700" spc="-555">
                <a:latin typeface="Arial"/>
                <a:cs typeface="Arial"/>
              </a:rPr>
              <a:t>حْ </a:t>
            </a:r>
            <a:r>
              <a:rPr dirty="0" baseline="3086" sz="2700" spc="-352">
                <a:latin typeface="Arial"/>
                <a:cs typeface="Arial"/>
              </a:rPr>
              <a:t>م</a:t>
            </a:r>
            <a:r>
              <a:rPr dirty="0" baseline="1543" sz="2700" spc="-352">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7">
                <a:latin typeface="Arial"/>
                <a:cs typeface="Arial"/>
              </a:rPr>
              <a:t>اٌَّ </a:t>
            </a:r>
            <a:r>
              <a:rPr dirty="0" baseline="3086" sz="2700" spc="-457">
                <a:latin typeface="Arial"/>
                <a:cs typeface="Arial"/>
              </a:rPr>
              <a:t>ر</a:t>
            </a:r>
            <a:r>
              <a:rPr dirty="0" baseline="-10802" sz="2700" spc="-457">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494">
                <a:latin typeface="Arial"/>
                <a:cs typeface="Arial"/>
              </a:rPr>
              <a:t>ز</a:t>
            </a:r>
            <a:r>
              <a:rPr dirty="0" baseline="7716" sz="2700" spc="-494">
                <a:latin typeface="Arial"/>
                <a:cs typeface="Arial"/>
              </a:rPr>
              <a:t>َ </a:t>
            </a:r>
            <a:r>
              <a:rPr dirty="0" baseline="3086" sz="2700" spc="-202">
                <a:latin typeface="Arial"/>
                <a:cs typeface="Arial"/>
              </a:rPr>
              <a:t>اه</a:t>
            </a:r>
            <a:r>
              <a:rPr dirty="0" sz="1800" spc="-135">
                <a:latin typeface="Arial"/>
                <a:cs typeface="Arial"/>
              </a:rPr>
              <a:t>َ </a:t>
            </a:r>
            <a:r>
              <a:rPr dirty="0" baseline="3086" sz="2700">
                <a:latin typeface="Arial"/>
                <a:cs typeface="Arial"/>
              </a:rPr>
              <a:t>ٌْ </a:t>
            </a:r>
            <a:r>
              <a:rPr dirty="0" baseline="10802" sz="2700" spc="-509">
                <a:latin typeface="Arial"/>
                <a:cs typeface="Arial"/>
              </a:rPr>
              <a:t>َ</a:t>
            </a:r>
            <a:r>
              <a:rPr dirty="0" baseline="3086" sz="2700" spc="-509">
                <a:latin typeface="Arial"/>
                <a:cs typeface="Arial"/>
              </a:rPr>
              <a:t>لع</a:t>
            </a:r>
            <a:r>
              <a:rPr dirty="0" sz="1800" spc="-340">
                <a:latin typeface="Arial"/>
                <a:cs typeface="Arial"/>
              </a:rPr>
              <a:t>َ </a:t>
            </a:r>
            <a:r>
              <a:rPr dirty="0" baseline="-38580" sz="2700">
                <a:latin typeface="Arial"/>
                <a:cs typeface="Arial"/>
              </a:rPr>
              <a:t>ً </a:t>
            </a:r>
            <a:r>
              <a:rPr dirty="0" baseline="3086" sz="2700" spc="-607">
                <a:latin typeface="Arial"/>
                <a:cs typeface="Arial"/>
              </a:rPr>
              <a:t>ل</a:t>
            </a:r>
            <a:r>
              <a:rPr dirty="0" sz="1800" spc="-405">
                <a:latin typeface="Arial"/>
                <a:cs typeface="Arial"/>
              </a:rPr>
              <a:t>َ  </a:t>
            </a:r>
            <a:r>
              <a:rPr dirty="0" baseline="3086" sz="2700" spc="-592">
                <a:latin typeface="Arial"/>
                <a:cs typeface="Arial"/>
              </a:rPr>
              <a:t>خ</a:t>
            </a:r>
            <a:r>
              <a:rPr dirty="0" baseline="7716" sz="2700" spc="-592">
                <a:latin typeface="Arial"/>
                <a:cs typeface="Arial"/>
              </a:rPr>
              <a:t>َ </a:t>
            </a:r>
            <a:r>
              <a:rPr dirty="0" baseline="3086" sz="2700" spc="-322">
                <a:latin typeface="Arial"/>
                <a:cs typeface="Arial"/>
              </a:rPr>
              <a:t>دَ </a:t>
            </a:r>
            <a:r>
              <a:rPr dirty="0" baseline="3086" sz="2700" spc="-225">
                <a:latin typeface="Arial"/>
                <a:cs typeface="Arial"/>
              </a:rPr>
              <a:t>ام</a:t>
            </a:r>
            <a:r>
              <a:rPr dirty="0" sz="1800" spc="-150">
                <a:latin typeface="Arial"/>
                <a:cs typeface="Arial"/>
              </a:rPr>
              <a:t>َ </a:t>
            </a:r>
            <a:r>
              <a:rPr dirty="0" baseline="13888" sz="2700" spc="-465">
                <a:latin typeface="Arial"/>
                <a:cs typeface="Arial"/>
              </a:rPr>
              <a:t>َّ</a:t>
            </a:r>
            <a:r>
              <a:rPr dirty="0" baseline="3086" sz="2700" spc="-465">
                <a:latin typeface="Arial"/>
                <a:cs typeface="Arial"/>
              </a:rPr>
              <a:t>لك</a:t>
            </a:r>
            <a:r>
              <a:rPr dirty="0" baseline="10802" sz="2700" spc="-465">
                <a:latin typeface="Arial"/>
                <a:cs typeface="Arial"/>
              </a:rPr>
              <a:t>ُ  </a:t>
            </a:r>
            <a:r>
              <a:rPr dirty="0" baseline="3086" sz="2700" spc="7">
                <a:latin typeface="Arial"/>
                <a:cs typeface="Arial"/>
              </a:rPr>
              <a:t>اٌَّ </a:t>
            </a:r>
            <a:r>
              <a:rPr dirty="0" baseline="3086" sz="2700" spc="-457">
                <a:latin typeface="Arial"/>
                <a:cs typeface="Arial"/>
              </a:rPr>
              <a:t>ر</a:t>
            </a:r>
            <a:r>
              <a:rPr dirty="0" baseline="-10802" sz="2700" spc="-457">
                <a:latin typeface="Arial"/>
                <a:cs typeface="Arial"/>
              </a:rPr>
              <a:t>ِ </a:t>
            </a:r>
            <a:r>
              <a:rPr dirty="0" baseline="3086" sz="2700" spc="-712">
                <a:latin typeface="Arial"/>
                <a:cs typeface="Arial"/>
              </a:rPr>
              <a:t>ك</a:t>
            </a:r>
            <a:r>
              <a:rPr dirty="0" baseline="7716" sz="2700" spc="-712">
                <a:latin typeface="Arial"/>
                <a:cs typeface="Arial"/>
              </a:rPr>
              <a:t>َ </a:t>
            </a:r>
            <a:r>
              <a:rPr dirty="0" baseline="3086" sz="2700" spc="-494">
                <a:latin typeface="Arial"/>
                <a:cs typeface="Arial"/>
              </a:rPr>
              <a:t>ز</a:t>
            </a:r>
            <a:r>
              <a:rPr dirty="0" baseline="7716" sz="2700" spc="-494">
                <a:latin typeface="Arial"/>
                <a:cs typeface="Arial"/>
              </a:rPr>
              <a:t>َ </a:t>
            </a:r>
            <a:r>
              <a:rPr dirty="0" baseline="3086" sz="2700" spc="-202">
                <a:latin typeface="Arial"/>
                <a:cs typeface="Arial"/>
              </a:rPr>
              <a:t>اه</a:t>
            </a:r>
            <a:r>
              <a:rPr dirty="0" sz="1800" spc="-135">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705">
                <a:latin typeface="Arial"/>
                <a:cs typeface="Arial"/>
              </a:rPr>
              <a:t>ف</a:t>
            </a:r>
            <a:r>
              <a:rPr dirty="0" baseline="10802" sz="2700" spc="-705">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315">
                <a:latin typeface="Arial"/>
                <a:cs typeface="Arial"/>
              </a:rPr>
              <a:t>و</a:t>
            </a:r>
            <a:r>
              <a:rPr dirty="0" sz="1800" spc="-210">
                <a:latin typeface="Arial"/>
                <a:cs typeface="Arial"/>
              </a:rPr>
              <a:t>َ </a:t>
            </a:r>
            <a:r>
              <a:rPr dirty="0" baseline="12345" sz="2700" spc="-540">
                <a:latin typeface="Arial"/>
                <a:cs typeface="Arial"/>
              </a:rPr>
              <a:t>ً</a:t>
            </a:r>
            <a:r>
              <a:rPr dirty="0" baseline="3086" sz="2700" spc="-540">
                <a:latin typeface="Arial"/>
                <a:cs typeface="Arial"/>
              </a:rPr>
              <a:t>انس</a:t>
            </a:r>
            <a:r>
              <a:rPr dirty="0" sz="1800" spc="-360">
                <a:latin typeface="Arial"/>
                <a:cs typeface="Arial"/>
              </a:rPr>
              <a:t>َ </a:t>
            </a:r>
            <a:r>
              <a:rPr dirty="0" baseline="3086" sz="2700" spc="-592">
                <a:latin typeface="Arial"/>
                <a:cs typeface="Arial"/>
              </a:rPr>
              <a:t>ح</a:t>
            </a:r>
            <a:r>
              <a:rPr dirty="0" sz="1800" spc="-395">
                <a:latin typeface="Arial"/>
                <a:cs typeface="Arial"/>
              </a:rPr>
              <a:t>َ </a:t>
            </a:r>
            <a:r>
              <a:rPr dirty="0" baseline="12345" sz="2700" spc="-494">
                <a:latin typeface="Arial"/>
                <a:cs typeface="Arial"/>
              </a:rPr>
              <a:t>ً</a:t>
            </a:r>
            <a:r>
              <a:rPr dirty="0" baseline="3086" sz="2700" spc="-494">
                <a:latin typeface="Arial"/>
                <a:cs typeface="Arial"/>
              </a:rPr>
              <a:t>اتاب</a:t>
            </a:r>
            <a:r>
              <a:rPr dirty="0" sz="1800" spc="-330">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202">
                <a:latin typeface="Arial"/>
                <a:cs typeface="Arial"/>
              </a:rPr>
              <a:t>اه</a:t>
            </a:r>
            <a:r>
              <a:rPr dirty="0" sz="1800" spc="-135">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25">
                <a:latin typeface="Arial"/>
                <a:cs typeface="Arial"/>
              </a:rPr>
              <a:t> </a:t>
            </a:r>
            <a:r>
              <a:rPr dirty="0" baseline="3086" sz="2700" spc="-907">
                <a:latin typeface="Arial"/>
                <a:cs typeface="Arial"/>
              </a:rPr>
              <a:t>ب</a:t>
            </a:r>
            <a:r>
              <a:rPr dirty="0" sz="1800" spc="-605">
                <a:latin typeface="Arial"/>
                <a:cs typeface="Arial"/>
              </a:rPr>
              <a:t>َ</a:t>
            </a:r>
            <a:r>
              <a:rPr dirty="0" sz="1800" spc="-150">
                <a:latin typeface="Arial"/>
                <a:cs typeface="Arial"/>
              </a:rPr>
              <a:t> </a:t>
            </a:r>
            <a:r>
              <a:rPr dirty="0" baseline="3086" sz="2700" spc="-284">
                <a:latin typeface="Arial"/>
                <a:cs typeface="Arial"/>
              </a:rPr>
              <a:t>ن</a:t>
            </a:r>
            <a:r>
              <a:rPr dirty="0" baseline="16975" sz="2700" spc="-284">
                <a:latin typeface="Arial"/>
                <a:cs typeface="Arial"/>
              </a:rPr>
              <a:t>َ</a:t>
            </a:r>
            <a:r>
              <a:rPr dirty="0" baseline="3086" sz="2700" spc="-284">
                <a:latin typeface="Arial"/>
                <a:cs typeface="Arial"/>
              </a:rPr>
              <a:t>أو</a:t>
            </a:r>
            <a:r>
              <a:rPr dirty="0" sz="1800" spc="-190">
                <a:latin typeface="Arial"/>
                <a:cs typeface="Arial"/>
              </a:rPr>
              <a:t>َ </a:t>
            </a:r>
            <a:r>
              <a:rPr dirty="0" baseline="3086" sz="2700" spc="-615">
                <a:latin typeface="Arial"/>
                <a:cs typeface="Arial"/>
              </a:rPr>
              <a:t>ن</a:t>
            </a:r>
            <a:r>
              <a:rPr dirty="0" baseline="-9259" sz="2700" spc="-615">
                <a:latin typeface="Arial"/>
                <a:cs typeface="Arial"/>
              </a:rPr>
              <a:t>ٍ </a:t>
            </a:r>
            <a:r>
              <a:rPr dirty="0" baseline="3086" sz="2700" spc="-989">
                <a:latin typeface="Arial"/>
                <a:cs typeface="Arial"/>
              </a:rPr>
              <a:t>س</a:t>
            </a:r>
            <a:r>
              <a:rPr dirty="0" sz="1800" spc="-660">
                <a:latin typeface="Arial"/>
                <a:cs typeface="Arial"/>
              </a:rPr>
              <a:t>َ</a:t>
            </a:r>
            <a:r>
              <a:rPr dirty="0" sz="1800" spc="280">
                <a:latin typeface="Arial"/>
                <a:cs typeface="Arial"/>
              </a:rPr>
              <a:t> </a:t>
            </a:r>
            <a:r>
              <a:rPr dirty="0" baseline="3086" sz="2700" spc="-592">
                <a:latin typeface="Arial"/>
                <a:cs typeface="Arial"/>
              </a:rPr>
              <a:t>ح</a:t>
            </a:r>
            <a:r>
              <a:rPr dirty="0" sz="1800" spc="-395">
                <a:latin typeface="Arial"/>
                <a:cs typeface="Arial"/>
              </a:rPr>
              <a:t>َ </a:t>
            </a:r>
            <a:r>
              <a:rPr dirty="0" baseline="3086" sz="2700" spc="-532">
                <a:latin typeface="Arial"/>
                <a:cs typeface="Arial"/>
              </a:rPr>
              <a:t>ل</a:t>
            </a:r>
            <a:r>
              <a:rPr dirty="0" baseline="-3086" sz="2700" spc="-532">
                <a:latin typeface="Arial"/>
                <a:cs typeface="Arial"/>
              </a:rPr>
              <a:t>ٍ </a:t>
            </a:r>
            <a:r>
              <a:rPr dirty="0" baseline="3086" sz="2700" spc="-622">
                <a:latin typeface="Arial"/>
                <a:cs typeface="Arial"/>
              </a:rPr>
              <a:t>وبُ </a:t>
            </a:r>
            <a:r>
              <a:rPr dirty="0" baseline="3086" sz="2700" spc="-750">
                <a:latin typeface="Arial"/>
                <a:cs typeface="Arial"/>
              </a:rPr>
              <a:t>ق</a:t>
            </a:r>
            <a:r>
              <a:rPr dirty="0" baseline="7716" sz="2700" spc="-750">
                <a:latin typeface="Arial"/>
                <a:cs typeface="Arial"/>
              </a:rPr>
              <a:t>َ</a:t>
            </a:r>
            <a:r>
              <a:rPr dirty="0" baseline="3086" sz="2700" spc="-960">
                <a:latin typeface="Arial"/>
                <a:cs typeface="Arial"/>
              </a:rPr>
              <a:t>ب</a:t>
            </a:r>
            <a:r>
              <a:rPr dirty="0" baseline="-10802" sz="2700" spc="-960">
                <a:latin typeface="Arial"/>
                <a:cs typeface="Arial"/>
              </a:rPr>
              <a:t>ِ</a:t>
            </a:r>
            <a:r>
              <a:rPr dirty="0" baseline="-10802" sz="2700" spc="660">
                <a:latin typeface="Arial"/>
                <a:cs typeface="Arial"/>
              </a:rPr>
              <a:t> </a:t>
            </a:r>
            <a:r>
              <a:rPr dirty="0" baseline="3086" sz="2700" spc="-202">
                <a:latin typeface="Arial"/>
                <a:cs typeface="Arial"/>
              </a:rPr>
              <a:t>اه</a:t>
            </a:r>
            <a:r>
              <a:rPr dirty="0" sz="1800" spc="-135">
                <a:latin typeface="Arial"/>
                <a:cs typeface="Arial"/>
              </a:rPr>
              <a:t>َ </a:t>
            </a:r>
            <a:r>
              <a:rPr dirty="0" baseline="3086" sz="2700" spc="-607">
                <a:latin typeface="Arial"/>
                <a:cs typeface="Arial"/>
              </a:rPr>
              <a:t>بُّ </a:t>
            </a:r>
            <a:r>
              <a:rPr dirty="0" baseline="3086" sz="2700" spc="-494">
                <a:latin typeface="Arial"/>
                <a:cs typeface="Arial"/>
              </a:rPr>
              <a:t>ر</a:t>
            </a:r>
            <a:r>
              <a:rPr dirty="0" sz="1800" spc="-330">
                <a:latin typeface="Arial"/>
                <a:cs typeface="Arial"/>
              </a:rPr>
              <a:t>َ </a:t>
            </a:r>
            <a:r>
              <a:rPr dirty="0" baseline="3086" sz="2700" spc="-202">
                <a:latin typeface="Arial"/>
                <a:cs typeface="Arial"/>
              </a:rPr>
              <a:t>اه</a:t>
            </a:r>
            <a:r>
              <a:rPr dirty="0" sz="1800" spc="-135">
                <a:latin typeface="Arial"/>
                <a:cs typeface="Arial"/>
              </a:rPr>
              <a:t>َ</a:t>
            </a:r>
            <a:r>
              <a:rPr dirty="0" sz="1800" spc="-265">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607">
                <a:latin typeface="Arial"/>
                <a:cs typeface="Arial"/>
              </a:rPr>
              <a:t>بَّ </a:t>
            </a:r>
            <a:r>
              <a:rPr dirty="0" baseline="3086" sz="2700" spc="-750">
                <a:latin typeface="Arial"/>
                <a:cs typeface="Arial"/>
              </a:rPr>
              <a:t>ق</a:t>
            </a:r>
            <a:r>
              <a:rPr dirty="0" baseline="7716" sz="2700" spc="-750">
                <a:latin typeface="Arial"/>
                <a:cs typeface="Arial"/>
              </a:rPr>
              <a:t>َ</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spc="-2062">
                <a:latin typeface="Arial"/>
                <a:cs typeface="Arial"/>
              </a:rPr>
              <a:t>ف </a:t>
            </a:r>
            <a:r>
              <a:rPr dirty="0" baseline="3086" sz="2700" spc="-1155">
                <a:latin typeface="Arial"/>
                <a:cs typeface="Arial"/>
              </a:rPr>
              <a:t> </a:t>
            </a:r>
            <a:r>
              <a:rPr dirty="0" baseline="1543" sz="2700" spc="-509">
                <a:latin typeface="Arial"/>
                <a:cs typeface="Arial"/>
              </a:rPr>
              <a:t>ءآش</a:t>
            </a:r>
            <a:r>
              <a:rPr dirty="0" baseline="6172" sz="2700" spc="-509">
                <a:latin typeface="Arial"/>
                <a:cs typeface="Arial"/>
              </a:rPr>
              <a:t>َ </a:t>
            </a:r>
            <a:r>
              <a:rPr dirty="0" baseline="1543" sz="2700">
                <a:latin typeface="Arial"/>
                <a:cs typeface="Arial"/>
              </a:rPr>
              <a:t>ٌ</a:t>
            </a:r>
            <a:r>
              <a:rPr dirty="0" baseline="-1543" sz="2700">
                <a:latin typeface="Arial"/>
                <a:cs typeface="Arial"/>
              </a:rPr>
              <a:t>َ </a:t>
            </a:r>
            <a:r>
              <a:rPr dirty="0" baseline="1543" sz="2700" spc="-240">
                <a:latin typeface="Arial"/>
                <a:cs typeface="Arial"/>
              </a:rPr>
              <a:t>نم</a:t>
            </a:r>
            <a:r>
              <a:rPr dirty="0" baseline="-1543" sz="2700" spc="-240">
                <a:latin typeface="Arial"/>
                <a:cs typeface="Arial"/>
              </a:rPr>
              <a:t>َ </a:t>
            </a:r>
            <a:r>
              <a:rPr dirty="0" baseline="1543" sz="2700" spc="-592">
                <a:latin typeface="Arial"/>
                <a:cs typeface="Arial"/>
              </a:rPr>
              <a:t>ق</a:t>
            </a:r>
            <a:r>
              <a:rPr dirty="0" baseline="6172" sz="2700" spc="-592">
                <a:latin typeface="Arial"/>
                <a:cs typeface="Arial"/>
              </a:rPr>
              <a:t>ُ </a:t>
            </a:r>
            <a:r>
              <a:rPr dirty="0" baseline="1543" sz="2700" spc="-525">
                <a:latin typeface="Arial"/>
                <a:cs typeface="Arial"/>
              </a:rPr>
              <a:t>ز</a:t>
            </a:r>
            <a:r>
              <a:rPr dirty="0" baseline="9259" sz="2700" spc="-525">
                <a:latin typeface="Arial"/>
                <a:cs typeface="Arial"/>
              </a:rPr>
              <a:t>ُ </a:t>
            </a:r>
            <a:r>
              <a:rPr dirty="0" baseline="1543" sz="2700" spc="-457">
                <a:latin typeface="Arial"/>
                <a:cs typeface="Arial"/>
              </a:rPr>
              <a:t>رْ </a:t>
            </a:r>
            <a:r>
              <a:rPr dirty="0" baseline="1543" sz="2700">
                <a:latin typeface="Arial"/>
                <a:cs typeface="Arial"/>
              </a:rPr>
              <a:t>ٌ</a:t>
            </a:r>
            <a:r>
              <a:rPr dirty="0" baseline="-1543" sz="2700">
                <a:latin typeface="Arial"/>
                <a:cs typeface="Arial"/>
              </a:rPr>
              <a:t>َ </a:t>
            </a:r>
            <a:r>
              <a:rPr dirty="0" baseline="1543" sz="2700" spc="-885">
                <a:latin typeface="Arial"/>
                <a:cs typeface="Arial"/>
              </a:rPr>
              <a:t>للَّ</a:t>
            </a:r>
            <a:r>
              <a:rPr dirty="0" baseline="-9259" sz="2700" spc="-885">
                <a:latin typeface="Arial"/>
                <a:cs typeface="Arial"/>
              </a:rPr>
              <a:t>َ</a:t>
            </a:r>
            <a:r>
              <a:rPr dirty="0" baseline="-9259" sz="2700" spc="-97">
                <a:latin typeface="Arial"/>
                <a:cs typeface="Arial"/>
              </a:rPr>
              <a:t> </a:t>
            </a:r>
            <a:r>
              <a:rPr dirty="0" baseline="13888" sz="2700">
                <a:latin typeface="Arial"/>
                <a:cs typeface="Arial"/>
              </a:rPr>
              <a:t>ّ </a:t>
            </a:r>
            <a:r>
              <a:rPr dirty="0" baseline="1543" sz="2700">
                <a:latin typeface="Arial"/>
                <a:cs typeface="Arial"/>
              </a:rPr>
              <a:t>ٱ </a:t>
            </a:r>
            <a:r>
              <a:rPr dirty="0" baseline="1543" sz="2700" spc="-352">
                <a:latin typeface="Arial"/>
                <a:cs typeface="Arial"/>
              </a:rPr>
              <a:t>ن</a:t>
            </a:r>
            <a:r>
              <a:rPr dirty="0" sz="1800" spc="-235">
                <a:latin typeface="Arial"/>
                <a:cs typeface="Arial"/>
              </a:rPr>
              <a:t>َّ </a:t>
            </a:r>
            <a:r>
              <a:rPr dirty="0" baseline="-12345" sz="2700">
                <a:latin typeface="Arial"/>
                <a:cs typeface="Arial"/>
              </a:rPr>
              <a:t>ِ</a:t>
            </a:r>
            <a:r>
              <a:rPr dirty="0" baseline="1543" sz="2700">
                <a:latin typeface="Arial"/>
                <a:cs typeface="Arial"/>
              </a:rPr>
              <a:t>إ </a:t>
            </a:r>
            <a:r>
              <a:rPr dirty="0" baseline="1543" sz="2700" spc="-885">
                <a:latin typeface="Arial"/>
                <a:cs typeface="Arial"/>
              </a:rPr>
              <a:t>للَّ</a:t>
            </a:r>
            <a:r>
              <a:rPr dirty="0" baseline="-1543" sz="2700" spc="-885">
                <a:latin typeface="Arial"/>
                <a:cs typeface="Arial"/>
              </a:rPr>
              <a:t>ِ</a:t>
            </a:r>
            <a:r>
              <a:rPr dirty="0" baseline="-1543" sz="2700" spc="-97">
                <a:latin typeface="Arial"/>
                <a:cs typeface="Arial"/>
              </a:rPr>
              <a:t> </a:t>
            </a:r>
            <a:r>
              <a:rPr dirty="0" baseline="13888" sz="2700">
                <a:latin typeface="Arial"/>
                <a:cs typeface="Arial"/>
              </a:rPr>
              <a:t>َّ </a:t>
            </a:r>
            <a:r>
              <a:rPr dirty="0" baseline="1543" sz="2700">
                <a:latin typeface="Arial"/>
                <a:cs typeface="Arial"/>
              </a:rPr>
              <a:t>ٱ </a:t>
            </a:r>
            <a:r>
              <a:rPr dirty="0" baseline="1543" sz="2700" spc="-352">
                <a:latin typeface="Arial"/>
                <a:cs typeface="Arial"/>
              </a:rPr>
              <a:t>د</a:t>
            </a:r>
            <a:r>
              <a:rPr dirty="0" sz="1800" spc="-235">
                <a:latin typeface="Arial"/>
                <a:cs typeface="Arial"/>
              </a:rPr>
              <a:t>ِ </a:t>
            </a:r>
            <a:r>
              <a:rPr dirty="0" baseline="1543" sz="2700" spc="-652">
                <a:latin typeface="Arial"/>
                <a:cs typeface="Arial"/>
              </a:rPr>
              <a:t>نع</a:t>
            </a:r>
            <a:r>
              <a:rPr dirty="0" sz="1800" spc="-434">
                <a:latin typeface="Arial"/>
                <a:cs typeface="Arial"/>
              </a:rPr>
              <a:t>ِ </a:t>
            </a:r>
            <a:r>
              <a:rPr dirty="0" baseline="1543" sz="2700" spc="-472">
                <a:latin typeface="Arial"/>
                <a:cs typeface="Arial"/>
              </a:rPr>
              <a:t>نْ </a:t>
            </a:r>
            <a:r>
              <a:rPr dirty="0" baseline="1543" sz="2700" spc="-352">
                <a:latin typeface="Arial"/>
                <a:cs typeface="Arial"/>
              </a:rPr>
              <a:t>م</a:t>
            </a:r>
            <a:r>
              <a:rPr dirty="0" sz="1800" spc="-235">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07">
                <a:latin typeface="Arial"/>
                <a:cs typeface="Arial"/>
              </a:rPr>
              <a:t>هُ </a:t>
            </a:r>
            <a:r>
              <a:rPr dirty="0" baseline="1543" sz="2700" spc="-735">
                <a:latin typeface="Arial"/>
                <a:cs typeface="Arial"/>
              </a:rPr>
              <a:t>ت</a:t>
            </a:r>
            <a:r>
              <a:rPr dirty="0" baseline="7716" sz="2700" spc="-735">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spc="-225">
                <a:latin typeface="Arial"/>
                <a:cs typeface="Arial"/>
              </a:rPr>
              <a:t>اذ</a:t>
            </a:r>
            <a:r>
              <a:rPr dirty="0" baseline="10802" sz="2700" spc="-225">
                <a:latin typeface="Arial"/>
                <a:cs typeface="Arial"/>
              </a:rPr>
              <a:t>َ </a:t>
            </a:r>
            <a:r>
              <a:rPr dirty="0" baseline="1543" sz="2700" spc="-150">
                <a:latin typeface="Arial"/>
                <a:cs typeface="Arial"/>
              </a:rPr>
              <a:t>ـ</a:t>
            </a:r>
            <a:r>
              <a:rPr dirty="0" baseline="-4629" sz="2700" spc="-150">
                <a:latin typeface="Arial"/>
                <a:cs typeface="Arial"/>
              </a:rPr>
              <a:t>ٰ </a:t>
            </a:r>
            <a:r>
              <a:rPr dirty="0" baseline="1543" sz="2700" spc="-270">
                <a:latin typeface="Arial"/>
                <a:cs typeface="Arial"/>
              </a:rPr>
              <a:t>ه</a:t>
            </a:r>
            <a:r>
              <a:rPr dirty="0" baseline="-1543" sz="2700" spc="-270">
                <a:latin typeface="Arial"/>
                <a:cs typeface="Arial"/>
              </a:rPr>
              <a:t>َ </a:t>
            </a:r>
            <a:r>
              <a:rPr dirty="0" baseline="1543" sz="2700" spc="-637">
                <a:latin typeface="Arial"/>
                <a:cs typeface="Arial"/>
              </a:rPr>
              <a:t>ك</a:t>
            </a:r>
            <a:r>
              <a:rPr dirty="0" sz="1800" spc="-425">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532">
                <a:latin typeface="Arial"/>
                <a:cs typeface="Arial"/>
              </a:rPr>
              <a:t>ى</a:t>
            </a:r>
            <a:r>
              <a:rPr dirty="0" baseline="6172" sz="2700" spc="-532">
                <a:latin typeface="Arial"/>
                <a:cs typeface="Arial"/>
              </a:rPr>
              <a:t>ٰ </a:t>
            </a:r>
            <a:r>
              <a:rPr dirty="0" baseline="1543" sz="2700" spc="-442">
                <a:latin typeface="Arial"/>
                <a:cs typeface="Arial"/>
              </a:rPr>
              <a:t>ن</a:t>
            </a:r>
            <a:r>
              <a:rPr dirty="0" baseline="9259" sz="2700" spc="-442">
                <a:latin typeface="Arial"/>
                <a:cs typeface="Arial"/>
              </a:rPr>
              <a:t>َّ </a:t>
            </a:r>
            <a:r>
              <a:rPr dirty="0" baseline="15432" sz="2700">
                <a:latin typeface="Arial"/>
                <a:cs typeface="Arial"/>
              </a:rPr>
              <a:t>َ</a:t>
            </a:r>
            <a:r>
              <a:rPr dirty="0" baseline="1543" sz="2700">
                <a:latin typeface="Arial"/>
                <a:cs typeface="Arial"/>
              </a:rPr>
              <a:t>أ </a:t>
            </a:r>
            <a:r>
              <a:rPr dirty="0" baseline="1543" sz="2700" spc="-427">
                <a:latin typeface="Arial"/>
                <a:cs typeface="Arial"/>
              </a:rPr>
              <a:t>م</a:t>
            </a:r>
            <a:r>
              <a:rPr dirty="0" baseline="-4629" sz="2700" spc="-427">
                <a:latin typeface="Arial"/>
                <a:cs typeface="Arial"/>
              </a:rPr>
              <a:t>ُ </a:t>
            </a:r>
            <a:r>
              <a:rPr dirty="0" baseline="1543" sz="2700">
                <a:latin typeface="Arial"/>
                <a:cs typeface="Arial"/>
              </a:rPr>
              <a:t>ٌ</a:t>
            </a:r>
            <a:r>
              <a:rPr dirty="0" baseline="-1543" sz="2700">
                <a:latin typeface="Arial"/>
                <a:cs typeface="Arial"/>
              </a:rPr>
              <a:t>َ </a:t>
            </a:r>
            <a:r>
              <a:rPr dirty="0" baseline="1543" sz="2700" spc="-457">
                <a:latin typeface="Arial"/>
                <a:cs typeface="Arial"/>
              </a:rPr>
              <a:t>رْ </a:t>
            </a:r>
            <a:r>
              <a:rPr dirty="0" baseline="1543" sz="2700" spc="-359">
                <a:latin typeface="Arial"/>
                <a:cs typeface="Arial"/>
              </a:rPr>
              <a:t>م</a:t>
            </a:r>
            <a:r>
              <a:rPr dirty="0" baseline="-1543" sz="2700" spc="-359">
                <a:latin typeface="Arial"/>
                <a:cs typeface="Arial"/>
              </a:rPr>
              <a:t>َ </a:t>
            </a:r>
            <a:r>
              <a:rPr dirty="0" baseline="1543" sz="2700">
                <a:latin typeface="Arial"/>
                <a:cs typeface="Arial"/>
              </a:rPr>
              <a:t>ٌ</a:t>
            </a:r>
            <a:r>
              <a:rPr dirty="0" baseline="6172" sz="2700">
                <a:latin typeface="Arial"/>
                <a:cs typeface="Arial"/>
              </a:rPr>
              <a:t>ٰ </a:t>
            </a:r>
            <a:r>
              <a:rPr dirty="0" baseline="1543" sz="2700" spc="-615">
                <a:latin typeface="Arial"/>
                <a:cs typeface="Arial"/>
              </a:rPr>
              <a:t>ل</a:t>
            </a:r>
            <a:r>
              <a:rPr dirty="0" baseline="-1543" sz="2700" spc="-615">
                <a:latin typeface="Arial"/>
                <a:cs typeface="Arial"/>
              </a:rPr>
              <a:t>َ </a:t>
            </a:r>
            <a:r>
              <a:rPr dirty="0" baseline="1543" sz="2700" spc="-487">
                <a:latin typeface="Arial"/>
                <a:cs typeface="Arial"/>
              </a:rPr>
              <a:t>اق</a:t>
            </a:r>
            <a:r>
              <a:rPr dirty="0" baseline="6172" sz="2700" spc="-487">
                <a:latin typeface="Arial"/>
                <a:cs typeface="Arial"/>
              </a:rPr>
              <a:t>َ </a:t>
            </a:r>
            <a:r>
              <a:rPr dirty="0" baseline="9259" sz="2700" spc="-345">
                <a:latin typeface="Arial"/>
                <a:cs typeface="Arial"/>
              </a:rPr>
              <a:t>ً</a:t>
            </a:r>
            <a:r>
              <a:rPr dirty="0" baseline="1543" sz="2700" spc="-345">
                <a:latin typeface="Arial"/>
                <a:cs typeface="Arial"/>
              </a:rPr>
              <a:t>اقز</a:t>
            </a:r>
            <a:r>
              <a:rPr dirty="0" baseline="9259" sz="2700" spc="-345">
                <a:latin typeface="Arial"/>
                <a:cs typeface="Arial"/>
              </a:rPr>
              <a:t>ْ </a:t>
            </a:r>
            <a:r>
              <a:rPr dirty="0" baseline="1543" sz="2700" spc="-457">
                <a:latin typeface="Arial"/>
                <a:cs typeface="Arial"/>
              </a:rPr>
              <a:t>ر</a:t>
            </a:r>
            <a:r>
              <a:rPr dirty="0" baseline="-13888" sz="2700" spc="-457">
                <a:latin typeface="Arial"/>
                <a:cs typeface="Arial"/>
              </a:rPr>
              <a:t>ِ </a:t>
            </a:r>
            <a:r>
              <a:rPr dirty="0" baseline="1543" sz="2700" spc="-165">
                <a:latin typeface="Arial"/>
                <a:cs typeface="Arial"/>
              </a:rPr>
              <a:t>اه</a:t>
            </a:r>
            <a:r>
              <a:rPr dirty="0" baseline="-1543" sz="2700" spc="-165">
                <a:latin typeface="Arial"/>
                <a:cs typeface="Arial"/>
              </a:rPr>
              <a:t>َ </a:t>
            </a:r>
            <a:r>
              <a:rPr dirty="0" baseline="1543" sz="2700" spc="-330">
                <a:latin typeface="Arial"/>
                <a:cs typeface="Arial"/>
              </a:rPr>
              <a:t>د</a:t>
            </a:r>
            <a:r>
              <a:rPr dirty="0" sz="1800" spc="-220">
                <a:latin typeface="Arial"/>
                <a:cs typeface="Arial"/>
              </a:rPr>
              <a:t>َ </a:t>
            </a:r>
            <a:r>
              <a:rPr dirty="0" baseline="1543" sz="2700" spc="-652">
                <a:latin typeface="Arial"/>
                <a:cs typeface="Arial"/>
              </a:rPr>
              <a:t>نع</a:t>
            </a:r>
            <a:r>
              <a:rPr dirty="0" sz="1800" spc="-434">
                <a:latin typeface="Arial"/>
                <a:cs typeface="Arial"/>
              </a:rPr>
              <a:t>ِ </a:t>
            </a:r>
            <a:r>
              <a:rPr dirty="0" baseline="1543" sz="2700" spc="-322">
                <a:latin typeface="Arial"/>
                <a:cs typeface="Arial"/>
              </a:rPr>
              <a:t>د</a:t>
            </a:r>
            <a:r>
              <a:rPr dirty="0" sz="1800" spc="-215">
                <a:latin typeface="Arial"/>
                <a:cs typeface="Arial"/>
              </a:rPr>
              <a:t>َ </a:t>
            </a:r>
            <a:r>
              <a:rPr dirty="0" baseline="1543" sz="2700" spc="-592">
                <a:latin typeface="Arial"/>
                <a:cs typeface="Arial"/>
              </a:rPr>
              <a:t>ج</a:t>
            </a:r>
            <a:r>
              <a:rPr dirty="0" baseline="-1543" sz="2700" spc="-592">
                <a:latin typeface="Arial"/>
                <a:cs typeface="Arial"/>
              </a:rPr>
              <a:t>َ</a:t>
            </a:r>
            <a:r>
              <a:rPr dirty="0" baseline="-1543" sz="2700" spc="-465">
                <a:latin typeface="Arial"/>
                <a:cs typeface="Arial"/>
              </a:rPr>
              <a:t> </a:t>
            </a:r>
            <a:r>
              <a:rPr dirty="0" baseline="1543" sz="2700" spc="-615">
                <a:latin typeface="Arial"/>
                <a:cs typeface="Arial"/>
              </a:rPr>
              <a:t>و</a:t>
            </a:r>
            <a:endParaRPr baseline="1543" sz="2700">
              <a:latin typeface="Arial"/>
              <a:cs typeface="Arial"/>
            </a:endParaRPr>
          </a:p>
          <a:p>
            <a:pPr algn="r" marR="211454">
              <a:lnSpc>
                <a:spcPts val="2100"/>
              </a:lnSpc>
            </a:pPr>
            <a:r>
              <a:rPr dirty="0" baseline="3086" sz="2700" spc="-869">
                <a:latin typeface="Arial"/>
                <a:cs typeface="Arial"/>
              </a:rPr>
              <a:t>بٍ</a:t>
            </a:r>
            <a:r>
              <a:rPr dirty="0" baseline="3086" sz="2700" spc="944">
                <a:latin typeface="Arial"/>
                <a:cs typeface="Arial"/>
              </a:rPr>
              <a:t> </a:t>
            </a:r>
            <a:r>
              <a:rPr dirty="0" baseline="3086" sz="2700" spc="-637">
                <a:latin typeface="Arial"/>
                <a:cs typeface="Arial"/>
              </a:rPr>
              <a:t>اس</a:t>
            </a:r>
            <a:r>
              <a:rPr dirty="0" sz="1800" spc="-425">
                <a:latin typeface="Arial"/>
                <a:cs typeface="Arial"/>
              </a:rPr>
              <a:t>َ          </a:t>
            </a:r>
            <a:r>
              <a:rPr dirty="0" baseline="3086" sz="2700" spc="-719">
                <a:latin typeface="Arial"/>
                <a:cs typeface="Arial"/>
              </a:rPr>
              <a:t>ح</a:t>
            </a:r>
            <a:r>
              <a:rPr dirty="0" baseline="1543" sz="2700" spc="-719">
                <a:latin typeface="Arial"/>
                <a:cs typeface="Arial"/>
              </a:rPr>
              <a:t>ِ                                                                    </a:t>
            </a:r>
            <a:r>
              <a:rPr dirty="0" baseline="3086" sz="2700" spc="-457">
                <a:latin typeface="Arial"/>
                <a:cs typeface="Arial"/>
              </a:rPr>
              <a:t>ر</a:t>
            </a:r>
            <a:r>
              <a:rPr dirty="0" baseline="-10802" sz="2700" spc="-457">
                <a:latin typeface="Arial"/>
                <a:cs typeface="Arial"/>
              </a:rPr>
              <a:t>ِ   </a:t>
            </a:r>
            <a:r>
              <a:rPr dirty="0" baseline="3086" sz="2700">
                <a:latin typeface="Arial"/>
                <a:cs typeface="Arial"/>
              </a:rPr>
              <a:t>ٌْ </a:t>
            </a:r>
            <a:r>
              <a:rPr dirty="0" baseline="3086" sz="2700" spc="-727">
                <a:latin typeface="Arial"/>
                <a:cs typeface="Arial"/>
              </a:rPr>
              <a:t>ؽ</a:t>
            </a:r>
            <a:r>
              <a:rPr dirty="0" baseline="4629" sz="2700" spc="-727">
                <a:latin typeface="Arial"/>
                <a:cs typeface="Arial"/>
              </a:rPr>
              <a:t>َ                   </a:t>
            </a:r>
            <a:r>
              <a:rPr dirty="0" baseline="4629" sz="2700" spc="-712">
                <a:latin typeface="Arial"/>
                <a:cs typeface="Arial"/>
              </a:rPr>
              <a:t> </a:t>
            </a:r>
            <a:r>
              <a:rPr dirty="0" baseline="3086" sz="2700" spc="-1912">
                <a:latin typeface="Arial"/>
                <a:cs typeface="Arial"/>
              </a:rPr>
              <a:t>ب</a:t>
            </a:r>
            <a:endParaRPr baseline="3086" sz="2700">
              <a:latin typeface="Arial"/>
              <a:cs typeface="Arial"/>
            </a:endParaRPr>
          </a:p>
          <a:p>
            <a:pPr algn="just" marL="139700" marR="158115">
              <a:lnSpc>
                <a:spcPts val="1380"/>
              </a:lnSpc>
              <a:spcBef>
                <a:spcPts val="1320"/>
              </a:spcBef>
              <a:buAutoNum type="arabicPeriod" startAt="37"/>
              <a:tabLst>
                <a:tab pos="404495" algn="l"/>
              </a:tabLst>
            </a:pPr>
            <a:r>
              <a:rPr dirty="0" sz="1200" spc="-5">
                <a:latin typeface="Arial"/>
                <a:cs typeface="Arial"/>
              </a:rPr>
              <a:t>And her Lord accepted her with </a:t>
            </a:r>
            <a:r>
              <a:rPr dirty="0" sz="1200">
                <a:latin typeface="Arial"/>
                <a:cs typeface="Arial"/>
              </a:rPr>
              <a:t>full </a:t>
            </a:r>
            <a:r>
              <a:rPr dirty="0" sz="1200" spc="-5">
                <a:latin typeface="Arial"/>
                <a:cs typeface="Arial"/>
              </a:rPr>
              <a:t>acceptance and </a:t>
            </a:r>
            <a:r>
              <a:rPr dirty="0" sz="1200">
                <a:latin typeface="Arial"/>
                <a:cs typeface="Arial"/>
              </a:rPr>
              <a:t>vouchsafed to </a:t>
            </a:r>
            <a:r>
              <a:rPr dirty="0" sz="1200" spc="-5">
                <a:latin typeface="Arial"/>
                <a:cs typeface="Arial"/>
              </a:rPr>
              <a:t>her a goodly growth;  and made Zakariyyah her guardian. Whenever Zakariyyah went into the sanctuary where  she was, he found that she had </a:t>
            </a:r>
            <a:r>
              <a:rPr dirty="0" sz="1200">
                <a:latin typeface="Arial"/>
                <a:cs typeface="Arial"/>
              </a:rPr>
              <a:t>food. </a:t>
            </a:r>
            <a:r>
              <a:rPr dirty="0" sz="1200" spc="-5">
                <a:latin typeface="Arial"/>
                <a:cs typeface="Arial"/>
              </a:rPr>
              <a:t>He said: </a:t>
            </a:r>
            <a:r>
              <a:rPr dirty="0" sz="1200">
                <a:latin typeface="Arial"/>
                <a:cs typeface="Arial"/>
              </a:rPr>
              <a:t>O </a:t>
            </a:r>
            <a:r>
              <a:rPr dirty="0" sz="1200" spc="-5">
                <a:latin typeface="Arial"/>
                <a:cs typeface="Arial"/>
              </a:rPr>
              <a:t>Mary! </a:t>
            </a:r>
            <a:r>
              <a:rPr dirty="0" sz="1200">
                <a:latin typeface="Arial"/>
                <a:cs typeface="Arial"/>
              </a:rPr>
              <a:t>Whence </a:t>
            </a:r>
            <a:r>
              <a:rPr dirty="0" sz="1200" spc="-5">
                <a:latin typeface="Arial"/>
                <a:cs typeface="Arial"/>
              </a:rPr>
              <a:t>cometh unto </a:t>
            </a:r>
            <a:r>
              <a:rPr dirty="0" sz="1200" spc="-10">
                <a:latin typeface="Arial"/>
                <a:cs typeface="Arial"/>
              </a:rPr>
              <a:t>thee </a:t>
            </a:r>
            <a:r>
              <a:rPr dirty="0" sz="1200" spc="-5">
                <a:latin typeface="Arial"/>
                <a:cs typeface="Arial"/>
              </a:rPr>
              <a:t>this  (food)? She answered: </a:t>
            </a:r>
            <a:r>
              <a:rPr dirty="0" sz="1200">
                <a:latin typeface="Arial"/>
                <a:cs typeface="Arial"/>
              </a:rPr>
              <a:t>It </a:t>
            </a:r>
            <a:r>
              <a:rPr dirty="0" sz="1200" spc="-5">
                <a:latin typeface="Arial"/>
                <a:cs typeface="Arial"/>
              </a:rPr>
              <a:t>is from Allah. Allah </a:t>
            </a:r>
            <a:r>
              <a:rPr dirty="0" sz="1200" spc="-10">
                <a:latin typeface="Arial"/>
                <a:cs typeface="Arial"/>
              </a:rPr>
              <a:t>gives </a:t>
            </a:r>
            <a:r>
              <a:rPr dirty="0" sz="1200" spc="-5">
                <a:latin typeface="Arial"/>
                <a:cs typeface="Arial"/>
              </a:rPr>
              <a:t>without </a:t>
            </a:r>
            <a:r>
              <a:rPr dirty="0" sz="1200">
                <a:latin typeface="Arial"/>
                <a:cs typeface="Arial"/>
              </a:rPr>
              <a:t>stint to </a:t>
            </a:r>
            <a:r>
              <a:rPr dirty="0" sz="1200" spc="-5">
                <a:latin typeface="Arial"/>
                <a:cs typeface="Arial"/>
              </a:rPr>
              <a:t>whom He</a:t>
            </a:r>
            <a:r>
              <a:rPr dirty="0" sz="1200" spc="80">
                <a:latin typeface="Arial"/>
                <a:cs typeface="Arial"/>
              </a:rPr>
              <a:t> </a:t>
            </a:r>
            <a:r>
              <a:rPr dirty="0" sz="1200" spc="-5">
                <a:latin typeface="Arial"/>
                <a:cs typeface="Arial"/>
              </a:rPr>
              <a:t>will.</a:t>
            </a:r>
            <a:endParaRPr sz="1200">
              <a:latin typeface="Arial"/>
              <a:cs typeface="Arial"/>
            </a:endParaRPr>
          </a:p>
          <a:p>
            <a:pPr>
              <a:lnSpc>
                <a:spcPct val="100000"/>
              </a:lnSpc>
              <a:spcBef>
                <a:spcPts val="55"/>
              </a:spcBef>
              <a:buFont typeface="Arial"/>
              <a:buAutoNum type="arabicPeriod" startAt="37"/>
            </a:pPr>
            <a:endParaRPr sz="1050">
              <a:latin typeface="Arial"/>
              <a:cs typeface="Arial"/>
            </a:endParaRPr>
          </a:p>
          <a:p>
            <a:pPr algn="r" marR="247650">
              <a:lnSpc>
                <a:spcPct val="100000"/>
              </a:lnSpc>
            </a:pPr>
            <a:r>
              <a:rPr dirty="0" sz="1800" spc="-295">
                <a:latin typeface="Arial"/>
                <a:cs typeface="Arial"/>
              </a:rPr>
              <a:t>ء</a:t>
            </a:r>
            <a:r>
              <a:rPr dirty="0" baseline="-3086" sz="2700" spc="-442">
                <a:latin typeface="Arial"/>
                <a:cs typeface="Arial"/>
              </a:rPr>
              <a:t>ِ </a:t>
            </a:r>
            <a:r>
              <a:rPr dirty="0" sz="1800" spc="-260">
                <a:latin typeface="Arial"/>
                <a:cs typeface="Arial"/>
              </a:rPr>
              <a:t>آع</a:t>
            </a:r>
            <a:r>
              <a:rPr dirty="0" baseline="-3086" sz="2700" spc="-390">
                <a:latin typeface="Arial"/>
                <a:cs typeface="Arial"/>
              </a:rPr>
              <a:t>َ </a:t>
            </a:r>
            <a:r>
              <a:rPr dirty="0" sz="1800" spc="-155">
                <a:latin typeface="Arial"/>
                <a:cs typeface="Arial"/>
              </a:rPr>
              <a:t>د</a:t>
            </a:r>
            <a:r>
              <a:rPr dirty="0" baseline="3086" sz="2700" spc="-232">
                <a:latin typeface="Arial"/>
                <a:cs typeface="Arial"/>
              </a:rPr>
              <a:t>ُّ </a:t>
            </a:r>
            <a:r>
              <a:rPr dirty="0" sz="1800" spc="-280">
                <a:latin typeface="Arial"/>
                <a:cs typeface="Arial"/>
              </a:rPr>
              <a:t>لٱ </a:t>
            </a:r>
            <a:r>
              <a:rPr dirty="0" sz="1800" spc="-405">
                <a:latin typeface="Arial"/>
                <a:cs typeface="Arial"/>
              </a:rPr>
              <a:t>عُ </a:t>
            </a:r>
            <a:r>
              <a:rPr dirty="0" sz="1800" spc="-160">
                <a:latin typeface="Arial"/>
                <a:cs typeface="Arial"/>
              </a:rPr>
              <a:t>ٌمِ </a:t>
            </a:r>
            <a:r>
              <a:rPr dirty="0" sz="1800" spc="-655">
                <a:latin typeface="Arial"/>
                <a:cs typeface="Arial"/>
              </a:rPr>
              <a:t>س</a:t>
            </a:r>
            <a:r>
              <a:rPr dirty="0" baseline="-3086" sz="2700" spc="-982">
                <a:latin typeface="Arial"/>
                <a:cs typeface="Arial"/>
              </a:rPr>
              <a:t>َ</a:t>
            </a:r>
            <a:r>
              <a:rPr dirty="0" baseline="-3086" sz="2700" spc="1162">
                <a:latin typeface="Arial"/>
                <a:cs typeface="Arial"/>
              </a:rPr>
              <a:t> </a:t>
            </a:r>
            <a:r>
              <a:rPr dirty="0" sz="1800" spc="-455">
                <a:latin typeface="Arial"/>
                <a:cs typeface="Arial"/>
              </a:rPr>
              <a:t>ك</a:t>
            </a:r>
            <a:r>
              <a:rPr dirty="0" baseline="-3086" sz="2700" spc="-682">
                <a:latin typeface="Arial"/>
                <a:cs typeface="Arial"/>
              </a:rPr>
              <a:t>َ </a:t>
            </a:r>
            <a:r>
              <a:rPr dirty="0" sz="1800" spc="-295">
                <a:latin typeface="Arial"/>
                <a:cs typeface="Arial"/>
              </a:rPr>
              <a:t>ن</a:t>
            </a:r>
            <a:r>
              <a:rPr dirty="0" baseline="7716" sz="2700" spc="-442">
                <a:latin typeface="Arial"/>
                <a:cs typeface="Arial"/>
              </a:rPr>
              <a:t>َّ </a:t>
            </a:r>
            <a:r>
              <a:rPr dirty="0" baseline="-12345" sz="2700">
                <a:latin typeface="Arial"/>
                <a:cs typeface="Arial"/>
              </a:rPr>
              <a:t>ِ</a:t>
            </a:r>
            <a:r>
              <a:rPr dirty="0" sz="1800">
                <a:latin typeface="Arial"/>
                <a:cs typeface="Arial"/>
              </a:rPr>
              <a:t>إ </a:t>
            </a:r>
            <a:r>
              <a:rPr dirty="0" sz="1800" spc="-190">
                <a:latin typeface="Arial"/>
                <a:cs typeface="Arial"/>
              </a:rPr>
              <a:t>ة</a:t>
            </a:r>
            <a:r>
              <a:rPr dirty="0" baseline="12345" sz="2700" spc="-284">
                <a:latin typeface="Arial"/>
                <a:cs typeface="Arial"/>
              </a:rPr>
              <a:t>ً </a:t>
            </a:r>
            <a:r>
              <a:rPr dirty="0" sz="1800" spc="-595">
                <a:latin typeface="Arial"/>
                <a:cs typeface="Arial"/>
              </a:rPr>
              <a:t>ب</a:t>
            </a:r>
            <a:r>
              <a:rPr dirty="0" baseline="-3086" sz="2700" spc="-892">
                <a:latin typeface="Arial"/>
                <a:cs typeface="Arial"/>
              </a:rPr>
              <a:t>َ</a:t>
            </a:r>
            <a:r>
              <a:rPr dirty="0" baseline="-3086" sz="2700" spc="-232">
                <a:latin typeface="Arial"/>
                <a:cs typeface="Arial"/>
              </a:rPr>
              <a:t> </a:t>
            </a:r>
            <a:r>
              <a:rPr dirty="0" sz="1800">
                <a:latin typeface="Arial"/>
                <a:cs typeface="Arial"/>
              </a:rPr>
              <a:t>ٌِّ </a:t>
            </a:r>
            <a:r>
              <a:rPr dirty="0" sz="1800" spc="-440">
                <a:latin typeface="Arial"/>
                <a:cs typeface="Arial"/>
              </a:rPr>
              <a:t>ط</a:t>
            </a:r>
            <a:r>
              <a:rPr dirty="0" baseline="10802" sz="2700" spc="-660">
                <a:latin typeface="Arial"/>
                <a:cs typeface="Arial"/>
              </a:rPr>
              <a:t>َ </a:t>
            </a:r>
            <a:r>
              <a:rPr dirty="0" sz="1800" spc="-190">
                <a:latin typeface="Arial"/>
                <a:cs typeface="Arial"/>
              </a:rPr>
              <a:t>ة</a:t>
            </a:r>
            <a:r>
              <a:rPr dirty="0" baseline="12345" sz="2700" spc="-284">
                <a:latin typeface="Arial"/>
                <a:cs typeface="Arial"/>
              </a:rPr>
              <a:t>ً </a:t>
            </a:r>
            <a:r>
              <a:rPr dirty="0" sz="1800">
                <a:latin typeface="Arial"/>
                <a:cs typeface="Arial"/>
              </a:rPr>
              <a:t>ٌَّ </a:t>
            </a:r>
            <a:r>
              <a:rPr dirty="0" sz="1800" spc="-229">
                <a:latin typeface="Arial"/>
                <a:cs typeface="Arial"/>
              </a:rPr>
              <a:t>رِّ </a:t>
            </a:r>
            <a:r>
              <a:rPr dirty="0" sz="1800" spc="-240">
                <a:latin typeface="Arial"/>
                <a:cs typeface="Arial"/>
              </a:rPr>
              <a:t>ذ</a:t>
            </a:r>
            <a:r>
              <a:rPr dirty="0" baseline="13888" sz="2700" spc="-359">
                <a:latin typeface="Arial"/>
                <a:cs typeface="Arial"/>
              </a:rPr>
              <a:t>ُ </a:t>
            </a:r>
            <a:r>
              <a:rPr dirty="0" sz="1800" spc="-455">
                <a:latin typeface="Arial"/>
                <a:cs typeface="Arial"/>
              </a:rPr>
              <a:t>ك</a:t>
            </a:r>
            <a:r>
              <a:rPr dirty="0" baseline="-3086" sz="2700" spc="-682">
                <a:latin typeface="Arial"/>
                <a:cs typeface="Arial"/>
              </a:rPr>
              <a:t>َ </a:t>
            </a:r>
            <a:r>
              <a:rPr dirty="0" sz="1800" spc="-405">
                <a:latin typeface="Arial"/>
                <a:cs typeface="Arial"/>
              </a:rPr>
              <a:t>ن</a:t>
            </a:r>
            <a:r>
              <a:rPr dirty="0" baseline="9259" sz="2700" spc="-607">
                <a:latin typeface="Arial"/>
                <a:cs typeface="Arial"/>
              </a:rPr>
              <a:t>ْ </a:t>
            </a:r>
            <a:r>
              <a:rPr dirty="0" sz="1800" spc="-240">
                <a:latin typeface="Arial"/>
                <a:cs typeface="Arial"/>
              </a:rPr>
              <a:t>د</a:t>
            </a:r>
            <a:r>
              <a:rPr dirty="0" baseline="3086" sz="2700" spc="-359">
                <a:latin typeface="Arial"/>
                <a:cs typeface="Arial"/>
              </a:rPr>
              <a:t>ُ </a:t>
            </a:r>
            <a:r>
              <a:rPr dirty="0" baseline="10802" sz="2700" spc="-270">
                <a:latin typeface="Arial"/>
                <a:cs typeface="Arial"/>
              </a:rPr>
              <a:t>َّ</a:t>
            </a:r>
            <a:r>
              <a:rPr dirty="0" sz="1800" spc="-180">
                <a:latin typeface="Arial"/>
                <a:cs typeface="Arial"/>
              </a:rPr>
              <a:t>ل </a:t>
            </a:r>
            <a:r>
              <a:rPr dirty="0" sz="1800" spc="-160">
                <a:latin typeface="Arial"/>
                <a:cs typeface="Arial"/>
              </a:rPr>
              <a:t>نمِ </a:t>
            </a:r>
            <a:r>
              <a:rPr dirty="0" sz="1800" spc="-305">
                <a:latin typeface="Arial"/>
                <a:cs typeface="Arial"/>
              </a:rPr>
              <a:t>ًلِ  </a:t>
            </a:r>
            <a:r>
              <a:rPr dirty="0" sz="1800" spc="-490">
                <a:latin typeface="Arial"/>
                <a:cs typeface="Arial"/>
              </a:rPr>
              <a:t>ب</a:t>
            </a:r>
            <a:r>
              <a:rPr dirty="0" baseline="1543" sz="2700" spc="-735">
                <a:latin typeface="Arial"/>
                <a:cs typeface="Arial"/>
              </a:rPr>
              <a:t>ْ </a:t>
            </a:r>
            <a:r>
              <a:rPr dirty="0" sz="1800" spc="-180">
                <a:latin typeface="Arial"/>
                <a:cs typeface="Arial"/>
              </a:rPr>
              <a:t>ه</a:t>
            </a:r>
            <a:r>
              <a:rPr dirty="0" baseline="-3086" sz="2700" spc="-270">
                <a:latin typeface="Arial"/>
                <a:cs typeface="Arial"/>
              </a:rPr>
              <a:t>َ </a:t>
            </a:r>
            <a:r>
              <a:rPr dirty="0" sz="1800" spc="-350">
                <a:latin typeface="Arial"/>
                <a:cs typeface="Arial"/>
              </a:rPr>
              <a:t>بِّ </a:t>
            </a:r>
            <a:r>
              <a:rPr dirty="0" sz="1800" spc="-330">
                <a:latin typeface="Arial"/>
                <a:cs typeface="Arial"/>
              </a:rPr>
              <a:t>ر</a:t>
            </a:r>
            <a:r>
              <a:rPr dirty="0" baseline="-3086" sz="2700" spc="-494">
                <a:latin typeface="Arial"/>
                <a:cs typeface="Arial"/>
              </a:rPr>
              <a:t>َ </a:t>
            </a:r>
            <a:r>
              <a:rPr dirty="0" sz="1800" spc="-409">
                <a:latin typeface="Arial"/>
                <a:cs typeface="Arial"/>
              </a:rPr>
              <a:t>ل</a:t>
            </a:r>
            <a:r>
              <a:rPr dirty="0" baseline="-3086" sz="2700" spc="-615">
                <a:latin typeface="Arial"/>
                <a:cs typeface="Arial"/>
              </a:rPr>
              <a:t>َ </a:t>
            </a:r>
            <a:r>
              <a:rPr dirty="0" sz="1800" spc="-325">
                <a:latin typeface="Arial"/>
                <a:cs typeface="Arial"/>
              </a:rPr>
              <a:t>اق</a:t>
            </a:r>
            <a:r>
              <a:rPr dirty="0" baseline="6172" sz="2700" spc="-487">
                <a:latin typeface="Arial"/>
                <a:cs typeface="Arial"/>
              </a:rPr>
              <a:t>َ </a:t>
            </a:r>
            <a:r>
              <a:rPr dirty="0" sz="1800" spc="-215">
                <a:latin typeface="Arial"/>
                <a:cs typeface="Arial"/>
              </a:rPr>
              <a:t>هُ </a:t>
            </a:r>
            <a:r>
              <a:rPr dirty="0" sz="1800" spc="-405">
                <a:latin typeface="Arial"/>
                <a:cs typeface="Arial"/>
              </a:rPr>
              <a:t>بَّ </a:t>
            </a:r>
            <a:r>
              <a:rPr dirty="0" sz="1800" spc="-330">
                <a:latin typeface="Arial"/>
                <a:cs typeface="Arial"/>
              </a:rPr>
              <a:t>ر</a:t>
            </a:r>
            <a:r>
              <a:rPr dirty="0" baseline="-3086" sz="2700" spc="-494">
                <a:latin typeface="Arial"/>
                <a:cs typeface="Arial"/>
              </a:rPr>
              <a:t>َ </a:t>
            </a:r>
            <a:r>
              <a:rPr dirty="0" sz="1800" spc="5">
                <a:latin typeface="Arial"/>
                <a:cs typeface="Arial"/>
              </a:rPr>
              <a:t>اٌَّ </a:t>
            </a:r>
            <a:r>
              <a:rPr dirty="0" sz="1800" spc="-305">
                <a:latin typeface="Arial"/>
                <a:cs typeface="Arial"/>
              </a:rPr>
              <a:t>ر</a:t>
            </a:r>
            <a:r>
              <a:rPr dirty="0" baseline="-13888" sz="2700" spc="-457">
                <a:latin typeface="Arial"/>
                <a:cs typeface="Arial"/>
              </a:rPr>
              <a:t>ِ </a:t>
            </a:r>
            <a:r>
              <a:rPr dirty="0" sz="1800" spc="-480">
                <a:latin typeface="Arial"/>
                <a:cs typeface="Arial"/>
              </a:rPr>
              <a:t>ك</a:t>
            </a:r>
            <a:r>
              <a:rPr dirty="0" baseline="6172" sz="2700" spc="-719">
                <a:latin typeface="Arial"/>
                <a:cs typeface="Arial"/>
              </a:rPr>
              <a:t>َ </a:t>
            </a:r>
            <a:r>
              <a:rPr dirty="0" sz="1800" spc="-330">
                <a:latin typeface="Arial"/>
                <a:cs typeface="Arial"/>
              </a:rPr>
              <a:t>ز</a:t>
            </a:r>
            <a:r>
              <a:rPr dirty="0" baseline="6172" sz="2700" spc="-494">
                <a:latin typeface="Arial"/>
                <a:cs typeface="Arial"/>
              </a:rPr>
              <a:t>َ </a:t>
            </a:r>
            <a:r>
              <a:rPr dirty="0" sz="1800" spc="-260">
                <a:latin typeface="Arial"/>
                <a:cs typeface="Arial"/>
              </a:rPr>
              <a:t>اع</a:t>
            </a:r>
            <a:r>
              <a:rPr dirty="0" baseline="-3086" sz="2700" spc="-390">
                <a:latin typeface="Arial"/>
                <a:cs typeface="Arial"/>
              </a:rPr>
              <a:t>َ </a:t>
            </a:r>
            <a:r>
              <a:rPr dirty="0" sz="1800" spc="-215">
                <a:latin typeface="Arial"/>
                <a:cs typeface="Arial"/>
              </a:rPr>
              <a:t>دَ </a:t>
            </a:r>
            <a:r>
              <a:rPr dirty="0" sz="1800" spc="-455">
                <a:latin typeface="Arial"/>
                <a:cs typeface="Arial"/>
              </a:rPr>
              <a:t>ك</a:t>
            </a:r>
            <a:r>
              <a:rPr dirty="0" baseline="-3086" sz="2700" spc="-682">
                <a:latin typeface="Arial"/>
                <a:cs typeface="Arial"/>
              </a:rPr>
              <a:t>َ</a:t>
            </a:r>
            <a:r>
              <a:rPr dirty="0" baseline="-3086" sz="2700" spc="-622">
                <a:latin typeface="Arial"/>
                <a:cs typeface="Arial"/>
              </a:rPr>
              <a:t> </a:t>
            </a:r>
            <a:r>
              <a:rPr dirty="0" sz="1800" spc="-275">
                <a:latin typeface="Arial"/>
                <a:cs typeface="Arial"/>
              </a:rPr>
              <a:t>ِلان</a:t>
            </a:r>
            <a:r>
              <a:rPr dirty="0" baseline="6172" sz="2700" spc="-412">
                <a:latin typeface="Arial"/>
                <a:cs typeface="Arial"/>
              </a:rPr>
              <a:t>َ </a:t>
            </a:r>
            <a:r>
              <a:rPr dirty="0" sz="1800" spc="-405">
                <a:latin typeface="Arial"/>
                <a:cs typeface="Arial"/>
              </a:rPr>
              <a:t>ه</a:t>
            </a:r>
            <a:endParaRPr sz="1800">
              <a:latin typeface="Arial"/>
              <a:cs typeface="Arial"/>
            </a:endParaRPr>
          </a:p>
          <a:p>
            <a:pPr algn="just" marL="139700" marR="161925">
              <a:lnSpc>
                <a:spcPts val="1380"/>
              </a:lnSpc>
              <a:spcBef>
                <a:spcPts val="1415"/>
              </a:spcBef>
              <a:buAutoNum type="arabicPeriod" startAt="38"/>
              <a:tabLst>
                <a:tab pos="395605" algn="l"/>
              </a:tabLst>
            </a:pPr>
            <a:r>
              <a:rPr dirty="0" sz="1200">
                <a:latin typeface="Arial"/>
                <a:cs typeface="Arial"/>
              </a:rPr>
              <a:t>Then </a:t>
            </a:r>
            <a:r>
              <a:rPr dirty="0" sz="1200" spc="-5">
                <a:latin typeface="Arial"/>
                <a:cs typeface="Arial"/>
              </a:rPr>
              <a:t>Zakariyyah prayed unto his Lord and said: My Lord! Bestow upon me of </a:t>
            </a:r>
            <a:r>
              <a:rPr dirty="0" sz="1200">
                <a:latin typeface="Arial"/>
                <a:cs typeface="Arial"/>
              </a:rPr>
              <a:t>Thy </a:t>
            </a:r>
            <a:r>
              <a:rPr dirty="0" sz="1200" spc="-5">
                <a:latin typeface="Arial"/>
                <a:cs typeface="Arial"/>
              </a:rPr>
              <a:t>bounty  goodly offspring. Lo! Thou </a:t>
            </a:r>
            <a:r>
              <a:rPr dirty="0" sz="1200">
                <a:latin typeface="Arial"/>
                <a:cs typeface="Arial"/>
              </a:rPr>
              <a:t>art </a:t>
            </a:r>
            <a:r>
              <a:rPr dirty="0" sz="1200" spc="-5">
                <a:latin typeface="Arial"/>
                <a:cs typeface="Arial"/>
              </a:rPr>
              <a:t>the Hearer of</a:t>
            </a:r>
            <a:r>
              <a:rPr dirty="0" sz="1200" spc="20">
                <a:latin typeface="Arial"/>
                <a:cs typeface="Arial"/>
              </a:rPr>
              <a:t> </a:t>
            </a:r>
            <a:r>
              <a:rPr dirty="0" sz="1200" spc="-5">
                <a:latin typeface="Arial"/>
                <a:cs typeface="Arial"/>
              </a:rPr>
              <a:t>Prayer.</a:t>
            </a:r>
            <a:endParaRPr sz="1200">
              <a:latin typeface="Arial"/>
              <a:cs typeface="Arial"/>
            </a:endParaRPr>
          </a:p>
          <a:p>
            <a:pPr>
              <a:lnSpc>
                <a:spcPct val="100000"/>
              </a:lnSpc>
              <a:spcBef>
                <a:spcPts val="55"/>
              </a:spcBef>
              <a:buFont typeface="Arial"/>
              <a:buAutoNum type="arabicPeriod" startAt="38"/>
            </a:pPr>
            <a:endParaRPr sz="1050">
              <a:latin typeface="Arial"/>
              <a:cs typeface="Arial"/>
            </a:endParaRPr>
          </a:p>
          <a:p>
            <a:pPr algn="r" marR="212725">
              <a:lnSpc>
                <a:spcPts val="2155"/>
              </a:lnSpc>
            </a:pPr>
            <a:r>
              <a:rPr dirty="0" sz="1800" spc="-590">
                <a:latin typeface="Arial"/>
                <a:cs typeface="Arial"/>
              </a:rPr>
              <a:t>للَّ</a:t>
            </a:r>
            <a:r>
              <a:rPr dirty="0" baseline="-1543" sz="2700" spc="-885">
                <a:latin typeface="Arial"/>
                <a:cs typeface="Arial"/>
              </a:rPr>
              <a:t>ِ</a:t>
            </a:r>
            <a:r>
              <a:rPr dirty="0" baseline="-1543" sz="2700" spc="-104">
                <a:latin typeface="Arial"/>
                <a:cs typeface="Arial"/>
              </a:rPr>
              <a:t> </a:t>
            </a:r>
            <a:r>
              <a:rPr dirty="0" baseline="12345" sz="2700">
                <a:latin typeface="Arial"/>
                <a:cs typeface="Arial"/>
              </a:rPr>
              <a:t>َّ </a:t>
            </a:r>
            <a:r>
              <a:rPr dirty="0" sz="1800">
                <a:latin typeface="Arial"/>
                <a:cs typeface="Arial"/>
              </a:rPr>
              <a:t>ٱ </a:t>
            </a:r>
            <a:r>
              <a:rPr dirty="0" sz="1800" spc="-330">
                <a:latin typeface="Arial"/>
                <a:cs typeface="Arial"/>
              </a:rPr>
              <a:t>ن</a:t>
            </a:r>
            <a:r>
              <a:rPr dirty="0" baseline="-3086" sz="2700" spc="-494">
                <a:latin typeface="Arial"/>
                <a:cs typeface="Arial"/>
              </a:rPr>
              <a:t>َ    </a:t>
            </a:r>
            <a:r>
              <a:rPr dirty="0" sz="1800" spc="-170">
                <a:latin typeface="Arial"/>
                <a:cs typeface="Arial"/>
              </a:rPr>
              <a:t>مِّ    </a:t>
            </a:r>
            <a:r>
              <a:rPr dirty="0" sz="1800" spc="-235">
                <a:latin typeface="Arial"/>
                <a:cs typeface="Arial"/>
              </a:rPr>
              <a:t>ةٍ   </a:t>
            </a:r>
            <a:r>
              <a:rPr dirty="0" sz="1800" spc="-240">
                <a:latin typeface="Arial"/>
                <a:cs typeface="Arial"/>
              </a:rPr>
              <a:t>م</a:t>
            </a:r>
            <a:r>
              <a:rPr dirty="0" baseline="-3086" sz="2700" spc="-359">
                <a:latin typeface="Arial"/>
                <a:cs typeface="Arial"/>
              </a:rPr>
              <a:t>َ  </a:t>
            </a:r>
            <a:r>
              <a:rPr dirty="0" sz="1800" spc="-375">
                <a:latin typeface="Arial"/>
                <a:cs typeface="Arial"/>
              </a:rPr>
              <a:t>ِلك</a:t>
            </a:r>
            <a:r>
              <a:rPr dirty="0" baseline="6172" sz="2700" spc="-562">
                <a:latin typeface="Arial"/>
                <a:cs typeface="Arial"/>
              </a:rPr>
              <a:t>َ     </a:t>
            </a:r>
            <a:r>
              <a:rPr dirty="0" sz="1800" spc="-640">
                <a:latin typeface="Arial"/>
                <a:cs typeface="Arial"/>
              </a:rPr>
              <a:t>ب</a:t>
            </a:r>
            <a:r>
              <a:rPr dirty="0" baseline="-12345" sz="2700" spc="-960">
                <a:latin typeface="Arial"/>
                <a:cs typeface="Arial"/>
              </a:rPr>
              <a:t>ِ</a:t>
            </a:r>
            <a:r>
              <a:rPr dirty="0" baseline="-12345" sz="2700" spc="622">
                <a:latin typeface="Arial"/>
                <a:cs typeface="Arial"/>
              </a:rPr>
              <a:t> </a:t>
            </a:r>
            <a:r>
              <a:rPr dirty="0" baseline="9259" sz="2700" spc="-254">
                <a:latin typeface="Arial"/>
                <a:cs typeface="Arial"/>
              </a:rPr>
              <a:t>ً</a:t>
            </a:r>
            <a:r>
              <a:rPr dirty="0" sz="1800" spc="-170">
                <a:latin typeface="Arial"/>
                <a:cs typeface="Arial"/>
              </a:rPr>
              <a:t>اقد</a:t>
            </a:r>
            <a:r>
              <a:rPr dirty="0" baseline="3086" sz="2700" spc="-254">
                <a:latin typeface="Arial"/>
                <a:cs typeface="Arial"/>
              </a:rPr>
              <a:t>ِّ </a:t>
            </a:r>
            <a:r>
              <a:rPr dirty="0" sz="1800" spc="-900">
                <a:latin typeface="Arial"/>
                <a:cs typeface="Arial"/>
              </a:rPr>
              <a:t>ص</a:t>
            </a:r>
            <a:r>
              <a:rPr dirty="0" baseline="-3086" sz="2700" spc="-1350">
                <a:latin typeface="Arial"/>
                <a:cs typeface="Arial"/>
              </a:rPr>
              <a:t>َ</a:t>
            </a:r>
            <a:r>
              <a:rPr dirty="0" baseline="-3086" sz="2700" spc="1395">
                <a:latin typeface="Arial"/>
                <a:cs typeface="Arial"/>
              </a:rPr>
              <a:t> </a:t>
            </a:r>
            <a:r>
              <a:rPr dirty="0" sz="1800" spc="-265">
                <a:latin typeface="Arial"/>
                <a:cs typeface="Arial"/>
              </a:rPr>
              <a:t>مُ     </a:t>
            </a:r>
            <a:r>
              <a:rPr dirty="0" sz="1800" spc="-355">
                <a:latin typeface="Arial"/>
                <a:cs typeface="Arial"/>
              </a:rPr>
              <a:t>ى</a:t>
            </a:r>
            <a:r>
              <a:rPr dirty="0" baseline="6172" sz="2700" spc="-532">
                <a:latin typeface="Arial"/>
                <a:cs typeface="Arial"/>
              </a:rPr>
              <a:t>ٰ    </a:t>
            </a:r>
            <a:r>
              <a:rPr dirty="0" sz="1800" spc="-5">
                <a:latin typeface="Arial"/>
                <a:cs typeface="Arial"/>
              </a:rPr>
              <a:t>ـٌ</a:t>
            </a:r>
            <a:r>
              <a:rPr dirty="0" baseline="-3086" sz="2700" spc="-7">
                <a:latin typeface="Arial"/>
                <a:cs typeface="Arial"/>
              </a:rPr>
              <a:t>َ </a:t>
            </a:r>
            <a:r>
              <a:rPr dirty="0" sz="1800" spc="-370">
                <a:latin typeface="Arial"/>
                <a:cs typeface="Arial"/>
              </a:rPr>
              <a:t>ح</a:t>
            </a:r>
            <a:r>
              <a:rPr dirty="0" baseline="1543" sz="2700" spc="-555">
                <a:latin typeface="Arial"/>
                <a:cs typeface="Arial"/>
              </a:rPr>
              <a:t>ْ      </a:t>
            </a:r>
            <a:r>
              <a:rPr dirty="0" sz="1800">
                <a:latin typeface="Arial"/>
                <a:cs typeface="Arial"/>
              </a:rPr>
              <a:t>ٌ</a:t>
            </a:r>
            <a:r>
              <a:rPr dirty="0" baseline="-3086" sz="2700">
                <a:latin typeface="Arial"/>
                <a:cs typeface="Arial"/>
              </a:rPr>
              <a:t>َ </a:t>
            </a:r>
            <a:r>
              <a:rPr dirty="0" sz="1800" spc="-645">
                <a:latin typeface="Arial"/>
                <a:cs typeface="Arial"/>
              </a:rPr>
              <a:t>ب</a:t>
            </a:r>
            <a:r>
              <a:rPr dirty="0" baseline="-12345" sz="2700" spc="-967">
                <a:latin typeface="Arial"/>
                <a:cs typeface="Arial"/>
              </a:rPr>
              <a:t>ِ</a:t>
            </a:r>
            <a:r>
              <a:rPr dirty="0" baseline="-12345" sz="2700" spc="750">
                <a:latin typeface="Arial"/>
                <a:cs typeface="Arial"/>
              </a:rPr>
              <a:t> </a:t>
            </a:r>
            <a:r>
              <a:rPr dirty="0" sz="1800" spc="-455">
                <a:latin typeface="Arial"/>
                <a:cs typeface="Arial"/>
              </a:rPr>
              <a:t>ك</a:t>
            </a:r>
            <a:r>
              <a:rPr dirty="0" baseline="-3086" sz="2700" spc="-682">
                <a:latin typeface="Arial"/>
                <a:cs typeface="Arial"/>
              </a:rPr>
              <a:t>َ                   </a:t>
            </a:r>
            <a:r>
              <a:rPr dirty="0" baseline="-3086" sz="2700" spc="-615">
                <a:latin typeface="Arial"/>
                <a:cs typeface="Arial"/>
              </a:rPr>
              <a:t> </a:t>
            </a:r>
            <a:r>
              <a:rPr dirty="0" sz="1800" spc="-350">
                <a:latin typeface="Arial"/>
                <a:cs typeface="Arial"/>
              </a:rPr>
              <a:t>رُ     </a:t>
            </a:r>
            <a:r>
              <a:rPr dirty="0" sz="1800" spc="-470">
                <a:latin typeface="Arial"/>
                <a:cs typeface="Arial"/>
              </a:rPr>
              <a:t>ش</a:t>
            </a:r>
            <a:r>
              <a:rPr dirty="0" baseline="9259" sz="2700" spc="-705">
                <a:latin typeface="Arial"/>
                <a:cs typeface="Arial"/>
              </a:rPr>
              <a:t>ِّ                               </a:t>
            </a:r>
            <a:r>
              <a:rPr dirty="0" sz="1800" spc="-595">
                <a:latin typeface="Arial"/>
                <a:cs typeface="Arial"/>
              </a:rPr>
              <a:t>ب</a:t>
            </a:r>
            <a:r>
              <a:rPr dirty="0" baseline="-3086" sz="2700" spc="-892">
                <a:latin typeface="Arial"/>
                <a:cs typeface="Arial"/>
              </a:rPr>
              <a:t>َ</a:t>
            </a:r>
            <a:r>
              <a:rPr dirty="0" baseline="-3086" sz="2700" spc="-202">
                <a:latin typeface="Arial"/>
                <a:cs typeface="Arial"/>
              </a:rPr>
              <a:t> </a:t>
            </a:r>
            <a:r>
              <a:rPr dirty="0" sz="1800">
                <a:latin typeface="Arial"/>
                <a:cs typeface="Arial"/>
              </a:rPr>
              <a:t>ٌُ  </a:t>
            </a:r>
            <a:r>
              <a:rPr dirty="0" sz="1800" spc="-530">
                <a:latin typeface="Arial"/>
                <a:cs typeface="Arial"/>
              </a:rPr>
              <a:t>اللَّ</a:t>
            </a:r>
            <a:r>
              <a:rPr dirty="0" baseline="-10802" sz="2700" spc="-794">
                <a:latin typeface="Arial"/>
                <a:cs typeface="Arial"/>
              </a:rPr>
              <a:t>َ</a:t>
            </a:r>
            <a:r>
              <a:rPr dirty="0" baseline="-10802" sz="2700" spc="-82">
                <a:latin typeface="Arial"/>
                <a:cs typeface="Arial"/>
              </a:rPr>
              <a:t> </a:t>
            </a:r>
            <a:r>
              <a:rPr dirty="0" baseline="12345" sz="2700">
                <a:latin typeface="Arial"/>
                <a:cs typeface="Arial"/>
              </a:rPr>
              <a:t>َّ   </a:t>
            </a:r>
            <a:r>
              <a:rPr dirty="0" sz="1800" spc="-229">
                <a:latin typeface="Arial"/>
                <a:cs typeface="Arial"/>
              </a:rPr>
              <a:t>نَّ   </a:t>
            </a:r>
            <a:r>
              <a:rPr dirty="0" baseline="13888" sz="2700">
                <a:latin typeface="Arial"/>
                <a:cs typeface="Arial"/>
              </a:rPr>
              <a:t>َ</a:t>
            </a:r>
            <a:r>
              <a:rPr dirty="0" sz="1800">
                <a:latin typeface="Arial"/>
                <a:cs typeface="Arial"/>
              </a:rPr>
              <a:t>أ </a:t>
            </a:r>
            <a:r>
              <a:rPr dirty="0" sz="1800" spc="-575">
                <a:latin typeface="Arial"/>
                <a:cs typeface="Arial"/>
              </a:rPr>
              <a:t>بِ</a:t>
            </a:r>
            <a:r>
              <a:rPr dirty="0" sz="1800" spc="710">
                <a:latin typeface="Arial"/>
                <a:cs typeface="Arial"/>
              </a:rPr>
              <a:t> </a:t>
            </a:r>
            <a:r>
              <a:rPr dirty="0" sz="1800" spc="-215">
                <a:latin typeface="Arial"/>
                <a:cs typeface="Arial"/>
              </a:rPr>
              <a:t>ار</a:t>
            </a:r>
            <a:r>
              <a:rPr dirty="0" baseline="-3086" sz="2700" spc="-322">
                <a:latin typeface="Arial"/>
                <a:cs typeface="Arial"/>
              </a:rPr>
              <a:t>َ  </a:t>
            </a:r>
            <a:r>
              <a:rPr dirty="0" sz="1800" spc="-370">
                <a:latin typeface="Arial"/>
                <a:cs typeface="Arial"/>
              </a:rPr>
              <a:t>ح</a:t>
            </a:r>
            <a:r>
              <a:rPr dirty="0" baseline="1543" sz="2700" spc="-555">
                <a:latin typeface="Arial"/>
                <a:cs typeface="Arial"/>
              </a:rPr>
              <a:t>ْ      </a:t>
            </a:r>
            <a:r>
              <a:rPr dirty="0" sz="1800" spc="-235">
                <a:latin typeface="Arial"/>
                <a:cs typeface="Arial"/>
              </a:rPr>
              <a:t>مِ  </a:t>
            </a:r>
            <a:r>
              <a:rPr dirty="0" sz="1800" spc="-434">
                <a:latin typeface="Arial"/>
                <a:cs typeface="Arial"/>
              </a:rPr>
              <a:t>ل</a:t>
            </a:r>
            <a:r>
              <a:rPr dirty="0" baseline="12345" sz="2700" spc="-652">
                <a:latin typeface="Arial"/>
                <a:cs typeface="Arial"/>
              </a:rPr>
              <a:t>ْ     </a:t>
            </a:r>
            <a:r>
              <a:rPr dirty="0" sz="1800">
                <a:latin typeface="Arial"/>
                <a:cs typeface="Arial"/>
              </a:rPr>
              <a:t>ٱ </a:t>
            </a:r>
            <a:r>
              <a:rPr dirty="0" sz="1800" spc="-470">
                <a:latin typeface="Arial"/>
                <a:cs typeface="Arial"/>
              </a:rPr>
              <a:t>ًفِ                                  </a:t>
            </a:r>
            <a:r>
              <a:rPr dirty="0" sz="1800" spc="-395">
                <a:latin typeface="Arial"/>
                <a:cs typeface="Arial"/>
              </a:rPr>
              <a:t>ً</a:t>
            </a:r>
            <a:r>
              <a:rPr dirty="0" baseline="10802" sz="2700" spc="-592">
                <a:latin typeface="Arial"/>
                <a:cs typeface="Arial"/>
              </a:rPr>
              <a:t>ِّ</a:t>
            </a:r>
            <a:r>
              <a:rPr dirty="0" sz="1800" spc="-395">
                <a:latin typeface="Arial"/>
                <a:cs typeface="Arial"/>
              </a:rPr>
              <a:t>لص</a:t>
            </a:r>
            <a:r>
              <a:rPr dirty="0" baseline="-3086" sz="2700" spc="-592">
                <a:latin typeface="Arial"/>
                <a:cs typeface="Arial"/>
              </a:rPr>
              <a:t>َ              </a:t>
            </a:r>
            <a:r>
              <a:rPr dirty="0" sz="1800">
                <a:latin typeface="Arial"/>
                <a:cs typeface="Arial"/>
              </a:rPr>
              <a:t>ٌُ  </a:t>
            </a:r>
            <a:r>
              <a:rPr dirty="0" sz="1800" spc="-285">
                <a:latin typeface="Arial"/>
                <a:cs typeface="Arial"/>
              </a:rPr>
              <a:t>م</a:t>
            </a:r>
            <a:r>
              <a:rPr dirty="0" baseline="-3086" sz="2700" spc="-427">
                <a:latin typeface="Arial"/>
                <a:cs typeface="Arial"/>
              </a:rPr>
              <a:t>ٌ   </a:t>
            </a:r>
            <a:r>
              <a:rPr dirty="0" sz="1800" spc="-570">
                <a:latin typeface="Arial"/>
                <a:cs typeface="Arial"/>
              </a:rPr>
              <a:t>ئِ</a:t>
            </a:r>
            <a:r>
              <a:rPr dirty="0" sz="1800" spc="-45">
                <a:latin typeface="Arial"/>
                <a:cs typeface="Arial"/>
              </a:rPr>
              <a:t> </a:t>
            </a:r>
            <a:r>
              <a:rPr dirty="0" sz="1800" spc="-325">
                <a:latin typeface="Arial"/>
                <a:cs typeface="Arial"/>
              </a:rPr>
              <a:t>اق</a:t>
            </a:r>
            <a:r>
              <a:rPr dirty="0" baseline="6172" sz="2700" spc="-487">
                <a:latin typeface="Arial"/>
                <a:cs typeface="Arial"/>
              </a:rPr>
              <a:t>َ      </a:t>
            </a:r>
            <a:r>
              <a:rPr dirty="0" sz="1800" spc="-204">
                <a:latin typeface="Arial"/>
                <a:cs typeface="Arial"/>
              </a:rPr>
              <a:t>و</a:t>
            </a:r>
            <a:r>
              <a:rPr dirty="0" baseline="-3086" sz="2700" spc="-307">
                <a:latin typeface="Arial"/>
                <a:cs typeface="Arial"/>
              </a:rPr>
              <a:t>َ </a:t>
            </a:r>
            <a:r>
              <a:rPr dirty="0" sz="1800" spc="-210">
                <a:latin typeface="Arial"/>
                <a:cs typeface="Arial"/>
              </a:rPr>
              <a:t>هُ   </a:t>
            </a:r>
            <a:r>
              <a:rPr dirty="0" sz="1800" spc="-204">
                <a:latin typeface="Arial"/>
                <a:cs typeface="Arial"/>
              </a:rPr>
              <a:t>و</a:t>
            </a:r>
            <a:r>
              <a:rPr dirty="0" baseline="-3086" sz="2700" spc="-307">
                <a:latin typeface="Arial"/>
                <a:cs typeface="Arial"/>
              </a:rPr>
              <a:t>َ   </a:t>
            </a:r>
            <a:r>
              <a:rPr dirty="0" sz="1800" spc="-215">
                <a:latin typeface="Arial"/>
                <a:cs typeface="Arial"/>
              </a:rPr>
              <a:t>ة</a:t>
            </a:r>
            <a:r>
              <a:rPr dirty="0" baseline="10802" sz="2700" spc="-322">
                <a:latin typeface="Arial"/>
                <a:cs typeface="Arial"/>
              </a:rPr>
              <a:t>ُ  </a:t>
            </a:r>
            <a:r>
              <a:rPr dirty="0" sz="1800" spc="-480">
                <a:latin typeface="Arial"/>
                <a:cs typeface="Arial"/>
              </a:rPr>
              <a:t>ك</a:t>
            </a:r>
            <a:r>
              <a:rPr dirty="0" baseline="6172" sz="2700" spc="-719">
                <a:latin typeface="Arial"/>
                <a:cs typeface="Arial"/>
              </a:rPr>
              <a:t>َ                               </a:t>
            </a:r>
            <a:r>
              <a:rPr dirty="0" sz="1800" spc="-570">
                <a:latin typeface="Arial"/>
                <a:cs typeface="Arial"/>
              </a:rPr>
              <a:t>ئِ</a:t>
            </a:r>
            <a:r>
              <a:rPr dirty="0" sz="1800" spc="-40">
                <a:latin typeface="Arial"/>
                <a:cs typeface="Arial"/>
              </a:rPr>
              <a:t> </a:t>
            </a:r>
            <a:r>
              <a:rPr dirty="0" sz="1800" spc="-434">
                <a:latin typeface="Arial"/>
                <a:cs typeface="Arial"/>
              </a:rPr>
              <a:t>لا</a:t>
            </a:r>
            <a:r>
              <a:rPr dirty="0" baseline="16975" sz="2700" spc="-652">
                <a:latin typeface="Arial"/>
                <a:cs typeface="Arial"/>
              </a:rPr>
              <a:t>ۤ              </a:t>
            </a:r>
            <a:r>
              <a:rPr dirty="0" sz="1800" spc="-240">
                <a:latin typeface="Arial"/>
                <a:cs typeface="Arial"/>
              </a:rPr>
              <a:t>م</a:t>
            </a:r>
            <a:r>
              <a:rPr dirty="0" baseline="-3086" sz="2700" spc="-359">
                <a:latin typeface="Arial"/>
                <a:cs typeface="Arial"/>
              </a:rPr>
              <a:t>َ  </a:t>
            </a:r>
            <a:r>
              <a:rPr dirty="0" sz="1800" spc="-434">
                <a:latin typeface="Arial"/>
                <a:cs typeface="Arial"/>
              </a:rPr>
              <a:t>ل</a:t>
            </a:r>
            <a:r>
              <a:rPr dirty="0" baseline="12345" sz="2700" spc="-652">
                <a:latin typeface="Arial"/>
                <a:cs typeface="Arial"/>
              </a:rPr>
              <a:t>ْ     </a:t>
            </a:r>
            <a:r>
              <a:rPr dirty="0" sz="1800">
                <a:latin typeface="Arial"/>
                <a:cs typeface="Arial"/>
              </a:rPr>
              <a:t>ٱ </a:t>
            </a:r>
            <a:r>
              <a:rPr dirty="0" sz="1800" spc="-215">
                <a:latin typeface="Arial"/>
                <a:cs typeface="Arial"/>
              </a:rPr>
              <a:t>هُ  </a:t>
            </a:r>
            <a:r>
              <a:rPr dirty="0" sz="1800" spc="-575">
                <a:latin typeface="Arial"/>
                <a:cs typeface="Arial"/>
              </a:rPr>
              <a:t>ت</a:t>
            </a:r>
            <a:r>
              <a:rPr dirty="0" baseline="9259" sz="2700" spc="-862">
                <a:latin typeface="Arial"/>
                <a:cs typeface="Arial"/>
              </a:rPr>
              <a:t>ْ</a:t>
            </a:r>
            <a:r>
              <a:rPr dirty="0" baseline="9259" sz="2700" spc="-277">
                <a:latin typeface="Arial"/>
                <a:cs typeface="Arial"/>
              </a:rPr>
              <a:t> </a:t>
            </a:r>
            <a:r>
              <a:rPr dirty="0" sz="1800" spc="-215">
                <a:latin typeface="Arial"/>
                <a:cs typeface="Arial"/>
              </a:rPr>
              <a:t>دَ  </a:t>
            </a:r>
            <a:r>
              <a:rPr dirty="0" sz="1800" spc="-275">
                <a:latin typeface="Arial"/>
                <a:cs typeface="Arial"/>
              </a:rPr>
              <a:t>ان</a:t>
            </a:r>
            <a:r>
              <a:rPr dirty="0" baseline="6172" sz="2700" spc="-412">
                <a:latin typeface="Arial"/>
                <a:cs typeface="Arial"/>
              </a:rPr>
              <a:t>َ </a:t>
            </a:r>
            <a:r>
              <a:rPr dirty="0" baseline="6172" sz="2700" spc="-209">
                <a:latin typeface="Arial"/>
                <a:cs typeface="Arial"/>
              </a:rPr>
              <a:t> </a:t>
            </a:r>
            <a:r>
              <a:rPr dirty="0" sz="1800" spc="-1375">
                <a:latin typeface="Arial"/>
                <a:cs typeface="Arial"/>
              </a:rPr>
              <a:t>ف</a:t>
            </a:r>
            <a:endParaRPr sz="1800">
              <a:latin typeface="Arial"/>
              <a:cs typeface="Arial"/>
            </a:endParaRPr>
          </a:p>
          <a:p>
            <a:pPr algn="r" marR="208915">
              <a:lnSpc>
                <a:spcPts val="2155"/>
              </a:lnSpc>
            </a:pPr>
            <a:r>
              <a:rPr dirty="0" baseline="3086" sz="2700" spc="-494">
                <a:latin typeface="Arial"/>
                <a:cs typeface="Arial"/>
              </a:rPr>
              <a:t>ن</a:t>
            </a:r>
            <a:r>
              <a:rPr dirty="0" sz="1800" spc="-330">
                <a:latin typeface="Arial"/>
                <a:cs typeface="Arial"/>
              </a:rPr>
              <a:t>َ    </a:t>
            </a:r>
            <a:r>
              <a:rPr dirty="0" baseline="3086" sz="2700" spc="-480">
                <a:latin typeface="Arial"/>
                <a:cs typeface="Arial"/>
              </a:rPr>
              <a:t>ٌح</a:t>
            </a:r>
            <a:r>
              <a:rPr dirty="0" baseline="1543" sz="2700" spc="-480">
                <a:latin typeface="Arial"/>
                <a:cs typeface="Arial"/>
              </a:rPr>
              <a:t>ِ     </a:t>
            </a:r>
            <a:r>
              <a:rPr dirty="0" baseline="1543" sz="2700" spc="-585">
                <a:latin typeface="Arial"/>
                <a:cs typeface="Arial"/>
              </a:rPr>
              <a:t>ِ</a:t>
            </a:r>
            <a:r>
              <a:rPr dirty="0" baseline="3086" sz="2700" spc="-585">
                <a:latin typeface="Arial"/>
                <a:cs typeface="Arial"/>
              </a:rPr>
              <a:t>لاصَّ             </a:t>
            </a:r>
            <a:r>
              <a:rPr dirty="0" baseline="3086" sz="2700" spc="-412">
                <a:latin typeface="Arial"/>
                <a:cs typeface="Arial"/>
              </a:rPr>
              <a:t>لٱ  </a:t>
            </a:r>
            <a:r>
              <a:rPr dirty="0" baseline="3086" sz="2700" spc="-494">
                <a:latin typeface="Arial"/>
                <a:cs typeface="Arial"/>
              </a:rPr>
              <a:t>ن</a:t>
            </a:r>
            <a:r>
              <a:rPr dirty="0" sz="1800" spc="-330">
                <a:latin typeface="Arial"/>
                <a:cs typeface="Arial"/>
              </a:rPr>
              <a:t>َ    </a:t>
            </a:r>
            <a:r>
              <a:rPr dirty="0" baseline="3086" sz="2700" spc="-254">
                <a:latin typeface="Arial"/>
                <a:cs typeface="Arial"/>
              </a:rPr>
              <a:t>مِّ </a:t>
            </a:r>
            <a:r>
              <a:rPr dirty="0" baseline="3086" sz="2700" spc="240">
                <a:latin typeface="Arial"/>
                <a:cs typeface="Arial"/>
              </a:rPr>
              <a:t> </a:t>
            </a:r>
            <a:r>
              <a:rPr dirty="0" baseline="12345" sz="2700" spc="7">
                <a:latin typeface="Arial"/>
                <a:cs typeface="Arial"/>
              </a:rPr>
              <a:t>ً</a:t>
            </a:r>
            <a:r>
              <a:rPr dirty="0" baseline="3086" sz="2700" spc="7">
                <a:latin typeface="Arial"/>
                <a:cs typeface="Arial"/>
              </a:rPr>
              <a:t>اٌّ </a:t>
            </a:r>
            <a:r>
              <a:rPr dirty="0" baseline="3086" sz="2700" spc="-967">
                <a:latin typeface="Arial"/>
                <a:cs typeface="Arial"/>
              </a:rPr>
              <a:t>ب</a:t>
            </a:r>
            <a:r>
              <a:rPr dirty="0" baseline="-10802" sz="2700" spc="-967">
                <a:latin typeface="Arial"/>
                <a:cs typeface="Arial"/>
              </a:rPr>
              <a:t>ِ</a:t>
            </a:r>
            <a:r>
              <a:rPr dirty="0" baseline="-10802" sz="2700" spc="-104">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307">
                <a:latin typeface="Arial"/>
                <a:cs typeface="Arial"/>
              </a:rPr>
              <a:t>و</a:t>
            </a:r>
            <a:r>
              <a:rPr dirty="0" sz="1800" spc="-204">
                <a:latin typeface="Arial"/>
                <a:cs typeface="Arial"/>
              </a:rPr>
              <a:t>َ   </a:t>
            </a:r>
            <a:r>
              <a:rPr dirty="0" baseline="12345" sz="2700" spc="-465">
                <a:latin typeface="Arial"/>
                <a:cs typeface="Arial"/>
              </a:rPr>
              <a:t>ً</a:t>
            </a:r>
            <a:r>
              <a:rPr dirty="0" baseline="3086" sz="2700" spc="-465">
                <a:latin typeface="Arial"/>
                <a:cs typeface="Arial"/>
              </a:rPr>
              <a:t>اروصُ       </a:t>
            </a:r>
            <a:r>
              <a:rPr dirty="0" baseline="3086" sz="2700" spc="-592">
                <a:latin typeface="Arial"/>
                <a:cs typeface="Arial"/>
              </a:rPr>
              <a:t>ح</a:t>
            </a:r>
            <a:r>
              <a:rPr dirty="0" sz="1800" spc="-395">
                <a:latin typeface="Arial"/>
                <a:cs typeface="Arial"/>
              </a:rPr>
              <a:t>َ       </a:t>
            </a:r>
            <a:r>
              <a:rPr dirty="0" baseline="3086" sz="2700" spc="-307">
                <a:latin typeface="Arial"/>
                <a:cs typeface="Arial"/>
              </a:rPr>
              <a:t>و</a:t>
            </a:r>
            <a:r>
              <a:rPr dirty="0" sz="1800" spc="-204">
                <a:latin typeface="Arial"/>
                <a:cs typeface="Arial"/>
              </a:rPr>
              <a:t>َ   </a:t>
            </a:r>
            <a:r>
              <a:rPr dirty="0" baseline="12345" sz="2700" spc="-7">
                <a:latin typeface="Arial"/>
                <a:cs typeface="Arial"/>
              </a:rPr>
              <a:t>ً</a:t>
            </a:r>
            <a:r>
              <a:rPr dirty="0" baseline="3086" sz="2700" spc="-7">
                <a:latin typeface="Arial"/>
                <a:cs typeface="Arial"/>
              </a:rPr>
              <a:t>ادٌِّ</a:t>
            </a:r>
            <a:r>
              <a:rPr dirty="0" baseline="3086" sz="2700" spc="-307">
                <a:latin typeface="Arial"/>
                <a:cs typeface="Arial"/>
              </a:rPr>
              <a:t> </a:t>
            </a:r>
            <a:r>
              <a:rPr dirty="0" baseline="3086" sz="2700" spc="-982">
                <a:latin typeface="Arial"/>
                <a:cs typeface="Arial"/>
              </a:rPr>
              <a:t>س</a:t>
            </a:r>
            <a:r>
              <a:rPr dirty="0" sz="1800" spc="-655">
                <a:latin typeface="Arial"/>
                <a:cs typeface="Arial"/>
              </a:rPr>
              <a:t>َ</a:t>
            </a:r>
            <a:r>
              <a:rPr dirty="0" sz="1800" spc="285">
                <a:latin typeface="Arial"/>
                <a:cs typeface="Arial"/>
              </a:rPr>
              <a:t> </a:t>
            </a:r>
            <a:r>
              <a:rPr dirty="0" baseline="3086" sz="2700" spc="-615">
                <a:latin typeface="Arial"/>
                <a:cs typeface="Arial"/>
              </a:rPr>
              <a:t>و</a:t>
            </a:r>
            <a:endParaRPr baseline="3086" sz="2700">
              <a:latin typeface="Arial"/>
              <a:cs typeface="Arial"/>
            </a:endParaRPr>
          </a:p>
          <a:p>
            <a:pPr algn="just" marL="139700" marR="156845">
              <a:lnSpc>
                <a:spcPct val="95900"/>
              </a:lnSpc>
              <a:spcBef>
                <a:spcPts val="1295"/>
              </a:spcBef>
              <a:buAutoNum type="arabicPeriod" startAt="39"/>
              <a:tabLst>
                <a:tab pos="403225" algn="l"/>
              </a:tabLst>
            </a:pPr>
            <a:r>
              <a:rPr dirty="0" sz="1200" spc="-5">
                <a:latin typeface="Arial"/>
                <a:cs typeface="Arial"/>
              </a:rPr>
              <a:t>And the </a:t>
            </a:r>
            <a:r>
              <a:rPr dirty="0" sz="1200">
                <a:latin typeface="Arial"/>
                <a:cs typeface="Arial"/>
              </a:rPr>
              <a:t>angels </a:t>
            </a:r>
            <a:r>
              <a:rPr dirty="0" sz="1200" spc="-5">
                <a:latin typeface="Arial"/>
                <a:cs typeface="Arial"/>
              </a:rPr>
              <a:t>called </a:t>
            </a:r>
            <a:r>
              <a:rPr dirty="0" sz="1200">
                <a:latin typeface="Arial"/>
                <a:cs typeface="Arial"/>
              </a:rPr>
              <a:t>to </a:t>
            </a:r>
            <a:r>
              <a:rPr dirty="0" sz="1200" spc="-5">
                <a:latin typeface="Arial"/>
                <a:cs typeface="Arial"/>
              </a:rPr>
              <a:t>him as he stood praying in </a:t>
            </a:r>
            <a:r>
              <a:rPr dirty="0" sz="1200">
                <a:latin typeface="Arial"/>
                <a:cs typeface="Arial"/>
              </a:rPr>
              <a:t>the </a:t>
            </a:r>
            <a:r>
              <a:rPr dirty="0" sz="1200" spc="-5">
                <a:latin typeface="Arial"/>
                <a:cs typeface="Arial"/>
              </a:rPr>
              <a:t>sanctuary: Allah gives </a:t>
            </a:r>
            <a:r>
              <a:rPr dirty="0" sz="1200">
                <a:latin typeface="Arial"/>
                <a:cs typeface="Arial"/>
              </a:rPr>
              <a:t>thee </a:t>
            </a:r>
            <a:r>
              <a:rPr dirty="0" sz="1200" spc="-5">
                <a:latin typeface="Arial"/>
                <a:cs typeface="Arial"/>
              </a:rPr>
              <a:t>glad  tidings of (a son </a:t>
            </a:r>
            <a:r>
              <a:rPr dirty="0" sz="1200" spc="-10">
                <a:latin typeface="Arial"/>
                <a:cs typeface="Arial"/>
              </a:rPr>
              <a:t>whose </a:t>
            </a:r>
            <a:r>
              <a:rPr dirty="0" sz="1200" spc="-5">
                <a:latin typeface="Arial"/>
                <a:cs typeface="Arial"/>
              </a:rPr>
              <a:t>name is) John, </a:t>
            </a:r>
            <a:r>
              <a:rPr dirty="0" sz="1200" spc="-10">
                <a:latin typeface="Arial"/>
                <a:cs typeface="Arial"/>
              </a:rPr>
              <a:t>(who </a:t>
            </a:r>
            <a:r>
              <a:rPr dirty="0" sz="1200" spc="-5">
                <a:latin typeface="Arial"/>
                <a:cs typeface="Arial"/>
              </a:rPr>
              <a:t>cometh) to confirm a word </a:t>
            </a:r>
            <a:r>
              <a:rPr dirty="0" sz="1200">
                <a:latin typeface="Arial"/>
                <a:cs typeface="Arial"/>
              </a:rPr>
              <a:t>from </a:t>
            </a:r>
            <a:r>
              <a:rPr dirty="0" sz="1200" spc="-5">
                <a:latin typeface="Arial"/>
                <a:cs typeface="Arial"/>
              </a:rPr>
              <a:t>Allah, lordly,  chaste, a Prophet of </a:t>
            </a:r>
            <a:r>
              <a:rPr dirty="0" sz="1200" spc="-10">
                <a:latin typeface="Arial"/>
                <a:cs typeface="Arial"/>
              </a:rPr>
              <a:t>the</a:t>
            </a:r>
            <a:r>
              <a:rPr dirty="0" sz="1200" spc="10">
                <a:latin typeface="Arial"/>
                <a:cs typeface="Arial"/>
              </a:rPr>
              <a:t> </a:t>
            </a:r>
            <a:r>
              <a:rPr dirty="0" sz="1200" spc="-5">
                <a:latin typeface="Arial"/>
                <a:cs typeface="Arial"/>
              </a:rPr>
              <a:t>righteous.</a:t>
            </a:r>
            <a:endParaRPr sz="1200">
              <a:latin typeface="Arial"/>
              <a:cs typeface="Arial"/>
            </a:endParaRPr>
          </a:p>
          <a:p>
            <a:pPr>
              <a:lnSpc>
                <a:spcPct val="100000"/>
              </a:lnSpc>
              <a:spcBef>
                <a:spcPts val="15"/>
              </a:spcBef>
              <a:buFont typeface="Arial"/>
              <a:buAutoNum type="arabicPeriod" startAt="39"/>
            </a:pPr>
            <a:endParaRPr sz="1100">
              <a:latin typeface="Arial"/>
              <a:cs typeface="Arial"/>
            </a:endParaRPr>
          </a:p>
          <a:p>
            <a:pPr algn="r" marR="211454">
              <a:lnSpc>
                <a:spcPct val="100000"/>
              </a:lnSpc>
              <a:spcBef>
                <a:spcPts val="5"/>
              </a:spcBef>
            </a:pPr>
            <a:r>
              <a:rPr dirty="0" sz="1800" spc="-330">
                <a:latin typeface="Arial"/>
                <a:cs typeface="Arial"/>
              </a:rPr>
              <a:t>ءُ </a:t>
            </a:r>
            <a:r>
              <a:rPr dirty="0" sz="1800" spc="-455">
                <a:latin typeface="Arial"/>
                <a:cs typeface="Arial"/>
              </a:rPr>
              <a:t>آش</a:t>
            </a:r>
            <a:r>
              <a:rPr dirty="0" baseline="4629" sz="2700" spc="-682">
                <a:latin typeface="Arial"/>
                <a:cs typeface="Arial"/>
              </a:rPr>
              <a:t>َ </a:t>
            </a:r>
            <a:r>
              <a:rPr dirty="0" sz="1800">
                <a:latin typeface="Arial"/>
                <a:cs typeface="Arial"/>
              </a:rPr>
              <a:t>ٌ</a:t>
            </a:r>
            <a:r>
              <a:rPr dirty="0" baseline="-3086" sz="2700">
                <a:latin typeface="Arial"/>
                <a:cs typeface="Arial"/>
              </a:rPr>
              <a:t>َ </a:t>
            </a:r>
            <a:r>
              <a:rPr dirty="0" sz="1800" spc="-150">
                <a:latin typeface="Arial"/>
                <a:cs typeface="Arial"/>
              </a:rPr>
              <a:t>ام</a:t>
            </a:r>
            <a:r>
              <a:rPr dirty="0" baseline="-3086" sz="2700" spc="-225">
                <a:latin typeface="Arial"/>
                <a:cs typeface="Arial"/>
              </a:rPr>
              <a:t>َ </a:t>
            </a:r>
            <a:r>
              <a:rPr dirty="0" sz="1800" spc="-434">
                <a:latin typeface="Arial"/>
                <a:cs typeface="Arial"/>
              </a:rPr>
              <a:t>لُ </a:t>
            </a:r>
            <a:r>
              <a:rPr dirty="0" sz="1800" spc="-400">
                <a:latin typeface="Arial"/>
                <a:cs typeface="Arial"/>
              </a:rPr>
              <a:t>ع</a:t>
            </a:r>
            <a:r>
              <a:rPr dirty="0" baseline="-3086" sz="2700" spc="-600">
                <a:latin typeface="Arial"/>
                <a:cs typeface="Arial"/>
              </a:rPr>
              <a:t>َ </a:t>
            </a:r>
            <a:r>
              <a:rPr dirty="0" sz="1800" spc="-665">
                <a:latin typeface="Arial"/>
                <a:cs typeface="Arial"/>
              </a:rPr>
              <a:t>ف</a:t>
            </a:r>
            <a:r>
              <a:rPr dirty="0" baseline="9259" sz="2700" spc="-997">
                <a:latin typeface="Arial"/>
                <a:cs typeface="Arial"/>
              </a:rPr>
              <a:t>ْ</a:t>
            </a:r>
            <a:r>
              <a:rPr dirty="0" baseline="9259" sz="2700" spc="-179">
                <a:latin typeface="Arial"/>
                <a:cs typeface="Arial"/>
              </a:rPr>
              <a:t> </a:t>
            </a:r>
            <a:r>
              <a:rPr dirty="0" sz="1800">
                <a:latin typeface="Arial"/>
                <a:cs typeface="Arial"/>
              </a:rPr>
              <a:t>ٌ</a:t>
            </a:r>
            <a:r>
              <a:rPr dirty="0" baseline="-3086" sz="2700">
                <a:latin typeface="Arial"/>
                <a:cs typeface="Arial"/>
              </a:rPr>
              <a:t>َ </a:t>
            </a:r>
            <a:r>
              <a:rPr dirty="0" baseline="-7716" sz="2700" spc="-630">
                <a:latin typeface="Arial"/>
                <a:cs typeface="Arial"/>
              </a:rPr>
              <a:t>ُ</a:t>
            </a:r>
            <a:r>
              <a:rPr dirty="0" sz="1800" spc="-420">
                <a:latin typeface="Arial"/>
                <a:cs typeface="Arial"/>
              </a:rPr>
              <a:t>للَّ</a:t>
            </a:r>
            <a:r>
              <a:rPr dirty="0" baseline="12345" sz="2700" spc="-630">
                <a:latin typeface="Arial"/>
                <a:cs typeface="Arial"/>
              </a:rPr>
              <a:t>َّ </a:t>
            </a:r>
            <a:r>
              <a:rPr dirty="0" sz="1800">
                <a:latin typeface="Arial"/>
                <a:cs typeface="Arial"/>
              </a:rPr>
              <a:t>ٱ </a:t>
            </a:r>
            <a:r>
              <a:rPr dirty="0" sz="1800" spc="-455">
                <a:latin typeface="Arial"/>
                <a:cs typeface="Arial"/>
              </a:rPr>
              <a:t>ك</a:t>
            </a:r>
            <a:r>
              <a:rPr dirty="0" baseline="-3086" sz="2700" spc="-682">
                <a:latin typeface="Arial"/>
                <a:cs typeface="Arial"/>
              </a:rPr>
              <a:t>َ </a:t>
            </a:r>
            <a:r>
              <a:rPr dirty="0" baseline="-1543" sz="2700" spc="-367">
                <a:latin typeface="Arial"/>
                <a:cs typeface="Arial"/>
              </a:rPr>
              <a:t>ِ</a:t>
            </a:r>
            <a:r>
              <a:rPr dirty="0" sz="1800" spc="-245">
                <a:latin typeface="Arial"/>
                <a:cs typeface="Arial"/>
              </a:rPr>
              <a:t>لذ</a:t>
            </a:r>
            <a:r>
              <a:rPr dirty="0" baseline="10802" sz="2700" spc="-367">
                <a:latin typeface="Arial"/>
                <a:cs typeface="Arial"/>
              </a:rPr>
              <a:t>َ </a:t>
            </a:r>
            <a:r>
              <a:rPr dirty="0" sz="1800" spc="-480">
                <a:latin typeface="Arial"/>
                <a:cs typeface="Arial"/>
              </a:rPr>
              <a:t>ك</a:t>
            </a:r>
            <a:r>
              <a:rPr dirty="0" baseline="4629" sz="2700" spc="-719">
                <a:latin typeface="Arial"/>
                <a:cs typeface="Arial"/>
              </a:rPr>
              <a:t>َ </a:t>
            </a:r>
            <a:r>
              <a:rPr dirty="0" sz="1800" spc="-409">
                <a:latin typeface="Arial"/>
                <a:cs typeface="Arial"/>
              </a:rPr>
              <a:t>ل</a:t>
            </a:r>
            <a:r>
              <a:rPr dirty="0" baseline="-3086" sz="2700" spc="-615">
                <a:latin typeface="Arial"/>
                <a:cs typeface="Arial"/>
              </a:rPr>
              <a:t>َ </a:t>
            </a:r>
            <a:r>
              <a:rPr dirty="0" sz="1800" spc="-325">
                <a:latin typeface="Arial"/>
                <a:cs typeface="Arial"/>
              </a:rPr>
              <a:t>اق</a:t>
            </a:r>
            <a:r>
              <a:rPr dirty="0" baseline="4629" sz="2700" spc="-487">
                <a:latin typeface="Arial"/>
                <a:cs typeface="Arial"/>
              </a:rPr>
              <a:t>َ </a:t>
            </a:r>
            <a:r>
              <a:rPr dirty="0" sz="1800" spc="-350">
                <a:latin typeface="Arial"/>
                <a:cs typeface="Arial"/>
              </a:rPr>
              <a:t>ر</a:t>
            </a:r>
            <a:r>
              <a:rPr dirty="0" baseline="1543" sz="2700" spc="-525">
                <a:latin typeface="Arial"/>
                <a:cs typeface="Arial"/>
              </a:rPr>
              <a:t>ٌ </a:t>
            </a:r>
            <a:r>
              <a:rPr dirty="0" sz="1800" spc="-520">
                <a:latin typeface="Arial"/>
                <a:cs typeface="Arial"/>
              </a:rPr>
              <a:t>ق</a:t>
            </a:r>
            <a:r>
              <a:rPr dirty="0" baseline="-1543" sz="2700" spc="-780">
                <a:latin typeface="Arial"/>
                <a:cs typeface="Arial"/>
              </a:rPr>
              <a:t>ِ</a:t>
            </a:r>
            <a:r>
              <a:rPr dirty="0" baseline="-1543" sz="2700" spc="-22">
                <a:latin typeface="Arial"/>
                <a:cs typeface="Arial"/>
              </a:rPr>
              <a:t> </a:t>
            </a:r>
            <a:r>
              <a:rPr dirty="0" sz="1800" spc="-260">
                <a:latin typeface="Arial"/>
                <a:cs typeface="Arial"/>
              </a:rPr>
              <a:t>اع</a:t>
            </a:r>
            <a:r>
              <a:rPr dirty="0" baseline="-3086" sz="2700" spc="-390">
                <a:latin typeface="Arial"/>
                <a:cs typeface="Arial"/>
              </a:rPr>
              <a:t>َ </a:t>
            </a:r>
            <a:r>
              <a:rPr dirty="0" sz="1800" spc="-425">
                <a:latin typeface="Arial"/>
                <a:cs typeface="Arial"/>
              </a:rPr>
              <a:t>ًت</a:t>
            </a:r>
            <a:r>
              <a:rPr dirty="0" baseline="-1543" sz="2700" spc="-637">
                <a:latin typeface="Arial"/>
                <a:cs typeface="Arial"/>
              </a:rPr>
              <a:t>ِ </a:t>
            </a:r>
            <a:r>
              <a:rPr dirty="0" baseline="13888" sz="2700" spc="-247">
                <a:latin typeface="Arial"/>
                <a:cs typeface="Arial"/>
              </a:rPr>
              <a:t>َ</a:t>
            </a:r>
            <a:r>
              <a:rPr dirty="0" sz="1800" spc="-165">
                <a:latin typeface="Arial"/>
                <a:cs typeface="Arial"/>
              </a:rPr>
              <a:t>أر</a:t>
            </a:r>
            <a:r>
              <a:rPr dirty="0" baseline="-3086" sz="2700" spc="-247">
                <a:latin typeface="Arial"/>
                <a:cs typeface="Arial"/>
              </a:rPr>
              <a:t>َ </a:t>
            </a:r>
            <a:r>
              <a:rPr dirty="0" sz="1800" spc="-215">
                <a:latin typeface="Arial"/>
                <a:cs typeface="Arial"/>
              </a:rPr>
              <a:t>مْ </a:t>
            </a:r>
            <a:r>
              <a:rPr dirty="0" sz="1800" spc="-140">
                <a:latin typeface="Arial"/>
                <a:cs typeface="Arial"/>
              </a:rPr>
              <a:t>ٱو</a:t>
            </a:r>
            <a:r>
              <a:rPr dirty="0" baseline="-3086" sz="2700" spc="-209">
                <a:latin typeface="Arial"/>
                <a:cs typeface="Arial"/>
              </a:rPr>
              <a:t>َ </a:t>
            </a:r>
            <a:r>
              <a:rPr dirty="0" sz="1800" spc="-350">
                <a:latin typeface="Arial"/>
                <a:cs typeface="Arial"/>
              </a:rPr>
              <a:t>رُ </a:t>
            </a:r>
            <a:r>
              <a:rPr dirty="0" sz="1800" spc="-605">
                <a:latin typeface="Arial"/>
                <a:cs typeface="Arial"/>
              </a:rPr>
              <a:t>ب</a:t>
            </a:r>
            <a:r>
              <a:rPr dirty="0" baseline="-3086" sz="2700" spc="-907">
                <a:latin typeface="Arial"/>
                <a:cs typeface="Arial"/>
              </a:rPr>
              <a:t>َ</a:t>
            </a:r>
            <a:r>
              <a:rPr dirty="0" baseline="-3086" sz="2700" spc="-209">
                <a:latin typeface="Arial"/>
                <a:cs typeface="Arial"/>
              </a:rPr>
              <a:t> </a:t>
            </a:r>
            <a:r>
              <a:rPr dirty="0" sz="1800" spc="-484">
                <a:latin typeface="Arial"/>
                <a:cs typeface="Arial"/>
              </a:rPr>
              <a:t>ك</a:t>
            </a:r>
            <a:r>
              <a:rPr dirty="0" baseline="-1543" sz="2700" spc="-727">
                <a:latin typeface="Arial"/>
                <a:cs typeface="Arial"/>
              </a:rPr>
              <a:t>ِ </a:t>
            </a:r>
            <a:r>
              <a:rPr dirty="0" sz="1800" spc="-434">
                <a:latin typeface="Arial"/>
                <a:cs typeface="Arial"/>
              </a:rPr>
              <a:t>ل</a:t>
            </a:r>
            <a:r>
              <a:rPr dirty="0" baseline="10802" sz="2700" spc="-652">
                <a:latin typeface="Arial"/>
                <a:cs typeface="Arial"/>
              </a:rPr>
              <a:t>ْ </a:t>
            </a:r>
            <a:r>
              <a:rPr dirty="0" sz="1800">
                <a:latin typeface="Arial"/>
                <a:cs typeface="Arial"/>
              </a:rPr>
              <a:t>ٱ </a:t>
            </a:r>
            <a:r>
              <a:rPr dirty="0" sz="1800" spc="-315">
                <a:latin typeface="Arial"/>
                <a:cs typeface="Arial"/>
              </a:rPr>
              <a:t>ًن</a:t>
            </a:r>
            <a:r>
              <a:rPr dirty="0" baseline="-1543" sz="2700" spc="-472">
                <a:latin typeface="Arial"/>
                <a:cs typeface="Arial"/>
              </a:rPr>
              <a:t>ِ </a:t>
            </a:r>
            <a:r>
              <a:rPr dirty="0" sz="1800" spc="-484">
                <a:latin typeface="Arial"/>
                <a:cs typeface="Arial"/>
              </a:rPr>
              <a:t>ؽ</a:t>
            </a:r>
            <a:r>
              <a:rPr dirty="0" baseline="1543" sz="2700" spc="-727">
                <a:latin typeface="Arial"/>
                <a:cs typeface="Arial"/>
              </a:rPr>
              <a:t>َ </a:t>
            </a:r>
            <a:r>
              <a:rPr dirty="0" baseline="7716" sz="2700" spc="-652">
                <a:latin typeface="Arial"/>
                <a:cs typeface="Arial"/>
              </a:rPr>
              <a:t>َ</a:t>
            </a:r>
            <a:r>
              <a:rPr dirty="0" sz="1800" spc="-434">
                <a:latin typeface="Arial"/>
                <a:cs typeface="Arial"/>
              </a:rPr>
              <a:t>لب</a:t>
            </a:r>
            <a:r>
              <a:rPr dirty="0" baseline="-3086" sz="2700" spc="-652">
                <a:latin typeface="Arial"/>
                <a:cs typeface="Arial"/>
              </a:rPr>
              <a:t>َ </a:t>
            </a:r>
            <a:r>
              <a:rPr dirty="0" sz="1800" spc="-200">
                <a:latin typeface="Arial"/>
                <a:cs typeface="Arial"/>
              </a:rPr>
              <a:t>د</a:t>
            </a:r>
            <a:r>
              <a:rPr dirty="0" baseline="3086" sz="2700" spc="-300">
                <a:latin typeface="Arial"/>
                <a:cs typeface="Arial"/>
              </a:rPr>
              <a:t>ْ </a:t>
            </a:r>
            <a:r>
              <a:rPr dirty="0" sz="1800" spc="-505">
                <a:latin typeface="Arial"/>
                <a:cs typeface="Arial"/>
              </a:rPr>
              <a:t>ق</a:t>
            </a:r>
            <a:r>
              <a:rPr dirty="0" baseline="4629" sz="2700" spc="-757">
                <a:latin typeface="Arial"/>
                <a:cs typeface="Arial"/>
              </a:rPr>
              <a:t>َ</a:t>
            </a:r>
            <a:r>
              <a:rPr dirty="0" baseline="4629" sz="2700" spc="-82">
                <a:latin typeface="Arial"/>
                <a:cs typeface="Arial"/>
              </a:rPr>
              <a:t> </a:t>
            </a:r>
            <a:r>
              <a:rPr dirty="0" sz="1800" spc="-204">
                <a:latin typeface="Arial"/>
                <a:cs typeface="Arial"/>
              </a:rPr>
              <a:t>و</a:t>
            </a:r>
            <a:r>
              <a:rPr dirty="0" baseline="-3086" sz="2700" spc="-307">
                <a:latin typeface="Arial"/>
                <a:cs typeface="Arial"/>
              </a:rPr>
              <a:t>َ </a:t>
            </a:r>
            <a:r>
              <a:rPr dirty="0" sz="1800" spc="-285">
                <a:latin typeface="Arial"/>
                <a:cs typeface="Arial"/>
              </a:rPr>
              <a:t>م</a:t>
            </a:r>
            <a:r>
              <a:rPr dirty="0" baseline="-4629" sz="2700" spc="-427">
                <a:latin typeface="Arial"/>
                <a:cs typeface="Arial"/>
              </a:rPr>
              <a:t>ٌ </a:t>
            </a:r>
            <a:r>
              <a:rPr dirty="0" baseline="6172" sz="2700" spc="-465">
                <a:latin typeface="Arial"/>
                <a:cs typeface="Arial"/>
              </a:rPr>
              <a:t>َ</a:t>
            </a:r>
            <a:r>
              <a:rPr dirty="0" sz="1800" spc="-310">
                <a:latin typeface="Arial"/>
                <a:cs typeface="Arial"/>
              </a:rPr>
              <a:t>لاؼ</a:t>
            </a:r>
            <a:r>
              <a:rPr dirty="0" baseline="4629" sz="2700" spc="-465">
                <a:latin typeface="Arial"/>
                <a:cs typeface="Arial"/>
              </a:rPr>
              <a:t>ُ </a:t>
            </a:r>
            <a:r>
              <a:rPr dirty="0" sz="1800" spc="-305">
                <a:latin typeface="Arial"/>
                <a:cs typeface="Arial"/>
              </a:rPr>
              <a:t>ًل</a:t>
            </a:r>
            <a:r>
              <a:rPr dirty="0" baseline="-1543" sz="2700" spc="-457">
                <a:latin typeface="Arial"/>
                <a:cs typeface="Arial"/>
              </a:rPr>
              <a:t>ِ  </a:t>
            </a:r>
            <a:r>
              <a:rPr dirty="0" sz="1800" spc="-355">
                <a:latin typeface="Arial"/>
                <a:cs typeface="Arial"/>
              </a:rPr>
              <a:t>نُ </a:t>
            </a:r>
            <a:r>
              <a:rPr dirty="0" sz="1800" spc="-335">
                <a:latin typeface="Arial"/>
                <a:cs typeface="Arial"/>
              </a:rPr>
              <a:t>وك</a:t>
            </a:r>
            <a:r>
              <a:rPr dirty="0" baseline="7716" sz="2700" spc="-502">
                <a:latin typeface="Arial"/>
                <a:cs typeface="Arial"/>
              </a:rPr>
              <a:t>ُ </a:t>
            </a:r>
            <a:r>
              <a:rPr dirty="0" sz="1800">
                <a:latin typeface="Arial"/>
                <a:cs typeface="Arial"/>
              </a:rPr>
              <a:t>ٌ</a:t>
            </a:r>
            <a:r>
              <a:rPr dirty="0" baseline="-3086" sz="2700">
                <a:latin typeface="Arial"/>
                <a:cs typeface="Arial"/>
              </a:rPr>
              <a:t>َ </a:t>
            </a:r>
            <a:r>
              <a:rPr dirty="0" sz="1800" spc="-355">
                <a:latin typeface="Arial"/>
                <a:cs typeface="Arial"/>
              </a:rPr>
              <a:t>ى</a:t>
            </a:r>
            <a:r>
              <a:rPr dirty="0" baseline="4629" sz="2700" spc="-532">
                <a:latin typeface="Arial"/>
                <a:cs typeface="Arial"/>
              </a:rPr>
              <a:t>ٰ </a:t>
            </a:r>
            <a:r>
              <a:rPr dirty="0" sz="1800" spc="-295">
                <a:latin typeface="Arial"/>
                <a:cs typeface="Arial"/>
              </a:rPr>
              <a:t>ن</a:t>
            </a:r>
            <a:r>
              <a:rPr dirty="0" baseline="7716" sz="2700" spc="-442">
                <a:latin typeface="Arial"/>
                <a:cs typeface="Arial"/>
              </a:rPr>
              <a:t>َّ </a:t>
            </a:r>
            <a:r>
              <a:rPr dirty="0" baseline="13888" sz="2700">
                <a:latin typeface="Arial"/>
                <a:cs typeface="Arial"/>
              </a:rPr>
              <a:t>َ</a:t>
            </a:r>
            <a:r>
              <a:rPr dirty="0" sz="1800">
                <a:latin typeface="Arial"/>
                <a:cs typeface="Arial"/>
              </a:rPr>
              <a:t>أ </a:t>
            </a:r>
            <a:r>
              <a:rPr dirty="0" sz="1800" spc="-350">
                <a:latin typeface="Arial"/>
                <a:cs typeface="Arial"/>
              </a:rPr>
              <a:t>بِّ </a:t>
            </a:r>
            <a:r>
              <a:rPr dirty="0" sz="1800" spc="-330">
                <a:latin typeface="Arial"/>
                <a:cs typeface="Arial"/>
              </a:rPr>
              <a:t>ر</a:t>
            </a:r>
            <a:r>
              <a:rPr dirty="0" baseline="-3086" sz="2700" spc="-494">
                <a:latin typeface="Arial"/>
                <a:cs typeface="Arial"/>
              </a:rPr>
              <a:t>َ </a:t>
            </a:r>
            <a:r>
              <a:rPr dirty="0" sz="1800" spc="-409">
                <a:latin typeface="Arial"/>
                <a:cs typeface="Arial"/>
              </a:rPr>
              <a:t>ل</a:t>
            </a:r>
            <a:r>
              <a:rPr dirty="0" baseline="-3086" sz="2700" spc="-615">
                <a:latin typeface="Arial"/>
                <a:cs typeface="Arial"/>
              </a:rPr>
              <a:t>َ</a:t>
            </a:r>
            <a:r>
              <a:rPr dirty="0" baseline="-3086" sz="2700" spc="-532">
                <a:latin typeface="Arial"/>
                <a:cs typeface="Arial"/>
              </a:rPr>
              <a:t> </a:t>
            </a:r>
            <a:r>
              <a:rPr dirty="0" sz="1800" spc="-484">
                <a:latin typeface="Arial"/>
                <a:cs typeface="Arial"/>
              </a:rPr>
              <a:t>اق</a:t>
            </a:r>
            <a:endParaRPr sz="1800">
              <a:latin typeface="Arial"/>
              <a:cs typeface="Arial"/>
            </a:endParaRPr>
          </a:p>
          <a:p>
            <a:pPr algn="just" marL="139700" marR="165100">
              <a:lnSpc>
                <a:spcPts val="1380"/>
              </a:lnSpc>
              <a:spcBef>
                <a:spcPts val="1415"/>
              </a:spcBef>
              <a:buAutoNum type="arabicPeriod" startAt="40"/>
              <a:tabLst>
                <a:tab pos="407670" algn="l"/>
              </a:tabLst>
            </a:pPr>
            <a:r>
              <a:rPr dirty="0" sz="1200" spc="-5">
                <a:latin typeface="Arial"/>
                <a:cs typeface="Arial"/>
              </a:rPr>
              <a:t>He said: My Lord! How can </a:t>
            </a:r>
            <a:r>
              <a:rPr dirty="0" sz="1200">
                <a:latin typeface="Arial"/>
                <a:cs typeface="Arial"/>
              </a:rPr>
              <a:t>I </a:t>
            </a:r>
            <a:r>
              <a:rPr dirty="0" sz="1200" spc="-5">
                <a:latin typeface="Arial"/>
                <a:cs typeface="Arial"/>
              </a:rPr>
              <a:t>have a son when age hath overtaken me already and </a:t>
            </a:r>
            <a:r>
              <a:rPr dirty="0" sz="1200">
                <a:latin typeface="Arial"/>
                <a:cs typeface="Arial"/>
              </a:rPr>
              <a:t>my  </a:t>
            </a:r>
            <a:r>
              <a:rPr dirty="0" sz="1200" spc="-5">
                <a:latin typeface="Arial"/>
                <a:cs typeface="Arial"/>
              </a:rPr>
              <a:t>wife is barren? </a:t>
            </a:r>
            <a:r>
              <a:rPr dirty="0" sz="1200">
                <a:latin typeface="Arial"/>
                <a:cs typeface="Arial"/>
              </a:rPr>
              <a:t>(The </a:t>
            </a:r>
            <a:r>
              <a:rPr dirty="0" sz="1200" spc="-5">
                <a:latin typeface="Arial"/>
                <a:cs typeface="Arial"/>
              </a:rPr>
              <a:t>angel) answered: So </a:t>
            </a:r>
            <a:r>
              <a:rPr dirty="0" sz="1200">
                <a:latin typeface="Arial"/>
                <a:cs typeface="Arial"/>
              </a:rPr>
              <a:t>(it </a:t>
            </a:r>
            <a:r>
              <a:rPr dirty="0" sz="1200" spc="-10">
                <a:latin typeface="Arial"/>
                <a:cs typeface="Arial"/>
              </a:rPr>
              <a:t>will </a:t>
            </a:r>
            <a:r>
              <a:rPr dirty="0" sz="1200">
                <a:latin typeface="Arial"/>
                <a:cs typeface="Arial"/>
              </a:rPr>
              <a:t>be). </a:t>
            </a:r>
            <a:r>
              <a:rPr dirty="0" sz="1200" spc="-5">
                <a:latin typeface="Arial"/>
                <a:cs typeface="Arial"/>
              </a:rPr>
              <a:t>Allah doeth </a:t>
            </a:r>
            <a:r>
              <a:rPr dirty="0" sz="1200" spc="-10">
                <a:latin typeface="Arial"/>
                <a:cs typeface="Arial"/>
              </a:rPr>
              <a:t>what </a:t>
            </a:r>
            <a:r>
              <a:rPr dirty="0" sz="1200" spc="-5">
                <a:latin typeface="Arial"/>
                <a:cs typeface="Arial"/>
              </a:rPr>
              <a:t>He</a:t>
            </a:r>
            <a:r>
              <a:rPr dirty="0" sz="1200" spc="95">
                <a:latin typeface="Arial"/>
                <a:cs typeface="Arial"/>
              </a:rPr>
              <a:t> </a:t>
            </a:r>
            <a:r>
              <a:rPr dirty="0" sz="1200" spc="-5">
                <a:latin typeface="Arial"/>
                <a:cs typeface="Arial"/>
              </a:rPr>
              <a:t>wills.</a:t>
            </a:r>
            <a:endParaRPr sz="1200">
              <a:latin typeface="Arial"/>
              <a:cs typeface="Arial"/>
            </a:endParaRPr>
          </a:p>
          <a:p>
            <a:pPr>
              <a:lnSpc>
                <a:spcPct val="100000"/>
              </a:lnSpc>
              <a:spcBef>
                <a:spcPts val="20"/>
              </a:spcBef>
            </a:pPr>
            <a:endParaRPr sz="1150">
              <a:latin typeface="Arial"/>
              <a:cs typeface="Arial"/>
            </a:endParaRPr>
          </a:p>
          <a:p>
            <a:pPr algn="r" marR="212725">
              <a:lnSpc>
                <a:spcPts val="2120"/>
              </a:lnSpc>
            </a:pPr>
            <a:r>
              <a:rPr dirty="0" baseline="3086" sz="2700" spc="-592">
                <a:latin typeface="Arial"/>
                <a:cs typeface="Arial"/>
              </a:rPr>
              <a:t>حْ       </a:t>
            </a:r>
            <a:r>
              <a:rPr dirty="0" baseline="3086" sz="2700" spc="-607">
                <a:latin typeface="Arial"/>
                <a:cs typeface="Arial"/>
              </a:rPr>
              <a:t>بِّ    </a:t>
            </a:r>
            <a:r>
              <a:rPr dirty="0" baseline="3086" sz="2700" spc="-982">
                <a:latin typeface="Arial"/>
                <a:cs typeface="Arial"/>
              </a:rPr>
              <a:t>س</a:t>
            </a:r>
            <a:r>
              <a:rPr dirty="0" sz="1800" spc="-655">
                <a:latin typeface="Arial"/>
                <a:cs typeface="Arial"/>
              </a:rPr>
              <a:t>َ</a:t>
            </a:r>
            <a:r>
              <a:rPr dirty="0" sz="1800" spc="280">
                <a:latin typeface="Arial"/>
                <a:cs typeface="Arial"/>
              </a:rPr>
              <a:t> </a:t>
            </a:r>
            <a:r>
              <a:rPr dirty="0" baseline="3086" sz="2700" spc="-315">
                <a:latin typeface="Arial"/>
                <a:cs typeface="Arial"/>
              </a:rPr>
              <a:t>و</a:t>
            </a:r>
            <a:r>
              <a:rPr dirty="0" sz="1800" spc="-210">
                <a:latin typeface="Arial"/>
                <a:cs typeface="Arial"/>
              </a:rPr>
              <a:t>َ   </a:t>
            </a:r>
            <a:r>
              <a:rPr dirty="0" baseline="12345" sz="2700" spc="-330">
                <a:latin typeface="Arial"/>
                <a:cs typeface="Arial"/>
              </a:rPr>
              <a:t>ً</a:t>
            </a:r>
            <a:r>
              <a:rPr dirty="0" baseline="3086" sz="2700" spc="-330">
                <a:latin typeface="Arial"/>
                <a:cs typeface="Arial"/>
              </a:rPr>
              <a:t>ارٌث</a:t>
            </a:r>
            <a:r>
              <a:rPr dirty="0" baseline="1543" sz="2700" spc="-330">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682">
                <a:latin typeface="Arial"/>
                <a:cs typeface="Arial"/>
              </a:rPr>
              <a:t>ك</a:t>
            </a:r>
            <a:r>
              <a:rPr dirty="0" sz="1800" spc="-455">
                <a:latin typeface="Arial"/>
                <a:cs typeface="Arial"/>
              </a:rPr>
              <a:t>َ                    </a:t>
            </a:r>
            <a:r>
              <a:rPr dirty="0" baseline="3086" sz="2700" spc="-607">
                <a:latin typeface="Arial"/>
                <a:cs typeface="Arial"/>
              </a:rPr>
              <a:t>بَّ    </a:t>
            </a:r>
            <a:r>
              <a:rPr dirty="0" baseline="3086" sz="2700" spc="-345">
                <a:latin typeface="Arial"/>
                <a:cs typeface="Arial"/>
              </a:rPr>
              <a:t>رَّ    </a:t>
            </a:r>
            <a:r>
              <a:rPr dirty="0" baseline="3086" sz="2700" spc="-509">
                <a:latin typeface="Arial"/>
                <a:cs typeface="Arial"/>
              </a:rPr>
              <a:t>رك</a:t>
            </a:r>
            <a:r>
              <a:rPr dirty="0" baseline="10802" sz="2700" spc="-509">
                <a:latin typeface="Arial"/>
                <a:cs typeface="Arial"/>
              </a:rPr>
              <a:t>ُ    </a:t>
            </a:r>
            <a:r>
              <a:rPr dirty="0" baseline="3086" sz="2700" spc="-284">
                <a:latin typeface="Arial"/>
                <a:cs typeface="Arial"/>
              </a:rPr>
              <a:t>ذ</a:t>
            </a:r>
            <a:r>
              <a:rPr dirty="0" baseline="16975" sz="2700" spc="-284">
                <a:latin typeface="Arial"/>
                <a:cs typeface="Arial"/>
              </a:rPr>
              <a:t>ْ </a:t>
            </a:r>
            <a:r>
              <a:rPr dirty="0" baseline="3086" sz="2700" spc="-209">
                <a:latin typeface="Arial"/>
                <a:cs typeface="Arial"/>
              </a:rPr>
              <a:t>ٱو</a:t>
            </a:r>
            <a:r>
              <a:rPr dirty="0" sz="1800" spc="-140">
                <a:latin typeface="Arial"/>
                <a:cs typeface="Arial"/>
              </a:rPr>
              <a:t>َ   </a:t>
            </a:r>
            <a:r>
              <a:rPr dirty="0" baseline="12345" sz="2700" spc="-135">
                <a:latin typeface="Arial"/>
                <a:cs typeface="Arial"/>
              </a:rPr>
              <a:t>ً</a:t>
            </a:r>
            <a:r>
              <a:rPr dirty="0" baseline="3086" sz="2700" spc="-135">
                <a:latin typeface="Arial"/>
                <a:cs typeface="Arial"/>
              </a:rPr>
              <a:t>ازمْ </a:t>
            </a:r>
            <a:r>
              <a:rPr dirty="0" baseline="3086" sz="2700" spc="-494">
                <a:latin typeface="Arial"/>
                <a:cs typeface="Arial"/>
              </a:rPr>
              <a:t>ر</a:t>
            </a:r>
            <a:r>
              <a:rPr dirty="0" sz="1800" spc="-330">
                <a:latin typeface="Arial"/>
                <a:cs typeface="Arial"/>
              </a:rPr>
              <a:t>َ       </a:t>
            </a:r>
            <a:r>
              <a:rPr dirty="0" baseline="12345" sz="2700" spc="-89">
                <a:latin typeface="Arial"/>
                <a:cs typeface="Arial"/>
              </a:rPr>
              <a:t>َّ</a:t>
            </a:r>
            <a:r>
              <a:rPr dirty="0" baseline="3086" sz="2700" spc="-89">
                <a:latin typeface="Arial"/>
                <a:cs typeface="Arial"/>
              </a:rPr>
              <a:t>لا</a:t>
            </a:r>
            <a:r>
              <a:rPr dirty="0" baseline="-10802" sz="2700" spc="-89">
                <a:latin typeface="Arial"/>
                <a:cs typeface="Arial"/>
              </a:rPr>
              <a:t>ِ</a:t>
            </a:r>
            <a:r>
              <a:rPr dirty="0" baseline="3086" sz="2700" spc="-89">
                <a:latin typeface="Arial"/>
                <a:cs typeface="Arial"/>
              </a:rPr>
              <a:t>إ </a:t>
            </a:r>
            <a:r>
              <a:rPr dirty="0" baseline="3086" sz="2700" spc="-322">
                <a:latin typeface="Arial"/>
                <a:cs typeface="Arial"/>
              </a:rPr>
              <a:t>م</a:t>
            </a:r>
            <a:r>
              <a:rPr dirty="0" baseline="-12345" sz="2700" spc="-322">
                <a:latin typeface="Arial"/>
                <a:cs typeface="Arial"/>
              </a:rPr>
              <a:t>ٍ  </a:t>
            </a:r>
            <a:r>
              <a:rPr dirty="0" baseline="3086" sz="2700" spc="7">
                <a:latin typeface="Arial"/>
                <a:cs typeface="Arial"/>
              </a:rPr>
              <a:t>اٌَّ </a:t>
            </a:r>
            <a:r>
              <a:rPr dirty="0" baseline="16975" sz="2700">
                <a:latin typeface="Arial"/>
                <a:cs typeface="Arial"/>
              </a:rPr>
              <a:t>َ</a:t>
            </a:r>
            <a:r>
              <a:rPr dirty="0" baseline="3086" sz="2700">
                <a:latin typeface="Arial"/>
                <a:cs typeface="Arial"/>
              </a:rPr>
              <a:t>أ </a:t>
            </a:r>
            <a:r>
              <a:rPr dirty="0" baseline="3086" sz="2700" spc="-284">
                <a:latin typeface="Arial"/>
                <a:cs typeface="Arial"/>
              </a:rPr>
              <a:t>ة</a:t>
            </a:r>
            <a:r>
              <a:rPr dirty="0" baseline="10802" sz="2700" spc="-284">
                <a:latin typeface="Arial"/>
                <a:cs typeface="Arial"/>
              </a:rPr>
              <a:t>َ  </a:t>
            </a:r>
            <a:r>
              <a:rPr dirty="0" baseline="3086" sz="2700" spc="-892">
                <a:latin typeface="Arial"/>
                <a:cs typeface="Arial"/>
              </a:rPr>
              <a:t>ث</a:t>
            </a:r>
            <a:r>
              <a:rPr dirty="0" baseline="13888" sz="2700" spc="-892">
                <a:latin typeface="Arial"/>
                <a:cs typeface="Arial"/>
              </a:rPr>
              <a:t>َ</a:t>
            </a:r>
            <a:r>
              <a:rPr dirty="0" baseline="13888" sz="2700" spc="-240">
                <a:latin typeface="Arial"/>
                <a:cs typeface="Arial"/>
              </a:rPr>
              <a:t> </a:t>
            </a:r>
            <a:r>
              <a:rPr dirty="0" baseline="9259" sz="2700" spc="-419">
                <a:latin typeface="Arial"/>
                <a:cs typeface="Arial"/>
              </a:rPr>
              <a:t>َ</a:t>
            </a:r>
            <a:r>
              <a:rPr dirty="0" baseline="3086" sz="2700" spc="-419">
                <a:latin typeface="Arial"/>
                <a:cs typeface="Arial"/>
              </a:rPr>
              <a:t>لاث</a:t>
            </a:r>
            <a:r>
              <a:rPr dirty="0" baseline="13888" sz="2700" spc="-419">
                <a:latin typeface="Arial"/>
                <a:cs typeface="Arial"/>
              </a:rPr>
              <a:t>َ    </a:t>
            </a:r>
            <a:r>
              <a:rPr dirty="0" baseline="3086" sz="2700" spc="-877">
                <a:latin typeface="Arial"/>
                <a:cs typeface="Arial"/>
              </a:rPr>
              <a:t>س</a:t>
            </a:r>
            <a:r>
              <a:rPr dirty="0" sz="1800" spc="-585">
                <a:latin typeface="Arial"/>
                <a:cs typeface="Arial"/>
              </a:rPr>
              <a:t>َ</a:t>
            </a:r>
            <a:r>
              <a:rPr dirty="0" sz="1800" spc="675">
                <a:latin typeface="Arial"/>
                <a:cs typeface="Arial"/>
              </a:rPr>
              <a:t> </a:t>
            </a:r>
            <a:r>
              <a:rPr dirty="0" baseline="3086" sz="2700" spc="-322">
                <a:latin typeface="Arial"/>
                <a:cs typeface="Arial"/>
              </a:rPr>
              <a:t>ان</a:t>
            </a:r>
            <a:r>
              <a:rPr dirty="0" baseline="10802" sz="2700" spc="-322">
                <a:latin typeface="Arial"/>
                <a:cs typeface="Arial"/>
              </a:rPr>
              <a:t>َّ </a:t>
            </a:r>
            <a:r>
              <a:rPr dirty="0" baseline="3086" sz="2700" spc="-412">
                <a:latin typeface="Arial"/>
                <a:cs typeface="Arial"/>
              </a:rPr>
              <a:t>لٱ  </a:t>
            </a:r>
            <a:r>
              <a:rPr dirty="0" baseline="3086" sz="2700" spc="-397">
                <a:latin typeface="Arial"/>
                <a:cs typeface="Arial"/>
              </a:rPr>
              <a:t>م</a:t>
            </a:r>
            <a:r>
              <a:rPr dirty="0" baseline="-6172" sz="2700" spc="-397">
                <a:latin typeface="Arial"/>
                <a:cs typeface="Arial"/>
              </a:rPr>
              <a:t>َ  </a:t>
            </a:r>
            <a:r>
              <a:rPr dirty="0" baseline="13888" sz="2700" spc="-450">
                <a:latin typeface="Arial"/>
                <a:cs typeface="Arial"/>
              </a:rPr>
              <a:t>ِّ</a:t>
            </a:r>
            <a:r>
              <a:rPr dirty="0" baseline="3086" sz="2700" spc="-450">
                <a:latin typeface="Arial"/>
                <a:cs typeface="Arial"/>
              </a:rPr>
              <a:t>لك</a:t>
            </a:r>
            <a:r>
              <a:rPr dirty="0" baseline="7716" sz="2700" spc="-450">
                <a:latin typeface="Arial"/>
                <a:cs typeface="Arial"/>
              </a:rPr>
              <a:t>َ   </a:t>
            </a:r>
            <a:r>
              <a:rPr dirty="0" baseline="3086" sz="2700" spc="-930">
                <a:latin typeface="Arial"/>
                <a:cs typeface="Arial"/>
              </a:rPr>
              <a:t>ت</a:t>
            </a:r>
            <a:r>
              <a:rPr dirty="0" baseline="10802" sz="2700" spc="-930">
                <a:latin typeface="Arial"/>
                <a:cs typeface="Arial"/>
              </a:rPr>
              <a:t>ُ</a:t>
            </a:r>
            <a:r>
              <a:rPr dirty="0" baseline="10802" sz="2700" spc="540">
                <a:latin typeface="Arial"/>
                <a:cs typeface="Arial"/>
              </a:rPr>
              <a:t> </a:t>
            </a:r>
            <a:r>
              <a:rPr dirty="0" baseline="12345" sz="2700" spc="-89">
                <a:latin typeface="Arial"/>
                <a:cs typeface="Arial"/>
              </a:rPr>
              <a:t>َّ</a:t>
            </a:r>
            <a:r>
              <a:rPr dirty="0" baseline="3086" sz="2700" spc="-89">
                <a:latin typeface="Arial"/>
                <a:cs typeface="Arial"/>
              </a:rPr>
              <a:t>لا</a:t>
            </a:r>
            <a:r>
              <a:rPr dirty="0" baseline="16975" sz="2700" spc="-89">
                <a:latin typeface="Arial"/>
                <a:cs typeface="Arial"/>
              </a:rPr>
              <a:t>َ</a:t>
            </a:r>
            <a:r>
              <a:rPr dirty="0" baseline="3086" sz="2700" spc="-89">
                <a:latin typeface="Arial"/>
                <a:cs typeface="Arial"/>
              </a:rPr>
              <a:t>أ </a:t>
            </a:r>
            <a:r>
              <a:rPr dirty="0" baseline="3086" sz="2700" spc="-682">
                <a:latin typeface="Arial"/>
                <a:cs typeface="Arial"/>
              </a:rPr>
              <a:t>ك</a:t>
            </a:r>
            <a:r>
              <a:rPr dirty="0" sz="1800" spc="-455">
                <a:latin typeface="Arial"/>
                <a:cs typeface="Arial"/>
              </a:rPr>
              <a:t>َ                    </a:t>
            </a:r>
            <a:r>
              <a:rPr dirty="0" baseline="3086" sz="2700" spc="-930">
                <a:latin typeface="Arial"/>
                <a:cs typeface="Arial"/>
              </a:rPr>
              <a:t>ت</a:t>
            </a:r>
            <a:r>
              <a:rPr dirty="0" baseline="10802" sz="2700" spc="-930">
                <a:latin typeface="Arial"/>
                <a:cs typeface="Arial"/>
              </a:rPr>
              <a:t>ُ</a:t>
            </a:r>
            <a:r>
              <a:rPr dirty="0" baseline="10802" sz="2700" spc="-150">
                <a:latin typeface="Arial"/>
                <a:cs typeface="Arial"/>
              </a:rPr>
              <a:t> </a:t>
            </a:r>
            <a:r>
              <a:rPr dirty="0" baseline="3086" sz="2700">
                <a:latin typeface="Arial"/>
                <a:cs typeface="Arial"/>
              </a:rPr>
              <a:t>ٌ</a:t>
            </a:r>
            <a:r>
              <a:rPr dirty="0" sz="1800">
                <a:latin typeface="Arial"/>
                <a:cs typeface="Arial"/>
              </a:rPr>
              <a:t>َ </a:t>
            </a:r>
            <a:r>
              <a:rPr dirty="0" baseline="3086" sz="2700">
                <a:latin typeface="Arial"/>
                <a:cs typeface="Arial"/>
              </a:rPr>
              <a:t>آ </a:t>
            </a:r>
            <a:r>
              <a:rPr dirty="0" baseline="3086" sz="2700" spc="-615">
                <a:latin typeface="Arial"/>
                <a:cs typeface="Arial"/>
              </a:rPr>
              <a:t>ل</a:t>
            </a:r>
            <a:r>
              <a:rPr dirty="0" sz="1800" spc="-409">
                <a:latin typeface="Arial"/>
                <a:cs typeface="Arial"/>
              </a:rPr>
              <a:t>َ         </a:t>
            </a:r>
            <a:r>
              <a:rPr dirty="0" baseline="3086" sz="2700" spc="-487">
                <a:latin typeface="Arial"/>
                <a:cs typeface="Arial"/>
              </a:rPr>
              <a:t>اق</a:t>
            </a:r>
            <a:r>
              <a:rPr dirty="0" baseline="7716" sz="2700" spc="-487">
                <a:latin typeface="Arial"/>
                <a:cs typeface="Arial"/>
              </a:rPr>
              <a:t>َ     </a:t>
            </a:r>
            <a:r>
              <a:rPr dirty="0" baseline="3086" sz="2700" spc="-284">
                <a:latin typeface="Arial"/>
                <a:cs typeface="Arial"/>
              </a:rPr>
              <a:t>ة</a:t>
            </a:r>
            <a:r>
              <a:rPr dirty="0" baseline="15432" sz="2700" spc="-284">
                <a:latin typeface="Arial"/>
                <a:cs typeface="Arial"/>
              </a:rPr>
              <a:t>ً  </a:t>
            </a:r>
            <a:r>
              <a:rPr dirty="0" baseline="3086" sz="2700">
                <a:latin typeface="Arial"/>
                <a:cs typeface="Arial"/>
              </a:rPr>
              <a:t>ٌ</a:t>
            </a:r>
            <a:r>
              <a:rPr dirty="0" sz="1800">
                <a:latin typeface="Arial"/>
                <a:cs typeface="Arial"/>
              </a:rPr>
              <a:t>َ </a:t>
            </a:r>
            <a:r>
              <a:rPr dirty="0" baseline="3086" sz="2700">
                <a:latin typeface="Arial"/>
                <a:cs typeface="Arial"/>
              </a:rPr>
              <a:t>آ ً</a:t>
            </a:r>
            <a:r>
              <a:rPr dirty="0" baseline="9259" sz="2700">
                <a:latin typeface="Arial"/>
                <a:cs typeface="Arial"/>
              </a:rPr>
              <a:t>ۤ </a:t>
            </a:r>
            <a:r>
              <a:rPr dirty="0" baseline="13888" sz="2700" spc="-270">
                <a:latin typeface="Arial"/>
                <a:cs typeface="Arial"/>
              </a:rPr>
              <a:t>ِّ</a:t>
            </a:r>
            <a:r>
              <a:rPr dirty="0" baseline="3086" sz="2700" spc="-270">
                <a:latin typeface="Arial"/>
                <a:cs typeface="Arial"/>
              </a:rPr>
              <a:t>ل  </a:t>
            </a:r>
            <a:r>
              <a:rPr dirty="0" baseline="3086" sz="2700" spc="-577">
                <a:latin typeface="Arial"/>
                <a:cs typeface="Arial"/>
              </a:rPr>
              <a:t>لْ       </a:t>
            </a:r>
            <a:r>
              <a:rPr dirty="0" baseline="3086" sz="2700" spc="-600">
                <a:latin typeface="Arial"/>
                <a:cs typeface="Arial"/>
              </a:rPr>
              <a:t>ع</a:t>
            </a:r>
            <a:r>
              <a:rPr dirty="0" sz="1800" spc="-400">
                <a:latin typeface="Arial"/>
                <a:cs typeface="Arial"/>
              </a:rPr>
              <a:t>َ     </a:t>
            </a:r>
            <a:r>
              <a:rPr dirty="0" baseline="3086" sz="2700" spc="-555">
                <a:latin typeface="Arial"/>
                <a:cs typeface="Arial"/>
              </a:rPr>
              <a:t>جْ     </a:t>
            </a:r>
            <a:r>
              <a:rPr dirty="0" baseline="3086" sz="2700">
                <a:latin typeface="Arial"/>
                <a:cs typeface="Arial"/>
              </a:rPr>
              <a:t>ٱ </a:t>
            </a:r>
            <a:r>
              <a:rPr dirty="0" baseline="3086" sz="2700" spc="-525">
                <a:latin typeface="Arial"/>
                <a:cs typeface="Arial"/>
              </a:rPr>
              <a:t>بِّ       </a:t>
            </a:r>
            <a:r>
              <a:rPr dirty="0" baseline="3086" sz="2700" spc="-494">
                <a:latin typeface="Arial"/>
                <a:cs typeface="Arial"/>
              </a:rPr>
              <a:t>ر</a:t>
            </a:r>
            <a:r>
              <a:rPr dirty="0" sz="1800" spc="-330">
                <a:latin typeface="Arial"/>
                <a:cs typeface="Arial"/>
              </a:rPr>
              <a:t>َ       </a:t>
            </a:r>
            <a:r>
              <a:rPr dirty="0" baseline="3086" sz="2700" spc="-615">
                <a:latin typeface="Arial"/>
                <a:cs typeface="Arial"/>
              </a:rPr>
              <a:t>ل</a:t>
            </a:r>
            <a:r>
              <a:rPr dirty="0" sz="1800" spc="-409">
                <a:latin typeface="Arial"/>
                <a:cs typeface="Arial"/>
              </a:rPr>
              <a:t>َ  </a:t>
            </a:r>
            <a:r>
              <a:rPr dirty="0" sz="1800" spc="-360">
                <a:latin typeface="Arial"/>
                <a:cs typeface="Arial"/>
              </a:rPr>
              <a:t> </a:t>
            </a:r>
            <a:r>
              <a:rPr dirty="0" baseline="3086" sz="2700" spc="-727">
                <a:latin typeface="Arial"/>
                <a:cs typeface="Arial"/>
              </a:rPr>
              <a:t>اق</a:t>
            </a:r>
            <a:endParaRPr baseline="3086" sz="2700">
              <a:latin typeface="Arial"/>
              <a:cs typeface="Arial"/>
            </a:endParaRPr>
          </a:p>
          <a:p>
            <a:pPr algn="r" marR="212090">
              <a:lnSpc>
                <a:spcPts val="2120"/>
              </a:lnSpc>
            </a:pPr>
            <a:r>
              <a:rPr dirty="0" baseline="3086" sz="2700" spc="-457">
                <a:latin typeface="Arial"/>
                <a:cs typeface="Arial"/>
              </a:rPr>
              <a:t>ر</a:t>
            </a:r>
            <a:r>
              <a:rPr dirty="0" baseline="-10802" sz="2700" spc="-457">
                <a:latin typeface="Arial"/>
                <a:cs typeface="Arial"/>
              </a:rPr>
              <a:t>ِ   </a:t>
            </a:r>
            <a:r>
              <a:rPr dirty="0" baseline="3086" sz="2700" spc="-465">
                <a:latin typeface="Arial"/>
                <a:cs typeface="Arial"/>
              </a:rPr>
              <a:t>اك</a:t>
            </a:r>
            <a:r>
              <a:rPr dirty="0" baseline="7716" sz="2700" spc="-465">
                <a:latin typeface="Arial"/>
                <a:cs typeface="Arial"/>
              </a:rPr>
              <a:t>َ </a:t>
            </a:r>
            <a:r>
              <a:rPr dirty="0" baseline="7716" sz="2700" spc="-179">
                <a:latin typeface="Arial"/>
                <a:cs typeface="Arial"/>
              </a:rPr>
              <a:t> </a:t>
            </a:r>
            <a:r>
              <a:rPr dirty="0" baseline="3086" sz="2700" spc="-862">
                <a:latin typeface="Arial"/>
                <a:cs typeface="Arial"/>
              </a:rPr>
              <a:t>بْ</a:t>
            </a:r>
            <a:r>
              <a:rPr dirty="0" baseline="3086" sz="2700" spc="-315">
                <a:latin typeface="Arial"/>
                <a:cs typeface="Arial"/>
              </a:rPr>
              <a:t> </a:t>
            </a:r>
            <a:r>
              <a:rPr dirty="0" baseline="3086" sz="2700" spc="-644">
                <a:latin typeface="Arial"/>
                <a:cs typeface="Arial"/>
              </a:rPr>
              <a:t>لإ</a:t>
            </a:r>
            <a:r>
              <a:rPr dirty="0" baseline="-10802" sz="2700" spc="-644">
                <a:latin typeface="Arial"/>
                <a:cs typeface="Arial"/>
              </a:rPr>
              <a:t>ِ              </a:t>
            </a:r>
            <a:r>
              <a:rPr dirty="0" baseline="3086" sz="2700" spc="-209">
                <a:latin typeface="Arial"/>
                <a:cs typeface="Arial"/>
              </a:rPr>
              <a:t>ٱو</a:t>
            </a:r>
            <a:r>
              <a:rPr dirty="0" sz="1800" spc="-140">
                <a:latin typeface="Arial"/>
                <a:cs typeface="Arial"/>
              </a:rPr>
              <a:t>َ   </a:t>
            </a:r>
            <a:r>
              <a:rPr dirty="0" baseline="3086" sz="2700">
                <a:latin typeface="Arial"/>
                <a:cs typeface="Arial"/>
              </a:rPr>
              <a:t>ًِّ  </a:t>
            </a:r>
            <a:r>
              <a:rPr dirty="0" baseline="3086" sz="2700" spc="-937">
                <a:latin typeface="Arial"/>
                <a:cs typeface="Arial"/>
              </a:rPr>
              <a:t>ش</a:t>
            </a:r>
            <a:r>
              <a:rPr dirty="0" baseline="1543" sz="2700" spc="-937">
                <a:latin typeface="Arial"/>
                <a:cs typeface="Arial"/>
              </a:rPr>
              <a:t>ِ</a:t>
            </a:r>
            <a:r>
              <a:rPr dirty="0" baseline="1543" sz="2700" spc="315">
                <a:latin typeface="Arial"/>
                <a:cs typeface="Arial"/>
              </a:rPr>
              <a:t> </a:t>
            </a:r>
            <a:r>
              <a:rPr dirty="0" baseline="3086" sz="2700" spc="-600">
                <a:latin typeface="Arial"/>
                <a:cs typeface="Arial"/>
              </a:rPr>
              <a:t>ع</a:t>
            </a:r>
            <a:r>
              <a:rPr dirty="0" sz="1800" spc="-400">
                <a:latin typeface="Arial"/>
                <a:cs typeface="Arial"/>
              </a:rPr>
              <a:t>َ</a:t>
            </a:r>
            <a:r>
              <a:rPr dirty="0" sz="1800" spc="-33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937">
                <a:latin typeface="Arial"/>
                <a:cs typeface="Arial"/>
              </a:rPr>
              <a:t>ٲب</a:t>
            </a:r>
            <a:endParaRPr baseline="3086" sz="2700">
              <a:latin typeface="Arial"/>
              <a:cs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06185" cy="926465"/>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5080">
              <a:lnSpc>
                <a:spcPts val="1380"/>
              </a:lnSpc>
            </a:pPr>
            <a:r>
              <a:rPr dirty="0" sz="1200" spc="-5">
                <a:latin typeface="Arial"/>
                <a:cs typeface="Arial"/>
              </a:rPr>
              <a:t>41. </a:t>
            </a:r>
            <a:r>
              <a:rPr dirty="0" sz="1200" spc="-10">
                <a:latin typeface="Arial"/>
                <a:cs typeface="Arial"/>
              </a:rPr>
              <a:t>He </a:t>
            </a:r>
            <a:r>
              <a:rPr dirty="0" sz="1200" spc="-5">
                <a:latin typeface="Arial"/>
                <a:cs typeface="Arial"/>
              </a:rPr>
              <a:t>said: My Lord! Appoint a token </a:t>
            </a:r>
            <a:r>
              <a:rPr dirty="0" sz="1200">
                <a:latin typeface="Arial"/>
                <a:cs typeface="Arial"/>
              </a:rPr>
              <a:t>for </a:t>
            </a:r>
            <a:r>
              <a:rPr dirty="0" sz="1200" spc="-5">
                <a:latin typeface="Arial"/>
                <a:cs typeface="Arial"/>
              </a:rPr>
              <a:t>me. (The angel) said: </a:t>
            </a:r>
            <a:r>
              <a:rPr dirty="0" sz="1200">
                <a:latin typeface="Arial"/>
                <a:cs typeface="Arial"/>
              </a:rPr>
              <a:t>The </a:t>
            </a:r>
            <a:r>
              <a:rPr dirty="0" sz="1200" spc="-5">
                <a:latin typeface="Arial"/>
                <a:cs typeface="Arial"/>
              </a:rPr>
              <a:t>token unto thee (shall  be) </a:t>
            </a:r>
            <a:r>
              <a:rPr dirty="0" sz="1200">
                <a:latin typeface="Arial"/>
                <a:cs typeface="Arial"/>
              </a:rPr>
              <a:t>that </a:t>
            </a:r>
            <a:r>
              <a:rPr dirty="0" sz="1200" spc="-5">
                <a:latin typeface="Arial"/>
                <a:cs typeface="Arial"/>
              </a:rPr>
              <a:t>thou shalt not speak unto mankind three days except by </a:t>
            </a:r>
            <a:r>
              <a:rPr dirty="0" sz="1200">
                <a:latin typeface="Arial"/>
                <a:cs typeface="Arial"/>
              </a:rPr>
              <a:t>signs. </a:t>
            </a:r>
            <a:r>
              <a:rPr dirty="0" sz="1200" spc="-5">
                <a:latin typeface="Arial"/>
                <a:cs typeface="Arial"/>
              </a:rPr>
              <a:t>Remember </a:t>
            </a:r>
            <a:r>
              <a:rPr dirty="0" sz="1200">
                <a:latin typeface="Arial"/>
                <a:cs typeface="Arial"/>
              </a:rPr>
              <a:t>thy </a:t>
            </a:r>
            <a:r>
              <a:rPr dirty="0" sz="1200" spc="-10">
                <a:latin typeface="Arial"/>
                <a:cs typeface="Arial"/>
              </a:rPr>
              <a:t>Lord  </a:t>
            </a:r>
            <a:r>
              <a:rPr dirty="0" sz="1200" spc="-5">
                <a:latin typeface="Arial"/>
                <a:cs typeface="Arial"/>
              </a:rPr>
              <a:t>much, and praise (Him) in </a:t>
            </a:r>
            <a:r>
              <a:rPr dirty="0" sz="1200">
                <a:latin typeface="Arial"/>
                <a:cs typeface="Arial"/>
              </a:rPr>
              <a:t>the </a:t>
            </a:r>
            <a:r>
              <a:rPr dirty="0" sz="1200" spc="-5">
                <a:latin typeface="Arial"/>
                <a:cs typeface="Arial"/>
              </a:rPr>
              <a:t>early </a:t>
            </a:r>
            <a:r>
              <a:rPr dirty="0" sz="1200">
                <a:latin typeface="Arial"/>
                <a:cs typeface="Arial"/>
              </a:rPr>
              <a:t>hours </a:t>
            </a:r>
            <a:r>
              <a:rPr dirty="0" sz="1200" spc="-5">
                <a:latin typeface="Arial"/>
                <a:cs typeface="Arial"/>
              </a:rPr>
              <a:t>of night and</a:t>
            </a:r>
            <a:r>
              <a:rPr dirty="0" sz="1200" spc="35">
                <a:latin typeface="Arial"/>
                <a:cs typeface="Arial"/>
              </a:rPr>
              <a:t> </a:t>
            </a:r>
            <a:r>
              <a:rPr dirty="0" sz="1200" spc="-5">
                <a:latin typeface="Arial"/>
                <a:cs typeface="Arial"/>
              </a:rPr>
              <a:t>morning.</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668019" y="1508505"/>
            <a:ext cx="6424295" cy="2040889"/>
          </a:xfrm>
          <a:prstGeom prst="rect">
            <a:avLst/>
          </a:prstGeom>
        </p:spPr>
        <p:txBody>
          <a:bodyPr wrap="square" lIns="0" tIns="12700" rIns="0" bIns="0" rtlCol="0" vert="horz">
            <a:spAutoFit/>
          </a:bodyPr>
          <a:lstStyle/>
          <a:p>
            <a:pPr algn="r" marR="68580">
              <a:lnSpc>
                <a:spcPts val="2110"/>
              </a:lnSpc>
              <a:spcBef>
                <a:spcPts val="100"/>
              </a:spcBef>
            </a:pPr>
            <a:r>
              <a:rPr dirty="0" baseline="3086" sz="2700" spc="-705">
                <a:latin typeface="Arial"/>
                <a:cs typeface="Arial"/>
              </a:rPr>
              <a:t>ًف</a:t>
            </a:r>
            <a:r>
              <a:rPr dirty="0" baseline="1543" sz="2700" spc="-705">
                <a:latin typeface="Arial"/>
                <a:cs typeface="Arial"/>
              </a:rPr>
              <a:t>ِ                             </a:t>
            </a:r>
            <a:r>
              <a:rPr dirty="0" baseline="1543" sz="2700" spc="-660">
                <a:latin typeface="Arial"/>
                <a:cs typeface="Arial"/>
              </a:rPr>
              <a:t> </a:t>
            </a:r>
            <a:r>
              <a:rPr dirty="0" baseline="12345" sz="2700" spc="-187">
                <a:latin typeface="Arial"/>
                <a:cs typeface="Arial"/>
              </a:rPr>
              <a:t>ً</a:t>
            </a:r>
            <a:r>
              <a:rPr dirty="0" baseline="3086" sz="2700" spc="-187">
                <a:latin typeface="Arial"/>
                <a:cs typeface="Arial"/>
              </a:rPr>
              <a:t>اهٌج</a:t>
            </a:r>
            <a:r>
              <a:rPr dirty="0" baseline="-7716" sz="2700" spc="-187">
                <a:latin typeface="Arial"/>
                <a:cs typeface="Arial"/>
              </a:rPr>
              <a:t>ِ   </a:t>
            </a:r>
            <a:r>
              <a:rPr dirty="0" baseline="3086" sz="2700" spc="-307">
                <a:latin typeface="Arial"/>
                <a:cs typeface="Arial"/>
              </a:rPr>
              <a:t>و</a:t>
            </a:r>
            <a:r>
              <a:rPr dirty="0" sz="1800" spc="-204">
                <a:latin typeface="Arial"/>
                <a:cs typeface="Arial"/>
              </a:rPr>
              <a:t>َ   </a:t>
            </a:r>
            <a:r>
              <a:rPr dirty="0" baseline="3086" sz="2700" spc="-397">
                <a:latin typeface="Arial"/>
                <a:cs typeface="Arial"/>
              </a:rPr>
              <a:t>م</a:t>
            </a:r>
            <a:r>
              <a:rPr dirty="0" baseline="-6172" sz="2700" spc="-397">
                <a:latin typeface="Arial"/>
                <a:cs typeface="Arial"/>
              </a:rPr>
              <a:t>َ  </a:t>
            </a:r>
            <a:r>
              <a:rPr dirty="0" baseline="3086" sz="2700">
                <a:latin typeface="Arial"/>
                <a:cs typeface="Arial"/>
              </a:rPr>
              <a:t>ٌ</a:t>
            </a:r>
            <a:r>
              <a:rPr dirty="0" sz="1800">
                <a:latin typeface="Arial"/>
                <a:cs typeface="Arial"/>
              </a:rPr>
              <a:t>َ </a:t>
            </a:r>
            <a:r>
              <a:rPr dirty="0" baseline="3086" sz="2700" spc="-457">
                <a:latin typeface="Arial"/>
                <a:cs typeface="Arial"/>
              </a:rPr>
              <a:t>رْ   </a:t>
            </a:r>
            <a:r>
              <a:rPr dirty="0" baseline="3086" sz="2700" spc="-359">
                <a:latin typeface="Arial"/>
                <a:cs typeface="Arial"/>
              </a:rPr>
              <a:t>م</a:t>
            </a:r>
            <a:r>
              <a:rPr dirty="0" sz="1800" spc="-240">
                <a:latin typeface="Arial"/>
                <a:cs typeface="Arial"/>
              </a:rPr>
              <a:t>َ    </a:t>
            </a:r>
            <a:r>
              <a:rPr dirty="0" baseline="3086" sz="2700" spc="-532">
                <a:latin typeface="Arial"/>
                <a:cs typeface="Arial"/>
              </a:rPr>
              <a:t>نُ     </a:t>
            </a:r>
            <a:r>
              <a:rPr dirty="0" baseline="3086" sz="2700" spc="-862">
                <a:latin typeface="Arial"/>
                <a:cs typeface="Arial"/>
              </a:rPr>
              <a:t>بْ</a:t>
            </a:r>
            <a:r>
              <a:rPr dirty="0" baseline="3086" sz="2700" spc="-292">
                <a:latin typeface="Arial"/>
                <a:cs typeface="Arial"/>
              </a:rPr>
              <a:t> </a:t>
            </a:r>
            <a:r>
              <a:rPr dirty="0" baseline="3086" sz="2700">
                <a:latin typeface="Arial"/>
                <a:cs typeface="Arial"/>
              </a:rPr>
              <a:t>ٱ </a:t>
            </a:r>
            <a:r>
              <a:rPr dirty="0" baseline="3086" sz="2700" spc="-705">
                <a:latin typeface="Arial"/>
                <a:cs typeface="Arial"/>
              </a:rPr>
              <a:t>ىس</a:t>
            </a:r>
            <a:r>
              <a:rPr dirty="0" sz="1800" spc="-470">
                <a:latin typeface="Arial"/>
                <a:cs typeface="Arial"/>
              </a:rPr>
              <a:t>َ                           </a:t>
            </a:r>
            <a:r>
              <a:rPr dirty="0" baseline="3086" sz="2700" spc="-397">
                <a:latin typeface="Arial"/>
                <a:cs typeface="Arial"/>
              </a:rPr>
              <a:t>ٌع</a:t>
            </a:r>
            <a:r>
              <a:rPr dirty="0" baseline="1543" sz="2700" spc="-397">
                <a:latin typeface="Arial"/>
                <a:cs typeface="Arial"/>
              </a:rPr>
              <a:t>ِ      </a:t>
            </a:r>
            <a:r>
              <a:rPr dirty="0" baseline="3086" sz="2700" spc="-667">
                <a:latin typeface="Arial"/>
                <a:cs typeface="Arial"/>
              </a:rPr>
              <a:t>حُ               </a:t>
            </a:r>
            <a:r>
              <a:rPr dirty="0" baseline="3086" sz="2700" spc="-622">
                <a:latin typeface="Arial"/>
                <a:cs typeface="Arial"/>
              </a:rPr>
              <a:t>ٌس</a:t>
            </a:r>
            <a:r>
              <a:rPr dirty="0" baseline="1543" sz="2700" spc="-622">
                <a:latin typeface="Arial"/>
                <a:cs typeface="Arial"/>
              </a:rPr>
              <a:t>ِ         </a:t>
            </a:r>
            <a:r>
              <a:rPr dirty="0" baseline="3086" sz="2700" spc="-359">
                <a:latin typeface="Arial"/>
                <a:cs typeface="Arial"/>
              </a:rPr>
              <a:t>م</a:t>
            </a:r>
            <a:r>
              <a:rPr dirty="0" sz="1800" spc="-2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322">
                <a:latin typeface="Arial"/>
                <a:cs typeface="Arial"/>
              </a:rPr>
              <a:t>هُ  </a:t>
            </a:r>
            <a:r>
              <a:rPr dirty="0" baseline="3086" sz="2700" spc="-397">
                <a:latin typeface="Arial"/>
                <a:cs typeface="Arial"/>
              </a:rPr>
              <a:t>مُ   </a:t>
            </a:r>
            <a:r>
              <a:rPr dirty="0" baseline="3086" sz="2700" spc="-944">
                <a:latin typeface="Arial"/>
                <a:cs typeface="Arial"/>
              </a:rPr>
              <a:t>سْ</a:t>
            </a:r>
            <a:r>
              <a:rPr dirty="0" baseline="3086" sz="2700" spc="390">
                <a:latin typeface="Arial"/>
                <a:cs typeface="Arial"/>
              </a:rPr>
              <a:t> </a:t>
            </a:r>
            <a:r>
              <a:rPr dirty="0" baseline="3086" sz="2700">
                <a:latin typeface="Arial"/>
                <a:cs typeface="Arial"/>
              </a:rPr>
              <a:t>ٱ </a:t>
            </a:r>
            <a:r>
              <a:rPr dirty="0" baseline="3086" sz="2700" spc="-322">
                <a:latin typeface="Arial"/>
                <a:cs typeface="Arial"/>
              </a:rPr>
              <a:t>هُ  </a:t>
            </a:r>
            <a:r>
              <a:rPr dirty="0" baseline="3086" sz="2700" spc="-607">
                <a:latin typeface="Arial"/>
                <a:cs typeface="Arial"/>
              </a:rPr>
              <a:t>ن</a:t>
            </a:r>
            <a:r>
              <a:rPr dirty="0" baseline="12345" sz="2700" spc="-607">
                <a:latin typeface="Arial"/>
                <a:cs typeface="Arial"/>
              </a:rPr>
              <a:t>ْ   </a:t>
            </a:r>
            <a:r>
              <a:rPr dirty="0" baseline="3086" sz="2700" spc="-254">
                <a:latin typeface="Arial"/>
                <a:cs typeface="Arial"/>
              </a:rPr>
              <a:t>مِّ    </a:t>
            </a:r>
            <a:r>
              <a:rPr dirty="0" baseline="3086" sz="2700" spc="-359">
                <a:latin typeface="Arial"/>
                <a:cs typeface="Arial"/>
              </a:rPr>
              <a:t>ةٍ   م</a:t>
            </a:r>
            <a:r>
              <a:rPr dirty="0" sz="1800" spc="-240">
                <a:latin typeface="Arial"/>
                <a:cs typeface="Arial"/>
              </a:rPr>
              <a:t>َ  </a:t>
            </a:r>
            <a:r>
              <a:rPr dirty="0" baseline="1543" sz="2700" spc="-562">
                <a:latin typeface="Arial"/>
                <a:cs typeface="Arial"/>
              </a:rPr>
              <a:t>ِ</a:t>
            </a:r>
            <a:r>
              <a:rPr dirty="0" baseline="3086" sz="2700" spc="-562">
                <a:latin typeface="Arial"/>
                <a:cs typeface="Arial"/>
              </a:rPr>
              <a:t>لك</a:t>
            </a:r>
            <a:r>
              <a:rPr dirty="0" baseline="7716" sz="2700" spc="-562">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705">
                <a:latin typeface="Arial"/>
                <a:cs typeface="Arial"/>
              </a:rPr>
              <a:t> </a:t>
            </a:r>
            <a:r>
              <a:rPr dirty="0" baseline="3086" sz="2700" spc="-637">
                <a:latin typeface="Arial"/>
                <a:cs typeface="Arial"/>
              </a:rPr>
              <a:t>ك</a:t>
            </a:r>
            <a:r>
              <a:rPr dirty="0" baseline="1543" sz="2700" spc="-637">
                <a:latin typeface="Arial"/>
                <a:cs typeface="Arial"/>
              </a:rPr>
              <a:t>ِ            </a:t>
            </a:r>
            <a:r>
              <a:rPr dirty="0" baseline="3086" sz="2700" spc="-525">
                <a:latin typeface="Arial"/>
                <a:cs typeface="Arial"/>
              </a:rPr>
              <a:t>رُ     </a:t>
            </a:r>
            <a:r>
              <a:rPr dirty="0" baseline="3086" sz="2700" spc="-705">
                <a:latin typeface="Arial"/>
                <a:cs typeface="Arial"/>
              </a:rPr>
              <a:t>ش</a:t>
            </a:r>
            <a:r>
              <a:rPr dirty="0" baseline="10802" sz="2700" spc="-705">
                <a:latin typeface="Arial"/>
                <a:cs typeface="Arial"/>
              </a:rPr>
              <a:t>ِّ                               </a:t>
            </a:r>
            <a:r>
              <a:rPr dirty="0" baseline="3086" sz="2700" spc="-892">
                <a:latin typeface="Arial"/>
                <a:cs typeface="Arial"/>
              </a:rPr>
              <a:t>ب</a:t>
            </a:r>
            <a:r>
              <a:rPr dirty="0" sz="1800" spc="-595">
                <a:latin typeface="Arial"/>
                <a:cs typeface="Arial"/>
              </a:rPr>
              <a:t>َ</a:t>
            </a:r>
            <a:r>
              <a:rPr dirty="0" sz="1800" spc="-140">
                <a:latin typeface="Arial"/>
                <a:cs typeface="Arial"/>
              </a:rPr>
              <a:t> </a:t>
            </a:r>
            <a:r>
              <a:rPr dirty="0" baseline="3086" sz="2700">
                <a:latin typeface="Arial"/>
                <a:cs typeface="Arial"/>
              </a:rPr>
              <a:t>ٌُ  </a:t>
            </a:r>
            <a:r>
              <a:rPr dirty="0" baseline="3086" sz="2700" spc="-885">
                <a:latin typeface="Arial"/>
                <a:cs typeface="Arial"/>
              </a:rPr>
              <a:t>للَّ</a:t>
            </a:r>
            <a:r>
              <a:rPr dirty="0" baseline="-7716" sz="2700" spc="-885">
                <a:latin typeface="Arial"/>
                <a:cs typeface="Arial"/>
              </a:rPr>
              <a:t>َ</a:t>
            </a:r>
            <a:r>
              <a:rPr dirty="0" baseline="-7716" sz="2700" spc="-104">
                <a:latin typeface="Arial"/>
                <a:cs typeface="Arial"/>
              </a:rPr>
              <a:t> </a:t>
            </a:r>
            <a:r>
              <a:rPr dirty="0" baseline="15432" sz="2700">
                <a:latin typeface="Arial"/>
                <a:cs typeface="Arial"/>
              </a:rPr>
              <a:t>َّ </a:t>
            </a:r>
            <a:r>
              <a:rPr dirty="0" baseline="3086" sz="2700">
                <a:latin typeface="Arial"/>
                <a:cs typeface="Arial"/>
              </a:rPr>
              <a:t>ٱ </a:t>
            </a:r>
            <a:r>
              <a:rPr dirty="0" baseline="3086" sz="2700" spc="-345">
                <a:latin typeface="Arial"/>
                <a:cs typeface="Arial"/>
              </a:rPr>
              <a:t>نَّ   </a:t>
            </a:r>
            <a:r>
              <a:rPr dirty="0" baseline="-10802" sz="2700">
                <a:latin typeface="Arial"/>
                <a:cs typeface="Arial"/>
              </a:rPr>
              <a:t>ِ</a:t>
            </a:r>
            <a:r>
              <a:rPr dirty="0" baseline="3086" sz="2700">
                <a:latin typeface="Arial"/>
                <a:cs typeface="Arial"/>
              </a:rPr>
              <a:t>إ </a:t>
            </a:r>
            <a:r>
              <a:rPr dirty="0" baseline="3086" sz="2700" spc="-427">
                <a:latin typeface="Arial"/>
                <a:cs typeface="Arial"/>
              </a:rPr>
              <a:t>م</a:t>
            </a:r>
            <a:r>
              <a:rPr dirty="0" baseline="-3086" sz="2700" spc="-427">
                <a:latin typeface="Arial"/>
                <a:cs typeface="Arial"/>
              </a:rPr>
              <a:t>ُ   </a:t>
            </a:r>
            <a:r>
              <a:rPr dirty="0" baseline="3086" sz="2700">
                <a:latin typeface="Arial"/>
                <a:cs typeface="Arial"/>
              </a:rPr>
              <a:t>ٌ</a:t>
            </a:r>
            <a:r>
              <a:rPr dirty="0" sz="1800">
                <a:latin typeface="Arial"/>
                <a:cs typeface="Arial"/>
              </a:rPr>
              <a:t>َ </a:t>
            </a:r>
            <a:r>
              <a:rPr dirty="0" baseline="3086" sz="2700" spc="-457">
                <a:latin typeface="Arial"/>
                <a:cs typeface="Arial"/>
              </a:rPr>
              <a:t>رْ   </a:t>
            </a:r>
            <a:r>
              <a:rPr dirty="0" baseline="3086" sz="2700" spc="-359">
                <a:latin typeface="Arial"/>
                <a:cs typeface="Arial"/>
              </a:rPr>
              <a:t>م</a:t>
            </a:r>
            <a:r>
              <a:rPr dirty="0" sz="1800" spc="-240">
                <a:latin typeface="Arial"/>
                <a:cs typeface="Arial"/>
              </a:rPr>
              <a:t>َ  </a:t>
            </a:r>
            <a:r>
              <a:rPr dirty="0" baseline="3086" sz="2700">
                <a:latin typeface="Arial"/>
                <a:cs typeface="Arial"/>
              </a:rPr>
              <a:t>ٌ</a:t>
            </a:r>
            <a:r>
              <a:rPr dirty="0" baseline="7716" sz="2700">
                <a:latin typeface="Arial"/>
                <a:cs typeface="Arial"/>
              </a:rPr>
              <a:t>ٰ </a:t>
            </a:r>
            <a:r>
              <a:rPr dirty="0" baseline="3086" sz="2700" spc="-322">
                <a:latin typeface="Arial"/>
                <a:cs typeface="Arial"/>
              </a:rPr>
              <a:t>ة</a:t>
            </a:r>
            <a:r>
              <a:rPr dirty="0" baseline="13888" sz="2700" spc="-322">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855">
                <a:latin typeface="Arial"/>
                <a:cs typeface="Arial"/>
              </a:rPr>
              <a:t>ئ</a:t>
            </a:r>
            <a:r>
              <a:rPr dirty="0" baseline="1543" sz="2700" spc="-855">
                <a:latin typeface="Arial"/>
                <a:cs typeface="Arial"/>
              </a:rPr>
              <a:t>ِ</a:t>
            </a:r>
            <a:r>
              <a:rPr dirty="0" baseline="1543" sz="2700" spc="-82">
                <a:latin typeface="Arial"/>
                <a:cs typeface="Arial"/>
              </a:rPr>
              <a:t> </a:t>
            </a:r>
            <a:r>
              <a:rPr dirty="0" baseline="3086" sz="2700" spc="-652">
                <a:latin typeface="Arial"/>
                <a:cs typeface="Arial"/>
              </a:rPr>
              <a:t>لا</a:t>
            </a:r>
            <a:r>
              <a:rPr dirty="0" baseline="18518" sz="2700" spc="-652">
                <a:latin typeface="Arial"/>
                <a:cs typeface="Arial"/>
              </a:rPr>
              <a:t>ۤ              </a:t>
            </a:r>
            <a:r>
              <a:rPr dirty="0" baseline="3086" sz="2700" spc="-359">
                <a:latin typeface="Arial"/>
                <a:cs typeface="Arial"/>
              </a:rPr>
              <a:t>م</a:t>
            </a:r>
            <a:r>
              <a:rPr dirty="0" sz="1800" spc="-2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862">
                <a:latin typeface="Arial"/>
                <a:cs typeface="Arial"/>
              </a:rPr>
              <a:t>ت</a:t>
            </a:r>
            <a:r>
              <a:rPr dirty="0" baseline="1543" sz="2700" spc="-862">
                <a:latin typeface="Arial"/>
                <a:cs typeface="Arial"/>
              </a:rPr>
              <a:t>ِ</a:t>
            </a:r>
            <a:r>
              <a:rPr dirty="0" baseline="1543" sz="2700" spc="1019">
                <a:latin typeface="Arial"/>
                <a:cs typeface="Arial"/>
              </a:rPr>
              <a:t> </a:t>
            </a:r>
            <a:r>
              <a:rPr dirty="0" baseline="10802" sz="2700" spc="-457">
                <a:latin typeface="Arial"/>
                <a:cs typeface="Arial"/>
              </a:rPr>
              <a:t>َ</a:t>
            </a:r>
            <a:r>
              <a:rPr dirty="0" baseline="3086" sz="2700" spc="-457">
                <a:latin typeface="Arial"/>
                <a:cs typeface="Arial"/>
              </a:rPr>
              <a:t>لاق</a:t>
            </a:r>
            <a:r>
              <a:rPr dirty="0" baseline="7716" sz="2700" spc="-457">
                <a:latin typeface="Arial"/>
                <a:cs typeface="Arial"/>
              </a:rPr>
              <a:t>َ     </a:t>
            </a:r>
            <a:r>
              <a:rPr dirty="0" baseline="3086" sz="2700" spc="-284">
                <a:latin typeface="Arial"/>
                <a:cs typeface="Arial"/>
              </a:rPr>
              <a:t>ذ</a:t>
            </a:r>
            <a:r>
              <a:rPr dirty="0" baseline="16975" sz="2700" spc="-284">
                <a:latin typeface="Arial"/>
                <a:cs typeface="Arial"/>
              </a:rPr>
              <a:t>ْ</a:t>
            </a:r>
            <a:r>
              <a:rPr dirty="0" baseline="16975" sz="2700" spc="-419">
                <a:latin typeface="Arial"/>
                <a:cs typeface="Arial"/>
              </a:rPr>
              <a:t> </a:t>
            </a:r>
            <a:r>
              <a:rPr dirty="0" baseline="-10802" sz="2700">
                <a:latin typeface="Arial"/>
                <a:cs typeface="Arial"/>
              </a:rPr>
              <a:t>ِ</a:t>
            </a:r>
            <a:r>
              <a:rPr dirty="0" baseline="3086" sz="2700">
                <a:latin typeface="Arial"/>
                <a:cs typeface="Arial"/>
              </a:rPr>
              <a:t>إ</a:t>
            </a:r>
            <a:endParaRPr baseline="3086" sz="2700">
              <a:latin typeface="Arial"/>
              <a:cs typeface="Arial"/>
            </a:endParaRPr>
          </a:p>
          <a:p>
            <a:pPr algn="r" marR="67945">
              <a:lnSpc>
                <a:spcPts val="2110"/>
              </a:lnSpc>
            </a:pPr>
            <a:r>
              <a:rPr dirty="0" baseline="3086" sz="2700" spc="-494">
                <a:latin typeface="Arial"/>
                <a:cs typeface="Arial"/>
              </a:rPr>
              <a:t>ن</a:t>
            </a:r>
            <a:r>
              <a:rPr dirty="0" sz="1800" spc="-330">
                <a:latin typeface="Arial"/>
                <a:cs typeface="Arial"/>
              </a:rPr>
              <a:t>َ    </a:t>
            </a:r>
            <a:r>
              <a:rPr dirty="0" baseline="3086" sz="2700" spc="-637">
                <a:latin typeface="Arial"/>
                <a:cs typeface="Arial"/>
              </a:rPr>
              <a:t>ٌب</a:t>
            </a:r>
            <a:r>
              <a:rPr dirty="0" baseline="-10802" sz="2700" spc="-637">
                <a:latin typeface="Arial"/>
                <a:cs typeface="Arial"/>
              </a:rPr>
              <a:t>ِ      </a:t>
            </a:r>
            <a:r>
              <a:rPr dirty="0" baseline="3086" sz="2700" spc="-345">
                <a:latin typeface="Arial"/>
                <a:cs typeface="Arial"/>
              </a:rPr>
              <a:t>رَّ  </a:t>
            </a:r>
            <a:r>
              <a:rPr dirty="0" baseline="3086" sz="2700" spc="-750">
                <a:latin typeface="Arial"/>
                <a:cs typeface="Arial"/>
              </a:rPr>
              <a:t>ق</a:t>
            </a:r>
            <a:r>
              <a:rPr dirty="0" baseline="7716" sz="2700" spc="-750">
                <a:latin typeface="Arial"/>
                <a:cs typeface="Arial"/>
              </a:rPr>
              <a:t>َ</a:t>
            </a:r>
            <a:r>
              <a:rPr dirty="0" baseline="3086" sz="2700" spc="-397">
                <a:latin typeface="Arial"/>
                <a:cs typeface="Arial"/>
              </a:rPr>
              <a:t>مُ   </a:t>
            </a:r>
            <a:r>
              <a:rPr dirty="0" baseline="3086" sz="2700" spc="-652">
                <a:latin typeface="Arial"/>
                <a:cs typeface="Arial"/>
              </a:rPr>
              <a:t>ل</a:t>
            </a:r>
            <a:r>
              <a:rPr dirty="0" baseline="13888" sz="2700" spc="-652">
                <a:latin typeface="Arial"/>
                <a:cs typeface="Arial"/>
              </a:rPr>
              <a:t>ْ   </a:t>
            </a:r>
            <a:r>
              <a:rPr dirty="0" baseline="13888" sz="2700" spc="-555">
                <a:latin typeface="Arial"/>
                <a:cs typeface="Arial"/>
              </a:rPr>
              <a:t> </a:t>
            </a:r>
            <a:r>
              <a:rPr dirty="0" baseline="3086" sz="2700">
                <a:latin typeface="Arial"/>
                <a:cs typeface="Arial"/>
              </a:rPr>
              <a:t>ٱ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307">
                <a:latin typeface="Arial"/>
                <a:cs typeface="Arial"/>
              </a:rPr>
              <a:t>و</a:t>
            </a:r>
            <a:r>
              <a:rPr dirty="0" sz="1800" spc="-204">
                <a:latin typeface="Arial"/>
                <a:cs typeface="Arial"/>
              </a:rPr>
              <a:t>َ   </a:t>
            </a:r>
            <a:r>
              <a:rPr dirty="0" baseline="3086" sz="2700" spc="-337">
                <a:latin typeface="Arial"/>
                <a:cs typeface="Arial"/>
              </a:rPr>
              <a:t>ة</a:t>
            </a:r>
            <a:r>
              <a:rPr dirty="0" baseline="1543" sz="2700" spc="-337">
                <a:latin typeface="Arial"/>
                <a:cs typeface="Arial"/>
              </a:rPr>
              <a:t>ِ </a:t>
            </a:r>
            <a:r>
              <a:rPr dirty="0" baseline="3086" sz="2700" spc="-494">
                <a:latin typeface="Arial"/>
                <a:cs typeface="Arial"/>
              </a:rPr>
              <a:t>ر</a:t>
            </a:r>
            <a:r>
              <a:rPr dirty="0" sz="1800" spc="-330">
                <a:latin typeface="Arial"/>
                <a:cs typeface="Arial"/>
              </a:rPr>
              <a:t>َ    </a:t>
            </a:r>
            <a:r>
              <a:rPr dirty="0" baseline="3086" sz="2700" spc="-719">
                <a:latin typeface="Arial"/>
                <a:cs typeface="Arial"/>
              </a:rPr>
              <a:t>خ</a:t>
            </a:r>
            <a:r>
              <a:rPr dirty="0" baseline="1543" sz="2700" spc="-719">
                <a:latin typeface="Arial"/>
                <a:cs typeface="Arial"/>
              </a:rPr>
              <a:t>ِ                                            </a:t>
            </a:r>
            <a:r>
              <a:rPr dirty="0" baseline="3086" sz="2700" spc="-225">
                <a:latin typeface="Arial"/>
                <a:cs typeface="Arial"/>
              </a:rPr>
              <a:t>لآٱو</a:t>
            </a:r>
            <a:r>
              <a:rPr dirty="0" sz="1800" spc="-150">
                <a:latin typeface="Arial"/>
                <a:cs typeface="Arial"/>
              </a:rPr>
              <a:t>َ  </a:t>
            </a:r>
            <a:r>
              <a:rPr dirty="0" baseline="3086" sz="2700" spc="15">
                <a:latin typeface="Arial"/>
                <a:cs typeface="Arial"/>
              </a:rPr>
              <a:t>اٌ</a:t>
            </a:r>
            <a:r>
              <a:rPr dirty="0" sz="1800" spc="10">
                <a:latin typeface="Arial"/>
                <a:cs typeface="Arial"/>
              </a:rPr>
              <a:t>َ </a:t>
            </a:r>
            <a:r>
              <a:rPr dirty="0" baseline="3086" sz="2700" spc="-607">
                <a:latin typeface="Arial"/>
                <a:cs typeface="Arial"/>
              </a:rPr>
              <a:t>ن</a:t>
            </a:r>
            <a:r>
              <a:rPr dirty="0" baseline="12345" sz="2700" spc="-607">
                <a:latin typeface="Arial"/>
                <a:cs typeface="Arial"/>
              </a:rPr>
              <a:t>ْ   </a:t>
            </a:r>
            <a:r>
              <a:rPr dirty="0" baseline="3086" sz="2700" spc="-232">
                <a:latin typeface="Arial"/>
                <a:cs typeface="Arial"/>
              </a:rPr>
              <a:t>د</a:t>
            </a:r>
            <a:r>
              <a:rPr dirty="0" baseline="4629" sz="2700" spc="-232">
                <a:latin typeface="Arial"/>
                <a:cs typeface="Arial"/>
              </a:rPr>
              <a:t>ُّ</a:t>
            </a:r>
            <a:r>
              <a:rPr dirty="0" baseline="4629" sz="2700" spc="195">
                <a:latin typeface="Arial"/>
                <a:cs typeface="Arial"/>
              </a:rPr>
              <a:t> </a:t>
            </a:r>
            <a:r>
              <a:rPr dirty="0" baseline="3086" sz="2700" spc="-412">
                <a:latin typeface="Arial"/>
                <a:cs typeface="Arial"/>
              </a:rPr>
              <a:t>لٱ</a:t>
            </a:r>
            <a:endParaRPr baseline="3086" sz="2700">
              <a:latin typeface="Arial"/>
              <a:cs typeface="Arial"/>
            </a:endParaRPr>
          </a:p>
          <a:p>
            <a:pPr algn="just" marL="63500" marR="67310">
              <a:lnSpc>
                <a:spcPts val="1380"/>
              </a:lnSpc>
              <a:spcBef>
                <a:spcPts val="1330"/>
              </a:spcBef>
              <a:buAutoNum type="arabicPeriod" startAt="45"/>
              <a:tabLst>
                <a:tab pos="333375" algn="l"/>
              </a:tabLst>
            </a:pPr>
            <a:r>
              <a:rPr dirty="0" sz="1200" spc="-5">
                <a:latin typeface="Arial"/>
                <a:cs typeface="Arial"/>
              </a:rPr>
              <a:t>(And remember) </a:t>
            </a:r>
            <a:r>
              <a:rPr dirty="0" sz="1200">
                <a:latin typeface="Arial"/>
                <a:cs typeface="Arial"/>
              </a:rPr>
              <a:t>when the </a:t>
            </a:r>
            <a:r>
              <a:rPr dirty="0" sz="1200" spc="-5">
                <a:latin typeface="Arial"/>
                <a:cs typeface="Arial"/>
              </a:rPr>
              <a:t>angels said: </a:t>
            </a:r>
            <a:r>
              <a:rPr dirty="0" sz="1200">
                <a:latin typeface="Arial"/>
                <a:cs typeface="Arial"/>
              </a:rPr>
              <a:t>O </a:t>
            </a:r>
            <a:r>
              <a:rPr dirty="0" sz="1200" spc="-5">
                <a:latin typeface="Arial"/>
                <a:cs typeface="Arial"/>
              </a:rPr>
              <a:t>Mary! Allah </a:t>
            </a:r>
            <a:r>
              <a:rPr dirty="0" sz="1200" spc="-10">
                <a:latin typeface="Arial"/>
                <a:cs typeface="Arial"/>
              </a:rPr>
              <a:t>gives </a:t>
            </a:r>
            <a:r>
              <a:rPr dirty="0" sz="1200">
                <a:latin typeface="Arial"/>
                <a:cs typeface="Arial"/>
              </a:rPr>
              <a:t>thee </a:t>
            </a:r>
            <a:r>
              <a:rPr dirty="0" sz="1200" spc="-5">
                <a:latin typeface="Arial"/>
                <a:cs typeface="Arial"/>
              </a:rPr>
              <a:t>glad tidings of a word  from Him, whose name is </a:t>
            </a:r>
            <a:r>
              <a:rPr dirty="0" sz="1200">
                <a:latin typeface="Arial"/>
                <a:cs typeface="Arial"/>
              </a:rPr>
              <a:t>the </a:t>
            </a:r>
            <a:r>
              <a:rPr dirty="0" sz="1200" spc="-5">
                <a:latin typeface="Arial"/>
                <a:cs typeface="Arial"/>
              </a:rPr>
              <a:t>Messiah, Jesus, son of </a:t>
            </a:r>
            <a:r>
              <a:rPr dirty="0" sz="1200" spc="-10">
                <a:latin typeface="Arial"/>
                <a:cs typeface="Arial"/>
              </a:rPr>
              <a:t>Mary, </a:t>
            </a:r>
            <a:r>
              <a:rPr dirty="0" sz="1200">
                <a:latin typeface="Arial"/>
                <a:cs typeface="Arial"/>
              </a:rPr>
              <a:t>illustrious </a:t>
            </a:r>
            <a:r>
              <a:rPr dirty="0" sz="1200" spc="-5">
                <a:latin typeface="Arial"/>
                <a:cs typeface="Arial"/>
              </a:rPr>
              <a:t>in the </a:t>
            </a:r>
            <a:r>
              <a:rPr dirty="0" sz="1200" spc="-10">
                <a:latin typeface="Arial"/>
                <a:cs typeface="Arial"/>
              </a:rPr>
              <a:t>world </a:t>
            </a:r>
            <a:r>
              <a:rPr dirty="0" sz="1200" spc="-5">
                <a:latin typeface="Arial"/>
                <a:cs typeface="Arial"/>
              </a:rPr>
              <a:t>and </a:t>
            </a:r>
            <a:r>
              <a:rPr dirty="0" sz="1200" spc="-10">
                <a:latin typeface="Arial"/>
                <a:cs typeface="Arial"/>
              </a:rPr>
              <a:t>the  </a:t>
            </a:r>
            <a:r>
              <a:rPr dirty="0" sz="1200">
                <a:latin typeface="Arial"/>
                <a:cs typeface="Arial"/>
              </a:rPr>
              <a:t>Hereafter, </a:t>
            </a:r>
            <a:r>
              <a:rPr dirty="0" sz="1200" spc="-5">
                <a:latin typeface="Arial"/>
                <a:cs typeface="Arial"/>
              </a:rPr>
              <a:t>and one of those brought near (unto</a:t>
            </a:r>
            <a:r>
              <a:rPr dirty="0" sz="1200" spc="25">
                <a:latin typeface="Arial"/>
                <a:cs typeface="Arial"/>
              </a:rPr>
              <a:t> </a:t>
            </a:r>
            <a:r>
              <a:rPr dirty="0" sz="1200" spc="-5">
                <a:latin typeface="Arial"/>
                <a:cs typeface="Arial"/>
              </a:rPr>
              <a:t>Allah).</a:t>
            </a:r>
            <a:endParaRPr sz="1200">
              <a:latin typeface="Arial"/>
              <a:cs typeface="Arial"/>
            </a:endParaRPr>
          </a:p>
          <a:p>
            <a:pPr>
              <a:lnSpc>
                <a:spcPct val="100000"/>
              </a:lnSpc>
              <a:spcBef>
                <a:spcPts val="20"/>
              </a:spcBef>
              <a:buFont typeface="Arial"/>
              <a:buAutoNum type="arabicPeriod" startAt="45"/>
            </a:pPr>
            <a:endParaRPr sz="1100">
              <a:latin typeface="Arial"/>
              <a:cs typeface="Arial"/>
            </a:endParaRPr>
          </a:p>
          <a:p>
            <a:pPr marL="3247390">
              <a:lnSpc>
                <a:spcPct val="100000"/>
              </a:lnSpc>
            </a:pPr>
            <a:r>
              <a:rPr dirty="0" baseline="1543" sz="2700" spc="-494">
                <a:latin typeface="Arial"/>
                <a:cs typeface="Arial"/>
              </a:rPr>
              <a:t>ن</a:t>
            </a:r>
            <a:r>
              <a:rPr dirty="0" baseline="-1543" sz="2700" spc="-494">
                <a:latin typeface="Arial"/>
                <a:cs typeface="Arial"/>
              </a:rPr>
              <a:t>َ </a:t>
            </a:r>
            <a:r>
              <a:rPr dirty="0" baseline="1543" sz="2700" spc="-480">
                <a:latin typeface="Arial"/>
                <a:cs typeface="Arial"/>
              </a:rPr>
              <a:t>ٌح</a:t>
            </a:r>
            <a:r>
              <a:rPr dirty="0" sz="1800" spc="-320">
                <a:latin typeface="Arial"/>
                <a:cs typeface="Arial"/>
              </a:rPr>
              <a:t>ِ </a:t>
            </a:r>
            <a:r>
              <a:rPr dirty="0" sz="1800" spc="-390">
                <a:latin typeface="Arial"/>
                <a:cs typeface="Arial"/>
              </a:rPr>
              <a:t>ِ</a:t>
            </a:r>
            <a:r>
              <a:rPr dirty="0" baseline="1543" sz="2700" spc="-585">
                <a:latin typeface="Arial"/>
                <a:cs typeface="Arial"/>
              </a:rPr>
              <a:t>لاص</a:t>
            </a:r>
            <a:r>
              <a:rPr dirty="0" sz="1800" spc="-390">
                <a:latin typeface="Arial"/>
                <a:cs typeface="Arial"/>
              </a:rPr>
              <a:t>َّ </a:t>
            </a:r>
            <a:r>
              <a:rPr dirty="0" baseline="1543" sz="2700" spc="-405">
                <a:latin typeface="Arial"/>
                <a:cs typeface="Arial"/>
              </a:rPr>
              <a:t>لٱ </a:t>
            </a:r>
            <a:r>
              <a:rPr dirty="0" baseline="1543" sz="2700" spc="-494">
                <a:latin typeface="Arial"/>
                <a:cs typeface="Arial"/>
              </a:rPr>
              <a:t>ن</a:t>
            </a:r>
            <a:r>
              <a:rPr dirty="0" baseline="-1543" sz="2700" spc="-494">
                <a:latin typeface="Arial"/>
                <a:cs typeface="Arial"/>
              </a:rPr>
              <a:t>َ </a:t>
            </a:r>
            <a:r>
              <a:rPr dirty="0" baseline="1543" sz="2700" spc="-352">
                <a:latin typeface="Arial"/>
                <a:cs typeface="Arial"/>
              </a:rPr>
              <a:t>م</a:t>
            </a:r>
            <a:r>
              <a:rPr dirty="0" sz="1800" spc="-235">
                <a:latin typeface="Arial"/>
                <a:cs typeface="Arial"/>
              </a:rPr>
              <a:t>ِ </a:t>
            </a:r>
            <a:r>
              <a:rPr dirty="0" baseline="1543" sz="2700" spc="-307">
                <a:latin typeface="Arial"/>
                <a:cs typeface="Arial"/>
              </a:rPr>
              <a:t>و</a:t>
            </a:r>
            <a:r>
              <a:rPr dirty="0" baseline="-1543" sz="2700" spc="-307">
                <a:latin typeface="Arial"/>
                <a:cs typeface="Arial"/>
              </a:rPr>
              <a:t>َ </a:t>
            </a:r>
            <a:r>
              <a:rPr dirty="0" baseline="10802" sz="2700" spc="-179">
                <a:latin typeface="Arial"/>
                <a:cs typeface="Arial"/>
              </a:rPr>
              <a:t>ً</a:t>
            </a:r>
            <a:r>
              <a:rPr dirty="0" baseline="1543" sz="2700" spc="-179">
                <a:latin typeface="Arial"/>
                <a:cs typeface="Arial"/>
              </a:rPr>
              <a:t>لاهْ </a:t>
            </a:r>
            <a:r>
              <a:rPr dirty="0" baseline="1543" sz="2700" spc="-719">
                <a:latin typeface="Arial"/>
                <a:cs typeface="Arial"/>
              </a:rPr>
              <a:t>ك</a:t>
            </a:r>
            <a:r>
              <a:rPr dirty="0" baseline="6172" sz="2700" spc="-719">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59">
                <a:latin typeface="Arial"/>
                <a:cs typeface="Arial"/>
              </a:rPr>
              <a:t>د</a:t>
            </a:r>
            <a:r>
              <a:rPr dirty="0" sz="1800" spc="-240">
                <a:latin typeface="Arial"/>
                <a:cs typeface="Arial"/>
              </a:rPr>
              <a:t>ِ </a:t>
            </a:r>
            <a:r>
              <a:rPr dirty="0" baseline="1543" sz="2700" spc="-284">
                <a:latin typeface="Arial"/>
                <a:cs typeface="Arial"/>
              </a:rPr>
              <a:t>هْ </a:t>
            </a:r>
            <a:r>
              <a:rPr dirty="0" baseline="1543" sz="2700" spc="-359">
                <a:latin typeface="Arial"/>
                <a:cs typeface="Arial"/>
              </a:rPr>
              <a:t>م</a:t>
            </a:r>
            <a:r>
              <a:rPr dirty="0" baseline="-1543" sz="2700" spc="-359">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705">
                <a:latin typeface="Arial"/>
                <a:cs typeface="Arial"/>
              </a:rPr>
              <a:t>ًف</a:t>
            </a:r>
            <a:r>
              <a:rPr dirty="0" sz="1800" spc="-470">
                <a:latin typeface="Arial"/>
                <a:cs typeface="Arial"/>
              </a:rPr>
              <a:t>ِ </a:t>
            </a:r>
            <a:r>
              <a:rPr dirty="0" baseline="1543" sz="2700" spc="-877">
                <a:latin typeface="Arial"/>
                <a:cs typeface="Arial"/>
              </a:rPr>
              <a:t>س</a:t>
            </a:r>
            <a:r>
              <a:rPr dirty="0" baseline="-1543" sz="2700" spc="-877">
                <a:latin typeface="Arial"/>
                <a:cs typeface="Arial"/>
              </a:rPr>
              <a:t>َ</a:t>
            </a:r>
            <a:r>
              <a:rPr dirty="0" baseline="-1543" sz="2700" spc="989">
                <a:latin typeface="Arial"/>
                <a:cs typeface="Arial"/>
              </a:rPr>
              <a:t> </a:t>
            </a:r>
            <a:r>
              <a:rPr dirty="0" baseline="1543" sz="2700" spc="-322">
                <a:latin typeface="Arial"/>
                <a:cs typeface="Arial"/>
              </a:rPr>
              <a:t>ان</a:t>
            </a:r>
            <a:r>
              <a:rPr dirty="0" baseline="9259" sz="2700" spc="-322">
                <a:latin typeface="Arial"/>
                <a:cs typeface="Arial"/>
              </a:rPr>
              <a:t>َّ </a:t>
            </a:r>
            <a:r>
              <a:rPr dirty="0" baseline="1543" sz="2700" spc="-412">
                <a:latin typeface="Arial"/>
                <a:cs typeface="Arial"/>
              </a:rPr>
              <a:t>لٱ </a:t>
            </a:r>
            <a:r>
              <a:rPr dirty="0" baseline="1543" sz="2700" spc="-427">
                <a:latin typeface="Arial"/>
                <a:cs typeface="Arial"/>
              </a:rPr>
              <a:t>م</a:t>
            </a:r>
            <a:r>
              <a:rPr dirty="0" baseline="-4629" sz="2700" spc="-427">
                <a:latin typeface="Arial"/>
                <a:cs typeface="Arial"/>
              </a:rPr>
              <a:t>ُ </a:t>
            </a:r>
            <a:r>
              <a:rPr dirty="0" baseline="12345" sz="2700" spc="-450">
                <a:latin typeface="Arial"/>
                <a:cs typeface="Arial"/>
              </a:rPr>
              <a:t>ِّ</a:t>
            </a:r>
            <a:r>
              <a:rPr dirty="0" baseline="1543" sz="2700" spc="-450">
                <a:latin typeface="Arial"/>
                <a:cs typeface="Arial"/>
              </a:rPr>
              <a:t>لك</a:t>
            </a:r>
            <a:r>
              <a:rPr dirty="0" baseline="6172" sz="2700" spc="-450">
                <a:latin typeface="Arial"/>
                <a:cs typeface="Arial"/>
              </a:rPr>
              <a:t>َ </a:t>
            </a:r>
            <a:r>
              <a:rPr dirty="0" baseline="1543" sz="2700">
                <a:latin typeface="Arial"/>
                <a:cs typeface="Arial"/>
              </a:rPr>
              <a:t>ٌُ</a:t>
            </a:r>
            <a:r>
              <a:rPr dirty="0" baseline="1543" sz="2700" spc="-562">
                <a:latin typeface="Arial"/>
                <a:cs typeface="Arial"/>
              </a:rPr>
              <a:t> </a:t>
            </a:r>
            <a:r>
              <a:rPr dirty="0" baseline="1543" sz="2700" spc="-615">
                <a:latin typeface="Arial"/>
                <a:cs typeface="Arial"/>
              </a:rPr>
              <a:t>و</a:t>
            </a:r>
            <a:endParaRPr baseline="1543" sz="2700">
              <a:latin typeface="Arial"/>
              <a:cs typeface="Arial"/>
            </a:endParaRPr>
          </a:p>
          <a:p>
            <a:pPr algn="just" marL="318770" indent="-255904">
              <a:lnSpc>
                <a:spcPct val="100000"/>
              </a:lnSpc>
              <a:spcBef>
                <a:spcPts val="1285"/>
              </a:spcBef>
              <a:buAutoNum type="arabicPeriod" startAt="46"/>
              <a:tabLst>
                <a:tab pos="319405" algn="l"/>
              </a:tabLst>
            </a:pPr>
            <a:r>
              <a:rPr dirty="0" sz="1200" spc="-5">
                <a:latin typeface="Arial"/>
                <a:cs typeface="Arial"/>
              </a:rPr>
              <a:t>He </a:t>
            </a:r>
            <a:r>
              <a:rPr dirty="0" sz="1200" spc="-10">
                <a:latin typeface="Arial"/>
                <a:cs typeface="Arial"/>
              </a:rPr>
              <a:t>will </a:t>
            </a:r>
            <a:r>
              <a:rPr dirty="0" sz="1200" spc="-5">
                <a:latin typeface="Arial"/>
                <a:cs typeface="Arial"/>
              </a:rPr>
              <a:t>speak unto mankind in </a:t>
            </a:r>
            <a:r>
              <a:rPr dirty="0" sz="1200">
                <a:latin typeface="Arial"/>
                <a:cs typeface="Arial"/>
              </a:rPr>
              <a:t>his </a:t>
            </a:r>
            <a:r>
              <a:rPr dirty="0" sz="1200" spc="-5">
                <a:latin typeface="Arial"/>
                <a:cs typeface="Arial"/>
              </a:rPr>
              <a:t>cradle and in his manhood, and </a:t>
            </a:r>
            <a:r>
              <a:rPr dirty="0" sz="1200">
                <a:latin typeface="Arial"/>
                <a:cs typeface="Arial"/>
              </a:rPr>
              <a:t>he </a:t>
            </a:r>
            <a:r>
              <a:rPr dirty="0" sz="1200" spc="-5">
                <a:latin typeface="Arial"/>
                <a:cs typeface="Arial"/>
              </a:rPr>
              <a:t>is of </a:t>
            </a:r>
            <a:r>
              <a:rPr dirty="0" sz="1200">
                <a:latin typeface="Arial"/>
                <a:cs typeface="Arial"/>
              </a:rPr>
              <a:t>the</a:t>
            </a:r>
            <a:r>
              <a:rPr dirty="0" sz="1200" spc="100">
                <a:latin typeface="Arial"/>
                <a:cs typeface="Arial"/>
              </a:rPr>
              <a:t> </a:t>
            </a:r>
            <a:r>
              <a:rPr dirty="0" sz="1200" spc="-5">
                <a:latin typeface="Arial"/>
                <a:cs typeface="Arial"/>
              </a:rPr>
              <a:t>righteous.</a:t>
            </a:r>
            <a:endParaRPr sz="1200">
              <a:latin typeface="Arial"/>
              <a:cs typeface="Arial"/>
            </a:endParaRPr>
          </a:p>
        </p:txBody>
      </p:sp>
      <p:sp>
        <p:nvSpPr>
          <p:cNvPr id="12" name="object 12"/>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13" name="object 13"/>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63</a:t>
            </a:r>
          </a:p>
        </p:txBody>
      </p:sp>
      <p:sp>
        <p:nvSpPr>
          <p:cNvPr id="5" name="object 5"/>
          <p:cNvSpPr txBox="1"/>
          <p:nvPr/>
        </p:nvSpPr>
        <p:spPr>
          <a:xfrm>
            <a:off x="746759" y="3686682"/>
            <a:ext cx="752475" cy="299720"/>
          </a:xfrm>
          <a:prstGeom prst="rect">
            <a:avLst/>
          </a:prstGeom>
        </p:spPr>
        <p:txBody>
          <a:bodyPr wrap="square" lIns="0" tIns="12700" rIns="0" bIns="0" rtlCol="0" vert="horz">
            <a:spAutoFit/>
          </a:bodyPr>
          <a:lstStyle/>
          <a:p>
            <a:pPr marL="38100">
              <a:lnSpc>
                <a:spcPct val="100000"/>
              </a:lnSpc>
              <a:spcBef>
                <a:spcPts val="100"/>
              </a:spcBef>
            </a:pPr>
            <a:r>
              <a:rPr dirty="0" baseline="9259" sz="2700" spc="-135">
                <a:latin typeface="Arial"/>
                <a:cs typeface="Arial"/>
              </a:rPr>
              <a:t>ً</a:t>
            </a:r>
            <a:r>
              <a:rPr dirty="0" sz="1800" spc="-90">
                <a:latin typeface="Arial"/>
                <a:cs typeface="Arial"/>
              </a:rPr>
              <a:t>ارمْ </a:t>
            </a:r>
            <a:r>
              <a:rPr dirty="0" baseline="13888" sz="2700">
                <a:latin typeface="Arial"/>
                <a:cs typeface="Arial"/>
              </a:rPr>
              <a:t>َ</a:t>
            </a:r>
            <a:r>
              <a:rPr dirty="0" sz="1800">
                <a:latin typeface="Arial"/>
                <a:cs typeface="Arial"/>
              </a:rPr>
              <a:t>أ </a:t>
            </a:r>
            <a:r>
              <a:rPr dirty="0" sz="1800" spc="-355">
                <a:latin typeface="Arial"/>
                <a:cs typeface="Arial"/>
              </a:rPr>
              <a:t>ى</a:t>
            </a:r>
            <a:r>
              <a:rPr dirty="0" baseline="4629" sz="2700" spc="-532">
                <a:latin typeface="Arial"/>
                <a:cs typeface="Arial"/>
              </a:rPr>
              <a:t>ٰ</a:t>
            </a:r>
            <a:r>
              <a:rPr dirty="0" baseline="4629" sz="2700" spc="-412">
                <a:latin typeface="Arial"/>
                <a:cs typeface="Arial"/>
              </a:rPr>
              <a:t> </a:t>
            </a:r>
            <a:r>
              <a:rPr dirty="0" sz="1800" spc="-1800">
                <a:latin typeface="Arial"/>
                <a:cs typeface="Arial"/>
              </a:rPr>
              <a:t>ض</a:t>
            </a:r>
            <a:endParaRPr sz="1800">
              <a:latin typeface="Arial"/>
              <a:cs typeface="Arial"/>
            </a:endParaRPr>
          </a:p>
        </p:txBody>
      </p:sp>
      <p:sp>
        <p:nvSpPr>
          <p:cNvPr id="6" name="object 6"/>
          <p:cNvSpPr txBox="1"/>
          <p:nvPr/>
        </p:nvSpPr>
        <p:spPr>
          <a:xfrm>
            <a:off x="1264919" y="3691254"/>
            <a:ext cx="5776595" cy="571500"/>
          </a:xfrm>
          <a:prstGeom prst="rect">
            <a:avLst/>
          </a:prstGeom>
        </p:spPr>
        <p:txBody>
          <a:bodyPr wrap="square" lIns="0" tIns="12700" rIns="0" bIns="0" rtlCol="0" vert="horz">
            <a:spAutoFit/>
          </a:bodyPr>
          <a:lstStyle/>
          <a:p>
            <a:pPr algn="r" marR="73025">
              <a:lnSpc>
                <a:spcPts val="2150"/>
              </a:lnSpc>
              <a:spcBef>
                <a:spcPts val="100"/>
              </a:spcBef>
            </a:pPr>
            <a:r>
              <a:rPr dirty="0" baseline="-1543" sz="2700">
                <a:latin typeface="Arial"/>
                <a:cs typeface="Arial"/>
              </a:rPr>
              <a:t>َ   </a:t>
            </a:r>
            <a:r>
              <a:rPr dirty="0" baseline="1543" sz="2700" spc="-757">
                <a:latin typeface="Arial"/>
                <a:cs typeface="Arial"/>
              </a:rPr>
              <a:t>ق</a:t>
            </a:r>
            <a:r>
              <a:rPr dirty="0" baseline="6172" sz="2700" spc="-757">
                <a:latin typeface="Arial"/>
                <a:cs typeface="Arial"/>
              </a:rPr>
              <a:t>َ</a:t>
            </a:r>
            <a:r>
              <a:rPr dirty="0" baseline="6172" sz="2700" spc="712">
                <a:latin typeface="Arial"/>
                <a:cs typeface="Arial"/>
              </a:rPr>
              <a:t> </a:t>
            </a:r>
            <a:r>
              <a:rPr dirty="0" baseline="1543" sz="2700" spc="-217">
                <a:latin typeface="Arial"/>
                <a:cs typeface="Arial"/>
              </a:rPr>
              <a:t>اذ</a:t>
            </a:r>
            <a:r>
              <a:rPr dirty="0" baseline="10802" sz="2700" spc="-217">
                <a:latin typeface="Arial"/>
                <a:cs typeface="Arial"/>
              </a:rPr>
              <a:t>َ </a:t>
            </a:r>
            <a:r>
              <a:rPr dirty="0" baseline="-12345" sz="2700">
                <a:latin typeface="Arial"/>
                <a:cs typeface="Arial"/>
              </a:rPr>
              <a:t>ِ</a:t>
            </a:r>
            <a:r>
              <a:rPr dirty="0" baseline="1543" sz="2700">
                <a:latin typeface="Arial"/>
                <a:cs typeface="Arial"/>
              </a:rPr>
              <a:t>إ </a:t>
            </a:r>
            <a:r>
              <a:rPr dirty="0" baseline="1543" sz="2700" spc="-494">
                <a:latin typeface="Arial"/>
                <a:cs typeface="Arial"/>
              </a:rPr>
              <a:t>ءُ    </a:t>
            </a:r>
            <a:r>
              <a:rPr dirty="0" baseline="1543" sz="2700" spc="-682">
                <a:latin typeface="Arial"/>
                <a:cs typeface="Arial"/>
              </a:rPr>
              <a:t>آش</a:t>
            </a:r>
            <a:r>
              <a:rPr dirty="0" baseline="6172" sz="2700" spc="-682">
                <a:latin typeface="Arial"/>
                <a:cs typeface="Arial"/>
              </a:rPr>
              <a:t>َ                    </a:t>
            </a:r>
            <a:r>
              <a:rPr dirty="0" baseline="1543" sz="2700">
                <a:latin typeface="Arial"/>
                <a:cs typeface="Arial"/>
              </a:rPr>
              <a:t>ٌ</a:t>
            </a:r>
            <a:r>
              <a:rPr dirty="0" baseline="-1543" sz="2700">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592">
                <a:latin typeface="Arial"/>
                <a:cs typeface="Arial"/>
              </a:rPr>
              <a:t>ق</a:t>
            </a:r>
            <a:r>
              <a:rPr dirty="0" baseline="6172" sz="2700" spc="-592">
                <a:latin typeface="Arial"/>
                <a:cs typeface="Arial"/>
              </a:rPr>
              <a:t>ُ       </a:t>
            </a:r>
            <a:r>
              <a:rPr dirty="0" baseline="12345" sz="2700" spc="-487">
                <a:latin typeface="Arial"/>
                <a:cs typeface="Arial"/>
              </a:rPr>
              <a:t>ُ</a:t>
            </a:r>
            <a:r>
              <a:rPr dirty="0" baseline="1543" sz="2700" spc="-487">
                <a:latin typeface="Arial"/>
                <a:cs typeface="Arial"/>
              </a:rPr>
              <a:t>لخ</a:t>
            </a:r>
            <a:r>
              <a:rPr dirty="0" baseline="9259" sz="2700" spc="-487">
                <a:latin typeface="Arial"/>
                <a:cs typeface="Arial"/>
              </a:rPr>
              <a:t>ْ    </a:t>
            </a:r>
            <a:r>
              <a:rPr dirty="0" baseline="1543" sz="2700">
                <a:latin typeface="Arial"/>
                <a:cs typeface="Arial"/>
              </a:rPr>
              <a:t>ٌ</a:t>
            </a:r>
            <a:r>
              <a:rPr dirty="0" baseline="-1543" sz="2700">
                <a:latin typeface="Arial"/>
                <a:cs typeface="Arial"/>
              </a:rPr>
              <a:t>َ  </a:t>
            </a:r>
            <a:r>
              <a:rPr dirty="0" baseline="-7716" sz="2700" spc="-630">
                <a:latin typeface="Arial"/>
                <a:cs typeface="Arial"/>
              </a:rPr>
              <a:t>ُ</a:t>
            </a:r>
            <a:r>
              <a:rPr dirty="0" baseline="1543" sz="2700" spc="-630">
                <a:latin typeface="Arial"/>
                <a:cs typeface="Arial"/>
              </a:rPr>
              <a:t>للَّ</a:t>
            </a:r>
            <a:r>
              <a:rPr dirty="0" baseline="13888" sz="2700" spc="-630">
                <a:latin typeface="Arial"/>
                <a:cs typeface="Arial"/>
              </a:rPr>
              <a:t>َّ         </a:t>
            </a:r>
            <a:r>
              <a:rPr dirty="0" baseline="1543" sz="2700">
                <a:latin typeface="Arial"/>
                <a:cs typeface="Arial"/>
              </a:rPr>
              <a:t>ٱ </a:t>
            </a:r>
            <a:r>
              <a:rPr dirty="0" baseline="1543" sz="2700" spc="-682">
                <a:latin typeface="Arial"/>
                <a:cs typeface="Arial"/>
              </a:rPr>
              <a:t>ك</a:t>
            </a:r>
            <a:r>
              <a:rPr dirty="0" baseline="-1543" sz="2700" spc="-682">
                <a:latin typeface="Arial"/>
                <a:cs typeface="Arial"/>
              </a:rPr>
              <a:t>َ                    </a:t>
            </a:r>
            <a:r>
              <a:rPr dirty="0" sz="1800" spc="-245">
                <a:latin typeface="Arial"/>
                <a:cs typeface="Arial"/>
              </a:rPr>
              <a:t>ِ</a:t>
            </a:r>
            <a:r>
              <a:rPr dirty="0" baseline="1543" sz="2700" spc="-367">
                <a:latin typeface="Arial"/>
                <a:cs typeface="Arial"/>
              </a:rPr>
              <a:t>لذ</a:t>
            </a:r>
            <a:r>
              <a:rPr dirty="0" baseline="10802" sz="2700" spc="-367">
                <a:latin typeface="Arial"/>
                <a:cs typeface="Arial"/>
              </a:rPr>
              <a:t>َ  </a:t>
            </a:r>
            <a:r>
              <a:rPr dirty="0" baseline="1543" sz="2700" spc="-719">
                <a:latin typeface="Arial"/>
                <a:cs typeface="Arial"/>
              </a:rPr>
              <a:t>ك</a:t>
            </a:r>
            <a:r>
              <a:rPr dirty="0" baseline="6172" sz="2700" spc="-719">
                <a:latin typeface="Arial"/>
                <a:cs typeface="Arial"/>
              </a:rPr>
              <a:t>َ                                                        </a:t>
            </a:r>
            <a:r>
              <a:rPr dirty="0" baseline="1543" sz="2700" spc="-615">
                <a:latin typeface="Arial"/>
                <a:cs typeface="Arial"/>
              </a:rPr>
              <a:t>ل</a:t>
            </a:r>
            <a:r>
              <a:rPr dirty="0" baseline="-1543" sz="2700" spc="-615">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spc="-525">
                <a:latin typeface="Arial"/>
                <a:cs typeface="Arial"/>
              </a:rPr>
              <a:t>ر</a:t>
            </a:r>
            <a:r>
              <a:rPr dirty="0" baseline="3086" sz="2700" spc="-525">
                <a:latin typeface="Arial"/>
                <a:cs typeface="Arial"/>
              </a:rPr>
              <a:t>ٌ     </a:t>
            </a:r>
            <a:r>
              <a:rPr dirty="0" baseline="1543" sz="2700" spc="-1042">
                <a:latin typeface="Arial"/>
                <a:cs typeface="Arial"/>
              </a:rPr>
              <a:t>ش</a:t>
            </a:r>
            <a:r>
              <a:rPr dirty="0" baseline="6172" sz="2700" spc="-1042">
                <a:latin typeface="Arial"/>
                <a:cs typeface="Arial"/>
              </a:rPr>
              <a:t>َ</a:t>
            </a:r>
            <a:r>
              <a:rPr dirty="0" baseline="6172" sz="2700" spc="592">
                <a:latin typeface="Arial"/>
                <a:cs typeface="Arial"/>
              </a:rPr>
              <a:t> </a:t>
            </a:r>
            <a:r>
              <a:rPr dirty="0" baseline="1543" sz="2700" spc="-907">
                <a:latin typeface="Arial"/>
                <a:cs typeface="Arial"/>
              </a:rPr>
              <a:t>ب</a:t>
            </a:r>
            <a:r>
              <a:rPr dirty="0" baseline="-1543" sz="2700" spc="-907">
                <a:latin typeface="Arial"/>
                <a:cs typeface="Arial"/>
              </a:rPr>
              <a:t>َ</a:t>
            </a:r>
            <a:r>
              <a:rPr dirty="0" baseline="-1543" sz="2700" spc="562">
                <a:latin typeface="Arial"/>
                <a:cs typeface="Arial"/>
              </a:rPr>
              <a:t> </a:t>
            </a:r>
            <a:r>
              <a:rPr dirty="0" baseline="1543" sz="2700" spc="-472">
                <a:latin typeface="Arial"/>
                <a:cs typeface="Arial"/>
              </a:rPr>
              <a:t>ًن</a:t>
            </a:r>
            <a:r>
              <a:rPr dirty="0" sz="1800" spc="-315">
                <a:latin typeface="Arial"/>
                <a:cs typeface="Arial"/>
              </a:rPr>
              <a:t>ِ  </a:t>
            </a:r>
            <a:r>
              <a:rPr dirty="0" baseline="1543" sz="2700" spc="-944">
                <a:latin typeface="Arial"/>
                <a:cs typeface="Arial"/>
              </a:rPr>
              <a:t>سْ</a:t>
            </a:r>
            <a:r>
              <a:rPr dirty="0" baseline="1543" sz="2700" spc="390">
                <a:latin typeface="Arial"/>
                <a:cs typeface="Arial"/>
              </a:rPr>
              <a:t> </a:t>
            </a:r>
            <a:r>
              <a:rPr dirty="0" baseline="1543" sz="2700" spc="-989">
                <a:latin typeface="Arial"/>
                <a:cs typeface="Arial"/>
              </a:rPr>
              <a:t>س</a:t>
            </a:r>
            <a:r>
              <a:rPr dirty="0" baseline="-1543" sz="2700" spc="-989">
                <a:latin typeface="Arial"/>
                <a:cs typeface="Arial"/>
              </a:rPr>
              <a:t>َ</a:t>
            </a:r>
            <a:r>
              <a:rPr dirty="0" baseline="-1543" sz="2700" spc="465">
                <a:latin typeface="Arial"/>
                <a:cs typeface="Arial"/>
              </a:rPr>
              <a:t> </a:t>
            </a:r>
            <a:r>
              <a:rPr dirty="0" baseline="1543" sz="2700" spc="-322">
                <a:latin typeface="Arial"/>
                <a:cs typeface="Arial"/>
              </a:rPr>
              <a:t>مْ  </a:t>
            </a:r>
            <a:r>
              <a:rPr dirty="0" baseline="1543" sz="2700">
                <a:latin typeface="Arial"/>
                <a:cs typeface="Arial"/>
              </a:rPr>
              <a:t>ٌ</a:t>
            </a:r>
            <a:r>
              <a:rPr dirty="0" baseline="-1543" sz="2700">
                <a:latin typeface="Arial"/>
                <a:cs typeface="Arial"/>
              </a:rPr>
              <a:t>َ  </a:t>
            </a:r>
            <a:r>
              <a:rPr dirty="0" baseline="1543" sz="2700" spc="-359">
                <a:latin typeface="Arial"/>
                <a:cs typeface="Arial"/>
              </a:rPr>
              <a:t>م</a:t>
            </a:r>
            <a:r>
              <a:rPr dirty="0" baseline="-3086" sz="2700" spc="-359">
                <a:latin typeface="Arial"/>
                <a:cs typeface="Arial"/>
              </a:rPr>
              <a:t>ْ  </a:t>
            </a:r>
            <a:r>
              <a:rPr dirty="0" baseline="9259" sz="2700" spc="-359">
                <a:latin typeface="Arial"/>
                <a:cs typeface="Arial"/>
              </a:rPr>
              <a:t>َ</a:t>
            </a:r>
            <a:r>
              <a:rPr dirty="0" baseline="1543" sz="2700" spc="-359">
                <a:latin typeface="Arial"/>
                <a:cs typeface="Arial"/>
              </a:rPr>
              <a:t>لو</a:t>
            </a:r>
            <a:r>
              <a:rPr dirty="0" baseline="-1543" sz="2700" spc="-359">
                <a:latin typeface="Arial"/>
                <a:cs typeface="Arial"/>
              </a:rPr>
              <a:t>َ    </a:t>
            </a:r>
            <a:r>
              <a:rPr dirty="0" baseline="1543" sz="2700" spc="-359">
                <a:latin typeface="Arial"/>
                <a:cs typeface="Arial"/>
              </a:rPr>
              <a:t>د</a:t>
            </a:r>
            <a:r>
              <a:rPr dirty="0" baseline="4629" sz="2700" spc="-359">
                <a:latin typeface="Arial"/>
                <a:cs typeface="Arial"/>
              </a:rPr>
              <a:t>ٌ  </a:t>
            </a:r>
            <a:r>
              <a:rPr dirty="0" baseline="9259" sz="2700" spc="-359">
                <a:latin typeface="Arial"/>
                <a:cs typeface="Arial"/>
              </a:rPr>
              <a:t>َ</a:t>
            </a:r>
            <a:r>
              <a:rPr dirty="0" baseline="1543" sz="2700" spc="-359">
                <a:latin typeface="Arial"/>
                <a:cs typeface="Arial"/>
              </a:rPr>
              <a:t>لو</a:t>
            </a:r>
            <a:r>
              <a:rPr dirty="0" baseline="-1543" sz="2700" spc="-359">
                <a:latin typeface="Arial"/>
                <a:cs typeface="Arial"/>
              </a:rPr>
              <a:t>َ    </a:t>
            </a:r>
            <a:r>
              <a:rPr dirty="0" baseline="1543" sz="2700" spc="-270">
                <a:latin typeface="Arial"/>
                <a:cs typeface="Arial"/>
              </a:rPr>
              <a:t>ً</a:t>
            </a:r>
            <a:r>
              <a:rPr dirty="0" sz="1800" spc="-180">
                <a:latin typeface="Arial"/>
                <a:cs typeface="Arial"/>
              </a:rPr>
              <a:t>ِ</a:t>
            </a:r>
            <a:r>
              <a:rPr dirty="0" baseline="1543" sz="2700" spc="-270">
                <a:latin typeface="Arial"/>
                <a:cs typeface="Arial"/>
              </a:rPr>
              <a:t>ل </a:t>
            </a:r>
            <a:r>
              <a:rPr dirty="0" baseline="1543" sz="2700" spc="-532">
                <a:latin typeface="Arial"/>
                <a:cs typeface="Arial"/>
              </a:rPr>
              <a:t>نُ     </a:t>
            </a:r>
            <a:r>
              <a:rPr dirty="0" baseline="1543" sz="2700" spc="-502">
                <a:latin typeface="Arial"/>
                <a:cs typeface="Arial"/>
              </a:rPr>
              <a:t>وك</a:t>
            </a:r>
            <a:r>
              <a:rPr dirty="0" baseline="9259" sz="2700" spc="-502">
                <a:latin typeface="Arial"/>
                <a:cs typeface="Arial"/>
              </a:rPr>
              <a:t>ُ    </a:t>
            </a:r>
            <a:r>
              <a:rPr dirty="0" baseline="1543" sz="2700">
                <a:latin typeface="Arial"/>
                <a:cs typeface="Arial"/>
              </a:rPr>
              <a:t>ٌ</a:t>
            </a:r>
            <a:r>
              <a:rPr dirty="0" baseline="-1543" sz="2700">
                <a:latin typeface="Arial"/>
                <a:cs typeface="Arial"/>
              </a:rPr>
              <a:t>َ  </a:t>
            </a:r>
            <a:r>
              <a:rPr dirty="0" baseline="1543" sz="2700" spc="-532">
                <a:latin typeface="Arial"/>
                <a:cs typeface="Arial"/>
              </a:rPr>
              <a:t>ى</a:t>
            </a:r>
            <a:r>
              <a:rPr dirty="0" baseline="6172" sz="2700" spc="-532">
                <a:latin typeface="Arial"/>
                <a:cs typeface="Arial"/>
              </a:rPr>
              <a:t>ٰ    </a:t>
            </a:r>
            <a:r>
              <a:rPr dirty="0" baseline="1543" sz="2700" spc="-442">
                <a:latin typeface="Arial"/>
                <a:cs typeface="Arial"/>
              </a:rPr>
              <a:t>ن</a:t>
            </a:r>
            <a:r>
              <a:rPr dirty="0" baseline="9259" sz="2700" spc="-442">
                <a:latin typeface="Arial"/>
                <a:cs typeface="Arial"/>
              </a:rPr>
              <a:t>َّ  </a:t>
            </a:r>
            <a:r>
              <a:rPr dirty="0" baseline="15432" sz="2700">
                <a:latin typeface="Arial"/>
                <a:cs typeface="Arial"/>
              </a:rPr>
              <a:t>َ</a:t>
            </a:r>
            <a:r>
              <a:rPr dirty="0" baseline="1543" sz="2700">
                <a:latin typeface="Arial"/>
                <a:cs typeface="Arial"/>
              </a:rPr>
              <a:t>أ </a:t>
            </a:r>
            <a:r>
              <a:rPr dirty="0" baseline="1543" sz="2700" spc="-525">
                <a:latin typeface="Arial"/>
                <a:cs typeface="Arial"/>
              </a:rPr>
              <a:t>بِّ       </a:t>
            </a:r>
            <a:r>
              <a:rPr dirty="0" baseline="1543" sz="2700" spc="-494">
                <a:latin typeface="Arial"/>
                <a:cs typeface="Arial"/>
              </a:rPr>
              <a:t>ر</a:t>
            </a:r>
            <a:r>
              <a:rPr dirty="0" baseline="-1543" sz="2700" spc="-494">
                <a:latin typeface="Arial"/>
                <a:cs typeface="Arial"/>
              </a:rPr>
              <a:t>َ       </a:t>
            </a:r>
            <a:r>
              <a:rPr dirty="0" baseline="1543" sz="2700" spc="-735">
                <a:latin typeface="Arial"/>
                <a:cs typeface="Arial"/>
              </a:rPr>
              <a:t>ت</a:t>
            </a:r>
            <a:r>
              <a:rPr dirty="0" baseline="7716" sz="2700" spc="-735">
                <a:latin typeface="Arial"/>
                <a:cs typeface="Arial"/>
              </a:rPr>
              <a:t>ْ                                                                                                    </a:t>
            </a:r>
            <a:r>
              <a:rPr dirty="0" baseline="1543" sz="2700" spc="-690">
                <a:latin typeface="Arial"/>
                <a:cs typeface="Arial"/>
              </a:rPr>
              <a:t>ل</a:t>
            </a:r>
            <a:r>
              <a:rPr dirty="0" baseline="9259" sz="2700" spc="-690">
                <a:latin typeface="Arial"/>
                <a:cs typeface="Arial"/>
              </a:rPr>
              <a:t>َ  </a:t>
            </a:r>
            <a:r>
              <a:rPr dirty="0" baseline="9259" sz="2700" spc="-652">
                <a:latin typeface="Arial"/>
                <a:cs typeface="Arial"/>
              </a:rPr>
              <a:t> </a:t>
            </a:r>
            <a:r>
              <a:rPr dirty="0" baseline="1543" sz="2700" spc="-727">
                <a:latin typeface="Arial"/>
                <a:cs typeface="Arial"/>
              </a:rPr>
              <a:t>اق</a:t>
            </a:r>
            <a:endParaRPr baseline="1543" sz="2700">
              <a:latin typeface="Arial"/>
              <a:cs typeface="Arial"/>
            </a:endParaRPr>
          </a:p>
          <a:p>
            <a:pPr algn="r" marR="72390">
              <a:lnSpc>
                <a:spcPts val="2150"/>
              </a:lnSpc>
            </a:pPr>
            <a:r>
              <a:rPr dirty="0" baseline="3086" sz="2700" spc="-532">
                <a:latin typeface="Arial"/>
                <a:cs typeface="Arial"/>
              </a:rPr>
              <a:t>نُ     </a:t>
            </a:r>
            <a:r>
              <a:rPr dirty="0" baseline="3086" sz="2700" spc="-509">
                <a:latin typeface="Arial"/>
                <a:cs typeface="Arial"/>
              </a:rPr>
              <a:t>وك</a:t>
            </a:r>
            <a:r>
              <a:rPr dirty="0" baseline="10802" sz="2700" spc="-509">
                <a:latin typeface="Arial"/>
                <a:cs typeface="Arial"/>
              </a:rPr>
              <a:t>ُ    </a:t>
            </a:r>
            <a:r>
              <a:rPr dirty="0" baseline="3086" sz="2700">
                <a:latin typeface="Arial"/>
                <a:cs typeface="Arial"/>
              </a:rPr>
              <a:t>ٌ</a:t>
            </a:r>
            <a:r>
              <a:rPr dirty="0" sz="1800">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44">
                <a:latin typeface="Arial"/>
                <a:cs typeface="Arial"/>
              </a:rPr>
              <a:t> </a:t>
            </a:r>
            <a:r>
              <a:rPr dirty="0" baseline="3086" sz="2700" spc="-465">
                <a:latin typeface="Arial"/>
                <a:cs typeface="Arial"/>
              </a:rPr>
              <a:t>نْ   </a:t>
            </a:r>
            <a:r>
              <a:rPr dirty="0" baseline="3086" sz="2700" spc="-757">
                <a:latin typeface="Arial"/>
                <a:cs typeface="Arial"/>
              </a:rPr>
              <a:t>ك</a:t>
            </a:r>
            <a:r>
              <a:rPr dirty="0" baseline="10802" sz="2700" spc="-757">
                <a:latin typeface="Arial"/>
                <a:cs typeface="Arial"/>
              </a:rPr>
              <a:t>ُ</a:t>
            </a:r>
            <a:r>
              <a:rPr dirty="0" baseline="10802" sz="2700" spc="937">
                <a:latin typeface="Arial"/>
                <a:cs typeface="Arial"/>
              </a:rPr>
              <a:t> </a:t>
            </a:r>
            <a:r>
              <a:rPr dirty="0" baseline="3086" sz="2700" spc="-322">
                <a:latin typeface="Arial"/>
                <a:cs typeface="Arial"/>
              </a:rPr>
              <a:t>هُ  </a:t>
            </a:r>
            <a:r>
              <a:rPr dirty="0" baseline="10802" sz="2700" spc="-405">
                <a:latin typeface="Arial"/>
                <a:cs typeface="Arial"/>
              </a:rPr>
              <a:t>َ</a:t>
            </a:r>
            <a:r>
              <a:rPr dirty="0" baseline="3086" sz="2700" spc="-405">
                <a:latin typeface="Arial"/>
                <a:cs typeface="Arial"/>
              </a:rPr>
              <a:t>ل  </a:t>
            </a:r>
            <a:r>
              <a:rPr dirty="0" baseline="3086" sz="2700" spc="-652">
                <a:latin typeface="Arial"/>
                <a:cs typeface="Arial"/>
              </a:rPr>
              <a:t>لُ             </a:t>
            </a:r>
            <a:r>
              <a:rPr dirty="0" baseline="3086" sz="2700" spc="-179">
                <a:latin typeface="Arial"/>
                <a:cs typeface="Arial"/>
              </a:rPr>
              <a:t>و</a:t>
            </a:r>
            <a:r>
              <a:rPr dirty="0" baseline="10802" sz="2700" spc="-179">
                <a:latin typeface="Arial"/>
                <a:cs typeface="Arial"/>
              </a:rPr>
              <a:t>ُ</a:t>
            </a:r>
            <a:r>
              <a:rPr dirty="0" baseline="3086" sz="2700" spc="-179">
                <a:latin typeface="Arial"/>
                <a:cs typeface="Arial"/>
              </a:rPr>
              <a:t>قٌ</a:t>
            </a:r>
            <a:r>
              <a:rPr dirty="0" sz="1800" spc="-120">
                <a:latin typeface="Arial"/>
                <a:cs typeface="Arial"/>
              </a:rPr>
              <a:t>َ  </a:t>
            </a:r>
            <a:r>
              <a:rPr dirty="0" baseline="3086" sz="2700" spc="-225">
                <a:latin typeface="Arial"/>
                <a:cs typeface="Arial"/>
              </a:rPr>
              <a:t>ام</a:t>
            </a:r>
            <a:r>
              <a:rPr dirty="0" sz="1800" spc="-150">
                <a:latin typeface="Arial"/>
                <a:cs typeface="Arial"/>
              </a:rPr>
              <a:t>َ  </a:t>
            </a:r>
            <a:r>
              <a:rPr dirty="0" baseline="3086" sz="2700" spc="-442">
                <a:latin typeface="Arial"/>
                <a:cs typeface="Arial"/>
              </a:rPr>
              <a:t>ن</a:t>
            </a:r>
            <a:r>
              <a:rPr dirty="0" baseline="10802" sz="2700" spc="-442">
                <a:latin typeface="Arial"/>
                <a:cs typeface="Arial"/>
              </a:rPr>
              <a:t>َّ</a:t>
            </a:r>
            <a:r>
              <a:rPr dirty="0" baseline="10802" sz="2700" spc="-419">
                <a:latin typeface="Arial"/>
                <a:cs typeface="Arial"/>
              </a:rPr>
              <a:t> </a:t>
            </a:r>
            <a:r>
              <a:rPr dirty="0" baseline="-10802" sz="2700" spc="-675">
                <a:latin typeface="Arial"/>
                <a:cs typeface="Arial"/>
              </a:rPr>
              <a:t>ِ</a:t>
            </a:r>
            <a:r>
              <a:rPr dirty="0" baseline="3086" sz="2700" spc="-675">
                <a:latin typeface="Arial"/>
                <a:cs typeface="Arial"/>
              </a:rPr>
              <a:t>إف</a:t>
            </a:r>
            <a:endParaRPr baseline="3086" sz="2700">
              <a:latin typeface="Arial"/>
              <a:cs typeface="Arial"/>
            </a:endParaRPr>
          </a:p>
        </p:txBody>
      </p:sp>
      <p:sp>
        <p:nvSpPr>
          <p:cNvPr id="7" name="object 7"/>
          <p:cNvSpPr txBox="1"/>
          <p:nvPr/>
        </p:nvSpPr>
        <p:spPr>
          <a:xfrm>
            <a:off x="693419" y="4392295"/>
            <a:ext cx="6360160" cy="1348740"/>
          </a:xfrm>
          <a:prstGeom prst="rect">
            <a:avLst/>
          </a:prstGeom>
        </p:spPr>
        <p:txBody>
          <a:bodyPr wrap="square" lIns="0" tIns="24765" rIns="0" bIns="0" rtlCol="0" vert="horz">
            <a:spAutoFit/>
          </a:bodyPr>
          <a:lstStyle/>
          <a:p>
            <a:pPr algn="just" marL="38100" marR="30480">
              <a:lnSpc>
                <a:spcPts val="1380"/>
              </a:lnSpc>
              <a:spcBef>
                <a:spcPts val="195"/>
              </a:spcBef>
              <a:buAutoNum type="arabicPeriod" startAt="47"/>
              <a:tabLst>
                <a:tab pos="294005" algn="l"/>
              </a:tabLst>
            </a:pPr>
            <a:r>
              <a:rPr dirty="0" sz="1200" spc="-5">
                <a:latin typeface="Arial"/>
                <a:cs typeface="Arial"/>
              </a:rPr>
              <a:t>She said: My </a:t>
            </a:r>
            <a:r>
              <a:rPr dirty="0" sz="1200">
                <a:latin typeface="Arial"/>
                <a:cs typeface="Arial"/>
              </a:rPr>
              <a:t>Lord! </a:t>
            </a:r>
            <a:r>
              <a:rPr dirty="0" sz="1200" spc="-5">
                <a:latin typeface="Arial"/>
                <a:cs typeface="Arial"/>
              </a:rPr>
              <a:t>How </a:t>
            </a:r>
            <a:r>
              <a:rPr dirty="0" sz="1200">
                <a:latin typeface="Arial"/>
                <a:cs typeface="Arial"/>
              </a:rPr>
              <a:t>can I </a:t>
            </a:r>
            <a:r>
              <a:rPr dirty="0" sz="1200" spc="-5">
                <a:latin typeface="Arial"/>
                <a:cs typeface="Arial"/>
              </a:rPr>
              <a:t>have a child when </a:t>
            </a:r>
            <a:r>
              <a:rPr dirty="0" sz="1200">
                <a:latin typeface="Arial"/>
                <a:cs typeface="Arial"/>
              </a:rPr>
              <a:t>no mortal </a:t>
            </a:r>
            <a:r>
              <a:rPr dirty="0" sz="1200" spc="-5">
                <a:latin typeface="Arial"/>
                <a:cs typeface="Arial"/>
              </a:rPr>
              <a:t>hath touched me? He </a:t>
            </a:r>
            <a:r>
              <a:rPr dirty="0" sz="1200">
                <a:latin typeface="Arial"/>
                <a:cs typeface="Arial"/>
              </a:rPr>
              <a:t>said: </a:t>
            </a:r>
            <a:r>
              <a:rPr dirty="0" sz="1200" spc="-10">
                <a:latin typeface="Arial"/>
                <a:cs typeface="Arial"/>
              </a:rPr>
              <a:t>So  </a:t>
            </a:r>
            <a:r>
              <a:rPr dirty="0" sz="1200" spc="-5">
                <a:latin typeface="Arial"/>
                <a:cs typeface="Arial"/>
              </a:rPr>
              <a:t>(it will </a:t>
            </a:r>
            <a:r>
              <a:rPr dirty="0" sz="1200">
                <a:latin typeface="Arial"/>
                <a:cs typeface="Arial"/>
              </a:rPr>
              <a:t>be). </a:t>
            </a:r>
            <a:r>
              <a:rPr dirty="0" sz="1200" spc="-5">
                <a:latin typeface="Arial"/>
                <a:cs typeface="Arial"/>
              </a:rPr>
              <a:t>Allah creates what He will. </a:t>
            </a:r>
            <a:r>
              <a:rPr dirty="0" sz="1200">
                <a:latin typeface="Arial"/>
                <a:cs typeface="Arial"/>
              </a:rPr>
              <a:t>If </a:t>
            </a:r>
            <a:r>
              <a:rPr dirty="0" sz="1200" spc="-5">
                <a:latin typeface="Arial"/>
                <a:cs typeface="Arial"/>
              </a:rPr>
              <a:t>He decrees a thing, He </a:t>
            </a:r>
            <a:r>
              <a:rPr dirty="0" sz="1200" spc="-10">
                <a:latin typeface="Arial"/>
                <a:cs typeface="Arial"/>
              </a:rPr>
              <a:t>says </a:t>
            </a:r>
            <a:r>
              <a:rPr dirty="0" sz="1200" spc="-5">
                <a:latin typeface="Arial"/>
                <a:cs typeface="Arial"/>
              </a:rPr>
              <a:t>unto </a:t>
            </a:r>
            <a:r>
              <a:rPr dirty="0" sz="1200">
                <a:latin typeface="Arial"/>
                <a:cs typeface="Arial"/>
              </a:rPr>
              <a:t>it </a:t>
            </a:r>
            <a:r>
              <a:rPr dirty="0" sz="1200" spc="-5">
                <a:latin typeface="Arial"/>
                <a:cs typeface="Arial"/>
              </a:rPr>
              <a:t>only: </a:t>
            </a:r>
            <a:r>
              <a:rPr dirty="0" sz="1200">
                <a:latin typeface="Arial"/>
                <a:cs typeface="Arial"/>
              </a:rPr>
              <a:t>Be! </a:t>
            </a:r>
            <a:r>
              <a:rPr dirty="0" sz="1200" spc="-5">
                <a:latin typeface="Arial"/>
                <a:cs typeface="Arial"/>
              </a:rPr>
              <a:t>and </a:t>
            </a:r>
            <a:r>
              <a:rPr dirty="0" sz="1200" spc="-10">
                <a:latin typeface="Arial"/>
                <a:cs typeface="Arial"/>
              </a:rPr>
              <a:t>it  </a:t>
            </a:r>
            <a:r>
              <a:rPr dirty="0" sz="1200">
                <a:latin typeface="Arial"/>
                <a:cs typeface="Arial"/>
              </a:rPr>
              <a:t>is.</a:t>
            </a:r>
            <a:endParaRPr sz="1200">
              <a:latin typeface="Arial"/>
              <a:cs typeface="Arial"/>
            </a:endParaRPr>
          </a:p>
          <a:p>
            <a:pPr>
              <a:lnSpc>
                <a:spcPct val="100000"/>
              </a:lnSpc>
              <a:spcBef>
                <a:spcPts val="20"/>
              </a:spcBef>
              <a:buFont typeface="Arial"/>
              <a:buAutoNum type="arabicPeriod" startAt="47"/>
            </a:pPr>
            <a:endParaRPr sz="1150">
              <a:latin typeface="Arial"/>
              <a:cs typeface="Arial"/>
            </a:endParaRPr>
          </a:p>
          <a:p>
            <a:pPr marL="3425190">
              <a:lnSpc>
                <a:spcPct val="100000"/>
              </a:lnSpc>
            </a:pPr>
            <a:r>
              <a:rPr dirty="0" baseline="3086" sz="2700" spc="-622">
                <a:latin typeface="Arial"/>
                <a:cs typeface="Arial"/>
              </a:rPr>
              <a:t>ل</a:t>
            </a:r>
            <a:r>
              <a:rPr dirty="0" sz="1800" spc="-415">
                <a:latin typeface="Arial"/>
                <a:cs typeface="Arial"/>
              </a:rPr>
              <a:t>َ </a:t>
            </a:r>
            <a:r>
              <a:rPr dirty="0" baseline="3086" sz="2700" spc="-480">
                <a:latin typeface="Arial"/>
                <a:cs typeface="Arial"/>
              </a:rPr>
              <a:t>ٌج</a:t>
            </a:r>
            <a:r>
              <a:rPr dirty="0" baseline="-7716" sz="2700" spc="-480">
                <a:latin typeface="Arial"/>
                <a:cs typeface="Arial"/>
              </a:rPr>
              <a:t>ِ </a:t>
            </a:r>
            <a:r>
              <a:rPr dirty="0" baseline="3086" sz="2700" spc="-607">
                <a:latin typeface="Arial"/>
                <a:cs typeface="Arial"/>
              </a:rPr>
              <a:t>ن</a:t>
            </a:r>
            <a:r>
              <a:rPr dirty="0" baseline="12345" sz="2700" spc="-607">
                <a:latin typeface="Arial"/>
                <a:cs typeface="Arial"/>
              </a:rPr>
              <a:t>ْ </a:t>
            </a:r>
            <a:r>
              <a:rPr dirty="0" baseline="3086" sz="2700" spc="-644">
                <a:latin typeface="Arial"/>
                <a:cs typeface="Arial"/>
              </a:rPr>
              <a:t>لإ</a:t>
            </a:r>
            <a:r>
              <a:rPr dirty="0" baseline="-10802" sz="2700" spc="-644">
                <a:latin typeface="Arial"/>
                <a:cs typeface="Arial"/>
              </a:rPr>
              <a:t>ِ </a:t>
            </a:r>
            <a:r>
              <a:rPr dirty="0" baseline="3086" sz="2700" spc="-209">
                <a:latin typeface="Arial"/>
                <a:cs typeface="Arial"/>
              </a:rPr>
              <a:t>ٱو</a:t>
            </a:r>
            <a:r>
              <a:rPr dirty="0" sz="1800" spc="-140">
                <a:latin typeface="Arial"/>
                <a:cs typeface="Arial"/>
              </a:rPr>
              <a:t>َ </a:t>
            </a:r>
            <a:r>
              <a:rPr dirty="0" baseline="3086" sz="2700" spc="-345">
                <a:latin typeface="Arial"/>
                <a:cs typeface="Arial"/>
              </a:rPr>
              <a:t>ة</a:t>
            </a:r>
            <a:r>
              <a:rPr dirty="0" baseline="4629" sz="2700" spc="-345">
                <a:latin typeface="Arial"/>
                <a:cs typeface="Arial"/>
              </a:rPr>
              <a:t>َ </a:t>
            </a:r>
            <a:r>
              <a:rPr dirty="0" baseline="3086" sz="2700" spc="-330">
                <a:latin typeface="Arial"/>
                <a:cs typeface="Arial"/>
              </a:rPr>
              <a:t>ار</a:t>
            </a:r>
            <a:r>
              <a:rPr dirty="0" sz="1800" spc="-220">
                <a:latin typeface="Arial"/>
                <a:cs typeface="Arial"/>
              </a:rPr>
              <a:t>َ </a:t>
            </a:r>
            <a:r>
              <a:rPr dirty="0" baseline="3086" sz="2700" spc="-270">
                <a:latin typeface="Arial"/>
                <a:cs typeface="Arial"/>
              </a:rPr>
              <a:t>وْ </a:t>
            </a:r>
            <a:r>
              <a:rPr dirty="0" baseline="3086" sz="2700" spc="-607">
                <a:latin typeface="Arial"/>
                <a:cs typeface="Arial"/>
              </a:rPr>
              <a:t>ت</a:t>
            </a:r>
            <a:r>
              <a:rPr dirty="0" baseline="10802" sz="2700" spc="-607">
                <a:latin typeface="Arial"/>
                <a:cs typeface="Arial"/>
              </a:rPr>
              <a:t>َّ </a:t>
            </a:r>
            <a:r>
              <a:rPr dirty="0" baseline="3086" sz="2700" spc="-359">
                <a:latin typeface="Arial"/>
                <a:cs typeface="Arial"/>
              </a:rPr>
              <a:t>لٱو</a:t>
            </a:r>
            <a:r>
              <a:rPr dirty="0" sz="1800" spc="-240">
                <a:latin typeface="Arial"/>
                <a:cs typeface="Arial"/>
              </a:rPr>
              <a:t>َ </a:t>
            </a:r>
            <a:r>
              <a:rPr dirty="0" baseline="3086" sz="2700" spc="-284">
                <a:latin typeface="Arial"/>
                <a:cs typeface="Arial"/>
              </a:rPr>
              <a:t>ة</a:t>
            </a:r>
            <a:r>
              <a:rPr dirty="0" baseline="10802" sz="2700" spc="-284">
                <a:latin typeface="Arial"/>
                <a:cs typeface="Arial"/>
              </a:rPr>
              <a:t>َ </a:t>
            </a:r>
            <a:r>
              <a:rPr dirty="0" baseline="3086" sz="2700" spc="-359">
                <a:latin typeface="Arial"/>
                <a:cs typeface="Arial"/>
              </a:rPr>
              <a:t>م</a:t>
            </a:r>
            <a:r>
              <a:rPr dirty="0" sz="1800" spc="-240">
                <a:latin typeface="Arial"/>
                <a:cs typeface="Arial"/>
              </a:rPr>
              <a:t>َ </a:t>
            </a:r>
            <a:r>
              <a:rPr dirty="0" baseline="3086" sz="2700" spc="-682">
                <a:latin typeface="Arial"/>
                <a:cs typeface="Arial"/>
              </a:rPr>
              <a:t>ك</a:t>
            </a:r>
            <a:r>
              <a:rPr dirty="0" baseline="12345" sz="2700" spc="-682">
                <a:latin typeface="Arial"/>
                <a:cs typeface="Arial"/>
              </a:rPr>
              <a:t>ْ </a:t>
            </a:r>
            <a:r>
              <a:rPr dirty="0" baseline="3086" sz="2700" spc="-719">
                <a:latin typeface="Arial"/>
                <a:cs typeface="Arial"/>
              </a:rPr>
              <a:t>ح</a:t>
            </a:r>
            <a:r>
              <a:rPr dirty="0" baseline="1543" sz="2700" spc="-719">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209">
                <a:latin typeface="Arial"/>
                <a:cs typeface="Arial"/>
              </a:rPr>
              <a:t>ٱو</a:t>
            </a:r>
            <a:r>
              <a:rPr dirty="0" sz="1800" spc="-140">
                <a:latin typeface="Arial"/>
                <a:cs typeface="Arial"/>
              </a:rPr>
              <a:t>َ </a:t>
            </a:r>
            <a:r>
              <a:rPr dirty="0" baseline="3086" sz="2700" spc="-772">
                <a:latin typeface="Arial"/>
                <a:cs typeface="Arial"/>
              </a:rPr>
              <a:t>ب</a:t>
            </a:r>
            <a:r>
              <a:rPr dirty="0" sz="1800" spc="-515">
                <a:latin typeface="Arial"/>
                <a:cs typeface="Arial"/>
              </a:rPr>
              <a:t>َ</a:t>
            </a:r>
            <a:r>
              <a:rPr dirty="0" sz="1800" spc="520">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412">
                <a:latin typeface="Arial"/>
                <a:cs typeface="Arial"/>
              </a:rPr>
              <a:t> </a:t>
            </a:r>
            <a:r>
              <a:rPr dirty="0" baseline="23148" sz="2700" spc="-487">
                <a:latin typeface="Arial"/>
                <a:cs typeface="Arial"/>
              </a:rPr>
              <a:t>ٰ</a:t>
            </a:r>
            <a:r>
              <a:rPr dirty="0" baseline="3086" sz="2700" spc="-487">
                <a:latin typeface="Arial"/>
                <a:cs typeface="Arial"/>
              </a:rPr>
              <a:t>ك</a:t>
            </a:r>
            <a:r>
              <a:rPr dirty="0" baseline="1543" sz="2700" spc="-487">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322">
                <a:latin typeface="Arial"/>
                <a:cs typeface="Arial"/>
              </a:rPr>
              <a:t>هُ </a:t>
            </a:r>
            <a:r>
              <a:rPr dirty="0" baseline="3086" sz="2700" spc="-397">
                <a:latin typeface="Arial"/>
                <a:cs typeface="Arial"/>
              </a:rPr>
              <a:t>مُ</a:t>
            </a:r>
            <a:r>
              <a:rPr dirty="0" baseline="3086" sz="2700" spc="-465">
                <a:latin typeface="Arial"/>
                <a:cs typeface="Arial"/>
              </a:rPr>
              <a:t> </a:t>
            </a:r>
            <a:r>
              <a:rPr dirty="0" baseline="13888" sz="2700" spc="-405">
                <a:latin typeface="Arial"/>
                <a:cs typeface="Arial"/>
              </a:rPr>
              <a:t>ِّ</a:t>
            </a:r>
            <a:r>
              <a:rPr dirty="0" baseline="3086" sz="2700" spc="-405">
                <a:latin typeface="Arial"/>
                <a:cs typeface="Arial"/>
              </a:rPr>
              <a:t>لع</a:t>
            </a:r>
            <a:r>
              <a:rPr dirty="0" sz="1800" spc="-270">
                <a:latin typeface="Arial"/>
                <a:cs typeface="Arial"/>
              </a:rPr>
              <a:t>َ </a:t>
            </a:r>
            <a:r>
              <a:rPr dirty="0" baseline="3086" sz="2700">
                <a:latin typeface="Arial"/>
                <a:cs typeface="Arial"/>
              </a:rPr>
              <a:t>ٌُ </a:t>
            </a:r>
            <a:r>
              <a:rPr dirty="0" baseline="3086" sz="2700" spc="-615">
                <a:latin typeface="Arial"/>
                <a:cs typeface="Arial"/>
              </a:rPr>
              <a:t>و</a:t>
            </a:r>
            <a:endParaRPr baseline="3086" sz="2700">
              <a:latin typeface="Arial"/>
              <a:cs typeface="Arial"/>
            </a:endParaRPr>
          </a:p>
          <a:p>
            <a:pPr algn="just" marL="293370" indent="-255904">
              <a:lnSpc>
                <a:spcPct val="100000"/>
              </a:lnSpc>
              <a:spcBef>
                <a:spcPts val="1240"/>
              </a:spcBef>
              <a:buAutoNum type="arabicPeriod" startAt="48"/>
              <a:tabLst>
                <a:tab pos="294005" algn="l"/>
              </a:tabLst>
            </a:pPr>
            <a:r>
              <a:rPr dirty="0" sz="1200" spc="-5">
                <a:latin typeface="Arial"/>
                <a:cs typeface="Arial"/>
              </a:rPr>
              <a:t>And </a:t>
            </a:r>
            <a:r>
              <a:rPr dirty="0" sz="1200" spc="-10">
                <a:latin typeface="Arial"/>
                <a:cs typeface="Arial"/>
              </a:rPr>
              <a:t>He will </a:t>
            </a:r>
            <a:r>
              <a:rPr dirty="0" sz="1200">
                <a:latin typeface="Arial"/>
                <a:cs typeface="Arial"/>
              </a:rPr>
              <a:t>teach </a:t>
            </a:r>
            <a:r>
              <a:rPr dirty="0" sz="1200" spc="-5">
                <a:latin typeface="Arial"/>
                <a:cs typeface="Arial"/>
              </a:rPr>
              <a:t>him the Scripture and wisdom, and the </a:t>
            </a:r>
            <a:r>
              <a:rPr dirty="0" sz="1200">
                <a:latin typeface="Arial"/>
                <a:cs typeface="Arial"/>
              </a:rPr>
              <a:t>Torah </a:t>
            </a:r>
            <a:r>
              <a:rPr dirty="0" sz="1200" spc="-5">
                <a:latin typeface="Arial"/>
                <a:cs typeface="Arial"/>
              </a:rPr>
              <a:t>and the</a:t>
            </a:r>
            <a:r>
              <a:rPr dirty="0" sz="1200" spc="65">
                <a:latin typeface="Arial"/>
                <a:cs typeface="Arial"/>
              </a:rPr>
              <a:t> </a:t>
            </a:r>
            <a:r>
              <a:rPr dirty="0" sz="1200" spc="-5">
                <a:latin typeface="Arial"/>
                <a:cs typeface="Arial"/>
              </a:rPr>
              <a:t>Gospel.</a:t>
            </a:r>
            <a:endParaRPr sz="1200">
              <a:latin typeface="Arial"/>
              <a:cs typeface="Arial"/>
            </a:endParaRPr>
          </a:p>
        </p:txBody>
      </p:sp>
      <p:sp>
        <p:nvSpPr>
          <p:cNvPr id="8" name="object 8"/>
          <p:cNvSpPr txBox="1"/>
          <p:nvPr/>
        </p:nvSpPr>
        <p:spPr>
          <a:xfrm>
            <a:off x="1062024" y="5883020"/>
            <a:ext cx="3648710" cy="299720"/>
          </a:xfrm>
          <a:prstGeom prst="rect">
            <a:avLst/>
          </a:prstGeom>
        </p:spPr>
        <p:txBody>
          <a:bodyPr wrap="square" lIns="0" tIns="12700" rIns="0" bIns="0" rtlCol="0" vert="horz">
            <a:spAutoFit/>
          </a:bodyPr>
          <a:lstStyle/>
          <a:p>
            <a:pPr marL="50800">
              <a:lnSpc>
                <a:spcPct val="100000"/>
              </a:lnSpc>
              <a:spcBef>
                <a:spcPts val="100"/>
              </a:spcBef>
            </a:pPr>
            <a:r>
              <a:rPr dirty="0" baseline="1543" sz="2700" spc="-337">
                <a:latin typeface="Arial"/>
                <a:cs typeface="Arial"/>
              </a:rPr>
              <a:t>ة</a:t>
            </a:r>
            <a:r>
              <a:rPr dirty="0" sz="1800" spc="-225">
                <a:latin typeface="Arial"/>
                <a:cs typeface="Arial"/>
              </a:rPr>
              <a:t>ِ </a:t>
            </a:r>
            <a:r>
              <a:rPr dirty="0" baseline="1543" sz="2700" spc="-794">
                <a:latin typeface="Arial"/>
                <a:cs typeface="Arial"/>
              </a:rPr>
              <a:t>ئ</a:t>
            </a:r>
            <a:r>
              <a:rPr dirty="0" baseline="6172" sz="2700" spc="-794">
                <a:latin typeface="Arial"/>
                <a:cs typeface="Arial"/>
              </a:rPr>
              <a:t>َ</a:t>
            </a:r>
            <a:r>
              <a:rPr dirty="0" baseline="6172" sz="2700" spc="-232">
                <a:latin typeface="Arial"/>
                <a:cs typeface="Arial"/>
              </a:rPr>
              <a:t> </a:t>
            </a:r>
            <a:r>
              <a:rPr dirty="0" baseline="1543" sz="2700">
                <a:latin typeface="Arial"/>
                <a:cs typeface="Arial"/>
              </a:rPr>
              <a:t>ٌْ </a:t>
            </a:r>
            <a:r>
              <a:rPr dirty="0" baseline="1543" sz="2700" spc="-322">
                <a:latin typeface="Arial"/>
                <a:cs typeface="Arial"/>
              </a:rPr>
              <a:t>ه</a:t>
            </a:r>
            <a:r>
              <a:rPr dirty="0" baseline="-1543" sz="2700" spc="-322">
                <a:latin typeface="Arial"/>
                <a:cs typeface="Arial"/>
              </a:rPr>
              <a:t>َ </a:t>
            </a:r>
            <a:r>
              <a:rPr dirty="0" baseline="1543" sz="2700" spc="-719">
                <a:latin typeface="Arial"/>
                <a:cs typeface="Arial"/>
              </a:rPr>
              <a:t>ك</a:t>
            </a:r>
            <a:r>
              <a:rPr dirty="0" baseline="6172" sz="2700" spc="-719">
                <a:latin typeface="Arial"/>
                <a:cs typeface="Arial"/>
              </a:rPr>
              <a:t>َ </a:t>
            </a:r>
            <a:r>
              <a:rPr dirty="0" baseline="1543" sz="2700" spc="-607">
                <a:latin typeface="Arial"/>
                <a:cs typeface="Arial"/>
              </a:rPr>
              <a:t>ن</a:t>
            </a:r>
            <a:r>
              <a:rPr dirty="0" baseline="-12345" sz="2700" spc="-607">
                <a:latin typeface="Arial"/>
                <a:cs typeface="Arial"/>
              </a:rPr>
              <a:t>ِ  </a:t>
            </a:r>
            <a:r>
              <a:rPr dirty="0" baseline="1543" sz="2700" spc="-337">
                <a:latin typeface="Arial"/>
                <a:cs typeface="Arial"/>
              </a:rPr>
              <a:t>ٌط</a:t>
            </a:r>
            <a:r>
              <a:rPr dirty="0" baseline="15432" sz="2700" spc="-337">
                <a:latin typeface="Arial"/>
                <a:cs typeface="Arial"/>
              </a:rPr>
              <a:t>ِّ </a:t>
            </a:r>
            <a:r>
              <a:rPr dirty="0" baseline="1543" sz="2700" spc="-412">
                <a:latin typeface="Arial"/>
                <a:cs typeface="Arial"/>
              </a:rPr>
              <a:t>لٱ </a:t>
            </a:r>
            <a:r>
              <a:rPr dirty="0" baseline="1543" sz="2700" spc="-494">
                <a:latin typeface="Arial"/>
                <a:cs typeface="Arial"/>
              </a:rPr>
              <a:t>ن</a:t>
            </a:r>
            <a:r>
              <a:rPr dirty="0" baseline="-1543" sz="2700" spc="-494">
                <a:latin typeface="Arial"/>
                <a:cs typeface="Arial"/>
              </a:rPr>
              <a:t>َ </a:t>
            </a:r>
            <a:r>
              <a:rPr dirty="0" baseline="1543" sz="2700" spc="-254">
                <a:latin typeface="Arial"/>
                <a:cs typeface="Arial"/>
              </a:rPr>
              <a:t>مِّ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9259" sz="2700" spc="-405">
                <a:latin typeface="Arial"/>
                <a:cs typeface="Arial"/>
              </a:rPr>
              <a:t>َ</a:t>
            </a:r>
            <a:r>
              <a:rPr dirty="0" baseline="1543" sz="2700" spc="-405">
                <a:latin typeface="Arial"/>
                <a:cs typeface="Arial"/>
              </a:rPr>
              <a:t>ل </a:t>
            </a:r>
            <a:r>
              <a:rPr dirty="0" baseline="1543" sz="2700" spc="-592">
                <a:latin typeface="Arial"/>
                <a:cs typeface="Arial"/>
              </a:rPr>
              <a:t>ق</a:t>
            </a:r>
            <a:r>
              <a:rPr dirty="0" baseline="6172" sz="2700" spc="-592">
                <a:latin typeface="Arial"/>
                <a:cs typeface="Arial"/>
              </a:rPr>
              <a:t>ُ </a:t>
            </a:r>
            <a:r>
              <a:rPr dirty="0" baseline="12345" sz="2700" spc="-487">
                <a:latin typeface="Arial"/>
                <a:cs typeface="Arial"/>
              </a:rPr>
              <a:t>ُ</a:t>
            </a:r>
            <a:r>
              <a:rPr dirty="0" baseline="1543" sz="2700" spc="-487">
                <a:latin typeface="Arial"/>
                <a:cs typeface="Arial"/>
              </a:rPr>
              <a:t>لخ</a:t>
            </a:r>
            <a:r>
              <a:rPr dirty="0" baseline="9259" sz="2700" spc="-487">
                <a:latin typeface="Arial"/>
                <a:cs typeface="Arial"/>
              </a:rPr>
              <a:t>ْ </a:t>
            </a:r>
            <a:r>
              <a:rPr dirty="0" baseline="15432" sz="2700">
                <a:latin typeface="Arial"/>
                <a:cs typeface="Arial"/>
              </a:rPr>
              <a:t>َ</a:t>
            </a:r>
            <a:r>
              <a:rPr dirty="0" baseline="1543" sz="2700">
                <a:latin typeface="Arial"/>
                <a:cs typeface="Arial"/>
              </a:rPr>
              <a:t>أ ً</a:t>
            </a:r>
            <a:r>
              <a:rPr dirty="0" baseline="7716" sz="2700">
                <a:latin typeface="Arial"/>
                <a:cs typeface="Arial"/>
              </a:rPr>
              <a:t>ۤ </a:t>
            </a:r>
            <a:r>
              <a:rPr dirty="0" baseline="1543" sz="2700" spc="-705">
                <a:latin typeface="Arial"/>
                <a:cs typeface="Arial"/>
              </a:rPr>
              <a:t>ن</a:t>
            </a:r>
            <a:r>
              <a:rPr dirty="0" sz="1800" spc="-470">
                <a:latin typeface="Arial"/>
                <a:cs typeface="Arial"/>
              </a:rPr>
              <a:t>ِ </a:t>
            </a:r>
            <a:r>
              <a:rPr dirty="0" baseline="15432" sz="2700">
                <a:latin typeface="Arial"/>
                <a:cs typeface="Arial"/>
              </a:rPr>
              <a:t>َ</a:t>
            </a:r>
            <a:r>
              <a:rPr dirty="0" baseline="1543" sz="2700">
                <a:latin typeface="Arial"/>
                <a:cs typeface="Arial"/>
              </a:rPr>
              <a:t>أ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79">
                <a:latin typeface="Arial"/>
                <a:cs typeface="Arial"/>
              </a:rPr>
              <a:t> </a:t>
            </a:r>
            <a:r>
              <a:rPr dirty="0" baseline="1543" sz="2700" spc="-607">
                <a:latin typeface="Arial"/>
                <a:cs typeface="Arial"/>
              </a:rPr>
              <a:t>بِّ </a:t>
            </a:r>
            <a:r>
              <a:rPr dirty="0" baseline="1543" sz="2700" spc="-345">
                <a:latin typeface="Arial"/>
                <a:cs typeface="Arial"/>
              </a:rPr>
              <a:t>ر</a:t>
            </a:r>
            <a:r>
              <a:rPr dirty="0" sz="1800" spc="-229">
                <a:latin typeface="Arial"/>
                <a:cs typeface="Arial"/>
              </a:rPr>
              <a:t>َّ </a:t>
            </a:r>
            <a:r>
              <a:rPr dirty="0" baseline="1543" sz="2700" spc="-195">
                <a:latin typeface="Arial"/>
                <a:cs typeface="Arial"/>
              </a:rPr>
              <a:t>نمِّ </a:t>
            </a:r>
            <a:r>
              <a:rPr dirty="0" baseline="1543" sz="2700" spc="-359">
                <a:latin typeface="Arial"/>
                <a:cs typeface="Arial"/>
              </a:rPr>
              <a:t>ةٍ </a:t>
            </a:r>
            <a:r>
              <a:rPr dirty="0" baseline="1543" sz="2700">
                <a:latin typeface="Arial"/>
                <a:cs typeface="Arial"/>
              </a:rPr>
              <a:t>ٌ</a:t>
            </a:r>
            <a:r>
              <a:rPr dirty="0" baseline="-1543" sz="2700">
                <a:latin typeface="Arial"/>
                <a:cs typeface="Arial"/>
              </a:rPr>
              <a:t>َ </a:t>
            </a:r>
            <a:r>
              <a:rPr dirty="0" baseline="1543" sz="2700" spc="-622">
                <a:latin typeface="Arial"/>
                <a:cs typeface="Arial"/>
              </a:rPr>
              <a:t>آب</a:t>
            </a:r>
            <a:r>
              <a:rPr dirty="0" baseline="-12345" sz="2700" spc="-622">
                <a:latin typeface="Arial"/>
                <a:cs typeface="Arial"/>
              </a:rPr>
              <a:t>ِ </a:t>
            </a:r>
            <a:r>
              <a:rPr dirty="0" baseline="1543" sz="2700" spc="-352">
                <a:latin typeface="Arial"/>
                <a:cs typeface="Arial"/>
              </a:rPr>
              <a:t>م</a:t>
            </a:r>
            <a:r>
              <a:rPr dirty="0" baseline="-3086" sz="2700" spc="-352">
                <a:latin typeface="Arial"/>
                <a:cs typeface="Arial"/>
              </a:rPr>
              <a:t>ْ</a:t>
            </a:r>
            <a:r>
              <a:rPr dirty="0" baseline="-3086" sz="2700" spc="-322">
                <a:latin typeface="Arial"/>
                <a:cs typeface="Arial"/>
              </a:rPr>
              <a:t> </a:t>
            </a:r>
            <a:r>
              <a:rPr dirty="0" baseline="1543" sz="2700" spc="-765">
                <a:latin typeface="Arial"/>
                <a:cs typeface="Arial"/>
              </a:rPr>
              <a:t>ك</a:t>
            </a:r>
            <a:r>
              <a:rPr dirty="0" baseline="9259" sz="2700" spc="-765">
                <a:latin typeface="Arial"/>
                <a:cs typeface="Arial"/>
              </a:rPr>
              <a:t>ُ</a:t>
            </a:r>
            <a:r>
              <a:rPr dirty="0" baseline="9259" sz="2700" spc="187">
                <a:latin typeface="Arial"/>
                <a:cs typeface="Arial"/>
              </a:rPr>
              <a:t> </a:t>
            </a:r>
            <a:r>
              <a:rPr dirty="0" baseline="1543" sz="2700" spc="-930">
                <a:latin typeface="Arial"/>
                <a:cs typeface="Arial"/>
              </a:rPr>
              <a:t>ت</a:t>
            </a:r>
            <a:r>
              <a:rPr dirty="0" baseline="9259" sz="2700" spc="-930">
                <a:latin typeface="Arial"/>
                <a:cs typeface="Arial"/>
              </a:rPr>
              <a:t>ُ</a:t>
            </a:r>
            <a:r>
              <a:rPr dirty="0" baseline="9259" sz="2700" spc="-150">
                <a:latin typeface="Arial"/>
                <a:cs typeface="Arial"/>
              </a:rPr>
              <a:t> </a:t>
            </a:r>
            <a:r>
              <a:rPr dirty="0" baseline="1543" sz="2700" spc="-757">
                <a:latin typeface="Arial"/>
                <a:cs typeface="Arial"/>
              </a:rPr>
              <a:t>ئ</a:t>
            </a:r>
            <a:r>
              <a:rPr dirty="0" baseline="9259" sz="2700" spc="-757">
                <a:latin typeface="Arial"/>
                <a:cs typeface="Arial"/>
              </a:rPr>
              <a:t>ْ</a:t>
            </a:r>
            <a:r>
              <a:rPr dirty="0" baseline="9259" sz="2700" spc="-307">
                <a:latin typeface="Arial"/>
                <a:cs typeface="Arial"/>
              </a:rPr>
              <a:t> </a:t>
            </a:r>
            <a:r>
              <a:rPr dirty="0" baseline="1543" sz="2700" spc="-1432">
                <a:latin typeface="Arial"/>
                <a:cs typeface="Arial"/>
              </a:rPr>
              <a:t>ج</a:t>
            </a:r>
            <a:endParaRPr baseline="1543" sz="2700">
              <a:latin typeface="Arial"/>
              <a:cs typeface="Arial"/>
            </a:endParaRPr>
          </a:p>
        </p:txBody>
      </p:sp>
      <p:sp>
        <p:nvSpPr>
          <p:cNvPr id="9" name="object 9"/>
          <p:cNvSpPr txBox="1"/>
          <p:nvPr/>
        </p:nvSpPr>
        <p:spPr>
          <a:xfrm>
            <a:off x="4520488" y="5890640"/>
            <a:ext cx="2520950" cy="299720"/>
          </a:xfrm>
          <a:prstGeom prst="rect">
            <a:avLst/>
          </a:prstGeom>
        </p:spPr>
        <p:txBody>
          <a:bodyPr wrap="square" lIns="0" tIns="12700" rIns="0" bIns="0" rtlCol="0" vert="horz">
            <a:spAutoFit/>
          </a:bodyPr>
          <a:lstStyle/>
          <a:p>
            <a:pPr marL="38100">
              <a:lnSpc>
                <a:spcPct val="100000"/>
              </a:lnSpc>
              <a:spcBef>
                <a:spcPts val="100"/>
              </a:spcBef>
            </a:pPr>
            <a:r>
              <a:rPr dirty="0" baseline="-7716" sz="2700">
                <a:latin typeface="Arial"/>
                <a:cs typeface="Arial"/>
              </a:rPr>
              <a:t>ِ </a:t>
            </a:r>
            <a:r>
              <a:rPr dirty="0" baseline="3086" sz="2700" spc="-284">
                <a:latin typeface="Arial"/>
                <a:cs typeface="Arial"/>
              </a:rPr>
              <a:t>د</a:t>
            </a:r>
            <a:r>
              <a:rPr dirty="0" baseline="6172" sz="2700" spc="-284">
                <a:latin typeface="Arial"/>
                <a:cs typeface="Arial"/>
              </a:rPr>
              <a:t>ْ </a:t>
            </a:r>
            <a:r>
              <a:rPr dirty="0" baseline="3086" sz="2700" spc="-757">
                <a:latin typeface="Arial"/>
                <a:cs typeface="Arial"/>
              </a:rPr>
              <a:t>ق</a:t>
            </a:r>
            <a:r>
              <a:rPr dirty="0" baseline="7716" sz="2700" spc="-757">
                <a:latin typeface="Arial"/>
                <a:cs typeface="Arial"/>
              </a:rPr>
              <a:t>َ</a:t>
            </a:r>
            <a:r>
              <a:rPr dirty="0" baseline="7716" sz="2700" spc="652">
                <a:latin typeface="Arial"/>
                <a:cs typeface="Arial"/>
              </a:rPr>
              <a:t> </a:t>
            </a:r>
            <a:r>
              <a:rPr dirty="0" baseline="3086" sz="2700" spc="-330">
                <a:latin typeface="Arial"/>
                <a:cs typeface="Arial"/>
              </a:rPr>
              <a:t>ًن</a:t>
            </a:r>
            <a:r>
              <a:rPr dirty="0" baseline="10802" sz="2700" spc="-330">
                <a:latin typeface="Arial"/>
                <a:cs typeface="Arial"/>
              </a:rPr>
              <a:t>ِّ </a:t>
            </a:r>
            <a:r>
              <a:rPr dirty="0" baseline="16975" sz="2700">
                <a:latin typeface="Arial"/>
                <a:cs typeface="Arial"/>
              </a:rPr>
              <a:t>َ</a:t>
            </a:r>
            <a:r>
              <a:rPr dirty="0" baseline="3086" sz="2700">
                <a:latin typeface="Arial"/>
                <a:cs typeface="Arial"/>
              </a:rPr>
              <a:t>أ </a:t>
            </a:r>
            <a:r>
              <a:rPr dirty="0" baseline="3086" sz="2700" spc="-615">
                <a:latin typeface="Arial"/>
                <a:cs typeface="Arial"/>
              </a:rPr>
              <a:t>ل</a:t>
            </a:r>
            <a:r>
              <a:rPr dirty="0" sz="1800" spc="-409">
                <a:latin typeface="Arial"/>
                <a:cs typeface="Arial"/>
              </a:rPr>
              <a:t>َ </a:t>
            </a:r>
            <a:r>
              <a:rPr dirty="0" baseline="3086" sz="2700" spc="-569">
                <a:latin typeface="Arial"/>
                <a:cs typeface="Arial"/>
              </a:rPr>
              <a:t>ٌئ</a:t>
            </a:r>
            <a:r>
              <a:rPr dirty="0" baseline="1543" sz="2700" spc="-569">
                <a:latin typeface="Arial"/>
                <a:cs typeface="Arial"/>
              </a:rPr>
              <a:t>ِ </a:t>
            </a:r>
            <a:r>
              <a:rPr dirty="0" baseline="3086" sz="2700" spc="-337">
                <a:latin typeface="Arial"/>
                <a:cs typeface="Arial"/>
              </a:rPr>
              <a:t>ار</a:t>
            </a:r>
            <a:r>
              <a:rPr dirty="0" sz="1800" spc="-225">
                <a:latin typeface="Arial"/>
                <a:cs typeface="Arial"/>
              </a:rPr>
              <a:t>َ </a:t>
            </a:r>
            <a:r>
              <a:rPr dirty="0" baseline="3086" sz="2700" spc="-944">
                <a:latin typeface="Arial"/>
                <a:cs typeface="Arial"/>
              </a:rPr>
              <a:t>سْ</a:t>
            </a:r>
            <a:r>
              <a:rPr dirty="0" baseline="3086" sz="2700" spc="330">
                <a:latin typeface="Arial"/>
                <a:cs typeface="Arial"/>
              </a:rPr>
              <a:t> </a:t>
            </a:r>
            <a:r>
              <a:rPr dirty="0" baseline="-10802" sz="2700">
                <a:latin typeface="Arial"/>
                <a:cs typeface="Arial"/>
              </a:rPr>
              <a:t>ِ</a:t>
            </a:r>
            <a:r>
              <a:rPr dirty="0" baseline="3086" sz="2700">
                <a:latin typeface="Arial"/>
                <a:cs typeface="Arial"/>
              </a:rPr>
              <a:t>إ ً</a:t>
            </a:r>
            <a:r>
              <a:rPr dirty="0" baseline="9259" sz="2700">
                <a:latin typeface="Arial"/>
                <a:cs typeface="Arial"/>
              </a:rPr>
              <a:t>ۤ </a:t>
            </a:r>
            <a:r>
              <a:rPr dirty="0" baseline="3086" sz="2700" spc="-705">
                <a:latin typeface="Arial"/>
                <a:cs typeface="Arial"/>
              </a:rPr>
              <a:t>ن</a:t>
            </a:r>
            <a:r>
              <a:rPr dirty="0" baseline="1543" sz="2700" spc="-705">
                <a:latin typeface="Arial"/>
                <a:cs typeface="Arial"/>
              </a:rPr>
              <a:t>ِ </a:t>
            </a:r>
            <a:r>
              <a:rPr dirty="0" baseline="3086" sz="2700" spc="-907">
                <a:latin typeface="Arial"/>
                <a:cs typeface="Arial"/>
              </a:rPr>
              <a:t>ب</a:t>
            </a:r>
            <a:r>
              <a:rPr dirty="0" sz="1800" spc="-605">
                <a:latin typeface="Arial"/>
                <a:cs typeface="Arial"/>
              </a:rPr>
              <a:t>َ</a:t>
            </a:r>
            <a:r>
              <a:rPr dirty="0" sz="1800" spc="355">
                <a:latin typeface="Arial"/>
                <a:cs typeface="Arial"/>
              </a:rPr>
              <a:t> </a:t>
            </a:r>
            <a:r>
              <a:rPr dirty="0" baseline="3086" sz="2700" spc="-532">
                <a:latin typeface="Arial"/>
                <a:cs typeface="Arial"/>
              </a:rPr>
              <a:t>ى</a:t>
            </a:r>
            <a:r>
              <a:rPr dirty="0" baseline="7716" sz="2700" spc="-532">
                <a:latin typeface="Arial"/>
                <a:cs typeface="Arial"/>
              </a:rPr>
              <a:t>ٰ </a:t>
            </a:r>
            <a:r>
              <a:rPr dirty="0" baseline="3086" sz="2700" spc="-690">
                <a:latin typeface="Arial"/>
                <a:cs typeface="Arial"/>
              </a:rPr>
              <a:t>ل</a:t>
            </a:r>
            <a:r>
              <a:rPr dirty="0" baseline="10802" sz="2700" spc="-690">
                <a:latin typeface="Arial"/>
                <a:cs typeface="Arial"/>
              </a:rPr>
              <a:t>َ </a:t>
            </a:r>
            <a:r>
              <a:rPr dirty="0" baseline="-10802" sz="2700">
                <a:latin typeface="Arial"/>
                <a:cs typeface="Arial"/>
              </a:rPr>
              <a:t>ِ</a:t>
            </a:r>
            <a:r>
              <a:rPr dirty="0" baseline="3086" sz="2700">
                <a:latin typeface="Arial"/>
                <a:cs typeface="Arial"/>
              </a:rPr>
              <a:t>إ </a:t>
            </a:r>
            <a:r>
              <a:rPr dirty="0" baseline="13888" sz="2700" spc="-419">
                <a:latin typeface="Arial"/>
                <a:cs typeface="Arial"/>
              </a:rPr>
              <a:t>ً</a:t>
            </a:r>
            <a:r>
              <a:rPr dirty="0" baseline="3086" sz="2700" spc="-419">
                <a:latin typeface="Arial"/>
                <a:cs typeface="Arial"/>
              </a:rPr>
              <a:t>لاوسُ </a:t>
            </a:r>
            <a:r>
              <a:rPr dirty="0" baseline="3086" sz="2700" spc="-494">
                <a:latin typeface="Arial"/>
                <a:cs typeface="Arial"/>
              </a:rPr>
              <a:t>ر</a:t>
            </a:r>
            <a:r>
              <a:rPr dirty="0" sz="1800" spc="-330">
                <a:latin typeface="Arial"/>
                <a:cs typeface="Arial"/>
              </a:rPr>
              <a:t>َ</a:t>
            </a:r>
            <a:r>
              <a:rPr dirty="0" sz="1800" spc="-175">
                <a:latin typeface="Arial"/>
                <a:cs typeface="Arial"/>
              </a:rPr>
              <a:t> </a:t>
            </a:r>
            <a:r>
              <a:rPr dirty="0" baseline="3086" sz="2700" spc="-615">
                <a:latin typeface="Arial"/>
                <a:cs typeface="Arial"/>
              </a:rPr>
              <a:t>و</a:t>
            </a:r>
            <a:endParaRPr baseline="3086" sz="2700">
              <a:latin typeface="Arial"/>
              <a:cs typeface="Arial"/>
            </a:endParaRPr>
          </a:p>
        </p:txBody>
      </p:sp>
      <p:sp>
        <p:nvSpPr>
          <p:cNvPr id="10" name="object 10"/>
          <p:cNvSpPr txBox="1"/>
          <p:nvPr/>
        </p:nvSpPr>
        <p:spPr>
          <a:xfrm>
            <a:off x="847648" y="6152769"/>
            <a:ext cx="6231255" cy="556260"/>
          </a:xfrm>
          <a:prstGeom prst="rect">
            <a:avLst/>
          </a:prstGeom>
        </p:spPr>
        <p:txBody>
          <a:bodyPr wrap="square" lIns="0" tIns="35560" rIns="0" bIns="0" rtlCol="0" vert="horz">
            <a:spAutoFit/>
          </a:bodyPr>
          <a:lstStyle/>
          <a:p>
            <a:pPr marL="616585" marR="55880" indent="-541020">
              <a:lnSpc>
                <a:spcPts val="2020"/>
              </a:lnSpc>
              <a:spcBef>
                <a:spcPts val="280"/>
              </a:spcBef>
            </a:pPr>
            <a:r>
              <a:rPr dirty="0" baseline="3086" sz="2700" spc="-885">
                <a:latin typeface="Arial"/>
                <a:cs typeface="Arial"/>
              </a:rPr>
              <a:t>للَّ</a:t>
            </a:r>
            <a:r>
              <a:rPr dirty="0" sz="1800" spc="-590">
                <a:latin typeface="Arial"/>
                <a:cs typeface="Arial"/>
              </a:rPr>
              <a:t>ِ</a:t>
            </a:r>
            <a:r>
              <a:rPr dirty="0" sz="1800" spc="-60">
                <a:latin typeface="Arial"/>
                <a:cs typeface="Arial"/>
              </a:rPr>
              <a:t> </a:t>
            </a:r>
            <a:r>
              <a:rPr dirty="0" baseline="15432" sz="2700">
                <a:latin typeface="Arial"/>
                <a:cs typeface="Arial"/>
              </a:rPr>
              <a:t>َّ </a:t>
            </a:r>
            <a:r>
              <a:rPr dirty="0" baseline="3086" sz="2700">
                <a:latin typeface="Arial"/>
                <a:cs typeface="Arial"/>
              </a:rPr>
              <a:t>ٱ </a:t>
            </a:r>
            <a:r>
              <a:rPr dirty="0" baseline="3086" sz="2700" spc="-607">
                <a:latin typeface="Arial"/>
                <a:cs typeface="Arial"/>
              </a:rPr>
              <a:t>ن</a:t>
            </a:r>
            <a:r>
              <a:rPr dirty="0" baseline="-10802" sz="2700" spc="-607">
                <a:latin typeface="Arial"/>
                <a:cs typeface="Arial"/>
              </a:rPr>
              <a:t>ِ  </a:t>
            </a:r>
            <a:r>
              <a:rPr dirty="0" baseline="3086" sz="2700" spc="-284">
                <a:latin typeface="Arial"/>
                <a:cs typeface="Arial"/>
              </a:rPr>
              <a:t>ذ</a:t>
            </a:r>
            <a:r>
              <a:rPr dirty="0" baseline="16975" sz="2700" spc="-284">
                <a:latin typeface="Arial"/>
                <a:cs typeface="Arial"/>
              </a:rPr>
              <a:t>ْ </a:t>
            </a:r>
            <a:r>
              <a:rPr dirty="0" baseline="-10802" sz="2700" spc="-472">
                <a:latin typeface="Arial"/>
                <a:cs typeface="Arial"/>
              </a:rPr>
              <a:t>ِ</a:t>
            </a:r>
            <a:r>
              <a:rPr dirty="0" baseline="3086" sz="2700" spc="-472">
                <a:latin typeface="Arial"/>
                <a:cs typeface="Arial"/>
              </a:rPr>
              <a:t>إب</a:t>
            </a:r>
            <a:r>
              <a:rPr dirty="0" baseline="-10802" sz="2700" spc="-472">
                <a:latin typeface="Arial"/>
                <a:cs typeface="Arial"/>
              </a:rPr>
              <a:t>ِ </a:t>
            </a:r>
            <a:r>
              <a:rPr dirty="0" baseline="3086" sz="2700" spc="-532">
                <a:latin typeface="Arial"/>
                <a:cs typeface="Arial"/>
              </a:rPr>
              <a:t>ى</a:t>
            </a:r>
            <a:r>
              <a:rPr dirty="0" baseline="7716" sz="2700" spc="-532">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187">
                <a:latin typeface="Arial"/>
                <a:cs typeface="Arial"/>
              </a:rPr>
              <a:t> </a:t>
            </a:r>
            <a:r>
              <a:rPr dirty="0" baseline="3086" sz="2700" spc="-270">
                <a:latin typeface="Arial"/>
                <a:cs typeface="Arial"/>
              </a:rPr>
              <a:t>وْ </a:t>
            </a:r>
            <a:r>
              <a:rPr dirty="0" baseline="3086" sz="2700" spc="-359">
                <a:latin typeface="Arial"/>
                <a:cs typeface="Arial"/>
              </a:rPr>
              <a:t>م</a:t>
            </a:r>
            <a:r>
              <a:rPr dirty="0" sz="1800" spc="-2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13888" sz="2700" spc="-277">
                <a:latin typeface="Arial"/>
                <a:cs typeface="Arial"/>
              </a:rPr>
              <a:t>ِ</a:t>
            </a:r>
            <a:r>
              <a:rPr dirty="0" baseline="3086" sz="2700" spc="-277">
                <a:latin typeface="Arial"/>
                <a:cs typeface="Arial"/>
              </a:rPr>
              <a:t>ًحْ </a:t>
            </a:r>
            <a:r>
              <a:rPr dirty="0" baseline="20061" sz="2700" spc="-157">
                <a:latin typeface="Arial"/>
                <a:cs typeface="Arial"/>
              </a:rPr>
              <a:t>ُ</a:t>
            </a:r>
            <a:r>
              <a:rPr dirty="0" baseline="3086" sz="2700" spc="-157">
                <a:latin typeface="Arial"/>
                <a:cs typeface="Arial"/>
              </a:rPr>
              <a:t>أو</a:t>
            </a:r>
            <a:r>
              <a:rPr dirty="0" sz="1800" spc="-105">
                <a:latin typeface="Arial"/>
                <a:cs typeface="Arial"/>
              </a:rPr>
              <a:t>َ </a:t>
            </a:r>
            <a:r>
              <a:rPr dirty="0" baseline="3086" sz="2700" spc="-1289">
                <a:latin typeface="Arial"/>
                <a:cs typeface="Arial"/>
              </a:rPr>
              <a:t>ص</a:t>
            </a:r>
            <a:r>
              <a:rPr dirty="0" sz="1800" spc="-860">
                <a:latin typeface="Arial"/>
                <a:cs typeface="Arial"/>
              </a:rPr>
              <a:t>َ</a:t>
            </a:r>
            <a:r>
              <a:rPr dirty="0" sz="1800" spc="1365">
                <a:latin typeface="Arial"/>
                <a:cs typeface="Arial"/>
              </a:rPr>
              <a:t> </a:t>
            </a:r>
            <a:r>
              <a:rPr dirty="0" baseline="3086" sz="2700" spc="-494">
                <a:latin typeface="Arial"/>
                <a:cs typeface="Arial"/>
              </a:rPr>
              <a:t>ر</a:t>
            </a:r>
            <a:r>
              <a:rPr dirty="0" sz="1800" spc="-330">
                <a:latin typeface="Arial"/>
                <a:cs typeface="Arial"/>
              </a:rPr>
              <a:t>َ </a:t>
            </a:r>
            <a:r>
              <a:rPr dirty="0" baseline="3086" sz="2700" spc="-862">
                <a:latin typeface="Arial"/>
                <a:cs typeface="Arial"/>
              </a:rPr>
              <a:t>بْ</a:t>
            </a:r>
            <a:r>
              <a:rPr dirty="0" baseline="3086" sz="2700" spc="-307">
                <a:latin typeface="Arial"/>
                <a:cs typeface="Arial"/>
              </a:rPr>
              <a:t> </a:t>
            </a:r>
            <a:r>
              <a:rPr dirty="0" baseline="16975" sz="2700" spc="-97">
                <a:latin typeface="Arial"/>
                <a:cs typeface="Arial"/>
              </a:rPr>
              <a:t>َ</a:t>
            </a:r>
            <a:r>
              <a:rPr dirty="0" baseline="3086" sz="2700" spc="-97">
                <a:latin typeface="Arial"/>
                <a:cs typeface="Arial"/>
              </a:rPr>
              <a:t>لأٱو </a:t>
            </a:r>
            <a:r>
              <a:rPr dirty="0" baseline="3086" sz="2700" spc="-284">
                <a:latin typeface="Arial"/>
                <a:cs typeface="Arial"/>
              </a:rPr>
              <a:t>ه</a:t>
            </a:r>
            <a:r>
              <a:rPr dirty="0" sz="1800" spc="-190">
                <a:latin typeface="Arial"/>
                <a:cs typeface="Arial"/>
              </a:rPr>
              <a:t>َ </a:t>
            </a:r>
            <a:r>
              <a:rPr dirty="0" baseline="3086" sz="2700" spc="-359">
                <a:latin typeface="Arial"/>
                <a:cs typeface="Arial"/>
              </a:rPr>
              <a:t>م</a:t>
            </a:r>
            <a:r>
              <a:rPr dirty="0" sz="1800" spc="-240">
                <a:latin typeface="Arial"/>
                <a:cs typeface="Arial"/>
              </a:rPr>
              <a:t>َ </a:t>
            </a:r>
            <a:r>
              <a:rPr dirty="0" baseline="3086" sz="2700" spc="-682">
                <a:latin typeface="Arial"/>
                <a:cs typeface="Arial"/>
              </a:rPr>
              <a:t>ك</a:t>
            </a:r>
            <a:r>
              <a:rPr dirty="0" baseline="12345" sz="2700" spc="-682">
                <a:latin typeface="Arial"/>
                <a:cs typeface="Arial"/>
              </a:rPr>
              <a:t>ْ </a:t>
            </a:r>
            <a:r>
              <a:rPr dirty="0" baseline="16975" sz="2700" spc="-120">
                <a:latin typeface="Arial"/>
                <a:cs typeface="Arial"/>
              </a:rPr>
              <a:t>َ</a:t>
            </a:r>
            <a:r>
              <a:rPr dirty="0" baseline="3086" sz="2700" spc="-120">
                <a:latin typeface="Arial"/>
                <a:cs typeface="Arial"/>
              </a:rPr>
              <a:t>لأٱ </a:t>
            </a:r>
            <a:r>
              <a:rPr dirty="0" baseline="3086" sz="2700" spc="-494">
                <a:latin typeface="Arial"/>
                <a:cs typeface="Arial"/>
              </a:rPr>
              <a:t>ءُ </a:t>
            </a:r>
            <a:r>
              <a:rPr dirty="0" baseline="3086" sz="2700" spc="-307">
                <a:latin typeface="Arial"/>
                <a:cs typeface="Arial"/>
              </a:rPr>
              <a:t>ىر</a:t>
            </a:r>
            <a:r>
              <a:rPr dirty="0" baseline="-10802" sz="2700" spc="-307">
                <a:latin typeface="Arial"/>
                <a:cs typeface="Arial"/>
              </a:rPr>
              <a:t>ِ </a:t>
            </a:r>
            <a:r>
              <a:rPr dirty="0" baseline="3086" sz="2700" spc="-862">
                <a:latin typeface="Arial"/>
                <a:cs typeface="Arial"/>
              </a:rPr>
              <a:t>بْ</a:t>
            </a:r>
            <a:r>
              <a:rPr dirty="0" baseline="3086" sz="2700" spc="-397">
                <a:latin typeface="Arial"/>
                <a:cs typeface="Arial"/>
              </a:rPr>
              <a:t> </a:t>
            </a:r>
            <a:r>
              <a:rPr dirty="0" baseline="20061" sz="2700" spc="-165">
                <a:latin typeface="Arial"/>
                <a:cs typeface="Arial"/>
              </a:rPr>
              <a:t>ُ</a:t>
            </a:r>
            <a:r>
              <a:rPr dirty="0" baseline="3086" sz="2700" spc="-165">
                <a:latin typeface="Arial"/>
                <a:cs typeface="Arial"/>
              </a:rPr>
              <a:t>أو</a:t>
            </a:r>
            <a:r>
              <a:rPr dirty="0" sz="1800" spc="-110">
                <a:latin typeface="Arial"/>
                <a:cs typeface="Arial"/>
              </a:rPr>
              <a:t>َ </a:t>
            </a:r>
            <a:r>
              <a:rPr dirty="0" baseline="3086" sz="2700" spc="-885">
                <a:latin typeface="Arial"/>
                <a:cs typeface="Arial"/>
              </a:rPr>
              <a:t>للَّ</a:t>
            </a:r>
            <a:r>
              <a:rPr dirty="0" sz="1800" spc="-590">
                <a:latin typeface="Arial"/>
                <a:cs typeface="Arial"/>
              </a:rPr>
              <a:t>ِ</a:t>
            </a:r>
            <a:r>
              <a:rPr dirty="0" sz="1800" spc="-60">
                <a:latin typeface="Arial"/>
                <a:cs typeface="Arial"/>
              </a:rPr>
              <a:t> </a:t>
            </a:r>
            <a:r>
              <a:rPr dirty="0" baseline="15432" sz="2700">
                <a:latin typeface="Arial"/>
                <a:cs typeface="Arial"/>
              </a:rPr>
              <a:t>َّ </a:t>
            </a:r>
            <a:r>
              <a:rPr dirty="0" baseline="3086" sz="2700">
                <a:latin typeface="Arial"/>
                <a:cs typeface="Arial"/>
              </a:rPr>
              <a:t>ٱ </a:t>
            </a:r>
            <a:r>
              <a:rPr dirty="0" baseline="3086" sz="2700" spc="-607">
                <a:latin typeface="Arial"/>
                <a:cs typeface="Arial"/>
              </a:rPr>
              <a:t>ن</a:t>
            </a:r>
            <a:r>
              <a:rPr dirty="0" baseline="-10802" sz="2700" spc="-607">
                <a:latin typeface="Arial"/>
                <a:cs typeface="Arial"/>
              </a:rPr>
              <a:t>ِ  </a:t>
            </a:r>
            <a:r>
              <a:rPr dirty="0" baseline="3086" sz="2700" spc="-284">
                <a:latin typeface="Arial"/>
                <a:cs typeface="Arial"/>
              </a:rPr>
              <a:t>ذ</a:t>
            </a:r>
            <a:r>
              <a:rPr dirty="0" baseline="16975" sz="2700" spc="-284">
                <a:latin typeface="Arial"/>
                <a:cs typeface="Arial"/>
              </a:rPr>
              <a:t>ْ </a:t>
            </a:r>
            <a:r>
              <a:rPr dirty="0" baseline="-10802" sz="2700" spc="-472">
                <a:latin typeface="Arial"/>
                <a:cs typeface="Arial"/>
              </a:rPr>
              <a:t>ِ</a:t>
            </a:r>
            <a:r>
              <a:rPr dirty="0" baseline="3086" sz="2700" spc="-472">
                <a:latin typeface="Arial"/>
                <a:cs typeface="Arial"/>
              </a:rPr>
              <a:t>إب</a:t>
            </a:r>
            <a:r>
              <a:rPr dirty="0" baseline="-10802" sz="2700" spc="-472">
                <a:latin typeface="Arial"/>
                <a:cs typeface="Arial"/>
              </a:rPr>
              <a:t>ِ </a:t>
            </a:r>
            <a:r>
              <a:rPr dirty="0" baseline="12345" sz="2700" spc="-7">
                <a:latin typeface="Arial"/>
                <a:cs typeface="Arial"/>
              </a:rPr>
              <a:t>ً</a:t>
            </a:r>
            <a:r>
              <a:rPr dirty="0" baseline="3086" sz="2700" spc="-7">
                <a:latin typeface="Arial"/>
                <a:cs typeface="Arial"/>
              </a:rPr>
              <a:t>ارٌْ </a:t>
            </a:r>
            <a:r>
              <a:rPr dirty="0" baseline="3086" sz="2700" spc="-652">
                <a:latin typeface="Arial"/>
                <a:cs typeface="Arial"/>
              </a:rPr>
              <a:t>ط</a:t>
            </a:r>
            <a:r>
              <a:rPr dirty="0" baseline="13888" sz="2700" spc="-652">
                <a:latin typeface="Arial"/>
                <a:cs typeface="Arial"/>
              </a:rPr>
              <a:t>َ </a:t>
            </a:r>
            <a:r>
              <a:rPr dirty="0" baseline="3086" sz="2700" spc="-532">
                <a:latin typeface="Arial"/>
                <a:cs typeface="Arial"/>
              </a:rPr>
              <a:t>نُ </a:t>
            </a:r>
            <a:r>
              <a:rPr dirty="0" baseline="3086" sz="2700" spc="-502">
                <a:latin typeface="Arial"/>
                <a:cs typeface="Arial"/>
              </a:rPr>
              <a:t>وك</a:t>
            </a:r>
            <a:r>
              <a:rPr dirty="0" baseline="10802" sz="2700" spc="-502">
                <a:latin typeface="Arial"/>
                <a:cs typeface="Arial"/>
              </a:rPr>
              <a:t>ُ </a:t>
            </a:r>
            <a:r>
              <a:rPr dirty="0" baseline="3086" sz="2700">
                <a:latin typeface="Arial"/>
                <a:cs typeface="Arial"/>
              </a:rPr>
              <a:t>ٌ</a:t>
            </a:r>
            <a:r>
              <a:rPr dirty="0" sz="1800">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780">
                <a:latin typeface="Arial"/>
                <a:cs typeface="Arial"/>
              </a:rPr>
              <a:t> </a:t>
            </a:r>
            <a:r>
              <a:rPr dirty="0" baseline="3086" sz="2700" spc="-337">
                <a:latin typeface="Arial"/>
                <a:cs typeface="Arial"/>
              </a:rPr>
              <a:t>ه</a:t>
            </a:r>
            <a:r>
              <a:rPr dirty="0" baseline="1543" sz="2700" spc="-337">
                <a:latin typeface="Arial"/>
                <a:cs typeface="Arial"/>
              </a:rPr>
              <a:t>ِ </a:t>
            </a:r>
            <a:r>
              <a:rPr dirty="0" baseline="3086" sz="2700" spc="-705">
                <a:latin typeface="Arial"/>
                <a:cs typeface="Arial"/>
              </a:rPr>
              <a:t>ٌف</a:t>
            </a:r>
            <a:r>
              <a:rPr dirty="0" baseline="1543" sz="2700" spc="-705">
                <a:latin typeface="Arial"/>
                <a:cs typeface="Arial"/>
              </a:rPr>
              <a:t>ِ </a:t>
            </a:r>
            <a:r>
              <a:rPr dirty="0" baseline="3086" sz="2700" spc="-667">
                <a:latin typeface="Arial"/>
                <a:cs typeface="Arial"/>
              </a:rPr>
              <a:t>خ</a:t>
            </a:r>
            <a:r>
              <a:rPr dirty="0" baseline="10802" sz="2700" spc="-667">
                <a:latin typeface="Arial"/>
                <a:cs typeface="Arial"/>
              </a:rPr>
              <a:t>ُ </a:t>
            </a:r>
            <a:r>
              <a:rPr dirty="0" baseline="10802" sz="2700" spc="-705">
                <a:latin typeface="Arial"/>
                <a:cs typeface="Arial"/>
              </a:rPr>
              <a:t>ُ</a:t>
            </a:r>
            <a:r>
              <a:rPr dirty="0" baseline="3086" sz="2700" spc="-705">
                <a:latin typeface="Arial"/>
                <a:cs typeface="Arial"/>
              </a:rPr>
              <a:t>فن</a:t>
            </a:r>
            <a:r>
              <a:rPr dirty="0" baseline="16975" sz="2700" spc="-705">
                <a:latin typeface="Arial"/>
                <a:cs typeface="Arial"/>
              </a:rPr>
              <a:t>َ</a:t>
            </a:r>
            <a:r>
              <a:rPr dirty="0" baseline="3086" sz="2700" spc="-705">
                <a:latin typeface="Arial"/>
                <a:cs typeface="Arial"/>
              </a:rPr>
              <a:t>ؤف</a:t>
            </a:r>
            <a:r>
              <a:rPr dirty="0" baseline="7716" sz="2700" spc="-705">
                <a:latin typeface="Arial"/>
                <a:cs typeface="Arial"/>
              </a:rPr>
              <a:t>َ </a:t>
            </a:r>
            <a:r>
              <a:rPr dirty="0" baseline="3086" sz="2700" spc="-457">
                <a:latin typeface="Arial"/>
                <a:cs typeface="Arial"/>
              </a:rPr>
              <a:t>ر</a:t>
            </a:r>
            <a:r>
              <a:rPr dirty="0" baseline="-10802" sz="2700" spc="-457">
                <a:latin typeface="Arial"/>
                <a:cs typeface="Arial"/>
              </a:rPr>
              <a:t>ِ </a:t>
            </a:r>
            <a:r>
              <a:rPr dirty="0" baseline="3086" sz="2700">
                <a:latin typeface="Arial"/>
                <a:cs typeface="Arial"/>
              </a:rPr>
              <a:t>ٌْ </a:t>
            </a:r>
            <a:r>
              <a:rPr dirty="0" baseline="3086" sz="2700" spc="-450">
                <a:latin typeface="Arial"/>
                <a:cs typeface="Arial"/>
              </a:rPr>
              <a:t>ط</a:t>
            </a:r>
            <a:r>
              <a:rPr dirty="0" baseline="15432" sz="2700" spc="-450">
                <a:latin typeface="Arial"/>
                <a:cs typeface="Arial"/>
              </a:rPr>
              <a:t>َّ </a:t>
            </a:r>
            <a:r>
              <a:rPr dirty="0" baseline="3086" sz="2700" spc="-412">
                <a:latin typeface="Arial"/>
                <a:cs typeface="Arial"/>
              </a:rPr>
              <a:t>لٱ  </a:t>
            </a:r>
            <a:r>
              <a:rPr dirty="0" baseline="1543" sz="2700" spc="-509">
                <a:latin typeface="Arial"/>
                <a:cs typeface="Arial"/>
              </a:rPr>
              <a:t>ن</a:t>
            </a:r>
            <a:r>
              <a:rPr dirty="0" baseline="-1543" sz="2700" spc="-509">
                <a:latin typeface="Arial"/>
                <a:cs typeface="Arial"/>
              </a:rPr>
              <a:t>َ </a:t>
            </a:r>
            <a:r>
              <a:rPr dirty="0" baseline="1543" sz="2700" spc="-472">
                <a:latin typeface="Arial"/>
                <a:cs typeface="Arial"/>
              </a:rPr>
              <a:t>ٌن</a:t>
            </a:r>
            <a:r>
              <a:rPr dirty="0" sz="1800" spc="-315">
                <a:latin typeface="Arial"/>
                <a:cs typeface="Arial"/>
              </a:rPr>
              <a:t>ِ </a:t>
            </a:r>
            <a:r>
              <a:rPr dirty="0" baseline="1543" sz="2700" spc="-352">
                <a:latin typeface="Arial"/>
                <a:cs typeface="Arial"/>
              </a:rPr>
              <a:t>م</a:t>
            </a:r>
            <a:r>
              <a:rPr dirty="0" sz="1800" spc="-235">
                <a:latin typeface="Arial"/>
                <a:cs typeface="Arial"/>
              </a:rPr>
              <a:t>ِ </a:t>
            </a:r>
            <a:r>
              <a:rPr dirty="0" baseline="1543" sz="2700" spc="30">
                <a:latin typeface="Arial"/>
                <a:cs typeface="Arial"/>
              </a:rPr>
              <a:t>إْ </a:t>
            </a:r>
            <a:r>
              <a:rPr dirty="0" baseline="1543" sz="2700" spc="-254">
                <a:latin typeface="Arial"/>
                <a:cs typeface="Arial"/>
              </a:rPr>
              <a:t>م</a:t>
            </a:r>
            <a:r>
              <a:rPr dirty="0" sz="1800" spc="-170">
                <a:latin typeface="Arial"/>
                <a:cs typeface="Arial"/>
              </a:rPr>
              <a:t>ُّ  </a:t>
            </a:r>
            <a:r>
              <a:rPr dirty="0" baseline="1543" sz="2700" spc="-630">
                <a:latin typeface="Arial"/>
                <a:cs typeface="Arial"/>
              </a:rPr>
              <a:t>مت</a:t>
            </a:r>
            <a:r>
              <a:rPr dirty="0" baseline="9259" sz="2700" spc="-630">
                <a:latin typeface="Arial"/>
                <a:cs typeface="Arial"/>
              </a:rPr>
              <a:t>ُ </a:t>
            </a:r>
            <a:r>
              <a:rPr dirty="0" baseline="1543" sz="2700" spc="-757">
                <a:latin typeface="Arial"/>
                <a:cs typeface="Arial"/>
              </a:rPr>
              <a:t>نك</a:t>
            </a:r>
            <a:r>
              <a:rPr dirty="0" baseline="9259" sz="2700" spc="-757">
                <a:latin typeface="Arial"/>
                <a:cs typeface="Arial"/>
              </a:rPr>
              <a:t>ُ</a:t>
            </a:r>
            <a:r>
              <a:rPr dirty="0" baseline="9259" sz="2700" spc="952">
                <a:latin typeface="Arial"/>
                <a:cs typeface="Arial"/>
              </a:rPr>
              <a:t> </a:t>
            </a:r>
            <a:r>
              <a:rPr dirty="0" baseline="1543" sz="2700" spc="-22">
                <a:latin typeface="Arial"/>
                <a:cs typeface="Arial"/>
              </a:rPr>
              <a:t>ن</a:t>
            </a:r>
            <a:r>
              <a:rPr dirty="0" baseline="-12345" sz="2700" spc="-22">
                <a:latin typeface="Arial"/>
                <a:cs typeface="Arial"/>
              </a:rPr>
              <a:t>ِ</a:t>
            </a:r>
            <a:r>
              <a:rPr dirty="0" baseline="1543" sz="2700" spc="-22">
                <a:latin typeface="Arial"/>
                <a:cs typeface="Arial"/>
              </a:rPr>
              <a:t>إ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50">
                <a:latin typeface="Arial"/>
                <a:cs typeface="Arial"/>
              </a:rPr>
              <a:t> </a:t>
            </a:r>
            <a:r>
              <a:rPr dirty="0" baseline="10802" sz="2700" spc="-270">
                <a:latin typeface="Arial"/>
                <a:cs typeface="Arial"/>
              </a:rPr>
              <a:t>َّ</a:t>
            </a:r>
            <a:r>
              <a:rPr dirty="0" baseline="1543" sz="2700" spc="-270">
                <a:latin typeface="Arial"/>
                <a:cs typeface="Arial"/>
              </a:rPr>
              <a:t>ل </a:t>
            </a:r>
            <a:r>
              <a:rPr dirty="0" baseline="1543" sz="2700" spc="-284">
                <a:latin typeface="Arial"/>
                <a:cs typeface="Arial"/>
              </a:rPr>
              <a:t>ة</a:t>
            </a:r>
            <a:r>
              <a:rPr dirty="0" baseline="12345" sz="2700" spc="-284">
                <a:latin typeface="Arial"/>
                <a:cs typeface="Arial"/>
              </a:rPr>
              <a:t>ً </a:t>
            </a:r>
            <a:r>
              <a:rPr dirty="0" baseline="1543" sz="2700">
                <a:latin typeface="Arial"/>
                <a:cs typeface="Arial"/>
              </a:rPr>
              <a:t>ٌ</a:t>
            </a:r>
            <a:r>
              <a:rPr dirty="0" baseline="-1543" sz="2700">
                <a:latin typeface="Arial"/>
                <a:cs typeface="Arial"/>
              </a:rPr>
              <a:t>َ </a:t>
            </a:r>
            <a:r>
              <a:rPr dirty="0" baseline="1543" sz="2700" spc="-232">
                <a:latin typeface="Arial"/>
                <a:cs typeface="Arial"/>
              </a:rPr>
              <a:t>لآ </a:t>
            </a:r>
            <a:r>
              <a:rPr dirty="0" baseline="1543" sz="2700" spc="-682">
                <a:latin typeface="Arial"/>
                <a:cs typeface="Arial"/>
              </a:rPr>
              <a:t>ك</a:t>
            </a:r>
            <a:r>
              <a:rPr dirty="0" baseline="-1543" sz="2700" spc="-682">
                <a:latin typeface="Arial"/>
                <a:cs typeface="Arial"/>
              </a:rPr>
              <a:t>َ </a:t>
            </a:r>
            <a:r>
              <a:rPr dirty="0" sz="1800" spc="-190">
                <a:latin typeface="Arial"/>
                <a:cs typeface="Arial"/>
              </a:rPr>
              <a:t>ِ</a:t>
            </a:r>
            <a:r>
              <a:rPr dirty="0" baseline="1543" sz="2700" spc="-284">
                <a:latin typeface="Arial"/>
                <a:cs typeface="Arial"/>
              </a:rPr>
              <a:t>لذ</a:t>
            </a:r>
            <a:r>
              <a:rPr dirty="0" baseline="20061" sz="2700" spc="-284">
                <a:latin typeface="Arial"/>
                <a:cs typeface="Arial"/>
              </a:rPr>
              <a:t>ٰ </a:t>
            </a:r>
            <a:r>
              <a:rPr dirty="0" baseline="1543" sz="2700" spc="-705">
                <a:latin typeface="Arial"/>
                <a:cs typeface="Arial"/>
              </a:rPr>
              <a:t>ًف</a:t>
            </a:r>
            <a:r>
              <a:rPr dirty="0" sz="1800" spc="-470">
                <a:latin typeface="Arial"/>
                <a:cs typeface="Arial"/>
              </a:rPr>
              <a:t>ِ </a:t>
            </a:r>
            <a:r>
              <a:rPr dirty="0" baseline="1543" sz="2700" spc="-345">
                <a:latin typeface="Arial"/>
                <a:cs typeface="Arial"/>
              </a:rPr>
              <a:t>ن</a:t>
            </a:r>
            <a:r>
              <a:rPr dirty="0" sz="1800" spc="-229">
                <a:latin typeface="Arial"/>
                <a:cs typeface="Arial"/>
              </a:rPr>
              <a:t>َّ </a:t>
            </a:r>
            <a:r>
              <a:rPr dirty="0" baseline="-12345" sz="2700">
                <a:latin typeface="Arial"/>
                <a:cs typeface="Arial"/>
              </a:rPr>
              <a:t>ِ</a:t>
            </a:r>
            <a:r>
              <a:rPr dirty="0" baseline="1543" sz="2700">
                <a:latin typeface="Arial"/>
                <a:cs typeface="Arial"/>
              </a:rPr>
              <a:t>إ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95">
                <a:latin typeface="Arial"/>
                <a:cs typeface="Arial"/>
              </a:rPr>
              <a:t> </a:t>
            </a:r>
            <a:r>
              <a:rPr dirty="0" baseline="1543" sz="2700" spc="-960">
                <a:latin typeface="Arial"/>
                <a:cs typeface="Arial"/>
              </a:rPr>
              <a:t>ت</a:t>
            </a:r>
            <a:r>
              <a:rPr dirty="0" sz="1800" spc="-640">
                <a:latin typeface="Arial"/>
                <a:cs typeface="Arial"/>
              </a:rPr>
              <a:t>ِ</a:t>
            </a:r>
            <a:r>
              <a:rPr dirty="0" sz="1800" spc="-70">
                <a:latin typeface="Arial"/>
                <a:cs typeface="Arial"/>
              </a:rPr>
              <a:t> </a:t>
            </a:r>
            <a:r>
              <a:rPr dirty="0" baseline="1543" sz="2700" spc="-7">
                <a:latin typeface="Arial"/>
                <a:cs typeface="Arial"/>
              </a:rPr>
              <a:t>وٌُ </a:t>
            </a:r>
            <a:r>
              <a:rPr dirty="0" baseline="1543" sz="2700" spc="-930">
                <a:latin typeface="Arial"/>
                <a:cs typeface="Arial"/>
              </a:rPr>
              <a:t>بُ</a:t>
            </a:r>
            <a:r>
              <a:rPr dirty="0" baseline="1543" sz="2700" spc="607">
                <a:latin typeface="Arial"/>
                <a:cs typeface="Arial"/>
              </a:rPr>
              <a:t> </a:t>
            </a:r>
            <a:r>
              <a:rPr dirty="0" baseline="1543" sz="2700" spc="-705">
                <a:latin typeface="Arial"/>
                <a:cs typeface="Arial"/>
              </a:rPr>
              <a:t>ًف</a:t>
            </a:r>
            <a:r>
              <a:rPr dirty="0" sz="1800" spc="-470">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352">
                <a:latin typeface="Arial"/>
                <a:cs typeface="Arial"/>
              </a:rPr>
              <a:t>ورُ </a:t>
            </a:r>
            <a:r>
              <a:rPr dirty="0" baseline="1543" sz="2700" spc="-719">
                <a:latin typeface="Arial"/>
                <a:cs typeface="Arial"/>
              </a:rPr>
              <a:t>خ</a:t>
            </a:r>
            <a:r>
              <a:rPr dirty="0" sz="1800" spc="-480">
                <a:latin typeface="Arial"/>
                <a:cs typeface="Arial"/>
              </a:rPr>
              <a:t>ِ  </a:t>
            </a:r>
            <a:r>
              <a:rPr dirty="0" baseline="1543" sz="2700" spc="-232">
                <a:latin typeface="Arial"/>
                <a:cs typeface="Arial"/>
              </a:rPr>
              <a:t>د</a:t>
            </a:r>
            <a:r>
              <a:rPr dirty="0" baseline="3086" sz="2700" spc="-232">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540">
                <a:latin typeface="Arial"/>
                <a:cs typeface="Arial"/>
              </a:rPr>
              <a:t> </a:t>
            </a:r>
            <a:r>
              <a:rPr dirty="0" baseline="1543" sz="2700" spc="-232">
                <a:latin typeface="Arial"/>
                <a:cs typeface="Arial"/>
              </a:rPr>
              <a:t>ام</a:t>
            </a:r>
            <a:r>
              <a:rPr dirty="0" baseline="-1543" sz="2700" spc="-232">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509">
                <a:latin typeface="Arial"/>
                <a:cs typeface="Arial"/>
              </a:rPr>
              <a:t>ن</a:t>
            </a:r>
            <a:r>
              <a:rPr dirty="0" baseline="-1543" sz="2700" spc="-509">
                <a:latin typeface="Arial"/>
                <a:cs typeface="Arial"/>
              </a:rPr>
              <a:t>َ </a:t>
            </a:r>
            <a:r>
              <a:rPr dirty="0" baseline="1543" sz="2700" spc="-480">
                <a:latin typeface="Arial"/>
                <a:cs typeface="Arial"/>
              </a:rPr>
              <a:t>و</a:t>
            </a:r>
            <a:r>
              <a:rPr dirty="0" baseline="12345" sz="2700" spc="-480">
                <a:latin typeface="Arial"/>
                <a:cs typeface="Arial"/>
              </a:rPr>
              <a:t>ُ</a:t>
            </a:r>
            <a:r>
              <a:rPr dirty="0" baseline="1543" sz="2700" spc="-480">
                <a:latin typeface="Arial"/>
                <a:cs typeface="Arial"/>
              </a:rPr>
              <a:t>لك</a:t>
            </a:r>
            <a:r>
              <a:rPr dirty="0" baseline="9259" sz="2700" spc="-480">
                <a:latin typeface="Arial"/>
                <a:cs typeface="Arial"/>
              </a:rPr>
              <a:t>ُ </a:t>
            </a:r>
            <a:r>
              <a:rPr dirty="0" baseline="18518" sz="2700" spc="-592">
                <a:latin typeface="Arial"/>
                <a:cs typeface="Arial"/>
              </a:rPr>
              <a:t>ْ</a:t>
            </a:r>
            <a:r>
              <a:rPr dirty="0" baseline="1543" sz="2700" spc="-592">
                <a:latin typeface="Arial"/>
                <a:cs typeface="Arial"/>
              </a:rPr>
              <a:t>ؤت</a:t>
            </a:r>
            <a:r>
              <a:rPr dirty="0" baseline="6172" sz="2700" spc="-592">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960">
                <a:latin typeface="Arial"/>
                <a:cs typeface="Arial"/>
              </a:rPr>
              <a:t>ب</a:t>
            </a:r>
            <a:r>
              <a:rPr dirty="0" baseline="-12345" sz="2700" spc="-960">
                <a:latin typeface="Arial"/>
                <a:cs typeface="Arial"/>
              </a:rPr>
              <a:t>ِ</a:t>
            </a:r>
            <a:r>
              <a:rPr dirty="0" baseline="-12345" sz="2700" spc="675">
                <a:latin typeface="Arial"/>
                <a:cs typeface="Arial"/>
              </a:rPr>
              <a:t> </a:t>
            </a:r>
            <a:r>
              <a:rPr dirty="0" baseline="1543" sz="2700" spc="-352">
                <a:latin typeface="Arial"/>
                <a:cs typeface="Arial"/>
              </a:rPr>
              <a:t>م</a:t>
            </a:r>
            <a:r>
              <a:rPr dirty="0" baseline="-3086" sz="2700" spc="-352">
                <a:latin typeface="Arial"/>
                <a:cs typeface="Arial"/>
              </a:rPr>
              <a:t>ْ</a:t>
            </a:r>
            <a:r>
              <a:rPr dirty="0" baseline="-3086" sz="2700" spc="-419">
                <a:latin typeface="Arial"/>
                <a:cs typeface="Arial"/>
              </a:rPr>
              <a:t> </a:t>
            </a:r>
            <a:r>
              <a:rPr dirty="0" baseline="1543" sz="2700" spc="-765">
                <a:latin typeface="Arial"/>
                <a:cs typeface="Arial"/>
              </a:rPr>
              <a:t>ك</a:t>
            </a:r>
            <a:r>
              <a:rPr dirty="0" baseline="9259" sz="2700" spc="-765">
                <a:latin typeface="Arial"/>
                <a:cs typeface="Arial"/>
              </a:rPr>
              <a:t>ُ</a:t>
            </a:r>
            <a:r>
              <a:rPr dirty="0" baseline="9259" sz="2700" spc="187">
                <a:latin typeface="Arial"/>
                <a:cs typeface="Arial"/>
              </a:rPr>
              <a:t> </a:t>
            </a:r>
            <a:r>
              <a:rPr dirty="0" baseline="1543" sz="2700" spc="-832">
                <a:latin typeface="Arial"/>
                <a:cs typeface="Arial"/>
              </a:rPr>
              <a:t>ئ</a:t>
            </a:r>
            <a:r>
              <a:rPr dirty="0" baseline="9259" sz="2700" spc="-832">
                <a:latin typeface="Arial"/>
                <a:cs typeface="Arial"/>
              </a:rPr>
              <a:t>ُ</a:t>
            </a:r>
            <a:r>
              <a:rPr dirty="0" baseline="9259" sz="2700" spc="-150">
                <a:latin typeface="Arial"/>
                <a:cs typeface="Arial"/>
              </a:rPr>
              <a:t> </a:t>
            </a:r>
            <a:r>
              <a:rPr dirty="0" baseline="1543" sz="2700" spc="-607">
                <a:latin typeface="Arial"/>
                <a:cs typeface="Arial"/>
              </a:rPr>
              <a:t>بِّ </a:t>
            </a:r>
            <a:r>
              <a:rPr dirty="0" baseline="1543" sz="2700" spc="-644">
                <a:latin typeface="Arial"/>
                <a:cs typeface="Arial"/>
              </a:rPr>
              <a:t>ن</a:t>
            </a:r>
            <a:r>
              <a:rPr dirty="0" baseline="6172" sz="2700" spc="-644">
                <a:latin typeface="Arial"/>
                <a:cs typeface="Arial"/>
              </a:rPr>
              <a:t>َ </a:t>
            </a:r>
            <a:r>
              <a:rPr dirty="0" baseline="18518" sz="2700" spc="-209">
                <a:latin typeface="Arial"/>
                <a:cs typeface="Arial"/>
              </a:rPr>
              <a:t>ُ</a:t>
            </a:r>
            <a:r>
              <a:rPr dirty="0" baseline="1543" sz="2700" spc="-209">
                <a:latin typeface="Arial"/>
                <a:cs typeface="Arial"/>
              </a:rPr>
              <a:t>أو</a:t>
            </a:r>
            <a:endParaRPr baseline="1543" sz="2700">
              <a:latin typeface="Arial"/>
              <a:cs typeface="Arial"/>
            </a:endParaRPr>
          </a:p>
        </p:txBody>
      </p:sp>
      <p:sp>
        <p:nvSpPr>
          <p:cNvPr id="11" name="object 11"/>
          <p:cNvSpPr txBox="1"/>
          <p:nvPr/>
        </p:nvSpPr>
        <p:spPr>
          <a:xfrm>
            <a:off x="718819" y="6846189"/>
            <a:ext cx="6310630" cy="1260475"/>
          </a:xfrm>
          <a:prstGeom prst="rect">
            <a:avLst/>
          </a:prstGeom>
        </p:spPr>
        <p:txBody>
          <a:bodyPr wrap="square" lIns="0" tIns="20320" rIns="0" bIns="0" rtlCol="0" vert="horz">
            <a:spAutoFit/>
          </a:bodyPr>
          <a:lstStyle/>
          <a:p>
            <a:pPr algn="just" marL="12700" marR="5080">
              <a:lnSpc>
                <a:spcPct val="95900"/>
              </a:lnSpc>
              <a:spcBef>
                <a:spcPts val="160"/>
              </a:spcBef>
            </a:pPr>
            <a:r>
              <a:rPr dirty="0" sz="1200" spc="-5">
                <a:latin typeface="Arial"/>
                <a:cs typeface="Arial"/>
              </a:rPr>
              <a:t>49. And </a:t>
            </a:r>
            <a:r>
              <a:rPr dirty="0" sz="1200" spc="-10">
                <a:latin typeface="Arial"/>
                <a:cs typeface="Arial"/>
              </a:rPr>
              <a:t>will </a:t>
            </a:r>
            <a:r>
              <a:rPr dirty="0" sz="1200">
                <a:latin typeface="Arial"/>
                <a:cs typeface="Arial"/>
              </a:rPr>
              <a:t>make </a:t>
            </a:r>
            <a:r>
              <a:rPr dirty="0" sz="1200" spc="-10">
                <a:latin typeface="Arial"/>
                <a:cs typeface="Arial"/>
              </a:rPr>
              <a:t>him </a:t>
            </a:r>
            <a:r>
              <a:rPr dirty="0" sz="1200" spc="-5">
                <a:latin typeface="Arial"/>
                <a:cs typeface="Arial"/>
              </a:rPr>
              <a:t>a messenger unto the children of Israel, (saying): Lo! </a:t>
            </a:r>
            <a:r>
              <a:rPr dirty="0" sz="1200">
                <a:latin typeface="Arial"/>
                <a:cs typeface="Arial"/>
              </a:rPr>
              <a:t>I </a:t>
            </a:r>
            <a:r>
              <a:rPr dirty="0" sz="1200" spc="-5">
                <a:latin typeface="Arial"/>
                <a:cs typeface="Arial"/>
              </a:rPr>
              <a:t>come unto </a:t>
            </a:r>
            <a:r>
              <a:rPr dirty="0" sz="1200" spc="-10">
                <a:latin typeface="Arial"/>
                <a:cs typeface="Arial"/>
              </a:rPr>
              <a:t>you  </a:t>
            </a:r>
            <a:r>
              <a:rPr dirty="0" sz="1200" spc="-5">
                <a:latin typeface="Arial"/>
                <a:cs typeface="Arial"/>
              </a:rPr>
              <a:t>with a sign </a:t>
            </a:r>
            <a:r>
              <a:rPr dirty="0" sz="1200">
                <a:latin typeface="Arial"/>
                <a:cs typeface="Arial"/>
              </a:rPr>
              <a:t>from </a:t>
            </a:r>
            <a:r>
              <a:rPr dirty="0" sz="1200" spc="-5">
                <a:latin typeface="Arial"/>
                <a:cs typeface="Arial"/>
              </a:rPr>
              <a:t>your Lord. Lo! </a:t>
            </a:r>
            <a:r>
              <a:rPr dirty="0" sz="1200">
                <a:latin typeface="Arial"/>
                <a:cs typeface="Arial"/>
              </a:rPr>
              <a:t>I </a:t>
            </a:r>
            <a:r>
              <a:rPr dirty="0" sz="1200" spc="-5">
                <a:latin typeface="Arial"/>
                <a:cs typeface="Arial"/>
              </a:rPr>
              <a:t>fashion </a:t>
            </a:r>
            <a:r>
              <a:rPr dirty="0" sz="1200">
                <a:latin typeface="Arial"/>
                <a:cs typeface="Arial"/>
              </a:rPr>
              <a:t>for </a:t>
            </a:r>
            <a:r>
              <a:rPr dirty="0" sz="1200" spc="-10">
                <a:latin typeface="Arial"/>
                <a:cs typeface="Arial"/>
              </a:rPr>
              <a:t>you </a:t>
            </a:r>
            <a:r>
              <a:rPr dirty="0" sz="1200" spc="-5">
                <a:latin typeface="Arial"/>
                <a:cs typeface="Arial"/>
              </a:rPr>
              <a:t>out of clay </a:t>
            </a:r>
            <a:r>
              <a:rPr dirty="0" sz="1200">
                <a:latin typeface="Arial"/>
                <a:cs typeface="Arial"/>
              </a:rPr>
              <a:t>the likeness </a:t>
            </a:r>
            <a:r>
              <a:rPr dirty="0" sz="1200" spc="-5">
                <a:latin typeface="Arial"/>
                <a:cs typeface="Arial"/>
              </a:rPr>
              <a:t>of a bird, and </a:t>
            </a:r>
            <a:r>
              <a:rPr dirty="0" sz="1200">
                <a:latin typeface="Arial"/>
                <a:cs typeface="Arial"/>
              </a:rPr>
              <a:t>I  </a:t>
            </a:r>
            <a:r>
              <a:rPr dirty="0" sz="1200" spc="-5">
                <a:latin typeface="Arial"/>
                <a:cs typeface="Arial"/>
              </a:rPr>
              <a:t>breathe into </a:t>
            </a:r>
            <a:r>
              <a:rPr dirty="0" sz="1200">
                <a:latin typeface="Arial"/>
                <a:cs typeface="Arial"/>
              </a:rPr>
              <a:t>it </a:t>
            </a:r>
            <a:r>
              <a:rPr dirty="0" sz="1200" spc="-5">
                <a:latin typeface="Arial"/>
                <a:cs typeface="Arial"/>
              </a:rPr>
              <a:t>and </a:t>
            </a:r>
            <a:r>
              <a:rPr dirty="0" sz="1200">
                <a:latin typeface="Arial"/>
                <a:cs typeface="Arial"/>
              </a:rPr>
              <a:t>it </a:t>
            </a:r>
            <a:r>
              <a:rPr dirty="0" sz="1200" spc="-5">
                <a:latin typeface="Arial"/>
                <a:cs typeface="Arial"/>
              </a:rPr>
              <a:t>is a bird, by Allah's leave. </a:t>
            </a:r>
            <a:r>
              <a:rPr dirty="0" sz="1200">
                <a:latin typeface="Arial"/>
                <a:cs typeface="Arial"/>
              </a:rPr>
              <a:t>I </a:t>
            </a:r>
            <a:r>
              <a:rPr dirty="0" sz="1200" spc="-5">
                <a:latin typeface="Arial"/>
                <a:cs typeface="Arial"/>
              </a:rPr>
              <a:t>heal him </a:t>
            </a:r>
            <a:r>
              <a:rPr dirty="0" sz="1200" spc="-10">
                <a:latin typeface="Arial"/>
                <a:cs typeface="Arial"/>
              </a:rPr>
              <a:t>who was </a:t>
            </a:r>
            <a:r>
              <a:rPr dirty="0" sz="1200" spc="-5">
                <a:latin typeface="Arial"/>
                <a:cs typeface="Arial"/>
              </a:rPr>
              <a:t>born blind, and the leper,  and </a:t>
            </a:r>
            <a:r>
              <a:rPr dirty="0" sz="1200">
                <a:latin typeface="Arial"/>
                <a:cs typeface="Arial"/>
              </a:rPr>
              <a:t>I </a:t>
            </a:r>
            <a:r>
              <a:rPr dirty="0" sz="1200" spc="-5">
                <a:latin typeface="Arial"/>
                <a:cs typeface="Arial"/>
              </a:rPr>
              <a:t>raise the dead, by Allah's leave. And </a:t>
            </a:r>
            <a:r>
              <a:rPr dirty="0" sz="1200">
                <a:latin typeface="Arial"/>
                <a:cs typeface="Arial"/>
              </a:rPr>
              <a:t>I </a:t>
            </a:r>
            <a:r>
              <a:rPr dirty="0" sz="1200" spc="-5">
                <a:latin typeface="Arial"/>
                <a:cs typeface="Arial"/>
              </a:rPr>
              <a:t>announce unto </a:t>
            </a:r>
            <a:r>
              <a:rPr dirty="0" sz="1200" spc="-10">
                <a:latin typeface="Arial"/>
                <a:cs typeface="Arial"/>
              </a:rPr>
              <a:t>you </a:t>
            </a:r>
            <a:r>
              <a:rPr dirty="0" sz="1200" spc="-5">
                <a:latin typeface="Arial"/>
                <a:cs typeface="Arial"/>
              </a:rPr>
              <a:t>what </a:t>
            </a:r>
            <a:r>
              <a:rPr dirty="0" sz="1200" spc="-10">
                <a:latin typeface="Arial"/>
                <a:cs typeface="Arial"/>
              </a:rPr>
              <a:t>ye </a:t>
            </a:r>
            <a:r>
              <a:rPr dirty="0" sz="1200" spc="-5">
                <a:latin typeface="Arial"/>
                <a:cs typeface="Arial"/>
              </a:rPr>
              <a:t>eat and what </a:t>
            </a:r>
            <a:r>
              <a:rPr dirty="0" sz="1200" spc="-10">
                <a:latin typeface="Arial"/>
                <a:cs typeface="Arial"/>
              </a:rPr>
              <a:t>ye  </a:t>
            </a:r>
            <a:r>
              <a:rPr dirty="0" sz="1200">
                <a:latin typeface="Arial"/>
                <a:cs typeface="Arial"/>
              </a:rPr>
              <a:t>store </a:t>
            </a:r>
            <a:r>
              <a:rPr dirty="0" sz="1200" spc="-5">
                <a:latin typeface="Arial"/>
                <a:cs typeface="Arial"/>
              </a:rPr>
              <a:t>up in your houses. Lo! Herein verily is a portent </a:t>
            </a:r>
            <a:r>
              <a:rPr dirty="0" sz="1200">
                <a:latin typeface="Arial"/>
                <a:cs typeface="Arial"/>
              </a:rPr>
              <a:t>for </a:t>
            </a:r>
            <a:r>
              <a:rPr dirty="0" sz="1200" spc="-5">
                <a:latin typeface="Arial"/>
                <a:cs typeface="Arial"/>
              </a:rPr>
              <a:t>you, </a:t>
            </a:r>
            <a:r>
              <a:rPr dirty="0" sz="1200" spc="-10">
                <a:latin typeface="Arial"/>
                <a:cs typeface="Arial"/>
              </a:rPr>
              <a:t>if ye </a:t>
            </a:r>
            <a:r>
              <a:rPr dirty="0" sz="1200" spc="-5">
                <a:latin typeface="Arial"/>
                <a:cs typeface="Arial"/>
              </a:rPr>
              <a:t>are</a:t>
            </a:r>
            <a:r>
              <a:rPr dirty="0" sz="1200" spc="130">
                <a:latin typeface="Arial"/>
                <a:cs typeface="Arial"/>
              </a:rPr>
              <a:t> </a:t>
            </a:r>
            <a:r>
              <a:rPr dirty="0" sz="1200" spc="-5">
                <a:latin typeface="Arial"/>
                <a:cs typeface="Arial"/>
              </a:rPr>
              <a:t>believers.</a:t>
            </a:r>
            <a:endParaRPr sz="1200">
              <a:latin typeface="Arial"/>
              <a:cs typeface="Arial"/>
            </a:endParaRPr>
          </a:p>
          <a:p>
            <a:pPr>
              <a:lnSpc>
                <a:spcPct val="100000"/>
              </a:lnSpc>
              <a:spcBef>
                <a:spcPts val="50"/>
              </a:spcBef>
            </a:pPr>
            <a:endParaRPr sz="1100">
              <a:latin typeface="Arial"/>
              <a:cs typeface="Arial"/>
            </a:endParaRPr>
          </a:p>
          <a:p>
            <a:pPr marL="12700">
              <a:lnSpc>
                <a:spcPct val="100000"/>
              </a:lnSpc>
              <a:spcBef>
                <a:spcPts val="5"/>
              </a:spcBef>
            </a:pPr>
            <a:r>
              <a:rPr dirty="0" sz="1200" spc="-5">
                <a:latin typeface="Arial"/>
                <a:cs typeface="Arial"/>
              </a:rPr>
              <a:t>Allah knows</a:t>
            </a:r>
            <a:r>
              <a:rPr dirty="0" sz="1200">
                <a:latin typeface="Arial"/>
                <a:cs typeface="Arial"/>
              </a:rPr>
              <a:t> best.</a:t>
            </a:r>
            <a:endParaRPr sz="1200">
              <a:latin typeface="Arial"/>
              <a:cs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394715" y="799592"/>
            <a:ext cx="6602095" cy="8796020"/>
          </a:xfrm>
          <a:prstGeom prst="rect">
            <a:avLst/>
          </a:prstGeom>
        </p:spPr>
        <p:txBody>
          <a:bodyPr wrap="square" lIns="0" tIns="12700" rIns="0" bIns="0" rtlCol="0" vert="horz">
            <a:spAutoFit/>
          </a:bodyPr>
          <a:lstStyle/>
          <a:p>
            <a:pPr marL="152400">
              <a:lnSpc>
                <a:spcPct val="100000"/>
              </a:lnSpc>
              <a:spcBef>
                <a:spcPts val="100"/>
              </a:spcBef>
            </a:pPr>
            <a:r>
              <a:rPr dirty="0" u="heavy" sz="1200" spc="-5" b="1" i="1">
                <a:uFill>
                  <a:solidFill>
                    <a:srgbClr val="000000"/>
                  </a:solidFill>
                </a:uFill>
                <a:latin typeface="Arial"/>
                <a:cs typeface="Arial"/>
              </a:rPr>
              <a:t>Surah Al Ambiyaa (21: 50 </a:t>
            </a:r>
            <a:r>
              <a:rPr dirty="0" u="heavy" sz="1200" b="1" i="1">
                <a:uFill>
                  <a:solidFill>
                    <a:srgbClr val="000000"/>
                  </a:solidFill>
                </a:uFill>
                <a:latin typeface="Arial"/>
                <a:cs typeface="Arial"/>
              </a:rPr>
              <a:t>–</a:t>
            </a:r>
            <a:r>
              <a:rPr dirty="0" u="heavy" sz="1200" spc="35" b="1" i="1">
                <a:uFill>
                  <a:solidFill>
                    <a:srgbClr val="000000"/>
                  </a:solidFill>
                </a:uFill>
                <a:latin typeface="Arial"/>
                <a:cs typeface="Arial"/>
              </a:rPr>
              <a:t> </a:t>
            </a:r>
            <a:r>
              <a:rPr dirty="0" u="heavy" sz="1200" spc="-5" b="1" i="1">
                <a:uFill>
                  <a:solidFill>
                    <a:srgbClr val="000000"/>
                  </a:solidFill>
                </a:uFill>
                <a:latin typeface="Arial"/>
                <a:cs typeface="Arial"/>
              </a:rPr>
              <a:t>112)</a:t>
            </a:r>
            <a:endParaRPr sz="1200">
              <a:latin typeface="Arial"/>
              <a:cs typeface="Arial"/>
            </a:endParaRPr>
          </a:p>
          <a:p>
            <a:pPr>
              <a:lnSpc>
                <a:spcPct val="100000"/>
              </a:lnSpc>
              <a:spcBef>
                <a:spcPts val="35"/>
              </a:spcBef>
            </a:pPr>
            <a:endParaRPr sz="1200">
              <a:latin typeface="Arial"/>
              <a:cs typeface="Arial"/>
            </a:endParaRPr>
          </a:p>
          <a:p>
            <a:pPr algn="just" marL="152400" marR="159385">
              <a:lnSpc>
                <a:spcPts val="1380"/>
              </a:lnSpc>
            </a:pPr>
            <a:r>
              <a:rPr dirty="0" sz="1200">
                <a:latin typeface="Arial"/>
                <a:cs typeface="Arial"/>
              </a:rPr>
              <a:t>This </a:t>
            </a:r>
            <a:r>
              <a:rPr dirty="0" sz="1200" spc="-5">
                <a:latin typeface="Arial"/>
                <a:cs typeface="Arial"/>
              </a:rPr>
              <a:t>surah deals with </a:t>
            </a:r>
            <a:r>
              <a:rPr dirty="0" sz="1200">
                <a:latin typeface="Arial"/>
                <a:cs typeface="Arial"/>
              </a:rPr>
              <a:t>the </a:t>
            </a:r>
            <a:r>
              <a:rPr dirty="0" sz="1200" spc="-5">
                <a:latin typeface="Arial"/>
                <a:cs typeface="Arial"/>
              </a:rPr>
              <a:t>different prophets and their lives. Lessons are derived from their  </a:t>
            </a:r>
            <a:r>
              <a:rPr dirty="0" sz="1200">
                <a:latin typeface="Arial"/>
                <a:cs typeface="Arial"/>
              </a:rPr>
              <a:t>past</a:t>
            </a:r>
            <a:r>
              <a:rPr dirty="0" sz="1200" spc="-15">
                <a:latin typeface="Arial"/>
                <a:cs typeface="Arial"/>
              </a:rPr>
              <a:t> </a:t>
            </a:r>
            <a:r>
              <a:rPr dirty="0" sz="1200" spc="-5">
                <a:latin typeface="Arial"/>
                <a:cs typeface="Arial"/>
              </a:rPr>
              <a:t>histories.</a:t>
            </a:r>
            <a:endParaRPr sz="1200">
              <a:latin typeface="Arial"/>
              <a:cs typeface="Arial"/>
            </a:endParaRPr>
          </a:p>
          <a:p>
            <a:pPr>
              <a:lnSpc>
                <a:spcPct val="100000"/>
              </a:lnSpc>
              <a:spcBef>
                <a:spcPts val="20"/>
              </a:spcBef>
            </a:pPr>
            <a:endParaRPr sz="1100">
              <a:latin typeface="Arial"/>
              <a:cs typeface="Arial"/>
            </a:endParaRPr>
          </a:p>
          <a:p>
            <a:pPr marL="152400">
              <a:lnSpc>
                <a:spcPct val="100000"/>
              </a:lnSpc>
            </a:pPr>
            <a:r>
              <a:rPr dirty="0" u="heavy" sz="1200" spc="-5" b="1" i="1">
                <a:uFill>
                  <a:solidFill>
                    <a:srgbClr val="000000"/>
                  </a:solidFill>
                </a:uFill>
                <a:latin typeface="Arial"/>
                <a:cs typeface="Arial"/>
              </a:rPr>
              <a:t>Hazrat Ibrahim</a:t>
            </a:r>
            <a:r>
              <a:rPr dirty="0" u="heavy" sz="1200" spc="-10" b="1" i="1">
                <a:uFill>
                  <a:solidFill>
                    <a:srgbClr val="000000"/>
                  </a:solidFill>
                </a:uFill>
                <a:latin typeface="Arial"/>
                <a:cs typeface="Arial"/>
              </a:rPr>
              <a:t> </a:t>
            </a:r>
            <a:r>
              <a:rPr dirty="0" u="heavy" sz="1200" b="1" i="1">
                <a:uFill>
                  <a:solidFill>
                    <a:srgbClr val="000000"/>
                  </a:solidFill>
                </a:uFill>
                <a:latin typeface="Arial"/>
                <a:cs typeface="Arial"/>
              </a:rPr>
              <a:t>(as)</a:t>
            </a:r>
            <a:endParaRPr sz="1200">
              <a:latin typeface="Arial"/>
              <a:cs typeface="Arial"/>
            </a:endParaRPr>
          </a:p>
          <a:p>
            <a:pPr>
              <a:lnSpc>
                <a:spcPct val="100000"/>
              </a:lnSpc>
              <a:spcBef>
                <a:spcPts val="35"/>
              </a:spcBef>
            </a:pPr>
            <a:endParaRPr sz="1200">
              <a:latin typeface="Arial"/>
              <a:cs typeface="Arial"/>
            </a:endParaRPr>
          </a:p>
          <a:p>
            <a:pPr algn="just" marL="152400" marR="158115">
              <a:lnSpc>
                <a:spcPts val="1380"/>
              </a:lnSpc>
            </a:pPr>
            <a:r>
              <a:rPr dirty="0" sz="1200" spc="-5">
                <a:latin typeface="Arial"/>
                <a:cs typeface="Arial"/>
              </a:rPr>
              <a:t>Here is </a:t>
            </a:r>
            <a:r>
              <a:rPr dirty="0" sz="1200">
                <a:latin typeface="Arial"/>
                <a:cs typeface="Arial"/>
              </a:rPr>
              <a:t>the story of </a:t>
            </a:r>
            <a:r>
              <a:rPr dirty="0" sz="1200" spc="-5">
                <a:latin typeface="Arial"/>
                <a:cs typeface="Arial"/>
              </a:rPr>
              <a:t>Hazrat </a:t>
            </a:r>
            <a:r>
              <a:rPr dirty="0" sz="1200">
                <a:latin typeface="Arial"/>
                <a:cs typeface="Arial"/>
              </a:rPr>
              <a:t>Ibrahim </a:t>
            </a:r>
            <a:r>
              <a:rPr dirty="0" sz="1200" spc="-10">
                <a:latin typeface="Arial"/>
                <a:cs typeface="Arial"/>
              </a:rPr>
              <a:t>who was </a:t>
            </a:r>
            <a:r>
              <a:rPr dirty="0" sz="1200" spc="-5">
                <a:latin typeface="Arial"/>
                <a:cs typeface="Arial"/>
              </a:rPr>
              <a:t>born </a:t>
            </a:r>
            <a:r>
              <a:rPr dirty="0" sz="1200">
                <a:latin typeface="Arial"/>
                <a:cs typeface="Arial"/>
              </a:rPr>
              <a:t>among the idol </a:t>
            </a:r>
            <a:r>
              <a:rPr dirty="0" sz="1200" spc="-5">
                <a:latin typeface="Arial"/>
                <a:cs typeface="Arial"/>
              </a:rPr>
              <a:t>worshippers. Since  childhood </a:t>
            </a:r>
            <a:r>
              <a:rPr dirty="0" sz="1200" spc="-10">
                <a:latin typeface="Arial"/>
                <a:cs typeface="Arial"/>
              </a:rPr>
              <a:t>he was </a:t>
            </a:r>
            <a:r>
              <a:rPr dirty="0" sz="1200" spc="-5">
                <a:latin typeface="Arial"/>
                <a:cs typeface="Arial"/>
              </a:rPr>
              <a:t>disgusted with </a:t>
            </a:r>
            <a:r>
              <a:rPr dirty="0" sz="1200">
                <a:latin typeface="Arial"/>
                <a:cs typeface="Arial"/>
              </a:rPr>
              <a:t>that </a:t>
            </a:r>
            <a:r>
              <a:rPr dirty="0" sz="1200" spc="-5">
                <a:latin typeface="Arial"/>
                <a:cs typeface="Arial"/>
              </a:rPr>
              <a:t>society. </a:t>
            </a:r>
            <a:r>
              <a:rPr dirty="0" sz="1200">
                <a:latin typeface="Arial"/>
                <a:cs typeface="Arial"/>
              </a:rPr>
              <a:t>When he </a:t>
            </a:r>
            <a:r>
              <a:rPr dirty="0" sz="1200" spc="-5">
                <a:latin typeface="Arial"/>
                <a:cs typeface="Arial"/>
              </a:rPr>
              <a:t>grew up he challenged </a:t>
            </a:r>
            <a:r>
              <a:rPr dirty="0" sz="1200">
                <a:latin typeface="Arial"/>
                <a:cs typeface="Arial"/>
              </a:rPr>
              <a:t>to </a:t>
            </a:r>
            <a:r>
              <a:rPr dirty="0" sz="1200" spc="-5">
                <a:latin typeface="Arial"/>
                <a:cs typeface="Arial"/>
              </a:rPr>
              <a:t>crush </a:t>
            </a:r>
            <a:r>
              <a:rPr dirty="0" sz="1200" spc="-10">
                <a:latin typeface="Arial"/>
                <a:cs typeface="Arial"/>
              </a:rPr>
              <a:t>down  </a:t>
            </a:r>
            <a:r>
              <a:rPr dirty="0" sz="1200">
                <a:latin typeface="Arial"/>
                <a:cs typeface="Arial"/>
              </a:rPr>
              <a:t>the idols. When </a:t>
            </a:r>
            <a:r>
              <a:rPr dirty="0" sz="1200" spc="-5">
                <a:latin typeface="Arial"/>
                <a:cs typeface="Arial"/>
              </a:rPr>
              <a:t>the polytheists were gone </a:t>
            </a:r>
            <a:r>
              <a:rPr dirty="0" sz="1200">
                <a:latin typeface="Arial"/>
                <a:cs typeface="Arial"/>
              </a:rPr>
              <a:t>to other </a:t>
            </a:r>
            <a:r>
              <a:rPr dirty="0" sz="1200" spc="-5">
                <a:latin typeface="Arial"/>
                <a:cs typeface="Arial"/>
              </a:rPr>
              <a:t>services he destroyed all </a:t>
            </a:r>
            <a:r>
              <a:rPr dirty="0" sz="1200">
                <a:latin typeface="Arial"/>
                <a:cs typeface="Arial"/>
              </a:rPr>
              <a:t>of the </a:t>
            </a:r>
            <a:r>
              <a:rPr dirty="0" sz="1200" spc="5">
                <a:latin typeface="Arial"/>
                <a:cs typeface="Arial"/>
              </a:rPr>
              <a:t>idols  </a:t>
            </a:r>
            <a:r>
              <a:rPr dirty="0" sz="1200" spc="-5">
                <a:latin typeface="Arial"/>
                <a:cs typeface="Arial"/>
              </a:rPr>
              <a:t>except one on which he placed his axe. He wanted his people </a:t>
            </a:r>
            <a:r>
              <a:rPr dirty="0" sz="1200">
                <a:latin typeface="Arial"/>
                <a:cs typeface="Arial"/>
              </a:rPr>
              <a:t>to think </a:t>
            </a:r>
            <a:r>
              <a:rPr dirty="0" sz="1200" spc="-5">
                <a:latin typeface="Arial"/>
                <a:cs typeface="Arial"/>
              </a:rPr>
              <a:t>but instead he </a:t>
            </a:r>
            <a:r>
              <a:rPr dirty="0" sz="1200" spc="-10">
                <a:latin typeface="Arial"/>
                <a:cs typeface="Arial"/>
              </a:rPr>
              <a:t>was  </a:t>
            </a:r>
            <a:r>
              <a:rPr dirty="0" sz="1200" spc="-5">
                <a:latin typeface="Arial"/>
                <a:cs typeface="Arial"/>
              </a:rPr>
              <a:t>thrown </a:t>
            </a:r>
            <a:r>
              <a:rPr dirty="0" sz="1200">
                <a:latin typeface="Arial"/>
                <a:cs typeface="Arial"/>
              </a:rPr>
              <a:t>to </a:t>
            </a:r>
            <a:r>
              <a:rPr dirty="0" sz="1200" spc="-5">
                <a:latin typeface="Arial"/>
                <a:cs typeface="Arial"/>
              </a:rPr>
              <a:t>the </a:t>
            </a:r>
            <a:r>
              <a:rPr dirty="0" sz="1200">
                <a:latin typeface="Arial"/>
                <a:cs typeface="Arial"/>
              </a:rPr>
              <a:t>big fire. </a:t>
            </a:r>
            <a:r>
              <a:rPr dirty="0" sz="1200" spc="-5">
                <a:latin typeface="Arial"/>
                <a:cs typeface="Arial"/>
              </a:rPr>
              <a:t>He had faith in Allah </a:t>
            </a:r>
            <a:r>
              <a:rPr dirty="0" sz="1200" spc="-10">
                <a:latin typeface="Arial"/>
                <a:cs typeface="Arial"/>
              </a:rPr>
              <a:t>who </a:t>
            </a:r>
            <a:r>
              <a:rPr dirty="0" sz="1200" spc="-5">
                <a:latin typeface="Arial"/>
                <a:cs typeface="Arial"/>
              </a:rPr>
              <a:t>protected</a:t>
            </a:r>
            <a:r>
              <a:rPr dirty="0" sz="1200" spc="-10">
                <a:latin typeface="Arial"/>
                <a:cs typeface="Arial"/>
              </a:rPr>
              <a:t> </a:t>
            </a:r>
            <a:r>
              <a:rPr dirty="0" sz="1200">
                <a:latin typeface="Arial"/>
                <a:cs typeface="Arial"/>
              </a:rPr>
              <a:t>him.</a:t>
            </a:r>
            <a:endParaRPr sz="1200">
              <a:latin typeface="Arial"/>
              <a:cs typeface="Arial"/>
            </a:endParaRPr>
          </a:p>
          <a:p>
            <a:pPr>
              <a:lnSpc>
                <a:spcPct val="100000"/>
              </a:lnSpc>
              <a:spcBef>
                <a:spcPts val="20"/>
              </a:spcBef>
            </a:pPr>
            <a:endParaRPr sz="1100">
              <a:latin typeface="Arial"/>
              <a:cs typeface="Arial"/>
            </a:endParaRPr>
          </a:p>
          <a:p>
            <a:pPr marL="152400">
              <a:lnSpc>
                <a:spcPct val="100000"/>
              </a:lnSpc>
            </a:pPr>
            <a:r>
              <a:rPr dirty="0" sz="1200" spc="-5">
                <a:latin typeface="Arial"/>
                <a:cs typeface="Arial"/>
              </a:rPr>
              <a:t>Allah says:</a:t>
            </a:r>
            <a:endParaRPr sz="1200">
              <a:latin typeface="Arial"/>
              <a:cs typeface="Arial"/>
            </a:endParaRPr>
          </a:p>
          <a:p>
            <a:pPr algn="r" marR="208915">
              <a:lnSpc>
                <a:spcPct val="100000"/>
              </a:lnSpc>
              <a:spcBef>
                <a:spcPts val="5"/>
              </a:spcBef>
            </a:pPr>
            <a:r>
              <a:rPr dirty="0" baseline="3086" sz="2700" spc="-494">
                <a:latin typeface="Arial"/>
                <a:cs typeface="Arial"/>
              </a:rPr>
              <a:t>ن</a:t>
            </a:r>
            <a:r>
              <a:rPr dirty="0" sz="1800" spc="-330">
                <a:latin typeface="Arial"/>
                <a:cs typeface="Arial"/>
              </a:rPr>
              <a:t>َ    </a:t>
            </a:r>
            <a:r>
              <a:rPr dirty="0" baseline="3086" sz="2700" spc="-240">
                <a:latin typeface="Arial"/>
                <a:cs typeface="Arial"/>
              </a:rPr>
              <a:t>ٌم</a:t>
            </a:r>
            <a:r>
              <a:rPr dirty="0" baseline="1543" sz="2700" spc="-240">
                <a:latin typeface="Arial"/>
                <a:cs typeface="Arial"/>
              </a:rPr>
              <a:t>ِ  </a:t>
            </a:r>
            <a:r>
              <a:rPr dirty="0" baseline="1543" sz="2700" spc="-397">
                <a:latin typeface="Arial"/>
                <a:cs typeface="Arial"/>
              </a:rPr>
              <a:t>ِ</a:t>
            </a:r>
            <a:r>
              <a:rPr dirty="0" baseline="3086" sz="2700" spc="-397">
                <a:latin typeface="Arial"/>
                <a:cs typeface="Arial"/>
              </a:rPr>
              <a:t>لاع</a:t>
            </a:r>
            <a:r>
              <a:rPr dirty="0" sz="1800" spc="-265">
                <a:latin typeface="Arial"/>
                <a:cs typeface="Arial"/>
              </a:rPr>
              <a:t>َ      </a:t>
            </a:r>
            <a:r>
              <a:rPr dirty="0" baseline="3086" sz="2700" spc="-562">
                <a:latin typeface="Arial"/>
                <a:cs typeface="Arial"/>
              </a:rPr>
              <a:t>هب</a:t>
            </a:r>
            <a:r>
              <a:rPr dirty="0" baseline="-10802" sz="2700" spc="-562">
                <a:latin typeface="Arial"/>
                <a:cs typeface="Arial"/>
              </a:rPr>
              <a:t>ِ       </a:t>
            </a:r>
            <a:r>
              <a:rPr dirty="0" baseline="3086" sz="2700" spc="-322">
                <a:latin typeface="Arial"/>
                <a:cs typeface="Arial"/>
              </a:rPr>
              <a:t>ان</a:t>
            </a:r>
            <a:r>
              <a:rPr dirty="0" baseline="10802" sz="2700" spc="-322">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179">
                <a:latin typeface="Arial"/>
                <a:cs typeface="Arial"/>
              </a:rPr>
              <a:t> </a:t>
            </a:r>
            <a:r>
              <a:rPr dirty="0" baseline="3086" sz="2700" spc="-307">
                <a:latin typeface="Arial"/>
                <a:cs typeface="Arial"/>
              </a:rPr>
              <a:t>و</a:t>
            </a:r>
            <a:r>
              <a:rPr dirty="0" sz="1800" spc="-204">
                <a:latin typeface="Arial"/>
                <a:cs typeface="Arial"/>
              </a:rPr>
              <a:t>َ   </a:t>
            </a:r>
            <a:r>
              <a:rPr dirty="0" baseline="3086" sz="2700" spc="-652">
                <a:latin typeface="Arial"/>
                <a:cs typeface="Arial"/>
              </a:rPr>
              <a:t>لُ             </a:t>
            </a:r>
            <a:r>
              <a:rPr dirty="0" baseline="3086" sz="2700" spc="-862">
                <a:latin typeface="Arial"/>
                <a:cs typeface="Arial"/>
              </a:rPr>
              <a:t>بْ</a:t>
            </a:r>
            <a:r>
              <a:rPr dirty="0" baseline="3086" sz="2700" spc="-307">
                <a:latin typeface="Arial"/>
                <a:cs typeface="Arial"/>
              </a:rPr>
              <a:t> </a:t>
            </a:r>
            <a:r>
              <a:rPr dirty="0" baseline="3086" sz="2700" spc="-757">
                <a:latin typeface="Arial"/>
                <a:cs typeface="Arial"/>
              </a:rPr>
              <a:t>ق</a:t>
            </a:r>
            <a:r>
              <a:rPr dirty="0" baseline="7716" sz="2700" spc="-757">
                <a:latin typeface="Arial"/>
                <a:cs typeface="Arial"/>
              </a:rPr>
              <a:t>َ</a:t>
            </a:r>
            <a:r>
              <a:rPr dirty="0" baseline="7716" sz="2700" spc="660">
                <a:latin typeface="Arial"/>
                <a:cs typeface="Arial"/>
              </a:rPr>
              <a:t> </a:t>
            </a:r>
            <a:r>
              <a:rPr dirty="0" baseline="3086" sz="2700" spc="-240">
                <a:latin typeface="Arial"/>
                <a:cs typeface="Arial"/>
              </a:rPr>
              <a:t>نم</a:t>
            </a:r>
            <a:r>
              <a:rPr dirty="0" baseline="1543" sz="2700" spc="-240">
                <a:latin typeface="Arial"/>
                <a:cs typeface="Arial"/>
              </a:rPr>
              <a:t>ِ   </a:t>
            </a:r>
            <a:r>
              <a:rPr dirty="0" baseline="3086" sz="2700" spc="-172">
                <a:latin typeface="Arial"/>
                <a:cs typeface="Arial"/>
              </a:rPr>
              <a:t>ُهدَ </a:t>
            </a:r>
            <a:r>
              <a:rPr dirty="0" baseline="3086" sz="2700" spc="-1005">
                <a:latin typeface="Arial"/>
                <a:cs typeface="Arial"/>
              </a:rPr>
              <a:t>ش</a:t>
            </a:r>
            <a:r>
              <a:rPr dirty="0" baseline="12345" sz="2700" spc="-1005">
                <a:latin typeface="Arial"/>
                <a:cs typeface="Arial"/>
              </a:rPr>
              <a:t>ْ</a:t>
            </a:r>
            <a:r>
              <a:rPr dirty="0" baseline="12345" sz="2700" spc="472">
                <a:latin typeface="Arial"/>
                <a:cs typeface="Arial"/>
              </a:rPr>
              <a:t> </a:t>
            </a:r>
            <a:r>
              <a:rPr dirty="0" baseline="3086" sz="2700" spc="-525">
                <a:latin typeface="Arial"/>
                <a:cs typeface="Arial"/>
              </a:rPr>
              <a:t>رُ        </a:t>
            </a:r>
            <a:r>
              <a:rPr dirty="0" baseline="3086" sz="2700" spc="-390">
                <a:latin typeface="Arial"/>
                <a:cs typeface="Arial"/>
              </a:rPr>
              <a:t>م</a:t>
            </a:r>
            <a:r>
              <a:rPr dirty="0" baseline="-6172" sz="2700" spc="-390">
                <a:latin typeface="Arial"/>
                <a:cs typeface="Arial"/>
              </a:rPr>
              <a:t>َ  </a:t>
            </a:r>
            <a:r>
              <a:rPr dirty="0" baseline="3086" sz="2700" spc="-202">
                <a:latin typeface="Arial"/>
                <a:cs typeface="Arial"/>
              </a:rPr>
              <a:t>ٌه</a:t>
            </a:r>
            <a:r>
              <a:rPr dirty="0" baseline="1543" sz="2700" spc="-202">
                <a:latin typeface="Arial"/>
                <a:cs typeface="Arial"/>
              </a:rPr>
              <a:t>ِ  </a:t>
            </a:r>
            <a:r>
              <a:rPr dirty="0" baseline="3086" sz="2700" spc="-330">
                <a:latin typeface="Arial"/>
                <a:cs typeface="Arial"/>
              </a:rPr>
              <a:t>ار</a:t>
            </a:r>
            <a:r>
              <a:rPr dirty="0" sz="1800" spc="-220">
                <a:latin typeface="Arial"/>
                <a:cs typeface="Arial"/>
              </a:rPr>
              <a:t>َ  </a:t>
            </a:r>
            <a:r>
              <a:rPr dirty="0" baseline="3086" sz="2700" spc="-862">
                <a:latin typeface="Arial"/>
                <a:cs typeface="Arial"/>
              </a:rPr>
              <a:t>بْ</a:t>
            </a:r>
            <a:r>
              <a:rPr dirty="0" baseline="3086" sz="2700" spc="-330">
                <a:latin typeface="Arial"/>
                <a:cs typeface="Arial"/>
              </a:rPr>
              <a:t> </a:t>
            </a:r>
            <a:r>
              <a:rPr dirty="0" baseline="-10802" sz="2700">
                <a:latin typeface="Arial"/>
                <a:cs typeface="Arial"/>
              </a:rPr>
              <a:t>ِ</a:t>
            </a:r>
            <a:r>
              <a:rPr dirty="0" baseline="3086" sz="2700">
                <a:latin typeface="Arial"/>
                <a:cs typeface="Arial"/>
              </a:rPr>
              <a:t>إ </a:t>
            </a:r>
            <a:r>
              <a:rPr dirty="0" baseline="3086" sz="2700" spc="-412">
                <a:latin typeface="Arial"/>
                <a:cs typeface="Arial"/>
              </a:rPr>
              <a:t>ان</a:t>
            </a:r>
            <a:r>
              <a:rPr dirty="0" baseline="7716" sz="2700" spc="-412">
                <a:latin typeface="Arial"/>
                <a:cs typeface="Arial"/>
              </a:rPr>
              <a:t>َ  </a:t>
            </a:r>
            <a:r>
              <a:rPr dirty="0" baseline="3086" sz="2700">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a:latin typeface="Arial"/>
                <a:cs typeface="Arial"/>
              </a:rPr>
              <a:t>آ </a:t>
            </a:r>
            <a:r>
              <a:rPr dirty="0" baseline="3086" sz="2700" spc="-284">
                <a:latin typeface="Arial"/>
                <a:cs typeface="Arial"/>
              </a:rPr>
              <a:t>د</a:t>
            </a:r>
            <a:r>
              <a:rPr dirty="0" baseline="6172" sz="2700" spc="-284">
                <a:latin typeface="Arial"/>
                <a:cs typeface="Arial"/>
              </a:rPr>
              <a:t>ْ </a:t>
            </a:r>
            <a:r>
              <a:rPr dirty="0" baseline="3086" sz="2700" spc="-750">
                <a:latin typeface="Arial"/>
                <a:cs typeface="Arial"/>
              </a:rPr>
              <a:t>ق</a:t>
            </a:r>
            <a:r>
              <a:rPr dirty="0" baseline="7716" sz="2700" spc="-750">
                <a:latin typeface="Arial"/>
                <a:cs typeface="Arial"/>
              </a:rPr>
              <a:t>َ</a:t>
            </a:r>
            <a:r>
              <a:rPr dirty="0" baseline="3086" sz="2700" spc="-690">
                <a:latin typeface="Arial"/>
                <a:cs typeface="Arial"/>
              </a:rPr>
              <a:t>ل</a:t>
            </a:r>
            <a:r>
              <a:rPr dirty="0" baseline="10802" sz="2700" spc="-690">
                <a:latin typeface="Arial"/>
                <a:cs typeface="Arial"/>
              </a:rPr>
              <a:t>َ    </a:t>
            </a:r>
            <a:r>
              <a:rPr dirty="0" baseline="10802" sz="2700" spc="-652">
                <a:latin typeface="Arial"/>
                <a:cs typeface="Arial"/>
              </a:rPr>
              <a:t> </a:t>
            </a:r>
            <a:r>
              <a:rPr dirty="0" baseline="3086" sz="2700" spc="-615">
                <a:latin typeface="Arial"/>
                <a:cs typeface="Arial"/>
              </a:rPr>
              <a:t>و</a:t>
            </a:r>
            <a:endParaRPr baseline="3086" sz="2700">
              <a:latin typeface="Arial"/>
              <a:cs typeface="Arial"/>
            </a:endParaRPr>
          </a:p>
          <a:p>
            <a:pPr marL="407670" indent="-255904">
              <a:lnSpc>
                <a:spcPct val="100000"/>
              </a:lnSpc>
              <a:spcBef>
                <a:spcPts val="1225"/>
              </a:spcBef>
              <a:buAutoNum type="arabicPeriod" startAt="51"/>
              <a:tabLst>
                <a:tab pos="408305" algn="l"/>
              </a:tabLst>
            </a:pPr>
            <a:r>
              <a:rPr dirty="0" sz="1200" spc="-5">
                <a:latin typeface="Arial"/>
                <a:cs typeface="Arial"/>
              </a:rPr>
              <a:t>And </a:t>
            </a:r>
            <a:r>
              <a:rPr dirty="0" sz="1200" spc="20">
                <a:latin typeface="Arial"/>
                <a:cs typeface="Arial"/>
              </a:rPr>
              <a:t>We </a:t>
            </a:r>
            <a:r>
              <a:rPr dirty="0" sz="1200" spc="-5">
                <a:latin typeface="Arial"/>
                <a:cs typeface="Arial"/>
              </a:rPr>
              <a:t>verily </a:t>
            </a:r>
            <a:r>
              <a:rPr dirty="0" sz="1200">
                <a:latin typeface="Arial"/>
                <a:cs typeface="Arial"/>
              </a:rPr>
              <a:t>gave </a:t>
            </a:r>
            <a:r>
              <a:rPr dirty="0" sz="1200" spc="-5">
                <a:latin typeface="Arial"/>
                <a:cs typeface="Arial"/>
              </a:rPr>
              <a:t>Abraham of old </a:t>
            </a:r>
            <a:r>
              <a:rPr dirty="0" sz="1200">
                <a:latin typeface="Arial"/>
                <a:cs typeface="Arial"/>
              </a:rPr>
              <a:t>his </a:t>
            </a:r>
            <a:r>
              <a:rPr dirty="0" sz="1200" spc="-5">
                <a:latin typeface="Arial"/>
                <a:cs typeface="Arial"/>
              </a:rPr>
              <a:t>proper course, and </a:t>
            </a:r>
            <a:r>
              <a:rPr dirty="0" sz="1200" spc="20">
                <a:latin typeface="Arial"/>
                <a:cs typeface="Arial"/>
              </a:rPr>
              <a:t>We </a:t>
            </a:r>
            <a:r>
              <a:rPr dirty="0" sz="1200" spc="-5">
                <a:latin typeface="Arial"/>
                <a:cs typeface="Arial"/>
              </a:rPr>
              <a:t>were Aware </a:t>
            </a:r>
            <a:r>
              <a:rPr dirty="0" sz="1200">
                <a:latin typeface="Arial"/>
                <a:cs typeface="Arial"/>
              </a:rPr>
              <a:t>of</a:t>
            </a:r>
            <a:r>
              <a:rPr dirty="0" sz="1200" spc="-55">
                <a:latin typeface="Arial"/>
                <a:cs typeface="Arial"/>
              </a:rPr>
              <a:t> </a:t>
            </a:r>
            <a:r>
              <a:rPr dirty="0" sz="1200" spc="-5">
                <a:latin typeface="Arial"/>
                <a:cs typeface="Arial"/>
              </a:rPr>
              <a:t>him,</a:t>
            </a:r>
            <a:endParaRPr sz="1200">
              <a:latin typeface="Arial"/>
              <a:cs typeface="Arial"/>
            </a:endParaRPr>
          </a:p>
          <a:p>
            <a:pPr>
              <a:lnSpc>
                <a:spcPct val="100000"/>
              </a:lnSpc>
              <a:spcBef>
                <a:spcPts val="50"/>
              </a:spcBef>
              <a:buFont typeface="Arial"/>
              <a:buAutoNum type="arabicPeriod" startAt="51"/>
            </a:pPr>
            <a:endParaRPr sz="1100">
              <a:latin typeface="Arial"/>
              <a:cs typeface="Arial"/>
            </a:endParaRPr>
          </a:p>
          <a:p>
            <a:pPr algn="r" marR="157480">
              <a:lnSpc>
                <a:spcPct val="100000"/>
              </a:lnSpc>
              <a:spcBef>
                <a:spcPts val="5"/>
              </a:spcBef>
            </a:pPr>
            <a:r>
              <a:rPr dirty="0" baseline="1543" sz="2700" spc="-494">
                <a:latin typeface="Arial"/>
                <a:cs typeface="Arial"/>
              </a:rPr>
              <a:t>ن</a:t>
            </a:r>
            <a:r>
              <a:rPr dirty="0" baseline="-1543" sz="2700" spc="-494">
                <a:latin typeface="Arial"/>
                <a:cs typeface="Arial"/>
              </a:rPr>
              <a:t>َ </a:t>
            </a:r>
            <a:r>
              <a:rPr dirty="0" baseline="1543" sz="2700" spc="-577">
                <a:latin typeface="Arial"/>
                <a:cs typeface="Arial"/>
              </a:rPr>
              <a:t>و</a:t>
            </a:r>
            <a:r>
              <a:rPr dirty="0" baseline="9259" sz="2700" spc="-577">
                <a:latin typeface="Arial"/>
                <a:cs typeface="Arial"/>
              </a:rPr>
              <a:t>ُ</a:t>
            </a:r>
            <a:r>
              <a:rPr dirty="0" baseline="1543" sz="2700" spc="-577">
                <a:latin typeface="Arial"/>
                <a:cs typeface="Arial"/>
              </a:rPr>
              <a:t>فك</a:t>
            </a:r>
            <a:r>
              <a:rPr dirty="0" sz="1800" spc="-385">
                <a:latin typeface="Arial"/>
                <a:cs typeface="Arial"/>
              </a:rPr>
              <a:t>ِ </a:t>
            </a:r>
            <a:r>
              <a:rPr dirty="0" baseline="1543" sz="2700" spc="-390">
                <a:latin typeface="Arial"/>
                <a:cs typeface="Arial"/>
              </a:rPr>
              <a:t>اع</a:t>
            </a:r>
            <a:r>
              <a:rPr dirty="0" baseline="-1543" sz="2700" spc="-390">
                <a:latin typeface="Arial"/>
                <a:cs typeface="Arial"/>
              </a:rPr>
              <a:t>َ </a:t>
            </a:r>
            <a:r>
              <a:rPr dirty="0" baseline="1543" sz="2700" spc="-202">
                <a:latin typeface="Arial"/>
                <a:cs typeface="Arial"/>
              </a:rPr>
              <a:t>اه</a:t>
            </a:r>
            <a:r>
              <a:rPr dirty="0" baseline="-1543" sz="2700" spc="-202">
                <a:latin typeface="Arial"/>
                <a:cs typeface="Arial"/>
              </a:rPr>
              <a:t>َ </a:t>
            </a:r>
            <a:r>
              <a:rPr dirty="0" baseline="9259" sz="2700" spc="-405">
                <a:latin typeface="Arial"/>
                <a:cs typeface="Arial"/>
              </a:rPr>
              <a:t>َ</a:t>
            </a:r>
            <a:r>
              <a:rPr dirty="0" baseline="1543" sz="2700" spc="-405">
                <a:latin typeface="Arial"/>
                <a:cs typeface="Arial"/>
              </a:rPr>
              <a:t>ل </a:t>
            </a:r>
            <a:r>
              <a:rPr dirty="0" baseline="1543" sz="2700" spc="-359">
                <a:latin typeface="Arial"/>
                <a:cs typeface="Arial"/>
              </a:rPr>
              <a:t>م</a:t>
            </a:r>
            <a:r>
              <a:rPr dirty="0" baseline="-3086" sz="2700" spc="-359">
                <a:latin typeface="Arial"/>
                <a:cs typeface="Arial"/>
              </a:rPr>
              <a:t>ْ </a:t>
            </a:r>
            <a:r>
              <a:rPr dirty="0" baseline="1543" sz="2700" spc="-937">
                <a:latin typeface="Arial"/>
                <a:cs typeface="Arial"/>
              </a:rPr>
              <a:t>ت</a:t>
            </a:r>
            <a:r>
              <a:rPr dirty="0" baseline="9259" sz="2700" spc="-937">
                <a:latin typeface="Arial"/>
                <a:cs typeface="Arial"/>
              </a:rPr>
              <a:t>ُ</a:t>
            </a:r>
            <a:r>
              <a:rPr dirty="0" baseline="9259" sz="2700" spc="-157">
                <a:latin typeface="Arial"/>
                <a:cs typeface="Arial"/>
              </a:rPr>
              <a:t> </a:t>
            </a:r>
            <a:r>
              <a:rPr dirty="0" baseline="1543" sz="2700" spc="-270">
                <a:latin typeface="Arial"/>
                <a:cs typeface="Arial"/>
              </a:rPr>
              <a:t>ن</a:t>
            </a:r>
            <a:r>
              <a:rPr dirty="0" baseline="15432" sz="2700" spc="-270">
                <a:latin typeface="Arial"/>
                <a:cs typeface="Arial"/>
              </a:rPr>
              <a:t>َ</a:t>
            </a:r>
            <a:r>
              <a:rPr dirty="0" baseline="1543" sz="2700" spc="-270">
                <a:latin typeface="Arial"/>
                <a:cs typeface="Arial"/>
              </a:rPr>
              <a:t>أ </a:t>
            </a:r>
            <a:r>
              <a:rPr dirty="0" baseline="1543" sz="2700" spc="-637">
                <a:latin typeface="Arial"/>
                <a:cs typeface="Arial"/>
              </a:rPr>
              <a:t>ًت</a:t>
            </a:r>
            <a:r>
              <a:rPr dirty="0" sz="1800" spc="-425">
                <a:latin typeface="Arial"/>
                <a:cs typeface="Arial"/>
              </a:rPr>
              <a:t>ِ </a:t>
            </a:r>
            <a:r>
              <a:rPr dirty="0" baseline="10802" sz="2700" spc="-209">
                <a:latin typeface="Arial"/>
                <a:cs typeface="Arial"/>
              </a:rPr>
              <a:t>َّ</a:t>
            </a:r>
            <a:r>
              <a:rPr dirty="0" baseline="1543" sz="2700" spc="-209">
                <a:latin typeface="Arial"/>
                <a:cs typeface="Arial"/>
              </a:rPr>
              <a:t>لا </a:t>
            </a:r>
            <a:r>
              <a:rPr dirty="0" baseline="1543" sz="2700" spc="-652">
                <a:latin typeface="Arial"/>
                <a:cs typeface="Arial"/>
              </a:rPr>
              <a:t>لُ </a:t>
            </a:r>
            <a:r>
              <a:rPr dirty="0" baseline="1543" sz="2700" spc="-637">
                <a:latin typeface="Arial"/>
                <a:cs typeface="Arial"/>
              </a:rPr>
              <a:t>ٌث</a:t>
            </a:r>
            <a:r>
              <a:rPr dirty="0" sz="1800" spc="-425">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607">
                <a:latin typeface="Arial"/>
                <a:cs typeface="Arial"/>
              </a:rPr>
              <a:t>ت</a:t>
            </a:r>
            <a:r>
              <a:rPr dirty="0" baseline="9259" sz="2700" spc="-607">
                <a:latin typeface="Arial"/>
                <a:cs typeface="Arial"/>
              </a:rPr>
              <a:t>َّ </a:t>
            </a:r>
            <a:r>
              <a:rPr dirty="0" baseline="1543" sz="2700" spc="-419">
                <a:latin typeface="Arial"/>
                <a:cs typeface="Arial"/>
              </a:rPr>
              <a:t>لا </a:t>
            </a:r>
            <a:r>
              <a:rPr dirty="0" baseline="1543" sz="2700" spc="-337">
                <a:latin typeface="Arial"/>
                <a:cs typeface="Arial"/>
              </a:rPr>
              <a:t>ه</a:t>
            </a:r>
            <a:r>
              <a:rPr dirty="0" sz="1800" spc="-225">
                <a:latin typeface="Arial"/>
                <a:cs typeface="Arial"/>
              </a:rPr>
              <a:t>ِ </a:t>
            </a:r>
            <a:r>
              <a:rPr dirty="0" baseline="1543" sz="2700" spc="-352">
                <a:latin typeface="Arial"/>
                <a:cs typeface="Arial"/>
              </a:rPr>
              <a:t>ذ</a:t>
            </a:r>
            <a:r>
              <a:rPr dirty="0" sz="1800" spc="-235">
                <a:latin typeface="Arial"/>
                <a:cs typeface="Arial"/>
              </a:rPr>
              <a:t>ِ </a:t>
            </a:r>
            <a:r>
              <a:rPr dirty="0" baseline="1543" sz="2700" spc="-270">
                <a:latin typeface="Arial"/>
                <a:cs typeface="Arial"/>
              </a:rPr>
              <a:t>ه</a:t>
            </a:r>
            <a:r>
              <a:rPr dirty="0" baseline="-1543" sz="2700" spc="-270">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337">
                <a:latin typeface="Arial"/>
                <a:cs typeface="Arial"/>
              </a:rPr>
              <a:t>ه</a:t>
            </a:r>
            <a:r>
              <a:rPr dirty="0" sz="1800" spc="-225">
                <a:latin typeface="Arial"/>
                <a:cs typeface="Arial"/>
              </a:rPr>
              <a:t>ِ </a:t>
            </a:r>
            <a:r>
              <a:rPr dirty="0" baseline="1543" sz="2700" spc="-352">
                <a:latin typeface="Arial"/>
                <a:cs typeface="Arial"/>
              </a:rPr>
              <a:t>م</a:t>
            </a:r>
            <a:r>
              <a:rPr dirty="0" sz="1800" spc="-235">
                <a:latin typeface="Arial"/>
                <a:cs typeface="Arial"/>
              </a:rPr>
              <a:t>ِ </a:t>
            </a:r>
            <a:r>
              <a:rPr dirty="0" baseline="1543" sz="2700" spc="-270">
                <a:latin typeface="Arial"/>
                <a:cs typeface="Arial"/>
              </a:rPr>
              <a:t>وْ </a:t>
            </a:r>
            <a:r>
              <a:rPr dirty="0" baseline="1543" sz="2700" spc="-757">
                <a:latin typeface="Arial"/>
                <a:cs typeface="Arial"/>
              </a:rPr>
              <a:t>ق</a:t>
            </a:r>
            <a:r>
              <a:rPr dirty="0" baseline="6172" sz="2700" spc="-757">
                <a:latin typeface="Arial"/>
                <a:cs typeface="Arial"/>
              </a:rPr>
              <a:t>َ</a:t>
            </a:r>
            <a:r>
              <a:rPr dirty="0" baseline="6172" sz="2700" spc="-104">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37">
                <a:latin typeface="Arial"/>
                <a:cs typeface="Arial"/>
              </a:rPr>
              <a:t>ه</a:t>
            </a:r>
            <a:r>
              <a:rPr dirty="0" sz="1800" spc="-225">
                <a:latin typeface="Arial"/>
                <a:cs typeface="Arial"/>
              </a:rPr>
              <a:t>ِ </a:t>
            </a:r>
            <a:r>
              <a:rPr dirty="0" baseline="1543" sz="2700" spc="-644">
                <a:latin typeface="Arial"/>
                <a:cs typeface="Arial"/>
              </a:rPr>
              <a:t>ٌب</a:t>
            </a:r>
            <a:r>
              <a:rPr dirty="0" baseline="-12345" sz="2700" spc="-644">
                <a:latin typeface="Arial"/>
                <a:cs typeface="Arial"/>
              </a:rPr>
              <a:t>ِ </a:t>
            </a:r>
            <a:r>
              <a:rPr dirty="0" baseline="15432" sz="2700" spc="-375">
                <a:latin typeface="Arial"/>
                <a:cs typeface="Arial"/>
              </a:rPr>
              <a:t>َ</a:t>
            </a:r>
            <a:r>
              <a:rPr dirty="0" baseline="1543" sz="2700" spc="-375">
                <a:latin typeface="Arial"/>
                <a:cs typeface="Arial"/>
              </a:rPr>
              <a:t>لأ</a:t>
            </a:r>
            <a:r>
              <a:rPr dirty="0" baseline="-4629" sz="2700" spc="-375">
                <a:latin typeface="Arial"/>
                <a:cs typeface="Arial"/>
              </a:rPr>
              <a:t>ِ </a:t>
            </a:r>
            <a:r>
              <a:rPr dirty="0" baseline="1543" sz="2700" spc="-615">
                <a:latin typeface="Arial"/>
                <a:cs typeface="Arial"/>
              </a:rPr>
              <a:t>ل</a:t>
            </a:r>
            <a:r>
              <a:rPr dirty="0" baseline="-1543" sz="2700" spc="-615">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spc="-284">
                <a:latin typeface="Arial"/>
                <a:cs typeface="Arial"/>
              </a:rPr>
              <a:t>ذ</a:t>
            </a:r>
            <a:r>
              <a:rPr dirty="0" baseline="15432" sz="2700" spc="-284">
                <a:latin typeface="Arial"/>
                <a:cs typeface="Arial"/>
              </a:rPr>
              <a:t>ْ</a:t>
            </a:r>
            <a:r>
              <a:rPr dirty="0" baseline="15432" sz="2700" spc="-434">
                <a:latin typeface="Arial"/>
                <a:cs typeface="Arial"/>
              </a:rPr>
              <a:t> </a:t>
            </a:r>
            <a:r>
              <a:rPr dirty="0" baseline="-12345" sz="2700">
                <a:latin typeface="Arial"/>
                <a:cs typeface="Arial"/>
              </a:rPr>
              <a:t>ِ</a:t>
            </a:r>
            <a:r>
              <a:rPr dirty="0" baseline="1543" sz="2700">
                <a:latin typeface="Arial"/>
                <a:cs typeface="Arial"/>
              </a:rPr>
              <a:t>إ</a:t>
            </a:r>
            <a:endParaRPr baseline="1543" sz="2700">
              <a:latin typeface="Arial"/>
              <a:cs typeface="Arial"/>
            </a:endParaRPr>
          </a:p>
          <a:p>
            <a:pPr marL="152400" marR="161290">
              <a:lnSpc>
                <a:spcPts val="1380"/>
              </a:lnSpc>
              <a:spcBef>
                <a:spcPts val="1390"/>
              </a:spcBef>
              <a:buAutoNum type="arabicPeriod" startAt="52"/>
              <a:tabLst>
                <a:tab pos="425450" algn="l"/>
              </a:tabLst>
            </a:pPr>
            <a:r>
              <a:rPr dirty="0" sz="1200">
                <a:latin typeface="Arial"/>
                <a:cs typeface="Arial"/>
              </a:rPr>
              <a:t>When </a:t>
            </a:r>
            <a:r>
              <a:rPr dirty="0" sz="1200" spc="-5">
                <a:latin typeface="Arial"/>
                <a:cs typeface="Arial"/>
              </a:rPr>
              <a:t>he said </a:t>
            </a:r>
            <a:r>
              <a:rPr dirty="0" sz="1200" spc="-10">
                <a:latin typeface="Arial"/>
                <a:cs typeface="Arial"/>
              </a:rPr>
              <a:t>unto </a:t>
            </a:r>
            <a:r>
              <a:rPr dirty="0" sz="1200" spc="-5">
                <a:latin typeface="Arial"/>
                <a:cs typeface="Arial"/>
              </a:rPr>
              <a:t>his </a:t>
            </a:r>
            <a:r>
              <a:rPr dirty="0" sz="1200">
                <a:latin typeface="Arial"/>
                <a:cs typeface="Arial"/>
              </a:rPr>
              <a:t>father </a:t>
            </a:r>
            <a:r>
              <a:rPr dirty="0" sz="1200" spc="-5">
                <a:latin typeface="Arial"/>
                <a:cs typeface="Arial"/>
              </a:rPr>
              <a:t>and his </a:t>
            </a:r>
            <a:r>
              <a:rPr dirty="0" sz="1200">
                <a:latin typeface="Arial"/>
                <a:cs typeface="Arial"/>
              </a:rPr>
              <a:t>folk: </a:t>
            </a:r>
            <a:r>
              <a:rPr dirty="0" sz="1200" spc="5">
                <a:latin typeface="Arial"/>
                <a:cs typeface="Arial"/>
              </a:rPr>
              <a:t>What </a:t>
            </a:r>
            <a:r>
              <a:rPr dirty="0" sz="1200" spc="-5">
                <a:latin typeface="Arial"/>
                <a:cs typeface="Arial"/>
              </a:rPr>
              <a:t>are these images unto which </a:t>
            </a:r>
            <a:r>
              <a:rPr dirty="0" sz="1200" spc="-10">
                <a:latin typeface="Arial"/>
                <a:cs typeface="Arial"/>
              </a:rPr>
              <a:t>ye </a:t>
            </a:r>
            <a:r>
              <a:rPr dirty="0" sz="1200" spc="-5">
                <a:latin typeface="Arial"/>
                <a:cs typeface="Arial"/>
              </a:rPr>
              <a:t>pay  devotion?</a:t>
            </a:r>
            <a:endParaRPr sz="1200">
              <a:latin typeface="Arial"/>
              <a:cs typeface="Arial"/>
            </a:endParaRPr>
          </a:p>
          <a:p>
            <a:pPr>
              <a:lnSpc>
                <a:spcPct val="100000"/>
              </a:lnSpc>
              <a:spcBef>
                <a:spcPts val="20"/>
              </a:spcBef>
            </a:pPr>
            <a:endParaRPr sz="1150">
              <a:latin typeface="Arial"/>
              <a:cs typeface="Arial"/>
            </a:endParaRPr>
          </a:p>
          <a:p>
            <a:pPr algn="r" marR="208915">
              <a:lnSpc>
                <a:spcPct val="100000"/>
              </a:lnSpc>
            </a:pPr>
            <a:r>
              <a:rPr dirty="0" baseline="3086" sz="2700" spc="-509">
                <a:latin typeface="Arial"/>
                <a:cs typeface="Arial"/>
              </a:rPr>
              <a:t>ن</a:t>
            </a:r>
            <a:r>
              <a:rPr dirty="0" sz="1800" spc="-340">
                <a:latin typeface="Arial"/>
                <a:cs typeface="Arial"/>
              </a:rPr>
              <a:t>َ </a:t>
            </a:r>
            <a:r>
              <a:rPr dirty="0" baseline="3086" sz="2700" spc="-307">
                <a:latin typeface="Arial"/>
                <a:cs typeface="Arial"/>
              </a:rPr>
              <a:t>ٌر</a:t>
            </a:r>
            <a:r>
              <a:rPr dirty="0" baseline="-10802" sz="2700" spc="-307">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52">
                <a:latin typeface="Arial"/>
                <a:cs typeface="Arial"/>
              </a:rPr>
              <a:t> </a:t>
            </a:r>
            <a:r>
              <a:rPr dirty="0" baseline="3086" sz="2700" spc="-284">
                <a:latin typeface="Arial"/>
                <a:cs typeface="Arial"/>
              </a:rPr>
              <a:t>د</a:t>
            </a:r>
            <a:r>
              <a:rPr dirty="0" baseline="6172" sz="2700" spc="-284">
                <a:latin typeface="Arial"/>
                <a:cs typeface="Arial"/>
              </a:rPr>
              <a:t>ْ </a:t>
            </a:r>
            <a:r>
              <a:rPr dirty="0" baseline="3086" sz="2700" spc="-397">
                <a:latin typeface="Arial"/>
                <a:cs typeface="Arial"/>
              </a:rPr>
              <a:t>مُ </a:t>
            </a:r>
            <a:r>
              <a:rPr dirty="0" baseline="3086" sz="2700" spc="-217">
                <a:latin typeface="Arial"/>
                <a:cs typeface="Arial"/>
              </a:rPr>
              <a:t>او</a:t>
            </a:r>
            <a:r>
              <a:rPr dirty="0" baseline="13888" sz="2700" spc="-217">
                <a:latin typeface="Arial"/>
                <a:cs typeface="Arial"/>
              </a:rPr>
              <a:t>ُّ</a:t>
            </a:r>
            <a:r>
              <a:rPr dirty="0" baseline="3086" sz="2700" spc="-217">
                <a:latin typeface="Arial"/>
                <a:cs typeface="Arial"/>
              </a:rPr>
              <a:t>لو</a:t>
            </a:r>
            <a:r>
              <a:rPr dirty="0" sz="1800" spc="-145">
                <a:latin typeface="Arial"/>
                <a:cs typeface="Arial"/>
              </a:rPr>
              <a:t>َ </a:t>
            </a:r>
            <a:r>
              <a:rPr dirty="0" baseline="3086" sz="2700" spc="-930">
                <a:latin typeface="Arial"/>
                <a:cs typeface="Arial"/>
              </a:rPr>
              <a:t>ت</a:t>
            </a:r>
            <a:r>
              <a:rPr dirty="0" baseline="10802" sz="2700" spc="-930">
                <a:latin typeface="Arial"/>
                <a:cs typeface="Arial"/>
              </a:rPr>
              <a:t>ُ</a:t>
            </a:r>
            <a:r>
              <a:rPr dirty="0" baseline="10802" sz="2700" spc="705">
                <a:latin typeface="Arial"/>
                <a:cs typeface="Arial"/>
              </a:rPr>
              <a:t> </a:t>
            </a:r>
            <a:r>
              <a:rPr dirty="0" baseline="3086" sz="2700" spc="-22">
                <a:latin typeface="Arial"/>
                <a:cs typeface="Arial"/>
              </a:rPr>
              <a:t>ن</a:t>
            </a:r>
            <a:r>
              <a:rPr dirty="0" baseline="16975" sz="2700" spc="-22">
                <a:latin typeface="Arial"/>
                <a:cs typeface="Arial"/>
              </a:rPr>
              <a:t>َ</a:t>
            </a:r>
            <a:r>
              <a:rPr dirty="0" baseline="3086" sz="2700" spc="-22">
                <a:latin typeface="Arial"/>
                <a:cs typeface="Arial"/>
              </a:rPr>
              <a:t>أ </a:t>
            </a:r>
            <a:r>
              <a:rPr dirty="0" baseline="3086" sz="2700" spc="-322">
                <a:latin typeface="Arial"/>
                <a:cs typeface="Arial"/>
              </a:rPr>
              <a:t>دَ </a:t>
            </a:r>
            <a:r>
              <a:rPr dirty="0" baseline="3086" sz="2700" spc="-569">
                <a:latin typeface="Arial"/>
                <a:cs typeface="Arial"/>
              </a:rPr>
              <a:t>عْ </a:t>
            </a:r>
            <a:r>
              <a:rPr dirty="0" baseline="3086" sz="2700" spc="-892">
                <a:latin typeface="Arial"/>
                <a:cs typeface="Arial"/>
              </a:rPr>
              <a:t>ب</a:t>
            </a:r>
            <a:r>
              <a:rPr dirty="0" sz="1800" spc="-595">
                <a:latin typeface="Arial"/>
                <a:cs typeface="Arial"/>
              </a:rPr>
              <a:t>َ</a:t>
            </a:r>
            <a:r>
              <a:rPr dirty="0" sz="1800" spc="425">
                <a:latin typeface="Arial"/>
                <a:cs typeface="Arial"/>
              </a:rPr>
              <a:t> </a:t>
            </a:r>
            <a:r>
              <a:rPr dirty="0" baseline="3086" sz="2700" spc="-509">
                <a:latin typeface="Arial"/>
                <a:cs typeface="Arial"/>
              </a:rPr>
              <a:t>مك</a:t>
            </a:r>
            <a:r>
              <a:rPr dirty="0" baseline="10802" sz="2700" spc="-509">
                <a:latin typeface="Arial"/>
                <a:cs typeface="Arial"/>
              </a:rPr>
              <a:t>ُ </a:t>
            </a:r>
            <a:r>
              <a:rPr dirty="0" baseline="3086" sz="2700" spc="-359">
                <a:latin typeface="Arial"/>
                <a:cs typeface="Arial"/>
              </a:rPr>
              <a:t>م</a:t>
            </a:r>
            <a:r>
              <a:rPr dirty="0" sz="1800" spc="-240">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1320">
                <a:latin typeface="Arial"/>
                <a:cs typeface="Arial"/>
              </a:rPr>
              <a:t>صْ</a:t>
            </a:r>
            <a:r>
              <a:rPr dirty="0" baseline="3086" sz="2700" spc="1320">
                <a:latin typeface="Arial"/>
                <a:cs typeface="Arial"/>
              </a:rPr>
              <a:t> </a:t>
            </a:r>
            <a:r>
              <a:rPr dirty="0" baseline="16975" sz="2700">
                <a:latin typeface="Arial"/>
                <a:cs typeface="Arial"/>
              </a:rPr>
              <a:t>َ</a:t>
            </a:r>
            <a:r>
              <a:rPr dirty="0" baseline="3086" sz="2700">
                <a:latin typeface="Arial"/>
                <a:cs typeface="Arial"/>
              </a:rPr>
              <a:t>أ </a:t>
            </a:r>
            <a:r>
              <a:rPr dirty="0" baseline="3086" sz="2700" spc="-352">
                <a:latin typeface="Arial"/>
                <a:cs typeface="Arial"/>
              </a:rPr>
              <a:t>نَّ </a:t>
            </a:r>
            <a:r>
              <a:rPr dirty="0" baseline="3086" sz="2700" spc="-322">
                <a:latin typeface="Arial"/>
                <a:cs typeface="Arial"/>
              </a:rPr>
              <a:t>دَ </a:t>
            </a:r>
            <a:r>
              <a:rPr dirty="0" baseline="3086" sz="2700" spc="-487">
                <a:latin typeface="Arial"/>
                <a:cs typeface="Arial"/>
              </a:rPr>
              <a:t>ٌك</a:t>
            </a:r>
            <a:r>
              <a:rPr dirty="0" baseline="1543" sz="2700" spc="-487">
                <a:latin typeface="Arial"/>
                <a:cs typeface="Arial"/>
              </a:rPr>
              <a:t>ِ </a:t>
            </a:r>
            <a:r>
              <a:rPr dirty="0" baseline="16975" sz="2700" spc="-375">
                <a:latin typeface="Arial"/>
                <a:cs typeface="Arial"/>
              </a:rPr>
              <a:t>َ</a:t>
            </a:r>
            <a:r>
              <a:rPr dirty="0" baseline="3086" sz="2700" spc="-375">
                <a:latin typeface="Arial"/>
                <a:cs typeface="Arial"/>
              </a:rPr>
              <a:t>لأ</a:t>
            </a:r>
            <a:r>
              <a:rPr dirty="0" baseline="10802" sz="2700" spc="-375">
                <a:latin typeface="Arial"/>
                <a:cs typeface="Arial"/>
              </a:rPr>
              <a:t>َ </a:t>
            </a:r>
            <a:r>
              <a:rPr dirty="0" baseline="3086" sz="2700" spc="-885">
                <a:latin typeface="Arial"/>
                <a:cs typeface="Arial"/>
              </a:rPr>
              <a:t>للَّ</a:t>
            </a:r>
            <a:r>
              <a:rPr dirty="0" sz="1800" spc="-590">
                <a:latin typeface="Arial"/>
                <a:cs typeface="Arial"/>
              </a:rPr>
              <a:t>ِ</a:t>
            </a:r>
            <a:r>
              <a:rPr dirty="0" sz="1800" spc="-60">
                <a:latin typeface="Arial"/>
                <a:cs typeface="Arial"/>
              </a:rPr>
              <a:t> </a:t>
            </a:r>
            <a:r>
              <a:rPr dirty="0" baseline="15432" sz="2700">
                <a:latin typeface="Arial"/>
                <a:cs typeface="Arial"/>
              </a:rPr>
              <a:t>َّ </a:t>
            </a:r>
            <a:r>
              <a:rPr dirty="0" baseline="3086" sz="2700" spc="-585">
                <a:latin typeface="Arial"/>
                <a:cs typeface="Arial"/>
              </a:rPr>
              <a:t>ات</a:t>
            </a:r>
            <a:r>
              <a:rPr dirty="0" baseline="7716" sz="2700" spc="-585">
                <a:latin typeface="Arial"/>
                <a:cs typeface="Arial"/>
              </a:rPr>
              <a:t>َ</a:t>
            </a:r>
            <a:r>
              <a:rPr dirty="0" baseline="7716" sz="2700" spc="-502">
                <a:latin typeface="Arial"/>
                <a:cs typeface="Arial"/>
              </a:rPr>
              <a:t> </a:t>
            </a:r>
            <a:r>
              <a:rPr dirty="0" baseline="3086" sz="2700" spc="-615">
                <a:latin typeface="Arial"/>
                <a:cs typeface="Arial"/>
              </a:rPr>
              <a:t>و</a:t>
            </a:r>
            <a:endParaRPr baseline="3086" sz="2700">
              <a:latin typeface="Arial"/>
              <a:cs typeface="Arial"/>
            </a:endParaRPr>
          </a:p>
          <a:p>
            <a:pPr marL="152400" marR="163830">
              <a:lnSpc>
                <a:spcPts val="1380"/>
              </a:lnSpc>
              <a:spcBef>
                <a:spcPts val="1325"/>
              </a:spcBef>
            </a:pPr>
            <a:r>
              <a:rPr dirty="0" sz="1200" spc="-5">
                <a:latin typeface="Arial"/>
                <a:cs typeface="Arial"/>
              </a:rPr>
              <a:t>57. And, by Allah, </a:t>
            </a:r>
            <a:r>
              <a:rPr dirty="0" sz="1200">
                <a:latin typeface="Arial"/>
                <a:cs typeface="Arial"/>
              </a:rPr>
              <a:t>I </a:t>
            </a:r>
            <a:r>
              <a:rPr dirty="0" sz="1200" spc="-5">
                <a:latin typeface="Arial"/>
                <a:cs typeface="Arial"/>
              </a:rPr>
              <a:t>shall circumvent your </a:t>
            </a:r>
            <a:r>
              <a:rPr dirty="0" sz="1200">
                <a:latin typeface="Arial"/>
                <a:cs typeface="Arial"/>
              </a:rPr>
              <a:t>idols </a:t>
            </a:r>
            <a:r>
              <a:rPr dirty="0" sz="1200" spc="-5">
                <a:latin typeface="Arial"/>
                <a:cs typeface="Arial"/>
              </a:rPr>
              <a:t>after </a:t>
            </a:r>
            <a:r>
              <a:rPr dirty="0" sz="1200" spc="-10">
                <a:latin typeface="Arial"/>
                <a:cs typeface="Arial"/>
              </a:rPr>
              <a:t>ye have </a:t>
            </a:r>
            <a:r>
              <a:rPr dirty="0" sz="1200" spc="-5">
                <a:latin typeface="Arial"/>
                <a:cs typeface="Arial"/>
              </a:rPr>
              <a:t>gone away and turned </a:t>
            </a:r>
            <a:r>
              <a:rPr dirty="0" sz="1200" spc="-10">
                <a:latin typeface="Arial"/>
                <a:cs typeface="Arial"/>
              </a:rPr>
              <a:t>your  </a:t>
            </a:r>
            <a:r>
              <a:rPr dirty="0" sz="1200">
                <a:latin typeface="Arial"/>
                <a:cs typeface="Arial"/>
              </a:rPr>
              <a:t>backs.</a:t>
            </a:r>
            <a:endParaRPr sz="1200">
              <a:latin typeface="Arial"/>
              <a:cs typeface="Arial"/>
            </a:endParaRPr>
          </a:p>
          <a:p>
            <a:pPr>
              <a:lnSpc>
                <a:spcPct val="100000"/>
              </a:lnSpc>
              <a:spcBef>
                <a:spcPts val="15"/>
              </a:spcBef>
            </a:pPr>
            <a:endParaRPr sz="1100">
              <a:latin typeface="Arial"/>
              <a:cs typeface="Arial"/>
            </a:endParaRPr>
          </a:p>
          <a:p>
            <a:pPr algn="r" marR="212090">
              <a:lnSpc>
                <a:spcPct val="100000"/>
              </a:lnSpc>
              <a:spcBef>
                <a:spcPts val="5"/>
              </a:spcBef>
            </a:pPr>
            <a:r>
              <a:rPr dirty="0" baseline="1543" sz="2700" spc="-494">
                <a:latin typeface="Arial"/>
                <a:cs typeface="Arial"/>
              </a:rPr>
              <a:t>ن</a:t>
            </a:r>
            <a:r>
              <a:rPr dirty="0" baseline="-1543" sz="2700" spc="-494">
                <a:latin typeface="Arial"/>
                <a:cs typeface="Arial"/>
              </a:rPr>
              <a:t>َ </a:t>
            </a:r>
            <a:r>
              <a:rPr dirty="0" baseline="1543" sz="2700" spc="-405">
                <a:latin typeface="Arial"/>
                <a:cs typeface="Arial"/>
              </a:rPr>
              <a:t>ٌ</a:t>
            </a:r>
            <a:r>
              <a:rPr dirty="0" sz="1800" spc="-270">
                <a:latin typeface="Arial"/>
                <a:cs typeface="Arial"/>
              </a:rPr>
              <a:t>ِ</a:t>
            </a:r>
            <a:r>
              <a:rPr dirty="0" baseline="1543" sz="2700" spc="-405">
                <a:latin typeface="Arial"/>
                <a:cs typeface="Arial"/>
              </a:rPr>
              <a:t>لع</a:t>
            </a:r>
            <a:r>
              <a:rPr dirty="0" sz="1800" spc="-270">
                <a:latin typeface="Arial"/>
                <a:cs typeface="Arial"/>
              </a:rPr>
              <a:t>ِ </a:t>
            </a:r>
            <a:r>
              <a:rPr dirty="0" baseline="1543" sz="2700" spc="-675">
                <a:latin typeface="Arial"/>
                <a:cs typeface="Arial"/>
              </a:rPr>
              <a:t>اف</a:t>
            </a:r>
            <a:r>
              <a:rPr dirty="0" baseline="6172" sz="2700" spc="-675">
                <a:latin typeface="Arial"/>
                <a:cs typeface="Arial"/>
              </a:rPr>
              <a:t>َ </a:t>
            </a:r>
            <a:r>
              <a:rPr dirty="0" baseline="1543" sz="2700" spc="-359">
                <a:latin typeface="Arial"/>
                <a:cs typeface="Arial"/>
              </a:rPr>
              <a:t>م</a:t>
            </a:r>
            <a:r>
              <a:rPr dirty="0" baseline="-3086" sz="2700" spc="-359">
                <a:latin typeface="Arial"/>
                <a:cs typeface="Arial"/>
              </a:rPr>
              <a:t>ْ </a:t>
            </a:r>
            <a:r>
              <a:rPr dirty="0" baseline="1543" sz="2700" spc="-930">
                <a:latin typeface="Arial"/>
                <a:cs typeface="Arial"/>
              </a:rPr>
              <a:t>ت</a:t>
            </a:r>
            <a:r>
              <a:rPr dirty="0" baseline="9259" sz="2700" spc="-930">
                <a:latin typeface="Arial"/>
                <a:cs typeface="Arial"/>
              </a:rPr>
              <a:t>ُ</a:t>
            </a:r>
            <a:r>
              <a:rPr dirty="0" baseline="9259" sz="2700" spc="-157">
                <a:latin typeface="Arial"/>
                <a:cs typeface="Arial"/>
              </a:rPr>
              <a:t> </a:t>
            </a:r>
            <a:r>
              <a:rPr dirty="0" baseline="1543" sz="2700" spc="-765">
                <a:latin typeface="Arial"/>
                <a:cs typeface="Arial"/>
              </a:rPr>
              <a:t>نك</a:t>
            </a:r>
            <a:r>
              <a:rPr dirty="0" baseline="9259" sz="2700" spc="-765">
                <a:latin typeface="Arial"/>
                <a:cs typeface="Arial"/>
              </a:rPr>
              <a:t>ُ</a:t>
            </a:r>
            <a:r>
              <a:rPr dirty="0" baseline="9259" sz="2700" spc="960">
                <a:latin typeface="Arial"/>
                <a:cs typeface="Arial"/>
              </a:rPr>
              <a:t> </a:t>
            </a:r>
            <a:r>
              <a:rPr dirty="0" baseline="1543" sz="2700" spc="-15">
                <a:latin typeface="Arial"/>
                <a:cs typeface="Arial"/>
              </a:rPr>
              <a:t>ن</a:t>
            </a:r>
            <a:r>
              <a:rPr dirty="0" baseline="-12345" sz="2700" spc="-15">
                <a:latin typeface="Arial"/>
                <a:cs typeface="Arial"/>
              </a:rPr>
              <a:t>ِ</a:t>
            </a:r>
            <a:r>
              <a:rPr dirty="0" baseline="1543" sz="2700" spc="-15">
                <a:latin typeface="Arial"/>
                <a:cs typeface="Arial"/>
              </a:rPr>
              <a:t>إ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25">
                <a:latin typeface="Arial"/>
                <a:cs typeface="Arial"/>
              </a:rPr>
              <a:t> </a:t>
            </a:r>
            <a:r>
              <a:rPr dirty="0" baseline="1543" sz="2700" spc="-322">
                <a:latin typeface="Arial"/>
                <a:cs typeface="Arial"/>
              </a:rPr>
              <a:t>ه</a:t>
            </a:r>
            <a:r>
              <a:rPr dirty="0" baseline="-1543" sz="2700" spc="-322">
                <a:latin typeface="Arial"/>
                <a:cs typeface="Arial"/>
              </a:rPr>
              <a:t>َ </a:t>
            </a:r>
            <a:r>
              <a:rPr dirty="0" sz="1800" spc="-185">
                <a:latin typeface="Arial"/>
                <a:cs typeface="Arial"/>
              </a:rPr>
              <a:t>ِ</a:t>
            </a:r>
            <a:r>
              <a:rPr dirty="0" baseline="1543" sz="2700" spc="-277">
                <a:latin typeface="Arial"/>
                <a:cs typeface="Arial"/>
              </a:rPr>
              <a:t>لآ </a:t>
            </a:r>
            <a:r>
              <a:rPr dirty="0" baseline="1543" sz="2700" spc="-262">
                <a:latin typeface="Arial"/>
                <a:cs typeface="Arial"/>
              </a:rPr>
              <a:t>اورُ </a:t>
            </a:r>
            <a:r>
              <a:rPr dirty="0" baseline="1543" sz="2700" spc="-1387">
                <a:latin typeface="Arial"/>
                <a:cs typeface="Arial"/>
              </a:rPr>
              <a:t>صُ</a:t>
            </a:r>
            <a:r>
              <a:rPr dirty="0" baseline="1543" sz="2700" spc="1357">
                <a:latin typeface="Arial"/>
                <a:cs typeface="Arial"/>
              </a:rPr>
              <a:t> </a:t>
            </a:r>
            <a:r>
              <a:rPr dirty="0" baseline="1543" sz="2700" spc="-352">
                <a:latin typeface="Arial"/>
                <a:cs typeface="Arial"/>
              </a:rPr>
              <a:t>ناو</a:t>
            </a:r>
            <a:r>
              <a:rPr dirty="0" baseline="-1543" sz="2700" spc="-352">
                <a:latin typeface="Arial"/>
                <a:cs typeface="Arial"/>
              </a:rPr>
              <a:t>َ </a:t>
            </a:r>
            <a:r>
              <a:rPr dirty="0" baseline="1543" sz="2700" spc="-322">
                <a:latin typeface="Arial"/>
                <a:cs typeface="Arial"/>
              </a:rPr>
              <a:t>ُهوق</a:t>
            </a:r>
            <a:r>
              <a:rPr dirty="0" baseline="9259" sz="2700" spc="-322">
                <a:latin typeface="Arial"/>
                <a:cs typeface="Arial"/>
              </a:rPr>
              <a:t>ُ </a:t>
            </a:r>
            <a:r>
              <a:rPr dirty="0" baseline="1543" sz="2700" spc="-345">
                <a:latin typeface="Arial"/>
                <a:cs typeface="Arial"/>
              </a:rPr>
              <a:t>رِّ </a:t>
            </a:r>
            <a:r>
              <a:rPr dirty="0" baseline="1543" sz="2700" spc="-592">
                <a:latin typeface="Arial"/>
                <a:cs typeface="Arial"/>
              </a:rPr>
              <a:t>ح</a:t>
            </a:r>
            <a:r>
              <a:rPr dirty="0" baseline="-1543" sz="2700" spc="-592">
                <a:latin typeface="Arial"/>
                <a:cs typeface="Arial"/>
              </a:rPr>
              <a:t>َ</a:t>
            </a:r>
            <a:r>
              <a:rPr dirty="0" baseline="-1543" sz="2700" spc="-502">
                <a:latin typeface="Arial"/>
                <a:cs typeface="Arial"/>
              </a:rPr>
              <a:t> </a:t>
            </a:r>
            <a:r>
              <a:rPr dirty="0" baseline="1543" sz="2700" spc="-397">
                <a:latin typeface="Arial"/>
                <a:cs typeface="Arial"/>
              </a:rPr>
              <a:t>او</a:t>
            </a:r>
            <a:r>
              <a:rPr dirty="0" baseline="12345" sz="2700" spc="-397">
                <a:latin typeface="Arial"/>
                <a:cs typeface="Arial"/>
              </a:rPr>
              <a:t>ُ</a:t>
            </a:r>
            <a:r>
              <a:rPr dirty="0" baseline="1543" sz="2700" spc="-397">
                <a:latin typeface="Arial"/>
                <a:cs typeface="Arial"/>
              </a:rPr>
              <a:t>لاق</a:t>
            </a:r>
            <a:endParaRPr baseline="1543" sz="2700">
              <a:latin typeface="Arial"/>
              <a:cs typeface="Arial"/>
            </a:endParaRPr>
          </a:p>
          <a:p>
            <a:pPr marL="406400" indent="-254635">
              <a:lnSpc>
                <a:spcPct val="100000"/>
              </a:lnSpc>
              <a:spcBef>
                <a:spcPts val="1295"/>
              </a:spcBef>
              <a:buAutoNum type="arabicPeriod" startAt="68"/>
              <a:tabLst>
                <a:tab pos="407034" algn="l"/>
              </a:tabLst>
            </a:pPr>
            <a:r>
              <a:rPr dirty="0" sz="1200" spc="-5">
                <a:latin typeface="Arial"/>
                <a:cs typeface="Arial"/>
              </a:rPr>
              <a:t>They cried: Burn him and stand </a:t>
            </a:r>
            <a:r>
              <a:rPr dirty="0" sz="1200">
                <a:latin typeface="Arial"/>
                <a:cs typeface="Arial"/>
              </a:rPr>
              <a:t>by </a:t>
            </a:r>
            <a:r>
              <a:rPr dirty="0" sz="1200" spc="-5">
                <a:latin typeface="Arial"/>
                <a:cs typeface="Arial"/>
              </a:rPr>
              <a:t>your </a:t>
            </a:r>
            <a:r>
              <a:rPr dirty="0" sz="1200">
                <a:latin typeface="Arial"/>
                <a:cs typeface="Arial"/>
              </a:rPr>
              <a:t>gods, </a:t>
            </a:r>
            <a:r>
              <a:rPr dirty="0" sz="1200" spc="-10">
                <a:latin typeface="Arial"/>
                <a:cs typeface="Arial"/>
              </a:rPr>
              <a:t>if ye will </a:t>
            </a:r>
            <a:r>
              <a:rPr dirty="0" sz="1200" spc="-5">
                <a:latin typeface="Arial"/>
                <a:cs typeface="Arial"/>
              </a:rPr>
              <a:t>be</a:t>
            </a:r>
            <a:r>
              <a:rPr dirty="0" sz="1200" spc="50">
                <a:latin typeface="Arial"/>
                <a:cs typeface="Arial"/>
              </a:rPr>
              <a:t> </a:t>
            </a:r>
            <a:r>
              <a:rPr dirty="0" sz="1200" spc="-5">
                <a:latin typeface="Arial"/>
                <a:cs typeface="Arial"/>
              </a:rPr>
              <a:t>doing.</a:t>
            </a:r>
            <a:endParaRPr sz="1200">
              <a:latin typeface="Arial"/>
              <a:cs typeface="Arial"/>
            </a:endParaRPr>
          </a:p>
          <a:p>
            <a:pPr>
              <a:lnSpc>
                <a:spcPct val="100000"/>
              </a:lnSpc>
              <a:buFont typeface="Arial"/>
              <a:buAutoNum type="arabicPeriod" startAt="68"/>
            </a:pPr>
            <a:endParaRPr sz="1200">
              <a:latin typeface="Arial"/>
              <a:cs typeface="Arial"/>
            </a:endParaRPr>
          </a:p>
          <a:p>
            <a:pPr algn="r" marR="156845">
              <a:lnSpc>
                <a:spcPct val="100000"/>
              </a:lnSpc>
            </a:pPr>
            <a:r>
              <a:rPr dirty="0" baseline="3086" sz="2700" spc="-397">
                <a:latin typeface="Arial"/>
                <a:cs typeface="Arial"/>
              </a:rPr>
              <a:t>م</a:t>
            </a:r>
            <a:r>
              <a:rPr dirty="0" baseline="-6172" sz="2700" spc="-397">
                <a:latin typeface="Arial"/>
                <a:cs typeface="Arial"/>
              </a:rPr>
              <a:t>َ </a:t>
            </a:r>
            <a:r>
              <a:rPr dirty="0" baseline="3086" sz="2700" spc="-202">
                <a:latin typeface="Arial"/>
                <a:cs typeface="Arial"/>
              </a:rPr>
              <a:t>ٌه</a:t>
            </a:r>
            <a:r>
              <a:rPr dirty="0" baseline="1543" sz="2700" spc="-202">
                <a:latin typeface="Arial"/>
                <a:cs typeface="Arial"/>
              </a:rPr>
              <a:t>ِ </a:t>
            </a:r>
            <a:r>
              <a:rPr dirty="0" baseline="3086" sz="2700" spc="-330">
                <a:latin typeface="Arial"/>
                <a:cs typeface="Arial"/>
              </a:rPr>
              <a:t>ار</a:t>
            </a:r>
            <a:r>
              <a:rPr dirty="0" sz="1800" spc="-220">
                <a:latin typeface="Arial"/>
                <a:cs typeface="Arial"/>
              </a:rPr>
              <a:t>َ </a:t>
            </a:r>
            <a:r>
              <a:rPr dirty="0" baseline="3086" sz="2700" spc="-862">
                <a:latin typeface="Arial"/>
                <a:cs typeface="Arial"/>
              </a:rPr>
              <a:t>بْ</a:t>
            </a:r>
            <a:r>
              <a:rPr dirty="0" baseline="3086" sz="2700" spc="-345">
                <a:latin typeface="Arial"/>
                <a:cs typeface="Arial"/>
              </a:rPr>
              <a:t> </a:t>
            </a:r>
            <a:r>
              <a:rPr dirty="0" baseline="-10802" sz="2700">
                <a:latin typeface="Arial"/>
                <a:cs typeface="Arial"/>
              </a:rPr>
              <a:t>ِ</a:t>
            </a:r>
            <a:r>
              <a:rPr dirty="0" baseline="3086" sz="2700">
                <a:latin typeface="Arial"/>
                <a:cs typeface="Arial"/>
              </a:rPr>
              <a:t>إ </a:t>
            </a:r>
            <a:r>
              <a:rPr dirty="0" baseline="3086" sz="2700" spc="-434">
                <a:latin typeface="Arial"/>
                <a:cs typeface="Arial"/>
              </a:rPr>
              <a:t>ى</a:t>
            </a:r>
            <a:r>
              <a:rPr dirty="0" baseline="10802" sz="2700" spc="-434">
                <a:latin typeface="Arial"/>
                <a:cs typeface="Arial"/>
              </a:rPr>
              <a:t>َ</a:t>
            </a:r>
            <a:r>
              <a:rPr dirty="0" baseline="3086" sz="2700" spc="-434">
                <a:latin typeface="Arial"/>
                <a:cs typeface="Arial"/>
              </a:rPr>
              <a:t>لع</a:t>
            </a:r>
            <a:r>
              <a:rPr dirty="0" sz="1800" spc="-290">
                <a:latin typeface="Arial"/>
                <a:cs typeface="Arial"/>
              </a:rPr>
              <a:t>َ </a:t>
            </a:r>
            <a:r>
              <a:rPr dirty="0" baseline="3086" sz="2700" spc="-225">
                <a:latin typeface="Arial"/>
                <a:cs typeface="Arial"/>
              </a:rPr>
              <a:t>ام</a:t>
            </a:r>
            <a:r>
              <a:rPr dirty="0" baseline="4629" sz="2700" spc="-225">
                <a:latin typeface="Arial"/>
                <a:cs typeface="Arial"/>
              </a:rPr>
              <a:t>ً </a:t>
            </a:r>
            <a:r>
              <a:rPr dirty="0" baseline="3086" sz="2700" spc="-517">
                <a:latin typeface="Arial"/>
                <a:cs typeface="Arial"/>
              </a:rPr>
              <a:t>لا</a:t>
            </a:r>
            <a:r>
              <a:rPr dirty="0" baseline="10802" sz="2700" spc="-517">
                <a:latin typeface="Arial"/>
                <a:cs typeface="Arial"/>
              </a:rPr>
              <a:t>َ </a:t>
            </a:r>
            <a:r>
              <a:rPr dirty="0" baseline="3086" sz="2700" spc="-982">
                <a:latin typeface="Arial"/>
                <a:cs typeface="Arial"/>
              </a:rPr>
              <a:t>س</a:t>
            </a:r>
            <a:r>
              <a:rPr dirty="0" sz="1800" spc="-655">
                <a:latin typeface="Arial"/>
                <a:cs typeface="Arial"/>
              </a:rPr>
              <a:t>َ</a:t>
            </a:r>
            <a:r>
              <a:rPr dirty="0" sz="1800" spc="275">
                <a:latin typeface="Arial"/>
                <a:cs typeface="Arial"/>
              </a:rPr>
              <a:t> </a:t>
            </a:r>
            <a:r>
              <a:rPr dirty="0" baseline="3086" sz="2700" spc="-307">
                <a:latin typeface="Arial"/>
                <a:cs typeface="Arial"/>
              </a:rPr>
              <a:t>و</a:t>
            </a:r>
            <a:r>
              <a:rPr dirty="0" sz="1800" spc="-204">
                <a:latin typeface="Arial"/>
                <a:cs typeface="Arial"/>
              </a:rPr>
              <a:t>َ </a:t>
            </a:r>
            <a:r>
              <a:rPr dirty="0" baseline="3086" sz="2700" spc="-217">
                <a:latin typeface="Arial"/>
                <a:cs typeface="Arial"/>
              </a:rPr>
              <a:t>اد</a:t>
            </a:r>
            <a:r>
              <a:rPr dirty="0" baseline="6172" sz="2700" spc="-217">
                <a:latin typeface="Arial"/>
                <a:cs typeface="Arial"/>
              </a:rPr>
              <a:t>ً </a:t>
            </a:r>
            <a:r>
              <a:rPr dirty="0" baseline="3086" sz="2700" spc="-465">
                <a:latin typeface="Arial"/>
                <a:cs typeface="Arial"/>
              </a:rPr>
              <a:t>رْ  </a:t>
            </a:r>
            <a:r>
              <a:rPr dirty="0" baseline="3086" sz="2700" spc="-892">
                <a:latin typeface="Arial"/>
                <a:cs typeface="Arial"/>
              </a:rPr>
              <a:t>ب</a:t>
            </a:r>
            <a:r>
              <a:rPr dirty="0" sz="1800" spc="-595">
                <a:latin typeface="Arial"/>
                <a:cs typeface="Arial"/>
              </a:rPr>
              <a:t>َ</a:t>
            </a:r>
            <a:r>
              <a:rPr dirty="0" sz="1800" spc="350">
                <a:latin typeface="Arial"/>
                <a:cs typeface="Arial"/>
              </a:rPr>
              <a:t> </a:t>
            </a:r>
            <a:r>
              <a:rPr dirty="0" baseline="3086" sz="2700" spc="-472">
                <a:latin typeface="Arial"/>
                <a:cs typeface="Arial"/>
              </a:rPr>
              <a:t>ًن</a:t>
            </a:r>
            <a:r>
              <a:rPr dirty="0" baseline="1543" sz="2700" spc="-472">
                <a:latin typeface="Arial"/>
                <a:cs typeface="Arial"/>
              </a:rPr>
              <a:t>ِ </a:t>
            </a:r>
            <a:r>
              <a:rPr dirty="0" baseline="3086" sz="2700" spc="-502">
                <a:latin typeface="Arial"/>
                <a:cs typeface="Arial"/>
              </a:rPr>
              <a:t>وك</a:t>
            </a:r>
            <a:r>
              <a:rPr dirty="0" baseline="10802" sz="2700" spc="-502">
                <a:latin typeface="Arial"/>
                <a:cs typeface="Arial"/>
              </a:rPr>
              <a:t>ُ </a:t>
            </a:r>
            <a:r>
              <a:rPr dirty="0" baseline="3086" sz="2700" spc="-525">
                <a:latin typeface="Arial"/>
                <a:cs typeface="Arial"/>
              </a:rPr>
              <a:t>رُ </a:t>
            </a:r>
            <a:r>
              <a:rPr dirty="0" baseline="3086" sz="2700" spc="-412">
                <a:latin typeface="Arial"/>
                <a:cs typeface="Arial"/>
              </a:rPr>
              <a:t>ان</a:t>
            </a:r>
            <a:r>
              <a:rPr dirty="0" baseline="7716" sz="2700" spc="-412">
                <a:latin typeface="Arial"/>
                <a:cs typeface="Arial"/>
              </a:rPr>
              <a:t>َ </a:t>
            </a:r>
            <a:r>
              <a:rPr dirty="0" baseline="3086" sz="2700" spc="15">
                <a:latin typeface="Arial"/>
                <a:cs typeface="Arial"/>
              </a:rPr>
              <a:t>اٌ</a:t>
            </a:r>
            <a:r>
              <a:rPr dirty="0" sz="1800" spc="10">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652">
                <a:latin typeface="Arial"/>
                <a:cs typeface="Arial"/>
              </a:rPr>
              <a:t>ل</a:t>
            </a:r>
            <a:r>
              <a:rPr dirty="0" baseline="13888" sz="2700" spc="-652">
                <a:latin typeface="Arial"/>
                <a:cs typeface="Arial"/>
              </a:rPr>
              <a:t>ْ</a:t>
            </a:r>
            <a:r>
              <a:rPr dirty="0" baseline="13888" sz="2700" spc="-569">
                <a:latin typeface="Arial"/>
                <a:cs typeface="Arial"/>
              </a:rPr>
              <a:t> </a:t>
            </a:r>
            <a:r>
              <a:rPr dirty="0" baseline="10802" sz="2700" spc="-427">
                <a:latin typeface="Arial"/>
                <a:cs typeface="Arial"/>
              </a:rPr>
              <a:t>ُ</a:t>
            </a:r>
            <a:r>
              <a:rPr dirty="0" baseline="3086" sz="2700" spc="-427">
                <a:latin typeface="Arial"/>
                <a:cs typeface="Arial"/>
              </a:rPr>
              <a:t>ق</a:t>
            </a:r>
            <a:endParaRPr baseline="3086" sz="2700">
              <a:latin typeface="Arial"/>
              <a:cs typeface="Arial"/>
            </a:endParaRPr>
          </a:p>
          <a:p>
            <a:pPr marL="403225" indent="-251460">
              <a:lnSpc>
                <a:spcPct val="100000"/>
              </a:lnSpc>
              <a:spcBef>
                <a:spcPts val="1225"/>
              </a:spcBef>
              <a:buAutoNum type="arabicPeriod" startAt="69"/>
              <a:tabLst>
                <a:tab pos="403860" algn="l"/>
              </a:tabLst>
            </a:pPr>
            <a:r>
              <a:rPr dirty="0" sz="1200" spc="20">
                <a:latin typeface="Arial"/>
                <a:cs typeface="Arial"/>
              </a:rPr>
              <a:t>We </a:t>
            </a:r>
            <a:r>
              <a:rPr dirty="0" sz="1200" spc="-5">
                <a:latin typeface="Arial"/>
                <a:cs typeface="Arial"/>
              </a:rPr>
              <a:t>said: </a:t>
            </a:r>
            <a:r>
              <a:rPr dirty="0" sz="1200">
                <a:latin typeface="Arial"/>
                <a:cs typeface="Arial"/>
              </a:rPr>
              <a:t>O fire, </a:t>
            </a:r>
            <a:r>
              <a:rPr dirty="0" sz="1200" spc="-5">
                <a:latin typeface="Arial"/>
                <a:cs typeface="Arial"/>
              </a:rPr>
              <a:t>be </a:t>
            </a:r>
            <a:r>
              <a:rPr dirty="0" sz="1200">
                <a:latin typeface="Arial"/>
                <a:cs typeface="Arial"/>
              </a:rPr>
              <a:t>coolness </a:t>
            </a:r>
            <a:r>
              <a:rPr dirty="0" sz="1200" spc="-5">
                <a:latin typeface="Arial"/>
                <a:cs typeface="Arial"/>
              </a:rPr>
              <a:t>and peace </a:t>
            </a:r>
            <a:r>
              <a:rPr dirty="0" sz="1200" spc="5">
                <a:latin typeface="Arial"/>
                <a:cs typeface="Arial"/>
              </a:rPr>
              <a:t>for</a:t>
            </a:r>
            <a:r>
              <a:rPr dirty="0" sz="1200" spc="-90">
                <a:latin typeface="Arial"/>
                <a:cs typeface="Arial"/>
              </a:rPr>
              <a:t> </a:t>
            </a:r>
            <a:r>
              <a:rPr dirty="0" sz="1200">
                <a:latin typeface="Arial"/>
                <a:cs typeface="Arial"/>
              </a:rPr>
              <a:t>Abraham.</a:t>
            </a:r>
            <a:endParaRPr sz="1200">
              <a:latin typeface="Arial"/>
              <a:cs typeface="Arial"/>
            </a:endParaRPr>
          </a:p>
          <a:p>
            <a:pPr>
              <a:lnSpc>
                <a:spcPct val="100000"/>
              </a:lnSpc>
            </a:pPr>
            <a:endParaRPr sz="1300">
              <a:latin typeface="Arial"/>
              <a:cs typeface="Arial"/>
            </a:endParaRPr>
          </a:p>
          <a:p>
            <a:pPr>
              <a:lnSpc>
                <a:spcPct val="100000"/>
              </a:lnSpc>
            </a:pPr>
            <a:endParaRPr sz="1050">
              <a:latin typeface="Arial"/>
              <a:cs typeface="Arial"/>
            </a:endParaRPr>
          </a:p>
          <a:p>
            <a:pPr marL="152400">
              <a:lnSpc>
                <a:spcPct val="100000"/>
              </a:lnSpc>
            </a:pPr>
            <a:r>
              <a:rPr dirty="0" u="heavy" sz="1200" spc="-5" b="1" i="1">
                <a:uFill>
                  <a:solidFill>
                    <a:srgbClr val="000000"/>
                  </a:solidFill>
                </a:uFill>
                <a:latin typeface="Arial"/>
                <a:cs typeface="Arial"/>
              </a:rPr>
              <a:t>Hazrat </a:t>
            </a:r>
            <a:r>
              <a:rPr dirty="0" u="heavy" sz="1200" b="1" i="1">
                <a:uFill>
                  <a:solidFill>
                    <a:srgbClr val="000000"/>
                  </a:solidFill>
                </a:uFill>
                <a:latin typeface="Arial"/>
                <a:cs typeface="Arial"/>
              </a:rPr>
              <a:t>Lut</a:t>
            </a:r>
            <a:r>
              <a:rPr dirty="0" u="heavy" sz="1200" spc="-10" b="1" i="1">
                <a:uFill>
                  <a:solidFill>
                    <a:srgbClr val="000000"/>
                  </a:solidFill>
                </a:uFill>
                <a:latin typeface="Arial"/>
                <a:cs typeface="Arial"/>
              </a:rPr>
              <a:t> </a:t>
            </a:r>
            <a:r>
              <a:rPr dirty="0" u="heavy" sz="1200" b="1" i="1">
                <a:uFill>
                  <a:solidFill>
                    <a:srgbClr val="000000"/>
                  </a:solidFill>
                </a:uFill>
                <a:latin typeface="Arial"/>
                <a:cs typeface="Arial"/>
              </a:rPr>
              <a:t>(as)</a:t>
            </a:r>
            <a:endParaRPr sz="1200">
              <a:latin typeface="Arial"/>
              <a:cs typeface="Arial"/>
            </a:endParaRPr>
          </a:p>
          <a:p>
            <a:pPr>
              <a:lnSpc>
                <a:spcPct val="100000"/>
              </a:lnSpc>
              <a:spcBef>
                <a:spcPts val="35"/>
              </a:spcBef>
            </a:pPr>
            <a:endParaRPr sz="1200">
              <a:latin typeface="Arial"/>
              <a:cs typeface="Arial"/>
            </a:endParaRPr>
          </a:p>
          <a:p>
            <a:pPr algn="just" marL="152400" marR="165100">
              <a:lnSpc>
                <a:spcPts val="1380"/>
              </a:lnSpc>
            </a:pPr>
            <a:r>
              <a:rPr dirty="0" sz="1200">
                <a:latin typeface="Arial"/>
                <a:cs typeface="Arial"/>
              </a:rPr>
              <a:t>This </a:t>
            </a:r>
            <a:r>
              <a:rPr dirty="0" sz="1200" spc="-5">
                <a:latin typeface="Arial"/>
                <a:cs typeface="Arial"/>
              </a:rPr>
              <a:t>is </a:t>
            </a:r>
            <a:r>
              <a:rPr dirty="0" sz="1200">
                <a:latin typeface="Arial"/>
                <a:cs typeface="Arial"/>
              </a:rPr>
              <a:t>the story of a </a:t>
            </a:r>
            <a:r>
              <a:rPr dirty="0" sz="1200" spc="-5">
                <a:latin typeface="Arial"/>
                <a:cs typeface="Arial"/>
              </a:rPr>
              <a:t>people who didn‘t believe in </a:t>
            </a:r>
            <a:r>
              <a:rPr dirty="0" sz="1200">
                <a:latin typeface="Arial"/>
                <a:cs typeface="Arial"/>
              </a:rPr>
              <a:t>their prophet. </a:t>
            </a:r>
            <a:r>
              <a:rPr dirty="0" sz="1200" spc="-5">
                <a:latin typeface="Arial"/>
                <a:cs typeface="Arial"/>
              </a:rPr>
              <a:t>Due </a:t>
            </a:r>
            <a:r>
              <a:rPr dirty="0" sz="1200">
                <a:latin typeface="Arial"/>
                <a:cs typeface="Arial"/>
              </a:rPr>
              <a:t>to their </a:t>
            </a:r>
            <a:r>
              <a:rPr dirty="0" sz="1200" spc="-5">
                <a:latin typeface="Arial"/>
                <a:cs typeface="Arial"/>
              </a:rPr>
              <a:t>intellect </a:t>
            </a:r>
            <a:r>
              <a:rPr dirty="0" sz="1200">
                <a:latin typeface="Arial"/>
                <a:cs typeface="Arial"/>
              </a:rPr>
              <a:t>and  </a:t>
            </a:r>
            <a:r>
              <a:rPr dirty="0" sz="1200" spc="-5">
                <a:latin typeface="Arial"/>
                <a:cs typeface="Arial"/>
              </a:rPr>
              <a:t>ability </a:t>
            </a:r>
            <a:r>
              <a:rPr dirty="0" sz="1200">
                <a:latin typeface="Arial"/>
                <a:cs typeface="Arial"/>
              </a:rPr>
              <a:t>to </a:t>
            </a:r>
            <a:r>
              <a:rPr dirty="0" sz="1200" spc="-5">
                <a:latin typeface="Arial"/>
                <a:cs typeface="Arial"/>
              </a:rPr>
              <a:t>adjust with different situations with pride </a:t>
            </a:r>
            <a:r>
              <a:rPr dirty="0" sz="1200">
                <a:latin typeface="Arial"/>
                <a:cs typeface="Arial"/>
              </a:rPr>
              <a:t>they </a:t>
            </a:r>
            <a:r>
              <a:rPr dirty="0" sz="1200" spc="-5">
                <a:latin typeface="Arial"/>
                <a:cs typeface="Arial"/>
              </a:rPr>
              <a:t>started </a:t>
            </a:r>
            <a:r>
              <a:rPr dirty="0" sz="1200">
                <a:latin typeface="Arial"/>
                <a:cs typeface="Arial"/>
              </a:rPr>
              <a:t>to </a:t>
            </a:r>
            <a:r>
              <a:rPr dirty="0" sz="1200" spc="-5">
                <a:latin typeface="Arial"/>
                <a:cs typeface="Arial"/>
              </a:rPr>
              <a:t>commit sins. Allah sent His  wrath and His people </a:t>
            </a:r>
            <a:r>
              <a:rPr dirty="0" sz="1200" spc="-10">
                <a:latin typeface="Arial"/>
                <a:cs typeface="Arial"/>
              </a:rPr>
              <a:t>was</a:t>
            </a:r>
            <a:r>
              <a:rPr dirty="0" sz="1200">
                <a:latin typeface="Arial"/>
                <a:cs typeface="Arial"/>
              </a:rPr>
              <a:t> destroyed.</a:t>
            </a:r>
            <a:endParaRPr sz="1200">
              <a:latin typeface="Arial"/>
              <a:cs typeface="Arial"/>
            </a:endParaRPr>
          </a:p>
          <a:p>
            <a:pPr>
              <a:lnSpc>
                <a:spcPct val="100000"/>
              </a:lnSpc>
              <a:spcBef>
                <a:spcPts val="50"/>
              </a:spcBef>
            </a:pPr>
            <a:endParaRPr sz="1050">
              <a:latin typeface="Arial"/>
              <a:cs typeface="Arial"/>
            </a:endParaRPr>
          </a:p>
          <a:p>
            <a:pPr algn="r" marR="208915">
              <a:lnSpc>
                <a:spcPct val="100000"/>
              </a:lnSpc>
            </a:pPr>
            <a:r>
              <a:rPr dirty="0" sz="1800" spc="-330">
                <a:latin typeface="Arial"/>
                <a:cs typeface="Arial"/>
              </a:rPr>
              <a:t>ن</a:t>
            </a:r>
            <a:r>
              <a:rPr dirty="0" baseline="-3086" sz="2700" spc="-494">
                <a:latin typeface="Arial"/>
                <a:cs typeface="Arial"/>
              </a:rPr>
              <a:t>َ </a:t>
            </a:r>
            <a:r>
              <a:rPr dirty="0" sz="1800" spc="-160">
                <a:latin typeface="Arial"/>
                <a:cs typeface="Arial"/>
              </a:rPr>
              <a:t>ٌمِ </a:t>
            </a:r>
            <a:r>
              <a:rPr dirty="0" sz="1800" spc="-459">
                <a:latin typeface="Arial"/>
                <a:cs typeface="Arial"/>
              </a:rPr>
              <a:t>ل</a:t>
            </a:r>
            <a:r>
              <a:rPr dirty="0" baseline="7716" sz="2700" spc="-690">
                <a:latin typeface="Arial"/>
                <a:cs typeface="Arial"/>
              </a:rPr>
              <a:t>َ </a:t>
            </a:r>
            <a:r>
              <a:rPr dirty="0" sz="1800" spc="-260">
                <a:latin typeface="Arial"/>
                <a:cs typeface="Arial"/>
              </a:rPr>
              <a:t>اع</a:t>
            </a:r>
            <a:r>
              <a:rPr dirty="0" baseline="-3086" sz="2700" spc="-390">
                <a:latin typeface="Arial"/>
                <a:cs typeface="Arial"/>
              </a:rPr>
              <a:t>َ </a:t>
            </a:r>
            <a:r>
              <a:rPr dirty="0" sz="1800" spc="-434">
                <a:latin typeface="Arial"/>
                <a:cs typeface="Arial"/>
              </a:rPr>
              <a:t>ل</a:t>
            </a:r>
            <a:r>
              <a:rPr dirty="0" baseline="12345" sz="2700" spc="-652">
                <a:latin typeface="Arial"/>
                <a:cs typeface="Arial"/>
              </a:rPr>
              <a:t>ْ </a:t>
            </a:r>
            <a:r>
              <a:rPr dirty="0" sz="1800" spc="-270">
                <a:latin typeface="Arial"/>
                <a:cs typeface="Arial"/>
              </a:rPr>
              <a:t>ِل </a:t>
            </a:r>
            <a:r>
              <a:rPr dirty="0" sz="1800" spc="-135">
                <a:latin typeface="Arial"/>
                <a:cs typeface="Arial"/>
              </a:rPr>
              <a:t>اه</a:t>
            </a:r>
            <a:r>
              <a:rPr dirty="0" baseline="-3086" sz="2700" spc="-202">
                <a:latin typeface="Arial"/>
                <a:cs typeface="Arial"/>
              </a:rPr>
              <a:t>َ </a:t>
            </a:r>
            <a:r>
              <a:rPr dirty="0" sz="1800" spc="-470">
                <a:latin typeface="Arial"/>
                <a:cs typeface="Arial"/>
              </a:rPr>
              <a:t>ٌفِ </a:t>
            </a:r>
            <a:r>
              <a:rPr dirty="0" sz="1800" spc="-275">
                <a:latin typeface="Arial"/>
                <a:cs typeface="Arial"/>
              </a:rPr>
              <a:t>ان</a:t>
            </a:r>
            <a:r>
              <a:rPr dirty="0" baseline="6172" sz="2700" spc="-412">
                <a:latin typeface="Arial"/>
                <a:cs typeface="Arial"/>
              </a:rPr>
              <a:t>َ </a:t>
            </a:r>
            <a:r>
              <a:rPr dirty="0" sz="1800" spc="-455">
                <a:latin typeface="Arial"/>
                <a:cs typeface="Arial"/>
              </a:rPr>
              <a:t>ك</a:t>
            </a:r>
            <a:r>
              <a:rPr dirty="0" baseline="9259" sz="2700" spc="-682">
                <a:latin typeface="Arial"/>
                <a:cs typeface="Arial"/>
              </a:rPr>
              <a:t>ْ </a:t>
            </a:r>
            <a:r>
              <a:rPr dirty="0" sz="1800" spc="-330">
                <a:latin typeface="Arial"/>
                <a:cs typeface="Arial"/>
              </a:rPr>
              <a:t>ر</a:t>
            </a:r>
            <a:r>
              <a:rPr dirty="0" baseline="-3086" sz="2700" spc="-494">
                <a:latin typeface="Arial"/>
                <a:cs typeface="Arial"/>
              </a:rPr>
              <a:t>َ </a:t>
            </a:r>
            <a:r>
              <a:rPr dirty="0" sz="1800" spc="-390">
                <a:latin typeface="Arial"/>
                <a:cs typeface="Arial"/>
              </a:rPr>
              <a:t>اب</a:t>
            </a:r>
            <a:r>
              <a:rPr dirty="0" baseline="-3086" sz="2700" spc="-585">
                <a:latin typeface="Arial"/>
                <a:cs typeface="Arial"/>
              </a:rPr>
              <a:t>َ </a:t>
            </a:r>
            <a:r>
              <a:rPr dirty="0" sz="1800" spc="-425">
                <a:latin typeface="Arial"/>
                <a:cs typeface="Arial"/>
              </a:rPr>
              <a:t>ًتِ </a:t>
            </a:r>
            <a:r>
              <a:rPr dirty="0" baseline="10802" sz="2700" spc="-209">
                <a:latin typeface="Arial"/>
                <a:cs typeface="Arial"/>
              </a:rPr>
              <a:t>َّ</a:t>
            </a:r>
            <a:r>
              <a:rPr dirty="0" sz="1800" spc="-140">
                <a:latin typeface="Arial"/>
                <a:cs typeface="Arial"/>
              </a:rPr>
              <a:t>لا </a:t>
            </a:r>
            <a:r>
              <a:rPr dirty="0" sz="1800" spc="-525">
                <a:latin typeface="Arial"/>
                <a:cs typeface="Arial"/>
              </a:rPr>
              <a:t>ض</a:t>
            </a:r>
            <a:r>
              <a:rPr dirty="0" baseline="-3086" sz="2700" spc="-787">
                <a:latin typeface="Arial"/>
                <a:cs typeface="Arial"/>
              </a:rPr>
              <a:t>ِ</a:t>
            </a:r>
            <a:r>
              <a:rPr dirty="0" baseline="-3086" sz="2700" spc="825">
                <a:latin typeface="Arial"/>
                <a:cs typeface="Arial"/>
              </a:rPr>
              <a:t> </a:t>
            </a:r>
            <a:r>
              <a:rPr dirty="0" sz="1800" spc="-305">
                <a:latin typeface="Arial"/>
                <a:cs typeface="Arial"/>
              </a:rPr>
              <a:t>ر</a:t>
            </a:r>
            <a:r>
              <a:rPr dirty="0" baseline="1543" sz="2700" spc="-457">
                <a:latin typeface="Arial"/>
                <a:cs typeface="Arial"/>
              </a:rPr>
              <a:t>ْ </a:t>
            </a:r>
            <a:r>
              <a:rPr dirty="0" baseline="15432" sz="2700" spc="-367">
                <a:latin typeface="Arial"/>
                <a:cs typeface="Arial"/>
              </a:rPr>
              <a:t>َ</a:t>
            </a:r>
            <a:r>
              <a:rPr dirty="0" sz="1800" spc="-245">
                <a:latin typeface="Arial"/>
                <a:cs typeface="Arial"/>
              </a:rPr>
              <a:t>لأ</a:t>
            </a:r>
            <a:r>
              <a:rPr dirty="0" baseline="12345" sz="2700" spc="-367">
                <a:latin typeface="Arial"/>
                <a:cs typeface="Arial"/>
              </a:rPr>
              <a:t>ْ </a:t>
            </a:r>
            <a:r>
              <a:rPr dirty="0" sz="1800">
                <a:latin typeface="Arial"/>
                <a:cs typeface="Arial"/>
              </a:rPr>
              <a:t>ا </a:t>
            </a:r>
            <a:r>
              <a:rPr dirty="0" sz="1800" spc="-165">
                <a:latin typeface="Arial"/>
                <a:cs typeface="Arial"/>
              </a:rPr>
              <a:t>ىل</a:t>
            </a:r>
            <a:r>
              <a:rPr dirty="0" baseline="-12345" sz="2700" spc="-247">
                <a:latin typeface="Arial"/>
                <a:cs typeface="Arial"/>
              </a:rPr>
              <a:t>ِ</a:t>
            </a:r>
            <a:r>
              <a:rPr dirty="0" baseline="7716" sz="2700" spc="-247">
                <a:latin typeface="Arial"/>
                <a:cs typeface="Arial"/>
              </a:rPr>
              <a:t>َ </a:t>
            </a:r>
            <a:r>
              <a:rPr dirty="0" sz="1800">
                <a:latin typeface="Arial"/>
                <a:cs typeface="Arial"/>
              </a:rPr>
              <a:t>إ </a:t>
            </a:r>
            <a:r>
              <a:rPr dirty="0" sz="1800" spc="-280">
                <a:latin typeface="Arial"/>
                <a:cs typeface="Arial"/>
              </a:rPr>
              <a:t>اط</a:t>
            </a:r>
            <a:r>
              <a:rPr dirty="0" baseline="15432" sz="2700" spc="-419">
                <a:latin typeface="Arial"/>
                <a:cs typeface="Arial"/>
              </a:rPr>
              <a:t>ً </a:t>
            </a:r>
            <a:r>
              <a:rPr dirty="0" sz="1800" spc="-204">
                <a:latin typeface="Arial"/>
                <a:cs typeface="Arial"/>
              </a:rPr>
              <a:t>و</a:t>
            </a:r>
            <a:r>
              <a:rPr dirty="0" baseline="10802" sz="2700" spc="-307">
                <a:latin typeface="Arial"/>
                <a:cs typeface="Arial"/>
              </a:rPr>
              <a:t>ُ</a:t>
            </a:r>
            <a:r>
              <a:rPr dirty="0" sz="1800" spc="-204">
                <a:latin typeface="Arial"/>
                <a:cs typeface="Arial"/>
              </a:rPr>
              <a:t>لو</a:t>
            </a:r>
            <a:r>
              <a:rPr dirty="0" baseline="-3086" sz="2700" spc="-307">
                <a:latin typeface="Arial"/>
                <a:cs typeface="Arial"/>
              </a:rPr>
              <a:t>َ </a:t>
            </a:r>
            <a:r>
              <a:rPr dirty="0" sz="1800" spc="-170">
                <a:latin typeface="Arial"/>
                <a:cs typeface="Arial"/>
              </a:rPr>
              <a:t>ُهان</a:t>
            </a:r>
            <a:r>
              <a:rPr dirty="0" baseline="6172" sz="2700" spc="-254">
                <a:latin typeface="Arial"/>
                <a:cs typeface="Arial"/>
              </a:rPr>
              <a:t>َ </a:t>
            </a:r>
            <a:r>
              <a:rPr dirty="0" sz="1800">
                <a:latin typeface="Arial"/>
                <a:cs typeface="Arial"/>
              </a:rPr>
              <a:t>ٌ</a:t>
            </a:r>
            <a:r>
              <a:rPr dirty="0" baseline="1543" sz="2700">
                <a:latin typeface="Arial"/>
                <a:cs typeface="Arial"/>
              </a:rPr>
              <a:t>ْ </a:t>
            </a:r>
            <a:r>
              <a:rPr dirty="0" sz="1800" spc="-270">
                <a:latin typeface="Arial"/>
                <a:cs typeface="Arial"/>
              </a:rPr>
              <a:t>جَّ </a:t>
            </a:r>
            <a:r>
              <a:rPr dirty="0" sz="1800" spc="-430">
                <a:latin typeface="Arial"/>
                <a:cs typeface="Arial"/>
              </a:rPr>
              <a:t>ن</a:t>
            </a:r>
            <a:r>
              <a:rPr dirty="0" baseline="6172" sz="2700" spc="-644">
                <a:latin typeface="Arial"/>
                <a:cs typeface="Arial"/>
              </a:rPr>
              <a:t>َ</a:t>
            </a:r>
            <a:r>
              <a:rPr dirty="0" baseline="6172" sz="2700" spc="-555">
                <a:latin typeface="Arial"/>
                <a:cs typeface="Arial"/>
              </a:rPr>
              <a:t> </a:t>
            </a:r>
            <a:r>
              <a:rPr dirty="0" sz="1800" spc="-409">
                <a:latin typeface="Arial"/>
                <a:cs typeface="Arial"/>
              </a:rPr>
              <a:t>و</a:t>
            </a:r>
            <a:endParaRPr sz="1800">
              <a:latin typeface="Arial"/>
              <a:cs typeface="Arial"/>
            </a:endParaRPr>
          </a:p>
          <a:p>
            <a:pPr marL="152400" marR="163195">
              <a:lnSpc>
                <a:spcPts val="1380"/>
              </a:lnSpc>
              <a:spcBef>
                <a:spcPts val="1405"/>
              </a:spcBef>
            </a:pPr>
            <a:r>
              <a:rPr dirty="0" sz="1200" spc="-5">
                <a:latin typeface="Arial"/>
                <a:cs typeface="Arial"/>
              </a:rPr>
              <a:t>71. And </a:t>
            </a:r>
            <a:r>
              <a:rPr dirty="0" sz="1200" spc="20">
                <a:latin typeface="Arial"/>
                <a:cs typeface="Arial"/>
              </a:rPr>
              <a:t>We </a:t>
            </a:r>
            <a:r>
              <a:rPr dirty="0" sz="1200" spc="-5">
                <a:latin typeface="Arial"/>
                <a:cs typeface="Arial"/>
              </a:rPr>
              <a:t>rescued him and Lot (and brought </a:t>
            </a:r>
            <a:r>
              <a:rPr dirty="0" sz="1200">
                <a:latin typeface="Arial"/>
                <a:cs typeface="Arial"/>
              </a:rPr>
              <a:t>them) </a:t>
            </a:r>
            <a:r>
              <a:rPr dirty="0" sz="1200" spc="-5">
                <a:latin typeface="Arial"/>
                <a:cs typeface="Arial"/>
              </a:rPr>
              <a:t>to the land which </a:t>
            </a:r>
            <a:r>
              <a:rPr dirty="0" sz="1200" spc="15">
                <a:latin typeface="Arial"/>
                <a:cs typeface="Arial"/>
              </a:rPr>
              <a:t>We </a:t>
            </a:r>
            <a:r>
              <a:rPr dirty="0" sz="1200" spc="-5">
                <a:latin typeface="Arial"/>
                <a:cs typeface="Arial"/>
              </a:rPr>
              <a:t>have blessed </a:t>
            </a:r>
            <a:r>
              <a:rPr dirty="0" sz="1200">
                <a:latin typeface="Arial"/>
                <a:cs typeface="Arial"/>
              </a:rPr>
              <a:t>for  </a:t>
            </a:r>
            <a:r>
              <a:rPr dirty="0" sz="1200" spc="-5">
                <a:latin typeface="Arial"/>
                <a:cs typeface="Arial"/>
              </a:rPr>
              <a:t>(all) </a:t>
            </a:r>
            <a:r>
              <a:rPr dirty="0" sz="1200">
                <a:latin typeface="Arial"/>
                <a:cs typeface="Arial"/>
              </a:rPr>
              <a:t>peoples.</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64</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20344" y="799592"/>
            <a:ext cx="6358890" cy="570230"/>
          </a:xfrm>
          <a:prstGeom prst="rect">
            <a:avLst/>
          </a:prstGeom>
        </p:spPr>
        <p:txBody>
          <a:bodyPr wrap="square" lIns="0" tIns="12700" rIns="0" bIns="0" rtlCol="0" vert="horz">
            <a:spAutoFit/>
          </a:bodyPr>
          <a:lstStyle/>
          <a:p>
            <a:pPr marL="50800">
              <a:lnSpc>
                <a:spcPts val="2145"/>
              </a:lnSpc>
              <a:spcBef>
                <a:spcPts val="100"/>
              </a:spcBef>
            </a:pPr>
            <a:r>
              <a:rPr dirty="0" baseline="1543" sz="2700" spc="-442">
                <a:latin typeface="Arial"/>
                <a:cs typeface="Arial"/>
              </a:rPr>
              <a:t>ء</a:t>
            </a:r>
            <a:r>
              <a:rPr dirty="0" baseline="-1543" sz="2700" spc="-442">
                <a:latin typeface="Arial"/>
                <a:cs typeface="Arial"/>
              </a:rPr>
              <a:t>ٍ </a:t>
            </a:r>
            <a:r>
              <a:rPr dirty="0" baseline="1543" sz="2700" spc="-270">
                <a:latin typeface="Arial"/>
                <a:cs typeface="Arial"/>
              </a:rPr>
              <a:t>وْ </a:t>
            </a:r>
            <a:r>
              <a:rPr dirty="0" baseline="1543" sz="2700" spc="-989">
                <a:latin typeface="Arial"/>
                <a:cs typeface="Arial"/>
              </a:rPr>
              <a:t>س</a:t>
            </a:r>
            <a:r>
              <a:rPr dirty="0" baseline="-1543" sz="2700" spc="-989">
                <a:latin typeface="Arial"/>
                <a:cs typeface="Arial"/>
              </a:rPr>
              <a:t>َ</a:t>
            </a:r>
            <a:r>
              <a:rPr dirty="0" baseline="-1543" sz="2700" spc="1162">
                <a:latin typeface="Arial"/>
                <a:cs typeface="Arial"/>
              </a:rPr>
              <a:t> </a:t>
            </a:r>
            <a:r>
              <a:rPr dirty="0" baseline="1543" sz="2700" spc="-390">
                <a:latin typeface="Arial"/>
                <a:cs typeface="Arial"/>
              </a:rPr>
              <a:t>م</a:t>
            </a:r>
            <a:r>
              <a:rPr dirty="0" baseline="-7716" sz="2700" spc="-390">
                <a:latin typeface="Arial"/>
                <a:cs typeface="Arial"/>
              </a:rPr>
              <a:t>َ </a:t>
            </a:r>
            <a:r>
              <a:rPr dirty="0" baseline="1543" sz="2700" spc="-270">
                <a:latin typeface="Arial"/>
                <a:cs typeface="Arial"/>
              </a:rPr>
              <a:t>وْ </a:t>
            </a:r>
            <a:r>
              <a:rPr dirty="0" baseline="1543" sz="2700" spc="-757">
                <a:latin typeface="Arial"/>
                <a:cs typeface="Arial"/>
              </a:rPr>
              <a:t>ق</a:t>
            </a:r>
            <a:r>
              <a:rPr dirty="0" baseline="6172" sz="2700" spc="-757">
                <a:latin typeface="Arial"/>
                <a:cs typeface="Arial"/>
              </a:rPr>
              <a:t>َ</a:t>
            </a:r>
            <a:r>
              <a:rPr dirty="0" baseline="6172" sz="2700" spc="660">
                <a:latin typeface="Arial"/>
                <a:cs typeface="Arial"/>
              </a:rPr>
              <a:t> </a:t>
            </a:r>
            <a:r>
              <a:rPr dirty="0" baseline="1543" sz="2700" spc="-345">
                <a:latin typeface="Arial"/>
                <a:cs typeface="Arial"/>
              </a:rPr>
              <a:t>اون</a:t>
            </a:r>
            <a:r>
              <a:rPr dirty="0" baseline="9259" sz="2700" spc="-345">
                <a:latin typeface="Arial"/>
                <a:cs typeface="Arial"/>
              </a:rPr>
              <a:t>ُ </a:t>
            </a:r>
            <a:r>
              <a:rPr dirty="0" baseline="1543" sz="2700" spc="-465">
                <a:latin typeface="Arial"/>
                <a:cs typeface="Arial"/>
              </a:rPr>
              <a:t>اك</a:t>
            </a:r>
            <a:r>
              <a:rPr dirty="0" baseline="6172" sz="2700" spc="-46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1543" sz="2700" spc="-442">
                <a:latin typeface="Arial"/>
                <a:cs typeface="Arial"/>
              </a:rPr>
              <a:t>ن</a:t>
            </a:r>
            <a:r>
              <a:rPr dirty="0" baseline="9259" sz="2700" spc="-442">
                <a:latin typeface="Arial"/>
                <a:cs typeface="Arial"/>
              </a:rPr>
              <a:t>َّ </a:t>
            </a:r>
            <a:r>
              <a:rPr dirty="0" baseline="-12345" sz="2700">
                <a:latin typeface="Arial"/>
                <a:cs typeface="Arial"/>
              </a:rPr>
              <a:t>ِ</a:t>
            </a:r>
            <a:r>
              <a:rPr dirty="0" baseline="1543" sz="2700">
                <a:latin typeface="Arial"/>
                <a:cs typeface="Arial"/>
              </a:rPr>
              <a:t>إ </a:t>
            </a:r>
            <a:r>
              <a:rPr dirty="0" baseline="1543" sz="2700" spc="-772">
                <a:latin typeface="Arial"/>
                <a:cs typeface="Arial"/>
              </a:rPr>
              <a:t>ث</a:t>
            </a:r>
            <a:r>
              <a:rPr dirty="0" baseline="9259" sz="2700" spc="-772">
                <a:latin typeface="Arial"/>
                <a:cs typeface="Arial"/>
              </a:rPr>
              <a:t>َ</a:t>
            </a:r>
            <a:r>
              <a:rPr dirty="0" baseline="9259" sz="2700" spc="780">
                <a:latin typeface="Arial"/>
                <a:cs typeface="Arial"/>
              </a:rPr>
              <a:t> </a:t>
            </a:r>
            <a:r>
              <a:rPr dirty="0" baseline="1543" sz="2700" spc="-855">
                <a:latin typeface="Arial"/>
                <a:cs typeface="Arial"/>
              </a:rPr>
              <a:t>ئ</a:t>
            </a:r>
            <a:r>
              <a:rPr dirty="0" sz="1800" spc="-570">
                <a:latin typeface="Arial"/>
                <a:cs typeface="Arial"/>
              </a:rPr>
              <a:t>ِ</a:t>
            </a:r>
            <a:r>
              <a:rPr dirty="0" sz="1800" spc="-70">
                <a:latin typeface="Arial"/>
                <a:cs typeface="Arial"/>
              </a:rPr>
              <a:t> </a:t>
            </a:r>
            <a:r>
              <a:rPr dirty="0" baseline="1543" sz="2700" spc="-585">
                <a:latin typeface="Arial"/>
                <a:cs typeface="Arial"/>
              </a:rPr>
              <a:t>اب</a:t>
            </a:r>
            <a:r>
              <a:rPr dirty="0" baseline="-1543" sz="2700" spc="-585">
                <a:latin typeface="Arial"/>
                <a:cs typeface="Arial"/>
              </a:rPr>
              <a:t>َ </a:t>
            </a:r>
            <a:r>
              <a:rPr dirty="0" baseline="1543" sz="2700" spc="-592">
                <a:latin typeface="Arial"/>
                <a:cs typeface="Arial"/>
              </a:rPr>
              <a:t>خ</a:t>
            </a:r>
            <a:r>
              <a:rPr dirty="0" baseline="6172" sz="2700" spc="-592">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ا </a:t>
            </a:r>
            <a:r>
              <a:rPr dirty="0" baseline="1543" sz="2700" spc="-660">
                <a:latin typeface="Arial"/>
                <a:cs typeface="Arial"/>
              </a:rPr>
              <a:t>لُ </a:t>
            </a:r>
            <a:r>
              <a:rPr dirty="0" baseline="1543" sz="2700" spc="-359">
                <a:latin typeface="Arial"/>
                <a:cs typeface="Arial"/>
              </a:rPr>
              <a:t>م</a:t>
            </a:r>
            <a:r>
              <a:rPr dirty="0" baseline="-1543" sz="2700" spc="-359">
                <a:latin typeface="Arial"/>
                <a:cs typeface="Arial"/>
              </a:rPr>
              <a:t>َ </a:t>
            </a:r>
            <a:r>
              <a:rPr dirty="0" baseline="1543" sz="2700" spc="-569">
                <a:latin typeface="Arial"/>
                <a:cs typeface="Arial"/>
              </a:rPr>
              <a:t>عْ </a:t>
            </a:r>
            <a:r>
              <a:rPr dirty="0" baseline="1543" sz="2700" spc="-607">
                <a:latin typeface="Arial"/>
                <a:cs typeface="Arial"/>
              </a:rPr>
              <a:t>ت</a:t>
            </a:r>
            <a:r>
              <a:rPr dirty="0" baseline="9259" sz="2700" spc="-607">
                <a:latin typeface="Arial"/>
                <a:cs typeface="Arial"/>
              </a:rPr>
              <a:t>َّ  </a:t>
            </a:r>
            <a:r>
              <a:rPr dirty="0" baseline="1543" sz="2700" spc="-434">
                <a:latin typeface="Arial"/>
                <a:cs typeface="Arial"/>
              </a:rPr>
              <a:t>تن</a:t>
            </a:r>
            <a:r>
              <a:rPr dirty="0" baseline="6172" sz="2700" spc="-434">
                <a:latin typeface="Arial"/>
                <a:cs typeface="Arial"/>
              </a:rPr>
              <a:t>َ </a:t>
            </a:r>
            <a:r>
              <a:rPr dirty="0" baseline="1543" sz="2700" spc="-465">
                <a:latin typeface="Arial"/>
                <a:cs typeface="Arial"/>
              </a:rPr>
              <a:t>اك</a:t>
            </a:r>
            <a:r>
              <a:rPr dirty="0" baseline="6172" sz="2700" spc="-465">
                <a:latin typeface="Arial"/>
                <a:cs typeface="Arial"/>
              </a:rPr>
              <a:t>َ  </a:t>
            </a:r>
            <a:r>
              <a:rPr dirty="0" baseline="1543" sz="2700" spc="-637">
                <a:latin typeface="Arial"/>
                <a:cs typeface="Arial"/>
              </a:rPr>
              <a:t>ًت</a:t>
            </a:r>
            <a:r>
              <a:rPr dirty="0" sz="1800" spc="-425">
                <a:latin typeface="Arial"/>
                <a:cs typeface="Arial"/>
              </a:rPr>
              <a:t>ِ </a:t>
            </a:r>
            <a:r>
              <a:rPr dirty="0" baseline="10802" sz="2700" spc="-209">
                <a:latin typeface="Arial"/>
                <a:cs typeface="Arial"/>
              </a:rPr>
              <a:t>َّ</a:t>
            </a:r>
            <a:r>
              <a:rPr dirty="0" baseline="1543" sz="2700" spc="-209">
                <a:latin typeface="Arial"/>
                <a:cs typeface="Arial"/>
              </a:rPr>
              <a:t>لا </a:t>
            </a:r>
            <a:r>
              <a:rPr dirty="0" baseline="1543" sz="2700" spc="-337">
                <a:latin typeface="Arial"/>
                <a:cs typeface="Arial"/>
              </a:rPr>
              <a:t>ة</a:t>
            </a:r>
            <a:r>
              <a:rPr dirty="0" sz="1800" spc="-225">
                <a:latin typeface="Arial"/>
                <a:cs typeface="Arial"/>
              </a:rPr>
              <a:t>ِ </a:t>
            </a:r>
            <a:r>
              <a:rPr dirty="0" baseline="1543" sz="2700">
                <a:latin typeface="Arial"/>
                <a:cs typeface="Arial"/>
              </a:rPr>
              <a:t>ٌ</a:t>
            </a:r>
            <a:r>
              <a:rPr dirty="0" baseline="-1543" sz="2700">
                <a:latin typeface="Arial"/>
                <a:cs typeface="Arial"/>
              </a:rPr>
              <a:t>َ </a:t>
            </a:r>
            <a:r>
              <a:rPr dirty="0" baseline="1543" sz="2700" spc="-457">
                <a:latin typeface="Arial"/>
                <a:cs typeface="Arial"/>
              </a:rPr>
              <a:t>رْ </a:t>
            </a:r>
            <a:r>
              <a:rPr dirty="0" baseline="1543" sz="2700" spc="-750">
                <a:latin typeface="Arial"/>
                <a:cs typeface="Arial"/>
              </a:rPr>
              <a:t>ق</a:t>
            </a:r>
            <a:r>
              <a:rPr dirty="0" baseline="6172" sz="2700" spc="-750">
                <a:latin typeface="Arial"/>
                <a:cs typeface="Arial"/>
              </a:rPr>
              <a:t>َ</a:t>
            </a:r>
            <a:r>
              <a:rPr dirty="0" baseline="1543" sz="2700" spc="-652">
                <a:latin typeface="Arial"/>
                <a:cs typeface="Arial"/>
              </a:rPr>
              <a:t>ل</a:t>
            </a:r>
            <a:r>
              <a:rPr dirty="0" baseline="12345" sz="2700" spc="-652">
                <a:latin typeface="Arial"/>
                <a:cs typeface="Arial"/>
              </a:rPr>
              <a:t>ْ </a:t>
            </a:r>
            <a:r>
              <a:rPr dirty="0" baseline="1543" sz="2700">
                <a:latin typeface="Arial"/>
                <a:cs typeface="Arial"/>
              </a:rPr>
              <a:t>ا </a:t>
            </a:r>
            <a:r>
              <a:rPr dirty="0" baseline="1543" sz="2700" spc="-494">
                <a:latin typeface="Arial"/>
                <a:cs typeface="Arial"/>
              </a:rPr>
              <a:t>ن</a:t>
            </a:r>
            <a:r>
              <a:rPr dirty="0" baseline="-1543" sz="2700" spc="-494">
                <a:latin typeface="Arial"/>
                <a:cs typeface="Arial"/>
              </a:rPr>
              <a:t>َ </a:t>
            </a:r>
            <a:r>
              <a:rPr dirty="0" baseline="1543" sz="2700" spc="-352">
                <a:latin typeface="Arial"/>
                <a:cs typeface="Arial"/>
              </a:rPr>
              <a:t>م</a:t>
            </a:r>
            <a:r>
              <a:rPr dirty="0" sz="1800" spc="-235">
                <a:latin typeface="Arial"/>
                <a:cs typeface="Arial"/>
              </a:rPr>
              <a:t>ِ </a:t>
            </a:r>
            <a:r>
              <a:rPr dirty="0" baseline="1543" sz="2700" spc="-382">
                <a:latin typeface="Arial"/>
                <a:cs typeface="Arial"/>
              </a:rPr>
              <a:t>هُ </a:t>
            </a:r>
            <a:r>
              <a:rPr dirty="0" baseline="1543" sz="2700" spc="-412">
                <a:latin typeface="Arial"/>
                <a:cs typeface="Arial"/>
              </a:rPr>
              <a:t>ان</a:t>
            </a:r>
            <a:r>
              <a:rPr dirty="0" baseline="6172" sz="2700" spc="-412">
                <a:latin typeface="Arial"/>
                <a:cs typeface="Arial"/>
              </a:rPr>
              <a:t>َ </a:t>
            </a:r>
            <a:r>
              <a:rPr dirty="0" baseline="1543" sz="2700">
                <a:latin typeface="Arial"/>
                <a:cs typeface="Arial"/>
              </a:rPr>
              <a:t>ٌْ </a:t>
            </a:r>
            <a:r>
              <a:rPr dirty="0" baseline="1543" sz="2700" spc="-405">
                <a:latin typeface="Arial"/>
                <a:cs typeface="Arial"/>
              </a:rPr>
              <a:t>ج</a:t>
            </a:r>
            <a:r>
              <a:rPr dirty="0" sz="1800" spc="-270">
                <a:latin typeface="Arial"/>
                <a:cs typeface="Arial"/>
              </a:rPr>
              <a:t>َّ </a:t>
            </a:r>
            <a:r>
              <a:rPr dirty="0" baseline="1543" sz="2700" spc="-644">
                <a:latin typeface="Arial"/>
                <a:cs typeface="Arial"/>
              </a:rPr>
              <a:t>ن</a:t>
            </a:r>
            <a:r>
              <a:rPr dirty="0" baseline="6172" sz="2700" spc="-644">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225">
                <a:latin typeface="Arial"/>
                <a:cs typeface="Arial"/>
              </a:rPr>
              <a:t>امً </a:t>
            </a:r>
            <a:r>
              <a:rPr dirty="0" baseline="1543" sz="2700" spc="-652">
                <a:latin typeface="Arial"/>
                <a:cs typeface="Arial"/>
              </a:rPr>
              <a:t>ل</a:t>
            </a:r>
            <a:r>
              <a:rPr dirty="0" baseline="12345" sz="2700" spc="-652">
                <a:latin typeface="Arial"/>
                <a:cs typeface="Arial"/>
              </a:rPr>
              <a:t>ْ </a:t>
            </a:r>
            <a:r>
              <a:rPr dirty="0" baseline="1543" sz="2700" spc="-592">
                <a:latin typeface="Arial"/>
                <a:cs typeface="Arial"/>
              </a:rPr>
              <a:t>ع</a:t>
            </a:r>
            <a:r>
              <a:rPr dirty="0" sz="1800" spc="-395">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225">
                <a:latin typeface="Arial"/>
                <a:cs typeface="Arial"/>
              </a:rPr>
              <a:t>امً </a:t>
            </a:r>
            <a:r>
              <a:rPr dirty="0" baseline="1543" sz="2700" spc="-682">
                <a:latin typeface="Arial"/>
                <a:cs typeface="Arial"/>
              </a:rPr>
              <a:t>ك</a:t>
            </a:r>
            <a:r>
              <a:rPr dirty="0" baseline="9259" sz="2700" spc="-682">
                <a:latin typeface="Arial"/>
                <a:cs typeface="Arial"/>
              </a:rPr>
              <a:t>ْ </a:t>
            </a:r>
            <a:r>
              <a:rPr dirty="0" baseline="1543" sz="2700" spc="-630">
                <a:latin typeface="Arial"/>
                <a:cs typeface="Arial"/>
              </a:rPr>
              <a:t>حُ </a:t>
            </a:r>
            <a:r>
              <a:rPr dirty="0" baseline="1543" sz="2700" spc="-382">
                <a:latin typeface="Arial"/>
                <a:cs typeface="Arial"/>
              </a:rPr>
              <a:t>هُ </a:t>
            </a:r>
            <a:r>
              <a:rPr dirty="0" baseline="1543" sz="2700" spc="-412">
                <a:latin typeface="Arial"/>
                <a:cs typeface="Arial"/>
              </a:rPr>
              <a:t>ان</a:t>
            </a:r>
            <a:r>
              <a:rPr dirty="0" baseline="6172" sz="2700" spc="-412">
                <a:latin typeface="Arial"/>
                <a:cs typeface="Arial"/>
              </a:rPr>
              <a:t>َ </a:t>
            </a:r>
            <a:r>
              <a:rPr dirty="0" baseline="1543" sz="2700">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32">
                <a:latin typeface="Arial"/>
                <a:cs typeface="Arial"/>
              </a:rPr>
              <a:t> </a:t>
            </a:r>
            <a:r>
              <a:rPr dirty="0" baseline="1543" sz="2700">
                <a:latin typeface="Arial"/>
                <a:cs typeface="Arial"/>
              </a:rPr>
              <a:t>آ </a:t>
            </a:r>
            <a:r>
              <a:rPr dirty="0" baseline="1543" sz="2700" spc="-419">
                <a:latin typeface="Arial"/>
                <a:cs typeface="Arial"/>
              </a:rPr>
              <a:t>اط</a:t>
            </a:r>
            <a:r>
              <a:rPr dirty="0" baseline="15432" sz="2700" spc="-419">
                <a:latin typeface="Arial"/>
                <a:cs typeface="Arial"/>
              </a:rPr>
              <a:t>ً</a:t>
            </a:r>
            <a:r>
              <a:rPr dirty="0" baseline="15432" sz="2700" spc="-217">
                <a:latin typeface="Arial"/>
                <a:cs typeface="Arial"/>
              </a:rPr>
              <a:t> </a:t>
            </a:r>
            <a:r>
              <a:rPr dirty="0" baseline="1543" sz="2700" spc="-382">
                <a:latin typeface="Arial"/>
                <a:cs typeface="Arial"/>
              </a:rPr>
              <a:t>و</a:t>
            </a:r>
            <a:r>
              <a:rPr dirty="0" baseline="12345" sz="2700" spc="-382">
                <a:latin typeface="Arial"/>
                <a:cs typeface="Arial"/>
              </a:rPr>
              <a:t>ُ</a:t>
            </a:r>
            <a:r>
              <a:rPr dirty="0" baseline="1543" sz="2700" spc="-382">
                <a:latin typeface="Arial"/>
                <a:cs typeface="Arial"/>
              </a:rPr>
              <a:t>لو</a:t>
            </a:r>
            <a:endParaRPr baseline="1543" sz="2700">
              <a:latin typeface="Arial"/>
              <a:cs typeface="Arial"/>
            </a:endParaRPr>
          </a:p>
          <a:p>
            <a:pPr algn="r" marR="109220">
              <a:lnSpc>
                <a:spcPts val="2145"/>
              </a:lnSpc>
            </a:pPr>
            <a:r>
              <a:rPr dirty="0" baseline="3086" sz="2700" spc="-494">
                <a:latin typeface="Arial"/>
                <a:cs typeface="Arial"/>
              </a:rPr>
              <a:t>ن</a:t>
            </a:r>
            <a:r>
              <a:rPr dirty="0" sz="1800" spc="-330">
                <a:latin typeface="Arial"/>
                <a:cs typeface="Arial"/>
              </a:rPr>
              <a:t>َ </a:t>
            </a:r>
            <a:r>
              <a:rPr dirty="0" baseline="3086" sz="2700" spc="-525">
                <a:latin typeface="Arial"/>
                <a:cs typeface="Arial"/>
              </a:rPr>
              <a:t>ٌق</a:t>
            </a:r>
            <a:r>
              <a:rPr dirty="0" baseline="1543" sz="2700" spc="-525">
                <a:latin typeface="Arial"/>
                <a:cs typeface="Arial"/>
              </a:rPr>
              <a:t>ِ</a:t>
            </a:r>
            <a:r>
              <a:rPr dirty="0" baseline="1543" sz="2700" spc="-405">
                <a:latin typeface="Arial"/>
                <a:cs typeface="Arial"/>
              </a:rPr>
              <a:t> </a:t>
            </a:r>
            <a:r>
              <a:rPr dirty="0" baseline="3086" sz="2700" spc="-937">
                <a:latin typeface="Arial"/>
                <a:cs typeface="Arial"/>
              </a:rPr>
              <a:t>س</a:t>
            </a:r>
            <a:r>
              <a:rPr dirty="0" baseline="1543" sz="2700" spc="-937">
                <a:latin typeface="Arial"/>
                <a:cs typeface="Arial"/>
              </a:rPr>
              <a:t>ِ</a:t>
            </a:r>
            <a:r>
              <a:rPr dirty="0" baseline="1543" sz="2700" spc="284">
                <a:latin typeface="Arial"/>
                <a:cs typeface="Arial"/>
              </a:rPr>
              <a:t> </a:t>
            </a:r>
            <a:r>
              <a:rPr dirty="0" baseline="3086" sz="2700" spc="-1012">
                <a:latin typeface="Arial"/>
                <a:cs typeface="Arial"/>
              </a:rPr>
              <a:t>اف</a:t>
            </a:r>
            <a:endParaRPr baseline="3086" sz="27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65</a:t>
            </a:r>
          </a:p>
        </p:txBody>
      </p:sp>
      <p:sp>
        <p:nvSpPr>
          <p:cNvPr id="6" name="object 6"/>
          <p:cNvSpPr txBox="1"/>
          <p:nvPr/>
        </p:nvSpPr>
        <p:spPr>
          <a:xfrm>
            <a:off x="579119" y="1500885"/>
            <a:ext cx="6601459" cy="8007984"/>
          </a:xfrm>
          <a:prstGeom prst="rect">
            <a:avLst/>
          </a:prstGeom>
        </p:spPr>
        <p:txBody>
          <a:bodyPr wrap="square" lIns="0" tIns="24765" rIns="0" bIns="0" rtlCol="0" vert="horz">
            <a:spAutoFit/>
          </a:bodyPr>
          <a:lstStyle/>
          <a:p>
            <a:pPr algn="just" marL="152400" marR="163830">
              <a:lnSpc>
                <a:spcPts val="1380"/>
              </a:lnSpc>
              <a:spcBef>
                <a:spcPts val="195"/>
              </a:spcBef>
            </a:pPr>
            <a:r>
              <a:rPr dirty="0" sz="1200" spc="-5">
                <a:latin typeface="Arial"/>
                <a:cs typeface="Arial"/>
              </a:rPr>
              <a:t>74. And unto Lot </a:t>
            </a:r>
            <a:r>
              <a:rPr dirty="0" sz="1200" spc="5">
                <a:latin typeface="Arial"/>
                <a:cs typeface="Arial"/>
              </a:rPr>
              <a:t>We </a:t>
            </a:r>
            <a:r>
              <a:rPr dirty="0" sz="1200" spc="-10">
                <a:latin typeface="Arial"/>
                <a:cs typeface="Arial"/>
              </a:rPr>
              <a:t>gave </a:t>
            </a:r>
            <a:r>
              <a:rPr dirty="0" sz="1200" spc="-5">
                <a:latin typeface="Arial"/>
                <a:cs typeface="Arial"/>
              </a:rPr>
              <a:t>judgment and knowledge, and </a:t>
            </a:r>
            <a:r>
              <a:rPr dirty="0" sz="1200" spc="20">
                <a:latin typeface="Arial"/>
                <a:cs typeface="Arial"/>
              </a:rPr>
              <a:t>We </a:t>
            </a:r>
            <a:r>
              <a:rPr dirty="0" sz="1200" spc="-5">
                <a:latin typeface="Arial"/>
                <a:cs typeface="Arial"/>
              </a:rPr>
              <a:t>delivered him from the  community </a:t>
            </a:r>
            <a:r>
              <a:rPr dirty="0" sz="1200">
                <a:latin typeface="Arial"/>
                <a:cs typeface="Arial"/>
              </a:rPr>
              <a:t>that </a:t>
            </a:r>
            <a:r>
              <a:rPr dirty="0" sz="1200" spc="-5">
                <a:latin typeface="Arial"/>
                <a:cs typeface="Arial"/>
              </a:rPr>
              <a:t>did abominations. Lo! </a:t>
            </a:r>
            <a:r>
              <a:rPr dirty="0" sz="1200">
                <a:latin typeface="Arial"/>
                <a:cs typeface="Arial"/>
              </a:rPr>
              <a:t>They </a:t>
            </a:r>
            <a:r>
              <a:rPr dirty="0" sz="1200" spc="-5">
                <a:latin typeface="Arial"/>
                <a:cs typeface="Arial"/>
              </a:rPr>
              <a:t>were </a:t>
            </a:r>
            <a:r>
              <a:rPr dirty="0" sz="1200">
                <a:latin typeface="Arial"/>
                <a:cs typeface="Arial"/>
              </a:rPr>
              <a:t>folk </a:t>
            </a:r>
            <a:r>
              <a:rPr dirty="0" sz="1200" spc="-5">
                <a:latin typeface="Arial"/>
                <a:cs typeface="Arial"/>
              </a:rPr>
              <a:t>of evil,</a:t>
            </a:r>
            <a:r>
              <a:rPr dirty="0" sz="1200" spc="5">
                <a:latin typeface="Arial"/>
                <a:cs typeface="Arial"/>
              </a:rPr>
              <a:t> </a:t>
            </a:r>
            <a:r>
              <a:rPr dirty="0" sz="1200" spc="-5">
                <a:latin typeface="Arial"/>
                <a:cs typeface="Arial"/>
              </a:rPr>
              <a:t>lewd.</a:t>
            </a:r>
            <a:endParaRPr sz="1200">
              <a:latin typeface="Arial"/>
              <a:cs typeface="Arial"/>
            </a:endParaRPr>
          </a:p>
          <a:p>
            <a:pPr>
              <a:lnSpc>
                <a:spcPct val="100000"/>
              </a:lnSpc>
            </a:pPr>
            <a:endParaRPr sz="1300">
              <a:latin typeface="Arial"/>
              <a:cs typeface="Arial"/>
            </a:endParaRPr>
          </a:p>
          <a:p>
            <a:pPr>
              <a:lnSpc>
                <a:spcPct val="100000"/>
              </a:lnSpc>
              <a:spcBef>
                <a:spcPts val="20"/>
              </a:spcBef>
            </a:pPr>
            <a:endParaRPr sz="1000">
              <a:latin typeface="Arial"/>
              <a:cs typeface="Arial"/>
            </a:endParaRPr>
          </a:p>
          <a:p>
            <a:pPr marL="152400">
              <a:lnSpc>
                <a:spcPct val="100000"/>
              </a:lnSpc>
            </a:pPr>
            <a:r>
              <a:rPr dirty="0" u="heavy" sz="1200" spc="-5" b="1" i="1">
                <a:uFill>
                  <a:solidFill>
                    <a:srgbClr val="000000"/>
                  </a:solidFill>
                </a:uFill>
                <a:latin typeface="Arial"/>
                <a:cs typeface="Arial"/>
              </a:rPr>
              <a:t>Hazrat Ishaq </a:t>
            </a:r>
            <a:r>
              <a:rPr dirty="0" u="heavy" sz="1200" b="1" i="1">
                <a:uFill>
                  <a:solidFill>
                    <a:srgbClr val="000000"/>
                  </a:solidFill>
                </a:uFill>
                <a:latin typeface="Arial"/>
                <a:cs typeface="Arial"/>
              </a:rPr>
              <a:t>(as) </a:t>
            </a:r>
            <a:r>
              <a:rPr dirty="0" u="heavy" sz="1200" spc="-5" b="1" i="1">
                <a:uFill>
                  <a:solidFill>
                    <a:srgbClr val="000000"/>
                  </a:solidFill>
                </a:uFill>
                <a:latin typeface="Arial"/>
                <a:cs typeface="Arial"/>
              </a:rPr>
              <a:t>and </a:t>
            </a:r>
            <a:r>
              <a:rPr dirty="0" u="heavy" sz="1200" b="1" i="1">
                <a:uFill>
                  <a:solidFill>
                    <a:srgbClr val="000000"/>
                  </a:solidFill>
                </a:uFill>
                <a:latin typeface="Arial"/>
                <a:cs typeface="Arial"/>
              </a:rPr>
              <a:t>Hazrat </a:t>
            </a:r>
            <a:r>
              <a:rPr dirty="0" u="heavy" sz="1200" spc="-50" b="1" i="1">
                <a:uFill>
                  <a:solidFill>
                    <a:srgbClr val="000000"/>
                  </a:solidFill>
                </a:uFill>
                <a:latin typeface="Arial"/>
                <a:cs typeface="Arial"/>
              </a:rPr>
              <a:t>Ya‟qub</a:t>
            </a:r>
            <a:r>
              <a:rPr dirty="0" u="heavy" sz="1200" spc="-10" b="1" i="1">
                <a:uFill>
                  <a:solidFill>
                    <a:srgbClr val="000000"/>
                  </a:solidFill>
                </a:uFill>
                <a:latin typeface="Arial"/>
                <a:cs typeface="Arial"/>
              </a:rPr>
              <a:t> </a:t>
            </a:r>
            <a:r>
              <a:rPr dirty="0" u="heavy" sz="1200" b="1" i="1">
                <a:uFill>
                  <a:solidFill>
                    <a:srgbClr val="000000"/>
                  </a:solidFill>
                </a:uFill>
                <a:latin typeface="Arial"/>
                <a:cs typeface="Arial"/>
              </a:rPr>
              <a:t>(as)</a:t>
            </a:r>
            <a:endParaRPr sz="1200">
              <a:latin typeface="Arial"/>
              <a:cs typeface="Arial"/>
            </a:endParaRPr>
          </a:p>
          <a:p>
            <a:pPr>
              <a:lnSpc>
                <a:spcPct val="100000"/>
              </a:lnSpc>
              <a:spcBef>
                <a:spcPts val="55"/>
              </a:spcBef>
            </a:pPr>
            <a:endParaRPr sz="1100">
              <a:latin typeface="Arial"/>
              <a:cs typeface="Arial"/>
            </a:endParaRPr>
          </a:p>
          <a:p>
            <a:pPr marL="152400">
              <a:lnSpc>
                <a:spcPct val="100000"/>
              </a:lnSpc>
            </a:pPr>
            <a:r>
              <a:rPr dirty="0" sz="1200">
                <a:latin typeface="Arial"/>
                <a:cs typeface="Arial"/>
              </a:rPr>
              <a:t>This </a:t>
            </a:r>
            <a:r>
              <a:rPr dirty="0" sz="1200" spc="-5">
                <a:latin typeface="Arial"/>
                <a:cs typeface="Arial"/>
              </a:rPr>
              <a:t>is the story of 2 prophets </a:t>
            </a:r>
            <a:r>
              <a:rPr dirty="0" sz="1200" spc="-10">
                <a:latin typeface="Arial"/>
                <a:cs typeface="Arial"/>
              </a:rPr>
              <a:t>who </a:t>
            </a:r>
            <a:r>
              <a:rPr dirty="0" sz="1200" spc="-5">
                <a:latin typeface="Arial"/>
                <a:cs typeface="Arial"/>
              </a:rPr>
              <a:t>were </a:t>
            </a:r>
            <a:r>
              <a:rPr dirty="0" sz="1200">
                <a:latin typeface="Arial"/>
                <a:cs typeface="Arial"/>
              </a:rPr>
              <a:t>on </a:t>
            </a:r>
            <a:r>
              <a:rPr dirty="0" sz="1200" spc="-10">
                <a:latin typeface="Arial"/>
                <a:cs typeface="Arial"/>
              </a:rPr>
              <a:t>the </a:t>
            </a:r>
            <a:r>
              <a:rPr dirty="0" sz="1200" spc="-5">
                <a:latin typeface="Arial"/>
                <a:cs typeface="Arial"/>
              </a:rPr>
              <a:t>right </a:t>
            </a:r>
            <a:r>
              <a:rPr dirty="0" sz="1200">
                <a:latin typeface="Arial"/>
                <a:cs typeface="Arial"/>
              </a:rPr>
              <a:t>track </a:t>
            </a:r>
            <a:r>
              <a:rPr dirty="0" sz="1200" spc="-5">
                <a:latin typeface="Arial"/>
                <a:cs typeface="Arial"/>
              </a:rPr>
              <a:t>and were </a:t>
            </a:r>
            <a:r>
              <a:rPr dirty="0" sz="1200">
                <a:latin typeface="Arial"/>
                <a:cs typeface="Arial"/>
              </a:rPr>
              <a:t>blessed by</a:t>
            </a:r>
            <a:r>
              <a:rPr dirty="0" sz="1200" spc="50">
                <a:latin typeface="Arial"/>
                <a:cs typeface="Arial"/>
              </a:rPr>
              <a:t> </a:t>
            </a:r>
            <a:r>
              <a:rPr dirty="0" sz="1200" spc="-5">
                <a:latin typeface="Arial"/>
                <a:cs typeface="Arial"/>
              </a:rPr>
              <a:t>Allah.</a:t>
            </a:r>
            <a:endParaRPr sz="1200">
              <a:latin typeface="Arial"/>
              <a:cs typeface="Arial"/>
            </a:endParaRPr>
          </a:p>
          <a:p>
            <a:pPr>
              <a:lnSpc>
                <a:spcPct val="100000"/>
              </a:lnSpc>
            </a:pPr>
            <a:endParaRPr sz="1200">
              <a:latin typeface="Arial"/>
              <a:cs typeface="Arial"/>
            </a:endParaRPr>
          </a:p>
          <a:p>
            <a:pPr algn="r" marR="208915">
              <a:lnSpc>
                <a:spcPct val="100000"/>
              </a:lnSpc>
            </a:pPr>
            <a:r>
              <a:rPr dirty="0" baseline="3086" sz="2700" spc="-494">
                <a:latin typeface="Arial"/>
                <a:cs typeface="Arial"/>
              </a:rPr>
              <a:t>ن</a:t>
            </a:r>
            <a:r>
              <a:rPr dirty="0" sz="1800" spc="-330">
                <a:latin typeface="Arial"/>
                <a:cs typeface="Arial"/>
              </a:rPr>
              <a:t>َ </a:t>
            </a:r>
            <a:r>
              <a:rPr dirty="0" baseline="3086" sz="2700" spc="-480">
                <a:latin typeface="Arial"/>
                <a:cs typeface="Arial"/>
              </a:rPr>
              <a:t>ٌح</a:t>
            </a:r>
            <a:r>
              <a:rPr dirty="0" baseline="1543" sz="2700" spc="-480">
                <a:latin typeface="Arial"/>
                <a:cs typeface="Arial"/>
              </a:rPr>
              <a:t>ِ </a:t>
            </a:r>
            <a:r>
              <a:rPr dirty="0" baseline="1543" sz="2700" spc="-697">
                <a:latin typeface="Arial"/>
                <a:cs typeface="Arial"/>
              </a:rPr>
              <a:t>ِ</a:t>
            </a:r>
            <a:r>
              <a:rPr dirty="0" baseline="3086" sz="2700" spc="-697">
                <a:latin typeface="Arial"/>
                <a:cs typeface="Arial"/>
              </a:rPr>
              <a:t>لاص</a:t>
            </a:r>
            <a:r>
              <a:rPr dirty="0" sz="1800" spc="-465">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600">
                <a:latin typeface="Arial"/>
                <a:cs typeface="Arial"/>
              </a:rPr>
              <a:t>ع</a:t>
            </a:r>
            <a:r>
              <a:rPr dirty="0" sz="1800" spc="-400">
                <a:latin typeface="Arial"/>
                <a:cs typeface="Arial"/>
              </a:rPr>
              <a:t>َ </a:t>
            </a:r>
            <a:r>
              <a:rPr dirty="0" baseline="3086" sz="2700" spc="-592">
                <a:latin typeface="Arial"/>
                <a:cs typeface="Arial"/>
              </a:rPr>
              <a:t>ج</a:t>
            </a:r>
            <a:r>
              <a:rPr dirty="0" sz="1800" spc="-395">
                <a:latin typeface="Arial"/>
                <a:cs typeface="Arial"/>
              </a:rPr>
              <a:t>َ </a:t>
            </a:r>
            <a:r>
              <a:rPr dirty="0" baseline="3086" sz="2700" spc="-405">
                <a:latin typeface="Arial"/>
                <a:cs typeface="Arial"/>
              </a:rPr>
              <a:t>لا</a:t>
            </a:r>
            <a:r>
              <a:rPr dirty="0" baseline="13888" sz="2700" spc="-405">
                <a:latin typeface="Arial"/>
                <a:cs typeface="Arial"/>
              </a:rPr>
              <a:t>ّ</a:t>
            </a:r>
            <a:r>
              <a:rPr dirty="0" baseline="23148" sz="2700" spc="-405">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179">
                <a:latin typeface="Arial"/>
                <a:cs typeface="Arial"/>
              </a:rPr>
              <a:t> </a:t>
            </a:r>
            <a:r>
              <a:rPr dirty="0" baseline="3086" sz="2700" spc="-307">
                <a:latin typeface="Arial"/>
                <a:cs typeface="Arial"/>
              </a:rPr>
              <a:t>و</a:t>
            </a:r>
            <a:r>
              <a:rPr dirty="0" sz="1800" spc="-204">
                <a:latin typeface="Arial"/>
                <a:cs typeface="Arial"/>
              </a:rPr>
              <a:t>َ </a:t>
            </a:r>
            <a:r>
              <a:rPr dirty="0" baseline="3086" sz="2700" spc="-284">
                <a:latin typeface="Arial"/>
                <a:cs typeface="Arial"/>
              </a:rPr>
              <a:t>ة</a:t>
            </a:r>
            <a:r>
              <a:rPr dirty="0" baseline="15432" sz="2700" spc="-284">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1057">
                <a:latin typeface="Arial"/>
                <a:cs typeface="Arial"/>
              </a:rPr>
              <a:t>ف</a:t>
            </a:r>
            <a:r>
              <a:rPr dirty="0" baseline="1543" sz="2700" spc="-1057">
                <a:latin typeface="Arial"/>
                <a:cs typeface="Arial"/>
              </a:rPr>
              <a:t>ِ</a:t>
            </a:r>
            <a:r>
              <a:rPr dirty="0" baseline="1543" sz="2700" spc="-52">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772">
                <a:latin typeface="Arial"/>
                <a:cs typeface="Arial"/>
              </a:rPr>
              <a:t>ب</a:t>
            </a:r>
            <a:r>
              <a:rPr dirty="0" sz="1800" spc="-515">
                <a:latin typeface="Arial"/>
                <a:cs typeface="Arial"/>
              </a:rPr>
              <a:t>َ</a:t>
            </a:r>
            <a:r>
              <a:rPr dirty="0" sz="1800" spc="520">
                <a:latin typeface="Arial"/>
                <a:cs typeface="Arial"/>
              </a:rPr>
              <a:t> </a:t>
            </a:r>
            <a:r>
              <a:rPr dirty="0" baseline="3086" sz="2700" spc="-405">
                <a:latin typeface="Arial"/>
                <a:cs typeface="Arial"/>
              </a:rPr>
              <a:t>و</a:t>
            </a:r>
            <a:r>
              <a:rPr dirty="0" baseline="10802" sz="2700" spc="-405">
                <a:latin typeface="Arial"/>
                <a:cs typeface="Arial"/>
              </a:rPr>
              <a:t>ُ</a:t>
            </a:r>
            <a:r>
              <a:rPr dirty="0" baseline="3086" sz="2700" spc="-405">
                <a:latin typeface="Arial"/>
                <a:cs typeface="Arial"/>
              </a:rPr>
              <a:t>قعْ </a:t>
            </a:r>
            <a:r>
              <a:rPr dirty="0" baseline="3086" sz="2700">
                <a:latin typeface="Arial"/>
                <a:cs typeface="Arial"/>
              </a:rPr>
              <a:t>ٌ</a:t>
            </a:r>
            <a:r>
              <a:rPr dirty="0" sz="1800">
                <a:latin typeface="Arial"/>
                <a:cs typeface="Arial"/>
              </a:rPr>
              <a:t>َ </a:t>
            </a:r>
            <a:r>
              <a:rPr dirty="0" baseline="3086" sz="2700" spc="-307">
                <a:latin typeface="Arial"/>
                <a:cs typeface="Arial"/>
              </a:rPr>
              <a:t>و</a:t>
            </a:r>
            <a:r>
              <a:rPr dirty="0" sz="1800" spc="-204">
                <a:latin typeface="Arial"/>
                <a:cs typeface="Arial"/>
              </a:rPr>
              <a:t>َ </a:t>
            </a:r>
            <a:r>
              <a:rPr dirty="0" baseline="3086" sz="2700" spc="-555">
                <a:latin typeface="Arial"/>
                <a:cs typeface="Arial"/>
              </a:rPr>
              <a:t>ق</a:t>
            </a:r>
            <a:r>
              <a:rPr dirty="0" baseline="4629" sz="2700" spc="-555">
                <a:latin typeface="Arial"/>
                <a:cs typeface="Arial"/>
              </a:rPr>
              <a:t>َ </a:t>
            </a:r>
            <a:r>
              <a:rPr dirty="0" baseline="3086" sz="2700" spc="-592">
                <a:latin typeface="Arial"/>
                <a:cs typeface="Arial"/>
              </a:rPr>
              <a:t>ح</a:t>
            </a:r>
            <a:r>
              <a:rPr dirty="0" sz="1800" spc="-395">
                <a:latin typeface="Arial"/>
                <a:cs typeface="Arial"/>
              </a:rPr>
              <a:t>َ </a:t>
            </a:r>
            <a:r>
              <a:rPr dirty="0" baseline="3086" sz="2700" spc="-944">
                <a:latin typeface="Arial"/>
                <a:cs typeface="Arial"/>
              </a:rPr>
              <a:t>سْ</a:t>
            </a:r>
            <a:r>
              <a:rPr dirty="0" baseline="3086" sz="2700" spc="307">
                <a:latin typeface="Arial"/>
                <a:cs typeface="Arial"/>
              </a:rPr>
              <a:t> </a:t>
            </a:r>
            <a:r>
              <a:rPr dirty="0" baseline="-10802" sz="2700">
                <a:latin typeface="Arial"/>
                <a:cs typeface="Arial"/>
              </a:rPr>
              <a:t>ِ</a:t>
            </a:r>
            <a:r>
              <a:rPr dirty="0" baseline="3086" sz="2700">
                <a:latin typeface="Arial"/>
                <a:cs typeface="Arial"/>
              </a:rPr>
              <a:t>إ </a:t>
            </a:r>
            <a:r>
              <a:rPr dirty="0" baseline="3086" sz="2700" spc="-322">
                <a:latin typeface="Arial"/>
                <a:cs typeface="Arial"/>
              </a:rPr>
              <a:t>هُ </a:t>
            </a:r>
            <a:r>
              <a:rPr dirty="0" baseline="10802" sz="2700" spc="-405">
                <a:latin typeface="Arial"/>
                <a:cs typeface="Arial"/>
              </a:rPr>
              <a:t>َ</a:t>
            </a:r>
            <a:r>
              <a:rPr dirty="0" baseline="3086" sz="2700" spc="-405">
                <a:latin typeface="Arial"/>
                <a:cs typeface="Arial"/>
              </a:rPr>
              <a:t>ل </a:t>
            </a:r>
            <a:r>
              <a:rPr dirty="0" baseline="3086" sz="2700" spc="-412">
                <a:latin typeface="Arial"/>
                <a:cs typeface="Arial"/>
              </a:rPr>
              <a:t>ان</a:t>
            </a:r>
            <a:r>
              <a:rPr dirty="0" baseline="7716" sz="2700" spc="-412">
                <a:latin typeface="Arial"/>
                <a:cs typeface="Arial"/>
              </a:rPr>
              <a:t>َ </a:t>
            </a:r>
            <a:r>
              <a:rPr dirty="0" baseline="3086" sz="2700" spc="-869">
                <a:latin typeface="Arial"/>
                <a:cs typeface="Arial"/>
              </a:rPr>
              <a:t>بْ</a:t>
            </a:r>
            <a:r>
              <a:rPr dirty="0" baseline="3086" sz="2700" spc="-300">
                <a:latin typeface="Arial"/>
                <a:cs typeface="Arial"/>
              </a:rPr>
              <a:t> </a:t>
            </a:r>
            <a:r>
              <a:rPr dirty="0" baseline="3086" sz="2700" spc="-270">
                <a:latin typeface="Arial"/>
                <a:cs typeface="Arial"/>
              </a:rPr>
              <a:t>ه</a:t>
            </a:r>
            <a:r>
              <a:rPr dirty="0" sz="1800" spc="-180">
                <a:latin typeface="Arial"/>
                <a:cs typeface="Arial"/>
              </a:rPr>
              <a:t>َ </a:t>
            </a:r>
            <a:r>
              <a:rPr dirty="0" baseline="3086" sz="2700" spc="-307">
                <a:latin typeface="Arial"/>
                <a:cs typeface="Arial"/>
              </a:rPr>
              <a:t>و</a:t>
            </a:r>
            <a:r>
              <a:rPr dirty="0" sz="1800" spc="-204">
                <a:latin typeface="Arial"/>
                <a:cs typeface="Arial"/>
              </a:rPr>
              <a:t>َ</a:t>
            </a:r>
            <a:r>
              <a:rPr dirty="0" sz="1800" spc="-45">
                <a:latin typeface="Arial"/>
                <a:cs typeface="Arial"/>
              </a:rPr>
              <a:t> </a:t>
            </a:r>
            <a:r>
              <a:rPr dirty="0" baseline="3086" sz="2700" spc="-615">
                <a:latin typeface="Arial"/>
                <a:cs typeface="Arial"/>
              </a:rPr>
              <a:t>و</a:t>
            </a:r>
            <a:endParaRPr baseline="3086" sz="2700">
              <a:latin typeface="Arial"/>
              <a:cs typeface="Arial"/>
            </a:endParaRPr>
          </a:p>
          <a:p>
            <a:pPr algn="just" marL="152400" marR="156210">
              <a:lnSpc>
                <a:spcPts val="1380"/>
              </a:lnSpc>
              <a:spcBef>
                <a:spcPts val="1320"/>
              </a:spcBef>
              <a:buAutoNum type="arabicPeriod" startAt="72"/>
              <a:tabLst>
                <a:tab pos="423545" algn="l"/>
              </a:tabLst>
            </a:pPr>
            <a:r>
              <a:rPr dirty="0" sz="1200" spc="-5">
                <a:latin typeface="Arial"/>
                <a:cs typeface="Arial"/>
              </a:rPr>
              <a:t>And </a:t>
            </a:r>
            <a:r>
              <a:rPr dirty="0" sz="1200" spc="20">
                <a:latin typeface="Arial"/>
                <a:cs typeface="Arial"/>
              </a:rPr>
              <a:t>We </a:t>
            </a:r>
            <a:r>
              <a:rPr dirty="0" sz="1200" spc="-5">
                <a:latin typeface="Arial"/>
                <a:cs typeface="Arial"/>
              </a:rPr>
              <a:t>bestowed upon </a:t>
            </a:r>
            <a:r>
              <a:rPr dirty="0" sz="1200" spc="-10">
                <a:latin typeface="Arial"/>
                <a:cs typeface="Arial"/>
              </a:rPr>
              <a:t>him </a:t>
            </a:r>
            <a:r>
              <a:rPr dirty="0" sz="1200" spc="-5">
                <a:latin typeface="Arial"/>
                <a:cs typeface="Arial"/>
              </a:rPr>
              <a:t>Isaac, and Jacob as a grandson. Each of </a:t>
            </a:r>
            <a:r>
              <a:rPr dirty="0" sz="1200" spc="10">
                <a:latin typeface="Arial"/>
                <a:cs typeface="Arial"/>
              </a:rPr>
              <a:t>them </a:t>
            </a:r>
            <a:r>
              <a:rPr dirty="0" sz="1200" spc="20">
                <a:latin typeface="Arial"/>
                <a:cs typeface="Arial"/>
              </a:rPr>
              <a:t>We </a:t>
            </a:r>
            <a:r>
              <a:rPr dirty="0" sz="1200" spc="-5">
                <a:latin typeface="Arial"/>
                <a:cs typeface="Arial"/>
              </a:rPr>
              <a:t>made  righteous.</a:t>
            </a:r>
            <a:endParaRPr sz="1200">
              <a:latin typeface="Arial"/>
              <a:cs typeface="Arial"/>
            </a:endParaRPr>
          </a:p>
          <a:p>
            <a:pPr>
              <a:lnSpc>
                <a:spcPct val="100000"/>
              </a:lnSpc>
              <a:spcBef>
                <a:spcPts val="20"/>
              </a:spcBef>
              <a:buFont typeface="Arial"/>
              <a:buAutoNum type="arabicPeriod" startAt="72"/>
            </a:pPr>
            <a:endParaRPr sz="1100">
              <a:latin typeface="Arial"/>
              <a:cs typeface="Arial"/>
            </a:endParaRPr>
          </a:p>
          <a:p>
            <a:pPr algn="r" marR="208915">
              <a:lnSpc>
                <a:spcPts val="2150"/>
              </a:lnSpc>
            </a:pPr>
            <a:r>
              <a:rPr dirty="0" baseline="1543" sz="2700" spc="-337">
                <a:latin typeface="Arial"/>
                <a:cs typeface="Arial"/>
              </a:rPr>
              <a:t>ة</a:t>
            </a:r>
            <a:r>
              <a:rPr dirty="0" sz="1800" spc="-225">
                <a:latin typeface="Arial"/>
                <a:cs typeface="Arial"/>
              </a:rPr>
              <a:t>ِ  </a:t>
            </a:r>
            <a:r>
              <a:rPr dirty="0" baseline="1543" sz="2700" spc="-465">
                <a:latin typeface="Arial"/>
                <a:cs typeface="Arial"/>
              </a:rPr>
              <a:t>اك</a:t>
            </a:r>
            <a:r>
              <a:rPr dirty="0" baseline="6172" sz="2700" spc="-465">
                <a:latin typeface="Arial"/>
                <a:cs typeface="Arial"/>
              </a:rPr>
              <a:t>َ </a:t>
            </a:r>
            <a:r>
              <a:rPr dirty="0" baseline="6172" sz="2700" spc="-179">
                <a:latin typeface="Arial"/>
                <a:cs typeface="Arial"/>
              </a:rPr>
              <a:t> </a:t>
            </a:r>
            <a:r>
              <a:rPr dirty="0" baseline="1543" sz="2700" spc="-345">
                <a:latin typeface="Arial"/>
                <a:cs typeface="Arial"/>
              </a:rPr>
              <a:t>ز</a:t>
            </a:r>
            <a:r>
              <a:rPr dirty="0" baseline="9259" sz="2700" spc="-345">
                <a:latin typeface="Arial"/>
                <a:cs typeface="Arial"/>
              </a:rPr>
              <a:t>َّ  </a:t>
            </a:r>
            <a:r>
              <a:rPr dirty="0" baseline="1543" sz="2700" spc="-412">
                <a:latin typeface="Arial"/>
                <a:cs typeface="Arial"/>
              </a:rPr>
              <a:t>لا  </a:t>
            </a:r>
            <a:r>
              <a:rPr dirty="0" baseline="1543" sz="2700" spc="-434">
                <a:latin typeface="Arial"/>
                <a:cs typeface="Arial"/>
              </a:rPr>
              <a:t>ءات</a:t>
            </a:r>
            <a:r>
              <a:rPr dirty="0" baseline="6172" sz="2700" spc="-434">
                <a:latin typeface="Arial"/>
                <a:cs typeface="Arial"/>
              </a:rPr>
              <a:t>َ  </a:t>
            </a:r>
            <a:r>
              <a:rPr dirty="0" baseline="1543" sz="2700" spc="-127">
                <a:latin typeface="Arial"/>
                <a:cs typeface="Arial"/>
              </a:rPr>
              <a:t>ٌ</a:t>
            </a:r>
            <a:r>
              <a:rPr dirty="0" baseline="-12345" sz="2700" spc="-127">
                <a:latin typeface="Arial"/>
                <a:cs typeface="Arial"/>
              </a:rPr>
              <a:t>ِ</a:t>
            </a:r>
            <a:r>
              <a:rPr dirty="0" baseline="1543" sz="2700" spc="-127">
                <a:latin typeface="Arial"/>
                <a:cs typeface="Arial"/>
              </a:rPr>
              <a:t>إو</a:t>
            </a:r>
            <a:r>
              <a:rPr dirty="0" baseline="-1543" sz="2700" spc="-127">
                <a:latin typeface="Arial"/>
                <a:cs typeface="Arial"/>
              </a:rPr>
              <a:t>َ  </a:t>
            </a:r>
            <a:r>
              <a:rPr dirty="0" baseline="1543" sz="2700" spc="-337">
                <a:latin typeface="Arial"/>
                <a:cs typeface="Arial"/>
              </a:rPr>
              <a:t>ة</a:t>
            </a:r>
            <a:r>
              <a:rPr dirty="0" sz="1800" spc="-225">
                <a:latin typeface="Arial"/>
                <a:cs typeface="Arial"/>
              </a:rPr>
              <a:t>ِ  </a:t>
            </a:r>
            <a:r>
              <a:rPr dirty="0" baseline="1543" sz="2700" spc="-517">
                <a:latin typeface="Arial"/>
                <a:cs typeface="Arial"/>
              </a:rPr>
              <a:t>لا</a:t>
            </a:r>
            <a:r>
              <a:rPr dirty="0" baseline="9259" sz="2700" spc="-517">
                <a:latin typeface="Arial"/>
                <a:cs typeface="Arial"/>
              </a:rPr>
              <a:t>َ   </a:t>
            </a:r>
            <a:r>
              <a:rPr dirty="0" baseline="1543" sz="2700" spc="-914">
                <a:latin typeface="Arial"/>
                <a:cs typeface="Arial"/>
              </a:rPr>
              <a:t>ص</a:t>
            </a:r>
            <a:r>
              <a:rPr dirty="0" sz="1800" spc="-610">
                <a:latin typeface="Arial"/>
                <a:cs typeface="Arial"/>
              </a:rPr>
              <a:t>َّ</a:t>
            </a:r>
            <a:r>
              <a:rPr dirty="0" sz="1800" spc="875">
                <a:latin typeface="Arial"/>
                <a:cs typeface="Arial"/>
              </a:rPr>
              <a:t> </a:t>
            </a:r>
            <a:r>
              <a:rPr dirty="0" baseline="1543" sz="2700" spc="-412">
                <a:latin typeface="Arial"/>
                <a:cs typeface="Arial"/>
              </a:rPr>
              <a:t>لا  </a:t>
            </a:r>
            <a:r>
              <a:rPr dirty="0" baseline="1543" sz="2700" spc="-390">
                <a:latin typeface="Arial"/>
                <a:cs typeface="Arial"/>
              </a:rPr>
              <a:t>م</a:t>
            </a:r>
            <a:r>
              <a:rPr dirty="0" baseline="-7716" sz="2700" spc="-390">
                <a:latin typeface="Arial"/>
                <a:cs typeface="Arial"/>
              </a:rPr>
              <a:t>َ  </a:t>
            </a:r>
            <a:r>
              <a:rPr dirty="0" baseline="1543" sz="2700" spc="-487">
                <a:latin typeface="Arial"/>
                <a:cs typeface="Arial"/>
              </a:rPr>
              <a:t>اق</a:t>
            </a:r>
            <a:r>
              <a:rPr dirty="0" baseline="6172" sz="2700" spc="-487">
                <a:latin typeface="Arial"/>
                <a:cs typeface="Arial"/>
              </a:rPr>
              <a:t>َ  </a:t>
            </a:r>
            <a:r>
              <a:rPr dirty="0" baseline="-12345" sz="2700" spc="-157">
                <a:latin typeface="Arial"/>
                <a:cs typeface="Arial"/>
              </a:rPr>
              <a:t>ِ</a:t>
            </a:r>
            <a:r>
              <a:rPr dirty="0" baseline="1543" sz="2700" spc="-157">
                <a:latin typeface="Arial"/>
                <a:cs typeface="Arial"/>
              </a:rPr>
              <a:t>إو</a:t>
            </a:r>
            <a:r>
              <a:rPr dirty="0" baseline="-1543" sz="2700" spc="-157">
                <a:latin typeface="Arial"/>
                <a:cs typeface="Arial"/>
              </a:rPr>
              <a:t>َ  </a:t>
            </a:r>
            <a:r>
              <a:rPr dirty="0" baseline="1543" sz="2700" spc="-862">
                <a:latin typeface="Arial"/>
                <a:cs typeface="Arial"/>
              </a:rPr>
              <a:t>ت</a:t>
            </a:r>
            <a:r>
              <a:rPr dirty="0" sz="1800" spc="-575">
                <a:latin typeface="Arial"/>
                <a:cs typeface="Arial"/>
              </a:rPr>
              <a:t>ِ</a:t>
            </a:r>
            <a:r>
              <a:rPr dirty="0" sz="1800" spc="645">
                <a:latin typeface="Arial"/>
                <a:cs typeface="Arial"/>
              </a:rPr>
              <a:t> </a:t>
            </a:r>
            <a:r>
              <a:rPr dirty="0" baseline="1543" sz="2700" spc="-330">
                <a:latin typeface="Arial"/>
                <a:cs typeface="Arial"/>
              </a:rPr>
              <a:t>ار</a:t>
            </a:r>
            <a:r>
              <a:rPr dirty="0" baseline="-1543" sz="2700" spc="-330">
                <a:latin typeface="Arial"/>
                <a:cs typeface="Arial"/>
              </a:rPr>
              <a:t>َ  </a:t>
            </a:r>
            <a:r>
              <a:rPr dirty="0" baseline="1543" sz="2700">
                <a:latin typeface="Arial"/>
                <a:cs typeface="Arial"/>
              </a:rPr>
              <a:t>ٌْ </a:t>
            </a:r>
            <a:r>
              <a:rPr dirty="0" baseline="1543" sz="2700" spc="-592">
                <a:latin typeface="Arial"/>
                <a:cs typeface="Arial"/>
              </a:rPr>
              <a:t>خ</a:t>
            </a:r>
            <a:r>
              <a:rPr dirty="0" baseline="6172" sz="2700" spc="-592">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ا </a:t>
            </a:r>
            <a:r>
              <a:rPr dirty="0" baseline="1543" sz="2700" spc="-615">
                <a:latin typeface="Arial"/>
                <a:cs typeface="Arial"/>
              </a:rPr>
              <a:t>ل</a:t>
            </a:r>
            <a:r>
              <a:rPr dirty="0" baseline="-1543" sz="2700" spc="-615">
                <a:latin typeface="Arial"/>
                <a:cs typeface="Arial"/>
              </a:rPr>
              <a:t>َ         </a:t>
            </a:r>
            <a:r>
              <a:rPr dirty="0" baseline="1543" sz="2700" spc="-569">
                <a:latin typeface="Arial"/>
                <a:cs typeface="Arial"/>
              </a:rPr>
              <a:t>عْ    </a:t>
            </a:r>
            <a:r>
              <a:rPr dirty="0" sz="1800" spc="-470">
                <a:latin typeface="Arial"/>
                <a:cs typeface="Arial"/>
              </a:rPr>
              <a:t>ِ</a:t>
            </a:r>
            <a:r>
              <a:rPr dirty="0" baseline="1543" sz="2700" spc="-705">
                <a:latin typeface="Arial"/>
                <a:cs typeface="Arial"/>
              </a:rPr>
              <a:t>ف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a:t>
            </a:r>
            <a:r>
              <a:rPr dirty="0" baseline="-10802" sz="2700" spc="-307">
                <a:latin typeface="Arial"/>
                <a:cs typeface="Arial"/>
              </a:rPr>
              <a:t>ِ  </a:t>
            </a:r>
            <a:r>
              <a:rPr dirty="0" baseline="1543" sz="2700">
                <a:latin typeface="Arial"/>
                <a:cs typeface="Arial"/>
              </a:rPr>
              <a:t>ٌْ </a:t>
            </a:r>
            <a:r>
              <a:rPr dirty="0" baseline="9259" sz="2700" spc="-217">
                <a:latin typeface="Arial"/>
                <a:cs typeface="Arial"/>
              </a:rPr>
              <a:t>َ</a:t>
            </a:r>
            <a:r>
              <a:rPr dirty="0" baseline="1543" sz="2700" spc="-217">
                <a:latin typeface="Arial"/>
                <a:cs typeface="Arial"/>
              </a:rPr>
              <a:t>ل</a:t>
            </a:r>
            <a:r>
              <a:rPr dirty="0" baseline="-12345" sz="2700" spc="-217">
                <a:latin typeface="Arial"/>
                <a:cs typeface="Arial"/>
              </a:rPr>
              <a:t>ِ</a:t>
            </a:r>
            <a:r>
              <a:rPr dirty="0" baseline="1543" sz="2700" spc="-217">
                <a:latin typeface="Arial"/>
                <a:cs typeface="Arial"/>
              </a:rPr>
              <a:t>إ </a:t>
            </a:r>
            <a:r>
              <a:rPr dirty="0" baseline="1543" sz="2700" spc="-412">
                <a:latin typeface="Arial"/>
                <a:cs typeface="Arial"/>
              </a:rPr>
              <a:t>ان</a:t>
            </a:r>
            <a:r>
              <a:rPr dirty="0" baseline="6172" sz="2700" spc="-412">
                <a:latin typeface="Arial"/>
                <a:cs typeface="Arial"/>
              </a:rPr>
              <a:t>َ </a:t>
            </a:r>
            <a:r>
              <a:rPr dirty="0" baseline="1543" sz="2700">
                <a:latin typeface="Arial"/>
                <a:cs typeface="Arial"/>
              </a:rPr>
              <a:t>ٌْ </a:t>
            </a:r>
            <a:r>
              <a:rPr dirty="0" baseline="1543" sz="2700" spc="-592">
                <a:latin typeface="Arial"/>
                <a:cs typeface="Arial"/>
              </a:rPr>
              <a:t>ح</a:t>
            </a:r>
            <a:r>
              <a:rPr dirty="0" baseline="-1543" sz="2700" spc="-592">
                <a:latin typeface="Arial"/>
                <a:cs typeface="Arial"/>
              </a:rPr>
              <a:t>َ       </a:t>
            </a:r>
            <a:r>
              <a:rPr dirty="0" baseline="1543" sz="2700" spc="-270">
                <a:latin typeface="Arial"/>
                <a:cs typeface="Arial"/>
              </a:rPr>
              <a:t>وْ </a:t>
            </a:r>
            <a:r>
              <a:rPr dirty="0" baseline="15432" sz="2700" spc="-157">
                <a:latin typeface="Arial"/>
                <a:cs typeface="Arial"/>
              </a:rPr>
              <a:t>َ</a:t>
            </a:r>
            <a:r>
              <a:rPr dirty="0" baseline="1543" sz="2700" spc="-157">
                <a:latin typeface="Arial"/>
                <a:cs typeface="Arial"/>
              </a:rPr>
              <a:t>أو</a:t>
            </a:r>
            <a:r>
              <a:rPr dirty="0" baseline="-1543" sz="2700" spc="-157">
                <a:latin typeface="Arial"/>
                <a:cs typeface="Arial"/>
              </a:rPr>
              <a:t>َ  </a:t>
            </a:r>
            <a:r>
              <a:rPr dirty="0" baseline="1543" sz="2700" spc="-412">
                <a:latin typeface="Arial"/>
                <a:cs typeface="Arial"/>
              </a:rPr>
              <a:t>ان</a:t>
            </a:r>
            <a:r>
              <a:rPr dirty="0" baseline="6172" sz="2700" spc="-412">
                <a:latin typeface="Arial"/>
                <a:cs typeface="Arial"/>
              </a:rPr>
              <a:t>َ </a:t>
            </a:r>
            <a:r>
              <a:rPr dirty="0" baseline="1543" sz="2700" spc="-457">
                <a:latin typeface="Arial"/>
                <a:cs typeface="Arial"/>
              </a:rPr>
              <a:t>ر</a:t>
            </a:r>
            <a:r>
              <a:rPr dirty="0" baseline="-13888" sz="2700" spc="-457">
                <a:latin typeface="Arial"/>
                <a:cs typeface="Arial"/>
              </a:rPr>
              <a:t>ِ   </a:t>
            </a:r>
            <a:r>
              <a:rPr dirty="0" baseline="1543" sz="2700" spc="-322">
                <a:latin typeface="Arial"/>
                <a:cs typeface="Arial"/>
              </a:rPr>
              <a:t>مْ  </a:t>
            </a:r>
            <a:r>
              <a:rPr dirty="0" baseline="15432" sz="2700" spc="-622">
                <a:latin typeface="Arial"/>
                <a:cs typeface="Arial"/>
              </a:rPr>
              <a:t>َ</a:t>
            </a:r>
            <a:r>
              <a:rPr dirty="0" baseline="1543" sz="2700" spc="-622">
                <a:latin typeface="Arial"/>
                <a:cs typeface="Arial"/>
              </a:rPr>
              <a:t>ؤب</a:t>
            </a:r>
            <a:r>
              <a:rPr dirty="0" baseline="-12345" sz="2700" spc="-622">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40">
                <a:latin typeface="Arial"/>
                <a:cs typeface="Arial"/>
              </a:rPr>
              <a:t>ود</a:t>
            </a:r>
            <a:r>
              <a:rPr dirty="0" baseline="3086" sz="2700" spc="-240">
                <a:latin typeface="Arial"/>
                <a:cs typeface="Arial"/>
              </a:rPr>
              <a:t>ُ </a:t>
            </a:r>
            <a:r>
              <a:rPr dirty="0" baseline="1543" sz="2700" spc="-292">
                <a:latin typeface="Arial"/>
                <a:cs typeface="Arial"/>
              </a:rPr>
              <a:t>هْ  </a:t>
            </a:r>
            <a:r>
              <a:rPr dirty="0" baseline="1543" sz="2700">
                <a:latin typeface="Arial"/>
                <a:cs typeface="Arial"/>
              </a:rPr>
              <a:t>ٌ</a:t>
            </a:r>
            <a:r>
              <a:rPr dirty="0" baseline="-1543" sz="2700">
                <a:latin typeface="Arial"/>
                <a:cs typeface="Arial"/>
              </a:rPr>
              <a:t>َ  </a:t>
            </a:r>
            <a:r>
              <a:rPr dirty="0" baseline="1543" sz="2700" spc="-284">
                <a:latin typeface="Arial"/>
                <a:cs typeface="Arial"/>
              </a:rPr>
              <a:t>ة</a:t>
            </a:r>
            <a:r>
              <a:rPr dirty="0" baseline="12345" sz="2700" spc="-284">
                <a:latin typeface="Arial"/>
                <a:cs typeface="Arial"/>
              </a:rPr>
              <a:t>ً  </a:t>
            </a:r>
            <a:r>
              <a:rPr dirty="0" baseline="1543" sz="2700" spc="-254">
                <a:latin typeface="Arial"/>
                <a:cs typeface="Arial"/>
              </a:rPr>
              <a:t>م</a:t>
            </a:r>
            <a:r>
              <a:rPr dirty="0" sz="1800" spc="-170">
                <a:latin typeface="Arial"/>
                <a:cs typeface="Arial"/>
              </a:rPr>
              <a:t>َّ  </a:t>
            </a:r>
            <a:r>
              <a:rPr dirty="0" baseline="1543" sz="2700" spc="-855">
                <a:latin typeface="Arial"/>
                <a:cs typeface="Arial"/>
              </a:rPr>
              <a:t>ئ</a:t>
            </a:r>
            <a:r>
              <a:rPr dirty="0" sz="1800" spc="-570">
                <a:latin typeface="Arial"/>
                <a:cs typeface="Arial"/>
              </a:rPr>
              <a:t>ِ</a:t>
            </a:r>
            <a:r>
              <a:rPr dirty="0" sz="1800" spc="-90">
                <a:latin typeface="Arial"/>
                <a:cs typeface="Arial"/>
              </a:rPr>
              <a:t> </a:t>
            </a:r>
            <a:r>
              <a:rPr dirty="0" baseline="15432" sz="2700">
                <a:latin typeface="Arial"/>
                <a:cs typeface="Arial"/>
              </a:rPr>
              <a:t>َ</a:t>
            </a:r>
            <a:r>
              <a:rPr dirty="0" baseline="1543" sz="2700">
                <a:latin typeface="Arial"/>
                <a:cs typeface="Arial"/>
              </a:rPr>
              <a:t>أ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  </a:t>
            </a:r>
            <a:r>
              <a:rPr dirty="0" baseline="1543" sz="2700" spc="-412">
                <a:latin typeface="Arial"/>
                <a:cs typeface="Arial"/>
              </a:rPr>
              <a:t>ان</a:t>
            </a:r>
            <a:r>
              <a:rPr dirty="0" baseline="6172" sz="2700" spc="-412">
                <a:latin typeface="Arial"/>
                <a:cs typeface="Arial"/>
              </a:rPr>
              <a:t>َ</a:t>
            </a:r>
            <a:r>
              <a:rPr dirty="0" baseline="6172" sz="2700" spc="-120">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spc="-600">
                <a:latin typeface="Arial"/>
                <a:cs typeface="Arial"/>
              </a:rPr>
              <a:t>ع</a:t>
            </a:r>
            <a:r>
              <a:rPr dirty="0" baseline="-1543" sz="2700" spc="-600">
                <a:latin typeface="Arial"/>
                <a:cs typeface="Arial"/>
              </a:rPr>
              <a:t>َ     </a:t>
            </a:r>
            <a:r>
              <a:rPr dirty="0" baseline="1543" sz="2700" spc="-592">
                <a:latin typeface="Arial"/>
                <a:cs typeface="Arial"/>
              </a:rPr>
              <a:t>ج</a:t>
            </a:r>
            <a:r>
              <a:rPr dirty="0" baseline="-1543" sz="2700" spc="-592">
                <a:latin typeface="Arial"/>
                <a:cs typeface="Arial"/>
              </a:rPr>
              <a:t>َ       </a:t>
            </a:r>
            <a:r>
              <a:rPr dirty="0" baseline="1543" sz="2700" spc="-615">
                <a:latin typeface="Arial"/>
                <a:cs typeface="Arial"/>
              </a:rPr>
              <a:t>و</a:t>
            </a:r>
            <a:endParaRPr baseline="1543" sz="2700">
              <a:latin typeface="Arial"/>
              <a:cs typeface="Arial"/>
            </a:endParaRPr>
          </a:p>
          <a:p>
            <a:pPr algn="r" marR="208279">
              <a:lnSpc>
                <a:spcPts val="2150"/>
              </a:lnSpc>
            </a:pPr>
            <a:r>
              <a:rPr dirty="0" baseline="3086" sz="2700" spc="-494">
                <a:latin typeface="Arial"/>
                <a:cs typeface="Arial"/>
              </a:rPr>
              <a:t>ن</a:t>
            </a:r>
            <a:r>
              <a:rPr dirty="0" sz="1800" spc="-330">
                <a:latin typeface="Arial"/>
                <a:cs typeface="Arial"/>
              </a:rPr>
              <a:t>َ    </a:t>
            </a:r>
            <a:r>
              <a:rPr dirty="0" baseline="3086" sz="2700" spc="-240">
                <a:latin typeface="Arial"/>
                <a:cs typeface="Arial"/>
              </a:rPr>
              <a:t>ٌد</a:t>
            </a:r>
            <a:r>
              <a:rPr dirty="0" baseline="1543" sz="2700" spc="-240">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120">
                <a:latin typeface="Arial"/>
                <a:cs typeface="Arial"/>
              </a:rPr>
              <a:t> </a:t>
            </a:r>
            <a:r>
              <a:rPr dirty="0" baseline="3086" sz="2700" spc="-390">
                <a:latin typeface="Arial"/>
                <a:cs typeface="Arial"/>
              </a:rPr>
              <a:t>اع</a:t>
            </a:r>
            <a:r>
              <a:rPr dirty="0" sz="1800" spc="-260">
                <a:latin typeface="Arial"/>
                <a:cs typeface="Arial"/>
              </a:rPr>
              <a:t>َ     </a:t>
            </a:r>
            <a:r>
              <a:rPr dirty="0" baseline="3086" sz="2700" spc="-412">
                <a:latin typeface="Arial"/>
                <a:cs typeface="Arial"/>
              </a:rPr>
              <a:t>ان</a:t>
            </a:r>
            <a:r>
              <a:rPr dirty="0" baseline="7716" sz="2700" spc="-412">
                <a:latin typeface="Arial"/>
                <a:cs typeface="Arial"/>
              </a:rPr>
              <a:t>َ  </a:t>
            </a:r>
            <a:r>
              <a:rPr dirty="0" baseline="10802" sz="2700" spc="-405">
                <a:latin typeface="Arial"/>
                <a:cs typeface="Arial"/>
              </a:rPr>
              <a:t>َ</a:t>
            </a:r>
            <a:r>
              <a:rPr dirty="0" baseline="3086" sz="2700" spc="-405">
                <a:latin typeface="Arial"/>
                <a:cs typeface="Arial"/>
              </a:rPr>
              <a:t>ل  </a:t>
            </a:r>
            <a:r>
              <a:rPr dirty="0" baseline="3086" sz="2700" spc="-345">
                <a:latin typeface="Arial"/>
                <a:cs typeface="Arial"/>
              </a:rPr>
              <a:t>اون</a:t>
            </a:r>
            <a:r>
              <a:rPr dirty="0" baseline="10802" sz="2700" spc="-345">
                <a:latin typeface="Arial"/>
                <a:cs typeface="Arial"/>
              </a:rPr>
              <a:t>ُ  </a:t>
            </a:r>
            <a:r>
              <a:rPr dirty="0" baseline="3086" sz="2700" spc="-465">
                <a:latin typeface="Arial"/>
                <a:cs typeface="Arial"/>
              </a:rPr>
              <a:t>اك</a:t>
            </a:r>
            <a:r>
              <a:rPr dirty="0" baseline="7716" sz="2700" spc="-465">
                <a:latin typeface="Arial"/>
                <a:cs typeface="Arial"/>
              </a:rPr>
              <a:t>َ </a:t>
            </a:r>
            <a:r>
              <a:rPr dirty="0" baseline="7716" sz="2700" spc="-315">
                <a:latin typeface="Arial"/>
                <a:cs typeface="Arial"/>
              </a:rPr>
              <a:t> </a:t>
            </a:r>
            <a:r>
              <a:rPr dirty="0" baseline="3086" sz="2700" spc="-615">
                <a:latin typeface="Arial"/>
                <a:cs typeface="Arial"/>
              </a:rPr>
              <a:t>و</a:t>
            </a:r>
            <a:endParaRPr baseline="3086" sz="2700">
              <a:latin typeface="Arial"/>
              <a:cs typeface="Arial"/>
            </a:endParaRPr>
          </a:p>
          <a:p>
            <a:pPr algn="just" marL="152400" marR="156210">
              <a:lnSpc>
                <a:spcPts val="1380"/>
              </a:lnSpc>
              <a:spcBef>
                <a:spcPts val="1320"/>
              </a:spcBef>
              <a:buAutoNum type="arabicPeriod" startAt="73"/>
              <a:tabLst>
                <a:tab pos="426720" algn="l"/>
              </a:tabLst>
            </a:pPr>
            <a:r>
              <a:rPr dirty="0" sz="1200" spc="-5">
                <a:latin typeface="Arial"/>
                <a:cs typeface="Arial"/>
              </a:rPr>
              <a:t>And </a:t>
            </a:r>
            <a:r>
              <a:rPr dirty="0" sz="1200" spc="15">
                <a:latin typeface="Arial"/>
                <a:cs typeface="Arial"/>
              </a:rPr>
              <a:t>We </a:t>
            </a:r>
            <a:r>
              <a:rPr dirty="0" sz="1200" spc="-5">
                <a:latin typeface="Arial"/>
                <a:cs typeface="Arial"/>
              </a:rPr>
              <a:t>made them chiefs </a:t>
            </a:r>
            <a:r>
              <a:rPr dirty="0" sz="1200" spc="-10">
                <a:latin typeface="Arial"/>
                <a:cs typeface="Arial"/>
              </a:rPr>
              <a:t>who </a:t>
            </a:r>
            <a:r>
              <a:rPr dirty="0" sz="1200" spc="-5">
                <a:latin typeface="Arial"/>
                <a:cs typeface="Arial"/>
              </a:rPr>
              <a:t>guide </a:t>
            </a:r>
            <a:r>
              <a:rPr dirty="0" sz="1200" spc="-10">
                <a:latin typeface="Arial"/>
                <a:cs typeface="Arial"/>
              </a:rPr>
              <a:t>by </a:t>
            </a:r>
            <a:r>
              <a:rPr dirty="0" sz="1200">
                <a:latin typeface="Arial"/>
                <a:cs typeface="Arial"/>
              </a:rPr>
              <a:t>Our </a:t>
            </a:r>
            <a:r>
              <a:rPr dirty="0" sz="1200" spc="-5">
                <a:latin typeface="Arial"/>
                <a:cs typeface="Arial"/>
              </a:rPr>
              <a:t>command, and </a:t>
            </a:r>
            <a:r>
              <a:rPr dirty="0" sz="1200" spc="15">
                <a:latin typeface="Arial"/>
                <a:cs typeface="Arial"/>
              </a:rPr>
              <a:t>We </a:t>
            </a:r>
            <a:r>
              <a:rPr dirty="0" sz="1200">
                <a:latin typeface="Arial"/>
                <a:cs typeface="Arial"/>
              </a:rPr>
              <a:t>inspired </a:t>
            </a:r>
            <a:r>
              <a:rPr dirty="0" sz="1200" spc="-5">
                <a:latin typeface="Arial"/>
                <a:cs typeface="Arial"/>
              </a:rPr>
              <a:t>in them </a:t>
            </a:r>
            <a:r>
              <a:rPr dirty="0" sz="1200" spc="-10">
                <a:latin typeface="Arial"/>
                <a:cs typeface="Arial"/>
              </a:rPr>
              <a:t>the  </a:t>
            </a:r>
            <a:r>
              <a:rPr dirty="0" sz="1200" spc="-5">
                <a:latin typeface="Arial"/>
                <a:cs typeface="Arial"/>
              </a:rPr>
              <a:t>doing of good deeds and the right establishment of worship and the giving </a:t>
            </a:r>
            <a:r>
              <a:rPr dirty="0" sz="1200">
                <a:latin typeface="Arial"/>
                <a:cs typeface="Arial"/>
              </a:rPr>
              <a:t>of </a:t>
            </a:r>
            <a:r>
              <a:rPr dirty="0" sz="1200" spc="-5">
                <a:latin typeface="Arial"/>
                <a:cs typeface="Arial"/>
              </a:rPr>
              <a:t>alms and </a:t>
            </a:r>
            <a:r>
              <a:rPr dirty="0" sz="1200">
                <a:latin typeface="Arial"/>
                <a:cs typeface="Arial"/>
              </a:rPr>
              <a:t>they  </a:t>
            </a:r>
            <a:r>
              <a:rPr dirty="0" sz="1200" spc="-5">
                <a:latin typeface="Arial"/>
                <a:cs typeface="Arial"/>
              </a:rPr>
              <a:t>were worshippers of </a:t>
            </a:r>
            <a:r>
              <a:rPr dirty="0" sz="1200" spc="-10">
                <a:latin typeface="Arial"/>
                <a:cs typeface="Arial"/>
              </a:rPr>
              <a:t>Us</a:t>
            </a:r>
            <a:r>
              <a:rPr dirty="0" sz="1200" spc="30">
                <a:latin typeface="Arial"/>
                <a:cs typeface="Arial"/>
              </a:rPr>
              <a:t> </a:t>
            </a:r>
            <a:r>
              <a:rPr dirty="0" sz="1200" spc="-5">
                <a:latin typeface="Arial"/>
                <a:cs typeface="Arial"/>
              </a:rPr>
              <a:t>(alone).</a:t>
            </a:r>
            <a:endParaRPr sz="1200">
              <a:latin typeface="Arial"/>
              <a:cs typeface="Arial"/>
            </a:endParaRPr>
          </a:p>
          <a:p>
            <a:pPr>
              <a:lnSpc>
                <a:spcPct val="100000"/>
              </a:lnSpc>
              <a:spcBef>
                <a:spcPts val="20"/>
              </a:spcBef>
            </a:pPr>
            <a:endParaRPr sz="1100">
              <a:latin typeface="Arial"/>
              <a:cs typeface="Arial"/>
            </a:endParaRPr>
          </a:p>
          <a:p>
            <a:pPr marL="152400">
              <a:lnSpc>
                <a:spcPct val="100000"/>
              </a:lnSpc>
            </a:pPr>
            <a:r>
              <a:rPr dirty="0" u="heavy" sz="1200" spc="-5" b="1" i="1">
                <a:uFill>
                  <a:solidFill>
                    <a:srgbClr val="000000"/>
                  </a:solidFill>
                </a:uFill>
                <a:latin typeface="Arial"/>
                <a:cs typeface="Arial"/>
              </a:rPr>
              <a:t>Hazrat Nuh</a:t>
            </a:r>
            <a:r>
              <a:rPr dirty="0" u="heavy" sz="1200" b="1" i="1">
                <a:uFill>
                  <a:solidFill>
                    <a:srgbClr val="000000"/>
                  </a:solidFill>
                </a:uFill>
                <a:latin typeface="Arial"/>
                <a:cs typeface="Arial"/>
              </a:rPr>
              <a:t> (as)</a:t>
            </a:r>
            <a:endParaRPr sz="1200">
              <a:latin typeface="Arial"/>
              <a:cs typeface="Arial"/>
            </a:endParaRPr>
          </a:p>
          <a:p>
            <a:pPr>
              <a:lnSpc>
                <a:spcPct val="100000"/>
              </a:lnSpc>
              <a:spcBef>
                <a:spcPts val="35"/>
              </a:spcBef>
            </a:pPr>
            <a:endParaRPr sz="1200">
              <a:latin typeface="Arial"/>
              <a:cs typeface="Arial"/>
            </a:endParaRPr>
          </a:p>
          <a:p>
            <a:pPr algn="just" marL="152400" marR="163195">
              <a:lnSpc>
                <a:spcPts val="1380"/>
              </a:lnSpc>
              <a:spcBef>
                <a:spcPts val="5"/>
              </a:spcBef>
            </a:pPr>
            <a:r>
              <a:rPr dirty="0" sz="1200">
                <a:latin typeface="Arial"/>
                <a:cs typeface="Arial"/>
              </a:rPr>
              <a:t>This </a:t>
            </a:r>
            <a:r>
              <a:rPr dirty="0" sz="1200" spc="-5">
                <a:latin typeface="Arial"/>
                <a:cs typeface="Arial"/>
              </a:rPr>
              <a:t>is </a:t>
            </a:r>
            <a:r>
              <a:rPr dirty="0" sz="1200">
                <a:latin typeface="Arial"/>
                <a:cs typeface="Arial"/>
              </a:rPr>
              <a:t>the story of </a:t>
            </a:r>
            <a:r>
              <a:rPr dirty="0" sz="1200" spc="-5">
                <a:latin typeface="Arial"/>
                <a:cs typeface="Arial"/>
              </a:rPr>
              <a:t>the boat built by Nuh </a:t>
            </a:r>
            <a:r>
              <a:rPr dirty="0" sz="1200">
                <a:latin typeface="Arial"/>
                <a:cs typeface="Arial"/>
              </a:rPr>
              <a:t>(as). </a:t>
            </a:r>
            <a:r>
              <a:rPr dirty="0" sz="1200" spc="-5">
                <a:latin typeface="Arial"/>
                <a:cs typeface="Arial"/>
              </a:rPr>
              <a:t>His people disobeyed him and he asked wrath  upon the non Muslims. Flood </a:t>
            </a:r>
            <a:r>
              <a:rPr dirty="0" sz="1200" spc="-10">
                <a:latin typeface="Arial"/>
                <a:cs typeface="Arial"/>
              </a:rPr>
              <a:t>came </a:t>
            </a:r>
            <a:r>
              <a:rPr dirty="0" sz="1200" spc="-5">
                <a:latin typeface="Arial"/>
                <a:cs typeface="Arial"/>
              </a:rPr>
              <a:t>and lasted </a:t>
            </a:r>
            <a:r>
              <a:rPr dirty="0" sz="1200">
                <a:latin typeface="Arial"/>
                <a:cs typeface="Arial"/>
              </a:rPr>
              <a:t>for </a:t>
            </a:r>
            <a:r>
              <a:rPr dirty="0" sz="1200" spc="-5">
                <a:latin typeface="Arial"/>
                <a:cs typeface="Arial"/>
              </a:rPr>
              <a:t>40 </a:t>
            </a:r>
            <a:r>
              <a:rPr dirty="0" sz="1200" spc="-10">
                <a:latin typeface="Arial"/>
                <a:cs typeface="Arial"/>
              </a:rPr>
              <a:t>days </a:t>
            </a:r>
            <a:r>
              <a:rPr dirty="0" sz="1200" spc="-5">
                <a:latin typeface="Arial"/>
                <a:cs typeface="Arial"/>
              </a:rPr>
              <a:t>and nights and the boat stopped  </a:t>
            </a:r>
            <a:r>
              <a:rPr dirty="0" sz="1200">
                <a:latin typeface="Arial"/>
                <a:cs typeface="Arial"/>
              </a:rPr>
              <a:t>at </a:t>
            </a:r>
            <a:r>
              <a:rPr dirty="0" sz="1200" spc="-5">
                <a:latin typeface="Arial"/>
                <a:cs typeface="Arial"/>
              </a:rPr>
              <a:t>Mount Judi. His wife and son </a:t>
            </a:r>
            <a:r>
              <a:rPr dirty="0" sz="1200" spc="-10">
                <a:latin typeface="Arial"/>
                <a:cs typeface="Arial"/>
              </a:rPr>
              <a:t>who </a:t>
            </a:r>
            <a:r>
              <a:rPr dirty="0" sz="1200" spc="-5">
                <a:latin typeface="Arial"/>
                <a:cs typeface="Arial"/>
              </a:rPr>
              <a:t>disbelieved did not come in the boat, they were killed.  Allah got rid of the disbelievers </a:t>
            </a:r>
            <a:r>
              <a:rPr dirty="0" sz="1200">
                <a:latin typeface="Arial"/>
                <a:cs typeface="Arial"/>
              </a:rPr>
              <a:t>of </a:t>
            </a:r>
            <a:r>
              <a:rPr dirty="0" sz="1200" spc="-5">
                <a:latin typeface="Arial"/>
                <a:cs typeface="Arial"/>
              </a:rPr>
              <a:t>his people once </a:t>
            </a:r>
            <a:r>
              <a:rPr dirty="0" sz="1200">
                <a:latin typeface="Arial"/>
                <a:cs typeface="Arial"/>
              </a:rPr>
              <a:t>for</a:t>
            </a:r>
            <a:r>
              <a:rPr dirty="0" sz="1200" spc="35">
                <a:latin typeface="Arial"/>
                <a:cs typeface="Arial"/>
              </a:rPr>
              <a:t> </a:t>
            </a:r>
            <a:r>
              <a:rPr dirty="0" sz="1200" spc="-5">
                <a:latin typeface="Arial"/>
                <a:cs typeface="Arial"/>
              </a:rPr>
              <a:t>all.</a:t>
            </a:r>
            <a:endParaRPr sz="1200">
              <a:latin typeface="Arial"/>
              <a:cs typeface="Arial"/>
            </a:endParaRPr>
          </a:p>
          <a:p>
            <a:pPr>
              <a:lnSpc>
                <a:spcPct val="100000"/>
              </a:lnSpc>
              <a:spcBef>
                <a:spcPts val="15"/>
              </a:spcBef>
            </a:pPr>
            <a:endParaRPr sz="1100">
              <a:latin typeface="Arial"/>
              <a:cs typeface="Arial"/>
            </a:endParaRPr>
          </a:p>
          <a:p>
            <a:pPr marL="152400">
              <a:lnSpc>
                <a:spcPct val="100000"/>
              </a:lnSpc>
            </a:pPr>
            <a:r>
              <a:rPr dirty="0" sz="1200" spc="-5">
                <a:latin typeface="Arial"/>
                <a:cs typeface="Arial"/>
              </a:rPr>
              <a:t>Allah says:</a:t>
            </a:r>
            <a:endParaRPr sz="1200">
              <a:latin typeface="Arial"/>
              <a:cs typeface="Arial"/>
            </a:endParaRPr>
          </a:p>
          <a:p>
            <a:pPr>
              <a:lnSpc>
                <a:spcPct val="100000"/>
              </a:lnSpc>
            </a:pPr>
            <a:endParaRPr sz="1200">
              <a:latin typeface="Arial"/>
              <a:cs typeface="Arial"/>
            </a:endParaRPr>
          </a:p>
          <a:p>
            <a:pPr algn="r" marR="208915">
              <a:lnSpc>
                <a:spcPct val="100000"/>
              </a:lnSpc>
              <a:spcBef>
                <a:spcPts val="5"/>
              </a:spcBef>
            </a:pPr>
            <a:r>
              <a:rPr dirty="0" baseline="3086" sz="2700" spc="-315">
                <a:latin typeface="Arial"/>
                <a:cs typeface="Arial"/>
              </a:rPr>
              <a:t>م</a:t>
            </a:r>
            <a:r>
              <a:rPr dirty="0" baseline="-13888" sz="2700" spc="-315">
                <a:latin typeface="Arial"/>
                <a:cs typeface="Arial"/>
              </a:rPr>
              <a:t>ِ </a:t>
            </a:r>
            <a:r>
              <a:rPr dirty="0" baseline="3086" sz="2700" spc="-390">
                <a:latin typeface="Arial"/>
                <a:cs typeface="Arial"/>
              </a:rPr>
              <a:t>ٌظ</a:t>
            </a:r>
            <a:r>
              <a:rPr dirty="0" baseline="1543" sz="2700" spc="-390">
                <a:latin typeface="Arial"/>
                <a:cs typeface="Arial"/>
              </a:rPr>
              <a:t>ِ </a:t>
            </a:r>
            <a:r>
              <a:rPr dirty="0" baseline="3086" sz="2700" spc="-600">
                <a:latin typeface="Arial"/>
                <a:cs typeface="Arial"/>
              </a:rPr>
              <a:t>ع</a:t>
            </a:r>
            <a:r>
              <a:rPr dirty="0" sz="1800" spc="-40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862">
                <a:latin typeface="Arial"/>
                <a:cs typeface="Arial"/>
              </a:rPr>
              <a:t>ب</a:t>
            </a:r>
            <a:r>
              <a:rPr dirty="0" baseline="1543" sz="2700" spc="-862">
                <a:latin typeface="Arial"/>
                <a:cs typeface="Arial"/>
              </a:rPr>
              <a:t>ِ</a:t>
            </a:r>
            <a:r>
              <a:rPr dirty="0" baseline="1543" sz="2700" spc="960">
                <a:latin typeface="Arial"/>
                <a:cs typeface="Arial"/>
              </a:rPr>
              <a:t> </a:t>
            </a:r>
            <a:r>
              <a:rPr dirty="0" baseline="3086" sz="2700" spc="-457">
                <a:latin typeface="Arial"/>
                <a:cs typeface="Arial"/>
              </a:rPr>
              <a:t>رْ </a:t>
            </a:r>
            <a:r>
              <a:rPr dirty="0" baseline="3086" sz="2700" spc="-719">
                <a:latin typeface="Arial"/>
                <a:cs typeface="Arial"/>
              </a:rPr>
              <a:t>ك</a:t>
            </a:r>
            <a:r>
              <a:rPr dirty="0" baseline="7716" sz="2700" spc="-719">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322">
                <a:latin typeface="Arial"/>
                <a:cs typeface="Arial"/>
              </a:rPr>
              <a:t>هُ </a:t>
            </a:r>
            <a:r>
              <a:rPr dirty="0" baseline="10802" sz="2700" spc="-322">
                <a:latin typeface="Arial"/>
                <a:cs typeface="Arial"/>
              </a:rPr>
              <a:t>َ</a:t>
            </a:r>
            <a:r>
              <a:rPr dirty="0" baseline="3086" sz="2700" spc="-322">
                <a:latin typeface="Arial"/>
                <a:cs typeface="Arial"/>
              </a:rPr>
              <a:t>لهْ </a:t>
            </a:r>
            <a:r>
              <a:rPr dirty="0" baseline="16975" sz="2700" spc="-157">
                <a:latin typeface="Arial"/>
                <a:cs typeface="Arial"/>
              </a:rPr>
              <a:t>َ</a:t>
            </a:r>
            <a:r>
              <a:rPr dirty="0" baseline="3086" sz="2700" spc="-157">
                <a:latin typeface="Arial"/>
                <a:cs typeface="Arial"/>
              </a:rPr>
              <a:t>أو</a:t>
            </a:r>
            <a:r>
              <a:rPr dirty="0" sz="1800" spc="-105">
                <a:latin typeface="Arial"/>
                <a:cs typeface="Arial"/>
              </a:rPr>
              <a:t>َ </a:t>
            </a:r>
            <a:r>
              <a:rPr dirty="0" baseline="3086" sz="2700" spc="-254">
                <a:latin typeface="Arial"/>
                <a:cs typeface="Arial"/>
              </a:rPr>
              <a:t>ُهان</a:t>
            </a:r>
            <a:r>
              <a:rPr dirty="0" baseline="7716" sz="2700" spc="-254">
                <a:latin typeface="Arial"/>
                <a:cs typeface="Arial"/>
              </a:rPr>
              <a:t>َ </a:t>
            </a:r>
            <a:r>
              <a:rPr dirty="0" baseline="3086" sz="2700">
                <a:latin typeface="Arial"/>
                <a:cs typeface="Arial"/>
              </a:rPr>
              <a:t>ٌْ </a:t>
            </a:r>
            <a:r>
              <a:rPr dirty="0" baseline="3086" sz="2700" spc="-405">
                <a:latin typeface="Arial"/>
                <a:cs typeface="Arial"/>
              </a:rPr>
              <a:t>جَّ </a:t>
            </a:r>
            <a:r>
              <a:rPr dirty="0" baseline="3086" sz="2700" spc="-644">
                <a:latin typeface="Arial"/>
                <a:cs typeface="Arial"/>
              </a:rPr>
              <a:t>ن</a:t>
            </a:r>
            <a:r>
              <a:rPr dirty="0" baseline="7716" sz="2700" spc="-644">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60">
                <a:latin typeface="Arial"/>
                <a:cs typeface="Arial"/>
              </a:rPr>
              <a:t> </a:t>
            </a:r>
            <a:r>
              <a:rPr dirty="0" baseline="3086" sz="2700" spc="-322">
                <a:latin typeface="Arial"/>
                <a:cs typeface="Arial"/>
              </a:rPr>
              <a:t>هُ </a:t>
            </a:r>
            <a:r>
              <a:rPr dirty="0" baseline="3086" sz="2700" spc="-690">
                <a:latin typeface="Arial"/>
                <a:cs typeface="Arial"/>
              </a:rPr>
              <a:t>ل</a:t>
            </a:r>
            <a:r>
              <a:rPr dirty="0" baseline="10802" sz="2700" spc="-690">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862">
                <a:latin typeface="Arial"/>
                <a:cs typeface="Arial"/>
              </a:rPr>
              <a:t>بْ</a:t>
            </a:r>
            <a:r>
              <a:rPr dirty="0" baseline="3086" sz="2700" spc="-307">
                <a:latin typeface="Arial"/>
                <a:cs typeface="Arial"/>
              </a:rPr>
              <a:t> </a:t>
            </a:r>
            <a:r>
              <a:rPr dirty="0" baseline="3086" sz="2700" spc="-592">
                <a:latin typeface="Arial"/>
                <a:cs typeface="Arial"/>
              </a:rPr>
              <a:t>ج</a:t>
            </a:r>
            <a:r>
              <a:rPr dirty="0" sz="1800" spc="-395">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25">
                <a:latin typeface="Arial"/>
                <a:cs typeface="Arial"/>
              </a:rPr>
              <a:t> </a:t>
            </a:r>
            <a:r>
              <a:rPr dirty="0" baseline="3086" sz="2700" spc="-944">
                <a:latin typeface="Arial"/>
                <a:cs typeface="Arial"/>
              </a:rPr>
              <a:t>سْ</a:t>
            </a:r>
            <a:r>
              <a:rPr dirty="0" baseline="3086" sz="2700" spc="345">
                <a:latin typeface="Arial"/>
                <a:cs typeface="Arial"/>
              </a:rPr>
              <a:t> </a:t>
            </a:r>
            <a:r>
              <a:rPr dirty="0" baseline="3086" sz="2700" spc="-675">
                <a:latin typeface="Arial"/>
                <a:cs typeface="Arial"/>
              </a:rPr>
              <a:t>اف</a:t>
            </a:r>
            <a:r>
              <a:rPr dirty="0" baseline="7716" sz="2700" spc="-675">
                <a:latin typeface="Arial"/>
                <a:cs typeface="Arial"/>
              </a:rPr>
              <a:t>َ </a:t>
            </a:r>
            <a:r>
              <a:rPr dirty="0" baseline="3086" sz="2700" spc="-652">
                <a:latin typeface="Arial"/>
                <a:cs typeface="Arial"/>
              </a:rPr>
              <a:t>لُ </a:t>
            </a:r>
            <a:r>
              <a:rPr dirty="0" baseline="3086" sz="2700" spc="-869">
                <a:latin typeface="Arial"/>
                <a:cs typeface="Arial"/>
              </a:rPr>
              <a:t>بْ</a:t>
            </a:r>
            <a:r>
              <a:rPr dirty="0" baseline="3086" sz="2700" spc="-300">
                <a:latin typeface="Arial"/>
                <a:cs typeface="Arial"/>
              </a:rPr>
              <a:t> </a:t>
            </a:r>
            <a:r>
              <a:rPr dirty="0" baseline="3086" sz="2700" spc="-757">
                <a:latin typeface="Arial"/>
                <a:cs typeface="Arial"/>
              </a:rPr>
              <a:t>ق</a:t>
            </a:r>
            <a:r>
              <a:rPr dirty="0" baseline="7716" sz="2700" spc="-757">
                <a:latin typeface="Arial"/>
                <a:cs typeface="Arial"/>
              </a:rPr>
              <a:t>َ</a:t>
            </a:r>
            <a:r>
              <a:rPr dirty="0" baseline="7716" sz="2700" spc="660">
                <a:latin typeface="Arial"/>
                <a:cs typeface="Arial"/>
              </a:rPr>
              <a:t> </a:t>
            </a:r>
            <a:r>
              <a:rPr dirty="0" baseline="3086" sz="2700" spc="-240">
                <a:latin typeface="Arial"/>
                <a:cs typeface="Arial"/>
              </a:rPr>
              <a:t>نم</a:t>
            </a:r>
            <a:r>
              <a:rPr dirty="0" baseline="1543" sz="2700" spc="-240">
                <a:latin typeface="Arial"/>
                <a:cs typeface="Arial"/>
              </a:rPr>
              <a:t>ِ </a:t>
            </a:r>
            <a:r>
              <a:rPr dirty="0" baseline="3086" sz="2700" spc="-225">
                <a:latin typeface="Arial"/>
                <a:cs typeface="Arial"/>
              </a:rPr>
              <a:t>ىدَ </a:t>
            </a:r>
            <a:r>
              <a:rPr dirty="0" baseline="3086" sz="2700" spc="-412">
                <a:latin typeface="Arial"/>
                <a:cs typeface="Arial"/>
              </a:rPr>
              <a:t>ان</a:t>
            </a:r>
            <a:r>
              <a:rPr dirty="0" baseline="7716" sz="2700" spc="-412">
                <a:latin typeface="Arial"/>
                <a:cs typeface="Arial"/>
              </a:rPr>
              <a:t>َ </a:t>
            </a:r>
            <a:r>
              <a:rPr dirty="0" baseline="3086" sz="2700" spc="-284">
                <a:latin typeface="Arial"/>
                <a:cs typeface="Arial"/>
              </a:rPr>
              <a:t>ذ</a:t>
            </a:r>
            <a:r>
              <a:rPr dirty="0" baseline="16975" sz="2700" spc="-284">
                <a:latin typeface="Arial"/>
                <a:cs typeface="Arial"/>
              </a:rPr>
              <a:t>ْ </a:t>
            </a:r>
            <a:r>
              <a:rPr dirty="0" baseline="-10802" sz="2700">
                <a:latin typeface="Arial"/>
                <a:cs typeface="Arial"/>
              </a:rPr>
              <a:t>ِ</a:t>
            </a:r>
            <a:r>
              <a:rPr dirty="0" baseline="3086" sz="2700">
                <a:latin typeface="Arial"/>
                <a:cs typeface="Arial"/>
              </a:rPr>
              <a:t>إ </a:t>
            </a:r>
            <a:r>
              <a:rPr dirty="0" baseline="3086" sz="2700" spc="-382">
                <a:latin typeface="Arial"/>
                <a:cs typeface="Arial"/>
              </a:rPr>
              <a:t>اح</a:t>
            </a:r>
            <a:r>
              <a:rPr dirty="0" baseline="4629" sz="2700" spc="-382">
                <a:latin typeface="Arial"/>
                <a:cs typeface="Arial"/>
              </a:rPr>
              <a:t>ً </a:t>
            </a:r>
            <a:r>
              <a:rPr dirty="0" baseline="3086" sz="2700" spc="-457">
                <a:latin typeface="Arial"/>
                <a:cs typeface="Arial"/>
              </a:rPr>
              <a:t>ون</a:t>
            </a:r>
            <a:r>
              <a:rPr dirty="0" baseline="10802" sz="2700" spc="-457">
                <a:latin typeface="Arial"/>
                <a:cs typeface="Arial"/>
              </a:rPr>
              <a:t>ُ</a:t>
            </a:r>
            <a:r>
              <a:rPr dirty="0" baseline="10802" sz="2700" spc="-240">
                <a:latin typeface="Arial"/>
                <a:cs typeface="Arial"/>
              </a:rPr>
              <a:t> </a:t>
            </a:r>
            <a:r>
              <a:rPr dirty="0" baseline="3086" sz="2700" spc="-615">
                <a:latin typeface="Arial"/>
                <a:cs typeface="Arial"/>
              </a:rPr>
              <a:t>و</a:t>
            </a:r>
            <a:endParaRPr baseline="3086" sz="2700">
              <a:latin typeface="Arial"/>
              <a:cs typeface="Arial"/>
            </a:endParaRPr>
          </a:p>
          <a:p>
            <a:pPr algn="just" marL="152400" marR="163830">
              <a:lnSpc>
                <a:spcPts val="1380"/>
              </a:lnSpc>
              <a:spcBef>
                <a:spcPts val="1330"/>
              </a:spcBef>
              <a:buAutoNum type="arabicPeriod" startAt="76"/>
              <a:tabLst>
                <a:tab pos="415925" algn="l"/>
              </a:tabLst>
            </a:pPr>
            <a:r>
              <a:rPr dirty="0" sz="1200" spc="-5">
                <a:latin typeface="Arial"/>
                <a:cs typeface="Arial"/>
              </a:rPr>
              <a:t>And Noah, when </a:t>
            </a:r>
            <a:r>
              <a:rPr dirty="0" sz="1200" spc="-10">
                <a:latin typeface="Arial"/>
                <a:cs typeface="Arial"/>
              </a:rPr>
              <a:t>he </a:t>
            </a:r>
            <a:r>
              <a:rPr dirty="0" sz="1200" spc="-5">
                <a:latin typeface="Arial"/>
                <a:cs typeface="Arial"/>
              </a:rPr>
              <a:t>cried of old, </a:t>
            </a:r>
            <a:r>
              <a:rPr dirty="0" sz="1200" spc="20">
                <a:latin typeface="Arial"/>
                <a:cs typeface="Arial"/>
              </a:rPr>
              <a:t>We </a:t>
            </a:r>
            <a:r>
              <a:rPr dirty="0" sz="1200" spc="-5">
                <a:latin typeface="Arial"/>
                <a:cs typeface="Arial"/>
              </a:rPr>
              <a:t>heard his prayer and </a:t>
            </a:r>
            <a:r>
              <a:rPr dirty="0" sz="1200" spc="-10">
                <a:latin typeface="Arial"/>
                <a:cs typeface="Arial"/>
              </a:rPr>
              <a:t>saved </a:t>
            </a:r>
            <a:r>
              <a:rPr dirty="0" sz="1200" spc="-5">
                <a:latin typeface="Arial"/>
                <a:cs typeface="Arial"/>
              </a:rPr>
              <a:t>him and his household  from the great</a:t>
            </a:r>
            <a:r>
              <a:rPr dirty="0" sz="1200">
                <a:latin typeface="Arial"/>
                <a:cs typeface="Arial"/>
              </a:rPr>
              <a:t> </a:t>
            </a:r>
            <a:r>
              <a:rPr dirty="0" sz="1200" spc="-5">
                <a:latin typeface="Arial"/>
                <a:cs typeface="Arial"/>
              </a:rPr>
              <a:t>affliction.</a:t>
            </a:r>
            <a:endParaRPr sz="1200">
              <a:latin typeface="Arial"/>
              <a:cs typeface="Arial"/>
            </a:endParaRPr>
          </a:p>
          <a:p>
            <a:pPr>
              <a:lnSpc>
                <a:spcPct val="100000"/>
              </a:lnSpc>
              <a:spcBef>
                <a:spcPts val="20"/>
              </a:spcBef>
              <a:buFont typeface="Arial"/>
              <a:buAutoNum type="arabicPeriod" startAt="76"/>
            </a:pPr>
            <a:endParaRPr sz="1100">
              <a:latin typeface="Arial"/>
              <a:cs typeface="Arial"/>
            </a:endParaRPr>
          </a:p>
          <a:p>
            <a:pPr algn="r" marR="208279">
              <a:lnSpc>
                <a:spcPct val="100000"/>
              </a:lnSpc>
            </a:pPr>
            <a:r>
              <a:rPr dirty="0" baseline="1543" sz="2700" spc="-494">
                <a:latin typeface="Arial"/>
                <a:cs typeface="Arial"/>
              </a:rPr>
              <a:t>ن</a:t>
            </a:r>
            <a:r>
              <a:rPr dirty="0" baseline="-1543" sz="2700" spc="-494">
                <a:latin typeface="Arial"/>
                <a:cs typeface="Arial"/>
              </a:rPr>
              <a:t>َ </a:t>
            </a:r>
            <a:r>
              <a:rPr dirty="0" baseline="1543" sz="2700" spc="-412">
                <a:latin typeface="Arial"/>
                <a:cs typeface="Arial"/>
              </a:rPr>
              <a:t>ٌع</a:t>
            </a:r>
            <a:r>
              <a:rPr dirty="0" sz="1800" spc="-275">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555">
                <a:latin typeface="Arial"/>
                <a:cs typeface="Arial"/>
              </a:rPr>
              <a:t>جْ </a:t>
            </a:r>
            <a:r>
              <a:rPr dirty="0" baseline="15432" sz="2700">
                <a:latin typeface="Arial"/>
                <a:cs typeface="Arial"/>
              </a:rPr>
              <a:t>َ</a:t>
            </a:r>
            <a:r>
              <a:rPr dirty="0" baseline="1543" sz="2700">
                <a:latin typeface="Arial"/>
                <a:cs typeface="Arial"/>
              </a:rPr>
              <a:t>أ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 </a:t>
            </a:r>
            <a:r>
              <a:rPr dirty="0" baseline="1543" sz="2700" spc="-412">
                <a:latin typeface="Arial"/>
                <a:cs typeface="Arial"/>
              </a:rPr>
              <a:t>ان</a:t>
            </a:r>
            <a:r>
              <a:rPr dirty="0" baseline="6172" sz="2700" spc="-412">
                <a:latin typeface="Arial"/>
                <a:cs typeface="Arial"/>
              </a:rPr>
              <a:t>َ </a:t>
            </a:r>
            <a:r>
              <a:rPr dirty="0" baseline="1543" sz="2700" spc="-719">
                <a:latin typeface="Arial"/>
                <a:cs typeface="Arial"/>
              </a:rPr>
              <a:t>ق</a:t>
            </a:r>
            <a:r>
              <a:rPr dirty="0" baseline="9259" sz="2700" spc="-719">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930">
                <a:latin typeface="Arial"/>
                <a:cs typeface="Arial"/>
              </a:rPr>
              <a:t>ؼ</a:t>
            </a:r>
            <a:r>
              <a:rPr dirty="0" baseline="7716" sz="2700" spc="-930">
                <a:latin typeface="Arial"/>
                <a:cs typeface="Arial"/>
              </a:rPr>
              <a:t>ْ</a:t>
            </a:r>
            <a:r>
              <a:rPr dirty="0" baseline="7716" sz="2700" spc="225">
                <a:latin typeface="Arial"/>
                <a:cs typeface="Arial"/>
              </a:rPr>
              <a:t> </a:t>
            </a:r>
            <a:r>
              <a:rPr dirty="0" baseline="15432" sz="2700" spc="-660">
                <a:latin typeface="Arial"/>
                <a:cs typeface="Arial"/>
              </a:rPr>
              <a:t>َ</a:t>
            </a:r>
            <a:r>
              <a:rPr dirty="0" baseline="1543" sz="2700" spc="-660">
                <a:latin typeface="Arial"/>
                <a:cs typeface="Arial"/>
              </a:rPr>
              <a:t>ؤف</a:t>
            </a:r>
            <a:r>
              <a:rPr dirty="0" baseline="6172" sz="2700" spc="-660">
                <a:latin typeface="Arial"/>
                <a:cs typeface="Arial"/>
              </a:rPr>
              <a:t>َ </a:t>
            </a:r>
            <a:r>
              <a:rPr dirty="0" baseline="1543" sz="2700" spc="-442">
                <a:latin typeface="Arial"/>
                <a:cs typeface="Arial"/>
              </a:rPr>
              <a:t>ء</a:t>
            </a:r>
            <a:r>
              <a:rPr dirty="0" baseline="-1543" sz="2700" spc="-442">
                <a:latin typeface="Arial"/>
                <a:cs typeface="Arial"/>
              </a:rPr>
              <a:t>ٍ </a:t>
            </a:r>
            <a:r>
              <a:rPr dirty="0" baseline="1543" sz="2700" spc="-270">
                <a:latin typeface="Arial"/>
                <a:cs typeface="Arial"/>
              </a:rPr>
              <a:t>وْ </a:t>
            </a:r>
            <a:r>
              <a:rPr dirty="0" baseline="1543" sz="2700" spc="-989">
                <a:latin typeface="Arial"/>
                <a:cs typeface="Arial"/>
              </a:rPr>
              <a:t>س</a:t>
            </a:r>
            <a:r>
              <a:rPr dirty="0" baseline="-1543" sz="2700" spc="-989">
                <a:latin typeface="Arial"/>
                <a:cs typeface="Arial"/>
              </a:rPr>
              <a:t>َ</a:t>
            </a:r>
            <a:r>
              <a:rPr dirty="0" baseline="-1543" sz="2700" spc="1185">
                <a:latin typeface="Arial"/>
                <a:cs typeface="Arial"/>
              </a:rPr>
              <a:t> </a:t>
            </a:r>
            <a:r>
              <a:rPr dirty="0" baseline="1543" sz="2700" spc="-390">
                <a:latin typeface="Arial"/>
                <a:cs typeface="Arial"/>
              </a:rPr>
              <a:t>م</a:t>
            </a:r>
            <a:r>
              <a:rPr dirty="0" baseline="-7716" sz="2700" spc="-390">
                <a:latin typeface="Arial"/>
                <a:cs typeface="Arial"/>
              </a:rPr>
              <a:t>َ </a:t>
            </a:r>
            <a:r>
              <a:rPr dirty="0" baseline="1543" sz="2700" spc="-270">
                <a:latin typeface="Arial"/>
                <a:cs typeface="Arial"/>
              </a:rPr>
              <a:t>وْ </a:t>
            </a:r>
            <a:r>
              <a:rPr dirty="0" baseline="1543" sz="2700" spc="-757">
                <a:latin typeface="Arial"/>
                <a:cs typeface="Arial"/>
              </a:rPr>
              <a:t>ق</a:t>
            </a:r>
            <a:r>
              <a:rPr dirty="0" baseline="6172" sz="2700" spc="-757">
                <a:latin typeface="Arial"/>
                <a:cs typeface="Arial"/>
              </a:rPr>
              <a:t>َ</a:t>
            </a:r>
            <a:r>
              <a:rPr dirty="0" baseline="6172" sz="2700" spc="667">
                <a:latin typeface="Arial"/>
                <a:cs typeface="Arial"/>
              </a:rPr>
              <a:t> </a:t>
            </a:r>
            <a:r>
              <a:rPr dirty="0" baseline="1543" sz="2700" spc="-345">
                <a:latin typeface="Arial"/>
                <a:cs typeface="Arial"/>
              </a:rPr>
              <a:t>اون</a:t>
            </a:r>
            <a:r>
              <a:rPr dirty="0" baseline="9259" sz="2700" spc="-345">
                <a:latin typeface="Arial"/>
                <a:cs typeface="Arial"/>
              </a:rPr>
              <a:t>ُ </a:t>
            </a:r>
            <a:r>
              <a:rPr dirty="0" baseline="1543" sz="2700" spc="-472">
                <a:latin typeface="Arial"/>
                <a:cs typeface="Arial"/>
              </a:rPr>
              <a:t>اك</a:t>
            </a:r>
            <a:r>
              <a:rPr dirty="0" baseline="6172" sz="2700" spc="-472">
                <a:latin typeface="Arial"/>
                <a:cs typeface="Arial"/>
              </a:rPr>
              <a:t>َ </a:t>
            </a:r>
            <a:r>
              <a:rPr dirty="0" baseline="1543" sz="2700" spc="-359">
                <a:latin typeface="Arial"/>
                <a:cs typeface="Arial"/>
              </a:rPr>
              <a:t>م</a:t>
            </a:r>
            <a:r>
              <a:rPr dirty="0" baseline="-3086" sz="2700" spc="-359">
                <a:latin typeface="Arial"/>
                <a:cs typeface="Arial"/>
              </a:rPr>
              <a:t>ْ </a:t>
            </a:r>
            <a:r>
              <a:rPr dirty="0" baseline="1543" sz="2700" spc="-359">
                <a:latin typeface="Arial"/>
                <a:cs typeface="Arial"/>
              </a:rPr>
              <a:t>هُ </a:t>
            </a:r>
            <a:r>
              <a:rPr dirty="0" baseline="1543" sz="2700" spc="-442">
                <a:latin typeface="Arial"/>
                <a:cs typeface="Arial"/>
              </a:rPr>
              <a:t>ن</a:t>
            </a:r>
            <a:r>
              <a:rPr dirty="0" baseline="9259" sz="2700" spc="-442">
                <a:latin typeface="Arial"/>
                <a:cs typeface="Arial"/>
              </a:rPr>
              <a:t>َّ </a:t>
            </a:r>
            <a:r>
              <a:rPr dirty="0" baseline="-12345" sz="2700">
                <a:latin typeface="Arial"/>
                <a:cs typeface="Arial"/>
              </a:rPr>
              <a:t>ِ</a:t>
            </a:r>
            <a:r>
              <a:rPr dirty="0" baseline="1543" sz="2700">
                <a:latin typeface="Arial"/>
                <a:cs typeface="Arial"/>
              </a:rPr>
              <a:t>إ </a:t>
            </a:r>
            <a:r>
              <a:rPr dirty="0" baseline="1543" sz="2700" spc="-412">
                <a:latin typeface="Arial"/>
                <a:cs typeface="Arial"/>
              </a:rPr>
              <a:t>ان</a:t>
            </a:r>
            <a:r>
              <a:rPr dirty="0" baseline="6172" sz="2700" spc="-412">
                <a:latin typeface="Arial"/>
                <a:cs typeface="Arial"/>
              </a:rPr>
              <a:t>َ </a:t>
            </a:r>
            <a:r>
              <a:rPr dirty="0" baseline="1543" sz="2700" spc="-967">
                <a:latin typeface="Arial"/>
                <a:cs typeface="Arial"/>
              </a:rPr>
              <a:t>ت</a:t>
            </a:r>
            <a:r>
              <a:rPr dirty="0" sz="1800" spc="-645">
                <a:latin typeface="Arial"/>
                <a:cs typeface="Arial"/>
              </a:rPr>
              <a:t>ِ</a:t>
            </a:r>
            <a:r>
              <a:rPr dirty="0" sz="1800" spc="-70">
                <a:latin typeface="Arial"/>
                <a:cs typeface="Arial"/>
              </a:rPr>
              <a:t> </a:t>
            </a:r>
            <a:r>
              <a:rPr dirty="0" baseline="1543" sz="2700" spc="15">
                <a:latin typeface="Arial"/>
                <a:cs typeface="Arial"/>
              </a:rPr>
              <a:t>اٌ</a:t>
            </a:r>
            <a:r>
              <a:rPr dirty="0" baseline="-1543" sz="2700" spc="15">
                <a:latin typeface="Arial"/>
                <a:cs typeface="Arial"/>
              </a:rPr>
              <a:t>َ </a:t>
            </a:r>
            <a:r>
              <a:rPr dirty="0" baseline="1543" sz="2700" spc="-622">
                <a:latin typeface="Arial"/>
                <a:cs typeface="Arial"/>
              </a:rPr>
              <a:t>آب</a:t>
            </a:r>
            <a:r>
              <a:rPr dirty="0" baseline="-12345" sz="2700" spc="-622">
                <a:latin typeface="Arial"/>
                <a:cs typeface="Arial"/>
              </a:rPr>
              <a:t>ِ </a:t>
            </a:r>
            <a:r>
              <a:rPr dirty="0" baseline="1543" sz="2700" spc="-472">
                <a:latin typeface="Arial"/>
                <a:cs typeface="Arial"/>
              </a:rPr>
              <a:t>اوبُ </a:t>
            </a:r>
            <a:r>
              <a:rPr dirty="0" baseline="1543" sz="2700" spc="-232">
                <a:latin typeface="Arial"/>
                <a:cs typeface="Arial"/>
              </a:rPr>
              <a:t>ذ</a:t>
            </a:r>
            <a:r>
              <a:rPr dirty="0" baseline="13888" sz="2700" spc="-232">
                <a:latin typeface="Arial"/>
                <a:cs typeface="Arial"/>
              </a:rPr>
              <a:t>َّ </a:t>
            </a:r>
            <a:r>
              <a:rPr dirty="0" baseline="1543" sz="2700" spc="-719">
                <a:latin typeface="Arial"/>
                <a:cs typeface="Arial"/>
              </a:rPr>
              <a:t>ك</a:t>
            </a:r>
            <a:r>
              <a:rPr dirty="0" baseline="6172" sz="2700" spc="-719">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40">
                <a:latin typeface="Arial"/>
                <a:cs typeface="Arial"/>
              </a:rPr>
              <a:t>ٌذ</a:t>
            </a:r>
            <a:r>
              <a:rPr dirty="0" sz="1800" spc="-160">
                <a:latin typeface="Arial"/>
                <a:cs typeface="Arial"/>
              </a:rPr>
              <a:t>ِ </a:t>
            </a:r>
            <a:r>
              <a:rPr dirty="0" baseline="10802" sz="2700" spc="-209">
                <a:latin typeface="Arial"/>
                <a:cs typeface="Arial"/>
              </a:rPr>
              <a:t>َّ</a:t>
            </a:r>
            <a:r>
              <a:rPr dirty="0" baseline="1543" sz="2700" spc="-209">
                <a:latin typeface="Arial"/>
                <a:cs typeface="Arial"/>
              </a:rPr>
              <a:t>لا </a:t>
            </a:r>
            <a:r>
              <a:rPr dirty="0" baseline="1543" sz="2700" spc="-315">
                <a:latin typeface="Arial"/>
                <a:cs typeface="Arial"/>
              </a:rPr>
              <a:t>م</a:t>
            </a:r>
            <a:r>
              <a:rPr dirty="0" baseline="-16975" sz="2700" spc="-315">
                <a:latin typeface="Arial"/>
                <a:cs typeface="Arial"/>
              </a:rPr>
              <a:t>ِ </a:t>
            </a:r>
            <a:r>
              <a:rPr dirty="0" baseline="1543" sz="2700" spc="-270">
                <a:latin typeface="Arial"/>
                <a:cs typeface="Arial"/>
              </a:rPr>
              <a:t>وْ </a:t>
            </a:r>
            <a:r>
              <a:rPr dirty="0" baseline="1543" sz="2700" spc="-750">
                <a:latin typeface="Arial"/>
                <a:cs typeface="Arial"/>
              </a:rPr>
              <a:t>ق</a:t>
            </a:r>
            <a:r>
              <a:rPr dirty="0" baseline="6172" sz="2700" spc="-750">
                <a:latin typeface="Arial"/>
                <a:cs typeface="Arial"/>
              </a:rPr>
              <a:t>َ</a:t>
            </a:r>
            <a:r>
              <a:rPr dirty="0" baseline="1543" sz="2700" spc="-652">
                <a:latin typeface="Arial"/>
                <a:cs typeface="Arial"/>
              </a:rPr>
              <a:t>ل</a:t>
            </a:r>
            <a:r>
              <a:rPr dirty="0" baseline="12345" sz="2700" spc="-652">
                <a:latin typeface="Arial"/>
                <a:cs typeface="Arial"/>
              </a:rPr>
              <a:t>ْ </a:t>
            </a:r>
            <a:r>
              <a:rPr dirty="0" baseline="1543" sz="2700">
                <a:latin typeface="Arial"/>
                <a:cs typeface="Arial"/>
              </a:rPr>
              <a:t>ا </a:t>
            </a:r>
            <a:r>
              <a:rPr dirty="0" baseline="1543" sz="2700" spc="-494">
                <a:latin typeface="Arial"/>
                <a:cs typeface="Arial"/>
              </a:rPr>
              <a:t>ن</a:t>
            </a:r>
            <a:r>
              <a:rPr dirty="0" baseline="-1543" sz="2700" spc="-494">
                <a:latin typeface="Arial"/>
                <a:cs typeface="Arial"/>
              </a:rPr>
              <a:t>َ </a:t>
            </a:r>
            <a:r>
              <a:rPr dirty="0" baseline="1543" sz="2700" spc="-352">
                <a:latin typeface="Arial"/>
                <a:cs typeface="Arial"/>
              </a:rPr>
              <a:t>م</a:t>
            </a:r>
            <a:r>
              <a:rPr dirty="0" sz="1800" spc="-235">
                <a:latin typeface="Arial"/>
                <a:cs typeface="Arial"/>
              </a:rPr>
              <a:t>ِ </a:t>
            </a:r>
            <a:r>
              <a:rPr dirty="0" baseline="1543" sz="2700" spc="-254">
                <a:latin typeface="Arial"/>
                <a:cs typeface="Arial"/>
              </a:rPr>
              <a:t>ُهان</a:t>
            </a:r>
            <a:r>
              <a:rPr dirty="0" baseline="6172" sz="2700" spc="-254">
                <a:latin typeface="Arial"/>
                <a:cs typeface="Arial"/>
              </a:rPr>
              <a:t>َ</a:t>
            </a:r>
            <a:r>
              <a:rPr dirty="0" baseline="6172" sz="2700" spc="-225">
                <a:latin typeface="Arial"/>
                <a:cs typeface="Arial"/>
              </a:rPr>
              <a:t> </a:t>
            </a:r>
            <a:r>
              <a:rPr dirty="0" baseline="1543" sz="2700" spc="-457">
                <a:latin typeface="Arial"/>
                <a:cs typeface="Arial"/>
              </a:rPr>
              <a:t>رْ </a:t>
            </a:r>
            <a:r>
              <a:rPr dirty="0" baseline="1543" sz="2700" spc="-1350">
                <a:latin typeface="Arial"/>
                <a:cs typeface="Arial"/>
              </a:rPr>
              <a:t>ص</a:t>
            </a:r>
            <a:r>
              <a:rPr dirty="0" baseline="-1543" sz="2700" spc="-1350">
                <a:latin typeface="Arial"/>
                <a:cs typeface="Arial"/>
              </a:rPr>
              <a:t>َ</a:t>
            </a:r>
            <a:r>
              <a:rPr dirty="0" baseline="-1543" sz="2700" spc="1275">
                <a:latin typeface="Arial"/>
                <a:cs typeface="Arial"/>
              </a:rPr>
              <a:t> </a:t>
            </a:r>
            <a:r>
              <a:rPr dirty="0" baseline="1543" sz="2700" spc="-644">
                <a:latin typeface="Arial"/>
                <a:cs typeface="Arial"/>
              </a:rPr>
              <a:t>ن</a:t>
            </a:r>
            <a:r>
              <a:rPr dirty="0" baseline="6172" sz="2700" spc="-644">
                <a:latin typeface="Arial"/>
                <a:cs typeface="Arial"/>
              </a:rPr>
              <a:t>َ </a:t>
            </a:r>
            <a:r>
              <a:rPr dirty="0" baseline="1543" sz="2700" spc="-615">
                <a:latin typeface="Arial"/>
                <a:cs typeface="Arial"/>
              </a:rPr>
              <a:t>و</a:t>
            </a:r>
            <a:endParaRPr baseline="1543" sz="2700">
              <a:latin typeface="Arial"/>
              <a:cs typeface="Arial"/>
            </a:endParaRPr>
          </a:p>
          <a:p>
            <a:pPr algn="just" marL="152400" marR="157480">
              <a:lnSpc>
                <a:spcPts val="1380"/>
              </a:lnSpc>
              <a:spcBef>
                <a:spcPts val="1380"/>
              </a:spcBef>
              <a:buAutoNum type="arabicPeriod" startAt="77"/>
              <a:tabLst>
                <a:tab pos="427990" algn="l"/>
              </a:tabLst>
            </a:pPr>
            <a:r>
              <a:rPr dirty="0" sz="1200" spc="-5">
                <a:latin typeface="Arial"/>
                <a:cs typeface="Arial"/>
              </a:rPr>
              <a:t>And delivered him from </a:t>
            </a:r>
            <a:r>
              <a:rPr dirty="0" sz="1200">
                <a:latin typeface="Arial"/>
                <a:cs typeface="Arial"/>
              </a:rPr>
              <a:t>the </a:t>
            </a:r>
            <a:r>
              <a:rPr dirty="0" sz="1200" spc="-5">
                <a:latin typeface="Arial"/>
                <a:cs typeface="Arial"/>
              </a:rPr>
              <a:t>people </a:t>
            </a:r>
            <a:r>
              <a:rPr dirty="0" sz="1200" spc="-10">
                <a:latin typeface="Arial"/>
                <a:cs typeface="Arial"/>
              </a:rPr>
              <a:t>who </a:t>
            </a:r>
            <a:r>
              <a:rPr dirty="0" sz="1200" spc="-5">
                <a:latin typeface="Arial"/>
                <a:cs typeface="Arial"/>
              </a:rPr>
              <a:t>denied </a:t>
            </a:r>
            <a:r>
              <a:rPr dirty="0" sz="1200">
                <a:latin typeface="Arial"/>
                <a:cs typeface="Arial"/>
              </a:rPr>
              <a:t>Our </a:t>
            </a:r>
            <a:r>
              <a:rPr dirty="0" sz="1200" spc="-5">
                <a:latin typeface="Arial"/>
                <a:cs typeface="Arial"/>
              </a:rPr>
              <a:t>revelations. Lo! </a:t>
            </a:r>
            <a:r>
              <a:rPr dirty="0" sz="1200">
                <a:latin typeface="Arial"/>
                <a:cs typeface="Arial"/>
              </a:rPr>
              <a:t>They </a:t>
            </a:r>
            <a:r>
              <a:rPr dirty="0" sz="1200" spc="-5">
                <a:latin typeface="Arial"/>
                <a:cs typeface="Arial"/>
              </a:rPr>
              <a:t>were </a:t>
            </a:r>
            <a:r>
              <a:rPr dirty="0" sz="1200">
                <a:latin typeface="Arial"/>
                <a:cs typeface="Arial"/>
              </a:rPr>
              <a:t>folk of  </a:t>
            </a:r>
            <a:r>
              <a:rPr dirty="0" sz="1200" spc="-5">
                <a:latin typeface="Arial"/>
                <a:cs typeface="Arial"/>
              </a:rPr>
              <a:t>evil; therefor did </a:t>
            </a:r>
            <a:r>
              <a:rPr dirty="0" sz="1200" spc="15">
                <a:latin typeface="Arial"/>
                <a:cs typeface="Arial"/>
              </a:rPr>
              <a:t>We </a:t>
            </a:r>
            <a:r>
              <a:rPr dirty="0" sz="1200" spc="-10">
                <a:latin typeface="Arial"/>
                <a:cs typeface="Arial"/>
              </a:rPr>
              <a:t>drown </a:t>
            </a:r>
            <a:r>
              <a:rPr dirty="0" sz="1200">
                <a:latin typeface="Arial"/>
                <a:cs typeface="Arial"/>
              </a:rPr>
              <a:t>them</a:t>
            </a:r>
            <a:r>
              <a:rPr dirty="0" sz="1200" spc="-15">
                <a:latin typeface="Arial"/>
                <a:cs typeface="Arial"/>
              </a:rPr>
              <a:t> </a:t>
            </a:r>
            <a:r>
              <a:rPr dirty="0" sz="1200" spc="-5">
                <a:latin typeface="Arial"/>
                <a:cs typeface="Arial"/>
              </a:rPr>
              <a:t>all.</a:t>
            </a:r>
            <a:endParaRPr sz="1200">
              <a:latin typeface="Arial"/>
              <a:cs typeface="Arial"/>
            </a:endParaRPr>
          </a:p>
          <a:p>
            <a:pPr>
              <a:lnSpc>
                <a:spcPct val="100000"/>
              </a:lnSpc>
              <a:spcBef>
                <a:spcPts val="20"/>
              </a:spcBef>
            </a:pPr>
            <a:endParaRPr sz="1100">
              <a:latin typeface="Arial"/>
              <a:cs typeface="Arial"/>
            </a:endParaRPr>
          </a:p>
          <a:p>
            <a:pPr marL="152400">
              <a:lnSpc>
                <a:spcPct val="100000"/>
              </a:lnSpc>
            </a:pPr>
            <a:r>
              <a:rPr dirty="0" u="heavy" sz="1200" spc="-5" b="1" i="1">
                <a:uFill>
                  <a:solidFill>
                    <a:srgbClr val="000000"/>
                  </a:solidFill>
                </a:uFill>
                <a:latin typeface="Arial"/>
                <a:cs typeface="Arial"/>
              </a:rPr>
              <a:t>Hazrat Dawood (as) and Hazrat Sulaiman</a:t>
            </a:r>
            <a:r>
              <a:rPr dirty="0" u="heavy" sz="1200" spc="25" b="1" i="1">
                <a:uFill>
                  <a:solidFill>
                    <a:srgbClr val="000000"/>
                  </a:solidFill>
                </a:uFill>
                <a:latin typeface="Arial"/>
                <a:cs typeface="Arial"/>
              </a:rPr>
              <a:t> </a:t>
            </a:r>
            <a:r>
              <a:rPr dirty="0" u="heavy" sz="1200" spc="-10" b="1" i="1">
                <a:uFill>
                  <a:solidFill>
                    <a:srgbClr val="000000"/>
                  </a:solidFill>
                </a:uFill>
                <a:latin typeface="Arial"/>
                <a:cs typeface="Arial"/>
              </a:rPr>
              <a:t>(as)</a:t>
            </a:r>
            <a:endParaRPr sz="1200">
              <a:latin typeface="Arial"/>
              <a:cs typeface="Arial"/>
            </a:endParaRPr>
          </a:p>
          <a:p>
            <a:pPr>
              <a:lnSpc>
                <a:spcPct val="100000"/>
              </a:lnSpc>
              <a:spcBef>
                <a:spcPts val="35"/>
              </a:spcBef>
            </a:pPr>
            <a:endParaRPr sz="1200">
              <a:latin typeface="Arial"/>
              <a:cs typeface="Arial"/>
            </a:endParaRPr>
          </a:p>
          <a:p>
            <a:pPr algn="just" marL="152400" marR="165100">
              <a:lnSpc>
                <a:spcPts val="1380"/>
              </a:lnSpc>
            </a:pPr>
            <a:r>
              <a:rPr dirty="0" sz="1200">
                <a:latin typeface="Arial"/>
                <a:cs typeface="Arial"/>
              </a:rPr>
              <a:t>This </a:t>
            </a:r>
            <a:r>
              <a:rPr dirty="0" sz="1200" spc="-5">
                <a:latin typeface="Arial"/>
                <a:cs typeface="Arial"/>
              </a:rPr>
              <a:t>is the story </a:t>
            </a:r>
            <a:r>
              <a:rPr dirty="0" sz="1200">
                <a:latin typeface="Arial"/>
                <a:cs typeface="Arial"/>
              </a:rPr>
              <a:t>of </a:t>
            </a:r>
            <a:r>
              <a:rPr dirty="0" sz="1200" spc="-5">
                <a:latin typeface="Arial"/>
                <a:cs typeface="Arial"/>
              </a:rPr>
              <a:t>the </a:t>
            </a:r>
            <a:r>
              <a:rPr dirty="0" sz="1200">
                <a:latin typeface="Arial"/>
                <a:cs typeface="Arial"/>
              </a:rPr>
              <a:t>father </a:t>
            </a:r>
            <a:r>
              <a:rPr dirty="0" sz="1200" spc="-5">
                <a:latin typeface="Arial"/>
                <a:cs typeface="Arial"/>
              </a:rPr>
              <a:t>and the son, both prophets. </a:t>
            </a:r>
            <a:r>
              <a:rPr dirty="0" sz="1200">
                <a:latin typeface="Arial"/>
                <a:cs typeface="Arial"/>
              </a:rPr>
              <a:t>They </a:t>
            </a:r>
            <a:r>
              <a:rPr dirty="0" sz="1200" spc="-10">
                <a:latin typeface="Arial"/>
                <a:cs typeface="Arial"/>
              </a:rPr>
              <a:t>had </a:t>
            </a:r>
            <a:r>
              <a:rPr dirty="0" sz="1200" spc="-5">
                <a:latin typeface="Arial"/>
                <a:cs typeface="Arial"/>
              </a:rPr>
              <a:t>their specific characters  with their own way </a:t>
            </a:r>
            <a:r>
              <a:rPr dirty="0" sz="1200">
                <a:latin typeface="Arial"/>
                <a:cs typeface="Arial"/>
              </a:rPr>
              <a:t>of</a:t>
            </a:r>
            <a:r>
              <a:rPr dirty="0" sz="1200" spc="-10">
                <a:latin typeface="Arial"/>
                <a:cs typeface="Arial"/>
              </a:rPr>
              <a:t> </a:t>
            </a:r>
            <a:r>
              <a:rPr dirty="0" sz="1200" spc="-5">
                <a:latin typeface="Arial"/>
                <a:cs typeface="Arial"/>
              </a:rPr>
              <a:t>miracles.</a:t>
            </a:r>
            <a:endParaRPr sz="1200">
              <a:latin typeface="Arial"/>
              <a:cs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496316" y="799592"/>
            <a:ext cx="6398260" cy="1172210"/>
          </a:xfrm>
          <a:prstGeom prst="rect">
            <a:avLst/>
          </a:prstGeom>
        </p:spPr>
        <p:txBody>
          <a:bodyPr wrap="square" lIns="0" tIns="12700" rIns="0" bIns="0" rtlCol="0" vert="horz">
            <a:spAutoFit/>
          </a:bodyPr>
          <a:lstStyle/>
          <a:p>
            <a:pPr marL="50800">
              <a:lnSpc>
                <a:spcPct val="100000"/>
              </a:lnSpc>
              <a:spcBef>
                <a:spcPts val="100"/>
              </a:spcBef>
            </a:pPr>
            <a:r>
              <a:rPr dirty="0" sz="1200" spc="-5">
                <a:latin typeface="Arial"/>
                <a:cs typeface="Arial"/>
              </a:rPr>
              <a:t>Allah says:</a:t>
            </a:r>
            <a:endParaRPr sz="1200">
              <a:latin typeface="Arial"/>
              <a:cs typeface="Arial"/>
            </a:endParaRPr>
          </a:p>
          <a:p>
            <a:pPr>
              <a:lnSpc>
                <a:spcPct val="100000"/>
              </a:lnSpc>
              <a:spcBef>
                <a:spcPts val="55"/>
              </a:spcBef>
            </a:pPr>
            <a:endParaRPr sz="1100">
              <a:latin typeface="Arial"/>
              <a:cs typeface="Arial"/>
            </a:endParaRPr>
          </a:p>
          <a:p>
            <a:pPr marL="428625">
              <a:lnSpc>
                <a:spcPct val="100000"/>
              </a:lnSpc>
            </a:pPr>
            <a:r>
              <a:rPr dirty="0" baseline="1543" sz="2700" spc="-509">
                <a:latin typeface="Arial"/>
                <a:cs typeface="Arial"/>
              </a:rPr>
              <a:t>ن</a:t>
            </a:r>
            <a:r>
              <a:rPr dirty="0" baseline="-1543" sz="2700" spc="-509">
                <a:latin typeface="Arial"/>
                <a:cs typeface="Arial"/>
              </a:rPr>
              <a:t>َ </a:t>
            </a:r>
            <a:r>
              <a:rPr dirty="0" baseline="1543" sz="2700" spc="-232">
                <a:latin typeface="Arial"/>
                <a:cs typeface="Arial"/>
              </a:rPr>
              <a:t>ٌد</a:t>
            </a:r>
            <a:r>
              <a:rPr dirty="0" sz="1800" spc="-155">
                <a:latin typeface="Arial"/>
                <a:cs typeface="Arial"/>
              </a:rPr>
              <a:t>ِ </a:t>
            </a:r>
            <a:r>
              <a:rPr dirty="0" baseline="1543" sz="2700" spc="-307">
                <a:latin typeface="Arial"/>
                <a:cs typeface="Arial"/>
              </a:rPr>
              <a:t>ه</a:t>
            </a:r>
            <a:r>
              <a:rPr dirty="0" sz="1800" spc="-204">
                <a:latin typeface="Arial"/>
                <a:cs typeface="Arial"/>
              </a:rPr>
              <a:t>ِ </a:t>
            </a:r>
            <a:r>
              <a:rPr dirty="0" baseline="1543" sz="2700" spc="-682">
                <a:latin typeface="Arial"/>
                <a:cs typeface="Arial"/>
              </a:rPr>
              <a:t>اش</a:t>
            </a:r>
            <a:r>
              <a:rPr dirty="0" baseline="6172" sz="2700" spc="-682">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a:t>
            </a:r>
            <a:r>
              <a:rPr dirty="0" baseline="-10802" sz="2700" spc="-307">
                <a:latin typeface="Arial"/>
                <a:cs typeface="Arial"/>
              </a:rPr>
              <a:t>ِ </a:t>
            </a:r>
            <a:r>
              <a:rPr dirty="0" baseline="1543" sz="2700" spc="-352">
                <a:latin typeface="Arial"/>
                <a:cs typeface="Arial"/>
              </a:rPr>
              <a:t>م</a:t>
            </a:r>
            <a:r>
              <a:rPr dirty="0" sz="1800" spc="-235">
                <a:latin typeface="Arial"/>
                <a:cs typeface="Arial"/>
              </a:rPr>
              <a:t>ِ </a:t>
            </a:r>
            <a:r>
              <a:rPr dirty="0" baseline="1543" sz="2700" spc="-682">
                <a:latin typeface="Arial"/>
                <a:cs typeface="Arial"/>
              </a:rPr>
              <a:t>ك</a:t>
            </a:r>
            <a:r>
              <a:rPr dirty="0" baseline="9259" sz="2700" spc="-682">
                <a:latin typeface="Arial"/>
                <a:cs typeface="Arial"/>
              </a:rPr>
              <a:t>ْ </a:t>
            </a:r>
            <a:r>
              <a:rPr dirty="0" baseline="1543" sz="2700" spc="-630">
                <a:latin typeface="Arial"/>
                <a:cs typeface="Arial"/>
              </a:rPr>
              <a:t>حُ </a:t>
            </a:r>
            <a:r>
              <a:rPr dirty="0" sz="1800" spc="-270">
                <a:latin typeface="Arial"/>
                <a:cs typeface="Arial"/>
              </a:rPr>
              <a:t>ِ</a:t>
            </a:r>
            <a:r>
              <a:rPr dirty="0" baseline="1543" sz="2700" spc="-405">
                <a:latin typeface="Arial"/>
                <a:cs typeface="Arial"/>
              </a:rPr>
              <a:t>ل </a:t>
            </a:r>
            <a:r>
              <a:rPr dirty="0" baseline="1543" sz="2700" spc="-322">
                <a:latin typeface="Arial"/>
                <a:cs typeface="Arial"/>
              </a:rPr>
              <a:t>ان</a:t>
            </a:r>
            <a:r>
              <a:rPr dirty="0" baseline="9259" sz="2700" spc="-32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79">
                <a:latin typeface="Arial"/>
                <a:cs typeface="Arial"/>
              </a:rPr>
              <a:t> </a:t>
            </a:r>
            <a:r>
              <a:rPr dirty="0" baseline="1543" sz="2700" spc="-315">
                <a:latin typeface="Arial"/>
                <a:cs typeface="Arial"/>
              </a:rPr>
              <a:t>و</a:t>
            </a:r>
            <a:r>
              <a:rPr dirty="0" baseline="-1543" sz="2700" spc="-315">
                <a:latin typeface="Arial"/>
                <a:cs typeface="Arial"/>
              </a:rPr>
              <a:t>َ </a:t>
            </a:r>
            <a:r>
              <a:rPr dirty="0" baseline="1543" sz="2700" spc="-315">
                <a:latin typeface="Arial"/>
                <a:cs typeface="Arial"/>
              </a:rPr>
              <a:t>م</a:t>
            </a:r>
            <a:r>
              <a:rPr dirty="0" baseline="-16975" sz="2700" spc="-315">
                <a:latin typeface="Arial"/>
                <a:cs typeface="Arial"/>
              </a:rPr>
              <a:t>ِ </a:t>
            </a:r>
            <a:r>
              <a:rPr dirty="0" baseline="1543" sz="2700" spc="-270">
                <a:latin typeface="Arial"/>
                <a:cs typeface="Arial"/>
              </a:rPr>
              <a:t>وْ </a:t>
            </a:r>
            <a:r>
              <a:rPr dirty="0" baseline="1543" sz="2700" spc="-750">
                <a:latin typeface="Arial"/>
                <a:cs typeface="Arial"/>
              </a:rPr>
              <a:t>ق</a:t>
            </a:r>
            <a:r>
              <a:rPr dirty="0" baseline="6172" sz="2700" spc="-750">
                <a:latin typeface="Arial"/>
                <a:cs typeface="Arial"/>
              </a:rPr>
              <a:t>َ</a:t>
            </a:r>
            <a:r>
              <a:rPr dirty="0" baseline="1543" sz="2700" spc="-652">
                <a:latin typeface="Arial"/>
                <a:cs typeface="Arial"/>
              </a:rPr>
              <a:t>ل</a:t>
            </a:r>
            <a:r>
              <a:rPr dirty="0" baseline="12345" sz="2700" spc="-652">
                <a:latin typeface="Arial"/>
                <a:cs typeface="Arial"/>
              </a:rPr>
              <a:t>ْ </a:t>
            </a:r>
            <a:r>
              <a:rPr dirty="0" baseline="1543" sz="2700">
                <a:latin typeface="Arial"/>
                <a:cs typeface="Arial"/>
              </a:rPr>
              <a:t>ا </a:t>
            </a:r>
            <a:r>
              <a:rPr dirty="0" baseline="1543" sz="2700" spc="-427">
                <a:latin typeface="Arial"/>
                <a:cs typeface="Arial"/>
              </a:rPr>
              <a:t>م</a:t>
            </a:r>
            <a:r>
              <a:rPr dirty="0" baseline="-4629" sz="2700" spc="-427">
                <a:latin typeface="Arial"/>
                <a:cs typeface="Arial"/>
              </a:rPr>
              <a:t>ُ </a:t>
            </a:r>
            <a:r>
              <a:rPr dirty="0" baseline="1543" sz="2700" spc="-652">
                <a:latin typeface="Arial"/>
                <a:cs typeface="Arial"/>
              </a:rPr>
              <a:t>ن</a:t>
            </a:r>
            <a:r>
              <a:rPr dirty="0" baseline="6172" sz="2700" spc="-652">
                <a:latin typeface="Arial"/>
                <a:cs typeface="Arial"/>
              </a:rPr>
              <a:t>َ </a:t>
            </a:r>
            <a:r>
              <a:rPr dirty="0" baseline="1543" sz="2700" spc="-967">
                <a:latin typeface="Arial"/>
                <a:cs typeface="Arial"/>
              </a:rPr>
              <a:t>ؼ</a:t>
            </a:r>
            <a:r>
              <a:rPr dirty="0" baseline="3086" sz="2700" spc="-967">
                <a:latin typeface="Arial"/>
                <a:cs typeface="Arial"/>
              </a:rPr>
              <a:t>َ</a:t>
            </a:r>
            <a:r>
              <a:rPr dirty="0" baseline="3086" sz="2700" spc="1162">
                <a:latin typeface="Arial"/>
                <a:cs typeface="Arial"/>
              </a:rPr>
              <a:t> </a:t>
            </a:r>
            <a:r>
              <a:rPr dirty="0" baseline="1543" sz="2700" spc="-337">
                <a:latin typeface="Arial"/>
                <a:cs typeface="Arial"/>
              </a:rPr>
              <a:t>ه</a:t>
            </a:r>
            <a:r>
              <a:rPr dirty="0" sz="1800" spc="-225">
                <a:latin typeface="Arial"/>
                <a:cs typeface="Arial"/>
              </a:rPr>
              <a:t>ِ </a:t>
            </a:r>
            <a:r>
              <a:rPr dirty="0" baseline="1543" sz="2700" spc="-705">
                <a:latin typeface="Arial"/>
                <a:cs typeface="Arial"/>
              </a:rPr>
              <a:t>ٌف</a:t>
            </a:r>
            <a:r>
              <a:rPr dirty="0" sz="1800" spc="-470">
                <a:latin typeface="Arial"/>
                <a:cs typeface="Arial"/>
              </a:rPr>
              <a:t>ِ </a:t>
            </a:r>
            <a:r>
              <a:rPr dirty="0" baseline="1543" sz="2700" spc="-735">
                <a:latin typeface="Arial"/>
                <a:cs typeface="Arial"/>
              </a:rPr>
              <a:t>ت</a:t>
            </a:r>
            <a:r>
              <a:rPr dirty="0" baseline="7716" sz="2700" spc="-735">
                <a:latin typeface="Arial"/>
                <a:cs typeface="Arial"/>
              </a:rPr>
              <a:t>ْ </a:t>
            </a:r>
            <a:r>
              <a:rPr dirty="0" baseline="1543" sz="2700" spc="-1042">
                <a:latin typeface="Arial"/>
                <a:cs typeface="Arial"/>
              </a:rPr>
              <a:t>ش</a:t>
            </a:r>
            <a:r>
              <a:rPr dirty="0" baseline="6172" sz="2700" spc="-1042">
                <a:latin typeface="Arial"/>
                <a:cs typeface="Arial"/>
              </a:rPr>
              <a:t>َ</a:t>
            </a:r>
            <a:r>
              <a:rPr dirty="0" baseline="6172" sz="2700" spc="540">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120">
                <a:latin typeface="Arial"/>
                <a:cs typeface="Arial"/>
              </a:rPr>
              <a:t> </a:t>
            </a:r>
            <a:r>
              <a:rPr dirty="0" baseline="1543" sz="2700" spc="-644">
                <a:latin typeface="Arial"/>
                <a:cs typeface="Arial"/>
              </a:rPr>
              <a:t>ن</a:t>
            </a:r>
            <a:r>
              <a:rPr dirty="0" baseline="6172" sz="2700" spc="-644">
                <a:latin typeface="Arial"/>
                <a:cs typeface="Arial"/>
              </a:rPr>
              <a:t>َ </a:t>
            </a:r>
            <a:r>
              <a:rPr dirty="0" baseline="1543" sz="2700" spc="-284">
                <a:latin typeface="Arial"/>
                <a:cs typeface="Arial"/>
              </a:rPr>
              <a:t>ذ</a:t>
            </a:r>
            <a:r>
              <a:rPr dirty="0" baseline="15432" sz="2700" spc="-284">
                <a:latin typeface="Arial"/>
                <a:cs typeface="Arial"/>
              </a:rPr>
              <a:t>ْ </a:t>
            </a:r>
            <a:r>
              <a:rPr dirty="0" baseline="-12345" sz="2700">
                <a:latin typeface="Arial"/>
                <a:cs typeface="Arial"/>
              </a:rPr>
              <a:t>ِ</a:t>
            </a:r>
            <a:r>
              <a:rPr dirty="0" baseline="1543" sz="2700">
                <a:latin typeface="Arial"/>
                <a:cs typeface="Arial"/>
              </a:rPr>
              <a:t>إ </a:t>
            </a:r>
            <a:r>
              <a:rPr dirty="0" baseline="1543" sz="2700" spc="-862">
                <a:latin typeface="Arial"/>
                <a:cs typeface="Arial"/>
              </a:rPr>
              <a:t>ث</a:t>
            </a:r>
            <a:r>
              <a:rPr dirty="0" sz="1800" spc="-575">
                <a:latin typeface="Arial"/>
                <a:cs typeface="Arial"/>
              </a:rPr>
              <a:t>ِ</a:t>
            </a:r>
            <a:r>
              <a:rPr dirty="0" sz="1800" spc="640">
                <a:latin typeface="Arial"/>
                <a:cs typeface="Arial"/>
              </a:rPr>
              <a:t> </a:t>
            </a:r>
            <a:r>
              <a:rPr dirty="0" baseline="1543" sz="2700" spc="-457">
                <a:latin typeface="Arial"/>
                <a:cs typeface="Arial"/>
              </a:rPr>
              <a:t>رْ </a:t>
            </a:r>
            <a:r>
              <a:rPr dirty="0" baseline="1543" sz="2700" spc="-585">
                <a:latin typeface="Arial"/>
                <a:cs typeface="Arial"/>
              </a:rPr>
              <a:t>ح</a:t>
            </a:r>
            <a:r>
              <a:rPr dirty="0" baseline="-1543" sz="2700" spc="-585">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ا </a:t>
            </a:r>
            <a:r>
              <a:rPr dirty="0" baseline="1543" sz="2700" spc="-705">
                <a:latin typeface="Arial"/>
                <a:cs typeface="Arial"/>
              </a:rPr>
              <a:t>ًف</a:t>
            </a:r>
            <a:r>
              <a:rPr dirty="0" sz="1800" spc="-470">
                <a:latin typeface="Arial"/>
                <a:cs typeface="Arial"/>
              </a:rPr>
              <a:t>ِ </a:t>
            </a:r>
            <a:r>
              <a:rPr dirty="0" baseline="1543" sz="2700" spc="-607">
                <a:latin typeface="Arial"/>
                <a:cs typeface="Arial"/>
              </a:rPr>
              <a:t>ن</a:t>
            </a:r>
            <a:r>
              <a:rPr dirty="0" baseline="-12345" sz="2700" spc="-607">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79">
                <a:latin typeface="Arial"/>
                <a:cs typeface="Arial"/>
              </a:rPr>
              <a:t> </a:t>
            </a:r>
            <a:r>
              <a:rPr dirty="0" baseline="1543" sz="2700" spc="-555">
                <a:latin typeface="Arial"/>
                <a:cs typeface="Arial"/>
              </a:rPr>
              <a:t>حْ </a:t>
            </a:r>
            <a:r>
              <a:rPr dirty="0" baseline="1543" sz="2700">
                <a:latin typeface="Arial"/>
                <a:cs typeface="Arial"/>
              </a:rPr>
              <a:t>ٌ</a:t>
            </a:r>
            <a:r>
              <a:rPr dirty="0" baseline="-1543" sz="2700">
                <a:latin typeface="Arial"/>
                <a:cs typeface="Arial"/>
              </a:rPr>
              <a:t>َ </a:t>
            </a:r>
            <a:r>
              <a:rPr dirty="0" baseline="1543" sz="2700" spc="-284">
                <a:latin typeface="Arial"/>
                <a:cs typeface="Arial"/>
              </a:rPr>
              <a:t>ذ</a:t>
            </a:r>
            <a:r>
              <a:rPr dirty="0" baseline="15432" sz="2700" spc="-284">
                <a:latin typeface="Arial"/>
                <a:cs typeface="Arial"/>
              </a:rPr>
              <a:t>ْ </a:t>
            </a:r>
            <a:r>
              <a:rPr dirty="0" baseline="-12345" sz="2700">
                <a:latin typeface="Arial"/>
                <a:cs typeface="Arial"/>
              </a:rPr>
              <a:t>ِ</a:t>
            </a:r>
            <a:r>
              <a:rPr dirty="0" baseline="1543" sz="2700">
                <a:latin typeface="Arial"/>
                <a:cs typeface="Arial"/>
              </a:rPr>
              <a:t>إ </a:t>
            </a:r>
            <a:r>
              <a:rPr dirty="0" baseline="1543" sz="2700" spc="-494">
                <a:latin typeface="Arial"/>
                <a:cs typeface="Arial"/>
              </a:rPr>
              <a:t>ن</a:t>
            </a:r>
            <a:r>
              <a:rPr dirty="0" baseline="-1543" sz="2700" spc="-494">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a:latin typeface="Arial"/>
                <a:cs typeface="Arial"/>
              </a:rPr>
              <a:t>ٌْ </a:t>
            </a:r>
            <a:r>
              <a:rPr dirty="0" baseline="9259" sz="2700" spc="-719">
                <a:latin typeface="Arial"/>
                <a:cs typeface="Arial"/>
              </a:rPr>
              <a:t>َ</a:t>
            </a:r>
            <a:r>
              <a:rPr dirty="0" baseline="1543" sz="2700" spc="-719">
                <a:latin typeface="Arial"/>
                <a:cs typeface="Arial"/>
              </a:rPr>
              <a:t>لسُ  </a:t>
            </a:r>
            <a:r>
              <a:rPr dirty="0" baseline="1543" sz="2700" spc="-307">
                <a:latin typeface="Arial"/>
                <a:cs typeface="Arial"/>
              </a:rPr>
              <a:t>و</a:t>
            </a:r>
            <a:r>
              <a:rPr dirty="0" baseline="-1543" sz="2700" spc="-307">
                <a:latin typeface="Arial"/>
                <a:cs typeface="Arial"/>
              </a:rPr>
              <a:t>َ </a:t>
            </a:r>
            <a:r>
              <a:rPr dirty="0" baseline="1543" sz="2700" spc="-330">
                <a:latin typeface="Arial"/>
                <a:cs typeface="Arial"/>
              </a:rPr>
              <a:t>د</a:t>
            </a:r>
            <a:r>
              <a:rPr dirty="0" sz="1800" spc="-220">
                <a:latin typeface="Arial"/>
                <a:cs typeface="Arial"/>
              </a:rPr>
              <a:t>َ </a:t>
            </a:r>
            <a:r>
              <a:rPr dirty="0" baseline="1543" sz="2700" spc="-232">
                <a:latin typeface="Arial"/>
                <a:cs typeface="Arial"/>
              </a:rPr>
              <a:t>ووُ </a:t>
            </a:r>
            <a:r>
              <a:rPr dirty="0" baseline="1543" sz="2700" spc="-217">
                <a:latin typeface="Arial"/>
                <a:cs typeface="Arial"/>
              </a:rPr>
              <a:t>اد</a:t>
            </a:r>
            <a:r>
              <a:rPr dirty="0" sz="1800" spc="-145">
                <a:latin typeface="Arial"/>
                <a:cs typeface="Arial"/>
              </a:rPr>
              <a:t>َ</a:t>
            </a:r>
            <a:r>
              <a:rPr dirty="0" sz="1800" spc="70">
                <a:latin typeface="Arial"/>
                <a:cs typeface="Arial"/>
              </a:rPr>
              <a:t> </a:t>
            </a:r>
            <a:r>
              <a:rPr dirty="0" baseline="1543" sz="2700" spc="-615">
                <a:latin typeface="Arial"/>
                <a:cs typeface="Arial"/>
              </a:rPr>
              <a:t>و</a:t>
            </a:r>
            <a:endParaRPr baseline="1543" sz="2700">
              <a:latin typeface="Arial"/>
              <a:cs typeface="Arial"/>
            </a:endParaRPr>
          </a:p>
          <a:p>
            <a:pPr marL="50800" marR="60960">
              <a:lnSpc>
                <a:spcPts val="1380"/>
              </a:lnSpc>
              <a:spcBef>
                <a:spcPts val="1380"/>
              </a:spcBef>
            </a:pPr>
            <a:r>
              <a:rPr dirty="0" sz="1200" spc="-5">
                <a:latin typeface="Arial"/>
                <a:cs typeface="Arial"/>
              </a:rPr>
              <a:t>78. And David and Solomon, when </a:t>
            </a:r>
            <a:r>
              <a:rPr dirty="0" sz="1200">
                <a:latin typeface="Arial"/>
                <a:cs typeface="Arial"/>
              </a:rPr>
              <a:t>they </a:t>
            </a:r>
            <a:r>
              <a:rPr dirty="0" sz="1200" spc="-5">
                <a:latin typeface="Arial"/>
                <a:cs typeface="Arial"/>
              </a:rPr>
              <a:t>gave judgment concerning </a:t>
            </a:r>
            <a:r>
              <a:rPr dirty="0" sz="1200">
                <a:latin typeface="Arial"/>
                <a:cs typeface="Arial"/>
              </a:rPr>
              <a:t>the </a:t>
            </a:r>
            <a:r>
              <a:rPr dirty="0" sz="1200" spc="-5">
                <a:latin typeface="Arial"/>
                <a:cs typeface="Arial"/>
              </a:rPr>
              <a:t>field, when people's  sheep had strayed and browsed therein </a:t>
            </a:r>
            <a:r>
              <a:rPr dirty="0" sz="1200">
                <a:latin typeface="Arial"/>
                <a:cs typeface="Arial"/>
              </a:rPr>
              <a:t>by </a:t>
            </a:r>
            <a:r>
              <a:rPr dirty="0" sz="1200" spc="-5">
                <a:latin typeface="Arial"/>
                <a:cs typeface="Arial"/>
              </a:rPr>
              <a:t>night; and </a:t>
            </a:r>
            <a:r>
              <a:rPr dirty="0" sz="1200" spc="15">
                <a:latin typeface="Arial"/>
                <a:cs typeface="Arial"/>
              </a:rPr>
              <a:t>We </a:t>
            </a:r>
            <a:r>
              <a:rPr dirty="0" sz="1200" spc="-5">
                <a:latin typeface="Arial"/>
                <a:cs typeface="Arial"/>
              </a:rPr>
              <a:t>were witnesses to their</a:t>
            </a:r>
            <a:r>
              <a:rPr dirty="0" sz="1200" spc="50">
                <a:latin typeface="Arial"/>
                <a:cs typeface="Arial"/>
              </a:rPr>
              <a:t> </a:t>
            </a:r>
            <a:r>
              <a:rPr dirty="0" sz="1200" spc="-5">
                <a:latin typeface="Arial"/>
                <a:cs typeface="Arial"/>
              </a:rPr>
              <a:t>judgment.</a:t>
            </a:r>
            <a:endParaRPr sz="1200">
              <a:latin typeface="Arial"/>
              <a:cs typeface="Arial"/>
            </a:endParaRPr>
          </a:p>
        </p:txBody>
      </p:sp>
      <p:sp>
        <p:nvSpPr>
          <p:cNvPr id="11" name="object 11"/>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12" name="object 12"/>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66</a:t>
            </a:r>
          </a:p>
        </p:txBody>
      </p:sp>
      <p:sp>
        <p:nvSpPr>
          <p:cNvPr id="6" name="object 6"/>
          <p:cNvSpPr txBox="1"/>
          <p:nvPr/>
        </p:nvSpPr>
        <p:spPr>
          <a:xfrm>
            <a:off x="750823" y="2121154"/>
            <a:ext cx="5490845" cy="299720"/>
          </a:xfrm>
          <a:prstGeom prst="rect">
            <a:avLst/>
          </a:prstGeom>
        </p:spPr>
        <p:txBody>
          <a:bodyPr wrap="square" lIns="0" tIns="12700" rIns="0" bIns="0" rtlCol="0" vert="horz">
            <a:spAutoFit/>
          </a:bodyPr>
          <a:lstStyle/>
          <a:p>
            <a:pPr marL="50800">
              <a:lnSpc>
                <a:spcPct val="100000"/>
              </a:lnSpc>
              <a:spcBef>
                <a:spcPts val="100"/>
              </a:spcBef>
            </a:pPr>
            <a:r>
              <a:rPr dirty="0" baseline="3086" sz="2700" spc="-322">
                <a:latin typeface="Arial"/>
                <a:cs typeface="Arial"/>
              </a:rPr>
              <a:t>ان</a:t>
            </a:r>
            <a:r>
              <a:rPr dirty="0" baseline="10802" sz="2700" spc="-322">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179">
                <a:latin typeface="Arial"/>
                <a:cs typeface="Arial"/>
              </a:rPr>
              <a:t> </a:t>
            </a:r>
            <a:r>
              <a:rPr dirty="0" baseline="3086" sz="2700" spc="-307">
                <a:latin typeface="Arial"/>
                <a:cs typeface="Arial"/>
              </a:rPr>
              <a:t>و</a:t>
            </a:r>
            <a:r>
              <a:rPr dirty="0" sz="1800" spc="-204">
                <a:latin typeface="Arial"/>
                <a:cs typeface="Arial"/>
              </a:rPr>
              <a:t>َ </a:t>
            </a:r>
            <a:r>
              <a:rPr dirty="0" baseline="3086" sz="2700" spc="-494">
                <a:latin typeface="Arial"/>
                <a:cs typeface="Arial"/>
              </a:rPr>
              <a:t>ر</a:t>
            </a:r>
            <a:r>
              <a:rPr dirty="0" sz="1800" spc="-330">
                <a:latin typeface="Arial"/>
                <a:cs typeface="Arial"/>
              </a:rPr>
              <a:t>َ </a:t>
            </a:r>
            <a:r>
              <a:rPr dirty="0" baseline="3086" sz="2700">
                <a:latin typeface="Arial"/>
                <a:cs typeface="Arial"/>
              </a:rPr>
              <a:t>ٌْ </a:t>
            </a:r>
            <a:r>
              <a:rPr dirty="0" baseline="3086" sz="2700" spc="-450">
                <a:latin typeface="Arial"/>
                <a:cs typeface="Arial"/>
              </a:rPr>
              <a:t>ط</a:t>
            </a:r>
            <a:r>
              <a:rPr dirty="0" baseline="15432" sz="2700" spc="-450">
                <a:latin typeface="Arial"/>
                <a:cs typeface="Arial"/>
              </a:rPr>
              <a:t>َّ </a:t>
            </a:r>
            <a:r>
              <a:rPr dirty="0" baseline="3086" sz="2700" spc="-359">
                <a:latin typeface="Arial"/>
                <a:cs typeface="Arial"/>
              </a:rPr>
              <a:t>لاو</a:t>
            </a:r>
            <a:r>
              <a:rPr dirty="0" sz="1800" spc="-240">
                <a:latin typeface="Arial"/>
                <a:cs typeface="Arial"/>
              </a:rPr>
              <a:t>َ </a:t>
            </a:r>
            <a:r>
              <a:rPr dirty="0" baseline="3086" sz="2700" spc="-494">
                <a:latin typeface="Arial"/>
                <a:cs typeface="Arial"/>
              </a:rPr>
              <a:t>ن</a:t>
            </a:r>
            <a:r>
              <a:rPr dirty="0" sz="1800" spc="-330">
                <a:latin typeface="Arial"/>
                <a:cs typeface="Arial"/>
              </a:rPr>
              <a:t>َ </a:t>
            </a:r>
            <a:r>
              <a:rPr dirty="0" baseline="3086" sz="2700" spc="-555">
                <a:latin typeface="Arial"/>
                <a:cs typeface="Arial"/>
              </a:rPr>
              <a:t>حْ </a:t>
            </a:r>
            <a:r>
              <a:rPr dirty="0" baseline="3086" sz="2700" spc="-607">
                <a:latin typeface="Arial"/>
                <a:cs typeface="Arial"/>
              </a:rPr>
              <a:t>بِّ </a:t>
            </a:r>
            <a:r>
              <a:rPr dirty="0" baseline="3086" sz="2700" spc="-989">
                <a:latin typeface="Arial"/>
                <a:cs typeface="Arial"/>
              </a:rPr>
              <a:t>س</a:t>
            </a:r>
            <a:r>
              <a:rPr dirty="0" sz="1800" spc="-660">
                <a:latin typeface="Arial"/>
                <a:cs typeface="Arial"/>
              </a:rPr>
              <a:t>َ</a:t>
            </a:r>
            <a:r>
              <a:rPr dirty="0" sz="1800" spc="275">
                <a:latin typeface="Arial"/>
                <a:cs typeface="Arial"/>
              </a:rPr>
              <a:t> </a:t>
            </a:r>
            <a:r>
              <a:rPr dirty="0" baseline="3086" sz="2700">
                <a:latin typeface="Arial"/>
                <a:cs typeface="Arial"/>
              </a:rPr>
              <a:t>ٌُ </a:t>
            </a:r>
            <a:r>
              <a:rPr dirty="0" baseline="3086" sz="2700" spc="-615">
                <a:latin typeface="Arial"/>
                <a:cs typeface="Arial"/>
              </a:rPr>
              <a:t>ل</a:t>
            </a:r>
            <a:r>
              <a:rPr dirty="0" sz="1800" spc="-409">
                <a:latin typeface="Arial"/>
                <a:cs typeface="Arial"/>
              </a:rPr>
              <a:t>َ </a:t>
            </a:r>
            <a:r>
              <a:rPr dirty="0" baseline="3086" sz="2700" spc="-585">
                <a:latin typeface="Arial"/>
                <a:cs typeface="Arial"/>
              </a:rPr>
              <a:t>اب</a:t>
            </a:r>
            <a:r>
              <a:rPr dirty="0" sz="1800" spc="-390">
                <a:latin typeface="Arial"/>
                <a:cs typeface="Arial"/>
              </a:rPr>
              <a:t>َ </a:t>
            </a:r>
            <a:r>
              <a:rPr dirty="0" baseline="3086" sz="2700" spc="-719">
                <a:latin typeface="Arial"/>
                <a:cs typeface="Arial"/>
              </a:rPr>
              <a:t>ج</a:t>
            </a:r>
            <a:r>
              <a:rPr dirty="0" baseline="-7716" sz="2700" spc="-719">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330">
                <a:latin typeface="Arial"/>
                <a:cs typeface="Arial"/>
              </a:rPr>
              <a:t>دَ </a:t>
            </a:r>
            <a:r>
              <a:rPr dirty="0" baseline="3086" sz="2700" spc="-232">
                <a:latin typeface="Arial"/>
                <a:cs typeface="Arial"/>
              </a:rPr>
              <a:t>ووُ </a:t>
            </a:r>
            <a:r>
              <a:rPr dirty="0" baseline="3086" sz="2700" spc="-217">
                <a:latin typeface="Arial"/>
                <a:cs typeface="Arial"/>
              </a:rPr>
              <a:t>ادَ  </a:t>
            </a:r>
            <a:r>
              <a:rPr dirty="0" baseline="3086" sz="2700" spc="-569">
                <a:latin typeface="Arial"/>
                <a:cs typeface="Arial"/>
              </a:rPr>
              <a:t>ع</a:t>
            </a:r>
            <a:r>
              <a:rPr dirty="0" sz="1800" spc="-380">
                <a:latin typeface="Arial"/>
                <a:cs typeface="Arial"/>
              </a:rPr>
              <a:t>َ </a:t>
            </a:r>
            <a:r>
              <a:rPr dirty="0" baseline="3086" sz="2700" spc="-359">
                <a:latin typeface="Arial"/>
                <a:cs typeface="Arial"/>
              </a:rPr>
              <a:t>م</a:t>
            </a:r>
            <a:r>
              <a:rPr dirty="0" sz="1800" spc="-240">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457">
                <a:latin typeface="Arial"/>
                <a:cs typeface="Arial"/>
              </a:rPr>
              <a:t>رْ </a:t>
            </a:r>
            <a:r>
              <a:rPr dirty="0" baseline="3086" sz="2700" spc="-405">
                <a:latin typeface="Arial"/>
                <a:cs typeface="Arial"/>
              </a:rPr>
              <a:t>خ</a:t>
            </a:r>
            <a:r>
              <a:rPr dirty="0" baseline="10802" sz="2700" spc="-405">
                <a:latin typeface="Arial"/>
                <a:cs typeface="Arial"/>
              </a:rPr>
              <a:t>َّ </a:t>
            </a:r>
            <a:r>
              <a:rPr dirty="0" baseline="3086" sz="2700" spc="-989">
                <a:latin typeface="Arial"/>
                <a:cs typeface="Arial"/>
              </a:rPr>
              <a:t>س</a:t>
            </a:r>
            <a:r>
              <a:rPr dirty="0" sz="1800" spc="-660">
                <a:latin typeface="Arial"/>
                <a:cs typeface="Arial"/>
              </a:rPr>
              <a:t>َ</a:t>
            </a:r>
            <a:r>
              <a:rPr dirty="0" sz="1800" spc="275">
                <a:latin typeface="Arial"/>
                <a:cs typeface="Arial"/>
              </a:rPr>
              <a:t> </a:t>
            </a:r>
            <a:r>
              <a:rPr dirty="0" baseline="3086" sz="2700" spc="-307">
                <a:latin typeface="Arial"/>
                <a:cs typeface="Arial"/>
              </a:rPr>
              <a:t>و</a:t>
            </a:r>
            <a:r>
              <a:rPr dirty="0" sz="1800" spc="-204">
                <a:latin typeface="Arial"/>
                <a:cs typeface="Arial"/>
              </a:rPr>
              <a:t>َ </a:t>
            </a:r>
            <a:r>
              <a:rPr dirty="0" baseline="3086" sz="2700" spc="-225">
                <a:latin typeface="Arial"/>
                <a:cs typeface="Arial"/>
              </a:rPr>
              <a:t>ام</a:t>
            </a:r>
            <a:r>
              <a:rPr dirty="0" baseline="4629" sz="2700" spc="-22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592">
                <a:latin typeface="Arial"/>
                <a:cs typeface="Arial"/>
              </a:rPr>
              <a:t>ع</a:t>
            </a:r>
            <a:r>
              <a:rPr dirty="0" baseline="1543" sz="2700" spc="-592">
                <a:latin typeface="Arial"/>
                <a:cs typeface="Arial"/>
              </a:rPr>
              <a:t>ِ </a:t>
            </a:r>
            <a:r>
              <a:rPr dirty="0" baseline="3086" sz="2700" spc="-307">
                <a:latin typeface="Arial"/>
                <a:cs typeface="Arial"/>
              </a:rPr>
              <a:t>و</a:t>
            </a:r>
            <a:r>
              <a:rPr dirty="0" sz="1800" spc="-204">
                <a:latin typeface="Arial"/>
                <a:cs typeface="Arial"/>
              </a:rPr>
              <a:t>َ </a:t>
            </a:r>
            <a:r>
              <a:rPr dirty="0" baseline="3086" sz="2700" spc="-225">
                <a:latin typeface="Arial"/>
                <a:cs typeface="Arial"/>
              </a:rPr>
              <a:t>ام</a:t>
            </a:r>
            <a:r>
              <a:rPr dirty="0" baseline="4629" sz="2700" spc="-225">
                <a:latin typeface="Arial"/>
                <a:cs typeface="Arial"/>
              </a:rPr>
              <a:t>ً </a:t>
            </a:r>
            <a:r>
              <a:rPr dirty="0" baseline="3086" sz="2700" spc="-682">
                <a:latin typeface="Arial"/>
                <a:cs typeface="Arial"/>
              </a:rPr>
              <a:t>ك</a:t>
            </a:r>
            <a:r>
              <a:rPr dirty="0" baseline="12345" sz="2700" spc="-682">
                <a:latin typeface="Arial"/>
                <a:cs typeface="Arial"/>
              </a:rPr>
              <a:t>ْ </a:t>
            </a:r>
            <a:r>
              <a:rPr dirty="0" baseline="3086" sz="2700" spc="-630">
                <a:latin typeface="Arial"/>
                <a:cs typeface="Arial"/>
              </a:rPr>
              <a:t>حُ </a:t>
            </a:r>
            <a:r>
              <a:rPr dirty="0" baseline="3086" sz="2700" spc="-412">
                <a:latin typeface="Arial"/>
                <a:cs typeface="Arial"/>
              </a:rPr>
              <a:t>ان</a:t>
            </a:r>
            <a:r>
              <a:rPr dirty="0" baseline="7716" sz="2700" spc="-412">
                <a:latin typeface="Arial"/>
                <a:cs typeface="Arial"/>
              </a:rPr>
              <a:t>َ </a:t>
            </a:r>
            <a:r>
              <a:rPr dirty="0" baseline="3086" sz="2700">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25">
                <a:latin typeface="Arial"/>
                <a:cs typeface="Arial"/>
              </a:rPr>
              <a:t> </a:t>
            </a:r>
            <a:r>
              <a:rPr dirty="0" baseline="3086" sz="2700">
                <a:latin typeface="Arial"/>
                <a:cs typeface="Arial"/>
              </a:rPr>
              <a:t>آ </a:t>
            </a:r>
            <a:r>
              <a:rPr dirty="0" baseline="3086" sz="2700" spc="-405">
                <a:latin typeface="Arial"/>
                <a:cs typeface="Arial"/>
              </a:rPr>
              <a:t>لا</a:t>
            </a:r>
            <a:r>
              <a:rPr dirty="0" baseline="13888" sz="2700" spc="-405">
                <a:latin typeface="Arial"/>
                <a:cs typeface="Arial"/>
              </a:rPr>
              <a:t>ّ</a:t>
            </a:r>
            <a:r>
              <a:rPr dirty="0" baseline="23148" sz="2700" spc="-405">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179">
                <a:latin typeface="Arial"/>
                <a:cs typeface="Arial"/>
              </a:rPr>
              <a:t> </a:t>
            </a:r>
            <a:r>
              <a:rPr dirty="0" baseline="3086" sz="2700" spc="-307">
                <a:latin typeface="Arial"/>
                <a:cs typeface="Arial"/>
              </a:rPr>
              <a:t>و</a:t>
            </a:r>
            <a:r>
              <a:rPr dirty="0" sz="1800" spc="-204">
                <a:latin typeface="Arial"/>
                <a:cs typeface="Arial"/>
              </a:rPr>
              <a:t>َ </a:t>
            </a:r>
            <a:r>
              <a:rPr dirty="0" baseline="3086" sz="2700" spc="-494">
                <a:latin typeface="Arial"/>
                <a:cs typeface="Arial"/>
              </a:rPr>
              <a:t>ن</a:t>
            </a:r>
            <a:r>
              <a:rPr dirty="0" sz="1800" spc="-330">
                <a:latin typeface="Arial"/>
                <a:cs typeface="Arial"/>
              </a:rPr>
              <a:t>َ </a:t>
            </a:r>
            <a:r>
              <a:rPr dirty="0" baseline="3086" sz="2700" spc="-225">
                <a:latin typeface="Arial"/>
                <a:cs typeface="Arial"/>
              </a:rPr>
              <a:t>ام</a:t>
            </a:r>
            <a:r>
              <a:rPr dirty="0" sz="1800" spc="-150">
                <a:latin typeface="Arial"/>
                <a:cs typeface="Arial"/>
              </a:rPr>
              <a:t>َ </a:t>
            </a:r>
            <a:r>
              <a:rPr dirty="0" baseline="3086" sz="2700">
                <a:latin typeface="Arial"/>
                <a:cs typeface="Arial"/>
              </a:rPr>
              <a:t>ٌْ</a:t>
            </a:r>
            <a:r>
              <a:rPr dirty="0" baseline="3086" sz="2700" spc="-292">
                <a:latin typeface="Arial"/>
                <a:cs typeface="Arial"/>
              </a:rPr>
              <a:t> </a:t>
            </a:r>
            <a:r>
              <a:rPr dirty="0" baseline="10802" sz="2700" spc="-952">
                <a:latin typeface="Arial"/>
                <a:cs typeface="Arial"/>
              </a:rPr>
              <a:t>َ</a:t>
            </a:r>
            <a:r>
              <a:rPr dirty="0" baseline="3086" sz="2700" spc="-952">
                <a:latin typeface="Arial"/>
                <a:cs typeface="Arial"/>
              </a:rPr>
              <a:t>لس</a:t>
            </a:r>
            <a:endParaRPr baseline="3086" sz="2700">
              <a:latin typeface="Arial"/>
              <a:cs typeface="Arial"/>
            </a:endParaRPr>
          </a:p>
        </p:txBody>
      </p:sp>
      <p:sp>
        <p:nvSpPr>
          <p:cNvPr id="7" name="object 7"/>
          <p:cNvSpPr txBox="1"/>
          <p:nvPr/>
        </p:nvSpPr>
        <p:spPr>
          <a:xfrm>
            <a:off x="6060313" y="2121154"/>
            <a:ext cx="797560" cy="563880"/>
          </a:xfrm>
          <a:prstGeom prst="rect">
            <a:avLst/>
          </a:prstGeom>
        </p:spPr>
        <p:txBody>
          <a:bodyPr wrap="square" lIns="0" tIns="29845" rIns="0" bIns="0" rtlCol="0" vert="horz">
            <a:spAutoFit/>
          </a:bodyPr>
          <a:lstStyle/>
          <a:p>
            <a:pPr marL="313690" marR="72390" indent="-276225">
              <a:lnSpc>
                <a:spcPts val="2080"/>
              </a:lnSpc>
              <a:spcBef>
                <a:spcPts val="235"/>
              </a:spcBef>
            </a:pPr>
            <a:r>
              <a:rPr dirty="0" baseline="3086" sz="2700">
                <a:latin typeface="Arial"/>
                <a:cs typeface="Arial"/>
              </a:rPr>
              <a:t>ُ </a:t>
            </a:r>
            <a:r>
              <a:rPr dirty="0" baseline="3086" sz="2700" spc="-165">
                <a:latin typeface="Arial"/>
                <a:cs typeface="Arial"/>
              </a:rPr>
              <a:t>اه</a:t>
            </a:r>
            <a:r>
              <a:rPr dirty="0" sz="1800" spc="-110">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322">
                <a:latin typeface="Arial"/>
                <a:cs typeface="Arial"/>
              </a:rPr>
              <a:t>مْ </a:t>
            </a:r>
            <a:r>
              <a:rPr dirty="0" baseline="3086" sz="2700" spc="-225">
                <a:latin typeface="Arial"/>
                <a:cs typeface="Arial"/>
              </a:rPr>
              <a:t>هَّ </a:t>
            </a:r>
            <a:r>
              <a:rPr dirty="0" baseline="3086" sz="2700" spc="-1035">
                <a:latin typeface="Arial"/>
                <a:cs typeface="Arial"/>
              </a:rPr>
              <a:t>ف</a:t>
            </a:r>
            <a:r>
              <a:rPr dirty="0" baseline="7716" sz="2700" spc="-1035">
                <a:latin typeface="Arial"/>
                <a:cs typeface="Arial"/>
              </a:rPr>
              <a:t>َ</a:t>
            </a:r>
            <a:r>
              <a:rPr dirty="0" baseline="7716" sz="2700" spc="-142">
                <a:latin typeface="Arial"/>
                <a:cs typeface="Arial"/>
              </a:rPr>
              <a:t> </a:t>
            </a:r>
            <a:r>
              <a:rPr dirty="0" baseline="3086" sz="2700" spc="-2062">
                <a:latin typeface="Arial"/>
                <a:cs typeface="Arial"/>
              </a:rPr>
              <a:t>ف </a:t>
            </a:r>
            <a:r>
              <a:rPr dirty="0" baseline="3086" sz="2700" spc="-502">
                <a:latin typeface="Arial"/>
                <a:cs typeface="Arial"/>
              </a:rPr>
              <a:t> </a:t>
            </a:r>
            <a:r>
              <a:rPr dirty="0" baseline="3086" sz="2700" spc="-494">
                <a:latin typeface="Arial"/>
                <a:cs typeface="Arial"/>
              </a:rPr>
              <a:t>ن</a:t>
            </a:r>
            <a:r>
              <a:rPr dirty="0" sz="1800" spc="-330">
                <a:latin typeface="Arial"/>
                <a:cs typeface="Arial"/>
              </a:rPr>
              <a:t>َ </a:t>
            </a:r>
            <a:r>
              <a:rPr dirty="0" baseline="3086" sz="2700" spc="-405">
                <a:latin typeface="Arial"/>
                <a:cs typeface="Arial"/>
              </a:rPr>
              <a:t>ٌ</a:t>
            </a:r>
            <a:r>
              <a:rPr dirty="0" baseline="1543" sz="2700" spc="-405">
                <a:latin typeface="Arial"/>
                <a:cs typeface="Arial"/>
              </a:rPr>
              <a:t>ِ</a:t>
            </a:r>
            <a:r>
              <a:rPr dirty="0" baseline="3086" sz="2700" spc="-405">
                <a:latin typeface="Arial"/>
                <a:cs typeface="Arial"/>
              </a:rPr>
              <a:t>لع</a:t>
            </a:r>
            <a:r>
              <a:rPr dirty="0" baseline="1543" sz="2700" spc="-405">
                <a:latin typeface="Arial"/>
                <a:cs typeface="Arial"/>
              </a:rPr>
              <a:t>ِ</a:t>
            </a:r>
            <a:r>
              <a:rPr dirty="0" baseline="1543" sz="2700" spc="-75">
                <a:latin typeface="Arial"/>
                <a:cs typeface="Arial"/>
              </a:rPr>
              <a:t> </a:t>
            </a:r>
            <a:r>
              <a:rPr dirty="0" baseline="3086" sz="2700" spc="-1012">
                <a:latin typeface="Arial"/>
                <a:cs typeface="Arial"/>
              </a:rPr>
              <a:t>اف</a:t>
            </a:r>
            <a:endParaRPr baseline="3086" sz="2700">
              <a:latin typeface="Arial"/>
              <a:cs typeface="Arial"/>
            </a:endParaRPr>
          </a:p>
        </p:txBody>
      </p:sp>
      <p:sp>
        <p:nvSpPr>
          <p:cNvPr id="8" name="object 8"/>
          <p:cNvSpPr txBox="1"/>
          <p:nvPr/>
        </p:nvSpPr>
        <p:spPr>
          <a:xfrm>
            <a:off x="394715" y="2814573"/>
            <a:ext cx="6601459" cy="5642610"/>
          </a:xfrm>
          <a:prstGeom prst="rect">
            <a:avLst/>
          </a:prstGeom>
        </p:spPr>
        <p:txBody>
          <a:bodyPr wrap="square" lIns="0" tIns="20320" rIns="0" bIns="0" rtlCol="0" vert="horz">
            <a:spAutoFit/>
          </a:bodyPr>
          <a:lstStyle/>
          <a:p>
            <a:pPr algn="just" marL="152400" marR="153670">
              <a:lnSpc>
                <a:spcPct val="95900"/>
              </a:lnSpc>
              <a:spcBef>
                <a:spcPts val="160"/>
              </a:spcBef>
              <a:buAutoNum type="arabicPeriod" startAt="79"/>
              <a:tabLst>
                <a:tab pos="440055" algn="l"/>
              </a:tabLst>
            </a:pPr>
            <a:r>
              <a:rPr dirty="0" sz="1200" spc="-5">
                <a:latin typeface="Arial"/>
                <a:cs typeface="Arial"/>
              </a:rPr>
              <a:t>And </a:t>
            </a:r>
            <a:r>
              <a:rPr dirty="0" sz="1200" spc="20">
                <a:latin typeface="Arial"/>
                <a:cs typeface="Arial"/>
              </a:rPr>
              <a:t>We </a:t>
            </a:r>
            <a:r>
              <a:rPr dirty="0" sz="1200" spc="-5">
                <a:latin typeface="Arial"/>
                <a:cs typeface="Arial"/>
              </a:rPr>
              <a:t>made Solomon to understand </a:t>
            </a:r>
            <a:r>
              <a:rPr dirty="0" sz="1200">
                <a:latin typeface="Arial"/>
                <a:cs typeface="Arial"/>
              </a:rPr>
              <a:t>(the </a:t>
            </a:r>
            <a:r>
              <a:rPr dirty="0" sz="1200" spc="-5">
                <a:latin typeface="Arial"/>
                <a:cs typeface="Arial"/>
              </a:rPr>
              <a:t>case); and unto each of them </a:t>
            </a:r>
            <a:r>
              <a:rPr dirty="0" sz="1200" spc="20">
                <a:latin typeface="Arial"/>
                <a:cs typeface="Arial"/>
              </a:rPr>
              <a:t>We </a:t>
            </a:r>
            <a:r>
              <a:rPr dirty="0" sz="1200" spc="-10">
                <a:latin typeface="Arial"/>
                <a:cs typeface="Arial"/>
              </a:rPr>
              <a:t>gave  </a:t>
            </a:r>
            <a:r>
              <a:rPr dirty="0" sz="1200" spc="-5">
                <a:latin typeface="Arial"/>
                <a:cs typeface="Arial"/>
              </a:rPr>
              <a:t>judgment and knowledge. And </a:t>
            </a:r>
            <a:r>
              <a:rPr dirty="0" sz="1200" spc="15">
                <a:latin typeface="Arial"/>
                <a:cs typeface="Arial"/>
              </a:rPr>
              <a:t>We </a:t>
            </a:r>
            <a:r>
              <a:rPr dirty="0" sz="1200" spc="-10">
                <a:latin typeface="Arial"/>
                <a:cs typeface="Arial"/>
              </a:rPr>
              <a:t>subdued </a:t>
            </a:r>
            <a:r>
              <a:rPr dirty="0" sz="1200" spc="-5">
                <a:latin typeface="Arial"/>
                <a:cs typeface="Arial"/>
              </a:rPr>
              <a:t>the hills and the birds to hymn (His) praise </a:t>
            </a:r>
            <a:r>
              <a:rPr dirty="0" sz="1200" spc="5">
                <a:latin typeface="Arial"/>
                <a:cs typeface="Arial"/>
              </a:rPr>
              <a:t>along  </a:t>
            </a:r>
            <a:r>
              <a:rPr dirty="0" sz="1200" spc="-5">
                <a:latin typeface="Arial"/>
                <a:cs typeface="Arial"/>
              </a:rPr>
              <a:t>with David. </a:t>
            </a:r>
            <a:r>
              <a:rPr dirty="0" sz="1200" spc="20">
                <a:latin typeface="Arial"/>
                <a:cs typeface="Arial"/>
              </a:rPr>
              <a:t>We </a:t>
            </a:r>
            <a:r>
              <a:rPr dirty="0" sz="1200" spc="-5">
                <a:latin typeface="Arial"/>
                <a:cs typeface="Arial"/>
              </a:rPr>
              <a:t>were the doers</a:t>
            </a:r>
            <a:r>
              <a:rPr dirty="0" sz="1200" spc="-35">
                <a:latin typeface="Arial"/>
                <a:cs typeface="Arial"/>
              </a:rPr>
              <a:t> </a:t>
            </a:r>
            <a:r>
              <a:rPr dirty="0" sz="1200" spc="-5">
                <a:latin typeface="Arial"/>
                <a:cs typeface="Arial"/>
              </a:rPr>
              <a:t>(thereof).</a:t>
            </a:r>
            <a:endParaRPr sz="1200">
              <a:latin typeface="Arial"/>
              <a:cs typeface="Arial"/>
            </a:endParaRPr>
          </a:p>
          <a:p>
            <a:pPr>
              <a:lnSpc>
                <a:spcPct val="100000"/>
              </a:lnSpc>
              <a:spcBef>
                <a:spcPts val="50"/>
              </a:spcBef>
              <a:buFont typeface="Arial"/>
              <a:buAutoNum type="arabicPeriod" startAt="79"/>
            </a:pPr>
            <a:endParaRPr sz="1100">
              <a:latin typeface="Arial"/>
              <a:cs typeface="Arial"/>
            </a:endParaRPr>
          </a:p>
          <a:p>
            <a:pPr algn="r" marR="208915">
              <a:lnSpc>
                <a:spcPct val="100000"/>
              </a:lnSpc>
              <a:spcBef>
                <a:spcPts val="5"/>
              </a:spcBef>
            </a:pPr>
            <a:r>
              <a:rPr dirty="0" baseline="1543" sz="2700" spc="-494">
                <a:latin typeface="Arial"/>
                <a:cs typeface="Arial"/>
              </a:rPr>
              <a:t>ن</a:t>
            </a:r>
            <a:r>
              <a:rPr dirty="0" baseline="-1543" sz="2700" spc="-494">
                <a:latin typeface="Arial"/>
                <a:cs typeface="Arial"/>
              </a:rPr>
              <a:t>َ </a:t>
            </a:r>
            <a:r>
              <a:rPr dirty="0" baseline="1543" sz="2700" spc="-352">
                <a:latin typeface="Arial"/>
                <a:cs typeface="Arial"/>
              </a:rPr>
              <a:t>ورُ </a:t>
            </a:r>
            <a:r>
              <a:rPr dirty="0" baseline="1543" sz="2700" spc="-727">
                <a:latin typeface="Arial"/>
                <a:cs typeface="Arial"/>
              </a:rPr>
              <a:t>ك</a:t>
            </a:r>
            <a:r>
              <a:rPr dirty="0" sz="1800" spc="-484">
                <a:latin typeface="Arial"/>
                <a:cs typeface="Arial"/>
              </a:rPr>
              <a:t>ِ </a:t>
            </a:r>
            <a:r>
              <a:rPr dirty="0" baseline="1543" sz="2700" spc="-682">
                <a:latin typeface="Arial"/>
                <a:cs typeface="Arial"/>
              </a:rPr>
              <a:t>اش</a:t>
            </a:r>
            <a:r>
              <a:rPr dirty="0" baseline="6172" sz="2700" spc="-682">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937">
                <a:latin typeface="Arial"/>
                <a:cs typeface="Arial"/>
              </a:rPr>
              <a:t>ت</a:t>
            </a:r>
            <a:r>
              <a:rPr dirty="0" baseline="9259" sz="2700" spc="-937">
                <a:latin typeface="Arial"/>
                <a:cs typeface="Arial"/>
              </a:rPr>
              <a:t>ُ</a:t>
            </a:r>
            <a:r>
              <a:rPr dirty="0" baseline="9259" sz="2700" spc="-157">
                <a:latin typeface="Arial"/>
                <a:cs typeface="Arial"/>
              </a:rPr>
              <a:t> </a:t>
            </a:r>
            <a:r>
              <a:rPr dirty="0" baseline="1543" sz="2700" spc="-270">
                <a:latin typeface="Arial"/>
                <a:cs typeface="Arial"/>
              </a:rPr>
              <a:t>ن</a:t>
            </a:r>
            <a:r>
              <a:rPr dirty="0" baseline="15432" sz="2700" spc="-270">
                <a:latin typeface="Arial"/>
                <a:cs typeface="Arial"/>
              </a:rPr>
              <a:t>َ</a:t>
            </a:r>
            <a:r>
              <a:rPr dirty="0" baseline="1543" sz="2700" spc="-270">
                <a:latin typeface="Arial"/>
                <a:cs typeface="Arial"/>
              </a:rPr>
              <a:t>أ </a:t>
            </a:r>
            <a:r>
              <a:rPr dirty="0" baseline="1543" sz="2700" spc="-577">
                <a:latin typeface="Arial"/>
                <a:cs typeface="Arial"/>
              </a:rPr>
              <a:t>لْ </a:t>
            </a:r>
            <a:r>
              <a:rPr dirty="0" baseline="1543" sz="2700" spc="-322">
                <a:latin typeface="Arial"/>
                <a:cs typeface="Arial"/>
              </a:rPr>
              <a:t>ه</a:t>
            </a:r>
            <a:r>
              <a:rPr dirty="0" baseline="-1543" sz="2700" spc="-322">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66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1543" sz="2700" spc="-944">
                <a:latin typeface="Arial"/>
                <a:cs typeface="Arial"/>
              </a:rPr>
              <a:t>س</a:t>
            </a:r>
            <a:r>
              <a:rPr dirty="0" sz="1800" spc="-630">
                <a:latin typeface="Arial"/>
                <a:cs typeface="Arial"/>
              </a:rPr>
              <a:t>ِ</a:t>
            </a:r>
            <a:r>
              <a:rPr dirty="0" sz="1800" spc="200">
                <a:latin typeface="Arial"/>
                <a:cs typeface="Arial"/>
              </a:rPr>
              <a:t> </a:t>
            </a:r>
            <a:r>
              <a:rPr dirty="0" baseline="18518" sz="2700" spc="-592">
                <a:latin typeface="Arial"/>
                <a:cs typeface="Arial"/>
              </a:rPr>
              <a:t>ْ</a:t>
            </a:r>
            <a:r>
              <a:rPr dirty="0" baseline="1543" sz="2700" spc="-592">
                <a:latin typeface="Arial"/>
                <a:cs typeface="Arial"/>
              </a:rPr>
              <a:t>ؤب</a:t>
            </a:r>
            <a:r>
              <a:rPr dirty="0" baseline="-1543" sz="2700" spc="-592">
                <a:latin typeface="Arial"/>
                <a:cs typeface="Arial"/>
              </a:rPr>
              <a:t>َ </a:t>
            </a:r>
            <a:r>
              <a:rPr dirty="0" baseline="1543" sz="2700" spc="-195">
                <a:latin typeface="Arial"/>
                <a:cs typeface="Arial"/>
              </a:rPr>
              <a:t>نمِّ </a:t>
            </a:r>
            <a:r>
              <a:rPr dirty="0" baseline="1543" sz="2700" spc="-502">
                <a:latin typeface="Arial"/>
                <a:cs typeface="Arial"/>
              </a:rPr>
              <a:t>مك</a:t>
            </a:r>
            <a:r>
              <a:rPr dirty="0" baseline="9259" sz="2700" spc="-502">
                <a:latin typeface="Arial"/>
                <a:cs typeface="Arial"/>
              </a:rPr>
              <a:t>ُ </a:t>
            </a:r>
            <a:r>
              <a:rPr dirty="0" baseline="1543" sz="2700" spc="-644">
                <a:latin typeface="Arial"/>
                <a:cs typeface="Arial"/>
              </a:rPr>
              <a:t>ن</a:t>
            </a:r>
            <a:r>
              <a:rPr dirty="0" baseline="6172" sz="2700" spc="-644">
                <a:latin typeface="Arial"/>
                <a:cs typeface="Arial"/>
              </a:rPr>
              <a:t>َ </a:t>
            </a:r>
            <a:r>
              <a:rPr dirty="0" baseline="1543" sz="2700" spc="-1245">
                <a:latin typeface="Arial"/>
                <a:cs typeface="Arial"/>
              </a:rPr>
              <a:t>ص</a:t>
            </a:r>
            <a:r>
              <a:rPr dirty="0" sz="1800" spc="-830">
                <a:latin typeface="Arial"/>
                <a:cs typeface="Arial"/>
              </a:rPr>
              <a:t>ِ</a:t>
            </a:r>
            <a:r>
              <a:rPr dirty="0" sz="1800" spc="700">
                <a:latin typeface="Arial"/>
                <a:cs typeface="Arial"/>
              </a:rPr>
              <a:t> </a:t>
            </a:r>
            <a:r>
              <a:rPr dirty="0" baseline="1543" sz="2700" spc="-555">
                <a:latin typeface="Arial"/>
                <a:cs typeface="Arial"/>
              </a:rPr>
              <a:t>حْ </a:t>
            </a:r>
            <a:r>
              <a:rPr dirty="0" baseline="1543" sz="2700" spc="-930">
                <a:latin typeface="Arial"/>
                <a:cs typeface="Arial"/>
              </a:rPr>
              <a:t>ت</a:t>
            </a:r>
            <a:r>
              <a:rPr dirty="0" baseline="9259" sz="2700" spc="-930">
                <a:latin typeface="Arial"/>
                <a:cs typeface="Arial"/>
              </a:rPr>
              <a:t>ُ</a:t>
            </a:r>
            <a:r>
              <a:rPr dirty="0" baseline="9259" sz="2700" spc="-179">
                <a:latin typeface="Arial"/>
                <a:cs typeface="Arial"/>
              </a:rPr>
              <a:t> </a:t>
            </a:r>
            <a:r>
              <a:rPr dirty="0" sz="1800" spc="-270">
                <a:latin typeface="Arial"/>
                <a:cs typeface="Arial"/>
              </a:rPr>
              <a:t>ِ</a:t>
            </a:r>
            <a:r>
              <a:rPr dirty="0" baseline="1543" sz="2700" spc="-405">
                <a:latin typeface="Arial"/>
                <a:cs typeface="Arial"/>
              </a:rPr>
              <a:t>ل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50">
                <a:latin typeface="Arial"/>
                <a:cs typeface="Arial"/>
              </a:rPr>
              <a:t> </a:t>
            </a:r>
            <a:r>
              <a:rPr dirty="0" baseline="10802" sz="2700" spc="-270">
                <a:latin typeface="Arial"/>
                <a:cs typeface="Arial"/>
              </a:rPr>
              <a:t>َّ</a:t>
            </a:r>
            <a:r>
              <a:rPr dirty="0" baseline="1543" sz="2700" spc="-270">
                <a:latin typeface="Arial"/>
                <a:cs typeface="Arial"/>
              </a:rPr>
              <a:t>ل </a:t>
            </a:r>
            <a:r>
              <a:rPr dirty="0" baseline="1543" sz="2700" spc="-877">
                <a:latin typeface="Arial"/>
                <a:cs typeface="Arial"/>
              </a:rPr>
              <a:t>س</a:t>
            </a:r>
            <a:r>
              <a:rPr dirty="0" baseline="-10802" sz="2700" spc="-877">
                <a:latin typeface="Arial"/>
                <a:cs typeface="Arial"/>
              </a:rPr>
              <a:t>ٍ</a:t>
            </a:r>
            <a:r>
              <a:rPr dirty="0" baseline="-10802" sz="2700" spc="997">
                <a:latin typeface="Arial"/>
                <a:cs typeface="Arial"/>
              </a:rPr>
              <a:t> </a:t>
            </a:r>
            <a:r>
              <a:rPr dirty="0" baseline="1543" sz="2700" spc="-622">
                <a:latin typeface="Arial"/>
                <a:cs typeface="Arial"/>
              </a:rPr>
              <a:t>وبُ </a:t>
            </a:r>
            <a:r>
              <a:rPr dirty="0" baseline="9259" sz="2700" spc="-405">
                <a:latin typeface="Arial"/>
                <a:cs typeface="Arial"/>
              </a:rPr>
              <a:t>َ</a:t>
            </a:r>
            <a:r>
              <a:rPr dirty="0" baseline="1543" sz="2700" spc="-405">
                <a:latin typeface="Arial"/>
                <a:cs typeface="Arial"/>
              </a:rPr>
              <a:t>ل </a:t>
            </a:r>
            <a:r>
              <a:rPr dirty="0" baseline="1543" sz="2700" spc="-284">
                <a:latin typeface="Arial"/>
                <a:cs typeface="Arial"/>
              </a:rPr>
              <a:t>ة</a:t>
            </a:r>
            <a:r>
              <a:rPr dirty="0" baseline="9259" sz="2700" spc="-284">
                <a:latin typeface="Arial"/>
                <a:cs typeface="Arial"/>
              </a:rPr>
              <a:t>َ </a:t>
            </a:r>
            <a:r>
              <a:rPr dirty="0" baseline="1543" sz="2700" spc="-600">
                <a:latin typeface="Arial"/>
                <a:cs typeface="Arial"/>
              </a:rPr>
              <a:t>ع</a:t>
            </a:r>
            <a:r>
              <a:rPr dirty="0" baseline="-1543" sz="2700" spc="-600">
                <a:latin typeface="Arial"/>
                <a:cs typeface="Arial"/>
              </a:rPr>
              <a:t>َ </a:t>
            </a:r>
            <a:r>
              <a:rPr dirty="0" baseline="1543" sz="2700" spc="-607">
                <a:latin typeface="Arial"/>
                <a:cs typeface="Arial"/>
              </a:rPr>
              <a:t>ن</a:t>
            </a:r>
            <a:r>
              <a:rPr dirty="0" baseline="9259" sz="2700" spc="-607">
                <a:latin typeface="Arial"/>
                <a:cs typeface="Arial"/>
              </a:rPr>
              <a:t>ْ </a:t>
            </a:r>
            <a:r>
              <a:rPr dirty="0" baseline="1543" sz="2700" spc="-1350">
                <a:latin typeface="Arial"/>
                <a:cs typeface="Arial"/>
              </a:rPr>
              <a:t>ص</a:t>
            </a:r>
            <a:r>
              <a:rPr dirty="0" baseline="-1543" sz="2700" spc="-1350">
                <a:latin typeface="Arial"/>
                <a:cs typeface="Arial"/>
              </a:rPr>
              <a:t>َ</a:t>
            </a:r>
            <a:r>
              <a:rPr dirty="0" baseline="-1543" sz="2700" spc="2039">
                <a:latin typeface="Arial"/>
                <a:cs typeface="Arial"/>
              </a:rPr>
              <a:t> </a:t>
            </a:r>
            <a:r>
              <a:rPr dirty="0" baseline="1543" sz="2700" spc="-382">
                <a:latin typeface="Arial"/>
                <a:cs typeface="Arial"/>
              </a:rPr>
              <a:t>هُ </a:t>
            </a:r>
            <a:r>
              <a:rPr dirty="0" baseline="1543" sz="2700" spc="-412">
                <a:latin typeface="Arial"/>
                <a:cs typeface="Arial"/>
              </a:rPr>
              <a:t>ان</a:t>
            </a:r>
            <a:r>
              <a:rPr dirty="0" baseline="6172" sz="2700" spc="-412">
                <a:latin typeface="Arial"/>
                <a:cs typeface="Arial"/>
              </a:rPr>
              <a:t>َ </a:t>
            </a:r>
            <a:r>
              <a:rPr dirty="0" baseline="1543" sz="2700" spc="-322">
                <a:latin typeface="Arial"/>
                <a:cs typeface="Arial"/>
              </a:rPr>
              <a:t>مْ </a:t>
            </a:r>
            <a:r>
              <a:rPr dirty="0" baseline="10802" sz="2700" spc="-405">
                <a:latin typeface="Arial"/>
                <a:cs typeface="Arial"/>
              </a:rPr>
              <a:t>َّ</a:t>
            </a:r>
            <a:r>
              <a:rPr dirty="0" baseline="1543" sz="2700" spc="-405">
                <a:latin typeface="Arial"/>
                <a:cs typeface="Arial"/>
              </a:rPr>
              <a:t>لع</a:t>
            </a:r>
            <a:r>
              <a:rPr dirty="0" baseline="-1543" sz="2700" spc="-405">
                <a:latin typeface="Arial"/>
                <a:cs typeface="Arial"/>
              </a:rPr>
              <a:t>َ</a:t>
            </a:r>
            <a:r>
              <a:rPr dirty="0" baseline="-1543" sz="2700" spc="-179">
                <a:latin typeface="Arial"/>
                <a:cs typeface="Arial"/>
              </a:rPr>
              <a:t> </a:t>
            </a:r>
            <a:r>
              <a:rPr dirty="0" baseline="1543" sz="2700" spc="-615">
                <a:latin typeface="Arial"/>
                <a:cs typeface="Arial"/>
              </a:rPr>
              <a:t>و</a:t>
            </a:r>
            <a:endParaRPr baseline="1543" sz="2700">
              <a:latin typeface="Arial"/>
              <a:cs typeface="Arial"/>
            </a:endParaRPr>
          </a:p>
          <a:p>
            <a:pPr marL="152400" marR="162560">
              <a:lnSpc>
                <a:spcPts val="1380"/>
              </a:lnSpc>
              <a:spcBef>
                <a:spcPts val="1390"/>
              </a:spcBef>
              <a:buAutoNum type="arabicPeriod" startAt="80"/>
              <a:tabLst>
                <a:tab pos="409575" algn="l"/>
              </a:tabLst>
            </a:pPr>
            <a:r>
              <a:rPr dirty="0" sz="1200" spc="-5">
                <a:latin typeface="Arial"/>
                <a:cs typeface="Arial"/>
              </a:rPr>
              <a:t>And </a:t>
            </a:r>
            <a:r>
              <a:rPr dirty="0" sz="1200" spc="20">
                <a:latin typeface="Arial"/>
                <a:cs typeface="Arial"/>
              </a:rPr>
              <a:t>We </a:t>
            </a:r>
            <a:r>
              <a:rPr dirty="0" sz="1200" spc="-5">
                <a:latin typeface="Arial"/>
                <a:cs typeface="Arial"/>
              </a:rPr>
              <a:t>taught </a:t>
            </a:r>
            <a:r>
              <a:rPr dirty="0" sz="1200" spc="-10">
                <a:latin typeface="Arial"/>
                <a:cs typeface="Arial"/>
              </a:rPr>
              <a:t>him </a:t>
            </a:r>
            <a:r>
              <a:rPr dirty="0" sz="1200">
                <a:latin typeface="Arial"/>
                <a:cs typeface="Arial"/>
              </a:rPr>
              <a:t>the art </a:t>
            </a:r>
            <a:r>
              <a:rPr dirty="0" sz="1200" spc="-5">
                <a:latin typeface="Arial"/>
                <a:cs typeface="Arial"/>
              </a:rPr>
              <a:t>of </a:t>
            </a:r>
            <a:r>
              <a:rPr dirty="0" sz="1200">
                <a:latin typeface="Arial"/>
                <a:cs typeface="Arial"/>
              </a:rPr>
              <a:t>making </a:t>
            </a:r>
            <a:r>
              <a:rPr dirty="0" sz="1200" spc="-5">
                <a:latin typeface="Arial"/>
                <a:cs typeface="Arial"/>
              </a:rPr>
              <a:t>garments (of mail) </a:t>
            </a:r>
            <a:r>
              <a:rPr dirty="0" sz="1200">
                <a:latin typeface="Arial"/>
                <a:cs typeface="Arial"/>
              </a:rPr>
              <a:t>to </a:t>
            </a:r>
            <a:r>
              <a:rPr dirty="0" sz="1200" spc="-5">
                <a:latin typeface="Arial"/>
                <a:cs typeface="Arial"/>
              </a:rPr>
              <a:t>protect </a:t>
            </a:r>
            <a:r>
              <a:rPr dirty="0" sz="1200" spc="-10">
                <a:latin typeface="Arial"/>
                <a:cs typeface="Arial"/>
              </a:rPr>
              <a:t>you </a:t>
            </a:r>
            <a:r>
              <a:rPr dirty="0" sz="1200" spc="-5">
                <a:latin typeface="Arial"/>
                <a:cs typeface="Arial"/>
              </a:rPr>
              <a:t>in your daring. Are  </a:t>
            </a:r>
            <a:r>
              <a:rPr dirty="0" sz="1200" spc="-10">
                <a:latin typeface="Arial"/>
                <a:cs typeface="Arial"/>
              </a:rPr>
              <a:t>ye </a:t>
            </a:r>
            <a:r>
              <a:rPr dirty="0" sz="1200" spc="-5">
                <a:latin typeface="Arial"/>
                <a:cs typeface="Arial"/>
              </a:rPr>
              <a:t>then</a:t>
            </a:r>
            <a:r>
              <a:rPr dirty="0" sz="1200" spc="5">
                <a:latin typeface="Arial"/>
                <a:cs typeface="Arial"/>
              </a:rPr>
              <a:t> </a:t>
            </a:r>
            <a:r>
              <a:rPr dirty="0" sz="1200" spc="-5">
                <a:latin typeface="Arial"/>
                <a:cs typeface="Arial"/>
              </a:rPr>
              <a:t>thankful?</a:t>
            </a:r>
            <a:endParaRPr sz="1200">
              <a:latin typeface="Arial"/>
              <a:cs typeface="Arial"/>
            </a:endParaRPr>
          </a:p>
          <a:p>
            <a:pPr>
              <a:lnSpc>
                <a:spcPct val="100000"/>
              </a:lnSpc>
              <a:spcBef>
                <a:spcPts val="40"/>
              </a:spcBef>
              <a:buFont typeface="Arial"/>
              <a:buAutoNum type="arabicPeriod" startAt="80"/>
            </a:pPr>
            <a:endParaRPr sz="1050">
              <a:latin typeface="Arial"/>
              <a:cs typeface="Arial"/>
            </a:endParaRPr>
          </a:p>
          <a:p>
            <a:pPr algn="r" marR="208915">
              <a:lnSpc>
                <a:spcPct val="100000"/>
              </a:lnSpc>
            </a:pPr>
            <a:r>
              <a:rPr dirty="0" sz="1800" spc="-330">
                <a:latin typeface="Arial"/>
                <a:cs typeface="Arial"/>
              </a:rPr>
              <a:t>ن</a:t>
            </a:r>
            <a:r>
              <a:rPr dirty="0" baseline="-3086" sz="2700" spc="-494">
                <a:latin typeface="Arial"/>
                <a:cs typeface="Arial"/>
              </a:rPr>
              <a:t>َ </a:t>
            </a:r>
            <a:r>
              <a:rPr dirty="0" sz="1800" spc="-160">
                <a:latin typeface="Arial"/>
                <a:cs typeface="Arial"/>
              </a:rPr>
              <a:t>ٌم</a:t>
            </a:r>
            <a:r>
              <a:rPr dirty="0" baseline="-1543" sz="2700" spc="-240">
                <a:latin typeface="Arial"/>
                <a:cs typeface="Arial"/>
              </a:rPr>
              <a:t>ِ </a:t>
            </a:r>
            <a:r>
              <a:rPr dirty="0" baseline="-1543" sz="2700" spc="-405">
                <a:latin typeface="Arial"/>
                <a:cs typeface="Arial"/>
              </a:rPr>
              <a:t>ِ</a:t>
            </a:r>
            <a:r>
              <a:rPr dirty="0" sz="1800" spc="-270">
                <a:latin typeface="Arial"/>
                <a:cs typeface="Arial"/>
              </a:rPr>
              <a:t>لاع</a:t>
            </a:r>
            <a:r>
              <a:rPr dirty="0" baseline="-3086" sz="2700" spc="-405">
                <a:latin typeface="Arial"/>
                <a:cs typeface="Arial"/>
              </a:rPr>
              <a:t>َ </a:t>
            </a:r>
            <a:r>
              <a:rPr dirty="0" sz="1800" spc="-295">
                <a:latin typeface="Arial"/>
                <a:cs typeface="Arial"/>
              </a:rPr>
              <a:t>ء</a:t>
            </a:r>
            <a:r>
              <a:rPr dirty="0" baseline="-1543" sz="2700" spc="-442">
                <a:latin typeface="Arial"/>
                <a:cs typeface="Arial"/>
              </a:rPr>
              <a:t>ٍ </a:t>
            </a:r>
            <a:r>
              <a:rPr dirty="0" sz="1800">
                <a:latin typeface="Arial"/>
                <a:cs typeface="Arial"/>
              </a:rPr>
              <a:t>ًْ </a:t>
            </a:r>
            <a:r>
              <a:rPr dirty="0" sz="1800" spc="-695">
                <a:latin typeface="Arial"/>
                <a:cs typeface="Arial"/>
              </a:rPr>
              <a:t>ش</a:t>
            </a:r>
            <a:r>
              <a:rPr dirty="0" baseline="4629" sz="2700" spc="-1042">
                <a:latin typeface="Arial"/>
                <a:cs typeface="Arial"/>
              </a:rPr>
              <a:t>َ</a:t>
            </a:r>
            <a:r>
              <a:rPr dirty="0" baseline="4629" sz="2700" spc="1260">
                <a:latin typeface="Arial"/>
                <a:cs typeface="Arial"/>
              </a:rPr>
              <a:t> </a:t>
            </a:r>
            <a:r>
              <a:rPr dirty="0" sz="1800" spc="-280">
                <a:latin typeface="Arial"/>
                <a:cs typeface="Arial"/>
              </a:rPr>
              <a:t>لِّ </a:t>
            </a:r>
            <a:r>
              <a:rPr dirty="0" sz="1800" spc="-505">
                <a:latin typeface="Arial"/>
                <a:cs typeface="Arial"/>
              </a:rPr>
              <a:t>ك</a:t>
            </a:r>
            <a:r>
              <a:rPr dirty="0" baseline="7716" sz="2700" spc="-757">
                <a:latin typeface="Arial"/>
                <a:cs typeface="Arial"/>
              </a:rPr>
              <a:t>ُ</a:t>
            </a:r>
            <a:r>
              <a:rPr dirty="0" baseline="7716" sz="2700" spc="187">
                <a:latin typeface="Arial"/>
                <a:cs typeface="Arial"/>
              </a:rPr>
              <a:t> </a:t>
            </a:r>
            <a:r>
              <a:rPr dirty="0" sz="1800" spc="-640">
                <a:latin typeface="Arial"/>
                <a:cs typeface="Arial"/>
              </a:rPr>
              <a:t>ب</a:t>
            </a:r>
            <a:r>
              <a:rPr dirty="0" baseline="-13888" sz="2700" spc="-960">
                <a:latin typeface="Arial"/>
                <a:cs typeface="Arial"/>
              </a:rPr>
              <a:t>ِ</a:t>
            </a:r>
            <a:r>
              <a:rPr dirty="0" baseline="-13888" sz="2700" spc="607">
                <a:latin typeface="Arial"/>
                <a:cs typeface="Arial"/>
              </a:rPr>
              <a:t> </a:t>
            </a:r>
            <a:r>
              <a:rPr dirty="0" sz="1800" spc="-215">
                <a:latin typeface="Arial"/>
                <a:cs typeface="Arial"/>
              </a:rPr>
              <a:t>ان</a:t>
            </a:r>
            <a:r>
              <a:rPr dirty="0" baseline="7716" sz="2700" spc="-322">
                <a:latin typeface="Arial"/>
                <a:cs typeface="Arial"/>
              </a:rPr>
              <a:t>َّ </a:t>
            </a:r>
            <a:r>
              <a:rPr dirty="0" sz="1800" spc="-505">
                <a:latin typeface="Arial"/>
                <a:cs typeface="Arial"/>
              </a:rPr>
              <a:t>ك</a:t>
            </a:r>
            <a:r>
              <a:rPr dirty="0" baseline="7716" sz="2700" spc="-757">
                <a:latin typeface="Arial"/>
                <a:cs typeface="Arial"/>
              </a:rPr>
              <a:t>ُ</a:t>
            </a:r>
            <a:r>
              <a:rPr dirty="0" baseline="7716" sz="2700" spc="187">
                <a:latin typeface="Arial"/>
                <a:cs typeface="Arial"/>
              </a:rPr>
              <a:t> </a:t>
            </a:r>
            <a:r>
              <a:rPr dirty="0" sz="1800" spc="-204">
                <a:latin typeface="Arial"/>
                <a:cs typeface="Arial"/>
              </a:rPr>
              <a:t>و</a:t>
            </a:r>
            <a:r>
              <a:rPr dirty="0" baseline="-3086" sz="2700" spc="-307">
                <a:latin typeface="Arial"/>
                <a:cs typeface="Arial"/>
              </a:rPr>
              <a:t>َ </a:t>
            </a:r>
            <a:r>
              <a:rPr dirty="0" sz="1800" spc="-135">
                <a:latin typeface="Arial"/>
                <a:cs typeface="Arial"/>
              </a:rPr>
              <a:t>اه</a:t>
            </a:r>
            <a:r>
              <a:rPr dirty="0" baseline="-3086" sz="2700" spc="-202">
                <a:latin typeface="Arial"/>
                <a:cs typeface="Arial"/>
              </a:rPr>
              <a:t>َ </a:t>
            </a:r>
            <a:r>
              <a:rPr dirty="0" sz="1800" spc="-470">
                <a:latin typeface="Arial"/>
                <a:cs typeface="Arial"/>
              </a:rPr>
              <a:t>ٌف</a:t>
            </a:r>
            <a:r>
              <a:rPr dirty="0" baseline="-1543" sz="2700" spc="-705">
                <a:latin typeface="Arial"/>
                <a:cs typeface="Arial"/>
              </a:rPr>
              <a:t>ِ  </a:t>
            </a:r>
            <a:r>
              <a:rPr dirty="0" sz="1800" spc="-275">
                <a:latin typeface="Arial"/>
                <a:cs typeface="Arial"/>
              </a:rPr>
              <a:t>ان</a:t>
            </a:r>
            <a:r>
              <a:rPr dirty="0" baseline="4629" sz="2700" spc="-412">
                <a:latin typeface="Arial"/>
                <a:cs typeface="Arial"/>
              </a:rPr>
              <a:t>َ </a:t>
            </a:r>
            <a:r>
              <a:rPr dirty="0" sz="1800" spc="-455">
                <a:latin typeface="Arial"/>
                <a:cs typeface="Arial"/>
              </a:rPr>
              <a:t>ك</a:t>
            </a:r>
            <a:r>
              <a:rPr dirty="0" baseline="9259" sz="2700" spc="-682">
                <a:latin typeface="Arial"/>
                <a:cs typeface="Arial"/>
              </a:rPr>
              <a:t>ْ </a:t>
            </a:r>
            <a:r>
              <a:rPr dirty="0" sz="1800" spc="-330">
                <a:latin typeface="Arial"/>
                <a:cs typeface="Arial"/>
              </a:rPr>
              <a:t>ر</a:t>
            </a:r>
            <a:r>
              <a:rPr dirty="0" baseline="-3086" sz="2700" spc="-494">
                <a:latin typeface="Arial"/>
                <a:cs typeface="Arial"/>
              </a:rPr>
              <a:t>َ </a:t>
            </a:r>
            <a:r>
              <a:rPr dirty="0" sz="1800" spc="-390">
                <a:latin typeface="Arial"/>
                <a:cs typeface="Arial"/>
              </a:rPr>
              <a:t>اب</a:t>
            </a:r>
            <a:r>
              <a:rPr dirty="0" baseline="-3086" sz="2700" spc="-585">
                <a:latin typeface="Arial"/>
                <a:cs typeface="Arial"/>
              </a:rPr>
              <a:t>َ </a:t>
            </a:r>
            <a:r>
              <a:rPr dirty="0" sz="1800" spc="-425">
                <a:latin typeface="Arial"/>
                <a:cs typeface="Arial"/>
              </a:rPr>
              <a:t>ًت</a:t>
            </a:r>
            <a:r>
              <a:rPr dirty="0" baseline="-1543" sz="2700" spc="-637">
                <a:latin typeface="Arial"/>
                <a:cs typeface="Arial"/>
              </a:rPr>
              <a:t>ِ </a:t>
            </a:r>
            <a:r>
              <a:rPr dirty="0" baseline="10802" sz="2700" spc="-209">
                <a:latin typeface="Arial"/>
                <a:cs typeface="Arial"/>
              </a:rPr>
              <a:t>َّ</a:t>
            </a:r>
            <a:r>
              <a:rPr dirty="0" sz="1800" spc="-140">
                <a:latin typeface="Arial"/>
                <a:cs typeface="Arial"/>
              </a:rPr>
              <a:t>لا </a:t>
            </a:r>
            <a:r>
              <a:rPr dirty="0" sz="1800" spc="-525">
                <a:latin typeface="Arial"/>
                <a:cs typeface="Arial"/>
              </a:rPr>
              <a:t>ض</a:t>
            </a:r>
            <a:r>
              <a:rPr dirty="0" baseline="-3086" sz="2700" spc="-787">
                <a:latin typeface="Arial"/>
                <a:cs typeface="Arial"/>
              </a:rPr>
              <a:t>ِ</a:t>
            </a:r>
            <a:r>
              <a:rPr dirty="0" baseline="-3086" sz="2700" spc="825">
                <a:latin typeface="Arial"/>
                <a:cs typeface="Arial"/>
              </a:rPr>
              <a:t> </a:t>
            </a:r>
            <a:r>
              <a:rPr dirty="0" sz="1800" spc="-305">
                <a:latin typeface="Arial"/>
                <a:cs typeface="Arial"/>
              </a:rPr>
              <a:t>رْ </a:t>
            </a:r>
            <a:r>
              <a:rPr dirty="0" baseline="13888" sz="2700" spc="-359">
                <a:latin typeface="Arial"/>
                <a:cs typeface="Arial"/>
              </a:rPr>
              <a:t>َ</a:t>
            </a:r>
            <a:r>
              <a:rPr dirty="0" sz="1800" spc="-240">
                <a:latin typeface="Arial"/>
                <a:cs typeface="Arial"/>
              </a:rPr>
              <a:t>لأ</a:t>
            </a:r>
            <a:r>
              <a:rPr dirty="0" baseline="10802" sz="2700" spc="-359">
                <a:latin typeface="Arial"/>
                <a:cs typeface="Arial"/>
              </a:rPr>
              <a:t>ْ </a:t>
            </a:r>
            <a:r>
              <a:rPr dirty="0" sz="1800">
                <a:latin typeface="Arial"/>
                <a:cs typeface="Arial"/>
              </a:rPr>
              <a:t>ا </a:t>
            </a:r>
            <a:r>
              <a:rPr dirty="0" sz="1800" spc="-135">
                <a:latin typeface="Arial"/>
                <a:cs typeface="Arial"/>
              </a:rPr>
              <a:t>ى</a:t>
            </a:r>
            <a:r>
              <a:rPr dirty="0" baseline="7716" sz="2700" spc="-202">
                <a:latin typeface="Arial"/>
                <a:cs typeface="Arial"/>
              </a:rPr>
              <a:t>َ</a:t>
            </a:r>
            <a:r>
              <a:rPr dirty="0" sz="1800" spc="-135">
                <a:latin typeface="Arial"/>
                <a:cs typeface="Arial"/>
              </a:rPr>
              <a:t>ل</a:t>
            </a:r>
            <a:r>
              <a:rPr dirty="0" baseline="-13888" sz="2700" spc="-202">
                <a:latin typeface="Arial"/>
                <a:cs typeface="Arial"/>
              </a:rPr>
              <a:t>ِ</a:t>
            </a:r>
            <a:r>
              <a:rPr dirty="0" sz="1800" spc="-135">
                <a:latin typeface="Arial"/>
                <a:cs typeface="Arial"/>
              </a:rPr>
              <a:t>إ </a:t>
            </a:r>
            <a:r>
              <a:rPr dirty="0" sz="1800" spc="-225">
                <a:latin typeface="Arial"/>
                <a:cs typeface="Arial"/>
              </a:rPr>
              <a:t>ه</a:t>
            </a:r>
            <a:r>
              <a:rPr dirty="0" baseline="-1543" sz="2700" spc="-337">
                <a:latin typeface="Arial"/>
                <a:cs typeface="Arial"/>
              </a:rPr>
              <a:t>ِ </a:t>
            </a:r>
            <a:r>
              <a:rPr dirty="0" sz="1800" spc="-305">
                <a:latin typeface="Arial"/>
                <a:cs typeface="Arial"/>
              </a:rPr>
              <a:t>ر</a:t>
            </a:r>
            <a:r>
              <a:rPr dirty="0" baseline="-13888" sz="2700" spc="-457">
                <a:latin typeface="Arial"/>
                <a:cs typeface="Arial"/>
              </a:rPr>
              <a:t>ِ </a:t>
            </a:r>
            <a:r>
              <a:rPr dirty="0" sz="1800" spc="-215">
                <a:latin typeface="Arial"/>
                <a:cs typeface="Arial"/>
              </a:rPr>
              <a:t>مْ </a:t>
            </a:r>
            <a:r>
              <a:rPr dirty="0" baseline="13888" sz="2700" spc="-622">
                <a:latin typeface="Arial"/>
                <a:cs typeface="Arial"/>
              </a:rPr>
              <a:t>َ</a:t>
            </a:r>
            <a:r>
              <a:rPr dirty="0" sz="1800" spc="-415">
                <a:latin typeface="Arial"/>
                <a:cs typeface="Arial"/>
              </a:rPr>
              <a:t>ؤب</a:t>
            </a:r>
            <a:r>
              <a:rPr dirty="0" baseline="-13888" sz="2700" spc="-622">
                <a:latin typeface="Arial"/>
                <a:cs typeface="Arial"/>
              </a:rPr>
              <a:t>ِ </a:t>
            </a:r>
            <a:r>
              <a:rPr dirty="0" sz="1800" spc="-204">
                <a:latin typeface="Arial"/>
                <a:cs typeface="Arial"/>
              </a:rPr>
              <a:t>ير</a:t>
            </a:r>
            <a:r>
              <a:rPr dirty="0" baseline="-13888" sz="2700" spc="-307">
                <a:latin typeface="Arial"/>
                <a:cs typeface="Arial"/>
              </a:rPr>
              <a:t>ِ </a:t>
            </a:r>
            <a:r>
              <a:rPr dirty="0" sz="1800" spc="-370">
                <a:latin typeface="Arial"/>
                <a:cs typeface="Arial"/>
              </a:rPr>
              <a:t>جْ </a:t>
            </a:r>
            <a:r>
              <a:rPr dirty="0" sz="1800" spc="-595">
                <a:latin typeface="Arial"/>
                <a:cs typeface="Arial"/>
              </a:rPr>
              <a:t>ت</a:t>
            </a:r>
            <a:r>
              <a:rPr dirty="0" baseline="4629" sz="2700" spc="-892">
                <a:latin typeface="Arial"/>
                <a:cs typeface="Arial"/>
              </a:rPr>
              <a:t>َ</a:t>
            </a:r>
            <a:r>
              <a:rPr dirty="0" baseline="4629" sz="2700" spc="487">
                <a:latin typeface="Arial"/>
                <a:cs typeface="Arial"/>
              </a:rPr>
              <a:t> </a:t>
            </a:r>
            <a:r>
              <a:rPr dirty="0" sz="1800" spc="-190">
                <a:latin typeface="Arial"/>
                <a:cs typeface="Arial"/>
              </a:rPr>
              <a:t>ة</a:t>
            </a:r>
            <a:r>
              <a:rPr dirty="0" baseline="12345" sz="2700" spc="-284">
                <a:latin typeface="Arial"/>
                <a:cs typeface="Arial"/>
              </a:rPr>
              <a:t>ً </a:t>
            </a:r>
            <a:r>
              <a:rPr dirty="0" sz="1800" spc="-690">
                <a:latin typeface="Arial"/>
                <a:cs typeface="Arial"/>
              </a:rPr>
              <a:t>ف</a:t>
            </a:r>
            <a:r>
              <a:rPr dirty="0" baseline="4629" sz="2700" spc="-1035">
                <a:latin typeface="Arial"/>
                <a:cs typeface="Arial"/>
              </a:rPr>
              <a:t>َ</a:t>
            </a:r>
            <a:r>
              <a:rPr dirty="0" baseline="4629" sz="2700" spc="-120">
                <a:latin typeface="Arial"/>
                <a:cs typeface="Arial"/>
              </a:rPr>
              <a:t> </a:t>
            </a:r>
            <a:r>
              <a:rPr dirty="0" sz="1800" spc="-835">
                <a:latin typeface="Arial"/>
                <a:cs typeface="Arial"/>
              </a:rPr>
              <a:t>ص</a:t>
            </a:r>
            <a:r>
              <a:rPr dirty="0" baseline="-1543" sz="2700" spc="-1252">
                <a:latin typeface="Arial"/>
                <a:cs typeface="Arial"/>
              </a:rPr>
              <a:t>ِ</a:t>
            </a:r>
            <a:r>
              <a:rPr dirty="0" baseline="-1543" sz="2700" spc="1057">
                <a:latin typeface="Arial"/>
                <a:cs typeface="Arial"/>
              </a:rPr>
              <a:t> </a:t>
            </a:r>
            <a:r>
              <a:rPr dirty="0" sz="1800" spc="-260">
                <a:latin typeface="Arial"/>
                <a:cs typeface="Arial"/>
              </a:rPr>
              <a:t>اع</a:t>
            </a:r>
            <a:r>
              <a:rPr dirty="0" baseline="-3086" sz="2700" spc="-390">
                <a:latin typeface="Arial"/>
                <a:cs typeface="Arial"/>
              </a:rPr>
              <a:t>َ </a:t>
            </a:r>
            <a:r>
              <a:rPr dirty="0" sz="1800" spc="-420">
                <a:latin typeface="Arial"/>
                <a:cs typeface="Arial"/>
              </a:rPr>
              <a:t>ح</a:t>
            </a:r>
            <a:r>
              <a:rPr dirty="0" baseline="-3086" sz="2700" spc="-630">
                <a:latin typeface="Arial"/>
                <a:cs typeface="Arial"/>
              </a:rPr>
              <a:t>َ </a:t>
            </a:r>
            <a:r>
              <a:rPr dirty="0" sz="1800" spc="-170">
                <a:latin typeface="Arial"/>
                <a:cs typeface="Arial"/>
              </a:rPr>
              <a:t>ٌرِّ </a:t>
            </a:r>
            <a:r>
              <a:rPr dirty="0" sz="1800" spc="-275">
                <a:latin typeface="Arial"/>
                <a:cs typeface="Arial"/>
              </a:rPr>
              <a:t>لا </a:t>
            </a:r>
            <a:r>
              <a:rPr dirty="0" sz="1800" spc="-330">
                <a:latin typeface="Arial"/>
                <a:cs typeface="Arial"/>
              </a:rPr>
              <a:t>ن</a:t>
            </a:r>
            <a:r>
              <a:rPr dirty="0" baseline="-3086" sz="2700" spc="-494">
                <a:latin typeface="Arial"/>
                <a:cs typeface="Arial"/>
              </a:rPr>
              <a:t>َ </a:t>
            </a:r>
            <a:r>
              <a:rPr dirty="0" sz="1800" spc="-150">
                <a:latin typeface="Arial"/>
                <a:cs typeface="Arial"/>
              </a:rPr>
              <a:t>ام</a:t>
            </a:r>
            <a:r>
              <a:rPr dirty="0" baseline="-3086" sz="2700" spc="-225">
                <a:latin typeface="Arial"/>
                <a:cs typeface="Arial"/>
              </a:rPr>
              <a:t>َ</a:t>
            </a:r>
            <a:r>
              <a:rPr dirty="0" baseline="-3086" sz="2700" spc="-330">
                <a:latin typeface="Arial"/>
                <a:cs typeface="Arial"/>
              </a:rPr>
              <a:t> </a:t>
            </a:r>
            <a:r>
              <a:rPr dirty="0" sz="1800">
                <a:latin typeface="Arial"/>
                <a:cs typeface="Arial"/>
              </a:rPr>
              <a:t>ٌْ </a:t>
            </a:r>
            <a:r>
              <a:rPr dirty="0" sz="1800" spc="-459">
                <a:latin typeface="Arial"/>
                <a:cs typeface="Arial"/>
              </a:rPr>
              <a:t>ل</a:t>
            </a:r>
            <a:r>
              <a:rPr dirty="0" baseline="7716" sz="2700" spc="-690">
                <a:latin typeface="Arial"/>
                <a:cs typeface="Arial"/>
              </a:rPr>
              <a:t>َ </a:t>
            </a:r>
            <a:r>
              <a:rPr dirty="0" sz="1800" spc="-675">
                <a:latin typeface="Arial"/>
                <a:cs typeface="Arial"/>
              </a:rPr>
              <a:t>سُ</a:t>
            </a:r>
            <a:r>
              <a:rPr dirty="0" sz="1800" spc="320">
                <a:latin typeface="Arial"/>
                <a:cs typeface="Arial"/>
              </a:rPr>
              <a:t> </a:t>
            </a:r>
            <a:r>
              <a:rPr dirty="0" baseline="-1543" sz="2700" spc="-480">
                <a:latin typeface="Arial"/>
                <a:cs typeface="Arial"/>
              </a:rPr>
              <a:t>ِ</a:t>
            </a:r>
            <a:r>
              <a:rPr dirty="0" sz="1800" spc="-320">
                <a:latin typeface="Arial"/>
                <a:cs typeface="Arial"/>
              </a:rPr>
              <a:t>لو</a:t>
            </a:r>
            <a:endParaRPr sz="1800">
              <a:latin typeface="Arial"/>
              <a:cs typeface="Arial"/>
            </a:endParaRPr>
          </a:p>
          <a:p>
            <a:pPr marL="152400" marR="162560">
              <a:lnSpc>
                <a:spcPts val="1380"/>
              </a:lnSpc>
              <a:spcBef>
                <a:spcPts val="1415"/>
              </a:spcBef>
              <a:buAutoNum type="arabicPeriod" startAt="81"/>
              <a:tabLst>
                <a:tab pos="423545" algn="l"/>
              </a:tabLst>
            </a:pPr>
            <a:r>
              <a:rPr dirty="0" sz="1200" spc="-5">
                <a:latin typeface="Arial"/>
                <a:cs typeface="Arial"/>
              </a:rPr>
              <a:t>And unto Solomon </a:t>
            </a:r>
            <a:r>
              <a:rPr dirty="0" sz="1200">
                <a:latin typeface="Arial"/>
                <a:cs typeface="Arial"/>
              </a:rPr>
              <a:t>(We </a:t>
            </a:r>
            <a:r>
              <a:rPr dirty="0" sz="1200" spc="-5">
                <a:latin typeface="Arial"/>
                <a:cs typeface="Arial"/>
              </a:rPr>
              <a:t>subdued) </a:t>
            </a:r>
            <a:r>
              <a:rPr dirty="0" sz="1200">
                <a:latin typeface="Arial"/>
                <a:cs typeface="Arial"/>
              </a:rPr>
              <a:t>the </a:t>
            </a:r>
            <a:r>
              <a:rPr dirty="0" sz="1200" spc="-5">
                <a:latin typeface="Arial"/>
                <a:cs typeface="Arial"/>
              </a:rPr>
              <a:t>wind in </a:t>
            </a:r>
            <a:r>
              <a:rPr dirty="0" sz="1200">
                <a:latin typeface="Arial"/>
                <a:cs typeface="Arial"/>
              </a:rPr>
              <a:t>its </a:t>
            </a:r>
            <a:r>
              <a:rPr dirty="0" sz="1200" spc="-5">
                <a:latin typeface="Arial"/>
                <a:cs typeface="Arial"/>
              </a:rPr>
              <a:t>raging. </a:t>
            </a:r>
            <a:r>
              <a:rPr dirty="0" sz="1200">
                <a:latin typeface="Arial"/>
                <a:cs typeface="Arial"/>
              </a:rPr>
              <a:t>It set </a:t>
            </a:r>
            <a:r>
              <a:rPr dirty="0" sz="1200" spc="-5">
                <a:latin typeface="Arial"/>
                <a:cs typeface="Arial"/>
              </a:rPr>
              <a:t>by His command toward  </a:t>
            </a:r>
            <a:r>
              <a:rPr dirty="0" sz="1200">
                <a:latin typeface="Arial"/>
                <a:cs typeface="Arial"/>
              </a:rPr>
              <a:t>the </a:t>
            </a:r>
            <a:r>
              <a:rPr dirty="0" sz="1200" spc="-5">
                <a:latin typeface="Arial"/>
                <a:cs typeface="Arial"/>
              </a:rPr>
              <a:t>land which </a:t>
            </a:r>
            <a:r>
              <a:rPr dirty="0" sz="1200" spc="15">
                <a:latin typeface="Arial"/>
                <a:cs typeface="Arial"/>
              </a:rPr>
              <a:t>We </a:t>
            </a:r>
            <a:r>
              <a:rPr dirty="0" sz="1200" spc="-5">
                <a:latin typeface="Arial"/>
                <a:cs typeface="Arial"/>
              </a:rPr>
              <a:t>had blessed. And of everything </a:t>
            </a:r>
            <a:r>
              <a:rPr dirty="0" sz="1200" spc="20">
                <a:latin typeface="Arial"/>
                <a:cs typeface="Arial"/>
              </a:rPr>
              <a:t>We </a:t>
            </a:r>
            <a:r>
              <a:rPr dirty="0" sz="1200" spc="-5">
                <a:latin typeface="Arial"/>
                <a:cs typeface="Arial"/>
              </a:rPr>
              <a:t>are</a:t>
            </a:r>
            <a:r>
              <a:rPr dirty="0" sz="1200" spc="-60">
                <a:latin typeface="Arial"/>
                <a:cs typeface="Arial"/>
              </a:rPr>
              <a:t> </a:t>
            </a:r>
            <a:r>
              <a:rPr dirty="0" sz="1200" spc="-5">
                <a:latin typeface="Arial"/>
                <a:cs typeface="Arial"/>
              </a:rPr>
              <a:t>aware.</a:t>
            </a:r>
            <a:endParaRPr sz="1200">
              <a:latin typeface="Arial"/>
              <a:cs typeface="Arial"/>
            </a:endParaRPr>
          </a:p>
          <a:p>
            <a:pPr>
              <a:lnSpc>
                <a:spcPct val="100000"/>
              </a:lnSpc>
              <a:spcBef>
                <a:spcPts val="20"/>
              </a:spcBef>
              <a:buFont typeface="Arial"/>
              <a:buAutoNum type="arabicPeriod" startAt="81"/>
            </a:pPr>
            <a:endParaRPr sz="1100">
              <a:latin typeface="Arial"/>
              <a:cs typeface="Arial"/>
            </a:endParaRPr>
          </a:p>
          <a:p>
            <a:pPr algn="r" marR="208915">
              <a:lnSpc>
                <a:spcPct val="100000"/>
              </a:lnSpc>
            </a:pPr>
            <a:r>
              <a:rPr dirty="0" baseline="1543" sz="2700" spc="-494">
                <a:latin typeface="Arial"/>
                <a:cs typeface="Arial"/>
              </a:rPr>
              <a:t>ن</a:t>
            </a:r>
            <a:r>
              <a:rPr dirty="0" baseline="-1543" sz="2700" spc="-494">
                <a:latin typeface="Arial"/>
                <a:cs typeface="Arial"/>
              </a:rPr>
              <a:t>َ </a:t>
            </a:r>
            <a:r>
              <a:rPr dirty="0" baseline="1543" sz="2700" spc="-390">
                <a:latin typeface="Arial"/>
                <a:cs typeface="Arial"/>
              </a:rPr>
              <a:t>ٌظ</a:t>
            </a:r>
            <a:r>
              <a:rPr dirty="0" sz="1800" spc="-260">
                <a:latin typeface="Arial"/>
                <a:cs typeface="Arial"/>
              </a:rPr>
              <a:t>ِ </a:t>
            </a:r>
            <a:r>
              <a:rPr dirty="0" baseline="1543" sz="2700" spc="-1057">
                <a:latin typeface="Arial"/>
                <a:cs typeface="Arial"/>
              </a:rPr>
              <a:t>ف</a:t>
            </a:r>
            <a:r>
              <a:rPr dirty="0" sz="1800" spc="-705">
                <a:latin typeface="Arial"/>
                <a:cs typeface="Arial"/>
              </a:rPr>
              <a:t>ِ</a:t>
            </a:r>
            <a:r>
              <a:rPr dirty="0" sz="1800" spc="-35">
                <a:latin typeface="Arial"/>
                <a:cs typeface="Arial"/>
              </a:rPr>
              <a:t> </a:t>
            </a:r>
            <a:r>
              <a:rPr dirty="0" baseline="1543" sz="2700" spc="-382">
                <a:latin typeface="Arial"/>
                <a:cs typeface="Arial"/>
              </a:rPr>
              <a:t>اح</a:t>
            </a:r>
            <a:r>
              <a:rPr dirty="0" baseline="-1543" sz="2700" spc="-382">
                <a:latin typeface="Arial"/>
                <a:cs typeface="Arial"/>
              </a:rPr>
              <a:t>َ </a:t>
            </a:r>
            <a:r>
              <a:rPr dirty="0" baseline="1543" sz="2700" spc="-359">
                <a:latin typeface="Arial"/>
                <a:cs typeface="Arial"/>
              </a:rPr>
              <a:t>م</a:t>
            </a:r>
            <a:r>
              <a:rPr dirty="0" baseline="-3086" sz="2700" spc="-359">
                <a:latin typeface="Arial"/>
                <a:cs typeface="Arial"/>
              </a:rPr>
              <a:t>ْ </a:t>
            </a:r>
            <a:r>
              <a:rPr dirty="0" baseline="1543" sz="2700" spc="-359">
                <a:latin typeface="Arial"/>
                <a:cs typeface="Arial"/>
              </a:rPr>
              <a:t>هُ </a:t>
            </a:r>
            <a:r>
              <a:rPr dirty="0" baseline="9259" sz="2700" spc="-405">
                <a:latin typeface="Arial"/>
                <a:cs typeface="Arial"/>
              </a:rPr>
              <a:t>َ</a:t>
            </a:r>
            <a:r>
              <a:rPr dirty="0" baseline="1543" sz="2700" spc="-405">
                <a:latin typeface="Arial"/>
                <a:cs typeface="Arial"/>
              </a:rPr>
              <a:t>ل </a:t>
            </a:r>
            <a:r>
              <a:rPr dirty="0" baseline="1543" sz="2700" spc="-322">
                <a:latin typeface="Arial"/>
                <a:cs typeface="Arial"/>
              </a:rPr>
              <a:t>ان</a:t>
            </a:r>
            <a:r>
              <a:rPr dirty="0" baseline="9259" sz="2700" spc="-32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79">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682">
                <a:latin typeface="Arial"/>
                <a:cs typeface="Arial"/>
              </a:rPr>
              <a:t>ك</a:t>
            </a:r>
            <a:r>
              <a:rPr dirty="0" baseline="-1543" sz="2700" spc="-682">
                <a:latin typeface="Arial"/>
                <a:cs typeface="Arial"/>
              </a:rPr>
              <a:t>َ </a:t>
            </a:r>
            <a:r>
              <a:rPr dirty="0" sz="1800" spc="-245">
                <a:latin typeface="Arial"/>
                <a:cs typeface="Arial"/>
              </a:rPr>
              <a:t>ِ</a:t>
            </a:r>
            <a:r>
              <a:rPr dirty="0" baseline="1543" sz="2700" spc="-367">
                <a:latin typeface="Arial"/>
                <a:cs typeface="Arial"/>
              </a:rPr>
              <a:t>لذ</a:t>
            </a:r>
            <a:r>
              <a:rPr dirty="0" baseline="10802" sz="2700" spc="-367">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40">
                <a:latin typeface="Arial"/>
                <a:cs typeface="Arial"/>
              </a:rPr>
              <a:t>ود</a:t>
            </a:r>
            <a:r>
              <a:rPr dirty="0" baseline="3086" sz="2700" spc="-240">
                <a:latin typeface="Arial"/>
                <a:cs typeface="Arial"/>
              </a:rPr>
              <a:t>ُ </a:t>
            </a:r>
            <a:r>
              <a:rPr dirty="0" baseline="1543" sz="2700" spc="-517">
                <a:latin typeface="Arial"/>
                <a:cs typeface="Arial"/>
              </a:rPr>
              <a:t>لا</a:t>
            </a:r>
            <a:r>
              <a:rPr dirty="0" baseline="12345" sz="2700" spc="-517">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615">
                <a:latin typeface="Arial"/>
                <a:cs typeface="Arial"/>
              </a:rPr>
              <a:t>ع</a:t>
            </a:r>
            <a:r>
              <a:rPr dirty="0" baseline="-1543" sz="2700" spc="-615">
                <a:latin typeface="Arial"/>
                <a:cs typeface="Arial"/>
              </a:rPr>
              <a:t>َ </a:t>
            </a:r>
            <a:r>
              <a:rPr dirty="0" baseline="1543" sz="2700" spc="-509">
                <a:latin typeface="Arial"/>
                <a:cs typeface="Arial"/>
              </a:rPr>
              <a:t>ن</a:t>
            </a:r>
            <a:r>
              <a:rPr dirty="0" baseline="-1543" sz="2700" spc="-509">
                <a:latin typeface="Arial"/>
                <a:cs typeface="Arial"/>
              </a:rPr>
              <a:t>َ </a:t>
            </a:r>
            <a:r>
              <a:rPr dirty="0" baseline="1543" sz="2700" spc="-322">
                <a:latin typeface="Arial"/>
                <a:cs typeface="Arial"/>
              </a:rPr>
              <a:t>و</a:t>
            </a:r>
            <a:r>
              <a:rPr dirty="0" baseline="12345" sz="2700" spc="-322">
                <a:latin typeface="Arial"/>
                <a:cs typeface="Arial"/>
              </a:rPr>
              <a:t>ُ</a:t>
            </a:r>
            <a:r>
              <a:rPr dirty="0" baseline="1543" sz="2700" spc="-322">
                <a:latin typeface="Arial"/>
                <a:cs typeface="Arial"/>
              </a:rPr>
              <a:t>لم</a:t>
            </a:r>
            <a:r>
              <a:rPr dirty="0" baseline="-1543" sz="2700" spc="-322">
                <a:latin typeface="Arial"/>
                <a:cs typeface="Arial"/>
              </a:rPr>
              <a:t>َ </a:t>
            </a:r>
            <a:r>
              <a:rPr dirty="0" baseline="1543" sz="2700" spc="-569">
                <a:latin typeface="Arial"/>
                <a:cs typeface="Arial"/>
              </a:rPr>
              <a:t>عْ </a:t>
            </a:r>
            <a:r>
              <a:rPr dirty="0" baseline="1543" sz="2700">
                <a:latin typeface="Arial"/>
                <a:cs typeface="Arial"/>
              </a:rPr>
              <a:t>ٌ</a:t>
            </a:r>
            <a:r>
              <a:rPr dirty="0" baseline="-1543" sz="2700">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22">
                <a:latin typeface="Arial"/>
                <a:cs typeface="Arial"/>
              </a:rPr>
              <a:t>هُ </a:t>
            </a:r>
            <a:r>
              <a:rPr dirty="0" baseline="9259" sz="2700" spc="-405">
                <a:latin typeface="Arial"/>
                <a:cs typeface="Arial"/>
              </a:rPr>
              <a:t>َ</a:t>
            </a:r>
            <a:r>
              <a:rPr dirty="0" baseline="1543" sz="2700" spc="-405">
                <a:latin typeface="Arial"/>
                <a:cs typeface="Arial"/>
              </a:rPr>
              <a:t>ل </a:t>
            </a:r>
            <a:r>
              <a:rPr dirty="0" baseline="1543" sz="2700" spc="-494">
                <a:latin typeface="Arial"/>
                <a:cs typeface="Arial"/>
              </a:rPr>
              <a:t>ن</a:t>
            </a:r>
            <a:r>
              <a:rPr dirty="0" baseline="-1543" sz="2700" spc="-494">
                <a:latin typeface="Arial"/>
                <a:cs typeface="Arial"/>
              </a:rPr>
              <a:t>َ </a:t>
            </a:r>
            <a:r>
              <a:rPr dirty="0" baseline="1543" sz="2700" spc="-930">
                <a:latin typeface="Arial"/>
                <a:cs typeface="Arial"/>
              </a:rPr>
              <a:t>وصُ</a:t>
            </a:r>
            <a:r>
              <a:rPr dirty="0" baseline="1543" sz="2700" spc="1342">
                <a:latin typeface="Arial"/>
                <a:cs typeface="Arial"/>
              </a:rPr>
              <a:t> </a:t>
            </a:r>
            <a:r>
              <a:rPr dirty="0" baseline="1543" sz="2700" spc="-517">
                <a:latin typeface="Arial"/>
                <a:cs typeface="Arial"/>
              </a:rPr>
              <a:t>وؽ</a:t>
            </a:r>
            <a:r>
              <a:rPr dirty="0" baseline="6172" sz="2700" spc="-517">
                <a:latin typeface="Arial"/>
                <a:cs typeface="Arial"/>
              </a:rPr>
              <a:t>ُ </a:t>
            </a:r>
            <a:r>
              <a:rPr dirty="0" baseline="1543" sz="2700">
                <a:latin typeface="Arial"/>
                <a:cs typeface="Arial"/>
              </a:rPr>
              <a:t>ٌ</a:t>
            </a:r>
            <a:r>
              <a:rPr dirty="0" baseline="-1543" sz="2700">
                <a:latin typeface="Arial"/>
                <a:cs typeface="Arial"/>
              </a:rPr>
              <a:t>َ </a:t>
            </a:r>
            <a:r>
              <a:rPr dirty="0" baseline="1543" sz="2700" spc="-247">
                <a:latin typeface="Arial"/>
                <a:cs typeface="Arial"/>
              </a:rPr>
              <a:t>نم</a:t>
            </a:r>
            <a:r>
              <a:rPr dirty="0" baseline="-1543" sz="2700" spc="-247">
                <a:latin typeface="Arial"/>
                <a:cs typeface="Arial"/>
              </a:rPr>
              <a:t>َ </a:t>
            </a:r>
            <a:r>
              <a:rPr dirty="0" baseline="1543" sz="2700" spc="-607">
                <a:latin typeface="Arial"/>
                <a:cs typeface="Arial"/>
              </a:rPr>
              <a:t>ن</a:t>
            </a:r>
            <a:r>
              <a:rPr dirty="0" baseline="-12345" sz="2700" spc="-607">
                <a:latin typeface="Arial"/>
                <a:cs typeface="Arial"/>
              </a:rPr>
              <a:t>ِ </a:t>
            </a:r>
            <a:r>
              <a:rPr dirty="0" baseline="1543" sz="2700" spc="-390">
                <a:latin typeface="Arial"/>
                <a:cs typeface="Arial"/>
              </a:rPr>
              <a:t>ٌط</a:t>
            </a:r>
            <a:r>
              <a:rPr dirty="0" sz="1800" spc="-260">
                <a:latin typeface="Arial"/>
                <a:cs typeface="Arial"/>
              </a:rPr>
              <a:t>ِ </a:t>
            </a:r>
            <a:r>
              <a:rPr dirty="0" baseline="1543" sz="2700" spc="15">
                <a:latin typeface="Arial"/>
                <a:cs typeface="Arial"/>
              </a:rPr>
              <a:t>اٌ</a:t>
            </a:r>
            <a:r>
              <a:rPr dirty="0" baseline="-1543" sz="2700" spc="15">
                <a:latin typeface="Arial"/>
                <a:cs typeface="Arial"/>
              </a:rPr>
              <a:t>َ </a:t>
            </a:r>
            <a:r>
              <a:rPr dirty="0" baseline="1543" sz="2700" spc="-705">
                <a:latin typeface="Arial"/>
                <a:cs typeface="Arial"/>
              </a:rPr>
              <a:t>ش</a:t>
            </a:r>
            <a:r>
              <a:rPr dirty="0" baseline="9259" sz="2700" spc="-705">
                <a:latin typeface="Arial"/>
                <a:cs typeface="Arial"/>
              </a:rPr>
              <a:t>َّ </a:t>
            </a:r>
            <a:r>
              <a:rPr dirty="0" baseline="1543" sz="2700" spc="-412">
                <a:latin typeface="Arial"/>
                <a:cs typeface="Arial"/>
              </a:rPr>
              <a:t>لا </a:t>
            </a:r>
            <a:r>
              <a:rPr dirty="0" baseline="1543" sz="2700" spc="-494">
                <a:latin typeface="Arial"/>
                <a:cs typeface="Arial"/>
              </a:rPr>
              <a:t>ن</a:t>
            </a:r>
            <a:r>
              <a:rPr dirty="0" baseline="-1543" sz="2700" spc="-494">
                <a:latin typeface="Arial"/>
                <a:cs typeface="Arial"/>
              </a:rPr>
              <a:t>َ </a:t>
            </a:r>
            <a:r>
              <a:rPr dirty="0" baseline="1543" sz="2700" spc="-352">
                <a:latin typeface="Arial"/>
                <a:cs typeface="Arial"/>
              </a:rPr>
              <a:t>م</a:t>
            </a:r>
            <a:r>
              <a:rPr dirty="0" sz="1800" spc="-235">
                <a:latin typeface="Arial"/>
                <a:cs typeface="Arial"/>
              </a:rPr>
              <a:t>ِ</a:t>
            </a:r>
            <a:r>
              <a:rPr dirty="0" sz="1800" spc="-240">
                <a:latin typeface="Arial"/>
                <a:cs typeface="Arial"/>
              </a:rPr>
              <a:t> </a:t>
            </a:r>
            <a:r>
              <a:rPr dirty="0" baseline="1543" sz="2700" spc="-615">
                <a:latin typeface="Arial"/>
                <a:cs typeface="Arial"/>
              </a:rPr>
              <a:t>و</a:t>
            </a:r>
            <a:endParaRPr baseline="1543" sz="2700">
              <a:latin typeface="Arial"/>
              <a:cs typeface="Arial"/>
            </a:endParaRPr>
          </a:p>
          <a:p>
            <a:pPr marL="152400" marR="163830">
              <a:lnSpc>
                <a:spcPts val="1380"/>
              </a:lnSpc>
              <a:spcBef>
                <a:spcPts val="1395"/>
              </a:spcBef>
              <a:buAutoNum type="arabicPeriod" startAt="82"/>
              <a:tabLst>
                <a:tab pos="412750" algn="l"/>
              </a:tabLst>
            </a:pPr>
            <a:r>
              <a:rPr dirty="0" sz="1200" spc="-5">
                <a:latin typeface="Arial"/>
                <a:cs typeface="Arial"/>
              </a:rPr>
              <a:t>And of the evil ones (subdued </a:t>
            </a:r>
            <a:r>
              <a:rPr dirty="0" sz="1200" spc="15">
                <a:latin typeface="Arial"/>
                <a:cs typeface="Arial"/>
              </a:rPr>
              <a:t>We </a:t>
            </a:r>
            <a:r>
              <a:rPr dirty="0" sz="1200" spc="-5">
                <a:latin typeface="Arial"/>
                <a:cs typeface="Arial"/>
              </a:rPr>
              <a:t>unto him) some </a:t>
            </a:r>
            <a:r>
              <a:rPr dirty="0" sz="1200" spc="-10">
                <a:latin typeface="Arial"/>
                <a:cs typeface="Arial"/>
              </a:rPr>
              <a:t>who </a:t>
            </a:r>
            <a:r>
              <a:rPr dirty="0" sz="1200" spc="-5">
                <a:latin typeface="Arial"/>
                <a:cs typeface="Arial"/>
              </a:rPr>
              <a:t>dived </a:t>
            </a:r>
            <a:r>
              <a:rPr dirty="0" sz="1200">
                <a:latin typeface="Arial"/>
                <a:cs typeface="Arial"/>
              </a:rPr>
              <a:t>(for </a:t>
            </a:r>
            <a:r>
              <a:rPr dirty="0" sz="1200" spc="-5">
                <a:latin typeface="Arial"/>
                <a:cs typeface="Arial"/>
              </a:rPr>
              <a:t>pearls) </a:t>
            </a:r>
            <a:r>
              <a:rPr dirty="0" sz="1200">
                <a:latin typeface="Arial"/>
                <a:cs typeface="Arial"/>
              </a:rPr>
              <a:t>for </a:t>
            </a:r>
            <a:r>
              <a:rPr dirty="0" sz="1200" spc="-5">
                <a:latin typeface="Arial"/>
                <a:cs typeface="Arial"/>
              </a:rPr>
              <a:t>him and did  </a:t>
            </a:r>
            <a:r>
              <a:rPr dirty="0" sz="1200">
                <a:latin typeface="Arial"/>
                <a:cs typeface="Arial"/>
              </a:rPr>
              <a:t>other </a:t>
            </a:r>
            <a:r>
              <a:rPr dirty="0" sz="1200" spc="-5">
                <a:latin typeface="Arial"/>
                <a:cs typeface="Arial"/>
              </a:rPr>
              <a:t>work, and </a:t>
            </a:r>
            <a:r>
              <a:rPr dirty="0" sz="1200" spc="20">
                <a:latin typeface="Arial"/>
                <a:cs typeface="Arial"/>
              </a:rPr>
              <a:t>We </a:t>
            </a:r>
            <a:r>
              <a:rPr dirty="0" sz="1200" spc="-5">
                <a:latin typeface="Arial"/>
                <a:cs typeface="Arial"/>
              </a:rPr>
              <a:t>were warders unto</a:t>
            </a:r>
            <a:r>
              <a:rPr dirty="0" sz="1200" spc="-35">
                <a:latin typeface="Arial"/>
                <a:cs typeface="Arial"/>
              </a:rPr>
              <a:t> </a:t>
            </a:r>
            <a:r>
              <a:rPr dirty="0" sz="1200">
                <a:latin typeface="Arial"/>
                <a:cs typeface="Arial"/>
              </a:rPr>
              <a:t>them.</a:t>
            </a:r>
            <a:endParaRPr sz="1200">
              <a:latin typeface="Arial"/>
              <a:cs typeface="Arial"/>
            </a:endParaRPr>
          </a:p>
          <a:p>
            <a:pPr>
              <a:lnSpc>
                <a:spcPct val="100000"/>
              </a:lnSpc>
              <a:spcBef>
                <a:spcPts val="20"/>
              </a:spcBef>
              <a:buFont typeface="Arial"/>
              <a:buAutoNum type="arabicPeriod" startAt="82"/>
            </a:pPr>
            <a:endParaRPr sz="1100">
              <a:latin typeface="Arial"/>
              <a:cs typeface="Arial"/>
            </a:endParaRPr>
          </a:p>
          <a:p>
            <a:pPr marL="152400">
              <a:lnSpc>
                <a:spcPct val="100000"/>
              </a:lnSpc>
            </a:pPr>
            <a:r>
              <a:rPr dirty="0" u="heavy" sz="1200" spc="-5" b="1" i="1">
                <a:uFill>
                  <a:solidFill>
                    <a:srgbClr val="000000"/>
                  </a:solidFill>
                </a:uFill>
                <a:latin typeface="Arial"/>
                <a:cs typeface="Arial"/>
              </a:rPr>
              <a:t>Hazrat Ayyub</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(as)</a:t>
            </a:r>
            <a:endParaRPr sz="1200">
              <a:latin typeface="Arial"/>
              <a:cs typeface="Arial"/>
            </a:endParaRPr>
          </a:p>
          <a:p>
            <a:pPr>
              <a:lnSpc>
                <a:spcPct val="100000"/>
              </a:lnSpc>
              <a:spcBef>
                <a:spcPts val="35"/>
              </a:spcBef>
            </a:pPr>
            <a:endParaRPr sz="1200">
              <a:latin typeface="Arial"/>
              <a:cs typeface="Arial"/>
            </a:endParaRPr>
          </a:p>
          <a:p>
            <a:pPr marL="152400" marR="162560">
              <a:lnSpc>
                <a:spcPts val="1380"/>
              </a:lnSpc>
            </a:pPr>
            <a:r>
              <a:rPr dirty="0" sz="1200">
                <a:latin typeface="Arial"/>
                <a:cs typeface="Arial"/>
              </a:rPr>
              <a:t>This </a:t>
            </a:r>
            <a:r>
              <a:rPr dirty="0" sz="1200" spc="-5">
                <a:latin typeface="Arial"/>
                <a:cs typeface="Arial"/>
              </a:rPr>
              <a:t>is the story </a:t>
            </a:r>
            <a:r>
              <a:rPr dirty="0" sz="1200">
                <a:latin typeface="Arial"/>
                <a:cs typeface="Arial"/>
              </a:rPr>
              <a:t>of </a:t>
            </a:r>
            <a:r>
              <a:rPr dirty="0" sz="1200" spc="-5">
                <a:latin typeface="Arial"/>
                <a:cs typeface="Arial"/>
              </a:rPr>
              <a:t>the test inflicted upon </a:t>
            </a:r>
            <a:r>
              <a:rPr dirty="0" sz="1200">
                <a:latin typeface="Arial"/>
                <a:cs typeface="Arial"/>
              </a:rPr>
              <a:t>the </a:t>
            </a:r>
            <a:r>
              <a:rPr dirty="0" sz="1200" spc="-5">
                <a:latin typeface="Arial"/>
                <a:cs typeface="Arial"/>
              </a:rPr>
              <a:t>prophet </a:t>
            </a:r>
            <a:r>
              <a:rPr dirty="0" sz="1200" spc="-10">
                <a:latin typeface="Arial"/>
                <a:cs typeface="Arial"/>
              </a:rPr>
              <a:t>Ayyub </a:t>
            </a:r>
            <a:r>
              <a:rPr dirty="0" sz="1200">
                <a:latin typeface="Arial"/>
                <a:cs typeface="Arial"/>
              </a:rPr>
              <a:t>(as) </a:t>
            </a:r>
            <a:r>
              <a:rPr dirty="0" sz="1200" spc="-5">
                <a:latin typeface="Arial"/>
                <a:cs typeface="Arial"/>
              </a:rPr>
              <a:t>and his patience and  perseverance he showed throughout his</a:t>
            </a:r>
            <a:r>
              <a:rPr dirty="0" sz="1200" spc="10">
                <a:latin typeface="Arial"/>
                <a:cs typeface="Arial"/>
              </a:rPr>
              <a:t> </a:t>
            </a:r>
            <a:r>
              <a:rPr dirty="0" sz="1200" spc="-5">
                <a:latin typeface="Arial"/>
                <a:cs typeface="Arial"/>
              </a:rPr>
              <a:t>life.</a:t>
            </a:r>
            <a:endParaRPr sz="1200">
              <a:latin typeface="Arial"/>
              <a:cs typeface="Arial"/>
            </a:endParaRPr>
          </a:p>
          <a:p>
            <a:pPr>
              <a:lnSpc>
                <a:spcPct val="100000"/>
              </a:lnSpc>
              <a:spcBef>
                <a:spcPts val="20"/>
              </a:spcBef>
            </a:pPr>
            <a:endParaRPr sz="1100">
              <a:latin typeface="Arial"/>
              <a:cs typeface="Arial"/>
            </a:endParaRPr>
          </a:p>
          <a:p>
            <a:pPr marL="152400">
              <a:lnSpc>
                <a:spcPct val="100000"/>
              </a:lnSpc>
            </a:pPr>
            <a:r>
              <a:rPr dirty="0" sz="1200" spc="-5">
                <a:latin typeface="Arial"/>
                <a:cs typeface="Arial"/>
              </a:rPr>
              <a:t>Allah says:</a:t>
            </a:r>
            <a:endParaRPr sz="1200">
              <a:latin typeface="Arial"/>
              <a:cs typeface="Arial"/>
            </a:endParaRPr>
          </a:p>
          <a:p>
            <a:pPr>
              <a:lnSpc>
                <a:spcPct val="100000"/>
              </a:lnSpc>
            </a:pPr>
            <a:endParaRPr sz="1150">
              <a:latin typeface="Arial"/>
              <a:cs typeface="Arial"/>
            </a:endParaRPr>
          </a:p>
          <a:p>
            <a:pPr algn="r" marR="208279">
              <a:lnSpc>
                <a:spcPct val="100000"/>
              </a:lnSpc>
            </a:pPr>
            <a:r>
              <a:rPr dirty="0" baseline="1543" sz="2700" spc="-494">
                <a:latin typeface="Arial"/>
                <a:cs typeface="Arial"/>
              </a:rPr>
              <a:t>ن</a:t>
            </a:r>
            <a:r>
              <a:rPr dirty="0" baseline="-1543" sz="2700" spc="-494">
                <a:latin typeface="Arial"/>
                <a:cs typeface="Arial"/>
              </a:rPr>
              <a:t>َ </a:t>
            </a:r>
            <a:r>
              <a:rPr dirty="0" baseline="1543" sz="2700" spc="-240">
                <a:latin typeface="Arial"/>
                <a:cs typeface="Arial"/>
              </a:rPr>
              <a:t>ٌم</a:t>
            </a:r>
            <a:r>
              <a:rPr dirty="0" sz="1800" spc="-160">
                <a:latin typeface="Arial"/>
                <a:cs typeface="Arial"/>
              </a:rPr>
              <a:t>ِ </a:t>
            </a:r>
            <a:r>
              <a:rPr dirty="0" baseline="1543" sz="2700" spc="-719">
                <a:latin typeface="Arial"/>
                <a:cs typeface="Arial"/>
              </a:rPr>
              <a:t>ح</a:t>
            </a:r>
            <a:r>
              <a:rPr dirty="0" sz="1800" spc="-480">
                <a:latin typeface="Arial"/>
                <a:cs typeface="Arial"/>
              </a:rPr>
              <a:t>ِ </a:t>
            </a:r>
            <a:r>
              <a:rPr dirty="0" baseline="1543" sz="2700" spc="-262">
                <a:latin typeface="Arial"/>
                <a:cs typeface="Arial"/>
              </a:rPr>
              <a:t>ار</a:t>
            </a:r>
            <a:r>
              <a:rPr dirty="0" sz="1800" spc="-175">
                <a:latin typeface="Arial"/>
                <a:cs typeface="Arial"/>
              </a:rPr>
              <a:t>َّ </a:t>
            </a:r>
            <a:r>
              <a:rPr dirty="0" baseline="1543" sz="2700" spc="-412">
                <a:latin typeface="Arial"/>
                <a:cs typeface="Arial"/>
              </a:rPr>
              <a:t>لا </a:t>
            </a:r>
            <a:r>
              <a:rPr dirty="0" baseline="1543" sz="2700" spc="-427">
                <a:latin typeface="Arial"/>
                <a:cs typeface="Arial"/>
              </a:rPr>
              <a:t>م</a:t>
            </a:r>
            <a:r>
              <a:rPr dirty="0" baseline="-4629" sz="2700" spc="-427">
                <a:latin typeface="Arial"/>
                <a:cs typeface="Arial"/>
              </a:rPr>
              <a:t>ُ </a:t>
            </a:r>
            <a:r>
              <a:rPr dirty="0" baseline="1543" sz="2700" spc="-592">
                <a:latin typeface="Arial"/>
                <a:cs typeface="Arial"/>
              </a:rPr>
              <a:t>ح</a:t>
            </a:r>
            <a:r>
              <a:rPr dirty="0" baseline="-1543" sz="2700" spc="-592">
                <a:latin typeface="Arial"/>
                <a:cs typeface="Arial"/>
              </a:rPr>
              <a:t>َ </a:t>
            </a:r>
            <a:r>
              <a:rPr dirty="0" baseline="1543" sz="2700" spc="-457">
                <a:latin typeface="Arial"/>
                <a:cs typeface="Arial"/>
              </a:rPr>
              <a:t>رْ </a:t>
            </a:r>
            <a:r>
              <a:rPr dirty="0" baseline="15432" sz="2700">
                <a:latin typeface="Arial"/>
                <a:cs typeface="Arial"/>
              </a:rPr>
              <a:t>َ</a:t>
            </a:r>
            <a:r>
              <a:rPr dirty="0" baseline="1543" sz="2700">
                <a:latin typeface="Arial"/>
                <a:cs typeface="Arial"/>
              </a:rPr>
              <a:t>أ </a:t>
            </a:r>
            <a:r>
              <a:rPr dirty="0" baseline="1543" sz="2700" spc="-780">
                <a:latin typeface="Arial"/>
                <a:cs typeface="Arial"/>
              </a:rPr>
              <a:t>ت</a:t>
            </a:r>
            <a:r>
              <a:rPr dirty="0" baseline="3086" sz="2700" spc="-780">
                <a:latin typeface="Arial"/>
                <a:cs typeface="Arial"/>
              </a:rPr>
              <a:t>َ</a:t>
            </a:r>
            <a:r>
              <a:rPr dirty="0" baseline="3086" sz="2700" spc="780">
                <a:latin typeface="Arial"/>
                <a:cs typeface="Arial"/>
              </a:rPr>
              <a:t> </a:t>
            </a:r>
            <a:r>
              <a:rPr dirty="0" baseline="1543" sz="2700" spc="-284">
                <a:latin typeface="Arial"/>
                <a:cs typeface="Arial"/>
              </a:rPr>
              <a:t>ن</a:t>
            </a:r>
            <a:r>
              <a:rPr dirty="0" baseline="15432" sz="2700" spc="-284">
                <a:latin typeface="Arial"/>
                <a:cs typeface="Arial"/>
              </a:rPr>
              <a:t>َ</a:t>
            </a:r>
            <a:r>
              <a:rPr dirty="0" baseline="1543" sz="2700" spc="-284">
                <a:latin typeface="Arial"/>
                <a:cs typeface="Arial"/>
              </a:rPr>
              <a:t>أو</a:t>
            </a:r>
            <a:r>
              <a:rPr dirty="0" baseline="-1543" sz="2700" spc="-284">
                <a:latin typeface="Arial"/>
                <a:cs typeface="Arial"/>
              </a:rPr>
              <a:t>َ </a:t>
            </a:r>
            <a:r>
              <a:rPr dirty="0" baseline="1543" sz="2700" spc="-345">
                <a:latin typeface="Arial"/>
                <a:cs typeface="Arial"/>
              </a:rPr>
              <a:t>ر</a:t>
            </a:r>
            <a:r>
              <a:rPr dirty="0" sz="1800" spc="-229">
                <a:latin typeface="Arial"/>
                <a:cs typeface="Arial"/>
              </a:rPr>
              <a:t>ُّ </a:t>
            </a:r>
            <a:r>
              <a:rPr dirty="0" baseline="1543" sz="2700" spc="-914">
                <a:latin typeface="Arial"/>
                <a:cs typeface="Arial"/>
              </a:rPr>
              <a:t>ض</a:t>
            </a:r>
            <a:r>
              <a:rPr dirty="0" sz="1800" spc="-610">
                <a:latin typeface="Arial"/>
                <a:cs typeface="Arial"/>
              </a:rPr>
              <a:t>ُّ</a:t>
            </a:r>
            <a:r>
              <a:rPr dirty="0" sz="1800" spc="875">
                <a:latin typeface="Arial"/>
                <a:cs typeface="Arial"/>
              </a:rPr>
              <a:t> </a:t>
            </a:r>
            <a:r>
              <a:rPr dirty="0" baseline="1543" sz="2700" spc="-412">
                <a:latin typeface="Arial"/>
                <a:cs typeface="Arial"/>
              </a:rPr>
              <a:t>لا </a:t>
            </a:r>
            <a:r>
              <a:rPr dirty="0" baseline="1543" sz="2700">
                <a:latin typeface="Arial"/>
                <a:cs typeface="Arial"/>
              </a:rPr>
              <a:t>ً</a:t>
            </a:r>
            <a:r>
              <a:rPr dirty="0" baseline="-1543" sz="2700">
                <a:latin typeface="Arial"/>
                <a:cs typeface="Arial"/>
              </a:rPr>
              <a:t>َ </a:t>
            </a:r>
            <a:r>
              <a:rPr dirty="0" baseline="1543" sz="2700" spc="-705">
                <a:latin typeface="Arial"/>
                <a:cs typeface="Arial"/>
              </a:rPr>
              <a:t>ن</a:t>
            </a:r>
            <a:r>
              <a:rPr dirty="0" sz="1800" spc="-470">
                <a:latin typeface="Arial"/>
                <a:cs typeface="Arial"/>
              </a:rPr>
              <a:t>ِ </a:t>
            </a:r>
            <a:r>
              <a:rPr dirty="0" baseline="1543" sz="2700" spc="-667">
                <a:latin typeface="Arial"/>
                <a:cs typeface="Arial"/>
              </a:rPr>
              <a:t>س</a:t>
            </a:r>
            <a:r>
              <a:rPr dirty="0" sz="1800" spc="-445">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337">
                <a:latin typeface="Arial"/>
                <a:cs typeface="Arial"/>
              </a:rPr>
              <a:t>ًن</a:t>
            </a:r>
            <a:r>
              <a:rPr dirty="0" baseline="9259" sz="2700" spc="-337">
                <a:latin typeface="Arial"/>
                <a:cs typeface="Arial"/>
              </a:rPr>
              <a:t>ِّ </a:t>
            </a:r>
            <a:r>
              <a:rPr dirty="0" baseline="15432" sz="2700">
                <a:latin typeface="Arial"/>
                <a:cs typeface="Arial"/>
              </a:rPr>
              <a:t>َ</a:t>
            </a:r>
            <a:r>
              <a:rPr dirty="0" baseline="1543" sz="2700">
                <a:latin typeface="Arial"/>
                <a:cs typeface="Arial"/>
              </a:rPr>
              <a:t>أ </a:t>
            </a:r>
            <a:r>
              <a:rPr dirty="0" baseline="1543" sz="2700" spc="-322">
                <a:latin typeface="Arial"/>
                <a:cs typeface="Arial"/>
              </a:rPr>
              <a:t>هُ </a:t>
            </a:r>
            <a:r>
              <a:rPr dirty="0" baseline="1543" sz="2700" spc="-607">
                <a:latin typeface="Arial"/>
                <a:cs typeface="Arial"/>
              </a:rPr>
              <a:t>ب</a:t>
            </a:r>
            <a:r>
              <a:rPr dirty="0" sz="1800" spc="-405">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225">
                <a:latin typeface="Arial"/>
                <a:cs typeface="Arial"/>
              </a:rPr>
              <a:t>ىد</a:t>
            </a:r>
            <a:r>
              <a:rPr dirty="0" sz="1800" spc="-150">
                <a:latin typeface="Arial"/>
                <a:cs typeface="Arial"/>
              </a:rPr>
              <a:t>َ </a:t>
            </a:r>
            <a:r>
              <a:rPr dirty="0" baseline="1543" sz="2700" spc="-412">
                <a:latin typeface="Arial"/>
                <a:cs typeface="Arial"/>
              </a:rPr>
              <a:t>ان</a:t>
            </a:r>
            <a:r>
              <a:rPr dirty="0" baseline="6172" sz="2700" spc="-412">
                <a:latin typeface="Arial"/>
                <a:cs typeface="Arial"/>
              </a:rPr>
              <a:t>َ </a:t>
            </a:r>
            <a:r>
              <a:rPr dirty="0" baseline="1543" sz="2700" spc="-300">
                <a:latin typeface="Arial"/>
                <a:cs typeface="Arial"/>
              </a:rPr>
              <a:t>ذ</a:t>
            </a:r>
            <a:r>
              <a:rPr dirty="0" baseline="15432" sz="2700" spc="-300">
                <a:latin typeface="Arial"/>
                <a:cs typeface="Arial"/>
              </a:rPr>
              <a:t>ْ </a:t>
            </a:r>
            <a:r>
              <a:rPr dirty="0" baseline="-12345" sz="2700">
                <a:latin typeface="Arial"/>
                <a:cs typeface="Arial"/>
              </a:rPr>
              <a:t>ِ</a:t>
            </a:r>
            <a:r>
              <a:rPr dirty="0" baseline="1543" sz="2700">
                <a:latin typeface="Arial"/>
                <a:cs typeface="Arial"/>
              </a:rPr>
              <a:t>إ </a:t>
            </a:r>
            <a:r>
              <a:rPr dirty="0" baseline="1543" sz="2700" spc="-772">
                <a:latin typeface="Arial"/>
                <a:cs typeface="Arial"/>
              </a:rPr>
              <a:t>ب</a:t>
            </a:r>
            <a:r>
              <a:rPr dirty="0" baseline="-1543" sz="2700" spc="-772">
                <a:latin typeface="Arial"/>
                <a:cs typeface="Arial"/>
              </a:rPr>
              <a:t>َ</a:t>
            </a:r>
            <a:r>
              <a:rPr dirty="0" baseline="-1543" sz="2700" spc="787">
                <a:latin typeface="Arial"/>
                <a:cs typeface="Arial"/>
              </a:rPr>
              <a:t> </a:t>
            </a:r>
            <a:r>
              <a:rPr dirty="0" baseline="1543" sz="2700">
                <a:latin typeface="Arial"/>
                <a:cs typeface="Arial"/>
              </a:rPr>
              <a:t>وٌ</a:t>
            </a:r>
            <a:r>
              <a:rPr dirty="0" sz="1800">
                <a:latin typeface="Arial"/>
                <a:cs typeface="Arial"/>
              </a:rPr>
              <a:t>ُّ</a:t>
            </a:r>
            <a:r>
              <a:rPr dirty="0" sz="1800" spc="-385">
                <a:latin typeface="Arial"/>
                <a:cs typeface="Arial"/>
              </a:rPr>
              <a:t> </a:t>
            </a:r>
            <a:r>
              <a:rPr dirty="0" baseline="15432" sz="2700" spc="-209">
                <a:latin typeface="Arial"/>
                <a:cs typeface="Arial"/>
              </a:rPr>
              <a:t>َ</a:t>
            </a:r>
            <a:r>
              <a:rPr dirty="0" baseline="1543" sz="2700" spc="-209">
                <a:latin typeface="Arial"/>
                <a:cs typeface="Arial"/>
              </a:rPr>
              <a:t>أو</a:t>
            </a:r>
            <a:endParaRPr baseline="1543" sz="2700">
              <a:latin typeface="Arial"/>
              <a:cs typeface="Arial"/>
            </a:endParaRPr>
          </a:p>
          <a:p>
            <a:pPr marL="152400" marR="156210">
              <a:lnSpc>
                <a:spcPts val="1380"/>
              </a:lnSpc>
              <a:spcBef>
                <a:spcPts val="1380"/>
              </a:spcBef>
              <a:buAutoNum type="arabicPeriod" startAt="83"/>
              <a:tabLst>
                <a:tab pos="423545" algn="l"/>
              </a:tabLst>
            </a:pPr>
            <a:r>
              <a:rPr dirty="0" sz="1200" spc="-5">
                <a:latin typeface="Arial"/>
                <a:cs typeface="Arial"/>
              </a:rPr>
              <a:t>And Job, when he cried unto his Lord, (saying): Lo! Adversity </a:t>
            </a:r>
            <a:r>
              <a:rPr dirty="0" sz="1200">
                <a:latin typeface="Arial"/>
                <a:cs typeface="Arial"/>
              </a:rPr>
              <a:t>afflicts </a:t>
            </a:r>
            <a:r>
              <a:rPr dirty="0" sz="1200" spc="-5">
                <a:latin typeface="Arial"/>
                <a:cs typeface="Arial"/>
              </a:rPr>
              <a:t>me, and Thou </a:t>
            </a:r>
            <a:r>
              <a:rPr dirty="0" sz="1200">
                <a:latin typeface="Arial"/>
                <a:cs typeface="Arial"/>
              </a:rPr>
              <a:t>art  </a:t>
            </a:r>
            <a:r>
              <a:rPr dirty="0" sz="1200" spc="-5">
                <a:latin typeface="Arial"/>
                <a:cs typeface="Arial"/>
              </a:rPr>
              <a:t>Most Merciful of all </a:t>
            </a:r>
            <a:r>
              <a:rPr dirty="0" sz="1200" spc="-10">
                <a:latin typeface="Arial"/>
                <a:cs typeface="Arial"/>
              </a:rPr>
              <a:t>who </a:t>
            </a:r>
            <a:r>
              <a:rPr dirty="0" sz="1200" spc="-5">
                <a:latin typeface="Arial"/>
                <a:cs typeface="Arial"/>
              </a:rPr>
              <a:t>show</a:t>
            </a:r>
            <a:r>
              <a:rPr dirty="0" sz="1200" spc="25">
                <a:latin typeface="Arial"/>
                <a:cs typeface="Arial"/>
              </a:rPr>
              <a:t> </a:t>
            </a:r>
            <a:r>
              <a:rPr dirty="0" sz="1200" spc="-5">
                <a:latin typeface="Arial"/>
                <a:cs typeface="Arial"/>
              </a:rPr>
              <a:t>mercy.</a:t>
            </a:r>
            <a:endParaRPr sz="1200">
              <a:latin typeface="Arial"/>
              <a:cs typeface="Arial"/>
            </a:endParaRPr>
          </a:p>
        </p:txBody>
      </p:sp>
      <p:sp>
        <p:nvSpPr>
          <p:cNvPr id="9" name="object 9"/>
          <p:cNvSpPr txBox="1"/>
          <p:nvPr/>
        </p:nvSpPr>
        <p:spPr>
          <a:xfrm>
            <a:off x="914196" y="8599169"/>
            <a:ext cx="3928110" cy="299720"/>
          </a:xfrm>
          <a:prstGeom prst="rect">
            <a:avLst/>
          </a:prstGeom>
        </p:spPr>
        <p:txBody>
          <a:bodyPr wrap="square" lIns="0" tIns="12700" rIns="0" bIns="0" rtlCol="0" vert="horz">
            <a:spAutoFit/>
          </a:bodyPr>
          <a:lstStyle/>
          <a:p>
            <a:pPr marL="50800">
              <a:lnSpc>
                <a:spcPct val="100000"/>
              </a:lnSpc>
              <a:spcBef>
                <a:spcPts val="100"/>
              </a:spcBef>
            </a:pPr>
            <a:r>
              <a:rPr dirty="0" baseline="1543" sz="2700" spc="-330">
                <a:latin typeface="Arial"/>
                <a:cs typeface="Arial"/>
              </a:rPr>
              <a:t>ىر</a:t>
            </a:r>
            <a:r>
              <a:rPr dirty="0" baseline="-1543" sz="2700" spc="-330">
                <a:latin typeface="Arial"/>
                <a:cs typeface="Arial"/>
              </a:rPr>
              <a:t>َ </a:t>
            </a:r>
            <a:r>
              <a:rPr dirty="0" baseline="1543" sz="2700" spc="-682">
                <a:latin typeface="Arial"/>
                <a:cs typeface="Arial"/>
              </a:rPr>
              <a:t>ك</a:t>
            </a:r>
            <a:r>
              <a:rPr dirty="0" baseline="9259" sz="2700" spc="-682">
                <a:latin typeface="Arial"/>
                <a:cs typeface="Arial"/>
              </a:rPr>
              <a:t>ْ </a:t>
            </a:r>
            <a:r>
              <a:rPr dirty="0" baseline="1543" sz="2700" spc="-352">
                <a:latin typeface="Arial"/>
                <a:cs typeface="Arial"/>
              </a:rPr>
              <a:t>ذ</a:t>
            </a:r>
            <a:r>
              <a:rPr dirty="0" sz="1800" spc="-235">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412">
                <a:latin typeface="Arial"/>
                <a:cs typeface="Arial"/>
              </a:rPr>
              <a:t>ان</a:t>
            </a:r>
            <a:r>
              <a:rPr dirty="0" baseline="6172" sz="2700" spc="-412">
                <a:latin typeface="Arial"/>
                <a:cs typeface="Arial"/>
              </a:rPr>
              <a:t>َ </a:t>
            </a:r>
            <a:r>
              <a:rPr dirty="0" baseline="1543" sz="2700" spc="-359">
                <a:latin typeface="Arial"/>
                <a:cs typeface="Arial"/>
              </a:rPr>
              <a:t>د</a:t>
            </a:r>
            <a:r>
              <a:rPr dirty="0" sz="1800" spc="-240">
                <a:latin typeface="Arial"/>
                <a:cs typeface="Arial"/>
              </a:rPr>
              <a:t>ِ </a:t>
            </a:r>
            <a:r>
              <a:rPr dirty="0" baseline="1543" sz="2700" spc="-652">
                <a:latin typeface="Arial"/>
                <a:cs typeface="Arial"/>
              </a:rPr>
              <a:t>نع</a:t>
            </a:r>
            <a:r>
              <a:rPr dirty="0" sz="1800" spc="-434">
                <a:latin typeface="Arial"/>
                <a:cs typeface="Arial"/>
              </a:rPr>
              <a:t>ِ </a:t>
            </a:r>
            <a:r>
              <a:rPr dirty="0" baseline="1543" sz="2700" spc="-465">
                <a:latin typeface="Arial"/>
                <a:cs typeface="Arial"/>
              </a:rPr>
              <a:t>نْ  </a:t>
            </a:r>
            <a:r>
              <a:rPr dirty="0" baseline="1543" sz="2700" spc="-254">
                <a:latin typeface="Arial"/>
                <a:cs typeface="Arial"/>
              </a:rPr>
              <a:t>مِّ  </a:t>
            </a:r>
            <a:r>
              <a:rPr dirty="0" baseline="1543" sz="2700" spc="-284">
                <a:latin typeface="Arial"/>
                <a:cs typeface="Arial"/>
              </a:rPr>
              <a:t>ة</a:t>
            </a:r>
            <a:r>
              <a:rPr dirty="0" baseline="12345" sz="2700" spc="-284">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555">
                <a:latin typeface="Arial"/>
                <a:cs typeface="Arial"/>
              </a:rPr>
              <a:t>حْ </a:t>
            </a:r>
            <a:r>
              <a:rPr dirty="0" baseline="1543" sz="2700" spc="-494">
                <a:latin typeface="Arial"/>
                <a:cs typeface="Arial"/>
              </a:rPr>
              <a:t>ر</a:t>
            </a:r>
            <a:r>
              <a:rPr dirty="0" baseline="-1543" sz="2700" spc="-494">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1543" sz="2700" spc="-600">
                <a:latin typeface="Arial"/>
                <a:cs typeface="Arial"/>
              </a:rPr>
              <a:t>ع</a:t>
            </a:r>
            <a:r>
              <a:rPr dirty="0" baseline="-1543" sz="2700" spc="-600">
                <a:latin typeface="Arial"/>
                <a:cs typeface="Arial"/>
              </a:rPr>
              <a:t>َ </a:t>
            </a:r>
            <a:r>
              <a:rPr dirty="0" baseline="1543" sz="2700" spc="-254">
                <a:latin typeface="Arial"/>
                <a:cs typeface="Arial"/>
              </a:rPr>
              <a:t>م</a:t>
            </a:r>
            <a:r>
              <a:rPr dirty="0" sz="1800" spc="-170">
                <a:latin typeface="Arial"/>
                <a:cs typeface="Arial"/>
              </a:rPr>
              <a:t>َّ  </a:t>
            </a:r>
            <a:r>
              <a:rPr dirty="0" baseline="1543" sz="2700" spc="-240">
                <a:latin typeface="Arial"/>
                <a:cs typeface="Arial"/>
              </a:rPr>
              <a:t>مهُ </a:t>
            </a:r>
            <a:r>
              <a:rPr dirty="0" baseline="1543" sz="2700" spc="-690">
                <a:latin typeface="Arial"/>
                <a:cs typeface="Arial"/>
              </a:rPr>
              <a:t>ل</a:t>
            </a:r>
            <a:r>
              <a:rPr dirty="0" baseline="9259" sz="2700" spc="-690">
                <a:latin typeface="Arial"/>
                <a:cs typeface="Arial"/>
              </a:rPr>
              <a:t>َ </a:t>
            </a:r>
            <a:r>
              <a:rPr dirty="0" baseline="1543" sz="2700" spc="-862">
                <a:latin typeface="Arial"/>
                <a:cs typeface="Arial"/>
              </a:rPr>
              <a:t>ث</a:t>
            </a:r>
            <a:r>
              <a:rPr dirty="0" baseline="15432" sz="2700" spc="-862">
                <a:latin typeface="Arial"/>
                <a:cs typeface="Arial"/>
              </a:rPr>
              <a:t>ْ</a:t>
            </a:r>
            <a:r>
              <a:rPr dirty="0" baseline="15432" sz="2700" spc="-307">
                <a:latin typeface="Arial"/>
                <a:cs typeface="Arial"/>
              </a:rPr>
              <a:t> </a:t>
            </a:r>
            <a:r>
              <a:rPr dirty="0" baseline="1543" sz="2700" spc="-352">
                <a:latin typeface="Arial"/>
                <a:cs typeface="Arial"/>
              </a:rPr>
              <a:t>م</a:t>
            </a:r>
            <a:r>
              <a:rPr dirty="0" sz="1800" spc="-235">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22">
                <a:latin typeface="Arial"/>
                <a:cs typeface="Arial"/>
              </a:rPr>
              <a:t>هُ </a:t>
            </a:r>
            <a:r>
              <a:rPr dirty="0" baseline="9259" sz="2700" spc="-330">
                <a:latin typeface="Arial"/>
                <a:cs typeface="Arial"/>
              </a:rPr>
              <a:t>َ</a:t>
            </a:r>
            <a:r>
              <a:rPr dirty="0" baseline="1543" sz="2700" spc="-330">
                <a:latin typeface="Arial"/>
                <a:cs typeface="Arial"/>
              </a:rPr>
              <a:t>لهْ </a:t>
            </a:r>
            <a:r>
              <a:rPr dirty="0" baseline="15432" sz="2700">
                <a:latin typeface="Arial"/>
                <a:cs typeface="Arial"/>
              </a:rPr>
              <a:t>َ</a:t>
            </a:r>
            <a:r>
              <a:rPr dirty="0" baseline="1543" sz="2700">
                <a:latin typeface="Arial"/>
                <a:cs typeface="Arial"/>
              </a:rPr>
              <a:t>أ </a:t>
            </a:r>
            <a:r>
              <a:rPr dirty="0" baseline="1543" sz="2700" spc="-382">
                <a:latin typeface="Arial"/>
                <a:cs typeface="Arial"/>
              </a:rPr>
              <a:t>هُ </a:t>
            </a:r>
            <a:r>
              <a:rPr dirty="0" baseline="1543" sz="2700" spc="-412">
                <a:latin typeface="Arial"/>
                <a:cs typeface="Arial"/>
              </a:rPr>
              <a:t>ان</a:t>
            </a:r>
            <a:r>
              <a:rPr dirty="0" baseline="6172" sz="2700" spc="-412">
                <a:latin typeface="Arial"/>
                <a:cs typeface="Arial"/>
              </a:rPr>
              <a:t>َ </a:t>
            </a:r>
            <a:r>
              <a:rPr dirty="0" baseline="1543" sz="2700">
                <a:latin typeface="Arial"/>
                <a:cs typeface="Arial"/>
              </a:rPr>
              <a:t>ٌْ </a:t>
            </a:r>
            <a:r>
              <a:rPr dirty="0" baseline="1543" sz="2700" spc="-907">
                <a:latin typeface="Arial"/>
                <a:cs typeface="Arial"/>
              </a:rPr>
              <a:t>ت</a:t>
            </a:r>
            <a:r>
              <a:rPr dirty="0" baseline="6172" sz="2700" spc="-907">
                <a:latin typeface="Arial"/>
                <a:cs typeface="Arial"/>
              </a:rPr>
              <a:t>َ</a:t>
            </a:r>
            <a:r>
              <a:rPr dirty="0" baseline="6172" sz="2700" spc="-232">
                <a:latin typeface="Arial"/>
                <a:cs typeface="Arial"/>
              </a:rPr>
              <a:t> </a:t>
            </a:r>
            <a:r>
              <a:rPr dirty="0" baseline="1543" sz="2700" spc="-209">
                <a:latin typeface="Arial"/>
                <a:cs typeface="Arial"/>
              </a:rPr>
              <a:t>آو</a:t>
            </a:r>
            <a:r>
              <a:rPr dirty="0" baseline="-1543" sz="2700" spc="-209">
                <a:latin typeface="Arial"/>
                <a:cs typeface="Arial"/>
              </a:rPr>
              <a:t>َ </a:t>
            </a:r>
            <a:r>
              <a:rPr dirty="0" baseline="1543" sz="2700" spc="-345">
                <a:latin typeface="Arial"/>
                <a:cs typeface="Arial"/>
              </a:rPr>
              <a:t>ر</a:t>
            </a:r>
            <a:r>
              <a:rPr dirty="0" sz="1800" spc="-229">
                <a:latin typeface="Arial"/>
                <a:cs typeface="Arial"/>
              </a:rPr>
              <a:t>ٍّ</a:t>
            </a:r>
            <a:r>
              <a:rPr dirty="0" sz="1800" spc="-215">
                <a:latin typeface="Arial"/>
                <a:cs typeface="Arial"/>
              </a:rPr>
              <a:t> </a:t>
            </a:r>
            <a:r>
              <a:rPr dirty="0" baseline="1543" sz="2700" spc="-2775">
                <a:latin typeface="Arial"/>
                <a:cs typeface="Arial"/>
              </a:rPr>
              <a:t>ض</a:t>
            </a:r>
            <a:endParaRPr baseline="1543" sz="2700">
              <a:latin typeface="Arial"/>
              <a:cs typeface="Arial"/>
            </a:endParaRPr>
          </a:p>
        </p:txBody>
      </p:sp>
      <p:sp>
        <p:nvSpPr>
          <p:cNvPr id="10" name="object 10"/>
          <p:cNvSpPr txBox="1"/>
          <p:nvPr/>
        </p:nvSpPr>
        <p:spPr>
          <a:xfrm>
            <a:off x="4589017" y="8606790"/>
            <a:ext cx="2281555" cy="561975"/>
          </a:xfrm>
          <a:prstGeom prst="rect">
            <a:avLst/>
          </a:prstGeom>
        </p:spPr>
        <p:txBody>
          <a:bodyPr wrap="square" lIns="0" tIns="12700" rIns="0" bIns="0" rtlCol="0" vert="horz">
            <a:spAutoFit/>
          </a:bodyPr>
          <a:lstStyle/>
          <a:p>
            <a:pPr algn="r" marR="86360">
              <a:lnSpc>
                <a:spcPts val="2110"/>
              </a:lnSpc>
              <a:spcBef>
                <a:spcPts val="100"/>
              </a:spcBef>
            </a:pPr>
            <a:r>
              <a:rPr dirty="0" baseline="3086" sz="2700">
                <a:latin typeface="Arial"/>
                <a:cs typeface="Arial"/>
              </a:rPr>
              <a:t>ُ </a:t>
            </a:r>
            <a:r>
              <a:rPr dirty="0" baseline="3086" sz="2700" spc="-240">
                <a:latin typeface="Arial"/>
                <a:cs typeface="Arial"/>
              </a:rPr>
              <a:t>نم</a:t>
            </a:r>
            <a:r>
              <a:rPr dirty="0" baseline="1543" sz="2700" spc="-240">
                <a:latin typeface="Arial"/>
                <a:cs typeface="Arial"/>
              </a:rPr>
              <a:t>ِ </a:t>
            </a:r>
            <a:r>
              <a:rPr dirty="0" baseline="3086" sz="2700" spc="-337">
                <a:latin typeface="Arial"/>
                <a:cs typeface="Arial"/>
              </a:rPr>
              <a:t>ه</a:t>
            </a:r>
            <a:r>
              <a:rPr dirty="0" baseline="1543" sz="2700" spc="-337">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644">
                <a:latin typeface="Arial"/>
                <a:cs typeface="Arial"/>
              </a:rPr>
              <a:t> </a:t>
            </a:r>
            <a:r>
              <a:rPr dirty="0" baseline="3086" sz="2700" spc="-225">
                <a:latin typeface="Arial"/>
                <a:cs typeface="Arial"/>
              </a:rPr>
              <a:t>ام</a:t>
            </a:r>
            <a:r>
              <a:rPr dirty="0" sz="1800" spc="-150">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997">
                <a:latin typeface="Arial"/>
                <a:cs typeface="Arial"/>
              </a:rPr>
              <a:t>ف</a:t>
            </a:r>
            <a:r>
              <a:rPr dirty="0" baseline="12345" sz="2700" spc="-997">
                <a:latin typeface="Arial"/>
                <a:cs typeface="Arial"/>
              </a:rPr>
              <a:t>ْ</a:t>
            </a:r>
            <a:r>
              <a:rPr dirty="0" baseline="12345" sz="2700" spc="-195">
                <a:latin typeface="Arial"/>
                <a:cs typeface="Arial"/>
              </a:rPr>
              <a:t> </a:t>
            </a:r>
            <a:r>
              <a:rPr dirty="0" baseline="3086" sz="2700" spc="-1042">
                <a:latin typeface="Arial"/>
                <a:cs typeface="Arial"/>
              </a:rPr>
              <a:t>ش</a:t>
            </a:r>
            <a:r>
              <a:rPr dirty="0" baseline="7716" sz="2700" spc="-1042">
                <a:latin typeface="Arial"/>
                <a:cs typeface="Arial"/>
              </a:rPr>
              <a:t>َ</a:t>
            </a:r>
            <a:r>
              <a:rPr dirty="0" baseline="7716" sz="2700" spc="540">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44">
                <a:latin typeface="Arial"/>
                <a:cs typeface="Arial"/>
              </a:rPr>
              <a:t> </a:t>
            </a:r>
            <a:r>
              <a:rPr dirty="0" baseline="3086" sz="2700" spc="-322">
                <a:latin typeface="Arial"/>
                <a:cs typeface="Arial"/>
              </a:rPr>
              <a:t>هُ </a:t>
            </a:r>
            <a:r>
              <a:rPr dirty="0" baseline="10802" sz="2700" spc="-405">
                <a:latin typeface="Arial"/>
                <a:cs typeface="Arial"/>
              </a:rPr>
              <a:t>َ</a:t>
            </a:r>
            <a:r>
              <a:rPr dirty="0" baseline="3086" sz="2700" spc="-405">
                <a:latin typeface="Arial"/>
                <a:cs typeface="Arial"/>
              </a:rPr>
              <a:t>ل </a:t>
            </a:r>
            <a:r>
              <a:rPr dirty="0" baseline="3086" sz="2700" spc="-412">
                <a:latin typeface="Arial"/>
                <a:cs typeface="Arial"/>
              </a:rPr>
              <a:t>ان</a:t>
            </a:r>
            <a:r>
              <a:rPr dirty="0" baseline="7716" sz="2700" spc="-412">
                <a:latin typeface="Arial"/>
                <a:cs typeface="Arial"/>
              </a:rPr>
              <a:t>َ </a:t>
            </a:r>
            <a:r>
              <a:rPr dirty="0" baseline="3086" sz="2700" spc="-862">
                <a:latin typeface="Arial"/>
                <a:cs typeface="Arial"/>
              </a:rPr>
              <a:t>بْ</a:t>
            </a:r>
            <a:r>
              <a:rPr dirty="0" baseline="3086" sz="2700" spc="-307">
                <a:latin typeface="Arial"/>
                <a:cs typeface="Arial"/>
              </a:rPr>
              <a:t> </a:t>
            </a:r>
            <a:r>
              <a:rPr dirty="0" baseline="3086" sz="2700" spc="-592">
                <a:latin typeface="Arial"/>
                <a:cs typeface="Arial"/>
              </a:rPr>
              <a:t>ج</a:t>
            </a:r>
            <a:r>
              <a:rPr dirty="0" sz="1800" spc="-395">
                <a:latin typeface="Arial"/>
                <a:cs typeface="Arial"/>
              </a:rPr>
              <a:t>َ</a:t>
            </a:r>
            <a:r>
              <a:rPr dirty="0" sz="1800" spc="-360">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spc="-944">
                <a:latin typeface="Arial"/>
                <a:cs typeface="Arial"/>
              </a:rPr>
              <a:t>سْ</a:t>
            </a:r>
            <a:r>
              <a:rPr dirty="0" baseline="3086" sz="2700" spc="345">
                <a:latin typeface="Arial"/>
                <a:cs typeface="Arial"/>
              </a:rPr>
              <a:t> </a:t>
            </a:r>
            <a:r>
              <a:rPr dirty="0" baseline="3086" sz="2700" spc="-1012">
                <a:latin typeface="Arial"/>
                <a:cs typeface="Arial"/>
              </a:rPr>
              <a:t>اف</a:t>
            </a:r>
            <a:endParaRPr baseline="3086" sz="2700">
              <a:latin typeface="Arial"/>
              <a:cs typeface="Arial"/>
            </a:endParaRPr>
          </a:p>
          <a:p>
            <a:pPr algn="r" marR="30480">
              <a:lnSpc>
                <a:spcPts val="2110"/>
              </a:lnSpc>
            </a:pPr>
            <a:r>
              <a:rPr dirty="0" baseline="3086" sz="2700" spc="-494">
                <a:latin typeface="Arial"/>
                <a:cs typeface="Arial"/>
              </a:rPr>
              <a:t>ن</a:t>
            </a:r>
            <a:r>
              <a:rPr dirty="0" sz="1800" spc="-330">
                <a:latin typeface="Arial"/>
                <a:cs typeface="Arial"/>
              </a:rPr>
              <a:t>َ </a:t>
            </a:r>
            <a:r>
              <a:rPr dirty="0" baseline="3086" sz="2700" spc="-232">
                <a:latin typeface="Arial"/>
                <a:cs typeface="Arial"/>
              </a:rPr>
              <a:t>ٌد</a:t>
            </a:r>
            <a:r>
              <a:rPr dirty="0" baseline="1543" sz="2700" spc="-232">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127">
                <a:latin typeface="Arial"/>
                <a:cs typeface="Arial"/>
              </a:rPr>
              <a:t> </a:t>
            </a:r>
            <a:r>
              <a:rPr dirty="0" baseline="3086" sz="2700" spc="-390">
                <a:latin typeface="Arial"/>
                <a:cs typeface="Arial"/>
              </a:rPr>
              <a:t>اع</a:t>
            </a:r>
            <a:r>
              <a:rPr dirty="0" sz="1800" spc="-260">
                <a:latin typeface="Arial"/>
                <a:cs typeface="Arial"/>
              </a:rPr>
              <a:t>َ</a:t>
            </a:r>
            <a:r>
              <a:rPr dirty="0" sz="1800" spc="-190">
                <a:latin typeface="Arial"/>
                <a:cs typeface="Arial"/>
              </a:rPr>
              <a:t> </a:t>
            </a:r>
            <a:r>
              <a:rPr dirty="0" baseline="3086" sz="2700" spc="-652">
                <a:latin typeface="Arial"/>
                <a:cs typeface="Arial"/>
              </a:rPr>
              <a:t>ل</a:t>
            </a:r>
            <a:r>
              <a:rPr dirty="0" baseline="13888" sz="2700" spc="-652">
                <a:latin typeface="Arial"/>
                <a:cs typeface="Arial"/>
              </a:rPr>
              <a:t>ْ </a:t>
            </a:r>
            <a:r>
              <a:rPr dirty="0" baseline="1543" sz="2700" spc="-405">
                <a:latin typeface="Arial"/>
                <a:cs typeface="Arial"/>
              </a:rPr>
              <a:t>ِ</a:t>
            </a:r>
            <a:r>
              <a:rPr dirty="0" baseline="3086" sz="2700" spc="-405">
                <a:latin typeface="Arial"/>
                <a:cs typeface="Arial"/>
              </a:rPr>
              <a:t>ل</a:t>
            </a:r>
            <a:endParaRPr baseline="3086" sz="2700">
              <a:latin typeface="Arial"/>
              <a:cs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6419" y="432307"/>
            <a:ext cx="6626859" cy="9351010"/>
          </a:xfrm>
          <a:prstGeom prst="rect">
            <a:avLst/>
          </a:prstGeom>
        </p:spPr>
        <p:txBody>
          <a:bodyPr wrap="square" lIns="0" tIns="12700" rIns="0" bIns="0" rtlCol="0" vert="horz">
            <a:spAutoFit/>
          </a:bodyPr>
          <a:lstStyle/>
          <a:p>
            <a:pPr marL="165100">
              <a:lnSpc>
                <a:spcPct val="100000"/>
              </a:lnSpc>
              <a:spcBef>
                <a:spcPts val="100"/>
              </a:spcBef>
              <a:tabLst>
                <a:tab pos="52165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65100" marR="173355">
              <a:lnSpc>
                <a:spcPts val="1380"/>
              </a:lnSpc>
              <a:buAutoNum type="arabicPeriod" startAt="84"/>
              <a:tabLst>
                <a:tab pos="431800" algn="l"/>
              </a:tabLst>
            </a:pPr>
            <a:r>
              <a:rPr dirty="0" sz="1200" spc="-5">
                <a:latin typeface="Arial"/>
                <a:cs typeface="Arial"/>
              </a:rPr>
              <a:t>Then </a:t>
            </a:r>
            <a:r>
              <a:rPr dirty="0" sz="1200" spc="15">
                <a:latin typeface="Arial"/>
                <a:cs typeface="Arial"/>
              </a:rPr>
              <a:t>We </a:t>
            </a:r>
            <a:r>
              <a:rPr dirty="0" sz="1200" spc="-5">
                <a:latin typeface="Arial"/>
                <a:cs typeface="Arial"/>
              </a:rPr>
              <a:t>heard his prayer and removed </a:t>
            </a:r>
            <a:r>
              <a:rPr dirty="0" sz="1200">
                <a:latin typeface="Arial"/>
                <a:cs typeface="Arial"/>
              </a:rPr>
              <a:t>that </a:t>
            </a:r>
            <a:r>
              <a:rPr dirty="0" sz="1200" spc="-5">
                <a:latin typeface="Arial"/>
                <a:cs typeface="Arial"/>
              </a:rPr>
              <a:t>adversity </a:t>
            </a:r>
            <a:r>
              <a:rPr dirty="0" sz="1200">
                <a:latin typeface="Arial"/>
                <a:cs typeface="Arial"/>
              </a:rPr>
              <a:t>from </a:t>
            </a:r>
            <a:r>
              <a:rPr dirty="0" sz="1200" spc="-5">
                <a:latin typeface="Arial"/>
                <a:cs typeface="Arial"/>
              </a:rPr>
              <a:t>which he suffered, </a:t>
            </a:r>
            <a:r>
              <a:rPr dirty="0" sz="1200" spc="-10">
                <a:latin typeface="Arial"/>
                <a:cs typeface="Arial"/>
              </a:rPr>
              <a:t>and </a:t>
            </a:r>
            <a:r>
              <a:rPr dirty="0" sz="1200" spc="15">
                <a:latin typeface="Arial"/>
                <a:cs typeface="Arial"/>
              </a:rPr>
              <a:t>We  </a:t>
            </a:r>
            <a:r>
              <a:rPr dirty="0" sz="1200" spc="-10">
                <a:latin typeface="Arial"/>
                <a:cs typeface="Arial"/>
              </a:rPr>
              <a:t>gave </a:t>
            </a:r>
            <a:r>
              <a:rPr dirty="0" sz="1200" spc="-5">
                <a:latin typeface="Arial"/>
                <a:cs typeface="Arial"/>
              </a:rPr>
              <a:t>him his household (that </a:t>
            </a:r>
            <a:r>
              <a:rPr dirty="0" sz="1200" spc="-10">
                <a:latin typeface="Arial"/>
                <a:cs typeface="Arial"/>
              </a:rPr>
              <a:t>he </a:t>
            </a:r>
            <a:r>
              <a:rPr dirty="0" sz="1200" spc="-5">
                <a:latin typeface="Arial"/>
                <a:cs typeface="Arial"/>
              </a:rPr>
              <a:t>had </a:t>
            </a:r>
            <a:r>
              <a:rPr dirty="0" sz="1200">
                <a:latin typeface="Arial"/>
                <a:cs typeface="Arial"/>
              </a:rPr>
              <a:t>lost) </a:t>
            </a:r>
            <a:r>
              <a:rPr dirty="0" sz="1200" spc="-10">
                <a:latin typeface="Arial"/>
                <a:cs typeface="Arial"/>
              </a:rPr>
              <a:t>and </a:t>
            </a:r>
            <a:r>
              <a:rPr dirty="0" sz="1200" spc="-5">
                <a:latin typeface="Arial"/>
                <a:cs typeface="Arial"/>
              </a:rPr>
              <a:t>the like thereof </a:t>
            </a:r>
            <a:r>
              <a:rPr dirty="0" sz="1200">
                <a:latin typeface="Arial"/>
                <a:cs typeface="Arial"/>
              </a:rPr>
              <a:t>along </a:t>
            </a:r>
            <a:r>
              <a:rPr dirty="0" sz="1200" spc="-5">
                <a:latin typeface="Arial"/>
                <a:cs typeface="Arial"/>
              </a:rPr>
              <a:t>with </a:t>
            </a:r>
            <a:r>
              <a:rPr dirty="0" sz="1200">
                <a:latin typeface="Arial"/>
                <a:cs typeface="Arial"/>
              </a:rPr>
              <a:t>them, </a:t>
            </a:r>
            <a:r>
              <a:rPr dirty="0" sz="1200" spc="-5">
                <a:latin typeface="Arial"/>
                <a:cs typeface="Arial"/>
              </a:rPr>
              <a:t>a mercy from  </a:t>
            </a:r>
            <a:r>
              <a:rPr dirty="0" sz="1200">
                <a:latin typeface="Arial"/>
                <a:cs typeface="Arial"/>
              </a:rPr>
              <a:t>Our store, </a:t>
            </a:r>
            <a:r>
              <a:rPr dirty="0" sz="1200" spc="-5">
                <a:latin typeface="Arial"/>
                <a:cs typeface="Arial"/>
              </a:rPr>
              <a:t>and a remembrance </a:t>
            </a:r>
            <a:r>
              <a:rPr dirty="0" sz="1200">
                <a:latin typeface="Arial"/>
                <a:cs typeface="Arial"/>
              </a:rPr>
              <a:t>for </a:t>
            </a:r>
            <a:r>
              <a:rPr dirty="0" sz="1200" spc="-5">
                <a:latin typeface="Arial"/>
                <a:cs typeface="Arial"/>
              </a:rPr>
              <a:t>the worshippers.</a:t>
            </a:r>
            <a:endParaRPr sz="1200">
              <a:latin typeface="Arial"/>
              <a:cs typeface="Arial"/>
            </a:endParaRPr>
          </a:p>
          <a:p>
            <a:pPr>
              <a:lnSpc>
                <a:spcPct val="100000"/>
              </a:lnSpc>
              <a:buFont typeface="Arial"/>
              <a:buAutoNum type="arabicPeriod" startAt="84"/>
            </a:pPr>
            <a:endParaRPr sz="1300">
              <a:latin typeface="Arial"/>
              <a:cs typeface="Arial"/>
            </a:endParaRPr>
          </a:p>
          <a:p>
            <a:pPr>
              <a:lnSpc>
                <a:spcPct val="100000"/>
              </a:lnSpc>
              <a:spcBef>
                <a:spcPts val="20"/>
              </a:spcBef>
              <a:buFont typeface="Arial"/>
              <a:buAutoNum type="arabicPeriod" startAt="84"/>
            </a:pPr>
            <a:endParaRPr sz="1000">
              <a:latin typeface="Arial"/>
              <a:cs typeface="Arial"/>
            </a:endParaRPr>
          </a:p>
          <a:p>
            <a:pPr marL="165100">
              <a:lnSpc>
                <a:spcPct val="100000"/>
              </a:lnSpc>
              <a:spcBef>
                <a:spcPts val="5"/>
              </a:spcBef>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Hazrat </a:t>
            </a:r>
            <a:r>
              <a:rPr dirty="0" u="heavy" sz="1200" spc="-40" b="1" i="1">
                <a:uFill>
                  <a:solidFill>
                    <a:srgbClr val="000000"/>
                  </a:solidFill>
                </a:uFill>
                <a:latin typeface="Arial"/>
                <a:cs typeface="Arial"/>
              </a:rPr>
              <a:t>Isma‟il </a:t>
            </a:r>
            <a:r>
              <a:rPr dirty="0" u="heavy" sz="1200" spc="-5" b="1" i="1">
                <a:uFill>
                  <a:solidFill>
                    <a:srgbClr val="000000"/>
                  </a:solidFill>
                </a:uFill>
                <a:latin typeface="Arial"/>
                <a:cs typeface="Arial"/>
              </a:rPr>
              <a:t>(as) and Hazrat </a:t>
            </a:r>
            <a:r>
              <a:rPr dirty="0" u="heavy" sz="1200" b="1" i="1">
                <a:uFill>
                  <a:solidFill>
                    <a:srgbClr val="000000"/>
                  </a:solidFill>
                </a:uFill>
                <a:latin typeface="Arial"/>
                <a:cs typeface="Arial"/>
              </a:rPr>
              <a:t>Idris (as) </a:t>
            </a:r>
            <a:r>
              <a:rPr dirty="0" u="heavy" sz="1200" spc="-5" b="1" i="1">
                <a:uFill>
                  <a:solidFill>
                    <a:srgbClr val="000000"/>
                  </a:solidFill>
                </a:uFill>
                <a:latin typeface="Arial"/>
                <a:cs typeface="Arial"/>
              </a:rPr>
              <a:t>and Hazrat Dhul Kifl</a:t>
            </a:r>
            <a:r>
              <a:rPr dirty="0" u="heavy" sz="1200" spc="65" b="1" i="1">
                <a:uFill>
                  <a:solidFill>
                    <a:srgbClr val="000000"/>
                  </a:solidFill>
                </a:uFill>
                <a:latin typeface="Arial"/>
                <a:cs typeface="Arial"/>
              </a:rPr>
              <a:t> </a:t>
            </a:r>
            <a:r>
              <a:rPr dirty="0" u="heavy" sz="1200" b="1" i="1">
                <a:uFill>
                  <a:solidFill>
                    <a:srgbClr val="000000"/>
                  </a:solidFill>
                </a:uFill>
                <a:latin typeface="Arial"/>
                <a:cs typeface="Arial"/>
              </a:rPr>
              <a:t>(as)</a:t>
            </a:r>
            <a:endParaRPr sz="1200">
              <a:latin typeface="Arial"/>
              <a:cs typeface="Arial"/>
            </a:endParaRPr>
          </a:p>
          <a:p>
            <a:pPr>
              <a:lnSpc>
                <a:spcPct val="100000"/>
              </a:lnSpc>
              <a:spcBef>
                <a:spcPts val="35"/>
              </a:spcBef>
            </a:pPr>
            <a:endParaRPr sz="1200">
              <a:latin typeface="Arial"/>
              <a:cs typeface="Arial"/>
            </a:endParaRPr>
          </a:p>
          <a:p>
            <a:pPr marL="165100" marR="170815">
              <a:lnSpc>
                <a:spcPts val="1380"/>
              </a:lnSpc>
            </a:pPr>
            <a:r>
              <a:rPr dirty="0" sz="1200" spc="-5">
                <a:latin typeface="Arial"/>
                <a:cs typeface="Arial"/>
              </a:rPr>
              <a:t>They </a:t>
            </a:r>
            <a:r>
              <a:rPr dirty="0" sz="1200">
                <a:latin typeface="Arial"/>
                <a:cs typeface="Arial"/>
              </a:rPr>
              <a:t>are </a:t>
            </a:r>
            <a:r>
              <a:rPr dirty="0" sz="1200" spc="-5">
                <a:latin typeface="Arial"/>
                <a:cs typeface="Arial"/>
              </a:rPr>
              <a:t>briefly mentioned in the Qur‘an but all of them are the beloved of Allah without  defects.</a:t>
            </a:r>
            <a:endParaRPr sz="1200">
              <a:latin typeface="Arial"/>
              <a:cs typeface="Arial"/>
            </a:endParaRPr>
          </a:p>
          <a:p>
            <a:pPr>
              <a:lnSpc>
                <a:spcPct val="100000"/>
              </a:lnSpc>
              <a:spcBef>
                <a:spcPts val="15"/>
              </a:spcBef>
            </a:pPr>
            <a:endParaRPr sz="1100">
              <a:latin typeface="Arial"/>
              <a:cs typeface="Arial"/>
            </a:endParaRPr>
          </a:p>
          <a:p>
            <a:pPr marL="165100">
              <a:lnSpc>
                <a:spcPct val="100000"/>
              </a:lnSpc>
              <a:spcBef>
                <a:spcPts val="5"/>
              </a:spcBef>
            </a:pPr>
            <a:r>
              <a:rPr dirty="0" sz="1200" spc="-5">
                <a:latin typeface="Arial"/>
                <a:cs typeface="Arial"/>
              </a:rPr>
              <a:t>Allah says:</a:t>
            </a:r>
            <a:endParaRPr sz="1200">
              <a:latin typeface="Arial"/>
              <a:cs typeface="Arial"/>
            </a:endParaRPr>
          </a:p>
          <a:p>
            <a:pPr>
              <a:lnSpc>
                <a:spcPct val="100000"/>
              </a:lnSpc>
              <a:spcBef>
                <a:spcPts val="55"/>
              </a:spcBef>
            </a:pPr>
            <a:endParaRPr sz="1150">
              <a:latin typeface="Arial"/>
              <a:cs typeface="Arial"/>
            </a:endParaRPr>
          </a:p>
          <a:p>
            <a:pPr algn="r" marR="221615">
              <a:lnSpc>
                <a:spcPct val="100000"/>
              </a:lnSpc>
            </a:pPr>
            <a:r>
              <a:rPr dirty="0" baseline="3086" sz="2700" spc="-494">
                <a:latin typeface="Arial"/>
                <a:cs typeface="Arial"/>
              </a:rPr>
              <a:t>ن</a:t>
            </a:r>
            <a:r>
              <a:rPr dirty="0" sz="1800" spc="-330">
                <a:latin typeface="Arial"/>
                <a:cs typeface="Arial"/>
              </a:rPr>
              <a:t>َ </a:t>
            </a:r>
            <a:r>
              <a:rPr dirty="0" baseline="3086" sz="2700" spc="-307">
                <a:latin typeface="Arial"/>
                <a:cs typeface="Arial"/>
              </a:rPr>
              <a:t>ٌر</a:t>
            </a:r>
            <a:r>
              <a:rPr dirty="0" baseline="-10802" sz="2700" spc="-307">
                <a:latin typeface="Arial"/>
                <a:cs typeface="Arial"/>
              </a:rPr>
              <a:t>ِ </a:t>
            </a:r>
            <a:r>
              <a:rPr dirty="0" baseline="3086" sz="2700" spc="-967">
                <a:latin typeface="Arial"/>
                <a:cs typeface="Arial"/>
              </a:rPr>
              <a:t>ب</a:t>
            </a:r>
            <a:r>
              <a:rPr dirty="0" baseline="-10802" sz="2700" spc="-967">
                <a:latin typeface="Arial"/>
                <a:cs typeface="Arial"/>
              </a:rPr>
              <a:t>ِ</a:t>
            </a:r>
            <a:r>
              <a:rPr dirty="0" baseline="-10802" sz="2700" spc="-104">
                <a:latin typeface="Arial"/>
                <a:cs typeface="Arial"/>
              </a:rPr>
              <a:t> </a:t>
            </a:r>
            <a:r>
              <a:rPr dirty="0" baseline="3086" sz="2700" spc="-675">
                <a:latin typeface="Arial"/>
                <a:cs typeface="Arial"/>
              </a:rPr>
              <a:t>اصَّ </a:t>
            </a:r>
            <a:r>
              <a:rPr dirty="0" baseline="3086" sz="2700" spc="-412">
                <a:latin typeface="Arial"/>
                <a:cs typeface="Arial"/>
              </a:rPr>
              <a:t>لا </a:t>
            </a:r>
            <a:r>
              <a:rPr dirty="0" baseline="3086" sz="2700" spc="-494">
                <a:latin typeface="Arial"/>
                <a:cs typeface="Arial"/>
              </a:rPr>
              <a:t>ن</a:t>
            </a:r>
            <a:r>
              <a:rPr dirty="0" sz="1800" spc="-330">
                <a:latin typeface="Arial"/>
                <a:cs typeface="Arial"/>
              </a:rPr>
              <a:t>َ </a:t>
            </a:r>
            <a:r>
              <a:rPr dirty="0" baseline="3086" sz="2700" spc="-254">
                <a:latin typeface="Arial"/>
                <a:cs typeface="Arial"/>
              </a:rPr>
              <a:t>مِّ </a:t>
            </a:r>
            <a:r>
              <a:rPr dirty="0" baseline="3086" sz="2700" spc="-419">
                <a:latin typeface="Arial"/>
                <a:cs typeface="Arial"/>
              </a:rPr>
              <a:t>لٌّ </a:t>
            </a:r>
            <a:r>
              <a:rPr dirty="0" baseline="3086" sz="2700" spc="-757">
                <a:latin typeface="Arial"/>
                <a:cs typeface="Arial"/>
              </a:rPr>
              <a:t>ك</a:t>
            </a:r>
            <a:r>
              <a:rPr dirty="0" baseline="10802" sz="2700" spc="-757">
                <a:latin typeface="Arial"/>
                <a:cs typeface="Arial"/>
              </a:rPr>
              <a:t>ُ</a:t>
            </a:r>
            <a:r>
              <a:rPr dirty="0" baseline="10802" sz="2700" spc="944">
                <a:latin typeface="Arial"/>
                <a:cs typeface="Arial"/>
              </a:rPr>
              <a:t> </a:t>
            </a:r>
            <a:r>
              <a:rPr dirty="0" baseline="3086" sz="2700" spc="-525">
                <a:latin typeface="Arial"/>
                <a:cs typeface="Arial"/>
              </a:rPr>
              <a:t>ل</a:t>
            </a:r>
            <a:r>
              <a:rPr dirty="0" baseline="-4629" sz="2700" spc="-525">
                <a:latin typeface="Arial"/>
                <a:cs typeface="Arial"/>
              </a:rPr>
              <a:t>ِ </a:t>
            </a:r>
            <a:r>
              <a:rPr dirty="0" baseline="3086" sz="2700" spc="-997">
                <a:latin typeface="Arial"/>
                <a:cs typeface="Arial"/>
              </a:rPr>
              <a:t>ف</a:t>
            </a:r>
            <a:r>
              <a:rPr dirty="0" baseline="12345" sz="2700" spc="-997">
                <a:latin typeface="Arial"/>
                <a:cs typeface="Arial"/>
              </a:rPr>
              <a:t>ْ</a:t>
            </a:r>
            <a:r>
              <a:rPr dirty="0" baseline="12345" sz="2700" spc="-195">
                <a:latin typeface="Arial"/>
                <a:cs typeface="Arial"/>
              </a:rPr>
              <a:t> </a:t>
            </a:r>
            <a:r>
              <a:rPr dirty="0" baseline="3086" sz="2700" spc="-727">
                <a:latin typeface="Arial"/>
                <a:cs typeface="Arial"/>
              </a:rPr>
              <a:t>ك</a:t>
            </a:r>
            <a:r>
              <a:rPr dirty="0" baseline="1543" sz="2700" spc="-727">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217">
                <a:latin typeface="Arial"/>
                <a:cs typeface="Arial"/>
              </a:rPr>
              <a:t>اذ</a:t>
            </a:r>
            <a:r>
              <a:rPr dirty="0" baseline="13888" sz="2700" spc="-217">
                <a:latin typeface="Arial"/>
                <a:cs typeface="Arial"/>
              </a:rPr>
              <a:t>َ </a:t>
            </a:r>
            <a:r>
              <a:rPr dirty="0" baseline="3086" sz="2700" spc="-315">
                <a:latin typeface="Arial"/>
                <a:cs typeface="Arial"/>
              </a:rPr>
              <a:t>و</a:t>
            </a:r>
            <a:r>
              <a:rPr dirty="0" sz="1800" spc="-210">
                <a:latin typeface="Arial"/>
                <a:cs typeface="Arial"/>
              </a:rPr>
              <a:t>َ </a:t>
            </a:r>
            <a:r>
              <a:rPr dirty="0" baseline="3086" sz="2700" spc="-877">
                <a:latin typeface="Arial"/>
                <a:cs typeface="Arial"/>
              </a:rPr>
              <a:t>س</a:t>
            </a:r>
            <a:r>
              <a:rPr dirty="0" sz="1800" spc="-585">
                <a:latin typeface="Arial"/>
                <a:cs typeface="Arial"/>
              </a:rPr>
              <a:t>َ</a:t>
            </a:r>
            <a:r>
              <a:rPr dirty="0" sz="1800" spc="665">
                <a:latin typeface="Arial"/>
                <a:cs typeface="Arial"/>
              </a:rPr>
              <a:t> </a:t>
            </a:r>
            <a:r>
              <a:rPr dirty="0" baseline="3086" sz="2700" spc="-307">
                <a:latin typeface="Arial"/>
                <a:cs typeface="Arial"/>
              </a:rPr>
              <a:t>ٌر</a:t>
            </a:r>
            <a:r>
              <a:rPr dirty="0" baseline="-10802" sz="2700" spc="-307">
                <a:latin typeface="Arial"/>
                <a:cs typeface="Arial"/>
              </a:rPr>
              <a:t>ِ </a:t>
            </a:r>
            <a:r>
              <a:rPr dirty="0" baseline="3086" sz="2700" spc="-284">
                <a:latin typeface="Arial"/>
                <a:cs typeface="Arial"/>
              </a:rPr>
              <a:t>د</a:t>
            </a:r>
            <a:r>
              <a:rPr dirty="0" baseline="6172" sz="2700" spc="-284">
                <a:latin typeface="Arial"/>
                <a:cs typeface="Arial"/>
              </a:rPr>
              <a:t>ْ </a:t>
            </a:r>
            <a:r>
              <a:rPr dirty="0" baseline="-10802" sz="2700" spc="-165">
                <a:latin typeface="Arial"/>
                <a:cs typeface="Arial"/>
              </a:rPr>
              <a:t>ِ</a:t>
            </a:r>
            <a:r>
              <a:rPr dirty="0" baseline="3086" sz="2700" spc="-165">
                <a:latin typeface="Arial"/>
                <a:cs typeface="Arial"/>
              </a:rPr>
              <a:t>إو</a:t>
            </a:r>
            <a:r>
              <a:rPr dirty="0" sz="1800" spc="-110">
                <a:latin typeface="Arial"/>
                <a:cs typeface="Arial"/>
              </a:rPr>
              <a:t>َ </a:t>
            </a:r>
            <a:r>
              <a:rPr dirty="0" baseline="3086" sz="2700" spc="-615">
                <a:latin typeface="Arial"/>
                <a:cs typeface="Arial"/>
              </a:rPr>
              <a:t>ل</a:t>
            </a:r>
            <a:r>
              <a:rPr dirty="0" sz="1800" spc="-409">
                <a:latin typeface="Arial"/>
                <a:cs typeface="Arial"/>
              </a:rPr>
              <a:t>َ </a:t>
            </a:r>
            <a:r>
              <a:rPr dirty="0" baseline="3086" sz="2700" spc="-397">
                <a:latin typeface="Arial"/>
                <a:cs typeface="Arial"/>
              </a:rPr>
              <a:t>ٌع</a:t>
            </a:r>
            <a:r>
              <a:rPr dirty="0" baseline="1543" sz="2700" spc="-397">
                <a:latin typeface="Arial"/>
                <a:cs typeface="Arial"/>
              </a:rPr>
              <a:t>ِ </a:t>
            </a:r>
            <a:r>
              <a:rPr dirty="0" baseline="3086" sz="2700" spc="-225">
                <a:latin typeface="Arial"/>
                <a:cs typeface="Arial"/>
              </a:rPr>
              <a:t>ام</a:t>
            </a:r>
            <a:r>
              <a:rPr dirty="0" sz="1800" spc="-150">
                <a:latin typeface="Arial"/>
                <a:cs typeface="Arial"/>
              </a:rPr>
              <a:t>َ</a:t>
            </a:r>
            <a:r>
              <a:rPr dirty="0" sz="1800" spc="95">
                <a:latin typeface="Arial"/>
                <a:cs typeface="Arial"/>
              </a:rPr>
              <a:t> </a:t>
            </a:r>
            <a:r>
              <a:rPr dirty="0" baseline="3086" sz="2700" spc="-944">
                <a:latin typeface="Arial"/>
                <a:cs typeface="Arial"/>
              </a:rPr>
              <a:t>سْ</a:t>
            </a:r>
            <a:r>
              <a:rPr dirty="0" baseline="3086" sz="2700" spc="315">
                <a:latin typeface="Arial"/>
                <a:cs typeface="Arial"/>
              </a:rPr>
              <a:t> </a:t>
            </a:r>
            <a:r>
              <a:rPr dirty="0" baseline="-10802" sz="2700" spc="-209">
                <a:latin typeface="Arial"/>
                <a:cs typeface="Arial"/>
              </a:rPr>
              <a:t>ِ</a:t>
            </a:r>
            <a:r>
              <a:rPr dirty="0" baseline="3086" sz="2700" spc="-209">
                <a:latin typeface="Arial"/>
                <a:cs typeface="Arial"/>
              </a:rPr>
              <a:t>إو</a:t>
            </a:r>
            <a:endParaRPr baseline="3086" sz="2700">
              <a:latin typeface="Arial"/>
              <a:cs typeface="Arial"/>
            </a:endParaRPr>
          </a:p>
          <a:p>
            <a:pPr marL="420370" indent="-255904">
              <a:lnSpc>
                <a:spcPct val="100000"/>
              </a:lnSpc>
              <a:spcBef>
                <a:spcPts val="1230"/>
              </a:spcBef>
              <a:buAutoNum type="arabicPeriod" startAt="85"/>
              <a:tabLst>
                <a:tab pos="421005" algn="l"/>
              </a:tabLst>
            </a:pPr>
            <a:r>
              <a:rPr dirty="0" sz="1200" spc="-5">
                <a:latin typeface="Arial"/>
                <a:cs typeface="Arial"/>
              </a:rPr>
              <a:t>And (mention) Ishmael, and Idris, and Dhul-Kifl. All were of the</a:t>
            </a:r>
            <a:r>
              <a:rPr dirty="0" sz="1200" spc="40">
                <a:latin typeface="Arial"/>
                <a:cs typeface="Arial"/>
              </a:rPr>
              <a:t> </a:t>
            </a:r>
            <a:r>
              <a:rPr dirty="0" sz="1200">
                <a:latin typeface="Arial"/>
                <a:cs typeface="Arial"/>
              </a:rPr>
              <a:t>steadfast.</a:t>
            </a:r>
            <a:endParaRPr sz="1200">
              <a:latin typeface="Arial"/>
              <a:cs typeface="Arial"/>
            </a:endParaRPr>
          </a:p>
          <a:p>
            <a:pPr>
              <a:lnSpc>
                <a:spcPct val="100000"/>
              </a:lnSpc>
              <a:spcBef>
                <a:spcPts val="50"/>
              </a:spcBef>
              <a:buFont typeface="Arial"/>
              <a:buAutoNum type="arabicPeriod" startAt="85"/>
            </a:pPr>
            <a:endParaRPr sz="1100">
              <a:latin typeface="Arial"/>
              <a:cs typeface="Arial"/>
            </a:endParaRPr>
          </a:p>
          <a:p>
            <a:pPr algn="r" marR="220979">
              <a:lnSpc>
                <a:spcPct val="100000"/>
              </a:lnSpc>
              <a:spcBef>
                <a:spcPts val="5"/>
              </a:spcBef>
            </a:pPr>
            <a:r>
              <a:rPr dirty="0" baseline="1543" sz="2700" spc="-494">
                <a:latin typeface="Arial"/>
                <a:cs typeface="Arial"/>
              </a:rPr>
              <a:t>ن</a:t>
            </a:r>
            <a:r>
              <a:rPr dirty="0" baseline="-1543" sz="2700" spc="-494">
                <a:latin typeface="Arial"/>
                <a:cs typeface="Arial"/>
              </a:rPr>
              <a:t>َ </a:t>
            </a:r>
            <a:r>
              <a:rPr dirty="0" baseline="1543" sz="2700" spc="-480">
                <a:latin typeface="Arial"/>
                <a:cs typeface="Arial"/>
              </a:rPr>
              <a:t>ٌح</a:t>
            </a:r>
            <a:r>
              <a:rPr dirty="0" sz="1800" spc="-320">
                <a:latin typeface="Arial"/>
                <a:cs typeface="Arial"/>
              </a:rPr>
              <a:t>ِ </a:t>
            </a:r>
            <a:r>
              <a:rPr dirty="0" sz="1800" spc="-390">
                <a:latin typeface="Arial"/>
                <a:cs typeface="Arial"/>
              </a:rPr>
              <a:t>ِ</a:t>
            </a:r>
            <a:r>
              <a:rPr dirty="0" baseline="1543" sz="2700" spc="-585">
                <a:latin typeface="Arial"/>
                <a:cs typeface="Arial"/>
              </a:rPr>
              <a:t>لاص</a:t>
            </a:r>
            <a:r>
              <a:rPr dirty="0" sz="1800" spc="-390">
                <a:latin typeface="Arial"/>
                <a:cs typeface="Arial"/>
              </a:rPr>
              <a:t>َّ </a:t>
            </a:r>
            <a:r>
              <a:rPr dirty="0" baseline="1543" sz="2700" spc="-412">
                <a:latin typeface="Arial"/>
                <a:cs typeface="Arial"/>
              </a:rPr>
              <a:t>لا </a:t>
            </a:r>
            <a:r>
              <a:rPr dirty="0" baseline="1543" sz="2700" spc="-494">
                <a:latin typeface="Arial"/>
                <a:cs typeface="Arial"/>
              </a:rPr>
              <a:t>ن</a:t>
            </a:r>
            <a:r>
              <a:rPr dirty="0" baseline="-1543" sz="2700" spc="-494">
                <a:latin typeface="Arial"/>
                <a:cs typeface="Arial"/>
              </a:rPr>
              <a:t>َ </a:t>
            </a:r>
            <a:r>
              <a:rPr dirty="0" baseline="1543" sz="2700" spc="-254">
                <a:latin typeface="Arial"/>
                <a:cs typeface="Arial"/>
              </a:rPr>
              <a:t>مِّ  </a:t>
            </a:r>
            <a:r>
              <a:rPr dirty="0" baseline="1543" sz="2700" spc="-240">
                <a:latin typeface="Arial"/>
                <a:cs typeface="Arial"/>
              </a:rPr>
              <a:t>مهُ </a:t>
            </a:r>
            <a:r>
              <a:rPr dirty="0" baseline="1543" sz="2700" spc="-442">
                <a:latin typeface="Arial"/>
                <a:cs typeface="Arial"/>
              </a:rPr>
              <a:t>ن</a:t>
            </a:r>
            <a:r>
              <a:rPr dirty="0" baseline="9259" sz="2700" spc="-442">
                <a:latin typeface="Arial"/>
                <a:cs typeface="Arial"/>
              </a:rPr>
              <a:t>َّ </a:t>
            </a:r>
            <a:r>
              <a:rPr dirty="0" baseline="-12345" sz="2700">
                <a:latin typeface="Arial"/>
                <a:cs typeface="Arial"/>
              </a:rPr>
              <a:t>ِ</a:t>
            </a:r>
            <a:r>
              <a:rPr dirty="0" baseline="1543" sz="2700">
                <a:latin typeface="Arial"/>
                <a:cs typeface="Arial"/>
              </a:rPr>
              <a:t>إ </a:t>
            </a:r>
            <a:r>
              <a:rPr dirty="0" baseline="1543" sz="2700" spc="-412">
                <a:latin typeface="Arial"/>
                <a:cs typeface="Arial"/>
              </a:rPr>
              <a:t>ان</a:t>
            </a:r>
            <a:r>
              <a:rPr dirty="0" baseline="6172" sz="2700" spc="-412">
                <a:latin typeface="Arial"/>
                <a:cs typeface="Arial"/>
              </a:rPr>
              <a:t>َ </a:t>
            </a:r>
            <a:r>
              <a:rPr dirty="0" baseline="1543" sz="2700" spc="-960">
                <a:latin typeface="Arial"/>
                <a:cs typeface="Arial"/>
              </a:rPr>
              <a:t>ت</a:t>
            </a:r>
            <a:r>
              <a:rPr dirty="0" sz="1800" spc="-640">
                <a:latin typeface="Arial"/>
                <a:cs typeface="Arial"/>
              </a:rPr>
              <a:t>ِ</a:t>
            </a:r>
            <a:r>
              <a:rPr dirty="0" sz="1800" spc="-70">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555">
                <a:latin typeface="Arial"/>
                <a:cs typeface="Arial"/>
              </a:rPr>
              <a:t>حْ </a:t>
            </a:r>
            <a:r>
              <a:rPr dirty="0" baseline="1543" sz="2700" spc="-494">
                <a:latin typeface="Arial"/>
                <a:cs typeface="Arial"/>
              </a:rPr>
              <a:t>ر</a:t>
            </a:r>
            <a:r>
              <a:rPr dirty="0" baseline="-1543" sz="2700" spc="-494">
                <a:latin typeface="Arial"/>
                <a:cs typeface="Arial"/>
              </a:rPr>
              <a:t>َ </a:t>
            </a:r>
            <a:r>
              <a:rPr dirty="0" baseline="1543" sz="2700" spc="-705">
                <a:latin typeface="Arial"/>
                <a:cs typeface="Arial"/>
              </a:rPr>
              <a:t>ًف</a:t>
            </a:r>
            <a:r>
              <a:rPr dirty="0" sz="1800" spc="-47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 </a:t>
            </a:r>
            <a:r>
              <a:rPr dirty="0" baseline="1543" sz="2700" spc="-412">
                <a:latin typeface="Arial"/>
                <a:cs typeface="Arial"/>
              </a:rPr>
              <a:t>ان</a:t>
            </a:r>
            <a:r>
              <a:rPr dirty="0" baseline="6172" sz="2700" spc="-412">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spc="-592">
                <a:latin typeface="Arial"/>
                <a:cs typeface="Arial"/>
              </a:rPr>
              <a:t>خ</a:t>
            </a:r>
            <a:r>
              <a:rPr dirty="0" baseline="6172" sz="2700" spc="-592">
                <a:latin typeface="Arial"/>
                <a:cs typeface="Arial"/>
              </a:rPr>
              <a:t>َ </a:t>
            </a:r>
            <a:r>
              <a:rPr dirty="0" baseline="1543" sz="2700" spc="-284">
                <a:latin typeface="Arial"/>
                <a:cs typeface="Arial"/>
              </a:rPr>
              <a:t>د</a:t>
            </a:r>
            <a:r>
              <a:rPr dirty="0" baseline="4629" sz="2700" spc="-284">
                <a:latin typeface="Arial"/>
                <a:cs typeface="Arial"/>
              </a:rPr>
              <a:t>ْ</a:t>
            </a:r>
            <a:r>
              <a:rPr dirty="0" baseline="4629" sz="2700" spc="-494">
                <a:latin typeface="Arial"/>
                <a:cs typeface="Arial"/>
              </a:rPr>
              <a:t> </a:t>
            </a:r>
            <a:r>
              <a:rPr dirty="0" baseline="15432" sz="2700" spc="-209">
                <a:latin typeface="Arial"/>
                <a:cs typeface="Arial"/>
              </a:rPr>
              <a:t>َ</a:t>
            </a:r>
            <a:r>
              <a:rPr dirty="0" baseline="1543" sz="2700" spc="-209">
                <a:latin typeface="Arial"/>
                <a:cs typeface="Arial"/>
              </a:rPr>
              <a:t>أو</a:t>
            </a:r>
            <a:endParaRPr baseline="1543" sz="2700">
              <a:latin typeface="Arial"/>
              <a:cs typeface="Arial"/>
            </a:endParaRPr>
          </a:p>
          <a:p>
            <a:pPr marL="420370" indent="-255904">
              <a:lnSpc>
                <a:spcPct val="100000"/>
              </a:lnSpc>
              <a:spcBef>
                <a:spcPts val="1295"/>
              </a:spcBef>
              <a:buAutoNum type="arabicPeriod" startAt="86"/>
              <a:tabLst>
                <a:tab pos="421005" algn="l"/>
              </a:tabLst>
            </a:pPr>
            <a:r>
              <a:rPr dirty="0" sz="1200" spc="-5">
                <a:latin typeface="Arial"/>
                <a:cs typeface="Arial"/>
              </a:rPr>
              <a:t>And </a:t>
            </a:r>
            <a:r>
              <a:rPr dirty="0" sz="1200" spc="20">
                <a:latin typeface="Arial"/>
                <a:cs typeface="Arial"/>
              </a:rPr>
              <a:t>We </a:t>
            </a:r>
            <a:r>
              <a:rPr dirty="0" sz="1200" spc="-5">
                <a:latin typeface="Arial"/>
                <a:cs typeface="Arial"/>
              </a:rPr>
              <a:t>brought them in unto Our mercy. Lo! </a:t>
            </a:r>
            <a:r>
              <a:rPr dirty="0" sz="1200">
                <a:latin typeface="Arial"/>
                <a:cs typeface="Arial"/>
              </a:rPr>
              <a:t>They are </a:t>
            </a:r>
            <a:r>
              <a:rPr dirty="0" sz="1200" spc="-5">
                <a:latin typeface="Arial"/>
                <a:cs typeface="Arial"/>
              </a:rPr>
              <a:t>among the</a:t>
            </a:r>
            <a:r>
              <a:rPr dirty="0" sz="1200" spc="-40">
                <a:latin typeface="Arial"/>
                <a:cs typeface="Arial"/>
              </a:rPr>
              <a:t> </a:t>
            </a:r>
            <a:r>
              <a:rPr dirty="0" sz="1200" spc="-5">
                <a:latin typeface="Arial"/>
                <a:cs typeface="Arial"/>
              </a:rPr>
              <a:t>righteous.</a:t>
            </a:r>
            <a:endParaRPr sz="1200">
              <a:latin typeface="Arial"/>
              <a:cs typeface="Arial"/>
            </a:endParaRPr>
          </a:p>
          <a:p>
            <a:pPr>
              <a:lnSpc>
                <a:spcPct val="100000"/>
              </a:lnSpc>
              <a:spcBef>
                <a:spcPts val="55"/>
              </a:spcBef>
              <a:buFont typeface="Arial"/>
              <a:buAutoNum type="arabicPeriod" startAt="86"/>
            </a:pPr>
            <a:endParaRPr sz="1100">
              <a:latin typeface="Arial"/>
              <a:cs typeface="Arial"/>
            </a:endParaRPr>
          </a:p>
          <a:p>
            <a:pPr marL="165100">
              <a:lnSpc>
                <a:spcPct val="100000"/>
              </a:lnSpc>
            </a:pPr>
            <a:r>
              <a:rPr dirty="0" u="heavy" sz="1200" spc="-5" b="1" i="1">
                <a:uFill>
                  <a:solidFill>
                    <a:srgbClr val="000000"/>
                  </a:solidFill>
                </a:uFill>
                <a:latin typeface="Arial"/>
                <a:cs typeface="Arial"/>
              </a:rPr>
              <a:t>Hazrat Dhun Nun </a:t>
            </a:r>
            <a:r>
              <a:rPr dirty="0" u="heavy" sz="1200" b="1" i="1">
                <a:uFill>
                  <a:solidFill>
                    <a:srgbClr val="000000"/>
                  </a:solidFill>
                </a:uFill>
                <a:latin typeface="Arial"/>
                <a:cs typeface="Arial"/>
              </a:rPr>
              <a:t>(Yunus)</a:t>
            </a:r>
            <a:r>
              <a:rPr dirty="0" u="heavy" sz="1200" spc="10" b="1" i="1">
                <a:uFill>
                  <a:solidFill>
                    <a:srgbClr val="000000"/>
                  </a:solidFill>
                </a:uFill>
                <a:latin typeface="Arial"/>
                <a:cs typeface="Arial"/>
              </a:rPr>
              <a:t> </a:t>
            </a:r>
            <a:r>
              <a:rPr dirty="0" u="heavy" sz="1200" b="1" i="1">
                <a:uFill>
                  <a:solidFill>
                    <a:srgbClr val="000000"/>
                  </a:solidFill>
                </a:uFill>
                <a:latin typeface="Arial"/>
                <a:cs typeface="Arial"/>
              </a:rPr>
              <a:t>(as)</a:t>
            </a:r>
            <a:endParaRPr sz="1200">
              <a:latin typeface="Arial"/>
              <a:cs typeface="Arial"/>
            </a:endParaRPr>
          </a:p>
          <a:p>
            <a:pPr>
              <a:lnSpc>
                <a:spcPct val="100000"/>
              </a:lnSpc>
              <a:spcBef>
                <a:spcPts val="55"/>
              </a:spcBef>
            </a:pPr>
            <a:endParaRPr sz="1150">
              <a:latin typeface="Arial"/>
              <a:cs typeface="Arial"/>
            </a:endParaRPr>
          </a:p>
          <a:p>
            <a:pPr algn="just" marL="165100" marR="170815">
              <a:lnSpc>
                <a:spcPct val="95900"/>
              </a:lnSpc>
            </a:pPr>
            <a:r>
              <a:rPr dirty="0" sz="1200">
                <a:latin typeface="Arial"/>
                <a:cs typeface="Arial"/>
              </a:rPr>
              <a:t>This </a:t>
            </a:r>
            <a:r>
              <a:rPr dirty="0" sz="1200" spc="-5">
                <a:latin typeface="Arial"/>
                <a:cs typeface="Arial"/>
              </a:rPr>
              <a:t>is the </a:t>
            </a:r>
            <a:r>
              <a:rPr dirty="0" sz="1200">
                <a:latin typeface="Arial"/>
                <a:cs typeface="Arial"/>
              </a:rPr>
              <a:t>story </a:t>
            </a:r>
            <a:r>
              <a:rPr dirty="0" sz="1200" spc="-5">
                <a:latin typeface="Arial"/>
                <a:cs typeface="Arial"/>
              </a:rPr>
              <a:t>of </a:t>
            </a:r>
            <a:r>
              <a:rPr dirty="0" sz="1200" spc="-10">
                <a:latin typeface="Arial"/>
                <a:cs typeface="Arial"/>
              </a:rPr>
              <a:t>Hazrat </a:t>
            </a:r>
            <a:r>
              <a:rPr dirty="0" sz="1200" spc="-5">
                <a:latin typeface="Arial"/>
                <a:cs typeface="Arial"/>
              </a:rPr>
              <a:t>Yunus </a:t>
            </a:r>
            <a:r>
              <a:rPr dirty="0" sz="1200">
                <a:latin typeface="Arial"/>
                <a:cs typeface="Arial"/>
              </a:rPr>
              <a:t>(as) </a:t>
            </a:r>
            <a:r>
              <a:rPr dirty="0" sz="1200" spc="-5">
                <a:latin typeface="Arial"/>
                <a:cs typeface="Arial"/>
              </a:rPr>
              <a:t>known </a:t>
            </a:r>
            <a:r>
              <a:rPr dirty="0" sz="1200">
                <a:latin typeface="Arial"/>
                <a:cs typeface="Arial"/>
              </a:rPr>
              <a:t>as </a:t>
            </a:r>
            <a:r>
              <a:rPr dirty="0" sz="1200" spc="-5">
                <a:latin typeface="Arial"/>
                <a:cs typeface="Arial"/>
              </a:rPr>
              <a:t>Dhun Nun. Due to the disbelief of </a:t>
            </a:r>
            <a:r>
              <a:rPr dirty="0" sz="1200">
                <a:latin typeface="Arial"/>
                <a:cs typeface="Arial"/>
              </a:rPr>
              <a:t>his </a:t>
            </a:r>
            <a:r>
              <a:rPr dirty="0" sz="1200" spc="-5">
                <a:latin typeface="Arial"/>
                <a:cs typeface="Arial"/>
              </a:rPr>
              <a:t>people,  he left them. He embarked a ship from which he </a:t>
            </a:r>
            <a:r>
              <a:rPr dirty="0" sz="1200" spc="-10">
                <a:latin typeface="Arial"/>
                <a:cs typeface="Arial"/>
              </a:rPr>
              <a:t>was </a:t>
            </a:r>
            <a:r>
              <a:rPr dirty="0" sz="1200" spc="-5">
                <a:latin typeface="Arial"/>
                <a:cs typeface="Arial"/>
              </a:rPr>
              <a:t>chosen to </a:t>
            </a:r>
            <a:r>
              <a:rPr dirty="0" sz="1200" spc="-10">
                <a:latin typeface="Arial"/>
                <a:cs typeface="Arial"/>
              </a:rPr>
              <a:t>be </a:t>
            </a:r>
            <a:r>
              <a:rPr dirty="0" sz="1200" spc="-5">
                <a:latin typeface="Arial"/>
                <a:cs typeface="Arial"/>
              </a:rPr>
              <a:t>thrown overboard. Allah  ordered a big </a:t>
            </a:r>
            <a:r>
              <a:rPr dirty="0" sz="1200">
                <a:latin typeface="Arial"/>
                <a:cs typeface="Arial"/>
              </a:rPr>
              <a:t>fish to </a:t>
            </a:r>
            <a:r>
              <a:rPr dirty="0" sz="1200" spc="-5">
                <a:latin typeface="Arial"/>
                <a:cs typeface="Arial"/>
              </a:rPr>
              <a:t>swallow him but </a:t>
            </a:r>
            <a:r>
              <a:rPr dirty="0" sz="1200">
                <a:latin typeface="Arial"/>
                <a:cs typeface="Arial"/>
              </a:rPr>
              <a:t>to </a:t>
            </a:r>
            <a:r>
              <a:rPr dirty="0" sz="1200" spc="-5">
                <a:latin typeface="Arial"/>
                <a:cs typeface="Arial"/>
              </a:rPr>
              <a:t>let him alive. </a:t>
            </a:r>
            <a:r>
              <a:rPr dirty="0" sz="1200">
                <a:latin typeface="Arial"/>
                <a:cs typeface="Arial"/>
              </a:rPr>
              <a:t>After </a:t>
            </a:r>
            <a:r>
              <a:rPr dirty="0" sz="1200" spc="-5">
                <a:latin typeface="Arial"/>
                <a:cs typeface="Arial"/>
              </a:rPr>
              <a:t>40 days and nights he </a:t>
            </a:r>
            <a:r>
              <a:rPr dirty="0" sz="1200" spc="-10">
                <a:latin typeface="Arial"/>
                <a:cs typeface="Arial"/>
              </a:rPr>
              <a:t>was </a:t>
            </a:r>
            <a:r>
              <a:rPr dirty="0" sz="1200" spc="-5">
                <a:latin typeface="Arial"/>
                <a:cs typeface="Arial"/>
              </a:rPr>
              <a:t>freed  on </a:t>
            </a:r>
            <a:r>
              <a:rPr dirty="0" sz="1200">
                <a:latin typeface="Arial"/>
                <a:cs typeface="Arial"/>
              </a:rPr>
              <a:t>the </a:t>
            </a:r>
            <a:r>
              <a:rPr dirty="0" sz="1200" spc="-5">
                <a:latin typeface="Arial"/>
                <a:cs typeface="Arial"/>
              </a:rPr>
              <a:t>shore of a deserted island. He recovered little by little and returned to his people. </a:t>
            </a:r>
            <a:r>
              <a:rPr dirty="0" sz="1200" spc="-10">
                <a:latin typeface="Arial"/>
                <a:cs typeface="Arial"/>
              </a:rPr>
              <a:t>He  was </a:t>
            </a:r>
            <a:r>
              <a:rPr dirty="0" sz="1200">
                <a:latin typeface="Arial"/>
                <a:cs typeface="Arial"/>
              </a:rPr>
              <a:t>astonished to see </a:t>
            </a:r>
            <a:r>
              <a:rPr dirty="0" sz="1200" spc="-5">
                <a:latin typeface="Arial"/>
                <a:cs typeface="Arial"/>
              </a:rPr>
              <a:t>his people accepting</a:t>
            </a:r>
            <a:r>
              <a:rPr dirty="0" sz="1200" spc="-30">
                <a:latin typeface="Arial"/>
                <a:cs typeface="Arial"/>
              </a:rPr>
              <a:t> </a:t>
            </a:r>
            <a:r>
              <a:rPr dirty="0" sz="1200" spc="-10">
                <a:latin typeface="Arial"/>
                <a:cs typeface="Arial"/>
              </a:rPr>
              <a:t>now.</a:t>
            </a:r>
            <a:endParaRPr sz="1200">
              <a:latin typeface="Arial"/>
              <a:cs typeface="Arial"/>
            </a:endParaRPr>
          </a:p>
          <a:p>
            <a:pPr>
              <a:lnSpc>
                <a:spcPct val="100000"/>
              </a:lnSpc>
              <a:spcBef>
                <a:spcPts val="55"/>
              </a:spcBef>
            </a:pPr>
            <a:endParaRPr sz="1100">
              <a:latin typeface="Arial"/>
              <a:cs typeface="Arial"/>
            </a:endParaRPr>
          </a:p>
          <a:p>
            <a:pPr marL="165100">
              <a:lnSpc>
                <a:spcPct val="100000"/>
              </a:lnSpc>
            </a:pPr>
            <a:r>
              <a:rPr dirty="0" sz="1200" spc="-5">
                <a:latin typeface="Arial"/>
                <a:cs typeface="Arial"/>
              </a:rPr>
              <a:t>Allah says:</a:t>
            </a:r>
            <a:endParaRPr sz="1200">
              <a:latin typeface="Arial"/>
              <a:cs typeface="Arial"/>
            </a:endParaRPr>
          </a:p>
          <a:p>
            <a:pPr>
              <a:lnSpc>
                <a:spcPct val="100000"/>
              </a:lnSpc>
            </a:pPr>
            <a:endParaRPr sz="1200">
              <a:latin typeface="Arial"/>
              <a:cs typeface="Arial"/>
            </a:endParaRPr>
          </a:p>
          <a:p>
            <a:pPr algn="r" marR="221615">
              <a:lnSpc>
                <a:spcPts val="2110"/>
              </a:lnSpc>
            </a:pPr>
            <a:r>
              <a:rPr dirty="0" baseline="3086" sz="2700" spc="-772">
                <a:latin typeface="Arial"/>
                <a:cs typeface="Arial"/>
              </a:rPr>
              <a:t>ت</a:t>
            </a:r>
            <a:r>
              <a:rPr dirty="0" baseline="4629" sz="2700" spc="-772">
                <a:latin typeface="Arial"/>
                <a:cs typeface="Arial"/>
              </a:rPr>
              <a:t>َ</a:t>
            </a:r>
            <a:r>
              <a:rPr dirty="0" baseline="4629" sz="2700" spc="787">
                <a:latin typeface="Arial"/>
                <a:cs typeface="Arial"/>
              </a:rPr>
              <a:t> </a:t>
            </a:r>
            <a:r>
              <a:rPr dirty="0" baseline="3086" sz="2700" spc="-270">
                <a:latin typeface="Arial"/>
                <a:cs typeface="Arial"/>
              </a:rPr>
              <a:t>ن</a:t>
            </a:r>
            <a:r>
              <a:rPr dirty="0" baseline="16975" sz="2700" spc="-270">
                <a:latin typeface="Arial"/>
                <a:cs typeface="Arial"/>
              </a:rPr>
              <a:t>َ</a:t>
            </a:r>
            <a:r>
              <a:rPr dirty="0" baseline="3086" sz="2700" spc="-270">
                <a:latin typeface="Arial"/>
                <a:cs typeface="Arial"/>
              </a:rPr>
              <a:t>أ </a:t>
            </a:r>
            <a:r>
              <a:rPr dirty="0" baseline="3086" sz="2700" spc="-390">
                <a:latin typeface="Arial"/>
                <a:cs typeface="Arial"/>
              </a:rPr>
              <a:t>لا</a:t>
            </a:r>
            <a:r>
              <a:rPr dirty="0" baseline="13888" sz="2700" spc="-390">
                <a:latin typeface="Arial"/>
                <a:cs typeface="Arial"/>
              </a:rPr>
              <a:t>َّ </a:t>
            </a:r>
            <a:r>
              <a:rPr dirty="0" baseline="-10802" sz="2700">
                <a:latin typeface="Arial"/>
                <a:cs typeface="Arial"/>
              </a:rPr>
              <a:t>ِ</a:t>
            </a:r>
            <a:r>
              <a:rPr dirty="0" baseline="3086" sz="2700">
                <a:latin typeface="Arial"/>
                <a:cs typeface="Arial"/>
              </a:rPr>
              <a:t>إ </a:t>
            </a:r>
            <a:r>
              <a:rPr dirty="0" baseline="3086" sz="2700" spc="-284">
                <a:latin typeface="Arial"/>
                <a:cs typeface="Arial"/>
              </a:rPr>
              <a:t>ه</a:t>
            </a:r>
            <a:r>
              <a:rPr dirty="0" sz="1800" spc="-190">
                <a:latin typeface="Arial"/>
                <a:cs typeface="Arial"/>
              </a:rPr>
              <a:t>َ </a:t>
            </a:r>
            <a:r>
              <a:rPr dirty="0" baseline="10802" sz="2700" spc="-217">
                <a:latin typeface="Arial"/>
                <a:cs typeface="Arial"/>
              </a:rPr>
              <a:t>َ</a:t>
            </a:r>
            <a:r>
              <a:rPr dirty="0" baseline="3086" sz="2700" spc="-217">
                <a:latin typeface="Arial"/>
                <a:cs typeface="Arial"/>
              </a:rPr>
              <a:t>ل</a:t>
            </a:r>
            <a:r>
              <a:rPr dirty="0" baseline="-10802" sz="2700" spc="-217">
                <a:latin typeface="Arial"/>
                <a:cs typeface="Arial"/>
              </a:rPr>
              <a:t>ِ</a:t>
            </a:r>
            <a:r>
              <a:rPr dirty="0" baseline="3086" sz="2700" spc="-217">
                <a:latin typeface="Arial"/>
                <a:cs typeface="Arial"/>
              </a:rPr>
              <a:t>إ </a:t>
            </a:r>
            <a:r>
              <a:rPr dirty="0" baseline="3086" sz="2700" spc="-390">
                <a:latin typeface="Arial"/>
                <a:cs typeface="Arial"/>
              </a:rPr>
              <a:t>لا</a:t>
            </a:r>
            <a:r>
              <a:rPr dirty="0" baseline="13888" sz="2700" spc="-390">
                <a:latin typeface="Arial"/>
                <a:cs typeface="Arial"/>
              </a:rPr>
              <a:t>َّ </a:t>
            </a:r>
            <a:r>
              <a:rPr dirty="0" baseline="3086" sz="2700" spc="-15">
                <a:latin typeface="Arial"/>
                <a:cs typeface="Arial"/>
              </a:rPr>
              <a:t>ن</a:t>
            </a:r>
            <a:r>
              <a:rPr dirty="0" baseline="16975" sz="2700" spc="-15">
                <a:latin typeface="Arial"/>
                <a:cs typeface="Arial"/>
              </a:rPr>
              <a:t>َ</a:t>
            </a:r>
            <a:r>
              <a:rPr dirty="0" baseline="3086" sz="2700" spc="-15">
                <a:latin typeface="Arial"/>
                <a:cs typeface="Arial"/>
              </a:rPr>
              <a:t>أ </a:t>
            </a:r>
            <a:r>
              <a:rPr dirty="0" baseline="3086" sz="2700" spc="-862">
                <a:latin typeface="Arial"/>
                <a:cs typeface="Arial"/>
              </a:rPr>
              <a:t>ت</a:t>
            </a:r>
            <a:r>
              <a:rPr dirty="0" baseline="1543" sz="2700" spc="-862">
                <a:latin typeface="Arial"/>
                <a:cs typeface="Arial"/>
              </a:rPr>
              <a:t>ِ</a:t>
            </a:r>
            <a:r>
              <a:rPr dirty="0" baseline="1543" sz="2700" spc="975">
                <a:latin typeface="Arial"/>
                <a:cs typeface="Arial"/>
              </a:rPr>
              <a:t> </a:t>
            </a:r>
            <a:r>
              <a:rPr dirty="0" baseline="3086" sz="2700" spc="-225">
                <a:latin typeface="Arial"/>
                <a:cs typeface="Arial"/>
              </a:rPr>
              <a:t>ام</a:t>
            </a:r>
            <a:r>
              <a:rPr dirty="0" sz="1800" spc="-150">
                <a:latin typeface="Arial"/>
                <a:cs typeface="Arial"/>
              </a:rPr>
              <a:t>َ </a:t>
            </a:r>
            <a:r>
              <a:rPr dirty="0" baseline="13888" sz="2700" spc="-434">
                <a:latin typeface="Arial"/>
                <a:cs typeface="Arial"/>
              </a:rPr>
              <a:t>ُ</a:t>
            </a:r>
            <a:r>
              <a:rPr dirty="0" baseline="3086" sz="2700" spc="-434">
                <a:latin typeface="Arial"/>
                <a:cs typeface="Arial"/>
              </a:rPr>
              <a:t>لظ</a:t>
            </a:r>
            <a:r>
              <a:rPr dirty="0" baseline="15432" sz="2700" spc="-434">
                <a:latin typeface="Arial"/>
                <a:cs typeface="Arial"/>
              </a:rPr>
              <a:t>ُّ </a:t>
            </a:r>
            <a:r>
              <a:rPr dirty="0" baseline="3086" sz="2700" spc="-412">
                <a:latin typeface="Arial"/>
                <a:cs typeface="Arial"/>
              </a:rPr>
              <a:t>لا </a:t>
            </a:r>
            <a:r>
              <a:rPr dirty="0" baseline="3086" sz="2700" spc="-705">
                <a:latin typeface="Arial"/>
                <a:cs typeface="Arial"/>
              </a:rPr>
              <a:t>ًف</a:t>
            </a:r>
            <a:r>
              <a:rPr dirty="0" baseline="1543" sz="2700" spc="-705">
                <a:latin typeface="Arial"/>
                <a:cs typeface="Arial"/>
              </a:rPr>
              <a:t>ِ </a:t>
            </a:r>
            <a:r>
              <a:rPr dirty="0" baseline="3086" sz="2700" spc="-225">
                <a:latin typeface="Arial"/>
                <a:cs typeface="Arial"/>
              </a:rPr>
              <a:t>ىدَ </a:t>
            </a:r>
            <a:r>
              <a:rPr dirty="0" baseline="3086" sz="2700" spc="-412">
                <a:latin typeface="Arial"/>
                <a:cs typeface="Arial"/>
              </a:rPr>
              <a:t>ان</a:t>
            </a:r>
            <a:r>
              <a:rPr dirty="0" baseline="7716" sz="2700" spc="-412">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75">
                <a:latin typeface="Arial"/>
                <a:cs typeface="Arial"/>
              </a:rPr>
              <a:t> </a:t>
            </a:r>
            <a:r>
              <a:rPr dirty="0" baseline="3086" sz="2700" spc="-337">
                <a:latin typeface="Arial"/>
                <a:cs typeface="Arial"/>
              </a:rPr>
              <a:t>ه</a:t>
            </a:r>
            <a:r>
              <a:rPr dirty="0" baseline="1543" sz="2700" spc="-337">
                <a:latin typeface="Arial"/>
                <a:cs typeface="Arial"/>
              </a:rPr>
              <a:t>ِ </a:t>
            </a:r>
            <a:r>
              <a:rPr dirty="0" baseline="3086" sz="2700">
                <a:latin typeface="Arial"/>
                <a:cs typeface="Arial"/>
              </a:rPr>
              <a:t>ٌْ </a:t>
            </a:r>
            <a:r>
              <a:rPr dirty="0" baseline="10802" sz="2700" spc="-509">
                <a:latin typeface="Arial"/>
                <a:cs typeface="Arial"/>
              </a:rPr>
              <a:t>َ</a:t>
            </a:r>
            <a:r>
              <a:rPr dirty="0" baseline="3086" sz="2700" spc="-509">
                <a:latin typeface="Arial"/>
                <a:cs typeface="Arial"/>
              </a:rPr>
              <a:t>لع</a:t>
            </a:r>
            <a:r>
              <a:rPr dirty="0" sz="1800" spc="-340">
                <a:latin typeface="Arial"/>
                <a:cs typeface="Arial"/>
              </a:rPr>
              <a:t>َ </a:t>
            </a:r>
            <a:r>
              <a:rPr dirty="0" baseline="3086" sz="2700" spc="-502">
                <a:latin typeface="Arial"/>
                <a:cs typeface="Arial"/>
              </a:rPr>
              <a:t>ر</a:t>
            </a:r>
            <a:r>
              <a:rPr dirty="0" sz="1800" spc="-335">
                <a:latin typeface="Arial"/>
                <a:cs typeface="Arial"/>
              </a:rPr>
              <a:t>َ </a:t>
            </a:r>
            <a:r>
              <a:rPr dirty="0" baseline="3086" sz="2700" spc="-352">
                <a:latin typeface="Arial"/>
                <a:cs typeface="Arial"/>
              </a:rPr>
              <a:t>د</a:t>
            </a:r>
            <a:r>
              <a:rPr dirty="0" baseline="1543" sz="2700" spc="-352">
                <a:latin typeface="Arial"/>
                <a:cs typeface="Arial"/>
              </a:rPr>
              <a:t>ِ </a:t>
            </a:r>
            <a:r>
              <a:rPr dirty="0" baseline="3086" sz="2700" spc="-719">
                <a:latin typeface="Arial"/>
                <a:cs typeface="Arial"/>
              </a:rPr>
              <a:t>ق</a:t>
            </a:r>
            <a:r>
              <a:rPr dirty="0" baseline="12345" sz="2700" spc="-719">
                <a:latin typeface="Arial"/>
                <a:cs typeface="Arial"/>
              </a:rPr>
              <a:t>ْ </a:t>
            </a:r>
            <a:r>
              <a:rPr dirty="0" baseline="3086" sz="2700" spc="-442">
                <a:latin typeface="Arial"/>
                <a:cs typeface="Arial"/>
              </a:rPr>
              <a:t>ن</a:t>
            </a:r>
            <a:r>
              <a:rPr dirty="0" baseline="10802" sz="2700" spc="-442">
                <a:latin typeface="Arial"/>
                <a:cs typeface="Arial"/>
              </a:rPr>
              <a:t>َّ </a:t>
            </a:r>
            <a:r>
              <a:rPr dirty="0" baseline="3086" sz="2700" spc="-217">
                <a:latin typeface="Arial"/>
                <a:cs typeface="Arial"/>
              </a:rPr>
              <a:t>ن</a:t>
            </a:r>
            <a:r>
              <a:rPr dirty="0" baseline="13888" sz="2700" spc="-217">
                <a:latin typeface="Arial"/>
                <a:cs typeface="Arial"/>
              </a:rPr>
              <a:t>َّ</a:t>
            </a:r>
            <a:r>
              <a:rPr dirty="0" baseline="3086" sz="2700" spc="-217">
                <a:latin typeface="Arial"/>
                <a:cs typeface="Arial"/>
              </a:rPr>
              <a:t>ل </a:t>
            </a:r>
            <a:r>
              <a:rPr dirty="0" baseline="3086" sz="2700" spc="-15">
                <a:latin typeface="Arial"/>
                <a:cs typeface="Arial"/>
              </a:rPr>
              <a:t>ن</a:t>
            </a:r>
            <a:r>
              <a:rPr dirty="0" baseline="16975" sz="2700" spc="-15">
                <a:latin typeface="Arial"/>
                <a:cs typeface="Arial"/>
              </a:rPr>
              <a:t>َ</a:t>
            </a:r>
            <a:r>
              <a:rPr dirty="0" baseline="3086" sz="2700" spc="-15">
                <a:latin typeface="Arial"/>
                <a:cs typeface="Arial"/>
              </a:rPr>
              <a:t>أ </a:t>
            </a:r>
            <a:r>
              <a:rPr dirty="0" baseline="3086" sz="2700" spc="-345">
                <a:latin typeface="Arial"/>
                <a:cs typeface="Arial"/>
              </a:rPr>
              <a:t>نَّ </a:t>
            </a:r>
            <a:r>
              <a:rPr dirty="0" baseline="3086" sz="2700" spc="-652">
                <a:latin typeface="Arial"/>
                <a:cs typeface="Arial"/>
              </a:rPr>
              <a:t>ظ</a:t>
            </a:r>
            <a:r>
              <a:rPr dirty="0" baseline="13888" sz="2700" spc="-652">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67">
                <a:latin typeface="Arial"/>
                <a:cs typeface="Arial"/>
              </a:rPr>
              <a:t> </a:t>
            </a:r>
            <a:r>
              <a:rPr dirty="0" baseline="3086" sz="2700" spc="-585">
                <a:latin typeface="Arial"/>
                <a:cs typeface="Arial"/>
              </a:rPr>
              <a:t>اب</a:t>
            </a:r>
            <a:r>
              <a:rPr dirty="0" baseline="4629" sz="2700" spc="-585">
                <a:latin typeface="Arial"/>
                <a:cs typeface="Arial"/>
              </a:rPr>
              <a:t>ً </a:t>
            </a:r>
            <a:r>
              <a:rPr dirty="0" baseline="3086" sz="2700" spc="-1245">
                <a:latin typeface="Arial"/>
                <a:cs typeface="Arial"/>
              </a:rPr>
              <a:t>ض</a:t>
            </a:r>
            <a:r>
              <a:rPr dirty="0" baseline="1543" sz="2700" spc="-1245">
                <a:latin typeface="Arial"/>
                <a:cs typeface="Arial"/>
              </a:rPr>
              <a:t>ِ</a:t>
            </a:r>
            <a:r>
              <a:rPr dirty="0" baseline="1543" sz="2700" spc="1064">
                <a:latin typeface="Arial"/>
                <a:cs typeface="Arial"/>
              </a:rPr>
              <a:t> </a:t>
            </a:r>
            <a:r>
              <a:rPr dirty="0" baseline="3086" sz="2700" spc="-472">
                <a:latin typeface="Arial"/>
                <a:cs typeface="Arial"/>
              </a:rPr>
              <a:t>اؽ</a:t>
            </a:r>
            <a:r>
              <a:rPr dirty="0" baseline="4629" sz="2700" spc="-472">
                <a:latin typeface="Arial"/>
                <a:cs typeface="Arial"/>
              </a:rPr>
              <a:t>َ </a:t>
            </a:r>
            <a:r>
              <a:rPr dirty="0" baseline="3086" sz="2700" spc="-397">
                <a:latin typeface="Arial"/>
                <a:cs typeface="Arial"/>
              </a:rPr>
              <a:t>مُ </a:t>
            </a:r>
            <a:r>
              <a:rPr dirty="0" baseline="3086" sz="2700" spc="-780">
                <a:latin typeface="Arial"/>
                <a:cs typeface="Arial"/>
              </a:rPr>
              <a:t>ب</a:t>
            </a:r>
            <a:r>
              <a:rPr dirty="0" sz="1800" spc="-520">
                <a:latin typeface="Arial"/>
                <a:cs typeface="Arial"/>
              </a:rPr>
              <a:t>َ</a:t>
            </a:r>
            <a:r>
              <a:rPr dirty="0" sz="1800" spc="530">
                <a:latin typeface="Arial"/>
                <a:cs typeface="Arial"/>
              </a:rPr>
              <a:t> </a:t>
            </a:r>
            <a:r>
              <a:rPr dirty="0" baseline="3086" sz="2700" spc="-270">
                <a:latin typeface="Arial"/>
                <a:cs typeface="Arial"/>
              </a:rPr>
              <a:t>ه</a:t>
            </a:r>
            <a:r>
              <a:rPr dirty="0" sz="1800" spc="-180">
                <a:latin typeface="Arial"/>
                <a:cs typeface="Arial"/>
              </a:rPr>
              <a:t>َ </a:t>
            </a:r>
            <a:r>
              <a:rPr dirty="0" baseline="3086" sz="2700" spc="-232">
                <a:latin typeface="Arial"/>
                <a:cs typeface="Arial"/>
              </a:rPr>
              <a:t>ذ</a:t>
            </a:r>
            <a:r>
              <a:rPr dirty="0" baseline="15432" sz="2700" spc="-232">
                <a:latin typeface="Arial"/>
                <a:cs typeface="Arial"/>
              </a:rPr>
              <a:t>َّ </a:t>
            </a:r>
            <a:r>
              <a:rPr dirty="0" baseline="3086" sz="2700" spc="-15">
                <a:latin typeface="Arial"/>
                <a:cs typeface="Arial"/>
              </a:rPr>
              <a:t>ذ</a:t>
            </a:r>
            <a:r>
              <a:rPr dirty="0" baseline="-10802" sz="2700" spc="-15">
                <a:latin typeface="Arial"/>
                <a:cs typeface="Arial"/>
              </a:rPr>
              <a:t>ِ</a:t>
            </a:r>
            <a:r>
              <a:rPr dirty="0" baseline="3086" sz="2700" spc="-15">
                <a:latin typeface="Arial"/>
                <a:cs typeface="Arial"/>
              </a:rPr>
              <a:t>إ </a:t>
            </a:r>
            <a:r>
              <a:rPr dirty="0" baseline="3086" sz="2700" spc="-615">
                <a:latin typeface="Arial"/>
                <a:cs typeface="Arial"/>
              </a:rPr>
              <a:t>ن</a:t>
            </a:r>
            <a:r>
              <a:rPr dirty="0" baseline="-10802" sz="2700" spc="-615">
                <a:latin typeface="Arial"/>
                <a:cs typeface="Arial"/>
              </a:rPr>
              <a:t>ِ </a:t>
            </a:r>
            <a:r>
              <a:rPr dirty="0" baseline="3086" sz="2700" spc="-330">
                <a:latin typeface="Arial"/>
                <a:cs typeface="Arial"/>
              </a:rPr>
              <a:t>ون</a:t>
            </a:r>
            <a:r>
              <a:rPr dirty="0" baseline="10802" sz="2700" spc="-330">
                <a:latin typeface="Arial"/>
                <a:cs typeface="Arial"/>
              </a:rPr>
              <a:t>ُّ </a:t>
            </a:r>
            <a:r>
              <a:rPr dirty="0" baseline="3086" sz="2700" spc="-412">
                <a:latin typeface="Arial"/>
                <a:cs typeface="Arial"/>
              </a:rPr>
              <a:t>لا </a:t>
            </a:r>
            <a:r>
              <a:rPr dirty="0" baseline="3086" sz="2700" spc="-217">
                <a:latin typeface="Arial"/>
                <a:cs typeface="Arial"/>
              </a:rPr>
              <a:t>اذ</a:t>
            </a:r>
            <a:r>
              <a:rPr dirty="0" baseline="13888" sz="2700" spc="-217">
                <a:latin typeface="Arial"/>
                <a:cs typeface="Arial"/>
              </a:rPr>
              <a:t>َ</a:t>
            </a:r>
            <a:r>
              <a:rPr dirty="0" baseline="13888" sz="2700" spc="-390">
                <a:latin typeface="Arial"/>
                <a:cs typeface="Arial"/>
              </a:rPr>
              <a:t> </a:t>
            </a:r>
            <a:r>
              <a:rPr dirty="0" baseline="3086" sz="2700" spc="-615">
                <a:latin typeface="Arial"/>
                <a:cs typeface="Arial"/>
              </a:rPr>
              <a:t>و</a:t>
            </a:r>
            <a:endParaRPr baseline="3086" sz="2700">
              <a:latin typeface="Arial"/>
              <a:cs typeface="Arial"/>
            </a:endParaRPr>
          </a:p>
          <a:p>
            <a:pPr algn="r" marR="274320">
              <a:lnSpc>
                <a:spcPts val="2110"/>
              </a:lnSpc>
            </a:pPr>
            <a:r>
              <a:rPr dirty="0" baseline="3086" sz="2700" spc="-494">
                <a:latin typeface="Arial"/>
                <a:cs typeface="Arial"/>
              </a:rPr>
              <a:t>ن</a:t>
            </a:r>
            <a:r>
              <a:rPr dirty="0" sz="1800" spc="-330">
                <a:latin typeface="Arial"/>
                <a:cs typeface="Arial"/>
              </a:rPr>
              <a:t>َ </a:t>
            </a:r>
            <a:r>
              <a:rPr dirty="0" baseline="3086" sz="2700" spc="-240">
                <a:latin typeface="Arial"/>
                <a:cs typeface="Arial"/>
              </a:rPr>
              <a:t>ٌم</a:t>
            </a:r>
            <a:r>
              <a:rPr dirty="0" baseline="1543" sz="2700" spc="-240">
                <a:latin typeface="Arial"/>
                <a:cs typeface="Arial"/>
              </a:rPr>
              <a:t>ِ </a:t>
            </a:r>
            <a:r>
              <a:rPr dirty="0" baseline="1543" sz="2700" spc="-352">
                <a:latin typeface="Arial"/>
                <a:cs typeface="Arial"/>
              </a:rPr>
              <a:t>ِ</a:t>
            </a:r>
            <a:r>
              <a:rPr dirty="0" baseline="3086" sz="2700" spc="-352">
                <a:latin typeface="Arial"/>
                <a:cs typeface="Arial"/>
              </a:rPr>
              <a:t>لاظ</a:t>
            </a:r>
            <a:r>
              <a:rPr dirty="0" baseline="15432" sz="2700" spc="-352">
                <a:latin typeface="Arial"/>
                <a:cs typeface="Arial"/>
              </a:rPr>
              <a:t>َّ </a:t>
            </a:r>
            <a:r>
              <a:rPr dirty="0" baseline="3086" sz="2700" spc="-412">
                <a:latin typeface="Arial"/>
                <a:cs typeface="Arial"/>
              </a:rPr>
              <a:t>لا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817">
                <a:latin typeface="Arial"/>
                <a:cs typeface="Arial"/>
              </a:rPr>
              <a:t>ت</a:t>
            </a:r>
            <a:r>
              <a:rPr dirty="0" baseline="7716" sz="2700" spc="-817">
                <a:latin typeface="Arial"/>
                <a:cs typeface="Arial"/>
              </a:rPr>
              <a:t>ُ</a:t>
            </a:r>
            <a:r>
              <a:rPr dirty="0" baseline="7716" sz="2700" spc="839">
                <a:latin typeface="Arial"/>
                <a:cs typeface="Arial"/>
              </a:rPr>
              <a:t> </a:t>
            </a:r>
            <a:r>
              <a:rPr dirty="0" baseline="3086" sz="2700" spc="-757">
                <a:latin typeface="Arial"/>
                <a:cs typeface="Arial"/>
              </a:rPr>
              <a:t>نك</a:t>
            </a:r>
            <a:r>
              <a:rPr dirty="0" baseline="10802" sz="2700" spc="-757">
                <a:latin typeface="Arial"/>
                <a:cs typeface="Arial"/>
              </a:rPr>
              <a:t>ُ</a:t>
            </a:r>
            <a:r>
              <a:rPr dirty="0" baseline="10802" sz="2700" spc="937">
                <a:latin typeface="Arial"/>
                <a:cs typeface="Arial"/>
              </a:rPr>
              <a:t> </a:t>
            </a:r>
            <a:r>
              <a:rPr dirty="0" baseline="3086" sz="2700" spc="-330">
                <a:latin typeface="Arial"/>
                <a:cs typeface="Arial"/>
              </a:rPr>
              <a:t>ًن</a:t>
            </a:r>
            <a:r>
              <a:rPr dirty="0" baseline="10802" sz="2700" spc="-330">
                <a:latin typeface="Arial"/>
                <a:cs typeface="Arial"/>
              </a:rPr>
              <a:t>ِّ </a:t>
            </a:r>
            <a:r>
              <a:rPr dirty="0" baseline="-10802" sz="2700">
                <a:latin typeface="Arial"/>
                <a:cs typeface="Arial"/>
              </a:rPr>
              <a:t>ِ</a:t>
            </a:r>
            <a:r>
              <a:rPr dirty="0" baseline="3086" sz="2700">
                <a:latin typeface="Arial"/>
                <a:cs typeface="Arial"/>
              </a:rPr>
              <a:t>إ </a:t>
            </a:r>
            <a:r>
              <a:rPr dirty="0" baseline="3086" sz="2700" spc="-682">
                <a:latin typeface="Arial"/>
                <a:cs typeface="Arial"/>
              </a:rPr>
              <a:t>ك</a:t>
            </a:r>
            <a:r>
              <a:rPr dirty="0" sz="1800" spc="-455">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382">
                <a:latin typeface="Arial"/>
                <a:cs typeface="Arial"/>
              </a:rPr>
              <a:t>اح</a:t>
            </a:r>
            <a:r>
              <a:rPr dirty="0" sz="1800" spc="-254">
                <a:latin typeface="Arial"/>
                <a:cs typeface="Arial"/>
              </a:rPr>
              <a:t>َ</a:t>
            </a:r>
            <a:r>
              <a:rPr dirty="0" sz="1800" spc="-30">
                <a:latin typeface="Arial"/>
                <a:cs typeface="Arial"/>
              </a:rPr>
              <a:t> </a:t>
            </a:r>
            <a:r>
              <a:rPr dirty="0" baseline="3086" sz="2700" spc="-862">
                <a:latin typeface="Arial"/>
                <a:cs typeface="Arial"/>
              </a:rPr>
              <a:t>بْ</a:t>
            </a:r>
            <a:r>
              <a:rPr dirty="0" baseline="3086" sz="2700" spc="-307">
                <a:latin typeface="Arial"/>
                <a:cs typeface="Arial"/>
              </a:rPr>
              <a:t> </a:t>
            </a:r>
            <a:r>
              <a:rPr dirty="0" baseline="3086" sz="2700" spc="-2025">
                <a:latin typeface="Arial"/>
                <a:cs typeface="Arial"/>
              </a:rPr>
              <a:t>س</a:t>
            </a:r>
            <a:endParaRPr baseline="3086" sz="2700">
              <a:latin typeface="Arial"/>
              <a:cs typeface="Arial"/>
            </a:endParaRPr>
          </a:p>
          <a:p>
            <a:pPr algn="just" marL="165100" marR="168910">
              <a:lnSpc>
                <a:spcPts val="1380"/>
              </a:lnSpc>
              <a:spcBef>
                <a:spcPts val="1335"/>
              </a:spcBef>
              <a:buAutoNum type="arabicPeriod" startAt="87"/>
              <a:tabLst>
                <a:tab pos="425450" algn="l"/>
              </a:tabLst>
            </a:pPr>
            <a:r>
              <a:rPr dirty="0" sz="1200" spc="-5">
                <a:latin typeface="Arial"/>
                <a:cs typeface="Arial"/>
              </a:rPr>
              <a:t>And (mention) Dhun </a:t>
            </a:r>
            <a:r>
              <a:rPr dirty="0" sz="1200">
                <a:latin typeface="Arial"/>
                <a:cs typeface="Arial"/>
              </a:rPr>
              <a:t>Nun, </a:t>
            </a:r>
            <a:r>
              <a:rPr dirty="0" sz="1200" spc="-5">
                <a:latin typeface="Arial"/>
                <a:cs typeface="Arial"/>
              </a:rPr>
              <a:t>when he went off in anger and deemed that </a:t>
            </a:r>
            <a:r>
              <a:rPr dirty="0" sz="1200" spc="20">
                <a:latin typeface="Arial"/>
                <a:cs typeface="Arial"/>
              </a:rPr>
              <a:t>We </a:t>
            </a:r>
            <a:r>
              <a:rPr dirty="0" sz="1200" spc="-5">
                <a:latin typeface="Arial"/>
                <a:cs typeface="Arial"/>
              </a:rPr>
              <a:t>had </a:t>
            </a:r>
            <a:r>
              <a:rPr dirty="0" sz="1200" spc="-10">
                <a:latin typeface="Arial"/>
                <a:cs typeface="Arial"/>
              </a:rPr>
              <a:t>no </a:t>
            </a:r>
            <a:r>
              <a:rPr dirty="0" sz="1200" spc="5">
                <a:latin typeface="Arial"/>
                <a:cs typeface="Arial"/>
              </a:rPr>
              <a:t>power </a:t>
            </a:r>
            <a:r>
              <a:rPr dirty="0" sz="1200" spc="340">
                <a:latin typeface="Arial"/>
                <a:cs typeface="Arial"/>
              </a:rPr>
              <a:t> </a:t>
            </a:r>
            <a:r>
              <a:rPr dirty="0" sz="1200" spc="-5">
                <a:latin typeface="Arial"/>
                <a:cs typeface="Arial"/>
              </a:rPr>
              <a:t>over </a:t>
            </a:r>
            <a:r>
              <a:rPr dirty="0" sz="1200">
                <a:latin typeface="Arial"/>
                <a:cs typeface="Arial"/>
              </a:rPr>
              <a:t>him, </a:t>
            </a:r>
            <a:r>
              <a:rPr dirty="0" sz="1200" spc="-5">
                <a:latin typeface="Arial"/>
                <a:cs typeface="Arial"/>
              </a:rPr>
              <a:t>but he cried out in the darkness, saying: </a:t>
            </a:r>
            <a:r>
              <a:rPr dirty="0" sz="1200">
                <a:latin typeface="Arial"/>
                <a:cs typeface="Arial"/>
              </a:rPr>
              <a:t>There </a:t>
            </a:r>
            <a:r>
              <a:rPr dirty="0" sz="1200" spc="-5">
                <a:latin typeface="Arial"/>
                <a:cs typeface="Arial"/>
              </a:rPr>
              <a:t>is no God save Thee. Be Thou  glorified! </a:t>
            </a:r>
            <a:r>
              <a:rPr dirty="0" sz="1200">
                <a:latin typeface="Arial"/>
                <a:cs typeface="Arial"/>
              </a:rPr>
              <a:t>I </a:t>
            </a:r>
            <a:r>
              <a:rPr dirty="0" sz="1200" spc="-5">
                <a:latin typeface="Arial"/>
                <a:cs typeface="Arial"/>
              </a:rPr>
              <a:t>have been a wrong</a:t>
            </a:r>
            <a:r>
              <a:rPr dirty="0" sz="1200" spc="-10">
                <a:latin typeface="Arial"/>
                <a:cs typeface="Arial"/>
              </a:rPr>
              <a:t> </a:t>
            </a:r>
            <a:r>
              <a:rPr dirty="0" sz="1200">
                <a:latin typeface="Arial"/>
                <a:cs typeface="Arial"/>
              </a:rPr>
              <a:t>doer.</a:t>
            </a:r>
            <a:endParaRPr sz="1200">
              <a:latin typeface="Arial"/>
              <a:cs typeface="Arial"/>
            </a:endParaRPr>
          </a:p>
          <a:p>
            <a:pPr>
              <a:lnSpc>
                <a:spcPct val="100000"/>
              </a:lnSpc>
              <a:buFont typeface="Arial"/>
              <a:buAutoNum type="arabicPeriod" startAt="87"/>
            </a:pPr>
            <a:endParaRPr sz="1300">
              <a:latin typeface="Arial"/>
              <a:cs typeface="Arial"/>
            </a:endParaRPr>
          </a:p>
          <a:p>
            <a:pPr algn="r" marR="224154">
              <a:lnSpc>
                <a:spcPct val="100000"/>
              </a:lnSpc>
              <a:spcBef>
                <a:spcPts val="1160"/>
              </a:spcBef>
            </a:pPr>
            <a:r>
              <a:rPr dirty="0" baseline="1543" sz="2700" spc="-494">
                <a:latin typeface="Arial"/>
                <a:cs typeface="Arial"/>
              </a:rPr>
              <a:t>ن</a:t>
            </a:r>
            <a:r>
              <a:rPr dirty="0" baseline="-1543" sz="2700" spc="-494">
                <a:latin typeface="Arial"/>
                <a:cs typeface="Arial"/>
              </a:rPr>
              <a:t>َ </a:t>
            </a:r>
            <a:r>
              <a:rPr dirty="0" baseline="1543" sz="2700" spc="-472">
                <a:latin typeface="Arial"/>
                <a:cs typeface="Arial"/>
              </a:rPr>
              <a:t>ٌن</a:t>
            </a:r>
            <a:r>
              <a:rPr dirty="0" sz="1800" spc="-315">
                <a:latin typeface="Arial"/>
                <a:cs typeface="Arial"/>
              </a:rPr>
              <a:t>ِ </a:t>
            </a:r>
            <a:r>
              <a:rPr dirty="0" baseline="1543" sz="2700" spc="-352">
                <a:latin typeface="Arial"/>
                <a:cs typeface="Arial"/>
              </a:rPr>
              <a:t>م</a:t>
            </a:r>
            <a:r>
              <a:rPr dirty="0" sz="1800" spc="-235">
                <a:latin typeface="Arial"/>
                <a:cs typeface="Arial"/>
              </a:rPr>
              <a:t>ِ </a:t>
            </a:r>
            <a:r>
              <a:rPr dirty="0" baseline="1543" sz="2700" spc="30">
                <a:latin typeface="Arial"/>
                <a:cs typeface="Arial"/>
              </a:rPr>
              <a:t>إْ </a:t>
            </a:r>
            <a:r>
              <a:rPr dirty="0" baseline="1543" sz="2700" spc="-397">
                <a:latin typeface="Arial"/>
                <a:cs typeface="Arial"/>
              </a:rPr>
              <a:t>مُ </a:t>
            </a:r>
            <a:r>
              <a:rPr dirty="0" baseline="1543" sz="2700" spc="-660">
                <a:latin typeface="Arial"/>
                <a:cs typeface="Arial"/>
              </a:rPr>
              <a:t>ل</a:t>
            </a:r>
            <a:r>
              <a:rPr dirty="0" baseline="12345" sz="2700" spc="-660">
                <a:latin typeface="Arial"/>
                <a:cs typeface="Arial"/>
              </a:rPr>
              <a:t>ْ </a:t>
            </a:r>
            <a:r>
              <a:rPr dirty="0" baseline="1543" sz="2700">
                <a:latin typeface="Arial"/>
                <a:cs typeface="Arial"/>
              </a:rPr>
              <a:t>ا </a:t>
            </a:r>
            <a:r>
              <a:rPr dirty="0" baseline="1543" sz="2700" spc="-480">
                <a:latin typeface="Arial"/>
                <a:cs typeface="Arial"/>
              </a:rPr>
              <a:t>ًج</a:t>
            </a:r>
            <a:r>
              <a:rPr dirty="0" baseline="-9259" sz="2700" spc="-480">
                <a:latin typeface="Arial"/>
                <a:cs typeface="Arial"/>
              </a:rPr>
              <a:t>ِ </a:t>
            </a:r>
            <a:r>
              <a:rPr dirty="0" baseline="1543" sz="2700" spc="-705">
                <a:latin typeface="Arial"/>
                <a:cs typeface="Arial"/>
              </a:rPr>
              <a:t>نن</a:t>
            </a:r>
            <a:r>
              <a:rPr dirty="0" baseline="9259" sz="2700" spc="-705">
                <a:latin typeface="Arial"/>
                <a:cs typeface="Arial"/>
              </a:rPr>
              <a:t>ُ </a:t>
            </a:r>
            <a:r>
              <a:rPr dirty="0" baseline="1543" sz="2700" spc="-682">
                <a:latin typeface="Arial"/>
                <a:cs typeface="Arial"/>
              </a:rPr>
              <a:t>ك</a:t>
            </a:r>
            <a:r>
              <a:rPr dirty="0" baseline="-1543" sz="2700" spc="-682">
                <a:latin typeface="Arial"/>
                <a:cs typeface="Arial"/>
              </a:rPr>
              <a:t>َ </a:t>
            </a:r>
            <a:r>
              <a:rPr dirty="0" sz="1800" spc="-245">
                <a:latin typeface="Arial"/>
                <a:cs typeface="Arial"/>
              </a:rPr>
              <a:t>ِ</a:t>
            </a:r>
            <a:r>
              <a:rPr dirty="0" baseline="1543" sz="2700" spc="-367">
                <a:latin typeface="Arial"/>
                <a:cs typeface="Arial"/>
              </a:rPr>
              <a:t>لذ</a:t>
            </a:r>
            <a:r>
              <a:rPr dirty="0" baseline="10802" sz="2700" spc="-367">
                <a:latin typeface="Arial"/>
                <a:cs typeface="Arial"/>
              </a:rPr>
              <a:t>َ </a:t>
            </a:r>
            <a:r>
              <a:rPr dirty="0" baseline="1543" sz="2700" spc="-719">
                <a:latin typeface="Arial"/>
                <a:cs typeface="Arial"/>
              </a:rPr>
              <a:t>ك</a:t>
            </a:r>
            <a:r>
              <a:rPr dirty="0" baseline="6172" sz="2700" spc="-719">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270">
                <a:latin typeface="Arial"/>
                <a:cs typeface="Arial"/>
              </a:rPr>
              <a:t>م</a:t>
            </a:r>
            <a:r>
              <a:rPr dirty="0" baseline="-4629" sz="2700" spc="-270">
                <a:latin typeface="Arial"/>
                <a:cs typeface="Arial"/>
              </a:rPr>
              <a:t>ِّ </a:t>
            </a:r>
            <a:r>
              <a:rPr dirty="0" baseline="1543" sz="2700" spc="-727">
                <a:latin typeface="Arial"/>
                <a:cs typeface="Arial"/>
              </a:rPr>
              <a:t>ؽ</a:t>
            </a:r>
            <a:r>
              <a:rPr dirty="0" baseline="3086" sz="2700" spc="-727">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ا </a:t>
            </a:r>
            <a:r>
              <a:rPr dirty="0" baseline="1543" sz="2700" spc="-494">
                <a:latin typeface="Arial"/>
                <a:cs typeface="Arial"/>
              </a:rPr>
              <a:t>ن</a:t>
            </a:r>
            <a:r>
              <a:rPr dirty="0" baseline="-1543" sz="2700" spc="-494">
                <a:latin typeface="Arial"/>
                <a:cs typeface="Arial"/>
              </a:rPr>
              <a:t>َ </a:t>
            </a:r>
            <a:r>
              <a:rPr dirty="0" baseline="1543" sz="2700" spc="-359">
                <a:latin typeface="Arial"/>
                <a:cs typeface="Arial"/>
              </a:rPr>
              <a:t>م</a:t>
            </a:r>
            <a:r>
              <a:rPr dirty="0" sz="1800" spc="-240">
                <a:latin typeface="Arial"/>
                <a:cs typeface="Arial"/>
              </a:rPr>
              <a:t>ِ </a:t>
            </a:r>
            <a:r>
              <a:rPr dirty="0" baseline="1543" sz="2700" spc="-382">
                <a:latin typeface="Arial"/>
                <a:cs typeface="Arial"/>
              </a:rPr>
              <a:t>هُ </a:t>
            </a:r>
            <a:r>
              <a:rPr dirty="0" baseline="1543" sz="2700" spc="-412">
                <a:latin typeface="Arial"/>
                <a:cs typeface="Arial"/>
              </a:rPr>
              <a:t>ان</a:t>
            </a:r>
            <a:r>
              <a:rPr dirty="0" baseline="6172" sz="2700" spc="-412">
                <a:latin typeface="Arial"/>
                <a:cs typeface="Arial"/>
              </a:rPr>
              <a:t>َ </a:t>
            </a:r>
            <a:r>
              <a:rPr dirty="0" baseline="1543" sz="2700">
                <a:latin typeface="Arial"/>
                <a:cs typeface="Arial"/>
              </a:rPr>
              <a:t>ٌْ </a:t>
            </a:r>
            <a:r>
              <a:rPr dirty="0" baseline="1543" sz="2700" spc="-405">
                <a:latin typeface="Arial"/>
                <a:cs typeface="Arial"/>
              </a:rPr>
              <a:t>ج</a:t>
            </a:r>
            <a:r>
              <a:rPr dirty="0" sz="1800" spc="-270">
                <a:latin typeface="Arial"/>
                <a:cs typeface="Arial"/>
              </a:rPr>
              <a:t>َّ </a:t>
            </a:r>
            <a:r>
              <a:rPr dirty="0" baseline="1543" sz="2700" spc="-644">
                <a:latin typeface="Arial"/>
                <a:cs typeface="Arial"/>
              </a:rPr>
              <a:t>ن</a:t>
            </a:r>
            <a:r>
              <a:rPr dirty="0" baseline="6172" sz="2700" spc="-644">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22">
                <a:latin typeface="Arial"/>
                <a:cs typeface="Arial"/>
              </a:rPr>
              <a:t>هُ </a:t>
            </a:r>
            <a:r>
              <a:rPr dirty="0" baseline="1543" sz="2700" spc="-690">
                <a:latin typeface="Arial"/>
                <a:cs typeface="Arial"/>
              </a:rPr>
              <a:t>ل</a:t>
            </a:r>
            <a:r>
              <a:rPr dirty="0" baseline="9259" sz="2700" spc="-690">
                <a:latin typeface="Arial"/>
                <a:cs typeface="Arial"/>
              </a:rPr>
              <a:t>َ </a:t>
            </a:r>
            <a:r>
              <a:rPr dirty="0" baseline="1543" sz="2700" spc="-412">
                <a:latin typeface="Arial"/>
                <a:cs typeface="Arial"/>
              </a:rPr>
              <a:t>ان</a:t>
            </a:r>
            <a:r>
              <a:rPr dirty="0" baseline="6172" sz="2700" spc="-412">
                <a:latin typeface="Arial"/>
                <a:cs typeface="Arial"/>
              </a:rPr>
              <a:t>َ </a:t>
            </a:r>
            <a:r>
              <a:rPr dirty="0" baseline="1543" sz="2700" spc="-862">
                <a:latin typeface="Arial"/>
                <a:cs typeface="Arial"/>
              </a:rPr>
              <a:t>بْ</a:t>
            </a:r>
            <a:r>
              <a:rPr dirty="0" baseline="1543" sz="2700" spc="-307">
                <a:latin typeface="Arial"/>
                <a:cs typeface="Arial"/>
              </a:rPr>
              <a:t> </a:t>
            </a:r>
            <a:r>
              <a:rPr dirty="0" baseline="1543" sz="2700" spc="-592">
                <a:latin typeface="Arial"/>
                <a:cs typeface="Arial"/>
              </a:rPr>
              <a:t>ج</a:t>
            </a:r>
            <a:r>
              <a:rPr dirty="0" baseline="-1543" sz="2700" spc="-592">
                <a:latin typeface="Arial"/>
                <a:cs typeface="Arial"/>
              </a:rPr>
              <a:t>َ</a:t>
            </a:r>
            <a:r>
              <a:rPr dirty="0" baseline="-1543" sz="2700" spc="-502">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32">
                <a:latin typeface="Arial"/>
                <a:cs typeface="Arial"/>
              </a:rPr>
              <a:t> </a:t>
            </a:r>
            <a:r>
              <a:rPr dirty="0" baseline="1543" sz="2700" spc="-944">
                <a:latin typeface="Arial"/>
                <a:cs typeface="Arial"/>
              </a:rPr>
              <a:t>سْ</a:t>
            </a:r>
            <a:r>
              <a:rPr dirty="0" baseline="1543" sz="2700" spc="345">
                <a:latin typeface="Arial"/>
                <a:cs typeface="Arial"/>
              </a:rPr>
              <a:t> </a:t>
            </a:r>
            <a:r>
              <a:rPr dirty="0" baseline="1543" sz="2700" spc="-1012">
                <a:latin typeface="Arial"/>
                <a:cs typeface="Arial"/>
              </a:rPr>
              <a:t>اف</a:t>
            </a:r>
            <a:endParaRPr baseline="1543" sz="2700">
              <a:latin typeface="Arial"/>
              <a:cs typeface="Arial"/>
            </a:endParaRPr>
          </a:p>
          <a:p>
            <a:pPr marL="419100" indent="-254635">
              <a:lnSpc>
                <a:spcPct val="100000"/>
              </a:lnSpc>
              <a:spcBef>
                <a:spcPts val="1295"/>
              </a:spcBef>
              <a:buAutoNum type="arabicPeriod" startAt="88"/>
              <a:tabLst>
                <a:tab pos="419734" algn="l"/>
              </a:tabLst>
            </a:pPr>
            <a:r>
              <a:rPr dirty="0" sz="1200" spc="-5">
                <a:latin typeface="Arial"/>
                <a:cs typeface="Arial"/>
              </a:rPr>
              <a:t>Then </a:t>
            </a:r>
            <a:r>
              <a:rPr dirty="0" sz="1200" spc="20">
                <a:latin typeface="Arial"/>
                <a:cs typeface="Arial"/>
              </a:rPr>
              <a:t>We </a:t>
            </a:r>
            <a:r>
              <a:rPr dirty="0" sz="1200" spc="-5">
                <a:latin typeface="Arial"/>
                <a:cs typeface="Arial"/>
              </a:rPr>
              <a:t>heard </a:t>
            </a:r>
            <a:r>
              <a:rPr dirty="0" sz="1200">
                <a:latin typeface="Arial"/>
                <a:cs typeface="Arial"/>
              </a:rPr>
              <a:t>his </a:t>
            </a:r>
            <a:r>
              <a:rPr dirty="0" sz="1200" spc="-5">
                <a:latin typeface="Arial"/>
                <a:cs typeface="Arial"/>
              </a:rPr>
              <a:t>prayer </a:t>
            </a:r>
            <a:r>
              <a:rPr dirty="0" sz="1200">
                <a:latin typeface="Arial"/>
                <a:cs typeface="Arial"/>
              </a:rPr>
              <a:t>and </a:t>
            </a:r>
            <a:r>
              <a:rPr dirty="0" sz="1200" spc="-10">
                <a:latin typeface="Arial"/>
                <a:cs typeface="Arial"/>
              </a:rPr>
              <a:t>saved </a:t>
            </a:r>
            <a:r>
              <a:rPr dirty="0" sz="1200">
                <a:latin typeface="Arial"/>
                <a:cs typeface="Arial"/>
              </a:rPr>
              <a:t>him </a:t>
            </a:r>
            <a:r>
              <a:rPr dirty="0" sz="1200" spc="-5">
                <a:latin typeface="Arial"/>
                <a:cs typeface="Arial"/>
              </a:rPr>
              <a:t>from the anguish. </a:t>
            </a:r>
            <a:r>
              <a:rPr dirty="0" sz="1200">
                <a:latin typeface="Arial"/>
                <a:cs typeface="Arial"/>
              </a:rPr>
              <a:t>Thus </a:t>
            </a:r>
            <a:r>
              <a:rPr dirty="0" sz="1200" spc="20">
                <a:latin typeface="Arial"/>
                <a:cs typeface="Arial"/>
              </a:rPr>
              <a:t>We </a:t>
            </a:r>
            <a:r>
              <a:rPr dirty="0" sz="1200" spc="-10">
                <a:latin typeface="Arial"/>
                <a:cs typeface="Arial"/>
              </a:rPr>
              <a:t>save</a:t>
            </a:r>
            <a:r>
              <a:rPr dirty="0" sz="1200" spc="-80">
                <a:latin typeface="Arial"/>
                <a:cs typeface="Arial"/>
              </a:rPr>
              <a:t> </a:t>
            </a:r>
            <a:r>
              <a:rPr dirty="0" sz="1200" spc="-5">
                <a:latin typeface="Arial"/>
                <a:cs typeface="Arial"/>
              </a:rPr>
              <a:t>believers.</a:t>
            </a:r>
            <a:endParaRPr sz="1200">
              <a:latin typeface="Arial"/>
              <a:cs typeface="Arial"/>
            </a:endParaRPr>
          </a:p>
          <a:p>
            <a:pPr>
              <a:lnSpc>
                <a:spcPct val="100000"/>
              </a:lnSpc>
              <a:spcBef>
                <a:spcPts val="55"/>
              </a:spcBef>
            </a:pPr>
            <a:endParaRPr sz="1100">
              <a:latin typeface="Arial"/>
              <a:cs typeface="Arial"/>
            </a:endParaRPr>
          </a:p>
          <a:p>
            <a:pPr marL="165100">
              <a:lnSpc>
                <a:spcPct val="100000"/>
              </a:lnSpc>
            </a:pPr>
            <a:r>
              <a:rPr dirty="0" u="heavy" sz="1200" spc="-5" b="1" i="1">
                <a:uFill>
                  <a:solidFill>
                    <a:srgbClr val="000000"/>
                  </a:solidFill>
                </a:uFill>
                <a:latin typeface="Arial"/>
                <a:cs typeface="Arial"/>
              </a:rPr>
              <a:t>Hazrat Zakariyyah (as) and Hazrat Yahya</a:t>
            </a:r>
            <a:r>
              <a:rPr dirty="0" u="heavy" sz="1200" spc="10" b="1" i="1">
                <a:uFill>
                  <a:solidFill>
                    <a:srgbClr val="000000"/>
                  </a:solidFill>
                </a:uFill>
                <a:latin typeface="Arial"/>
                <a:cs typeface="Arial"/>
              </a:rPr>
              <a:t> </a:t>
            </a:r>
            <a:r>
              <a:rPr dirty="0" u="heavy" sz="1200" b="1" i="1">
                <a:uFill>
                  <a:solidFill>
                    <a:srgbClr val="000000"/>
                  </a:solidFill>
                </a:uFill>
                <a:latin typeface="Arial"/>
                <a:cs typeface="Arial"/>
              </a:rPr>
              <a:t>(as)</a:t>
            </a:r>
            <a:endParaRPr sz="1200">
              <a:latin typeface="Arial"/>
              <a:cs typeface="Arial"/>
            </a:endParaRPr>
          </a:p>
          <a:p>
            <a:pPr>
              <a:lnSpc>
                <a:spcPct val="100000"/>
              </a:lnSpc>
              <a:spcBef>
                <a:spcPts val="35"/>
              </a:spcBef>
            </a:pPr>
            <a:endParaRPr sz="1200">
              <a:latin typeface="Arial"/>
              <a:cs typeface="Arial"/>
            </a:endParaRPr>
          </a:p>
          <a:p>
            <a:pPr algn="just" marL="165100" marR="178435">
              <a:lnSpc>
                <a:spcPts val="1380"/>
              </a:lnSpc>
            </a:pPr>
            <a:r>
              <a:rPr dirty="0" sz="1200">
                <a:latin typeface="Arial"/>
                <a:cs typeface="Arial"/>
              </a:rPr>
              <a:t>This </a:t>
            </a:r>
            <a:r>
              <a:rPr dirty="0" sz="1200" spc="-5">
                <a:latin typeface="Arial"/>
                <a:cs typeface="Arial"/>
              </a:rPr>
              <a:t>is </a:t>
            </a:r>
            <a:r>
              <a:rPr dirty="0" sz="1200">
                <a:latin typeface="Arial"/>
                <a:cs typeface="Arial"/>
              </a:rPr>
              <a:t>the story of </a:t>
            </a:r>
            <a:r>
              <a:rPr dirty="0" sz="1200" spc="-5">
                <a:latin typeface="Arial"/>
                <a:cs typeface="Arial"/>
              </a:rPr>
              <a:t>the </a:t>
            </a:r>
            <a:r>
              <a:rPr dirty="0" sz="1200">
                <a:latin typeface="Arial"/>
                <a:cs typeface="Arial"/>
              </a:rPr>
              <a:t>father </a:t>
            </a:r>
            <a:r>
              <a:rPr dirty="0" sz="1200" spc="-5">
                <a:latin typeface="Arial"/>
                <a:cs typeface="Arial"/>
              </a:rPr>
              <a:t>and the </a:t>
            </a:r>
            <a:r>
              <a:rPr dirty="0" sz="1200">
                <a:latin typeface="Arial"/>
                <a:cs typeface="Arial"/>
              </a:rPr>
              <a:t>son, </a:t>
            </a:r>
            <a:r>
              <a:rPr dirty="0" sz="1200" spc="-5">
                <a:latin typeface="Arial"/>
                <a:cs typeface="Arial"/>
              </a:rPr>
              <a:t>both prophets and dedicated </a:t>
            </a:r>
            <a:r>
              <a:rPr dirty="0" sz="1200">
                <a:latin typeface="Arial"/>
                <a:cs typeface="Arial"/>
              </a:rPr>
              <a:t>to Deen. A </a:t>
            </a:r>
            <a:r>
              <a:rPr dirty="0" sz="1200" spc="-10">
                <a:latin typeface="Arial"/>
                <a:cs typeface="Arial"/>
              </a:rPr>
              <a:t>brief  </a:t>
            </a:r>
            <a:r>
              <a:rPr dirty="0" sz="1200">
                <a:latin typeface="Arial"/>
                <a:cs typeface="Arial"/>
              </a:rPr>
              <a:t>sketch </a:t>
            </a:r>
            <a:r>
              <a:rPr dirty="0" sz="1200" spc="-5">
                <a:latin typeface="Arial"/>
                <a:cs typeface="Arial"/>
              </a:rPr>
              <a:t>of their lives was mentioned</a:t>
            </a:r>
            <a:r>
              <a:rPr dirty="0" sz="1200">
                <a:latin typeface="Arial"/>
                <a:cs typeface="Arial"/>
              </a:rPr>
              <a:t> </a:t>
            </a:r>
            <a:r>
              <a:rPr dirty="0" sz="1200" spc="-5">
                <a:latin typeface="Arial"/>
                <a:cs typeface="Arial"/>
              </a:rPr>
              <a:t>above.</a:t>
            </a:r>
            <a:endParaRPr sz="1200">
              <a:latin typeface="Arial"/>
              <a:cs typeface="Arial"/>
            </a:endParaRPr>
          </a:p>
          <a:p>
            <a:pPr>
              <a:lnSpc>
                <a:spcPct val="100000"/>
              </a:lnSpc>
              <a:spcBef>
                <a:spcPts val="20"/>
              </a:spcBef>
            </a:pPr>
            <a:endParaRPr sz="1150">
              <a:latin typeface="Arial"/>
              <a:cs typeface="Arial"/>
            </a:endParaRPr>
          </a:p>
          <a:p>
            <a:pPr algn="r" marR="220979">
              <a:lnSpc>
                <a:spcPct val="100000"/>
              </a:lnSpc>
            </a:pPr>
            <a:r>
              <a:rPr dirty="0" baseline="3086" sz="2700" spc="-494">
                <a:latin typeface="Arial"/>
                <a:cs typeface="Arial"/>
              </a:rPr>
              <a:t>ن</a:t>
            </a:r>
            <a:r>
              <a:rPr dirty="0" sz="1800" spc="-330">
                <a:latin typeface="Arial"/>
                <a:cs typeface="Arial"/>
              </a:rPr>
              <a:t>َ </a:t>
            </a:r>
            <a:r>
              <a:rPr dirty="0" baseline="3086" sz="2700" spc="-637">
                <a:latin typeface="Arial"/>
                <a:cs typeface="Arial"/>
              </a:rPr>
              <a:t>ٌث</a:t>
            </a:r>
            <a:r>
              <a:rPr dirty="0" baseline="1543" sz="2700" spc="-637">
                <a:latin typeface="Arial"/>
                <a:cs typeface="Arial"/>
              </a:rPr>
              <a:t>ِ </a:t>
            </a:r>
            <a:r>
              <a:rPr dirty="0" baseline="3086" sz="2700" spc="-457">
                <a:latin typeface="Arial"/>
                <a:cs typeface="Arial"/>
              </a:rPr>
              <a:t>ر</a:t>
            </a:r>
            <a:r>
              <a:rPr dirty="0" baseline="-10802" sz="2700" spc="-457">
                <a:latin typeface="Arial"/>
                <a:cs typeface="Arial"/>
              </a:rPr>
              <a:t>ِ </a:t>
            </a:r>
            <a:r>
              <a:rPr dirty="0" baseline="3086" sz="2700" spc="-209">
                <a:latin typeface="Arial"/>
                <a:cs typeface="Arial"/>
              </a:rPr>
              <a:t>او</a:t>
            </a:r>
            <a:r>
              <a:rPr dirty="0" sz="1800" spc="-1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525">
                <a:latin typeface="Arial"/>
                <a:cs typeface="Arial"/>
              </a:rPr>
              <a:t>رُ </a:t>
            </a:r>
            <a:r>
              <a:rPr dirty="0" baseline="3086" sz="2700">
                <a:latin typeface="Arial"/>
                <a:cs typeface="Arial"/>
              </a:rPr>
              <a:t>ٌْ </a:t>
            </a:r>
            <a:r>
              <a:rPr dirty="0" baseline="3086" sz="2700" spc="-592">
                <a:latin typeface="Arial"/>
                <a:cs typeface="Arial"/>
              </a:rPr>
              <a:t>خ</a:t>
            </a:r>
            <a:r>
              <a:rPr dirty="0" baseline="7716" sz="2700" spc="-592">
                <a:latin typeface="Arial"/>
                <a:cs typeface="Arial"/>
              </a:rPr>
              <a:t>َ </a:t>
            </a:r>
            <a:r>
              <a:rPr dirty="0" baseline="3086" sz="2700" spc="-772">
                <a:latin typeface="Arial"/>
                <a:cs typeface="Arial"/>
              </a:rPr>
              <a:t>ت</a:t>
            </a:r>
            <a:r>
              <a:rPr dirty="0" baseline="4629" sz="2700" spc="-772">
                <a:latin typeface="Arial"/>
                <a:cs typeface="Arial"/>
              </a:rPr>
              <a:t>َ</a:t>
            </a:r>
            <a:r>
              <a:rPr dirty="0" baseline="4629" sz="2700" spc="772">
                <a:latin typeface="Arial"/>
                <a:cs typeface="Arial"/>
              </a:rPr>
              <a:t> </a:t>
            </a:r>
            <a:r>
              <a:rPr dirty="0" baseline="3086" sz="2700" spc="-292">
                <a:latin typeface="Arial"/>
                <a:cs typeface="Arial"/>
              </a:rPr>
              <a:t>ن</a:t>
            </a:r>
            <a:r>
              <a:rPr dirty="0" baseline="16975" sz="2700" spc="-292">
                <a:latin typeface="Arial"/>
                <a:cs typeface="Arial"/>
              </a:rPr>
              <a:t>َ</a:t>
            </a:r>
            <a:r>
              <a:rPr dirty="0" baseline="3086" sz="2700" spc="-292">
                <a:latin typeface="Arial"/>
                <a:cs typeface="Arial"/>
              </a:rPr>
              <a:t>أو</a:t>
            </a:r>
            <a:r>
              <a:rPr dirty="0" sz="1800" spc="-195">
                <a:latin typeface="Arial"/>
                <a:cs typeface="Arial"/>
              </a:rPr>
              <a:t>َ  </a:t>
            </a:r>
            <a:r>
              <a:rPr dirty="0" baseline="3086" sz="2700" spc="-217">
                <a:latin typeface="Arial"/>
                <a:cs typeface="Arial"/>
              </a:rPr>
              <a:t>اد</a:t>
            </a:r>
            <a:r>
              <a:rPr dirty="0" baseline="6172" sz="2700" spc="-217">
                <a:latin typeface="Arial"/>
                <a:cs typeface="Arial"/>
              </a:rPr>
              <a:t>ً </a:t>
            </a:r>
            <a:r>
              <a:rPr dirty="0" baseline="3086" sz="2700" spc="-457">
                <a:latin typeface="Arial"/>
                <a:cs typeface="Arial"/>
              </a:rPr>
              <a:t>رْ </a:t>
            </a:r>
            <a:r>
              <a:rPr dirty="0" baseline="3086" sz="2700" spc="-1035">
                <a:latin typeface="Arial"/>
                <a:cs typeface="Arial"/>
              </a:rPr>
              <a:t>ف</a:t>
            </a:r>
            <a:r>
              <a:rPr dirty="0" baseline="7716" sz="2700" spc="-1035">
                <a:latin typeface="Arial"/>
                <a:cs typeface="Arial"/>
              </a:rPr>
              <a:t>َ</a:t>
            </a:r>
            <a:r>
              <a:rPr dirty="0" baseline="7716" sz="2700" spc="660">
                <a:latin typeface="Arial"/>
                <a:cs typeface="Arial"/>
              </a:rPr>
              <a:t> </a:t>
            </a:r>
            <a:r>
              <a:rPr dirty="0" baseline="3086" sz="2700" spc="-472">
                <a:latin typeface="Arial"/>
                <a:cs typeface="Arial"/>
              </a:rPr>
              <a:t>ًن</a:t>
            </a:r>
            <a:r>
              <a:rPr dirty="0" baseline="1543" sz="2700" spc="-472">
                <a:latin typeface="Arial"/>
                <a:cs typeface="Arial"/>
              </a:rPr>
              <a:t>ِ </a:t>
            </a:r>
            <a:r>
              <a:rPr dirty="0" baseline="3086" sz="2700" spc="-457">
                <a:latin typeface="Arial"/>
                <a:cs typeface="Arial"/>
              </a:rPr>
              <a:t>رْ </a:t>
            </a:r>
            <a:r>
              <a:rPr dirty="0" baseline="3086" sz="2700" spc="-322">
                <a:latin typeface="Arial"/>
                <a:cs typeface="Arial"/>
              </a:rPr>
              <a:t>ذ</a:t>
            </a:r>
            <a:r>
              <a:rPr dirty="0" baseline="13888" sz="2700" spc="-322">
                <a:latin typeface="Arial"/>
                <a:cs typeface="Arial"/>
              </a:rPr>
              <a:t>َ </a:t>
            </a:r>
            <a:r>
              <a:rPr dirty="0" baseline="3086" sz="2700" spc="-907">
                <a:latin typeface="Arial"/>
                <a:cs typeface="Arial"/>
              </a:rPr>
              <a:t>ت</a:t>
            </a:r>
            <a:r>
              <a:rPr dirty="0" baseline="7716" sz="2700" spc="-907">
                <a:latin typeface="Arial"/>
                <a:cs typeface="Arial"/>
              </a:rPr>
              <a:t>َ</a:t>
            </a:r>
            <a:r>
              <a:rPr dirty="0" baseline="7716" sz="2700" spc="532">
                <a:latin typeface="Arial"/>
                <a:cs typeface="Arial"/>
              </a:rPr>
              <a:t> </a:t>
            </a:r>
            <a:r>
              <a:rPr dirty="0" baseline="3086" sz="2700" spc="-502">
                <a:latin typeface="Arial"/>
                <a:cs typeface="Arial"/>
              </a:rPr>
              <a:t>لا</a:t>
            </a:r>
            <a:r>
              <a:rPr dirty="0" baseline="10802" sz="2700" spc="-502">
                <a:latin typeface="Arial"/>
                <a:cs typeface="Arial"/>
              </a:rPr>
              <a:t>َ  </a:t>
            </a:r>
            <a:r>
              <a:rPr dirty="0" baseline="3086" sz="2700" spc="-525">
                <a:latin typeface="Arial"/>
                <a:cs typeface="Arial"/>
              </a:rPr>
              <a:t>بِّ </a:t>
            </a:r>
            <a:r>
              <a:rPr dirty="0" baseline="3086" sz="2700" spc="-494">
                <a:latin typeface="Arial"/>
                <a:cs typeface="Arial"/>
              </a:rPr>
              <a:t>ر</a:t>
            </a:r>
            <a:r>
              <a:rPr dirty="0" sz="1800" spc="-330">
                <a:latin typeface="Arial"/>
                <a:cs typeface="Arial"/>
              </a:rPr>
              <a:t>َ </a:t>
            </a:r>
            <a:r>
              <a:rPr dirty="0" baseline="3086" sz="2700" spc="-322">
                <a:latin typeface="Arial"/>
                <a:cs typeface="Arial"/>
              </a:rPr>
              <a:t>هُ </a:t>
            </a:r>
            <a:r>
              <a:rPr dirty="0" baseline="3086" sz="2700" spc="-607">
                <a:latin typeface="Arial"/>
                <a:cs typeface="Arial"/>
              </a:rPr>
              <a:t>بَّ </a:t>
            </a:r>
            <a:r>
              <a:rPr dirty="0" baseline="3086" sz="2700" spc="-494">
                <a:latin typeface="Arial"/>
                <a:cs typeface="Arial"/>
              </a:rPr>
              <a:t>ر</a:t>
            </a:r>
            <a:r>
              <a:rPr dirty="0" sz="1800" spc="-330">
                <a:latin typeface="Arial"/>
                <a:cs typeface="Arial"/>
              </a:rPr>
              <a:t>َ </a:t>
            </a:r>
            <a:r>
              <a:rPr dirty="0" baseline="3086" sz="2700" spc="-225">
                <a:latin typeface="Arial"/>
                <a:cs typeface="Arial"/>
              </a:rPr>
              <a:t>ىدَ </a:t>
            </a:r>
            <a:r>
              <a:rPr dirty="0" baseline="3086" sz="2700" spc="-412">
                <a:latin typeface="Arial"/>
                <a:cs typeface="Arial"/>
              </a:rPr>
              <a:t>ان</a:t>
            </a:r>
            <a:r>
              <a:rPr dirty="0" baseline="7716" sz="2700" spc="-412">
                <a:latin typeface="Arial"/>
                <a:cs typeface="Arial"/>
              </a:rPr>
              <a:t>َ </a:t>
            </a:r>
            <a:r>
              <a:rPr dirty="0" baseline="3086" sz="2700" spc="-284">
                <a:latin typeface="Arial"/>
                <a:cs typeface="Arial"/>
              </a:rPr>
              <a:t>ذ</a:t>
            </a:r>
            <a:r>
              <a:rPr dirty="0" baseline="16975" sz="2700" spc="-284">
                <a:latin typeface="Arial"/>
                <a:cs typeface="Arial"/>
              </a:rPr>
              <a:t>ْ </a:t>
            </a:r>
            <a:r>
              <a:rPr dirty="0" baseline="-10802" sz="2700">
                <a:latin typeface="Arial"/>
                <a:cs typeface="Arial"/>
              </a:rPr>
              <a:t>ِ</a:t>
            </a:r>
            <a:r>
              <a:rPr dirty="0" baseline="3086" sz="2700">
                <a:latin typeface="Arial"/>
                <a:cs typeface="Arial"/>
              </a:rPr>
              <a:t>إ </a:t>
            </a:r>
            <a:r>
              <a:rPr dirty="0" baseline="3086" sz="2700" spc="7">
                <a:latin typeface="Arial"/>
                <a:cs typeface="Arial"/>
              </a:rPr>
              <a:t>اٌَّ </a:t>
            </a:r>
            <a:r>
              <a:rPr dirty="0" baseline="3086" sz="2700" spc="-457">
                <a:latin typeface="Arial"/>
                <a:cs typeface="Arial"/>
              </a:rPr>
              <a:t>ر</a:t>
            </a:r>
            <a:r>
              <a:rPr dirty="0" baseline="-10802" sz="2700" spc="-457">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494">
                <a:latin typeface="Arial"/>
                <a:cs typeface="Arial"/>
              </a:rPr>
              <a:t>ز</a:t>
            </a:r>
            <a:r>
              <a:rPr dirty="0" baseline="7716" sz="2700" spc="-494">
                <a:latin typeface="Arial"/>
                <a:cs typeface="Arial"/>
              </a:rPr>
              <a:t>َ</a:t>
            </a:r>
            <a:r>
              <a:rPr dirty="0" baseline="7716" sz="2700" spc="-457">
                <a:latin typeface="Arial"/>
                <a:cs typeface="Arial"/>
              </a:rPr>
              <a:t> </a:t>
            </a:r>
            <a:r>
              <a:rPr dirty="0" baseline="3086" sz="2700" spc="-615">
                <a:latin typeface="Arial"/>
                <a:cs typeface="Arial"/>
              </a:rPr>
              <a:t>و</a:t>
            </a:r>
            <a:endParaRPr baseline="3086" sz="27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67</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369315" y="975105"/>
            <a:ext cx="6665595" cy="8620760"/>
          </a:xfrm>
          <a:prstGeom prst="rect">
            <a:avLst/>
          </a:prstGeom>
        </p:spPr>
        <p:txBody>
          <a:bodyPr wrap="square" lIns="0" tIns="24765" rIns="0" bIns="0" rtlCol="0" vert="horz">
            <a:spAutoFit/>
          </a:bodyPr>
          <a:lstStyle/>
          <a:p>
            <a:pPr algn="just" marL="177800" marR="205104">
              <a:lnSpc>
                <a:spcPts val="1380"/>
              </a:lnSpc>
              <a:spcBef>
                <a:spcPts val="195"/>
              </a:spcBef>
              <a:buAutoNum type="arabicPeriod" startAt="89"/>
              <a:tabLst>
                <a:tab pos="450215" algn="l"/>
              </a:tabLst>
            </a:pPr>
            <a:r>
              <a:rPr dirty="0" sz="1200" spc="-5">
                <a:latin typeface="Arial"/>
                <a:cs typeface="Arial"/>
              </a:rPr>
              <a:t>And Zachariah, when </a:t>
            </a:r>
            <a:r>
              <a:rPr dirty="0" sz="1200" spc="-10">
                <a:latin typeface="Arial"/>
                <a:cs typeface="Arial"/>
              </a:rPr>
              <a:t>he </a:t>
            </a:r>
            <a:r>
              <a:rPr dirty="0" sz="1200" spc="-5">
                <a:latin typeface="Arial"/>
                <a:cs typeface="Arial"/>
              </a:rPr>
              <a:t>cried unto his Lord: My Lord! Leave </a:t>
            </a:r>
            <a:r>
              <a:rPr dirty="0" sz="1200">
                <a:latin typeface="Arial"/>
                <a:cs typeface="Arial"/>
              </a:rPr>
              <a:t>me </a:t>
            </a:r>
            <a:r>
              <a:rPr dirty="0" sz="1200" spc="-5">
                <a:latin typeface="Arial"/>
                <a:cs typeface="Arial"/>
              </a:rPr>
              <a:t>not childless, </a:t>
            </a:r>
            <a:r>
              <a:rPr dirty="0" sz="1200" spc="-10">
                <a:latin typeface="Arial"/>
                <a:cs typeface="Arial"/>
              </a:rPr>
              <a:t>though  </a:t>
            </a:r>
            <a:r>
              <a:rPr dirty="0" sz="1200" spc="-5">
                <a:latin typeface="Arial"/>
                <a:cs typeface="Arial"/>
              </a:rPr>
              <a:t>Thou </a:t>
            </a:r>
            <a:r>
              <a:rPr dirty="0" sz="1200">
                <a:latin typeface="Arial"/>
                <a:cs typeface="Arial"/>
              </a:rPr>
              <a:t>art </a:t>
            </a:r>
            <a:r>
              <a:rPr dirty="0" sz="1200" spc="-5">
                <a:latin typeface="Arial"/>
                <a:cs typeface="Arial"/>
              </a:rPr>
              <a:t>the best of</a:t>
            </a:r>
            <a:r>
              <a:rPr dirty="0" sz="1200" spc="15">
                <a:latin typeface="Arial"/>
                <a:cs typeface="Arial"/>
              </a:rPr>
              <a:t> </a:t>
            </a:r>
            <a:r>
              <a:rPr dirty="0" sz="1200" spc="-5">
                <a:latin typeface="Arial"/>
                <a:cs typeface="Arial"/>
              </a:rPr>
              <a:t>inheritors.</a:t>
            </a:r>
            <a:endParaRPr sz="1200">
              <a:latin typeface="Arial"/>
              <a:cs typeface="Arial"/>
            </a:endParaRPr>
          </a:p>
          <a:p>
            <a:pPr>
              <a:lnSpc>
                <a:spcPct val="100000"/>
              </a:lnSpc>
              <a:spcBef>
                <a:spcPts val="20"/>
              </a:spcBef>
              <a:buFont typeface="Arial"/>
              <a:buAutoNum type="arabicPeriod" startAt="89"/>
            </a:pPr>
            <a:endParaRPr sz="1100">
              <a:latin typeface="Arial"/>
              <a:cs typeface="Arial"/>
            </a:endParaRPr>
          </a:p>
          <a:p>
            <a:pPr algn="r" marR="250190">
              <a:lnSpc>
                <a:spcPts val="2140"/>
              </a:lnSpc>
            </a:pPr>
            <a:r>
              <a:rPr dirty="0" baseline="1543" sz="2700" spc="-862">
                <a:latin typeface="Arial"/>
                <a:cs typeface="Arial"/>
              </a:rPr>
              <a:t>ت</a:t>
            </a:r>
            <a:r>
              <a:rPr dirty="0" sz="1800" spc="-575">
                <a:latin typeface="Arial"/>
                <a:cs typeface="Arial"/>
              </a:rPr>
              <a:t>ِ</a:t>
            </a:r>
            <a:r>
              <a:rPr dirty="0" sz="1800" spc="635">
                <a:latin typeface="Arial"/>
                <a:cs typeface="Arial"/>
              </a:rPr>
              <a:t> </a:t>
            </a:r>
            <a:r>
              <a:rPr dirty="0" baseline="1543" sz="2700" spc="-330">
                <a:latin typeface="Arial"/>
                <a:cs typeface="Arial"/>
              </a:rPr>
              <a:t>ار</a:t>
            </a:r>
            <a:r>
              <a:rPr dirty="0" baseline="-1543" sz="2700" spc="-330">
                <a:latin typeface="Arial"/>
                <a:cs typeface="Arial"/>
              </a:rPr>
              <a:t>َ  </a:t>
            </a:r>
            <a:r>
              <a:rPr dirty="0" baseline="1543" sz="2700">
                <a:latin typeface="Arial"/>
                <a:cs typeface="Arial"/>
              </a:rPr>
              <a:t>ٌْ </a:t>
            </a:r>
            <a:r>
              <a:rPr dirty="0" baseline="1543" sz="2700" spc="-592">
                <a:latin typeface="Arial"/>
                <a:cs typeface="Arial"/>
              </a:rPr>
              <a:t>خ</a:t>
            </a:r>
            <a:r>
              <a:rPr dirty="0" baseline="6172" sz="2700" spc="-592">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ا </a:t>
            </a:r>
            <a:r>
              <a:rPr dirty="0" baseline="1543" sz="2700" spc="-705">
                <a:latin typeface="Arial"/>
                <a:cs typeface="Arial"/>
              </a:rPr>
              <a:t>ًف</a:t>
            </a:r>
            <a:r>
              <a:rPr dirty="0" sz="1800" spc="-470">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427">
                <a:latin typeface="Arial"/>
                <a:cs typeface="Arial"/>
              </a:rPr>
              <a:t>وعُ    </a:t>
            </a:r>
            <a:r>
              <a:rPr dirty="0" baseline="1543" sz="2700" spc="-457">
                <a:latin typeface="Arial"/>
                <a:cs typeface="Arial"/>
              </a:rPr>
              <a:t>ر</a:t>
            </a:r>
            <a:r>
              <a:rPr dirty="0" baseline="-13888" sz="2700" spc="-457">
                <a:latin typeface="Arial"/>
                <a:cs typeface="Arial"/>
              </a:rPr>
              <a:t>ِ   </a:t>
            </a:r>
            <a:r>
              <a:rPr dirty="0" baseline="1543" sz="2700" spc="-637">
                <a:latin typeface="Arial"/>
                <a:cs typeface="Arial"/>
              </a:rPr>
              <a:t>اس</a:t>
            </a:r>
            <a:r>
              <a:rPr dirty="0" baseline="-1543" sz="2700" spc="-637">
                <a:latin typeface="Arial"/>
                <a:cs typeface="Arial"/>
              </a:rPr>
              <a:t>َ          </a:t>
            </a:r>
            <a:r>
              <a:rPr dirty="0" baseline="1543" sz="2700">
                <a:latin typeface="Arial"/>
                <a:cs typeface="Arial"/>
              </a:rPr>
              <a:t>ٌُ  </a:t>
            </a:r>
            <a:r>
              <a:rPr dirty="0" baseline="1543" sz="2700" spc="-345">
                <a:latin typeface="Arial"/>
                <a:cs typeface="Arial"/>
              </a:rPr>
              <a:t>اون</a:t>
            </a:r>
            <a:r>
              <a:rPr dirty="0" baseline="9259" sz="2700" spc="-345">
                <a:latin typeface="Arial"/>
                <a:cs typeface="Arial"/>
              </a:rPr>
              <a:t>ُ </a:t>
            </a:r>
            <a:r>
              <a:rPr dirty="0" baseline="1543" sz="2700" spc="-465">
                <a:latin typeface="Arial"/>
                <a:cs typeface="Arial"/>
              </a:rPr>
              <a:t>اك</a:t>
            </a:r>
            <a:r>
              <a:rPr dirty="0" baseline="6172" sz="2700" spc="-46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1543" sz="2700" spc="-442">
                <a:latin typeface="Arial"/>
                <a:cs typeface="Arial"/>
              </a:rPr>
              <a:t>ن</a:t>
            </a:r>
            <a:r>
              <a:rPr dirty="0" baseline="9259" sz="2700" spc="-442">
                <a:latin typeface="Arial"/>
                <a:cs typeface="Arial"/>
              </a:rPr>
              <a:t>َّ  </a:t>
            </a:r>
            <a:r>
              <a:rPr dirty="0" baseline="-12345" sz="2700">
                <a:latin typeface="Arial"/>
                <a:cs typeface="Arial"/>
              </a:rPr>
              <a:t>ِ</a:t>
            </a:r>
            <a:r>
              <a:rPr dirty="0" baseline="1543" sz="2700">
                <a:latin typeface="Arial"/>
                <a:cs typeface="Arial"/>
              </a:rPr>
              <a:t>إ </a:t>
            </a:r>
            <a:r>
              <a:rPr dirty="0" baseline="1543" sz="2700" spc="-322">
                <a:latin typeface="Arial"/>
                <a:cs typeface="Arial"/>
              </a:rPr>
              <a:t>هُ  </a:t>
            </a:r>
            <a:r>
              <a:rPr dirty="0" baseline="1543" sz="2700" spc="-592">
                <a:latin typeface="Arial"/>
                <a:cs typeface="Arial"/>
              </a:rPr>
              <a:t>ج</a:t>
            </a:r>
            <a:r>
              <a:rPr dirty="0" baseline="-1543" sz="2700" spc="-592">
                <a:latin typeface="Arial"/>
                <a:cs typeface="Arial"/>
              </a:rPr>
              <a:t>َ       </a:t>
            </a:r>
            <a:r>
              <a:rPr dirty="0" baseline="1543" sz="2700" spc="-270">
                <a:latin typeface="Arial"/>
                <a:cs typeface="Arial"/>
              </a:rPr>
              <a:t>وْ </a:t>
            </a:r>
            <a:r>
              <a:rPr dirty="0" baseline="1543" sz="2700" spc="-494">
                <a:latin typeface="Arial"/>
                <a:cs typeface="Arial"/>
              </a:rPr>
              <a:t>ز</a:t>
            </a:r>
            <a:r>
              <a:rPr dirty="0" baseline="6172" sz="2700" spc="-494">
                <a:latin typeface="Arial"/>
                <a:cs typeface="Arial"/>
              </a:rPr>
              <a:t>َ       </a:t>
            </a:r>
            <a:r>
              <a:rPr dirty="0" baseline="1543" sz="2700" spc="-322">
                <a:latin typeface="Arial"/>
                <a:cs typeface="Arial"/>
              </a:rPr>
              <a:t>هُ  </a:t>
            </a:r>
            <a:r>
              <a:rPr dirty="0" baseline="9259" sz="2700" spc="-405">
                <a:latin typeface="Arial"/>
                <a:cs typeface="Arial"/>
              </a:rPr>
              <a:t>َ</a:t>
            </a:r>
            <a:r>
              <a:rPr dirty="0" baseline="1543" sz="2700" spc="-405">
                <a:latin typeface="Arial"/>
                <a:cs typeface="Arial"/>
              </a:rPr>
              <a:t>ل  </a:t>
            </a:r>
            <a:r>
              <a:rPr dirty="0" baseline="1543" sz="2700" spc="-412">
                <a:latin typeface="Arial"/>
                <a:cs typeface="Arial"/>
              </a:rPr>
              <a:t>ان</a:t>
            </a:r>
            <a:r>
              <a:rPr dirty="0" baseline="6172" sz="2700" spc="-412">
                <a:latin typeface="Arial"/>
                <a:cs typeface="Arial"/>
              </a:rPr>
              <a:t>َ  </a:t>
            </a:r>
            <a:r>
              <a:rPr dirty="0" baseline="1543" sz="2700" spc="-555">
                <a:latin typeface="Arial"/>
                <a:cs typeface="Arial"/>
              </a:rPr>
              <a:t>حْ     </a:t>
            </a:r>
            <a:r>
              <a:rPr dirty="0" baseline="9259" sz="2700" spc="-862">
                <a:latin typeface="Arial"/>
                <a:cs typeface="Arial"/>
              </a:rPr>
              <a:t>َ</a:t>
            </a:r>
            <a:r>
              <a:rPr dirty="0" baseline="1543" sz="2700" spc="-862">
                <a:latin typeface="Arial"/>
                <a:cs typeface="Arial"/>
              </a:rPr>
              <a:t>لصْ</a:t>
            </a:r>
            <a:r>
              <a:rPr dirty="0" baseline="1543" sz="2700" spc="1162">
                <a:latin typeface="Arial"/>
                <a:cs typeface="Arial"/>
              </a:rPr>
              <a:t> </a:t>
            </a:r>
            <a:r>
              <a:rPr dirty="0" baseline="15432" sz="2700" spc="-157">
                <a:latin typeface="Arial"/>
                <a:cs typeface="Arial"/>
              </a:rPr>
              <a:t>َ</a:t>
            </a:r>
            <a:r>
              <a:rPr dirty="0" baseline="1543" sz="2700" spc="-157">
                <a:latin typeface="Arial"/>
                <a:cs typeface="Arial"/>
              </a:rPr>
              <a:t>أو</a:t>
            </a:r>
            <a:r>
              <a:rPr dirty="0" baseline="-1543" sz="2700" spc="-157">
                <a:latin typeface="Arial"/>
                <a:cs typeface="Arial"/>
              </a:rPr>
              <a:t>َ  </a:t>
            </a:r>
            <a:r>
              <a:rPr dirty="0" baseline="1543" sz="2700" spc="-52">
                <a:latin typeface="Arial"/>
                <a:cs typeface="Arial"/>
              </a:rPr>
              <a:t>ىٌ</a:t>
            </a:r>
            <a:r>
              <a:rPr dirty="0" baseline="-1543" sz="2700" spc="-52">
                <a:latin typeface="Arial"/>
                <a:cs typeface="Arial"/>
              </a:rPr>
              <a:t>َ </a:t>
            </a:r>
            <a:r>
              <a:rPr dirty="0" baseline="1543" sz="2700" spc="-555">
                <a:latin typeface="Arial"/>
                <a:cs typeface="Arial"/>
              </a:rPr>
              <a:t>حْ     </a:t>
            </a:r>
            <a:r>
              <a:rPr dirty="0" baseline="1543" sz="2700">
                <a:latin typeface="Arial"/>
                <a:cs typeface="Arial"/>
              </a:rPr>
              <a:t>ٌ</a:t>
            </a:r>
            <a:r>
              <a:rPr dirty="0" baseline="-1543" sz="2700">
                <a:latin typeface="Arial"/>
                <a:cs typeface="Arial"/>
              </a:rPr>
              <a:t>َ  </a:t>
            </a:r>
            <a:r>
              <a:rPr dirty="0" baseline="1543" sz="2700" spc="-330">
                <a:latin typeface="Arial"/>
                <a:cs typeface="Arial"/>
              </a:rPr>
              <a:t>هُ  </a:t>
            </a:r>
            <a:r>
              <a:rPr dirty="0" baseline="9259" sz="2700" spc="-405">
                <a:latin typeface="Arial"/>
                <a:cs typeface="Arial"/>
              </a:rPr>
              <a:t>َ</a:t>
            </a:r>
            <a:r>
              <a:rPr dirty="0" baseline="1543" sz="2700" spc="-405">
                <a:latin typeface="Arial"/>
                <a:cs typeface="Arial"/>
              </a:rPr>
              <a:t>ل  </a:t>
            </a:r>
            <a:r>
              <a:rPr dirty="0" baseline="1543" sz="2700" spc="-412">
                <a:latin typeface="Arial"/>
                <a:cs typeface="Arial"/>
              </a:rPr>
              <a:t>ان</a:t>
            </a:r>
            <a:r>
              <a:rPr dirty="0" baseline="6172" sz="2700" spc="-412">
                <a:latin typeface="Arial"/>
                <a:cs typeface="Arial"/>
              </a:rPr>
              <a:t>َ  </a:t>
            </a:r>
            <a:r>
              <a:rPr dirty="0" baseline="1543" sz="2700" spc="-862">
                <a:latin typeface="Arial"/>
                <a:cs typeface="Arial"/>
              </a:rPr>
              <a:t>بْ</a:t>
            </a:r>
            <a:r>
              <a:rPr dirty="0" baseline="1543" sz="2700" spc="-307">
                <a:latin typeface="Arial"/>
                <a:cs typeface="Arial"/>
              </a:rPr>
              <a:t> </a:t>
            </a:r>
            <a:r>
              <a:rPr dirty="0" baseline="1543" sz="2700" spc="-277">
                <a:latin typeface="Arial"/>
                <a:cs typeface="Arial"/>
              </a:rPr>
              <a:t>ه</a:t>
            </a:r>
            <a:r>
              <a:rPr dirty="0" baseline="-1543" sz="2700" spc="-277">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22">
                <a:latin typeface="Arial"/>
                <a:cs typeface="Arial"/>
              </a:rPr>
              <a:t>هُ  </a:t>
            </a:r>
            <a:r>
              <a:rPr dirty="0" baseline="9259" sz="2700" spc="-405">
                <a:latin typeface="Arial"/>
                <a:cs typeface="Arial"/>
              </a:rPr>
              <a:t>َ</a:t>
            </a:r>
            <a:r>
              <a:rPr dirty="0" baseline="1543" sz="2700" spc="-405">
                <a:latin typeface="Arial"/>
                <a:cs typeface="Arial"/>
              </a:rPr>
              <a:t>ل  </a:t>
            </a:r>
            <a:r>
              <a:rPr dirty="0" baseline="1543" sz="2700" spc="-412">
                <a:latin typeface="Arial"/>
                <a:cs typeface="Arial"/>
              </a:rPr>
              <a:t>ان</a:t>
            </a:r>
            <a:r>
              <a:rPr dirty="0" baseline="6172" sz="2700" spc="-412">
                <a:latin typeface="Arial"/>
                <a:cs typeface="Arial"/>
              </a:rPr>
              <a:t>َ  </a:t>
            </a:r>
            <a:r>
              <a:rPr dirty="0" baseline="1543" sz="2700" spc="-862">
                <a:latin typeface="Arial"/>
                <a:cs typeface="Arial"/>
              </a:rPr>
              <a:t>بْ</a:t>
            </a:r>
            <a:r>
              <a:rPr dirty="0" baseline="1543" sz="2700" spc="-307">
                <a:latin typeface="Arial"/>
                <a:cs typeface="Arial"/>
              </a:rPr>
              <a:t> </a:t>
            </a:r>
            <a:r>
              <a:rPr dirty="0" baseline="1543" sz="2700" spc="-592">
                <a:latin typeface="Arial"/>
                <a:cs typeface="Arial"/>
              </a:rPr>
              <a:t>ج</a:t>
            </a:r>
            <a:r>
              <a:rPr dirty="0" baseline="-1543" sz="2700" spc="-592">
                <a:latin typeface="Arial"/>
                <a:cs typeface="Arial"/>
              </a:rPr>
              <a:t>َ </a:t>
            </a:r>
            <a:r>
              <a:rPr dirty="0" baseline="-1543" sz="2700" spc="-569">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25">
                <a:latin typeface="Arial"/>
                <a:cs typeface="Arial"/>
              </a:rPr>
              <a:t> </a:t>
            </a:r>
            <a:r>
              <a:rPr dirty="0" baseline="1543" sz="2700" spc="-944">
                <a:latin typeface="Arial"/>
                <a:cs typeface="Arial"/>
              </a:rPr>
              <a:t>سْ</a:t>
            </a:r>
            <a:r>
              <a:rPr dirty="0" baseline="1543" sz="2700" spc="345">
                <a:latin typeface="Arial"/>
                <a:cs typeface="Arial"/>
              </a:rPr>
              <a:t> </a:t>
            </a:r>
            <a:r>
              <a:rPr dirty="0" baseline="1543" sz="2700" spc="-1012">
                <a:latin typeface="Arial"/>
                <a:cs typeface="Arial"/>
              </a:rPr>
              <a:t>اف</a:t>
            </a:r>
            <a:endParaRPr baseline="1543" sz="2700">
              <a:latin typeface="Arial"/>
              <a:cs typeface="Arial"/>
            </a:endParaRPr>
          </a:p>
          <a:p>
            <a:pPr algn="r" marR="247015">
              <a:lnSpc>
                <a:spcPts val="2140"/>
              </a:lnSpc>
            </a:pPr>
            <a:r>
              <a:rPr dirty="0" baseline="3086" sz="2700" spc="-494">
                <a:latin typeface="Arial"/>
                <a:cs typeface="Arial"/>
              </a:rPr>
              <a:t>ن</a:t>
            </a:r>
            <a:r>
              <a:rPr dirty="0" sz="1800" spc="-330">
                <a:latin typeface="Arial"/>
                <a:cs typeface="Arial"/>
              </a:rPr>
              <a:t>َ    </a:t>
            </a:r>
            <a:r>
              <a:rPr dirty="0" baseline="3086" sz="2700" spc="-412">
                <a:latin typeface="Arial"/>
                <a:cs typeface="Arial"/>
              </a:rPr>
              <a:t>ٌع</a:t>
            </a:r>
            <a:r>
              <a:rPr dirty="0" baseline="1543" sz="2700" spc="-412">
                <a:latin typeface="Arial"/>
                <a:cs typeface="Arial"/>
              </a:rPr>
              <a:t>ِ  </a:t>
            </a:r>
            <a:r>
              <a:rPr dirty="0" baseline="3086" sz="2700" spc="-937">
                <a:latin typeface="Arial"/>
                <a:cs typeface="Arial"/>
              </a:rPr>
              <a:t>ش</a:t>
            </a:r>
            <a:r>
              <a:rPr dirty="0" baseline="1543" sz="2700" spc="-937">
                <a:latin typeface="Arial"/>
                <a:cs typeface="Arial"/>
              </a:rPr>
              <a:t>ِ</a:t>
            </a:r>
            <a:r>
              <a:rPr dirty="0" baseline="1543" sz="2700" spc="315">
                <a:latin typeface="Arial"/>
                <a:cs typeface="Arial"/>
              </a:rPr>
              <a:t> </a:t>
            </a:r>
            <a:r>
              <a:rPr dirty="0" baseline="3086" sz="2700" spc="-382">
                <a:latin typeface="Arial"/>
                <a:cs typeface="Arial"/>
              </a:rPr>
              <a:t>اخ</a:t>
            </a:r>
            <a:r>
              <a:rPr dirty="0" baseline="7716" sz="2700" spc="-382">
                <a:latin typeface="Arial"/>
                <a:cs typeface="Arial"/>
              </a:rPr>
              <a:t>َ     </a:t>
            </a:r>
            <a:r>
              <a:rPr dirty="0" baseline="3086" sz="2700" spc="-412">
                <a:latin typeface="Arial"/>
                <a:cs typeface="Arial"/>
              </a:rPr>
              <a:t>ان</a:t>
            </a:r>
            <a:r>
              <a:rPr dirty="0" baseline="7716" sz="2700" spc="-412">
                <a:latin typeface="Arial"/>
                <a:cs typeface="Arial"/>
              </a:rPr>
              <a:t>َ  </a:t>
            </a:r>
            <a:r>
              <a:rPr dirty="0" baseline="10802" sz="2700" spc="-405">
                <a:latin typeface="Arial"/>
                <a:cs typeface="Arial"/>
              </a:rPr>
              <a:t>َ</a:t>
            </a:r>
            <a:r>
              <a:rPr dirty="0" baseline="3086" sz="2700" spc="-405">
                <a:latin typeface="Arial"/>
                <a:cs typeface="Arial"/>
              </a:rPr>
              <a:t>ل  </a:t>
            </a:r>
            <a:r>
              <a:rPr dirty="0" baseline="3086" sz="2700" spc="-345">
                <a:latin typeface="Arial"/>
                <a:cs typeface="Arial"/>
              </a:rPr>
              <a:t>اون</a:t>
            </a:r>
            <a:r>
              <a:rPr dirty="0" baseline="10802" sz="2700" spc="-345">
                <a:latin typeface="Arial"/>
                <a:cs typeface="Arial"/>
              </a:rPr>
              <a:t>ُ </a:t>
            </a:r>
            <a:r>
              <a:rPr dirty="0" baseline="3086" sz="2700" spc="-465">
                <a:latin typeface="Arial"/>
                <a:cs typeface="Arial"/>
              </a:rPr>
              <a:t>اك</a:t>
            </a:r>
            <a:r>
              <a:rPr dirty="0" baseline="7716" sz="2700" spc="-465">
                <a:latin typeface="Arial"/>
                <a:cs typeface="Arial"/>
              </a:rPr>
              <a:t>َ   </a:t>
            </a:r>
            <a:r>
              <a:rPr dirty="0" baseline="3086" sz="2700" spc="-307">
                <a:latin typeface="Arial"/>
                <a:cs typeface="Arial"/>
              </a:rPr>
              <a:t>و</a:t>
            </a:r>
            <a:r>
              <a:rPr dirty="0" sz="1800" spc="-204">
                <a:latin typeface="Arial"/>
                <a:cs typeface="Arial"/>
              </a:rPr>
              <a:t>َ   </a:t>
            </a:r>
            <a:r>
              <a:rPr dirty="0" baseline="3086" sz="2700" spc="-585">
                <a:latin typeface="Arial"/>
                <a:cs typeface="Arial"/>
              </a:rPr>
              <a:t>اب</a:t>
            </a:r>
            <a:r>
              <a:rPr dirty="0" baseline="4629" sz="2700" spc="-585">
                <a:latin typeface="Arial"/>
                <a:cs typeface="Arial"/>
              </a:rPr>
              <a:t>ً   </a:t>
            </a:r>
            <a:r>
              <a:rPr dirty="0" baseline="3086" sz="2700" spc="-270">
                <a:latin typeface="Arial"/>
                <a:cs typeface="Arial"/>
              </a:rPr>
              <a:t>ه</a:t>
            </a:r>
            <a:r>
              <a:rPr dirty="0" sz="1800" spc="-180">
                <a:latin typeface="Arial"/>
                <a:cs typeface="Arial"/>
              </a:rPr>
              <a:t>َ  </a:t>
            </a:r>
            <a:r>
              <a:rPr dirty="0" baseline="3086" sz="2700" spc="-502">
                <a:latin typeface="Arial"/>
                <a:cs typeface="Arial"/>
              </a:rPr>
              <a:t>ر</a:t>
            </a:r>
            <a:r>
              <a:rPr dirty="0" sz="1800" spc="-335">
                <a:latin typeface="Arial"/>
                <a:cs typeface="Arial"/>
              </a:rPr>
              <a:t>َ    </a:t>
            </a:r>
            <a:r>
              <a:rPr dirty="0" baseline="3086" sz="2700" spc="-307">
                <a:latin typeface="Arial"/>
                <a:cs typeface="Arial"/>
              </a:rPr>
              <a:t>و</a:t>
            </a:r>
            <a:r>
              <a:rPr dirty="0" sz="1800" spc="-204">
                <a:latin typeface="Arial"/>
                <a:cs typeface="Arial"/>
              </a:rPr>
              <a:t>َ   </a:t>
            </a:r>
            <a:r>
              <a:rPr dirty="0" baseline="3086" sz="2700" spc="-585">
                <a:latin typeface="Arial"/>
                <a:cs typeface="Arial"/>
              </a:rPr>
              <a:t>اب</a:t>
            </a:r>
            <a:r>
              <a:rPr dirty="0" baseline="4629" sz="2700" spc="-585">
                <a:latin typeface="Arial"/>
                <a:cs typeface="Arial"/>
              </a:rPr>
              <a:t>ً   </a:t>
            </a:r>
            <a:r>
              <a:rPr dirty="0" baseline="3086" sz="2700" spc="-967">
                <a:latin typeface="Arial"/>
                <a:cs typeface="Arial"/>
              </a:rPr>
              <a:t>ؼ</a:t>
            </a:r>
            <a:r>
              <a:rPr dirty="0" baseline="4629" sz="2700" spc="-967">
                <a:latin typeface="Arial"/>
                <a:cs typeface="Arial"/>
              </a:rPr>
              <a:t>َ</a:t>
            </a:r>
            <a:r>
              <a:rPr dirty="0" baseline="4629" sz="2700" spc="397">
                <a:latin typeface="Arial"/>
                <a:cs typeface="Arial"/>
              </a:rPr>
              <a:t> </a:t>
            </a:r>
            <a:r>
              <a:rPr dirty="0" baseline="3086" sz="2700" spc="-494">
                <a:latin typeface="Arial"/>
                <a:cs typeface="Arial"/>
              </a:rPr>
              <a:t>ر</a:t>
            </a:r>
            <a:r>
              <a:rPr dirty="0" sz="1800" spc="-330">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434">
                <a:latin typeface="Arial"/>
                <a:cs typeface="Arial"/>
              </a:rPr>
              <a:t>وعُ    </a:t>
            </a:r>
            <a:r>
              <a:rPr dirty="0" baseline="3086" sz="2700" spc="-284">
                <a:latin typeface="Arial"/>
                <a:cs typeface="Arial"/>
              </a:rPr>
              <a:t>د</a:t>
            </a:r>
            <a:r>
              <a:rPr dirty="0" baseline="6172" sz="2700" spc="-284">
                <a:latin typeface="Arial"/>
                <a:cs typeface="Arial"/>
              </a:rPr>
              <a:t>ْ </a:t>
            </a:r>
            <a:r>
              <a:rPr dirty="0" baseline="3086" sz="2700">
                <a:latin typeface="Arial"/>
                <a:cs typeface="Arial"/>
              </a:rPr>
              <a:t>ٌ</a:t>
            </a:r>
            <a:r>
              <a:rPr dirty="0" sz="1800">
                <a:latin typeface="Arial"/>
                <a:cs typeface="Arial"/>
              </a:rPr>
              <a:t>َ</a:t>
            </a:r>
            <a:r>
              <a:rPr dirty="0" sz="1800" spc="-50">
                <a:latin typeface="Arial"/>
                <a:cs typeface="Arial"/>
              </a:rPr>
              <a:t> </a:t>
            </a:r>
            <a:r>
              <a:rPr dirty="0" baseline="3086" sz="2700" spc="-615">
                <a:latin typeface="Arial"/>
                <a:cs typeface="Arial"/>
              </a:rPr>
              <a:t>و</a:t>
            </a:r>
            <a:endParaRPr baseline="3086" sz="2700">
              <a:latin typeface="Arial"/>
              <a:cs typeface="Arial"/>
            </a:endParaRPr>
          </a:p>
          <a:p>
            <a:pPr algn="just" marL="177800" marR="196850">
              <a:lnSpc>
                <a:spcPts val="1380"/>
              </a:lnSpc>
              <a:spcBef>
                <a:spcPts val="1330"/>
              </a:spcBef>
              <a:buAutoNum type="arabicPeriod" startAt="90"/>
              <a:tabLst>
                <a:tab pos="440055" algn="l"/>
              </a:tabLst>
            </a:pPr>
            <a:r>
              <a:rPr dirty="0" sz="1200">
                <a:latin typeface="Arial"/>
                <a:cs typeface="Arial"/>
              </a:rPr>
              <a:t>Then </a:t>
            </a:r>
            <a:r>
              <a:rPr dirty="0" sz="1200" spc="20">
                <a:latin typeface="Arial"/>
                <a:cs typeface="Arial"/>
              </a:rPr>
              <a:t>We </a:t>
            </a:r>
            <a:r>
              <a:rPr dirty="0" sz="1200" spc="-5">
                <a:latin typeface="Arial"/>
                <a:cs typeface="Arial"/>
              </a:rPr>
              <a:t>heard </a:t>
            </a:r>
            <a:r>
              <a:rPr dirty="0" sz="1200" spc="-10">
                <a:latin typeface="Arial"/>
                <a:cs typeface="Arial"/>
              </a:rPr>
              <a:t>his </a:t>
            </a:r>
            <a:r>
              <a:rPr dirty="0" sz="1200" spc="-5">
                <a:latin typeface="Arial"/>
                <a:cs typeface="Arial"/>
              </a:rPr>
              <a:t>prayer, and bestowed upon </a:t>
            </a:r>
            <a:r>
              <a:rPr dirty="0" sz="1200" spc="-10">
                <a:latin typeface="Arial"/>
                <a:cs typeface="Arial"/>
              </a:rPr>
              <a:t>him </a:t>
            </a:r>
            <a:r>
              <a:rPr dirty="0" sz="1200" spc="-5">
                <a:latin typeface="Arial"/>
                <a:cs typeface="Arial"/>
              </a:rPr>
              <a:t>John, and adjusted his wife </a:t>
            </a:r>
            <a:r>
              <a:rPr dirty="0" sz="1200">
                <a:latin typeface="Arial"/>
                <a:cs typeface="Arial"/>
              </a:rPr>
              <a:t>(to </a:t>
            </a:r>
            <a:r>
              <a:rPr dirty="0" sz="1200" spc="-5">
                <a:latin typeface="Arial"/>
                <a:cs typeface="Arial"/>
              </a:rPr>
              <a:t>bear  a child) </a:t>
            </a:r>
            <a:r>
              <a:rPr dirty="0" sz="1200">
                <a:latin typeface="Arial"/>
                <a:cs typeface="Arial"/>
              </a:rPr>
              <a:t>for him. </a:t>
            </a:r>
            <a:r>
              <a:rPr dirty="0" sz="1200" spc="-5">
                <a:latin typeface="Arial"/>
                <a:cs typeface="Arial"/>
              </a:rPr>
              <a:t>Lo! They used </a:t>
            </a:r>
            <a:r>
              <a:rPr dirty="0" sz="1200">
                <a:latin typeface="Arial"/>
                <a:cs typeface="Arial"/>
              </a:rPr>
              <a:t>to </a:t>
            </a:r>
            <a:r>
              <a:rPr dirty="0" sz="1200" spc="-10">
                <a:latin typeface="Arial"/>
                <a:cs typeface="Arial"/>
              </a:rPr>
              <a:t>vie </a:t>
            </a:r>
            <a:r>
              <a:rPr dirty="0" sz="1200" spc="-5">
                <a:latin typeface="Arial"/>
                <a:cs typeface="Arial"/>
              </a:rPr>
              <a:t>one with </a:t>
            </a:r>
            <a:r>
              <a:rPr dirty="0" sz="1200">
                <a:latin typeface="Arial"/>
                <a:cs typeface="Arial"/>
              </a:rPr>
              <a:t>the </a:t>
            </a:r>
            <a:r>
              <a:rPr dirty="0" sz="1200" spc="-5">
                <a:latin typeface="Arial"/>
                <a:cs typeface="Arial"/>
              </a:rPr>
              <a:t>other in good deeds, and they cried unto  Us in longing </a:t>
            </a:r>
            <a:r>
              <a:rPr dirty="0" sz="1200">
                <a:latin typeface="Arial"/>
                <a:cs typeface="Arial"/>
              </a:rPr>
              <a:t>and </a:t>
            </a:r>
            <a:r>
              <a:rPr dirty="0" sz="1200" spc="-10">
                <a:latin typeface="Arial"/>
                <a:cs typeface="Arial"/>
              </a:rPr>
              <a:t>in </a:t>
            </a:r>
            <a:r>
              <a:rPr dirty="0" sz="1200">
                <a:latin typeface="Arial"/>
                <a:cs typeface="Arial"/>
              </a:rPr>
              <a:t>fear, </a:t>
            </a:r>
            <a:r>
              <a:rPr dirty="0" sz="1200" spc="-5">
                <a:latin typeface="Arial"/>
                <a:cs typeface="Arial"/>
              </a:rPr>
              <a:t>and were submissive unto</a:t>
            </a:r>
            <a:r>
              <a:rPr dirty="0" sz="1200" spc="55">
                <a:latin typeface="Arial"/>
                <a:cs typeface="Arial"/>
              </a:rPr>
              <a:t> </a:t>
            </a:r>
            <a:r>
              <a:rPr dirty="0" sz="1200">
                <a:latin typeface="Arial"/>
                <a:cs typeface="Arial"/>
              </a:rPr>
              <a:t>Us.</a:t>
            </a:r>
            <a:endParaRPr sz="1200">
              <a:latin typeface="Arial"/>
              <a:cs typeface="Arial"/>
            </a:endParaRPr>
          </a:p>
          <a:p>
            <a:pPr>
              <a:lnSpc>
                <a:spcPct val="100000"/>
              </a:lnSpc>
              <a:spcBef>
                <a:spcPts val="20"/>
              </a:spcBef>
              <a:buFont typeface="Arial"/>
              <a:buAutoNum type="arabicPeriod" startAt="90"/>
            </a:pPr>
            <a:endParaRPr sz="1100">
              <a:latin typeface="Arial"/>
              <a:cs typeface="Arial"/>
            </a:endParaRPr>
          </a:p>
          <a:p>
            <a:pPr marL="177800">
              <a:lnSpc>
                <a:spcPct val="100000"/>
              </a:lnSpc>
            </a:pPr>
            <a:r>
              <a:rPr dirty="0" u="heavy" sz="1200" spc="-5" b="1" i="1">
                <a:uFill>
                  <a:solidFill>
                    <a:srgbClr val="000000"/>
                  </a:solidFill>
                </a:uFill>
                <a:latin typeface="Arial"/>
                <a:cs typeface="Arial"/>
              </a:rPr>
              <a:t>Hazrat Maryam (ra) and Hazrat Isa</a:t>
            </a:r>
            <a:r>
              <a:rPr dirty="0" u="heavy" sz="1200" spc="25" b="1" i="1">
                <a:uFill>
                  <a:solidFill>
                    <a:srgbClr val="000000"/>
                  </a:solidFill>
                </a:uFill>
                <a:latin typeface="Arial"/>
                <a:cs typeface="Arial"/>
              </a:rPr>
              <a:t> </a:t>
            </a:r>
            <a:r>
              <a:rPr dirty="0" u="heavy" sz="1200" b="1" i="1">
                <a:uFill>
                  <a:solidFill>
                    <a:srgbClr val="000000"/>
                  </a:solidFill>
                </a:uFill>
                <a:latin typeface="Arial"/>
                <a:cs typeface="Arial"/>
              </a:rPr>
              <a:t>(as)</a:t>
            </a:r>
            <a:endParaRPr sz="1200">
              <a:latin typeface="Arial"/>
              <a:cs typeface="Arial"/>
            </a:endParaRPr>
          </a:p>
          <a:p>
            <a:pPr>
              <a:lnSpc>
                <a:spcPct val="100000"/>
              </a:lnSpc>
              <a:spcBef>
                <a:spcPts val="40"/>
              </a:spcBef>
            </a:pPr>
            <a:endParaRPr sz="1200">
              <a:latin typeface="Arial"/>
              <a:cs typeface="Arial"/>
            </a:endParaRPr>
          </a:p>
          <a:p>
            <a:pPr algn="just" marL="177800" marR="201930">
              <a:lnSpc>
                <a:spcPts val="1380"/>
              </a:lnSpc>
            </a:pPr>
            <a:r>
              <a:rPr dirty="0" sz="1200" spc="-5">
                <a:latin typeface="Arial"/>
                <a:cs typeface="Arial"/>
              </a:rPr>
              <a:t>The </a:t>
            </a:r>
            <a:r>
              <a:rPr dirty="0" sz="1200">
                <a:latin typeface="Arial"/>
                <a:cs typeface="Arial"/>
              </a:rPr>
              <a:t>story of the </a:t>
            </a:r>
            <a:r>
              <a:rPr dirty="0" sz="1200" spc="-5">
                <a:latin typeface="Arial"/>
                <a:cs typeface="Arial"/>
              </a:rPr>
              <a:t>mother and son </a:t>
            </a:r>
            <a:r>
              <a:rPr dirty="0" sz="1200" spc="-10">
                <a:latin typeface="Arial"/>
                <a:cs typeface="Arial"/>
              </a:rPr>
              <a:t>who </a:t>
            </a:r>
            <a:r>
              <a:rPr dirty="0" sz="1200" spc="-5">
                <a:latin typeface="Arial"/>
                <a:cs typeface="Arial"/>
              </a:rPr>
              <a:t>has enormous power spreading Islam </a:t>
            </a:r>
            <a:r>
              <a:rPr dirty="0" sz="1200">
                <a:latin typeface="Arial"/>
                <a:cs typeface="Arial"/>
              </a:rPr>
              <a:t>to </a:t>
            </a:r>
            <a:r>
              <a:rPr dirty="0" sz="1200" spc="-10">
                <a:latin typeface="Arial"/>
                <a:cs typeface="Arial"/>
              </a:rPr>
              <a:t>the  </a:t>
            </a:r>
            <a:r>
              <a:rPr dirty="0" sz="1200" spc="-5">
                <a:latin typeface="Arial"/>
                <a:cs typeface="Arial"/>
              </a:rPr>
              <a:t>unbelievers </a:t>
            </a:r>
            <a:r>
              <a:rPr dirty="0" sz="1200">
                <a:latin typeface="Arial"/>
                <a:cs typeface="Arial"/>
              </a:rPr>
              <a:t>and </a:t>
            </a:r>
            <a:r>
              <a:rPr dirty="0" sz="1200" spc="-5">
                <a:latin typeface="Arial"/>
                <a:cs typeface="Arial"/>
              </a:rPr>
              <a:t>the</a:t>
            </a:r>
            <a:r>
              <a:rPr dirty="0" sz="1200" spc="-10">
                <a:latin typeface="Arial"/>
                <a:cs typeface="Arial"/>
              </a:rPr>
              <a:t> </a:t>
            </a:r>
            <a:r>
              <a:rPr dirty="0" sz="1200">
                <a:latin typeface="Arial"/>
                <a:cs typeface="Arial"/>
              </a:rPr>
              <a:t>Israelites.</a:t>
            </a:r>
            <a:endParaRPr sz="1200">
              <a:latin typeface="Arial"/>
              <a:cs typeface="Arial"/>
            </a:endParaRPr>
          </a:p>
          <a:p>
            <a:pPr>
              <a:lnSpc>
                <a:spcPct val="100000"/>
              </a:lnSpc>
              <a:spcBef>
                <a:spcPts val="20"/>
              </a:spcBef>
            </a:pPr>
            <a:endParaRPr sz="1150">
              <a:latin typeface="Arial"/>
              <a:cs typeface="Arial"/>
            </a:endParaRPr>
          </a:p>
          <a:p>
            <a:pPr algn="r" marR="246379">
              <a:lnSpc>
                <a:spcPct val="100000"/>
              </a:lnSpc>
            </a:pPr>
            <a:r>
              <a:rPr dirty="0" baseline="3086" sz="2700" spc="-494">
                <a:latin typeface="Arial"/>
                <a:cs typeface="Arial"/>
              </a:rPr>
              <a:t>ن</a:t>
            </a:r>
            <a:r>
              <a:rPr dirty="0" sz="1800" spc="-330">
                <a:latin typeface="Arial"/>
                <a:cs typeface="Arial"/>
              </a:rPr>
              <a:t>َ </a:t>
            </a:r>
            <a:r>
              <a:rPr dirty="0" baseline="3086" sz="2700" spc="-240">
                <a:latin typeface="Arial"/>
                <a:cs typeface="Arial"/>
              </a:rPr>
              <a:t>ٌم</a:t>
            </a:r>
            <a:r>
              <a:rPr dirty="0" baseline="1543" sz="2700" spc="-240">
                <a:latin typeface="Arial"/>
                <a:cs typeface="Arial"/>
              </a:rPr>
              <a:t>ِ </a:t>
            </a:r>
            <a:r>
              <a:rPr dirty="0" baseline="10802" sz="2700" spc="-397">
                <a:latin typeface="Arial"/>
                <a:cs typeface="Arial"/>
              </a:rPr>
              <a:t>َ</a:t>
            </a:r>
            <a:r>
              <a:rPr dirty="0" baseline="3086" sz="2700" spc="-397">
                <a:latin typeface="Arial"/>
                <a:cs typeface="Arial"/>
              </a:rPr>
              <a:t>لاع</a:t>
            </a:r>
            <a:r>
              <a:rPr dirty="0" sz="1800" spc="-265">
                <a:latin typeface="Arial"/>
                <a:cs typeface="Arial"/>
              </a:rPr>
              <a:t>َ </a:t>
            </a:r>
            <a:r>
              <a:rPr dirty="0" baseline="3086" sz="2700" spc="-652">
                <a:latin typeface="Arial"/>
                <a:cs typeface="Arial"/>
              </a:rPr>
              <a:t>ل</a:t>
            </a:r>
            <a:r>
              <a:rPr dirty="0" baseline="13888" sz="2700" spc="-652">
                <a:latin typeface="Arial"/>
                <a:cs typeface="Arial"/>
              </a:rPr>
              <a:t>ْ </a:t>
            </a:r>
            <a:r>
              <a:rPr dirty="0" baseline="13888" sz="2700" spc="-270">
                <a:latin typeface="Arial"/>
                <a:cs typeface="Arial"/>
              </a:rPr>
              <a:t>ِّ</a:t>
            </a:r>
            <a:r>
              <a:rPr dirty="0" baseline="3086" sz="2700" spc="-270">
                <a:latin typeface="Arial"/>
                <a:cs typeface="Arial"/>
              </a:rPr>
              <a:t>ل </a:t>
            </a:r>
            <a:r>
              <a:rPr dirty="0" baseline="3086" sz="2700" spc="-284">
                <a:latin typeface="Arial"/>
                <a:cs typeface="Arial"/>
              </a:rPr>
              <a:t>ة</a:t>
            </a:r>
            <a:r>
              <a:rPr dirty="0" baseline="15432" sz="2700" spc="-284">
                <a:latin typeface="Arial"/>
                <a:cs typeface="Arial"/>
              </a:rPr>
              <a:t>ً </a:t>
            </a:r>
            <a:r>
              <a:rPr dirty="0" baseline="3086" sz="2700">
                <a:latin typeface="Arial"/>
                <a:cs typeface="Arial"/>
              </a:rPr>
              <a:t>ٌ</a:t>
            </a:r>
            <a:r>
              <a:rPr dirty="0" sz="1800">
                <a:latin typeface="Arial"/>
                <a:cs typeface="Arial"/>
              </a:rPr>
              <a:t>َ </a:t>
            </a:r>
            <a:r>
              <a:rPr dirty="0" baseline="3086" sz="2700">
                <a:latin typeface="Arial"/>
                <a:cs typeface="Arial"/>
              </a:rPr>
              <a:t>آ </a:t>
            </a:r>
            <a:r>
              <a:rPr dirty="0" baseline="3086" sz="2700" spc="-202">
                <a:latin typeface="Arial"/>
                <a:cs typeface="Arial"/>
              </a:rPr>
              <a:t>اه</a:t>
            </a:r>
            <a:r>
              <a:rPr dirty="0" sz="1800" spc="-135">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862">
                <a:latin typeface="Arial"/>
                <a:cs typeface="Arial"/>
              </a:rPr>
              <a:t>بْ</a:t>
            </a:r>
            <a:r>
              <a:rPr dirty="0" baseline="3086" sz="2700" spc="-307">
                <a:latin typeface="Arial"/>
                <a:cs typeface="Arial"/>
              </a:rPr>
              <a:t> </a:t>
            </a:r>
            <a:r>
              <a:rPr dirty="0" baseline="3086" sz="2700" spc="-209">
                <a:latin typeface="Arial"/>
                <a:cs typeface="Arial"/>
              </a:rPr>
              <a:t>او</a:t>
            </a:r>
            <a:r>
              <a:rPr dirty="0" sz="1800" spc="-140">
                <a:latin typeface="Arial"/>
                <a:cs typeface="Arial"/>
              </a:rPr>
              <a:t>َ </a:t>
            </a:r>
            <a:r>
              <a:rPr dirty="0" baseline="3086" sz="2700" spc="-165">
                <a:latin typeface="Arial"/>
                <a:cs typeface="Arial"/>
              </a:rPr>
              <a:t>اه</a:t>
            </a:r>
            <a:r>
              <a:rPr dirty="0" sz="1800" spc="-110">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600">
                <a:latin typeface="Arial"/>
                <a:cs typeface="Arial"/>
              </a:rPr>
              <a:t>ع</a:t>
            </a:r>
            <a:r>
              <a:rPr dirty="0" sz="1800" spc="-400">
                <a:latin typeface="Arial"/>
                <a:cs typeface="Arial"/>
              </a:rPr>
              <a:t>َ </a:t>
            </a:r>
            <a:r>
              <a:rPr dirty="0" baseline="3086" sz="2700" spc="-592">
                <a:latin typeface="Arial"/>
                <a:cs typeface="Arial"/>
              </a:rPr>
              <a:t>ج</a:t>
            </a:r>
            <a:r>
              <a:rPr dirty="0" sz="1800" spc="-395">
                <a:latin typeface="Arial"/>
                <a:cs typeface="Arial"/>
              </a:rPr>
              <a:t>َ </a:t>
            </a:r>
            <a:r>
              <a:rPr dirty="0" baseline="3086" sz="2700" spc="-307">
                <a:latin typeface="Arial"/>
                <a:cs typeface="Arial"/>
              </a:rPr>
              <a:t>و</a:t>
            </a:r>
            <a:r>
              <a:rPr dirty="0" sz="1800" spc="-204">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719">
                <a:latin typeface="Arial"/>
                <a:cs typeface="Arial"/>
              </a:rPr>
              <a:t>ح</a:t>
            </a:r>
            <a:r>
              <a:rPr dirty="0" baseline="1543" sz="2700" spc="-719">
                <a:latin typeface="Arial"/>
                <a:cs typeface="Arial"/>
              </a:rPr>
              <a:t>ِ </a:t>
            </a:r>
            <a:r>
              <a:rPr dirty="0" baseline="3086" sz="2700" spc="-254">
                <a:latin typeface="Arial"/>
                <a:cs typeface="Arial"/>
              </a:rPr>
              <a:t>ورُّ </a:t>
            </a:r>
            <a:r>
              <a:rPr dirty="0" baseline="3086" sz="2700" spc="-240">
                <a:latin typeface="Arial"/>
                <a:cs typeface="Arial"/>
              </a:rPr>
              <a:t>نم</a:t>
            </a:r>
            <a:r>
              <a:rPr dirty="0" baseline="1543" sz="2700" spc="-240">
                <a:latin typeface="Arial"/>
                <a:cs typeface="Arial"/>
              </a:rPr>
              <a:t>ِ </a:t>
            </a:r>
            <a:r>
              <a:rPr dirty="0" baseline="3086" sz="2700" spc="-202">
                <a:latin typeface="Arial"/>
                <a:cs typeface="Arial"/>
              </a:rPr>
              <a:t>اه</a:t>
            </a:r>
            <a:r>
              <a:rPr dirty="0" sz="1800" spc="-135">
                <a:latin typeface="Arial"/>
                <a:cs typeface="Arial"/>
              </a:rPr>
              <a:t>َ </a:t>
            </a:r>
            <a:r>
              <a:rPr dirty="0" baseline="3086" sz="2700" spc="-705">
                <a:latin typeface="Arial"/>
                <a:cs typeface="Arial"/>
              </a:rPr>
              <a:t>ٌف</a:t>
            </a:r>
            <a:r>
              <a:rPr dirty="0" baseline="1543" sz="2700" spc="-705">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555">
                <a:latin typeface="Arial"/>
                <a:cs typeface="Arial"/>
              </a:rPr>
              <a:t>خ</a:t>
            </a:r>
            <a:r>
              <a:rPr dirty="0" baseline="12345" sz="2700" spc="-555">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127">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60">
                <a:latin typeface="Arial"/>
                <a:cs typeface="Arial"/>
              </a:rPr>
              <a:t> </a:t>
            </a:r>
            <a:r>
              <a:rPr dirty="0" baseline="3086" sz="2700" spc="-195">
                <a:latin typeface="Arial"/>
                <a:cs typeface="Arial"/>
              </a:rPr>
              <a:t>اه</a:t>
            </a:r>
            <a:r>
              <a:rPr dirty="0" sz="1800" spc="-130">
                <a:latin typeface="Arial"/>
                <a:cs typeface="Arial"/>
              </a:rPr>
              <a:t>َ </a:t>
            </a:r>
            <a:r>
              <a:rPr dirty="0" baseline="3086" sz="2700" spc="-592">
                <a:latin typeface="Arial"/>
                <a:cs typeface="Arial"/>
              </a:rPr>
              <a:t>ج</a:t>
            </a:r>
            <a:r>
              <a:rPr dirty="0" sz="1800" spc="-395">
                <a:latin typeface="Arial"/>
                <a:cs typeface="Arial"/>
              </a:rPr>
              <a:t>َ </a:t>
            </a:r>
            <a:r>
              <a:rPr dirty="0" baseline="3086" sz="2700" spc="-457">
                <a:latin typeface="Arial"/>
                <a:cs typeface="Arial"/>
              </a:rPr>
              <a:t>رْ </a:t>
            </a:r>
            <a:r>
              <a:rPr dirty="0" baseline="3086" sz="2700" spc="-1035">
                <a:latin typeface="Arial"/>
                <a:cs typeface="Arial"/>
              </a:rPr>
              <a:t>ف</a:t>
            </a:r>
            <a:r>
              <a:rPr dirty="0" baseline="7716" sz="2700" spc="-1035">
                <a:latin typeface="Arial"/>
                <a:cs typeface="Arial"/>
              </a:rPr>
              <a:t>َ</a:t>
            </a:r>
            <a:r>
              <a:rPr dirty="0" baseline="7716" sz="2700" spc="667">
                <a:latin typeface="Arial"/>
                <a:cs typeface="Arial"/>
              </a:rPr>
              <a:t> </a:t>
            </a:r>
            <a:r>
              <a:rPr dirty="0" baseline="3086" sz="2700" spc="-735">
                <a:latin typeface="Arial"/>
                <a:cs typeface="Arial"/>
              </a:rPr>
              <a:t>ت</a:t>
            </a:r>
            <a:r>
              <a:rPr dirty="0" baseline="9259" sz="2700" spc="-735">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1350">
                <a:latin typeface="Arial"/>
                <a:cs typeface="Arial"/>
              </a:rPr>
              <a:t>ص</a:t>
            </a:r>
            <a:r>
              <a:rPr dirty="0" sz="1800" spc="-900">
                <a:latin typeface="Arial"/>
                <a:cs typeface="Arial"/>
              </a:rPr>
              <a:t>َ</a:t>
            </a:r>
            <a:r>
              <a:rPr dirty="0" sz="1800" spc="844">
                <a:latin typeface="Arial"/>
                <a:cs typeface="Arial"/>
              </a:rPr>
              <a:t> </a:t>
            </a:r>
            <a:r>
              <a:rPr dirty="0" baseline="3086" sz="2700" spc="-555">
                <a:latin typeface="Arial"/>
                <a:cs typeface="Arial"/>
              </a:rPr>
              <a:t>حْ </a:t>
            </a:r>
            <a:r>
              <a:rPr dirty="0" baseline="16975" sz="2700">
                <a:latin typeface="Arial"/>
                <a:cs typeface="Arial"/>
              </a:rPr>
              <a:t>َ</a:t>
            </a:r>
            <a:r>
              <a:rPr dirty="0" baseline="3086" sz="2700">
                <a:latin typeface="Arial"/>
                <a:cs typeface="Arial"/>
              </a:rPr>
              <a:t>أ </a:t>
            </a:r>
            <a:r>
              <a:rPr dirty="0" baseline="3086" sz="2700" spc="-637">
                <a:latin typeface="Arial"/>
                <a:cs typeface="Arial"/>
              </a:rPr>
              <a:t>ًت</a:t>
            </a:r>
            <a:r>
              <a:rPr dirty="0" baseline="1543" sz="2700" spc="-637">
                <a:latin typeface="Arial"/>
                <a:cs typeface="Arial"/>
              </a:rPr>
              <a:t>ِ</a:t>
            </a:r>
            <a:r>
              <a:rPr dirty="0" baseline="1543" sz="2700" spc="-585">
                <a:latin typeface="Arial"/>
                <a:cs typeface="Arial"/>
              </a:rPr>
              <a:t> </a:t>
            </a:r>
            <a:r>
              <a:rPr dirty="0" baseline="13888" sz="2700" spc="-292">
                <a:latin typeface="Arial"/>
                <a:cs typeface="Arial"/>
              </a:rPr>
              <a:t>َّ</a:t>
            </a:r>
            <a:r>
              <a:rPr dirty="0" baseline="3086" sz="2700" spc="-292">
                <a:latin typeface="Arial"/>
                <a:cs typeface="Arial"/>
              </a:rPr>
              <a:t>لاو</a:t>
            </a:r>
            <a:endParaRPr baseline="3086" sz="2700">
              <a:latin typeface="Arial"/>
              <a:cs typeface="Arial"/>
            </a:endParaRPr>
          </a:p>
          <a:p>
            <a:pPr algn="just" marL="177800" marR="201930">
              <a:lnSpc>
                <a:spcPts val="1380"/>
              </a:lnSpc>
              <a:spcBef>
                <a:spcPts val="1320"/>
              </a:spcBef>
              <a:buAutoNum type="arabicPeriod" startAt="91"/>
              <a:tabLst>
                <a:tab pos="452120" algn="l"/>
              </a:tabLst>
            </a:pPr>
            <a:r>
              <a:rPr dirty="0" sz="1200" spc="-5">
                <a:latin typeface="Arial"/>
                <a:cs typeface="Arial"/>
              </a:rPr>
              <a:t>And she </a:t>
            </a:r>
            <a:r>
              <a:rPr dirty="0" sz="1200" spc="-10">
                <a:latin typeface="Arial"/>
                <a:cs typeface="Arial"/>
              </a:rPr>
              <a:t>who was </a:t>
            </a:r>
            <a:r>
              <a:rPr dirty="0" sz="1200" spc="-5">
                <a:latin typeface="Arial"/>
                <a:cs typeface="Arial"/>
              </a:rPr>
              <a:t>chaste, therefor </a:t>
            </a:r>
            <a:r>
              <a:rPr dirty="0" sz="1200" spc="15">
                <a:latin typeface="Arial"/>
                <a:cs typeface="Arial"/>
              </a:rPr>
              <a:t>We </a:t>
            </a:r>
            <a:r>
              <a:rPr dirty="0" sz="1200" spc="-5">
                <a:latin typeface="Arial"/>
                <a:cs typeface="Arial"/>
              </a:rPr>
              <a:t>breathed into her (something) of Our spirit and  made her and her son a token </a:t>
            </a:r>
            <a:r>
              <a:rPr dirty="0" sz="1200">
                <a:latin typeface="Arial"/>
                <a:cs typeface="Arial"/>
              </a:rPr>
              <a:t>for </a:t>
            </a:r>
            <a:r>
              <a:rPr dirty="0" sz="1200" spc="-5">
                <a:latin typeface="Arial"/>
                <a:cs typeface="Arial"/>
              </a:rPr>
              <a:t>(all)</a:t>
            </a:r>
            <a:r>
              <a:rPr dirty="0" sz="1200" spc="35">
                <a:latin typeface="Arial"/>
                <a:cs typeface="Arial"/>
              </a:rPr>
              <a:t> </a:t>
            </a:r>
            <a:r>
              <a:rPr dirty="0" sz="1200" spc="-5">
                <a:latin typeface="Arial"/>
                <a:cs typeface="Arial"/>
              </a:rPr>
              <a:t>peoples.</a:t>
            </a:r>
            <a:endParaRPr sz="1200">
              <a:latin typeface="Arial"/>
              <a:cs typeface="Arial"/>
            </a:endParaRPr>
          </a:p>
          <a:p>
            <a:pPr>
              <a:lnSpc>
                <a:spcPct val="100000"/>
              </a:lnSpc>
              <a:spcBef>
                <a:spcPts val="20"/>
              </a:spcBef>
            </a:pPr>
            <a:endParaRPr sz="1100">
              <a:latin typeface="Arial"/>
              <a:cs typeface="Arial"/>
            </a:endParaRPr>
          </a:p>
          <a:p>
            <a:pPr marL="177800">
              <a:lnSpc>
                <a:spcPct val="100000"/>
              </a:lnSpc>
            </a:pPr>
            <a:r>
              <a:rPr dirty="0" u="heavy" sz="1200" b="1" i="1">
                <a:uFill>
                  <a:solidFill>
                    <a:srgbClr val="000000"/>
                  </a:solidFill>
                </a:uFill>
                <a:latin typeface="Arial"/>
                <a:cs typeface="Arial"/>
              </a:rPr>
              <a:t>Gog and</a:t>
            </a:r>
            <a:r>
              <a:rPr dirty="0" u="heavy" sz="1200" spc="-5" b="1" i="1">
                <a:uFill>
                  <a:solidFill>
                    <a:srgbClr val="000000"/>
                  </a:solidFill>
                </a:uFill>
                <a:latin typeface="Arial"/>
                <a:cs typeface="Arial"/>
              </a:rPr>
              <a:t> Magog</a:t>
            </a:r>
            <a:endParaRPr sz="1200">
              <a:latin typeface="Arial"/>
              <a:cs typeface="Arial"/>
            </a:endParaRPr>
          </a:p>
          <a:p>
            <a:pPr>
              <a:lnSpc>
                <a:spcPct val="100000"/>
              </a:lnSpc>
              <a:spcBef>
                <a:spcPts val="35"/>
              </a:spcBef>
            </a:pPr>
            <a:endParaRPr sz="1200">
              <a:latin typeface="Arial"/>
              <a:cs typeface="Arial"/>
            </a:endParaRPr>
          </a:p>
          <a:p>
            <a:pPr algn="just" marL="177800" marR="201930">
              <a:lnSpc>
                <a:spcPts val="1380"/>
              </a:lnSpc>
            </a:pPr>
            <a:r>
              <a:rPr dirty="0" sz="1200" spc="-5">
                <a:latin typeface="Arial"/>
                <a:cs typeface="Arial"/>
              </a:rPr>
              <a:t>The 2 tribes which will emerge before the last day spreading chaos </a:t>
            </a:r>
            <a:r>
              <a:rPr dirty="0" sz="1200" spc="-10">
                <a:latin typeface="Arial"/>
                <a:cs typeface="Arial"/>
              </a:rPr>
              <a:t>on </a:t>
            </a:r>
            <a:r>
              <a:rPr dirty="0" sz="1200" spc="-5">
                <a:latin typeface="Arial"/>
                <a:cs typeface="Arial"/>
              </a:rPr>
              <a:t>earth </a:t>
            </a:r>
            <a:r>
              <a:rPr dirty="0" sz="1200" spc="-10">
                <a:latin typeface="Arial"/>
                <a:cs typeface="Arial"/>
              </a:rPr>
              <a:t>will </a:t>
            </a:r>
            <a:r>
              <a:rPr dirty="0" sz="1200" spc="-5">
                <a:latin typeface="Arial"/>
                <a:cs typeface="Arial"/>
              </a:rPr>
              <a:t>be then  destroyed </a:t>
            </a:r>
            <a:r>
              <a:rPr dirty="0" sz="1200">
                <a:latin typeface="Arial"/>
                <a:cs typeface="Arial"/>
              </a:rPr>
              <a:t>by</a:t>
            </a:r>
            <a:r>
              <a:rPr dirty="0" sz="1200" spc="-15">
                <a:latin typeface="Arial"/>
                <a:cs typeface="Arial"/>
              </a:rPr>
              <a:t> </a:t>
            </a:r>
            <a:r>
              <a:rPr dirty="0" sz="1200" spc="-5">
                <a:latin typeface="Arial"/>
                <a:cs typeface="Arial"/>
              </a:rPr>
              <a:t>Allah.</a:t>
            </a:r>
            <a:endParaRPr sz="1200">
              <a:latin typeface="Arial"/>
              <a:cs typeface="Arial"/>
            </a:endParaRPr>
          </a:p>
          <a:p>
            <a:pPr>
              <a:lnSpc>
                <a:spcPct val="100000"/>
              </a:lnSpc>
              <a:spcBef>
                <a:spcPts val="20"/>
              </a:spcBef>
            </a:pPr>
            <a:endParaRPr sz="1100">
              <a:latin typeface="Arial"/>
              <a:cs typeface="Arial"/>
            </a:endParaRPr>
          </a:p>
          <a:p>
            <a:pPr marL="177800">
              <a:lnSpc>
                <a:spcPct val="100000"/>
              </a:lnSpc>
            </a:pPr>
            <a:r>
              <a:rPr dirty="0" sz="1200" spc="-5">
                <a:latin typeface="Arial"/>
                <a:cs typeface="Arial"/>
              </a:rPr>
              <a:t>Allah says:</a:t>
            </a:r>
            <a:endParaRPr sz="1200">
              <a:latin typeface="Arial"/>
              <a:cs typeface="Arial"/>
            </a:endParaRPr>
          </a:p>
          <a:p>
            <a:pPr algn="r" marR="287020">
              <a:lnSpc>
                <a:spcPct val="100000"/>
              </a:lnSpc>
            </a:pPr>
            <a:r>
              <a:rPr dirty="0" baseline="3086" sz="2700" spc="-494">
                <a:latin typeface="Arial"/>
                <a:cs typeface="Arial"/>
              </a:rPr>
              <a:t>ن</a:t>
            </a:r>
            <a:r>
              <a:rPr dirty="0" sz="1800" spc="-330">
                <a:latin typeface="Arial"/>
                <a:cs typeface="Arial"/>
              </a:rPr>
              <a:t>َ </a:t>
            </a:r>
            <a:r>
              <a:rPr dirty="0" baseline="3086" sz="2700" spc="-555">
                <a:latin typeface="Arial"/>
                <a:cs typeface="Arial"/>
              </a:rPr>
              <a:t>و</a:t>
            </a:r>
            <a:r>
              <a:rPr dirty="0" baseline="13888" sz="2700" spc="-555">
                <a:latin typeface="Arial"/>
                <a:cs typeface="Arial"/>
              </a:rPr>
              <a:t>ُ</a:t>
            </a:r>
            <a:r>
              <a:rPr dirty="0" baseline="3086" sz="2700" spc="-555">
                <a:latin typeface="Arial"/>
                <a:cs typeface="Arial"/>
              </a:rPr>
              <a:t>لس</a:t>
            </a:r>
            <a:r>
              <a:rPr dirty="0" baseline="1543" sz="2700" spc="-555">
                <a:latin typeface="Arial"/>
                <a:cs typeface="Arial"/>
              </a:rPr>
              <a:t>ِ </a:t>
            </a:r>
            <a:r>
              <a:rPr dirty="0" baseline="3086" sz="2700" spc="-262">
                <a:latin typeface="Arial"/>
                <a:cs typeface="Arial"/>
              </a:rPr>
              <a:t>نٌ</a:t>
            </a:r>
            <a:r>
              <a:rPr dirty="0" sz="1800" spc="-175">
                <a:latin typeface="Arial"/>
                <a:cs typeface="Arial"/>
              </a:rPr>
              <a:t>َ </a:t>
            </a:r>
            <a:r>
              <a:rPr dirty="0" baseline="3086" sz="2700" spc="-869">
                <a:latin typeface="Arial"/>
                <a:cs typeface="Arial"/>
              </a:rPr>
              <a:t>بٍ</a:t>
            </a:r>
            <a:r>
              <a:rPr dirty="0" baseline="3086" sz="2700" spc="982">
                <a:latin typeface="Arial"/>
                <a:cs typeface="Arial"/>
              </a:rPr>
              <a:t> </a:t>
            </a:r>
            <a:r>
              <a:rPr dirty="0" baseline="3086" sz="2700" spc="-322">
                <a:latin typeface="Arial"/>
                <a:cs typeface="Arial"/>
              </a:rPr>
              <a:t>دَ </a:t>
            </a:r>
            <a:r>
              <a:rPr dirty="0" baseline="3086" sz="2700" spc="-592">
                <a:latin typeface="Arial"/>
                <a:cs typeface="Arial"/>
              </a:rPr>
              <a:t>ح</a:t>
            </a:r>
            <a:r>
              <a:rPr dirty="0" sz="1800" spc="-395">
                <a:latin typeface="Arial"/>
                <a:cs typeface="Arial"/>
              </a:rPr>
              <a:t>َ </a:t>
            </a:r>
            <a:r>
              <a:rPr dirty="0" baseline="3086" sz="2700" spc="-427">
                <a:latin typeface="Arial"/>
                <a:cs typeface="Arial"/>
              </a:rPr>
              <a:t>لِّ </a:t>
            </a:r>
            <a:r>
              <a:rPr dirty="0" baseline="3086" sz="2700" spc="-757">
                <a:latin typeface="Arial"/>
                <a:cs typeface="Arial"/>
              </a:rPr>
              <a:t>ك</a:t>
            </a:r>
            <a:r>
              <a:rPr dirty="0" baseline="10802" sz="2700" spc="-757">
                <a:latin typeface="Arial"/>
                <a:cs typeface="Arial"/>
              </a:rPr>
              <a:t>ُ</a:t>
            </a:r>
            <a:r>
              <a:rPr dirty="0" baseline="10802" sz="2700" spc="944">
                <a:latin typeface="Arial"/>
                <a:cs typeface="Arial"/>
              </a:rPr>
              <a:t> </a:t>
            </a:r>
            <a:r>
              <a:rPr dirty="0" baseline="3086" sz="2700" spc="-195">
                <a:latin typeface="Arial"/>
                <a:cs typeface="Arial"/>
              </a:rPr>
              <a:t>نمِّ </a:t>
            </a:r>
            <a:r>
              <a:rPr dirty="0" baseline="3086" sz="2700" spc="-202">
                <a:latin typeface="Arial"/>
                <a:cs typeface="Arial"/>
              </a:rPr>
              <a:t>مهُ </a:t>
            </a:r>
            <a:r>
              <a:rPr dirty="0" baseline="3086" sz="2700" spc="-307">
                <a:latin typeface="Arial"/>
                <a:cs typeface="Arial"/>
              </a:rPr>
              <a:t>و</a:t>
            </a:r>
            <a:r>
              <a:rPr dirty="0" sz="1800" spc="-204">
                <a:latin typeface="Arial"/>
                <a:cs typeface="Arial"/>
              </a:rPr>
              <a:t>َ </a:t>
            </a:r>
            <a:r>
              <a:rPr dirty="0" baseline="3086" sz="2700" spc="-667">
                <a:latin typeface="Arial"/>
                <a:cs typeface="Arial"/>
              </a:rPr>
              <a:t>جُ </a:t>
            </a:r>
            <a:r>
              <a:rPr dirty="0" baseline="3086" sz="2700" spc="-419">
                <a:latin typeface="Arial"/>
                <a:cs typeface="Arial"/>
              </a:rPr>
              <a:t>وجُ </a:t>
            </a:r>
            <a:r>
              <a:rPr dirty="0" baseline="20061" sz="2700" spc="-322">
                <a:latin typeface="Arial"/>
                <a:cs typeface="Arial"/>
              </a:rPr>
              <a:t>ْ</a:t>
            </a:r>
            <a:r>
              <a:rPr dirty="0" baseline="3086" sz="2700" spc="-322">
                <a:latin typeface="Arial"/>
                <a:cs typeface="Arial"/>
              </a:rPr>
              <a:t>ؤم</a:t>
            </a:r>
            <a:r>
              <a:rPr dirty="0" sz="1800" spc="-215">
                <a:latin typeface="Arial"/>
                <a:cs typeface="Arial"/>
              </a:rPr>
              <a:t>َ </a:t>
            </a:r>
            <a:r>
              <a:rPr dirty="0" baseline="3086" sz="2700" spc="-307">
                <a:latin typeface="Arial"/>
                <a:cs typeface="Arial"/>
              </a:rPr>
              <a:t>و</a:t>
            </a:r>
            <a:r>
              <a:rPr dirty="0" sz="1800" spc="-204">
                <a:latin typeface="Arial"/>
                <a:cs typeface="Arial"/>
              </a:rPr>
              <a:t>َ </a:t>
            </a:r>
            <a:r>
              <a:rPr dirty="0" baseline="3086" sz="2700" spc="-667">
                <a:latin typeface="Arial"/>
                <a:cs typeface="Arial"/>
              </a:rPr>
              <a:t>جُ </a:t>
            </a:r>
            <a:r>
              <a:rPr dirty="0" baseline="3086" sz="2700" spc="-419">
                <a:latin typeface="Arial"/>
                <a:cs typeface="Arial"/>
              </a:rPr>
              <a:t>وجُ </a:t>
            </a:r>
            <a:r>
              <a:rPr dirty="0" baseline="20061" sz="2700" spc="-142">
                <a:latin typeface="Arial"/>
                <a:cs typeface="Arial"/>
              </a:rPr>
              <a:t>ْ</a:t>
            </a:r>
            <a:r>
              <a:rPr dirty="0" baseline="3086" sz="2700" spc="-142">
                <a:latin typeface="Arial"/>
                <a:cs typeface="Arial"/>
              </a:rPr>
              <a:t>ؤٌ</a:t>
            </a:r>
            <a:r>
              <a:rPr dirty="0" sz="1800" spc="-95">
                <a:latin typeface="Arial"/>
                <a:cs typeface="Arial"/>
              </a:rPr>
              <a:t>َ </a:t>
            </a:r>
            <a:r>
              <a:rPr dirty="0" baseline="3086" sz="2700" spc="-735">
                <a:latin typeface="Arial"/>
                <a:cs typeface="Arial"/>
              </a:rPr>
              <a:t>ت</a:t>
            </a:r>
            <a:r>
              <a:rPr dirty="0" baseline="9259" sz="2700" spc="-735">
                <a:latin typeface="Arial"/>
                <a:cs typeface="Arial"/>
              </a:rPr>
              <a:t>ْ </a:t>
            </a:r>
            <a:r>
              <a:rPr dirty="0" baseline="3086" sz="2700" spc="-592">
                <a:latin typeface="Arial"/>
                <a:cs typeface="Arial"/>
              </a:rPr>
              <a:t>ح</a:t>
            </a:r>
            <a:r>
              <a:rPr dirty="0" sz="1800" spc="-395">
                <a:latin typeface="Arial"/>
                <a:cs typeface="Arial"/>
              </a:rPr>
              <a:t>َ </a:t>
            </a:r>
            <a:r>
              <a:rPr dirty="0" baseline="3086" sz="2700" spc="-960">
                <a:latin typeface="Arial"/>
                <a:cs typeface="Arial"/>
              </a:rPr>
              <a:t>ت</a:t>
            </a:r>
            <a:r>
              <a:rPr dirty="0" baseline="1543" sz="2700" spc="-960">
                <a:latin typeface="Arial"/>
                <a:cs typeface="Arial"/>
              </a:rPr>
              <a:t>ِ</a:t>
            </a:r>
            <a:r>
              <a:rPr dirty="0" baseline="1543" sz="2700" spc="-97">
                <a:latin typeface="Arial"/>
                <a:cs typeface="Arial"/>
              </a:rPr>
              <a:t> </a:t>
            </a:r>
            <a:r>
              <a:rPr dirty="0" baseline="10802" sz="2700" spc="-705">
                <a:latin typeface="Arial"/>
                <a:cs typeface="Arial"/>
              </a:rPr>
              <a:t>ُ</a:t>
            </a:r>
            <a:r>
              <a:rPr dirty="0" baseline="3086" sz="2700" spc="-705">
                <a:latin typeface="Arial"/>
                <a:cs typeface="Arial"/>
              </a:rPr>
              <a:t>ف </a:t>
            </a:r>
            <a:r>
              <a:rPr dirty="0" baseline="3086" sz="2700" spc="-217">
                <a:latin typeface="Arial"/>
                <a:cs typeface="Arial"/>
              </a:rPr>
              <a:t>اذ</a:t>
            </a:r>
            <a:r>
              <a:rPr dirty="0" baseline="13888" sz="2700" spc="-217">
                <a:latin typeface="Arial"/>
                <a:cs typeface="Arial"/>
              </a:rPr>
              <a:t>َ </a:t>
            </a:r>
            <a:r>
              <a:rPr dirty="0" baseline="-10802" sz="2700">
                <a:latin typeface="Arial"/>
                <a:cs typeface="Arial"/>
              </a:rPr>
              <a:t>ِ</a:t>
            </a:r>
            <a:r>
              <a:rPr dirty="0" baseline="3086" sz="2700">
                <a:latin typeface="Arial"/>
                <a:cs typeface="Arial"/>
              </a:rPr>
              <a:t>إ </a:t>
            </a:r>
            <a:r>
              <a:rPr dirty="0" baseline="3086" sz="2700" spc="-494">
                <a:latin typeface="Arial"/>
                <a:cs typeface="Arial"/>
              </a:rPr>
              <a:t>ىت</a:t>
            </a:r>
            <a:r>
              <a:rPr dirty="0" baseline="10802" sz="2700" spc="-494">
                <a:latin typeface="Arial"/>
                <a:cs typeface="Arial"/>
              </a:rPr>
              <a:t>َّ</a:t>
            </a:r>
            <a:r>
              <a:rPr dirty="0" baseline="10802" sz="2700" spc="-359">
                <a:latin typeface="Arial"/>
                <a:cs typeface="Arial"/>
              </a:rPr>
              <a:t> </a:t>
            </a:r>
            <a:r>
              <a:rPr dirty="0" baseline="3086" sz="2700" spc="-1185">
                <a:latin typeface="Arial"/>
                <a:cs typeface="Arial"/>
              </a:rPr>
              <a:t>ح</a:t>
            </a:r>
            <a:endParaRPr baseline="3086" sz="2700">
              <a:latin typeface="Arial"/>
              <a:cs typeface="Arial"/>
            </a:endParaRPr>
          </a:p>
          <a:p>
            <a:pPr algn="just" marL="433070" indent="-255904">
              <a:lnSpc>
                <a:spcPct val="100000"/>
              </a:lnSpc>
              <a:spcBef>
                <a:spcPts val="1240"/>
              </a:spcBef>
              <a:buAutoNum type="arabicPeriod" startAt="96"/>
              <a:tabLst>
                <a:tab pos="433705" algn="l"/>
              </a:tabLst>
            </a:pPr>
            <a:r>
              <a:rPr dirty="0" sz="1200" spc="-5">
                <a:latin typeface="Arial"/>
                <a:cs typeface="Arial"/>
              </a:rPr>
              <a:t>Until, when Gog </a:t>
            </a:r>
            <a:r>
              <a:rPr dirty="0" sz="1200" spc="-10">
                <a:latin typeface="Arial"/>
                <a:cs typeface="Arial"/>
              </a:rPr>
              <a:t>and </a:t>
            </a:r>
            <a:r>
              <a:rPr dirty="0" sz="1200" spc="-5">
                <a:latin typeface="Arial"/>
                <a:cs typeface="Arial"/>
              </a:rPr>
              <a:t>Magog </a:t>
            </a:r>
            <a:r>
              <a:rPr dirty="0" sz="1200">
                <a:latin typeface="Arial"/>
                <a:cs typeface="Arial"/>
              </a:rPr>
              <a:t>are </a:t>
            </a:r>
            <a:r>
              <a:rPr dirty="0" sz="1200" spc="-5">
                <a:latin typeface="Arial"/>
                <a:cs typeface="Arial"/>
              </a:rPr>
              <a:t>let loose, and </a:t>
            </a:r>
            <a:r>
              <a:rPr dirty="0" sz="1200">
                <a:latin typeface="Arial"/>
                <a:cs typeface="Arial"/>
              </a:rPr>
              <a:t>they hasten </a:t>
            </a:r>
            <a:r>
              <a:rPr dirty="0" sz="1200" spc="-5">
                <a:latin typeface="Arial"/>
                <a:cs typeface="Arial"/>
              </a:rPr>
              <a:t>out of every mound.</a:t>
            </a:r>
            <a:endParaRPr sz="1200">
              <a:latin typeface="Arial"/>
              <a:cs typeface="Arial"/>
            </a:endParaRPr>
          </a:p>
          <a:p>
            <a:pPr>
              <a:lnSpc>
                <a:spcPct val="100000"/>
              </a:lnSpc>
              <a:spcBef>
                <a:spcPts val="55"/>
              </a:spcBef>
              <a:buFont typeface="Arial"/>
              <a:buAutoNum type="arabicPeriod" startAt="96"/>
            </a:pPr>
            <a:endParaRPr sz="1150">
              <a:latin typeface="Arial"/>
              <a:cs typeface="Arial"/>
            </a:endParaRPr>
          </a:p>
          <a:p>
            <a:pPr algn="r" marR="247650">
              <a:lnSpc>
                <a:spcPts val="2110"/>
              </a:lnSpc>
            </a:pPr>
            <a:r>
              <a:rPr dirty="0" baseline="3086" sz="2700" spc="-217">
                <a:latin typeface="Arial"/>
                <a:cs typeface="Arial"/>
              </a:rPr>
              <a:t>اذ</a:t>
            </a:r>
            <a:r>
              <a:rPr dirty="0" baseline="13888" sz="2700" spc="-217">
                <a:latin typeface="Arial"/>
                <a:cs typeface="Arial"/>
              </a:rPr>
              <a:t>َ </a:t>
            </a:r>
            <a:r>
              <a:rPr dirty="0" baseline="3086" sz="2700" spc="-277">
                <a:latin typeface="Arial"/>
                <a:cs typeface="Arial"/>
              </a:rPr>
              <a:t>ه</a:t>
            </a:r>
            <a:r>
              <a:rPr dirty="0" sz="1800" spc="-185">
                <a:latin typeface="Arial"/>
                <a:cs typeface="Arial"/>
              </a:rPr>
              <a:t>َ    </a:t>
            </a:r>
            <a:r>
              <a:rPr dirty="0" baseline="3086" sz="2700" spc="-465">
                <a:latin typeface="Arial"/>
                <a:cs typeface="Arial"/>
              </a:rPr>
              <a:t>نْ </a:t>
            </a:r>
            <a:r>
              <a:rPr dirty="0" baseline="3086" sz="2700" spc="-179">
                <a:latin typeface="Arial"/>
                <a:cs typeface="Arial"/>
              </a:rPr>
              <a:t> </a:t>
            </a:r>
            <a:r>
              <a:rPr dirty="0" baseline="3086" sz="2700" spc="-254">
                <a:latin typeface="Arial"/>
                <a:cs typeface="Arial"/>
              </a:rPr>
              <a:t>مِّ   </a:t>
            </a:r>
            <a:r>
              <a:rPr dirty="0" baseline="3086" sz="2700" spc="-352">
                <a:latin typeface="Arial"/>
                <a:cs typeface="Arial"/>
              </a:rPr>
              <a:t>ةٍ  </a:t>
            </a:r>
            <a:r>
              <a:rPr dirty="0" baseline="10802" sz="2700" spc="-705">
                <a:latin typeface="Arial"/>
                <a:cs typeface="Arial"/>
              </a:rPr>
              <a:t>َ</a:t>
            </a:r>
            <a:r>
              <a:rPr dirty="0" baseline="3086" sz="2700" spc="-705">
                <a:latin typeface="Arial"/>
                <a:cs typeface="Arial"/>
              </a:rPr>
              <a:t>لف</a:t>
            </a:r>
            <a:r>
              <a:rPr dirty="0" baseline="12345" sz="2700" spc="-705">
                <a:latin typeface="Arial"/>
                <a:cs typeface="Arial"/>
              </a:rPr>
              <a:t>ْ            </a:t>
            </a:r>
            <a:r>
              <a:rPr dirty="0" baseline="3086" sz="2700" spc="-967">
                <a:latin typeface="Arial"/>
                <a:cs typeface="Arial"/>
              </a:rPr>
              <a:t>ؼ</a:t>
            </a:r>
            <a:r>
              <a:rPr dirty="0" baseline="4629" sz="2700" spc="-967">
                <a:latin typeface="Arial"/>
                <a:cs typeface="Arial"/>
              </a:rPr>
              <a:t>َ</a:t>
            </a:r>
            <a:r>
              <a:rPr dirty="0" baseline="4629" sz="2700" spc="1162">
                <a:latin typeface="Arial"/>
                <a:cs typeface="Arial"/>
              </a:rPr>
              <a:t> </a:t>
            </a:r>
            <a:r>
              <a:rPr dirty="0" baseline="3086" sz="2700" spc="-705">
                <a:latin typeface="Arial"/>
                <a:cs typeface="Arial"/>
              </a:rPr>
              <a:t>ًف</a:t>
            </a:r>
            <a:r>
              <a:rPr dirty="0" baseline="1543" sz="2700" spc="-705">
                <a:latin typeface="Arial"/>
                <a:cs typeface="Arial"/>
              </a:rPr>
              <a:t>ِ                                 </a:t>
            </a:r>
            <a:r>
              <a:rPr dirty="0" baseline="3086" sz="2700" spc="-322">
                <a:latin typeface="Arial"/>
                <a:cs typeface="Arial"/>
              </a:rPr>
              <a:t>ان</a:t>
            </a:r>
            <a:r>
              <a:rPr dirty="0" baseline="10802" sz="2700" spc="-322">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952">
                <a:latin typeface="Arial"/>
                <a:cs typeface="Arial"/>
              </a:rPr>
              <a:t> </a:t>
            </a:r>
            <a:r>
              <a:rPr dirty="0" baseline="3086" sz="2700" spc="-284">
                <a:latin typeface="Arial"/>
                <a:cs typeface="Arial"/>
              </a:rPr>
              <a:t>د</a:t>
            </a:r>
            <a:r>
              <a:rPr dirty="0" baseline="6172" sz="2700" spc="-284">
                <a:latin typeface="Arial"/>
                <a:cs typeface="Arial"/>
              </a:rPr>
              <a:t>ْ </a:t>
            </a:r>
            <a:r>
              <a:rPr dirty="0" baseline="3086" sz="2700" spc="-757">
                <a:latin typeface="Arial"/>
                <a:cs typeface="Arial"/>
              </a:rPr>
              <a:t>ق</a:t>
            </a:r>
            <a:r>
              <a:rPr dirty="0" baseline="7716" sz="2700" spc="-757">
                <a:latin typeface="Arial"/>
                <a:cs typeface="Arial"/>
              </a:rPr>
              <a:t>َ</a:t>
            </a:r>
            <a:r>
              <a:rPr dirty="0" baseline="7716" sz="2700" spc="660">
                <a:latin typeface="Arial"/>
                <a:cs typeface="Arial"/>
              </a:rPr>
              <a:t> </a:t>
            </a:r>
            <a:r>
              <a:rPr dirty="0" baseline="3086" sz="2700" spc="-419">
                <a:latin typeface="Arial"/>
                <a:cs typeface="Arial"/>
              </a:rPr>
              <a:t>ان</a:t>
            </a:r>
            <a:r>
              <a:rPr dirty="0" baseline="7716" sz="2700" spc="-419">
                <a:latin typeface="Arial"/>
                <a:cs typeface="Arial"/>
              </a:rPr>
              <a:t>َ  </a:t>
            </a:r>
            <a:r>
              <a:rPr dirty="0" baseline="10802" sz="2700" spc="-209">
                <a:latin typeface="Arial"/>
                <a:cs typeface="Arial"/>
              </a:rPr>
              <a:t>َ</a:t>
            </a:r>
            <a:r>
              <a:rPr dirty="0" baseline="3086" sz="2700" spc="-209">
                <a:latin typeface="Arial"/>
                <a:cs typeface="Arial"/>
              </a:rPr>
              <a:t>لٌْ </a:t>
            </a:r>
            <a:r>
              <a:rPr dirty="0" baseline="3086" sz="2700" spc="-315">
                <a:latin typeface="Arial"/>
                <a:cs typeface="Arial"/>
              </a:rPr>
              <a:t>و</a:t>
            </a:r>
            <a:r>
              <a:rPr dirty="0" sz="1800" spc="-210">
                <a:latin typeface="Arial"/>
                <a:cs typeface="Arial"/>
              </a:rPr>
              <a:t>َ   </a:t>
            </a:r>
            <a:r>
              <a:rPr dirty="0" baseline="3086" sz="2700" spc="15">
                <a:latin typeface="Arial"/>
                <a:cs typeface="Arial"/>
              </a:rPr>
              <a:t>اٌ</a:t>
            </a:r>
            <a:r>
              <a:rPr dirty="0" sz="1800" spc="10">
                <a:latin typeface="Arial"/>
                <a:cs typeface="Arial"/>
              </a:rPr>
              <a:t>َ  </a:t>
            </a:r>
            <a:r>
              <a:rPr dirty="0" baseline="3086" sz="2700" spc="-270">
                <a:latin typeface="Arial"/>
                <a:cs typeface="Arial"/>
              </a:rPr>
              <a:t>اورُ  </a:t>
            </a:r>
            <a:r>
              <a:rPr dirty="0" baseline="3086" sz="2700" spc="-1035">
                <a:latin typeface="Arial"/>
                <a:cs typeface="Arial"/>
              </a:rPr>
              <a:t>ف</a:t>
            </a:r>
            <a:r>
              <a:rPr dirty="0" baseline="7716" sz="2700" spc="-1035">
                <a:latin typeface="Arial"/>
                <a:cs typeface="Arial"/>
              </a:rPr>
              <a:t>َ</a:t>
            </a:r>
            <a:r>
              <a:rPr dirty="0" baseline="7716" sz="2700" spc="-127">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494">
                <a:latin typeface="Arial"/>
                <a:cs typeface="Arial"/>
              </a:rPr>
              <a:t>ن</a:t>
            </a:r>
            <a:r>
              <a:rPr dirty="0" sz="1800" spc="-330">
                <a:latin typeface="Arial"/>
                <a:cs typeface="Arial"/>
              </a:rPr>
              <a:t>َ    </a:t>
            </a:r>
            <a:r>
              <a:rPr dirty="0" baseline="3086" sz="2700" spc="-232">
                <a:latin typeface="Arial"/>
                <a:cs typeface="Arial"/>
              </a:rPr>
              <a:t>ٌذ</a:t>
            </a:r>
            <a:r>
              <a:rPr dirty="0" baseline="1543" sz="2700" spc="-232">
                <a:latin typeface="Arial"/>
                <a:cs typeface="Arial"/>
              </a:rPr>
              <a:t>ِ </a:t>
            </a:r>
            <a:r>
              <a:rPr dirty="0" baseline="13888" sz="2700" spc="-209">
                <a:latin typeface="Arial"/>
                <a:cs typeface="Arial"/>
              </a:rPr>
              <a:t>َّ</a:t>
            </a:r>
            <a:r>
              <a:rPr dirty="0" baseline="3086" sz="2700" spc="-209">
                <a:latin typeface="Arial"/>
                <a:cs typeface="Arial"/>
              </a:rPr>
              <a:t>لا </a:t>
            </a:r>
            <a:r>
              <a:rPr dirty="0" baseline="3086" sz="2700" spc="-525">
                <a:latin typeface="Arial"/>
                <a:cs typeface="Arial"/>
              </a:rPr>
              <a:t>رُ     </a:t>
            </a:r>
            <a:r>
              <a:rPr dirty="0" baseline="3086" sz="2700" spc="-892">
                <a:latin typeface="Arial"/>
                <a:cs typeface="Arial"/>
              </a:rPr>
              <a:t>اص</a:t>
            </a:r>
            <a:r>
              <a:rPr dirty="0" sz="1800" spc="-595">
                <a:latin typeface="Arial"/>
                <a:cs typeface="Arial"/>
              </a:rPr>
              <a:t>َ</a:t>
            </a:r>
            <a:r>
              <a:rPr dirty="0" sz="1800" spc="850">
                <a:latin typeface="Arial"/>
                <a:cs typeface="Arial"/>
              </a:rPr>
              <a:t> </a:t>
            </a:r>
            <a:r>
              <a:rPr dirty="0" baseline="3086" sz="2700" spc="-862">
                <a:latin typeface="Arial"/>
                <a:cs typeface="Arial"/>
              </a:rPr>
              <a:t>بْ</a:t>
            </a:r>
            <a:r>
              <a:rPr dirty="0" baseline="3086" sz="2700" spc="-337">
                <a:latin typeface="Arial"/>
                <a:cs typeface="Arial"/>
              </a:rPr>
              <a:t> </a:t>
            </a:r>
            <a:r>
              <a:rPr dirty="0" baseline="16975" sz="2700">
                <a:latin typeface="Arial"/>
                <a:cs typeface="Arial"/>
              </a:rPr>
              <a:t>َ</a:t>
            </a:r>
            <a:r>
              <a:rPr dirty="0" baseline="3086" sz="2700">
                <a:latin typeface="Arial"/>
                <a:cs typeface="Arial"/>
              </a:rPr>
              <a:t>أ </a:t>
            </a:r>
            <a:r>
              <a:rPr dirty="0" baseline="3086" sz="2700" spc="-322">
                <a:latin typeface="Arial"/>
                <a:cs typeface="Arial"/>
              </a:rPr>
              <a:t>ة</a:t>
            </a:r>
            <a:r>
              <a:rPr dirty="0" baseline="15432" sz="2700" spc="-322">
                <a:latin typeface="Arial"/>
                <a:cs typeface="Arial"/>
              </a:rPr>
              <a:t>ٌ  </a:t>
            </a:r>
            <a:r>
              <a:rPr dirty="0" baseline="3086" sz="2700" spc="-1350">
                <a:latin typeface="Arial"/>
                <a:cs typeface="Arial"/>
              </a:rPr>
              <a:t>ص</a:t>
            </a:r>
            <a:r>
              <a:rPr dirty="0" sz="1800" spc="-900">
                <a:latin typeface="Arial"/>
                <a:cs typeface="Arial"/>
              </a:rPr>
              <a:t>َ</a:t>
            </a:r>
            <a:r>
              <a:rPr dirty="0" sz="1800" spc="850">
                <a:latin typeface="Arial"/>
                <a:cs typeface="Arial"/>
              </a:rPr>
              <a:t> </a:t>
            </a:r>
            <a:r>
              <a:rPr dirty="0" baseline="3086" sz="2700" spc="-719">
                <a:latin typeface="Arial"/>
                <a:cs typeface="Arial"/>
              </a:rPr>
              <a:t>خ</a:t>
            </a:r>
            <a:r>
              <a:rPr dirty="0" baseline="1543" sz="2700" spc="-719">
                <a:latin typeface="Arial"/>
                <a:cs typeface="Arial"/>
              </a:rPr>
              <a:t>ِ                                            </a:t>
            </a:r>
            <a:r>
              <a:rPr dirty="0" baseline="3086" sz="2700" spc="-682">
                <a:latin typeface="Arial"/>
                <a:cs typeface="Arial"/>
              </a:rPr>
              <a:t>اش</a:t>
            </a:r>
            <a:r>
              <a:rPr dirty="0" baseline="7716" sz="2700" spc="-682">
                <a:latin typeface="Arial"/>
                <a:cs typeface="Arial"/>
              </a:rPr>
              <a:t>َ                               </a:t>
            </a:r>
            <a:r>
              <a:rPr dirty="0" baseline="3086" sz="2700">
                <a:latin typeface="Arial"/>
                <a:cs typeface="Arial"/>
              </a:rPr>
              <a:t>ً</a:t>
            </a:r>
            <a:r>
              <a:rPr dirty="0" sz="1800">
                <a:latin typeface="Arial"/>
                <a:cs typeface="Arial"/>
              </a:rPr>
              <a:t>َ  </a:t>
            </a:r>
            <a:r>
              <a:rPr dirty="0" baseline="3086" sz="2700" spc="-307">
                <a:latin typeface="Arial"/>
                <a:cs typeface="Arial"/>
              </a:rPr>
              <a:t>ه</a:t>
            </a:r>
            <a:r>
              <a:rPr dirty="0" baseline="1543" sz="2700" spc="-307">
                <a:latin typeface="Arial"/>
                <a:cs typeface="Arial"/>
              </a:rPr>
              <a:t>ِ    </a:t>
            </a:r>
            <a:r>
              <a:rPr dirty="0" baseline="3086" sz="2700" spc="-217">
                <a:latin typeface="Arial"/>
                <a:cs typeface="Arial"/>
              </a:rPr>
              <a:t>اذ</a:t>
            </a:r>
            <a:r>
              <a:rPr dirty="0" baseline="13888" sz="2700" spc="-217">
                <a:latin typeface="Arial"/>
                <a:cs typeface="Arial"/>
              </a:rPr>
              <a:t>َ </a:t>
            </a:r>
            <a:r>
              <a:rPr dirty="0" baseline="-10802" sz="2700" spc="-509">
                <a:latin typeface="Arial"/>
                <a:cs typeface="Arial"/>
              </a:rPr>
              <a:t>ِ</a:t>
            </a:r>
            <a:r>
              <a:rPr dirty="0" baseline="3086" sz="2700" spc="-509">
                <a:latin typeface="Arial"/>
                <a:cs typeface="Arial"/>
              </a:rPr>
              <a:t>إف</a:t>
            </a:r>
            <a:r>
              <a:rPr dirty="0" baseline="7716" sz="2700" spc="-509">
                <a:latin typeface="Arial"/>
                <a:cs typeface="Arial"/>
              </a:rPr>
              <a:t>َ      </a:t>
            </a:r>
            <a:r>
              <a:rPr dirty="0" baseline="3086" sz="2700" spc="-382">
                <a:latin typeface="Arial"/>
                <a:cs typeface="Arial"/>
              </a:rPr>
              <a:t>ق</a:t>
            </a:r>
            <a:r>
              <a:rPr dirty="0" baseline="7716" sz="2700" spc="-382">
                <a:latin typeface="Arial"/>
                <a:cs typeface="Arial"/>
              </a:rPr>
              <a:t>ُّ   </a:t>
            </a:r>
            <a:r>
              <a:rPr dirty="0" baseline="3086" sz="2700" spc="-592">
                <a:latin typeface="Arial"/>
                <a:cs typeface="Arial"/>
              </a:rPr>
              <a:t>ح</a:t>
            </a:r>
            <a:r>
              <a:rPr dirty="0" sz="1800" spc="-39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359">
                <a:latin typeface="Arial"/>
                <a:cs typeface="Arial"/>
              </a:rPr>
              <a:t>د</a:t>
            </a:r>
            <a:r>
              <a:rPr dirty="0" baseline="6172" sz="2700" spc="-359">
                <a:latin typeface="Arial"/>
                <a:cs typeface="Arial"/>
              </a:rPr>
              <a:t>ُ  </a:t>
            </a:r>
            <a:r>
              <a:rPr dirty="0" baseline="3086" sz="2700" spc="-569">
                <a:latin typeface="Arial"/>
                <a:cs typeface="Arial"/>
              </a:rPr>
              <a:t>عْ      </a:t>
            </a:r>
            <a:r>
              <a:rPr dirty="0" baseline="3086" sz="2700" spc="-307">
                <a:latin typeface="Arial"/>
                <a:cs typeface="Arial"/>
              </a:rPr>
              <a:t>و</a:t>
            </a:r>
            <a:r>
              <a:rPr dirty="0" sz="1800" spc="-204">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a:t>
            </a:r>
            <a:r>
              <a:rPr dirty="0" baseline="3086" sz="2700" spc="434">
                <a:latin typeface="Arial"/>
                <a:cs typeface="Arial"/>
              </a:rPr>
              <a:t> </a:t>
            </a:r>
            <a:r>
              <a:rPr dirty="0" baseline="3086" sz="2700" spc="-772">
                <a:latin typeface="Arial"/>
                <a:cs typeface="Arial"/>
              </a:rPr>
              <a:t>ب</a:t>
            </a:r>
            <a:r>
              <a:rPr dirty="0" sz="1800" spc="-515">
                <a:latin typeface="Arial"/>
                <a:cs typeface="Arial"/>
              </a:rPr>
              <a:t>َ</a:t>
            </a:r>
            <a:r>
              <a:rPr dirty="0" sz="1800" spc="525">
                <a:latin typeface="Arial"/>
                <a:cs typeface="Arial"/>
              </a:rPr>
              <a:t> </a:t>
            </a:r>
            <a:r>
              <a:rPr dirty="0" baseline="3086" sz="2700" spc="-494">
                <a:latin typeface="Arial"/>
                <a:cs typeface="Arial"/>
              </a:rPr>
              <a:t>ر</a:t>
            </a:r>
            <a:r>
              <a:rPr dirty="0" sz="1800" spc="-330">
                <a:latin typeface="Arial"/>
                <a:cs typeface="Arial"/>
              </a:rPr>
              <a:t>َ  </a:t>
            </a:r>
            <a:r>
              <a:rPr dirty="0" sz="1800" spc="-160">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spc="-719">
                <a:latin typeface="Arial"/>
                <a:cs typeface="Arial"/>
              </a:rPr>
              <a:t>ق</a:t>
            </a:r>
            <a:r>
              <a:rPr dirty="0" baseline="12345" sz="2700" spc="-719">
                <a:latin typeface="Arial"/>
                <a:cs typeface="Arial"/>
              </a:rPr>
              <a:t>ْ                   </a:t>
            </a:r>
            <a:r>
              <a:rPr dirty="0" baseline="3086" sz="2700" spc="-315">
                <a:latin typeface="Arial"/>
                <a:cs typeface="Arial"/>
              </a:rPr>
              <a:t>او</a:t>
            </a:r>
            <a:endParaRPr baseline="3086" sz="2700">
              <a:latin typeface="Arial"/>
              <a:cs typeface="Arial"/>
            </a:endParaRPr>
          </a:p>
          <a:p>
            <a:pPr algn="r" marR="238760">
              <a:lnSpc>
                <a:spcPts val="2110"/>
              </a:lnSpc>
            </a:pPr>
            <a:r>
              <a:rPr dirty="0" baseline="3086" sz="2700" spc="-494">
                <a:latin typeface="Arial"/>
                <a:cs typeface="Arial"/>
              </a:rPr>
              <a:t>ن</a:t>
            </a:r>
            <a:r>
              <a:rPr dirty="0" sz="1800" spc="-330">
                <a:latin typeface="Arial"/>
                <a:cs typeface="Arial"/>
              </a:rPr>
              <a:t>َ    </a:t>
            </a:r>
            <a:r>
              <a:rPr dirty="0" baseline="3086" sz="2700" spc="-240">
                <a:latin typeface="Arial"/>
                <a:cs typeface="Arial"/>
              </a:rPr>
              <a:t>ٌم</a:t>
            </a:r>
            <a:r>
              <a:rPr dirty="0" baseline="1543" sz="2700" spc="-240">
                <a:latin typeface="Arial"/>
                <a:cs typeface="Arial"/>
              </a:rPr>
              <a:t>ِ  </a:t>
            </a:r>
            <a:r>
              <a:rPr dirty="0" baseline="1543" sz="2700" spc="-419">
                <a:latin typeface="Arial"/>
                <a:cs typeface="Arial"/>
              </a:rPr>
              <a:t>ِ</a:t>
            </a:r>
            <a:r>
              <a:rPr dirty="0" baseline="3086" sz="2700" spc="-419">
                <a:latin typeface="Arial"/>
                <a:cs typeface="Arial"/>
              </a:rPr>
              <a:t>لاظ</a:t>
            </a:r>
            <a:r>
              <a:rPr dirty="0" baseline="13888" sz="2700" spc="-419">
                <a:latin typeface="Arial"/>
                <a:cs typeface="Arial"/>
              </a:rPr>
              <a:t>َ      </a:t>
            </a:r>
            <a:r>
              <a:rPr dirty="0" baseline="3086" sz="2700" spc="-322">
                <a:latin typeface="Arial"/>
                <a:cs typeface="Arial"/>
              </a:rPr>
              <a:t>ان</a:t>
            </a:r>
            <a:r>
              <a:rPr dirty="0" baseline="10802" sz="2700" spc="-322">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922">
                <a:latin typeface="Arial"/>
                <a:cs typeface="Arial"/>
              </a:rPr>
              <a:t> </a:t>
            </a:r>
            <a:r>
              <a:rPr dirty="0" baseline="3086" sz="2700" spc="-577">
                <a:latin typeface="Arial"/>
                <a:cs typeface="Arial"/>
              </a:rPr>
              <a:t>لْ     </a:t>
            </a:r>
            <a:r>
              <a:rPr dirty="0" baseline="3086" sz="2700" spc="-555">
                <a:latin typeface="Arial"/>
                <a:cs typeface="Arial"/>
              </a:rPr>
              <a:t> </a:t>
            </a:r>
            <a:r>
              <a:rPr dirty="0" baseline="3086" sz="2700" spc="-1785">
                <a:latin typeface="Arial"/>
                <a:cs typeface="Arial"/>
              </a:rPr>
              <a:t>ب</a:t>
            </a:r>
            <a:endParaRPr baseline="3086" sz="2700">
              <a:latin typeface="Arial"/>
              <a:cs typeface="Arial"/>
            </a:endParaRPr>
          </a:p>
          <a:p>
            <a:pPr algn="just" marL="177800" marR="198755">
              <a:lnSpc>
                <a:spcPct val="95900"/>
              </a:lnSpc>
              <a:spcBef>
                <a:spcPts val="1295"/>
              </a:spcBef>
              <a:buAutoNum type="arabicPeriod" startAt="97"/>
              <a:tabLst>
                <a:tab pos="436880" algn="l"/>
              </a:tabLst>
            </a:pPr>
            <a:r>
              <a:rPr dirty="0" sz="1200" spc="-5">
                <a:latin typeface="Arial"/>
                <a:cs typeface="Arial"/>
              </a:rPr>
              <a:t>And the True Promise draws nigh; </a:t>
            </a:r>
            <a:r>
              <a:rPr dirty="0" sz="1200">
                <a:latin typeface="Arial"/>
                <a:cs typeface="Arial"/>
              </a:rPr>
              <a:t>then </a:t>
            </a:r>
            <a:r>
              <a:rPr dirty="0" sz="1200" spc="-5">
                <a:latin typeface="Arial"/>
                <a:cs typeface="Arial"/>
              </a:rPr>
              <a:t>behold them, starring wide </a:t>
            </a:r>
            <a:r>
              <a:rPr dirty="0" sz="1200" spc="5">
                <a:latin typeface="Arial"/>
                <a:cs typeface="Arial"/>
              </a:rPr>
              <a:t>(in </a:t>
            </a:r>
            <a:r>
              <a:rPr dirty="0" sz="1200" spc="-5">
                <a:latin typeface="Arial"/>
                <a:cs typeface="Arial"/>
              </a:rPr>
              <a:t>terror), </a:t>
            </a:r>
            <a:r>
              <a:rPr dirty="0" sz="1200">
                <a:latin typeface="Arial"/>
                <a:cs typeface="Arial"/>
              </a:rPr>
              <a:t>the </a:t>
            </a:r>
            <a:r>
              <a:rPr dirty="0" sz="1200" spc="-5">
                <a:latin typeface="Arial"/>
                <a:cs typeface="Arial"/>
              </a:rPr>
              <a:t>eyes of  </a:t>
            </a:r>
            <a:r>
              <a:rPr dirty="0" sz="1200">
                <a:latin typeface="Arial"/>
                <a:cs typeface="Arial"/>
              </a:rPr>
              <a:t>those </a:t>
            </a:r>
            <a:r>
              <a:rPr dirty="0" sz="1200" spc="-10">
                <a:latin typeface="Arial"/>
                <a:cs typeface="Arial"/>
              </a:rPr>
              <a:t>who </a:t>
            </a:r>
            <a:r>
              <a:rPr dirty="0" sz="1200" spc="-5">
                <a:latin typeface="Arial"/>
                <a:cs typeface="Arial"/>
              </a:rPr>
              <a:t>disbelieve! </a:t>
            </a:r>
            <a:r>
              <a:rPr dirty="0" sz="1200">
                <a:latin typeface="Arial"/>
                <a:cs typeface="Arial"/>
              </a:rPr>
              <a:t>(They </a:t>
            </a:r>
            <a:r>
              <a:rPr dirty="0" sz="1200" spc="-5">
                <a:latin typeface="Arial"/>
                <a:cs typeface="Arial"/>
              </a:rPr>
              <a:t>say): Alas </a:t>
            </a:r>
            <a:r>
              <a:rPr dirty="0" sz="1200">
                <a:latin typeface="Arial"/>
                <a:cs typeface="Arial"/>
              </a:rPr>
              <a:t>for us! </a:t>
            </a:r>
            <a:r>
              <a:rPr dirty="0" sz="1200" spc="20">
                <a:latin typeface="Arial"/>
                <a:cs typeface="Arial"/>
              </a:rPr>
              <a:t>We </a:t>
            </a:r>
            <a:r>
              <a:rPr dirty="0" sz="1200" spc="-5">
                <a:latin typeface="Arial"/>
                <a:cs typeface="Arial"/>
              </a:rPr>
              <a:t>(lived) in forgetfulness of </a:t>
            </a:r>
            <a:r>
              <a:rPr dirty="0" sz="1200">
                <a:latin typeface="Arial"/>
                <a:cs typeface="Arial"/>
              </a:rPr>
              <a:t>this. </a:t>
            </a:r>
            <a:r>
              <a:rPr dirty="0" sz="1200" spc="-5">
                <a:latin typeface="Arial"/>
                <a:cs typeface="Arial"/>
              </a:rPr>
              <a:t>Ah, but </a:t>
            </a:r>
            <a:r>
              <a:rPr dirty="0" sz="1200" spc="-10">
                <a:latin typeface="Arial"/>
                <a:cs typeface="Arial"/>
              </a:rPr>
              <a:t>we  </a:t>
            </a:r>
            <a:r>
              <a:rPr dirty="0" sz="1200" spc="-5">
                <a:latin typeface="Arial"/>
                <a:cs typeface="Arial"/>
              </a:rPr>
              <a:t>were wrong</a:t>
            </a:r>
            <a:r>
              <a:rPr dirty="0" sz="1200">
                <a:latin typeface="Arial"/>
                <a:cs typeface="Arial"/>
              </a:rPr>
              <a:t> doers!</a:t>
            </a:r>
            <a:endParaRPr sz="1200">
              <a:latin typeface="Arial"/>
              <a:cs typeface="Arial"/>
            </a:endParaRPr>
          </a:p>
          <a:p>
            <a:pPr>
              <a:lnSpc>
                <a:spcPct val="100000"/>
              </a:lnSpc>
              <a:spcBef>
                <a:spcPts val="55"/>
              </a:spcBef>
            </a:pPr>
            <a:endParaRPr sz="1100">
              <a:latin typeface="Arial"/>
              <a:cs typeface="Arial"/>
            </a:endParaRPr>
          </a:p>
          <a:p>
            <a:pPr marL="177800">
              <a:lnSpc>
                <a:spcPct val="100000"/>
              </a:lnSpc>
            </a:pPr>
            <a:r>
              <a:rPr dirty="0" u="heavy" sz="1200" spc="-5" b="1" i="1">
                <a:uFill>
                  <a:solidFill>
                    <a:srgbClr val="000000"/>
                  </a:solidFill>
                </a:uFill>
                <a:latin typeface="Arial"/>
                <a:cs typeface="Arial"/>
              </a:rPr>
              <a:t>Surah Al Qasas </a:t>
            </a:r>
            <a:r>
              <a:rPr dirty="0" u="heavy" sz="1200" b="1" i="1">
                <a:uFill>
                  <a:solidFill>
                    <a:srgbClr val="000000"/>
                  </a:solidFill>
                </a:uFill>
                <a:latin typeface="Arial"/>
                <a:cs typeface="Arial"/>
              </a:rPr>
              <a:t>(28: </a:t>
            </a:r>
            <a:r>
              <a:rPr dirty="0" u="heavy" sz="1200" spc="-5" b="1" i="1">
                <a:uFill>
                  <a:solidFill>
                    <a:srgbClr val="000000"/>
                  </a:solidFill>
                </a:uFill>
                <a:latin typeface="Arial"/>
                <a:cs typeface="Arial"/>
              </a:rPr>
              <a:t>1 </a:t>
            </a:r>
            <a:r>
              <a:rPr dirty="0" u="heavy" sz="1200" b="1" i="1">
                <a:uFill>
                  <a:solidFill>
                    <a:srgbClr val="000000"/>
                  </a:solidFill>
                </a:uFill>
                <a:latin typeface="Arial"/>
                <a:cs typeface="Arial"/>
              </a:rPr>
              <a:t>–</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44)</a:t>
            </a:r>
            <a:endParaRPr sz="1200">
              <a:latin typeface="Arial"/>
              <a:cs typeface="Arial"/>
            </a:endParaRPr>
          </a:p>
          <a:p>
            <a:pPr>
              <a:lnSpc>
                <a:spcPct val="100000"/>
              </a:lnSpc>
              <a:spcBef>
                <a:spcPts val="25"/>
              </a:spcBef>
            </a:pPr>
            <a:endParaRPr sz="1200">
              <a:latin typeface="Arial"/>
              <a:cs typeface="Arial"/>
            </a:endParaRPr>
          </a:p>
          <a:p>
            <a:pPr algn="just" marL="177800" marR="195580">
              <a:lnSpc>
                <a:spcPts val="1380"/>
              </a:lnSpc>
            </a:pPr>
            <a:r>
              <a:rPr dirty="0" sz="1200">
                <a:latin typeface="Arial"/>
                <a:cs typeface="Arial"/>
              </a:rPr>
              <a:t>This </a:t>
            </a:r>
            <a:r>
              <a:rPr dirty="0" sz="1200" spc="-5">
                <a:latin typeface="Arial"/>
                <a:cs typeface="Arial"/>
              </a:rPr>
              <a:t>surah deals with </a:t>
            </a:r>
            <a:r>
              <a:rPr dirty="0" sz="1200">
                <a:latin typeface="Arial"/>
                <a:cs typeface="Arial"/>
              </a:rPr>
              <a:t>the </a:t>
            </a:r>
            <a:r>
              <a:rPr dirty="0" sz="1200" spc="-5">
                <a:latin typeface="Arial"/>
                <a:cs typeface="Arial"/>
              </a:rPr>
              <a:t>history </a:t>
            </a:r>
            <a:r>
              <a:rPr dirty="0" sz="1200" spc="15">
                <a:latin typeface="Arial"/>
                <a:cs typeface="Arial"/>
              </a:rPr>
              <a:t>of </a:t>
            </a:r>
            <a:r>
              <a:rPr dirty="0" sz="1200" spc="-5">
                <a:latin typeface="Arial"/>
                <a:cs typeface="Arial"/>
              </a:rPr>
              <a:t>Hazrat Musah </a:t>
            </a:r>
            <a:r>
              <a:rPr dirty="0" sz="1200">
                <a:latin typeface="Arial"/>
                <a:cs typeface="Arial"/>
              </a:rPr>
              <a:t>(as) </a:t>
            </a:r>
            <a:r>
              <a:rPr dirty="0" sz="1200" spc="-5">
                <a:latin typeface="Arial"/>
                <a:cs typeface="Arial"/>
              </a:rPr>
              <a:t>and Pharaoh. Musah </a:t>
            </a:r>
            <a:r>
              <a:rPr dirty="0" sz="1200" spc="-10">
                <a:latin typeface="Arial"/>
                <a:cs typeface="Arial"/>
              </a:rPr>
              <a:t>was </a:t>
            </a:r>
            <a:r>
              <a:rPr dirty="0" sz="1200" spc="-5">
                <a:latin typeface="Arial"/>
                <a:cs typeface="Arial"/>
              </a:rPr>
              <a:t>born during  </a:t>
            </a:r>
            <a:r>
              <a:rPr dirty="0" sz="1200">
                <a:latin typeface="Arial"/>
                <a:cs typeface="Arial"/>
              </a:rPr>
              <a:t>a </a:t>
            </a:r>
            <a:r>
              <a:rPr dirty="0" sz="1200" spc="-5">
                <a:latin typeface="Arial"/>
                <a:cs typeface="Arial"/>
              </a:rPr>
              <a:t>period where boys were killed following </a:t>
            </a:r>
            <a:r>
              <a:rPr dirty="0" sz="1200">
                <a:latin typeface="Arial"/>
                <a:cs typeface="Arial"/>
              </a:rPr>
              <a:t>a </a:t>
            </a:r>
            <a:r>
              <a:rPr dirty="0" sz="1200" spc="-5">
                <a:latin typeface="Arial"/>
                <a:cs typeface="Arial"/>
              </a:rPr>
              <a:t>prophecy of Pharaoh‘s soothsayer </a:t>
            </a:r>
            <a:r>
              <a:rPr dirty="0" sz="1200">
                <a:latin typeface="Arial"/>
                <a:cs typeface="Arial"/>
              </a:rPr>
              <a:t>that </a:t>
            </a:r>
            <a:r>
              <a:rPr dirty="0" sz="1200" spc="-5">
                <a:latin typeface="Arial"/>
                <a:cs typeface="Arial"/>
              </a:rPr>
              <a:t>a boy  would dethrone him. </a:t>
            </a:r>
            <a:r>
              <a:rPr dirty="0" sz="1200" spc="-10">
                <a:latin typeface="Arial"/>
                <a:cs typeface="Arial"/>
              </a:rPr>
              <a:t>He was </a:t>
            </a:r>
            <a:r>
              <a:rPr dirty="0" sz="1200">
                <a:latin typeface="Arial"/>
                <a:cs typeface="Arial"/>
              </a:rPr>
              <a:t>kept </a:t>
            </a:r>
            <a:r>
              <a:rPr dirty="0" sz="1200" spc="-5">
                <a:latin typeface="Arial"/>
                <a:cs typeface="Arial"/>
              </a:rPr>
              <a:t>secret till the time </a:t>
            </a:r>
            <a:r>
              <a:rPr dirty="0" sz="1200" spc="-10">
                <a:latin typeface="Arial"/>
                <a:cs typeface="Arial"/>
              </a:rPr>
              <a:t>he was </a:t>
            </a:r>
            <a:r>
              <a:rPr dirty="0" sz="1200" spc="-5">
                <a:latin typeface="Arial"/>
                <a:cs typeface="Arial"/>
              </a:rPr>
              <a:t>let loose through a basket in </a:t>
            </a:r>
            <a:r>
              <a:rPr dirty="0" sz="1200" spc="-10">
                <a:latin typeface="Arial"/>
                <a:cs typeface="Arial"/>
              </a:rPr>
              <a:t>the  </a:t>
            </a:r>
            <a:r>
              <a:rPr dirty="0" sz="1200" spc="-5">
                <a:latin typeface="Arial"/>
                <a:cs typeface="Arial"/>
              </a:rPr>
              <a:t>river leading </a:t>
            </a:r>
            <a:r>
              <a:rPr dirty="0" sz="1200">
                <a:latin typeface="Arial"/>
                <a:cs typeface="Arial"/>
              </a:rPr>
              <a:t>to the </a:t>
            </a:r>
            <a:r>
              <a:rPr dirty="0" sz="1200" spc="-5">
                <a:latin typeface="Arial"/>
                <a:cs typeface="Arial"/>
              </a:rPr>
              <a:t>palace of the king. Pharaoh‘s wife, Aasiyah, took </a:t>
            </a:r>
            <a:r>
              <a:rPr dirty="0" sz="1200" spc="15">
                <a:latin typeface="Arial"/>
                <a:cs typeface="Arial"/>
              </a:rPr>
              <a:t>the </a:t>
            </a:r>
            <a:r>
              <a:rPr dirty="0" sz="1200" spc="-5">
                <a:latin typeface="Arial"/>
                <a:cs typeface="Arial"/>
              </a:rPr>
              <a:t>baby and adopted  </a:t>
            </a:r>
            <a:r>
              <a:rPr dirty="0" sz="1200">
                <a:latin typeface="Arial"/>
                <a:cs typeface="Arial"/>
              </a:rPr>
              <a:t>him. </a:t>
            </a:r>
            <a:r>
              <a:rPr dirty="0" sz="1200" spc="-5">
                <a:latin typeface="Arial"/>
                <a:cs typeface="Arial"/>
              </a:rPr>
              <a:t>Later that same </a:t>
            </a:r>
            <a:r>
              <a:rPr dirty="0" sz="1200" spc="-10">
                <a:latin typeface="Arial"/>
                <a:cs typeface="Arial"/>
              </a:rPr>
              <a:t>kid </a:t>
            </a:r>
            <a:r>
              <a:rPr dirty="0" sz="1200" spc="-5">
                <a:latin typeface="Arial"/>
                <a:cs typeface="Arial"/>
              </a:rPr>
              <a:t>would </a:t>
            </a:r>
            <a:r>
              <a:rPr dirty="0" sz="1200">
                <a:latin typeface="Arial"/>
                <a:cs typeface="Arial"/>
              </a:rPr>
              <a:t>return to </a:t>
            </a:r>
            <a:r>
              <a:rPr dirty="0" sz="1200" spc="-5">
                <a:latin typeface="Arial"/>
                <a:cs typeface="Arial"/>
              </a:rPr>
              <a:t>his homeland </a:t>
            </a:r>
            <a:r>
              <a:rPr dirty="0" sz="1200">
                <a:latin typeface="Arial"/>
                <a:cs typeface="Arial"/>
              </a:rPr>
              <a:t>after </a:t>
            </a:r>
            <a:r>
              <a:rPr dirty="0" sz="1200" spc="-5">
                <a:latin typeface="Arial"/>
                <a:cs typeface="Arial"/>
              </a:rPr>
              <a:t>leaving </a:t>
            </a:r>
            <a:r>
              <a:rPr dirty="0" sz="1200">
                <a:latin typeface="Arial"/>
                <a:cs typeface="Arial"/>
              </a:rPr>
              <a:t>it </a:t>
            </a:r>
            <a:r>
              <a:rPr dirty="0" sz="1200" spc="-5">
                <a:latin typeface="Arial"/>
                <a:cs typeface="Arial"/>
              </a:rPr>
              <a:t>due </a:t>
            </a:r>
            <a:r>
              <a:rPr dirty="0" sz="1200">
                <a:latin typeface="Arial"/>
                <a:cs typeface="Arial"/>
              </a:rPr>
              <a:t>to </a:t>
            </a:r>
            <a:r>
              <a:rPr dirty="0" sz="1200" spc="-5">
                <a:latin typeface="Arial"/>
                <a:cs typeface="Arial"/>
              </a:rPr>
              <a:t>his killing of </a:t>
            </a:r>
            <a:r>
              <a:rPr dirty="0" sz="1200" spc="-10">
                <a:latin typeface="Arial"/>
                <a:cs typeface="Arial"/>
              </a:rPr>
              <a:t>an  </a:t>
            </a:r>
            <a:r>
              <a:rPr dirty="0" sz="1200" spc="-5">
                <a:latin typeface="Arial"/>
                <a:cs typeface="Arial"/>
              </a:rPr>
              <a:t>Egyptian. He would be accompanied by his </a:t>
            </a:r>
            <a:r>
              <a:rPr dirty="0" sz="1200">
                <a:latin typeface="Arial"/>
                <a:cs typeface="Arial"/>
              </a:rPr>
              <a:t>brother, </a:t>
            </a:r>
            <a:r>
              <a:rPr dirty="0" sz="1200" spc="-5">
                <a:latin typeface="Arial"/>
                <a:cs typeface="Arial"/>
              </a:rPr>
              <a:t>Haroun, a prophet as well. They would  spread </a:t>
            </a:r>
            <a:r>
              <a:rPr dirty="0" sz="1200">
                <a:latin typeface="Arial"/>
                <a:cs typeface="Arial"/>
              </a:rPr>
              <a:t>Islam </a:t>
            </a:r>
            <a:r>
              <a:rPr dirty="0" sz="1200" spc="-5">
                <a:latin typeface="Arial"/>
                <a:cs typeface="Arial"/>
              </a:rPr>
              <a:t>and then persecuted till the sea shore </a:t>
            </a:r>
            <a:r>
              <a:rPr dirty="0" sz="1200">
                <a:latin typeface="Arial"/>
                <a:cs typeface="Arial"/>
              </a:rPr>
              <a:t>where </a:t>
            </a:r>
            <a:r>
              <a:rPr dirty="0" sz="1200" spc="-5">
                <a:latin typeface="Arial"/>
                <a:cs typeface="Arial"/>
              </a:rPr>
              <a:t>Pharaoh would be</a:t>
            </a:r>
            <a:r>
              <a:rPr dirty="0" sz="1200" spc="35">
                <a:latin typeface="Arial"/>
                <a:cs typeface="Arial"/>
              </a:rPr>
              <a:t> </a:t>
            </a:r>
            <a:r>
              <a:rPr dirty="0" sz="1200" spc="-5">
                <a:latin typeface="Arial"/>
                <a:cs typeface="Arial"/>
              </a:rPr>
              <a:t>drown.</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68</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82168" y="799592"/>
            <a:ext cx="6586220" cy="8271509"/>
          </a:xfrm>
          <a:prstGeom prst="rect">
            <a:avLst/>
          </a:prstGeom>
        </p:spPr>
        <p:txBody>
          <a:bodyPr wrap="square" lIns="0" tIns="12700" rIns="0" bIns="0" rtlCol="0" vert="horz">
            <a:spAutoFit/>
          </a:bodyPr>
          <a:lstStyle/>
          <a:p>
            <a:pPr marL="149225">
              <a:lnSpc>
                <a:spcPct val="100000"/>
              </a:lnSpc>
              <a:spcBef>
                <a:spcPts val="100"/>
              </a:spcBef>
            </a:pPr>
            <a:r>
              <a:rPr dirty="0" sz="1200" spc="-5">
                <a:latin typeface="Arial"/>
                <a:cs typeface="Arial"/>
              </a:rPr>
              <a:t>Allah says:</a:t>
            </a:r>
            <a:endParaRPr sz="1200">
              <a:latin typeface="Arial"/>
              <a:cs typeface="Arial"/>
            </a:endParaRPr>
          </a:p>
          <a:p>
            <a:pPr>
              <a:lnSpc>
                <a:spcPct val="100000"/>
              </a:lnSpc>
            </a:pPr>
            <a:endParaRPr sz="1200">
              <a:latin typeface="Arial"/>
              <a:cs typeface="Arial"/>
            </a:endParaRPr>
          </a:p>
          <a:p>
            <a:pPr algn="r" marR="188595">
              <a:lnSpc>
                <a:spcPct val="100000"/>
              </a:lnSpc>
            </a:pPr>
            <a:r>
              <a:rPr dirty="0" baseline="3086" sz="2700" spc="-494">
                <a:latin typeface="Arial"/>
                <a:cs typeface="Arial"/>
              </a:rPr>
              <a:t>ن</a:t>
            </a:r>
            <a:r>
              <a:rPr dirty="0" sz="1800" spc="-330">
                <a:latin typeface="Arial"/>
                <a:cs typeface="Arial"/>
              </a:rPr>
              <a:t>َ </a:t>
            </a:r>
            <a:r>
              <a:rPr dirty="0" baseline="3086" sz="2700" spc="-457">
                <a:latin typeface="Arial"/>
                <a:cs typeface="Arial"/>
              </a:rPr>
              <a:t>ون</a:t>
            </a:r>
            <a:r>
              <a:rPr dirty="0" baseline="10802" sz="2700" spc="-457">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30">
                <a:latin typeface="Arial"/>
                <a:cs typeface="Arial"/>
              </a:rPr>
              <a:t>إْ </a:t>
            </a:r>
            <a:r>
              <a:rPr dirty="0" baseline="3086" sz="2700">
                <a:latin typeface="Arial"/>
                <a:cs typeface="Arial"/>
              </a:rPr>
              <a:t>ٌُ </a:t>
            </a:r>
            <a:r>
              <a:rPr dirty="0" baseline="3086" sz="2700" spc="-322">
                <a:latin typeface="Arial"/>
                <a:cs typeface="Arial"/>
              </a:rPr>
              <a:t>م</a:t>
            </a:r>
            <a:r>
              <a:rPr dirty="0" baseline="-12345" sz="2700" spc="-322">
                <a:latin typeface="Arial"/>
                <a:cs typeface="Arial"/>
              </a:rPr>
              <a:t>ٍ </a:t>
            </a:r>
            <a:r>
              <a:rPr dirty="0" baseline="3086" sz="2700" spc="-270">
                <a:latin typeface="Arial"/>
                <a:cs typeface="Arial"/>
              </a:rPr>
              <a:t>وْ </a:t>
            </a:r>
            <a:r>
              <a:rPr dirty="0" baseline="3086" sz="2700" spc="-750">
                <a:latin typeface="Arial"/>
                <a:cs typeface="Arial"/>
              </a:rPr>
              <a:t>ق</a:t>
            </a:r>
            <a:r>
              <a:rPr dirty="0" baseline="7716" sz="2700" spc="-750">
                <a:latin typeface="Arial"/>
                <a:cs typeface="Arial"/>
              </a:rPr>
              <a:t>َ</a:t>
            </a:r>
            <a:r>
              <a:rPr dirty="0" baseline="1543" sz="2700" spc="-405">
                <a:latin typeface="Arial"/>
                <a:cs typeface="Arial"/>
              </a:rPr>
              <a:t>ِ</a:t>
            </a:r>
            <a:r>
              <a:rPr dirty="0" baseline="3086" sz="2700" spc="-405">
                <a:latin typeface="Arial"/>
                <a:cs typeface="Arial"/>
              </a:rPr>
              <a:t>ل </a:t>
            </a:r>
            <a:r>
              <a:rPr dirty="0" baseline="3086" sz="2700" spc="-382">
                <a:latin typeface="Arial"/>
                <a:cs typeface="Arial"/>
              </a:rPr>
              <a:t>ق</a:t>
            </a:r>
            <a:r>
              <a:rPr dirty="0" baseline="9259" sz="2700" spc="-382">
                <a:latin typeface="Arial"/>
                <a:cs typeface="Arial"/>
              </a:rPr>
              <a:t>ِّ </a:t>
            </a:r>
            <a:r>
              <a:rPr dirty="0" baseline="3086" sz="2700" spc="-592">
                <a:latin typeface="Arial"/>
                <a:cs typeface="Arial"/>
              </a:rPr>
              <a:t>ح</a:t>
            </a:r>
            <a:r>
              <a:rPr dirty="0" sz="1800" spc="-39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622">
                <a:latin typeface="Arial"/>
                <a:cs typeface="Arial"/>
              </a:rPr>
              <a:t>اب</a:t>
            </a:r>
            <a:r>
              <a:rPr dirty="0" baseline="-10802" sz="2700" spc="-622">
                <a:latin typeface="Arial"/>
                <a:cs typeface="Arial"/>
              </a:rPr>
              <a:t>ِ </a:t>
            </a:r>
            <a:r>
              <a:rPr dirty="0" baseline="3086" sz="2700" spc="-494">
                <a:latin typeface="Arial"/>
                <a:cs typeface="Arial"/>
              </a:rPr>
              <a:t>ن</a:t>
            </a:r>
            <a:r>
              <a:rPr dirty="0" sz="1800" spc="-330">
                <a:latin typeface="Arial"/>
                <a:cs typeface="Arial"/>
              </a:rPr>
              <a:t>َ </a:t>
            </a:r>
            <a:r>
              <a:rPr dirty="0" baseline="3086" sz="2700" spc="-270">
                <a:latin typeface="Arial"/>
                <a:cs typeface="Arial"/>
              </a:rPr>
              <a:t>وْ </a:t>
            </a:r>
            <a:r>
              <a:rPr dirty="0" baseline="3086" sz="2700" spc="-607">
                <a:latin typeface="Arial"/>
                <a:cs typeface="Arial"/>
              </a:rPr>
              <a:t>ع</a:t>
            </a:r>
            <a:r>
              <a:rPr dirty="0" sz="1800" spc="-405">
                <a:latin typeface="Arial"/>
                <a:cs typeface="Arial"/>
              </a:rPr>
              <a:t>َ </a:t>
            </a:r>
            <a:r>
              <a:rPr dirty="0" baseline="3086" sz="2700" spc="-457">
                <a:latin typeface="Arial"/>
                <a:cs typeface="Arial"/>
              </a:rPr>
              <a:t>رْ </a:t>
            </a:r>
            <a:r>
              <a:rPr dirty="0" baseline="3086" sz="2700" spc="-1057">
                <a:latin typeface="Arial"/>
                <a:cs typeface="Arial"/>
              </a:rPr>
              <a:t>ف</a:t>
            </a:r>
            <a:r>
              <a:rPr dirty="0" baseline="1543" sz="2700" spc="-1057">
                <a:latin typeface="Arial"/>
                <a:cs typeface="Arial"/>
              </a:rPr>
              <a:t>ِ</a:t>
            </a:r>
            <a:r>
              <a:rPr dirty="0" baseline="1543" sz="2700" spc="-52">
                <a:latin typeface="Arial"/>
                <a:cs typeface="Arial"/>
              </a:rPr>
              <a:t> </a:t>
            </a:r>
            <a:r>
              <a:rPr dirty="0" baseline="3086" sz="2700" spc="-307">
                <a:latin typeface="Arial"/>
                <a:cs typeface="Arial"/>
              </a:rPr>
              <a:t>و</a:t>
            </a:r>
            <a:r>
              <a:rPr dirty="0" sz="1800" spc="-204">
                <a:latin typeface="Arial"/>
                <a:cs typeface="Arial"/>
              </a:rPr>
              <a:t>َ </a:t>
            </a:r>
            <a:r>
              <a:rPr dirty="0" baseline="3086" sz="2700" spc="-705">
                <a:latin typeface="Arial"/>
                <a:cs typeface="Arial"/>
              </a:rPr>
              <a:t>ىس</a:t>
            </a:r>
            <a:r>
              <a:rPr dirty="0" sz="1800" spc="-470">
                <a:latin typeface="Arial"/>
                <a:cs typeface="Arial"/>
              </a:rPr>
              <a:t>َ </a:t>
            </a:r>
            <a:r>
              <a:rPr dirty="0" baseline="3086" sz="2700" spc="-270">
                <a:latin typeface="Arial"/>
                <a:cs typeface="Arial"/>
              </a:rPr>
              <a:t>ومُ </a:t>
            </a:r>
            <a:r>
              <a:rPr dirty="0" baseline="-10802" sz="2700" spc="-434">
                <a:latin typeface="Arial"/>
                <a:cs typeface="Arial"/>
              </a:rPr>
              <a:t>ِ</a:t>
            </a:r>
            <a:r>
              <a:rPr dirty="0" baseline="3086" sz="2700" spc="-434">
                <a:latin typeface="Arial"/>
                <a:cs typeface="Arial"/>
              </a:rPr>
              <a:t>إب</a:t>
            </a:r>
            <a:r>
              <a:rPr dirty="0" sz="1800" spc="-290">
                <a:latin typeface="Arial"/>
                <a:cs typeface="Arial"/>
              </a:rPr>
              <a:t>َ </a:t>
            </a:r>
            <a:r>
              <a:rPr dirty="0" baseline="3086" sz="2700" spc="-450">
                <a:latin typeface="Arial"/>
                <a:cs typeface="Arial"/>
              </a:rPr>
              <a:t>ن</a:t>
            </a:r>
            <a:r>
              <a:rPr dirty="0" baseline="10802" sz="2700" spc="-450">
                <a:latin typeface="Arial"/>
                <a:cs typeface="Arial"/>
              </a:rPr>
              <a:t>َّ </a:t>
            </a:r>
            <a:r>
              <a:rPr dirty="0" baseline="3086" sz="2700" spc="-240">
                <a:latin typeface="Arial"/>
                <a:cs typeface="Arial"/>
              </a:rPr>
              <a:t>نم</a:t>
            </a:r>
            <a:r>
              <a:rPr dirty="0" baseline="1543" sz="2700" spc="-240">
                <a:latin typeface="Arial"/>
                <a:cs typeface="Arial"/>
              </a:rPr>
              <a:t>ِ </a:t>
            </a:r>
            <a:r>
              <a:rPr dirty="0" baseline="3086" sz="2700" spc="-682">
                <a:latin typeface="Arial"/>
                <a:cs typeface="Arial"/>
              </a:rPr>
              <a:t>ك</a:t>
            </a:r>
            <a:r>
              <a:rPr dirty="0" sz="1800" spc="-455">
                <a:latin typeface="Arial"/>
                <a:cs typeface="Arial"/>
              </a:rPr>
              <a:t>َ </a:t>
            </a:r>
            <a:r>
              <a:rPr dirty="0" baseline="3086" sz="2700">
                <a:latin typeface="Arial"/>
                <a:cs typeface="Arial"/>
              </a:rPr>
              <a:t>ٌْ </a:t>
            </a:r>
            <a:r>
              <a:rPr dirty="0" baseline="10802" sz="2700" spc="-509">
                <a:latin typeface="Arial"/>
                <a:cs typeface="Arial"/>
              </a:rPr>
              <a:t>َ</a:t>
            </a:r>
            <a:r>
              <a:rPr dirty="0" baseline="3086" sz="2700" spc="-509">
                <a:latin typeface="Arial"/>
                <a:cs typeface="Arial"/>
              </a:rPr>
              <a:t>لع</a:t>
            </a:r>
            <a:r>
              <a:rPr dirty="0" sz="1800" spc="-340">
                <a:latin typeface="Arial"/>
                <a:cs typeface="Arial"/>
              </a:rPr>
              <a:t>َ </a:t>
            </a:r>
            <a:r>
              <a:rPr dirty="0" baseline="3086" sz="2700" spc="-442">
                <a:latin typeface="Arial"/>
                <a:cs typeface="Arial"/>
              </a:rPr>
              <a:t>او</a:t>
            </a:r>
            <a:r>
              <a:rPr dirty="0" baseline="13888" sz="2700" spc="-442">
                <a:latin typeface="Arial"/>
                <a:cs typeface="Arial"/>
              </a:rPr>
              <a:t>ُ</a:t>
            </a:r>
            <a:r>
              <a:rPr dirty="0" baseline="3086" sz="2700" spc="-442">
                <a:latin typeface="Arial"/>
                <a:cs typeface="Arial"/>
              </a:rPr>
              <a:t>لت</a:t>
            </a:r>
            <a:r>
              <a:rPr dirty="0" baseline="12345" sz="2700" spc="-442">
                <a:latin typeface="Arial"/>
                <a:cs typeface="Arial"/>
              </a:rPr>
              <a:t>ْ</a:t>
            </a:r>
            <a:r>
              <a:rPr dirty="0" baseline="12345" sz="2700" spc="-247">
                <a:latin typeface="Arial"/>
                <a:cs typeface="Arial"/>
              </a:rPr>
              <a:t> </a:t>
            </a:r>
            <a:r>
              <a:rPr dirty="0" baseline="3086" sz="2700" spc="-1282">
                <a:latin typeface="Arial"/>
                <a:cs typeface="Arial"/>
              </a:rPr>
              <a:t>ن</a:t>
            </a:r>
            <a:endParaRPr baseline="3086" sz="2700">
              <a:latin typeface="Arial"/>
              <a:cs typeface="Arial"/>
            </a:endParaRPr>
          </a:p>
          <a:p>
            <a:pPr algn="just" marL="149225" marR="150495">
              <a:lnSpc>
                <a:spcPts val="1380"/>
              </a:lnSpc>
              <a:spcBef>
                <a:spcPts val="1320"/>
              </a:spcBef>
              <a:buAutoNum type="arabicPeriod" startAt="3"/>
              <a:tabLst>
                <a:tab pos="334010" algn="l"/>
              </a:tabLst>
            </a:pPr>
            <a:r>
              <a:rPr dirty="0" sz="1200" spc="15">
                <a:latin typeface="Arial"/>
                <a:cs typeface="Arial"/>
              </a:rPr>
              <a:t>We </a:t>
            </a:r>
            <a:r>
              <a:rPr dirty="0" sz="1200" spc="-5">
                <a:latin typeface="Arial"/>
                <a:cs typeface="Arial"/>
              </a:rPr>
              <a:t>narrate unto thee (somewhat) of </a:t>
            </a:r>
            <a:r>
              <a:rPr dirty="0" sz="1200">
                <a:latin typeface="Arial"/>
                <a:cs typeface="Arial"/>
              </a:rPr>
              <a:t>the story of </a:t>
            </a:r>
            <a:r>
              <a:rPr dirty="0" sz="1200" spc="-5">
                <a:latin typeface="Arial"/>
                <a:cs typeface="Arial"/>
              </a:rPr>
              <a:t>Moses and Pharaoh with </a:t>
            </a:r>
            <a:r>
              <a:rPr dirty="0" sz="1200">
                <a:latin typeface="Arial"/>
                <a:cs typeface="Arial"/>
              </a:rPr>
              <a:t>truth, for folk  </a:t>
            </a:r>
            <a:r>
              <a:rPr dirty="0" sz="1200" spc="-10">
                <a:latin typeface="Arial"/>
                <a:cs typeface="Arial"/>
              </a:rPr>
              <a:t>who</a:t>
            </a:r>
            <a:r>
              <a:rPr dirty="0" sz="1200" spc="-5">
                <a:latin typeface="Arial"/>
                <a:cs typeface="Arial"/>
              </a:rPr>
              <a:t> believe.</a:t>
            </a:r>
            <a:endParaRPr sz="1200">
              <a:latin typeface="Arial"/>
              <a:cs typeface="Arial"/>
            </a:endParaRPr>
          </a:p>
          <a:p>
            <a:pPr>
              <a:lnSpc>
                <a:spcPct val="100000"/>
              </a:lnSpc>
              <a:spcBef>
                <a:spcPts val="20"/>
              </a:spcBef>
              <a:buFont typeface="Arial"/>
              <a:buAutoNum type="arabicPeriod" startAt="3"/>
            </a:pPr>
            <a:endParaRPr sz="1100">
              <a:latin typeface="Arial"/>
              <a:cs typeface="Arial"/>
            </a:endParaRPr>
          </a:p>
          <a:p>
            <a:pPr algn="r" marR="144780">
              <a:lnSpc>
                <a:spcPts val="2120"/>
              </a:lnSpc>
            </a:pPr>
            <a:r>
              <a:rPr dirty="0" baseline="1543" sz="2700" spc="-352">
                <a:latin typeface="Arial"/>
                <a:cs typeface="Arial"/>
              </a:rPr>
              <a:t>م</a:t>
            </a:r>
            <a:r>
              <a:rPr dirty="0" baseline="-3086" sz="2700" spc="-352">
                <a:latin typeface="Arial"/>
                <a:cs typeface="Arial"/>
              </a:rPr>
              <a:t>ْ </a:t>
            </a:r>
            <a:r>
              <a:rPr dirty="0" baseline="1543" sz="2700" spc="-315">
                <a:latin typeface="Arial"/>
                <a:cs typeface="Arial"/>
              </a:rPr>
              <a:t>هُ ءان</a:t>
            </a:r>
            <a:r>
              <a:rPr dirty="0" baseline="6172" sz="2700" spc="-315">
                <a:latin typeface="Arial"/>
                <a:cs typeface="Arial"/>
              </a:rPr>
              <a:t>َ </a:t>
            </a:r>
            <a:r>
              <a:rPr dirty="0" baseline="1543" sz="2700" spc="-862">
                <a:latin typeface="Arial"/>
                <a:cs typeface="Arial"/>
              </a:rPr>
              <a:t>بْ</a:t>
            </a:r>
            <a:r>
              <a:rPr dirty="0" baseline="1543" sz="2700" spc="-337">
                <a:latin typeface="Arial"/>
                <a:cs typeface="Arial"/>
              </a:rPr>
              <a:t> </a:t>
            </a:r>
            <a:r>
              <a:rPr dirty="0" baseline="15432" sz="2700">
                <a:latin typeface="Arial"/>
                <a:cs typeface="Arial"/>
              </a:rPr>
              <a:t>َ</a:t>
            </a:r>
            <a:r>
              <a:rPr dirty="0" baseline="1543" sz="2700">
                <a:latin typeface="Arial"/>
                <a:cs typeface="Arial"/>
              </a:rPr>
              <a:t>أ </a:t>
            </a:r>
            <a:r>
              <a:rPr dirty="0" baseline="1543" sz="2700" spc="-675">
                <a:latin typeface="Arial"/>
                <a:cs typeface="Arial"/>
              </a:rPr>
              <a:t>حُ </a:t>
            </a:r>
            <a:r>
              <a:rPr dirty="0" baseline="1543" sz="2700" spc="-607">
                <a:latin typeface="Arial"/>
                <a:cs typeface="Arial"/>
              </a:rPr>
              <a:t>بِّ </a:t>
            </a:r>
            <a:r>
              <a:rPr dirty="0" baseline="1543" sz="2700" spc="-322">
                <a:latin typeface="Arial"/>
                <a:cs typeface="Arial"/>
              </a:rPr>
              <a:t>ذ</a:t>
            </a:r>
            <a:r>
              <a:rPr dirty="0" baseline="10802" sz="2700" spc="-322">
                <a:latin typeface="Arial"/>
                <a:cs typeface="Arial"/>
              </a:rPr>
              <a:t>َ </a:t>
            </a:r>
            <a:r>
              <a:rPr dirty="0" baseline="1543" sz="270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1543" sz="2700" spc="-607">
                <a:latin typeface="Arial"/>
                <a:cs typeface="Arial"/>
              </a:rPr>
              <a:t>ن</a:t>
            </a:r>
            <a:r>
              <a:rPr dirty="0" baseline="9259" sz="2700" spc="-607">
                <a:latin typeface="Arial"/>
                <a:cs typeface="Arial"/>
              </a:rPr>
              <a:t>ْ </a:t>
            </a:r>
            <a:r>
              <a:rPr dirty="0" baseline="1543" sz="2700" spc="-254">
                <a:latin typeface="Arial"/>
                <a:cs typeface="Arial"/>
              </a:rPr>
              <a:t>مِّ  </a:t>
            </a:r>
            <a:r>
              <a:rPr dirty="0" baseline="1543" sz="2700" spc="-284">
                <a:latin typeface="Arial"/>
                <a:cs typeface="Arial"/>
              </a:rPr>
              <a:t>ة</a:t>
            </a:r>
            <a:r>
              <a:rPr dirty="0" baseline="12345" sz="2700" spc="-284">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127">
                <a:latin typeface="Arial"/>
                <a:cs typeface="Arial"/>
              </a:rPr>
              <a:t> </a:t>
            </a:r>
            <a:r>
              <a:rPr dirty="0" baseline="1543" sz="2700" spc="-855">
                <a:latin typeface="Arial"/>
                <a:cs typeface="Arial"/>
              </a:rPr>
              <a:t>ئ</a:t>
            </a:r>
            <a:r>
              <a:rPr dirty="0" sz="1800" spc="-570">
                <a:latin typeface="Arial"/>
                <a:cs typeface="Arial"/>
              </a:rPr>
              <a:t>ِ</a:t>
            </a:r>
            <a:r>
              <a:rPr dirty="0" sz="1800" spc="-65">
                <a:latin typeface="Arial"/>
                <a:cs typeface="Arial"/>
              </a:rPr>
              <a:t> </a:t>
            </a:r>
            <a:r>
              <a:rPr dirty="0" baseline="1543" sz="2700" spc="-419">
                <a:latin typeface="Arial"/>
                <a:cs typeface="Arial"/>
              </a:rPr>
              <a:t>اط</a:t>
            </a:r>
            <a:r>
              <a:rPr dirty="0" baseline="10802" sz="2700" spc="-419">
                <a:latin typeface="Arial"/>
                <a:cs typeface="Arial"/>
              </a:rPr>
              <a:t>َ </a:t>
            </a:r>
            <a:r>
              <a:rPr dirty="0" baseline="1543" sz="2700" spc="-667">
                <a:latin typeface="Arial"/>
                <a:cs typeface="Arial"/>
              </a:rPr>
              <a:t>ؾُ </a:t>
            </a:r>
            <a:r>
              <a:rPr dirty="0" baseline="1543" sz="2700" spc="-622">
                <a:latin typeface="Arial"/>
                <a:cs typeface="Arial"/>
              </a:rPr>
              <a:t>ع</a:t>
            </a:r>
            <a:r>
              <a:rPr dirty="0" sz="1800" spc="-415">
                <a:latin typeface="Arial"/>
                <a:cs typeface="Arial"/>
              </a:rPr>
              <a:t>ِ </a:t>
            </a:r>
            <a:r>
              <a:rPr dirty="0" baseline="1543" sz="2700" spc="-1320">
                <a:latin typeface="Arial"/>
                <a:cs typeface="Arial"/>
              </a:rPr>
              <a:t>ضْ</a:t>
            </a:r>
            <a:r>
              <a:rPr dirty="0" baseline="1543" sz="2700" spc="1200">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17">
                <a:latin typeface="Arial"/>
                <a:cs typeface="Arial"/>
              </a:rPr>
              <a:t> </a:t>
            </a:r>
            <a:r>
              <a:rPr dirty="0" baseline="1543" sz="2700" spc="-944">
                <a:latin typeface="Arial"/>
                <a:cs typeface="Arial"/>
              </a:rPr>
              <a:t>سْ</a:t>
            </a:r>
            <a:r>
              <a:rPr dirty="0" baseline="1543" sz="2700" spc="345">
                <a:latin typeface="Arial"/>
                <a:cs typeface="Arial"/>
              </a:rPr>
              <a:t> </a:t>
            </a:r>
            <a:r>
              <a:rPr dirty="0" baseline="1543" sz="2700">
                <a:latin typeface="Arial"/>
                <a:cs typeface="Arial"/>
              </a:rPr>
              <a:t>ٌ</a:t>
            </a:r>
            <a:r>
              <a:rPr dirty="0" baseline="-1543" sz="2700">
                <a:latin typeface="Arial"/>
                <a:cs typeface="Arial"/>
              </a:rPr>
              <a:t>َ </a:t>
            </a:r>
            <a:r>
              <a:rPr dirty="0" baseline="1543" sz="2700" spc="-390">
                <a:latin typeface="Arial"/>
                <a:cs typeface="Arial"/>
              </a:rPr>
              <a:t>اعً </a:t>
            </a:r>
            <a:r>
              <a:rPr dirty="0" baseline="1543" sz="2700">
                <a:latin typeface="Arial"/>
                <a:cs typeface="Arial"/>
              </a:rPr>
              <a:t>ٌ</a:t>
            </a:r>
            <a:r>
              <a:rPr dirty="0" baseline="-1543" sz="2700">
                <a:latin typeface="Arial"/>
                <a:cs typeface="Arial"/>
              </a:rPr>
              <a:t>َ </a:t>
            </a:r>
            <a:r>
              <a:rPr dirty="0" baseline="1543" sz="2700" spc="-937">
                <a:latin typeface="Arial"/>
                <a:cs typeface="Arial"/>
              </a:rPr>
              <a:t>ش</a:t>
            </a:r>
            <a:r>
              <a:rPr dirty="0" sz="1800" spc="-625">
                <a:latin typeface="Arial"/>
                <a:cs typeface="Arial"/>
              </a:rPr>
              <a:t>ِ</a:t>
            </a:r>
            <a:r>
              <a:rPr dirty="0" sz="1800" spc="730">
                <a:latin typeface="Arial"/>
                <a:cs typeface="Arial"/>
              </a:rPr>
              <a:t> </a:t>
            </a:r>
            <a:r>
              <a:rPr dirty="0" baseline="1543" sz="2700" spc="-202">
                <a:latin typeface="Arial"/>
                <a:cs typeface="Arial"/>
              </a:rPr>
              <a:t>اه</a:t>
            </a:r>
            <a:r>
              <a:rPr dirty="0" baseline="-1543" sz="2700" spc="-202">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232">
                <a:latin typeface="Arial"/>
                <a:cs typeface="Arial"/>
              </a:rPr>
              <a:t>هْ </a:t>
            </a:r>
            <a:r>
              <a:rPr dirty="0" baseline="15432" sz="2700">
                <a:latin typeface="Arial"/>
                <a:cs typeface="Arial"/>
              </a:rPr>
              <a:t>َ</a:t>
            </a:r>
            <a:r>
              <a:rPr dirty="0" baseline="1543" sz="2700">
                <a:latin typeface="Arial"/>
                <a:cs typeface="Arial"/>
              </a:rPr>
              <a:t>أ </a:t>
            </a:r>
            <a:r>
              <a:rPr dirty="0" baseline="1543" sz="2700" spc="-615">
                <a:latin typeface="Arial"/>
                <a:cs typeface="Arial"/>
              </a:rPr>
              <a:t>ل</a:t>
            </a:r>
            <a:r>
              <a:rPr dirty="0" baseline="-1543" sz="2700" spc="-615">
                <a:latin typeface="Arial"/>
                <a:cs typeface="Arial"/>
              </a:rPr>
              <a:t>َ </a:t>
            </a:r>
            <a:r>
              <a:rPr dirty="0" baseline="1543" sz="2700" spc="-600">
                <a:latin typeface="Arial"/>
                <a:cs typeface="Arial"/>
              </a:rPr>
              <a:t>ع</a:t>
            </a:r>
            <a:r>
              <a:rPr dirty="0" baseline="-1543" sz="2700" spc="-600">
                <a:latin typeface="Arial"/>
                <a:cs typeface="Arial"/>
              </a:rPr>
              <a:t>َ </a:t>
            </a:r>
            <a:r>
              <a:rPr dirty="0" baseline="1543" sz="2700" spc="-592">
                <a:latin typeface="Arial"/>
                <a:cs typeface="Arial"/>
              </a:rPr>
              <a:t>ج</a:t>
            </a:r>
            <a:r>
              <a:rPr dirty="0" baseline="-1543" sz="2700" spc="-592">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787">
                <a:latin typeface="Arial"/>
                <a:cs typeface="Arial"/>
              </a:rPr>
              <a:t>ض</a:t>
            </a:r>
            <a:r>
              <a:rPr dirty="0" baseline="-3086" sz="2700" spc="-787">
                <a:latin typeface="Arial"/>
                <a:cs typeface="Arial"/>
              </a:rPr>
              <a:t>ِ</a:t>
            </a:r>
            <a:r>
              <a:rPr dirty="0" baseline="-3086" sz="2700" spc="817">
                <a:latin typeface="Arial"/>
                <a:cs typeface="Arial"/>
              </a:rPr>
              <a:t> </a:t>
            </a:r>
            <a:r>
              <a:rPr dirty="0" baseline="1543" sz="2700" spc="-457">
                <a:latin typeface="Arial"/>
                <a:cs typeface="Arial"/>
              </a:rPr>
              <a:t>رْ </a:t>
            </a:r>
            <a:r>
              <a:rPr dirty="0" baseline="15432" sz="2700" spc="-367">
                <a:latin typeface="Arial"/>
                <a:cs typeface="Arial"/>
              </a:rPr>
              <a:t>َ</a:t>
            </a:r>
            <a:r>
              <a:rPr dirty="0" baseline="1543" sz="2700" spc="-367">
                <a:latin typeface="Arial"/>
                <a:cs typeface="Arial"/>
              </a:rPr>
              <a:t>لأ</a:t>
            </a:r>
            <a:r>
              <a:rPr dirty="0" baseline="12345" sz="2700" spc="-367">
                <a:latin typeface="Arial"/>
                <a:cs typeface="Arial"/>
              </a:rPr>
              <a:t>ْ </a:t>
            </a:r>
            <a:r>
              <a:rPr dirty="0" baseline="1543" sz="2700">
                <a:latin typeface="Arial"/>
                <a:cs typeface="Arial"/>
              </a:rPr>
              <a:t>ا </a:t>
            </a:r>
            <a:r>
              <a:rPr dirty="0" baseline="1543" sz="2700" spc="-705">
                <a:latin typeface="Arial"/>
                <a:cs typeface="Arial"/>
              </a:rPr>
              <a:t>ًف</a:t>
            </a:r>
            <a:r>
              <a:rPr dirty="0" sz="1800" spc="-470">
                <a:latin typeface="Arial"/>
                <a:cs typeface="Arial"/>
              </a:rPr>
              <a:t>ِ </a:t>
            </a:r>
            <a:r>
              <a:rPr dirty="0" baseline="1543" sz="2700" spc="-517">
                <a:latin typeface="Arial"/>
                <a:cs typeface="Arial"/>
              </a:rPr>
              <a:t>لا</a:t>
            </a:r>
            <a:r>
              <a:rPr dirty="0" baseline="9259" sz="2700" spc="-517">
                <a:latin typeface="Arial"/>
                <a:cs typeface="Arial"/>
              </a:rPr>
              <a:t>َ </a:t>
            </a:r>
            <a:r>
              <a:rPr dirty="0" baseline="1543" sz="2700" spc="-607">
                <a:latin typeface="Arial"/>
                <a:cs typeface="Arial"/>
              </a:rPr>
              <a:t>ع</a:t>
            </a:r>
            <a:r>
              <a:rPr dirty="0" baseline="-1543" sz="2700" spc="-607">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70">
                <a:latin typeface="Arial"/>
                <a:cs typeface="Arial"/>
              </a:rPr>
              <a:t>وْ </a:t>
            </a:r>
            <a:r>
              <a:rPr dirty="0" baseline="1543" sz="2700" spc="-607">
                <a:latin typeface="Arial"/>
                <a:cs typeface="Arial"/>
              </a:rPr>
              <a:t>ع</a:t>
            </a:r>
            <a:r>
              <a:rPr dirty="0" baseline="-1543" sz="2700" spc="-607">
                <a:latin typeface="Arial"/>
                <a:cs typeface="Arial"/>
              </a:rPr>
              <a:t>َ </a:t>
            </a:r>
            <a:r>
              <a:rPr dirty="0" baseline="1543" sz="2700" spc="-457">
                <a:latin typeface="Arial"/>
                <a:cs typeface="Arial"/>
              </a:rPr>
              <a:t>رْ </a:t>
            </a:r>
            <a:r>
              <a:rPr dirty="0" baseline="1543" sz="2700" spc="-1057">
                <a:latin typeface="Arial"/>
                <a:cs typeface="Arial"/>
              </a:rPr>
              <a:t>ف</a:t>
            </a:r>
            <a:r>
              <a:rPr dirty="0" sz="1800" spc="-705">
                <a:latin typeface="Arial"/>
                <a:cs typeface="Arial"/>
              </a:rPr>
              <a:t>ِ</a:t>
            </a:r>
            <a:r>
              <a:rPr dirty="0" sz="1800" spc="475">
                <a:latin typeface="Arial"/>
                <a:cs typeface="Arial"/>
              </a:rPr>
              <a:t> </a:t>
            </a:r>
            <a:r>
              <a:rPr dirty="0" baseline="1543" sz="2700" spc="-345">
                <a:latin typeface="Arial"/>
                <a:cs typeface="Arial"/>
              </a:rPr>
              <a:t>ن</a:t>
            </a:r>
            <a:r>
              <a:rPr dirty="0" sz="1800" spc="-229">
                <a:latin typeface="Arial"/>
                <a:cs typeface="Arial"/>
              </a:rPr>
              <a:t>َّ</a:t>
            </a:r>
            <a:r>
              <a:rPr dirty="0" sz="1800" spc="-225">
                <a:latin typeface="Arial"/>
                <a:cs typeface="Arial"/>
              </a:rPr>
              <a:t> </a:t>
            </a:r>
            <a:r>
              <a:rPr dirty="0" baseline="-12345" sz="2700">
                <a:latin typeface="Arial"/>
                <a:cs typeface="Arial"/>
              </a:rPr>
              <a:t>ِ</a:t>
            </a:r>
            <a:r>
              <a:rPr dirty="0" baseline="1543" sz="2700">
                <a:latin typeface="Arial"/>
                <a:cs typeface="Arial"/>
              </a:rPr>
              <a:t>إ</a:t>
            </a:r>
            <a:endParaRPr baseline="1543" sz="2700">
              <a:latin typeface="Arial"/>
              <a:cs typeface="Arial"/>
            </a:endParaRPr>
          </a:p>
          <a:p>
            <a:pPr algn="r" marR="196215">
              <a:lnSpc>
                <a:spcPts val="2120"/>
              </a:lnSpc>
            </a:pPr>
            <a:r>
              <a:rPr dirty="0" baseline="1543" sz="2700" spc="-494">
                <a:latin typeface="Arial"/>
                <a:cs typeface="Arial"/>
              </a:rPr>
              <a:t>ن</a:t>
            </a:r>
            <a:r>
              <a:rPr dirty="0" baseline="-1543" sz="2700" spc="-494">
                <a:latin typeface="Arial"/>
                <a:cs typeface="Arial"/>
              </a:rPr>
              <a:t>َ </a:t>
            </a:r>
            <a:r>
              <a:rPr dirty="0" baseline="1543" sz="2700" spc="-232">
                <a:latin typeface="Arial"/>
                <a:cs typeface="Arial"/>
              </a:rPr>
              <a:t>ٌد</a:t>
            </a:r>
            <a:r>
              <a:rPr dirty="0" sz="1800" spc="-155">
                <a:latin typeface="Arial"/>
                <a:cs typeface="Arial"/>
              </a:rPr>
              <a:t>ِ </a:t>
            </a:r>
            <a:r>
              <a:rPr dirty="0" baseline="1543" sz="2700" spc="-937">
                <a:latin typeface="Arial"/>
                <a:cs typeface="Arial"/>
              </a:rPr>
              <a:t>س</a:t>
            </a:r>
            <a:r>
              <a:rPr dirty="0" sz="1800" spc="-625">
                <a:latin typeface="Arial"/>
                <a:cs typeface="Arial"/>
              </a:rPr>
              <a:t>ِ</a:t>
            </a:r>
            <a:r>
              <a:rPr dirty="0" sz="1800" spc="210">
                <a:latin typeface="Arial"/>
                <a:cs typeface="Arial"/>
              </a:rPr>
              <a:t> </a:t>
            </a:r>
            <a:r>
              <a:rPr dirty="0" baseline="1543" sz="2700" spc="-997">
                <a:latin typeface="Arial"/>
                <a:cs typeface="Arial"/>
              </a:rPr>
              <a:t>ف</a:t>
            </a:r>
            <a:r>
              <a:rPr dirty="0" baseline="9259" sz="2700" spc="-997">
                <a:latin typeface="Arial"/>
                <a:cs typeface="Arial"/>
              </a:rPr>
              <a:t>ْ</a:t>
            </a:r>
            <a:r>
              <a:rPr dirty="0" baseline="9259" sz="2700" spc="-195">
                <a:latin typeface="Arial"/>
                <a:cs typeface="Arial"/>
              </a:rPr>
              <a:t> </a:t>
            </a:r>
            <a:r>
              <a:rPr dirty="0" baseline="1543" sz="2700" spc="-397">
                <a:latin typeface="Arial"/>
                <a:cs typeface="Arial"/>
              </a:rPr>
              <a:t>مُ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ا </a:t>
            </a:r>
            <a:r>
              <a:rPr dirty="0" baseline="1543" sz="2700" spc="-494">
                <a:latin typeface="Arial"/>
                <a:cs typeface="Arial"/>
              </a:rPr>
              <a:t>ن</a:t>
            </a:r>
            <a:r>
              <a:rPr dirty="0" baseline="-1543" sz="2700" spc="-494">
                <a:latin typeface="Arial"/>
                <a:cs typeface="Arial"/>
              </a:rPr>
              <a:t>َ </a:t>
            </a:r>
            <a:r>
              <a:rPr dirty="0" baseline="1543" sz="2700" spc="-352">
                <a:latin typeface="Arial"/>
                <a:cs typeface="Arial"/>
              </a:rPr>
              <a:t>م</a:t>
            </a:r>
            <a:r>
              <a:rPr dirty="0" sz="1800" spc="-235">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465">
                <a:latin typeface="Arial"/>
                <a:cs typeface="Arial"/>
              </a:rPr>
              <a:t>اك</a:t>
            </a:r>
            <a:r>
              <a:rPr dirty="0" baseline="6172" sz="2700" spc="-465">
                <a:latin typeface="Arial"/>
                <a:cs typeface="Arial"/>
              </a:rPr>
              <a:t>َ  </a:t>
            </a:r>
            <a:r>
              <a:rPr dirty="0" baseline="1543" sz="2700" spc="-322">
                <a:latin typeface="Arial"/>
                <a:cs typeface="Arial"/>
              </a:rPr>
              <a:t>هُ </a:t>
            </a:r>
            <a:r>
              <a:rPr dirty="0" baseline="1543" sz="2700" spc="-442">
                <a:latin typeface="Arial"/>
                <a:cs typeface="Arial"/>
              </a:rPr>
              <a:t>ن</a:t>
            </a:r>
            <a:r>
              <a:rPr dirty="0" baseline="9259" sz="2700" spc="-442">
                <a:latin typeface="Arial"/>
                <a:cs typeface="Arial"/>
              </a:rPr>
              <a:t>َّ </a:t>
            </a:r>
            <a:r>
              <a:rPr dirty="0" baseline="-12345" sz="2700">
                <a:latin typeface="Arial"/>
                <a:cs typeface="Arial"/>
              </a:rPr>
              <a:t>ِ</a:t>
            </a:r>
            <a:r>
              <a:rPr dirty="0" baseline="1543" sz="2700">
                <a:latin typeface="Arial"/>
                <a:cs typeface="Arial"/>
              </a:rPr>
              <a:t>إ </a:t>
            </a:r>
            <a:r>
              <a:rPr dirty="0" baseline="1543" sz="2700" spc="-352">
                <a:latin typeface="Arial"/>
                <a:cs typeface="Arial"/>
              </a:rPr>
              <a:t>م</a:t>
            </a:r>
            <a:r>
              <a:rPr dirty="0" baseline="-3086" sz="2700" spc="-352">
                <a:latin typeface="Arial"/>
                <a:cs typeface="Arial"/>
              </a:rPr>
              <a:t>ْ </a:t>
            </a:r>
            <a:r>
              <a:rPr dirty="0" baseline="1543" sz="2700" spc="-315">
                <a:latin typeface="Arial"/>
                <a:cs typeface="Arial"/>
              </a:rPr>
              <a:t>هُ </a:t>
            </a:r>
            <a:r>
              <a:rPr dirty="0" baseline="1543" sz="2700" spc="-480">
                <a:latin typeface="Arial"/>
                <a:cs typeface="Arial"/>
              </a:rPr>
              <a:t>ءاس</a:t>
            </a:r>
            <a:r>
              <a:rPr dirty="0" baseline="-1543" sz="2700" spc="-480">
                <a:latin typeface="Arial"/>
                <a:cs typeface="Arial"/>
              </a:rPr>
              <a:t>َ </a:t>
            </a:r>
            <a:r>
              <a:rPr dirty="0" baseline="1543" sz="2700" spc="-705">
                <a:latin typeface="Arial"/>
                <a:cs typeface="Arial"/>
              </a:rPr>
              <a:t>ن</a:t>
            </a:r>
            <a:r>
              <a:rPr dirty="0" sz="1800" spc="-470">
                <a:latin typeface="Arial"/>
                <a:cs typeface="Arial"/>
              </a:rPr>
              <a:t>ِ  </a:t>
            </a:r>
            <a:r>
              <a:rPr dirty="0" baseline="1543" sz="2700">
                <a:latin typeface="Arial"/>
                <a:cs typeface="Arial"/>
              </a:rPr>
              <a:t>ًٌ</a:t>
            </a:r>
            <a:r>
              <a:rPr dirty="0" baseline="-12345" sz="2700">
                <a:latin typeface="Arial"/>
                <a:cs typeface="Arial"/>
              </a:rPr>
              <a:t>ِ </a:t>
            </a:r>
            <a:r>
              <a:rPr dirty="0" baseline="1543" sz="2700" spc="-555">
                <a:latin typeface="Arial"/>
                <a:cs typeface="Arial"/>
              </a:rPr>
              <a:t>حْ </a:t>
            </a:r>
            <a:r>
              <a:rPr dirty="0" baseline="1543" sz="2700" spc="-892">
                <a:latin typeface="Arial"/>
                <a:cs typeface="Arial"/>
              </a:rPr>
              <a:t>ت</a:t>
            </a:r>
            <a:r>
              <a:rPr dirty="0" baseline="6172" sz="2700" spc="-892">
                <a:latin typeface="Arial"/>
                <a:cs typeface="Arial"/>
              </a:rPr>
              <a:t>َ</a:t>
            </a:r>
            <a:r>
              <a:rPr dirty="0" baseline="6172" sz="2700" spc="-232">
                <a:latin typeface="Arial"/>
                <a:cs typeface="Arial"/>
              </a:rPr>
              <a:t> </a:t>
            </a:r>
            <a:r>
              <a:rPr dirty="0" baseline="1543" sz="2700" spc="-944">
                <a:latin typeface="Arial"/>
                <a:cs typeface="Arial"/>
              </a:rPr>
              <a:t>سْ</a:t>
            </a:r>
            <a:r>
              <a:rPr dirty="0" baseline="1543" sz="2700" spc="345">
                <a:latin typeface="Arial"/>
                <a:cs typeface="Arial"/>
              </a:rPr>
              <a:t> </a:t>
            </a:r>
            <a:r>
              <a:rPr dirty="0" baseline="1543" sz="2700">
                <a:latin typeface="Arial"/>
                <a:cs typeface="Arial"/>
              </a:rPr>
              <a:t>ٌ</a:t>
            </a:r>
            <a:r>
              <a:rPr dirty="0" baseline="-1543" sz="2700">
                <a:latin typeface="Arial"/>
                <a:cs typeface="Arial"/>
              </a:rPr>
              <a:t>َ</a:t>
            </a:r>
            <a:r>
              <a:rPr dirty="0" baseline="-1543" sz="2700" spc="-419">
                <a:latin typeface="Arial"/>
                <a:cs typeface="Arial"/>
              </a:rPr>
              <a:t> </a:t>
            </a:r>
            <a:r>
              <a:rPr dirty="0" baseline="1543" sz="2700" spc="-615">
                <a:latin typeface="Arial"/>
                <a:cs typeface="Arial"/>
              </a:rPr>
              <a:t>و</a:t>
            </a:r>
            <a:endParaRPr baseline="1543" sz="2700">
              <a:latin typeface="Arial"/>
              <a:cs typeface="Arial"/>
            </a:endParaRPr>
          </a:p>
          <a:p>
            <a:pPr algn="just" marL="149225" marR="144145">
              <a:lnSpc>
                <a:spcPct val="95900"/>
              </a:lnSpc>
              <a:spcBef>
                <a:spcPts val="1345"/>
              </a:spcBef>
              <a:buAutoNum type="arabicPeriod" startAt="4"/>
              <a:tabLst>
                <a:tab pos="326390" algn="l"/>
              </a:tabLst>
            </a:pPr>
            <a:r>
              <a:rPr dirty="0" sz="1200" spc="-5">
                <a:latin typeface="Arial"/>
                <a:cs typeface="Arial"/>
              </a:rPr>
              <a:t>Lo! Pharaoh exalted himself in the earth and made </a:t>
            </a:r>
            <a:r>
              <a:rPr dirty="0" sz="1200">
                <a:latin typeface="Arial"/>
                <a:cs typeface="Arial"/>
              </a:rPr>
              <a:t>its </a:t>
            </a:r>
            <a:r>
              <a:rPr dirty="0" sz="1200" spc="-5">
                <a:latin typeface="Arial"/>
                <a:cs typeface="Arial"/>
              </a:rPr>
              <a:t>people castes. </a:t>
            </a:r>
            <a:r>
              <a:rPr dirty="0" sz="1200">
                <a:latin typeface="Arial"/>
                <a:cs typeface="Arial"/>
              </a:rPr>
              <a:t>A </a:t>
            </a:r>
            <a:r>
              <a:rPr dirty="0" sz="1200" spc="-5">
                <a:latin typeface="Arial"/>
                <a:cs typeface="Arial"/>
              </a:rPr>
              <a:t>tribe among them  he suppressed, killing </a:t>
            </a:r>
            <a:r>
              <a:rPr dirty="0" sz="1200">
                <a:latin typeface="Arial"/>
                <a:cs typeface="Arial"/>
              </a:rPr>
              <a:t>their </a:t>
            </a:r>
            <a:r>
              <a:rPr dirty="0" sz="1200" spc="-5">
                <a:latin typeface="Arial"/>
                <a:cs typeface="Arial"/>
              </a:rPr>
              <a:t>sons and sparing </a:t>
            </a:r>
            <a:r>
              <a:rPr dirty="0" sz="1200">
                <a:latin typeface="Arial"/>
                <a:cs typeface="Arial"/>
              </a:rPr>
              <a:t>their </a:t>
            </a:r>
            <a:r>
              <a:rPr dirty="0" sz="1200" spc="-5">
                <a:latin typeface="Arial"/>
                <a:cs typeface="Arial"/>
              </a:rPr>
              <a:t>women. Lo! He </a:t>
            </a:r>
            <a:r>
              <a:rPr dirty="0" sz="1200" spc="-10">
                <a:latin typeface="Arial"/>
                <a:cs typeface="Arial"/>
              </a:rPr>
              <a:t>was </a:t>
            </a:r>
            <a:r>
              <a:rPr dirty="0" sz="1200">
                <a:latin typeface="Arial"/>
                <a:cs typeface="Arial"/>
              </a:rPr>
              <a:t>of </a:t>
            </a:r>
            <a:r>
              <a:rPr dirty="0" sz="1200" spc="-5">
                <a:latin typeface="Arial"/>
                <a:cs typeface="Arial"/>
              </a:rPr>
              <a:t>those </a:t>
            </a:r>
            <a:r>
              <a:rPr dirty="0" sz="1200" spc="-10">
                <a:latin typeface="Arial"/>
                <a:cs typeface="Arial"/>
              </a:rPr>
              <a:t>who </a:t>
            </a:r>
            <a:r>
              <a:rPr dirty="0" sz="1200" spc="-5">
                <a:latin typeface="Arial"/>
                <a:cs typeface="Arial"/>
              </a:rPr>
              <a:t>work  corruption.</a:t>
            </a:r>
            <a:endParaRPr sz="1200">
              <a:latin typeface="Arial"/>
              <a:cs typeface="Arial"/>
            </a:endParaRPr>
          </a:p>
          <a:p>
            <a:pPr>
              <a:lnSpc>
                <a:spcPct val="100000"/>
              </a:lnSpc>
              <a:spcBef>
                <a:spcPts val="50"/>
              </a:spcBef>
            </a:pPr>
            <a:endParaRPr sz="1100">
              <a:latin typeface="Arial"/>
              <a:cs typeface="Arial"/>
            </a:endParaRPr>
          </a:p>
          <a:p>
            <a:pPr algn="r" marR="196850">
              <a:lnSpc>
                <a:spcPts val="2150"/>
              </a:lnSpc>
              <a:spcBef>
                <a:spcPts val="5"/>
              </a:spcBef>
            </a:pPr>
            <a:r>
              <a:rPr dirty="0" baseline="1543" sz="2700" spc="-322">
                <a:latin typeface="Arial"/>
                <a:cs typeface="Arial"/>
              </a:rPr>
              <a:t>ان</a:t>
            </a:r>
            <a:r>
              <a:rPr dirty="0" baseline="9259" sz="2700" spc="-322">
                <a:latin typeface="Arial"/>
                <a:cs typeface="Arial"/>
              </a:rPr>
              <a:t>َّ </a:t>
            </a:r>
            <a:r>
              <a:rPr dirty="0" baseline="-12345" sz="2700">
                <a:latin typeface="Arial"/>
                <a:cs typeface="Arial"/>
              </a:rPr>
              <a:t>ِ</a:t>
            </a:r>
            <a:r>
              <a:rPr dirty="0" baseline="1543" sz="2700">
                <a:latin typeface="Arial"/>
                <a:cs typeface="Arial"/>
              </a:rPr>
              <a:t>إ </a:t>
            </a:r>
            <a:r>
              <a:rPr dirty="0" baseline="1543" sz="2700" spc="-472">
                <a:latin typeface="Arial"/>
                <a:cs typeface="Arial"/>
              </a:rPr>
              <a:t>ًن</a:t>
            </a:r>
            <a:r>
              <a:rPr dirty="0" sz="1800" spc="-315">
                <a:latin typeface="Arial"/>
                <a:cs typeface="Arial"/>
              </a:rPr>
              <a:t>ِ </a:t>
            </a:r>
            <a:r>
              <a:rPr dirty="0" baseline="1543" sz="2700" spc="-494">
                <a:latin typeface="Arial"/>
                <a:cs typeface="Arial"/>
              </a:rPr>
              <a:t>ز</a:t>
            </a:r>
            <a:r>
              <a:rPr dirty="0" baseline="6172" sz="2700" spc="-494">
                <a:latin typeface="Arial"/>
                <a:cs typeface="Arial"/>
              </a:rPr>
              <a:t>َ </a:t>
            </a:r>
            <a:r>
              <a:rPr dirty="0" baseline="1543" sz="2700" spc="-555">
                <a:latin typeface="Arial"/>
                <a:cs typeface="Arial"/>
              </a:rPr>
              <a:t>حْ </a:t>
            </a:r>
            <a:r>
              <a:rPr dirty="0" baseline="1543" sz="2700" spc="-892">
                <a:latin typeface="Arial"/>
                <a:cs typeface="Arial"/>
              </a:rPr>
              <a:t>ت</a:t>
            </a:r>
            <a:r>
              <a:rPr dirty="0" baseline="6172" sz="2700" spc="-892">
                <a:latin typeface="Arial"/>
                <a:cs typeface="Arial"/>
              </a:rPr>
              <a:t>َ</a:t>
            </a:r>
            <a:r>
              <a:rPr dirty="0" baseline="6172" sz="2700" spc="540">
                <a:latin typeface="Arial"/>
                <a:cs typeface="Arial"/>
              </a:rPr>
              <a:t> </a:t>
            </a:r>
            <a:r>
              <a:rPr dirty="0" baseline="1543" sz="2700" spc="-502">
                <a:latin typeface="Arial"/>
                <a:cs typeface="Arial"/>
              </a:rPr>
              <a:t>لا</a:t>
            </a:r>
            <a:r>
              <a:rPr dirty="0" baseline="9259" sz="2700" spc="-502">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705">
                <a:latin typeface="Arial"/>
                <a:cs typeface="Arial"/>
              </a:rPr>
              <a:t>ًف</a:t>
            </a:r>
            <a:r>
              <a:rPr dirty="0" sz="1800" spc="-470">
                <a:latin typeface="Arial"/>
                <a:cs typeface="Arial"/>
              </a:rPr>
              <a:t>ِ </a:t>
            </a:r>
            <a:r>
              <a:rPr dirty="0" baseline="1543" sz="2700" spc="-382">
                <a:latin typeface="Arial"/>
                <a:cs typeface="Arial"/>
              </a:rPr>
              <a:t>اخ</a:t>
            </a:r>
            <a:r>
              <a:rPr dirty="0" baseline="6172" sz="2700" spc="-382">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517">
                <a:latin typeface="Arial"/>
                <a:cs typeface="Arial"/>
              </a:rPr>
              <a:t> </a:t>
            </a:r>
            <a:r>
              <a:rPr dirty="0" baseline="1543" sz="2700" spc="-502">
                <a:latin typeface="Arial"/>
                <a:cs typeface="Arial"/>
              </a:rPr>
              <a:t>لا</a:t>
            </a:r>
            <a:r>
              <a:rPr dirty="0" baseline="9259" sz="2700" spc="-502">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277">
                <a:latin typeface="Arial"/>
                <a:cs typeface="Arial"/>
              </a:rPr>
              <a:t>م</a:t>
            </a:r>
            <a:r>
              <a:rPr dirty="0" baseline="-4629" sz="2700" spc="-277">
                <a:latin typeface="Arial"/>
                <a:cs typeface="Arial"/>
              </a:rPr>
              <a:t>ِّ </a:t>
            </a:r>
            <a:r>
              <a:rPr dirty="0" baseline="1543" sz="2700">
                <a:latin typeface="Arial"/>
                <a:cs typeface="Arial"/>
              </a:rPr>
              <a:t>ٌ</a:t>
            </a:r>
            <a:r>
              <a:rPr dirty="0" baseline="-1543" sz="2700">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ا </a:t>
            </a:r>
            <a:r>
              <a:rPr dirty="0" baseline="1543" sz="2700" spc="-705">
                <a:latin typeface="Arial"/>
                <a:cs typeface="Arial"/>
              </a:rPr>
              <a:t>ًف</a:t>
            </a:r>
            <a:r>
              <a:rPr dirty="0" sz="1800" spc="-470">
                <a:latin typeface="Arial"/>
                <a:cs typeface="Arial"/>
              </a:rPr>
              <a:t>ِ </a:t>
            </a:r>
            <a:r>
              <a:rPr dirty="0" baseline="1543" sz="2700" spc="-337">
                <a:latin typeface="Arial"/>
                <a:cs typeface="Arial"/>
              </a:rPr>
              <a:t>ه</a:t>
            </a:r>
            <a:r>
              <a:rPr dirty="0" sz="1800" spc="-225">
                <a:latin typeface="Arial"/>
                <a:cs typeface="Arial"/>
              </a:rPr>
              <a:t>ِ </a:t>
            </a:r>
            <a:r>
              <a:rPr dirty="0" baseline="1543" sz="2700" spc="-525">
                <a:latin typeface="Arial"/>
                <a:cs typeface="Arial"/>
              </a:rPr>
              <a:t>ٌق</a:t>
            </a:r>
            <a:r>
              <a:rPr dirty="0" sz="1800" spc="-350">
                <a:latin typeface="Arial"/>
                <a:cs typeface="Arial"/>
              </a:rPr>
              <a:t>ِ </a:t>
            </a:r>
            <a:r>
              <a:rPr dirty="0" baseline="1543" sz="2700" spc="-652">
                <a:latin typeface="Arial"/>
                <a:cs typeface="Arial"/>
              </a:rPr>
              <a:t>ل</a:t>
            </a:r>
            <a:r>
              <a:rPr dirty="0" baseline="12345" sz="2700" spc="-652">
                <a:latin typeface="Arial"/>
                <a:cs typeface="Arial"/>
              </a:rPr>
              <a:t>ْ </a:t>
            </a:r>
            <a:r>
              <a:rPr dirty="0" baseline="15432" sz="2700" spc="-660">
                <a:latin typeface="Arial"/>
                <a:cs typeface="Arial"/>
              </a:rPr>
              <a:t>َ</a:t>
            </a:r>
            <a:r>
              <a:rPr dirty="0" baseline="1543" sz="2700" spc="-660">
                <a:latin typeface="Arial"/>
                <a:cs typeface="Arial"/>
              </a:rPr>
              <a:t>ؤف</a:t>
            </a:r>
            <a:r>
              <a:rPr dirty="0" baseline="6172" sz="2700" spc="-660">
                <a:latin typeface="Arial"/>
                <a:cs typeface="Arial"/>
              </a:rPr>
              <a:t>َ </a:t>
            </a:r>
            <a:r>
              <a:rPr dirty="0" baseline="1543" sz="2700" spc="-337">
                <a:latin typeface="Arial"/>
                <a:cs typeface="Arial"/>
              </a:rPr>
              <a:t>ه</a:t>
            </a:r>
            <a:r>
              <a:rPr dirty="0" sz="1800" spc="-225">
                <a:latin typeface="Arial"/>
                <a:cs typeface="Arial"/>
              </a:rPr>
              <a:t>ِ </a:t>
            </a:r>
            <a:r>
              <a:rPr dirty="0" baseline="1543" sz="2700">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607">
                <a:latin typeface="Arial"/>
                <a:cs typeface="Arial"/>
              </a:rPr>
              <a:t>ع</a:t>
            </a:r>
            <a:r>
              <a:rPr dirty="0" baseline="-1543" sz="2700" spc="-607">
                <a:latin typeface="Arial"/>
                <a:cs typeface="Arial"/>
              </a:rPr>
              <a:t>َ </a:t>
            </a:r>
            <a:r>
              <a:rPr dirty="0" baseline="1543" sz="2700" spc="-862">
                <a:latin typeface="Arial"/>
                <a:cs typeface="Arial"/>
              </a:rPr>
              <a:t>ت</a:t>
            </a:r>
            <a:r>
              <a:rPr dirty="0" sz="1800" spc="-575">
                <a:latin typeface="Arial"/>
                <a:cs typeface="Arial"/>
              </a:rPr>
              <a:t>ِ</a:t>
            </a:r>
            <a:r>
              <a:rPr dirty="0" sz="1800" spc="650">
                <a:latin typeface="Arial"/>
                <a:cs typeface="Arial"/>
              </a:rPr>
              <a:t> </a:t>
            </a:r>
            <a:r>
              <a:rPr dirty="0" baseline="1543" sz="2700" spc="-997">
                <a:latin typeface="Arial"/>
                <a:cs typeface="Arial"/>
              </a:rPr>
              <a:t>ف</a:t>
            </a:r>
            <a:r>
              <a:rPr dirty="0" baseline="9259" sz="2700" spc="-997">
                <a:latin typeface="Arial"/>
                <a:cs typeface="Arial"/>
              </a:rPr>
              <a:t>ْ</a:t>
            </a:r>
            <a:r>
              <a:rPr dirty="0" baseline="9259" sz="2700" spc="-187">
                <a:latin typeface="Arial"/>
                <a:cs typeface="Arial"/>
              </a:rPr>
              <a:t> </a:t>
            </a:r>
            <a:r>
              <a:rPr dirty="0" baseline="1543" sz="2700" spc="-719">
                <a:latin typeface="Arial"/>
                <a:cs typeface="Arial"/>
              </a:rPr>
              <a:t>خ</a:t>
            </a:r>
            <a:r>
              <a:rPr dirty="0" sz="1800" spc="-480">
                <a:latin typeface="Arial"/>
                <a:cs typeface="Arial"/>
              </a:rPr>
              <a:t>ِ </a:t>
            </a:r>
            <a:r>
              <a:rPr dirty="0" baseline="1543" sz="2700" spc="-217">
                <a:latin typeface="Arial"/>
                <a:cs typeface="Arial"/>
              </a:rPr>
              <a:t>اذ</a:t>
            </a:r>
            <a:r>
              <a:rPr dirty="0" baseline="10802" sz="2700" spc="-217">
                <a:latin typeface="Arial"/>
                <a:cs typeface="Arial"/>
              </a:rPr>
              <a:t>َ </a:t>
            </a:r>
            <a:r>
              <a:rPr dirty="0" baseline="-12345" sz="2700" spc="-509">
                <a:latin typeface="Arial"/>
                <a:cs typeface="Arial"/>
              </a:rPr>
              <a:t>ِ</a:t>
            </a:r>
            <a:r>
              <a:rPr dirty="0" baseline="1543" sz="2700" spc="-509">
                <a:latin typeface="Arial"/>
                <a:cs typeface="Arial"/>
              </a:rPr>
              <a:t>إف</a:t>
            </a:r>
            <a:r>
              <a:rPr dirty="0" baseline="6172" sz="2700" spc="-509">
                <a:latin typeface="Arial"/>
                <a:cs typeface="Arial"/>
              </a:rPr>
              <a:t>َ </a:t>
            </a:r>
            <a:r>
              <a:rPr dirty="0" baseline="1543" sz="2700" spc="-337">
                <a:latin typeface="Arial"/>
                <a:cs typeface="Arial"/>
              </a:rPr>
              <a:t>ه</a:t>
            </a:r>
            <a:r>
              <a:rPr dirty="0" sz="1800" spc="-225">
                <a:latin typeface="Arial"/>
                <a:cs typeface="Arial"/>
              </a:rPr>
              <a:t>ِ </a:t>
            </a:r>
            <a:r>
              <a:rPr dirty="0" baseline="1543" sz="2700" spc="-412">
                <a:latin typeface="Arial"/>
                <a:cs typeface="Arial"/>
              </a:rPr>
              <a:t>ٌع</a:t>
            </a:r>
            <a:r>
              <a:rPr dirty="0" sz="1800" spc="-275">
                <a:latin typeface="Arial"/>
                <a:cs typeface="Arial"/>
              </a:rPr>
              <a:t>ِ </a:t>
            </a:r>
            <a:r>
              <a:rPr dirty="0" baseline="1543" sz="2700" spc="-1245">
                <a:latin typeface="Arial"/>
                <a:cs typeface="Arial"/>
              </a:rPr>
              <a:t>ض</a:t>
            </a:r>
            <a:r>
              <a:rPr dirty="0" sz="1800" spc="-830">
                <a:latin typeface="Arial"/>
                <a:cs typeface="Arial"/>
              </a:rPr>
              <a:t>ِ</a:t>
            </a:r>
            <a:r>
              <a:rPr dirty="0" sz="1800" spc="710">
                <a:latin typeface="Arial"/>
                <a:cs typeface="Arial"/>
              </a:rPr>
              <a:t> </a:t>
            </a:r>
            <a:r>
              <a:rPr dirty="0" baseline="1543" sz="2700" spc="-457">
                <a:latin typeface="Arial"/>
                <a:cs typeface="Arial"/>
              </a:rPr>
              <a:t>رْ </a:t>
            </a:r>
            <a:r>
              <a:rPr dirty="0" baseline="15432" sz="2700">
                <a:latin typeface="Arial"/>
                <a:cs typeface="Arial"/>
              </a:rPr>
              <a:t>َ</a:t>
            </a:r>
            <a:r>
              <a:rPr dirty="0" baseline="1543" sz="2700">
                <a:latin typeface="Arial"/>
                <a:cs typeface="Arial"/>
              </a:rPr>
              <a:t>أ </a:t>
            </a:r>
            <a:r>
              <a:rPr dirty="0" baseline="1543" sz="2700" spc="-465">
                <a:latin typeface="Arial"/>
                <a:cs typeface="Arial"/>
              </a:rPr>
              <a:t>نْ  </a:t>
            </a:r>
            <a:r>
              <a:rPr dirty="0" baseline="15432" sz="2700">
                <a:latin typeface="Arial"/>
                <a:cs typeface="Arial"/>
              </a:rPr>
              <a:t>َ</a:t>
            </a:r>
            <a:r>
              <a:rPr dirty="0" baseline="1543" sz="2700">
                <a:latin typeface="Arial"/>
                <a:cs typeface="Arial"/>
              </a:rPr>
              <a:t>أ </a:t>
            </a:r>
            <a:r>
              <a:rPr dirty="0" baseline="1543" sz="2700" spc="-705">
                <a:latin typeface="Arial"/>
                <a:cs typeface="Arial"/>
              </a:rPr>
              <a:t>ىس</a:t>
            </a:r>
            <a:r>
              <a:rPr dirty="0" baseline="-1543" sz="2700" spc="-705">
                <a:latin typeface="Arial"/>
                <a:cs typeface="Arial"/>
              </a:rPr>
              <a:t>َ </a:t>
            </a:r>
            <a:r>
              <a:rPr dirty="0" baseline="1543" sz="2700" spc="-270">
                <a:latin typeface="Arial"/>
                <a:cs typeface="Arial"/>
              </a:rPr>
              <a:t>ومُ م</a:t>
            </a:r>
            <a:r>
              <a:rPr dirty="0" baseline="-4629" sz="2700" spc="-270">
                <a:latin typeface="Arial"/>
                <a:cs typeface="Arial"/>
              </a:rPr>
              <a:t>ِّ </a:t>
            </a:r>
            <a:r>
              <a:rPr dirty="0" baseline="18518" sz="2700">
                <a:latin typeface="Arial"/>
                <a:cs typeface="Arial"/>
              </a:rPr>
              <a:t>ُ</a:t>
            </a:r>
            <a:r>
              <a:rPr dirty="0" baseline="1543" sz="2700">
                <a:latin typeface="Arial"/>
                <a:cs typeface="Arial"/>
              </a:rPr>
              <a:t>أ </a:t>
            </a:r>
            <a:r>
              <a:rPr dirty="0" baseline="1543" sz="2700" spc="-202">
                <a:latin typeface="Arial"/>
                <a:cs typeface="Arial"/>
              </a:rPr>
              <a:t>ى</a:t>
            </a:r>
            <a:r>
              <a:rPr dirty="0" baseline="9259" sz="2700" spc="-202">
                <a:latin typeface="Arial"/>
                <a:cs typeface="Arial"/>
              </a:rPr>
              <a:t>َ</a:t>
            </a:r>
            <a:r>
              <a:rPr dirty="0" baseline="1543" sz="2700" spc="-202">
                <a:latin typeface="Arial"/>
                <a:cs typeface="Arial"/>
              </a:rPr>
              <a:t>ل</a:t>
            </a:r>
            <a:r>
              <a:rPr dirty="0" baseline="-12345" sz="2700" spc="-202">
                <a:latin typeface="Arial"/>
                <a:cs typeface="Arial"/>
              </a:rPr>
              <a:t>ِ</a:t>
            </a:r>
            <a:r>
              <a:rPr dirty="0" baseline="1543" sz="2700" spc="-202">
                <a:latin typeface="Arial"/>
                <a:cs typeface="Arial"/>
              </a:rPr>
              <a:t>إ </a:t>
            </a:r>
            <a:r>
              <a:rPr dirty="0" baseline="1543" sz="2700" spc="-412">
                <a:latin typeface="Arial"/>
                <a:cs typeface="Arial"/>
              </a:rPr>
              <a:t>ان</a:t>
            </a:r>
            <a:r>
              <a:rPr dirty="0" baseline="6172" sz="2700" spc="-412">
                <a:latin typeface="Arial"/>
                <a:cs typeface="Arial"/>
              </a:rPr>
              <a:t>َ </a:t>
            </a:r>
            <a:r>
              <a:rPr dirty="0" baseline="1543" sz="2700">
                <a:latin typeface="Arial"/>
                <a:cs typeface="Arial"/>
              </a:rPr>
              <a:t>ٌْ </a:t>
            </a:r>
            <a:r>
              <a:rPr dirty="0" baseline="1543" sz="2700" spc="-592">
                <a:latin typeface="Arial"/>
                <a:cs typeface="Arial"/>
              </a:rPr>
              <a:t>ح</a:t>
            </a:r>
            <a:r>
              <a:rPr dirty="0" baseline="-1543" sz="2700" spc="-592">
                <a:latin typeface="Arial"/>
                <a:cs typeface="Arial"/>
              </a:rPr>
              <a:t>َ</a:t>
            </a:r>
            <a:r>
              <a:rPr dirty="0" baseline="-1543" sz="2700" spc="-457">
                <a:latin typeface="Arial"/>
                <a:cs typeface="Arial"/>
              </a:rPr>
              <a:t> </a:t>
            </a:r>
            <a:r>
              <a:rPr dirty="0" baseline="1543" sz="2700" spc="-270">
                <a:latin typeface="Arial"/>
                <a:cs typeface="Arial"/>
              </a:rPr>
              <a:t>وْ </a:t>
            </a:r>
            <a:r>
              <a:rPr dirty="0" baseline="15432" sz="2700" spc="-209">
                <a:latin typeface="Arial"/>
                <a:cs typeface="Arial"/>
              </a:rPr>
              <a:t>َ</a:t>
            </a:r>
            <a:r>
              <a:rPr dirty="0" baseline="1543" sz="2700" spc="-209">
                <a:latin typeface="Arial"/>
                <a:cs typeface="Arial"/>
              </a:rPr>
              <a:t>أو</a:t>
            </a:r>
            <a:endParaRPr baseline="1543" sz="2700">
              <a:latin typeface="Arial"/>
              <a:cs typeface="Arial"/>
            </a:endParaRPr>
          </a:p>
          <a:p>
            <a:pPr algn="r" marR="226695">
              <a:lnSpc>
                <a:spcPts val="2150"/>
              </a:lnSpc>
            </a:pPr>
            <a:r>
              <a:rPr dirty="0" baseline="3086" sz="2700" spc="-494">
                <a:latin typeface="Arial"/>
                <a:cs typeface="Arial"/>
              </a:rPr>
              <a:t>ن</a:t>
            </a:r>
            <a:r>
              <a:rPr dirty="0" sz="1800" spc="-330">
                <a:latin typeface="Arial"/>
                <a:cs typeface="Arial"/>
              </a:rPr>
              <a:t>َ </a:t>
            </a:r>
            <a:r>
              <a:rPr dirty="0" baseline="3086" sz="2700" spc="-555">
                <a:latin typeface="Arial"/>
                <a:cs typeface="Arial"/>
              </a:rPr>
              <a:t>ٌ</a:t>
            </a:r>
            <a:r>
              <a:rPr dirty="0" baseline="1543" sz="2700" spc="-555">
                <a:latin typeface="Arial"/>
                <a:cs typeface="Arial"/>
              </a:rPr>
              <a:t>ِ</a:t>
            </a:r>
            <a:r>
              <a:rPr dirty="0" baseline="3086" sz="2700" spc="-555">
                <a:latin typeface="Arial"/>
                <a:cs typeface="Arial"/>
              </a:rPr>
              <a:t>لس</a:t>
            </a:r>
            <a:r>
              <a:rPr dirty="0" sz="1800" spc="-370">
                <a:latin typeface="Arial"/>
                <a:cs typeface="Arial"/>
              </a:rPr>
              <a:t>َ </a:t>
            </a:r>
            <a:r>
              <a:rPr dirty="0" baseline="3086" sz="2700" spc="-457">
                <a:latin typeface="Arial"/>
                <a:cs typeface="Arial"/>
              </a:rPr>
              <a:t>رْ </a:t>
            </a:r>
            <a:r>
              <a:rPr dirty="0" baseline="3086" sz="2700" spc="-397">
                <a:latin typeface="Arial"/>
                <a:cs typeface="Arial"/>
              </a:rPr>
              <a:t>مُ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300">
                <a:latin typeface="Arial"/>
                <a:cs typeface="Arial"/>
              </a:rPr>
              <a:t>ُهو</a:t>
            </a:r>
            <a:r>
              <a:rPr dirty="0" baseline="13888" sz="2700" spc="-300">
                <a:latin typeface="Arial"/>
                <a:cs typeface="Arial"/>
              </a:rPr>
              <a:t>ُ</a:t>
            </a:r>
            <a:r>
              <a:rPr dirty="0" baseline="3086" sz="2700" spc="-300">
                <a:latin typeface="Arial"/>
                <a:cs typeface="Arial"/>
              </a:rPr>
              <a:t>لع</a:t>
            </a:r>
            <a:r>
              <a:rPr dirty="0" baseline="1543" sz="2700" spc="-300">
                <a:latin typeface="Arial"/>
                <a:cs typeface="Arial"/>
              </a:rPr>
              <a:t>ِ </a:t>
            </a:r>
            <a:r>
              <a:rPr dirty="0" baseline="3086" sz="2700" spc="-382">
                <a:latin typeface="Arial"/>
                <a:cs typeface="Arial"/>
              </a:rPr>
              <a:t>اج</a:t>
            </a:r>
            <a:r>
              <a:rPr dirty="0" sz="1800" spc="-254">
                <a:latin typeface="Arial"/>
                <a:cs typeface="Arial"/>
              </a:rPr>
              <a:t>َ </a:t>
            </a:r>
            <a:r>
              <a:rPr dirty="0" baseline="3086" sz="2700" spc="-307">
                <a:latin typeface="Arial"/>
                <a:cs typeface="Arial"/>
              </a:rPr>
              <a:t>و</a:t>
            </a:r>
            <a:r>
              <a:rPr dirty="0" sz="1800" spc="-204">
                <a:latin typeface="Arial"/>
                <a:cs typeface="Arial"/>
              </a:rPr>
              <a:t>َ </a:t>
            </a:r>
            <a:r>
              <a:rPr dirty="0" baseline="3086" sz="2700" spc="-637">
                <a:latin typeface="Arial"/>
                <a:cs typeface="Arial"/>
              </a:rPr>
              <a:t>ك</a:t>
            </a:r>
            <a:r>
              <a:rPr dirty="0" baseline="1543" sz="2700" spc="-637">
                <a:latin typeface="Arial"/>
                <a:cs typeface="Arial"/>
              </a:rPr>
              <a:t>ِ </a:t>
            </a:r>
            <a:r>
              <a:rPr dirty="0" baseline="3086" sz="2700">
                <a:latin typeface="Arial"/>
                <a:cs typeface="Arial"/>
              </a:rPr>
              <a:t>ٌْ </a:t>
            </a:r>
            <a:r>
              <a:rPr dirty="0" baseline="10802" sz="2700" spc="-217">
                <a:latin typeface="Arial"/>
                <a:cs typeface="Arial"/>
              </a:rPr>
              <a:t>َ</a:t>
            </a:r>
            <a:r>
              <a:rPr dirty="0" baseline="3086" sz="2700" spc="-217">
                <a:latin typeface="Arial"/>
                <a:cs typeface="Arial"/>
              </a:rPr>
              <a:t>ل</a:t>
            </a:r>
            <a:r>
              <a:rPr dirty="0" baseline="-10802" sz="2700" spc="-217">
                <a:latin typeface="Arial"/>
                <a:cs typeface="Arial"/>
              </a:rPr>
              <a:t>ِ</a:t>
            </a:r>
            <a:r>
              <a:rPr dirty="0" baseline="3086" sz="2700" spc="-217">
                <a:latin typeface="Arial"/>
                <a:cs typeface="Arial"/>
              </a:rPr>
              <a:t>إ </a:t>
            </a:r>
            <a:r>
              <a:rPr dirty="0" baseline="3086" sz="2700" spc="-120">
                <a:latin typeface="Arial"/>
                <a:cs typeface="Arial"/>
              </a:rPr>
              <a:t>ُهود</a:t>
            </a:r>
            <a:r>
              <a:rPr dirty="0" baseline="4629" sz="2700" spc="-120">
                <a:latin typeface="Arial"/>
                <a:cs typeface="Arial"/>
              </a:rPr>
              <a:t>ُّ</a:t>
            </a:r>
            <a:r>
              <a:rPr dirty="0" baseline="4629" sz="2700" spc="-480">
                <a:latin typeface="Arial"/>
                <a:cs typeface="Arial"/>
              </a:rPr>
              <a:t> </a:t>
            </a:r>
            <a:r>
              <a:rPr dirty="0" baseline="3086" sz="2700" spc="-494">
                <a:latin typeface="Arial"/>
                <a:cs typeface="Arial"/>
              </a:rPr>
              <a:t>ار</a:t>
            </a:r>
            <a:endParaRPr baseline="3086" sz="2700">
              <a:latin typeface="Arial"/>
              <a:cs typeface="Arial"/>
            </a:endParaRPr>
          </a:p>
          <a:p>
            <a:pPr algn="just" marL="149225" marR="143510">
              <a:lnSpc>
                <a:spcPts val="1380"/>
              </a:lnSpc>
              <a:spcBef>
                <a:spcPts val="1320"/>
              </a:spcBef>
              <a:buAutoNum type="arabicPeriod" startAt="7"/>
              <a:tabLst>
                <a:tab pos="332105" algn="l"/>
              </a:tabLst>
            </a:pPr>
            <a:r>
              <a:rPr dirty="0" sz="1200" spc="-5">
                <a:latin typeface="Arial"/>
                <a:cs typeface="Arial"/>
              </a:rPr>
              <a:t>And </a:t>
            </a:r>
            <a:r>
              <a:rPr dirty="0" sz="1200" spc="20">
                <a:latin typeface="Arial"/>
                <a:cs typeface="Arial"/>
              </a:rPr>
              <a:t>We </a:t>
            </a:r>
            <a:r>
              <a:rPr dirty="0" sz="1200" spc="-5">
                <a:latin typeface="Arial"/>
                <a:cs typeface="Arial"/>
              </a:rPr>
              <a:t>inspired the mother of Moses, </a:t>
            </a:r>
            <a:r>
              <a:rPr dirty="0" sz="1200" spc="-10">
                <a:latin typeface="Arial"/>
                <a:cs typeface="Arial"/>
              </a:rPr>
              <a:t>saying: </a:t>
            </a:r>
            <a:r>
              <a:rPr dirty="0" sz="1200" spc="-5">
                <a:latin typeface="Arial"/>
                <a:cs typeface="Arial"/>
              </a:rPr>
              <a:t>Suckle him and, when thou </a:t>
            </a:r>
            <a:r>
              <a:rPr dirty="0" sz="1200">
                <a:latin typeface="Arial"/>
                <a:cs typeface="Arial"/>
              </a:rPr>
              <a:t>fears for </a:t>
            </a:r>
            <a:r>
              <a:rPr dirty="0" sz="1200" spc="-5">
                <a:latin typeface="Arial"/>
                <a:cs typeface="Arial"/>
              </a:rPr>
              <a:t>him,  </a:t>
            </a:r>
            <a:r>
              <a:rPr dirty="0" sz="1200">
                <a:latin typeface="Arial"/>
                <a:cs typeface="Arial"/>
              </a:rPr>
              <a:t>then </a:t>
            </a:r>
            <a:r>
              <a:rPr dirty="0" sz="1200" spc="-5">
                <a:latin typeface="Arial"/>
                <a:cs typeface="Arial"/>
              </a:rPr>
              <a:t>cast him into the river and </a:t>
            </a:r>
            <a:r>
              <a:rPr dirty="0" sz="1200">
                <a:latin typeface="Arial"/>
                <a:cs typeface="Arial"/>
              </a:rPr>
              <a:t>fear </a:t>
            </a:r>
            <a:r>
              <a:rPr dirty="0" sz="1200" spc="-5">
                <a:latin typeface="Arial"/>
                <a:cs typeface="Arial"/>
              </a:rPr>
              <a:t>not nor grieve. Lo! </a:t>
            </a:r>
            <a:r>
              <a:rPr dirty="0" sz="1200" spc="20">
                <a:latin typeface="Arial"/>
                <a:cs typeface="Arial"/>
              </a:rPr>
              <a:t>We </a:t>
            </a:r>
            <a:r>
              <a:rPr dirty="0" sz="1200" spc="-5">
                <a:latin typeface="Arial"/>
                <a:cs typeface="Arial"/>
              </a:rPr>
              <a:t>shall bring him back unto thee  and shall </a:t>
            </a:r>
            <a:r>
              <a:rPr dirty="0" sz="1200">
                <a:latin typeface="Arial"/>
                <a:cs typeface="Arial"/>
              </a:rPr>
              <a:t>make him </a:t>
            </a:r>
            <a:r>
              <a:rPr dirty="0" sz="1200" spc="-5">
                <a:latin typeface="Arial"/>
                <a:cs typeface="Arial"/>
              </a:rPr>
              <a:t>(one) of </a:t>
            </a:r>
            <a:r>
              <a:rPr dirty="0" sz="1200">
                <a:latin typeface="Arial"/>
                <a:cs typeface="Arial"/>
              </a:rPr>
              <a:t>Our</a:t>
            </a:r>
            <a:r>
              <a:rPr dirty="0" sz="1200" spc="-35">
                <a:latin typeface="Arial"/>
                <a:cs typeface="Arial"/>
              </a:rPr>
              <a:t> </a:t>
            </a:r>
            <a:r>
              <a:rPr dirty="0" sz="1200" spc="-5">
                <a:latin typeface="Arial"/>
                <a:cs typeface="Arial"/>
              </a:rPr>
              <a:t>messengers.</a:t>
            </a:r>
            <a:endParaRPr sz="1200">
              <a:latin typeface="Arial"/>
              <a:cs typeface="Arial"/>
            </a:endParaRPr>
          </a:p>
          <a:p>
            <a:pPr>
              <a:lnSpc>
                <a:spcPct val="100000"/>
              </a:lnSpc>
              <a:spcBef>
                <a:spcPts val="15"/>
              </a:spcBef>
              <a:buFont typeface="Arial"/>
              <a:buAutoNum type="arabicPeriod" startAt="7"/>
            </a:pPr>
            <a:endParaRPr sz="1100">
              <a:latin typeface="Arial"/>
              <a:cs typeface="Arial"/>
            </a:endParaRPr>
          </a:p>
          <a:p>
            <a:pPr algn="r" marR="199390">
              <a:lnSpc>
                <a:spcPct val="100000"/>
              </a:lnSpc>
            </a:pPr>
            <a:r>
              <a:rPr dirty="0" baseline="1543" sz="2700" spc="-494">
                <a:latin typeface="Arial"/>
                <a:cs typeface="Arial"/>
              </a:rPr>
              <a:t>ن</a:t>
            </a:r>
            <a:r>
              <a:rPr dirty="0" baseline="-1543" sz="2700" spc="-494">
                <a:latin typeface="Arial"/>
                <a:cs typeface="Arial"/>
              </a:rPr>
              <a:t>َ </a:t>
            </a:r>
            <a:r>
              <a:rPr dirty="0" baseline="1543" sz="2700" spc="-569">
                <a:latin typeface="Arial"/>
                <a:cs typeface="Arial"/>
              </a:rPr>
              <a:t>ٌئ</a:t>
            </a:r>
            <a:r>
              <a:rPr dirty="0" sz="1800" spc="-380">
                <a:latin typeface="Arial"/>
                <a:cs typeface="Arial"/>
              </a:rPr>
              <a:t>ِ </a:t>
            </a:r>
            <a:r>
              <a:rPr dirty="0" baseline="1543" sz="2700" spc="-585">
                <a:latin typeface="Arial"/>
                <a:cs typeface="Arial"/>
              </a:rPr>
              <a:t>ط</a:t>
            </a:r>
            <a:r>
              <a:rPr dirty="0" sz="1800" spc="-390">
                <a:latin typeface="Arial"/>
                <a:cs typeface="Arial"/>
              </a:rPr>
              <a:t>ِ </a:t>
            </a:r>
            <a:r>
              <a:rPr dirty="0" baseline="1543" sz="2700" spc="-382">
                <a:latin typeface="Arial"/>
                <a:cs typeface="Arial"/>
              </a:rPr>
              <a:t>اخ</a:t>
            </a:r>
            <a:r>
              <a:rPr dirty="0" baseline="6172" sz="2700" spc="-382">
                <a:latin typeface="Arial"/>
                <a:cs typeface="Arial"/>
              </a:rPr>
              <a:t>َ </a:t>
            </a:r>
            <a:r>
              <a:rPr dirty="0" baseline="1543" sz="2700" spc="-345">
                <a:latin typeface="Arial"/>
                <a:cs typeface="Arial"/>
              </a:rPr>
              <a:t>اون</a:t>
            </a:r>
            <a:r>
              <a:rPr dirty="0" baseline="9259" sz="2700" spc="-345">
                <a:latin typeface="Arial"/>
                <a:cs typeface="Arial"/>
              </a:rPr>
              <a:t>ُ </a:t>
            </a:r>
            <a:r>
              <a:rPr dirty="0" baseline="1543" sz="2700" spc="-465">
                <a:latin typeface="Arial"/>
                <a:cs typeface="Arial"/>
              </a:rPr>
              <a:t>اك</a:t>
            </a:r>
            <a:r>
              <a:rPr dirty="0" baseline="6172" sz="2700" spc="-465">
                <a:latin typeface="Arial"/>
                <a:cs typeface="Arial"/>
              </a:rPr>
              <a:t>َ</a:t>
            </a:r>
            <a:r>
              <a:rPr dirty="0" baseline="6172" sz="2700" spc="-179">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307">
                <a:latin typeface="Arial"/>
                <a:cs typeface="Arial"/>
              </a:rPr>
              <a:t>هُ </a:t>
            </a:r>
            <a:r>
              <a:rPr dirty="0" baseline="1543" sz="2700" spc="-322">
                <a:latin typeface="Arial"/>
                <a:cs typeface="Arial"/>
              </a:rPr>
              <a:t>د</a:t>
            </a:r>
            <a:r>
              <a:rPr dirty="0" sz="1800" spc="-215">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630">
                <a:latin typeface="Arial"/>
                <a:cs typeface="Arial"/>
              </a:rPr>
              <a:t>جُ </a:t>
            </a:r>
            <a:r>
              <a:rPr dirty="0" baseline="1543" sz="2700" spc="-315">
                <a:latin typeface="Arial"/>
                <a:cs typeface="Arial"/>
              </a:rPr>
              <a:t>و</a:t>
            </a:r>
            <a:r>
              <a:rPr dirty="0" baseline="-1543" sz="2700" spc="-315">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165">
                <a:latin typeface="Arial"/>
                <a:cs typeface="Arial"/>
              </a:rPr>
              <a:t>اه</a:t>
            </a:r>
            <a:r>
              <a:rPr dirty="0" baseline="-1543" sz="2700" spc="-165">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70">
                <a:latin typeface="Arial"/>
                <a:cs typeface="Arial"/>
              </a:rPr>
              <a:t>وْ </a:t>
            </a:r>
            <a:r>
              <a:rPr dirty="0" baseline="1543" sz="2700" spc="-607">
                <a:latin typeface="Arial"/>
                <a:cs typeface="Arial"/>
              </a:rPr>
              <a:t>ع</a:t>
            </a:r>
            <a:r>
              <a:rPr dirty="0" baseline="-1543" sz="2700" spc="-607">
                <a:latin typeface="Arial"/>
                <a:cs typeface="Arial"/>
              </a:rPr>
              <a:t>َ </a:t>
            </a:r>
            <a:r>
              <a:rPr dirty="0" baseline="1543" sz="2700" spc="-457">
                <a:latin typeface="Arial"/>
                <a:cs typeface="Arial"/>
              </a:rPr>
              <a:t>رْ </a:t>
            </a:r>
            <a:r>
              <a:rPr dirty="0" baseline="1543" sz="2700" spc="-1057">
                <a:latin typeface="Arial"/>
                <a:cs typeface="Arial"/>
              </a:rPr>
              <a:t>ف</a:t>
            </a:r>
            <a:r>
              <a:rPr dirty="0" sz="1800" spc="-705">
                <a:latin typeface="Arial"/>
                <a:cs typeface="Arial"/>
              </a:rPr>
              <a:t>ِ</a:t>
            </a:r>
            <a:r>
              <a:rPr dirty="0" sz="1800" spc="470">
                <a:latin typeface="Arial"/>
                <a:cs typeface="Arial"/>
              </a:rPr>
              <a:t> </a:t>
            </a:r>
            <a:r>
              <a:rPr dirty="0" baseline="1543" sz="2700" spc="-345">
                <a:latin typeface="Arial"/>
                <a:cs typeface="Arial"/>
              </a:rPr>
              <a:t>ن</a:t>
            </a:r>
            <a:r>
              <a:rPr dirty="0" sz="1800" spc="-229">
                <a:latin typeface="Arial"/>
                <a:cs typeface="Arial"/>
              </a:rPr>
              <a:t>َّ </a:t>
            </a:r>
            <a:r>
              <a:rPr dirty="0" baseline="-12345" sz="2700">
                <a:latin typeface="Arial"/>
                <a:cs typeface="Arial"/>
              </a:rPr>
              <a:t>ِ</a:t>
            </a:r>
            <a:r>
              <a:rPr dirty="0" baseline="1543" sz="2700">
                <a:latin typeface="Arial"/>
                <a:cs typeface="Arial"/>
              </a:rPr>
              <a:t>إ </a:t>
            </a:r>
            <a:r>
              <a:rPr dirty="0" baseline="1543" sz="2700" spc="-412">
                <a:latin typeface="Arial"/>
                <a:cs typeface="Arial"/>
              </a:rPr>
              <a:t>ان</a:t>
            </a:r>
            <a:r>
              <a:rPr dirty="0" baseline="10802" sz="2700" spc="-412">
                <a:latin typeface="Arial"/>
                <a:cs typeface="Arial"/>
              </a:rPr>
              <a:t>ً </a:t>
            </a:r>
            <a:r>
              <a:rPr dirty="0" baseline="1543" sz="2700" spc="-494">
                <a:latin typeface="Arial"/>
                <a:cs typeface="Arial"/>
              </a:rPr>
              <a:t>ز</a:t>
            </a:r>
            <a:r>
              <a:rPr dirty="0" baseline="6172" sz="2700" spc="-494">
                <a:latin typeface="Arial"/>
                <a:cs typeface="Arial"/>
              </a:rPr>
              <a:t>َ </a:t>
            </a:r>
            <a:r>
              <a:rPr dirty="0" baseline="1543" sz="2700" spc="-592">
                <a:latin typeface="Arial"/>
                <a:cs typeface="Arial"/>
              </a:rPr>
              <a:t>ح</a:t>
            </a:r>
            <a:r>
              <a:rPr dirty="0" baseline="-1543" sz="2700" spc="-592">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172">
                <a:latin typeface="Arial"/>
                <a:cs typeface="Arial"/>
              </a:rPr>
              <a:t>او</a:t>
            </a:r>
            <a:r>
              <a:rPr dirty="0" sz="1800" spc="-114">
                <a:latin typeface="Arial"/>
                <a:cs typeface="Arial"/>
              </a:rPr>
              <a:t>ّ</a:t>
            </a:r>
            <a:r>
              <a:rPr dirty="0" baseline="10802" sz="2700" spc="-172">
                <a:latin typeface="Arial"/>
                <a:cs typeface="Arial"/>
              </a:rPr>
              <a:t>ً </a:t>
            </a:r>
            <a:r>
              <a:rPr dirty="0" baseline="1543" sz="2700" spc="-359">
                <a:latin typeface="Arial"/>
                <a:cs typeface="Arial"/>
              </a:rPr>
              <a:t>د</a:t>
            </a:r>
            <a:r>
              <a:rPr dirty="0" baseline="3086" sz="2700" spc="-359">
                <a:latin typeface="Arial"/>
                <a:cs typeface="Arial"/>
              </a:rPr>
              <a:t>ُ </a:t>
            </a:r>
            <a:r>
              <a:rPr dirty="0" baseline="1543" sz="2700" spc="-615">
                <a:latin typeface="Arial"/>
                <a:cs typeface="Arial"/>
              </a:rPr>
              <a:t>ع</a:t>
            </a:r>
            <a:r>
              <a:rPr dirty="0" baseline="-1543" sz="2700" spc="-61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1543" sz="2700" spc="-690">
                <a:latin typeface="Arial"/>
                <a:cs typeface="Arial"/>
              </a:rPr>
              <a:t>ل</a:t>
            </a:r>
            <a:r>
              <a:rPr dirty="0" baseline="9259" sz="2700" spc="-690">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502">
                <a:latin typeface="Arial"/>
                <a:cs typeface="Arial"/>
              </a:rPr>
              <a:t>وك</a:t>
            </a:r>
            <a:r>
              <a:rPr dirty="0" baseline="9259" sz="2700" spc="-502">
                <a:latin typeface="Arial"/>
                <a:cs typeface="Arial"/>
              </a:rPr>
              <a:t>ُ </a:t>
            </a:r>
            <a:r>
              <a:rPr dirty="0" baseline="1543" sz="2700">
                <a:latin typeface="Arial"/>
                <a:cs typeface="Arial"/>
              </a:rPr>
              <a:t>ٌ</a:t>
            </a:r>
            <a:r>
              <a:rPr dirty="0" baseline="-1543" sz="2700">
                <a:latin typeface="Arial"/>
                <a:cs typeface="Arial"/>
              </a:rPr>
              <a:t>َ </a:t>
            </a:r>
            <a:r>
              <a:rPr dirty="0" sz="1800" spc="-270">
                <a:latin typeface="Arial"/>
                <a:cs typeface="Arial"/>
              </a:rPr>
              <a:t>ِ</a:t>
            </a:r>
            <a:r>
              <a:rPr dirty="0" baseline="1543" sz="2700" spc="-405">
                <a:latin typeface="Arial"/>
                <a:cs typeface="Arial"/>
              </a:rPr>
              <a:t>ل </a:t>
            </a:r>
            <a:r>
              <a:rPr dirty="0" baseline="1543" sz="2700" spc="-494">
                <a:latin typeface="Arial"/>
                <a:cs typeface="Arial"/>
              </a:rPr>
              <a:t>ن</a:t>
            </a:r>
            <a:r>
              <a:rPr dirty="0" baseline="-1543" sz="2700" spc="-494">
                <a:latin typeface="Arial"/>
                <a:cs typeface="Arial"/>
              </a:rPr>
              <a:t>َ </a:t>
            </a:r>
            <a:r>
              <a:rPr dirty="0" baseline="1543" sz="2700" spc="-270">
                <a:latin typeface="Arial"/>
                <a:cs typeface="Arial"/>
              </a:rPr>
              <a:t>وْ </a:t>
            </a:r>
            <a:r>
              <a:rPr dirty="0" baseline="1543" sz="2700" spc="-607">
                <a:latin typeface="Arial"/>
                <a:cs typeface="Arial"/>
              </a:rPr>
              <a:t>ع</a:t>
            </a:r>
            <a:r>
              <a:rPr dirty="0" baseline="-1543" sz="2700" spc="-607">
                <a:latin typeface="Arial"/>
                <a:cs typeface="Arial"/>
              </a:rPr>
              <a:t>َ </a:t>
            </a:r>
            <a:r>
              <a:rPr dirty="0" baseline="1543" sz="2700" spc="-457">
                <a:latin typeface="Arial"/>
                <a:cs typeface="Arial"/>
              </a:rPr>
              <a:t>رْ </a:t>
            </a:r>
            <a:r>
              <a:rPr dirty="0" baseline="1543" sz="2700" spc="-1057">
                <a:latin typeface="Arial"/>
                <a:cs typeface="Arial"/>
              </a:rPr>
              <a:t>ف</a:t>
            </a:r>
            <a:r>
              <a:rPr dirty="0" sz="1800" spc="-705">
                <a:latin typeface="Arial"/>
                <a:cs typeface="Arial"/>
              </a:rPr>
              <a:t>ِ</a:t>
            </a:r>
            <a:r>
              <a:rPr dirty="0" sz="1800" spc="475">
                <a:latin typeface="Arial"/>
                <a:cs typeface="Arial"/>
              </a:rPr>
              <a:t> </a:t>
            </a:r>
            <a:r>
              <a:rPr dirty="0" baseline="1543" sz="2700" spc="-652">
                <a:latin typeface="Arial"/>
                <a:cs typeface="Arial"/>
              </a:rPr>
              <a:t>لُ </a:t>
            </a:r>
            <a:r>
              <a:rPr dirty="0" baseline="1543" sz="2700">
                <a:latin typeface="Arial"/>
                <a:cs typeface="Arial"/>
              </a:rPr>
              <a:t>آ </a:t>
            </a:r>
            <a:r>
              <a:rPr dirty="0" baseline="1543" sz="2700" spc="-322">
                <a:latin typeface="Arial"/>
                <a:cs typeface="Arial"/>
              </a:rPr>
              <a:t>هُ </a:t>
            </a:r>
            <a:r>
              <a:rPr dirty="0" baseline="1543" sz="2700" spc="-652">
                <a:latin typeface="Arial"/>
                <a:cs typeface="Arial"/>
              </a:rPr>
              <a:t>ط</a:t>
            </a:r>
            <a:r>
              <a:rPr dirty="0" baseline="10802" sz="2700" spc="-652">
                <a:latin typeface="Arial"/>
                <a:cs typeface="Arial"/>
              </a:rPr>
              <a:t>َ </a:t>
            </a:r>
            <a:r>
              <a:rPr dirty="0" baseline="1543" sz="2700" spc="-750">
                <a:latin typeface="Arial"/>
                <a:cs typeface="Arial"/>
              </a:rPr>
              <a:t>ق</a:t>
            </a:r>
            <a:r>
              <a:rPr dirty="0" baseline="6172" sz="2700" spc="-750">
                <a:latin typeface="Arial"/>
                <a:cs typeface="Arial"/>
              </a:rPr>
              <a:t>َ</a:t>
            </a:r>
            <a:r>
              <a:rPr dirty="0" baseline="1543" sz="2700" spc="-892">
                <a:latin typeface="Arial"/>
                <a:cs typeface="Arial"/>
              </a:rPr>
              <a:t>ت</a:t>
            </a:r>
            <a:r>
              <a:rPr dirty="0" baseline="6172" sz="2700" spc="-892">
                <a:latin typeface="Arial"/>
                <a:cs typeface="Arial"/>
              </a:rPr>
              <a:t>َ</a:t>
            </a:r>
            <a:r>
              <a:rPr dirty="0" baseline="6172" sz="2700" spc="-232">
                <a:latin typeface="Arial"/>
                <a:cs typeface="Arial"/>
              </a:rPr>
              <a:t> </a:t>
            </a:r>
            <a:r>
              <a:rPr dirty="0" baseline="1543" sz="2700" spc="-652">
                <a:latin typeface="Arial"/>
                <a:cs typeface="Arial"/>
              </a:rPr>
              <a:t>ل</a:t>
            </a:r>
            <a:r>
              <a:rPr dirty="0" baseline="12345" sz="2700" spc="-652">
                <a:latin typeface="Arial"/>
                <a:cs typeface="Arial"/>
              </a:rPr>
              <a:t>ْ</a:t>
            </a:r>
            <a:r>
              <a:rPr dirty="0" baseline="12345" sz="2700" spc="-615">
                <a:latin typeface="Arial"/>
                <a:cs typeface="Arial"/>
              </a:rPr>
              <a:t> </a:t>
            </a:r>
            <a:r>
              <a:rPr dirty="0" baseline="1543" sz="2700" spc="-1012">
                <a:latin typeface="Arial"/>
                <a:cs typeface="Arial"/>
              </a:rPr>
              <a:t>اف</a:t>
            </a:r>
            <a:endParaRPr baseline="1543" sz="2700">
              <a:latin typeface="Arial"/>
              <a:cs typeface="Arial"/>
            </a:endParaRPr>
          </a:p>
          <a:p>
            <a:pPr algn="just" marL="149225" marR="151765">
              <a:lnSpc>
                <a:spcPts val="1380"/>
              </a:lnSpc>
              <a:spcBef>
                <a:spcPts val="1395"/>
              </a:spcBef>
              <a:buAutoNum type="arabicPeriod" startAt="8"/>
              <a:tabLst>
                <a:tab pos="334010" algn="l"/>
              </a:tabLst>
            </a:pPr>
            <a:r>
              <a:rPr dirty="0" sz="1200" spc="-5">
                <a:latin typeface="Arial"/>
                <a:cs typeface="Arial"/>
              </a:rPr>
              <a:t>And </a:t>
            </a:r>
            <a:r>
              <a:rPr dirty="0" sz="1200">
                <a:latin typeface="Arial"/>
                <a:cs typeface="Arial"/>
              </a:rPr>
              <a:t>the </a:t>
            </a:r>
            <a:r>
              <a:rPr dirty="0" sz="1200" spc="-5">
                <a:latin typeface="Arial"/>
                <a:cs typeface="Arial"/>
              </a:rPr>
              <a:t>family </a:t>
            </a:r>
            <a:r>
              <a:rPr dirty="0" sz="1200">
                <a:latin typeface="Arial"/>
                <a:cs typeface="Arial"/>
              </a:rPr>
              <a:t>of </a:t>
            </a:r>
            <a:r>
              <a:rPr dirty="0" sz="1200" spc="-5">
                <a:latin typeface="Arial"/>
                <a:cs typeface="Arial"/>
              </a:rPr>
              <a:t>Pharaoh took him up, that he might become </a:t>
            </a:r>
            <a:r>
              <a:rPr dirty="0" sz="1200">
                <a:latin typeface="Arial"/>
                <a:cs typeface="Arial"/>
              </a:rPr>
              <a:t>for </a:t>
            </a:r>
            <a:r>
              <a:rPr dirty="0" sz="1200" spc="-5">
                <a:latin typeface="Arial"/>
                <a:cs typeface="Arial"/>
              </a:rPr>
              <a:t>them an enemy and a  sorrow. Lo! Pharaoh and Haman and their hosts were ever</a:t>
            </a:r>
            <a:r>
              <a:rPr dirty="0" sz="1200" spc="50">
                <a:latin typeface="Arial"/>
                <a:cs typeface="Arial"/>
              </a:rPr>
              <a:t> </a:t>
            </a:r>
            <a:r>
              <a:rPr dirty="0" sz="1200" spc="-5">
                <a:latin typeface="Arial"/>
                <a:cs typeface="Arial"/>
              </a:rPr>
              <a:t>sinning.</a:t>
            </a:r>
            <a:endParaRPr sz="1200">
              <a:latin typeface="Arial"/>
              <a:cs typeface="Arial"/>
            </a:endParaRPr>
          </a:p>
          <a:p>
            <a:pPr>
              <a:lnSpc>
                <a:spcPct val="100000"/>
              </a:lnSpc>
              <a:spcBef>
                <a:spcPts val="20"/>
              </a:spcBef>
              <a:buFont typeface="Arial"/>
              <a:buAutoNum type="arabicPeriod" startAt="8"/>
            </a:pPr>
            <a:endParaRPr sz="1100">
              <a:latin typeface="Arial"/>
              <a:cs typeface="Arial"/>
            </a:endParaRPr>
          </a:p>
          <a:p>
            <a:pPr algn="r" marR="195580">
              <a:lnSpc>
                <a:spcPts val="2140"/>
              </a:lnSpc>
            </a:pPr>
            <a:r>
              <a:rPr dirty="0" baseline="1543" sz="2700" spc="-509">
                <a:latin typeface="Arial"/>
                <a:cs typeface="Arial"/>
              </a:rPr>
              <a:t>لا</a:t>
            </a:r>
            <a:r>
              <a:rPr dirty="0" baseline="9259" sz="2700" spc="-509">
                <a:latin typeface="Arial"/>
                <a:cs typeface="Arial"/>
              </a:rPr>
              <a:t>َ      </a:t>
            </a:r>
            <a:r>
              <a:rPr dirty="0" baseline="1543" sz="2700" spc="-359">
                <a:latin typeface="Arial"/>
                <a:cs typeface="Arial"/>
              </a:rPr>
              <a:t>م</a:t>
            </a:r>
            <a:r>
              <a:rPr dirty="0" baseline="-3086" sz="2700" spc="-359">
                <a:latin typeface="Arial"/>
                <a:cs typeface="Arial"/>
              </a:rPr>
              <a:t>ْ</a:t>
            </a:r>
            <a:r>
              <a:rPr dirty="0" baseline="-3086" sz="2700" spc="30">
                <a:latin typeface="Arial"/>
                <a:cs typeface="Arial"/>
              </a:rPr>
              <a:t> </a:t>
            </a:r>
            <a:r>
              <a:rPr dirty="0" baseline="1543" sz="2700" spc="-307">
                <a:latin typeface="Arial"/>
                <a:cs typeface="Arial"/>
              </a:rPr>
              <a:t>هُ  و</a:t>
            </a:r>
            <a:r>
              <a:rPr dirty="0" baseline="-1543" sz="2700" spc="-307">
                <a:latin typeface="Arial"/>
                <a:cs typeface="Arial"/>
              </a:rPr>
              <a:t>َ   </a:t>
            </a:r>
            <a:r>
              <a:rPr dirty="0" baseline="1543" sz="2700" spc="-217">
                <a:latin typeface="Arial"/>
                <a:cs typeface="Arial"/>
              </a:rPr>
              <a:t>اد</a:t>
            </a:r>
            <a:r>
              <a:rPr dirty="0" baseline="4629" sz="2700" spc="-217">
                <a:latin typeface="Arial"/>
                <a:cs typeface="Arial"/>
              </a:rPr>
              <a:t>ً </a:t>
            </a:r>
            <a:r>
              <a:rPr dirty="0" baseline="9259" sz="2700" spc="-359">
                <a:latin typeface="Arial"/>
                <a:cs typeface="Arial"/>
              </a:rPr>
              <a:t>َ</a:t>
            </a:r>
            <a:r>
              <a:rPr dirty="0" baseline="1543" sz="2700" spc="-359">
                <a:latin typeface="Arial"/>
                <a:cs typeface="Arial"/>
              </a:rPr>
              <a:t>لو</a:t>
            </a:r>
            <a:r>
              <a:rPr dirty="0" baseline="-1543" sz="2700" spc="-359">
                <a:latin typeface="Arial"/>
                <a:cs typeface="Arial"/>
              </a:rPr>
              <a:t>َ    </a:t>
            </a:r>
            <a:r>
              <a:rPr dirty="0" baseline="1543" sz="2700" spc="-382">
                <a:latin typeface="Arial"/>
                <a:cs typeface="Arial"/>
              </a:rPr>
              <a:t>هُ  </a:t>
            </a:r>
            <a:r>
              <a:rPr dirty="0" baseline="1543" sz="2700" spc="-322">
                <a:latin typeface="Arial"/>
                <a:cs typeface="Arial"/>
              </a:rPr>
              <a:t>ذ</a:t>
            </a:r>
            <a:r>
              <a:rPr dirty="0" baseline="10802" sz="2700" spc="-322">
                <a:latin typeface="Arial"/>
                <a:cs typeface="Arial"/>
              </a:rPr>
              <a:t>َ  </a:t>
            </a:r>
            <a:r>
              <a:rPr dirty="0" baseline="1543" sz="2700" spc="-719">
                <a:latin typeface="Arial"/>
                <a:cs typeface="Arial"/>
              </a:rPr>
              <a:t>خ</a:t>
            </a:r>
            <a:r>
              <a:rPr dirty="0" sz="1800" spc="-480">
                <a:latin typeface="Arial"/>
                <a:cs typeface="Arial"/>
              </a:rPr>
              <a:t>ِ                                            </a:t>
            </a:r>
            <a:r>
              <a:rPr dirty="0" baseline="1543" sz="2700" spc="-607">
                <a:latin typeface="Arial"/>
                <a:cs typeface="Arial"/>
              </a:rPr>
              <a:t>ت</a:t>
            </a:r>
            <a:r>
              <a:rPr dirty="0" baseline="9259" sz="2700" spc="-607">
                <a:latin typeface="Arial"/>
                <a:cs typeface="Arial"/>
              </a:rPr>
              <a:t>َّ    </a:t>
            </a:r>
            <a:r>
              <a:rPr dirty="0" baseline="1543" sz="2700" spc="-652">
                <a:latin typeface="Arial"/>
                <a:cs typeface="Arial"/>
              </a:rPr>
              <a:t>ن</a:t>
            </a:r>
            <a:r>
              <a:rPr dirty="0" baseline="6172" sz="2700" spc="-652">
                <a:latin typeface="Arial"/>
                <a:cs typeface="Arial"/>
              </a:rPr>
              <a:t>َ             </a:t>
            </a:r>
            <a:r>
              <a:rPr dirty="0" baseline="1543" sz="2700" spc="-270">
                <a:latin typeface="Arial"/>
                <a:cs typeface="Arial"/>
              </a:rPr>
              <a:t>وْ </a:t>
            </a:r>
            <a:r>
              <a:rPr dirty="0" baseline="15432" sz="2700">
                <a:latin typeface="Arial"/>
                <a:cs typeface="Arial"/>
              </a:rPr>
              <a:t>َ</a:t>
            </a:r>
            <a:r>
              <a:rPr dirty="0" baseline="1543" sz="2700">
                <a:latin typeface="Arial"/>
                <a:cs typeface="Arial"/>
              </a:rPr>
              <a:t>أ </a:t>
            </a:r>
            <a:r>
              <a:rPr dirty="0" baseline="1543" sz="2700" spc="-419">
                <a:latin typeface="Arial"/>
                <a:cs typeface="Arial"/>
              </a:rPr>
              <a:t>ان</a:t>
            </a:r>
            <a:r>
              <a:rPr dirty="0" baseline="6172" sz="2700" spc="-419">
                <a:latin typeface="Arial"/>
                <a:cs typeface="Arial"/>
              </a:rPr>
              <a:t>َ  </a:t>
            </a:r>
            <a:r>
              <a:rPr dirty="0" baseline="1543" sz="2700" spc="-600">
                <a:latin typeface="Arial"/>
                <a:cs typeface="Arial"/>
              </a:rPr>
              <a:t>ع</a:t>
            </a:r>
            <a:r>
              <a:rPr dirty="0" baseline="-1543" sz="2700" spc="-600">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127">
                <a:latin typeface="Arial"/>
                <a:cs typeface="Arial"/>
              </a:rPr>
              <a:t> </a:t>
            </a:r>
            <a:r>
              <a:rPr dirty="0" baseline="1543" sz="2700" spc="-254">
                <a:latin typeface="Arial"/>
                <a:cs typeface="Arial"/>
              </a:rPr>
              <a:t>نٌ</a:t>
            </a:r>
            <a:r>
              <a:rPr dirty="0" baseline="-1543" sz="2700" spc="-254">
                <a:latin typeface="Arial"/>
                <a:cs typeface="Arial"/>
              </a:rPr>
              <a:t>َ   </a:t>
            </a:r>
            <a:r>
              <a:rPr dirty="0" baseline="1543" sz="2700" spc="-195">
                <a:latin typeface="Arial"/>
                <a:cs typeface="Arial"/>
              </a:rPr>
              <a:t>نأ</a:t>
            </a:r>
            <a:r>
              <a:rPr dirty="0" baseline="15432" sz="2700" spc="-195">
                <a:latin typeface="Arial"/>
                <a:cs typeface="Arial"/>
              </a:rPr>
              <a:t>َ  </a:t>
            </a:r>
            <a:r>
              <a:rPr dirty="0" baseline="1543" sz="2700" spc="-705">
                <a:latin typeface="Arial"/>
                <a:cs typeface="Arial"/>
              </a:rPr>
              <a:t>ىس</a:t>
            </a:r>
            <a:r>
              <a:rPr dirty="0" baseline="-1543" sz="2700" spc="-705">
                <a:latin typeface="Arial"/>
                <a:cs typeface="Arial"/>
              </a:rPr>
              <a:t>َ                          </a:t>
            </a:r>
            <a:r>
              <a:rPr dirty="0" baseline="1543" sz="2700" spc="-607">
                <a:latin typeface="Arial"/>
                <a:cs typeface="Arial"/>
              </a:rPr>
              <a:t>ع</a:t>
            </a:r>
            <a:r>
              <a:rPr dirty="0" baseline="-1543" sz="2700" spc="-607">
                <a:latin typeface="Arial"/>
                <a:cs typeface="Arial"/>
              </a:rPr>
              <a:t>َ             </a:t>
            </a:r>
            <a:r>
              <a:rPr dirty="0" baseline="1543" sz="2700" spc="-382">
                <a:latin typeface="Arial"/>
                <a:cs typeface="Arial"/>
              </a:rPr>
              <a:t>هُ  </a:t>
            </a:r>
            <a:r>
              <a:rPr dirty="0" baseline="1543" sz="2700" spc="-555">
                <a:latin typeface="Arial"/>
                <a:cs typeface="Arial"/>
              </a:rPr>
              <a:t>و</a:t>
            </a:r>
            <a:r>
              <a:rPr dirty="0" baseline="12345" sz="2700" spc="-555">
                <a:latin typeface="Arial"/>
                <a:cs typeface="Arial"/>
              </a:rPr>
              <a:t>ُ</a:t>
            </a:r>
            <a:r>
              <a:rPr dirty="0" baseline="1543" sz="2700" spc="-555">
                <a:latin typeface="Arial"/>
                <a:cs typeface="Arial"/>
              </a:rPr>
              <a:t>لت</a:t>
            </a:r>
            <a:r>
              <a:rPr dirty="0" baseline="9259" sz="2700" spc="-555">
                <a:latin typeface="Arial"/>
                <a:cs typeface="Arial"/>
              </a:rPr>
              <a:t>ُ   </a:t>
            </a:r>
            <a:r>
              <a:rPr dirty="0" baseline="1543" sz="2700" spc="-719">
                <a:latin typeface="Arial"/>
                <a:cs typeface="Arial"/>
              </a:rPr>
              <a:t>ق</a:t>
            </a:r>
            <a:r>
              <a:rPr dirty="0" baseline="9259" sz="2700" spc="-719">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532">
                <a:latin typeface="Arial"/>
                <a:cs typeface="Arial"/>
              </a:rPr>
              <a:t> </a:t>
            </a:r>
            <a:r>
              <a:rPr dirty="0" baseline="1543" sz="2700" spc="-509">
                <a:latin typeface="Arial"/>
                <a:cs typeface="Arial"/>
              </a:rPr>
              <a:t>لا</a:t>
            </a:r>
            <a:r>
              <a:rPr dirty="0" baseline="9259" sz="2700" spc="-509">
                <a:latin typeface="Arial"/>
                <a:cs typeface="Arial"/>
              </a:rPr>
              <a:t>َ      </a:t>
            </a:r>
            <a:r>
              <a:rPr dirty="0" baseline="1543" sz="2700" spc="-682">
                <a:latin typeface="Arial"/>
                <a:cs typeface="Arial"/>
              </a:rPr>
              <a:t>ك</a:t>
            </a:r>
            <a:r>
              <a:rPr dirty="0" baseline="-1543" sz="2700" spc="-682">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202">
                <a:latin typeface="Arial"/>
                <a:cs typeface="Arial"/>
              </a:rPr>
              <a:t>ً</a:t>
            </a:r>
            <a:r>
              <a:rPr dirty="0" baseline="12345" sz="2700" spc="-202">
                <a:latin typeface="Arial"/>
                <a:cs typeface="Arial"/>
              </a:rPr>
              <a:t>ِّ</a:t>
            </a:r>
            <a:r>
              <a:rPr dirty="0" baseline="1543" sz="2700" spc="-202">
                <a:latin typeface="Arial"/>
                <a:cs typeface="Arial"/>
              </a:rPr>
              <a:t>ل </a:t>
            </a:r>
            <a:r>
              <a:rPr dirty="0" baseline="1543" sz="2700" spc="-615">
                <a:latin typeface="Arial"/>
                <a:cs typeface="Arial"/>
              </a:rPr>
              <a:t>ن</a:t>
            </a:r>
            <a:r>
              <a:rPr dirty="0" baseline="-10802" sz="2700" spc="-615">
                <a:latin typeface="Arial"/>
                <a:cs typeface="Arial"/>
              </a:rPr>
              <a:t>ٍ         </a:t>
            </a:r>
            <a:r>
              <a:rPr dirty="0" baseline="1543" sz="2700">
                <a:latin typeface="Arial"/>
                <a:cs typeface="Arial"/>
              </a:rPr>
              <a:t>ٌْ </a:t>
            </a:r>
            <a:r>
              <a:rPr dirty="0" baseline="1543" sz="2700" spc="-607">
                <a:latin typeface="Arial"/>
                <a:cs typeface="Arial"/>
              </a:rPr>
              <a:t>ع</a:t>
            </a:r>
            <a:r>
              <a:rPr dirty="0" baseline="-1543" sz="2700" spc="-607">
                <a:latin typeface="Arial"/>
                <a:cs typeface="Arial"/>
              </a:rPr>
              <a:t>َ             </a:t>
            </a:r>
            <a:r>
              <a:rPr dirty="0" baseline="1543" sz="2700" spc="-802">
                <a:latin typeface="Arial"/>
                <a:cs typeface="Arial"/>
              </a:rPr>
              <a:t>ت</a:t>
            </a:r>
            <a:r>
              <a:rPr dirty="0" baseline="6172" sz="2700" spc="-802">
                <a:latin typeface="Arial"/>
                <a:cs typeface="Arial"/>
              </a:rPr>
              <a:t>ُ</a:t>
            </a:r>
            <a:r>
              <a:rPr dirty="0" baseline="6172" sz="2700" spc="855">
                <a:latin typeface="Arial"/>
                <a:cs typeface="Arial"/>
              </a:rPr>
              <a:t> </a:t>
            </a:r>
            <a:r>
              <a:rPr dirty="0" baseline="1543" sz="2700" spc="-345">
                <a:latin typeface="Arial"/>
                <a:cs typeface="Arial"/>
              </a:rPr>
              <a:t>ر</a:t>
            </a:r>
            <a:r>
              <a:rPr dirty="0" sz="1800" spc="-229">
                <a:latin typeface="Arial"/>
                <a:cs typeface="Arial"/>
              </a:rPr>
              <a:t>َّ   </a:t>
            </a:r>
            <a:r>
              <a:rPr dirty="0" baseline="9259" sz="2700" spc="-427">
                <a:latin typeface="Arial"/>
                <a:cs typeface="Arial"/>
              </a:rPr>
              <a:t>ُ</a:t>
            </a:r>
            <a:r>
              <a:rPr dirty="0" baseline="1543" sz="2700" spc="-427">
                <a:latin typeface="Arial"/>
                <a:cs typeface="Arial"/>
              </a:rPr>
              <a:t>ق  </a:t>
            </a:r>
            <a:r>
              <a:rPr dirty="0" baseline="1543" sz="2700" spc="-494">
                <a:latin typeface="Arial"/>
                <a:cs typeface="Arial"/>
              </a:rPr>
              <a:t>ن</a:t>
            </a:r>
            <a:r>
              <a:rPr dirty="0" baseline="-1543" sz="2700" spc="-494">
                <a:latin typeface="Arial"/>
                <a:cs typeface="Arial"/>
              </a:rPr>
              <a:t>َ    </a:t>
            </a:r>
            <a:r>
              <a:rPr dirty="0" baseline="1543" sz="2700" spc="-270">
                <a:latin typeface="Arial"/>
                <a:cs typeface="Arial"/>
              </a:rPr>
              <a:t>وْ </a:t>
            </a:r>
            <a:r>
              <a:rPr dirty="0" baseline="1543" sz="2700" spc="-607">
                <a:latin typeface="Arial"/>
                <a:cs typeface="Arial"/>
              </a:rPr>
              <a:t>ع</a:t>
            </a:r>
            <a:r>
              <a:rPr dirty="0" baseline="-1543" sz="2700" spc="-607">
                <a:latin typeface="Arial"/>
                <a:cs typeface="Arial"/>
              </a:rPr>
              <a:t>َ        </a:t>
            </a:r>
            <a:r>
              <a:rPr dirty="0" baseline="1543" sz="2700" spc="-457">
                <a:latin typeface="Arial"/>
                <a:cs typeface="Arial"/>
              </a:rPr>
              <a:t>رْ   </a:t>
            </a:r>
            <a:r>
              <a:rPr dirty="0" baseline="1543" sz="2700" spc="-1057">
                <a:latin typeface="Arial"/>
                <a:cs typeface="Arial"/>
              </a:rPr>
              <a:t>ف</a:t>
            </a:r>
            <a:r>
              <a:rPr dirty="0" sz="1800" spc="-705">
                <a:latin typeface="Arial"/>
                <a:cs typeface="Arial"/>
              </a:rPr>
              <a:t>ِ</a:t>
            </a:r>
            <a:r>
              <a:rPr dirty="0" sz="1800" spc="484">
                <a:latin typeface="Arial"/>
                <a:cs typeface="Arial"/>
              </a:rPr>
              <a:t> </a:t>
            </a:r>
            <a:r>
              <a:rPr dirty="0" baseline="1543" sz="2700" spc="-802">
                <a:latin typeface="Arial"/>
                <a:cs typeface="Arial"/>
              </a:rPr>
              <a:t>ت</a:t>
            </a:r>
            <a:r>
              <a:rPr dirty="0" baseline="6172" sz="2700" spc="-802">
                <a:latin typeface="Arial"/>
                <a:cs typeface="Arial"/>
              </a:rPr>
              <a:t>ُ</a:t>
            </a:r>
            <a:r>
              <a:rPr dirty="0" baseline="6172" sz="2700" spc="817">
                <a:latin typeface="Arial"/>
                <a:cs typeface="Arial"/>
              </a:rPr>
              <a:t> </a:t>
            </a:r>
            <a:r>
              <a:rPr dirty="0" baseline="15432" sz="2700" spc="-247">
                <a:latin typeface="Arial"/>
                <a:cs typeface="Arial"/>
              </a:rPr>
              <a:t>َ</a:t>
            </a:r>
            <a:r>
              <a:rPr dirty="0" baseline="1543" sz="2700" spc="-247">
                <a:latin typeface="Arial"/>
                <a:cs typeface="Arial"/>
              </a:rPr>
              <a:t>أر</a:t>
            </a:r>
            <a:r>
              <a:rPr dirty="0" baseline="-1543" sz="2700" spc="-247">
                <a:latin typeface="Arial"/>
                <a:cs typeface="Arial"/>
              </a:rPr>
              <a:t>َ  </a:t>
            </a:r>
            <a:r>
              <a:rPr dirty="0" baseline="1543" sz="2700" spc="-322">
                <a:latin typeface="Arial"/>
                <a:cs typeface="Arial"/>
              </a:rPr>
              <a:t>مْ  </a:t>
            </a:r>
            <a:r>
              <a:rPr dirty="0" baseline="1543" sz="2700">
                <a:latin typeface="Arial"/>
                <a:cs typeface="Arial"/>
              </a:rPr>
              <a:t>ا </a:t>
            </a:r>
            <a:r>
              <a:rPr dirty="0" baseline="1543" sz="2700" spc="-862">
                <a:latin typeface="Arial"/>
                <a:cs typeface="Arial"/>
              </a:rPr>
              <a:t>ت</a:t>
            </a:r>
            <a:r>
              <a:rPr dirty="0" sz="1800" spc="-575">
                <a:latin typeface="Arial"/>
                <a:cs typeface="Arial"/>
              </a:rPr>
              <a:t>ِ</a:t>
            </a:r>
            <a:r>
              <a:rPr dirty="0" sz="1800" spc="640">
                <a:latin typeface="Arial"/>
                <a:cs typeface="Arial"/>
              </a:rPr>
              <a:t> </a:t>
            </a:r>
            <a:r>
              <a:rPr dirty="0" baseline="9259" sz="2700" spc="-457">
                <a:latin typeface="Arial"/>
                <a:cs typeface="Arial"/>
              </a:rPr>
              <a:t>َ</a:t>
            </a:r>
            <a:r>
              <a:rPr dirty="0" baseline="1543" sz="2700" spc="-457">
                <a:latin typeface="Arial"/>
                <a:cs typeface="Arial"/>
              </a:rPr>
              <a:t>لاق</a:t>
            </a:r>
            <a:r>
              <a:rPr dirty="0" baseline="6172" sz="2700" spc="-457">
                <a:latin typeface="Arial"/>
                <a:cs typeface="Arial"/>
              </a:rPr>
              <a:t>َ</a:t>
            </a:r>
            <a:r>
              <a:rPr dirty="0" baseline="6172" sz="2700" spc="-419">
                <a:latin typeface="Arial"/>
                <a:cs typeface="Arial"/>
              </a:rPr>
              <a:t> </a:t>
            </a:r>
            <a:r>
              <a:rPr dirty="0" baseline="1543" sz="2700" spc="-615">
                <a:latin typeface="Arial"/>
                <a:cs typeface="Arial"/>
              </a:rPr>
              <a:t>و</a:t>
            </a:r>
            <a:endParaRPr baseline="1543" sz="2700">
              <a:latin typeface="Arial"/>
              <a:cs typeface="Arial"/>
            </a:endParaRPr>
          </a:p>
          <a:p>
            <a:pPr algn="r" marR="187960">
              <a:lnSpc>
                <a:spcPts val="2140"/>
              </a:lnSpc>
            </a:pPr>
            <a:r>
              <a:rPr dirty="0" baseline="3086" sz="2700" spc="-494">
                <a:latin typeface="Arial"/>
                <a:cs typeface="Arial"/>
              </a:rPr>
              <a:t>ن</a:t>
            </a:r>
            <a:r>
              <a:rPr dirty="0" sz="1800" spc="-330">
                <a:latin typeface="Arial"/>
                <a:cs typeface="Arial"/>
              </a:rPr>
              <a:t>َ    </a:t>
            </a:r>
            <a:r>
              <a:rPr dirty="0" baseline="3086" sz="2700" spc="-352">
                <a:latin typeface="Arial"/>
                <a:cs typeface="Arial"/>
              </a:rPr>
              <a:t>ورُ   </a:t>
            </a:r>
            <a:r>
              <a:rPr dirty="0" baseline="3086" sz="2700" spc="-637">
                <a:latin typeface="Arial"/>
                <a:cs typeface="Arial"/>
              </a:rPr>
              <a:t>عُ    </a:t>
            </a:r>
            <a:r>
              <a:rPr dirty="0" baseline="3086" sz="2700" spc="-630">
                <a:latin typeface="Arial"/>
                <a:cs typeface="Arial"/>
              </a:rPr>
              <a:t> </a:t>
            </a:r>
            <a:r>
              <a:rPr dirty="0" baseline="3086" sz="2700" spc="-1005">
                <a:latin typeface="Arial"/>
                <a:cs typeface="Arial"/>
              </a:rPr>
              <a:t>ش</a:t>
            </a:r>
            <a:r>
              <a:rPr dirty="0" baseline="12345" sz="2700" spc="-1005">
                <a:latin typeface="Arial"/>
                <a:cs typeface="Arial"/>
              </a:rPr>
              <a:t>ْ</a:t>
            </a:r>
            <a:r>
              <a:rPr dirty="0" baseline="12345" sz="2700" spc="434">
                <a:latin typeface="Arial"/>
                <a:cs typeface="Arial"/>
              </a:rPr>
              <a:t> </a:t>
            </a:r>
            <a:r>
              <a:rPr dirty="0" baseline="3086" sz="2700">
                <a:latin typeface="Arial"/>
                <a:cs typeface="Arial"/>
              </a:rPr>
              <a:t>ٌ</a:t>
            </a:r>
            <a:endParaRPr baseline="3086" sz="2700">
              <a:latin typeface="Arial"/>
              <a:cs typeface="Arial"/>
            </a:endParaRPr>
          </a:p>
          <a:p>
            <a:pPr algn="just" marL="149225" marR="149860">
              <a:lnSpc>
                <a:spcPts val="1380"/>
              </a:lnSpc>
              <a:spcBef>
                <a:spcPts val="1330"/>
              </a:spcBef>
              <a:buAutoNum type="arabicPeriod" startAt="9"/>
              <a:tabLst>
                <a:tab pos="328930" algn="l"/>
              </a:tabLst>
            </a:pPr>
            <a:r>
              <a:rPr dirty="0" sz="1200" spc="-5">
                <a:latin typeface="Arial"/>
                <a:cs typeface="Arial"/>
              </a:rPr>
              <a:t>And the wife of Pharaoh said: (He </a:t>
            </a:r>
            <a:r>
              <a:rPr dirty="0" sz="1200" spc="-10">
                <a:latin typeface="Arial"/>
                <a:cs typeface="Arial"/>
              </a:rPr>
              <a:t>will </a:t>
            </a:r>
            <a:r>
              <a:rPr dirty="0" sz="1200" spc="-5">
                <a:latin typeface="Arial"/>
                <a:cs typeface="Arial"/>
              </a:rPr>
              <a:t>be) a consolation </a:t>
            </a:r>
            <a:r>
              <a:rPr dirty="0" sz="1200">
                <a:latin typeface="Arial"/>
                <a:cs typeface="Arial"/>
              </a:rPr>
              <a:t>for me </a:t>
            </a:r>
            <a:r>
              <a:rPr dirty="0" sz="1200" spc="-5">
                <a:latin typeface="Arial"/>
                <a:cs typeface="Arial"/>
              </a:rPr>
              <a:t>and </a:t>
            </a:r>
            <a:r>
              <a:rPr dirty="0" sz="1200">
                <a:latin typeface="Arial"/>
                <a:cs typeface="Arial"/>
              </a:rPr>
              <a:t>for </a:t>
            </a:r>
            <a:r>
              <a:rPr dirty="0" sz="1200" spc="-5">
                <a:latin typeface="Arial"/>
                <a:cs typeface="Arial"/>
              </a:rPr>
              <a:t>thee. Kill him not.  Peradventure he may be of </a:t>
            </a:r>
            <a:r>
              <a:rPr dirty="0" sz="1200" spc="-10">
                <a:latin typeface="Arial"/>
                <a:cs typeface="Arial"/>
              </a:rPr>
              <a:t>use </a:t>
            </a:r>
            <a:r>
              <a:rPr dirty="0" sz="1200">
                <a:latin typeface="Arial"/>
                <a:cs typeface="Arial"/>
              </a:rPr>
              <a:t>to us, </a:t>
            </a:r>
            <a:r>
              <a:rPr dirty="0" sz="1200" spc="-5">
                <a:latin typeface="Arial"/>
                <a:cs typeface="Arial"/>
              </a:rPr>
              <a:t>or </a:t>
            </a:r>
            <a:r>
              <a:rPr dirty="0" sz="1200" spc="-10">
                <a:latin typeface="Arial"/>
                <a:cs typeface="Arial"/>
              </a:rPr>
              <a:t>we </a:t>
            </a:r>
            <a:r>
              <a:rPr dirty="0" sz="1200">
                <a:latin typeface="Arial"/>
                <a:cs typeface="Arial"/>
              </a:rPr>
              <a:t>may </a:t>
            </a:r>
            <a:r>
              <a:rPr dirty="0" sz="1200" spc="-5">
                <a:latin typeface="Arial"/>
                <a:cs typeface="Arial"/>
              </a:rPr>
              <a:t>choose </a:t>
            </a:r>
            <a:r>
              <a:rPr dirty="0" sz="1200" spc="-10">
                <a:latin typeface="Arial"/>
                <a:cs typeface="Arial"/>
              </a:rPr>
              <a:t>him </a:t>
            </a:r>
            <a:r>
              <a:rPr dirty="0" sz="1200">
                <a:latin typeface="Arial"/>
                <a:cs typeface="Arial"/>
              </a:rPr>
              <a:t>for </a:t>
            </a:r>
            <a:r>
              <a:rPr dirty="0" sz="1200" spc="-5">
                <a:latin typeface="Arial"/>
                <a:cs typeface="Arial"/>
              </a:rPr>
              <a:t>a </a:t>
            </a:r>
            <a:r>
              <a:rPr dirty="0" sz="1200">
                <a:latin typeface="Arial"/>
                <a:cs typeface="Arial"/>
              </a:rPr>
              <a:t>son. </a:t>
            </a:r>
            <a:r>
              <a:rPr dirty="0" sz="1200" spc="-5">
                <a:latin typeface="Arial"/>
                <a:cs typeface="Arial"/>
              </a:rPr>
              <a:t>And </a:t>
            </a:r>
            <a:r>
              <a:rPr dirty="0" sz="1200">
                <a:latin typeface="Arial"/>
                <a:cs typeface="Arial"/>
              </a:rPr>
              <a:t>they </a:t>
            </a:r>
            <a:r>
              <a:rPr dirty="0" sz="1200" spc="-5">
                <a:latin typeface="Arial"/>
                <a:cs typeface="Arial"/>
              </a:rPr>
              <a:t>perceived  </a:t>
            </a:r>
            <a:r>
              <a:rPr dirty="0" sz="1200">
                <a:latin typeface="Arial"/>
                <a:cs typeface="Arial"/>
              </a:rPr>
              <a:t>not.</a:t>
            </a:r>
            <a:endParaRPr sz="1200">
              <a:latin typeface="Arial"/>
              <a:cs typeface="Arial"/>
            </a:endParaRPr>
          </a:p>
          <a:p>
            <a:pPr>
              <a:lnSpc>
                <a:spcPct val="100000"/>
              </a:lnSpc>
              <a:spcBef>
                <a:spcPts val="20"/>
              </a:spcBef>
            </a:pPr>
            <a:endParaRPr sz="1100">
              <a:latin typeface="Arial"/>
              <a:cs typeface="Arial"/>
            </a:endParaRPr>
          </a:p>
          <a:p>
            <a:pPr algn="r" marR="200025">
              <a:lnSpc>
                <a:spcPct val="100000"/>
              </a:lnSpc>
            </a:pPr>
            <a:r>
              <a:rPr dirty="0" baseline="1543" sz="2700" spc="-494">
                <a:latin typeface="Arial"/>
                <a:cs typeface="Arial"/>
              </a:rPr>
              <a:t>ن</a:t>
            </a:r>
            <a:r>
              <a:rPr dirty="0" baseline="-1543" sz="2700" spc="-494">
                <a:latin typeface="Arial"/>
                <a:cs typeface="Arial"/>
              </a:rPr>
              <a:t>َ </a:t>
            </a:r>
            <a:r>
              <a:rPr dirty="0" baseline="1543" sz="2700" spc="-270">
                <a:latin typeface="Arial"/>
                <a:cs typeface="Arial"/>
              </a:rPr>
              <a:t>ومُ </a:t>
            </a:r>
            <a:r>
              <a:rPr dirty="0" baseline="9259" sz="2700" spc="-487">
                <a:latin typeface="Arial"/>
                <a:cs typeface="Arial"/>
              </a:rPr>
              <a:t>َ</a:t>
            </a:r>
            <a:r>
              <a:rPr dirty="0" baseline="1543" sz="2700" spc="-487">
                <a:latin typeface="Arial"/>
                <a:cs typeface="Arial"/>
              </a:rPr>
              <a:t>لعْ </a:t>
            </a:r>
            <a:r>
              <a:rPr dirty="0" baseline="1543" sz="2700">
                <a:latin typeface="Arial"/>
                <a:cs typeface="Arial"/>
              </a:rPr>
              <a:t>ٌ</a:t>
            </a:r>
            <a:r>
              <a:rPr dirty="0" baseline="-1543" sz="2700">
                <a:latin typeface="Arial"/>
                <a:cs typeface="Arial"/>
              </a:rPr>
              <a:t>َ </a:t>
            </a:r>
            <a:r>
              <a:rPr dirty="0" baseline="1543" sz="2700" spc="-502">
                <a:latin typeface="Arial"/>
                <a:cs typeface="Arial"/>
              </a:rPr>
              <a:t>لا</a:t>
            </a:r>
            <a:r>
              <a:rPr dirty="0" baseline="9259" sz="2700" spc="-502">
                <a:latin typeface="Arial"/>
                <a:cs typeface="Arial"/>
              </a:rPr>
              <a:t>َ</a:t>
            </a:r>
            <a:r>
              <a:rPr dirty="0" baseline="9259" sz="2700" spc="-254">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 </a:t>
            </a:r>
            <a:r>
              <a:rPr dirty="0" baseline="1543" sz="2700" spc="-494">
                <a:latin typeface="Arial"/>
                <a:cs typeface="Arial"/>
              </a:rPr>
              <a:t>ر</a:t>
            </a:r>
            <a:r>
              <a:rPr dirty="0" baseline="-1543" sz="2700" spc="-494">
                <a:latin typeface="Arial"/>
                <a:cs typeface="Arial"/>
              </a:rPr>
              <a:t>َ </a:t>
            </a:r>
            <a:r>
              <a:rPr dirty="0" baseline="1543" sz="2700" spc="-892">
                <a:latin typeface="Arial"/>
                <a:cs typeface="Arial"/>
              </a:rPr>
              <a:t>ث</a:t>
            </a:r>
            <a:r>
              <a:rPr dirty="0" baseline="10802" sz="2700" spc="-892">
                <a:latin typeface="Arial"/>
                <a:cs typeface="Arial"/>
              </a:rPr>
              <a:t>َ</a:t>
            </a:r>
            <a:r>
              <a:rPr dirty="0" baseline="10802" sz="2700" spc="-217">
                <a:latin typeface="Arial"/>
                <a:cs typeface="Arial"/>
              </a:rPr>
              <a:t> </a:t>
            </a:r>
            <a:r>
              <a:rPr dirty="0" baseline="1543" sz="2700" spc="-682">
                <a:latin typeface="Arial"/>
                <a:cs typeface="Arial"/>
              </a:rPr>
              <a:t>ك</a:t>
            </a:r>
            <a:r>
              <a:rPr dirty="0" baseline="9259" sz="2700" spc="-682">
                <a:latin typeface="Arial"/>
                <a:cs typeface="Arial"/>
              </a:rPr>
              <a:t>ْ </a:t>
            </a:r>
            <a:r>
              <a:rPr dirty="0" baseline="15432" sz="2700">
                <a:latin typeface="Arial"/>
                <a:cs typeface="Arial"/>
              </a:rPr>
              <a:t>َ</a:t>
            </a:r>
            <a:r>
              <a:rPr dirty="0" baseline="1543" sz="2700">
                <a:latin typeface="Arial"/>
                <a:cs typeface="Arial"/>
              </a:rPr>
              <a:t>أ </a:t>
            </a:r>
            <a:r>
              <a:rPr dirty="0" baseline="1543" sz="2700" spc="-345">
                <a:latin typeface="Arial"/>
                <a:cs typeface="Arial"/>
              </a:rPr>
              <a:t>ن</a:t>
            </a:r>
            <a:r>
              <a:rPr dirty="0" sz="1800" spc="-229">
                <a:latin typeface="Arial"/>
                <a:cs typeface="Arial"/>
              </a:rPr>
              <a:t>َّ </a:t>
            </a:r>
            <a:r>
              <a:rPr dirty="0" baseline="1543" sz="2700" spc="-727">
                <a:latin typeface="Arial"/>
                <a:cs typeface="Arial"/>
              </a:rPr>
              <a:t>ك</a:t>
            </a:r>
            <a:r>
              <a:rPr dirty="0" sz="1800" spc="-484">
                <a:latin typeface="Arial"/>
                <a:cs typeface="Arial"/>
              </a:rPr>
              <a:t>ِ </a:t>
            </a:r>
            <a:r>
              <a:rPr dirty="0" baseline="9259" sz="2700" spc="-359">
                <a:latin typeface="Arial"/>
                <a:cs typeface="Arial"/>
              </a:rPr>
              <a:t>َ</a:t>
            </a:r>
            <a:r>
              <a:rPr dirty="0" baseline="1543" sz="2700" spc="-359">
                <a:latin typeface="Arial"/>
                <a:cs typeface="Arial"/>
              </a:rPr>
              <a:t>لو</a:t>
            </a:r>
            <a:r>
              <a:rPr dirty="0" baseline="-1543" sz="2700" spc="-359">
                <a:latin typeface="Arial"/>
                <a:cs typeface="Arial"/>
              </a:rPr>
              <a:t>َ </a:t>
            </a:r>
            <a:r>
              <a:rPr dirty="0" baseline="1543" sz="2700" spc="-375">
                <a:latin typeface="Arial"/>
                <a:cs typeface="Arial"/>
              </a:rPr>
              <a:t>ق</a:t>
            </a:r>
            <a:r>
              <a:rPr dirty="0" baseline="6172" sz="2700" spc="-375">
                <a:latin typeface="Arial"/>
                <a:cs typeface="Arial"/>
              </a:rPr>
              <a:t>ٌّ </a:t>
            </a:r>
            <a:r>
              <a:rPr dirty="0" baseline="1543" sz="2700" spc="-592">
                <a:latin typeface="Arial"/>
                <a:cs typeface="Arial"/>
              </a:rPr>
              <a:t>ح</a:t>
            </a:r>
            <a:r>
              <a:rPr dirty="0" baseline="-1543" sz="2700" spc="-592">
                <a:latin typeface="Arial"/>
                <a:cs typeface="Arial"/>
              </a:rPr>
              <a:t>َ </a:t>
            </a:r>
            <a:r>
              <a:rPr dirty="0" baseline="-1543" sz="2700" spc="-600">
                <a:latin typeface="Arial"/>
                <a:cs typeface="Arial"/>
              </a:rPr>
              <a:t>ِ</a:t>
            </a:r>
            <a:r>
              <a:rPr dirty="0" baseline="1543" sz="2700" spc="-600">
                <a:latin typeface="Arial"/>
                <a:cs typeface="Arial"/>
              </a:rPr>
              <a:t>اللَّ</a:t>
            </a:r>
            <a:r>
              <a:rPr dirty="0" baseline="13888" sz="2700" spc="-600">
                <a:latin typeface="Arial"/>
                <a:cs typeface="Arial"/>
              </a:rPr>
              <a:t>َّ </a:t>
            </a:r>
            <a:r>
              <a:rPr dirty="0" baseline="1543" sz="2700" spc="-322">
                <a:latin typeface="Arial"/>
                <a:cs typeface="Arial"/>
              </a:rPr>
              <a:t>د</a:t>
            </a:r>
            <a:r>
              <a:rPr dirty="0" sz="1800" spc="-215">
                <a:latin typeface="Arial"/>
                <a:cs typeface="Arial"/>
              </a:rPr>
              <a:t>َ </a:t>
            </a:r>
            <a:r>
              <a:rPr dirty="0" baseline="1543" sz="2700" spc="-577">
                <a:latin typeface="Arial"/>
                <a:cs typeface="Arial"/>
              </a:rPr>
              <a:t>عْ </a:t>
            </a:r>
            <a:r>
              <a:rPr dirty="0" baseline="1543" sz="2700" spc="-307">
                <a:latin typeface="Arial"/>
                <a:cs typeface="Arial"/>
              </a:rPr>
              <a:t>و</a:t>
            </a:r>
            <a:r>
              <a:rPr dirty="0" baseline="-1543" sz="2700" spc="-307">
                <a:latin typeface="Arial"/>
                <a:cs typeface="Arial"/>
              </a:rPr>
              <a:t>َ </a:t>
            </a:r>
            <a:r>
              <a:rPr dirty="0" baseline="1543" sz="2700" spc="-345">
                <a:latin typeface="Arial"/>
                <a:cs typeface="Arial"/>
              </a:rPr>
              <a:t>ن</a:t>
            </a:r>
            <a:r>
              <a:rPr dirty="0" sz="1800" spc="-229">
                <a:latin typeface="Arial"/>
                <a:cs typeface="Arial"/>
              </a:rPr>
              <a:t>َّ </a:t>
            </a:r>
            <a:r>
              <a:rPr dirty="0" baseline="15432" sz="2700">
                <a:latin typeface="Arial"/>
                <a:cs typeface="Arial"/>
              </a:rPr>
              <a:t>َ</a:t>
            </a:r>
            <a:r>
              <a:rPr dirty="0" baseline="1543" sz="2700">
                <a:latin typeface="Arial"/>
                <a:cs typeface="Arial"/>
              </a:rPr>
              <a:t>أ </a:t>
            </a:r>
            <a:r>
              <a:rPr dirty="0" baseline="1543" sz="2700" spc="-390">
                <a:latin typeface="Arial"/>
                <a:cs typeface="Arial"/>
              </a:rPr>
              <a:t>م</a:t>
            </a:r>
            <a:r>
              <a:rPr dirty="0" baseline="-7716" sz="2700" spc="-390">
                <a:latin typeface="Arial"/>
                <a:cs typeface="Arial"/>
              </a:rPr>
              <a:t>َ </a:t>
            </a:r>
            <a:r>
              <a:rPr dirty="0" baseline="9259" sz="2700" spc="-487">
                <a:latin typeface="Arial"/>
                <a:cs typeface="Arial"/>
              </a:rPr>
              <a:t>َ</a:t>
            </a:r>
            <a:r>
              <a:rPr dirty="0" baseline="1543" sz="2700" spc="-487">
                <a:latin typeface="Arial"/>
                <a:cs typeface="Arial"/>
              </a:rPr>
              <a:t>لعْ </a:t>
            </a:r>
            <a:r>
              <a:rPr dirty="0" baseline="1543" sz="2700" spc="-892">
                <a:latin typeface="Arial"/>
                <a:cs typeface="Arial"/>
              </a:rPr>
              <a:t>ت</a:t>
            </a:r>
            <a:r>
              <a:rPr dirty="0" baseline="6172" sz="2700" spc="-892">
                <a:latin typeface="Arial"/>
                <a:cs typeface="Arial"/>
              </a:rPr>
              <a:t>َ</a:t>
            </a:r>
            <a:r>
              <a:rPr dirty="0" baseline="6172" sz="2700" spc="-247">
                <a:latin typeface="Arial"/>
                <a:cs typeface="Arial"/>
              </a:rPr>
              <a:t> </a:t>
            </a:r>
            <a:r>
              <a:rPr dirty="0" sz="1800" spc="-245">
                <a:latin typeface="Arial"/>
                <a:cs typeface="Arial"/>
              </a:rPr>
              <a:t>ِ</a:t>
            </a:r>
            <a:r>
              <a:rPr dirty="0" baseline="1543" sz="2700" spc="-367">
                <a:latin typeface="Arial"/>
                <a:cs typeface="Arial"/>
              </a:rPr>
              <a:t>لو</a:t>
            </a:r>
            <a:r>
              <a:rPr dirty="0" baseline="-1543" sz="2700" spc="-367">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494">
                <a:latin typeface="Arial"/>
                <a:cs typeface="Arial"/>
              </a:rPr>
              <a:t>ز</a:t>
            </a:r>
            <a:r>
              <a:rPr dirty="0" baseline="6172" sz="2700" spc="-494">
                <a:latin typeface="Arial"/>
                <a:cs typeface="Arial"/>
              </a:rPr>
              <a:t>َ </a:t>
            </a:r>
            <a:r>
              <a:rPr dirty="0" baseline="1543" sz="2700" spc="-555">
                <a:latin typeface="Arial"/>
                <a:cs typeface="Arial"/>
              </a:rPr>
              <a:t>حْ </a:t>
            </a:r>
            <a:r>
              <a:rPr dirty="0" baseline="1543" sz="2700" spc="-892">
                <a:latin typeface="Arial"/>
                <a:cs typeface="Arial"/>
              </a:rPr>
              <a:t>ت</a:t>
            </a:r>
            <a:r>
              <a:rPr dirty="0" baseline="6172" sz="2700" spc="-892">
                <a:latin typeface="Arial"/>
                <a:cs typeface="Arial"/>
              </a:rPr>
              <a:t>َ</a:t>
            </a:r>
            <a:r>
              <a:rPr dirty="0" baseline="6172" sz="2700" spc="569">
                <a:latin typeface="Arial"/>
                <a:cs typeface="Arial"/>
              </a:rPr>
              <a:t> </a:t>
            </a:r>
            <a:r>
              <a:rPr dirty="0" baseline="1543" sz="2700" spc="-509">
                <a:latin typeface="Arial"/>
                <a:cs typeface="Arial"/>
              </a:rPr>
              <a:t>لا</a:t>
            </a:r>
            <a:r>
              <a:rPr dirty="0" baseline="9259" sz="2700" spc="-509">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202">
                <a:latin typeface="Arial"/>
                <a:cs typeface="Arial"/>
              </a:rPr>
              <a:t>اه</a:t>
            </a:r>
            <a:r>
              <a:rPr dirty="0" baseline="-1543" sz="2700" spc="-202">
                <a:latin typeface="Arial"/>
                <a:cs typeface="Arial"/>
              </a:rPr>
              <a:t>َ </a:t>
            </a:r>
            <a:r>
              <a:rPr dirty="0" baseline="1543" sz="2700" spc="-682">
                <a:latin typeface="Arial"/>
                <a:cs typeface="Arial"/>
              </a:rPr>
              <a:t>ن</a:t>
            </a:r>
            <a:r>
              <a:rPr dirty="0" baseline="9259" sz="2700" spc="-682">
                <a:latin typeface="Arial"/>
                <a:cs typeface="Arial"/>
              </a:rPr>
              <a:t>ُ </a:t>
            </a:r>
            <a:r>
              <a:rPr dirty="0" baseline="1543" sz="2700">
                <a:latin typeface="Arial"/>
                <a:cs typeface="Arial"/>
              </a:rPr>
              <a:t>ٌْ </a:t>
            </a:r>
            <a:r>
              <a:rPr dirty="0" baseline="1543" sz="2700" spc="-607">
                <a:latin typeface="Arial"/>
                <a:cs typeface="Arial"/>
              </a:rPr>
              <a:t>ع</a:t>
            </a:r>
            <a:r>
              <a:rPr dirty="0" baseline="-1543" sz="2700" spc="-607">
                <a:latin typeface="Arial"/>
                <a:cs typeface="Arial"/>
              </a:rPr>
              <a:t>َ </a:t>
            </a:r>
            <a:r>
              <a:rPr dirty="0" baseline="1543" sz="2700" spc="-345">
                <a:latin typeface="Arial"/>
                <a:cs typeface="Arial"/>
              </a:rPr>
              <a:t>ر</a:t>
            </a:r>
            <a:r>
              <a:rPr dirty="0" sz="1800" spc="-229">
                <a:latin typeface="Arial"/>
                <a:cs typeface="Arial"/>
              </a:rPr>
              <a:t>َّ </a:t>
            </a:r>
            <a:r>
              <a:rPr dirty="0" baseline="1543" sz="2700" spc="-750">
                <a:latin typeface="Arial"/>
                <a:cs typeface="Arial"/>
              </a:rPr>
              <a:t>ق</a:t>
            </a:r>
            <a:r>
              <a:rPr dirty="0" baseline="6172" sz="2700" spc="-750">
                <a:latin typeface="Arial"/>
                <a:cs typeface="Arial"/>
              </a:rPr>
              <a:t>َ</a:t>
            </a:r>
            <a:r>
              <a:rPr dirty="0" baseline="1543" sz="2700" spc="-892">
                <a:latin typeface="Arial"/>
                <a:cs typeface="Arial"/>
              </a:rPr>
              <a:t>ت</a:t>
            </a:r>
            <a:r>
              <a:rPr dirty="0" baseline="6172" sz="2700" spc="-892">
                <a:latin typeface="Arial"/>
                <a:cs typeface="Arial"/>
              </a:rPr>
              <a:t>َ</a:t>
            </a:r>
            <a:r>
              <a:rPr dirty="0" baseline="6172" sz="2700" spc="569">
                <a:latin typeface="Arial"/>
                <a:cs typeface="Arial"/>
              </a:rPr>
              <a:t> </a:t>
            </a:r>
            <a:r>
              <a:rPr dirty="0" baseline="1543" sz="2700">
                <a:latin typeface="Arial"/>
                <a:cs typeface="Arial"/>
              </a:rPr>
              <a:t>ًْ </a:t>
            </a:r>
            <a:r>
              <a:rPr dirty="0" baseline="1543" sz="2700" spc="-719">
                <a:latin typeface="Arial"/>
                <a:cs typeface="Arial"/>
              </a:rPr>
              <a:t>ك</a:t>
            </a:r>
            <a:r>
              <a:rPr dirty="0" baseline="6172" sz="2700" spc="-719">
                <a:latin typeface="Arial"/>
                <a:cs typeface="Arial"/>
              </a:rPr>
              <a:t>َ</a:t>
            </a:r>
            <a:r>
              <a:rPr dirty="0" baseline="6172" sz="2700" spc="-697">
                <a:latin typeface="Arial"/>
                <a:cs typeface="Arial"/>
              </a:rPr>
              <a:t> </a:t>
            </a:r>
            <a:r>
              <a:rPr dirty="0" baseline="1543" sz="2700" spc="-337">
                <a:latin typeface="Arial"/>
                <a:cs typeface="Arial"/>
              </a:rPr>
              <a:t>ه</a:t>
            </a:r>
            <a:r>
              <a:rPr dirty="0" sz="1800" spc="-225">
                <a:latin typeface="Arial"/>
                <a:cs typeface="Arial"/>
              </a:rPr>
              <a:t>ِ </a:t>
            </a:r>
            <a:r>
              <a:rPr dirty="0" baseline="1543" sz="2700" spc="-254">
                <a:latin typeface="Arial"/>
                <a:cs typeface="Arial"/>
              </a:rPr>
              <a:t>مِّ </a:t>
            </a:r>
            <a:r>
              <a:rPr dirty="0" baseline="18518" sz="2700">
                <a:latin typeface="Arial"/>
                <a:cs typeface="Arial"/>
              </a:rPr>
              <a:t>ُ</a:t>
            </a:r>
            <a:r>
              <a:rPr dirty="0" baseline="1543" sz="2700">
                <a:latin typeface="Arial"/>
                <a:cs typeface="Arial"/>
              </a:rPr>
              <a:t>أ </a:t>
            </a:r>
            <a:r>
              <a:rPr dirty="0" baseline="1543" sz="2700" spc="-202">
                <a:latin typeface="Arial"/>
                <a:cs typeface="Arial"/>
              </a:rPr>
              <a:t>ى</a:t>
            </a:r>
            <a:r>
              <a:rPr dirty="0" baseline="9259" sz="2700" spc="-202">
                <a:latin typeface="Arial"/>
                <a:cs typeface="Arial"/>
              </a:rPr>
              <a:t>َ</a:t>
            </a:r>
            <a:r>
              <a:rPr dirty="0" baseline="1543" sz="2700" spc="-202">
                <a:latin typeface="Arial"/>
                <a:cs typeface="Arial"/>
              </a:rPr>
              <a:t>ل</a:t>
            </a:r>
            <a:r>
              <a:rPr dirty="0" baseline="-12345" sz="2700" spc="-202">
                <a:latin typeface="Arial"/>
                <a:cs typeface="Arial"/>
              </a:rPr>
              <a:t>ِ</a:t>
            </a:r>
            <a:r>
              <a:rPr dirty="0" baseline="1543" sz="2700" spc="-202">
                <a:latin typeface="Arial"/>
                <a:cs typeface="Arial"/>
              </a:rPr>
              <a:t>إ </a:t>
            </a:r>
            <a:r>
              <a:rPr dirty="0" baseline="1543" sz="2700" spc="-254">
                <a:latin typeface="Arial"/>
                <a:cs typeface="Arial"/>
              </a:rPr>
              <a:t>ُهان</a:t>
            </a:r>
            <a:r>
              <a:rPr dirty="0" baseline="6172" sz="2700" spc="-254">
                <a:latin typeface="Arial"/>
                <a:cs typeface="Arial"/>
              </a:rPr>
              <a:t>َ </a:t>
            </a:r>
            <a:r>
              <a:rPr dirty="0" baseline="1543" sz="2700" spc="-284">
                <a:latin typeface="Arial"/>
                <a:cs typeface="Arial"/>
              </a:rPr>
              <a:t>د</a:t>
            </a:r>
            <a:r>
              <a:rPr dirty="0" baseline="4629" sz="2700" spc="-284">
                <a:latin typeface="Arial"/>
                <a:cs typeface="Arial"/>
              </a:rPr>
              <a:t>ْ </a:t>
            </a:r>
            <a:r>
              <a:rPr dirty="0" baseline="1543" sz="2700" spc="-322">
                <a:latin typeface="Arial"/>
                <a:cs typeface="Arial"/>
              </a:rPr>
              <a:t>د</a:t>
            </a:r>
            <a:r>
              <a:rPr dirty="0" sz="1800" spc="-215">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2062">
                <a:latin typeface="Arial"/>
                <a:cs typeface="Arial"/>
              </a:rPr>
              <a:t>ف</a:t>
            </a:r>
            <a:endParaRPr baseline="1543" sz="2700">
              <a:latin typeface="Arial"/>
              <a:cs typeface="Arial"/>
            </a:endParaRPr>
          </a:p>
          <a:p>
            <a:pPr algn="just" marL="149225" marR="146050">
              <a:lnSpc>
                <a:spcPts val="1380"/>
              </a:lnSpc>
              <a:spcBef>
                <a:spcPts val="1385"/>
              </a:spcBef>
              <a:buAutoNum type="arabicPeriod" startAt="13"/>
              <a:tabLst>
                <a:tab pos="415925" algn="l"/>
              </a:tabLst>
            </a:pPr>
            <a:r>
              <a:rPr dirty="0" sz="1200" spc="-10">
                <a:latin typeface="Arial"/>
                <a:cs typeface="Arial"/>
              </a:rPr>
              <a:t>So </a:t>
            </a:r>
            <a:r>
              <a:rPr dirty="0" sz="1200" spc="15">
                <a:latin typeface="Arial"/>
                <a:cs typeface="Arial"/>
              </a:rPr>
              <a:t>We </a:t>
            </a:r>
            <a:r>
              <a:rPr dirty="0" sz="1200" spc="-5">
                <a:latin typeface="Arial"/>
                <a:cs typeface="Arial"/>
              </a:rPr>
              <a:t>restored </a:t>
            </a:r>
            <a:r>
              <a:rPr dirty="0" sz="1200" spc="-10">
                <a:latin typeface="Arial"/>
                <a:cs typeface="Arial"/>
              </a:rPr>
              <a:t>him </a:t>
            </a:r>
            <a:r>
              <a:rPr dirty="0" sz="1200">
                <a:latin typeface="Arial"/>
                <a:cs typeface="Arial"/>
              </a:rPr>
              <a:t>to </a:t>
            </a:r>
            <a:r>
              <a:rPr dirty="0" sz="1200" spc="-5">
                <a:latin typeface="Arial"/>
                <a:cs typeface="Arial"/>
              </a:rPr>
              <a:t>his mother that </a:t>
            </a:r>
            <a:r>
              <a:rPr dirty="0" sz="1200" spc="-10">
                <a:latin typeface="Arial"/>
                <a:cs typeface="Arial"/>
              </a:rPr>
              <a:t>she </a:t>
            </a:r>
            <a:r>
              <a:rPr dirty="0" sz="1200" spc="-5">
                <a:latin typeface="Arial"/>
                <a:cs typeface="Arial"/>
              </a:rPr>
              <a:t>might be comforted and not </a:t>
            </a:r>
            <a:r>
              <a:rPr dirty="0" sz="1200" spc="-10">
                <a:latin typeface="Arial"/>
                <a:cs typeface="Arial"/>
              </a:rPr>
              <a:t>grieve, </a:t>
            </a:r>
            <a:r>
              <a:rPr dirty="0" sz="1200" spc="-5">
                <a:latin typeface="Arial"/>
                <a:cs typeface="Arial"/>
              </a:rPr>
              <a:t>and that  she might know that the promise of Allah is true. But most of them know</a:t>
            </a:r>
            <a:r>
              <a:rPr dirty="0" sz="1200" spc="65">
                <a:latin typeface="Arial"/>
                <a:cs typeface="Arial"/>
              </a:rPr>
              <a:t> </a:t>
            </a:r>
            <a:r>
              <a:rPr dirty="0" sz="1200">
                <a:latin typeface="Arial"/>
                <a:cs typeface="Arial"/>
              </a:rPr>
              <a:t>not.</a:t>
            </a:r>
            <a:endParaRPr sz="1200">
              <a:latin typeface="Arial"/>
              <a:cs typeface="Arial"/>
            </a:endParaRPr>
          </a:p>
          <a:p>
            <a:pPr>
              <a:lnSpc>
                <a:spcPct val="100000"/>
              </a:lnSpc>
              <a:spcBef>
                <a:spcPts val="20"/>
              </a:spcBef>
              <a:buFont typeface="Arial"/>
              <a:buAutoNum type="arabicPeriod" startAt="13"/>
            </a:pPr>
            <a:endParaRPr sz="1150">
              <a:latin typeface="Arial"/>
              <a:cs typeface="Arial"/>
            </a:endParaRPr>
          </a:p>
          <a:p>
            <a:pPr algn="r" marR="196850">
              <a:lnSpc>
                <a:spcPct val="100000"/>
              </a:lnSpc>
            </a:pPr>
            <a:r>
              <a:rPr dirty="0" baseline="3086" sz="2700" spc="-494">
                <a:latin typeface="Arial"/>
                <a:cs typeface="Arial"/>
              </a:rPr>
              <a:t>ن</a:t>
            </a:r>
            <a:r>
              <a:rPr dirty="0" sz="1800" spc="-330">
                <a:latin typeface="Arial"/>
                <a:cs typeface="Arial"/>
              </a:rPr>
              <a:t>َ </a:t>
            </a:r>
            <a:r>
              <a:rPr dirty="0" baseline="3086" sz="2700" spc="-472">
                <a:latin typeface="Arial"/>
                <a:cs typeface="Arial"/>
              </a:rPr>
              <a:t>ٌن</a:t>
            </a:r>
            <a:r>
              <a:rPr dirty="0" baseline="1543" sz="2700" spc="-472">
                <a:latin typeface="Arial"/>
                <a:cs typeface="Arial"/>
              </a:rPr>
              <a:t>ِ </a:t>
            </a:r>
            <a:r>
              <a:rPr dirty="0" baseline="3086" sz="2700" spc="-937">
                <a:latin typeface="Arial"/>
                <a:cs typeface="Arial"/>
              </a:rPr>
              <a:t>س</a:t>
            </a:r>
            <a:r>
              <a:rPr dirty="0" baseline="1543" sz="2700" spc="-937">
                <a:latin typeface="Arial"/>
                <a:cs typeface="Arial"/>
              </a:rPr>
              <a:t>ِ</a:t>
            </a:r>
            <a:r>
              <a:rPr dirty="0" baseline="1543" sz="2700" spc="322">
                <a:latin typeface="Arial"/>
                <a:cs typeface="Arial"/>
              </a:rPr>
              <a:t> </a:t>
            </a:r>
            <a:r>
              <a:rPr dirty="0" baseline="3086" sz="2700" spc="-555">
                <a:latin typeface="Arial"/>
                <a:cs typeface="Arial"/>
              </a:rPr>
              <a:t>حْ </a:t>
            </a:r>
            <a:r>
              <a:rPr dirty="0" baseline="3086" sz="2700" spc="-397">
                <a:latin typeface="Arial"/>
                <a:cs typeface="Arial"/>
              </a:rPr>
              <a:t>مُ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307">
                <a:latin typeface="Arial"/>
                <a:cs typeface="Arial"/>
              </a:rPr>
              <a:t>يز</a:t>
            </a:r>
            <a:r>
              <a:rPr dirty="0" baseline="-10802" sz="2700" spc="-307">
                <a:latin typeface="Arial"/>
                <a:cs typeface="Arial"/>
              </a:rPr>
              <a:t>ِ </a:t>
            </a:r>
            <a:r>
              <a:rPr dirty="0" baseline="3086" sz="2700" spc="-555">
                <a:latin typeface="Arial"/>
                <a:cs typeface="Arial"/>
              </a:rPr>
              <a:t>جْ </a:t>
            </a:r>
            <a:r>
              <a:rPr dirty="0" baseline="3086" sz="2700" spc="-644">
                <a:latin typeface="Arial"/>
                <a:cs typeface="Arial"/>
              </a:rPr>
              <a:t>ن</a:t>
            </a:r>
            <a:r>
              <a:rPr dirty="0" baseline="7716" sz="2700" spc="-644">
                <a:latin typeface="Arial"/>
                <a:cs typeface="Arial"/>
              </a:rPr>
              <a:t>َ </a:t>
            </a:r>
            <a:r>
              <a:rPr dirty="0" baseline="3086" sz="2700" spc="-682">
                <a:latin typeface="Arial"/>
                <a:cs typeface="Arial"/>
              </a:rPr>
              <a:t>ك</a:t>
            </a:r>
            <a:r>
              <a:rPr dirty="0" sz="1800" spc="-455">
                <a:latin typeface="Arial"/>
                <a:cs typeface="Arial"/>
              </a:rPr>
              <a:t>َ </a:t>
            </a:r>
            <a:r>
              <a:rPr dirty="0" baseline="1543" sz="2700" spc="-367">
                <a:latin typeface="Arial"/>
                <a:cs typeface="Arial"/>
              </a:rPr>
              <a:t>ِ</a:t>
            </a:r>
            <a:r>
              <a:rPr dirty="0" baseline="3086" sz="2700" spc="-367">
                <a:latin typeface="Arial"/>
                <a:cs typeface="Arial"/>
              </a:rPr>
              <a:t>لذ</a:t>
            </a:r>
            <a:r>
              <a:rPr dirty="0" baseline="13888" sz="2700" spc="-367">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307">
                <a:latin typeface="Arial"/>
                <a:cs typeface="Arial"/>
              </a:rPr>
              <a:t>و</a:t>
            </a:r>
            <a:r>
              <a:rPr dirty="0" sz="1800" spc="-204">
                <a:latin typeface="Arial"/>
                <a:cs typeface="Arial"/>
              </a:rPr>
              <a:t>َ </a:t>
            </a:r>
            <a:r>
              <a:rPr dirty="0" baseline="3086" sz="2700" spc="-225">
                <a:latin typeface="Arial"/>
                <a:cs typeface="Arial"/>
              </a:rPr>
              <a:t>ام</a:t>
            </a:r>
            <a:r>
              <a:rPr dirty="0" baseline="4629" sz="2700" spc="-22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spc="-592">
                <a:latin typeface="Arial"/>
                <a:cs typeface="Arial"/>
              </a:rPr>
              <a:t>ع</a:t>
            </a:r>
            <a:r>
              <a:rPr dirty="0" baseline="1543" sz="2700" spc="-592">
                <a:latin typeface="Arial"/>
                <a:cs typeface="Arial"/>
              </a:rPr>
              <a:t>ِ </a:t>
            </a:r>
            <a:r>
              <a:rPr dirty="0" baseline="3086" sz="2700" spc="-307">
                <a:latin typeface="Arial"/>
                <a:cs typeface="Arial"/>
              </a:rPr>
              <a:t>و</a:t>
            </a:r>
            <a:r>
              <a:rPr dirty="0" sz="1800" spc="-204">
                <a:latin typeface="Arial"/>
                <a:cs typeface="Arial"/>
              </a:rPr>
              <a:t>َ </a:t>
            </a:r>
            <a:r>
              <a:rPr dirty="0" baseline="3086" sz="2700" spc="-225">
                <a:latin typeface="Arial"/>
                <a:cs typeface="Arial"/>
              </a:rPr>
              <a:t>ام</a:t>
            </a:r>
            <a:r>
              <a:rPr dirty="0" baseline="4629" sz="2700" spc="-225">
                <a:latin typeface="Arial"/>
                <a:cs typeface="Arial"/>
              </a:rPr>
              <a:t>ً </a:t>
            </a:r>
            <a:r>
              <a:rPr dirty="0" baseline="3086" sz="2700" spc="-682">
                <a:latin typeface="Arial"/>
                <a:cs typeface="Arial"/>
              </a:rPr>
              <a:t>ك</a:t>
            </a:r>
            <a:r>
              <a:rPr dirty="0" baseline="12345" sz="2700" spc="-682">
                <a:latin typeface="Arial"/>
                <a:cs typeface="Arial"/>
              </a:rPr>
              <a:t>ْ </a:t>
            </a:r>
            <a:r>
              <a:rPr dirty="0" baseline="3086" sz="2700" spc="-630">
                <a:latin typeface="Arial"/>
                <a:cs typeface="Arial"/>
              </a:rPr>
              <a:t>حُ </a:t>
            </a:r>
            <a:r>
              <a:rPr dirty="0" baseline="3086" sz="2700" spc="-382">
                <a:latin typeface="Arial"/>
                <a:cs typeface="Arial"/>
              </a:rPr>
              <a:t>هُ </a:t>
            </a:r>
            <a:r>
              <a:rPr dirty="0" baseline="3086" sz="2700" spc="-412">
                <a:latin typeface="Arial"/>
                <a:cs typeface="Arial"/>
              </a:rPr>
              <a:t>ان</a:t>
            </a:r>
            <a:r>
              <a:rPr dirty="0" baseline="7716" sz="2700" spc="-412">
                <a:latin typeface="Arial"/>
                <a:cs typeface="Arial"/>
              </a:rPr>
              <a:t>َ </a:t>
            </a:r>
            <a:r>
              <a:rPr dirty="0" baseline="3086" sz="2700">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a:latin typeface="Arial"/>
                <a:cs typeface="Arial"/>
              </a:rPr>
              <a:t>آ </a:t>
            </a:r>
            <a:r>
              <a:rPr dirty="0" baseline="3086" sz="2700" spc="-209">
                <a:latin typeface="Arial"/>
                <a:cs typeface="Arial"/>
              </a:rPr>
              <a:t>ىو</a:t>
            </a:r>
            <a:r>
              <a:rPr dirty="0" sz="1800" spc="-140">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spc="-952">
                <a:latin typeface="Arial"/>
                <a:cs typeface="Arial"/>
              </a:rPr>
              <a:t>سْ</a:t>
            </a:r>
            <a:r>
              <a:rPr dirty="0" baseline="3086" sz="2700" spc="352">
                <a:latin typeface="Arial"/>
                <a:cs typeface="Arial"/>
              </a:rPr>
              <a:t> </a:t>
            </a:r>
            <a:r>
              <a:rPr dirty="0" baseline="3086" sz="2700" spc="-209">
                <a:latin typeface="Arial"/>
                <a:cs typeface="Arial"/>
              </a:rPr>
              <a:t>او</a:t>
            </a:r>
            <a:r>
              <a:rPr dirty="0" sz="1800" spc="-140">
                <a:latin typeface="Arial"/>
                <a:cs typeface="Arial"/>
              </a:rPr>
              <a:t>َ </a:t>
            </a:r>
            <a:r>
              <a:rPr dirty="0" baseline="3086" sz="2700" spc="-142">
                <a:latin typeface="Arial"/>
                <a:cs typeface="Arial"/>
              </a:rPr>
              <a:t>ُهد</a:t>
            </a:r>
            <a:r>
              <a:rPr dirty="0" baseline="4629" sz="2700" spc="-142">
                <a:latin typeface="Arial"/>
                <a:cs typeface="Arial"/>
              </a:rPr>
              <a:t>َّ </a:t>
            </a:r>
            <a:r>
              <a:rPr dirty="0" baseline="3086" sz="2700" spc="-1087">
                <a:latin typeface="Arial"/>
                <a:cs typeface="Arial"/>
              </a:rPr>
              <a:t>ش</a:t>
            </a:r>
            <a:r>
              <a:rPr dirty="0" baseline="10802" sz="2700" spc="-1087">
                <a:latin typeface="Arial"/>
                <a:cs typeface="Arial"/>
              </a:rPr>
              <a:t>ُ</a:t>
            </a:r>
            <a:r>
              <a:rPr dirty="0" baseline="10802" sz="2700" spc="585">
                <a:latin typeface="Arial"/>
                <a:cs typeface="Arial"/>
              </a:rPr>
              <a:t> </a:t>
            </a:r>
            <a:r>
              <a:rPr dirty="0" baseline="16975" sz="2700">
                <a:latin typeface="Arial"/>
                <a:cs typeface="Arial"/>
              </a:rPr>
              <a:t>َ</a:t>
            </a:r>
            <a:r>
              <a:rPr dirty="0" baseline="3086" sz="2700">
                <a:latin typeface="Arial"/>
                <a:cs typeface="Arial"/>
              </a:rPr>
              <a:t>أ </a:t>
            </a:r>
            <a:r>
              <a:rPr dirty="0" baseline="3086" sz="2700" spc="-930">
                <a:latin typeface="Arial"/>
                <a:cs typeface="Arial"/>
              </a:rPr>
              <a:t>ػ</a:t>
            </a:r>
            <a:r>
              <a:rPr dirty="0" baseline="4629" sz="2700" spc="-930">
                <a:latin typeface="Arial"/>
                <a:cs typeface="Arial"/>
              </a:rPr>
              <a:t>َ</a:t>
            </a:r>
            <a:r>
              <a:rPr dirty="0" baseline="4629" sz="2700" spc="127">
                <a:latin typeface="Arial"/>
                <a:cs typeface="Arial"/>
              </a:rPr>
              <a:t> </a:t>
            </a:r>
            <a:r>
              <a:rPr dirty="0" baseline="10802" sz="2700" spc="-652">
                <a:latin typeface="Arial"/>
                <a:cs typeface="Arial"/>
              </a:rPr>
              <a:t>َ</a:t>
            </a:r>
            <a:r>
              <a:rPr dirty="0" baseline="3086" sz="2700" spc="-652">
                <a:latin typeface="Arial"/>
                <a:cs typeface="Arial"/>
              </a:rPr>
              <a:t>لب</a:t>
            </a:r>
            <a:r>
              <a:rPr dirty="0" sz="1800" spc="-434">
                <a:latin typeface="Arial"/>
                <a:cs typeface="Arial"/>
              </a:rPr>
              <a:t>َ </a:t>
            </a:r>
            <a:r>
              <a:rPr dirty="0" baseline="3086" sz="2700" spc="-179">
                <a:latin typeface="Arial"/>
                <a:cs typeface="Arial"/>
              </a:rPr>
              <a:t>امَّ</a:t>
            </a:r>
            <a:r>
              <a:rPr dirty="0" baseline="3086" sz="2700" spc="75">
                <a:latin typeface="Arial"/>
                <a:cs typeface="Arial"/>
              </a:rPr>
              <a:t> </a:t>
            </a:r>
            <a:r>
              <a:rPr dirty="0" baseline="10802" sz="2700" spc="-480">
                <a:latin typeface="Arial"/>
                <a:cs typeface="Arial"/>
              </a:rPr>
              <a:t>َ</a:t>
            </a:r>
            <a:r>
              <a:rPr dirty="0" baseline="3086" sz="2700" spc="-480">
                <a:latin typeface="Arial"/>
                <a:cs typeface="Arial"/>
              </a:rPr>
              <a:t>لو</a:t>
            </a:r>
            <a:endParaRPr baseline="3086" sz="2700">
              <a:latin typeface="Arial"/>
              <a:cs typeface="Arial"/>
            </a:endParaRPr>
          </a:p>
          <a:p>
            <a:pPr algn="just" marL="149225" marR="147320">
              <a:lnSpc>
                <a:spcPts val="1380"/>
              </a:lnSpc>
              <a:spcBef>
                <a:spcPts val="1335"/>
              </a:spcBef>
              <a:buAutoNum type="arabicPeriod" startAt="14"/>
              <a:tabLst>
                <a:tab pos="454025" algn="l"/>
              </a:tabLst>
            </a:pPr>
            <a:r>
              <a:rPr dirty="0" sz="1200" spc="-5">
                <a:latin typeface="Arial"/>
                <a:cs typeface="Arial"/>
              </a:rPr>
              <a:t>And when he reached his </a:t>
            </a:r>
            <a:r>
              <a:rPr dirty="0" sz="1200">
                <a:latin typeface="Arial"/>
                <a:cs typeface="Arial"/>
              </a:rPr>
              <a:t>full strength </a:t>
            </a:r>
            <a:r>
              <a:rPr dirty="0" sz="1200" spc="-5">
                <a:latin typeface="Arial"/>
                <a:cs typeface="Arial"/>
              </a:rPr>
              <a:t>and </a:t>
            </a:r>
            <a:r>
              <a:rPr dirty="0" sz="1200" spc="-10">
                <a:latin typeface="Arial"/>
                <a:cs typeface="Arial"/>
              </a:rPr>
              <a:t>was </a:t>
            </a:r>
            <a:r>
              <a:rPr dirty="0" sz="1200" spc="-5">
                <a:latin typeface="Arial"/>
                <a:cs typeface="Arial"/>
              </a:rPr>
              <a:t>ripe, </a:t>
            </a:r>
            <a:r>
              <a:rPr dirty="0" sz="1200" spc="20">
                <a:latin typeface="Arial"/>
                <a:cs typeface="Arial"/>
              </a:rPr>
              <a:t>We </a:t>
            </a:r>
            <a:r>
              <a:rPr dirty="0" sz="1200" spc="-5">
                <a:latin typeface="Arial"/>
                <a:cs typeface="Arial"/>
              </a:rPr>
              <a:t>gave him wisdom and  knowledge. </a:t>
            </a:r>
            <a:r>
              <a:rPr dirty="0" sz="1200">
                <a:latin typeface="Arial"/>
                <a:cs typeface="Arial"/>
              </a:rPr>
              <a:t>Thus </a:t>
            </a:r>
            <a:r>
              <a:rPr dirty="0" sz="1200" spc="-5">
                <a:latin typeface="Arial"/>
                <a:cs typeface="Arial"/>
              </a:rPr>
              <a:t>do </a:t>
            </a:r>
            <a:r>
              <a:rPr dirty="0" sz="1200" spc="5">
                <a:latin typeface="Arial"/>
                <a:cs typeface="Arial"/>
              </a:rPr>
              <a:t>We </a:t>
            </a:r>
            <a:r>
              <a:rPr dirty="0" sz="1200" spc="-5">
                <a:latin typeface="Arial"/>
                <a:cs typeface="Arial"/>
              </a:rPr>
              <a:t>reward the</a:t>
            </a:r>
            <a:r>
              <a:rPr dirty="0" sz="1200" spc="-10">
                <a:latin typeface="Arial"/>
                <a:cs typeface="Arial"/>
              </a:rPr>
              <a:t> </a:t>
            </a:r>
            <a:r>
              <a:rPr dirty="0" sz="1200" spc="-5">
                <a:latin typeface="Arial"/>
                <a:cs typeface="Arial"/>
              </a:rPr>
              <a:t>good.</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69</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1544116" y="807211"/>
            <a:ext cx="3587115" cy="299720"/>
          </a:xfrm>
          <a:prstGeom prst="rect">
            <a:avLst/>
          </a:prstGeom>
        </p:spPr>
        <p:txBody>
          <a:bodyPr wrap="square" lIns="0" tIns="12700" rIns="0" bIns="0" rtlCol="0" vert="horz">
            <a:spAutoFit/>
          </a:bodyPr>
          <a:lstStyle/>
          <a:p>
            <a:pPr marL="38100">
              <a:lnSpc>
                <a:spcPct val="100000"/>
              </a:lnSpc>
              <a:spcBef>
                <a:spcPts val="100"/>
              </a:spcBef>
            </a:pPr>
            <a:r>
              <a:rPr dirty="0" baseline="1543" sz="2700">
                <a:latin typeface="Arial"/>
                <a:cs typeface="Arial"/>
              </a:rPr>
              <a:t>ِ </a:t>
            </a:r>
            <a:r>
              <a:rPr dirty="0" baseline="3086" sz="2700" spc="-240">
                <a:latin typeface="Arial"/>
                <a:cs typeface="Arial"/>
              </a:rPr>
              <a:t>نم</a:t>
            </a:r>
            <a:r>
              <a:rPr dirty="0" baseline="1543" sz="2700" spc="-240">
                <a:latin typeface="Arial"/>
                <a:cs typeface="Arial"/>
              </a:rPr>
              <a:t>ِ </a:t>
            </a:r>
            <a:r>
              <a:rPr dirty="0" baseline="3086" sz="2700" spc="-217">
                <a:latin typeface="Arial"/>
                <a:cs typeface="Arial"/>
              </a:rPr>
              <a:t>اذ</a:t>
            </a:r>
            <a:r>
              <a:rPr dirty="0" baseline="13888" sz="2700" spc="-217">
                <a:latin typeface="Arial"/>
                <a:cs typeface="Arial"/>
              </a:rPr>
              <a:t>َ </a:t>
            </a:r>
            <a:r>
              <a:rPr dirty="0" baseline="3086" sz="2700" spc="-270">
                <a:latin typeface="Arial"/>
                <a:cs typeface="Arial"/>
              </a:rPr>
              <a:t>ه</a:t>
            </a:r>
            <a:r>
              <a:rPr dirty="0" sz="1800" spc="-180">
                <a:latin typeface="Arial"/>
                <a:cs typeface="Arial"/>
              </a:rPr>
              <a:t>َ </a:t>
            </a:r>
            <a:r>
              <a:rPr dirty="0" baseline="3086" sz="2700" spc="-615">
                <a:latin typeface="Arial"/>
                <a:cs typeface="Arial"/>
              </a:rPr>
              <a:t>ن</a:t>
            </a:r>
            <a:r>
              <a:rPr dirty="0" baseline="-10802" sz="2700" spc="-615">
                <a:latin typeface="Arial"/>
                <a:cs typeface="Arial"/>
              </a:rPr>
              <a:t>ِ </a:t>
            </a:r>
            <a:r>
              <a:rPr dirty="0" baseline="3086" sz="2700" spc="-517">
                <a:latin typeface="Arial"/>
                <a:cs typeface="Arial"/>
              </a:rPr>
              <a:t>لا</a:t>
            </a:r>
            <a:r>
              <a:rPr dirty="0" baseline="10802" sz="2700" spc="-517">
                <a:latin typeface="Arial"/>
                <a:cs typeface="Arial"/>
              </a:rPr>
              <a:t>َ </a:t>
            </a:r>
            <a:r>
              <a:rPr dirty="0" baseline="3086" sz="2700" spc="-960">
                <a:latin typeface="Arial"/>
                <a:cs typeface="Arial"/>
              </a:rPr>
              <a:t>ت</a:t>
            </a:r>
            <a:r>
              <a:rPr dirty="0" baseline="1543" sz="2700" spc="-960">
                <a:latin typeface="Arial"/>
                <a:cs typeface="Arial"/>
              </a:rPr>
              <a:t>ِ</a:t>
            </a:r>
            <a:r>
              <a:rPr dirty="0" baseline="1543" sz="2700" spc="-104">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spc="-719">
                <a:latin typeface="Arial"/>
                <a:cs typeface="Arial"/>
              </a:rPr>
              <a:t>ق</a:t>
            </a:r>
            <a:r>
              <a:rPr dirty="0" baseline="12345" sz="2700" spc="-719">
                <a:latin typeface="Arial"/>
                <a:cs typeface="Arial"/>
              </a:rPr>
              <a:t>ْ </a:t>
            </a:r>
            <a:r>
              <a:rPr dirty="0" baseline="3086" sz="2700">
                <a:latin typeface="Arial"/>
                <a:cs typeface="Arial"/>
              </a:rPr>
              <a:t>ٌ</a:t>
            </a:r>
            <a:r>
              <a:rPr dirty="0" sz="1800">
                <a:latin typeface="Arial"/>
                <a:cs typeface="Arial"/>
              </a:rPr>
              <a:t>َ </a:t>
            </a:r>
            <a:r>
              <a:rPr dirty="0" baseline="3086" sz="2700" spc="-607">
                <a:latin typeface="Arial"/>
                <a:cs typeface="Arial"/>
              </a:rPr>
              <a:t>ن</a:t>
            </a:r>
            <a:r>
              <a:rPr dirty="0" baseline="-10802" sz="2700" spc="-607">
                <a:latin typeface="Arial"/>
                <a:cs typeface="Arial"/>
              </a:rPr>
              <a:t>ِ </a:t>
            </a:r>
            <a:r>
              <a:rPr dirty="0" baseline="3086" sz="2700">
                <a:latin typeface="Arial"/>
                <a:cs typeface="Arial"/>
              </a:rPr>
              <a:t>ٌْ </a:t>
            </a:r>
            <a:r>
              <a:rPr dirty="0" baseline="10802" sz="2700" spc="-517">
                <a:latin typeface="Arial"/>
                <a:cs typeface="Arial"/>
              </a:rPr>
              <a:t>َ</a:t>
            </a:r>
            <a:r>
              <a:rPr dirty="0" baseline="3086" sz="2700" spc="-517">
                <a:latin typeface="Arial"/>
                <a:cs typeface="Arial"/>
              </a:rPr>
              <a:t>لجُ </a:t>
            </a:r>
            <a:r>
              <a:rPr dirty="0" baseline="3086" sz="2700" spc="-494">
                <a:latin typeface="Arial"/>
                <a:cs typeface="Arial"/>
              </a:rPr>
              <a:t>ر</a:t>
            </a:r>
            <a:r>
              <a:rPr dirty="0" sz="1800" spc="-330">
                <a:latin typeface="Arial"/>
                <a:cs typeface="Arial"/>
              </a:rPr>
              <a:t>َ </a:t>
            </a:r>
            <a:r>
              <a:rPr dirty="0" baseline="3086" sz="2700" spc="-202">
                <a:latin typeface="Arial"/>
                <a:cs typeface="Arial"/>
              </a:rPr>
              <a:t>اه</a:t>
            </a:r>
            <a:r>
              <a:rPr dirty="0" sz="1800" spc="-135">
                <a:latin typeface="Arial"/>
                <a:cs typeface="Arial"/>
              </a:rPr>
              <a:t>َ </a:t>
            </a:r>
            <a:r>
              <a:rPr dirty="0" baseline="3086" sz="2700" spc="-705">
                <a:latin typeface="Arial"/>
                <a:cs typeface="Arial"/>
              </a:rPr>
              <a:t>ٌف</a:t>
            </a:r>
            <a:r>
              <a:rPr dirty="0" baseline="1543" sz="2700" spc="-705">
                <a:latin typeface="Arial"/>
                <a:cs typeface="Arial"/>
              </a:rPr>
              <a:t>ِ </a:t>
            </a:r>
            <a:r>
              <a:rPr dirty="0" baseline="3086" sz="2700" spc="-322">
                <a:latin typeface="Arial"/>
                <a:cs typeface="Arial"/>
              </a:rPr>
              <a:t>دَ </a:t>
            </a:r>
            <a:r>
              <a:rPr dirty="0" baseline="3086" sz="2700" spc="-592">
                <a:latin typeface="Arial"/>
                <a:cs typeface="Arial"/>
              </a:rPr>
              <a:t>ج</a:t>
            </a:r>
            <a:r>
              <a:rPr dirty="0" sz="1800" spc="-395">
                <a:latin typeface="Arial"/>
                <a:cs typeface="Arial"/>
              </a:rPr>
              <a:t>َ </a:t>
            </a:r>
            <a:r>
              <a:rPr dirty="0" baseline="3086" sz="2700" spc="-307">
                <a:latin typeface="Arial"/>
                <a:cs typeface="Arial"/>
              </a:rPr>
              <a:t>و</a:t>
            </a:r>
            <a:r>
              <a:rPr dirty="0" sz="1800" spc="-204">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52">
                <a:latin typeface="Arial"/>
                <a:cs typeface="Arial"/>
              </a:rPr>
              <a:t> </a:t>
            </a:r>
            <a:r>
              <a:rPr dirty="0" baseline="3086" sz="2700" spc="-202">
                <a:latin typeface="Arial"/>
                <a:cs typeface="Arial"/>
              </a:rPr>
              <a:t>اه</a:t>
            </a:r>
            <a:r>
              <a:rPr dirty="0" sz="1800" spc="-135">
                <a:latin typeface="Arial"/>
                <a:cs typeface="Arial"/>
              </a:rPr>
              <a:t>َ </a:t>
            </a:r>
            <a:r>
              <a:rPr dirty="0" baseline="1543" sz="2700" spc="-322">
                <a:latin typeface="Arial"/>
                <a:cs typeface="Arial"/>
              </a:rPr>
              <a:t>ِ</a:t>
            </a:r>
            <a:r>
              <a:rPr dirty="0" baseline="3086" sz="2700" spc="-322">
                <a:latin typeface="Arial"/>
                <a:cs typeface="Arial"/>
              </a:rPr>
              <a:t>لهْ </a:t>
            </a:r>
            <a:r>
              <a:rPr dirty="0" baseline="16975" sz="2700">
                <a:latin typeface="Arial"/>
                <a:cs typeface="Arial"/>
              </a:rPr>
              <a:t>َ</a:t>
            </a:r>
            <a:r>
              <a:rPr dirty="0" baseline="3086" sz="2700">
                <a:latin typeface="Arial"/>
                <a:cs typeface="Arial"/>
              </a:rPr>
              <a:t>أ </a:t>
            </a:r>
            <a:r>
              <a:rPr dirty="0" baseline="3086" sz="2700" spc="-465">
                <a:latin typeface="Arial"/>
                <a:cs typeface="Arial"/>
              </a:rPr>
              <a:t>نْ  </a:t>
            </a:r>
            <a:r>
              <a:rPr dirty="0" baseline="3086" sz="2700" spc="-254">
                <a:latin typeface="Arial"/>
                <a:cs typeface="Arial"/>
              </a:rPr>
              <a:t>مِّ  </a:t>
            </a:r>
            <a:r>
              <a:rPr dirty="0" baseline="3086" sz="2700" spc="-352">
                <a:latin typeface="Arial"/>
                <a:cs typeface="Arial"/>
              </a:rPr>
              <a:t>ةٍ </a:t>
            </a:r>
            <a:r>
              <a:rPr dirty="0" baseline="10802" sz="2700" spc="-705">
                <a:latin typeface="Arial"/>
                <a:cs typeface="Arial"/>
              </a:rPr>
              <a:t>َ</a:t>
            </a:r>
            <a:r>
              <a:rPr dirty="0" baseline="3086" sz="2700" spc="-705">
                <a:latin typeface="Arial"/>
                <a:cs typeface="Arial"/>
              </a:rPr>
              <a:t>لف</a:t>
            </a:r>
            <a:r>
              <a:rPr dirty="0" baseline="12345" sz="2700" spc="-705">
                <a:latin typeface="Arial"/>
                <a:cs typeface="Arial"/>
              </a:rPr>
              <a:t>ْ</a:t>
            </a:r>
            <a:r>
              <a:rPr dirty="0" baseline="12345" sz="2700" spc="-682">
                <a:latin typeface="Arial"/>
                <a:cs typeface="Arial"/>
              </a:rPr>
              <a:t> </a:t>
            </a:r>
            <a:r>
              <a:rPr dirty="0" baseline="3086" sz="2700" spc="-1927">
                <a:latin typeface="Arial"/>
                <a:cs typeface="Arial"/>
              </a:rPr>
              <a:t>ؼ</a:t>
            </a:r>
            <a:endParaRPr baseline="3086" sz="2700">
              <a:latin typeface="Arial"/>
              <a:cs typeface="Arial"/>
            </a:endParaRP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70</a:t>
            </a:r>
          </a:p>
        </p:txBody>
      </p:sp>
      <p:sp>
        <p:nvSpPr>
          <p:cNvPr id="6" name="object 6"/>
          <p:cNvSpPr txBox="1"/>
          <p:nvPr/>
        </p:nvSpPr>
        <p:spPr>
          <a:xfrm>
            <a:off x="4944668" y="807211"/>
            <a:ext cx="1924050" cy="299720"/>
          </a:xfrm>
          <a:prstGeom prst="rect">
            <a:avLst/>
          </a:prstGeom>
        </p:spPr>
        <p:txBody>
          <a:bodyPr wrap="square" lIns="0" tIns="12700" rIns="0" bIns="0" rtlCol="0" vert="horz">
            <a:spAutoFit/>
          </a:bodyPr>
          <a:lstStyle/>
          <a:p>
            <a:pPr marL="63500">
              <a:lnSpc>
                <a:spcPct val="100000"/>
              </a:lnSpc>
              <a:spcBef>
                <a:spcPts val="100"/>
              </a:spcBef>
            </a:pPr>
            <a:r>
              <a:rPr dirty="0" baseline="4629" sz="2700">
                <a:latin typeface="Arial"/>
                <a:cs typeface="Arial"/>
              </a:rPr>
              <a:t>َ </a:t>
            </a:r>
            <a:r>
              <a:rPr dirty="0" baseline="3086" sz="2700" spc="-607">
                <a:latin typeface="Arial"/>
                <a:cs typeface="Arial"/>
              </a:rPr>
              <a:t>ن</a:t>
            </a:r>
            <a:r>
              <a:rPr dirty="0" baseline="-10802" sz="2700" spc="-607">
                <a:latin typeface="Arial"/>
                <a:cs typeface="Arial"/>
              </a:rPr>
              <a:t>ِ </a:t>
            </a:r>
            <a:r>
              <a:rPr dirty="0" baseline="3086" sz="2700" spc="-480">
                <a:latin typeface="Arial"/>
                <a:cs typeface="Arial"/>
              </a:rPr>
              <a:t>ٌح</a:t>
            </a:r>
            <a:r>
              <a:rPr dirty="0" baseline="1543" sz="2700" spc="-480">
                <a:latin typeface="Arial"/>
                <a:cs typeface="Arial"/>
              </a:rPr>
              <a:t>ِ </a:t>
            </a:r>
            <a:r>
              <a:rPr dirty="0" baseline="3086" sz="2700" spc="-434">
                <a:latin typeface="Arial"/>
                <a:cs typeface="Arial"/>
              </a:rPr>
              <a:t>ى</a:t>
            </a:r>
            <a:r>
              <a:rPr dirty="0" baseline="10802" sz="2700" spc="-434">
                <a:latin typeface="Arial"/>
                <a:cs typeface="Arial"/>
              </a:rPr>
              <a:t>َ</a:t>
            </a:r>
            <a:r>
              <a:rPr dirty="0" baseline="3086" sz="2700" spc="-434">
                <a:latin typeface="Arial"/>
                <a:cs typeface="Arial"/>
              </a:rPr>
              <a:t>لع</a:t>
            </a:r>
            <a:r>
              <a:rPr dirty="0" sz="1800" spc="-290">
                <a:latin typeface="Arial"/>
                <a:cs typeface="Arial"/>
              </a:rPr>
              <a:t>َ </a:t>
            </a:r>
            <a:r>
              <a:rPr dirty="0" baseline="3086" sz="2700" spc="-284">
                <a:latin typeface="Arial"/>
                <a:cs typeface="Arial"/>
              </a:rPr>
              <a:t>ة</a:t>
            </a:r>
            <a:r>
              <a:rPr dirty="0" baseline="10802" sz="2700" spc="-284">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232">
                <a:latin typeface="Arial"/>
                <a:cs typeface="Arial"/>
              </a:rPr>
              <a:t>ٌد</a:t>
            </a:r>
            <a:r>
              <a:rPr dirty="0" baseline="1543" sz="2700" spc="-232">
                <a:latin typeface="Arial"/>
                <a:cs typeface="Arial"/>
              </a:rPr>
              <a:t>ِ </a:t>
            </a:r>
            <a:r>
              <a:rPr dirty="0" baseline="3086" sz="2700" spc="-359">
                <a:latin typeface="Arial"/>
                <a:cs typeface="Arial"/>
              </a:rPr>
              <a:t>م</a:t>
            </a:r>
            <a:r>
              <a:rPr dirty="0" sz="1800" spc="-2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615">
                <a:latin typeface="Arial"/>
                <a:cs typeface="Arial"/>
              </a:rPr>
              <a:t>ل</a:t>
            </a:r>
            <a:r>
              <a:rPr dirty="0" sz="1800" spc="-409">
                <a:latin typeface="Arial"/>
                <a:cs typeface="Arial"/>
              </a:rPr>
              <a:t>َ </a:t>
            </a:r>
            <a:r>
              <a:rPr dirty="0" baseline="3086" sz="2700" spc="-592">
                <a:latin typeface="Arial"/>
                <a:cs typeface="Arial"/>
              </a:rPr>
              <a:t>خ</a:t>
            </a:r>
            <a:r>
              <a:rPr dirty="0" baseline="7716" sz="2700" spc="-592">
                <a:latin typeface="Arial"/>
                <a:cs typeface="Arial"/>
              </a:rPr>
              <a:t>َ </a:t>
            </a:r>
            <a:r>
              <a:rPr dirty="0" baseline="3086" sz="2700" spc="-322">
                <a:latin typeface="Arial"/>
                <a:cs typeface="Arial"/>
              </a:rPr>
              <a:t>دَ</a:t>
            </a:r>
            <a:r>
              <a:rPr dirty="0" baseline="3086" sz="2700" spc="-442">
                <a:latin typeface="Arial"/>
                <a:cs typeface="Arial"/>
              </a:rPr>
              <a:t> </a:t>
            </a:r>
            <a:r>
              <a:rPr dirty="0" baseline="3086" sz="2700" spc="-615">
                <a:latin typeface="Arial"/>
                <a:cs typeface="Arial"/>
              </a:rPr>
              <a:t>و</a:t>
            </a:r>
            <a:endParaRPr baseline="3086" sz="2700">
              <a:latin typeface="Arial"/>
              <a:cs typeface="Arial"/>
            </a:endParaRPr>
          </a:p>
        </p:txBody>
      </p:sp>
      <p:sp>
        <p:nvSpPr>
          <p:cNvPr id="7" name="object 7"/>
          <p:cNvSpPr txBox="1"/>
          <p:nvPr/>
        </p:nvSpPr>
        <p:spPr>
          <a:xfrm>
            <a:off x="563880" y="807211"/>
            <a:ext cx="1134745" cy="299720"/>
          </a:xfrm>
          <a:prstGeom prst="rect">
            <a:avLst/>
          </a:prstGeom>
        </p:spPr>
        <p:txBody>
          <a:bodyPr wrap="square" lIns="0" tIns="12700" rIns="0" bIns="0" rtlCol="0" vert="horz">
            <a:spAutoFit/>
          </a:bodyPr>
          <a:lstStyle/>
          <a:p>
            <a:pPr marL="38100">
              <a:lnSpc>
                <a:spcPct val="100000"/>
              </a:lnSpc>
              <a:spcBef>
                <a:spcPts val="100"/>
              </a:spcBef>
            </a:pPr>
            <a:r>
              <a:rPr dirty="0" baseline="3086" sz="2700" spc="-465">
                <a:latin typeface="Arial"/>
                <a:cs typeface="Arial"/>
              </a:rPr>
              <a:t>نْ</a:t>
            </a:r>
            <a:r>
              <a:rPr dirty="0" baseline="3086" sz="2700" spc="-179">
                <a:latin typeface="Arial"/>
                <a:cs typeface="Arial"/>
              </a:rPr>
              <a:t> </a:t>
            </a:r>
            <a:r>
              <a:rPr dirty="0" baseline="3086" sz="2700" spc="-359">
                <a:latin typeface="Arial"/>
                <a:cs typeface="Arial"/>
              </a:rPr>
              <a:t>م</a:t>
            </a:r>
            <a:r>
              <a:rPr dirty="0" baseline="1543" sz="2700" spc="-359">
                <a:latin typeface="Arial"/>
                <a:cs typeface="Arial"/>
              </a:rPr>
              <a:t>ِ </a:t>
            </a:r>
            <a:r>
              <a:rPr dirty="0" baseline="3086" sz="2700" spc="-217">
                <a:latin typeface="Arial"/>
                <a:cs typeface="Arial"/>
              </a:rPr>
              <a:t>اذ</a:t>
            </a:r>
            <a:r>
              <a:rPr dirty="0" baseline="13888" sz="2700" spc="-217">
                <a:latin typeface="Arial"/>
                <a:cs typeface="Arial"/>
              </a:rPr>
              <a:t>َ </a:t>
            </a:r>
            <a:r>
              <a:rPr dirty="0" baseline="3086" sz="2700" spc="-277">
                <a:latin typeface="Arial"/>
                <a:cs typeface="Arial"/>
              </a:rPr>
              <a:t>ه</a:t>
            </a:r>
            <a:r>
              <a:rPr dirty="0" sz="1800" spc="-185">
                <a:latin typeface="Arial"/>
                <a:cs typeface="Arial"/>
              </a:rPr>
              <a:t>َ </a:t>
            </a:r>
            <a:r>
              <a:rPr dirty="0" baseline="3086" sz="2700" spc="-307">
                <a:latin typeface="Arial"/>
                <a:cs typeface="Arial"/>
              </a:rPr>
              <a:t>و</a:t>
            </a:r>
            <a:r>
              <a:rPr dirty="0" sz="1800" spc="-204">
                <a:latin typeface="Arial"/>
                <a:cs typeface="Arial"/>
              </a:rPr>
              <a:t>َ </a:t>
            </a:r>
            <a:r>
              <a:rPr dirty="0" baseline="3086" sz="2700" spc="-337">
                <a:latin typeface="Arial"/>
                <a:cs typeface="Arial"/>
              </a:rPr>
              <a:t>ه</a:t>
            </a:r>
            <a:r>
              <a:rPr dirty="0" baseline="1543" sz="2700" spc="-337">
                <a:latin typeface="Arial"/>
                <a:cs typeface="Arial"/>
              </a:rPr>
              <a:t>ِ</a:t>
            </a:r>
            <a:r>
              <a:rPr dirty="0" baseline="1543" sz="2700" spc="-60">
                <a:latin typeface="Arial"/>
                <a:cs typeface="Arial"/>
              </a:rPr>
              <a:t> </a:t>
            </a:r>
            <a:r>
              <a:rPr dirty="0" baseline="3086" sz="2700" spc="-960">
                <a:latin typeface="Arial"/>
                <a:cs typeface="Arial"/>
              </a:rPr>
              <a:t>ت</a:t>
            </a:r>
            <a:r>
              <a:rPr dirty="0" baseline="1543" sz="2700" spc="-960">
                <a:latin typeface="Arial"/>
                <a:cs typeface="Arial"/>
              </a:rPr>
              <a:t>ِ</a:t>
            </a:r>
            <a:r>
              <a:rPr dirty="0" baseline="1543" sz="2700" spc="-112">
                <a:latin typeface="Arial"/>
                <a:cs typeface="Arial"/>
              </a:rPr>
              <a:t> </a:t>
            </a:r>
            <a:r>
              <a:rPr dirty="0" baseline="3086" sz="2700" spc="-615">
                <a:latin typeface="Arial"/>
                <a:cs typeface="Arial"/>
              </a:rPr>
              <a:t>ع</a:t>
            </a:r>
            <a:r>
              <a:rPr dirty="0" sz="1800" spc="-409">
                <a:latin typeface="Arial"/>
                <a:cs typeface="Arial"/>
              </a:rPr>
              <a:t>َ </a:t>
            </a:r>
            <a:r>
              <a:rPr dirty="0" baseline="3086" sz="2700" spc="-937">
                <a:latin typeface="Arial"/>
                <a:cs typeface="Arial"/>
              </a:rPr>
              <a:t>ٌش</a:t>
            </a:r>
            <a:endParaRPr baseline="3086" sz="2700">
              <a:latin typeface="Arial"/>
              <a:cs typeface="Arial"/>
            </a:endParaRPr>
          </a:p>
        </p:txBody>
      </p:sp>
      <p:sp>
        <p:nvSpPr>
          <p:cNvPr id="8" name="object 8"/>
          <p:cNvSpPr txBox="1"/>
          <p:nvPr/>
        </p:nvSpPr>
        <p:spPr>
          <a:xfrm>
            <a:off x="445516" y="1069593"/>
            <a:ext cx="6500495" cy="8088630"/>
          </a:xfrm>
          <a:prstGeom prst="rect">
            <a:avLst/>
          </a:prstGeom>
        </p:spPr>
        <p:txBody>
          <a:bodyPr wrap="square" lIns="0" tIns="12700" rIns="0" bIns="0" rtlCol="0" vert="horz">
            <a:spAutoFit/>
          </a:bodyPr>
          <a:lstStyle/>
          <a:p>
            <a:pPr algn="r" marR="203835">
              <a:lnSpc>
                <a:spcPts val="2120"/>
              </a:lnSpc>
              <a:spcBef>
                <a:spcPts val="100"/>
              </a:spcBef>
            </a:pPr>
            <a:r>
              <a:rPr dirty="0" baseline="3086" sz="2700" spc="-217">
                <a:latin typeface="Arial"/>
                <a:cs typeface="Arial"/>
              </a:rPr>
              <a:t>اذ</a:t>
            </a:r>
            <a:r>
              <a:rPr dirty="0" baseline="13888" sz="2700" spc="-217">
                <a:latin typeface="Arial"/>
                <a:cs typeface="Arial"/>
              </a:rPr>
              <a:t>َ </a:t>
            </a:r>
            <a:r>
              <a:rPr dirty="0" baseline="3086" sz="2700" spc="-270">
                <a:latin typeface="Arial"/>
                <a:cs typeface="Arial"/>
              </a:rPr>
              <a:t>ه</a:t>
            </a:r>
            <a:r>
              <a:rPr dirty="0" sz="1800" spc="-180">
                <a:latin typeface="Arial"/>
                <a:cs typeface="Arial"/>
              </a:rPr>
              <a:t>َ    </a:t>
            </a:r>
            <a:r>
              <a:rPr dirty="0" baseline="3086" sz="2700" spc="-615">
                <a:latin typeface="Arial"/>
                <a:cs typeface="Arial"/>
              </a:rPr>
              <a:t>ل</a:t>
            </a:r>
            <a:r>
              <a:rPr dirty="0" sz="1800" spc="-409">
                <a:latin typeface="Arial"/>
                <a:cs typeface="Arial"/>
              </a:rPr>
              <a:t>َ         </a:t>
            </a:r>
            <a:r>
              <a:rPr dirty="0" baseline="3086" sz="2700" spc="-487">
                <a:latin typeface="Arial"/>
                <a:cs typeface="Arial"/>
              </a:rPr>
              <a:t>اق</a:t>
            </a:r>
            <a:r>
              <a:rPr dirty="0" baseline="7716" sz="2700" spc="-487">
                <a:latin typeface="Arial"/>
                <a:cs typeface="Arial"/>
              </a:rPr>
              <a:t>َ     </a:t>
            </a:r>
            <a:r>
              <a:rPr dirty="0" baseline="3086" sz="2700" spc="-337">
                <a:latin typeface="Arial"/>
                <a:cs typeface="Arial"/>
              </a:rPr>
              <a:t>ه</a:t>
            </a:r>
            <a:r>
              <a:rPr dirty="0" baseline="1543" sz="2700" spc="-337">
                <a:latin typeface="Arial"/>
                <a:cs typeface="Arial"/>
              </a:rPr>
              <a:t>ِ  </a:t>
            </a:r>
            <a:r>
              <a:rPr dirty="0" baseline="3086" sz="2700">
                <a:latin typeface="Arial"/>
                <a:cs typeface="Arial"/>
              </a:rPr>
              <a:t>ٌْ </a:t>
            </a:r>
            <a:r>
              <a:rPr dirty="0" baseline="10802" sz="2700" spc="-509">
                <a:latin typeface="Arial"/>
                <a:cs typeface="Arial"/>
              </a:rPr>
              <a:t>َ</a:t>
            </a:r>
            <a:r>
              <a:rPr dirty="0" baseline="3086" sz="2700" spc="-509">
                <a:latin typeface="Arial"/>
                <a:cs typeface="Arial"/>
              </a:rPr>
              <a:t>لع</a:t>
            </a:r>
            <a:r>
              <a:rPr dirty="0" sz="1800" spc="-340">
                <a:latin typeface="Arial"/>
                <a:cs typeface="Arial"/>
              </a:rPr>
              <a:t>َ        </a:t>
            </a:r>
            <a:r>
              <a:rPr dirty="0" baseline="3086" sz="2700" spc="-952">
                <a:latin typeface="Arial"/>
                <a:cs typeface="Arial"/>
              </a:rPr>
              <a:t>ىض</a:t>
            </a:r>
            <a:r>
              <a:rPr dirty="0" sz="1800" spc="-635">
                <a:latin typeface="Arial"/>
                <a:cs typeface="Arial"/>
              </a:rPr>
              <a:t>َ</a:t>
            </a:r>
            <a:r>
              <a:rPr dirty="0" sz="1800" spc="844">
                <a:latin typeface="Arial"/>
                <a:cs typeface="Arial"/>
              </a:rPr>
              <a:t> </a:t>
            </a:r>
            <a:r>
              <a:rPr dirty="0" baseline="3086" sz="2700" spc="-750">
                <a:latin typeface="Arial"/>
                <a:cs typeface="Arial"/>
              </a:rPr>
              <a:t>ق</a:t>
            </a:r>
            <a:r>
              <a:rPr dirty="0" baseline="7716" sz="2700" spc="-750">
                <a:latin typeface="Arial"/>
                <a:cs typeface="Arial"/>
              </a:rPr>
              <a:t>َ</a:t>
            </a:r>
            <a:r>
              <a:rPr dirty="0" baseline="3086" sz="2700" spc="-1035">
                <a:latin typeface="Arial"/>
                <a:cs typeface="Arial"/>
              </a:rPr>
              <a:t>ف</a:t>
            </a:r>
            <a:r>
              <a:rPr dirty="0" baseline="7716" sz="2700" spc="-1035">
                <a:latin typeface="Arial"/>
                <a:cs typeface="Arial"/>
              </a:rPr>
              <a:t>َ</a:t>
            </a:r>
            <a:r>
              <a:rPr dirty="0" baseline="7716" sz="2700" spc="652">
                <a:latin typeface="Arial"/>
                <a:cs typeface="Arial"/>
              </a:rPr>
              <a:t> </a:t>
            </a:r>
            <a:r>
              <a:rPr dirty="0" baseline="3086" sz="2700" spc="-712">
                <a:latin typeface="Arial"/>
                <a:cs typeface="Arial"/>
              </a:rPr>
              <a:t>ىس</a:t>
            </a:r>
            <a:r>
              <a:rPr dirty="0" sz="1800" spc="-475">
                <a:latin typeface="Arial"/>
                <a:cs typeface="Arial"/>
              </a:rPr>
              <a:t>َ                               </a:t>
            </a:r>
            <a:r>
              <a:rPr dirty="0" baseline="3086" sz="2700" spc="-270">
                <a:latin typeface="Arial"/>
                <a:cs typeface="Arial"/>
              </a:rPr>
              <a:t>ومُ    </a:t>
            </a:r>
            <a:r>
              <a:rPr dirty="0" baseline="3086" sz="2700" spc="-247">
                <a:latin typeface="Arial"/>
                <a:cs typeface="Arial"/>
              </a:rPr>
              <a:t>ُهز</a:t>
            </a:r>
            <a:r>
              <a:rPr dirty="0" baseline="7716" sz="2700" spc="-247">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307">
                <a:latin typeface="Arial"/>
                <a:cs typeface="Arial"/>
              </a:rPr>
              <a:t>و</a:t>
            </a:r>
            <a:r>
              <a:rPr dirty="0" sz="1800" spc="-204">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60">
                <a:latin typeface="Arial"/>
                <a:cs typeface="Arial"/>
              </a:rPr>
              <a:t> </a:t>
            </a:r>
            <a:r>
              <a:rPr dirty="0" baseline="3086" sz="2700" spc="-337">
                <a:latin typeface="Arial"/>
                <a:cs typeface="Arial"/>
              </a:rPr>
              <a:t>ه</a:t>
            </a:r>
            <a:r>
              <a:rPr dirty="0" baseline="1543" sz="2700" spc="-337">
                <a:latin typeface="Arial"/>
                <a:cs typeface="Arial"/>
              </a:rPr>
              <a:t>ِ  </a:t>
            </a:r>
            <a:r>
              <a:rPr dirty="0" baseline="3086" sz="2700" spc="-217">
                <a:latin typeface="Arial"/>
                <a:cs typeface="Arial"/>
              </a:rPr>
              <a:t>وِّ </a:t>
            </a:r>
            <a:r>
              <a:rPr dirty="0" baseline="3086" sz="2700" spc="-359">
                <a:latin typeface="Arial"/>
                <a:cs typeface="Arial"/>
              </a:rPr>
              <a:t>د</a:t>
            </a:r>
            <a:r>
              <a:rPr dirty="0" baseline="6172" sz="2700" spc="-359">
                <a:latin typeface="Arial"/>
                <a:cs typeface="Arial"/>
              </a:rPr>
              <a:t>ُ  </a:t>
            </a:r>
            <a:r>
              <a:rPr dirty="0" baseline="3086" sz="2700" spc="-607">
                <a:latin typeface="Arial"/>
                <a:cs typeface="Arial"/>
              </a:rPr>
              <a:t>ع</a:t>
            </a:r>
            <a:r>
              <a:rPr dirty="0" sz="1800" spc="-405">
                <a:latin typeface="Arial"/>
                <a:cs typeface="Arial"/>
              </a:rPr>
              <a:t>َ              </a:t>
            </a:r>
            <a:r>
              <a:rPr dirty="0" baseline="3086" sz="2700" spc="-465">
                <a:latin typeface="Arial"/>
                <a:cs typeface="Arial"/>
              </a:rPr>
              <a:t>نْ   </a:t>
            </a:r>
            <a:r>
              <a:rPr dirty="0" baseline="3086" sz="2700" spc="-352">
                <a:latin typeface="Arial"/>
                <a:cs typeface="Arial"/>
              </a:rPr>
              <a:t>م</a:t>
            </a:r>
            <a:r>
              <a:rPr dirty="0" baseline="1543" sz="2700" spc="-352">
                <a:latin typeface="Arial"/>
                <a:cs typeface="Arial"/>
              </a:rPr>
              <a:t>ِ    </a:t>
            </a:r>
            <a:r>
              <a:rPr dirty="0" baseline="3086" sz="2700" spc="-240">
                <a:latin typeface="Arial"/>
                <a:cs typeface="Arial"/>
              </a:rPr>
              <a:t>يذ</a:t>
            </a:r>
            <a:r>
              <a:rPr dirty="0" baseline="1543" sz="2700" spc="-240">
                <a:latin typeface="Arial"/>
                <a:cs typeface="Arial"/>
              </a:rPr>
              <a:t>ِ </a:t>
            </a:r>
            <a:r>
              <a:rPr dirty="0" baseline="13888" sz="2700" spc="-209">
                <a:latin typeface="Arial"/>
                <a:cs typeface="Arial"/>
              </a:rPr>
              <a:t>َّ</a:t>
            </a:r>
            <a:r>
              <a:rPr dirty="0" baseline="3086" sz="2700" spc="-209">
                <a:latin typeface="Arial"/>
                <a:cs typeface="Arial"/>
              </a:rPr>
              <a:t>لا </a:t>
            </a:r>
            <a:r>
              <a:rPr dirty="0" baseline="3086" sz="2700" spc="-509">
                <a:latin typeface="Arial"/>
                <a:cs typeface="Arial"/>
              </a:rPr>
              <a:t>ىل</a:t>
            </a:r>
            <a:r>
              <a:rPr dirty="0" baseline="10802" sz="2700" spc="-509">
                <a:latin typeface="Arial"/>
                <a:cs typeface="Arial"/>
              </a:rPr>
              <a:t>َ  </a:t>
            </a:r>
            <a:r>
              <a:rPr dirty="0" baseline="3086" sz="2700" spc="-607">
                <a:latin typeface="Arial"/>
                <a:cs typeface="Arial"/>
              </a:rPr>
              <a:t>ع</a:t>
            </a:r>
            <a:r>
              <a:rPr dirty="0" sz="1800" spc="-405">
                <a:latin typeface="Arial"/>
                <a:cs typeface="Arial"/>
              </a:rPr>
              <a:t>َ             </a:t>
            </a:r>
            <a:r>
              <a:rPr dirty="0" baseline="3086" sz="2700" spc="-337">
                <a:latin typeface="Arial"/>
                <a:cs typeface="Arial"/>
              </a:rPr>
              <a:t>ه</a:t>
            </a:r>
            <a:r>
              <a:rPr dirty="0" baseline="1543" sz="2700" spc="-337">
                <a:latin typeface="Arial"/>
                <a:cs typeface="Arial"/>
              </a:rPr>
              <a:t>ِ  </a:t>
            </a:r>
            <a:r>
              <a:rPr dirty="0" baseline="3086" sz="2700" spc="-960">
                <a:latin typeface="Arial"/>
                <a:cs typeface="Arial"/>
              </a:rPr>
              <a:t>ت</a:t>
            </a:r>
            <a:r>
              <a:rPr dirty="0" baseline="1543" sz="2700" spc="-960">
                <a:latin typeface="Arial"/>
                <a:cs typeface="Arial"/>
              </a:rPr>
              <a:t>ِ</a:t>
            </a:r>
            <a:r>
              <a:rPr dirty="0" baseline="1543" sz="2700" spc="-89">
                <a:latin typeface="Arial"/>
                <a:cs typeface="Arial"/>
              </a:rPr>
              <a:t> </a:t>
            </a:r>
            <a:r>
              <a:rPr dirty="0" baseline="3086" sz="2700" spc="-600">
                <a:latin typeface="Arial"/>
                <a:cs typeface="Arial"/>
              </a:rPr>
              <a:t>ع</a:t>
            </a:r>
            <a:r>
              <a:rPr dirty="0" sz="1800" spc="-400">
                <a:latin typeface="Arial"/>
                <a:cs typeface="Arial"/>
              </a:rPr>
              <a:t>َ     </a:t>
            </a:r>
            <a:r>
              <a:rPr dirty="0" baseline="3086" sz="2700" spc="-622">
                <a:latin typeface="Arial"/>
                <a:cs typeface="Arial"/>
              </a:rPr>
              <a:t>ٌش</a:t>
            </a:r>
            <a:r>
              <a:rPr dirty="0" baseline="1543" sz="2700" spc="-622">
                <a:latin typeface="Arial"/>
                <a:cs typeface="Arial"/>
              </a:rPr>
              <a:t>ِ              </a:t>
            </a:r>
            <a:r>
              <a:rPr dirty="0" baseline="3086" sz="2700" spc="-240">
                <a:latin typeface="Arial"/>
                <a:cs typeface="Arial"/>
              </a:rPr>
              <a:t>نم</a:t>
            </a:r>
            <a:r>
              <a:rPr dirty="0" baseline="1543" sz="2700" spc="-240">
                <a:latin typeface="Arial"/>
                <a:cs typeface="Arial"/>
              </a:rPr>
              <a:t>ِ   </a:t>
            </a:r>
            <a:r>
              <a:rPr dirty="0" baseline="3086" sz="2700" spc="-240">
                <a:latin typeface="Arial"/>
                <a:cs typeface="Arial"/>
              </a:rPr>
              <a:t>يذ</a:t>
            </a:r>
            <a:r>
              <a:rPr dirty="0" baseline="1543" sz="2700" spc="-240">
                <a:latin typeface="Arial"/>
                <a:cs typeface="Arial"/>
              </a:rPr>
              <a:t>ِ </a:t>
            </a:r>
            <a:r>
              <a:rPr dirty="0" baseline="13888" sz="2700" spc="-209">
                <a:latin typeface="Arial"/>
                <a:cs typeface="Arial"/>
              </a:rPr>
              <a:t>َّ</a:t>
            </a:r>
            <a:r>
              <a:rPr dirty="0" baseline="3086" sz="2700" spc="-209">
                <a:latin typeface="Arial"/>
                <a:cs typeface="Arial"/>
              </a:rPr>
              <a:t>لا </a:t>
            </a:r>
            <a:r>
              <a:rPr dirty="0" baseline="3086" sz="2700" spc="-322">
                <a:latin typeface="Arial"/>
                <a:cs typeface="Arial"/>
              </a:rPr>
              <a:t>هُ  </a:t>
            </a:r>
            <a:r>
              <a:rPr dirty="0" baseline="3086" sz="2700" spc="-892">
                <a:latin typeface="Arial"/>
                <a:cs typeface="Arial"/>
              </a:rPr>
              <a:t>ث</a:t>
            </a:r>
            <a:r>
              <a:rPr dirty="0" baseline="13888" sz="2700" spc="-892">
                <a:latin typeface="Arial"/>
                <a:cs typeface="Arial"/>
              </a:rPr>
              <a:t>َ</a:t>
            </a:r>
            <a:r>
              <a:rPr dirty="0" baseline="13888" sz="2700" spc="-232">
                <a:latin typeface="Arial"/>
                <a:cs typeface="Arial"/>
              </a:rPr>
              <a:t> </a:t>
            </a:r>
            <a:r>
              <a:rPr dirty="0" baseline="3086" sz="2700" spc="-472">
                <a:latin typeface="Arial"/>
                <a:cs typeface="Arial"/>
              </a:rPr>
              <a:t>اؽ</a:t>
            </a:r>
            <a:r>
              <a:rPr dirty="0" baseline="4629" sz="2700" spc="-472">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25">
                <a:latin typeface="Arial"/>
                <a:cs typeface="Arial"/>
              </a:rPr>
              <a:t> </a:t>
            </a:r>
            <a:r>
              <a:rPr dirty="0" baseline="3086" sz="2700" spc="-944">
                <a:latin typeface="Arial"/>
                <a:cs typeface="Arial"/>
              </a:rPr>
              <a:t>سْ</a:t>
            </a:r>
            <a:r>
              <a:rPr dirty="0" baseline="3086" sz="2700" spc="345">
                <a:latin typeface="Arial"/>
                <a:cs typeface="Arial"/>
              </a:rPr>
              <a:t> </a:t>
            </a:r>
            <a:r>
              <a:rPr dirty="0" baseline="3086" sz="2700" spc="-675">
                <a:latin typeface="Arial"/>
                <a:cs typeface="Arial"/>
              </a:rPr>
              <a:t>اف</a:t>
            </a:r>
            <a:r>
              <a:rPr dirty="0" baseline="7716" sz="2700" spc="-675">
                <a:latin typeface="Arial"/>
                <a:cs typeface="Arial"/>
              </a:rPr>
              <a:t>َ                   </a:t>
            </a:r>
            <a:r>
              <a:rPr dirty="0" baseline="3086" sz="2700" spc="-337">
                <a:latin typeface="Arial"/>
                <a:cs typeface="Arial"/>
              </a:rPr>
              <a:t>ه</a:t>
            </a:r>
            <a:r>
              <a:rPr dirty="0" baseline="1543" sz="2700" spc="-337">
                <a:latin typeface="Arial"/>
                <a:cs typeface="Arial"/>
              </a:rPr>
              <a:t>ِ  </a:t>
            </a:r>
            <a:r>
              <a:rPr dirty="0" baseline="3086" sz="2700" spc="-217">
                <a:latin typeface="Arial"/>
                <a:cs typeface="Arial"/>
              </a:rPr>
              <a:t>وِّ </a:t>
            </a:r>
            <a:r>
              <a:rPr dirty="0" baseline="3086" sz="2700" spc="-359">
                <a:latin typeface="Arial"/>
                <a:cs typeface="Arial"/>
              </a:rPr>
              <a:t>د</a:t>
            </a:r>
            <a:r>
              <a:rPr dirty="0" baseline="6172" sz="2700" spc="-359">
                <a:latin typeface="Arial"/>
                <a:cs typeface="Arial"/>
              </a:rPr>
              <a:t>ُ  </a:t>
            </a:r>
            <a:r>
              <a:rPr dirty="0" baseline="6172" sz="2700" spc="-150">
                <a:latin typeface="Arial"/>
                <a:cs typeface="Arial"/>
              </a:rPr>
              <a:t> </a:t>
            </a:r>
            <a:r>
              <a:rPr dirty="0" baseline="3086" sz="2700" spc="-1207">
                <a:latin typeface="Arial"/>
                <a:cs typeface="Arial"/>
              </a:rPr>
              <a:t>ع</a:t>
            </a:r>
            <a:endParaRPr baseline="3086" sz="2700">
              <a:latin typeface="Arial"/>
              <a:cs typeface="Arial"/>
            </a:endParaRPr>
          </a:p>
          <a:p>
            <a:pPr algn="r" marR="178435">
              <a:lnSpc>
                <a:spcPts val="2120"/>
              </a:lnSpc>
            </a:pPr>
            <a:r>
              <a:rPr dirty="0" baseline="3086" sz="2700" spc="-540">
                <a:latin typeface="Arial"/>
                <a:cs typeface="Arial"/>
              </a:rPr>
              <a:t>ن</a:t>
            </a:r>
            <a:r>
              <a:rPr dirty="0" baseline="4629" sz="2700" spc="-540">
                <a:latin typeface="Arial"/>
                <a:cs typeface="Arial"/>
              </a:rPr>
              <a:t>ٌ     </a:t>
            </a:r>
            <a:r>
              <a:rPr dirty="0" baseline="3086" sz="2700" spc="-637">
                <a:latin typeface="Arial"/>
                <a:cs typeface="Arial"/>
              </a:rPr>
              <a:t>ٌب</a:t>
            </a:r>
            <a:r>
              <a:rPr dirty="0" baseline="-10802" sz="2700" spc="-637">
                <a:latin typeface="Arial"/>
                <a:cs typeface="Arial"/>
              </a:rPr>
              <a:t>ِ      </a:t>
            </a:r>
            <a:r>
              <a:rPr dirty="0" baseline="3086" sz="2700" spc="-262">
                <a:latin typeface="Arial"/>
                <a:cs typeface="Arial"/>
              </a:rPr>
              <a:t>مُّ   </a:t>
            </a:r>
            <a:r>
              <a:rPr dirty="0" baseline="3086" sz="2700" spc="-419">
                <a:latin typeface="Arial"/>
                <a:cs typeface="Arial"/>
              </a:rPr>
              <a:t>لٌّ    </a:t>
            </a:r>
            <a:r>
              <a:rPr dirty="0" baseline="3086" sz="2700" spc="-1245">
                <a:latin typeface="Arial"/>
                <a:cs typeface="Arial"/>
              </a:rPr>
              <a:t>ض</a:t>
            </a:r>
            <a:r>
              <a:rPr dirty="0" baseline="1543" sz="2700" spc="-1245">
                <a:latin typeface="Arial"/>
                <a:cs typeface="Arial"/>
              </a:rPr>
              <a:t>ِ</a:t>
            </a:r>
            <a:r>
              <a:rPr dirty="0" baseline="1543" sz="2700" spc="1042">
                <a:latin typeface="Arial"/>
                <a:cs typeface="Arial"/>
              </a:rPr>
              <a:t> </a:t>
            </a:r>
            <a:r>
              <a:rPr dirty="0" baseline="3086" sz="2700" spc="-254">
                <a:latin typeface="Arial"/>
                <a:cs typeface="Arial"/>
              </a:rPr>
              <a:t>مُّ   </a:t>
            </a:r>
            <a:r>
              <a:rPr dirty="0" baseline="3086" sz="2700" spc="-209">
                <a:latin typeface="Arial"/>
                <a:cs typeface="Arial"/>
              </a:rPr>
              <a:t>وٌّ </a:t>
            </a:r>
            <a:r>
              <a:rPr dirty="0" baseline="3086" sz="2700" spc="-359">
                <a:latin typeface="Arial"/>
                <a:cs typeface="Arial"/>
              </a:rPr>
              <a:t>د</a:t>
            </a:r>
            <a:r>
              <a:rPr dirty="0" baseline="6172" sz="2700" spc="-359">
                <a:latin typeface="Arial"/>
                <a:cs typeface="Arial"/>
              </a:rPr>
              <a:t>ُ  </a:t>
            </a:r>
            <a:r>
              <a:rPr dirty="0" baseline="3086" sz="2700" spc="-607">
                <a:latin typeface="Arial"/>
                <a:cs typeface="Arial"/>
              </a:rPr>
              <a:t>ع</a:t>
            </a:r>
            <a:r>
              <a:rPr dirty="0" sz="1800" spc="-405">
                <a:latin typeface="Arial"/>
                <a:cs typeface="Arial"/>
              </a:rPr>
              <a:t>َ             </a:t>
            </a:r>
            <a:r>
              <a:rPr dirty="0" baseline="3086" sz="2700" spc="-322">
                <a:latin typeface="Arial"/>
                <a:cs typeface="Arial"/>
              </a:rPr>
              <a:t>هُ  </a:t>
            </a:r>
            <a:r>
              <a:rPr dirty="0" baseline="3086" sz="2700" spc="-442">
                <a:latin typeface="Arial"/>
                <a:cs typeface="Arial"/>
              </a:rPr>
              <a:t>ن</a:t>
            </a:r>
            <a:r>
              <a:rPr dirty="0" baseline="10802" sz="2700" spc="-442">
                <a:latin typeface="Arial"/>
                <a:cs typeface="Arial"/>
              </a:rPr>
              <a:t>َّ  </a:t>
            </a:r>
            <a:r>
              <a:rPr dirty="0" baseline="-10802" sz="2700">
                <a:latin typeface="Arial"/>
                <a:cs typeface="Arial"/>
              </a:rPr>
              <a:t>ِ</a:t>
            </a:r>
            <a:r>
              <a:rPr dirty="0" baseline="3086" sz="2700">
                <a:latin typeface="Arial"/>
                <a:cs typeface="Arial"/>
              </a:rPr>
              <a:t>إ </a:t>
            </a:r>
            <a:r>
              <a:rPr dirty="0" baseline="3086" sz="2700" spc="-607">
                <a:latin typeface="Arial"/>
                <a:cs typeface="Arial"/>
              </a:rPr>
              <a:t>ن</a:t>
            </a:r>
            <a:r>
              <a:rPr dirty="0" baseline="-10802" sz="2700" spc="-607">
                <a:latin typeface="Arial"/>
                <a:cs typeface="Arial"/>
              </a:rPr>
              <a:t>ِ         </a:t>
            </a:r>
            <a:r>
              <a:rPr dirty="0" baseline="3086" sz="2700" spc="-419">
                <a:latin typeface="Arial"/>
                <a:cs typeface="Arial"/>
              </a:rPr>
              <a:t>اط</a:t>
            </a:r>
            <a:r>
              <a:rPr dirty="0" baseline="13888" sz="2700" spc="-419">
                <a:latin typeface="Arial"/>
                <a:cs typeface="Arial"/>
              </a:rPr>
              <a:t>َ    </a:t>
            </a:r>
            <a:r>
              <a:rPr dirty="0" baseline="3086" sz="2700">
                <a:latin typeface="Arial"/>
                <a:cs typeface="Arial"/>
              </a:rPr>
              <a:t>ٌْ </a:t>
            </a:r>
            <a:r>
              <a:rPr dirty="0" baseline="3086" sz="2700" spc="-705">
                <a:latin typeface="Arial"/>
                <a:cs typeface="Arial"/>
              </a:rPr>
              <a:t>ش</a:t>
            </a:r>
            <a:r>
              <a:rPr dirty="0" baseline="10802" sz="2700" spc="-705">
                <a:latin typeface="Arial"/>
                <a:cs typeface="Arial"/>
              </a:rPr>
              <a:t>َّ                             </a:t>
            </a:r>
            <a:r>
              <a:rPr dirty="0" baseline="3086" sz="2700" spc="-412">
                <a:latin typeface="Arial"/>
                <a:cs typeface="Arial"/>
              </a:rPr>
              <a:t>لا  </a:t>
            </a:r>
            <a:r>
              <a:rPr dirty="0" baseline="3086" sz="2700" spc="-525">
                <a:latin typeface="Arial"/>
                <a:cs typeface="Arial"/>
              </a:rPr>
              <a:t>ل</a:t>
            </a:r>
            <a:r>
              <a:rPr dirty="0" baseline="-4629" sz="2700" spc="-525">
                <a:latin typeface="Arial"/>
                <a:cs typeface="Arial"/>
              </a:rPr>
              <a:t>ِ     </a:t>
            </a:r>
            <a:r>
              <a:rPr dirty="0" baseline="3086" sz="2700" spc="-359">
                <a:latin typeface="Arial"/>
                <a:cs typeface="Arial"/>
              </a:rPr>
              <a:t>م</a:t>
            </a:r>
            <a:r>
              <a:rPr dirty="0" sz="1800" spc="-240">
                <a:latin typeface="Arial"/>
                <a:cs typeface="Arial"/>
              </a:rPr>
              <a:t>َ  </a:t>
            </a:r>
            <a:r>
              <a:rPr dirty="0" baseline="3086" sz="2700" spc="-607">
                <a:latin typeface="Arial"/>
                <a:cs typeface="Arial"/>
              </a:rPr>
              <a:t>ع</a:t>
            </a:r>
            <a:r>
              <a:rPr dirty="0" sz="1800" spc="-405">
                <a:latin typeface="Arial"/>
                <a:cs typeface="Arial"/>
              </a:rPr>
              <a:t>َ             </a:t>
            </a:r>
            <a:r>
              <a:rPr dirty="0" baseline="3086" sz="2700" spc="-465">
                <a:latin typeface="Arial"/>
                <a:cs typeface="Arial"/>
              </a:rPr>
              <a:t>نْ </a:t>
            </a:r>
            <a:r>
              <a:rPr dirty="0" baseline="3086" sz="2700" spc="-187">
                <a:latin typeface="Arial"/>
                <a:cs typeface="Arial"/>
              </a:rPr>
              <a:t> </a:t>
            </a:r>
            <a:r>
              <a:rPr dirty="0" baseline="3086" sz="2700" spc="-705">
                <a:latin typeface="Arial"/>
                <a:cs typeface="Arial"/>
              </a:rPr>
              <a:t>م</a:t>
            </a:r>
            <a:endParaRPr baseline="3086" sz="2700">
              <a:latin typeface="Arial"/>
              <a:cs typeface="Arial"/>
            </a:endParaRPr>
          </a:p>
          <a:p>
            <a:pPr algn="just" marL="101600" marR="106680">
              <a:lnSpc>
                <a:spcPts val="1380"/>
              </a:lnSpc>
              <a:spcBef>
                <a:spcPts val="1320"/>
              </a:spcBef>
              <a:buAutoNum type="arabicPeriod" startAt="15"/>
              <a:tabLst>
                <a:tab pos="374015" algn="l"/>
              </a:tabLst>
            </a:pPr>
            <a:r>
              <a:rPr dirty="0" sz="1200" spc="-5">
                <a:latin typeface="Arial"/>
                <a:cs typeface="Arial"/>
              </a:rPr>
              <a:t>And he entered the </a:t>
            </a:r>
            <a:r>
              <a:rPr dirty="0" sz="1200">
                <a:latin typeface="Arial"/>
                <a:cs typeface="Arial"/>
              </a:rPr>
              <a:t>city at </a:t>
            </a:r>
            <a:r>
              <a:rPr dirty="0" sz="1200" spc="-5">
                <a:latin typeface="Arial"/>
                <a:cs typeface="Arial"/>
              </a:rPr>
              <a:t>a </a:t>
            </a:r>
            <a:r>
              <a:rPr dirty="0" sz="1200">
                <a:latin typeface="Arial"/>
                <a:cs typeface="Arial"/>
              </a:rPr>
              <a:t>time </a:t>
            </a:r>
            <a:r>
              <a:rPr dirty="0" sz="1200" spc="-5">
                <a:latin typeface="Arial"/>
                <a:cs typeface="Arial"/>
              </a:rPr>
              <a:t>of carelessness of </a:t>
            </a:r>
            <a:r>
              <a:rPr dirty="0" sz="1200">
                <a:latin typeface="Arial"/>
                <a:cs typeface="Arial"/>
              </a:rPr>
              <a:t>its folk, </a:t>
            </a:r>
            <a:r>
              <a:rPr dirty="0" sz="1200" spc="-5">
                <a:latin typeface="Arial"/>
                <a:cs typeface="Arial"/>
              </a:rPr>
              <a:t>and he found therein </a:t>
            </a:r>
            <a:r>
              <a:rPr dirty="0" sz="1200" spc="-10">
                <a:latin typeface="Arial"/>
                <a:cs typeface="Arial"/>
              </a:rPr>
              <a:t>two  </a:t>
            </a:r>
            <a:r>
              <a:rPr dirty="0" sz="1200">
                <a:latin typeface="Arial"/>
                <a:cs typeface="Arial"/>
              </a:rPr>
              <a:t>men </a:t>
            </a:r>
            <a:r>
              <a:rPr dirty="0" sz="1200" spc="-5">
                <a:latin typeface="Arial"/>
                <a:cs typeface="Arial"/>
              </a:rPr>
              <a:t>fighting, one of his </a:t>
            </a:r>
            <a:r>
              <a:rPr dirty="0" sz="1200" spc="-10">
                <a:latin typeface="Arial"/>
                <a:cs typeface="Arial"/>
              </a:rPr>
              <a:t>own </a:t>
            </a:r>
            <a:r>
              <a:rPr dirty="0" sz="1200">
                <a:latin typeface="Arial"/>
                <a:cs typeface="Arial"/>
              </a:rPr>
              <a:t>caste, </a:t>
            </a:r>
            <a:r>
              <a:rPr dirty="0" sz="1200" spc="-5">
                <a:latin typeface="Arial"/>
                <a:cs typeface="Arial"/>
              </a:rPr>
              <a:t>and the other of his enemies; and </a:t>
            </a:r>
            <a:r>
              <a:rPr dirty="0" sz="1200" spc="-10">
                <a:latin typeface="Arial"/>
                <a:cs typeface="Arial"/>
              </a:rPr>
              <a:t>he who was </a:t>
            </a:r>
            <a:r>
              <a:rPr dirty="0" sz="1200" spc="-5">
                <a:latin typeface="Arial"/>
                <a:cs typeface="Arial"/>
              </a:rPr>
              <a:t>of his  </a:t>
            </a:r>
            <a:r>
              <a:rPr dirty="0" sz="1200">
                <a:latin typeface="Arial"/>
                <a:cs typeface="Arial"/>
              </a:rPr>
              <a:t>caste </a:t>
            </a:r>
            <a:r>
              <a:rPr dirty="0" sz="1200" spc="-5">
                <a:latin typeface="Arial"/>
                <a:cs typeface="Arial"/>
              </a:rPr>
              <a:t>asked </a:t>
            </a:r>
            <a:r>
              <a:rPr dirty="0" sz="1200" spc="-10">
                <a:latin typeface="Arial"/>
                <a:cs typeface="Arial"/>
              </a:rPr>
              <a:t>him </a:t>
            </a:r>
            <a:r>
              <a:rPr dirty="0" sz="1200">
                <a:latin typeface="Arial"/>
                <a:cs typeface="Arial"/>
              </a:rPr>
              <a:t>for </a:t>
            </a:r>
            <a:r>
              <a:rPr dirty="0" sz="1200" spc="-5">
                <a:latin typeface="Arial"/>
                <a:cs typeface="Arial"/>
              </a:rPr>
              <a:t>help against him </a:t>
            </a:r>
            <a:r>
              <a:rPr dirty="0" sz="1200" spc="-10">
                <a:latin typeface="Arial"/>
                <a:cs typeface="Arial"/>
              </a:rPr>
              <a:t>who was </a:t>
            </a:r>
            <a:r>
              <a:rPr dirty="0" sz="1200" spc="-5">
                <a:latin typeface="Arial"/>
                <a:cs typeface="Arial"/>
              </a:rPr>
              <a:t>of his enemies. So Moses </a:t>
            </a:r>
            <a:r>
              <a:rPr dirty="0" sz="1200">
                <a:latin typeface="Arial"/>
                <a:cs typeface="Arial"/>
              </a:rPr>
              <a:t>struck </a:t>
            </a:r>
            <a:r>
              <a:rPr dirty="0" sz="1200" spc="-5">
                <a:latin typeface="Arial"/>
                <a:cs typeface="Arial"/>
              </a:rPr>
              <a:t>him with his  </a:t>
            </a:r>
            <a:r>
              <a:rPr dirty="0" sz="1200">
                <a:latin typeface="Arial"/>
                <a:cs typeface="Arial"/>
              </a:rPr>
              <a:t>fist </a:t>
            </a:r>
            <a:r>
              <a:rPr dirty="0" sz="1200" spc="-5">
                <a:latin typeface="Arial"/>
                <a:cs typeface="Arial"/>
              </a:rPr>
              <a:t>and killed </a:t>
            </a:r>
            <a:r>
              <a:rPr dirty="0" sz="1200">
                <a:latin typeface="Arial"/>
                <a:cs typeface="Arial"/>
              </a:rPr>
              <a:t>him. </a:t>
            </a:r>
            <a:r>
              <a:rPr dirty="0" sz="1200" spc="-5">
                <a:latin typeface="Arial"/>
                <a:cs typeface="Arial"/>
              </a:rPr>
              <a:t>He said: </a:t>
            </a:r>
            <a:r>
              <a:rPr dirty="0" sz="1200">
                <a:latin typeface="Arial"/>
                <a:cs typeface="Arial"/>
              </a:rPr>
              <a:t>This </a:t>
            </a:r>
            <a:r>
              <a:rPr dirty="0" sz="1200" spc="-5">
                <a:latin typeface="Arial"/>
                <a:cs typeface="Arial"/>
              </a:rPr>
              <a:t>is of </a:t>
            </a:r>
            <a:r>
              <a:rPr dirty="0" sz="1200">
                <a:latin typeface="Arial"/>
                <a:cs typeface="Arial"/>
              </a:rPr>
              <a:t>the </a:t>
            </a:r>
            <a:r>
              <a:rPr dirty="0" sz="1200" spc="-5">
                <a:latin typeface="Arial"/>
                <a:cs typeface="Arial"/>
              </a:rPr>
              <a:t>devil's doing. Lo! He is an enemy, a mere  misleader.</a:t>
            </a:r>
            <a:endParaRPr sz="1200">
              <a:latin typeface="Arial"/>
              <a:cs typeface="Arial"/>
            </a:endParaRPr>
          </a:p>
          <a:p>
            <a:pPr>
              <a:lnSpc>
                <a:spcPct val="100000"/>
              </a:lnSpc>
              <a:spcBef>
                <a:spcPts val="15"/>
              </a:spcBef>
              <a:buFont typeface="Arial"/>
              <a:buAutoNum type="arabicPeriod" startAt="15"/>
            </a:pPr>
            <a:endParaRPr sz="1100">
              <a:latin typeface="Arial"/>
              <a:cs typeface="Arial"/>
            </a:endParaRPr>
          </a:p>
          <a:p>
            <a:pPr algn="r" marR="161925">
              <a:lnSpc>
                <a:spcPct val="100000"/>
              </a:lnSpc>
              <a:spcBef>
                <a:spcPts val="5"/>
              </a:spcBef>
            </a:pPr>
            <a:r>
              <a:rPr dirty="0" baseline="1543" sz="2700" spc="-427">
                <a:latin typeface="Arial"/>
                <a:cs typeface="Arial"/>
              </a:rPr>
              <a:t>م</a:t>
            </a:r>
            <a:r>
              <a:rPr dirty="0" baseline="-4629" sz="2700" spc="-427">
                <a:latin typeface="Arial"/>
                <a:cs typeface="Arial"/>
              </a:rPr>
              <a:t>ُ </a:t>
            </a:r>
            <a:r>
              <a:rPr dirty="0" baseline="1543" sz="2700" spc="-480">
                <a:latin typeface="Arial"/>
                <a:cs typeface="Arial"/>
              </a:rPr>
              <a:t>ٌح</a:t>
            </a:r>
            <a:r>
              <a:rPr dirty="0" sz="1800" spc="-320">
                <a:latin typeface="Arial"/>
                <a:cs typeface="Arial"/>
              </a:rPr>
              <a:t>ِ </a:t>
            </a:r>
            <a:r>
              <a:rPr dirty="0" baseline="1543" sz="2700" spc="-345">
                <a:latin typeface="Arial"/>
                <a:cs typeface="Arial"/>
              </a:rPr>
              <a:t>ر</a:t>
            </a:r>
            <a:r>
              <a:rPr dirty="0" sz="1800" spc="-229">
                <a:latin typeface="Arial"/>
                <a:cs typeface="Arial"/>
              </a:rPr>
              <a:t>َّ </a:t>
            </a:r>
            <a:r>
              <a:rPr dirty="0" baseline="1543" sz="2700" spc="-412">
                <a:latin typeface="Arial"/>
                <a:cs typeface="Arial"/>
              </a:rPr>
              <a:t>لا </a:t>
            </a:r>
            <a:r>
              <a:rPr dirty="0" baseline="1543" sz="2700" spc="-525">
                <a:latin typeface="Arial"/>
                <a:cs typeface="Arial"/>
              </a:rPr>
              <a:t>رُ </a:t>
            </a:r>
            <a:r>
              <a:rPr dirty="0" baseline="1543" sz="2700" spc="-577">
                <a:latin typeface="Arial"/>
                <a:cs typeface="Arial"/>
              </a:rPr>
              <a:t>و</a:t>
            </a:r>
            <a:r>
              <a:rPr dirty="0" baseline="9259" sz="2700" spc="-577">
                <a:latin typeface="Arial"/>
                <a:cs typeface="Arial"/>
              </a:rPr>
              <a:t>ُ</a:t>
            </a:r>
            <a:r>
              <a:rPr dirty="0" baseline="1543" sz="2700" spc="-577">
                <a:latin typeface="Arial"/>
                <a:cs typeface="Arial"/>
              </a:rPr>
              <a:t>فؽ</a:t>
            </a:r>
            <a:r>
              <a:rPr dirty="0" baseline="3086" sz="2700" spc="-577">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ا </a:t>
            </a:r>
            <a:r>
              <a:rPr dirty="0" baseline="1543" sz="2700" spc="-315">
                <a:latin typeface="Arial"/>
                <a:cs typeface="Arial"/>
              </a:rPr>
              <a:t>و</a:t>
            </a:r>
            <a:r>
              <a:rPr dirty="0" baseline="-1543" sz="2700" spc="-315">
                <a:latin typeface="Arial"/>
                <a:cs typeface="Arial"/>
              </a:rPr>
              <a:t>َ </a:t>
            </a:r>
            <a:r>
              <a:rPr dirty="0" baseline="1543" sz="2700" spc="-307">
                <a:latin typeface="Arial"/>
                <a:cs typeface="Arial"/>
              </a:rPr>
              <a:t>هُ </a:t>
            </a:r>
            <a:r>
              <a:rPr dirty="0" baseline="1543" sz="2700" spc="-322">
                <a:latin typeface="Arial"/>
                <a:cs typeface="Arial"/>
              </a:rPr>
              <a:t>هُ </a:t>
            </a:r>
            <a:r>
              <a:rPr dirty="0" baseline="1543" sz="2700" spc="-442">
                <a:latin typeface="Arial"/>
                <a:cs typeface="Arial"/>
              </a:rPr>
              <a:t>ن</a:t>
            </a:r>
            <a:r>
              <a:rPr dirty="0" baseline="9259" sz="2700" spc="-442">
                <a:latin typeface="Arial"/>
                <a:cs typeface="Arial"/>
              </a:rPr>
              <a:t>َّ </a:t>
            </a:r>
            <a:r>
              <a:rPr dirty="0" baseline="-12345" sz="2700">
                <a:latin typeface="Arial"/>
                <a:cs typeface="Arial"/>
              </a:rPr>
              <a:t>ِ</a:t>
            </a:r>
            <a:r>
              <a:rPr dirty="0" baseline="1543" sz="2700">
                <a:latin typeface="Arial"/>
                <a:cs typeface="Arial"/>
              </a:rPr>
              <a:t>إ </a:t>
            </a:r>
            <a:r>
              <a:rPr dirty="0" baseline="1543" sz="2700" spc="-315">
                <a:latin typeface="Arial"/>
                <a:cs typeface="Arial"/>
              </a:rPr>
              <a:t>هُ </a:t>
            </a:r>
            <a:r>
              <a:rPr dirty="0" baseline="1543" sz="2700" spc="-690">
                <a:latin typeface="Arial"/>
                <a:cs typeface="Arial"/>
              </a:rPr>
              <a:t>ل</a:t>
            </a:r>
            <a:r>
              <a:rPr dirty="0" baseline="9259" sz="2700" spc="-690">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1027">
                <a:latin typeface="Arial"/>
                <a:cs typeface="Arial"/>
              </a:rPr>
              <a:t>ف</a:t>
            </a:r>
            <a:r>
              <a:rPr dirty="0" baseline="6172" sz="2700" spc="-1027">
                <a:latin typeface="Arial"/>
                <a:cs typeface="Arial"/>
              </a:rPr>
              <a:t>َ</a:t>
            </a:r>
            <a:r>
              <a:rPr dirty="0" baseline="6172" sz="2700" spc="-127">
                <a:latin typeface="Arial"/>
                <a:cs typeface="Arial"/>
              </a:rPr>
              <a:t> </a:t>
            </a:r>
            <a:r>
              <a:rPr dirty="0" baseline="1543" sz="2700" spc="-727">
                <a:latin typeface="Arial"/>
                <a:cs typeface="Arial"/>
              </a:rPr>
              <a:t>ؽ</a:t>
            </a:r>
            <a:r>
              <a:rPr dirty="0" baseline="3086" sz="2700" spc="-727">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660">
                <a:latin typeface="Arial"/>
                <a:cs typeface="Arial"/>
              </a:rPr>
              <a:t> </a:t>
            </a:r>
            <a:r>
              <a:rPr dirty="0" baseline="1543" sz="2700" spc="-457">
                <a:latin typeface="Arial"/>
                <a:cs typeface="Arial"/>
              </a:rPr>
              <a:t>ًل</a:t>
            </a:r>
            <a:r>
              <a:rPr dirty="0" sz="1800" spc="-305">
                <a:latin typeface="Arial"/>
                <a:cs typeface="Arial"/>
              </a:rPr>
              <a:t>ِ  </a:t>
            </a:r>
            <a:r>
              <a:rPr dirty="0" baseline="1543" sz="2700" spc="-457">
                <a:latin typeface="Arial"/>
                <a:cs typeface="Arial"/>
              </a:rPr>
              <a:t>رْ </a:t>
            </a:r>
            <a:r>
              <a:rPr dirty="0" baseline="1543" sz="2700" spc="-1064">
                <a:latin typeface="Arial"/>
                <a:cs typeface="Arial"/>
              </a:rPr>
              <a:t>ف</a:t>
            </a:r>
            <a:r>
              <a:rPr dirty="0" sz="1800" spc="-710">
                <a:latin typeface="Arial"/>
                <a:cs typeface="Arial"/>
              </a:rPr>
              <a:t>ِ</a:t>
            </a:r>
            <a:r>
              <a:rPr dirty="0" sz="1800" spc="-45">
                <a:latin typeface="Arial"/>
                <a:cs typeface="Arial"/>
              </a:rPr>
              <a:t> </a:t>
            </a:r>
            <a:r>
              <a:rPr dirty="0" baseline="1543" sz="2700" spc="-930">
                <a:latin typeface="Arial"/>
                <a:cs typeface="Arial"/>
              </a:rPr>
              <a:t>ؼ</a:t>
            </a:r>
            <a:r>
              <a:rPr dirty="0" baseline="7716" sz="2700" spc="-930">
                <a:latin typeface="Arial"/>
                <a:cs typeface="Arial"/>
              </a:rPr>
              <a:t>ْ</a:t>
            </a:r>
            <a:r>
              <a:rPr dirty="0" baseline="7716" sz="2700" spc="330">
                <a:latin typeface="Arial"/>
                <a:cs typeface="Arial"/>
              </a:rPr>
              <a:t> </a:t>
            </a:r>
            <a:r>
              <a:rPr dirty="0" baseline="1543" sz="2700" spc="-675">
                <a:latin typeface="Arial"/>
                <a:cs typeface="Arial"/>
              </a:rPr>
              <a:t>اف</a:t>
            </a:r>
            <a:r>
              <a:rPr dirty="0" baseline="6172" sz="2700" spc="-675">
                <a:latin typeface="Arial"/>
                <a:cs typeface="Arial"/>
              </a:rPr>
              <a:t>َ </a:t>
            </a:r>
            <a:r>
              <a:rPr dirty="0" baseline="1543" sz="2700" spc="-622">
                <a:latin typeface="Arial"/>
                <a:cs typeface="Arial"/>
              </a:rPr>
              <a:t>ًس</a:t>
            </a:r>
            <a:r>
              <a:rPr dirty="0" sz="1800" spc="-415">
                <a:latin typeface="Arial"/>
                <a:cs typeface="Arial"/>
              </a:rPr>
              <a:t>ِ </a:t>
            </a:r>
            <a:r>
              <a:rPr dirty="0" baseline="1543" sz="2700" spc="-997">
                <a:latin typeface="Arial"/>
                <a:cs typeface="Arial"/>
              </a:rPr>
              <a:t>ف</a:t>
            </a:r>
            <a:r>
              <a:rPr dirty="0" baseline="9259" sz="2700" spc="-997">
                <a:latin typeface="Arial"/>
                <a:cs typeface="Arial"/>
              </a:rPr>
              <a:t>ْ</a:t>
            </a:r>
            <a:r>
              <a:rPr dirty="0" baseline="9259" sz="2700" spc="-195">
                <a:latin typeface="Arial"/>
                <a:cs typeface="Arial"/>
              </a:rPr>
              <a:t> </a:t>
            </a:r>
            <a:r>
              <a:rPr dirty="0" baseline="1543" sz="2700" spc="-644">
                <a:latin typeface="Arial"/>
                <a:cs typeface="Arial"/>
              </a:rPr>
              <a:t>ن</a:t>
            </a:r>
            <a:r>
              <a:rPr dirty="0" baseline="6172" sz="2700" spc="-644">
                <a:latin typeface="Arial"/>
                <a:cs typeface="Arial"/>
              </a:rPr>
              <a:t>َ </a:t>
            </a:r>
            <a:r>
              <a:rPr dirty="0" baseline="1543" sz="2700" spc="-802">
                <a:latin typeface="Arial"/>
                <a:cs typeface="Arial"/>
              </a:rPr>
              <a:t>ت</a:t>
            </a:r>
            <a:r>
              <a:rPr dirty="0" baseline="6172" sz="2700" spc="-802">
                <a:latin typeface="Arial"/>
                <a:cs typeface="Arial"/>
              </a:rPr>
              <a:t>ُ</a:t>
            </a:r>
            <a:r>
              <a:rPr dirty="0" baseline="6172" sz="2700" spc="855">
                <a:latin typeface="Arial"/>
                <a:cs typeface="Arial"/>
              </a:rPr>
              <a:t> </a:t>
            </a:r>
            <a:r>
              <a:rPr dirty="0" baseline="1543" sz="2700" spc="-322">
                <a:latin typeface="Arial"/>
                <a:cs typeface="Arial"/>
              </a:rPr>
              <a:t>مْ </a:t>
            </a:r>
            <a:r>
              <a:rPr dirty="0" baseline="1543" sz="2700" spc="-690">
                <a:latin typeface="Arial"/>
                <a:cs typeface="Arial"/>
              </a:rPr>
              <a:t>ل</a:t>
            </a:r>
            <a:r>
              <a:rPr dirty="0" baseline="9259" sz="2700" spc="-690">
                <a:latin typeface="Arial"/>
                <a:cs typeface="Arial"/>
              </a:rPr>
              <a:t>َ </a:t>
            </a:r>
            <a:r>
              <a:rPr dirty="0" baseline="1543" sz="2700" spc="-652">
                <a:latin typeface="Arial"/>
                <a:cs typeface="Arial"/>
              </a:rPr>
              <a:t>ظ</a:t>
            </a:r>
            <a:r>
              <a:rPr dirty="0" baseline="10802" sz="2700" spc="-652">
                <a:latin typeface="Arial"/>
                <a:cs typeface="Arial"/>
              </a:rPr>
              <a:t>َ </a:t>
            </a:r>
            <a:r>
              <a:rPr dirty="0" baseline="1543" sz="2700" spc="-330">
                <a:latin typeface="Arial"/>
                <a:cs typeface="Arial"/>
              </a:rPr>
              <a:t>ًن</a:t>
            </a:r>
            <a:r>
              <a:rPr dirty="0" baseline="9259" sz="2700" spc="-330">
                <a:latin typeface="Arial"/>
                <a:cs typeface="Arial"/>
              </a:rPr>
              <a:t>ِّ </a:t>
            </a:r>
            <a:r>
              <a:rPr dirty="0" baseline="-12345" sz="2700">
                <a:latin typeface="Arial"/>
                <a:cs typeface="Arial"/>
              </a:rPr>
              <a:t>ِ</a:t>
            </a:r>
            <a:r>
              <a:rPr dirty="0" baseline="1543" sz="2700">
                <a:latin typeface="Arial"/>
                <a:cs typeface="Arial"/>
              </a:rPr>
              <a:t>إ </a:t>
            </a:r>
            <a:r>
              <a:rPr dirty="0" baseline="1543" sz="2700" spc="-525">
                <a:latin typeface="Arial"/>
                <a:cs typeface="Arial"/>
              </a:rPr>
              <a:t>بِّ </a:t>
            </a:r>
            <a:r>
              <a:rPr dirty="0" baseline="1543" sz="2700" spc="-494">
                <a:latin typeface="Arial"/>
                <a:cs typeface="Arial"/>
              </a:rPr>
              <a:t>ر</a:t>
            </a:r>
            <a:r>
              <a:rPr dirty="0" baseline="-1543" sz="2700" spc="-494">
                <a:latin typeface="Arial"/>
                <a:cs typeface="Arial"/>
              </a:rPr>
              <a:t>َ </a:t>
            </a:r>
            <a:r>
              <a:rPr dirty="0" baseline="1543" sz="2700" spc="-615">
                <a:latin typeface="Arial"/>
                <a:cs typeface="Arial"/>
              </a:rPr>
              <a:t>ل</a:t>
            </a:r>
            <a:r>
              <a:rPr dirty="0" baseline="-1543" sz="2700" spc="-615">
                <a:latin typeface="Arial"/>
                <a:cs typeface="Arial"/>
              </a:rPr>
              <a:t>َ</a:t>
            </a:r>
            <a:r>
              <a:rPr dirty="0" baseline="-1543" sz="2700" spc="-562">
                <a:latin typeface="Arial"/>
                <a:cs typeface="Arial"/>
              </a:rPr>
              <a:t> </a:t>
            </a:r>
            <a:r>
              <a:rPr dirty="0" baseline="1543" sz="2700" spc="-727">
                <a:latin typeface="Arial"/>
                <a:cs typeface="Arial"/>
              </a:rPr>
              <a:t>اق</a:t>
            </a:r>
            <a:endParaRPr baseline="1543" sz="2700">
              <a:latin typeface="Arial"/>
              <a:cs typeface="Arial"/>
            </a:endParaRPr>
          </a:p>
          <a:p>
            <a:pPr algn="just" marL="101600" marR="114300">
              <a:lnSpc>
                <a:spcPts val="1380"/>
              </a:lnSpc>
              <a:spcBef>
                <a:spcPts val="1395"/>
              </a:spcBef>
              <a:buAutoNum type="arabicPeriod" startAt="16"/>
              <a:tabLst>
                <a:tab pos="363855" algn="l"/>
              </a:tabLst>
            </a:pPr>
            <a:r>
              <a:rPr dirty="0" sz="1200" spc="-5">
                <a:latin typeface="Arial"/>
                <a:cs typeface="Arial"/>
              </a:rPr>
              <a:t>He said: My Lord! Lo! </a:t>
            </a:r>
            <a:r>
              <a:rPr dirty="0" sz="1200">
                <a:latin typeface="Arial"/>
                <a:cs typeface="Arial"/>
              </a:rPr>
              <a:t>I </a:t>
            </a:r>
            <a:r>
              <a:rPr dirty="0" sz="1200" spc="-5">
                <a:latin typeface="Arial"/>
                <a:cs typeface="Arial"/>
              </a:rPr>
              <a:t>have wronged </a:t>
            </a:r>
            <a:r>
              <a:rPr dirty="0" sz="1200">
                <a:latin typeface="Arial"/>
                <a:cs typeface="Arial"/>
              </a:rPr>
              <a:t>my </a:t>
            </a:r>
            <a:r>
              <a:rPr dirty="0" sz="1200" spc="-5">
                <a:latin typeface="Arial"/>
                <a:cs typeface="Arial"/>
              </a:rPr>
              <a:t>soul, so forgive </a:t>
            </a:r>
            <a:r>
              <a:rPr dirty="0" sz="1200">
                <a:latin typeface="Arial"/>
                <a:cs typeface="Arial"/>
              </a:rPr>
              <a:t>me. </a:t>
            </a:r>
            <a:r>
              <a:rPr dirty="0" sz="1200" spc="-5">
                <a:latin typeface="Arial"/>
                <a:cs typeface="Arial"/>
              </a:rPr>
              <a:t>Then He forgave </a:t>
            </a:r>
            <a:r>
              <a:rPr dirty="0" sz="1200">
                <a:latin typeface="Arial"/>
                <a:cs typeface="Arial"/>
              </a:rPr>
              <a:t>him. </a:t>
            </a:r>
            <a:r>
              <a:rPr dirty="0" sz="1200" spc="-5">
                <a:latin typeface="Arial"/>
                <a:cs typeface="Arial"/>
              </a:rPr>
              <a:t>Lo!  He is </a:t>
            </a:r>
            <a:r>
              <a:rPr dirty="0" sz="1200">
                <a:latin typeface="Arial"/>
                <a:cs typeface="Arial"/>
              </a:rPr>
              <a:t>the </a:t>
            </a:r>
            <a:r>
              <a:rPr dirty="0" sz="1200" spc="-5">
                <a:latin typeface="Arial"/>
                <a:cs typeface="Arial"/>
              </a:rPr>
              <a:t>Forgiving, </a:t>
            </a:r>
            <a:r>
              <a:rPr dirty="0" sz="1200">
                <a:latin typeface="Arial"/>
                <a:cs typeface="Arial"/>
              </a:rPr>
              <a:t>the</a:t>
            </a:r>
            <a:r>
              <a:rPr dirty="0" sz="1200" spc="15">
                <a:latin typeface="Arial"/>
                <a:cs typeface="Arial"/>
              </a:rPr>
              <a:t> </a:t>
            </a:r>
            <a:r>
              <a:rPr dirty="0" sz="1200" spc="-5">
                <a:latin typeface="Arial"/>
                <a:cs typeface="Arial"/>
              </a:rPr>
              <a:t>Merciful.</a:t>
            </a:r>
            <a:endParaRPr sz="1200">
              <a:latin typeface="Arial"/>
              <a:cs typeface="Arial"/>
            </a:endParaRPr>
          </a:p>
          <a:p>
            <a:pPr>
              <a:lnSpc>
                <a:spcPct val="100000"/>
              </a:lnSpc>
              <a:spcBef>
                <a:spcPts val="20"/>
              </a:spcBef>
            </a:pPr>
            <a:endParaRPr sz="1150">
              <a:latin typeface="Arial"/>
              <a:cs typeface="Arial"/>
            </a:endParaRPr>
          </a:p>
          <a:p>
            <a:pPr algn="r" marR="158115">
              <a:lnSpc>
                <a:spcPts val="2110"/>
              </a:lnSpc>
            </a:pPr>
            <a:r>
              <a:rPr dirty="0" baseline="3086" sz="2700" spc="-592">
                <a:latin typeface="Arial"/>
                <a:cs typeface="Arial"/>
              </a:rPr>
              <a:t>جْ </a:t>
            </a:r>
            <a:r>
              <a:rPr dirty="0" baseline="3086" sz="2700" spc="-517">
                <a:latin typeface="Arial"/>
                <a:cs typeface="Arial"/>
              </a:rPr>
              <a:t>رُ </a:t>
            </a:r>
            <a:r>
              <a:rPr dirty="0" baseline="3086" sz="2700" spc="-555">
                <a:latin typeface="Arial"/>
                <a:cs typeface="Arial"/>
              </a:rPr>
              <a:t>خ</a:t>
            </a:r>
            <a:r>
              <a:rPr dirty="0" baseline="12345" sz="2700" spc="-555">
                <a:latin typeface="Arial"/>
                <a:cs typeface="Arial"/>
              </a:rPr>
              <a:t>ْ </a:t>
            </a:r>
            <a:r>
              <a:rPr dirty="0" baseline="3086" sz="2700" spc="-675">
                <a:latin typeface="Arial"/>
                <a:cs typeface="Arial"/>
              </a:rPr>
              <a:t>اف</a:t>
            </a:r>
            <a:r>
              <a:rPr dirty="0" baseline="7716" sz="2700" spc="-675">
                <a:latin typeface="Arial"/>
                <a:cs typeface="Arial"/>
              </a:rPr>
              <a:t>َ </a:t>
            </a:r>
            <a:r>
              <a:rPr dirty="0" baseline="3086" sz="2700" spc="-682">
                <a:latin typeface="Arial"/>
                <a:cs typeface="Arial"/>
              </a:rPr>
              <a:t>ك</a:t>
            </a:r>
            <a:r>
              <a:rPr dirty="0" sz="1800" spc="-455">
                <a:latin typeface="Arial"/>
                <a:cs typeface="Arial"/>
              </a:rPr>
              <a:t>َ </a:t>
            </a:r>
            <a:r>
              <a:rPr dirty="0" baseline="3086" sz="2700" spc="-562">
                <a:latin typeface="Arial"/>
                <a:cs typeface="Arial"/>
              </a:rPr>
              <a:t>و</a:t>
            </a:r>
            <a:r>
              <a:rPr dirty="0" baseline="13888" sz="2700" spc="-562">
                <a:latin typeface="Arial"/>
                <a:cs typeface="Arial"/>
              </a:rPr>
              <a:t>ُ</a:t>
            </a:r>
            <a:r>
              <a:rPr dirty="0" baseline="3086" sz="2700" spc="-562">
                <a:latin typeface="Arial"/>
                <a:cs typeface="Arial"/>
              </a:rPr>
              <a:t>لت</a:t>
            </a:r>
            <a:r>
              <a:rPr dirty="0" baseline="10802" sz="2700" spc="-562">
                <a:latin typeface="Arial"/>
                <a:cs typeface="Arial"/>
              </a:rPr>
              <a:t>ُ </a:t>
            </a:r>
            <a:r>
              <a:rPr dirty="0" baseline="3086" sz="2700" spc="-719">
                <a:latin typeface="Arial"/>
                <a:cs typeface="Arial"/>
              </a:rPr>
              <a:t>ق</a:t>
            </a:r>
            <a:r>
              <a:rPr dirty="0" baseline="12345" sz="2700" spc="-719">
                <a:latin typeface="Arial"/>
                <a:cs typeface="Arial"/>
              </a:rPr>
              <a:t>ْ </a:t>
            </a:r>
            <a:r>
              <a:rPr dirty="0" baseline="3086" sz="2700">
                <a:latin typeface="Arial"/>
                <a:cs typeface="Arial"/>
              </a:rPr>
              <a:t>ٌ</a:t>
            </a:r>
            <a:r>
              <a:rPr dirty="0" sz="1800">
                <a:latin typeface="Arial"/>
                <a:cs typeface="Arial"/>
              </a:rPr>
              <a:t>َ </a:t>
            </a:r>
            <a:r>
              <a:rPr dirty="0" baseline="1543" sz="2700" spc="-405">
                <a:latin typeface="Arial"/>
                <a:cs typeface="Arial"/>
              </a:rPr>
              <a:t>ِ</a:t>
            </a:r>
            <a:r>
              <a:rPr dirty="0" baseline="3086" sz="2700" spc="-405">
                <a:latin typeface="Arial"/>
                <a:cs typeface="Arial"/>
              </a:rPr>
              <a:t>ل </a:t>
            </a:r>
            <a:r>
              <a:rPr dirty="0" baseline="3086" sz="2700" spc="-682">
                <a:latin typeface="Arial"/>
                <a:cs typeface="Arial"/>
              </a:rPr>
              <a:t>ك</a:t>
            </a:r>
            <a:r>
              <a:rPr dirty="0" sz="1800" spc="-455">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660">
                <a:latin typeface="Arial"/>
                <a:cs typeface="Arial"/>
              </a:rPr>
              <a:t> </a:t>
            </a:r>
            <a:r>
              <a:rPr dirty="0" baseline="3086" sz="2700" spc="-494">
                <a:latin typeface="Arial"/>
                <a:cs typeface="Arial"/>
              </a:rPr>
              <a:t>ن</a:t>
            </a:r>
            <a:r>
              <a:rPr dirty="0" sz="1800" spc="-330">
                <a:latin typeface="Arial"/>
                <a:cs typeface="Arial"/>
              </a:rPr>
              <a:t>َ </a:t>
            </a:r>
            <a:r>
              <a:rPr dirty="0" baseline="3086" sz="2700" spc="-359">
                <a:latin typeface="Arial"/>
                <a:cs typeface="Arial"/>
              </a:rPr>
              <a:t>ورُ </a:t>
            </a:r>
            <a:r>
              <a:rPr dirty="0" baseline="3086" sz="2700" spc="-352">
                <a:latin typeface="Arial"/>
                <a:cs typeface="Arial"/>
              </a:rPr>
              <a:t>م</a:t>
            </a:r>
            <a:r>
              <a:rPr dirty="0" baseline="1543" sz="2700" spc="-352">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70">
                <a:latin typeface="Arial"/>
                <a:cs typeface="Arial"/>
              </a:rPr>
              <a:t> </a:t>
            </a:r>
            <a:r>
              <a:rPr dirty="0" baseline="20061" sz="2700" spc="-142">
                <a:latin typeface="Arial"/>
                <a:cs typeface="Arial"/>
              </a:rPr>
              <a:t>ْ</a:t>
            </a:r>
            <a:r>
              <a:rPr dirty="0" baseline="3086" sz="2700" spc="-142">
                <a:latin typeface="Arial"/>
                <a:cs typeface="Arial"/>
              </a:rPr>
              <a:t>ؤٌ</a:t>
            </a:r>
            <a:r>
              <a:rPr dirty="0" sz="1800" spc="-95">
                <a:latin typeface="Arial"/>
                <a:cs typeface="Arial"/>
              </a:rPr>
              <a:t>َ </a:t>
            </a:r>
            <a:r>
              <a:rPr dirty="0" baseline="16975" sz="2700" spc="-607">
                <a:latin typeface="Arial"/>
                <a:cs typeface="Arial"/>
              </a:rPr>
              <a:t>َ</a:t>
            </a:r>
            <a:r>
              <a:rPr dirty="0" baseline="3086" sz="2700" spc="-607">
                <a:latin typeface="Arial"/>
                <a:cs typeface="Arial"/>
              </a:rPr>
              <a:t>لؤ</a:t>
            </a:r>
            <a:r>
              <a:rPr dirty="0" baseline="10802" sz="2700" spc="-607">
                <a:latin typeface="Arial"/>
                <a:cs typeface="Arial"/>
              </a:rPr>
              <a:t>َ </a:t>
            </a:r>
            <a:r>
              <a:rPr dirty="0" baseline="3086" sz="2700" spc="-359">
                <a:latin typeface="Arial"/>
                <a:cs typeface="Arial"/>
              </a:rPr>
              <a:t>م</a:t>
            </a:r>
            <a:r>
              <a:rPr dirty="0" sz="1800" spc="-2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345">
                <a:latin typeface="Arial"/>
                <a:cs typeface="Arial"/>
              </a:rPr>
              <a:t>نَّ </a:t>
            </a:r>
            <a:r>
              <a:rPr dirty="0" baseline="-10802" sz="2700">
                <a:latin typeface="Arial"/>
                <a:cs typeface="Arial"/>
              </a:rPr>
              <a:t>ِ</a:t>
            </a:r>
            <a:r>
              <a:rPr dirty="0" baseline="3086" sz="2700">
                <a:latin typeface="Arial"/>
                <a:cs typeface="Arial"/>
              </a:rPr>
              <a:t>إ </a:t>
            </a:r>
            <a:r>
              <a:rPr dirty="0" baseline="3086" sz="2700" spc="-705">
                <a:latin typeface="Arial"/>
                <a:cs typeface="Arial"/>
              </a:rPr>
              <a:t>ىس</a:t>
            </a:r>
            <a:r>
              <a:rPr dirty="0" sz="1800" spc="-470">
                <a:latin typeface="Arial"/>
                <a:cs typeface="Arial"/>
              </a:rPr>
              <a:t>َ </a:t>
            </a:r>
            <a:r>
              <a:rPr dirty="0" baseline="3086" sz="2700" spc="-270">
                <a:latin typeface="Arial"/>
                <a:cs typeface="Arial"/>
              </a:rPr>
              <a:t>ومُ </a:t>
            </a:r>
            <a:r>
              <a:rPr dirty="0" baseline="3086" sz="2700" spc="15">
                <a:latin typeface="Arial"/>
                <a:cs typeface="Arial"/>
              </a:rPr>
              <a:t>اٌ</a:t>
            </a:r>
            <a:r>
              <a:rPr dirty="0" sz="1800" spc="10">
                <a:latin typeface="Arial"/>
                <a:cs typeface="Arial"/>
              </a:rPr>
              <a:t>َ </a:t>
            </a:r>
            <a:r>
              <a:rPr dirty="0" baseline="3086" sz="2700" spc="-615">
                <a:latin typeface="Arial"/>
                <a:cs typeface="Arial"/>
              </a:rPr>
              <a:t>ل</a:t>
            </a:r>
            <a:r>
              <a:rPr dirty="0" sz="1800" spc="-409">
                <a:latin typeface="Arial"/>
                <a:cs typeface="Arial"/>
              </a:rPr>
              <a:t>َ </a:t>
            </a:r>
            <a:r>
              <a:rPr dirty="0" baseline="3086" sz="2700" spc="-487">
                <a:latin typeface="Arial"/>
                <a:cs typeface="Arial"/>
              </a:rPr>
              <a:t>اق</a:t>
            </a:r>
            <a:r>
              <a:rPr dirty="0" baseline="7716" sz="2700" spc="-487">
                <a:latin typeface="Arial"/>
                <a:cs typeface="Arial"/>
              </a:rPr>
              <a:t>َ </a:t>
            </a:r>
            <a:r>
              <a:rPr dirty="0" baseline="3086" sz="2700" spc="-450">
                <a:latin typeface="Arial"/>
                <a:cs typeface="Arial"/>
              </a:rPr>
              <a:t>ىع</a:t>
            </a:r>
            <a:r>
              <a:rPr dirty="0" sz="1800" spc="-300">
                <a:latin typeface="Arial"/>
                <a:cs typeface="Arial"/>
              </a:rPr>
              <a:t>َ </a:t>
            </a:r>
            <a:r>
              <a:rPr dirty="0" baseline="3086" sz="2700" spc="-944">
                <a:latin typeface="Arial"/>
                <a:cs typeface="Arial"/>
              </a:rPr>
              <a:t>سْ</a:t>
            </a:r>
            <a:r>
              <a:rPr dirty="0" baseline="3086" sz="2700" spc="352">
                <a:latin typeface="Arial"/>
                <a:cs typeface="Arial"/>
              </a:rPr>
              <a:t> </a:t>
            </a:r>
            <a:r>
              <a:rPr dirty="0" baseline="3086" sz="2700">
                <a:latin typeface="Arial"/>
                <a:cs typeface="Arial"/>
              </a:rPr>
              <a:t>ٌ</a:t>
            </a:r>
            <a:r>
              <a:rPr dirty="0" sz="1800">
                <a:latin typeface="Arial"/>
                <a:cs typeface="Arial"/>
              </a:rPr>
              <a:t>َ </a:t>
            </a:r>
            <a:r>
              <a:rPr dirty="0" baseline="3086" sz="2700" spc="-337">
                <a:latin typeface="Arial"/>
                <a:cs typeface="Arial"/>
              </a:rPr>
              <a:t>ة</a:t>
            </a:r>
            <a:r>
              <a:rPr dirty="0" baseline="1543" sz="2700" spc="-337">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232">
                <a:latin typeface="Arial"/>
                <a:cs typeface="Arial"/>
              </a:rPr>
              <a:t>ٌد</a:t>
            </a:r>
            <a:r>
              <a:rPr dirty="0" baseline="1543" sz="2700" spc="-232">
                <a:latin typeface="Arial"/>
                <a:cs typeface="Arial"/>
              </a:rPr>
              <a:t>ِ </a:t>
            </a:r>
            <a:r>
              <a:rPr dirty="0" baseline="3086" sz="2700" spc="-359">
                <a:latin typeface="Arial"/>
                <a:cs typeface="Arial"/>
              </a:rPr>
              <a:t>م</a:t>
            </a:r>
            <a:r>
              <a:rPr dirty="0" sz="1800" spc="-2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944">
                <a:latin typeface="Arial"/>
                <a:cs typeface="Arial"/>
              </a:rPr>
              <a:t>ىص</a:t>
            </a:r>
            <a:r>
              <a:rPr dirty="0" sz="1800" spc="-630">
                <a:latin typeface="Arial"/>
                <a:cs typeface="Arial"/>
              </a:rPr>
              <a:t>َ</a:t>
            </a:r>
            <a:r>
              <a:rPr dirty="0" sz="1800" spc="850">
                <a:latin typeface="Arial"/>
                <a:cs typeface="Arial"/>
              </a:rPr>
              <a:t> </a:t>
            </a:r>
            <a:r>
              <a:rPr dirty="0" baseline="3086" sz="2700" spc="-719">
                <a:latin typeface="Arial"/>
                <a:cs typeface="Arial"/>
              </a:rPr>
              <a:t>ق</a:t>
            </a:r>
            <a:r>
              <a:rPr dirty="0" baseline="12345" sz="2700" spc="-719">
                <a:latin typeface="Arial"/>
                <a:cs typeface="Arial"/>
              </a:rPr>
              <a:t>ْ </a:t>
            </a:r>
            <a:r>
              <a:rPr dirty="0" baseline="16975" sz="2700">
                <a:latin typeface="Arial"/>
                <a:cs typeface="Arial"/>
              </a:rPr>
              <a:t>َ</a:t>
            </a:r>
            <a:r>
              <a:rPr dirty="0" baseline="3086" sz="2700">
                <a:latin typeface="Arial"/>
                <a:cs typeface="Arial"/>
              </a:rPr>
              <a:t>أ </a:t>
            </a:r>
            <a:r>
              <a:rPr dirty="0" baseline="3086" sz="2700" spc="-465">
                <a:latin typeface="Arial"/>
                <a:cs typeface="Arial"/>
              </a:rPr>
              <a:t>نْ  </a:t>
            </a:r>
            <a:r>
              <a:rPr dirty="0" baseline="3086" sz="2700" spc="-254">
                <a:latin typeface="Arial"/>
                <a:cs typeface="Arial"/>
              </a:rPr>
              <a:t>مِّ  </a:t>
            </a:r>
            <a:r>
              <a:rPr dirty="0" baseline="3086" sz="2700" spc="-652">
                <a:latin typeface="Arial"/>
                <a:cs typeface="Arial"/>
              </a:rPr>
              <a:t>ل</a:t>
            </a:r>
            <a:r>
              <a:rPr dirty="0" baseline="4629" sz="2700" spc="-652">
                <a:latin typeface="Arial"/>
                <a:cs typeface="Arial"/>
              </a:rPr>
              <a:t>ٌ </a:t>
            </a:r>
            <a:r>
              <a:rPr dirty="0" baseline="3086" sz="2700" spc="-630">
                <a:latin typeface="Arial"/>
                <a:cs typeface="Arial"/>
              </a:rPr>
              <a:t>جُ </a:t>
            </a:r>
            <a:r>
              <a:rPr dirty="0" baseline="3086" sz="2700" spc="-494">
                <a:latin typeface="Arial"/>
                <a:cs typeface="Arial"/>
              </a:rPr>
              <a:t>ر</a:t>
            </a:r>
            <a:r>
              <a:rPr dirty="0" sz="1800" spc="-330">
                <a:latin typeface="Arial"/>
                <a:cs typeface="Arial"/>
              </a:rPr>
              <a:t>َ </a:t>
            </a:r>
            <a:r>
              <a:rPr dirty="0" baseline="3086" sz="2700" spc="-284">
                <a:latin typeface="Arial"/>
                <a:cs typeface="Arial"/>
              </a:rPr>
              <a:t>ءاج</a:t>
            </a:r>
            <a:r>
              <a:rPr dirty="0" sz="1800" spc="-190">
                <a:latin typeface="Arial"/>
                <a:cs typeface="Arial"/>
              </a:rPr>
              <a:t>َ</a:t>
            </a:r>
            <a:r>
              <a:rPr dirty="0" sz="1800" spc="-204">
                <a:latin typeface="Arial"/>
                <a:cs typeface="Arial"/>
              </a:rPr>
              <a:t> </a:t>
            </a:r>
            <a:r>
              <a:rPr dirty="0" baseline="3086" sz="2700" spc="-615">
                <a:latin typeface="Arial"/>
                <a:cs typeface="Arial"/>
              </a:rPr>
              <a:t>و</a:t>
            </a:r>
            <a:endParaRPr baseline="3086" sz="2700">
              <a:latin typeface="Arial"/>
              <a:cs typeface="Arial"/>
            </a:endParaRPr>
          </a:p>
          <a:p>
            <a:pPr algn="r" marR="106680">
              <a:lnSpc>
                <a:spcPts val="2110"/>
              </a:lnSpc>
            </a:pPr>
            <a:r>
              <a:rPr dirty="0" baseline="3086" sz="2700" spc="-509">
                <a:latin typeface="Arial"/>
                <a:cs typeface="Arial"/>
              </a:rPr>
              <a:t>ن</a:t>
            </a:r>
            <a:r>
              <a:rPr dirty="0" sz="1800" spc="-340">
                <a:latin typeface="Arial"/>
                <a:cs typeface="Arial"/>
              </a:rPr>
              <a:t>َ </a:t>
            </a:r>
            <a:r>
              <a:rPr dirty="0" baseline="3086" sz="2700" spc="-480">
                <a:latin typeface="Arial"/>
                <a:cs typeface="Arial"/>
              </a:rPr>
              <a:t>ٌح</a:t>
            </a:r>
            <a:r>
              <a:rPr dirty="0" baseline="1543" sz="2700" spc="-480">
                <a:latin typeface="Arial"/>
                <a:cs typeface="Arial"/>
              </a:rPr>
              <a:t>ِ </a:t>
            </a:r>
            <a:r>
              <a:rPr dirty="0" baseline="3086" sz="2700" spc="-1245">
                <a:latin typeface="Arial"/>
                <a:cs typeface="Arial"/>
              </a:rPr>
              <a:t>ص</a:t>
            </a:r>
            <a:r>
              <a:rPr dirty="0" baseline="1543" sz="2700" spc="-1245">
                <a:latin typeface="Arial"/>
                <a:cs typeface="Arial"/>
              </a:rPr>
              <a:t>ِ</a:t>
            </a:r>
            <a:r>
              <a:rPr dirty="0" baseline="1543" sz="2700" spc="1027">
                <a:latin typeface="Arial"/>
                <a:cs typeface="Arial"/>
              </a:rPr>
              <a:t> </a:t>
            </a:r>
            <a:r>
              <a:rPr dirty="0" baseline="3086" sz="2700" spc="-322">
                <a:latin typeface="Arial"/>
                <a:cs typeface="Arial"/>
              </a:rPr>
              <a:t>ان</a:t>
            </a:r>
            <a:r>
              <a:rPr dirty="0" baseline="10802" sz="2700" spc="-322">
                <a:latin typeface="Arial"/>
                <a:cs typeface="Arial"/>
              </a:rPr>
              <a:t>َّ </a:t>
            </a:r>
            <a:r>
              <a:rPr dirty="0" baseline="3086" sz="2700" spc="-412">
                <a:latin typeface="Arial"/>
                <a:cs typeface="Arial"/>
              </a:rPr>
              <a:t>لا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682">
                <a:latin typeface="Arial"/>
                <a:cs typeface="Arial"/>
              </a:rPr>
              <a:t>ك</a:t>
            </a:r>
            <a:r>
              <a:rPr dirty="0" sz="1800" spc="-455">
                <a:latin typeface="Arial"/>
                <a:cs typeface="Arial"/>
              </a:rPr>
              <a:t>َ </a:t>
            </a:r>
            <a:r>
              <a:rPr dirty="0" baseline="10802" sz="2700" spc="-405">
                <a:latin typeface="Arial"/>
                <a:cs typeface="Arial"/>
              </a:rPr>
              <a:t>َ</a:t>
            </a:r>
            <a:r>
              <a:rPr dirty="0" baseline="3086" sz="2700" spc="-405">
                <a:latin typeface="Arial"/>
                <a:cs typeface="Arial"/>
              </a:rPr>
              <a:t>ل </a:t>
            </a:r>
            <a:r>
              <a:rPr dirty="0" baseline="3086" sz="2700" spc="-330">
                <a:latin typeface="Arial"/>
                <a:cs typeface="Arial"/>
              </a:rPr>
              <a:t>ًن</a:t>
            </a:r>
            <a:r>
              <a:rPr dirty="0" baseline="10802" sz="2700" spc="-330">
                <a:latin typeface="Arial"/>
                <a:cs typeface="Arial"/>
              </a:rPr>
              <a:t>ِّ</a:t>
            </a:r>
            <a:r>
              <a:rPr dirty="0" baseline="10802" sz="2700" spc="-52">
                <a:latin typeface="Arial"/>
                <a:cs typeface="Arial"/>
              </a:rPr>
              <a:t> </a:t>
            </a:r>
            <a:r>
              <a:rPr dirty="0" baseline="-10802" sz="2700">
                <a:latin typeface="Arial"/>
                <a:cs typeface="Arial"/>
              </a:rPr>
              <a:t>ِ</a:t>
            </a:r>
            <a:r>
              <a:rPr dirty="0" baseline="3086" sz="2700">
                <a:latin typeface="Arial"/>
                <a:cs typeface="Arial"/>
              </a:rPr>
              <a:t>إ</a:t>
            </a:r>
            <a:endParaRPr baseline="3086" sz="2700">
              <a:latin typeface="Arial"/>
              <a:cs typeface="Arial"/>
            </a:endParaRPr>
          </a:p>
          <a:p>
            <a:pPr algn="just" marL="101600" marR="105410">
              <a:lnSpc>
                <a:spcPts val="1380"/>
              </a:lnSpc>
              <a:spcBef>
                <a:spcPts val="1330"/>
              </a:spcBef>
            </a:pPr>
            <a:r>
              <a:rPr dirty="0" sz="1200" spc="-5">
                <a:latin typeface="Arial"/>
                <a:cs typeface="Arial"/>
              </a:rPr>
              <a:t>20. And a man came </a:t>
            </a:r>
            <a:r>
              <a:rPr dirty="0" sz="1200">
                <a:latin typeface="Arial"/>
                <a:cs typeface="Arial"/>
              </a:rPr>
              <a:t>from </a:t>
            </a:r>
            <a:r>
              <a:rPr dirty="0" sz="1200" spc="-5">
                <a:latin typeface="Arial"/>
                <a:cs typeface="Arial"/>
              </a:rPr>
              <a:t>the uttermost </a:t>
            </a:r>
            <a:r>
              <a:rPr dirty="0" sz="1200">
                <a:latin typeface="Arial"/>
                <a:cs typeface="Arial"/>
              </a:rPr>
              <a:t>part </a:t>
            </a:r>
            <a:r>
              <a:rPr dirty="0" sz="1200" spc="-5">
                <a:latin typeface="Arial"/>
                <a:cs typeface="Arial"/>
              </a:rPr>
              <a:t>of the city, running. He said: </a:t>
            </a:r>
            <a:r>
              <a:rPr dirty="0" sz="1200">
                <a:latin typeface="Arial"/>
                <a:cs typeface="Arial"/>
              </a:rPr>
              <a:t>O </a:t>
            </a:r>
            <a:r>
              <a:rPr dirty="0" sz="1200" spc="-5">
                <a:latin typeface="Arial"/>
                <a:cs typeface="Arial"/>
              </a:rPr>
              <a:t>Moses! Lo! The  chiefs take counsel against thee </a:t>
            </a:r>
            <a:r>
              <a:rPr dirty="0" sz="1200">
                <a:latin typeface="Arial"/>
                <a:cs typeface="Arial"/>
              </a:rPr>
              <a:t>to </a:t>
            </a:r>
            <a:r>
              <a:rPr dirty="0" sz="1200" spc="-5">
                <a:latin typeface="Arial"/>
                <a:cs typeface="Arial"/>
              </a:rPr>
              <a:t>slay thee; therefor escape. Lo! </a:t>
            </a:r>
            <a:r>
              <a:rPr dirty="0" sz="1200">
                <a:latin typeface="Arial"/>
                <a:cs typeface="Arial"/>
              </a:rPr>
              <a:t>I </a:t>
            </a:r>
            <a:r>
              <a:rPr dirty="0" sz="1200" spc="-5">
                <a:latin typeface="Arial"/>
                <a:cs typeface="Arial"/>
              </a:rPr>
              <a:t>am of those </a:t>
            </a:r>
            <a:r>
              <a:rPr dirty="0" sz="1200" spc="-10">
                <a:latin typeface="Arial"/>
                <a:cs typeface="Arial"/>
              </a:rPr>
              <a:t>who give  </a:t>
            </a:r>
            <a:r>
              <a:rPr dirty="0" sz="1200">
                <a:latin typeface="Arial"/>
                <a:cs typeface="Arial"/>
              </a:rPr>
              <a:t>thee </a:t>
            </a:r>
            <a:r>
              <a:rPr dirty="0" sz="1200" spc="-5">
                <a:latin typeface="Arial"/>
                <a:cs typeface="Arial"/>
              </a:rPr>
              <a:t>good</a:t>
            </a:r>
            <a:r>
              <a:rPr dirty="0" sz="1200" spc="-25">
                <a:latin typeface="Arial"/>
                <a:cs typeface="Arial"/>
              </a:rPr>
              <a:t> </a:t>
            </a:r>
            <a:r>
              <a:rPr dirty="0" sz="1200" spc="-5">
                <a:latin typeface="Arial"/>
                <a:cs typeface="Arial"/>
              </a:rPr>
              <a:t>advice.</a:t>
            </a:r>
            <a:endParaRPr sz="1200">
              <a:latin typeface="Arial"/>
              <a:cs typeface="Arial"/>
            </a:endParaRPr>
          </a:p>
          <a:p>
            <a:pPr>
              <a:lnSpc>
                <a:spcPct val="100000"/>
              </a:lnSpc>
              <a:spcBef>
                <a:spcPts val="20"/>
              </a:spcBef>
            </a:pPr>
            <a:endParaRPr sz="1100">
              <a:latin typeface="Arial"/>
              <a:cs typeface="Arial"/>
            </a:endParaRPr>
          </a:p>
          <a:p>
            <a:pPr algn="r" marR="158750">
              <a:lnSpc>
                <a:spcPts val="2145"/>
              </a:lnSpc>
            </a:pPr>
            <a:r>
              <a:rPr dirty="0" baseline="1543" sz="2700" spc="-615">
                <a:latin typeface="Arial"/>
                <a:cs typeface="Arial"/>
              </a:rPr>
              <a:t>ل</a:t>
            </a:r>
            <a:r>
              <a:rPr dirty="0" baseline="-1543" sz="2700" spc="-615">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spc="-615">
                <a:latin typeface="Arial"/>
                <a:cs typeface="Arial"/>
              </a:rPr>
              <a:t>ن</a:t>
            </a:r>
            <a:r>
              <a:rPr dirty="0" baseline="-12345" sz="2700" spc="-615">
                <a:latin typeface="Arial"/>
                <a:cs typeface="Arial"/>
              </a:rPr>
              <a:t>ِ         </a:t>
            </a:r>
            <a:r>
              <a:rPr dirty="0" baseline="1543" sz="2700" spc="-217">
                <a:latin typeface="Arial"/>
                <a:cs typeface="Arial"/>
              </a:rPr>
              <a:t>اد</a:t>
            </a:r>
            <a:r>
              <a:rPr dirty="0" sz="1800" spc="-145">
                <a:latin typeface="Arial"/>
                <a:cs typeface="Arial"/>
              </a:rPr>
              <a:t>َ </a:t>
            </a:r>
            <a:r>
              <a:rPr dirty="0" baseline="1543" sz="2700" spc="-247">
                <a:latin typeface="Arial"/>
                <a:cs typeface="Arial"/>
              </a:rPr>
              <a:t>وذ</a:t>
            </a:r>
            <a:r>
              <a:rPr dirty="0" baseline="13888" sz="2700" spc="-247">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502">
                <a:latin typeface="Arial"/>
                <a:cs typeface="Arial"/>
              </a:rPr>
              <a:t> </a:t>
            </a:r>
            <a:r>
              <a:rPr dirty="0" baseline="1543" sz="2700" spc="-607">
                <a:latin typeface="Arial"/>
                <a:cs typeface="Arial"/>
              </a:rPr>
              <a:t>ن</a:t>
            </a:r>
            <a:r>
              <a:rPr dirty="0" baseline="-12345" sz="2700" spc="-607">
                <a:latin typeface="Arial"/>
                <a:cs typeface="Arial"/>
              </a:rPr>
              <a:t>ِ        </a:t>
            </a:r>
            <a:r>
              <a:rPr dirty="0" baseline="1543" sz="2700">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32">
                <a:latin typeface="Arial"/>
                <a:cs typeface="Arial"/>
              </a:rPr>
              <a:t> </a:t>
            </a:r>
            <a:r>
              <a:rPr dirty="0" baseline="1543" sz="2700" spc="-330">
                <a:latin typeface="Arial"/>
                <a:cs typeface="Arial"/>
              </a:rPr>
              <a:t>أر</a:t>
            </a:r>
            <a:r>
              <a:rPr dirty="0" baseline="-1543" sz="2700" spc="-330">
                <a:latin typeface="Arial"/>
                <a:cs typeface="Arial"/>
              </a:rPr>
              <a:t>َ  </a:t>
            </a:r>
            <a:r>
              <a:rPr dirty="0" baseline="1543" sz="2700" spc="-322">
                <a:latin typeface="Arial"/>
                <a:cs typeface="Arial"/>
              </a:rPr>
              <a:t>مْ  </a:t>
            </a:r>
            <a:r>
              <a:rPr dirty="0" baseline="1543" sz="2700">
                <a:latin typeface="Arial"/>
                <a:cs typeface="Arial"/>
              </a:rPr>
              <a:t>ا </a:t>
            </a:r>
            <a:r>
              <a:rPr dirty="0" baseline="1543" sz="2700" spc="-434">
                <a:latin typeface="Arial"/>
                <a:cs typeface="Arial"/>
              </a:rPr>
              <a:t>م</a:t>
            </a:r>
            <a:r>
              <a:rPr dirty="0" baseline="-4629" sz="2700" spc="-434">
                <a:latin typeface="Arial"/>
                <a:cs typeface="Arial"/>
              </a:rPr>
              <a:t>ُ   </a:t>
            </a:r>
            <a:r>
              <a:rPr dirty="0" baseline="1543" sz="2700" spc="-307">
                <a:latin typeface="Arial"/>
                <a:cs typeface="Arial"/>
              </a:rPr>
              <a:t>ه</a:t>
            </a:r>
            <a:r>
              <a:rPr dirty="0" baseline="-10802" sz="2700" spc="-307">
                <a:latin typeface="Arial"/>
                <a:cs typeface="Arial"/>
              </a:rPr>
              <a:t>ِ  </a:t>
            </a:r>
            <a:r>
              <a:rPr dirty="0" baseline="1543" sz="2700" spc="-705">
                <a:latin typeface="Arial"/>
                <a:cs typeface="Arial"/>
              </a:rPr>
              <a:t>ن</a:t>
            </a:r>
            <a:r>
              <a:rPr dirty="0" sz="1800" spc="-470">
                <a:latin typeface="Arial"/>
                <a:cs typeface="Arial"/>
              </a:rPr>
              <a:t>ِ              </a:t>
            </a:r>
            <a:r>
              <a:rPr dirty="0" baseline="1543" sz="2700" spc="-240">
                <a:latin typeface="Arial"/>
                <a:cs typeface="Arial"/>
              </a:rPr>
              <a:t>ود</a:t>
            </a:r>
            <a:r>
              <a:rPr dirty="0" baseline="3086" sz="2700" spc="-240">
                <a:latin typeface="Arial"/>
                <a:cs typeface="Arial"/>
              </a:rPr>
              <a:t>ُ   </a:t>
            </a:r>
            <a:r>
              <a:rPr dirty="0" baseline="1543" sz="2700" spc="-240">
                <a:latin typeface="Arial"/>
                <a:cs typeface="Arial"/>
              </a:rPr>
              <a:t>نم</a:t>
            </a:r>
            <a:r>
              <a:rPr dirty="0" sz="1800" spc="-160">
                <a:latin typeface="Arial"/>
                <a:cs typeface="Arial"/>
              </a:rPr>
              <a:t>ِ   </a:t>
            </a:r>
            <a:r>
              <a:rPr dirty="0" baseline="1543" sz="2700" spc="-330">
                <a:latin typeface="Arial"/>
                <a:cs typeface="Arial"/>
              </a:rPr>
              <a:t>د</a:t>
            </a:r>
            <a:r>
              <a:rPr dirty="0" sz="1800" spc="-220">
                <a:latin typeface="Arial"/>
                <a:cs typeface="Arial"/>
              </a:rPr>
              <a:t>َ </a:t>
            </a:r>
            <a:r>
              <a:rPr dirty="0" baseline="1543" sz="2700" spc="-592">
                <a:latin typeface="Arial"/>
                <a:cs typeface="Arial"/>
              </a:rPr>
              <a:t>ج</a:t>
            </a:r>
            <a:r>
              <a:rPr dirty="0" baseline="-1543" sz="2700" spc="-592">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525">
                <a:latin typeface="Arial"/>
                <a:cs typeface="Arial"/>
              </a:rPr>
              <a:t>وق</a:t>
            </a:r>
            <a:r>
              <a:rPr dirty="0" baseline="9259" sz="2700" spc="-525">
                <a:latin typeface="Arial"/>
                <a:cs typeface="Arial"/>
              </a:rPr>
              <a:t>ُ   </a:t>
            </a:r>
            <a:r>
              <a:rPr dirty="0" baseline="1543" sz="2700" spc="-944">
                <a:latin typeface="Arial"/>
                <a:cs typeface="Arial"/>
              </a:rPr>
              <a:t>سْ</a:t>
            </a:r>
            <a:r>
              <a:rPr dirty="0" baseline="1543" sz="2700" spc="352">
                <a:latin typeface="Arial"/>
                <a:cs typeface="Arial"/>
              </a:rPr>
              <a:t> </a:t>
            </a:r>
            <a:r>
              <a:rPr dirty="0" baseline="1543" sz="2700">
                <a:latin typeface="Arial"/>
                <a:cs typeface="Arial"/>
              </a:rPr>
              <a:t>ٌ</a:t>
            </a:r>
            <a:r>
              <a:rPr dirty="0" baseline="-1543" sz="2700">
                <a:latin typeface="Arial"/>
                <a:cs typeface="Arial"/>
              </a:rPr>
              <a:t>َ  </a:t>
            </a:r>
            <a:r>
              <a:rPr dirty="0" baseline="1543" sz="2700" spc="-869">
                <a:latin typeface="Arial"/>
                <a:cs typeface="Arial"/>
              </a:rPr>
              <a:t>س</a:t>
            </a:r>
            <a:r>
              <a:rPr dirty="0" baseline="-12345" sz="2700" spc="-869">
                <a:latin typeface="Arial"/>
                <a:cs typeface="Arial"/>
              </a:rPr>
              <a:t>ِ</a:t>
            </a:r>
            <a:r>
              <a:rPr dirty="0" baseline="-12345" sz="2700" spc="982">
                <a:latin typeface="Arial"/>
                <a:cs typeface="Arial"/>
              </a:rPr>
              <a:t> </a:t>
            </a:r>
            <a:r>
              <a:rPr dirty="0" baseline="1543" sz="2700" spc="-322">
                <a:latin typeface="Arial"/>
                <a:cs typeface="Arial"/>
              </a:rPr>
              <a:t>ان</a:t>
            </a:r>
            <a:r>
              <a:rPr dirty="0" baseline="9259" sz="2700" spc="-322">
                <a:latin typeface="Arial"/>
                <a:cs typeface="Arial"/>
              </a:rPr>
              <a:t>َّ </a:t>
            </a:r>
            <a:r>
              <a:rPr dirty="0" baseline="1543" sz="2700" spc="-412">
                <a:latin typeface="Arial"/>
                <a:cs typeface="Arial"/>
              </a:rPr>
              <a:t>لا  </a:t>
            </a:r>
            <a:r>
              <a:rPr dirty="0" baseline="1543" sz="2700" spc="-494">
                <a:latin typeface="Arial"/>
                <a:cs typeface="Arial"/>
              </a:rPr>
              <a:t>ن</a:t>
            </a:r>
            <a:r>
              <a:rPr dirty="0" baseline="-1543" sz="2700" spc="-494">
                <a:latin typeface="Arial"/>
                <a:cs typeface="Arial"/>
              </a:rPr>
              <a:t>َ    </a:t>
            </a:r>
            <a:r>
              <a:rPr dirty="0" baseline="1543" sz="2700" spc="-254">
                <a:latin typeface="Arial"/>
                <a:cs typeface="Arial"/>
              </a:rPr>
              <a:t>مِّ   </a:t>
            </a:r>
            <a:r>
              <a:rPr dirty="0" baseline="1543" sz="2700" spc="-284">
                <a:latin typeface="Arial"/>
                <a:cs typeface="Arial"/>
              </a:rPr>
              <a:t>ة</a:t>
            </a:r>
            <a:r>
              <a:rPr dirty="0" baseline="12345" sz="2700" spc="-284">
                <a:latin typeface="Arial"/>
                <a:cs typeface="Arial"/>
              </a:rPr>
              <a:t>ً  </a:t>
            </a:r>
            <a:r>
              <a:rPr dirty="0" baseline="1543" sz="2700" spc="-254">
                <a:latin typeface="Arial"/>
                <a:cs typeface="Arial"/>
              </a:rPr>
              <a:t>م</a:t>
            </a:r>
            <a:r>
              <a:rPr dirty="0" sz="1800" spc="-170">
                <a:latin typeface="Arial"/>
                <a:cs typeface="Arial"/>
              </a:rPr>
              <a:t>َّ  </a:t>
            </a:r>
            <a:r>
              <a:rPr dirty="0" baseline="18518" sz="2700">
                <a:latin typeface="Arial"/>
                <a:cs typeface="Arial"/>
              </a:rPr>
              <a:t>ُ</a:t>
            </a:r>
            <a:r>
              <a:rPr dirty="0" baseline="1543" sz="2700">
                <a:latin typeface="Arial"/>
                <a:cs typeface="Arial"/>
              </a:rPr>
              <a:t>أ </a:t>
            </a:r>
            <a:r>
              <a:rPr dirty="0" baseline="1543" sz="2700" spc="-337">
                <a:latin typeface="Arial"/>
                <a:cs typeface="Arial"/>
              </a:rPr>
              <a:t>ه</a:t>
            </a:r>
            <a:r>
              <a:rPr dirty="0" sz="1800" spc="-225">
                <a:latin typeface="Arial"/>
                <a:cs typeface="Arial"/>
              </a:rPr>
              <a:t>ِ  </a:t>
            </a:r>
            <a:r>
              <a:rPr dirty="0" baseline="1543" sz="2700">
                <a:latin typeface="Arial"/>
                <a:cs typeface="Arial"/>
              </a:rPr>
              <a:t>ٌْ </a:t>
            </a:r>
            <a:r>
              <a:rPr dirty="0" baseline="9259" sz="2700" spc="-509">
                <a:latin typeface="Arial"/>
                <a:cs typeface="Arial"/>
              </a:rPr>
              <a:t>َ</a:t>
            </a:r>
            <a:r>
              <a:rPr dirty="0" baseline="1543" sz="2700" spc="-509">
                <a:latin typeface="Arial"/>
                <a:cs typeface="Arial"/>
              </a:rPr>
              <a:t>لع</a:t>
            </a:r>
            <a:r>
              <a:rPr dirty="0" baseline="-1543" sz="2700" spc="-509">
                <a:latin typeface="Arial"/>
                <a:cs typeface="Arial"/>
              </a:rPr>
              <a:t>َ        </a:t>
            </a:r>
            <a:r>
              <a:rPr dirty="0" baseline="1543" sz="2700" spc="-322">
                <a:latin typeface="Arial"/>
                <a:cs typeface="Arial"/>
              </a:rPr>
              <a:t>د</a:t>
            </a:r>
            <a:r>
              <a:rPr dirty="0" sz="1800" spc="-215">
                <a:latin typeface="Arial"/>
                <a:cs typeface="Arial"/>
              </a:rPr>
              <a:t>َ </a:t>
            </a:r>
            <a:r>
              <a:rPr dirty="0" baseline="1543" sz="2700" spc="-592">
                <a:latin typeface="Arial"/>
                <a:cs typeface="Arial"/>
              </a:rPr>
              <a:t>ج</a:t>
            </a:r>
            <a:r>
              <a:rPr dirty="0" baseline="-1543" sz="2700" spc="-592">
                <a:latin typeface="Arial"/>
                <a:cs typeface="Arial"/>
              </a:rPr>
              <a:t>َ       </a:t>
            </a:r>
            <a:r>
              <a:rPr dirty="0" baseline="1543" sz="2700" spc="-315">
                <a:latin typeface="Arial"/>
                <a:cs typeface="Arial"/>
              </a:rPr>
              <a:t>و</a:t>
            </a:r>
            <a:r>
              <a:rPr dirty="0" baseline="-1543" sz="2700" spc="-315">
                <a:latin typeface="Arial"/>
                <a:cs typeface="Arial"/>
              </a:rPr>
              <a:t>َ   </a:t>
            </a:r>
            <a:r>
              <a:rPr dirty="0" baseline="1543" sz="2700" spc="-509">
                <a:latin typeface="Arial"/>
                <a:cs typeface="Arial"/>
              </a:rPr>
              <a:t>ن</a:t>
            </a:r>
            <a:r>
              <a:rPr dirty="0" baseline="-1543" sz="2700" spc="-509">
                <a:latin typeface="Arial"/>
                <a:cs typeface="Arial"/>
              </a:rPr>
              <a:t>َ    </a:t>
            </a:r>
            <a:r>
              <a:rPr dirty="0" baseline="1543" sz="2700">
                <a:latin typeface="Arial"/>
                <a:cs typeface="Arial"/>
              </a:rPr>
              <a:t>ٌ</a:t>
            </a:r>
            <a:r>
              <a:rPr dirty="0" baseline="-1543" sz="2700">
                <a:latin typeface="Arial"/>
                <a:cs typeface="Arial"/>
              </a:rPr>
              <a:t>َ </a:t>
            </a:r>
            <a:r>
              <a:rPr dirty="0" baseline="1543" sz="2700" spc="-284">
                <a:latin typeface="Arial"/>
                <a:cs typeface="Arial"/>
              </a:rPr>
              <a:t>د</a:t>
            </a:r>
            <a:r>
              <a:rPr dirty="0" baseline="4629" sz="2700" spc="-284">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172">
                <a:latin typeface="Arial"/>
                <a:cs typeface="Arial"/>
              </a:rPr>
              <a:t>ءام</a:t>
            </a:r>
            <a:r>
              <a:rPr dirty="0" baseline="-1543" sz="2700" spc="-172">
                <a:latin typeface="Arial"/>
                <a:cs typeface="Arial"/>
              </a:rPr>
              <a:t>َ   </a:t>
            </a:r>
            <a:r>
              <a:rPr dirty="0" baseline="1543" sz="2700" spc="-322">
                <a:latin typeface="Arial"/>
                <a:cs typeface="Arial"/>
              </a:rPr>
              <a:t>د</a:t>
            </a:r>
            <a:r>
              <a:rPr dirty="0" sz="1800" spc="-215">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179">
                <a:latin typeface="Arial"/>
                <a:cs typeface="Arial"/>
              </a:rPr>
              <a:t>ام</a:t>
            </a:r>
            <a:r>
              <a:rPr dirty="0" sz="1800" spc="-120">
                <a:latin typeface="Arial"/>
                <a:cs typeface="Arial"/>
              </a:rPr>
              <a:t>َّ </a:t>
            </a:r>
            <a:r>
              <a:rPr dirty="0" sz="1800" spc="35">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615">
                <a:latin typeface="Arial"/>
                <a:cs typeface="Arial"/>
              </a:rPr>
              <a:t>و</a:t>
            </a:r>
            <a:endParaRPr baseline="1543" sz="2700">
              <a:latin typeface="Arial"/>
              <a:cs typeface="Arial"/>
            </a:endParaRPr>
          </a:p>
          <a:p>
            <a:pPr algn="r" marR="179705">
              <a:lnSpc>
                <a:spcPts val="2145"/>
              </a:lnSpc>
            </a:pPr>
            <a:r>
              <a:rPr dirty="0" baseline="3086" sz="2700" spc="-525">
                <a:latin typeface="Arial"/>
                <a:cs typeface="Arial"/>
              </a:rPr>
              <a:t>ر</a:t>
            </a:r>
            <a:r>
              <a:rPr dirty="0" baseline="4629" sz="2700" spc="-525">
                <a:latin typeface="Arial"/>
                <a:cs typeface="Arial"/>
              </a:rPr>
              <a:t>ٌ     </a:t>
            </a:r>
            <a:r>
              <a:rPr dirty="0" baseline="3086" sz="2700" spc="-637">
                <a:latin typeface="Arial"/>
                <a:cs typeface="Arial"/>
              </a:rPr>
              <a:t>ٌب</a:t>
            </a:r>
            <a:r>
              <a:rPr dirty="0" baseline="-10802" sz="2700" spc="-637">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675">
                <a:latin typeface="Arial"/>
                <a:cs typeface="Arial"/>
              </a:rPr>
              <a:t>خ</a:t>
            </a:r>
            <a:r>
              <a:rPr dirty="0" baseline="12345" sz="2700" spc="-675">
                <a:latin typeface="Arial"/>
                <a:cs typeface="Arial"/>
              </a:rPr>
              <a:t>ٌ                </a:t>
            </a:r>
            <a:r>
              <a:rPr dirty="0" baseline="3086" sz="2700">
                <a:latin typeface="Arial"/>
                <a:cs typeface="Arial"/>
              </a:rPr>
              <a:t>ٌْ </a:t>
            </a:r>
            <a:r>
              <a:rPr dirty="0" baseline="3086" sz="2700" spc="-1042">
                <a:latin typeface="Arial"/>
                <a:cs typeface="Arial"/>
              </a:rPr>
              <a:t>ش</a:t>
            </a:r>
            <a:r>
              <a:rPr dirty="0" baseline="7716" sz="2700" spc="-1042">
                <a:latin typeface="Arial"/>
                <a:cs typeface="Arial"/>
              </a:rPr>
              <a:t>َ</a:t>
            </a:r>
            <a:r>
              <a:rPr dirty="0" baseline="7716" sz="2700" spc="1282">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622">
                <a:latin typeface="Arial"/>
                <a:cs typeface="Arial"/>
              </a:rPr>
              <a:t>وبُ    </a:t>
            </a:r>
            <a:r>
              <a:rPr dirty="0" baseline="16975" sz="2700" spc="-157">
                <a:latin typeface="Arial"/>
                <a:cs typeface="Arial"/>
              </a:rPr>
              <a:t>َ</a:t>
            </a:r>
            <a:r>
              <a:rPr dirty="0" baseline="3086" sz="2700" spc="-157">
                <a:latin typeface="Arial"/>
                <a:cs typeface="Arial"/>
              </a:rPr>
              <a:t>أو</a:t>
            </a:r>
            <a:r>
              <a:rPr dirty="0" sz="1800" spc="-105">
                <a:latin typeface="Arial"/>
                <a:cs typeface="Arial"/>
              </a:rPr>
              <a:t>َ  </a:t>
            </a:r>
            <a:r>
              <a:rPr dirty="0" baseline="3086" sz="2700" spc="-292">
                <a:latin typeface="Arial"/>
                <a:cs typeface="Arial"/>
              </a:rPr>
              <a:t>ءاع</a:t>
            </a:r>
            <a:r>
              <a:rPr dirty="0" sz="1800" spc="-195">
                <a:latin typeface="Arial"/>
                <a:cs typeface="Arial"/>
              </a:rPr>
              <a:t>َ   </a:t>
            </a:r>
            <a:r>
              <a:rPr dirty="0" baseline="3086" sz="2700" spc="-345">
                <a:latin typeface="Arial"/>
                <a:cs typeface="Arial"/>
              </a:rPr>
              <a:t>رِّ   </a:t>
            </a:r>
            <a:r>
              <a:rPr dirty="0" baseline="3086" sz="2700" spc="-412">
                <a:latin typeface="Arial"/>
                <a:cs typeface="Arial"/>
              </a:rPr>
              <a:t>لا  </a:t>
            </a:r>
            <a:r>
              <a:rPr dirty="0" baseline="3086" sz="2700" spc="-494">
                <a:latin typeface="Arial"/>
                <a:cs typeface="Arial"/>
              </a:rPr>
              <a:t>ر</a:t>
            </a:r>
            <a:r>
              <a:rPr dirty="0" sz="1800" spc="-330">
                <a:latin typeface="Arial"/>
                <a:cs typeface="Arial"/>
              </a:rPr>
              <a:t>َ    </a:t>
            </a:r>
            <a:r>
              <a:rPr dirty="0" baseline="3086" sz="2700" spc="-352">
                <a:latin typeface="Arial"/>
                <a:cs typeface="Arial"/>
              </a:rPr>
              <a:t>د</a:t>
            </a:r>
            <a:r>
              <a:rPr dirty="0" baseline="1543" sz="2700" spc="-352">
                <a:latin typeface="Arial"/>
                <a:cs typeface="Arial"/>
              </a:rPr>
              <a:t>ِ  </a:t>
            </a:r>
            <a:r>
              <a:rPr dirty="0" baseline="3086" sz="2700" spc="-1320">
                <a:latin typeface="Arial"/>
                <a:cs typeface="Arial"/>
              </a:rPr>
              <a:t>صْ</a:t>
            </a:r>
            <a:r>
              <a:rPr dirty="0" baseline="3086" sz="2700" spc="1200">
                <a:latin typeface="Arial"/>
                <a:cs typeface="Arial"/>
              </a:rPr>
              <a:t> </a:t>
            </a:r>
            <a:r>
              <a:rPr dirty="0" baseline="3086" sz="2700">
                <a:latin typeface="Arial"/>
                <a:cs typeface="Arial"/>
              </a:rPr>
              <a:t>ٌُ  </a:t>
            </a:r>
            <a:r>
              <a:rPr dirty="0" baseline="3086" sz="2700" spc="-494">
                <a:latin typeface="Arial"/>
                <a:cs typeface="Arial"/>
              </a:rPr>
              <a:t>ىت</a:t>
            </a:r>
            <a:r>
              <a:rPr dirty="0" baseline="10802" sz="2700" spc="-494">
                <a:latin typeface="Arial"/>
                <a:cs typeface="Arial"/>
              </a:rPr>
              <a:t>َّ  </a:t>
            </a:r>
            <a:r>
              <a:rPr dirty="0" baseline="3086" sz="2700" spc="-592">
                <a:latin typeface="Arial"/>
                <a:cs typeface="Arial"/>
              </a:rPr>
              <a:t>ح</a:t>
            </a:r>
            <a:r>
              <a:rPr dirty="0" sz="1800" spc="-395">
                <a:latin typeface="Arial"/>
                <a:cs typeface="Arial"/>
              </a:rPr>
              <a:t>َ            </a:t>
            </a:r>
            <a:r>
              <a:rPr dirty="0" baseline="3086" sz="2700" spc="-525">
                <a:latin typeface="Arial"/>
                <a:cs typeface="Arial"/>
              </a:rPr>
              <a:t>ًق</a:t>
            </a:r>
            <a:r>
              <a:rPr dirty="0" baseline="1543" sz="2700" spc="-525">
                <a:latin typeface="Arial"/>
                <a:cs typeface="Arial"/>
              </a:rPr>
              <a:t>ِ   </a:t>
            </a:r>
            <a:r>
              <a:rPr dirty="0" baseline="3086" sz="2700" spc="-944">
                <a:latin typeface="Arial"/>
                <a:cs typeface="Arial"/>
              </a:rPr>
              <a:t>سْ</a:t>
            </a:r>
            <a:r>
              <a:rPr dirty="0" baseline="3086" sz="2700" spc="352">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502">
                <a:latin typeface="Arial"/>
                <a:cs typeface="Arial"/>
              </a:rPr>
              <a:t>لا</a:t>
            </a:r>
            <a:r>
              <a:rPr dirty="0" baseline="10802" sz="2700" spc="-502">
                <a:latin typeface="Arial"/>
                <a:cs typeface="Arial"/>
              </a:rPr>
              <a:t>َ      </a:t>
            </a:r>
            <a:r>
              <a:rPr dirty="0" baseline="3086" sz="2700" spc="-585">
                <a:latin typeface="Arial"/>
                <a:cs typeface="Arial"/>
              </a:rPr>
              <a:t>ات</a:t>
            </a:r>
            <a:r>
              <a:rPr dirty="0" baseline="7716" sz="2700" spc="-585">
                <a:latin typeface="Arial"/>
                <a:cs typeface="Arial"/>
              </a:rPr>
              <a:t>َ   </a:t>
            </a:r>
            <a:r>
              <a:rPr dirty="0" baseline="10802" sz="2700" spc="-457">
                <a:latin typeface="Arial"/>
                <a:cs typeface="Arial"/>
              </a:rPr>
              <a:t>َ</a:t>
            </a:r>
            <a:r>
              <a:rPr dirty="0" baseline="3086" sz="2700" spc="-457">
                <a:latin typeface="Arial"/>
                <a:cs typeface="Arial"/>
              </a:rPr>
              <a:t>لاق</a:t>
            </a:r>
            <a:r>
              <a:rPr dirty="0" baseline="7716" sz="2700" spc="-457">
                <a:latin typeface="Arial"/>
                <a:cs typeface="Arial"/>
              </a:rPr>
              <a:t>َ     </a:t>
            </a:r>
            <a:r>
              <a:rPr dirty="0" baseline="3086" sz="2700" spc="-225">
                <a:latin typeface="Arial"/>
                <a:cs typeface="Arial"/>
              </a:rPr>
              <a:t>ام</a:t>
            </a:r>
            <a:r>
              <a:rPr dirty="0" sz="1800" spc="-150">
                <a:latin typeface="Arial"/>
                <a:cs typeface="Arial"/>
              </a:rPr>
              <a:t>َ  </a:t>
            </a:r>
            <a:r>
              <a:rPr dirty="0" baseline="3086" sz="2700" spc="-757">
                <a:latin typeface="Arial"/>
                <a:cs typeface="Arial"/>
              </a:rPr>
              <a:t>ك</a:t>
            </a:r>
            <a:r>
              <a:rPr dirty="0" baseline="10802" sz="2700" spc="-757">
                <a:latin typeface="Arial"/>
                <a:cs typeface="Arial"/>
              </a:rPr>
              <a:t>ُ</a:t>
            </a:r>
            <a:r>
              <a:rPr dirty="0" baseline="10802" sz="2700" spc="179">
                <a:latin typeface="Arial"/>
                <a:cs typeface="Arial"/>
              </a:rPr>
              <a:t> </a:t>
            </a:r>
            <a:r>
              <a:rPr dirty="0" baseline="3086" sz="2700" spc="-930">
                <a:latin typeface="Arial"/>
                <a:cs typeface="Arial"/>
              </a:rPr>
              <a:t>بُ</a:t>
            </a:r>
            <a:r>
              <a:rPr dirty="0" baseline="3086" sz="2700" spc="-150">
                <a:latin typeface="Arial"/>
                <a:cs typeface="Arial"/>
              </a:rPr>
              <a:t> </a:t>
            </a:r>
            <a:r>
              <a:rPr dirty="0" baseline="3086" sz="2700" spc="-615">
                <a:latin typeface="Arial"/>
                <a:cs typeface="Arial"/>
              </a:rPr>
              <a:t>ط</a:t>
            </a:r>
            <a:r>
              <a:rPr dirty="0" baseline="16975" sz="2700" spc="-615">
                <a:latin typeface="Arial"/>
                <a:cs typeface="Arial"/>
              </a:rPr>
              <a:t>ْ         </a:t>
            </a:r>
            <a:r>
              <a:rPr dirty="0" baseline="3086" sz="2700" spc="-592">
                <a:latin typeface="Arial"/>
                <a:cs typeface="Arial"/>
              </a:rPr>
              <a:t>خ</a:t>
            </a:r>
            <a:r>
              <a:rPr dirty="0" baseline="7716" sz="2700" spc="-592">
                <a:latin typeface="Arial"/>
                <a:cs typeface="Arial"/>
              </a:rPr>
              <a:t>َ  </a:t>
            </a:r>
            <a:r>
              <a:rPr dirty="0" baseline="7716" sz="2700" spc="-494">
                <a:latin typeface="Arial"/>
                <a:cs typeface="Arial"/>
              </a:rPr>
              <a:t> </a:t>
            </a:r>
            <a:r>
              <a:rPr dirty="0" baseline="3086" sz="2700" spc="-337">
                <a:latin typeface="Arial"/>
                <a:cs typeface="Arial"/>
              </a:rPr>
              <a:t>ام</a:t>
            </a:r>
            <a:endParaRPr baseline="3086" sz="2700">
              <a:latin typeface="Arial"/>
              <a:cs typeface="Arial"/>
            </a:endParaRPr>
          </a:p>
          <a:p>
            <a:pPr algn="just" marL="101600" marR="107314">
              <a:lnSpc>
                <a:spcPts val="1380"/>
              </a:lnSpc>
              <a:spcBef>
                <a:spcPts val="1330"/>
              </a:spcBef>
              <a:buAutoNum type="arabicPeriod" startAt="23"/>
              <a:tabLst>
                <a:tab pos="387985" algn="l"/>
              </a:tabLst>
            </a:pPr>
            <a:r>
              <a:rPr dirty="0" sz="1200" spc="-5">
                <a:latin typeface="Arial"/>
                <a:cs typeface="Arial"/>
              </a:rPr>
              <a:t>And when </a:t>
            </a:r>
            <a:r>
              <a:rPr dirty="0" sz="1200" spc="-10">
                <a:latin typeface="Arial"/>
                <a:cs typeface="Arial"/>
              </a:rPr>
              <a:t>he </a:t>
            </a:r>
            <a:r>
              <a:rPr dirty="0" sz="1200" spc="-5">
                <a:latin typeface="Arial"/>
                <a:cs typeface="Arial"/>
              </a:rPr>
              <a:t>came unto </a:t>
            </a:r>
            <a:r>
              <a:rPr dirty="0" sz="1200">
                <a:latin typeface="Arial"/>
                <a:cs typeface="Arial"/>
              </a:rPr>
              <a:t>the </a:t>
            </a:r>
            <a:r>
              <a:rPr dirty="0" sz="1200" spc="-5">
                <a:latin typeface="Arial"/>
                <a:cs typeface="Arial"/>
              </a:rPr>
              <a:t>water of Median </a:t>
            </a:r>
            <a:r>
              <a:rPr dirty="0" sz="1200" spc="-10">
                <a:latin typeface="Arial"/>
                <a:cs typeface="Arial"/>
              </a:rPr>
              <a:t>he </a:t>
            </a:r>
            <a:r>
              <a:rPr dirty="0" sz="1200" spc="-5">
                <a:latin typeface="Arial"/>
                <a:cs typeface="Arial"/>
              </a:rPr>
              <a:t>found there a whole tribe of men,  watering. And he found apart from them </a:t>
            </a:r>
            <a:r>
              <a:rPr dirty="0" sz="1200" spc="-10">
                <a:latin typeface="Arial"/>
                <a:cs typeface="Arial"/>
              </a:rPr>
              <a:t>two </a:t>
            </a:r>
            <a:r>
              <a:rPr dirty="0" sz="1200" spc="-5">
                <a:latin typeface="Arial"/>
                <a:cs typeface="Arial"/>
              </a:rPr>
              <a:t>women keeping, back </a:t>
            </a:r>
            <a:r>
              <a:rPr dirty="0" sz="1200">
                <a:latin typeface="Arial"/>
                <a:cs typeface="Arial"/>
              </a:rPr>
              <a:t>(their flocks). </a:t>
            </a:r>
            <a:r>
              <a:rPr dirty="0" sz="1200" spc="-5">
                <a:latin typeface="Arial"/>
                <a:cs typeface="Arial"/>
              </a:rPr>
              <a:t>He said:  </a:t>
            </a:r>
            <a:r>
              <a:rPr dirty="0" sz="1200">
                <a:latin typeface="Arial"/>
                <a:cs typeface="Arial"/>
              </a:rPr>
              <a:t>What </a:t>
            </a:r>
            <a:r>
              <a:rPr dirty="0" sz="1200" spc="-5">
                <a:latin typeface="Arial"/>
                <a:cs typeface="Arial"/>
              </a:rPr>
              <a:t>ails you? The </a:t>
            </a:r>
            <a:r>
              <a:rPr dirty="0" sz="1200" spc="-10">
                <a:latin typeface="Arial"/>
                <a:cs typeface="Arial"/>
              </a:rPr>
              <a:t>two </a:t>
            </a:r>
            <a:r>
              <a:rPr dirty="0" sz="1200" spc="-5">
                <a:latin typeface="Arial"/>
                <a:cs typeface="Arial"/>
              </a:rPr>
              <a:t>said: </a:t>
            </a:r>
            <a:r>
              <a:rPr dirty="0" sz="1200" spc="20">
                <a:latin typeface="Arial"/>
                <a:cs typeface="Arial"/>
              </a:rPr>
              <a:t>We </a:t>
            </a:r>
            <a:r>
              <a:rPr dirty="0" sz="1200" spc="-5">
                <a:latin typeface="Arial"/>
                <a:cs typeface="Arial"/>
              </a:rPr>
              <a:t>cannot </a:t>
            </a:r>
            <a:r>
              <a:rPr dirty="0" sz="1200" spc="-10">
                <a:latin typeface="Arial"/>
                <a:cs typeface="Arial"/>
              </a:rPr>
              <a:t>give </a:t>
            </a:r>
            <a:r>
              <a:rPr dirty="0" sz="1200" spc="-5">
                <a:latin typeface="Arial"/>
                <a:cs typeface="Arial"/>
              </a:rPr>
              <a:t>(our </a:t>
            </a:r>
            <a:r>
              <a:rPr dirty="0" sz="1200">
                <a:latin typeface="Arial"/>
                <a:cs typeface="Arial"/>
              </a:rPr>
              <a:t>flocks) </a:t>
            </a:r>
            <a:r>
              <a:rPr dirty="0" sz="1200" spc="-5">
                <a:latin typeface="Arial"/>
                <a:cs typeface="Arial"/>
              </a:rPr>
              <a:t>to drink till </a:t>
            </a:r>
            <a:r>
              <a:rPr dirty="0" sz="1200">
                <a:latin typeface="Arial"/>
                <a:cs typeface="Arial"/>
              </a:rPr>
              <a:t>the </a:t>
            </a:r>
            <a:r>
              <a:rPr dirty="0" sz="1200" spc="-5">
                <a:latin typeface="Arial"/>
                <a:cs typeface="Arial"/>
              </a:rPr>
              <a:t>shepherds </a:t>
            </a:r>
            <a:r>
              <a:rPr dirty="0" sz="1200" spc="-10">
                <a:latin typeface="Arial"/>
                <a:cs typeface="Arial"/>
              </a:rPr>
              <a:t>return  </a:t>
            </a:r>
            <a:r>
              <a:rPr dirty="0" sz="1200" spc="-5">
                <a:latin typeface="Arial"/>
                <a:cs typeface="Arial"/>
              </a:rPr>
              <a:t>from the water; and our </a:t>
            </a:r>
            <a:r>
              <a:rPr dirty="0" sz="1200">
                <a:latin typeface="Arial"/>
                <a:cs typeface="Arial"/>
              </a:rPr>
              <a:t>father </a:t>
            </a:r>
            <a:r>
              <a:rPr dirty="0" sz="1200" spc="-5">
                <a:latin typeface="Arial"/>
                <a:cs typeface="Arial"/>
              </a:rPr>
              <a:t>is a very </a:t>
            </a:r>
            <a:r>
              <a:rPr dirty="0" sz="1200">
                <a:latin typeface="Arial"/>
                <a:cs typeface="Arial"/>
              </a:rPr>
              <a:t>old</a:t>
            </a:r>
            <a:r>
              <a:rPr dirty="0" sz="1200" spc="-15">
                <a:latin typeface="Arial"/>
                <a:cs typeface="Arial"/>
              </a:rPr>
              <a:t> </a:t>
            </a:r>
            <a:r>
              <a:rPr dirty="0" sz="1200" spc="-5">
                <a:latin typeface="Arial"/>
                <a:cs typeface="Arial"/>
              </a:rPr>
              <a:t>man.</a:t>
            </a:r>
            <a:endParaRPr sz="1200">
              <a:latin typeface="Arial"/>
              <a:cs typeface="Arial"/>
            </a:endParaRPr>
          </a:p>
          <a:p>
            <a:pPr>
              <a:lnSpc>
                <a:spcPct val="100000"/>
              </a:lnSpc>
              <a:spcBef>
                <a:spcPts val="20"/>
              </a:spcBef>
              <a:buFont typeface="Arial"/>
              <a:buAutoNum type="arabicPeriod" startAt="23"/>
            </a:pPr>
            <a:endParaRPr sz="1100">
              <a:latin typeface="Arial"/>
              <a:cs typeface="Arial"/>
            </a:endParaRPr>
          </a:p>
          <a:p>
            <a:pPr algn="r" marR="161925">
              <a:lnSpc>
                <a:spcPct val="100000"/>
              </a:lnSpc>
            </a:pPr>
            <a:r>
              <a:rPr dirty="0" baseline="1543" sz="2700" spc="-525">
                <a:latin typeface="Arial"/>
                <a:cs typeface="Arial"/>
              </a:rPr>
              <a:t>ر</a:t>
            </a:r>
            <a:r>
              <a:rPr dirty="0" baseline="3086" sz="2700" spc="-525">
                <a:latin typeface="Arial"/>
                <a:cs typeface="Arial"/>
              </a:rPr>
              <a:t>ٌ </a:t>
            </a:r>
            <a:r>
              <a:rPr dirty="0" baseline="1543" sz="2700" spc="-525">
                <a:latin typeface="Arial"/>
                <a:cs typeface="Arial"/>
              </a:rPr>
              <a:t>ٌق</a:t>
            </a:r>
            <a:r>
              <a:rPr dirty="0" sz="1800" spc="-350">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652">
                <a:latin typeface="Arial"/>
                <a:cs typeface="Arial"/>
              </a:rPr>
              <a:t> </a:t>
            </a:r>
            <a:r>
              <a:rPr dirty="0" baseline="1543" sz="2700" spc="-465">
                <a:latin typeface="Arial"/>
                <a:cs typeface="Arial"/>
              </a:rPr>
              <a:t>ر</a:t>
            </a:r>
            <a:r>
              <a:rPr dirty="0" baseline="-12345" sz="2700" spc="-465">
                <a:latin typeface="Arial"/>
                <a:cs typeface="Arial"/>
              </a:rPr>
              <a:t>ٍ  </a:t>
            </a:r>
            <a:r>
              <a:rPr dirty="0" baseline="1543" sz="2700">
                <a:latin typeface="Arial"/>
                <a:cs typeface="Arial"/>
              </a:rPr>
              <a:t>ٌْ </a:t>
            </a:r>
            <a:r>
              <a:rPr dirty="0" baseline="1543" sz="2700" spc="-592">
                <a:latin typeface="Arial"/>
                <a:cs typeface="Arial"/>
              </a:rPr>
              <a:t>خ</a:t>
            </a:r>
            <a:r>
              <a:rPr dirty="0" baseline="6172" sz="2700" spc="-592">
                <a:latin typeface="Arial"/>
                <a:cs typeface="Arial"/>
              </a:rPr>
              <a:t>َ </a:t>
            </a:r>
            <a:r>
              <a:rPr dirty="0" baseline="1543" sz="2700" spc="-465">
                <a:latin typeface="Arial"/>
                <a:cs typeface="Arial"/>
              </a:rPr>
              <a:t>نْ  </a:t>
            </a:r>
            <a:r>
              <a:rPr dirty="0" baseline="1543" sz="2700" spc="-352">
                <a:latin typeface="Arial"/>
                <a:cs typeface="Arial"/>
              </a:rPr>
              <a:t>م</a:t>
            </a:r>
            <a:r>
              <a:rPr dirty="0" sz="1800" spc="-235">
                <a:latin typeface="Arial"/>
                <a:cs typeface="Arial"/>
              </a:rPr>
              <a:t>ِ </a:t>
            </a:r>
            <a:r>
              <a:rPr dirty="0" baseline="1543" sz="2700">
                <a:latin typeface="Arial"/>
                <a:cs typeface="Arial"/>
              </a:rPr>
              <a:t>ً</a:t>
            </a:r>
            <a:r>
              <a:rPr dirty="0" sz="1800">
                <a:latin typeface="Arial"/>
                <a:cs typeface="Arial"/>
              </a:rPr>
              <a:t>َّ </a:t>
            </a:r>
            <a:r>
              <a:rPr dirty="0" baseline="9259" sz="2700" spc="-217">
                <a:latin typeface="Arial"/>
                <a:cs typeface="Arial"/>
              </a:rPr>
              <a:t>َ</a:t>
            </a:r>
            <a:r>
              <a:rPr dirty="0" baseline="1543" sz="2700" spc="-217">
                <a:latin typeface="Arial"/>
                <a:cs typeface="Arial"/>
              </a:rPr>
              <a:t>ل</a:t>
            </a:r>
            <a:r>
              <a:rPr dirty="0" baseline="-12345" sz="2700" spc="-217">
                <a:latin typeface="Arial"/>
                <a:cs typeface="Arial"/>
              </a:rPr>
              <a:t>ِ</a:t>
            </a:r>
            <a:r>
              <a:rPr dirty="0" baseline="1543" sz="2700" spc="-217">
                <a:latin typeface="Arial"/>
                <a:cs typeface="Arial"/>
              </a:rPr>
              <a:t>إ </a:t>
            </a:r>
            <a:r>
              <a:rPr dirty="0" baseline="1543" sz="2700" spc="-772">
                <a:latin typeface="Arial"/>
                <a:cs typeface="Arial"/>
              </a:rPr>
              <a:t>ت</a:t>
            </a:r>
            <a:r>
              <a:rPr dirty="0" baseline="3086" sz="2700" spc="-772">
                <a:latin typeface="Arial"/>
                <a:cs typeface="Arial"/>
              </a:rPr>
              <a:t>َ</a:t>
            </a:r>
            <a:r>
              <a:rPr dirty="0" baseline="3086" sz="2700" spc="780">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spc="-494">
                <a:latin typeface="Arial"/>
                <a:cs typeface="Arial"/>
              </a:rPr>
              <a:t>ز</a:t>
            </a:r>
            <a:r>
              <a:rPr dirty="0" baseline="6172" sz="2700" spc="-494">
                <a:latin typeface="Arial"/>
                <a:cs typeface="Arial"/>
              </a:rPr>
              <a:t>َ </a:t>
            </a:r>
            <a:r>
              <a:rPr dirty="0" baseline="1543" sz="2700" spc="-270">
                <a:latin typeface="Arial"/>
                <a:cs typeface="Arial"/>
              </a:rPr>
              <a:t>ن</a:t>
            </a:r>
            <a:r>
              <a:rPr dirty="0" baseline="15432" sz="2700" spc="-270">
                <a:latin typeface="Arial"/>
                <a:cs typeface="Arial"/>
              </a:rPr>
              <a:t>َ</a:t>
            </a:r>
            <a:r>
              <a:rPr dirty="0" baseline="1543" sz="2700" spc="-270">
                <a:latin typeface="Arial"/>
                <a:cs typeface="Arial"/>
              </a:rPr>
              <a:t>أ </a:t>
            </a:r>
            <a:r>
              <a:rPr dirty="0" baseline="1543" sz="2700" spc="-225">
                <a:latin typeface="Arial"/>
                <a:cs typeface="Arial"/>
              </a:rPr>
              <a:t>ام</a:t>
            </a:r>
            <a:r>
              <a:rPr dirty="0" baseline="-1543" sz="2700" spc="-225">
                <a:latin typeface="Arial"/>
                <a:cs typeface="Arial"/>
              </a:rPr>
              <a:t>َ </a:t>
            </a:r>
            <a:r>
              <a:rPr dirty="0" sz="1800" spc="-270">
                <a:latin typeface="Arial"/>
                <a:cs typeface="Arial"/>
              </a:rPr>
              <a:t>ِ</a:t>
            </a:r>
            <a:r>
              <a:rPr dirty="0" baseline="1543" sz="2700" spc="-405">
                <a:latin typeface="Arial"/>
                <a:cs typeface="Arial"/>
              </a:rPr>
              <a:t>ل </a:t>
            </a:r>
            <a:r>
              <a:rPr dirty="0" baseline="1543" sz="2700" spc="-330">
                <a:latin typeface="Arial"/>
                <a:cs typeface="Arial"/>
              </a:rPr>
              <a:t>ًن</a:t>
            </a:r>
            <a:r>
              <a:rPr dirty="0" baseline="9259" sz="2700" spc="-330">
                <a:latin typeface="Arial"/>
                <a:cs typeface="Arial"/>
              </a:rPr>
              <a:t>ِّ </a:t>
            </a:r>
            <a:r>
              <a:rPr dirty="0" baseline="-12345" sz="2700">
                <a:latin typeface="Arial"/>
                <a:cs typeface="Arial"/>
              </a:rPr>
              <a:t>ِ</a:t>
            </a:r>
            <a:r>
              <a:rPr dirty="0" baseline="1543" sz="2700">
                <a:latin typeface="Arial"/>
                <a:cs typeface="Arial"/>
              </a:rPr>
              <a:t>إ </a:t>
            </a:r>
            <a:r>
              <a:rPr dirty="0" baseline="1543" sz="2700" spc="-525">
                <a:latin typeface="Arial"/>
                <a:cs typeface="Arial"/>
              </a:rPr>
              <a:t>بِّ </a:t>
            </a:r>
            <a:r>
              <a:rPr dirty="0" baseline="1543" sz="2700" spc="-494">
                <a:latin typeface="Arial"/>
                <a:cs typeface="Arial"/>
              </a:rPr>
              <a:t>ر</a:t>
            </a:r>
            <a:r>
              <a:rPr dirty="0" baseline="-1543" sz="2700" spc="-494">
                <a:latin typeface="Arial"/>
                <a:cs typeface="Arial"/>
              </a:rPr>
              <a:t>َ </a:t>
            </a:r>
            <a:r>
              <a:rPr dirty="0" baseline="1543" sz="2700" spc="-615">
                <a:latin typeface="Arial"/>
                <a:cs typeface="Arial"/>
              </a:rPr>
              <a:t>ل</a:t>
            </a:r>
            <a:r>
              <a:rPr dirty="0" baseline="-1543" sz="2700" spc="-615">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660">
                <a:latin typeface="Arial"/>
                <a:cs typeface="Arial"/>
              </a:rPr>
              <a:t> </a:t>
            </a:r>
            <a:r>
              <a:rPr dirty="0" baseline="1543" sz="2700" spc="-419">
                <a:latin typeface="Arial"/>
                <a:cs typeface="Arial"/>
              </a:rPr>
              <a:t>لِّ </a:t>
            </a:r>
            <a:r>
              <a:rPr dirty="0" baseline="1543" sz="2700" spc="-450">
                <a:latin typeface="Arial"/>
                <a:cs typeface="Arial"/>
              </a:rPr>
              <a:t>ظ</a:t>
            </a:r>
            <a:r>
              <a:rPr dirty="0" baseline="15432" sz="2700" spc="-450">
                <a:latin typeface="Arial"/>
                <a:cs typeface="Arial"/>
              </a:rPr>
              <a:t>ِّ </a:t>
            </a:r>
            <a:r>
              <a:rPr dirty="0" baseline="1543" sz="2700" spc="-412">
                <a:latin typeface="Arial"/>
                <a:cs typeface="Arial"/>
              </a:rPr>
              <a:t>لا </a:t>
            </a:r>
            <a:r>
              <a:rPr dirty="0" baseline="1543" sz="2700" spc="-307">
                <a:latin typeface="Arial"/>
                <a:cs typeface="Arial"/>
              </a:rPr>
              <a:t>ىلإ</a:t>
            </a:r>
            <a:r>
              <a:rPr dirty="0" baseline="-12345" sz="2700" spc="-307">
                <a:latin typeface="Arial"/>
                <a:cs typeface="Arial"/>
              </a:rPr>
              <a:t>ِ</a:t>
            </a:r>
            <a:r>
              <a:rPr dirty="0" baseline="9259" sz="2700" spc="-307">
                <a:latin typeface="Arial"/>
                <a:cs typeface="Arial"/>
              </a:rPr>
              <a:t>َ </a:t>
            </a:r>
            <a:r>
              <a:rPr dirty="0" baseline="1543" sz="2700" spc="-382">
                <a:latin typeface="Arial"/>
                <a:cs typeface="Arial"/>
              </a:rPr>
              <a:t>ىل</a:t>
            </a:r>
            <a:r>
              <a:rPr dirty="0" baseline="10802" sz="2700" spc="-382">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532">
                <a:latin typeface="Arial"/>
                <a:cs typeface="Arial"/>
              </a:rPr>
              <a:t> </a:t>
            </a:r>
            <a:r>
              <a:rPr dirty="0" baseline="1543" sz="2700" spc="-270">
                <a:latin typeface="Arial"/>
                <a:cs typeface="Arial"/>
              </a:rPr>
              <a:t>م</a:t>
            </a:r>
            <a:r>
              <a:rPr dirty="0" baseline="-4629" sz="2700" spc="-270">
                <a:latin typeface="Arial"/>
                <a:cs typeface="Arial"/>
              </a:rPr>
              <a:t>َّ </a:t>
            </a:r>
            <a:r>
              <a:rPr dirty="0" baseline="1543" sz="2700" spc="-930">
                <a:latin typeface="Arial"/>
                <a:cs typeface="Arial"/>
              </a:rPr>
              <a:t>ث</a:t>
            </a:r>
            <a:r>
              <a:rPr dirty="0" baseline="13888" sz="2700" spc="-930">
                <a:latin typeface="Arial"/>
                <a:cs typeface="Arial"/>
              </a:rPr>
              <a:t>ُ</a:t>
            </a:r>
            <a:r>
              <a:rPr dirty="0" baseline="13888" sz="2700" spc="600">
                <a:latin typeface="Arial"/>
                <a:cs typeface="Arial"/>
              </a:rPr>
              <a:t> </a:t>
            </a:r>
            <a:r>
              <a:rPr dirty="0" baseline="1543" sz="2700" spc="-225">
                <a:latin typeface="Arial"/>
                <a:cs typeface="Arial"/>
              </a:rPr>
              <a:t>ام</a:t>
            </a:r>
            <a:r>
              <a:rPr dirty="0" baseline="-1543" sz="2700" spc="-225">
                <a:latin typeface="Arial"/>
                <a:cs typeface="Arial"/>
              </a:rPr>
              <a:t>َ </a:t>
            </a:r>
            <a:r>
              <a:rPr dirty="0" baseline="1543" sz="2700" spc="-359">
                <a:latin typeface="Arial"/>
                <a:cs typeface="Arial"/>
              </a:rPr>
              <a:t>هُ </a:t>
            </a:r>
            <a:r>
              <a:rPr dirty="0" baseline="1543" sz="2700" spc="-690">
                <a:latin typeface="Arial"/>
                <a:cs typeface="Arial"/>
              </a:rPr>
              <a:t>ل</a:t>
            </a:r>
            <a:r>
              <a:rPr dirty="0" baseline="9259" sz="2700" spc="-690">
                <a:latin typeface="Arial"/>
                <a:cs typeface="Arial"/>
              </a:rPr>
              <a:t>َ  </a:t>
            </a:r>
            <a:r>
              <a:rPr dirty="0" baseline="1543" sz="2700" spc="-547">
                <a:latin typeface="Arial"/>
                <a:cs typeface="Arial"/>
              </a:rPr>
              <a:t>ىق</a:t>
            </a:r>
            <a:r>
              <a:rPr dirty="0" baseline="6172" sz="2700" spc="-547">
                <a:latin typeface="Arial"/>
                <a:cs typeface="Arial"/>
              </a:rPr>
              <a:t>َ </a:t>
            </a:r>
            <a:r>
              <a:rPr dirty="0" baseline="1543" sz="2700" spc="-982">
                <a:latin typeface="Arial"/>
                <a:cs typeface="Arial"/>
              </a:rPr>
              <a:t>س</a:t>
            </a:r>
            <a:r>
              <a:rPr dirty="0" baseline="-1543" sz="2700" spc="-982">
                <a:latin typeface="Arial"/>
                <a:cs typeface="Arial"/>
              </a:rPr>
              <a:t>َ</a:t>
            </a:r>
            <a:r>
              <a:rPr dirty="0" baseline="-1543" sz="2700" spc="412">
                <a:latin typeface="Arial"/>
                <a:cs typeface="Arial"/>
              </a:rPr>
              <a:t> </a:t>
            </a:r>
            <a:r>
              <a:rPr dirty="0" baseline="1543" sz="2700" spc="-2062">
                <a:latin typeface="Arial"/>
                <a:cs typeface="Arial"/>
              </a:rPr>
              <a:t>ف</a:t>
            </a:r>
            <a:endParaRPr baseline="1543" sz="2700">
              <a:latin typeface="Arial"/>
              <a:cs typeface="Arial"/>
            </a:endParaRPr>
          </a:p>
          <a:p>
            <a:pPr algn="just" marL="101600" marR="110489">
              <a:lnSpc>
                <a:spcPts val="1380"/>
              </a:lnSpc>
              <a:spcBef>
                <a:spcPts val="1380"/>
              </a:spcBef>
              <a:buAutoNum type="arabicPeriod" startAt="24"/>
              <a:tabLst>
                <a:tab pos="366395" algn="l"/>
              </a:tabLst>
            </a:pPr>
            <a:r>
              <a:rPr dirty="0" sz="1200" spc="-5">
                <a:latin typeface="Arial"/>
                <a:cs typeface="Arial"/>
              </a:rPr>
              <a:t>So he watered (their flock) </a:t>
            </a:r>
            <a:r>
              <a:rPr dirty="0" sz="1200">
                <a:latin typeface="Arial"/>
                <a:cs typeface="Arial"/>
              </a:rPr>
              <a:t>for them. </a:t>
            </a:r>
            <a:r>
              <a:rPr dirty="0" sz="1200" spc="5">
                <a:latin typeface="Arial"/>
                <a:cs typeface="Arial"/>
              </a:rPr>
              <a:t>Then </a:t>
            </a:r>
            <a:r>
              <a:rPr dirty="0" sz="1200" spc="-5">
                <a:latin typeface="Arial"/>
                <a:cs typeface="Arial"/>
              </a:rPr>
              <a:t>he turned aside into the shade, and said: My  Lord! </a:t>
            </a:r>
            <a:r>
              <a:rPr dirty="0" sz="1200">
                <a:latin typeface="Arial"/>
                <a:cs typeface="Arial"/>
              </a:rPr>
              <a:t>I </a:t>
            </a:r>
            <a:r>
              <a:rPr dirty="0" sz="1200" spc="-5">
                <a:latin typeface="Arial"/>
                <a:cs typeface="Arial"/>
              </a:rPr>
              <a:t>am needy </a:t>
            </a:r>
            <a:r>
              <a:rPr dirty="0" sz="1200">
                <a:latin typeface="Arial"/>
                <a:cs typeface="Arial"/>
              </a:rPr>
              <a:t>of </a:t>
            </a:r>
            <a:r>
              <a:rPr dirty="0" sz="1200" spc="-5">
                <a:latin typeface="Arial"/>
                <a:cs typeface="Arial"/>
              </a:rPr>
              <a:t>whatever good thou sends down </a:t>
            </a:r>
            <a:r>
              <a:rPr dirty="0" sz="1200">
                <a:latin typeface="Arial"/>
                <a:cs typeface="Arial"/>
              </a:rPr>
              <a:t>for</a:t>
            </a:r>
            <a:r>
              <a:rPr dirty="0" sz="1200" spc="20">
                <a:latin typeface="Arial"/>
                <a:cs typeface="Arial"/>
              </a:rPr>
              <a:t> </a:t>
            </a:r>
            <a:r>
              <a:rPr dirty="0" sz="1200">
                <a:latin typeface="Arial"/>
                <a:cs typeface="Arial"/>
              </a:rPr>
              <a:t>me.</a:t>
            </a:r>
            <a:endParaRPr sz="1200">
              <a:latin typeface="Arial"/>
              <a:cs typeface="Arial"/>
            </a:endParaRPr>
          </a:p>
          <a:p>
            <a:pPr>
              <a:lnSpc>
                <a:spcPct val="100000"/>
              </a:lnSpc>
              <a:spcBef>
                <a:spcPts val="45"/>
              </a:spcBef>
              <a:buFont typeface="Arial"/>
              <a:buAutoNum type="arabicPeriod" startAt="24"/>
            </a:pPr>
            <a:endParaRPr sz="1250">
              <a:latin typeface="Arial"/>
              <a:cs typeface="Arial"/>
            </a:endParaRPr>
          </a:p>
          <a:p>
            <a:pPr algn="r" marL="1812925" marR="161925" indent="-1555115">
              <a:lnSpc>
                <a:spcPts val="2080"/>
              </a:lnSpc>
            </a:pPr>
            <a:r>
              <a:rPr dirty="0" baseline="3086" sz="2700" spc="-179">
                <a:latin typeface="Arial"/>
                <a:cs typeface="Arial"/>
              </a:rPr>
              <a:t>امَّ </a:t>
            </a:r>
            <a:r>
              <a:rPr dirty="0" baseline="10802" sz="2700" spc="-719">
                <a:latin typeface="Arial"/>
                <a:cs typeface="Arial"/>
              </a:rPr>
              <a:t>َ</a:t>
            </a:r>
            <a:r>
              <a:rPr dirty="0" baseline="3086" sz="2700" spc="-719">
                <a:latin typeface="Arial"/>
                <a:cs typeface="Arial"/>
              </a:rPr>
              <a:t>لف</a:t>
            </a:r>
            <a:r>
              <a:rPr dirty="0" baseline="7716" sz="2700" spc="-719">
                <a:latin typeface="Arial"/>
                <a:cs typeface="Arial"/>
              </a:rPr>
              <a:t>َ </a:t>
            </a:r>
            <a:r>
              <a:rPr dirty="0" baseline="3086" sz="2700" spc="-412">
                <a:latin typeface="Arial"/>
                <a:cs typeface="Arial"/>
              </a:rPr>
              <a:t>ان</a:t>
            </a:r>
            <a:r>
              <a:rPr dirty="0" baseline="7716" sz="2700" spc="-412">
                <a:latin typeface="Arial"/>
                <a:cs typeface="Arial"/>
              </a:rPr>
              <a:t>َ </a:t>
            </a:r>
            <a:r>
              <a:rPr dirty="0" baseline="10802" sz="2700" spc="-405">
                <a:latin typeface="Arial"/>
                <a:cs typeface="Arial"/>
              </a:rPr>
              <a:t>َ</a:t>
            </a:r>
            <a:r>
              <a:rPr dirty="0" baseline="3086" sz="2700" spc="-405">
                <a:latin typeface="Arial"/>
                <a:cs typeface="Arial"/>
              </a:rPr>
              <a:t>ل </a:t>
            </a:r>
            <a:r>
              <a:rPr dirty="0" baseline="3086" sz="2700" spc="-772">
                <a:latin typeface="Arial"/>
                <a:cs typeface="Arial"/>
              </a:rPr>
              <a:t>ت</a:t>
            </a:r>
            <a:r>
              <a:rPr dirty="0" baseline="4629" sz="2700" spc="-772">
                <a:latin typeface="Arial"/>
                <a:cs typeface="Arial"/>
              </a:rPr>
              <a:t>َ</a:t>
            </a:r>
            <a:r>
              <a:rPr dirty="0" baseline="4629" sz="2700" spc="780">
                <a:latin typeface="Arial"/>
                <a:cs typeface="Arial"/>
              </a:rPr>
              <a:t> </a:t>
            </a:r>
            <a:r>
              <a:rPr dirty="0" baseline="3086" sz="2700">
                <a:latin typeface="Arial"/>
                <a:cs typeface="Arial"/>
              </a:rPr>
              <a:t>ٌْ </a:t>
            </a:r>
            <a:r>
              <a:rPr dirty="0" baseline="3086" sz="2700" spc="-750">
                <a:latin typeface="Arial"/>
                <a:cs typeface="Arial"/>
              </a:rPr>
              <a:t>ق</a:t>
            </a:r>
            <a:r>
              <a:rPr dirty="0" baseline="7716" sz="2700" spc="-750">
                <a:latin typeface="Arial"/>
                <a:cs typeface="Arial"/>
              </a:rPr>
              <a:t>َ</a:t>
            </a:r>
            <a:r>
              <a:rPr dirty="0" baseline="3086" sz="2700" spc="-982">
                <a:latin typeface="Arial"/>
                <a:cs typeface="Arial"/>
              </a:rPr>
              <a:t>س</a:t>
            </a:r>
            <a:r>
              <a:rPr dirty="0" sz="1800" spc="-655">
                <a:latin typeface="Arial"/>
                <a:cs typeface="Arial"/>
              </a:rPr>
              <a:t>َ</a:t>
            </a:r>
            <a:r>
              <a:rPr dirty="0" sz="1800" spc="785">
                <a:latin typeface="Arial"/>
                <a:cs typeface="Arial"/>
              </a:rPr>
              <a:t> </a:t>
            </a:r>
            <a:r>
              <a:rPr dirty="0" baseline="3086" sz="2700" spc="-225">
                <a:latin typeface="Arial"/>
                <a:cs typeface="Arial"/>
              </a:rPr>
              <a:t>ام</a:t>
            </a:r>
            <a:r>
              <a:rPr dirty="0" sz="1800" spc="-150">
                <a:latin typeface="Arial"/>
                <a:cs typeface="Arial"/>
              </a:rPr>
              <a:t>َ </a:t>
            </a:r>
            <a:r>
              <a:rPr dirty="0" baseline="3086" sz="2700" spc="-494">
                <a:latin typeface="Arial"/>
                <a:cs typeface="Arial"/>
              </a:rPr>
              <a:t>ر</a:t>
            </a:r>
            <a:r>
              <a:rPr dirty="0" sz="1800" spc="-330">
                <a:latin typeface="Arial"/>
                <a:cs typeface="Arial"/>
              </a:rPr>
              <a:t>َ </a:t>
            </a:r>
            <a:r>
              <a:rPr dirty="0" baseline="3086" sz="2700" spc="-555">
                <a:latin typeface="Arial"/>
                <a:cs typeface="Arial"/>
              </a:rPr>
              <a:t>جْ </a:t>
            </a:r>
            <a:r>
              <a:rPr dirty="0" baseline="16975" sz="2700">
                <a:latin typeface="Arial"/>
                <a:cs typeface="Arial"/>
              </a:rPr>
              <a:t>َ</a:t>
            </a:r>
            <a:r>
              <a:rPr dirty="0" baseline="3086" sz="2700">
                <a:latin typeface="Arial"/>
                <a:cs typeface="Arial"/>
              </a:rPr>
              <a:t>أ </a:t>
            </a:r>
            <a:r>
              <a:rPr dirty="0" baseline="3086" sz="2700" spc="-682">
                <a:latin typeface="Arial"/>
                <a:cs typeface="Arial"/>
              </a:rPr>
              <a:t>ك</a:t>
            </a:r>
            <a:r>
              <a:rPr dirty="0" sz="1800" spc="-455">
                <a:latin typeface="Arial"/>
                <a:cs typeface="Arial"/>
              </a:rPr>
              <a:t>َ </a:t>
            </a:r>
            <a:r>
              <a:rPr dirty="0" baseline="3086" sz="2700">
                <a:latin typeface="Arial"/>
                <a:cs typeface="Arial"/>
              </a:rPr>
              <a:t>ٌ</a:t>
            </a:r>
            <a:r>
              <a:rPr dirty="0" sz="1800">
                <a:latin typeface="Arial"/>
                <a:cs typeface="Arial"/>
              </a:rPr>
              <a:t>َ </a:t>
            </a:r>
            <a:r>
              <a:rPr dirty="0" baseline="3086" sz="2700" spc="-457">
                <a:latin typeface="Arial"/>
                <a:cs typeface="Arial"/>
              </a:rPr>
              <a:t>ز</a:t>
            </a:r>
            <a:r>
              <a:rPr dirty="0" baseline="-10802" sz="2700" spc="-457">
                <a:latin typeface="Arial"/>
                <a:cs typeface="Arial"/>
              </a:rPr>
              <a:t>ِ </a:t>
            </a:r>
            <a:r>
              <a:rPr dirty="0" baseline="3086" sz="2700" spc="-555">
                <a:latin typeface="Arial"/>
                <a:cs typeface="Arial"/>
              </a:rPr>
              <a:t>جْ </a:t>
            </a:r>
            <a:r>
              <a:rPr dirty="0" baseline="3086" sz="2700">
                <a:latin typeface="Arial"/>
                <a:cs typeface="Arial"/>
              </a:rPr>
              <a:t>ٌ</a:t>
            </a:r>
            <a:r>
              <a:rPr dirty="0" sz="1800">
                <a:latin typeface="Arial"/>
                <a:cs typeface="Arial"/>
              </a:rPr>
              <a:t>َ </a:t>
            </a:r>
            <a:r>
              <a:rPr dirty="0" baseline="1543" sz="2700" spc="-405">
                <a:latin typeface="Arial"/>
                <a:cs typeface="Arial"/>
              </a:rPr>
              <a:t>ِ</a:t>
            </a:r>
            <a:r>
              <a:rPr dirty="0" baseline="3086" sz="2700" spc="-405">
                <a:latin typeface="Arial"/>
                <a:cs typeface="Arial"/>
              </a:rPr>
              <a:t>ل </a:t>
            </a:r>
            <a:r>
              <a:rPr dirty="0" baseline="3086" sz="2700" spc="-682">
                <a:latin typeface="Arial"/>
                <a:cs typeface="Arial"/>
              </a:rPr>
              <a:t>ك</a:t>
            </a:r>
            <a:r>
              <a:rPr dirty="0" sz="1800" spc="-455">
                <a:latin typeface="Arial"/>
                <a:cs typeface="Arial"/>
              </a:rPr>
              <a:t>َ </a:t>
            </a:r>
            <a:r>
              <a:rPr dirty="0" baseline="3086" sz="2700" spc="-427">
                <a:latin typeface="Arial"/>
                <a:cs typeface="Arial"/>
              </a:rPr>
              <a:t>وعُ </a:t>
            </a:r>
            <a:r>
              <a:rPr dirty="0" baseline="3086" sz="2700" spc="-284">
                <a:latin typeface="Arial"/>
                <a:cs typeface="Arial"/>
              </a:rPr>
              <a:t>د</a:t>
            </a:r>
            <a:r>
              <a:rPr dirty="0" baseline="6172" sz="2700" spc="-284">
                <a:latin typeface="Arial"/>
                <a:cs typeface="Arial"/>
              </a:rPr>
              <a:t>ْ </a:t>
            </a:r>
            <a:r>
              <a:rPr dirty="0" baseline="3086" sz="2700">
                <a:latin typeface="Arial"/>
                <a:cs typeface="Arial"/>
              </a:rPr>
              <a:t>ٌ</a:t>
            </a:r>
            <a:r>
              <a:rPr dirty="0" sz="1800">
                <a:latin typeface="Arial"/>
                <a:cs typeface="Arial"/>
              </a:rPr>
              <a:t>َ </a:t>
            </a:r>
            <a:r>
              <a:rPr dirty="0" baseline="3086" sz="2700" spc="-637">
                <a:latin typeface="Arial"/>
                <a:cs typeface="Arial"/>
              </a:rPr>
              <a:t>ًب</a:t>
            </a:r>
            <a:r>
              <a:rPr dirty="0" baseline="-10802" sz="2700" spc="-637">
                <a:latin typeface="Arial"/>
                <a:cs typeface="Arial"/>
              </a:rPr>
              <a:t>ِ </a:t>
            </a:r>
            <a:r>
              <a:rPr dirty="0" baseline="16975" sz="2700">
                <a:latin typeface="Arial"/>
                <a:cs typeface="Arial"/>
              </a:rPr>
              <a:t>َ</a:t>
            </a:r>
            <a:r>
              <a:rPr dirty="0" baseline="3086" sz="2700">
                <a:latin typeface="Arial"/>
                <a:cs typeface="Arial"/>
              </a:rPr>
              <a:t>أ </a:t>
            </a:r>
            <a:r>
              <a:rPr dirty="0" baseline="3086" sz="2700" spc="-345">
                <a:latin typeface="Arial"/>
                <a:cs typeface="Arial"/>
              </a:rPr>
              <a:t>نَّ </a:t>
            </a:r>
            <a:r>
              <a:rPr dirty="0" baseline="-10802" sz="2700">
                <a:latin typeface="Arial"/>
                <a:cs typeface="Arial"/>
              </a:rPr>
              <a:t>ِ</a:t>
            </a:r>
            <a:r>
              <a:rPr dirty="0" baseline="3086" sz="2700">
                <a:latin typeface="Arial"/>
                <a:cs typeface="Arial"/>
              </a:rPr>
              <a:t>إ </a:t>
            </a:r>
            <a:r>
              <a:rPr dirty="0" baseline="3086" sz="2700" spc="-735">
                <a:latin typeface="Arial"/>
                <a:cs typeface="Arial"/>
              </a:rPr>
              <a:t>ت</a:t>
            </a:r>
            <a:r>
              <a:rPr dirty="0" baseline="9259" sz="2700" spc="-735">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487">
                <a:latin typeface="Arial"/>
                <a:cs typeface="Arial"/>
              </a:rPr>
              <a:t>اق</a:t>
            </a:r>
            <a:r>
              <a:rPr dirty="0" baseline="7716" sz="2700" spc="-487">
                <a:latin typeface="Arial"/>
                <a:cs typeface="Arial"/>
              </a:rPr>
              <a:t>َ </a:t>
            </a:r>
            <a:r>
              <a:rPr dirty="0" baseline="3086" sz="2700" spc="7">
                <a:latin typeface="Arial"/>
                <a:cs typeface="Arial"/>
              </a:rPr>
              <a:t>ءاٌ</a:t>
            </a:r>
            <a:r>
              <a:rPr dirty="0" sz="1800" spc="5">
                <a:latin typeface="Arial"/>
                <a:cs typeface="Arial"/>
              </a:rPr>
              <a:t>َ </a:t>
            </a:r>
            <a:r>
              <a:rPr dirty="0" baseline="3086" sz="2700" spc="-555">
                <a:latin typeface="Arial"/>
                <a:cs typeface="Arial"/>
              </a:rPr>
              <a:t>حْ </a:t>
            </a:r>
            <a:r>
              <a:rPr dirty="0" baseline="3086" sz="2700" spc="-960">
                <a:latin typeface="Arial"/>
                <a:cs typeface="Arial"/>
              </a:rPr>
              <a:t>ت</a:t>
            </a:r>
            <a:r>
              <a:rPr dirty="0" baseline="1543" sz="2700" spc="-960">
                <a:latin typeface="Arial"/>
                <a:cs typeface="Arial"/>
              </a:rPr>
              <a:t>ِ</a:t>
            </a:r>
            <a:r>
              <a:rPr dirty="0" baseline="1543" sz="2700" spc="-97">
                <a:latin typeface="Arial"/>
                <a:cs typeface="Arial"/>
              </a:rPr>
              <a:t> </a:t>
            </a:r>
            <a:r>
              <a:rPr dirty="0" baseline="3086" sz="2700" spc="-944">
                <a:latin typeface="Arial"/>
                <a:cs typeface="Arial"/>
              </a:rPr>
              <a:t>سْ</a:t>
            </a:r>
            <a:r>
              <a:rPr dirty="0" baseline="3086" sz="2700" spc="345">
                <a:latin typeface="Arial"/>
                <a:cs typeface="Arial"/>
              </a:rPr>
              <a:t> </a:t>
            </a:r>
            <a:r>
              <a:rPr dirty="0" baseline="3086" sz="2700">
                <a:latin typeface="Arial"/>
                <a:cs typeface="Arial"/>
              </a:rPr>
              <a:t>ا </a:t>
            </a:r>
            <a:r>
              <a:rPr dirty="0" baseline="3086" sz="2700" spc="-509">
                <a:latin typeface="Arial"/>
                <a:cs typeface="Arial"/>
              </a:rPr>
              <a:t>ىل</a:t>
            </a:r>
            <a:r>
              <a:rPr dirty="0" baseline="10802" sz="2700" spc="-509">
                <a:latin typeface="Arial"/>
                <a:cs typeface="Arial"/>
              </a:rPr>
              <a:t>َ </a:t>
            </a:r>
            <a:r>
              <a:rPr dirty="0" baseline="3086" sz="2700" spc="-607">
                <a:latin typeface="Arial"/>
                <a:cs typeface="Arial"/>
              </a:rPr>
              <a:t>ع</a:t>
            </a:r>
            <a:r>
              <a:rPr dirty="0" sz="1800" spc="-405">
                <a:latin typeface="Arial"/>
                <a:cs typeface="Arial"/>
              </a:rPr>
              <a:t>َ  </a:t>
            </a:r>
            <a:r>
              <a:rPr dirty="0" baseline="3086" sz="2700" spc="-622">
                <a:latin typeface="Arial"/>
                <a:cs typeface="Arial"/>
              </a:rPr>
              <a:t>ًش</a:t>
            </a:r>
            <a:r>
              <a:rPr dirty="0" baseline="1543" sz="2700" spc="-622">
                <a:latin typeface="Arial"/>
                <a:cs typeface="Arial"/>
              </a:rPr>
              <a:t>ِ </a:t>
            </a:r>
            <a:r>
              <a:rPr dirty="0" baseline="3086" sz="2700" spc="-322">
                <a:latin typeface="Arial"/>
                <a:cs typeface="Arial"/>
              </a:rPr>
              <a:t>مْ </a:t>
            </a:r>
            <a:r>
              <a:rPr dirty="0" baseline="3086" sz="2700" spc="-892">
                <a:latin typeface="Arial"/>
                <a:cs typeface="Arial"/>
              </a:rPr>
              <a:t>ت</a:t>
            </a:r>
            <a:r>
              <a:rPr dirty="0" baseline="7716" sz="2700" spc="-892">
                <a:latin typeface="Arial"/>
                <a:cs typeface="Arial"/>
              </a:rPr>
              <a:t>َ</a:t>
            </a:r>
            <a:r>
              <a:rPr dirty="0" baseline="7716" sz="2700" spc="532">
                <a:latin typeface="Arial"/>
                <a:cs typeface="Arial"/>
              </a:rPr>
              <a:t> </a:t>
            </a:r>
            <a:r>
              <a:rPr dirty="0" baseline="3086" sz="2700" spc="-225">
                <a:latin typeface="Arial"/>
                <a:cs typeface="Arial"/>
              </a:rPr>
              <a:t>ام</a:t>
            </a:r>
            <a:r>
              <a:rPr dirty="0" sz="1800" spc="-150">
                <a:latin typeface="Arial"/>
                <a:cs typeface="Arial"/>
              </a:rPr>
              <a:t>َ </a:t>
            </a:r>
            <a:r>
              <a:rPr dirty="0" baseline="3086" sz="2700" spc="-307">
                <a:latin typeface="Arial"/>
                <a:cs typeface="Arial"/>
              </a:rPr>
              <a:t>هُ </a:t>
            </a:r>
            <a:r>
              <a:rPr dirty="0" baseline="3086" sz="2700" spc="-217">
                <a:latin typeface="Arial"/>
                <a:cs typeface="Arial"/>
              </a:rPr>
              <a:t>ادَ </a:t>
            </a:r>
            <a:r>
              <a:rPr dirty="0" baseline="3086" sz="2700" spc="-555">
                <a:latin typeface="Arial"/>
                <a:cs typeface="Arial"/>
              </a:rPr>
              <a:t>حْ </a:t>
            </a:r>
            <a:r>
              <a:rPr dirty="0" baseline="-10802" sz="2700">
                <a:latin typeface="Arial"/>
                <a:cs typeface="Arial"/>
              </a:rPr>
              <a:t>ِ</a:t>
            </a:r>
            <a:r>
              <a:rPr dirty="0" baseline="3086" sz="2700">
                <a:latin typeface="Arial"/>
                <a:cs typeface="Arial"/>
              </a:rPr>
              <a:t>إ </a:t>
            </a:r>
            <a:r>
              <a:rPr dirty="0" baseline="3086" sz="2700" spc="-322">
                <a:latin typeface="Arial"/>
                <a:cs typeface="Arial"/>
              </a:rPr>
              <a:t>هُ </a:t>
            </a:r>
            <a:r>
              <a:rPr dirty="0" baseline="3086" sz="2700" spc="-862">
                <a:latin typeface="Arial"/>
                <a:cs typeface="Arial"/>
              </a:rPr>
              <a:t>ت</a:t>
            </a:r>
            <a:r>
              <a:rPr dirty="0" baseline="12345" sz="2700" spc="-862">
                <a:latin typeface="Arial"/>
                <a:cs typeface="Arial"/>
              </a:rPr>
              <a:t>ْ</a:t>
            </a:r>
            <a:r>
              <a:rPr dirty="0" baseline="12345" sz="2700" spc="-300">
                <a:latin typeface="Arial"/>
                <a:cs typeface="Arial"/>
              </a:rPr>
              <a:t> </a:t>
            </a:r>
            <a:r>
              <a:rPr dirty="0" baseline="3086" sz="2700" spc="-284">
                <a:latin typeface="Arial"/>
                <a:cs typeface="Arial"/>
              </a:rPr>
              <a:t>ءاج</a:t>
            </a:r>
            <a:r>
              <a:rPr dirty="0" sz="1800" spc="-190">
                <a:latin typeface="Arial"/>
                <a:cs typeface="Arial"/>
              </a:rPr>
              <a:t>َ </a:t>
            </a:r>
            <a:r>
              <a:rPr dirty="0" baseline="3086" sz="2700" spc="-2062">
                <a:latin typeface="Arial"/>
                <a:cs typeface="Arial"/>
              </a:rPr>
              <a:t>ف</a:t>
            </a:r>
            <a:r>
              <a:rPr dirty="0" baseline="3086" sz="2700" spc="-494">
                <a:latin typeface="Arial"/>
                <a:cs typeface="Arial"/>
              </a:rPr>
              <a:t>ن</a:t>
            </a:r>
            <a:r>
              <a:rPr dirty="0" sz="1800" spc="-330">
                <a:latin typeface="Arial"/>
                <a:cs typeface="Arial"/>
              </a:rPr>
              <a:t>َ</a:t>
            </a:r>
            <a:r>
              <a:rPr dirty="0" sz="1800" spc="-265">
                <a:latin typeface="Arial"/>
                <a:cs typeface="Arial"/>
              </a:rPr>
              <a:t> </a:t>
            </a:r>
            <a:r>
              <a:rPr dirty="0" baseline="3086" sz="2700" spc="-240">
                <a:latin typeface="Arial"/>
                <a:cs typeface="Arial"/>
              </a:rPr>
              <a:t>ٌم</a:t>
            </a:r>
            <a:r>
              <a:rPr dirty="0" baseline="1543" sz="2700" spc="-240">
                <a:latin typeface="Arial"/>
                <a:cs typeface="Arial"/>
              </a:rPr>
              <a:t>ِ</a:t>
            </a:r>
            <a:r>
              <a:rPr dirty="0" baseline="1543" sz="2700" spc="82">
                <a:latin typeface="Arial"/>
                <a:cs typeface="Arial"/>
              </a:rPr>
              <a:t> </a:t>
            </a:r>
            <a:r>
              <a:rPr dirty="0" baseline="1543" sz="2700" spc="-352">
                <a:latin typeface="Arial"/>
                <a:cs typeface="Arial"/>
              </a:rPr>
              <a:t>ِ</a:t>
            </a:r>
            <a:r>
              <a:rPr dirty="0" baseline="3086" sz="2700" spc="-352">
                <a:latin typeface="Arial"/>
                <a:cs typeface="Arial"/>
              </a:rPr>
              <a:t>لاظ</a:t>
            </a:r>
            <a:r>
              <a:rPr dirty="0" baseline="15432" sz="2700" spc="-352">
                <a:latin typeface="Arial"/>
                <a:cs typeface="Arial"/>
              </a:rPr>
              <a:t>َّ </a:t>
            </a:r>
            <a:r>
              <a:rPr dirty="0" baseline="15432" sz="2700">
                <a:latin typeface="Arial"/>
                <a:cs typeface="Arial"/>
              </a:rPr>
              <a:t> </a:t>
            </a:r>
            <a:r>
              <a:rPr dirty="0" baseline="15432" sz="2700" spc="-172">
                <a:latin typeface="Arial"/>
                <a:cs typeface="Arial"/>
              </a:rPr>
              <a:t> </a:t>
            </a:r>
            <a:r>
              <a:rPr dirty="0" baseline="3086" sz="2700" spc="-412">
                <a:latin typeface="Arial"/>
                <a:cs typeface="Arial"/>
              </a:rPr>
              <a:t>لا </a:t>
            </a:r>
            <a:r>
              <a:rPr dirty="0" baseline="3086" sz="2700" spc="-315">
                <a:latin typeface="Arial"/>
                <a:cs typeface="Arial"/>
              </a:rPr>
              <a:t>م</a:t>
            </a:r>
            <a:r>
              <a:rPr dirty="0" baseline="-13888" sz="2700" spc="-315">
                <a:latin typeface="Arial"/>
                <a:cs typeface="Arial"/>
              </a:rPr>
              <a:t>ِ </a:t>
            </a:r>
            <a:r>
              <a:rPr dirty="0" baseline="3086" sz="2700" spc="-270">
                <a:latin typeface="Arial"/>
                <a:cs typeface="Arial"/>
              </a:rPr>
              <a:t>وْ </a:t>
            </a:r>
            <a:r>
              <a:rPr dirty="0" baseline="3086" sz="2700" spc="-750">
                <a:latin typeface="Arial"/>
                <a:cs typeface="Arial"/>
              </a:rPr>
              <a:t>ق</a:t>
            </a:r>
            <a:r>
              <a:rPr dirty="0" baseline="7716" sz="2700" spc="-750">
                <a:latin typeface="Arial"/>
                <a:cs typeface="Arial"/>
              </a:rPr>
              <a:t>َ</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772">
                <a:latin typeface="Arial"/>
                <a:cs typeface="Arial"/>
              </a:rPr>
              <a:t>ت</a:t>
            </a:r>
            <a:r>
              <a:rPr dirty="0" baseline="4629" sz="2700" spc="-772">
                <a:latin typeface="Arial"/>
                <a:cs typeface="Arial"/>
              </a:rPr>
              <a:t>َ</a:t>
            </a:r>
            <a:r>
              <a:rPr dirty="0" baseline="4629" sz="2700" spc="772">
                <a:latin typeface="Arial"/>
                <a:cs typeface="Arial"/>
              </a:rPr>
              <a:t> </a:t>
            </a:r>
            <a:r>
              <a:rPr dirty="0" baseline="3086" sz="2700" spc="-270">
                <a:latin typeface="Arial"/>
                <a:cs typeface="Arial"/>
              </a:rPr>
              <a:t>وْ </a:t>
            </a:r>
            <a:r>
              <a:rPr dirty="0" baseline="3086" sz="2700" spc="-592">
                <a:latin typeface="Arial"/>
                <a:cs typeface="Arial"/>
              </a:rPr>
              <a:t>ج</a:t>
            </a:r>
            <a:r>
              <a:rPr dirty="0" sz="1800" spc="-395">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592">
                <a:latin typeface="Arial"/>
                <a:cs typeface="Arial"/>
              </a:rPr>
              <a:t>ؾْ خ</a:t>
            </a:r>
            <a:r>
              <a:rPr dirty="0" baseline="7716" sz="2700" spc="-592">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502">
                <a:latin typeface="Arial"/>
                <a:cs typeface="Arial"/>
              </a:rPr>
              <a:t> </a:t>
            </a:r>
            <a:r>
              <a:rPr dirty="0" baseline="3086" sz="2700" spc="-502">
                <a:latin typeface="Arial"/>
                <a:cs typeface="Arial"/>
              </a:rPr>
              <a:t>لا</a:t>
            </a:r>
            <a:r>
              <a:rPr dirty="0" baseline="10802" sz="2700" spc="-502">
                <a:latin typeface="Arial"/>
                <a:cs typeface="Arial"/>
              </a:rPr>
              <a:t>َ</a:t>
            </a:r>
            <a:r>
              <a:rPr dirty="0" baseline="10802" sz="2700" spc="-254">
                <a:latin typeface="Arial"/>
                <a:cs typeface="Arial"/>
              </a:rPr>
              <a:t> </a:t>
            </a:r>
            <a:r>
              <a:rPr dirty="0" baseline="3086" sz="2700" spc="-615">
                <a:latin typeface="Arial"/>
                <a:cs typeface="Arial"/>
              </a:rPr>
              <a:t>ل</a:t>
            </a:r>
            <a:r>
              <a:rPr dirty="0" sz="1800" spc="-409">
                <a:latin typeface="Arial"/>
                <a:cs typeface="Arial"/>
              </a:rPr>
              <a:t>َ </a:t>
            </a:r>
            <a:r>
              <a:rPr dirty="0" baseline="3086" sz="2700" spc="-487">
                <a:latin typeface="Arial"/>
                <a:cs typeface="Arial"/>
              </a:rPr>
              <a:t>اق</a:t>
            </a:r>
            <a:r>
              <a:rPr dirty="0" baseline="7716" sz="2700" spc="-487">
                <a:latin typeface="Arial"/>
                <a:cs typeface="Arial"/>
              </a:rPr>
              <a:t>َ </a:t>
            </a:r>
            <a:r>
              <a:rPr dirty="0" baseline="3086" sz="2700" spc="-1289">
                <a:latin typeface="Arial"/>
                <a:cs typeface="Arial"/>
              </a:rPr>
              <a:t>ص</a:t>
            </a:r>
            <a:r>
              <a:rPr dirty="0" sz="1800" spc="-860">
                <a:latin typeface="Arial"/>
                <a:cs typeface="Arial"/>
              </a:rPr>
              <a:t>َ</a:t>
            </a:r>
            <a:r>
              <a:rPr dirty="0" sz="1800" spc="1215">
                <a:latin typeface="Arial"/>
                <a:cs typeface="Arial"/>
              </a:rPr>
              <a:t> </a:t>
            </a:r>
            <a:r>
              <a:rPr dirty="0" baseline="3086" sz="2700" spc="-1350">
                <a:latin typeface="Arial"/>
                <a:cs typeface="Arial"/>
              </a:rPr>
              <a:t>ص</a:t>
            </a:r>
            <a:r>
              <a:rPr dirty="0" sz="1800" spc="-900">
                <a:latin typeface="Arial"/>
                <a:cs typeface="Arial"/>
              </a:rPr>
              <a:t>َ</a:t>
            </a:r>
            <a:r>
              <a:rPr dirty="0" sz="1800" spc="840">
                <a:latin typeface="Arial"/>
                <a:cs typeface="Arial"/>
              </a:rPr>
              <a:t> </a:t>
            </a:r>
            <a:r>
              <a:rPr dirty="0" baseline="3086" sz="2700" spc="-750">
                <a:latin typeface="Arial"/>
                <a:cs typeface="Arial"/>
              </a:rPr>
              <a:t>ق</a:t>
            </a:r>
            <a:r>
              <a:rPr dirty="0" baseline="7716" sz="2700" spc="-750">
                <a:latin typeface="Arial"/>
                <a:cs typeface="Arial"/>
              </a:rPr>
              <a:t>َ</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337">
                <a:latin typeface="Arial"/>
                <a:cs typeface="Arial"/>
              </a:rPr>
              <a:t>ه</a:t>
            </a:r>
            <a:r>
              <a:rPr dirty="0" baseline="1543" sz="2700" spc="-337">
                <a:latin typeface="Arial"/>
                <a:cs typeface="Arial"/>
              </a:rPr>
              <a:t>ِ </a:t>
            </a:r>
            <a:r>
              <a:rPr dirty="0" baseline="3086" sz="2700">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607">
                <a:latin typeface="Arial"/>
                <a:cs typeface="Arial"/>
              </a:rPr>
              <a:t>ع</a:t>
            </a:r>
            <a:r>
              <a:rPr dirty="0" sz="1800" spc="-405">
                <a:latin typeface="Arial"/>
                <a:cs typeface="Arial"/>
              </a:rPr>
              <a:t>َ </a:t>
            </a:r>
            <a:r>
              <a:rPr dirty="0" baseline="3086" sz="2700" spc="-869">
                <a:latin typeface="Arial"/>
                <a:cs typeface="Arial"/>
              </a:rPr>
              <a:t>صَّ</a:t>
            </a:r>
            <a:r>
              <a:rPr dirty="0" baseline="3086" sz="2700" spc="1852">
                <a:latin typeface="Arial"/>
                <a:cs typeface="Arial"/>
              </a:rPr>
              <a:t> </a:t>
            </a:r>
            <a:r>
              <a:rPr dirty="0" baseline="3086" sz="2700" spc="-757">
                <a:latin typeface="Arial"/>
                <a:cs typeface="Arial"/>
              </a:rPr>
              <a:t>ق</a:t>
            </a:r>
            <a:r>
              <a:rPr dirty="0" baseline="7716" sz="2700" spc="-757">
                <a:latin typeface="Arial"/>
                <a:cs typeface="Arial"/>
              </a:rPr>
              <a:t>َ</a:t>
            </a:r>
            <a:r>
              <a:rPr dirty="0" baseline="7716" sz="2700" spc="-104">
                <a:latin typeface="Arial"/>
                <a:cs typeface="Arial"/>
              </a:rPr>
              <a:t> </a:t>
            </a:r>
            <a:r>
              <a:rPr dirty="0" baseline="3086" sz="2700" spc="-307">
                <a:latin typeface="Arial"/>
                <a:cs typeface="Arial"/>
              </a:rPr>
              <a:t>و</a:t>
            </a:r>
            <a:r>
              <a:rPr dirty="0" sz="1800" spc="-204">
                <a:latin typeface="Arial"/>
                <a:cs typeface="Arial"/>
              </a:rPr>
              <a:t>َ</a:t>
            </a:r>
            <a:r>
              <a:rPr dirty="0" sz="1800" spc="-200">
                <a:latin typeface="Arial"/>
                <a:cs typeface="Arial"/>
              </a:rPr>
              <a:t> </a:t>
            </a:r>
            <a:r>
              <a:rPr dirty="0" baseline="3086" sz="2700" spc="-232">
                <a:latin typeface="Arial"/>
                <a:cs typeface="Arial"/>
              </a:rPr>
              <a:t>ُهءاج</a:t>
            </a:r>
            <a:endParaRPr baseline="3086" sz="2700">
              <a:latin typeface="Arial"/>
              <a:cs typeface="Arial"/>
            </a:endParaRPr>
          </a:p>
          <a:p>
            <a:pPr algn="just" marL="101600" marR="104139">
              <a:lnSpc>
                <a:spcPts val="1380"/>
              </a:lnSpc>
              <a:spcBef>
                <a:spcPts val="1260"/>
              </a:spcBef>
              <a:buAutoNum type="arabicPeriod" startAt="25"/>
              <a:tabLst>
                <a:tab pos="360680" algn="l"/>
              </a:tabLst>
            </a:pPr>
            <a:r>
              <a:rPr dirty="0" sz="1200" spc="-5">
                <a:latin typeface="Arial"/>
                <a:cs typeface="Arial"/>
              </a:rPr>
              <a:t>Then there came unto </a:t>
            </a:r>
            <a:r>
              <a:rPr dirty="0" sz="1200" spc="-10">
                <a:latin typeface="Arial"/>
                <a:cs typeface="Arial"/>
              </a:rPr>
              <a:t>him </a:t>
            </a:r>
            <a:r>
              <a:rPr dirty="0" sz="1200" spc="-5">
                <a:latin typeface="Arial"/>
                <a:cs typeface="Arial"/>
              </a:rPr>
              <a:t>one of the </a:t>
            </a:r>
            <a:r>
              <a:rPr dirty="0" sz="1200" spc="-10">
                <a:latin typeface="Arial"/>
                <a:cs typeface="Arial"/>
              </a:rPr>
              <a:t>two </a:t>
            </a:r>
            <a:r>
              <a:rPr dirty="0" sz="1200" spc="-5">
                <a:latin typeface="Arial"/>
                <a:cs typeface="Arial"/>
              </a:rPr>
              <a:t>women, walking </a:t>
            </a:r>
            <a:r>
              <a:rPr dirty="0" sz="1200">
                <a:latin typeface="Arial"/>
                <a:cs typeface="Arial"/>
              </a:rPr>
              <a:t>shyly. </a:t>
            </a:r>
            <a:r>
              <a:rPr dirty="0" sz="1200" spc="-5">
                <a:latin typeface="Arial"/>
                <a:cs typeface="Arial"/>
              </a:rPr>
              <a:t>She said: Lo! My father  bids thee, that he may reward </a:t>
            </a:r>
            <a:r>
              <a:rPr dirty="0" sz="1200">
                <a:latin typeface="Arial"/>
                <a:cs typeface="Arial"/>
              </a:rPr>
              <a:t>thee </a:t>
            </a:r>
            <a:r>
              <a:rPr dirty="0" sz="1200" spc="-5">
                <a:latin typeface="Arial"/>
                <a:cs typeface="Arial"/>
              </a:rPr>
              <a:t>with a payment </a:t>
            </a:r>
            <a:r>
              <a:rPr dirty="0" sz="1200">
                <a:latin typeface="Arial"/>
                <a:cs typeface="Arial"/>
              </a:rPr>
              <a:t>for </a:t>
            </a:r>
            <a:r>
              <a:rPr dirty="0" sz="1200" spc="-5">
                <a:latin typeface="Arial"/>
                <a:cs typeface="Arial"/>
              </a:rPr>
              <a:t>that thou didst water </a:t>
            </a:r>
            <a:r>
              <a:rPr dirty="0" sz="1200">
                <a:latin typeface="Arial"/>
                <a:cs typeface="Arial"/>
              </a:rPr>
              <a:t>(the flock) for </a:t>
            </a:r>
            <a:r>
              <a:rPr dirty="0" sz="1200" spc="-5">
                <a:latin typeface="Arial"/>
                <a:cs typeface="Arial"/>
              </a:rPr>
              <a:t>us.  Then, when </a:t>
            </a:r>
            <a:r>
              <a:rPr dirty="0" sz="1200" spc="-10">
                <a:latin typeface="Arial"/>
                <a:cs typeface="Arial"/>
              </a:rPr>
              <a:t>he came </a:t>
            </a:r>
            <a:r>
              <a:rPr dirty="0" sz="1200" spc="-5">
                <a:latin typeface="Arial"/>
                <a:cs typeface="Arial"/>
              </a:rPr>
              <a:t>unto </a:t>
            </a:r>
            <a:r>
              <a:rPr dirty="0" sz="1200" spc="-10">
                <a:latin typeface="Arial"/>
                <a:cs typeface="Arial"/>
              </a:rPr>
              <a:t>him </a:t>
            </a:r>
            <a:r>
              <a:rPr dirty="0" sz="1200" spc="-5">
                <a:latin typeface="Arial"/>
                <a:cs typeface="Arial"/>
              </a:rPr>
              <a:t>and </a:t>
            </a:r>
            <a:r>
              <a:rPr dirty="0" sz="1200">
                <a:latin typeface="Arial"/>
                <a:cs typeface="Arial"/>
              </a:rPr>
              <a:t>told </a:t>
            </a:r>
            <a:r>
              <a:rPr dirty="0" sz="1200" spc="-10">
                <a:latin typeface="Arial"/>
                <a:cs typeface="Arial"/>
              </a:rPr>
              <a:t>him </a:t>
            </a:r>
            <a:r>
              <a:rPr dirty="0" sz="1200">
                <a:latin typeface="Arial"/>
                <a:cs typeface="Arial"/>
              </a:rPr>
              <a:t>the </a:t>
            </a:r>
            <a:r>
              <a:rPr dirty="0" sz="1200" spc="-5">
                <a:latin typeface="Arial"/>
                <a:cs typeface="Arial"/>
              </a:rPr>
              <a:t>(whole) story, he said: Fear not! Thou hast  escaped from </a:t>
            </a:r>
            <a:r>
              <a:rPr dirty="0" sz="1200">
                <a:latin typeface="Arial"/>
                <a:cs typeface="Arial"/>
              </a:rPr>
              <a:t>the </a:t>
            </a:r>
            <a:r>
              <a:rPr dirty="0" sz="1200" spc="-5">
                <a:latin typeface="Arial"/>
                <a:cs typeface="Arial"/>
              </a:rPr>
              <a:t>wrongdoing</a:t>
            </a:r>
            <a:r>
              <a:rPr dirty="0" sz="1200" spc="-15">
                <a:latin typeface="Arial"/>
                <a:cs typeface="Arial"/>
              </a:rPr>
              <a:t> </a:t>
            </a:r>
            <a:r>
              <a:rPr dirty="0" sz="1200">
                <a:latin typeface="Arial"/>
                <a:cs typeface="Arial"/>
              </a:rPr>
              <a:t>folk.</a:t>
            </a:r>
            <a:endParaRPr sz="1200">
              <a:latin typeface="Arial"/>
              <a:cs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2354833" y="807211"/>
            <a:ext cx="2327910" cy="299720"/>
          </a:xfrm>
          <a:prstGeom prst="rect">
            <a:avLst/>
          </a:prstGeom>
        </p:spPr>
        <p:txBody>
          <a:bodyPr wrap="square" lIns="0" tIns="12700" rIns="0" bIns="0" rtlCol="0" vert="horz">
            <a:spAutoFit/>
          </a:bodyPr>
          <a:lstStyle/>
          <a:p>
            <a:pPr marL="38100">
              <a:lnSpc>
                <a:spcPct val="100000"/>
              </a:lnSpc>
              <a:spcBef>
                <a:spcPts val="100"/>
              </a:spcBef>
            </a:pPr>
            <a:r>
              <a:rPr dirty="0" baseline="3086" sz="2700" spc="-532">
                <a:latin typeface="Arial"/>
                <a:cs typeface="Arial"/>
              </a:rPr>
              <a:t>نُ </a:t>
            </a:r>
            <a:r>
              <a:rPr dirty="0" baseline="3086" sz="2700" spc="-240">
                <a:latin typeface="Arial"/>
                <a:cs typeface="Arial"/>
              </a:rPr>
              <a:t>ٌم</a:t>
            </a:r>
            <a:r>
              <a:rPr dirty="0" baseline="1543" sz="2700" spc="-240">
                <a:latin typeface="Arial"/>
                <a:cs typeface="Arial"/>
              </a:rPr>
              <a:t>ِ </a:t>
            </a:r>
            <a:r>
              <a:rPr dirty="0" baseline="16975" sz="2700" spc="-359">
                <a:latin typeface="Arial"/>
                <a:cs typeface="Arial"/>
              </a:rPr>
              <a:t>َ</a:t>
            </a:r>
            <a:r>
              <a:rPr dirty="0" baseline="3086" sz="2700" spc="-359">
                <a:latin typeface="Arial"/>
                <a:cs typeface="Arial"/>
              </a:rPr>
              <a:t>لأ</a:t>
            </a:r>
            <a:r>
              <a:rPr dirty="0" baseline="13888" sz="2700" spc="-359">
                <a:latin typeface="Arial"/>
                <a:cs typeface="Arial"/>
              </a:rPr>
              <a:t>ْ </a:t>
            </a:r>
            <a:r>
              <a:rPr dirty="0" baseline="3086" sz="2700">
                <a:latin typeface="Arial"/>
                <a:cs typeface="Arial"/>
              </a:rPr>
              <a:t>ا </a:t>
            </a:r>
            <a:r>
              <a:rPr dirty="0" baseline="3086" sz="2700" spc="-472">
                <a:latin typeface="Arial"/>
                <a:cs typeface="Arial"/>
              </a:rPr>
              <a:t>يُّ </a:t>
            </a:r>
            <a:r>
              <a:rPr dirty="0" baseline="3086" sz="2700" spc="-442">
                <a:latin typeface="Arial"/>
                <a:cs typeface="Arial"/>
              </a:rPr>
              <a:t>و</a:t>
            </a:r>
            <a:r>
              <a:rPr dirty="0" baseline="-10802" sz="2700" spc="-442">
                <a:latin typeface="Arial"/>
                <a:cs typeface="Arial"/>
              </a:rPr>
              <a:t>ِ </a:t>
            </a:r>
            <a:r>
              <a:rPr dirty="0" baseline="3086" sz="2700" spc="-750">
                <a:latin typeface="Arial"/>
                <a:cs typeface="Arial"/>
              </a:rPr>
              <a:t>ق</a:t>
            </a:r>
            <a:r>
              <a:rPr dirty="0" baseline="7716" sz="2700" spc="-750">
                <a:latin typeface="Arial"/>
                <a:cs typeface="Arial"/>
              </a:rPr>
              <a:t>َ</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772">
                <a:latin typeface="Arial"/>
                <a:cs typeface="Arial"/>
              </a:rPr>
              <a:t>ت</a:t>
            </a:r>
            <a:r>
              <a:rPr dirty="0" baseline="4629" sz="2700" spc="-772">
                <a:latin typeface="Arial"/>
                <a:cs typeface="Arial"/>
              </a:rPr>
              <a:t>َ</a:t>
            </a:r>
            <a:r>
              <a:rPr dirty="0" baseline="4629" sz="2700" spc="772">
                <a:latin typeface="Arial"/>
                <a:cs typeface="Arial"/>
              </a:rPr>
              <a:t> </a:t>
            </a:r>
            <a:r>
              <a:rPr dirty="0" baseline="3086" sz="2700" spc="-457">
                <a:latin typeface="Arial"/>
                <a:cs typeface="Arial"/>
              </a:rPr>
              <a:t>رْ </a:t>
            </a:r>
            <a:r>
              <a:rPr dirty="0" baseline="3086" sz="2700" spc="-592">
                <a:latin typeface="Arial"/>
                <a:cs typeface="Arial"/>
              </a:rPr>
              <a:t>ج</a:t>
            </a:r>
            <a:r>
              <a:rPr dirty="0" sz="1800" spc="-395">
                <a:latin typeface="Arial"/>
                <a:cs typeface="Arial"/>
              </a:rPr>
              <a:t>َ </a:t>
            </a:r>
            <a:r>
              <a:rPr dirty="0" baseline="20061" sz="2700" spc="-592">
                <a:latin typeface="Arial"/>
                <a:cs typeface="Arial"/>
              </a:rPr>
              <a:t>ْ</a:t>
            </a:r>
            <a:r>
              <a:rPr dirty="0" baseline="3086" sz="2700" spc="-592">
                <a:latin typeface="Arial"/>
                <a:cs typeface="Arial"/>
              </a:rPr>
              <a:t>ؤت</a:t>
            </a:r>
            <a:r>
              <a:rPr dirty="0" baseline="7716" sz="2700" spc="-592">
                <a:latin typeface="Arial"/>
                <a:cs typeface="Arial"/>
              </a:rPr>
              <a:t>َ </a:t>
            </a:r>
            <a:r>
              <a:rPr dirty="0" baseline="3086" sz="2700" spc="-944">
                <a:latin typeface="Arial"/>
                <a:cs typeface="Arial"/>
              </a:rPr>
              <a:t>سْ</a:t>
            </a:r>
            <a:r>
              <a:rPr dirty="0" baseline="3086" sz="2700" spc="345">
                <a:latin typeface="Arial"/>
                <a:cs typeface="Arial"/>
              </a:rPr>
              <a:t> </a:t>
            </a:r>
            <a:r>
              <a:rPr dirty="0" baseline="3086" sz="2700">
                <a:latin typeface="Arial"/>
                <a:cs typeface="Arial"/>
              </a:rPr>
              <a:t>ا </a:t>
            </a:r>
            <a:r>
              <a:rPr dirty="0" baseline="3086" sz="2700" spc="-607">
                <a:latin typeface="Arial"/>
                <a:cs typeface="Arial"/>
              </a:rPr>
              <a:t>ن</a:t>
            </a:r>
            <a:r>
              <a:rPr dirty="0" baseline="-10802" sz="2700" spc="-607">
                <a:latin typeface="Arial"/>
                <a:cs typeface="Arial"/>
              </a:rPr>
              <a:t>ِ  </a:t>
            </a:r>
            <a:r>
              <a:rPr dirty="0" baseline="3086" sz="2700" spc="-359">
                <a:latin typeface="Arial"/>
                <a:cs typeface="Arial"/>
              </a:rPr>
              <a:t>م</a:t>
            </a:r>
            <a:r>
              <a:rPr dirty="0" sz="1800" spc="-240">
                <a:latin typeface="Arial"/>
                <a:cs typeface="Arial"/>
              </a:rPr>
              <a:t>َ </a:t>
            </a:r>
            <a:r>
              <a:rPr dirty="0" baseline="3086" sz="2700" spc="-494">
                <a:latin typeface="Arial"/>
                <a:cs typeface="Arial"/>
              </a:rPr>
              <a:t>ر</a:t>
            </a:r>
            <a:r>
              <a:rPr dirty="0" sz="1800" spc="-330">
                <a:latin typeface="Arial"/>
                <a:cs typeface="Arial"/>
              </a:rPr>
              <a:t>َ </a:t>
            </a:r>
            <a:r>
              <a:rPr dirty="0" baseline="3086" sz="2700">
                <a:latin typeface="Arial"/>
                <a:cs typeface="Arial"/>
              </a:rPr>
              <a:t>ٌْ</a:t>
            </a:r>
            <a:r>
              <a:rPr dirty="0" baseline="3086" sz="2700" spc="-502">
                <a:latin typeface="Arial"/>
                <a:cs typeface="Arial"/>
              </a:rPr>
              <a:t> </a:t>
            </a:r>
            <a:r>
              <a:rPr dirty="0" baseline="3086" sz="2700" spc="-1185">
                <a:latin typeface="Arial"/>
                <a:cs typeface="Arial"/>
              </a:rPr>
              <a:t>خ</a:t>
            </a:r>
            <a:endParaRPr baseline="3086" sz="2700">
              <a:latin typeface="Arial"/>
              <a:cs typeface="Arial"/>
            </a:endParaRP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71</a:t>
            </a:r>
          </a:p>
        </p:txBody>
      </p:sp>
      <p:sp>
        <p:nvSpPr>
          <p:cNvPr id="5" name="object 5"/>
          <p:cNvSpPr txBox="1"/>
          <p:nvPr/>
        </p:nvSpPr>
        <p:spPr>
          <a:xfrm>
            <a:off x="4526534" y="432307"/>
            <a:ext cx="2514600" cy="675005"/>
          </a:xfrm>
          <a:prstGeom prst="rect">
            <a:avLst/>
          </a:prstGeom>
        </p:spPr>
        <p:txBody>
          <a:bodyPr wrap="square" lIns="0" tIns="12700" rIns="0" bIns="0" rtlCol="0" vert="horz">
            <a:spAutoFit/>
          </a:bodyPr>
          <a:lstStyle/>
          <a:p>
            <a:pPr marL="1256665">
              <a:lnSpc>
                <a:spcPct val="100000"/>
              </a:lnSpc>
              <a:spcBef>
                <a:spcPts val="100"/>
              </a:spcBef>
            </a:pPr>
            <a:r>
              <a:rPr dirty="0" sz="1200" spc="-5" b="1">
                <a:latin typeface="Times New Roman"/>
                <a:cs typeface="Times New Roman"/>
              </a:rPr>
              <a:t>Syllabus</a:t>
            </a:r>
            <a:r>
              <a:rPr dirty="0" sz="1200" spc="-10" b="1">
                <a:latin typeface="Times New Roman"/>
                <a:cs typeface="Times New Roman"/>
              </a:rPr>
              <a:t>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marL="38100">
              <a:lnSpc>
                <a:spcPct val="100000"/>
              </a:lnSpc>
            </a:pPr>
            <a:r>
              <a:rPr dirty="0" baseline="7716" sz="2700">
                <a:latin typeface="Arial"/>
                <a:cs typeface="Arial"/>
              </a:rPr>
              <a:t>َ </a:t>
            </a:r>
            <a:r>
              <a:rPr dirty="0" baseline="3086" sz="2700" spc="-345">
                <a:latin typeface="Arial"/>
                <a:cs typeface="Arial"/>
              </a:rPr>
              <a:t>نَّ </a:t>
            </a:r>
            <a:r>
              <a:rPr dirty="0" baseline="-10802" sz="2700">
                <a:latin typeface="Arial"/>
                <a:cs typeface="Arial"/>
              </a:rPr>
              <a:t>ِ</a:t>
            </a:r>
            <a:r>
              <a:rPr dirty="0" baseline="3086" sz="2700">
                <a:latin typeface="Arial"/>
                <a:cs typeface="Arial"/>
              </a:rPr>
              <a:t>إ </a:t>
            </a:r>
            <a:r>
              <a:rPr dirty="0" baseline="3086" sz="2700" spc="-382">
                <a:latin typeface="Arial"/>
                <a:cs typeface="Arial"/>
              </a:rPr>
              <a:t>هُ </a:t>
            </a:r>
            <a:r>
              <a:rPr dirty="0" baseline="3086" sz="2700" spc="-457">
                <a:latin typeface="Arial"/>
                <a:cs typeface="Arial"/>
              </a:rPr>
              <a:t>رْ </a:t>
            </a:r>
            <a:r>
              <a:rPr dirty="0" baseline="3086" sz="2700" spc="-719">
                <a:latin typeface="Arial"/>
                <a:cs typeface="Arial"/>
              </a:rPr>
              <a:t>ج</a:t>
            </a:r>
            <a:r>
              <a:rPr dirty="0" baseline="-7716" sz="2700" spc="-719">
                <a:latin typeface="Arial"/>
                <a:cs typeface="Arial"/>
              </a:rPr>
              <a:t>ِ </a:t>
            </a:r>
            <a:r>
              <a:rPr dirty="0" baseline="20061" sz="2700" spc="-592">
                <a:latin typeface="Arial"/>
                <a:cs typeface="Arial"/>
              </a:rPr>
              <a:t>ْ</a:t>
            </a:r>
            <a:r>
              <a:rPr dirty="0" baseline="3086" sz="2700" spc="-592">
                <a:latin typeface="Arial"/>
                <a:cs typeface="Arial"/>
              </a:rPr>
              <a:t>ؤت</a:t>
            </a:r>
            <a:r>
              <a:rPr dirty="0" baseline="7716" sz="2700" spc="-592">
                <a:latin typeface="Arial"/>
                <a:cs typeface="Arial"/>
              </a:rPr>
              <a:t>َ </a:t>
            </a:r>
            <a:r>
              <a:rPr dirty="0" baseline="3086" sz="2700" spc="-944">
                <a:latin typeface="Arial"/>
                <a:cs typeface="Arial"/>
              </a:rPr>
              <a:t>سْ</a:t>
            </a:r>
            <a:r>
              <a:rPr dirty="0" baseline="3086" sz="2700" spc="345">
                <a:latin typeface="Arial"/>
                <a:cs typeface="Arial"/>
              </a:rPr>
              <a:t> </a:t>
            </a:r>
            <a:r>
              <a:rPr dirty="0" baseline="3086" sz="2700">
                <a:latin typeface="Arial"/>
                <a:cs typeface="Arial"/>
              </a:rPr>
              <a:t>ا </a:t>
            </a:r>
            <a:r>
              <a:rPr dirty="0" baseline="3086" sz="2700" spc="-862">
                <a:latin typeface="Arial"/>
                <a:cs typeface="Arial"/>
              </a:rPr>
              <a:t>ت</a:t>
            </a:r>
            <a:r>
              <a:rPr dirty="0" baseline="1543" sz="2700" spc="-862">
                <a:latin typeface="Arial"/>
                <a:cs typeface="Arial"/>
              </a:rPr>
              <a:t>ِ</a:t>
            </a:r>
            <a:r>
              <a:rPr dirty="0" baseline="1543" sz="2700" spc="960">
                <a:latin typeface="Arial"/>
                <a:cs typeface="Arial"/>
              </a:rPr>
              <a:t> </a:t>
            </a:r>
            <a:r>
              <a:rPr dirty="0" baseline="3086" sz="2700" spc="-892">
                <a:latin typeface="Arial"/>
                <a:cs typeface="Arial"/>
              </a:rPr>
              <a:t>ب</a:t>
            </a:r>
            <a:r>
              <a:rPr dirty="0" sz="1800" spc="-595">
                <a:latin typeface="Arial"/>
                <a:cs typeface="Arial"/>
              </a:rPr>
              <a:t>َ</a:t>
            </a:r>
            <a:r>
              <a:rPr dirty="0" sz="1800" spc="-180">
                <a:latin typeface="Arial"/>
                <a:cs typeface="Arial"/>
              </a:rPr>
              <a:t> </a:t>
            </a:r>
            <a:r>
              <a:rPr dirty="0" baseline="16975" sz="2700">
                <a:latin typeface="Arial"/>
                <a:cs typeface="Arial"/>
              </a:rPr>
              <a:t>َ</a:t>
            </a:r>
            <a:r>
              <a:rPr dirty="0" baseline="3086" sz="2700">
                <a:latin typeface="Arial"/>
                <a:cs typeface="Arial"/>
              </a:rPr>
              <a:t>أ </a:t>
            </a:r>
            <a:r>
              <a:rPr dirty="0" baseline="3086" sz="2700" spc="15">
                <a:latin typeface="Arial"/>
                <a:cs typeface="Arial"/>
              </a:rPr>
              <a:t>اٌ</a:t>
            </a:r>
            <a:r>
              <a:rPr dirty="0" sz="1800" spc="10">
                <a:latin typeface="Arial"/>
                <a:cs typeface="Arial"/>
              </a:rPr>
              <a:t>َ </a:t>
            </a:r>
            <a:r>
              <a:rPr dirty="0" baseline="3086" sz="2700" spc="-225">
                <a:latin typeface="Arial"/>
                <a:cs typeface="Arial"/>
              </a:rPr>
              <a:t>ام</a:t>
            </a:r>
            <a:r>
              <a:rPr dirty="0" sz="1800" spc="-150">
                <a:latin typeface="Arial"/>
                <a:cs typeface="Arial"/>
              </a:rPr>
              <a:t>َ </a:t>
            </a:r>
            <a:r>
              <a:rPr dirty="0" baseline="3086" sz="2700" spc="-307">
                <a:latin typeface="Arial"/>
                <a:cs typeface="Arial"/>
              </a:rPr>
              <a:t>هُ </a:t>
            </a:r>
            <a:r>
              <a:rPr dirty="0" baseline="3086" sz="2700" spc="-217">
                <a:latin typeface="Arial"/>
                <a:cs typeface="Arial"/>
              </a:rPr>
              <a:t>ادَ </a:t>
            </a:r>
            <a:r>
              <a:rPr dirty="0" baseline="3086" sz="2700" spc="-555">
                <a:latin typeface="Arial"/>
                <a:cs typeface="Arial"/>
              </a:rPr>
              <a:t>حْ </a:t>
            </a:r>
            <a:r>
              <a:rPr dirty="0" baseline="-10802" sz="2700">
                <a:latin typeface="Arial"/>
                <a:cs typeface="Arial"/>
              </a:rPr>
              <a:t>ِ</a:t>
            </a:r>
            <a:r>
              <a:rPr dirty="0" baseline="3086" sz="2700">
                <a:latin typeface="Arial"/>
                <a:cs typeface="Arial"/>
              </a:rPr>
              <a:t>إ </a:t>
            </a:r>
            <a:r>
              <a:rPr dirty="0" baseline="3086" sz="2700" spc="-735">
                <a:latin typeface="Arial"/>
                <a:cs typeface="Arial"/>
              </a:rPr>
              <a:t>ت</a:t>
            </a:r>
            <a:r>
              <a:rPr dirty="0" baseline="9259" sz="2700" spc="-735">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727">
                <a:latin typeface="Arial"/>
                <a:cs typeface="Arial"/>
              </a:rPr>
              <a:t>اق</a:t>
            </a:r>
            <a:endParaRPr baseline="3086" sz="2700">
              <a:latin typeface="Arial"/>
              <a:cs typeface="Arial"/>
            </a:endParaRPr>
          </a:p>
        </p:txBody>
      </p:sp>
      <p:sp>
        <p:nvSpPr>
          <p:cNvPr id="6" name="object 6"/>
          <p:cNvSpPr txBox="1"/>
          <p:nvPr/>
        </p:nvSpPr>
        <p:spPr>
          <a:xfrm>
            <a:off x="693419" y="1237233"/>
            <a:ext cx="6356350" cy="833119"/>
          </a:xfrm>
          <a:prstGeom prst="rect">
            <a:avLst/>
          </a:prstGeom>
        </p:spPr>
        <p:txBody>
          <a:bodyPr wrap="square" lIns="0" tIns="24765" rIns="0" bIns="0" rtlCol="0" vert="horz">
            <a:spAutoFit/>
          </a:bodyPr>
          <a:lstStyle/>
          <a:p>
            <a:pPr marL="38100" marR="30480">
              <a:lnSpc>
                <a:spcPts val="1380"/>
              </a:lnSpc>
              <a:spcBef>
                <a:spcPts val="195"/>
              </a:spcBef>
            </a:pPr>
            <a:r>
              <a:rPr dirty="0" sz="1200" spc="-5">
                <a:latin typeface="Arial"/>
                <a:cs typeface="Arial"/>
              </a:rPr>
              <a:t>26. </a:t>
            </a:r>
            <a:r>
              <a:rPr dirty="0" sz="1200">
                <a:latin typeface="Arial"/>
                <a:cs typeface="Arial"/>
              </a:rPr>
              <a:t>One </a:t>
            </a:r>
            <a:r>
              <a:rPr dirty="0" sz="1200" spc="-5">
                <a:latin typeface="Arial"/>
                <a:cs typeface="Arial"/>
              </a:rPr>
              <a:t>of the </a:t>
            </a:r>
            <a:r>
              <a:rPr dirty="0" sz="1200" spc="-10">
                <a:latin typeface="Arial"/>
                <a:cs typeface="Arial"/>
              </a:rPr>
              <a:t>two </a:t>
            </a:r>
            <a:r>
              <a:rPr dirty="0" sz="1200" spc="-5">
                <a:latin typeface="Arial"/>
                <a:cs typeface="Arial"/>
              </a:rPr>
              <a:t>women </a:t>
            </a:r>
            <a:r>
              <a:rPr dirty="0" sz="1200">
                <a:latin typeface="Arial"/>
                <a:cs typeface="Arial"/>
              </a:rPr>
              <a:t>said: O my </a:t>
            </a:r>
            <a:r>
              <a:rPr dirty="0" sz="1200" spc="-5">
                <a:latin typeface="Arial"/>
                <a:cs typeface="Arial"/>
              </a:rPr>
              <a:t>father! Hire him! </a:t>
            </a:r>
            <a:r>
              <a:rPr dirty="0" sz="1200">
                <a:latin typeface="Arial"/>
                <a:cs typeface="Arial"/>
              </a:rPr>
              <a:t>For the </a:t>
            </a:r>
            <a:r>
              <a:rPr dirty="0" sz="1200" spc="-5">
                <a:latin typeface="Arial"/>
                <a:cs typeface="Arial"/>
              </a:rPr>
              <a:t>best (man) that thou canst  hire is the strong, the</a:t>
            </a:r>
            <a:r>
              <a:rPr dirty="0" sz="1200" spc="10">
                <a:latin typeface="Arial"/>
                <a:cs typeface="Arial"/>
              </a:rPr>
              <a:t> </a:t>
            </a:r>
            <a:r>
              <a:rPr dirty="0" sz="1200" spc="-5">
                <a:latin typeface="Arial"/>
                <a:cs typeface="Arial"/>
              </a:rPr>
              <a:t>trustworthy.</a:t>
            </a:r>
            <a:endParaRPr sz="1200">
              <a:latin typeface="Arial"/>
              <a:cs typeface="Arial"/>
            </a:endParaRPr>
          </a:p>
          <a:p>
            <a:pPr>
              <a:lnSpc>
                <a:spcPct val="100000"/>
              </a:lnSpc>
              <a:spcBef>
                <a:spcPts val="20"/>
              </a:spcBef>
            </a:pPr>
            <a:endParaRPr sz="1150">
              <a:latin typeface="Arial"/>
              <a:cs typeface="Arial"/>
            </a:endParaRPr>
          </a:p>
          <a:p>
            <a:pPr marL="1550035">
              <a:lnSpc>
                <a:spcPct val="100000"/>
              </a:lnSpc>
            </a:pPr>
            <a:r>
              <a:rPr dirty="0" baseline="1543" sz="2700">
                <a:latin typeface="Arial"/>
                <a:cs typeface="Arial"/>
              </a:rPr>
              <a:t>ِ </a:t>
            </a:r>
            <a:r>
              <a:rPr dirty="0" baseline="3086" sz="2700">
                <a:latin typeface="Arial"/>
                <a:cs typeface="Arial"/>
              </a:rPr>
              <a:t>ً</a:t>
            </a:r>
            <a:r>
              <a:rPr dirty="0" sz="1800">
                <a:latin typeface="Arial"/>
                <a:cs typeface="Arial"/>
              </a:rPr>
              <a:t>َ </a:t>
            </a:r>
            <a:r>
              <a:rPr dirty="0" baseline="3086" sz="2700" spc="-705">
                <a:latin typeface="Arial"/>
                <a:cs typeface="Arial"/>
              </a:rPr>
              <a:t>ن</a:t>
            </a:r>
            <a:r>
              <a:rPr dirty="0" baseline="1543" sz="2700" spc="-705">
                <a:latin typeface="Arial"/>
                <a:cs typeface="Arial"/>
              </a:rPr>
              <a:t>ِ </a:t>
            </a:r>
            <a:r>
              <a:rPr dirty="0" baseline="3086" sz="2700" spc="-225">
                <a:latin typeface="Arial"/>
                <a:cs typeface="Arial"/>
              </a:rPr>
              <a:t>ام</a:t>
            </a:r>
            <a:r>
              <a:rPr dirty="0" sz="1800" spc="-150">
                <a:latin typeface="Arial"/>
                <a:cs typeface="Arial"/>
              </a:rPr>
              <a:t>َ </a:t>
            </a:r>
            <a:r>
              <a:rPr dirty="0" baseline="3086" sz="2700" spc="-892">
                <a:latin typeface="Arial"/>
                <a:cs typeface="Arial"/>
              </a:rPr>
              <a:t>ث</a:t>
            </a:r>
            <a:r>
              <a:rPr dirty="0" baseline="13888" sz="2700" spc="-892">
                <a:latin typeface="Arial"/>
                <a:cs typeface="Arial"/>
              </a:rPr>
              <a:t>َ</a:t>
            </a:r>
            <a:r>
              <a:rPr dirty="0" baseline="13888" sz="2700" spc="525">
                <a:latin typeface="Arial"/>
                <a:cs typeface="Arial"/>
              </a:rPr>
              <a:t> </a:t>
            </a:r>
            <a:r>
              <a:rPr dirty="0" baseline="3086" sz="2700" spc="-472">
                <a:latin typeface="Arial"/>
                <a:cs typeface="Arial"/>
              </a:rPr>
              <a:t>ًن</a:t>
            </a:r>
            <a:r>
              <a:rPr dirty="0" baseline="1543" sz="2700" spc="-472">
                <a:latin typeface="Arial"/>
                <a:cs typeface="Arial"/>
              </a:rPr>
              <a:t>ِ </a:t>
            </a:r>
            <a:r>
              <a:rPr dirty="0" baseline="3086" sz="2700" spc="-494">
                <a:latin typeface="Arial"/>
                <a:cs typeface="Arial"/>
              </a:rPr>
              <a:t>ر</a:t>
            </a:r>
            <a:r>
              <a:rPr dirty="0" sz="1800" spc="-330">
                <a:latin typeface="Arial"/>
                <a:cs typeface="Arial"/>
              </a:rPr>
              <a:t>َ </a:t>
            </a:r>
            <a:r>
              <a:rPr dirty="0" baseline="3086" sz="2700" spc="-630">
                <a:latin typeface="Arial"/>
                <a:cs typeface="Arial"/>
              </a:rPr>
              <a:t>جُ </a:t>
            </a:r>
            <a:r>
              <a:rPr dirty="0" baseline="20061" sz="2700" spc="-592">
                <a:latin typeface="Arial"/>
                <a:cs typeface="Arial"/>
              </a:rPr>
              <a:t>ْ</a:t>
            </a:r>
            <a:r>
              <a:rPr dirty="0" baseline="3086" sz="2700" spc="-592">
                <a:latin typeface="Arial"/>
                <a:cs typeface="Arial"/>
              </a:rPr>
              <a:t>ؤت</a:t>
            </a:r>
            <a:r>
              <a:rPr dirty="0" baseline="7716" sz="2700" spc="-592">
                <a:latin typeface="Arial"/>
                <a:cs typeface="Arial"/>
              </a:rPr>
              <a:t>َ </a:t>
            </a:r>
            <a:r>
              <a:rPr dirty="0" baseline="3086" sz="2700" spc="-15">
                <a:latin typeface="Arial"/>
                <a:cs typeface="Arial"/>
              </a:rPr>
              <a:t>ن</a:t>
            </a:r>
            <a:r>
              <a:rPr dirty="0" baseline="16975" sz="2700" spc="-15">
                <a:latin typeface="Arial"/>
                <a:cs typeface="Arial"/>
              </a:rPr>
              <a:t>َ</a:t>
            </a:r>
            <a:r>
              <a:rPr dirty="0" baseline="3086" sz="2700" spc="-15">
                <a:latin typeface="Arial"/>
                <a:cs typeface="Arial"/>
              </a:rPr>
              <a:t>أ</a:t>
            </a:r>
            <a:r>
              <a:rPr dirty="0" baseline="3086" sz="2700" spc="-450">
                <a:latin typeface="Arial"/>
                <a:cs typeface="Arial"/>
              </a:rPr>
              <a:t> </a:t>
            </a:r>
            <a:r>
              <a:rPr dirty="0" baseline="3086" sz="2700" spc="-509">
                <a:latin typeface="Arial"/>
                <a:cs typeface="Arial"/>
              </a:rPr>
              <a:t>ىل</a:t>
            </a:r>
            <a:r>
              <a:rPr dirty="0" baseline="10802" sz="2700" spc="-509">
                <a:latin typeface="Arial"/>
                <a:cs typeface="Arial"/>
              </a:rPr>
              <a:t>َ </a:t>
            </a:r>
            <a:r>
              <a:rPr dirty="0" baseline="3086" sz="2700" spc="-1207">
                <a:latin typeface="Arial"/>
                <a:cs typeface="Arial"/>
              </a:rPr>
              <a:t>ع</a:t>
            </a:r>
            <a:endParaRPr baseline="3086" sz="2700">
              <a:latin typeface="Arial"/>
              <a:cs typeface="Arial"/>
            </a:endParaRPr>
          </a:p>
        </p:txBody>
      </p:sp>
      <p:sp>
        <p:nvSpPr>
          <p:cNvPr id="7" name="object 7"/>
          <p:cNvSpPr txBox="1"/>
          <p:nvPr/>
        </p:nvSpPr>
        <p:spPr>
          <a:xfrm>
            <a:off x="1136700" y="1770633"/>
            <a:ext cx="5916930" cy="299720"/>
          </a:xfrm>
          <a:prstGeom prst="rect">
            <a:avLst/>
          </a:prstGeom>
        </p:spPr>
        <p:txBody>
          <a:bodyPr wrap="square" lIns="0" tIns="12700" rIns="0" bIns="0" rtlCol="0" vert="horz">
            <a:spAutoFit/>
          </a:bodyPr>
          <a:lstStyle/>
          <a:p>
            <a:pPr marL="50800">
              <a:lnSpc>
                <a:spcPct val="100000"/>
              </a:lnSpc>
              <a:spcBef>
                <a:spcPts val="100"/>
              </a:spcBef>
            </a:pPr>
            <a:r>
              <a:rPr dirty="0" baseline="3086" sz="2700" spc="-772">
                <a:latin typeface="Arial"/>
                <a:cs typeface="Arial"/>
              </a:rPr>
              <a:t>ت</a:t>
            </a:r>
            <a:r>
              <a:rPr dirty="0" baseline="4629" sz="2700" spc="-772">
                <a:latin typeface="Arial"/>
                <a:cs typeface="Arial"/>
              </a:rPr>
              <a:t>َ</a:t>
            </a:r>
            <a:r>
              <a:rPr dirty="0" baseline="4629" sz="2700" spc="780">
                <a:latin typeface="Arial"/>
                <a:cs typeface="Arial"/>
              </a:rPr>
              <a:t> </a:t>
            </a:r>
            <a:r>
              <a:rPr dirty="0" baseline="3086" sz="2700" spc="-322">
                <a:latin typeface="Arial"/>
                <a:cs typeface="Arial"/>
              </a:rPr>
              <a:t>مْ </a:t>
            </a:r>
            <a:r>
              <a:rPr dirty="0" baseline="3086" sz="2700" spc="-359">
                <a:latin typeface="Arial"/>
                <a:cs typeface="Arial"/>
              </a:rPr>
              <a:t>م</a:t>
            </a:r>
            <a:r>
              <a:rPr dirty="0" sz="1800" spc="-240">
                <a:latin typeface="Arial"/>
                <a:cs typeface="Arial"/>
              </a:rPr>
              <a:t>َ </a:t>
            </a:r>
            <a:r>
              <a:rPr dirty="0" baseline="3086" sz="2700" spc="-862">
                <a:latin typeface="Arial"/>
                <a:cs typeface="Arial"/>
              </a:rPr>
              <a:t>ت</a:t>
            </a:r>
            <a:r>
              <a:rPr dirty="0" baseline="12345" sz="2700" spc="-862">
                <a:latin typeface="Arial"/>
                <a:cs typeface="Arial"/>
              </a:rPr>
              <a:t>ْ</a:t>
            </a:r>
            <a:r>
              <a:rPr dirty="0" baseline="12345" sz="2700" spc="-337">
                <a:latin typeface="Arial"/>
                <a:cs typeface="Arial"/>
              </a:rPr>
              <a:t> </a:t>
            </a:r>
            <a:r>
              <a:rPr dirty="0" baseline="16975" sz="2700">
                <a:latin typeface="Arial"/>
                <a:cs typeface="Arial"/>
              </a:rPr>
              <a:t>َ</a:t>
            </a:r>
            <a:r>
              <a:rPr dirty="0" baseline="3086" sz="2700">
                <a:latin typeface="Arial"/>
                <a:cs typeface="Arial"/>
              </a:rPr>
              <a:t>أ </a:t>
            </a:r>
            <a:r>
              <a:rPr dirty="0" baseline="3086" sz="2700" spc="-465">
                <a:latin typeface="Arial"/>
                <a:cs typeface="Arial"/>
              </a:rPr>
              <a:t>نْ  </a:t>
            </a:r>
            <a:r>
              <a:rPr dirty="0" baseline="-10802" sz="2700" spc="-509">
                <a:latin typeface="Arial"/>
                <a:cs typeface="Arial"/>
              </a:rPr>
              <a:t>ِ</a:t>
            </a:r>
            <a:r>
              <a:rPr dirty="0" baseline="3086" sz="2700" spc="-509">
                <a:latin typeface="Arial"/>
                <a:cs typeface="Arial"/>
              </a:rPr>
              <a:t>إف</a:t>
            </a:r>
            <a:r>
              <a:rPr dirty="0" baseline="7716" sz="2700" spc="-509">
                <a:latin typeface="Arial"/>
                <a:cs typeface="Arial"/>
              </a:rPr>
              <a:t>َ </a:t>
            </a:r>
            <a:r>
              <a:rPr dirty="0" baseline="3086" sz="2700" spc="-667">
                <a:latin typeface="Arial"/>
                <a:cs typeface="Arial"/>
              </a:rPr>
              <a:t>ج</a:t>
            </a:r>
            <a:r>
              <a:rPr dirty="0" baseline="-13888" sz="2700" spc="-667">
                <a:latin typeface="Arial"/>
                <a:cs typeface="Arial"/>
              </a:rPr>
              <a:t>ٍ  </a:t>
            </a:r>
            <a:r>
              <a:rPr dirty="0" baseline="3086" sz="2700" spc="-592">
                <a:latin typeface="Arial"/>
                <a:cs typeface="Arial"/>
              </a:rPr>
              <a:t>ج</a:t>
            </a:r>
            <a:r>
              <a:rPr dirty="0" sz="1800" spc="-395">
                <a:latin typeface="Arial"/>
                <a:cs typeface="Arial"/>
              </a:rPr>
              <a:t>َ </a:t>
            </a:r>
            <a:r>
              <a:rPr dirty="0" baseline="3086" sz="2700" spc="-89">
                <a:latin typeface="Arial"/>
                <a:cs typeface="Arial"/>
              </a:rPr>
              <a:t>ح </a:t>
            </a:r>
            <a:r>
              <a:rPr dirty="0" sz="1800">
                <a:latin typeface="Arial"/>
                <a:cs typeface="Arial"/>
              </a:rPr>
              <a:t>َ </a:t>
            </a:r>
            <a:r>
              <a:rPr dirty="0" baseline="3086" sz="2700" spc="-607">
                <a:latin typeface="Arial"/>
                <a:cs typeface="Arial"/>
              </a:rPr>
              <a:t>ن</a:t>
            </a:r>
            <a:r>
              <a:rPr dirty="0" baseline="-10802" sz="2700" spc="-607">
                <a:latin typeface="Arial"/>
                <a:cs typeface="Arial"/>
              </a:rPr>
              <a:t>ِ </a:t>
            </a:r>
            <a:r>
              <a:rPr dirty="0" baseline="3086" sz="2700">
                <a:latin typeface="Arial"/>
                <a:cs typeface="Arial"/>
              </a:rPr>
              <a:t>ٌْ </a:t>
            </a:r>
            <a:r>
              <a:rPr dirty="0" baseline="3086" sz="2700" spc="-907">
                <a:latin typeface="Arial"/>
                <a:cs typeface="Arial"/>
              </a:rPr>
              <a:t>ت</a:t>
            </a:r>
            <a:r>
              <a:rPr dirty="0" baseline="7716" sz="2700" spc="-907">
                <a:latin typeface="Arial"/>
                <a:cs typeface="Arial"/>
              </a:rPr>
              <a:t>َ</a:t>
            </a:r>
            <a:r>
              <a:rPr dirty="0" baseline="7716" sz="2700" spc="-225">
                <a:latin typeface="Arial"/>
                <a:cs typeface="Arial"/>
              </a:rPr>
              <a:t> </a:t>
            </a:r>
            <a:r>
              <a:rPr dirty="0" baseline="3086" sz="2700" spc="-165">
                <a:latin typeface="Arial"/>
                <a:cs typeface="Arial"/>
              </a:rPr>
              <a:t>اه</a:t>
            </a:r>
            <a:r>
              <a:rPr dirty="0" sz="1800" spc="-110">
                <a:latin typeface="Arial"/>
                <a:cs typeface="Arial"/>
              </a:rPr>
              <a:t>َ </a:t>
            </a:r>
            <a:r>
              <a:rPr dirty="0" baseline="3086" sz="2700">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25">
                <a:latin typeface="Arial"/>
                <a:cs typeface="Arial"/>
              </a:rPr>
              <a:t> </a:t>
            </a:r>
            <a:r>
              <a:rPr dirty="0" baseline="3086" sz="2700" spc="-652">
                <a:latin typeface="Arial"/>
                <a:cs typeface="Arial"/>
              </a:rPr>
              <a:t>ن</a:t>
            </a:r>
            <a:r>
              <a:rPr dirty="0" baseline="7716" sz="2700" spc="-652">
                <a:latin typeface="Arial"/>
                <a:cs typeface="Arial"/>
              </a:rPr>
              <a:t>َ </a:t>
            </a:r>
            <a:r>
              <a:rPr dirty="0" baseline="3086" sz="2700" spc="-862">
                <a:latin typeface="Arial"/>
                <a:cs typeface="Arial"/>
              </a:rPr>
              <a:t>بْ</a:t>
            </a:r>
            <a:r>
              <a:rPr dirty="0" baseline="3086" sz="2700" spc="-307">
                <a:latin typeface="Arial"/>
                <a:cs typeface="Arial"/>
              </a:rPr>
              <a:t> </a:t>
            </a:r>
            <a:r>
              <a:rPr dirty="0" baseline="3086" sz="2700">
                <a:latin typeface="Arial"/>
                <a:cs typeface="Arial"/>
              </a:rPr>
              <a:t>ا </a:t>
            </a:r>
            <a:r>
              <a:rPr dirty="0" baseline="3086" sz="2700" spc="-217">
                <a:latin typeface="Arial"/>
                <a:cs typeface="Arial"/>
              </a:rPr>
              <a:t>ىدَ </a:t>
            </a:r>
            <a:r>
              <a:rPr dirty="0" baseline="3086" sz="2700" spc="-555">
                <a:latin typeface="Arial"/>
                <a:cs typeface="Arial"/>
              </a:rPr>
              <a:t>حْ </a:t>
            </a:r>
            <a:r>
              <a:rPr dirty="0" baseline="-10802" sz="2700">
                <a:latin typeface="Arial"/>
                <a:cs typeface="Arial"/>
              </a:rPr>
              <a:t>ِ</a:t>
            </a:r>
            <a:r>
              <a:rPr dirty="0" baseline="3086" sz="2700">
                <a:latin typeface="Arial"/>
                <a:cs typeface="Arial"/>
              </a:rPr>
              <a:t>إ </a:t>
            </a:r>
            <a:r>
              <a:rPr dirty="0" baseline="3086" sz="2700" spc="-682">
                <a:latin typeface="Arial"/>
                <a:cs typeface="Arial"/>
              </a:rPr>
              <a:t>ك</a:t>
            </a:r>
            <a:r>
              <a:rPr dirty="0" sz="1800" spc="-455">
                <a:latin typeface="Arial"/>
                <a:cs typeface="Arial"/>
              </a:rPr>
              <a:t>َ </a:t>
            </a:r>
            <a:r>
              <a:rPr dirty="0" baseline="3086" sz="2700" spc="-592">
                <a:latin typeface="Arial"/>
                <a:cs typeface="Arial"/>
              </a:rPr>
              <a:t>ح</a:t>
            </a:r>
            <a:r>
              <a:rPr dirty="0" sz="1800" spc="-395">
                <a:latin typeface="Arial"/>
                <a:cs typeface="Arial"/>
              </a:rPr>
              <a:t>َ </a:t>
            </a:r>
            <a:r>
              <a:rPr dirty="0" baseline="3086" sz="2700" spc="-727">
                <a:latin typeface="Arial"/>
                <a:cs typeface="Arial"/>
              </a:rPr>
              <a:t>ك</a:t>
            </a:r>
            <a:r>
              <a:rPr dirty="0" baseline="1543" sz="2700" spc="-727">
                <a:latin typeface="Arial"/>
                <a:cs typeface="Arial"/>
              </a:rPr>
              <a:t>ِ </a:t>
            </a:r>
            <a:r>
              <a:rPr dirty="0" baseline="3086" sz="2700" spc="-300">
                <a:latin typeface="Arial"/>
                <a:cs typeface="Arial"/>
              </a:rPr>
              <a:t>ن</a:t>
            </a:r>
            <a:r>
              <a:rPr dirty="0" baseline="20061" sz="2700" spc="-300">
                <a:latin typeface="Arial"/>
                <a:cs typeface="Arial"/>
              </a:rPr>
              <a:t>ُ</a:t>
            </a:r>
            <a:r>
              <a:rPr dirty="0" baseline="3086" sz="2700" spc="-300">
                <a:latin typeface="Arial"/>
                <a:cs typeface="Arial"/>
              </a:rPr>
              <a:t>أ </a:t>
            </a:r>
            <a:r>
              <a:rPr dirty="0" baseline="3086" sz="2700" spc="-465">
                <a:latin typeface="Arial"/>
                <a:cs typeface="Arial"/>
              </a:rPr>
              <a:t>نْ  </a:t>
            </a:r>
            <a:r>
              <a:rPr dirty="0" baseline="16975" sz="2700">
                <a:latin typeface="Arial"/>
                <a:cs typeface="Arial"/>
              </a:rPr>
              <a:t>َ</a:t>
            </a:r>
            <a:r>
              <a:rPr dirty="0" baseline="3086" sz="2700">
                <a:latin typeface="Arial"/>
                <a:cs typeface="Arial"/>
              </a:rPr>
              <a:t>أ </a:t>
            </a:r>
            <a:r>
              <a:rPr dirty="0" baseline="3086" sz="2700" spc="-359">
                <a:latin typeface="Arial"/>
                <a:cs typeface="Arial"/>
              </a:rPr>
              <a:t>د</a:t>
            </a:r>
            <a:r>
              <a:rPr dirty="0" baseline="6172" sz="2700" spc="-359">
                <a:latin typeface="Arial"/>
                <a:cs typeface="Arial"/>
              </a:rPr>
              <a:t>ُ </a:t>
            </a:r>
            <a:r>
              <a:rPr dirty="0" baseline="3086" sz="2700" spc="-307">
                <a:latin typeface="Arial"/>
                <a:cs typeface="Arial"/>
              </a:rPr>
              <a:t>ٌر</a:t>
            </a:r>
            <a:r>
              <a:rPr dirty="0" baseline="-10802" sz="2700" spc="-307">
                <a:latin typeface="Arial"/>
                <a:cs typeface="Arial"/>
              </a:rPr>
              <a:t>ِ </a:t>
            </a:r>
            <a:r>
              <a:rPr dirty="0" baseline="20061" sz="2700">
                <a:latin typeface="Arial"/>
                <a:cs typeface="Arial"/>
              </a:rPr>
              <a:t>ُ</a:t>
            </a:r>
            <a:r>
              <a:rPr dirty="0" baseline="3086" sz="2700">
                <a:latin typeface="Arial"/>
                <a:cs typeface="Arial"/>
              </a:rPr>
              <a:t>أ </a:t>
            </a:r>
            <a:r>
              <a:rPr dirty="0" baseline="3086" sz="2700" spc="-330">
                <a:latin typeface="Arial"/>
                <a:cs typeface="Arial"/>
              </a:rPr>
              <a:t>ًن</a:t>
            </a:r>
            <a:r>
              <a:rPr dirty="0" baseline="10802" sz="2700" spc="-330">
                <a:latin typeface="Arial"/>
                <a:cs typeface="Arial"/>
              </a:rPr>
              <a:t>ِّ </a:t>
            </a:r>
            <a:r>
              <a:rPr dirty="0" baseline="-10802" sz="2700">
                <a:latin typeface="Arial"/>
                <a:cs typeface="Arial"/>
              </a:rPr>
              <a:t>ِ</a:t>
            </a:r>
            <a:r>
              <a:rPr dirty="0" baseline="3086" sz="2700">
                <a:latin typeface="Arial"/>
                <a:cs typeface="Arial"/>
              </a:rPr>
              <a:t>إ </a:t>
            </a:r>
            <a:r>
              <a:rPr dirty="0" baseline="3086" sz="2700" spc="-615">
                <a:latin typeface="Arial"/>
                <a:cs typeface="Arial"/>
              </a:rPr>
              <a:t>ل</a:t>
            </a:r>
            <a:r>
              <a:rPr dirty="0" sz="1800" spc="-409">
                <a:latin typeface="Arial"/>
                <a:cs typeface="Arial"/>
              </a:rPr>
              <a:t>َ</a:t>
            </a:r>
            <a:r>
              <a:rPr dirty="0" sz="1800" spc="-330">
                <a:latin typeface="Arial"/>
                <a:cs typeface="Arial"/>
              </a:rPr>
              <a:t> </a:t>
            </a:r>
            <a:r>
              <a:rPr dirty="0" baseline="3086" sz="2700" spc="-727">
                <a:latin typeface="Arial"/>
                <a:cs typeface="Arial"/>
              </a:rPr>
              <a:t>اق</a:t>
            </a:r>
            <a:endParaRPr baseline="3086" sz="2700">
              <a:latin typeface="Arial"/>
              <a:cs typeface="Arial"/>
            </a:endParaRPr>
          </a:p>
        </p:txBody>
      </p:sp>
      <p:sp>
        <p:nvSpPr>
          <p:cNvPr id="8" name="object 8"/>
          <p:cNvSpPr txBox="1"/>
          <p:nvPr/>
        </p:nvSpPr>
        <p:spPr>
          <a:xfrm>
            <a:off x="582168" y="2034285"/>
            <a:ext cx="6573520" cy="7738109"/>
          </a:xfrm>
          <a:prstGeom prst="rect">
            <a:avLst/>
          </a:prstGeom>
        </p:spPr>
        <p:txBody>
          <a:bodyPr wrap="square" lIns="0" tIns="12700" rIns="0" bIns="0" rtlCol="0" vert="horz">
            <a:spAutoFit/>
          </a:bodyPr>
          <a:lstStyle/>
          <a:p>
            <a:pPr algn="r" marR="229235">
              <a:lnSpc>
                <a:spcPct val="100000"/>
              </a:lnSpc>
              <a:spcBef>
                <a:spcPts val="100"/>
              </a:spcBef>
            </a:pPr>
            <a:r>
              <a:rPr dirty="0" baseline="3086" sz="2700" spc="-494">
                <a:latin typeface="Arial"/>
                <a:cs typeface="Arial"/>
              </a:rPr>
              <a:t>ن</a:t>
            </a:r>
            <a:r>
              <a:rPr dirty="0" sz="1800" spc="-330">
                <a:latin typeface="Arial"/>
                <a:cs typeface="Arial"/>
              </a:rPr>
              <a:t>َ </a:t>
            </a:r>
            <a:r>
              <a:rPr dirty="0" baseline="3086" sz="2700" spc="-480">
                <a:latin typeface="Arial"/>
                <a:cs typeface="Arial"/>
              </a:rPr>
              <a:t>ٌح</a:t>
            </a:r>
            <a:r>
              <a:rPr dirty="0" baseline="1543" sz="2700" spc="-480">
                <a:latin typeface="Arial"/>
                <a:cs typeface="Arial"/>
              </a:rPr>
              <a:t>ِ </a:t>
            </a:r>
            <a:r>
              <a:rPr dirty="0" baseline="1543" sz="2700" spc="-585">
                <a:latin typeface="Arial"/>
                <a:cs typeface="Arial"/>
              </a:rPr>
              <a:t>ِ</a:t>
            </a:r>
            <a:r>
              <a:rPr dirty="0" baseline="3086" sz="2700" spc="-585">
                <a:latin typeface="Arial"/>
                <a:cs typeface="Arial"/>
              </a:rPr>
              <a:t>لاصَّ </a:t>
            </a:r>
            <a:r>
              <a:rPr dirty="0" baseline="3086" sz="2700" spc="-412">
                <a:latin typeface="Arial"/>
                <a:cs typeface="Arial"/>
              </a:rPr>
              <a:t>لا </a:t>
            </a:r>
            <a:r>
              <a:rPr dirty="0" baseline="3086" sz="2700" spc="-509">
                <a:latin typeface="Arial"/>
                <a:cs typeface="Arial"/>
              </a:rPr>
              <a:t>ن</a:t>
            </a:r>
            <a:r>
              <a:rPr dirty="0" sz="1800" spc="-340">
                <a:latin typeface="Arial"/>
                <a:cs typeface="Arial"/>
              </a:rPr>
              <a:t>َ </a:t>
            </a:r>
            <a:r>
              <a:rPr dirty="0" baseline="3086" sz="2700" spc="-352">
                <a:latin typeface="Arial"/>
                <a:cs typeface="Arial"/>
              </a:rPr>
              <a:t>م</a:t>
            </a:r>
            <a:r>
              <a:rPr dirty="0" baseline="1543" sz="2700" spc="-352">
                <a:latin typeface="Arial"/>
                <a:cs typeface="Arial"/>
              </a:rPr>
              <a:t>ِ </a:t>
            </a:r>
            <a:r>
              <a:rPr dirty="0" baseline="-4629" sz="2700" spc="-600">
                <a:latin typeface="Arial"/>
                <a:cs typeface="Arial"/>
              </a:rPr>
              <a:t>ُ</a:t>
            </a:r>
            <a:r>
              <a:rPr dirty="0" baseline="3086" sz="2700" spc="-600">
                <a:latin typeface="Arial"/>
                <a:cs typeface="Arial"/>
              </a:rPr>
              <a:t>اللَّ</a:t>
            </a:r>
            <a:r>
              <a:rPr dirty="0" baseline="15432" sz="2700" spc="-600">
                <a:latin typeface="Arial"/>
                <a:cs typeface="Arial"/>
              </a:rPr>
              <a:t>َّ </a:t>
            </a:r>
            <a:r>
              <a:rPr dirty="0" baseline="3086" sz="2700" spc="-509">
                <a:latin typeface="Arial"/>
                <a:cs typeface="Arial"/>
              </a:rPr>
              <a:t>ءاش</a:t>
            </a:r>
            <a:r>
              <a:rPr dirty="0" baseline="7716" sz="2700" spc="-509">
                <a:latin typeface="Arial"/>
                <a:cs typeface="Arial"/>
              </a:rPr>
              <a:t>َ </a:t>
            </a:r>
            <a:r>
              <a:rPr dirty="0" baseline="3086" sz="2700" spc="-15">
                <a:latin typeface="Arial"/>
                <a:cs typeface="Arial"/>
              </a:rPr>
              <a:t>ن</a:t>
            </a:r>
            <a:r>
              <a:rPr dirty="0" baseline="-10802" sz="2700" spc="-15">
                <a:latin typeface="Arial"/>
                <a:cs typeface="Arial"/>
              </a:rPr>
              <a:t>ِ</a:t>
            </a:r>
            <a:r>
              <a:rPr dirty="0" baseline="3086" sz="2700" spc="-15">
                <a:latin typeface="Arial"/>
                <a:cs typeface="Arial"/>
              </a:rPr>
              <a:t>إ </a:t>
            </a:r>
            <a:r>
              <a:rPr dirty="0" baseline="3086" sz="2700" spc="-472">
                <a:latin typeface="Arial"/>
                <a:cs typeface="Arial"/>
              </a:rPr>
              <a:t>ًن</a:t>
            </a:r>
            <a:r>
              <a:rPr dirty="0" baseline="1543" sz="2700" spc="-472">
                <a:latin typeface="Arial"/>
                <a:cs typeface="Arial"/>
              </a:rPr>
              <a:t>ِ </a:t>
            </a:r>
            <a:r>
              <a:rPr dirty="0" baseline="3086" sz="2700" spc="-359">
                <a:latin typeface="Arial"/>
                <a:cs typeface="Arial"/>
              </a:rPr>
              <a:t>د</a:t>
            </a:r>
            <a:r>
              <a:rPr dirty="0" baseline="6172" sz="2700" spc="-359">
                <a:latin typeface="Arial"/>
                <a:cs typeface="Arial"/>
              </a:rPr>
              <a:t>ُ </a:t>
            </a:r>
            <a:r>
              <a:rPr dirty="0" baseline="3086" sz="2700" spc="-719">
                <a:latin typeface="Arial"/>
                <a:cs typeface="Arial"/>
              </a:rPr>
              <a:t>ج</a:t>
            </a:r>
            <a:r>
              <a:rPr dirty="0" baseline="-7716" sz="2700" spc="-719">
                <a:latin typeface="Arial"/>
                <a:cs typeface="Arial"/>
              </a:rPr>
              <a:t>ِ </a:t>
            </a:r>
            <a:r>
              <a:rPr dirty="0" baseline="3086" sz="2700" spc="-907">
                <a:latin typeface="Arial"/>
                <a:cs typeface="Arial"/>
              </a:rPr>
              <a:t>ت</a:t>
            </a:r>
            <a:r>
              <a:rPr dirty="0" baseline="7716" sz="2700" spc="-907">
                <a:latin typeface="Arial"/>
                <a:cs typeface="Arial"/>
              </a:rPr>
              <a:t>َ</a:t>
            </a:r>
            <a:r>
              <a:rPr dirty="0" baseline="7716" sz="2700" spc="-209">
                <a:latin typeface="Arial"/>
                <a:cs typeface="Arial"/>
              </a:rPr>
              <a:t> </a:t>
            </a:r>
            <a:r>
              <a:rPr dirty="0" baseline="3086" sz="2700" spc="-989">
                <a:latin typeface="Arial"/>
                <a:cs typeface="Arial"/>
              </a:rPr>
              <a:t>س</a:t>
            </a:r>
            <a:r>
              <a:rPr dirty="0" sz="1800" spc="-660">
                <a:latin typeface="Arial"/>
                <a:cs typeface="Arial"/>
              </a:rPr>
              <a:t>َ</a:t>
            </a:r>
            <a:r>
              <a:rPr dirty="0" sz="1800" spc="840">
                <a:latin typeface="Arial"/>
                <a:cs typeface="Arial"/>
              </a:rPr>
              <a:t> </a:t>
            </a:r>
            <a:r>
              <a:rPr dirty="0" baseline="3086" sz="2700" spc="-682">
                <a:latin typeface="Arial"/>
                <a:cs typeface="Arial"/>
              </a:rPr>
              <a:t>ك</a:t>
            </a:r>
            <a:r>
              <a:rPr dirty="0" sz="1800" spc="-455">
                <a:latin typeface="Arial"/>
                <a:cs typeface="Arial"/>
              </a:rPr>
              <a:t>َ  </a:t>
            </a:r>
            <a:r>
              <a:rPr dirty="0" baseline="3086" sz="2700">
                <a:latin typeface="Arial"/>
                <a:cs typeface="Arial"/>
              </a:rPr>
              <a:t>ٌْ </a:t>
            </a:r>
            <a:r>
              <a:rPr dirty="0" baseline="10802" sz="2700" spc="-509">
                <a:latin typeface="Arial"/>
                <a:cs typeface="Arial"/>
              </a:rPr>
              <a:t>َ</a:t>
            </a:r>
            <a:r>
              <a:rPr dirty="0" baseline="3086" sz="2700" spc="-509">
                <a:latin typeface="Arial"/>
                <a:cs typeface="Arial"/>
              </a:rPr>
              <a:t>لع</a:t>
            </a:r>
            <a:r>
              <a:rPr dirty="0" sz="1800" spc="-340">
                <a:latin typeface="Arial"/>
                <a:cs typeface="Arial"/>
              </a:rPr>
              <a:t>َ </a:t>
            </a:r>
            <a:r>
              <a:rPr dirty="0" baseline="3086" sz="2700" spc="-382">
                <a:latin typeface="Arial"/>
                <a:cs typeface="Arial"/>
              </a:rPr>
              <a:t>ق</a:t>
            </a:r>
            <a:r>
              <a:rPr dirty="0" baseline="7716" sz="2700" spc="-382">
                <a:latin typeface="Arial"/>
                <a:cs typeface="Arial"/>
              </a:rPr>
              <a:t>َّ </a:t>
            </a:r>
            <a:r>
              <a:rPr dirty="0" baseline="3086" sz="2700" spc="-1080">
                <a:latin typeface="Arial"/>
                <a:cs typeface="Arial"/>
              </a:rPr>
              <a:t>ش</a:t>
            </a:r>
            <a:r>
              <a:rPr dirty="0" baseline="10802" sz="2700" spc="-1080">
                <a:latin typeface="Arial"/>
                <a:cs typeface="Arial"/>
              </a:rPr>
              <a:t>ُ</a:t>
            </a:r>
            <a:r>
              <a:rPr dirty="0" baseline="10802" sz="2700" spc="637">
                <a:latin typeface="Arial"/>
                <a:cs typeface="Arial"/>
              </a:rPr>
              <a:t> </a:t>
            </a:r>
            <a:r>
              <a:rPr dirty="0" baseline="16975" sz="2700">
                <a:latin typeface="Arial"/>
                <a:cs typeface="Arial"/>
              </a:rPr>
              <a:t>َ</a:t>
            </a:r>
            <a:r>
              <a:rPr dirty="0" baseline="3086" sz="2700">
                <a:latin typeface="Arial"/>
                <a:cs typeface="Arial"/>
              </a:rPr>
              <a:t>أ </a:t>
            </a:r>
            <a:r>
              <a:rPr dirty="0" baseline="3086" sz="2700" spc="-465">
                <a:latin typeface="Arial"/>
                <a:cs typeface="Arial"/>
              </a:rPr>
              <a:t>نْ  </a:t>
            </a:r>
            <a:r>
              <a:rPr dirty="0" baseline="16975" sz="2700">
                <a:latin typeface="Arial"/>
                <a:cs typeface="Arial"/>
              </a:rPr>
              <a:t>َ</a:t>
            </a:r>
            <a:r>
              <a:rPr dirty="0" baseline="3086" sz="2700">
                <a:latin typeface="Arial"/>
                <a:cs typeface="Arial"/>
              </a:rPr>
              <a:t>أ </a:t>
            </a:r>
            <a:r>
              <a:rPr dirty="0" baseline="3086" sz="2700" spc="-359">
                <a:latin typeface="Arial"/>
                <a:cs typeface="Arial"/>
              </a:rPr>
              <a:t>د</a:t>
            </a:r>
            <a:r>
              <a:rPr dirty="0" baseline="6172" sz="2700" spc="-359">
                <a:latin typeface="Arial"/>
                <a:cs typeface="Arial"/>
              </a:rPr>
              <a:t>ُ </a:t>
            </a:r>
            <a:r>
              <a:rPr dirty="0" baseline="3086" sz="2700" spc="-307">
                <a:latin typeface="Arial"/>
                <a:cs typeface="Arial"/>
              </a:rPr>
              <a:t>ٌر</a:t>
            </a:r>
            <a:r>
              <a:rPr dirty="0" baseline="-10802" sz="2700" spc="-307">
                <a:latin typeface="Arial"/>
                <a:cs typeface="Arial"/>
              </a:rPr>
              <a:t>ِ </a:t>
            </a:r>
            <a:r>
              <a:rPr dirty="0" baseline="20061" sz="2700">
                <a:latin typeface="Arial"/>
                <a:cs typeface="Arial"/>
              </a:rPr>
              <a:t>ُ</a:t>
            </a:r>
            <a:r>
              <a:rPr dirty="0" baseline="3086" sz="2700">
                <a:latin typeface="Arial"/>
                <a:cs typeface="Arial"/>
              </a:rPr>
              <a:t>أ </a:t>
            </a:r>
            <a:r>
              <a:rPr dirty="0" baseline="3086" sz="2700" spc="-225">
                <a:latin typeface="Arial"/>
                <a:cs typeface="Arial"/>
              </a:rPr>
              <a:t>ام</a:t>
            </a:r>
            <a:r>
              <a:rPr dirty="0" sz="1800" spc="-150">
                <a:latin typeface="Arial"/>
                <a:cs typeface="Arial"/>
              </a:rPr>
              <a:t>َ </a:t>
            </a:r>
            <a:r>
              <a:rPr dirty="0" baseline="3086" sz="2700" spc="-307">
                <a:latin typeface="Arial"/>
                <a:cs typeface="Arial"/>
              </a:rPr>
              <a:t>و</a:t>
            </a:r>
            <a:r>
              <a:rPr dirty="0" sz="1800" spc="-204">
                <a:latin typeface="Arial"/>
                <a:cs typeface="Arial"/>
              </a:rPr>
              <a:t>َ </a:t>
            </a:r>
            <a:r>
              <a:rPr dirty="0" baseline="3086" sz="2700" spc="-690">
                <a:latin typeface="Arial"/>
                <a:cs typeface="Arial"/>
              </a:rPr>
              <a:t>ك</a:t>
            </a:r>
            <a:r>
              <a:rPr dirty="0" sz="1800" spc="-459">
                <a:latin typeface="Arial"/>
                <a:cs typeface="Arial"/>
              </a:rPr>
              <a:t>َ </a:t>
            </a:r>
            <a:r>
              <a:rPr dirty="0" baseline="3086" sz="2700" spc="-352">
                <a:latin typeface="Arial"/>
                <a:cs typeface="Arial"/>
              </a:rPr>
              <a:t>د</a:t>
            </a:r>
            <a:r>
              <a:rPr dirty="0" baseline="1543" sz="2700" spc="-352">
                <a:latin typeface="Arial"/>
                <a:cs typeface="Arial"/>
              </a:rPr>
              <a:t>ِ </a:t>
            </a:r>
            <a:r>
              <a:rPr dirty="0" baseline="3086" sz="2700" spc="-652">
                <a:latin typeface="Arial"/>
                <a:cs typeface="Arial"/>
              </a:rPr>
              <a:t>نع</a:t>
            </a:r>
            <a:r>
              <a:rPr dirty="0" baseline="1543" sz="2700" spc="-652">
                <a:latin typeface="Arial"/>
                <a:cs typeface="Arial"/>
              </a:rPr>
              <a:t>ِ </a:t>
            </a:r>
            <a:r>
              <a:rPr dirty="0" baseline="3086" sz="2700" spc="-465">
                <a:latin typeface="Arial"/>
                <a:cs typeface="Arial"/>
              </a:rPr>
              <a:t>نْ </a:t>
            </a:r>
            <a:r>
              <a:rPr dirty="0" baseline="3086" sz="2700" spc="-352">
                <a:latin typeface="Arial"/>
                <a:cs typeface="Arial"/>
              </a:rPr>
              <a:t>م</a:t>
            </a:r>
            <a:r>
              <a:rPr dirty="0" baseline="1543" sz="2700" spc="-352">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712">
                <a:latin typeface="Arial"/>
                <a:cs typeface="Arial"/>
              </a:rPr>
              <a:t> </a:t>
            </a:r>
            <a:r>
              <a:rPr dirty="0" baseline="3086" sz="2700" spc="-330">
                <a:latin typeface="Arial"/>
                <a:cs typeface="Arial"/>
              </a:rPr>
              <a:t>ار</a:t>
            </a:r>
            <a:r>
              <a:rPr dirty="0" baseline="4629" sz="2700" spc="-330">
                <a:latin typeface="Arial"/>
                <a:cs typeface="Arial"/>
              </a:rPr>
              <a:t>ً</a:t>
            </a:r>
            <a:r>
              <a:rPr dirty="0" baseline="4629" sz="2700" spc="-67">
                <a:latin typeface="Arial"/>
                <a:cs typeface="Arial"/>
              </a:rPr>
              <a:t> </a:t>
            </a:r>
            <a:r>
              <a:rPr dirty="0" baseline="3086" sz="2700" spc="-1005">
                <a:latin typeface="Arial"/>
                <a:cs typeface="Arial"/>
              </a:rPr>
              <a:t>ش</a:t>
            </a:r>
            <a:r>
              <a:rPr dirty="0" baseline="12345" sz="2700" spc="-1005">
                <a:latin typeface="Arial"/>
                <a:cs typeface="Arial"/>
              </a:rPr>
              <a:t>ْ</a:t>
            </a:r>
            <a:r>
              <a:rPr dirty="0" baseline="12345" sz="2700" spc="525">
                <a:latin typeface="Arial"/>
                <a:cs typeface="Arial"/>
              </a:rPr>
              <a:t> </a:t>
            </a:r>
            <a:r>
              <a:rPr dirty="0" baseline="3086" sz="2700" spc="-1207">
                <a:latin typeface="Arial"/>
                <a:cs typeface="Arial"/>
              </a:rPr>
              <a:t>ع</a:t>
            </a:r>
            <a:endParaRPr baseline="3086" sz="2700">
              <a:latin typeface="Arial"/>
              <a:cs typeface="Arial"/>
            </a:endParaRPr>
          </a:p>
          <a:p>
            <a:pPr algn="just" marL="149225" marR="131445">
              <a:lnSpc>
                <a:spcPts val="1380"/>
              </a:lnSpc>
              <a:spcBef>
                <a:spcPts val="1320"/>
              </a:spcBef>
              <a:buAutoNum type="arabicPeriod" startAt="27"/>
              <a:tabLst>
                <a:tab pos="414655" algn="l"/>
              </a:tabLst>
            </a:pPr>
            <a:r>
              <a:rPr dirty="0" sz="1200" spc="-5">
                <a:latin typeface="Arial"/>
                <a:cs typeface="Arial"/>
              </a:rPr>
              <a:t>He said: Lo! </a:t>
            </a:r>
            <a:r>
              <a:rPr dirty="0" sz="1200">
                <a:latin typeface="Arial"/>
                <a:cs typeface="Arial"/>
              </a:rPr>
              <a:t>I fain </a:t>
            </a:r>
            <a:r>
              <a:rPr dirty="0" sz="1200" spc="-5">
                <a:latin typeface="Arial"/>
                <a:cs typeface="Arial"/>
              </a:rPr>
              <a:t>would marry </a:t>
            </a:r>
            <a:r>
              <a:rPr dirty="0" sz="1200">
                <a:latin typeface="Arial"/>
                <a:cs typeface="Arial"/>
              </a:rPr>
              <a:t>thee to </a:t>
            </a:r>
            <a:r>
              <a:rPr dirty="0" sz="1200" spc="-5">
                <a:latin typeface="Arial"/>
                <a:cs typeface="Arial"/>
              </a:rPr>
              <a:t>one of these </a:t>
            </a:r>
            <a:r>
              <a:rPr dirty="0" sz="1200" spc="-10">
                <a:latin typeface="Arial"/>
                <a:cs typeface="Arial"/>
              </a:rPr>
              <a:t>two </a:t>
            </a:r>
            <a:r>
              <a:rPr dirty="0" sz="1200" spc="-5">
                <a:latin typeface="Arial"/>
                <a:cs typeface="Arial"/>
              </a:rPr>
              <a:t>daughters of mine on condition  </a:t>
            </a:r>
            <a:r>
              <a:rPr dirty="0" sz="1200">
                <a:latin typeface="Arial"/>
                <a:cs typeface="Arial"/>
              </a:rPr>
              <a:t>that </a:t>
            </a:r>
            <a:r>
              <a:rPr dirty="0" sz="1200" spc="-10">
                <a:latin typeface="Arial"/>
                <a:cs typeface="Arial"/>
              </a:rPr>
              <a:t>thou </a:t>
            </a:r>
            <a:r>
              <a:rPr dirty="0" sz="1200" spc="-5">
                <a:latin typeface="Arial"/>
                <a:cs typeface="Arial"/>
              </a:rPr>
              <a:t>hires thyself to </a:t>
            </a:r>
            <a:r>
              <a:rPr dirty="0" sz="1200">
                <a:latin typeface="Arial"/>
                <a:cs typeface="Arial"/>
              </a:rPr>
              <a:t>me for (the term of) </a:t>
            </a:r>
            <a:r>
              <a:rPr dirty="0" sz="1200" spc="-5">
                <a:latin typeface="Arial"/>
                <a:cs typeface="Arial"/>
              </a:rPr>
              <a:t>eight pilgrimages. Then </a:t>
            </a:r>
            <a:r>
              <a:rPr dirty="0" sz="1200">
                <a:latin typeface="Arial"/>
                <a:cs typeface="Arial"/>
              </a:rPr>
              <a:t>if </a:t>
            </a:r>
            <a:r>
              <a:rPr dirty="0" sz="1200" spc="-5">
                <a:latin typeface="Arial"/>
                <a:cs typeface="Arial"/>
              </a:rPr>
              <a:t>thou completest </a:t>
            </a:r>
            <a:r>
              <a:rPr dirty="0" sz="1200" spc="-10">
                <a:latin typeface="Arial"/>
                <a:cs typeface="Arial"/>
              </a:rPr>
              <a:t>ten </a:t>
            </a:r>
            <a:r>
              <a:rPr dirty="0" sz="1200">
                <a:latin typeface="Arial"/>
                <a:cs typeface="Arial"/>
              </a:rPr>
              <a:t>it  </a:t>
            </a:r>
            <a:r>
              <a:rPr dirty="0" sz="1200" spc="-5">
                <a:latin typeface="Arial"/>
                <a:cs typeface="Arial"/>
              </a:rPr>
              <a:t>will be of thine </a:t>
            </a:r>
            <a:r>
              <a:rPr dirty="0" sz="1200" spc="-10">
                <a:latin typeface="Arial"/>
                <a:cs typeface="Arial"/>
              </a:rPr>
              <a:t>own </a:t>
            </a:r>
            <a:r>
              <a:rPr dirty="0" sz="1200" spc="-5">
                <a:latin typeface="Arial"/>
                <a:cs typeface="Arial"/>
              </a:rPr>
              <a:t>accord, </a:t>
            </a:r>
            <a:r>
              <a:rPr dirty="0" sz="1200">
                <a:latin typeface="Arial"/>
                <a:cs typeface="Arial"/>
              </a:rPr>
              <a:t>for I </a:t>
            </a:r>
            <a:r>
              <a:rPr dirty="0" sz="1200" spc="-5">
                <a:latin typeface="Arial"/>
                <a:cs typeface="Arial"/>
              </a:rPr>
              <a:t>would not </a:t>
            </a:r>
            <a:r>
              <a:rPr dirty="0" sz="1200">
                <a:latin typeface="Arial"/>
                <a:cs typeface="Arial"/>
              </a:rPr>
              <a:t>make it </a:t>
            </a:r>
            <a:r>
              <a:rPr dirty="0" sz="1200" spc="-5">
                <a:latin typeface="Arial"/>
                <a:cs typeface="Arial"/>
              </a:rPr>
              <a:t>hard </a:t>
            </a:r>
            <a:r>
              <a:rPr dirty="0" sz="1200">
                <a:latin typeface="Arial"/>
                <a:cs typeface="Arial"/>
              </a:rPr>
              <a:t>for </a:t>
            </a:r>
            <a:r>
              <a:rPr dirty="0" sz="1200" spc="-5">
                <a:latin typeface="Arial"/>
                <a:cs typeface="Arial"/>
              </a:rPr>
              <a:t>thee. Allah willing, </a:t>
            </a:r>
            <a:r>
              <a:rPr dirty="0" sz="1200">
                <a:latin typeface="Arial"/>
                <a:cs typeface="Arial"/>
              </a:rPr>
              <a:t>thou </a:t>
            </a:r>
            <a:r>
              <a:rPr dirty="0" sz="1200" spc="-10">
                <a:latin typeface="Arial"/>
                <a:cs typeface="Arial"/>
              </a:rPr>
              <a:t>wilt </a:t>
            </a:r>
            <a:r>
              <a:rPr dirty="0" sz="1200" spc="-5">
                <a:latin typeface="Arial"/>
                <a:cs typeface="Arial"/>
              </a:rPr>
              <a:t>find  </a:t>
            </a:r>
            <a:r>
              <a:rPr dirty="0" sz="1200">
                <a:latin typeface="Arial"/>
                <a:cs typeface="Arial"/>
              </a:rPr>
              <a:t>me </a:t>
            </a:r>
            <a:r>
              <a:rPr dirty="0" sz="1200" spc="-5">
                <a:latin typeface="Arial"/>
                <a:cs typeface="Arial"/>
              </a:rPr>
              <a:t>of the</a:t>
            </a:r>
            <a:r>
              <a:rPr dirty="0" sz="1200">
                <a:latin typeface="Arial"/>
                <a:cs typeface="Arial"/>
              </a:rPr>
              <a:t> </a:t>
            </a:r>
            <a:r>
              <a:rPr dirty="0" sz="1200" spc="-5">
                <a:latin typeface="Arial"/>
                <a:cs typeface="Arial"/>
              </a:rPr>
              <a:t>righteous.</a:t>
            </a:r>
            <a:endParaRPr sz="1200">
              <a:latin typeface="Arial"/>
              <a:cs typeface="Arial"/>
            </a:endParaRPr>
          </a:p>
          <a:p>
            <a:pPr>
              <a:lnSpc>
                <a:spcPct val="100000"/>
              </a:lnSpc>
              <a:spcBef>
                <a:spcPts val="20"/>
              </a:spcBef>
              <a:buFont typeface="Arial"/>
              <a:buAutoNum type="arabicPeriod" startAt="27"/>
            </a:pPr>
            <a:endParaRPr sz="1150">
              <a:latin typeface="Arial"/>
              <a:cs typeface="Arial"/>
            </a:endParaRPr>
          </a:p>
          <a:p>
            <a:pPr algn="r" marR="186690">
              <a:lnSpc>
                <a:spcPct val="100000"/>
              </a:lnSpc>
              <a:spcBef>
                <a:spcPts val="5"/>
              </a:spcBef>
            </a:pPr>
            <a:r>
              <a:rPr dirty="0" baseline="3086" sz="2700" spc="-652">
                <a:latin typeface="Arial"/>
                <a:cs typeface="Arial"/>
              </a:rPr>
              <a:t>ل</a:t>
            </a:r>
            <a:r>
              <a:rPr dirty="0" baseline="4629" sz="2700" spc="-652">
                <a:latin typeface="Arial"/>
                <a:cs typeface="Arial"/>
              </a:rPr>
              <a:t>ٌ </a:t>
            </a:r>
            <a:r>
              <a:rPr dirty="0" baseline="3086" sz="2700" spc="-487">
                <a:latin typeface="Arial"/>
                <a:cs typeface="Arial"/>
              </a:rPr>
              <a:t>ٌك</a:t>
            </a:r>
            <a:r>
              <a:rPr dirty="0" baseline="1543" sz="2700" spc="-487">
                <a:latin typeface="Arial"/>
                <a:cs typeface="Arial"/>
              </a:rPr>
              <a:t>ِ </a:t>
            </a:r>
            <a:r>
              <a:rPr dirty="0" baseline="3086" sz="2700" spc="-307">
                <a:latin typeface="Arial"/>
                <a:cs typeface="Arial"/>
              </a:rPr>
              <a:t>و</a:t>
            </a:r>
            <a:r>
              <a:rPr dirty="0" sz="1800" spc="-204">
                <a:latin typeface="Arial"/>
                <a:cs typeface="Arial"/>
              </a:rPr>
              <a:t>َ </a:t>
            </a:r>
            <a:r>
              <a:rPr dirty="0" baseline="3086" sz="2700" spc="-652">
                <a:latin typeface="Arial"/>
                <a:cs typeface="Arial"/>
              </a:rPr>
              <a:t>لُ </a:t>
            </a:r>
            <a:r>
              <a:rPr dirty="0" baseline="3086" sz="2700" spc="-434">
                <a:latin typeface="Arial"/>
                <a:cs typeface="Arial"/>
              </a:rPr>
              <a:t>و</a:t>
            </a:r>
            <a:r>
              <a:rPr dirty="0" baseline="10802" sz="2700" spc="-434">
                <a:latin typeface="Arial"/>
                <a:cs typeface="Arial"/>
              </a:rPr>
              <a:t>ُ</a:t>
            </a:r>
            <a:r>
              <a:rPr dirty="0" baseline="3086" sz="2700" spc="-434">
                <a:latin typeface="Arial"/>
                <a:cs typeface="Arial"/>
              </a:rPr>
              <a:t>قن</a:t>
            </a:r>
            <a:r>
              <a:rPr dirty="0" baseline="7716" sz="2700" spc="-434">
                <a:latin typeface="Arial"/>
                <a:cs typeface="Arial"/>
              </a:rPr>
              <a:t>َ </a:t>
            </a:r>
            <a:r>
              <a:rPr dirty="0" baseline="3086" sz="2700" spc="-225">
                <a:latin typeface="Arial"/>
                <a:cs typeface="Arial"/>
              </a:rPr>
              <a:t>ام</a:t>
            </a:r>
            <a:r>
              <a:rPr dirty="0" sz="1800" spc="-150">
                <a:latin typeface="Arial"/>
                <a:cs typeface="Arial"/>
              </a:rPr>
              <a:t>َ </a:t>
            </a:r>
            <a:r>
              <a:rPr dirty="0" baseline="3086" sz="2700" spc="-442">
                <a:latin typeface="Arial"/>
                <a:cs typeface="Arial"/>
              </a:rPr>
              <a:t>ى</a:t>
            </a:r>
            <a:r>
              <a:rPr dirty="0" baseline="10802" sz="2700" spc="-442">
                <a:latin typeface="Arial"/>
                <a:cs typeface="Arial"/>
              </a:rPr>
              <a:t>َ</a:t>
            </a:r>
            <a:r>
              <a:rPr dirty="0" baseline="3086" sz="2700" spc="-442">
                <a:latin typeface="Arial"/>
                <a:cs typeface="Arial"/>
              </a:rPr>
              <a:t>لع</a:t>
            </a:r>
            <a:r>
              <a:rPr dirty="0" sz="1800" spc="-295">
                <a:latin typeface="Arial"/>
                <a:cs typeface="Arial"/>
              </a:rPr>
              <a:t>َ </a:t>
            </a:r>
            <a:r>
              <a:rPr dirty="0" baseline="-4629" sz="2700" spc="-600">
                <a:latin typeface="Arial"/>
                <a:cs typeface="Arial"/>
              </a:rPr>
              <a:t>ُ</a:t>
            </a:r>
            <a:r>
              <a:rPr dirty="0" baseline="3086" sz="2700" spc="-600">
                <a:latin typeface="Arial"/>
                <a:cs typeface="Arial"/>
              </a:rPr>
              <a:t>اللَّ</a:t>
            </a:r>
            <a:r>
              <a:rPr dirty="0" baseline="15432" sz="2700" spc="-600">
                <a:latin typeface="Arial"/>
                <a:cs typeface="Arial"/>
              </a:rPr>
              <a:t>َّ </a:t>
            </a:r>
            <a:r>
              <a:rPr dirty="0" baseline="3086" sz="2700" spc="-307">
                <a:latin typeface="Arial"/>
                <a:cs typeface="Arial"/>
              </a:rPr>
              <a:t>و</a:t>
            </a:r>
            <a:r>
              <a:rPr dirty="0" sz="1800" spc="-204">
                <a:latin typeface="Arial"/>
                <a:cs typeface="Arial"/>
              </a:rPr>
              <a:t>َ </a:t>
            </a:r>
            <a:r>
              <a:rPr dirty="0" baseline="3086" sz="2700">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607">
                <a:latin typeface="Arial"/>
                <a:cs typeface="Arial"/>
              </a:rPr>
              <a:t>ع</a:t>
            </a:r>
            <a:r>
              <a:rPr dirty="0" sz="1800" spc="-405">
                <a:latin typeface="Arial"/>
                <a:cs typeface="Arial"/>
              </a:rPr>
              <a:t>َ </a:t>
            </a:r>
            <a:r>
              <a:rPr dirty="0" baseline="3086" sz="2700" spc="-494">
                <a:latin typeface="Arial"/>
                <a:cs typeface="Arial"/>
              </a:rPr>
              <a:t>ن</a:t>
            </a:r>
            <a:r>
              <a:rPr dirty="0" sz="1800" spc="-330">
                <a:latin typeface="Arial"/>
                <a:cs typeface="Arial"/>
              </a:rPr>
              <a:t>َ </a:t>
            </a:r>
            <a:r>
              <a:rPr dirty="0" baseline="3086" sz="2700" spc="-209">
                <a:latin typeface="Arial"/>
                <a:cs typeface="Arial"/>
              </a:rPr>
              <a:t>او</a:t>
            </a:r>
            <a:r>
              <a:rPr dirty="0" sz="1800" spc="-140">
                <a:latin typeface="Arial"/>
                <a:cs typeface="Arial"/>
              </a:rPr>
              <a:t>َ </a:t>
            </a:r>
            <a:r>
              <a:rPr dirty="0" baseline="3086" sz="2700" spc="-284">
                <a:latin typeface="Arial"/>
                <a:cs typeface="Arial"/>
              </a:rPr>
              <a:t>د</a:t>
            </a:r>
            <a:r>
              <a:rPr dirty="0" baseline="6172" sz="2700" spc="-284">
                <a:latin typeface="Arial"/>
                <a:cs typeface="Arial"/>
              </a:rPr>
              <a:t>ْ </a:t>
            </a:r>
            <a:r>
              <a:rPr dirty="0" baseline="3086" sz="2700" spc="-637">
                <a:latin typeface="Arial"/>
                <a:cs typeface="Arial"/>
              </a:rPr>
              <a:t>عُ </a:t>
            </a:r>
            <a:r>
              <a:rPr dirty="0" baseline="3086" sz="2700" spc="-525">
                <a:latin typeface="Arial"/>
                <a:cs typeface="Arial"/>
              </a:rPr>
              <a:t>لا</a:t>
            </a:r>
            <a:r>
              <a:rPr dirty="0" baseline="10802" sz="2700" spc="-525">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705">
                <a:latin typeface="Arial"/>
                <a:cs typeface="Arial"/>
              </a:rPr>
              <a:t> </a:t>
            </a:r>
            <a:r>
              <a:rPr dirty="0" baseline="3086" sz="2700" spc="-802">
                <a:latin typeface="Arial"/>
                <a:cs typeface="Arial"/>
              </a:rPr>
              <a:t>ت</a:t>
            </a:r>
            <a:r>
              <a:rPr dirty="0" baseline="7716" sz="2700" spc="-802">
                <a:latin typeface="Arial"/>
                <a:cs typeface="Arial"/>
              </a:rPr>
              <a:t>ُ</a:t>
            </a:r>
            <a:r>
              <a:rPr dirty="0" baseline="7716" sz="2700" spc="907">
                <a:latin typeface="Arial"/>
                <a:cs typeface="Arial"/>
              </a:rPr>
              <a:t> </a:t>
            </a:r>
            <a:r>
              <a:rPr dirty="0" baseline="3086" sz="2700">
                <a:latin typeface="Arial"/>
                <a:cs typeface="Arial"/>
              </a:rPr>
              <a:t>ٌْ </a:t>
            </a:r>
            <a:r>
              <a:rPr dirty="0" baseline="3086" sz="2700" spc="-1350">
                <a:latin typeface="Arial"/>
                <a:cs typeface="Arial"/>
              </a:rPr>
              <a:t>ض</a:t>
            </a:r>
            <a:r>
              <a:rPr dirty="0" sz="1800" spc="-900">
                <a:latin typeface="Arial"/>
                <a:cs typeface="Arial"/>
              </a:rPr>
              <a:t>َ</a:t>
            </a:r>
            <a:r>
              <a:rPr dirty="0" sz="1800" spc="894">
                <a:latin typeface="Arial"/>
                <a:cs typeface="Arial"/>
              </a:rPr>
              <a:t> </a:t>
            </a:r>
            <a:r>
              <a:rPr dirty="0" baseline="3086" sz="2700" spc="-757">
                <a:latin typeface="Arial"/>
                <a:cs typeface="Arial"/>
              </a:rPr>
              <a:t>ق</a:t>
            </a:r>
            <a:r>
              <a:rPr dirty="0" baseline="7716" sz="2700" spc="-757">
                <a:latin typeface="Arial"/>
                <a:cs typeface="Arial"/>
              </a:rPr>
              <a:t>َ</a:t>
            </a:r>
            <a:r>
              <a:rPr dirty="0" baseline="7716" sz="2700" spc="705">
                <a:latin typeface="Arial"/>
                <a:cs typeface="Arial"/>
              </a:rPr>
              <a:t> </a:t>
            </a:r>
            <a:r>
              <a:rPr dirty="0" baseline="3086" sz="2700" spc="-607">
                <a:latin typeface="Arial"/>
                <a:cs typeface="Arial"/>
              </a:rPr>
              <a:t>ن</a:t>
            </a:r>
            <a:r>
              <a:rPr dirty="0" baseline="-10802" sz="2700" spc="-607">
                <a:latin typeface="Arial"/>
                <a:cs typeface="Arial"/>
              </a:rPr>
              <a:t>ِ  </a:t>
            </a:r>
            <a:r>
              <a:rPr dirty="0" baseline="3086" sz="2700">
                <a:latin typeface="Arial"/>
                <a:cs typeface="Arial"/>
              </a:rPr>
              <a:t>ٌْ </a:t>
            </a:r>
            <a:r>
              <a:rPr dirty="0" baseline="3086" sz="2700" spc="-690">
                <a:latin typeface="Arial"/>
                <a:cs typeface="Arial"/>
              </a:rPr>
              <a:t>ل</a:t>
            </a:r>
            <a:r>
              <a:rPr dirty="0" baseline="10802" sz="2700" spc="-690">
                <a:latin typeface="Arial"/>
                <a:cs typeface="Arial"/>
              </a:rPr>
              <a:t>َ </a:t>
            </a:r>
            <a:r>
              <a:rPr dirty="0" baseline="3086" sz="2700" spc="-592">
                <a:latin typeface="Arial"/>
                <a:cs typeface="Arial"/>
              </a:rPr>
              <a:t>ج</a:t>
            </a:r>
            <a:r>
              <a:rPr dirty="0" sz="1800" spc="-395">
                <a:latin typeface="Arial"/>
                <a:cs typeface="Arial"/>
              </a:rPr>
              <a:t>َ </a:t>
            </a:r>
            <a:r>
              <a:rPr dirty="0" baseline="16975" sz="2700" spc="-359">
                <a:latin typeface="Arial"/>
                <a:cs typeface="Arial"/>
              </a:rPr>
              <a:t>َ</a:t>
            </a:r>
            <a:r>
              <a:rPr dirty="0" baseline="3086" sz="2700" spc="-359">
                <a:latin typeface="Arial"/>
                <a:cs typeface="Arial"/>
              </a:rPr>
              <a:t>لأ</a:t>
            </a:r>
            <a:r>
              <a:rPr dirty="0" baseline="13888" sz="2700" spc="-359">
                <a:latin typeface="Arial"/>
                <a:cs typeface="Arial"/>
              </a:rPr>
              <a:t>ْ </a:t>
            </a:r>
            <a:r>
              <a:rPr dirty="0" baseline="3086" sz="2700">
                <a:latin typeface="Arial"/>
                <a:cs typeface="Arial"/>
              </a:rPr>
              <a:t>ا </a:t>
            </a:r>
            <a:r>
              <a:rPr dirty="0" baseline="3086" sz="2700" spc="-225">
                <a:latin typeface="Arial"/>
                <a:cs typeface="Arial"/>
              </a:rPr>
              <a:t>ام</a:t>
            </a:r>
            <a:r>
              <a:rPr dirty="0" sz="1800" spc="-150">
                <a:latin typeface="Arial"/>
                <a:cs typeface="Arial"/>
              </a:rPr>
              <a:t>َ </a:t>
            </a:r>
            <a:r>
              <a:rPr dirty="0" baseline="3086" sz="2700">
                <a:latin typeface="Arial"/>
                <a:cs typeface="Arial"/>
              </a:rPr>
              <a:t>ٌَّ </a:t>
            </a:r>
            <a:r>
              <a:rPr dirty="0" baseline="16975" sz="2700">
                <a:latin typeface="Arial"/>
                <a:cs typeface="Arial"/>
              </a:rPr>
              <a:t>َ</a:t>
            </a:r>
            <a:r>
              <a:rPr dirty="0" baseline="3086" sz="2700">
                <a:latin typeface="Arial"/>
                <a:cs typeface="Arial"/>
              </a:rPr>
              <a:t>أ </a:t>
            </a:r>
            <a:r>
              <a:rPr dirty="0" baseline="3086" sz="2700" spc="-682">
                <a:latin typeface="Arial"/>
                <a:cs typeface="Arial"/>
              </a:rPr>
              <a:t>ك</a:t>
            </a:r>
            <a:r>
              <a:rPr dirty="0" sz="1800" spc="-455">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a:latin typeface="Arial"/>
                <a:cs typeface="Arial"/>
              </a:rPr>
              <a:t>ٌْ </a:t>
            </a:r>
            <a:r>
              <a:rPr dirty="0" baseline="3086" sz="2700" spc="-907">
                <a:latin typeface="Arial"/>
                <a:cs typeface="Arial"/>
              </a:rPr>
              <a:t>ب</a:t>
            </a:r>
            <a:r>
              <a:rPr dirty="0" sz="1800" spc="-605">
                <a:latin typeface="Arial"/>
                <a:cs typeface="Arial"/>
              </a:rPr>
              <a:t>َ</a:t>
            </a:r>
            <a:r>
              <a:rPr dirty="0" sz="1800" spc="-140">
                <a:latin typeface="Arial"/>
                <a:cs typeface="Arial"/>
              </a:rPr>
              <a:t> </a:t>
            </a:r>
            <a:r>
              <a:rPr dirty="0" baseline="3086" sz="2700" spc="-307">
                <a:latin typeface="Arial"/>
                <a:cs typeface="Arial"/>
              </a:rPr>
              <a:t>و</a:t>
            </a:r>
            <a:r>
              <a:rPr dirty="0" sz="1800" spc="-204">
                <a:latin typeface="Arial"/>
                <a:cs typeface="Arial"/>
              </a:rPr>
              <a:t>َ </a:t>
            </a:r>
            <a:r>
              <a:rPr dirty="0" baseline="3086" sz="2700" spc="-472">
                <a:latin typeface="Arial"/>
                <a:cs typeface="Arial"/>
              </a:rPr>
              <a:t>ًن</a:t>
            </a:r>
            <a:r>
              <a:rPr dirty="0" baseline="1543" sz="2700" spc="-472">
                <a:latin typeface="Arial"/>
                <a:cs typeface="Arial"/>
              </a:rPr>
              <a:t>ِ </a:t>
            </a:r>
            <a:r>
              <a:rPr dirty="0" baseline="3086" sz="2700">
                <a:latin typeface="Arial"/>
                <a:cs typeface="Arial"/>
              </a:rPr>
              <a:t>ٌْ </a:t>
            </a:r>
            <a:r>
              <a:rPr dirty="0" baseline="3086" sz="2700" spc="-892">
                <a:latin typeface="Arial"/>
                <a:cs typeface="Arial"/>
              </a:rPr>
              <a:t>ب</a:t>
            </a:r>
            <a:r>
              <a:rPr dirty="0" sz="1800" spc="-595">
                <a:latin typeface="Arial"/>
                <a:cs typeface="Arial"/>
              </a:rPr>
              <a:t>َ</a:t>
            </a:r>
            <a:r>
              <a:rPr dirty="0" sz="1800" spc="385">
                <a:latin typeface="Arial"/>
                <a:cs typeface="Arial"/>
              </a:rPr>
              <a:t> </a:t>
            </a:r>
            <a:r>
              <a:rPr dirty="0" baseline="3086" sz="2700" spc="-682">
                <a:latin typeface="Arial"/>
                <a:cs typeface="Arial"/>
              </a:rPr>
              <a:t>ك</a:t>
            </a:r>
            <a:r>
              <a:rPr dirty="0" sz="1800" spc="-455">
                <a:latin typeface="Arial"/>
                <a:cs typeface="Arial"/>
              </a:rPr>
              <a:t>َ </a:t>
            </a:r>
            <a:r>
              <a:rPr dirty="0" baseline="1543" sz="2700" spc="-367">
                <a:latin typeface="Arial"/>
                <a:cs typeface="Arial"/>
              </a:rPr>
              <a:t>ِ</a:t>
            </a:r>
            <a:r>
              <a:rPr dirty="0" baseline="3086" sz="2700" spc="-367">
                <a:latin typeface="Arial"/>
                <a:cs typeface="Arial"/>
              </a:rPr>
              <a:t>لذ</a:t>
            </a:r>
            <a:r>
              <a:rPr dirty="0" baseline="13888" sz="2700" spc="-367">
                <a:latin typeface="Arial"/>
                <a:cs typeface="Arial"/>
              </a:rPr>
              <a:t>َ </a:t>
            </a:r>
            <a:r>
              <a:rPr dirty="0" baseline="3086" sz="2700" spc="-615">
                <a:latin typeface="Arial"/>
                <a:cs typeface="Arial"/>
              </a:rPr>
              <a:t>ل</a:t>
            </a:r>
            <a:r>
              <a:rPr dirty="0" sz="1800" spc="-409">
                <a:latin typeface="Arial"/>
                <a:cs typeface="Arial"/>
              </a:rPr>
              <a:t>َ</a:t>
            </a:r>
            <a:r>
              <a:rPr dirty="0" sz="1800" spc="-395">
                <a:latin typeface="Arial"/>
                <a:cs typeface="Arial"/>
              </a:rPr>
              <a:t> </a:t>
            </a:r>
            <a:r>
              <a:rPr dirty="0" baseline="3086" sz="2700" spc="-727">
                <a:latin typeface="Arial"/>
                <a:cs typeface="Arial"/>
              </a:rPr>
              <a:t>اق</a:t>
            </a:r>
            <a:endParaRPr baseline="3086" sz="2700">
              <a:latin typeface="Arial"/>
              <a:cs typeface="Arial"/>
            </a:endParaRPr>
          </a:p>
          <a:p>
            <a:pPr algn="just" marL="149225" marR="137795">
              <a:lnSpc>
                <a:spcPts val="1380"/>
              </a:lnSpc>
              <a:spcBef>
                <a:spcPts val="1330"/>
              </a:spcBef>
              <a:buAutoNum type="arabicPeriod" startAt="28"/>
              <a:tabLst>
                <a:tab pos="412115" algn="l"/>
              </a:tabLst>
            </a:pPr>
            <a:r>
              <a:rPr dirty="0" sz="1200" spc="-5">
                <a:latin typeface="Arial"/>
                <a:cs typeface="Arial"/>
              </a:rPr>
              <a:t>He said: That (is </a:t>
            </a:r>
            <a:r>
              <a:rPr dirty="0" sz="1200">
                <a:latin typeface="Arial"/>
                <a:cs typeface="Arial"/>
              </a:rPr>
              <a:t>settled) </a:t>
            </a:r>
            <a:r>
              <a:rPr dirty="0" sz="1200" spc="-5">
                <a:latin typeface="Arial"/>
                <a:cs typeface="Arial"/>
              </a:rPr>
              <a:t>between thee and me. </a:t>
            </a:r>
            <a:r>
              <a:rPr dirty="0" sz="1200">
                <a:latin typeface="Arial"/>
                <a:cs typeface="Arial"/>
              </a:rPr>
              <a:t>Whichever of </a:t>
            </a:r>
            <a:r>
              <a:rPr dirty="0" sz="1200" spc="-5">
                <a:latin typeface="Arial"/>
                <a:cs typeface="Arial"/>
              </a:rPr>
              <a:t>the </a:t>
            </a:r>
            <a:r>
              <a:rPr dirty="0" sz="1200" spc="-10">
                <a:latin typeface="Arial"/>
                <a:cs typeface="Arial"/>
              </a:rPr>
              <a:t>two </a:t>
            </a:r>
            <a:r>
              <a:rPr dirty="0" sz="1200">
                <a:latin typeface="Arial"/>
                <a:cs typeface="Arial"/>
              </a:rPr>
              <a:t>terms I </a:t>
            </a:r>
            <a:r>
              <a:rPr dirty="0" sz="1200" spc="-5">
                <a:latin typeface="Arial"/>
                <a:cs typeface="Arial"/>
              </a:rPr>
              <a:t>fulfil, there  will </a:t>
            </a:r>
            <a:r>
              <a:rPr dirty="0" sz="1200">
                <a:latin typeface="Arial"/>
                <a:cs typeface="Arial"/>
              </a:rPr>
              <a:t>be no </a:t>
            </a:r>
            <a:r>
              <a:rPr dirty="0" sz="1200" spc="-5">
                <a:latin typeface="Arial"/>
                <a:cs typeface="Arial"/>
              </a:rPr>
              <a:t>injustice to </a:t>
            </a:r>
            <a:r>
              <a:rPr dirty="0" sz="1200">
                <a:latin typeface="Arial"/>
                <a:cs typeface="Arial"/>
              </a:rPr>
              <a:t>me, </a:t>
            </a:r>
            <a:r>
              <a:rPr dirty="0" sz="1200" spc="-5">
                <a:latin typeface="Arial"/>
                <a:cs typeface="Arial"/>
              </a:rPr>
              <a:t>and Allah is Surety over what </a:t>
            </a:r>
            <a:r>
              <a:rPr dirty="0" sz="1200" spc="-10">
                <a:latin typeface="Arial"/>
                <a:cs typeface="Arial"/>
              </a:rPr>
              <a:t>we</a:t>
            </a:r>
            <a:r>
              <a:rPr dirty="0" sz="1200" spc="20">
                <a:latin typeface="Arial"/>
                <a:cs typeface="Arial"/>
              </a:rPr>
              <a:t> </a:t>
            </a:r>
            <a:r>
              <a:rPr dirty="0" sz="1200" spc="-5">
                <a:latin typeface="Arial"/>
                <a:cs typeface="Arial"/>
              </a:rPr>
              <a:t>say.</a:t>
            </a:r>
            <a:endParaRPr sz="1200">
              <a:latin typeface="Arial"/>
              <a:cs typeface="Arial"/>
            </a:endParaRPr>
          </a:p>
          <a:p>
            <a:pPr>
              <a:lnSpc>
                <a:spcPct val="100000"/>
              </a:lnSpc>
              <a:spcBef>
                <a:spcPts val="20"/>
              </a:spcBef>
              <a:buFont typeface="Arial"/>
              <a:buAutoNum type="arabicPeriod" startAt="28"/>
            </a:pPr>
            <a:endParaRPr sz="1100">
              <a:latin typeface="Arial"/>
              <a:cs typeface="Arial"/>
            </a:endParaRPr>
          </a:p>
          <a:p>
            <a:pPr algn="r" marR="186690">
              <a:lnSpc>
                <a:spcPts val="2110"/>
              </a:lnSpc>
            </a:pPr>
            <a:r>
              <a:rPr dirty="0" baseline="1543" sz="2700" spc="-802">
                <a:latin typeface="Arial"/>
                <a:cs typeface="Arial"/>
              </a:rPr>
              <a:t>ت</a:t>
            </a:r>
            <a:r>
              <a:rPr dirty="0" baseline="6172" sz="2700" spc="-802">
                <a:latin typeface="Arial"/>
                <a:cs typeface="Arial"/>
              </a:rPr>
              <a:t>ُ</a:t>
            </a:r>
            <a:r>
              <a:rPr dirty="0" baseline="6172" sz="2700" spc="855">
                <a:latin typeface="Arial"/>
                <a:cs typeface="Arial"/>
              </a:rPr>
              <a:t> </a:t>
            </a:r>
            <a:r>
              <a:rPr dirty="0" baseline="1543" sz="2700" spc="-952">
                <a:latin typeface="Arial"/>
                <a:cs typeface="Arial"/>
              </a:rPr>
              <a:t>سْ</a:t>
            </a:r>
            <a:r>
              <a:rPr dirty="0" baseline="1543" sz="2700" spc="359">
                <a:latin typeface="Arial"/>
                <a:cs typeface="Arial"/>
              </a:rPr>
              <a:t> </a:t>
            </a:r>
            <a:r>
              <a:rPr dirty="0" baseline="1543" sz="2700" spc="-644">
                <a:latin typeface="Arial"/>
                <a:cs typeface="Arial"/>
              </a:rPr>
              <a:t>ن</a:t>
            </a:r>
            <a:r>
              <a:rPr dirty="0" baseline="6172" sz="2700" spc="-644">
                <a:latin typeface="Arial"/>
                <a:cs typeface="Arial"/>
              </a:rPr>
              <a:t>َ     </a:t>
            </a:r>
            <a:r>
              <a:rPr dirty="0" baseline="1543" sz="2700">
                <a:latin typeface="Arial"/>
                <a:cs typeface="Arial"/>
              </a:rPr>
              <a:t>آ </a:t>
            </a:r>
            <a:r>
              <a:rPr dirty="0" baseline="1543" sz="2700" spc="-330">
                <a:latin typeface="Arial"/>
                <a:cs typeface="Arial"/>
              </a:rPr>
              <a:t>ًن</a:t>
            </a:r>
            <a:r>
              <a:rPr dirty="0" baseline="9259" sz="2700" spc="-330">
                <a:latin typeface="Arial"/>
                <a:cs typeface="Arial"/>
              </a:rPr>
              <a:t>ِّ </a:t>
            </a:r>
            <a:r>
              <a:rPr dirty="0" baseline="-12345" sz="2700">
                <a:latin typeface="Arial"/>
                <a:cs typeface="Arial"/>
              </a:rPr>
              <a:t>ِ</a:t>
            </a:r>
            <a:r>
              <a:rPr dirty="0" baseline="1543" sz="2700">
                <a:latin typeface="Arial"/>
                <a:cs typeface="Arial"/>
              </a:rPr>
              <a:t>إ </a:t>
            </a:r>
            <a:r>
              <a:rPr dirty="0" baseline="1543" sz="2700" spc="-472">
                <a:latin typeface="Arial"/>
                <a:cs typeface="Arial"/>
              </a:rPr>
              <a:t>اوث</a:t>
            </a:r>
            <a:r>
              <a:rPr dirty="0" baseline="13888" sz="2700" spc="-47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87">
                <a:latin typeface="Arial"/>
                <a:cs typeface="Arial"/>
              </a:rPr>
              <a:t> </a:t>
            </a:r>
            <a:r>
              <a:rPr dirty="0" baseline="1543" sz="2700" spc="-322">
                <a:latin typeface="Arial"/>
                <a:cs typeface="Arial"/>
              </a:rPr>
              <a:t>مْ  </a:t>
            </a:r>
            <a:r>
              <a:rPr dirty="0" baseline="1543" sz="2700">
                <a:latin typeface="Arial"/>
                <a:cs typeface="Arial"/>
              </a:rPr>
              <a:t>ا </a:t>
            </a:r>
            <a:r>
              <a:rPr dirty="0" baseline="1543" sz="2700" spc="-337">
                <a:latin typeface="Arial"/>
                <a:cs typeface="Arial"/>
              </a:rPr>
              <a:t>ه</a:t>
            </a:r>
            <a:r>
              <a:rPr dirty="0" sz="1800" spc="-225">
                <a:latin typeface="Arial"/>
                <a:cs typeface="Arial"/>
              </a:rPr>
              <a:t>ِ  </a:t>
            </a:r>
            <a:r>
              <a:rPr dirty="0" sz="1800" spc="-215">
                <a:latin typeface="Arial"/>
                <a:cs typeface="Arial"/>
              </a:rPr>
              <a:t>ِ</a:t>
            </a:r>
            <a:r>
              <a:rPr dirty="0" baseline="1543" sz="2700" spc="-322">
                <a:latin typeface="Arial"/>
                <a:cs typeface="Arial"/>
              </a:rPr>
              <a:t>لهْ  </a:t>
            </a:r>
            <a:r>
              <a:rPr dirty="0" baseline="15432" sz="2700" spc="-375">
                <a:latin typeface="Arial"/>
                <a:cs typeface="Arial"/>
              </a:rPr>
              <a:t>َ</a:t>
            </a:r>
            <a:r>
              <a:rPr dirty="0" baseline="1543" sz="2700" spc="-375">
                <a:latin typeface="Arial"/>
                <a:cs typeface="Arial"/>
              </a:rPr>
              <a:t>لأ</a:t>
            </a:r>
            <a:r>
              <a:rPr dirty="0" baseline="-4629" sz="2700" spc="-375">
                <a:latin typeface="Arial"/>
                <a:cs typeface="Arial"/>
              </a:rPr>
              <a:t>ِ    </a:t>
            </a:r>
            <a:r>
              <a:rPr dirty="0" baseline="1543" sz="2700" spc="-607">
                <a:latin typeface="Arial"/>
                <a:cs typeface="Arial"/>
              </a:rPr>
              <a:t>ل</a:t>
            </a:r>
            <a:r>
              <a:rPr dirty="0" baseline="-1543" sz="2700" spc="-607">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spc="-330">
                <a:latin typeface="Arial"/>
                <a:cs typeface="Arial"/>
              </a:rPr>
              <a:t>ارً  </a:t>
            </a:r>
            <a:r>
              <a:rPr dirty="0" baseline="1543" sz="2700" spc="-412">
                <a:latin typeface="Arial"/>
                <a:cs typeface="Arial"/>
              </a:rPr>
              <a:t>ان</a:t>
            </a:r>
            <a:r>
              <a:rPr dirty="0" baseline="6172" sz="2700" spc="-412">
                <a:latin typeface="Arial"/>
                <a:cs typeface="Arial"/>
              </a:rPr>
              <a:t>َ    </a:t>
            </a:r>
            <a:r>
              <a:rPr dirty="0" baseline="1543" sz="2700" spc="-457">
                <a:latin typeface="Arial"/>
                <a:cs typeface="Arial"/>
              </a:rPr>
              <a:t>ر</a:t>
            </a:r>
            <a:r>
              <a:rPr dirty="0" baseline="-13888" sz="2700" spc="-457">
                <a:latin typeface="Arial"/>
                <a:cs typeface="Arial"/>
              </a:rPr>
              <a:t>ِ   </a:t>
            </a:r>
            <a:r>
              <a:rPr dirty="0" baseline="1543" sz="2700" spc="-337">
                <a:latin typeface="Arial"/>
                <a:cs typeface="Arial"/>
              </a:rPr>
              <a:t>وط</a:t>
            </a:r>
            <a:r>
              <a:rPr dirty="0" baseline="13888" sz="2700" spc="-337">
                <a:latin typeface="Arial"/>
                <a:cs typeface="Arial"/>
              </a:rPr>
              <a:t>ُّ   </a:t>
            </a:r>
            <a:r>
              <a:rPr dirty="0" baseline="1543" sz="2700" spc="-412">
                <a:latin typeface="Arial"/>
                <a:cs typeface="Arial"/>
              </a:rPr>
              <a:t>لا  </a:t>
            </a:r>
            <a:r>
              <a:rPr dirty="0" baseline="1543" sz="2700" spc="-862">
                <a:latin typeface="Arial"/>
                <a:cs typeface="Arial"/>
              </a:rPr>
              <a:t>ب</a:t>
            </a:r>
            <a:r>
              <a:rPr dirty="0" sz="1800" spc="-575">
                <a:latin typeface="Arial"/>
                <a:cs typeface="Arial"/>
              </a:rPr>
              <a:t>ِ</a:t>
            </a:r>
            <a:r>
              <a:rPr dirty="0" sz="1800" spc="645">
                <a:latin typeface="Arial"/>
                <a:cs typeface="Arial"/>
              </a:rPr>
              <a:t> </a:t>
            </a:r>
            <a:r>
              <a:rPr dirty="0" baseline="1543" sz="2700" spc="-705">
                <a:latin typeface="Arial"/>
                <a:cs typeface="Arial"/>
              </a:rPr>
              <a:t>ن</a:t>
            </a:r>
            <a:r>
              <a:rPr dirty="0" sz="1800" spc="-470">
                <a:latin typeface="Arial"/>
                <a:cs typeface="Arial"/>
              </a:rPr>
              <a:t>ِ               </a:t>
            </a:r>
            <a:r>
              <a:rPr dirty="0" baseline="1543" sz="2700" spc="-382">
                <a:latin typeface="Arial"/>
                <a:cs typeface="Arial"/>
              </a:rPr>
              <a:t>اج</a:t>
            </a:r>
            <a:r>
              <a:rPr dirty="0" baseline="-1543" sz="2700" spc="-382">
                <a:latin typeface="Arial"/>
                <a:cs typeface="Arial"/>
              </a:rPr>
              <a:t>َ     </a:t>
            </a:r>
            <a:r>
              <a:rPr dirty="0" baseline="1543" sz="2700" spc="-247">
                <a:latin typeface="Arial"/>
                <a:cs typeface="Arial"/>
              </a:rPr>
              <a:t>نم</a:t>
            </a:r>
            <a:r>
              <a:rPr dirty="0" sz="1800" spc="-165">
                <a:latin typeface="Arial"/>
                <a:cs typeface="Arial"/>
              </a:rPr>
              <a:t>ِ   </a:t>
            </a:r>
            <a:r>
              <a:rPr dirty="0" baseline="1543" sz="2700" spc="-877">
                <a:latin typeface="Arial"/>
                <a:cs typeface="Arial"/>
              </a:rPr>
              <a:t>س</a:t>
            </a:r>
            <a:r>
              <a:rPr dirty="0" baseline="-1543" sz="2700" spc="-877">
                <a:latin typeface="Arial"/>
                <a:cs typeface="Arial"/>
              </a:rPr>
              <a:t>َ</a:t>
            </a:r>
            <a:r>
              <a:rPr dirty="0" baseline="-1543" sz="2700" spc="1005">
                <a:latin typeface="Arial"/>
                <a:cs typeface="Arial"/>
              </a:rPr>
              <a:t> </a:t>
            </a:r>
            <a:r>
              <a:rPr dirty="0" baseline="1543" sz="2700" spc="-644">
                <a:latin typeface="Arial"/>
                <a:cs typeface="Arial"/>
              </a:rPr>
              <a:t>ن</a:t>
            </a:r>
            <a:r>
              <a:rPr dirty="0" baseline="6172" sz="2700" spc="-644">
                <a:latin typeface="Arial"/>
                <a:cs typeface="Arial"/>
              </a:rPr>
              <a:t>َ     </a:t>
            </a:r>
            <a:r>
              <a:rPr dirty="0" baseline="1543" sz="2700">
                <a:latin typeface="Arial"/>
                <a:cs typeface="Arial"/>
              </a:rPr>
              <a:t>آ </a:t>
            </a:r>
            <a:r>
              <a:rPr dirty="0" baseline="1543" sz="2700" spc="-337">
                <a:latin typeface="Arial"/>
                <a:cs typeface="Arial"/>
              </a:rPr>
              <a:t>ه</a:t>
            </a:r>
            <a:r>
              <a:rPr dirty="0" sz="1800" spc="-225">
                <a:latin typeface="Arial"/>
                <a:cs typeface="Arial"/>
              </a:rPr>
              <a:t>ِ  </a:t>
            </a:r>
            <a:r>
              <a:rPr dirty="0" sz="1800" spc="-215">
                <a:latin typeface="Arial"/>
                <a:cs typeface="Arial"/>
              </a:rPr>
              <a:t>ِ</a:t>
            </a:r>
            <a:r>
              <a:rPr dirty="0" baseline="1543" sz="2700" spc="-322">
                <a:latin typeface="Arial"/>
                <a:cs typeface="Arial"/>
              </a:rPr>
              <a:t>لهْ  </a:t>
            </a:r>
            <a:r>
              <a:rPr dirty="0" baseline="15432" sz="2700" spc="-622">
                <a:latin typeface="Arial"/>
                <a:cs typeface="Arial"/>
              </a:rPr>
              <a:t>َ</a:t>
            </a:r>
            <a:r>
              <a:rPr dirty="0" baseline="1543" sz="2700" spc="-622">
                <a:latin typeface="Arial"/>
                <a:cs typeface="Arial"/>
              </a:rPr>
              <a:t>ؤب</a:t>
            </a:r>
            <a:r>
              <a:rPr dirty="0" baseline="-12345" sz="2700" spc="-622">
                <a:latin typeface="Arial"/>
                <a:cs typeface="Arial"/>
              </a:rPr>
              <a:t>ِ           </a:t>
            </a:r>
            <a:r>
              <a:rPr dirty="0" baseline="1543" sz="2700" spc="-494">
                <a:latin typeface="Arial"/>
                <a:cs typeface="Arial"/>
              </a:rPr>
              <a:t>ر</a:t>
            </a:r>
            <a:r>
              <a:rPr dirty="0" baseline="-1543" sz="2700" spc="-494">
                <a:latin typeface="Arial"/>
                <a:cs typeface="Arial"/>
              </a:rPr>
              <a:t>َ    </a:t>
            </a:r>
            <a:r>
              <a:rPr dirty="0" baseline="1543" sz="2700" spc="-637">
                <a:latin typeface="Arial"/>
                <a:cs typeface="Arial"/>
              </a:rPr>
              <a:t>اس</a:t>
            </a:r>
            <a:r>
              <a:rPr dirty="0" baseline="-1543" sz="2700" spc="-637">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615">
                <a:latin typeface="Arial"/>
                <a:cs typeface="Arial"/>
              </a:rPr>
              <a:t>ل</a:t>
            </a:r>
            <a:r>
              <a:rPr dirty="0" baseline="-1543" sz="2700" spc="-615">
                <a:latin typeface="Arial"/>
                <a:cs typeface="Arial"/>
              </a:rPr>
              <a:t>َ         </a:t>
            </a:r>
            <a:r>
              <a:rPr dirty="0" baseline="1543" sz="2700" spc="-592">
                <a:latin typeface="Arial"/>
                <a:cs typeface="Arial"/>
              </a:rPr>
              <a:t>ج</a:t>
            </a:r>
            <a:r>
              <a:rPr dirty="0" baseline="-1543" sz="2700" spc="-592">
                <a:latin typeface="Arial"/>
                <a:cs typeface="Arial"/>
              </a:rPr>
              <a:t>َ       </a:t>
            </a:r>
            <a:r>
              <a:rPr dirty="0" baseline="15432" sz="2700" spc="-359">
                <a:latin typeface="Arial"/>
                <a:cs typeface="Arial"/>
              </a:rPr>
              <a:t>َ</a:t>
            </a:r>
            <a:r>
              <a:rPr dirty="0" baseline="1543" sz="2700" spc="-359">
                <a:latin typeface="Arial"/>
                <a:cs typeface="Arial"/>
              </a:rPr>
              <a:t>لأ</a:t>
            </a:r>
            <a:r>
              <a:rPr dirty="0" baseline="12345" sz="2700" spc="-359">
                <a:latin typeface="Arial"/>
                <a:cs typeface="Arial"/>
              </a:rPr>
              <a:t>ْ  </a:t>
            </a:r>
            <a:r>
              <a:rPr dirty="0" baseline="1543" sz="2700" spc="-750">
                <a:latin typeface="Arial"/>
                <a:cs typeface="Arial"/>
              </a:rPr>
              <a:t>اىس</a:t>
            </a:r>
            <a:r>
              <a:rPr dirty="0" baseline="-1543" sz="2700" spc="-750">
                <a:latin typeface="Arial"/>
                <a:cs typeface="Arial"/>
              </a:rPr>
              <a:t>َ</a:t>
            </a:r>
            <a:r>
              <a:rPr dirty="0" baseline="1543" sz="2700" spc="-270">
                <a:latin typeface="Arial"/>
                <a:cs typeface="Arial"/>
              </a:rPr>
              <a:t>ومُ    </a:t>
            </a:r>
            <a:r>
              <a:rPr dirty="0" baseline="1543" sz="2700" spc="-952">
                <a:latin typeface="Arial"/>
                <a:cs typeface="Arial"/>
              </a:rPr>
              <a:t>ىض</a:t>
            </a:r>
            <a:r>
              <a:rPr dirty="0" baseline="-1543" sz="2700" spc="-952">
                <a:latin typeface="Arial"/>
                <a:cs typeface="Arial"/>
              </a:rPr>
              <a:t>َ</a:t>
            </a:r>
            <a:r>
              <a:rPr dirty="0" baseline="-1543" sz="2700" spc="1275">
                <a:latin typeface="Arial"/>
                <a:cs typeface="Arial"/>
              </a:rPr>
              <a:t> </a:t>
            </a:r>
            <a:r>
              <a:rPr dirty="0" baseline="1543" sz="2700" spc="-757">
                <a:latin typeface="Arial"/>
                <a:cs typeface="Arial"/>
              </a:rPr>
              <a:t>ق</a:t>
            </a:r>
            <a:r>
              <a:rPr dirty="0" baseline="6172" sz="2700" spc="-757">
                <a:latin typeface="Arial"/>
                <a:cs typeface="Arial"/>
              </a:rPr>
              <a:t>َ</a:t>
            </a:r>
            <a:r>
              <a:rPr dirty="0" baseline="6172" sz="2700" spc="660">
                <a:latin typeface="Arial"/>
                <a:cs typeface="Arial"/>
              </a:rPr>
              <a:t> </a:t>
            </a:r>
            <a:r>
              <a:rPr dirty="0" baseline="1543" sz="2700" spc="-179">
                <a:latin typeface="Arial"/>
                <a:cs typeface="Arial"/>
              </a:rPr>
              <a:t>ام</a:t>
            </a:r>
            <a:r>
              <a:rPr dirty="0" sz="1800" spc="-120">
                <a:latin typeface="Arial"/>
                <a:cs typeface="Arial"/>
              </a:rPr>
              <a:t>َّ</a:t>
            </a:r>
            <a:r>
              <a:rPr dirty="0" sz="1800" spc="-100">
                <a:latin typeface="Arial"/>
                <a:cs typeface="Arial"/>
              </a:rPr>
              <a:t> </a:t>
            </a:r>
            <a:r>
              <a:rPr dirty="0" baseline="9259" sz="2700" spc="-960">
                <a:latin typeface="Arial"/>
                <a:cs typeface="Arial"/>
              </a:rPr>
              <a:t>َ</a:t>
            </a:r>
            <a:r>
              <a:rPr dirty="0" baseline="1543" sz="2700" spc="-960">
                <a:latin typeface="Arial"/>
                <a:cs typeface="Arial"/>
              </a:rPr>
              <a:t>لف</a:t>
            </a:r>
            <a:endParaRPr baseline="1543" sz="2700">
              <a:latin typeface="Arial"/>
              <a:cs typeface="Arial"/>
            </a:endParaRPr>
          </a:p>
          <a:p>
            <a:pPr algn="r" marR="175895">
              <a:lnSpc>
                <a:spcPts val="2110"/>
              </a:lnSpc>
            </a:pPr>
            <a:r>
              <a:rPr dirty="0" baseline="1543" sz="2700" spc="-494">
                <a:latin typeface="Arial"/>
                <a:cs typeface="Arial"/>
              </a:rPr>
              <a:t>ن</a:t>
            </a:r>
            <a:r>
              <a:rPr dirty="0" baseline="-1543" sz="2700" spc="-494">
                <a:latin typeface="Arial"/>
                <a:cs typeface="Arial"/>
              </a:rPr>
              <a:t>َ    </a:t>
            </a:r>
            <a:r>
              <a:rPr dirty="0" baseline="1543" sz="2700" spc="-442">
                <a:latin typeface="Arial"/>
                <a:cs typeface="Arial"/>
              </a:rPr>
              <a:t>و</a:t>
            </a:r>
            <a:r>
              <a:rPr dirty="0" baseline="12345" sz="2700" spc="-442">
                <a:latin typeface="Arial"/>
                <a:cs typeface="Arial"/>
              </a:rPr>
              <a:t>ُ</a:t>
            </a:r>
            <a:r>
              <a:rPr dirty="0" baseline="1543" sz="2700" spc="-442">
                <a:latin typeface="Arial"/>
                <a:cs typeface="Arial"/>
              </a:rPr>
              <a:t>لط</a:t>
            </a:r>
            <a:r>
              <a:rPr dirty="0" baseline="10802" sz="2700" spc="-442">
                <a:latin typeface="Arial"/>
                <a:cs typeface="Arial"/>
              </a:rPr>
              <a:t>َ    </a:t>
            </a:r>
            <a:r>
              <a:rPr dirty="0" baseline="1543" sz="2700" spc="-1320">
                <a:latin typeface="Arial"/>
                <a:cs typeface="Arial"/>
              </a:rPr>
              <a:t>صْ</a:t>
            </a:r>
            <a:r>
              <a:rPr dirty="0" baseline="1543" sz="2700" spc="1200">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532">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42">
                <a:latin typeface="Arial"/>
                <a:cs typeface="Arial"/>
              </a:rPr>
              <a:t> </a:t>
            </a:r>
            <a:r>
              <a:rPr dirty="0" baseline="10802" sz="2700" spc="-405">
                <a:latin typeface="Arial"/>
                <a:cs typeface="Arial"/>
              </a:rPr>
              <a:t>َّ</a:t>
            </a:r>
            <a:r>
              <a:rPr dirty="0" baseline="1543" sz="2700" spc="-405">
                <a:latin typeface="Arial"/>
                <a:cs typeface="Arial"/>
              </a:rPr>
              <a:t>لع</a:t>
            </a:r>
            <a:r>
              <a:rPr dirty="0" baseline="-1543" sz="2700" spc="-405">
                <a:latin typeface="Arial"/>
                <a:cs typeface="Arial"/>
              </a:rPr>
              <a:t>َ  </a:t>
            </a:r>
            <a:r>
              <a:rPr dirty="0" baseline="9259" sz="2700" spc="-405">
                <a:latin typeface="Arial"/>
                <a:cs typeface="Arial"/>
              </a:rPr>
              <a:t>َ</a:t>
            </a:r>
            <a:r>
              <a:rPr dirty="0" baseline="1543" sz="2700" spc="-405">
                <a:latin typeface="Arial"/>
                <a:cs typeface="Arial"/>
              </a:rPr>
              <a:t>ل  </a:t>
            </a:r>
            <a:r>
              <a:rPr dirty="0" baseline="1543" sz="2700" spc="-457">
                <a:latin typeface="Arial"/>
                <a:cs typeface="Arial"/>
              </a:rPr>
              <a:t>ر</a:t>
            </a:r>
            <a:r>
              <a:rPr dirty="0" baseline="-13888" sz="2700" spc="-457">
                <a:latin typeface="Arial"/>
                <a:cs typeface="Arial"/>
              </a:rPr>
              <a:t>ِ   </a:t>
            </a:r>
            <a:r>
              <a:rPr dirty="0" baseline="1543" sz="2700" spc="-322">
                <a:latin typeface="Arial"/>
                <a:cs typeface="Arial"/>
              </a:rPr>
              <a:t>ان</a:t>
            </a:r>
            <a:r>
              <a:rPr dirty="0" baseline="9259" sz="2700" spc="-322">
                <a:latin typeface="Arial"/>
                <a:cs typeface="Arial"/>
              </a:rPr>
              <a:t>َّ </a:t>
            </a:r>
            <a:r>
              <a:rPr dirty="0" baseline="1543" sz="2700" spc="-412">
                <a:latin typeface="Arial"/>
                <a:cs typeface="Arial"/>
              </a:rPr>
              <a:t>لا  </a:t>
            </a:r>
            <a:r>
              <a:rPr dirty="0" baseline="1543" sz="2700" spc="-494">
                <a:latin typeface="Arial"/>
                <a:cs typeface="Arial"/>
              </a:rPr>
              <a:t>ن</a:t>
            </a:r>
            <a:r>
              <a:rPr dirty="0" baseline="-1543" sz="2700" spc="-494">
                <a:latin typeface="Arial"/>
                <a:cs typeface="Arial"/>
              </a:rPr>
              <a:t>َ    </a:t>
            </a:r>
            <a:r>
              <a:rPr dirty="0" baseline="1543" sz="2700" spc="-352">
                <a:latin typeface="Arial"/>
                <a:cs typeface="Arial"/>
              </a:rPr>
              <a:t>م</a:t>
            </a:r>
            <a:r>
              <a:rPr dirty="0" sz="1800" spc="-235">
                <a:latin typeface="Arial"/>
                <a:cs typeface="Arial"/>
              </a:rPr>
              <a:t>ِ    </a:t>
            </a:r>
            <a:r>
              <a:rPr dirty="0" baseline="1543" sz="2700" spc="-345">
                <a:latin typeface="Arial"/>
                <a:cs typeface="Arial"/>
              </a:rPr>
              <a:t>ةٍ  </a:t>
            </a:r>
            <a:r>
              <a:rPr dirty="0" baseline="1543" sz="2700" spc="-307">
                <a:latin typeface="Arial"/>
                <a:cs typeface="Arial"/>
              </a:rPr>
              <a:t>و</a:t>
            </a:r>
            <a:r>
              <a:rPr dirty="0" baseline="-1543" sz="2700" spc="-307">
                <a:latin typeface="Arial"/>
                <a:cs typeface="Arial"/>
              </a:rPr>
              <a:t>َ </a:t>
            </a:r>
            <a:r>
              <a:rPr dirty="0" baseline="1543" sz="2700" spc="-284">
                <a:latin typeface="Arial"/>
                <a:cs typeface="Arial"/>
              </a:rPr>
              <a:t>ذ</a:t>
            </a:r>
            <a:r>
              <a:rPr dirty="0" baseline="15432" sz="2700" spc="-284">
                <a:latin typeface="Arial"/>
                <a:cs typeface="Arial"/>
              </a:rPr>
              <a:t>ْ </a:t>
            </a:r>
            <a:r>
              <a:rPr dirty="0" baseline="1543" sz="2700" spc="-592">
                <a:latin typeface="Arial"/>
                <a:cs typeface="Arial"/>
              </a:rPr>
              <a:t>ج</a:t>
            </a:r>
            <a:r>
              <a:rPr dirty="0" baseline="-1543" sz="2700" spc="-592">
                <a:latin typeface="Arial"/>
                <a:cs typeface="Arial"/>
              </a:rPr>
              <a:t>َ            </a:t>
            </a:r>
            <a:r>
              <a:rPr dirty="0" baseline="1543" sz="2700" spc="-270">
                <a:latin typeface="Arial"/>
                <a:cs typeface="Arial"/>
              </a:rPr>
              <a:t>وْ </a:t>
            </a:r>
            <a:r>
              <a:rPr dirty="0" baseline="15432" sz="2700">
                <a:latin typeface="Arial"/>
                <a:cs typeface="Arial"/>
              </a:rPr>
              <a:t>َ</a:t>
            </a:r>
            <a:r>
              <a:rPr dirty="0" baseline="1543" sz="2700">
                <a:latin typeface="Arial"/>
                <a:cs typeface="Arial"/>
              </a:rPr>
              <a:t>أ </a:t>
            </a:r>
            <a:r>
              <a:rPr dirty="0" baseline="1543" sz="2700" spc="-465">
                <a:latin typeface="Arial"/>
                <a:cs typeface="Arial"/>
              </a:rPr>
              <a:t>ر</a:t>
            </a:r>
            <a:r>
              <a:rPr dirty="0" baseline="-12345" sz="2700" spc="-465">
                <a:latin typeface="Arial"/>
                <a:cs typeface="Arial"/>
              </a:rPr>
              <a:t>ٍ   </a:t>
            </a:r>
            <a:r>
              <a:rPr dirty="0" baseline="1543" sz="2700" spc="-892">
                <a:latin typeface="Arial"/>
                <a:cs typeface="Arial"/>
              </a:rPr>
              <a:t>ب</a:t>
            </a:r>
            <a:r>
              <a:rPr dirty="0" baseline="-1543" sz="2700" spc="-892">
                <a:latin typeface="Arial"/>
                <a:cs typeface="Arial"/>
              </a:rPr>
              <a:t>َ</a:t>
            </a:r>
            <a:r>
              <a:rPr dirty="0" baseline="-1543" sz="2700" spc="-225">
                <a:latin typeface="Arial"/>
                <a:cs typeface="Arial"/>
              </a:rPr>
              <a:t> </a:t>
            </a:r>
            <a:r>
              <a:rPr dirty="0" baseline="1543" sz="2700" spc="-592">
                <a:latin typeface="Arial"/>
                <a:cs typeface="Arial"/>
              </a:rPr>
              <a:t>خ</a:t>
            </a:r>
            <a:r>
              <a:rPr dirty="0" baseline="6172" sz="2700" spc="-592">
                <a:latin typeface="Arial"/>
                <a:cs typeface="Arial"/>
              </a:rPr>
              <a:t>َ       </a:t>
            </a:r>
            <a:r>
              <a:rPr dirty="0" baseline="1543" sz="2700" spc="-967">
                <a:latin typeface="Arial"/>
                <a:cs typeface="Arial"/>
              </a:rPr>
              <a:t>ب</a:t>
            </a:r>
            <a:r>
              <a:rPr dirty="0" baseline="-12345" sz="2700" spc="-967">
                <a:latin typeface="Arial"/>
                <a:cs typeface="Arial"/>
              </a:rPr>
              <a:t>ِ</a:t>
            </a:r>
            <a:r>
              <a:rPr dirty="0" baseline="-12345" sz="2700" spc="637">
                <a:latin typeface="Arial"/>
                <a:cs typeface="Arial"/>
              </a:rPr>
              <a:t> </a:t>
            </a:r>
            <a:r>
              <a:rPr dirty="0" baseline="1543" sz="2700" spc="-202">
                <a:latin typeface="Arial"/>
                <a:cs typeface="Arial"/>
              </a:rPr>
              <a:t>اه</a:t>
            </a:r>
            <a:r>
              <a:rPr dirty="0" baseline="-1543" sz="2700" spc="-202">
                <a:latin typeface="Arial"/>
                <a:cs typeface="Arial"/>
              </a:rPr>
              <a:t>َ  </a:t>
            </a:r>
            <a:r>
              <a:rPr dirty="0" baseline="1543" sz="2700" spc="-607">
                <a:latin typeface="Arial"/>
                <a:cs typeface="Arial"/>
              </a:rPr>
              <a:t>ن</a:t>
            </a:r>
            <a:r>
              <a:rPr dirty="0" baseline="9259" sz="2700" spc="-607">
                <a:latin typeface="Arial"/>
                <a:cs typeface="Arial"/>
              </a:rPr>
              <a:t>ْ   </a:t>
            </a:r>
            <a:r>
              <a:rPr dirty="0" baseline="1543" sz="2700" spc="-254">
                <a:latin typeface="Arial"/>
                <a:cs typeface="Arial"/>
              </a:rPr>
              <a:t>مِّ   </a:t>
            </a:r>
            <a:r>
              <a:rPr dirty="0" baseline="1543" sz="2700" spc="-502">
                <a:latin typeface="Arial"/>
                <a:cs typeface="Arial"/>
              </a:rPr>
              <a:t>مك</a:t>
            </a:r>
            <a:r>
              <a:rPr dirty="0" baseline="9259" sz="2700" spc="-502">
                <a:latin typeface="Arial"/>
                <a:cs typeface="Arial"/>
              </a:rPr>
              <a:t>ُ    </a:t>
            </a:r>
            <a:r>
              <a:rPr dirty="0" baseline="1543" sz="2700" spc="-637">
                <a:latin typeface="Arial"/>
                <a:cs typeface="Arial"/>
              </a:rPr>
              <a:t>ٌت</a:t>
            </a:r>
            <a:r>
              <a:rPr dirty="0" sz="1800" spc="-425">
                <a:latin typeface="Arial"/>
                <a:cs typeface="Arial"/>
              </a:rPr>
              <a:t>ِ      </a:t>
            </a:r>
            <a:r>
              <a:rPr dirty="0" baseline="1543" sz="2700">
                <a:latin typeface="Arial"/>
                <a:cs typeface="Arial"/>
              </a:rPr>
              <a:t>آ </a:t>
            </a:r>
            <a:r>
              <a:rPr dirty="0" baseline="1543" sz="2700" spc="-345">
                <a:latin typeface="Arial"/>
                <a:cs typeface="Arial"/>
              </a:rPr>
              <a:t>ًل</a:t>
            </a:r>
            <a:r>
              <a:rPr dirty="0" baseline="12345" sz="2700" spc="-345">
                <a:latin typeface="Arial"/>
                <a:cs typeface="Arial"/>
              </a:rPr>
              <a:t>ِّ  </a:t>
            </a:r>
            <a:r>
              <a:rPr dirty="0" baseline="1543" sz="2700" spc="-600">
                <a:latin typeface="Arial"/>
                <a:cs typeface="Arial"/>
              </a:rPr>
              <a:t>ع</a:t>
            </a:r>
            <a:r>
              <a:rPr dirty="0" baseline="-1543" sz="2700" spc="-600">
                <a:latin typeface="Arial"/>
                <a:cs typeface="Arial"/>
              </a:rPr>
              <a:t>َ     </a:t>
            </a:r>
            <a:r>
              <a:rPr dirty="0" baseline="10802" sz="2700" spc="-270">
                <a:latin typeface="Arial"/>
                <a:cs typeface="Arial"/>
              </a:rPr>
              <a:t>َّ</a:t>
            </a:r>
            <a:r>
              <a:rPr dirty="0" baseline="1543" sz="2700" spc="-270">
                <a:latin typeface="Arial"/>
                <a:cs typeface="Arial"/>
              </a:rPr>
              <a:t>ل  </a:t>
            </a:r>
            <a:r>
              <a:rPr dirty="0" baseline="1543" sz="2700" spc="-330">
                <a:latin typeface="Arial"/>
                <a:cs typeface="Arial"/>
              </a:rPr>
              <a:t>ارً </a:t>
            </a:r>
            <a:r>
              <a:rPr dirty="0" baseline="1543" sz="2700" spc="-187">
                <a:latin typeface="Arial"/>
                <a:cs typeface="Arial"/>
              </a:rPr>
              <a:t> </a:t>
            </a:r>
            <a:r>
              <a:rPr dirty="0" baseline="1543" sz="2700" spc="-622">
                <a:latin typeface="Arial"/>
                <a:cs typeface="Arial"/>
              </a:rPr>
              <a:t>ان</a:t>
            </a:r>
            <a:endParaRPr baseline="1543" sz="2700">
              <a:latin typeface="Arial"/>
              <a:cs typeface="Arial"/>
            </a:endParaRPr>
          </a:p>
          <a:p>
            <a:pPr algn="just" marL="149225" marR="130810">
              <a:lnSpc>
                <a:spcPct val="95900"/>
              </a:lnSpc>
              <a:spcBef>
                <a:spcPts val="1355"/>
              </a:spcBef>
              <a:buAutoNum type="arabicPeriod" startAt="29"/>
              <a:tabLst>
                <a:tab pos="405130" algn="l"/>
              </a:tabLst>
            </a:pPr>
            <a:r>
              <a:rPr dirty="0" sz="1200" spc="-5">
                <a:latin typeface="Arial"/>
                <a:cs typeface="Arial"/>
              </a:rPr>
              <a:t>Then, when Moses had </a:t>
            </a:r>
            <a:r>
              <a:rPr dirty="0" sz="1200">
                <a:latin typeface="Arial"/>
                <a:cs typeface="Arial"/>
              </a:rPr>
              <a:t>fulfilled </a:t>
            </a:r>
            <a:r>
              <a:rPr dirty="0" sz="1200" spc="-5">
                <a:latin typeface="Arial"/>
                <a:cs typeface="Arial"/>
              </a:rPr>
              <a:t>the term, and </a:t>
            </a:r>
            <a:r>
              <a:rPr dirty="0" sz="1200" spc="-10">
                <a:latin typeface="Arial"/>
                <a:cs typeface="Arial"/>
              </a:rPr>
              <a:t>was </a:t>
            </a:r>
            <a:r>
              <a:rPr dirty="0" sz="1200" spc="-5">
                <a:latin typeface="Arial"/>
                <a:cs typeface="Arial"/>
              </a:rPr>
              <a:t>traveling with his house </a:t>
            </a:r>
            <a:r>
              <a:rPr dirty="0" sz="1200">
                <a:latin typeface="Arial"/>
                <a:cs typeface="Arial"/>
              </a:rPr>
              <a:t>folk, </a:t>
            </a:r>
            <a:r>
              <a:rPr dirty="0" sz="1200" spc="-5">
                <a:latin typeface="Arial"/>
                <a:cs typeface="Arial"/>
              </a:rPr>
              <a:t>he saw in  </a:t>
            </a:r>
            <a:r>
              <a:rPr dirty="0" sz="1200">
                <a:latin typeface="Arial"/>
                <a:cs typeface="Arial"/>
              </a:rPr>
              <a:t>the </a:t>
            </a:r>
            <a:r>
              <a:rPr dirty="0" sz="1200" spc="-5">
                <a:latin typeface="Arial"/>
                <a:cs typeface="Arial"/>
              </a:rPr>
              <a:t>distance a fire and said unto </a:t>
            </a:r>
            <a:r>
              <a:rPr dirty="0" sz="1200">
                <a:latin typeface="Arial"/>
                <a:cs typeface="Arial"/>
              </a:rPr>
              <a:t>his </a:t>
            </a:r>
            <a:r>
              <a:rPr dirty="0" sz="1200" spc="-5">
                <a:latin typeface="Arial"/>
                <a:cs typeface="Arial"/>
              </a:rPr>
              <a:t>house </a:t>
            </a:r>
            <a:r>
              <a:rPr dirty="0" sz="1200">
                <a:latin typeface="Arial"/>
                <a:cs typeface="Arial"/>
              </a:rPr>
              <a:t>folk: </a:t>
            </a:r>
            <a:r>
              <a:rPr dirty="0" sz="1200" spc="-5">
                <a:latin typeface="Arial"/>
                <a:cs typeface="Arial"/>
              </a:rPr>
              <a:t>Bide </a:t>
            </a:r>
            <a:r>
              <a:rPr dirty="0" sz="1200" spc="-10">
                <a:latin typeface="Arial"/>
                <a:cs typeface="Arial"/>
              </a:rPr>
              <a:t>ye </a:t>
            </a:r>
            <a:r>
              <a:rPr dirty="0" sz="1200" spc="-5">
                <a:latin typeface="Arial"/>
                <a:cs typeface="Arial"/>
              </a:rPr>
              <a:t>(here). Lo! </a:t>
            </a:r>
            <a:r>
              <a:rPr dirty="0" sz="1200">
                <a:latin typeface="Arial"/>
                <a:cs typeface="Arial"/>
              </a:rPr>
              <a:t>I </a:t>
            </a:r>
            <a:r>
              <a:rPr dirty="0" sz="1200" spc="-10">
                <a:latin typeface="Arial"/>
                <a:cs typeface="Arial"/>
              </a:rPr>
              <a:t>see </a:t>
            </a:r>
            <a:r>
              <a:rPr dirty="0" sz="1200" spc="-5">
                <a:latin typeface="Arial"/>
                <a:cs typeface="Arial"/>
              </a:rPr>
              <a:t>in the distance a  </a:t>
            </a:r>
            <a:r>
              <a:rPr dirty="0" sz="1200">
                <a:latin typeface="Arial"/>
                <a:cs typeface="Arial"/>
              </a:rPr>
              <a:t>fire; </a:t>
            </a:r>
            <a:r>
              <a:rPr dirty="0" sz="1200" spc="-5">
                <a:latin typeface="Arial"/>
                <a:cs typeface="Arial"/>
              </a:rPr>
              <a:t>peradventure </a:t>
            </a:r>
            <a:r>
              <a:rPr dirty="0" sz="1200">
                <a:latin typeface="Arial"/>
                <a:cs typeface="Arial"/>
              </a:rPr>
              <a:t>I </a:t>
            </a:r>
            <a:r>
              <a:rPr dirty="0" sz="1200" spc="-10">
                <a:latin typeface="Arial"/>
                <a:cs typeface="Arial"/>
              </a:rPr>
              <a:t>shall </a:t>
            </a:r>
            <a:r>
              <a:rPr dirty="0" sz="1200" spc="-5">
                <a:latin typeface="Arial"/>
                <a:cs typeface="Arial"/>
              </a:rPr>
              <a:t>bring </a:t>
            </a:r>
            <a:r>
              <a:rPr dirty="0" sz="1200" spc="-10">
                <a:latin typeface="Arial"/>
                <a:cs typeface="Arial"/>
              </a:rPr>
              <a:t>you </a:t>
            </a:r>
            <a:r>
              <a:rPr dirty="0" sz="1200" spc="-5">
                <a:latin typeface="Arial"/>
                <a:cs typeface="Arial"/>
              </a:rPr>
              <a:t>tidings hence, or a brand from the fire that </a:t>
            </a:r>
            <a:r>
              <a:rPr dirty="0" sz="1200" spc="-10">
                <a:latin typeface="Arial"/>
                <a:cs typeface="Arial"/>
              </a:rPr>
              <a:t>you </a:t>
            </a:r>
            <a:r>
              <a:rPr dirty="0" sz="1200">
                <a:latin typeface="Arial"/>
                <a:cs typeface="Arial"/>
              </a:rPr>
              <a:t>may </a:t>
            </a:r>
            <a:r>
              <a:rPr dirty="0" sz="1200" spc="-5">
                <a:latin typeface="Arial"/>
                <a:cs typeface="Arial"/>
              </a:rPr>
              <a:t>warm  yourselves.</a:t>
            </a:r>
            <a:endParaRPr sz="1200">
              <a:latin typeface="Arial"/>
              <a:cs typeface="Arial"/>
            </a:endParaRPr>
          </a:p>
          <a:p>
            <a:pPr>
              <a:lnSpc>
                <a:spcPct val="100000"/>
              </a:lnSpc>
              <a:buFont typeface="Arial"/>
              <a:buAutoNum type="arabicPeriod" startAt="29"/>
            </a:pPr>
            <a:endParaRPr sz="1200">
              <a:latin typeface="Arial"/>
              <a:cs typeface="Arial"/>
            </a:endParaRPr>
          </a:p>
          <a:p>
            <a:pPr algn="r" marR="186690">
              <a:lnSpc>
                <a:spcPts val="2110"/>
              </a:lnSpc>
            </a:pPr>
            <a:r>
              <a:rPr dirty="0" baseline="3086" sz="2700" spc="-705">
                <a:latin typeface="Arial"/>
                <a:cs typeface="Arial"/>
              </a:rPr>
              <a:t>ىس</a:t>
            </a:r>
            <a:r>
              <a:rPr dirty="0" sz="1800" spc="-470">
                <a:latin typeface="Arial"/>
                <a:cs typeface="Arial"/>
              </a:rPr>
              <a:t>َ </a:t>
            </a:r>
            <a:r>
              <a:rPr dirty="0" baseline="3086" sz="2700" spc="-270">
                <a:latin typeface="Arial"/>
                <a:cs typeface="Arial"/>
              </a:rPr>
              <a:t>ومُ </a:t>
            </a:r>
            <a:r>
              <a:rPr dirty="0" baseline="3086" sz="2700" spc="15">
                <a:latin typeface="Arial"/>
                <a:cs typeface="Arial"/>
              </a:rPr>
              <a:t>اٌ</a:t>
            </a:r>
            <a:r>
              <a:rPr dirty="0" sz="1800" spc="10">
                <a:latin typeface="Arial"/>
                <a:cs typeface="Arial"/>
              </a:rPr>
              <a:t>َ </a:t>
            </a:r>
            <a:r>
              <a:rPr dirty="0" baseline="3086" sz="2700" spc="-15">
                <a:latin typeface="Arial"/>
                <a:cs typeface="Arial"/>
              </a:rPr>
              <a:t>ن</a:t>
            </a:r>
            <a:r>
              <a:rPr dirty="0" baseline="16975" sz="2700" spc="-15">
                <a:latin typeface="Arial"/>
                <a:cs typeface="Arial"/>
              </a:rPr>
              <a:t>َ</a:t>
            </a:r>
            <a:r>
              <a:rPr dirty="0" baseline="3086" sz="2700" spc="-15">
                <a:latin typeface="Arial"/>
                <a:cs typeface="Arial"/>
              </a:rPr>
              <a:t>أ </a:t>
            </a:r>
            <a:r>
              <a:rPr dirty="0" baseline="3086" sz="2700" spc="-337">
                <a:latin typeface="Arial"/>
                <a:cs typeface="Arial"/>
              </a:rPr>
              <a:t>ة</a:t>
            </a:r>
            <a:r>
              <a:rPr dirty="0" baseline="1543" sz="2700" spc="-337">
                <a:latin typeface="Arial"/>
                <a:cs typeface="Arial"/>
              </a:rPr>
              <a:t>ِ </a:t>
            </a:r>
            <a:r>
              <a:rPr dirty="0" baseline="3086" sz="2700" spc="-494">
                <a:latin typeface="Arial"/>
                <a:cs typeface="Arial"/>
              </a:rPr>
              <a:t>ر</a:t>
            </a:r>
            <a:r>
              <a:rPr dirty="0" sz="1800" spc="-330">
                <a:latin typeface="Arial"/>
                <a:cs typeface="Arial"/>
              </a:rPr>
              <a:t>َ </a:t>
            </a:r>
            <a:r>
              <a:rPr dirty="0" baseline="3086" sz="2700" spc="-592">
                <a:latin typeface="Arial"/>
                <a:cs typeface="Arial"/>
              </a:rPr>
              <a:t>ج</a:t>
            </a:r>
            <a:r>
              <a:rPr dirty="0" sz="1800" spc="-395">
                <a:latin typeface="Arial"/>
                <a:cs typeface="Arial"/>
              </a:rPr>
              <a:t>َ </a:t>
            </a:r>
            <a:r>
              <a:rPr dirty="0" baseline="3086" sz="2700" spc="-705">
                <a:latin typeface="Arial"/>
                <a:cs typeface="Arial"/>
              </a:rPr>
              <a:t>ش</a:t>
            </a:r>
            <a:r>
              <a:rPr dirty="0" baseline="10802" sz="2700" spc="-705">
                <a:latin typeface="Arial"/>
                <a:cs typeface="Arial"/>
              </a:rPr>
              <a:t>َّ </a:t>
            </a:r>
            <a:r>
              <a:rPr dirty="0" baseline="3086" sz="2700" spc="-412">
                <a:latin typeface="Arial"/>
                <a:cs typeface="Arial"/>
              </a:rPr>
              <a:t>لا </a:t>
            </a:r>
            <a:r>
              <a:rPr dirty="0" baseline="3086" sz="2700" spc="-487">
                <a:latin typeface="Arial"/>
                <a:cs typeface="Arial"/>
              </a:rPr>
              <a:t>ن</a:t>
            </a:r>
            <a:r>
              <a:rPr dirty="0" sz="1800" spc="-325">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337">
                <a:latin typeface="Arial"/>
                <a:cs typeface="Arial"/>
              </a:rPr>
              <a:t>ة</a:t>
            </a:r>
            <a:r>
              <a:rPr dirty="0" baseline="1543" sz="2700" spc="-337">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494">
                <a:latin typeface="Arial"/>
                <a:cs typeface="Arial"/>
              </a:rPr>
              <a:t>ر</a:t>
            </a:r>
            <a:r>
              <a:rPr dirty="0" sz="1800" spc="-330">
                <a:latin typeface="Arial"/>
                <a:cs typeface="Arial"/>
              </a:rPr>
              <a:t>َ </a:t>
            </a:r>
            <a:r>
              <a:rPr dirty="0" baseline="3086" sz="2700" spc="-585">
                <a:latin typeface="Arial"/>
                <a:cs typeface="Arial"/>
              </a:rPr>
              <a:t>اب</a:t>
            </a:r>
            <a:r>
              <a:rPr dirty="0" sz="1800" spc="-390">
                <a:latin typeface="Arial"/>
                <a:cs typeface="Arial"/>
              </a:rPr>
              <a:t>َ </a:t>
            </a:r>
            <a:r>
              <a:rPr dirty="0" baseline="3086" sz="2700" spc="-397">
                <a:latin typeface="Arial"/>
                <a:cs typeface="Arial"/>
              </a:rPr>
              <a:t>مُ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337">
                <a:latin typeface="Arial"/>
                <a:cs typeface="Arial"/>
              </a:rPr>
              <a:t>ة</a:t>
            </a:r>
            <a:r>
              <a:rPr dirty="0" baseline="1543" sz="2700" spc="-337">
                <a:latin typeface="Arial"/>
                <a:cs typeface="Arial"/>
              </a:rPr>
              <a:t>ِ </a:t>
            </a:r>
            <a:r>
              <a:rPr dirty="0" baseline="3086" sz="2700" spc="-600">
                <a:latin typeface="Arial"/>
                <a:cs typeface="Arial"/>
              </a:rPr>
              <a:t>ع</a:t>
            </a:r>
            <a:r>
              <a:rPr dirty="0" sz="1800" spc="-400">
                <a:latin typeface="Arial"/>
                <a:cs typeface="Arial"/>
              </a:rPr>
              <a:t>َ </a:t>
            </a:r>
            <a:r>
              <a:rPr dirty="0" baseline="3086" sz="2700" spc="-719">
                <a:latin typeface="Arial"/>
                <a:cs typeface="Arial"/>
              </a:rPr>
              <a:t>ق</a:t>
            </a:r>
            <a:r>
              <a:rPr dirty="0" baseline="12345" sz="2700" spc="-719">
                <a:latin typeface="Arial"/>
                <a:cs typeface="Arial"/>
              </a:rPr>
              <a:t>ْ </a:t>
            </a:r>
            <a:r>
              <a:rPr dirty="0" baseline="3086" sz="2700" spc="-930">
                <a:latin typeface="Arial"/>
                <a:cs typeface="Arial"/>
              </a:rPr>
              <a:t>بُ</a:t>
            </a:r>
            <a:r>
              <a:rPr dirty="0" baseline="3086" sz="2700" spc="-157">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705">
                <a:latin typeface="Arial"/>
                <a:cs typeface="Arial"/>
              </a:rPr>
              <a:t>ًف</a:t>
            </a:r>
            <a:r>
              <a:rPr dirty="0" baseline="1543" sz="2700" spc="-705">
                <a:latin typeface="Arial"/>
                <a:cs typeface="Arial"/>
              </a:rPr>
              <a:t>ِ </a:t>
            </a:r>
            <a:r>
              <a:rPr dirty="0" baseline="3086" sz="2700" spc="-615">
                <a:latin typeface="Arial"/>
                <a:cs typeface="Arial"/>
              </a:rPr>
              <a:t>ن</a:t>
            </a:r>
            <a:r>
              <a:rPr dirty="0" baseline="-10802" sz="2700" spc="-615">
                <a:latin typeface="Arial"/>
                <a:cs typeface="Arial"/>
              </a:rPr>
              <a:t>ِ </a:t>
            </a:r>
            <a:r>
              <a:rPr dirty="0" baseline="3086" sz="2700" spc="-359">
                <a:latin typeface="Arial"/>
                <a:cs typeface="Arial"/>
              </a:rPr>
              <a:t>م</a:t>
            </a:r>
            <a:r>
              <a:rPr dirty="0" sz="1800" spc="-240">
                <a:latin typeface="Arial"/>
                <a:cs typeface="Arial"/>
              </a:rPr>
              <a:t>َ </a:t>
            </a:r>
            <a:r>
              <a:rPr dirty="0" baseline="3086" sz="2700">
                <a:latin typeface="Arial"/>
                <a:cs typeface="Arial"/>
              </a:rPr>
              <a:t>ٌْ </a:t>
            </a:r>
            <a:r>
              <a:rPr dirty="0" baseline="16975" sz="2700" spc="-359">
                <a:latin typeface="Arial"/>
                <a:cs typeface="Arial"/>
              </a:rPr>
              <a:t>َ</a:t>
            </a:r>
            <a:r>
              <a:rPr dirty="0" baseline="3086" sz="2700" spc="-359">
                <a:latin typeface="Arial"/>
                <a:cs typeface="Arial"/>
              </a:rPr>
              <a:t>لأ</a:t>
            </a:r>
            <a:r>
              <a:rPr dirty="0" baseline="13888" sz="2700" spc="-359">
                <a:latin typeface="Arial"/>
                <a:cs typeface="Arial"/>
              </a:rPr>
              <a:t>ْ </a:t>
            </a:r>
            <a:r>
              <a:rPr dirty="0" baseline="3086" sz="2700">
                <a:latin typeface="Arial"/>
                <a:cs typeface="Arial"/>
              </a:rPr>
              <a:t>ا </a:t>
            </a:r>
            <a:r>
              <a:rPr dirty="0" baseline="3086" sz="2700" spc="-232">
                <a:latin typeface="Arial"/>
                <a:cs typeface="Arial"/>
              </a:rPr>
              <a:t>يد</a:t>
            </a:r>
            <a:r>
              <a:rPr dirty="0" baseline="1543" sz="2700" spc="-232">
                <a:latin typeface="Arial"/>
                <a:cs typeface="Arial"/>
              </a:rPr>
              <a:t>ِ </a:t>
            </a:r>
            <a:r>
              <a:rPr dirty="0" baseline="3086" sz="2700" spc="-209">
                <a:latin typeface="Arial"/>
                <a:cs typeface="Arial"/>
              </a:rPr>
              <a:t>او</a:t>
            </a:r>
            <a:r>
              <a:rPr dirty="0" sz="1800" spc="-1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817">
                <a:latin typeface="Arial"/>
                <a:cs typeface="Arial"/>
              </a:rPr>
              <a:t>ئ</a:t>
            </a:r>
            <a:r>
              <a:rPr dirty="0" baseline="-10802" sz="2700" spc="-817">
                <a:latin typeface="Arial"/>
                <a:cs typeface="Arial"/>
              </a:rPr>
              <a:t>ِ</a:t>
            </a:r>
            <a:r>
              <a:rPr dirty="0" baseline="-10802" sz="2700" spc="750">
                <a:latin typeface="Arial"/>
                <a:cs typeface="Arial"/>
              </a:rPr>
              <a:t> </a:t>
            </a:r>
            <a:r>
              <a:rPr dirty="0" baseline="3086" sz="2700" spc="-585">
                <a:latin typeface="Arial"/>
                <a:cs typeface="Arial"/>
              </a:rPr>
              <a:t>ط</a:t>
            </a:r>
            <a:r>
              <a:rPr dirty="0" baseline="1543" sz="2700" spc="-585">
                <a:latin typeface="Arial"/>
                <a:cs typeface="Arial"/>
              </a:rPr>
              <a:t>ِ </a:t>
            </a:r>
            <a:r>
              <a:rPr dirty="0" baseline="3086" sz="2700" spc="-690">
                <a:latin typeface="Arial"/>
                <a:cs typeface="Arial"/>
              </a:rPr>
              <a:t>اش</a:t>
            </a:r>
            <a:r>
              <a:rPr dirty="0" baseline="7716" sz="2700" spc="-690">
                <a:latin typeface="Arial"/>
                <a:cs typeface="Arial"/>
              </a:rPr>
              <a:t>َ </a:t>
            </a:r>
            <a:r>
              <a:rPr dirty="0" baseline="3086" sz="2700" spc="-240">
                <a:latin typeface="Arial"/>
                <a:cs typeface="Arial"/>
              </a:rPr>
              <a:t>نم</a:t>
            </a:r>
            <a:r>
              <a:rPr dirty="0" baseline="1543" sz="2700" spc="-240">
                <a:latin typeface="Arial"/>
                <a:cs typeface="Arial"/>
              </a:rPr>
              <a:t>ِ </a:t>
            </a:r>
            <a:r>
              <a:rPr dirty="0" baseline="3086" sz="2700" spc="-240">
                <a:latin typeface="Arial"/>
                <a:cs typeface="Arial"/>
              </a:rPr>
              <a:t>يد</a:t>
            </a:r>
            <a:r>
              <a:rPr dirty="0" baseline="1543" sz="2700" spc="-240">
                <a:latin typeface="Arial"/>
                <a:cs typeface="Arial"/>
              </a:rPr>
              <a:t>ِ </a:t>
            </a:r>
            <a:r>
              <a:rPr dirty="0" baseline="3086" sz="2700" spc="-457">
                <a:latin typeface="Arial"/>
                <a:cs typeface="Arial"/>
              </a:rPr>
              <a:t>ون</a:t>
            </a:r>
            <a:r>
              <a:rPr dirty="0" baseline="10802" sz="2700" spc="-457">
                <a:latin typeface="Arial"/>
                <a:cs typeface="Arial"/>
              </a:rPr>
              <a:t>ُ  </a:t>
            </a:r>
            <a:r>
              <a:rPr dirty="0" baseline="3086" sz="2700" spc="-165">
                <a:latin typeface="Arial"/>
                <a:cs typeface="Arial"/>
              </a:rPr>
              <a:t>اه</a:t>
            </a:r>
            <a:r>
              <a:rPr dirty="0" sz="1800" spc="-110">
                <a:latin typeface="Arial"/>
                <a:cs typeface="Arial"/>
              </a:rPr>
              <a:t>َ </a:t>
            </a:r>
            <a:r>
              <a:rPr dirty="0" baseline="3086" sz="2700" spc="-585">
                <a:latin typeface="Arial"/>
                <a:cs typeface="Arial"/>
              </a:rPr>
              <a:t>ات</a:t>
            </a:r>
            <a:r>
              <a:rPr dirty="0" baseline="7716" sz="2700" spc="-585">
                <a:latin typeface="Arial"/>
                <a:cs typeface="Arial"/>
              </a:rPr>
              <a:t>َ </a:t>
            </a:r>
            <a:r>
              <a:rPr dirty="0" baseline="16975" sz="2700">
                <a:latin typeface="Arial"/>
                <a:cs typeface="Arial"/>
              </a:rPr>
              <a:t>َ</a:t>
            </a:r>
            <a:r>
              <a:rPr dirty="0" baseline="3086" sz="2700">
                <a:latin typeface="Arial"/>
                <a:cs typeface="Arial"/>
              </a:rPr>
              <a:t>أ </a:t>
            </a:r>
            <a:r>
              <a:rPr dirty="0" baseline="3086" sz="2700" spc="-179">
                <a:latin typeface="Arial"/>
                <a:cs typeface="Arial"/>
              </a:rPr>
              <a:t>امَّ</a:t>
            </a:r>
            <a:r>
              <a:rPr dirty="0" baseline="3086" sz="2700" spc="-315">
                <a:latin typeface="Arial"/>
                <a:cs typeface="Arial"/>
              </a:rPr>
              <a:t> </a:t>
            </a:r>
            <a:r>
              <a:rPr dirty="0" baseline="10802" sz="2700" spc="-960">
                <a:latin typeface="Arial"/>
                <a:cs typeface="Arial"/>
              </a:rPr>
              <a:t>َ</a:t>
            </a:r>
            <a:r>
              <a:rPr dirty="0" baseline="3086" sz="2700" spc="-960">
                <a:latin typeface="Arial"/>
                <a:cs typeface="Arial"/>
              </a:rPr>
              <a:t>لف</a:t>
            </a:r>
            <a:endParaRPr baseline="3086" sz="2700">
              <a:latin typeface="Arial"/>
              <a:cs typeface="Arial"/>
            </a:endParaRPr>
          </a:p>
          <a:p>
            <a:pPr algn="r" marR="131445">
              <a:lnSpc>
                <a:spcPts val="2110"/>
              </a:lnSpc>
            </a:pPr>
            <a:r>
              <a:rPr dirty="0" baseline="3086" sz="2700" spc="-494">
                <a:latin typeface="Arial"/>
                <a:cs typeface="Arial"/>
              </a:rPr>
              <a:t>ن</a:t>
            </a:r>
            <a:r>
              <a:rPr dirty="0" sz="1800" spc="-330">
                <a:latin typeface="Arial"/>
                <a:cs typeface="Arial"/>
              </a:rPr>
              <a:t>َ </a:t>
            </a:r>
            <a:r>
              <a:rPr dirty="0" baseline="3086" sz="2700" spc="-240">
                <a:latin typeface="Arial"/>
                <a:cs typeface="Arial"/>
              </a:rPr>
              <a:t>ٌم</a:t>
            </a:r>
            <a:r>
              <a:rPr dirty="0" baseline="1543" sz="2700" spc="-240">
                <a:latin typeface="Arial"/>
                <a:cs typeface="Arial"/>
              </a:rPr>
              <a:t>ِ </a:t>
            </a:r>
            <a:r>
              <a:rPr dirty="0" baseline="10802" sz="2700" spc="-397">
                <a:latin typeface="Arial"/>
                <a:cs typeface="Arial"/>
              </a:rPr>
              <a:t>َ</a:t>
            </a:r>
            <a:r>
              <a:rPr dirty="0" baseline="3086" sz="2700" spc="-397">
                <a:latin typeface="Arial"/>
                <a:cs typeface="Arial"/>
              </a:rPr>
              <a:t>لاع</a:t>
            </a:r>
            <a:r>
              <a:rPr dirty="0" sz="1800" spc="-26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525">
                <a:latin typeface="Arial"/>
                <a:cs typeface="Arial"/>
              </a:rPr>
              <a:t>بُّ </a:t>
            </a:r>
            <a:r>
              <a:rPr dirty="0" baseline="3086" sz="2700" spc="-494">
                <a:latin typeface="Arial"/>
                <a:cs typeface="Arial"/>
              </a:rPr>
              <a:t>ر</a:t>
            </a:r>
            <a:r>
              <a:rPr dirty="0" sz="1800" spc="-330">
                <a:latin typeface="Arial"/>
                <a:cs typeface="Arial"/>
              </a:rPr>
              <a:t>َ </a:t>
            </a:r>
            <a:r>
              <a:rPr dirty="0" baseline="-4629" sz="2700" spc="-600">
                <a:latin typeface="Arial"/>
                <a:cs typeface="Arial"/>
              </a:rPr>
              <a:t>ُ</a:t>
            </a:r>
            <a:r>
              <a:rPr dirty="0" baseline="3086" sz="2700" spc="-600">
                <a:latin typeface="Arial"/>
                <a:cs typeface="Arial"/>
              </a:rPr>
              <a:t>اللَّ</a:t>
            </a:r>
            <a:r>
              <a:rPr dirty="0" baseline="15432" sz="2700" spc="-600">
                <a:latin typeface="Arial"/>
                <a:cs typeface="Arial"/>
              </a:rPr>
              <a:t>َّ </a:t>
            </a:r>
            <a:r>
              <a:rPr dirty="0" baseline="3086" sz="2700" spc="-412">
                <a:latin typeface="Arial"/>
                <a:cs typeface="Arial"/>
              </a:rPr>
              <a:t>ان</a:t>
            </a:r>
            <a:r>
              <a:rPr dirty="0" baseline="7716" sz="2700" spc="-412">
                <a:latin typeface="Arial"/>
                <a:cs typeface="Arial"/>
              </a:rPr>
              <a:t>َ </a:t>
            </a:r>
            <a:r>
              <a:rPr dirty="0" baseline="16975" sz="2700">
                <a:latin typeface="Arial"/>
                <a:cs typeface="Arial"/>
              </a:rPr>
              <a:t>َ</a:t>
            </a:r>
            <a:r>
              <a:rPr dirty="0" baseline="3086" sz="2700">
                <a:latin typeface="Arial"/>
                <a:cs typeface="Arial"/>
              </a:rPr>
              <a:t>أ </a:t>
            </a:r>
            <a:r>
              <a:rPr dirty="0" baseline="3086" sz="2700" spc="-330">
                <a:latin typeface="Arial"/>
                <a:cs typeface="Arial"/>
              </a:rPr>
              <a:t>ًن</a:t>
            </a:r>
            <a:r>
              <a:rPr dirty="0" baseline="10802" sz="2700" spc="-330">
                <a:latin typeface="Arial"/>
                <a:cs typeface="Arial"/>
              </a:rPr>
              <a:t>ِّ</a:t>
            </a:r>
            <a:r>
              <a:rPr dirty="0" baseline="10802" sz="2700" spc="-135">
                <a:latin typeface="Arial"/>
                <a:cs typeface="Arial"/>
              </a:rPr>
              <a:t> </a:t>
            </a:r>
            <a:r>
              <a:rPr dirty="0" baseline="-10802" sz="2700">
                <a:latin typeface="Arial"/>
                <a:cs typeface="Arial"/>
              </a:rPr>
              <a:t>ِ</a:t>
            </a:r>
            <a:r>
              <a:rPr dirty="0" baseline="3086" sz="2700">
                <a:latin typeface="Arial"/>
                <a:cs typeface="Arial"/>
              </a:rPr>
              <a:t>إ</a:t>
            </a:r>
            <a:endParaRPr baseline="3086" sz="2700">
              <a:latin typeface="Arial"/>
              <a:cs typeface="Arial"/>
            </a:endParaRPr>
          </a:p>
          <a:p>
            <a:pPr algn="just" marL="149225" marR="139065">
              <a:lnSpc>
                <a:spcPts val="1380"/>
              </a:lnSpc>
              <a:spcBef>
                <a:spcPts val="1330"/>
              </a:spcBef>
              <a:buAutoNum type="arabicPeriod" startAt="30"/>
              <a:tabLst>
                <a:tab pos="422275" algn="l"/>
              </a:tabLst>
            </a:pPr>
            <a:r>
              <a:rPr dirty="0" sz="1200" spc="-5">
                <a:latin typeface="Arial"/>
                <a:cs typeface="Arial"/>
              </a:rPr>
              <a:t>And when he reached </a:t>
            </a:r>
            <a:r>
              <a:rPr dirty="0" sz="1200">
                <a:latin typeface="Arial"/>
                <a:cs typeface="Arial"/>
              </a:rPr>
              <a:t>it, </a:t>
            </a:r>
            <a:r>
              <a:rPr dirty="0" sz="1200" spc="-5">
                <a:latin typeface="Arial"/>
                <a:cs typeface="Arial"/>
              </a:rPr>
              <a:t>he </a:t>
            </a:r>
            <a:r>
              <a:rPr dirty="0" sz="1200" spc="-10">
                <a:latin typeface="Arial"/>
                <a:cs typeface="Arial"/>
              </a:rPr>
              <a:t>was </a:t>
            </a:r>
            <a:r>
              <a:rPr dirty="0" sz="1200" spc="-5">
                <a:latin typeface="Arial"/>
                <a:cs typeface="Arial"/>
              </a:rPr>
              <a:t>called </a:t>
            </a:r>
            <a:r>
              <a:rPr dirty="0" sz="1200">
                <a:latin typeface="Arial"/>
                <a:cs typeface="Arial"/>
              </a:rPr>
              <a:t>from the </a:t>
            </a:r>
            <a:r>
              <a:rPr dirty="0" sz="1200" spc="-5">
                <a:latin typeface="Arial"/>
                <a:cs typeface="Arial"/>
              </a:rPr>
              <a:t>right side of </a:t>
            </a:r>
            <a:r>
              <a:rPr dirty="0" sz="1200">
                <a:latin typeface="Arial"/>
                <a:cs typeface="Arial"/>
              </a:rPr>
              <a:t>the </a:t>
            </a:r>
            <a:r>
              <a:rPr dirty="0" sz="1200" spc="-5">
                <a:latin typeface="Arial"/>
                <a:cs typeface="Arial"/>
              </a:rPr>
              <a:t>valley in </a:t>
            </a:r>
            <a:r>
              <a:rPr dirty="0" sz="1200">
                <a:latin typeface="Arial"/>
                <a:cs typeface="Arial"/>
              </a:rPr>
              <a:t>the </a:t>
            </a:r>
            <a:r>
              <a:rPr dirty="0" sz="1200" spc="-5">
                <a:latin typeface="Arial"/>
                <a:cs typeface="Arial"/>
              </a:rPr>
              <a:t>blessed  field, from the </a:t>
            </a:r>
            <a:r>
              <a:rPr dirty="0" sz="1200">
                <a:latin typeface="Arial"/>
                <a:cs typeface="Arial"/>
              </a:rPr>
              <a:t>tree: O </a:t>
            </a:r>
            <a:r>
              <a:rPr dirty="0" sz="1200" spc="-5">
                <a:latin typeface="Arial"/>
                <a:cs typeface="Arial"/>
              </a:rPr>
              <a:t>Moses! Lo! </a:t>
            </a:r>
            <a:r>
              <a:rPr dirty="0" sz="1200">
                <a:latin typeface="Arial"/>
                <a:cs typeface="Arial"/>
              </a:rPr>
              <a:t>I, </a:t>
            </a:r>
            <a:r>
              <a:rPr dirty="0" sz="1200" spc="-5">
                <a:latin typeface="Arial"/>
                <a:cs typeface="Arial"/>
              </a:rPr>
              <a:t>even </a:t>
            </a:r>
            <a:r>
              <a:rPr dirty="0" sz="1200">
                <a:latin typeface="Arial"/>
                <a:cs typeface="Arial"/>
              </a:rPr>
              <a:t>I, </a:t>
            </a:r>
            <a:r>
              <a:rPr dirty="0" sz="1200" spc="-5">
                <a:latin typeface="Arial"/>
                <a:cs typeface="Arial"/>
              </a:rPr>
              <a:t>am Allah, the Lord of </a:t>
            </a:r>
            <a:r>
              <a:rPr dirty="0" sz="1200" spc="-10">
                <a:latin typeface="Arial"/>
                <a:cs typeface="Arial"/>
              </a:rPr>
              <a:t>the</a:t>
            </a:r>
            <a:r>
              <a:rPr dirty="0" sz="1200" spc="10">
                <a:latin typeface="Arial"/>
                <a:cs typeface="Arial"/>
              </a:rPr>
              <a:t> </a:t>
            </a:r>
            <a:r>
              <a:rPr dirty="0" sz="1200">
                <a:latin typeface="Arial"/>
                <a:cs typeface="Arial"/>
              </a:rPr>
              <a:t>Worlds;</a:t>
            </a:r>
            <a:endParaRPr sz="1200">
              <a:latin typeface="Arial"/>
              <a:cs typeface="Arial"/>
            </a:endParaRPr>
          </a:p>
          <a:p>
            <a:pPr>
              <a:lnSpc>
                <a:spcPct val="100000"/>
              </a:lnSpc>
              <a:spcBef>
                <a:spcPts val="55"/>
              </a:spcBef>
              <a:buFont typeface="Arial"/>
              <a:buAutoNum type="arabicPeriod" startAt="30"/>
            </a:pPr>
            <a:endParaRPr sz="1050">
              <a:latin typeface="Arial"/>
              <a:cs typeface="Arial"/>
            </a:endParaRPr>
          </a:p>
          <a:p>
            <a:pPr algn="r" marR="182880">
              <a:lnSpc>
                <a:spcPts val="2155"/>
              </a:lnSpc>
            </a:pPr>
            <a:r>
              <a:rPr dirty="0" sz="1800" spc="-395">
                <a:latin typeface="Arial"/>
                <a:cs typeface="Arial"/>
              </a:rPr>
              <a:t>ؾ</a:t>
            </a:r>
            <a:r>
              <a:rPr dirty="0" baseline="1543" sz="2700" spc="-592">
                <a:latin typeface="Arial"/>
                <a:cs typeface="Arial"/>
              </a:rPr>
              <a:t>ْ </a:t>
            </a:r>
            <a:r>
              <a:rPr dirty="0" sz="1800" spc="-395">
                <a:latin typeface="Arial"/>
                <a:cs typeface="Arial"/>
              </a:rPr>
              <a:t>خ</a:t>
            </a:r>
            <a:r>
              <a:rPr dirty="0" baseline="6172" sz="2700" spc="-592">
                <a:latin typeface="Arial"/>
                <a:cs typeface="Arial"/>
              </a:rPr>
              <a:t>َ </a:t>
            </a:r>
            <a:r>
              <a:rPr dirty="0" sz="1800" spc="-595">
                <a:latin typeface="Arial"/>
                <a:cs typeface="Arial"/>
              </a:rPr>
              <a:t>ت</a:t>
            </a:r>
            <a:r>
              <a:rPr dirty="0" baseline="6172" sz="2700" spc="-892">
                <a:latin typeface="Arial"/>
                <a:cs typeface="Arial"/>
              </a:rPr>
              <a:t>َ</a:t>
            </a:r>
            <a:r>
              <a:rPr dirty="0" baseline="6172" sz="2700" spc="509">
                <a:latin typeface="Arial"/>
                <a:cs typeface="Arial"/>
              </a:rPr>
              <a:t> </a:t>
            </a:r>
            <a:r>
              <a:rPr dirty="0" sz="1800" spc="-335">
                <a:latin typeface="Arial"/>
                <a:cs typeface="Arial"/>
              </a:rPr>
              <a:t>لا</a:t>
            </a:r>
            <a:r>
              <a:rPr dirty="0" baseline="7716" sz="2700" spc="-502">
                <a:latin typeface="Arial"/>
                <a:cs typeface="Arial"/>
              </a:rPr>
              <a:t>َ </a:t>
            </a:r>
            <a:r>
              <a:rPr dirty="0" sz="1800" spc="-204">
                <a:latin typeface="Arial"/>
                <a:cs typeface="Arial"/>
              </a:rPr>
              <a:t>و</a:t>
            </a:r>
            <a:r>
              <a:rPr dirty="0" baseline="-3086" sz="2700" spc="-307">
                <a:latin typeface="Arial"/>
                <a:cs typeface="Arial"/>
              </a:rPr>
              <a:t>َ </a:t>
            </a:r>
            <a:r>
              <a:rPr dirty="0" sz="1800" spc="-385">
                <a:latin typeface="Arial"/>
                <a:cs typeface="Arial"/>
              </a:rPr>
              <a:t>ل</a:t>
            </a:r>
            <a:r>
              <a:rPr dirty="0" baseline="1543" sz="2700" spc="-577">
                <a:latin typeface="Arial"/>
                <a:cs typeface="Arial"/>
              </a:rPr>
              <a:t>ْ </a:t>
            </a:r>
            <a:r>
              <a:rPr dirty="0" sz="1800" spc="-640">
                <a:latin typeface="Arial"/>
                <a:cs typeface="Arial"/>
              </a:rPr>
              <a:t>ب</a:t>
            </a:r>
            <a:r>
              <a:rPr dirty="0" baseline="-12345" sz="2700" spc="-960">
                <a:latin typeface="Arial"/>
                <a:cs typeface="Arial"/>
              </a:rPr>
              <a:t>ِ</a:t>
            </a:r>
            <a:r>
              <a:rPr dirty="0" baseline="-12345" sz="2700" spc="-104">
                <a:latin typeface="Arial"/>
                <a:cs typeface="Arial"/>
              </a:rPr>
              <a:t> </a:t>
            </a:r>
            <a:r>
              <a:rPr dirty="0" sz="1800" spc="-480">
                <a:latin typeface="Arial"/>
                <a:cs typeface="Arial"/>
              </a:rPr>
              <a:t>ق</a:t>
            </a:r>
            <a:r>
              <a:rPr dirty="0" baseline="9259" sz="2700" spc="-719">
                <a:latin typeface="Arial"/>
                <a:cs typeface="Arial"/>
              </a:rPr>
              <a:t>ْ </a:t>
            </a:r>
            <a:r>
              <a:rPr dirty="0" baseline="13888" sz="2700">
                <a:latin typeface="Arial"/>
                <a:cs typeface="Arial"/>
              </a:rPr>
              <a:t>َ</a:t>
            </a:r>
            <a:r>
              <a:rPr dirty="0" sz="1800">
                <a:latin typeface="Arial"/>
                <a:cs typeface="Arial"/>
              </a:rPr>
              <a:t>أ </a:t>
            </a:r>
            <a:r>
              <a:rPr dirty="0" sz="1800" spc="-470">
                <a:latin typeface="Arial"/>
                <a:cs typeface="Arial"/>
              </a:rPr>
              <a:t>ىس</a:t>
            </a:r>
            <a:r>
              <a:rPr dirty="0" baseline="-3086" sz="2700" spc="-705">
                <a:latin typeface="Arial"/>
                <a:cs typeface="Arial"/>
              </a:rPr>
              <a:t>َ </a:t>
            </a:r>
            <a:r>
              <a:rPr dirty="0" sz="1800" spc="-180">
                <a:latin typeface="Arial"/>
                <a:cs typeface="Arial"/>
              </a:rPr>
              <a:t>ومُ </a:t>
            </a:r>
            <a:r>
              <a:rPr dirty="0" sz="1800" spc="10">
                <a:latin typeface="Arial"/>
                <a:cs typeface="Arial"/>
              </a:rPr>
              <a:t>اٌ</a:t>
            </a:r>
            <a:r>
              <a:rPr dirty="0" baseline="-3086" sz="2700" spc="15">
                <a:latin typeface="Arial"/>
                <a:cs typeface="Arial"/>
              </a:rPr>
              <a:t>َ </a:t>
            </a:r>
            <a:r>
              <a:rPr dirty="0" sz="1800" spc="-490">
                <a:latin typeface="Arial"/>
                <a:cs typeface="Arial"/>
              </a:rPr>
              <a:t>ب</a:t>
            </a:r>
            <a:r>
              <a:rPr dirty="0" baseline="1543" sz="2700" spc="-735">
                <a:latin typeface="Arial"/>
                <a:cs typeface="Arial"/>
              </a:rPr>
              <a:t>ْ </a:t>
            </a:r>
            <a:r>
              <a:rPr dirty="0" sz="1800" spc="-345">
                <a:latin typeface="Arial"/>
                <a:cs typeface="Arial"/>
              </a:rPr>
              <a:t>ق</a:t>
            </a:r>
            <a:r>
              <a:rPr dirty="0" baseline="9259" sz="2700" spc="-517">
                <a:latin typeface="Arial"/>
                <a:cs typeface="Arial"/>
              </a:rPr>
              <a:t>ِّ </a:t>
            </a:r>
            <a:r>
              <a:rPr dirty="0" sz="1800" spc="-400">
                <a:latin typeface="Arial"/>
                <a:cs typeface="Arial"/>
              </a:rPr>
              <a:t>ع</a:t>
            </a:r>
            <a:r>
              <a:rPr dirty="0" baseline="-3086" sz="2700" spc="-600">
                <a:latin typeface="Arial"/>
                <a:cs typeface="Arial"/>
              </a:rPr>
              <a:t>َ </a:t>
            </a:r>
            <a:r>
              <a:rPr dirty="0" sz="1800">
                <a:latin typeface="Arial"/>
                <a:cs typeface="Arial"/>
              </a:rPr>
              <a:t>ٌُ </a:t>
            </a:r>
            <a:r>
              <a:rPr dirty="0" sz="1800" spc="-240">
                <a:latin typeface="Arial"/>
                <a:cs typeface="Arial"/>
              </a:rPr>
              <a:t>م</a:t>
            </a:r>
            <a:r>
              <a:rPr dirty="0" baseline="-4629" sz="2700" spc="-359">
                <a:latin typeface="Arial"/>
                <a:cs typeface="Arial"/>
              </a:rPr>
              <a:t>ْ </a:t>
            </a:r>
            <a:r>
              <a:rPr dirty="0" baseline="7716" sz="2700" spc="-359">
                <a:latin typeface="Arial"/>
                <a:cs typeface="Arial"/>
              </a:rPr>
              <a:t>َ</a:t>
            </a:r>
            <a:r>
              <a:rPr dirty="0" sz="1800" spc="-240">
                <a:latin typeface="Arial"/>
                <a:cs typeface="Arial"/>
              </a:rPr>
              <a:t>لو</a:t>
            </a:r>
            <a:r>
              <a:rPr dirty="0" baseline="-3086" sz="2700" spc="-359">
                <a:latin typeface="Arial"/>
                <a:cs typeface="Arial"/>
              </a:rPr>
              <a:t>َ </a:t>
            </a:r>
            <a:r>
              <a:rPr dirty="0" sz="1800" spc="-220">
                <a:latin typeface="Arial"/>
                <a:cs typeface="Arial"/>
              </a:rPr>
              <a:t>ار</a:t>
            </a:r>
            <a:r>
              <a:rPr dirty="0" baseline="1543" sz="2700" spc="-330">
                <a:latin typeface="Arial"/>
                <a:cs typeface="Arial"/>
              </a:rPr>
              <a:t>ً </a:t>
            </a:r>
            <a:r>
              <a:rPr dirty="0" sz="1800" spc="-640">
                <a:latin typeface="Arial"/>
                <a:cs typeface="Arial"/>
              </a:rPr>
              <a:t>ب</a:t>
            </a:r>
            <a:r>
              <a:rPr dirty="0" baseline="-12345" sz="2700" spc="-960">
                <a:latin typeface="Arial"/>
                <a:cs typeface="Arial"/>
              </a:rPr>
              <a:t>ِ</a:t>
            </a:r>
            <a:r>
              <a:rPr dirty="0" baseline="-12345" sz="2700" spc="-97">
                <a:latin typeface="Arial"/>
                <a:cs typeface="Arial"/>
              </a:rPr>
              <a:t> </a:t>
            </a:r>
            <a:r>
              <a:rPr dirty="0" sz="1800" spc="-190">
                <a:latin typeface="Arial"/>
                <a:cs typeface="Arial"/>
              </a:rPr>
              <a:t>د</a:t>
            </a:r>
            <a:r>
              <a:rPr dirty="0" baseline="3086" sz="2700" spc="-284">
                <a:latin typeface="Arial"/>
                <a:cs typeface="Arial"/>
              </a:rPr>
              <a:t>ْ </a:t>
            </a:r>
            <a:r>
              <a:rPr dirty="0" sz="1800" spc="-265">
                <a:latin typeface="Arial"/>
                <a:cs typeface="Arial"/>
              </a:rPr>
              <a:t>مُ </a:t>
            </a:r>
            <a:r>
              <a:rPr dirty="0" sz="1800" spc="-254">
                <a:latin typeface="Arial"/>
                <a:cs typeface="Arial"/>
              </a:rPr>
              <a:t>ىل</a:t>
            </a:r>
            <a:r>
              <a:rPr dirty="0" baseline="10802" sz="2700" spc="-382">
                <a:latin typeface="Arial"/>
                <a:cs typeface="Arial"/>
              </a:rPr>
              <a:t>َّ </a:t>
            </a:r>
            <a:r>
              <a:rPr dirty="0" sz="1800" spc="-204">
                <a:latin typeface="Arial"/>
                <a:cs typeface="Arial"/>
              </a:rPr>
              <a:t>و</a:t>
            </a:r>
            <a:r>
              <a:rPr dirty="0" baseline="-3086" sz="2700" spc="-307">
                <a:latin typeface="Arial"/>
                <a:cs typeface="Arial"/>
              </a:rPr>
              <a:t>َ </a:t>
            </a:r>
            <a:r>
              <a:rPr dirty="0" sz="1800" spc="-225">
                <a:latin typeface="Arial"/>
                <a:cs typeface="Arial"/>
              </a:rPr>
              <a:t>نٌّ </a:t>
            </a:r>
            <a:r>
              <a:rPr dirty="0" sz="1800" spc="-254">
                <a:latin typeface="Arial"/>
                <a:cs typeface="Arial"/>
              </a:rPr>
              <a:t>اج</a:t>
            </a:r>
            <a:r>
              <a:rPr dirty="0" baseline="-3086" sz="2700" spc="-382">
                <a:latin typeface="Arial"/>
                <a:cs typeface="Arial"/>
              </a:rPr>
              <a:t>َ </a:t>
            </a:r>
            <a:r>
              <a:rPr dirty="0" sz="1800" spc="-135">
                <a:latin typeface="Arial"/>
                <a:cs typeface="Arial"/>
              </a:rPr>
              <a:t>اه</a:t>
            </a:r>
            <a:r>
              <a:rPr dirty="0" baseline="-3086" sz="2700" spc="-202">
                <a:latin typeface="Arial"/>
                <a:cs typeface="Arial"/>
              </a:rPr>
              <a:t>َ </a:t>
            </a:r>
            <a:r>
              <a:rPr dirty="0" sz="1800" spc="-295">
                <a:latin typeface="Arial"/>
                <a:cs typeface="Arial"/>
              </a:rPr>
              <a:t>ن</a:t>
            </a:r>
            <a:r>
              <a:rPr dirty="0" baseline="7716" sz="2700" spc="-442">
                <a:latin typeface="Arial"/>
                <a:cs typeface="Arial"/>
              </a:rPr>
              <a:t>َّ </a:t>
            </a:r>
            <a:r>
              <a:rPr dirty="0" baseline="13888" sz="2700" spc="-502">
                <a:latin typeface="Arial"/>
                <a:cs typeface="Arial"/>
              </a:rPr>
              <a:t>َ</a:t>
            </a:r>
            <a:r>
              <a:rPr dirty="0" sz="1800" spc="-335">
                <a:latin typeface="Arial"/>
                <a:cs typeface="Arial"/>
              </a:rPr>
              <a:t>ؤك</a:t>
            </a:r>
            <a:r>
              <a:rPr dirty="0" baseline="6172" sz="2700" spc="-502">
                <a:latin typeface="Arial"/>
                <a:cs typeface="Arial"/>
              </a:rPr>
              <a:t>َ </a:t>
            </a:r>
            <a:r>
              <a:rPr dirty="0" sz="1800" spc="-229">
                <a:latin typeface="Arial"/>
                <a:cs typeface="Arial"/>
              </a:rPr>
              <a:t>ز</a:t>
            </a:r>
            <a:r>
              <a:rPr dirty="0" baseline="7716" sz="2700" spc="-345">
                <a:latin typeface="Arial"/>
                <a:cs typeface="Arial"/>
              </a:rPr>
              <a:t>ُّ </a:t>
            </a:r>
            <a:r>
              <a:rPr dirty="0" sz="1800" spc="-595">
                <a:latin typeface="Arial"/>
                <a:cs typeface="Arial"/>
              </a:rPr>
              <a:t>ت</a:t>
            </a:r>
            <a:r>
              <a:rPr dirty="0" baseline="6172" sz="2700" spc="-892">
                <a:latin typeface="Arial"/>
                <a:cs typeface="Arial"/>
              </a:rPr>
              <a:t>َ</a:t>
            </a:r>
            <a:r>
              <a:rPr dirty="0" baseline="6172" sz="2700" spc="-232">
                <a:latin typeface="Arial"/>
                <a:cs typeface="Arial"/>
              </a:rPr>
              <a:t> </a:t>
            </a:r>
            <a:r>
              <a:rPr dirty="0" sz="1800" spc="-190">
                <a:latin typeface="Arial"/>
                <a:cs typeface="Arial"/>
              </a:rPr>
              <a:t>ه</a:t>
            </a:r>
            <a:r>
              <a:rPr dirty="0" baseline="1543" sz="2700" spc="-284">
                <a:latin typeface="Arial"/>
                <a:cs typeface="Arial"/>
              </a:rPr>
              <a:t>ْ </a:t>
            </a:r>
            <a:r>
              <a:rPr dirty="0" sz="1800" spc="-595">
                <a:latin typeface="Arial"/>
                <a:cs typeface="Arial"/>
              </a:rPr>
              <a:t>ت</a:t>
            </a:r>
            <a:r>
              <a:rPr dirty="0" baseline="6172" sz="2700" spc="-892">
                <a:latin typeface="Arial"/>
                <a:cs typeface="Arial"/>
              </a:rPr>
              <a:t>َ</a:t>
            </a:r>
            <a:r>
              <a:rPr dirty="0" baseline="6172" sz="2700" spc="532">
                <a:latin typeface="Arial"/>
                <a:cs typeface="Arial"/>
              </a:rPr>
              <a:t> </a:t>
            </a:r>
            <a:r>
              <a:rPr dirty="0" sz="1800" spc="-110">
                <a:latin typeface="Arial"/>
                <a:cs typeface="Arial"/>
              </a:rPr>
              <a:t>اه</a:t>
            </a:r>
            <a:r>
              <a:rPr dirty="0" baseline="-3086" sz="2700" spc="-165">
                <a:latin typeface="Arial"/>
                <a:cs typeface="Arial"/>
              </a:rPr>
              <a:t>َ </a:t>
            </a:r>
            <a:r>
              <a:rPr dirty="0" sz="1800" spc="-220">
                <a:latin typeface="Arial"/>
                <a:cs typeface="Arial"/>
              </a:rPr>
              <a:t>آر</a:t>
            </a:r>
            <a:r>
              <a:rPr dirty="0" baseline="-3086" sz="2700" spc="-330">
                <a:latin typeface="Arial"/>
                <a:cs typeface="Arial"/>
              </a:rPr>
              <a:t>َ </a:t>
            </a:r>
            <a:r>
              <a:rPr dirty="0" sz="1800" spc="-120">
                <a:latin typeface="Arial"/>
                <a:cs typeface="Arial"/>
              </a:rPr>
              <a:t>امَّ </a:t>
            </a:r>
            <a:r>
              <a:rPr dirty="0" baseline="7716" sz="2700" spc="-719">
                <a:latin typeface="Arial"/>
                <a:cs typeface="Arial"/>
              </a:rPr>
              <a:t>َ</a:t>
            </a:r>
            <a:r>
              <a:rPr dirty="0" sz="1800" spc="-480">
                <a:latin typeface="Arial"/>
                <a:cs typeface="Arial"/>
              </a:rPr>
              <a:t>لف</a:t>
            </a:r>
            <a:r>
              <a:rPr dirty="0" baseline="6172" sz="2700" spc="-719">
                <a:latin typeface="Arial"/>
                <a:cs typeface="Arial"/>
              </a:rPr>
              <a:t>َ </a:t>
            </a:r>
            <a:r>
              <a:rPr dirty="0" sz="1800" spc="-455">
                <a:latin typeface="Arial"/>
                <a:cs typeface="Arial"/>
              </a:rPr>
              <a:t>ك</a:t>
            </a:r>
            <a:r>
              <a:rPr dirty="0" baseline="-3086" sz="2700" spc="-682">
                <a:latin typeface="Arial"/>
                <a:cs typeface="Arial"/>
              </a:rPr>
              <a:t>َ </a:t>
            </a:r>
            <a:r>
              <a:rPr dirty="0" sz="1800" spc="-590">
                <a:latin typeface="Arial"/>
                <a:cs typeface="Arial"/>
              </a:rPr>
              <a:t>اص</a:t>
            </a:r>
            <a:r>
              <a:rPr dirty="0" baseline="-3086" sz="2700" spc="-885">
                <a:latin typeface="Arial"/>
                <a:cs typeface="Arial"/>
              </a:rPr>
              <a:t>َ</a:t>
            </a:r>
            <a:r>
              <a:rPr dirty="0" baseline="-3086" sz="2700" spc="1275">
                <a:latin typeface="Arial"/>
                <a:cs typeface="Arial"/>
              </a:rPr>
              <a:t> </a:t>
            </a:r>
            <a:r>
              <a:rPr dirty="0" sz="1800" spc="-405">
                <a:latin typeface="Arial"/>
                <a:cs typeface="Arial"/>
              </a:rPr>
              <a:t>ع</a:t>
            </a:r>
            <a:r>
              <a:rPr dirty="0" baseline="-3086" sz="2700" spc="-607">
                <a:latin typeface="Arial"/>
                <a:cs typeface="Arial"/>
              </a:rPr>
              <a:t>َ  </a:t>
            </a:r>
            <a:r>
              <a:rPr dirty="0" sz="1800" spc="-405">
                <a:latin typeface="Arial"/>
                <a:cs typeface="Arial"/>
              </a:rPr>
              <a:t>ق</a:t>
            </a:r>
            <a:r>
              <a:rPr dirty="0" baseline="-12345" sz="2700" spc="-607">
                <a:latin typeface="Arial"/>
                <a:cs typeface="Arial"/>
              </a:rPr>
              <a:t>ِ </a:t>
            </a:r>
            <a:r>
              <a:rPr dirty="0" sz="1800" spc="-434">
                <a:latin typeface="Arial"/>
                <a:cs typeface="Arial"/>
              </a:rPr>
              <a:t>ل</a:t>
            </a:r>
            <a:r>
              <a:rPr dirty="0" baseline="12345" sz="2700" spc="-652">
                <a:latin typeface="Arial"/>
                <a:cs typeface="Arial"/>
              </a:rPr>
              <a:t>ْ </a:t>
            </a:r>
            <a:r>
              <a:rPr dirty="0" baseline="13888" sz="2700">
                <a:latin typeface="Arial"/>
                <a:cs typeface="Arial"/>
              </a:rPr>
              <a:t>َ</a:t>
            </a:r>
            <a:r>
              <a:rPr dirty="0" sz="1800">
                <a:latin typeface="Arial"/>
                <a:cs typeface="Arial"/>
              </a:rPr>
              <a:t>أ </a:t>
            </a:r>
            <a:r>
              <a:rPr dirty="0" sz="1800" spc="-310">
                <a:latin typeface="Arial"/>
                <a:cs typeface="Arial"/>
              </a:rPr>
              <a:t>ن</a:t>
            </a:r>
            <a:r>
              <a:rPr dirty="0" baseline="1543" sz="2700" spc="-465">
                <a:latin typeface="Arial"/>
                <a:cs typeface="Arial"/>
              </a:rPr>
              <a:t>ْ</a:t>
            </a:r>
            <a:r>
              <a:rPr dirty="0" baseline="1543" sz="2700" spc="-367">
                <a:latin typeface="Arial"/>
                <a:cs typeface="Arial"/>
              </a:rPr>
              <a:t> </a:t>
            </a:r>
            <a:r>
              <a:rPr dirty="0" baseline="13888" sz="2700" spc="-209">
                <a:latin typeface="Arial"/>
                <a:cs typeface="Arial"/>
              </a:rPr>
              <a:t>َ</a:t>
            </a:r>
            <a:r>
              <a:rPr dirty="0" sz="1800" spc="-140">
                <a:latin typeface="Arial"/>
                <a:cs typeface="Arial"/>
              </a:rPr>
              <a:t>أو</a:t>
            </a:r>
            <a:endParaRPr sz="1800">
              <a:latin typeface="Arial"/>
              <a:cs typeface="Arial"/>
            </a:endParaRPr>
          </a:p>
          <a:p>
            <a:pPr algn="r" marR="130810">
              <a:lnSpc>
                <a:spcPts val="2155"/>
              </a:lnSpc>
            </a:pPr>
            <a:r>
              <a:rPr dirty="0" baseline="3086" sz="2700" spc="-494">
                <a:latin typeface="Arial"/>
                <a:cs typeface="Arial"/>
              </a:rPr>
              <a:t>ن</a:t>
            </a:r>
            <a:r>
              <a:rPr dirty="0" sz="1800" spc="-330">
                <a:latin typeface="Arial"/>
                <a:cs typeface="Arial"/>
              </a:rPr>
              <a:t>َ </a:t>
            </a:r>
            <a:r>
              <a:rPr dirty="0" baseline="3086" sz="2700" spc="-480">
                <a:latin typeface="Arial"/>
                <a:cs typeface="Arial"/>
              </a:rPr>
              <a:t>ٌن</a:t>
            </a:r>
            <a:r>
              <a:rPr dirty="0" baseline="1543" sz="2700" spc="-48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480">
                <a:latin typeface="Arial"/>
                <a:cs typeface="Arial"/>
              </a:rPr>
              <a:t>لآ</a:t>
            </a:r>
            <a:r>
              <a:rPr dirty="0" baseline="13888" sz="2700" spc="-480">
                <a:latin typeface="Arial"/>
                <a:cs typeface="Arial"/>
              </a:rPr>
              <a:t>ْ </a:t>
            </a:r>
            <a:r>
              <a:rPr dirty="0" baseline="3086" sz="2700">
                <a:latin typeface="Arial"/>
                <a:cs typeface="Arial"/>
              </a:rPr>
              <a:t>ا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682">
                <a:latin typeface="Arial"/>
                <a:cs typeface="Arial"/>
              </a:rPr>
              <a:t>ك</a:t>
            </a:r>
            <a:r>
              <a:rPr dirty="0" sz="1800" spc="-455">
                <a:latin typeface="Arial"/>
                <a:cs typeface="Arial"/>
              </a:rPr>
              <a:t>َ </a:t>
            </a:r>
            <a:r>
              <a:rPr dirty="0" baseline="3086" sz="2700" spc="-442">
                <a:latin typeface="Arial"/>
                <a:cs typeface="Arial"/>
              </a:rPr>
              <a:t>ن</a:t>
            </a:r>
            <a:r>
              <a:rPr dirty="0" baseline="10802" sz="2700" spc="-442">
                <a:latin typeface="Arial"/>
                <a:cs typeface="Arial"/>
              </a:rPr>
              <a:t>َّ</a:t>
            </a:r>
            <a:r>
              <a:rPr dirty="0" baseline="10802" sz="2700" spc="-502">
                <a:latin typeface="Arial"/>
                <a:cs typeface="Arial"/>
              </a:rPr>
              <a:t> </a:t>
            </a:r>
            <a:r>
              <a:rPr dirty="0" baseline="-10802" sz="2700">
                <a:latin typeface="Arial"/>
                <a:cs typeface="Arial"/>
              </a:rPr>
              <a:t>ِ</a:t>
            </a:r>
            <a:r>
              <a:rPr dirty="0" baseline="3086" sz="2700">
                <a:latin typeface="Arial"/>
                <a:cs typeface="Arial"/>
              </a:rPr>
              <a:t>إ</a:t>
            </a:r>
            <a:endParaRPr baseline="3086" sz="2700">
              <a:latin typeface="Arial"/>
              <a:cs typeface="Arial"/>
            </a:endParaRPr>
          </a:p>
          <a:p>
            <a:pPr algn="just" marL="149225" marR="131445">
              <a:lnSpc>
                <a:spcPts val="1380"/>
              </a:lnSpc>
              <a:spcBef>
                <a:spcPts val="1330"/>
              </a:spcBef>
              <a:buAutoNum type="arabicPeriod" startAt="31"/>
              <a:tabLst>
                <a:tab pos="409575" algn="l"/>
              </a:tabLst>
            </a:pPr>
            <a:r>
              <a:rPr dirty="0" sz="1200" spc="-5">
                <a:latin typeface="Arial"/>
                <a:cs typeface="Arial"/>
              </a:rPr>
              <a:t>Throw down </a:t>
            </a:r>
            <a:r>
              <a:rPr dirty="0" sz="1200">
                <a:latin typeface="Arial"/>
                <a:cs typeface="Arial"/>
              </a:rPr>
              <a:t>thy staff. </a:t>
            </a:r>
            <a:r>
              <a:rPr dirty="0" sz="1200" spc="-5">
                <a:latin typeface="Arial"/>
                <a:cs typeface="Arial"/>
              </a:rPr>
              <a:t>And when he saw </a:t>
            </a:r>
            <a:r>
              <a:rPr dirty="0" sz="1200">
                <a:latin typeface="Arial"/>
                <a:cs typeface="Arial"/>
              </a:rPr>
              <a:t>it </a:t>
            </a:r>
            <a:r>
              <a:rPr dirty="0" sz="1200" spc="-5">
                <a:latin typeface="Arial"/>
                <a:cs typeface="Arial"/>
              </a:rPr>
              <a:t>writhing as </a:t>
            </a:r>
            <a:r>
              <a:rPr dirty="0" sz="1200">
                <a:latin typeface="Arial"/>
                <a:cs typeface="Arial"/>
              </a:rPr>
              <a:t>it </a:t>
            </a:r>
            <a:r>
              <a:rPr dirty="0" sz="1200" spc="-5">
                <a:latin typeface="Arial"/>
                <a:cs typeface="Arial"/>
              </a:rPr>
              <a:t>had </a:t>
            </a:r>
            <a:r>
              <a:rPr dirty="0" sz="1200" spc="-10">
                <a:latin typeface="Arial"/>
                <a:cs typeface="Arial"/>
              </a:rPr>
              <a:t>been </a:t>
            </a:r>
            <a:r>
              <a:rPr dirty="0" sz="1200" spc="-5">
                <a:latin typeface="Arial"/>
                <a:cs typeface="Arial"/>
              </a:rPr>
              <a:t>a demon, he turned </a:t>
            </a:r>
            <a:r>
              <a:rPr dirty="0" sz="1200">
                <a:latin typeface="Arial"/>
                <a:cs typeface="Arial"/>
              </a:rPr>
              <a:t>to  </a:t>
            </a:r>
            <a:r>
              <a:rPr dirty="0" sz="1200" spc="-5">
                <a:latin typeface="Arial"/>
                <a:cs typeface="Arial"/>
              </a:rPr>
              <a:t>flee headlong, (and </a:t>
            </a:r>
            <a:r>
              <a:rPr dirty="0" sz="1200">
                <a:latin typeface="Arial"/>
                <a:cs typeface="Arial"/>
              </a:rPr>
              <a:t>it </a:t>
            </a:r>
            <a:r>
              <a:rPr dirty="0" sz="1200" spc="-10">
                <a:latin typeface="Arial"/>
                <a:cs typeface="Arial"/>
              </a:rPr>
              <a:t>was </a:t>
            </a:r>
            <a:r>
              <a:rPr dirty="0" sz="1200" spc="-5">
                <a:latin typeface="Arial"/>
                <a:cs typeface="Arial"/>
              </a:rPr>
              <a:t>said unto </a:t>
            </a:r>
            <a:r>
              <a:rPr dirty="0" sz="1200">
                <a:latin typeface="Arial"/>
                <a:cs typeface="Arial"/>
              </a:rPr>
              <a:t>him): O </a:t>
            </a:r>
            <a:r>
              <a:rPr dirty="0" sz="1200" spc="-5">
                <a:latin typeface="Arial"/>
                <a:cs typeface="Arial"/>
              </a:rPr>
              <a:t>Moses! Draw nigh and </a:t>
            </a:r>
            <a:r>
              <a:rPr dirty="0" sz="1200">
                <a:latin typeface="Arial"/>
                <a:cs typeface="Arial"/>
              </a:rPr>
              <a:t>fear not. </a:t>
            </a:r>
            <a:r>
              <a:rPr dirty="0" sz="1200" spc="-5">
                <a:latin typeface="Arial"/>
                <a:cs typeface="Arial"/>
              </a:rPr>
              <a:t>Lo! Thou </a:t>
            </a:r>
            <a:r>
              <a:rPr dirty="0" sz="1200">
                <a:latin typeface="Arial"/>
                <a:cs typeface="Arial"/>
              </a:rPr>
              <a:t>art </a:t>
            </a:r>
            <a:r>
              <a:rPr dirty="0" sz="1200" spc="-5">
                <a:latin typeface="Arial"/>
                <a:cs typeface="Arial"/>
              </a:rPr>
              <a:t>of  </a:t>
            </a:r>
            <a:r>
              <a:rPr dirty="0" sz="1200">
                <a:latin typeface="Arial"/>
                <a:cs typeface="Arial"/>
              </a:rPr>
              <a:t>those </a:t>
            </a:r>
            <a:r>
              <a:rPr dirty="0" sz="1200" spc="-10">
                <a:latin typeface="Arial"/>
                <a:cs typeface="Arial"/>
              </a:rPr>
              <a:t>who </a:t>
            </a:r>
            <a:r>
              <a:rPr dirty="0" sz="1200">
                <a:latin typeface="Arial"/>
                <a:cs typeface="Arial"/>
              </a:rPr>
              <a:t>are</a:t>
            </a:r>
            <a:r>
              <a:rPr dirty="0" sz="1200" spc="-5">
                <a:latin typeface="Arial"/>
                <a:cs typeface="Arial"/>
              </a:rPr>
              <a:t> secure.</a:t>
            </a:r>
            <a:endParaRPr sz="1200">
              <a:latin typeface="Arial"/>
              <a:cs typeface="Arial"/>
            </a:endParaRPr>
          </a:p>
          <a:p>
            <a:pPr>
              <a:lnSpc>
                <a:spcPct val="100000"/>
              </a:lnSpc>
              <a:spcBef>
                <a:spcPts val="20"/>
              </a:spcBef>
              <a:buFont typeface="Arial"/>
              <a:buAutoNum type="arabicPeriod" startAt="31"/>
            </a:pPr>
            <a:endParaRPr sz="1100">
              <a:latin typeface="Arial"/>
              <a:cs typeface="Arial"/>
            </a:endParaRPr>
          </a:p>
          <a:p>
            <a:pPr algn="r" marR="132080">
              <a:lnSpc>
                <a:spcPts val="2110"/>
              </a:lnSpc>
            </a:pPr>
            <a:r>
              <a:rPr dirty="0" baseline="1543" sz="2700" spc="-682">
                <a:latin typeface="Arial"/>
                <a:cs typeface="Arial"/>
              </a:rPr>
              <a:t>ك</a:t>
            </a:r>
            <a:r>
              <a:rPr dirty="0" baseline="-1543" sz="2700" spc="-682">
                <a:latin typeface="Arial"/>
                <a:cs typeface="Arial"/>
              </a:rPr>
              <a:t>َ </a:t>
            </a:r>
            <a:r>
              <a:rPr dirty="0" baseline="1543" sz="2700" spc="-712">
                <a:latin typeface="Arial"/>
                <a:cs typeface="Arial"/>
              </a:rPr>
              <a:t>ن</a:t>
            </a:r>
            <a:r>
              <a:rPr dirty="0" sz="1800" spc="-475">
                <a:latin typeface="Arial"/>
                <a:cs typeface="Arial"/>
              </a:rPr>
              <a:t>ِ </a:t>
            </a:r>
            <a:r>
              <a:rPr dirty="0" baseline="1543" sz="2700" spc="-217">
                <a:latin typeface="Arial"/>
                <a:cs typeface="Arial"/>
              </a:rPr>
              <a:t>اذ</a:t>
            </a:r>
            <a:r>
              <a:rPr dirty="0" baseline="10802" sz="2700" spc="-217">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652">
                <a:latin typeface="Arial"/>
                <a:cs typeface="Arial"/>
              </a:rPr>
              <a:t> </a:t>
            </a:r>
            <a:r>
              <a:rPr dirty="0" baseline="1543" sz="2700" spc="-862">
                <a:latin typeface="Arial"/>
                <a:cs typeface="Arial"/>
              </a:rPr>
              <a:t>ب</a:t>
            </a:r>
            <a:r>
              <a:rPr dirty="0" sz="1800" spc="-575">
                <a:latin typeface="Arial"/>
                <a:cs typeface="Arial"/>
              </a:rPr>
              <a:t>ِ</a:t>
            </a:r>
            <a:r>
              <a:rPr dirty="0" sz="1800" spc="640">
                <a:latin typeface="Arial"/>
                <a:cs typeface="Arial"/>
              </a:rPr>
              <a:t> </a:t>
            </a:r>
            <a:r>
              <a:rPr dirty="0" baseline="1543" sz="2700" spc="-232">
                <a:latin typeface="Arial"/>
                <a:cs typeface="Arial"/>
              </a:rPr>
              <a:t>هْ </a:t>
            </a:r>
            <a:r>
              <a:rPr dirty="0" baseline="1543" sz="2700" spc="-345">
                <a:latin typeface="Arial"/>
                <a:cs typeface="Arial"/>
              </a:rPr>
              <a:t>ر</a:t>
            </a:r>
            <a:r>
              <a:rPr dirty="0" sz="1800" spc="-229">
                <a:latin typeface="Arial"/>
                <a:cs typeface="Arial"/>
              </a:rPr>
              <a:t>َّ </a:t>
            </a:r>
            <a:r>
              <a:rPr dirty="0" baseline="1543" sz="2700" spc="-412">
                <a:latin typeface="Arial"/>
                <a:cs typeface="Arial"/>
              </a:rPr>
              <a:t>لا </a:t>
            </a:r>
            <a:r>
              <a:rPr dirty="0" baseline="1543" sz="2700" spc="-494">
                <a:latin typeface="Arial"/>
                <a:cs typeface="Arial"/>
              </a:rPr>
              <a:t>ن</a:t>
            </a:r>
            <a:r>
              <a:rPr dirty="0" baseline="-1543" sz="2700" spc="-494">
                <a:latin typeface="Arial"/>
                <a:cs typeface="Arial"/>
              </a:rPr>
              <a:t>َ </a:t>
            </a:r>
            <a:r>
              <a:rPr dirty="0" baseline="1543" sz="2700" spc="-352">
                <a:latin typeface="Arial"/>
                <a:cs typeface="Arial"/>
              </a:rPr>
              <a:t>م</a:t>
            </a:r>
            <a:r>
              <a:rPr dirty="0" sz="1800" spc="-235">
                <a:latin typeface="Arial"/>
                <a:cs typeface="Arial"/>
              </a:rPr>
              <a:t>ِ </a:t>
            </a:r>
            <a:r>
              <a:rPr dirty="0" baseline="1543" sz="2700" spc="-682">
                <a:latin typeface="Arial"/>
                <a:cs typeface="Arial"/>
              </a:rPr>
              <a:t>ك</a:t>
            </a:r>
            <a:r>
              <a:rPr dirty="0" baseline="-1543" sz="2700" spc="-682">
                <a:latin typeface="Arial"/>
                <a:cs typeface="Arial"/>
              </a:rPr>
              <a:t>َ </a:t>
            </a:r>
            <a:r>
              <a:rPr dirty="0" baseline="1543" sz="2700" spc="-592">
                <a:latin typeface="Arial"/>
                <a:cs typeface="Arial"/>
              </a:rPr>
              <a:t>ح</a:t>
            </a:r>
            <a:r>
              <a:rPr dirty="0" baseline="-1543" sz="2700" spc="-592">
                <a:latin typeface="Arial"/>
                <a:cs typeface="Arial"/>
              </a:rPr>
              <a:t>َ </a:t>
            </a:r>
            <a:r>
              <a:rPr dirty="0" baseline="1543" sz="2700" spc="-419">
                <a:latin typeface="Arial"/>
                <a:cs typeface="Arial"/>
              </a:rPr>
              <a:t>ان</a:t>
            </a:r>
            <a:r>
              <a:rPr dirty="0" baseline="6172" sz="2700" spc="-419">
                <a:latin typeface="Arial"/>
                <a:cs typeface="Arial"/>
              </a:rPr>
              <a:t>َ </a:t>
            </a:r>
            <a:r>
              <a:rPr dirty="0" baseline="1543" sz="2700" spc="-592">
                <a:latin typeface="Arial"/>
                <a:cs typeface="Arial"/>
              </a:rPr>
              <a:t>ج</a:t>
            </a:r>
            <a:r>
              <a:rPr dirty="0" baseline="-1543" sz="2700" spc="-592">
                <a:latin typeface="Arial"/>
                <a:cs typeface="Arial"/>
              </a:rPr>
              <a:t>َ </a:t>
            </a:r>
            <a:r>
              <a:rPr dirty="0" baseline="1543" sz="2700" spc="-682">
                <a:latin typeface="Arial"/>
                <a:cs typeface="Arial"/>
              </a:rPr>
              <a:t>ك</a:t>
            </a:r>
            <a:r>
              <a:rPr dirty="0" baseline="-1543" sz="2700" spc="-682">
                <a:latin typeface="Arial"/>
                <a:cs typeface="Arial"/>
              </a:rPr>
              <a:t>َ </a:t>
            </a:r>
            <a:r>
              <a:rPr dirty="0" baseline="1543" sz="2700">
                <a:latin typeface="Arial"/>
                <a:cs typeface="Arial"/>
              </a:rPr>
              <a:t>ٌْ </a:t>
            </a:r>
            <a:r>
              <a:rPr dirty="0" baseline="9259" sz="2700" spc="-217">
                <a:latin typeface="Arial"/>
                <a:cs typeface="Arial"/>
              </a:rPr>
              <a:t>َ</a:t>
            </a:r>
            <a:r>
              <a:rPr dirty="0" baseline="1543" sz="2700" spc="-217">
                <a:latin typeface="Arial"/>
                <a:cs typeface="Arial"/>
              </a:rPr>
              <a:t>ل</a:t>
            </a:r>
            <a:r>
              <a:rPr dirty="0" baseline="-12345" sz="2700" spc="-217">
                <a:latin typeface="Arial"/>
                <a:cs typeface="Arial"/>
              </a:rPr>
              <a:t>ِ</a:t>
            </a:r>
            <a:r>
              <a:rPr dirty="0" baseline="1543" sz="2700" spc="-217">
                <a:latin typeface="Arial"/>
                <a:cs typeface="Arial"/>
              </a:rPr>
              <a:t>إ </a:t>
            </a:r>
            <a:r>
              <a:rPr dirty="0" baseline="1543" sz="2700" spc="-352">
                <a:latin typeface="Arial"/>
                <a:cs typeface="Arial"/>
              </a:rPr>
              <a:t>م</a:t>
            </a:r>
            <a:r>
              <a:rPr dirty="0" baseline="-3086" sz="2700" spc="-352">
                <a:latin typeface="Arial"/>
                <a:cs typeface="Arial"/>
              </a:rPr>
              <a:t>ْ </a:t>
            </a:r>
            <a:r>
              <a:rPr dirty="0" baseline="1543" sz="2700" spc="-405">
                <a:latin typeface="Arial"/>
                <a:cs typeface="Arial"/>
              </a:rPr>
              <a:t>مُ </a:t>
            </a:r>
            <a:r>
              <a:rPr dirty="0" baseline="1543" sz="2700" spc="-1320">
                <a:latin typeface="Arial"/>
                <a:cs typeface="Arial"/>
              </a:rPr>
              <a:t>ضْ</a:t>
            </a:r>
            <a:r>
              <a:rPr dirty="0" baseline="1543" sz="2700" spc="1200">
                <a:latin typeface="Arial"/>
                <a:cs typeface="Arial"/>
              </a:rPr>
              <a:t> </a:t>
            </a:r>
            <a:r>
              <a:rPr dirty="0" baseline="1543" sz="2700" spc="-209">
                <a:latin typeface="Arial"/>
                <a:cs typeface="Arial"/>
              </a:rPr>
              <a:t>او</a:t>
            </a:r>
            <a:r>
              <a:rPr dirty="0" baseline="-1543" sz="2700" spc="-209">
                <a:latin typeface="Arial"/>
                <a:cs typeface="Arial"/>
              </a:rPr>
              <a:t>َ </a:t>
            </a:r>
            <a:r>
              <a:rPr dirty="0" baseline="1543" sz="2700" spc="-442">
                <a:latin typeface="Arial"/>
                <a:cs typeface="Arial"/>
              </a:rPr>
              <a:t>ء</a:t>
            </a:r>
            <a:r>
              <a:rPr dirty="0" baseline="-1543" sz="2700" spc="-442">
                <a:latin typeface="Arial"/>
                <a:cs typeface="Arial"/>
              </a:rPr>
              <a:t>ٍ </a:t>
            </a:r>
            <a:r>
              <a:rPr dirty="0" baseline="1543" sz="2700" spc="-675">
                <a:latin typeface="Arial"/>
                <a:cs typeface="Arial"/>
              </a:rPr>
              <a:t>وسُ </a:t>
            </a:r>
            <a:r>
              <a:rPr dirty="0" baseline="1543" sz="2700" spc="-457">
                <a:latin typeface="Arial"/>
                <a:cs typeface="Arial"/>
              </a:rPr>
              <a:t>ر</a:t>
            </a:r>
            <a:r>
              <a:rPr dirty="0" baseline="-13888" sz="2700" spc="-457">
                <a:latin typeface="Arial"/>
                <a:cs typeface="Arial"/>
              </a:rPr>
              <a:t>ِ </a:t>
            </a:r>
            <a:r>
              <a:rPr dirty="0" baseline="1543" sz="2700">
                <a:latin typeface="Arial"/>
                <a:cs typeface="Arial"/>
              </a:rPr>
              <a:t>ٌْ </a:t>
            </a:r>
            <a:r>
              <a:rPr dirty="0" baseline="1543" sz="2700" spc="-967">
                <a:latin typeface="Arial"/>
                <a:cs typeface="Arial"/>
              </a:rPr>
              <a:t>ؼ</a:t>
            </a:r>
            <a:r>
              <a:rPr dirty="0" baseline="3086" sz="2700" spc="-967">
                <a:latin typeface="Arial"/>
                <a:cs typeface="Arial"/>
              </a:rPr>
              <a:t>َ</a:t>
            </a:r>
            <a:r>
              <a:rPr dirty="0" baseline="3086" sz="2700" spc="1162">
                <a:latin typeface="Arial"/>
                <a:cs typeface="Arial"/>
              </a:rPr>
              <a:t> </a:t>
            </a:r>
            <a:r>
              <a:rPr dirty="0" baseline="1543" sz="2700" spc="-465">
                <a:latin typeface="Arial"/>
                <a:cs typeface="Arial"/>
              </a:rPr>
              <a:t>نْ  </a:t>
            </a:r>
            <a:r>
              <a:rPr dirty="0" baseline="1543" sz="2700" spc="-352">
                <a:latin typeface="Arial"/>
                <a:cs typeface="Arial"/>
              </a:rPr>
              <a:t>م</a:t>
            </a:r>
            <a:r>
              <a:rPr dirty="0" sz="1800" spc="-235">
                <a:latin typeface="Arial"/>
                <a:cs typeface="Arial"/>
              </a:rPr>
              <a:t>ِ </a:t>
            </a:r>
            <a:r>
              <a:rPr dirty="0" baseline="1543" sz="2700" spc="-667">
                <a:latin typeface="Arial"/>
                <a:cs typeface="Arial"/>
              </a:rPr>
              <a:t>ءاض</a:t>
            </a:r>
            <a:r>
              <a:rPr dirty="0" baseline="-1543" sz="2700" spc="-667">
                <a:latin typeface="Arial"/>
                <a:cs typeface="Arial"/>
              </a:rPr>
              <a:t>َ </a:t>
            </a:r>
            <a:r>
              <a:rPr dirty="0" baseline="1543" sz="2700">
                <a:latin typeface="Arial"/>
                <a:cs typeface="Arial"/>
              </a:rPr>
              <a:t>ٌْ </a:t>
            </a:r>
            <a:r>
              <a:rPr dirty="0" baseline="1543" sz="2700" spc="-892">
                <a:latin typeface="Arial"/>
                <a:cs typeface="Arial"/>
              </a:rPr>
              <a:t>ب</a:t>
            </a:r>
            <a:r>
              <a:rPr dirty="0" baseline="-1543" sz="2700" spc="-892">
                <a:latin typeface="Arial"/>
                <a:cs typeface="Arial"/>
              </a:rPr>
              <a:t>َ</a:t>
            </a:r>
            <a:r>
              <a:rPr dirty="0" baseline="-1543" sz="2700" spc="525">
                <a:latin typeface="Arial"/>
                <a:cs typeface="Arial"/>
              </a:rPr>
              <a:t> </a:t>
            </a:r>
            <a:r>
              <a:rPr dirty="0" baseline="1543" sz="2700" spc="-592">
                <a:latin typeface="Arial"/>
                <a:cs typeface="Arial"/>
              </a:rPr>
              <a:t>جْ </a:t>
            </a:r>
            <a:r>
              <a:rPr dirty="0" baseline="1543" sz="2700" spc="-525">
                <a:latin typeface="Arial"/>
                <a:cs typeface="Arial"/>
              </a:rPr>
              <a:t>رُ </a:t>
            </a:r>
            <a:r>
              <a:rPr dirty="0" baseline="1543" sz="2700" spc="-555">
                <a:latin typeface="Arial"/>
                <a:cs typeface="Arial"/>
              </a:rPr>
              <a:t>خ</a:t>
            </a:r>
            <a:r>
              <a:rPr dirty="0" baseline="9259" sz="2700" spc="-555">
                <a:latin typeface="Arial"/>
                <a:cs typeface="Arial"/>
              </a:rPr>
              <a:t>ْ </a:t>
            </a:r>
            <a:r>
              <a:rPr dirty="0" baseline="1543" sz="2700" spc="-907">
                <a:latin typeface="Arial"/>
                <a:cs typeface="Arial"/>
              </a:rPr>
              <a:t>ت</a:t>
            </a:r>
            <a:r>
              <a:rPr dirty="0" baseline="6172" sz="2700" spc="-907">
                <a:latin typeface="Arial"/>
                <a:cs typeface="Arial"/>
              </a:rPr>
              <a:t>َ</a:t>
            </a:r>
            <a:r>
              <a:rPr dirty="0" baseline="6172" sz="2700" spc="532">
                <a:latin typeface="Arial"/>
                <a:cs typeface="Arial"/>
              </a:rPr>
              <a:t> </a:t>
            </a:r>
            <a:r>
              <a:rPr dirty="0" baseline="1543" sz="2700" spc="-682">
                <a:latin typeface="Arial"/>
                <a:cs typeface="Arial"/>
              </a:rPr>
              <a:t>ك</a:t>
            </a:r>
            <a:r>
              <a:rPr dirty="0" baseline="-1543" sz="2700" spc="-682">
                <a:latin typeface="Arial"/>
                <a:cs typeface="Arial"/>
              </a:rPr>
              <a:t>َ </a:t>
            </a:r>
            <a:r>
              <a:rPr dirty="0" baseline="1543" sz="2700" spc="-960">
                <a:latin typeface="Arial"/>
                <a:cs typeface="Arial"/>
              </a:rPr>
              <a:t>ب</a:t>
            </a:r>
            <a:r>
              <a:rPr dirty="0" baseline="-12345" sz="2700" spc="-960">
                <a:latin typeface="Arial"/>
                <a:cs typeface="Arial"/>
              </a:rPr>
              <a:t>ِ</a:t>
            </a:r>
            <a:r>
              <a:rPr dirty="0" baseline="-12345" sz="2700" spc="-104">
                <a:latin typeface="Arial"/>
                <a:cs typeface="Arial"/>
              </a:rPr>
              <a:t> </a:t>
            </a:r>
            <a:r>
              <a:rPr dirty="0" baseline="1543" sz="2700">
                <a:latin typeface="Arial"/>
                <a:cs typeface="Arial"/>
              </a:rPr>
              <a:t>ٌْ </a:t>
            </a:r>
            <a:r>
              <a:rPr dirty="0" baseline="1543" sz="2700" spc="-592">
                <a:latin typeface="Arial"/>
                <a:cs typeface="Arial"/>
              </a:rPr>
              <a:t>ج</a:t>
            </a:r>
            <a:r>
              <a:rPr dirty="0" baseline="-1543" sz="2700" spc="-592">
                <a:latin typeface="Arial"/>
                <a:cs typeface="Arial"/>
              </a:rPr>
              <a:t>َ </a:t>
            </a:r>
            <a:r>
              <a:rPr dirty="0" baseline="1543" sz="2700" spc="-705">
                <a:latin typeface="Arial"/>
                <a:cs typeface="Arial"/>
              </a:rPr>
              <a:t>ًف</a:t>
            </a:r>
            <a:r>
              <a:rPr dirty="0" sz="1800" spc="-470">
                <a:latin typeface="Arial"/>
                <a:cs typeface="Arial"/>
              </a:rPr>
              <a:t>ِ </a:t>
            </a:r>
            <a:r>
              <a:rPr dirty="0" baseline="1543" sz="2700" spc="-682">
                <a:latin typeface="Arial"/>
                <a:cs typeface="Arial"/>
              </a:rPr>
              <a:t>ك</a:t>
            </a:r>
            <a:r>
              <a:rPr dirty="0" baseline="-1543" sz="2700" spc="-682">
                <a:latin typeface="Arial"/>
                <a:cs typeface="Arial"/>
              </a:rPr>
              <a:t>َ </a:t>
            </a:r>
            <a:r>
              <a:rPr dirty="0" baseline="1543" sz="2700" spc="-322">
                <a:latin typeface="Arial"/>
                <a:cs typeface="Arial"/>
              </a:rPr>
              <a:t>د</a:t>
            </a:r>
            <a:r>
              <a:rPr dirty="0" sz="1800" spc="-215">
                <a:latin typeface="Arial"/>
                <a:cs typeface="Arial"/>
              </a:rPr>
              <a:t>َ </a:t>
            </a:r>
            <a:r>
              <a:rPr dirty="0" baseline="1543" sz="2700">
                <a:latin typeface="Arial"/>
                <a:cs typeface="Arial"/>
              </a:rPr>
              <a:t>ٌ</a:t>
            </a:r>
            <a:r>
              <a:rPr dirty="0" baseline="-1543" sz="2700">
                <a:latin typeface="Arial"/>
                <a:cs typeface="Arial"/>
              </a:rPr>
              <a:t>َ </a:t>
            </a:r>
            <a:r>
              <a:rPr dirty="0" baseline="1543" sz="2700" spc="-644">
                <a:latin typeface="Arial"/>
                <a:cs typeface="Arial"/>
              </a:rPr>
              <a:t>كْ </a:t>
            </a:r>
            <a:r>
              <a:rPr dirty="0" baseline="12345" sz="2700" spc="-675">
                <a:latin typeface="Arial"/>
                <a:cs typeface="Arial"/>
              </a:rPr>
              <a:t>ُ</a:t>
            </a:r>
            <a:r>
              <a:rPr dirty="0" baseline="1543" sz="2700" spc="-675">
                <a:latin typeface="Arial"/>
                <a:cs typeface="Arial"/>
              </a:rPr>
              <a:t>لسْ</a:t>
            </a:r>
            <a:r>
              <a:rPr dirty="0" baseline="1543" sz="2700" spc="-667">
                <a:latin typeface="Arial"/>
                <a:cs typeface="Arial"/>
              </a:rPr>
              <a:t> </a:t>
            </a:r>
            <a:r>
              <a:rPr dirty="0" baseline="1543" sz="2700">
                <a:latin typeface="Arial"/>
                <a:cs typeface="Arial"/>
              </a:rPr>
              <a:t>ا</a:t>
            </a:r>
            <a:endParaRPr baseline="1543" sz="2700">
              <a:latin typeface="Arial"/>
              <a:cs typeface="Arial"/>
            </a:endParaRPr>
          </a:p>
          <a:p>
            <a:pPr algn="r" marR="181610">
              <a:lnSpc>
                <a:spcPts val="2110"/>
              </a:lnSpc>
            </a:pPr>
            <a:r>
              <a:rPr dirty="0" baseline="1543" sz="2700" spc="-494">
                <a:latin typeface="Arial"/>
                <a:cs typeface="Arial"/>
              </a:rPr>
              <a:t>ن</a:t>
            </a:r>
            <a:r>
              <a:rPr dirty="0" baseline="-1543" sz="2700" spc="-494">
                <a:latin typeface="Arial"/>
                <a:cs typeface="Arial"/>
              </a:rPr>
              <a:t>َ </a:t>
            </a:r>
            <a:r>
              <a:rPr dirty="0" baseline="1543" sz="2700" spc="-525">
                <a:latin typeface="Arial"/>
                <a:cs typeface="Arial"/>
              </a:rPr>
              <a:t>ٌق</a:t>
            </a:r>
            <a:r>
              <a:rPr dirty="0" sz="1800" spc="-350">
                <a:latin typeface="Arial"/>
                <a:cs typeface="Arial"/>
              </a:rPr>
              <a:t>ِ </a:t>
            </a:r>
            <a:r>
              <a:rPr dirty="0" baseline="1543" sz="2700" spc="-937">
                <a:latin typeface="Arial"/>
                <a:cs typeface="Arial"/>
              </a:rPr>
              <a:t>س</a:t>
            </a:r>
            <a:r>
              <a:rPr dirty="0" sz="1800" spc="-625">
                <a:latin typeface="Arial"/>
                <a:cs typeface="Arial"/>
              </a:rPr>
              <a:t>ِ</a:t>
            </a:r>
            <a:r>
              <a:rPr dirty="0" sz="1800" spc="215">
                <a:latin typeface="Arial"/>
                <a:cs typeface="Arial"/>
              </a:rPr>
              <a:t> </a:t>
            </a:r>
            <a:r>
              <a:rPr dirty="0" baseline="1543" sz="2700" spc="-675">
                <a:latin typeface="Arial"/>
                <a:cs typeface="Arial"/>
              </a:rPr>
              <a:t>اف</a:t>
            </a:r>
            <a:r>
              <a:rPr dirty="0" baseline="6172" sz="2700" spc="-675">
                <a:latin typeface="Arial"/>
                <a:cs typeface="Arial"/>
              </a:rPr>
              <a:t>َ </a:t>
            </a:r>
            <a:r>
              <a:rPr dirty="0" baseline="1543" sz="2700" spc="-225">
                <a:latin typeface="Arial"/>
                <a:cs typeface="Arial"/>
              </a:rPr>
              <a:t>امً </a:t>
            </a:r>
            <a:r>
              <a:rPr dirty="0" baseline="1543" sz="2700" spc="-270">
                <a:latin typeface="Arial"/>
                <a:cs typeface="Arial"/>
              </a:rPr>
              <a:t>وْ </a:t>
            </a:r>
            <a:r>
              <a:rPr dirty="0" baseline="1543" sz="2700" spc="-757">
                <a:latin typeface="Arial"/>
                <a:cs typeface="Arial"/>
              </a:rPr>
              <a:t>ق</a:t>
            </a:r>
            <a:r>
              <a:rPr dirty="0" baseline="6172" sz="2700" spc="-757">
                <a:latin typeface="Arial"/>
                <a:cs typeface="Arial"/>
              </a:rPr>
              <a:t>َ</a:t>
            </a:r>
            <a:r>
              <a:rPr dirty="0" baseline="6172" sz="2700" spc="660">
                <a:latin typeface="Arial"/>
                <a:cs typeface="Arial"/>
              </a:rPr>
              <a:t> </a:t>
            </a:r>
            <a:r>
              <a:rPr dirty="0" baseline="1543" sz="2700" spc="-345">
                <a:latin typeface="Arial"/>
                <a:cs typeface="Arial"/>
              </a:rPr>
              <a:t>اون</a:t>
            </a:r>
            <a:r>
              <a:rPr dirty="0" baseline="9259" sz="2700" spc="-345">
                <a:latin typeface="Arial"/>
                <a:cs typeface="Arial"/>
              </a:rPr>
              <a:t>ُ </a:t>
            </a:r>
            <a:r>
              <a:rPr dirty="0" baseline="1543" sz="2700" spc="-465">
                <a:latin typeface="Arial"/>
                <a:cs typeface="Arial"/>
              </a:rPr>
              <a:t>اك</a:t>
            </a:r>
            <a:r>
              <a:rPr dirty="0" baseline="6172" sz="2700" spc="-465">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59">
                <a:latin typeface="Arial"/>
                <a:cs typeface="Arial"/>
              </a:rPr>
              <a:t>هُ </a:t>
            </a:r>
            <a:r>
              <a:rPr dirty="0" baseline="1543" sz="2700" spc="-442">
                <a:latin typeface="Arial"/>
                <a:cs typeface="Arial"/>
              </a:rPr>
              <a:t>ن</a:t>
            </a:r>
            <a:r>
              <a:rPr dirty="0" baseline="9259" sz="2700" spc="-442">
                <a:latin typeface="Arial"/>
                <a:cs typeface="Arial"/>
              </a:rPr>
              <a:t>َّ </a:t>
            </a:r>
            <a:r>
              <a:rPr dirty="0" baseline="-12345" sz="2700">
                <a:latin typeface="Arial"/>
                <a:cs typeface="Arial"/>
              </a:rPr>
              <a:t>ِ</a:t>
            </a:r>
            <a:r>
              <a:rPr dirty="0" baseline="1543" sz="2700">
                <a:latin typeface="Arial"/>
                <a:cs typeface="Arial"/>
              </a:rPr>
              <a:t>إ </a:t>
            </a:r>
            <a:r>
              <a:rPr dirty="0" baseline="1543" sz="2700" spc="-337">
                <a:latin typeface="Arial"/>
                <a:cs typeface="Arial"/>
              </a:rPr>
              <a:t>ه</a:t>
            </a:r>
            <a:r>
              <a:rPr dirty="0" sz="1800" spc="-225">
                <a:latin typeface="Arial"/>
                <a:cs typeface="Arial"/>
              </a:rPr>
              <a:t>ِ </a:t>
            </a:r>
            <a:r>
              <a:rPr dirty="0" baseline="1543" sz="2700" spc="-855">
                <a:latin typeface="Arial"/>
                <a:cs typeface="Arial"/>
              </a:rPr>
              <a:t>ئ</a:t>
            </a:r>
            <a:r>
              <a:rPr dirty="0" sz="1800" spc="-570">
                <a:latin typeface="Arial"/>
                <a:cs typeface="Arial"/>
              </a:rPr>
              <a:t>ِ</a:t>
            </a:r>
            <a:r>
              <a:rPr dirty="0" sz="1800" spc="-65">
                <a:latin typeface="Arial"/>
                <a:cs typeface="Arial"/>
              </a:rPr>
              <a:t> </a:t>
            </a:r>
            <a:r>
              <a:rPr dirty="0" baseline="1543" sz="2700" spc="-690">
                <a:latin typeface="Arial"/>
                <a:cs typeface="Arial"/>
              </a:rPr>
              <a:t>ل</a:t>
            </a:r>
            <a:r>
              <a:rPr dirty="0" baseline="9259" sz="2700" spc="-690">
                <a:latin typeface="Arial"/>
                <a:cs typeface="Arial"/>
              </a:rPr>
              <a:t>َ </a:t>
            </a:r>
            <a:r>
              <a:rPr dirty="0" baseline="1543" sz="2700" spc="-359">
                <a:latin typeface="Arial"/>
                <a:cs typeface="Arial"/>
              </a:rPr>
              <a:t>م</a:t>
            </a:r>
            <a:r>
              <a:rPr dirty="0" baseline="-1543" sz="2700" spc="-359">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270">
                <a:latin typeface="Arial"/>
                <a:cs typeface="Arial"/>
              </a:rPr>
              <a:t>وْ </a:t>
            </a:r>
            <a:r>
              <a:rPr dirty="0" baseline="1543" sz="2700" spc="-607">
                <a:latin typeface="Arial"/>
                <a:cs typeface="Arial"/>
              </a:rPr>
              <a:t>ع</a:t>
            </a:r>
            <a:r>
              <a:rPr dirty="0" baseline="-1543" sz="2700" spc="-607">
                <a:latin typeface="Arial"/>
                <a:cs typeface="Arial"/>
              </a:rPr>
              <a:t>َ </a:t>
            </a:r>
            <a:r>
              <a:rPr dirty="0" baseline="1543" sz="2700" spc="-457">
                <a:latin typeface="Arial"/>
                <a:cs typeface="Arial"/>
              </a:rPr>
              <a:t>رْ </a:t>
            </a:r>
            <a:r>
              <a:rPr dirty="0" baseline="1543" sz="2700" spc="-1057">
                <a:latin typeface="Arial"/>
                <a:cs typeface="Arial"/>
              </a:rPr>
              <a:t>ف</a:t>
            </a:r>
            <a:r>
              <a:rPr dirty="0" sz="1800" spc="-705">
                <a:latin typeface="Arial"/>
                <a:cs typeface="Arial"/>
              </a:rPr>
              <a:t>ِ</a:t>
            </a:r>
            <a:r>
              <a:rPr dirty="0" sz="1800" spc="455">
                <a:latin typeface="Arial"/>
                <a:cs typeface="Arial"/>
              </a:rPr>
              <a:t> </a:t>
            </a:r>
            <a:r>
              <a:rPr dirty="0" baseline="1543" sz="2700" spc="-202">
                <a:latin typeface="Arial"/>
                <a:cs typeface="Arial"/>
              </a:rPr>
              <a:t>ى</a:t>
            </a:r>
            <a:r>
              <a:rPr dirty="0" baseline="9259" sz="2700" spc="-202">
                <a:latin typeface="Arial"/>
                <a:cs typeface="Arial"/>
              </a:rPr>
              <a:t>َ</a:t>
            </a:r>
            <a:r>
              <a:rPr dirty="0" baseline="1543" sz="2700" spc="-202">
                <a:latin typeface="Arial"/>
                <a:cs typeface="Arial"/>
              </a:rPr>
              <a:t>ل</a:t>
            </a:r>
            <a:r>
              <a:rPr dirty="0" baseline="-12345" sz="2700" spc="-202">
                <a:latin typeface="Arial"/>
                <a:cs typeface="Arial"/>
              </a:rPr>
              <a:t>ِ</a:t>
            </a:r>
            <a:r>
              <a:rPr dirty="0" baseline="1543" sz="2700" spc="-202">
                <a:latin typeface="Arial"/>
                <a:cs typeface="Arial"/>
              </a:rPr>
              <a:t>إ </a:t>
            </a:r>
            <a:r>
              <a:rPr dirty="0" baseline="1543" sz="2700" spc="-682">
                <a:latin typeface="Arial"/>
                <a:cs typeface="Arial"/>
              </a:rPr>
              <a:t>ك</a:t>
            </a:r>
            <a:r>
              <a:rPr dirty="0" baseline="-1543" sz="2700" spc="-682">
                <a:latin typeface="Arial"/>
                <a:cs typeface="Arial"/>
              </a:rPr>
              <a:t>َ </a:t>
            </a:r>
            <a:r>
              <a:rPr dirty="0" baseline="1543" sz="2700" spc="-607">
                <a:latin typeface="Arial"/>
                <a:cs typeface="Arial"/>
              </a:rPr>
              <a:t>بِّ </a:t>
            </a:r>
            <a:r>
              <a:rPr dirty="0" baseline="1543" sz="2700" spc="-345">
                <a:latin typeface="Arial"/>
                <a:cs typeface="Arial"/>
              </a:rPr>
              <a:t>ر</a:t>
            </a:r>
            <a:r>
              <a:rPr dirty="0" sz="1800" spc="-229">
                <a:latin typeface="Arial"/>
                <a:cs typeface="Arial"/>
              </a:rPr>
              <a:t>َّ </a:t>
            </a:r>
            <a:r>
              <a:rPr dirty="0" baseline="1543" sz="2700" spc="-240">
                <a:latin typeface="Arial"/>
                <a:cs typeface="Arial"/>
              </a:rPr>
              <a:t>نم</a:t>
            </a:r>
            <a:r>
              <a:rPr dirty="0" sz="1800" spc="-160">
                <a:latin typeface="Arial"/>
                <a:cs typeface="Arial"/>
              </a:rPr>
              <a:t>ِ </a:t>
            </a:r>
            <a:r>
              <a:rPr dirty="0" baseline="1543" sz="2700" spc="-607">
                <a:latin typeface="Arial"/>
                <a:cs typeface="Arial"/>
              </a:rPr>
              <a:t>ن</a:t>
            </a:r>
            <a:r>
              <a:rPr dirty="0" baseline="-12345" sz="2700" spc="-607">
                <a:latin typeface="Arial"/>
                <a:cs typeface="Arial"/>
              </a:rPr>
              <a:t>ِ  </a:t>
            </a:r>
            <a:r>
              <a:rPr dirty="0" baseline="1543" sz="2700" spc="-412">
                <a:latin typeface="Arial"/>
                <a:cs typeface="Arial"/>
              </a:rPr>
              <a:t>ان</a:t>
            </a:r>
            <a:r>
              <a:rPr dirty="0" baseline="6172" sz="2700" spc="-412">
                <a:latin typeface="Arial"/>
                <a:cs typeface="Arial"/>
              </a:rPr>
              <a:t>َ </a:t>
            </a:r>
            <a:r>
              <a:rPr dirty="0" baseline="1543" sz="2700" spc="-165">
                <a:latin typeface="Arial"/>
                <a:cs typeface="Arial"/>
              </a:rPr>
              <a:t>اه</a:t>
            </a:r>
            <a:r>
              <a:rPr dirty="0" baseline="-1543" sz="2700" spc="-165">
                <a:latin typeface="Arial"/>
                <a:cs typeface="Arial"/>
              </a:rPr>
              <a:t>َ </a:t>
            </a:r>
            <a:r>
              <a:rPr dirty="0" baseline="1543" sz="2700" spc="-457">
                <a:latin typeface="Arial"/>
                <a:cs typeface="Arial"/>
              </a:rPr>
              <a:t>رْ</a:t>
            </a:r>
            <a:r>
              <a:rPr dirty="0" baseline="1543" sz="2700" spc="-375">
                <a:latin typeface="Arial"/>
                <a:cs typeface="Arial"/>
              </a:rPr>
              <a:t> </a:t>
            </a:r>
            <a:r>
              <a:rPr dirty="0" baseline="1543" sz="2700" spc="-1860">
                <a:latin typeface="Arial"/>
                <a:cs typeface="Arial"/>
              </a:rPr>
              <a:t>ب</a:t>
            </a:r>
            <a:endParaRPr baseline="1543" sz="2700">
              <a:latin typeface="Arial"/>
              <a:cs typeface="Arial"/>
            </a:endParaRPr>
          </a:p>
          <a:p>
            <a:pPr algn="just" marL="149225" marR="136525">
              <a:lnSpc>
                <a:spcPts val="1380"/>
              </a:lnSpc>
              <a:spcBef>
                <a:spcPts val="1390"/>
              </a:spcBef>
              <a:buAutoNum type="arabicPeriod" startAt="32"/>
              <a:tabLst>
                <a:tab pos="427990" algn="l"/>
              </a:tabLst>
            </a:pPr>
            <a:r>
              <a:rPr dirty="0" sz="1200">
                <a:latin typeface="Arial"/>
                <a:cs typeface="Arial"/>
              </a:rPr>
              <a:t>Thrust thy </a:t>
            </a:r>
            <a:r>
              <a:rPr dirty="0" sz="1200" spc="-5">
                <a:latin typeface="Arial"/>
                <a:cs typeface="Arial"/>
              </a:rPr>
              <a:t>hand into the bosom of </a:t>
            </a:r>
            <a:r>
              <a:rPr dirty="0" sz="1200">
                <a:latin typeface="Arial"/>
                <a:cs typeface="Arial"/>
              </a:rPr>
              <a:t>thy </a:t>
            </a:r>
            <a:r>
              <a:rPr dirty="0" sz="1200" spc="-5">
                <a:latin typeface="Arial"/>
                <a:cs typeface="Arial"/>
              </a:rPr>
              <a:t>robe, </a:t>
            </a:r>
            <a:r>
              <a:rPr dirty="0" sz="1200">
                <a:latin typeface="Arial"/>
                <a:cs typeface="Arial"/>
              </a:rPr>
              <a:t>it </a:t>
            </a:r>
            <a:r>
              <a:rPr dirty="0" sz="1200" spc="-5">
                <a:latin typeface="Arial"/>
                <a:cs typeface="Arial"/>
              </a:rPr>
              <a:t>will </a:t>
            </a:r>
            <a:r>
              <a:rPr dirty="0" sz="1200">
                <a:latin typeface="Arial"/>
                <a:cs typeface="Arial"/>
              </a:rPr>
              <a:t>come forth </a:t>
            </a:r>
            <a:r>
              <a:rPr dirty="0" sz="1200" spc="-5">
                <a:latin typeface="Arial"/>
                <a:cs typeface="Arial"/>
              </a:rPr>
              <a:t>white without </a:t>
            </a:r>
            <a:r>
              <a:rPr dirty="0" sz="1200">
                <a:latin typeface="Arial"/>
                <a:cs typeface="Arial"/>
              </a:rPr>
              <a:t>hurt. </a:t>
            </a:r>
            <a:r>
              <a:rPr dirty="0" sz="1200" spc="-5">
                <a:latin typeface="Arial"/>
                <a:cs typeface="Arial"/>
              </a:rPr>
              <a:t>And  guard </a:t>
            </a:r>
            <a:r>
              <a:rPr dirty="0" sz="1200">
                <a:latin typeface="Arial"/>
                <a:cs typeface="Arial"/>
              </a:rPr>
              <a:t>thy </a:t>
            </a:r>
            <a:r>
              <a:rPr dirty="0" sz="1200" spc="-5">
                <a:latin typeface="Arial"/>
                <a:cs typeface="Arial"/>
              </a:rPr>
              <a:t>heart from </a:t>
            </a:r>
            <a:r>
              <a:rPr dirty="0" sz="1200">
                <a:latin typeface="Arial"/>
                <a:cs typeface="Arial"/>
              </a:rPr>
              <a:t>fear. Then </a:t>
            </a:r>
            <a:r>
              <a:rPr dirty="0" sz="1200" spc="-5">
                <a:latin typeface="Arial"/>
                <a:cs typeface="Arial"/>
              </a:rPr>
              <a:t>these shall be </a:t>
            </a:r>
            <a:r>
              <a:rPr dirty="0" sz="1200" spc="-10">
                <a:latin typeface="Arial"/>
                <a:cs typeface="Arial"/>
              </a:rPr>
              <a:t>two </a:t>
            </a:r>
            <a:r>
              <a:rPr dirty="0" sz="1200" spc="-5">
                <a:latin typeface="Arial"/>
                <a:cs typeface="Arial"/>
              </a:rPr>
              <a:t>proofs from your Lord unto Pharaoh and  his </a:t>
            </a:r>
            <a:r>
              <a:rPr dirty="0" sz="1200">
                <a:latin typeface="Arial"/>
                <a:cs typeface="Arial"/>
              </a:rPr>
              <a:t>chiefs: </a:t>
            </a:r>
            <a:r>
              <a:rPr dirty="0" sz="1200" spc="-5">
                <a:latin typeface="Arial"/>
                <a:cs typeface="Arial"/>
              </a:rPr>
              <a:t>Lo! </a:t>
            </a:r>
            <a:r>
              <a:rPr dirty="0" sz="1200">
                <a:latin typeface="Arial"/>
                <a:cs typeface="Arial"/>
              </a:rPr>
              <a:t>They </a:t>
            </a:r>
            <a:r>
              <a:rPr dirty="0" sz="1200" spc="-10">
                <a:latin typeface="Arial"/>
                <a:cs typeface="Arial"/>
              </a:rPr>
              <a:t>are </a:t>
            </a:r>
            <a:r>
              <a:rPr dirty="0" sz="1200" spc="-5">
                <a:latin typeface="Arial"/>
                <a:cs typeface="Arial"/>
              </a:rPr>
              <a:t>evil living</a:t>
            </a:r>
            <a:r>
              <a:rPr dirty="0" sz="1200" spc="-15">
                <a:latin typeface="Arial"/>
                <a:cs typeface="Arial"/>
              </a:rPr>
              <a:t> </a:t>
            </a:r>
            <a:r>
              <a:rPr dirty="0" sz="1200">
                <a:latin typeface="Arial"/>
                <a:cs typeface="Arial"/>
              </a:rPr>
              <a:t>folk.</a:t>
            </a:r>
            <a:endParaRPr sz="1200">
              <a:latin typeface="Arial"/>
              <a:cs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90955" y="982726"/>
            <a:ext cx="6092190" cy="561975"/>
          </a:xfrm>
          <a:prstGeom prst="rect">
            <a:avLst/>
          </a:prstGeom>
        </p:spPr>
        <p:txBody>
          <a:bodyPr wrap="square" lIns="0" tIns="12700" rIns="0" bIns="0" rtlCol="0" vert="horz">
            <a:spAutoFit/>
          </a:bodyPr>
          <a:lstStyle/>
          <a:p>
            <a:pPr algn="r" marR="99060">
              <a:lnSpc>
                <a:spcPts val="2110"/>
              </a:lnSpc>
              <a:spcBef>
                <a:spcPts val="100"/>
              </a:spcBef>
            </a:pPr>
            <a:r>
              <a:rPr dirty="0" baseline="3086" sz="2700" spc="-412">
                <a:latin typeface="Arial"/>
                <a:cs typeface="Arial"/>
              </a:rPr>
              <a:t>ان</a:t>
            </a:r>
            <a:r>
              <a:rPr dirty="0" baseline="7716" sz="2700" spc="-412">
                <a:latin typeface="Arial"/>
                <a:cs typeface="Arial"/>
              </a:rPr>
              <a:t>َ </a:t>
            </a:r>
            <a:r>
              <a:rPr dirty="0" baseline="3086" sz="2700" spc="-855">
                <a:latin typeface="Arial"/>
                <a:cs typeface="Arial"/>
              </a:rPr>
              <a:t>ئ</a:t>
            </a:r>
            <a:r>
              <a:rPr dirty="0" baseline="1543" sz="2700" spc="-855">
                <a:latin typeface="Arial"/>
                <a:cs typeface="Arial"/>
              </a:rPr>
              <a:t>ِ</a:t>
            </a:r>
            <a:r>
              <a:rPr dirty="0" baseline="1543" sz="2700" spc="-104">
                <a:latin typeface="Arial"/>
                <a:cs typeface="Arial"/>
              </a:rPr>
              <a:t> </a:t>
            </a:r>
            <a:r>
              <a:rPr dirty="0" baseline="3086" sz="2700" spc="-585">
                <a:latin typeface="Arial"/>
                <a:cs typeface="Arial"/>
              </a:rPr>
              <a:t>اب</a:t>
            </a:r>
            <a:r>
              <a:rPr dirty="0" sz="1800" spc="-390">
                <a:latin typeface="Arial"/>
                <a:cs typeface="Arial"/>
              </a:rPr>
              <a:t>َ </a:t>
            </a:r>
            <a:r>
              <a:rPr dirty="0" baseline="3086" sz="2700">
                <a:latin typeface="Arial"/>
                <a:cs typeface="Arial"/>
              </a:rPr>
              <a:t>آ </a:t>
            </a:r>
            <a:r>
              <a:rPr dirty="0" baseline="3086" sz="2700" spc="-705">
                <a:latin typeface="Arial"/>
                <a:cs typeface="Arial"/>
              </a:rPr>
              <a:t>ًف</a:t>
            </a:r>
            <a:r>
              <a:rPr dirty="0" baseline="1543" sz="2700" spc="-705">
                <a:latin typeface="Arial"/>
                <a:cs typeface="Arial"/>
              </a:rPr>
              <a:t>ِ </a:t>
            </a:r>
            <a:r>
              <a:rPr dirty="0" baseline="3086" sz="2700" spc="-217">
                <a:latin typeface="Arial"/>
                <a:cs typeface="Arial"/>
              </a:rPr>
              <a:t>اذ</a:t>
            </a:r>
            <a:r>
              <a:rPr dirty="0" baseline="13888" sz="2700" spc="-217">
                <a:latin typeface="Arial"/>
                <a:cs typeface="Arial"/>
              </a:rPr>
              <a:t>َ </a:t>
            </a:r>
            <a:r>
              <a:rPr dirty="0" baseline="3086" sz="2700" spc="-322">
                <a:latin typeface="Arial"/>
                <a:cs typeface="Arial"/>
              </a:rPr>
              <a:t>ه</a:t>
            </a:r>
            <a:r>
              <a:rPr dirty="0" sz="1800" spc="-215">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660">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569">
                <a:latin typeface="Arial"/>
                <a:cs typeface="Arial"/>
              </a:rPr>
              <a:t>عْ </a:t>
            </a:r>
            <a:r>
              <a:rPr dirty="0" baseline="3086" sz="2700" spc="-352">
                <a:latin typeface="Arial"/>
                <a:cs typeface="Arial"/>
              </a:rPr>
              <a:t>م</a:t>
            </a:r>
            <a:r>
              <a:rPr dirty="0" baseline="1543" sz="2700" spc="-352">
                <a:latin typeface="Arial"/>
                <a:cs typeface="Arial"/>
              </a:rPr>
              <a:t>ِ </a:t>
            </a:r>
            <a:r>
              <a:rPr dirty="0" baseline="3086" sz="2700" spc="-982">
                <a:latin typeface="Arial"/>
                <a:cs typeface="Arial"/>
              </a:rPr>
              <a:t>س</a:t>
            </a:r>
            <a:r>
              <a:rPr dirty="0" sz="1800" spc="-655">
                <a:latin typeface="Arial"/>
                <a:cs typeface="Arial"/>
              </a:rPr>
              <a:t>َ</a:t>
            </a:r>
            <a:r>
              <a:rPr dirty="0" sz="1800" spc="775">
                <a:latin typeface="Arial"/>
                <a:cs typeface="Arial"/>
              </a:rPr>
              <a:t> </a:t>
            </a:r>
            <a:r>
              <a:rPr dirty="0" baseline="3086" sz="2700" spc="-225">
                <a:latin typeface="Arial"/>
                <a:cs typeface="Arial"/>
              </a:rPr>
              <a:t>ام</a:t>
            </a:r>
            <a:r>
              <a:rPr dirty="0" sz="1800" spc="-150">
                <a:latin typeface="Arial"/>
                <a:cs typeface="Arial"/>
              </a:rPr>
              <a:t>َ </a:t>
            </a:r>
            <a:r>
              <a:rPr dirty="0" baseline="3086" sz="2700" spc="-307">
                <a:latin typeface="Arial"/>
                <a:cs typeface="Arial"/>
              </a:rPr>
              <a:t>و</a:t>
            </a:r>
            <a:r>
              <a:rPr dirty="0" sz="1800" spc="-204">
                <a:latin typeface="Arial"/>
                <a:cs typeface="Arial"/>
              </a:rPr>
              <a:t>َ </a:t>
            </a:r>
            <a:r>
              <a:rPr dirty="0" baseline="3086" sz="2700" spc="-330">
                <a:latin typeface="Arial"/>
                <a:cs typeface="Arial"/>
              </a:rPr>
              <a:t>ىر</a:t>
            </a:r>
            <a:r>
              <a:rPr dirty="0" baseline="4629" sz="2700" spc="-330">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spc="-997">
                <a:latin typeface="Arial"/>
                <a:cs typeface="Arial"/>
              </a:rPr>
              <a:t>ف</a:t>
            </a:r>
            <a:r>
              <a:rPr dirty="0" baseline="12345" sz="2700" spc="-997">
                <a:latin typeface="Arial"/>
                <a:cs typeface="Arial"/>
              </a:rPr>
              <a:t>ْ</a:t>
            </a:r>
            <a:r>
              <a:rPr dirty="0" baseline="12345" sz="2700" spc="-187">
                <a:latin typeface="Arial"/>
                <a:cs typeface="Arial"/>
              </a:rPr>
              <a:t> </a:t>
            </a:r>
            <a:r>
              <a:rPr dirty="0" baseline="3086" sz="2700" spc="-254">
                <a:latin typeface="Arial"/>
                <a:cs typeface="Arial"/>
              </a:rPr>
              <a:t>مُّ  </a:t>
            </a:r>
            <a:r>
              <a:rPr dirty="0" baseline="3086" sz="2700" spc="-525">
                <a:latin typeface="Arial"/>
                <a:cs typeface="Arial"/>
              </a:rPr>
              <a:t>ر</a:t>
            </a:r>
            <a:r>
              <a:rPr dirty="0" baseline="4629" sz="2700" spc="-525">
                <a:latin typeface="Arial"/>
                <a:cs typeface="Arial"/>
              </a:rPr>
              <a:t>ٌ </a:t>
            </a:r>
            <a:r>
              <a:rPr dirty="0" baseline="3086" sz="2700" spc="-555">
                <a:latin typeface="Arial"/>
                <a:cs typeface="Arial"/>
              </a:rPr>
              <a:t>حْ </a:t>
            </a:r>
            <a:r>
              <a:rPr dirty="0" baseline="3086" sz="2700" spc="-937">
                <a:latin typeface="Arial"/>
                <a:cs typeface="Arial"/>
              </a:rPr>
              <a:t>س</a:t>
            </a:r>
            <a:r>
              <a:rPr dirty="0" baseline="1543" sz="2700" spc="-937">
                <a:latin typeface="Arial"/>
                <a:cs typeface="Arial"/>
              </a:rPr>
              <a:t>ِ</a:t>
            </a:r>
            <a:r>
              <a:rPr dirty="0" baseline="1543" sz="2700" spc="1087">
                <a:latin typeface="Arial"/>
                <a:cs typeface="Arial"/>
              </a:rPr>
              <a:t> </a:t>
            </a:r>
            <a:r>
              <a:rPr dirty="0" baseline="3086" sz="2700" spc="-390">
                <a:latin typeface="Arial"/>
                <a:cs typeface="Arial"/>
              </a:rPr>
              <a:t>لا</a:t>
            </a:r>
            <a:r>
              <a:rPr dirty="0" baseline="13888" sz="2700" spc="-390">
                <a:latin typeface="Arial"/>
                <a:cs typeface="Arial"/>
              </a:rPr>
              <a:t>َّ </a:t>
            </a:r>
            <a:r>
              <a:rPr dirty="0" baseline="-10802" sz="2700">
                <a:latin typeface="Arial"/>
                <a:cs typeface="Arial"/>
              </a:rPr>
              <a:t>ِ</a:t>
            </a:r>
            <a:r>
              <a:rPr dirty="0" baseline="3086" sz="2700">
                <a:latin typeface="Arial"/>
                <a:cs typeface="Arial"/>
              </a:rPr>
              <a:t>إ </a:t>
            </a:r>
            <a:r>
              <a:rPr dirty="0" baseline="3086" sz="2700" spc="-217">
                <a:latin typeface="Arial"/>
                <a:cs typeface="Arial"/>
              </a:rPr>
              <a:t>اذ</a:t>
            </a:r>
            <a:r>
              <a:rPr dirty="0" baseline="13888" sz="2700" spc="-217">
                <a:latin typeface="Arial"/>
                <a:cs typeface="Arial"/>
              </a:rPr>
              <a:t>َ </a:t>
            </a:r>
            <a:r>
              <a:rPr dirty="0" baseline="3086" sz="2700" spc="-277">
                <a:latin typeface="Arial"/>
                <a:cs typeface="Arial"/>
              </a:rPr>
              <a:t>ه</a:t>
            </a:r>
            <a:r>
              <a:rPr dirty="0" sz="1800" spc="-185">
                <a:latin typeface="Arial"/>
                <a:cs typeface="Arial"/>
              </a:rPr>
              <a:t>َ </a:t>
            </a:r>
            <a:r>
              <a:rPr dirty="0" baseline="3086" sz="2700" spc="-225">
                <a:latin typeface="Arial"/>
                <a:cs typeface="Arial"/>
              </a:rPr>
              <a:t>ام</a:t>
            </a:r>
            <a:r>
              <a:rPr dirty="0" sz="1800" spc="-150">
                <a:latin typeface="Arial"/>
                <a:cs typeface="Arial"/>
              </a:rPr>
              <a:t>َ </a:t>
            </a:r>
            <a:r>
              <a:rPr dirty="0" baseline="3086" sz="2700" spc="-337">
                <a:latin typeface="Arial"/>
                <a:cs typeface="Arial"/>
              </a:rPr>
              <a:t>او</a:t>
            </a:r>
            <a:r>
              <a:rPr dirty="0" baseline="13888" sz="2700" spc="-337">
                <a:latin typeface="Arial"/>
                <a:cs typeface="Arial"/>
              </a:rPr>
              <a:t>ُ</a:t>
            </a:r>
            <a:r>
              <a:rPr dirty="0" baseline="3086" sz="2700" spc="-337">
                <a:latin typeface="Arial"/>
                <a:cs typeface="Arial"/>
              </a:rPr>
              <a:t>لاق</a:t>
            </a:r>
            <a:r>
              <a:rPr dirty="0" baseline="7716" sz="2700" spc="-337">
                <a:latin typeface="Arial"/>
                <a:cs typeface="Arial"/>
              </a:rPr>
              <a:t>َ </a:t>
            </a:r>
            <a:r>
              <a:rPr dirty="0" baseline="3086" sz="2700" spc="-869">
                <a:latin typeface="Arial"/>
                <a:cs typeface="Arial"/>
              </a:rPr>
              <a:t>تٍ</a:t>
            </a:r>
            <a:r>
              <a:rPr dirty="0" baseline="3086" sz="2700" spc="982">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a:latin typeface="Arial"/>
                <a:cs typeface="Arial"/>
              </a:rPr>
              <a:t>ٌِّ </a:t>
            </a:r>
            <a:r>
              <a:rPr dirty="0" baseline="3086" sz="2700" spc="-907">
                <a:latin typeface="Arial"/>
                <a:cs typeface="Arial"/>
              </a:rPr>
              <a:t>ب</a:t>
            </a:r>
            <a:r>
              <a:rPr dirty="0" sz="1800" spc="-605">
                <a:latin typeface="Arial"/>
                <a:cs typeface="Arial"/>
              </a:rPr>
              <a:t>َ</a:t>
            </a:r>
            <a:r>
              <a:rPr dirty="0" sz="1800" spc="355">
                <a:latin typeface="Arial"/>
                <a:cs typeface="Arial"/>
              </a:rPr>
              <a:t> </a:t>
            </a:r>
            <a:r>
              <a:rPr dirty="0" baseline="3086" sz="2700" spc="-412">
                <a:latin typeface="Arial"/>
                <a:cs typeface="Arial"/>
              </a:rPr>
              <a:t>ان</a:t>
            </a:r>
            <a:r>
              <a:rPr dirty="0" baseline="7716" sz="2700" spc="-412">
                <a:latin typeface="Arial"/>
                <a:cs typeface="Arial"/>
              </a:rPr>
              <a:t>َ </a:t>
            </a:r>
            <a:r>
              <a:rPr dirty="0" baseline="3086" sz="2700" spc="-960">
                <a:latin typeface="Arial"/>
                <a:cs typeface="Arial"/>
              </a:rPr>
              <a:t>ت</a:t>
            </a:r>
            <a:r>
              <a:rPr dirty="0" baseline="1543" sz="2700" spc="-960">
                <a:latin typeface="Arial"/>
                <a:cs typeface="Arial"/>
              </a:rPr>
              <a:t>ِ</a:t>
            </a:r>
            <a:r>
              <a:rPr dirty="0" baseline="1543" sz="2700" spc="-104">
                <a:latin typeface="Arial"/>
                <a:cs typeface="Arial"/>
              </a:rPr>
              <a:t> </a:t>
            </a:r>
            <a:r>
              <a:rPr dirty="0" baseline="3086" sz="2700" spc="15">
                <a:latin typeface="Arial"/>
                <a:cs typeface="Arial"/>
              </a:rPr>
              <a:t>اٌ</a:t>
            </a:r>
            <a:r>
              <a:rPr dirty="0" sz="1800" spc="10">
                <a:latin typeface="Arial"/>
                <a:cs typeface="Arial"/>
              </a:rPr>
              <a:t>َ </a:t>
            </a:r>
            <a:r>
              <a:rPr dirty="0" baseline="3086" sz="2700" spc="-622">
                <a:latin typeface="Arial"/>
                <a:cs typeface="Arial"/>
              </a:rPr>
              <a:t>آب</a:t>
            </a:r>
            <a:r>
              <a:rPr dirty="0" baseline="-10802" sz="2700" spc="-622">
                <a:latin typeface="Arial"/>
                <a:cs typeface="Arial"/>
              </a:rPr>
              <a:t>ِ </a:t>
            </a:r>
            <a:r>
              <a:rPr dirty="0" baseline="3086" sz="2700" spc="-705">
                <a:latin typeface="Arial"/>
                <a:cs typeface="Arial"/>
              </a:rPr>
              <a:t>ىس</a:t>
            </a:r>
            <a:r>
              <a:rPr dirty="0" sz="1800" spc="-470">
                <a:latin typeface="Arial"/>
                <a:cs typeface="Arial"/>
              </a:rPr>
              <a:t>َ </a:t>
            </a:r>
            <a:r>
              <a:rPr dirty="0" baseline="3086" sz="2700" spc="-195">
                <a:latin typeface="Arial"/>
                <a:cs typeface="Arial"/>
              </a:rPr>
              <a:t>ومُّ </a:t>
            </a:r>
            <a:r>
              <a:rPr dirty="0" baseline="3086" sz="2700" spc="-202">
                <a:latin typeface="Arial"/>
                <a:cs typeface="Arial"/>
              </a:rPr>
              <a:t>مهُ </a:t>
            </a:r>
            <a:r>
              <a:rPr dirty="0" baseline="3086" sz="2700" spc="-284">
                <a:latin typeface="Arial"/>
                <a:cs typeface="Arial"/>
              </a:rPr>
              <a:t>ءاج</a:t>
            </a:r>
            <a:r>
              <a:rPr dirty="0" sz="1800" spc="-190">
                <a:latin typeface="Arial"/>
                <a:cs typeface="Arial"/>
              </a:rPr>
              <a:t>َ </a:t>
            </a:r>
            <a:r>
              <a:rPr dirty="0" baseline="3086" sz="2700" spc="-179">
                <a:latin typeface="Arial"/>
                <a:cs typeface="Arial"/>
              </a:rPr>
              <a:t>امَّ</a:t>
            </a:r>
            <a:r>
              <a:rPr dirty="0" baseline="3086" sz="2700" spc="-67">
                <a:latin typeface="Arial"/>
                <a:cs typeface="Arial"/>
              </a:rPr>
              <a:t> </a:t>
            </a:r>
            <a:r>
              <a:rPr dirty="0" baseline="10802" sz="2700" spc="-960">
                <a:latin typeface="Arial"/>
                <a:cs typeface="Arial"/>
              </a:rPr>
              <a:t>َ</a:t>
            </a:r>
            <a:r>
              <a:rPr dirty="0" baseline="3086" sz="2700" spc="-960">
                <a:latin typeface="Arial"/>
                <a:cs typeface="Arial"/>
              </a:rPr>
              <a:t>لف</a:t>
            </a:r>
            <a:endParaRPr baseline="3086" sz="2700">
              <a:latin typeface="Arial"/>
              <a:cs typeface="Arial"/>
            </a:endParaRPr>
          </a:p>
          <a:p>
            <a:pPr algn="r" marR="43180">
              <a:lnSpc>
                <a:spcPts val="2110"/>
              </a:lnSpc>
            </a:pPr>
            <a:r>
              <a:rPr dirty="0" baseline="3086" sz="2700" spc="-494">
                <a:latin typeface="Arial"/>
                <a:cs typeface="Arial"/>
              </a:rPr>
              <a:t>ن</a:t>
            </a:r>
            <a:r>
              <a:rPr dirty="0" sz="1800" spc="-330">
                <a:latin typeface="Arial"/>
                <a:cs typeface="Arial"/>
              </a:rPr>
              <a:t>َ </a:t>
            </a:r>
            <a:r>
              <a:rPr dirty="0" baseline="3086" sz="2700" spc="-247">
                <a:latin typeface="Arial"/>
                <a:cs typeface="Arial"/>
              </a:rPr>
              <a:t>ٌ</a:t>
            </a:r>
            <a:r>
              <a:rPr dirty="0" baseline="1543" sz="2700" spc="-247">
                <a:latin typeface="Arial"/>
                <a:cs typeface="Arial"/>
              </a:rPr>
              <a:t>ِ</a:t>
            </a:r>
            <a:r>
              <a:rPr dirty="0" baseline="3086" sz="2700" spc="-247">
                <a:latin typeface="Arial"/>
                <a:cs typeface="Arial"/>
              </a:rPr>
              <a:t>لوَّ </a:t>
            </a:r>
            <a:r>
              <a:rPr dirty="0" baseline="16975" sz="2700" spc="-359">
                <a:latin typeface="Arial"/>
                <a:cs typeface="Arial"/>
              </a:rPr>
              <a:t>َ</a:t>
            </a:r>
            <a:r>
              <a:rPr dirty="0" baseline="3086" sz="2700" spc="-359">
                <a:latin typeface="Arial"/>
                <a:cs typeface="Arial"/>
              </a:rPr>
              <a:t>لأ</a:t>
            </a:r>
            <a:r>
              <a:rPr dirty="0" baseline="13888" sz="2700" spc="-359">
                <a:latin typeface="Arial"/>
                <a:cs typeface="Arial"/>
              </a:rPr>
              <a:t>ْ</a:t>
            </a:r>
            <a:r>
              <a:rPr dirty="0" baseline="13888" sz="2700" spc="-217">
                <a:latin typeface="Arial"/>
                <a:cs typeface="Arial"/>
              </a:rPr>
              <a:t> </a:t>
            </a:r>
            <a:r>
              <a:rPr dirty="0" baseline="3086" sz="2700">
                <a:latin typeface="Arial"/>
                <a:cs typeface="Arial"/>
              </a:rPr>
              <a:t>ا</a:t>
            </a:r>
            <a:endParaRPr baseline="3086" sz="27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72</a:t>
            </a:r>
          </a:p>
        </p:txBody>
      </p:sp>
      <p:sp>
        <p:nvSpPr>
          <p:cNvPr id="6" name="object 6"/>
          <p:cNvSpPr txBox="1"/>
          <p:nvPr/>
        </p:nvSpPr>
        <p:spPr>
          <a:xfrm>
            <a:off x="407416" y="1676145"/>
            <a:ext cx="6589395" cy="7677150"/>
          </a:xfrm>
          <a:prstGeom prst="rect">
            <a:avLst/>
          </a:prstGeom>
        </p:spPr>
        <p:txBody>
          <a:bodyPr wrap="square" lIns="0" tIns="24765" rIns="0" bIns="0" rtlCol="0" vert="horz">
            <a:spAutoFit/>
          </a:bodyPr>
          <a:lstStyle/>
          <a:p>
            <a:pPr algn="just" marL="139700" marR="155575">
              <a:lnSpc>
                <a:spcPts val="1380"/>
              </a:lnSpc>
              <a:spcBef>
                <a:spcPts val="195"/>
              </a:spcBef>
            </a:pPr>
            <a:r>
              <a:rPr dirty="0" sz="1200" spc="-5">
                <a:latin typeface="Arial"/>
                <a:cs typeface="Arial"/>
              </a:rPr>
              <a:t>36. But when Moses </a:t>
            </a:r>
            <a:r>
              <a:rPr dirty="0" sz="1200">
                <a:latin typeface="Arial"/>
                <a:cs typeface="Arial"/>
              </a:rPr>
              <a:t>came </a:t>
            </a:r>
            <a:r>
              <a:rPr dirty="0" sz="1200" spc="-5">
                <a:latin typeface="Arial"/>
                <a:cs typeface="Arial"/>
              </a:rPr>
              <a:t>unto them with our </a:t>
            </a:r>
            <a:r>
              <a:rPr dirty="0" sz="1200">
                <a:latin typeface="Arial"/>
                <a:cs typeface="Arial"/>
              </a:rPr>
              <a:t>clear </a:t>
            </a:r>
            <a:r>
              <a:rPr dirty="0" sz="1200" spc="-5">
                <a:latin typeface="Arial"/>
                <a:cs typeface="Arial"/>
              </a:rPr>
              <a:t>tokens, </a:t>
            </a:r>
            <a:r>
              <a:rPr dirty="0" sz="1200">
                <a:latin typeface="Arial"/>
                <a:cs typeface="Arial"/>
              </a:rPr>
              <a:t>they </a:t>
            </a:r>
            <a:r>
              <a:rPr dirty="0" sz="1200" spc="-5">
                <a:latin typeface="Arial"/>
                <a:cs typeface="Arial"/>
              </a:rPr>
              <a:t>said: </a:t>
            </a:r>
            <a:r>
              <a:rPr dirty="0" sz="1200">
                <a:latin typeface="Arial"/>
                <a:cs typeface="Arial"/>
              </a:rPr>
              <a:t>This </a:t>
            </a:r>
            <a:r>
              <a:rPr dirty="0" sz="1200" spc="-5">
                <a:latin typeface="Arial"/>
                <a:cs typeface="Arial"/>
              </a:rPr>
              <a:t>is naught </a:t>
            </a:r>
            <a:r>
              <a:rPr dirty="0" sz="1200" spc="5">
                <a:latin typeface="Arial"/>
                <a:cs typeface="Arial"/>
              </a:rPr>
              <a:t>but  </a:t>
            </a:r>
            <a:r>
              <a:rPr dirty="0" sz="1200" spc="-5">
                <a:latin typeface="Arial"/>
                <a:cs typeface="Arial"/>
              </a:rPr>
              <a:t>invented magic. </a:t>
            </a:r>
            <a:r>
              <a:rPr dirty="0" sz="1200" spc="15">
                <a:latin typeface="Arial"/>
                <a:cs typeface="Arial"/>
              </a:rPr>
              <a:t>We </a:t>
            </a:r>
            <a:r>
              <a:rPr dirty="0" sz="1200" spc="-10">
                <a:latin typeface="Arial"/>
                <a:cs typeface="Arial"/>
              </a:rPr>
              <a:t>never </a:t>
            </a:r>
            <a:r>
              <a:rPr dirty="0" sz="1200" spc="-5">
                <a:latin typeface="Arial"/>
                <a:cs typeface="Arial"/>
              </a:rPr>
              <a:t>heard of </a:t>
            </a:r>
            <a:r>
              <a:rPr dirty="0" sz="1200">
                <a:latin typeface="Arial"/>
                <a:cs typeface="Arial"/>
              </a:rPr>
              <a:t>this </a:t>
            </a:r>
            <a:r>
              <a:rPr dirty="0" sz="1200" spc="-10">
                <a:latin typeface="Arial"/>
                <a:cs typeface="Arial"/>
              </a:rPr>
              <a:t>among </a:t>
            </a:r>
            <a:r>
              <a:rPr dirty="0" sz="1200">
                <a:latin typeface="Arial"/>
                <a:cs typeface="Arial"/>
              </a:rPr>
              <a:t>our </a:t>
            </a:r>
            <a:r>
              <a:rPr dirty="0" sz="1200" spc="-5">
                <a:latin typeface="Arial"/>
                <a:cs typeface="Arial"/>
              </a:rPr>
              <a:t>fathers of</a:t>
            </a:r>
            <a:r>
              <a:rPr dirty="0" sz="1200">
                <a:latin typeface="Arial"/>
                <a:cs typeface="Arial"/>
              </a:rPr>
              <a:t> </a:t>
            </a:r>
            <a:r>
              <a:rPr dirty="0" sz="1200" spc="-5">
                <a:latin typeface="Arial"/>
                <a:cs typeface="Arial"/>
              </a:rPr>
              <a:t>old.</a:t>
            </a:r>
            <a:endParaRPr sz="1200">
              <a:latin typeface="Arial"/>
              <a:cs typeface="Arial"/>
            </a:endParaRPr>
          </a:p>
          <a:p>
            <a:pPr>
              <a:lnSpc>
                <a:spcPct val="100000"/>
              </a:lnSpc>
            </a:pPr>
            <a:endParaRPr sz="1300">
              <a:latin typeface="Arial"/>
              <a:cs typeface="Arial"/>
            </a:endParaRPr>
          </a:p>
          <a:p>
            <a:pPr algn="r" marL="1625600" marR="209550" indent="-1102360">
              <a:lnSpc>
                <a:spcPts val="2060"/>
              </a:lnSpc>
            </a:pPr>
            <a:r>
              <a:rPr dirty="0" baseline="3086" sz="2700" spc="-607">
                <a:latin typeface="Arial"/>
                <a:cs typeface="Arial"/>
              </a:rPr>
              <a:t>ن</a:t>
            </a:r>
            <a:r>
              <a:rPr dirty="0" baseline="-10802" sz="2700" spc="-607">
                <a:latin typeface="Arial"/>
                <a:cs typeface="Arial"/>
              </a:rPr>
              <a:t>ِ</a:t>
            </a:r>
            <a:r>
              <a:rPr dirty="0" baseline="-10802" sz="2700" spc="-465">
                <a:latin typeface="Arial"/>
                <a:cs typeface="Arial"/>
              </a:rPr>
              <a:t> </a:t>
            </a:r>
            <a:r>
              <a:rPr dirty="0" baseline="3086" sz="2700" spc="-337">
                <a:latin typeface="Arial"/>
                <a:cs typeface="Arial"/>
              </a:rPr>
              <a:t>ٌط</a:t>
            </a:r>
            <a:r>
              <a:rPr dirty="0" baseline="16975" sz="2700" spc="-337">
                <a:latin typeface="Arial"/>
                <a:cs typeface="Arial"/>
              </a:rPr>
              <a:t>ِّ </a:t>
            </a:r>
            <a:r>
              <a:rPr dirty="0" baseline="3086" sz="2700" spc="-412">
                <a:latin typeface="Arial"/>
                <a:cs typeface="Arial"/>
              </a:rPr>
              <a:t>لا </a:t>
            </a:r>
            <a:r>
              <a:rPr dirty="0" baseline="3086" sz="2700" spc="-509">
                <a:latin typeface="Arial"/>
                <a:cs typeface="Arial"/>
              </a:rPr>
              <a:t>ىل</a:t>
            </a:r>
            <a:r>
              <a:rPr dirty="0" baseline="10802" sz="2700" spc="-509">
                <a:latin typeface="Arial"/>
                <a:cs typeface="Arial"/>
              </a:rPr>
              <a:t>َ </a:t>
            </a:r>
            <a:r>
              <a:rPr dirty="0" baseline="3086" sz="2700" spc="-607">
                <a:latin typeface="Arial"/>
                <a:cs typeface="Arial"/>
              </a:rPr>
              <a:t>ع</a:t>
            </a:r>
            <a:r>
              <a:rPr dirty="0" sz="1800" spc="-405">
                <a:latin typeface="Arial"/>
                <a:cs typeface="Arial"/>
              </a:rPr>
              <a:t>َ  </a:t>
            </a:r>
            <a:r>
              <a:rPr dirty="0" baseline="3086" sz="2700" spc="-532">
                <a:latin typeface="Arial"/>
                <a:cs typeface="Arial"/>
              </a:rPr>
              <a:t>نُ </a:t>
            </a:r>
            <a:r>
              <a:rPr dirty="0" baseline="3086" sz="2700" spc="-225">
                <a:latin typeface="Arial"/>
                <a:cs typeface="Arial"/>
              </a:rPr>
              <a:t>ام</a:t>
            </a:r>
            <a:r>
              <a:rPr dirty="0" sz="1800" spc="-150">
                <a:latin typeface="Arial"/>
                <a:cs typeface="Arial"/>
              </a:rPr>
              <a:t>َ </a:t>
            </a:r>
            <a:r>
              <a:rPr dirty="0" baseline="3086" sz="2700" spc="-165">
                <a:latin typeface="Arial"/>
                <a:cs typeface="Arial"/>
              </a:rPr>
              <a:t>اه</a:t>
            </a:r>
            <a:r>
              <a:rPr dirty="0" sz="1800" spc="-110">
                <a:latin typeface="Arial"/>
                <a:cs typeface="Arial"/>
              </a:rPr>
              <a:t>َ </a:t>
            </a:r>
            <a:r>
              <a:rPr dirty="0" baseline="3086" sz="2700" spc="7">
                <a:latin typeface="Arial"/>
                <a:cs typeface="Arial"/>
              </a:rPr>
              <a:t>اٌ</a:t>
            </a:r>
            <a:r>
              <a:rPr dirty="0" sz="1800" spc="5">
                <a:latin typeface="Arial"/>
                <a:cs typeface="Arial"/>
              </a:rPr>
              <a:t>َ </a:t>
            </a:r>
            <a:r>
              <a:rPr dirty="0" baseline="3086" sz="2700" spc="-270">
                <a:latin typeface="Arial"/>
                <a:cs typeface="Arial"/>
              </a:rPr>
              <a:t>ً</a:t>
            </a:r>
            <a:r>
              <a:rPr dirty="0" baseline="1543" sz="2700" spc="-270">
                <a:latin typeface="Arial"/>
                <a:cs typeface="Arial"/>
              </a:rPr>
              <a:t>ِ</a:t>
            </a:r>
            <a:r>
              <a:rPr dirty="0" baseline="3086" sz="2700" spc="-270">
                <a:latin typeface="Arial"/>
                <a:cs typeface="Arial"/>
              </a:rPr>
              <a:t>ل </a:t>
            </a:r>
            <a:r>
              <a:rPr dirty="0" baseline="3086" sz="2700" spc="-284">
                <a:latin typeface="Arial"/>
                <a:cs typeface="Arial"/>
              </a:rPr>
              <a:t>د</a:t>
            </a:r>
            <a:r>
              <a:rPr dirty="0" baseline="6172" sz="2700" spc="-284">
                <a:latin typeface="Arial"/>
                <a:cs typeface="Arial"/>
              </a:rPr>
              <a:t>ْ </a:t>
            </a:r>
            <a:r>
              <a:rPr dirty="0" baseline="3086" sz="2700" spc="-780">
                <a:latin typeface="Arial"/>
                <a:cs typeface="Arial"/>
              </a:rPr>
              <a:t>ق</a:t>
            </a:r>
            <a:r>
              <a:rPr dirty="0" baseline="1543" sz="2700" spc="-780">
                <a:latin typeface="Arial"/>
                <a:cs typeface="Arial"/>
              </a:rPr>
              <a:t>ِ</a:t>
            </a:r>
            <a:r>
              <a:rPr dirty="0" baseline="1543" sz="2700" spc="-52">
                <a:latin typeface="Arial"/>
                <a:cs typeface="Arial"/>
              </a:rPr>
              <a:t> </a:t>
            </a:r>
            <a:r>
              <a:rPr dirty="0" baseline="3086" sz="2700" spc="-270">
                <a:latin typeface="Arial"/>
                <a:cs typeface="Arial"/>
              </a:rPr>
              <a:t>وْ </a:t>
            </a:r>
            <a:r>
              <a:rPr dirty="0" baseline="16975" sz="2700" spc="-660">
                <a:latin typeface="Arial"/>
                <a:cs typeface="Arial"/>
              </a:rPr>
              <a:t>َ</a:t>
            </a:r>
            <a:r>
              <a:rPr dirty="0" baseline="3086" sz="2700" spc="-660">
                <a:latin typeface="Arial"/>
                <a:cs typeface="Arial"/>
              </a:rPr>
              <a:t>ؤف</a:t>
            </a:r>
            <a:r>
              <a:rPr dirty="0" baseline="7716" sz="2700" spc="-660">
                <a:latin typeface="Arial"/>
                <a:cs typeface="Arial"/>
              </a:rPr>
              <a:t>َ </a:t>
            </a:r>
            <a:r>
              <a:rPr dirty="0" baseline="3086" sz="2700" spc="-307">
                <a:latin typeface="Arial"/>
                <a:cs typeface="Arial"/>
              </a:rPr>
              <a:t>ير</a:t>
            </a:r>
            <a:r>
              <a:rPr dirty="0" baseline="-10802" sz="2700" spc="-307">
                <a:latin typeface="Arial"/>
                <a:cs typeface="Arial"/>
              </a:rPr>
              <a:t>ِ </a:t>
            </a:r>
            <a:r>
              <a:rPr dirty="0" baseline="3086" sz="2700">
                <a:latin typeface="Arial"/>
                <a:cs typeface="Arial"/>
              </a:rPr>
              <a:t>ٌْ </a:t>
            </a:r>
            <a:r>
              <a:rPr dirty="0" baseline="3086" sz="2700" spc="-967">
                <a:latin typeface="Arial"/>
                <a:cs typeface="Arial"/>
              </a:rPr>
              <a:t>ؼ</a:t>
            </a:r>
            <a:r>
              <a:rPr dirty="0" baseline="4629" sz="2700" spc="-967">
                <a:latin typeface="Arial"/>
                <a:cs typeface="Arial"/>
              </a:rPr>
              <a:t>َ</a:t>
            </a:r>
            <a:r>
              <a:rPr dirty="0" baseline="4629" sz="2700" spc="1177">
                <a:latin typeface="Arial"/>
                <a:cs typeface="Arial"/>
              </a:rPr>
              <a:t> </a:t>
            </a:r>
            <a:r>
              <a:rPr dirty="0" baseline="3086" sz="2700" spc="-352">
                <a:latin typeface="Arial"/>
                <a:cs typeface="Arial"/>
              </a:rPr>
              <a:t>هٍ </a:t>
            </a:r>
            <a:r>
              <a:rPr dirty="0" baseline="3086" sz="2700" spc="-690">
                <a:latin typeface="Arial"/>
                <a:cs typeface="Arial"/>
              </a:rPr>
              <a:t>ل</a:t>
            </a:r>
            <a:r>
              <a:rPr dirty="0" baseline="10802" sz="2700" spc="-690">
                <a:latin typeface="Arial"/>
                <a:cs typeface="Arial"/>
              </a:rPr>
              <a:t>َ </a:t>
            </a:r>
            <a:r>
              <a:rPr dirty="0" baseline="-10802" sz="2700">
                <a:latin typeface="Arial"/>
                <a:cs typeface="Arial"/>
              </a:rPr>
              <a:t>ِ</a:t>
            </a:r>
            <a:r>
              <a:rPr dirty="0" baseline="3086" sz="2700">
                <a:latin typeface="Arial"/>
                <a:cs typeface="Arial"/>
              </a:rPr>
              <a:t>إ </a:t>
            </a:r>
            <a:r>
              <a:rPr dirty="0" baseline="3086" sz="2700" spc="-465">
                <a:latin typeface="Arial"/>
                <a:cs typeface="Arial"/>
              </a:rPr>
              <a:t>نْ  </a:t>
            </a:r>
            <a:r>
              <a:rPr dirty="0" baseline="3086" sz="2700" spc="-254">
                <a:latin typeface="Arial"/>
                <a:cs typeface="Arial"/>
              </a:rPr>
              <a:t>مِّ  </a:t>
            </a:r>
            <a:r>
              <a:rPr dirty="0" baseline="3086" sz="2700" spc="-502">
                <a:latin typeface="Arial"/>
                <a:cs typeface="Arial"/>
              </a:rPr>
              <a:t>مك</a:t>
            </a:r>
            <a:r>
              <a:rPr dirty="0" baseline="10802" sz="2700" spc="-502">
                <a:latin typeface="Arial"/>
                <a:cs typeface="Arial"/>
              </a:rPr>
              <a:t>ُ </a:t>
            </a:r>
            <a:r>
              <a:rPr dirty="0" baseline="10802" sz="2700" spc="-405">
                <a:latin typeface="Arial"/>
                <a:cs typeface="Arial"/>
              </a:rPr>
              <a:t>َ</a:t>
            </a:r>
            <a:r>
              <a:rPr dirty="0" baseline="3086" sz="2700" spc="-405">
                <a:latin typeface="Arial"/>
                <a:cs typeface="Arial"/>
              </a:rPr>
              <a:t>ل </a:t>
            </a:r>
            <a:r>
              <a:rPr dirty="0" baseline="3086" sz="2700" spc="-802">
                <a:latin typeface="Arial"/>
                <a:cs typeface="Arial"/>
              </a:rPr>
              <a:t>ت</a:t>
            </a:r>
            <a:r>
              <a:rPr dirty="0" baseline="7716" sz="2700" spc="-802">
                <a:latin typeface="Arial"/>
                <a:cs typeface="Arial"/>
              </a:rPr>
              <a:t>ُ</a:t>
            </a:r>
            <a:r>
              <a:rPr dirty="0" baseline="7716" sz="2700" spc="862">
                <a:latin typeface="Arial"/>
                <a:cs typeface="Arial"/>
              </a:rPr>
              <a:t> </a:t>
            </a:r>
            <a:r>
              <a:rPr dirty="0" baseline="3086" sz="2700" spc="-322">
                <a:latin typeface="Arial"/>
                <a:cs typeface="Arial"/>
              </a:rPr>
              <a:t>مْ </a:t>
            </a:r>
            <a:r>
              <a:rPr dirty="0" baseline="1543" sz="2700" spc="-509">
                <a:latin typeface="Arial"/>
                <a:cs typeface="Arial"/>
              </a:rPr>
              <a:t>ِ</a:t>
            </a:r>
            <a:r>
              <a:rPr dirty="0" baseline="3086" sz="2700" spc="-509">
                <a:latin typeface="Arial"/>
                <a:cs typeface="Arial"/>
              </a:rPr>
              <a:t>لع</a:t>
            </a:r>
            <a:r>
              <a:rPr dirty="0" sz="1800" spc="-340">
                <a:latin typeface="Arial"/>
                <a:cs typeface="Arial"/>
              </a:rPr>
              <a:t>َ </a:t>
            </a:r>
            <a:r>
              <a:rPr dirty="0" baseline="3086" sz="2700" spc="-225">
                <a:latin typeface="Arial"/>
                <a:cs typeface="Arial"/>
              </a:rPr>
              <a:t>ام</a:t>
            </a:r>
            <a:r>
              <a:rPr dirty="0" sz="1800" spc="-150">
                <a:latin typeface="Arial"/>
                <a:cs typeface="Arial"/>
              </a:rPr>
              <a:t>َ </a:t>
            </a:r>
            <a:r>
              <a:rPr dirty="0" baseline="20061" sz="2700" spc="-607">
                <a:latin typeface="Arial"/>
                <a:cs typeface="Arial"/>
              </a:rPr>
              <a:t>ُ</a:t>
            </a:r>
            <a:r>
              <a:rPr dirty="0" baseline="3086" sz="2700" spc="-607">
                <a:latin typeface="Arial"/>
                <a:cs typeface="Arial"/>
              </a:rPr>
              <a:t>لؤ</a:t>
            </a:r>
            <a:r>
              <a:rPr dirty="0" baseline="10802" sz="2700" spc="-607">
                <a:latin typeface="Arial"/>
                <a:cs typeface="Arial"/>
              </a:rPr>
              <a:t>َ </a:t>
            </a:r>
            <a:r>
              <a:rPr dirty="0" baseline="3086" sz="2700" spc="-359">
                <a:latin typeface="Arial"/>
                <a:cs typeface="Arial"/>
              </a:rPr>
              <a:t>م</a:t>
            </a:r>
            <a:r>
              <a:rPr dirty="0" sz="1800" spc="-240">
                <a:latin typeface="Arial"/>
                <a:cs typeface="Arial"/>
              </a:rPr>
              <a:t>َ </a:t>
            </a:r>
            <a:r>
              <a:rPr dirty="0" baseline="3086" sz="2700" spc="-660">
                <a:latin typeface="Arial"/>
                <a:cs typeface="Arial"/>
              </a:rPr>
              <a:t>ل</a:t>
            </a:r>
            <a:r>
              <a:rPr dirty="0" baseline="13888" sz="2700" spc="-660">
                <a:latin typeface="Arial"/>
                <a:cs typeface="Arial"/>
              </a:rPr>
              <a:t>ْ </a:t>
            </a:r>
            <a:r>
              <a:rPr dirty="0" baseline="3086" sz="2700">
                <a:latin typeface="Arial"/>
                <a:cs typeface="Arial"/>
              </a:rPr>
              <a:t>ا </a:t>
            </a:r>
            <a:r>
              <a:rPr dirty="0" baseline="3086" sz="2700" spc="-202">
                <a:latin typeface="Arial"/>
                <a:cs typeface="Arial"/>
              </a:rPr>
              <a:t>اه</a:t>
            </a:r>
            <a:r>
              <a:rPr dirty="0" sz="1800" spc="-135">
                <a:latin typeface="Arial"/>
                <a:cs typeface="Arial"/>
              </a:rPr>
              <a:t>َ </a:t>
            </a:r>
            <a:r>
              <a:rPr dirty="0" baseline="3086" sz="2700">
                <a:latin typeface="Arial"/>
                <a:cs typeface="Arial"/>
              </a:rPr>
              <a:t>ٌُّ </a:t>
            </a:r>
            <a:r>
              <a:rPr dirty="0" baseline="16975" sz="2700">
                <a:latin typeface="Arial"/>
                <a:cs typeface="Arial"/>
              </a:rPr>
              <a:t>َ</a:t>
            </a:r>
            <a:r>
              <a:rPr dirty="0" baseline="3086" sz="2700">
                <a:latin typeface="Arial"/>
                <a:cs typeface="Arial"/>
              </a:rPr>
              <a:t>أ </a:t>
            </a:r>
            <a:r>
              <a:rPr dirty="0" baseline="3086" sz="2700" spc="15">
                <a:latin typeface="Arial"/>
                <a:cs typeface="Arial"/>
              </a:rPr>
              <a:t>اٌ</a:t>
            </a:r>
            <a:r>
              <a:rPr dirty="0" sz="1800" spc="10">
                <a:latin typeface="Arial"/>
                <a:cs typeface="Arial"/>
              </a:rPr>
              <a:t>َ </a:t>
            </a:r>
            <a:r>
              <a:rPr dirty="0" baseline="3086" sz="2700" spc="-532">
                <a:latin typeface="Arial"/>
                <a:cs typeface="Arial"/>
              </a:rPr>
              <a:t>نُ </a:t>
            </a:r>
            <a:r>
              <a:rPr dirty="0" baseline="3086" sz="2700" spc="-270">
                <a:latin typeface="Arial"/>
                <a:cs typeface="Arial"/>
              </a:rPr>
              <a:t>وْ </a:t>
            </a:r>
            <a:r>
              <a:rPr dirty="0" baseline="3086" sz="2700" spc="-607">
                <a:latin typeface="Arial"/>
                <a:cs typeface="Arial"/>
              </a:rPr>
              <a:t>ع</a:t>
            </a:r>
            <a:r>
              <a:rPr dirty="0" sz="1800" spc="-405">
                <a:latin typeface="Arial"/>
                <a:cs typeface="Arial"/>
              </a:rPr>
              <a:t>َ </a:t>
            </a:r>
            <a:r>
              <a:rPr dirty="0" baseline="3086" sz="2700" spc="-457">
                <a:latin typeface="Arial"/>
                <a:cs typeface="Arial"/>
              </a:rPr>
              <a:t>رْ </a:t>
            </a:r>
            <a:r>
              <a:rPr dirty="0" baseline="3086" sz="2700" spc="-1057">
                <a:latin typeface="Arial"/>
                <a:cs typeface="Arial"/>
              </a:rPr>
              <a:t>ف</a:t>
            </a:r>
            <a:r>
              <a:rPr dirty="0" baseline="1543" sz="2700" spc="-1057">
                <a:latin typeface="Arial"/>
                <a:cs typeface="Arial"/>
              </a:rPr>
              <a:t>ِ</a:t>
            </a:r>
            <a:r>
              <a:rPr dirty="0" baseline="1543" sz="2700" spc="712">
                <a:latin typeface="Arial"/>
                <a:cs typeface="Arial"/>
              </a:rPr>
              <a:t> </a:t>
            </a:r>
            <a:r>
              <a:rPr dirty="0" baseline="3086" sz="2700" spc="-615">
                <a:latin typeface="Arial"/>
                <a:cs typeface="Arial"/>
              </a:rPr>
              <a:t>ل</a:t>
            </a:r>
            <a:r>
              <a:rPr dirty="0" sz="1800" spc="-409">
                <a:latin typeface="Arial"/>
                <a:cs typeface="Arial"/>
              </a:rPr>
              <a:t>َ</a:t>
            </a:r>
            <a:r>
              <a:rPr dirty="0" sz="1800" spc="-350">
                <a:latin typeface="Arial"/>
                <a:cs typeface="Arial"/>
              </a:rPr>
              <a:t> </a:t>
            </a:r>
            <a:r>
              <a:rPr dirty="0" baseline="3086" sz="2700" spc="-487">
                <a:latin typeface="Arial"/>
                <a:cs typeface="Arial"/>
              </a:rPr>
              <a:t>اق</a:t>
            </a:r>
            <a:r>
              <a:rPr dirty="0" baseline="7716" sz="2700" spc="-487">
                <a:latin typeface="Arial"/>
                <a:cs typeface="Arial"/>
              </a:rPr>
              <a:t>َ</a:t>
            </a:r>
            <a:r>
              <a:rPr dirty="0" baseline="7716" sz="2700" spc="-359">
                <a:latin typeface="Arial"/>
                <a:cs typeface="Arial"/>
              </a:rPr>
              <a:t> </a:t>
            </a:r>
            <a:r>
              <a:rPr dirty="0" baseline="3086" sz="2700" spc="-615">
                <a:latin typeface="Arial"/>
                <a:cs typeface="Arial"/>
              </a:rPr>
              <a:t>و                            </a:t>
            </a:r>
            <a:r>
              <a:rPr dirty="0" baseline="3086" sz="2700" spc="-494">
                <a:latin typeface="Arial"/>
                <a:cs typeface="Arial"/>
              </a:rPr>
              <a:t>ن</a:t>
            </a:r>
            <a:r>
              <a:rPr dirty="0" sz="1800" spc="-330">
                <a:latin typeface="Arial"/>
                <a:cs typeface="Arial"/>
              </a:rPr>
              <a:t>َ </a:t>
            </a:r>
            <a:r>
              <a:rPr dirty="0" baseline="3086" sz="2700" spc="-637">
                <a:latin typeface="Arial"/>
                <a:cs typeface="Arial"/>
              </a:rPr>
              <a:t>ٌب</a:t>
            </a:r>
            <a:r>
              <a:rPr dirty="0" baseline="-10802" sz="2700" spc="-637">
                <a:latin typeface="Arial"/>
                <a:cs typeface="Arial"/>
              </a:rPr>
              <a:t>ِ </a:t>
            </a:r>
            <a:r>
              <a:rPr dirty="0" baseline="3086" sz="2700" spc="-352">
                <a:latin typeface="Arial"/>
                <a:cs typeface="Arial"/>
              </a:rPr>
              <a:t>ذ</a:t>
            </a:r>
            <a:r>
              <a:rPr dirty="0" baseline="1543" sz="2700" spc="-352">
                <a:latin typeface="Arial"/>
                <a:cs typeface="Arial"/>
              </a:rPr>
              <a:t>ِ </a:t>
            </a:r>
            <a:r>
              <a:rPr dirty="0" baseline="3086" sz="2700" spc="-465">
                <a:latin typeface="Arial"/>
                <a:cs typeface="Arial"/>
              </a:rPr>
              <a:t>اك</a:t>
            </a:r>
            <a:r>
              <a:rPr dirty="0" baseline="7716" sz="2700" spc="-465">
                <a:latin typeface="Arial"/>
                <a:cs typeface="Arial"/>
              </a:rPr>
              <a:t>َ</a:t>
            </a:r>
            <a:r>
              <a:rPr dirty="0" baseline="7716" sz="2700" spc="-179">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ا </a:t>
            </a:r>
            <a:r>
              <a:rPr dirty="0" baseline="3086" sz="2700" spc="-509">
                <a:latin typeface="Arial"/>
                <a:cs typeface="Arial"/>
              </a:rPr>
              <a:t>ن</a:t>
            </a:r>
            <a:r>
              <a:rPr dirty="0" sz="1800" spc="-34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322">
                <a:latin typeface="Arial"/>
                <a:cs typeface="Arial"/>
              </a:rPr>
              <a:t>هُ </a:t>
            </a:r>
            <a:r>
              <a:rPr dirty="0" baseline="3086" sz="2700" spc="-442">
                <a:latin typeface="Arial"/>
                <a:cs typeface="Arial"/>
              </a:rPr>
              <a:t>ن</a:t>
            </a:r>
            <a:r>
              <a:rPr dirty="0" baseline="10802" sz="2700" spc="-442">
                <a:latin typeface="Arial"/>
                <a:cs typeface="Arial"/>
              </a:rPr>
              <a:t>ُّ </a:t>
            </a:r>
            <a:r>
              <a:rPr dirty="0" baseline="3086" sz="2700" spc="-690">
                <a:latin typeface="Arial"/>
                <a:cs typeface="Arial"/>
              </a:rPr>
              <a:t>ظ</a:t>
            </a:r>
            <a:r>
              <a:rPr dirty="0" baseline="16975" sz="2700" spc="-690">
                <a:latin typeface="Arial"/>
                <a:cs typeface="Arial"/>
              </a:rPr>
              <a:t>ُ </a:t>
            </a:r>
            <a:r>
              <a:rPr dirty="0" baseline="16975" sz="2700" spc="-375">
                <a:latin typeface="Arial"/>
                <a:cs typeface="Arial"/>
              </a:rPr>
              <a:t>َ</a:t>
            </a:r>
            <a:r>
              <a:rPr dirty="0" baseline="3086" sz="2700" spc="-375">
                <a:latin typeface="Arial"/>
                <a:cs typeface="Arial"/>
              </a:rPr>
              <a:t>لأ</a:t>
            </a:r>
            <a:r>
              <a:rPr dirty="0" baseline="10802" sz="2700" spc="-375">
                <a:latin typeface="Arial"/>
                <a:cs typeface="Arial"/>
              </a:rPr>
              <a:t>َ </a:t>
            </a:r>
            <a:r>
              <a:rPr dirty="0" baseline="3086" sz="2700" spc="-330">
                <a:latin typeface="Arial"/>
                <a:cs typeface="Arial"/>
              </a:rPr>
              <a:t>ًن</a:t>
            </a:r>
            <a:r>
              <a:rPr dirty="0" baseline="10802" sz="2700" spc="-330">
                <a:latin typeface="Arial"/>
                <a:cs typeface="Arial"/>
              </a:rPr>
              <a:t>ِّ </a:t>
            </a:r>
            <a:r>
              <a:rPr dirty="0" baseline="-10802" sz="2700" spc="-157">
                <a:latin typeface="Arial"/>
                <a:cs typeface="Arial"/>
              </a:rPr>
              <a:t>ِ</a:t>
            </a:r>
            <a:r>
              <a:rPr dirty="0" baseline="3086" sz="2700" spc="-157">
                <a:latin typeface="Arial"/>
                <a:cs typeface="Arial"/>
              </a:rPr>
              <a:t>إو</a:t>
            </a:r>
            <a:r>
              <a:rPr dirty="0" sz="1800" spc="-105">
                <a:latin typeface="Arial"/>
                <a:cs typeface="Arial"/>
              </a:rPr>
              <a:t>َ </a:t>
            </a:r>
            <a:r>
              <a:rPr dirty="0" baseline="3086" sz="2700" spc="-705">
                <a:latin typeface="Arial"/>
                <a:cs typeface="Arial"/>
              </a:rPr>
              <a:t>ىس</a:t>
            </a:r>
            <a:r>
              <a:rPr dirty="0" sz="1800" spc="-470">
                <a:latin typeface="Arial"/>
                <a:cs typeface="Arial"/>
              </a:rPr>
              <a:t>َ </a:t>
            </a:r>
            <a:r>
              <a:rPr dirty="0" baseline="3086" sz="2700" spc="-270">
                <a:latin typeface="Arial"/>
                <a:cs typeface="Arial"/>
              </a:rPr>
              <a:t>ومُ </a:t>
            </a:r>
            <a:r>
              <a:rPr dirty="0" baseline="3086" sz="2700" spc="-337">
                <a:latin typeface="Arial"/>
                <a:cs typeface="Arial"/>
              </a:rPr>
              <a:t>ه</a:t>
            </a:r>
            <a:r>
              <a:rPr dirty="0" baseline="1543" sz="2700" spc="-337">
                <a:latin typeface="Arial"/>
                <a:cs typeface="Arial"/>
              </a:rPr>
              <a:t>ِ </a:t>
            </a:r>
            <a:r>
              <a:rPr dirty="0" baseline="3086" sz="2700" spc="-690">
                <a:latin typeface="Arial"/>
                <a:cs typeface="Arial"/>
              </a:rPr>
              <a:t>ل</a:t>
            </a:r>
            <a:r>
              <a:rPr dirty="0" baseline="10802" sz="2700" spc="-690">
                <a:latin typeface="Arial"/>
                <a:cs typeface="Arial"/>
              </a:rPr>
              <a:t>َ </a:t>
            </a:r>
            <a:r>
              <a:rPr dirty="0" baseline="-10802" sz="2700">
                <a:latin typeface="Arial"/>
                <a:cs typeface="Arial"/>
              </a:rPr>
              <a:t>ِ</a:t>
            </a:r>
            <a:r>
              <a:rPr dirty="0" baseline="3086" sz="2700">
                <a:latin typeface="Arial"/>
                <a:cs typeface="Arial"/>
              </a:rPr>
              <a:t>إ </a:t>
            </a:r>
            <a:r>
              <a:rPr dirty="0" baseline="3086" sz="2700" spc="-509">
                <a:latin typeface="Arial"/>
                <a:cs typeface="Arial"/>
              </a:rPr>
              <a:t>ىل</a:t>
            </a:r>
            <a:r>
              <a:rPr dirty="0" baseline="10802" sz="2700" spc="-509">
                <a:latin typeface="Arial"/>
                <a:cs typeface="Arial"/>
              </a:rPr>
              <a:t>َ </a:t>
            </a:r>
            <a:r>
              <a:rPr dirty="0" baseline="-10802" sz="2700">
                <a:latin typeface="Arial"/>
                <a:cs typeface="Arial"/>
              </a:rPr>
              <a:t>ِ</a:t>
            </a:r>
            <a:r>
              <a:rPr dirty="0" baseline="3086" sz="2700">
                <a:latin typeface="Arial"/>
                <a:cs typeface="Arial"/>
              </a:rPr>
              <a:t>إ </a:t>
            </a:r>
            <a:r>
              <a:rPr dirty="0" baseline="3086" sz="2700" spc="-607">
                <a:latin typeface="Arial"/>
                <a:cs typeface="Arial"/>
              </a:rPr>
              <a:t>عُ </a:t>
            </a:r>
            <a:r>
              <a:rPr dirty="0" baseline="1543" sz="2700" spc="-434">
                <a:latin typeface="Arial"/>
                <a:cs typeface="Arial"/>
              </a:rPr>
              <a:t>ِ</a:t>
            </a:r>
            <a:r>
              <a:rPr dirty="0" baseline="3086" sz="2700" spc="-434">
                <a:latin typeface="Arial"/>
                <a:cs typeface="Arial"/>
              </a:rPr>
              <a:t>لط</a:t>
            </a:r>
            <a:r>
              <a:rPr dirty="0" baseline="15432" sz="2700" spc="-434">
                <a:latin typeface="Arial"/>
                <a:cs typeface="Arial"/>
              </a:rPr>
              <a:t>َّ </a:t>
            </a:r>
            <a:r>
              <a:rPr dirty="0" baseline="16975" sz="2700">
                <a:latin typeface="Arial"/>
                <a:cs typeface="Arial"/>
              </a:rPr>
              <a:t>َ</a:t>
            </a:r>
            <a:r>
              <a:rPr dirty="0" baseline="3086" sz="2700">
                <a:latin typeface="Arial"/>
                <a:cs typeface="Arial"/>
              </a:rPr>
              <a:t>أ </a:t>
            </a:r>
            <a:r>
              <a:rPr dirty="0" baseline="3086" sz="2700" spc="-337">
                <a:latin typeface="Arial"/>
                <a:cs typeface="Arial"/>
              </a:rPr>
              <a:t>ً</a:t>
            </a:r>
            <a:r>
              <a:rPr dirty="0" baseline="13888" sz="2700" spc="-337">
                <a:latin typeface="Arial"/>
                <a:cs typeface="Arial"/>
              </a:rPr>
              <a:t>ِّ</a:t>
            </a:r>
            <a:r>
              <a:rPr dirty="0" baseline="3086" sz="2700" spc="-337">
                <a:latin typeface="Arial"/>
                <a:cs typeface="Arial"/>
              </a:rPr>
              <a:t>لع</a:t>
            </a:r>
            <a:r>
              <a:rPr dirty="0" sz="1800" spc="-225">
                <a:latin typeface="Arial"/>
                <a:cs typeface="Arial"/>
              </a:rPr>
              <a:t>َ </a:t>
            </a:r>
            <a:r>
              <a:rPr dirty="0" baseline="13888" sz="2700" spc="-270">
                <a:latin typeface="Arial"/>
                <a:cs typeface="Arial"/>
              </a:rPr>
              <a:t>َّ</a:t>
            </a:r>
            <a:r>
              <a:rPr dirty="0" baseline="3086" sz="2700" spc="-270">
                <a:latin typeface="Arial"/>
                <a:cs typeface="Arial"/>
              </a:rPr>
              <a:t>ل </a:t>
            </a:r>
            <a:r>
              <a:rPr dirty="0" baseline="3086" sz="2700" spc="-375">
                <a:latin typeface="Arial"/>
                <a:cs typeface="Arial"/>
              </a:rPr>
              <a:t>اح</a:t>
            </a:r>
            <a:r>
              <a:rPr dirty="0" baseline="4629" sz="2700" spc="-375">
                <a:latin typeface="Arial"/>
                <a:cs typeface="Arial"/>
              </a:rPr>
              <a:t>ً </a:t>
            </a:r>
            <a:r>
              <a:rPr dirty="0" baseline="3086" sz="2700" spc="-457">
                <a:latin typeface="Arial"/>
                <a:cs typeface="Arial"/>
              </a:rPr>
              <a:t>رْ </a:t>
            </a:r>
            <a:r>
              <a:rPr dirty="0" baseline="3086" sz="2700" spc="-1350">
                <a:latin typeface="Arial"/>
                <a:cs typeface="Arial"/>
              </a:rPr>
              <a:t>ص</a:t>
            </a:r>
            <a:r>
              <a:rPr dirty="0" sz="1800" spc="-900">
                <a:latin typeface="Arial"/>
                <a:cs typeface="Arial"/>
              </a:rPr>
              <a:t>َ</a:t>
            </a:r>
            <a:r>
              <a:rPr dirty="0" sz="1800" spc="1360">
                <a:latin typeface="Arial"/>
                <a:cs typeface="Arial"/>
              </a:rPr>
              <a:t> </a:t>
            </a:r>
            <a:r>
              <a:rPr dirty="0" baseline="3086" sz="2700" spc="-345">
                <a:latin typeface="Arial"/>
                <a:cs typeface="Arial"/>
              </a:rPr>
              <a:t>ًل</a:t>
            </a:r>
            <a:r>
              <a:rPr dirty="0" baseline="13888" sz="2700" spc="-345">
                <a:latin typeface="Arial"/>
                <a:cs typeface="Arial"/>
              </a:rPr>
              <a:t>ِّ </a:t>
            </a:r>
            <a:r>
              <a:rPr dirty="0" baseline="3086" sz="2700" spc="-405">
                <a:latin typeface="Arial"/>
                <a:cs typeface="Arial"/>
              </a:rPr>
              <a:t>لع</a:t>
            </a:r>
            <a:r>
              <a:rPr dirty="0" sz="1800" spc="-270">
                <a:latin typeface="Arial"/>
                <a:cs typeface="Arial"/>
              </a:rPr>
              <a:t>َ </a:t>
            </a:r>
            <a:r>
              <a:rPr dirty="0" baseline="3086" sz="2700" spc="-555">
                <a:latin typeface="Arial"/>
                <a:cs typeface="Arial"/>
              </a:rPr>
              <a:t>جْ</a:t>
            </a:r>
            <a:r>
              <a:rPr dirty="0" baseline="3086" sz="2700" spc="-412">
                <a:latin typeface="Arial"/>
                <a:cs typeface="Arial"/>
              </a:rPr>
              <a:t> </a:t>
            </a:r>
            <a:r>
              <a:rPr dirty="0" baseline="3086" sz="2700" spc="-1012">
                <a:latin typeface="Arial"/>
                <a:cs typeface="Arial"/>
              </a:rPr>
              <a:t>اف</a:t>
            </a:r>
            <a:endParaRPr baseline="3086" sz="2700">
              <a:latin typeface="Arial"/>
              <a:cs typeface="Arial"/>
            </a:endParaRPr>
          </a:p>
          <a:p>
            <a:pPr algn="just" marL="139700" marR="160020">
              <a:lnSpc>
                <a:spcPct val="95900"/>
              </a:lnSpc>
              <a:spcBef>
                <a:spcPts val="1250"/>
              </a:spcBef>
            </a:pPr>
            <a:r>
              <a:rPr dirty="0" sz="1200" spc="-5">
                <a:latin typeface="Arial"/>
                <a:cs typeface="Arial"/>
              </a:rPr>
              <a:t>38. And Pharaoh said: </a:t>
            </a:r>
            <a:r>
              <a:rPr dirty="0" sz="1200">
                <a:latin typeface="Arial"/>
                <a:cs typeface="Arial"/>
              </a:rPr>
              <a:t>O chiefs! I </a:t>
            </a:r>
            <a:r>
              <a:rPr dirty="0" sz="1200" spc="-5">
                <a:latin typeface="Arial"/>
                <a:cs typeface="Arial"/>
              </a:rPr>
              <a:t>know not that </a:t>
            </a:r>
            <a:r>
              <a:rPr dirty="0" sz="1200" spc="-10">
                <a:latin typeface="Arial"/>
                <a:cs typeface="Arial"/>
              </a:rPr>
              <a:t>ye </a:t>
            </a:r>
            <a:r>
              <a:rPr dirty="0" sz="1200" spc="-5">
                <a:latin typeface="Arial"/>
                <a:cs typeface="Arial"/>
              </a:rPr>
              <a:t>have a god other </a:t>
            </a:r>
            <a:r>
              <a:rPr dirty="0" sz="1200">
                <a:latin typeface="Arial"/>
                <a:cs typeface="Arial"/>
              </a:rPr>
              <a:t>than </a:t>
            </a:r>
            <a:r>
              <a:rPr dirty="0" sz="1200" spc="-5">
                <a:latin typeface="Arial"/>
                <a:cs typeface="Arial"/>
              </a:rPr>
              <a:t>me, so kindle </a:t>
            </a:r>
            <a:r>
              <a:rPr dirty="0" sz="1200">
                <a:latin typeface="Arial"/>
                <a:cs typeface="Arial"/>
              </a:rPr>
              <a:t>for  me </a:t>
            </a:r>
            <a:r>
              <a:rPr dirty="0" sz="1200" spc="-15">
                <a:latin typeface="Arial"/>
                <a:cs typeface="Arial"/>
              </a:rPr>
              <a:t>(a </a:t>
            </a:r>
            <a:r>
              <a:rPr dirty="0" sz="1200">
                <a:latin typeface="Arial"/>
                <a:cs typeface="Arial"/>
              </a:rPr>
              <a:t>fire) , O </a:t>
            </a:r>
            <a:r>
              <a:rPr dirty="0" sz="1200" spc="-10">
                <a:latin typeface="Arial"/>
                <a:cs typeface="Arial"/>
              </a:rPr>
              <a:t>Haman, </a:t>
            </a:r>
            <a:r>
              <a:rPr dirty="0" sz="1200">
                <a:latin typeface="Arial"/>
                <a:cs typeface="Arial"/>
              </a:rPr>
              <a:t>to </a:t>
            </a:r>
            <a:r>
              <a:rPr dirty="0" sz="1200" spc="-5">
                <a:latin typeface="Arial"/>
                <a:cs typeface="Arial"/>
              </a:rPr>
              <a:t>bake the mud; and </a:t>
            </a:r>
            <a:r>
              <a:rPr dirty="0" sz="1200">
                <a:latin typeface="Arial"/>
                <a:cs typeface="Arial"/>
              </a:rPr>
              <a:t>set </a:t>
            </a:r>
            <a:r>
              <a:rPr dirty="0" sz="1200" spc="-10">
                <a:latin typeface="Arial"/>
                <a:cs typeface="Arial"/>
              </a:rPr>
              <a:t>up </a:t>
            </a:r>
            <a:r>
              <a:rPr dirty="0" sz="1200">
                <a:latin typeface="Arial"/>
                <a:cs typeface="Arial"/>
              </a:rPr>
              <a:t>for </a:t>
            </a:r>
            <a:r>
              <a:rPr dirty="0" sz="1200" spc="-5">
                <a:latin typeface="Arial"/>
                <a:cs typeface="Arial"/>
              </a:rPr>
              <a:t>me a lofty tower in order that </a:t>
            </a:r>
            <a:r>
              <a:rPr dirty="0" sz="1200">
                <a:latin typeface="Arial"/>
                <a:cs typeface="Arial"/>
              </a:rPr>
              <a:t>I may  </a:t>
            </a:r>
            <a:r>
              <a:rPr dirty="0" sz="1200" spc="-5">
                <a:latin typeface="Arial"/>
                <a:cs typeface="Arial"/>
              </a:rPr>
              <a:t>survey the god of Moses; and lo! </a:t>
            </a:r>
            <a:r>
              <a:rPr dirty="0" sz="1200">
                <a:latin typeface="Arial"/>
                <a:cs typeface="Arial"/>
              </a:rPr>
              <a:t>I </a:t>
            </a:r>
            <a:r>
              <a:rPr dirty="0" sz="1200" spc="-5">
                <a:latin typeface="Arial"/>
                <a:cs typeface="Arial"/>
              </a:rPr>
              <a:t>deem him of the</a:t>
            </a:r>
            <a:r>
              <a:rPr dirty="0" sz="1200" spc="65">
                <a:latin typeface="Arial"/>
                <a:cs typeface="Arial"/>
              </a:rPr>
              <a:t> </a:t>
            </a:r>
            <a:r>
              <a:rPr dirty="0" sz="1200" spc="-5">
                <a:latin typeface="Arial"/>
                <a:cs typeface="Arial"/>
              </a:rPr>
              <a:t>liars.</a:t>
            </a:r>
            <a:endParaRPr sz="1200">
              <a:latin typeface="Arial"/>
              <a:cs typeface="Arial"/>
            </a:endParaRPr>
          </a:p>
          <a:p>
            <a:pPr>
              <a:lnSpc>
                <a:spcPct val="100000"/>
              </a:lnSpc>
              <a:spcBef>
                <a:spcPts val="50"/>
              </a:spcBef>
            </a:pPr>
            <a:endParaRPr sz="1100">
              <a:latin typeface="Arial"/>
              <a:cs typeface="Arial"/>
            </a:endParaRPr>
          </a:p>
          <a:p>
            <a:pPr algn="r" marR="212725">
              <a:lnSpc>
                <a:spcPct val="100000"/>
              </a:lnSpc>
              <a:spcBef>
                <a:spcPts val="5"/>
              </a:spcBef>
            </a:pPr>
            <a:r>
              <a:rPr dirty="0" baseline="1543" sz="2700" spc="-494">
                <a:latin typeface="Arial"/>
                <a:cs typeface="Arial"/>
              </a:rPr>
              <a:t>ن</a:t>
            </a:r>
            <a:r>
              <a:rPr dirty="0" baseline="-1543" sz="2700" spc="-494">
                <a:latin typeface="Arial"/>
                <a:cs typeface="Arial"/>
              </a:rPr>
              <a:t>َ </a:t>
            </a:r>
            <a:r>
              <a:rPr dirty="0" baseline="1543" sz="2700" spc="-240">
                <a:latin typeface="Arial"/>
                <a:cs typeface="Arial"/>
              </a:rPr>
              <a:t>ٌم</a:t>
            </a:r>
            <a:r>
              <a:rPr dirty="0" sz="1800" spc="-160">
                <a:latin typeface="Arial"/>
                <a:cs typeface="Arial"/>
              </a:rPr>
              <a:t>ِ </a:t>
            </a:r>
            <a:r>
              <a:rPr dirty="0" sz="1800" spc="-235">
                <a:latin typeface="Arial"/>
                <a:cs typeface="Arial"/>
              </a:rPr>
              <a:t>ِ</a:t>
            </a:r>
            <a:r>
              <a:rPr dirty="0" baseline="1543" sz="2700" spc="-352">
                <a:latin typeface="Arial"/>
                <a:cs typeface="Arial"/>
              </a:rPr>
              <a:t>لاظ</a:t>
            </a:r>
            <a:r>
              <a:rPr dirty="0" baseline="13888" sz="2700" spc="-352">
                <a:latin typeface="Arial"/>
                <a:cs typeface="Arial"/>
              </a:rPr>
              <a:t>َّ </a:t>
            </a:r>
            <a:r>
              <a:rPr dirty="0" baseline="1543" sz="2700" spc="-412">
                <a:latin typeface="Arial"/>
                <a:cs typeface="Arial"/>
              </a:rPr>
              <a:t>لا </a:t>
            </a:r>
            <a:r>
              <a:rPr dirty="0" baseline="1543" sz="2700" spc="-322">
                <a:latin typeface="Arial"/>
                <a:cs typeface="Arial"/>
              </a:rPr>
              <a:t>ة</a:t>
            </a:r>
            <a:r>
              <a:rPr dirty="0" baseline="12345" sz="2700" spc="-322">
                <a:latin typeface="Arial"/>
                <a:cs typeface="Arial"/>
              </a:rPr>
              <a:t>ُ </a:t>
            </a:r>
            <a:r>
              <a:rPr dirty="0" baseline="1543" sz="2700" spc="-892">
                <a:latin typeface="Arial"/>
                <a:cs typeface="Arial"/>
              </a:rPr>
              <a:t>ب</a:t>
            </a:r>
            <a:r>
              <a:rPr dirty="0" baseline="-1543" sz="2700" spc="-892">
                <a:latin typeface="Arial"/>
                <a:cs typeface="Arial"/>
              </a:rPr>
              <a:t>َ</a:t>
            </a:r>
            <a:r>
              <a:rPr dirty="0" baseline="-1543" sz="2700" spc="-232">
                <a:latin typeface="Arial"/>
                <a:cs typeface="Arial"/>
              </a:rPr>
              <a:t> </a:t>
            </a:r>
            <a:r>
              <a:rPr dirty="0" baseline="1543" sz="2700" spc="-780">
                <a:latin typeface="Arial"/>
                <a:cs typeface="Arial"/>
              </a:rPr>
              <a:t>ق</a:t>
            </a:r>
            <a:r>
              <a:rPr dirty="0" sz="1800" spc="-520">
                <a:latin typeface="Arial"/>
                <a:cs typeface="Arial"/>
              </a:rPr>
              <a:t>ِ</a:t>
            </a:r>
            <a:r>
              <a:rPr dirty="0" sz="1800" spc="-30">
                <a:latin typeface="Arial"/>
                <a:cs typeface="Arial"/>
              </a:rPr>
              <a:t> </a:t>
            </a:r>
            <a:r>
              <a:rPr dirty="0" baseline="1543" sz="2700" spc="-390">
                <a:latin typeface="Arial"/>
                <a:cs typeface="Arial"/>
              </a:rPr>
              <a:t>اع</a:t>
            </a:r>
            <a:r>
              <a:rPr dirty="0" baseline="-1543" sz="2700" spc="-390">
                <a:latin typeface="Arial"/>
                <a:cs typeface="Arial"/>
              </a:rPr>
              <a:t>َ </a:t>
            </a:r>
            <a:r>
              <a:rPr dirty="0" baseline="1543" sz="2700" spc="-494">
                <a:latin typeface="Arial"/>
                <a:cs typeface="Arial"/>
              </a:rPr>
              <a:t>ن</a:t>
            </a:r>
            <a:r>
              <a:rPr dirty="0" baseline="-1543" sz="2700" spc="-494">
                <a:latin typeface="Arial"/>
                <a:cs typeface="Arial"/>
              </a:rPr>
              <a:t>َ </a:t>
            </a:r>
            <a:r>
              <a:rPr dirty="0" baseline="1543" sz="2700" spc="-465">
                <a:latin typeface="Arial"/>
                <a:cs typeface="Arial"/>
              </a:rPr>
              <a:t>اك</a:t>
            </a:r>
            <a:r>
              <a:rPr dirty="0" baseline="6172" sz="2700" spc="-465">
                <a:latin typeface="Arial"/>
                <a:cs typeface="Arial"/>
              </a:rPr>
              <a:t>َ  </a:t>
            </a:r>
            <a:r>
              <a:rPr dirty="0" baseline="1543" sz="2700" spc="-630">
                <a:latin typeface="Arial"/>
                <a:cs typeface="Arial"/>
              </a:rPr>
              <a:t>ؾ</a:t>
            </a:r>
            <a:r>
              <a:rPr dirty="0" baseline="-1543" sz="2700" spc="-630">
                <a:latin typeface="Arial"/>
                <a:cs typeface="Arial"/>
              </a:rPr>
              <a:t>َ </a:t>
            </a:r>
            <a:r>
              <a:rPr dirty="0" baseline="1543" sz="2700">
                <a:latin typeface="Arial"/>
                <a:cs typeface="Arial"/>
              </a:rPr>
              <a:t>ٌْ </a:t>
            </a:r>
            <a:r>
              <a:rPr dirty="0" baseline="1543" sz="2700" spc="-719">
                <a:latin typeface="Arial"/>
                <a:cs typeface="Arial"/>
              </a:rPr>
              <a:t>ك</a:t>
            </a:r>
            <a:r>
              <a:rPr dirty="0" baseline="6172" sz="2700" spc="-719">
                <a:latin typeface="Arial"/>
                <a:cs typeface="Arial"/>
              </a:rPr>
              <a:t>َ </a:t>
            </a:r>
            <a:r>
              <a:rPr dirty="0" baseline="1543" sz="2700" spc="-457">
                <a:latin typeface="Arial"/>
                <a:cs typeface="Arial"/>
              </a:rPr>
              <a:t>رْ </a:t>
            </a:r>
            <a:r>
              <a:rPr dirty="0" baseline="1543" sz="2700" spc="-690">
                <a:latin typeface="Arial"/>
                <a:cs typeface="Arial"/>
              </a:rPr>
              <a:t>ظ</a:t>
            </a:r>
            <a:r>
              <a:rPr dirty="0" baseline="13888" sz="2700" spc="-690">
                <a:latin typeface="Arial"/>
                <a:cs typeface="Arial"/>
              </a:rPr>
              <a:t>ُ </a:t>
            </a:r>
            <a:r>
              <a:rPr dirty="0" baseline="1543" sz="2700" spc="-697">
                <a:latin typeface="Arial"/>
                <a:cs typeface="Arial"/>
              </a:rPr>
              <a:t>ناف</a:t>
            </a:r>
            <a:r>
              <a:rPr dirty="0" baseline="6172" sz="2700" spc="-697">
                <a:latin typeface="Arial"/>
                <a:cs typeface="Arial"/>
              </a:rPr>
              <a:t>َ </a:t>
            </a:r>
            <a:r>
              <a:rPr dirty="0" baseline="1543" sz="2700" spc="-270">
                <a:latin typeface="Arial"/>
                <a:cs typeface="Arial"/>
              </a:rPr>
              <a:t>م</a:t>
            </a:r>
            <a:r>
              <a:rPr dirty="0" baseline="-4629" sz="2700" spc="-270">
                <a:latin typeface="Arial"/>
                <a:cs typeface="Arial"/>
              </a:rPr>
              <a:t>ِّ </a:t>
            </a:r>
            <a:r>
              <a:rPr dirty="0" baseline="1543" sz="2700">
                <a:latin typeface="Arial"/>
                <a:cs typeface="Arial"/>
              </a:rPr>
              <a:t>ٌ</a:t>
            </a:r>
            <a:r>
              <a:rPr dirty="0" baseline="-1543" sz="2700">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a:latin typeface="Arial"/>
                <a:cs typeface="Arial"/>
              </a:rPr>
              <a:t>ا </a:t>
            </a:r>
            <a:r>
              <a:rPr dirty="0" baseline="1543" sz="2700" spc="-705">
                <a:latin typeface="Arial"/>
                <a:cs typeface="Arial"/>
              </a:rPr>
              <a:t>ًف</a:t>
            </a:r>
            <a:r>
              <a:rPr dirty="0" sz="1800" spc="-470">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307">
                <a:latin typeface="Arial"/>
                <a:cs typeface="Arial"/>
              </a:rPr>
              <a:t>هُ </a:t>
            </a:r>
            <a:r>
              <a:rPr dirty="0" baseline="1543" sz="2700" spc="-412">
                <a:latin typeface="Arial"/>
                <a:cs typeface="Arial"/>
              </a:rPr>
              <a:t>ان</a:t>
            </a:r>
            <a:r>
              <a:rPr dirty="0" baseline="6172" sz="2700" spc="-412">
                <a:latin typeface="Arial"/>
                <a:cs typeface="Arial"/>
              </a:rPr>
              <a:t>َ </a:t>
            </a:r>
            <a:r>
              <a:rPr dirty="0" baseline="1543" sz="2700" spc="-300">
                <a:latin typeface="Arial"/>
                <a:cs typeface="Arial"/>
              </a:rPr>
              <a:t>ذ</a:t>
            </a:r>
            <a:r>
              <a:rPr dirty="0" baseline="15432" sz="2700" spc="-300">
                <a:latin typeface="Arial"/>
                <a:cs typeface="Arial"/>
              </a:rPr>
              <a:t>ْ </a:t>
            </a:r>
            <a:r>
              <a:rPr dirty="0" baseline="1543" sz="2700" spc="-892">
                <a:latin typeface="Arial"/>
                <a:cs typeface="Arial"/>
              </a:rPr>
              <a:t>ب</a:t>
            </a:r>
            <a:r>
              <a:rPr dirty="0" baseline="-1543" sz="2700" spc="-892">
                <a:latin typeface="Arial"/>
                <a:cs typeface="Arial"/>
              </a:rPr>
              <a:t>َ</a:t>
            </a:r>
            <a:r>
              <a:rPr dirty="0" baseline="-1543" sz="2700" spc="-232">
                <a:latin typeface="Arial"/>
                <a:cs typeface="Arial"/>
              </a:rPr>
              <a:t> </a:t>
            </a:r>
            <a:r>
              <a:rPr dirty="0" baseline="1543" sz="2700" spc="-644">
                <a:latin typeface="Arial"/>
                <a:cs typeface="Arial"/>
              </a:rPr>
              <a:t>ن</a:t>
            </a:r>
            <a:r>
              <a:rPr dirty="0" baseline="6172" sz="2700" spc="-644">
                <a:latin typeface="Arial"/>
                <a:cs typeface="Arial"/>
              </a:rPr>
              <a:t>َ </a:t>
            </a:r>
            <a:r>
              <a:rPr dirty="0" baseline="1543" sz="2700" spc="-1035">
                <a:latin typeface="Arial"/>
                <a:cs typeface="Arial"/>
              </a:rPr>
              <a:t>ف</a:t>
            </a:r>
            <a:r>
              <a:rPr dirty="0" baseline="6172" sz="2700" spc="-1035">
                <a:latin typeface="Arial"/>
                <a:cs typeface="Arial"/>
              </a:rPr>
              <a:t>َ</a:t>
            </a:r>
            <a:r>
              <a:rPr dirty="0" baseline="6172" sz="2700" spc="667">
                <a:latin typeface="Arial"/>
                <a:cs typeface="Arial"/>
              </a:rPr>
              <a:t> </a:t>
            </a:r>
            <a:r>
              <a:rPr dirty="0" baseline="1543" sz="2700" spc="-165">
                <a:latin typeface="Arial"/>
                <a:cs typeface="Arial"/>
              </a:rPr>
              <a:t>ُهد</a:t>
            </a:r>
            <a:r>
              <a:rPr dirty="0" sz="1800" spc="-110">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630">
                <a:latin typeface="Arial"/>
                <a:cs typeface="Arial"/>
              </a:rPr>
              <a:t>جُ </a:t>
            </a:r>
            <a:r>
              <a:rPr dirty="0" baseline="1543" sz="2700" spc="-307">
                <a:latin typeface="Arial"/>
                <a:cs typeface="Arial"/>
              </a:rPr>
              <a:t>و</a:t>
            </a:r>
            <a:r>
              <a:rPr dirty="0" baseline="-1543" sz="2700" spc="-307">
                <a:latin typeface="Arial"/>
                <a:cs typeface="Arial"/>
              </a:rPr>
              <a:t>َ </a:t>
            </a:r>
            <a:r>
              <a:rPr dirty="0" baseline="1543" sz="2700" spc="-254">
                <a:latin typeface="Arial"/>
                <a:cs typeface="Arial"/>
              </a:rPr>
              <a:t>ُهان</a:t>
            </a:r>
            <a:r>
              <a:rPr dirty="0" baseline="6172" sz="2700" spc="-254">
                <a:latin typeface="Arial"/>
                <a:cs typeface="Arial"/>
              </a:rPr>
              <a:t>َ </a:t>
            </a:r>
            <a:r>
              <a:rPr dirty="0" baseline="1543" sz="2700" spc="-284">
                <a:latin typeface="Arial"/>
                <a:cs typeface="Arial"/>
              </a:rPr>
              <a:t>ذ</a:t>
            </a:r>
            <a:r>
              <a:rPr dirty="0" baseline="15432" sz="2700" spc="-284">
                <a:latin typeface="Arial"/>
                <a:cs typeface="Arial"/>
              </a:rPr>
              <a:t>ْ </a:t>
            </a:r>
            <a:r>
              <a:rPr dirty="0" baseline="1543" sz="2700" spc="-592">
                <a:latin typeface="Arial"/>
                <a:cs typeface="Arial"/>
              </a:rPr>
              <a:t>خ</a:t>
            </a:r>
            <a:r>
              <a:rPr dirty="0" baseline="6172" sz="2700" spc="-592">
                <a:latin typeface="Arial"/>
                <a:cs typeface="Arial"/>
              </a:rPr>
              <a:t>َ</a:t>
            </a:r>
            <a:r>
              <a:rPr dirty="0" baseline="6172" sz="2700" spc="-509">
                <a:latin typeface="Arial"/>
                <a:cs typeface="Arial"/>
              </a:rPr>
              <a:t> </a:t>
            </a:r>
            <a:r>
              <a:rPr dirty="0" baseline="15432" sz="2700" spc="-877">
                <a:latin typeface="Arial"/>
                <a:cs typeface="Arial"/>
              </a:rPr>
              <a:t>َ</a:t>
            </a:r>
            <a:r>
              <a:rPr dirty="0" baseline="1543" sz="2700" spc="-877">
                <a:latin typeface="Arial"/>
                <a:cs typeface="Arial"/>
              </a:rPr>
              <a:t>ؤف</a:t>
            </a:r>
            <a:endParaRPr baseline="1543" sz="2700">
              <a:latin typeface="Arial"/>
              <a:cs typeface="Arial"/>
            </a:endParaRPr>
          </a:p>
          <a:p>
            <a:pPr algn="just" marL="139700" marR="164465">
              <a:lnSpc>
                <a:spcPts val="1380"/>
              </a:lnSpc>
              <a:spcBef>
                <a:spcPts val="1380"/>
              </a:spcBef>
            </a:pPr>
            <a:r>
              <a:rPr dirty="0" sz="1200" spc="-5">
                <a:latin typeface="Arial"/>
                <a:cs typeface="Arial"/>
              </a:rPr>
              <a:t>40. Therefor </a:t>
            </a:r>
            <a:r>
              <a:rPr dirty="0" sz="1200" spc="20">
                <a:latin typeface="Arial"/>
                <a:cs typeface="Arial"/>
              </a:rPr>
              <a:t>We </a:t>
            </a:r>
            <a:r>
              <a:rPr dirty="0" sz="1200" spc="-5">
                <a:latin typeface="Arial"/>
                <a:cs typeface="Arial"/>
              </a:rPr>
              <a:t>seized him and his hosts, and abandoned them unto the sea. Behold the  </a:t>
            </a:r>
            <a:r>
              <a:rPr dirty="0" sz="1200">
                <a:latin typeface="Arial"/>
                <a:cs typeface="Arial"/>
              </a:rPr>
              <a:t>nature </a:t>
            </a:r>
            <a:r>
              <a:rPr dirty="0" sz="1200" spc="-5">
                <a:latin typeface="Arial"/>
                <a:cs typeface="Arial"/>
              </a:rPr>
              <a:t>of </a:t>
            </a:r>
            <a:r>
              <a:rPr dirty="0" sz="1200">
                <a:latin typeface="Arial"/>
                <a:cs typeface="Arial"/>
              </a:rPr>
              <a:t>the </a:t>
            </a:r>
            <a:r>
              <a:rPr dirty="0" sz="1200" spc="-5">
                <a:latin typeface="Arial"/>
                <a:cs typeface="Arial"/>
              </a:rPr>
              <a:t>consequence </a:t>
            </a:r>
            <a:r>
              <a:rPr dirty="0" sz="1200">
                <a:latin typeface="Arial"/>
                <a:cs typeface="Arial"/>
              </a:rPr>
              <a:t>for </a:t>
            </a:r>
            <a:r>
              <a:rPr dirty="0" sz="1200" spc="-5">
                <a:latin typeface="Arial"/>
                <a:cs typeface="Arial"/>
              </a:rPr>
              <a:t>evil</a:t>
            </a:r>
            <a:r>
              <a:rPr dirty="0" sz="1200" spc="-20">
                <a:latin typeface="Arial"/>
                <a:cs typeface="Arial"/>
              </a:rPr>
              <a:t> </a:t>
            </a:r>
            <a:r>
              <a:rPr dirty="0" sz="1200">
                <a:latin typeface="Arial"/>
                <a:cs typeface="Arial"/>
              </a:rPr>
              <a:t>doers!</a:t>
            </a:r>
            <a:endParaRPr sz="1200">
              <a:latin typeface="Arial"/>
              <a:cs typeface="Arial"/>
            </a:endParaRPr>
          </a:p>
          <a:p>
            <a:pPr>
              <a:lnSpc>
                <a:spcPct val="100000"/>
              </a:lnSpc>
            </a:pPr>
            <a:endParaRPr sz="1300">
              <a:latin typeface="Arial"/>
              <a:cs typeface="Arial"/>
            </a:endParaRPr>
          </a:p>
          <a:p>
            <a:pPr marL="139700">
              <a:lnSpc>
                <a:spcPct val="100000"/>
              </a:lnSpc>
              <a:spcBef>
                <a:spcPts val="1165"/>
              </a:spcBef>
            </a:pPr>
            <a:r>
              <a:rPr dirty="0" u="heavy" sz="1200" spc="-5" b="1" i="1">
                <a:uFill>
                  <a:solidFill>
                    <a:srgbClr val="000000"/>
                  </a:solidFill>
                </a:uFill>
                <a:latin typeface="Arial"/>
                <a:cs typeface="Arial"/>
              </a:rPr>
              <a:t>Surah Ad</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Duha</a:t>
            </a:r>
            <a:endParaRPr sz="1200">
              <a:latin typeface="Arial"/>
              <a:cs typeface="Arial"/>
            </a:endParaRPr>
          </a:p>
          <a:p>
            <a:pPr>
              <a:lnSpc>
                <a:spcPct val="100000"/>
              </a:lnSpc>
            </a:pPr>
            <a:endParaRPr sz="1200">
              <a:latin typeface="Arial"/>
              <a:cs typeface="Arial"/>
            </a:endParaRPr>
          </a:p>
          <a:p>
            <a:pPr algn="just" marL="139700" marR="159385">
              <a:lnSpc>
                <a:spcPct val="95900"/>
              </a:lnSpc>
            </a:pPr>
            <a:r>
              <a:rPr dirty="0" sz="1200">
                <a:latin typeface="Arial"/>
                <a:cs typeface="Arial"/>
              </a:rPr>
              <a:t>This </a:t>
            </a:r>
            <a:r>
              <a:rPr dirty="0" sz="1200" spc="-5">
                <a:latin typeface="Arial"/>
                <a:cs typeface="Arial"/>
              </a:rPr>
              <a:t>surah is a Makki surah revealed </a:t>
            </a:r>
            <a:r>
              <a:rPr dirty="0" sz="1200">
                <a:latin typeface="Arial"/>
                <a:cs typeface="Arial"/>
              </a:rPr>
              <a:t>to </a:t>
            </a:r>
            <a:r>
              <a:rPr dirty="0" sz="1200" spc="-5">
                <a:latin typeface="Arial"/>
                <a:cs typeface="Arial"/>
              </a:rPr>
              <a:t>the prophet. According </a:t>
            </a:r>
            <a:r>
              <a:rPr dirty="0" sz="1200">
                <a:latin typeface="Arial"/>
                <a:cs typeface="Arial"/>
              </a:rPr>
              <a:t>to some </a:t>
            </a:r>
            <a:r>
              <a:rPr dirty="0" sz="1200" spc="-5">
                <a:latin typeface="Arial"/>
                <a:cs typeface="Arial"/>
              </a:rPr>
              <a:t>Ulama </a:t>
            </a:r>
            <a:r>
              <a:rPr dirty="0" sz="1200">
                <a:latin typeface="Arial"/>
                <a:cs typeface="Arial"/>
              </a:rPr>
              <a:t>it </a:t>
            </a:r>
            <a:r>
              <a:rPr dirty="0" sz="1200" spc="-10">
                <a:latin typeface="Arial"/>
                <a:cs typeface="Arial"/>
              </a:rPr>
              <a:t>was  </a:t>
            </a:r>
            <a:r>
              <a:rPr dirty="0" sz="1200" spc="-5">
                <a:latin typeface="Arial"/>
                <a:cs typeface="Arial"/>
              </a:rPr>
              <a:t>revealed </a:t>
            </a:r>
            <a:r>
              <a:rPr dirty="0" sz="1200">
                <a:latin typeface="Arial"/>
                <a:cs typeface="Arial"/>
              </a:rPr>
              <a:t>after </a:t>
            </a:r>
            <a:r>
              <a:rPr dirty="0" sz="1200" spc="-5">
                <a:latin typeface="Arial"/>
                <a:cs typeface="Arial"/>
              </a:rPr>
              <a:t>3 years from the </a:t>
            </a:r>
            <a:r>
              <a:rPr dirty="0" sz="1200" spc="5">
                <a:latin typeface="Arial"/>
                <a:cs typeface="Arial"/>
              </a:rPr>
              <a:t>1</a:t>
            </a:r>
            <a:r>
              <a:rPr dirty="0" baseline="38194" sz="1200" spc="7">
                <a:latin typeface="Arial"/>
                <a:cs typeface="Arial"/>
              </a:rPr>
              <a:t>st </a:t>
            </a:r>
            <a:r>
              <a:rPr dirty="0" sz="1200" spc="5">
                <a:latin typeface="Arial"/>
                <a:cs typeface="Arial"/>
              </a:rPr>
              <a:t>Wahy </a:t>
            </a:r>
            <a:r>
              <a:rPr dirty="0" sz="1200" spc="-5">
                <a:latin typeface="Arial"/>
                <a:cs typeface="Arial"/>
              </a:rPr>
              <a:t>and </a:t>
            </a:r>
            <a:r>
              <a:rPr dirty="0" sz="1200">
                <a:latin typeface="Arial"/>
                <a:cs typeface="Arial"/>
              </a:rPr>
              <a:t>it </a:t>
            </a:r>
            <a:r>
              <a:rPr dirty="0" sz="1200" spc="-10">
                <a:latin typeface="Arial"/>
                <a:cs typeface="Arial"/>
              </a:rPr>
              <a:t>was </a:t>
            </a:r>
            <a:r>
              <a:rPr dirty="0" sz="1200">
                <a:latin typeface="Arial"/>
                <a:cs typeface="Arial"/>
              </a:rPr>
              <a:t>the </a:t>
            </a:r>
            <a:r>
              <a:rPr dirty="0" sz="1200" spc="-5">
                <a:latin typeface="Arial"/>
                <a:cs typeface="Arial"/>
              </a:rPr>
              <a:t>second revelation. According </a:t>
            </a:r>
            <a:r>
              <a:rPr dirty="0" sz="1200">
                <a:latin typeface="Arial"/>
                <a:cs typeface="Arial"/>
              </a:rPr>
              <a:t>to  others it </a:t>
            </a:r>
            <a:r>
              <a:rPr dirty="0" sz="1200" spc="-5">
                <a:latin typeface="Arial"/>
                <a:cs typeface="Arial"/>
              </a:rPr>
              <a:t>is not the </a:t>
            </a:r>
            <a:r>
              <a:rPr dirty="0" sz="1200" spc="-10">
                <a:latin typeface="Arial"/>
                <a:cs typeface="Arial"/>
              </a:rPr>
              <a:t>second </a:t>
            </a:r>
            <a:r>
              <a:rPr dirty="0" sz="1200" spc="-5">
                <a:latin typeface="Arial"/>
                <a:cs typeface="Arial"/>
              </a:rPr>
              <a:t>surah but </a:t>
            </a:r>
            <a:r>
              <a:rPr dirty="0" sz="1200">
                <a:latin typeface="Arial"/>
                <a:cs typeface="Arial"/>
              </a:rPr>
              <a:t>it </a:t>
            </a:r>
            <a:r>
              <a:rPr dirty="0" sz="1200" spc="-10">
                <a:latin typeface="Arial"/>
                <a:cs typeface="Arial"/>
              </a:rPr>
              <a:t>was </a:t>
            </a:r>
            <a:r>
              <a:rPr dirty="0" sz="1200" spc="-5">
                <a:latin typeface="Arial"/>
                <a:cs typeface="Arial"/>
              </a:rPr>
              <a:t>revealed </a:t>
            </a:r>
            <a:r>
              <a:rPr dirty="0" sz="1200">
                <a:latin typeface="Arial"/>
                <a:cs typeface="Arial"/>
              </a:rPr>
              <a:t>to </a:t>
            </a:r>
            <a:r>
              <a:rPr dirty="0" sz="1200" spc="-5">
                <a:latin typeface="Arial"/>
                <a:cs typeface="Arial"/>
              </a:rPr>
              <a:t>comfort the prophet of his anxieties of  either Allah has abandoned him </a:t>
            </a:r>
            <a:r>
              <a:rPr dirty="0" sz="1200">
                <a:latin typeface="Arial"/>
                <a:cs typeface="Arial"/>
              </a:rPr>
              <a:t>or </a:t>
            </a:r>
            <a:r>
              <a:rPr dirty="0" sz="1200" spc="-10">
                <a:latin typeface="Arial"/>
                <a:cs typeface="Arial"/>
              </a:rPr>
              <a:t>was </a:t>
            </a:r>
            <a:r>
              <a:rPr dirty="0" sz="1200" spc="-5">
                <a:latin typeface="Arial"/>
                <a:cs typeface="Arial"/>
              </a:rPr>
              <a:t>angry </a:t>
            </a:r>
            <a:r>
              <a:rPr dirty="0" sz="1200">
                <a:latin typeface="Arial"/>
                <a:cs typeface="Arial"/>
              </a:rPr>
              <a:t>at</a:t>
            </a:r>
            <a:r>
              <a:rPr dirty="0" sz="1200" spc="50">
                <a:latin typeface="Arial"/>
                <a:cs typeface="Arial"/>
              </a:rPr>
              <a:t> </a:t>
            </a:r>
            <a:r>
              <a:rPr dirty="0" sz="1200" spc="-5">
                <a:latin typeface="Arial"/>
                <a:cs typeface="Arial"/>
              </a:rPr>
              <a:t>him.</a:t>
            </a:r>
            <a:endParaRPr sz="1200">
              <a:latin typeface="Arial"/>
              <a:cs typeface="Arial"/>
            </a:endParaRPr>
          </a:p>
          <a:p>
            <a:pPr>
              <a:lnSpc>
                <a:spcPct val="100000"/>
              </a:lnSpc>
            </a:pPr>
            <a:endParaRPr sz="1150">
              <a:latin typeface="Arial"/>
              <a:cs typeface="Arial"/>
            </a:endParaRPr>
          </a:p>
          <a:p>
            <a:pPr marL="139700">
              <a:lnSpc>
                <a:spcPct val="100000"/>
              </a:lnSpc>
            </a:pPr>
            <a:r>
              <a:rPr dirty="0" sz="1200" spc="-5">
                <a:latin typeface="Arial"/>
                <a:cs typeface="Arial"/>
              </a:rPr>
              <a:t>Allah says:</a:t>
            </a:r>
            <a:endParaRPr sz="1200">
              <a:latin typeface="Arial"/>
              <a:cs typeface="Arial"/>
            </a:endParaRPr>
          </a:p>
          <a:p>
            <a:pPr algn="r" marR="205740">
              <a:lnSpc>
                <a:spcPct val="100000"/>
              </a:lnSpc>
            </a:pPr>
            <a:r>
              <a:rPr dirty="0" baseline="3086" sz="2700" spc="-525">
                <a:latin typeface="Arial"/>
                <a:cs typeface="Arial"/>
              </a:rPr>
              <a:t>ى</a:t>
            </a:r>
            <a:r>
              <a:rPr dirty="0" baseline="7716" sz="2700" spc="-525">
                <a:latin typeface="Arial"/>
                <a:cs typeface="Arial"/>
              </a:rPr>
              <a:t>ٰ </a:t>
            </a:r>
            <a:r>
              <a:rPr dirty="0" baseline="3086" sz="2700" spc="-592">
                <a:latin typeface="Arial"/>
                <a:cs typeface="Arial"/>
              </a:rPr>
              <a:t>ح</a:t>
            </a:r>
            <a:r>
              <a:rPr dirty="0" sz="1800" spc="-395">
                <a:latin typeface="Arial"/>
                <a:cs typeface="Arial"/>
              </a:rPr>
              <a:t>َ</a:t>
            </a:r>
            <a:r>
              <a:rPr dirty="0" sz="1800" spc="-345">
                <a:latin typeface="Arial"/>
                <a:cs typeface="Arial"/>
              </a:rPr>
              <a:t> </a:t>
            </a:r>
            <a:r>
              <a:rPr dirty="0" baseline="3086" sz="2700" spc="-914">
                <a:latin typeface="Arial"/>
                <a:cs typeface="Arial"/>
              </a:rPr>
              <a:t>ضُّ</a:t>
            </a:r>
            <a:r>
              <a:rPr dirty="0" baseline="3086" sz="2700" spc="1230">
                <a:latin typeface="Arial"/>
                <a:cs typeface="Arial"/>
              </a:rPr>
              <a:t> </a:t>
            </a:r>
            <a:r>
              <a:rPr dirty="0" baseline="3086" sz="2700" spc="-480">
                <a:latin typeface="Arial"/>
                <a:cs typeface="Arial"/>
              </a:rPr>
              <a:t>لٱو</a:t>
            </a:r>
            <a:endParaRPr baseline="3086" sz="2700">
              <a:latin typeface="Arial"/>
              <a:cs typeface="Arial"/>
            </a:endParaRPr>
          </a:p>
          <a:p>
            <a:pPr algn="just" marL="139700" marR="163195">
              <a:lnSpc>
                <a:spcPts val="1380"/>
              </a:lnSpc>
              <a:spcBef>
                <a:spcPts val="1150"/>
              </a:spcBef>
            </a:pPr>
            <a:r>
              <a:rPr dirty="0" sz="1200" spc="-5">
                <a:latin typeface="Arial"/>
                <a:cs typeface="Arial"/>
              </a:rPr>
              <a:t>And from his narration on </a:t>
            </a:r>
            <a:r>
              <a:rPr dirty="0" sz="1200">
                <a:latin typeface="Arial"/>
                <a:cs typeface="Arial"/>
              </a:rPr>
              <a:t>the </a:t>
            </a:r>
            <a:r>
              <a:rPr dirty="0" sz="1200" spc="-5">
                <a:latin typeface="Arial"/>
                <a:cs typeface="Arial"/>
              </a:rPr>
              <a:t>authority </a:t>
            </a:r>
            <a:r>
              <a:rPr dirty="0" sz="1200">
                <a:latin typeface="Arial"/>
                <a:cs typeface="Arial"/>
              </a:rPr>
              <a:t>of </a:t>
            </a:r>
            <a:r>
              <a:rPr dirty="0" sz="1200" spc="-10">
                <a:latin typeface="Arial"/>
                <a:cs typeface="Arial"/>
              </a:rPr>
              <a:t>Ibn </a:t>
            </a:r>
            <a:r>
              <a:rPr dirty="0" sz="1200" spc="-5">
                <a:latin typeface="Arial"/>
                <a:cs typeface="Arial"/>
              </a:rPr>
              <a:t>'Abbas that he said about the interpretation of  Allah's saying </a:t>
            </a:r>
            <a:r>
              <a:rPr dirty="0" sz="1200">
                <a:latin typeface="Arial"/>
                <a:cs typeface="Arial"/>
              </a:rPr>
              <a:t>(By the morning </a:t>
            </a:r>
            <a:r>
              <a:rPr dirty="0" sz="1200" spc="-5">
                <a:latin typeface="Arial"/>
                <a:cs typeface="Arial"/>
              </a:rPr>
              <a:t>hours): '(By </a:t>
            </a:r>
            <a:r>
              <a:rPr dirty="0" sz="1200">
                <a:latin typeface="Arial"/>
                <a:cs typeface="Arial"/>
              </a:rPr>
              <a:t>the morning </a:t>
            </a:r>
            <a:r>
              <a:rPr dirty="0" sz="1200" spc="-5">
                <a:latin typeface="Arial"/>
                <a:cs typeface="Arial"/>
              </a:rPr>
              <a:t>hours) He says: Allah swears </a:t>
            </a:r>
            <a:r>
              <a:rPr dirty="0" sz="1200" spc="5">
                <a:latin typeface="Arial"/>
                <a:cs typeface="Arial"/>
              </a:rPr>
              <a:t>by </a:t>
            </a:r>
            <a:r>
              <a:rPr dirty="0" sz="1200" spc="-5">
                <a:latin typeface="Arial"/>
                <a:cs typeface="Arial"/>
              </a:rPr>
              <a:t>the  whole day</a:t>
            </a:r>
            <a:endParaRPr sz="1200">
              <a:latin typeface="Arial"/>
              <a:cs typeface="Arial"/>
            </a:endParaRPr>
          </a:p>
          <a:p>
            <a:pPr algn="r" marR="205740">
              <a:lnSpc>
                <a:spcPts val="2125"/>
              </a:lnSpc>
            </a:pPr>
            <a:r>
              <a:rPr dirty="0" baseline="3086" sz="2700" spc="-532">
                <a:latin typeface="Arial"/>
                <a:cs typeface="Arial"/>
              </a:rPr>
              <a:t>ى</a:t>
            </a:r>
            <a:r>
              <a:rPr dirty="0" baseline="7716" sz="2700" spc="-532">
                <a:latin typeface="Arial"/>
                <a:cs typeface="Arial"/>
              </a:rPr>
              <a:t>ٰ </a:t>
            </a:r>
            <a:r>
              <a:rPr dirty="0" baseline="3086" sz="2700" spc="-592">
                <a:latin typeface="Arial"/>
                <a:cs typeface="Arial"/>
              </a:rPr>
              <a:t>ج</a:t>
            </a:r>
            <a:r>
              <a:rPr dirty="0" sz="1800" spc="-395">
                <a:latin typeface="Arial"/>
                <a:cs typeface="Arial"/>
              </a:rPr>
              <a:t>َ </a:t>
            </a:r>
            <a:r>
              <a:rPr dirty="0" baseline="3086" sz="2700" spc="-982">
                <a:latin typeface="Arial"/>
                <a:cs typeface="Arial"/>
              </a:rPr>
              <a:t>س</a:t>
            </a:r>
            <a:r>
              <a:rPr dirty="0" sz="1800" spc="-655">
                <a:latin typeface="Arial"/>
                <a:cs typeface="Arial"/>
              </a:rPr>
              <a:t>َ</a:t>
            </a:r>
            <a:r>
              <a:rPr dirty="0" sz="1800" spc="760">
                <a:latin typeface="Arial"/>
                <a:cs typeface="Arial"/>
              </a:rPr>
              <a:t> </a:t>
            </a:r>
            <a:r>
              <a:rPr dirty="0" baseline="3086" sz="2700" spc="-217">
                <a:latin typeface="Arial"/>
                <a:cs typeface="Arial"/>
              </a:rPr>
              <a:t>اذ</a:t>
            </a:r>
            <a:r>
              <a:rPr dirty="0" baseline="13888" sz="2700" spc="-217">
                <a:latin typeface="Arial"/>
                <a:cs typeface="Arial"/>
              </a:rPr>
              <a:t>َ </a:t>
            </a:r>
            <a:r>
              <a:rPr dirty="0" baseline="-10802" sz="2700">
                <a:latin typeface="Arial"/>
                <a:cs typeface="Arial"/>
              </a:rPr>
              <a:t>ِ</a:t>
            </a:r>
            <a:r>
              <a:rPr dirty="0" baseline="3086" sz="2700">
                <a:latin typeface="Arial"/>
                <a:cs typeface="Arial"/>
              </a:rPr>
              <a:t>إ </a:t>
            </a:r>
            <a:r>
              <a:rPr dirty="0" baseline="3086" sz="2700" spc="-525">
                <a:latin typeface="Arial"/>
                <a:cs typeface="Arial"/>
              </a:rPr>
              <a:t>ل</a:t>
            </a:r>
            <a:r>
              <a:rPr dirty="0" baseline="-4629" sz="2700" spc="-525">
                <a:latin typeface="Arial"/>
                <a:cs typeface="Arial"/>
              </a:rPr>
              <a:t>ِ </a:t>
            </a:r>
            <a:r>
              <a:rPr dirty="0" baseline="3086" sz="2700">
                <a:latin typeface="Arial"/>
                <a:cs typeface="Arial"/>
              </a:rPr>
              <a:t>ٌْ</a:t>
            </a:r>
            <a:r>
              <a:rPr dirty="0" baseline="3086" sz="2700" spc="-359">
                <a:latin typeface="Arial"/>
                <a:cs typeface="Arial"/>
              </a:rPr>
              <a:t> </a:t>
            </a:r>
            <a:r>
              <a:rPr dirty="0" baseline="13888" sz="2700" spc="-382">
                <a:latin typeface="Arial"/>
                <a:cs typeface="Arial"/>
              </a:rPr>
              <a:t>َّ</a:t>
            </a:r>
            <a:r>
              <a:rPr dirty="0" baseline="3086" sz="2700" spc="-382">
                <a:latin typeface="Arial"/>
                <a:cs typeface="Arial"/>
              </a:rPr>
              <a:t>للٱو</a:t>
            </a:r>
            <a:endParaRPr baseline="3086" sz="2700">
              <a:latin typeface="Arial"/>
              <a:cs typeface="Arial"/>
            </a:endParaRPr>
          </a:p>
          <a:p>
            <a:pPr marL="139700">
              <a:lnSpc>
                <a:spcPct val="100000"/>
              </a:lnSpc>
              <a:spcBef>
                <a:spcPts val="1050"/>
              </a:spcBef>
            </a:pPr>
            <a:r>
              <a:rPr dirty="0" sz="1200" spc="-5">
                <a:latin typeface="Arial"/>
                <a:cs typeface="Arial"/>
              </a:rPr>
              <a:t>(And </a:t>
            </a:r>
            <a:r>
              <a:rPr dirty="0" sz="1200">
                <a:latin typeface="Arial"/>
                <a:cs typeface="Arial"/>
              </a:rPr>
              <a:t>by </a:t>
            </a:r>
            <a:r>
              <a:rPr dirty="0" sz="1200" spc="-5">
                <a:latin typeface="Arial"/>
                <a:cs typeface="Arial"/>
              </a:rPr>
              <a:t>the night when </a:t>
            </a:r>
            <a:r>
              <a:rPr dirty="0" sz="1200">
                <a:latin typeface="Arial"/>
                <a:cs typeface="Arial"/>
              </a:rPr>
              <a:t>it </a:t>
            </a:r>
            <a:r>
              <a:rPr dirty="0" sz="1200" spc="-5">
                <a:latin typeface="Arial"/>
                <a:cs typeface="Arial"/>
              </a:rPr>
              <a:t>is stillest) and </a:t>
            </a:r>
            <a:r>
              <a:rPr dirty="0" sz="1200">
                <a:latin typeface="Arial"/>
                <a:cs typeface="Arial"/>
              </a:rPr>
              <a:t>by </a:t>
            </a:r>
            <a:r>
              <a:rPr dirty="0" sz="1200" spc="-5">
                <a:latin typeface="Arial"/>
                <a:cs typeface="Arial"/>
              </a:rPr>
              <a:t>the night when </a:t>
            </a:r>
            <a:r>
              <a:rPr dirty="0" sz="1200">
                <a:latin typeface="Arial"/>
                <a:cs typeface="Arial"/>
              </a:rPr>
              <a:t>it </a:t>
            </a:r>
            <a:r>
              <a:rPr dirty="0" sz="1200" spc="-5">
                <a:latin typeface="Arial"/>
                <a:cs typeface="Arial"/>
              </a:rPr>
              <a:t>becomes</a:t>
            </a:r>
            <a:r>
              <a:rPr dirty="0" sz="1200" spc="5">
                <a:latin typeface="Arial"/>
                <a:cs typeface="Arial"/>
              </a:rPr>
              <a:t> </a:t>
            </a:r>
            <a:r>
              <a:rPr dirty="0" sz="1200">
                <a:latin typeface="Arial"/>
                <a:cs typeface="Arial"/>
              </a:rPr>
              <a:t>dark,</a:t>
            </a:r>
            <a:endParaRPr sz="1200">
              <a:latin typeface="Arial"/>
              <a:cs typeface="Arial"/>
            </a:endParaRPr>
          </a:p>
          <a:p>
            <a:pPr>
              <a:lnSpc>
                <a:spcPct val="100000"/>
              </a:lnSpc>
              <a:spcBef>
                <a:spcPts val="55"/>
              </a:spcBef>
            </a:pPr>
            <a:endParaRPr sz="1150">
              <a:latin typeface="Arial"/>
              <a:cs typeface="Arial"/>
            </a:endParaRPr>
          </a:p>
          <a:p>
            <a:pPr algn="r" marR="227329">
              <a:lnSpc>
                <a:spcPct val="100000"/>
              </a:lnSpc>
            </a:pPr>
            <a:r>
              <a:rPr dirty="0" baseline="3086" sz="2700" spc="-532">
                <a:latin typeface="Arial"/>
                <a:cs typeface="Arial"/>
              </a:rPr>
              <a:t>ى</a:t>
            </a:r>
            <a:r>
              <a:rPr dirty="0" baseline="7716" sz="2700" spc="-532">
                <a:latin typeface="Arial"/>
                <a:cs typeface="Arial"/>
              </a:rPr>
              <a:t>ٰ </a:t>
            </a:r>
            <a:r>
              <a:rPr dirty="0" baseline="10802" sz="2700" spc="-585">
                <a:latin typeface="Arial"/>
                <a:cs typeface="Arial"/>
              </a:rPr>
              <a:t>َ</a:t>
            </a:r>
            <a:r>
              <a:rPr dirty="0" baseline="3086" sz="2700" spc="-585">
                <a:latin typeface="Arial"/>
                <a:cs typeface="Arial"/>
              </a:rPr>
              <a:t>لق</a:t>
            </a:r>
            <a:r>
              <a:rPr dirty="0" baseline="7716" sz="2700" spc="-585">
                <a:latin typeface="Arial"/>
                <a:cs typeface="Arial"/>
              </a:rPr>
              <a:t>َ </a:t>
            </a:r>
            <a:r>
              <a:rPr dirty="0" baseline="3086" sz="2700" spc="-225">
                <a:latin typeface="Arial"/>
                <a:cs typeface="Arial"/>
              </a:rPr>
              <a:t>ام</a:t>
            </a:r>
            <a:r>
              <a:rPr dirty="0" sz="1800" spc="-150">
                <a:latin typeface="Arial"/>
                <a:cs typeface="Arial"/>
              </a:rPr>
              <a:t>َ </a:t>
            </a:r>
            <a:r>
              <a:rPr dirty="0" baseline="3086" sz="2700" spc="-307">
                <a:latin typeface="Arial"/>
                <a:cs typeface="Arial"/>
              </a:rPr>
              <a:t>و</a:t>
            </a:r>
            <a:r>
              <a:rPr dirty="0" sz="1800" spc="-204">
                <a:latin typeface="Arial"/>
                <a:cs typeface="Arial"/>
              </a:rPr>
              <a:t>َ </a:t>
            </a:r>
            <a:r>
              <a:rPr dirty="0" baseline="3086" sz="2700" spc="-682">
                <a:latin typeface="Arial"/>
                <a:cs typeface="Arial"/>
              </a:rPr>
              <a:t>ك</a:t>
            </a:r>
            <a:r>
              <a:rPr dirty="0" sz="1800" spc="-455">
                <a:latin typeface="Arial"/>
                <a:cs typeface="Arial"/>
              </a:rPr>
              <a:t>َ </a:t>
            </a:r>
            <a:r>
              <a:rPr dirty="0" baseline="3086" sz="2700" spc="-607">
                <a:latin typeface="Arial"/>
                <a:cs typeface="Arial"/>
              </a:rPr>
              <a:t>بُّ </a:t>
            </a:r>
            <a:r>
              <a:rPr dirty="0" baseline="3086" sz="2700" spc="-494">
                <a:latin typeface="Arial"/>
                <a:cs typeface="Arial"/>
              </a:rPr>
              <a:t>ر</a:t>
            </a:r>
            <a:r>
              <a:rPr dirty="0" sz="1800" spc="-330">
                <a:latin typeface="Arial"/>
                <a:cs typeface="Arial"/>
              </a:rPr>
              <a:t>َ </a:t>
            </a:r>
            <a:r>
              <a:rPr dirty="0" baseline="3086" sz="2700" spc="-682">
                <a:latin typeface="Arial"/>
                <a:cs typeface="Arial"/>
              </a:rPr>
              <a:t>ك</a:t>
            </a:r>
            <a:r>
              <a:rPr dirty="0" sz="1800" spc="-455">
                <a:latin typeface="Arial"/>
                <a:cs typeface="Arial"/>
              </a:rPr>
              <a:t>َ </a:t>
            </a:r>
            <a:r>
              <a:rPr dirty="0" baseline="3086" sz="2700" spc="-607">
                <a:latin typeface="Arial"/>
                <a:cs typeface="Arial"/>
              </a:rPr>
              <a:t>ع</a:t>
            </a:r>
            <a:r>
              <a:rPr dirty="0" sz="1800" spc="-405">
                <a:latin typeface="Arial"/>
                <a:cs typeface="Arial"/>
              </a:rPr>
              <a:t>َ </a:t>
            </a:r>
            <a:r>
              <a:rPr dirty="0" baseline="3086" sz="2700" spc="-232">
                <a:latin typeface="Arial"/>
                <a:cs typeface="Arial"/>
              </a:rPr>
              <a:t>د</a:t>
            </a:r>
            <a:r>
              <a:rPr dirty="0" baseline="4629" sz="2700" spc="-232">
                <a:latin typeface="Arial"/>
                <a:cs typeface="Arial"/>
              </a:rPr>
              <a:t>َّ </a:t>
            </a:r>
            <a:r>
              <a:rPr dirty="0" baseline="3086" sz="2700" spc="-307">
                <a:latin typeface="Arial"/>
                <a:cs typeface="Arial"/>
              </a:rPr>
              <a:t>و</a:t>
            </a:r>
            <a:r>
              <a:rPr dirty="0" sz="1800" spc="-204">
                <a:latin typeface="Arial"/>
                <a:cs typeface="Arial"/>
              </a:rPr>
              <a:t>َ</a:t>
            </a:r>
            <a:r>
              <a:rPr dirty="0" sz="1800" spc="-25">
                <a:latin typeface="Arial"/>
                <a:cs typeface="Arial"/>
              </a:rPr>
              <a:t> </a:t>
            </a:r>
            <a:r>
              <a:rPr dirty="0" baseline="3086" sz="2700" spc="-337">
                <a:latin typeface="Arial"/>
                <a:cs typeface="Arial"/>
              </a:rPr>
              <a:t>ام</a:t>
            </a:r>
            <a:endParaRPr baseline="3086" sz="2700">
              <a:latin typeface="Arial"/>
              <a:cs typeface="Arial"/>
            </a:endParaRPr>
          </a:p>
          <a:p>
            <a:pPr algn="just" marL="139700" marR="156845">
              <a:lnSpc>
                <a:spcPts val="1380"/>
              </a:lnSpc>
              <a:spcBef>
                <a:spcPts val="1150"/>
              </a:spcBef>
            </a:pPr>
            <a:r>
              <a:rPr dirty="0" sz="1200">
                <a:latin typeface="Arial"/>
                <a:cs typeface="Arial"/>
              </a:rPr>
              <a:t>(Thy </a:t>
            </a:r>
            <a:r>
              <a:rPr dirty="0" sz="1200" spc="-5">
                <a:latin typeface="Arial"/>
                <a:cs typeface="Arial"/>
              </a:rPr>
              <a:t>Lord hath not forsaken thee) your Lord has not </a:t>
            </a:r>
            <a:r>
              <a:rPr dirty="0" sz="1200">
                <a:latin typeface="Arial"/>
                <a:cs typeface="Arial"/>
              </a:rPr>
              <a:t>left </a:t>
            </a:r>
            <a:r>
              <a:rPr dirty="0" sz="1200" spc="-10">
                <a:latin typeface="Arial"/>
                <a:cs typeface="Arial"/>
              </a:rPr>
              <a:t>you </a:t>
            </a:r>
            <a:r>
              <a:rPr dirty="0" sz="1200" spc="-5">
                <a:latin typeface="Arial"/>
                <a:cs typeface="Arial"/>
              </a:rPr>
              <a:t>since He inspired </a:t>
            </a:r>
            <a:r>
              <a:rPr dirty="0" sz="1200" spc="-10">
                <a:latin typeface="Arial"/>
                <a:cs typeface="Arial"/>
              </a:rPr>
              <a:t>you </a:t>
            </a:r>
            <a:r>
              <a:rPr dirty="0" sz="1200" spc="15">
                <a:latin typeface="Arial"/>
                <a:cs typeface="Arial"/>
              </a:rPr>
              <a:t>(nor </a:t>
            </a:r>
            <a:r>
              <a:rPr dirty="0" sz="1200" spc="-5">
                <a:latin typeface="Arial"/>
                <a:cs typeface="Arial"/>
              </a:rPr>
              <a:t>doth  He hate thee) since He loved you; </a:t>
            </a:r>
            <a:r>
              <a:rPr dirty="0" sz="1200">
                <a:latin typeface="Arial"/>
                <a:cs typeface="Arial"/>
              </a:rPr>
              <a:t>this </a:t>
            </a:r>
            <a:r>
              <a:rPr dirty="0" sz="1200" spc="-5">
                <a:latin typeface="Arial"/>
                <a:cs typeface="Arial"/>
              </a:rPr>
              <a:t>is </a:t>
            </a:r>
            <a:r>
              <a:rPr dirty="0" sz="1200">
                <a:latin typeface="Arial"/>
                <a:cs typeface="Arial"/>
              </a:rPr>
              <a:t>the </a:t>
            </a:r>
            <a:r>
              <a:rPr dirty="0" sz="1200" spc="-5">
                <a:latin typeface="Arial"/>
                <a:cs typeface="Arial"/>
              </a:rPr>
              <a:t>reason </a:t>
            </a:r>
            <a:r>
              <a:rPr dirty="0" sz="1200">
                <a:latin typeface="Arial"/>
                <a:cs typeface="Arial"/>
              </a:rPr>
              <a:t>for </a:t>
            </a:r>
            <a:r>
              <a:rPr dirty="0" sz="1200" spc="-5">
                <a:latin typeface="Arial"/>
                <a:cs typeface="Arial"/>
              </a:rPr>
              <a:t>Allah's oath, </a:t>
            </a:r>
            <a:r>
              <a:rPr dirty="0" sz="1200">
                <a:latin typeface="Arial"/>
                <a:cs typeface="Arial"/>
              </a:rPr>
              <a:t>this </a:t>
            </a:r>
            <a:r>
              <a:rPr dirty="0" sz="1200" spc="-10">
                <a:latin typeface="Arial"/>
                <a:cs typeface="Arial"/>
              </a:rPr>
              <a:t>was </a:t>
            </a:r>
            <a:r>
              <a:rPr dirty="0" sz="1200" spc="-5">
                <a:latin typeface="Arial"/>
                <a:cs typeface="Arial"/>
              </a:rPr>
              <a:t>revealed after  </a:t>
            </a:r>
            <a:r>
              <a:rPr dirty="0" sz="1200">
                <a:latin typeface="Arial"/>
                <a:cs typeface="Arial"/>
              </a:rPr>
              <a:t>the </a:t>
            </a:r>
            <a:r>
              <a:rPr dirty="0" sz="1200" spc="-5">
                <a:latin typeface="Arial"/>
                <a:cs typeface="Arial"/>
              </a:rPr>
              <a:t>revelations from Allah stopped </a:t>
            </a:r>
            <a:r>
              <a:rPr dirty="0" sz="1200">
                <a:latin typeface="Arial"/>
                <a:cs typeface="Arial"/>
              </a:rPr>
              <a:t>for </a:t>
            </a:r>
            <a:r>
              <a:rPr dirty="0" sz="1200" spc="-10">
                <a:latin typeface="Arial"/>
                <a:cs typeface="Arial"/>
              </a:rPr>
              <a:t>15 </a:t>
            </a:r>
            <a:r>
              <a:rPr dirty="0" sz="1200" spc="-5">
                <a:latin typeface="Arial"/>
                <a:cs typeface="Arial"/>
              </a:rPr>
              <a:t>nights because the Prophet (pbuh) forgot </a:t>
            </a:r>
            <a:r>
              <a:rPr dirty="0" sz="1200">
                <a:latin typeface="Arial"/>
                <a:cs typeface="Arial"/>
              </a:rPr>
              <a:t>to </a:t>
            </a:r>
            <a:r>
              <a:rPr dirty="0" sz="1200" spc="-5">
                <a:latin typeface="Arial"/>
                <a:cs typeface="Arial"/>
              </a:rPr>
              <a:t>say </a:t>
            </a:r>
            <a:r>
              <a:rPr dirty="0" sz="1200">
                <a:latin typeface="Arial"/>
                <a:cs typeface="Arial"/>
              </a:rPr>
              <a:t>" </a:t>
            </a:r>
            <a:r>
              <a:rPr dirty="0" sz="1200" spc="-10">
                <a:latin typeface="Arial"/>
                <a:cs typeface="Arial"/>
              </a:rPr>
              <a:t>if  </a:t>
            </a:r>
            <a:r>
              <a:rPr dirty="0" sz="1200" spc="-5">
                <a:latin typeface="Arial"/>
                <a:cs typeface="Arial"/>
              </a:rPr>
              <a:t>Allah wills </a:t>
            </a:r>
            <a:r>
              <a:rPr dirty="0" sz="1200">
                <a:latin typeface="Arial"/>
                <a:cs typeface="Arial"/>
              </a:rPr>
              <a:t>" </a:t>
            </a:r>
            <a:r>
              <a:rPr dirty="0" sz="1200" spc="-5">
                <a:latin typeface="Arial"/>
                <a:cs typeface="Arial"/>
              </a:rPr>
              <a:t>when he </a:t>
            </a:r>
            <a:r>
              <a:rPr dirty="0" sz="1200">
                <a:latin typeface="Arial"/>
                <a:cs typeface="Arial"/>
              </a:rPr>
              <a:t>promised </a:t>
            </a:r>
            <a:r>
              <a:rPr dirty="0" sz="1200" spc="-5">
                <a:latin typeface="Arial"/>
                <a:cs typeface="Arial"/>
              </a:rPr>
              <a:t>the idolaters </a:t>
            </a:r>
            <a:r>
              <a:rPr dirty="0" sz="1200">
                <a:latin typeface="Arial"/>
                <a:cs typeface="Arial"/>
              </a:rPr>
              <a:t>to </a:t>
            </a:r>
            <a:r>
              <a:rPr dirty="0" sz="1200" spc="-5">
                <a:latin typeface="Arial"/>
                <a:cs typeface="Arial"/>
              </a:rPr>
              <a:t>answer </a:t>
            </a:r>
            <a:r>
              <a:rPr dirty="0" sz="1200" spc="10">
                <a:latin typeface="Arial"/>
                <a:cs typeface="Arial"/>
              </a:rPr>
              <a:t>their </a:t>
            </a:r>
            <a:r>
              <a:rPr dirty="0" sz="1200" spc="-5">
                <a:latin typeface="Arial"/>
                <a:cs typeface="Arial"/>
              </a:rPr>
              <a:t>questions. And because the  revelations stopped for </a:t>
            </a:r>
            <a:r>
              <a:rPr dirty="0" sz="1200">
                <a:latin typeface="Arial"/>
                <a:cs typeface="Arial"/>
              </a:rPr>
              <a:t>this </a:t>
            </a:r>
            <a:r>
              <a:rPr dirty="0" sz="1200" spc="-5">
                <a:latin typeface="Arial"/>
                <a:cs typeface="Arial"/>
              </a:rPr>
              <a:t>period of </a:t>
            </a:r>
            <a:r>
              <a:rPr dirty="0" sz="1200">
                <a:latin typeface="Arial"/>
                <a:cs typeface="Arial"/>
              </a:rPr>
              <a:t>time the </a:t>
            </a:r>
            <a:r>
              <a:rPr dirty="0" sz="1200" spc="-5">
                <a:latin typeface="Arial"/>
                <a:cs typeface="Arial"/>
              </a:rPr>
              <a:t>idolaters said: the </a:t>
            </a:r>
            <a:r>
              <a:rPr dirty="0" sz="1200" spc="-10">
                <a:latin typeface="Arial"/>
                <a:cs typeface="Arial"/>
              </a:rPr>
              <a:t>Lord </a:t>
            </a:r>
            <a:r>
              <a:rPr dirty="0" sz="1200" spc="-5">
                <a:latin typeface="Arial"/>
                <a:cs typeface="Arial"/>
              </a:rPr>
              <a:t>of Prophet has  </a:t>
            </a:r>
            <a:r>
              <a:rPr dirty="0" sz="1200">
                <a:latin typeface="Arial"/>
                <a:cs typeface="Arial"/>
              </a:rPr>
              <a:t>forsaken him </a:t>
            </a:r>
            <a:r>
              <a:rPr dirty="0" sz="1200" spc="-5">
                <a:latin typeface="Arial"/>
                <a:cs typeface="Arial"/>
              </a:rPr>
              <a:t>and He hates</a:t>
            </a:r>
            <a:r>
              <a:rPr dirty="0" sz="1200" spc="-35">
                <a:latin typeface="Arial"/>
                <a:cs typeface="Arial"/>
              </a:rPr>
              <a:t> </a:t>
            </a:r>
            <a:r>
              <a:rPr dirty="0" sz="1200">
                <a:latin typeface="Arial"/>
                <a:cs typeface="Arial"/>
              </a:rPr>
              <a:t>him.</a:t>
            </a:r>
            <a:endParaRPr sz="1200">
              <a:latin typeface="Arial"/>
              <a:cs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4981828" y="432307"/>
            <a:ext cx="2086610" cy="675005"/>
          </a:xfrm>
          <a:prstGeom prst="rect">
            <a:avLst/>
          </a:prstGeom>
        </p:spPr>
        <p:txBody>
          <a:bodyPr wrap="square" lIns="0" tIns="12700" rIns="0" bIns="0" rtlCol="0" vert="horz">
            <a:spAutoFit/>
          </a:bodyPr>
          <a:lstStyle/>
          <a:p>
            <a:pPr marL="801370">
              <a:lnSpc>
                <a:spcPct val="100000"/>
              </a:lnSpc>
              <a:spcBef>
                <a:spcPts val="100"/>
              </a:spcBef>
            </a:pPr>
            <a:r>
              <a:rPr dirty="0" sz="1200" spc="-5" b="1">
                <a:latin typeface="Times New Roman"/>
                <a:cs typeface="Times New Roman"/>
              </a:rPr>
              <a:t>Syllabus</a:t>
            </a:r>
            <a:r>
              <a:rPr dirty="0" sz="1200" spc="-10" b="1">
                <a:latin typeface="Times New Roman"/>
                <a:cs typeface="Times New Roman"/>
              </a:rPr>
              <a:t>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marL="63500">
              <a:lnSpc>
                <a:spcPct val="100000"/>
              </a:lnSpc>
            </a:pPr>
            <a:r>
              <a:rPr dirty="0" baseline="3086" sz="2700" spc="-532">
                <a:latin typeface="Arial"/>
                <a:cs typeface="Arial"/>
              </a:rPr>
              <a:t>ى</a:t>
            </a:r>
            <a:r>
              <a:rPr dirty="0" baseline="7716" sz="2700" spc="-532">
                <a:latin typeface="Arial"/>
                <a:cs typeface="Arial"/>
              </a:rPr>
              <a:t>ٰ </a:t>
            </a:r>
            <a:r>
              <a:rPr dirty="0" baseline="10802" sz="2700" spc="-195">
                <a:latin typeface="Arial"/>
                <a:cs typeface="Arial"/>
              </a:rPr>
              <a:t>َ</a:t>
            </a:r>
            <a:r>
              <a:rPr dirty="0" baseline="3086" sz="2700" spc="-195">
                <a:latin typeface="Arial"/>
                <a:cs typeface="Arial"/>
              </a:rPr>
              <a:t>لو</a:t>
            </a:r>
            <a:r>
              <a:rPr dirty="0" baseline="20061" sz="2700" spc="-195">
                <a:latin typeface="Arial"/>
                <a:cs typeface="Arial"/>
              </a:rPr>
              <a:t>ُ</a:t>
            </a:r>
            <a:r>
              <a:rPr dirty="0" baseline="3086" sz="2700" spc="-195">
                <a:latin typeface="Arial"/>
                <a:cs typeface="Arial"/>
              </a:rPr>
              <a:t>لأٱ </a:t>
            </a:r>
            <a:r>
              <a:rPr dirty="0" baseline="3086" sz="2700" spc="-494">
                <a:latin typeface="Arial"/>
                <a:cs typeface="Arial"/>
              </a:rPr>
              <a:t>ن</a:t>
            </a:r>
            <a:r>
              <a:rPr dirty="0" sz="1800" spc="-330">
                <a:latin typeface="Arial"/>
                <a:cs typeface="Arial"/>
              </a:rPr>
              <a:t>َ </a:t>
            </a:r>
            <a:r>
              <a:rPr dirty="0" baseline="3086" sz="2700" spc="-352">
                <a:latin typeface="Arial"/>
                <a:cs typeface="Arial"/>
              </a:rPr>
              <a:t>م</a:t>
            </a:r>
            <a:r>
              <a:rPr dirty="0" baseline="1543" sz="2700" spc="-352">
                <a:latin typeface="Arial"/>
                <a:cs typeface="Arial"/>
              </a:rPr>
              <a:t>ِ </a:t>
            </a:r>
            <a:r>
              <a:rPr dirty="0" baseline="3086" sz="2700" spc="-682">
                <a:latin typeface="Arial"/>
                <a:cs typeface="Arial"/>
              </a:rPr>
              <a:t>ك</a:t>
            </a:r>
            <a:r>
              <a:rPr dirty="0" sz="1800" spc="-455">
                <a:latin typeface="Arial"/>
                <a:cs typeface="Arial"/>
              </a:rPr>
              <a:t>َ </a:t>
            </a:r>
            <a:r>
              <a:rPr dirty="0" baseline="13888" sz="2700" spc="-270">
                <a:latin typeface="Arial"/>
                <a:cs typeface="Arial"/>
              </a:rPr>
              <a:t>َّ</a:t>
            </a:r>
            <a:r>
              <a:rPr dirty="0" baseline="3086" sz="2700" spc="-270">
                <a:latin typeface="Arial"/>
                <a:cs typeface="Arial"/>
              </a:rPr>
              <a:t>ل </a:t>
            </a:r>
            <a:r>
              <a:rPr dirty="0" baseline="3086" sz="2700" spc="-525">
                <a:latin typeface="Arial"/>
                <a:cs typeface="Arial"/>
              </a:rPr>
              <a:t>ر</a:t>
            </a:r>
            <a:r>
              <a:rPr dirty="0" baseline="4629" sz="2700" spc="-525">
                <a:latin typeface="Arial"/>
                <a:cs typeface="Arial"/>
              </a:rPr>
              <a:t>ٌ </a:t>
            </a:r>
            <a:r>
              <a:rPr dirty="0" baseline="3086" sz="2700">
                <a:latin typeface="Arial"/>
                <a:cs typeface="Arial"/>
              </a:rPr>
              <a:t>ٌْ </a:t>
            </a:r>
            <a:r>
              <a:rPr dirty="0" baseline="3086" sz="2700" spc="-592">
                <a:latin typeface="Arial"/>
                <a:cs typeface="Arial"/>
              </a:rPr>
              <a:t>خ</a:t>
            </a:r>
            <a:r>
              <a:rPr dirty="0" baseline="7716" sz="2700" spc="-592">
                <a:latin typeface="Arial"/>
                <a:cs typeface="Arial"/>
              </a:rPr>
              <a:t>َ </a:t>
            </a:r>
            <a:r>
              <a:rPr dirty="0" baseline="7716" sz="2700" spc="-247">
                <a:latin typeface="Arial"/>
                <a:cs typeface="Arial"/>
              </a:rPr>
              <a:t>ُ</a:t>
            </a:r>
            <a:r>
              <a:rPr dirty="0" baseline="3086" sz="2700" spc="-247">
                <a:latin typeface="Arial"/>
                <a:cs typeface="Arial"/>
              </a:rPr>
              <a:t>ةر</a:t>
            </a:r>
            <a:r>
              <a:rPr dirty="0" sz="1800" spc="-165">
                <a:latin typeface="Arial"/>
                <a:cs typeface="Arial"/>
              </a:rPr>
              <a:t>َ </a:t>
            </a:r>
            <a:r>
              <a:rPr dirty="0" baseline="3086" sz="2700" spc="-719">
                <a:latin typeface="Arial"/>
                <a:cs typeface="Arial"/>
              </a:rPr>
              <a:t>خ</a:t>
            </a:r>
            <a:r>
              <a:rPr dirty="0" baseline="1543" sz="2700" spc="-719">
                <a:latin typeface="Arial"/>
                <a:cs typeface="Arial"/>
              </a:rPr>
              <a:t>ِ</a:t>
            </a:r>
            <a:r>
              <a:rPr dirty="0" baseline="1543" sz="2700" spc="-705">
                <a:latin typeface="Arial"/>
                <a:cs typeface="Arial"/>
              </a:rPr>
              <a:t> </a:t>
            </a:r>
            <a:r>
              <a:rPr dirty="0" baseline="3086" sz="2700" spc="-352">
                <a:latin typeface="Arial"/>
                <a:cs typeface="Arial"/>
              </a:rPr>
              <a:t>لآ</a:t>
            </a:r>
            <a:r>
              <a:rPr dirty="0" baseline="10802" sz="2700" spc="-352">
                <a:latin typeface="Arial"/>
                <a:cs typeface="Arial"/>
              </a:rPr>
              <a:t>َ</a:t>
            </a:r>
            <a:r>
              <a:rPr dirty="0" baseline="3086" sz="2700" spc="-352">
                <a:latin typeface="Arial"/>
                <a:cs typeface="Arial"/>
              </a:rPr>
              <a:t>لو</a:t>
            </a:r>
            <a:endParaRPr baseline="3086" sz="2700">
              <a:latin typeface="Arial"/>
              <a:cs typeface="Arial"/>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604519" y="1214373"/>
            <a:ext cx="6553200" cy="8614410"/>
          </a:xfrm>
          <a:prstGeom prst="rect">
            <a:avLst/>
          </a:prstGeom>
        </p:spPr>
        <p:txBody>
          <a:bodyPr wrap="square" lIns="0" tIns="24765" rIns="0" bIns="0" rtlCol="0" vert="horz">
            <a:spAutoFit/>
          </a:bodyPr>
          <a:lstStyle/>
          <a:p>
            <a:pPr algn="just" marL="127000" marR="139700">
              <a:lnSpc>
                <a:spcPts val="1380"/>
              </a:lnSpc>
              <a:spcBef>
                <a:spcPts val="195"/>
              </a:spcBef>
            </a:pPr>
            <a:r>
              <a:rPr dirty="0" sz="1200" spc="-5">
                <a:latin typeface="Arial"/>
                <a:cs typeface="Arial"/>
              </a:rPr>
              <a:t>(And verily the </a:t>
            </a:r>
            <a:r>
              <a:rPr dirty="0" sz="1200">
                <a:latin typeface="Arial"/>
                <a:cs typeface="Arial"/>
              </a:rPr>
              <a:t>latter portion </a:t>
            </a:r>
            <a:r>
              <a:rPr dirty="0" sz="1200" spc="-10">
                <a:latin typeface="Arial"/>
                <a:cs typeface="Arial"/>
              </a:rPr>
              <a:t>will </a:t>
            </a:r>
            <a:r>
              <a:rPr dirty="0" sz="1200">
                <a:latin typeface="Arial"/>
                <a:cs typeface="Arial"/>
              </a:rPr>
              <a:t>be better for thee </a:t>
            </a:r>
            <a:r>
              <a:rPr dirty="0" sz="1200" spc="-5">
                <a:latin typeface="Arial"/>
                <a:cs typeface="Arial"/>
              </a:rPr>
              <a:t>than the former) He says: </a:t>
            </a:r>
            <a:r>
              <a:rPr dirty="0" sz="1200">
                <a:latin typeface="Arial"/>
                <a:cs typeface="Arial"/>
              </a:rPr>
              <a:t>the </a:t>
            </a:r>
            <a:r>
              <a:rPr dirty="0" sz="1200" spc="-5">
                <a:latin typeface="Arial"/>
                <a:cs typeface="Arial"/>
              </a:rPr>
              <a:t>reward </a:t>
            </a:r>
            <a:r>
              <a:rPr dirty="0" sz="1200">
                <a:latin typeface="Arial"/>
                <a:cs typeface="Arial"/>
              </a:rPr>
              <a:t>of </a:t>
            </a:r>
            <a:r>
              <a:rPr dirty="0" sz="1200" spc="-5">
                <a:latin typeface="Arial"/>
                <a:cs typeface="Arial"/>
              </a:rPr>
              <a:t>the  </a:t>
            </a:r>
            <a:r>
              <a:rPr dirty="0" sz="1200">
                <a:latin typeface="Arial"/>
                <a:cs typeface="Arial"/>
              </a:rPr>
              <a:t>Hereafter </a:t>
            </a:r>
            <a:r>
              <a:rPr dirty="0" sz="1200" spc="-5">
                <a:latin typeface="Arial"/>
                <a:cs typeface="Arial"/>
              </a:rPr>
              <a:t>is better </a:t>
            </a:r>
            <a:r>
              <a:rPr dirty="0" sz="1200">
                <a:latin typeface="Arial"/>
                <a:cs typeface="Arial"/>
              </a:rPr>
              <a:t>for </a:t>
            </a:r>
            <a:r>
              <a:rPr dirty="0" sz="1200" spc="-10">
                <a:latin typeface="Arial"/>
                <a:cs typeface="Arial"/>
              </a:rPr>
              <a:t>you </a:t>
            </a:r>
            <a:r>
              <a:rPr dirty="0" sz="1200" spc="-5">
                <a:latin typeface="Arial"/>
                <a:cs typeface="Arial"/>
              </a:rPr>
              <a:t>than the reward of the life of the</a:t>
            </a:r>
            <a:r>
              <a:rPr dirty="0" sz="1200" spc="30">
                <a:latin typeface="Arial"/>
                <a:cs typeface="Arial"/>
              </a:rPr>
              <a:t> </a:t>
            </a:r>
            <a:r>
              <a:rPr dirty="0" sz="1200" spc="-5">
                <a:latin typeface="Arial"/>
                <a:cs typeface="Arial"/>
              </a:rPr>
              <a:t>world.</a:t>
            </a:r>
            <a:endParaRPr sz="1200">
              <a:latin typeface="Arial"/>
              <a:cs typeface="Arial"/>
            </a:endParaRPr>
          </a:p>
          <a:p>
            <a:pPr algn="r" marR="183515">
              <a:lnSpc>
                <a:spcPts val="2125"/>
              </a:lnSpc>
            </a:pPr>
            <a:r>
              <a:rPr dirty="0" baseline="3086" sz="2700" spc="-532">
                <a:latin typeface="Arial"/>
                <a:cs typeface="Arial"/>
              </a:rPr>
              <a:t>ى</a:t>
            </a:r>
            <a:r>
              <a:rPr dirty="0" baseline="7716" sz="2700" spc="-532">
                <a:latin typeface="Arial"/>
                <a:cs typeface="Arial"/>
              </a:rPr>
              <a:t>ٰ </a:t>
            </a:r>
            <a:r>
              <a:rPr dirty="0" baseline="3086" sz="2700" spc="-1350">
                <a:latin typeface="Arial"/>
                <a:cs typeface="Arial"/>
              </a:rPr>
              <a:t>ض</a:t>
            </a:r>
            <a:r>
              <a:rPr dirty="0" sz="1800" spc="-900">
                <a:latin typeface="Arial"/>
                <a:cs typeface="Arial"/>
              </a:rPr>
              <a:t>َ</a:t>
            </a:r>
            <a:r>
              <a:rPr dirty="0" sz="1800" spc="830">
                <a:latin typeface="Arial"/>
                <a:cs typeface="Arial"/>
              </a:rPr>
              <a:t> </a:t>
            </a:r>
            <a:r>
              <a:rPr dirty="0" baseline="3086" sz="2700" spc="-457">
                <a:latin typeface="Arial"/>
                <a:cs typeface="Arial"/>
              </a:rPr>
              <a:t>رْ </a:t>
            </a:r>
            <a:r>
              <a:rPr dirty="0" baseline="3086" sz="2700" spc="-892">
                <a:latin typeface="Arial"/>
                <a:cs typeface="Arial"/>
              </a:rPr>
              <a:t>ت</a:t>
            </a:r>
            <a:r>
              <a:rPr dirty="0" baseline="7716" sz="2700" spc="-892">
                <a:latin typeface="Arial"/>
                <a:cs typeface="Arial"/>
              </a:rPr>
              <a:t>َ</a:t>
            </a:r>
            <a:r>
              <a:rPr dirty="0" baseline="7716" sz="2700" spc="-232">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22">
                <a:latin typeface="Arial"/>
                <a:cs typeface="Arial"/>
              </a:rPr>
              <a:t> </a:t>
            </a:r>
            <a:r>
              <a:rPr dirty="0" baseline="3086" sz="2700" spc="-682">
                <a:latin typeface="Arial"/>
                <a:cs typeface="Arial"/>
              </a:rPr>
              <a:t>ك</a:t>
            </a:r>
            <a:r>
              <a:rPr dirty="0" sz="1800" spc="-455">
                <a:latin typeface="Arial"/>
                <a:cs typeface="Arial"/>
              </a:rPr>
              <a:t>َ </a:t>
            </a:r>
            <a:r>
              <a:rPr dirty="0" baseline="3086" sz="2700" spc="-607">
                <a:latin typeface="Arial"/>
                <a:cs typeface="Arial"/>
              </a:rPr>
              <a:t>بُّ </a:t>
            </a:r>
            <a:r>
              <a:rPr dirty="0" baseline="3086" sz="2700" spc="-494">
                <a:latin typeface="Arial"/>
                <a:cs typeface="Arial"/>
              </a:rPr>
              <a:t>ر</a:t>
            </a:r>
            <a:r>
              <a:rPr dirty="0" sz="1800" spc="-330">
                <a:latin typeface="Arial"/>
                <a:cs typeface="Arial"/>
              </a:rPr>
              <a:t>َ </a:t>
            </a:r>
            <a:r>
              <a:rPr dirty="0" baseline="3086" sz="2700" spc="-682">
                <a:latin typeface="Arial"/>
                <a:cs typeface="Arial"/>
              </a:rPr>
              <a:t>ك</a:t>
            </a:r>
            <a:r>
              <a:rPr dirty="0" sz="1800" spc="-455">
                <a:latin typeface="Arial"/>
                <a:cs typeface="Arial"/>
              </a:rPr>
              <a:t>َ </a:t>
            </a:r>
            <a:r>
              <a:rPr dirty="0" baseline="3086" sz="2700" spc="-390">
                <a:latin typeface="Arial"/>
                <a:cs typeface="Arial"/>
              </a:rPr>
              <a:t>ٌط</a:t>
            </a:r>
            <a:r>
              <a:rPr dirty="0" baseline="1543" sz="2700" spc="-390">
                <a:latin typeface="Arial"/>
                <a:cs typeface="Arial"/>
              </a:rPr>
              <a:t>ِ </a:t>
            </a:r>
            <a:r>
              <a:rPr dirty="0" baseline="3086" sz="2700" spc="-569">
                <a:latin typeface="Arial"/>
                <a:cs typeface="Arial"/>
              </a:rPr>
              <a:t>عْ </a:t>
            </a:r>
            <a:r>
              <a:rPr dirty="0" baseline="3086" sz="2700">
                <a:latin typeface="Arial"/>
                <a:cs typeface="Arial"/>
              </a:rPr>
              <a:t>ٌُ </a:t>
            </a:r>
            <a:r>
              <a:rPr dirty="0" baseline="3086" sz="2700" spc="-630">
                <a:latin typeface="Arial"/>
                <a:cs typeface="Arial"/>
              </a:rPr>
              <a:t>ؾ</a:t>
            </a:r>
            <a:r>
              <a:rPr dirty="0" sz="1800" spc="-420">
                <a:latin typeface="Arial"/>
                <a:cs typeface="Arial"/>
              </a:rPr>
              <a:t>َ </a:t>
            </a:r>
            <a:r>
              <a:rPr dirty="0" baseline="3086" sz="2700" spc="-270">
                <a:latin typeface="Arial"/>
                <a:cs typeface="Arial"/>
              </a:rPr>
              <a:t>وْ</a:t>
            </a:r>
            <a:r>
              <a:rPr dirty="0" baseline="3086" sz="2700" spc="-419">
                <a:latin typeface="Arial"/>
                <a:cs typeface="Arial"/>
              </a:rPr>
              <a:t> </a:t>
            </a:r>
            <a:r>
              <a:rPr dirty="0" baseline="3086" sz="2700" spc="-982">
                <a:latin typeface="Arial"/>
                <a:cs typeface="Arial"/>
              </a:rPr>
              <a:t>س</a:t>
            </a:r>
            <a:r>
              <a:rPr dirty="0" sz="1800" spc="-655">
                <a:latin typeface="Arial"/>
                <a:cs typeface="Arial"/>
              </a:rPr>
              <a:t>َ</a:t>
            </a:r>
            <a:r>
              <a:rPr dirty="0" sz="1800" spc="270">
                <a:latin typeface="Arial"/>
                <a:cs typeface="Arial"/>
              </a:rPr>
              <a:t> </a:t>
            </a:r>
            <a:r>
              <a:rPr dirty="0" baseline="10802" sz="2700" spc="-480">
                <a:latin typeface="Arial"/>
                <a:cs typeface="Arial"/>
              </a:rPr>
              <a:t>َ</a:t>
            </a:r>
            <a:r>
              <a:rPr dirty="0" baseline="3086" sz="2700" spc="-480">
                <a:latin typeface="Arial"/>
                <a:cs typeface="Arial"/>
              </a:rPr>
              <a:t>لو</a:t>
            </a:r>
            <a:endParaRPr baseline="3086" sz="2700">
              <a:latin typeface="Arial"/>
              <a:cs typeface="Arial"/>
            </a:endParaRPr>
          </a:p>
          <a:p>
            <a:pPr algn="just" marL="127000" marR="140335">
              <a:lnSpc>
                <a:spcPts val="1380"/>
              </a:lnSpc>
              <a:spcBef>
                <a:spcPts val="1150"/>
              </a:spcBef>
            </a:pPr>
            <a:r>
              <a:rPr dirty="0" sz="1200" spc="-5">
                <a:latin typeface="Arial"/>
                <a:cs typeface="Arial"/>
              </a:rPr>
              <a:t>(And verily </a:t>
            </a:r>
            <a:r>
              <a:rPr dirty="0" sz="1200">
                <a:latin typeface="Arial"/>
                <a:cs typeface="Arial"/>
              </a:rPr>
              <a:t>thy </a:t>
            </a:r>
            <a:r>
              <a:rPr dirty="0" sz="1200" spc="-5">
                <a:latin typeface="Arial"/>
                <a:cs typeface="Arial"/>
              </a:rPr>
              <a:t>Lord will </a:t>
            </a:r>
            <a:r>
              <a:rPr dirty="0" sz="1200" spc="-10">
                <a:latin typeface="Arial"/>
                <a:cs typeface="Arial"/>
              </a:rPr>
              <a:t>give </a:t>
            </a:r>
            <a:r>
              <a:rPr dirty="0" sz="1200" spc="-5">
                <a:latin typeface="Arial"/>
                <a:cs typeface="Arial"/>
              </a:rPr>
              <a:t>unto thee) in </a:t>
            </a:r>
            <a:r>
              <a:rPr dirty="0" sz="1200" spc="-10">
                <a:latin typeface="Arial"/>
                <a:cs typeface="Arial"/>
              </a:rPr>
              <a:t>the </a:t>
            </a:r>
            <a:r>
              <a:rPr dirty="0" sz="1200" spc="-5">
                <a:latin typeface="Arial"/>
                <a:cs typeface="Arial"/>
              </a:rPr>
              <a:t>Hereafter of intercession (so that thou </a:t>
            </a:r>
            <a:r>
              <a:rPr dirty="0" sz="1200" spc="-10">
                <a:latin typeface="Arial"/>
                <a:cs typeface="Arial"/>
              </a:rPr>
              <a:t>wilt </a:t>
            </a:r>
            <a:r>
              <a:rPr dirty="0" sz="1200" spc="-5">
                <a:latin typeface="Arial"/>
                <a:cs typeface="Arial"/>
              </a:rPr>
              <a:t>be  content) until </a:t>
            </a:r>
            <a:r>
              <a:rPr dirty="0" sz="1200" spc="-10">
                <a:latin typeface="Arial"/>
                <a:cs typeface="Arial"/>
              </a:rPr>
              <a:t>you </a:t>
            </a:r>
            <a:r>
              <a:rPr dirty="0" sz="1200">
                <a:latin typeface="Arial"/>
                <a:cs typeface="Arial"/>
              </a:rPr>
              <a:t>are</a:t>
            </a:r>
            <a:r>
              <a:rPr dirty="0" sz="1200" spc="15">
                <a:latin typeface="Arial"/>
                <a:cs typeface="Arial"/>
              </a:rPr>
              <a:t> </a:t>
            </a:r>
            <a:r>
              <a:rPr dirty="0" sz="1200" spc="-5">
                <a:latin typeface="Arial"/>
                <a:cs typeface="Arial"/>
              </a:rPr>
              <a:t>content.</a:t>
            </a:r>
            <a:endParaRPr sz="1200">
              <a:latin typeface="Arial"/>
              <a:cs typeface="Arial"/>
            </a:endParaRPr>
          </a:p>
          <a:p>
            <a:pPr algn="r" marR="132080">
              <a:lnSpc>
                <a:spcPts val="2065"/>
              </a:lnSpc>
            </a:pPr>
            <a:r>
              <a:rPr dirty="0" baseline="1543" sz="2700" spc="-540">
                <a:latin typeface="Arial"/>
                <a:cs typeface="Arial"/>
              </a:rPr>
              <a:t>ى</a:t>
            </a:r>
            <a:r>
              <a:rPr dirty="0" baseline="6172" sz="2700" spc="-540">
                <a:latin typeface="Arial"/>
                <a:cs typeface="Arial"/>
              </a:rPr>
              <a:t>ٰ </a:t>
            </a:r>
            <a:r>
              <a:rPr dirty="0" baseline="1543" sz="2700" spc="-307">
                <a:latin typeface="Arial"/>
                <a:cs typeface="Arial"/>
              </a:rPr>
              <a:t>و</a:t>
            </a:r>
            <a:r>
              <a:rPr dirty="0" baseline="-1543" sz="2700" spc="-307">
                <a:latin typeface="Arial"/>
                <a:cs typeface="Arial"/>
              </a:rPr>
              <a:t>َ </a:t>
            </a:r>
            <a:r>
              <a:rPr dirty="0" baseline="1543" sz="2700" spc="-675">
                <a:latin typeface="Arial"/>
                <a:cs typeface="Arial"/>
              </a:rPr>
              <a:t>آف</a:t>
            </a:r>
            <a:r>
              <a:rPr dirty="0" baseline="6172" sz="2700" spc="-675">
                <a:latin typeface="Arial"/>
                <a:cs typeface="Arial"/>
              </a:rPr>
              <a:t>َ </a:t>
            </a:r>
            <a:r>
              <a:rPr dirty="0" baseline="9259" sz="2700" spc="-292">
                <a:latin typeface="Arial"/>
                <a:cs typeface="Arial"/>
              </a:rPr>
              <a:t>ً</a:t>
            </a:r>
            <a:r>
              <a:rPr dirty="0" baseline="1543" sz="2700" spc="-292">
                <a:latin typeface="Arial"/>
                <a:cs typeface="Arial"/>
              </a:rPr>
              <a:t>امٌت</a:t>
            </a:r>
            <a:r>
              <a:rPr dirty="0" sz="1800" spc="-195">
                <a:latin typeface="Arial"/>
                <a:cs typeface="Arial"/>
              </a:rPr>
              <a:t>ِ </a:t>
            </a:r>
            <a:r>
              <a:rPr dirty="0" baseline="1543" sz="2700">
                <a:latin typeface="Arial"/>
                <a:cs typeface="Arial"/>
              </a:rPr>
              <a:t>ٌ</a:t>
            </a:r>
            <a:r>
              <a:rPr dirty="0" baseline="-1543" sz="2700">
                <a:latin typeface="Arial"/>
                <a:cs typeface="Arial"/>
              </a:rPr>
              <a:t>َ </a:t>
            </a:r>
            <a:r>
              <a:rPr dirty="0" baseline="1543" sz="2700" spc="-682">
                <a:latin typeface="Arial"/>
                <a:cs typeface="Arial"/>
              </a:rPr>
              <a:t>ك</a:t>
            </a:r>
            <a:r>
              <a:rPr dirty="0" baseline="-1543" sz="2700" spc="-682">
                <a:latin typeface="Arial"/>
                <a:cs typeface="Arial"/>
              </a:rPr>
              <a:t>َ </a:t>
            </a:r>
            <a:r>
              <a:rPr dirty="0" baseline="1543" sz="2700" spc="-284">
                <a:latin typeface="Arial"/>
                <a:cs typeface="Arial"/>
              </a:rPr>
              <a:t>د</a:t>
            </a:r>
            <a:r>
              <a:rPr dirty="0" baseline="4629" sz="2700" spc="-284">
                <a:latin typeface="Arial"/>
                <a:cs typeface="Arial"/>
              </a:rPr>
              <a:t>ْ </a:t>
            </a:r>
            <a:r>
              <a:rPr dirty="0" baseline="1543" sz="2700" spc="-719">
                <a:latin typeface="Arial"/>
                <a:cs typeface="Arial"/>
              </a:rPr>
              <a:t>ج</a:t>
            </a:r>
            <a:r>
              <a:rPr dirty="0" baseline="-9259" sz="2700" spc="-719">
                <a:latin typeface="Arial"/>
                <a:cs typeface="Arial"/>
              </a:rPr>
              <a:t>ِ </a:t>
            </a:r>
            <a:r>
              <a:rPr dirty="0" baseline="1543" sz="2700">
                <a:latin typeface="Arial"/>
                <a:cs typeface="Arial"/>
              </a:rPr>
              <a:t>ٌ</a:t>
            </a:r>
            <a:r>
              <a:rPr dirty="0" baseline="-1543" sz="2700">
                <a:latin typeface="Arial"/>
                <a:cs typeface="Arial"/>
              </a:rPr>
              <a:t>َ </a:t>
            </a:r>
            <a:r>
              <a:rPr dirty="0" baseline="1543" sz="2700" spc="-352">
                <a:latin typeface="Arial"/>
                <a:cs typeface="Arial"/>
              </a:rPr>
              <a:t>م</a:t>
            </a:r>
            <a:r>
              <a:rPr dirty="0" baseline="-3086" sz="2700" spc="-352">
                <a:latin typeface="Arial"/>
                <a:cs typeface="Arial"/>
              </a:rPr>
              <a:t>ْ</a:t>
            </a:r>
            <a:r>
              <a:rPr dirty="0" baseline="-3086" sz="2700" spc="-419">
                <a:latin typeface="Arial"/>
                <a:cs typeface="Arial"/>
              </a:rPr>
              <a:t> </a:t>
            </a:r>
            <a:r>
              <a:rPr dirty="0" baseline="9259" sz="2700" spc="-217">
                <a:latin typeface="Arial"/>
                <a:cs typeface="Arial"/>
              </a:rPr>
              <a:t>َ</a:t>
            </a:r>
            <a:r>
              <a:rPr dirty="0" baseline="1543" sz="2700" spc="-217">
                <a:latin typeface="Arial"/>
                <a:cs typeface="Arial"/>
              </a:rPr>
              <a:t>ل</a:t>
            </a:r>
            <a:r>
              <a:rPr dirty="0" baseline="15432" sz="2700" spc="-217">
                <a:latin typeface="Arial"/>
                <a:cs typeface="Arial"/>
              </a:rPr>
              <a:t>َ</a:t>
            </a:r>
            <a:r>
              <a:rPr dirty="0" baseline="1543" sz="2700" spc="-217">
                <a:latin typeface="Arial"/>
                <a:cs typeface="Arial"/>
              </a:rPr>
              <a:t>أ</a:t>
            </a:r>
            <a:endParaRPr baseline="1543" sz="2700">
              <a:latin typeface="Arial"/>
              <a:cs typeface="Arial"/>
            </a:endParaRPr>
          </a:p>
          <a:p>
            <a:pPr algn="just" marL="127000" marR="132080">
              <a:lnSpc>
                <a:spcPct val="95900"/>
              </a:lnSpc>
              <a:spcBef>
                <a:spcPts val="1165"/>
              </a:spcBef>
            </a:pPr>
            <a:r>
              <a:rPr dirty="0" sz="1200" spc="-5">
                <a:latin typeface="Arial"/>
                <a:cs typeface="Arial"/>
              </a:rPr>
              <a:t>Allah then mentioned His blessings upon </a:t>
            </a:r>
            <a:r>
              <a:rPr dirty="0" sz="1200">
                <a:latin typeface="Arial"/>
                <a:cs typeface="Arial"/>
              </a:rPr>
              <a:t>the </a:t>
            </a:r>
            <a:r>
              <a:rPr dirty="0" sz="1200" spc="-5">
                <a:latin typeface="Arial"/>
                <a:cs typeface="Arial"/>
              </a:rPr>
              <a:t>Prophet (pbuh) saying (Did He not </a:t>
            </a:r>
            <a:r>
              <a:rPr dirty="0" sz="1200">
                <a:latin typeface="Arial"/>
                <a:cs typeface="Arial"/>
              </a:rPr>
              <a:t>find </a:t>
            </a:r>
            <a:r>
              <a:rPr dirty="0" sz="1200" spc="-5">
                <a:latin typeface="Arial"/>
                <a:cs typeface="Arial"/>
              </a:rPr>
              <a:t>thee) </a:t>
            </a:r>
            <a:r>
              <a:rPr dirty="0" sz="1200">
                <a:latin typeface="Arial"/>
                <a:cs typeface="Arial"/>
              </a:rPr>
              <a:t>O  </a:t>
            </a:r>
            <a:r>
              <a:rPr dirty="0" sz="1200" spc="-5">
                <a:latin typeface="Arial"/>
                <a:cs typeface="Arial"/>
              </a:rPr>
              <a:t>Muhammad </a:t>
            </a:r>
            <a:r>
              <a:rPr dirty="0" sz="1200" spc="-10">
                <a:latin typeface="Arial"/>
                <a:cs typeface="Arial"/>
              </a:rPr>
              <a:t>(an </a:t>
            </a:r>
            <a:r>
              <a:rPr dirty="0" sz="1200" spc="-5">
                <a:latin typeface="Arial"/>
                <a:cs typeface="Arial"/>
              </a:rPr>
              <a:t>orphan) without a </a:t>
            </a:r>
            <a:r>
              <a:rPr dirty="0" sz="1200">
                <a:latin typeface="Arial"/>
                <a:cs typeface="Arial"/>
              </a:rPr>
              <a:t>father </a:t>
            </a:r>
            <a:r>
              <a:rPr dirty="0" sz="1200" spc="-5">
                <a:latin typeface="Arial"/>
                <a:cs typeface="Arial"/>
              </a:rPr>
              <a:t>or mother (and protect (thee)) and joined </a:t>
            </a:r>
            <a:r>
              <a:rPr dirty="0" sz="1200" spc="-10">
                <a:latin typeface="Arial"/>
                <a:cs typeface="Arial"/>
              </a:rPr>
              <a:t>you </a:t>
            </a:r>
            <a:r>
              <a:rPr dirty="0" sz="1200" spc="-5">
                <a:latin typeface="Arial"/>
                <a:cs typeface="Arial"/>
              </a:rPr>
              <a:t>to  your uncle Abu Talib and sufficed </a:t>
            </a:r>
            <a:r>
              <a:rPr dirty="0" sz="1200" spc="-10">
                <a:latin typeface="Arial"/>
                <a:cs typeface="Arial"/>
              </a:rPr>
              <a:t>you </a:t>
            </a:r>
            <a:r>
              <a:rPr dirty="0" sz="1200" spc="-5">
                <a:latin typeface="Arial"/>
                <a:cs typeface="Arial"/>
              </a:rPr>
              <a:t>your </a:t>
            </a:r>
            <a:r>
              <a:rPr dirty="0" sz="1200">
                <a:latin typeface="Arial"/>
                <a:cs typeface="Arial"/>
              </a:rPr>
              <a:t>provision? The </a:t>
            </a:r>
            <a:r>
              <a:rPr dirty="0" sz="1200" spc="-5">
                <a:latin typeface="Arial"/>
                <a:cs typeface="Arial"/>
              </a:rPr>
              <a:t>Prophet (pbuh) said: </a:t>
            </a:r>
            <a:r>
              <a:rPr dirty="0" sz="1200">
                <a:latin typeface="Arial"/>
                <a:cs typeface="Arial"/>
              </a:rPr>
              <a:t>"Yes, O  </a:t>
            </a:r>
            <a:r>
              <a:rPr dirty="0" sz="1200" spc="-15">
                <a:latin typeface="Arial"/>
                <a:cs typeface="Arial"/>
              </a:rPr>
              <a:t>Gabriel!‖</a:t>
            </a:r>
            <a:endParaRPr sz="1200">
              <a:latin typeface="Arial"/>
              <a:cs typeface="Arial"/>
            </a:endParaRPr>
          </a:p>
          <a:p>
            <a:pPr algn="r" marR="183515">
              <a:lnSpc>
                <a:spcPct val="100000"/>
              </a:lnSpc>
            </a:pPr>
            <a:r>
              <a:rPr dirty="0" baseline="3086" sz="2700" spc="-540">
                <a:latin typeface="Arial"/>
                <a:cs typeface="Arial"/>
              </a:rPr>
              <a:t>ى</a:t>
            </a:r>
            <a:r>
              <a:rPr dirty="0" baseline="7716" sz="2700" spc="-540">
                <a:latin typeface="Arial"/>
                <a:cs typeface="Arial"/>
              </a:rPr>
              <a:t>ٰ </a:t>
            </a:r>
            <a:r>
              <a:rPr dirty="0" baseline="3086" sz="2700" spc="-322">
                <a:latin typeface="Arial"/>
                <a:cs typeface="Arial"/>
              </a:rPr>
              <a:t>دَ ه</a:t>
            </a:r>
            <a:r>
              <a:rPr dirty="0" sz="1800" spc="-215">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569">
                <a:latin typeface="Arial"/>
                <a:cs typeface="Arial"/>
              </a:rPr>
              <a:t> </a:t>
            </a:r>
            <a:r>
              <a:rPr dirty="0" baseline="12345" sz="2700" spc="-450">
                <a:latin typeface="Arial"/>
                <a:cs typeface="Arial"/>
              </a:rPr>
              <a:t>ّ</a:t>
            </a:r>
            <a:r>
              <a:rPr dirty="0" baseline="21604" sz="2700" spc="-450">
                <a:latin typeface="Arial"/>
                <a:cs typeface="Arial"/>
              </a:rPr>
              <a:t>ً</a:t>
            </a:r>
            <a:r>
              <a:rPr dirty="0" baseline="3086" sz="2700" spc="-450">
                <a:latin typeface="Arial"/>
                <a:cs typeface="Arial"/>
              </a:rPr>
              <a:t>لاآض</a:t>
            </a:r>
            <a:r>
              <a:rPr dirty="0" sz="1800" spc="-300">
                <a:latin typeface="Arial"/>
                <a:cs typeface="Arial"/>
              </a:rPr>
              <a:t>َ </a:t>
            </a:r>
            <a:r>
              <a:rPr dirty="0" baseline="3086" sz="2700" spc="-682">
                <a:latin typeface="Arial"/>
                <a:cs typeface="Arial"/>
              </a:rPr>
              <a:t>ك</a:t>
            </a:r>
            <a:r>
              <a:rPr dirty="0" sz="1800" spc="-455">
                <a:latin typeface="Arial"/>
                <a:cs typeface="Arial"/>
              </a:rPr>
              <a:t>َ </a:t>
            </a:r>
            <a:r>
              <a:rPr dirty="0" baseline="3086" sz="2700" spc="-322">
                <a:latin typeface="Arial"/>
                <a:cs typeface="Arial"/>
              </a:rPr>
              <a:t>دَ </a:t>
            </a:r>
            <a:r>
              <a:rPr dirty="0" baseline="3086" sz="2700" spc="-592">
                <a:latin typeface="Arial"/>
                <a:cs typeface="Arial"/>
              </a:rPr>
              <a:t>ج</a:t>
            </a:r>
            <a:r>
              <a:rPr dirty="0" sz="1800" spc="-395">
                <a:latin typeface="Arial"/>
                <a:cs typeface="Arial"/>
              </a:rPr>
              <a:t>َ </a:t>
            </a:r>
            <a:r>
              <a:rPr dirty="0" baseline="3086" sz="2700" spc="-307">
                <a:latin typeface="Arial"/>
                <a:cs typeface="Arial"/>
              </a:rPr>
              <a:t>و</a:t>
            </a:r>
            <a:r>
              <a:rPr dirty="0" sz="1800" spc="-204">
                <a:latin typeface="Arial"/>
                <a:cs typeface="Arial"/>
              </a:rPr>
              <a:t>َ</a:t>
            </a:r>
            <a:r>
              <a:rPr dirty="0" sz="1800" spc="-315">
                <a:latin typeface="Arial"/>
                <a:cs typeface="Arial"/>
              </a:rPr>
              <a:t> </a:t>
            </a:r>
            <a:r>
              <a:rPr dirty="0" baseline="3086" sz="2700" spc="-615">
                <a:latin typeface="Arial"/>
                <a:cs typeface="Arial"/>
              </a:rPr>
              <a:t>و</a:t>
            </a:r>
            <a:endParaRPr baseline="3086" sz="2700">
              <a:latin typeface="Arial"/>
              <a:cs typeface="Arial"/>
            </a:endParaRPr>
          </a:p>
          <a:p>
            <a:pPr algn="just" marL="127000" marR="133350">
              <a:lnSpc>
                <a:spcPts val="1380"/>
              </a:lnSpc>
              <a:spcBef>
                <a:spcPts val="1150"/>
              </a:spcBef>
            </a:pPr>
            <a:r>
              <a:rPr dirty="0" sz="1200" spc="-5">
                <a:latin typeface="Arial"/>
                <a:cs typeface="Arial"/>
              </a:rPr>
              <a:t>Gabriel then said: (Did He not </a:t>
            </a:r>
            <a:r>
              <a:rPr dirty="0" sz="1200">
                <a:latin typeface="Arial"/>
                <a:cs typeface="Arial"/>
              </a:rPr>
              <a:t>find </a:t>
            </a:r>
            <a:r>
              <a:rPr dirty="0" sz="1200" spc="-5">
                <a:latin typeface="Arial"/>
                <a:cs typeface="Arial"/>
              </a:rPr>
              <a:t>thee) </a:t>
            </a:r>
            <a:r>
              <a:rPr dirty="0" sz="1200">
                <a:latin typeface="Arial"/>
                <a:cs typeface="Arial"/>
              </a:rPr>
              <a:t>O </a:t>
            </a:r>
            <a:r>
              <a:rPr dirty="0" sz="1200" spc="-5">
                <a:latin typeface="Arial"/>
                <a:cs typeface="Arial"/>
              </a:rPr>
              <a:t>Muhammad (wandering) </a:t>
            </a:r>
            <a:r>
              <a:rPr dirty="0" sz="1200">
                <a:latin typeface="Arial"/>
                <a:cs typeface="Arial"/>
              </a:rPr>
              <a:t>among </a:t>
            </a:r>
            <a:r>
              <a:rPr dirty="0" sz="1200" spc="-5">
                <a:latin typeface="Arial"/>
                <a:cs typeface="Arial"/>
              </a:rPr>
              <a:t>people in error  (and direct (thee)) and guided you </a:t>
            </a:r>
            <a:r>
              <a:rPr dirty="0" sz="1200">
                <a:latin typeface="Arial"/>
                <a:cs typeface="Arial"/>
              </a:rPr>
              <a:t>by means </a:t>
            </a:r>
            <a:r>
              <a:rPr dirty="0" sz="1200" spc="-5">
                <a:latin typeface="Arial"/>
                <a:cs typeface="Arial"/>
              </a:rPr>
              <a:t>of prophethood? The Prophet (pbuh) said:</a:t>
            </a:r>
            <a:r>
              <a:rPr dirty="0" sz="1200" spc="195">
                <a:latin typeface="Arial"/>
                <a:cs typeface="Arial"/>
              </a:rPr>
              <a:t> </a:t>
            </a:r>
            <a:r>
              <a:rPr dirty="0" sz="1200" spc="-170">
                <a:latin typeface="Arial"/>
                <a:cs typeface="Arial"/>
              </a:rPr>
              <a:t>―Yes,</a:t>
            </a:r>
            <a:endParaRPr sz="1200">
              <a:latin typeface="Arial"/>
              <a:cs typeface="Arial"/>
            </a:endParaRPr>
          </a:p>
          <a:p>
            <a:pPr algn="just" marL="127000">
              <a:lnSpc>
                <a:spcPts val="1345"/>
              </a:lnSpc>
            </a:pPr>
            <a:r>
              <a:rPr dirty="0" sz="1200">
                <a:latin typeface="Arial"/>
                <a:cs typeface="Arial"/>
              </a:rPr>
              <a:t>O</a:t>
            </a:r>
            <a:r>
              <a:rPr dirty="0" sz="1200" spc="-5">
                <a:latin typeface="Arial"/>
                <a:cs typeface="Arial"/>
              </a:rPr>
              <a:t> </a:t>
            </a:r>
            <a:r>
              <a:rPr dirty="0" sz="1200" spc="-15">
                <a:latin typeface="Arial"/>
                <a:cs typeface="Arial"/>
              </a:rPr>
              <a:t>Gabriel!‖</a:t>
            </a:r>
            <a:endParaRPr sz="1200">
              <a:latin typeface="Arial"/>
              <a:cs typeface="Arial"/>
            </a:endParaRPr>
          </a:p>
          <a:p>
            <a:pPr algn="r" marR="183515">
              <a:lnSpc>
                <a:spcPct val="100000"/>
              </a:lnSpc>
            </a:pPr>
            <a:r>
              <a:rPr dirty="0" baseline="3086" sz="2700" spc="-532">
                <a:latin typeface="Arial"/>
                <a:cs typeface="Arial"/>
              </a:rPr>
              <a:t>ى</a:t>
            </a:r>
            <a:r>
              <a:rPr dirty="0" baseline="7716" sz="2700" spc="-532">
                <a:latin typeface="Arial"/>
                <a:cs typeface="Arial"/>
              </a:rPr>
              <a:t>ٰ </a:t>
            </a:r>
            <a:r>
              <a:rPr dirty="0" baseline="3086" sz="2700" spc="-644">
                <a:latin typeface="Arial"/>
                <a:cs typeface="Arial"/>
              </a:rPr>
              <a:t>ن</a:t>
            </a:r>
            <a:r>
              <a:rPr dirty="0" baseline="7716" sz="2700" spc="-644">
                <a:latin typeface="Arial"/>
                <a:cs typeface="Arial"/>
              </a:rPr>
              <a:t>َ </a:t>
            </a:r>
            <a:r>
              <a:rPr dirty="0" baseline="3086" sz="2700" spc="-930">
                <a:latin typeface="Arial"/>
                <a:cs typeface="Arial"/>
              </a:rPr>
              <a:t>ؼ</a:t>
            </a:r>
            <a:r>
              <a:rPr dirty="0" baseline="9259" sz="2700" spc="-930">
                <a:latin typeface="Arial"/>
                <a:cs typeface="Arial"/>
              </a:rPr>
              <a:t>ْ</a:t>
            </a:r>
            <a:r>
              <a:rPr dirty="0" baseline="9259" sz="2700" spc="217">
                <a:latin typeface="Arial"/>
                <a:cs typeface="Arial"/>
              </a:rPr>
              <a:t> </a:t>
            </a:r>
            <a:r>
              <a:rPr dirty="0" baseline="16975" sz="2700" spc="-660">
                <a:latin typeface="Arial"/>
                <a:cs typeface="Arial"/>
              </a:rPr>
              <a:t>َ</a:t>
            </a:r>
            <a:r>
              <a:rPr dirty="0" baseline="3086" sz="2700" spc="-660">
                <a:latin typeface="Arial"/>
                <a:cs typeface="Arial"/>
              </a:rPr>
              <a:t>ؤف</a:t>
            </a:r>
            <a:r>
              <a:rPr dirty="0" baseline="7716" sz="2700" spc="-660">
                <a:latin typeface="Arial"/>
                <a:cs typeface="Arial"/>
              </a:rPr>
              <a:t>َ </a:t>
            </a:r>
            <a:r>
              <a:rPr dirty="0" baseline="13888" sz="2700" spc="-405">
                <a:latin typeface="Arial"/>
                <a:cs typeface="Arial"/>
              </a:rPr>
              <a:t>ً</a:t>
            </a:r>
            <a:r>
              <a:rPr dirty="0" baseline="3086" sz="2700" spc="-405">
                <a:latin typeface="Arial"/>
                <a:cs typeface="Arial"/>
              </a:rPr>
              <a:t>لائ</a:t>
            </a:r>
            <a:r>
              <a:rPr dirty="0" baseline="1543" sz="2700" spc="-405">
                <a:latin typeface="Arial"/>
                <a:cs typeface="Arial"/>
              </a:rPr>
              <a:t>ِ </a:t>
            </a:r>
            <a:r>
              <a:rPr dirty="0" baseline="3086" sz="2700" spc="-390">
                <a:latin typeface="Arial"/>
                <a:cs typeface="Arial"/>
              </a:rPr>
              <a:t>آع</a:t>
            </a:r>
            <a:r>
              <a:rPr dirty="0" sz="1800" spc="-260">
                <a:latin typeface="Arial"/>
                <a:cs typeface="Arial"/>
              </a:rPr>
              <a:t>َ </a:t>
            </a:r>
            <a:r>
              <a:rPr dirty="0" baseline="3086" sz="2700" spc="-682">
                <a:latin typeface="Arial"/>
                <a:cs typeface="Arial"/>
              </a:rPr>
              <a:t>ك</a:t>
            </a:r>
            <a:r>
              <a:rPr dirty="0" sz="1800" spc="-455">
                <a:latin typeface="Arial"/>
                <a:cs typeface="Arial"/>
              </a:rPr>
              <a:t>َ </a:t>
            </a:r>
            <a:r>
              <a:rPr dirty="0" baseline="3086" sz="2700" spc="-322">
                <a:latin typeface="Arial"/>
                <a:cs typeface="Arial"/>
              </a:rPr>
              <a:t>دَ </a:t>
            </a:r>
            <a:r>
              <a:rPr dirty="0" baseline="3086" sz="2700" spc="-592">
                <a:latin typeface="Arial"/>
                <a:cs typeface="Arial"/>
              </a:rPr>
              <a:t>ج</a:t>
            </a:r>
            <a:r>
              <a:rPr dirty="0" sz="1800" spc="-395">
                <a:latin typeface="Arial"/>
                <a:cs typeface="Arial"/>
              </a:rPr>
              <a:t>َ </a:t>
            </a:r>
            <a:r>
              <a:rPr dirty="0" baseline="3086" sz="2700" spc="-307">
                <a:latin typeface="Arial"/>
                <a:cs typeface="Arial"/>
              </a:rPr>
              <a:t>و</a:t>
            </a:r>
            <a:r>
              <a:rPr dirty="0" sz="1800" spc="-204">
                <a:latin typeface="Arial"/>
                <a:cs typeface="Arial"/>
              </a:rPr>
              <a:t>َ</a:t>
            </a:r>
            <a:r>
              <a:rPr dirty="0" sz="1800" spc="-220">
                <a:latin typeface="Arial"/>
                <a:cs typeface="Arial"/>
              </a:rPr>
              <a:t> </a:t>
            </a:r>
            <a:r>
              <a:rPr dirty="0" baseline="3086" sz="2700" spc="-615">
                <a:latin typeface="Arial"/>
                <a:cs typeface="Arial"/>
              </a:rPr>
              <a:t>و</a:t>
            </a:r>
            <a:endParaRPr baseline="3086" sz="2700">
              <a:latin typeface="Arial"/>
              <a:cs typeface="Arial"/>
            </a:endParaRPr>
          </a:p>
          <a:p>
            <a:pPr algn="just" marL="127000" marR="138430">
              <a:lnSpc>
                <a:spcPts val="1380"/>
              </a:lnSpc>
              <a:spcBef>
                <a:spcPts val="1140"/>
              </a:spcBef>
            </a:pPr>
            <a:r>
              <a:rPr dirty="0" sz="1200" spc="-5">
                <a:latin typeface="Arial"/>
                <a:cs typeface="Arial"/>
              </a:rPr>
              <a:t>And he also said: (Did He not </a:t>
            </a:r>
            <a:r>
              <a:rPr dirty="0" sz="1200">
                <a:latin typeface="Arial"/>
                <a:cs typeface="Arial"/>
              </a:rPr>
              <a:t>find </a:t>
            </a:r>
            <a:r>
              <a:rPr dirty="0" sz="1200" spc="-5">
                <a:latin typeface="Arial"/>
                <a:cs typeface="Arial"/>
              </a:rPr>
              <a:t>thee) </a:t>
            </a:r>
            <a:r>
              <a:rPr dirty="0" sz="1200">
                <a:latin typeface="Arial"/>
                <a:cs typeface="Arial"/>
              </a:rPr>
              <a:t>O </a:t>
            </a:r>
            <a:r>
              <a:rPr dirty="0" sz="1200" spc="-5">
                <a:latin typeface="Arial"/>
                <a:cs typeface="Arial"/>
              </a:rPr>
              <a:t>Muhammad (destitute) poor (and enrich (thee))  with </a:t>
            </a:r>
            <a:r>
              <a:rPr dirty="0" sz="1200">
                <a:latin typeface="Arial"/>
                <a:cs typeface="Arial"/>
              </a:rPr>
              <a:t>the </a:t>
            </a:r>
            <a:r>
              <a:rPr dirty="0" sz="1200" spc="-5">
                <a:latin typeface="Arial"/>
                <a:cs typeface="Arial"/>
              </a:rPr>
              <a:t>wealth of Khadijah; and </a:t>
            </a:r>
            <a:r>
              <a:rPr dirty="0" sz="1200">
                <a:latin typeface="Arial"/>
                <a:cs typeface="Arial"/>
              </a:rPr>
              <a:t>it </a:t>
            </a:r>
            <a:r>
              <a:rPr dirty="0" sz="1200" spc="-5">
                <a:latin typeface="Arial"/>
                <a:cs typeface="Arial"/>
              </a:rPr>
              <a:t>is also said </a:t>
            </a:r>
            <a:r>
              <a:rPr dirty="0" sz="1200">
                <a:latin typeface="Arial"/>
                <a:cs typeface="Arial"/>
              </a:rPr>
              <a:t>this </a:t>
            </a:r>
            <a:r>
              <a:rPr dirty="0" sz="1200" spc="-5">
                <a:latin typeface="Arial"/>
                <a:cs typeface="Arial"/>
              </a:rPr>
              <a:t>means: and made </a:t>
            </a:r>
            <a:r>
              <a:rPr dirty="0" sz="1200" spc="-10">
                <a:latin typeface="Arial"/>
                <a:cs typeface="Arial"/>
              </a:rPr>
              <a:t>you </a:t>
            </a:r>
            <a:r>
              <a:rPr dirty="0" sz="1200" spc="-5">
                <a:latin typeface="Arial"/>
                <a:cs typeface="Arial"/>
              </a:rPr>
              <a:t>content with that  which He </a:t>
            </a:r>
            <a:r>
              <a:rPr dirty="0" sz="1200" spc="-10">
                <a:latin typeface="Arial"/>
                <a:cs typeface="Arial"/>
              </a:rPr>
              <a:t>gave </a:t>
            </a:r>
            <a:r>
              <a:rPr dirty="0" sz="1200" spc="-5">
                <a:latin typeface="Arial"/>
                <a:cs typeface="Arial"/>
              </a:rPr>
              <a:t>you? </a:t>
            </a:r>
            <a:r>
              <a:rPr dirty="0" sz="1200">
                <a:latin typeface="Arial"/>
                <a:cs typeface="Arial"/>
              </a:rPr>
              <a:t>The </a:t>
            </a:r>
            <a:r>
              <a:rPr dirty="0" sz="1200" spc="-5">
                <a:latin typeface="Arial"/>
                <a:cs typeface="Arial"/>
              </a:rPr>
              <a:t>Prophet (pbuh) said: </a:t>
            </a:r>
            <a:r>
              <a:rPr dirty="0" sz="1200" spc="-165">
                <a:latin typeface="Arial"/>
                <a:cs typeface="Arial"/>
              </a:rPr>
              <a:t>―Yes, </a:t>
            </a:r>
            <a:r>
              <a:rPr dirty="0" sz="1200">
                <a:latin typeface="Arial"/>
                <a:cs typeface="Arial"/>
              </a:rPr>
              <a:t>O</a:t>
            </a:r>
            <a:r>
              <a:rPr dirty="0" sz="1200" spc="55">
                <a:latin typeface="Arial"/>
                <a:cs typeface="Arial"/>
              </a:rPr>
              <a:t> </a:t>
            </a:r>
            <a:r>
              <a:rPr dirty="0" sz="1200" spc="-15">
                <a:latin typeface="Arial"/>
                <a:cs typeface="Arial"/>
              </a:rPr>
              <a:t>Gabriel!‖</a:t>
            </a:r>
            <a:endParaRPr sz="1200">
              <a:latin typeface="Arial"/>
              <a:cs typeface="Arial"/>
            </a:endParaRPr>
          </a:p>
          <a:p>
            <a:pPr algn="r" marR="131445">
              <a:lnSpc>
                <a:spcPts val="2125"/>
              </a:lnSpc>
            </a:pPr>
            <a:r>
              <a:rPr dirty="0" baseline="3086" sz="2700" spc="-217">
                <a:latin typeface="Arial"/>
                <a:cs typeface="Arial"/>
              </a:rPr>
              <a:t>ره</a:t>
            </a:r>
            <a:r>
              <a:rPr dirty="0" sz="1800" spc="-145">
                <a:latin typeface="Arial"/>
                <a:cs typeface="Arial"/>
              </a:rPr>
              <a:t>َ </a:t>
            </a:r>
            <a:r>
              <a:rPr dirty="0" baseline="3086" sz="2700" spc="-719">
                <a:latin typeface="Arial"/>
                <a:cs typeface="Arial"/>
              </a:rPr>
              <a:t>ق</a:t>
            </a:r>
            <a:r>
              <a:rPr dirty="0" baseline="12345" sz="2700" spc="-719">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509">
                <a:latin typeface="Arial"/>
                <a:cs typeface="Arial"/>
              </a:rPr>
              <a:t> </a:t>
            </a:r>
            <a:r>
              <a:rPr dirty="0" baseline="9259" sz="2700" spc="-480">
                <a:latin typeface="Arial"/>
                <a:cs typeface="Arial"/>
              </a:rPr>
              <a:t>َ</a:t>
            </a:r>
            <a:r>
              <a:rPr dirty="0" baseline="3086" sz="2700" spc="-480">
                <a:latin typeface="Arial"/>
                <a:cs typeface="Arial"/>
              </a:rPr>
              <a:t>لاف</a:t>
            </a:r>
            <a:r>
              <a:rPr dirty="0" baseline="7716" sz="2700" spc="-480">
                <a:latin typeface="Arial"/>
                <a:cs typeface="Arial"/>
              </a:rPr>
              <a:t>َ </a:t>
            </a:r>
            <a:r>
              <a:rPr dirty="0" baseline="3086" sz="2700" spc="-390">
                <a:latin typeface="Arial"/>
                <a:cs typeface="Arial"/>
              </a:rPr>
              <a:t>م</a:t>
            </a:r>
            <a:r>
              <a:rPr dirty="0" baseline="-6172" sz="2700" spc="-390">
                <a:latin typeface="Arial"/>
                <a:cs typeface="Arial"/>
              </a:rPr>
              <a:t>َ </a:t>
            </a:r>
            <a:r>
              <a:rPr dirty="0" baseline="3086" sz="2700" spc="-637">
                <a:latin typeface="Arial"/>
                <a:cs typeface="Arial"/>
              </a:rPr>
              <a:t>ٌت</a:t>
            </a:r>
            <a:r>
              <a:rPr dirty="0" baseline="1543" sz="2700" spc="-637">
                <a:latin typeface="Arial"/>
                <a:cs typeface="Arial"/>
              </a:rPr>
              <a:t>ِ </a:t>
            </a:r>
            <a:r>
              <a:rPr dirty="0" baseline="3086" sz="2700">
                <a:latin typeface="Arial"/>
                <a:cs typeface="Arial"/>
              </a:rPr>
              <a:t>ٌ</a:t>
            </a:r>
            <a:r>
              <a:rPr dirty="0" sz="180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179">
                <a:latin typeface="Arial"/>
                <a:cs typeface="Arial"/>
              </a:rPr>
              <a:t>امَّ</a:t>
            </a:r>
            <a:r>
              <a:rPr dirty="0" baseline="3086" sz="2700" spc="-247">
                <a:latin typeface="Arial"/>
                <a:cs typeface="Arial"/>
              </a:rPr>
              <a:t> </a:t>
            </a:r>
            <a:r>
              <a:rPr dirty="0" baseline="16975" sz="2700" spc="-660">
                <a:latin typeface="Arial"/>
                <a:cs typeface="Arial"/>
              </a:rPr>
              <a:t>َ</a:t>
            </a:r>
            <a:r>
              <a:rPr dirty="0" baseline="3086" sz="2700" spc="-660">
                <a:latin typeface="Arial"/>
                <a:cs typeface="Arial"/>
              </a:rPr>
              <a:t>ؤف</a:t>
            </a:r>
            <a:endParaRPr baseline="3086" sz="2700">
              <a:latin typeface="Arial"/>
              <a:cs typeface="Arial"/>
            </a:endParaRPr>
          </a:p>
          <a:p>
            <a:pPr marL="127000">
              <a:lnSpc>
                <a:spcPct val="100000"/>
              </a:lnSpc>
              <a:spcBef>
                <a:spcPts val="1060"/>
              </a:spcBef>
            </a:pPr>
            <a:r>
              <a:rPr dirty="0" sz="1200" spc="-5">
                <a:latin typeface="Arial"/>
                <a:cs typeface="Arial"/>
              </a:rPr>
              <a:t>So he </a:t>
            </a:r>
            <a:r>
              <a:rPr dirty="0" sz="1200">
                <a:latin typeface="Arial"/>
                <a:cs typeface="Arial"/>
              </a:rPr>
              <a:t>also said: </a:t>
            </a:r>
            <a:r>
              <a:rPr dirty="0" sz="1200" spc="-5">
                <a:latin typeface="Arial"/>
                <a:cs typeface="Arial"/>
              </a:rPr>
              <a:t>(Therefore the orphan oppress </a:t>
            </a:r>
            <a:r>
              <a:rPr dirty="0" sz="1200">
                <a:latin typeface="Arial"/>
                <a:cs typeface="Arial"/>
              </a:rPr>
              <a:t>not) </a:t>
            </a:r>
            <a:r>
              <a:rPr dirty="0" sz="1200" spc="-10">
                <a:latin typeface="Arial"/>
                <a:cs typeface="Arial"/>
              </a:rPr>
              <a:t>do </a:t>
            </a:r>
            <a:r>
              <a:rPr dirty="0" sz="1200" spc="-5">
                <a:latin typeface="Arial"/>
                <a:cs typeface="Arial"/>
              </a:rPr>
              <a:t>not transgress on him nor deride</a:t>
            </a:r>
            <a:r>
              <a:rPr dirty="0" sz="1200" spc="95">
                <a:latin typeface="Arial"/>
                <a:cs typeface="Arial"/>
              </a:rPr>
              <a:t> </a:t>
            </a:r>
            <a:r>
              <a:rPr dirty="0" sz="1200">
                <a:latin typeface="Arial"/>
                <a:cs typeface="Arial"/>
              </a:rPr>
              <a:t>him,</a:t>
            </a:r>
            <a:endParaRPr sz="1200">
              <a:latin typeface="Arial"/>
              <a:cs typeface="Arial"/>
            </a:endParaRPr>
          </a:p>
          <a:p>
            <a:pPr>
              <a:lnSpc>
                <a:spcPct val="100000"/>
              </a:lnSpc>
              <a:spcBef>
                <a:spcPts val="55"/>
              </a:spcBef>
            </a:pPr>
            <a:endParaRPr sz="1150">
              <a:latin typeface="Arial"/>
              <a:cs typeface="Arial"/>
            </a:endParaRPr>
          </a:p>
          <a:p>
            <a:pPr algn="r" marR="183515">
              <a:lnSpc>
                <a:spcPct val="100000"/>
              </a:lnSpc>
            </a:pPr>
            <a:r>
              <a:rPr dirty="0" baseline="3086" sz="2700" spc="-457">
                <a:latin typeface="Arial"/>
                <a:cs typeface="Arial"/>
              </a:rPr>
              <a:t>رْ   </a:t>
            </a:r>
            <a:r>
              <a:rPr dirty="0" baseline="3086" sz="2700" spc="-322">
                <a:latin typeface="Arial"/>
                <a:cs typeface="Arial"/>
              </a:rPr>
              <a:t>ه</a:t>
            </a:r>
            <a:r>
              <a:rPr dirty="0" sz="1800" spc="-215">
                <a:latin typeface="Arial"/>
                <a:cs typeface="Arial"/>
              </a:rPr>
              <a:t>َ  </a:t>
            </a:r>
            <a:r>
              <a:rPr dirty="0" baseline="3086" sz="2700" spc="-607">
                <a:latin typeface="Arial"/>
                <a:cs typeface="Arial"/>
              </a:rPr>
              <a:t>ن</a:t>
            </a:r>
            <a:r>
              <a:rPr dirty="0" baseline="12345" sz="2700" spc="-607">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494">
                <a:latin typeface="Arial"/>
                <a:cs typeface="Arial"/>
              </a:rPr>
              <a:t> </a:t>
            </a:r>
            <a:r>
              <a:rPr dirty="0" baseline="9259" sz="2700" spc="-480">
                <a:latin typeface="Arial"/>
                <a:cs typeface="Arial"/>
              </a:rPr>
              <a:t>َ</a:t>
            </a:r>
            <a:r>
              <a:rPr dirty="0" baseline="3086" sz="2700" spc="-480">
                <a:latin typeface="Arial"/>
                <a:cs typeface="Arial"/>
              </a:rPr>
              <a:t>لاف</a:t>
            </a:r>
            <a:r>
              <a:rPr dirty="0" baseline="7716" sz="2700" spc="-480">
                <a:latin typeface="Arial"/>
                <a:cs typeface="Arial"/>
              </a:rPr>
              <a:t>َ     </a:t>
            </a:r>
            <a:r>
              <a:rPr dirty="0" baseline="3086" sz="2700" spc="-615">
                <a:latin typeface="Arial"/>
                <a:cs typeface="Arial"/>
              </a:rPr>
              <a:t>ل</a:t>
            </a:r>
            <a:r>
              <a:rPr dirty="0" sz="1800" spc="-409">
                <a:latin typeface="Arial"/>
                <a:cs typeface="Arial"/>
              </a:rPr>
              <a:t>َ         </a:t>
            </a:r>
            <a:r>
              <a:rPr dirty="0" baseline="3086" sz="2700" spc="-855">
                <a:latin typeface="Arial"/>
                <a:cs typeface="Arial"/>
              </a:rPr>
              <a:t>ئ</a:t>
            </a:r>
            <a:r>
              <a:rPr dirty="0" baseline="1543" sz="2700" spc="-855">
                <a:latin typeface="Arial"/>
                <a:cs typeface="Arial"/>
              </a:rPr>
              <a:t>ِ</a:t>
            </a:r>
            <a:r>
              <a:rPr dirty="0" baseline="1543" sz="2700" spc="-104">
                <a:latin typeface="Arial"/>
                <a:cs typeface="Arial"/>
              </a:rPr>
              <a:t> </a:t>
            </a:r>
            <a:r>
              <a:rPr dirty="0" baseline="3086" sz="2700" spc="-487">
                <a:latin typeface="Arial"/>
                <a:cs typeface="Arial"/>
              </a:rPr>
              <a:t>آسَّ     </a:t>
            </a:r>
            <a:r>
              <a:rPr dirty="0" baseline="3086" sz="2700" spc="-412">
                <a:latin typeface="Arial"/>
                <a:cs typeface="Arial"/>
              </a:rPr>
              <a:t>لٱ  </a:t>
            </a:r>
            <a:r>
              <a:rPr dirty="0" baseline="3086" sz="2700" spc="-179">
                <a:latin typeface="Arial"/>
                <a:cs typeface="Arial"/>
              </a:rPr>
              <a:t>امَّ</a:t>
            </a:r>
            <a:r>
              <a:rPr dirty="0" baseline="3086" sz="2700" spc="217">
                <a:latin typeface="Arial"/>
                <a:cs typeface="Arial"/>
              </a:rPr>
              <a:t> </a:t>
            </a:r>
            <a:r>
              <a:rPr dirty="0" baseline="16975" sz="2700" spc="-209">
                <a:latin typeface="Arial"/>
                <a:cs typeface="Arial"/>
              </a:rPr>
              <a:t>َ</a:t>
            </a:r>
            <a:r>
              <a:rPr dirty="0" baseline="3086" sz="2700" spc="-209">
                <a:latin typeface="Arial"/>
                <a:cs typeface="Arial"/>
              </a:rPr>
              <a:t>أو</a:t>
            </a:r>
            <a:endParaRPr baseline="3086" sz="2700">
              <a:latin typeface="Arial"/>
              <a:cs typeface="Arial"/>
            </a:endParaRPr>
          </a:p>
          <a:p>
            <a:pPr marL="127000">
              <a:lnSpc>
                <a:spcPct val="100000"/>
              </a:lnSpc>
              <a:spcBef>
                <a:spcPts val="1045"/>
              </a:spcBef>
            </a:pPr>
            <a:r>
              <a:rPr dirty="0" sz="1200" spc="-5">
                <a:latin typeface="Arial"/>
                <a:cs typeface="Arial"/>
              </a:rPr>
              <a:t>(Therefore </a:t>
            </a:r>
            <a:r>
              <a:rPr dirty="0" sz="1200">
                <a:latin typeface="Arial"/>
                <a:cs typeface="Arial"/>
              </a:rPr>
              <a:t>the </a:t>
            </a:r>
            <a:r>
              <a:rPr dirty="0" sz="1200" spc="-5">
                <a:latin typeface="Arial"/>
                <a:cs typeface="Arial"/>
              </a:rPr>
              <a:t>beggar drive </a:t>
            </a:r>
            <a:r>
              <a:rPr dirty="0" sz="1200">
                <a:latin typeface="Arial"/>
                <a:cs typeface="Arial"/>
              </a:rPr>
              <a:t>not </a:t>
            </a:r>
            <a:r>
              <a:rPr dirty="0" sz="1200" spc="-10">
                <a:latin typeface="Arial"/>
                <a:cs typeface="Arial"/>
              </a:rPr>
              <a:t>away) </a:t>
            </a:r>
            <a:r>
              <a:rPr dirty="0" sz="1200">
                <a:latin typeface="Arial"/>
                <a:cs typeface="Arial"/>
              </a:rPr>
              <a:t>nor</a:t>
            </a:r>
            <a:r>
              <a:rPr dirty="0" sz="1200" spc="5">
                <a:latin typeface="Arial"/>
                <a:cs typeface="Arial"/>
              </a:rPr>
              <a:t> </a:t>
            </a:r>
            <a:r>
              <a:rPr dirty="0" sz="1200" spc="-5">
                <a:latin typeface="Arial"/>
                <a:cs typeface="Arial"/>
              </a:rPr>
              <a:t>rebuke,</a:t>
            </a:r>
            <a:endParaRPr sz="1200">
              <a:latin typeface="Arial"/>
              <a:cs typeface="Arial"/>
            </a:endParaRPr>
          </a:p>
          <a:p>
            <a:pPr algn="r" marR="183515">
              <a:lnSpc>
                <a:spcPct val="100000"/>
              </a:lnSpc>
            </a:pPr>
            <a:r>
              <a:rPr dirty="0" baseline="3086" sz="2700" spc="-735">
                <a:latin typeface="Arial"/>
                <a:cs typeface="Arial"/>
              </a:rPr>
              <a:t>ث</a:t>
            </a:r>
            <a:r>
              <a:rPr dirty="0" baseline="13888" sz="2700" spc="-735">
                <a:latin typeface="Arial"/>
                <a:cs typeface="Arial"/>
              </a:rPr>
              <a:t>ْ </a:t>
            </a:r>
            <a:r>
              <a:rPr dirty="0" baseline="3086" sz="2700" spc="-232">
                <a:latin typeface="Arial"/>
                <a:cs typeface="Arial"/>
              </a:rPr>
              <a:t>د</a:t>
            </a:r>
            <a:r>
              <a:rPr dirty="0" baseline="6172" sz="2700" spc="-232">
                <a:latin typeface="Arial"/>
                <a:cs typeface="Arial"/>
              </a:rPr>
              <a:t>ِّ </a:t>
            </a:r>
            <a:r>
              <a:rPr dirty="0" baseline="3086" sz="2700" spc="-592">
                <a:latin typeface="Arial"/>
                <a:cs typeface="Arial"/>
              </a:rPr>
              <a:t>ح</a:t>
            </a:r>
            <a:r>
              <a:rPr dirty="0" sz="1800" spc="-395">
                <a:latin typeface="Arial"/>
                <a:cs typeface="Arial"/>
              </a:rPr>
              <a:t>َ </a:t>
            </a:r>
            <a:r>
              <a:rPr dirty="0" baseline="3086" sz="2700" spc="-1035">
                <a:latin typeface="Arial"/>
                <a:cs typeface="Arial"/>
              </a:rPr>
              <a:t>ف</a:t>
            </a:r>
            <a:r>
              <a:rPr dirty="0" baseline="7716" sz="2700" spc="-1035">
                <a:latin typeface="Arial"/>
                <a:cs typeface="Arial"/>
              </a:rPr>
              <a:t>َ</a:t>
            </a:r>
            <a:r>
              <a:rPr dirty="0" baseline="7716" sz="2700" spc="644">
                <a:latin typeface="Arial"/>
                <a:cs typeface="Arial"/>
              </a:rPr>
              <a:t> </a:t>
            </a:r>
            <a:r>
              <a:rPr dirty="0" baseline="3086" sz="2700" spc="-682">
                <a:latin typeface="Arial"/>
                <a:cs typeface="Arial"/>
              </a:rPr>
              <a:t>ك</a:t>
            </a:r>
            <a:r>
              <a:rPr dirty="0" sz="1800" spc="-455">
                <a:latin typeface="Arial"/>
                <a:cs typeface="Arial"/>
              </a:rPr>
              <a:t>َ </a:t>
            </a:r>
            <a:r>
              <a:rPr dirty="0" baseline="3086" sz="2700" spc="-607">
                <a:latin typeface="Arial"/>
                <a:cs typeface="Arial"/>
              </a:rPr>
              <a:t>بِّ </a:t>
            </a:r>
            <a:r>
              <a:rPr dirty="0" baseline="3086" sz="2700" spc="-494">
                <a:latin typeface="Arial"/>
                <a:cs typeface="Arial"/>
              </a:rPr>
              <a:t>ر</a:t>
            </a:r>
            <a:r>
              <a:rPr dirty="0" sz="1800" spc="-330">
                <a:latin typeface="Arial"/>
                <a:cs typeface="Arial"/>
              </a:rPr>
              <a:t>َ </a:t>
            </a:r>
            <a:r>
              <a:rPr dirty="0" baseline="3086" sz="2700" spc="-337">
                <a:latin typeface="Arial"/>
                <a:cs typeface="Arial"/>
              </a:rPr>
              <a:t>ة</a:t>
            </a:r>
            <a:r>
              <a:rPr dirty="0" baseline="1543" sz="2700" spc="-337">
                <a:latin typeface="Arial"/>
                <a:cs typeface="Arial"/>
              </a:rPr>
              <a:t>ِ </a:t>
            </a:r>
            <a:r>
              <a:rPr dirty="0" baseline="3086" sz="2700" spc="-359">
                <a:latin typeface="Arial"/>
                <a:cs typeface="Arial"/>
              </a:rPr>
              <a:t>م</a:t>
            </a:r>
            <a:r>
              <a:rPr dirty="0" sz="1800" spc="-240">
                <a:latin typeface="Arial"/>
                <a:cs typeface="Arial"/>
              </a:rPr>
              <a:t>َ </a:t>
            </a:r>
            <a:r>
              <a:rPr dirty="0" baseline="3086" sz="2700" spc="-569">
                <a:latin typeface="Arial"/>
                <a:cs typeface="Arial"/>
              </a:rPr>
              <a:t>عْ </a:t>
            </a:r>
            <a:r>
              <a:rPr dirty="0" baseline="3086" sz="2700" spc="-705">
                <a:latin typeface="Arial"/>
                <a:cs typeface="Arial"/>
              </a:rPr>
              <a:t>ن</a:t>
            </a:r>
            <a:r>
              <a:rPr dirty="0" baseline="1543" sz="2700" spc="-705">
                <a:latin typeface="Arial"/>
                <a:cs typeface="Arial"/>
              </a:rPr>
              <a:t>ِ </a:t>
            </a:r>
            <a:r>
              <a:rPr dirty="0" baseline="3086" sz="2700" spc="-960">
                <a:latin typeface="Arial"/>
                <a:cs typeface="Arial"/>
              </a:rPr>
              <a:t>ب</a:t>
            </a:r>
            <a:r>
              <a:rPr dirty="0" baseline="-10802" sz="2700" spc="-960">
                <a:latin typeface="Arial"/>
                <a:cs typeface="Arial"/>
              </a:rPr>
              <a:t>ِ</a:t>
            </a:r>
            <a:r>
              <a:rPr dirty="0" baseline="-10802" sz="2700" spc="644">
                <a:latin typeface="Arial"/>
                <a:cs typeface="Arial"/>
              </a:rPr>
              <a:t> </a:t>
            </a:r>
            <a:r>
              <a:rPr dirty="0" baseline="3086" sz="2700" spc="-179">
                <a:latin typeface="Arial"/>
                <a:cs typeface="Arial"/>
              </a:rPr>
              <a:t>امَّ</a:t>
            </a:r>
            <a:r>
              <a:rPr dirty="0" baseline="3086" sz="2700" spc="307">
                <a:latin typeface="Arial"/>
                <a:cs typeface="Arial"/>
              </a:rPr>
              <a:t> </a:t>
            </a:r>
            <a:r>
              <a:rPr dirty="0" baseline="16975" sz="2700" spc="-209">
                <a:latin typeface="Arial"/>
                <a:cs typeface="Arial"/>
              </a:rPr>
              <a:t>َ</a:t>
            </a:r>
            <a:r>
              <a:rPr dirty="0" baseline="3086" sz="2700" spc="-209">
                <a:latin typeface="Arial"/>
                <a:cs typeface="Arial"/>
              </a:rPr>
              <a:t>أو</a:t>
            </a:r>
            <a:endParaRPr baseline="3086" sz="2700">
              <a:latin typeface="Arial"/>
              <a:cs typeface="Arial"/>
            </a:endParaRPr>
          </a:p>
          <a:p>
            <a:pPr algn="just" marL="127000" marR="138430">
              <a:lnSpc>
                <a:spcPts val="1380"/>
              </a:lnSpc>
              <a:spcBef>
                <a:spcPts val="1150"/>
              </a:spcBef>
            </a:pPr>
            <a:r>
              <a:rPr dirty="0" sz="1200" spc="-5">
                <a:latin typeface="Arial"/>
                <a:cs typeface="Arial"/>
              </a:rPr>
              <a:t>(Therefore of the bounty </a:t>
            </a:r>
            <a:r>
              <a:rPr dirty="0" sz="1200">
                <a:latin typeface="Arial"/>
                <a:cs typeface="Arial"/>
              </a:rPr>
              <a:t>of </a:t>
            </a:r>
            <a:r>
              <a:rPr dirty="0" sz="1200" spc="-5">
                <a:latin typeface="Arial"/>
                <a:cs typeface="Arial"/>
              </a:rPr>
              <a:t>thy Lord) through prophethood and Islam (be thy </a:t>
            </a:r>
            <a:r>
              <a:rPr dirty="0" sz="1200">
                <a:latin typeface="Arial"/>
                <a:cs typeface="Arial"/>
              </a:rPr>
              <a:t>discourse)  </a:t>
            </a:r>
            <a:r>
              <a:rPr dirty="0" sz="1200" spc="-5">
                <a:latin typeface="Arial"/>
                <a:cs typeface="Arial"/>
              </a:rPr>
              <a:t>speak </a:t>
            </a:r>
            <a:r>
              <a:rPr dirty="0" sz="1200">
                <a:latin typeface="Arial"/>
                <a:cs typeface="Arial"/>
              </a:rPr>
              <a:t>to </a:t>
            </a:r>
            <a:r>
              <a:rPr dirty="0" sz="1200" spc="-5">
                <a:latin typeface="Arial"/>
                <a:cs typeface="Arial"/>
              </a:rPr>
              <a:t>people and </a:t>
            </a:r>
            <a:r>
              <a:rPr dirty="0" sz="1200" spc="-10">
                <a:latin typeface="Arial"/>
                <a:cs typeface="Arial"/>
              </a:rPr>
              <a:t>let </a:t>
            </a:r>
            <a:r>
              <a:rPr dirty="0" sz="1200" spc="-5">
                <a:latin typeface="Arial"/>
                <a:cs typeface="Arial"/>
              </a:rPr>
              <a:t>them know </a:t>
            </a:r>
            <a:r>
              <a:rPr dirty="0" sz="1200">
                <a:latin typeface="Arial"/>
                <a:cs typeface="Arial"/>
              </a:rPr>
              <a:t>about</a:t>
            </a:r>
            <a:r>
              <a:rPr dirty="0" sz="1200" spc="5">
                <a:latin typeface="Arial"/>
                <a:cs typeface="Arial"/>
              </a:rPr>
              <a:t> </a:t>
            </a:r>
            <a:r>
              <a:rPr dirty="0" sz="1200">
                <a:latin typeface="Arial"/>
                <a:cs typeface="Arial"/>
              </a:rPr>
              <a:t>it'.</a:t>
            </a:r>
            <a:endParaRPr sz="1200">
              <a:latin typeface="Arial"/>
              <a:cs typeface="Arial"/>
            </a:endParaRPr>
          </a:p>
          <a:p>
            <a:pPr>
              <a:lnSpc>
                <a:spcPct val="100000"/>
              </a:lnSpc>
            </a:pPr>
            <a:endParaRPr sz="1300">
              <a:latin typeface="Arial"/>
              <a:cs typeface="Arial"/>
            </a:endParaRPr>
          </a:p>
          <a:p>
            <a:pPr>
              <a:lnSpc>
                <a:spcPct val="100000"/>
              </a:lnSpc>
              <a:spcBef>
                <a:spcPts val="20"/>
              </a:spcBef>
            </a:pPr>
            <a:endParaRPr sz="1000">
              <a:latin typeface="Arial"/>
              <a:cs typeface="Arial"/>
            </a:endParaRPr>
          </a:p>
          <a:p>
            <a:pPr marL="127000">
              <a:lnSpc>
                <a:spcPct val="100000"/>
              </a:lnSpc>
              <a:spcBef>
                <a:spcPts val="5"/>
              </a:spcBef>
            </a:pPr>
            <a:r>
              <a:rPr dirty="0" u="heavy" sz="1200" spc="-5" b="1" i="1">
                <a:uFill>
                  <a:solidFill>
                    <a:srgbClr val="000000"/>
                  </a:solidFill>
                </a:uFill>
                <a:latin typeface="Arial"/>
                <a:cs typeface="Arial"/>
              </a:rPr>
              <a:t>Surah Al</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Qadr</a:t>
            </a:r>
            <a:endParaRPr sz="1200">
              <a:latin typeface="Arial"/>
              <a:cs typeface="Arial"/>
            </a:endParaRPr>
          </a:p>
          <a:p>
            <a:pPr>
              <a:lnSpc>
                <a:spcPct val="100000"/>
              </a:lnSpc>
              <a:spcBef>
                <a:spcPts val="35"/>
              </a:spcBef>
            </a:pPr>
            <a:endParaRPr sz="1200">
              <a:latin typeface="Arial"/>
              <a:cs typeface="Arial"/>
            </a:endParaRPr>
          </a:p>
          <a:p>
            <a:pPr algn="just" marL="127000" marR="132715">
              <a:lnSpc>
                <a:spcPts val="1380"/>
              </a:lnSpc>
            </a:pPr>
            <a:r>
              <a:rPr dirty="0" sz="1200" spc="-5">
                <a:latin typeface="Arial"/>
                <a:cs typeface="Arial"/>
              </a:rPr>
              <a:t>That surah </a:t>
            </a:r>
            <a:r>
              <a:rPr dirty="0" sz="1200" spc="-10">
                <a:latin typeface="Arial"/>
                <a:cs typeface="Arial"/>
              </a:rPr>
              <a:t>was </a:t>
            </a:r>
            <a:r>
              <a:rPr dirty="0" sz="1200" spc="-5">
                <a:latin typeface="Arial"/>
                <a:cs typeface="Arial"/>
              </a:rPr>
              <a:t>revealed concerning </a:t>
            </a:r>
            <a:r>
              <a:rPr dirty="0" sz="1200">
                <a:latin typeface="Arial"/>
                <a:cs typeface="Arial"/>
              </a:rPr>
              <a:t>the </a:t>
            </a:r>
            <a:r>
              <a:rPr dirty="0" sz="1200" spc="-5">
                <a:latin typeface="Arial"/>
                <a:cs typeface="Arial"/>
              </a:rPr>
              <a:t>night of destiny known as </a:t>
            </a:r>
            <a:r>
              <a:rPr dirty="0" sz="1200">
                <a:latin typeface="Arial"/>
                <a:cs typeface="Arial"/>
              </a:rPr>
              <a:t>the Lailat-ul-Qadr. It </a:t>
            </a:r>
            <a:r>
              <a:rPr dirty="0" sz="1200" spc="-5">
                <a:latin typeface="Arial"/>
                <a:cs typeface="Arial"/>
              </a:rPr>
              <a:t>is a  Makki surah and Allah elaborates on the benefits of this</a:t>
            </a:r>
            <a:r>
              <a:rPr dirty="0" sz="1200" spc="20">
                <a:latin typeface="Arial"/>
                <a:cs typeface="Arial"/>
              </a:rPr>
              <a:t> </a:t>
            </a:r>
            <a:r>
              <a:rPr dirty="0" sz="1200" spc="-5">
                <a:latin typeface="Arial"/>
                <a:cs typeface="Arial"/>
              </a:rPr>
              <a:t>night.</a:t>
            </a:r>
            <a:endParaRPr sz="1200">
              <a:latin typeface="Arial"/>
              <a:cs typeface="Arial"/>
            </a:endParaRPr>
          </a:p>
          <a:p>
            <a:pPr>
              <a:lnSpc>
                <a:spcPct val="100000"/>
              </a:lnSpc>
              <a:spcBef>
                <a:spcPts val="20"/>
              </a:spcBef>
            </a:pPr>
            <a:endParaRPr sz="1100">
              <a:latin typeface="Arial"/>
              <a:cs typeface="Arial"/>
            </a:endParaRPr>
          </a:p>
          <a:p>
            <a:pPr marL="127000">
              <a:lnSpc>
                <a:spcPct val="100000"/>
              </a:lnSpc>
            </a:pPr>
            <a:r>
              <a:rPr dirty="0" sz="1200" spc="-5">
                <a:latin typeface="Arial"/>
                <a:cs typeface="Arial"/>
              </a:rPr>
              <a:t>Allah says:</a:t>
            </a:r>
            <a:endParaRPr sz="1200">
              <a:latin typeface="Arial"/>
              <a:cs typeface="Arial"/>
            </a:endParaRPr>
          </a:p>
          <a:p>
            <a:pPr>
              <a:lnSpc>
                <a:spcPct val="100000"/>
              </a:lnSpc>
              <a:spcBef>
                <a:spcPts val="55"/>
              </a:spcBef>
            </a:pPr>
            <a:endParaRPr sz="1100">
              <a:latin typeface="Arial"/>
              <a:cs typeface="Arial"/>
            </a:endParaRPr>
          </a:p>
          <a:p>
            <a:pPr algn="r" marR="131445">
              <a:lnSpc>
                <a:spcPct val="100000"/>
              </a:lnSpc>
            </a:pPr>
            <a:r>
              <a:rPr dirty="0" baseline="1543" sz="2700" spc="-457">
                <a:latin typeface="Arial"/>
                <a:cs typeface="Arial"/>
              </a:rPr>
              <a:t>ر</a:t>
            </a:r>
            <a:r>
              <a:rPr dirty="0" baseline="-13888" sz="2700" spc="-457">
                <a:latin typeface="Arial"/>
                <a:cs typeface="Arial"/>
              </a:rPr>
              <a:t>ِ   </a:t>
            </a:r>
            <a:r>
              <a:rPr dirty="0" baseline="1543" sz="2700" spc="-284">
                <a:latin typeface="Arial"/>
                <a:cs typeface="Arial"/>
              </a:rPr>
              <a:t>د</a:t>
            </a:r>
            <a:r>
              <a:rPr dirty="0" baseline="4629" sz="2700" spc="-284">
                <a:latin typeface="Arial"/>
                <a:cs typeface="Arial"/>
              </a:rPr>
              <a:t>ْ </a:t>
            </a:r>
            <a:r>
              <a:rPr dirty="0" baseline="1543" sz="2700" spc="-750">
                <a:latin typeface="Arial"/>
                <a:cs typeface="Arial"/>
              </a:rPr>
              <a:t>ق</a:t>
            </a:r>
            <a:r>
              <a:rPr dirty="0" baseline="6172" sz="2700" spc="-750">
                <a:latin typeface="Arial"/>
                <a:cs typeface="Arial"/>
              </a:rPr>
              <a:t>َ</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337">
                <a:latin typeface="Arial"/>
                <a:cs typeface="Arial"/>
              </a:rPr>
              <a:t>ة</a:t>
            </a:r>
            <a:r>
              <a:rPr dirty="0" sz="1800" spc="-225">
                <a:latin typeface="Arial"/>
                <a:cs typeface="Arial"/>
              </a:rPr>
              <a:t>ِ  </a:t>
            </a:r>
            <a:r>
              <a:rPr dirty="0" baseline="9259" sz="2700" spc="-209">
                <a:latin typeface="Arial"/>
                <a:cs typeface="Arial"/>
              </a:rPr>
              <a:t>َ</a:t>
            </a:r>
            <a:r>
              <a:rPr dirty="0" baseline="1543" sz="2700" spc="-209">
                <a:latin typeface="Arial"/>
                <a:cs typeface="Arial"/>
              </a:rPr>
              <a:t>لٌْ </a:t>
            </a:r>
            <a:r>
              <a:rPr dirty="0" baseline="9259" sz="2700" spc="-405">
                <a:latin typeface="Arial"/>
                <a:cs typeface="Arial"/>
              </a:rPr>
              <a:t>َ</a:t>
            </a:r>
            <a:r>
              <a:rPr dirty="0" baseline="1543" sz="2700" spc="-405">
                <a:latin typeface="Arial"/>
                <a:cs typeface="Arial"/>
              </a:rPr>
              <a:t>ل  </a:t>
            </a:r>
            <a:r>
              <a:rPr dirty="0" baseline="1543" sz="2700" spc="-705">
                <a:latin typeface="Arial"/>
                <a:cs typeface="Arial"/>
              </a:rPr>
              <a:t>ًف</a:t>
            </a:r>
            <a:r>
              <a:rPr dirty="0" sz="1800" spc="-470">
                <a:latin typeface="Arial"/>
                <a:cs typeface="Arial"/>
              </a:rPr>
              <a:t>ِ                                </a:t>
            </a:r>
            <a:r>
              <a:rPr dirty="0" baseline="1543" sz="2700" spc="-382">
                <a:latin typeface="Arial"/>
                <a:cs typeface="Arial"/>
              </a:rPr>
              <a:t>هُ  </a:t>
            </a:r>
            <a:r>
              <a:rPr dirty="0" baseline="1543" sz="2700" spc="-412">
                <a:latin typeface="Arial"/>
                <a:cs typeface="Arial"/>
              </a:rPr>
              <a:t>ان</a:t>
            </a:r>
            <a:r>
              <a:rPr dirty="0" baseline="6172" sz="2700" spc="-412">
                <a:latin typeface="Arial"/>
                <a:cs typeface="Arial"/>
              </a:rPr>
              <a:t>َ  </a:t>
            </a:r>
            <a:r>
              <a:rPr dirty="0" baseline="1543" sz="2700" spc="-652">
                <a:latin typeface="Arial"/>
                <a:cs typeface="Arial"/>
              </a:rPr>
              <a:t>ل</a:t>
            </a:r>
            <a:r>
              <a:rPr dirty="0" baseline="12345" sz="2700" spc="-652">
                <a:latin typeface="Arial"/>
                <a:cs typeface="Arial"/>
              </a:rPr>
              <a:t>ْ     </a:t>
            </a:r>
            <a:r>
              <a:rPr dirty="0" baseline="1543" sz="2700" spc="-494">
                <a:latin typeface="Arial"/>
                <a:cs typeface="Arial"/>
              </a:rPr>
              <a:t>ز</a:t>
            </a:r>
            <a:r>
              <a:rPr dirty="0" baseline="6172" sz="2700" spc="-494">
                <a:latin typeface="Arial"/>
                <a:cs typeface="Arial"/>
              </a:rPr>
              <a:t>َ    </a:t>
            </a:r>
            <a:r>
              <a:rPr dirty="0" baseline="1543" sz="2700" spc="-270">
                <a:latin typeface="Arial"/>
                <a:cs typeface="Arial"/>
              </a:rPr>
              <a:t>ن</a:t>
            </a:r>
            <a:r>
              <a:rPr dirty="0" baseline="15432" sz="2700" spc="-270">
                <a:latin typeface="Arial"/>
                <a:cs typeface="Arial"/>
              </a:rPr>
              <a:t>َ</a:t>
            </a:r>
            <a:r>
              <a:rPr dirty="0" baseline="1543" sz="2700" spc="-270">
                <a:latin typeface="Arial"/>
                <a:cs typeface="Arial"/>
              </a:rPr>
              <a:t>أ  </a:t>
            </a:r>
            <a:r>
              <a:rPr dirty="0" baseline="1543" sz="2700" spc="-322">
                <a:latin typeface="Arial"/>
                <a:cs typeface="Arial"/>
              </a:rPr>
              <a:t>ان</a:t>
            </a:r>
            <a:r>
              <a:rPr dirty="0" baseline="9259" sz="2700" spc="-322">
                <a:latin typeface="Arial"/>
                <a:cs typeface="Arial"/>
              </a:rPr>
              <a:t>َّ</a:t>
            </a:r>
            <a:r>
              <a:rPr dirty="0" baseline="9259" sz="2700" spc="-450">
                <a:latin typeface="Arial"/>
                <a:cs typeface="Arial"/>
              </a:rPr>
              <a:t> </a:t>
            </a:r>
            <a:r>
              <a:rPr dirty="0" baseline="-12345" sz="2700">
                <a:latin typeface="Arial"/>
                <a:cs typeface="Arial"/>
              </a:rPr>
              <a:t>ِ</a:t>
            </a:r>
            <a:r>
              <a:rPr dirty="0" baseline="1543" sz="2700">
                <a:latin typeface="Arial"/>
                <a:cs typeface="Arial"/>
              </a:rPr>
              <a:t>إ</a:t>
            </a:r>
            <a:endParaRPr baseline="1543" sz="2700">
              <a:latin typeface="Arial"/>
              <a:cs typeface="Arial"/>
            </a:endParaRPr>
          </a:p>
          <a:p>
            <a:pPr algn="just" marL="127000" marR="139065">
              <a:lnSpc>
                <a:spcPts val="1380"/>
              </a:lnSpc>
              <a:spcBef>
                <a:spcPts val="1200"/>
              </a:spcBef>
            </a:pPr>
            <a:r>
              <a:rPr dirty="0" sz="1200" spc="-5">
                <a:latin typeface="Arial"/>
                <a:cs typeface="Arial"/>
              </a:rPr>
              <a:t>And from his narration on </a:t>
            </a:r>
            <a:r>
              <a:rPr dirty="0" sz="1200">
                <a:latin typeface="Arial"/>
                <a:cs typeface="Arial"/>
              </a:rPr>
              <a:t>the </a:t>
            </a:r>
            <a:r>
              <a:rPr dirty="0" sz="1200" spc="-5">
                <a:latin typeface="Arial"/>
                <a:cs typeface="Arial"/>
              </a:rPr>
              <a:t>authority </a:t>
            </a:r>
            <a:r>
              <a:rPr dirty="0" sz="1200">
                <a:latin typeface="Arial"/>
                <a:cs typeface="Arial"/>
              </a:rPr>
              <a:t>of </a:t>
            </a:r>
            <a:r>
              <a:rPr dirty="0" sz="1200" spc="-5">
                <a:latin typeface="Arial"/>
                <a:cs typeface="Arial"/>
              </a:rPr>
              <a:t>Ibn </a:t>
            </a:r>
            <a:r>
              <a:rPr dirty="0" sz="1200">
                <a:latin typeface="Arial"/>
                <a:cs typeface="Arial"/>
              </a:rPr>
              <a:t>'Abbas </a:t>
            </a:r>
            <a:r>
              <a:rPr dirty="0" sz="1200" spc="-5">
                <a:latin typeface="Arial"/>
                <a:cs typeface="Arial"/>
              </a:rPr>
              <a:t>that he said regarding </a:t>
            </a:r>
            <a:r>
              <a:rPr dirty="0" sz="1200">
                <a:latin typeface="Arial"/>
                <a:cs typeface="Arial"/>
              </a:rPr>
              <a:t>the </a:t>
            </a:r>
            <a:r>
              <a:rPr dirty="0" sz="1200" spc="-5">
                <a:latin typeface="Arial"/>
                <a:cs typeface="Arial"/>
              </a:rPr>
              <a:t>interpretation  of Allah's saying </a:t>
            </a:r>
            <a:r>
              <a:rPr dirty="0" sz="1200">
                <a:latin typeface="Arial"/>
                <a:cs typeface="Arial"/>
              </a:rPr>
              <a:t>(Lo! </a:t>
            </a:r>
            <a:r>
              <a:rPr dirty="0" sz="1200" spc="15">
                <a:latin typeface="Arial"/>
                <a:cs typeface="Arial"/>
              </a:rPr>
              <a:t>We </a:t>
            </a:r>
            <a:r>
              <a:rPr dirty="0" sz="1200" spc="-5">
                <a:latin typeface="Arial"/>
                <a:cs typeface="Arial"/>
              </a:rPr>
              <a:t>revealed it): '(Lo! </a:t>
            </a:r>
            <a:r>
              <a:rPr dirty="0" sz="1200" spc="15">
                <a:latin typeface="Arial"/>
                <a:cs typeface="Arial"/>
              </a:rPr>
              <a:t>We </a:t>
            </a:r>
            <a:r>
              <a:rPr dirty="0" sz="1200" spc="-5">
                <a:latin typeface="Arial"/>
                <a:cs typeface="Arial"/>
              </a:rPr>
              <a:t>revealed </a:t>
            </a:r>
            <a:r>
              <a:rPr dirty="0" sz="1200">
                <a:latin typeface="Arial"/>
                <a:cs typeface="Arial"/>
              </a:rPr>
              <a:t>it) </a:t>
            </a:r>
            <a:r>
              <a:rPr dirty="0" sz="1200" spc="-5">
                <a:latin typeface="Arial"/>
                <a:cs typeface="Arial"/>
              </a:rPr>
              <a:t>He says: </a:t>
            </a:r>
            <a:r>
              <a:rPr dirty="0" sz="1200" spc="20">
                <a:latin typeface="Arial"/>
                <a:cs typeface="Arial"/>
              </a:rPr>
              <a:t>We </a:t>
            </a:r>
            <a:r>
              <a:rPr dirty="0" sz="1200" spc="-5">
                <a:latin typeface="Arial"/>
                <a:cs typeface="Arial"/>
              </a:rPr>
              <a:t>sent Gabriel with</a:t>
            </a:r>
            <a:r>
              <a:rPr dirty="0" sz="1200" spc="250">
                <a:latin typeface="Arial"/>
                <a:cs typeface="Arial"/>
              </a:rPr>
              <a:t> </a:t>
            </a:r>
            <a:r>
              <a:rPr dirty="0" sz="1200" spc="-10">
                <a:latin typeface="Arial"/>
                <a:cs typeface="Arial"/>
              </a:rPr>
              <a:t>the</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73</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4715" y="432307"/>
            <a:ext cx="6631305" cy="9027795"/>
          </a:xfrm>
          <a:prstGeom prst="rect">
            <a:avLst/>
          </a:prstGeom>
        </p:spPr>
        <p:txBody>
          <a:bodyPr wrap="square" lIns="0" tIns="12700" rIns="0" bIns="0" rtlCol="0" vert="horz">
            <a:spAutoFit/>
          </a:bodyPr>
          <a:lstStyle/>
          <a:p>
            <a:pPr algn="just" marL="152400">
              <a:lnSpc>
                <a:spcPct val="100000"/>
              </a:lnSpc>
              <a:spcBef>
                <a:spcPts val="100"/>
              </a:spcBef>
              <a:tabLst>
                <a:tab pos="52031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b="1">
                <a:latin typeface="Times New Roman"/>
                <a:cs typeface="Times New Roman"/>
              </a:rPr>
              <a:t> 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52400" marR="191135">
              <a:lnSpc>
                <a:spcPts val="1380"/>
              </a:lnSpc>
            </a:pPr>
            <a:r>
              <a:rPr dirty="0" sz="1200" spc="-5">
                <a:latin typeface="Arial"/>
                <a:cs typeface="Arial"/>
              </a:rPr>
              <a:t>entire Qur'an </a:t>
            </a:r>
            <a:r>
              <a:rPr dirty="0" sz="1200">
                <a:latin typeface="Arial"/>
                <a:cs typeface="Arial"/>
              </a:rPr>
              <a:t>to </a:t>
            </a:r>
            <a:r>
              <a:rPr dirty="0" sz="1200" spc="-5">
                <a:latin typeface="Arial"/>
                <a:cs typeface="Arial"/>
              </a:rPr>
              <a:t>the scribes of </a:t>
            </a:r>
            <a:r>
              <a:rPr dirty="0" sz="1200">
                <a:latin typeface="Arial"/>
                <a:cs typeface="Arial"/>
              </a:rPr>
              <a:t>the nether </a:t>
            </a:r>
            <a:r>
              <a:rPr dirty="0" sz="1200" spc="-5">
                <a:latin typeface="Arial"/>
                <a:cs typeface="Arial"/>
              </a:rPr>
              <a:t>heaven (on </a:t>
            </a:r>
            <a:r>
              <a:rPr dirty="0" sz="1200">
                <a:latin typeface="Arial"/>
                <a:cs typeface="Arial"/>
              </a:rPr>
              <a:t>the </a:t>
            </a:r>
            <a:r>
              <a:rPr dirty="0" sz="1200" spc="-5">
                <a:latin typeface="Arial"/>
                <a:cs typeface="Arial"/>
              </a:rPr>
              <a:t>Night of Power) on </a:t>
            </a:r>
            <a:r>
              <a:rPr dirty="0" sz="1200">
                <a:latin typeface="Arial"/>
                <a:cs typeface="Arial"/>
              </a:rPr>
              <a:t>the </a:t>
            </a:r>
            <a:r>
              <a:rPr dirty="0" sz="1200" spc="-5">
                <a:latin typeface="Arial"/>
                <a:cs typeface="Arial"/>
              </a:rPr>
              <a:t>night of  judgement and decree; </a:t>
            </a:r>
            <a:r>
              <a:rPr dirty="0" sz="1200">
                <a:latin typeface="Arial"/>
                <a:cs typeface="Arial"/>
              </a:rPr>
              <a:t>it </a:t>
            </a:r>
            <a:r>
              <a:rPr dirty="0" sz="1200" spc="-5">
                <a:latin typeface="Arial"/>
                <a:cs typeface="Arial"/>
              </a:rPr>
              <a:t>is also said </a:t>
            </a:r>
            <a:r>
              <a:rPr dirty="0" sz="1200">
                <a:latin typeface="Arial"/>
                <a:cs typeface="Arial"/>
              </a:rPr>
              <a:t>this </a:t>
            </a:r>
            <a:r>
              <a:rPr dirty="0" sz="1200" spc="-5">
                <a:latin typeface="Arial"/>
                <a:cs typeface="Arial"/>
              </a:rPr>
              <a:t>means: on a night blessed with forgiveness and  mercy, and then </a:t>
            </a:r>
            <a:r>
              <a:rPr dirty="0" sz="1200">
                <a:latin typeface="Arial"/>
                <a:cs typeface="Arial"/>
              </a:rPr>
              <a:t>it </a:t>
            </a:r>
            <a:r>
              <a:rPr dirty="0" sz="1200" spc="-10">
                <a:latin typeface="Arial"/>
                <a:cs typeface="Arial"/>
              </a:rPr>
              <a:t>was </a:t>
            </a:r>
            <a:r>
              <a:rPr dirty="0" sz="1200" spc="-5">
                <a:latin typeface="Arial"/>
                <a:cs typeface="Arial"/>
              </a:rPr>
              <a:t>revealed </a:t>
            </a:r>
            <a:r>
              <a:rPr dirty="0" sz="1200">
                <a:latin typeface="Arial"/>
                <a:cs typeface="Arial"/>
              </a:rPr>
              <a:t>to </a:t>
            </a:r>
            <a:r>
              <a:rPr dirty="0" sz="1200" spc="-5">
                <a:latin typeface="Arial"/>
                <a:cs typeface="Arial"/>
              </a:rPr>
              <a:t>the Prophet (pbuh) in</a:t>
            </a:r>
            <a:r>
              <a:rPr dirty="0" sz="1200" spc="40">
                <a:latin typeface="Arial"/>
                <a:cs typeface="Arial"/>
              </a:rPr>
              <a:t> </a:t>
            </a:r>
            <a:r>
              <a:rPr dirty="0" sz="1200" spc="-5">
                <a:latin typeface="Arial"/>
                <a:cs typeface="Arial"/>
              </a:rPr>
              <a:t>instalments.</a:t>
            </a:r>
            <a:endParaRPr sz="1200">
              <a:latin typeface="Arial"/>
              <a:cs typeface="Arial"/>
            </a:endParaRPr>
          </a:p>
          <a:p>
            <a:pPr>
              <a:lnSpc>
                <a:spcPct val="100000"/>
              </a:lnSpc>
              <a:spcBef>
                <a:spcPts val="25"/>
              </a:spcBef>
            </a:pPr>
            <a:endParaRPr sz="1150">
              <a:latin typeface="Arial"/>
              <a:cs typeface="Arial"/>
            </a:endParaRPr>
          </a:p>
          <a:p>
            <a:pPr algn="r" marR="234315">
              <a:lnSpc>
                <a:spcPct val="100000"/>
              </a:lnSpc>
            </a:pPr>
            <a:r>
              <a:rPr dirty="0" baseline="3086" sz="2700" spc="-457">
                <a:latin typeface="Arial"/>
                <a:cs typeface="Arial"/>
              </a:rPr>
              <a:t>ر</a:t>
            </a:r>
            <a:r>
              <a:rPr dirty="0" baseline="-10802" sz="2700" spc="-457">
                <a:latin typeface="Arial"/>
                <a:cs typeface="Arial"/>
              </a:rPr>
              <a:t>ِ </a:t>
            </a:r>
            <a:r>
              <a:rPr dirty="0" baseline="3086" sz="2700" spc="-284">
                <a:latin typeface="Arial"/>
                <a:cs typeface="Arial"/>
              </a:rPr>
              <a:t>د</a:t>
            </a:r>
            <a:r>
              <a:rPr dirty="0" baseline="6172" sz="2700" spc="-284">
                <a:latin typeface="Arial"/>
                <a:cs typeface="Arial"/>
              </a:rPr>
              <a:t>ْ </a:t>
            </a:r>
            <a:r>
              <a:rPr dirty="0" baseline="3086" sz="2700" spc="-750">
                <a:latin typeface="Arial"/>
                <a:cs typeface="Arial"/>
              </a:rPr>
              <a:t>ق</a:t>
            </a:r>
            <a:r>
              <a:rPr dirty="0" baseline="7716" sz="2700" spc="-750">
                <a:latin typeface="Arial"/>
                <a:cs typeface="Arial"/>
              </a:rPr>
              <a:t>َ</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322">
                <a:latin typeface="Arial"/>
                <a:cs typeface="Arial"/>
              </a:rPr>
              <a:t>ة</a:t>
            </a:r>
            <a:r>
              <a:rPr dirty="0" baseline="13888" sz="2700" spc="-322">
                <a:latin typeface="Arial"/>
                <a:cs typeface="Arial"/>
              </a:rPr>
              <a:t>ُ </a:t>
            </a:r>
            <a:r>
              <a:rPr dirty="0" baseline="10802" sz="2700" spc="-209">
                <a:latin typeface="Arial"/>
                <a:cs typeface="Arial"/>
              </a:rPr>
              <a:t>َ</a:t>
            </a:r>
            <a:r>
              <a:rPr dirty="0" baseline="3086" sz="2700" spc="-209">
                <a:latin typeface="Arial"/>
                <a:cs typeface="Arial"/>
              </a:rPr>
              <a:t>لٌْ </a:t>
            </a:r>
            <a:r>
              <a:rPr dirty="0" baseline="10802" sz="2700" spc="-405">
                <a:latin typeface="Arial"/>
                <a:cs typeface="Arial"/>
              </a:rPr>
              <a:t>َ</a:t>
            </a:r>
            <a:r>
              <a:rPr dirty="0" baseline="3086" sz="2700" spc="-405">
                <a:latin typeface="Arial"/>
                <a:cs typeface="Arial"/>
              </a:rPr>
              <a:t>ل </a:t>
            </a:r>
            <a:r>
              <a:rPr dirty="0" baseline="3086" sz="2700" spc="-225">
                <a:latin typeface="Arial"/>
                <a:cs typeface="Arial"/>
              </a:rPr>
              <a:t>ام</a:t>
            </a:r>
            <a:r>
              <a:rPr dirty="0" sz="1800" spc="-150">
                <a:latin typeface="Arial"/>
                <a:cs typeface="Arial"/>
              </a:rPr>
              <a:t>َ </a:t>
            </a:r>
            <a:r>
              <a:rPr dirty="0" baseline="3086" sz="2700" spc="-682">
                <a:latin typeface="Arial"/>
                <a:cs typeface="Arial"/>
              </a:rPr>
              <a:t>ك</a:t>
            </a:r>
            <a:r>
              <a:rPr dirty="0" sz="1800" spc="-455">
                <a:latin typeface="Arial"/>
                <a:cs typeface="Arial"/>
              </a:rPr>
              <a:t>َ </a:t>
            </a:r>
            <a:r>
              <a:rPr dirty="0" baseline="3086" sz="2700" spc="-330">
                <a:latin typeface="Arial"/>
                <a:cs typeface="Arial"/>
              </a:rPr>
              <a:t>ار</a:t>
            </a:r>
            <a:r>
              <a:rPr dirty="0" sz="1800" spc="-220">
                <a:latin typeface="Arial"/>
                <a:cs typeface="Arial"/>
              </a:rPr>
              <a:t>َ </a:t>
            </a:r>
            <a:r>
              <a:rPr dirty="0" baseline="3086" sz="2700" spc="-284">
                <a:latin typeface="Arial"/>
                <a:cs typeface="Arial"/>
              </a:rPr>
              <a:t>د</a:t>
            </a:r>
            <a:r>
              <a:rPr dirty="0" baseline="6172" sz="2700" spc="-284">
                <a:latin typeface="Arial"/>
                <a:cs typeface="Arial"/>
              </a:rPr>
              <a:t>ْ </a:t>
            </a:r>
            <a:r>
              <a:rPr dirty="0" baseline="16975" sz="2700">
                <a:latin typeface="Arial"/>
                <a:cs typeface="Arial"/>
              </a:rPr>
              <a:t>َ</a:t>
            </a:r>
            <a:r>
              <a:rPr dirty="0" baseline="3086" sz="2700">
                <a:latin typeface="Arial"/>
                <a:cs typeface="Arial"/>
              </a:rPr>
              <a:t>أ </a:t>
            </a:r>
            <a:r>
              <a:rPr dirty="0" baseline="3086" sz="2700" spc="-225">
                <a:latin typeface="Arial"/>
                <a:cs typeface="Arial"/>
              </a:rPr>
              <a:t>آم</a:t>
            </a:r>
            <a:r>
              <a:rPr dirty="0" sz="1800" spc="-150">
                <a:latin typeface="Arial"/>
                <a:cs typeface="Arial"/>
              </a:rPr>
              <a:t>َ</a:t>
            </a:r>
            <a:r>
              <a:rPr dirty="0" sz="1800" spc="-100">
                <a:latin typeface="Arial"/>
                <a:cs typeface="Arial"/>
              </a:rPr>
              <a:t> </a:t>
            </a:r>
            <a:r>
              <a:rPr dirty="0" baseline="3086" sz="2700" spc="-615">
                <a:latin typeface="Arial"/>
                <a:cs typeface="Arial"/>
              </a:rPr>
              <a:t>و</a:t>
            </a:r>
            <a:endParaRPr baseline="3086" sz="2700">
              <a:latin typeface="Arial"/>
              <a:cs typeface="Arial"/>
            </a:endParaRPr>
          </a:p>
          <a:p>
            <a:pPr algn="just" marL="152400" marR="185420">
              <a:lnSpc>
                <a:spcPts val="1380"/>
              </a:lnSpc>
              <a:spcBef>
                <a:spcPts val="1140"/>
              </a:spcBef>
            </a:pPr>
            <a:r>
              <a:rPr dirty="0" sz="1200">
                <a:latin typeface="Arial"/>
                <a:cs typeface="Arial"/>
              </a:rPr>
              <a:t>(Ah, </a:t>
            </a:r>
            <a:r>
              <a:rPr dirty="0" sz="1200" spc="-5">
                <a:latin typeface="Arial"/>
                <a:cs typeface="Arial"/>
              </a:rPr>
              <a:t>what </a:t>
            </a:r>
            <a:r>
              <a:rPr dirty="0" sz="1200" spc="-10">
                <a:latin typeface="Arial"/>
                <a:cs typeface="Arial"/>
              </a:rPr>
              <a:t>will </a:t>
            </a:r>
            <a:r>
              <a:rPr dirty="0" sz="1200" spc="-5">
                <a:latin typeface="Arial"/>
                <a:cs typeface="Arial"/>
              </a:rPr>
              <a:t>convey unto thee) </a:t>
            </a:r>
            <a:r>
              <a:rPr dirty="0" sz="1200">
                <a:latin typeface="Arial"/>
                <a:cs typeface="Arial"/>
              </a:rPr>
              <a:t>O </a:t>
            </a:r>
            <a:r>
              <a:rPr dirty="0" sz="1200" spc="-5">
                <a:latin typeface="Arial"/>
                <a:cs typeface="Arial"/>
              </a:rPr>
              <a:t>Muhammad-this is said out of glorification of this </a:t>
            </a:r>
            <a:r>
              <a:rPr dirty="0" sz="1200">
                <a:latin typeface="Arial"/>
                <a:cs typeface="Arial"/>
              </a:rPr>
              <a:t>night-  </a:t>
            </a:r>
            <a:r>
              <a:rPr dirty="0" sz="1200" spc="-5">
                <a:latin typeface="Arial"/>
                <a:cs typeface="Arial"/>
              </a:rPr>
              <a:t>(what the Night of Power is) what </a:t>
            </a:r>
            <a:r>
              <a:rPr dirty="0" sz="1200">
                <a:latin typeface="Arial"/>
                <a:cs typeface="Arial"/>
              </a:rPr>
              <a:t>the </a:t>
            </a:r>
            <a:r>
              <a:rPr dirty="0" sz="1200" spc="-5">
                <a:latin typeface="Arial"/>
                <a:cs typeface="Arial"/>
              </a:rPr>
              <a:t>merit of </a:t>
            </a:r>
            <a:r>
              <a:rPr dirty="0" sz="1200">
                <a:latin typeface="Arial"/>
                <a:cs typeface="Arial"/>
              </a:rPr>
              <a:t>the </a:t>
            </a:r>
            <a:r>
              <a:rPr dirty="0" sz="1200" spc="-5">
                <a:latin typeface="Arial"/>
                <a:cs typeface="Arial"/>
              </a:rPr>
              <a:t>Night of Power</a:t>
            </a:r>
            <a:r>
              <a:rPr dirty="0" sz="1200" spc="30">
                <a:latin typeface="Arial"/>
                <a:cs typeface="Arial"/>
              </a:rPr>
              <a:t> </a:t>
            </a:r>
            <a:r>
              <a:rPr dirty="0" sz="1200">
                <a:latin typeface="Arial"/>
                <a:cs typeface="Arial"/>
              </a:rPr>
              <a:t>is!</a:t>
            </a:r>
            <a:endParaRPr sz="1200">
              <a:latin typeface="Arial"/>
              <a:cs typeface="Arial"/>
            </a:endParaRPr>
          </a:p>
          <a:p>
            <a:pPr>
              <a:lnSpc>
                <a:spcPct val="100000"/>
              </a:lnSpc>
              <a:spcBef>
                <a:spcPts val="20"/>
              </a:spcBef>
            </a:pPr>
            <a:endParaRPr sz="1100">
              <a:latin typeface="Arial"/>
              <a:cs typeface="Arial"/>
            </a:endParaRPr>
          </a:p>
          <a:p>
            <a:pPr algn="r" marR="182880">
              <a:lnSpc>
                <a:spcPct val="100000"/>
              </a:lnSpc>
            </a:pPr>
            <a:r>
              <a:rPr dirty="0" baseline="1543" sz="2700" spc="-465">
                <a:latin typeface="Arial"/>
                <a:cs typeface="Arial"/>
              </a:rPr>
              <a:t>ر</a:t>
            </a:r>
            <a:r>
              <a:rPr dirty="0" baseline="-12345" sz="2700" spc="-465">
                <a:latin typeface="Arial"/>
                <a:cs typeface="Arial"/>
              </a:rPr>
              <a:t>ٍ</a:t>
            </a:r>
            <a:r>
              <a:rPr dirty="0" baseline="-12345" sz="2700" spc="-179">
                <a:latin typeface="Arial"/>
                <a:cs typeface="Arial"/>
              </a:rPr>
              <a:t> </a:t>
            </a:r>
            <a:r>
              <a:rPr dirty="0" baseline="1543" sz="2700" spc="-284">
                <a:latin typeface="Arial"/>
                <a:cs typeface="Arial"/>
              </a:rPr>
              <a:t>هْ </a:t>
            </a:r>
            <a:r>
              <a:rPr dirty="0" baseline="1543" sz="2700" spc="-1042">
                <a:latin typeface="Arial"/>
                <a:cs typeface="Arial"/>
              </a:rPr>
              <a:t>ش</a:t>
            </a:r>
            <a:r>
              <a:rPr dirty="0" baseline="6172" sz="2700" spc="-1042">
                <a:latin typeface="Arial"/>
                <a:cs typeface="Arial"/>
              </a:rPr>
              <a:t>َ</a:t>
            </a:r>
            <a:r>
              <a:rPr dirty="0" baseline="6172" sz="2700" spc="1289">
                <a:latin typeface="Arial"/>
                <a:cs typeface="Arial"/>
              </a:rPr>
              <a:t> </a:t>
            </a:r>
            <a:r>
              <a:rPr dirty="0" baseline="1543" sz="2700" spc="-719">
                <a:latin typeface="Arial"/>
                <a:cs typeface="Arial"/>
              </a:rPr>
              <a:t>ؾ</a:t>
            </a:r>
            <a:r>
              <a:rPr dirty="0" sz="1800" spc="-480">
                <a:latin typeface="Arial"/>
                <a:cs typeface="Arial"/>
              </a:rPr>
              <a:t>ِ  </a:t>
            </a:r>
            <a:r>
              <a:rPr dirty="0" baseline="1543" sz="2700" spc="-652">
                <a:latin typeface="Arial"/>
                <a:cs typeface="Arial"/>
              </a:rPr>
              <a:t>ل</a:t>
            </a:r>
            <a:r>
              <a:rPr dirty="0" baseline="12345" sz="2700" spc="-652">
                <a:latin typeface="Arial"/>
                <a:cs typeface="Arial"/>
              </a:rPr>
              <a:t>ْ </a:t>
            </a:r>
            <a:r>
              <a:rPr dirty="0" baseline="15432" sz="2700">
                <a:latin typeface="Arial"/>
                <a:cs typeface="Arial"/>
              </a:rPr>
              <a:t>َ</a:t>
            </a:r>
            <a:r>
              <a:rPr dirty="0" baseline="1543" sz="2700">
                <a:latin typeface="Arial"/>
                <a:cs typeface="Arial"/>
              </a:rPr>
              <a:t>أ </a:t>
            </a:r>
            <a:r>
              <a:rPr dirty="0" baseline="1543" sz="2700" spc="-465">
                <a:latin typeface="Arial"/>
                <a:cs typeface="Arial"/>
              </a:rPr>
              <a:t>نْ  </a:t>
            </a:r>
            <a:r>
              <a:rPr dirty="0" baseline="1543" sz="2700" spc="-254">
                <a:latin typeface="Arial"/>
                <a:cs typeface="Arial"/>
              </a:rPr>
              <a:t>مِّ  </a:t>
            </a:r>
            <a:r>
              <a:rPr dirty="0" baseline="1543" sz="2700" spc="-525">
                <a:latin typeface="Arial"/>
                <a:cs typeface="Arial"/>
              </a:rPr>
              <a:t>ر</a:t>
            </a:r>
            <a:r>
              <a:rPr dirty="0" baseline="3086" sz="2700" spc="-525">
                <a:latin typeface="Arial"/>
                <a:cs typeface="Arial"/>
              </a:rPr>
              <a:t>ٌ </a:t>
            </a:r>
            <a:r>
              <a:rPr dirty="0" baseline="1543" sz="2700">
                <a:latin typeface="Arial"/>
                <a:cs typeface="Arial"/>
              </a:rPr>
              <a:t>ٌْ </a:t>
            </a:r>
            <a:r>
              <a:rPr dirty="0" baseline="1543" sz="2700" spc="-592">
                <a:latin typeface="Arial"/>
                <a:cs typeface="Arial"/>
              </a:rPr>
              <a:t>خ</a:t>
            </a:r>
            <a:r>
              <a:rPr dirty="0" baseline="6172" sz="2700" spc="-592">
                <a:latin typeface="Arial"/>
                <a:cs typeface="Arial"/>
              </a:rPr>
              <a:t>َ </a:t>
            </a:r>
            <a:r>
              <a:rPr dirty="0" baseline="1543" sz="2700" spc="-457">
                <a:latin typeface="Arial"/>
                <a:cs typeface="Arial"/>
              </a:rPr>
              <a:t>ر</a:t>
            </a:r>
            <a:r>
              <a:rPr dirty="0" baseline="-13888" sz="2700" spc="-457">
                <a:latin typeface="Arial"/>
                <a:cs typeface="Arial"/>
              </a:rPr>
              <a:t>ِ </a:t>
            </a:r>
            <a:r>
              <a:rPr dirty="0" baseline="1543" sz="2700" spc="-284">
                <a:latin typeface="Arial"/>
                <a:cs typeface="Arial"/>
              </a:rPr>
              <a:t>د</a:t>
            </a:r>
            <a:r>
              <a:rPr dirty="0" baseline="4629" sz="2700" spc="-284">
                <a:latin typeface="Arial"/>
                <a:cs typeface="Arial"/>
              </a:rPr>
              <a:t>ْ </a:t>
            </a:r>
            <a:r>
              <a:rPr dirty="0" baseline="1543" sz="2700" spc="-750">
                <a:latin typeface="Arial"/>
                <a:cs typeface="Arial"/>
              </a:rPr>
              <a:t>ق</a:t>
            </a:r>
            <a:r>
              <a:rPr dirty="0" baseline="6172" sz="2700" spc="-750">
                <a:latin typeface="Arial"/>
                <a:cs typeface="Arial"/>
              </a:rPr>
              <a:t>َ</a:t>
            </a:r>
            <a:r>
              <a:rPr dirty="0" baseline="1543" sz="2700" spc="-652">
                <a:latin typeface="Arial"/>
                <a:cs typeface="Arial"/>
              </a:rPr>
              <a:t>ل</a:t>
            </a:r>
            <a:r>
              <a:rPr dirty="0" baseline="12345" sz="2700" spc="-652">
                <a:latin typeface="Arial"/>
                <a:cs typeface="Arial"/>
              </a:rPr>
              <a:t>ْ </a:t>
            </a:r>
            <a:r>
              <a:rPr dirty="0" baseline="1543" sz="2700">
                <a:latin typeface="Arial"/>
                <a:cs typeface="Arial"/>
              </a:rPr>
              <a:t>ٱ </a:t>
            </a:r>
            <a:r>
              <a:rPr dirty="0" baseline="1543" sz="2700" spc="-322">
                <a:latin typeface="Arial"/>
                <a:cs typeface="Arial"/>
              </a:rPr>
              <a:t>ة</a:t>
            </a:r>
            <a:r>
              <a:rPr dirty="0" baseline="12345" sz="2700" spc="-322">
                <a:latin typeface="Arial"/>
                <a:cs typeface="Arial"/>
              </a:rPr>
              <a:t>ُ </a:t>
            </a:r>
            <a:r>
              <a:rPr dirty="0" baseline="9259" sz="2700" spc="-209">
                <a:latin typeface="Arial"/>
                <a:cs typeface="Arial"/>
              </a:rPr>
              <a:t>َ</a:t>
            </a:r>
            <a:r>
              <a:rPr dirty="0" baseline="1543" sz="2700" spc="-209">
                <a:latin typeface="Arial"/>
                <a:cs typeface="Arial"/>
              </a:rPr>
              <a:t>لٌْ</a:t>
            </a:r>
            <a:r>
              <a:rPr dirty="0" baseline="1543" sz="2700" spc="-487">
                <a:latin typeface="Arial"/>
                <a:cs typeface="Arial"/>
              </a:rPr>
              <a:t> </a:t>
            </a:r>
            <a:r>
              <a:rPr dirty="0" baseline="9259" sz="2700" spc="-405">
                <a:latin typeface="Arial"/>
                <a:cs typeface="Arial"/>
              </a:rPr>
              <a:t>َ</a:t>
            </a:r>
            <a:r>
              <a:rPr dirty="0" baseline="1543" sz="2700" spc="-405">
                <a:latin typeface="Arial"/>
                <a:cs typeface="Arial"/>
              </a:rPr>
              <a:t>ل</a:t>
            </a:r>
            <a:endParaRPr baseline="1543" sz="2700">
              <a:latin typeface="Arial"/>
              <a:cs typeface="Arial"/>
            </a:endParaRPr>
          </a:p>
          <a:p>
            <a:pPr algn="just" marL="152400" marR="192405">
              <a:lnSpc>
                <a:spcPct val="95900"/>
              </a:lnSpc>
              <a:spcBef>
                <a:spcPts val="1175"/>
              </a:spcBef>
            </a:pPr>
            <a:r>
              <a:rPr dirty="0" sz="1200" spc="-5">
                <a:latin typeface="Arial"/>
                <a:cs typeface="Arial"/>
              </a:rPr>
              <a:t>He </a:t>
            </a:r>
            <a:r>
              <a:rPr dirty="0" sz="1200">
                <a:latin typeface="Arial"/>
                <a:cs typeface="Arial"/>
              </a:rPr>
              <a:t>then </a:t>
            </a:r>
            <a:r>
              <a:rPr dirty="0" sz="1200" spc="-5">
                <a:latin typeface="Arial"/>
                <a:cs typeface="Arial"/>
              </a:rPr>
              <a:t>explained </a:t>
            </a:r>
            <a:r>
              <a:rPr dirty="0" sz="1200">
                <a:latin typeface="Arial"/>
                <a:cs typeface="Arial"/>
              </a:rPr>
              <a:t>its </a:t>
            </a:r>
            <a:r>
              <a:rPr dirty="0" sz="1200" spc="-5">
                <a:latin typeface="Arial"/>
                <a:cs typeface="Arial"/>
              </a:rPr>
              <a:t>merit by saying: </a:t>
            </a:r>
            <a:r>
              <a:rPr dirty="0" sz="1200">
                <a:latin typeface="Arial"/>
                <a:cs typeface="Arial"/>
              </a:rPr>
              <a:t>(The </a:t>
            </a:r>
            <a:r>
              <a:rPr dirty="0" sz="1200" spc="-5">
                <a:latin typeface="Arial"/>
                <a:cs typeface="Arial"/>
              </a:rPr>
              <a:t>Night </a:t>
            </a:r>
            <a:r>
              <a:rPr dirty="0" sz="1200">
                <a:latin typeface="Arial"/>
                <a:cs typeface="Arial"/>
              </a:rPr>
              <a:t>of </a:t>
            </a:r>
            <a:r>
              <a:rPr dirty="0" sz="1200" spc="-5">
                <a:latin typeface="Arial"/>
                <a:cs typeface="Arial"/>
              </a:rPr>
              <a:t>Power is </a:t>
            </a:r>
            <a:r>
              <a:rPr dirty="0" sz="1200">
                <a:latin typeface="Arial"/>
                <a:cs typeface="Arial"/>
              </a:rPr>
              <a:t>better than </a:t>
            </a:r>
            <a:r>
              <a:rPr dirty="0" sz="1200" spc="-5">
                <a:latin typeface="Arial"/>
                <a:cs typeface="Arial"/>
              </a:rPr>
              <a:t>a thousand months)  He says: works in </a:t>
            </a:r>
            <a:r>
              <a:rPr dirty="0" sz="1200">
                <a:latin typeface="Arial"/>
                <a:cs typeface="Arial"/>
              </a:rPr>
              <a:t>this </a:t>
            </a:r>
            <a:r>
              <a:rPr dirty="0" sz="1200" spc="-5">
                <a:latin typeface="Arial"/>
                <a:cs typeface="Arial"/>
              </a:rPr>
              <a:t>night are better than works performed in 1,000 months which do not  include such a night.</a:t>
            </a:r>
            <a:endParaRPr sz="1200">
              <a:latin typeface="Arial"/>
              <a:cs typeface="Arial"/>
            </a:endParaRPr>
          </a:p>
          <a:p>
            <a:pPr>
              <a:lnSpc>
                <a:spcPct val="100000"/>
              </a:lnSpc>
            </a:pPr>
            <a:endParaRPr sz="1200">
              <a:latin typeface="Arial"/>
              <a:cs typeface="Arial"/>
            </a:endParaRPr>
          </a:p>
          <a:p>
            <a:pPr algn="r" marR="227329">
              <a:lnSpc>
                <a:spcPct val="100000"/>
              </a:lnSpc>
            </a:pPr>
            <a:r>
              <a:rPr dirty="0" baseline="3086" sz="2700" spc="-465">
                <a:latin typeface="Arial"/>
                <a:cs typeface="Arial"/>
              </a:rPr>
              <a:t>ر</a:t>
            </a:r>
            <a:r>
              <a:rPr dirty="0" baseline="-9259" sz="2700" spc="-465">
                <a:latin typeface="Arial"/>
                <a:cs typeface="Arial"/>
              </a:rPr>
              <a:t>ٍ</a:t>
            </a:r>
            <a:r>
              <a:rPr dirty="0" baseline="-9259" sz="2700" spc="-179">
                <a:latin typeface="Arial"/>
                <a:cs typeface="Arial"/>
              </a:rPr>
              <a:t> </a:t>
            </a:r>
            <a:r>
              <a:rPr dirty="0" baseline="3086" sz="2700" spc="-322">
                <a:latin typeface="Arial"/>
                <a:cs typeface="Arial"/>
              </a:rPr>
              <a:t>مْ </a:t>
            </a:r>
            <a:r>
              <a:rPr dirty="0" baseline="16975" sz="2700">
                <a:latin typeface="Arial"/>
                <a:cs typeface="Arial"/>
              </a:rPr>
              <a:t>َ</a:t>
            </a:r>
            <a:r>
              <a:rPr dirty="0" baseline="3086" sz="2700">
                <a:latin typeface="Arial"/>
                <a:cs typeface="Arial"/>
              </a:rPr>
              <a:t>أ </a:t>
            </a:r>
            <a:r>
              <a:rPr dirty="0" baseline="3086" sz="2700" spc="-419">
                <a:latin typeface="Arial"/>
                <a:cs typeface="Arial"/>
              </a:rPr>
              <a:t>لِّ </a:t>
            </a:r>
            <a:r>
              <a:rPr dirty="0" baseline="3086" sz="2700" spc="-765">
                <a:latin typeface="Arial"/>
                <a:cs typeface="Arial"/>
              </a:rPr>
              <a:t>ك</a:t>
            </a:r>
            <a:r>
              <a:rPr dirty="0" baseline="10802" sz="2700" spc="-765">
                <a:latin typeface="Arial"/>
                <a:cs typeface="Arial"/>
              </a:rPr>
              <a:t>ُ</a:t>
            </a:r>
            <a:r>
              <a:rPr dirty="0" baseline="10802" sz="2700" spc="937">
                <a:latin typeface="Arial"/>
                <a:cs typeface="Arial"/>
              </a:rPr>
              <a:t> </a:t>
            </a:r>
            <a:r>
              <a:rPr dirty="0" baseline="3086" sz="2700" spc="-195">
                <a:latin typeface="Arial"/>
                <a:cs typeface="Arial"/>
              </a:rPr>
              <a:t>نمِّ </a:t>
            </a:r>
            <a:r>
              <a:rPr dirty="0" baseline="3086" sz="2700" spc="-209">
                <a:latin typeface="Arial"/>
                <a:cs typeface="Arial"/>
              </a:rPr>
              <a:t>مه</a:t>
            </a:r>
            <a:r>
              <a:rPr dirty="0" baseline="-9259" sz="2700" spc="-209">
                <a:latin typeface="Arial"/>
                <a:cs typeface="Arial"/>
              </a:rPr>
              <a:t>ِ </a:t>
            </a:r>
            <a:r>
              <a:rPr dirty="0" baseline="3086" sz="2700" spc="-607">
                <a:latin typeface="Arial"/>
                <a:cs typeface="Arial"/>
              </a:rPr>
              <a:t>بِّ </a:t>
            </a:r>
            <a:r>
              <a:rPr dirty="0" baseline="3086" sz="2700" spc="-494">
                <a:latin typeface="Arial"/>
                <a:cs typeface="Arial"/>
              </a:rPr>
              <a:t>ر</a:t>
            </a:r>
            <a:r>
              <a:rPr dirty="0" sz="1800" spc="-330">
                <a:latin typeface="Arial"/>
                <a:cs typeface="Arial"/>
              </a:rPr>
              <a:t>َ </a:t>
            </a:r>
            <a:r>
              <a:rPr dirty="0" baseline="3086" sz="2700" spc="-607">
                <a:latin typeface="Arial"/>
                <a:cs typeface="Arial"/>
              </a:rPr>
              <a:t>ن</a:t>
            </a:r>
            <a:r>
              <a:rPr dirty="0" baseline="-10802" sz="2700" spc="-607">
                <a:latin typeface="Arial"/>
                <a:cs typeface="Arial"/>
              </a:rPr>
              <a:t>ِ </a:t>
            </a:r>
            <a:r>
              <a:rPr dirty="0" baseline="3086" sz="2700" spc="-284">
                <a:latin typeface="Arial"/>
                <a:cs typeface="Arial"/>
              </a:rPr>
              <a:t>ذ</a:t>
            </a:r>
            <a:r>
              <a:rPr dirty="0" baseline="16975" sz="2700" spc="-284">
                <a:latin typeface="Arial"/>
                <a:cs typeface="Arial"/>
              </a:rPr>
              <a:t>ْ </a:t>
            </a:r>
            <a:r>
              <a:rPr dirty="0" baseline="-10802" sz="2700" spc="-472">
                <a:latin typeface="Arial"/>
                <a:cs typeface="Arial"/>
              </a:rPr>
              <a:t>ِ</a:t>
            </a:r>
            <a:r>
              <a:rPr dirty="0" baseline="3086" sz="2700" spc="-472">
                <a:latin typeface="Arial"/>
                <a:cs typeface="Arial"/>
              </a:rPr>
              <a:t>إب</a:t>
            </a:r>
            <a:r>
              <a:rPr dirty="0" baseline="-10802" sz="2700" spc="-472">
                <a:latin typeface="Arial"/>
                <a:cs typeface="Arial"/>
              </a:rPr>
              <a:t>ِ </a:t>
            </a:r>
            <a:r>
              <a:rPr dirty="0" baseline="3086" sz="2700" spc="-202">
                <a:latin typeface="Arial"/>
                <a:cs typeface="Arial"/>
              </a:rPr>
              <a:t>اه</a:t>
            </a:r>
            <a:r>
              <a:rPr dirty="0" sz="1800" spc="-135">
                <a:latin typeface="Arial"/>
                <a:cs typeface="Arial"/>
              </a:rPr>
              <a:t>َ </a:t>
            </a:r>
            <a:r>
              <a:rPr dirty="0" baseline="3086" sz="2700" spc="-705">
                <a:latin typeface="Arial"/>
                <a:cs typeface="Arial"/>
              </a:rPr>
              <a:t>ٌف</a:t>
            </a:r>
            <a:r>
              <a:rPr dirty="0" baseline="1543" sz="2700" spc="-705">
                <a:latin typeface="Arial"/>
                <a:cs typeface="Arial"/>
              </a:rPr>
              <a:t>ِ </a:t>
            </a:r>
            <a:r>
              <a:rPr dirty="0" baseline="3086" sz="2700" spc="-667">
                <a:latin typeface="Arial"/>
                <a:cs typeface="Arial"/>
              </a:rPr>
              <a:t>حُ </a:t>
            </a:r>
            <a:r>
              <a:rPr dirty="0" baseline="3086" sz="2700" spc="-254">
                <a:latin typeface="Arial"/>
                <a:cs typeface="Arial"/>
              </a:rPr>
              <a:t>ورُّ </a:t>
            </a:r>
            <a:r>
              <a:rPr dirty="0" baseline="3086" sz="2700" spc="-359">
                <a:latin typeface="Arial"/>
                <a:cs typeface="Arial"/>
              </a:rPr>
              <a:t>لٱو</a:t>
            </a:r>
            <a:r>
              <a:rPr dirty="0" sz="1800" spc="-240">
                <a:latin typeface="Arial"/>
                <a:cs typeface="Arial"/>
              </a:rPr>
              <a:t>َ </a:t>
            </a:r>
            <a:r>
              <a:rPr dirty="0" baseline="3086" sz="2700" spc="-322">
                <a:latin typeface="Arial"/>
                <a:cs typeface="Arial"/>
              </a:rPr>
              <a:t>ة</a:t>
            </a:r>
            <a:r>
              <a:rPr dirty="0" baseline="13888" sz="2700" spc="-322">
                <a:latin typeface="Arial"/>
                <a:cs typeface="Arial"/>
              </a:rPr>
              <a:t>ُ </a:t>
            </a:r>
            <a:r>
              <a:rPr dirty="0" baseline="3086" sz="2700" spc="-719">
                <a:latin typeface="Arial"/>
                <a:cs typeface="Arial"/>
              </a:rPr>
              <a:t>ك</a:t>
            </a:r>
            <a:r>
              <a:rPr dirty="0" baseline="7716" sz="2700" spc="-719">
                <a:latin typeface="Arial"/>
                <a:cs typeface="Arial"/>
              </a:rPr>
              <a:t>َ </a:t>
            </a:r>
            <a:r>
              <a:rPr dirty="0" baseline="3086" sz="2700" spc="-855">
                <a:latin typeface="Arial"/>
                <a:cs typeface="Arial"/>
              </a:rPr>
              <a:t>ئ</a:t>
            </a:r>
            <a:r>
              <a:rPr dirty="0" baseline="1543" sz="2700" spc="-855">
                <a:latin typeface="Arial"/>
                <a:cs typeface="Arial"/>
              </a:rPr>
              <a:t>ِ</a:t>
            </a:r>
            <a:r>
              <a:rPr dirty="0" baseline="1543" sz="2700" spc="-120">
                <a:latin typeface="Arial"/>
                <a:cs typeface="Arial"/>
              </a:rPr>
              <a:t> </a:t>
            </a:r>
            <a:r>
              <a:rPr dirty="0" baseline="9259" sz="2700" spc="-209">
                <a:latin typeface="Arial"/>
                <a:cs typeface="Arial"/>
              </a:rPr>
              <a:t>َ</a:t>
            </a:r>
            <a:r>
              <a:rPr dirty="0" baseline="3086" sz="2700" spc="-209">
                <a:latin typeface="Arial"/>
                <a:cs typeface="Arial"/>
              </a:rPr>
              <a:t>لام</a:t>
            </a:r>
            <a:r>
              <a:rPr dirty="0" sz="1800" spc="-14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652">
                <a:latin typeface="Arial"/>
                <a:cs typeface="Arial"/>
              </a:rPr>
              <a:t>لُ </a:t>
            </a:r>
            <a:r>
              <a:rPr dirty="0" baseline="3086" sz="2700" spc="-345">
                <a:latin typeface="Arial"/>
                <a:cs typeface="Arial"/>
              </a:rPr>
              <a:t>ز</a:t>
            </a:r>
            <a:r>
              <a:rPr dirty="0" baseline="10802" sz="2700" spc="-345">
                <a:latin typeface="Arial"/>
                <a:cs typeface="Arial"/>
              </a:rPr>
              <a:t>َّ </a:t>
            </a:r>
            <a:r>
              <a:rPr dirty="0" baseline="3086" sz="2700" spc="-644">
                <a:latin typeface="Arial"/>
                <a:cs typeface="Arial"/>
              </a:rPr>
              <a:t>ن</a:t>
            </a:r>
            <a:r>
              <a:rPr dirty="0" baseline="7716" sz="2700" spc="-644">
                <a:latin typeface="Arial"/>
                <a:cs typeface="Arial"/>
              </a:rPr>
              <a:t>َ</a:t>
            </a:r>
            <a:r>
              <a:rPr dirty="0" baseline="7716" sz="2700" spc="-547">
                <a:latin typeface="Arial"/>
                <a:cs typeface="Arial"/>
              </a:rPr>
              <a:t> </a:t>
            </a:r>
            <a:r>
              <a:rPr dirty="0" baseline="3086" sz="2700" spc="-1785">
                <a:latin typeface="Arial"/>
                <a:cs typeface="Arial"/>
              </a:rPr>
              <a:t>ت</a:t>
            </a:r>
            <a:endParaRPr baseline="3086" sz="2700">
              <a:latin typeface="Arial"/>
              <a:cs typeface="Arial"/>
            </a:endParaRPr>
          </a:p>
          <a:p>
            <a:pPr algn="just" marL="152400" marR="193040">
              <a:lnSpc>
                <a:spcPts val="1380"/>
              </a:lnSpc>
              <a:spcBef>
                <a:spcPts val="1140"/>
              </a:spcBef>
            </a:pPr>
            <a:r>
              <a:rPr dirty="0" sz="1200">
                <a:latin typeface="Arial"/>
                <a:cs typeface="Arial"/>
              </a:rPr>
              <a:t>(The </a:t>
            </a:r>
            <a:r>
              <a:rPr dirty="0" sz="1200" spc="-5">
                <a:latin typeface="Arial"/>
                <a:cs typeface="Arial"/>
              </a:rPr>
              <a:t>angels and the Spirit) Gabriel with </a:t>
            </a:r>
            <a:r>
              <a:rPr dirty="0" sz="1200">
                <a:latin typeface="Arial"/>
                <a:cs typeface="Arial"/>
              </a:rPr>
              <a:t>them </a:t>
            </a:r>
            <a:r>
              <a:rPr dirty="0" sz="1200" spc="-5">
                <a:latin typeface="Arial"/>
                <a:cs typeface="Arial"/>
              </a:rPr>
              <a:t>(descend therein) </a:t>
            </a:r>
            <a:r>
              <a:rPr dirty="0" sz="1200">
                <a:latin typeface="Arial"/>
                <a:cs typeface="Arial"/>
              </a:rPr>
              <a:t>at </a:t>
            </a:r>
            <a:r>
              <a:rPr dirty="0" sz="1200" spc="-5">
                <a:latin typeface="Arial"/>
                <a:cs typeface="Arial"/>
              </a:rPr>
              <a:t>the beginning of </a:t>
            </a:r>
            <a:r>
              <a:rPr dirty="0" sz="1200">
                <a:latin typeface="Arial"/>
                <a:cs typeface="Arial"/>
              </a:rPr>
              <a:t>the </a:t>
            </a:r>
            <a:r>
              <a:rPr dirty="0" sz="1200" spc="-5">
                <a:latin typeface="Arial"/>
                <a:cs typeface="Arial"/>
              </a:rPr>
              <a:t>Night  of Power, (by the permission of </a:t>
            </a:r>
            <a:r>
              <a:rPr dirty="0" sz="1200">
                <a:latin typeface="Arial"/>
                <a:cs typeface="Arial"/>
              </a:rPr>
              <a:t>their </a:t>
            </a:r>
            <a:r>
              <a:rPr dirty="0" sz="1200" spc="-5">
                <a:latin typeface="Arial"/>
                <a:cs typeface="Arial"/>
              </a:rPr>
              <a:t>Lord) by the command of </a:t>
            </a:r>
            <a:r>
              <a:rPr dirty="0" sz="1200" spc="5">
                <a:latin typeface="Arial"/>
                <a:cs typeface="Arial"/>
              </a:rPr>
              <a:t>their </a:t>
            </a:r>
            <a:r>
              <a:rPr dirty="0" sz="1200" spc="-5">
                <a:latin typeface="Arial"/>
                <a:cs typeface="Arial"/>
              </a:rPr>
              <a:t>Lord, (with </a:t>
            </a:r>
            <a:r>
              <a:rPr dirty="0" sz="1200">
                <a:latin typeface="Arial"/>
                <a:cs typeface="Arial"/>
              </a:rPr>
              <a:t>all</a:t>
            </a:r>
            <a:r>
              <a:rPr dirty="0" sz="1200" spc="90">
                <a:latin typeface="Arial"/>
                <a:cs typeface="Arial"/>
              </a:rPr>
              <a:t> </a:t>
            </a:r>
            <a:r>
              <a:rPr dirty="0" sz="1200" spc="-5">
                <a:latin typeface="Arial"/>
                <a:cs typeface="Arial"/>
              </a:rPr>
              <a:t>decrees.</a:t>
            </a:r>
            <a:endParaRPr sz="1200">
              <a:latin typeface="Arial"/>
              <a:cs typeface="Arial"/>
            </a:endParaRPr>
          </a:p>
          <a:p>
            <a:pPr>
              <a:lnSpc>
                <a:spcPct val="100000"/>
              </a:lnSpc>
              <a:spcBef>
                <a:spcPts val="40"/>
              </a:spcBef>
            </a:pPr>
            <a:endParaRPr sz="1050">
              <a:latin typeface="Arial"/>
              <a:cs typeface="Arial"/>
            </a:endParaRPr>
          </a:p>
          <a:p>
            <a:pPr algn="r" marR="281940">
              <a:lnSpc>
                <a:spcPct val="100000"/>
              </a:lnSpc>
            </a:pPr>
            <a:r>
              <a:rPr dirty="0" sz="1800" spc="-305">
                <a:latin typeface="Arial"/>
                <a:cs typeface="Arial"/>
              </a:rPr>
              <a:t>ر</a:t>
            </a:r>
            <a:r>
              <a:rPr dirty="0" baseline="-13888" sz="2700" spc="-457">
                <a:latin typeface="Arial"/>
                <a:cs typeface="Arial"/>
              </a:rPr>
              <a:t>ِ </a:t>
            </a:r>
            <a:r>
              <a:rPr dirty="0" sz="1800" spc="-370">
                <a:latin typeface="Arial"/>
                <a:cs typeface="Arial"/>
              </a:rPr>
              <a:t>جْ </a:t>
            </a:r>
            <a:r>
              <a:rPr dirty="0" sz="1800" spc="-690">
                <a:latin typeface="Arial"/>
                <a:cs typeface="Arial"/>
              </a:rPr>
              <a:t>ف</a:t>
            </a:r>
            <a:r>
              <a:rPr dirty="0" baseline="4629" sz="2700" spc="-1035">
                <a:latin typeface="Arial"/>
                <a:cs typeface="Arial"/>
              </a:rPr>
              <a:t>َ</a:t>
            </a:r>
            <a:r>
              <a:rPr dirty="0" baseline="4629" sz="2700" spc="-135">
                <a:latin typeface="Arial"/>
                <a:cs typeface="Arial"/>
              </a:rPr>
              <a:t> </a:t>
            </a:r>
            <a:r>
              <a:rPr dirty="0" sz="1800" spc="-434">
                <a:latin typeface="Arial"/>
                <a:cs typeface="Arial"/>
              </a:rPr>
              <a:t>ل</a:t>
            </a:r>
            <a:r>
              <a:rPr dirty="0" baseline="10802" sz="2700" spc="-652">
                <a:latin typeface="Arial"/>
                <a:cs typeface="Arial"/>
              </a:rPr>
              <a:t>ْ </a:t>
            </a:r>
            <a:r>
              <a:rPr dirty="0" sz="1800">
                <a:latin typeface="Arial"/>
                <a:cs typeface="Arial"/>
              </a:rPr>
              <a:t>ٱ </a:t>
            </a:r>
            <a:r>
              <a:rPr dirty="0" sz="1800" spc="-380">
                <a:latin typeface="Arial"/>
                <a:cs typeface="Arial"/>
              </a:rPr>
              <a:t>ع</a:t>
            </a:r>
            <a:r>
              <a:rPr dirty="0" baseline="-18518" sz="2700" spc="-569">
                <a:latin typeface="Arial"/>
                <a:cs typeface="Arial"/>
              </a:rPr>
              <a:t>ِ </a:t>
            </a:r>
            <a:r>
              <a:rPr dirty="0" baseline="7716" sz="2700" spc="-517">
                <a:latin typeface="Arial"/>
                <a:cs typeface="Arial"/>
              </a:rPr>
              <a:t>َ</a:t>
            </a:r>
            <a:r>
              <a:rPr dirty="0" sz="1800" spc="-345">
                <a:latin typeface="Arial"/>
                <a:cs typeface="Arial"/>
              </a:rPr>
              <a:t>لط</a:t>
            </a:r>
            <a:r>
              <a:rPr dirty="0" baseline="13888" sz="2700" spc="-517">
                <a:latin typeface="Arial"/>
                <a:cs typeface="Arial"/>
              </a:rPr>
              <a:t>ْ </a:t>
            </a:r>
            <a:r>
              <a:rPr dirty="0" sz="1800" spc="-240">
                <a:latin typeface="Arial"/>
                <a:cs typeface="Arial"/>
              </a:rPr>
              <a:t>م</a:t>
            </a:r>
            <a:r>
              <a:rPr dirty="0" baseline="-3086" sz="2700" spc="-359">
                <a:latin typeface="Arial"/>
                <a:cs typeface="Arial"/>
              </a:rPr>
              <a:t>َ </a:t>
            </a:r>
            <a:r>
              <a:rPr dirty="0" sz="1800" spc="-355">
                <a:latin typeface="Arial"/>
                <a:cs typeface="Arial"/>
              </a:rPr>
              <a:t>ى</a:t>
            </a:r>
            <a:r>
              <a:rPr dirty="0" baseline="4629" sz="2700" spc="-532">
                <a:latin typeface="Arial"/>
                <a:cs typeface="Arial"/>
              </a:rPr>
              <a:t>ٰ </a:t>
            </a:r>
            <a:r>
              <a:rPr dirty="0" sz="1800" spc="-405">
                <a:latin typeface="Arial"/>
                <a:cs typeface="Arial"/>
              </a:rPr>
              <a:t>ت</a:t>
            </a:r>
            <a:r>
              <a:rPr dirty="0" baseline="7716" sz="2700" spc="-607">
                <a:latin typeface="Arial"/>
                <a:cs typeface="Arial"/>
              </a:rPr>
              <a:t>َّ </a:t>
            </a:r>
            <a:r>
              <a:rPr dirty="0" sz="1800" spc="-395">
                <a:latin typeface="Arial"/>
                <a:cs typeface="Arial"/>
              </a:rPr>
              <a:t>ح</a:t>
            </a:r>
            <a:r>
              <a:rPr dirty="0" baseline="-3086" sz="2700" spc="-592">
                <a:latin typeface="Arial"/>
                <a:cs typeface="Arial"/>
              </a:rPr>
              <a:t>َ </a:t>
            </a:r>
            <a:r>
              <a:rPr dirty="0" sz="1800">
                <a:latin typeface="Arial"/>
                <a:cs typeface="Arial"/>
              </a:rPr>
              <a:t>ً</a:t>
            </a:r>
            <a:r>
              <a:rPr dirty="0" baseline="-3086" sz="2700">
                <a:latin typeface="Arial"/>
                <a:cs typeface="Arial"/>
              </a:rPr>
              <a:t>َ </a:t>
            </a:r>
            <a:r>
              <a:rPr dirty="0" sz="1800" spc="-204">
                <a:latin typeface="Arial"/>
                <a:cs typeface="Arial"/>
              </a:rPr>
              <a:t>ه</a:t>
            </a:r>
            <a:r>
              <a:rPr dirty="0" baseline="-1543" sz="2700" spc="-307">
                <a:latin typeface="Arial"/>
                <a:cs typeface="Arial"/>
              </a:rPr>
              <a:t>ِ </a:t>
            </a:r>
            <a:r>
              <a:rPr dirty="0" sz="1800" spc="-285">
                <a:latin typeface="Arial"/>
                <a:cs typeface="Arial"/>
              </a:rPr>
              <a:t>م</a:t>
            </a:r>
            <a:r>
              <a:rPr dirty="0" baseline="-4629" sz="2700" spc="-427">
                <a:latin typeface="Arial"/>
                <a:cs typeface="Arial"/>
              </a:rPr>
              <a:t>ٌ</a:t>
            </a:r>
            <a:r>
              <a:rPr dirty="0" baseline="-4629" sz="2700" spc="-112">
                <a:latin typeface="Arial"/>
                <a:cs typeface="Arial"/>
              </a:rPr>
              <a:t> </a:t>
            </a:r>
            <a:r>
              <a:rPr dirty="0" baseline="6172" sz="2700" spc="-569">
                <a:latin typeface="Arial"/>
                <a:cs typeface="Arial"/>
              </a:rPr>
              <a:t>َ</a:t>
            </a:r>
            <a:r>
              <a:rPr dirty="0" sz="1800" spc="-380">
                <a:latin typeface="Arial"/>
                <a:cs typeface="Arial"/>
              </a:rPr>
              <a:t>لاس</a:t>
            </a:r>
            <a:endParaRPr sz="1800">
              <a:latin typeface="Arial"/>
              <a:cs typeface="Arial"/>
            </a:endParaRPr>
          </a:p>
          <a:p>
            <a:pPr algn="just" marL="152400" marR="186690">
              <a:lnSpc>
                <a:spcPts val="1380"/>
              </a:lnSpc>
              <a:spcBef>
                <a:spcPts val="1250"/>
              </a:spcBef>
            </a:pPr>
            <a:r>
              <a:rPr dirty="0" sz="1200" spc="-5">
                <a:latin typeface="Arial"/>
                <a:cs typeface="Arial"/>
              </a:rPr>
              <a:t>(That night is) Peace) He says: </a:t>
            </a:r>
            <a:r>
              <a:rPr dirty="0" sz="1200">
                <a:latin typeface="Arial"/>
                <a:cs typeface="Arial"/>
              </a:rPr>
              <a:t>they </a:t>
            </a:r>
            <a:r>
              <a:rPr dirty="0" sz="1200" spc="-5">
                <a:latin typeface="Arial"/>
                <a:cs typeface="Arial"/>
              </a:rPr>
              <a:t>greet </a:t>
            </a:r>
            <a:r>
              <a:rPr dirty="0" sz="1200">
                <a:latin typeface="Arial"/>
                <a:cs typeface="Arial"/>
              </a:rPr>
              <a:t>the </a:t>
            </a:r>
            <a:r>
              <a:rPr dirty="0" sz="1200" spc="-5">
                <a:latin typeface="Arial"/>
                <a:cs typeface="Arial"/>
              </a:rPr>
              <a:t>greeting </a:t>
            </a:r>
            <a:r>
              <a:rPr dirty="0" sz="1200">
                <a:latin typeface="Arial"/>
                <a:cs typeface="Arial"/>
              </a:rPr>
              <a:t>of </a:t>
            </a:r>
            <a:r>
              <a:rPr dirty="0" sz="1200" spc="-5">
                <a:latin typeface="Arial"/>
                <a:cs typeface="Arial"/>
              </a:rPr>
              <a:t>peace those </a:t>
            </a:r>
            <a:r>
              <a:rPr dirty="0" sz="1200" spc="-10">
                <a:latin typeface="Arial"/>
                <a:cs typeface="Arial"/>
              </a:rPr>
              <a:t>who </a:t>
            </a:r>
            <a:r>
              <a:rPr dirty="0" sz="1200" spc="-5">
                <a:latin typeface="Arial"/>
                <a:cs typeface="Arial"/>
              </a:rPr>
              <a:t>fast and those  </a:t>
            </a:r>
            <a:r>
              <a:rPr dirty="0" sz="1200" spc="-10">
                <a:latin typeface="Arial"/>
                <a:cs typeface="Arial"/>
              </a:rPr>
              <a:t>who </a:t>
            </a:r>
            <a:r>
              <a:rPr dirty="0" sz="1200" spc="-5">
                <a:latin typeface="Arial"/>
                <a:cs typeface="Arial"/>
              </a:rPr>
              <a:t>pray, on </a:t>
            </a:r>
            <a:r>
              <a:rPr dirty="0" sz="1200">
                <a:latin typeface="Arial"/>
                <a:cs typeface="Arial"/>
              </a:rPr>
              <a:t>that </a:t>
            </a:r>
            <a:r>
              <a:rPr dirty="0" sz="1200" spc="-5">
                <a:latin typeface="Arial"/>
                <a:cs typeface="Arial"/>
              </a:rPr>
              <a:t>day, from among </a:t>
            </a:r>
            <a:r>
              <a:rPr dirty="0" sz="1200">
                <a:latin typeface="Arial"/>
                <a:cs typeface="Arial"/>
              </a:rPr>
              <a:t>the </a:t>
            </a:r>
            <a:r>
              <a:rPr dirty="0" sz="1200" spc="-5">
                <a:latin typeface="Arial"/>
                <a:cs typeface="Arial"/>
              </a:rPr>
              <a:t>nation of the </a:t>
            </a:r>
            <a:r>
              <a:rPr dirty="0" sz="1200">
                <a:latin typeface="Arial"/>
                <a:cs typeface="Arial"/>
              </a:rPr>
              <a:t>Prophet </a:t>
            </a:r>
            <a:r>
              <a:rPr dirty="0" sz="1200" spc="-5">
                <a:latin typeface="Arial"/>
                <a:cs typeface="Arial"/>
              </a:rPr>
              <a:t>Muhammad (pbuh) (until </a:t>
            </a:r>
            <a:r>
              <a:rPr dirty="0" sz="1200" spc="-10">
                <a:latin typeface="Arial"/>
                <a:cs typeface="Arial"/>
              </a:rPr>
              <a:t>the  </a:t>
            </a:r>
            <a:r>
              <a:rPr dirty="0" sz="1200" spc="-5">
                <a:latin typeface="Arial"/>
                <a:cs typeface="Arial"/>
              </a:rPr>
              <a:t>rising </a:t>
            </a:r>
            <a:r>
              <a:rPr dirty="0" sz="1200">
                <a:latin typeface="Arial"/>
                <a:cs typeface="Arial"/>
              </a:rPr>
              <a:t>of </a:t>
            </a:r>
            <a:r>
              <a:rPr dirty="0" sz="1200" spc="-5">
                <a:latin typeface="Arial"/>
                <a:cs typeface="Arial"/>
              </a:rPr>
              <a:t>the dawn) He says: </a:t>
            </a:r>
            <a:r>
              <a:rPr dirty="0" sz="1200">
                <a:latin typeface="Arial"/>
                <a:cs typeface="Arial"/>
              </a:rPr>
              <a:t>its </a:t>
            </a:r>
            <a:r>
              <a:rPr dirty="0" sz="1200" spc="-5">
                <a:latin typeface="Arial"/>
                <a:cs typeface="Arial"/>
              </a:rPr>
              <a:t>merit and grace </a:t>
            </a:r>
            <a:r>
              <a:rPr dirty="0" sz="1200">
                <a:latin typeface="Arial"/>
                <a:cs typeface="Arial"/>
              </a:rPr>
              <a:t>lasts </a:t>
            </a:r>
            <a:r>
              <a:rPr dirty="0" sz="1200" spc="-5">
                <a:latin typeface="Arial"/>
                <a:cs typeface="Arial"/>
              </a:rPr>
              <a:t>until the rise of</a:t>
            </a:r>
            <a:r>
              <a:rPr dirty="0" sz="1200" spc="45">
                <a:latin typeface="Arial"/>
                <a:cs typeface="Arial"/>
              </a:rPr>
              <a:t> </a:t>
            </a:r>
            <a:r>
              <a:rPr dirty="0" sz="1200" spc="-5">
                <a:latin typeface="Arial"/>
                <a:cs typeface="Arial"/>
              </a:rPr>
              <a:t>dawn'.</a:t>
            </a:r>
            <a:endParaRPr sz="1200">
              <a:latin typeface="Arial"/>
              <a:cs typeface="Arial"/>
            </a:endParaRPr>
          </a:p>
          <a:p>
            <a:pPr>
              <a:lnSpc>
                <a:spcPct val="100000"/>
              </a:lnSpc>
            </a:pPr>
            <a:endParaRPr sz="1300">
              <a:latin typeface="Arial"/>
              <a:cs typeface="Arial"/>
            </a:endParaRPr>
          </a:p>
          <a:p>
            <a:pPr>
              <a:lnSpc>
                <a:spcPct val="100000"/>
              </a:lnSpc>
              <a:spcBef>
                <a:spcPts val="20"/>
              </a:spcBef>
            </a:pPr>
            <a:endParaRPr sz="1000">
              <a:latin typeface="Arial"/>
              <a:cs typeface="Arial"/>
            </a:endParaRPr>
          </a:p>
          <a:p>
            <a:pPr algn="just" marL="152400">
              <a:lnSpc>
                <a:spcPct val="100000"/>
              </a:lnSpc>
            </a:pPr>
            <a:r>
              <a:rPr dirty="0" u="heavy" sz="1200" spc="-5" b="1" i="1">
                <a:uFill>
                  <a:solidFill>
                    <a:srgbClr val="000000"/>
                  </a:solidFill>
                </a:uFill>
                <a:latin typeface="Arial"/>
                <a:cs typeface="Arial"/>
              </a:rPr>
              <a:t>Surah at</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Takaathur</a:t>
            </a:r>
            <a:endParaRPr sz="1200">
              <a:latin typeface="Arial"/>
              <a:cs typeface="Arial"/>
            </a:endParaRPr>
          </a:p>
          <a:p>
            <a:pPr>
              <a:lnSpc>
                <a:spcPct val="100000"/>
              </a:lnSpc>
              <a:spcBef>
                <a:spcPts val="35"/>
              </a:spcBef>
            </a:pPr>
            <a:endParaRPr sz="1200">
              <a:latin typeface="Arial"/>
              <a:cs typeface="Arial"/>
            </a:endParaRPr>
          </a:p>
          <a:p>
            <a:pPr algn="just" marL="152400" marR="193675">
              <a:lnSpc>
                <a:spcPts val="1380"/>
              </a:lnSpc>
            </a:pPr>
            <a:r>
              <a:rPr dirty="0" sz="1200" spc="-5">
                <a:latin typeface="Arial"/>
                <a:cs typeface="Arial"/>
              </a:rPr>
              <a:t>That surah </a:t>
            </a:r>
            <a:r>
              <a:rPr dirty="0" sz="1200" spc="-10">
                <a:latin typeface="Arial"/>
                <a:cs typeface="Arial"/>
              </a:rPr>
              <a:t>was </a:t>
            </a:r>
            <a:r>
              <a:rPr dirty="0" sz="1200" spc="-5">
                <a:latin typeface="Arial"/>
                <a:cs typeface="Arial"/>
              </a:rPr>
              <a:t>revealed as a warning </a:t>
            </a:r>
            <a:r>
              <a:rPr dirty="0" sz="1200">
                <a:latin typeface="Arial"/>
                <a:cs typeface="Arial"/>
              </a:rPr>
              <a:t>for those </a:t>
            </a:r>
            <a:r>
              <a:rPr dirty="0" sz="1200" spc="-10">
                <a:latin typeface="Arial"/>
                <a:cs typeface="Arial"/>
              </a:rPr>
              <a:t>who </a:t>
            </a:r>
            <a:r>
              <a:rPr dirty="0" sz="1200" spc="-5">
                <a:latin typeface="Arial"/>
                <a:cs typeface="Arial"/>
              </a:rPr>
              <a:t>use </a:t>
            </a:r>
            <a:r>
              <a:rPr dirty="0" sz="1200">
                <a:latin typeface="Arial"/>
                <a:cs typeface="Arial"/>
              </a:rPr>
              <a:t>to </a:t>
            </a:r>
            <a:r>
              <a:rPr dirty="0" sz="1200" spc="-5">
                <a:latin typeface="Arial"/>
                <a:cs typeface="Arial"/>
              </a:rPr>
              <a:t>amass </a:t>
            </a:r>
            <a:r>
              <a:rPr dirty="0" sz="1200">
                <a:latin typeface="Arial"/>
                <a:cs typeface="Arial"/>
              </a:rPr>
              <a:t>their </a:t>
            </a:r>
            <a:r>
              <a:rPr dirty="0" sz="1200" spc="-5">
                <a:latin typeface="Arial"/>
                <a:cs typeface="Arial"/>
              </a:rPr>
              <a:t>money and wealth  </a:t>
            </a:r>
            <a:r>
              <a:rPr dirty="0" sz="1200">
                <a:latin typeface="Arial"/>
                <a:cs typeface="Arial"/>
              </a:rPr>
              <a:t>and </a:t>
            </a:r>
            <a:r>
              <a:rPr dirty="0" sz="1200" spc="-5">
                <a:latin typeface="Arial"/>
                <a:cs typeface="Arial"/>
              </a:rPr>
              <a:t>don‘t spend </a:t>
            </a:r>
            <a:r>
              <a:rPr dirty="0" sz="1200" spc="-10">
                <a:latin typeface="Arial"/>
                <a:cs typeface="Arial"/>
              </a:rPr>
              <a:t>in </a:t>
            </a:r>
            <a:r>
              <a:rPr dirty="0" sz="1200" spc="-5">
                <a:latin typeface="Arial"/>
                <a:cs typeface="Arial"/>
              </a:rPr>
              <a:t>the </a:t>
            </a:r>
            <a:r>
              <a:rPr dirty="0" sz="1200">
                <a:latin typeface="Arial"/>
                <a:cs typeface="Arial"/>
              </a:rPr>
              <a:t>way of </a:t>
            </a:r>
            <a:r>
              <a:rPr dirty="0" sz="1200" spc="-5">
                <a:latin typeface="Arial"/>
                <a:cs typeface="Arial"/>
              </a:rPr>
              <a:t>Allah. </a:t>
            </a:r>
            <a:r>
              <a:rPr dirty="0" sz="1200">
                <a:latin typeface="Arial"/>
                <a:cs typeface="Arial"/>
              </a:rPr>
              <a:t>Their </a:t>
            </a:r>
            <a:r>
              <a:rPr dirty="0" sz="1200" spc="-5">
                <a:latin typeface="Arial"/>
                <a:cs typeface="Arial"/>
              </a:rPr>
              <a:t>punishment </a:t>
            </a:r>
            <a:r>
              <a:rPr dirty="0" sz="1200" spc="-10">
                <a:latin typeface="Arial"/>
                <a:cs typeface="Arial"/>
              </a:rPr>
              <a:t>will </a:t>
            </a:r>
            <a:r>
              <a:rPr dirty="0" sz="1200" spc="-5">
                <a:latin typeface="Arial"/>
                <a:cs typeface="Arial"/>
              </a:rPr>
              <a:t>be </a:t>
            </a:r>
            <a:r>
              <a:rPr dirty="0" sz="1200">
                <a:latin typeface="Arial"/>
                <a:cs typeface="Arial"/>
              </a:rPr>
              <a:t>hell </a:t>
            </a:r>
            <a:r>
              <a:rPr dirty="0" sz="1200" spc="-5">
                <a:latin typeface="Arial"/>
                <a:cs typeface="Arial"/>
              </a:rPr>
              <a:t>fire. </a:t>
            </a:r>
            <a:r>
              <a:rPr dirty="0" sz="1200">
                <a:latin typeface="Arial"/>
                <a:cs typeface="Arial"/>
              </a:rPr>
              <a:t>It </a:t>
            </a:r>
            <a:r>
              <a:rPr dirty="0" sz="1200" spc="-5">
                <a:latin typeface="Arial"/>
                <a:cs typeface="Arial"/>
              </a:rPr>
              <a:t>is a </a:t>
            </a:r>
            <a:r>
              <a:rPr dirty="0" sz="1200">
                <a:latin typeface="Arial"/>
                <a:cs typeface="Arial"/>
              </a:rPr>
              <a:t>Makki</a:t>
            </a:r>
            <a:r>
              <a:rPr dirty="0" sz="1200" spc="60">
                <a:latin typeface="Arial"/>
                <a:cs typeface="Arial"/>
              </a:rPr>
              <a:t> </a:t>
            </a:r>
            <a:r>
              <a:rPr dirty="0" sz="1200" spc="-5">
                <a:latin typeface="Arial"/>
                <a:cs typeface="Arial"/>
              </a:rPr>
              <a:t>surah.</a:t>
            </a:r>
            <a:endParaRPr sz="1200">
              <a:latin typeface="Arial"/>
              <a:cs typeface="Arial"/>
            </a:endParaRPr>
          </a:p>
          <a:p>
            <a:pPr>
              <a:lnSpc>
                <a:spcPct val="100000"/>
              </a:lnSpc>
              <a:spcBef>
                <a:spcPts val="20"/>
              </a:spcBef>
            </a:pPr>
            <a:endParaRPr sz="1100">
              <a:latin typeface="Arial"/>
              <a:cs typeface="Arial"/>
            </a:endParaRPr>
          </a:p>
          <a:p>
            <a:pPr algn="just" marL="152400">
              <a:lnSpc>
                <a:spcPts val="1390"/>
              </a:lnSpc>
            </a:pPr>
            <a:r>
              <a:rPr dirty="0" sz="1200" spc="-5">
                <a:latin typeface="Arial"/>
                <a:cs typeface="Arial"/>
              </a:rPr>
              <a:t>Allah says:</a:t>
            </a:r>
            <a:endParaRPr sz="1200">
              <a:latin typeface="Arial"/>
              <a:cs typeface="Arial"/>
            </a:endParaRPr>
          </a:p>
          <a:p>
            <a:pPr algn="r" marR="182880">
              <a:lnSpc>
                <a:spcPts val="2110"/>
              </a:lnSpc>
            </a:pPr>
            <a:r>
              <a:rPr dirty="0" sz="1800" spc="-350">
                <a:latin typeface="Arial"/>
                <a:cs typeface="Arial"/>
              </a:rPr>
              <a:t>رُ </a:t>
            </a:r>
            <a:r>
              <a:rPr dirty="0" sz="1800" spc="-620">
                <a:latin typeface="Arial"/>
                <a:cs typeface="Arial"/>
              </a:rPr>
              <a:t>ث</a:t>
            </a:r>
            <a:r>
              <a:rPr dirty="0" baseline="13888" sz="2700" spc="-930">
                <a:latin typeface="Arial"/>
                <a:cs typeface="Arial"/>
              </a:rPr>
              <a:t>ُ</a:t>
            </a:r>
            <a:r>
              <a:rPr dirty="0" baseline="13888" sz="2700" spc="-165">
                <a:latin typeface="Arial"/>
                <a:cs typeface="Arial"/>
              </a:rPr>
              <a:t> </a:t>
            </a:r>
            <a:r>
              <a:rPr dirty="0" sz="1800" spc="-240">
                <a:latin typeface="Arial"/>
                <a:cs typeface="Arial"/>
              </a:rPr>
              <a:t>اك</a:t>
            </a:r>
            <a:r>
              <a:rPr dirty="0" baseline="7716" sz="2700" spc="-359">
                <a:latin typeface="Arial"/>
                <a:cs typeface="Arial"/>
              </a:rPr>
              <a:t>َّ </a:t>
            </a:r>
            <a:r>
              <a:rPr dirty="0" sz="1800" spc="-405">
                <a:latin typeface="Arial"/>
                <a:cs typeface="Arial"/>
              </a:rPr>
              <a:t>ت</a:t>
            </a:r>
            <a:r>
              <a:rPr dirty="0" baseline="7716" sz="2700" spc="-607">
                <a:latin typeface="Arial"/>
                <a:cs typeface="Arial"/>
              </a:rPr>
              <a:t>َّ </a:t>
            </a:r>
            <a:r>
              <a:rPr dirty="0" sz="1800" spc="-275">
                <a:latin typeface="Arial"/>
                <a:cs typeface="Arial"/>
              </a:rPr>
              <a:t>لٱ </a:t>
            </a:r>
            <a:r>
              <a:rPr dirty="0" sz="1800" spc="-285">
                <a:latin typeface="Arial"/>
                <a:cs typeface="Arial"/>
              </a:rPr>
              <a:t>م</a:t>
            </a:r>
            <a:r>
              <a:rPr dirty="0" baseline="-6172" sz="2700" spc="-427">
                <a:latin typeface="Arial"/>
                <a:cs typeface="Arial"/>
              </a:rPr>
              <a:t>ُ </a:t>
            </a:r>
            <a:r>
              <a:rPr dirty="0" sz="1800" spc="-505">
                <a:latin typeface="Arial"/>
                <a:cs typeface="Arial"/>
              </a:rPr>
              <a:t>ك</a:t>
            </a:r>
            <a:r>
              <a:rPr dirty="0" baseline="7716" sz="2700" spc="-757">
                <a:latin typeface="Arial"/>
                <a:cs typeface="Arial"/>
              </a:rPr>
              <a:t>ُ</a:t>
            </a:r>
            <a:r>
              <a:rPr dirty="0" baseline="7716" sz="2700" spc="172">
                <a:latin typeface="Arial"/>
                <a:cs typeface="Arial"/>
              </a:rPr>
              <a:t> </a:t>
            </a:r>
            <a:r>
              <a:rPr dirty="0" sz="1800" spc="-135">
                <a:latin typeface="Arial"/>
                <a:cs typeface="Arial"/>
              </a:rPr>
              <a:t>اه</a:t>
            </a:r>
            <a:r>
              <a:rPr dirty="0" baseline="-3086" sz="2700" spc="-202">
                <a:latin typeface="Arial"/>
                <a:cs typeface="Arial"/>
              </a:rPr>
              <a:t>َ </a:t>
            </a:r>
            <a:r>
              <a:rPr dirty="0" sz="1800" spc="-434">
                <a:latin typeface="Arial"/>
                <a:cs typeface="Arial"/>
              </a:rPr>
              <a:t>ل</a:t>
            </a:r>
            <a:r>
              <a:rPr dirty="0" baseline="10802" sz="2700" spc="-652">
                <a:latin typeface="Arial"/>
                <a:cs typeface="Arial"/>
              </a:rPr>
              <a:t>ْ </a:t>
            </a:r>
            <a:r>
              <a:rPr dirty="0" baseline="13888" sz="2700">
                <a:latin typeface="Arial"/>
                <a:cs typeface="Arial"/>
              </a:rPr>
              <a:t>َ</a:t>
            </a:r>
            <a:r>
              <a:rPr dirty="0" sz="1800">
                <a:latin typeface="Arial"/>
                <a:cs typeface="Arial"/>
              </a:rPr>
              <a:t>أ</a:t>
            </a:r>
            <a:endParaRPr sz="1800">
              <a:latin typeface="Arial"/>
              <a:cs typeface="Arial"/>
            </a:endParaRPr>
          </a:p>
          <a:p>
            <a:pPr algn="just" marL="152400" marR="186690">
              <a:lnSpc>
                <a:spcPct val="95900"/>
              </a:lnSpc>
              <a:spcBef>
                <a:spcPts val="1200"/>
              </a:spcBef>
            </a:pPr>
            <a:r>
              <a:rPr dirty="0" sz="1200" spc="-5">
                <a:latin typeface="Arial"/>
                <a:cs typeface="Arial"/>
              </a:rPr>
              <a:t>And from his narration on </a:t>
            </a:r>
            <a:r>
              <a:rPr dirty="0" sz="1200">
                <a:latin typeface="Arial"/>
                <a:cs typeface="Arial"/>
              </a:rPr>
              <a:t>the </a:t>
            </a:r>
            <a:r>
              <a:rPr dirty="0" sz="1200" spc="-5">
                <a:latin typeface="Arial"/>
                <a:cs typeface="Arial"/>
              </a:rPr>
              <a:t>authority </a:t>
            </a:r>
            <a:r>
              <a:rPr dirty="0" sz="1200">
                <a:latin typeface="Arial"/>
                <a:cs typeface="Arial"/>
              </a:rPr>
              <a:t>of </a:t>
            </a:r>
            <a:r>
              <a:rPr dirty="0" sz="1200" spc="-10">
                <a:latin typeface="Arial"/>
                <a:cs typeface="Arial"/>
              </a:rPr>
              <a:t>Ibn </a:t>
            </a:r>
            <a:r>
              <a:rPr dirty="0" sz="1200" spc="-5">
                <a:latin typeface="Arial"/>
                <a:cs typeface="Arial"/>
              </a:rPr>
              <a:t>'Abbas that he said about the interpretation of  Allah's saying (Rivalry in worldly increase distracts you): '(Rivalry in worldly increase distracts  you) He says: bragging </a:t>
            </a:r>
            <a:r>
              <a:rPr dirty="0" sz="1200">
                <a:latin typeface="Arial"/>
                <a:cs typeface="Arial"/>
              </a:rPr>
              <a:t>about </a:t>
            </a:r>
            <a:r>
              <a:rPr dirty="0" sz="1200" spc="-5">
                <a:latin typeface="Arial"/>
                <a:cs typeface="Arial"/>
              </a:rPr>
              <a:t>your </a:t>
            </a:r>
            <a:r>
              <a:rPr dirty="0" sz="1200">
                <a:latin typeface="Arial"/>
                <a:cs typeface="Arial"/>
              </a:rPr>
              <a:t>status </a:t>
            </a:r>
            <a:r>
              <a:rPr dirty="0" sz="1200" spc="-5">
                <a:latin typeface="Arial"/>
                <a:cs typeface="Arial"/>
              </a:rPr>
              <a:t>and lineage has distracted</a:t>
            </a:r>
            <a:r>
              <a:rPr dirty="0" sz="1200" spc="15">
                <a:latin typeface="Arial"/>
                <a:cs typeface="Arial"/>
              </a:rPr>
              <a:t> </a:t>
            </a:r>
            <a:r>
              <a:rPr dirty="0" sz="1200" spc="-5">
                <a:latin typeface="Arial"/>
                <a:cs typeface="Arial"/>
              </a:rPr>
              <a:t>you</a:t>
            </a:r>
            <a:endParaRPr sz="1200">
              <a:latin typeface="Arial"/>
              <a:cs typeface="Arial"/>
            </a:endParaRPr>
          </a:p>
          <a:p>
            <a:pPr>
              <a:lnSpc>
                <a:spcPct val="100000"/>
              </a:lnSpc>
              <a:spcBef>
                <a:spcPts val="15"/>
              </a:spcBef>
            </a:pPr>
            <a:endParaRPr sz="1100">
              <a:latin typeface="Arial"/>
              <a:cs typeface="Arial"/>
            </a:endParaRPr>
          </a:p>
          <a:p>
            <a:pPr algn="r" marR="274320">
              <a:lnSpc>
                <a:spcPct val="100000"/>
              </a:lnSpc>
              <a:spcBef>
                <a:spcPts val="5"/>
              </a:spcBef>
            </a:pPr>
            <a:r>
              <a:rPr dirty="0" sz="1800" spc="-330">
                <a:latin typeface="Arial"/>
                <a:cs typeface="Arial"/>
              </a:rPr>
              <a:t>ر</a:t>
            </a:r>
            <a:r>
              <a:rPr dirty="0" baseline="-3086" sz="2700" spc="-494">
                <a:latin typeface="Arial"/>
                <a:cs typeface="Arial"/>
              </a:rPr>
              <a:t>َ </a:t>
            </a:r>
            <a:r>
              <a:rPr dirty="0" sz="1800" spc="-640">
                <a:latin typeface="Arial"/>
                <a:cs typeface="Arial"/>
              </a:rPr>
              <a:t>ب</a:t>
            </a:r>
            <a:r>
              <a:rPr dirty="0" baseline="-13888" sz="2700" spc="-960">
                <a:latin typeface="Arial"/>
                <a:cs typeface="Arial"/>
              </a:rPr>
              <a:t>ِ</a:t>
            </a:r>
            <a:r>
              <a:rPr dirty="0" baseline="-13888" sz="2700" spc="-112">
                <a:latin typeface="Arial"/>
                <a:cs typeface="Arial"/>
              </a:rPr>
              <a:t> </a:t>
            </a:r>
            <a:r>
              <a:rPr dirty="0" sz="1800" spc="-325">
                <a:latin typeface="Arial"/>
                <a:cs typeface="Arial"/>
              </a:rPr>
              <a:t>اق</a:t>
            </a:r>
            <a:r>
              <a:rPr dirty="0" baseline="4629" sz="2700" spc="-487">
                <a:latin typeface="Arial"/>
                <a:cs typeface="Arial"/>
              </a:rPr>
              <a:t>َ </a:t>
            </a:r>
            <a:r>
              <a:rPr dirty="0" sz="1800" spc="-240">
                <a:latin typeface="Arial"/>
                <a:cs typeface="Arial"/>
              </a:rPr>
              <a:t>م</a:t>
            </a:r>
            <a:r>
              <a:rPr dirty="0" baseline="-3086" sz="2700" spc="-359">
                <a:latin typeface="Arial"/>
                <a:cs typeface="Arial"/>
              </a:rPr>
              <a:t>َ </a:t>
            </a:r>
            <a:r>
              <a:rPr dirty="0" sz="1800" spc="-434">
                <a:latin typeface="Arial"/>
                <a:cs typeface="Arial"/>
              </a:rPr>
              <a:t>ل</a:t>
            </a:r>
            <a:r>
              <a:rPr dirty="0" baseline="10802" sz="2700" spc="-652">
                <a:latin typeface="Arial"/>
                <a:cs typeface="Arial"/>
              </a:rPr>
              <a:t>ْ </a:t>
            </a:r>
            <a:r>
              <a:rPr dirty="0" sz="1800">
                <a:latin typeface="Arial"/>
                <a:cs typeface="Arial"/>
              </a:rPr>
              <a:t>ٱ </a:t>
            </a:r>
            <a:r>
              <a:rPr dirty="0" sz="1800" spc="-285">
                <a:latin typeface="Arial"/>
                <a:cs typeface="Arial"/>
              </a:rPr>
              <a:t>م</a:t>
            </a:r>
            <a:r>
              <a:rPr dirty="0" baseline="-6172" sz="2700" spc="-427">
                <a:latin typeface="Arial"/>
                <a:cs typeface="Arial"/>
              </a:rPr>
              <a:t>ُ </a:t>
            </a:r>
            <a:r>
              <a:rPr dirty="0" sz="1800" spc="-620">
                <a:latin typeface="Arial"/>
                <a:cs typeface="Arial"/>
              </a:rPr>
              <a:t>ت</a:t>
            </a:r>
            <a:r>
              <a:rPr dirty="0" baseline="7716" sz="2700" spc="-930">
                <a:latin typeface="Arial"/>
                <a:cs typeface="Arial"/>
              </a:rPr>
              <a:t>ُ</a:t>
            </a:r>
            <a:r>
              <a:rPr dirty="0" baseline="7716" sz="2700" spc="-165">
                <a:latin typeface="Arial"/>
                <a:cs typeface="Arial"/>
              </a:rPr>
              <a:t> </a:t>
            </a:r>
            <a:r>
              <a:rPr dirty="0" sz="1800" spc="-305">
                <a:latin typeface="Arial"/>
                <a:cs typeface="Arial"/>
              </a:rPr>
              <a:t>رْ </a:t>
            </a:r>
            <a:r>
              <a:rPr dirty="0" sz="1800" spc="-350">
                <a:latin typeface="Arial"/>
                <a:cs typeface="Arial"/>
              </a:rPr>
              <a:t>ز</a:t>
            </a:r>
            <a:r>
              <a:rPr dirty="0" baseline="7716" sz="2700" spc="-525">
                <a:latin typeface="Arial"/>
                <a:cs typeface="Arial"/>
              </a:rPr>
              <a:t>ُ </a:t>
            </a:r>
            <a:r>
              <a:rPr dirty="0" sz="1800" spc="-355">
                <a:latin typeface="Arial"/>
                <a:cs typeface="Arial"/>
              </a:rPr>
              <a:t>ى</a:t>
            </a:r>
            <a:r>
              <a:rPr dirty="0" baseline="4629" sz="2700" spc="-532">
                <a:latin typeface="Arial"/>
                <a:cs typeface="Arial"/>
              </a:rPr>
              <a:t>ٰ </a:t>
            </a:r>
            <a:r>
              <a:rPr dirty="0" sz="1800" spc="-405">
                <a:latin typeface="Arial"/>
                <a:cs typeface="Arial"/>
              </a:rPr>
              <a:t>ت</a:t>
            </a:r>
            <a:r>
              <a:rPr dirty="0" baseline="7716" sz="2700" spc="-607">
                <a:latin typeface="Arial"/>
                <a:cs typeface="Arial"/>
              </a:rPr>
              <a:t>َّ</a:t>
            </a:r>
            <a:r>
              <a:rPr dirty="0" baseline="7716" sz="2700" spc="-502">
                <a:latin typeface="Arial"/>
                <a:cs typeface="Arial"/>
              </a:rPr>
              <a:t> </a:t>
            </a:r>
            <a:r>
              <a:rPr dirty="0" sz="1800" spc="-790">
                <a:latin typeface="Arial"/>
                <a:cs typeface="Arial"/>
              </a:rPr>
              <a:t>ح</a:t>
            </a:r>
            <a:endParaRPr sz="1800">
              <a:latin typeface="Arial"/>
              <a:cs typeface="Arial"/>
            </a:endParaRPr>
          </a:p>
          <a:p>
            <a:pPr algn="just" marL="152400" marR="184785">
              <a:lnSpc>
                <a:spcPts val="1380"/>
              </a:lnSpc>
              <a:spcBef>
                <a:spcPts val="1245"/>
              </a:spcBef>
            </a:pPr>
            <a:r>
              <a:rPr dirty="0" sz="1200" spc="-5">
                <a:latin typeface="Arial"/>
                <a:cs typeface="Arial"/>
              </a:rPr>
              <a:t>(Until </a:t>
            </a:r>
            <a:r>
              <a:rPr dirty="0" sz="1200" spc="-10">
                <a:latin typeface="Arial"/>
                <a:cs typeface="Arial"/>
              </a:rPr>
              <a:t>ye </a:t>
            </a:r>
            <a:r>
              <a:rPr dirty="0" sz="1200">
                <a:latin typeface="Arial"/>
                <a:cs typeface="Arial"/>
              </a:rPr>
              <a:t>come </a:t>
            </a:r>
            <a:r>
              <a:rPr dirty="0" sz="1200" spc="-5">
                <a:latin typeface="Arial"/>
                <a:cs typeface="Arial"/>
              </a:rPr>
              <a:t>to the graves) </a:t>
            </a:r>
            <a:r>
              <a:rPr dirty="0" sz="1200">
                <a:latin typeface="Arial"/>
                <a:cs typeface="Arial"/>
              </a:rPr>
              <a:t>this </a:t>
            </a:r>
            <a:r>
              <a:rPr dirty="0" sz="1200" spc="-5">
                <a:latin typeface="Arial"/>
                <a:cs typeface="Arial"/>
              </a:rPr>
              <a:t>is because the Banu Sahm and Banu 'Abd </a:t>
            </a:r>
            <a:r>
              <a:rPr dirty="0" sz="1200" spc="-10">
                <a:latin typeface="Arial"/>
                <a:cs typeface="Arial"/>
              </a:rPr>
              <a:t>Manaf were  </a:t>
            </a:r>
            <a:r>
              <a:rPr dirty="0" sz="1200" spc="-5">
                <a:latin typeface="Arial"/>
                <a:cs typeface="Arial"/>
              </a:rPr>
              <a:t>bragging </a:t>
            </a:r>
            <a:r>
              <a:rPr dirty="0" sz="1200">
                <a:latin typeface="Arial"/>
                <a:cs typeface="Arial"/>
              </a:rPr>
              <a:t>to </a:t>
            </a:r>
            <a:r>
              <a:rPr dirty="0" sz="1200" spc="-5">
                <a:latin typeface="Arial"/>
                <a:cs typeface="Arial"/>
              </a:rPr>
              <a:t>each other about which tribe is larger as </a:t>
            </a:r>
            <a:r>
              <a:rPr dirty="0" sz="1200">
                <a:latin typeface="Arial"/>
                <a:cs typeface="Arial"/>
              </a:rPr>
              <a:t>concerns the </a:t>
            </a:r>
            <a:r>
              <a:rPr dirty="0" sz="1200" spc="-5">
                <a:latin typeface="Arial"/>
                <a:cs typeface="Arial"/>
              </a:rPr>
              <a:t>number of </a:t>
            </a:r>
            <a:r>
              <a:rPr dirty="0" sz="1200">
                <a:latin typeface="Arial"/>
                <a:cs typeface="Arial"/>
              </a:rPr>
              <a:t>its </a:t>
            </a:r>
            <a:r>
              <a:rPr dirty="0" sz="1200" spc="-5">
                <a:latin typeface="Arial"/>
                <a:cs typeface="Arial"/>
              </a:rPr>
              <a:t>population,  and found out that </a:t>
            </a:r>
            <a:r>
              <a:rPr dirty="0" sz="1200">
                <a:latin typeface="Arial"/>
                <a:cs typeface="Arial"/>
              </a:rPr>
              <a:t>the </a:t>
            </a:r>
            <a:r>
              <a:rPr dirty="0" sz="1200" spc="-5">
                <a:latin typeface="Arial"/>
                <a:cs typeface="Arial"/>
              </a:rPr>
              <a:t>Banu 'Abd Manaf were </a:t>
            </a:r>
            <a:r>
              <a:rPr dirty="0" sz="1200">
                <a:latin typeface="Arial"/>
                <a:cs typeface="Arial"/>
              </a:rPr>
              <a:t>more </a:t>
            </a:r>
            <a:r>
              <a:rPr dirty="0" sz="1200" spc="-5">
                <a:latin typeface="Arial"/>
                <a:cs typeface="Arial"/>
              </a:rPr>
              <a:t>numerous. The Banu </a:t>
            </a:r>
            <a:r>
              <a:rPr dirty="0" sz="1200" spc="-10">
                <a:latin typeface="Arial"/>
                <a:cs typeface="Arial"/>
              </a:rPr>
              <a:t>Sahm </a:t>
            </a:r>
            <a:r>
              <a:rPr dirty="0" sz="1200" spc="-5">
                <a:latin typeface="Arial"/>
                <a:cs typeface="Arial"/>
              </a:rPr>
              <a:t>said </a:t>
            </a:r>
            <a:r>
              <a:rPr dirty="0" sz="1200">
                <a:latin typeface="Arial"/>
                <a:cs typeface="Arial"/>
              </a:rPr>
              <a:t>at </a:t>
            </a:r>
            <a:r>
              <a:rPr dirty="0" sz="1200" spc="-5">
                <a:latin typeface="Arial"/>
                <a:cs typeface="Arial"/>
              </a:rPr>
              <a:t>that  point: </a:t>
            </a:r>
            <a:r>
              <a:rPr dirty="0" sz="1200" spc="-270">
                <a:latin typeface="Arial"/>
                <a:cs typeface="Arial"/>
              </a:rPr>
              <a:t>―We </a:t>
            </a:r>
            <a:r>
              <a:rPr dirty="0" sz="1200" spc="-5">
                <a:latin typeface="Arial"/>
                <a:cs typeface="Arial"/>
              </a:rPr>
              <a:t>were rooted </a:t>
            </a:r>
            <a:r>
              <a:rPr dirty="0" sz="1200">
                <a:latin typeface="Arial"/>
                <a:cs typeface="Arial"/>
              </a:rPr>
              <a:t>out by </a:t>
            </a:r>
            <a:r>
              <a:rPr dirty="0" sz="1200" spc="-5">
                <a:latin typeface="Arial"/>
                <a:cs typeface="Arial"/>
              </a:rPr>
              <a:t>injustice in the pagan era; go </a:t>
            </a:r>
            <a:r>
              <a:rPr dirty="0" sz="1200">
                <a:latin typeface="Arial"/>
                <a:cs typeface="Arial"/>
              </a:rPr>
              <a:t>and </a:t>
            </a:r>
            <a:r>
              <a:rPr dirty="0" sz="1200" spc="-5">
                <a:latin typeface="Arial"/>
                <a:cs typeface="Arial"/>
              </a:rPr>
              <a:t>count the </a:t>
            </a:r>
            <a:r>
              <a:rPr dirty="0" sz="1200" spc="-10">
                <a:latin typeface="Arial"/>
                <a:cs typeface="Arial"/>
              </a:rPr>
              <a:t>living </a:t>
            </a:r>
            <a:r>
              <a:rPr dirty="0" sz="1200">
                <a:latin typeface="Arial"/>
                <a:cs typeface="Arial"/>
              </a:rPr>
              <a:t>and the </a:t>
            </a:r>
            <a:r>
              <a:rPr dirty="0" sz="1200" spc="-5">
                <a:latin typeface="Arial"/>
                <a:cs typeface="Arial"/>
              </a:rPr>
              <a:t>dead  of our people and the living and the dead </a:t>
            </a:r>
            <a:r>
              <a:rPr dirty="0" sz="1200" spc="10">
                <a:latin typeface="Arial"/>
                <a:cs typeface="Arial"/>
              </a:rPr>
              <a:t>of </a:t>
            </a:r>
            <a:r>
              <a:rPr dirty="0" sz="1200" spc="-5">
                <a:latin typeface="Arial"/>
                <a:cs typeface="Arial"/>
              </a:rPr>
              <a:t>your </a:t>
            </a:r>
            <a:r>
              <a:rPr dirty="0" sz="1200" spc="-15">
                <a:latin typeface="Arial"/>
                <a:cs typeface="Arial"/>
              </a:rPr>
              <a:t>people‖. </a:t>
            </a:r>
            <a:r>
              <a:rPr dirty="0" sz="1200" spc="5">
                <a:latin typeface="Arial"/>
                <a:cs typeface="Arial"/>
              </a:rPr>
              <a:t>When </a:t>
            </a:r>
            <a:r>
              <a:rPr dirty="0" sz="1200" spc="-5">
                <a:latin typeface="Arial"/>
                <a:cs typeface="Arial"/>
              </a:rPr>
              <a:t>they did </a:t>
            </a:r>
            <a:r>
              <a:rPr dirty="0" sz="1200">
                <a:latin typeface="Arial"/>
                <a:cs typeface="Arial"/>
              </a:rPr>
              <a:t>so </a:t>
            </a:r>
            <a:r>
              <a:rPr dirty="0" sz="1200" spc="-5">
                <a:latin typeface="Arial"/>
                <a:cs typeface="Arial"/>
              </a:rPr>
              <a:t>they </a:t>
            </a:r>
            <a:r>
              <a:rPr dirty="0" sz="1200">
                <a:latin typeface="Arial"/>
                <a:cs typeface="Arial"/>
              </a:rPr>
              <a:t>found </a:t>
            </a:r>
            <a:r>
              <a:rPr dirty="0" sz="1200" spc="-10">
                <a:latin typeface="Arial"/>
                <a:cs typeface="Arial"/>
              </a:rPr>
              <a:t>out  </a:t>
            </a:r>
            <a:r>
              <a:rPr dirty="0" sz="1200">
                <a:latin typeface="Arial"/>
                <a:cs typeface="Arial"/>
              </a:rPr>
              <a:t>that the </a:t>
            </a:r>
            <a:r>
              <a:rPr dirty="0" sz="1200" spc="-5">
                <a:latin typeface="Arial"/>
                <a:cs typeface="Arial"/>
              </a:rPr>
              <a:t>Banu Sahm </a:t>
            </a:r>
            <a:r>
              <a:rPr dirty="0" sz="1200" spc="-10">
                <a:latin typeface="Arial"/>
                <a:cs typeface="Arial"/>
              </a:rPr>
              <a:t>was </a:t>
            </a:r>
            <a:r>
              <a:rPr dirty="0" sz="1200" spc="-5">
                <a:latin typeface="Arial"/>
                <a:cs typeface="Arial"/>
              </a:rPr>
              <a:t>more</a:t>
            </a:r>
            <a:r>
              <a:rPr dirty="0" sz="1200" spc="5">
                <a:latin typeface="Arial"/>
                <a:cs typeface="Arial"/>
              </a:rPr>
              <a:t> </a:t>
            </a:r>
            <a:r>
              <a:rPr dirty="0" sz="1200" spc="-5">
                <a:latin typeface="Arial"/>
                <a:cs typeface="Arial"/>
              </a:rPr>
              <a:t>numerous.</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74</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695441" y="432307"/>
            <a:ext cx="1373505" cy="675005"/>
          </a:xfrm>
          <a:prstGeom prst="rect">
            <a:avLst/>
          </a:prstGeom>
        </p:spPr>
        <p:txBody>
          <a:bodyPr wrap="square" lIns="0" tIns="12700" rIns="0" bIns="0" rtlCol="0" vert="horz">
            <a:spAutoFit/>
          </a:bodyPr>
          <a:lstStyle/>
          <a:p>
            <a:pPr marL="87630">
              <a:lnSpc>
                <a:spcPct val="100000"/>
              </a:lnSpc>
              <a:spcBef>
                <a:spcPts val="100"/>
              </a:spcBef>
            </a:pPr>
            <a:r>
              <a:rPr dirty="0" sz="1200" spc="-5" b="1">
                <a:latin typeface="Times New Roman"/>
                <a:cs typeface="Times New Roman"/>
              </a:rPr>
              <a:t>Syllabus</a:t>
            </a:r>
            <a:r>
              <a:rPr dirty="0" sz="1200" spc="-10" b="1">
                <a:latin typeface="Times New Roman"/>
                <a:cs typeface="Times New Roman"/>
              </a:rPr>
              <a:t>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marL="63500">
              <a:lnSpc>
                <a:spcPct val="100000"/>
              </a:lnSpc>
            </a:pPr>
            <a:r>
              <a:rPr dirty="0" baseline="3086" sz="2700" spc="-494">
                <a:latin typeface="Arial"/>
                <a:cs typeface="Arial"/>
              </a:rPr>
              <a:t>ن</a:t>
            </a:r>
            <a:r>
              <a:rPr dirty="0" sz="1800" spc="-330">
                <a:latin typeface="Arial"/>
                <a:cs typeface="Arial"/>
              </a:rPr>
              <a:t>َ </a:t>
            </a:r>
            <a:r>
              <a:rPr dirty="0" baseline="3086" sz="2700" spc="-270">
                <a:latin typeface="Arial"/>
                <a:cs typeface="Arial"/>
              </a:rPr>
              <a:t>ومُ </a:t>
            </a:r>
            <a:r>
              <a:rPr dirty="0" baseline="10802" sz="2700" spc="-487">
                <a:latin typeface="Arial"/>
                <a:cs typeface="Arial"/>
              </a:rPr>
              <a:t>َ</a:t>
            </a:r>
            <a:r>
              <a:rPr dirty="0" baseline="3086" sz="2700" spc="-487">
                <a:latin typeface="Arial"/>
                <a:cs typeface="Arial"/>
              </a:rPr>
              <a:t>لعْ </a:t>
            </a:r>
            <a:r>
              <a:rPr dirty="0" baseline="3086" sz="2700" spc="-892">
                <a:latin typeface="Arial"/>
                <a:cs typeface="Arial"/>
              </a:rPr>
              <a:t>ت</a:t>
            </a:r>
            <a:r>
              <a:rPr dirty="0" baseline="7716" sz="2700" spc="-892">
                <a:latin typeface="Arial"/>
                <a:cs typeface="Arial"/>
              </a:rPr>
              <a:t>َ</a:t>
            </a:r>
            <a:r>
              <a:rPr dirty="0" baseline="7716" sz="2700" spc="517">
                <a:latin typeface="Arial"/>
                <a:cs typeface="Arial"/>
              </a:rPr>
              <a:t> </a:t>
            </a:r>
            <a:r>
              <a:rPr dirty="0" baseline="3086" sz="2700" spc="-630">
                <a:latin typeface="Arial"/>
                <a:cs typeface="Arial"/>
              </a:rPr>
              <a:t>ؾ</a:t>
            </a:r>
            <a:r>
              <a:rPr dirty="0" sz="1800" spc="-420">
                <a:latin typeface="Arial"/>
                <a:cs typeface="Arial"/>
              </a:rPr>
              <a:t>َ </a:t>
            </a:r>
            <a:r>
              <a:rPr dirty="0" baseline="3086" sz="2700" spc="-270">
                <a:latin typeface="Arial"/>
                <a:cs typeface="Arial"/>
              </a:rPr>
              <a:t>وْ</a:t>
            </a:r>
            <a:r>
              <a:rPr dirty="0" baseline="3086" sz="2700" spc="-419">
                <a:latin typeface="Arial"/>
                <a:cs typeface="Arial"/>
              </a:rPr>
              <a:t> </a:t>
            </a:r>
            <a:r>
              <a:rPr dirty="0" baseline="3086" sz="2700" spc="-982">
                <a:latin typeface="Arial"/>
                <a:cs typeface="Arial"/>
              </a:rPr>
              <a:t>س</a:t>
            </a:r>
            <a:r>
              <a:rPr dirty="0" sz="1800" spc="-655">
                <a:latin typeface="Arial"/>
                <a:cs typeface="Arial"/>
              </a:rPr>
              <a:t>َ</a:t>
            </a:r>
            <a:r>
              <a:rPr dirty="0" sz="1800" spc="740">
                <a:latin typeface="Arial"/>
                <a:cs typeface="Arial"/>
              </a:rPr>
              <a:t> </a:t>
            </a:r>
            <a:r>
              <a:rPr dirty="0" baseline="12345" sz="2700" spc="-352">
                <a:latin typeface="Arial"/>
                <a:cs typeface="Arial"/>
              </a:rPr>
              <a:t>َّ</a:t>
            </a:r>
            <a:r>
              <a:rPr dirty="0" baseline="3086" sz="2700" spc="-352">
                <a:latin typeface="Arial"/>
                <a:cs typeface="Arial"/>
              </a:rPr>
              <a:t>لاك</a:t>
            </a:r>
            <a:endParaRPr baseline="3086" sz="2700">
              <a:latin typeface="Arial"/>
              <a:cs typeface="Arial"/>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28319" y="1214373"/>
            <a:ext cx="6679565" cy="8550275"/>
          </a:xfrm>
          <a:prstGeom prst="rect">
            <a:avLst/>
          </a:prstGeom>
        </p:spPr>
        <p:txBody>
          <a:bodyPr wrap="square" lIns="0" tIns="24765" rIns="0" bIns="0" rtlCol="0" vert="horz">
            <a:spAutoFit/>
          </a:bodyPr>
          <a:lstStyle/>
          <a:p>
            <a:pPr algn="just" marL="203200" marR="191770">
              <a:lnSpc>
                <a:spcPts val="1380"/>
              </a:lnSpc>
              <a:spcBef>
                <a:spcPts val="195"/>
              </a:spcBef>
            </a:pPr>
            <a:r>
              <a:rPr dirty="0" sz="1200" spc="-10">
                <a:latin typeface="Arial"/>
                <a:cs typeface="Arial"/>
              </a:rPr>
              <a:t>(Nay) </a:t>
            </a:r>
            <a:r>
              <a:rPr dirty="0" sz="1200">
                <a:latin typeface="Arial"/>
                <a:cs typeface="Arial"/>
              </a:rPr>
              <a:t>this </a:t>
            </a:r>
            <a:r>
              <a:rPr dirty="0" sz="1200" spc="-5">
                <a:latin typeface="Arial"/>
                <a:cs typeface="Arial"/>
              </a:rPr>
              <a:t>is a reply and threat to them, (but </a:t>
            </a:r>
            <a:r>
              <a:rPr dirty="0" sz="1200" spc="-10">
                <a:latin typeface="Arial"/>
                <a:cs typeface="Arial"/>
              </a:rPr>
              <a:t>ye will </a:t>
            </a:r>
            <a:r>
              <a:rPr dirty="0" sz="1200">
                <a:latin typeface="Arial"/>
                <a:cs typeface="Arial"/>
              </a:rPr>
              <a:t>come to </a:t>
            </a:r>
            <a:r>
              <a:rPr dirty="0" sz="1200" spc="-10">
                <a:latin typeface="Arial"/>
                <a:cs typeface="Arial"/>
              </a:rPr>
              <a:t>know) </a:t>
            </a:r>
            <a:r>
              <a:rPr dirty="0" sz="1200">
                <a:latin typeface="Arial"/>
                <a:cs typeface="Arial"/>
              </a:rPr>
              <a:t>what </a:t>
            </a:r>
            <a:r>
              <a:rPr dirty="0" sz="1200" spc="-10">
                <a:latin typeface="Arial"/>
                <a:cs typeface="Arial"/>
              </a:rPr>
              <a:t>will </a:t>
            </a:r>
            <a:r>
              <a:rPr dirty="0" sz="1200" spc="-5">
                <a:latin typeface="Arial"/>
                <a:cs typeface="Arial"/>
              </a:rPr>
              <a:t>be done to </a:t>
            </a:r>
            <a:r>
              <a:rPr dirty="0" sz="1200" spc="-10">
                <a:latin typeface="Arial"/>
                <a:cs typeface="Arial"/>
              </a:rPr>
              <a:t>you </a:t>
            </a:r>
            <a:r>
              <a:rPr dirty="0" sz="1200" spc="-5">
                <a:latin typeface="Arial"/>
                <a:cs typeface="Arial"/>
              </a:rPr>
              <a:t>in  </a:t>
            </a:r>
            <a:r>
              <a:rPr dirty="0" sz="1200">
                <a:latin typeface="Arial"/>
                <a:cs typeface="Arial"/>
              </a:rPr>
              <a:t>the</a:t>
            </a:r>
            <a:r>
              <a:rPr dirty="0" sz="1200" spc="-5">
                <a:latin typeface="Arial"/>
                <a:cs typeface="Arial"/>
              </a:rPr>
              <a:t> graves!</a:t>
            </a:r>
            <a:endParaRPr sz="1200">
              <a:latin typeface="Arial"/>
              <a:cs typeface="Arial"/>
            </a:endParaRPr>
          </a:p>
          <a:p>
            <a:pPr>
              <a:lnSpc>
                <a:spcPct val="100000"/>
              </a:lnSpc>
              <a:spcBef>
                <a:spcPts val="40"/>
              </a:spcBef>
            </a:pPr>
            <a:endParaRPr sz="1050">
              <a:latin typeface="Arial"/>
              <a:cs typeface="Arial"/>
            </a:endParaRPr>
          </a:p>
          <a:p>
            <a:pPr algn="r" marR="232410">
              <a:lnSpc>
                <a:spcPct val="100000"/>
              </a:lnSpc>
            </a:pPr>
            <a:r>
              <a:rPr dirty="0" sz="1800" spc="-330">
                <a:latin typeface="Arial"/>
                <a:cs typeface="Arial"/>
              </a:rPr>
              <a:t>ن</a:t>
            </a:r>
            <a:r>
              <a:rPr dirty="0" baseline="-3086" sz="2700" spc="-494">
                <a:latin typeface="Arial"/>
                <a:cs typeface="Arial"/>
              </a:rPr>
              <a:t>َ </a:t>
            </a:r>
            <a:r>
              <a:rPr dirty="0" sz="1800" spc="-180">
                <a:latin typeface="Arial"/>
                <a:cs typeface="Arial"/>
              </a:rPr>
              <a:t>ومُ </a:t>
            </a:r>
            <a:r>
              <a:rPr dirty="0" baseline="7716" sz="2700" spc="-487">
                <a:latin typeface="Arial"/>
                <a:cs typeface="Arial"/>
              </a:rPr>
              <a:t>َ</a:t>
            </a:r>
            <a:r>
              <a:rPr dirty="0" sz="1800" spc="-325">
                <a:latin typeface="Arial"/>
                <a:cs typeface="Arial"/>
              </a:rPr>
              <a:t>لعْ </a:t>
            </a:r>
            <a:r>
              <a:rPr dirty="0" sz="1800" spc="-595">
                <a:latin typeface="Arial"/>
                <a:cs typeface="Arial"/>
              </a:rPr>
              <a:t>ت</a:t>
            </a:r>
            <a:r>
              <a:rPr dirty="0" baseline="4629" sz="2700" spc="-892">
                <a:latin typeface="Arial"/>
                <a:cs typeface="Arial"/>
              </a:rPr>
              <a:t>َ</a:t>
            </a:r>
            <a:r>
              <a:rPr dirty="0" baseline="4629" sz="2700" spc="517">
                <a:latin typeface="Arial"/>
                <a:cs typeface="Arial"/>
              </a:rPr>
              <a:t> </a:t>
            </a:r>
            <a:r>
              <a:rPr dirty="0" sz="1800" spc="-420">
                <a:latin typeface="Arial"/>
                <a:cs typeface="Arial"/>
              </a:rPr>
              <a:t>ؾ</a:t>
            </a:r>
            <a:r>
              <a:rPr dirty="0" baseline="-3086" sz="2700" spc="-630">
                <a:latin typeface="Arial"/>
                <a:cs typeface="Arial"/>
              </a:rPr>
              <a:t>َ </a:t>
            </a:r>
            <a:r>
              <a:rPr dirty="0" sz="1800" spc="-180">
                <a:latin typeface="Arial"/>
                <a:cs typeface="Arial"/>
              </a:rPr>
              <a:t>وْ </a:t>
            </a:r>
            <a:r>
              <a:rPr dirty="0" sz="1800" spc="-660">
                <a:latin typeface="Arial"/>
                <a:cs typeface="Arial"/>
              </a:rPr>
              <a:t>س</a:t>
            </a:r>
            <a:r>
              <a:rPr dirty="0" baseline="-3086" sz="2700" spc="-989">
                <a:latin typeface="Arial"/>
                <a:cs typeface="Arial"/>
              </a:rPr>
              <a:t>َ</a:t>
            </a:r>
            <a:r>
              <a:rPr dirty="0" baseline="-3086" sz="2700" spc="1102">
                <a:latin typeface="Arial"/>
                <a:cs typeface="Arial"/>
              </a:rPr>
              <a:t> </a:t>
            </a:r>
            <a:r>
              <a:rPr dirty="0" baseline="9259" sz="2700" spc="-292">
                <a:latin typeface="Arial"/>
                <a:cs typeface="Arial"/>
              </a:rPr>
              <a:t>َّ</a:t>
            </a:r>
            <a:r>
              <a:rPr dirty="0" sz="1800" spc="-195">
                <a:latin typeface="Arial"/>
                <a:cs typeface="Arial"/>
              </a:rPr>
              <a:t>لاك</a:t>
            </a:r>
            <a:r>
              <a:rPr dirty="0" baseline="4629" sz="2700" spc="-292">
                <a:latin typeface="Arial"/>
                <a:cs typeface="Arial"/>
              </a:rPr>
              <a:t>َ </a:t>
            </a:r>
            <a:r>
              <a:rPr dirty="0" sz="1800" spc="-180">
                <a:latin typeface="Arial"/>
                <a:cs typeface="Arial"/>
              </a:rPr>
              <a:t>م</a:t>
            </a:r>
            <a:r>
              <a:rPr dirty="0" baseline="-6172" sz="2700" spc="-270">
                <a:latin typeface="Arial"/>
                <a:cs typeface="Arial"/>
              </a:rPr>
              <a:t>َّ</a:t>
            </a:r>
            <a:r>
              <a:rPr dirty="0" baseline="-6172" sz="2700" spc="-322">
                <a:latin typeface="Arial"/>
                <a:cs typeface="Arial"/>
              </a:rPr>
              <a:t> </a:t>
            </a:r>
            <a:r>
              <a:rPr dirty="0" sz="1800" spc="-1240">
                <a:latin typeface="Arial"/>
                <a:cs typeface="Arial"/>
              </a:rPr>
              <a:t>ث</a:t>
            </a:r>
            <a:endParaRPr sz="1800">
              <a:latin typeface="Arial"/>
              <a:cs typeface="Arial"/>
            </a:endParaRPr>
          </a:p>
          <a:p>
            <a:pPr marL="203200">
              <a:lnSpc>
                <a:spcPct val="100000"/>
              </a:lnSpc>
              <a:spcBef>
                <a:spcPts val="1150"/>
              </a:spcBef>
            </a:pPr>
            <a:r>
              <a:rPr dirty="0" sz="1200" spc="-5">
                <a:latin typeface="Arial"/>
                <a:cs typeface="Arial"/>
              </a:rPr>
              <a:t>(Nay, but </a:t>
            </a:r>
            <a:r>
              <a:rPr dirty="0" sz="1200" spc="-10">
                <a:latin typeface="Arial"/>
                <a:cs typeface="Arial"/>
              </a:rPr>
              <a:t>ye </a:t>
            </a:r>
            <a:r>
              <a:rPr dirty="0" sz="1200" spc="-5">
                <a:latin typeface="Arial"/>
                <a:cs typeface="Arial"/>
              </a:rPr>
              <a:t>will </a:t>
            </a:r>
            <a:r>
              <a:rPr dirty="0" sz="1200">
                <a:latin typeface="Arial"/>
                <a:cs typeface="Arial"/>
              </a:rPr>
              <a:t>come to </a:t>
            </a:r>
            <a:r>
              <a:rPr dirty="0" sz="1200" spc="-5">
                <a:latin typeface="Arial"/>
                <a:cs typeface="Arial"/>
              </a:rPr>
              <a:t>know!) </a:t>
            </a:r>
            <a:r>
              <a:rPr dirty="0" sz="1200" spc="5">
                <a:latin typeface="Arial"/>
                <a:cs typeface="Arial"/>
              </a:rPr>
              <a:t>What </a:t>
            </a:r>
            <a:r>
              <a:rPr dirty="0" sz="1200" spc="-10">
                <a:latin typeface="Arial"/>
                <a:cs typeface="Arial"/>
              </a:rPr>
              <a:t>will </a:t>
            </a:r>
            <a:r>
              <a:rPr dirty="0" sz="1200" spc="-5">
                <a:latin typeface="Arial"/>
                <a:cs typeface="Arial"/>
              </a:rPr>
              <a:t>be done </a:t>
            </a:r>
            <a:r>
              <a:rPr dirty="0" sz="1200">
                <a:latin typeface="Arial"/>
                <a:cs typeface="Arial"/>
              </a:rPr>
              <a:t>to </a:t>
            </a:r>
            <a:r>
              <a:rPr dirty="0" sz="1200" spc="-5">
                <a:latin typeface="Arial"/>
                <a:cs typeface="Arial"/>
              </a:rPr>
              <a:t>you when you</a:t>
            </a:r>
            <a:r>
              <a:rPr dirty="0" sz="1200" spc="25">
                <a:latin typeface="Arial"/>
                <a:cs typeface="Arial"/>
              </a:rPr>
              <a:t> </a:t>
            </a:r>
            <a:r>
              <a:rPr dirty="0" sz="1200" spc="-5">
                <a:latin typeface="Arial"/>
                <a:cs typeface="Arial"/>
              </a:rPr>
              <a:t>die!</a:t>
            </a:r>
            <a:endParaRPr sz="1200">
              <a:latin typeface="Arial"/>
              <a:cs typeface="Arial"/>
            </a:endParaRPr>
          </a:p>
          <a:p>
            <a:pPr>
              <a:lnSpc>
                <a:spcPct val="100000"/>
              </a:lnSpc>
            </a:pPr>
            <a:endParaRPr sz="1200">
              <a:latin typeface="Arial"/>
              <a:cs typeface="Arial"/>
            </a:endParaRPr>
          </a:p>
          <a:p>
            <a:pPr algn="r" marR="255270">
              <a:lnSpc>
                <a:spcPct val="100000"/>
              </a:lnSpc>
            </a:pPr>
            <a:r>
              <a:rPr dirty="0" baseline="3086" sz="2700" spc="-607">
                <a:latin typeface="Arial"/>
                <a:cs typeface="Arial"/>
              </a:rPr>
              <a:t>ن</a:t>
            </a:r>
            <a:r>
              <a:rPr dirty="0" baseline="-10802" sz="2700" spc="-607">
                <a:latin typeface="Arial"/>
                <a:cs typeface="Arial"/>
              </a:rPr>
              <a:t>ِ</a:t>
            </a:r>
            <a:r>
              <a:rPr dirty="0" baseline="-10802" sz="2700" spc="-465">
                <a:latin typeface="Arial"/>
                <a:cs typeface="Arial"/>
              </a:rPr>
              <a:t> </a:t>
            </a:r>
            <a:r>
              <a:rPr dirty="0" baseline="3086" sz="2700" spc="-525">
                <a:latin typeface="Arial"/>
                <a:cs typeface="Arial"/>
              </a:rPr>
              <a:t>ٌق</a:t>
            </a:r>
            <a:r>
              <a:rPr dirty="0" baseline="1543" sz="2700" spc="-525">
                <a:latin typeface="Arial"/>
                <a:cs typeface="Arial"/>
              </a:rPr>
              <a:t>ِ </a:t>
            </a:r>
            <a:r>
              <a:rPr dirty="0" baseline="3086" sz="2700">
                <a:latin typeface="Arial"/>
                <a:cs typeface="Arial"/>
              </a:rPr>
              <a:t>ٌ</a:t>
            </a:r>
            <a:r>
              <a:rPr dirty="0" sz="1800">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390">
                <a:latin typeface="Arial"/>
                <a:cs typeface="Arial"/>
              </a:rPr>
              <a:t>م</a:t>
            </a:r>
            <a:r>
              <a:rPr dirty="0" baseline="-6172" sz="2700" spc="-390">
                <a:latin typeface="Arial"/>
                <a:cs typeface="Arial"/>
              </a:rPr>
              <a:t>َ </a:t>
            </a:r>
            <a:r>
              <a:rPr dirty="0" baseline="3086" sz="2700" spc="-660">
                <a:latin typeface="Arial"/>
                <a:cs typeface="Arial"/>
              </a:rPr>
              <a:t>ل</a:t>
            </a:r>
            <a:r>
              <a:rPr dirty="0" baseline="13888" sz="2700" spc="-660">
                <a:latin typeface="Arial"/>
                <a:cs typeface="Arial"/>
              </a:rPr>
              <a:t>ْ </a:t>
            </a:r>
            <a:r>
              <a:rPr dirty="0" baseline="3086" sz="2700" spc="-592">
                <a:latin typeface="Arial"/>
                <a:cs typeface="Arial"/>
              </a:rPr>
              <a:t>ع</a:t>
            </a:r>
            <a:r>
              <a:rPr dirty="0" baseline="1543" sz="2700" spc="-592">
                <a:latin typeface="Arial"/>
                <a:cs typeface="Arial"/>
              </a:rPr>
              <a:t>ِ </a:t>
            </a:r>
            <a:r>
              <a:rPr dirty="0" baseline="3086" sz="2700" spc="-494">
                <a:latin typeface="Arial"/>
                <a:cs typeface="Arial"/>
              </a:rPr>
              <a:t>ن</a:t>
            </a:r>
            <a:r>
              <a:rPr dirty="0" sz="1800" spc="-330">
                <a:latin typeface="Arial"/>
                <a:cs typeface="Arial"/>
              </a:rPr>
              <a:t>َ </a:t>
            </a:r>
            <a:r>
              <a:rPr dirty="0" baseline="3086" sz="2700" spc="-270">
                <a:latin typeface="Arial"/>
                <a:cs typeface="Arial"/>
              </a:rPr>
              <a:t>ومُ </a:t>
            </a:r>
            <a:r>
              <a:rPr dirty="0" baseline="10802" sz="2700" spc="-487">
                <a:latin typeface="Arial"/>
                <a:cs typeface="Arial"/>
              </a:rPr>
              <a:t>َ</a:t>
            </a:r>
            <a:r>
              <a:rPr dirty="0" baseline="3086" sz="2700" spc="-487">
                <a:latin typeface="Arial"/>
                <a:cs typeface="Arial"/>
              </a:rPr>
              <a:t>لعْ </a:t>
            </a:r>
            <a:r>
              <a:rPr dirty="0" baseline="3086" sz="2700" spc="-892">
                <a:latin typeface="Arial"/>
                <a:cs typeface="Arial"/>
              </a:rPr>
              <a:t>ت</a:t>
            </a:r>
            <a:r>
              <a:rPr dirty="0" baseline="7716" sz="2700" spc="-892">
                <a:latin typeface="Arial"/>
                <a:cs typeface="Arial"/>
              </a:rPr>
              <a:t>َ</a:t>
            </a:r>
            <a:r>
              <a:rPr dirty="0" baseline="7716" sz="2700" spc="517">
                <a:latin typeface="Arial"/>
                <a:cs typeface="Arial"/>
              </a:rPr>
              <a:t> </a:t>
            </a:r>
            <a:r>
              <a:rPr dirty="0" baseline="3086" sz="2700" spc="-270">
                <a:latin typeface="Arial"/>
                <a:cs typeface="Arial"/>
              </a:rPr>
              <a:t>وْ </a:t>
            </a:r>
            <a:r>
              <a:rPr dirty="0" baseline="10802" sz="2700" spc="-405">
                <a:latin typeface="Arial"/>
                <a:cs typeface="Arial"/>
              </a:rPr>
              <a:t>َ</a:t>
            </a:r>
            <a:r>
              <a:rPr dirty="0" baseline="3086" sz="2700" spc="-405">
                <a:latin typeface="Arial"/>
                <a:cs typeface="Arial"/>
              </a:rPr>
              <a:t>ل</a:t>
            </a:r>
            <a:r>
              <a:rPr dirty="0" baseline="3086" sz="2700" spc="-390">
                <a:latin typeface="Arial"/>
                <a:cs typeface="Arial"/>
              </a:rPr>
              <a:t> </a:t>
            </a:r>
            <a:r>
              <a:rPr dirty="0" baseline="12345" sz="2700" spc="-352">
                <a:latin typeface="Arial"/>
                <a:cs typeface="Arial"/>
              </a:rPr>
              <a:t>َّ</a:t>
            </a:r>
            <a:r>
              <a:rPr dirty="0" baseline="3086" sz="2700" spc="-352">
                <a:latin typeface="Arial"/>
                <a:cs typeface="Arial"/>
              </a:rPr>
              <a:t>لاك</a:t>
            </a:r>
            <a:endParaRPr baseline="3086" sz="2700">
              <a:latin typeface="Arial"/>
              <a:cs typeface="Arial"/>
            </a:endParaRPr>
          </a:p>
          <a:p>
            <a:pPr algn="just" marL="203200" marR="193040">
              <a:lnSpc>
                <a:spcPts val="1380"/>
              </a:lnSpc>
              <a:spcBef>
                <a:spcPts val="1140"/>
              </a:spcBef>
            </a:pPr>
            <a:r>
              <a:rPr dirty="0" sz="1200" spc="-5">
                <a:latin typeface="Arial"/>
                <a:cs typeface="Arial"/>
              </a:rPr>
              <a:t>(Nay, would </a:t>
            </a:r>
            <a:r>
              <a:rPr dirty="0" sz="1200">
                <a:latin typeface="Arial"/>
                <a:cs typeface="Arial"/>
              </a:rPr>
              <a:t>that </a:t>
            </a:r>
            <a:r>
              <a:rPr dirty="0" sz="1200" spc="-10">
                <a:latin typeface="Arial"/>
                <a:cs typeface="Arial"/>
              </a:rPr>
              <a:t>ye </a:t>
            </a:r>
            <a:r>
              <a:rPr dirty="0" sz="1200" spc="-5">
                <a:latin typeface="Arial"/>
                <a:cs typeface="Arial"/>
              </a:rPr>
              <a:t>knew (now)) what will be done to </a:t>
            </a:r>
            <a:r>
              <a:rPr dirty="0" sz="1200" spc="-10">
                <a:latin typeface="Arial"/>
                <a:cs typeface="Arial"/>
              </a:rPr>
              <a:t>you </a:t>
            </a:r>
            <a:r>
              <a:rPr dirty="0" sz="1200" spc="-5">
                <a:latin typeface="Arial"/>
                <a:cs typeface="Arial"/>
              </a:rPr>
              <a:t>on the </a:t>
            </a:r>
            <a:r>
              <a:rPr dirty="0" sz="1200" spc="-10">
                <a:latin typeface="Arial"/>
                <a:cs typeface="Arial"/>
              </a:rPr>
              <a:t>Day </a:t>
            </a:r>
            <a:r>
              <a:rPr dirty="0" sz="1200">
                <a:latin typeface="Arial"/>
                <a:cs typeface="Arial"/>
              </a:rPr>
              <a:t>of </a:t>
            </a:r>
            <a:r>
              <a:rPr dirty="0" sz="1200" spc="-5">
                <a:latin typeface="Arial"/>
                <a:cs typeface="Arial"/>
              </a:rPr>
              <a:t>Judgement (with a  sure knowledge!) what </a:t>
            </a:r>
            <a:r>
              <a:rPr dirty="0" sz="1200" spc="-10">
                <a:latin typeface="Arial"/>
                <a:cs typeface="Arial"/>
              </a:rPr>
              <a:t>you </a:t>
            </a:r>
            <a:r>
              <a:rPr dirty="0" sz="1200" spc="-5">
                <a:latin typeface="Arial"/>
                <a:cs typeface="Arial"/>
              </a:rPr>
              <a:t>bragged about in the life of the</a:t>
            </a:r>
            <a:r>
              <a:rPr dirty="0" sz="1200" spc="95">
                <a:latin typeface="Arial"/>
                <a:cs typeface="Arial"/>
              </a:rPr>
              <a:t> </a:t>
            </a:r>
            <a:r>
              <a:rPr dirty="0" sz="1200" spc="-5">
                <a:latin typeface="Arial"/>
                <a:cs typeface="Arial"/>
              </a:rPr>
              <a:t>world!</a:t>
            </a:r>
            <a:endParaRPr sz="1200">
              <a:latin typeface="Arial"/>
              <a:cs typeface="Arial"/>
            </a:endParaRPr>
          </a:p>
          <a:p>
            <a:pPr>
              <a:lnSpc>
                <a:spcPct val="100000"/>
              </a:lnSpc>
              <a:spcBef>
                <a:spcPts val="25"/>
              </a:spcBef>
            </a:pPr>
            <a:endParaRPr sz="1150">
              <a:latin typeface="Arial"/>
              <a:cs typeface="Arial"/>
            </a:endParaRPr>
          </a:p>
          <a:p>
            <a:pPr algn="r" marR="181610">
              <a:lnSpc>
                <a:spcPct val="100000"/>
              </a:lnSpc>
            </a:pPr>
            <a:r>
              <a:rPr dirty="0" baseline="3086" sz="2700" spc="-390">
                <a:latin typeface="Arial"/>
                <a:cs typeface="Arial"/>
              </a:rPr>
              <a:t>م</a:t>
            </a:r>
            <a:r>
              <a:rPr dirty="0" baseline="-6172" sz="2700" spc="-390">
                <a:latin typeface="Arial"/>
                <a:cs typeface="Arial"/>
              </a:rPr>
              <a:t>َ </a:t>
            </a:r>
            <a:r>
              <a:rPr dirty="0" baseline="3086" sz="2700" spc="-480">
                <a:latin typeface="Arial"/>
                <a:cs typeface="Arial"/>
              </a:rPr>
              <a:t>ٌح</a:t>
            </a:r>
            <a:r>
              <a:rPr dirty="0" baseline="1543" sz="2700" spc="-480">
                <a:latin typeface="Arial"/>
                <a:cs typeface="Arial"/>
              </a:rPr>
              <a:t>ِ </a:t>
            </a:r>
            <a:r>
              <a:rPr dirty="0" baseline="3086" sz="2700" spc="-592">
                <a:latin typeface="Arial"/>
                <a:cs typeface="Arial"/>
              </a:rPr>
              <a:t>ج</a:t>
            </a:r>
            <a:r>
              <a:rPr dirty="0" sz="1800" spc="-39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345">
                <a:latin typeface="Arial"/>
                <a:cs typeface="Arial"/>
              </a:rPr>
              <a:t>نَّ وُ </a:t>
            </a:r>
            <a:r>
              <a:rPr dirty="0" baseline="3086" sz="2700" spc="-494">
                <a:latin typeface="Arial"/>
                <a:cs typeface="Arial"/>
              </a:rPr>
              <a:t>ر</a:t>
            </a:r>
            <a:r>
              <a:rPr dirty="0" sz="1800" spc="-330">
                <a:latin typeface="Arial"/>
                <a:cs typeface="Arial"/>
              </a:rPr>
              <a:t>َ</a:t>
            </a:r>
            <a:r>
              <a:rPr dirty="0" sz="1800" spc="-310">
                <a:latin typeface="Arial"/>
                <a:cs typeface="Arial"/>
              </a:rPr>
              <a:t> </a:t>
            </a:r>
            <a:r>
              <a:rPr dirty="0" baseline="3086" sz="2700" spc="-892">
                <a:latin typeface="Arial"/>
                <a:cs typeface="Arial"/>
              </a:rPr>
              <a:t>ت</a:t>
            </a:r>
            <a:r>
              <a:rPr dirty="0" baseline="7716" sz="2700" spc="-892">
                <a:latin typeface="Arial"/>
                <a:cs typeface="Arial"/>
              </a:rPr>
              <a:t>َ</a:t>
            </a:r>
            <a:r>
              <a:rPr dirty="0" baseline="7716" sz="2700" spc="-240">
                <a:latin typeface="Arial"/>
                <a:cs typeface="Arial"/>
              </a:rPr>
              <a:t> </a:t>
            </a:r>
            <a:r>
              <a:rPr dirty="0" baseline="10802" sz="2700" spc="-405">
                <a:latin typeface="Arial"/>
                <a:cs typeface="Arial"/>
              </a:rPr>
              <a:t>َ</a:t>
            </a:r>
            <a:r>
              <a:rPr dirty="0" baseline="3086" sz="2700" spc="-405">
                <a:latin typeface="Arial"/>
                <a:cs typeface="Arial"/>
              </a:rPr>
              <a:t>ل</a:t>
            </a:r>
            <a:endParaRPr baseline="3086" sz="2700">
              <a:latin typeface="Arial"/>
              <a:cs typeface="Arial"/>
            </a:endParaRPr>
          </a:p>
          <a:p>
            <a:pPr marL="203200">
              <a:lnSpc>
                <a:spcPct val="100000"/>
              </a:lnSpc>
              <a:spcBef>
                <a:spcPts val="1060"/>
              </a:spcBef>
            </a:pPr>
            <a:r>
              <a:rPr dirty="0" sz="1200" spc="-5">
                <a:latin typeface="Arial"/>
                <a:cs typeface="Arial"/>
              </a:rPr>
              <a:t>(For </a:t>
            </a:r>
            <a:r>
              <a:rPr dirty="0" sz="1200" spc="-10">
                <a:latin typeface="Arial"/>
                <a:cs typeface="Arial"/>
              </a:rPr>
              <a:t>ye will </a:t>
            </a:r>
            <a:r>
              <a:rPr dirty="0" sz="1200" spc="-5">
                <a:latin typeface="Arial"/>
                <a:cs typeface="Arial"/>
              </a:rPr>
              <a:t>behold hellfire) on the Day of</a:t>
            </a:r>
            <a:r>
              <a:rPr dirty="0" sz="1200" spc="70">
                <a:latin typeface="Arial"/>
                <a:cs typeface="Arial"/>
              </a:rPr>
              <a:t> </a:t>
            </a:r>
            <a:r>
              <a:rPr dirty="0" sz="1200" spc="-5">
                <a:latin typeface="Arial"/>
                <a:cs typeface="Arial"/>
              </a:rPr>
              <a:t>Judgement.</a:t>
            </a:r>
            <a:endParaRPr sz="1200">
              <a:latin typeface="Arial"/>
              <a:cs typeface="Arial"/>
            </a:endParaRPr>
          </a:p>
          <a:p>
            <a:pPr>
              <a:lnSpc>
                <a:spcPct val="100000"/>
              </a:lnSpc>
              <a:spcBef>
                <a:spcPts val="50"/>
              </a:spcBef>
            </a:pPr>
            <a:endParaRPr sz="1100">
              <a:latin typeface="Arial"/>
              <a:cs typeface="Arial"/>
            </a:endParaRPr>
          </a:p>
          <a:p>
            <a:pPr algn="r" marR="232410">
              <a:lnSpc>
                <a:spcPct val="100000"/>
              </a:lnSpc>
              <a:spcBef>
                <a:spcPts val="5"/>
              </a:spcBef>
            </a:pPr>
            <a:r>
              <a:rPr dirty="0" baseline="1543" sz="2700" spc="-615">
                <a:latin typeface="Arial"/>
                <a:cs typeface="Arial"/>
              </a:rPr>
              <a:t>ن</a:t>
            </a:r>
            <a:r>
              <a:rPr dirty="0" baseline="-12345" sz="2700" spc="-615">
                <a:latin typeface="Arial"/>
                <a:cs typeface="Arial"/>
              </a:rPr>
              <a:t>ِ </a:t>
            </a:r>
            <a:r>
              <a:rPr dirty="0" baseline="1543" sz="2700" spc="-525">
                <a:latin typeface="Arial"/>
                <a:cs typeface="Arial"/>
              </a:rPr>
              <a:t>ٌق</a:t>
            </a:r>
            <a:r>
              <a:rPr dirty="0" sz="1800" spc="-350">
                <a:latin typeface="Arial"/>
                <a:cs typeface="Arial"/>
              </a:rPr>
              <a:t>ِ </a:t>
            </a:r>
            <a:r>
              <a:rPr dirty="0" baseline="1543" sz="2700">
                <a:latin typeface="Arial"/>
                <a:cs typeface="Arial"/>
              </a:rPr>
              <a:t>ٌ</a:t>
            </a:r>
            <a:r>
              <a:rPr dirty="0" baseline="-1543" sz="2700">
                <a:latin typeface="Arial"/>
                <a:cs typeface="Arial"/>
              </a:rPr>
              <a:t>َ </a:t>
            </a:r>
            <a:r>
              <a:rPr dirty="0" baseline="1543" sz="2700" spc="-660">
                <a:latin typeface="Arial"/>
                <a:cs typeface="Arial"/>
              </a:rPr>
              <a:t>ل</a:t>
            </a:r>
            <a:r>
              <a:rPr dirty="0" baseline="12345" sz="2700" spc="-660">
                <a:latin typeface="Arial"/>
                <a:cs typeface="Arial"/>
              </a:rPr>
              <a:t>ْ </a:t>
            </a:r>
            <a:r>
              <a:rPr dirty="0" baseline="1543" sz="2700">
                <a:latin typeface="Arial"/>
                <a:cs typeface="Arial"/>
              </a:rPr>
              <a:t>ٱ </a:t>
            </a:r>
            <a:r>
              <a:rPr dirty="0" baseline="1543" sz="2700" spc="-494">
                <a:latin typeface="Arial"/>
                <a:cs typeface="Arial"/>
              </a:rPr>
              <a:t>ن</a:t>
            </a:r>
            <a:r>
              <a:rPr dirty="0" baseline="-1543" sz="2700" spc="-494">
                <a:latin typeface="Arial"/>
                <a:cs typeface="Arial"/>
              </a:rPr>
              <a:t>َ </a:t>
            </a:r>
            <a:r>
              <a:rPr dirty="0" baseline="1543" sz="2700">
                <a:latin typeface="Arial"/>
                <a:cs typeface="Arial"/>
              </a:rPr>
              <a:t>ٌْ </a:t>
            </a:r>
            <a:r>
              <a:rPr dirty="0" baseline="1543" sz="2700" spc="-607">
                <a:latin typeface="Arial"/>
                <a:cs typeface="Arial"/>
              </a:rPr>
              <a:t>ع</a:t>
            </a:r>
            <a:r>
              <a:rPr dirty="0" baseline="-1543" sz="2700" spc="-607">
                <a:latin typeface="Arial"/>
                <a:cs typeface="Arial"/>
              </a:rPr>
              <a:t>َ  </a:t>
            </a:r>
            <a:r>
              <a:rPr dirty="0" baseline="1543" sz="2700" spc="-202">
                <a:latin typeface="Arial"/>
                <a:cs typeface="Arial"/>
              </a:rPr>
              <a:t>اه</a:t>
            </a:r>
            <a:r>
              <a:rPr dirty="0" baseline="-1543" sz="2700" spc="-202">
                <a:latin typeface="Arial"/>
                <a:cs typeface="Arial"/>
              </a:rPr>
              <a:t>َ </a:t>
            </a:r>
            <a:r>
              <a:rPr dirty="0" baseline="1543" sz="2700" spc="-442">
                <a:latin typeface="Arial"/>
                <a:cs typeface="Arial"/>
              </a:rPr>
              <a:t>ن</a:t>
            </a:r>
            <a:r>
              <a:rPr dirty="0" baseline="9259" sz="2700" spc="-442">
                <a:latin typeface="Arial"/>
                <a:cs typeface="Arial"/>
              </a:rPr>
              <a:t>َّ </a:t>
            </a:r>
            <a:r>
              <a:rPr dirty="0" baseline="1543" sz="2700" spc="-352">
                <a:latin typeface="Arial"/>
                <a:cs typeface="Arial"/>
              </a:rPr>
              <a:t>وُ </a:t>
            </a:r>
            <a:r>
              <a:rPr dirty="0" baseline="1543" sz="2700" spc="-494">
                <a:latin typeface="Arial"/>
                <a:cs typeface="Arial"/>
              </a:rPr>
              <a:t>ر</a:t>
            </a:r>
            <a:r>
              <a:rPr dirty="0" baseline="-1543" sz="2700" spc="-494">
                <a:latin typeface="Arial"/>
                <a:cs typeface="Arial"/>
              </a:rPr>
              <a:t>َ </a:t>
            </a:r>
            <a:r>
              <a:rPr dirty="0" baseline="1543" sz="2700" spc="-892">
                <a:latin typeface="Arial"/>
                <a:cs typeface="Arial"/>
              </a:rPr>
              <a:t>ت</a:t>
            </a:r>
            <a:r>
              <a:rPr dirty="0" baseline="6172" sz="2700" spc="-892">
                <a:latin typeface="Arial"/>
                <a:cs typeface="Arial"/>
              </a:rPr>
              <a:t>َ</a:t>
            </a:r>
            <a:r>
              <a:rPr dirty="0" baseline="6172" sz="2700" spc="-240">
                <a:latin typeface="Arial"/>
                <a:cs typeface="Arial"/>
              </a:rPr>
              <a:t> </a:t>
            </a:r>
            <a:r>
              <a:rPr dirty="0" baseline="9259" sz="2700" spc="-405">
                <a:latin typeface="Arial"/>
                <a:cs typeface="Arial"/>
              </a:rPr>
              <a:t>َ</a:t>
            </a:r>
            <a:r>
              <a:rPr dirty="0" baseline="1543" sz="2700" spc="-405">
                <a:latin typeface="Arial"/>
                <a:cs typeface="Arial"/>
              </a:rPr>
              <a:t>ل </a:t>
            </a:r>
            <a:r>
              <a:rPr dirty="0" baseline="1543" sz="2700" spc="-270">
                <a:latin typeface="Arial"/>
                <a:cs typeface="Arial"/>
              </a:rPr>
              <a:t>م</a:t>
            </a:r>
            <a:r>
              <a:rPr dirty="0" baseline="-4629" sz="2700" spc="-270">
                <a:latin typeface="Arial"/>
                <a:cs typeface="Arial"/>
              </a:rPr>
              <a:t>َّ</a:t>
            </a:r>
            <a:r>
              <a:rPr dirty="0" baseline="-4629" sz="2700" spc="-315">
                <a:latin typeface="Arial"/>
                <a:cs typeface="Arial"/>
              </a:rPr>
              <a:t> </a:t>
            </a:r>
            <a:r>
              <a:rPr dirty="0" baseline="1543" sz="2700" spc="-1860">
                <a:latin typeface="Arial"/>
                <a:cs typeface="Arial"/>
              </a:rPr>
              <a:t>ث</a:t>
            </a:r>
            <a:endParaRPr baseline="1543" sz="2700">
              <a:latin typeface="Arial"/>
              <a:cs typeface="Arial"/>
            </a:endParaRPr>
          </a:p>
          <a:p>
            <a:pPr marL="203200">
              <a:lnSpc>
                <a:spcPct val="100000"/>
              </a:lnSpc>
              <a:spcBef>
                <a:spcPts val="1100"/>
              </a:spcBef>
            </a:pPr>
            <a:r>
              <a:rPr dirty="0" sz="1200" spc="-5">
                <a:latin typeface="Arial"/>
                <a:cs typeface="Arial"/>
              </a:rPr>
              <a:t>(Aye, </a:t>
            </a:r>
            <a:r>
              <a:rPr dirty="0" sz="1200" spc="-10">
                <a:latin typeface="Arial"/>
                <a:cs typeface="Arial"/>
              </a:rPr>
              <a:t>ye will </a:t>
            </a:r>
            <a:r>
              <a:rPr dirty="0" sz="1200" spc="-5">
                <a:latin typeface="Arial"/>
                <a:cs typeface="Arial"/>
              </a:rPr>
              <a:t>behold </a:t>
            </a:r>
            <a:r>
              <a:rPr dirty="0" sz="1200">
                <a:latin typeface="Arial"/>
                <a:cs typeface="Arial"/>
              </a:rPr>
              <a:t>it </a:t>
            </a:r>
            <a:r>
              <a:rPr dirty="0" sz="1200" spc="-5">
                <a:latin typeface="Arial"/>
                <a:cs typeface="Arial"/>
              </a:rPr>
              <a:t>with </a:t>
            </a:r>
            <a:r>
              <a:rPr dirty="0" sz="1200">
                <a:latin typeface="Arial"/>
                <a:cs typeface="Arial"/>
              </a:rPr>
              <a:t>sure </a:t>
            </a:r>
            <a:r>
              <a:rPr dirty="0" sz="1200" spc="-5">
                <a:latin typeface="Arial"/>
                <a:cs typeface="Arial"/>
              </a:rPr>
              <a:t>vision) which </a:t>
            </a:r>
            <a:r>
              <a:rPr dirty="0" sz="1200">
                <a:latin typeface="Arial"/>
                <a:cs typeface="Arial"/>
              </a:rPr>
              <a:t>cannot </a:t>
            </a:r>
            <a:r>
              <a:rPr dirty="0" sz="1200" spc="-5">
                <a:latin typeface="Arial"/>
                <a:cs typeface="Arial"/>
              </a:rPr>
              <a:t>be </a:t>
            </a:r>
            <a:r>
              <a:rPr dirty="0" sz="1200">
                <a:latin typeface="Arial"/>
                <a:cs typeface="Arial"/>
              </a:rPr>
              <a:t>missed on </a:t>
            </a:r>
            <a:r>
              <a:rPr dirty="0" sz="1200" spc="-5">
                <a:latin typeface="Arial"/>
                <a:cs typeface="Arial"/>
              </a:rPr>
              <a:t>the Day of</a:t>
            </a:r>
            <a:r>
              <a:rPr dirty="0" sz="1200" spc="65">
                <a:latin typeface="Arial"/>
                <a:cs typeface="Arial"/>
              </a:rPr>
              <a:t> </a:t>
            </a:r>
            <a:r>
              <a:rPr dirty="0" sz="1200" spc="-5">
                <a:latin typeface="Arial"/>
                <a:cs typeface="Arial"/>
              </a:rPr>
              <a:t>Judgement.</a:t>
            </a:r>
            <a:endParaRPr sz="1200">
              <a:latin typeface="Arial"/>
              <a:cs typeface="Arial"/>
            </a:endParaRPr>
          </a:p>
          <a:p>
            <a:pPr>
              <a:lnSpc>
                <a:spcPct val="100000"/>
              </a:lnSpc>
            </a:pPr>
            <a:endParaRPr sz="1150">
              <a:latin typeface="Arial"/>
              <a:cs typeface="Arial"/>
            </a:endParaRPr>
          </a:p>
          <a:p>
            <a:pPr algn="r" marR="232410">
              <a:lnSpc>
                <a:spcPct val="100000"/>
              </a:lnSpc>
            </a:pPr>
            <a:r>
              <a:rPr dirty="0" baseline="1543" sz="2700" spc="-315">
                <a:latin typeface="Arial"/>
                <a:cs typeface="Arial"/>
              </a:rPr>
              <a:t>م</a:t>
            </a:r>
            <a:r>
              <a:rPr dirty="0" baseline="-16975" sz="2700" spc="-315">
                <a:latin typeface="Arial"/>
                <a:cs typeface="Arial"/>
              </a:rPr>
              <a:t>ِ </a:t>
            </a:r>
            <a:r>
              <a:rPr dirty="0" baseline="1543" sz="2700" spc="-412">
                <a:latin typeface="Arial"/>
                <a:cs typeface="Arial"/>
              </a:rPr>
              <a:t>ٌع</a:t>
            </a:r>
            <a:r>
              <a:rPr dirty="0" sz="1800" spc="-275">
                <a:latin typeface="Arial"/>
                <a:cs typeface="Arial"/>
              </a:rPr>
              <a:t>ِ </a:t>
            </a:r>
            <a:r>
              <a:rPr dirty="0" baseline="1543" sz="2700" spc="-442">
                <a:latin typeface="Arial"/>
                <a:cs typeface="Arial"/>
              </a:rPr>
              <a:t>ن</a:t>
            </a:r>
            <a:r>
              <a:rPr dirty="0" baseline="9259" sz="2700" spc="-442">
                <a:latin typeface="Arial"/>
                <a:cs typeface="Arial"/>
              </a:rPr>
              <a:t>َّ </a:t>
            </a:r>
            <a:r>
              <a:rPr dirty="0" baseline="1543" sz="2700" spc="-419">
                <a:latin typeface="Arial"/>
                <a:cs typeface="Arial"/>
              </a:rPr>
              <a:t>لٱ </a:t>
            </a:r>
            <a:r>
              <a:rPr dirty="0" baseline="1543" sz="2700" spc="-607">
                <a:latin typeface="Arial"/>
                <a:cs typeface="Arial"/>
              </a:rPr>
              <a:t>ن</a:t>
            </a:r>
            <a:r>
              <a:rPr dirty="0" baseline="-12345" sz="2700" spc="-607">
                <a:latin typeface="Arial"/>
                <a:cs typeface="Arial"/>
              </a:rPr>
              <a:t>ِ</a:t>
            </a:r>
            <a:r>
              <a:rPr dirty="0" baseline="-12345" sz="2700" spc="-465">
                <a:latin typeface="Arial"/>
                <a:cs typeface="Arial"/>
              </a:rPr>
              <a:t> </a:t>
            </a:r>
            <a:r>
              <a:rPr dirty="0" baseline="1543" sz="2700" spc="-615">
                <a:latin typeface="Arial"/>
                <a:cs typeface="Arial"/>
              </a:rPr>
              <a:t>ع</a:t>
            </a:r>
            <a:r>
              <a:rPr dirty="0" baseline="-1543" sz="2700" spc="-615">
                <a:latin typeface="Arial"/>
                <a:cs typeface="Arial"/>
              </a:rPr>
              <a:t>َ </a:t>
            </a:r>
            <a:r>
              <a:rPr dirty="0" baseline="1543" sz="2700" spc="-359">
                <a:latin typeface="Arial"/>
                <a:cs typeface="Arial"/>
              </a:rPr>
              <a:t>ذٍ </a:t>
            </a:r>
            <a:r>
              <a:rPr dirty="0" baseline="1543" sz="2700" spc="-855">
                <a:latin typeface="Arial"/>
                <a:cs typeface="Arial"/>
              </a:rPr>
              <a:t>ئ</a:t>
            </a:r>
            <a:r>
              <a:rPr dirty="0" sz="1800" spc="-570">
                <a:latin typeface="Arial"/>
                <a:cs typeface="Arial"/>
              </a:rPr>
              <a:t>ِ</a:t>
            </a:r>
            <a:r>
              <a:rPr dirty="0" sz="1800" spc="-70">
                <a:latin typeface="Arial"/>
                <a:cs typeface="Arial"/>
              </a:rPr>
              <a:t> </a:t>
            </a:r>
            <a:r>
              <a:rPr dirty="0" baseline="1543" sz="2700" spc="-367">
                <a:latin typeface="Arial"/>
                <a:cs typeface="Arial"/>
              </a:rPr>
              <a:t>م</a:t>
            </a:r>
            <a:r>
              <a:rPr dirty="0" baseline="-1543" sz="2700" spc="-367">
                <a:latin typeface="Arial"/>
                <a:cs typeface="Arial"/>
              </a:rPr>
              <a:t>َ </a:t>
            </a:r>
            <a:r>
              <a:rPr dirty="0" baseline="1543" sz="2700" spc="-270">
                <a:latin typeface="Arial"/>
                <a:cs typeface="Arial"/>
              </a:rPr>
              <a:t>وْ </a:t>
            </a:r>
            <a:r>
              <a:rPr dirty="0" baseline="1543" sz="2700">
                <a:latin typeface="Arial"/>
                <a:cs typeface="Arial"/>
              </a:rPr>
              <a:t>ٌ</a:t>
            </a:r>
            <a:r>
              <a:rPr dirty="0" baseline="-1543" sz="2700">
                <a:latin typeface="Arial"/>
                <a:cs typeface="Arial"/>
              </a:rPr>
              <a:t>َ </a:t>
            </a:r>
            <a:r>
              <a:rPr dirty="0" baseline="1543" sz="2700" spc="-345">
                <a:latin typeface="Arial"/>
                <a:cs typeface="Arial"/>
              </a:rPr>
              <a:t>ن</a:t>
            </a:r>
            <a:r>
              <a:rPr dirty="0" sz="1800" spc="-229">
                <a:latin typeface="Arial"/>
                <a:cs typeface="Arial"/>
              </a:rPr>
              <a:t>َّ </a:t>
            </a:r>
            <a:r>
              <a:rPr dirty="0" baseline="12345" sz="2700" spc="-562">
                <a:latin typeface="Arial"/>
                <a:cs typeface="Arial"/>
              </a:rPr>
              <a:t>ُ</a:t>
            </a:r>
            <a:r>
              <a:rPr dirty="0" baseline="1543" sz="2700" spc="-562">
                <a:latin typeface="Arial"/>
                <a:cs typeface="Arial"/>
              </a:rPr>
              <a:t>ل</a:t>
            </a:r>
            <a:r>
              <a:rPr dirty="0" baseline="15432" sz="2700" spc="-562">
                <a:latin typeface="Arial"/>
                <a:cs typeface="Arial"/>
              </a:rPr>
              <a:t>َ</a:t>
            </a:r>
            <a:r>
              <a:rPr dirty="0" baseline="1543" sz="2700" spc="-562">
                <a:latin typeface="Arial"/>
                <a:cs typeface="Arial"/>
              </a:rPr>
              <a:t>ؤسْ </a:t>
            </a:r>
            <a:r>
              <a:rPr dirty="0" baseline="1543" sz="2700" spc="-937">
                <a:latin typeface="Arial"/>
                <a:cs typeface="Arial"/>
              </a:rPr>
              <a:t>ت</a:t>
            </a:r>
            <a:r>
              <a:rPr dirty="0" baseline="9259" sz="2700" spc="-937">
                <a:latin typeface="Arial"/>
                <a:cs typeface="Arial"/>
              </a:rPr>
              <a:t>ُ</a:t>
            </a:r>
            <a:r>
              <a:rPr dirty="0" baseline="9259" sz="2700" spc="-150">
                <a:latin typeface="Arial"/>
                <a:cs typeface="Arial"/>
              </a:rPr>
              <a:t> </a:t>
            </a:r>
            <a:r>
              <a:rPr dirty="0" baseline="9259" sz="2700" spc="-405">
                <a:latin typeface="Arial"/>
                <a:cs typeface="Arial"/>
              </a:rPr>
              <a:t>َ</a:t>
            </a:r>
            <a:r>
              <a:rPr dirty="0" baseline="1543" sz="2700" spc="-405">
                <a:latin typeface="Arial"/>
                <a:cs typeface="Arial"/>
              </a:rPr>
              <a:t>ل </a:t>
            </a:r>
            <a:r>
              <a:rPr dirty="0" baseline="1543" sz="2700" spc="-270">
                <a:latin typeface="Arial"/>
                <a:cs typeface="Arial"/>
              </a:rPr>
              <a:t>م</a:t>
            </a:r>
            <a:r>
              <a:rPr dirty="0" baseline="-4629" sz="2700" spc="-270">
                <a:latin typeface="Arial"/>
                <a:cs typeface="Arial"/>
              </a:rPr>
              <a:t>َّ</a:t>
            </a:r>
            <a:r>
              <a:rPr dirty="0" baseline="-4629" sz="2700" spc="-315">
                <a:latin typeface="Arial"/>
                <a:cs typeface="Arial"/>
              </a:rPr>
              <a:t> </a:t>
            </a:r>
            <a:r>
              <a:rPr dirty="0" baseline="1543" sz="2700" spc="-1860">
                <a:latin typeface="Arial"/>
                <a:cs typeface="Arial"/>
              </a:rPr>
              <a:t>ث</a:t>
            </a:r>
            <a:endParaRPr baseline="1543" sz="2700">
              <a:latin typeface="Arial"/>
              <a:cs typeface="Arial"/>
            </a:endParaRPr>
          </a:p>
          <a:p>
            <a:pPr algn="just" marL="203200" marR="186690">
              <a:lnSpc>
                <a:spcPts val="1380"/>
              </a:lnSpc>
              <a:spcBef>
                <a:spcPts val="1215"/>
              </a:spcBef>
            </a:pPr>
            <a:r>
              <a:rPr dirty="0" sz="1200" spc="-5">
                <a:latin typeface="Arial"/>
                <a:cs typeface="Arial"/>
              </a:rPr>
              <a:t>(Then, </a:t>
            </a:r>
            <a:r>
              <a:rPr dirty="0" sz="1200" spc="-10">
                <a:latin typeface="Arial"/>
                <a:cs typeface="Arial"/>
              </a:rPr>
              <a:t>on </a:t>
            </a:r>
            <a:r>
              <a:rPr dirty="0" sz="1200" spc="-5">
                <a:latin typeface="Arial"/>
                <a:cs typeface="Arial"/>
              </a:rPr>
              <a:t>that day) on the Day of Judgement, </a:t>
            </a:r>
            <a:r>
              <a:rPr dirty="0" sz="1200" spc="-10">
                <a:latin typeface="Arial"/>
                <a:cs typeface="Arial"/>
              </a:rPr>
              <a:t>(ye </a:t>
            </a:r>
            <a:r>
              <a:rPr dirty="0" sz="1200" spc="-5">
                <a:latin typeface="Arial"/>
                <a:cs typeface="Arial"/>
              </a:rPr>
              <a:t>will be asked concerning </a:t>
            </a:r>
            <a:r>
              <a:rPr dirty="0" sz="1200">
                <a:latin typeface="Arial"/>
                <a:cs typeface="Arial"/>
              </a:rPr>
              <a:t>pleasure) </a:t>
            </a:r>
            <a:r>
              <a:rPr dirty="0" sz="1200" spc="-10">
                <a:latin typeface="Arial"/>
                <a:cs typeface="Arial"/>
              </a:rPr>
              <a:t>you </a:t>
            </a:r>
            <a:r>
              <a:rPr dirty="0" sz="1200" spc="-5">
                <a:latin typeface="Arial"/>
                <a:cs typeface="Arial"/>
              </a:rPr>
              <a:t>will  be asked about whether </a:t>
            </a:r>
            <a:r>
              <a:rPr dirty="0" sz="1200" spc="-10">
                <a:latin typeface="Arial"/>
                <a:cs typeface="Arial"/>
              </a:rPr>
              <a:t>you gave </a:t>
            </a:r>
            <a:r>
              <a:rPr dirty="0" sz="1200" spc="5">
                <a:latin typeface="Arial"/>
                <a:cs typeface="Arial"/>
              </a:rPr>
              <a:t>thanks </a:t>
            </a:r>
            <a:r>
              <a:rPr dirty="0" sz="1200">
                <a:latin typeface="Arial"/>
                <a:cs typeface="Arial"/>
              </a:rPr>
              <a:t>for </a:t>
            </a:r>
            <a:r>
              <a:rPr dirty="0" sz="1200" spc="-5">
                <a:latin typeface="Arial"/>
                <a:cs typeface="Arial"/>
              </a:rPr>
              <a:t>all </a:t>
            </a:r>
            <a:r>
              <a:rPr dirty="0" sz="1200">
                <a:latin typeface="Arial"/>
                <a:cs typeface="Arial"/>
              </a:rPr>
              <a:t>the </a:t>
            </a:r>
            <a:r>
              <a:rPr dirty="0" sz="1200" spc="-5">
                <a:latin typeface="Arial"/>
                <a:cs typeface="Arial"/>
              </a:rPr>
              <a:t>bounties </a:t>
            </a:r>
            <a:r>
              <a:rPr dirty="0" sz="1200" spc="-10">
                <a:latin typeface="Arial"/>
                <a:cs typeface="Arial"/>
              </a:rPr>
              <a:t>you </a:t>
            </a:r>
            <a:r>
              <a:rPr dirty="0" sz="1200" spc="-5">
                <a:latin typeface="Arial"/>
                <a:cs typeface="Arial"/>
              </a:rPr>
              <a:t>enjoyed, of food, drink,  clothing,</a:t>
            </a:r>
            <a:r>
              <a:rPr dirty="0" sz="1200">
                <a:latin typeface="Arial"/>
                <a:cs typeface="Arial"/>
              </a:rPr>
              <a:t> </a:t>
            </a:r>
            <a:r>
              <a:rPr dirty="0" sz="1200" spc="-5">
                <a:latin typeface="Arial"/>
                <a:cs typeface="Arial"/>
              </a:rPr>
              <a:t>etc.‘</a:t>
            </a:r>
            <a:endParaRPr sz="1200">
              <a:latin typeface="Arial"/>
              <a:cs typeface="Arial"/>
            </a:endParaRPr>
          </a:p>
          <a:p>
            <a:pPr>
              <a:lnSpc>
                <a:spcPct val="100000"/>
              </a:lnSpc>
              <a:spcBef>
                <a:spcPts val="15"/>
              </a:spcBef>
            </a:pPr>
            <a:endParaRPr sz="1100">
              <a:latin typeface="Arial"/>
              <a:cs typeface="Arial"/>
            </a:endParaRPr>
          </a:p>
          <a:p>
            <a:pPr marL="203200">
              <a:lnSpc>
                <a:spcPct val="100000"/>
              </a:lnSpc>
              <a:spcBef>
                <a:spcPts val="5"/>
              </a:spcBef>
            </a:pPr>
            <a:r>
              <a:rPr dirty="0" u="heavy" sz="1200" spc="-5" b="1" i="1">
                <a:uFill>
                  <a:solidFill>
                    <a:srgbClr val="000000"/>
                  </a:solidFill>
                </a:uFill>
                <a:latin typeface="Arial"/>
                <a:cs typeface="Arial"/>
              </a:rPr>
              <a:t>Surah Al</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Kaafiroun</a:t>
            </a:r>
            <a:endParaRPr sz="1200">
              <a:latin typeface="Arial"/>
              <a:cs typeface="Arial"/>
            </a:endParaRPr>
          </a:p>
          <a:p>
            <a:pPr>
              <a:lnSpc>
                <a:spcPct val="100000"/>
              </a:lnSpc>
              <a:spcBef>
                <a:spcPts val="35"/>
              </a:spcBef>
            </a:pPr>
            <a:endParaRPr sz="1200">
              <a:latin typeface="Arial"/>
              <a:cs typeface="Arial"/>
            </a:endParaRPr>
          </a:p>
          <a:p>
            <a:pPr algn="just" marL="203200" marR="184150">
              <a:lnSpc>
                <a:spcPts val="1380"/>
              </a:lnSpc>
            </a:pPr>
            <a:r>
              <a:rPr dirty="0" sz="1200">
                <a:latin typeface="Arial"/>
                <a:cs typeface="Arial"/>
              </a:rPr>
              <a:t>This </a:t>
            </a:r>
            <a:r>
              <a:rPr dirty="0" sz="1200" spc="-5">
                <a:latin typeface="Arial"/>
                <a:cs typeface="Arial"/>
              </a:rPr>
              <a:t>surah </a:t>
            </a:r>
            <a:r>
              <a:rPr dirty="0" sz="1200" spc="-10">
                <a:latin typeface="Arial"/>
                <a:cs typeface="Arial"/>
              </a:rPr>
              <a:t>was </a:t>
            </a:r>
            <a:r>
              <a:rPr dirty="0" sz="1200" spc="-5">
                <a:latin typeface="Arial"/>
                <a:cs typeface="Arial"/>
              </a:rPr>
              <a:t>revealed in order </a:t>
            </a:r>
            <a:r>
              <a:rPr dirty="0" sz="1200">
                <a:latin typeface="Arial"/>
                <a:cs typeface="Arial"/>
              </a:rPr>
              <a:t>to </a:t>
            </a:r>
            <a:r>
              <a:rPr dirty="0" sz="1200" spc="-5">
                <a:latin typeface="Arial"/>
                <a:cs typeface="Arial"/>
              </a:rPr>
              <a:t>crush </a:t>
            </a:r>
            <a:r>
              <a:rPr dirty="0" sz="1200" spc="-10">
                <a:latin typeface="Arial"/>
                <a:cs typeface="Arial"/>
              </a:rPr>
              <a:t>down </a:t>
            </a:r>
            <a:r>
              <a:rPr dirty="0" sz="1200" spc="-5">
                <a:latin typeface="Arial"/>
                <a:cs typeface="Arial"/>
              </a:rPr>
              <a:t>all hope of </a:t>
            </a:r>
            <a:r>
              <a:rPr dirty="0" sz="1200">
                <a:latin typeface="Arial"/>
                <a:cs typeface="Arial"/>
              </a:rPr>
              <a:t>the </a:t>
            </a:r>
            <a:r>
              <a:rPr dirty="0" sz="1200" spc="-5">
                <a:latin typeface="Arial"/>
                <a:cs typeface="Arial"/>
              </a:rPr>
              <a:t>Quraish in compromising with  </a:t>
            </a:r>
            <a:r>
              <a:rPr dirty="0" sz="1200">
                <a:latin typeface="Arial"/>
                <a:cs typeface="Arial"/>
              </a:rPr>
              <a:t>the </a:t>
            </a:r>
            <a:r>
              <a:rPr dirty="0" sz="1200" spc="-5">
                <a:latin typeface="Arial"/>
                <a:cs typeface="Arial"/>
              </a:rPr>
              <a:t>holy prophet (s.a.w). They wanted the prophet to follow </a:t>
            </a:r>
            <a:r>
              <a:rPr dirty="0" sz="1200">
                <a:latin typeface="Arial"/>
                <a:cs typeface="Arial"/>
              </a:rPr>
              <a:t>their religion for </a:t>
            </a:r>
            <a:r>
              <a:rPr dirty="0" sz="1200" spc="-5">
                <a:latin typeface="Arial"/>
                <a:cs typeface="Arial"/>
              </a:rPr>
              <a:t>one year and  </a:t>
            </a:r>
            <a:r>
              <a:rPr dirty="0" sz="1200">
                <a:latin typeface="Arial"/>
                <a:cs typeface="Arial"/>
              </a:rPr>
              <a:t>then </a:t>
            </a:r>
            <a:r>
              <a:rPr dirty="0" sz="1200" spc="-5">
                <a:latin typeface="Arial"/>
                <a:cs typeface="Arial"/>
              </a:rPr>
              <a:t>they would </a:t>
            </a:r>
            <a:r>
              <a:rPr dirty="0" sz="1200">
                <a:latin typeface="Arial"/>
                <a:cs typeface="Arial"/>
              </a:rPr>
              <a:t>follow the </a:t>
            </a:r>
            <a:r>
              <a:rPr dirty="0" sz="1200" spc="-5">
                <a:latin typeface="Arial"/>
                <a:cs typeface="Arial"/>
              </a:rPr>
              <a:t>prophet </a:t>
            </a:r>
            <a:r>
              <a:rPr dirty="0" sz="1200">
                <a:latin typeface="Arial"/>
                <a:cs typeface="Arial"/>
              </a:rPr>
              <a:t>for </a:t>
            </a:r>
            <a:r>
              <a:rPr dirty="0" sz="1200" spc="-5">
                <a:latin typeface="Arial"/>
                <a:cs typeface="Arial"/>
              </a:rPr>
              <a:t>the </a:t>
            </a:r>
            <a:r>
              <a:rPr dirty="0" sz="1200" spc="-10">
                <a:latin typeface="Arial"/>
                <a:cs typeface="Arial"/>
              </a:rPr>
              <a:t>next </a:t>
            </a:r>
            <a:r>
              <a:rPr dirty="0" sz="1200" spc="-5">
                <a:latin typeface="Arial"/>
                <a:cs typeface="Arial"/>
              </a:rPr>
              <a:t>year </a:t>
            </a:r>
            <a:r>
              <a:rPr dirty="0" sz="1200">
                <a:latin typeface="Arial"/>
                <a:cs typeface="Arial"/>
              </a:rPr>
              <a:t>– </a:t>
            </a:r>
            <a:r>
              <a:rPr dirty="0" sz="1200" spc="-5">
                <a:latin typeface="Arial"/>
                <a:cs typeface="Arial"/>
              </a:rPr>
              <a:t>one year as Muslims and another as  polytheists.</a:t>
            </a:r>
            <a:endParaRPr sz="1200">
              <a:latin typeface="Arial"/>
              <a:cs typeface="Arial"/>
            </a:endParaRPr>
          </a:p>
          <a:p>
            <a:pPr>
              <a:lnSpc>
                <a:spcPct val="100000"/>
              </a:lnSpc>
              <a:spcBef>
                <a:spcPts val="15"/>
              </a:spcBef>
            </a:pPr>
            <a:endParaRPr sz="1100">
              <a:latin typeface="Arial"/>
              <a:cs typeface="Arial"/>
            </a:endParaRPr>
          </a:p>
          <a:p>
            <a:pPr marL="203200">
              <a:lnSpc>
                <a:spcPct val="100000"/>
              </a:lnSpc>
              <a:spcBef>
                <a:spcPts val="5"/>
              </a:spcBef>
            </a:pPr>
            <a:r>
              <a:rPr dirty="0" sz="1200" spc="-5">
                <a:latin typeface="Arial"/>
                <a:cs typeface="Arial"/>
              </a:rPr>
              <a:t>Allah says:</a:t>
            </a:r>
            <a:endParaRPr sz="1200">
              <a:latin typeface="Arial"/>
              <a:cs typeface="Arial"/>
            </a:endParaRPr>
          </a:p>
          <a:p>
            <a:pPr algn="r" marR="181610">
              <a:lnSpc>
                <a:spcPct val="100000"/>
              </a:lnSpc>
            </a:pPr>
            <a:r>
              <a:rPr dirty="0" baseline="3086" sz="2700" spc="-494">
                <a:latin typeface="Arial"/>
                <a:cs typeface="Arial"/>
              </a:rPr>
              <a:t>ن</a:t>
            </a:r>
            <a:r>
              <a:rPr dirty="0" sz="1800" spc="-330">
                <a:latin typeface="Arial"/>
                <a:cs typeface="Arial"/>
              </a:rPr>
              <a:t>َ </a:t>
            </a:r>
            <a:r>
              <a:rPr dirty="0" baseline="3086" sz="2700" spc="-352">
                <a:latin typeface="Arial"/>
                <a:cs typeface="Arial"/>
              </a:rPr>
              <a:t>ورُ </a:t>
            </a:r>
            <a:r>
              <a:rPr dirty="0" baseline="3086" sz="2700" spc="-1057">
                <a:latin typeface="Arial"/>
                <a:cs typeface="Arial"/>
              </a:rPr>
              <a:t>ف</a:t>
            </a:r>
            <a:r>
              <a:rPr dirty="0" baseline="1543" sz="2700" spc="-1057">
                <a:latin typeface="Arial"/>
                <a:cs typeface="Arial"/>
              </a:rPr>
              <a:t>ِ</a:t>
            </a:r>
            <a:r>
              <a:rPr dirty="0" baseline="1543" sz="2700" spc="-52">
                <a:latin typeface="Arial"/>
                <a:cs typeface="Arial"/>
              </a:rPr>
              <a:t> </a:t>
            </a:r>
            <a:r>
              <a:rPr dirty="0" baseline="3086" sz="2700" spc="-465">
                <a:latin typeface="Arial"/>
                <a:cs typeface="Arial"/>
              </a:rPr>
              <a:t>اك</a:t>
            </a:r>
            <a:r>
              <a:rPr dirty="0" baseline="7716" sz="2700" spc="-465">
                <a:latin typeface="Arial"/>
                <a:cs typeface="Arial"/>
              </a:rPr>
              <a:t>َ  </a:t>
            </a:r>
            <a:r>
              <a:rPr dirty="0" baseline="3086" sz="2700" spc="-652">
                <a:latin typeface="Arial"/>
                <a:cs typeface="Arial"/>
              </a:rPr>
              <a:t>ل</a:t>
            </a:r>
            <a:r>
              <a:rPr dirty="0" baseline="13888" sz="2700" spc="-652">
                <a:latin typeface="Arial"/>
                <a:cs typeface="Arial"/>
              </a:rPr>
              <a:t>ْ </a:t>
            </a:r>
            <a:r>
              <a:rPr dirty="0" baseline="3086" sz="2700">
                <a:latin typeface="Arial"/>
                <a:cs typeface="Arial"/>
              </a:rPr>
              <a:t>ٱ </a:t>
            </a:r>
            <a:r>
              <a:rPr dirty="0" baseline="3086" sz="2700" spc="-202">
                <a:latin typeface="Arial"/>
                <a:cs typeface="Arial"/>
              </a:rPr>
              <a:t>اه</a:t>
            </a:r>
            <a:r>
              <a:rPr dirty="0" sz="1800" spc="-135">
                <a:latin typeface="Arial"/>
                <a:cs typeface="Arial"/>
              </a:rPr>
              <a:t>َ </a:t>
            </a:r>
            <a:r>
              <a:rPr dirty="0" baseline="3086" sz="2700">
                <a:latin typeface="Arial"/>
                <a:cs typeface="Arial"/>
              </a:rPr>
              <a:t>ٌُّ </a:t>
            </a:r>
            <a:r>
              <a:rPr dirty="0" baseline="16975" sz="2700" spc="-142">
                <a:latin typeface="Arial"/>
                <a:cs typeface="Arial"/>
              </a:rPr>
              <a:t>َ</a:t>
            </a:r>
            <a:r>
              <a:rPr dirty="0" baseline="3086" sz="2700" spc="-142">
                <a:latin typeface="Arial"/>
                <a:cs typeface="Arial"/>
              </a:rPr>
              <a:t>ؤٌ</a:t>
            </a:r>
            <a:r>
              <a:rPr dirty="0" baseline="7716" sz="2700" spc="-142">
                <a:latin typeface="Arial"/>
                <a:cs typeface="Arial"/>
              </a:rPr>
              <a:t>ٰ </a:t>
            </a:r>
            <a:r>
              <a:rPr dirty="0" baseline="3086" sz="2700" spc="-577">
                <a:latin typeface="Arial"/>
                <a:cs typeface="Arial"/>
              </a:rPr>
              <a:t>لْ</a:t>
            </a:r>
            <a:r>
              <a:rPr dirty="0" baseline="3086" sz="2700" spc="-427">
                <a:latin typeface="Arial"/>
                <a:cs typeface="Arial"/>
              </a:rPr>
              <a:t> </a:t>
            </a:r>
            <a:r>
              <a:rPr dirty="0" baseline="10802" sz="2700" spc="-427">
                <a:latin typeface="Arial"/>
                <a:cs typeface="Arial"/>
              </a:rPr>
              <a:t>ُ</a:t>
            </a:r>
            <a:r>
              <a:rPr dirty="0" baseline="3086" sz="2700" spc="-427">
                <a:latin typeface="Arial"/>
                <a:cs typeface="Arial"/>
              </a:rPr>
              <a:t>ق</a:t>
            </a:r>
            <a:endParaRPr baseline="3086" sz="2700">
              <a:latin typeface="Arial"/>
              <a:cs typeface="Arial"/>
            </a:endParaRPr>
          </a:p>
          <a:p>
            <a:pPr algn="just" marL="203200" marR="180975">
              <a:lnSpc>
                <a:spcPts val="1380"/>
              </a:lnSpc>
              <a:spcBef>
                <a:spcPts val="1140"/>
              </a:spcBef>
            </a:pPr>
            <a:r>
              <a:rPr dirty="0" sz="1200" spc="-5">
                <a:latin typeface="Arial"/>
                <a:cs typeface="Arial"/>
              </a:rPr>
              <a:t>And from his narration on </a:t>
            </a:r>
            <a:r>
              <a:rPr dirty="0" sz="1200">
                <a:latin typeface="Arial"/>
                <a:cs typeface="Arial"/>
              </a:rPr>
              <a:t>the </a:t>
            </a:r>
            <a:r>
              <a:rPr dirty="0" sz="1200" spc="-5">
                <a:latin typeface="Arial"/>
                <a:cs typeface="Arial"/>
              </a:rPr>
              <a:t>authority </a:t>
            </a:r>
            <a:r>
              <a:rPr dirty="0" sz="1200">
                <a:latin typeface="Arial"/>
                <a:cs typeface="Arial"/>
              </a:rPr>
              <a:t>of </a:t>
            </a:r>
            <a:r>
              <a:rPr dirty="0" sz="1200" spc="-5">
                <a:latin typeface="Arial"/>
                <a:cs typeface="Arial"/>
              </a:rPr>
              <a:t>Ibn </a:t>
            </a:r>
            <a:r>
              <a:rPr dirty="0" sz="1200">
                <a:latin typeface="Arial"/>
                <a:cs typeface="Arial"/>
              </a:rPr>
              <a:t>'Abbas </a:t>
            </a:r>
            <a:r>
              <a:rPr dirty="0" sz="1200" spc="-5">
                <a:latin typeface="Arial"/>
                <a:cs typeface="Arial"/>
              </a:rPr>
              <a:t>that he said regarding </a:t>
            </a:r>
            <a:r>
              <a:rPr dirty="0" sz="1200">
                <a:latin typeface="Arial"/>
                <a:cs typeface="Arial"/>
              </a:rPr>
              <a:t>the </a:t>
            </a:r>
            <a:r>
              <a:rPr dirty="0" sz="1200" spc="-5">
                <a:latin typeface="Arial"/>
                <a:cs typeface="Arial"/>
              </a:rPr>
              <a:t>interpretation  of Allah's saying (Say: </a:t>
            </a:r>
            <a:r>
              <a:rPr dirty="0" sz="1200">
                <a:latin typeface="Arial"/>
                <a:cs typeface="Arial"/>
              </a:rPr>
              <a:t>O </a:t>
            </a:r>
            <a:r>
              <a:rPr dirty="0" sz="1200" spc="-5">
                <a:latin typeface="Arial"/>
                <a:cs typeface="Arial"/>
              </a:rPr>
              <a:t>disbelievers!): '(Say: </a:t>
            </a:r>
            <a:r>
              <a:rPr dirty="0" sz="1200">
                <a:latin typeface="Arial"/>
                <a:cs typeface="Arial"/>
              </a:rPr>
              <a:t>O </a:t>
            </a:r>
            <a:r>
              <a:rPr dirty="0" sz="1200" spc="-5">
                <a:latin typeface="Arial"/>
                <a:cs typeface="Arial"/>
              </a:rPr>
              <a:t>disbelievers!) a </a:t>
            </a:r>
            <a:r>
              <a:rPr dirty="0" sz="1200" spc="-10">
                <a:latin typeface="Arial"/>
                <a:cs typeface="Arial"/>
              </a:rPr>
              <a:t>group </a:t>
            </a:r>
            <a:r>
              <a:rPr dirty="0" sz="1200" spc="-5">
                <a:latin typeface="Arial"/>
                <a:cs typeface="Arial"/>
              </a:rPr>
              <a:t>of people </a:t>
            </a:r>
            <a:r>
              <a:rPr dirty="0" sz="1200" spc="-10">
                <a:latin typeface="Arial"/>
                <a:cs typeface="Arial"/>
              </a:rPr>
              <a:t>who </a:t>
            </a:r>
            <a:r>
              <a:rPr dirty="0" sz="1200" spc="-5">
                <a:latin typeface="Arial"/>
                <a:cs typeface="Arial"/>
              </a:rPr>
              <a:t>derided  </a:t>
            </a:r>
            <a:r>
              <a:rPr dirty="0" sz="1200">
                <a:latin typeface="Arial"/>
                <a:cs typeface="Arial"/>
              </a:rPr>
              <a:t>the </a:t>
            </a:r>
            <a:r>
              <a:rPr dirty="0" sz="1200" spc="-5">
                <a:latin typeface="Arial"/>
                <a:cs typeface="Arial"/>
              </a:rPr>
              <a:t>Prophet (pbuh) among whom </a:t>
            </a:r>
            <a:r>
              <a:rPr dirty="0" sz="1200">
                <a:latin typeface="Arial"/>
                <a:cs typeface="Arial"/>
              </a:rPr>
              <a:t>were </a:t>
            </a:r>
            <a:r>
              <a:rPr dirty="0" sz="1200" spc="-5">
                <a:latin typeface="Arial"/>
                <a:cs typeface="Arial"/>
              </a:rPr>
              <a:t>al-'As </a:t>
            </a:r>
            <a:r>
              <a:rPr dirty="0" sz="1200">
                <a:latin typeface="Arial"/>
                <a:cs typeface="Arial"/>
              </a:rPr>
              <a:t>Ibn </a:t>
            </a:r>
            <a:r>
              <a:rPr dirty="0" sz="1200" spc="5">
                <a:latin typeface="Arial"/>
                <a:cs typeface="Arial"/>
              </a:rPr>
              <a:t>Wa'il </a:t>
            </a:r>
            <a:r>
              <a:rPr dirty="0" sz="1200" spc="-5">
                <a:latin typeface="Arial"/>
                <a:cs typeface="Arial"/>
              </a:rPr>
              <a:t>al-Sahmi and al-Walid Ibn al-  Mughirah, said </a:t>
            </a:r>
            <a:r>
              <a:rPr dirty="0" sz="1200">
                <a:latin typeface="Arial"/>
                <a:cs typeface="Arial"/>
              </a:rPr>
              <a:t>to the </a:t>
            </a:r>
            <a:r>
              <a:rPr dirty="0" sz="1200" spc="-5">
                <a:latin typeface="Arial"/>
                <a:cs typeface="Arial"/>
              </a:rPr>
              <a:t>Prophet: </a:t>
            </a:r>
            <a:r>
              <a:rPr dirty="0" sz="1200" spc="-405">
                <a:latin typeface="Arial"/>
                <a:cs typeface="Arial"/>
              </a:rPr>
              <a:t>―O</a:t>
            </a:r>
            <a:r>
              <a:rPr dirty="0" sz="1200" spc="35">
                <a:latin typeface="Arial"/>
                <a:cs typeface="Arial"/>
              </a:rPr>
              <a:t> </a:t>
            </a:r>
            <a:r>
              <a:rPr dirty="0" sz="1200" spc="-5">
                <a:latin typeface="Arial"/>
                <a:cs typeface="Arial"/>
              </a:rPr>
              <a:t>Muhammad! Surrender </a:t>
            </a:r>
            <a:r>
              <a:rPr dirty="0" sz="1200">
                <a:latin typeface="Arial"/>
                <a:cs typeface="Arial"/>
              </a:rPr>
              <a:t>to our </a:t>
            </a:r>
            <a:r>
              <a:rPr dirty="0" sz="1200" spc="-5">
                <a:latin typeface="Arial"/>
                <a:cs typeface="Arial"/>
              </a:rPr>
              <a:t>deity </a:t>
            </a:r>
            <a:r>
              <a:rPr dirty="0" sz="1200">
                <a:latin typeface="Arial"/>
                <a:cs typeface="Arial"/>
              </a:rPr>
              <a:t>so that </a:t>
            </a:r>
            <a:r>
              <a:rPr dirty="0" sz="1200" spc="-10">
                <a:latin typeface="Arial"/>
                <a:cs typeface="Arial"/>
              </a:rPr>
              <a:t>we </a:t>
            </a:r>
            <a:r>
              <a:rPr dirty="0" sz="1200" spc="-5">
                <a:latin typeface="Arial"/>
                <a:cs typeface="Arial"/>
              </a:rPr>
              <a:t>worship </a:t>
            </a:r>
            <a:r>
              <a:rPr dirty="0" sz="1200">
                <a:latin typeface="Arial"/>
                <a:cs typeface="Arial"/>
              </a:rPr>
              <a:t>the  God </a:t>
            </a:r>
            <a:r>
              <a:rPr dirty="0" sz="1200" spc="-5">
                <a:latin typeface="Arial"/>
                <a:cs typeface="Arial"/>
              </a:rPr>
              <a:t>you </a:t>
            </a:r>
            <a:r>
              <a:rPr dirty="0" sz="1200" spc="-15">
                <a:latin typeface="Arial"/>
                <a:cs typeface="Arial"/>
              </a:rPr>
              <a:t>worship‖. </a:t>
            </a:r>
            <a:r>
              <a:rPr dirty="0" sz="1200">
                <a:latin typeface="Arial"/>
                <a:cs typeface="Arial"/>
              </a:rPr>
              <a:t>And so </a:t>
            </a:r>
            <a:r>
              <a:rPr dirty="0" sz="1200" spc="-5">
                <a:latin typeface="Arial"/>
                <a:cs typeface="Arial"/>
              </a:rPr>
              <a:t>Allah said addressing his </a:t>
            </a:r>
            <a:r>
              <a:rPr dirty="0" sz="1200">
                <a:latin typeface="Arial"/>
                <a:cs typeface="Arial"/>
              </a:rPr>
              <a:t>Prophet: </a:t>
            </a:r>
            <a:r>
              <a:rPr dirty="0" sz="1200" spc="-10">
                <a:latin typeface="Arial"/>
                <a:cs typeface="Arial"/>
              </a:rPr>
              <a:t>Say, </a:t>
            </a:r>
            <a:r>
              <a:rPr dirty="0" sz="1200">
                <a:latin typeface="Arial"/>
                <a:cs typeface="Arial"/>
              </a:rPr>
              <a:t>O </a:t>
            </a:r>
            <a:r>
              <a:rPr dirty="0" sz="1200" spc="-5">
                <a:latin typeface="Arial"/>
                <a:cs typeface="Arial"/>
              </a:rPr>
              <a:t>Muhammad, </a:t>
            </a:r>
            <a:r>
              <a:rPr dirty="0" sz="1200">
                <a:latin typeface="Arial"/>
                <a:cs typeface="Arial"/>
              </a:rPr>
              <a:t>to </a:t>
            </a:r>
            <a:r>
              <a:rPr dirty="0" sz="1200" spc="-5">
                <a:latin typeface="Arial"/>
                <a:cs typeface="Arial"/>
              </a:rPr>
              <a:t>these  deriders, </a:t>
            </a:r>
            <a:r>
              <a:rPr dirty="0" sz="1200">
                <a:latin typeface="Arial"/>
                <a:cs typeface="Arial"/>
              </a:rPr>
              <a:t>O </a:t>
            </a:r>
            <a:r>
              <a:rPr dirty="0" sz="1200" spc="-5">
                <a:latin typeface="Arial"/>
                <a:cs typeface="Arial"/>
              </a:rPr>
              <a:t>disbelievers </a:t>
            </a:r>
            <a:r>
              <a:rPr dirty="0" sz="1200" spc="-10">
                <a:latin typeface="Arial"/>
                <a:cs typeface="Arial"/>
              </a:rPr>
              <a:t>who </a:t>
            </a:r>
            <a:r>
              <a:rPr dirty="0" sz="1200" spc="5">
                <a:latin typeface="Arial"/>
                <a:cs typeface="Arial"/>
              </a:rPr>
              <a:t>mock </a:t>
            </a:r>
            <a:r>
              <a:rPr dirty="0" sz="1200" spc="-5">
                <a:latin typeface="Arial"/>
                <a:cs typeface="Arial"/>
              </a:rPr>
              <a:t>Allah and </a:t>
            </a:r>
            <a:r>
              <a:rPr dirty="0" sz="1200">
                <a:latin typeface="Arial"/>
                <a:cs typeface="Arial"/>
              </a:rPr>
              <a:t>the </a:t>
            </a:r>
            <a:r>
              <a:rPr dirty="0" sz="1200" spc="-5">
                <a:latin typeface="Arial"/>
                <a:cs typeface="Arial"/>
              </a:rPr>
              <a:t>Qur'an.</a:t>
            </a:r>
            <a:endParaRPr sz="1200">
              <a:latin typeface="Arial"/>
              <a:cs typeface="Arial"/>
            </a:endParaRPr>
          </a:p>
          <a:p>
            <a:pPr>
              <a:lnSpc>
                <a:spcPct val="100000"/>
              </a:lnSpc>
              <a:spcBef>
                <a:spcPts val="20"/>
              </a:spcBef>
            </a:pPr>
            <a:endParaRPr sz="1150">
              <a:latin typeface="Arial"/>
              <a:cs typeface="Arial"/>
            </a:endParaRPr>
          </a:p>
          <a:p>
            <a:pPr algn="r" marR="182245">
              <a:lnSpc>
                <a:spcPct val="100000"/>
              </a:lnSpc>
            </a:pPr>
            <a:r>
              <a:rPr dirty="0" baseline="3086" sz="2700" spc="-494">
                <a:latin typeface="Arial"/>
                <a:cs typeface="Arial"/>
              </a:rPr>
              <a:t>ن</a:t>
            </a:r>
            <a:r>
              <a:rPr dirty="0" sz="1800" spc="-330">
                <a:latin typeface="Arial"/>
                <a:cs typeface="Arial"/>
              </a:rPr>
              <a:t>َ </a:t>
            </a:r>
            <a:r>
              <a:rPr dirty="0" baseline="3086" sz="2700" spc="-240">
                <a:latin typeface="Arial"/>
                <a:cs typeface="Arial"/>
              </a:rPr>
              <a:t>ود</a:t>
            </a:r>
            <a:r>
              <a:rPr dirty="0" baseline="6172" sz="2700" spc="-240">
                <a:latin typeface="Arial"/>
                <a:cs typeface="Arial"/>
              </a:rPr>
              <a:t>ُ </a:t>
            </a:r>
            <a:r>
              <a:rPr dirty="0" baseline="3086" sz="2700" spc="-937">
                <a:latin typeface="Arial"/>
                <a:cs typeface="Arial"/>
              </a:rPr>
              <a:t>بُ</a:t>
            </a:r>
            <a:r>
              <a:rPr dirty="0" baseline="3086" sz="2700" spc="-165">
                <a:latin typeface="Arial"/>
                <a:cs typeface="Arial"/>
              </a:rPr>
              <a:t> </a:t>
            </a:r>
            <a:r>
              <a:rPr dirty="0" baseline="3086" sz="2700" spc="-569">
                <a:latin typeface="Arial"/>
                <a:cs typeface="Arial"/>
              </a:rPr>
              <a:t>عْ </a:t>
            </a:r>
            <a:r>
              <a:rPr dirty="0" baseline="3086" sz="2700" spc="-892">
                <a:latin typeface="Arial"/>
                <a:cs typeface="Arial"/>
              </a:rPr>
              <a:t>ت</a:t>
            </a:r>
            <a:r>
              <a:rPr dirty="0" baseline="7716" sz="2700" spc="-892">
                <a:latin typeface="Arial"/>
                <a:cs typeface="Arial"/>
              </a:rPr>
              <a:t>َ</a:t>
            </a:r>
            <a:r>
              <a:rPr dirty="0" baseline="7716" sz="2700" spc="517">
                <a:latin typeface="Arial"/>
                <a:cs typeface="Arial"/>
              </a:rPr>
              <a:t> </a:t>
            </a:r>
            <a:r>
              <a:rPr dirty="0" baseline="3086" sz="2700" spc="-225">
                <a:latin typeface="Arial"/>
                <a:cs typeface="Arial"/>
              </a:rPr>
              <a:t>ام</a:t>
            </a:r>
            <a:r>
              <a:rPr dirty="0" sz="1800" spc="-150">
                <a:latin typeface="Arial"/>
                <a:cs typeface="Arial"/>
              </a:rPr>
              <a:t>َ </a:t>
            </a:r>
            <a:r>
              <a:rPr dirty="0" baseline="3086" sz="2700" spc="-359">
                <a:latin typeface="Arial"/>
                <a:cs typeface="Arial"/>
              </a:rPr>
              <a:t>د</a:t>
            </a:r>
            <a:r>
              <a:rPr dirty="0" baseline="6172" sz="2700" spc="-359">
                <a:latin typeface="Arial"/>
                <a:cs typeface="Arial"/>
              </a:rPr>
              <a:t>ُ </a:t>
            </a:r>
            <a:r>
              <a:rPr dirty="0" baseline="3086" sz="2700" spc="-937">
                <a:latin typeface="Arial"/>
                <a:cs typeface="Arial"/>
              </a:rPr>
              <a:t>بُ</a:t>
            </a:r>
            <a:r>
              <a:rPr dirty="0" baseline="3086" sz="2700" spc="-165">
                <a:latin typeface="Arial"/>
                <a:cs typeface="Arial"/>
              </a:rPr>
              <a:t> </a:t>
            </a:r>
            <a:r>
              <a:rPr dirty="0" baseline="3086" sz="2700" spc="-569">
                <a:latin typeface="Arial"/>
                <a:cs typeface="Arial"/>
              </a:rPr>
              <a:t>عْ </a:t>
            </a:r>
            <a:r>
              <a:rPr dirty="0" baseline="16975" sz="2700">
                <a:latin typeface="Arial"/>
                <a:cs typeface="Arial"/>
              </a:rPr>
              <a:t>َ</a:t>
            </a:r>
            <a:r>
              <a:rPr dirty="0" baseline="3086" sz="2700">
                <a:latin typeface="Arial"/>
                <a:cs typeface="Arial"/>
              </a:rPr>
              <a:t>أ</a:t>
            </a:r>
            <a:r>
              <a:rPr dirty="0" baseline="3086" sz="2700" spc="-487">
                <a:latin typeface="Arial"/>
                <a:cs typeface="Arial"/>
              </a:rPr>
              <a:t> </a:t>
            </a:r>
            <a:r>
              <a:rPr dirty="0" baseline="9259" sz="2700" spc="-157">
                <a:latin typeface="Arial"/>
                <a:cs typeface="Arial"/>
              </a:rPr>
              <a:t>َ</a:t>
            </a:r>
            <a:r>
              <a:rPr dirty="0" baseline="3086" sz="2700" spc="-157">
                <a:latin typeface="Arial"/>
                <a:cs typeface="Arial"/>
              </a:rPr>
              <a:t>لا</a:t>
            </a:r>
            <a:endParaRPr baseline="3086" sz="2700">
              <a:latin typeface="Arial"/>
              <a:cs typeface="Arial"/>
            </a:endParaRPr>
          </a:p>
          <a:p>
            <a:pPr marL="203200">
              <a:lnSpc>
                <a:spcPct val="100000"/>
              </a:lnSpc>
              <a:spcBef>
                <a:spcPts val="1060"/>
              </a:spcBef>
            </a:pPr>
            <a:r>
              <a:rPr dirty="0" sz="1200">
                <a:latin typeface="Arial"/>
                <a:cs typeface="Arial"/>
              </a:rPr>
              <a:t>(I </a:t>
            </a:r>
            <a:r>
              <a:rPr dirty="0" sz="1200" spc="-5">
                <a:latin typeface="Arial"/>
                <a:cs typeface="Arial"/>
              </a:rPr>
              <a:t>worship </a:t>
            </a:r>
            <a:r>
              <a:rPr dirty="0" sz="1200">
                <a:latin typeface="Arial"/>
                <a:cs typeface="Arial"/>
              </a:rPr>
              <a:t>not </a:t>
            </a:r>
            <a:r>
              <a:rPr dirty="0" sz="1200" spc="-5">
                <a:latin typeface="Arial"/>
                <a:cs typeface="Arial"/>
              </a:rPr>
              <a:t>that which </a:t>
            </a:r>
            <a:r>
              <a:rPr dirty="0" sz="1200" spc="-10">
                <a:latin typeface="Arial"/>
                <a:cs typeface="Arial"/>
              </a:rPr>
              <a:t>ye </a:t>
            </a:r>
            <a:r>
              <a:rPr dirty="0" sz="1200" spc="-5">
                <a:latin typeface="Arial"/>
                <a:cs typeface="Arial"/>
              </a:rPr>
              <a:t>worship) </a:t>
            </a:r>
            <a:r>
              <a:rPr dirty="0" sz="1200">
                <a:latin typeface="Arial"/>
                <a:cs typeface="Arial"/>
              </a:rPr>
              <a:t>of </a:t>
            </a:r>
            <a:r>
              <a:rPr dirty="0" sz="1200" spc="-5">
                <a:latin typeface="Arial"/>
                <a:cs typeface="Arial"/>
              </a:rPr>
              <a:t>idols beside</a:t>
            </a:r>
            <a:r>
              <a:rPr dirty="0" sz="1200" spc="55">
                <a:latin typeface="Arial"/>
                <a:cs typeface="Arial"/>
              </a:rPr>
              <a:t> </a:t>
            </a:r>
            <a:r>
              <a:rPr dirty="0" sz="1200" spc="-5">
                <a:latin typeface="Arial"/>
                <a:cs typeface="Arial"/>
              </a:rPr>
              <a:t>Allah;</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75</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356615" y="970533"/>
            <a:ext cx="6655434" cy="8664575"/>
          </a:xfrm>
          <a:prstGeom prst="rect">
            <a:avLst/>
          </a:prstGeom>
        </p:spPr>
        <p:txBody>
          <a:bodyPr wrap="square" lIns="0" tIns="12700" rIns="0" bIns="0" rtlCol="0" vert="horz">
            <a:spAutoFit/>
          </a:bodyPr>
          <a:lstStyle/>
          <a:p>
            <a:pPr algn="r" marR="221615">
              <a:lnSpc>
                <a:spcPct val="100000"/>
              </a:lnSpc>
              <a:spcBef>
                <a:spcPts val="100"/>
              </a:spcBef>
            </a:pPr>
            <a:r>
              <a:rPr dirty="0" sz="1800" spc="-240">
                <a:latin typeface="Arial"/>
                <a:cs typeface="Arial"/>
              </a:rPr>
              <a:t>د</a:t>
            </a:r>
            <a:r>
              <a:rPr dirty="0" baseline="3086" sz="2700" spc="-359">
                <a:latin typeface="Arial"/>
                <a:cs typeface="Arial"/>
              </a:rPr>
              <a:t>ُ </a:t>
            </a:r>
            <a:r>
              <a:rPr dirty="0" sz="1800" spc="-620">
                <a:latin typeface="Arial"/>
                <a:cs typeface="Arial"/>
              </a:rPr>
              <a:t>بُ</a:t>
            </a:r>
            <a:r>
              <a:rPr dirty="0" sz="1800" spc="-110">
                <a:latin typeface="Arial"/>
                <a:cs typeface="Arial"/>
              </a:rPr>
              <a:t> </a:t>
            </a:r>
            <a:r>
              <a:rPr dirty="0" sz="1800" spc="-385">
                <a:latin typeface="Arial"/>
                <a:cs typeface="Arial"/>
              </a:rPr>
              <a:t>عْ </a:t>
            </a:r>
            <a:r>
              <a:rPr dirty="0" baseline="13888" sz="2700">
                <a:latin typeface="Arial"/>
                <a:cs typeface="Arial"/>
              </a:rPr>
              <a:t>َ</a:t>
            </a:r>
            <a:r>
              <a:rPr dirty="0" sz="1800">
                <a:latin typeface="Arial"/>
                <a:cs typeface="Arial"/>
              </a:rPr>
              <a:t>أ </a:t>
            </a:r>
            <a:r>
              <a:rPr dirty="0" sz="1800" spc="-150">
                <a:latin typeface="Arial"/>
                <a:cs typeface="Arial"/>
              </a:rPr>
              <a:t>آم</a:t>
            </a:r>
            <a:r>
              <a:rPr dirty="0" baseline="-3086" sz="2700" spc="-225">
                <a:latin typeface="Arial"/>
                <a:cs typeface="Arial"/>
              </a:rPr>
              <a:t>َ </a:t>
            </a:r>
            <a:r>
              <a:rPr dirty="0" sz="1800" spc="-330">
                <a:latin typeface="Arial"/>
                <a:cs typeface="Arial"/>
              </a:rPr>
              <a:t>ن</a:t>
            </a:r>
            <a:r>
              <a:rPr dirty="0" baseline="-3086" sz="2700" spc="-494">
                <a:latin typeface="Arial"/>
                <a:cs typeface="Arial"/>
              </a:rPr>
              <a:t>َ </a:t>
            </a:r>
            <a:r>
              <a:rPr dirty="0" sz="1800" spc="-160">
                <a:latin typeface="Arial"/>
                <a:cs typeface="Arial"/>
              </a:rPr>
              <a:t>ود</a:t>
            </a:r>
            <a:r>
              <a:rPr dirty="0" baseline="3086" sz="2700" spc="-240">
                <a:latin typeface="Arial"/>
                <a:cs typeface="Arial"/>
              </a:rPr>
              <a:t>ُ </a:t>
            </a:r>
            <a:r>
              <a:rPr dirty="0" sz="1800" spc="-645">
                <a:latin typeface="Arial"/>
                <a:cs typeface="Arial"/>
              </a:rPr>
              <a:t>ب</a:t>
            </a:r>
            <a:r>
              <a:rPr dirty="0" baseline="-13888" sz="2700" spc="-967">
                <a:latin typeface="Arial"/>
                <a:cs typeface="Arial"/>
              </a:rPr>
              <a:t>ِ</a:t>
            </a:r>
            <a:r>
              <a:rPr dirty="0" baseline="-13888" sz="2700" spc="-104">
                <a:latin typeface="Arial"/>
                <a:cs typeface="Arial"/>
              </a:rPr>
              <a:t> </a:t>
            </a:r>
            <a:r>
              <a:rPr dirty="0" sz="1800" spc="-260">
                <a:latin typeface="Arial"/>
                <a:cs typeface="Arial"/>
              </a:rPr>
              <a:t>اع</a:t>
            </a:r>
            <a:r>
              <a:rPr dirty="0" baseline="-3086" sz="2700" spc="-390">
                <a:latin typeface="Arial"/>
                <a:cs typeface="Arial"/>
              </a:rPr>
              <a:t>َ </a:t>
            </a:r>
            <a:r>
              <a:rPr dirty="0" sz="1800" spc="-235">
                <a:latin typeface="Arial"/>
                <a:cs typeface="Arial"/>
              </a:rPr>
              <a:t>م</a:t>
            </a:r>
            <a:r>
              <a:rPr dirty="0" baseline="-4629" sz="2700" spc="-352">
                <a:latin typeface="Arial"/>
                <a:cs typeface="Arial"/>
              </a:rPr>
              <a:t>ْ </a:t>
            </a:r>
            <a:r>
              <a:rPr dirty="0" sz="1800" spc="-620">
                <a:latin typeface="Arial"/>
                <a:cs typeface="Arial"/>
              </a:rPr>
              <a:t>ت</a:t>
            </a:r>
            <a:r>
              <a:rPr dirty="0" baseline="7716" sz="2700" spc="-930">
                <a:latin typeface="Arial"/>
                <a:cs typeface="Arial"/>
              </a:rPr>
              <a:t>ُ</a:t>
            </a:r>
            <a:r>
              <a:rPr dirty="0" baseline="7716" sz="2700" spc="-157">
                <a:latin typeface="Arial"/>
                <a:cs typeface="Arial"/>
              </a:rPr>
              <a:t> </a:t>
            </a:r>
            <a:r>
              <a:rPr dirty="0" sz="1800" spc="-300">
                <a:latin typeface="Arial"/>
                <a:cs typeface="Arial"/>
              </a:rPr>
              <a:t>نأ</a:t>
            </a:r>
            <a:r>
              <a:rPr dirty="0" baseline="13888" sz="2700" spc="-450">
                <a:latin typeface="Arial"/>
                <a:cs typeface="Arial"/>
              </a:rPr>
              <a:t>َ</a:t>
            </a:r>
            <a:r>
              <a:rPr dirty="0" baseline="13888" sz="2700" spc="-427">
                <a:latin typeface="Arial"/>
                <a:cs typeface="Arial"/>
              </a:rPr>
              <a:t> </a:t>
            </a:r>
            <a:r>
              <a:rPr dirty="0" baseline="6172" sz="2700" spc="-270">
                <a:latin typeface="Arial"/>
                <a:cs typeface="Arial"/>
              </a:rPr>
              <a:t>َ</a:t>
            </a:r>
            <a:r>
              <a:rPr dirty="0" sz="1800" spc="-180">
                <a:latin typeface="Arial"/>
                <a:cs typeface="Arial"/>
              </a:rPr>
              <a:t>لاو</a:t>
            </a:r>
            <a:endParaRPr sz="1800">
              <a:latin typeface="Arial"/>
              <a:cs typeface="Arial"/>
            </a:endParaRPr>
          </a:p>
          <a:p>
            <a:pPr marL="190500">
              <a:lnSpc>
                <a:spcPct val="100000"/>
              </a:lnSpc>
              <a:spcBef>
                <a:spcPts val="1140"/>
              </a:spcBef>
            </a:pPr>
            <a:r>
              <a:rPr dirty="0" sz="1200" spc="-5">
                <a:latin typeface="Arial"/>
                <a:cs typeface="Arial"/>
              </a:rPr>
              <a:t>(Nor worship </a:t>
            </a:r>
            <a:r>
              <a:rPr dirty="0" sz="1200" spc="-10">
                <a:latin typeface="Arial"/>
                <a:cs typeface="Arial"/>
              </a:rPr>
              <a:t>ye </a:t>
            </a:r>
            <a:r>
              <a:rPr dirty="0" sz="1200">
                <a:latin typeface="Arial"/>
                <a:cs typeface="Arial"/>
              </a:rPr>
              <a:t>that </a:t>
            </a:r>
            <a:r>
              <a:rPr dirty="0" sz="1200" spc="-5">
                <a:latin typeface="Arial"/>
                <a:cs typeface="Arial"/>
              </a:rPr>
              <a:t>which </a:t>
            </a:r>
            <a:r>
              <a:rPr dirty="0" sz="1200">
                <a:latin typeface="Arial"/>
                <a:cs typeface="Arial"/>
              </a:rPr>
              <a:t>I </a:t>
            </a:r>
            <a:r>
              <a:rPr dirty="0" sz="1200" spc="-5">
                <a:latin typeface="Arial"/>
                <a:cs typeface="Arial"/>
              </a:rPr>
              <a:t>worship) that which </a:t>
            </a:r>
            <a:r>
              <a:rPr dirty="0" sz="1200">
                <a:latin typeface="Arial"/>
                <a:cs typeface="Arial"/>
              </a:rPr>
              <a:t>I </a:t>
            </a:r>
            <a:r>
              <a:rPr dirty="0" sz="1200" spc="-10">
                <a:latin typeface="Arial"/>
                <a:cs typeface="Arial"/>
              </a:rPr>
              <a:t>will </a:t>
            </a:r>
            <a:r>
              <a:rPr dirty="0" sz="1200" spc="-5">
                <a:latin typeface="Arial"/>
                <a:cs typeface="Arial"/>
              </a:rPr>
              <a:t>worship in the</a:t>
            </a:r>
            <a:r>
              <a:rPr dirty="0" sz="1200" spc="80">
                <a:latin typeface="Arial"/>
                <a:cs typeface="Arial"/>
              </a:rPr>
              <a:t> </a:t>
            </a:r>
            <a:r>
              <a:rPr dirty="0" sz="1200">
                <a:latin typeface="Arial"/>
                <a:cs typeface="Arial"/>
              </a:rPr>
              <a:t>future.</a:t>
            </a:r>
            <a:endParaRPr sz="1200">
              <a:latin typeface="Arial"/>
              <a:cs typeface="Arial"/>
            </a:endParaRPr>
          </a:p>
          <a:p>
            <a:pPr>
              <a:lnSpc>
                <a:spcPct val="100000"/>
              </a:lnSpc>
              <a:spcBef>
                <a:spcPts val="30"/>
              </a:spcBef>
            </a:pPr>
            <a:endParaRPr sz="1100">
              <a:latin typeface="Arial"/>
              <a:cs typeface="Arial"/>
            </a:endParaRPr>
          </a:p>
          <a:p>
            <a:pPr algn="r" marR="221615">
              <a:lnSpc>
                <a:spcPct val="100000"/>
              </a:lnSpc>
            </a:pPr>
            <a:r>
              <a:rPr dirty="0" sz="1800" spc="-235">
                <a:latin typeface="Arial"/>
                <a:cs typeface="Arial"/>
              </a:rPr>
              <a:t>م</a:t>
            </a:r>
            <a:r>
              <a:rPr dirty="0" baseline="-4629" sz="2700" spc="-352">
                <a:latin typeface="Arial"/>
                <a:cs typeface="Arial"/>
              </a:rPr>
              <a:t>ْ </a:t>
            </a:r>
            <a:r>
              <a:rPr dirty="0" sz="1800" spc="-409">
                <a:latin typeface="Arial"/>
                <a:cs typeface="Arial"/>
              </a:rPr>
              <a:t>ت</a:t>
            </a:r>
            <a:r>
              <a:rPr dirty="0" baseline="7716" sz="2700" spc="-615">
                <a:latin typeface="Arial"/>
                <a:cs typeface="Arial"/>
              </a:rPr>
              <a:t>ُّ </a:t>
            </a:r>
            <a:r>
              <a:rPr dirty="0" sz="1800" spc="-405">
                <a:latin typeface="Arial"/>
                <a:cs typeface="Arial"/>
              </a:rPr>
              <a:t>دب</a:t>
            </a:r>
            <a:r>
              <a:rPr dirty="0" baseline="-3086" sz="2700" spc="-607">
                <a:latin typeface="Arial"/>
                <a:cs typeface="Arial"/>
              </a:rPr>
              <a:t>َ </a:t>
            </a:r>
            <a:r>
              <a:rPr dirty="0" sz="1800" spc="-405">
                <a:latin typeface="Arial"/>
                <a:cs typeface="Arial"/>
              </a:rPr>
              <a:t>ع</a:t>
            </a:r>
            <a:r>
              <a:rPr dirty="0" baseline="-3086" sz="2700" spc="-607">
                <a:latin typeface="Arial"/>
                <a:cs typeface="Arial"/>
              </a:rPr>
              <a:t>َ  </a:t>
            </a:r>
            <a:r>
              <a:rPr dirty="0" sz="1800" spc="-120">
                <a:latin typeface="Arial"/>
                <a:cs typeface="Arial"/>
              </a:rPr>
              <a:t>امَّ  </a:t>
            </a:r>
            <a:r>
              <a:rPr dirty="0" sz="1800" spc="-240">
                <a:latin typeface="Arial"/>
                <a:cs typeface="Arial"/>
              </a:rPr>
              <a:t>د</a:t>
            </a:r>
            <a:r>
              <a:rPr dirty="0" baseline="4629" sz="2700" spc="-359">
                <a:latin typeface="Arial"/>
                <a:cs typeface="Arial"/>
              </a:rPr>
              <a:t>ٌ </a:t>
            </a:r>
            <a:r>
              <a:rPr dirty="0" sz="1800" spc="-645">
                <a:latin typeface="Arial"/>
                <a:cs typeface="Arial"/>
              </a:rPr>
              <a:t>ب</a:t>
            </a:r>
            <a:r>
              <a:rPr dirty="0" baseline="-12345" sz="2700" spc="-967">
                <a:latin typeface="Arial"/>
                <a:cs typeface="Arial"/>
              </a:rPr>
              <a:t>ِ</a:t>
            </a:r>
            <a:r>
              <a:rPr dirty="0" baseline="-12345" sz="2700" spc="-112">
                <a:latin typeface="Arial"/>
                <a:cs typeface="Arial"/>
              </a:rPr>
              <a:t> </a:t>
            </a:r>
            <a:r>
              <a:rPr dirty="0" sz="1800" spc="-260">
                <a:latin typeface="Arial"/>
                <a:cs typeface="Arial"/>
              </a:rPr>
              <a:t>اع</a:t>
            </a:r>
            <a:r>
              <a:rPr dirty="0" baseline="-3086" sz="2700" spc="-390">
                <a:latin typeface="Arial"/>
                <a:cs typeface="Arial"/>
              </a:rPr>
              <a:t>َ </a:t>
            </a:r>
            <a:r>
              <a:rPr dirty="0" sz="1800" spc="-275">
                <a:latin typeface="Arial"/>
                <a:cs typeface="Arial"/>
              </a:rPr>
              <a:t>آن</a:t>
            </a:r>
            <a:r>
              <a:rPr dirty="0" baseline="6172" sz="2700" spc="-412">
                <a:latin typeface="Arial"/>
                <a:cs typeface="Arial"/>
              </a:rPr>
              <a:t>َ </a:t>
            </a:r>
            <a:r>
              <a:rPr dirty="0" baseline="13888" sz="2700">
                <a:latin typeface="Arial"/>
                <a:cs typeface="Arial"/>
              </a:rPr>
              <a:t>َ</a:t>
            </a:r>
            <a:r>
              <a:rPr dirty="0" sz="1800">
                <a:latin typeface="Arial"/>
                <a:cs typeface="Arial"/>
              </a:rPr>
              <a:t>أ</a:t>
            </a:r>
            <a:r>
              <a:rPr dirty="0" sz="1800" spc="-225">
                <a:latin typeface="Arial"/>
                <a:cs typeface="Arial"/>
              </a:rPr>
              <a:t> </a:t>
            </a:r>
            <a:r>
              <a:rPr dirty="0" baseline="6172" sz="2700" spc="-270">
                <a:latin typeface="Arial"/>
                <a:cs typeface="Arial"/>
              </a:rPr>
              <a:t>َ</a:t>
            </a:r>
            <a:r>
              <a:rPr dirty="0" sz="1800" spc="-180">
                <a:latin typeface="Arial"/>
                <a:cs typeface="Arial"/>
              </a:rPr>
              <a:t>لاو</a:t>
            </a:r>
            <a:endParaRPr sz="1800">
              <a:latin typeface="Arial"/>
              <a:cs typeface="Arial"/>
            </a:endParaRPr>
          </a:p>
          <a:p>
            <a:pPr marL="190500">
              <a:lnSpc>
                <a:spcPct val="100000"/>
              </a:lnSpc>
              <a:spcBef>
                <a:spcPts val="1140"/>
              </a:spcBef>
            </a:pPr>
            <a:r>
              <a:rPr dirty="0" sz="1200" spc="-5">
                <a:latin typeface="Arial"/>
                <a:cs typeface="Arial"/>
              </a:rPr>
              <a:t>(And </a:t>
            </a:r>
            <a:r>
              <a:rPr dirty="0" sz="1200">
                <a:latin typeface="Arial"/>
                <a:cs typeface="Arial"/>
              </a:rPr>
              <a:t>I </a:t>
            </a:r>
            <a:r>
              <a:rPr dirty="0" sz="1200" spc="-5">
                <a:latin typeface="Arial"/>
                <a:cs typeface="Arial"/>
              </a:rPr>
              <a:t>shall not worship that which </a:t>
            </a:r>
            <a:r>
              <a:rPr dirty="0" sz="1200" spc="-10">
                <a:latin typeface="Arial"/>
                <a:cs typeface="Arial"/>
              </a:rPr>
              <a:t>ye </a:t>
            </a:r>
            <a:r>
              <a:rPr dirty="0" sz="1200" spc="-5">
                <a:latin typeface="Arial"/>
                <a:cs typeface="Arial"/>
              </a:rPr>
              <a:t>worship) beside</a:t>
            </a:r>
            <a:r>
              <a:rPr dirty="0" sz="1200" spc="45">
                <a:latin typeface="Arial"/>
                <a:cs typeface="Arial"/>
              </a:rPr>
              <a:t> </a:t>
            </a:r>
            <a:r>
              <a:rPr dirty="0" sz="1200" spc="-5">
                <a:latin typeface="Arial"/>
                <a:cs typeface="Arial"/>
              </a:rPr>
              <a:t>Allah.</a:t>
            </a:r>
            <a:endParaRPr sz="1200">
              <a:latin typeface="Arial"/>
              <a:cs typeface="Arial"/>
            </a:endParaRPr>
          </a:p>
          <a:p>
            <a:pPr>
              <a:lnSpc>
                <a:spcPct val="100000"/>
              </a:lnSpc>
              <a:spcBef>
                <a:spcPts val="20"/>
              </a:spcBef>
            </a:pPr>
            <a:endParaRPr sz="1100">
              <a:latin typeface="Arial"/>
              <a:cs typeface="Arial"/>
            </a:endParaRPr>
          </a:p>
          <a:p>
            <a:pPr algn="r" marR="221615">
              <a:lnSpc>
                <a:spcPct val="100000"/>
              </a:lnSpc>
            </a:pPr>
            <a:r>
              <a:rPr dirty="0" sz="1800" spc="-240">
                <a:latin typeface="Arial"/>
                <a:cs typeface="Arial"/>
              </a:rPr>
              <a:t>د</a:t>
            </a:r>
            <a:r>
              <a:rPr dirty="0" baseline="3086" sz="2700" spc="-359">
                <a:latin typeface="Arial"/>
                <a:cs typeface="Arial"/>
              </a:rPr>
              <a:t>ُ </a:t>
            </a:r>
            <a:r>
              <a:rPr dirty="0" sz="1800" spc="-620">
                <a:latin typeface="Arial"/>
                <a:cs typeface="Arial"/>
              </a:rPr>
              <a:t>بُ</a:t>
            </a:r>
            <a:r>
              <a:rPr dirty="0" sz="1800" spc="-110">
                <a:latin typeface="Arial"/>
                <a:cs typeface="Arial"/>
              </a:rPr>
              <a:t> </a:t>
            </a:r>
            <a:r>
              <a:rPr dirty="0" sz="1800" spc="-385">
                <a:latin typeface="Arial"/>
                <a:cs typeface="Arial"/>
              </a:rPr>
              <a:t>عْ </a:t>
            </a:r>
            <a:r>
              <a:rPr dirty="0" baseline="13888" sz="2700">
                <a:latin typeface="Arial"/>
                <a:cs typeface="Arial"/>
              </a:rPr>
              <a:t>َ</a:t>
            </a:r>
            <a:r>
              <a:rPr dirty="0" sz="1800">
                <a:latin typeface="Arial"/>
                <a:cs typeface="Arial"/>
              </a:rPr>
              <a:t>أ </a:t>
            </a:r>
            <a:r>
              <a:rPr dirty="0" sz="1800" spc="-150">
                <a:latin typeface="Arial"/>
                <a:cs typeface="Arial"/>
              </a:rPr>
              <a:t>آم</a:t>
            </a:r>
            <a:r>
              <a:rPr dirty="0" baseline="-3086" sz="2700" spc="-225">
                <a:latin typeface="Arial"/>
                <a:cs typeface="Arial"/>
              </a:rPr>
              <a:t>َ </a:t>
            </a:r>
            <a:r>
              <a:rPr dirty="0" sz="1800" spc="-330">
                <a:latin typeface="Arial"/>
                <a:cs typeface="Arial"/>
              </a:rPr>
              <a:t>ن</a:t>
            </a:r>
            <a:r>
              <a:rPr dirty="0" baseline="-3086" sz="2700" spc="-494">
                <a:latin typeface="Arial"/>
                <a:cs typeface="Arial"/>
              </a:rPr>
              <a:t>َ </a:t>
            </a:r>
            <a:r>
              <a:rPr dirty="0" sz="1800" spc="-160">
                <a:latin typeface="Arial"/>
                <a:cs typeface="Arial"/>
              </a:rPr>
              <a:t>ود</a:t>
            </a:r>
            <a:r>
              <a:rPr dirty="0" baseline="3086" sz="2700" spc="-240">
                <a:latin typeface="Arial"/>
                <a:cs typeface="Arial"/>
              </a:rPr>
              <a:t>ُ </a:t>
            </a:r>
            <a:r>
              <a:rPr dirty="0" sz="1800" spc="-645">
                <a:latin typeface="Arial"/>
                <a:cs typeface="Arial"/>
              </a:rPr>
              <a:t>ب</a:t>
            </a:r>
            <a:r>
              <a:rPr dirty="0" baseline="-13888" sz="2700" spc="-967">
                <a:latin typeface="Arial"/>
                <a:cs typeface="Arial"/>
              </a:rPr>
              <a:t>ِ</a:t>
            </a:r>
            <a:r>
              <a:rPr dirty="0" baseline="-13888" sz="2700" spc="-104">
                <a:latin typeface="Arial"/>
                <a:cs typeface="Arial"/>
              </a:rPr>
              <a:t> </a:t>
            </a:r>
            <a:r>
              <a:rPr dirty="0" sz="1800" spc="-260">
                <a:latin typeface="Arial"/>
                <a:cs typeface="Arial"/>
              </a:rPr>
              <a:t>اع</a:t>
            </a:r>
            <a:r>
              <a:rPr dirty="0" baseline="-3086" sz="2700" spc="-390">
                <a:latin typeface="Arial"/>
                <a:cs typeface="Arial"/>
              </a:rPr>
              <a:t>َ </a:t>
            </a:r>
            <a:r>
              <a:rPr dirty="0" sz="1800" spc="-235">
                <a:latin typeface="Arial"/>
                <a:cs typeface="Arial"/>
              </a:rPr>
              <a:t>م</a:t>
            </a:r>
            <a:r>
              <a:rPr dirty="0" baseline="-4629" sz="2700" spc="-352">
                <a:latin typeface="Arial"/>
                <a:cs typeface="Arial"/>
              </a:rPr>
              <a:t>ْ </a:t>
            </a:r>
            <a:r>
              <a:rPr dirty="0" sz="1800" spc="-620">
                <a:latin typeface="Arial"/>
                <a:cs typeface="Arial"/>
              </a:rPr>
              <a:t>ت</a:t>
            </a:r>
            <a:r>
              <a:rPr dirty="0" baseline="7716" sz="2700" spc="-930">
                <a:latin typeface="Arial"/>
                <a:cs typeface="Arial"/>
              </a:rPr>
              <a:t>ُ</a:t>
            </a:r>
            <a:r>
              <a:rPr dirty="0" baseline="7716" sz="2700" spc="-157">
                <a:latin typeface="Arial"/>
                <a:cs typeface="Arial"/>
              </a:rPr>
              <a:t> </a:t>
            </a:r>
            <a:r>
              <a:rPr dirty="0" sz="1800" spc="-185">
                <a:latin typeface="Arial"/>
                <a:cs typeface="Arial"/>
              </a:rPr>
              <a:t>ن</a:t>
            </a:r>
            <a:r>
              <a:rPr dirty="0" baseline="13888" sz="2700" spc="-277">
                <a:latin typeface="Arial"/>
                <a:cs typeface="Arial"/>
              </a:rPr>
              <a:t>َ</a:t>
            </a:r>
            <a:r>
              <a:rPr dirty="0" sz="1800" spc="-185">
                <a:latin typeface="Arial"/>
                <a:cs typeface="Arial"/>
              </a:rPr>
              <a:t>أ</a:t>
            </a:r>
            <a:r>
              <a:rPr dirty="0" sz="1800" spc="-254">
                <a:latin typeface="Arial"/>
                <a:cs typeface="Arial"/>
              </a:rPr>
              <a:t> </a:t>
            </a:r>
            <a:r>
              <a:rPr dirty="0" baseline="6172" sz="2700" spc="-270">
                <a:latin typeface="Arial"/>
                <a:cs typeface="Arial"/>
              </a:rPr>
              <a:t>َ</a:t>
            </a:r>
            <a:r>
              <a:rPr dirty="0" sz="1800" spc="-180">
                <a:latin typeface="Arial"/>
                <a:cs typeface="Arial"/>
              </a:rPr>
              <a:t>لاو</a:t>
            </a:r>
            <a:endParaRPr sz="1800">
              <a:latin typeface="Arial"/>
              <a:cs typeface="Arial"/>
            </a:endParaRPr>
          </a:p>
          <a:p>
            <a:pPr algn="just" marL="190500" marR="177165">
              <a:lnSpc>
                <a:spcPct val="95900"/>
              </a:lnSpc>
              <a:spcBef>
                <a:spcPts val="1200"/>
              </a:spcBef>
            </a:pPr>
            <a:r>
              <a:rPr dirty="0" sz="1200" spc="-5">
                <a:latin typeface="Arial"/>
                <a:cs typeface="Arial"/>
              </a:rPr>
              <a:t>(Nor </a:t>
            </a:r>
            <a:r>
              <a:rPr dirty="0" sz="1200" spc="-10">
                <a:latin typeface="Arial"/>
                <a:cs typeface="Arial"/>
              </a:rPr>
              <a:t>will ye </a:t>
            </a:r>
            <a:r>
              <a:rPr dirty="0" sz="1200" spc="-5">
                <a:latin typeface="Arial"/>
                <a:cs typeface="Arial"/>
              </a:rPr>
              <a:t>worship that which </a:t>
            </a:r>
            <a:r>
              <a:rPr dirty="0" sz="1200">
                <a:latin typeface="Arial"/>
                <a:cs typeface="Arial"/>
              </a:rPr>
              <a:t>I </a:t>
            </a:r>
            <a:r>
              <a:rPr dirty="0" sz="1200" spc="-5">
                <a:latin typeface="Arial"/>
                <a:cs typeface="Arial"/>
              </a:rPr>
              <a:t>worship) </a:t>
            </a:r>
            <a:r>
              <a:rPr dirty="0" sz="1200">
                <a:latin typeface="Arial"/>
                <a:cs typeface="Arial"/>
              </a:rPr>
              <a:t>that </a:t>
            </a:r>
            <a:r>
              <a:rPr dirty="0" sz="1200" spc="-5">
                <a:latin typeface="Arial"/>
                <a:cs typeface="Arial"/>
              </a:rPr>
              <a:t>which </a:t>
            </a:r>
            <a:r>
              <a:rPr dirty="0" sz="1200">
                <a:latin typeface="Arial"/>
                <a:cs typeface="Arial"/>
              </a:rPr>
              <a:t>I </a:t>
            </a:r>
            <a:r>
              <a:rPr dirty="0" sz="1200" spc="-5">
                <a:latin typeface="Arial"/>
                <a:cs typeface="Arial"/>
              </a:rPr>
              <a:t>worshipped </a:t>
            </a:r>
            <a:r>
              <a:rPr dirty="0" sz="1200" spc="-10">
                <a:latin typeface="Arial"/>
                <a:cs typeface="Arial"/>
              </a:rPr>
              <a:t>in </a:t>
            </a:r>
            <a:r>
              <a:rPr dirty="0" sz="1200" spc="-5">
                <a:latin typeface="Arial"/>
                <a:cs typeface="Arial"/>
              </a:rPr>
              <a:t>the past; </a:t>
            </a:r>
            <a:r>
              <a:rPr dirty="0" sz="1200">
                <a:latin typeface="Arial"/>
                <a:cs typeface="Arial"/>
              </a:rPr>
              <a:t>it </a:t>
            </a:r>
            <a:r>
              <a:rPr dirty="0" sz="1200" spc="-5">
                <a:latin typeface="Arial"/>
                <a:cs typeface="Arial"/>
              </a:rPr>
              <a:t>is also said  </a:t>
            </a:r>
            <a:r>
              <a:rPr dirty="0" sz="1200">
                <a:latin typeface="Arial"/>
                <a:cs typeface="Arial"/>
              </a:rPr>
              <a:t>this </a:t>
            </a:r>
            <a:r>
              <a:rPr dirty="0" sz="1200" spc="-5">
                <a:latin typeface="Arial"/>
                <a:cs typeface="Arial"/>
              </a:rPr>
              <a:t>means: </a:t>
            </a:r>
            <a:r>
              <a:rPr dirty="0" sz="1200">
                <a:latin typeface="Arial"/>
                <a:cs typeface="Arial"/>
              </a:rPr>
              <a:t>I </a:t>
            </a:r>
            <a:r>
              <a:rPr dirty="0" sz="1200" spc="-5">
                <a:latin typeface="Arial"/>
                <a:cs typeface="Arial"/>
              </a:rPr>
              <a:t>do not </a:t>
            </a:r>
            <a:r>
              <a:rPr dirty="0" sz="1200" spc="-10">
                <a:latin typeface="Arial"/>
                <a:cs typeface="Arial"/>
              </a:rPr>
              <a:t>believe </a:t>
            </a:r>
            <a:r>
              <a:rPr dirty="0" sz="1200" spc="-5">
                <a:latin typeface="Arial"/>
                <a:cs typeface="Arial"/>
              </a:rPr>
              <a:t>in </a:t>
            </a:r>
            <a:r>
              <a:rPr dirty="0" sz="1200">
                <a:latin typeface="Arial"/>
                <a:cs typeface="Arial"/>
              </a:rPr>
              <a:t>the </a:t>
            </a:r>
            <a:r>
              <a:rPr dirty="0" sz="1200" spc="-5">
                <a:latin typeface="Arial"/>
                <a:cs typeface="Arial"/>
              </a:rPr>
              <a:t>divinity in which </a:t>
            </a:r>
            <a:r>
              <a:rPr dirty="0" sz="1200" spc="-10">
                <a:latin typeface="Arial"/>
                <a:cs typeface="Arial"/>
              </a:rPr>
              <a:t>you </a:t>
            </a:r>
            <a:r>
              <a:rPr dirty="0" sz="1200" spc="-5">
                <a:latin typeface="Arial"/>
                <a:cs typeface="Arial"/>
              </a:rPr>
              <a:t>believe nor will </a:t>
            </a:r>
            <a:r>
              <a:rPr dirty="0" sz="1200">
                <a:latin typeface="Arial"/>
                <a:cs typeface="Arial"/>
              </a:rPr>
              <a:t>I </a:t>
            </a:r>
            <a:r>
              <a:rPr dirty="0" sz="1200" spc="-5">
                <a:latin typeface="Arial"/>
                <a:cs typeface="Arial"/>
              </a:rPr>
              <a:t>believe in </a:t>
            </a:r>
            <a:r>
              <a:rPr dirty="0" sz="1200">
                <a:latin typeface="Arial"/>
                <a:cs typeface="Arial"/>
              </a:rPr>
              <a:t>the </a:t>
            </a:r>
            <a:r>
              <a:rPr dirty="0" sz="1200" spc="-5">
                <a:latin typeface="Arial"/>
                <a:cs typeface="Arial"/>
              </a:rPr>
              <a:t>divinity  which </a:t>
            </a:r>
            <a:r>
              <a:rPr dirty="0" sz="1200" spc="-10">
                <a:latin typeface="Arial"/>
                <a:cs typeface="Arial"/>
              </a:rPr>
              <a:t>you </a:t>
            </a:r>
            <a:r>
              <a:rPr dirty="0" sz="1200" spc="-5">
                <a:latin typeface="Arial"/>
                <a:cs typeface="Arial"/>
              </a:rPr>
              <a:t>believe in beside Allah nor will you believe in </a:t>
            </a:r>
            <a:r>
              <a:rPr dirty="0" sz="1200">
                <a:latin typeface="Arial"/>
                <a:cs typeface="Arial"/>
              </a:rPr>
              <a:t>the </a:t>
            </a:r>
            <a:r>
              <a:rPr dirty="0" sz="1200" spc="-5">
                <a:latin typeface="Arial"/>
                <a:cs typeface="Arial"/>
              </a:rPr>
              <a:t>divine Oneness of Allah which </a:t>
            </a:r>
            <a:r>
              <a:rPr dirty="0" sz="1200">
                <a:latin typeface="Arial"/>
                <a:cs typeface="Arial"/>
              </a:rPr>
              <a:t>I  </a:t>
            </a:r>
            <a:r>
              <a:rPr dirty="0" sz="1200" spc="-5">
                <a:latin typeface="Arial"/>
                <a:cs typeface="Arial"/>
              </a:rPr>
              <a:t>believe </a:t>
            </a:r>
            <a:r>
              <a:rPr dirty="0" sz="1200">
                <a:latin typeface="Arial"/>
                <a:cs typeface="Arial"/>
              </a:rPr>
              <a:t>in.</a:t>
            </a:r>
            <a:endParaRPr sz="1200">
              <a:latin typeface="Arial"/>
              <a:cs typeface="Arial"/>
            </a:endParaRPr>
          </a:p>
          <a:p>
            <a:pPr algn="r" marR="169545">
              <a:lnSpc>
                <a:spcPts val="2100"/>
              </a:lnSpc>
            </a:pPr>
            <a:r>
              <a:rPr dirty="0" baseline="1543" sz="2700" spc="-615">
                <a:latin typeface="Arial"/>
                <a:cs typeface="Arial"/>
              </a:rPr>
              <a:t>ن</a:t>
            </a:r>
            <a:r>
              <a:rPr dirty="0" baseline="-12345" sz="2700" spc="-615">
                <a:latin typeface="Arial"/>
                <a:cs typeface="Arial"/>
              </a:rPr>
              <a:t>ِ </a:t>
            </a:r>
            <a:r>
              <a:rPr dirty="0" baseline="1543" sz="2700" spc="-232">
                <a:latin typeface="Arial"/>
                <a:cs typeface="Arial"/>
              </a:rPr>
              <a:t>ٌد</a:t>
            </a:r>
            <a:r>
              <a:rPr dirty="0" sz="1800" spc="-155">
                <a:latin typeface="Arial"/>
                <a:cs typeface="Arial"/>
              </a:rPr>
              <a:t>ِ </a:t>
            </a:r>
            <a:r>
              <a:rPr dirty="0" baseline="1543" sz="2700">
                <a:latin typeface="Arial"/>
                <a:cs typeface="Arial"/>
              </a:rPr>
              <a:t>ً</a:t>
            </a:r>
            <a:r>
              <a:rPr dirty="0" baseline="-1543" sz="2700">
                <a:latin typeface="Arial"/>
                <a:cs typeface="Arial"/>
              </a:rPr>
              <a:t>َ </a:t>
            </a:r>
            <a:r>
              <a:rPr dirty="0" sz="1800" spc="-240">
                <a:latin typeface="Arial"/>
                <a:cs typeface="Arial"/>
              </a:rPr>
              <a:t>ِ</a:t>
            </a:r>
            <a:r>
              <a:rPr dirty="0" baseline="1543" sz="2700" spc="-359">
                <a:latin typeface="Arial"/>
                <a:cs typeface="Arial"/>
              </a:rPr>
              <a:t>لو</a:t>
            </a:r>
            <a:r>
              <a:rPr dirty="0" baseline="-1543" sz="2700" spc="-359">
                <a:latin typeface="Arial"/>
                <a:cs typeface="Arial"/>
              </a:rPr>
              <a:t>َ </a:t>
            </a:r>
            <a:r>
              <a:rPr dirty="0" baseline="1543" sz="2700" spc="-352">
                <a:latin typeface="Arial"/>
                <a:cs typeface="Arial"/>
              </a:rPr>
              <a:t>م</a:t>
            </a:r>
            <a:r>
              <a:rPr dirty="0" baseline="-3086" sz="2700" spc="-352">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72">
                <a:latin typeface="Arial"/>
                <a:cs typeface="Arial"/>
              </a:rPr>
              <a:t> </a:t>
            </a:r>
            <a:r>
              <a:rPr dirty="0" baseline="1543" sz="2700" spc="-682">
                <a:latin typeface="Arial"/>
                <a:cs typeface="Arial"/>
              </a:rPr>
              <a:t>ن</a:t>
            </a:r>
            <a:r>
              <a:rPr dirty="0" baseline="9259" sz="2700" spc="-682">
                <a:latin typeface="Arial"/>
                <a:cs typeface="Arial"/>
              </a:rPr>
              <a:t>ُ </a:t>
            </a:r>
            <a:r>
              <a:rPr dirty="0" baseline="1543" sz="2700" spc="-232">
                <a:latin typeface="Arial"/>
                <a:cs typeface="Arial"/>
              </a:rPr>
              <a:t>ٌد</a:t>
            </a:r>
            <a:r>
              <a:rPr dirty="0" sz="1800" spc="-155">
                <a:latin typeface="Arial"/>
                <a:cs typeface="Arial"/>
              </a:rPr>
              <a:t>ِ </a:t>
            </a:r>
            <a:r>
              <a:rPr dirty="0" baseline="1543" sz="2700" spc="-352">
                <a:latin typeface="Arial"/>
                <a:cs typeface="Arial"/>
              </a:rPr>
              <a:t>م</a:t>
            </a:r>
            <a:r>
              <a:rPr dirty="0" baseline="-3086" sz="2700" spc="-352">
                <a:latin typeface="Arial"/>
                <a:cs typeface="Arial"/>
              </a:rPr>
              <a:t>ْ</a:t>
            </a:r>
            <a:r>
              <a:rPr dirty="0" baseline="-3086" sz="2700" spc="-540">
                <a:latin typeface="Arial"/>
                <a:cs typeface="Arial"/>
              </a:rPr>
              <a:t> </a:t>
            </a:r>
            <a:r>
              <a:rPr dirty="0" baseline="1543" sz="2700" spc="-757">
                <a:latin typeface="Arial"/>
                <a:cs typeface="Arial"/>
              </a:rPr>
              <a:t>ك</a:t>
            </a:r>
            <a:r>
              <a:rPr dirty="0" baseline="9259" sz="2700" spc="-757">
                <a:latin typeface="Arial"/>
                <a:cs typeface="Arial"/>
              </a:rPr>
              <a:t>ُ</a:t>
            </a:r>
            <a:r>
              <a:rPr dirty="0" baseline="9259" sz="2700" spc="172">
                <a:latin typeface="Arial"/>
                <a:cs typeface="Arial"/>
              </a:rPr>
              <a:t> </a:t>
            </a:r>
            <a:r>
              <a:rPr dirty="0" baseline="9259" sz="2700" spc="-405">
                <a:latin typeface="Arial"/>
                <a:cs typeface="Arial"/>
              </a:rPr>
              <a:t>َ</a:t>
            </a:r>
            <a:r>
              <a:rPr dirty="0" baseline="1543" sz="2700" spc="-405">
                <a:latin typeface="Arial"/>
                <a:cs typeface="Arial"/>
              </a:rPr>
              <a:t>ل</a:t>
            </a:r>
            <a:endParaRPr baseline="1543" sz="2700">
              <a:latin typeface="Arial"/>
              <a:cs typeface="Arial"/>
            </a:endParaRPr>
          </a:p>
          <a:p>
            <a:pPr algn="just" marL="190500" marR="178435">
              <a:lnSpc>
                <a:spcPts val="1380"/>
              </a:lnSpc>
              <a:spcBef>
                <a:spcPts val="1210"/>
              </a:spcBef>
            </a:pPr>
            <a:r>
              <a:rPr dirty="0" sz="1200" spc="-5">
                <a:latin typeface="Arial"/>
                <a:cs typeface="Arial"/>
              </a:rPr>
              <a:t>(Unto you your religion) </a:t>
            </a:r>
            <a:r>
              <a:rPr dirty="0" sz="1200">
                <a:latin typeface="Arial"/>
                <a:cs typeface="Arial"/>
              </a:rPr>
              <a:t>of </a:t>
            </a:r>
            <a:r>
              <a:rPr dirty="0" sz="1200" spc="-5">
                <a:latin typeface="Arial"/>
                <a:cs typeface="Arial"/>
              </a:rPr>
              <a:t>disbelief and ascribing </a:t>
            </a:r>
            <a:r>
              <a:rPr dirty="0" sz="1200">
                <a:latin typeface="Arial"/>
                <a:cs typeface="Arial"/>
              </a:rPr>
              <a:t>partners to </a:t>
            </a:r>
            <a:r>
              <a:rPr dirty="0" sz="1200" spc="-5">
                <a:latin typeface="Arial"/>
                <a:cs typeface="Arial"/>
              </a:rPr>
              <a:t>Allah, (and unto </a:t>
            </a:r>
            <a:r>
              <a:rPr dirty="0" sz="1200">
                <a:latin typeface="Arial"/>
                <a:cs typeface="Arial"/>
              </a:rPr>
              <a:t>me my </a:t>
            </a:r>
            <a:r>
              <a:rPr dirty="0" sz="1200" spc="-5">
                <a:latin typeface="Arial"/>
                <a:cs typeface="Arial"/>
              </a:rPr>
              <a:t>religion)  </a:t>
            </a:r>
            <a:r>
              <a:rPr dirty="0" sz="1200">
                <a:latin typeface="Arial"/>
                <a:cs typeface="Arial"/>
              </a:rPr>
              <a:t>Islam </a:t>
            </a:r>
            <a:r>
              <a:rPr dirty="0" sz="1200" spc="-5">
                <a:latin typeface="Arial"/>
                <a:cs typeface="Arial"/>
              </a:rPr>
              <a:t>and </a:t>
            </a:r>
            <a:r>
              <a:rPr dirty="0" sz="1200">
                <a:latin typeface="Arial"/>
                <a:cs typeface="Arial"/>
              </a:rPr>
              <a:t>faith </a:t>
            </a:r>
            <a:r>
              <a:rPr dirty="0" sz="1200" spc="-5">
                <a:latin typeface="Arial"/>
                <a:cs typeface="Arial"/>
              </a:rPr>
              <a:t>in Allah. The verses of fighting then abrogated this and the Prophet (pbuh) did  </a:t>
            </a:r>
            <a:r>
              <a:rPr dirty="0" sz="1200">
                <a:latin typeface="Arial"/>
                <a:cs typeface="Arial"/>
              </a:rPr>
              <a:t>fight</a:t>
            </a:r>
            <a:r>
              <a:rPr dirty="0" sz="1200" spc="-5">
                <a:latin typeface="Arial"/>
                <a:cs typeface="Arial"/>
              </a:rPr>
              <a:t> them'</a:t>
            </a:r>
            <a:endParaRPr sz="1200">
              <a:latin typeface="Arial"/>
              <a:cs typeface="Arial"/>
            </a:endParaRPr>
          </a:p>
          <a:p>
            <a:pPr>
              <a:lnSpc>
                <a:spcPct val="100000"/>
              </a:lnSpc>
            </a:pPr>
            <a:endParaRPr sz="1300">
              <a:latin typeface="Arial"/>
              <a:cs typeface="Arial"/>
            </a:endParaRPr>
          </a:p>
          <a:p>
            <a:pPr>
              <a:lnSpc>
                <a:spcPct val="100000"/>
              </a:lnSpc>
              <a:spcBef>
                <a:spcPts val="20"/>
              </a:spcBef>
            </a:pPr>
            <a:endParaRPr sz="1000">
              <a:latin typeface="Arial"/>
              <a:cs typeface="Arial"/>
            </a:endParaRPr>
          </a:p>
          <a:p>
            <a:pPr marL="190500">
              <a:lnSpc>
                <a:spcPct val="100000"/>
              </a:lnSpc>
            </a:pPr>
            <a:r>
              <a:rPr dirty="0" u="heavy" sz="1200" spc="-5" b="1" i="1">
                <a:uFill>
                  <a:solidFill>
                    <a:srgbClr val="000000"/>
                  </a:solidFill>
                </a:uFill>
                <a:latin typeface="Arial"/>
                <a:cs typeface="Arial"/>
              </a:rPr>
              <a:t>Surah</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Ikhlas</a:t>
            </a:r>
            <a:endParaRPr sz="1200">
              <a:latin typeface="Arial"/>
              <a:cs typeface="Arial"/>
            </a:endParaRPr>
          </a:p>
          <a:p>
            <a:pPr>
              <a:lnSpc>
                <a:spcPct val="100000"/>
              </a:lnSpc>
              <a:spcBef>
                <a:spcPts val="55"/>
              </a:spcBef>
            </a:pPr>
            <a:endParaRPr sz="1150">
              <a:latin typeface="Arial"/>
              <a:cs typeface="Arial"/>
            </a:endParaRPr>
          </a:p>
          <a:p>
            <a:pPr algn="just" marL="190500" marR="172720">
              <a:lnSpc>
                <a:spcPct val="95900"/>
              </a:lnSpc>
            </a:pPr>
            <a:r>
              <a:rPr dirty="0" sz="1200">
                <a:latin typeface="Arial"/>
                <a:cs typeface="Arial"/>
              </a:rPr>
              <a:t>This </a:t>
            </a:r>
            <a:r>
              <a:rPr dirty="0" sz="1200" spc="-5">
                <a:latin typeface="Arial"/>
                <a:cs typeface="Arial"/>
              </a:rPr>
              <a:t>surah </a:t>
            </a:r>
            <a:r>
              <a:rPr dirty="0" sz="1200" spc="-10">
                <a:latin typeface="Arial"/>
                <a:cs typeface="Arial"/>
              </a:rPr>
              <a:t>was </a:t>
            </a:r>
            <a:r>
              <a:rPr dirty="0" sz="1200" spc="-5">
                <a:latin typeface="Arial"/>
                <a:cs typeface="Arial"/>
              </a:rPr>
              <a:t>revealed as a response </a:t>
            </a:r>
            <a:r>
              <a:rPr dirty="0" sz="1200">
                <a:latin typeface="Arial"/>
                <a:cs typeface="Arial"/>
              </a:rPr>
              <a:t>to </a:t>
            </a:r>
            <a:r>
              <a:rPr dirty="0" sz="1200" spc="-5">
                <a:latin typeface="Arial"/>
                <a:cs typeface="Arial"/>
              </a:rPr>
              <a:t>the demand of the Quraish people of how Allah </a:t>
            </a:r>
            <a:r>
              <a:rPr dirty="0" sz="1200">
                <a:latin typeface="Arial"/>
                <a:cs typeface="Arial"/>
              </a:rPr>
              <a:t>is,  </a:t>
            </a:r>
            <a:r>
              <a:rPr dirty="0" sz="1200" spc="-5">
                <a:latin typeface="Arial"/>
                <a:cs typeface="Arial"/>
              </a:rPr>
              <a:t>whether He has children, whether He has parents and from where He inherited </a:t>
            </a:r>
            <a:r>
              <a:rPr dirty="0" sz="1200">
                <a:latin typeface="Arial"/>
                <a:cs typeface="Arial"/>
              </a:rPr>
              <a:t>the </a:t>
            </a:r>
            <a:r>
              <a:rPr dirty="0" sz="1200" spc="-5">
                <a:latin typeface="Arial"/>
                <a:cs typeface="Arial"/>
              </a:rPr>
              <a:t>whole  world. Allah revealed this surah </a:t>
            </a:r>
            <a:r>
              <a:rPr dirty="0" sz="1200">
                <a:latin typeface="Arial"/>
                <a:cs typeface="Arial"/>
              </a:rPr>
              <a:t>to </a:t>
            </a:r>
            <a:r>
              <a:rPr dirty="0" sz="1200" spc="-5">
                <a:latin typeface="Arial"/>
                <a:cs typeface="Arial"/>
              </a:rPr>
              <a:t>annihilate </a:t>
            </a:r>
            <a:r>
              <a:rPr dirty="0" sz="1200">
                <a:latin typeface="Arial"/>
                <a:cs typeface="Arial"/>
              </a:rPr>
              <a:t>their </a:t>
            </a:r>
            <a:r>
              <a:rPr dirty="0" sz="1200" spc="-5">
                <a:latin typeface="Arial"/>
                <a:cs typeface="Arial"/>
              </a:rPr>
              <a:t>thoughts in comparing Allah </a:t>
            </a:r>
            <a:r>
              <a:rPr dirty="0" sz="1200" spc="10">
                <a:latin typeface="Arial"/>
                <a:cs typeface="Arial"/>
              </a:rPr>
              <a:t>with </a:t>
            </a:r>
            <a:r>
              <a:rPr dirty="0" sz="1200">
                <a:latin typeface="Arial"/>
                <a:cs typeface="Arial"/>
              </a:rPr>
              <a:t>the </a:t>
            </a:r>
            <a:r>
              <a:rPr dirty="0" sz="1200" spc="-5">
                <a:latin typeface="Arial"/>
                <a:cs typeface="Arial"/>
              </a:rPr>
              <a:t>idols  and goddesses.</a:t>
            </a:r>
            <a:endParaRPr sz="1200">
              <a:latin typeface="Arial"/>
              <a:cs typeface="Arial"/>
            </a:endParaRPr>
          </a:p>
          <a:p>
            <a:pPr>
              <a:lnSpc>
                <a:spcPct val="100000"/>
              </a:lnSpc>
              <a:spcBef>
                <a:spcPts val="55"/>
              </a:spcBef>
            </a:pPr>
            <a:endParaRPr sz="1100">
              <a:latin typeface="Arial"/>
              <a:cs typeface="Arial"/>
            </a:endParaRPr>
          </a:p>
          <a:p>
            <a:pPr algn="just" marL="190500">
              <a:lnSpc>
                <a:spcPts val="1435"/>
              </a:lnSpc>
            </a:pPr>
            <a:r>
              <a:rPr dirty="0" sz="1200" spc="-5">
                <a:latin typeface="Arial"/>
                <a:cs typeface="Arial"/>
              </a:rPr>
              <a:t>Allah says:</a:t>
            </a:r>
            <a:endParaRPr sz="1200">
              <a:latin typeface="Arial"/>
              <a:cs typeface="Arial"/>
            </a:endParaRPr>
          </a:p>
          <a:p>
            <a:pPr algn="r" marR="169545">
              <a:lnSpc>
                <a:spcPts val="2155"/>
              </a:lnSpc>
            </a:pPr>
            <a:r>
              <a:rPr dirty="0" baseline="3086" sz="2700" spc="-750" b="1">
                <a:latin typeface="Arial"/>
                <a:cs typeface="Arial"/>
              </a:rPr>
              <a:t>د</a:t>
            </a:r>
            <a:r>
              <a:rPr dirty="0" baseline="3086" sz="2700" spc="-615" b="1">
                <a:latin typeface="Arial"/>
                <a:cs typeface="Arial"/>
              </a:rPr>
              <a:t>ح</a:t>
            </a:r>
            <a:r>
              <a:rPr dirty="0" sz="1800" spc="-409" b="1">
                <a:latin typeface="Arial"/>
                <a:cs typeface="Arial"/>
              </a:rPr>
              <a:t>َ </a:t>
            </a:r>
            <a:r>
              <a:rPr dirty="0" baseline="16975" sz="2700" b="1">
                <a:latin typeface="Arial"/>
                <a:cs typeface="Arial"/>
              </a:rPr>
              <a:t>َ</a:t>
            </a:r>
            <a:r>
              <a:rPr dirty="0" baseline="3086" sz="2700" b="1">
                <a:latin typeface="Arial"/>
                <a:cs typeface="Arial"/>
              </a:rPr>
              <a:t>أ </a:t>
            </a:r>
            <a:r>
              <a:rPr dirty="0" baseline="-7716" sz="2700" spc="-569" b="1">
                <a:latin typeface="Arial"/>
                <a:cs typeface="Arial"/>
              </a:rPr>
              <a:t>ُ</a:t>
            </a:r>
            <a:r>
              <a:rPr dirty="0" baseline="3086" sz="2700" spc="-569" b="1">
                <a:latin typeface="Arial"/>
                <a:cs typeface="Arial"/>
              </a:rPr>
              <a:t>لله</a:t>
            </a:r>
            <a:r>
              <a:rPr dirty="0" baseline="18518" sz="2700" spc="-569" b="1">
                <a:latin typeface="Arial"/>
                <a:cs typeface="Arial"/>
              </a:rPr>
              <a:t>َّ </a:t>
            </a:r>
            <a:r>
              <a:rPr dirty="0" baseline="3086" sz="2700" b="1">
                <a:latin typeface="Arial"/>
                <a:cs typeface="Arial"/>
              </a:rPr>
              <a:t>ٱ </a:t>
            </a:r>
            <a:r>
              <a:rPr dirty="0" baseline="3086" sz="2700" spc="-337" b="1">
                <a:latin typeface="Arial"/>
                <a:cs typeface="Arial"/>
              </a:rPr>
              <a:t>و</a:t>
            </a:r>
            <a:r>
              <a:rPr dirty="0" sz="1800" spc="-225" b="1">
                <a:latin typeface="Arial"/>
                <a:cs typeface="Arial"/>
              </a:rPr>
              <a:t>َ </a:t>
            </a:r>
            <a:r>
              <a:rPr dirty="0" baseline="3086" sz="2700" spc="-390" b="1">
                <a:latin typeface="Arial"/>
                <a:cs typeface="Arial"/>
              </a:rPr>
              <a:t>هُ</a:t>
            </a:r>
            <a:r>
              <a:rPr dirty="0" baseline="3086" sz="2700" spc="-262" b="1">
                <a:latin typeface="Arial"/>
                <a:cs typeface="Arial"/>
              </a:rPr>
              <a:t> </a:t>
            </a:r>
            <a:r>
              <a:rPr dirty="0" baseline="-6172" sz="2700" spc="-209" b="1">
                <a:latin typeface="Arial"/>
                <a:cs typeface="Arial"/>
              </a:rPr>
              <a:t>ْ</a:t>
            </a:r>
            <a:r>
              <a:rPr dirty="0" baseline="3086" sz="2700" spc="-209" b="1">
                <a:latin typeface="Arial"/>
                <a:cs typeface="Arial"/>
              </a:rPr>
              <a:t>ل</a:t>
            </a:r>
            <a:r>
              <a:rPr dirty="0" baseline="13888" sz="2700" spc="-209" b="1">
                <a:latin typeface="Arial"/>
                <a:cs typeface="Arial"/>
              </a:rPr>
              <a:t>ُ</a:t>
            </a:r>
            <a:r>
              <a:rPr dirty="0" baseline="3086" sz="2700" spc="-209" b="1">
                <a:latin typeface="Arial"/>
                <a:cs typeface="Arial"/>
              </a:rPr>
              <a:t>ق</a:t>
            </a:r>
            <a:endParaRPr baseline="3086" sz="2700">
              <a:latin typeface="Arial"/>
              <a:cs typeface="Arial"/>
            </a:endParaRPr>
          </a:p>
          <a:p>
            <a:pPr marL="190500">
              <a:lnSpc>
                <a:spcPct val="100000"/>
              </a:lnSpc>
              <a:spcBef>
                <a:spcPts val="1045"/>
              </a:spcBef>
            </a:pPr>
            <a:r>
              <a:rPr dirty="0" sz="1200" i="1">
                <a:latin typeface="Arial"/>
                <a:cs typeface="Arial"/>
              </a:rPr>
              <a:t>Say: </a:t>
            </a:r>
            <a:r>
              <a:rPr dirty="0" sz="1200" spc="-5" i="1">
                <a:latin typeface="Arial"/>
                <a:cs typeface="Arial"/>
              </a:rPr>
              <a:t>He is Allah, the</a:t>
            </a:r>
            <a:r>
              <a:rPr dirty="0" sz="1200" spc="-25" i="1">
                <a:latin typeface="Arial"/>
                <a:cs typeface="Arial"/>
              </a:rPr>
              <a:t> </a:t>
            </a:r>
            <a:r>
              <a:rPr dirty="0" sz="1200" spc="-5" i="1">
                <a:latin typeface="Arial"/>
                <a:cs typeface="Arial"/>
              </a:rPr>
              <a:t>One</a:t>
            </a:r>
            <a:endParaRPr sz="1200">
              <a:latin typeface="Arial"/>
              <a:cs typeface="Arial"/>
            </a:endParaRPr>
          </a:p>
          <a:p>
            <a:pPr>
              <a:lnSpc>
                <a:spcPct val="100000"/>
              </a:lnSpc>
              <a:spcBef>
                <a:spcPts val="10"/>
              </a:spcBef>
            </a:pPr>
            <a:endParaRPr sz="1200">
              <a:latin typeface="Arial"/>
              <a:cs typeface="Arial"/>
            </a:endParaRPr>
          </a:p>
          <a:p>
            <a:pPr algn="just" marL="190500" marR="178435">
              <a:lnSpc>
                <a:spcPct val="95900"/>
              </a:lnSpc>
            </a:pPr>
            <a:r>
              <a:rPr dirty="0" sz="1200" spc="-5">
                <a:latin typeface="Arial"/>
                <a:cs typeface="Arial"/>
              </a:rPr>
              <a:t>And from his narration on </a:t>
            </a:r>
            <a:r>
              <a:rPr dirty="0" sz="1200">
                <a:latin typeface="Arial"/>
                <a:cs typeface="Arial"/>
              </a:rPr>
              <a:t>the </a:t>
            </a:r>
            <a:r>
              <a:rPr dirty="0" sz="1200" spc="-5">
                <a:latin typeface="Arial"/>
                <a:cs typeface="Arial"/>
              </a:rPr>
              <a:t>authority </a:t>
            </a:r>
            <a:r>
              <a:rPr dirty="0" sz="1200">
                <a:latin typeface="Arial"/>
                <a:cs typeface="Arial"/>
              </a:rPr>
              <a:t>of </a:t>
            </a:r>
            <a:r>
              <a:rPr dirty="0" sz="1200" spc="-5">
                <a:latin typeface="Arial"/>
                <a:cs typeface="Arial"/>
              </a:rPr>
              <a:t>Ibn </a:t>
            </a:r>
            <a:r>
              <a:rPr dirty="0" sz="1200">
                <a:latin typeface="Arial"/>
                <a:cs typeface="Arial"/>
              </a:rPr>
              <a:t>'Abbas </a:t>
            </a:r>
            <a:r>
              <a:rPr dirty="0" sz="1200" spc="-5">
                <a:latin typeface="Arial"/>
                <a:cs typeface="Arial"/>
              </a:rPr>
              <a:t>that he said regarding </a:t>
            </a:r>
            <a:r>
              <a:rPr dirty="0" sz="1200">
                <a:latin typeface="Arial"/>
                <a:cs typeface="Arial"/>
              </a:rPr>
              <a:t>the </a:t>
            </a:r>
            <a:r>
              <a:rPr dirty="0" sz="1200" spc="-5">
                <a:latin typeface="Arial"/>
                <a:cs typeface="Arial"/>
              </a:rPr>
              <a:t>interpretation  of Allah's saying </a:t>
            </a:r>
            <a:r>
              <a:rPr dirty="0" sz="1200">
                <a:latin typeface="Arial"/>
                <a:cs typeface="Arial"/>
              </a:rPr>
              <a:t>(Say: </a:t>
            </a:r>
            <a:r>
              <a:rPr dirty="0" sz="1200" spc="-5">
                <a:latin typeface="Arial"/>
                <a:cs typeface="Arial"/>
              </a:rPr>
              <a:t>He is Allah, the One!): '(Say: He is Allah, </a:t>
            </a:r>
            <a:r>
              <a:rPr dirty="0" sz="1200">
                <a:latin typeface="Arial"/>
                <a:cs typeface="Arial"/>
              </a:rPr>
              <a:t>the </a:t>
            </a:r>
            <a:r>
              <a:rPr dirty="0" sz="1200" spc="-5">
                <a:latin typeface="Arial"/>
                <a:cs typeface="Arial"/>
              </a:rPr>
              <a:t>One!) </a:t>
            </a:r>
            <a:r>
              <a:rPr dirty="0" sz="1200">
                <a:latin typeface="Arial"/>
                <a:cs typeface="Arial"/>
              </a:rPr>
              <a:t>the </a:t>
            </a:r>
            <a:r>
              <a:rPr dirty="0" sz="1200" spc="-5">
                <a:latin typeface="Arial"/>
                <a:cs typeface="Arial"/>
              </a:rPr>
              <a:t>people of  Quraysh asked </a:t>
            </a:r>
            <a:r>
              <a:rPr dirty="0" sz="1200">
                <a:latin typeface="Arial"/>
                <a:cs typeface="Arial"/>
              </a:rPr>
              <a:t>the </a:t>
            </a:r>
            <a:r>
              <a:rPr dirty="0" sz="1200" spc="-5">
                <a:latin typeface="Arial"/>
                <a:cs typeface="Arial"/>
              </a:rPr>
              <a:t>Prophet (pbuh): </a:t>
            </a:r>
            <a:r>
              <a:rPr dirty="0" sz="1200" spc="-405">
                <a:latin typeface="Arial"/>
                <a:cs typeface="Arial"/>
              </a:rPr>
              <a:t>―O</a:t>
            </a:r>
            <a:r>
              <a:rPr dirty="0" sz="1200" spc="10">
                <a:latin typeface="Arial"/>
                <a:cs typeface="Arial"/>
              </a:rPr>
              <a:t> </a:t>
            </a:r>
            <a:r>
              <a:rPr dirty="0" sz="1200" spc="-5">
                <a:latin typeface="Arial"/>
                <a:cs typeface="Arial"/>
              </a:rPr>
              <a:t>Muhammad! Describe </a:t>
            </a:r>
            <a:r>
              <a:rPr dirty="0" sz="1200">
                <a:latin typeface="Arial"/>
                <a:cs typeface="Arial"/>
              </a:rPr>
              <a:t>for us </a:t>
            </a:r>
            <a:r>
              <a:rPr dirty="0" sz="1200" spc="-5">
                <a:latin typeface="Arial"/>
                <a:cs typeface="Arial"/>
              </a:rPr>
              <a:t>your </a:t>
            </a:r>
            <a:r>
              <a:rPr dirty="0" sz="1200">
                <a:latin typeface="Arial"/>
                <a:cs typeface="Arial"/>
              </a:rPr>
              <a:t>Lord; </a:t>
            </a:r>
            <a:r>
              <a:rPr dirty="0" sz="1200" spc="-5">
                <a:latin typeface="Arial"/>
                <a:cs typeface="Arial"/>
              </a:rPr>
              <a:t>is He made of  gold </a:t>
            </a:r>
            <a:r>
              <a:rPr dirty="0" sz="1200">
                <a:latin typeface="Arial"/>
                <a:cs typeface="Arial"/>
              </a:rPr>
              <a:t>or </a:t>
            </a:r>
            <a:r>
              <a:rPr dirty="0" sz="1200" spc="-15">
                <a:latin typeface="Arial"/>
                <a:cs typeface="Arial"/>
              </a:rPr>
              <a:t>silver?‖ </a:t>
            </a:r>
            <a:r>
              <a:rPr dirty="0" sz="1200">
                <a:latin typeface="Arial"/>
                <a:cs typeface="Arial"/>
              </a:rPr>
              <a:t>And so </a:t>
            </a:r>
            <a:r>
              <a:rPr dirty="0" sz="1200" spc="-5">
                <a:latin typeface="Arial"/>
                <a:cs typeface="Arial"/>
              </a:rPr>
              <a:t>Allah revealed </a:t>
            </a:r>
            <a:r>
              <a:rPr dirty="0" sz="1200">
                <a:latin typeface="Arial"/>
                <a:cs typeface="Arial"/>
              </a:rPr>
              <a:t>this </a:t>
            </a:r>
            <a:r>
              <a:rPr dirty="0" sz="1200" spc="-5">
                <a:latin typeface="Arial"/>
                <a:cs typeface="Arial"/>
              </a:rPr>
              <a:t>surah </a:t>
            </a:r>
            <a:r>
              <a:rPr dirty="0" sz="1200">
                <a:latin typeface="Arial"/>
                <a:cs typeface="Arial"/>
              </a:rPr>
              <a:t>to </a:t>
            </a:r>
            <a:r>
              <a:rPr dirty="0" sz="1200" spc="-5">
                <a:latin typeface="Arial"/>
                <a:cs typeface="Arial"/>
              </a:rPr>
              <a:t>describe His attributes and </a:t>
            </a:r>
            <a:r>
              <a:rPr dirty="0" sz="1200">
                <a:latin typeface="Arial"/>
                <a:cs typeface="Arial"/>
              </a:rPr>
              <a:t>traits, </a:t>
            </a:r>
            <a:r>
              <a:rPr dirty="0" sz="1200" spc="-5">
                <a:latin typeface="Arial"/>
                <a:cs typeface="Arial"/>
              </a:rPr>
              <a:t>saying:  say </a:t>
            </a:r>
            <a:r>
              <a:rPr dirty="0" sz="1200">
                <a:latin typeface="Arial"/>
                <a:cs typeface="Arial"/>
              </a:rPr>
              <a:t>to </a:t>
            </a:r>
            <a:r>
              <a:rPr dirty="0" sz="1200" spc="-5">
                <a:latin typeface="Arial"/>
                <a:cs typeface="Arial"/>
              </a:rPr>
              <a:t>Quraysh, </a:t>
            </a:r>
            <a:r>
              <a:rPr dirty="0" sz="1200">
                <a:latin typeface="Arial"/>
                <a:cs typeface="Arial"/>
              </a:rPr>
              <a:t>O </a:t>
            </a:r>
            <a:r>
              <a:rPr dirty="0" sz="1200" spc="-5">
                <a:latin typeface="Arial"/>
                <a:cs typeface="Arial"/>
              </a:rPr>
              <a:t>Muhammad: He is Allah, the One, </a:t>
            </a:r>
            <a:r>
              <a:rPr dirty="0" sz="1200" spc="-10">
                <a:latin typeface="Arial"/>
                <a:cs typeface="Arial"/>
              </a:rPr>
              <a:t>He </a:t>
            </a:r>
            <a:r>
              <a:rPr dirty="0" sz="1200" spc="-5">
                <a:latin typeface="Arial"/>
                <a:cs typeface="Arial"/>
              </a:rPr>
              <a:t>has </a:t>
            </a:r>
            <a:r>
              <a:rPr dirty="0" sz="1200">
                <a:latin typeface="Arial"/>
                <a:cs typeface="Arial"/>
              </a:rPr>
              <a:t>no </a:t>
            </a:r>
            <a:r>
              <a:rPr dirty="0" sz="1200" spc="-5">
                <a:latin typeface="Arial"/>
                <a:cs typeface="Arial"/>
              </a:rPr>
              <a:t>son </a:t>
            </a:r>
            <a:r>
              <a:rPr dirty="0" sz="1200">
                <a:latin typeface="Arial"/>
                <a:cs typeface="Arial"/>
              </a:rPr>
              <a:t>or</a:t>
            </a:r>
            <a:r>
              <a:rPr dirty="0" sz="1200" spc="50">
                <a:latin typeface="Arial"/>
                <a:cs typeface="Arial"/>
              </a:rPr>
              <a:t> </a:t>
            </a:r>
            <a:r>
              <a:rPr dirty="0" sz="1200" spc="-5">
                <a:latin typeface="Arial"/>
                <a:cs typeface="Arial"/>
              </a:rPr>
              <a:t>partner.</a:t>
            </a:r>
            <a:endParaRPr sz="1200">
              <a:latin typeface="Arial"/>
              <a:cs typeface="Arial"/>
            </a:endParaRPr>
          </a:p>
          <a:p>
            <a:pPr>
              <a:lnSpc>
                <a:spcPct val="100000"/>
              </a:lnSpc>
              <a:spcBef>
                <a:spcPts val="45"/>
              </a:spcBef>
            </a:pPr>
            <a:endParaRPr sz="1150">
              <a:latin typeface="Arial"/>
              <a:cs typeface="Arial"/>
            </a:endParaRPr>
          </a:p>
          <a:p>
            <a:pPr algn="r" marR="170180">
              <a:lnSpc>
                <a:spcPct val="100000"/>
              </a:lnSpc>
            </a:pPr>
            <a:r>
              <a:rPr dirty="0" baseline="3086" sz="2700" spc="-367" b="1">
                <a:latin typeface="Arial"/>
                <a:cs typeface="Arial"/>
              </a:rPr>
              <a:t>دُ </a:t>
            </a:r>
            <a:r>
              <a:rPr dirty="0" baseline="3086" sz="2700" spc="-397" b="1">
                <a:latin typeface="Arial"/>
                <a:cs typeface="Arial"/>
              </a:rPr>
              <a:t>م</a:t>
            </a:r>
            <a:r>
              <a:rPr dirty="0" sz="1800" spc="-265" b="1">
                <a:latin typeface="Arial"/>
                <a:cs typeface="Arial"/>
              </a:rPr>
              <a:t>َ </a:t>
            </a:r>
            <a:r>
              <a:rPr dirty="0" baseline="3086" sz="2700" spc="-869" b="1">
                <a:latin typeface="Arial"/>
                <a:cs typeface="Arial"/>
              </a:rPr>
              <a:t>ص</a:t>
            </a:r>
            <a:r>
              <a:rPr dirty="0" sz="1800" spc="-580" b="1">
                <a:latin typeface="Arial"/>
                <a:cs typeface="Arial"/>
              </a:rPr>
              <a:t>َّ</a:t>
            </a:r>
            <a:r>
              <a:rPr dirty="0" sz="1800" spc="710" b="1">
                <a:latin typeface="Arial"/>
                <a:cs typeface="Arial"/>
              </a:rPr>
              <a:t> </a:t>
            </a:r>
            <a:r>
              <a:rPr dirty="0" baseline="3086" sz="2700" spc="-300" b="1">
                <a:latin typeface="Arial"/>
                <a:cs typeface="Arial"/>
              </a:rPr>
              <a:t>لٱ </a:t>
            </a:r>
            <a:r>
              <a:rPr dirty="0" baseline="-7716" sz="2700" spc="-569" b="1">
                <a:latin typeface="Arial"/>
                <a:cs typeface="Arial"/>
              </a:rPr>
              <a:t>ُ</a:t>
            </a:r>
            <a:r>
              <a:rPr dirty="0" baseline="3086" sz="2700" spc="-569" b="1">
                <a:latin typeface="Arial"/>
                <a:cs typeface="Arial"/>
              </a:rPr>
              <a:t>لله</a:t>
            </a:r>
            <a:r>
              <a:rPr dirty="0" baseline="18518" sz="2700" spc="-569" b="1">
                <a:latin typeface="Arial"/>
                <a:cs typeface="Arial"/>
              </a:rPr>
              <a:t>َّ</a:t>
            </a:r>
            <a:r>
              <a:rPr dirty="0" baseline="18518" sz="2700" spc="-465" b="1">
                <a:latin typeface="Arial"/>
                <a:cs typeface="Arial"/>
              </a:rPr>
              <a:t> </a:t>
            </a:r>
            <a:r>
              <a:rPr dirty="0" baseline="3086" sz="2700" b="1">
                <a:latin typeface="Arial"/>
                <a:cs typeface="Arial"/>
              </a:rPr>
              <a:t>ٱ</a:t>
            </a:r>
            <a:endParaRPr baseline="3086" sz="2700">
              <a:latin typeface="Arial"/>
              <a:cs typeface="Arial"/>
            </a:endParaRPr>
          </a:p>
          <a:p>
            <a:pPr marL="190500">
              <a:lnSpc>
                <a:spcPct val="100000"/>
              </a:lnSpc>
              <a:spcBef>
                <a:spcPts val="1060"/>
              </a:spcBef>
            </a:pPr>
            <a:r>
              <a:rPr dirty="0" sz="1200" spc="-5" i="1">
                <a:latin typeface="Arial"/>
                <a:cs typeface="Arial"/>
              </a:rPr>
              <a:t>Allah, the eternally besought </a:t>
            </a:r>
            <a:r>
              <a:rPr dirty="0" sz="1200" spc="-10" i="1">
                <a:latin typeface="Arial"/>
                <a:cs typeface="Arial"/>
              </a:rPr>
              <a:t>of</a:t>
            </a:r>
            <a:r>
              <a:rPr dirty="0" sz="1200" spc="30" i="1">
                <a:latin typeface="Arial"/>
                <a:cs typeface="Arial"/>
              </a:rPr>
              <a:t> </a:t>
            </a:r>
            <a:r>
              <a:rPr dirty="0" sz="1200" spc="-5" i="1">
                <a:latin typeface="Arial"/>
                <a:cs typeface="Arial"/>
              </a:rPr>
              <a:t>all</a:t>
            </a:r>
            <a:endParaRPr sz="1200">
              <a:latin typeface="Arial"/>
              <a:cs typeface="Arial"/>
            </a:endParaRPr>
          </a:p>
          <a:p>
            <a:pPr>
              <a:lnSpc>
                <a:spcPct val="100000"/>
              </a:lnSpc>
              <a:spcBef>
                <a:spcPts val="45"/>
              </a:spcBef>
            </a:pPr>
            <a:endParaRPr sz="1200">
              <a:latin typeface="Arial"/>
              <a:cs typeface="Arial"/>
            </a:endParaRPr>
          </a:p>
          <a:p>
            <a:pPr algn="just" marL="190500" marR="173990">
              <a:lnSpc>
                <a:spcPts val="1380"/>
              </a:lnSpc>
            </a:pPr>
            <a:r>
              <a:rPr dirty="0" sz="1200" spc="-5">
                <a:latin typeface="Arial"/>
                <a:cs typeface="Arial"/>
              </a:rPr>
              <a:t>(Allah, the eternally besought of all!) </a:t>
            </a:r>
            <a:r>
              <a:rPr dirty="0" sz="1200">
                <a:latin typeface="Arial"/>
                <a:cs typeface="Arial"/>
              </a:rPr>
              <a:t>the </a:t>
            </a:r>
            <a:r>
              <a:rPr dirty="0" sz="1200" spc="-5">
                <a:latin typeface="Arial"/>
                <a:cs typeface="Arial"/>
              </a:rPr>
              <a:t>Master whose glory is </a:t>
            </a:r>
            <a:r>
              <a:rPr dirty="0" sz="1200">
                <a:latin typeface="Arial"/>
                <a:cs typeface="Arial"/>
              </a:rPr>
              <a:t>at </a:t>
            </a:r>
            <a:r>
              <a:rPr dirty="0" sz="1200" spc="-5">
                <a:latin typeface="Arial"/>
                <a:cs typeface="Arial"/>
              </a:rPr>
              <a:t>its peak and </a:t>
            </a:r>
            <a:r>
              <a:rPr dirty="0" sz="1200">
                <a:latin typeface="Arial"/>
                <a:cs typeface="Arial"/>
              </a:rPr>
              <a:t>for </a:t>
            </a:r>
            <a:r>
              <a:rPr dirty="0" sz="1200" spc="5">
                <a:latin typeface="Arial"/>
                <a:cs typeface="Arial"/>
              </a:rPr>
              <a:t>Whom </a:t>
            </a:r>
            <a:r>
              <a:rPr dirty="0" sz="1200" spc="-5">
                <a:latin typeface="Arial"/>
                <a:cs typeface="Arial"/>
              </a:rPr>
              <a:t>all  created beings are in need; </a:t>
            </a:r>
            <a:r>
              <a:rPr dirty="0" sz="1200">
                <a:latin typeface="Arial"/>
                <a:cs typeface="Arial"/>
              </a:rPr>
              <a:t>it </a:t>
            </a:r>
            <a:r>
              <a:rPr dirty="0" sz="1200" spc="-5">
                <a:latin typeface="Arial"/>
                <a:cs typeface="Arial"/>
              </a:rPr>
              <a:t>is also said that </a:t>
            </a:r>
            <a:r>
              <a:rPr dirty="0" sz="1200">
                <a:latin typeface="Arial"/>
                <a:cs typeface="Arial"/>
              </a:rPr>
              <a:t>(al-Samad) </a:t>
            </a:r>
            <a:r>
              <a:rPr dirty="0" sz="1200" spc="-5">
                <a:latin typeface="Arial"/>
                <a:cs typeface="Arial"/>
              </a:rPr>
              <a:t>means: He </a:t>
            </a:r>
            <a:r>
              <a:rPr dirty="0" sz="1200" spc="5">
                <a:latin typeface="Arial"/>
                <a:cs typeface="Arial"/>
              </a:rPr>
              <a:t>Who </a:t>
            </a:r>
            <a:r>
              <a:rPr dirty="0" sz="1200" spc="-5">
                <a:latin typeface="Arial"/>
                <a:cs typeface="Arial"/>
              </a:rPr>
              <a:t>does not eat or  drink; </a:t>
            </a:r>
            <a:r>
              <a:rPr dirty="0" sz="1200">
                <a:latin typeface="Arial"/>
                <a:cs typeface="Arial"/>
              </a:rPr>
              <a:t>it </a:t>
            </a:r>
            <a:r>
              <a:rPr dirty="0" sz="1200" spc="-5">
                <a:latin typeface="Arial"/>
                <a:cs typeface="Arial"/>
              </a:rPr>
              <a:t>is </a:t>
            </a:r>
            <a:r>
              <a:rPr dirty="0" sz="1200">
                <a:latin typeface="Arial"/>
                <a:cs typeface="Arial"/>
              </a:rPr>
              <a:t>also </a:t>
            </a:r>
            <a:r>
              <a:rPr dirty="0" sz="1200" spc="-5">
                <a:latin typeface="Arial"/>
                <a:cs typeface="Arial"/>
              </a:rPr>
              <a:t>said that </a:t>
            </a:r>
            <a:r>
              <a:rPr dirty="0" sz="1200">
                <a:latin typeface="Arial"/>
                <a:cs typeface="Arial"/>
              </a:rPr>
              <a:t>this </a:t>
            </a:r>
            <a:r>
              <a:rPr dirty="0" sz="1200" spc="-5">
                <a:latin typeface="Arial"/>
                <a:cs typeface="Arial"/>
              </a:rPr>
              <a:t>means: He </a:t>
            </a:r>
            <a:r>
              <a:rPr dirty="0" sz="1200" spc="5">
                <a:latin typeface="Arial"/>
                <a:cs typeface="Arial"/>
              </a:rPr>
              <a:t>Who </a:t>
            </a:r>
            <a:r>
              <a:rPr dirty="0" sz="1200">
                <a:latin typeface="Arial"/>
                <a:cs typeface="Arial"/>
              </a:rPr>
              <a:t>does not </a:t>
            </a:r>
            <a:r>
              <a:rPr dirty="0" sz="1200" spc="-5">
                <a:latin typeface="Arial"/>
                <a:cs typeface="Arial"/>
              </a:rPr>
              <a:t>have an interior; </a:t>
            </a:r>
            <a:r>
              <a:rPr dirty="0" sz="1200">
                <a:latin typeface="Arial"/>
                <a:cs typeface="Arial"/>
              </a:rPr>
              <a:t>it </a:t>
            </a:r>
            <a:r>
              <a:rPr dirty="0" sz="1200" spc="-5">
                <a:latin typeface="Arial"/>
                <a:cs typeface="Arial"/>
              </a:rPr>
              <a:t>is also said that this  means:</a:t>
            </a:r>
            <a:r>
              <a:rPr dirty="0" sz="1200" spc="90">
                <a:latin typeface="Arial"/>
                <a:cs typeface="Arial"/>
              </a:rPr>
              <a:t> </a:t>
            </a:r>
            <a:r>
              <a:rPr dirty="0" sz="1200">
                <a:latin typeface="Arial"/>
                <a:cs typeface="Arial"/>
              </a:rPr>
              <a:t>the</a:t>
            </a:r>
            <a:r>
              <a:rPr dirty="0" sz="1200" spc="95">
                <a:latin typeface="Arial"/>
                <a:cs typeface="Arial"/>
              </a:rPr>
              <a:t> </a:t>
            </a:r>
            <a:r>
              <a:rPr dirty="0" sz="1200" spc="-5">
                <a:latin typeface="Arial"/>
                <a:cs typeface="Arial"/>
              </a:rPr>
              <a:t>Everlasting;</a:t>
            </a:r>
            <a:r>
              <a:rPr dirty="0" sz="1200" spc="105">
                <a:latin typeface="Arial"/>
                <a:cs typeface="Arial"/>
              </a:rPr>
              <a:t> </a:t>
            </a:r>
            <a:r>
              <a:rPr dirty="0" sz="1200" spc="-5">
                <a:latin typeface="Arial"/>
                <a:cs typeface="Arial"/>
              </a:rPr>
              <a:t>and</a:t>
            </a:r>
            <a:r>
              <a:rPr dirty="0" sz="1200" spc="95">
                <a:latin typeface="Arial"/>
                <a:cs typeface="Arial"/>
              </a:rPr>
              <a:t> </a:t>
            </a:r>
            <a:r>
              <a:rPr dirty="0" sz="1200">
                <a:latin typeface="Arial"/>
                <a:cs typeface="Arial"/>
              </a:rPr>
              <a:t>it</a:t>
            </a:r>
            <a:r>
              <a:rPr dirty="0" sz="1200" spc="100">
                <a:latin typeface="Arial"/>
                <a:cs typeface="Arial"/>
              </a:rPr>
              <a:t> </a:t>
            </a:r>
            <a:r>
              <a:rPr dirty="0" sz="1200" spc="-5">
                <a:latin typeface="Arial"/>
                <a:cs typeface="Arial"/>
              </a:rPr>
              <a:t>is</a:t>
            </a:r>
            <a:r>
              <a:rPr dirty="0" sz="1200" spc="90">
                <a:latin typeface="Arial"/>
                <a:cs typeface="Arial"/>
              </a:rPr>
              <a:t> </a:t>
            </a:r>
            <a:r>
              <a:rPr dirty="0" sz="1200" spc="-5">
                <a:latin typeface="Arial"/>
                <a:cs typeface="Arial"/>
              </a:rPr>
              <a:t>also</a:t>
            </a:r>
            <a:r>
              <a:rPr dirty="0" sz="1200" spc="100">
                <a:latin typeface="Arial"/>
                <a:cs typeface="Arial"/>
              </a:rPr>
              <a:t> </a:t>
            </a:r>
            <a:r>
              <a:rPr dirty="0" sz="1200" spc="-5">
                <a:latin typeface="Arial"/>
                <a:cs typeface="Arial"/>
              </a:rPr>
              <a:t>said</a:t>
            </a:r>
            <a:r>
              <a:rPr dirty="0" sz="1200" spc="100">
                <a:latin typeface="Arial"/>
                <a:cs typeface="Arial"/>
              </a:rPr>
              <a:t> </a:t>
            </a:r>
            <a:r>
              <a:rPr dirty="0" sz="1200" spc="-5">
                <a:latin typeface="Arial"/>
                <a:cs typeface="Arial"/>
              </a:rPr>
              <a:t>this</a:t>
            </a:r>
            <a:r>
              <a:rPr dirty="0" sz="1200" spc="105">
                <a:latin typeface="Arial"/>
                <a:cs typeface="Arial"/>
              </a:rPr>
              <a:t> </a:t>
            </a:r>
            <a:r>
              <a:rPr dirty="0" sz="1200" spc="-5">
                <a:latin typeface="Arial"/>
                <a:cs typeface="Arial"/>
              </a:rPr>
              <a:t>means:</a:t>
            </a:r>
            <a:r>
              <a:rPr dirty="0" sz="1200" spc="100">
                <a:latin typeface="Arial"/>
                <a:cs typeface="Arial"/>
              </a:rPr>
              <a:t> </a:t>
            </a:r>
            <a:r>
              <a:rPr dirty="0" sz="1200" spc="-5">
                <a:latin typeface="Arial"/>
                <a:cs typeface="Arial"/>
              </a:rPr>
              <a:t>the</a:t>
            </a:r>
            <a:r>
              <a:rPr dirty="0" sz="1200" spc="90">
                <a:latin typeface="Arial"/>
                <a:cs typeface="Arial"/>
              </a:rPr>
              <a:t> </a:t>
            </a:r>
            <a:r>
              <a:rPr dirty="0" sz="1200" spc="-5">
                <a:latin typeface="Arial"/>
                <a:cs typeface="Arial"/>
              </a:rPr>
              <a:t>Sufficient;</a:t>
            </a:r>
            <a:r>
              <a:rPr dirty="0" sz="1200" spc="100">
                <a:latin typeface="Arial"/>
                <a:cs typeface="Arial"/>
              </a:rPr>
              <a:t> </a:t>
            </a:r>
            <a:r>
              <a:rPr dirty="0" sz="1200" spc="-5">
                <a:latin typeface="Arial"/>
                <a:cs typeface="Arial"/>
              </a:rPr>
              <a:t>and</a:t>
            </a:r>
            <a:r>
              <a:rPr dirty="0" sz="1200" spc="105">
                <a:latin typeface="Arial"/>
                <a:cs typeface="Arial"/>
              </a:rPr>
              <a:t> </a:t>
            </a:r>
            <a:r>
              <a:rPr dirty="0" sz="1200">
                <a:latin typeface="Arial"/>
                <a:cs typeface="Arial"/>
              </a:rPr>
              <a:t>it</a:t>
            </a:r>
            <a:r>
              <a:rPr dirty="0" sz="1200" spc="95">
                <a:latin typeface="Arial"/>
                <a:cs typeface="Arial"/>
              </a:rPr>
              <a:t> </a:t>
            </a:r>
            <a:r>
              <a:rPr dirty="0" sz="1200" spc="-5">
                <a:latin typeface="Arial"/>
                <a:cs typeface="Arial"/>
              </a:rPr>
              <a:t>is</a:t>
            </a:r>
            <a:r>
              <a:rPr dirty="0" sz="1200" spc="100">
                <a:latin typeface="Arial"/>
                <a:cs typeface="Arial"/>
              </a:rPr>
              <a:t> </a:t>
            </a:r>
            <a:r>
              <a:rPr dirty="0" sz="1200" spc="-5">
                <a:latin typeface="Arial"/>
                <a:cs typeface="Arial"/>
              </a:rPr>
              <a:t>also</a:t>
            </a:r>
            <a:r>
              <a:rPr dirty="0" sz="1200" spc="90">
                <a:latin typeface="Arial"/>
                <a:cs typeface="Arial"/>
              </a:rPr>
              <a:t> </a:t>
            </a:r>
            <a:r>
              <a:rPr dirty="0" sz="1200" spc="-5">
                <a:latin typeface="Arial"/>
                <a:cs typeface="Arial"/>
              </a:rPr>
              <a:t>said</a:t>
            </a:r>
            <a:r>
              <a:rPr dirty="0" sz="1200" spc="95">
                <a:latin typeface="Arial"/>
                <a:cs typeface="Arial"/>
              </a:rPr>
              <a:t> </a:t>
            </a:r>
            <a:r>
              <a:rPr dirty="0" sz="1200" spc="-5">
                <a:latin typeface="Arial"/>
                <a:cs typeface="Arial"/>
              </a:rPr>
              <a:t>this</a:t>
            </a:r>
            <a:endParaRPr sz="1200">
              <a:latin typeface="Arial"/>
              <a:cs typeface="Arial"/>
            </a:endParaRPr>
          </a:p>
        </p:txBody>
      </p:sp>
      <p:sp>
        <p:nvSpPr>
          <p:cNvPr id="6" name="object 6"/>
          <p:cNvSpPr txBox="1"/>
          <p:nvPr/>
        </p:nvSpPr>
        <p:spPr>
          <a:xfrm>
            <a:off x="534416" y="9616347"/>
            <a:ext cx="3428365" cy="196215"/>
          </a:xfrm>
          <a:prstGeom prst="rect">
            <a:avLst/>
          </a:prstGeom>
        </p:spPr>
        <p:txBody>
          <a:bodyPr wrap="square" lIns="0" tIns="0" rIns="0" bIns="0" rtlCol="0" vert="horz">
            <a:spAutoFit/>
          </a:bodyPr>
          <a:lstStyle/>
          <a:p>
            <a:pPr marL="12700">
              <a:lnSpc>
                <a:spcPts val="1425"/>
              </a:lnSpc>
            </a:pPr>
            <a:r>
              <a:rPr dirty="0" sz="1200" spc="-5">
                <a:latin typeface="Arial"/>
                <a:cs typeface="Arial"/>
              </a:rPr>
              <a:t>means: He </a:t>
            </a:r>
            <a:r>
              <a:rPr dirty="0" sz="1200" spc="-10">
                <a:latin typeface="Arial"/>
                <a:cs typeface="Arial"/>
              </a:rPr>
              <a:t>who </a:t>
            </a:r>
            <a:r>
              <a:rPr dirty="0" sz="1200" spc="-5">
                <a:latin typeface="Arial"/>
                <a:cs typeface="Arial"/>
              </a:rPr>
              <a:t>does not </a:t>
            </a:r>
            <a:r>
              <a:rPr dirty="0" sz="1200" spc="-10">
                <a:latin typeface="Arial"/>
                <a:cs typeface="Arial"/>
              </a:rPr>
              <a:t>have </a:t>
            </a:r>
            <a:r>
              <a:rPr dirty="0" sz="1200">
                <a:latin typeface="Arial"/>
                <a:cs typeface="Arial"/>
              </a:rPr>
              <a:t>an </a:t>
            </a:r>
            <a:r>
              <a:rPr dirty="0" sz="1200" spc="-5">
                <a:latin typeface="Arial"/>
                <a:cs typeface="Arial"/>
              </a:rPr>
              <a:t>entrance or</a:t>
            </a:r>
            <a:r>
              <a:rPr dirty="0" sz="1200" spc="55">
                <a:latin typeface="Arial"/>
                <a:cs typeface="Arial"/>
              </a:rPr>
              <a:t> </a:t>
            </a:r>
            <a:r>
              <a:rPr dirty="0" sz="1200" spc="-5">
                <a:latin typeface="Arial"/>
                <a:cs typeface="Arial"/>
              </a:rPr>
              <a:t>exit.</a:t>
            </a:r>
            <a:endParaRPr sz="12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8" name="object 8"/>
          <p:cNvSpPr txBox="1"/>
          <p:nvPr/>
        </p:nvSpPr>
        <p:spPr>
          <a:xfrm>
            <a:off x="3026791"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76</a:t>
            </a:r>
            <a:endParaRPr sz="1200">
              <a:latin typeface="Times New Roman"/>
              <a:cs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923534" y="805688"/>
            <a:ext cx="1132840" cy="299720"/>
          </a:xfrm>
          <a:prstGeom prst="rect">
            <a:avLst/>
          </a:prstGeom>
        </p:spPr>
        <p:txBody>
          <a:bodyPr wrap="square" lIns="0" tIns="12700" rIns="0" bIns="0" rtlCol="0" vert="horz">
            <a:spAutoFit/>
          </a:bodyPr>
          <a:lstStyle/>
          <a:p>
            <a:pPr marL="38100">
              <a:lnSpc>
                <a:spcPct val="100000"/>
              </a:lnSpc>
              <a:spcBef>
                <a:spcPts val="100"/>
              </a:spcBef>
            </a:pPr>
            <a:r>
              <a:rPr dirty="0" baseline="3086" sz="2700" spc="-292" b="1">
                <a:latin typeface="Arial"/>
                <a:cs typeface="Arial"/>
              </a:rPr>
              <a:t>دْ </a:t>
            </a:r>
            <a:r>
              <a:rPr dirty="0" baseline="10802" sz="2700" spc="-457" b="1">
                <a:latin typeface="Arial"/>
                <a:cs typeface="Arial"/>
              </a:rPr>
              <a:t>َ</a:t>
            </a:r>
            <a:r>
              <a:rPr dirty="0" baseline="3086" sz="2700" spc="-457" b="1">
                <a:latin typeface="Arial"/>
                <a:cs typeface="Arial"/>
              </a:rPr>
              <a:t>لوي</a:t>
            </a:r>
            <a:r>
              <a:rPr dirty="0" sz="1800" spc="-305" b="1">
                <a:latin typeface="Arial"/>
                <a:cs typeface="Arial"/>
              </a:rPr>
              <a:t>ُ</a:t>
            </a:r>
            <a:r>
              <a:rPr dirty="0" sz="1800" spc="-110" b="1">
                <a:latin typeface="Arial"/>
                <a:cs typeface="Arial"/>
              </a:rPr>
              <a:t> </a:t>
            </a:r>
            <a:r>
              <a:rPr dirty="0" baseline="3086" sz="2700" spc="-382" b="1">
                <a:latin typeface="Arial"/>
                <a:cs typeface="Arial"/>
              </a:rPr>
              <a:t>م</a:t>
            </a:r>
            <a:r>
              <a:rPr dirty="0" baseline="-6172" sz="2700" spc="-382" b="1">
                <a:latin typeface="Arial"/>
                <a:cs typeface="Arial"/>
              </a:rPr>
              <a:t>ْ </a:t>
            </a:r>
            <a:r>
              <a:rPr dirty="0" baseline="10802" sz="2700" spc="-322" b="1">
                <a:latin typeface="Arial"/>
                <a:cs typeface="Arial"/>
              </a:rPr>
              <a:t>َ</a:t>
            </a:r>
            <a:r>
              <a:rPr dirty="0" baseline="3086" sz="2700" spc="-322" b="1">
                <a:latin typeface="Arial"/>
                <a:cs typeface="Arial"/>
              </a:rPr>
              <a:t>لو</a:t>
            </a:r>
            <a:r>
              <a:rPr dirty="0" sz="1800" spc="-215" b="1">
                <a:latin typeface="Arial"/>
                <a:cs typeface="Arial"/>
              </a:rPr>
              <a:t>َ </a:t>
            </a:r>
            <a:r>
              <a:rPr dirty="0" baseline="3086" sz="2700" spc="-292" b="1">
                <a:latin typeface="Arial"/>
                <a:cs typeface="Arial"/>
              </a:rPr>
              <a:t>دْ </a:t>
            </a:r>
            <a:r>
              <a:rPr dirty="0" baseline="3086" sz="2700" spc="-555" b="1">
                <a:latin typeface="Arial"/>
                <a:cs typeface="Arial"/>
              </a:rPr>
              <a:t>ِلي</a:t>
            </a:r>
            <a:r>
              <a:rPr dirty="0" sz="1800" spc="-370" b="1">
                <a:latin typeface="Arial"/>
                <a:cs typeface="Arial"/>
              </a:rPr>
              <a:t>َ  </a:t>
            </a:r>
            <a:r>
              <a:rPr dirty="0" baseline="3086" sz="2700" spc="-382" b="1">
                <a:latin typeface="Arial"/>
                <a:cs typeface="Arial"/>
              </a:rPr>
              <a:t>م</a:t>
            </a:r>
            <a:r>
              <a:rPr dirty="0" baseline="-6172" sz="2700" spc="-382" b="1">
                <a:latin typeface="Arial"/>
                <a:cs typeface="Arial"/>
              </a:rPr>
              <a:t>ْ</a:t>
            </a:r>
            <a:r>
              <a:rPr dirty="0" baseline="-6172" sz="2700" spc="-127" b="1">
                <a:latin typeface="Arial"/>
                <a:cs typeface="Arial"/>
              </a:rPr>
              <a:t> </a:t>
            </a:r>
            <a:r>
              <a:rPr dirty="0" baseline="10802" sz="2700" spc="-300" b="1">
                <a:latin typeface="Arial"/>
                <a:cs typeface="Arial"/>
              </a:rPr>
              <a:t>َ</a:t>
            </a:r>
            <a:r>
              <a:rPr dirty="0" baseline="3086" sz="2700" spc="-300" b="1">
                <a:latin typeface="Arial"/>
                <a:cs typeface="Arial"/>
              </a:rPr>
              <a:t>ل</a:t>
            </a:r>
            <a:endParaRPr baseline="3086" sz="2700">
              <a:latin typeface="Arial"/>
              <a:cs typeface="Arial"/>
            </a:endParaRPr>
          </a:p>
        </p:txBody>
      </p:sp>
      <p:sp>
        <p:nvSpPr>
          <p:cNvPr id="7" name="object 7"/>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8" name="object 8"/>
          <p:cNvSpPr txBox="1"/>
          <p:nvPr/>
        </p:nvSpPr>
        <p:spPr>
          <a:xfrm>
            <a:off x="3211195"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77</a:t>
            </a:r>
            <a:endParaRPr sz="1200">
              <a:latin typeface="Times New Roman"/>
              <a:cs typeface="Times New Roman"/>
            </a:endParaRPr>
          </a:p>
        </p:txBody>
      </p:sp>
      <p:sp>
        <p:nvSpPr>
          <p:cNvPr id="6" name="object 6"/>
          <p:cNvSpPr txBox="1"/>
          <p:nvPr/>
        </p:nvSpPr>
        <p:spPr>
          <a:xfrm>
            <a:off x="591819" y="1212850"/>
            <a:ext cx="6561455" cy="8512175"/>
          </a:xfrm>
          <a:prstGeom prst="rect">
            <a:avLst/>
          </a:prstGeom>
        </p:spPr>
        <p:txBody>
          <a:bodyPr wrap="square" lIns="0" tIns="12700" rIns="0" bIns="0" rtlCol="0" vert="horz">
            <a:spAutoFit/>
          </a:bodyPr>
          <a:lstStyle/>
          <a:p>
            <a:pPr marL="139700">
              <a:lnSpc>
                <a:spcPct val="100000"/>
              </a:lnSpc>
              <a:spcBef>
                <a:spcPts val="100"/>
              </a:spcBef>
            </a:pPr>
            <a:r>
              <a:rPr dirty="0" sz="1200" spc="-5" i="1">
                <a:latin typeface="Arial"/>
                <a:cs typeface="Arial"/>
              </a:rPr>
              <a:t>He begets not </a:t>
            </a:r>
            <a:r>
              <a:rPr dirty="0" sz="1200" i="1">
                <a:latin typeface="Arial"/>
                <a:cs typeface="Arial"/>
              </a:rPr>
              <a:t>nor was</a:t>
            </a:r>
            <a:r>
              <a:rPr dirty="0" sz="1200" spc="-30" i="1">
                <a:latin typeface="Arial"/>
                <a:cs typeface="Arial"/>
              </a:rPr>
              <a:t> </a:t>
            </a:r>
            <a:r>
              <a:rPr dirty="0" sz="1200" spc="-5" i="1">
                <a:latin typeface="Arial"/>
                <a:cs typeface="Arial"/>
              </a:rPr>
              <a:t>begotten</a:t>
            </a:r>
            <a:endParaRPr sz="1200">
              <a:latin typeface="Arial"/>
              <a:cs typeface="Arial"/>
            </a:endParaRPr>
          </a:p>
          <a:p>
            <a:pPr>
              <a:lnSpc>
                <a:spcPct val="100000"/>
              </a:lnSpc>
              <a:spcBef>
                <a:spcPts val="45"/>
              </a:spcBef>
            </a:pPr>
            <a:endParaRPr sz="1200">
              <a:latin typeface="Arial"/>
              <a:cs typeface="Arial"/>
            </a:endParaRPr>
          </a:p>
          <a:p>
            <a:pPr algn="just" marL="139700" marR="132080">
              <a:lnSpc>
                <a:spcPts val="1380"/>
              </a:lnSpc>
            </a:pPr>
            <a:r>
              <a:rPr dirty="0" sz="1200" spc="-5">
                <a:latin typeface="Arial"/>
                <a:cs typeface="Arial"/>
              </a:rPr>
              <a:t>And </a:t>
            </a:r>
            <a:r>
              <a:rPr dirty="0" sz="1200">
                <a:latin typeface="Arial"/>
                <a:cs typeface="Arial"/>
              </a:rPr>
              <a:t>it </a:t>
            </a:r>
            <a:r>
              <a:rPr dirty="0" sz="1200" spc="-5">
                <a:latin typeface="Arial"/>
                <a:cs typeface="Arial"/>
              </a:rPr>
              <a:t>is also said that </a:t>
            </a:r>
            <a:r>
              <a:rPr dirty="0" sz="1200">
                <a:latin typeface="Arial"/>
                <a:cs typeface="Arial"/>
              </a:rPr>
              <a:t>al-Samad </a:t>
            </a:r>
            <a:r>
              <a:rPr dirty="0" sz="1200" spc="-5">
                <a:latin typeface="Arial"/>
                <a:cs typeface="Arial"/>
              </a:rPr>
              <a:t>means: (He begets not nor </a:t>
            </a:r>
            <a:r>
              <a:rPr dirty="0" sz="1200" spc="-10">
                <a:latin typeface="Arial"/>
                <a:cs typeface="Arial"/>
              </a:rPr>
              <a:t>was </a:t>
            </a:r>
            <a:r>
              <a:rPr dirty="0" sz="1200">
                <a:latin typeface="Arial"/>
                <a:cs typeface="Arial"/>
              </a:rPr>
              <a:t>begotten) </a:t>
            </a:r>
            <a:r>
              <a:rPr dirty="0" sz="1200" spc="-5">
                <a:latin typeface="Arial"/>
                <a:cs typeface="Arial"/>
              </a:rPr>
              <a:t>He says: He did  not inherit and </a:t>
            </a:r>
            <a:r>
              <a:rPr dirty="0" sz="1200" spc="-10">
                <a:latin typeface="Arial"/>
                <a:cs typeface="Arial"/>
              </a:rPr>
              <a:t>will </a:t>
            </a:r>
            <a:r>
              <a:rPr dirty="0" sz="1200" spc="-5">
                <a:latin typeface="Arial"/>
                <a:cs typeface="Arial"/>
              </a:rPr>
              <a:t>not be inherited; and </a:t>
            </a:r>
            <a:r>
              <a:rPr dirty="0" sz="1200">
                <a:latin typeface="Arial"/>
                <a:cs typeface="Arial"/>
              </a:rPr>
              <a:t>it </a:t>
            </a:r>
            <a:r>
              <a:rPr dirty="0" sz="1200" spc="-5">
                <a:latin typeface="Arial"/>
                <a:cs typeface="Arial"/>
              </a:rPr>
              <a:t>is also said </a:t>
            </a:r>
            <a:r>
              <a:rPr dirty="0" sz="1200">
                <a:latin typeface="Arial"/>
                <a:cs typeface="Arial"/>
              </a:rPr>
              <a:t>this </a:t>
            </a:r>
            <a:r>
              <a:rPr dirty="0" sz="1200" spc="-5">
                <a:latin typeface="Arial"/>
                <a:cs typeface="Arial"/>
              </a:rPr>
              <a:t>means: He does not have a </a:t>
            </a:r>
            <a:r>
              <a:rPr dirty="0" sz="1200" spc="-10">
                <a:latin typeface="Arial"/>
                <a:cs typeface="Arial"/>
              </a:rPr>
              <a:t>son  who </a:t>
            </a:r>
            <a:r>
              <a:rPr dirty="0" sz="1200" spc="-5">
                <a:latin typeface="Arial"/>
                <a:cs typeface="Arial"/>
              </a:rPr>
              <a:t>will inherit His dominion and He </a:t>
            </a:r>
            <a:r>
              <a:rPr dirty="0" sz="1200" spc="-10">
                <a:latin typeface="Arial"/>
                <a:cs typeface="Arial"/>
              </a:rPr>
              <a:t>was </a:t>
            </a:r>
            <a:r>
              <a:rPr dirty="0" sz="1200" spc="-5">
                <a:latin typeface="Arial"/>
                <a:cs typeface="Arial"/>
              </a:rPr>
              <a:t>not begotten, which means that He did not inherit  His dominion.</a:t>
            </a:r>
            <a:endParaRPr sz="1200">
              <a:latin typeface="Arial"/>
              <a:cs typeface="Arial"/>
            </a:endParaRPr>
          </a:p>
          <a:p>
            <a:pPr algn="r" marR="184150">
              <a:lnSpc>
                <a:spcPts val="2110"/>
              </a:lnSpc>
            </a:pPr>
            <a:r>
              <a:rPr dirty="0" baseline="3086" sz="2700" spc="-750" b="1">
                <a:latin typeface="Arial"/>
                <a:cs typeface="Arial"/>
              </a:rPr>
              <a:t>د</a:t>
            </a:r>
            <a:r>
              <a:rPr dirty="0" baseline="3086" sz="2700" spc="-615" b="1">
                <a:latin typeface="Arial"/>
                <a:cs typeface="Arial"/>
              </a:rPr>
              <a:t>ح</a:t>
            </a:r>
            <a:r>
              <a:rPr dirty="0" sz="1800" spc="-409" b="1">
                <a:latin typeface="Arial"/>
                <a:cs typeface="Arial"/>
              </a:rPr>
              <a:t>َ </a:t>
            </a:r>
            <a:r>
              <a:rPr dirty="0" baseline="16975" sz="2700" b="1">
                <a:latin typeface="Arial"/>
                <a:cs typeface="Arial"/>
              </a:rPr>
              <a:t>َ</a:t>
            </a:r>
            <a:r>
              <a:rPr dirty="0" baseline="3086" sz="2700" b="1">
                <a:latin typeface="Arial"/>
                <a:cs typeface="Arial"/>
              </a:rPr>
              <a:t>أ </a:t>
            </a:r>
            <a:r>
              <a:rPr dirty="0" baseline="7716" sz="2700" spc="-367" b="1">
                <a:latin typeface="Arial"/>
                <a:cs typeface="Arial"/>
              </a:rPr>
              <a:t>ً</a:t>
            </a:r>
            <a:r>
              <a:rPr dirty="0" baseline="3086" sz="2700" spc="-367" b="1">
                <a:latin typeface="Arial"/>
                <a:cs typeface="Arial"/>
              </a:rPr>
              <a:t>او</a:t>
            </a:r>
            <a:r>
              <a:rPr dirty="0" baseline="13888" sz="2700" spc="-367" b="1">
                <a:latin typeface="Arial"/>
                <a:cs typeface="Arial"/>
              </a:rPr>
              <a:t>ُ</a:t>
            </a:r>
            <a:r>
              <a:rPr dirty="0" baseline="3086" sz="2700" spc="-367" b="1">
                <a:latin typeface="Arial"/>
                <a:cs typeface="Arial"/>
              </a:rPr>
              <a:t>فك</a:t>
            </a:r>
            <a:r>
              <a:rPr dirty="0" baseline="7716" sz="2700" spc="-367" b="1">
                <a:latin typeface="Arial"/>
                <a:cs typeface="Arial"/>
              </a:rPr>
              <a:t>ُ </a:t>
            </a:r>
            <a:r>
              <a:rPr dirty="0" baseline="3086" sz="2700" spc="-405" b="1">
                <a:latin typeface="Arial"/>
                <a:cs typeface="Arial"/>
              </a:rPr>
              <a:t>ه</a:t>
            </a:r>
            <a:r>
              <a:rPr dirty="0" baseline="4629" sz="2700" spc="-405" b="1">
                <a:latin typeface="Arial"/>
                <a:cs typeface="Arial"/>
              </a:rPr>
              <a:t>ُ </a:t>
            </a:r>
            <a:r>
              <a:rPr dirty="0" baseline="10802" sz="2700" spc="-202" b="1">
                <a:latin typeface="Arial"/>
                <a:cs typeface="Arial"/>
              </a:rPr>
              <a:t>َّ</a:t>
            </a:r>
            <a:r>
              <a:rPr dirty="0" baseline="3086" sz="2700" spc="-202" b="1">
                <a:latin typeface="Arial"/>
                <a:cs typeface="Arial"/>
              </a:rPr>
              <a:t>ل </a:t>
            </a:r>
            <a:r>
              <a:rPr dirty="0" baseline="3086" sz="2700" spc="-480" b="1">
                <a:latin typeface="Arial"/>
                <a:cs typeface="Arial"/>
              </a:rPr>
              <a:t>نْ </a:t>
            </a:r>
            <a:r>
              <a:rPr dirty="0" baseline="3086" sz="2700" spc="-675" b="1">
                <a:latin typeface="Arial"/>
                <a:cs typeface="Arial"/>
              </a:rPr>
              <a:t>ك</a:t>
            </a:r>
            <a:r>
              <a:rPr dirty="0" baseline="7716" sz="2700" spc="-675" b="1">
                <a:latin typeface="Arial"/>
                <a:cs typeface="Arial"/>
              </a:rPr>
              <a:t>ُ </a:t>
            </a:r>
            <a:r>
              <a:rPr dirty="0" baseline="3086" sz="2700" spc="-802" b="1">
                <a:latin typeface="Arial"/>
                <a:cs typeface="Arial"/>
              </a:rPr>
              <a:t>ي</a:t>
            </a:r>
            <a:r>
              <a:rPr dirty="0" sz="1800" spc="-535" b="1">
                <a:latin typeface="Arial"/>
                <a:cs typeface="Arial"/>
              </a:rPr>
              <a:t>َ</a:t>
            </a:r>
            <a:r>
              <a:rPr dirty="0" sz="1800" spc="400" b="1">
                <a:latin typeface="Arial"/>
                <a:cs typeface="Arial"/>
              </a:rPr>
              <a:t> </a:t>
            </a:r>
            <a:r>
              <a:rPr dirty="0" baseline="3086" sz="2700" spc="-382" b="1">
                <a:latin typeface="Arial"/>
                <a:cs typeface="Arial"/>
              </a:rPr>
              <a:t>م</a:t>
            </a:r>
            <a:r>
              <a:rPr dirty="0" baseline="-6172" sz="2700" spc="-382" b="1">
                <a:latin typeface="Arial"/>
                <a:cs typeface="Arial"/>
              </a:rPr>
              <a:t>ْ</a:t>
            </a:r>
            <a:r>
              <a:rPr dirty="0" baseline="-6172" sz="2700" spc="-487" b="1">
                <a:latin typeface="Arial"/>
                <a:cs typeface="Arial"/>
              </a:rPr>
              <a:t> </a:t>
            </a:r>
            <a:r>
              <a:rPr dirty="0" baseline="10802" sz="2700" spc="-427" b="1">
                <a:latin typeface="Arial"/>
                <a:cs typeface="Arial"/>
              </a:rPr>
              <a:t>َ</a:t>
            </a:r>
            <a:r>
              <a:rPr dirty="0" baseline="3086" sz="2700" spc="-427" b="1">
                <a:latin typeface="Arial"/>
                <a:cs typeface="Arial"/>
              </a:rPr>
              <a:t>لو</a:t>
            </a:r>
            <a:endParaRPr baseline="3086" sz="2700">
              <a:latin typeface="Arial"/>
              <a:cs typeface="Arial"/>
            </a:endParaRPr>
          </a:p>
          <a:p>
            <a:pPr marL="139700">
              <a:lnSpc>
                <a:spcPct val="100000"/>
              </a:lnSpc>
              <a:spcBef>
                <a:spcPts val="1060"/>
              </a:spcBef>
            </a:pPr>
            <a:r>
              <a:rPr dirty="0" sz="1200" spc="-5" i="1">
                <a:latin typeface="Arial"/>
                <a:cs typeface="Arial"/>
              </a:rPr>
              <a:t>And there is none comparable unto</a:t>
            </a:r>
            <a:r>
              <a:rPr dirty="0" sz="1200" spc="5" i="1">
                <a:latin typeface="Arial"/>
                <a:cs typeface="Arial"/>
              </a:rPr>
              <a:t> </a:t>
            </a:r>
            <a:r>
              <a:rPr dirty="0" sz="1200" spc="-5" i="1">
                <a:latin typeface="Arial"/>
                <a:cs typeface="Arial"/>
              </a:rPr>
              <a:t>Him</a:t>
            </a:r>
            <a:endParaRPr sz="1200">
              <a:latin typeface="Arial"/>
              <a:cs typeface="Arial"/>
            </a:endParaRPr>
          </a:p>
          <a:p>
            <a:pPr>
              <a:lnSpc>
                <a:spcPct val="100000"/>
              </a:lnSpc>
              <a:spcBef>
                <a:spcPts val="10"/>
              </a:spcBef>
            </a:pPr>
            <a:endParaRPr sz="1200">
              <a:latin typeface="Arial"/>
              <a:cs typeface="Arial"/>
            </a:endParaRPr>
          </a:p>
          <a:p>
            <a:pPr algn="just" marL="139700" marR="132715">
              <a:lnSpc>
                <a:spcPct val="95900"/>
              </a:lnSpc>
            </a:pPr>
            <a:r>
              <a:rPr dirty="0" sz="1200" spc="-5">
                <a:latin typeface="Arial"/>
                <a:cs typeface="Arial"/>
              </a:rPr>
              <a:t>(And </a:t>
            </a:r>
            <a:r>
              <a:rPr dirty="0" sz="1200">
                <a:latin typeface="Arial"/>
                <a:cs typeface="Arial"/>
              </a:rPr>
              <a:t>there </a:t>
            </a:r>
            <a:r>
              <a:rPr dirty="0" sz="1200" spc="-5">
                <a:latin typeface="Arial"/>
                <a:cs typeface="Arial"/>
              </a:rPr>
              <a:t>is none comparable unto Him) He says: </a:t>
            </a:r>
            <a:r>
              <a:rPr dirty="0" sz="1200" spc="10">
                <a:latin typeface="Arial"/>
                <a:cs typeface="Arial"/>
              </a:rPr>
              <a:t>He </a:t>
            </a:r>
            <a:r>
              <a:rPr dirty="0" sz="1200" spc="-5">
                <a:latin typeface="Arial"/>
                <a:cs typeface="Arial"/>
              </a:rPr>
              <a:t>does not </a:t>
            </a:r>
            <a:r>
              <a:rPr dirty="0" sz="1200" spc="-10">
                <a:latin typeface="Arial"/>
                <a:cs typeface="Arial"/>
              </a:rPr>
              <a:t>have </a:t>
            </a:r>
            <a:r>
              <a:rPr dirty="0" sz="1200" spc="-5">
                <a:latin typeface="Arial"/>
                <a:cs typeface="Arial"/>
              </a:rPr>
              <a:t>an opposite, peer, or  equal nor anyone </a:t>
            </a:r>
            <a:r>
              <a:rPr dirty="0" sz="1200" spc="-10">
                <a:latin typeface="Arial"/>
                <a:cs typeface="Arial"/>
              </a:rPr>
              <a:t>who </a:t>
            </a:r>
            <a:r>
              <a:rPr dirty="0" sz="1200">
                <a:latin typeface="Arial"/>
                <a:cs typeface="Arial"/>
              </a:rPr>
              <a:t>may </a:t>
            </a:r>
            <a:r>
              <a:rPr dirty="0" sz="1200" spc="-5">
                <a:latin typeface="Arial"/>
                <a:cs typeface="Arial"/>
              </a:rPr>
              <a:t>resemble or begin </a:t>
            </a:r>
            <a:r>
              <a:rPr dirty="0" sz="1200">
                <a:latin typeface="Arial"/>
                <a:cs typeface="Arial"/>
              </a:rPr>
              <a:t>to </a:t>
            </a:r>
            <a:r>
              <a:rPr dirty="0" sz="1200" spc="-5">
                <a:latin typeface="Arial"/>
                <a:cs typeface="Arial"/>
              </a:rPr>
              <a:t>resemble </a:t>
            </a:r>
            <a:r>
              <a:rPr dirty="0" sz="1200" spc="-10">
                <a:latin typeface="Arial"/>
                <a:cs typeface="Arial"/>
              </a:rPr>
              <a:t>Him; </a:t>
            </a:r>
            <a:r>
              <a:rPr dirty="0" sz="1200" spc="-5">
                <a:latin typeface="Arial"/>
                <a:cs typeface="Arial"/>
              </a:rPr>
              <a:t>and </a:t>
            </a:r>
            <a:r>
              <a:rPr dirty="0" sz="1200">
                <a:latin typeface="Arial"/>
                <a:cs typeface="Arial"/>
              </a:rPr>
              <a:t>it </a:t>
            </a:r>
            <a:r>
              <a:rPr dirty="0" sz="1200" spc="-5">
                <a:latin typeface="Arial"/>
                <a:cs typeface="Arial"/>
              </a:rPr>
              <a:t>is also said this  means: He does not </a:t>
            </a:r>
            <a:r>
              <a:rPr dirty="0" sz="1200" spc="-10">
                <a:latin typeface="Arial"/>
                <a:cs typeface="Arial"/>
              </a:rPr>
              <a:t>have </a:t>
            </a:r>
            <a:r>
              <a:rPr dirty="0" sz="1200" spc="-5">
                <a:latin typeface="Arial"/>
                <a:cs typeface="Arial"/>
              </a:rPr>
              <a:t>any </a:t>
            </a:r>
            <a:r>
              <a:rPr dirty="0" sz="1200">
                <a:latin typeface="Arial"/>
                <a:cs typeface="Arial"/>
              </a:rPr>
              <a:t>co-equal </a:t>
            </a:r>
            <a:r>
              <a:rPr dirty="0" sz="1200" spc="-10">
                <a:latin typeface="Arial"/>
                <a:cs typeface="Arial"/>
              </a:rPr>
              <a:t>who </a:t>
            </a:r>
            <a:r>
              <a:rPr dirty="0" sz="1200" spc="-5">
                <a:latin typeface="Arial"/>
                <a:cs typeface="Arial"/>
              </a:rPr>
              <a:t>would compete with Him about dominion </a:t>
            </a:r>
            <a:r>
              <a:rPr dirty="0" sz="1200" spc="-10">
                <a:latin typeface="Arial"/>
                <a:cs typeface="Arial"/>
              </a:rPr>
              <a:t>and  </a:t>
            </a:r>
            <a:r>
              <a:rPr dirty="0" sz="1200" spc="-5">
                <a:latin typeface="Arial"/>
                <a:cs typeface="Arial"/>
              </a:rPr>
              <a:t>sovereignty'.</a:t>
            </a:r>
            <a:endParaRPr sz="1200">
              <a:latin typeface="Arial"/>
              <a:cs typeface="Arial"/>
            </a:endParaRPr>
          </a:p>
          <a:p>
            <a:pPr>
              <a:lnSpc>
                <a:spcPct val="100000"/>
              </a:lnSpc>
              <a:spcBef>
                <a:spcPts val="55"/>
              </a:spcBef>
            </a:pPr>
            <a:endParaRPr sz="1100">
              <a:latin typeface="Arial"/>
              <a:cs typeface="Arial"/>
            </a:endParaRPr>
          </a:p>
          <a:p>
            <a:pPr marL="139700">
              <a:lnSpc>
                <a:spcPct val="100000"/>
              </a:lnSpc>
            </a:pPr>
            <a:r>
              <a:rPr dirty="0" u="heavy" sz="1200" spc="-5" b="1" i="1">
                <a:uFill>
                  <a:solidFill>
                    <a:srgbClr val="000000"/>
                  </a:solidFill>
                </a:uFill>
                <a:latin typeface="Arial"/>
                <a:cs typeface="Arial"/>
              </a:rPr>
              <a:t>Authority and Place of the</a:t>
            </a:r>
            <a:r>
              <a:rPr dirty="0" u="heavy" sz="1200" spc="20" b="1" i="1">
                <a:uFill>
                  <a:solidFill>
                    <a:srgbClr val="000000"/>
                  </a:solidFill>
                </a:uFill>
                <a:latin typeface="Arial"/>
                <a:cs typeface="Arial"/>
              </a:rPr>
              <a:t> </a:t>
            </a:r>
            <a:r>
              <a:rPr dirty="0" u="heavy" sz="1200" spc="-45" b="1" i="1">
                <a:uFill>
                  <a:solidFill>
                    <a:srgbClr val="000000"/>
                  </a:solidFill>
                </a:uFill>
                <a:latin typeface="Arial"/>
                <a:cs typeface="Arial"/>
              </a:rPr>
              <a:t>Qur‟an</a:t>
            </a:r>
            <a:endParaRPr sz="1200">
              <a:latin typeface="Arial"/>
              <a:cs typeface="Arial"/>
            </a:endParaRPr>
          </a:p>
          <a:p>
            <a:pPr>
              <a:lnSpc>
                <a:spcPct val="100000"/>
              </a:lnSpc>
              <a:spcBef>
                <a:spcPts val="55"/>
              </a:spcBef>
            </a:pPr>
            <a:endParaRPr sz="1150">
              <a:latin typeface="Arial"/>
              <a:cs typeface="Arial"/>
            </a:endParaRPr>
          </a:p>
          <a:p>
            <a:pPr algn="just" marL="139700" marR="129539">
              <a:lnSpc>
                <a:spcPct val="95900"/>
              </a:lnSpc>
            </a:pPr>
            <a:r>
              <a:rPr dirty="0" sz="1200" spc="-5">
                <a:latin typeface="Arial"/>
                <a:cs typeface="Arial"/>
              </a:rPr>
              <a:t>The authority </a:t>
            </a:r>
            <a:r>
              <a:rPr dirty="0" sz="1200">
                <a:latin typeface="Arial"/>
                <a:cs typeface="Arial"/>
              </a:rPr>
              <a:t>and </a:t>
            </a:r>
            <a:r>
              <a:rPr dirty="0" sz="1200" spc="-5">
                <a:latin typeface="Arial"/>
                <a:cs typeface="Arial"/>
              </a:rPr>
              <a:t>place of </a:t>
            </a:r>
            <a:r>
              <a:rPr dirty="0" sz="1200">
                <a:latin typeface="Arial"/>
                <a:cs typeface="Arial"/>
              </a:rPr>
              <a:t>the </a:t>
            </a:r>
            <a:r>
              <a:rPr dirty="0" sz="1200" spc="-5">
                <a:latin typeface="Arial"/>
                <a:cs typeface="Arial"/>
              </a:rPr>
              <a:t>Qur‘an in </a:t>
            </a:r>
            <a:r>
              <a:rPr dirty="0" sz="1200">
                <a:latin typeface="Arial"/>
                <a:cs typeface="Arial"/>
              </a:rPr>
              <a:t>the </a:t>
            </a:r>
            <a:r>
              <a:rPr dirty="0" sz="1200" spc="-5">
                <a:latin typeface="Arial"/>
                <a:cs typeface="Arial"/>
              </a:rPr>
              <a:t>lives </a:t>
            </a:r>
            <a:r>
              <a:rPr dirty="0" sz="1200">
                <a:latin typeface="Arial"/>
                <a:cs typeface="Arial"/>
              </a:rPr>
              <a:t>of </a:t>
            </a:r>
            <a:r>
              <a:rPr dirty="0" sz="1200" spc="-5">
                <a:latin typeface="Arial"/>
                <a:cs typeface="Arial"/>
              </a:rPr>
              <a:t>Muslims </a:t>
            </a:r>
            <a:r>
              <a:rPr dirty="0" sz="1200">
                <a:latin typeface="Arial"/>
                <a:cs typeface="Arial"/>
              </a:rPr>
              <a:t>can be </a:t>
            </a:r>
            <a:r>
              <a:rPr dirty="0" sz="1200" spc="-5">
                <a:latin typeface="Arial"/>
                <a:cs typeface="Arial"/>
              </a:rPr>
              <a:t>weighted </a:t>
            </a:r>
            <a:r>
              <a:rPr dirty="0" sz="1200">
                <a:latin typeface="Arial"/>
                <a:cs typeface="Arial"/>
              </a:rPr>
              <a:t>by the  </a:t>
            </a:r>
            <a:r>
              <a:rPr dirty="0" sz="1200" spc="-5">
                <a:latin typeface="Arial"/>
                <a:cs typeface="Arial"/>
              </a:rPr>
              <a:t>importance </a:t>
            </a:r>
            <a:r>
              <a:rPr dirty="0" sz="1200">
                <a:latin typeface="Arial"/>
                <a:cs typeface="Arial"/>
              </a:rPr>
              <a:t>it </a:t>
            </a:r>
            <a:r>
              <a:rPr dirty="0" sz="1200" spc="-5">
                <a:latin typeface="Arial"/>
                <a:cs typeface="Arial"/>
              </a:rPr>
              <a:t>bears in </a:t>
            </a:r>
            <a:r>
              <a:rPr dirty="0" sz="1200">
                <a:latin typeface="Arial"/>
                <a:cs typeface="Arial"/>
              </a:rPr>
              <a:t>their </a:t>
            </a:r>
            <a:r>
              <a:rPr dirty="0" sz="1200" spc="-5">
                <a:latin typeface="Arial"/>
                <a:cs typeface="Arial"/>
              </a:rPr>
              <a:t>lives. </a:t>
            </a:r>
            <a:r>
              <a:rPr dirty="0" sz="1200">
                <a:latin typeface="Arial"/>
                <a:cs typeface="Arial"/>
              </a:rPr>
              <a:t>Great </a:t>
            </a:r>
            <a:r>
              <a:rPr dirty="0" sz="1200" spc="-5">
                <a:latin typeface="Arial"/>
                <a:cs typeface="Arial"/>
              </a:rPr>
              <a:t>importance is placed </a:t>
            </a:r>
            <a:r>
              <a:rPr dirty="0" sz="1200" spc="-10">
                <a:latin typeface="Arial"/>
                <a:cs typeface="Arial"/>
              </a:rPr>
              <a:t>on </a:t>
            </a:r>
            <a:r>
              <a:rPr dirty="0" sz="1200">
                <a:latin typeface="Arial"/>
                <a:cs typeface="Arial"/>
              </a:rPr>
              <a:t>it </a:t>
            </a:r>
            <a:r>
              <a:rPr dirty="0" sz="1200" spc="-5">
                <a:latin typeface="Arial"/>
                <a:cs typeface="Arial"/>
              </a:rPr>
              <a:t>due </a:t>
            </a:r>
            <a:r>
              <a:rPr dirty="0" sz="1200">
                <a:latin typeface="Arial"/>
                <a:cs typeface="Arial"/>
              </a:rPr>
              <a:t>to </a:t>
            </a:r>
            <a:r>
              <a:rPr dirty="0" sz="1200" spc="-5">
                <a:latin typeface="Arial"/>
                <a:cs typeface="Arial"/>
              </a:rPr>
              <a:t>the </a:t>
            </a:r>
            <a:r>
              <a:rPr dirty="0" sz="1200">
                <a:latin typeface="Arial"/>
                <a:cs typeface="Arial"/>
              </a:rPr>
              <a:t>fact </a:t>
            </a:r>
            <a:r>
              <a:rPr dirty="0" sz="1200" spc="-5">
                <a:latin typeface="Arial"/>
                <a:cs typeface="Arial"/>
              </a:rPr>
              <a:t>that </a:t>
            </a:r>
            <a:r>
              <a:rPr dirty="0" sz="1200">
                <a:latin typeface="Arial"/>
                <a:cs typeface="Arial"/>
              </a:rPr>
              <a:t>it </a:t>
            </a:r>
            <a:r>
              <a:rPr dirty="0" sz="1200" spc="-10">
                <a:latin typeface="Arial"/>
                <a:cs typeface="Arial"/>
              </a:rPr>
              <a:t>is </a:t>
            </a:r>
            <a:r>
              <a:rPr dirty="0" sz="1200" spc="-5">
                <a:latin typeface="Arial"/>
                <a:cs typeface="Arial"/>
              </a:rPr>
              <a:t>a  divine </a:t>
            </a:r>
            <a:r>
              <a:rPr dirty="0" sz="1200">
                <a:latin typeface="Arial"/>
                <a:cs typeface="Arial"/>
              </a:rPr>
              <a:t>book </a:t>
            </a:r>
            <a:r>
              <a:rPr dirty="0" sz="1200" spc="-5">
                <a:latin typeface="Arial"/>
                <a:cs typeface="Arial"/>
              </a:rPr>
              <a:t>from God, </a:t>
            </a:r>
            <a:r>
              <a:rPr dirty="0" sz="1200">
                <a:latin typeface="Arial"/>
                <a:cs typeface="Arial"/>
              </a:rPr>
              <a:t>it </a:t>
            </a:r>
            <a:r>
              <a:rPr dirty="0" sz="1200" spc="-5">
                <a:latin typeface="Arial"/>
                <a:cs typeface="Arial"/>
              </a:rPr>
              <a:t>is a guidance </a:t>
            </a:r>
            <a:r>
              <a:rPr dirty="0" sz="1200">
                <a:latin typeface="Arial"/>
                <a:cs typeface="Arial"/>
              </a:rPr>
              <a:t>for </a:t>
            </a:r>
            <a:r>
              <a:rPr dirty="0" sz="1200" spc="-5">
                <a:latin typeface="Arial"/>
                <a:cs typeface="Arial"/>
              </a:rPr>
              <a:t>all </a:t>
            </a:r>
            <a:r>
              <a:rPr dirty="0" sz="1200">
                <a:latin typeface="Arial"/>
                <a:cs typeface="Arial"/>
              </a:rPr>
              <a:t>Mankind, it </a:t>
            </a:r>
            <a:r>
              <a:rPr dirty="0" sz="1200" spc="-5">
                <a:latin typeface="Arial"/>
                <a:cs typeface="Arial"/>
              </a:rPr>
              <a:t>is unique and can‘t </a:t>
            </a:r>
            <a:r>
              <a:rPr dirty="0" sz="1200">
                <a:latin typeface="Arial"/>
                <a:cs typeface="Arial"/>
              </a:rPr>
              <a:t>be </a:t>
            </a:r>
            <a:r>
              <a:rPr dirty="0" sz="1200" spc="-5">
                <a:latin typeface="Arial"/>
                <a:cs typeface="Arial"/>
              </a:rPr>
              <a:t>imitated, there  is only divine </a:t>
            </a:r>
            <a:r>
              <a:rPr dirty="0" sz="1200">
                <a:latin typeface="Arial"/>
                <a:cs typeface="Arial"/>
              </a:rPr>
              <a:t>truth </a:t>
            </a:r>
            <a:r>
              <a:rPr dirty="0" sz="1200" spc="-5">
                <a:latin typeface="Arial"/>
                <a:cs typeface="Arial"/>
              </a:rPr>
              <a:t>in </a:t>
            </a:r>
            <a:r>
              <a:rPr dirty="0" sz="1200">
                <a:latin typeface="Arial"/>
                <a:cs typeface="Arial"/>
              </a:rPr>
              <a:t>it, it </a:t>
            </a:r>
            <a:r>
              <a:rPr dirty="0" sz="1200" spc="-5">
                <a:latin typeface="Arial"/>
                <a:cs typeface="Arial"/>
              </a:rPr>
              <a:t>is a code of conduct, </a:t>
            </a:r>
            <a:r>
              <a:rPr dirty="0" sz="1200">
                <a:latin typeface="Arial"/>
                <a:cs typeface="Arial"/>
              </a:rPr>
              <a:t>it </a:t>
            </a:r>
            <a:r>
              <a:rPr dirty="0" sz="1200" spc="-5">
                <a:latin typeface="Arial"/>
                <a:cs typeface="Arial"/>
              </a:rPr>
              <a:t>is a </a:t>
            </a:r>
            <a:r>
              <a:rPr dirty="0" sz="1200">
                <a:latin typeface="Arial"/>
                <a:cs typeface="Arial"/>
              </a:rPr>
              <a:t>mean </a:t>
            </a:r>
            <a:r>
              <a:rPr dirty="0" sz="1200" spc="-5">
                <a:latin typeface="Arial"/>
                <a:cs typeface="Arial"/>
              </a:rPr>
              <a:t>to avoid sins and pitfalls, </a:t>
            </a:r>
            <a:r>
              <a:rPr dirty="0" sz="1200">
                <a:latin typeface="Arial"/>
                <a:cs typeface="Arial"/>
              </a:rPr>
              <a:t>it </a:t>
            </a:r>
            <a:r>
              <a:rPr dirty="0" sz="1200" spc="-5">
                <a:latin typeface="Arial"/>
                <a:cs typeface="Arial"/>
              </a:rPr>
              <a:t>is a  protection against diseases, problems and Shaitaan, </a:t>
            </a:r>
            <a:r>
              <a:rPr dirty="0" sz="1200">
                <a:latin typeface="Arial"/>
                <a:cs typeface="Arial"/>
              </a:rPr>
              <a:t>it </a:t>
            </a:r>
            <a:r>
              <a:rPr dirty="0" sz="1200" spc="-5">
                <a:latin typeface="Arial"/>
                <a:cs typeface="Arial"/>
              </a:rPr>
              <a:t>is a book of law, </a:t>
            </a:r>
            <a:r>
              <a:rPr dirty="0" sz="1200">
                <a:latin typeface="Arial"/>
                <a:cs typeface="Arial"/>
              </a:rPr>
              <a:t>lessons </a:t>
            </a:r>
            <a:r>
              <a:rPr dirty="0" sz="1200" spc="-5">
                <a:latin typeface="Arial"/>
                <a:cs typeface="Arial"/>
              </a:rPr>
              <a:t>can be  derived from </a:t>
            </a:r>
            <a:r>
              <a:rPr dirty="0" sz="1200">
                <a:latin typeface="Arial"/>
                <a:cs typeface="Arial"/>
              </a:rPr>
              <a:t>it, it </a:t>
            </a:r>
            <a:r>
              <a:rPr dirty="0" sz="1200" spc="-5">
                <a:latin typeface="Arial"/>
                <a:cs typeface="Arial"/>
              </a:rPr>
              <a:t>is learned and read </a:t>
            </a:r>
            <a:r>
              <a:rPr dirty="0" sz="1200" spc="10">
                <a:latin typeface="Arial"/>
                <a:cs typeface="Arial"/>
              </a:rPr>
              <a:t>in </a:t>
            </a:r>
            <a:r>
              <a:rPr dirty="0" sz="1200" spc="-5">
                <a:latin typeface="Arial"/>
                <a:cs typeface="Arial"/>
              </a:rPr>
              <a:t>Swalaat and </a:t>
            </a:r>
            <a:r>
              <a:rPr dirty="0" sz="1200">
                <a:latin typeface="Arial"/>
                <a:cs typeface="Arial"/>
              </a:rPr>
              <a:t>it </a:t>
            </a:r>
            <a:r>
              <a:rPr dirty="0" sz="1200" spc="-5">
                <a:latin typeface="Arial"/>
                <a:cs typeface="Arial"/>
              </a:rPr>
              <a:t>is a book or criterion between Halal  and Haram.</a:t>
            </a:r>
            <a:endParaRPr sz="1200">
              <a:latin typeface="Arial"/>
              <a:cs typeface="Arial"/>
            </a:endParaRPr>
          </a:p>
          <a:p>
            <a:pPr>
              <a:lnSpc>
                <a:spcPct val="100000"/>
              </a:lnSpc>
              <a:spcBef>
                <a:spcPts val="55"/>
              </a:spcBef>
            </a:pPr>
            <a:endParaRPr sz="1100">
              <a:latin typeface="Arial"/>
              <a:cs typeface="Arial"/>
            </a:endParaRPr>
          </a:p>
          <a:p>
            <a:pPr marL="139700">
              <a:lnSpc>
                <a:spcPct val="100000"/>
              </a:lnSpc>
            </a:pPr>
            <a:r>
              <a:rPr dirty="0" u="heavy" sz="1200" spc="-5" b="1" i="1">
                <a:uFill>
                  <a:solidFill>
                    <a:srgbClr val="000000"/>
                  </a:solidFill>
                </a:uFill>
                <a:latin typeface="Arial"/>
                <a:cs typeface="Arial"/>
              </a:rPr>
              <a:t>Relationship with other sources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knowledge</a:t>
            </a:r>
            <a:endParaRPr sz="1200">
              <a:latin typeface="Arial"/>
              <a:cs typeface="Arial"/>
            </a:endParaRPr>
          </a:p>
          <a:p>
            <a:pPr>
              <a:lnSpc>
                <a:spcPct val="100000"/>
              </a:lnSpc>
            </a:pPr>
            <a:endParaRPr sz="1200">
              <a:latin typeface="Arial"/>
              <a:cs typeface="Arial"/>
            </a:endParaRPr>
          </a:p>
          <a:p>
            <a:pPr algn="just" marL="139700" marR="129539">
              <a:lnSpc>
                <a:spcPct val="95800"/>
              </a:lnSpc>
            </a:pPr>
            <a:r>
              <a:rPr dirty="0" sz="1200" spc="-5">
                <a:latin typeface="Arial"/>
                <a:cs typeface="Arial"/>
              </a:rPr>
              <a:t>Knowledge can be divided into </a:t>
            </a:r>
            <a:r>
              <a:rPr dirty="0" sz="1200" spc="-10">
                <a:latin typeface="Arial"/>
                <a:cs typeface="Arial"/>
              </a:rPr>
              <a:t>two </a:t>
            </a:r>
            <a:r>
              <a:rPr dirty="0" sz="1200" spc="-5">
                <a:latin typeface="Arial"/>
                <a:cs typeface="Arial"/>
              </a:rPr>
              <a:t>categories. </a:t>
            </a:r>
            <a:r>
              <a:rPr dirty="0" sz="1200">
                <a:latin typeface="Arial"/>
                <a:cs typeface="Arial"/>
              </a:rPr>
              <a:t>The first </a:t>
            </a:r>
            <a:r>
              <a:rPr dirty="0" sz="1200" spc="-5">
                <a:latin typeface="Arial"/>
                <a:cs typeface="Arial"/>
              </a:rPr>
              <a:t>one is Divine knowledge emanating  from Allah and </a:t>
            </a:r>
            <a:r>
              <a:rPr dirty="0" sz="1200">
                <a:latin typeface="Arial"/>
                <a:cs typeface="Arial"/>
              </a:rPr>
              <a:t>the </a:t>
            </a:r>
            <a:r>
              <a:rPr dirty="0" sz="1200" spc="-5">
                <a:latin typeface="Arial"/>
                <a:cs typeface="Arial"/>
              </a:rPr>
              <a:t>second one from </a:t>
            </a:r>
            <a:r>
              <a:rPr dirty="0" sz="1200" spc="-10">
                <a:latin typeface="Arial"/>
                <a:cs typeface="Arial"/>
              </a:rPr>
              <a:t>human </a:t>
            </a:r>
            <a:r>
              <a:rPr dirty="0" sz="1200" spc="-5">
                <a:latin typeface="Arial"/>
                <a:cs typeface="Arial"/>
              </a:rPr>
              <a:t>beings. </a:t>
            </a:r>
            <a:r>
              <a:rPr dirty="0" sz="1200">
                <a:latin typeface="Arial"/>
                <a:cs typeface="Arial"/>
              </a:rPr>
              <a:t>The characteristics of </a:t>
            </a:r>
            <a:r>
              <a:rPr dirty="0" sz="1200" spc="-5">
                <a:latin typeface="Arial"/>
                <a:cs typeface="Arial"/>
              </a:rPr>
              <a:t>both is one is  Divine and the other is </a:t>
            </a:r>
            <a:r>
              <a:rPr dirty="0" sz="1200">
                <a:latin typeface="Arial"/>
                <a:cs typeface="Arial"/>
              </a:rPr>
              <a:t>man-made. </a:t>
            </a:r>
            <a:r>
              <a:rPr dirty="0" sz="1200" spc="-5">
                <a:latin typeface="Arial"/>
                <a:cs typeface="Arial"/>
              </a:rPr>
              <a:t>Dealing with </a:t>
            </a:r>
            <a:r>
              <a:rPr dirty="0" sz="1200">
                <a:latin typeface="Arial"/>
                <a:cs typeface="Arial"/>
              </a:rPr>
              <a:t>the </a:t>
            </a:r>
            <a:r>
              <a:rPr dirty="0" sz="1200" spc="-5">
                <a:latin typeface="Arial"/>
                <a:cs typeface="Arial"/>
              </a:rPr>
              <a:t>divine one, there are other sources of  knowledge like from </a:t>
            </a:r>
            <a:r>
              <a:rPr dirty="0" sz="1200" spc="-10">
                <a:latin typeface="Arial"/>
                <a:cs typeface="Arial"/>
              </a:rPr>
              <a:t>the </a:t>
            </a:r>
            <a:r>
              <a:rPr dirty="0" sz="1200" spc="-5">
                <a:latin typeface="Arial"/>
                <a:cs typeface="Arial"/>
              </a:rPr>
              <a:t>Tawraat of Hazrat Musah </a:t>
            </a:r>
            <a:r>
              <a:rPr dirty="0" sz="1200">
                <a:latin typeface="Arial"/>
                <a:cs typeface="Arial"/>
              </a:rPr>
              <a:t>(as), </a:t>
            </a:r>
            <a:r>
              <a:rPr dirty="0" sz="1200" spc="-5">
                <a:latin typeface="Arial"/>
                <a:cs typeface="Arial"/>
              </a:rPr>
              <a:t>the Zabour of Hazrat Dawood </a:t>
            </a:r>
            <a:r>
              <a:rPr dirty="0" sz="1200">
                <a:latin typeface="Arial"/>
                <a:cs typeface="Arial"/>
              </a:rPr>
              <a:t>(as),  the </a:t>
            </a:r>
            <a:r>
              <a:rPr dirty="0" sz="1200" spc="-5">
                <a:latin typeface="Arial"/>
                <a:cs typeface="Arial"/>
              </a:rPr>
              <a:t>Suhuf of Hazrat Ibrahim </a:t>
            </a:r>
            <a:r>
              <a:rPr dirty="0" sz="1200">
                <a:latin typeface="Arial"/>
                <a:cs typeface="Arial"/>
              </a:rPr>
              <a:t>(as) </a:t>
            </a:r>
            <a:r>
              <a:rPr dirty="0" sz="1200" spc="-5">
                <a:latin typeface="Arial"/>
                <a:cs typeface="Arial"/>
              </a:rPr>
              <a:t>and </a:t>
            </a:r>
            <a:r>
              <a:rPr dirty="0" sz="1200">
                <a:latin typeface="Arial"/>
                <a:cs typeface="Arial"/>
              </a:rPr>
              <a:t>the Injeel </a:t>
            </a:r>
            <a:r>
              <a:rPr dirty="0" sz="1200" spc="-5">
                <a:latin typeface="Arial"/>
                <a:cs typeface="Arial"/>
              </a:rPr>
              <a:t>of Hazrat </a:t>
            </a:r>
            <a:r>
              <a:rPr dirty="0" sz="1200">
                <a:latin typeface="Arial"/>
                <a:cs typeface="Arial"/>
              </a:rPr>
              <a:t>Isa (as). </a:t>
            </a:r>
            <a:r>
              <a:rPr dirty="0" sz="1200" spc="-5">
                <a:latin typeface="Arial"/>
                <a:cs typeface="Arial"/>
              </a:rPr>
              <a:t>There is another source  which is </a:t>
            </a:r>
            <a:r>
              <a:rPr dirty="0" sz="1200">
                <a:latin typeface="Arial"/>
                <a:cs typeface="Arial"/>
              </a:rPr>
              <a:t>the </a:t>
            </a:r>
            <a:r>
              <a:rPr dirty="0" sz="1200" spc="-5">
                <a:latin typeface="Arial"/>
                <a:cs typeface="Arial"/>
              </a:rPr>
              <a:t>Hadith and Sunnah of the holy </a:t>
            </a:r>
            <a:r>
              <a:rPr dirty="0" sz="1200">
                <a:latin typeface="Arial"/>
                <a:cs typeface="Arial"/>
              </a:rPr>
              <a:t>prophet </a:t>
            </a:r>
            <a:r>
              <a:rPr dirty="0" sz="1200" spc="-5">
                <a:latin typeface="Arial"/>
                <a:cs typeface="Arial"/>
              </a:rPr>
              <a:t>(s.a.w), </a:t>
            </a:r>
            <a:r>
              <a:rPr dirty="0" sz="1200">
                <a:latin typeface="Arial"/>
                <a:cs typeface="Arial"/>
              </a:rPr>
              <a:t>Ashab, </a:t>
            </a:r>
            <a:r>
              <a:rPr dirty="0" sz="1200" spc="-5">
                <a:latin typeface="Arial"/>
                <a:cs typeface="Arial"/>
              </a:rPr>
              <a:t>Tabi‘in </a:t>
            </a:r>
            <a:r>
              <a:rPr dirty="0" sz="1200">
                <a:latin typeface="Arial"/>
                <a:cs typeface="Arial"/>
              </a:rPr>
              <a:t>and </a:t>
            </a:r>
            <a:r>
              <a:rPr dirty="0" sz="1200" spc="-5">
                <a:latin typeface="Arial"/>
                <a:cs typeface="Arial"/>
              </a:rPr>
              <a:t>Tab‘ut  Tabi‘in. Finally </a:t>
            </a:r>
            <a:r>
              <a:rPr dirty="0" sz="1200" spc="-10">
                <a:latin typeface="Arial"/>
                <a:cs typeface="Arial"/>
              </a:rPr>
              <a:t>we have </a:t>
            </a:r>
            <a:r>
              <a:rPr dirty="0" sz="1200">
                <a:latin typeface="Arial"/>
                <a:cs typeface="Arial"/>
              </a:rPr>
              <a:t>the </a:t>
            </a:r>
            <a:r>
              <a:rPr dirty="0" sz="1200" spc="-5">
                <a:latin typeface="Arial"/>
                <a:cs typeface="Arial"/>
              </a:rPr>
              <a:t>explanation (Tafsir) of the Qur‘an and Hadith followed </a:t>
            </a:r>
            <a:r>
              <a:rPr dirty="0" sz="1200">
                <a:latin typeface="Arial"/>
                <a:cs typeface="Arial"/>
              </a:rPr>
              <a:t>by </a:t>
            </a:r>
            <a:r>
              <a:rPr dirty="0" sz="1200" spc="-5">
                <a:latin typeface="Arial"/>
                <a:cs typeface="Arial"/>
              </a:rPr>
              <a:t>the  </a:t>
            </a:r>
            <a:r>
              <a:rPr dirty="0" sz="1200">
                <a:latin typeface="Arial"/>
                <a:cs typeface="Arial"/>
              </a:rPr>
              <a:t>Islamic </a:t>
            </a:r>
            <a:r>
              <a:rPr dirty="0" sz="1200" spc="-5">
                <a:latin typeface="Arial"/>
                <a:cs typeface="Arial"/>
              </a:rPr>
              <a:t>Law (Shari‘ah). However, </a:t>
            </a:r>
            <a:r>
              <a:rPr dirty="0" sz="1200">
                <a:latin typeface="Arial"/>
                <a:cs typeface="Arial"/>
              </a:rPr>
              <a:t>there </a:t>
            </a:r>
            <a:r>
              <a:rPr dirty="0" sz="1200" spc="-5">
                <a:latin typeface="Arial"/>
                <a:cs typeface="Arial"/>
              </a:rPr>
              <a:t>are many falsifications in the books </a:t>
            </a:r>
            <a:r>
              <a:rPr dirty="0" sz="1200" spc="-10">
                <a:latin typeface="Arial"/>
                <a:cs typeface="Arial"/>
              </a:rPr>
              <a:t>given </a:t>
            </a:r>
            <a:r>
              <a:rPr dirty="0" sz="1200">
                <a:latin typeface="Arial"/>
                <a:cs typeface="Arial"/>
              </a:rPr>
              <a:t>to the </a:t>
            </a:r>
            <a:r>
              <a:rPr dirty="0" sz="1200" spc="-5">
                <a:latin typeface="Arial"/>
                <a:cs typeface="Arial"/>
              </a:rPr>
              <a:t>past  prophets mentioned above. </a:t>
            </a:r>
            <a:r>
              <a:rPr dirty="0" sz="1200">
                <a:latin typeface="Arial"/>
                <a:cs typeface="Arial"/>
              </a:rPr>
              <a:t>For </a:t>
            </a:r>
            <a:r>
              <a:rPr dirty="0" sz="1200" spc="-5">
                <a:latin typeface="Arial"/>
                <a:cs typeface="Arial"/>
              </a:rPr>
              <a:t>the Hadith, Sunnah, Tafsir, Shari‘ah and Fiqh </a:t>
            </a:r>
            <a:r>
              <a:rPr dirty="0" sz="1200">
                <a:latin typeface="Arial"/>
                <a:cs typeface="Arial"/>
              </a:rPr>
              <a:t>there </a:t>
            </a:r>
            <a:r>
              <a:rPr dirty="0" sz="1200" spc="-5">
                <a:latin typeface="Arial"/>
                <a:cs typeface="Arial"/>
              </a:rPr>
              <a:t>are  consistency and validity as </a:t>
            </a:r>
            <a:r>
              <a:rPr dirty="0" sz="1200">
                <a:latin typeface="Arial"/>
                <a:cs typeface="Arial"/>
              </a:rPr>
              <a:t>long </a:t>
            </a:r>
            <a:r>
              <a:rPr dirty="0" sz="1200" spc="-5">
                <a:latin typeface="Arial"/>
                <a:cs typeface="Arial"/>
              </a:rPr>
              <a:t>as </a:t>
            </a:r>
            <a:r>
              <a:rPr dirty="0" sz="1200">
                <a:latin typeface="Arial"/>
                <a:cs typeface="Arial"/>
              </a:rPr>
              <a:t>the </a:t>
            </a:r>
            <a:r>
              <a:rPr dirty="0" sz="1200" spc="-5">
                <a:latin typeface="Arial"/>
                <a:cs typeface="Arial"/>
              </a:rPr>
              <a:t>contrary is not proven. The second type of knowledge  is from human reasoning. </a:t>
            </a:r>
            <a:r>
              <a:rPr dirty="0" sz="1200">
                <a:latin typeface="Arial"/>
                <a:cs typeface="Arial"/>
              </a:rPr>
              <a:t>This part </a:t>
            </a:r>
            <a:r>
              <a:rPr dirty="0" sz="1200" spc="-5">
                <a:latin typeface="Arial"/>
                <a:cs typeface="Arial"/>
              </a:rPr>
              <a:t>deals with </a:t>
            </a:r>
            <a:r>
              <a:rPr dirty="0" sz="1200">
                <a:latin typeface="Arial"/>
                <a:cs typeface="Arial"/>
              </a:rPr>
              <a:t>the </a:t>
            </a:r>
            <a:r>
              <a:rPr dirty="0" sz="1200" spc="-5">
                <a:latin typeface="Arial"/>
                <a:cs typeface="Arial"/>
              </a:rPr>
              <a:t>contribution brought by intellectual of  different categories. </a:t>
            </a:r>
            <a:r>
              <a:rPr dirty="0" sz="1200" spc="-10">
                <a:latin typeface="Arial"/>
                <a:cs typeface="Arial"/>
              </a:rPr>
              <a:t>All </a:t>
            </a:r>
            <a:r>
              <a:rPr dirty="0" sz="1200" spc="-5">
                <a:latin typeface="Arial"/>
                <a:cs typeface="Arial"/>
              </a:rPr>
              <a:t>concepts, philosophies and theories proven or not are part of other  sources of knowledge. </a:t>
            </a:r>
            <a:r>
              <a:rPr dirty="0" sz="1200">
                <a:latin typeface="Arial"/>
                <a:cs typeface="Arial"/>
              </a:rPr>
              <a:t>It </a:t>
            </a:r>
            <a:r>
              <a:rPr dirty="0" sz="1200" spc="-5">
                <a:latin typeface="Arial"/>
                <a:cs typeface="Arial"/>
              </a:rPr>
              <a:t>brings a plus </a:t>
            </a:r>
            <a:r>
              <a:rPr dirty="0" sz="1200">
                <a:latin typeface="Arial"/>
                <a:cs typeface="Arial"/>
              </a:rPr>
              <a:t>to </a:t>
            </a:r>
            <a:r>
              <a:rPr dirty="0" sz="1200" spc="-5">
                <a:latin typeface="Arial"/>
                <a:cs typeface="Arial"/>
              </a:rPr>
              <a:t>the intellectual and critical development of people.  However, deprived </a:t>
            </a:r>
            <a:r>
              <a:rPr dirty="0" sz="1200">
                <a:latin typeface="Arial"/>
                <a:cs typeface="Arial"/>
              </a:rPr>
              <a:t>of </a:t>
            </a:r>
            <a:r>
              <a:rPr dirty="0" sz="1200" spc="-5">
                <a:latin typeface="Arial"/>
                <a:cs typeface="Arial"/>
              </a:rPr>
              <a:t>an </a:t>
            </a:r>
            <a:r>
              <a:rPr dirty="0" sz="1200">
                <a:latin typeface="Arial"/>
                <a:cs typeface="Arial"/>
              </a:rPr>
              <a:t>Islamic literature </a:t>
            </a:r>
            <a:r>
              <a:rPr dirty="0" sz="1200" spc="-5">
                <a:latin typeface="Arial"/>
                <a:cs typeface="Arial"/>
              </a:rPr>
              <a:t>background, Muslims can be influenced and  wrongly guided. All philosophies going against </a:t>
            </a:r>
            <a:r>
              <a:rPr dirty="0" sz="1200">
                <a:latin typeface="Arial"/>
                <a:cs typeface="Arial"/>
              </a:rPr>
              <a:t>the </a:t>
            </a:r>
            <a:r>
              <a:rPr dirty="0" sz="1200" spc="-5">
                <a:latin typeface="Arial"/>
                <a:cs typeface="Arial"/>
              </a:rPr>
              <a:t>Qur‘an, Hadith, Sunnah, Tafsir, Shari‘ah,  Fiqh </a:t>
            </a:r>
            <a:r>
              <a:rPr dirty="0" sz="1200">
                <a:latin typeface="Arial"/>
                <a:cs typeface="Arial"/>
              </a:rPr>
              <a:t>and </a:t>
            </a:r>
            <a:r>
              <a:rPr dirty="0" sz="1200" spc="-5">
                <a:latin typeface="Arial"/>
                <a:cs typeface="Arial"/>
              </a:rPr>
              <a:t>Islamic concepts are not accepted by </a:t>
            </a:r>
            <a:r>
              <a:rPr dirty="0" sz="1200">
                <a:latin typeface="Arial"/>
                <a:cs typeface="Arial"/>
              </a:rPr>
              <a:t>Muslims.</a:t>
            </a:r>
            <a:endParaRPr sz="1200">
              <a:latin typeface="Arial"/>
              <a:cs typeface="Arial"/>
            </a:endParaRPr>
          </a:p>
          <a:p>
            <a:pPr>
              <a:lnSpc>
                <a:spcPct val="100000"/>
              </a:lnSpc>
            </a:pPr>
            <a:endParaRPr sz="1150">
              <a:latin typeface="Arial"/>
              <a:cs typeface="Arial"/>
            </a:endParaRPr>
          </a:p>
          <a:p>
            <a:pPr marL="139700">
              <a:lnSpc>
                <a:spcPct val="100000"/>
              </a:lnSpc>
            </a:pPr>
            <a:r>
              <a:rPr dirty="0" u="heavy" sz="1200" spc="-5" b="1" i="1">
                <a:uFill>
                  <a:solidFill>
                    <a:srgbClr val="000000"/>
                  </a:solidFill>
                </a:uFill>
                <a:latin typeface="Arial"/>
                <a:cs typeface="Arial"/>
              </a:rPr>
              <a:t>Relationship between Allah and human</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beings:</a:t>
            </a:r>
            <a:endParaRPr sz="1200">
              <a:latin typeface="Arial"/>
              <a:cs typeface="Arial"/>
            </a:endParaRPr>
          </a:p>
          <a:p>
            <a:pPr>
              <a:lnSpc>
                <a:spcPct val="100000"/>
              </a:lnSpc>
              <a:spcBef>
                <a:spcPts val="55"/>
              </a:spcBef>
            </a:pPr>
            <a:endParaRPr sz="1100">
              <a:latin typeface="Arial"/>
              <a:cs typeface="Arial"/>
            </a:endParaRPr>
          </a:p>
          <a:p>
            <a:pPr marL="596900" indent="-229235">
              <a:lnSpc>
                <a:spcPts val="1410"/>
              </a:lnSpc>
              <a:buAutoNum type="arabicPeriod"/>
              <a:tabLst>
                <a:tab pos="597535" algn="l"/>
              </a:tabLst>
            </a:pPr>
            <a:r>
              <a:rPr dirty="0" sz="1200" spc="-5">
                <a:latin typeface="Arial"/>
                <a:cs typeface="Arial"/>
              </a:rPr>
              <a:t>Allah is the Praised </a:t>
            </a:r>
            <a:r>
              <a:rPr dirty="0" sz="1200" spc="-10">
                <a:latin typeface="Arial"/>
                <a:cs typeface="Arial"/>
              </a:rPr>
              <a:t>One </a:t>
            </a:r>
            <a:r>
              <a:rPr dirty="0" sz="1200" spc="-5">
                <a:latin typeface="Arial"/>
                <a:cs typeface="Arial"/>
              </a:rPr>
              <a:t>and </a:t>
            </a:r>
            <a:r>
              <a:rPr dirty="0" sz="1200" spc="-10">
                <a:latin typeface="Arial"/>
                <a:cs typeface="Arial"/>
              </a:rPr>
              <a:t>we </a:t>
            </a:r>
            <a:r>
              <a:rPr dirty="0" sz="1200" spc="-5">
                <a:latin typeface="Arial"/>
                <a:cs typeface="Arial"/>
              </a:rPr>
              <a:t>owe submission </a:t>
            </a:r>
            <a:r>
              <a:rPr dirty="0" sz="1200">
                <a:latin typeface="Arial"/>
                <a:cs typeface="Arial"/>
              </a:rPr>
              <a:t>to</a:t>
            </a:r>
            <a:r>
              <a:rPr dirty="0" sz="1200" spc="50">
                <a:latin typeface="Arial"/>
                <a:cs typeface="Arial"/>
              </a:rPr>
              <a:t> </a:t>
            </a:r>
            <a:r>
              <a:rPr dirty="0" sz="1200" spc="-5">
                <a:latin typeface="Arial"/>
                <a:cs typeface="Arial"/>
              </a:rPr>
              <a:t>Him</a:t>
            </a:r>
            <a:endParaRPr sz="1200">
              <a:latin typeface="Arial"/>
              <a:cs typeface="Arial"/>
            </a:endParaRPr>
          </a:p>
          <a:p>
            <a:pPr marL="596900" indent="-229235">
              <a:lnSpc>
                <a:spcPts val="1410"/>
              </a:lnSpc>
              <a:buAutoNum type="arabicPeriod"/>
              <a:tabLst>
                <a:tab pos="597535" algn="l"/>
              </a:tabLst>
            </a:pPr>
            <a:r>
              <a:rPr dirty="0" sz="1200" spc="-5">
                <a:latin typeface="Arial"/>
                <a:cs typeface="Arial"/>
              </a:rPr>
              <a:t>Allah is the </a:t>
            </a:r>
            <a:r>
              <a:rPr dirty="0" sz="1200">
                <a:latin typeface="Arial"/>
                <a:cs typeface="Arial"/>
              </a:rPr>
              <a:t>most Merciful </a:t>
            </a:r>
            <a:r>
              <a:rPr dirty="0" sz="1200" spc="-5">
                <a:latin typeface="Arial"/>
                <a:cs typeface="Arial"/>
              </a:rPr>
              <a:t>and Compassionate </a:t>
            </a:r>
            <a:r>
              <a:rPr dirty="0" sz="1200">
                <a:latin typeface="Arial"/>
                <a:cs typeface="Arial"/>
              </a:rPr>
              <a:t>and </a:t>
            </a:r>
            <a:r>
              <a:rPr dirty="0" sz="1200" spc="-10">
                <a:latin typeface="Arial"/>
                <a:cs typeface="Arial"/>
              </a:rPr>
              <a:t>we </a:t>
            </a:r>
            <a:r>
              <a:rPr dirty="0" sz="1200">
                <a:latin typeface="Arial"/>
                <a:cs typeface="Arial"/>
              </a:rPr>
              <a:t>need</a:t>
            </a:r>
            <a:r>
              <a:rPr dirty="0" sz="1200" spc="-10">
                <a:latin typeface="Arial"/>
                <a:cs typeface="Arial"/>
              </a:rPr>
              <a:t> </a:t>
            </a:r>
            <a:r>
              <a:rPr dirty="0" sz="1200" spc="-5">
                <a:latin typeface="Arial"/>
                <a:cs typeface="Arial"/>
              </a:rPr>
              <a:t>Him.</a:t>
            </a:r>
            <a:endParaRPr sz="1200">
              <a:latin typeface="Arial"/>
              <a:cs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09360" cy="933831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469900" indent="-229235">
              <a:lnSpc>
                <a:spcPts val="1410"/>
              </a:lnSpc>
              <a:spcBef>
                <a:spcPts val="5"/>
              </a:spcBef>
              <a:buAutoNum type="arabicPeriod" startAt="3"/>
              <a:tabLst>
                <a:tab pos="470534" algn="l"/>
              </a:tabLst>
            </a:pPr>
            <a:r>
              <a:rPr dirty="0" sz="1200" spc="-5">
                <a:latin typeface="Arial"/>
                <a:cs typeface="Arial"/>
              </a:rPr>
              <a:t>Allah is the Judge and </a:t>
            </a:r>
            <a:r>
              <a:rPr dirty="0" sz="1200" spc="-10">
                <a:latin typeface="Arial"/>
                <a:cs typeface="Arial"/>
              </a:rPr>
              <a:t>we </a:t>
            </a:r>
            <a:r>
              <a:rPr dirty="0" sz="1200" spc="-5">
                <a:latin typeface="Arial"/>
                <a:cs typeface="Arial"/>
              </a:rPr>
              <a:t>will be</a:t>
            </a:r>
            <a:r>
              <a:rPr dirty="0" sz="1200" spc="40">
                <a:latin typeface="Arial"/>
                <a:cs typeface="Arial"/>
              </a:rPr>
              <a:t> </a:t>
            </a:r>
            <a:r>
              <a:rPr dirty="0" sz="1200" spc="-5">
                <a:latin typeface="Arial"/>
                <a:cs typeface="Arial"/>
              </a:rPr>
              <a:t>judged</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the One to be worshipped and </a:t>
            </a:r>
            <a:r>
              <a:rPr dirty="0" sz="1200" spc="-10">
                <a:latin typeface="Arial"/>
                <a:cs typeface="Arial"/>
              </a:rPr>
              <a:t>we are </a:t>
            </a:r>
            <a:r>
              <a:rPr dirty="0" sz="1200" spc="-5">
                <a:latin typeface="Arial"/>
                <a:cs typeface="Arial"/>
              </a:rPr>
              <a:t>the</a:t>
            </a:r>
            <a:r>
              <a:rPr dirty="0" sz="1200" spc="60">
                <a:latin typeface="Arial"/>
                <a:cs typeface="Arial"/>
              </a:rPr>
              <a:t> </a:t>
            </a:r>
            <a:r>
              <a:rPr dirty="0" sz="1200" spc="-5">
                <a:latin typeface="Arial"/>
                <a:cs typeface="Arial"/>
              </a:rPr>
              <a:t>worshippers</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the giver </a:t>
            </a:r>
            <a:r>
              <a:rPr dirty="0" sz="1200">
                <a:latin typeface="Arial"/>
                <a:cs typeface="Arial"/>
              </a:rPr>
              <a:t>and </a:t>
            </a:r>
            <a:r>
              <a:rPr dirty="0" sz="1200" spc="-10">
                <a:latin typeface="Arial"/>
                <a:cs typeface="Arial"/>
              </a:rPr>
              <a:t>we </a:t>
            </a:r>
            <a:r>
              <a:rPr dirty="0" sz="1200">
                <a:latin typeface="Arial"/>
                <a:cs typeface="Arial"/>
              </a:rPr>
              <a:t>are </a:t>
            </a:r>
            <a:r>
              <a:rPr dirty="0" sz="1200" spc="-5">
                <a:latin typeface="Arial"/>
                <a:cs typeface="Arial"/>
              </a:rPr>
              <a:t>the</a:t>
            </a:r>
            <a:r>
              <a:rPr dirty="0" sz="1200" spc="15">
                <a:latin typeface="Arial"/>
                <a:cs typeface="Arial"/>
              </a:rPr>
              <a:t> </a:t>
            </a:r>
            <a:r>
              <a:rPr dirty="0" sz="1200" spc="-5">
                <a:latin typeface="Arial"/>
                <a:cs typeface="Arial"/>
              </a:rPr>
              <a:t>askers</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the right path and </a:t>
            </a:r>
            <a:r>
              <a:rPr dirty="0" sz="1200" spc="-10">
                <a:latin typeface="Arial"/>
                <a:cs typeface="Arial"/>
              </a:rPr>
              <a:t>we </a:t>
            </a:r>
            <a:r>
              <a:rPr dirty="0" sz="1200">
                <a:latin typeface="Arial"/>
                <a:cs typeface="Arial"/>
              </a:rPr>
              <a:t>are </a:t>
            </a:r>
            <a:r>
              <a:rPr dirty="0" sz="1200" spc="-5">
                <a:latin typeface="Arial"/>
                <a:cs typeface="Arial"/>
              </a:rPr>
              <a:t>trying </a:t>
            </a:r>
            <a:r>
              <a:rPr dirty="0" sz="1200">
                <a:latin typeface="Arial"/>
                <a:cs typeface="Arial"/>
              </a:rPr>
              <a:t>to </a:t>
            </a:r>
            <a:r>
              <a:rPr dirty="0" sz="1200" spc="-5">
                <a:latin typeface="Arial"/>
                <a:cs typeface="Arial"/>
              </a:rPr>
              <a:t>enrol</a:t>
            </a:r>
            <a:r>
              <a:rPr dirty="0" sz="1200" spc="30">
                <a:latin typeface="Arial"/>
                <a:cs typeface="Arial"/>
              </a:rPr>
              <a:t> </a:t>
            </a:r>
            <a:r>
              <a:rPr dirty="0" sz="1200">
                <a:latin typeface="Arial"/>
                <a:cs typeface="Arial"/>
              </a:rPr>
              <a:t>it</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the sender of blessings </a:t>
            </a:r>
            <a:r>
              <a:rPr dirty="0" sz="1200">
                <a:latin typeface="Arial"/>
                <a:cs typeface="Arial"/>
              </a:rPr>
              <a:t>and </a:t>
            </a:r>
            <a:r>
              <a:rPr dirty="0" sz="1200" spc="-10">
                <a:latin typeface="Arial"/>
                <a:cs typeface="Arial"/>
              </a:rPr>
              <a:t>we </a:t>
            </a:r>
            <a:r>
              <a:rPr dirty="0" sz="1200">
                <a:latin typeface="Arial"/>
                <a:cs typeface="Arial"/>
              </a:rPr>
              <a:t>are </a:t>
            </a:r>
            <a:r>
              <a:rPr dirty="0" sz="1200" spc="-5">
                <a:latin typeface="Arial"/>
                <a:cs typeface="Arial"/>
              </a:rPr>
              <a:t>his slaves desiring favours</a:t>
            </a:r>
            <a:r>
              <a:rPr dirty="0" sz="1200" spc="75">
                <a:latin typeface="Arial"/>
                <a:cs typeface="Arial"/>
              </a:rPr>
              <a:t> </a:t>
            </a:r>
            <a:r>
              <a:rPr dirty="0" sz="1200">
                <a:latin typeface="Arial"/>
                <a:cs typeface="Arial"/>
              </a:rPr>
              <a:t>(Faatiha)</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being the </a:t>
            </a:r>
            <a:r>
              <a:rPr dirty="0" sz="1200">
                <a:latin typeface="Arial"/>
                <a:cs typeface="Arial"/>
              </a:rPr>
              <a:t>Creator and </a:t>
            </a:r>
            <a:r>
              <a:rPr dirty="0" sz="1200" spc="-10">
                <a:latin typeface="Arial"/>
                <a:cs typeface="Arial"/>
              </a:rPr>
              <a:t>we </a:t>
            </a:r>
            <a:r>
              <a:rPr dirty="0" sz="1200">
                <a:latin typeface="Arial"/>
                <a:cs typeface="Arial"/>
              </a:rPr>
              <a:t>are </a:t>
            </a:r>
            <a:r>
              <a:rPr dirty="0" sz="1200" spc="-5">
                <a:latin typeface="Arial"/>
                <a:cs typeface="Arial"/>
              </a:rPr>
              <a:t>the</a:t>
            </a:r>
            <a:r>
              <a:rPr dirty="0" sz="1200" spc="-20">
                <a:latin typeface="Arial"/>
                <a:cs typeface="Arial"/>
              </a:rPr>
              <a:t> </a:t>
            </a:r>
            <a:r>
              <a:rPr dirty="0" sz="1200" spc="-5">
                <a:latin typeface="Arial"/>
                <a:cs typeface="Arial"/>
              </a:rPr>
              <a:t>creatures</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the Guide with guidance </a:t>
            </a:r>
            <a:r>
              <a:rPr dirty="0" sz="1200" spc="5">
                <a:latin typeface="Arial"/>
                <a:cs typeface="Arial"/>
              </a:rPr>
              <a:t>and </a:t>
            </a:r>
            <a:r>
              <a:rPr dirty="0" sz="1200" spc="-10">
                <a:latin typeface="Arial"/>
                <a:cs typeface="Arial"/>
              </a:rPr>
              <a:t>we </a:t>
            </a:r>
            <a:r>
              <a:rPr dirty="0" sz="1200">
                <a:latin typeface="Arial"/>
                <a:cs typeface="Arial"/>
              </a:rPr>
              <a:t>are </a:t>
            </a:r>
            <a:r>
              <a:rPr dirty="0" sz="1200" spc="-5">
                <a:latin typeface="Arial"/>
                <a:cs typeface="Arial"/>
              </a:rPr>
              <a:t>the wanderers without</a:t>
            </a:r>
            <a:r>
              <a:rPr dirty="0" sz="1200" spc="20">
                <a:latin typeface="Arial"/>
                <a:cs typeface="Arial"/>
              </a:rPr>
              <a:t> </a:t>
            </a:r>
            <a:r>
              <a:rPr dirty="0" sz="1200" spc="-5">
                <a:latin typeface="Arial"/>
                <a:cs typeface="Arial"/>
              </a:rPr>
              <a:t>help</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the forgiver and </a:t>
            </a:r>
            <a:r>
              <a:rPr dirty="0" sz="1200" spc="-10">
                <a:latin typeface="Arial"/>
                <a:cs typeface="Arial"/>
              </a:rPr>
              <a:t>we </a:t>
            </a:r>
            <a:r>
              <a:rPr dirty="0" sz="1200">
                <a:latin typeface="Arial"/>
                <a:cs typeface="Arial"/>
              </a:rPr>
              <a:t>are </a:t>
            </a:r>
            <a:r>
              <a:rPr dirty="0" sz="1200" spc="-5">
                <a:latin typeface="Arial"/>
                <a:cs typeface="Arial"/>
              </a:rPr>
              <a:t>the sinners</a:t>
            </a:r>
            <a:r>
              <a:rPr dirty="0" sz="1200" spc="30">
                <a:latin typeface="Arial"/>
                <a:cs typeface="Arial"/>
              </a:rPr>
              <a:t> </a:t>
            </a:r>
            <a:r>
              <a:rPr dirty="0" sz="1200" spc="-5">
                <a:latin typeface="Arial"/>
                <a:cs typeface="Arial"/>
              </a:rPr>
              <a:t>(Baqara)</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the decision maker and </a:t>
            </a:r>
            <a:r>
              <a:rPr dirty="0" sz="1200" spc="-10">
                <a:latin typeface="Arial"/>
                <a:cs typeface="Arial"/>
              </a:rPr>
              <a:t>we </a:t>
            </a:r>
            <a:r>
              <a:rPr dirty="0" sz="1200" spc="-5">
                <a:latin typeface="Arial"/>
                <a:cs typeface="Arial"/>
              </a:rPr>
              <a:t>have </a:t>
            </a:r>
            <a:r>
              <a:rPr dirty="0" sz="1200">
                <a:latin typeface="Arial"/>
                <a:cs typeface="Arial"/>
              </a:rPr>
              <a:t>to </a:t>
            </a:r>
            <a:r>
              <a:rPr dirty="0" sz="1200" spc="-5">
                <a:latin typeface="Arial"/>
                <a:cs typeface="Arial"/>
              </a:rPr>
              <a:t>accept His </a:t>
            </a:r>
            <a:r>
              <a:rPr dirty="0" sz="1200" spc="-10">
                <a:latin typeface="Arial"/>
                <a:cs typeface="Arial"/>
              </a:rPr>
              <a:t>will </a:t>
            </a:r>
            <a:r>
              <a:rPr dirty="0" sz="1200" spc="-85">
                <a:latin typeface="Arial"/>
                <a:cs typeface="Arial"/>
              </a:rPr>
              <a:t>(‗Ali</a:t>
            </a:r>
            <a:r>
              <a:rPr dirty="0" sz="1200" spc="45">
                <a:latin typeface="Arial"/>
                <a:cs typeface="Arial"/>
              </a:rPr>
              <a:t> </a:t>
            </a:r>
            <a:r>
              <a:rPr dirty="0" sz="1200">
                <a:latin typeface="Arial"/>
                <a:cs typeface="Arial"/>
              </a:rPr>
              <a:t>Imran)</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the One favoured prophets and </a:t>
            </a:r>
            <a:r>
              <a:rPr dirty="0" sz="1200" spc="-10">
                <a:latin typeface="Arial"/>
                <a:cs typeface="Arial"/>
              </a:rPr>
              <a:t>we are </a:t>
            </a:r>
            <a:r>
              <a:rPr dirty="0" sz="1200" spc="-5">
                <a:latin typeface="Arial"/>
                <a:cs typeface="Arial"/>
              </a:rPr>
              <a:t>their vicegerents.</a:t>
            </a:r>
            <a:r>
              <a:rPr dirty="0" sz="1200" spc="120">
                <a:latin typeface="Arial"/>
                <a:cs typeface="Arial"/>
              </a:rPr>
              <a:t> </a:t>
            </a:r>
            <a:r>
              <a:rPr dirty="0" sz="1200" spc="-5">
                <a:latin typeface="Arial"/>
                <a:cs typeface="Arial"/>
              </a:rPr>
              <a:t>(Ambiyaa)</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the Supreme </a:t>
            </a:r>
            <a:r>
              <a:rPr dirty="0" sz="1200" spc="-10">
                <a:latin typeface="Arial"/>
                <a:cs typeface="Arial"/>
              </a:rPr>
              <a:t>Power </a:t>
            </a:r>
            <a:r>
              <a:rPr dirty="0" sz="1200">
                <a:latin typeface="Arial"/>
                <a:cs typeface="Arial"/>
              </a:rPr>
              <a:t>and </a:t>
            </a:r>
            <a:r>
              <a:rPr dirty="0" sz="1200" spc="-10">
                <a:latin typeface="Arial"/>
                <a:cs typeface="Arial"/>
              </a:rPr>
              <a:t>we </a:t>
            </a:r>
            <a:r>
              <a:rPr dirty="0" sz="1200">
                <a:latin typeface="Arial"/>
                <a:cs typeface="Arial"/>
              </a:rPr>
              <a:t>are </a:t>
            </a:r>
            <a:r>
              <a:rPr dirty="0" sz="1200" spc="-5">
                <a:latin typeface="Arial"/>
                <a:cs typeface="Arial"/>
              </a:rPr>
              <a:t>nothing</a:t>
            </a:r>
            <a:r>
              <a:rPr dirty="0" sz="1200" spc="20">
                <a:latin typeface="Arial"/>
                <a:cs typeface="Arial"/>
              </a:rPr>
              <a:t> </a:t>
            </a:r>
            <a:r>
              <a:rPr dirty="0" sz="1200">
                <a:latin typeface="Arial"/>
                <a:cs typeface="Arial"/>
              </a:rPr>
              <a:t>(Qasas)</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the one </a:t>
            </a:r>
            <a:r>
              <a:rPr dirty="0" sz="1200" spc="-10">
                <a:latin typeface="Arial"/>
                <a:cs typeface="Arial"/>
              </a:rPr>
              <a:t>who </a:t>
            </a:r>
            <a:r>
              <a:rPr dirty="0" sz="1200" spc="-5">
                <a:latin typeface="Arial"/>
                <a:cs typeface="Arial"/>
              </a:rPr>
              <a:t>favoured the prophet and </a:t>
            </a:r>
            <a:r>
              <a:rPr dirty="0" sz="1200" spc="-10">
                <a:latin typeface="Arial"/>
                <a:cs typeface="Arial"/>
              </a:rPr>
              <a:t>we </a:t>
            </a:r>
            <a:r>
              <a:rPr dirty="0" sz="1200" spc="-5">
                <a:latin typeface="Arial"/>
                <a:cs typeface="Arial"/>
              </a:rPr>
              <a:t>have </a:t>
            </a:r>
            <a:r>
              <a:rPr dirty="0" sz="1200">
                <a:latin typeface="Arial"/>
                <a:cs typeface="Arial"/>
              </a:rPr>
              <a:t>to </a:t>
            </a:r>
            <a:r>
              <a:rPr dirty="0" sz="1200" spc="-5">
                <a:latin typeface="Arial"/>
                <a:cs typeface="Arial"/>
              </a:rPr>
              <a:t>show </a:t>
            </a:r>
            <a:r>
              <a:rPr dirty="0" sz="1200">
                <a:latin typeface="Arial"/>
                <a:cs typeface="Arial"/>
              </a:rPr>
              <a:t>our </a:t>
            </a:r>
            <a:r>
              <a:rPr dirty="0" sz="1200" spc="-5">
                <a:latin typeface="Arial"/>
                <a:cs typeface="Arial"/>
              </a:rPr>
              <a:t>love.</a:t>
            </a:r>
            <a:r>
              <a:rPr dirty="0" sz="1200" spc="100">
                <a:latin typeface="Arial"/>
                <a:cs typeface="Arial"/>
              </a:rPr>
              <a:t> </a:t>
            </a:r>
            <a:r>
              <a:rPr dirty="0" sz="1200" spc="-5">
                <a:latin typeface="Arial"/>
                <a:cs typeface="Arial"/>
              </a:rPr>
              <a:t>(Duha)</a:t>
            </a:r>
            <a:endParaRPr sz="1200">
              <a:latin typeface="Arial"/>
              <a:cs typeface="Arial"/>
            </a:endParaRPr>
          </a:p>
          <a:p>
            <a:pPr marL="469900" marR="10795" indent="-229235">
              <a:lnSpc>
                <a:spcPts val="1380"/>
              </a:lnSpc>
              <a:spcBef>
                <a:spcPts val="65"/>
              </a:spcBef>
              <a:buAutoNum type="arabicPeriod" startAt="3"/>
              <a:tabLst>
                <a:tab pos="470534" algn="l"/>
              </a:tabLst>
            </a:pPr>
            <a:r>
              <a:rPr dirty="0" sz="1200" spc="-5">
                <a:latin typeface="Arial"/>
                <a:cs typeface="Arial"/>
              </a:rPr>
              <a:t>Allah is </a:t>
            </a:r>
            <a:r>
              <a:rPr dirty="0" sz="1200">
                <a:latin typeface="Arial"/>
                <a:cs typeface="Arial"/>
              </a:rPr>
              <a:t>the </a:t>
            </a:r>
            <a:r>
              <a:rPr dirty="0" sz="1200" spc="-5">
                <a:latin typeface="Arial"/>
                <a:cs typeface="Arial"/>
              </a:rPr>
              <a:t>One </a:t>
            </a:r>
            <a:r>
              <a:rPr dirty="0" sz="1200" spc="-10">
                <a:latin typeface="Arial"/>
                <a:cs typeface="Arial"/>
              </a:rPr>
              <a:t>who </a:t>
            </a:r>
            <a:r>
              <a:rPr dirty="0" sz="1200" spc="-5">
                <a:latin typeface="Arial"/>
                <a:cs typeface="Arial"/>
              </a:rPr>
              <a:t>decides our destiny and what </a:t>
            </a:r>
            <a:r>
              <a:rPr dirty="0" sz="1200" spc="-10">
                <a:latin typeface="Arial"/>
                <a:cs typeface="Arial"/>
              </a:rPr>
              <a:t>we </a:t>
            </a:r>
            <a:r>
              <a:rPr dirty="0" sz="1200" spc="-5">
                <a:latin typeface="Arial"/>
                <a:cs typeface="Arial"/>
              </a:rPr>
              <a:t>have </a:t>
            </a:r>
            <a:r>
              <a:rPr dirty="0" sz="1200">
                <a:latin typeface="Arial"/>
                <a:cs typeface="Arial"/>
              </a:rPr>
              <a:t>to </a:t>
            </a:r>
            <a:r>
              <a:rPr dirty="0" sz="1200" spc="-5">
                <a:latin typeface="Arial"/>
                <a:cs typeface="Arial"/>
              </a:rPr>
              <a:t>do </a:t>
            </a:r>
            <a:r>
              <a:rPr dirty="0" sz="1200">
                <a:latin typeface="Arial"/>
                <a:cs typeface="Arial"/>
              </a:rPr>
              <a:t>it </a:t>
            </a:r>
            <a:r>
              <a:rPr dirty="0" sz="1200" spc="-5">
                <a:latin typeface="Arial"/>
                <a:cs typeface="Arial"/>
              </a:rPr>
              <a:t>only supplications  and ibaadah </a:t>
            </a:r>
            <a:r>
              <a:rPr dirty="0" sz="1200">
                <a:latin typeface="Arial"/>
                <a:cs typeface="Arial"/>
              </a:rPr>
              <a:t>to </a:t>
            </a:r>
            <a:r>
              <a:rPr dirty="0" sz="1200" spc="-5">
                <a:latin typeface="Arial"/>
                <a:cs typeface="Arial"/>
              </a:rPr>
              <a:t>him</a:t>
            </a:r>
            <a:r>
              <a:rPr dirty="0" sz="1200" spc="-25">
                <a:latin typeface="Arial"/>
                <a:cs typeface="Arial"/>
              </a:rPr>
              <a:t> </a:t>
            </a:r>
            <a:r>
              <a:rPr dirty="0" sz="1200">
                <a:latin typeface="Arial"/>
                <a:cs typeface="Arial"/>
              </a:rPr>
              <a:t>(Qadr)</a:t>
            </a:r>
            <a:endParaRPr sz="1200">
              <a:latin typeface="Arial"/>
              <a:cs typeface="Arial"/>
            </a:endParaRPr>
          </a:p>
          <a:p>
            <a:pPr marL="469900" indent="-229235">
              <a:lnSpc>
                <a:spcPts val="1315"/>
              </a:lnSpc>
              <a:buAutoNum type="arabicPeriod" startAt="3"/>
              <a:tabLst>
                <a:tab pos="470534" algn="l"/>
              </a:tabLst>
            </a:pPr>
            <a:r>
              <a:rPr dirty="0" sz="1200" spc="-5">
                <a:latin typeface="Arial"/>
                <a:cs typeface="Arial"/>
              </a:rPr>
              <a:t>Allah is the One </a:t>
            </a:r>
            <a:r>
              <a:rPr dirty="0" sz="1200" spc="-10">
                <a:latin typeface="Arial"/>
                <a:cs typeface="Arial"/>
              </a:rPr>
              <a:t>who </a:t>
            </a:r>
            <a:r>
              <a:rPr dirty="0" sz="1200" spc="-5">
                <a:latin typeface="Arial"/>
                <a:cs typeface="Arial"/>
              </a:rPr>
              <a:t>distributes wealth, so </a:t>
            </a:r>
            <a:r>
              <a:rPr dirty="0" sz="1200" spc="-10">
                <a:latin typeface="Arial"/>
                <a:cs typeface="Arial"/>
              </a:rPr>
              <a:t>we </a:t>
            </a:r>
            <a:r>
              <a:rPr dirty="0" sz="1200" spc="-5">
                <a:latin typeface="Arial"/>
                <a:cs typeface="Arial"/>
              </a:rPr>
              <a:t>have </a:t>
            </a:r>
            <a:r>
              <a:rPr dirty="0" sz="1200">
                <a:latin typeface="Arial"/>
                <a:cs typeface="Arial"/>
              </a:rPr>
              <a:t>to </a:t>
            </a:r>
            <a:r>
              <a:rPr dirty="0" sz="1200" spc="-5">
                <a:latin typeface="Arial"/>
                <a:cs typeface="Arial"/>
              </a:rPr>
              <a:t>spend in His way</a:t>
            </a:r>
            <a:r>
              <a:rPr dirty="0" sz="1200" spc="155">
                <a:latin typeface="Arial"/>
                <a:cs typeface="Arial"/>
              </a:rPr>
              <a:t> </a:t>
            </a:r>
            <a:r>
              <a:rPr dirty="0" sz="1200" spc="-5">
                <a:latin typeface="Arial"/>
                <a:cs typeface="Arial"/>
              </a:rPr>
              <a:t>(Takaathur)</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our </a:t>
            </a:r>
            <a:r>
              <a:rPr dirty="0" sz="1200" spc="-10">
                <a:latin typeface="Arial"/>
                <a:cs typeface="Arial"/>
              </a:rPr>
              <a:t>own </a:t>
            </a:r>
            <a:r>
              <a:rPr dirty="0" sz="1200" spc="-5">
                <a:latin typeface="Arial"/>
                <a:cs typeface="Arial"/>
              </a:rPr>
              <a:t>God and </a:t>
            </a:r>
            <a:r>
              <a:rPr dirty="0" sz="1200" spc="-10">
                <a:latin typeface="Arial"/>
                <a:cs typeface="Arial"/>
              </a:rPr>
              <a:t>we </a:t>
            </a:r>
            <a:r>
              <a:rPr dirty="0" sz="1200" spc="-5">
                <a:latin typeface="Arial"/>
                <a:cs typeface="Arial"/>
              </a:rPr>
              <a:t>must not commit </a:t>
            </a:r>
            <a:r>
              <a:rPr dirty="0" sz="1200">
                <a:latin typeface="Arial"/>
                <a:cs typeface="Arial"/>
              </a:rPr>
              <a:t>Kufr </a:t>
            </a:r>
            <a:r>
              <a:rPr dirty="0" sz="1200" spc="-5">
                <a:latin typeface="Arial"/>
                <a:cs typeface="Arial"/>
              </a:rPr>
              <a:t>or Shirk</a:t>
            </a:r>
            <a:r>
              <a:rPr dirty="0" sz="1200" spc="55">
                <a:latin typeface="Arial"/>
                <a:cs typeface="Arial"/>
              </a:rPr>
              <a:t> </a:t>
            </a:r>
            <a:r>
              <a:rPr dirty="0" sz="1200" spc="-5">
                <a:latin typeface="Arial"/>
                <a:cs typeface="Arial"/>
              </a:rPr>
              <a:t>(Kaafiroun)</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the One and Only </a:t>
            </a:r>
            <a:r>
              <a:rPr dirty="0" sz="1200">
                <a:latin typeface="Arial"/>
                <a:cs typeface="Arial"/>
              </a:rPr>
              <a:t>being Eternal </a:t>
            </a:r>
            <a:r>
              <a:rPr dirty="0" sz="1200" spc="-5">
                <a:latin typeface="Arial"/>
                <a:cs typeface="Arial"/>
              </a:rPr>
              <a:t>and </a:t>
            </a:r>
            <a:r>
              <a:rPr dirty="0" sz="1200" spc="-10">
                <a:latin typeface="Arial"/>
                <a:cs typeface="Arial"/>
              </a:rPr>
              <a:t>we </a:t>
            </a:r>
            <a:r>
              <a:rPr dirty="0" sz="1200">
                <a:latin typeface="Arial"/>
                <a:cs typeface="Arial"/>
              </a:rPr>
              <a:t>are simple</a:t>
            </a:r>
            <a:r>
              <a:rPr dirty="0" sz="1200" spc="-35">
                <a:latin typeface="Arial"/>
                <a:cs typeface="Arial"/>
              </a:rPr>
              <a:t> </a:t>
            </a:r>
            <a:r>
              <a:rPr dirty="0" sz="1200" spc="-5">
                <a:latin typeface="Arial"/>
                <a:cs typeface="Arial"/>
              </a:rPr>
              <a:t>mortals</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unique within His characteristics and </a:t>
            </a:r>
            <a:r>
              <a:rPr dirty="0" sz="1200" spc="-10">
                <a:latin typeface="Arial"/>
                <a:cs typeface="Arial"/>
              </a:rPr>
              <a:t>we </a:t>
            </a:r>
            <a:r>
              <a:rPr dirty="0" sz="1200">
                <a:latin typeface="Arial"/>
                <a:cs typeface="Arial"/>
              </a:rPr>
              <a:t>are </a:t>
            </a:r>
            <a:r>
              <a:rPr dirty="0" sz="1200" spc="-5">
                <a:latin typeface="Arial"/>
                <a:cs typeface="Arial"/>
              </a:rPr>
              <a:t>full of</a:t>
            </a:r>
            <a:r>
              <a:rPr dirty="0" sz="1200" spc="55">
                <a:latin typeface="Arial"/>
                <a:cs typeface="Arial"/>
              </a:rPr>
              <a:t> </a:t>
            </a:r>
            <a:r>
              <a:rPr dirty="0" sz="1200">
                <a:latin typeface="Arial"/>
                <a:cs typeface="Arial"/>
              </a:rPr>
              <a:t>defects</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infallible and </a:t>
            </a:r>
            <a:r>
              <a:rPr dirty="0" sz="1200" spc="-10">
                <a:latin typeface="Arial"/>
                <a:cs typeface="Arial"/>
              </a:rPr>
              <a:t>we </a:t>
            </a:r>
            <a:r>
              <a:rPr dirty="0" sz="1200">
                <a:latin typeface="Arial"/>
                <a:cs typeface="Arial"/>
              </a:rPr>
              <a:t>are </a:t>
            </a:r>
            <a:r>
              <a:rPr dirty="0" sz="1200" spc="-5">
                <a:latin typeface="Arial"/>
                <a:cs typeface="Arial"/>
              </a:rPr>
              <a:t>fallible</a:t>
            </a:r>
            <a:r>
              <a:rPr dirty="0" sz="1200" spc="45">
                <a:latin typeface="Arial"/>
                <a:cs typeface="Arial"/>
              </a:rPr>
              <a:t> </a:t>
            </a:r>
            <a:r>
              <a:rPr dirty="0" sz="1200" spc="-5">
                <a:latin typeface="Arial"/>
                <a:cs typeface="Arial"/>
              </a:rPr>
              <a:t>(Ikhlaas)</a:t>
            </a:r>
            <a:endParaRPr sz="1200">
              <a:latin typeface="Arial"/>
              <a:cs typeface="Arial"/>
            </a:endParaRPr>
          </a:p>
          <a:p>
            <a:pPr marL="469900" indent="-229235">
              <a:lnSpc>
                <a:spcPts val="1380"/>
              </a:lnSpc>
              <a:buAutoNum type="arabicPeriod" startAt="3"/>
              <a:tabLst>
                <a:tab pos="470534" algn="l"/>
              </a:tabLst>
            </a:pPr>
            <a:r>
              <a:rPr dirty="0" sz="1200" spc="-5">
                <a:latin typeface="Arial"/>
                <a:cs typeface="Arial"/>
              </a:rPr>
              <a:t>Allah is the Teacher and </a:t>
            </a:r>
            <a:r>
              <a:rPr dirty="0" sz="1200" spc="-10">
                <a:latin typeface="Arial"/>
                <a:cs typeface="Arial"/>
              </a:rPr>
              <a:t>we </a:t>
            </a:r>
            <a:r>
              <a:rPr dirty="0" sz="1200">
                <a:latin typeface="Arial"/>
                <a:cs typeface="Arial"/>
              </a:rPr>
              <a:t>are </a:t>
            </a:r>
            <a:r>
              <a:rPr dirty="0" sz="1200" spc="-5">
                <a:latin typeface="Arial"/>
                <a:cs typeface="Arial"/>
              </a:rPr>
              <a:t>the students</a:t>
            </a:r>
            <a:r>
              <a:rPr dirty="0" sz="1200" spc="10">
                <a:latin typeface="Arial"/>
                <a:cs typeface="Arial"/>
              </a:rPr>
              <a:t> </a:t>
            </a:r>
            <a:r>
              <a:rPr dirty="0" sz="1200" spc="-65">
                <a:latin typeface="Arial"/>
                <a:cs typeface="Arial"/>
              </a:rPr>
              <a:t>(‗Alaq)</a:t>
            </a:r>
            <a:endParaRPr sz="1200">
              <a:latin typeface="Arial"/>
              <a:cs typeface="Arial"/>
            </a:endParaRPr>
          </a:p>
          <a:p>
            <a:pPr marL="469900" marR="12700" indent="-229235">
              <a:lnSpc>
                <a:spcPts val="1380"/>
              </a:lnSpc>
              <a:spcBef>
                <a:spcPts val="65"/>
              </a:spcBef>
              <a:buAutoNum type="arabicPeriod" startAt="3"/>
              <a:tabLst>
                <a:tab pos="470534" algn="l"/>
              </a:tabLst>
            </a:pPr>
            <a:r>
              <a:rPr dirty="0" sz="1200" spc="-5">
                <a:latin typeface="Arial"/>
                <a:cs typeface="Arial"/>
              </a:rPr>
              <a:t>Allah is </a:t>
            </a:r>
            <a:r>
              <a:rPr dirty="0" sz="1200">
                <a:latin typeface="Arial"/>
                <a:cs typeface="Arial"/>
              </a:rPr>
              <a:t>the </a:t>
            </a:r>
            <a:r>
              <a:rPr dirty="0" sz="1200" spc="-5">
                <a:latin typeface="Arial"/>
                <a:cs typeface="Arial"/>
              </a:rPr>
              <a:t>One </a:t>
            </a:r>
            <a:r>
              <a:rPr dirty="0" sz="1200" spc="-10">
                <a:latin typeface="Arial"/>
                <a:cs typeface="Arial"/>
              </a:rPr>
              <a:t>who </a:t>
            </a:r>
            <a:r>
              <a:rPr dirty="0" sz="1200" spc="-5">
                <a:latin typeface="Arial"/>
                <a:cs typeface="Arial"/>
              </a:rPr>
              <a:t>will send </a:t>
            </a:r>
            <a:r>
              <a:rPr dirty="0" sz="1200">
                <a:latin typeface="Arial"/>
                <a:cs typeface="Arial"/>
              </a:rPr>
              <a:t>punishment </a:t>
            </a:r>
            <a:r>
              <a:rPr dirty="0" sz="1200" spc="-5">
                <a:latin typeface="Arial"/>
                <a:cs typeface="Arial"/>
              </a:rPr>
              <a:t>and the </a:t>
            </a:r>
            <a:r>
              <a:rPr dirty="0" sz="1200">
                <a:latin typeface="Arial"/>
                <a:cs typeface="Arial"/>
              </a:rPr>
              <a:t>last </a:t>
            </a:r>
            <a:r>
              <a:rPr dirty="0" sz="1200" spc="-5">
                <a:latin typeface="Arial"/>
                <a:cs typeface="Arial"/>
              </a:rPr>
              <a:t>day and </a:t>
            </a:r>
            <a:r>
              <a:rPr dirty="0" sz="1200" spc="-10">
                <a:latin typeface="Arial"/>
                <a:cs typeface="Arial"/>
              </a:rPr>
              <a:t>we </a:t>
            </a:r>
            <a:r>
              <a:rPr dirty="0" sz="1200" spc="-5">
                <a:latin typeface="Arial"/>
                <a:cs typeface="Arial"/>
              </a:rPr>
              <a:t>will have </a:t>
            </a:r>
            <a:r>
              <a:rPr dirty="0" sz="1200">
                <a:latin typeface="Arial"/>
                <a:cs typeface="Arial"/>
              </a:rPr>
              <a:t>to  </a:t>
            </a:r>
            <a:r>
              <a:rPr dirty="0" sz="1200" spc="-5">
                <a:latin typeface="Arial"/>
                <a:cs typeface="Arial"/>
              </a:rPr>
              <a:t>prepare </a:t>
            </a:r>
            <a:r>
              <a:rPr dirty="0" sz="1200">
                <a:latin typeface="Arial"/>
                <a:cs typeface="Arial"/>
              </a:rPr>
              <a:t>for it</a:t>
            </a:r>
            <a:r>
              <a:rPr dirty="0" sz="1200" spc="-25">
                <a:latin typeface="Arial"/>
                <a:cs typeface="Arial"/>
              </a:rPr>
              <a:t> </a:t>
            </a:r>
            <a:r>
              <a:rPr dirty="0" sz="1200" spc="-5">
                <a:latin typeface="Arial"/>
                <a:cs typeface="Arial"/>
              </a:rPr>
              <a:t>(Zalzala)</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Surah Ikhlaas is said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be one </a:t>
            </a:r>
            <a:r>
              <a:rPr dirty="0" u="heavy" sz="1200" b="1" i="1">
                <a:uFill>
                  <a:solidFill>
                    <a:srgbClr val="000000"/>
                  </a:solidFill>
                </a:uFill>
                <a:latin typeface="Arial"/>
                <a:cs typeface="Arial"/>
              </a:rPr>
              <a:t>third of </a:t>
            </a:r>
            <a:r>
              <a:rPr dirty="0" u="heavy" sz="1200" spc="-5" b="1" i="1">
                <a:uFill>
                  <a:solidFill>
                    <a:srgbClr val="000000"/>
                  </a:solidFill>
                </a:uFill>
                <a:latin typeface="Arial"/>
                <a:cs typeface="Arial"/>
              </a:rPr>
              <a:t>the</a:t>
            </a:r>
            <a:r>
              <a:rPr dirty="0" u="heavy" sz="1200" spc="20" b="1" i="1">
                <a:uFill>
                  <a:solidFill>
                    <a:srgbClr val="000000"/>
                  </a:solidFill>
                </a:uFill>
                <a:latin typeface="Arial"/>
                <a:cs typeface="Arial"/>
              </a:rPr>
              <a:t> </a:t>
            </a:r>
            <a:r>
              <a:rPr dirty="0" u="heavy" sz="1200" spc="-40" b="1" i="1">
                <a:uFill>
                  <a:solidFill>
                    <a:srgbClr val="000000"/>
                  </a:solidFill>
                </a:uFill>
                <a:latin typeface="Arial"/>
                <a:cs typeface="Arial"/>
              </a:rPr>
              <a:t>Qur‟an:</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sz="1200" spc="-5">
                <a:latin typeface="Arial"/>
                <a:cs typeface="Arial"/>
              </a:rPr>
              <a:t>The whole of the holy Qur‘an elaborates </a:t>
            </a:r>
            <a:r>
              <a:rPr dirty="0" sz="1200">
                <a:latin typeface="Arial"/>
                <a:cs typeface="Arial"/>
              </a:rPr>
              <a:t>on 3</a:t>
            </a:r>
            <a:r>
              <a:rPr dirty="0" sz="1200" spc="-10">
                <a:latin typeface="Arial"/>
                <a:cs typeface="Arial"/>
              </a:rPr>
              <a:t> </a:t>
            </a:r>
            <a:r>
              <a:rPr dirty="0" sz="1200" spc="-5">
                <a:latin typeface="Arial"/>
                <a:cs typeface="Arial"/>
              </a:rPr>
              <a:t>topics:</a:t>
            </a:r>
            <a:endParaRPr sz="1200">
              <a:latin typeface="Arial"/>
              <a:cs typeface="Arial"/>
            </a:endParaRPr>
          </a:p>
          <a:p>
            <a:pPr>
              <a:lnSpc>
                <a:spcPct val="100000"/>
              </a:lnSpc>
            </a:pPr>
            <a:endParaRPr sz="1150">
              <a:latin typeface="Arial"/>
              <a:cs typeface="Arial"/>
            </a:endParaRPr>
          </a:p>
          <a:p>
            <a:pPr marL="469900" indent="-229235">
              <a:lnSpc>
                <a:spcPts val="1410"/>
              </a:lnSpc>
              <a:buAutoNum type="arabicPeriod"/>
              <a:tabLst>
                <a:tab pos="470534" algn="l"/>
              </a:tabLst>
            </a:pPr>
            <a:r>
              <a:rPr dirty="0" sz="1200" spc="-5">
                <a:latin typeface="Arial"/>
                <a:cs typeface="Arial"/>
              </a:rPr>
              <a:t>The Qur‘an from Allah </a:t>
            </a:r>
            <a:r>
              <a:rPr dirty="0" sz="1200">
                <a:latin typeface="Arial"/>
                <a:cs typeface="Arial"/>
              </a:rPr>
              <a:t>to </a:t>
            </a:r>
            <a:r>
              <a:rPr dirty="0" sz="1200" spc="-5">
                <a:latin typeface="Arial"/>
                <a:cs typeface="Arial"/>
              </a:rPr>
              <a:t>the</a:t>
            </a:r>
            <a:r>
              <a:rPr dirty="0" sz="1200" spc="5">
                <a:latin typeface="Arial"/>
                <a:cs typeface="Arial"/>
              </a:rPr>
              <a:t> </a:t>
            </a:r>
            <a:r>
              <a:rPr dirty="0" sz="1200" spc="-5">
                <a:latin typeface="Arial"/>
                <a:cs typeface="Arial"/>
              </a:rPr>
              <a:t>Prophet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Qur‘an from the Prophet to Human beings</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The Qur‘an put into practice </a:t>
            </a:r>
            <a:r>
              <a:rPr dirty="0" sz="1200">
                <a:latin typeface="Arial"/>
                <a:cs typeface="Arial"/>
              </a:rPr>
              <a:t>by </a:t>
            </a:r>
            <a:r>
              <a:rPr dirty="0" sz="1200" spc="-5">
                <a:latin typeface="Arial"/>
                <a:cs typeface="Arial"/>
              </a:rPr>
              <a:t>Human</a:t>
            </a:r>
            <a:r>
              <a:rPr dirty="0" sz="1200" spc="-20">
                <a:latin typeface="Arial"/>
                <a:cs typeface="Arial"/>
              </a:rPr>
              <a:t> </a:t>
            </a:r>
            <a:r>
              <a:rPr dirty="0" sz="1200" spc="-5">
                <a:latin typeface="Arial"/>
                <a:cs typeface="Arial"/>
              </a:rPr>
              <a:t>Beings</a:t>
            </a:r>
            <a:endParaRPr sz="1200">
              <a:latin typeface="Arial"/>
              <a:cs typeface="Arial"/>
            </a:endParaRPr>
          </a:p>
          <a:p>
            <a:pPr>
              <a:lnSpc>
                <a:spcPct val="100000"/>
              </a:lnSpc>
              <a:spcBef>
                <a:spcPts val="35"/>
              </a:spcBef>
            </a:pPr>
            <a:endParaRPr sz="1200">
              <a:latin typeface="Arial"/>
              <a:cs typeface="Arial"/>
            </a:endParaRPr>
          </a:p>
          <a:p>
            <a:pPr marL="12700" marR="5080">
              <a:lnSpc>
                <a:spcPts val="1380"/>
              </a:lnSpc>
            </a:pPr>
            <a:r>
              <a:rPr dirty="0" sz="1200" spc="-5">
                <a:latin typeface="Arial"/>
                <a:cs typeface="Arial"/>
              </a:rPr>
              <a:t>Surah Ikhlaas deals with the </a:t>
            </a:r>
            <a:r>
              <a:rPr dirty="0" sz="1200">
                <a:latin typeface="Arial"/>
                <a:cs typeface="Arial"/>
              </a:rPr>
              <a:t>first part </a:t>
            </a:r>
            <a:r>
              <a:rPr dirty="0" sz="1200" spc="-5">
                <a:latin typeface="Arial"/>
                <a:cs typeface="Arial"/>
              </a:rPr>
              <a:t>that is the whole aspect of Allah. </a:t>
            </a:r>
            <a:r>
              <a:rPr dirty="0" sz="1200">
                <a:latin typeface="Arial"/>
                <a:cs typeface="Arial"/>
              </a:rPr>
              <a:t>As </a:t>
            </a:r>
            <a:r>
              <a:rPr dirty="0" sz="1200" spc="-5">
                <a:latin typeface="Arial"/>
                <a:cs typeface="Arial"/>
              </a:rPr>
              <a:t>such, the </a:t>
            </a:r>
            <a:r>
              <a:rPr dirty="0" sz="1200" spc="-10">
                <a:latin typeface="Arial"/>
                <a:cs typeface="Arial"/>
              </a:rPr>
              <a:t>two </a:t>
            </a:r>
            <a:r>
              <a:rPr dirty="0" sz="1200" spc="-5">
                <a:latin typeface="Arial"/>
                <a:cs typeface="Arial"/>
              </a:rPr>
              <a:t>other  </a:t>
            </a:r>
            <a:r>
              <a:rPr dirty="0" sz="1200">
                <a:latin typeface="Arial"/>
                <a:cs typeface="Arial"/>
              </a:rPr>
              <a:t>parts </a:t>
            </a:r>
            <a:r>
              <a:rPr dirty="0" sz="1200" spc="-5">
                <a:latin typeface="Arial"/>
                <a:cs typeface="Arial"/>
              </a:rPr>
              <a:t>are Prophet and Human beings. </a:t>
            </a:r>
            <a:r>
              <a:rPr dirty="0" sz="1200">
                <a:latin typeface="Arial"/>
                <a:cs typeface="Arial"/>
              </a:rPr>
              <a:t>In </a:t>
            </a:r>
            <a:r>
              <a:rPr dirty="0" sz="1200" spc="-5">
                <a:latin typeface="Arial"/>
                <a:cs typeface="Arial"/>
              </a:rPr>
              <a:t>brief, there </a:t>
            </a:r>
            <a:r>
              <a:rPr dirty="0" sz="1200">
                <a:latin typeface="Arial"/>
                <a:cs typeface="Arial"/>
              </a:rPr>
              <a:t>must </a:t>
            </a:r>
            <a:r>
              <a:rPr dirty="0" sz="1200" spc="-5">
                <a:latin typeface="Arial"/>
                <a:cs typeface="Arial"/>
              </a:rPr>
              <a:t>be elaboration</a:t>
            </a:r>
            <a:r>
              <a:rPr dirty="0" sz="1200" spc="-20">
                <a:latin typeface="Arial"/>
                <a:cs typeface="Arial"/>
              </a:rPr>
              <a:t> </a:t>
            </a:r>
            <a:r>
              <a:rPr dirty="0" sz="1200" spc="-5">
                <a:latin typeface="Arial"/>
                <a:cs typeface="Arial"/>
              </a:rPr>
              <a:t>on:</a:t>
            </a:r>
            <a:endParaRPr sz="1200">
              <a:latin typeface="Arial"/>
              <a:cs typeface="Arial"/>
            </a:endParaRPr>
          </a:p>
          <a:p>
            <a:pPr>
              <a:lnSpc>
                <a:spcPct val="100000"/>
              </a:lnSpc>
              <a:spcBef>
                <a:spcPts val="20"/>
              </a:spcBef>
            </a:pPr>
            <a:endParaRPr sz="1100">
              <a:latin typeface="Arial"/>
              <a:cs typeface="Arial"/>
            </a:endParaRPr>
          </a:p>
          <a:p>
            <a:pPr marL="469900" indent="-229235">
              <a:lnSpc>
                <a:spcPts val="1405"/>
              </a:lnSpc>
              <a:buAutoNum type="arabicPeriod"/>
              <a:tabLst>
                <a:tab pos="470534" algn="l"/>
              </a:tabLst>
            </a:pPr>
            <a:r>
              <a:rPr dirty="0" sz="1200" spc="-5">
                <a:latin typeface="Arial"/>
                <a:cs typeface="Arial"/>
              </a:rPr>
              <a:t>Allah </a:t>
            </a:r>
            <a:r>
              <a:rPr dirty="0" sz="1200">
                <a:latin typeface="Arial"/>
                <a:cs typeface="Arial"/>
              </a:rPr>
              <a:t>– </a:t>
            </a:r>
            <a:r>
              <a:rPr dirty="0" sz="1200" spc="-5">
                <a:latin typeface="Arial"/>
                <a:cs typeface="Arial"/>
              </a:rPr>
              <a:t>His uniqueness </a:t>
            </a:r>
            <a:r>
              <a:rPr dirty="0" sz="1200">
                <a:latin typeface="Arial"/>
                <a:cs typeface="Arial"/>
              </a:rPr>
              <a:t>and literature on</a:t>
            </a:r>
            <a:r>
              <a:rPr dirty="0" sz="1200" spc="-40">
                <a:latin typeface="Arial"/>
                <a:cs typeface="Arial"/>
              </a:rPr>
              <a:t> </a:t>
            </a:r>
            <a:r>
              <a:rPr dirty="0" sz="1200" spc="-5">
                <a:latin typeface="Arial"/>
                <a:cs typeface="Arial"/>
              </a:rPr>
              <a:t>Him</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Muhammad (s.a.w) </a:t>
            </a:r>
            <a:r>
              <a:rPr dirty="0" sz="1200">
                <a:latin typeface="Arial"/>
                <a:cs typeface="Arial"/>
              </a:rPr>
              <a:t>– </a:t>
            </a:r>
            <a:r>
              <a:rPr dirty="0" sz="1200" spc="-5">
                <a:latin typeface="Arial"/>
                <a:cs typeface="Arial"/>
              </a:rPr>
              <a:t>his Uniqueness and literature on</a:t>
            </a:r>
            <a:r>
              <a:rPr dirty="0" sz="1200" spc="25">
                <a:latin typeface="Arial"/>
                <a:cs typeface="Arial"/>
              </a:rPr>
              <a:t> </a:t>
            </a:r>
            <a:r>
              <a:rPr dirty="0" sz="1200" spc="-5">
                <a:latin typeface="Arial"/>
                <a:cs typeface="Arial"/>
              </a:rPr>
              <a:t>him</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Mankind </a:t>
            </a:r>
            <a:r>
              <a:rPr dirty="0" sz="1200">
                <a:latin typeface="Arial"/>
                <a:cs typeface="Arial"/>
              </a:rPr>
              <a:t>– </a:t>
            </a:r>
            <a:r>
              <a:rPr dirty="0" sz="1200" spc="-5">
                <a:latin typeface="Arial"/>
                <a:cs typeface="Arial"/>
              </a:rPr>
              <a:t>His </a:t>
            </a:r>
            <a:r>
              <a:rPr dirty="0" sz="1200">
                <a:latin typeface="Arial"/>
                <a:cs typeface="Arial"/>
              </a:rPr>
              <a:t>traits </a:t>
            </a:r>
            <a:r>
              <a:rPr dirty="0" sz="1200" spc="-10">
                <a:latin typeface="Arial"/>
                <a:cs typeface="Arial"/>
              </a:rPr>
              <a:t>and </a:t>
            </a:r>
            <a:r>
              <a:rPr dirty="0" sz="1200" spc="-5">
                <a:latin typeface="Arial"/>
                <a:cs typeface="Arial"/>
              </a:rPr>
              <a:t>literature </a:t>
            </a:r>
            <a:r>
              <a:rPr dirty="0" sz="1200">
                <a:latin typeface="Arial"/>
                <a:cs typeface="Arial"/>
              </a:rPr>
              <a:t>on</a:t>
            </a:r>
            <a:r>
              <a:rPr dirty="0" sz="1200" spc="10">
                <a:latin typeface="Arial"/>
                <a:cs typeface="Arial"/>
              </a:rPr>
              <a:t> </a:t>
            </a:r>
            <a:r>
              <a:rPr dirty="0" sz="1200" spc="-5">
                <a:latin typeface="Arial"/>
                <a:cs typeface="Arial"/>
              </a:rPr>
              <a:t>him</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5" b="1" i="1">
                <a:uFill>
                  <a:solidFill>
                    <a:srgbClr val="000000"/>
                  </a:solidFill>
                </a:uFill>
                <a:latin typeface="Arial"/>
                <a:cs typeface="Arial"/>
              </a:rPr>
              <a:t>Similarities among Hazrat Musah (as), Hazrat Ibrahim and Hazrat Muhammad</a:t>
            </a:r>
            <a:r>
              <a:rPr dirty="0" u="heavy" sz="1200" spc="155" b="1" i="1">
                <a:uFill>
                  <a:solidFill>
                    <a:srgbClr val="000000"/>
                  </a:solidFill>
                </a:uFill>
                <a:latin typeface="Arial"/>
                <a:cs typeface="Arial"/>
              </a:rPr>
              <a:t> </a:t>
            </a:r>
            <a:r>
              <a:rPr dirty="0" u="heavy" sz="1200" spc="-5" b="1" i="1">
                <a:uFill>
                  <a:solidFill>
                    <a:srgbClr val="000000"/>
                  </a:solidFill>
                </a:uFill>
                <a:latin typeface="Arial"/>
                <a:cs typeface="Arial"/>
              </a:rPr>
              <a:t>(s.a.w)</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a:latin typeface="Arial"/>
                <a:cs typeface="Arial"/>
              </a:rPr>
              <a:t>Both </a:t>
            </a:r>
            <a:r>
              <a:rPr dirty="0" sz="1200" spc="-5">
                <a:latin typeface="Arial"/>
                <a:cs typeface="Arial"/>
              </a:rPr>
              <a:t>were from </a:t>
            </a:r>
            <a:r>
              <a:rPr dirty="0" sz="1200" spc="-10">
                <a:latin typeface="Arial"/>
                <a:cs typeface="Arial"/>
              </a:rPr>
              <a:t>Arab</a:t>
            </a:r>
            <a:r>
              <a:rPr dirty="0" sz="1200" spc="-5">
                <a:latin typeface="Arial"/>
                <a:cs typeface="Arial"/>
              </a:rPr>
              <a:t> </a:t>
            </a:r>
            <a:r>
              <a:rPr dirty="0" sz="1200">
                <a:latin typeface="Arial"/>
                <a:cs typeface="Arial"/>
              </a:rPr>
              <a:t>families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were </a:t>
            </a:r>
            <a:r>
              <a:rPr dirty="0" sz="1200">
                <a:latin typeface="Arial"/>
                <a:cs typeface="Arial"/>
              </a:rPr>
              <a:t>born </a:t>
            </a:r>
            <a:r>
              <a:rPr dirty="0" sz="1200" spc="-5">
                <a:latin typeface="Arial"/>
                <a:cs typeface="Arial"/>
              </a:rPr>
              <a:t>among polytheist people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were never idol worshippers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Since childhood they rejected and had disgust </a:t>
            </a:r>
            <a:r>
              <a:rPr dirty="0" sz="1200">
                <a:latin typeface="Arial"/>
                <a:cs typeface="Arial"/>
              </a:rPr>
              <a:t>for </a:t>
            </a:r>
            <a:r>
              <a:rPr dirty="0" sz="1200" spc="-5">
                <a:latin typeface="Arial"/>
                <a:cs typeface="Arial"/>
              </a:rPr>
              <a:t>the corrupted</a:t>
            </a:r>
            <a:r>
              <a:rPr dirty="0" sz="1200" spc="60">
                <a:latin typeface="Arial"/>
                <a:cs typeface="Arial"/>
              </a:rPr>
              <a:t> </a:t>
            </a:r>
            <a:r>
              <a:rPr dirty="0" sz="1200" spc="-5">
                <a:latin typeface="Arial"/>
                <a:cs typeface="Arial"/>
              </a:rPr>
              <a:t>society</a:t>
            </a:r>
            <a:endParaRPr sz="1200">
              <a:latin typeface="Arial"/>
              <a:cs typeface="Arial"/>
            </a:endParaRPr>
          </a:p>
          <a:p>
            <a:pPr marL="469900" indent="-229235">
              <a:lnSpc>
                <a:spcPts val="1380"/>
              </a:lnSpc>
              <a:buAutoNum type="arabicPeriod"/>
              <a:tabLst>
                <a:tab pos="470534" algn="l"/>
              </a:tabLst>
            </a:pPr>
            <a:r>
              <a:rPr dirty="0" sz="1200">
                <a:latin typeface="Arial"/>
                <a:cs typeface="Arial"/>
              </a:rPr>
              <a:t>They </a:t>
            </a:r>
            <a:r>
              <a:rPr dirty="0" sz="1200" spc="-5">
                <a:latin typeface="Arial"/>
                <a:cs typeface="Arial"/>
              </a:rPr>
              <a:t>helped the poor and </a:t>
            </a:r>
            <a:r>
              <a:rPr dirty="0" sz="1200">
                <a:latin typeface="Arial"/>
                <a:cs typeface="Arial"/>
              </a:rPr>
              <a:t>the</a:t>
            </a:r>
            <a:r>
              <a:rPr dirty="0" sz="1200" spc="-35">
                <a:latin typeface="Arial"/>
                <a:cs typeface="Arial"/>
              </a:rPr>
              <a:t> </a:t>
            </a:r>
            <a:r>
              <a:rPr dirty="0" sz="1200" spc="-5">
                <a:latin typeface="Arial"/>
                <a:cs typeface="Arial"/>
              </a:rPr>
              <a:t>needy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were persecuted and</a:t>
            </a:r>
            <a:r>
              <a:rPr dirty="0" sz="1200" spc="-20">
                <a:latin typeface="Arial"/>
                <a:cs typeface="Arial"/>
              </a:rPr>
              <a:t> </a:t>
            </a:r>
            <a:r>
              <a:rPr dirty="0" sz="1200" spc="-5">
                <a:latin typeface="Arial"/>
                <a:cs typeface="Arial"/>
              </a:rPr>
              <a:t>blamed</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were obliged </a:t>
            </a:r>
            <a:r>
              <a:rPr dirty="0" sz="1200">
                <a:latin typeface="Arial"/>
                <a:cs typeface="Arial"/>
              </a:rPr>
              <a:t>to </a:t>
            </a:r>
            <a:r>
              <a:rPr dirty="0" sz="1200" spc="-10">
                <a:latin typeface="Arial"/>
                <a:cs typeface="Arial"/>
              </a:rPr>
              <a:t>leave </a:t>
            </a:r>
            <a:r>
              <a:rPr dirty="0" sz="1200" spc="-5">
                <a:latin typeface="Arial"/>
                <a:cs typeface="Arial"/>
              </a:rPr>
              <a:t>their</a:t>
            </a:r>
            <a:r>
              <a:rPr dirty="0" sz="1200" spc="-10">
                <a:latin typeface="Arial"/>
                <a:cs typeface="Arial"/>
              </a:rPr>
              <a:t> </a:t>
            </a:r>
            <a:r>
              <a:rPr dirty="0" sz="1200" spc="-5">
                <a:latin typeface="Arial"/>
                <a:cs typeface="Arial"/>
              </a:rPr>
              <a:t>motherlands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obtained shelter </a:t>
            </a:r>
            <a:r>
              <a:rPr dirty="0" sz="1200">
                <a:latin typeface="Arial"/>
                <a:cs typeface="Arial"/>
              </a:rPr>
              <a:t>and </a:t>
            </a:r>
            <a:r>
              <a:rPr dirty="0" sz="1200" spc="-5">
                <a:latin typeface="Arial"/>
                <a:cs typeface="Arial"/>
              </a:rPr>
              <a:t>support </a:t>
            </a:r>
            <a:r>
              <a:rPr dirty="0" sz="1200">
                <a:latin typeface="Arial"/>
                <a:cs typeface="Arial"/>
              </a:rPr>
              <a:t>from </a:t>
            </a:r>
            <a:r>
              <a:rPr dirty="0" sz="1200" spc="-5">
                <a:latin typeface="Arial"/>
                <a:cs typeface="Arial"/>
              </a:rPr>
              <a:t>the </a:t>
            </a:r>
            <a:r>
              <a:rPr dirty="0" sz="1200" spc="-10">
                <a:latin typeface="Arial"/>
                <a:cs typeface="Arial"/>
              </a:rPr>
              <a:t>exiled</a:t>
            </a:r>
            <a:r>
              <a:rPr dirty="0" sz="1200">
                <a:latin typeface="Arial"/>
                <a:cs typeface="Arial"/>
              </a:rPr>
              <a:t> country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a:t>
            </a:r>
            <a:r>
              <a:rPr dirty="0" sz="1200">
                <a:latin typeface="Arial"/>
                <a:cs typeface="Arial"/>
              </a:rPr>
              <a:t>returned to their </a:t>
            </a:r>
            <a:r>
              <a:rPr dirty="0" sz="1200" spc="-5">
                <a:latin typeface="Arial"/>
                <a:cs typeface="Arial"/>
              </a:rPr>
              <a:t>motherlands </a:t>
            </a:r>
            <a:r>
              <a:rPr dirty="0" sz="1200">
                <a:latin typeface="Arial"/>
                <a:cs typeface="Arial"/>
              </a:rPr>
              <a:t>to </a:t>
            </a:r>
            <a:r>
              <a:rPr dirty="0" sz="1200" spc="-5">
                <a:latin typeface="Arial"/>
                <a:cs typeface="Arial"/>
              </a:rPr>
              <a:t>spread</a:t>
            </a:r>
            <a:r>
              <a:rPr dirty="0" sz="1200" spc="-55">
                <a:latin typeface="Arial"/>
                <a:cs typeface="Arial"/>
              </a:rPr>
              <a:t> </a:t>
            </a:r>
            <a:r>
              <a:rPr dirty="0" sz="1200">
                <a:latin typeface="Arial"/>
                <a:cs typeface="Arial"/>
              </a:rPr>
              <a:t>Islam</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were </a:t>
            </a:r>
            <a:r>
              <a:rPr dirty="0" sz="1200">
                <a:latin typeface="Arial"/>
                <a:cs typeface="Arial"/>
              </a:rPr>
              <a:t>partly accepted </a:t>
            </a:r>
            <a:r>
              <a:rPr dirty="0" sz="1200" spc="-5">
                <a:latin typeface="Arial"/>
                <a:cs typeface="Arial"/>
              </a:rPr>
              <a:t>and</a:t>
            </a:r>
            <a:r>
              <a:rPr dirty="0" sz="1200" spc="-40">
                <a:latin typeface="Arial"/>
                <a:cs typeface="Arial"/>
              </a:rPr>
              <a:t> </a:t>
            </a:r>
            <a:r>
              <a:rPr dirty="0" sz="1200">
                <a:latin typeface="Arial"/>
                <a:cs typeface="Arial"/>
              </a:rPr>
              <a:t>rejected</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They were given </a:t>
            </a:r>
            <a:r>
              <a:rPr dirty="0" sz="1200" spc="5">
                <a:latin typeface="Arial"/>
                <a:cs typeface="Arial"/>
              </a:rPr>
              <a:t>Wahy </a:t>
            </a:r>
            <a:r>
              <a:rPr dirty="0" sz="1200" spc="-5">
                <a:latin typeface="Arial"/>
                <a:cs typeface="Arial"/>
              </a:rPr>
              <a:t>as a source of</a:t>
            </a:r>
            <a:r>
              <a:rPr dirty="0" sz="1200" spc="-20">
                <a:latin typeface="Arial"/>
                <a:cs typeface="Arial"/>
              </a:rPr>
              <a:t> </a:t>
            </a:r>
            <a:r>
              <a:rPr dirty="0" sz="1200" spc="-5">
                <a:latin typeface="Arial"/>
                <a:cs typeface="Arial"/>
              </a:rPr>
              <a:t>guidance</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78</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7585709"/>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469900" indent="-229235">
              <a:lnSpc>
                <a:spcPts val="1410"/>
              </a:lnSpc>
              <a:spcBef>
                <a:spcPts val="5"/>
              </a:spcBef>
              <a:buAutoNum type="arabicPeriod" startAt="12"/>
              <a:tabLst>
                <a:tab pos="470534" algn="l"/>
              </a:tabLst>
            </a:pPr>
            <a:r>
              <a:rPr dirty="0" sz="1200" spc="-5">
                <a:latin typeface="Arial"/>
                <a:cs typeface="Arial"/>
              </a:rPr>
              <a:t>They </a:t>
            </a:r>
            <a:r>
              <a:rPr dirty="0" sz="1200">
                <a:latin typeface="Arial"/>
                <a:cs typeface="Arial"/>
              </a:rPr>
              <a:t>had </a:t>
            </a:r>
            <a:r>
              <a:rPr dirty="0" sz="1200" spc="-5">
                <a:latin typeface="Arial"/>
                <a:cs typeface="Arial"/>
              </a:rPr>
              <a:t>capacities </a:t>
            </a:r>
            <a:r>
              <a:rPr dirty="0" sz="1200">
                <a:latin typeface="Arial"/>
                <a:cs typeface="Arial"/>
              </a:rPr>
              <a:t>to </a:t>
            </a:r>
            <a:r>
              <a:rPr dirty="0" sz="1200" spc="-5">
                <a:latin typeface="Arial"/>
                <a:cs typeface="Arial"/>
              </a:rPr>
              <a:t>perform</a:t>
            </a:r>
            <a:r>
              <a:rPr dirty="0" sz="1200" spc="-25">
                <a:latin typeface="Arial"/>
                <a:cs typeface="Arial"/>
              </a:rPr>
              <a:t> </a:t>
            </a:r>
            <a:r>
              <a:rPr dirty="0" sz="1200" spc="-5">
                <a:latin typeface="Arial"/>
                <a:cs typeface="Arial"/>
              </a:rPr>
              <a:t>miracles</a:t>
            </a:r>
            <a:endParaRPr sz="1200">
              <a:latin typeface="Arial"/>
              <a:cs typeface="Arial"/>
            </a:endParaRPr>
          </a:p>
          <a:p>
            <a:pPr marL="469900" indent="-229235">
              <a:lnSpc>
                <a:spcPts val="1380"/>
              </a:lnSpc>
              <a:buAutoNum type="arabicPeriod" startAt="12"/>
              <a:tabLst>
                <a:tab pos="470534" algn="l"/>
              </a:tabLst>
            </a:pPr>
            <a:r>
              <a:rPr dirty="0" sz="1200" spc="-5">
                <a:latin typeface="Arial"/>
                <a:cs typeface="Arial"/>
              </a:rPr>
              <a:t>Majority </a:t>
            </a:r>
            <a:r>
              <a:rPr dirty="0" sz="1200">
                <a:latin typeface="Arial"/>
                <a:cs typeface="Arial"/>
              </a:rPr>
              <a:t>of </a:t>
            </a:r>
            <a:r>
              <a:rPr dirty="0" sz="1200" spc="-5">
                <a:latin typeface="Arial"/>
                <a:cs typeface="Arial"/>
              </a:rPr>
              <a:t>their followers </a:t>
            </a:r>
            <a:r>
              <a:rPr dirty="0" sz="1200" spc="-10">
                <a:latin typeface="Arial"/>
                <a:cs typeface="Arial"/>
              </a:rPr>
              <a:t>were </a:t>
            </a:r>
            <a:r>
              <a:rPr dirty="0" sz="1200" spc="-5">
                <a:latin typeface="Arial"/>
                <a:cs typeface="Arial"/>
              </a:rPr>
              <a:t>the poor, </a:t>
            </a:r>
            <a:r>
              <a:rPr dirty="0" sz="1200" spc="-10">
                <a:latin typeface="Arial"/>
                <a:cs typeface="Arial"/>
              </a:rPr>
              <a:t>needy, </a:t>
            </a:r>
            <a:r>
              <a:rPr dirty="0" sz="1200">
                <a:latin typeface="Arial"/>
                <a:cs typeface="Arial"/>
              </a:rPr>
              <a:t>destitute </a:t>
            </a:r>
            <a:r>
              <a:rPr dirty="0" sz="1200" spc="-5">
                <a:latin typeface="Arial"/>
                <a:cs typeface="Arial"/>
              </a:rPr>
              <a:t>and low</a:t>
            </a:r>
            <a:r>
              <a:rPr dirty="0" sz="1200" spc="40">
                <a:latin typeface="Arial"/>
                <a:cs typeface="Arial"/>
              </a:rPr>
              <a:t> </a:t>
            </a:r>
            <a:r>
              <a:rPr dirty="0" sz="1200" spc="-5">
                <a:latin typeface="Arial"/>
                <a:cs typeface="Arial"/>
              </a:rPr>
              <a:t>class</a:t>
            </a:r>
            <a:endParaRPr sz="1200">
              <a:latin typeface="Arial"/>
              <a:cs typeface="Arial"/>
            </a:endParaRPr>
          </a:p>
          <a:p>
            <a:pPr marL="469900" indent="-229235">
              <a:lnSpc>
                <a:spcPts val="1380"/>
              </a:lnSpc>
              <a:buAutoNum type="arabicPeriod" startAt="12"/>
              <a:tabLst>
                <a:tab pos="470534" algn="l"/>
              </a:tabLst>
            </a:pPr>
            <a:r>
              <a:rPr dirty="0" sz="1200" spc="-5">
                <a:latin typeface="Arial"/>
                <a:cs typeface="Arial"/>
              </a:rPr>
              <a:t>Their words touched </a:t>
            </a:r>
            <a:r>
              <a:rPr dirty="0" sz="1200" spc="-10">
                <a:latin typeface="Arial"/>
                <a:cs typeface="Arial"/>
              </a:rPr>
              <a:t>the </a:t>
            </a:r>
            <a:r>
              <a:rPr dirty="0" sz="1200" spc="-5">
                <a:latin typeface="Arial"/>
                <a:cs typeface="Arial"/>
              </a:rPr>
              <a:t>rich as</a:t>
            </a:r>
            <a:r>
              <a:rPr dirty="0" sz="1200" spc="20">
                <a:latin typeface="Arial"/>
                <a:cs typeface="Arial"/>
              </a:rPr>
              <a:t> </a:t>
            </a:r>
            <a:r>
              <a:rPr dirty="0" sz="1200" spc="-5">
                <a:latin typeface="Arial"/>
                <a:cs typeface="Arial"/>
              </a:rPr>
              <a:t>well</a:t>
            </a:r>
            <a:endParaRPr sz="1200">
              <a:latin typeface="Arial"/>
              <a:cs typeface="Arial"/>
            </a:endParaRPr>
          </a:p>
          <a:p>
            <a:pPr marL="469900" indent="-229235">
              <a:lnSpc>
                <a:spcPts val="1380"/>
              </a:lnSpc>
              <a:buAutoNum type="arabicPeriod" startAt="12"/>
              <a:tabLst>
                <a:tab pos="470534" algn="l"/>
              </a:tabLst>
            </a:pPr>
            <a:r>
              <a:rPr dirty="0" sz="1200" spc="-5">
                <a:latin typeface="Arial"/>
                <a:cs typeface="Arial"/>
              </a:rPr>
              <a:t>Their religions </a:t>
            </a:r>
            <a:r>
              <a:rPr dirty="0" sz="1200">
                <a:latin typeface="Arial"/>
                <a:cs typeface="Arial"/>
              </a:rPr>
              <a:t>spread </a:t>
            </a:r>
            <a:r>
              <a:rPr dirty="0" sz="1200" spc="-5">
                <a:latin typeface="Arial"/>
                <a:cs typeface="Arial"/>
              </a:rPr>
              <a:t>throughout the </a:t>
            </a:r>
            <a:r>
              <a:rPr dirty="0" sz="1200" spc="-10">
                <a:latin typeface="Arial"/>
                <a:cs typeface="Arial"/>
              </a:rPr>
              <a:t>world</a:t>
            </a:r>
            <a:endParaRPr sz="1200">
              <a:latin typeface="Arial"/>
              <a:cs typeface="Arial"/>
            </a:endParaRPr>
          </a:p>
          <a:p>
            <a:pPr marL="469900" indent="-229235">
              <a:lnSpc>
                <a:spcPts val="1410"/>
              </a:lnSpc>
              <a:buAutoNum type="arabicPeriod" startAt="12"/>
              <a:tabLst>
                <a:tab pos="470534" algn="l"/>
              </a:tabLst>
            </a:pPr>
            <a:r>
              <a:rPr dirty="0" sz="1200" spc="-5">
                <a:latin typeface="Arial"/>
                <a:cs typeface="Arial"/>
              </a:rPr>
              <a:t>They were </a:t>
            </a:r>
            <a:r>
              <a:rPr dirty="0" sz="1200">
                <a:latin typeface="Arial"/>
                <a:cs typeface="Arial"/>
              </a:rPr>
              <a:t>successful </a:t>
            </a:r>
            <a:r>
              <a:rPr dirty="0" sz="1200" spc="-5">
                <a:latin typeface="Arial"/>
                <a:cs typeface="Arial"/>
              </a:rPr>
              <a:t>in the eyes of</a:t>
            </a:r>
            <a:r>
              <a:rPr dirty="0" sz="1200" spc="5">
                <a:latin typeface="Arial"/>
                <a:cs typeface="Arial"/>
              </a:rPr>
              <a:t> </a:t>
            </a:r>
            <a:r>
              <a:rPr dirty="0" sz="1200" spc="-5">
                <a:latin typeface="Arial"/>
                <a:cs typeface="Arial"/>
              </a:rPr>
              <a:t>Allah</a:t>
            </a:r>
            <a:endParaRPr sz="1200">
              <a:latin typeface="Arial"/>
              <a:cs typeface="Arial"/>
            </a:endParaRPr>
          </a:p>
          <a:p>
            <a:pPr>
              <a:lnSpc>
                <a:spcPct val="100000"/>
              </a:lnSpc>
              <a:spcBef>
                <a:spcPts val="50"/>
              </a:spcBef>
            </a:pPr>
            <a:endParaRPr sz="1100">
              <a:latin typeface="Arial"/>
              <a:cs typeface="Arial"/>
            </a:endParaRPr>
          </a:p>
          <a:p>
            <a:pPr marL="12700">
              <a:lnSpc>
                <a:spcPct val="100000"/>
              </a:lnSpc>
              <a:spcBef>
                <a:spcPts val="5"/>
              </a:spcBef>
            </a:pPr>
            <a:r>
              <a:rPr dirty="0" u="heavy" sz="1200" spc="-5" b="1" i="1">
                <a:uFill>
                  <a:solidFill>
                    <a:srgbClr val="000000"/>
                  </a:solidFill>
                </a:uFill>
                <a:latin typeface="Arial"/>
                <a:cs typeface="Arial"/>
              </a:rPr>
              <a:t>Different ways is Surat </a:t>
            </a:r>
            <a:r>
              <a:rPr dirty="0" u="heavy" sz="1200" b="1" i="1">
                <a:uFill>
                  <a:solidFill>
                    <a:srgbClr val="000000"/>
                  </a:solidFill>
                </a:uFill>
                <a:latin typeface="Arial"/>
                <a:cs typeface="Arial"/>
              </a:rPr>
              <a:t>al-Faatiha used in </a:t>
            </a:r>
            <a:r>
              <a:rPr dirty="0" u="heavy" sz="1200" spc="-10" b="1" i="1">
                <a:uFill>
                  <a:solidFill>
                    <a:srgbClr val="000000"/>
                  </a:solidFill>
                </a:uFill>
                <a:latin typeface="Arial"/>
                <a:cs typeface="Arial"/>
              </a:rPr>
              <a:t>the </a:t>
            </a:r>
            <a:r>
              <a:rPr dirty="0" u="heavy" sz="1200" spc="-5" b="1" i="1">
                <a:uFill>
                  <a:solidFill>
                    <a:srgbClr val="000000"/>
                  </a:solidFill>
                </a:uFill>
                <a:latin typeface="Arial"/>
                <a:cs typeface="Arial"/>
              </a:rPr>
              <a:t>religious </a:t>
            </a:r>
            <a:r>
              <a:rPr dirty="0" u="heavy" sz="1200" b="1" i="1">
                <a:uFill>
                  <a:solidFill>
                    <a:srgbClr val="000000"/>
                  </a:solidFill>
                </a:uFill>
                <a:latin typeface="Arial"/>
                <a:cs typeface="Arial"/>
              </a:rPr>
              <a:t>life of</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Muslims</a:t>
            </a:r>
            <a:endParaRPr sz="1200">
              <a:latin typeface="Arial"/>
              <a:cs typeface="Arial"/>
            </a:endParaRPr>
          </a:p>
          <a:p>
            <a:pPr>
              <a:lnSpc>
                <a:spcPct val="100000"/>
              </a:lnSpc>
              <a:spcBef>
                <a:spcPts val="50"/>
              </a:spcBef>
            </a:pPr>
            <a:endParaRPr sz="1100">
              <a:latin typeface="Arial"/>
              <a:cs typeface="Arial"/>
            </a:endParaRPr>
          </a:p>
          <a:p>
            <a:pPr marL="469900" indent="-229235">
              <a:lnSpc>
                <a:spcPts val="1410"/>
              </a:lnSpc>
              <a:spcBef>
                <a:spcPts val="5"/>
              </a:spcBef>
              <a:buAutoNum type="arabicPeriod"/>
              <a:tabLst>
                <a:tab pos="470534" algn="l"/>
              </a:tabLst>
            </a:pPr>
            <a:r>
              <a:rPr dirty="0" sz="1200">
                <a:latin typeface="Arial"/>
                <a:cs typeface="Arial"/>
              </a:rPr>
              <a:t>It </a:t>
            </a:r>
            <a:r>
              <a:rPr dirty="0" sz="1200" spc="-5">
                <a:latin typeface="Arial"/>
                <a:cs typeface="Arial"/>
              </a:rPr>
              <a:t>is used at the beginning </a:t>
            </a:r>
            <a:r>
              <a:rPr dirty="0" sz="1200">
                <a:latin typeface="Arial"/>
                <a:cs typeface="Arial"/>
              </a:rPr>
              <a:t>of </a:t>
            </a:r>
            <a:r>
              <a:rPr dirty="0" sz="1200" spc="-5">
                <a:latin typeface="Arial"/>
                <a:cs typeface="Arial"/>
              </a:rPr>
              <a:t>the Qur‘an </a:t>
            </a:r>
            <a:r>
              <a:rPr dirty="0" sz="1200">
                <a:latin typeface="Arial"/>
                <a:cs typeface="Arial"/>
              </a:rPr>
              <a:t>to </a:t>
            </a:r>
            <a:r>
              <a:rPr dirty="0" sz="1200" spc="-5">
                <a:latin typeface="Arial"/>
                <a:cs typeface="Arial"/>
              </a:rPr>
              <a:t>praise</a:t>
            </a:r>
            <a:r>
              <a:rPr dirty="0" sz="1200" spc="40">
                <a:latin typeface="Arial"/>
                <a:cs typeface="Arial"/>
              </a:rPr>
              <a:t> </a:t>
            </a:r>
            <a:r>
              <a:rPr dirty="0" sz="1200" spc="-5">
                <a:latin typeface="Arial"/>
                <a:cs typeface="Arial"/>
              </a:rPr>
              <a:t>Allah</a:t>
            </a:r>
            <a:endParaRPr sz="1200">
              <a:latin typeface="Arial"/>
              <a:cs typeface="Arial"/>
            </a:endParaRPr>
          </a:p>
          <a:p>
            <a:pPr marL="469900" indent="-229235">
              <a:lnSpc>
                <a:spcPts val="1380"/>
              </a:lnSpc>
              <a:buAutoNum type="arabicPeriod"/>
              <a:tabLst>
                <a:tab pos="470534" algn="l"/>
              </a:tabLst>
            </a:pPr>
            <a:r>
              <a:rPr dirty="0" sz="1200">
                <a:latin typeface="Arial"/>
                <a:cs typeface="Arial"/>
              </a:rPr>
              <a:t>Each </a:t>
            </a:r>
            <a:r>
              <a:rPr dirty="0" sz="1200" spc="-5">
                <a:latin typeface="Arial"/>
                <a:cs typeface="Arial"/>
              </a:rPr>
              <a:t>time </a:t>
            </a:r>
            <a:r>
              <a:rPr dirty="0" sz="1200" spc="-10">
                <a:latin typeface="Arial"/>
                <a:cs typeface="Arial"/>
              </a:rPr>
              <a:t>we </a:t>
            </a:r>
            <a:r>
              <a:rPr dirty="0" sz="1200">
                <a:latin typeface="Arial"/>
                <a:cs typeface="Arial"/>
              </a:rPr>
              <a:t>read </a:t>
            </a:r>
            <a:r>
              <a:rPr dirty="0" sz="1200" spc="-5">
                <a:latin typeface="Arial"/>
                <a:cs typeface="Arial"/>
              </a:rPr>
              <a:t>the Qur‘an </a:t>
            </a:r>
            <a:r>
              <a:rPr dirty="0" sz="1200" spc="-10">
                <a:latin typeface="Arial"/>
                <a:cs typeface="Arial"/>
              </a:rPr>
              <a:t>we </a:t>
            </a:r>
            <a:r>
              <a:rPr dirty="0" sz="1200" spc="-5">
                <a:latin typeface="Arial"/>
                <a:cs typeface="Arial"/>
              </a:rPr>
              <a:t>(through respect) read the</a:t>
            </a:r>
            <a:r>
              <a:rPr dirty="0" sz="1200" spc="40">
                <a:latin typeface="Arial"/>
                <a:cs typeface="Arial"/>
              </a:rPr>
              <a:t> </a:t>
            </a:r>
            <a:r>
              <a:rPr dirty="0" sz="1200" spc="-5">
                <a:latin typeface="Arial"/>
                <a:cs typeface="Arial"/>
              </a:rPr>
              <a:t>Surah</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read </a:t>
            </a:r>
            <a:r>
              <a:rPr dirty="0" sz="1200">
                <a:latin typeface="Arial"/>
                <a:cs typeface="Arial"/>
              </a:rPr>
              <a:t>to </a:t>
            </a:r>
            <a:r>
              <a:rPr dirty="0" sz="1200" spc="-5">
                <a:latin typeface="Arial"/>
                <a:cs typeface="Arial"/>
              </a:rPr>
              <a:t>have Thawab </a:t>
            </a:r>
            <a:r>
              <a:rPr dirty="0" sz="1200">
                <a:latin typeface="Arial"/>
                <a:cs typeface="Arial"/>
              </a:rPr>
              <a:t>(each </a:t>
            </a:r>
            <a:r>
              <a:rPr dirty="0" sz="1200" spc="-5">
                <a:latin typeface="Arial"/>
                <a:cs typeface="Arial"/>
              </a:rPr>
              <a:t>letter accounts </a:t>
            </a:r>
            <a:r>
              <a:rPr dirty="0" sz="1200">
                <a:latin typeface="Arial"/>
                <a:cs typeface="Arial"/>
              </a:rPr>
              <a:t>for </a:t>
            </a:r>
            <a:r>
              <a:rPr dirty="0" sz="1200" spc="-5">
                <a:latin typeface="Arial"/>
                <a:cs typeface="Arial"/>
              </a:rPr>
              <a:t>10</a:t>
            </a:r>
            <a:r>
              <a:rPr dirty="0" sz="1200">
                <a:latin typeface="Arial"/>
                <a:cs typeface="Arial"/>
              </a:rPr>
              <a:t> </a:t>
            </a:r>
            <a:r>
              <a:rPr dirty="0" sz="1200" spc="-5">
                <a:latin typeface="Arial"/>
                <a:cs typeface="Arial"/>
              </a:rPr>
              <a:t>thawab)</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There is </a:t>
            </a:r>
            <a:r>
              <a:rPr dirty="0" sz="1200" spc="-10">
                <a:latin typeface="Arial"/>
                <a:cs typeface="Arial"/>
              </a:rPr>
              <a:t>no </a:t>
            </a:r>
            <a:r>
              <a:rPr dirty="0" sz="1200" spc="-5">
                <a:latin typeface="Arial"/>
                <a:cs typeface="Arial"/>
              </a:rPr>
              <a:t>Swalaat without the</a:t>
            </a:r>
            <a:r>
              <a:rPr dirty="0" sz="1200" spc="25">
                <a:latin typeface="Arial"/>
                <a:cs typeface="Arial"/>
              </a:rPr>
              <a:t> </a:t>
            </a:r>
            <a:r>
              <a:rPr dirty="0" sz="1200" spc="-5">
                <a:latin typeface="Arial"/>
                <a:cs typeface="Arial"/>
              </a:rPr>
              <a:t>Surah</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read </a:t>
            </a:r>
            <a:r>
              <a:rPr dirty="0" sz="1200">
                <a:latin typeface="Arial"/>
                <a:cs typeface="Arial"/>
              </a:rPr>
              <a:t>to </a:t>
            </a:r>
            <a:r>
              <a:rPr dirty="0" sz="1200" spc="-5">
                <a:latin typeface="Arial"/>
                <a:cs typeface="Arial"/>
              </a:rPr>
              <a:t>have blessings </a:t>
            </a:r>
            <a:r>
              <a:rPr dirty="0" sz="1200">
                <a:latin typeface="Arial"/>
                <a:cs typeface="Arial"/>
              </a:rPr>
              <a:t>on</a:t>
            </a:r>
            <a:r>
              <a:rPr dirty="0" sz="1200" spc="-15">
                <a:latin typeface="Arial"/>
                <a:cs typeface="Arial"/>
              </a:rPr>
              <a:t> </a:t>
            </a:r>
            <a:r>
              <a:rPr dirty="0" sz="1200">
                <a:latin typeface="Arial"/>
                <a:cs typeface="Arial"/>
              </a:rPr>
              <a:t>food</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If read before any </a:t>
            </a:r>
            <a:r>
              <a:rPr dirty="0" sz="1200" spc="-5">
                <a:latin typeface="Arial"/>
                <a:cs typeface="Arial"/>
              </a:rPr>
              <a:t>du‘a, </a:t>
            </a:r>
            <a:r>
              <a:rPr dirty="0" sz="1200">
                <a:latin typeface="Arial"/>
                <a:cs typeface="Arial"/>
              </a:rPr>
              <a:t>the </a:t>
            </a:r>
            <a:r>
              <a:rPr dirty="0" sz="1200" spc="-5">
                <a:latin typeface="Arial"/>
                <a:cs typeface="Arial"/>
              </a:rPr>
              <a:t>du‘a is</a:t>
            </a:r>
            <a:r>
              <a:rPr dirty="0" sz="1200" spc="-45">
                <a:latin typeface="Arial"/>
                <a:cs typeface="Arial"/>
              </a:rPr>
              <a:t> </a:t>
            </a:r>
            <a:r>
              <a:rPr dirty="0" sz="1200" spc="-5">
                <a:latin typeface="Arial"/>
                <a:cs typeface="Arial"/>
              </a:rPr>
              <a:t>accepted</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If read </a:t>
            </a:r>
            <a:r>
              <a:rPr dirty="0" sz="1200" spc="-5">
                <a:latin typeface="Arial"/>
                <a:cs typeface="Arial"/>
              </a:rPr>
              <a:t>and blow in water </a:t>
            </a:r>
            <a:r>
              <a:rPr dirty="0" sz="1200">
                <a:latin typeface="Arial"/>
                <a:cs typeface="Arial"/>
              </a:rPr>
              <a:t>for </a:t>
            </a:r>
            <a:r>
              <a:rPr dirty="0" sz="1200" spc="-5">
                <a:latin typeface="Arial"/>
                <a:cs typeface="Arial"/>
              </a:rPr>
              <a:t>drinking </a:t>
            </a:r>
            <a:r>
              <a:rPr dirty="0" sz="1200">
                <a:latin typeface="Arial"/>
                <a:cs typeface="Arial"/>
              </a:rPr>
              <a:t>or </a:t>
            </a:r>
            <a:r>
              <a:rPr dirty="0" sz="1200" spc="-10">
                <a:latin typeface="Arial"/>
                <a:cs typeface="Arial"/>
              </a:rPr>
              <a:t>on any </a:t>
            </a:r>
            <a:r>
              <a:rPr dirty="0" sz="1200">
                <a:latin typeface="Arial"/>
                <a:cs typeface="Arial"/>
              </a:rPr>
              <a:t>injury or harm </a:t>
            </a:r>
            <a:r>
              <a:rPr dirty="0" sz="1200" spc="-5">
                <a:latin typeface="Arial"/>
                <a:cs typeface="Arial"/>
              </a:rPr>
              <a:t>with Iman then </a:t>
            </a:r>
            <a:r>
              <a:rPr dirty="0" sz="1200">
                <a:latin typeface="Arial"/>
                <a:cs typeface="Arial"/>
              </a:rPr>
              <a:t>it </a:t>
            </a:r>
            <a:r>
              <a:rPr dirty="0" sz="1200" spc="-5">
                <a:latin typeface="Arial"/>
                <a:cs typeface="Arial"/>
              </a:rPr>
              <a:t>is</a:t>
            </a:r>
            <a:r>
              <a:rPr dirty="0" sz="1200" spc="50">
                <a:latin typeface="Arial"/>
                <a:cs typeface="Arial"/>
              </a:rPr>
              <a:t> </a:t>
            </a:r>
            <a:r>
              <a:rPr dirty="0" sz="1200" spc="-5">
                <a:latin typeface="Arial"/>
                <a:cs typeface="Arial"/>
              </a:rPr>
              <a:t>Shifa</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read </a:t>
            </a:r>
            <a:r>
              <a:rPr dirty="0" sz="1200">
                <a:latin typeface="Arial"/>
                <a:cs typeface="Arial"/>
              </a:rPr>
              <a:t>at the </a:t>
            </a:r>
            <a:r>
              <a:rPr dirty="0" sz="1200" spc="-5">
                <a:latin typeface="Arial"/>
                <a:cs typeface="Arial"/>
              </a:rPr>
              <a:t>death of a person and the </a:t>
            </a:r>
            <a:r>
              <a:rPr dirty="0" sz="1200" spc="-10">
                <a:latin typeface="Arial"/>
                <a:cs typeface="Arial"/>
              </a:rPr>
              <a:t>Thawab </a:t>
            </a:r>
            <a:r>
              <a:rPr dirty="0" sz="1200" spc="-5">
                <a:latin typeface="Arial"/>
                <a:cs typeface="Arial"/>
              </a:rPr>
              <a:t>is </a:t>
            </a:r>
            <a:r>
              <a:rPr dirty="0" sz="1200">
                <a:latin typeface="Arial"/>
                <a:cs typeface="Arial"/>
              </a:rPr>
              <a:t>sent for </a:t>
            </a:r>
            <a:r>
              <a:rPr dirty="0" sz="1200" spc="-5">
                <a:latin typeface="Arial"/>
                <a:cs typeface="Arial"/>
              </a:rPr>
              <a:t>the dead</a:t>
            </a:r>
            <a:r>
              <a:rPr dirty="0" sz="1200" spc="35">
                <a:latin typeface="Arial"/>
                <a:cs typeface="Arial"/>
              </a:rPr>
              <a:t> </a:t>
            </a:r>
            <a:r>
              <a:rPr dirty="0" sz="1200" spc="-5">
                <a:latin typeface="Arial"/>
                <a:cs typeface="Arial"/>
              </a:rPr>
              <a:t>person</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Is </a:t>
            </a:r>
            <a:r>
              <a:rPr dirty="0" sz="1200" spc="-5">
                <a:latin typeface="Arial"/>
                <a:cs typeface="Arial"/>
              </a:rPr>
              <a:t>used </a:t>
            </a:r>
            <a:r>
              <a:rPr dirty="0" sz="1200">
                <a:latin typeface="Arial"/>
                <a:cs typeface="Arial"/>
              </a:rPr>
              <a:t>to </a:t>
            </a:r>
            <a:r>
              <a:rPr dirty="0" sz="1200" spc="-5">
                <a:latin typeface="Arial"/>
                <a:cs typeface="Arial"/>
              </a:rPr>
              <a:t>drive away </a:t>
            </a:r>
            <a:r>
              <a:rPr dirty="0" sz="1200">
                <a:latin typeface="Arial"/>
                <a:cs typeface="Arial"/>
              </a:rPr>
              <a:t>Jinn </a:t>
            </a:r>
            <a:r>
              <a:rPr dirty="0" sz="1200" spc="-5">
                <a:latin typeface="Arial"/>
                <a:cs typeface="Arial"/>
              </a:rPr>
              <a:t>from a person </a:t>
            </a:r>
            <a:r>
              <a:rPr dirty="0" sz="1200">
                <a:latin typeface="Arial"/>
                <a:cs typeface="Arial"/>
              </a:rPr>
              <a:t>as </a:t>
            </a:r>
            <a:r>
              <a:rPr dirty="0" sz="1200" spc="-5">
                <a:latin typeface="Arial"/>
                <a:cs typeface="Arial"/>
              </a:rPr>
              <a:t>a</a:t>
            </a:r>
            <a:r>
              <a:rPr dirty="0" sz="1200" spc="-25">
                <a:latin typeface="Arial"/>
                <a:cs typeface="Arial"/>
              </a:rPr>
              <a:t> </a:t>
            </a:r>
            <a:r>
              <a:rPr dirty="0" sz="1200" spc="-5">
                <a:latin typeface="Arial"/>
                <a:cs typeface="Arial"/>
              </a:rPr>
              <a:t>Ruqya</a:t>
            </a:r>
            <a:endParaRPr sz="1200">
              <a:latin typeface="Arial"/>
              <a:cs typeface="Arial"/>
            </a:endParaRPr>
          </a:p>
          <a:p>
            <a:pPr marL="469900" indent="-229235">
              <a:lnSpc>
                <a:spcPts val="1410"/>
              </a:lnSpc>
              <a:buAutoNum type="arabicPeriod"/>
              <a:tabLst>
                <a:tab pos="470534" algn="l"/>
              </a:tabLst>
            </a:pPr>
            <a:r>
              <a:rPr dirty="0" sz="1200">
                <a:latin typeface="Arial"/>
                <a:cs typeface="Arial"/>
              </a:rPr>
              <a:t>It </a:t>
            </a:r>
            <a:r>
              <a:rPr dirty="0" sz="1200" spc="-5">
                <a:latin typeface="Arial"/>
                <a:cs typeface="Arial"/>
              </a:rPr>
              <a:t>is used to protect oneself from the influence of</a:t>
            </a:r>
            <a:r>
              <a:rPr dirty="0" sz="1200" spc="35">
                <a:latin typeface="Arial"/>
                <a:cs typeface="Arial"/>
              </a:rPr>
              <a:t> </a:t>
            </a:r>
            <a:r>
              <a:rPr dirty="0" sz="1200" spc="-5">
                <a:latin typeface="Arial"/>
                <a:cs typeface="Arial"/>
              </a:rPr>
              <a:t>Shaitaan</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15"/>
              </a:spcBef>
            </a:pPr>
            <a:endParaRPr sz="1200">
              <a:latin typeface="Arial"/>
              <a:cs typeface="Arial"/>
            </a:endParaRPr>
          </a:p>
          <a:p>
            <a:pPr marL="12700" marR="8890">
              <a:lnSpc>
                <a:spcPts val="1390"/>
              </a:lnSpc>
            </a:pPr>
            <a:r>
              <a:rPr dirty="0" sz="1200" spc="-5" b="1">
                <a:latin typeface="Arial"/>
                <a:cs typeface="Arial"/>
              </a:rPr>
              <a:t>5 </a:t>
            </a:r>
            <a:r>
              <a:rPr dirty="0" sz="1200" spc="-5">
                <a:latin typeface="Arial"/>
                <a:cs typeface="Arial"/>
              </a:rPr>
              <a:t>Referring </a:t>
            </a:r>
            <a:r>
              <a:rPr dirty="0" sz="1200">
                <a:latin typeface="Arial"/>
                <a:cs typeface="Arial"/>
              </a:rPr>
              <a:t>to the </a:t>
            </a:r>
            <a:r>
              <a:rPr dirty="0" sz="1200" spc="-5" i="1">
                <a:latin typeface="Arial"/>
                <a:cs typeface="Arial"/>
              </a:rPr>
              <a:t>Surahs </a:t>
            </a:r>
            <a:r>
              <a:rPr dirty="0" sz="1200" spc="-10">
                <a:latin typeface="Arial"/>
                <a:cs typeface="Arial"/>
              </a:rPr>
              <a:t>you </a:t>
            </a:r>
            <a:r>
              <a:rPr dirty="0" sz="1200" spc="-5">
                <a:latin typeface="Arial"/>
                <a:cs typeface="Arial"/>
              </a:rPr>
              <a:t>have especially </a:t>
            </a:r>
            <a:r>
              <a:rPr dirty="0" sz="1200">
                <a:latin typeface="Arial"/>
                <a:cs typeface="Arial"/>
              </a:rPr>
              <a:t>studied, </a:t>
            </a:r>
            <a:r>
              <a:rPr dirty="0" sz="1200" spc="-5">
                <a:latin typeface="Arial"/>
                <a:cs typeface="Arial"/>
              </a:rPr>
              <a:t>outline and discuss the main  teachings of the Qur‘an about the relationship between God and human beings. [20]</a:t>
            </a:r>
            <a:r>
              <a:rPr dirty="0" sz="1200" spc="155">
                <a:latin typeface="Arial"/>
                <a:cs typeface="Arial"/>
              </a:rPr>
              <a:t> </a:t>
            </a:r>
            <a:r>
              <a:rPr dirty="0" sz="1200" spc="-5" b="1">
                <a:latin typeface="Arial"/>
                <a:cs typeface="Arial"/>
              </a:rPr>
              <a:t>(2004)</a:t>
            </a:r>
            <a:endParaRPr sz="1200">
              <a:latin typeface="Arial"/>
              <a:cs typeface="Arial"/>
            </a:endParaRPr>
          </a:p>
          <a:p>
            <a:pPr>
              <a:lnSpc>
                <a:spcPct val="100000"/>
              </a:lnSpc>
              <a:spcBef>
                <a:spcPts val="10"/>
              </a:spcBef>
            </a:pPr>
            <a:endParaRPr sz="1100">
              <a:latin typeface="Arial"/>
              <a:cs typeface="Arial"/>
            </a:endParaRPr>
          </a:p>
          <a:p>
            <a:pPr marL="12700">
              <a:lnSpc>
                <a:spcPts val="1415"/>
              </a:lnSpc>
            </a:pPr>
            <a:r>
              <a:rPr dirty="0" sz="1200" spc="-5" b="1">
                <a:latin typeface="Arial"/>
                <a:cs typeface="Arial"/>
              </a:rPr>
              <a:t>5 (a) </a:t>
            </a:r>
            <a:r>
              <a:rPr dirty="0" sz="1200" spc="5">
                <a:latin typeface="Arial"/>
                <a:cs typeface="Arial"/>
              </a:rPr>
              <a:t>What </a:t>
            </a:r>
            <a:r>
              <a:rPr dirty="0" sz="1200" spc="-5">
                <a:latin typeface="Arial"/>
                <a:cs typeface="Arial"/>
              </a:rPr>
              <a:t>are the main teachings of </a:t>
            </a:r>
            <a:r>
              <a:rPr dirty="0" sz="1200" spc="-5" i="1">
                <a:latin typeface="Arial"/>
                <a:cs typeface="Arial"/>
              </a:rPr>
              <a:t>Surat al-Faatiha</a:t>
            </a:r>
            <a:r>
              <a:rPr dirty="0" sz="1200" spc="-5">
                <a:latin typeface="Arial"/>
                <a:cs typeface="Arial"/>
              </a:rPr>
              <a:t>?</a:t>
            </a:r>
            <a:r>
              <a:rPr dirty="0" sz="1200" spc="10">
                <a:latin typeface="Arial"/>
                <a:cs typeface="Arial"/>
              </a:rPr>
              <a:t> </a:t>
            </a:r>
            <a:r>
              <a:rPr dirty="0" sz="1200" spc="-5">
                <a:latin typeface="Arial"/>
                <a:cs typeface="Arial"/>
              </a:rPr>
              <a:t>[12]</a:t>
            </a:r>
            <a:endParaRPr sz="1200">
              <a:latin typeface="Arial"/>
              <a:cs typeface="Arial"/>
            </a:endParaRPr>
          </a:p>
          <a:p>
            <a:pPr marL="140970">
              <a:lnSpc>
                <a:spcPts val="1385"/>
              </a:lnSpc>
            </a:pPr>
            <a:r>
              <a:rPr dirty="0" sz="1200" spc="-5" b="1">
                <a:latin typeface="Arial"/>
                <a:cs typeface="Arial"/>
              </a:rPr>
              <a:t>(b)</a:t>
            </a:r>
            <a:r>
              <a:rPr dirty="0" sz="1200" spc="85" b="1">
                <a:latin typeface="Arial"/>
                <a:cs typeface="Arial"/>
              </a:rPr>
              <a:t> </a:t>
            </a:r>
            <a:r>
              <a:rPr dirty="0" sz="1200" spc="-5">
                <a:latin typeface="Arial"/>
                <a:cs typeface="Arial"/>
              </a:rPr>
              <a:t>How</a:t>
            </a:r>
            <a:r>
              <a:rPr dirty="0" sz="1200" spc="95">
                <a:latin typeface="Arial"/>
                <a:cs typeface="Arial"/>
              </a:rPr>
              <a:t> </a:t>
            </a:r>
            <a:r>
              <a:rPr dirty="0" sz="1200" spc="-5">
                <a:latin typeface="Arial"/>
                <a:cs typeface="Arial"/>
              </a:rPr>
              <a:t>do</a:t>
            </a:r>
            <a:r>
              <a:rPr dirty="0" sz="1200" spc="95">
                <a:latin typeface="Arial"/>
                <a:cs typeface="Arial"/>
              </a:rPr>
              <a:t> </a:t>
            </a:r>
            <a:r>
              <a:rPr dirty="0" sz="1200">
                <a:latin typeface="Arial"/>
                <a:cs typeface="Arial"/>
              </a:rPr>
              <a:t>these</a:t>
            </a:r>
            <a:r>
              <a:rPr dirty="0" sz="1200" spc="95">
                <a:latin typeface="Arial"/>
                <a:cs typeface="Arial"/>
              </a:rPr>
              <a:t> </a:t>
            </a:r>
            <a:r>
              <a:rPr dirty="0" sz="1200" spc="-5">
                <a:latin typeface="Arial"/>
                <a:cs typeface="Arial"/>
              </a:rPr>
              <a:t>teachings</a:t>
            </a:r>
            <a:r>
              <a:rPr dirty="0" sz="1200" spc="90">
                <a:latin typeface="Arial"/>
                <a:cs typeface="Arial"/>
              </a:rPr>
              <a:t> </a:t>
            </a:r>
            <a:r>
              <a:rPr dirty="0" sz="1200" spc="-5">
                <a:latin typeface="Arial"/>
                <a:cs typeface="Arial"/>
              </a:rPr>
              <a:t>explain</a:t>
            </a:r>
            <a:r>
              <a:rPr dirty="0" sz="1200" spc="95">
                <a:latin typeface="Arial"/>
                <a:cs typeface="Arial"/>
              </a:rPr>
              <a:t> </a:t>
            </a:r>
            <a:r>
              <a:rPr dirty="0" sz="1200">
                <a:latin typeface="Arial"/>
                <a:cs typeface="Arial"/>
              </a:rPr>
              <a:t>the</a:t>
            </a:r>
            <a:r>
              <a:rPr dirty="0" sz="1200" spc="95">
                <a:latin typeface="Arial"/>
                <a:cs typeface="Arial"/>
              </a:rPr>
              <a:t> </a:t>
            </a:r>
            <a:r>
              <a:rPr dirty="0" sz="1200" spc="-5">
                <a:latin typeface="Arial"/>
                <a:cs typeface="Arial"/>
              </a:rPr>
              <a:t>relationship</a:t>
            </a:r>
            <a:r>
              <a:rPr dirty="0" sz="1200" spc="95">
                <a:latin typeface="Arial"/>
                <a:cs typeface="Arial"/>
              </a:rPr>
              <a:t> </a:t>
            </a:r>
            <a:r>
              <a:rPr dirty="0" sz="1200">
                <a:latin typeface="Arial"/>
                <a:cs typeface="Arial"/>
              </a:rPr>
              <a:t>between</a:t>
            </a:r>
            <a:r>
              <a:rPr dirty="0" sz="1200" spc="95">
                <a:latin typeface="Arial"/>
                <a:cs typeface="Arial"/>
              </a:rPr>
              <a:t> </a:t>
            </a:r>
            <a:r>
              <a:rPr dirty="0" sz="1200" spc="-5">
                <a:latin typeface="Arial"/>
                <a:cs typeface="Arial"/>
              </a:rPr>
              <a:t>human</a:t>
            </a:r>
            <a:r>
              <a:rPr dirty="0" sz="1200" spc="90">
                <a:latin typeface="Arial"/>
                <a:cs typeface="Arial"/>
              </a:rPr>
              <a:t> </a:t>
            </a:r>
            <a:r>
              <a:rPr dirty="0" sz="1200" spc="-5">
                <a:latin typeface="Arial"/>
                <a:cs typeface="Arial"/>
              </a:rPr>
              <a:t>beings</a:t>
            </a:r>
            <a:r>
              <a:rPr dirty="0" sz="1200" spc="95">
                <a:latin typeface="Arial"/>
                <a:cs typeface="Arial"/>
              </a:rPr>
              <a:t> </a:t>
            </a:r>
            <a:r>
              <a:rPr dirty="0" sz="1200" spc="-5">
                <a:latin typeface="Arial"/>
                <a:cs typeface="Arial"/>
              </a:rPr>
              <a:t>and</a:t>
            </a:r>
            <a:r>
              <a:rPr dirty="0" sz="1200" spc="95">
                <a:latin typeface="Arial"/>
                <a:cs typeface="Arial"/>
              </a:rPr>
              <a:t> </a:t>
            </a:r>
            <a:r>
              <a:rPr dirty="0" sz="1200" spc="-5">
                <a:latin typeface="Arial"/>
                <a:cs typeface="Arial"/>
              </a:rPr>
              <a:t>God?</a:t>
            </a:r>
            <a:r>
              <a:rPr dirty="0" sz="1200" spc="85">
                <a:latin typeface="Arial"/>
                <a:cs typeface="Arial"/>
              </a:rPr>
              <a:t> </a:t>
            </a:r>
            <a:r>
              <a:rPr dirty="0" sz="1200">
                <a:latin typeface="Arial"/>
                <a:cs typeface="Arial"/>
              </a:rPr>
              <a:t>[8]</a:t>
            </a:r>
            <a:endParaRPr sz="1200">
              <a:latin typeface="Arial"/>
              <a:cs typeface="Arial"/>
            </a:endParaRPr>
          </a:p>
          <a:p>
            <a:pPr marL="12700">
              <a:lnSpc>
                <a:spcPts val="1410"/>
              </a:lnSpc>
            </a:pPr>
            <a:r>
              <a:rPr dirty="0" sz="1200" spc="-5" b="1">
                <a:latin typeface="Arial"/>
                <a:cs typeface="Arial"/>
              </a:rPr>
              <a:t>(2005)</a:t>
            </a:r>
            <a:endParaRPr sz="1200">
              <a:latin typeface="Arial"/>
              <a:cs typeface="Arial"/>
            </a:endParaRPr>
          </a:p>
          <a:p>
            <a:pPr>
              <a:lnSpc>
                <a:spcPct val="100000"/>
              </a:lnSpc>
              <a:spcBef>
                <a:spcPts val="15"/>
              </a:spcBef>
            </a:pPr>
            <a:endParaRPr sz="1200">
              <a:latin typeface="Arial"/>
              <a:cs typeface="Arial"/>
            </a:endParaRPr>
          </a:p>
          <a:p>
            <a:pPr marL="12700" marR="7620">
              <a:lnSpc>
                <a:spcPts val="1390"/>
              </a:lnSpc>
            </a:pPr>
            <a:r>
              <a:rPr dirty="0" sz="1200" spc="-5" b="1">
                <a:latin typeface="Arial"/>
                <a:cs typeface="Arial"/>
              </a:rPr>
              <a:t>4 </a:t>
            </a:r>
            <a:r>
              <a:rPr dirty="0" sz="1200">
                <a:latin typeface="Arial"/>
                <a:cs typeface="Arial"/>
              </a:rPr>
              <a:t>The </a:t>
            </a:r>
            <a:r>
              <a:rPr dirty="0" sz="1200" spc="-5">
                <a:latin typeface="Arial"/>
                <a:cs typeface="Arial"/>
              </a:rPr>
              <a:t>Prophet is reported to </a:t>
            </a:r>
            <a:r>
              <a:rPr dirty="0" sz="1200" spc="-10">
                <a:latin typeface="Arial"/>
                <a:cs typeface="Arial"/>
              </a:rPr>
              <a:t>have </a:t>
            </a:r>
            <a:r>
              <a:rPr dirty="0" sz="1200" spc="-5">
                <a:latin typeface="Arial"/>
                <a:cs typeface="Arial"/>
              </a:rPr>
              <a:t>said that </a:t>
            </a:r>
            <a:r>
              <a:rPr dirty="0" sz="1200" spc="-5" i="1">
                <a:latin typeface="Arial"/>
                <a:cs typeface="Arial"/>
              </a:rPr>
              <a:t>Surah al-Ikhlas </a:t>
            </a:r>
            <a:r>
              <a:rPr dirty="0" sz="1200" spc="-5">
                <a:latin typeface="Arial"/>
                <a:cs typeface="Arial"/>
              </a:rPr>
              <a:t>[Surah 112] is equivalent in value  </a:t>
            </a:r>
            <a:r>
              <a:rPr dirty="0" sz="1200">
                <a:latin typeface="Arial"/>
                <a:cs typeface="Arial"/>
              </a:rPr>
              <a:t>to </a:t>
            </a:r>
            <a:r>
              <a:rPr dirty="0" sz="1200" spc="-5">
                <a:latin typeface="Arial"/>
                <a:cs typeface="Arial"/>
              </a:rPr>
              <a:t>one third of the whole Qur‘an. Explain why </a:t>
            </a:r>
            <a:r>
              <a:rPr dirty="0" sz="1200">
                <a:latin typeface="Arial"/>
                <a:cs typeface="Arial"/>
              </a:rPr>
              <a:t>this </a:t>
            </a:r>
            <a:r>
              <a:rPr dirty="0" sz="1200" spc="-5">
                <a:latin typeface="Arial"/>
                <a:cs typeface="Arial"/>
              </a:rPr>
              <a:t>is </a:t>
            </a:r>
            <a:r>
              <a:rPr dirty="0" sz="1200">
                <a:latin typeface="Arial"/>
                <a:cs typeface="Arial"/>
              </a:rPr>
              <a:t>so. </a:t>
            </a:r>
            <a:r>
              <a:rPr dirty="0" sz="1200" spc="-5">
                <a:latin typeface="Arial"/>
                <a:cs typeface="Arial"/>
              </a:rPr>
              <a:t>[20]</a:t>
            </a:r>
            <a:r>
              <a:rPr dirty="0" sz="1200" spc="60">
                <a:latin typeface="Arial"/>
                <a:cs typeface="Arial"/>
              </a:rPr>
              <a:t> </a:t>
            </a:r>
            <a:r>
              <a:rPr dirty="0" sz="1200" spc="-5" b="1">
                <a:latin typeface="Arial"/>
                <a:cs typeface="Arial"/>
              </a:rPr>
              <a:t>(2006)</a:t>
            </a:r>
            <a:endParaRPr sz="1200">
              <a:latin typeface="Arial"/>
              <a:cs typeface="Arial"/>
            </a:endParaRPr>
          </a:p>
          <a:p>
            <a:pPr>
              <a:lnSpc>
                <a:spcPct val="100000"/>
              </a:lnSpc>
              <a:spcBef>
                <a:spcPts val="5"/>
              </a:spcBef>
            </a:pPr>
            <a:endParaRPr sz="1100">
              <a:latin typeface="Arial"/>
              <a:cs typeface="Arial"/>
            </a:endParaRPr>
          </a:p>
          <a:p>
            <a:pPr marL="12700">
              <a:lnSpc>
                <a:spcPct val="100000"/>
              </a:lnSpc>
            </a:pPr>
            <a:r>
              <a:rPr dirty="0" sz="1200" spc="-5" b="1">
                <a:latin typeface="Arial"/>
                <a:cs typeface="Arial"/>
              </a:rPr>
              <a:t>4 </a:t>
            </a:r>
            <a:r>
              <a:rPr dirty="0" sz="1200" spc="-5">
                <a:latin typeface="Arial"/>
                <a:cs typeface="Arial"/>
              </a:rPr>
              <a:t>Explain </a:t>
            </a:r>
            <a:r>
              <a:rPr dirty="0" sz="1200" spc="-5" i="1">
                <a:latin typeface="Arial"/>
                <a:cs typeface="Arial"/>
              </a:rPr>
              <a:t>Surat al-Duha </a:t>
            </a:r>
            <a:r>
              <a:rPr dirty="0" sz="1200" spc="-5">
                <a:latin typeface="Arial"/>
                <a:cs typeface="Arial"/>
              </a:rPr>
              <a:t>with </a:t>
            </a:r>
            <a:r>
              <a:rPr dirty="0" sz="1200">
                <a:latin typeface="Arial"/>
                <a:cs typeface="Arial"/>
              </a:rPr>
              <a:t>special </a:t>
            </a:r>
            <a:r>
              <a:rPr dirty="0" sz="1200" spc="-5">
                <a:latin typeface="Arial"/>
                <a:cs typeface="Arial"/>
              </a:rPr>
              <a:t>reference </a:t>
            </a:r>
            <a:r>
              <a:rPr dirty="0" sz="1200">
                <a:latin typeface="Arial"/>
                <a:cs typeface="Arial"/>
              </a:rPr>
              <a:t>to the </a:t>
            </a:r>
            <a:r>
              <a:rPr dirty="0" sz="1200" spc="-5">
                <a:latin typeface="Arial"/>
                <a:cs typeface="Arial"/>
              </a:rPr>
              <a:t>life of the Prophet. [20]</a:t>
            </a:r>
            <a:r>
              <a:rPr dirty="0" sz="1200" spc="100">
                <a:latin typeface="Arial"/>
                <a:cs typeface="Arial"/>
              </a:rPr>
              <a:t> </a:t>
            </a:r>
            <a:r>
              <a:rPr dirty="0" sz="1200" spc="-5" b="1">
                <a:latin typeface="Arial"/>
                <a:cs typeface="Arial"/>
              </a:rPr>
              <a:t>(2007)</a:t>
            </a:r>
            <a:endParaRPr sz="1200">
              <a:latin typeface="Arial"/>
              <a:cs typeface="Arial"/>
            </a:endParaRPr>
          </a:p>
          <a:p>
            <a:pPr marL="12700" marR="136525">
              <a:lnSpc>
                <a:spcPts val="2770"/>
              </a:lnSpc>
              <a:spcBef>
                <a:spcPts val="295"/>
              </a:spcBef>
              <a:buFont typeface="Arial"/>
              <a:buAutoNum type="arabicPlain" startAt="4"/>
              <a:tabLst>
                <a:tab pos="141605" algn="l"/>
              </a:tabLst>
            </a:pPr>
            <a:r>
              <a:rPr dirty="0" sz="1200">
                <a:latin typeface="Arial"/>
                <a:cs typeface="Arial"/>
              </a:rPr>
              <a:t>In </a:t>
            </a:r>
            <a:r>
              <a:rPr dirty="0" sz="1200" spc="-5">
                <a:latin typeface="Arial"/>
                <a:cs typeface="Arial"/>
              </a:rPr>
              <a:t>what different ways is </a:t>
            </a:r>
            <a:r>
              <a:rPr dirty="0" sz="1200" spc="-5" i="1">
                <a:latin typeface="Arial"/>
                <a:cs typeface="Arial"/>
              </a:rPr>
              <a:t>Surat al-Faatiha </a:t>
            </a:r>
            <a:r>
              <a:rPr dirty="0" sz="1200" spc="-5">
                <a:latin typeface="Arial"/>
                <a:cs typeface="Arial"/>
              </a:rPr>
              <a:t>used in </a:t>
            </a:r>
            <a:r>
              <a:rPr dirty="0" sz="1200">
                <a:latin typeface="Arial"/>
                <a:cs typeface="Arial"/>
              </a:rPr>
              <a:t>the </a:t>
            </a:r>
            <a:r>
              <a:rPr dirty="0" sz="1200" spc="-5">
                <a:latin typeface="Arial"/>
                <a:cs typeface="Arial"/>
              </a:rPr>
              <a:t>religious </a:t>
            </a:r>
            <a:r>
              <a:rPr dirty="0" sz="1200">
                <a:latin typeface="Arial"/>
                <a:cs typeface="Arial"/>
              </a:rPr>
              <a:t>life </a:t>
            </a:r>
            <a:r>
              <a:rPr dirty="0" sz="1200" spc="-5">
                <a:latin typeface="Arial"/>
                <a:cs typeface="Arial"/>
              </a:rPr>
              <a:t>of Muslims? [20] </a:t>
            </a:r>
            <a:r>
              <a:rPr dirty="0" sz="1200" spc="-5" b="1">
                <a:latin typeface="Arial"/>
                <a:cs typeface="Arial"/>
              </a:rPr>
              <a:t>(2008)  4 </a:t>
            </a:r>
            <a:r>
              <a:rPr dirty="0" sz="1200" spc="-5">
                <a:latin typeface="Arial"/>
                <a:cs typeface="Arial"/>
              </a:rPr>
              <a:t>Present and explain the </a:t>
            </a:r>
            <a:r>
              <a:rPr dirty="0" sz="1200">
                <a:latin typeface="Arial"/>
                <a:cs typeface="Arial"/>
              </a:rPr>
              <a:t>main </a:t>
            </a:r>
            <a:r>
              <a:rPr dirty="0" sz="1200" spc="-5">
                <a:latin typeface="Arial"/>
                <a:cs typeface="Arial"/>
              </a:rPr>
              <a:t>themes of Surat </a:t>
            </a:r>
            <a:r>
              <a:rPr dirty="0" sz="1200">
                <a:latin typeface="Arial"/>
                <a:cs typeface="Arial"/>
              </a:rPr>
              <a:t>al-Qadr. </a:t>
            </a:r>
            <a:r>
              <a:rPr dirty="0" sz="1200" spc="-5">
                <a:latin typeface="Arial"/>
                <a:cs typeface="Arial"/>
              </a:rPr>
              <a:t>[20]</a:t>
            </a:r>
            <a:r>
              <a:rPr dirty="0" sz="1200" spc="5">
                <a:latin typeface="Arial"/>
                <a:cs typeface="Arial"/>
              </a:rPr>
              <a:t> </a:t>
            </a:r>
            <a:r>
              <a:rPr dirty="0" sz="1200" spc="-5" b="1">
                <a:latin typeface="Arial"/>
                <a:cs typeface="Arial"/>
              </a:rPr>
              <a:t>(2009)</a:t>
            </a:r>
            <a:endParaRPr sz="1200">
              <a:latin typeface="Arial"/>
              <a:cs typeface="Arial"/>
            </a:endParaRPr>
          </a:p>
          <a:p>
            <a:pPr marL="12700" marR="5080">
              <a:lnSpc>
                <a:spcPts val="1380"/>
              </a:lnSpc>
              <a:spcBef>
                <a:spcPts val="1105"/>
              </a:spcBef>
              <a:buFont typeface="Arial"/>
              <a:buAutoNum type="arabicPlain" startAt="4"/>
              <a:tabLst>
                <a:tab pos="147320" algn="l"/>
              </a:tabLst>
            </a:pPr>
            <a:r>
              <a:rPr dirty="0" sz="1200" spc="-5">
                <a:latin typeface="Arial"/>
                <a:cs typeface="Arial"/>
              </a:rPr>
              <a:t>How do </a:t>
            </a:r>
            <a:r>
              <a:rPr dirty="0" sz="1200">
                <a:latin typeface="Arial"/>
                <a:cs typeface="Arial"/>
              </a:rPr>
              <a:t>the </a:t>
            </a:r>
            <a:r>
              <a:rPr dirty="0" sz="1200" spc="-5">
                <a:latin typeface="Arial"/>
                <a:cs typeface="Arial"/>
              </a:rPr>
              <a:t>experiences of the prophet Moses as </a:t>
            </a:r>
            <a:r>
              <a:rPr dirty="0" sz="1200" spc="5">
                <a:latin typeface="Arial"/>
                <a:cs typeface="Arial"/>
              </a:rPr>
              <a:t>they </a:t>
            </a:r>
            <a:r>
              <a:rPr dirty="0" sz="1200" spc="-5">
                <a:latin typeface="Arial"/>
                <a:cs typeface="Arial"/>
              </a:rPr>
              <a:t>are recounted in </a:t>
            </a:r>
            <a:r>
              <a:rPr dirty="0" sz="1200">
                <a:latin typeface="Arial"/>
                <a:cs typeface="Arial"/>
              </a:rPr>
              <a:t>Surat </a:t>
            </a:r>
            <a:r>
              <a:rPr dirty="0" sz="1200" spc="-5">
                <a:latin typeface="Arial"/>
                <a:cs typeface="Arial"/>
              </a:rPr>
              <a:t>al-qasas (ch  </a:t>
            </a:r>
            <a:r>
              <a:rPr dirty="0" sz="1200">
                <a:latin typeface="Arial"/>
                <a:cs typeface="Arial"/>
              </a:rPr>
              <a:t>28 </a:t>
            </a:r>
            <a:r>
              <a:rPr dirty="0" sz="1200" spc="-5">
                <a:latin typeface="Arial"/>
                <a:cs typeface="Arial"/>
              </a:rPr>
              <a:t>of the Qur‘an) relate </a:t>
            </a:r>
            <a:r>
              <a:rPr dirty="0" sz="1200">
                <a:latin typeface="Arial"/>
                <a:cs typeface="Arial"/>
              </a:rPr>
              <a:t>to the </a:t>
            </a:r>
            <a:r>
              <a:rPr dirty="0" sz="1200" spc="-5">
                <a:latin typeface="Arial"/>
                <a:cs typeface="Arial"/>
              </a:rPr>
              <a:t>experiences of </a:t>
            </a:r>
            <a:r>
              <a:rPr dirty="0" sz="1200">
                <a:latin typeface="Arial"/>
                <a:cs typeface="Arial"/>
              </a:rPr>
              <a:t>the </a:t>
            </a:r>
            <a:r>
              <a:rPr dirty="0" sz="1200" spc="-5">
                <a:latin typeface="Arial"/>
                <a:cs typeface="Arial"/>
              </a:rPr>
              <a:t>Prophet Muhammad? [20]</a:t>
            </a:r>
            <a:r>
              <a:rPr dirty="0" sz="1200" spc="50">
                <a:latin typeface="Arial"/>
                <a:cs typeface="Arial"/>
              </a:rPr>
              <a:t> </a:t>
            </a:r>
            <a:r>
              <a:rPr dirty="0" sz="1200" spc="-5" b="1">
                <a:latin typeface="Arial"/>
                <a:cs typeface="Arial"/>
              </a:rPr>
              <a:t>(2010)</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79</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2201926" y="799592"/>
            <a:ext cx="2972435" cy="559435"/>
          </a:xfrm>
          <a:prstGeom prst="rect">
            <a:avLst/>
          </a:prstGeom>
        </p:spPr>
        <p:txBody>
          <a:bodyPr wrap="square" lIns="0" tIns="12700" rIns="0" bIns="0" rtlCol="0" vert="horz">
            <a:spAutoFit/>
          </a:bodyPr>
          <a:lstStyle/>
          <a:p>
            <a:pPr algn="ctr" marL="3175">
              <a:lnSpc>
                <a:spcPct val="100000"/>
              </a:lnSpc>
              <a:spcBef>
                <a:spcPts val="100"/>
              </a:spcBef>
            </a:pPr>
            <a:r>
              <a:rPr dirty="0" u="heavy" sz="1200" spc="-5" b="1" i="1">
                <a:uFill>
                  <a:solidFill>
                    <a:srgbClr val="000000"/>
                  </a:solidFill>
                </a:uFill>
                <a:latin typeface="Arial"/>
                <a:cs typeface="Arial"/>
              </a:rPr>
              <a:t>Paper</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1</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5" b="1" i="1">
                <a:uFill>
                  <a:solidFill>
                    <a:srgbClr val="000000"/>
                  </a:solidFill>
                </a:uFill>
                <a:latin typeface="Arial"/>
                <a:cs typeface="Arial"/>
              </a:rPr>
              <a:t>Section C: Beliefs and Practices </a:t>
            </a:r>
            <a:r>
              <a:rPr dirty="0" u="heavy" sz="1200" b="1" i="1">
                <a:uFill>
                  <a:solidFill>
                    <a:srgbClr val="000000"/>
                  </a:solidFill>
                </a:uFill>
                <a:latin typeface="Arial"/>
                <a:cs typeface="Arial"/>
              </a:rPr>
              <a:t>of</a:t>
            </a:r>
            <a:r>
              <a:rPr dirty="0" u="heavy" sz="1200" spc="30" b="1" i="1">
                <a:uFill>
                  <a:solidFill>
                    <a:srgbClr val="000000"/>
                  </a:solidFill>
                </a:uFill>
                <a:latin typeface="Arial"/>
                <a:cs typeface="Arial"/>
              </a:rPr>
              <a:t> </a:t>
            </a:r>
            <a:r>
              <a:rPr dirty="0" u="heavy" sz="1200" spc="-5" b="1" i="1">
                <a:uFill>
                  <a:solidFill>
                    <a:srgbClr val="000000"/>
                  </a:solidFill>
                </a:uFill>
                <a:latin typeface="Arial"/>
                <a:cs typeface="Arial"/>
              </a:rPr>
              <a:t>Islam</a:t>
            </a:r>
            <a:endParaRPr sz="1200">
              <a:latin typeface="Arial"/>
              <a:cs typeface="Arial"/>
            </a:endParaRP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80</a:t>
            </a:r>
          </a:p>
        </p:txBody>
      </p:sp>
      <p:sp>
        <p:nvSpPr>
          <p:cNvPr id="6" name="object 6"/>
          <p:cNvSpPr txBox="1"/>
          <p:nvPr/>
        </p:nvSpPr>
        <p:spPr>
          <a:xfrm>
            <a:off x="878128" y="1704085"/>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Pillars </a:t>
            </a:r>
            <a:r>
              <a:rPr dirty="0" sz="1200" b="1">
                <a:latin typeface="Arial"/>
                <a:cs typeface="Arial"/>
              </a:rPr>
              <a:t>of </a:t>
            </a:r>
            <a:r>
              <a:rPr dirty="0" sz="1200" spc="-5" b="1">
                <a:latin typeface="Arial"/>
                <a:cs typeface="Arial"/>
              </a:rPr>
              <a:t>Islam</a:t>
            </a:r>
            <a:endParaRPr sz="1200">
              <a:latin typeface="Arial"/>
              <a:cs typeface="Arial"/>
            </a:endParaRPr>
          </a:p>
        </p:txBody>
      </p:sp>
      <p:sp>
        <p:nvSpPr>
          <p:cNvPr id="7" name="object 7"/>
          <p:cNvSpPr txBox="1"/>
          <p:nvPr/>
        </p:nvSpPr>
        <p:spPr>
          <a:xfrm>
            <a:off x="534416" y="2038857"/>
            <a:ext cx="6310630" cy="757047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35"/>
              </a:spcBef>
            </a:pPr>
            <a:endParaRPr sz="1200">
              <a:latin typeface="Arial"/>
              <a:cs typeface="Arial"/>
            </a:endParaRPr>
          </a:p>
          <a:p>
            <a:pPr algn="just" marL="12700" marR="9525">
              <a:lnSpc>
                <a:spcPts val="1380"/>
              </a:lnSpc>
            </a:pPr>
            <a:r>
              <a:rPr dirty="0" sz="1200">
                <a:latin typeface="Arial"/>
                <a:cs typeface="Arial"/>
              </a:rPr>
              <a:t>In </a:t>
            </a:r>
            <a:r>
              <a:rPr dirty="0" sz="1200" spc="-5">
                <a:latin typeface="Arial"/>
                <a:cs typeface="Arial"/>
              </a:rPr>
              <a:t>Islam, there are five pillars which </a:t>
            </a:r>
            <a:r>
              <a:rPr dirty="0" sz="1200" spc="5">
                <a:latin typeface="Arial"/>
                <a:cs typeface="Arial"/>
              </a:rPr>
              <a:t>are </a:t>
            </a:r>
            <a:r>
              <a:rPr dirty="0" sz="1200" spc="-5">
                <a:latin typeface="Arial"/>
                <a:cs typeface="Arial"/>
              </a:rPr>
              <a:t>of great importance </a:t>
            </a:r>
            <a:r>
              <a:rPr dirty="0" sz="1200">
                <a:latin typeface="Arial"/>
                <a:cs typeface="Arial"/>
              </a:rPr>
              <a:t>for </a:t>
            </a:r>
            <a:r>
              <a:rPr dirty="0" sz="1200" spc="-5">
                <a:latin typeface="Arial"/>
                <a:cs typeface="Arial"/>
              </a:rPr>
              <a:t>the Muslim individual as well  as </a:t>
            </a:r>
            <a:r>
              <a:rPr dirty="0" sz="1200">
                <a:latin typeface="Arial"/>
                <a:cs typeface="Arial"/>
              </a:rPr>
              <a:t>for </a:t>
            </a:r>
            <a:r>
              <a:rPr dirty="0" sz="1200" spc="-5">
                <a:latin typeface="Arial"/>
                <a:cs typeface="Arial"/>
              </a:rPr>
              <a:t>the community. They are </a:t>
            </a:r>
            <a:r>
              <a:rPr dirty="0" sz="1200">
                <a:latin typeface="Arial"/>
                <a:cs typeface="Arial"/>
              </a:rPr>
              <a:t>the </a:t>
            </a:r>
            <a:r>
              <a:rPr dirty="0" sz="1200" spc="-5">
                <a:latin typeface="Arial"/>
                <a:cs typeface="Arial"/>
              </a:rPr>
              <a:t>foundations and backbones of the religion of Islam. </a:t>
            </a:r>
            <a:r>
              <a:rPr dirty="0" sz="1200">
                <a:latin typeface="Arial"/>
                <a:cs typeface="Arial"/>
              </a:rPr>
              <a:t>The  </a:t>
            </a:r>
            <a:r>
              <a:rPr dirty="0" sz="1200" spc="-5">
                <a:latin typeface="Arial"/>
                <a:cs typeface="Arial"/>
              </a:rPr>
              <a:t>rejection of anyone of them </a:t>
            </a:r>
            <a:r>
              <a:rPr dirty="0" sz="1200" spc="-10">
                <a:latin typeface="Arial"/>
                <a:cs typeface="Arial"/>
              </a:rPr>
              <a:t>will </a:t>
            </a:r>
            <a:r>
              <a:rPr dirty="0" sz="1200" spc="-5">
                <a:latin typeface="Arial"/>
                <a:cs typeface="Arial"/>
              </a:rPr>
              <a:t>render </a:t>
            </a:r>
            <a:r>
              <a:rPr dirty="0" sz="1200">
                <a:latin typeface="Arial"/>
                <a:cs typeface="Arial"/>
              </a:rPr>
              <a:t>the </a:t>
            </a:r>
            <a:r>
              <a:rPr dirty="0" sz="1200" spc="-5">
                <a:latin typeface="Arial"/>
                <a:cs typeface="Arial"/>
              </a:rPr>
              <a:t>person a disbeliever. </a:t>
            </a:r>
            <a:r>
              <a:rPr dirty="0" sz="1200">
                <a:latin typeface="Arial"/>
                <a:cs typeface="Arial"/>
              </a:rPr>
              <a:t>In </a:t>
            </a:r>
            <a:r>
              <a:rPr dirty="0" sz="1200" spc="-5">
                <a:latin typeface="Arial"/>
                <a:cs typeface="Arial"/>
              </a:rPr>
              <a:t>order </a:t>
            </a:r>
            <a:r>
              <a:rPr dirty="0" sz="1200">
                <a:latin typeface="Arial"/>
                <a:cs typeface="Arial"/>
              </a:rPr>
              <a:t>to </a:t>
            </a:r>
            <a:r>
              <a:rPr dirty="0" sz="1200" spc="-5">
                <a:latin typeface="Arial"/>
                <a:cs typeface="Arial"/>
              </a:rPr>
              <a:t>be accepted as a  Muslim, one </a:t>
            </a:r>
            <a:r>
              <a:rPr dirty="0" sz="1200">
                <a:latin typeface="Arial"/>
                <a:cs typeface="Arial"/>
              </a:rPr>
              <a:t>must </a:t>
            </a:r>
            <a:r>
              <a:rPr dirty="0" sz="1200" spc="-5">
                <a:latin typeface="Arial"/>
                <a:cs typeface="Arial"/>
              </a:rPr>
              <a:t>imperatively put all </a:t>
            </a:r>
            <a:r>
              <a:rPr dirty="0" sz="1200">
                <a:latin typeface="Arial"/>
                <a:cs typeface="Arial"/>
              </a:rPr>
              <a:t>of </a:t>
            </a:r>
            <a:r>
              <a:rPr dirty="0" sz="1200" spc="-5">
                <a:latin typeface="Arial"/>
                <a:cs typeface="Arial"/>
              </a:rPr>
              <a:t>them into </a:t>
            </a:r>
            <a:r>
              <a:rPr dirty="0" sz="1200">
                <a:latin typeface="Arial"/>
                <a:cs typeface="Arial"/>
              </a:rPr>
              <a:t>practice. </a:t>
            </a:r>
            <a:r>
              <a:rPr dirty="0" sz="1200" spc="-5">
                <a:latin typeface="Arial"/>
                <a:cs typeface="Arial"/>
              </a:rPr>
              <a:t>Accordingly, </a:t>
            </a:r>
            <a:r>
              <a:rPr dirty="0" sz="1200">
                <a:latin typeface="Arial"/>
                <a:cs typeface="Arial"/>
              </a:rPr>
              <a:t>there </a:t>
            </a:r>
            <a:r>
              <a:rPr dirty="0" sz="1200" spc="-5">
                <a:latin typeface="Arial"/>
                <a:cs typeface="Arial"/>
              </a:rPr>
              <a:t>are Shahadah,  Swalaat, Sawm, Zakaat and</a:t>
            </a:r>
            <a:r>
              <a:rPr dirty="0" sz="1200" spc="10">
                <a:latin typeface="Arial"/>
                <a:cs typeface="Arial"/>
              </a:rPr>
              <a:t> </a:t>
            </a:r>
            <a:r>
              <a:rPr dirty="0" sz="1200" spc="-5">
                <a:latin typeface="Arial"/>
                <a:cs typeface="Arial"/>
              </a:rPr>
              <a:t>Hajj.</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b="1" i="1">
                <a:uFill>
                  <a:solidFill>
                    <a:srgbClr val="000000"/>
                  </a:solidFill>
                </a:uFill>
                <a:latin typeface="Arial"/>
                <a:cs typeface="Arial"/>
              </a:rPr>
              <a:t>Shahadah:</a:t>
            </a:r>
            <a:r>
              <a:rPr dirty="0" u="heavy" sz="1200" spc="-5" b="1" i="1">
                <a:uFill>
                  <a:solidFill>
                    <a:srgbClr val="000000"/>
                  </a:solidFill>
                </a:uFill>
                <a:latin typeface="Arial"/>
                <a:cs typeface="Arial"/>
              </a:rPr>
              <a:t> Testimony</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spcBef>
                <a:spcPts val="5"/>
              </a:spcBef>
            </a:pPr>
            <a:r>
              <a:rPr dirty="0" sz="1200" spc="-5">
                <a:latin typeface="Arial"/>
                <a:cs typeface="Arial"/>
              </a:rPr>
              <a:t>The </a:t>
            </a:r>
            <a:r>
              <a:rPr dirty="0" sz="1200">
                <a:latin typeface="Arial"/>
                <a:cs typeface="Arial"/>
              </a:rPr>
              <a:t>first </a:t>
            </a:r>
            <a:r>
              <a:rPr dirty="0" sz="1200" spc="-5">
                <a:latin typeface="Arial"/>
                <a:cs typeface="Arial"/>
              </a:rPr>
              <a:t>pillar of Islam is Shahadah which means </a:t>
            </a:r>
            <a:r>
              <a:rPr dirty="0" sz="1200">
                <a:latin typeface="Arial"/>
                <a:cs typeface="Arial"/>
              </a:rPr>
              <a:t>to </a:t>
            </a:r>
            <a:r>
              <a:rPr dirty="0" sz="1200" spc="-5">
                <a:latin typeface="Arial"/>
                <a:cs typeface="Arial"/>
              </a:rPr>
              <a:t>attest. Here there is the question of  accepting and attesting </a:t>
            </a:r>
            <a:r>
              <a:rPr dirty="0" sz="1200">
                <a:latin typeface="Arial"/>
                <a:cs typeface="Arial"/>
              </a:rPr>
              <a:t>the unity of </a:t>
            </a:r>
            <a:r>
              <a:rPr dirty="0" sz="1200" spc="-5">
                <a:latin typeface="Arial"/>
                <a:cs typeface="Arial"/>
              </a:rPr>
              <a:t>Allah and </a:t>
            </a:r>
            <a:r>
              <a:rPr dirty="0" sz="1200">
                <a:latin typeface="Arial"/>
                <a:cs typeface="Arial"/>
              </a:rPr>
              <a:t>the </a:t>
            </a:r>
            <a:r>
              <a:rPr dirty="0" sz="1200" spc="-5">
                <a:latin typeface="Arial"/>
                <a:cs typeface="Arial"/>
              </a:rPr>
              <a:t>prophethood of Prophet Muhammad  (s.a.w). </a:t>
            </a:r>
            <a:r>
              <a:rPr dirty="0" sz="1200">
                <a:latin typeface="Arial"/>
                <a:cs typeface="Arial"/>
              </a:rPr>
              <a:t>It </a:t>
            </a:r>
            <a:r>
              <a:rPr dirty="0" sz="1200" spc="-5">
                <a:latin typeface="Arial"/>
                <a:cs typeface="Arial"/>
              </a:rPr>
              <a:t>is </a:t>
            </a:r>
            <a:r>
              <a:rPr dirty="0" sz="1200">
                <a:latin typeface="Arial"/>
                <a:cs typeface="Arial"/>
              </a:rPr>
              <a:t>thus divided </a:t>
            </a:r>
            <a:r>
              <a:rPr dirty="0" sz="1200" spc="-5">
                <a:latin typeface="Arial"/>
                <a:cs typeface="Arial"/>
              </a:rPr>
              <a:t>into </a:t>
            </a:r>
            <a:r>
              <a:rPr dirty="0" sz="1200" spc="-10">
                <a:latin typeface="Arial"/>
                <a:cs typeface="Arial"/>
              </a:rPr>
              <a:t>two </a:t>
            </a:r>
            <a:r>
              <a:rPr dirty="0" sz="1200">
                <a:latin typeface="Arial"/>
                <a:cs typeface="Arial"/>
              </a:rPr>
              <a:t>parts – </a:t>
            </a:r>
            <a:r>
              <a:rPr dirty="0" sz="1200" spc="-5">
                <a:latin typeface="Arial"/>
                <a:cs typeface="Arial"/>
              </a:rPr>
              <a:t>Allah and Muhammad. </a:t>
            </a:r>
            <a:r>
              <a:rPr dirty="0" sz="1200">
                <a:latin typeface="Arial"/>
                <a:cs typeface="Arial"/>
              </a:rPr>
              <a:t>There </a:t>
            </a:r>
            <a:r>
              <a:rPr dirty="0" sz="1200" spc="-5">
                <a:latin typeface="Arial"/>
                <a:cs typeface="Arial"/>
              </a:rPr>
              <a:t>is no need to  introduce </a:t>
            </a:r>
            <a:r>
              <a:rPr dirty="0" sz="1200" spc="-10">
                <a:latin typeface="Arial"/>
                <a:cs typeface="Arial"/>
              </a:rPr>
              <a:t>who </a:t>
            </a:r>
            <a:r>
              <a:rPr dirty="0" sz="1200" spc="-5">
                <a:latin typeface="Arial"/>
                <a:cs typeface="Arial"/>
              </a:rPr>
              <a:t>is Allah and </a:t>
            </a:r>
            <a:r>
              <a:rPr dirty="0" sz="1200" spc="-10">
                <a:latin typeface="Arial"/>
                <a:cs typeface="Arial"/>
              </a:rPr>
              <a:t>who </a:t>
            </a:r>
            <a:r>
              <a:rPr dirty="0" sz="1200" spc="-5">
                <a:latin typeface="Arial"/>
                <a:cs typeface="Arial"/>
              </a:rPr>
              <a:t>is the prophet Muhammad (s.a.w). </a:t>
            </a:r>
            <a:r>
              <a:rPr dirty="0" sz="1200">
                <a:latin typeface="Arial"/>
                <a:cs typeface="Arial"/>
              </a:rPr>
              <a:t>A </a:t>
            </a:r>
            <a:r>
              <a:rPr dirty="0" sz="1200" spc="-5">
                <a:latin typeface="Arial"/>
                <a:cs typeface="Arial"/>
              </a:rPr>
              <a:t>brief introduction from  </a:t>
            </a:r>
            <a:r>
              <a:rPr dirty="0" sz="1200">
                <a:latin typeface="Arial"/>
                <a:cs typeface="Arial"/>
              </a:rPr>
              <a:t>the </a:t>
            </a:r>
            <a:r>
              <a:rPr dirty="0" sz="1200" spc="-5">
                <a:latin typeface="Arial"/>
                <a:cs typeface="Arial"/>
              </a:rPr>
              <a:t>students is</a:t>
            </a:r>
            <a:r>
              <a:rPr dirty="0" sz="1200">
                <a:latin typeface="Arial"/>
                <a:cs typeface="Arial"/>
              </a:rPr>
              <a:t> </a:t>
            </a:r>
            <a:r>
              <a:rPr dirty="0" sz="1200" spc="-5">
                <a:latin typeface="Arial"/>
                <a:cs typeface="Arial"/>
              </a:rPr>
              <a:t>important.</a:t>
            </a:r>
            <a:endParaRPr sz="1200">
              <a:latin typeface="Arial"/>
              <a:cs typeface="Arial"/>
            </a:endParaRPr>
          </a:p>
          <a:p>
            <a:pPr>
              <a:lnSpc>
                <a:spcPct val="100000"/>
              </a:lnSpc>
              <a:spcBef>
                <a:spcPts val="55"/>
              </a:spcBef>
            </a:pPr>
            <a:endParaRPr sz="1150">
              <a:latin typeface="Arial"/>
              <a:cs typeface="Arial"/>
            </a:endParaRPr>
          </a:p>
          <a:p>
            <a:pPr algn="just" marL="12700" marR="5080">
              <a:lnSpc>
                <a:spcPts val="1380"/>
              </a:lnSpc>
            </a:pPr>
            <a:r>
              <a:rPr dirty="0" u="heavy" sz="1200" spc="-5" b="1" i="1">
                <a:uFill>
                  <a:solidFill>
                    <a:srgbClr val="000000"/>
                  </a:solidFill>
                </a:uFill>
                <a:latin typeface="Arial"/>
                <a:cs typeface="Arial"/>
              </a:rPr>
              <a:t>However,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believe in </a:t>
            </a:r>
            <a:r>
              <a:rPr dirty="0" u="heavy" sz="1200" b="1" i="1">
                <a:uFill>
                  <a:solidFill>
                    <a:srgbClr val="000000"/>
                  </a:solidFill>
                </a:uFill>
                <a:latin typeface="Arial"/>
                <a:cs typeface="Arial"/>
              </a:rPr>
              <a:t>Allah </a:t>
            </a:r>
            <a:r>
              <a:rPr dirty="0" u="heavy" sz="1200" spc="-5" b="1" i="1">
                <a:uFill>
                  <a:solidFill>
                    <a:srgbClr val="000000"/>
                  </a:solidFill>
                </a:uFill>
                <a:latin typeface="Arial"/>
                <a:cs typeface="Arial"/>
              </a:rPr>
              <a:t>is </a:t>
            </a:r>
            <a:r>
              <a:rPr dirty="0" u="heavy" sz="1200" b="1" i="1">
                <a:uFill>
                  <a:solidFill>
                    <a:srgbClr val="000000"/>
                  </a:solidFill>
                </a:uFill>
                <a:latin typeface="Arial"/>
                <a:cs typeface="Arial"/>
              </a:rPr>
              <a:t>to believe in </a:t>
            </a:r>
            <a:r>
              <a:rPr dirty="0" u="heavy" sz="1200" spc="-5" b="1" i="1">
                <a:uFill>
                  <a:solidFill>
                    <a:srgbClr val="000000"/>
                  </a:solidFill>
                </a:uFill>
                <a:latin typeface="Arial"/>
                <a:cs typeface="Arial"/>
              </a:rPr>
              <a:t>the </a:t>
            </a:r>
            <a:r>
              <a:rPr dirty="0" u="heavy" sz="1200" b="1" i="1">
                <a:uFill>
                  <a:solidFill>
                    <a:srgbClr val="000000"/>
                  </a:solidFill>
                </a:uFill>
                <a:latin typeface="Arial"/>
                <a:cs typeface="Arial"/>
              </a:rPr>
              <a:t>uniqueness of </a:t>
            </a:r>
            <a:r>
              <a:rPr dirty="0" u="heavy" sz="1200" spc="5" b="1" i="1">
                <a:uFill>
                  <a:solidFill>
                    <a:srgbClr val="000000"/>
                  </a:solidFill>
                </a:uFill>
                <a:latin typeface="Arial"/>
                <a:cs typeface="Arial"/>
              </a:rPr>
              <a:t>Allah </a:t>
            </a:r>
            <a:r>
              <a:rPr dirty="0" u="heavy" sz="1200" b="1" i="1">
                <a:uFill>
                  <a:solidFill>
                    <a:srgbClr val="000000"/>
                  </a:solidFill>
                </a:uFill>
                <a:latin typeface="Arial"/>
                <a:cs typeface="Arial"/>
              </a:rPr>
              <a:t>which </a:t>
            </a:r>
            <a:r>
              <a:rPr dirty="0" u="heavy" sz="1200" spc="-5" b="1" i="1">
                <a:uFill>
                  <a:solidFill>
                    <a:srgbClr val="000000"/>
                  </a:solidFill>
                </a:uFill>
                <a:latin typeface="Arial"/>
                <a:cs typeface="Arial"/>
              </a:rPr>
              <a:t>is divided </a:t>
            </a:r>
            <a:r>
              <a:rPr dirty="0" sz="1200" spc="-5" b="1" i="1">
                <a:latin typeface="Arial"/>
                <a:cs typeface="Arial"/>
              </a:rPr>
              <a:t> </a:t>
            </a:r>
            <a:r>
              <a:rPr dirty="0" u="heavy" sz="1200" b="1" i="1">
                <a:uFill>
                  <a:solidFill>
                    <a:srgbClr val="000000"/>
                  </a:solidFill>
                </a:uFill>
                <a:latin typeface="Arial"/>
                <a:cs typeface="Arial"/>
              </a:rPr>
              <a:t>into</a:t>
            </a:r>
            <a:r>
              <a:rPr dirty="0" u="heavy" sz="1200" spc="-5" b="1" i="1">
                <a:uFill>
                  <a:solidFill>
                    <a:srgbClr val="000000"/>
                  </a:solidFill>
                </a:uFill>
                <a:latin typeface="Arial"/>
                <a:cs typeface="Arial"/>
              </a:rPr>
              <a:t> three:</a:t>
            </a:r>
            <a:endParaRPr sz="1200">
              <a:latin typeface="Arial"/>
              <a:cs typeface="Arial"/>
            </a:endParaRPr>
          </a:p>
          <a:p>
            <a:pPr>
              <a:lnSpc>
                <a:spcPct val="100000"/>
              </a:lnSpc>
            </a:pPr>
            <a:endParaRPr sz="1200">
              <a:latin typeface="Arial"/>
              <a:cs typeface="Arial"/>
            </a:endParaRPr>
          </a:p>
          <a:p>
            <a:pPr algn="just" marL="469900" marR="6350" indent="-229235">
              <a:lnSpc>
                <a:spcPts val="1380"/>
              </a:lnSpc>
              <a:spcBef>
                <a:spcPts val="5"/>
              </a:spcBef>
              <a:buAutoNum type="arabicPeriod"/>
              <a:tabLst>
                <a:tab pos="470534" algn="l"/>
              </a:tabLst>
            </a:pPr>
            <a:r>
              <a:rPr dirty="0" sz="1200" spc="-5">
                <a:latin typeface="Arial"/>
                <a:cs typeface="Arial"/>
              </a:rPr>
              <a:t>Being </a:t>
            </a:r>
            <a:r>
              <a:rPr dirty="0" sz="1200">
                <a:latin typeface="Arial"/>
                <a:cs typeface="Arial"/>
              </a:rPr>
              <a:t>– The </a:t>
            </a:r>
            <a:r>
              <a:rPr dirty="0" sz="1200" spc="-5">
                <a:latin typeface="Arial"/>
                <a:cs typeface="Arial"/>
              </a:rPr>
              <a:t>being of Allah is not and cannot be compared. </a:t>
            </a:r>
            <a:r>
              <a:rPr dirty="0" sz="1200" spc="15">
                <a:latin typeface="Arial"/>
                <a:cs typeface="Arial"/>
              </a:rPr>
              <a:t>We </a:t>
            </a:r>
            <a:r>
              <a:rPr dirty="0" sz="1200" spc="-5">
                <a:latin typeface="Arial"/>
                <a:cs typeface="Arial"/>
              </a:rPr>
              <a:t>can‘t attribute </a:t>
            </a:r>
            <a:r>
              <a:rPr dirty="0" sz="1200">
                <a:latin typeface="Arial"/>
                <a:cs typeface="Arial"/>
              </a:rPr>
              <a:t>any  form, </a:t>
            </a:r>
            <a:r>
              <a:rPr dirty="0" sz="1200" spc="-5">
                <a:latin typeface="Arial"/>
                <a:cs typeface="Arial"/>
              </a:rPr>
              <a:t>shape and density </a:t>
            </a:r>
            <a:r>
              <a:rPr dirty="0" sz="1200">
                <a:latin typeface="Arial"/>
                <a:cs typeface="Arial"/>
              </a:rPr>
              <a:t>to </a:t>
            </a:r>
            <a:r>
              <a:rPr dirty="0" sz="1200" spc="-5">
                <a:latin typeface="Arial"/>
                <a:cs typeface="Arial"/>
              </a:rPr>
              <a:t>Him. </a:t>
            </a:r>
            <a:r>
              <a:rPr dirty="0" sz="1200">
                <a:latin typeface="Arial"/>
                <a:cs typeface="Arial"/>
              </a:rPr>
              <a:t>This </a:t>
            </a:r>
            <a:r>
              <a:rPr dirty="0" sz="1200" spc="-5">
                <a:latin typeface="Arial"/>
                <a:cs typeface="Arial"/>
              </a:rPr>
              <a:t>brings us </a:t>
            </a:r>
            <a:r>
              <a:rPr dirty="0" sz="1200">
                <a:latin typeface="Arial"/>
                <a:cs typeface="Arial"/>
              </a:rPr>
              <a:t>to </a:t>
            </a:r>
            <a:r>
              <a:rPr dirty="0" sz="1200" spc="-5">
                <a:latin typeface="Arial"/>
                <a:cs typeface="Arial"/>
              </a:rPr>
              <a:t>say </a:t>
            </a:r>
            <a:r>
              <a:rPr dirty="0" sz="1200">
                <a:latin typeface="Arial"/>
                <a:cs typeface="Arial"/>
              </a:rPr>
              <a:t>that </a:t>
            </a:r>
            <a:r>
              <a:rPr dirty="0" sz="1200" spc="-5">
                <a:latin typeface="Arial"/>
                <a:cs typeface="Arial"/>
              </a:rPr>
              <a:t>Allah is a noor, deprived of  head, hands, </a:t>
            </a:r>
            <a:r>
              <a:rPr dirty="0" sz="1200">
                <a:latin typeface="Arial"/>
                <a:cs typeface="Arial"/>
              </a:rPr>
              <a:t>feet, </a:t>
            </a:r>
            <a:r>
              <a:rPr dirty="0" sz="1200" spc="-10">
                <a:latin typeface="Arial"/>
                <a:cs typeface="Arial"/>
              </a:rPr>
              <a:t>nose, </a:t>
            </a:r>
            <a:r>
              <a:rPr dirty="0" sz="1200" spc="-5">
                <a:latin typeface="Arial"/>
                <a:cs typeface="Arial"/>
              </a:rPr>
              <a:t>mouth and any bodily </a:t>
            </a:r>
            <a:r>
              <a:rPr dirty="0" sz="1200">
                <a:latin typeface="Arial"/>
                <a:cs typeface="Arial"/>
              </a:rPr>
              <a:t>part. </a:t>
            </a:r>
            <a:r>
              <a:rPr dirty="0" sz="1200" spc="-5">
                <a:latin typeface="Arial"/>
                <a:cs typeface="Arial"/>
              </a:rPr>
              <a:t>Many </a:t>
            </a:r>
            <a:r>
              <a:rPr dirty="0" sz="1200">
                <a:latin typeface="Arial"/>
                <a:cs typeface="Arial"/>
              </a:rPr>
              <a:t>may say that </a:t>
            </a:r>
            <a:r>
              <a:rPr dirty="0" sz="1200" spc="-5">
                <a:latin typeface="Arial"/>
                <a:cs typeface="Arial"/>
              </a:rPr>
              <a:t>several parts  of physical </a:t>
            </a:r>
            <a:r>
              <a:rPr dirty="0" sz="1200">
                <a:latin typeface="Arial"/>
                <a:cs typeface="Arial"/>
              </a:rPr>
              <a:t>aspects are </a:t>
            </a:r>
            <a:r>
              <a:rPr dirty="0" sz="1200" spc="-5">
                <a:latin typeface="Arial"/>
                <a:cs typeface="Arial"/>
              </a:rPr>
              <a:t>mentioned in the Qur‘an, but it must </a:t>
            </a:r>
            <a:r>
              <a:rPr dirty="0" sz="1200">
                <a:latin typeface="Arial"/>
                <a:cs typeface="Arial"/>
              </a:rPr>
              <a:t>be </a:t>
            </a:r>
            <a:r>
              <a:rPr dirty="0" sz="1200" spc="-10">
                <a:latin typeface="Arial"/>
                <a:cs typeface="Arial"/>
              </a:rPr>
              <a:t>known </a:t>
            </a:r>
            <a:r>
              <a:rPr dirty="0" sz="1200">
                <a:latin typeface="Arial"/>
                <a:cs typeface="Arial"/>
              </a:rPr>
              <a:t>that </a:t>
            </a:r>
            <a:r>
              <a:rPr dirty="0" sz="1200" spc="-5">
                <a:latin typeface="Arial"/>
                <a:cs typeface="Arial"/>
              </a:rPr>
              <a:t>they </a:t>
            </a:r>
            <a:r>
              <a:rPr dirty="0" sz="1200" spc="-10">
                <a:latin typeface="Arial"/>
                <a:cs typeface="Arial"/>
              </a:rPr>
              <a:t>are  </a:t>
            </a:r>
            <a:r>
              <a:rPr dirty="0" sz="1200" spc="-5">
                <a:latin typeface="Arial"/>
                <a:cs typeface="Arial"/>
              </a:rPr>
              <a:t>used</a:t>
            </a:r>
            <a:r>
              <a:rPr dirty="0" sz="1200" spc="-15">
                <a:latin typeface="Arial"/>
                <a:cs typeface="Arial"/>
              </a:rPr>
              <a:t> </a:t>
            </a:r>
            <a:r>
              <a:rPr dirty="0" sz="1200" spc="-5">
                <a:latin typeface="Arial"/>
                <a:cs typeface="Arial"/>
              </a:rPr>
              <a:t>metaphorically.</a:t>
            </a:r>
            <a:endParaRPr sz="1200">
              <a:latin typeface="Arial"/>
              <a:cs typeface="Arial"/>
            </a:endParaRPr>
          </a:p>
          <a:p>
            <a:pPr algn="just" marL="469900" marR="6985" indent="-229235">
              <a:lnSpc>
                <a:spcPts val="1380"/>
              </a:lnSpc>
              <a:buAutoNum type="arabicPeriod"/>
              <a:tabLst>
                <a:tab pos="470534" algn="l"/>
              </a:tabLst>
            </a:pPr>
            <a:r>
              <a:rPr dirty="0" sz="1200" spc="-5">
                <a:latin typeface="Arial"/>
                <a:cs typeface="Arial"/>
              </a:rPr>
              <a:t>Attributes </a:t>
            </a:r>
            <a:r>
              <a:rPr dirty="0" sz="1200">
                <a:latin typeface="Arial"/>
                <a:cs typeface="Arial"/>
              </a:rPr>
              <a:t>– </a:t>
            </a:r>
            <a:r>
              <a:rPr dirty="0" sz="1200" spc="-10">
                <a:latin typeface="Arial"/>
                <a:cs typeface="Arial"/>
              </a:rPr>
              <a:t>no </a:t>
            </a:r>
            <a:r>
              <a:rPr dirty="0" sz="1200" spc="-5">
                <a:latin typeface="Arial"/>
                <a:cs typeface="Arial"/>
              </a:rPr>
              <a:t>one will be able </a:t>
            </a:r>
            <a:r>
              <a:rPr dirty="0" sz="1200">
                <a:latin typeface="Arial"/>
                <a:cs typeface="Arial"/>
              </a:rPr>
              <a:t>to </a:t>
            </a:r>
            <a:r>
              <a:rPr dirty="0" sz="1200" spc="-5">
                <a:latin typeface="Arial"/>
                <a:cs typeface="Arial"/>
              </a:rPr>
              <a:t>possess the same </a:t>
            </a:r>
            <a:r>
              <a:rPr dirty="0" sz="1200">
                <a:latin typeface="Arial"/>
                <a:cs typeface="Arial"/>
              </a:rPr>
              <a:t>qualities </a:t>
            </a:r>
            <a:r>
              <a:rPr dirty="0" sz="1200" spc="-5">
                <a:latin typeface="Arial"/>
                <a:cs typeface="Arial"/>
              </a:rPr>
              <a:t>as Allah does. </a:t>
            </a:r>
            <a:r>
              <a:rPr dirty="0" sz="1200" spc="20">
                <a:latin typeface="Arial"/>
                <a:cs typeface="Arial"/>
              </a:rPr>
              <a:t>We </a:t>
            </a:r>
            <a:r>
              <a:rPr dirty="0" sz="1200" spc="-5">
                <a:latin typeface="Arial"/>
                <a:cs typeface="Arial"/>
              </a:rPr>
              <a:t>can  be forgiving, intelligent, wise, powerful, dependant, merciful, compassionate but not to  </a:t>
            </a:r>
            <a:r>
              <a:rPr dirty="0" sz="1200">
                <a:latin typeface="Arial"/>
                <a:cs typeface="Arial"/>
              </a:rPr>
              <a:t>the </a:t>
            </a:r>
            <a:r>
              <a:rPr dirty="0" sz="1200" spc="-5">
                <a:latin typeface="Arial"/>
                <a:cs typeface="Arial"/>
              </a:rPr>
              <a:t>extent as Allah</a:t>
            </a:r>
            <a:r>
              <a:rPr dirty="0" sz="1200" spc="-20">
                <a:latin typeface="Arial"/>
                <a:cs typeface="Arial"/>
              </a:rPr>
              <a:t> </a:t>
            </a:r>
            <a:r>
              <a:rPr dirty="0" sz="1200">
                <a:latin typeface="Arial"/>
                <a:cs typeface="Arial"/>
              </a:rPr>
              <a:t>is.</a:t>
            </a:r>
            <a:endParaRPr sz="1200">
              <a:latin typeface="Arial"/>
              <a:cs typeface="Arial"/>
            </a:endParaRPr>
          </a:p>
          <a:p>
            <a:pPr algn="just" marL="469900" marR="7620" indent="-229235">
              <a:lnSpc>
                <a:spcPts val="1380"/>
              </a:lnSpc>
              <a:buAutoNum type="arabicPeriod"/>
              <a:tabLst>
                <a:tab pos="470534" algn="l"/>
              </a:tabLst>
            </a:pPr>
            <a:r>
              <a:rPr dirty="0" sz="1200">
                <a:latin typeface="Arial"/>
                <a:cs typeface="Arial"/>
              </a:rPr>
              <a:t>Action – </a:t>
            </a:r>
            <a:r>
              <a:rPr dirty="0" sz="1200" spc="-5">
                <a:latin typeface="Arial"/>
                <a:cs typeface="Arial"/>
              </a:rPr>
              <a:t>when Allah </a:t>
            </a:r>
            <a:r>
              <a:rPr dirty="0" sz="1200">
                <a:latin typeface="Arial"/>
                <a:cs typeface="Arial"/>
              </a:rPr>
              <a:t>decides on </a:t>
            </a:r>
            <a:r>
              <a:rPr dirty="0" sz="1200" spc="-5">
                <a:latin typeface="Arial"/>
                <a:cs typeface="Arial"/>
              </a:rPr>
              <a:t>something, He just </a:t>
            </a:r>
            <a:r>
              <a:rPr dirty="0" sz="1200">
                <a:latin typeface="Arial"/>
                <a:cs typeface="Arial"/>
              </a:rPr>
              <a:t>has to </a:t>
            </a:r>
            <a:r>
              <a:rPr dirty="0" sz="1200" spc="-5">
                <a:latin typeface="Arial"/>
                <a:cs typeface="Arial"/>
              </a:rPr>
              <a:t>say </a:t>
            </a:r>
            <a:r>
              <a:rPr dirty="0" sz="1200" spc="-225">
                <a:latin typeface="Arial"/>
                <a:cs typeface="Arial"/>
              </a:rPr>
              <a:t>―Be‖ </a:t>
            </a:r>
            <a:r>
              <a:rPr dirty="0" sz="1200">
                <a:latin typeface="Arial"/>
                <a:cs typeface="Arial"/>
              </a:rPr>
              <a:t>to </a:t>
            </a:r>
            <a:r>
              <a:rPr dirty="0" sz="1200" spc="-5">
                <a:latin typeface="Arial"/>
                <a:cs typeface="Arial"/>
              </a:rPr>
              <a:t>it and it </a:t>
            </a:r>
            <a:r>
              <a:rPr dirty="0" sz="1200" spc="-10">
                <a:latin typeface="Arial"/>
                <a:cs typeface="Arial"/>
              </a:rPr>
              <a:t>is.  </a:t>
            </a:r>
            <a:r>
              <a:rPr dirty="0" sz="1200" spc="-5">
                <a:latin typeface="Arial"/>
                <a:cs typeface="Arial"/>
              </a:rPr>
              <a:t>However, </a:t>
            </a:r>
            <a:r>
              <a:rPr dirty="0" sz="1200" spc="-10">
                <a:latin typeface="Arial"/>
                <a:cs typeface="Arial"/>
              </a:rPr>
              <a:t>we, </a:t>
            </a:r>
            <a:r>
              <a:rPr dirty="0" sz="1200">
                <a:latin typeface="Arial"/>
                <a:cs typeface="Arial"/>
              </a:rPr>
              <a:t>human </a:t>
            </a:r>
            <a:r>
              <a:rPr dirty="0" sz="1200" spc="-5">
                <a:latin typeface="Arial"/>
                <a:cs typeface="Arial"/>
              </a:rPr>
              <a:t>beings </a:t>
            </a:r>
            <a:r>
              <a:rPr dirty="0" sz="1200">
                <a:latin typeface="Arial"/>
                <a:cs typeface="Arial"/>
              </a:rPr>
              <a:t>must resort to </a:t>
            </a:r>
            <a:r>
              <a:rPr dirty="0" sz="1200" spc="-5">
                <a:latin typeface="Arial"/>
                <a:cs typeface="Arial"/>
              </a:rPr>
              <a:t>resources and material </a:t>
            </a:r>
            <a:r>
              <a:rPr dirty="0" sz="1200">
                <a:latin typeface="Arial"/>
                <a:cs typeface="Arial"/>
              </a:rPr>
              <a:t>for </a:t>
            </a:r>
            <a:r>
              <a:rPr dirty="0" sz="1200" spc="-5">
                <a:latin typeface="Arial"/>
                <a:cs typeface="Arial"/>
              </a:rPr>
              <a:t>the creation or  building of anything.</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The prophet Muhammad (s.a.w) is unique </a:t>
            </a:r>
            <a:r>
              <a:rPr dirty="0" u="heavy" sz="1200" b="1" i="1">
                <a:uFill>
                  <a:solidFill>
                    <a:srgbClr val="000000"/>
                  </a:solidFill>
                </a:uFill>
                <a:latin typeface="Arial"/>
                <a:cs typeface="Arial"/>
              </a:rPr>
              <a:t>on </a:t>
            </a:r>
            <a:r>
              <a:rPr dirty="0" u="heavy" sz="1200" spc="-5" b="1" i="1">
                <a:uFill>
                  <a:solidFill>
                    <a:srgbClr val="000000"/>
                  </a:solidFill>
                </a:uFill>
                <a:latin typeface="Arial"/>
                <a:cs typeface="Arial"/>
              </a:rPr>
              <a:t>four</a:t>
            </a:r>
            <a:r>
              <a:rPr dirty="0" u="heavy" sz="1200" spc="35" b="1" i="1">
                <a:uFill>
                  <a:solidFill>
                    <a:srgbClr val="000000"/>
                  </a:solidFill>
                </a:uFill>
                <a:latin typeface="Arial"/>
                <a:cs typeface="Arial"/>
              </a:rPr>
              <a:t> </a:t>
            </a:r>
            <a:r>
              <a:rPr dirty="0" u="heavy" sz="1200" spc="-5" b="1" i="1">
                <a:uFill>
                  <a:solidFill>
                    <a:srgbClr val="000000"/>
                  </a:solidFill>
                </a:uFill>
                <a:latin typeface="Arial"/>
                <a:cs typeface="Arial"/>
              </a:rPr>
              <a:t>bases.</a:t>
            </a:r>
            <a:endParaRPr sz="1200">
              <a:latin typeface="Arial"/>
              <a:cs typeface="Arial"/>
            </a:endParaRPr>
          </a:p>
          <a:p>
            <a:pPr>
              <a:lnSpc>
                <a:spcPct val="100000"/>
              </a:lnSpc>
              <a:spcBef>
                <a:spcPts val="35"/>
              </a:spcBef>
            </a:pPr>
            <a:endParaRPr sz="1200">
              <a:latin typeface="Arial"/>
              <a:cs typeface="Arial"/>
            </a:endParaRPr>
          </a:p>
          <a:p>
            <a:pPr algn="just" marL="469900" marR="9525" indent="-229235">
              <a:lnSpc>
                <a:spcPts val="1380"/>
              </a:lnSpc>
              <a:buAutoNum type="arabicPeriod"/>
              <a:tabLst>
                <a:tab pos="470534" algn="l"/>
              </a:tabLst>
            </a:pPr>
            <a:r>
              <a:rPr dirty="0" sz="1200" spc="-5">
                <a:latin typeface="Arial"/>
                <a:cs typeface="Arial"/>
              </a:rPr>
              <a:t>He is </a:t>
            </a:r>
            <a:r>
              <a:rPr dirty="0" sz="1200">
                <a:latin typeface="Arial"/>
                <a:cs typeface="Arial"/>
              </a:rPr>
              <a:t>the first </a:t>
            </a:r>
            <a:r>
              <a:rPr dirty="0" sz="1200" spc="-5">
                <a:latin typeface="Arial"/>
                <a:cs typeface="Arial"/>
              </a:rPr>
              <a:t>and the </a:t>
            </a:r>
            <a:r>
              <a:rPr dirty="0" sz="1200">
                <a:latin typeface="Arial"/>
                <a:cs typeface="Arial"/>
              </a:rPr>
              <a:t>last – </a:t>
            </a:r>
            <a:r>
              <a:rPr dirty="0" sz="1200" spc="-5">
                <a:latin typeface="Arial"/>
                <a:cs typeface="Arial"/>
              </a:rPr>
              <a:t>meaning that </a:t>
            </a:r>
            <a:r>
              <a:rPr dirty="0" sz="1200" spc="-10">
                <a:latin typeface="Arial"/>
                <a:cs typeface="Arial"/>
              </a:rPr>
              <a:t>he was </a:t>
            </a:r>
            <a:r>
              <a:rPr dirty="0" sz="1200">
                <a:latin typeface="Arial"/>
                <a:cs typeface="Arial"/>
              </a:rPr>
              <a:t>the first to </a:t>
            </a:r>
            <a:r>
              <a:rPr dirty="0" sz="1200" spc="-5">
                <a:latin typeface="Arial"/>
                <a:cs typeface="Arial"/>
              </a:rPr>
              <a:t>be created by Allah and  </a:t>
            </a:r>
            <a:r>
              <a:rPr dirty="0" sz="1200">
                <a:latin typeface="Arial"/>
                <a:cs typeface="Arial"/>
              </a:rPr>
              <a:t>the </a:t>
            </a:r>
            <a:r>
              <a:rPr dirty="0" sz="1200" spc="-5">
                <a:latin typeface="Arial"/>
                <a:cs typeface="Arial"/>
              </a:rPr>
              <a:t>last </a:t>
            </a:r>
            <a:r>
              <a:rPr dirty="0" sz="1200">
                <a:latin typeface="Arial"/>
                <a:cs typeface="Arial"/>
              </a:rPr>
              <a:t>to be </a:t>
            </a:r>
            <a:r>
              <a:rPr dirty="0" sz="1200" spc="-5">
                <a:latin typeface="Arial"/>
                <a:cs typeface="Arial"/>
              </a:rPr>
              <a:t>sent </a:t>
            </a:r>
            <a:r>
              <a:rPr dirty="0" sz="1200">
                <a:latin typeface="Arial"/>
                <a:cs typeface="Arial"/>
              </a:rPr>
              <a:t>to </a:t>
            </a:r>
            <a:r>
              <a:rPr dirty="0" sz="1200" spc="-5">
                <a:latin typeface="Arial"/>
                <a:cs typeface="Arial"/>
              </a:rPr>
              <a:t>spread </a:t>
            </a:r>
            <a:r>
              <a:rPr dirty="0" sz="1200">
                <a:latin typeface="Arial"/>
                <a:cs typeface="Arial"/>
              </a:rPr>
              <a:t>Islam to</a:t>
            </a:r>
            <a:r>
              <a:rPr dirty="0" sz="1200" spc="-35">
                <a:latin typeface="Arial"/>
                <a:cs typeface="Arial"/>
              </a:rPr>
              <a:t> </a:t>
            </a:r>
            <a:r>
              <a:rPr dirty="0" sz="1200" spc="-5">
                <a:latin typeface="Arial"/>
                <a:cs typeface="Arial"/>
              </a:rPr>
              <a:t>Mankind.</a:t>
            </a:r>
            <a:endParaRPr sz="1200">
              <a:latin typeface="Arial"/>
              <a:cs typeface="Arial"/>
            </a:endParaRPr>
          </a:p>
          <a:p>
            <a:pPr algn="just" marL="469900" marR="5715" indent="-229235">
              <a:lnSpc>
                <a:spcPts val="1380"/>
              </a:lnSpc>
              <a:buAutoNum type="arabicPeriod"/>
              <a:tabLst>
                <a:tab pos="470534" algn="l"/>
              </a:tabLst>
            </a:pPr>
            <a:r>
              <a:rPr dirty="0" sz="1200" spc="-5">
                <a:latin typeface="Arial"/>
                <a:cs typeface="Arial"/>
              </a:rPr>
              <a:t>He is </a:t>
            </a:r>
            <a:r>
              <a:rPr dirty="0" sz="1200">
                <a:latin typeface="Arial"/>
                <a:cs typeface="Arial"/>
              </a:rPr>
              <a:t>considered </a:t>
            </a:r>
            <a:r>
              <a:rPr dirty="0" sz="1200" spc="-5">
                <a:latin typeface="Arial"/>
                <a:cs typeface="Arial"/>
              </a:rPr>
              <a:t>as a universal prophet </a:t>
            </a:r>
            <a:r>
              <a:rPr dirty="0" sz="1200">
                <a:latin typeface="Arial"/>
                <a:cs typeface="Arial"/>
              </a:rPr>
              <a:t>– </a:t>
            </a:r>
            <a:r>
              <a:rPr dirty="0" sz="1200" spc="-5">
                <a:latin typeface="Arial"/>
                <a:cs typeface="Arial"/>
              </a:rPr>
              <a:t>meaning </a:t>
            </a:r>
            <a:r>
              <a:rPr dirty="0" sz="1200">
                <a:latin typeface="Arial"/>
                <a:cs typeface="Arial"/>
              </a:rPr>
              <a:t>that </a:t>
            </a:r>
            <a:r>
              <a:rPr dirty="0" sz="1200" spc="-10">
                <a:latin typeface="Arial"/>
                <a:cs typeface="Arial"/>
              </a:rPr>
              <a:t>he </a:t>
            </a:r>
            <a:r>
              <a:rPr dirty="0" sz="1200" spc="-5">
                <a:latin typeface="Arial"/>
                <a:cs typeface="Arial"/>
              </a:rPr>
              <a:t>has been prophesised </a:t>
            </a:r>
            <a:r>
              <a:rPr dirty="0" sz="1200" spc="-10">
                <a:latin typeface="Arial"/>
                <a:cs typeface="Arial"/>
              </a:rPr>
              <a:t>by  </a:t>
            </a:r>
            <a:r>
              <a:rPr dirty="0" sz="1200" spc="-5">
                <a:latin typeface="Arial"/>
                <a:cs typeface="Arial"/>
              </a:rPr>
              <a:t>all prophets before </a:t>
            </a:r>
            <a:r>
              <a:rPr dirty="0" sz="1200">
                <a:latin typeface="Arial"/>
                <a:cs typeface="Arial"/>
              </a:rPr>
              <a:t>his coming </a:t>
            </a:r>
            <a:r>
              <a:rPr dirty="0" sz="1200" spc="-5">
                <a:latin typeface="Arial"/>
                <a:cs typeface="Arial"/>
              </a:rPr>
              <a:t>and is accepted </a:t>
            </a:r>
            <a:r>
              <a:rPr dirty="0" sz="1200">
                <a:latin typeface="Arial"/>
                <a:cs typeface="Arial"/>
              </a:rPr>
              <a:t>by all by </a:t>
            </a:r>
            <a:r>
              <a:rPr dirty="0" sz="1200" spc="-5">
                <a:latin typeface="Arial"/>
                <a:cs typeface="Arial"/>
              </a:rPr>
              <a:t>the leader of all</a:t>
            </a:r>
            <a:r>
              <a:rPr dirty="0" sz="1200" spc="20">
                <a:latin typeface="Arial"/>
                <a:cs typeface="Arial"/>
              </a:rPr>
              <a:t> </a:t>
            </a:r>
            <a:r>
              <a:rPr dirty="0" sz="1200" spc="-5">
                <a:latin typeface="Arial"/>
                <a:cs typeface="Arial"/>
              </a:rPr>
              <a:t>prophets.</a:t>
            </a:r>
            <a:endParaRPr sz="1200">
              <a:latin typeface="Arial"/>
              <a:cs typeface="Arial"/>
            </a:endParaRPr>
          </a:p>
          <a:p>
            <a:pPr algn="just" marL="469900" marR="5080" indent="-229235">
              <a:lnSpc>
                <a:spcPts val="1380"/>
              </a:lnSpc>
              <a:buAutoNum type="arabicPeriod"/>
              <a:tabLst>
                <a:tab pos="470534" algn="l"/>
              </a:tabLst>
            </a:pPr>
            <a:r>
              <a:rPr dirty="0" sz="1200" spc="-5">
                <a:latin typeface="Arial"/>
                <a:cs typeface="Arial"/>
              </a:rPr>
              <a:t>His message is considered as a universal message </a:t>
            </a:r>
            <a:r>
              <a:rPr dirty="0" sz="1200">
                <a:latin typeface="Arial"/>
                <a:cs typeface="Arial"/>
              </a:rPr>
              <a:t>– </a:t>
            </a:r>
            <a:r>
              <a:rPr dirty="0" sz="1200" spc="-5">
                <a:latin typeface="Arial"/>
                <a:cs typeface="Arial"/>
              </a:rPr>
              <a:t>meaning that the </a:t>
            </a:r>
            <a:r>
              <a:rPr dirty="0" sz="1200">
                <a:latin typeface="Arial"/>
                <a:cs typeface="Arial"/>
              </a:rPr>
              <a:t>Qur‘an </a:t>
            </a:r>
            <a:r>
              <a:rPr dirty="0" sz="1200" spc="-5">
                <a:latin typeface="Arial"/>
                <a:cs typeface="Arial"/>
              </a:rPr>
              <a:t>is a  book of guidance </a:t>
            </a:r>
            <a:r>
              <a:rPr dirty="0" sz="1200">
                <a:latin typeface="Arial"/>
                <a:cs typeface="Arial"/>
              </a:rPr>
              <a:t>for </a:t>
            </a:r>
            <a:r>
              <a:rPr dirty="0" sz="1200" spc="-5">
                <a:latin typeface="Arial"/>
                <a:cs typeface="Arial"/>
              </a:rPr>
              <a:t>all </a:t>
            </a:r>
            <a:r>
              <a:rPr dirty="0" sz="1200">
                <a:latin typeface="Arial"/>
                <a:cs typeface="Arial"/>
              </a:rPr>
              <a:t>times to </a:t>
            </a:r>
            <a:r>
              <a:rPr dirty="0" sz="1200" spc="-5">
                <a:latin typeface="Arial"/>
                <a:cs typeface="Arial"/>
              </a:rPr>
              <a:t>come. </a:t>
            </a:r>
            <a:r>
              <a:rPr dirty="0" sz="1200">
                <a:latin typeface="Arial"/>
                <a:cs typeface="Arial"/>
              </a:rPr>
              <a:t>It </a:t>
            </a:r>
            <a:r>
              <a:rPr dirty="0" sz="1200" spc="-10">
                <a:latin typeface="Arial"/>
                <a:cs typeface="Arial"/>
              </a:rPr>
              <a:t>will </a:t>
            </a:r>
            <a:r>
              <a:rPr dirty="0" sz="1200" spc="-5">
                <a:latin typeface="Arial"/>
                <a:cs typeface="Arial"/>
              </a:rPr>
              <a:t>never change and </a:t>
            </a:r>
            <a:r>
              <a:rPr dirty="0" sz="1200" spc="-10">
                <a:latin typeface="Arial"/>
                <a:cs typeface="Arial"/>
              </a:rPr>
              <a:t>no </a:t>
            </a:r>
            <a:r>
              <a:rPr dirty="0" sz="1200" spc="-5">
                <a:latin typeface="Arial"/>
                <a:cs typeface="Arial"/>
              </a:rPr>
              <a:t>book </a:t>
            </a:r>
            <a:r>
              <a:rPr dirty="0" sz="1200" spc="-10">
                <a:latin typeface="Arial"/>
                <a:cs typeface="Arial"/>
              </a:rPr>
              <a:t>will </a:t>
            </a:r>
            <a:r>
              <a:rPr dirty="0" sz="1200" spc="-5">
                <a:latin typeface="Arial"/>
                <a:cs typeface="Arial"/>
              </a:rPr>
              <a:t>be </a:t>
            </a:r>
            <a:r>
              <a:rPr dirty="0" sz="1200">
                <a:latin typeface="Arial"/>
                <a:cs typeface="Arial"/>
              </a:rPr>
              <a:t>sent  after</a:t>
            </a:r>
            <a:r>
              <a:rPr dirty="0" sz="1200" spc="-5">
                <a:latin typeface="Arial"/>
                <a:cs typeface="Arial"/>
              </a:rPr>
              <a:t> </a:t>
            </a:r>
            <a:r>
              <a:rPr dirty="0" sz="1200">
                <a:latin typeface="Arial"/>
                <a:cs typeface="Arial"/>
              </a:rPr>
              <a:t>it.</a:t>
            </a:r>
            <a:endParaRPr sz="1200">
              <a:latin typeface="Arial"/>
              <a:cs typeface="Arial"/>
            </a:endParaRPr>
          </a:p>
          <a:p>
            <a:pPr algn="just" marL="469900" marR="5080" indent="-229235">
              <a:lnSpc>
                <a:spcPts val="1380"/>
              </a:lnSpc>
              <a:buAutoNum type="arabicPeriod"/>
              <a:tabLst>
                <a:tab pos="470534" algn="l"/>
              </a:tabLst>
            </a:pPr>
            <a:r>
              <a:rPr dirty="0" sz="1200" spc="-5">
                <a:latin typeface="Arial"/>
                <a:cs typeface="Arial"/>
              </a:rPr>
              <a:t>He is </a:t>
            </a:r>
            <a:r>
              <a:rPr dirty="0" sz="1200">
                <a:latin typeface="Arial"/>
                <a:cs typeface="Arial"/>
              </a:rPr>
              <a:t>considered </a:t>
            </a:r>
            <a:r>
              <a:rPr dirty="0" sz="1200" spc="-5">
                <a:latin typeface="Arial"/>
                <a:cs typeface="Arial"/>
              </a:rPr>
              <a:t>as a </a:t>
            </a:r>
            <a:r>
              <a:rPr dirty="0" sz="1200">
                <a:latin typeface="Arial"/>
                <a:cs typeface="Arial"/>
              </a:rPr>
              <a:t>mercy for </a:t>
            </a:r>
            <a:r>
              <a:rPr dirty="0" sz="1200" spc="-5">
                <a:latin typeface="Arial"/>
                <a:cs typeface="Arial"/>
              </a:rPr>
              <a:t>Mankind </a:t>
            </a:r>
            <a:r>
              <a:rPr dirty="0" sz="1200">
                <a:latin typeface="Arial"/>
                <a:cs typeface="Arial"/>
              </a:rPr>
              <a:t>– </a:t>
            </a:r>
            <a:r>
              <a:rPr dirty="0" sz="1200" spc="-5">
                <a:latin typeface="Arial"/>
                <a:cs typeface="Arial"/>
              </a:rPr>
              <a:t>meaning </a:t>
            </a:r>
            <a:r>
              <a:rPr dirty="0" sz="1200">
                <a:latin typeface="Arial"/>
                <a:cs typeface="Arial"/>
              </a:rPr>
              <a:t>that </a:t>
            </a:r>
            <a:r>
              <a:rPr dirty="0" sz="1200" spc="-5">
                <a:latin typeface="Arial"/>
                <a:cs typeface="Arial"/>
              </a:rPr>
              <a:t>he </a:t>
            </a:r>
            <a:r>
              <a:rPr dirty="0" sz="1200" spc="-10">
                <a:latin typeface="Arial"/>
                <a:cs typeface="Arial"/>
              </a:rPr>
              <a:t>was </a:t>
            </a:r>
            <a:r>
              <a:rPr dirty="0" sz="1200">
                <a:latin typeface="Arial"/>
                <a:cs typeface="Arial"/>
              </a:rPr>
              <a:t>sent </a:t>
            </a:r>
            <a:r>
              <a:rPr dirty="0" sz="1200" spc="-5">
                <a:latin typeface="Arial"/>
                <a:cs typeface="Arial"/>
              </a:rPr>
              <a:t>not as a  destructor but as a </a:t>
            </a:r>
            <a:r>
              <a:rPr dirty="0" sz="1200">
                <a:latin typeface="Arial"/>
                <a:cs typeface="Arial"/>
              </a:rPr>
              <a:t>mercy </a:t>
            </a:r>
            <a:r>
              <a:rPr dirty="0" sz="1200" spc="-5">
                <a:latin typeface="Arial"/>
                <a:cs typeface="Arial"/>
              </a:rPr>
              <a:t>towards both Muslims and non-Muslims, animals </a:t>
            </a:r>
            <a:r>
              <a:rPr dirty="0" sz="1200" spc="-10">
                <a:latin typeface="Arial"/>
                <a:cs typeface="Arial"/>
              </a:rPr>
              <a:t>and  </a:t>
            </a:r>
            <a:r>
              <a:rPr dirty="0" sz="1200">
                <a:latin typeface="Arial"/>
                <a:cs typeface="Arial"/>
              </a:rPr>
              <a:t>plants, </a:t>
            </a:r>
            <a:r>
              <a:rPr dirty="0" sz="1200" spc="-5">
                <a:latin typeface="Arial"/>
                <a:cs typeface="Arial"/>
              </a:rPr>
              <a:t>jinn and</a:t>
            </a:r>
            <a:r>
              <a:rPr dirty="0" sz="1200" spc="-15">
                <a:latin typeface="Arial"/>
                <a:cs typeface="Arial"/>
              </a:rPr>
              <a:t> </a:t>
            </a:r>
            <a:r>
              <a:rPr dirty="0" sz="1200" spc="-5">
                <a:latin typeface="Arial"/>
                <a:cs typeface="Arial"/>
              </a:rPr>
              <a:t>angels.</a:t>
            </a:r>
            <a:endParaRPr sz="1200">
              <a:latin typeface="Arial"/>
              <a:cs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6309995" cy="897128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Swalaat: Prayer</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spc="-5">
                <a:latin typeface="Arial"/>
                <a:cs typeface="Arial"/>
              </a:rPr>
              <a:t>All prophets before the </a:t>
            </a:r>
            <a:r>
              <a:rPr dirty="0" sz="1200">
                <a:latin typeface="Arial"/>
                <a:cs typeface="Arial"/>
              </a:rPr>
              <a:t>coming </a:t>
            </a:r>
            <a:r>
              <a:rPr dirty="0" sz="1200" spc="-5">
                <a:latin typeface="Arial"/>
                <a:cs typeface="Arial"/>
              </a:rPr>
              <a:t>of the holy </a:t>
            </a:r>
            <a:r>
              <a:rPr dirty="0" sz="1200">
                <a:latin typeface="Arial"/>
                <a:cs typeface="Arial"/>
              </a:rPr>
              <a:t>prophet </a:t>
            </a:r>
            <a:r>
              <a:rPr dirty="0" sz="1200" spc="-5">
                <a:latin typeface="Arial"/>
                <a:cs typeface="Arial"/>
              </a:rPr>
              <a:t>(s.a.w) </a:t>
            </a:r>
            <a:r>
              <a:rPr dirty="0" sz="1200">
                <a:latin typeface="Arial"/>
                <a:cs typeface="Arial"/>
              </a:rPr>
              <a:t>had </a:t>
            </a:r>
            <a:r>
              <a:rPr dirty="0" sz="1200" spc="-5">
                <a:latin typeface="Arial"/>
                <a:cs typeface="Arial"/>
              </a:rPr>
              <a:t>their Swalaat </a:t>
            </a:r>
            <a:r>
              <a:rPr dirty="0" sz="1200">
                <a:latin typeface="Arial"/>
                <a:cs typeface="Arial"/>
              </a:rPr>
              <a:t>– </a:t>
            </a:r>
            <a:r>
              <a:rPr dirty="0" sz="1200" spc="-5">
                <a:latin typeface="Arial"/>
                <a:cs typeface="Arial"/>
              </a:rPr>
              <a:t>namaz </a:t>
            </a:r>
            <a:r>
              <a:rPr dirty="0" sz="1200">
                <a:latin typeface="Arial"/>
                <a:cs typeface="Arial"/>
              </a:rPr>
              <a:t>for </a:t>
            </a:r>
            <a:r>
              <a:rPr dirty="0" sz="1200" spc="-5">
                <a:latin typeface="Arial"/>
                <a:cs typeface="Arial"/>
              </a:rPr>
              <a:t>their  </a:t>
            </a:r>
            <a:r>
              <a:rPr dirty="0" sz="1200" spc="-10">
                <a:latin typeface="Arial"/>
                <a:cs typeface="Arial"/>
              </a:rPr>
              <a:t>own </a:t>
            </a:r>
            <a:r>
              <a:rPr dirty="0" sz="1200">
                <a:latin typeface="Arial"/>
                <a:cs typeface="Arial"/>
              </a:rPr>
              <a:t>people. When </a:t>
            </a:r>
            <a:r>
              <a:rPr dirty="0" sz="1200" spc="-5">
                <a:latin typeface="Arial"/>
                <a:cs typeface="Arial"/>
              </a:rPr>
              <a:t>the </a:t>
            </a:r>
            <a:r>
              <a:rPr dirty="0" sz="1200">
                <a:latin typeface="Arial"/>
                <a:cs typeface="Arial"/>
              </a:rPr>
              <a:t>prophet </a:t>
            </a:r>
            <a:r>
              <a:rPr dirty="0" sz="1200" spc="-5">
                <a:latin typeface="Arial"/>
                <a:cs typeface="Arial"/>
              </a:rPr>
              <a:t>(s.a.w) </a:t>
            </a:r>
            <a:r>
              <a:rPr dirty="0" sz="1200">
                <a:latin typeface="Arial"/>
                <a:cs typeface="Arial"/>
              </a:rPr>
              <a:t>came, he </a:t>
            </a:r>
            <a:r>
              <a:rPr dirty="0" sz="1200" spc="-5">
                <a:latin typeface="Arial"/>
                <a:cs typeface="Arial"/>
              </a:rPr>
              <a:t>perfected the institution of Swalaat. </a:t>
            </a:r>
            <a:r>
              <a:rPr dirty="0" sz="1200">
                <a:latin typeface="Arial"/>
                <a:cs typeface="Arial"/>
              </a:rPr>
              <a:t>It </a:t>
            </a:r>
            <a:r>
              <a:rPr dirty="0" sz="1200" spc="-5">
                <a:latin typeface="Arial"/>
                <a:cs typeface="Arial"/>
              </a:rPr>
              <a:t>is thus  divided into Farz, </a:t>
            </a:r>
            <a:r>
              <a:rPr dirty="0" sz="1200" spc="5">
                <a:latin typeface="Arial"/>
                <a:cs typeface="Arial"/>
              </a:rPr>
              <a:t>Wajib, </a:t>
            </a:r>
            <a:r>
              <a:rPr dirty="0" sz="1200" spc="-5">
                <a:latin typeface="Arial"/>
                <a:cs typeface="Arial"/>
              </a:rPr>
              <a:t>Sunnah Mu‘akkidah, Sunnah Ghair Mu‘akkidah and Nawafil (Nafil).  All of them </a:t>
            </a:r>
            <a:r>
              <a:rPr dirty="0" sz="1200">
                <a:latin typeface="Arial"/>
                <a:cs typeface="Arial"/>
              </a:rPr>
              <a:t>are </a:t>
            </a:r>
            <a:r>
              <a:rPr dirty="0" sz="1200" spc="-5">
                <a:latin typeface="Arial"/>
                <a:cs typeface="Arial"/>
              </a:rPr>
              <a:t>important </a:t>
            </a:r>
            <a:r>
              <a:rPr dirty="0" sz="1200">
                <a:latin typeface="Arial"/>
                <a:cs typeface="Arial"/>
              </a:rPr>
              <a:t>for the </a:t>
            </a:r>
            <a:r>
              <a:rPr dirty="0" sz="1200" spc="-5">
                <a:latin typeface="Arial"/>
                <a:cs typeface="Arial"/>
              </a:rPr>
              <a:t>progress of</a:t>
            </a:r>
            <a:r>
              <a:rPr dirty="0" sz="1200">
                <a:latin typeface="Arial"/>
                <a:cs typeface="Arial"/>
              </a:rPr>
              <a:t> </a:t>
            </a:r>
            <a:r>
              <a:rPr dirty="0" sz="1200" spc="-5">
                <a:latin typeface="Arial"/>
                <a:cs typeface="Arial"/>
              </a:rPr>
              <a:t>Mankind.</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There are </a:t>
            </a:r>
            <a:r>
              <a:rPr dirty="0" u="heavy" sz="1200" b="1" i="1">
                <a:uFill>
                  <a:solidFill>
                    <a:srgbClr val="000000"/>
                  </a:solidFill>
                </a:uFill>
                <a:latin typeface="Arial"/>
                <a:cs typeface="Arial"/>
              </a:rPr>
              <a:t>different </a:t>
            </a:r>
            <a:r>
              <a:rPr dirty="0" u="heavy" sz="1200" spc="-5" b="1" i="1">
                <a:uFill>
                  <a:solidFill>
                    <a:srgbClr val="000000"/>
                  </a:solidFill>
                </a:uFill>
                <a:latin typeface="Arial"/>
                <a:cs typeface="Arial"/>
              </a:rPr>
              <a:t>steps </a:t>
            </a:r>
            <a:r>
              <a:rPr dirty="0" u="heavy" sz="1200" b="1" i="1">
                <a:uFill>
                  <a:solidFill>
                    <a:srgbClr val="000000"/>
                  </a:solidFill>
                </a:uFill>
                <a:latin typeface="Arial"/>
                <a:cs typeface="Arial"/>
              </a:rPr>
              <a:t>in </a:t>
            </a:r>
            <a:r>
              <a:rPr dirty="0" u="heavy" sz="1200" spc="-5" b="1" i="1">
                <a:uFill>
                  <a:solidFill>
                    <a:srgbClr val="000000"/>
                  </a:solidFill>
                </a:uFill>
                <a:latin typeface="Arial"/>
                <a:cs typeface="Arial"/>
              </a:rPr>
              <a:t>Swalaat such as </a:t>
            </a:r>
            <a:r>
              <a:rPr dirty="0" u="heavy" sz="1200" b="1" i="1">
                <a:uFill>
                  <a:solidFill>
                    <a:srgbClr val="000000"/>
                  </a:solidFill>
                </a:uFill>
                <a:latin typeface="Arial"/>
                <a:cs typeface="Arial"/>
              </a:rPr>
              <a:t>the:</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Takbeer</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Qiyam</a:t>
            </a:r>
            <a:endParaRPr sz="1200">
              <a:latin typeface="Arial"/>
              <a:cs typeface="Arial"/>
            </a:endParaRPr>
          </a:p>
          <a:p>
            <a:pPr marL="469900" indent="-229235">
              <a:lnSpc>
                <a:spcPts val="1380"/>
              </a:lnSpc>
              <a:buAutoNum type="arabicPeriod"/>
              <a:tabLst>
                <a:tab pos="470534" algn="l"/>
              </a:tabLst>
            </a:pPr>
            <a:r>
              <a:rPr dirty="0" sz="1200">
                <a:latin typeface="Arial"/>
                <a:cs typeface="Arial"/>
              </a:rPr>
              <a:t>Ruku‘</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Sajdah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Jalsah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Qa‘dah</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Salaam.</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sz="1200" spc="-5">
                <a:latin typeface="Arial"/>
                <a:cs typeface="Arial"/>
              </a:rPr>
              <a:t>All of them </a:t>
            </a:r>
            <a:r>
              <a:rPr dirty="0" sz="1200">
                <a:latin typeface="Arial"/>
                <a:cs typeface="Arial"/>
              </a:rPr>
              <a:t>must </a:t>
            </a:r>
            <a:r>
              <a:rPr dirty="0" sz="1200" spc="-5">
                <a:latin typeface="Arial"/>
                <a:cs typeface="Arial"/>
              </a:rPr>
              <a:t>be incorporated in Swalaat. Any </a:t>
            </a:r>
            <a:r>
              <a:rPr dirty="0" sz="1200">
                <a:latin typeface="Arial"/>
                <a:cs typeface="Arial"/>
              </a:rPr>
              <a:t>omission </a:t>
            </a:r>
            <a:r>
              <a:rPr dirty="0" sz="1200" spc="-10">
                <a:latin typeface="Arial"/>
                <a:cs typeface="Arial"/>
              </a:rPr>
              <a:t>will </a:t>
            </a:r>
            <a:r>
              <a:rPr dirty="0" sz="1200" spc="-5">
                <a:latin typeface="Arial"/>
                <a:cs typeface="Arial"/>
              </a:rPr>
              <a:t>render the Swalaat</a:t>
            </a:r>
            <a:r>
              <a:rPr dirty="0" sz="1200" spc="80">
                <a:latin typeface="Arial"/>
                <a:cs typeface="Arial"/>
              </a:rPr>
              <a:t> </a:t>
            </a:r>
            <a:r>
              <a:rPr dirty="0" sz="1200" spc="-5">
                <a:latin typeface="Arial"/>
                <a:cs typeface="Arial"/>
              </a:rPr>
              <a:t>void.</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5" b="1" i="1">
                <a:uFill>
                  <a:solidFill>
                    <a:srgbClr val="000000"/>
                  </a:solidFill>
                </a:uFill>
                <a:latin typeface="Arial"/>
                <a:cs typeface="Arial"/>
              </a:rPr>
              <a:t>There are some conditions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be respected for Swalaat </a:t>
            </a:r>
            <a:r>
              <a:rPr dirty="0" u="heavy" sz="1200" b="1" i="1">
                <a:uFill>
                  <a:solidFill>
                    <a:srgbClr val="000000"/>
                  </a:solidFill>
                </a:uFill>
                <a:latin typeface="Arial"/>
                <a:cs typeface="Arial"/>
              </a:rPr>
              <a:t>such</a:t>
            </a:r>
            <a:r>
              <a:rPr dirty="0" u="heavy" sz="1200" spc="35" b="1" i="1">
                <a:uFill>
                  <a:solidFill>
                    <a:srgbClr val="000000"/>
                  </a:solidFill>
                </a:uFill>
                <a:latin typeface="Arial"/>
                <a:cs typeface="Arial"/>
              </a:rPr>
              <a:t> </a:t>
            </a:r>
            <a:r>
              <a:rPr dirty="0" u="heavy" sz="1200" spc="5" b="1" i="1">
                <a:uFill>
                  <a:solidFill>
                    <a:srgbClr val="000000"/>
                  </a:solidFill>
                </a:uFill>
                <a:latin typeface="Arial"/>
                <a:cs typeface="Arial"/>
              </a:rPr>
              <a:t>as:</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To </a:t>
            </a:r>
            <a:r>
              <a:rPr dirty="0" sz="1200">
                <a:latin typeface="Arial"/>
                <a:cs typeface="Arial"/>
              </a:rPr>
              <a:t>be </a:t>
            </a:r>
            <a:r>
              <a:rPr dirty="0" sz="1200" spc="-5">
                <a:latin typeface="Arial"/>
                <a:cs typeface="Arial"/>
              </a:rPr>
              <a:t>a</a:t>
            </a:r>
            <a:r>
              <a:rPr dirty="0" sz="1200" spc="-30">
                <a:latin typeface="Arial"/>
                <a:cs typeface="Arial"/>
              </a:rPr>
              <a:t> </a:t>
            </a:r>
            <a:r>
              <a:rPr dirty="0" sz="1200" spc="-5">
                <a:latin typeface="Arial"/>
                <a:cs typeface="Arial"/>
              </a:rPr>
              <a:t>Muslim</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spc="-5">
                <a:latin typeface="Arial"/>
                <a:cs typeface="Arial"/>
              </a:rPr>
              <a:t>attain the age of</a:t>
            </a:r>
            <a:r>
              <a:rPr dirty="0" sz="1200" spc="-15">
                <a:latin typeface="Arial"/>
                <a:cs typeface="Arial"/>
              </a:rPr>
              <a:t> </a:t>
            </a:r>
            <a:r>
              <a:rPr dirty="0" sz="1200" spc="-5">
                <a:latin typeface="Arial"/>
                <a:cs typeface="Arial"/>
              </a:rPr>
              <a:t>puberty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a:latin typeface="Arial"/>
                <a:cs typeface="Arial"/>
              </a:rPr>
              <a:t>be </a:t>
            </a:r>
            <a:r>
              <a:rPr dirty="0" sz="1200" spc="-10">
                <a:latin typeface="Arial"/>
                <a:cs typeface="Arial"/>
              </a:rPr>
              <a:t>sane </a:t>
            </a:r>
            <a:r>
              <a:rPr dirty="0" sz="1200" spc="-5">
                <a:latin typeface="Arial"/>
                <a:cs typeface="Arial"/>
              </a:rPr>
              <a:t>of</a:t>
            </a:r>
            <a:r>
              <a:rPr dirty="0" sz="1200" spc="-10">
                <a:latin typeface="Arial"/>
                <a:cs typeface="Arial"/>
              </a:rPr>
              <a:t> </a:t>
            </a:r>
            <a:r>
              <a:rPr dirty="0" sz="1200" spc="-5">
                <a:latin typeface="Arial"/>
                <a:cs typeface="Arial"/>
              </a:rPr>
              <a:t>mind</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a:latin typeface="Arial"/>
                <a:cs typeface="Arial"/>
              </a:rPr>
              <a:t>be </a:t>
            </a:r>
            <a:r>
              <a:rPr dirty="0" sz="1200" spc="-10">
                <a:latin typeface="Arial"/>
                <a:cs typeface="Arial"/>
              </a:rPr>
              <a:t>in </a:t>
            </a:r>
            <a:r>
              <a:rPr dirty="0" sz="1200" spc="-5">
                <a:latin typeface="Arial"/>
                <a:cs typeface="Arial"/>
              </a:rPr>
              <a:t>the state of Taharaat (Ghusal and</a:t>
            </a:r>
            <a:r>
              <a:rPr dirty="0" sz="1200" spc="5">
                <a:latin typeface="Arial"/>
                <a:cs typeface="Arial"/>
              </a:rPr>
              <a:t> </a:t>
            </a:r>
            <a:r>
              <a:rPr dirty="0" sz="1200" spc="-5">
                <a:latin typeface="Arial"/>
                <a:cs typeface="Arial"/>
              </a:rPr>
              <a:t>Wudhu)</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spc="-5">
                <a:latin typeface="Arial"/>
                <a:cs typeface="Arial"/>
              </a:rPr>
              <a:t>wait </a:t>
            </a:r>
            <a:r>
              <a:rPr dirty="0" sz="1200" spc="5">
                <a:latin typeface="Arial"/>
                <a:cs typeface="Arial"/>
              </a:rPr>
              <a:t>for </a:t>
            </a:r>
            <a:r>
              <a:rPr dirty="0" sz="1200">
                <a:latin typeface="Arial"/>
                <a:cs typeface="Arial"/>
              </a:rPr>
              <a:t>the Time </a:t>
            </a:r>
            <a:r>
              <a:rPr dirty="0" sz="1200" spc="-5">
                <a:latin typeface="Arial"/>
                <a:cs typeface="Arial"/>
              </a:rPr>
              <a:t>of</a:t>
            </a:r>
            <a:r>
              <a:rPr dirty="0" sz="1200" spc="-55">
                <a:latin typeface="Arial"/>
                <a:cs typeface="Arial"/>
              </a:rPr>
              <a:t> </a:t>
            </a:r>
            <a:r>
              <a:rPr dirty="0" sz="1200" spc="-5">
                <a:latin typeface="Arial"/>
                <a:cs typeface="Arial"/>
              </a:rPr>
              <a:t>Swalaat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a:latin typeface="Arial"/>
                <a:cs typeface="Arial"/>
              </a:rPr>
              <a:t>find </a:t>
            </a:r>
            <a:r>
              <a:rPr dirty="0" sz="1200" spc="-5">
                <a:latin typeface="Arial"/>
                <a:cs typeface="Arial"/>
              </a:rPr>
              <a:t>a proper Place of</a:t>
            </a:r>
            <a:r>
              <a:rPr dirty="0" sz="1200" spc="-20">
                <a:latin typeface="Arial"/>
                <a:cs typeface="Arial"/>
              </a:rPr>
              <a:t> </a:t>
            </a:r>
            <a:r>
              <a:rPr dirty="0" sz="1200" spc="-5">
                <a:latin typeface="Arial"/>
                <a:cs typeface="Arial"/>
              </a:rPr>
              <a:t>worship</a:t>
            </a:r>
            <a:endParaRPr sz="1200">
              <a:latin typeface="Arial"/>
              <a:cs typeface="Arial"/>
            </a:endParaRPr>
          </a:p>
          <a:p>
            <a:pPr marL="469900" indent="-229235">
              <a:lnSpc>
                <a:spcPts val="1380"/>
              </a:lnSpc>
              <a:buAutoNum type="arabicPeriod"/>
              <a:tabLst>
                <a:tab pos="470534" algn="l"/>
              </a:tabLst>
            </a:pPr>
            <a:r>
              <a:rPr dirty="0" sz="1200">
                <a:latin typeface="Arial"/>
                <a:cs typeface="Arial"/>
              </a:rPr>
              <a:t>To </a:t>
            </a:r>
            <a:r>
              <a:rPr dirty="0" sz="1200" spc="-5">
                <a:latin typeface="Arial"/>
                <a:cs typeface="Arial"/>
              </a:rPr>
              <a:t>wear clean</a:t>
            </a:r>
            <a:r>
              <a:rPr dirty="0" sz="1200" spc="-10">
                <a:latin typeface="Arial"/>
                <a:cs typeface="Arial"/>
              </a:rPr>
              <a:t> </a:t>
            </a:r>
            <a:r>
              <a:rPr dirty="0" sz="1200" spc="-5">
                <a:latin typeface="Arial"/>
                <a:cs typeface="Arial"/>
              </a:rPr>
              <a:t>cloth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a:latin typeface="Arial"/>
                <a:cs typeface="Arial"/>
              </a:rPr>
              <a:t>find the </a:t>
            </a:r>
            <a:r>
              <a:rPr dirty="0" sz="1200" spc="-5">
                <a:latin typeface="Arial"/>
                <a:cs typeface="Arial"/>
              </a:rPr>
              <a:t>Direction of</a:t>
            </a:r>
            <a:r>
              <a:rPr dirty="0" sz="1200" spc="-50">
                <a:latin typeface="Arial"/>
                <a:cs typeface="Arial"/>
              </a:rPr>
              <a:t> </a:t>
            </a:r>
            <a:r>
              <a:rPr dirty="0" sz="1200" spc="-5">
                <a:latin typeface="Arial"/>
                <a:cs typeface="Arial"/>
              </a:rPr>
              <a:t>Qiblah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spc="-5">
                <a:latin typeface="Arial"/>
                <a:cs typeface="Arial"/>
              </a:rPr>
              <a:t>formulate the Intention (Niyyat) </a:t>
            </a:r>
            <a:r>
              <a:rPr dirty="0" sz="1200">
                <a:latin typeface="Arial"/>
                <a:cs typeface="Arial"/>
              </a:rPr>
              <a:t>of</a:t>
            </a:r>
            <a:r>
              <a:rPr dirty="0" sz="1200" spc="5">
                <a:latin typeface="Arial"/>
                <a:cs typeface="Arial"/>
              </a:rPr>
              <a:t> </a:t>
            </a:r>
            <a:r>
              <a:rPr dirty="0" sz="1200" spc="-5">
                <a:latin typeface="Arial"/>
                <a:cs typeface="Arial"/>
              </a:rPr>
              <a:t>Swalaat.</a:t>
            </a:r>
            <a:endParaRPr sz="1200">
              <a:latin typeface="Arial"/>
              <a:cs typeface="Arial"/>
            </a:endParaRPr>
          </a:p>
          <a:p>
            <a:pPr marL="469900" indent="-229235">
              <a:lnSpc>
                <a:spcPts val="1410"/>
              </a:lnSpc>
              <a:buAutoNum type="arabicPeriod"/>
              <a:tabLst>
                <a:tab pos="470534" algn="l"/>
              </a:tabLst>
            </a:pPr>
            <a:r>
              <a:rPr dirty="0" sz="1200">
                <a:latin typeface="Arial"/>
                <a:cs typeface="Arial"/>
              </a:rPr>
              <a:t>To know how to </a:t>
            </a:r>
            <a:r>
              <a:rPr dirty="0" sz="1200" spc="-5">
                <a:latin typeface="Arial"/>
                <a:cs typeface="Arial"/>
              </a:rPr>
              <a:t>perform</a:t>
            </a:r>
            <a:r>
              <a:rPr dirty="0" sz="1200" spc="-40">
                <a:latin typeface="Arial"/>
                <a:cs typeface="Arial"/>
              </a:rPr>
              <a:t> </a:t>
            </a:r>
            <a:r>
              <a:rPr dirty="0" sz="1200" spc="-5">
                <a:latin typeface="Arial"/>
                <a:cs typeface="Arial"/>
              </a:rPr>
              <a:t>Swalaat</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There are many benefits derived from Swalaat such</a:t>
            </a:r>
            <a:r>
              <a:rPr dirty="0" u="heavy" sz="1200" spc="40" b="1" i="1">
                <a:uFill>
                  <a:solidFill>
                    <a:srgbClr val="000000"/>
                  </a:solidFill>
                </a:uFill>
                <a:latin typeface="Arial"/>
                <a:cs typeface="Arial"/>
              </a:rPr>
              <a:t> </a:t>
            </a:r>
            <a:r>
              <a:rPr dirty="0" u="heavy" sz="1200" spc="5" b="1" i="1">
                <a:uFill>
                  <a:solidFill>
                    <a:srgbClr val="000000"/>
                  </a:solidFill>
                </a:uFill>
                <a:latin typeface="Arial"/>
                <a:cs typeface="Arial"/>
              </a:rPr>
              <a:t>as:</a:t>
            </a:r>
            <a:endParaRPr sz="1200">
              <a:latin typeface="Arial"/>
              <a:cs typeface="Arial"/>
            </a:endParaRPr>
          </a:p>
          <a:p>
            <a:pPr>
              <a:lnSpc>
                <a:spcPct val="100000"/>
              </a:lnSpc>
              <a:spcBef>
                <a:spcPts val="55"/>
              </a:spcBef>
            </a:pPr>
            <a:endParaRPr sz="1100">
              <a:latin typeface="Arial"/>
              <a:cs typeface="Arial"/>
            </a:endParaRPr>
          </a:p>
          <a:p>
            <a:pPr marL="469900" indent="-229235">
              <a:lnSpc>
                <a:spcPts val="1405"/>
              </a:lnSpc>
              <a:buAutoNum type="arabicPeriod"/>
              <a:tabLst>
                <a:tab pos="470534" algn="l"/>
              </a:tabLst>
            </a:pPr>
            <a:r>
              <a:rPr dirty="0" sz="1200">
                <a:latin typeface="Arial"/>
                <a:cs typeface="Arial"/>
              </a:rPr>
              <a:t>It </a:t>
            </a:r>
            <a:r>
              <a:rPr dirty="0" sz="1200" spc="-5">
                <a:latin typeface="Arial"/>
                <a:cs typeface="Arial"/>
              </a:rPr>
              <a:t>brings Barakat (Blessing) in one‘s</a:t>
            </a:r>
            <a:r>
              <a:rPr dirty="0" sz="1200" spc="10">
                <a:latin typeface="Arial"/>
                <a:cs typeface="Arial"/>
              </a:rPr>
              <a:t> </a:t>
            </a:r>
            <a:r>
              <a:rPr dirty="0" sz="1200" spc="-5">
                <a:latin typeface="Arial"/>
                <a:cs typeface="Arial"/>
              </a:rPr>
              <a:t>life</a:t>
            </a:r>
            <a:endParaRPr sz="1200">
              <a:latin typeface="Arial"/>
              <a:cs typeface="Arial"/>
            </a:endParaRPr>
          </a:p>
          <a:p>
            <a:pPr marL="469900" indent="-229235">
              <a:lnSpc>
                <a:spcPts val="1375"/>
              </a:lnSpc>
              <a:buAutoNum type="arabicPeriod"/>
              <a:tabLst>
                <a:tab pos="470534" algn="l"/>
              </a:tabLst>
            </a:pPr>
            <a:r>
              <a:rPr dirty="0" sz="1200">
                <a:latin typeface="Arial"/>
                <a:cs typeface="Arial"/>
              </a:rPr>
              <a:t>It </a:t>
            </a:r>
            <a:r>
              <a:rPr dirty="0" sz="1200" spc="-5">
                <a:latin typeface="Arial"/>
                <a:cs typeface="Arial"/>
              </a:rPr>
              <a:t>protects us from sins </a:t>
            </a:r>
            <a:r>
              <a:rPr dirty="0" sz="1200">
                <a:latin typeface="Arial"/>
                <a:cs typeface="Arial"/>
              </a:rPr>
              <a:t>and</a:t>
            </a:r>
            <a:r>
              <a:rPr dirty="0" sz="1200" spc="-25">
                <a:latin typeface="Arial"/>
                <a:cs typeface="Arial"/>
              </a:rPr>
              <a:t> </a:t>
            </a:r>
            <a:r>
              <a:rPr dirty="0" sz="1200" spc="-5">
                <a:latin typeface="Arial"/>
                <a:cs typeface="Arial"/>
              </a:rPr>
              <a:t>impurities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protects us from punishment in </a:t>
            </a:r>
            <a:r>
              <a:rPr dirty="0" sz="1200">
                <a:latin typeface="Arial"/>
                <a:cs typeface="Arial"/>
              </a:rPr>
              <a:t>all</a:t>
            </a:r>
            <a:r>
              <a:rPr dirty="0" sz="1200" spc="-15">
                <a:latin typeface="Arial"/>
                <a:cs typeface="Arial"/>
              </a:rPr>
              <a:t> </a:t>
            </a:r>
            <a:r>
              <a:rPr dirty="0" sz="1200" spc="-5">
                <a:latin typeface="Arial"/>
                <a:cs typeface="Arial"/>
              </a:rPr>
              <a:t>worlds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the Beauty of </a:t>
            </a:r>
            <a:r>
              <a:rPr dirty="0" sz="1200">
                <a:latin typeface="Arial"/>
                <a:cs typeface="Arial"/>
              </a:rPr>
              <a:t>the </a:t>
            </a:r>
            <a:r>
              <a:rPr dirty="0" sz="1200" spc="-5">
                <a:latin typeface="Arial"/>
                <a:cs typeface="Arial"/>
              </a:rPr>
              <a:t>Swalih</a:t>
            </a:r>
            <a:r>
              <a:rPr dirty="0" sz="1200" spc="-15">
                <a:latin typeface="Arial"/>
                <a:cs typeface="Arial"/>
              </a:rPr>
              <a:t> </a:t>
            </a:r>
            <a:r>
              <a:rPr dirty="0" sz="1200" spc="-5">
                <a:latin typeface="Arial"/>
                <a:cs typeface="Arial"/>
              </a:rPr>
              <a:t>(pious)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There </a:t>
            </a:r>
            <a:r>
              <a:rPr dirty="0" sz="1200">
                <a:latin typeface="Arial"/>
                <a:cs typeface="Arial"/>
              </a:rPr>
              <a:t>are </a:t>
            </a:r>
            <a:r>
              <a:rPr dirty="0" sz="1200" spc="-5">
                <a:latin typeface="Arial"/>
                <a:cs typeface="Arial"/>
              </a:rPr>
              <a:t>Thawab (Reward) </a:t>
            </a:r>
            <a:r>
              <a:rPr dirty="0" sz="1200">
                <a:latin typeface="Arial"/>
                <a:cs typeface="Arial"/>
              </a:rPr>
              <a:t>for </a:t>
            </a:r>
            <a:r>
              <a:rPr dirty="0" sz="1200" spc="-5">
                <a:latin typeface="Arial"/>
                <a:cs typeface="Arial"/>
              </a:rPr>
              <a:t>all others deeds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Our </a:t>
            </a:r>
            <a:r>
              <a:rPr dirty="0" sz="1200" spc="-5">
                <a:latin typeface="Arial"/>
                <a:cs typeface="Arial"/>
              </a:rPr>
              <a:t>Du‘a (Invocation) will </a:t>
            </a:r>
            <a:r>
              <a:rPr dirty="0" sz="1200">
                <a:latin typeface="Arial"/>
                <a:cs typeface="Arial"/>
              </a:rPr>
              <a:t>be</a:t>
            </a:r>
            <a:r>
              <a:rPr dirty="0" sz="1200" spc="-10">
                <a:latin typeface="Arial"/>
                <a:cs typeface="Arial"/>
              </a:rPr>
              <a:t> </a:t>
            </a:r>
            <a:r>
              <a:rPr dirty="0" sz="1200">
                <a:latin typeface="Arial"/>
                <a:cs typeface="Arial"/>
              </a:rPr>
              <a:t>accepted</a:t>
            </a:r>
            <a:endParaRPr sz="1200">
              <a:latin typeface="Arial"/>
              <a:cs typeface="Arial"/>
            </a:endParaRPr>
          </a:p>
          <a:p>
            <a:pPr marL="469900" indent="-229235">
              <a:lnSpc>
                <a:spcPts val="1380"/>
              </a:lnSpc>
              <a:buAutoNum type="arabicPeriod"/>
              <a:tabLst>
                <a:tab pos="470534" algn="l"/>
              </a:tabLst>
            </a:pPr>
            <a:r>
              <a:rPr dirty="0" sz="1200" spc="15">
                <a:latin typeface="Arial"/>
                <a:cs typeface="Arial"/>
              </a:rPr>
              <a:t>We </a:t>
            </a:r>
            <a:r>
              <a:rPr dirty="0" sz="1200" spc="-10">
                <a:latin typeface="Arial"/>
                <a:cs typeface="Arial"/>
              </a:rPr>
              <a:t>will </a:t>
            </a:r>
            <a:r>
              <a:rPr dirty="0" sz="1200">
                <a:latin typeface="Arial"/>
                <a:cs typeface="Arial"/>
              </a:rPr>
              <a:t>be </a:t>
            </a:r>
            <a:r>
              <a:rPr dirty="0" sz="1200" spc="-5">
                <a:latin typeface="Arial"/>
                <a:cs typeface="Arial"/>
              </a:rPr>
              <a:t>Loved </a:t>
            </a:r>
            <a:r>
              <a:rPr dirty="0" sz="1200">
                <a:latin typeface="Arial"/>
                <a:cs typeface="Arial"/>
              </a:rPr>
              <a:t>by </a:t>
            </a:r>
            <a:r>
              <a:rPr dirty="0" sz="1200" spc="-130">
                <a:latin typeface="Arial"/>
                <a:cs typeface="Arial"/>
              </a:rPr>
              <a:t>―every‖</a:t>
            </a:r>
            <a:r>
              <a:rPr dirty="0" sz="1200" spc="-55">
                <a:latin typeface="Arial"/>
                <a:cs typeface="Arial"/>
              </a:rPr>
              <a:t> </a:t>
            </a:r>
            <a:r>
              <a:rPr dirty="0" sz="1200">
                <a:latin typeface="Arial"/>
                <a:cs typeface="Arial"/>
              </a:rPr>
              <a:t>creature</a:t>
            </a:r>
            <a:endParaRPr sz="1200">
              <a:latin typeface="Arial"/>
              <a:cs typeface="Arial"/>
            </a:endParaRPr>
          </a:p>
          <a:p>
            <a:pPr marL="469900" indent="-229235">
              <a:lnSpc>
                <a:spcPts val="1380"/>
              </a:lnSpc>
              <a:buAutoNum type="arabicPeriod"/>
              <a:tabLst>
                <a:tab pos="470534" algn="l"/>
              </a:tabLst>
            </a:pPr>
            <a:r>
              <a:rPr dirty="0" sz="1200" spc="15">
                <a:latin typeface="Arial"/>
                <a:cs typeface="Arial"/>
              </a:rPr>
              <a:t>We </a:t>
            </a:r>
            <a:r>
              <a:rPr dirty="0" sz="1200" spc="-10">
                <a:latin typeface="Arial"/>
                <a:cs typeface="Arial"/>
              </a:rPr>
              <a:t>will </a:t>
            </a:r>
            <a:r>
              <a:rPr dirty="0" sz="1200" spc="-5">
                <a:latin typeface="Arial"/>
                <a:cs typeface="Arial"/>
              </a:rPr>
              <a:t>receive Du‘a of angels, animals and human beings</a:t>
            </a:r>
            <a:endParaRPr sz="1200">
              <a:latin typeface="Arial"/>
              <a:cs typeface="Arial"/>
            </a:endParaRPr>
          </a:p>
          <a:p>
            <a:pPr marL="469900" indent="-229235">
              <a:lnSpc>
                <a:spcPts val="1380"/>
              </a:lnSpc>
              <a:buAutoNum type="arabicPeriod"/>
              <a:tabLst>
                <a:tab pos="470534" algn="l"/>
              </a:tabLst>
            </a:pPr>
            <a:r>
              <a:rPr dirty="0" sz="1200" spc="15">
                <a:latin typeface="Arial"/>
                <a:cs typeface="Arial"/>
              </a:rPr>
              <a:t>We </a:t>
            </a:r>
            <a:r>
              <a:rPr dirty="0" sz="1200" spc="-10">
                <a:latin typeface="Arial"/>
                <a:cs typeface="Arial"/>
              </a:rPr>
              <a:t>will </a:t>
            </a:r>
            <a:r>
              <a:rPr dirty="0" sz="1200" spc="-5">
                <a:latin typeface="Arial"/>
                <a:cs typeface="Arial"/>
              </a:rPr>
              <a:t>Cultivate Taqwa (fear) </a:t>
            </a:r>
            <a:r>
              <a:rPr dirty="0" sz="1200">
                <a:latin typeface="Arial"/>
                <a:cs typeface="Arial"/>
              </a:rPr>
              <a:t>for</a:t>
            </a:r>
            <a:r>
              <a:rPr dirty="0" sz="1200" spc="-35">
                <a:latin typeface="Arial"/>
                <a:cs typeface="Arial"/>
              </a:rPr>
              <a:t> </a:t>
            </a:r>
            <a:r>
              <a:rPr dirty="0" sz="1200" spc="-5">
                <a:latin typeface="Arial"/>
                <a:cs typeface="Arial"/>
              </a:rPr>
              <a:t>Allah</a:t>
            </a:r>
            <a:endParaRPr sz="1200">
              <a:latin typeface="Arial"/>
              <a:cs typeface="Arial"/>
            </a:endParaRPr>
          </a:p>
          <a:p>
            <a:pPr marL="469900" indent="-229235">
              <a:lnSpc>
                <a:spcPts val="1410"/>
              </a:lnSpc>
              <a:buAutoNum type="arabicPeriod"/>
              <a:tabLst>
                <a:tab pos="470534" algn="l"/>
              </a:tabLst>
            </a:pPr>
            <a:r>
              <a:rPr dirty="0" sz="1200" spc="15">
                <a:latin typeface="Arial"/>
                <a:cs typeface="Arial"/>
              </a:rPr>
              <a:t>We </a:t>
            </a:r>
            <a:r>
              <a:rPr dirty="0" sz="1200" spc="-10">
                <a:latin typeface="Arial"/>
                <a:cs typeface="Arial"/>
              </a:rPr>
              <a:t>will </a:t>
            </a:r>
            <a:r>
              <a:rPr dirty="0" sz="1200" spc="-5">
                <a:latin typeface="Arial"/>
                <a:cs typeface="Arial"/>
              </a:rPr>
              <a:t>be loved </a:t>
            </a:r>
            <a:r>
              <a:rPr dirty="0" sz="1200">
                <a:latin typeface="Arial"/>
                <a:cs typeface="Arial"/>
              </a:rPr>
              <a:t>by </a:t>
            </a:r>
            <a:r>
              <a:rPr dirty="0" sz="1200" spc="-5">
                <a:latin typeface="Arial"/>
                <a:cs typeface="Arial"/>
              </a:rPr>
              <a:t>Allah and </a:t>
            </a:r>
            <a:r>
              <a:rPr dirty="0" sz="1200">
                <a:latin typeface="Arial"/>
                <a:cs typeface="Arial"/>
              </a:rPr>
              <a:t>the holy </a:t>
            </a:r>
            <a:r>
              <a:rPr dirty="0" sz="1200" spc="-5">
                <a:latin typeface="Arial"/>
                <a:cs typeface="Arial"/>
              </a:rPr>
              <a:t>prophet</a:t>
            </a:r>
            <a:r>
              <a:rPr dirty="0" sz="1200" spc="-55">
                <a:latin typeface="Arial"/>
                <a:cs typeface="Arial"/>
              </a:rPr>
              <a:t> </a:t>
            </a:r>
            <a:r>
              <a:rPr dirty="0" sz="1200" spc="-5">
                <a:latin typeface="Arial"/>
                <a:cs typeface="Arial"/>
              </a:rPr>
              <a:t>(s.a.w)</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Difference between Swalaat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men and</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women</a:t>
            </a:r>
            <a:endParaRPr sz="1200">
              <a:latin typeface="Arial"/>
              <a:cs typeface="Arial"/>
            </a:endParaRPr>
          </a:p>
          <a:p>
            <a:pPr>
              <a:lnSpc>
                <a:spcPct val="100000"/>
              </a:lnSpc>
              <a:spcBef>
                <a:spcPts val="35"/>
              </a:spcBef>
            </a:pPr>
            <a:endParaRPr sz="1200">
              <a:latin typeface="Arial"/>
              <a:cs typeface="Arial"/>
            </a:endParaRPr>
          </a:p>
          <a:p>
            <a:pPr marL="469900" marR="7620" indent="-228600">
              <a:lnSpc>
                <a:spcPts val="1380"/>
              </a:lnSpc>
              <a:buAutoNum type="arabicPeriod"/>
              <a:tabLst>
                <a:tab pos="470534" algn="l"/>
              </a:tabLst>
            </a:pPr>
            <a:r>
              <a:rPr dirty="0" sz="1200" spc="-5">
                <a:latin typeface="Arial"/>
                <a:cs typeface="Arial"/>
              </a:rPr>
              <a:t>Takbeer: </a:t>
            </a:r>
            <a:r>
              <a:rPr dirty="0" sz="1200">
                <a:latin typeface="Arial"/>
                <a:cs typeface="Arial"/>
              </a:rPr>
              <a:t>for men </a:t>
            </a:r>
            <a:r>
              <a:rPr dirty="0" sz="1200" spc="-5">
                <a:latin typeface="Arial"/>
                <a:cs typeface="Arial"/>
              </a:rPr>
              <a:t>the hands must be raised </a:t>
            </a:r>
            <a:r>
              <a:rPr dirty="0" sz="1200" spc="5">
                <a:latin typeface="Arial"/>
                <a:cs typeface="Arial"/>
              </a:rPr>
              <a:t>till </a:t>
            </a:r>
            <a:r>
              <a:rPr dirty="0" sz="1200">
                <a:latin typeface="Arial"/>
                <a:cs typeface="Arial"/>
              </a:rPr>
              <a:t>the lobes </a:t>
            </a:r>
            <a:r>
              <a:rPr dirty="0" sz="1200" spc="-5">
                <a:latin typeface="Arial"/>
                <a:cs typeface="Arial"/>
              </a:rPr>
              <a:t>of the ears and </a:t>
            </a:r>
            <a:r>
              <a:rPr dirty="0" sz="1200">
                <a:latin typeface="Arial"/>
                <a:cs typeface="Arial"/>
              </a:rPr>
              <a:t>for </a:t>
            </a:r>
            <a:r>
              <a:rPr dirty="0" sz="1200" spc="-5">
                <a:latin typeface="Arial"/>
                <a:cs typeface="Arial"/>
              </a:rPr>
              <a:t>women till  </a:t>
            </a:r>
            <a:r>
              <a:rPr dirty="0" sz="1200">
                <a:latin typeface="Arial"/>
                <a:cs typeface="Arial"/>
              </a:rPr>
              <a:t>the</a:t>
            </a:r>
            <a:r>
              <a:rPr dirty="0" sz="1200" spc="-5">
                <a:latin typeface="Arial"/>
                <a:cs typeface="Arial"/>
              </a:rPr>
              <a:t> shoulders</a:t>
            </a:r>
            <a:endParaRPr sz="1200">
              <a:latin typeface="Arial"/>
              <a:cs typeface="Arial"/>
            </a:endParaRPr>
          </a:p>
          <a:p>
            <a:pPr marL="469900" marR="10795" indent="-228600">
              <a:lnSpc>
                <a:spcPts val="1380"/>
              </a:lnSpc>
              <a:buAutoNum type="arabicPeriod"/>
              <a:tabLst>
                <a:tab pos="470534" algn="l"/>
              </a:tabLst>
            </a:pPr>
            <a:r>
              <a:rPr dirty="0" sz="1200" spc="-5">
                <a:latin typeface="Arial"/>
                <a:cs typeface="Arial"/>
              </a:rPr>
              <a:t>Qiyam: </a:t>
            </a:r>
            <a:r>
              <a:rPr dirty="0" sz="1200">
                <a:latin typeface="Arial"/>
                <a:cs typeface="Arial"/>
              </a:rPr>
              <a:t>for </a:t>
            </a:r>
            <a:r>
              <a:rPr dirty="0" sz="1200" spc="-5">
                <a:latin typeface="Arial"/>
                <a:cs typeface="Arial"/>
              </a:rPr>
              <a:t>men the hands </a:t>
            </a:r>
            <a:r>
              <a:rPr dirty="0" sz="1200">
                <a:latin typeface="Arial"/>
                <a:cs typeface="Arial"/>
              </a:rPr>
              <a:t>must </a:t>
            </a:r>
            <a:r>
              <a:rPr dirty="0" sz="1200" spc="-5">
                <a:latin typeface="Arial"/>
                <a:cs typeface="Arial"/>
              </a:rPr>
              <a:t>be tied either below or above </a:t>
            </a:r>
            <a:r>
              <a:rPr dirty="0" sz="1200">
                <a:latin typeface="Arial"/>
                <a:cs typeface="Arial"/>
              </a:rPr>
              <a:t>the </a:t>
            </a:r>
            <a:r>
              <a:rPr dirty="0" sz="1200" spc="-5">
                <a:latin typeface="Arial"/>
                <a:cs typeface="Arial"/>
              </a:rPr>
              <a:t>navel and </a:t>
            </a:r>
            <a:r>
              <a:rPr dirty="0" sz="1200">
                <a:latin typeface="Arial"/>
                <a:cs typeface="Arial"/>
              </a:rPr>
              <a:t>for  </a:t>
            </a:r>
            <a:r>
              <a:rPr dirty="0" sz="1200" spc="-5">
                <a:latin typeface="Arial"/>
                <a:cs typeface="Arial"/>
              </a:rPr>
              <a:t>women they </a:t>
            </a:r>
            <a:r>
              <a:rPr dirty="0" sz="1200">
                <a:latin typeface="Arial"/>
                <a:cs typeface="Arial"/>
              </a:rPr>
              <a:t>are </a:t>
            </a:r>
            <a:r>
              <a:rPr dirty="0" sz="1200" spc="-5">
                <a:latin typeface="Arial"/>
                <a:cs typeface="Arial"/>
              </a:rPr>
              <a:t>tied on the stomach</a:t>
            </a:r>
            <a:r>
              <a:rPr dirty="0" sz="1200">
                <a:latin typeface="Arial"/>
                <a:cs typeface="Arial"/>
              </a:rPr>
              <a:t> </a:t>
            </a:r>
            <a:r>
              <a:rPr dirty="0" sz="1200" spc="-5">
                <a:latin typeface="Arial"/>
                <a:cs typeface="Arial"/>
              </a:rPr>
              <a:t>(breasts)</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2700">
              <a:lnSpc>
                <a:spcPts val="1410"/>
              </a:lnSpc>
            </a:pPr>
            <a:r>
              <a:rPr dirty="0" spc="-5"/>
              <a:t>Page</a:t>
            </a:r>
            <a:r>
              <a:rPr dirty="0" spc="-55"/>
              <a:t> </a:t>
            </a:r>
            <a:r>
              <a:rPr dirty="0"/>
              <a:t>81</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265" cy="933831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469900" marR="5080" indent="-229235">
              <a:lnSpc>
                <a:spcPts val="1380"/>
              </a:lnSpc>
              <a:buAutoNum type="arabicPeriod" startAt="3"/>
              <a:tabLst>
                <a:tab pos="470534" algn="l"/>
              </a:tabLst>
            </a:pPr>
            <a:r>
              <a:rPr dirty="0" sz="1200" spc="-5">
                <a:latin typeface="Arial"/>
                <a:cs typeface="Arial"/>
              </a:rPr>
              <a:t>Ruku‘: </a:t>
            </a:r>
            <a:r>
              <a:rPr dirty="0" sz="1200">
                <a:latin typeface="Arial"/>
                <a:cs typeface="Arial"/>
              </a:rPr>
              <a:t>for </a:t>
            </a:r>
            <a:r>
              <a:rPr dirty="0" sz="1200" spc="-5">
                <a:latin typeface="Arial"/>
                <a:cs typeface="Arial"/>
              </a:rPr>
              <a:t>men the ruku‘ </a:t>
            </a:r>
            <a:r>
              <a:rPr dirty="0" sz="1200">
                <a:latin typeface="Arial"/>
                <a:cs typeface="Arial"/>
              </a:rPr>
              <a:t>must </a:t>
            </a:r>
            <a:r>
              <a:rPr dirty="0" sz="1200" spc="-5">
                <a:latin typeface="Arial"/>
                <a:cs typeface="Arial"/>
              </a:rPr>
              <a:t>be </a:t>
            </a:r>
            <a:r>
              <a:rPr dirty="0" sz="1200">
                <a:latin typeface="Arial"/>
                <a:cs typeface="Arial"/>
              </a:rPr>
              <a:t>90 </a:t>
            </a:r>
            <a:r>
              <a:rPr dirty="0" sz="1200" spc="-5">
                <a:latin typeface="Arial"/>
                <a:cs typeface="Arial"/>
              </a:rPr>
              <a:t>degree </a:t>
            </a:r>
            <a:r>
              <a:rPr dirty="0" sz="1200">
                <a:latin typeface="Arial"/>
                <a:cs typeface="Arial"/>
              </a:rPr>
              <a:t>and for </a:t>
            </a:r>
            <a:r>
              <a:rPr dirty="0" sz="1200" spc="-5">
                <a:latin typeface="Arial"/>
                <a:cs typeface="Arial"/>
              </a:rPr>
              <a:t>women </a:t>
            </a:r>
            <a:r>
              <a:rPr dirty="0" sz="1200">
                <a:latin typeface="Arial"/>
                <a:cs typeface="Arial"/>
              </a:rPr>
              <a:t>till the </a:t>
            </a:r>
            <a:r>
              <a:rPr dirty="0" sz="1200" spc="-5">
                <a:latin typeface="Arial"/>
                <a:cs typeface="Arial"/>
              </a:rPr>
              <a:t>hands </a:t>
            </a:r>
            <a:r>
              <a:rPr dirty="0" sz="1200" spc="5">
                <a:latin typeface="Arial"/>
                <a:cs typeface="Arial"/>
              </a:rPr>
              <a:t>touch </a:t>
            </a:r>
            <a:r>
              <a:rPr dirty="0" sz="1200" spc="-10">
                <a:latin typeface="Arial"/>
                <a:cs typeface="Arial"/>
              </a:rPr>
              <a:t>the  </a:t>
            </a:r>
            <a:r>
              <a:rPr dirty="0" sz="1200" spc="-5">
                <a:latin typeface="Arial"/>
                <a:cs typeface="Arial"/>
              </a:rPr>
              <a:t>knees.</a:t>
            </a:r>
            <a:endParaRPr sz="1200">
              <a:latin typeface="Arial"/>
              <a:cs typeface="Arial"/>
            </a:endParaRPr>
          </a:p>
          <a:p>
            <a:pPr algn="just" marL="469900" marR="11430" indent="-229235">
              <a:lnSpc>
                <a:spcPts val="1380"/>
              </a:lnSpc>
              <a:spcBef>
                <a:spcPts val="5"/>
              </a:spcBef>
              <a:buAutoNum type="arabicPeriod" startAt="3"/>
              <a:tabLst>
                <a:tab pos="470534" algn="l"/>
              </a:tabLst>
            </a:pPr>
            <a:r>
              <a:rPr dirty="0" sz="1200" spc="-5">
                <a:latin typeface="Arial"/>
                <a:cs typeface="Arial"/>
              </a:rPr>
              <a:t>Jalsa </a:t>
            </a:r>
            <a:r>
              <a:rPr dirty="0" sz="1200">
                <a:latin typeface="Arial"/>
                <a:cs typeface="Arial"/>
              </a:rPr>
              <a:t>/ </a:t>
            </a:r>
            <a:r>
              <a:rPr dirty="0" sz="1200" spc="-5">
                <a:latin typeface="Arial"/>
                <a:cs typeface="Arial"/>
              </a:rPr>
              <a:t>Qa‘dah: </a:t>
            </a:r>
            <a:r>
              <a:rPr dirty="0" sz="1200">
                <a:latin typeface="Arial"/>
                <a:cs typeface="Arial"/>
              </a:rPr>
              <a:t>for </a:t>
            </a:r>
            <a:r>
              <a:rPr dirty="0" sz="1200" spc="-5">
                <a:latin typeface="Arial"/>
                <a:cs typeface="Arial"/>
              </a:rPr>
              <a:t>men the right </a:t>
            </a:r>
            <a:r>
              <a:rPr dirty="0" sz="1200">
                <a:latin typeface="Arial"/>
                <a:cs typeface="Arial"/>
              </a:rPr>
              <a:t>foot must be </a:t>
            </a:r>
            <a:r>
              <a:rPr dirty="0" sz="1200" spc="-5">
                <a:latin typeface="Arial"/>
                <a:cs typeface="Arial"/>
              </a:rPr>
              <a:t>elevated upright and the left </a:t>
            </a:r>
            <a:r>
              <a:rPr dirty="0" sz="1200">
                <a:latin typeface="Arial"/>
                <a:cs typeface="Arial"/>
              </a:rPr>
              <a:t>foot </a:t>
            </a:r>
            <a:r>
              <a:rPr dirty="0" sz="1200" spc="-5">
                <a:latin typeface="Arial"/>
                <a:cs typeface="Arial"/>
              </a:rPr>
              <a:t>flat  </a:t>
            </a:r>
            <a:r>
              <a:rPr dirty="0" sz="1200">
                <a:latin typeface="Arial"/>
                <a:cs typeface="Arial"/>
              </a:rPr>
              <a:t>turning to </a:t>
            </a:r>
            <a:r>
              <a:rPr dirty="0" sz="1200" spc="-5">
                <a:latin typeface="Arial"/>
                <a:cs typeface="Arial"/>
              </a:rPr>
              <a:t>the right. For women both </a:t>
            </a:r>
            <a:r>
              <a:rPr dirty="0" sz="1200">
                <a:latin typeface="Arial"/>
                <a:cs typeface="Arial"/>
              </a:rPr>
              <a:t>feet must </a:t>
            </a:r>
            <a:r>
              <a:rPr dirty="0" sz="1200" spc="-5">
                <a:latin typeface="Arial"/>
                <a:cs typeface="Arial"/>
              </a:rPr>
              <a:t>turn to the</a:t>
            </a:r>
            <a:r>
              <a:rPr dirty="0" sz="1200" spc="-10">
                <a:latin typeface="Arial"/>
                <a:cs typeface="Arial"/>
              </a:rPr>
              <a:t> </a:t>
            </a:r>
            <a:r>
              <a:rPr dirty="0" sz="1200" spc="-5">
                <a:latin typeface="Arial"/>
                <a:cs typeface="Arial"/>
              </a:rPr>
              <a:t>right</a:t>
            </a:r>
            <a:endParaRPr sz="1200">
              <a:latin typeface="Arial"/>
              <a:cs typeface="Arial"/>
            </a:endParaRPr>
          </a:p>
          <a:p>
            <a:pPr algn="just" marL="469900" marR="11430" indent="-229235">
              <a:lnSpc>
                <a:spcPts val="1380"/>
              </a:lnSpc>
              <a:buAutoNum type="arabicPeriod" startAt="3"/>
              <a:tabLst>
                <a:tab pos="470534" algn="l"/>
              </a:tabLst>
            </a:pPr>
            <a:r>
              <a:rPr dirty="0" sz="1200" spc="-5">
                <a:latin typeface="Arial"/>
                <a:cs typeface="Arial"/>
              </a:rPr>
              <a:t>Sajdah: </a:t>
            </a:r>
            <a:r>
              <a:rPr dirty="0" sz="1200">
                <a:latin typeface="Arial"/>
                <a:cs typeface="Arial"/>
              </a:rPr>
              <a:t>for </a:t>
            </a:r>
            <a:r>
              <a:rPr dirty="0" sz="1200" spc="-5">
                <a:latin typeface="Arial"/>
                <a:cs typeface="Arial"/>
              </a:rPr>
              <a:t>men the elbows </a:t>
            </a:r>
            <a:r>
              <a:rPr dirty="0" sz="1200">
                <a:latin typeface="Arial"/>
                <a:cs typeface="Arial"/>
              </a:rPr>
              <a:t>must </a:t>
            </a:r>
            <a:r>
              <a:rPr dirty="0" sz="1200" spc="-5">
                <a:latin typeface="Arial"/>
                <a:cs typeface="Arial"/>
              </a:rPr>
              <a:t>be apart </a:t>
            </a:r>
            <a:r>
              <a:rPr dirty="0" sz="1200">
                <a:latin typeface="Arial"/>
                <a:cs typeface="Arial"/>
              </a:rPr>
              <a:t>from </a:t>
            </a:r>
            <a:r>
              <a:rPr dirty="0" sz="1200" spc="-5">
                <a:latin typeface="Arial"/>
                <a:cs typeface="Arial"/>
              </a:rPr>
              <a:t>the body and </a:t>
            </a:r>
            <a:r>
              <a:rPr dirty="0" sz="1200">
                <a:latin typeface="Arial"/>
                <a:cs typeface="Arial"/>
              </a:rPr>
              <a:t>for </a:t>
            </a:r>
            <a:r>
              <a:rPr dirty="0" sz="1200" spc="-5">
                <a:latin typeface="Arial"/>
                <a:cs typeface="Arial"/>
              </a:rPr>
              <a:t>women close </a:t>
            </a:r>
            <a:r>
              <a:rPr dirty="0" sz="1200">
                <a:latin typeface="Arial"/>
                <a:cs typeface="Arial"/>
              </a:rPr>
              <a:t>to </a:t>
            </a:r>
            <a:r>
              <a:rPr dirty="0" sz="1200" spc="-10">
                <a:latin typeface="Arial"/>
                <a:cs typeface="Arial"/>
              </a:rPr>
              <a:t>the  </a:t>
            </a:r>
            <a:r>
              <a:rPr dirty="0" sz="1200" spc="-5">
                <a:latin typeface="Arial"/>
                <a:cs typeface="Arial"/>
              </a:rPr>
              <a:t>body. </a:t>
            </a:r>
            <a:r>
              <a:rPr dirty="0" sz="1200">
                <a:latin typeface="Arial"/>
                <a:cs typeface="Arial"/>
              </a:rPr>
              <a:t>For </a:t>
            </a:r>
            <a:r>
              <a:rPr dirty="0" sz="1200" spc="-5">
                <a:latin typeface="Arial"/>
                <a:cs typeface="Arial"/>
              </a:rPr>
              <a:t>men </a:t>
            </a:r>
            <a:r>
              <a:rPr dirty="0" sz="1200">
                <a:latin typeface="Arial"/>
                <a:cs typeface="Arial"/>
              </a:rPr>
              <a:t>the </a:t>
            </a:r>
            <a:r>
              <a:rPr dirty="0" sz="1200" spc="-5">
                <a:latin typeface="Arial"/>
                <a:cs typeface="Arial"/>
              </a:rPr>
              <a:t>waist must </a:t>
            </a:r>
            <a:r>
              <a:rPr dirty="0" sz="1200" spc="-10">
                <a:latin typeface="Arial"/>
                <a:cs typeface="Arial"/>
              </a:rPr>
              <a:t>be </a:t>
            </a:r>
            <a:r>
              <a:rPr dirty="0" sz="1200" spc="-5">
                <a:latin typeface="Arial"/>
                <a:cs typeface="Arial"/>
              </a:rPr>
              <a:t>elevated </a:t>
            </a:r>
            <a:r>
              <a:rPr dirty="0" sz="1200" spc="-10">
                <a:latin typeface="Arial"/>
                <a:cs typeface="Arial"/>
              </a:rPr>
              <a:t>and </a:t>
            </a:r>
            <a:r>
              <a:rPr dirty="0" sz="1200">
                <a:latin typeface="Arial"/>
                <a:cs typeface="Arial"/>
              </a:rPr>
              <a:t>for </a:t>
            </a:r>
            <a:r>
              <a:rPr dirty="0" sz="1200" spc="-5">
                <a:latin typeface="Arial"/>
                <a:cs typeface="Arial"/>
              </a:rPr>
              <a:t>women </a:t>
            </a:r>
            <a:r>
              <a:rPr dirty="0" sz="1200">
                <a:latin typeface="Arial"/>
                <a:cs typeface="Arial"/>
              </a:rPr>
              <a:t>flat </a:t>
            </a:r>
            <a:r>
              <a:rPr dirty="0" sz="1200" spc="-5">
                <a:latin typeface="Arial"/>
                <a:cs typeface="Arial"/>
              </a:rPr>
              <a:t>with </a:t>
            </a:r>
            <a:r>
              <a:rPr dirty="0" sz="1200">
                <a:latin typeface="Arial"/>
                <a:cs typeface="Arial"/>
              </a:rPr>
              <a:t>the </a:t>
            </a:r>
            <a:r>
              <a:rPr dirty="0" sz="1200" spc="-5">
                <a:latin typeface="Arial"/>
                <a:cs typeface="Arial"/>
              </a:rPr>
              <a:t>stomach on </a:t>
            </a:r>
            <a:r>
              <a:rPr dirty="0" sz="1200" spc="-10">
                <a:latin typeface="Arial"/>
                <a:cs typeface="Arial"/>
              </a:rPr>
              <a:t>the  </a:t>
            </a:r>
            <a:r>
              <a:rPr dirty="0" sz="1200" spc="-5">
                <a:latin typeface="Arial"/>
                <a:cs typeface="Arial"/>
              </a:rPr>
              <a:t>thighs.</a:t>
            </a:r>
            <a:endParaRPr sz="1200">
              <a:latin typeface="Arial"/>
              <a:cs typeface="Arial"/>
            </a:endParaRPr>
          </a:p>
          <a:p>
            <a:pPr>
              <a:lnSpc>
                <a:spcPct val="100000"/>
              </a:lnSpc>
            </a:pPr>
            <a:endParaRPr sz="1300">
              <a:latin typeface="Arial"/>
              <a:cs typeface="Arial"/>
            </a:endParaRPr>
          </a:p>
          <a:p>
            <a:pPr marL="12700">
              <a:lnSpc>
                <a:spcPct val="100000"/>
              </a:lnSpc>
              <a:spcBef>
                <a:spcPts val="1170"/>
              </a:spcBef>
            </a:pPr>
            <a:r>
              <a:rPr dirty="0" u="heavy" sz="1200" b="1" i="1">
                <a:uFill>
                  <a:solidFill>
                    <a:srgbClr val="000000"/>
                  </a:solidFill>
                </a:uFill>
                <a:latin typeface="Arial"/>
                <a:cs typeface="Arial"/>
              </a:rPr>
              <a:t>Sawm:</a:t>
            </a:r>
            <a:r>
              <a:rPr dirty="0" u="heavy" sz="1200" spc="-5" b="1" i="1">
                <a:uFill>
                  <a:solidFill>
                    <a:srgbClr val="000000"/>
                  </a:solidFill>
                </a:uFill>
                <a:latin typeface="Arial"/>
                <a:cs typeface="Arial"/>
              </a:rPr>
              <a:t> Fasting</a:t>
            </a:r>
            <a:endParaRPr sz="1200">
              <a:latin typeface="Arial"/>
              <a:cs typeface="Arial"/>
            </a:endParaRPr>
          </a:p>
          <a:p>
            <a:pPr>
              <a:lnSpc>
                <a:spcPct val="100000"/>
              </a:lnSpc>
              <a:spcBef>
                <a:spcPts val="55"/>
              </a:spcBef>
            </a:pPr>
            <a:endParaRPr sz="1150">
              <a:latin typeface="Arial"/>
              <a:cs typeface="Arial"/>
            </a:endParaRPr>
          </a:p>
          <a:p>
            <a:pPr algn="just" marL="12700" marR="7620">
              <a:lnSpc>
                <a:spcPct val="95900"/>
              </a:lnSpc>
            </a:pPr>
            <a:r>
              <a:rPr dirty="0" sz="1200">
                <a:latin typeface="Arial"/>
                <a:cs typeface="Arial"/>
              </a:rPr>
              <a:t>This </a:t>
            </a:r>
            <a:r>
              <a:rPr dirty="0" sz="1200" spc="-5">
                <a:latin typeface="Arial"/>
                <a:cs typeface="Arial"/>
              </a:rPr>
              <a:t>institution has been present </a:t>
            </a:r>
            <a:r>
              <a:rPr dirty="0" sz="1200">
                <a:latin typeface="Arial"/>
                <a:cs typeface="Arial"/>
              </a:rPr>
              <a:t>for </a:t>
            </a:r>
            <a:r>
              <a:rPr dirty="0" sz="1200" spc="-5">
                <a:latin typeface="Arial"/>
                <a:cs typeface="Arial"/>
              </a:rPr>
              <a:t>all prophets since Hazrat </a:t>
            </a:r>
            <a:r>
              <a:rPr dirty="0" sz="1200" spc="-10">
                <a:latin typeface="Arial"/>
                <a:cs typeface="Arial"/>
              </a:rPr>
              <a:t>Adam </a:t>
            </a:r>
            <a:r>
              <a:rPr dirty="0" sz="1200">
                <a:latin typeface="Arial"/>
                <a:cs typeface="Arial"/>
              </a:rPr>
              <a:t>(a.s). </a:t>
            </a:r>
            <a:r>
              <a:rPr dirty="0" sz="1200" spc="-5">
                <a:latin typeface="Arial"/>
                <a:cs typeface="Arial"/>
              </a:rPr>
              <a:t>For past prophets,  </a:t>
            </a:r>
            <a:r>
              <a:rPr dirty="0" sz="1200">
                <a:latin typeface="Arial"/>
                <a:cs typeface="Arial"/>
              </a:rPr>
              <a:t>it </a:t>
            </a:r>
            <a:r>
              <a:rPr dirty="0" sz="1200" spc="-10">
                <a:latin typeface="Arial"/>
                <a:cs typeface="Arial"/>
              </a:rPr>
              <a:t>was </a:t>
            </a:r>
            <a:r>
              <a:rPr dirty="0" sz="1200" spc="-5">
                <a:latin typeface="Arial"/>
                <a:cs typeface="Arial"/>
              </a:rPr>
              <a:t>over a period </a:t>
            </a:r>
            <a:r>
              <a:rPr dirty="0" sz="1200">
                <a:latin typeface="Arial"/>
                <a:cs typeface="Arial"/>
              </a:rPr>
              <a:t>of </a:t>
            </a:r>
            <a:r>
              <a:rPr dirty="0" sz="1200" spc="-5">
                <a:latin typeface="Arial"/>
                <a:cs typeface="Arial"/>
              </a:rPr>
              <a:t>40 </a:t>
            </a:r>
            <a:r>
              <a:rPr dirty="0" sz="1200" spc="-10">
                <a:latin typeface="Arial"/>
                <a:cs typeface="Arial"/>
              </a:rPr>
              <a:t>days </a:t>
            </a:r>
            <a:r>
              <a:rPr dirty="0" sz="1200" spc="-5">
                <a:latin typeface="Arial"/>
                <a:cs typeface="Arial"/>
              </a:rPr>
              <a:t>but </a:t>
            </a:r>
            <a:r>
              <a:rPr dirty="0" sz="1200">
                <a:latin typeface="Arial"/>
                <a:cs typeface="Arial"/>
              </a:rPr>
              <a:t>for </a:t>
            </a:r>
            <a:r>
              <a:rPr dirty="0" sz="1200" spc="-5">
                <a:latin typeface="Arial"/>
                <a:cs typeface="Arial"/>
              </a:rPr>
              <a:t>the Ummah of the </a:t>
            </a:r>
            <a:r>
              <a:rPr dirty="0" sz="1200">
                <a:latin typeface="Arial"/>
                <a:cs typeface="Arial"/>
              </a:rPr>
              <a:t>last </a:t>
            </a:r>
            <a:r>
              <a:rPr dirty="0" sz="1200" spc="-5">
                <a:latin typeface="Arial"/>
                <a:cs typeface="Arial"/>
              </a:rPr>
              <a:t>prophet (s.a.w), </a:t>
            </a:r>
            <a:r>
              <a:rPr dirty="0" sz="1200">
                <a:latin typeface="Arial"/>
                <a:cs typeface="Arial"/>
              </a:rPr>
              <a:t>it </a:t>
            </a:r>
            <a:r>
              <a:rPr dirty="0" sz="1200" spc="-5">
                <a:latin typeface="Arial"/>
                <a:cs typeface="Arial"/>
              </a:rPr>
              <a:t>is over a  period of twenty-nine </a:t>
            </a:r>
            <a:r>
              <a:rPr dirty="0" sz="1200">
                <a:latin typeface="Arial"/>
                <a:cs typeface="Arial"/>
              </a:rPr>
              <a:t>or </a:t>
            </a:r>
            <a:r>
              <a:rPr dirty="0" sz="1200" spc="-5">
                <a:latin typeface="Arial"/>
                <a:cs typeface="Arial"/>
              </a:rPr>
              <a:t>thirty days. </a:t>
            </a:r>
            <a:r>
              <a:rPr dirty="0" sz="1200">
                <a:latin typeface="Arial"/>
                <a:cs typeface="Arial"/>
              </a:rPr>
              <a:t>It </a:t>
            </a:r>
            <a:r>
              <a:rPr dirty="0" sz="1200" spc="-10">
                <a:latin typeface="Arial"/>
                <a:cs typeface="Arial"/>
              </a:rPr>
              <a:t>was </a:t>
            </a:r>
            <a:r>
              <a:rPr dirty="0" sz="1200">
                <a:latin typeface="Arial"/>
                <a:cs typeface="Arial"/>
              </a:rPr>
              <a:t>made Farz </a:t>
            </a:r>
            <a:r>
              <a:rPr dirty="0" sz="1200" spc="-5">
                <a:latin typeface="Arial"/>
                <a:cs typeface="Arial"/>
              </a:rPr>
              <a:t>in the </a:t>
            </a:r>
            <a:r>
              <a:rPr dirty="0" sz="1200">
                <a:latin typeface="Arial"/>
                <a:cs typeface="Arial"/>
              </a:rPr>
              <a:t>second </a:t>
            </a:r>
            <a:r>
              <a:rPr dirty="0" sz="1200" spc="-5">
                <a:latin typeface="Arial"/>
                <a:cs typeface="Arial"/>
              </a:rPr>
              <a:t>year </a:t>
            </a:r>
            <a:r>
              <a:rPr dirty="0" sz="1200">
                <a:latin typeface="Arial"/>
                <a:cs typeface="Arial"/>
              </a:rPr>
              <a:t>of </a:t>
            </a:r>
            <a:r>
              <a:rPr dirty="0" sz="1200" spc="-5">
                <a:latin typeface="Arial"/>
                <a:cs typeface="Arial"/>
              </a:rPr>
              <a:t>Hijri </a:t>
            </a:r>
            <a:r>
              <a:rPr dirty="0" sz="1200">
                <a:latin typeface="Arial"/>
                <a:cs typeface="Arial"/>
              </a:rPr>
              <a:t>and it </a:t>
            </a:r>
            <a:r>
              <a:rPr dirty="0" sz="1200" spc="-5">
                <a:latin typeface="Arial"/>
                <a:cs typeface="Arial"/>
              </a:rPr>
              <a:t>spread  from Sehri till Iftar. There is prohibition of eating, drinking and </a:t>
            </a:r>
            <a:r>
              <a:rPr dirty="0" sz="1200" spc="-10">
                <a:latin typeface="Arial"/>
                <a:cs typeface="Arial"/>
              </a:rPr>
              <a:t>sexual </a:t>
            </a:r>
            <a:r>
              <a:rPr dirty="0" sz="1200" spc="-5">
                <a:latin typeface="Arial"/>
                <a:cs typeface="Arial"/>
              </a:rPr>
              <a:t>intercourse. </a:t>
            </a:r>
            <a:r>
              <a:rPr dirty="0" sz="1200" spc="-10">
                <a:latin typeface="Arial"/>
                <a:cs typeface="Arial"/>
              </a:rPr>
              <a:t>However,  </a:t>
            </a:r>
            <a:r>
              <a:rPr dirty="0" sz="1200" spc="-5">
                <a:latin typeface="Arial"/>
                <a:cs typeface="Arial"/>
              </a:rPr>
              <a:t>before and after these hours </a:t>
            </a:r>
            <a:r>
              <a:rPr dirty="0" sz="1200" spc="5">
                <a:latin typeface="Arial"/>
                <a:cs typeface="Arial"/>
              </a:rPr>
              <a:t>they </a:t>
            </a:r>
            <a:r>
              <a:rPr dirty="0" sz="1200" spc="-5">
                <a:latin typeface="Arial"/>
                <a:cs typeface="Arial"/>
              </a:rPr>
              <a:t>are allowed. Sins are still prohibited. Fasting is one kind of  Ibaadah meant to purify the</a:t>
            </a:r>
            <a:r>
              <a:rPr dirty="0" sz="1200" spc="10">
                <a:latin typeface="Arial"/>
                <a:cs typeface="Arial"/>
              </a:rPr>
              <a:t> </a:t>
            </a:r>
            <a:r>
              <a:rPr dirty="0" sz="1200" spc="-5">
                <a:latin typeface="Arial"/>
                <a:cs typeface="Arial"/>
              </a:rPr>
              <a:t>individual.</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There are some benefits derived from </a:t>
            </a:r>
            <a:r>
              <a:rPr dirty="0" u="heavy" sz="1200" spc="-10" b="1" i="1">
                <a:uFill>
                  <a:solidFill>
                    <a:srgbClr val="000000"/>
                  </a:solidFill>
                </a:uFill>
                <a:latin typeface="Arial"/>
                <a:cs typeface="Arial"/>
              </a:rPr>
              <a:t>Sawm </a:t>
            </a:r>
            <a:r>
              <a:rPr dirty="0" u="heavy" sz="1200" spc="-5" b="1" i="1">
                <a:uFill>
                  <a:solidFill>
                    <a:srgbClr val="000000"/>
                  </a:solidFill>
                </a:uFill>
                <a:latin typeface="Arial"/>
                <a:cs typeface="Arial"/>
              </a:rPr>
              <a:t>such</a:t>
            </a:r>
            <a:r>
              <a:rPr dirty="0" u="heavy" sz="1200" spc="45" b="1" i="1">
                <a:uFill>
                  <a:solidFill>
                    <a:srgbClr val="000000"/>
                  </a:solidFill>
                </a:uFill>
                <a:latin typeface="Arial"/>
                <a:cs typeface="Arial"/>
              </a:rPr>
              <a:t> </a:t>
            </a:r>
            <a:r>
              <a:rPr dirty="0" u="heavy" sz="1200" b="1" i="1">
                <a:uFill>
                  <a:solidFill>
                    <a:srgbClr val="000000"/>
                  </a:solidFill>
                </a:uFill>
                <a:latin typeface="Arial"/>
                <a:cs typeface="Arial"/>
              </a:rPr>
              <a:t>as:</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Blessings in </a:t>
            </a:r>
            <a:r>
              <a:rPr dirty="0" sz="1200">
                <a:latin typeface="Arial"/>
                <a:cs typeface="Arial"/>
              </a:rPr>
              <a:t>our</a:t>
            </a:r>
            <a:r>
              <a:rPr dirty="0" sz="1200" spc="5">
                <a:latin typeface="Arial"/>
                <a:cs typeface="Arial"/>
              </a:rPr>
              <a:t> </a:t>
            </a:r>
            <a:r>
              <a:rPr dirty="0" sz="1200" spc="-10">
                <a:latin typeface="Arial"/>
                <a:cs typeface="Arial"/>
              </a:rPr>
              <a:t>lives</a:t>
            </a:r>
            <a:endParaRPr sz="1200">
              <a:latin typeface="Arial"/>
              <a:cs typeface="Arial"/>
            </a:endParaRPr>
          </a:p>
          <a:p>
            <a:pPr marL="469900" indent="-229235">
              <a:lnSpc>
                <a:spcPts val="1380"/>
              </a:lnSpc>
              <a:buAutoNum type="arabicPeriod"/>
              <a:tabLst>
                <a:tab pos="470534" algn="l"/>
              </a:tabLst>
            </a:pPr>
            <a:r>
              <a:rPr dirty="0" sz="1200" spc="15">
                <a:latin typeface="Arial"/>
                <a:cs typeface="Arial"/>
              </a:rPr>
              <a:t>We </a:t>
            </a:r>
            <a:r>
              <a:rPr dirty="0" sz="1200" spc="-5">
                <a:latin typeface="Arial"/>
                <a:cs typeface="Arial"/>
              </a:rPr>
              <a:t>obtain the Beauty of the Swalih (pious) and Swabir</a:t>
            </a:r>
            <a:r>
              <a:rPr dirty="0" sz="1200" spc="-15">
                <a:latin typeface="Arial"/>
                <a:cs typeface="Arial"/>
              </a:rPr>
              <a:t> </a:t>
            </a:r>
            <a:r>
              <a:rPr dirty="0" sz="1200" spc="-5">
                <a:latin typeface="Arial"/>
                <a:cs typeface="Arial"/>
              </a:rPr>
              <a:t>(patient)</a:t>
            </a:r>
            <a:endParaRPr sz="1200">
              <a:latin typeface="Arial"/>
              <a:cs typeface="Arial"/>
            </a:endParaRPr>
          </a:p>
          <a:p>
            <a:pPr marL="469900" indent="-229235">
              <a:lnSpc>
                <a:spcPts val="1380"/>
              </a:lnSpc>
              <a:buAutoNum type="arabicPeriod"/>
              <a:tabLst>
                <a:tab pos="470534" algn="l"/>
              </a:tabLst>
            </a:pPr>
            <a:r>
              <a:rPr dirty="0" sz="1200">
                <a:latin typeface="Arial"/>
                <a:cs typeface="Arial"/>
              </a:rPr>
              <a:t>Our </a:t>
            </a:r>
            <a:r>
              <a:rPr dirty="0" sz="1200" spc="-5">
                <a:latin typeface="Arial"/>
                <a:cs typeface="Arial"/>
              </a:rPr>
              <a:t>Du‘a (Invocation) will </a:t>
            </a:r>
            <a:r>
              <a:rPr dirty="0" sz="1200">
                <a:latin typeface="Arial"/>
                <a:cs typeface="Arial"/>
              </a:rPr>
              <a:t>be</a:t>
            </a:r>
            <a:r>
              <a:rPr dirty="0" sz="1200" spc="-5">
                <a:latin typeface="Arial"/>
                <a:cs typeface="Arial"/>
              </a:rPr>
              <a:t> accepted</a:t>
            </a:r>
            <a:endParaRPr sz="1200">
              <a:latin typeface="Arial"/>
              <a:cs typeface="Arial"/>
            </a:endParaRPr>
          </a:p>
          <a:p>
            <a:pPr marL="469900" indent="-229235">
              <a:lnSpc>
                <a:spcPts val="1380"/>
              </a:lnSpc>
              <a:buAutoNum type="arabicPeriod"/>
              <a:tabLst>
                <a:tab pos="470534" algn="l"/>
              </a:tabLst>
            </a:pPr>
            <a:r>
              <a:rPr dirty="0" sz="1200" spc="15">
                <a:latin typeface="Arial"/>
                <a:cs typeface="Arial"/>
              </a:rPr>
              <a:t>We </a:t>
            </a:r>
            <a:r>
              <a:rPr dirty="0" sz="1200" spc="-10">
                <a:latin typeface="Arial"/>
                <a:cs typeface="Arial"/>
              </a:rPr>
              <a:t>will </a:t>
            </a:r>
            <a:r>
              <a:rPr dirty="0" sz="1200" spc="-5">
                <a:latin typeface="Arial"/>
                <a:cs typeface="Arial"/>
              </a:rPr>
              <a:t>Cultivate Taqwa (fear) </a:t>
            </a:r>
            <a:r>
              <a:rPr dirty="0" sz="1200">
                <a:latin typeface="Arial"/>
                <a:cs typeface="Arial"/>
              </a:rPr>
              <a:t>for </a:t>
            </a:r>
            <a:r>
              <a:rPr dirty="0" sz="1200" spc="-5">
                <a:latin typeface="Arial"/>
                <a:cs typeface="Arial"/>
              </a:rPr>
              <a:t>Allah and Sabr</a:t>
            </a:r>
            <a:r>
              <a:rPr dirty="0" sz="1200" spc="-40">
                <a:latin typeface="Arial"/>
                <a:cs typeface="Arial"/>
              </a:rPr>
              <a:t> </a:t>
            </a:r>
            <a:r>
              <a:rPr dirty="0" sz="1200" spc="-5">
                <a:latin typeface="Arial"/>
                <a:cs typeface="Arial"/>
              </a:rPr>
              <a:t>(Patience)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There </a:t>
            </a:r>
            <a:r>
              <a:rPr dirty="0" sz="1200" spc="-10">
                <a:latin typeface="Arial"/>
                <a:cs typeface="Arial"/>
              </a:rPr>
              <a:t>will </a:t>
            </a:r>
            <a:r>
              <a:rPr dirty="0" sz="1200" spc="-5">
                <a:latin typeface="Arial"/>
                <a:cs typeface="Arial"/>
              </a:rPr>
              <a:t>be Purification of heart, mind and</a:t>
            </a:r>
            <a:r>
              <a:rPr dirty="0" sz="1200" spc="25">
                <a:latin typeface="Arial"/>
                <a:cs typeface="Arial"/>
              </a:rPr>
              <a:t> </a:t>
            </a:r>
            <a:r>
              <a:rPr dirty="0" sz="1200" spc="-5">
                <a:latin typeface="Arial"/>
                <a:cs typeface="Arial"/>
              </a:rPr>
              <a:t>body</a:t>
            </a:r>
            <a:endParaRPr sz="1200">
              <a:latin typeface="Arial"/>
              <a:cs typeface="Arial"/>
            </a:endParaRPr>
          </a:p>
          <a:p>
            <a:pPr marL="469900" indent="-229235">
              <a:lnSpc>
                <a:spcPts val="1380"/>
              </a:lnSpc>
              <a:buAutoNum type="arabicPeriod"/>
              <a:tabLst>
                <a:tab pos="470534" algn="l"/>
              </a:tabLst>
            </a:pPr>
            <a:r>
              <a:rPr dirty="0" sz="1200" spc="15">
                <a:latin typeface="Arial"/>
                <a:cs typeface="Arial"/>
              </a:rPr>
              <a:t>We </a:t>
            </a:r>
            <a:r>
              <a:rPr dirty="0" sz="1200" spc="-10">
                <a:latin typeface="Arial"/>
                <a:cs typeface="Arial"/>
              </a:rPr>
              <a:t>will </a:t>
            </a:r>
            <a:r>
              <a:rPr dirty="0" sz="1200" spc="-5">
                <a:latin typeface="Arial"/>
                <a:cs typeface="Arial"/>
              </a:rPr>
              <a:t>feel </a:t>
            </a:r>
            <a:r>
              <a:rPr dirty="0" sz="1200">
                <a:latin typeface="Arial"/>
                <a:cs typeface="Arial"/>
              </a:rPr>
              <a:t>the </a:t>
            </a:r>
            <a:r>
              <a:rPr dirty="0" sz="1200" spc="-5">
                <a:latin typeface="Arial"/>
                <a:cs typeface="Arial"/>
              </a:rPr>
              <a:t>sufferings of the</a:t>
            </a:r>
            <a:r>
              <a:rPr dirty="0" sz="1200" spc="-20">
                <a:latin typeface="Arial"/>
                <a:cs typeface="Arial"/>
              </a:rPr>
              <a:t> </a:t>
            </a:r>
            <a:r>
              <a:rPr dirty="0" sz="1200" spc="-5">
                <a:latin typeface="Arial"/>
                <a:cs typeface="Arial"/>
              </a:rPr>
              <a:t>poor</a:t>
            </a:r>
            <a:endParaRPr sz="1200">
              <a:latin typeface="Arial"/>
              <a:cs typeface="Arial"/>
            </a:endParaRPr>
          </a:p>
          <a:p>
            <a:pPr marL="469900" indent="-229235">
              <a:lnSpc>
                <a:spcPts val="1380"/>
              </a:lnSpc>
              <a:buAutoNum type="arabicPeriod"/>
              <a:tabLst>
                <a:tab pos="470534" algn="l"/>
              </a:tabLst>
            </a:pPr>
            <a:r>
              <a:rPr dirty="0" sz="1200" spc="15">
                <a:latin typeface="Arial"/>
                <a:cs typeface="Arial"/>
              </a:rPr>
              <a:t>We </a:t>
            </a:r>
            <a:r>
              <a:rPr dirty="0" sz="1200" spc="-10">
                <a:latin typeface="Arial"/>
                <a:cs typeface="Arial"/>
              </a:rPr>
              <a:t>will </a:t>
            </a:r>
            <a:r>
              <a:rPr dirty="0" sz="1200" spc="-5">
                <a:latin typeface="Arial"/>
                <a:cs typeface="Arial"/>
              </a:rPr>
              <a:t>develop qualities of patience and</a:t>
            </a:r>
            <a:r>
              <a:rPr dirty="0" sz="1200">
                <a:latin typeface="Arial"/>
                <a:cs typeface="Arial"/>
              </a:rPr>
              <a:t> </a:t>
            </a:r>
            <a:r>
              <a:rPr dirty="0" sz="1200" spc="-5">
                <a:latin typeface="Arial"/>
                <a:cs typeface="Arial"/>
              </a:rPr>
              <a:t>tolerance</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a training </a:t>
            </a:r>
            <a:r>
              <a:rPr dirty="0" sz="1200">
                <a:latin typeface="Arial"/>
                <a:cs typeface="Arial"/>
              </a:rPr>
              <a:t>period </a:t>
            </a:r>
            <a:r>
              <a:rPr dirty="0" sz="1200" spc="-5">
                <a:latin typeface="Arial"/>
                <a:cs typeface="Arial"/>
              </a:rPr>
              <a:t>of Ibaadah to </a:t>
            </a:r>
            <a:r>
              <a:rPr dirty="0" sz="1200">
                <a:latin typeface="Arial"/>
                <a:cs typeface="Arial"/>
              </a:rPr>
              <a:t>be </a:t>
            </a:r>
            <a:r>
              <a:rPr dirty="0" sz="1200" spc="-5">
                <a:latin typeface="Arial"/>
                <a:cs typeface="Arial"/>
              </a:rPr>
              <a:t>continued throughout</a:t>
            </a:r>
            <a:r>
              <a:rPr dirty="0" sz="1200" spc="10">
                <a:latin typeface="Arial"/>
                <a:cs typeface="Arial"/>
              </a:rPr>
              <a:t> </a:t>
            </a:r>
            <a:r>
              <a:rPr dirty="0" sz="1200" spc="-5">
                <a:latin typeface="Arial"/>
                <a:cs typeface="Arial"/>
              </a:rPr>
              <a:t>lifetime</a:t>
            </a:r>
            <a:endParaRPr sz="1200">
              <a:latin typeface="Arial"/>
              <a:cs typeface="Arial"/>
            </a:endParaRPr>
          </a:p>
          <a:p>
            <a:pPr marL="469900" indent="-229235">
              <a:lnSpc>
                <a:spcPts val="1380"/>
              </a:lnSpc>
              <a:buAutoNum type="arabicPeriod"/>
              <a:tabLst>
                <a:tab pos="470534" algn="l"/>
              </a:tabLst>
            </a:pPr>
            <a:r>
              <a:rPr dirty="0" sz="1200">
                <a:latin typeface="Arial"/>
                <a:cs typeface="Arial"/>
              </a:rPr>
              <a:t>Our </a:t>
            </a:r>
            <a:r>
              <a:rPr dirty="0" sz="1200" spc="-5">
                <a:latin typeface="Arial"/>
                <a:cs typeface="Arial"/>
              </a:rPr>
              <a:t>Darjah (stage) </a:t>
            </a:r>
            <a:r>
              <a:rPr dirty="0" sz="1200" spc="-10">
                <a:latin typeface="Arial"/>
                <a:cs typeface="Arial"/>
              </a:rPr>
              <a:t>will </a:t>
            </a:r>
            <a:r>
              <a:rPr dirty="0" sz="1200" spc="-5">
                <a:latin typeface="Arial"/>
                <a:cs typeface="Arial"/>
              </a:rPr>
              <a:t>increase in the sight of</a:t>
            </a:r>
            <a:r>
              <a:rPr dirty="0" sz="1200" spc="45">
                <a:latin typeface="Arial"/>
                <a:cs typeface="Arial"/>
              </a:rPr>
              <a:t> </a:t>
            </a:r>
            <a:r>
              <a:rPr dirty="0" sz="1200" spc="-5">
                <a:latin typeface="Arial"/>
                <a:cs typeface="Arial"/>
              </a:rPr>
              <a:t>Allah</a:t>
            </a:r>
            <a:endParaRPr sz="1200">
              <a:latin typeface="Arial"/>
              <a:cs typeface="Arial"/>
            </a:endParaRPr>
          </a:p>
          <a:p>
            <a:pPr marL="469900" indent="-229235">
              <a:lnSpc>
                <a:spcPts val="1410"/>
              </a:lnSpc>
              <a:buAutoNum type="arabicPeriod"/>
              <a:tabLst>
                <a:tab pos="470534" algn="l"/>
              </a:tabLst>
            </a:pPr>
            <a:r>
              <a:rPr dirty="0" sz="1200">
                <a:latin typeface="Arial"/>
                <a:cs typeface="Arial"/>
              </a:rPr>
              <a:t>It </a:t>
            </a:r>
            <a:r>
              <a:rPr dirty="0" sz="1200" spc="-5">
                <a:latin typeface="Arial"/>
                <a:cs typeface="Arial"/>
              </a:rPr>
              <a:t>has been Scientific proven </a:t>
            </a:r>
            <a:r>
              <a:rPr dirty="0" sz="1200">
                <a:latin typeface="Arial"/>
                <a:cs typeface="Arial"/>
              </a:rPr>
              <a:t>to </a:t>
            </a:r>
            <a:r>
              <a:rPr dirty="0" sz="1200" spc="-5">
                <a:latin typeface="Arial"/>
                <a:cs typeface="Arial"/>
              </a:rPr>
              <a:t>be</a:t>
            </a:r>
            <a:r>
              <a:rPr dirty="0" sz="1200" spc="-20">
                <a:latin typeface="Arial"/>
                <a:cs typeface="Arial"/>
              </a:rPr>
              <a:t> </a:t>
            </a:r>
            <a:r>
              <a:rPr dirty="0" sz="1200" spc="-5">
                <a:latin typeface="Arial"/>
                <a:cs typeface="Arial"/>
              </a:rPr>
              <a:t>beneficial.</a:t>
            </a:r>
            <a:endParaRPr sz="1200">
              <a:latin typeface="Arial"/>
              <a:cs typeface="Arial"/>
            </a:endParaRPr>
          </a:p>
          <a:p>
            <a:pPr>
              <a:lnSpc>
                <a:spcPct val="100000"/>
              </a:lnSpc>
            </a:pPr>
            <a:endParaRPr sz="1300">
              <a:latin typeface="Arial"/>
              <a:cs typeface="Arial"/>
            </a:endParaRPr>
          </a:p>
          <a:p>
            <a:pPr>
              <a:lnSpc>
                <a:spcPct val="100000"/>
              </a:lnSpc>
              <a:spcBef>
                <a:spcPts val="55"/>
              </a:spcBef>
            </a:pPr>
            <a:endParaRPr sz="1000">
              <a:latin typeface="Arial"/>
              <a:cs typeface="Arial"/>
            </a:endParaRPr>
          </a:p>
          <a:p>
            <a:pPr marL="12700">
              <a:lnSpc>
                <a:spcPct val="100000"/>
              </a:lnSpc>
            </a:pPr>
            <a:r>
              <a:rPr dirty="0" u="heavy" sz="1200" b="1" i="1">
                <a:uFill>
                  <a:solidFill>
                    <a:srgbClr val="000000"/>
                  </a:solidFill>
                </a:uFill>
                <a:latin typeface="Arial"/>
                <a:cs typeface="Arial"/>
              </a:rPr>
              <a:t>Zakaat</a:t>
            </a:r>
            <a:endParaRPr sz="1200">
              <a:latin typeface="Arial"/>
              <a:cs typeface="Arial"/>
            </a:endParaRPr>
          </a:p>
          <a:p>
            <a:pPr>
              <a:lnSpc>
                <a:spcPct val="100000"/>
              </a:lnSpc>
            </a:pPr>
            <a:endParaRPr sz="1200">
              <a:latin typeface="Arial"/>
              <a:cs typeface="Arial"/>
            </a:endParaRPr>
          </a:p>
          <a:p>
            <a:pPr algn="just" marL="12700" marR="5715">
              <a:lnSpc>
                <a:spcPct val="95700"/>
              </a:lnSpc>
            </a:pPr>
            <a:r>
              <a:rPr dirty="0" sz="1200" spc="-5">
                <a:latin typeface="Arial"/>
                <a:cs typeface="Arial"/>
              </a:rPr>
              <a:t>Before the coming of the </a:t>
            </a:r>
            <a:r>
              <a:rPr dirty="0" sz="1200">
                <a:latin typeface="Arial"/>
                <a:cs typeface="Arial"/>
              </a:rPr>
              <a:t>last </a:t>
            </a:r>
            <a:r>
              <a:rPr dirty="0" sz="1200" spc="-5">
                <a:latin typeface="Arial"/>
                <a:cs typeface="Arial"/>
              </a:rPr>
              <a:t>prophet Muhammad (s.a.w), zakaat existed in </a:t>
            </a:r>
            <a:r>
              <a:rPr dirty="0" sz="1200">
                <a:latin typeface="Arial"/>
                <a:cs typeface="Arial"/>
              </a:rPr>
              <a:t>form </a:t>
            </a:r>
            <a:r>
              <a:rPr dirty="0" sz="1200" spc="-5">
                <a:latin typeface="Arial"/>
                <a:cs typeface="Arial"/>
              </a:rPr>
              <a:t>of </a:t>
            </a:r>
            <a:r>
              <a:rPr dirty="0" sz="1200" spc="-10">
                <a:latin typeface="Arial"/>
                <a:cs typeface="Arial"/>
              </a:rPr>
              <a:t>Sadaqa  </a:t>
            </a:r>
            <a:r>
              <a:rPr dirty="0" sz="1200" spc="-5">
                <a:latin typeface="Arial"/>
                <a:cs typeface="Arial"/>
              </a:rPr>
              <a:t>or generous gifts. </a:t>
            </a:r>
            <a:r>
              <a:rPr dirty="0" sz="1200">
                <a:latin typeface="Arial"/>
                <a:cs typeface="Arial"/>
              </a:rPr>
              <a:t>It </a:t>
            </a:r>
            <a:r>
              <a:rPr dirty="0" sz="1200" spc="-10">
                <a:latin typeface="Arial"/>
                <a:cs typeface="Arial"/>
              </a:rPr>
              <a:t>was </a:t>
            </a:r>
            <a:r>
              <a:rPr dirty="0" sz="1200" spc="-5">
                <a:latin typeface="Arial"/>
                <a:cs typeface="Arial"/>
              </a:rPr>
              <a:t>not yet standardised. However, with </a:t>
            </a:r>
            <a:r>
              <a:rPr dirty="0" sz="1200">
                <a:latin typeface="Arial"/>
                <a:cs typeface="Arial"/>
              </a:rPr>
              <a:t>the coming </a:t>
            </a:r>
            <a:r>
              <a:rPr dirty="0" sz="1200" spc="-5">
                <a:latin typeface="Arial"/>
                <a:cs typeface="Arial"/>
              </a:rPr>
              <a:t>of the last book of  guidance, the Qur‘an, it was established </a:t>
            </a:r>
            <a:r>
              <a:rPr dirty="0" sz="1200">
                <a:latin typeface="Arial"/>
                <a:cs typeface="Arial"/>
              </a:rPr>
              <a:t>at 2 ½ % on our </a:t>
            </a:r>
            <a:r>
              <a:rPr dirty="0" sz="1200" spc="-5">
                <a:latin typeface="Arial"/>
                <a:cs typeface="Arial"/>
              </a:rPr>
              <a:t>wealth. </a:t>
            </a:r>
            <a:r>
              <a:rPr dirty="0" sz="1200">
                <a:latin typeface="Arial"/>
                <a:cs typeface="Arial"/>
              </a:rPr>
              <a:t>Zakaat </a:t>
            </a:r>
            <a:r>
              <a:rPr dirty="0" sz="1200" spc="-5">
                <a:latin typeface="Arial"/>
                <a:cs typeface="Arial"/>
              </a:rPr>
              <a:t>can </a:t>
            </a:r>
            <a:r>
              <a:rPr dirty="0" sz="1200">
                <a:latin typeface="Arial"/>
                <a:cs typeface="Arial"/>
              </a:rPr>
              <a:t>be </a:t>
            </a:r>
            <a:r>
              <a:rPr dirty="0" sz="1200" spc="-5">
                <a:latin typeface="Arial"/>
                <a:cs typeface="Arial"/>
              </a:rPr>
              <a:t>taken from  money, wealth, business, gold, and silver </a:t>
            </a:r>
            <a:r>
              <a:rPr dirty="0" sz="1200">
                <a:latin typeface="Arial"/>
                <a:cs typeface="Arial"/>
              </a:rPr>
              <a:t>among </a:t>
            </a:r>
            <a:r>
              <a:rPr dirty="0" sz="1200" spc="-5">
                <a:latin typeface="Arial"/>
                <a:cs typeface="Arial"/>
              </a:rPr>
              <a:t>others. </a:t>
            </a:r>
            <a:r>
              <a:rPr dirty="0" sz="1200">
                <a:latin typeface="Arial"/>
                <a:cs typeface="Arial"/>
              </a:rPr>
              <a:t>It </a:t>
            </a:r>
            <a:r>
              <a:rPr dirty="0" sz="1200" spc="-5">
                <a:latin typeface="Arial"/>
                <a:cs typeface="Arial"/>
              </a:rPr>
              <a:t>is the </a:t>
            </a:r>
            <a:r>
              <a:rPr dirty="0" sz="1200">
                <a:latin typeface="Arial"/>
                <a:cs typeface="Arial"/>
              </a:rPr>
              <a:t>taking </a:t>
            </a:r>
            <a:r>
              <a:rPr dirty="0" sz="1200" spc="-5">
                <a:latin typeface="Arial"/>
                <a:cs typeface="Arial"/>
              </a:rPr>
              <a:t>of </a:t>
            </a:r>
            <a:r>
              <a:rPr dirty="0" sz="1200">
                <a:latin typeface="Arial"/>
                <a:cs typeface="Arial"/>
              </a:rPr>
              <a:t>money </a:t>
            </a:r>
            <a:r>
              <a:rPr dirty="0" sz="1200" spc="-5">
                <a:latin typeface="Arial"/>
                <a:cs typeface="Arial"/>
              </a:rPr>
              <a:t>from the  rich </a:t>
            </a:r>
            <a:r>
              <a:rPr dirty="0" sz="1200">
                <a:latin typeface="Arial"/>
                <a:cs typeface="Arial"/>
              </a:rPr>
              <a:t>and </a:t>
            </a:r>
            <a:r>
              <a:rPr dirty="0" sz="1200" spc="-5">
                <a:latin typeface="Arial"/>
                <a:cs typeface="Arial"/>
              </a:rPr>
              <a:t>better off to be given </a:t>
            </a:r>
            <a:r>
              <a:rPr dirty="0" sz="1200">
                <a:latin typeface="Arial"/>
                <a:cs typeface="Arial"/>
              </a:rPr>
              <a:t>to </a:t>
            </a:r>
            <a:r>
              <a:rPr dirty="0" sz="1200" spc="-5">
                <a:latin typeface="Arial"/>
                <a:cs typeface="Arial"/>
              </a:rPr>
              <a:t>the poor and the</a:t>
            </a:r>
            <a:r>
              <a:rPr dirty="0" sz="1200" spc="10">
                <a:latin typeface="Arial"/>
                <a:cs typeface="Arial"/>
              </a:rPr>
              <a:t> </a:t>
            </a:r>
            <a:r>
              <a:rPr dirty="0" sz="1200" spc="-5">
                <a:latin typeface="Arial"/>
                <a:cs typeface="Arial"/>
              </a:rPr>
              <a:t>needy.</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5" b="1" i="1">
                <a:uFill>
                  <a:solidFill>
                    <a:srgbClr val="000000"/>
                  </a:solidFill>
                </a:uFill>
                <a:latin typeface="Arial"/>
                <a:cs typeface="Arial"/>
              </a:rPr>
              <a:t>The rates </a:t>
            </a:r>
            <a:r>
              <a:rPr dirty="0" u="heavy" sz="1200" b="1" i="1">
                <a:uFill>
                  <a:solidFill>
                    <a:srgbClr val="000000"/>
                  </a:solidFill>
                </a:uFill>
                <a:latin typeface="Arial"/>
                <a:cs typeface="Arial"/>
              </a:rPr>
              <a:t>differ </a:t>
            </a:r>
            <a:r>
              <a:rPr dirty="0" u="heavy" sz="1200" spc="-10" b="1" i="1">
                <a:uFill>
                  <a:solidFill>
                    <a:srgbClr val="000000"/>
                  </a:solidFill>
                </a:uFill>
                <a:latin typeface="Arial"/>
                <a:cs typeface="Arial"/>
              </a:rPr>
              <a:t>as</a:t>
            </a:r>
            <a:r>
              <a:rPr dirty="0" u="heavy" sz="1200" spc="-25" b="1" i="1">
                <a:uFill>
                  <a:solidFill>
                    <a:srgbClr val="000000"/>
                  </a:solidFill>
                </a:uFill>
                <a:latin typeface="Arial"/>
                <a:cs typeface="Arial"/>
              </a:rPr>
              <a:t> </a:t>
            </a:r>
            <a:r>
              <a:rPr dirty="0" u="heavy" sz="1200" spc="-5" b="1" i="1">
                <a:uFill>
                  <a:solidFill>
                    <a:srgbClr val="000000"/>
                  </a:solidFill>
                </a:uFill>
                <a:latin typeface="Arial"/>
                <a:cs typeface="Arial"/>
              </a:rPr>
              <a:t>follows:</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on cash 2 </a:t>
            </a:r>
            <a:r>
              <a:rPr dirty="0" sz="1200">
                <a:latin typeface="Arial"/>
                <a:cs typeface="Arial"/>
              </a:rPr>
              <a:t>½</a:t>
            </a:r>
            <a:r>
              <a:rPr dirty="0" sz="1200" spc="-65">
                <a:latin typeface="Arial"/>
                <a:cs typeface="Arial"/>
              </a:rPr>
              <a:t> </a:t>
            </a:r>
            <a:r>
              <a:rPr dirty="0" sz="1200" spc="-5">
                <a:latin typeface="Arial"/>
                <a:cs typeface="Arial"/>
              </a:rPr>
              <a: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on Silver </a:t>
            </a:r>
            <a:r>
              <a:rPr dirty="0" sz="1200">
                <a:latin typeface="Arial"/>
                <a:cs typeface="Arial"/>
              </a:rPr>
              <a:t>– </a:t>
            </a:r>
            <a:r>
              <a:rPr dirty="0" sz="1200" spc="-5">
                <a:latin typeface="Arial"/>
                <a:cs typeface="Arial"/>
              </a:rPr>
              <a:t>52 </a:t>
            </a:r>
            <a:r>
              <a:rPr dirty="0" sz="1200">
                <a:latin typeface="Arial"/>
                <a:cs typeface="Arial"/>
              </a:rPr>
              <a:t>½ </a:t>
            </a:r>
            <a:r>
              <a:rPr dirty="0" sz="1200" spc="-5">
                <a:latin typeface="Arial"/>
                <a:cs typeface="Arial"/>
              </a:rPr>
              <a:t>Tolas (598.40</a:t>
            </a:r>
            <a:r>
              <a:rPr dirty="0" sz="1200" spc="5">
                <a:latin typeface="Arial"/>
                <a:cs typeface="Arial"/>
              </a:rPr>
              <a:t> </a:t>
            </a:r>
            <a:r>
              <a:rPr dirty="0" sz="1200" spc="-5">
                <a:latin typeface="Arial"/>
                <a:cs typeface="Arial"/>
              </a:rPr>
              <a:t>g)</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on Gold </a:t>
            </a:r>
            <a:r>
              <a:rPr dirty="0" sz="1200">
                <a:latin typeface="Arial"/>
                <a:cs typeface="Arial"/>
              </a:rPr>
              <a:t>– </a:t>
            </a:r>
            <a:r>
              <a:rPr dirty="0" sz="1200" spc="-5">
                <a:latin typeface="Arial"/>
                <a:cs typeface="Arial"/>
              </a:rPr>
              <a:t>7 </a:t>
            </a:r>
            <a:r>
              <a:rPr dirty="0" sz="1200">
                <a:latin typeface="Arial"/>
                <a:cs typeface="Arial"/>
              </a:rPr>
              <a:t>½ Tolas </a:t>
            </a:r>
            <a:r>
              <a:rPr dirty="0" sz="1200" spc="-5">
                <a:latin typeface="Arial"/>
                <a:cs typeface="Arial"/>
              </a:rPr>
              <a:t>(85.5</a:t>
            </a:r>
            <a:r>
              <a:rPr dirty="0" sz="1200" spc="-10">
                <a:latin typeface="Arial"/>
                <a:cs typeface="Arial"/>
              </a:rPr>
              <a:t> </a:t>
            </a:r>
            <a:r>
              <a:rPr dirty="0" sz="1200" spc="-5">
                <a:latin typeface="Arial"/>
                <a:cs typeface="Arial"/>
              </a:rPr>
              <a:t>g)</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on Khums </a:t>
            </a:r>
            <a:r>
              <a:rPr dirty="0" sz="1200">
                <a:latin typeface="Arial"/>
                <a:cs typeface="Arial"/>
              </a:rPr>
              <a:t>(On </a:t>
            </a:r>
            <a:r>
              <a:rPr dirty="0" sz="1200" spc="-5">
                <a:latin typeface="Arial"/>
                <a:cs typeface="Arial"/>
              </a:rPr>
              <a:t>Mines) </a:t>
            </a:r>
            <a:r>
              <a:rPr dirty="0" sz="1200">
                <a:latin typeface="Arial"/>
                <a:cs typeface="Arial"/>
              </a:rPr>
              <a:t>– </a:t>
            </a:r>
            <a:r>
              <a:rPr dirty="0" sz="1200" spc="-5">
                <a:latin typeface="Arial"/>
                <a:cs typeface="Arial"/>
              </a:rPr>
              <a:t>1/5 of</a:t>
            </a:r>
            <a:r>
              <a:rPr dirty="0" sz="1200" spc="15">
                <a:latin typeface="Arial"/>
                <a:cs typeface="Arial"/>
              </a:rPr>
              <a:t> </a:t>
            </a:r>
            <a:r>
              <a:rPr dirty="0" sz="1200" spc="-5">
                <a:latin typeface="Arial"/>
                <a:cs typeface="Arial"/>
              </a:rPr>
              <a:t>produce</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on Ushr (Land Tax) </a:t>
            </a:r>
            <a:r>
              <a:rPr dirty="0" sz="1200">
                <a:latin typeface="Arial"/>
                <a:cs typeface="Arial"/>
              </a:rPr>
              <a:t>– </a:t>
            </a:r>
            <a:r>
              <a:rPr dirty="0" sz="1200" spc="-5">
                <a:latin typeface="Arial"/>
                <a:cs typeface="Arial"/>
              </a:rPr>
              <a:t>1/10 </a:t>
            </a:r>
            <a:r>
              <a:rPr dirty="0" sz="1200">
                <a:latin typeface="Arial"/>
                <a:cs typeface="Arial"/>
              </a:rPr>
              <a:t>- </a:t>
            </a:r>
            <a:r>
              <a:rPr dirty="0" sz="1200" spc="-5">
                <a:latin typeface="Arial"/>
                <a:cs typeface="Arial"/>
              </a:rPr>
              <a:t>1/20 of</a:t>
            </a:r>
            <a:r>
              <a:rPr dirty="0" sz="1200" spc="40">
                <a:latin typeface="Arial"/>
                <a:cs typeface="Arial"/>
              </a:rPr>
              <a:t> </a:t>
            </a:r>
            <a:r>
              <a:rPr dirty="0" sz="1200" spc="-10">
                <a:latin typeface="Arial"/>
                <a:cs typeface="Arial"/>
              </a:rPr>
              <a:t>produce.</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Many </a:t>
            </a:r>
            <a:r>
              <a:rPr dirty="0" u="heavy" sz="1200" b="1" i="1">
                <a:uFill>
                  <a:solidFill>
                    <a:srgbClr val="000000"/>
                  </a:solidFill>
                </a:uFill>
                <a:latin typeface="Arial"/>
                <a:cs typeface="Arial"/>
              </a:rPr>
              <a:t>people can </a:t>
            </a:r>
            <a:r>
              <a:rPr dirty="0" u="heavy" sz="1200" spc="-10" b="1" i="1">
                <a:uFill>
                  <a:solidFill>
                    <a:srgbClr val="000000"/>
                  </a:solidFill>
                </a:uFill>
                <a:latin typeface="Arial"/>
                <a:cs typeface="Arial"/>
              </a:rPr>
              <a:t>take </a:t>
            </a:r>
            <a:r>
              <a:rPr dirty="0" u="heavy" sz="1200" spc="-5" b="1" i="1">
                <a:uFill>
                  <a:solidFill>
                    <a:srgbClr val="000000"/>
                  </a:solidFill>
                </a:uFill>
                <a:latin typeface="Arial"/>
                <a:cs typeface="Arial"/>
              </a:rPr>
              <a:t>Zakaat such</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as:</a:t>
            </a:r>
            <a:endParaRPr sz="1200">
              <a:latin typeface="Arial"/>
              <a:cs typeface="Arial"/>
            </a:endParaRPr>
          </a:p>
          <a:p>
            <a:pPr>
              <a:lnSpc>
                <a:spcPct val="100000"/>
              </a:lnSpc>
              <a:spcBef>
                <a:spcPts val="55"/>
              </a:spcBef>
            </a:pPr>
            <a:endParaRPr sz="1100">
              <a:latin typeface="Arial"/>
              <a:cs typeface="Arial"/>
            </a:endParaRPr>
          </a:p>
          <a:p>
            <a:pPr marL="241300">
              <a:lnSpc>
                <a:spcPct val="100000"/>
              </a:lnSpc>
            </a:pPr>
            <a:r>
              <a:rPr dirty="0" sz="1200">
                <a:latin typeface="Arial"/>
                <a:cs typeface="Arial"/>
              </a:rPr>
              <a:t>1. </a:t>
            </a:r>
            <a:r>
              <a:rPr dirty="0" sz="1200" spc="-5">
                <a:latin typeface="Arial"/>
                <a:cs typeface="Arial"/>
              </a:rPr>
              <a:t>The </a:t>
            </a:r>
            <a:r>
              <a:rPr dirty="0" sz="1200">
                <a:latin typeface="Arial"/>
                <a:cs typeface="Arial"/>
              </a:rPr>
              <a:t>first </a:t>
            </a:r>
            <a:r>
              <a:rPr dirty="0" sz="1200" spc="-5">
                <a:latin typeface="Arial"/>
                <a:cs typeface="Arial"/>
              </a:rPr>
              <a:t>condition is the person </a:t>
            </a:r>
            <a:r>
              <a:rPr dirty="0" sz="1200">
                <a:latin typeface="Arial"/>
                <a:cs typeface="Arial"/>
              </a:rPr>
              <a:t>must be </a:t>
            </a:r>
            <a:r>
              <a:rPr dirty="0" sz="1200" spc="-5">
                <a:latin typeface="Arial"/>
                <a:cs typeface="Arial"/>
              </a:rPr>
              <a:t>a</a:t>
            </a:r>
            <a:r>
              <a:rPr dirty="0" sz="1200" spc="-225">
                <a:latin typeface="Arial"/>
                <a:cs typeface="Arial"/>
              </a:rPr>
              <a:t> </a:t>
            </a:r>
            <a:r>
              <a:rPr dirty="0" sz="1200" spc="-5">
                <a:latin typeface="Arial"/>
                <a:cs typeface="Arial"/>
              </a:rPr>
              <a:t>Muslim</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3026791"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82</a:t>
            </a:r>
            <a:endParaRPr sz="1200">
              <a:latin typeface="Times New Roman"/>
              <a:cs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6311900" cy="8971280"/>
          </a:xfrm>
          <a:prstGeom prst="rect">
            <a:avLst/>
          </a:prstGeom>
        </p:spPr>
        <p:txBody>
          <a:bodyPr wrap="square" lIns="0" tIns="12700" rIns="0" bIns="0" rtlCol="0" vert="horz">
            <a:spAutoFit/>
          </a:bodyPr>
          <a:lstStyle/>
          <a:p>
            <a:pPr marL="469900" indent="-229235">
              <a:lnSpc>
                <a:spcPts val="1410"/>
              </a:lnSpc>
              <a:spcBef>
                <a:spcPts val="100"/>
              </a:spcBef>
              <a:buAutoNum type="arabicPeriod" startAt="2"/>
              <a:tabLst>
                <a:tab pos="470534" algn="l"/>
              </a:tabLst>
            </a:pPr>
            <a:r>
              <a:rPr dirty="0" sz="1200" spc="-5">
                <a:latin typeface="Arial"/>
                <a:cs typeface="Arial"/>
              </a:rPr>
              <a:t>The poor</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beggar</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collectors of</a:t>
            </a:r>
            <a:r>
              <a:rPr dirty="0" sz="1200" spc="5">
                <a:latin typeface="Arial"/>
                <a:cs typeface="Arial"/>
              </a:rPr>
              <a:t> </a:t>
            </a:r>
            <a:r>
              <a:rPr dirty="0" sz="1200" spc="-5">
                <a:latin typeface="Arial"/>
                <a:cs typeface="Arial"/>
              </a:rPr>
              <a:t>Zakaat</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new</a:t>
            </a:r>
            <a:r>
              <a:rPr dirty="0" sz="1200" spc="-15">
                <a:latin typeface="Arial"/>
                <a:cs typeface="Arial"/>
              </a:rPr>
              <a:t> </a:t>
            </a:r>
            <a:r>
              <a:rPr dirty="0" sz="1200" spc="-5">
                <a:latin typeface="Arial"/>
                <a:cs typeface="Arial"/>
              </a:rPr>
              <a:t>Converts</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slaves in search of Freedom (no </a:t>
            </a:r>
            <a:r>
              <a:rPr dirty="0" sz="1200">
                <a:latin typeface="Arial"/>
                <a:cs typeface="Arial"/>
              </a:rPr>
              <a:t>more</a:t>
            </a:r>
            <a:r>
              <a:rPr dirty="0" sz="1200" spc="25">
                <a:latin typeface="Arial"/>
                <a:cs typeface="Arial"/>
              </a:rPr>
              <a:t> </a:t>
            </a:r>
            <a:r>
              <a:rPr dirty="0" sz="1200" spc="-5">
                <a:latin typeface="Arial"/>
                <a:cs typeface="Arial"/>
              </a:rPr>
              <a:t>exist)</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Debtor (Islamic</a:t>
            </a:r>
            <a:r>
              <a:rPr dirty="0" sz="1200" spc="5">
                <a:latin typeface="Arial"/>
                <a:cs typeface="Arial"/>
              </a:rPr>
              <a:t> </a:t>
            </a:r>
            <a:r>
              <a:rPr dirty="0" sz="1200" spc="-5">
                <a:latin typeface="Arial"/>
                <a:cs typeface="Arial"/>
              </a:rPr>
              <a:t>purpose)</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person in great </a:t>
            </a:r>
            <a:r>
              <a:rPr dirty="0" sz="1200">
                <a:latin typeface="Arial"/>
                <a:cs typeface="Arial"/>
              </a:rPr>
              <a:t>difficulty </a:t>
            </a:r>
            <a:r>
              <a:rPr dirty="0" sz="1200" spc="-5">
                <a:latin typeface="Arial"/>
                <a:cs typeface="Arial"/>
              </a:rPr>
              <a:t>and</a:t>
            </a:r>
            <a:r>
              <a:rPr dirty="0" sz="1200" spc="5">
                <a:latin typeface="Arial"/>
                <a:cs typeface="Arial"/>
              </a:rPr>
              <a:t> </a:t>
            </a:r>
            <a:r>
              <a:rPr dirty="0" sz="1200" spc="-5">
                <a:latin typeface="Arial"/>
                <a:cs typeface="Arial"/>
              </a:rPr>
              <a:t>Obligation</a:t>
            </a:r>
            <a:endParaRPr sz="1200">
              <a:latin typeface="Arial"/>
              <a:cs typeface="Arial"/>
            </a:endParaRPr>
          </a:p>
          <a:p>
            <a:pPr marL="469900" indent="-229235">
              <a:lnSpc>
                <a:spcPts val="1410"/>
              </a:lnSpc>
              <a:buAutoNum type="arabicPeriod" startAt="2"/>
              <a:tabLst>
                <a:tab pos="470534" algn="l"/>
              </a:tabLst>
            </a:pPr>
            <a:r>
              <a:rPr dirty="0" sz="1200" spc="-5">
                <a:latin typeface="Arial"/>
                <a:cs typeface="Arial"/>
              </a:rPr>
              <a:t>The travellers in need of</a:t>
            </a:r>
            <a:r>
              <a:rPr dirty="0" sz="1200" spc="5">
                <a:latin typeface="Arial"/>
                <a:cs typeface="Arial"/>
              </a:rPr>
              <a:t> </a:t>
            </a:r>
            <a:r>
              <a:rPr dirty="0" sz="1200" spc="-5">
                <a:latin typeface="Arial"/>
                <a:cs typeface="Arial"/>
              </a:rPr>
              <a:t>help</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Those </a:t>
            </a:r>
            <a:r>
              <a:rPr dirty="0" u="heavy" sz="1200" b="1" i="1">
                <a:uFill>
                  <a:solidFill>
                    <a:srgbClr val="000000"/>
                  </a:solidFill>
                </a:uFill>
                <a:latin typeface="Arial"/>
                <a:cs typeface="Arial"/>
              </a:rPr>
              <a:t>giving </a:t>
            </a:r>
            <a:r>
              <a:rPr dirty="0" u="heavy" sz="1200" spc="-5" b="1" i="1">
                <a:uFill>
                  <a:solidFill>
                    <a:srgbClr val="000000"/>
                  </a:solidFill>
                </a:uFill>
                <a:latin typeface="Arial"/>
                <a:cs typeface="Arial"/>
              </a:rPr>
              <a:t>Zakaat</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are:</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The </a:t>
            </a:r>
            <a:r>
              <a:rPr dirty="0" sz="1200">
                <a:latin typeface="Arial"/>
                <a:cs typeface="Arial"/>
              </a:rPr>
              <a:t>first </a:t>
            </a:r>
            <a:r>
              <a:rPr dirty="0" sz="1200" spc="-5">
                <a:latin typeface="Arial"/>
                <a:cs typeface="Arial"/>
              </a:rPr>
              <a:t>condition is the person </a:t>
            </a:r>
            <a:r>
              <a:rPr dirty="0" sz="1200">
                <a:latin typeface="Arial"/>
                <a:cs typeface="Arial"/>
              </a:rPr>
              <a:t>must be </a:t>
            </a:r>
            <a:r>
              <a:rPr dirty="0" sz="1200" spc="-5">
                <a:latin typeface="Arial"/>
                <a:cs typeface="Arial"/>
              </a:rPr>
              <a:t>a</a:t>
            </a:r>
            <a:r>
              <a:rPr dirty="0" sz="1200" spc="-20">
                <a:latin typeface="Arial"/>
                <a:cs typeface="Arial"/>
              </a:rPr>
              <a:t> </a:t>
            </a:r>
            <a:r>
              <a:rPr dirty="0" sz="1200" spc="-5">
                <a:latin typeface="Arial"/>
                <a:cs typeface="Arial"/>
              </a:rPr>
              <a:t>Muslim</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must possess the </a:t>
            </a:r>
            <a:r>
              <a:rPr dirty="0" sz="1200">
                <a:latin typeface="Arial"/>
                <a:cs typeface="Arial"/>
              </a:rPr>
              <a:t>minimum </a:t>
            </a:r>
            <a:r>
              <a:rPr dirty="0" sz="1200" spc="-5">
                <a:latin typeface="Arial"/>
                <a:cs typeface="Arial"/>
              </a:rPr>
              <a:t>amount of</a:t>
            </a:r>
            <a:r>
              <a:rPr dirty="0" sz="1200" spc="10">
                <a:latin typeface="Arial"/>
                <a:cs typeface="Arial"/>
              </a:rPr>
              <a:t> </a:t>
            </a:r>
            <a:r>
              <a:rPr dirty="0" sz="1200" spc="-5">
                <a:latin typeface="Arial"/>
                <a:cs typeface="Arial"/>
              </a:rPr>
              <a:t>Nisab</a:t>
            </a:r>
            <a:endParaRPr sz="1200">
              <a:latin typeface="Arial"/>
              <a:cs typeface="Arial"/>
            </a:endParaRPr>
          </a:p>
          <a:p>
            <a:pPr lvl="1" marL="927100" indent="-229235">
              <a:lnSpc>
                <a:spcPts val="1380"/>
              </a:lnSpc>
              <a:buAutoNum type="alphaLcPeriod"/>
              <a:tabLst>
                <a:tab pos="927735" algn="l"/>
              </a:tabLst>
            </a:pPr>
            <a:r>
              <a:rPr dirty="0" sz="1200" spc="-5">
                <a:latin typeface="Arial"/>
                <a:cs typeface="Arial"/>
              </a:rPr>
              <a:t>on cash (2 </a:t>
            </a:r>
            <a:r>
              <a:rPr dirty="0" sz="1200">
                <a:latin typeface="Arial"/>
                <a:cs typeface="Arial"/>
              </a:rPr>
              <a:t>½ </a:t>
            </a:r>
            <a:r>
              <a:rPr dirty="0" sz="1200" spc="-5">
                <a:latin typeface="Arial"/>
                <a:cs typeface="Arial"/>
              </a:rPr>
              <a:t>%) </a:t>
            </a:r>
            <a:r>
              <a:rPr dirty="0" sz="1200">
                <a:latin typeface="Arial"/>
                <a:cs typeface="Arial"/>
              </a:rPr>
              <a:t>– </a:t>
            </a:r>
            <a:r>
              <a:rPr dirty="0" sz="1200" spc="-5">
                <a:latin typeface="Arial"/>
                <a:cs typeface="Arial"/>
              </a:rPr>
              <a:t>the amount </a:t>
            </a:r>
            <a:r>
              <a:rPr dirty="0" sz="1200">
                <a:latin typeface="Arial"/>
                <a:cs typeface="Arial"/>
              </a:rPr>
              <a:t>must </a:t>
            </a:r>
            <a:r>
              <a:rPr dirty="0" sz="1200" spc="-5">
                <a:latin typeface="Arial"/>
                <a:cs typeface="Arial"/>
              </a:rPr>
              <a:t>be </a:t>
            </a:r>
            <a:r>
              <a:rPr dirty="0" sz="1200">
                <a:latin typeface="Arial"/>
                <a:cs typeface="Arial"/>
              </a:rPr>
              <a:t>for </a:t>
            </a:r>
            <a:r>
              <a:rPr dirty="0" sz="1200" spc="-5">
                <a:latin typeface="Arial"/>
                <a:cs typeface="Arial"/>
              </a:rPr>
              <a:t>the </a:t>
            </a:r>
            <a:r>
              <a:rPr dirty="0" sz="1200">
                <a:latin typeface="Arial"/>
                <a:cs typeface="Arial"/>
              </a:rPr>
              <a:t>financial </a:t>
            </a:r>
            <a:r>
              <a:rPr dirty="0" sz="1200" spc="-5">
                <a:latin typeface="Arial"/>
                <a:cs typeface="Arial"/>
              </a:rPr>
              <a:t>year (12</a:t>
            </a:r>
            <a:r>
              <a:rPr dirty="0" sz="1200" spc="20">
                <a:latin typeface="Arial"/>
                <a:cs typeface="Arial"/>
              </a:rPr>
              <a:t> </a:t>
            </a:r>
            <a:r>
              <a:rPr dirty="0" sz="1200">
                <a:latin typeface="Arial"/>
                <a:cs typeface="Arial"/>
              </a:rPr>
              <a:t>months)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must possess the </a:t>
            </a:r>
            <a:r>
              <a:rPr dirty="0" sz="1200">
                <a:latin typeface="Arial"/>
                <a:cs typeface="Arial"/>
              </a:rPr>
              <a:t>minimum </a:t>
            </a:r>
            <a:r>
              <a:rPr dirty="0" sz="1200" spc="-5">
                <a:latin typeface="Arial"/>
                <a:cs typeface="Arial"/>
              </a:rPr>
              <a:t>amount of</a:t>
            </a:r>
            <a:r>
              <a:rPr dirty="0" sz="1200" spc="15">
                <a:latin typeface="Arial"/>
                <a:cs typeface="Arial"/>
              </a:rPr>
              <a:t> </a:t>
            </a:r>
            <a:r>
              <a:rPr dirty="0" sz="1200" spc="-5">
                <a:latin typeface="Arial"/>
                <a:cs typeface="Arial"/>
              </a:rPr>
              <a:t>Nisab</a:t>
            </a:r>
            <a:endParaRPr sz="1200">
              <a:latin typeface="Arial"/>
              <a:cs typeface="Arial"/>
            </a:endParaRPr>
          </a:p>
          <a:p>
            <a:pPr lvl="1" marL="927100" indent="-229235">
              <a:lnSpc>
                <a:spcPts val="1380"/>
              </a:lnSpc>
              <a:buAutoNum type="alphaLcPeriod"/>
              <a:tabLst>
                <a:tab pos="927735" algn="l"/>
              </a:tabLst>
            </a:pPr>
            <a:r>
              <a:rPr dirty="0" sz="1200" spc="-5">
                <a:latin typeface="Arial"/>
                <a:cs typeface="Arial"/>
              </a:rPr>
              <a:t>on Silver </a:t>
            </a:r>
            <a:r>
              <a:rPr dirty="0" sz="1200">
                <a:latin typeface="Arial"/>
                <a:cs typeface="Arial"/>
              </a:rPr>
              <a:t>– </a:t>
            </a:r>
            <a:r>
              <a:rPr dirty="0" sz="1200" spc="-5">
                <a:latin typeface="Arial"/>
                <a:cs typeface="Arial"/>
              </a:rPr>
              <a:t>52 </a:t>
            </a:r>
            <a:r>
              <a:rPr dirty="0" sz="1200">
                <a:latin typeface="Arial"/>
                <a:cs typeface="Arial"/>
              </a:rPr>
              <a:t>½ </a:t>
            </a:r>
            <a:r>
              <a:rPr dirty="0" sz="1200" spc="-5">
                <a:latin typeface="Arial"/>
                <a:cs typeface="Arial"/>
              </a:rPr>
              <a:t>Tolas (598.40</a:t>
            </a:r>
            <a:r>
              <a:rPr dirty="0" sz="1200" spc="5">
                <a:latin typeface="Arial"/>
                <a:cs typeface="Arial"/>
              </a:rPr>
              <a:t> </a:t>
            </a:r>
            <a:r>
              <a:rPr dirty="0" sz="1200" spc="-5">
                <a:latin typeface="Arial"/>
                <a:cs typeface="Arial"/>
              </a:rPr>
              <a:t>g)</a:t>
            </a:r>
            <a:endParaRPr sz="1200">
              <a:latin typeface="Arial"/>
              <a:cs typeface="Arial"/>
            </a:endParaRPr>
          </a:p>
          <a:p>
            <a:pPr lvl="1" marL="927100" indent="-229235">
              <a:lnSpc>
                <a:spcPts val="1380"/>
              </a:lnSpc>
              <a:buAutoNum type="alphaLcPeriod"/>
              <a:tabLst>
                <a:tab pos="927735" algn="l"/>
              </a:tabLst>
            </a:pPr>
            <a:r>
              <a:rPr dirty="0" sz="1200" spc="-5">
                <a:latin typeface="Arial"/>
                <a:cs typeface="Arial"/>
              </a:rPr>
              <a:t>on Gold </a:t>
            </a:r>
            <a:r>
              <a:rPr dirty="0" sz="1200">
                <a:latin typeface="Arial"/>
                <a:cs typeface="Arial"/>
              </a:rPr>
              <a:t>– </a:t>
            </a:r>
            <a:r>
              <a:rPr dirty="0" sz="1200" spc="-5">
                <a:latin typeface="Arial"/>
                <a:cs typeface="Arial"/>
              </a:rPr>
              <a:t>7 </a:t>
            </a:r>
            <a:r>
              <a:rPr dirty="0" sz="1200">
                <a:latin typeface="Arial"/>
                <a:cs typeface="Arial"/>
              </a:rPr>
              <a:t>½ Tolas </a:t>
            </a:r>
            <a:r>
              <a:rPr dirty="0" sz="1200" spc="-5">
                <a:latin typeface="Arial"/>
                <a:cs typeface="Arial"/>
              </a:rPr>
              <a:t>(85.5</a:t>
            </a:r>
            <a:r>
              <a:rPr dirty="0" sz="1200" spc="-10">
                <a:latin typeface="Arial"/>
                <a:cs typeface="Arial"/>
              </a:rPr>
              <a:t> </a:t>
            </a:r>
            <a:r>
              <a:rPr dirty="0" sz="1200" spc="-5">
                <a:latin typeface="Arial"/>
                <a:cs typeface="Arial"/>
              </a:rPr>
              <a:t>g)</a:t>
            </a:r>
            <a:endParaRPr sz="1200">
              <a:latin typeface="Arial"/>
              <a:cs typeface="Arial"/>
            </a:endParaRPr>
          </a:p>
          <a:p>
            <a:pPr lvl="1" marL="927100" indent="-229235">
              <a:lnSpc>
                <a:spcPts val="1380"/>
              </a:lnSpc>
              <a:buAutoNum type="alphaLcPeriod"/>
              <a:tabLst>
                <a:tab pos="927735" algn="l"/>
              </a:tabLst>
            </a:pPr>
            <a:r>
              <a:rPr dirty="0" sz="1200" spc="-5">
                <a:latin typeface="Arial"/>
                <a:cs typeface="Arial"/>
              </a:rPr>
              <a:t>on Khums </a:t>
            </a:r>
            <a:r>
              <a:rPr dirty="0" sz="1200">
                <a:latin typeface="Arial"/>
                <a:cs typeface="Arial"/>
              </a:rPr>
              <a:t>(On </a:t>
            </a:r>
            <a:r>
              <a:rPr dirty="0" sz="1200" spc="-5">
                <a:latin typeface="Arial"/>
                <a:cs typeface="Arial"/>
              </a:rPr>
              <a:t>Mines) </a:t>
            </a:r>
            <a:r>
              <a:rPr dirty="0" sz="1200">
                <a:latin typeface="Arial"/>
                <a:cs typeface="Arial"/>
              </a:rPr>
              <a:t>– </a:t>
            </a:r>
            <a:r>
              <a:rPr dirty="0" sz="1200" spc="-5">
                <a:latin typeface="Arial"/>
                <a:cs typeface="Arial"/>
              </a:rPr>
              <a:t>1/5 of</a:t>
            </a:r>
            <a:r>
              <a:rPr dirty="0" sz="1200" spc="15">
                <a:latin typeface="Arial"/>
                <a:cs typeface="Arial"/>
              </a:rPr>
              <a:t> </a:t>
            </a:r>
            <a:r>
              <a:rPr dirty="0" sz="1200" spc="-5">
                <a:latin typeface="Arial"/>
                <a:cs typeface="Arial"/>
              </a:rPr>
              <a:t>produce</a:t>
            </a:r>
            <a:endParaRPr sz="1200">
              <a:latin typeface="Arial"/>
              <a:cs typeface="Arial"/>
            </a:endParaRPr>
          </a:p>
          <a:p>
            <a:pPr lvl="1" marL="927100" indent="-229235">
              <a:lnSpc>
                <a:spcPts val="1380"/>
              </a:lnSpc>
              <a:buAutoNum type="alphaLcPeriod"/>
              <a:tabLst>
                <a:tab pos="927735" algn="l"/>
              </a:tabLst>
            </a:pPr>
            <a:r>
              <a:rPr dirty="0" sz="1200" spc="-5">
                <a:latin typeface="Arial"/>
                <a:cs typeface="Arial"/>
              </a:rPr>
              <a:t>on Ushr (Land Tax) </a:t>
            </a:r>
            <a:r>
              <a:rPr dirty="0" sz="1200">
                <a:latin typeface="Arial"/>
                <a:cs typeface="Arial"/>
              </a:rPr>
              <a:t>– 1/10 - </a:t>
            </a:r>
            <a:r>
              <a:rPr dirty="0" sz="1200" spc="-5">
                <a:latin typeface="Arial"/>
                <a:cs typeface="Arial"/>
              </a:rPr>
              <a:t>1/20 of</a:t>
            </a:r>
            <a:r>
              <a:rPr dirty="0" sz="1200" spc="15">
                <a:latin typeface="Arial"/>
                <a:cs typeface="Arial"/>
              </a:rPr>
              <a:t> </a:t>
            </a:r>
            <a:r>
              <a:rPr dirty="0" sz="1200" spc="-5">
                <a:latin typeface="Arial"/>
                <a:cs typeface="Arial"/>
              </a:rPr>
              <a:t>produce</a:t>
            </a:r>
            <a:endParaRPr sz="1200">
              <a:latin typeface="Arial"/>
              <a:cs typeface="Arial"/>
            </a:endParaRPr>
          </a:p>
          <a:p>
            <a:pPr marL="469900" marR="5080" indent="-228600">
              <a:lnSpc>
                <a:spcPts val="1380"/>
              </a:lnSpc>
              <a:spcBef>
                <a:spcPts val="65"/>
              </a:spcBef>
              <a:buAutoNum type="arabicPeriod"/>
              <a:tabLst>
                <a:tab pos="470534" algn="l"/>
              </a:tabLst>
            </a:pPr>
            <a:r>
              <a:rPr dirty="0" sz="1200">
                <a:latin typeface="Arial"/>
                <a:cs typeface="Arial"/>
              </a:rPr>
              <a:t>If </a:t>
            </a:r>
            <a:r>
              <a:rPr dirty="0" sz="1200" spc="-5">
                <a:latin typeface="Arial"/>
                <a:cs typeface="Arial"/>
              </a:rPr>
              <a:t>one criteria is not enough </a:t>
            </a:r>
            <a:r>
              <a:rPr dirty="0" sz="1200">
                <a:latin typeface="Arial"/>
                <a:cs typeface="Arial"/>
              </a:rPr>
              <a:t>to </a:t>
            </a:r>
            <a:r>
              <a:rPr dirty="0" sz="1200" spc="-5">
                <a:latin typeface="Arial"/>
                <a:cs typeface="Arial"/>
              </a:rPr>
              <a:t>reach the Nisab, then a mixture of </a:t>
            </a:r>
            <a:r>
              <a:rPr dirty="0" sz="1200" spc="15">
                <a:latin typeface="Arial"/>
                <a:cs typeface="Arial"/>
              </a:rPr>
              <a:t>the </a:t>
            </a:r>
            <a:r>
              <a:rPr dirty="0" sz="1200" spc="-5">
                <a:latin typeface="Arial"/>
                <a:cs typeface="Arial"/>
              </a:rPr>
              <a:t>value of more  </a:t>
            </a:r>
            <a:r>
              <a:rPr dirty="0" sz="1200">
                <a:latin typeface="Arial"/>
                <a:cs typeface="Arial"/>
              </a:rPr>
              <a:t>than </a:t>
            </a:r>
            <a:r>
              <a:rPr dirty="0" sz="1200" spc="-5">
                <a:latin typeface="Arial"/>
                <a:cs typeface="Arial"/>
              </a:rPr>
              <a:t>one</a:t>
            </a:r>
            <a:r>
              <a:rPr dirty="0" sz="1200" spc="-15">
                <a:latin typeface="Arial"/>
                <a:cs typeface="Arial"/>
              </a:rPr>
              <a:t> </a:t>
            </a:r>
            <a:r>
              <a:rPr dirty="0" sz="1200">
                <a:latin typeface="Arial"/>
                <a:cs typeface="Arial"/>
              </a:rPr>
              <a:t>item.</a:t>
            </a:r>
            <a:endParaRPr sz="1200">
              <a:latin typeface="Arial"/>
              <a:cs typeface="Arial"/>
            </a:endParaRPr>
          </a:p>
          <a:p>
            <a:pPr>
              <a:lnSpc>
                <a:spcPct val="100000"/>
              </a:lnSpc>
            </a:pPr>
            <a:endParaRPr sz="1200">
              <a:latin typeface="Arial"/>
              <a:cs typeface="Arial"/>
            </a:endParaRPr>
          </a:p>
          <a:p>
            <a:pPr algn="just" marL="469900" marR="7620">
              <a:lnSpc>
                <a:spcPts val="1380"/>
              </a:lnSpc>
            </a:pPr>
            <a:r>
              <a:rPr dirty="0" sz="1200" spc="-5">
                <a:latin typeface="Arial"/>
                <a:cs typeface="Arial"/>
              </a:rPr>
              <a:t>Example: </a:t>
            </a:r>
            <a:r>
              <a:rPr dirty="0" sz="1200" spc="-10">
                <a:latin typeface="Arial"/>
                <a:cs typeface="Arial"/>
              </a:rPr>
              <a:t>if </a:t>
            </a:r>
            <a:r>
              <a:rPr dirty="0" sz="1200" spc="-5">
                <a:latin typeface="Arial"/>
                <a:cs typeface="Arial"/>
              </a:rPr>
              <a:t>the value of </a:t>
            </a:r>
            <a:r>
              <a:rPr dirty="0" u="heavy" sz="1200" spc="-5" b="1" i="1">
                <a:uFill>
                  <a:solidFill>
                    <a:srgbClr val="000000"/>
                  </a:solidFill>
                </a:uFill>
                <a:latin typeface="Arial"/>
                <a:cs typeface="Arial"/>
              </a:rPr>
              <a:t>silver</a:t>
            </a:r>
            <a:r>
              <a:rPr dirty="0" sz="1200" spc="-5" b="1" i="1">
                <a:latin typeface="Arial"/>
                <a:cs typeface="Arial"/>
              </a:rPr>
              <a:t> </a:t>
            </a:r>
            <a:r>
              <a:rPr dirty="0" sz="1200" spc="-5">
                <a:latin typeface="Arial"/>
                <a:cs typeface="Arial"/>
              </a:rPr>
              <a:t>is Rs 10 </a:t>
            </a:r>
            <a:r>
              <a:rPr dirty="0" sz="1200">
                <a:latin typeface="Arial"/>
                <a:cs typeface="Arial"/>
              </a:rPr>
              <a:t>/ </a:t>
            </a:r>
            <a:r>
              <a:rPr dirty="0" sz="1200" spc="-10">
                <a:latin typeface="Arial"/>
                <a:cs typeface="Arial"/>
              </a:rPr>
              <a:t>gm </a:t>
            </a:r>
            <a:r>
              <a:rPr dirty="0" sz="1200">
                <a:latin typeface="Arial"/>
                <a:cs typeface="Arial"/>
              </a:rPr>
              <a:t>the </a:t>
            </a:r>
            <a:r>
              <a:rPr dirty="0" sz="1200" spc="-5">
                <a:latin typeface="Arial"/>
                <a:cs typeface="Arial"/>
              </a:rPr>
              <a:t>person must </a:t>
            </a:r>
            <a:r>
              <a:rPr dirty="0" sz="1200" spc="-10">
                <a:latin typeface="Arial"/>
                <a:cs typeface="Arial"/>
              </a:rPr>
              <a:t>have </a:t>
            </a:r>
            <a:r>
              <a:rPr dirty="0" sz="1200">
                <a:latin typeface="Arial"/>
                <a:cs typeface="Arial"/>
              </a:rPr>
              <a:t>at least </a:t>
            </a:r>
            <a:r>
              <a:rPr dirty="0" sz="1200" spc="-5">
                <a:latin typeface="Arial"/>
                <a:cs typeface="Arial"/>
              </a:rPr>
              <a:t>(598.40  gm) Rs 5984 worth of silver. </a:t>
            </a:r>
            <a:r>
              <a:rPr dirty="0" sz="1200">
                <a:latin typeface="Arial"/>
                <a:cs typeface="Arial"/>
              </a:rPr>
              <a:t>if </a:t>
            </a:r>
            <a:r>
              <a:rPr dirty="0" sz="1200" spc="-5">
                <a:latin typeface="Arial"/>
                <a:cs typeface="Arial"/>
              </a:rPr>
              <a:t>the value of </a:t>
            </a:r>
            <a:r>
              <a:rPr dirty="0" u="heavy" sz="1200" spc="-5" b="1" i="1">
                <a:uFill>
                  <a:solidFill>
                    <a:srgbClr val="000000"/>
                  </a:solidFill>
                </a:uFill>
                <a:latin typeface="Arial"/>
                <a:cs typeface="Arial"/>
              </a:rPr>
              <a:t>gold</a:t>
            </a:r>
            <a:r>
              <a:rPr dirty="0" sz="1200" spc="-5" b="1" i="1">
                <a:latin typeface="Arial"/>
                <a:cs typeface="Arial"/>
              </a:rPr>
              <a:t> </a:t>
            </a:r>
            <a:r>
              <a:rPr dirty="0" sz="1200" spc="-5">
                <a:latin typeface="Arial"/>
                <a:cs typeface="Arial"/>
              </a:rPr>
              <a:t>is Rs 1000 </a:t>
            </a:r>
            <a:r>
              <a:rPr dirty="0" sz="1200">
                <a:latin typeface="Arial"/>
                <a:cs typeface="Arial"/>
              </a:rPr>
              <a:t>/ </a:t>
            </a:r>
            <a:r>
              <a:rPr dirty="0" sz="1200" spc="-5">
                <a:latin typeface="Arial"/>
                <a:cs typeface="Arial"/>
              </a:rPr>
              <a:t>gm </a:t>
            </a:r>
            <a:r>
              <a:rPr dirty="0" sz="1200" spc="-10">
                <a:latin typeface="Arial"/>
                <a:cs typeface="Arial"/>
              </a:rPr>
              <a:t>the </a:t>
            </a:r>
            <a:r>
              <a:rPr dirty="0" sz="1200" spc="-5">
                <a:latin typeface="Arial"/>
                <a:cs typeface="Arial"/>
              </a:rPr>
              <a:t>person </a:t>
            </a:r>
            <a:r>
              <a:rPr dirty="0" sz="1200">
                <a:latin typeface="Arial"/>
                <a:cs typeface="Arial"/>
              </a:rPr>
              <a:t>must </a:t>
            </a:r>
            <a:r>
              <a:rPr dirty="0" sz="1200" spc="-5">
                <a:latin typeface="Arial"/>
                <a:cs typeface="Arial"/>
              </a:rPr>
              <a:t>have  </a:t>
            </a:r>
            <a:r>
              <a:rPr dirty="0" sz="1200">
                <a:latin typeface="Arial"/>
                <a:cs typeface="Arial"/>
              </a:rPr>
              <a:t>at least </a:t>
            </a:r>
            <a:r>
              <a:rPr dirty="0" sz="1200" spc="-5">
                <a:latin typeface="Arial"/>
                <a:cs typeface="Arial"/>
              </a:rPr>
              <a:t>(85.5 gm) Rs 85500 worth </a:t>
            </a:r>
            <a:r>
              <a:rPr dirty="0" sz="1200">
                <a:latin typeface="Arial"/>
                <a:cs typeface="Arial"/>
              </a:rPr>
              <a:t>of </a:t>
            </a:r>
            <a:r>
              <a:rPr dirty="0" sz="1200" spc="-5">
                <a:latin typeface="Arial"/>
                <a:cs typeface="Arial"/>
              </a:rPr>
              <a:t>gold. If </a:t>
            </a:r>
            <a:r>
              <a:rPr dirty="0" sz="1200">
                <a:latin typeface="Arial"/>
                <a:cs typeface="Arial"/>
              </a:rPr>
              <a:t>the person </a:t>
            </a:r>
            <a:r>
              <a:rPr dirty="0" sz="1200" spc="-5">
                <a:latin typeface="Arial"/>
                <a:cs typeface="Arial"/>
              </a:rPr>
              <a:t>has less silver and less gold,  </a:t>
            </a:r>
            <a:r>
              <a:rPr dirty="0" sz="1200" spc="-10">
                <a:latin typeface="Arial"/>
                <a:cs typeface="Arial"/>
              </a:rPr>
              <a:t>we </a:t>
            </a:r>
            <a:r>
              <a:rPr dirty="0" sz="1200">
                <a:latin typeface="Arial"/>
                <a:cs typeface="Arial"/>
              </a:rPr>
              <a:t>add </a:t>
            </a:r>
            <a:r>
              <a:rPr dirty="0" sz="1200" spc="-5">
                <a:latin typeface="Arial"/>
                <a:cs typeface="Arial"/>
              </a:rPr>
              <a:t>the value of </a:t>
            </a:r>
            <a:r>
              <a:rPr dirty="0" sz="1200" spc="-10">
                <a:latin typeface="Arial"/>
                <a:cs typeface="Arial"/>
              </a:rPr>
              <a:t>both </a:t>
            </a:r>
            <a:r>
              <a:rPr dirty="0" sz="1200" spc="-5">
                <a:latin typeface="Arial"/>
                <a:cs typeface="Arial"/>
              </a:rPr>
              <a:t>silver </a:t>
            </a:r>
            <a:r>
              <a:rPr dirty="0" sz="1200">
                <a:latin typeface="Arial"/>
                <a:cs typeface="Arial"/>
              </a:rPr>
              <a:t>and </a:t>
            </a:r>
            <a:r>
              <a:rPr dirty="0" sz="1200" spc="-5">
                <a:latin typeface="Arial"/>
                <a:cs typeface="Arial"/>
              </a:rPr>
              <a:t>gold and then </a:t>
            </a:r>
            <a:r>
              <a:rPr dirty="0" sz="1200" spc="-10">
                <a:latin typeface="Arial"/>
                <a:cs typeface="Arial"/>
              </a:rPr>
              <a:t>we </a:t>
            </a:r>
            <a:r>
              <a:rPr dirty="0" sz="1200" spc="-5">
                <a:latin typeface="Arial"/>
                <a:cs typeface="Arial"/>
              </a:rPr>
              <a:t>calculate </a:t>
            </a:r>
            <a:r>
              <a:rPr dirty="0" sz="1200">
                <a:latin typeface="Arial"/>
                <a:cs typeface="Arial"/>
              </a:rPr>
              <a:t>its </a:t>
            </a:r>
            <a:r>
              <a:rPr dirty="0" sz="1200" spc="-5">
                <a:latin typeface="Arial"/>
                <a:cs typeface="Arial"/>
              </a:rPr>
              <a:t>2 </a:t>
            </a:r>
            <a:r>
              <a:rPr dirty="0" sz="1200">
                <a:latin typeface="Arial"/>
                <a:cs typeface="Arial"/>
              </a:rPr>
              <a:t>½ </a:t>
            </a:r>
            <a:r>
              <a:rPr dirty="0" sz="1200" spc="-5">
                <a:latin typeface="Arial"/>
                <a:cs typeface="Arial"/>
              </a:rPr>
              <a:t>% of the</a:t>
            </a:r>
            <a:r>
              <a:rPr dirty="0" sz="1200" spc="160">
                <a:latin typeface="Arial"/>
                <a:cs typeface="Arial"/>
              </a:rPr>
              <a:t> </a:t>
            </a:r>
            <a:r>
              <a:rPr dirty="0" sz="1200" spc="-5">
                <a:latin typeface="Arial"/>
                <a:cs typeface="Arial"/>
              </a:rPr>
              <a:t>whole.</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There are many benefits </a:t>
            </a:r>
            <a:r>
              <a:rPr dirty="0" u="heavy" sz="1200" b="1" i="1">
                <a:uFill>
                  <a:solidFill>
                    <a:srgbClr val="000000"/>
                  </a:solidFill>
                </a:uFill>
                <a:latin typeface="Arial"/>
                <a:cs typeface="Arial"/>
              </a:rPr>
              <a:t>such</a:t>
            </a:r>
            <a:r>
              <a:rPr dirty="0" u="heavy" sz="1200" spc="15" b="1" i="1">
                <a:uFill>
                  <a:solidFill>
                    <a:srgbClr val="000000"/>
                  </a:solidFill>
                </a:uFill>
                <a:latin typeface="Arial"/>
                <a:cs typeface="Arial"/>
              </a:rPr>
              <a:t> </a:t>
            </a:r>
            <a:r>
              <a:rPr dirty="0" u="heavy" sz="1200" b="1" i="1">
                <a:uFill>
                  <a:solidFill>
                    <a:srgbClr val="000000"/>
                  </a:solidFill>
                </a:uFill>
                <a:latin typeface="Arial"/>
                <a:cs typeface="Arial"/>
              </a:rPr>
              <a:t>as:</a:t>
            </a:r>
            <a:endParaRPr sz="1200">
              <a:latin typeface="Arial"/>
              <a:cs typeface="Arial"/>
            </a:endParaRPr>
          </a:p>
          <a:p>
            <a:pPr>
              <a:lnSpc>
                <a:spcPct val="100000"/>
              </a:lnSpc>
            </a:pPr>
            <a:endParaRPr sz="1150">
              <a:latin typeface="Arial"/>
              <a:cs typeface="Arial"/>
            </a:endParaRPr>
          </a:p>
          <a:p>
            <a:pPr marL="469900" indent="-229235">
              <a:lnSpc>
                <a:spcPts val="1410"/>
              </a:lnSpc>
              <a:buAutoNum type="arabicPeriod"/>
              <a:tabLst>
                <a:tab pos="470534" algn="l"/>
              </a:tabLst>
            </a:pPr>
            <a:r>
              <a:rPr dirty="0" sz="1200" spc="-5">
                <a:latin typeface="Arial"/>
                <a:cs typeface="Arial"/>
              </a:rPr>
              <a:t>Barakat (blessings) in our </a:t>
            </a:r>
            <a:r>
              <a:rPr dirty="0" sz="1200" spc="-10">
                <a:latin typeface="Arial"/>
                <a:cs typeface="Arial"/>
              </a:rPr>
              <a:t>lives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Protection from</a:t>
            </a:r>
            <a:r>
              <a:rPr dirty="0" sz="1200" spc="-15">
                <a:latin typeface="Arial"/>
                <a:cs typeface="Arial"/>
              </a:rPr>
              <a:t> </a:t>
            </a:r>
            <a:r>
              <a:rPr dirty="0" sz="1200" spc="-5">
                <a:latin typeface="Arial"/>
                <a:cs typeface="Arial"/>
              </a:rPr>
              <a:t>poverty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Barakat in</a:t>
            </a:r>
            <a:r>
              <a:rPr dirty="0" sz="1200" spc="-20">
                <a:latin typeface="Arial"/>
                <a:cs typeface="Arial"/>
              </a:rPr>
              <a:t> </a:t>
            </a:r>
            <a:r>
              <a:rPr dirty="0" sz="1200" spc="-5">
                <a:latin typeface="Arial"/>
                <a:cs typeface="Arial"/>
              </a:rPr>
              <a:t>money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Purification of</a:t>
            </a:r>
            <a:r>
              <a:rPr dirty="0" sz="1200" spc="-10">
                <a:latin typeface="Arial"/>
                <a:cs typeface="Arial"/>
              </a:rPr>
              <a:t> </a:t>
            </a:r>
            <a:r>
              <a:rPr dirty="0" sz="1200" spc="-5">
                <a:latin typeface="Arial"/>
                <a:cs typeface="Arial"/>
              </a:rPr>
              <a:t>money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Flow </a:t>
            </a:r>
            <a:r>
              <a:rPr dirty="0" sz="1200">
                <a:latin typeface="Arial"/>
                <a:cs typeface="Arial"/>
              </a:rPr>
              <a:t>of </a:t>
            </a:r>
            <a:r>
              <a:rPr dirty="0" sz="1200" spc="-5">
                <a:latin typeface="Arial"/>
                <a:cs typeface="Arial"/>
              </a:rPr>
              <a:t>money among the</a:t>
            </a:r>
            <a:r>
              <a:rPr dirty="0" sz="1200" spc="-40">
                <a:latin typeface="Arial"/>
                <a:cs typeface="Arial"/>
              </a:rPr>
              <a:t> </a:t>
            </a:r>
            <a:r>
              <a:rPr dirty="0" sz="1200" spc="-5">
                <a:latin typeface="Arial"/>
                <a:cs typeface="Arial"/>
              </a:rPr>
              <a:t>people</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An opportunity </a:t>
            </a:r>
            <a:r>
              <a:rPr dirty="0" sz="1200">
                <a:latin typeface="Arial"/>
                <a:cs typeface="Arial"/>
              </a:rPr>
              <a:t>to </a:t>
            </a:r>
            <a:r>
              <a:rPr dirty="0" sz="1200" spc="-5">
                <a:latin typeface="Arial"/>
                <a:cs typeface="Arial"/>
              </a:rPr>
              <a:t>help </a:t>
            </a:r>
            <a:r>
              <a:rPr dirty="0" sz="1200">
                <a:latin typeface="Arial"/>
                <a:cs typeface="Arial"/>
              </a:rPr>
              <a:t>the</a:t>
            </a:r>
            <a:r>
              <a:rPr dirty="0" sz="1200" spc="-25">
                <a:latin typeface="Arial"/>
                <a:cs typeface="Arial"/>
              </a:rPr>
              <a:t> </a:t>
            </a:r>
            <a:r>
              <a:rPr dirty="0" sz="1200" spc="-5">
                <a:latin typeface="Arial"/>
                <a:cs typeface="Arial"/>
              </a:rPr>
              <a:t>needy</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To </a:t>
            </a:r>
            <a:r>
              <a:rPr dirty="0" sz="1200" spc="-5">
                <a:latin typeface="Arial"/>
                <a:cs typeface="Arial"/>
              </a:rPr>
              <a:t>attain</a:t>
            </a:r>
            <a:r>
              <a:rPr dirty="0" sz="1200" spc="-20">
                <a:latin typeface="Arial"/>
                <a:cs typeface="Arial"/>
              </a:rPr>
              <a:t> </a:t>
            </a:r>
            <a:r>
              <a:rPr dirty="0" sz="1200" spc="-5">
                <a:latin typeface="Arial"/>
                <a:cs typeface="Arial"/>
              </a:rPr>
              <a:t>righteousness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spc="-5">
                <a:latin typeface="Arial"/>
                <a:cs typeface="Arial"/>
              </a:rPr>
              <a:t>create a proximity with the poor</a:t>
            </a:r>
            <a:endParaRPr sz="1200">
              <a:latin typeface="Arial"/>
              <a:cs typeface="Arial"/>
            </a:endParaRPr>
          </a:p>
          <a:p>
            <a:pPr marL="469900" indent="-229235">
              <a:lnSpc>
                <a:spcPts val="1380"/>
              </a:lnSpc>
              <a:buAutoNum type="arabicPeriod"/>
              <a:tabLst>
                <a:tab pos="470534" algn="l"/>
              </a:tabLst>
            </a:pPr>
            <a:r>
              <a:rPr dirty="0" sz="1200">
                <a:latin typeface="Arial"/>
                <a:cs typeface="Arial"/>
              </a:rPr>
              <a:t>A </a:t>
            </a:r>
            <a:r>
              <a:rPr dirty="0" sz="1200" spc="-5">
                <a:latin typeface="Arial"/>
                <a:cs typeface="Arial"/>
              </a:rPr>
              <a:t>sense of solidarity and gentleness towards </a:t>
            </a:r>
            <a:r>
              <a:rPr dirty="0" sz="1200">
                <a:latin typeface="Arial"/>
                <a:cs typeface="Arial"/>
              </a:rPr>
              <a:t>the </a:t>
            </a:r>
            <a:r>
              <a:rPr dirty="0" sz="1200" spc="-5">
                <a:latin typeface="Arial"/>
                <a:cs typeface="Arial"/>
              </a:rPr>
              <a:t>poor and the</a:t>
            </a:r>
            <a:r>
              <a:rPr dirty="0" sz="1200" spc="45">
                <a:latin typeface="Arial"/>
                <a:cs typeface="Arial"/>
              </a:rPr>
              <a:t> </a:t>
            </a:r>
            <a:r>
              <a:rPr dirty="0" sz="1200" spc="-10">
                <a:latin typeface="Arial"/>
                <a:cs typeface="Arial"/>
              </a:rPr>
              <a:t>needy</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The acknowledgement of the worthiness of</a:t>
            </a:r>
            <a:r>
              <a:rPr dirty="0" sz="1200" spc="15">
                <a:latin typeface="Arial"/>
                <a:cs typeface="Arial"/>
              </a:rPr>
              <a:t> </a:t>
            </a:r>
            <a:r>
              <a:rPr dirty="0" sz="1200" spc="-5">
                <a:latin typeface="Arial"/>
                <a:cs typeface="Arial"/>
              </a:rPr>
              <a:t>money</a:t>
            </a:r>
            <a:endParaRPr sz="1200">
              <a:latin typeface="Arial"/>
              <a:cs typeface="Arial"/>
            </a:endParaRPr>
          </a:p>
          <a:p>
            <a:pPr>
              <a:lnSpc>
                <a:spcPct val="100000"/>
              </a:lnSpc>
            </a:pPr>
            <a:endParaRPr sz="1300">
              <a:latin typeface="Arial"/>
              <a:cs typeface="Arial"/>
            </a:endParaRPr>
          </a:p>
          <a:p>
            <a:pPr>
              <a:lnSpc>
                <a:spcPct val="100000"/>
              </a:lnSpc>
              <a:spcBef>
                <a:spcPts val="55"/>
              </a:spcBef>
            </a:pPr>
            <a:endParaRPr sz="1000">
              <a:latin typeface="Arial"/>
              <a:cs typeface="Arial"/>
            </a:endParaRPr>
          </a:p>
          <a:p>
            <a:pPr marL="12700">
              <a:lnSpc>
                <a:spcPct val="100000"/>
              </a:lnSpc>
            </a:pPr>
            <a:r>
              <a:rPr dirty="0" u="heavy" sz="1200" b="1" i="1">
                <a:uFill>
                  <a:solidFill>
                    <a:srgbClr val="000000"/>
                  </a:solidFill>
                </a:uFill>
                <a:latin typeface="Arial"/>
                <a:cs typeface="Arial"/>
              </a:rPr>
              <a:t>Hajj:</a:t>
            </a:r>
            <a:r>
              <a:rPr dirty="0" u="heavy" sz="1200" spc="-5" b="1" i="1">
                <a:uFill>
                  <a:solidFill>
                    <a:srgbClr val="000000"/>
                  </a:solidFill>
                </a:uFill>
                <a:latin typeface="Arial"/>
                <a:cs typeface="Arial"/>
              </a:rPr>
              <a:t> Pilgrimage</a:t>
            </a:r>
            <a:endParaRPr sz="1200">
              <a:latin typeface="Arial"/>
              <a:cs typeface="Arial"/>
            </a:endParaRPr>
          </a:p>
          <a:p>
            <a:pPr>
              <a:lnSpc>
                <a:spcPct val="100000"/>
              </a:lnSpc>
              <a:spcBef>
                <a:spcPts val="35"/>
              </a:spcBef>
            </a:pPr>
            <a:endParaRPr sz="1200">
              <a:latin typeface="Arial"/>
              <a:cs typeface="Arial"/>
            </a:endParaRPr>
          </a:p>
          <a:p>
            <a:pPr algn="just" marL="12700" marR="6985">
              <a:lnSpc>
                <a:spcPts val="1380"/>
              </a:lnSpc>
            </a:pPr>
            <a:r>
              <a:rPr dirty="0" sz="1200" spc="-5">
                <a:latin typeface="Arial"/>
                <a:cs typeface="Arial"/>
              </a:rPr>
              <a:t>The </a:t>
            </a:r>
            <a:r>
              <a:rPr dirty="0" sz="1200">
                <a:latin typeface="Arial"/>
                <a:cs typeface="Arial"/>
              </a:rPr>
              <a:t>last </a:t>
            </a:r>
            <a:r>
              <a:rPr dirty="0" sz="1200" spc="-5">
                <a:latin typeface="Arial"/>
                <a:cs typeface="Arial"/>
              </a:rPr>
              <a:t>pillar is Hajj. Before </a:t>
            </a:r>
            <a:r>
              <a:rPr dirty="0" sz="1200">
                <a:latin typeface="Arial"/>
                <a:cs typeface="Arial"/>
              </a:rPr>
              <a:t>the </a:t>
            </a:r>
            <a:r>
              <a:rPr dirty="0" sz="1200" spc="-5">
                <a:latin typeface="Arial"/>
                <a:cs typeface="Arial"/>
              </a:rPr>
              <a:t>rulings of the prophet Muhammad (s.a.w), all prophets in a  </a:t>
            </a:r>
            <a:r>
              <a:rPr dirty="0" sz="1200">
                <a:latin typeface="Arial"/>
                <a:cs typeface="Arial"/>
              </a:rPr>
              <a:t>way or </a:t>
            </a:r>
            <a:r>
              <a:rPr dirty="0" sz="1200" spc="-5">
                <a:latin typeface="Arial"/>
                <a:cs typeface="Arial"/>
              </a:rPr>
              <a:t>another had visited the </a:t>
            </a:r>
            <a:r>
              <a:rPr dirty="0" sz="1200">
                <a:latin typeface="Arial"/>
                <a:cs typeface="Arial"/>
              </a:rPr>
              <a:t>holy </a:t>
            </a:r>
            <a:r>
              <a:rPr dirty="0" sz="1200" spc="-5">
                <a:latin typeface="Arial"/>
                <a:cs typeface="Arial"/>
              </a:rPr>
              <a:t>Ka‘bah. It was during </a:t>
            </a:r>
            <a:r>
              <a:rPr dirty="0" sz="1200">
                <a:latin typeface="Arial"/>
                <a:cs typeface="Arial"/>
              </a:rPr>
              <a:t>the </a:t>
            </a:r>
            <a:r>
              <a:rPr dirty="0" sz="1200" spc="-5">
                <a:latin typeface="Arial"/>
                <a:cs typeface="Arial"/>
              </a:rPr>
              <a:t>time of Hazrat </a:t>
            </a:r>
            <a:r>
              <a:rPr dirty="0" sz="1200">
                <a:latin typeface="Arial"/>
                <a:cs typeface="Arial"/>
              </a:rPr>
              <a:t>Ibrahim (a.s) </a:t>
            </a:r>
            <a:r>
              <a:rPr dirty="0" sz="1200" spc="-10">
                <a:latin typeface="Arial"/>
                <a:cs typeface="Arial"/>
              </a:rPr>
              <a:t>and  </a:t>
            </a:r>
            <a:r>
              <a:rPr dirty="0" sz="1200" spc="-5">
                <a:latin typeface="Arial"/>
                <a:cs typeface="Arial"/>
              </a:rPr>
              <a:t>his son </a:t>
            </a:r>
            <a:r>
              <a:rPr dirty="0" sz="1200">
                <a:latin typeface="Arial"/>
                <a:cs typeface="Arial"/>
              </a:rPr>
              <a:t>Ismail (a.s) </a:t>
            </a:r>
            <a:r>
              <a:rPr dirty="0" sz="1200" spc="-5">
                <a:latin typeface="Arial"/>
                <a:cs typeface="Arial"/>
              </a:rPr>
              <a:t>that Allah had ordered Man </a:t>
            </a:r>
            <a:r>
              <a:rPr dirty="0" sz="1200">
                <a:latin typeface="Arial"/>
                <a:cs typeface="Arial"/>
              </a:rPr>
              <a:t>to </a:t>
            </a:r>
            <a:r>
              <a:rPr dirty="0" sz="1200" spc="-5">
                <a:latin typeface="Arial"/>
                <a:cs typeface="Arial"/>
              </a:rPr>
              <a:t>come </a:t>
            </a:r>
            <a:r>
              <a:rPr dirty="0" sz="1200">
                <a:latin typeface="Arial"/>
                <a:cs typeface="Arial"/>
              </a:rPr>
              <a:t>to </a:t>
            </a:r>
            <a:r>
              <a:rPr dirty="0" sz="1200" spc="-5">
                <a:latin typeface="Arial"/>
                <a:cs typeface="Arial"/>
              </a:rPr>
              <a:t>the </a:t>
            </a:r>
            <a:r>
              <a:rPr dirty="0" sz="1200" spc="5">
                <a:latin typeface="Arial"/>
                <a:cs typeface="Arial"/>
              </a:rPr>
              <a:t>Ka‘bah </a:t>
            </a:r>
            <a:r>
              <a:rPr dirty="0" sz="1200">
                <a:latin typeface="Arial"/>
                <a:cs typeface="Arial"/>
              </a:rPr>
              <a:t>or </a:t>
            </a:r>
            <a:r>
              <a:rPr dirty="0" sz="1200" spc="-5">
                <a:latin typeface="Arial"/>
                <a:cs typeface="Arial"/>
              </a:rPr>
              <a:t>else it was towards  Jerusalem. It became </a:t>
            </a:r>
            <a:r>
              <a:rPr dirty="0" sz="1200">
                <a:latin typeface="Arial"/>
                <a:cs typeface="Arial"/>
              </a:rPr>
              <a:t>farz since the </a:t>
            </a:r>
            <a:r>
              <a:rPr dirty="0" sz="1200" spc="-5">
                <a:latin typeface="Arial"/>
                <a:cs typeface="Arial"/>
              </a:rPr>
              <a:t>tenth year of Hijri </a:t>
            </a:r>
            <a:r>
              <a:rPr dirty="0" sz="1200">
                <a:latin typeface="Arial"/>
                <a:cs typeface="Arial"/>
              </a:rPr>
              <a:t>of </a:t>
            </a:r>
            <a:r>
              <a:rPr dirty="0" sz="1200" spc="-5">
                <a:latin typeface="Arial"/>
                <a:cs typeface="Arial"/>
              </a:rPr>
              <a:t>the prophet‘s (s.a.w)</a:t>
            </a:r>
            <a:r>
              <a:rPr dirty="0" sz="1200" spc="35">
                <a:latin typeface="Arial"/>
                <a:cs typeface="Arial"/>
              </a:rPr>
              <a:t> </a:t>
            </a:r>
            <a:r>
              <a:rPr dirty="0" sz="1200" spc="-5">
                <a:latin typeface="Arial"/>
                <a:cs typeface="Arial"/>
              </a:rPr>
              <a:t>life.</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There are various steps such</a:t>
            </a:r>
            <a:r>
              <a:rPr dirty="0" u="heavy" sz="1200" spc="5" b="1" i="1">
                <a:uFill>
                  <a:solidFill>
                    <a:srgbClr val="000000"/>
                  </a:solidFill>
                </a:uFill>
                <a:latin typeface="Arial"/>
                <a:cs typeface="Arial"/>
              </a:rPr>
              <a:t> as:</a:t>
            </a:r>
            <a:endParaRPr sz="1200">
              <a:latin typeface="Arial"/>
              <a:cs typeface="Arial"/>
            </a:endParaRPr>
          </a:p>
          <a:p>
            <a:pPr>
              <a:lnSpc>
                <a:spcPct val="100000"/>
              </a:lnSpc>
              <a:spcBef>
                <a:spcPts val="55"/>
              </a:spcBef>
            </a:pPr>
            <a:endParaRPr sz="1100">
              <a:latin typeface="Arial"/>
              <a:cs typeface="Arial"/>
            </a:endParaRPr>
          </a:p>
          <a:p>
            <a:pPr marL="233679">
              <a:lnSpc>
                <a:spcPct val="100000"/>
              </a:lnSpc>
            </a:pPr>
            <a:r>
              <a:rPr dirty="0" sz="1200">
                <a:latin typeface="Arial"/>
                <a:cs typeface="Arial"/>
              </a:rPr>
              <a:t>1. </a:t>
            </a:r>
            <a:r>
              <a:rPr dirty="0" sz="1200" spc="-5">
                <a:latin typeface="Arial"/>
                <a:cs typeface="Arial"/>
              </a:rPr>
              <a:t>The move </a:t>
            </a:r>
            <a:r>
              <a:rPr dirty="0" sz="1200">
                <a:latin typeface="Arial"/>
                <a:cs typeface="Arial"/>
              </a:rPr>
              <a:t>to </a:t>
            </a:r>
            <a:r>
              <a:rPr dirty="0" sz="1200" spc="-5">
                <a:latin typeface="Arial"/>
                <a:cs typeface="Arial"/>
              </a:rPr>
              <a:t>Macca </a:t>
            </a:r>
            <a:r>
              <a:rPr dirty="0" sz="1200">
                <a:latin typeface="Arial"/>
                <a:cs typeface="Arial"/>
              </a:rPr>
              <a:t>for</a:t>
            </a:r>
            <a:r>
              <a:rPr dirty="0" sz="1200" spc="-220">
                <a:latin typeface="Arial"/>
                <a:cs typeface="Arial"/>
              </a:rPr>
              <a:t> </a:t>
            </a:r>
            <a:r>
              <a:rPr dirty="0" sz="1200" spc="-5">
                <a:latin typeface="Arial"/>
                <a:cs typeface="Arial"/>
              </a:rPr>
              <a:t>Umrah</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83</a:t>
            </a:r>
            <a:endParaRPr sz="1200">
              <a:latin typeface="Times New Roman"/>
              <a:cs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4715" y="432307"/>
            <a:ext cx="6250305" cy="8812530"/>
          </a:xfrm>
          <a:prstGeom prst="rect">
            <a:avLst/>
          </a:prstGeom>
        </p:spPr>
        <p:txBody>
          <a:bodyPr wrap="square" lIns="0" tIns="12700" rIns="0" bIns="0" rtlCol="0" vert="horz">
            <a:spAutoFit/>
          </a:bodyPr>
          <a:lstStyle/>
          <a:p>
            <a:pPr marL="152400">
              <a:lnSpc>
                <a:spcPct val="100000"/>
              </a:lnSpc>
              <a:spcBef>
                <a:spcPts val="100"/>
              </a:spcBef>
              <a:tabLst>
                <a:tab pos="52031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10" b="1">
                <a:latin typeface="Times New Roman"/>
                <a:cs typeface="Times New Roman"/>
              </a:rPr>
              <a:t>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601980" indent="-229235">
              <a:lnSpc>
                <a:spcPts val="1410"/>
              </a:lnSpc>
              <a:spcBef>
                <a:spcPts val="5"/>
              </a:spcBef>
              <a:buAutoNum type="arabicPeriod" startAt="2"/>
              <a:tabLst>
                <a:tab pos="602615" algn="l"/>
              </a:tabLst>
            </a:pPr>
            <a:r>
              <a:rPr dirty="0" sz="1200">
                <a:latin typeface="Arial"/>
                <a:cs typeface="Arial"/>
              </a:rPr>
              <a:t>On </a:t>
            </a:r>
            <a:r>
              <a:rPr dirty="0" sz="1200" spc="-5">
                <a:latin typeface="Arial"/>
                <a:cs typeface="Arial"/>
              </a:rPr>
              <a:t>the 8</a:t>
            </a:r>
            <a:r>
              <a:rPr dirty="0" baseline="38194" sz="1200" spc="-7">
                <a:latin typeface="Arial"/>
                <a:cs typeface="Arial"/>
              </a:rPr>
              <a:t>th </a:t>
            </a:r>
            <a:r>
              <a:rPr dirty="0" sz="1200" spc="-5">
                <a:latin typeface="Arial"/>
                <a:cs typeface="Arial"/>
              </a:rPr>
              <a:t>of </a:t>
            </a:r>
            <a:r>
              <a:rPr dirty="0" sz="1200">
                <a:latin typeface="Arial"/>
                <a:cs typeface="Arial"/>
              </a:rPr>
              <a:t>Dhul </a:t>
            </a:r>
            <a:r>
              <a:rPr dirty="0" sz="1200" spc="-5">
                <a:latin typeface="Arial"/>
                <a:cs typeface="Arial"/>
              </a:rPr>
              <a:t>Hijja, </a:t>
            </a:r>
            <a:r>
              <a:rPr dirty="0" sz="1200">
                <a:latin typeface="Arial"/>
                <a:cs typeface="Arial"/>
              </a:rPr>
              <a:t>the </a:t>
            </a:r>
            <a:r>
              <a:rPr dirty="0" sz="1200" spc="-5">
                <a:latin typeface="Arial"/>
                <a:cs typeface="Arial"/>
              </a:rPr>
              <a:t>move from Macca </a:t>
            </a:r>
            <a:r>
              <a:rPr dirty="0" sz="1200">
                <a:latin typeface="Arial"/>
                <a:cs typeface="Arial"/>
              </a:rPr>
              <a:t>to </a:t>
            </a:r>
            <a:r>
              <a:rPr dirty="0" sz="1200" spc="-5">
                <a:latin typeface="Arial"/>
                <a:cs typeface="Arial"/>
              </a:rPr>
              <a:t>Mina before</a:t>
            </a:r>
            <a:r>
              <a:rPr dirty="0" sz="1200" spc="-80">
                <a:latin typeface="Arial"/>
                <a:cs typeface="Arial"/>
              </a:rPr>
              <a:t> </a:t>
            </a:r>
            <a:r>
              <a:rPr dirty="0" sz="1200" spc="-5">
                <a:latin typeface="Arial"/>
                <a:cs typeface="Arial"/>
              </a:rPr>
              <a:t>noon</a:t>
            </a:r>
            <a:endParaRPr sz="1200">
              <a:latin typeface="Arial"/>
              <a:cs typeface="Arial"/>
            </a:endParaRPr>
          </a:p>
          <a:p>
            <a:pPr marL="601980" indent="-229235">
              <a:lnSpc>
                <a:spcPts val="1380"/>
              </a:lnSpc>
              <a:buAutoNum type="arabicPeriod" startAt="2"/>
              <a:tabLst>
                <a:tab pos="602615" algn="l"/>
              </a:tabLst>
            </a:pPr>
            <a:r>
              <a:rPr dirty="0" sz="1200" spc="-5">
                <a:latin typeface="Arial"/>
                <a:cs typeface="Arial"/>
              </a:rPr>
              <a:t>The move </a:t>
            </a:r>
            <a:r>
              <a:rPr dirty="0" sz="1200">
                <a:latin typeface="Arial"/>
                <a:cs typeface="Arial"/>
              </a:rPr>
              <a:t>from </a:t>
            </a:r>
            <a:r>
              <a:rPr dirty="0" sz="1200" spc="-5">
                <a:latin typeface="Arial"/>
                <a:cs typeface="Arial"/>
              </a:rPr>
              <a:t>Mina to </a:t>
            </a:r>
            <a:r>
              <a:rPr dirty="0" sz="1200" spc="-65">
                <a:latin typeface="Arial"/>
                <a:cs typeface="Arial"/>
              </a:rPr>
              <a:t>‗Arafat </a:t>
            </a:r>
            <a:r>
              <a:rPr dirty="0" sz="1200" spc="-5">
                <a:latin typeface="Arial"/>
                <a:cs typeface="Arial"/>
              </a:rPr>
              <a:t>on the </a:t>
            </a:r>
            <a:r>
              <a:rPr dirty="0" sz="1200">
                <a:latin typeface="Arial"/>
                <a:cs typeface="Arial"/>
              </a:rPr>
              <a:t>9</a:t>
            </a:r>
            <a:r>
              <a:rPr dirty="0" baseline="38194" sz="1200">
                <a:latin typeface="Arial"/>
                <a:cs typeface="Arial"/>
              </a:rPr>
              <a:t>th </a:t>
            </a:r>
            <a:r>
              <a:rPr dirty="0" sz="1200" spc="-5">
                <a:latin typeface="Arial"/>
                <a:cs typeface="Arial"/>
              </a:rPr>
              <a:t>after </a:t>
            </a:r>
            <a:r>
              <a:rPr dirty="0" sz="1200">
                <a:latin typeface="Arial"/>
                <a:cs typeface="Arial"/>
              </a:rPr>
              <a:t>Fajr</a:t>
            </a:r>
            <a:r>
              <a:rPr dirty="0" sz="1200" spc="-30">
                <a:latin typeface="Arial"/>
                <a:cs typeface="Arial"/>
              </a:rPr>
              <a:t> </a:t>
            </a:r>
            <a:r>
              <a:rPr dirty="0" sz="1200" spc="-5">
                <a:latin typeface="Arial"/>
                <a:cs typeface="Arial"/>
              </a:rPr>
              <a:t>prayer</a:t>
            </a:r>
            <a:endParaRPr sz="1200">
              <a:latin typeface="Arial"/>
              <a:cs typeface="Arial"/>
            </a:endParaRPr>
          </a:p>
          <a:p>
            <a:pPr marL="601980" indent="-229235">
              <a:lnSpc>
                <a:spcPts val="1380"/>
              </a:lnSpc>
              <a:buAutoNum type="arabicPeriod" startAt="2"/>
              <a:tabLst>
                <a:tab pos="602615" algn="l"/>
              </a:tabLst>
            </a:pPr>
            <a:r>
              <a:rPr dirty="0" sz="1200">
                <a:latin typeface="Arial"/>
                <a:cs typeface="Arial"/>
              </a:rPr>
              <a:t>The </a:t>
            </a:r>
            <a:r>
              <a:rPr dirty="0" sz="1200" spc="-5">
                <a:latin typeface="Arial"/>
                <a:cs typeface="Arial"/>
              </a:rPr>
              <a:t>move from </a:t>
            </a:r>
            <a:r>
              <a:rPr dirty="0" sz="1200" spc="-65">
                <a:latin typeface="Arial"/>
                <a:cs typeface="Arial"/>
              </a:rPr>
              <a:t>‗Arafat </a:t>
            </a:r>
            <a:r>
              <a:rPr dirty="0" sz="1200">
                <a:latin typeface="Arial"/>
                <a:cs typeface="Arial"/>
              </a:rPr>
              <a:t>to </a:t>
            </a:r>
            <a:r>
              <a:rPr dirty="0" sz="1200" spc="-5">
                <a:latin typeface="Arial"/>
                <a:cs typeface="Arial"/>
              </a:rPr>
              <a:t>Muzdalifa on the </a:t>
            </a:r>
            <a:r>
              <a:rPr dirty="0" sz="1200" spc="5">
                <a:latin typeface="Arial"/>
                <a:cs typeface="Arial"/>
              </a:rPr>
              <a:t>9</a:t>
            </a:r>
            <a:r>
              <a:rPr dirty="0" baseline="38194" sz="1200" spc="7">
                <a:latin typeface="Arial"/>
                <a:cs typeface="Arial"/>
              </a:rPr>
              <a:t>th </a:t>
            </a:r>
            <a:r>
              <a:rPr dirty="0" sz="1200">
                <a:latin typeface="Arial"/>
                <a:cs typeface="Arial"/>
              </a:rPr>
              <a:t>after</a:t>
            </a:r>
            <a:r>
              <a:rPr dirty="0" sz="1200" spc="-70">
                <a:latin typeface="Arial"/>
                <a:cs typeface="Arial"/>
              </a:rPr>
              <a:t> </a:t>
            </a:r>
            <a:r>
              <a:rPr dirty="0" sz="1200" spc="-5">
                <a:latin typeface="Arial"/>
                <a:cs typeface="Arial"/>
              </a:rPr>
              <a:t>Maghrib</a:t>
            </a:r>
            <a:endParaRPr sz="1200">
              <a:latin typeface="Arial"/>
              <a:cs typeface="Arial"/>
            </a:endParaRPr>
          </a:p>
          <a:p>
            <a:pPr marL="601980" indent="-229235">
              <a:lnSpc>
                <a:spcPts val="1380"/>
              </a:lnSpc>
              <a:buAutoNum type="arabicPeriod" startAt="2"/>
              <a:tabLst>
                <a:tab pos="602615" algn="l"/>
              </a:tabLst>
            </a:pPr>
            <a:r>
              <a:rPr dirty="0" sz="1200" spc="-5">
                <a:latin typeface="Arial"/>
                <a:cs typeface="Arial"/>
              </a:rPr>
              <a:t>The move from Muzdalifa </a:t>
            </a:r>
            <a:r>
              <a:rPr dirty="0" sz="1200">
                <a:latin typeface="Arial"/>
                <a:cs typeface="Arial"/>
              </a:rPr>
              <a:t>to </a:t>
            </a:r>
            <a:r>
              <a:rPr dirty="0" sz="1200" spc="-5">
                <a:latin typeface="Arial"/>
                <a:cs typeface="Arial"/>
              </a:rPr>
              <a:t>Mina on the </a:t>
            </a:r>
            <a:r>
              <a:rPr dirty="0" sz="1200">
                <a:latin typeface="Arial"/>
                <a:cs typeface="Arial"/>
              </a:rPr>
              <a:t>10</a:t>
            </a:r>
            <a:r>
              <a:rPr dirty="0" baseline="38194" sz="1200">
                <a:latin typeface="Arial"/>
                <a:cs typeface="Arial"/>
              </a:rPr>
              <a:t>th </a:t>
            </a:r>
            <a:r>
              <a:rPr dirty="0" sz="1200" spc="-5">
                <a:latin typeface="Arial"/>
                <a:cs typeface="Arial"/>
              </a:rPr>
              <a:t>before</a:t>
            </a:r>
            <a:r>
              <a:rPr dirty="0" sz="1200" spc="-114">
                <a:latin typeface="Arial"/>
                <a:cs typeface="Arial"/>
              </a:rPr>
              <a:t> </a:t>
            </a:r>
            <a:r>
              <a:rPr dirty="0" sz="1200" spc="-5">
                <a:latin typeface="Arial"/>
                <a:cs typeface="Arial"/>
              </a:rPr>
              <a:t>sunrise</a:t>
            </a:r>
            <a:endParaRPr sz="1200">
              <a:latin typeface="Arial"/>
              <a:cs typeface="Arial"/>
            </a:endParaRPr>
          </a:p>
          <a:p>
            <a:pPr marL="601980" indent="-229235">
              <a:lnSpc>
                <a:spcPts val="1380"/>
              </a:lnSpc>
              <a:buAutoNum type="arabicPeriod" startAt="2"/>
              <a:tabLst>
                <a:tab pos="602615" algn="l"/>
              </a:tabLst>
            </a:pPr>
            <a:r>
              <a:rPr dirty="0" sz="1200" spc="-5">
                <a:latin typeface="Arial"/>
                <a:cs typeface="Arial"/>
              </a:rPr>
              <a:t>The stoning of </a:t>
            </a:r>
            <a:r>
              <a:rPr dirty="0" sz="1200">
                <a:latin typeface="Arial"/>
                <a:cs typeface="Arial"/>
              </a:rPr>
              <a:t>the 1</a:t>
            </a:r>
            <a:r>
              <a:rPr dirty="0" baseline="38194" sz="1200">
                <a:latin typeface="Arial"/>
                <a:cs typeface="Arial"/>
              </a:rPr>
              <a:t>st </a:t>
            </a:r>
            <a:r>
              <a:rPr dirty="0" sz="1200" spc="-5">
                <a:latin typeface="Arial"/>
                <a:cs typeface="Arial"/>
              </a:rPr>
              <a:t>Shaitaan before</a:t>
            </a:r>
            <a:r>
              <a:rPr dirty="0" sz="1200" spc="-125">
                <a:latin typeface="Arial"/>
                <a:cs typeface="Arial"/>
              </a:rPr>
              <a:t> </a:t>
            </a:r>
            <a:r>
              <a:rPr dirty="0" sz="1200" spc="-5">
                <a:latin typeface="Arial"/>
                <a:cs typeface="Arial"/>
              </a:rPr>
              <a:t>Zawaal</a:t>
            </a:r>
            <a:endParaRPr sz="1200">
              <a:latin typeface="Arial"/>
              <a:cs typeface="Arial"/>
            </a:endParaRPr>
          </a:p>
          <a:p>
            <a:pPr marL="601980" indent="-229235">
              <a:lnSpc>
                <a:spcPts val="1380"/>
              </a:lnSpc>
              <a:buAutoNum type="arabicPeriod" startAt="2"/>
              <a:tabLst>
                <a:tab pos="602615" algn="l"/>
              </a:tabLst>
            </a:pPr>
            <a:r>
              <a:rPr dirty="0" sz="1200" spc="-5">
                <a:latin typeface="Arial"/>
                <a:cs typeface="Arial"/>
              </a:rPr>
              <a:t>The move </a:t>
            </a:r>
            <a:r>
              <a:rPr dirty="0" sz="1200">
                <a:latin typeface="Arial"/>
                <a:cs typeface="Arial"/>
              </a:rPr>
              <a:t>to </a:t>
            </a:r>
            <a:r>
              <a:rPr dirty="0" sz="1200" spc="-5">
                <a:latin typeface="Arial"/>
                <a:cs typeface="Arial"/>
              </a:rPr>
              <a:t>Macca </a:t>
            </a:r>
            <a:r>
              <a:rPr dirty="0" sz="1200">
                <a:latin typeface="Arial"/>
                <a:cs typeface="Arial"/>
              </a:rPr>
              <a:t>for </a:t>
            </a:r>
            <a:r>
              <a:rPr dirty="0" sz="1200" spc="-5">
                <a:latin typeface="Arial"/>
                <a:cs typeface="Arial"/>
              </a:rPr>
              <a:t>the shaving of the </a:t>
            </a:r>
            <a:r>
              <a:rPr dirty="0" sz="1200">
                <a:latin typeface="Arial"/>
                <a:cs typeface="Arial"/>
              </a:rPr>
              <a:t>head </a:t>
            </a:r>
            <a:r>
              <a:rPr dirty="0" sz="1200" spc="-5">
                <a:latin typeface="Arial"/>
                <a:cs typeface="Arial"/>
              </a:rPr>
              <a:t>and the Tawaaf</a:t>
            </a:r>
            <a:r>
              <a:rPr dirty="0" sz="1200" spc="35">
                <a:latin typeface="Arial"/>
                <a:cs typeface="Arial"/>
              </a:rPr>
              <a:t> </a:t>
            </a:r>
            <a:r>
              <a:rPr dirty="0" sz="1200" spc="-5">
                <a:latin typeface="Arial"/>
                <a:cs typeface="Arial"/>
              </a:rPr>
              <a:t>Ziyarah</a:t>
            </a:r>
            <a:endParaRPr sz="1200">
              <a:latin typeface="Arial"/>
              <a:cs typeface="Arial"/>
            </a:endParaRPr>
          </a:p>
          <a:p>
            <a:pPr marL="601980" indent="-229235">
              <a:lnSpc>
                <a:spcPts val="1380"/>
              </a:lnSpc>
              <a:buAutoNum type="arabicPeriod" startAt="2"/>
              <a:tabLst>
                <a:tab pos="602615" algn="l"/>
              </a:tabLst>
            </a:pPr>
            <a:r>
              <a:rPr dirty="0" sz="1200" spc="-5">
                <a:latin typeface="Arial"/>
                <a:cs typeface="Arial"/>
              </a:rPr>
              <a:t>The return </a:t>
            </a:r>
            <a:r>
              <a:rPr dirty="0" sz="1200">
                <a:latin typeface="Arial"/>
                <a:cs typeface="Arial"/>
              </a:rPr>
              <a:t>to </a:t>
            </a:r>
            <a:r>
              <a:rPr dirty="0" sz="1200" spc="-5">
                <a:latin typeface="Arial"/>
                <a:cs typeface="Arial"/>
              </a:rPr>
              <a:t>Mina on the same </a:t>
            </a:r>
            <a:r>
              <a:rPr dirty="0" sz="1200">
                <a:latin typeface="Arial"/>
                <a:cs typeface="Arial"/>
              </a:rPr>
              <a:t>day to </a:t>
            </a:r>
            <a:r>
              <a:rPr dirty="0" sz="1200" spc="-5">
                <a:latin typeface="Arial"/>
                <a:cs typeface="Arial"/>
              </a:rPr>
              <a:t>beat </a:t>
            </a:r>
            <a:r>
              <a:rPr dirty="0" sz="1200" spc="-10">
                <a:latin typeface="Arial"/>
                <a:cs typeface="Arial"/>
              </a:rPr>
              <a:t>the </a:t>
            </a:r>
            <a:r>
              <a:rPr dirty="0" sz="1200" spc="-5">
                <a:latin typeface="Arial"/>
                <a:cs typeface="Arial"/>
              </a:rPr>
              <a:t>3 Shaitaan on the 11</a:t>
            </a:r>
            <a:r>
              <a:rPr dirty="0" baseline="38194" sz="1200" spc="-7">
                <a:latin typeface="Arial"/>
                <a:cs typeface="Arial"/>
              </a:rPr>
              <a:t>th </a:t>
            </a:r>
            <a:r>
              <a:rPr dirty="0" sz="1200" spc="-5">
                <a:latin typeface="Arial"/>
                <a:cs typeface="Arial"/>
              </a:rPr>
              <a:t>and</a:t>
            </a:r>
            <a:r>
              <a:rPr dirty="0" sz="1200" spc="-25">
                <a:latin typeface="Arial"/>
                <a:cs typeface="Arial"/>
              </a:rPr>
              <a:t> </a:t>
            </a:r>
            <a:r>
              <a:rPr dirty="0" sz="1200">
                <a:latin typeface="Arial"/>
                <a:cs typeface="Arial"/>
              </a:rPr>
              <a:t>12</a:t>
            </a:r>
            <a:r>
              <a:rPr dirty="0" baseline="38194" sz="1200">
                <a:latin typeface="Arial"/>
                <a:cs typeface="Arial"/>
              </a:rPr>
              <a:t>th</a:t>
            </a:r>
            <a:endParaRPr baseline="38194" sz="1200">
              <a:latin typeface="Arial"/>
              <a:cs typeface="Arial"/>
            </a:endParaRPr>
          </a:p>
          <a:p>
            <a:pPr marL="601980" indent="-229235">
              <a:lnSpc>
                <a:spcPts val="1380"/>
              </a:lnSpc>
              <a:buAutoNum type="arabicPeriod" startAt="2"/>
              <a:tabLst>
                <a:tab pos="602615" algn="l"/>
              </a:tabLst>
            </a:pPr>
            <a:r>
              <a:rPr dirty="0" sz="1200" spc="-5">
                <a:latin typeface="Arial"/>
                <a:cs typeface="Arial"/>
              </a:rPr>
              <a:t>The leaving of Mina </a:t>
            </a:r>
            <a:r>
              <a:rPr dirty="0" sz="1200">
                <a:latin typeface="Arial"/>
                <a:cs typeface="Arial"/>
              </a:rPr>
              <a:t>to </a:t>
            </a:r>
            <a:r>
              <a:rPr dirty="0" sz="1200" spc="-5">
                <a:latin typeface="Arial"/>
                <a:cs typeface="Arial"/>
              </a:rPr>
              <a:t>Macca </a:t>
            </a:r>
            <a:r>
              <a:rPr dirty="0" sz="1200">
                <a:latin typeface="Arial"/>
                <a:cs typeface="Arial"/>
              </a:rPr>
              <a:t>for </a:t>
            </a:r>
            <a:r>
              <a:rPr dirty="0" sz="1200" spc="-5">
                <a:latin typeface="Arial"/>
                <a:cs typeface="Arial"/>
              </a:rPr>
              <a:t>Tawaaf al</a:t>
            </a:r>
            <a:r>
              <a:rPr dirty="0" sz="1200" spc="-30">
                <a:latin typeface="Arial"/>
                <a:cs typeface="Arial"/>
              </a:rPr>
              <a:t> </a:t>
            </a:r>
            <a:r>
              <a:rPr dirty="0" sz="1200">
                <a:latin typeface="Arial"/>
                <a:cs typeface="Arial"/>
              </a:rPr>
              <a:t>Wida</a:t>
            </a:r>
            <a:endParaRPr sz="1200">
              <a:latin typeface="Arial"/>
              <a:cs typeface="Arial"/>
            </a:endParaRPr>
          </a:p>
          <a:p>
            <a:pPr marL="601980" indent="-229235">
              <a:lnSpc>
                <a:spcPts val="1410"/>
              </a:lnSpc>
              <a:buAutoNum type="arabicPeriod" startAt="2"/>
              <a:tabLst>
                <a:tab pos="602615" algn="l"/>
              </a:tabLst>
            </a:pPr>
            <a:r>
              <a:rPr dirty="0" sz="1200" spc="-5">
                <a:latin typeface="Arial"/>
                <a:cs typeface="Arial"/>
              </a:rPr>
              <a:t>The visit </a:t>
            </a:r>
            <a:r>
              <a:rPr dirty="0" sz="1200">
                <a:latin typeface="Arial"/>
                <a:cs typeface="Arial"/>
              </a:rPr>
              <a:t>to</a:t>
            </a:r>
            <a:r>
              <a:rPr dirty="0" sz="1200" spc="10">
                <a:latin typeface="Arial"/>
                <a:cs typeface="Arial"/>
              </a:rPr>
              <a:t> </a:t>
            </a:r>
            <a:r>
              <a:rPr dirty="0" sz="1200" spc="-5">
                <a:latin typeface="Arial"/>
                <a:cs typeface="Arial"/>
              </a:rPr>
              <a:t>Madina</a:t>
            </a:r>
            <a:endParaRPr sz="1200">
              <a:latin typeface="Arial"/>
              <a:cs typeface="Arial"/>
            </a:endParaRPr>
          </a:p>
          <a:p>
            <a:pPr>
              <a:lnSpc>
                <a:spcPct val="100000"/>
              </a:lnSpc>
              <a:spcBef>
                <a:spcPts val="50"/>
              </a:spcBef>
            </a:pPr>
            <a:endParaRPr sz="1100">
              <a:latin typeface="Arial"/>
              <a:cs typeface="Arial"/>
            </a:endParaRPr>
          </a:p>
          <a:p>
            <a:pPr marL="152400">
              <a:lnSpc>
                <a:spcPct val="100000"/>
              </a:lnSpc>
              <a:spcBef>
                <a:spcPts val="5"/>
              </a:spcBef>
            </a:pPr>
            <a:r>
              <a:rPr dirty="0" u="heavy" sz="1200" spc="-5" b="1" i="1">
                <a:uFill>
                  <a:solidFill>
                    <a:srgbClr val="000000"/>
                  </a:solidFill>
                </a:uFill>
                <a:latin typeface="Arial"/>
                <a:cs typeface="Arial"/>
              </a:rPr>
              <a:t>There are many benefits derived from that institution </a:t>
            </a:r>
            <a:r>
              <a:rPr dirty="0" u="heavy" sz="1200" b="1" i="1">
                <a:uFill>
                  <a:solidFill>
                    <a:srgbClr val="000000"/>
                  </a:solidFill>
                </a:uFill>
                <a:latin typeface="Arial"/>
                <a:cs typeface="Arial"/>
              </a:rPr>
              <a:t>such</a:t>
            </a:r>
            <a:r>
              <a:rPr dirty="0" u="heavy" sz="1200" spc="40" b="1" i="1">
                <a:uFill>
                  <a:solidFill>
                    <a:srgbClr val="000000"/>
                  </a:solidFill>
                </a:uFill>
                <a:latin typeface="Arial"/>
                <a:cs typeface="Arial"/>
              </a:rPr>
              <a:t> </a:t>
            </a:r>
            <a:r>
              <a:rPr dirty="0" u="heavy" sz="1200" b="1" i="1">
                <a:uFill>
                  <a:solidFill>
                    <a:srgbClr val="000000"/>
                  </a:solidFill>
                </a:uFill>
                <a:latin typeface="Arial"/>
                <a:cs typeface="Arial"/>
              </a:rPr>
              <a:t>as:</a:t>
            </a:r>
            <a:endParaRPr sz="1200">
              <a:latin typeface="Arial"/>
              <a:cs typeface="Arial"/>
            </a:endParaRPr>
          </a:p>
          <a:p>
            <a:pPr>
              <a:lnSpc>
                <a:spcPct val="100000"/>
              </a:lnSpc>
              <a:spcBef>
                <a:spcPts val="50"/>
              </a:spcBef>
            </a:pPr>
            <a:endParaRPr sz="1100">
              <a:latin typeface="Arial"/>
              <a:cs typeface="Arial"/>
            </a:endParaRPr>
          </a:p>
          <a:p>
            <a:pPr marL="609600" indent="-229235">
              <a:lnSpc>
                <a:spcPts val="1410"/>
              </a:lnSpc>
              <a:spcBef>
                <a:spcPts val="5"/>
              </a:spcBef>
              <a:buAutoNum type="arabicPeriod"/>
              <a:tabLst>
                <a:tab pos="610235" algn="l"/>
              </a:tabLst>
            </a:pPr>
            <a:r>
              <a:rPr dirty="0" sz="1200" spc="-5">
                <a:latin typeface="Arial"/>
                <a:cs typeface="Arial"/>
              </a:rPr>
              <a:t>Blessings in </a:t>
            </a:r>
            <a:r>
              <a:rPr dirty="0" sz="1200">
                <a:latin typeface="Arial"/>
                <a:cs typeface="Arial"/>
              </a:rPr>
              <a:t>all</a:t>
            </a:r>
            <a:r>
              <a:rPr dirty="0" sz="1200" spc="5">
                <a:latin typeface="Arial"/>
                <a:cs typeface="Arial"/>
              </a:rPr>
              <a:t> </a:t>
            </a:r>
            <a:r>
              <a:rPr dirty="0" sz="1200" spc="-5">
                <a:latin typeface="Arial"/>
                <a:cs typeface="Arial"/>
              </a:rPr>
              <a:t>worlds</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protection from punishment </a:t>
            </a:r>
            <a:r>
              <a:rPr dirty="0" sz="1200" spc="-10">
                <a:latin typeface="Arial"/>
                <a:cs typeface="Arial"/>
              </a:rPr>
              <a:t>in </a:t>
            </a:r>
            <a:r>
              <a:rPr dirty="0" sz="1200">
                <a:latin typeface="Arial"/>
                <a:cs typeface="Arial"/>
              </a:rPr>
              <a:t>all</a:t>
            </a:r>
            <a:r>
              <a:rPr dirty="0" sz="1200" spc="20">
                <a:latin typeface="Arial"/>
                <a:cs typeface="Arial"/>
              </a:rPr>
              <a:t> </a:t>
            </a:r>
            <a:r>
              <a:rPr dirty="0" sz="1200" spc="-5">
                <a:latin typeface="Arial"/>
                <a:cs typeface="Arial"/>
              </a:rPr>
              <a:t>worlds</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protection from</a:t>
            </a:r>
            <a:r>
              <a:rPr dirty="0" sz="1200">
                <a:latin typeface="Arial"/>
                <a:cs typeface="Arial"/>
              </a:rPr>
              <a:t> </a:t>
            </a:r>
            <a:r>
              <a:rPr dirty="0" sz="1200" spc="-5">
                <a:latin typeface="Arial"/>
                <a:cs typeface="Arial"/>
              </a:rPr>
              <a:t>poverty</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encapsulating of all pillars </a:t>
            </a:r>
            <a:r>
              <a:rPr dirty="0" sz="1200">
                <a:latin typeface="Arial"/>
                <a:cs typeface="Arial"/>
              </a:rPr>
              <a:t>of</a:t>
            </a:r>
            <a:r>
              <a:rPr dirty="0" sz="1200" spc="15">
                <a:latin typeface="Arial"/>
                <a:cs typeface="Arial"/>
              </a:rPr>
              <a:t> </a:t>
            </a:r>
            <a:r>
              <a:rPr dirty="0" sz="1200" spc="-5">
                <a:latin typeface="Arial"/>
                <a:cs typeface="Arial"/>
              </a:rPr>
              <a:t>Islam</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unity among Muslims and</a:t>
            </a:r>
            <a:r>
              <a:rPr dirty="0" sz="1200" spc="-15">
                <a:latin typeface="Arial"/>
                <a:cs typeface="Arial"/>
              </a:rPr>
              <a:t> </a:t>
            </a:r>
            <a:r>
              <a:rPr dirty="0" sz="1200" spc="-5">
                <a:latin typeface="Arial"/>
                <a:cs typeface="Arial"/>
              </a:rPr>
              <a:t>nations</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strengthening of</a:t>
            </a:r>
            <a:r>
              <a:rPr dirty="0" sz="1200">
                <a:latin typeface="Arial"/>
                <a:cs typeface="Arial"/>
              </a:rPr>
              <a:t> </a:t>
            </a:r>
            <a:r>
              <a:rPr dirty="0" sz="1200" spc="-5">
                <a:latin typeface="Arial"/>
                <a:cs typeface="Arial"/>
              </a:rPr>
              <a:t>Islam</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spiritual</a:t>
            </a:r>
            <a:r>
              <a:rPr dirty="0" sz="1200">
                <a:latin typeface="Arial"/>
                <a:cs typeface="Arial"/>
              </a:rPr>
              <a:t> </a:t>
            </a:r>
            <a:r>
              <a:rPr dirty="0" sz="1200" spc="-5">
                <a:latin typeface="Arial"/>
                <a:cs typeface="Arial"/>
              </a:rPr>
              <a:t>Development</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historical</a:t>
            </a:r>
            <a:r>
              <a:rPr dirty="0" sz="1200">
                <a:latin typeface="Arial"/>
                <a:cs typeface="Arial"/>
              </a:rPr>
              <a:t> </a:t>
            </a:r>
            <a:r>
              <a:rPr dirty="0" sz="1200" spc="-5">
                <a:latin typeface="Arial"/>
                <a:cs typeface="Arial"/>
              </a:rPr>
              <a:t>enhancement</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sense of belonging </a:t>
            </a:r>
            <a:r>
              <a:rPr dirty="0" sz="1200">
                <a:latin typeface="Arial"/>
                <a:cs typeface="Arial"/>
              </a:rPr>
              <a:t>to </a:t>
            </a:r>
            <a:r>
              <a:rPr dirty="0" sz="1200" spc="-5">
                <a:latin typeface="Arial"/>
                <a:cs typeface="Arial"/>
              </a:rPr>
              <a:t>the Prophet</a:t>
            </a:r>
            <a:r>
              <a:rPr dirty="0" sz="1200" spc="5">
                <a:latin typeface="Arial"/>
                <a:cs typeface="Arial"/>
              </a:rPr>
              <a:t> </a:t>
            </a:r>
            <a:r>
              <a:rPr dirty="0" sz="1200" spc="-5">
                <a:latin typeface="Arial"/>
                <a:cs typeface="Arial"/>
              </a:rPr>
              <a:t>(s.a.w)</a:t>
            </a:r>
            <a:endParaRPr sz="1200">
              <a:latin typeface="Arial"/>
              <a:cs typeface="Arial"/>
            </a:endParaRPr>
          </a:p>
          <a:p>
            <a:pPr marL="609600" indent="-229235">
              <a:lnSpc>
                <a:spcPts val="1410"/>
              </a:lnSpc>
              <a:buAutoNum type="arabicPeriod"/>
              <a:tabLst>
                <a:tab pos="610235" algn="l"/>
              </a:tabLst>
            </a:pPr>
            <a:r>
              <a:rPr dirty="0" sz="1200" spc="-5">
                <a:latin typeface="Arial"/>
                <a:cs typeface="Arial"/>
              </a:rPr>
              <a:t>The unlimited rewards </a:t>
            </a:r>
            <a:r>
              <a:rPr dirty="0" sz="1200">
                <a:latin typeface="Arial"/>
                <a:cs typeface="Arial"/>
              </a:rPr>
              <a:t>for </a:t>
            </a:r>
            <a:r>
              <a:rPr dirty="0" sz="1200" spc="-5">
                <a:latin typeface="Arial"/>
                <a:cs typeface="Arial"/>
              </a:rPr>
              <a:t>each Ibaadah</a:t>
            </a:r>
            <a:r>
              <a:rPr dirty="0" sz="1200" spc="10">
                <a:latin typeface="Arial"/>
                <a:cs typeface="Arial"/>
              </a:rPr>
              <a:t> </a:t>
            </a:r>
            <a:r>
              <a:rPr dirty="0" sz="1200" spc="-5">
                <a:latin typeface="Arial"/>
                <a:cs typeface="Arial"/>
              </a:rPr>
              <a:t>done</a:t>
            </a:r>
            <a:endParaRPr sz="1200">
              <a:latin typeface="Arial"/>
              <a:cs typeface="Arial"/>
            </a:endParaRPr>
          </a:p>
          <a:p>
            <a:pPr>
              <a:lnSpc>
                <a:spcPct val="100000"/>
              </a:lnSpc>
              <a:spcBef>
                <a:spcPts val="55"/>
              </a:spcBef>
            </a:pPr>
            <a:endParaRPr sz="1100">
              <a:latin typeface="Arial"/>
              <a:cs typeface="Arial"/>
            </a:endParaRPr>
          </a:p>
          <a:p>
            <a:pPr marL="152400">
              <a:lnSpc>
                <a:spcPct val="100000"/>
              </a:lnSpc>
            </a:pPr>
            <a:r>
              <a:rPr dirty="0" u="heavy" sz="1200" spc="-5" b="1" i="1">
                <a:uFill>
                  <a:solidFill>
                    <a:srgbClr val="000000"/>
                  </a:solidFill>
                </a:uFill>
                <a:latin typeface="Arial"/>
                <a:cs typeface="Arial"/>
              </a:rPr>
              <a:t>Muslim Observance </a:t>
            </a:r>
            <a:r>
              <a:rPr dirty="0" u="heavy" sz="1200" b="1" i="1">
                <a:uFill>
                  <a:solidFill>
                    <a:srgbClr val="000000"/>
                  </a:solidFill>
                </a:uFill>
                <a:latin typeface="Arial"/>
                <a:cs typeface="Arial"/>
              </a:rPr>
              <a:t>of</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Ramadhan</a:t>
            </a:r>
            <a:endParaRPr sz="1200">
              <a:latin typeface="Arial"/>
              <a:cs typeface="Arial"/>
            </a:endParaRPr>
          </a:p>
          <a:p>
            <a:pPr>
              <a:lnSpc>
                <a:spcPct val="100000"/>
              </a:lnSpc>
              <a:spcBef>
                <a:spcPts val="55"/>
              </a:spcBef>
            </a:pPr>
            <a:endParaRPr sz="1100">
              <a:latin typeface="Arial"/>
              <a:cs typeface="Arial"/>
            </a:endParaRPr>
          </a:p>
          <a:p>
            <a:pPr marL="609600" indent="-229235">
              <a:lnSpc>
                <a:spcPts val="1410"/>
              </a:lnSpc>
              <a:buAutoNum type="arabicPeriod"/>
              <a:tabLst>
                <a:tab pos="610235" algn="l"/>
              </a:tabLst>
            </a:pPr>
            <a:r>
              <a:rPr dirty="0" sz="1200">
                <a:latin typeface="Arial"/>
                <a:cs typeface="Arial"/>
              </a:rPr>
              <a:t>Wake up for </a:t>
            </a:r>
            <a:r>
              <a:rPr dirty="0" sz="1200" spc="-5">
                <a:latin typeface="Arial"/>
                <a:cs typeface="Arial"/>
              </a:rPr>
              <a:t>Tahajjud and</a:t>
            </a:r>
            <a:r>
              <a:rPr dirty="0" sz="1200" spc="-75">
                <a:latin typeface="Arial"/>
                <a:cs typeface="Arial"/>
              </a:rPr>
              <a:t> </a:t>
            </a:r>
            <a:r>
              <a:rPr dirty="0" sz="1200" spc="-5">
                <a:latin typeface="Arial"/>
                <a:cs typeface="Arial"/>
              </a:rPr>
              <a:t>Tilaawat</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Sehri</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Swalaat </a:t>
            </a:r>
            <a:r>
              <a:rPr dirty="0" sz="1200">
                <a:latin typeface="Arial"/>
                <a:cs typeface="Arial"/>
              </a:rPr>
              <a:t>Fajr </a:t>
            </a:r>
            <a:r>
              <a:rPr dirty="0" sz="1200" spc="-5">
                <a:latin typeface="Arial"/>
                <a:cs typeface="Arial"/>
              </a:rPr>
              <a:t>and the rest in</a:t>
            </a:r>
            <a:r>
              <a:rPr dirty="0" sz="1200" spc="15">
                <a:latin typeface="Arial"/>
                <a:cs typeface="Arial"/>
              </a:rPr>
              <a:t> </a:t>
            </a:r>
            <a:r>
              <a:rPr dirty="0" sz="1200" spc="-5">
                <a:latin typeface="Arial"/>
                <a:cs typeface="Arial"/>
              </a:rPr>
              <a:t>Jama‘ah</a:t>
            </a:r>
            <a:endParaRPr sz="1200">
              <a:latin typeface="Arial"/>
              <a:cs typeface="Arial"/>
            </a:endParaRPr>
          </a:p>
          <a:p>
            <a:pPr marL="609600" indent="-229235">
              <a:lnSpc>
                <a:spcPts val="1380"/>
              </a:lnSpc>
              <a:buAutoNum type="arabicPeriod"/>
              <a:tabLst>
                <a:tab pos="610235" algn="l"/>
              </a:tabLst>
            </a:pPr>
            <a:r>
              <a:rPr dirty="0" sz="1200">
                <a:latin typeface="Arial"/>
                <a:cs typeface="Arial"/>
              </a:rPr>
              <a:t>Aftar</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Taraawi</a:t>
            </a:r>
            <a:endParaRPr sz="1200">
              <a:latin typeface="Arial"/>
              <a:cs typeface="Arial"/>
            </a:endParaRPr>
          </a:p>
          <a:p>
            <a:pPr marL="609600" indent="-229235">
              <a:lnSpc>
                <a:spcPts val="1380"/>
              </a:lnSpc>
              <a:buAutoNum type="arabicPeriod"/>
              <a:tabLst>
                <a:tab pos="610235" algn="l"/>
              </a:tabLst>
            </a:pPr>
            <a:r>
              <a:rPr dirty="0" sz="1200">
                <a:latin typeface="Arial"/>
                <a:cs typeface="Arial"/>
              </a:rPr>
              <a:t>Qiraat </a:t>
            </a:r>
            <a:r>
              <a:rPr dirty="0" sz="1200" spc="-5">
                <a:latin typeface="Arial"/>
                <a:cs typeface="Arial"/>
              </a:rPr>
              <a:t>of the Qur‘an </a:t>
            </a:r>
            <a:r>
              <a:rPr dirty="0" sz="1200">
                <a:latin typeface="Arial"/>
                <a:cs typeface="Arial"/>
              </a:rPr>
              <a:t>for the </a:t>
            </a:r>
            <a:r>
              <a:rPr dirty="0" sz="1200" spc="-5">
                <a:latin typeface="Arial"/>
                <a:cs typeface="Arial"/>
              </a:rPr>
              <a:t>whole</a:t>
            </a:r>
            <a:r>
              <a:rPr dirty="0" sz="1200" spc="-45">
                <a:latin typeface="Arial"/>
                <a:cs typeface="Arial"/>
              </a:rPr>
              <a:t> </a:t>
            </a:r>
            <a:r>
              <a:rPr dirty="0" sz="1200" spc="-5">
                <a:latin typeface="Arial"/>
                <a:cs typeface="Arial"/>
              </a:rPr>
              <a:t>month</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Lailatul </a:t>
            </a:r>
            <a:r>
              <a:rPr dirty="0" sz="1200">
                <a:latin typeface="Arial"/>
                <a:cs typeface="Arial"/>
              </a:rPr>
              <a:t>Qadr for </a:t>
            </a:r>
            <a:r>
              <a:rPr dirty="0" sz="1200" spc="-5">
                <a:latin typeface="Arial"/>
                <a:cs typeface="Arial"/>
              </a:rPr>
              <a:t>Ibaadah. More</a:t>
            </a:r>
            <a:r>
              <a:rPr dirty="0" sz="1200" spc="-30">
                <a:latin typeface="Arial"/>
                <a:cs typeface="Arial"/>
              </a:rPr>
              <a:t> </a:t>
            </a:r>
            <a:r>
              <a:rPr dirty="0" sz="1200" spc="-5">
                <a:latin typeface="Arial"/>
                <a:cs typeface="Arial"/>
              </a:rPr>
              <a:t>Ibaadah.</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No sin and</a:t>
            </a:r>
            <a:r>
              <a:rPr dirty="0" sz="1200" spc="5">
                <a:latin typeface="Arial"/>
                <a:cs typeface="Arial"/>
              </a:rPr>
              <a:t> </a:t>
            </a:r>
            <a:r>
              <a:rPr dirty="0" sz="1200" spc="-5">
                <a:latin typeface="Arial"/>
                <a:cs typeface="Arial"/>
              </a:rPr>
              <a:t>insult</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No drink and eat from Sehri </a:t>
            </a:r>
            <a:r>
              <a:rPr dirty="0" sz="1200">
                <a:latin typeface="Arial"/>
                <a:cs typeface="Arial"/>
              </a:rPr>
              <a:t>to</a:t>
            </a:r>
            <a:r>
              <a:rPr dirty="0" sz="1200" spc="-25">
                <a:latin typeface="Arial"/>
                <a:cs typeface="Arial"/>
              </a:rPr>
              <a:t> </a:t>
            </a:r>
            <a:r>
              <a:rPr dirty="0" sz="1200" spc="-5">
                <a:latin typeface="Arial"/>
                <a:cs typeface="Arial"/>
              </a:rPr>
              <a:t>aftar</a:t>
            </a:r>
            <a:endParaRPr sz="1200">
              <a:latin typeface="Arial"/>
              <a:cs typeface="Arial"/>
            </a:endParaRPr>
          </a:p>
          <a:p>
            <a:pPr marL="609600" indent="-229235">
              <a:lnSpc>
                <a:spcPts val="1410"/>
              </a:lnSpc>
              <a:buAutoNum type="arabicPeriod"/>
              <a:tabLst>
                <a:tab pos="610235" algn="l"/>
              </a:tabLst>
            </a:pPr>
            <a:r>
              <a:rPr dirty="0" sz="1200" spc="-5">
                <a:latin typeface="Arial"/>
                <a:cs typeface="Arial"/>
              </a:rPr>
              <a:t>No sexual intercourse </a:t>
            </a:r>
            <a:r>
              <a:rPr dirty="0" sz="1200">
                <a:latin typeface="Arial"/>
                <a:cs typeface="Arial"/>
              </a:rPr>
              <a:t>from </a:t>
            </a:r>
            <a:r>
              <a:rPr dirty="0" sz="1200" spc="-5">
                <a:latin typeface="Arial"/>
                <a:cs typeface="Arial"/>
              </a:rPr>
              <a:t>Sehri till</a:t>
            </a:r>
            <a:r>
              <a:rPr dirty="0" sz="1200" spc="10">
                <a:latin typeface="Arial"/>
                <a:cs typeface="Arial"/>
              </a:rPr>
              <a:t> </a:t>
            </a:r>
            <a:r>
              <a:rPr dirty="0" sz="1200" spc="-5">
                <a:latin typeface="Arial"/>
                <a:cs typeface="Arial"/>
              </a:rPr>
              <a:t>aftar</a:t>
            </a:r>
            <a:endParaRPr sz="1200">
              <a:latin typeface="Arial"/>
              <a:cs typeface="Arial"/>
            </a:endParaRPr>
          </a:p>
          <a:p>
            <a:pPr>
              <a:lnSpc>
                <a:spcPct val="100000"/>
              </a:lnSpc>
              <a:spcBef>
                <a:spcPts val="40"/>
              </a:spcBef>
            </a:pPr>
            <a:endParaRPr sz="1100">
              <a:latin typeface="Arial"/>
              <a:cs typeface="Arial"/>
            </a:endParaRPr>
          </a:p>
          <a:p>
            <a:pPr marL="152400">
              <a:lnSpc>
                <a:spcPct val="100000"/>
              </a:lnSpc>
            </a:pPr>
            <a:r>
              <a:rPr dirty="0" u="heavy" sz="1200" spc="-5" b="1" i="1">
                <a:uFill>
                  <a:solidFill>
                    <a:srgbClr val="000000"/>
                  </a:solidFill>
                </a:uFill>
                <a:latin typeface="Arial"/>
                <a:cs typeface="Arial"/>
              </a:rPr>
              <a:t>What features distinguish these prayers from the </a:t>
            </a:r>
            <a:r>
              <a:rPr dirty="0" u="heavy" sz="1200" spc="-50" b="1" i="1">
                <a:uFill>
                  <a:solidFill>
                    <a:srgbClr val="000000"/>
                  </a:solidFill>
                </a:uFill>
                <a:latin typeface="Arial"/>
                <a:cs typeface="Arial"/>
              </a:rPr>
              <a:t>Jum„ah </a:t>
            </a:r>
            <a:r>
              <a:rPr dirty="0" u="heavy" sz="1200" spc="-5" b="1" i="1">
                <a:uFill>
                  <a:solidFill>
                    <a:srgbClr val="000000"/>
                  </a:solidFill>
                </a:uFill>
                <a:latin typeface="Arial"/>
                <a:cs typeface="Arial"/>
              </a:rPr>
              <a:t>[Friday]</a:t>
            </a:r>
            <a:r>
              <a:rPr dirty="0" u="heavy" sz="1200" spc="150" b="1" i="1">
                <a:uFill>
                  <a:solidFill>
                    <a:srgbClr val="000000"/>
                  </a:solidFill>
                </a:uFill>
                <a:latin typeface="Arial"/>
                <a:cs typeface="Arial"/>
              </a:rPr>
              <a:t> </a:t>
            </a:r>
            <a:r>
              <a:rPr dirty="0" u="heavy" sz="1200" spc="-5" b="1" i="1">
                <a:uFill>
                  <a:solidFill>
                    <a:srgbClr val="000000"/>
                  </a:solidFill>
                </a:uFill>
                <a:latin typeface="Arial"/>
                <a:cs typeface="Arial"/>
              </a:rPr>
              <a:t>prayers?</a:t>
            </a:r>
            <a:endParaRPr sz="1200">
              <a:latin typeface="Arial"/>
              <a:cs typeface="Arial"/>
            </a:endParaRPr>
          </a:p>
          <a:p>
            <a:pPr>
              <a:lnSpc>
                <a:spcPct val="100000"/>
              </a:lnSpc>
            </a:pPr>
            <a:endParaRPr sz="1150">
              <a:latin typeface="Arial"/>
              <a:cs typeface="Arial"/>
            </a:endParaRPr>
          </a:p>
          <a:p>
            <a:pPr marL="609600" indent="-229235">
              <a:lnSpc>
                <a:spcPts val="1410"/>
              </a:lnSpc>
              <a:buAutoNum type="arabicPeriod"/>
              <a:tabLst>
                <a:tab pos="610235" algn="l"/>
              </a:tabLst>
            </a:pPr>
            <a:r>
              <a:rPr dirty="0" sz="1200" spc="-5">
                <a:latin typeface="Arial"/>
                <a:cs typeface="Arial"/>
              </a:rPr>
              <a:t>Jum‘ah prayer is once a</a:t>
            </a:r>
            <a:r>
              <a:rPr dirty="0" sz="1200" spc="20">
                <a:latin typeface="Arial"/>
                <a:cs typeface="Arial"/>
              </a:rPr>
              <a:t> </a:t>
            </a:r>
            <a:r>
              <a:rPr dirty="0" sz="1200" spc="-5">
                <a:latin typeface="Arial"/>
                <a:cs typeface="Arial"/>
              </a:rPr>
              <a:t>week</a:t>
            </a:r>
            <a:endParaRPr sz="1200">
              <a:latin typeface="Arial"/>
              <a:cs typeface="Arial"/>
            </a:endParaRPr>
          </a:p>
          <a:p>
            <a:pPr marL="609600" indent="-229235">
              <a:lnSpc>
                <a:spcPts val="1380"/>
              </a:lnSpc>
              <a:buAutoNum type="arabicPeriod"/>
              <a:tabLst>
                <a:tab pos="610235" algn="l"/>
              </a:tabLst>
            </a:pPr>
            <a:r>
              <a:rPr dirty="0" sz="1200">
                <a:latin typeface="Arial"/>
                <a:cs typeface="Arial"/>
              </a:rPr>
              <a:t>It </a:t>
            </a:r>
            <a:r>
              <a:rPr dirty="0" sz="1200" spc="-5">
                <a:latin typeface="Arial"/>
                <a:cs typeface="Arial"/>
              </a:rPr>
              <a:t>is only </a:t>
            </a:r>
            <a:r>
              <a:rPr dirty="0" sz="1200">
                <a:latin typeface="Arial"/>
                <a:cs typeface="Arial"/>
              </a:rPr>
              <a:t>on</a:t>
            </a:r>
            <a:r>
              <a:rPr dirty="0" sz="1200" spc="-10">
                <a:latin typeface="Arial"/>
                <a:cs typeface="Arial"/>
              </a:rPr>
              <a:t> </a:t>
            </a:r>
            <a:r>
              <a:rPr dirty="0" sz="1200" spc="-5">
                <a:latin typeface="Arial"/>
                <a:cs typeface="Arial"/>
              </a:rPr>
              <a:t>Fridays</a:t>
            </a:r>
            <a:endParaRPr sz="1200">
              <a:latin typeface="Arial"/>
              <a:cs typeface="Arial"/>
            </a:endParaRPr>
          </a:p>
          <a:p>
            <a:pPr marL="609600" indent="-229235">
              <a:lnSpc>
                <a:spcPts val="1380"/>
              </a:lnSpc>
              <a:buAutoNum type="arabicPeriod"/>
              <a:tabLst>
                <a:tab pos="610235" algn="l"/>
              </a:tabLst>
            </a:pPr>
            <a:r>
              <a:rPr dirty="0" sz="1200">
                <a:latin typeface="Arial"/>
                <a:cs typeface="Arial"/>
              </a:rPr>
              <a:t>It </a:t>
            </a:r>
            <a:r>
              <a:rPr dirty="0" sz="1200" spc="-5">
                <a:latin typeface="Arial"/>
                <a:cs typeface="Arial"/>
              </a:rPr>
              <a:t>is encouragement </a:t>
            </a:r>
            <a:r>
              <a:rPr dirty="0" sz="1200">
                <a:latin typeface="Arial"/>
                <a:cs typeface="Arial"/>
              </a:rPr>
              <a:t>for </a:t>
            </a:r>
            <a:r>
              <a:rPr dirty="0" sz="1200" spc="-5">
                <a:latin typeface="Arial"/>
                <a:cs typeface="Arial"/>
              </a:rPr>
              <a:t>people to put </a:t>
            </a:r>
            <a:r>
              <a:rPr dirty="0" sz="1200" spc="-10">
                <a:latin typeface="Arial"/>
                <a:cs typeface="Arial"/>
              </a:rPr>
              <a:t>on </a:t>
            </a:r>
            <a:r>
              <a:rPr dirty="0" sz="1200" spc="-5">
                <a:latin typeface="Arial"/>
                <a:cs typeface="Arial"/>
              </a:rPr>
              <a:t>their</a:t>
            </a:r>
            <a:r>
              <a:rPr dirty="0" sz="1200" spc="-15">
                <a:latin typeface="Arial"/>
                <a:cs typeface="Arial"/>
              </a:rPr>
              <a:t> </a:t>
            </a:r>
            <a:r>
              <a:rPr dirty="0" sz="1200" spc="-5">
                <a:latin typeface="Arial"/>
                <a:cs typeface="Arial"/>
              </a:rPr>
              <a:t>finery</a:t>
            </a:r>
            <a:endParaRPr sz="1200">
              <a:latin typeface="Arial"/>
              <a:cs typeface="Arial"/>
            </a:endParaRPr>
          </a:p>
          <a:p>
            <a:pPr marL="609600" indent="-229235">
              <a:lnSpc>
                <a:spcPts val="1380"/>
              </a:lnSpc>
              <a:buAutoNum type="arabicPeriod"/>
              <a:tabLst>
                <a:tab pos="610235" algn="l"/>
              </a:tabLst>
            </a:pPr>
            <a:r>
              <a:rPr dirty="0" sz="1200">
                <a:latin typeface="Arial"/>
                <a:cs typeface="Arial"/>
              </a:rPr>
              <a:t>It </a:t>
            </a:r>
            <a:r>
              <a:rPr dirty="0" sz="1200" spc="-5">
                <a:latin typeface="Arial"/>
                <a:cs typeface="Arial"/>
              </a:rPr>
              <a:t>is held only in congregation</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number of Rakaat is 4 Sunnah 2 </a:t>
            </a:r>
            <a:r>
              <a:rPr dirty="0" sz="1200">
                <a:latin typeface="Arial"/>
                <a:cs typeface="Arial"/>
              </a:rPr>
              <a:t>Fard </a:t>
            </a:r>
            <a:r>
              <a:rPr dirty="0" sz="1200" spc="-5">
                <a:latin typeface="Arial"/>
                <a:cs typeface="Arial"/>
              </a:rPr>
              <a:t>4 Sunnah 2 Sunnah 2</a:t>
            </a:r>
            <a:r>
              <a:rPr dirty="0" sz="1200" spc="40">
                <a:latin typeface="Arial"/>
                <a:cs typeface="Arial"/>
              </a:rPr>
              <a:t> </a:t>
            </a:r>
            <a:r>
              <a:rPr dirty="0" sz="1200" spc="-5">
                <a:latin typeface="Arial"/>
                <a:cs typeface="Arial"/>
              </a:rPr>
              <a:t>Nafil</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Two calls of Adhan </a:t>
            </a:r>
            <a:r>
              <a:rPr dirty="0" sz="1200">
                <a:latin typeface="Arial"/>
                <a:cs typeface="Arial"/>
              </a:rPr>
              <a:t>– </a:t>
            </a:r>
            <a:r>
              <a:rPr dirty="0" sz="1200" spc="-5">
                <a:latin typeface="Arial"/>
                <a:cs typeface="Arial"/>
              </a:rPr>
              <a:t>one at the regular time and </a:t>
            </a:r>
            <a:r>
              <a:rPr dirty="0" sz="1200">
                <a:latin typeface="Arial"/>
                <a:cs typeface="Arial"/>
              </a:rPr>
              <a:t>the </a:t>
            </a:r>
            <a:r>
              <a:rPr dirty="0" sz="1200" spc="-5">
                <a:latin typeface="Arial"/>
                <a:cs typeface="Arial"/>
              </a:rPr>
              <a:t>second before </a:t>
            </a:r>
            <a:r>
              <a:rPr dirty="0" sz="1200">
                <a:latin typeface="Arial"/>
                <a:cs typeface="Arial"/>
              </a:rPr>
              <a:t>the</a:t>
            </a:r>
            <a:r>
              <a:rPr dirty="0" sz="1200" spc="80">
                <a:latin typeface="Arial"/>
                <a:cs typeface="Arial"/>
              </a:rPr>
              <a:t> </a:t>
            </a:r>
            <a:r>
              <a:rPr dirty="0" sz="1200" spc="-5">
                <a:latin typeface="Arial"/>
                <a:cs typeface="Arial"/>
              </a:rPr>
              <a:t>Khutbah</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The Khutbah with special</a:t>
            </a:r>
            <a:r>
              <a:rPr dirty="0" sz="1200" spc="10">
                <a:latin typeface="Arial"/>
                <a:cs typeface="Arial"/>
              </a:rPr>
              <a:t> </a:t>
            </a:r>
            <a:r>
              <a:rPr dirty="0" sz="1200" spc="-5">
                <a:latin typeface="Arial"/>
                <a:cs typeface="Arial"/>
              </a:rPr>
              <a:t>message</a:t>
            </a:r>
            <a:endParaRPr sz="1200">
              <a:latin typeface="Arial"/>
              <a:cs typeface="Arial"/>
            </a:endParaRPr>
          </a:p>
          <a:p>
            <a:pPr marL="609600" indent="-229235">
              <a:lnSpc>
                <a:spcPts val="1380"/>
              </a:lnSpc>
              <a:buAutoNum type="arabicPeriod"/>
              <a:tabLst>
                <a:tab pos="610235" algn="l"/>
              </a:tabLst>
            </a:pPr>
            <a:r>
              <a:rPr dirty="0" sz="1200" spc="-5">
                <a:latin typeface="Arial"/>
                <a:cs typeface="Arial"/>
              </a:rPr>
              <a:t>Jum‘ah is also </a:t>
            </a:r>
            <a:r>
              <a:rPr dirty="0" sz="1200">
                <a:latin typeface="Arial"/>
                <a:cs typeface="Arial"/>
              </a:rPr>
              <a:t>an Id – </a:t>
            </a:r>
            <a:r>
              <a:rPr dirty="0" sz="1200" spc="-5">
                <a:latin typeface="Arial"/>
                <a:cs typeface="Arial"/>
              </a:rPr>
              <a:t>day of</a:t>
            </a:r>
            <a:r>
              <a:rPr dirty="0" sz="1200" spc="-25">
                <a:latin typeface="Arial"/>
                <a:cs typeface="Arial"/>
              </a:rPr>
              <a:t> </a:t>
            </a:r>
            <a:r>
              <a:rPr dirty="0" sz="1200" spc="-5">
                <a:latin typeface="Arial"/>
                <a:cs typeface="Arial"/>
              </a:rPr>
              <a:t>festivity</a:t>
            </a:r>
            <a:endParaRPr sz="1200">
              <a:latin typeface="Arial"/>
              <a:cs typeface="Arial"/>
            </a:endParaRPr>
          </a:p>
          <a:p>
            <a:pPr marL="609600" indent="-229235">
              <a:lnSpc>
                <a:spcPts val="1380"/>
              </a:lnSpc>
              <a:buAutoNum type="arabicPeriod"/>
              <a:tabLst>
                <a:tab pos="610235" algn="l"/>
              </a:tabLst>
            </a:pPr>
            <a:r>
              <a:rPr dirty="0" sz="1200">
                <a:latin typeface="Arial"/>
                <a:cs typeface="Arial"/>
              </a:rPr>
              <a:t>It </a:t>
            </a:r>
            <a:r>
              <a:rPr dirty="0" sz="1200" spc="-5">
                <a:latin typeface="Arial"/>
                <a:cs typeface="Arial"/>
              </a:rPr>
              <a:t>commemorates the 2 </a:t>
            </a:r>
            <a:r>
              <a:rPr dirty="0" sz="1200">
                <a:latin typeface="Arial"/>
                <a:cs typeface="Arial"/>
              </a:rPr>
              <a:t>nafil </a:t>
            </a:r>
            <a:r>
              <a:rPr dirty="0" sz="1200" spc="-5">
                <a:latin typeface="Arial"/>
                <a:cs typeface="Arial"/>
              </a:rPr>
              <a:t>Shukranah of Hazrat Adam</a:t>
            </a:r>
            <a:r>
              <a:rPr dirty="0" sz="1200" spc="30">
                <a:latin typeface="Arial"/>
                <a:cs typeface="Arial"/>
              </a:rPr>
              <a:t> </a:t>
            </a:r>
            <a:r>
              <a:rPr dirty="0" sz="1200" spc="-5">
                <a:latin typeface="Arial"/>
                <a:cs typeface="Arial"/>
              </a:rPr>
              <a:t>(as)</a:t>
            </a:r>
            <a:endParaRPr sz="1200">
              <a:latin typeface="Arial"/>
              <a:cs typeface="Arial"/>
            </a:endParaRPr>
          </a:p>
          <a:p>
            <a:pPr marL="609600" indent="-229235">
              <a:lnSpc>
                <a:spcPts val="1410"/>
              </a:lnSpc>
              <a:buAutoNum type="arabicPeriod"/>
              <a:tabLst>
                <a:tab pos="610235" algn="l"/>
              </a:tabLst>
            </a:pPr>
            <a:r>
              <a:rPr dirty="0" sz="1200">
                <a:latin typeface="Arial"/>
                <a:cs typeface="Arial"/>
              </a:rPr>
              <a:t>It </a:t>
            </a:r>
            <a:r>
              <a:rPr dirty="0" sz="1200" spc="-5">
                <a:latin typeface="Arial"/>
                <a:cs typeface="Arial"/>
              </a:rPr>
              <a:t>invites </a:t>
            </a:r>
            <a:r>
              <a:rPr dirty="0" sz="1200">
                <a:latin typeface="Arial"/>
                <a:cs typeface="Arial"/>
              </a:rPr>
              <a:t>for </a:t>
            </a:r>
            <a:r>
              <a:rPr dirty="0" sz="1200" spc="-5">
                <a:latin typeface="Arial"/>
                <a:cs typeface="Arial"/>
              </a:rPr>
              <a:t>a </a:t>
            </a:r>
            <a:r>
              <a:rPr dirty="0" sz="1200" spc="-10">
                <a:latin typeface="Arial"/>
                <a:cs typeface="Arial"/>
              </a:rPr>
              <a:t>larger </a:t>
            </a:r>
            <a:r>
              <a:rPr dirty="0" sz="1200" spc="-5">
                <a:latin typeface="Arial"/>
                <a:cs typeface="Arial"/>
              </a:rPr>
              <a:t>gathering and contribution of Muslims </a:t>
            </a:r>
            <a:r>
              <a:rPr dirty="0" sz="1200">
                <a:latin typeface="Arial"/>
                <a:cs typeface="Arial"/>
              </a:rPr>
              <a:t>as</a:t>
            </a:r>
            <a:r>
              <a:rPr dirty="0" sz="1200" spc="50">
                <a:latin typeface="Arial"/>
                <a:cs typeface="Arial"/>
              </a:rPr>
              <a:t> </a:t>
            </a:r>
            <a:r>
              <a:rPr dirty="0" sz="1200" spc="-5">
                <a:latin typeface="Arial"/>
                <a:cs typeface="Arial"/>
              </a:rPr>
              <a:t>Sadaqa</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84</a:t>
            </a:r>
            <a:endParaRPr sz="1200">
              <a:latin typeface="Times New Roman"/>
              <a:cs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6311900" cy="844550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How </a:t>
            </a:r>
            <a:r>
              <a:rPr dirty="0" u="heavy" sz="1200" b="1" i="1">
                <a:uFill>
                  <a:solidFill>
                    <a:srgbClr val="000000"/>
                  </a:solidFill>
                </a:uFill>
                <a:latin typeface="Arial"/>
                <a:cs typeface="Arial"/>
              </a:rPr>
              <a:t>does </a:t>
            </a:r>
            <a:r>
              <a:rPr dirty="0" u="heavy" sz="1200" spc="-5" b="1" i="1">
                <a:uFill>
                  <a:solidFill>
                    <a:srgbClr val="000000"/>
                  </a:solidFill>
                </a:uFill>
                <a:latin typeface="Arial"/>
                <a:cs typeface="Arial"/>
              </a:rPr>
              <a:t>Zakat differ from</a:t>
            </a:r>
            <a:r>
              <a:rPr dirty="0" u="heavy" sz="1200" spc="25" b="1" i="1">
                <a:uFill>
                  <a:solidFill>
                    <a:srgbClr val="000000"/>
                  </a:solidFill>
                </a:uFill>
                <a:latin typeface="Arial"/>
                <a:cs typeface="Arial"/>
              </a:rPr>
              <a:t> </a:t>
            </a:r>
            <a:r>
              <a:rPr dirty="0" u="heavy" sz="1200" spc="-5" b="1" i="1">
                <a:uFill>
                  <a:solidFill>
                    <a:srgbClr val="000000"/>
                  </a:solidFill>
                </a:uFill>
                <a:latin typeface="Arial"/>
                <a:cs typeface="Arial"/>
              </a:rPr>
              <a:t>Sadaqah?</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a:latin typeface="Arial"/>
                <a:cs typeface="Arial"/>
              </a:rPr>
              <a:t>Zakaat </a:t>
            </a:r>
            <a:r>
              <a:rPr dirty="0" sz="1200" spc="-5">
                <a:latin typeface="Arial"/>
                <a:cs typeface="Arial"/>
              </a:rPr>
              <a:t>is Fard but Sadaqa is</a:t>
            </a:r>
            <a:r>
              <a:rPr dirty="0" sz="1200" spc="5">
                <a:latin typeface="Arial"/>
                <a:cs typeface="Arial"/>
              </a:rPr>
              <a:t> </a:t>
            </a:r>
            <a:r>
              <a:rPr dirty="0" sz="1200" spc="-5">
                <a:latin typeface="Arial"/>
                <a:cs typeface="Arial"/>
              </a:rPr>
              <a:t>Nafil</a:t>
            </a:r>
            <a:endParaRPr sz="1200">
              <a:latin typeface="Arial"/>
              <a:cs typeface="Arial"/>
            </a:endParaRPr>
          </a:p>
          <a:p>
            <a:pPr marL="469900" marR="12065" indent="-228600">
              <a:lnSpc>
                <a:spcPts val="1380"/>
              </a:lnSpc>
              <a:spcBef>
                <a:spcPts val="65"/>
              </a:spcBef>
              <a:buAutoNum type="arabicPeriod"/>
              <a:tabLst>
                <a:tab pos="470534" algn="l"/>
              </a:tabLst>
            </a:pPr>
            <a:r>
              <a:rPr dirty="0" sz="1200">
                <a:latin typeface="Arial"/>
                <a:cs typeface="Arial"/>
              </a:rPr>
              <a:t>Zakaat </a:t>
            </a:r>
            <a:r>
              <a:rPr dirty="0" sz="1200" spc="-5">
                <a:latin typeface="Arial"/>
                <a:cs typeface="Arial"/>
              </a:rPr>
              <a:t>must be </a:t>
            </a:r>
            <a:r>
              <a:rPr dirty="0" sz="1200" spc="-10">
                <a:latin typeface="Arial"/>
                <a:cs typeface="Arial"/>
              </a:rPr>
              <a:t>given </a:t>
            </a:r>
            <a:r>
              <a:rPr dirty="0" sz="1200" spc="-5">
                <a:latin typeface="Arial"/>
                <a:cs typeface="Arial"/>
              </a:rPr>
              <a:t>during </a:t>
            </a:r>
            <a:r>
              <a:rPr dirty="0" sz="1200">
                <a:latin typeface="Arial"/>
                <a:cs typeface="Arial"/>
              </a:rPr>
              <a:t>the </a:t>
            </a:r>
            <a:r>
              <a:rPr dirty="0" sz="1200" spc="-5">
                <a:latin typeface="Arial"/>
                <a:cs typeface="Arial"/>
              </a:rPr>
              <a:t>month of Ramadhan but </a:t>
            </a:r>
            <a:r>
              <a:rPr dirty="0" sz="1200" spc="-10">
                <a:latin typeface="Arial"/>
                <a:cs typeface="Arial"/>
              </a:rPr>
              <a:t>Sadaqa </a:t>
            </a:r>
            <a:r>
              <a:rPr dirty="0" sz="1200" spc="-5">
                <a:latin typeface="Arial"/>
                <a:cs typeface="Arial"/>
              </a:rPr>
              <a:t>can </a:t>
            </a:r>
            <a:r>
              <a:rPr dirty="0" sz="1200" spc="-10">
                <a:latin typeface="Arial"/>
                <a:cs typeface="Arial"/>
              </a:rPr>
              <a:t>be </a:t>
            </a:r>
            <a:r>
              <a:rPr dirty="0" sz="1200" spc="-5">
                <a:latin typeface="Arial"/>
                <a:cs typeface="Arial"/>
              </a:rPr>
              <a:t>offered </a:t>
            </a:r>
            <a:r>
              <a:rPr dirty="0" sz="1200">
                <a:latin typeface="Arial"/>
                <a:cs typeface="Arial"/>
              </a:rPr>
              <a:t>at  </a:t>
            </a:r>
            <a:r>
              <a:rPr dirty="0" sz="1200" spc="-5">
                <a:latin typeface="Arial"/>
                <a:cs typeface="Arial"/>
              </a:rPr>
              <a:t>any</a:t>
            </a:r>
            <a:r>
              <a:rPr dirty="0" sz="1200" spc="-20">
                <a:latin typeface="Arial"/>
                <a:cs typeface="Arial"/>
              </a:rPr>
              <a:t> </a:t>
            </a:r>
            <a:r>
              <a:rPr dirty="0" sz="1200">
                <a:latin typeface="Arial"/>
                <a:cs typeface="Arial"/>
              </a:rPr>
              <a:t>time</a:t>
            </a:r>
            <a:endParaRPr sz="1200">
              <a:latin typeface="Arial"/>
              <a:cs typeface="Arial"/>
            </a:endParaRPr>
          </a:p>
          <a:p>
            <a:pPr marL="469900" indent="-229235">
              <a:lnSpc>
                <a:spcPts val="1315"/>
              </a:lnSpc>
              <a:buAutoNum type="arabicPeriod"/>
              <a:tabLst>
                <a:tab pos="470534" algn="l"/>
              </a:tabLst>
            </a:pPr>
            <a:r>
              <a:rPr dirty="0" sz="1200">
                <a:latin typeface="Arial"/>
                <a:cs typeface="Arial"/>
              </a:rPr>
              <a:t>Zakaat </a:t>
            </a:r>
            <a:r>
              <a:rPr dirty="0" sz="1200" spc="-5">
                <a:latin typeface="Arial"/>
                <a:cs typeface="Arial"/>
              </a:rPr>
              <a:t>must </a:t>
            </a:r>
            <a:r>
              <a:rPr dirty="0" sz="1200" spc="-10">
                <a:latin typeface="Arial"/>
                <a:cs typeface="Arial"/>
              </a:rPr>
              <a:t>be </a:t>
            </a:r>
            <a:r>
              <a:rPr dirty="0" sz="1200" spc="-5">
                <a:latin typeface="Arial"/>
                <a:cs typeface="Arial"/>
              </a:rPr>
              <a:t>rightly calculated but </a:t>
            </a:r>
            <a:r>
              <a:rPr dirty="0" sz="1200">
                <a:latin typeface="Arial"/>
                <a:cs typeface="Arial"/>
              </a:rPr>
              <a:t>for </a:t>
            </a:r>
            <a:r>
              <a:rPr dirty="0" sz="1200" spc="-5">
                <a:latin typeface="Arial"/>
                <a:cs typeface="Arial"/>
              </a:rPr>
              <a:t>Sadaqa, any amount can be</a:t>
            </a:r>
            <a:r>
              <a:rPr dirty="0" sz="1200" spc="30">
                <a:latin typeface="Arial"/>
                <a:cs typeface="Arial"/>
              </a:rPr>
              <a:t> </a:t>
            </a:r>
            <a:r>
              <a:rPr dirty="0" sz="1200" spc="-5">
                <a:latin typeface="Arial"/>
                <a:cs typeface="Arial"/>
              </a:rPr>
              <a:t>given</a:t>
            </a:r>
            <a:endParaRPr sz="1200">
              <a:latin typeface="Arial"/>
              <a:cs typeface="Arial"/>
            </a:endParaRPr>
          </a:p>
          <a:p>
            <a:pPr marL="469900" indent="-229235">
              <a:lnSpc>
                <a:spcPts val="1380"/>
              </a:lnSpc>
              <a:buAutoNum type="arabicPeriod"/>
              <a:tabLst>
                <a:tab pos="470534" algn="l"/>
              </a:tabLst>
            </a:pPr>
            <a:r>
              <a:rPr dirty="0" sz="1200">
                <a:latin typeface="Arial"/>
                <a:cs typeface="Arial"/>
              </a:rPr>
              <a:t>Zakaat </a:t>
            </a:r>
            <a:r>
              <a:rPr dirty="0" sz="1200" spc="-5">
                <a:latin typeface="Arial"/>
                <a:cs typeface="Arial"/>
              </a:rPr>
              <a:t>is </a:t>
            </a:r>
            <a:r>
              <a:rPr dirty="0" sz="1200" spc="-10">
                <a:latin typeface="Arial"/>
                <a:cs typeface="Arial"/>
              </a:rPr>
              <a:t>given </a:t>
            </a:r>
            <a:r>
              <a:rPr dirty="0" sz="1200">
                <a:latin typeface="Arial"/>
                <a:cs typeface="Arial"/>
              </a:rPr>
              <a:t>to </a:t>
            </a:r>
            <a:r>
              <a:rPr dirty="0" sz="1200" spc="-5">
                <a:latin typeface="Arial"/>
                <a:cs typeface="Arial"/>
              </a:rPr>
              <a:t>Muslims </a:t>
            </a:r>
            <a:r>
              <a:rPr dirty="0" sz="1200">
                <a:latin typeface="Arial"/>
                <a:cs typeface="Arial"/>
              </a:rPr>
              <a:t>only but </a:t>
            </a:r>
            <a:r>
              <a:rPr dirty="0" sz="1200" spc="-5">
                <a:latin typeface="Arial"/>
                <a:cs typeface="Arial"/>
              </a:rPr>
              <a:t>Sadaqa can be given </a:t>
            </a:r>
            <a:r>
              <a:rPr dirty="0" sz="1200">
                <a:latin typeface="Arial"/>
                <a:cs typeface="Arial"/>
              </a:rPr>
              <a:t>to </a:t>
            </a:r>
            <a:r>
              <a:rPr dirty="0" sz="1200" spc="-5">
                <a:latin typeface="Arial"/>
                <a:cs typeface="Arial"/>
              </a:rPr>
              <a:t>Muslims </a:t>
            </a:r>
            <a:r>
              <a:rPr dirty="0" sz="1200">
                <a:latin typeface="Arial"/>
                <a:cs typeface="Arial"/>
              </a:rPr>
              <a:t>and </a:t>
            </a:r>
            <a:r>
              <a:rPr dirty="0" sz="1200" spc="-5">
                <a:latin typeface="Arial"/>
                <a:cs typeface="Arial"/>
              </a:rPr>
              <a:t>non</a:t>
            </a:r>
            <a:r>
              <a:rPr dirty="0" sz="1200" spc="60">
                <a:latin typeface="Arial"/>
                <a:cs typeface="Arial"/>
              </a:rPr>
              <a:t> </a:t>
            </a:r>
            <a:r>
              <a:rPr dirty="0" sz="1200" spc="-5">
                <a:latin typeface="Arial"/>
                <a:cs typeface="Arial"/>
              </a:rPr>
              <a:t>Muslims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Zakaat </a:t>
            </a:r>
            <a:r>
              <a:rPr dirty="0" sz="1200" spc="-5">
                <a:latin typeface="Arial"/>
                <a:cs typeface="Arial"/>
              </a:rPr>
              <a:t>can‘t </a:t>
            </a:r>
            <a:r>
              <a:rPr dirty="0" sz="1200">
                <a:latin typeface="Arial"/>
                <a:cs typeface="Arial"/>
              </a:rPr>
              <a:t>be </a:t>
            </a:r>
            <a:r>
              <a:rPr dirty="0" sz="1200" spc="-5">
                <a:latin typeface="Arial"/>
                <a:cs typeface="Arial"/>
              </a:rPr>
              <a:t>given to the family </a:t>
            </a:r>
            <a:r>
              <a:rPr dirty="0" sz="1200">
                <a:latin typeface="Arial"/>
                <a:cs typeface="Arial"/>
              </a:rPr>
              <a:t>of </a:t>
            </a:r>
            <a:r>
              <a:rPr dirty="0" sz="1200" spc="-5">
                <a:latin typeface="Arial"/>
                <a:cs typeface="Arial"/>
              </a:rPr>
              <a:t>the Prophet (s.a.w) </a:t>
            </a:r>
            <a:r>
              <a:rPr dirty="0" sz="1200">
                <a:latin typeface="Arial"/>
                <a:cs typeface="Arial"/>
              </a:rPr>
              <a:t>but </a:t>
            </a:r>
            <a:r>
              <a:rPr dirty="0" sz="1200" spc="-10">
                <a:latin typeface="Arial"/>
                <a:cs typeface="Arial"/>
              </a:rPr>
              <a:t>Sadaqa </a:t>
            </a:r>
            <a:r>
              <a:rPr dirty="0" sz="1200">
                <a:latin typeface="Arial"/>
                <a:cs typeface="Arial"/>
              </a:rPr>
              <a:t>can be</a:t>
            </a:r>
            <a:r>
              <a:rPr dirty="0" sz="1200" spc="30">
                <a:latin typeface="Arial"/>
                <a:cs typeface="Arial"/>
              </a:rPr>
              <a:t> </a:t>
            </a:r>
            <a:r>
              <a:rPr dirty="0" sz="1200" spc="-5">
                <a:latin typeface="Arial"/>
                <a:cs typeface="Arial"/>
              </a:rPr>
              <a:t>given</a:t>
            </a:r>
            <a:endParaRPr sz="1200">
              <a:latin typeface="Arial"/>
              <a:cs typeface="Arial"/>
            </a:endParaRPr>
          </a:p>
          <a:p>
            <a:pPr marL="469900" indent="-229235">
              <a:lnSpc>
                <a:spcPts val="1380"/>
              </a:lnSpc>
              <a:buAutoNum type="arabicPeriod"/>
              <a:tabLst>
                <a:tab pos="470534" algn="l"/>
              </a:tabLst>
            </a:pPr>
            <a:r>
              <a:rPr dirty="0" sz="1200">
                <a:latin typeface="Arial"/>
                <a:cs typeface="Arial"/>
              </a:rPr>
              <a:t>Zakaat </a:t>
            </a:r>
            <a:r>
              <a:rPr dirty="0" sz="1200" spc="-5">
                <a:latin typeface="Arial"/>
                <a:cs typeface="Arial"/>
              </a:rPr>
              <a:t>must </a:t>
            </a:r>
            <a:r>
              <a:rPr dirty="0" sz="1200" spc="-10">
                <a:latin typeface="Arial"/>
                <a:cs typeface="Arial"/>
              </a:rPr>
              <a:t>be </a:t>
            </a:r>
            <a:r>
              <a:rPr dirty="0" sz="1200" spc="-5">
                <a:latin typeface="Arial"/>
                <a:cs typeface="Arial"/>
              </a:rPr>
              <a:t>in </a:t>
            </a:r>
            <a:r>
              <a:rPr dirty="0" sz="1200">
                <a:latin typeface="Arial"/>
                <a:cs typeface="Arial"/>
              </a:rPr>
              <a:t>the form </a:t>
            </a:r>
            <a:r>
              <a:rPr dirty="0" sz="1200" spc="-5">
                <a:latin typeface="Arial"/>
                <a:cs typeface="Arial"/>
              </a:rPr>
              <a:t>of money </a:t>
            </a:r>
            <a:r>
              <a:rPr dirty="0" sz="1200">
                <a:latin typeface="Arial"/>
                <a:cs typeface="Arial"/>
              </a:rPr>
              <a:t>but </a:t>
            </a:r>
            <a:r>
              <a:rPr dirty="0" sz="1200" spc="-10">
                <a:latin typeface="Arial"/>
                <a:cs typeface="Arial"/>
              </a:rPr>
              <a:t>Sadaqa </a:t>
            </a:r>
            <a:r>
              <a:rPr dirty="0" sz="1200">
                <a:latin typeface="Arial"/>
                <a:cs typeface="Arial"/>
              </a:rPr>
              <a:t>can take any</a:t>
            </a:r>
            <a:r>
              <a:rPr dirty="0" sz="1200" spc="-55">
                <a:latin typeface="Arial"/>
                <a:cs typeface="Arial"/>
              </a:rPr>
              <a:t> </a:t>
            </a:r>
            <a:r>
              <a:rPr dirty="0" sz="1200">
                <a:latin typeface="Arial"/>
                <a:cs typeface="Arial"/>
              </a:rPr>
              <a:t>form</a:t>
            </a:r>
            <a:endParaRPr sz="1200">
              <a:latin typeface="Arial"/>
              <a:cs typeface="Arial"/>
            </a:endParaRPr>
          </a:p>
          <a:p>
            <a:pPr marL="469900" indent="-229235">
              <a:lnSpc>
                <a:spcPts val="1380"/>
              </a:lnSpc>
              <a:buAutoNum type="arabicPeriod"/>
              <a:tabLst>
                <a:tab pos="470534" algn="l"/>
              </a:tabLst>
            </a:pPr>
            <a:r>
              <a:rPr dirty="0" sz="1200">
                <a:latin typeface="Arial"/>
                <a:cs typeface="Arial"/>
              </a:rPr>
              <a:t>Zakaat </a:t>
            </a:r>
            <a:r>
              <a:rPr dirty="0" sz="1200" spc="-5">
                <a:latin typeface="Arial"/>
                <a:cs typeface="Arial"/>
              </a:rPr>
              <a:t>must </a:t>
            </a:r>
            <a:r>
              <a:rPr dirty="0" sz="1200" spc="-10">
                <a:latin typeface="Arial"/>
                <a:cs typeface="Arial"/>
              </a:rPr>
              <a:t>be </a:t>
            </a:r>
            <a:r>
              <a:rPr dirty="0" sz="1200" spc="-5">
                <a:latin typeface="Arial"/>
                <a:cs typeface="Arial"/>
              </a:rPr>
              <a:t>used for specific means but Sadaqa can be used </a:t>
            </a:r>
            <a:r>
              <a:rPr dirty="0" sz="1200">
                <a:latin typeface="Arial"/>
                <a:cs typeface="Arial"/>
              </a:rPr>
              <a:t>for</a:t>
            </a:r>
            <a:r>
              <a:rPr dirty="0" sz="1200" spc="75">
                <a:latin typeface="Arial"/>
                <a:cs typeface="Arial"/>
              </a:rPr>
              <a:t> </a:t>
            </a:r>
            <a:r>
              <a:rPr dirty="0" sz="1200" spc="-5">
                <a:latin typeface="Arial"/>
                <a:cs typeface="Arial"/>
              </a:rPr>
              <a:t>anything</a:t>
            </a:r>
            <a:endParaRPr sz="1200">
              <a:latin typeface="Arial"/>
              <a:cs typeface="Arial"/>
            </a:endParaRPr>
          </a:p>
          <a:p>
            <a:pPr marL="469900" indent="-229235">
              <a:lnSpc>
                <a:spcPts val="1410"/>
              </a:lnSpc>
              <a:buAutoNum type="arabicPeriod"/>
              <a:tabLst>
                <a:tab pos="470534" algn="l"/>
              </a:tabLst>
            </a:pPr>
            <a:r>
              <a:rPr dirty="0" sz="1200">
                <a:latin typeface="Arial"/>
                <a:cs typeface="Arial"/>
              </a:rPr>
              <a:t>Zakaat </a:t>
            </a:r>
            <a:r>
              <a:rPr dirty="0" sz="1200" spc="-10">
                <a:latin typeface="Arial"/>
                <a:cs typeface="Arial"/>
              </a:rPr>
              <a:t>can </a:t>
            </a:r>
            <a:r>
              <a:rPr dirty="0" sz="1200" spc="-5">
                <a:latin typeface="Arial"/>
                <a:cs typeface="Arial"/>
              </a:rPr>
              <a:t>be taken by </a:t>
            </a:r>
            <a:r>
              <a:rPr dirty="0" sz="1200">
                <a:latin typeface="Arial"/>
                <a:cs typeface="Arial"/>
              </a:rPr>
              <a:t>specific </a:t>
            </a:r>
            <a:r>
              <a:rPr dirty="0" sz="1200" spc="-5">
                <a:latin typeface="Arial"/>
                <a:cs typeface="Arial"/>
              </a:rPr>
              <a:t>persons but Sadaqa can be taken by</a:t>
            </a:r>
            <a:r>
              <a:rPr dirty="0" sz="1200" spc="65">
                <a:latin typeface="Arial"/>
                <a:cs typeface="Arial"/>
              </a:rPr>
              <a:t> </a:t>
            </a:r>
            <a:r>
              <a:rPr dirty="0" sz="1200" spc="-5">
                <a:latin typeface="Arial"/>
                <a:cs typeface="Arial"/>
              </a:rPr>
              <a:t>anyone</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a:lnSpc>
                <a:spcPct val="100000"/>
              </a:lnSpc>
            </a:pPr>
            <a:endParaRPr sz="1150">
              <a:latin typeface="Arial"/>
              <a:cs typeface="Arial"/>
            </a:endParaRPr>
          </a:p>
          <a:p>
            <a:pPr algn="ctr">
              <a:lnSpc>
                <a:spcPct val="10000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55"/>
              </a:spcBef>
            </a:pPr>
            <a:endParaRPr sz="1100">
              <a:latin typeface="Arial"/>
              <a:cs typeface="Arial"/>
            </a:endParaRPr>
          </a:p>
          <a:p>
            <a:pPr marL="12700">
              <a:lnSpc>
                <a:spcPts val="1410"/>
              </a:lnSpc>
            </a:pPr>
            <a:r>
              <a:rPr dirty="0" sz="1200" spc="-5">
                <a:latin typeface="Arial"/>
                <a:cs typeface="Arial"/>
              </a:rPr>
              <a:t>7 (a) Give </a:t>
            </a:r>
            <a:r>
              <a:rPr dirty="0" sz="1200">
                <a:latin typeface="Arial"/>
                <a:cs typeface="Arial"/>
              </a:rPr>
              <a:t>an </a:t>
            </a:r>
            <a:r>
              <a:rPr dirty="0" sz="1200" spc="-5">
                <a:latin typeface="Arial"/>
                <a:cs typeface="Arial"/>
              </a:rPr>
              <a:t>account of the </a:t>
            </a:r>
            <a:r>
              <a:rPr dirty="0" sz="1200">
                <a:latin typeface="Arial"/>
                <a:cs typeface="Arial"/>
              </a:rPr>
              <a:t>main </a:t>
            </a:r>
            <a:r>
              <a:rPr dirty="0" sz="1200" spc="-5">
                <a:latin typeface="Arial"/>
                <a:cs typeface="Arial"/>
              </a:rPr>
              <a:t>aspects of </a:t>
            </a:r>
            <a:r>
              <a:rPr dirty="0" sz="1200">
                <a:latin typeface="Arial"/>
                <a:cs typeface="Arial"/>
              </a:rPr>
              <a:t>the </a:t>
            </a:r>
            <a:r>
              <a:rPr dirty="0" sz="1200" spc="-5">
                <a:latin typeface="Arial"/>
                <a:cs typeface="Arial"/>
              </a:rPr>
              <a:t>Muslim observance of Ramadan.</a:t>
            </a:r>
            <a:r>
              <a:rPr dirty="0" sz="1200" spc="55">
                <a:latin typeface="Arial"/>
                <a:cs typeface="Arial"/>
              </a:rPr>
              <a:t> </a:t>
            </a:r>
            <a:r>
              <a:rPr dirty="0" sz="1200" spc="-5">
                <a:latin typeface="Arial"/>
                <a:cs typeface="Arial"/>
              </a:rPr>
              <a:t>[12]</a:t>
            </a:r>
            <a:endParaRPr sz="1200">
              <a:latin typeface="Arial"/>
              <a:cs typeface="Arial"/>
            </a:endParaRPr>
          </a:p>
          <a:p>
            <a:pPr marL="12700" marR="12700" indent="128270">
              <a:lnSpc>
                <a:spcPts val="1380"/>
              </a:lnSpc>
              <a:spcBef>
                <a:spcPts val="65"/>
              </a:spcBef>
            </a:pPr>
            <a:r>
              <a:rPr dirty="0" sz="1200" spc="-5">
                <a:latin typeface="Arial"/>
                <a:cs typeface="Arial"/>
              </a:rPr>
              <a:t>(b) Explain why this observance is important </a:t>
            </a:r>
            <a:r>
              <a:rPr dirty="0" sz="1200">
                <a:latin typeface="Arial"/>
                <a:cs typeface="Arial"/>
              </a:rPr>
              <a:t>to </a:t>
            </a:r>
            <a:r>
              <a:rPr dirty="0" sz="1200" spc="-5">
                <a:latin typeface="Arial"/>
                <a:cs typeface="Arial"/>
              </a:rPr>
              <a:t>the individual and </a:t>
            </a:r>
            <a:r>
              <a:rPr dirty="0" sz="1200">
                <a:latin typeface="Arial"/>
                <a:cs typeface="Arial"/>
              </a:rPr>
              <a:t>to </a:t>
            </a:r>
            <a:r>
              <a:rPr dirty="0" sz="1200" spc="-5">
                <a:latin typeface="Arial"/>
                <a:cs typeface="Arial"/>
              </a:rPr>
              <a:t>the Muslim community.  </a:t>
            </a:r>
            <a:r>
              <a:rPr dirty="0" sz="1200">
                <a:latin typeface="Arial"/>
                <a:cs typeface="Arial"/>
              </a:rPr>
              <a:t>[8] </a:t>
            </a:r>
            <a:r>
              <a:rPr dirty="0" sz="1200" spc="-5" b="1">
                <a:latin typeface="Arial"/>
                <a:cs typeface="Arial"/>
              </a:rPr>
              <a:t>(2004)</a:t>
            </a:r>
            <a:endParaRPr sz="1200">
              <a:latin typeface="Arial"/>
              <a:cs typeface="Arial"/>
            </a:endParaRPr>
          </a:p>
          <a:p>
            <a:pPr>
              <a:lnSpc>
                <a:spcPct val="100000"/>
              </a:lnSpc>
              <a:spcBef>
                <a:spcPts val="5"/>
              </a:spcBef>
            </a:pPr>
            <a:endParaRPr sz="1100">
              <a:latin typeface="Arial"/>
              <a:cs typeface="Arial"/>
            </a:endParaRPr>
          </a:p>
          <a:p>
            <a:pPr marL="12700">
              <a:lnSpc>
                <a:spcPts val="1415"/>
              </a:lnSpc>
              <a:spcBef>
                <a:spcPts val="5"/>
              </a:spcBef>
            </a:pPr>
            <a:r>
              <a:rPr dirty="0" sz="1200" spc="-5">
                <a:latin typeface="Arial"/>
                <a:cs typeface="Arial"/>
              </a:rPr>
              <a:t>7 (a) Give </a:t>
            </a:r>
            <a:r>
              <a:rPr dirty="0" sz="1200">
                <a:latin typeface="Arial"/>
                <a:cs typeface="Arial"/>
              </a:rPr>
              <a:t>an </a:t>
            </a:r>
            <a:r>
              <a:rPr dirty="0" sz="1200" spc="-5">
                <a:latin typeface="Arial"/>
                <a:cs typeface="Arial"/>
              </a:rPr>
              <a:t>account of the </a:t>
            </a:r>
            <a:r>
              <a:rPr dirty="0" sz="1200">
                <a:latin typeface="Arial"/>
                <a:cs typeface="Arial"/>
              </a:rPr>
              <a:t>main </a:t>
            </a:r>
            <a:r>
              <a:rPr dirty="0" sz="1200" spc="-5">
                <a:latin typeface="Arial"/>
                <a:cs typeface="Arial"/>
              </a:rPr>
              <a:t>aspects of </a:t>
            </a:r>
            <a:r>
              <a:rPr dirty="0" sz="1200">
                <a:latin typeface="Arial"/>
                <a:cs typeface="Arial"/>
              </a:rPr>
              <a:t>the </a:t>
            </a:r>
            <a:r>
              <a:rPr dirty="0" sz="1200" spc="-5" i="1">
                <a:latin typeface="Arial"/>
                <a:cs typeface="Arial"/>
              </a:rPr>
              <a:t>Hajj</a:t>
            </a:r>
            <a:r>
              <a:rPr dirty="0" sz="1200" spc="-5">
                <a:latin typeface="Arial"/>
                <a:cs typeface="Arial"/>
              </a:rPr>
              <a:t>.</a:t>
            </a:r>
            <a:r>
              <a:rPr dirty="0" sz="1200" spc="20">
                <a:latin typeface="Arial"/>
                <a:cs typeface="Arial"/>
              </a:rPr>
              <a:t> </a:t>
            </a:r>
            <a:r>
              <a:rPr dirty="0" sz="1200" spc="-5">
                <a:latin typeface="Arial"/>
                <a:cs typeface="Arial"/>
              </a:rPr>
              <a:t>[12]</a:t>
            </a:r>
            <a:endParaRPr sz="1200">
              <a:latin typeface="Arial"/>
              <a:cs typeface="Arial"/>
            </a:endParaRPr>
          </a:p>
          <a:p>
            <a:pPr marL="140970">
              <a:lnSpc>
                <a:spcPts val="1415"/>
              </a:lnSpc>
            </a:pPr>
            <a:r>
              <a:rPr dirty="0" sz="1200" spc="-5">
                <a:latin typeface="Arial"/>
                <a:cs typeface="Arial"/>
              </a:rPr>
              <a:t>(b) How </a:t>
            </a:r>
            <a:r>
              <a:rPr dirty="0" sz="1200">
                <a:latin typeface="Arial"/>
                <a:cs typeface="Arial"/>
              </a:rPr>
              <a:t>does </a:t>
            </a:r>
            <a:r>
              <a:rPr dirty="0" sz="1200" spc="-5">
                <a:latin typeface="Arial"/>
                <a:cs typeface="Arial"/>
              </a:rPr>
              <a:t>this institution indicate equality </a:t>
            </a:r>
            <a:r>
              <a:rPr dirty="0" sz="1200">
                <a:latin typeface="Arial"/>
                <a:cs typeface="Arial"/>
              </a:rPr>
              <a:t>and </a:t>
            </a:r>
            <a:r>
              <a:rPr dirty="0" sz="1200" spc="-5">
                <a:latin typeface="Arial"/>
                <a:cs typeface="Arial"/>
              </a:rPr>
              <a:t>universality in </a:t>
            </a:r>
            <a:r>
              <a:rPr dirty="0" sz="1200">
                <a:latin typeface="Arial"/>
                <a:cs typeface="Arial"/>
              </a:rPr>
              <a:t>Islam? [8]</a:t>
            </a:r>
            <a:r>
              <a:rPr dirty="0" sz="1200" spc="55">
                <a:latin typeface="Arial"/>
                <a:cs typeface="Arial"/>
              </a:rPr>
              <a:t> </a:t>
            </a:r>
            <a:r>
              <a:rPr dirty="0" sz="1200" spc="-5" b="1">
                <a:latin typeface="Arial"/>
                <a:cs typeface="Arial"/>
              </a:rPr>
              <a:t>(2005)</a:t>
            </a:r>
            <a:endParaRPr sz="1200">
              <a:latin typeface="Arial"/>
              <a:cs typeface="Arial"/>
            </a:endParaRPr>
          </a:p>
          <a:p>
            <a:pPr marL="12700" marR="170180">
              <a:lnSpc>
                <a:spcPct val="190800"/>
              </a:lnSpc>
              <a:spcBef>
                <a:spcPts val="10"/>
              </a:spcBef>
              <a:buAutoNum type="arabicPlain" startAt="7"/>
              <a:tabLst>
                <a:tab pos="141605" algn="l"/>
              </a:tabLst>
            </a:pPr>
            <a:r>
              <a:rPr dirty="0" sz="1200" spc="-5">
                <a:latin typeface="Arial"/>
                <a:cs typeface="Arial"/>
              </a:rPr>
              <a:t>Explain how the Five Pillars of Islam promote communal solidarity amongst Muslims. [20]  8 (a) Describe the way the five daily prayers </a:t>
            </a:r>
            <a:r>
              <a:rPr dirty="0" sz="1200">
                <a:latin typeface="Arial"/>
                <a:cs typeface="Arial"/>
              </a:rPr>
              <a:t>[</a:t>
            </a:r>
            <a:r>
              <a:rPr dirty="0" sz="1200" i="1">
                <a:latin typeface="Arial"/>
                <a:cs typeface="Arial"/>
              </a:rPr>
              <a:t>Salat </a:t>
            </a:r>
            <a:r>
              <a:rPr dirty="0" sz="1200">
                <a:latin typeface="Arial"/>
                <a:cs typeface="Arial"/>
              </a:rPr>
              <a:t>] are </a:t>
            </a:r>
            <a:r>
              <a:rPr dirty="0" sz="1200" spc="-5">
                <a:latin typeface="Arial"/>
                <a:cs typeface="Arial"/>
              </a:rPr>
              <a:t>performed.</a:t>
            </a:r>
            <a:r>
              <a:rPr dirty="0" sz="1200" spc="30">
                <a:latin typeface="Arial"/>
                <a:cs typeface="Arial"/>
              </a:rPr>
              <a:t> </a:t>
            </a:r>
            <a:r>
              <a:rPr dirty="0" sz="1200" spc="-5">
                <a:latin typeface="Arial"/>
                <a:cs typeface="Arial"/>
              </a:rPr>
              <a:t>[12]</a:t>
            </a:r>
            <a:endParaRPr sz="1200">
              <a:latin typeface="Arial"/>
              <a:cs typeface="Arial"/>
            </a:endParaRPr>
          </a:p>
          <a:p>
            <a:pPr marL="183515">
              <a:lnSpc>
                <a:spcPts val="1380"/>
              </a:lnSpc>
            </a:pPr>
            <a:r>
              <a:rPr dirty="0" sz="1200" spc="-5">
                <a:latin typeface="Arial"/>
                <a:cs typeface="Arial"/>
              </a:rPr>
              <a:t>(b) </a:t>
            </a:r>
            <a:r>
              <a:rPr dirty="0" sz="1200" spc="5">
                <a:latin typeface="Arial"/>
                <a:cs typeface="Arial"/>
              </a:rPr>
              <a:t>What </a:t>
            </a:r>
            <a:r>
              <a:rPr dirty="0" sz="1200">
                <a:latin typeface="Arial"/>
                <a:cs typeface="Arial"/>
              </a:rPr>
              <a:t>features </a:t>
            </a:r>
            <a:r>
              <a:rPr dirty="0" sz="1200" spc="-5">
                <a:latin typeface="Arial"/>
                <a:cs typeface="Arial"/>
              </a:rPr>
              <a:t>distinguish these prayers from </a:t>
            </a:r>
            <a:r>
              <a:rPr dirty="0" sz="1200">
                <a:latin typeface="Arial"/>
                <a:cs typeface="Arial"/>
              </a:rPr>
              <a:t>the </a:t>
            </a:r>
            <a:r>
              <a:rPr dirty="0" sz="1200" spc="-70" i="1">
                <a:latin typeface="Arial"/>
                <a:cs typeface="Arial"/>
              </a:rPr>
              <a:t>Jum‗ah </a:t>
            </a:r>
            <a:r>
              <a:rPr dirty="0" sz="1200" spc="-5">
                <a:latin typeface="Arial"/>
                <a:cs typeface="Arial"/>
              </a:rPr>
              <a:t>[Friday] prayers? </a:t>
            </a:r>
            <a:r>
              <a:rPr dirty="0" sz="1200">
                <a:latin typeface="Arial"/>
                <a:cs typeface="Arial"/>
              </a:rPr>
              <a:t>[8]</a:t>
            </a:r>
            <a:r>
              <a:rPr dirty="0" sz="1200" spc="114">
                <a:latin typeface="Arial"/>
                <a:cs typeface="Arial"/>
              </a:rPr>
              <a:t> </a:t>
            </a:r>
            <a:r>
              <a:rPr dirty="0" sz="1200" spc="-5" b="1">
                <a:latin typeface="Arial"/>
                <a:cs typeface="Arial"/>
              </a:rPr>
              <a:t>(2006)</a:t>
            </a:r>
            <a:endParaRPr sz="1200">
              <a:latin typeface="Arial"/>
              <a:cs typeface="Arial"/>
            </a:endParaRPr>
          </a:p>
          <a:p>
            <a:pPr>
              <a:lnSpc>
                <a:spcPct val="100000"/>
              </a:lnSpc>
              <a:spcBef>
                <a:spcPts val="10"/>
              </a:spcBef>
            </a:pPr>
            <a:endParaRPr sz="1150">
              <a:latin typeface="Arial"/>
              <a:cs typeface="Arial"/>
            </a:endParaRPr>
          </a:p>
          <a:p>
            <a:pPr marL="140970" indent="-128905">
              <a:lnSpc>
                <a:spcPts val="1405"/>
              </a:lnSpc>
              <a:buAutoNum type="arabicPlain" startAt="8"/>
              <a:tabLst>
                <a:tab pos="141605" algn="l"/>
              </a:tabLst>
            </a:pPr>
            <a:r>
              <a:rPr dirty="0" sz="1200" spc="-5">
                <a:latin typeface="Arial"/>
                <a:cs typeface="Arial"/>
              </a:rPr>
              <a:t>Explain the </a:t>
            </a:r>
            <a:r>
              <a:rPr dirty="0" sz="1200">
                <a:latin typeface="Arial"/>
                <a:cs typeface="Arial"/>
              </a:rPr>
              <a:t>main </a:t>
            </a:r>
            <a:r>
              <a:rPr dirty="0" sz="1200" spc="-5">
                <a:latin typeface="Arial"/>
                <a:cs typeface="Arial"/>
              </a:rPr>
              <a:t>teachings of Islam</a:t>
            </a:r>
            <a:r>
              <a:rPr dirty="0" sz="1200" spc="5">
                <a:latin typeface="Arial"/>
                <a:cs typeface="Arial"/>
              </a:rPr>
              <a:t> </a:t>
            </a:r>
            <a:r>
              <a:rPr dirty="0" sz="1200" spc="-5">
                <a:latin typeface="Arial"/>
                <a:cs typeface="Arial"/>
              </a:rPr>
              <a:t>about:</a:t>
            </a:r>
            <a:endParaRPr sz="1200">
              <a:latin typeface="Arial"/>
              <a:cs typeface="Arial"/>
            </a:endParaRPr>
          </a:p>
          <a:p>
            <a:pPr lvl="1" marL="12700" marR="3975735" indent="128270">
              <a:lnSpc>
                <a:spcPts val="1390"/>
              </a:lnSpc>
              <a:spcBef>
                <a:spcPts val="50"/>
              </a:spcBef>
              <a:buAutoNum type="alphaLcParenBoth"/>
              <a:tabLst>
                <a:tab pos="370205" algn="l"/>
              </a:tabLst>
            </a:pPr>
            <a:r>
              <a:rPr dirty="0" sz="1200" spc="-5">
                <a:latin typeface="Arial"/>
                <a:cs typeface="Arial"/>
              </a:rPr>
              <a:t>personal struggle </a:t>
            </a:r>
            <a:r>
              <a:rPr dirty="0" sz="1200">
                <a:latin typeface="Arial"/>
                <a:cs typeface="Arial"/>
              </a:rPr>
              <a:t>[</a:t>
            </a:r>
            <a:r>
              <a:rPr dirty="0" sz="1200" i="1">
                <a:latin typeface="Arial"/>
                <a:cs typeface="Arial"/>
              </a:rPr>
              <a:t>Jihad</a:t>
            </a:r>
            <a:r>
              <a:rPr dirty="0" sz="1200">
                <a:latin typeface="Arial"/>
                <a:cs typeface="Arial"/>
              </a:rPr>
              <a:t>] </a:t>
            </a:r>
            <a:r>
              <a:rPr dirty="0" sz="1200" spc="-5">
                <a:latin typeface="Arial"/>
                <a:cs typeface="Arial"/>
              </a:rPr>
              <a:t>[10]  and any </a:t>
            </a:r>
            <a:r>
              <a:rPr dirty="0" sz="1200" spc="-10">
                <a:latin typeface="Arial"/>
                <a:cs typeface="Arial"/>
              </a:rPr>
              <a:t>two </a:t>
            </a:r>
            <a:r>
              <a:rPr dirty="0" sz="1200" spc="-5">
                <a:latin typeface="Arial"/>
                <a:cs typeface="Arial"/>
              </a:rPr>
              <a:t>of the</a:t>
            </a:r>
            <a:r>
              <a:rPr dirty="0" sz="1200" spc="5">
                <a:latin typeface="Arial"/>
                <a:cs typeface="Arial"/>
              </a:rPr>
              <a:t> </a:t>
            </a:r>
            <a:r>
              <a:rPr dirty="0" sz="1200" spc="-5">
                <a:latin typeface="Arial"/>
                <a:cs typeface="Arial"/>
              </a:rPr>
              <a:t>following:</a:t>
            </a:r>
            <a:endParaRPr sz="1200">
              <a:latin typeface="Arial"/>
              <a:cs typeface="Arial"/>
            </a:endParaRPr>
          </a:p>
          <a:p>
            <a:pPr lvl="1" marL="374015" indent="-233679">
              <a:lnSpc>
                <a:spcPts val="1310"/>
              </a:lnSpc>
              <a:buAutoNum type="alphaLcParenBoth"/>
              <a:tabLst>
                <a:tab pos="374650" algn="l"/>
              </a:tabLst>
            </a:pPr>
            <a:r>
              <a:rPr dirty="0" sz="1200" spc="-5">
                <a:latin typeface="Arial"/>
                <a:cs typeface="Arial"/>
              </a:rPr>
              <a:t>the command to enjoin </a:t>
            </a:r>
            <a:r>
              <a:rPr dirty="0" sz="1200" spc="-10">
                <a:latin typeface="Arial"/>
                <a:cs typeface="Arial"/>
              </a:rPr>
              <a:t>good </a:t>
            </a:r>
            <a:r>
              <a:rPr dirty="0" sz="1200" spc="-5">
                <a:latin typeface="Arial"/>
                <a:cs typeface="Arial"/>
              </a:rPr>
              <a:t>and prohibit evil </a:t>
            </a:r>
            <a:r>
              <a:rPr dirty="0" sz="1200" spc="-50">
                <a:latin typeface="Arial"/>
                <a:cs typeface="Arial"/>
              </a:rPr>
              <a:t>[</a:t>
            </a:r>
            <a:r>
              <a:rPr dirty="0" sz="1200" spc="-50" i="1">
                <a:latin typeface="Arial"/>
                <a:cs typeface="Arial"/>
              </a:rPr>
              <a:t>al-‗amr </a:t>
            </a:r>
            <a:r>
              <a:rPr dirty="0" sz="1200" spc="-5" i="1">
                <a:latin typeface="Arial"/>
                <a:cs typeface="Arial"/>
              </a:rPr>
              <a:t>bil </a:t>
            </a:r>
            <a:r>
              <a:rPr dirty="0" sz="1200" spc="-70" i="1">
                <a:latin typeface="Arial"/>
                <a:cs typeface="Arial"/>
              </a:rPr>
              <a:t>ma‗ruf </a:t>
            </a:r>
            <a:r>
              <a:rPr dirty="0" sz="1200" i="1">
                <a:latin typeface="Arial"/>
                <a:cs typeface="Arial"/>
              </a:rPr>
              <a:t>wa </a:t>
            </a:r>
            <a:r>
              <a:rPr dirty="0" sz="1200" spc="-5" i="1">
                <a:latin typeface="Arial"/>
                <a:cs typeface="Arial"/>
              </a:rPr>
              <a:t>nahy</a:t>
            </a:r>
            <a:r>
              <a:rPr dirty="0" sz="1200" spc="85" i="1">
                <a:latin typeface="Arial"/>
                <a:cs typeface="Arial"/>
              </a:rPr>
              <a:t> </a:t>
            </a:r>
            <a:r>
              <a:rPr dirty="0" sz="1200" spc="-140" i="1">
                <a:latin typeface="Arial"/>
                <a:cs typeface="Arial"/>
              </a:rPr>
              <a:t>‗an </a:t>
            </a:r>
            <a:r>
              <a:rPr dirty="0" sz="1200" spc="-5" i="1">
                <a:latin typeface="Arial"/>
                <a:cs typeface="Arial"/>
              </a:rPr>
              <a:t>al-munkar</a:t>
            </a:r>
            <a:r>
              <a:rPr dirty="0" sz="1200" spc="-5">
                <a:latin typeface="Arial"/>
                <a:cs typeface="Arial"/>
              </a:rPr>
              <a:t>]</a:t>
            </a:r>
            <a:endParaRPr sz="1200">
              <a:latin typeface="Arial"/>
              <a:cs typeface="Arial"/>
            </a:endParaRPr>
          </a:p>
          <a:p>
            <a:pPr marL="12700">
              <a:lnSpc>
                <a:spcPts val="1380"/>
              </a:lnSpc>
            </a:pPr>
            <a:r>
              <a:rPr dirty="0" sz="1200">
                <a:latin typeface="Arial"/>
                <a:cs typeface="Arial"/>
              </a:rPr>
              <a:t>[5]</a:t>
            </a:r>
            <a:endParaRPr sz="1200">
              <a:latin typeface="Arial"/>
              <a:cs typeface="Arial"/>
            </a:endParaRPr>
          </a:p>
          <a:p>
            <a:pPr lvl="1" marL="360045" indent="-219710">
              <a:lnSpc>
                <a:spcPts val="1375"/>
              </a:lnSpc>
              <a:buAutoNum type="alphaLcParenBoth" startAt="3"/>
              <a:tabLst>
                <a:tab pos="360680" algn="l"/>
              </a:tabLst>
            </a:pPr>
            <a:r>
              <a:rPr dirty="0" sz="1200">
                <a:latin typeface="Arial"/>
                <a:cs typeface="Arial"/>
              </a:rPr>
              <a:t>fasting </a:t>
            </a:r>
            <a:r>
              <a:rPr dirty="0" sz="1200" spc="-5">
                <a:latin typeface="Arial"/>
                <a:cs typeface="Arial"/>
              </a:rPr>
              <a:t>outside Ramadhan [</a:t>
            </a:r>
            <a:r>
              <a:rPr dirty="0" sz="1200" spc="-5" i="1">
                <a:latin typeface="Arial"/>
                <a:cs typeface="Arial"/>
              </a:rPr>
              <a:t>Sawm</a:t>
            </a:r>
            <a:r>
              <a:rPr dirty="0" sz="1200" spc="-5">
                <a:latin typeface="Arial"/>
                <a:cs typeface="Arial"/>
              </a:rPr>
              <a:t>]</a:t>
            </a:r>
            <a:r>
              <a:rPr dirty="0" sz="1200" spc="-15">
                <a:latin typeface="Arial"/>
                <a:cs typeface="Arial"/>
              </a:rPr>
              <a:t> </a:t>
            </a:r>
            <a:r>
              <a:rPr dirty="0" sz="1200">
                <a:latin typeface="Arial"/>
                <a:cs typeface="Arial"/>
              </a:rPr>
              <a:t>[5]</a:t>
            </a:r>
            <a:endParaRPr sz="1200">
              <a:latin typeface="Arial"/>
              <a:cs typeface="Arial"/>
            </a:endParaRPr>
          </a:p>
          <a:p>
            <a:pPr lvl="1" marL="369570" indent="-229235">
              <a:lnSpc>
                <a:spcPts val="1410"/>
              </a:lnSpc>
              <a:buAutoNum type="alphaLcParenBoth" startAt="3"/>
              <a:tabLst>
                <a:tab pos="370205" algn="l"/>
              </a:tabLst>
            </a:pPr>
            <a:r>
              <a:rPr dirty="0" sz="1200" spc="-5">
                <a:latin typeface="Arial"/>
                <a:cs typeface="Arial"/>
              </a:rPr>
              <a:t>resurrection and the Day of Judgement </a:t>
            </a:r>
            <a:r>
              <a:rPr dirty="0" sz="1200">
                <a:latin typeface="Arial"/>
                <a:cs typeface="Arial"/>
              </a:rPr>
              <a:t>[</a:t>
            </a:r>
            <a:r>
              <a:rPr dirty="0" sz="1200" i="1">
                <a:latin typeface="Arial"/>
                <a:cs typeface="Arial"/>
              </a:rPr>
              <a:t>Yawm </a:t>
            </a:r>
            <a:r>
              <a:rPr dirty="0" sz="1200" spc="-5" i="1">
                <a:latin typeface="Arial"/>
                <a:cs typeface="Arial"/>
              </a:rPr>
              <a:t>al-Qiyamah</a:t>
            </a:r>
            <a:r>
              <a:rPr dirty="0" sz="1200" spc="-5">
                <a:latin typeface="Arial"/>
                <a:cs typeface="Arial"/>
              </a:rPr>
              <a:t>]. </a:t>
            </a:r>
            <a:r>
              <a:rPr dirty="0" sz="1200">
                <a:latin typeface="Arial"/>
                <a:cs typeface="Arial"/>
              </a:rPr>
              <a:t>[5]</a:t>
            </a:r>
            <a:r>
              <a:rPr dirty="0" sz="1200" spc="10">
                <a:latin typeface="Arial"/>
                <a:cs typeface="Arial"/>
              </a:rPr>
              <a:t> </a:t>
            </a:r>
            <a:r>
              <a:rPr dirty="0" sz="1200" spc="-5" b="1">
                <a:latin typeface="Arial"/>
                <a:cs typeface="Arial"/>
              </a:rPr>
              <a:t>(2007)</a:t>
            </a:r>
            <a:endParaRPr sz="1200">
              <a:latin typeface="Arial"/>
              <a:cs typeface="Arial"/>
            </a:endParaRPr>
          </a:p>
          <a:p>
            <a:pPr>
              <a:lnSpc>
                <a:spcPct val="100000"/>
              </a:lnSpc>
              <a:spcBef>
                <a:spcPts val="45"/>
              </a:spcBef>
            </a:pPr>
            <a:endParaRPr sz="1100">
              <a:latin typeface="Arial"/>
              <a:cs typeface="Arial"/>
            </a:endParaRPr>
          </a:p>
          <a:p>
            <a:pPr marL="139700" indent="-127635">
              <a:lnSpc>
                <a:spcPts val="1410"/>
              </a:lnSpc>
              <a:buAutoNum type="arabicPlain" startAt="7"/>
              <a:tabLst>
                <a:tab pos="140335" algn="l"/>
              </a:tabLst>
            </a:pPr>
            <a:r>
              <a:rPr dirty="0" sz="1200" spc="-5">
                <a:latin typeface="Arial"/>
                <a:cs typeface="Arial"/>
              </a:rPr>
              <a:t>(a) Outline the Muslim teachings about </a:t>
            </a:r>
            <a:r>
              <a:rPr dirty="0" sz="1200" spc="-5" i="1">
                <a:latin typeface="Arial"/>
                <a:cs typeface="Arial"/>
              </a:rPr>
              <a:t>Zakat</a:t>
            </a:r>
            <a:r>
              <a:rPr dirty="0" sz="1200" spc="-5">
                <a:latin typeface="Arial"/>
                <a:cs typeface="Arial"/>
              </a:rPr>
              <a:t>.</a:t>
            </a:r>
            <a:r>
              <a:rPr dirty="0" sz="1200" spc="45">
                <a:latin typeface="Arial"/>
                <a:cs typeface="Arial"/>
              </a:rPr>
              <a:t> </a:t>
            </a:r>
            <a:r>
              <a:rPr dirty="0" sz="1200" spc="-5">
                <a:latin typeface="Arial"/>
                <a:cs typeface="Arial"/>
              </a:rPr>
              <a:t>[12]</a:t>
            </a:r>
            <a:endParaRPr sz="1200">
              <a:latin typeface="Arial"/>
              <a:cs typeface="Arial"/>
            </a:endParaRPr>
          </a:p>
          <a:p>
            <a:pPr lvl="1" marL="369570" indent="-229235">
              <a:lnSpc>
                <a:spcPts val="1410"/>
              </a:lnSpc>
              <a:buAutoNum type="alphaLcParenBoth" startAt="2"/>
              <a:tabLst>
                <a:tab pos="370205" algn="l"/>
              </a:tabLst>
            </a:pPr>
            <a:r>
              <a:rPr dirty="0" sz="1200" spc="-5">
                <a:latin typeface="Arial"/>
                <a:cs typeface="Arial"/>
              </a:rPr>
              <a:t>How </a:t>
            </a:r>
            <a:r>
              <a:rPr dirty="0" sz="1200">
                <a:latin typeface="Arial"/>
                <a:cs typeface="Arial"/>
              </a:rPr>
              <a:t>does </a:t>
            </a:r>
            <a:r>
              <a:rPr dirty="0" sz="1200" spc="-5" i="1">
                <a:latin typeface="Arial"/>
                <a:cs typeface="Arial"/>
              </a:rPr>
              <a:t>Zakat </a:t>
            </a:r>
            <a:r>
              <a:rPr dirty="0" sz="1200">
                <a:latin typeface="Arial"/>
                <a:cs typeface="Arial"/>
              </a:rPr>
              <a:t>differ </a:t>
            </a:r>
            <a:r>
              <a:rPr dirty="0" sz="1200" spc="-5">
                <a:latin typeface="Arial"/>
                <a:cs typeface="Arial"/>
              </a:rPr>
              <a:t>from </a:t>
            </a:r>
            <a:r>
              <a:rPr dirty="0" sz="1200" spc="-5" i="1">
                <a:latin typeface="Arial"/>
                <a:cs typeface="Arial"/>
              </a:rPr>
              <a:t>Sadaqah </a:t>
            </a:r>
            <a:r>
              <a:rPr dirty="0" sz="1200" spc="-5">
                <a:latin typeface="Arial"/>
                <a:cs typeface="Arial"/>
              </a:rPr>
              <a:t>? [8]</a:t>
            </a:r>
            <a:endParaRPr sz="1200">
              <a:latin typeface="Arial"/>
              <a:cs typeface="Arial"/>
            </a:endParaRPr>
          </a:p>
          <a:p>
            <a:pPr lvl="1">
              <a:lnSpc>
                <a:spcPct val="100000"/>
              </a:lnSpc>
              <a:spcBef>
                <a:spcPts val="10"/>
              </a:spcBef>
              <a:buFont typeface="Arial"/>
              <a:buAutoNum type="alphaLcParenBoth" startAt="2"/>
            </a:pPr>
            <a:endParaRPr sz="1150">
              <a:latin typeface="Arial"/>
              <a:cs typeface="Arial"/>
            </a:endParaRPr>
          </a:p>
          <a:p>
            <a:pPr marL="139700" indent="-127635">
              <a:lnSpc>
                <a:spcPts val="1410"/>
              </a:lnSpc>
              <a:spcBef>
                <a:spcPts val="5"/>
              </a:spcBef>
              <a:buAutoNum type="arabicPlain" startAt="7"/>
              <a:tabLst>
                <a:tab pos="140335" algn="l"/>
              </a:tabLst>
            </a:pPr>
            <a:r>
              <a:rPr dirty="0" sz="1200" spc="-5">
                <a:latin typeface="Arial"/>
                <a:cs typeface="Arial"/>
              </a:rPr>
              <a:t>(a) Give </a:t>
            </a:r>
            <a:r>
              <a:rPr dirty="0" sz="1200">
                <a:latin typeface="Arial"/>
                <a:cs typeface="Arial"/>
              </a:rPr>
              <a:t>an </a:t>
            </a:r>
            <a:r>
              <a:rPr dirty="0" sz="1200" spc="-5">
                <a:latin typeface="Arial"/>
                <a:cs typeface="Arial"/>
              </a:rPr>
              <a:t>account of the </a:t>
            </a:r>
            <a:r>
              <a:rPr dirty="0" sz="1200">
                <a:latin typeface="Arial"/>
                <a:cs typeface="Arial"/>
              </a:rPr>
              <a:t>main features </a:t>
            </a:r>
            <a:r>
              <a:rPr dirty="0" sz="1200" spc="-5">
                <a:latin typeface="Arial"/>
                <a:cs typeface="Arial"/>
              </a:rPr>
              <a:t>of </a:t>
            </a:r>
            <a:r>
              <a:rPr dirty="0" sz="1200">
                <a:latin typeface="Arial"/>
                <a:cs typeface="Arial"/>
              </a:rPr>
              <a:t>the </a:t>
            </a:r>
            <a:r>
              <a:rPr dirty="0" sz="1200" spc="-5">
                <a:latin typeface="Arial"/>
                <a:cs typeface="Arial"/>
              </a:rPr>
              <a:t>Muslim observance of Ramadan.</a:t>
            </a:r>
            <a:r>
              <a:rPr dirty="0" sz="1200" spc="30">
                <a:latin typeface="Arial"/>
                <a:cs typeface="Arial"/>
              </a:rPr>
              <a:t> </a:t>
            </a:r>
            <a:r>
              <a:rPr dirty="0" sz="1200" spc="-5">
                <a:latin typeface="Arial"/>
                <a:cs typeface="Arial"/>
              </a:rPr>
              <a:t>[12]</a:t>
            </a:r>
            <a:endParaRPr sz="1200">
              <a:latin typeface="Arial"/>
              <a:cs typeface="Arial"/>
            </a:endParaRPr>
          </a:p>
          <a:p>
            <a:pPr lvl="1" marL="12700" marR="12700" indent="128270">
              <a:lnSpc>
                <a:spcPts val="1380"/>
              </a:lnSpc>
              <a:spcBef>
                <a:spcPts val="65"/>
              </a:spcBef>
              <a:buAutoNum type="alphaLcParenBoth" startAt="2"/>
              <a:tabLst>
                <a:tab pos="398780" algn="l"/>
              </a:tabLst>
            </a:pPr>
            <a:r>
              <a:rPr dirty="0" sz="1200" spc="-5">
                <a:latin typeface="Arial"/>
                <a:cs typeface="Arial"/>
              </a:rPr>
              <a:t>Explain why </a:t>
            </a:r>
            <a:r>
              <a:rPr dirty="0" sz="1200">
                <a:latin typeface="Arial"/>
                <a:cs typeface="Arial"/>
              </a:rPr>
              <a:t>this </a:t>
            </a:r>
            <a:r>
              <a:rPr dirty="0" sz="1200" spc="-5">
                <a:latin typeface="Arial"/>
                <a:cs typeface="Arial"/>
              </a:rPr>
              <a:t>observance is important </a:t>
            </a:r>
            <a:r>
              <a:rPr dirty="0" sz="1200">
                <a:latin typeface="Arial"/>
                <a:cs typeface="Arial"/>
              </a:rPr>
              <a:t>to </a:t>
            </a:r>
            <a:r>
              <a:rPr dirty="0" sz="1200" spc="-5">
                <a:latin typeface="Arial"/>
                <a:cs typeface="Arial"/>
              </a:rPr>
              <a:t>the individual and the community as a  whole. </a:t>
            </a:r>
            <a:r>
              <a:rPr dirty="0" sz="1200">
                <a:latin typeface="Arial"/>
                <a:cs typeface="Arial"/>
              </a:rPr>
              <a:t>[8]</a:t>
            </a:r>
            <a:r>
              <a:rPr dirty="0" sz="1200" spc="10">
                <a:latin typeface="Arial"/>
                <a:cs typeface="Arial"/>
              </a:rPr>
              <a:t> </a:t>
            </a:r>
            <a:r>
              <a:rPr dirty="0" sz="1200" spc="-5" b="1">
                <a:latin typeface="Arial"/>
                <a:cs typeface="Arial"/>
              </a:rPr>
              <a:t>(2008)</a:t>
            </a:r>
            <a:endParaRPr sz="1200">
              <a:latin typeface="Arial"/>
              <a:cs typeface="Arial"/>
            </a:endParaRPr>
          </a:p>
          <a:p>
            <a:pPr lvl="1">
              <a:lnSpc>
                <a:spcPct val="100000"/>
              </a:lnSpc>
              <a:buFont typeface="Arial"/>
              <a:buAutoNum type="alphaLcParenBoth" startAt="2"/>
            </a:pPr>
            <a:endParaRPr sz="1200">
              <a:latin typeface="Arial"/>
              <a:cs typeface="Arial"/>
            </a:endParaRPr>
          </a:p>
          <a:p>
            <a:pPr marL="12700" marR="12065">
              <a:lnSpc>
                <a:spcPts val="1380"/>
              </a:lnSpc>
              <a:buAutoNum type="arabicPlain" startAt="7"/>
              <a:tabLst>
                <a:tab pos="153670" algn="l"/>
              </a:tabLst>
            </a:pPr>
            <a:r>
              <a:rPr dirty="0" sz="1200" spc="-5">
                <a:latin typeface="Arial"/>
                <a:cs typeface="Arial"/>
              </a:rPr>
              <a:t>Explain how </a:t>
            </a:r>
            <a:r>
              <a:rPr dirty="0" sz="1200">
                <a:latin typeface="Arial"/>
                <a:cs typeface="Arial"/>
              </a:rPr>
              <a:t>the </a:t>
            </a:r>
            <a:r>
              <a:rPr dirty="0" sz="1200" spc="-5">
                <a:latin typeface="Arial"/>
                <a:cs typeface="Arial"/>
              </a:rPr>
              <a:t>following Pillars </a:t>
            </a:r>
            <a:r>
              <a:rPr dirty="0" sz="1200">
                <a:latin typeface="Arial"/>
                <a:cs typeface="Arial"/>
              </a:rPr>
              <a:t>of </a:t>
            </a:r>
            <a:r>
              <a:rPr dirty="0" sz="1200" spc="-5">
                <a:latin typeface="Arial"/>
                <a:cs typeface="Arial"/>
              </a:rPr>
              <a:t>Islam promote communal solidarity amongst Muslims:  Shahadah, Salah, Zakat, Sawm. [20]</a:t>
            </a:r>
            <a:r>
              <a:rPr dirty="0" sz="1200" spc="35">
                <a:latin typeface="Arial"/>
                <a:cs typeface="Arial"/>
              </a:rPr>
              <a:t> </a:t>
            </a:r>
            <a:r>
              <a:rPr dirty="0" sz="1200" spc="-5" b="1">
                <a:latin typeface="Arial"/>
                <a:cs typeface="Arial"/>
              </a:rPr>
              <a:t>(2009)</a:t>
            </a:r>
            <a:endParaRPr sz="1200">
              <a:latin typeface="Arial"/>
              <a:cs typeface="Arial"/>
            </a:endParaRPr>
          </a:p>
          <a:p>
            <a:pPr>
              <a:lnSpc>
                <a:spcPct val="100000"/>
              </a:lnSpc>
              <a:spcBef>
                <a:spcPts val="35"/>
              </a:spcBef>
            </a:pPr>
            <a:endParaRPr sz="1150">
              <a:latin typeface="Arial"/>
              <a:cs typeface="Arial"/>
            </a:endParaRPr>
          </a:p>
          <a:p>
            <a:pPr marL="12700" marR="5715">
              <a:lnSpc>
                <a:spcPts val="1390"/>
              </a:lnSpc>
            </a:pPr>
            <a:r>
              <a:rPr dirty="0" sz="1200" spc="-5">
                <a:latin typeface="Arial"/>
                <a:cs typeface="Arial"/>
              </a:rPr>
              <a:t>7 </a:t>
            </a:r>
            <a:r>
              <a:rPr dirty="0" sz="1200">
                <a:latin typeface="Arial"/>
                <a:cs typeface="Arial"/>
              </a:rPr>
              <a:t>In </a:t>
            </a:r>
            <a:r>
              <a:rPr dirty="0" sz="1200" spc="-5">
                <a:latin typeface="Arial"/>
                <a:cs typeface="Arial"/>
              </a:rPr>
              <a:t>what </a:t>
            </a:r>
            <a:r>
              <a:rPr dirty="0" sz="1200" spc="-10">
                <a:latin typeface="Arial"/>
                <a:cs typeface="Arial"/>
              </a:rPr>
              <a:t>ways </a:t>
            </a:r>
            <a:r>
              <a:rPr dirty="0" sz="1200" spc="-5">
                <a:latin typeface="Arial"/>
                <a:cs typeface="Arial"/>
              </a:rPr>
              <a:t>do </a:t>
            </a:r>
            <a:r>
              <a:rPr dirty="0" sz="1200">
                <a:latin typeface="Arial"/>
                <a:cs typeface="Arial"/>
              </a:rPr>
              <a:t>the </a:t>
            </a:r>
            <a:r>
              <a:rPr dirty="0" sz="1200" spc="-5">
                <a:latin typeface="Arial"/>
                <a:cs typeface="Arial"/>
              </a:rPr>
              <a:t>observances of prayer </a:t>
            </a:r>
            <a:r>
              <a:rPr dirty="0" sz="1200">
                <a:latin typeface="Arial"/>
                <a:cs typeface="Arial"/>
              </a:rPr>
              <a:t>(</a:t>
            </a:r>
            <a:r>
              <a:rPr dirty="0" sz="1200" i="1">
                <a:latin typeface="Arial"/>
                <a:cs typeface="Arial"/>
              </a:rPr>
              <a:t>salat</a:t>
            </a:r>
            <a:r>
              <a:rPr dirty="0" sz="1200">
                <a:latin typeface="Arial"/>
                <a:cs typeface="Arial"/>
              </a:rPr>
              <a:t>), </a:t>
            </a:r>
            <a:r>
              <a:rPr dirty="0" sz="1200" spc="-5">
                <a:latin typeface="Arial"/>
                <a:cs typeface="Arial"/>
              </a:rPr>
              <a:t>almsgiving </a:t>
            </a:r>
            <a:r>
              <a:rPr dirty="0" sz="1200">
                <a:latin typeface="Arial"/>
                <a:cs typeface="Arial"/>
              </a:rPr>
              <a:t>(</a:t>
            </a:r>
            <a:r>
              <a:rPr dirty="0" sz="1200" i="1">
                <a:latin typeface="Arial"/>
                <a:cs typeface="Arial"/>
              </a:rPr>
              <a:t>zakat</a:t>
            </a:r>
            <a:r>
              <a:rPr dirty="0" sz="1200">
                <a:latin typeface="Arial"/>
                <a:cs typeface="Arial"/>
              </a:rPr>
              <a:t>) </a:t>
            </a:r>
            <a:r>
              <a:rPr dirty="0" sz="1200" spc="-5">
                <a:latin typeface="Arial"/>
                <a:cs typeface="Arial"/>
              </a:rPr>
              <a:t>and </a:t>
            </a:r>
            <a:r>
              <a:rPr dirty="0" sz="1200">
                <a:latin typeface="Arial"/>
                <a:cs typeface="Arial"/>
              </a:rPr>
              <a:t>fasting </a:t>
            </a:r>
            <a:r>
              <a:rPr dirty="0" sz="1200" spc="-5">
                <a:latin typeface="Arial"/>
                <a:cs typeface="Arial"/>
              </a:rPr>
              <a:t>(</a:t>
            </a:r>
            <a:r>
              <a:rPr dirty="0" sz="1200" spc="-5" i="1">
                <a:latin typeface="Arial"/>
                <a:cs typeface="Arial"/>
              </a:rPr>
              <a:t>sawm</a:t>
            </a:r>
            <a:r>
              <a:rPr dirty="0" sz="1200" spc="-5">
                <a:latin typeface="Arial"/>
                <a:cs typeface="Arial"/>
              </a:rPr>
              <a:t>)  strengthen </a:t>
            </a:r>
            <a:r>
              <a:rPr dirty="0" sz="1200">
                <a:latin typeface="Arial"/>
                <a:cs typeface="Arial"/>
              </a:rPr>
              <a:t>ties </a:t>
            </a:r>
            <a:r>
              <a:rPr dirty="0" sz="1200" spc="-5">
                <a:latin typeface="Arial"/>
                <a:cs typeface="Arial"/>
              </a:rPr>
              <a:t>within </a:t>
            </a:r>
            <a:r>
              <a:rPr dirty="0" sz="1200">
                <a:latin typeface="Arial"/>
                <a:cs typeface="Arial"/>
              </a:rPr>
              <a:t>the </a:t>
            </a:r>
            <a:r>
              <a:rPr dirty="0" sz="1200" spc="-5">
                <a:latin typeface="Arial"/>
                <a:cs typeface="Arial"/>
              </a:rPr>
              <a:t>Muslim community? </a:t>
            </a:r>
            <a:r>
              <a:rPr dirty="0" sz="1200">
                <a:latin typeface="Arial"/>
                <a:cs typeface="Arial"/>
              </a:rPr>
              <a:t>[20]</a:t>
            </a:r>
            <a:r>
              <a:rPr dirty="0" sz="1200" spc="20">
                <a:latin typeface="Arial"/>
                <a:cs typeface="Arial"/>
              </a:rPr>
              <a:t> </a:t>
            </a:r>
            <a:r>
              <a:rPr dirty="0" sz="1200" spc="-5" b="1">
                <a:latin typeface="Arial"/>
                <a:cs typeface="Arial"/>
              </a:rPr>
              <a:t>(2010)</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85</a:t>
            </a:r>
            <a:endParaRPr sz="1200">
              <a:latin typeface="Times New Roman"/>
              <a:cs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5970905" cy="208279"/>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878128" y="827531"/>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0" b="1">
                <a:latin typeface="Arial"/>
                <a:cs typeface="Arial"/>
              </a:rPr>
              <a:t>„Id-ul </a:t>
            </a:r>
            <a:r>
              <a:rPr dirty="0" sz="1200" b="1">
                <a:latin typeface="Arial"/>
                <a:cs typeface="Arial"/>
              </a:rPr>
              <a:t>Fitr </a:t>
            </a:r>
            <a:r>
              <a:rPr dirty="0" sz="1200" spc="-10" b="1">
                <a:latin typeface="Arial"/>
                <a:cs typeface="Arial"/>
              </a:rPr>
              <a:t>And </a:t>
            </a:r>
            <a:r>
              <a:rPr dirty="0" sz="1200" spc="-50" b="1">
                <a:latin typeface="Arial"/>
                <a:cs typeface="Arial"/>
              </a:rPr>
              <a:t>„Id-ul</a:t>
            </a:r>
            <a:r>
              <a:rPr dirty="0" sz="1200" spc="90" b="1">
                <a:latin typeface="Arial"/>
                <a:cs typeface="Arial"/>
              </a:rPr>
              <a:t> </a:t>
            </a:r>
            <a:r>
              <a:rPr dirty="0" sz="1200" spc="-5" b="1">
                <a:latin typeface="Arial"/>
                <a:cs typeface="Arial"/>
              </a:rPr>
              <a:t>Adha</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86</a:t>
            </a:r>
            <a:endParaRPr sz="1200">
              <a:latin typeface="Times New Roman"/>
              <a:cs typeface="Times New Roman"/>
            </a:endParaRPr>
          </a:p>
        </p:txBody>
      </p:sp>
      <p:sp>
        <p:nvSpPr>
          <p:cNvPr id="5" name="object 5"/>
          <p:cNvSpPr txBox="1"/>
          <p:nvPr/>
        </p:nvSpPr>
        <p:spPr>
          <a:xfrm>
            <a:off x="432816" y="1162557"/>
            <a:ext cx="6538595" cy="8622030"/>
          </a:xfrm>
          <a:prstGeom prst="rect">
            <a:avLst/>
          </a:prstGeom>
        </p:spPr>
        <p:txBody>
          <a:bodyPr wrap="square" lIns="0" tIns="12700" rIns="0" bIns="0" rtlCol="0" vert="horz">
            <a:spAutoFit/>
          </a:bodyPr>
          <a:lstStyle/>
          <a:p>
            <a:pPr marL="1143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35"/>
              </a:spcBef>
            </a:pPr>
            <a:endParaRPr sz="1200">
              <a:latin typeface="Arial"/>
              <a:cs typeface="Arial"/>
            </a:endParaRPr>
          </a:p>
          <a:p>
            <a:pPr algn="just" marL="114300" marR="130175">
              <a:lnSpc>
                <a:spcPts val="1380"/>
              </a:lnSpc>
            </a:pPr>
            <a:r>
              <a:rPr dirty="0" sz="1200">
                <a:latin typeface="Arial"/>
                <a:cs typeface="Arial"/>
              </a:rPr>
              <a:t>In </a:t>
            </a:r>
            <a:r>
              <a:rPr dirty="0" sz="1200" spc="-5">
                <a:latin typeface="Arial"/>
                <a:cs typeface="Arial"/>
              </a:rPr>
              <a:t>Islam there are customs and practices as well as religious festivals. Sometime these  religious festivals are merged with </a:t>
            </a:r>
            <a:r>
              <a:rPr dirty="0" sz="1200">
                <a:latin typeface="Arial"/>
                <a:cs typeface="Arial"/>
              </a:rPr>
              <a:t>the customs </a:t>
            </a:r>
            <a:r>
              <a:rPr dirty="0" sz="1200" spc="-5">
                <a:latin typeface="Arial"/>
                <a:cs typeface="Arial"/>
              </a:rPr>
              <a:t>and traditions of a country. According </a:t>
            </a:r>
            <a:r>
              <a:rPr dirty="0" sz="1200">
                <a:latin typeface="Arial"/>
                <a:cs typeface="Arial"/>
              </a:rPr>
              <a:t>to the  </a:t>
            </a:r>
            <a:r>
              <a:rPr dirty="0" sz="1200" spc="-5">
                <a:latin typeface="Arial"/>
                <a:cs typeface="Arial"/>
              </a:rPr>
              <a:t>scholars of Islam there are many different religious festivals and among them </a:t>
            </a:r>
            <a:r>
              <a:rPr dirty="0" sz="1200">
                <a:latin typeface="Arial"/>
                <a:cs typeface="Arial"/>
              </a:rPr>
              <a:t>there </a:t>
            </a:r>
            <a:r>
              <a:rPr dirty="0" sz="1200" spc="-5">
                <a:latin typeface="Arial"/>
                <a:cs typeface="Arial"/>
              </a:rPr>
              <a:t>are </a:t>
            </a:r>
            <a:r>
              <a:rPr dirty="0" sz="1200" spc="-10">
                <a:latin typeface="Arial"/>
                <a:cs typeface="Arial"/>
              </a:rPr>
              <a:t>two  </a:t>
            </a:r>
            <a:r>
              <a:rPr dirty="0" sz="1200" spc="-5">
                <a:latin typeface="Arial"/>
                <a:cs typeface="Arial"/>
              </a:rPr>
              <a:t>widely recognised. They </a:t>
            </a:r>
            <a:r>
              <a:rPr dirty="0" sz="1200">
                <a:latin typeface="Arial"/>
                <a:cs typeface="Arial"/>
              </a:rPr>
              <a:t>are </a:t>
            </a:r>
            <a:r>
              <a:rPr dirty="0" sz="1200" spc="-70">
                <a:latin typeface="Arial"/>
                <a:cs typeface="Arial"/>
              </a:rPr>
              <a:t>‗Id-ul </a:t>
            </a:r>
            <a:r>
              <a:rPr dirty="0" sz="1200" spc="-5">
                <a:latin typeface="Arial"/>
                <a:cs typeface="Arial"/>
              </a:rPr>
              <a:t>Fitr </a:t>
            </a:r>
            <a:r>
              <a:rPr dirty="0" sz="1200">
                <a:latin typeface="Arial"/>
                <a:cs typeface="Arial"/>
              </a:rPr>
              <a:t>and </a:t>
            </a:r>
            <a:r>
              <a:rPr dirty="0" sz="1200" spc="-70">
                <a:latin typeface="Arial"/>
                <a:cs typeface="Arial"/>
              </a:rPr>
              <a:t>‗Id-ul</a:t>
            </a:r>
            <a:r>
              <a:rPr dirty="0" sz="1200" spc="45">
                <a:latin typeface="Arial"/>
                <a:cs typeface="Arial"/>
              </a:rPr>
              <a:t> </a:t>
            </a:r>
            <a:r>
              <a:rPr dirty="0" sz="1200" spc="-5">
                <a:latin typeface="Arial"/>
                <a:cs typeface="Arial"/>
              </a:rPr>
              <a:t>Adha.</a:t>
            </a:r>
            <a:endParaRPr sz="1200">
              <a:latin typeface="Arial"/>
              <a:cs typeface="Arial"/>
            </a:endParaRPr>
          </a:p>
          <a:p>
            <a:pPr>
              <a:lnSpc>
                <a:spcPct val="100000"/>
              </a:lnSpc>
              <a:spcBef>
                <a:spcPts val="20"/>
              </a:spcBef>
            </a:pPr>
            <a:endParaRPr sz="1100">
              <a:latin typeface="Arial"/>
              <a:cs typeface="Arial"/>
            </a:endParaRPr>
          </a:p>
          <a:p>
            <a:pPr marL="114300">
              <a:lnSpc>
                <a:spcPct val="100000"/>
              </a:lnSpc>
            </a:pPr>
            <a:r>
              <a:rPr dirty="0" u="heavy" sz="1200" spc="-300">
                <a:uFill>
                  <a:solidFill>
                    <a:srgbClr val="000000"/>
                  </a:solidFill>
                </a:uFill>
                <a:latin typeface="Times New Roman"/>
                <a:cs typeface="Times New Roman"/>
              </a:rPr>
              <a:t> </a:t>
            </a:r>
            <a:r>
              <a:rPr dirty="0" u="heavy" sz="1200" spc="-50" b="1" i="1">
                <a:uFill>
                  <a:solidFill>
                    <a:srgbClr val="000000"/>
                  </a:solidFill>
                </a:uFill>
                <a:latin typeface="Arial"/>
                <a:cs typeface="Arial"/>
              </a:rPr>
              <a:t>„Id-ul</a:t>
            </a:r>
            <a:r>
              <a:rPr dirty="0" u="heavy" sz="1200" spc="-5" b="1" i="1">
                <a:uFill>
                  <a:solidFill>
                    <a:srgbClr val="000000"/>
                  </a:solidFill>
                </a:uFill>
                <a:latin typeface="Arial"/>
                <a:cs typeface="Arial"/>
              </a:rPr>
              <a:t> </a:t>
            </a:r>
            <a:r>
              <a:rPr dirty="0" u="heavy" sz="1200" b="1" i="1">
                <a:uFill>
                  <a:solidFill>
                    <a:srgbClr val="000000"/>
                  </a:solidFill>
                </a:uFill>
                <a:latin typeface="Arial"/>
                <a:cs typeface="Arial"/>
              </a:rPr>
              <a:t>Fitr</a:t>
            </a:r>
            <a:endParaRPr sz="1200">
              <a:latin typeface="Arial"/>
              <a:cs typeface="Arial"/>
            </a:endParaRPr>
          </a:p>
          <a:p>
            <a:pPr>
              <a:lnSpc>
                <a:spcPct val="100000"/>
              </a:lnSpc>
              <a:spcBef>
                <a:spcPts val="55"/>
              </a:spcBef>
            </a:pPr>
            <a:endParaRPr sz="1150">
              <a:latin typeface="Arial"/>
              <a:cs typeface="Arial"/>
            </a:endParaRPr>
          </a:p>
          <a:p>
            <a:pPr algn="just" marL="114300" marR="130810">
              <a:lnSpc>
                <a:spcPct val="95900"/>
              </a:lnSpc>
            </a:pPr>
            <a:r>
              <a:rPr dirty="0" sz="1200" spc="-5">
                <a:latin typeface="Arial"/>
                <a:cs typeface="Arial"/>
              </a:rPr>
              <a:t>Literally </a:t>
            </a:r>
            <a:r>
              <a:rPr dirty="0" sz="1200">
                <a:latin typeface="Arial"/>
                <a:cs typeface="Arial"/>
              </a:rPr>
              <a:t>speaking </a:t>
            </a:r>
            <a:r>
              <a:rPr dirty="0" sz="1200" spc="-140">
                <a:latin typeface="Arial"/>
                <a:cs typeface="Arial"/>
              </a:rPr>
              <a:t>‗id </a:t>
            </a:r>
            <a:r>
              <a:rPr dirty="0" sz="1200" spc="-5">
                <a:latin typeface="Arial"/>
                <a:cs typeface="Arial"/>
              </a:rPr>
              <a:t>means feast, festival </a:t>
            </a:r>
            <a:r>
              <a:rPr dirty="0" sz="1200">
                <a:latin typeface="Arial"/>
                <a:cs typeface="Arial"/>
              </a:rPr>
              <a:t>or </a:t>
            </a:r>
            <a:r>
              <a:rPr dirty="0" sz="1200" spc="-5">
                <a:latin typeface="Arial"/>
                <a:cs typeface="Arial"/>
              </a:rPr>
              <a:t>holiday. </a:t>
            </a:r>
            <a:r>
              <a:rPr dirty="0" sz="1200">
                <a:latin typeface="Arial"/>
                <a:cs typeface="Arial"/>
              </a:rPr>
              <a:t>Fitr means </a:t>
            </a:r>
            <a:r>
              <a:rPr dirty="0" sz="1200" spc="-5">
                <a:latin typeface="Arial"/>
                <a:cs typeface="Arial"/>
              </a:rPr>
              <a:t>separation </a:t>
            </a:r>
            <a:r>
              <a:rPr dirty="0" sz="1200">
                <a:latin typeface="Arial"/>
                <a:cs typeface="Arial"/>
              </a:rPr>
              <a:t>or </a:t>
            </a:r>
            <a:r>
              <a:rPr dirty="0" sz="1200" spc="5">
                <a:latin typeface="Arial"/>
                <a:cs typeface="Arial"/>
              </a:rPr>
              <a:t>breaking. </a:t>
            </a:r>
            <a:r>
              <a:rPr dirty="0" sz="1200">
                <a:latin typeface="Arial"/>
                <a:cs typeface="Arial"/>
              </a:rPr>
              <a:t>As  such, </a:t>
            </a:r>
            <a:r>
              <a:rPr dirty="0" sz="1200" spc="-70">
                <a:latin typeface="Arial"/>
                <a:cs typeface="Arial"/>
              </a:rPr>
              <a:t>‗id-ul </a:t>
            </a:r>
            <a:r>
              <a:rPr dirty="0" sz="1200">
                <a:latin typeface="Arial"/>
                <a:cs typeface="Arial"/>
              </a:rPr>
              <a:t>Fitr </a:t>
            </a:r>
            <a:r>
              <a:rPr dirty="0" sz="1200" spc="-5">
                <a:latin typeface="Arial"/>
                <a:cs typeface="Arial"/>
              </a:rPr>
              <a:t>means </a:t>
            </a:r>
            <a:r>
              <a:rPr dirty="0" sz="1200">
                <a:latin typeface="Arial"/>
                <a:cs typeface="Arial"/>
              </a:rPr>
              <a:t>the </a:t>
            </a:r>
            <a:r>
              <a:rPr dirty="0" sz="1200" spc="-5">
                <a:latin typeface="Arial"/>
                <a:cs typeface="Arial"/>
              </a:rPr>
              <a:t>feast of the breaking and here </a:t>
            </a:r>
            <a:r>
              <a:rPr dirty="0" sz="1200">
                <a:latin typeface="Arial"/>
                <a:cs typeface="Arial"/>
              </a:rPr>
              <a:t>it </a:t>
            </a:r>
            <a:r>
              <a:rPr dirty="0" sz="1200" spc="-5">
                <a:latin typeface="Arial"/>
                <a:cs typeface="Arial"/>
              </a:rPr>
              <a:t>implies the breaking of the fast of  </a:t>
            </a:r>
            <a:r>
              <a:rPr dirty="0" sz="1200">
                <a:latin typeface="Arial"/>
                <a:cs typeface="Arial"/>
              </a:rPr>
              <a:t>the </a:t>
            </a:r>
            <a:r>
              <a:rPr dirty="0" sz="1200" spc="-5">
                <a:latin typeface="Arial"/>
                <a:cs typeface="Arial"/>
              </a:rPr>
              <a:t>month of Ramadhan, </a:t>
            </a:r>
            <a:r>
              <a:rPr dirty="0" sz="1200">
                <a:latin typeface="Arial"/>
                <a:cs typeface="Arial"/>
              </a:rPr>
              <a:t>the </a:t>
            </a:r>
            <a:r>
              <a:rPr dirty="0" sz="1200" spc="5">
                <a:latin typeface="Arial"/>
                <a:cs typeface="Arial"/>
              </a:rPr>
              <a:t>9</a:t>
            </a:r>
            <a:r>
              <a:rPr dirty="0" baseline="38194" sz="1200" spc="7">
                <a:latin typeface="Arial"/>
                <a:cs typeface="Arial"/>
              </a:rPr>
              <a:t>th </a:t>
            </a:r>
            <a:r>
              <a:rPr dirty="0" sz="1200" spc="-5">
                <a:latin typeface="Arial"/>
                <a:cs typeface="Arial"/>
              </a:rPr>
              <a:t>Islamic </a:t>
            </a:r>
            <a:r>
              <a:rPr dirty="0" sz="1200">
                <a:latin typeface="Arial"/>
                <a:cs typeface="Arial"/>
              </a:rPr>
              <a:t>month. It </a:t>
            </a:r>
            <a:r>
              <a:rPr dirty="0" sz="1200" spc="-5">
                <a:latin typeface="Arial"/>
                <a:cs typeface="Arial"/>
              </a:rPr>
              <a:t>has </a:t>
            </a:r>
            <a:r>
              <a:rPr dirty="0" sz="1200" spc="-10">
                <a:latin typeface="Arial"/>
                <a:cs typeface="Arial"/>
              </a:rPr>
              <a:t>always </a:t>
            </a:r>
            <a:r>
              <a:rPr dirty="0" sz="1200" spc="-5">
                <a:latin typeface="Arial"/>
                <a:cs typeface="Arial"/>
              </a:rPr>
              <a:t>been the practice of </a:t>
            </a:r>
            <a:r>
              <a:rPr dirty="0" sz="1200">
                <a:latin typeface="Arial"/>
                <a:cs typeface="Arial"/>
              </a:rPr>
              <a:t>past  </a:t>
            </a:r>
            <a:r>
              <a:rPr dirty="0" sz="1200" spc="-5">
                <a:latin typeface="Arial"/>
                <a:cs typeface="Arial"/>
              </a:rPr>
              <a:t>prophets </a:t>
            </a:r>
            <a:r>
              <a:rPr dirty="0" sz="1200">
                <a:latin typeface="Arial"/>
                <a:cs typeface="Arial"/>
              </a:rPr>
              <a:t>to </a:t>
            </a:r>
            <a:r>
              <a:rPr dirty="0" sz="1200" spc="-5">
                <a:latin typeface="Arial"/>
                <a:cs typeface="Arial"/>
              </a:rPr>
              <a:t>show </a:t>
            </a:r>
            <a:r>
              <a:rPr dirty="0" sz="1200">
                <a:latin typeface="Arial"/>
                <a:cs typeface="Arial"/>
              </a:rPr>
              <a:t>their </a:t>
            </a:r>
            <a:r>
              <a:rPr dirty="0" sz="1200" spc="-5">
                <a:latin typeface="Arial"/>
                <a:cs typeface="Arial"/>
              </a:rPr>
              <a:t>gratitude </a:t>
            </a:r>
            <a:r>
              <a:rPr dirty="0" sz="1200">
                <a:latin typeface="Arial"/>
                <a:cs typeface="Arial"/>
              </a:rPr>
              <a:t>to </a:t>
            </a:r>
            <a:r>
              <a:rPr dirty="0" sz="1200" spc="-5">
                <a:latin typeface="Arial"/>
                <a:cs typeface="Arial"/>
              </a:rPr>
              <a:t>Allah by worship and Ibaadah and in </a:t>
            </a:r>
            <a:r>
              <a:rPr dirty="0" sz="1200">
                <a:latin typeface="Arial"/>
                <a:cs typeface="Arial"/>
              </a:rPr>
              <a:t>return </a:t>
            </a:r>
            <a:r>
              <a:rPr dirty="0" sz="1200" spc="-5">
                <a:latin typeface="Arial"/>
                <a:cs typeface="Arial"/>
              </a:rPr>
              <a:t>Allah would  </a:t>
            </a:r>
            <a:r>
              <a:rPr dirty="0" sz="1200">
                <a:latin typeface="Arial"/>
                <a:cs typeface="Arial"/>
              </a:rPr>
              <a:t>bestow </a:t>
            </a:r>
            <a:r>
              <a:rPr dirty="0" sz="1200" spc="5">
                <a:latin typeface="Arial"/>
                <a:cs typeface="Arial"/>
              </a:rPr>
              <a:t>Wahy </a:t>
            </a:r>
            <a:r>
              <a:rPr dirty="0" sz="1200">
                <a:latin typeface="Arial"/>
                <a:cs typeface="Arial"/>
              </a:rPr>
              <a:t>– </a:t>
            </a:r>
            <a:r>
              <a:rPr dirty="0" sz="1200" spc="-5">
                <a:latin typeface="Arial"/>
                <a:cs typeface="Arial"/>
              </a:rPr>
              <a:t>revelation upon </a:t>
            </a:r>
            <a:r>
              <a:rPr dirty="0" sz="1200">
                <a:latin typeface="Arial"/>
                <a:cs typeface="Arial"/>
              </a:rPr>
              <a:t>them. </a:t>
            </a:r>
            <a:r>
              <a:rPr dirty="0" sz="1200" spc="-5">
                <a:latin typeface="Arial"/>
                <a:cs typeface="Arial"/>
              </a:rPr>
              <a:t>However during </a:t>
            </a:r>
            <a:r>
              <a:rPr dirty="0" sz="1200">
                <a:latin typeface="Arial"/>
                <a:cs typeface="Arial"/>
              </a:rPr>
              <a:t>the time </a:t>
            </a:r>
            <a:r>
              <a:rPr dirty="0" sz="1200" spc="-5">
                <a:latin typeface="Arial"/>
                <a:cs typeface="Arial"/>
              </a:rPr>
              <a:t>of </a:t>
            </a:r>
            <a:r>
              <a:rPr dirty="0" sz="1200">
                <a:latin typeface="Arial"/>
                <a:cs typeface="Arial"/>
              </a:rPr>
              <a:t>the </a:t>
            </a:r>
            <a:r>
              <a:rPr dirty="0" sz="1200" spc="-5">
                <a:latin typeface="Arial"/>
                <a:cs typeface="Arial"/>
              </a:rPr>
              <a:t>holy prophet (s.a.w)  when </a:t>
            </a:r>
            <a:r>
              <a:rPr dirty="0" sz="1200">
                <a:latin typeface="Arial"/>
                <a:cs typeface="Arial"/>
              </a:rPr>
              <a:t>he </a:t>
            </a:r>
            <a:r>
              <a:rPr dirty="0" sz="1200" spc="-5">
                <a:latin typeface="Arial"/>
                <a:cs typeface="Arial"/>
              </a:rPr>
              <a:t>entered Madina, these two days </a:t>
            </a:r>
            <a:r>
              <a:rPr dirty="0" sz="1200" spc="-60">
                <a:latin typeface="Arial"/>
                <a:cs typeface="Arial"/>
              </a:rPr>
              <a:t>(‗id-ul </a:t>
            </a:r>
            <a:r>
              <a:rPr dirty="0" sz="1200">
                <a:latin typeface="Arial"/>
                <a:cs typeface="Arial"/>
              </a:rPr>
              <a:t>Fitr and </a:t>
            </a:r>
            <a:r>
              <a:rPr dirty="0" sz="1200" spc="-70">
                <a:latin typeface="Arial"/>
                <a:cs typeface="Arial"/>
              </a:rPr>
              <a:t>‗Id-ul </a:t>
            </a:r>
            <a:r>
              <a:rPr dirty="0" sz="1200" spc="-5">
                <a:latin typeface="Arial"/>
                <a:cs typeface="Arial"/>
              </a:rPr>
              <a:t>Adha) were moments of  amusement and joy. So </a:t>
            </a:r>
            <a:r>
              <a:rPr dirty="0" sz="1200">
                <a:latin typeface="Arial"/>
                <a:cs typeface="Arial"/>
              </a:rPr>
              <a:t>the </a:t>
            </a:r>
            <a:r>
              <a:rPr dirty="0" sz="1200" spc="-5">
                <a:latin typeface="Arial"/>
                <a:cs typeface="Arial"/>
              </a:rPr>
              <a:t>prophet (s.a.w) declared them </a:t>
            </a:r>
            <a:r>
              <a:rPr dirty="0" sz="1200" spc="20">
                <a:latin typeface="Arial"/>
                <a:cs typeface="Arial"/>
              </a:rPr>
              <a:t>as </a:t>
            </a:r>
            <a:r>
              <a:rPr dirty="0" sz="1200" spc="-5">
                <a:latin typeface="Arial"/>
                <a:cs typeface="Arial"/>
              </a:rPr>
              <a:t>feast </a:t>
            </a:r>
            <a:r>
              <a:rPr dirty="0" sz="1200">
                <a:latin typeface="Arial"/>
                <a:cs typeface="Arial"/>
              </a:rPr>
              <a:t>for </a:t>
            </a:r>
            <a:r>
              <a:rPr dirty="0" sz="1200" spc="-5">
                <a:latin typeface="Arial"/>
                <a:cs typeface="Arial"/>
              </a:rPr>
              <a:t>Muslims. </a:t>
            </a:r>
            <a:r>
              <a:rPr dirty="0" sz="1200" spc="-70">
                <a:latin typeface="Arial"/>
                <a:cs typeface="Arial"/>
              </a:rPr>
              <a:t>‗Id-ul </a:t>
            </a:r>
            <a:r>
              <a:rPr dirty="0" sz="1200">
                <a:latin typeface="Arial"/>
                <a:cs typeface="Arial"/>
              </a:rPr>
              <a:t>Fitr  </a:t>
            </a:r>
            <a:r>
              <a:rPr dirty="0" sz="1200" spc="-5">
                <a:latin typeface="Arial"/>
                <a:cs typeface="Arial"/>
              </a:rPr>
              <a:t>commemorates the ending </a:t>
            </a:r>
            <a:r>
              <a:rPr dirty="0" sz="1200">
                <a:latin typeface="Arial"/>
                <a:cs typeface="Arial"/>
              </a:rPr>
              <a:t>of </a:t>
            </a:r>
            <a:r>
              <a:rPr dirty="0" sz="1200" spc="-5">
                <a:latin typeface="Arial"/>
                <a:cs typeface="Arial"/>
              </a:rPr>
              <a:t>1 month of Ibaadah, fasting </a:t>
            </a:r>
            <a:r>
              <a:rPr dirty="0" sz="1200">
                <a:latin typeface="Arial"/>
                <a:cs typeface="Arial"/>
              </a:rPr>
              <a:t>and </a:t>
            </a:r>
            <a:r>
              <a:rPr dirty="0" sz="1200" spc="-5">
                <a:latin typeface="Arial"/>
                <a:cs typeface="Arial"/>
              </a:rPr>
              <a:t>sacrifice by the Muslims and </a:t>
            </a:r>
            <a:r>
              <a:rPr dirty="0" sz="1200" spc="-10">
                <a:latin typeface="Arial"/>
                <a:cs typeface="Arial"/>
              </a:rPr>
              <a:t>in  </a:t>
            </a:r>
            <a:r>
              <a:rPr dirty="0" sz="1200">
                <a:latin typeface="Arial"/>
                <a:cs typeface="Arial"/>
              </a:rPr>
              <a:t>return for </a:t>
            </a:r>
            <a:r>
              <a:rPr dirty="0" sz="1200" spc="-5">
                <a:latin typeface="Arial"/>
                <a:cs typeface="Arial"/>
              </a:rPr>
              <a:t>their efforts, Allah bestow on them the </a:t>
            </a:r>
            <a:r>
              <a:rPr dirty="0" sz="1200">
                <a:latin typeface="Arial"/>
                <a:cs typeface="Arial"/>
              </a:rPr>
              <a:t>feast </a:t>
            </a:r>
            <a:r>
              <a:rPr dirty="0" sz="1200" spc="-5">
                <a:latin typeface="Arial"/>
                <a:cs typeface="Arial"/>
              </a:rPr>
              <a:t>day. </a:t>
            </a:r>
            <a:r>
              <a:rPr dirty="0" sz="1200">
                <a:latin typeface="Arial"/>
                <a:cs typeface="Arial"/>
              </a:rPr>
              <a:t>It starts </a:t>
            </a:r>
            <a:r>
              <a:rPr dirty="0" sz="1200" spc="-10">
                <a:latin typeface="Arial"/>
                <a:cs typeface="Arial"/>
              </a:rPr>
              <a:t>as </a:t>
            </a:r>
            <a:r>
              <a:rPr dirty="0" sz="1200">
                <a:latin typeface="Arial"/>
                <a:cs typeface="Arial"/>
              </a:rPr>
              <a:t>from </a:t>
            </a:r>
            <a:r>
              <a:rPr dirty="0" sz="1200" spc="-5">
                <a:latin typeface="Arial"/>
                <a:cs typeface="Arial"/>
              </a:rPr>
              <a:t>the sighting of the  moon on </a:t>
            </a:r>
            <a:r>
              <a:rPr dirty="0" sz="1200">
                <a:latin typeface="Arial"/>
                <a:cs typeface="Arial"/>
              </a:rPr>
              <a:t>the last </a:t>
            </a:r>
            <a:r>
              <a:rPr dirty="0" sz="1200" spc="-5">
                <a:latin typeface="Arial"/>
                <a:cs typeface="Arial"/>
              </a:rPr>
              <a:t>day of Ramadhan by Swalaatul </a:t>
            </a:r>
            <a:r>
              <a:rPr dirty="0" sz="1200" spc="-10">
                <a:latin typeface="Arial"/>
                <a:cs typeface="Arial"/>
              </a:rPr>
              <a:t>Maghrib. </a:t>
            </a:r>
            <a:r>
              <a:rPr dirty="0" sz="1200" spc="-5">
                <a:latin typeface="Arial"/>
                <a:cs typeface="Arial"/>
              </a:rPr>
              <a:t>According </a:t>
            </a:r>
            <a:r>
              <a:rPr dirty="0" sz="1200">
                <a:latin typeface="Arial"/>
                <a:cs typeface="Arial"/>
              </a:rPr>
              <a:t>to </a:t>
            </a:r>
            <a:r>
              <a:rPr dirty="0" sz="1200" spc="-5">
                <a:latin typeface="Arial"/>
                <a:cs typeface="Arial"/>
              </a:rPr>
              <a:t>the prophet (s.a.w)  </a:t>
            </a:r>
            <a:r>
              <a:rPr dirty="0" sz="1200">
                <a:latin typeface="Arial"/>
                <a:cs typeface="Arial"/>
              </a:rPr>
              <a:t>that </a:t>
            </a:r>
            <a:r>
              <a:rPr dirty="0" sz="1200" spc="-5">
                <a:latin typeface="Arial"/>
                <a:cs typeface="Arial"/>
              </a:rPr>
              <a:t>night is considered </a:t>
            </a:r>
            <a:r>
              <a:rPr dirty="0" sz="1200">
                <a:latin typeface="Arial"/>
                <a:cs typeface="Arial"/>
              </a:rPr>
              <a:t>as full </a:t>
            </a:r>
            <a:r>
              <a:rPr dirty="0" sz="1200" spc="-5">
                <a:latin typeface="Arial"/>
                <a:cs typeface="Arial"/>
              </a:rPr>
              <a:t>of blessings and the Swalaat </a:t>
            </a:r>
            <a:r>
              <a:rPr dirty="0" sz="1200">
                <a:latin typeface="Arial"/>
                <a:cs typeface="Arial"/>
              </a:rPr>
              <a:t>Fajr </a:t>
            </a:r>
            <a:r>
              <a:rPr dirty="0" sz="1200" spc="-5">
                <a:latin typeface="Arial"/>
                <a:cs typeface="Arial"/>
              </a:rPr>
              <a:t>must be done in Jama‘ah. </a:t>
            </a:r>
            <a:r>
              <a:rPr dirty="0" sz="1200">
                <a:latin typeface="Arial"/>
                <a:cs typeface="Arial"/>
              </a:rPr>
              <a:t>It  </a:t>
            </a:r>
            <a:r>
              <a:rPr dirty="0" sz="1200" spc="-5">
                <a:latin typeface="Arial"/>
                <a:cs typeface="Arial"/>
              </a:rPr>
              <a:t>is recommended </a:t>
            </a:r>
            <a:r>
              <a:rPr dirty="0" sz="1200">
                <a:latin typeface="Arial"/>
                <a:cs typeface="Arial"/>
              </a:rPr>
              <a:t>to </a:t>
            </a:r>
            <a:r>
              <a:rPr dirty="0" sz="1200" spc="-5">
                <a:latin typeface="Arial"/>
                <a:cs typeface="Arial"/>
              </a:rPr>
              <a:t>take a bath (Ghusal), wear good (or new) clothes according </a:t>
            </a:r>
            <a:r>
              <a:rPr dirty="0" sz="1200">
                <a:latin typeface="Arial"/>
                <a:cs typeface="Arial"/>
              </a:rPr>
              <a:t>to </a:t>
            </a:r>
            <a:r>
              <a:rPr dirty="0" sz="1200" spc="-5">
                <a:latin typeface="Arial"/>
                <a:cs typeface="Arial"/>
              </a:rPr>
              <a:t>the  </a:t>
            </a:r>
            <a:r>
              <a:rPr dirty="0" sz="1200">
                <a:latin typeface="Arial"/>
                <a:cs typeface="Arial"/>
              </a:rPr>
              <a:t>Islamic </a:t>
            </a:r>
            <a:r>
              <a:rPr dirty="0" sz="1200" spc="-5">
                <a:latin typeface="Arial"/>
                <a:cs typeface="Arial"/>
              </a:rPr>
              <a:t>practice and pay </a:t>
            </a:r>
            <a:r>
              <a:rPr dirty="0" sz="1200">
                <a:latin typeface="Arial"/>
                <a:cs typeface="Arial"/>
              </a:rPr>
              <a:t>Zakaat </a:t>
            </a:r>
            <a:r>
              <a:rPr dirty="0" sz="1200" spc="-10">
                <a:latin typeface="Arial"/>
                <a:cs typeface="Arial"/>
              </a:rPr>
              <a:t>if </a:t>
            </a:r>
            <a:r>
              <a:rPr dirty="0" sz="1200" spc="-5">
                <a:latin typeface="Arial"/>
                <a:cs typeface="Arial"/>
              </a:rPr>
              <a:t>not yet</a:t>
            </a:r>
            <a:r>
              <a:rPr dirty="0" sz="1200" spc="20">
                <a:latin typeface="Arial"/>
                <a:cs typeface="Arial"/>
              </a:rPr>
              <a:t> </a:t>
            </a:r>
            <a:r>
              <a:rPr dirty="0" sz="1200" spc="-5">
                <a:latin typeface="Arial"/>
                <a:cs typeface="Arial"/>
              </a:rPr>
              <a:t>paid.</a:t>
            </a:r>
            <a:endParaRPr sz="1200">
              <a:latin typeface="Arial"/>
              <a:cs typeface="Arial"/>
            </a:endParaRPr>
          </a:p>
          <a:p>
            <a:pPr>
              <a:lnSpc>
                <a:spcPct val="100000"/>
              </a:lnSpc>
              <a:spcBef>
                <a:spcPts val="55"/>
              </a:spcBef>
            </a:pPr>
            <a:endParaRPr sz="1100">
              <a:latin typeface="Arial"/>
              <a:cs typeface="Arial"/>
            </a:endParaRPr>
          </a:p>
          <a:p>
            <a:pPr marL="114300">
              <a:lnSpc>
                <a:spcPct val="100000"/>
              </a:lnSpc>
            </a:pPr>
            <a:r>
              <a:rPr dirty="0" u="heavy" sz="1200" spc="-5" b="1" i="1">
                <a:uFill>
                  <a:solidFill>
                    <a:srgbClr val="000000"/>
                  </a:solidFill>
                </a:uFill>
                <a:latin typeface="Arial"/>
                <a:cs typeface="Arial"/>
              </a:rPr>
              <a:t>The Climate </a:t>
            </a:r>
            <a:r>
              <a:rPr dirty="0" u="heavy" sz="1200" b="1" i="1">
                <a:uFill>
                  <a:solidFill>
                    <a:srgbClr val="000000"/>
                  </a:solidFill>
                </a:uFill>
                <a:latin typeface="Arial"/>
                <a:cs typeface="Arial"/>
              </a:rPr>
              <a:t>on </a:t>
            </a:r>
            <a:r>
              <a:rPr dirty="0" u="heavy" sz="1200" spc="-5" b="1" i="1">
                <a:uFill>
                  <a:solidFill>
                    <a:srgbClr val="000000"/>
                  </a:solidFill>
                </a:uFill>
                <a:latin typeface="Arial"/>
                <a:cs typeface="Arial"/>
              </a:rPr>
              <a:t>the </a:t>
            </a:r>
            <a:r>
              <a:rPr dirty="0" u="heavy" sz="1200" spc="-10" b="1" i="1">
                <a:uFill>
                  <a:solidFill>
                    <a:srgbClr val="000000"/>
                  </a:solidFill>
                </a:uFill>
                <a:latin typeface="Arial"/>
                <a:cs typeface="Arial"/>
              </a:rPr>
              <a:t>day </a:t>
            </a:r>
            <a:r>
              <a:rPr dirty="0" u="heavy" sz="1200" b="1" i="1">
                <a:uFill>
                  <a:solidFill>
                    <a:srgbClr val="000000"/>
                  </a:solidFill>
                </a:uFill>
                <a:latin typeface="Arial"/>
                <a:cs typeface="Arial"/>
              </a:rPr>
              <a:t>of</a:t>
            </a:r>
            <a:r>
              <a:rPr dirty="0" u="heavy" sz="1200" spc="15" b="1" i="1">
                <a:uFill>
                  <a:solidFill>
                    <a:srgbClr val="000000"/>
                  </a:solidFill>
                </a:uFill>
                <a:latin typeface="Arial"/>
                <a:cs typeface="Arial"/>
              </a:rPr>
              <a:t> </a:t>
            </a:r>
            <a:r>
              <a:rPr dirty="0" u="heavy" sz="1200" spc="-70" b="1" i="1">
                <a:uFill>
                  <a:solidFill>
                    <a:srgbClr val="000000"/>
                  </a:solidFill>
                </a:uFill>
                <a:latin typeface="Arial"/>
                <a:cs typeface="Arial"/>
              </a:rPr>
              <a:t>„Id:</a:t>
            </a:r>
            <a:endParaRPr sz="1200">
              <a:latin typeface="Arial"/>
              <a:cs typeface="Arial"/>
            </a:endParaRPr>
          </a:p>
          <a:p>
            <a:pPr>
              <a:lnSpc>
                <a:spcPct val="100000"/>
              </a:lnSpc>
              <a:spcBef>
                <a:spcPts val="40"/>
              </a:spcBef>
            </a:pPr>
            <a:endParaRPr sz="1200">
              <a:latin typeface="Arial"/>
              <a:cs typeface="Arial"/>
            </a:endParaRPr>
          </a:p>
          <a:p>
            <a:pPr marL="571500" marR="136525" indent="-229235">
              <a:lnSpc>
                <a:spcPts val="1380"/>
              </a:lnSpc>
              <a:buAutoNum type="arabicPeriod"/>
              <a:tabLst>
                <a:tab pos="572135" algn="l"/>
              </a:tabLst>
            </a:pPr>
            <a:r>
              <a:rPr dirty="0" sz="1200" spc="-5">
                <a:latin typeface="Arial"/>
                <a:cs typeface="Arial"/>
              </a:rPr>
              <a:t>The Swalaatul </a:t>
            </a:r>
            <a:r>
              <a:rPr dirty="0" sz="1200" spc="-140">
                <a:latin typeface="Arial"/>
                <a:cs typeface="Arial"/>
              </a:rPr>
              <a:t>‗Id </a:t>
            </a:r>
            <a:r>
              <a:rPr dirty="0" sz="1200" spc="-5">
                <a:latin typeface="Arial"/>
                <a:cs typeface="Arial"/>
              </a:rPr>
              <a:t>can </a:t>
            </a:r>
            <a:r>
              <a:rPr dirty="0" sz="1200">
                <a:latin typeface="Arial"/>
                <a:cs typeface="Arial"/>
              </a:rPr>
              <a:t>be </a:t>
            </a:r>
            <a:r>
              <a:rPr dirty="0" sz="1200" spc="-5">
                <a:latin typeface="Arial"/>
                <a:cs typeface="Arial"/>
              </a:rPr>
              <a:t>offered either </a:t>
            </a:r>
            <a:r>
              <a:rPr dirty="0" sz="1200" spc="-10">
                <a:latin typeface="Arial"/>
                <a:cs typeface="Arial"/>
              </a:rPr>
              <a:t>in </a:t>
            </a:r>
            <a:r>
              <a:rPr dirty="0" sz="1200" spc="-5">
                <a:latin typeface="Arial"/>
                <a:cs typeface="Arial"/>
              </a:rPr>
              <a:t>open field </a:t>
            </a:r>
            <a:r>
              <a:rPr dirty="0" sz="1200">
                <a:latin typeface="Arial"/>
                <a:cs typeface="Arial"/>
              </a:rPr>
              <a:t>or </a:t>
            </a:r>
            <a:r>
              <a:rPr dirty="0" sz="1200" spc="-5">
                <a:latin typeface="Arial"/>
                <a:cs typeface="Arial"/>
              </a:rPr>
              <a:t>Masjid (depending on  population).</a:t>
            </a:r>
            <a:endParaRPr sz="1200">
              <a:latin typeface="Arial"/>
              <a:cs typeface="Arial"/>
            </a:endParaRPr>
          </a:p>
          <a:p>
            <a:pPr marL="571500" indent="-229235">
              <a:lnSpc>
                <a:spcPts val="1315"/>
              </a:lnSpc>
              <a:buAutoNum type="arabicPeriod"/>
              <a:tabLst>
                <a:tab pos="572135" algn="l"/>
              </a:tabLst>
            </a:pPr>
            <a:r>
              <a:rPr dirty="0" sz="1200" spc="-5">
                <a:latin typeface="Arial"/>
                <a:cs typeface="Arial"/>
              </a:rPr>
              <a:t>There is no Azan </a:t>
            </a:r>
            <a:r>
              <a:rPr dirty="0" sz="1200">
                <a:latin typeface="Arial"/>
                <a:cs typeface="Arial"/>
              </a:rPr>
              <a:t>and no </a:t>
            </a:r>
            <a:r>
              <a:rPr dirty="0" sz="1200" spc="-5">
                <a:latin typeface="Arial"/>
                <a:cs typeface="Arial"/>
              </a:rPr>
              <a:t>Iqaamah before the Namaaz</a:t>
            </a:r>
            <a:r>
              <a:rPr dirty="0" sz="1200" spc="-35">
                <a:latin typeface="Arial"/>
                <a:cs typeface="Arial"/>
              </a:rPr>
              <a:t> </a:t>
            </a:r>
            <a:r>
              <a:rPr dirty="0" sz="1200" spc="-105">
                <a:latin typeface="Arial"/>
                <a:cs typeface="Arial"/>
              </a:rPr>
              <a:t>‗Id.</a:t>
            </a:r>
            <a:endParaRPr sz="1200">
              <a:latin typeface="Arial"/>
              <a:cs typeface="Arial"/>
            </a:endParaRPr>
          </a:p>
          <a:p>
            <a:pPr marL="571500" marR="134620" indent="-229235">
              <a:lnSpc>
                <a:spcPts val="1380"/>
              </a:lnSpc>
              <a:spcBef>
                <a:spcPts val="65"/>
              </a:spcBef>
              <a:buAutoNum type="arabicPeriod"/>
              <a:tabLst>
                <a:tab pos="572135" algn="l"/>
              </a:tabLst>
            </a:pPr>
            <a:r>
              <a:rPr dirty="0" sz="1200">
                <a:latin typeface="Arial"/>
                <a:cs typeface="Arial"/>
              </a:rPr>
              <a:t>It </a:t>
            </a:r>
            <a:r>
              <a:rPr dirty="0" sz="1200" spc="-5">
                <a:latin typeface="Arial"/>
                <a:cs typeface="Arial"/>
              </a:rPr>
              <a:t>is done in 2 Rakaat (units) </a:t>
            </a:r>
            <a:r>
              <a:rPr dirty="0" sz="1200">
                <a:latin typeface="Arial"/>
                <a:cs typeface="Arial"/>
              </a:rPr>
              <a:t>of </a:t>
            </a:r>
            <a:r>
              <a:rPr dirty="0" sz="1200" spc="-5">
                <a:latin typeface="Arial"/>
                <a:cs typeface="Arial"/>
              </a:rPr>
              <a:t>Swalaat </a:t>
            </a:r>
            <a:r>
              <a:rPr dirty="0" sz="1200">
                <a:latin typeface="Arial"/>
                <a:cs typeface="Arial"/>
              </a:rPr>
              <a:t>Waajib </a:t>
            </a:r>
            <a:r>
              <a:rPr dirty="0" sz="1200" spc="-5">
                <a:latin typeface="Arial"/>
                <a:cs typeface="Arial"/>
              </a:rPr>
              <a:t>with 6 additional Takbeer or 12  according </a:t>
            </a:r>
            <a:r>
              <a:rPr dirty="0" sz="1200">
                <a:latin typeface="Arial"/>
                <a:cs typeface="Arial"/>
              </a:rPr>
              <a:t>to </a:t>
            </a:r>
            <a:r>
              <a:rPr dirty="0" sz="1200" spc="-5">
                <a:latin typeface="Arial"/>
                <a:cs typeface="Arial"/>
              </a:rPr>
              <a:t>other schools of</a:t>
            </a:r>
            <a:r>
              <a:rPr dirty="0" sz="1200">
                <a:latin typeface="Arial"/>
                <a:cs typeface="Arial"/>
              </a:rPr>
              <a:t> </a:t>
            </a:r>
            <a:r>
              <a:rPr dirty="0" sz="1200" spc="-5">
                <a:latin typeface="Arial"/>
                <a:cs typeface="Arial"/>
              </a:rPr>
              <a:t>thought.</a:t>
            </a:r>
            <a:endParaRPr sz="1200">
              <a:latin typeface="Arial"/>
              <a:cs typeface="Arial"/>
            </a:endParaRPr>
          </a:p>
          <a:p>
            <a:pPr marL="571500" marR="132080" indent="-229235">
              <a:lnSpc>
                <a:spcPts val="1380"/>
              </a:lnSpc>
              <a:buAutoNum type="arabicPeriod"/>
              <a:tabLst>
                <a:tab pos="572135" algn="l"/>
              </a:tabLst>
            </a:pPr>
            <a:r>
              <a:rPr dirty="0" sz="1200">
                <a:latin typeface="Arial"/>
                <a:cs typeface="Arial"/>
              </a:rPr>
              <a:t>In the 1</a:t>
            </a:r>
            <a:r>
              <a:rPr dirty="0" baseline="38194" sz="1200">
                <a:latin typeface="Arial"/>
                <a:cs typeface="Arial"/>
              </a:rPr>
              <a:t>st </a:t>
            </a:r>
            <a:r>
              <a:rPr dirty="0" sz="1200" spc="-5">
                <a:latin typeface="Arial"/>
                <a:cs typeface="Arial"/>
              </a:rPr>
              <a:t>Rakaat there are 3 Takbeer before </a:t>
            </a:r>
            <a:r>
              <a:rPr dirty="0" sz="1200">
                <a:latin typeface="Arial"/>
                <a:cs typeface="Arial"/>
              </a:rPr>
              <a:t>Qiraat </a:t>
            </a:r>
            <a:r>
              <a:rPr dirty="0" sz="1200" spc="-5">
                <a:latin typeface="Arial"/>
                <a:cs typeface="Arial"/>
              </a:rPr>
              <a:t>and </a:t>
            </a:r>
            <a:r>
              <a:rPr dirty="0" sz="1200">
                <a:latin typeface="Arial"/>
                <a:cs typeface="Arial"/>
              </a:rPr>
              <a:t>for </a:t>
            </a:r>
            <a:r>
              <a:rPr dirty="0" sz="1200" spc="-5">
                <a:latin typeface="Arial"/>
                <a:cs typeface="Arial"/>
              </a:rPr>
              <a:t>the </a:t>
            </a:r>
            <a:r>
              <a:rPr dirty="0" sz="1200" spc="10">
                <a:latin typeface="Arial"/>
                <a:cs typeface="Arial"/>
              </a:rPr>
              <a:t>2</a:t>
            </a:r>
            <a:r>
              <a:rPr dirty="0" baseline="38194" sz="1200" spc="15">
                <a:latin typeface="Arial"/>
                <a:cs typeface="Arial"/>
              </a:rPr>
              <a:t>nd </a:t>
            </a:r>
            <a:r>
              <a:rPr dirty="0" sz="1200">
                <a:latin typeface="Arial"/>
                <a:cs typeface="Arial"/>
              </a:rPr>
              <a:t>Rakaat </a:t>
            </a:r>
            <a:r>
              <a:rPr dirty="0" sz="1200" spc="-5">
                <a:latin typeface="Arial"/>
                <a:cs typeface="Arial"/>
              </a:rPr>
              <a:t>there are 3  Takbeer before</a:t>
            </a:r>
            <a:r>
              <a:rPr dirty="0" sz="1200" spc="-15">
                <a:latin typeface="Arial"/>
                <a:cs typeface="Arial"/>
              </a:rPr>
              <a:t> </a:t>
            </a:r>
            <a:r>
              <a:rPr dirty="0" sz="1200" spc="-5">
                <a:latin typeface="Arial"/>
                <a:cs typeface="Arial"/>
              </a:rPr>
              <a:t>Ruku‘.</a:t>
            </a:r>
            <a:endParaRPr sz="1200">
              <a:latin typeface="Arial"/>
              <a:cs typeface="Arial"/>
            </a:endParaRPr>
          </a:p>
          <a:p>
            <a:pPr marL="571500" indent="-229235">
              <a:lnSpc>
                <a:spcPts val="1315"/>
              </a:lnSpc>
              <a:buAutoNum type="arabicPeriod"/>
              <a:tabLst>
                <a:tab pos="572135" algn="l"/>
              </a:tabLst>
            </a:pPr>
            <a:r>
              <a:rPr dirty="0" sz="1200">
                <a:latin typeface="Arial"/>
                <a:cs typeface="Arial"/>
              </a:rPr>
              <a:t>After </a:t>
            </a:r>
            <a:r>
              <a:rPr dirty="0" sz="1200" spc="-10">
                <a:latin typeface="Arial"/>
                <a:cs typeface="Arial"/>
              </a:rPr>
              <a:t>the </a:t>
            </a:r>
            <a:r>
              <a:rPr dirty="0" sz="1200" spc="-5">
                <a:latin typeface="Arial"/>
                <a:cs typeface="Arial"/>
              </a:rPr>
              <a:t>Swalaat there is a khutbah read </a:t>
            </a:r>
            <a:r>
              <a:rPr dirty="0" sz="1200">
                <a:latin typeface="Arial"/>
                <a:cs typeface="Arial"/>
              </a:rPr>
              <a:t>for </a:t>
            </a:r>
            <a:r>
              <a:rPr dirty="0" sz="1200" spc="-10">
                <a:latin typeface="Arial"/>
                <a:cs typeface="Arial"/>
              </a:rPr>
              <a:t>the</a:t>
            </a:r>
            <a:r>
              <a:rPr dirty="0" sz="1200" spc="30">
                <a:latin typeface="Arial"/>
                <a:cs typeface="Arial"/>
              </a:rPr>
              <a:t> </a:t>
            </a:r>
            <a:r>
              <a:rPr dirty="0" sz="1200" spc="-5">
                <a:latin typeface="Arial"/>
                <a:cs typeface="Arial"/>
              </a:rPr>
              <a:t>occasion</a:t>
            </a:r>
            <a:endParaRPr sz="1200">
              <a:latin typeface="Arial"/>
              <a:cs typeface="Arial"/>
            </a:endParaRPr>
          </a:p>
          <a:p>
            <a:pPr marL="571500" indent="-229235">
              <a:lnSpc>
                <a:spcPts val="1380"/>
              </a:lnSpc>
              <a:buAutoNum type="arabicPeriod"/>
              <a:tabLst>
                <a:tab pos="572135" algn="l"/>
              </a:tabLst>
            </a:pPr>
            <a:r>
              <a:rPr dirty="0" sz="1200">
                <a:latin typeface="Arial"/>
                <a:cs typeface="Arial"/>
              </a:rPr>
              <a:t>After </a:t>
            </a:r>
            <a:r>
              <a:rPr dirty="0" sz="1200" spc="-10">
                <a:latin typeface="Arial"/>
                <a:cs typeface="Arial"/>
              </a:rPr>
              <a:t>which </a:t>
            </a:r>
            <a:r>
              <a:rPr dirty="0" sz="1200">
                <a:latin typeface="Arial"/>
                <a:cs typeface="Arial"/>
              </a:rPr>
              <a:t>du‘a can </a:t>
            </a:r>
            <a:r>
              <a:rPr dirty="0" sz="1200" spc="-5">
                <a:latin typeface="Arial"/>
                <a:cs typeface="Arial"/>
              </a:rPr>
              <a:t>be </a:t>
            </a:r>
            <a:r>
              <a:rPr dirty="0" sz="1200">
                <a:latin typeface="Arial"/>
                <a:cs typeface="Arial"/>
              </a:rPr>
              <a:t>made </a:t>
            </a:r>
            <a:r>
              <a:rPr dirty="0" sz="1200" spc="-5">
                <a:latin typeface="Arial"/>
                <a:cs typeface="Arial"/>
              </a:rPr>
              <a:t>in any</a:t>
            </a:r>
            <a:r>
              <a:rPr dirty="0" sz="1200" spc="-30">
                <a:latin typeface="Arial"/>
                <a:cs typeface="Arial"/>
              </a:rPr>
              <a:t> </a:t>
            </a:r>
            <a:r>
              <a:rPr dirty="0" sz="1200" spc="-5">
                <a:latin typeface="Arial"/>
                <a:cs typeface="Arial"/>
              </a:rPr>
              <a:t>language.</a:t>
            </a:r>
            <a:endParaRPr sz="1200">
              <a:latin typeface="Arial"/>
              <a:cs typeface="Arial"/>
            </a:endParaRPr>
          </a:p>
          <a:p>
            <a:pPr marL="571500" indent="-229235">
              <a:lnSpc>
                <a:spcPts val="1380"/>
              </a:lnSpc>
              <a:buAutoNum type="arabicPeriod"/>
              <a:tabLst>
                <a:tab pos="572135" algn="l"/>
              </a:tabLst>
            </a:pPr>
            <a:r>
              <a:rPr dirty="0" sz="1200" spc="-5">
                <a:latin typeface="Arial"/>
                <a:cs typeface="Arial"/>
              </a:rPr>
              <a:t>Then there </a:t>
            </a:r>
            <a:r>
              <a:rPr dirty="0" sz="1200" spc="-10">
                <a:latin typeface="Arial"/>
                <a:cs typeface="Arial"/>
              </a:rPr>
              <a:t>will </a:t>
            </a:r>
            <a:r>
              <a:rPr dirty="0" sz="1200" spc="-5">
                <a:latin typeface="Arial"/>
                <a:cs typeface="Arial"/>
              </a:rPr>
              <a:t>be greetings </a:t>
            </a:r>
            <a:r>
              <a:rPr dirty="0" sz="1200">
                <a:latin typeface="Arial"/>
                <a:cs typeface="Arial"/>
              </a:rPr>
              <a:t>by </a:t>
            </a:r>
            <a:r>
              <a:rPr dirty="0" sz="1200" spc="-5">
                <a:latin typeface="Arial"/>
                <a:cs typeface="Arial"/>
              </a:rPr>
              <a:t>the</a:t>
            </a:r>
            <a:r>
              <a:rPr dirty="0" sz="1200">
                <a:latin typeface="Arial"/>
                <a:cs typeface="Arial"/>
              </a:rPr>
              <a:t> Muslims.</a:t>
            </a:r>
            <a:endParaRPr sz="1200">
              <a:latin typeface="Arial"/>
              <a:cs typeface="Arial"/>
            </a:endParaRPr>
          </a:p>
          <a:p>
            <a:pPr marL="571500" indent="-229235">
              <a:lnSpc>
                <a:spcPts val="1380"/>
              </a:lnSpc>
              <a:buAutoNum type="arabicPeriod"/>
              <a:tabLst>
                <a:tab pos="572135" algn="l"/>
              </a:tabLst>
            </a:pPr>
            <a:r>
              <a:rPr dirty="0" sz="1200" spc="-5">
                <a:latin typeface="Arial"/>
                <a:cs typeface="Arial"/>
              </a:rPr>
              <a:t>There can be </a:t>
            </a:r>
            <a:r>
              <a:rPr dirty="0" sz="1200">
                <a:latin typeface="Arial"/>
                <a:cs typeface="Arial"/>
              </a:rPr>
              <a:t>family union or </a:t>
            </a:r>
            <a:r>
              <a:rPr dirty="0" sz="1200" spc="-5">
                <a:latin typeface="Arial"/>
                <a:cs typeface="Arial"/>
              </a:rPr>
              <a:t>gathering </a:t>
            </a:r>
            <a:r>
              <a:rPr dirty="0" sz="1200">
                <a:latin typeface="Arial"/>
                <a:cs typeface="Arial"/>
              </a:rPr>
              <a:t>for </a:t>
            </a:r>
            <a:r>
              <a:rPr dirty="0" sz="1200" spc="-5">
                <a:latin typeface="Arial"/>
                <a:cs typeface="Arial"/>
              </a:rPr>
              <a:t>the</a:t>
            </a:r>
            <a:r>
              <a:rPr dirty="0" sz="1200" spc="-25">
                <a:latin typeface="Arial"/>
                <a:cs typeface="Arial"/>
              </a:rPr>
              <a:t> </a:t>
            </a:r>
            <a:r>
              <a:rPr dirty="0" sz="1200" spc="-5">
                <a:latin typeface="Arial"/>
                <a:cs typeface="Arial"/>
              </a:rPr>
              <a:t>feast.</a:t>
            </a:r>
            <a:endParaRPr sz="1200">
              <a:latin typeface="Arial"/>
              <a:cs typeface="Arial"/>
            </a:endParaRPr>
          </a:p>
          <a:p>
            <a:pPr marL="571500" indent="-229235">
              <a:lnSpc>
                <a:spcPts val="1380"/>
              </a:lnSpc>
              <a:buAutoNum type="arabicPeriod"/>
              <a:tabLst>
                <a:tab pos="572135" algn="l"/>
              </a:tabLst>
            </a:pPr>
            <a:r>
              <a:rPr dirty="0" sz="1200">
                <a:latin typeface="Arial"/>
                <a:cs typeface="Arial"/>
              </a:rPr>
              <a:t>Gifts can be </a:t>
            </a:r>
            <a:r>
              <a:rPr dirty="0" sz="1200" spc="-5">
                <a:latin typeface="Arial"/>
                <a:cs typeface="Arial"/>
              </a:rPr>
              <a:t>distributed </a:t>
            </a:r>
            <a:r>
              <a:rPr dirty="0" sz="1200">
                <a:latin typeface="Arial"/>
                <a:cs typeface="Arial"/>
              </a:rPr>
              <a:t>as </a:t>
            </a:r>
            <a:r>
              <a:rPr dirty="0" sz="1200" spc="-5">
                <a:latin typeface="Arial"/>
                <a:cs typeface="Arial"/>
              </a:rPr>
              <a:t>a mean of</a:t>
            </a:r>
            <a:r>
              <a:rPr dirty="0" sz="1200" spc="-40">
                <a:latin typeface="Arial"/>
                <a:cs typeface="Arial"/>
              </a:rPr>
              <a:t> </a:t>
            </a:r>
            <a:r>
              <a:rPr dirty="0" sz="1200" spc="-5">
                <a:latin typeface="Arial"/>
                <a:cs typeface="Arial"/>
              </a:rPr>
              <a:t>happiness.</a:t>
            </a:r>
            <a:endParaRPr sz="1200">
              <a:latin typeface="Arial"/>
              <a:cs typeface="Arial"/>
            </a:endParaRPr>
          </a:p>
          <a:p>
            <a:pPr marL="571500" indent="-229235">
              <a:lnSpc>
                <a:spcPts val="1410"/>
              </a:lnSpc>
              <a:buAutoNum type="arabicPeriod"/>
              <a:tabLst>
                <a:tab pos="572135" algn="l"/>
              </a:tabLst>
            </a:pPr>
            <a:r>
              <a:rPr dirty="0" sz="1200" spc="-5">
                <a:latin typeface="Arial"/>
                <a:cs typeface="Arial"/>
              </a:rPr>
              <a:t>Amusement </a:t>
            </a:r>
            <a:r>
              <a:rPr dirty="0" sz="1200">
                <a:latin typeface="Arial"/>
                <a:cs typeface="Arial"/>
              </a:rPr>
              <a:t>can be </a:t>
            </a:r>
            <a:r>
              <a:rPr dirty="0" sz="1200" spc="-5">
                <a:latin typeface="Arial"/>
                <a:cs typeface="Arial"/>
              </a:rPr>
              <a:t>conducted as long </a:t>
            </a:r>
            <a:r>
              <a:rPr dirty="0" sz="1200">
                <a:latin typeface="Arial"/>
                <a:cs typeface="Arial"/>
              </a:rPr>
              <a:t>as </a:t>
            </a:r>
            <a:r>
              <a:rPr dirty="0" sz="1200" spc="-5">
                <a:latin typeface="Arial"/>
                <a:cs typeface="Arial"/>
              </a:rPr>
              <a:t>there must </a:t>
            </a:r>
            <a:r>
              <a:rPr dirty="0" sz="1200" spc="-10">
                <a:latin typeface="Arial"/>
                <a:cs typeface="Arial"/>
              </a:rPr>
              <a:t>be </a:t>
            </a:r>
            <a:r>
              <a:rPr dirty="0" sz="1200" spc="-5">
                <a:latin typeface="Arial"/>
                <a:cs typeface="Arial"/>
              </a:rPr>
              <a:t>no </a:t>
            </a:r>
            <a:r>
              <a:rPr dirty="0" sz="1200">
                <a:latin typeface="Arial"/>
                <a:cs typeface="Arial"/>
              </a:rPr>
              <a:t>show</a:t>
            </a:r>
            <a:r>
              <a:rPr dirty="0" sz="1200" spc="-25">
                <a:latin typeface="Arial"/>
                <a:cs typeface="Arial"/>
              </a:rPr>
              <a:t> </a:t>
            </a:r>
            <a:r>
              <a:rPr dirty="0" sz="1200" spc="-5">
                <a:latin typeface="Arial"/>
                <a:cs typeface="Arial"/>
              </a:rPr>
              <a:t>off.</a:t>
            </a:r>
            <a:endParaRPr sz="1200">
              <a:latin typeface="Arial"/>
              <a:cs typeface="Arial"/>
            </a:endParaRPr>
          </a:p>
          <a:p>
            <a:pPr>
              <a:lnSpc>
                <a:spcPct val="100000"/>
              </a:lnSpc>
              <a:spcBef>
                <a:spcPts val="55"/>
              </a:spcBef>
            </a:pPr>
            <a:endParaRPr sz="1100">
              <a:latin typeface="Arial"/>
              <a:cs typeface="Arial"/>
            </a:endParaRPr>
          </a:p>
          <a:p>
            <a:pPr marL="114300">
              <a:lnSpc>
                <a:spcPct val="100000"/>
              </a:lnSpc>
            </a:pPr>
            <a:r>
              <a:rPr dirty="0" u="heavy" sz="1200" spc="-300">
                <a:uFill>
                  <a:solidFill>
                    <a:srgbClr val="000000"/>
                  </a:solidFill>
                </a:uFill>
                <a:latin typeface="Times New Roman"/>
                <a:cs typeface="Times New Roman"/>
              </a:rPr>
              <a:t> </a:t>
            </a:r>
            <a:r>
              <a:rPr dirty="0" u="heavy" sz="1200" spc="-50" b="1" i="1">
                <a:uFill>
                  <a:solidFill>
                    <a:srgbClr val="000000"/>
                  </a:solidFill>
                </a:uFill>
                <a:latin typeface="Arial"/>
                <a:cs typeface="Arial"/>
              </a:rPr>
              <a:t>„Id-ul</a:t>
            </a:r>
            <a:r>
              <a:rPr dirty="0" u="heavy" sz="1200" spc="-5" b="1" i="1">
                <a:uFill>
                  <a:solidFill>
                    <a:srgbClr val="000000"/>
                  </a:solidFill>
                </a:uFill>
                <a:latin typeface="Arial"/>
                <a:cs typeface="Arial"/>
              </a:rPr>
              <a:t> Adha</a:t>
            </a:r>
            <a:endParaRPr sz="1200">
              <a:latin typeface="Arial"/>
              <a:cs typeface="Arial"/>
            </a:endParaRPr>
          </a:p>
          <a:p>
            <a:pPr>
              <a:lnSpc>
                <a:spcPct val="100000"/>
              </a:lnSpc>
              <a:spcBef>
                <a:spcPts val="35"/>
              </a:spcBef>
            </a:pPr>
            <a:endParaRPr sz="1200">
              <a:latin typeface="Arial"/>
              <a:cs typeface="Arial"/>
            </a:endParaRPr>
          </a:p>
          <a:p>
            <a:pPr algn="just" marL="114300" marR="131445">
              <a:lnSpc>
                <a:spcPts val="1380"/>
              </a:lnSpc>
            </a:pPr>
            <a:r>
              <a:rPr dirty="0" sz="1200" spc="-140">
                <a:latin typeface="Arial"/>
                <a:cs typeface="Arial"/>
              </a:rPr>
              <a:t>‗Id </a:t>
            </a:r>
            <a:r>
              <a:rPr dirty="0" sz="1200" spc="-5">
                <a:latin typeface="Arial"/>
                <a:cs typeface="Arial"/>
              </a:rPr>
              <a:t>having </a:t>
            </a:r>
            <a:r>
              <a:rPr dirty="0" sz="1200">
                <a:latin typeface="Arial"/>
                <a:cs typeface="Arial"/>
              </a:rPr>
              <a:t>the </a:t>
            </a:r>
            <a:r>
              <a:rPr dirty="0" sz="1200" spc="-5">
                <a:latin typeface="Arial"/>
                <a:cs typeface="Arial"/>
              </a:rPr>
              <a:t>meaning </a:t>
            </a:r>
            <a:r>
              <a:rPr dirty="0" sz="1200">
                <a:latin typeface="Arial"/>
                <a:cs typeface="Arial"/>
              </a:rPr>
              <a:t>of </a:t>
            </a:r>
            <a:r>
              <a:rPr dirty="0" sz="1200" spc="-5">
                <a:latin typeface="Arial"/>
                <a:cs typeface="Arial"/>
              </a:rPr>
              <a:t>feast </a:t>
            </a:r>
            <a:r>
              <a:rPr dirty="0" sz="1200">
                <a:latin typeface="Arial"/>
                <a:cs typeface="Arial"/>
              </a:rPr>
              <a:t>and </a:t>
            </a:r>
            <a:r>
              <a:rPr dirty="0" sz="1200" spc="-5">
                <a:latin typeface="Arial"/>
                <a:cs typeface="Arial"/>
              </a:rPr>
              <a:t>Adha means slaughtering leads </a:t>
            </a:r>
            <a:r>
              <a:rPr dirty="0" sz="1200">
                <a:latin typeface="Arial"/>
                <a:cs typeface="Arial"/>
              </a:rPr>
              <a:t>to </a:t>
            </a:r>
            <a:r>
              <a:rPr dirty="0" sz="1200" spc="-5">
                <a:latin typeface="Arial"/>
                <a:cs typeface="Arial"/>
              </a:rPr>
              <a:t>the feast of the  slaughtering of </a:t>
            </a:r>
            <a:r>
              <a:rPr dirty="0" sz="1200">
                <a:latin typeface="Arial"/>
                <a:cs typeface="Arial"/>
              </a:rPr>
              <a:t>the </a:t>
            </a:r>
            <a:r>
              <a:rPr dirty="0" sz="1200" spc="-5">
                <a:latin typeface="Arial"/>
                <a:cs typeface="Arial"/>
              </a:rPr>
              <a:t>animal. </a:t>
            </a:r>
            <a:r>
              <a:rPr dirty="0" sz="1200">
                <a:latin typeface="Arial"/>
                <a:cs typeface="Arial"/>
              </a:rPr>
              <a:t>This </a:t>
            </a:r>
            <a:r>
              <a:rPr dirty="0" sz="1200" spc="-5">
                <a:latin typeface="Arial"/>
                <a:cs typeface="Arial"/>
              </a:rPr>
              <a:t>is </a:t>
            </a:r>
            <a:r>
              <a:rPr dirty="0" sz="1200" spc="-10">
                <a:latin typeface="Arial"/>
                <a:cs typeface="Arial"/>
              </a:rPr>
              <a:t>done </a:t>
            </a:r>
            <a:r>
              <a:rPr dirty="0" sz="1200" spc="-5">
                <a:latin typeface="Arial"/>
                <a:cs typeface="Arial"/>
              </a:rPr>
              <a:t>during </a:t>
            </a:r>
            <a:r>
              <a:rPr dirty="0" sz="1200">
                <a:latin typeface="Arial"/>
                <a:cs typeface="Arial"/>
              </a:rPr>
              <a:t>the </a:t>
            </a:r>
            <a:r>
              <a:rPr dirty="0" sz="1200" spc="-5">
                <a:latin typeface="Arial"/>
                <a:cs typeface="Arial"/>
              </a:rPr>
              <a:t>month of </a:t>
            </a:r>
            <a:r>
              <a:rPr dirty="0" sz="1200">
                <a:latin typeface="Arial"/>
                <a:cs typeface="Arial"/>
              </a:rPr>
              <a:t>Dhul </a:t>
            </a:r>
            <a:r>
              <a:rPr dirty="0" sz="1200" spc="-5">
                <a:latin typeface="Arial"/>
                <a:cs typeface="Arial"/>
              </a:rPr>
              <a:t>Hijja </a:t>
            </a:r>
            <a:r>
              <a:rPr dirty="0" sz="1200">
                <a:latin typeface="Arial"/>
                <a:cs typeface="Arial"/>
              </a:rPr>
              <a:t>for </a:t>
            </a:r>
            <a:r>
              <a:rPr dirty="0" sz="1200" spc="-5">
                <a:latin typeface="Arial"/>
                <a:cs typeface="Arial"/>
              </a:rPr>
              <a:t>the period of Hajj.  </a:t>
            </a:r>
            <a:r>
              <a:rPr dirty="0" sz="1200">
                <a:latin typeface="Arial"/>
                <a:cs typeface="Arial"/>
              </a:rPr>
              <a:t>It </a:t>
            </a:r>
            <a:r>
              <a:rPr dirty="0" sz="1200" spc="-5">
                <a:latin typeface="Arial"/>
                <a:cs typeface="Arial"/>
              </a:rPr>
              <a:t>is a </a:t>
            </a:r>
            <a:r>
              <a:rPr dirty="0" sz="1200" spc="-10">
                <a:latin typeface="Arial"/>
                <a:cs typeface="Arial"/>
              </a:rPr>
              <a:t>way </a:t>
            </a:r>
            <a:r>
              <a:rPr dirty="0" sz="1200">
                <a:latin typeface="Arial"/>
                <a:cs typeface="Arial"/>
              </a:rPr>
              <a:t>to </a:t>
            </a:r>
            <a:r>
              <a:rPr dirty="0" sz="1200" spc="-5">
                <a:latin typeface="Arial"/>
                <a:cs typeface="Arial"/>
              </a:rPr>
              <a:t>remember </a:t>
            </a:r>
            <a:r>
              <a:rPr dirty="0" sz="1200">
                <a:latin typeface="Arial"/>
                <a:cs typeface="Arial"/>
              </a:rPr>
              <a:t>the </a:t>
            </a:r>
            <a:r>
              <a:rPr dirty="0" sz="1200" spc="-5">
                <a:latin typeface="Arial"/>
                <a:cs typeface="Arial"/>
              </a:rPr>
              <a:t>history </a:t>
            </a:r>
            <a:r>
              <a:rPr dirty="0" sz="1200">
                <a:latin typeface="Arial"/>
                <a:cs typeface="Arial"/>
              </a:rPr>
              <a:t>of </a:t>
            </a:r>
            <a:r>
              <a:rPr dirty="0" sz="1200" spc="-5">
                <a:latin typeface="Arial"/>
                <a:cs typeface="Arial"/>
              </a:rPr>
              <a:t>Hazrat Ibrahim </a:t>
            </a:r>
            <a:r>
              <a:rPr dirty="0" sz="1200">
                <a:latin typeface="Arial"/>
                <a:cs typeface="Arial"/>
              </a:rPr>
              <a:t>(as) </a:t>
            </a:r>
            <a:r>
              <a:rPr dirty="0" sz="1200" spc="-5">
                <a:latin typeface="Arial"/>
                <a:cs typeface="Arial"/>
              </a:rPr>
              <a:t>and his </a:t>
            </a:r>
            <a:r>
              <a:rPr dirty="0" sz="1200" spc="-10">
                <a:latin typeface="Arial"/>
                <a:cs typeface="Arial"/>
              </a:rPr>
              <a:t>son </a:t>
            </a:r>
            <a:r>
              <a:rPr dirty="0" sz="1200" spc="-5">
                <a:latin typeface="Arial"/>
                <a:cs typeface="Arial"/>
              </a:rPr>
              <a:t>Hazrat Ismail </a:t>
            </a:r>
            <a:r>
              <a:rPr dirty="0" sz="1200">
                <a:latin typeface="Arial"/>
                <a:cs typeface="Arial"/>
              </a:rPr>
              <a:t>(as) </a:t>
            </a:r>
            <a:r>
              <a:rPr dirty="0" sz="1200" spc="-5">
                <a:latin typeface="Arial"/>
                <a:cs typeface="Arial"/>
              </a:rPr>
              <a:t>and  </a:t>
            </a:r>
            <a:r>
              <a:rPr dirty="0" sz="1200">
                <a:latin typeface="Arial"/>
                <a:cs typeface="Arial"/>
              </a:rPr>
              <a:t>the </a:t>
            </a:r>
            <a:r>
              <a:rPr dirty="0" sz="1200" spc="-5">
                <a:latin typeface="Arial"/>
                <a:cs typeface="Arial"/>
              </a:rPr>
              <a:t>event of the sacrifice. </a:t>
            </a:r>
            <a:r>
              <a:rPr dirty="0" sz="1200">
                <a:latin typeface="Arial"/>
                <a:cs typeface="Arial"/>
              </a:rPr>
              <a:t>This </a:t>
            </a:r>
            <a:r>
              <a:rPr dirty="0" sz="1200" spc="-10">
                <a:latin typeface="Arial"/>
                <a:cs typeface="Arial"/>
              </a:rPr>
              <a:t>was </a:t>
            </a:r>
            <a:r>
              <a:rPr dirty="0" sz="1200">
                <a:latin typeface="Arial"/>
                <a:cs typeface="Arial"/>
              </a:rPr>
              <a:t>accepted </a:t>
            </a:r>
            <a:r>
              <a:rPr dirty="0" sz="1200" spc="-5">
                <a:latin typeface="Arial"/>
                <a:cs typeface="Arial"/>
              </a:rPr>
              <a:t>and executed in </a:t>
            </a:r>
            <a:r>
              <a:rPr dirty="0" sz="1200">
                <a:latin typeface="Arial"/>
                <a:cs typeface="Arial"/>
              </a:rPr>
              <a:t>the </a:t>
            </a:r>
            <a:r>
              <a:rPr dirty="0" sz="1200" spc="-5">
                <a:latin typeface="Arial"/>
                <a:cs typeface="Arial"/>
              </a:rPr>
              <a:t>love </a:t>
            </a:r>
            <a:r>
              <a:rPr dirty="0" sz="1200">
                <a:latin typeface="Arial"/>
                <a:cs typeface="Arial"/>
              </a:rPr>
              <a:t>of </a:t>
            </a:r>
            <a:r>
              <a:rPr dirty="0" sz="1200" spc="-5">
                <a:latin typeface="Arial"/>
                <a:cs typeface="Arial"/>
              </a:rPr>
              <a:t>Allah. </a:t>
            </a:r>
            <a:r>
              <a:rPr dirty="0" sz="1200">
                <a:latin typeface="Arial"/>
                <a:cs typeface="Arial"/>
              </a:rPr>
              <a:t>It </a:t>
            </a:r>
            <a:r>
              <a:rPr dirty="0" sz="1200" spc="-5">
                <a:latin typeface="Arial"/>
                <a:cs typeface="Arial"/>
              </a:rPr>
              <a:t>is  conducted in the same way </a:t>
            </a:r>
            <a:r>
              <a:rPr dirty="0" sz="1200">
                <a:latin typeface="Arial"/>
                <a:cs typeface="Arial"/>
              </a:rPr>
              <a:t>as </a:t>
            </a:r>
            <a:r>
              <a:rPr dirty="0" sz="1200" spc="-65">
                <a:latin typeface="Arial"/>
                <a:cs typeface="Arial"/>
              </a:rPr>
              <a:t>‗Id-ul </a:t>
            </a:r>
            <a:r>
              <a:rPr dirty="0" sz="1200">
                <a:latin typeface="Arial"/>
                <a:cs typeface="Arial"/>
              </a:rPr>
              <a:t>Fitr </a:t>
            </a:r>
            <a:r>
              <a:rPr dirty="0" sz="1200" spc="-5">
                <a:latin typeface="Arial"/>
                <a:cs typeface="Arial"/>
              </a:rPr>
              <a:t>is done with </a:t>
            </a:r>
            <a:r>
              <a:rPr dirty="0" sz="1200">
                <a:latin typeface="Arial"/>
                <a:cs typeface="Arial"/>
              </a:rPr>
              <a:t>the </a:t>
            </a:r>
            <a:r>
              <a:rPr dirty="0" sz="1200" spc="-5">
                <a:latin typeface="Arial"/>
                <a:cs typeface="Arial"/>
              </a:rPr>
              <a:t>small difference that </a:t>
            </a:r>
            <a:r>
              <a:rPr dirty="0" sz="1200">
                <a:latin typeface="Arial"/>
                <a:cs typeface="Arial"/>
              </a:rPr>
              <a:t>after </a:t>
            </a:r>
            <a:r>
              <a:rPr dirty="0" sz="1200" spc="-10">
                <a:latin typeface="Arial"/>
                <a:cs typeface="Arial"/>
              </a:rPr>
              <a:t>the  </a:t>
            </a:r>
            <a:r>
              <a:rPr dirty="0" sz="1200" spc="-5">
                <a:latin typeface="Arial"/>
                <a:cs typeface="Arial"/>
              </a:rPr>
              <a:t>Swalaat-ul </a:t>
            </a:r>
            <a:r>
              <a:rPr dirty="0" sz="1200" spc="-70">
                <a:latin typeface="Arial"/>
                <a:cs typeface="Arial"/>
              </a:rPr>
              <a:t>‗id-ul </a:t>
            </a:r>
            <a:r>
              <a:rPr dirty="0" sz="1200" spc="-5">
                <a:latin typeface="Arial"/>
                <a:cs typeface="Arial"/>
              </a:rPr>
              <a:t>Adha, </a:t>
            </a:r>
            <a:r>
              <a:rPr dirty="0" sz="1200">
                <a:latin typeface="Arial"/>
                <a:cs typeface="Arial"/>
              </a:rPr>
              <a:t>there </a:t>
            </a:r>
            <a:r>
              <a:rPr dirty="0" sz="1200" spc="-5">
                <a:latin typeface="Arial"/>
                <a:cs typeface="Arial"/>
              </a:rPr>
              <a:t>is </a:t>
            </a:r>
            <a:r>
              <a:rPr dirty="0" sz="1200">
                <a:latin typeface="Arial"/>
                <a:cs typeface="Arial"/>
              </a:rPr>
              <a:t>the </a:t>
            </a:r>
            <a:r>
              <a:rPr dirty="0" sz="1200" spc="-5">
                <a:latin typeface="Arial"/>
                <a:cs typeface="Arial"/>
              </a:rPr>
              <a:t>slaughtering </a:t>
            </a:r>
            <a:r>
              <a:rPr dirty="0" sz="1200">
                <a:latin typeface="Arial"/>
                <a:cs typeface="Arial"/>
              </a:rPr>
              <a:t>of </a:t>
            </a:r>
            <a:r>
              <a:rPr dirty="0" sz="1200" spc="5">
                <a:latin typeface="Arial"/>
                <a:cs typeface="Arial"/>
              </a:rPr>
              <a:t>the </a:t>
            </a:r>
            <a:r>
              <a:rPr dirty="0" sz="1200" spc="-5">
                <a:latin typeface="Arial"/>
                <a:cs typeface="Arial"/>
              </a:rPr>
              <a:t>animal. </a:t>
            </a:r>
            <a:r>
              <a:rPr dirty="0" sz="1200">
                <a:latin typeface="Arial"/>
                <a:cs typeface="Arial"/>
              </a:rPr>
              <a:t>It must </a:t>
            </a:r>
            <a:r>
              <a:rPr dirty="0" sz="1200" spc="-5">
                <a:latin typeface="Arial"/>
                <a:cs typeface="Arial"/>
              </a:rPr>
              <a:t>not be done after  Swalaat-ul </a:t>
            </a:r>
            <a:r>
              <a:rPr dirty="0" sz="1200">
                <a:latin typeface="Arial"/>
                <a:cs typeface="Arial"/>
              </a:rPr>
              <a:t>Fajr </a:t>
            </a:r>
            <a:r>
              <a:rPr dirty="0" sz="1200" spc="-5">
                <a:latin typeface="Arial"/>
                <a:cs typeface="Arial"/>
              </a:rPr>
              <a:t>or before Swalaat-ul </a:t>
            </a:r>
            <a:r>
              <a:rPr dirty="0" sz="1200" spc="-105">
                <a:latin typeface="Arial"/>
                <a:cs typeface="Arial"/>
              </a:rPr>
              <a:t>‗id. </a:t>
            </a:r>
            <a:r>
              <a:rPr dirty="0" sz="1200">
                <a:latin typeface="Arial"/>
                <a:cs typeface="Arial"/>
              </a:rPr>
              <a:t>It </a:t>
            </a:r>
            <a:r>
              <a:rPr dirty="0" sz="1200" spc="-5">
                <a:latin typeface="Arial"/>
                <a:cs typeface="Arial"/>
              </a:rPr>
              <a:t>is against </a:t>
            </a:r>
            <a:r>
              <a:rPr dirty="0" sz="1200">
                <a:latin typeface="Arial"/>
                <a:cs typeface="Arial"/>
              </a:rPr>
              <a:t>the </a:t>
            </a:r>
            <a:r>
              <a:rPr dirty="0" sz="1200" spc="-5">
                <a:latin typeface="Arial"/>
                <a:cs typeface="Arial"/>
              </a:rPr>
              <a:t>prophet‘s (s.a.w) practice. </a:t>
            </a:r>
            <a:r>
              <a:rPr dirty="0" sz="1200">
                <a:latin typeface="Arial"/>
                <a:cs typeface="Arial"/>
              </a:rPr>
              <a:t>If a </a:t>
            </a:r>
            <a:r>
              <a:rPr dirty="0" sz="1200" spc="-5">
                <a:latin typeface="Arial"/>
                <a:cs typeface="Arial"/>
              </a:rPr>
              <a:t>person  can‘t</a:t>
            </a:r>
            <a:r>
              <a:rPr dirty="0" sz="1200" spc="25">
                <a:latin typeface="Arial"/>
                <a:cs typeface="Arial"/>
              </a:rPr>
              <a:t> </a:t>
            </a:r>
            <a:r>
              <a:rPr dirty="0" sz="1200" spc="-5">
                <a:latin typeface="Arial"/>
                <a:cs typeface="Arial"/>
              </a:rPr>
              <a:t>afford</a:t>
            </a:r>
            <a:r>
              <a:rPr dirty="0" sz="1200" spc="30">
                <a:latin typeface="Arial"/>
                <a:cs typeface="Arial"/>
              </a:rPr>
              <a:t> </a:t>
            </a:r>
            <a:r>
              <a:rPr dirty="0" sz="1200">
                <a:latin typeface="Arial"/>
                <a:cs typeface="Arial"/>
              </a:rPr>
              <a:t>a</a:t>
            </a:r>
            <a:r>
              <a:rPr dirty="0" sz="1200" spc="30">
                <a:latin typeface="Arial"/>
                <a:cs typeface="Arial"/>
              </a:rPr>
              <a:t> </a:t>
            </a:r>
            <a:r>
              <a:rPr dirty="0" sz="1200" spc="-5">
                <a:latin typeface="Arial"/>
                <a:cs typeface="Arial"/>
              </a:rPr>
              <a:t>whole</a:t>
            </a:r>
            <a:r>
              <a:rPr dirty="0" sz="1200" spc="25">
                <a:latin typeface="Arial"/>
                <a:cs typeface="Arial"/>
              </a:rPr>
              <a:t> </a:t>
            </a:r>
            <a:r>
              <a:rPr dirty="0" sz="1200" spc="-5">
                <a:latin typeface="Arial"/>
                <a:cs typeface="Arial"/>
              </a:rPr>
              <a:t>animal,</a:t>
            </a:r>
            <a:r>
              <a:rPr dirty="0" sz="1200" spc="30">
                <a:latin typeface="Arial"/>
                <a:cs typeface="Arial"/>
              </a:rPr>
              <a:t> </a:t>
            </a:r>
            <a:r>
              <a:rPr dirty="0" sz="1200" spc="-5">
                <a:latin typeface="Arial"/>
                <a:cs typeface="Arial"/>
              </a:rPr>
              <a:t>then</a:t>
            </a:r>
            <a:r>
              <a:rPr dirty="0" sz="1200" spc="30">
                <a:latin typeface="Arial"/>
                <a:cs typeface="Arial"/>
              </a:rPr>
              <a:t> </a:t>
            </a:r>
            <a:r>
              <a:rPr dirty="0" sz="1200" spc="-5">
                <a:latin typeface="Arial"/>
                <a:cs typeface="Arial"/>
              </a:rPr>
              <a:t>it</a:t>
            </a:r>
            <a:r>
              <a:rPr dirty="0" sz="1200" spc="30">
                <a:latin typeface="Arial"/>
                <a:cs typeface="Arial"/>
              </a:rPr>
              <a:t> </a:t>
            </a:r>
            <a:r>
              <a:rPr dirty="0" sz="1200" spc="-5">
                <a:latin typeface="Arial"/>
                <a:cs typeface="Arial"/>
              </a:rPr>
              <a:t>can</a:t>
            </a:r>
            <a:r>
              <a:rPr dirty="0" sz="1200" spc="25">
                <a:latin typeface="Arial"/>
                <a:cs typeface="Arial"/>
              </a:rPr>
              <a:t> </a:t>
            </a:r>
            <a:r>
              <a:rPr dirty="0" sz="1200" spc="-5">
                <a:latin typeface="Arial"/>
                <a:cs typeface="Arial"/>
              </a:rPr>
              <a:t>be</a:t>
            </a:r>
            <a:r>
              <a:rPr dirty="0" sz="1200" spc="30">
                <a:latin typeface="Arial"/>
                <a:cs typeface="Arial"/>
              </a:rPr>
              <a:t> </a:t>
            </a:r>
            <a:r>
              <a:rPr dirty="0" sz="1200" spc="-5">
                <a:latin typeface="Arial"/>
                <a:cs typeface="Arial"/>
              </a:rPr>
              <a:t>shared</a:t>
            </a:r>
            <a:r>
              <a:rPr dirty="0" sz="1200" spc="35">
                <a:latin typeface="Arial"/>
                <a:cs typeface="Arial"/>
              </a:rPr>
              <a:t> </a:t>
            </a:r>
            <a:r>
              <a:rPr dirty="0" sz="1200" spc="-5">
                <a:latin typeface="Arial"/>
                <a:cs typeface="Arial"/>
              </a:rPr>
              <a:t>into</a:t>
            </a:r>
            <a:r>
              <a:rPr dirty="0" sz="1200" spc="30">
                <a:latin typeface="Arial"/>
                <a:cs typeface="Arial"/>
              </a:rPr>
              <a:t> </a:t>
            </a:r>
            <a:r>
              <a:rPr dirty="0" sz="1200">
                <a:latin typeface="Arial"/>
                <a:cs typeface="Arial"/>
              </a:rPr>
              <a:t>a</a:t>
            </a:r>
            <a:r>
              <a:rPr dirty="0" sz="1200" spc="15">
                <a:latin typeface="Arial"/>
                <a:cs typeface="Arial"/>
              </a:rPr>
              <a:t> </a:t>
            </a:r>
            <a:r>
              <a:rPr dirty="0" sz="1200" spc="-5">
                <a:latin typeface="Arial"/>
                <a:cs typeface="Arial"/>
              </a:rPr>
              <a:t>maximum</a:t>
            </a:r>
            <a:r>
              <a:rPr dirty="0" sz="1200" spc="25">
                <a:latin typeface="Arial"/>
                <a:cs typeface="Arial"/>
              </a:rPr>
              <a:t> </a:t>
            </a:r>
            <a:r>
              <a:rPr dirty="0" sz="1200" spc="-5">
                <a:latin typeface="Arial"/>
                <a:cs typeface="Arial"/>
              </a:rPr>
              <a:t>number</a:t>
            </a:r>
            <a:r>
              <a:rPr dirty="0" sz="1200" spc="25">
                <a:latin typeface="Arial"/>
                <a:cs typeface="Arial"/>
              </a:rPr>
              <a:t> </a:t>
            </a:r>
            <a:r>
              <a:rPr dirty="0" sz="1200" spc="-5">
                <a:latin typeface="Arial"/>
                <a:cs typeface="Arial"/>
              </a:rPr>
              <a:t>of</a:t>
            </a:r>
            <a:r>
              <a:rPr dirty="0" sz="1200" spc="30">
                <a:latin typeface="Arial"/>
                <a:cs typeface="Arial"/>
              </a:rPr>
              <a:t> </a:t>
            </a:r>
            <a:r>
              <a:rPr dirty="0" sz="1200">
                <a:latin typeface="Arial"/>
                <a:cs typeface="Arial"/>
              </a:rPr>
              <a:t>7</a:t>
            </a:r>
            <a:r>
              <a:rPr dirty="0" sz="1200" spc="25">
                <a:latin typeface="Arial"/>
                <a:cs typeface="Arial"/>
              </a:rPr>
              <a:t> </a:t>
            </a:r>
            <a:r>
              <a:rPr dirty="0" sz="1200" spc="-5">
                <a:latin typeface="Arial"/>
                <a:cs typeface="Arial"/>
              </a:rPr>
              <a:t>persons.</a:t>
            </a:r>
            <a:r>
              <a:rPr dirty="0" sz="1200" spc="20">
                <a:latin typeface="Arial"/>
                <a:cs typeface="Arial"/>
              </a:rPr>
              <a:t> </a:t>
            </a:r>
            <a:r>
              <a:rPr dirty="0" sz="1200" spc="-5">
                <a:latin typeface="Arial"/>
                <a:cs typeface="Arial"/>
              </a:rPr>
              <a:t>The</a:t>
            </a:r>
            <a:endParaRPr sz="1200">
              <a:latin typeface="Arial"/>
              <a:cs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7585709"/>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8255">
              <a:lnSpc>
                <a:spcPts val="1380"/>
              </a:lnSpc>
            </a:pPr>
            <a:r>
              <a:rPr dirty="0" sz="1200" spc="-5">
                <a:latin typeface="Arial"/>
                <a:cs typeface="Arial"/>
              </a:rPr>
              <a:t>one share of the </a:t>
            </a:r>
            <a:r>
              <a:rPr dirty="0" sz="1200">
                <a:latin typeface="Arial"/>
                <a:cs typeface="Arial"/>
              </a:rPr>
              <a:t>meat </a:t>
            </a:r>
            <a:r>
              <a:rPr dirty="0" sz="1200" spc="-5">
                <a:latin typeface="Arial"/>
                <a:cs typeface="Arial"/>
              </a:rPr>
              <a:t>is then divided into 3 parts </a:t>
            </a:r>
            <a:r>
              <a:rPr dirty="0" sz="1200">
                <a:latin typeface="Arial"/>
                <a:cs typeface="Arial"/>
              </a:rPr>
              <a:t>- </a:t>
            </a:r>
            <a:r>
              <a:rPr dirty="0" sz="1200" spc="-5">
                <a:latin typeface="Arial"/>
                <a:cs typeface="Arial"/>
              </a:rPr>
              <a:t>One </a:t>
            </a:r>
            <a:r>
              <a:rPr dirty="0" sz="1200">
                <a:latin typeface="Arial"/>
                <a:cs typeface="Arial"/>
              </a:rPr>
              <a:t>for </a:t>
            </a:r>
            <a:r>
              <a:rPr dirty="0" sz="1200" spc="-5">
                <a:latin typeface="Arial"/>
                <a:cs typeface="Arial"/>
              </a:rPr>
              <a:t>the </a:t>
            </a:r>
            <a:r>
              <a:rPr dirty="0" sz="1200" spc="-10">
                <a:latin typeface="Arial"/>
                <a:cs typeface="Arial"/>
              </a:rPr>
              <a:t>relatives, </a:t>
            </a:r>
            <a:r>
              <a:rPr dirty="0" sz="1200" spc="-5">
                <a:latin typeface="Arial"/>
                <a:cs typeface="Arial"/>
              </a:rPr>
              <a:t>one </a:t>
            </a:r>
            <a:r>
              <a:rPr dirty="0" sz="1200" spc="5">
                <a:latin typeface="Arial"/>
                <a:cs typeface="Arial"/>
              </a:rPr>
              <a:t>for </a:t>
            </a:r>
            <a:r>
              <a:rPr dirty="0" sz="1200" spc="-5">
                <a:latin typeface="Arial"/>
                <a:cs typeface="Arial"/>
              </a:rPr>
              <a:t>the poor </a:t>
            </a:r>
            <a:r>
              <a:rPr dirty="0" sz="1200" spc="-10">
                <a:latin typeface="Arial"/>
                <a:cs typeface="Arial"/>
              </a:rPr>
              <a:t>and  </a:t>
            </a:r>
            <a:r>
              <a:rPr dirty="0" sz="1200" spc="-5">
                <a:latin typeface="Arial"/>
                <a:cs typeface="Arial"/>
              </a:rPr>
              <a:t>one </a:t>
            </a:r>
            <a:r>
              <a:rPr dirty="0" sz="1200">
                <a:latin typeface="Arial"/>
                <a:cs typeface="Arial"/>
              </a:rPr>
              <a:t>for</a:t>
            </a:r>
            <a:r>
              <a:rPr dirty="0" sz="1200" spc="-10">
                <a:latin typeface="Arial"/>
                <a:cs typeface="Arial"/>
              </a:rPr>
              <a:t> </a:t>
            </a:r>
            <a:r>
              <a:rPr dirty="0" sz="1200" spc="-5">
                <a:latin typeface="Arial"/>
                <a:cs typeface="Arial"/>
              </a:rPr>
              <a:t>oneself.</a:t>
            </a:r>
            <a:endParaRPr sz="1200">
              <a:latin typeface="Arial"/>
              <a:cs typeface="Arial"/>
            </a:endParaRPr>
          </a:p>
          <a:p>
            <a:pPr>
              <a:lnSpc>
                <a:spcPct val="100000"/>
              </a:lnSpc>
              <a:spcBef>
                <a:spcPts val="5"/>
              </a:spcBef>
            </a:pPr>
            <a:endParaRPr sz="1200">
              <a:latin typeface="Arial"/>
              <a:cs typeface="Arial"/>
            </a:endParaRPr>
          </a:p>
          <a:p>
            <a:pPr algn="just" marL="12700" marR="5080">
              <a:lnSpc>
                <a:spcPts val="1380"/>
              </a:lnSpc>
            </a:pPr>
            <a:r>
              <a:rPr dirty="0" sz="1200" spc="-5">
                <a:latin typeface="Arial"/>
                <a:cs typeface="Arial"/>
              </a:rPr>
              <a:t>The Swalaat-ul </a:t>
            </a:r>
            <a:r>
              <a:rPr dirty="0" sz="1200" spc="-70">
                <a:latin typeface="Arial"/>
                <a:cs typeface="Arial"/>
              </a:rPr>
              <a:t>‗id-ul </a:t>
            </a:r>
            <a:r>
              <a:rPr dirty="0" sz="1200" spc="-5">
                <a:latin typeface="Arial"/>
                <a:cs typeface="Arial"/>
              </a:rPr>
              <a:t>Adha is conducted as mentioned above. However, </a:t>
            </a:r>
            <a:r>
              <a:rPr dirty="0" sz="1200">
                <a:latin typeface="Arial"/>
                <a:cs typeface="Arial"/>
              </a:rPr>
              <a:t>the </a:t>
            </a:r>
            <a:r>
              <a:rPr dirty="0" sz="1200" spc="-5">
                <a:latin typeface="Arial"/>
                <a:cs typeface="Arial"/>
              </a:rPr>
              <a:t>khutbah will </a:t>
            </a:r>
            <a:r>
              <a:rPr dirty="0" sz="1200" spc="-10">
                <a:latin typeface="Arial"/>
                <a:cs typeface="Arial"/>
              </a:rPr>
              <a:t>be  </a:t>
            </a:r>
            <a:r>
              <a:rPr dirty="0" sz="1200" spc="-5">
                <a:latin typeface="Arial"/>
                <a:cs typeface="Arial"/>
              </a:rPr>
              <a:t>based </a:t>
            </a:r>
            <a:r>
              <a:rPr dirty="0" sz="1200">
                <a:latin typeface="Arial"/>
                <a:cs typeface="Arial"/>
              </a:rPr>
              <a:t>on </a:t>
            </a:r>
            <a:r>
              <a:rPr dirty="0" sz="1200" spc="-70">
                <a:latin typeface="Arial"/>
                <a:cs typeface="Arial"/>
              </a:rPr>
              <a:t>‗id-ul </a:t>
            </a:r>
            <a:r>
              <a:rPr dirty="0" sz="1200" spc="-5">
                <a:latin typeface="Arial"/>
                <a:cs typeface="Arial"/>
              </a:rPr>
              <a:t>Adha and the lessons from </a:t>
            </a:r>
            <a:r>
              <a:rPr dirty="0" sz="1200">
                <a:latin typeface="Arial"/>
                <a:cs typeface="Arial"/>
              </a:rPr>
              <a:t>the </a:t>
            </a:r>
            <a:r>
              <a:rPr dirty="0" sz="1200" spc="-5">
                <a:latin typeface="Arial"/>
                <a:cs typeface="Arial"/>
              </a:rPr>
              <a:t>sacrifice of Hazrat Ibrahim </a:t>
            </a:r>
            <a:r>
              <a:rPr dirty="0" sz="1200">
                <a:latin typeface="Arial"/>
                <a:cs typeface="Arial"/>
              </a:rPr>
              <a:t>(as) </a:t>
            </a:r>
            <a:r>
              <a:rPr dirty="0" sz="1200" spc="10">
                <a:latin typeface="Arial"/>
                <a:cs typeface="Arial"/>
              </a:rPr>
              <a:t>and </a:t>
            </a:r>
            <a:r>
              <a:rPr dirty="0" sz="1200" spc="-5">
                <a:latin typeface="Arial"/>
                <a:cs typeface="Arial"/>
              </a:rPr>
              <a:t>Hazrat  </a:t>
            </a:r>
            <a:r>
              <a:rPr dirty="0" sz="1200">
                <a:latin typeface="Arial"/>
                <a:cs typeface="Arial"/>
              </a:rPr>
              <a:t>Ismail</a:t>
            </a:r>
            <a:r>
              <a:rPr dirty="0" sz="1200" spc="-10">
                <a:latin typeface="Arial"/>
                <a:cs typeface="Arial"/>
              </a:rPr>
              <a:t> </a:t>
            </a:r>
            <a:r>
              <a:rPr dirty="0" sz="1200">
                <a:latin typeface="Arial"/>
                <a:cs typeface="Arial"/>
              </a:rPr>
              <a:t>(as).</a:t>
            </a:r>
            <a:endParaRPr sz="1200">
              <a:latin typeface="Arial"/>
              <a:cs typeface="Arial"/>
            </a:endParaRPr>
          </a:p>
          <a:p>
            <a:pPr>
              <a:lnSpc>
                <a:spcPct val="100000"/>
              </a:lnSpc>
              <a:spcBef>
                <a:spcPts val="15"/>
              </a:spcBef>
            </a:pPr>
            <a:endParaRPr sz="1100">
              <a:latin typeface="Arial"/>
              <a:cs typeface="Arial"/>
            </a:endParaRPr>
          </a:p>
          <a:p>
            <a:pPr marL="12700">
              <a:lnSpc>
                <a:spcPct val="100000"/>
              </a:lnSpc>
              <a:spcBef>
                <a:spcPts val="5"/>
              </a:spcBef>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Importance </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Significance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both </a:t>
            </a:r>
            <a:r>
              <a:rPr dirty="0" u="heavy" sz="1200" spc="-95" b="1" i="1">
                <a:uFill>
                  <a:solidFill>
                    <a:srgbClr val="000000"/>
                  </a:solidFill>
                </a:uFill>
                <a:latin typeface="Arial"/>
                <a:cs typeface="Arial"/>
              </a:rPr>
              <a:t>„Id </a:t>
            </a:r>
            <a:r>
              <a:rPr dirty="0" u="heavy" sz="1200" b="1" i="1">
                <a:uFill>
                  <a:solidFill>
                    <a:srgbClr val="000000"/>
                  </a:solidFill>
                </a:uFill>
                <a:latin typeface="Arial"/>
                <a:cs typeface="Arial"/>
              </a:rPr>
              <a:t>in</a:t>
            </a:r>
            <a:r>
              <a:rPr dirty="0" u="heavy" sz="1200" spc="-130" b="1" i="1">
                <a:uFill>
                  <a:solidFill>
                    <a:srgbClr val="000000"/>
                  </a:solidFill>
                </a:uFill>
                <a:latin typeface="Arial"/>
                <a:cs typeface="Arial"/>
              </a:rPr>
              <a:t> </a:t>
            </a:r>
            <a:r>
              <a:rPr dirty="0" u="heavy" sz="1200" b="1" i="1">
                <a:uFill>
                  <a:solidFill>
                    <a:srgbClr val="000000"/>
                  </a:solidFill>
                </a:uFill>
                <a:latin typeface="Arial"/>
                <a:cs typeface="Arial"/>
              </a:rPr>
              <a:t>Islam</a:t>
            </a:r>
            <a:endParaRPr sz="1200">
              <a:latin typeface="Arial"/>
              <a:cs typeface="Arial"/>
            </a:endParaRPr>
          </a:p>
          <a:p>
            <a:pPr>
              <a:lnSpc>
                <a:spcPct val="100000"/>
              </a:lnSpc>
              <a:spcBef>
                <a:spcPts val="50"/>
              </a:spcBef>
            </a:pPr>
            <a:endParaRPr sz="1100">
              <a:latin typeface="Arial"/>
              <a:cs typeface="Arial"/>
            </a:endParaRPr>
          </a:p>
          <a:p>
            <a:pPr marL="12700">
              <a:lnSpc>
                <a:spcPct val="100000"/>
              </a:lnSpc>
              <a:spcBef>
                <a:spcPts val="5"/>
              </a:spcBef>
            </a:pPr>
            <a:r>
              <a:rPr dirty="0" sz="1200" spc="-5">
                <a:latin typeface="Arial"/>
                <a:cs typeface="Arial"/>
              </a:rPr>
              <a:t>Accordingly, </a:t>
            </a:r>
            <a:r>
              <a:rPr dirty="0" sz="1200">
                <a:latin typeface="Arial"/>
                <a:cs typeface="Arial"/>
              </a:rPr>
              <a:t>it </a:t>
            </a:r>
            <a:r>
              <a:rPr dirty="0" sz="1200" spc="-5">
                <a:latin typeface="Arial"/>
                <a:cs typeface="Arial"/>
              </a:rPr>
              <a:t>is a remarkable achievement </a:t>
            </a:r>
            <a:r>
              <a:rPr dirty="0" sz="1200" spc="-10">
                <a:latin typeface="Arial"/>
                <a:cs typeface="Arial"/>
              </a:rPr>
              <a:t>in </a:t>
            </a:r>
            <a:r>
              <a:rPr dirty="0" sz="1200" spc="-5">
                <a:latin typeface="Arial"/>
                <a:cs typeface="Arial"/>
              </a:rPr>
              <a:t>the service of Allah </a:t>
            </a:r>
            <a:r>
              <a:rPr dirty="0" sz="1200">
                <a:latin typeface="Arial"/>
                <a:cs typeface="Arial"/>
              </a:rPr>
              <a:t>for </a:t>
            </a:r>
            <a:r>
              <a:rPr dirty="0" sz="1200" spc="-5">
                <a:latin typeface="Arial"/>
                <a:cs typeface="Arial"/>
              </a:rPr>
              <a:t>the Muslims as</a:t>
            </a:r>
            <a:r>
              <a:rPr dirty="0" sz="1200" spc="210">
                <a:latin typeface="Arial"/>
                <a:cs typeface="Arial"/>
              </a:rPr>
              <a:t> </a:t>
            </a:r>
            <a:r>
              <a:rPr dirty="0" sz="1200" spc="-5">
                <a:latin typeface="Arial"/>
                <a:cs typeface="Arial"/>
              </a:rPr>
              <a:t>follows:</a:t>
            </a:r>
            <a:endParaRPr sz="1200">
              <a:latin typeface="Arial"/>
              <a:cs typeface="Arial"/>
            </a:endParaRPr>
          </a:p>
          <a:p>
            <a:pPr>
              <a:lnSpc>
                <a:spcPct val="100000"/>
              </a:lnSpc>
              <a:spcBef>
                <a:spcPts val="35"/>
              </a:spcBef>
            </a:pPr>
            <a:endParaRPr sz="1200">
              <a:latin typeface="Arial"/>
              <a:cs typeface="Arial"/>
            </a:endParaRPr>
          </a:p>
          <a:p>
            <a:pPr marL="469900" marR="10795" indent="-228600">
              <a:lnSpc>
                <a:spcPts val="1380"/>
              </a:lnSpc>
              <a:buAutoNum type="arabicPeriod"/>
              <a:tabLst>
                <a:tab pos="470534" algn="l"/>
              </a:tabLst>
            </a:pPr>
            <a:r>
              <a:rPr dirty="0" sz="1200">
                <a:latin typeface="Arial"/>
                <a:cs typeface="Arial"/>
              </a:rPr>
              <a:t>It </a:t>
            </a:r>
            <a:r>
              <a:rPr dirty="0" sz="1200" spc="-5">
                <a:latin typeface="Arial"/>
                <a:cs typeface="Arial"/>
              </a:rPr>
              <a:t>is a Thanksgiving </a:t>
            </a:r>
            <a:r>
              <a:rPr dirty="0" sz="1200">
                <a:latin typeface="Arial"/>
                <a:cs typeface="Arial"/>
              </a:rPr>
              <a:t>Day – thanks to </a:t>
            </a:r>
            <a:r>
              <a:rPr dirty="0" sz="1200" spc="-5">
                <a:latin typeface="Arial"/>
                <a:cs typeface="Arial"/>
              </a:rPr>
              <a:t>Allah and human beings </a:t>
            </a:r>
            <a:r>
              <a:rPr dirty="0" sz="1200">
                <a:latin typeface="Arial"/>
                <a:cs typeface="Arial"/>
              </a:rPr>
              <a:t>for </a:t>
            </a:r>
            <a:r>
              <a:rPr dirty="0" sz="1200" spc="-5">
                <a:latin typeface="Arial"/>
                <a:cs typeface="Arial"/>
              </a:rPr>
              <a:t>favours and help </a:t>
            </a:r>
            <a:r>
              <a:rPr dirty="0" sz="1200" spc="-10">
                <a:latin typeface="Arial"/>
                <a:cs typeface="Arial"/>
              </a:rPr>
              <a:t>and  </a:t>
            </a:r>
            <a:r>
              <a:rPr dirty="0" sz="1200" spc="-5">
                <a:latin typeface="Arial"/>
                <a:cs typeface="Arial"/>
              </a:rPr>
              <a:t>everything.</a:t>
            </a:r>
            <a:endParaRPr sz="1200">
              <a:latin typeface="Arial"/>
              <a:cs typeface="Arial"/>
            </a:endParaRPr>
          </a:p>
          <a:p>
            <a:pPr marL="469900" marR="8255" indent="-228600">
              <a:lnSpc>
                <a:spcPts val="1380"/>
              </a:lnSpc>
              <a:buAutoNum type="arabicPeriod"/>
              <a:tabLst>
                <a:tab pos="470534" algn="l"/>
              </a:tabLst>
            </a:pPr>
            <a:r>
              <a:rPr dirty="0" sz="1200">
                <a:latin typeface="Arial"/>
                <a:cs typeface="Arial"/>
              </a:rPr>
              <a:t>It </a:t>
            </a:r>
            <a:r>
              <a:rPr dirty="0" sz="1200" spc="-5">
                <a:latin typeface="Arial"/>
                <a:cs typeface="Arial"/>
              </a:rPr>
              <a:t>is also a Day of Remembrance </a:t>
            </a:r>
            <a:r>
              <a:rPr dirty="0" sz="1200">
                <a:latin typeface="Arial"/>
                <a:cs typeface="Arial"/>
              </a:rPr>
              <a:t>– </a:t>
            </a:r>
            <a:r>
              <a:rPr dirty="0" sz="1200" spc="-10">
                <a:latin typeface="Arial"/>
                <a:cs typeface="Arial"/>
              </a:rPr>
              <a:t>we </a:t>
            </a:r>
            <a:r>
              <a:rPr dirty="0" sz="1200" spc="-5">
                <a:latin typeface="Arial"/>
                <a:cs typeface="Arial"/>
              </a:rPr>
              <a:t>must remember the favours of Allah and  Human beings.</a:t>
            </a:r>
            <a:endParaRPr sz="1200">
              <a:latin typeface="Arial"/>
              <a:cs typeface="Arial"/>
            </a:endParaRPr>
          </a:p>
          <a:p>
            <a:pPr marL="469900" indent="-229235">
              <a:lnSpc>
                <a:spcPts val="1315"/>
              </a:lnSpc>
              <a:buAutoNum type="arabicPeriod"/>
              <a:tabLst>
                <a:tab pos="470534" algn="l"/>
              </a:tabLst>
            </a:pPr>
            <a:r>
              <a:rPr dirty="0" sz="1200">
                <a:latin typeface="Arial"/>
                <a:cs typeface="Arial"/>
              </a:rPr>
              <a:t>It </a:t>
            </a:r>
            <a:r>
              <a:rPr dirty="0" sz="1200" spc="-5">
                <a:latin typeface="Arial"/>
                <a:cs typeface="Arial"/>
              </a:rPr>
              <a:t>is a Day of </a:t>
            </a:r>
            <a:r>
              <a:rPr dirty="0" sz="1200">
                <a:latin typeface="Arial"/>
                <a:cs typeface="Arial"/>
              </a:rPr>
              <a:t>Victory – </a:t>
            </a:r>
            <a:r>
              <a:rPr dirty="0" sz="1200" spc="-10">
                <a:latin typeface="Arial"/>
                <a:cs typeface="Arial"/>
              </a:rPr>
              <a:t>we </a:t>
            </a:r>
            <a:r>
              <a:rPr dirty="0" sz="1200" spc="-5">
                <a:latin typeface="Arial"/>
                <a:cs typeface="Arial"/>
              </a:rPr>
              <a:t>went against Shaitaan and ourselves </a:t>
            </a:r>
            <a:r>
              <a:rPr dirty="0" sz="1200">
                <a:latin typeface="Arial"/>
                <a:cs typeface="Arial"/>
              </a:rPr>
              <a:t>to </a:t>
            </a:r>
            <a:r>
              <a:rPr dirty="0" sz="1200" spc="-5">
                <a:latin typeface="Arial"/>
                <a:cs typeface="Arial"/>
              </a:rPr>
              <a:t>perform</a:t>
            </a:r>
            <a:r>
              <a:rPr dirty="0" sz="1200" spc="114">
                <a:latin typeface="Arial"/>
                <a:cs typeface="Arial"/>
              </a:rPr>
              <a:t> </a:t>
            </a:r>
            <a:r>
              <a:rPr dirty="0" sz="1200" spc="-5">
                <a:latin typeface="Arial"/>
                <a:cs typeface="Arial"/>
              </a:rPr>
              <a:t>Ibaadah.</a:t>
            </a:r>
            <a:endParaRPr sz="1200">
              <a:latin typeface="Arial"/>
              <a:cs typeface="Arial"/>
            </a:endParaRPr>
          </a:p>
          <a:p>
            <a:pPr marL="469900" marR="6350" indent="-228600">
              <a:lnSpc>
                <a:spcPts val="1380"/>
              </a:lnSpc>
              <a:spcBef>
                <a:spcPts val="65"/>
              </a:spcBef>
              <a:buAutoNum type="arabicPeriod"/>
              <a:tabLst>
                <a:tab pos="470534" algn="l"/>
              </a:tabLst>
            </a:pPr>
            <a:r>
              <a:rPr dirty="0" sz="1200">
                <a:latin typeface="Arial"/>
                <a:cs typeface="Arial"/>
              </a:rPr>
              <a:t>It </a:t>
            </a:r>
            <a:r>
              <a:rPr dirty="0" sz="1200" spc="-5">
                <a:latin typeface="Arial"/>
                <a:cs typeface="Arial"/>
              </a:rPr>
              <a:t>is a Harvest Day </a:t>
            </a:r>
            <a:r>
              <a:rPr dirty="0" sz="1200">
                <a:latin typeface="Arial"/>
                <a:cs typeface="Arial"/>
              </a:rPr>
              <a:t>– it </a:t>
            </a:r>
            <a:r>
              <a:rPr dirty="0" sz="1200" spc="-5">
                <a:latin typeface="Arial"/>
                <a:cs typeface="Arial"/>
              </a:rPr>
              <a:t>is </a:t>
            </a:r>
            <a:r>
              <a:rPr dirty="0" sz="1200">
                <a:latin typeface="Arial"/>
                <a:cs typeface="Arial"/>
              </a:rPr>
              <a:t>the </a:t>
            </a:r>
            <a:r>
              <a:rPr dirty="0" sz="1200" spc="-5">
                <a:latin typeface="Arial"/>
                <a:cs typeface="Arial"/>
              </a:rPr>
              <a:t>overall blessings from Allah </a:t>
            </a:r>
            <a:r>
              <a:rPr dirty="0" sz="1200" spc="5">
                <a:latin typeface="Arial"/>
                <a:cs typeface="Arial"/>
              </a:rPr>
              <a:t>for </a:t>
            </a:r>
            <a:r>
              <a:rPr dirty="0" sz="1200" spc="-5">
                <a:latin typeface="Arial"/>
                <a:cs typeface="Arial"/>
              </a:rPr>
              <a:t>the whole Ramadhan </a:t>
            </a:r>
            <a:r>
              <a:rPr dirty="0" sz="1200" spc="-10">
                <a:latin typeface="Arial"/>
                <a:cs typeface="Arial"/>
              </a:rPr>
              <a:t>and  </a:t>
            </a:r>
            <a:r>
              <a:rPr dirty="0" sz="1200" spc="-5">
                <a:latin typeface="Arial"/>
                <a:cs typeface="Arial"/>
              </a:rPr>
              <a:t>also </a:t>
            </a:r>
            <a:r>
              <a:rPr dirty="0" sz="1200">
                <a:latin typeface="Arial"/>
                <a:cs typeface="Arial"/>
              </a:rPr>
              <a:t>for </a:t>
            </a:r>
            <a:r>
              <a:rPr dirty="0" sz="1200" spc="-70">
                <a:latin typeface="Arial"/>
                <a:cs typeface="Arial"/>
              </a:rPr>
              <a:t>‗Id-ul</a:t>
            </a:r>
            <a:r>
              <a:rPr dirty="0" sz="1200" spc="-10">
                <a:latin typeface="Arial"/>
                <a:cs typeface="Arial"/>
              </a:rPr>
              <a:t> </a:t>
            </a:r>
            <a:r>
              <a:rPr dirty="0" sz="1200" spc="-5">
                <a:latin typeface="Arial"/>
                <a:cs typeface="Arial"/>
              </a:rPr>
              <a:t>Adha.</a:t>
            </a:r>
            <a:endParaRPr sz="1200">
              <a:latin typeface="Arial"/>
              <a:cs typeface="Arial"/>
            </a:endParaRPr>
          </a:p>
          <a:p>
            <a:pPr marL="469900" indent="-229235">
              <a:lnSpc>
                <a:spcPts val="1315"/>
              </a:lnSpc>
              <a:buAutoNum type="arabicPeriod"/>
              <a:tabLst>
                <a:tab pos="470534" algn="l"/>
              </a:tabLst>
            </a:pPr>
            <a:r>
              <a:rPr dirty="0" sz="1200">
                <a:latin typeface="Arial"/>
                <a:cs typeface="Arial"/>
              </a:rPr>
              <a:t>It </a:t>
            </a:r>
            <a:r>
              <a:rPr dirty="0" sz="1200" spc="-5">
                <a:latin typeface="Arial"/>
                <a:cs typeface="Arial"/>
              </a:rPr>
              <a:t>is a Day of Forgiveness </a:t>
            </a:r>
            <a:r>
              <a:rPr dirty="0" sz="1200">
                <a:latin typeface="Arial"/>
                <a:cs typeface="Arial"/>
              </a:rPr>
              <a:t>– </a:t>
            </a:r>
            <a:r>
              <a:rPr dirty="0" sz="1200" spc="-10">
                <a:latin typeface="Arial"/>
                <a:cs typeface="Arial"/>
              </a:rPr>
              <a:t>we </a:t>
            </a:r>
            <a:r>
              <a:rPr dirty="0" sz="1200">
                <a:latin typeface="Arial"/>
                <a:cs typeface="Arial"/>
              </a:rPr>
              <a:t>must </a:t>
            </a:r>
            <a:r>
              <a:rPr dirty="0" sz="1200" spc="-5">
                <a:latin typeface="Arial"/>
                <a:cs typeface="Arial"/>
              </a:rPr>
              <a:t>ask forgiveness </a:t>
            </a:r>
            <a:r>
              <a:rPr dirty="0" sz="1200">
                <a:latin typeface="Arial"/>
                <a:cs typeface="Arial"/>
              </a:rPr>
              <a:t>from </a:t>
            </a:r>
            <a:r>
              <a:rPr dirty="0" sz="1200" spc="-5">
                <a:latin typeface="Arial"/>
                <a:cs typeface="Arial"/>
              </a:rPr>
              <a:t>Allah and human</a:t>
            </a:r>
            <a:r>
              <a:rPr dirty="0" sz="1200" spc="70">
                <a:latin typeface="Arial"/>
                <a:cs typeface="Arial"/>
              </a:rPr>
              <a:t> </a:t>
            </a:r>
            <a:r>
              <a:rPr dirty="0" sz="1200" spc="-5">
                <a:latin typeface="Arial"/>
                <a:cs typeface="Arial"/>
              </a:rPr>
              <a:t>beings.</a:t>
            </a:r>
            <a:endParaRPr sz="1200">
              <a:latin typeface="Arial"/>
              <a:cs typeface="Arial"/>
            </a:endParaRPr>
          </a:p>
          <a:p>
            <a:pPr marL="469900" marR="5080" indent="-228600">
              <a:lnSpc>
                <a:spcPts val="1380"/>
              </a:lnSpc>
              <a:spcBef>
                <a:spcPts val="65"/>
              </a:spcBef>
              <a:buAutoNum type="arabicPeriod"/>
              <a:tabLst>
                <a:tab pos="470534" algn="l"/>
              </a:tabLst>
            </a:pPr>
            <a:r>
              <a:rPr dirty="0" sz="1200">
                <a:latin typeface="Arial"/>
                <a:cs typeface="Arial"/>
              </a:rPr>
              <a:t>It </a:t>
            </a:r>
            <a:r>
              <a:rPr dirty="0" sz="1200" spc="-5">
                <a:latin typeface="Arial"/>
                <a:cs typeface="Arial"/>
              </a:rPr>
              <a:t>is a Day of Peace </a:t>
            </a:r>
            <a:r>
              <a:rPr dirty="0" sz="1200">
                <a:latin typeface="Arial"/>
                <a:cs typeface="Arial"/>
              </a:rPr>
              <a:t>– there </a:t>
            </a:r>
            <a:r>
              <a:rPr dirty="0" sz="1200" spc="-5">
                <a:latin typeface="Arial"/>
                <a:cs typeface="Arial"/>
              </a:rPr>
              <a:t>is peace of mind among Muslims and </a:t>
            </a:r>
            <a:r>
              <a:rPr dirty="0" sz="1200">
                <a:latin typeface="Arial"/>
                <a:cs typeface="Arial"/>
              </a:rPr>
              <a:t>sending </a:t>
            </a:r>
            <a:r>
              <a:rPr dirty="0" sz="1200" spc="-5">
                <a:latin typeface="Arial"/>
                <a:cs typeface="Arial"/>
              </a:rPr>
              <a:t>of </a:t>
            </a:r>
            <a:r>
              <a:rPr dirty="0" sz="1200" spc="-10">
                <a:latin typeface="Arial"/>
                <a:cs typeface="Arial"/>
              </a:rPr>
              <a:t>peace  </a:t>
            </a:r>
            <a:r>
              <a:rPr dirty="0" sz="1200" spc="-5">
                <a:latin typeface="Arial"/>
                <a:cs typeface="Arial"/>
              </a:rPr>
              <a:t>from Allah in our</a:t>
            </a:r>
            <a:r>
              <a:rPr dirty="0" sz="1200" spc="10">
                <a:latin typeface="Arial"/>
                <a:cs typeface="Arial"/>
              </a:rPr>
              <a:t> </a:t>
            </a:r>
            <a:r>
              <a:rPr dirty="0" sz="1200" spc="-5">
                <a:latin typeface="Arial"/>
                <a:cs typeface="Arial"/>
              </a:rPr>
              <a:t>hearts.</a:t>
            </a:r>
            <a:endParaRPr sz="1200">
              <a:latin typeface="Arial"/>
              <a:cs typeface="Arial"/>
            </a:endParaRPr>
          </a:p>
          <a:p>
            <a:pPr marL="469900" marR="8890" indent="-228600">
              <a:lnSpc>
                <a:spcPts val="1380"/>
              </a:lnSpc>
              <a:buAutoNum type="arabicPeriod"/>
              <a:tabLst>
                <a:tab pos="470534" algn="l"/>
              </a:tabLst>
            </a:pPr>
            <a:r>
              <a:rPr dirty="0" sz="1200">
                <a:latin typeface="Arial"/>
                <a:cs typeface="Arial"/>
              </a:rPr>
              <a:t>It </a:t>
            </a:r>
            <a:r>
              <a:rPr dirty="0" sz="1200" spc="-5">
                <a:latin typeface="Arial"/>
                <a:cs typeface="Arial"/>
              </a:rPr>
              <a:t>is a Day </a:t>
            </a:r>
            <a:r>
              <a:rPr dirty="0" sz="1200">
                <a:latin typeface="Arial"/>
                <a:cs typeface="Arial"/>
              </a:rPr>
              <a:t>of </a:t>
            </a:r>
            <a:r>
              <a:rPr dirty="0" sz="1200" spc="-5">
                <a:latin typeface="Arial"/>
                <a:cs typeface="Arial"/>
              </a:rPr>
              <a:t>Reward </a:t>
            </a:r>
            <a:r>
              <a:rPr dirty="0" sz="1200">
                <a:latin typeface="Arial"/>
                <a:cs typeface="Arial"/>
              </a:rPr>
              <a:t>– </a:t>
            </a:r>
            <a:r>
              <a:rPr dirty="0" sz="1200" spc="-5">
                <a:latin typeface="Arial"/>
                <a:cs typeface="Arial"/>
              </a:rPr>
              <a:t>Allah </a:t>
            </a:r>
            <a:r>
              <a:rPr dirty="0" sz="1200" spc="-10">
                <a:latin typeface="Arial"/>
                <a:cs typeface="Arial"/>
              </a:rPr>
              <a:t>will </a:t>
            </a:r>
            <a:r>
              <a:rPr dirty="0" sz="1200" spc="-5">
                <a:latin typeface="Arial"/>
                <a:cs typeface="Arial"/>
              </a:rPr>
              <a:t>reward </a:t>
            </a:r>
            <a:r>
              <a:rPr dirty="0" sz="1200" spc="5">
                <a:latin typeface="Arial"/>
                <a:cs typeface="Arial"/>
              </a:rPr>
              <a:t>us </a:t>
            </a:r>
            <a:r>
              <a:rPr dirty="0" sz="1200">
                <a:latin typeface="Arial"/>
                <a:cs typeface="Arial"/>
              </a:rPr>
              <a:t>for </a:t>
            </a:r>
            <a:r>
              <a:rPr dirty="0" sz="1200" spc="-5">
                <a:latin typeface="Arial"/>
                <a:cs typeface="Arial"/>
              </a:rPr>
              <a:t>the efforts of </a:t>
            </a:r>
            <a:r>
              <a:rPr dirty="0" sz="1200" spc="-10">
                <a:latin typeface="Arial"/>
                <a:cs typeface="Arial"/>
              </a:rPr>
              <a:t>Ramadhan </a:t>
            </a:r>
            <a:r>
              <a:rPr dirty="0" sz="1200" spc="-5">
                <a:latin typeface="Arial"/>
                <a:cs typeface="Arial"/>
              </a:rPr>
              <a:t>and gifts  distributed among</a:t>
            </a:r>
            <a:r>
              <a:rPr dirty="0" sz="1200" spc="-10">
                <a:latin typeface="Arial"/>
                <a:cs typeface="Arial"/>
              </a:rPr>
              <a:t> </a:t>
            </a:r>
            <a:r>
              <a:rPr dirty="0" sz="1200">
                <a:latin typeface="Arial"/>
                <a:cs typeface="Arial"/>
              </a:rPr>
              <a:t>Muslims.</a:t>
            </a:r>
            <a:endParaRPr sz="1200">
              <a:latin typeface="Arial"/>
              <a:cs typeface="Arial"/>
            </a:endParaRPr>
          </a:p>
          <a:p>
            <a:pPr marL="469900" marR="9525" indent="-228600">
              <a:lnSpc>
                <a:spcPts val="1380"/>
              </a:lnSpc>
              <a:buAutoNum type="arabicPeriod"/>
              <a:tabLst>
                <a:tab pos="470534" algn="l"/>
              </a:tabLst>
            </a:pPr>
            <a:r>
              <a:rPr dirty="0" sz="1200" spc="-5">
                <a:latin typeface="Arial"/>
                <a:cs typeface="Arial"/>
              </a:rPr>
              <a:t>Swalaat-ul-Fajr in Jama‘ah in Mosque creates brotherhood and fraternity. Through </a:t>
            </a:r>
            <a:r>
              <a:rPr dirty="0" sz="1200">
                <a:latin typeface="Arial"/>
                <a:cs typeface="Arial"/>
              </a:rPr>
              <a:t>the  </a:t>
            </a:r>
            <a:r>
              <a:rPr dirty="0" sz="1200" spc="-5">
                <a:latin typeface="Arial"/>
                <a:cs typeface="Arial"/>
              </a:rPr>
              <a:t>Swalaat-ul-‘id </a:t>
            </a:r>
            <a:r>
              <a:rPr dirty="0" sz="1200">
                <a:latin typeface="Arial"/>
                <a:cs typeface="Arial"/>
              </a:rPr>
              <a:t>and </a:t>
            </a:r>
            <a:r>
              <a:rPr dirty="0" sz="1200" spc="-5">
                <a:latin typeface="Arial"/>
                <a:cs typeface="Arial"/>
              </a:rPr>
              <a:t>Khutbah lessons</a:t>
            </a:r>
            <a:r>
              <a:rPr dirty="0" sz="1200" spc="-25">
                <a:latin typeface="Arial"/>
                <a:cs typeface="Arial"/>
              </a:rPr>
              <a:t> </a:t>
            </a:r>
            <a:r>
              <a:rPr dirty="0" sz="1200" spc="-5">
                <a:latin typeface="Arial"/>
                <a:cs typeface="Arial"/>
              </a:rPr>
              <a:t>derived.</a:t>
            </a:r>
            <a:endParaRPr sz="1200">
              <a:latin typeface="Arial"/>
              <a:cs typeface="Arial"/>
            </a:endParaRPr>
          </a:p>
          <a:p>
            <a:pPr marL="469900" indent="-229235">
              <a:lnSpc>
                <a:spcPts val="1315"/>
              </a:lnSpc>
              <a:buAutoNum type="arabicPeriod"/>
              <a:tabLst>
                <a:tab pos="470534" algn="l"/>
              </a:tabLst>
            </a:pPr>
            <a:r>
              <a:rPr dirty="0" sz="1200">
                <a:latin typeface="Arial"/>
                <a:cs typeface="Arial"/>
              </a:rPr>
              <a:t>It </a:t>
            </a:r>
            <a:r>
              <a:rPr dirty="0" sz="1200" spc="-5">
                <a:latin typeface="Arial"/>
                <a:cs typeface="Arial"/>
              </a:rPr>
              <a:t>is the </a:t>
            </a:r>
            <a:r>
              <a:rPr dirty="0" sz="1200">
                <a:latin typeface="Arial"/>
                <a:cs typeface="Arial"/>
              </a:rPr>
              <a:t>feast </a:t>
            </a:r>
            <a:r>
              <a:rPr dirty="0" sz="1200" spc="-5">
                <a:latin typeface="Arial"/>
                <a:cs typeface="Arial"/>
              </a:rPr>
              <a:t>of the</a:t>
            </a:r>
            <a:r>
              <a:rPr dirty="0" sz="1200">
                <a:latin typeface="Arial"/>
                <a:cs typeface="Arial"/>
              </a:rPr>
              <a:t> </a:t>
            </a:r>
            <a:r>
              <a:rPr dirty="0" sz="1200" spc="-5">
                <a:latin typeface="Arial"/>
                <a:cs typeface="Arial"/>
              </a:rPr>
              <a:t>Muslims</a:t>
            </a:r>
            <a:endParaRPr sz="1200">
              <a:latin typeface="Arial"/>
              <a:cs typeface="Arial"/>
            </a:endParaRPr>
          </a:p>
          <a:p>
            <a:pPr marL="469900" indent="-229235">
              <a:lnSpc>
                <a:spcPts val="1410"/>
              </a:lnSpc>
              <a:buAutoNum type="arabicPeriod"/>
              <a:tabLst>
                <a:tab pos="470534" algn="l"/>
              </a:tabLst>
            </a:pPr>
            <a:r>
              <a:rPr dirty="0" sz="1200">
                <a:latin typeface="Arial"/>
                <a:cs typeface="Arial"/>
              </a:rPr>
              <a:t>It </a:t>
            </a:r>
            <a:r>
              <a:rPr dirty="0" sz="1200" spc="-5">
                <a:latin typeface="Arial"/>
                <a:cs typeface="Arial"/>
              </a:rPr>
              <a:t>is a mean to learn some lessons conducted by the</a:t>
            </a:r>
            <a:r>
              <a:rPr dirty="0" sz="1200" spc="20">
                <a:latin typeface="Arial"/>
                <a:cs typeface="Arial"/>
              </a:rPr>
              <a:t> </a:t>
            </a:r>
            <a:r>
              <a:rPr dirty="0" sz="1200" spc="-5">
                <a:latin typeface="Arial"/>
                <a:cs typeface="Arial"/>
              </a:rPr>
              <a:t>Imam</a:t>
            </a:r>
            <a:endParaRPr sz="1200">
              <a:latin typeface="Arial"/>
              <a:cs typeface="Arial"/>
            </a:endParaRPr>
          </a:p>
          <a:p>
            <a:pPr>
              <a:lnSpc>
                <a:spcPct val="100000"/>
              </a:lnSpc>
            </a:pPr>
            <a:endParaRPr sz="1300">
              <a:latin typeface="Arial"/>
              <a:cs typeface="Arial"/>
            </a:endParaRPr>
          </a:p>
          <a:p>
            <a:pPr>
              <a:lnSpc>
                <a:spcPct val="100000"/>
              </a:lnSpc>
            </a:pPr>
            <a:endParaRPr sz="105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a:lnSpc>
                <a:spcPct val="100000"/>
              </a:lnSpc>
            </a:pPr>
            <a:endParaRPr sz="1300">
              <a:latin typeface="Arial"/>
              <a:cs typeface="Arial"/>
            </a:endParaRPr>
          </a:p>
          <a:p>
            <a:pPr>
              <a:lnSpc>
                <a:spcPct val="100000"/>
              </a:lnSpc>
              <a:spcBef>
                <a:spcPts val="55"/>
              </a:spcBef>
            </a:pPr>
            <a:endParaRPr sz="1000">
              <a:latin typeface="Arial"/>
              <a:cs typeface="Arial"/>
            </a:endParaRPr>
          </a:p>
          <a:p>
            <a:pPr algn="ctr">
              <a:lnSpc>
                <a:spcPct val="10000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40"/>
              </a:spcBef>
            </a:pPr>
            <a:endParaRPr sz="1100">
              <a:latin typeface="Arial"/>
              <a:cs typeface="Arial"/>
            </a:endParaRPr>
          </a:p>
          <a:p>
            <a:pPr algn="just" marL="12700">
              <a:lnSpc>
                <a:spcPts val="1405"/>
              </a:lnSpc>
            </a:pPr>
            <a:r>
              <a:rPr dirty="0" sz="1200" spc="-5">
                <a:latin typeface="Arial"/>
                <a:cs typeface="Arial"/>
              </a:rPr>
              <a:t>8 (a) How </a:t>
            </a:r>
            <a:r>
              <a:rPr dirty="0" sz="1200">
                <a:latin typeface="Arial"/>
                <a:cs typeface="Arial"/>
              </a:rPr>
              <a:t>do </a:t>
            </a:r>
            <a:r>
              <a:rPr dirty="0" sz="1200" spc="-5">
                <a:latin typeface="Arial"/>
                <a:cs typeface="Arial"/>
              </a:rPr>
              <a:t>Muslims </a:t>
            </a:r>
            <a:r>
              <a:rPr dirty="0" sz="1200" spc="-10">
                <a:latin typeface="Arial"/>
                <a:cs typeface="Arial"/>
              </a:rPr>
              <a:t>in </a:t>
            </a:r>
            <a:r>
              <a:rPr dirty="0" sz="1200" spc="-5">
                <a:latin typeface="Arial"/>
                <a:cs typeface="Arial"/>
              </a:rPr>
              <a:t>your country celebrate </a:t>
            </a:r>
            <a:r>
              <a:rPr dirty="0" sz="1200" spc="-5" i="1">
                <a:latin typeface="Arial"/>
                <a:cs typeface="Arial"/>
              </a:rPr>
              <a:t>`Id al-Adha</a:t>
            </a:r>
            <a:r>
              <a:rPr dirty="0" sz="1200" spc="-5">
                <a:latin typeface="Arial"/>
                <a:cs typeface="Arial"/>
              </a:rPr>
              <a:t>?</a:t>
            </a:r>
            <a:r>
              <a:rPr dirty="0" sz="1200" spc="70">
                <a:latin typeface="Arial"/>
                <a:cs typeface="Arial"/>
              </a:rPr>
              <a:t> </a:t>
            </a:r>
            <a:r>
              <a:rPr dirty="0" sz="1200" spc="-5">
                <a:latin typeface="Arial"/>
                <a:cs typeface="Arial"/>
              </a:rPr>
              <a:t>[12]</a:t>
            </a:r>
            <a:endParaRPr sz="1200">
              <a:latin typeface="Arial"/>
              <a:cs typeface="Arial"/>
            </a:endParaRPr>
          </a:p>
          <a:p>
            <a:pPr marL="140970">
              <a:lnSpc>
                <a:spcPts val="1405"/>
              </a:lnSpc>
            </a:pPr>
            <a:r>
              <a:rPr dirty="0" sz="1200" spc="-5">
                <a:latin typeface="Arial"/>
                <a:cs typeface="Arial"/>
              </a:rPr>
              <a:t>(b) How </a:t>
            </a:r>
            <a:r>
              <a:rPr dirty="0" sz="1200">
                <a:latin typeface="Arial"/>
                <a:cs typeface="Arial"/>
              </a:rPr>
              <a:t>does </a:t>
            </a:r>
            <a:r>
              <a:rPr dirty="0" sz="1200" spc="-5">
                <a:latin typeface="Arial"/>
                <a:cs typeface="Arial"/>
              </a:rPr>
              <a:t>this differ </a:t>
            </a:r>
            <a:r>
              <a:rPr dirty="0" sz="1200">
                <a:latin typeface="Arial"/>
                <a:cs typeface="Arial"/>
              </a:rPr>
              <a:t>from the </a:t>
            </a:r>
            <a:r>
              <a:rPr dirty="0" sz="1200" spc="-10">
                <a:latin typeface="Arial"/>
                <a:cs typeface="Arial"/>
              </a:rPr>
              <a:t>way </a:t>
            </a:r>
            <a:r>
              <a:rPr dirty="0" sz="1200" spc="-5" i="1">
                <a:latin typeface="Arial"/>
                <a:cs typeface="Arial"/>
              </a:rPr>
              <a:t>`Id </a:t>
            </a:r>
            <a:r>
              <a:rPr dirty="0" sz="1200" i="1">
                <a:latin typeface="Arial"/>
                <a:cs typeface="Arial"/>
              </a:rPr>
              <a:t>al-Fitr </a:t>
            </a:r>
            <a:r>
              <a:rPr dirty="0" sz="1200" spc="-5">
                <a:latin typeface="Arial"/>
                <a:cs typeface="Arial"/>
              </a:rPr>
              <a:t>is celebrated? </a:t>
            </a:r>
            <a:r>
              <a:rPr dirty="0" sz="1200">
                <a:latin typeface="Arial"/>
                <a:cs typeface="Arial"/>
              </a:rPr>
              <a:t>[8]</a:t>
            </a:r>
            <a:r>
              <a:rPr dirty="0" sz="1200" spc="35">
                <a:latin typeface="Arial"/>
                <a:cs typeface="Arial"/>
              </a:rPr>
              <a:t> </a:t>
            </a:r>
            <a:r>
              <a:rPr dirty="0" sz="1200" spc="-10" b="1">
                <a:latin typeface="Arial"/>
                <a:cs typeface="Arial"/>
              </a:rPr>
              <a:t>(2005)</a:t>
            </a:r>
            <a:endParaRPr sz="1200">
              <a:latin typeface="Arial"/>
              <a:cs typeface="Arial"/>
            </a:endParaRPr>
          </a:p>
          <a:p>
            <a:pPr>
              <a:lnSpc>
                <a:spcPct val="100000"/>
              </a:lnSpc>
              <a:spcBef>
                <a:spcPts val="10"/>
              </a:spcBef>
            </a:pPr>
            <a:endParaRPr sz="1150">
              <a:latin typeface="Arial"/>
              <a:cs typeface="Arial"/>
            </a:endParaRPr>
          </a:p>
          <a:p>
            <a:pPr marL="140970" indent="-128905">
              <a:lnSpc>
                <a:spcPct val="100000"/>
              </a:lnSpc>
              <a:buAutoNum type="arabicPlain" startAt="7"/>
              <a:tabLst>
                <a:tab pos="141605" algn="l"/>
              </a:tabLst>
            </a:pPr>
            <a:r>
              <a:rPr dirty="0" sz="1200" spc="-5">
                <a:latin typeface="Arial"/>
                <a:cs typeface="Arial"/>
              </a:rPr>
              <a:t>Discuss the historical, </a:t>
            </a:r>
            <a:r>
              <a:rPr dirty="0" sz="1200">
                <a:latin typeface="Arial"/>
                <a:cs typeface="Arial"/>
              </a:rPr>
              <a:t>social </a:t>
            </a:r>
            <a:r>
              <a:rPr dirty="0" sz="1200" spc="-5">
                <a:latin typeface="Arial"/>
                <a:cs typeface="Arial"/>
              </a:rPr>
              <a:t>and religious significance of </a:t>
            </a:r>
            <a:r>
              <a:rPr dirty="0" sz="1200" spc="-140">
                <a:latin typeface="Arial"/>
                <a:cs typeface="Arial"/>
              </a:rPr>
              <a:t>‗Id </a:t>
            </a:r>
            <a:r>
              <a:rPr dirty="0" sz="1200">
                <a:latin typeface="Arial"/>
                <a:cs typeface="Arial"/>
              </a:rPr>
              <a:t>al-Adha. </a:t>
            </a:r>
            <a:r>
              <a:rPr dirty="0" sz="1200" spc="-5">
                <a:latin typeface="Arial"/>
                <a:cs typeface="Arial"/>
              </a:rPr>
              <a:t>[20]</a:t>
            </a:r>
            <a:r>
              <a:rPr dirty="0" sz="1200" spc="5">
                <a:latin typeface="Arial"/>
                <a:cs typeface="Arial"/>
              </a:rPr>
              <a:t> </a:t>
            </a:r>
            <a:r>
              <a:rPr dirty="0" sz="1200" spc="-5" b="1">
                <a:latin typeface="Arial"/>
                <a:cs typeface="Arial"/>
              </a:rPr>
              <a:t>(2007)</a:t>
            </a:r>
            <a:endParaRPr sz="1200">
              <a:latin typeface="Arial"/>
              <a:cs typeface="Arial"/>
            </a:endParaRPr>
          </a:p>
          <a:p>
            <a:pPr>
              <a:lnSpc>
                <a:spcPct val="100000"/>
              </a:lnSpc>
              <a:spcBef>
                <a:spcPts val="40"/>
              </a:spcBef>
              <a:buFont typeface="Arial"/>
              <a:buAutoNum type="arabicPlain" startAt="7"/>
            </a:pPr>
            <a:endParaRPr sz="1200">
              <a:latin typeface="Arial"/>
              <a:cs typeface="Arial"/>
            </a:endParaRPr>
          </a:p>
          <a:p>
            <a:pPr algn="just" marL="12700" marR="11430">
              <a:lnSpc>
                <a:spcPts val="1380"/>
              </a:lnSpc>
              <a:buAutoNum type="arabicPlain" startAt="7"/>
              <a:tabLst>
                <a:tab pos="146685" algn="l"/>
              </a:tabLst>
            </a:pPr>
            <a:r>
              <a:rPr dirty="0" sz="1200" spc="-5">
                <a:latin typeface="Arial"/>
                <a:cs typeface="Arial"/>
              </a:rPr>
              <a:t>How do </a:t>
            </a:r>
            <a:r>
              <a:rPr dirty="0" sz="1200">
                <a:latin typeface="Arial"/>
                <a:cs typeface="Arial"/>
              </a:rPr>
              <a:t>the </a:t>
            </a:r>
            <a:r>
              <a:rPr dirty="0" sz="1200" spc="-5">
                <a:latin typeface="Arial"/>
                <a:cs typeface="Arial"/>
              </a:rPr>
              <a:t>various </a:t>
            </a:r>
            <a:r>
              <a:rPr dirty="0" sz="1200">
                <a:latin typeface="Arial"/>
                <a:cs typeface="Arial"/>
              </a:rPr>
              <a:t>ceremonies </a:t>
            </a:r>
            <a:r>
              <a:rPr dirty="0" sz="1200" spc="-5">
                <a:latin typeface="Arial"/>
                <a:cs typeface="Arial"/>
              </a:rPr>
              <a:t>carried </a:t>
            </a:r>
            <a:r>
              <a:rPr dirty="0" sz="1200" spc="-10">
                <a:latin typeface="Arial"/>
                <a:cs typeface="Arial"/>
              </a:rPr>
              <a:t>out </a:t>
            </a:r>
            <a:r>
              <a:rPr dirty="0" sz="1200" spc="-5">
                <a:latin typeface="Arial"/>
                <a:cs typeface="Arial"/>
              </a:rPr>
              <a:t>each year in </a:t>
            </a:r>
            <a:r>
              <a:rPr dirty="0" sz="1200">
                <a:latin typeface="Arial"/>
                <a:cs typeface="Arial"/>
              </a:rPr>
              <a:t>the </a:t>
            </a:r>
            <a:r>
              <a:rPr dirty="0" sz="1200" spc="-5">
                <a:latin typeface="Arial"/>
                <a:cs typeface="Arial"/>
              </a:rPr>
              <a:t>Islamic </a:t>
            </a:r>
            <a:r>
              <a:rPr dirty="0" sz="1200" spc="-10">
                <a:latin typeface="Arial"/>
                <a:cs typeface="Arial"/>
              </a:rPr>
              <a:t>world </a:t>
            </a:r>
            <a:r>
              <a:rPr dirty="0" sz="1200">
                <a:latin typeface="Arial"/>
                <a:cs typeface="Arial"/>
              </a:rPr>
              <a:t>remind </a:t>
            </a:r>
            <a:r>
              <a:rPr dirty="0" sz="1200" spc="-5">
                <a:latin typeface="Arial"/>
                <a:cs typeface="Arial"/>
              </a:rPr>
              <a:t>Muslims  of the life and example of the prophet Abraham? [20]</a:t>
            </a:r>
            <a:r>
              <a:rPr dirty="0" sz="1200" spc="60">
                <a:latin typeface="Arial"/>
                <a:cs typeface="Arial"/>
              </a:rPr>
              <a:t> </a:t>
            </a:r>
            <a:r>
              <a:rPr dirty="0" sz="1200" spc="-5" b="1">
                <a:latin typeface="Arial"/>
                <a:cs typeface="Arial"/>
              </a:rPr>
              <a:t>(2010)</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87</a:t>
            </a:r>
            <a:endParaRPr sz="1200">
              <a:latin typeface="Times New Roman"/>
              <a:cs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5970905" cy="208279"/>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878128" y="827531"/>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Marriage </a:t>
            </a:r>
            <a:r>
              <a:rPr dirty="0" sz="1200" spc="-15" b="1">
                <a:latin typeface="Arial"/>
                <a:cs typeface="Arial"/>
              </a:rPr>
              <a:t>And</a:t>
            </a:r>
            <a:r>
              <a:rPr dirty="0" sz="1200" spc="15" b="1">
                <a:latin typeface="Arial"/>
                <a:cs typeface="Arial"/>
              </a:rPr>
              <a:t> </a:t>
            </a:r>
            <a:r>
              <a:rPr dirty="0" sz="1200" b="1">
                <a:latin typeface="Arial"/>
                <a:cs typeface="Arial"/>
              </a:rPr>
              <a:t>Funeral</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88</a:t>
            </a:r>
            <a:endParaRPr sz="1200">
              <a:latin typeface="Times New Roman"/>
              <a:cs typeface="Times New Roman"/>
            </a:endParaRPr>
          </a:p>
        </p:txBody>
      </p:sp>
      <p:sp>
        <p:nvSpPr>
          <p:cNvPr id="5" name="object 5"/>
          <p:cNvSpPr txBox="1"/>
          <p:nvPr/>
        </p:nvSpPr>
        <p:spPr>
          <a:xfrm>
            <a:off x="534416" y="1162557"/>
            <a:ext cx="6311265" cy="862203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35"/>
              </a:spcBef>
            </a:pPr>
            <a:endParaRPr sz="1200">
              <a:latin typeface="Arial"/>
              <a:cs typeface="Arial"/>
            </a:endParaRPr>
          </a:p>
          <a:p>
            <a:pPr algn="just" marL="12700" marR="6985">
              <a:lnSpc>
                <a:spcPts val="1380"/>
              </a:lnSpc>
            </a:pPr>
            <a:r>
              <a:rPr dirty="0" sz="1200" spc="-5">
                <a:latin typeface="Arial"/>
                <a:cs typeface="Arial"/>
              </a:rPr>
              <a:t>The </a:t>
            </a:r>
            <a:r>
              <a:rPr dirty="0" sz="1200" spc="-10">
                <a:latin typeface="Arial"/>
                <a:cs typeface="Arial"/>
              </a:rPr>
              <a:t>above </a:t>
            </a:r>
            <a:r>
              <a:rPr dirty="0" sz="1200" spc="-5">
                <a:latin typeface="Arial"/>
                <a:cs typeface="Arial"/>
              </a:rPr>
              <a:t>mentioned </a:t>
            </a:r>
            <a:r>
              <a:rPr dirty="0" sz="1200">
                <a:latin typeface="Arial"/>
                <a:cs typeface="Arial"/>
              </a:rPr>
              <a:t>topics </a:t>
            </a:r>
            <a:r>
              <a:rPr dirty="0" sz="1200" spc="-5">
                <a:latin typeface="Arial"/>
                <a:cs typeface="Arial"/>
              </a:rPr>
              <a:t>of birth, marriage and funeral are of great importance in a life of  a Muslim. All of them must be conducted in </a:t>
            </a:r>
            <a:r>
              <a:rPr dirty="0" sz="1200">
                <a:latin typeface="Arial"/>
                <a:cs typeface="Arial"/>
              </a:rPr>
              <a:t>the </a:t>
            </a:r>
            <a:r>
              <a:rPr dirty="0" sz="1200" spc="-5">
                <a:latin typeface="Arial"/>
                <a:cs typeface="Arial"/>
              </a:rPr>
              <a:t>Islamic way of life. </a:t>
            </a:r>
            <a:r>
              <a:rPr dirty="0" sz="1200">
                <a:latin typeface="Arial"/>
                <a:cs typeface="Arial"/>
              </a:rPr>
              <a:t>It </a:t>
            </a:r>
            <a:r>
              <a:rPr dirty="0" sz="1200" spc="-5">
                <a:latin typeface="Arial"/>
                <a:cs typeface="Arial"/>
              </a:rPr>
              <a:t>does occur that  unislamic concepts, especially European, western and Indian </a:t>
            </a:r>
            <a:r>
              <a:rPr dirty="0" sz="1200">
                <a:latin typeface="Arial"/>
                <a:cs typeface="Arial"/>
              </a:rPr>
              <a:t>cultures </a:t>
            </a:r>
            <a:r>
              <a:rPr dirty="0" sz="1200" spc="-5">
                <a:latin typeface="Arial"/>
                <a:cs typeface="Arial"/>
              </a:rPr>
              <a:t>made </a:t>
            </a:r>
            <a:r>
              <a:rPr dirty="0" sz="1200">
                <a:latin typeface="Arial"/>
                <a:cs typeface="Arial"/>
              </a:rPr>
              <a:t>their </a:t>
            </a:r>
            <a:r>
              <a:rPr dirty="0" sz="1200" spc="-10">
                <a:latin typeface="Arial"/>
                <a:cs typeface="Arial"/>
              </a:rPr>
              <a:t>way </a:t>
            </a:r>
            <a:r>
              <a:rPr dirty="0" sz="1200">
                <a:latin typeface="Arial"/>
                <a:cs typeface="Arial"/>
              </a:rPr>
              <a:t>to  </a:t>
            </a:r>
            <a:r>
              <a:rPr dirty="0" sz="1200" spc="-5">
                <a:latin typeface="Arial"/>
                <a:cs typeface="Arial"/>
              </a:rPr>
              <a:t>incorporate the </a:t>
            </a:r>
            <a:r>
              <a:rPr dirty="0" sz="1200" spc="-10">
                <a:latin typeface="Arial"/>
                <a:cs typeface="Arial"/>
              </a:rPr>
              <a:t>two </a:t>
            </a:r>
            <a:r>
              <a:rPr dirty="0" sz="1200" spc="-5">
                <a:latin typeface="Arial"/>
                <a:cs typeface="Arial"/>
              </a:rPr>
              <a:t>above</a:t>
            </a:r>
            <a:r>
              <a:rPr dirty="0" sz="1200" spc="20">
                <a:latin typeface="Arial"/>
                <a:cs typeface="Arial"/>
              </a:rPr>
              <a:t> </a:t>
            </a:r>
            <a:r>
              <a:rPr dirty="0" sz="1200" spc="-5">
                <a:latin typeface="Arial"/>
                <a:cs typeface="Arial"/>
              </a:rPr>
              <a:t>institutions.</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Marriage</a:t>
            </a:r>
            <a:endParaRPr sz="1200">
              <a:latin typeface="Arial"/>
              <a:cs typeface="Arial"/>
            </a:endParaRPr>
          </a:p>
          <a:p>
            <a:pPr>
              <a:lnSpc>
                <a:spcPct val="100000"/>
              </a:lnSpc>
              <a:spcBef>
                <a:spcPts val="55"/>
              </a:spcBef>
            </a:pPr>
            <a:endParaRPr sz="1150">
              <a:latin typeface="Arial"/>
              <a:cs typeface="Arial"/>
            </a:endParaRPr>
          </a:p>
          <a:p>
            <a:pPr algn="just" marL="12700" marR="5080">
              <a:lnSpc>
                <a:spcPct val="95900"/>
              </a:lnSpc>
            </a:pPr>
            <a:r>
              <a:rPr dirty="0" sz="1200">
                <a:latin typeface="Arial"/>
                <a:cs typeface="Arial"/>
              </a:rPr>
              <a:t>This </a:t>
            </a:r>
            <a:r>
              <a:rPr dirty="0" sz="1200" spc="-5">
                <a:latin typeface="Arial"/>
                <a:cs typeface="Arial"/>
              </a:rPr>
              <a:t>has been the Sunnah and principle of </a:t>
            </a:r>
            <a:r>
              <a:rPr dirty="0" sz="1200">
                <a:latin typeface="Arial"/>
                <a:cs typeface="Arial"/>
              </a:rPr>
              <a:t>all </a:t>
            </a:r>
            <a:r>
              <a:rPr dirty="0" sz="1200" spc="-5">
                <a:latin typeface="Arial"/>
                <a:cs typeface="Arial"/>
              </a:rPr>
              <a:t>prophets before the </a:t>
            </a:r>
            <a:r>
              <a:rPr dirty="0" sz="1200">
                <a:latin typeface="Arial"/>
                <a:cs typeface="Arial"/>
              </a:rPr>
              <a:t>coming </a:t>
            </a:r>
            <a:r>
              <a:rPr dirty="0" sz="1200" spc="-5">
                <a:latin typeface="Arial"/>
                <a:cs typeface="Arial"/>
              </a:rPr>
              <a:t>of the holy prophet  (s.a.w). </a:t>
            </a:r>
            <a:r>
              <a:rPr dirty="0" sz="1200">
                <a:latin typeface="Arial"/>
                <a:cs typeface="Arial"/>
              </a:rPr>
              <a:t>Their </a:t>
            </a:r>
            <a:r>
              <a:rPr dirty="0" sz="1200" spc="-5">
                <a:latin typeface="Arial"/>
                <a:cs typeface="Arial"/>
              </a:rPr>
              <a:t>rules were </a:t>
            </a:r>
            <a:r>
              <a:rPr dirty="0" sz="1200">
                <a:latin typeface="Arial"/>
                <a:cs typeface="Arial"/>
              </a:rPr>
              <a:t>different </a:t>
            </a:r>
            <a:r>
              <a:rPr dirty="0" sz="1200" spc="-5">
                <a:latin typeface="Arial"/>
                <a:cs typeface="Arial"/>
              </a:rPr>
              <a:t>to those of our rules </a:t>
            </a:r>
            <a:r>
              <a:rPr dirty="0" sz="1200">
                <a:latin typeface="Arial"/>
                <a:cs typeface="Arial"/>
              </a:rPr>
              <a:t>today </a:t>
            </a:r>
            <a:r>
              <a:rPr dirty="0" sz="1200" spc="-5">
                <a:latin typeface="Arial"/>
                <a:cs typeface="Arial"/>
              </a:rPr>
              <a:t>but the </a:t>
            </a:r>
            <a:r>
              <a:rPr dirty="0" sz="1200">
                <a:latin typeface="Arial"/>
                <a:cs typeface="Arial"/>
              </a:rPr>
              <a:t>main idea </a:t>
            </a:r>
            <a:r>
              <a:rPr dirty="0" sz="1200" spc="-10">
                <a:latin typeface="Arial"/>
                <a:cs typeface="Arial"/>
              </a:rPr>
              <a:t>was </a:t>
            </a:r>
            <a:r>
              <a:rPr dirty="0" sz="1200" spc="25">
                <a:latin typeface="Arial"/>
                <a:cs typeface="Arial"/>
              </a:rPr>
              <a:t>to </a:t>
            </a:r>
            <a:r>
              <a:rPr dirty="0" sz="1200" spc="-5">
                <a:latin typeface="Arial"/>
                <a:cs typeface="Arial"/>
              </a:rPr>
              <a:t>please  Allah. All Ibaadah </a:t>
            </a:r>
            <a:r>
              <a:rPr dirty="0" sz="1200" spc="-10">
                <a:latin typeface="Arial"/>
                <a:cs typeface="Arial"/>
              </a:rPr>
              <a:t>are </a:t>
            </a:r>
            <a:r>
              <a:rPr dirty="0" sz="1200">
                <a:latin typeface="Arial"/>
                <a:cs typeface="Arial"/>
              </a:rPr>
              <a:t>for that </a:t>
            </a:r>
            <a:r>
              <a:rPr dirty="0" sz="1200" spc="-10">
                <a:latin typeface="Arial"/>
                <a:cs typeface="Arial"/>
              </a:rPr>
              <a:t>cause. </a:t>
            </a:r>
            <a:r>
              <a:rPr dirty="0" sz="1200">
                <a:latin typeface="Arial"/>
                <a:cs typeface="Arial"/>
              </a:rPr>
              <a:t>It </a:t>
            </a:r>
            <a:r>
              <a:rPr dirty="0" sz="1200" spc="-5">
                <a:latin typeface="Arial"/>
                <a:cs typeface="Arial"/>
              </a:rPr>
              <a:t>is a </a:t>
            </a:r>
            <a:r>
              <a:rPr dirty="0" sz="1200" spc="-10">
                <a:latin typeface="Arial"/>
                <a:cs typeface="Arial"/>
              </a:rPr>
              <a:t>tie </a:t>
            </a:r>
            <a:r>
              <a:rPr dirty="0" sz="1200" spc="-5">
                <a:latin typeface="Arial"/>
                <a:cs typeface="Arial"/>
              </a:rPr>
              <a:t>between 2 persons, a man and a woman. </a:t>
            </a:r>
            <a:r>
              <a:rPr dirty="0" sz="1200">
                <a:latin typeface="Arial"/>
                <a:cs typeface="Arial"/>
              </a:rPr>
              <a:t>In  Islam, </a:t>
            </a:r>
            <a:r>
              <a:rPr dirty="0" sz="1200" spc="-5">
                <a:latin typeface="Arial"/>
                <a:cs typeface="Arial"/>
              </a:rPr>
              <a:t>celibacy is Haram and Nikah is the Sunnah of the Prophet (s.a.w). </a:t>
            </a:r>
            <a:r>
              <a:rPr dirty="0" sz="1200">
                <a:latin typeface="Arial"/>
                <a:cs typeface="Arial"/>
              </a:rPr>
              <a:t>It </a:t>
            </a:r>
            <a:r>
              <a:rPr dirty="0" sz="1200" spc="-5">
                <a:latin typeface="Arial"/>
                <a:cs typeface="Arial"/>
              </a:rPr>
              <a:t>is a Bond and  </a:t>
            </a:r>
            <a:r>
              <a:rPr dirty="0" sz="1200">
                <a:latin typeface="Arial"/>
                <a:cs typeface="Arial"/>
              </a:rPr>
              <a:t>contract </a:t>
            </a:r>
            <a:r>
              <a:rPr dirty="0" sz="1200" spc="-5">
                <a:latin typeface="Arial"/>
                <a:cs typeface="Arial"/>
              </a:rPr>
              <a:t>where terms and conditions of marriage can </a:t>
            </a:r>
            <a:r>
              <a:rPr dirty="0" sz="1200" spc="-10">
                <a:latin typeface="Arial"/>
                <a:cs typeface="Arial"/>
              </a:rPr>
              <a:t>be </a:t>
            </a:r>
            <a:r>
              <a:rPr dirty="0" sz="1200">
                <a:latin typeface="Arial"/>
                <a:cs typeface="Arial"/>
              </a:rPr>
              <a:t>stipulated. </a:t>
            </a:r>
            <a:r>
              <a:rPr dirty="0" sz="1200" spc="-5">
                <a:latin typeface="Arial"/>
                <a:cs typeface="Arial"/>
              </a:rPr>
              <a:t>Each partner </a:t>
            </a:r>
            <a:r>
              <a:rPr dirty="0" sz="1200">
                <a:latin typeface="Arial"/>
                <a:cs typeface="Arial"/>
              </a:rPr>
              <a:t>must </a:t>
            </a:r>
            <a:r>
              <a:rPr dirty="0" sz="1200" spc="-5">
                <a:latin typeface="Arial"/>
                <a:cs typeface="Arial"/>
              </a:rPr>
              <a:t>then  </a:t>
            </a:r>
            <a:r>
              <a:rPr dirty="0" sz="1200">
                <a:latin typeface="Arial"/>
                <a:cs typeface="Arial"/>
              </a:rPr>
              <a:t>obey and </a:t>
            </a:r>
            <a:r>
              <a:rPr dirty="0" sz="1200" spc="-5">
                <a:latin typeface="Arial"/>
                <a:cs typeface="Arial"/>
              </a:rPr>
              <a:t>adhere </a:t>
            </a:r>
            <a:r>
              <a:rPr dirty="0" sz="1200">
                <a:latin typeface="Arial"/>
                <a:cs typeface="Arial"/>
              </a:rPr>
              <a:t>by the terms </a:t>
            </a:r>
            <a:r>
              <a:rPr dirty="0" sz="1200" spc="-5">
                <a:latin typeface="Arial"/>
                <a:cs typeface="Arial"/>
              </a:rPr>
              <a:t>and conditions. Breaching of any </a:t>
            </a:r>
            <a:r>
              <a:rPr dirty="0" sz="1200">
                <a:latin typeface="Arial"/>
                <a:cs typeface="Arial"/>
              </a:rPr>
              <a:t>one </a:t>
            </a:r>
            <a:r>
              <a:rPr dirty="0" sz="1200" spc="-5">
                <a:latin typeface="Arial"/>
                <a:cs typeface="Arial"/>
              </a:rPr>
              <a:t>is against </a:t>
            </a:r>
            <a:r>
              <a:rPr dirty="0" sz="1200">
                <a:latin typeface="Arial"/>
                <a:cs typeface="Arial"/>
              </a:rPr>
              <a:t>the </a:t>
            </a:r>
            <a:r>
              <a:rPr dirty="0" sz="1200" spc="-5">
                <a:latin typeface="Arial"/>
                <a:cs typeface="Arial"/>
              </a:rPr>
              <a:t>Shari‘ah.  </a:t>
            </a:r>
            <a:r>
              <a:rPr dirty="0" sz="1200">
                <a:latin typeface="Arial"/>
                <a:cs typeface="Arial"/>
              </a:rPr>
              <a:t>It </a:t>
            </a:r>
            <a:r>
              <a:rPr dirty="0" sz="1200" spc="-5">
                <a:latin typeface="Arial"/>
                <a:cs typeface="Arial"/>
              </a:rPr>
              <a:t>is </a:t>
            </a:r>
            <a:r>
              <a:rPr dirty="0" sz="1200">
                <a:latin typeface="Arial"/>
                <a:cs typeface="Arial"/>
              </a:rPr>
              <a:t>the </a:t>
            </a:r>
            <a:r>
              <a:rPr dirty="0" sz="1200" spc="-5">
                <a:latin typeface="Arial"/>
                <a:cs typeface="Arial"/>
              </a:rPr>
              <a:t>beginning of marital relationship and rights </a:t>
            </a:r>
            <a:r>
              <a:rPr dirty="0" sz="1200">
                <a:latin typeface="Arial"/>
                <a:cs typeface="Arial"/>
              </a:rPr>
              <a:t>of </a:t>
            </a:r>
            <a:r>
              <a:rPr dirty="0" sz="1200" spc="-5">
                <a:latin typeface="Arial"/>
                <a:cs typeface="Arial"/>
              </a:rPr>
              <a:t>both parties and Shari‘ah </a:t>
            </a:r>
            <a:r>
              <a:rPr dirty="0" sz="1200">
                <a:latin typeface="Arial"/>
                <a:cs typeface="Arial"/>
              </a:rPr>
              <a:t>must </a:t>
            </a:r>
            <a:r>
              <a:rPr dirty="0" sz="1200" spc="-10">
                <a:latin typeface="Arial"/>
                <a:cs typeface="Arial"/>
              </a:rPr>
              <a:t>be  </a:t>
            </a:r>
            <a:r>
              <a:rPr dirty="0" sz="1200" spc="-5">
                <a:latin typeface="Arial"/>
                <a:cs typeface="Arial"/>
              </a:rPr>
              <a:t>observed and</a:t>
            </a:r>
            <a:r>
              <a:rPr dirty="0" sz="1200" spc="-10">
                <a:latin typeface="Arial"/>
                <a:cs typeface="Arial"/>
              </a:rPr>
              <a:t> </a:t>
            </a:r>
            <a:r>
              <a:rPr dirty="0" sz="1200" spc="-5">
                <a:latin typeface="Arial"/>
                <a:cs typeface="Arial"/>
              </a:rPr>
              <a:t>accepted.</a:t>
            </a:r>
            <a:endParaRPr sz="1200">
              <a:latin typeface="Arial"/>
              <a:cs typeface="Arial"/>
            </a:endParaRPr>
          </a:p>
          <a:p>
            <a:pPr>
              <a:lnSpc>
                <a:spcPct val="100000"/>
              </a:lnSpc>
              <a:spcBef>
                <a:spcPts val="35"/>
              </a:spcBef>
            </a:pPr>
            <a:endParaRPr sz="1200">
              <a:latin typeface="Arial"/>
              <a:cs typeface="Arial"/>
            </a:endParaRPr>
          </a:p>
          <a:p>
            <a:pPr algn="just" marL="12700" marR="6985">
              <a:lnSpc>
                <a:spcPts val="1380"/>
              </a:lnSpc>
            </a:pPr>
            <a:r>
              <a:rPr dirty="0" u="heavy" sz="1200" spc="-5" b="1" i="1">
                <a:uFill>
                  <a:solidFill>
                    <a:srgbClr val="000000"/>
                  </a:solidFill>
                </a:uFill>
                <a:latin typeface="Arial"/>
                <a:cs typeface="Arial"/>
              </a:rPr>
              <a:t>There are some Islamic rules and regulations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be set </a:t>
            </a:r>
            <a:r>
              <a:rPr dirty="0" u="heavy" sz="1200" b="1" i="1">
                <a:uFill>
                  <a:solidFill>
                    <a:srgbClr val="000000"/>
                  </a:solidFill>
                </a:uFill>
                <a:latin typeface="Arial"/>
                <a:cs typeface="Arial"/>
              </a:rPr>
              <a:t>up </a:t>
            </a:r>
            <a:r>
              <a:rPr dirty="0" u="heavy" sz="1200" spc="-5" b="1" i="1">
                <a:uFill>
                  <a:solidFill>
                    <a:srgbClr val="000000"/>
                  </a:solidFill>
                </a:uFill>
                <a:latin typeface="Arial"/>
                <a:cs typeface="Arial"/>
              </a:rPr>
              <a:t>for a </a:t>
            </a:r>
            <a:r>
              <a:rPr dirty="0" u="heavy" sz="1200" spc="5" b="1" i="1">
                <a:uFill>
                  <a:solidFill>
                    <a:srgbClr val="000000"/>
                  </a:solidFill>
                </a:uFill>
                <a:latin typeface="Arial"/>
                <a:cs typeface="Arial"/>
              </a:rPr>
              <a:t>Nikah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be accepted </a:t>
            </a:r>
            <a:r>
              <a:rPr dirty="0" sz="1200" spc="-5" b="1" i="1">
                <a:latin typeface="Arial"/>
                <a:cs typeface="Arial"/>
              </a:rPr>
              <a:t> </a:t>
            </a:r>
            <a:r>
              <a:rPr dirty="0" u="heavy" sz="1200" spc="-5" b="1" i="1">
                <a:uFill>
                  <a:solidFill>
                    <a:srgbClr val="000000"/>
                  </a:solidFill>
                </a:uFill>
                <a:latin typeface="Arial"/>
                <a:cs typeface="Arial"/>
              </a:rPr>
              <a:t>and validated.</a:t>
            </a:r>
            <a:endParaRPr sz="1200">
              <a:latin typeface="Arial"/>
              <a:cs typeface="Arial"/>
            </a:endParaRPr>
          </a:p>
          <a:p>
            <a:pPr>
              <a:lnSpc>
                <a:spcPct val="100000"/>
              </a:lnSpc>
              <a:spcBef>
                <a:spcPts val="20"/>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There </a:t>
            </a:r>
            <a:r>
              <a:rPr dirty="0" sz="1200">
                <a:latin typeface="Arial"/>
                <a:cs typeface="Arial"/>
              </a:rPr>
              <a:t>must </a:t>
            </a:r>
            <a:r>
              <a:rPr dirty="0" sz="1200" spc="-5">
                <a:latin typeface="Arial"/>
                <a:cs typeface="Arial"/>
              </a:rPr>
              <a:t>be </a:t>
            </a:r>
            <a:r>
              <a:rPr dirty="0" sz="1200">
                <a:latin typeface="Arial"/>
                <a:cs typeface="Arial"/>
              </a:rPr>
              <a:t>the </a:t>
            </a:r>
            <a:r>
              <a:rPr dirty="0" sz="1200" spc="-5">
                <a:latin typeface="Arial"/>
                <a:cs typeface="Arial"/>
              </a:rPr>
              <a:t>proposal and acceptance of both </a:t>
            </a:r>
            <a:r>
              <a:rPr dirty="0" sz="1200">
                <a:latin typeface="Arial"/>
                <a:cs typeface="Arial"/>
              </a:rPr>
              <a:t>the </a:t>
            </a:r>
            <a:r>
              <a:rPr dirty="0" sz="1200" spc="-5">
                <a:latin typeface="Arial"/>
                <a:cs typeface="Arial"/>
              </a:rPr>
              <a:t>man and the</a:t>
            </a:r>
            <a:r>
              <a:rPr dirty="0" sz="1200" spc="10">
                <a:latin typeface="Arial"/>
                <a:cs typeface="Arial"/>
              </a:rPr>
              <a:t> </a:t>
            </a:r>
            <a:r>
              <a:rPr dirty="0" sz="1200" spc="-5">
                <a:latin typeface="Arial"/>
                <a:cs typeface="Arial"/>
              </a:rPr>
              <a:t>woman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There </a:t>
            </a:r>
            <a:r>
              <a:rPr dirty="0" sz="1200">
                <a:latin typeface="Arial"/>
                <a:cs typeface="Arial"/>
              </a:rPr>
              <a:t>must </a:t>
            </a:r>
            <a:r>
              <a:rPr dirty="0" sz="1200" spc="-5">
                <a:latin typeface="Arial"/>
                <a:cs typeface="Arial"/>
              </a:rPr>
              <a:t>be </a:t>
            </a:r>
            <a:r>
              <a:rPr dirty="0" sz="1200" spc="-10">
                <a:latin typeface="Arial"/>
                <a:cs typeface="Arial"/>
              </a:rPr>
              <a:t>two </a:t>
            </a:r>
            <a:r>
              <a:rPr dirty="0" sz="1200" spc="-5">
                <a:latin typeface="Arial"/>
                <a:cs typeface="Arial"/>
              </a:rPr>
              <a:t>witnesses from both</a:t>
            </a:r>
            <a:r>
              <a:rPr dirty="0" sz="1200" spc="-10">
                <a:latin typeface="Arial"/>
                <a:cs typeface="Arial"/>
              </a:rPr>
              <a:t> </a:t>
            </a:r>
            <a:r>
              <a:rPr dirty="0" sz="1200" spc="-5">
                <a:latin typeface="Arial"/>
                <a:cs typeface="Arial"/>
              </a:rPr>
              <a:t>sides,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There </a:t>
            </a:r>
            <a:r>
              <a:rPr dirty="0" sz="1200">
                <a:latin typeface="Arial"/>
                <a:cs typeface="Arial"/>
              </a:rPr>
              <a:t>must </a:t>
            </a:r>
            <a:r>
              <a:rPr dirty="0" sz="1200" spc="-5">
                <a:latin typeface="Arial"/>
                <a:cs typeface="Arial"/>
              </a:rPr>
              <a:t>be </a:t>
            </a:r>
            <a:r>
              <a:rPr dirty="0" sz="1200">
                <a:latin typeface="Arial"/>
                <a:cs typeface="Arial"/>
              </a:rPr>
              <a:t>the </a:t>
            </a:r>
            <a:r>
              <a:rPr dirty="0" sz="1200" spc="-5">
                <a:latin typeface="Arial"/>
                <a:cs typeface="Arial"/>
              </a:rPr>
              <a:t>dowry in </a:t>
            </a:r>
            <a:r>
              <a:rPr dirty="0" sz="1200">
                <a:latin typeface="Arial"/>
                <a:cs typeface="Arial"/>
              </a:rPr>
              <a:t>form </a:t>
            </a:r>
            <a:r>
              <a:rPr dirty="0" sz="1200" spc="-5">
                <a:latin typeface="Arial"/>
                <a:cs typeface="Arial"/>
              </a:rPr>
              <a:t>of either money, wealth </a:t>
            </a:r>
            <a:r>
              <a:rPr dirty="0" sz="1200">
                <a:latin typeface="Arial"/>
                <a:cs typeface="Arial"/>
              </a:rPr>
              <a:t>or any </a:t>
            </a:r>
            <a:r>
              <a:rPr dirty="0" sz="1200" spc="-5">
                <a:latin typeface="Arial"/>
                <a:cs typeface="Arial"/>
              </a:rPr>
              <a:t>valuable</a:t>
            </a:r>
            <a:r>
              <a:rPr dirty="0" sz="1200" spc="15">
                <a:latin typeface="Arial"/>
                <a:cs typeface="Arial"/>
              </a:rPr>
              <a:t> </a:t>
            </a:r>
            <a:r>
              <a:rPr dirty="0" sz="1200" spc="-5">
                <a:latin typeface="Arial"/>
                <a:cs typeface="Arial"/>
              </a:rPr>
              <a:t>goods</a:t>
            </a:r>
            <a:endParaRPr sz="1200">
              <a:latin typeface="Arial"/>
              <a:cs typeface="Arial"/>
            </a:endParaRPr>
          </a:p>
          <a:p>
            <a:pPr marL="469900" marR="5080" indent="-229235">
              <a:lnSpc>
                <a:spcPts val="1380"/>
              </a:lnSpc>
              <a:spcBef>
                <a:spcPts val="70"/>
              </a:spcBef>
              <a:buAutoNum type="arabicPeriod"/>
              <a:tabLst>
                <a:tab pos="470534" algn="l"/>
              </a:tabLst>
            </a:pPr>
            <a:r>
              <a:rPr dirty="0" sz="1200" spc="-5">
                <a:latin typeface="Arial"/>
                <a:cs typeface="Arial"/>
              </a:rPr>
              <a:t>The khutbah delivered by </a:t>
            </a:r>
            <a:r>
              <a:rPr dirty="0" sz="1200">
                <a:latin typeface="Arial"/>
                <a:cs typeface="Arial"/>
              </a:rPr>
              <a:t>the </a:t>
            </a:r>
            <a:r>
              <a:rPr dirty="0" sz="1200" spc="-5">
                <a:latin typeface="Arial"/>
                <a:cs typeface="Arial"/>
              </a:rPr>
              <a:t>father of the </a:t>
            </a:r>
            <a:r>
              <a:rPr dirty="0" sz="1200" spc="-10">
                <a:latin typeface="Arial"/>
                <a:cs typeface="Arial"/>
              </a:rPr>
              <a:t>girl </a:t>
            </a:r>
            <a:r>
              <a:rPr dirty="0" sz="1200" spc="-5">
                <a:latin typeface="Arial"/>
                <a:cs typeface="Arial"/>
              </a:rPr>
              <a:t>or by </a:t>
            </a:r>
            <a:r>
              <a:rPr dirty="0" sz="1200">
                <a:latin typeface="Arial"/>
                <a:cs typeface="Arial"/>
              </a:rPr>
              <a:t>the Imam </a:t>
            </a:r>
            <a:r>
              <a:rPr dirty="0" sz="1200" spc="-5">
                <a:latin typeface="Arial"/>
                <a:cs typeface="Arial"/>
              </a:rPr>
              <a:t>and </a:t>
            </a:r>
            <a:r>
              <a:rPr dirty="0" sz="1200">
                <a:latin typeface="Arial"/>
                <a:cs typeface="Arial"/>
              </a:rPr>
              <a:t>the </a:t>
            </a:r>
            <a:r>
              <a:rPr dirty="0" sz="1200" spc="-5">
                <a:latin typeface="Arial"/>
                <a:cs typeface="Arial"/>
              </a:rPr>
              <a:t>approval of the  parents.</a:t>
            </a:r>
            <a:endParaRPr sz="1200">
              <a:latin typeface="Arial"/>
              <a:cs typeface="Arial"/>
            </a:endParaRPr>
          </a:p>
          <a:p>
            <a:pPr marL="469900" indent="-229235">
              <a:lnSpc>
                <a:spcPts val="1345"/>
              </a:lnSpc>
              <a:buAutoNum type="arabicPeriod"/>
              <a:tabLst>
                <a:tab pos="470534" algn="l"/>
              </a:tabLst>
            </a:pPr>
            <a:r>
              <a:rPr dirty="0" sz="1200" spc="-5">
                <a:latin typeface="Arial"/>
                <a:cs typeface="Arial"/>
              </a:rPr>
              <a:t>There </a:t>
            </a:r>
            <a:r>
              <a:rPr dirty="0" sz="1200">
                <a:latin typeface="Arial"/>
                <a:cs typeface="Arial"/>
              </a:rPr>
              <a:t>must </a:t>
            </a:r>
            <a:r>
              <a:rPr dirty="0" sz="1200" spc="-5">
                <a:latin typeface="Arial"/>
                <a:cs typeface="Arial"/>
              </a:rPr>
              <a:t>be </a:t>
            </a:r>
            <a:r>
              <a:rPr dirty="0" sz="1200">
                <a:latin typeface="Arial"/>
                <a:cs typeface="Arial"/>
              </a:rPr>
              <a:t>the</a:t>
            </a:r>
            <a:r>
              <a:rPr dirty="0" sz="1200" spc="-35">
                <a:latin typeface="Arial"/>
                <a:cs typeface="Arial"/>
              </a:rPr>
              <a:t> </a:t>
            </a:r>
            <a:r>
              <a:rPr dirty="0" sz="1200" spc="-5">
                <a:latin typeface="Arial"/>
                <a:cs typeface="Arial"/>
              </a:rPr>
              <a:t>Imam</a:t>
            </a:r>
            <a:endParaRPr sz="1200">
              <a:latin typeface="Arial"/>
              <a:cs typeface="Arial"/>
            </a:endParaRPr>
          </a:p>
          <a:p>
            <a:pPr>
              <a:lnSpc>
                <a:spcPct val="100000"/>
              </a:lnSpc>
              <a:spcBef>
                <a:spcPts val="50"/>
              </a:spcBef>
            </a:pPr>
            <a:endParaRPr sz="1100">
              <a:latin typeface="Arial"/>
              <a:cs typeface="Arial"/>
            </a:endParaRPr>
          </a:p>
          <a:p>
            <a:pPr marL="12700">
              <a:lnSpc>
                <a:spcPct val="100000"/>
              </a:lnSpc>
              <a:spcBef>
                <a:spcPts val="5"/>
              </a:spcBef>
            </a:pPr>
            <a:r>
              <a:rPr dirty="0" u="heavy" sz="1200" spc="-5" b="1" i="1">
                <a:uFill>
                  <a:solidFill>
                    <a:srgbClr val="000000"/>
                  </a:solidFill>
                </a:uFill>
                <a:latin typeface="Arial"/>
                <a:cs typeface="Arial"/>
              </a:rPr>
              <a:t>The Muslim Marriage </a:t>
            </a:r>
            <a:r>
              <a:rPr dirty="0" u="heavy" sz="1200" b="1" i="1">
                <a:uFill>
                  <a:solidFill>
                    <a:srgbClr val="000000"/>
                  </a:solidFill>
                </a:uFill>
                <a:latin typeface="Arial"/>
                <a:cs typeface="Arial"/>
              </a:rPr>
              <a:t>in</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Mauritius:</a:t>
            </a:r>
            <a:endParaRPr sz="1200">
              <a:latin typeface="Arial"/>
              <a:cs typeface="Arial"/>
            </a:endParaRPr>
          </a:p>
          <a:p>
            <a:pPr>
              <a:lnSpc>
                <a:spcPct val="100000"/>
              </a:lnSpc>
              <a:spcBef>
                <a:spcPts val="35"/>
              </a:spcBef>
            </a:pPr>
            <a:endParaRPr sz="1200">
              <a:latin typeface="Arial"/>
              <a:cs typeface="Arial"/>
            </a:endParaRPr>
          </a:p>
          <a:p>
            <a:pPr algn="just" marL="469900" marR="5715" indent="-229235">
              <a:lnSpc>
                <a:spcPts val="1380"/>
              </a:lnSpc>
              <a:buAutoNum type="arabicPeriod"/>
              <a:tabLst>
                <a:tab pos="470534" algn="l"/>
              </a:tabLst>
            </a:pPr>
            <a:r>
              <a:rPr dirty="0" sz="1200" spc="-5">
                <a:latin typeface="Arial"/>
                <a:cs typeface="Arial"/>
              </a:rPr>
              <a:t>Betrothal </a:t>
            </a:r>
            <a:r>
              <a:rPr dirty="0" sz="1200">
                <a:latin typeface="Arial"/>
                <a:cs typeface="Arial"/>
              </a:rPr>
              <a:t>– it </a:t>
            </a:r>
            <a:r>
              <a:rPr dirty="0" sz="1200" spc="-5">
                <a:latin typeface="Arial"/>
                <a:cs typeface="Arial"/>
              </a:rPr>
              <a:t>is only a </a:t>
            </a:r>
            <a:r>
              <a:rPr dirty="0" sz="1200" spc="-10">
                <a:latin typeface="Arial"/>
                <a:cs typeface="Arial"/>
              </a:rPr>
              <a:t>way </a:t>
            </a:r>
            <a:r>
              <a:rPr dirty="0" sz="1200">
                <a:latin typeface="Arial"/>
                <a:cs typeface="Arial"/>
              </a:rPr>
              <a:t>to </a:t>
            </a:r>
            <a:r>
              <a:rPr dirty="0" sz="1200" spc="-5">
                <a:latin typeface="Arial"/>
                <a:cs typeface="Arial"/>
              </a:rPr>
              <a:t>make people know of the intention of marriage. It is </a:t>
            </a:r>
            <a:r>
              <a:rPr dirty="0" sz="1200" spc="-15">
                <a:latin typeface="Arial"/>
                <a:cs typeface="Arial"/>
              </a:rPr>
              <a:t>an  </a:t>
            </a:r>
            <a:r>
              <a:rPr dirty="0" sz="1200" spc="-5">
                <a:latin typeface="Arial"/>
                <a:cs typeface="Arial"/>
              </a:rPr>
              <a:t>engagement contracted by </a:t>
            </a:r>
            <a:r>
              <a:rPr dirty="0" sz="1200">
                <a:latin typeface="Arial"/>
                <a:cs typeface="Arial"/>
              </a:rPr>
              <a:t>the </a:t>
            </a:r>
            <a:r>
              <a:rPr dirty="0" sz="1200" spc="-5">
                <a:latin typeface="Arial"/>
                <a:cs typeface="Arial"/>
              </a:rPr>
              <a:t>2 persons. There </a:t>
            </a:r>
            <a:r>
              <a:rPr dirty="0" sz="1200">
                <a:latin typeface="Arial"/>
                <a:cs typeface="Arial"/>
              </a:rPr>
              <a:t>must </a:t>
            </a:r>
            <a:r>
              <a:rPr dirty="0" sz="1200" spc="-5">
                <a:latin typeface="Arial"/>
                <a:cs typeface="Arial"/>
              </a:rPr>
              <a:t>not have singing, dancing,  </a:t>
            </a:r>
            <a:r>
              <a:rPr dirty="0" sz="1200">
                <a:latin typeface="Arial"/>
                <a:cs typeface="Arial"/>
              </a:rPr>
              <a:t>music, </a:t>
            </a:r>
            <a:r>
              <a:rPr dirty="0" sz="1200" spc="-5">
                <a:latin typeface="Arial"/>
                <a:cs typeface="Arial"/>
              </a:rPr>
              <a:t>alcoholic drink</a:t>
            </a:r>
            <a:r>
              <a:rPr dirty="0" sz="1200" spc="-20">
                <a:latin typeface="Arial"/>
                <a:cs typeface="Arial"/>
              </a:rPr>
              <a:t> </a:t>
            </a:r>
            <a:r>
              <a:rPr dirty="0" sz="1200">
                <a:latin typeface="Arial"/>
                <a:cs typeface="Arial"/>
              </a:rPr>
              <a:t>etc…</a:t>
            </a:r>
            <a:endParaRPr sz="1200">
              <a:latin typeface="Arial"/>
              <a:cs typeface="Arial"/>
            </a:endParaRPr>
          </a:p>
          <a:p>
            <a:pPr algn="just" marL="469900" marR="11430" indent="-229235">
              <a:lnSpc>
                <a:spcPts val="1380"/>
              </a:lnSpc>
              <a:buAutoNum type="arabicPeriod"/>
              <a:tabLst>
                <a:tab pos="470534" algn="l"/>
              </a:tabLst>
            </a:pPr>
            <a:r>
              <a:rPr dirty="0" sz="1200" spc="-5">
                <a:latin typeface="Arial"/>
                <a:cs typeface="Arial"/>
              </a:rPr>
              <a:t>Mawlood </a:t>
            </a:r>
            <a:r>
              <a:rPr dirty="0" sz="1200">
                <a:latin typeface="Arial"/>
                <a:cs typeface="Arial"/>
              </a:rPr>
              <a:t>– </a:t>
            </a:r>
            <a:r>
              <a:rPr dirty="0" sz="1200" spc="-5">
                <a:latin typeface="Arial"/>
                <a:cs typeface="Arial"/>
              </a:rPr>
              <a:t>it is </a:t>
            </a:r>
            <a:r>
              <a:rPr dirty="0" sz="1200">
                <a:latin typeface="Arial"/>
                <a:cs typeface="Arial"/>
              </a:rPr>
              <a:t>done to seek </a:t>
            </a:r>
            <a:r>
              <a:rPr dirty="0" sz="1200" spc="-5">
                <a:latin typeface="Arial"/>
                <a:cs typeface="Arial"/>
              </a:rPr>
              <a:t>the blessings of Allah and du‘a </a:t>
            </a:r>
            <a:r>
              <a:rPr dirty="0" sz="1200">
                <a:latin typeface="Arial"/>
                <a:cs typeface="Arial"/>
              </a:rPr>
              <a:t>for the future </a:t>
            </a:r>
            <a:r>
              <a:rPr dirty="0" sz="1200" spc="-5">
                <a:latin typeface="Arial"/>
                <a:cs typeface="Arial"/>
              </a:rPr>
              <a:t>couple.  There is the recitation of the Qur‘an and</a:t>
            </a:r>
            <a:r>
              <a:rPr dirty="0" sz="1200" spc="35">
                <a:latin typeface="Arial"/>
                <a:cs typeface="Arial"/>
              </a:rPr>
              <a:t> </a:t>
            </a:r>
            <a:r>
              <a:rPr dirty="0" sz="1200" spc="-5">
                <a:latin typeface="Arial"/>
                <a:cs typeface="Arial"/>
              </a:rPr>
              <a:t>du‘a.</a:t>
            </a:r>
            <a:endParaRPr sz="1200">
              <a:latin typeface="Arial"/>
              <a:cs typeface="Arial"/>
            </a:endParaRPr>
          </a:p>
          <a:p>
            <a:pPr algn="just" marL="469900" indent="-229235">
              <a:lnSpc>
                <a:spcPts val="1315"/>
              </a:lnSpc>
              <a:buAutoNum type="arabicPeriod"/>
              <a:tabLst>
                <a:tab pos="470534" algn="l"/>
              </a:tabLst>
            </a:pPr>
            <a:r>
              <a:rPr dirty="0" sz="1200" spc="-5">
                <a:latin typeface="Arial"/>
                <a:cs typeface="Arial"/>
              </a:rPr>
              <a:t>Mehendi</a:t>
            </a:r>
            <a:r>
              <a:rPr dirty="0" sz="1200" spc="250">
                <a:latin typeface="Arial"/>
                <a:cs typeface="Arial"/>
              </a:rPr>
              <a:t> </a:t>
            </a:r>
            <a:r>
              <a:rPr dirty="0" sz="1200">
                <a:latin typeface="Arial"/>
                <a:cs typeface="Arial"/>
              </a:rPr>
              <a:t>–</a:t>
            </a:r>
            <a:r>
              <a:rPr dirty="0" sz="1200" spc="250">
                <a:latin typeface="Arial"/>
                <a:cs typeface="Arial"/>
              </a:rPr>
              <a:t> </a:t>
            </a:r>
            <a:r>
              <a:rPr dirty="0" sz="1200">
                <a:latin typeface="Arial"/>
                <a:cs typeface="Arial"/>
              </a:rPr>
              <a:t>it</a:t>
            </a:r>
            <a:r>
              <a:rPr dirty="0" sz="1200" spc="245">
                <a:latin typeface="Arial"/>
                <a:cs typeface="Arial"/>
              </a:rPr>
              <a:t> </a:t>
            </a:r>
            <a:r>
              <a:rPr dirty="0" sz="1200" spc="-5">
                <a:latin typeface="Arial"/>
                <a:cs typeface="Arial"/>
              </a:rPr>
              <a:t>is</a:t>
            </a:r>
            <a:r>
              <a:rPr dirty="0" sz="1200" spc="245">
                <a:latin typeface="Arial"/>
                <a:cs typeface="Arial"/>
              </a:rPr>
              <a:t> </a:t>
            </a:r>
            <a:r>
              <a:rPr dirty="0" sz="1200" spc="-5">
                <a:latin typeface="Arial"/>
                <a:cs typeface="Arial"/>
              </a:rPr>
              <a:t>a</a:t>
            </a:r>
            <a:r>
              <a:rPr dirty="0" sz="1200" spc="250">
                <a:latin typeface="Arial"/>
                <a:cs typeface="Arial"/>
              </a:rPr>
              <a:t> </a:t>
            </a:r>
            <a:r>
              <a:rPr dirty="0" sz="1200">
                <a:latin typeface="Arial"/>
                <a:cs typeface="Arial"/>
              </a:rPr>
              <a:t>Indian</a:t>
            </a:r>
            <a:r>
              <a:rPr dirty="0" sz="1200" spc="250">
                <a:latin typeface="Arial"/>
                <a:cs typeface="Arial"/>
              </a:rPr>
              <a:t> </a:t>
            </a:r>
            <a:r>
              <a:rPr dirty="0" sz="1200" spc="-5">
                <a:latin typeface="Arial"/>
                <a:cs typeface="Arial"/>
              </a:rPr>
              <a:t>practice</a:t>
            </a:r>
            <a:r>
              <a:rPr dirty="0" sz="1200" spc="250">
                <a:latin typeface="Arial"/>
                <a:cs typeface="Arial"/>
              </a:rPr>
              <a:t> </a:t>
            </a:r>
            <a:r>
              <a:rPr dirty="0" sz="1200" spc="-5">
                <a:latin typeface="Arial"/>
                <a:cs typeface="Arial"/>
              </a:rPr>
              <a:t>where</a:t>
            </a:r>
            <a:r>
              <a:rPr dirty="0" sz="1200" spc="245">
                <a:latin typeface="Arial"/>
                <a:cs typeface="Arial"/>
              </a:rPr>
              <a:t> </a:t>
            </a:r>
            <a:r>
              <a:rPr dirty="0" sz="1200" spc="-5">
                <a:latin typeface="Arial"/>
                <a:cs typeface="Arial"/>
              </a:rPr>
              <a:t>there</a:t>
            </a:r>
            <a:r>
              <a:rPr dirty="0" sz="1200" spc="245">
                <a:latin typeface="Arial"/>
                <a:cs typeface="Arial"/>
              </a:rPr>
              <a:t> </a:t>
            </a:r>
            <a:r>
              <a:rPr dirty="0" sz="1200" spc="-5">
                <a:latin typeface="Arial"/>
                <a:cs typeface="Arial"/>
              </a:rPr>
              <a:t>is</a:t>
            </a:r>
            <a:r>
              <a:rPr dirty="0" sz="1200" spc="245">
                <a:latin typeface="Arial"/>
                <a:cs typeface="Arial"/>
              </a:rPr>
              <a:t> </a:t>
            </a:r>
            <a:r>
              <a:rPr dirty="0" sz="1200">
                <a:latin typeface="Arial"/>
                <a:cs typeface="Arial"/>
              </a:rPr>
              <a:t>the</a:t>
            </a:r>
            <a:r>
              <a:rPr dirty="0" sz="1200" spc="250">
                <a:latin typeface="Arial"/>
                <a:cs typeface="Arial"/>
              </a:rPr>
              <a:t> </a:t>
            </a:r>
            <a:r>
              <a:rPr dirty="0" sz="1200" spc="-5">
                <a:latin typeface="Arial"/>
                <a:cs typeface="Arial"/>
              </a:rPr>
              <a:t>application</a:t>
            </a:r>
            <a:r>
              <a:rPr dirty="0" sz="1200" spc="235">
                <a:latin typeface="Arial"/>
                <a:cs typeface="Arial"/>
              </a:rPr>
              <a:t> </a:t>
            </a:r>
            <a:r>
              <a:rPr dirty="0" sz="1200" spc="-5">
                <a:latin typeface="Arial"/>
                <a:cs typeface="Arial"/>
              </a:rPr>
              <a:t>of</a:t>
            </a:r>
            <a:r>
              <a:rPr dirty="0" sz="1200" spc="260">
                <a:latin typeface="Arial"/>
                <a:cs typeface="Arial"/>
              </a:rPr>
              <a:t> </a:t>
            </a:r>
            <a:r>
              <a:rPr dirty="0" sz="1200" spc="-5">
                <a:latin typeface="Arial"/>
                <a:cs typeface="Arial"/>
              </a:rPr>
              <a:t>henna</a:t>
            </a:r>
            <a:r>
              <a:rPr dirty="0" sz="1200" spc="250">
                <a:latin typeface="Arial"/>
                <a:cs typeface="Arial"/>
              </a:rPr>
              <a:t> </a:t>
            </a:r>
            <a:r>
              <a:rPr dirty="0" sz="1200" spc="-5">
                <a:latin typeface="Arial"/>
                <a:cs typeface="Arial"/>
              </a:rPr>
              <a:t>and</a:t>
            </a:r>
            <a:r>
              <a:rPr dirty="0" sz="1200" spc="250">
                <a:latin typeface="Arial"/>
                <a:cs typeface="Arial"/>
              </a:rPr>
              <a:t> </a:t>
            </a:r>
            <a:r>
              <a:rPr dirty="0" sz="1200" spc="-5">
                <a:latin typeface="Arial"/>
                <a:cs typeface="Arial"/>
              </a:rPr>
              <a:t>the</a:t>
            </a:r>
            <a:endParaRPr sz="1200">
              <a:latin typeface="Arial"/>
              <a:cs typeface="Arial"/>
            </a:endParaRPr>
          </a:p>
          <a:p>
            <a:pPr algn="just" marL="469900" marR="13335">
              <a:lnSpc>
                <a:spcPts val="1380"/>
              </a:lnSpc>
              <a:spcBef>
                <a:spcPts val="65"/>
              </a:spcBef>
            </a:pPr>
            <a:r>
              <a:rPr dirty="0" sz="1200" spc="-5">
                <a:latin typeface="Arial"/>
                <a:cs typeface="Arial"/>
              </a:rPr>
              <a:t>sharing of marriage gifts in between </a:t>
            </a:r>
            <a:r>
              <a:rPr dirty="0" sz="1200">
                <a:latin typeface="Arial"/>
                <a:cs typeface="Arial"/>
              </a:rPr>
              <a:t>the </a:t>
            </a:r>
            <a:r>
              <a:rPr dirty="0" sz="1200" spc="-5">
                <a:latin typeface="Arial"/>
                <a:cs typeface="Arial"/>
              </a:rPr>
              <a:t>boy and </a:t>
            </a:r>
            <a:r>
              <a:rPr dirty="0" sz="1200">
                <a:latin typeface="Arial"/>
                <a:cs typeface="Arial"/>
              </a:rPr>
              <a:t>the </a:t>
            </a:r>
            <a:r>
              <a:rPr dirty="0" sz="1200" spc="-5">
                <a:latin typeface="Arial"/>
                <a:cs typeface="Arial"/>
              </a:rPr>
              <a:t>girl. There must not </a:t>
            </a:r>
            <a:r>
              <a:rPr dirty="0" sz="1200" spc="-10">
                <a:latin typeface="Arial"/>
                <a:cs typeface="Arial"/>
              </a:rPr>
              <a:t>be </a:t>
            </a:r>
            <a:r>
              <a:rPr dirty="0" sz="1200" spc="-5">
                <a:latin typeface="Arial"/>
                <a:cs typeface="Arial"/>
              </a:rPr>
              <a:t>show off  and</a:t>
            </a:r>
            <a:r>
              <a:rPr dirty="0" sz="1200" spc="-15">
                <a:latin typeface="Arial"/>
                <a:cs typeface="Arial"/>
              </a:rPr>
              <a:t> </a:t>
            </a:r>
            <a:r>
              <a:rPr dirty="0" sz="1200">
                <a:latin typeface="Arial"/>
                <a:cs typeface="Arial"/>
              </a:rPr>
              <a:t>music.</a:t>
            </a:r>
            <a:endParaRPr sz="1200">
              <a:latin typeface="Arial"/>
              <a:cs typeface="Arial"/>
            </a:endParaRPr>
          </a:p>
          <a:p>
            <a:pPr algn="just" marL="469900" indent="-229235">
              <a:lnSpc>
                <a:spcPts val="1315"/>
              </a:lnSpc>
              <a:buAutoNum type="arabicPeriod" startAt="4"/>
              <a:tabLst>
                <a:tab pos="470534" algn="l"/>
              </a:tabLst>
            </a:pPr>
            <a:r>
              <a:rPr dirty="0" sz="1200" spc="-5">
                <a:latin typeface="Arial"/>
                <a:cs typeface="Arial"/>
              </a:rPr>
              <a:t>Nikah </a:t>
            </a:r>
            <a:r>
              <a:rPr dirty="0" sz="1200">
                <a:latin typeface="Arial"/>
                <a:cs typeface="Arial"/>
              </a:rPr>
              <a:t>– </a:t>
            </a:r>
            <a:r>
              <a:rPr dirty="0" sz="1200" spc="-5">
                <a:latin typeface="Arial"/>
                <a:cs typeface="Arial"/>
              </a:rPr>
              <a:t>there must </a:t>
            </a:r>
            <a:r>
              <a:rPr dirty="0" sz="1200" spc="-10">
                <a:latin typeface="Arial"/>
                <a:cs typeface="Arial"/>
              </a:rPr>
              <a:t>be </a:t>
            </a:r>
            <a:r>
              <a:rPr dirty="0" sz="1200">
                <a:latin typeface="Arial"/>
                <a:cs typeface="Arial"/>
              </a:rPr>
              <a:t>the </a:t>
            </a:r>
            <a:r>
              <a:rPr dirty="0" sz="1200" spc="-5">
                <a:latin typeface="Arial"/>
                <a:cs typeface="Arial"/>
              </a:rPr>
              <a:t>above mentioned</a:t>
            </a:r>
            <a:r>
              <a:rPr dirty="0" sz="1200">
                <a:latin typeface="Arial"/>
                <a:cs typeface="Arial"/>
              </a:rPr>
              <a:t> </a:t>
            </a:r>
            <a:r>
              <a:rPr dirty="0" sz="1200" spc="-5">
                <a:latin typeface="Arial"/>
                <a:cs typeface="Arial"/>
              </a:rPr>
              <a:t>conditions</a:t>
            </a:r>
            <a:endParaRPr sz="1200">
              <a:latin typeface="Arial"/>
              <a:cs typeface="Arial"/>
            </a:endParaRPr>
          </a:p>
          <a:p>
            <a:pPr algn="just" marL="469900" indent="-229235">
              <a:lnSpc>
                <a:spcPts val="1380"/>
              </a:lnSpc>
              <a:buAutoNum type="arabicPeriod" startAt="4"/>
              <a:tabLst>
                <a:tab pos="470534" algn="l"/>
              </a:tabLst>
            </a:pPr>
            <a:r>
              <a:rPr dirty="0" sz="1200" spc="-5">
                <a:latin typeface="Arial"/>
                <a:cs typeface="Arial"/>
              </a:rPr>
              <a:t>Walimah </a:t>
            </a:r>
            <a:r>
              <a:rPr dirty="0" sz="1200">
                <a:latin typeface="Arial"/>
                <a:cs typeface="Arial"/>
              </a:rPr>
              <a:t>– it </a:t>
            </a:r>
            <a:r>
              <a:rPr dirty="0" sz="1200" spc="-5">
                <a:latin typeface="Arial"/>
                <a:cs typeface="Arial"/>
              </a:rPr>
              <a:t>is conducted </a:t>
            </a:r>
            <a:r>
              <a:rPr dirty="0" sz="1200">
                <a:latin typeface="Arial"/>
                <a:cs typeface="Arial"/>
              </a:rPr>
              <a:t>after the </a:t>
            </a:r>
            <a:r>
              <a:rPr dirty="0" sz="1200" spc="-5">
                <a:latin typeface="Arial"/>
                <a:cs typeface="Arial"/>
              </a:rPr>
              <a:t>couple </a:t>
            </a:r>
            <a:r>
              <a:rPr dirty="0" sz="1200" spc="-10">
                <a:latin typeface="Arial"/>
                <a:cs typeface="Arial"/>
              </a:rPr>
              <a:t>had </a:t>
            </a:r>
            <a:r>
              <a:rPr dirty="0" sz="1200" spc="-5">
                <a:latin typeface="Arial"/>
                <a:cs typeface="Arial"/>
              </a:rPr>
              <a:t>sexual intercourse, after 3</a:t>
            </a:r>
            <a:r>
              <a:rPr dirty="0" sz="1200" spc="45">
                <a:latin typeface="Arial"/>
                <a:cs typeface="Arial"/>
              </a:rPr>
              <a:t> </a:t>
            </a:r>
            <a:r>
              <a:rPr dirty="0" sz="1200" spc="-5">
                <a:latin typeface="Arial"/>
                <a:cs typeface="Arial"/>
              </a:rPr>
              <a:t>days.</a:t>
            </a:r>
            <a:endParaRPr sz="1200">
              <a:latin typeface="Arial"/>
              <a:cs typeface="Arial"/>
            </a:endParaRPr>
          </a:p>
          <a:p>
            <a:pPr algn="just" marL="469900" marR="10795" indent="-229235">
              <a:lnSpc>
                <a:spcPts val="1380"/>
              </a:lnSpc>
              <a:spcBef>
                <a:spcPts val="65"/>
              </a:spcBef>
              <a:buAutoNum type="arabicPeriod" startAt="4"/>
              <a:tabLst>
                <a:tab pos="470534" algn="l"/>
              </a:tabLst>
            </a:pPr>
            <a:r>
              <a:rPr dirty="0" sz="1200" spc="-5">
                <a:latin typeface="Arial"/>
                <a:cs typeface="Arial"/>
              </a:rPr>
              <a:t>Chawtari </a:t>
            </a:r>
            <a:r>
              <a:rPr dirty="0" sz="1200">
                <a:latin typeface="Arial"/>
                <a:cs typeface="Arial"/>
              </a:rPr>
              <a:t>– it </a:t>
            </a:r>
            <a:r>
              <a:rPr dirty="0" sz="1200" spc="-5">
                <a:latin typeface="Arial"/>
                <a:cs typeface="Arial"/>
              </a:rPr>
              <a:t>is an </a:t>
            </a:r>
            <a:r>
              <a:rPr dirty="0" sz="1200">
                <a:latin typeface="Arial"/>
                <a:cs typeface="Arial"/>
              </a:rPr>
              <a:t>Indian </a:t>
            </a:r>
            <a:r>
              <a:rPr dirty="0" sz="1200" spc="-5">
                <a:latin typeface="Arial"/>
                <a:cs typeface="Arial"/>
              </a:rPr>
              <a:t>practice where family will gather around a </a:t>
            </a:r>
            <a:r>
              <a:rPr dirty="0" sz="1200">
                <a:latin typeface="Arial"/>
                <a:cs typeface="Arial"/>
              </a:rPr>
              <a:t>meal. </a:t>
            </a:r>
            <a:r>
              <a:rPr dirty="0" sz="1200" spc="-5">
                <a:latin typeface="Arial"/>
                <a:cs typeface="Arial"/>
              </a:rPr>
              <a:t>No music  and show off is</a:t>
            </a:r>
            <a:r>
              <a:rPr dirty="0" sz="1200">
                <a:latin typeface="Arial"/>
                <a:cs typeface="Arial"/>
              </a:rPr>
              <a:t> </a:t>
            </a:r>
            <a:r>
              <a:rPr dirty="0" sz="1200" spc="-5">
                <a:latin typeface="Arial"/>
                <a:cs typeface="Arial"/>
              </a:rPr>
              <a:t>allowed</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The Importance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Significance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Marriage</a:t>
            </a:r>
            <a:endParaRPr sz="1200">
              <a:latin typeface="Arial"/>
              <a:cs typeface="Arial"/>
            </a:endParaRPr>
          </a:p>
          <a:p>
            <a:pPr>
              <a:lnSpc>
                <a:spcPct val="100000"/>
              </a:lnSpc>
            </a:pPr>
            <a:endParaRPr sz="1150">
              <a:latin typeface="Arial"/>
              <a:cs typeface="Arial"/>
            </a:endParaRPr>
          </a:p>
          <a:p>
            <a:pPr marL="469900" indent="-229235">
              <a:lnSpc>
                <a:spcPts val="1410"/>
              </a:lnSpc>
              <a:buAutoNum type="arabicPeriod"/>
              <a:tabLst>
                <a:tab pos="470534" algn="l"/>
              </a:tabLst>
            </a:pPr>
            <a:r>
              <a:rPr dirty="0" sz="1200" spc="-5">
                <a:latin typeface="Arial"/>
                <a:cs typeface="Arial"/>
              </a:rPr>
              <a:t>Marriage is important </a:t>
            </a:r>
            <a:r>
              <a:rPr dirty="0" sz="1200" spc="-10">
                <a:latin typeface="Arial"/>
                <a:cs typeface="Arial"/>
              </a:rPr>
              <a:t>as </a:t>
            </a:r>
            <a:r>
              <a:rPr dirty="0" sz="1200">
                <a:latin typeface="Arial"/>
                <a:cs typeface="Arial"/>
              </a:rPr>
              <a:t>it </a:t>
            </a:r>
            <a:r>
              <a:rPr dirty="0" sz="1200" spc="-5">
                <a:latin typeface="Arial"/>
                <a:cs typeface="Arial"/>
              </a:rPr>
              <a:t>is a Sunnah of the</a:t>
            </a:r>
            <a:r>
              <a:rPr dirty="0" sz="1200" spc="55">
                <a:latin typeface="Arial"/>
                <a:cs typeface="Arial"/>
              </a:rPr>
              <a:t> </a:t>
            </a:r>
            <a:r>
              <a:rPr dirty="0" sz="1200" spc="-5">
                <a:latin typeface="Arial"/>
                <a:cs typeface="Arial"/>
              </a:rPr>
              <a:t>prophet</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a </a:t>
            </a:r>
            <a:r>
              <a:rPr dirty="0" sz="1200" spc="-10">
                <a:latin typeface="Arial"/>
                <a:cs typeface="Arial"/>
              </a:rPr>
              <a:t>way </a:t>
            </a:r>
            <a:r>
              <a:rPr dirty="0" sz="1200">
                <a:latin typeface="Arial"/>
                <a:cs typeface="Arial"/>
              </a:rPr>
              <a:t>of</a:t>
            </a:r>
            <a:r>
              <a:rPr dirty="0" sz="1200" spc="5">
                <a:latin typeface="Arial"/>
                <a:cs typeface="Arial"/>
              </a:rPr>
              <a:t> </a:t>
            </a:r>
            <a:r>
              <a:rPr dirty="0" sz="1200" spc="-5">
                <a:latin typeface="Arial"/>
                <a:cs typeface="Arial"/>
              </a:rPr>
              <a:t>procreation</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a mean to avoid sins and</a:t>
            </a:r>
            <a:r>
              <a:rPr dirty="0" sz="1200" spc="15">
                <a:latin typeface="Arial"/>
                <a:cs typeface="Arial"/>
              </a:rPr>
              <a:t> </a:t>
            </a:r>
            <a:r>
              <a:rPr dirty="0" sz="1200" spc="-5">
                <a:latin typeface="Arial"/>
                <a:cs typeface="Arial"/>
              </a:rPr>
              <a:t>pitfalls</a:t>
            </a:r>
            <a:endParaRPr sz="1200">
              <a:latin typeface="Arial"/>
              <a:cs typeface="Arial"/>
            </a:endParaRPr>
          </a:p>
          <a:p>
            <a:pPr marL="469900" indent="-229235">
              <a:lnSpc>
                <a:spcPts val="1410"/>
              </a:lnSpc>
              <a:buAutoNum type="arabicPeriod"/>
              <a:tabLst>
                <a:tab pos="470534" algn="l"/>
              </a:tabLst>
            </a:pPr>
            <a:r>
              <a:rPr dirty="0" sz="1200">
                <a:latin typeface="Arial"/>
                <a:cs typeface="Arial"/>
              </a:rPr>
              <a:t>It </a:t>
            </a:r>
            <a:r>
              <a:rPr dirty="0" sz="1200" spc="-5">
                <a:latin typeface="Arial"/>
                <a:cs typeface="Arial"/>
              </a:rPr>
              <a:t>is a </a:t>
            </a:r>
            <a:r>
              <a:rPr dirty="0" sz="1200" spc="-10">
                <a:latin typeface="Arial"/>
                <a:cs typeface="Arial"/>
              </a:rPr>
              <a:t>way </a:t>
            </a:r>
            <a:r>
              <a:rPr dirty="0" sz="1200">
                <a:latin typeface="Arial"/>
                <a:cs typeface="Arial"/>
              </a:rPr>
              <a:t>to </a:t>
            </a:r>
            <a:r>
              <a:rPr dirty="0" sz="1200" spc="-5">
                <a:latin typeface="Arial"/>
                <a:cs typeface="Arial"/>
              </a:rPr>
              <a:t>support each</a:t>
            </a:r>
            <a:r>
              <a:rPr dirty="0" sz="1200" spc="10">
                <a:latin typeface="Arial"/>
                <a:cs typeface="Arial"/>
              </a:rPr>
              <a:t> </a:t>
            </a:r>
            <a:r>
              <a:rPr dirty="0" sz="1200" spc="-5">
                <a:latin typeface="Arial"/>
                <a:cs typeface="Arial"/>
              </a:rPr>
              <a:t>other</a:t>
            </a:r>
            <a:endParaRPr sz="1200">
              <a:latin typeface="Arial"/>
              <a:cs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06119" y="799592"/>
            <a:ext cx="6396355" cy="8971280"/>
          </a:xfrm>
          <a:prstGeom prst="rect">
            <a:avLst/>
          </a:prstGeom>
        </p:spPr>
        <p:txBody>
          <a:bodyPr wrap="square" lIns="0" tIns="12700" rIns="0" bIns="0" rtlCol="0" vert="horz">
            <a:spAutoFit/>
          </a:bodyPr>
          <a:lstStyle/>
          <a:p>
            <a:pPr marL="482600" indent="-229235">
              <a:lnSpc>
                <a:spcPts val="1410"/>
              </a:lnSpc>
              <a:spcBef>
                <a:spcPts val="100"/>
              </a:spcBef>
              <a:buAutoNum type="arabicPeriod" startAt="5"/>
              <a:tabLst>
                <a:tab pos="483234" algn="l"/>
              </a:tabLst>
            </a:pPr>
            <a:r>
              <a:rPr dirty="0" sz="1200">
                <a:latin typeface="Arial"/>
                <a:cs typeface="Arial"/>
              </a:rPr>
              <a:t>It </a:t>
            </a:r>
            <a:r>
              <a:rPr dirty="0" sz="1200" spc="-5">
                <a:latin typeface="Arial"/>
                <a:cs typeface="Arial"/>
              </a:rPr>
              <a:t>is a </a:t>
            </a:r>
            <a:r>
              <a:rPr dirty="0" sz="1200" spc="-10">
                <a:latin typeface="Arial"/>
                <a:cs typeface="Arial"/>
              </a:rPr>
              <a:t>way </a:t>
            </a:r>
            <a:r>
              <a:rPr dirty="0" sz="1200">
                <a:latin typeface="Arial"/>
                <a:cs typeface="Arial"/>
              </a:rPr>
              <a:t>to </a:t>
            </a:r>
            <a:r>
              <a:rPr dirty="0" sz="1200" spc="-5">
                <a:latin typeface="Arial"/>
                <a:cs typeface="Arial"/>
              </a:rPr>
              <a:t>continue a</a:t>
            </a:r>
            <a:r>
              <a:rPr dirty="0" sz="1200" spc="-10">
                <a:latin typeface="Arial"/>
                <a:cs typeface="Arial"/>
              </a:rPr>
              <a:t> </a:t>
            </a:r>
            <a:r>
              <a:rPr dirty="0" sz="1200" spc="-5">
                <a:latin typeface="Arial"/>
                <a:cs typeface="Arial"/>
              </a:rPr>
              <a:t>lineage</a:t>
            </a:r>
            <a:endParaRPr sz="1200">
              <a:latin typeface="Arial"/>
              <a:cs typeface="Arial"/>
            </a:endParaRPr>
          </a:p>
          <a:p>
            <a:pPr marL="482600" indent="-229235">
              <a:lnSpc>
                <a:spcPts val="1380"/>
              </a:lnSpc>
              <a:buAutoNum type="arabicPeriod" startAt="5"/>
              <a:tabLst>
                <a:tab pos="483234" algn="l"/>
              </a:tabLst>
            </a:pPr>
            <a:r>
              <a:rPr dirty="0" sz="1200">
                <a:latin typeface="Arial"/>
                <a:cs typeface="Arial"/>
              </a:rPr>
              <a:t>It </a:t>
            </a:r>
            <a:r>
              <a:rPr dirty="0" sz="1200" spc="-5">
                <a:latin typeface="Arial"/>
                <a:cs typeface="Arial"/>
              </a:rPr>
              <a:t>is </a:t>
            </a:r>
            <a:r>
              <a:rPr dirty="0" sz="1200">
                <a:latin typeface="Arial"/>
                <a:cs typeface="Arial"/>
              </a:rPr>
              <a:t>to </a:t>
            </a:r>
            <a:r>
              <a:rPr dirty="0" sz="1200" spc="-5">
                <a:latin typeface="Arial"/>
                <a:cs typeface="Arial"/>
              </a:rPr>
              <a:t>have a life</a:t>
            </a:r>
            <a:r>
              <a:rPr dirty="0" sz="1200" spc="10">
                <a:latin typeface="Arial"/>
                <a:cs typeface="Arial"/>
              </a:rPr>
              <a:t> </a:t>
            </a:r>
            <a:r>
              <a:rPr dirty="0" sz="1200" spc="-5">
                <a:latin typeface="Arial"/>
                <a:cs typeface="Arial"/>
              </a:rPr>
              <a:t>partner</a:t>
            </a:r>
            <a:endParaRPr sz="1200">
              <a:latin typeface="Arial"/>
              <a:cs typeface="Arial"/>
            </a:endParaRPr>
          </a:p>
          <a:p>
            <a:pPr marL="482600" indent="-229235">
              <a:lnSpc>
                <a:spcPts val="1380"/>
              </a:lnSpc>
              <a:buAutoNum type="arabicPeriod" startAt="5"/>
              <a:tabLst>
                <a:tab pos="483234" algn="l"/>
              </a:tabLst>
            </a:pPr>
            <a:r>
              <a:rPr dirty="0" sz="1200">
                <a:latin typeface="Arial"/>
                <a:cs typeface="Arial"/>
              </a:rPr>
              <a:t>It </a:t>
            </a:r>
            <a:r>
              <a:rPr dirty="0" sz="1200" spc="-5">
                <a:latin typeface="Arial"/>
                <a:cs typeface="Arial"/>
              </a:rPr>
              <a:t>is </a:t>
            </a:r>
            <a:r>
              <a:rPr dirty="0" sz="1200">
                <a:latin typeface="Arial"/>
                <a:cs typeface="Arial"/>
              </a:rPr>
              <a:t>to </a:t>
            </a:r>
            <a:r>
              <a:rPr dirty="0" sz="1200" spc="-5">
                <a:latin typeface="Arial"/>
                <a:cs typeface="Arial"/>
              </a:rPr>
              <a:t>avoid mental and physical</a:t>
            </a:r>
            <a:r>
              <a:rPr dirty="0" sz="1200" spc="15">
                <a:latin typeface="Arial"/>
                <a:cs typeface="Arial"/>
              </a:rPr>
              <a:t> </a:t>
            </a:r>
            <a:r>
              <a:rPr dirty="0" sz="1200">
                <a:latin typeface="Arial"/>
                <a:cs typeface="Arial"/>
              </a:rPr>
              <a:t>stress</a:t>
            </a:r>
            <a:endParaRPr sz="1200">
              <a:latin typeface="Arial"/>
              <a:cs typeface="Arial"/>
            </a:endParaRPr>
          </a:p>
          <a:p>
            <a:pPr marL="482600" indent="-229235">
              <a:lnSpc>
                <a:spcPts val="1380"/>
              </a:lnSpc>
              <a:buAutoNum type="arabicPeriod" startAt="5"/>
              <a:tabLst>
                <a:tab pos="483234" algn="l"/>
              </a:tabLst>
            </a:pPr>
            <a:r>
              <a:rPr dirty="0" sz="1200">
                <a:latin typeface="Arial"/>
                <a:cs typeface="Arial"/>
              </a:rPr>
              <a:t>It </a:t>
            </a:r>
            <a:r>
              <a:rPr dirty="0" sz="1200" spc="-5">
                <a:latin typeface="Arial"/>
                <a:cs typeface="Arial"/>
              </a:rPr>
              <a:t>is </a:t>
            </a:r>
            <a:r>
              <a:rPr dirty="0" sz="1200">
                <a:latin typeface="Arial"/>
                <a:cs typeface="Arial"/>
              </a:rPr>
              <a:t>to </a:t>
            </a:r>
            <a:r>
              <a:rPr dirty="0" sz="1200" spc="-10">
                <a:latin typeface="Arial"/>
                <a:cs typeface="Arial"/>
              </a:rPr>
              <a:t>induce </a:t>
            </a:r>
            <a:r>
              <a:rPr dirty="0" sz="1200" spc="-5">
                <a:latin typeface="Arial"/>
                <a:cs typeface="Arial"/>
              </a:rPr>
              <a:t>the physical development of the man </a:t>
            </a:r>
            <a:r>
              <a:rPr dirty="0" sz="1200" spc="5">
                <a:latin typeface="Arial"/>
                <a:cs typeface="Arial"/>
              </a:rPr>
              <a:t>and</a:t>
            </a:r>
            <a:r>
              <a:rPr dirty="0" sz="1200" spc="35">
                <a:latin typeface="Arial"/>
                <a:cs typeface="Arial"/>
              </a:rPr>
              <a:t> </a:t>
            </a:r>
            <a:r>
              <a:rPr dirty="0" sz="1200" spc="-5">
                <a:latin typeface="Arial"/>
                <a:cs typeface="Arial"/>
              </a:rPr>
              <a:t>woman</a:t>
            </a:r>
            <a:endParaRPr sz="1200">
              <a:latin typeface="Arial"/>
              <a:cs typeface="Arial"/>
            </a:endParaRPr>
          </a:p>
          <a:p>
            <a:pPr marL="482600" indent="-229235">
              <a:lnSpc>
                <a:spcPts val="1380"/>
              </a:lnSpc>
              <a:buAutoNum type="arabicPeriod" startAt="5"/>
              <a:tabLst>
                <a:tab pos="483234" algn="l"/>
              </a:tabLst>
            </a:pPr>
            <a:r>
              <a:rPr dirty="0" sz="1200">
                <a:latin typeface="Arial"/>
                <a:cs typeface="Arial"/>
              </a:rPr>
              <a:t>It </a:t>
            </a:r>
            <a:r>
              <a:rPr dirty="0" sz="1200" spc="-5">
                <a:latin typeface="Arial"/>
                <a:cs typeface="Arial"/>
              </a:rPr>
              <a:t>allows </a:t>
            </a:r>
            <a:r>
              <a:rPr dirty="0" sz="1200">
                <a:latin typeface="Arial"/>
                <a:cs typeface="Arial"/>
              </a:rPr>
              <a:t>us to </a:t>
            </a:r>
            <a:r>
              <a:rPr dirty="0" sz="1200" spc="-5">
                <a:latin typeface="Arial"/>
                <a:cs typeface="Arial"/>
              </a:rPr>
              <a:t>be</a:t>
            </a:r>
            <a:r>
              <a:rPr dirty="0" sz="1200">
                <a:latin typeface="Arial"/>
                <a:cs typeface="Arial"/>
              </a:rPr>
              <a:t> </a:t>
            </a:r>
            <a:r>
              <a:rPr dirty="0" sz="1200" spc="-5">
                <a:latin typeface="Arial"/>
                <a:cs typeface="Arial"/>
              </a:rPr>
              <a:t>responsible</a:t>
            </a:r>
            <a:endParaRPr sz="1200">
              <a:latin typeface="Arial"/>
              <a:cs typeface="Arial"/>
            </a:endParaRPr>
          </a:p>
          <a:p>
            <a:pPr marL="482600" indent="-229235">
              <a:lnSpc>
                <a:spcPts val="1410"/>
              </a:lnSpc>
              <a:buAutoNum type="arabicPeriod" startAt="5"/>
              <a:tabLst>
                <a:tab pos="483234" algn="l"/>
              </a:tabLst>
            </a:pPr>
            <a:r>
              <a:rPr dirty="0" sz="1200">
                <a:latin typeface="Arial"/>
                <a:cs typeface="Arial"/>
              </a:rPr>
              <a:t>It </a:t>
            </a:r>
            <a:r>
              <a:rPr dirty="0" sz="1200" spc="-5">
                <a:latin typeface="Arial"/>
                <a:cs typeface="Arial"/>
              </a:rPr>
              <a:t>helps in to attain piety </a:t>
            </a:r>
            <a:r>
              <a:rPr dirty="0" sz="1200">
                <a:latin typeface="Arial"/>
                <a:cs typeface="Arial"/>
              </a:rPr>
              <a:t>and </a:t>
            </a:r>
            <a:r>
              <a:rPr dirty="0" sz="1200" spc="-5">
                <a:latin typeface="Arial"/>
                <a:cs typeface="Arial"/>
              </a:rPr>
              <a:t>obtain</a:t>
            </a:r>
            <a:r>
              <a:rPr dirty="0" sz="1200" spc="10">
                <a:latin typeface="Arial"/>
                <a:cs typeface="Arial"/>
              </a:rPr>
              <a:t> </a:t>
            </a:r>
            <a:r>
              <a:rPr dirty="0" sz="1200" spc="-5">
                <a:latin typeface="Arial"/>
                <a:cs typeface="Arial"/>
              </a:rPr>
              <a:t>Jannah.</a:t>
            </a:r>
            <a:endParaRPr sz="1200">
              <a:latin typeface="Arial"/>
              <a:cs typeface="Arial"/>
            </a:endParaRPr>
          </a:p>
          <a:p>
            <a:pPr>
              <a:lnSpc>
                <a:spcPct val="100000"/>
              </a:lnSpc>
              <a:spcBef>
                <a:spcPts val="55"/>
              </a:spcBef>
            </a:pPr>
            <a:endParaRPr sz="1100">
              <a:latin typeface="Arial"/>
              <a:cs typeface="Arial"/>
            </a:endParaRPr>
          </a:p>
          <a:p>
            <a:pPr marL="25400">
              <a:lnSpc>
                <a:spcPct val="100000"/>
              </a:lnSpc>
            </a:pPr>
            <a:r>
              <a:rPr dirty="0" u="heavy" sz="1200" b="1" i="1">
                <a:uFill>
                  <a:solidFill>
                    <a:srgbClr val="000000"/>
                  </a:solidFill>
                </a:uFill>
                <a:latin typeface="Arial"/>
                <a:cs typeface="Arial"/>
              </a:rPr>
              <a:t>Funeral</a:t>
            </a:r>
            <a:endParaRPr sz="1200">
              <a:latin typeface="Arial"/>
              <a:cs typeface="Arial"/>
            </a:endParaRPr>
          </a:p>
          <a:p>
            <a:pPr>
              <a:lnSpc>
                <a:spcPct val="100000"/>
              </a:lnSpc>
              <a:spcBef>
                <a:spcPts val="35"/>
              </a:spcBef>
            </a:pPr>
            <a:endParaRPr sz="1200">
              <a:latin typeface="Arial"/>
              <a:cs typeface="Arial"/>
            </a:endParaRPr>
          </a:p>
          <a:p>
            <a:pPr algn="just" marL="25400" marR="81915">
              <a:lnSpc>
                <a:spcPts val="1380"/>
              </a:lnSpc>
            </a:pPr>
            <a:r>
              <a:rPr dirty="0" sz="1200">
                <a:latin typeface="Arial"/>
                <a:cs typeface="Arial"/>
              </a:rPr>
              <a:t>It </a:t>
            </a:r>
            <a:r>
              <a:rPr dirty="0" sz="1200" spc="-5">
                <a:latin typeface="Arial"/>
                <a:cs typeface="Arial"/>
              </a:rPr>
              <a:t>has different names like Mayyit, Mayyat, Burial, </a:t>
            </a:r>
            <a:r>
              <a:rPr dirty="0" sz="1200">
                <a:latin typeface="Arial"/>
                <a:cs typeface="Arial"/>
              </a:rPr>
              <a:t>Death </a:t>
            </a:r>
            <a:r>
              <a:rPr dirty="0" sz="1200" spc="-5">
                <a:latin typeface="Arial"/>
                <a:cs typeface="Arial"/>
              </a:rPr>
              <a:t>process and </a:t>
            </a:r>
            <a:r>
              <a:rPr dirty="0" sz="1200">
                <a:latin typeface="Arial"/>
                <a:cs typeface="Arial"/>
              </a:rPr>
              <a:t>there </a:t>
            </a:r>
            <a:r>
              <a:rPr dirty="0" sz="1200" spc="-5">
                <a:latin typeface="Arial"/>
                <a:cs typeface="Arial"/>
              </a:rPr>
              <a:t>are religious  </a:t>
            </a:r>
            <a:r>
              <a:rPr dirty="0" sz="1200">
                <a:latin typeface="Arial"/>
                <a:cs typeface="Arial"/>
              </a:rPr>
              <a:t>ceremonies, </a:t>
            </a:r>
            <a:r>
              <a:rPr dirty="0" sz="1200" spc="-5">
                <a:latin typeface="Arial"/>
                <a:cs typeface="Arial"/>
              </a:rPr>
              <a:t>traditions and culture </a:t>
            </a:r>
            <a:r>
              <a:rPr dirty="0" sz="1200">
                <a:latin typeface="Arial"/>
                <a:cs typeface="Arial"/>
              </a:rPr>
              <a:t>for </a:t>
            </a:r>
            <a:r>
              <a:rPr dirty="0" sz="1200" spc="-5">
                <a:latin typeface="Arial"/>
                <a:cs typeface="Arial"/>
              </a:rPr>
              <a:t>the burial. </a:t>
            </a:r>
            <a:r>
              <a:rPr dirty="0" sz="1200">
                <a:latin typeface="Arial"/>
                <a:cs typeface="Arial"/>
              </a:rPr>
              <a:t>It </a:t>
            </a:r>
            <a:r>
              <a:rPr dirty="0" sz="1200" spc="-5">
                <a:latin typeface="Arial"/>
                <a:cs typeface="Arial"/>
              </a:rPr>
              <a:t>is the leaving </a:t>
            </a:r>
            <a:r>
              <a:rPr dirty="0" sz="1200">
                <a:latin typeface="Arial"/>
                <a:cs typeface="Arial"/>
              </a:rPr>
              <a:t>of </a:t>
            </a:r>
            <a:r>
              <a:rPr dirty="0" sz="1200" spc="-5">
                <a:latin typeface="Arial"/>
                <a:cs typeface="Arial"/>
              </a:rPr>
              <a:t>this physical </a:t>
            </a:r>
            <a:r>
              <a:rPr dirty="0" sz="1200" spc="-10">
                <a:latin typeface="Arial"/>
                <a:cs typeface="Arial"/>
              </a:rPr>
              <a:t>world  </a:t>
            </a:r>
            <a:r>
              <a:rPr dirty="0" sz="1200">
                <a:latin typeface="Arial"/>
                <a:cs typeface="Arial"/>
              </a:rPr>
              <a:t>(Alamul Ajsam) </a:t>
            </a:r>
            <a:r>
              <a:rPr dirty="0" sz="1200" spc="-10">
                <a:latin typeface="Arial"/>
                <a:cs typeface="Arial"/>
              </a:rPr>
              <a:t>to </a:t>
            </a:r>
            <a:r>
              <a:rPr dirty="0" sz="1200" spc="-5">
                <a:latin typeface="Arial"/>
                <a:cs typeface="Arial"/>
              </a:rPr>
              <a:t>the </a:t>
            </a:r>
            <a:r>
              <a:rPr dirty="0" sz="1200" spc="-10">
                <a:latin typeface="Arial"/>
                <a:cs typeface="Arial"/>
              </a:rPr>
              <a:t>world </a:t>
            </a:r>
            <a:r>
              <a:rPr dirty="0" sz="1200">
                <a:latin typeface="Arial"/>
                <a:cs typeface="Arial"/>
              </a:rPr>
              <a:t>of </a:t>
            </a:r>
            <a:r>
              <a:rPr dirty="0" sz="1200" spc="-5">
                <a:latin typeface="Arial"/>
                <a:cs typeface="Arial"/>
              </a:rPr>
              <a:t>Qabr (Alamul Barzakh). </a:t>
            </a:r>
            <a:r>
              <a:rPr dirty="0" sz="1200">
                <a:latin typeface="Arial"/>
                <a:cs typeface="Arial"/>
              </a:rPr>
              <a:t>It </a:t>
            </a:r>
            <a:r>
              <a:rPr dirty="0" sz="1200" spc="-5">
                <a:latin typeface="Arial"/>
                <a:cs typeface="Arial"/>
              </a:rPr>
              <a:t>is a mere</a:t>
            </a:r>
            <a:r>
              <a:rPr dirty="0" sz="1200" spc="45">
                <a:latin typeface="Arial"/>
                <a:cs typeface="Arial"/>
              </a:rPr>
              <a:t> </a:t>
            </a:r>
            <a:r>
              <a:rPr dirty="0" sz="1200" spc="-5">
                <a:latin typeface="Arial"/>
                <a:cs typeface="Arial"/>
              </a:rPr>
              <a:t>transition.</a:t>
            </a:r>
            <a:endParaRPr sz="1200">
              <a:latin typeface="Arial"/>
              <a:cs typeface="Arial"/>
            </a:endParaRPr>
          </a:p>
          <a:p>
            <a:pPr>
              <a:lnSpc>
                <a:spcPct val="100000"/>
              </a:lnSpc>
              <a:spcBef>
                <a:spcPts val="20"/>
              </a:spcBef>
            </a:pPr>
            <a:endParaRPr sz="1100">
              <a:latin typeface="Arial"/>
              <a:cs typeface="Arial"/>
            </a:endParaRPr>
          </a:p>
          <a:p>
            <a:pPr marL="25400">
              <a:lnSpc>
                <a:spcPct val="100000"/>
              </a:lnSpc>
            </a:pPr>
            <a:r>
              <a:rPr dirty="0" u="heavy" sz="1200" spc="-5" b="1" i="1">
                <a:uFill>
                  <a:solidFill>
                    <a:srgbClr val="000000"/>
                  </a:solidFill>
                </a:uFill>
                <a:latin typeface="Arial"/>
                <a:cs typeface="Arial"/>
              </a:rPr>
              <a:t>After the death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person, there are some procedures</a:t>
            </a:r>
            <a:r>
              <a:rPr dirty="0" u="heavy" sz="1200" spc="50" b="1" i="1">
                <a:uFill>
                  <a:solidFill>
                    <a:srgbClr val="000000"/>
                  </a:solidFill>
                </a:uFill>
                <a:latin typeface="Arial"/>
                <a:cs typeface="Arial"/>
              </a:rPr>
              <a:t> </a:t>
            </a:r>
            <a:r>
              <a:rPr dirty="0" u="heavy" sz="1200" b="1" i="1">
                <a:uFill>
                  <a:solidFill>
                    <a:srgbClr val="000000"/>
                  </a:solidFill>
                </a:uFill>
                <a:latin typeface="Arial"/>
                <a:cs typeface="Arial"/>
              </a:rPr>
              <a:t>like:</a:t>
            </a:r>
            <a:endParaRPr sz="1200">
              <a:latin typeface="Arial"/>
              <a:cs typeface="Arial"/>
            </a:endParaRPr>
          </a:p>
          <a:p>
            <a:pPr>
              <a:lnSpc>
                <a:spcPct val="100000"/>
              </a:lnSpc>
              <a:spcBef>
                <a:spcPts val="35"/>
              </a:spcBef>
            </a:pPr>
            <a:endParaRPr sz="1200">
              <a:latin typeface="Arial"/>
              <a:cs typeface="Arial"/>
            </a:endParaRPr>
          </a:p>
          <a:p>
            <a:pPr algn="just" marL="482600" marR="76835" indent="-228600">
              <a:lnSpc>
                <a:spcPts val="1380"/>
              </a:lnSpc>
              <a:spcBef>
                <a:spcPts val="5"/>
              </a:spcBef>
              <a:buAutoNum type="arabicPeriod"/>
              <a:tabLst>
                <a:tab pos="483234" algn="l"/>
              </a:tabLst>
            </a:pPr>
            <a:r>
              <a:rPr dirty="0" sz="1200" spc="-5">
                <a:latin typeface="Arial"/>
                <a:cs typeface="Arial"/>
              </a:rPr>
              <a:t>The bath of the dead </a:t>
            </a:r>
            <a:r>
              <a:rPr dirty="0" sz="1200">
                <a:latin typeface="Arial"/>
                <a:cs typeface="Arial"/>
              </a:rPr>
              <a:t>– must </a:t>
            </a:r>
            <a:r>
              <a:rPr dirty="0" sz="1200" spc="-5">
                <a:latin typeface="Arial"/>
                <a:cs typeface="Arial"/>
              </a:rPr>
              <a:t>be as gentle as possible </a:t>
            </a:r>
            <a:r>
              <a:rPr dirty="0" sz="1200">
                <a:latin typeface="Arial"/>
                <a:cs typeface="Arial"/>
              </a:rPr>
              <a:t>– men </a:t>
            </a:r>
            <a:r>
              <a:rPr dirty="0" sz="1200" spc="-5">
                <a:latin typeface="Arial"/>
                <a:cs typeface="Arial"/>
              </a:rPr>
              <a:t>being responsible </a:t>
            </a:r>
            <a:r>
              <a:rPr dirty="0" sz="1200">
                <a:latin typeface="Arial"/>
                <a:cs typeface="Arial"/>
              </a:rPr>
              <a:t>for </a:t>
            </a:r>
            <a:r>
              <a:rPr dirty="0" sz="1200" spc="-5">
                <a:latin typeface="Arial"/>
                <a:cs typeface="Arial"/>
              </a:rPr>
              <a:t>the  bath of the </a:t>
            </a:r>
            <a:r>
              <a:rPr dirty="0" sz="1200" spc="-10">
                <a:latin typeface="Arial"/>
                <a:cs typeface="Arial"/>
              </a:rPr>
              <a:t>dead </a:t>
            </a:r>
            <a:r>
              <a:rPr dirty="0" sz="1200" spc="-5">
                <a:latin typeface="Arial"/>
                <a:cs typeface="Arial"/>
              </a:rPr>
              <a:t>male </a:t>
            </a:r>
            <a:r>
              <a:rPr dirty="0" sz="1200">
                <a:latin typeface="Arial"/>
                <a:cs typeface="Arial"/>
              </a:rPr>
              <a:t>– </a:t>
            </a:r>
            <a:r>
              <a:rPr dirty="0" sz="1200" spc="-5">
                <a:latin typeface="Arial"/>
                <a:cs typeface="Arial"/>
              </a:rPr>
              <a:t>women </a:t>
            </a:r>
            <a:r>
              <a:rPr dirty="0" sz="1200">
                <a:latin typeface="Arial"/>
                <a:cs typeface="Arial"/>
              </a:rPr>
              <a:t>for the </a:t>
            </a:r>
            <a:r>
              <a:rPr dirty="0" sz="1200" spc="-5">
                <a:latin typeface="Arial"/>
                <a:cs typeface="Arial"/>
              </a:rPr>
              <a:t>dead female. It is done as the same Ghusal </a:t>
            </a:r>
            <a:r>
              <a:rPr dirty="0" sz="1200" spc="-10">
                <a:latin typeface="Arial"/>
                <a:cs typeface="Arial"/>
              </a:rPr>
              <a:t>as  </a:t>
            </a:r>
            <a:r>
              <a:rPr dirty="0" sz="1200" spc="-5">
                <a:latin typeface="Arial"/>
                <a:cs typeface="Arial"/>
              </a:rPr>
              <a:t>when </a:t>
            </a:r>
            <a:r>
              <a:rPr dirty="0" sz="1200" spc="-10">
                <a:latin typeface="Arial"/>
                <a:cs typeface="Arial"/>
              </a:rPr>
              <a:t>we </a:t>
            </a:r>
            <a:r>
              <a:rPr dirty="0" sz="1200">
                <a:latin typeface="Arial"/>
                <a:cs typeface="Arial"/>
              </a:rPr>
              <a:t>are </a:t>
            </a:r>
            <a:r>
              <a:rPr dirty="0" sz="1200" spc="-5">
                <a:latin typeface="Arial"/>
                <a:cs typeface="Arial"/>
              </a:rPr>
              <a:t>alive </a:t>
            </a:r>
            <a:r>
              <a:rPr dirty="0" sz="1200">
                <a:latin typeface="Arial"/>
                <a:cs typeface="Arial"/>
              </a:rPr>
              <a:t>– </a:t>
            </a:r>
            <a:r>
              <a:rPr dirty="0" sz="1200" spc="-5">
                <a:latin typeface="Arial"/>
                <a:cs typeface="Arial"/>
              </a:rPr>
              <a:t>but with </a:t>
            </a:r>
            <a:r>
              <a:rPr dirty="0" sz="1200">
                <a:latin typeface="Arial"/>
                <a:cs typeface="Arial"/>
              </a:rPr>
              <a:t>more </a:t>
            </a:r>
            <a:r>
              <a:rPr dirty="0" sz="1200" spc="-5">
                <a:latin typeface="Arial"/>
                <a:cs typeface="Arial"/>
              </a:rPr>
              <a:t>respect and</a:t>
            </a:r>
            <a:r>
              <a:rPr dirty="0" sz="1200" spc="60">
                <a:latin typeface="Arial"/>
                <a:cs typeface="Arial"/>
              </a:rPr>
              <a:t> </a:t>
            </a:r>
            <a:r>
              <a:rPr dirty="0" sz="1200" spc="-5">
                <a:latin typeface="Arial"/>
                <a:cs typeface="Arial"/>
              </a:rPr>
              <a:t>gentleness.</a:t>
            </a:r>
            <a:endParaRPr sz="1200">
              <a:latin typeface="Arial"/>
              <a:cs typeface="Arial"/>
            </a:endParaRPr>
          </a:p>
          <a:p>
            <a:pPr algn="just" marL="482600" indent="-229235">
              <a:lnSpc>
                <a:spcPts val="1315"/>
              </a:lnSpc>
              <a:buAutoNum type="arabicPeriod"/>
              <a:tabLst>
                <a:tab pos="483234" algn="l"/>
              </a:tabLst>
            </a:pPr>
            <a:r>
              <a:rPr dirty="0" sz="1200" spc="15">
                <a:latin typeface="Arial"/>
                <a:cs typeface="Arial"/>
              </a:rPr>
              <a:t>We </a:t>
            </a:r>
            <a:r>
              <a:rPr dirty="0" sz="1200" spc="-10">
                <a:latin typeface="Arial"/>
                <a:cs typeface="Arial"/>
              </a:rPr>
              <a:t>then </a:t>
            </a:r>
            <a:r>
              <a:rPr dirty="0" sz="1200" spc="-5">
                <a:latin typeface="Arial"/>
                <a:cs typeface="Arial"/>
              </a:rPr>
              <a:t>put </a:t>
            </a:r>
            <a:r>
              <a:rPr dirty="0" sz="1200" spc="-10">
                <a:latin typeface="Arial"/>
                <a:cs typeface="Arial"/>
              </a:rPr>
              <a:t>on </a:t>
            </a:r>
            <a:r>
              <a:rPr dirty="0" sz="1200" spc="-5">
                <a:latin typeface="Arial"/>
                <a:cs typeface="Arial"/>
              </a:rPr>
              <a:t>the Qafn </a:t>
            </a:r>
            <a:r>
              <a:rPr dirty="0" sz="1200">
                <a:latin typeface="Arial"/>
                <a:cs typeface="Arial"/>
              </a:rPr>
              <a:t>– the </a:t>
            </a:r>
            <a:r>
              <a:rPr dirty="0" sz="1200" spc="-5">
                <a:latin typeface="Arial"/>
                <a:cs typeface="Arial"/>
              </a:rPr>
              <a:t>white cloth over </a:t>
            </a:r>
            <a:r>
              <a:rPr dirty="0" sz="1200">
                <a:latin typeface="Arial"/>
                <a:cs typeface="Arial"/>
              </a:rPr>
              <a:t>the </a:t>
            </a:r>
            <a:r>
              <a:rPr dirty="0" sz="1200" spc="-5">
                <a:latin typeface="Arial"/>
                <a:cs typeface="Arial"/>
              </a:rPr>
              <a:t>body of the man and</a:t>
            </a:r>
            <a:r>
              <a:rPr dirty="0" sz="1200" spc="40">
                <a:latin typeface="Arial"/>
                <a:cs typeface="Arial"/>
              </a:rPr>
              <a:t> </a:t>
            </a:r>
            <a:r>
              <a:rPr dirty="0" sz="1200" spc="-5">
                <a:latin typeface="Arial"/>
                <a:cs typeface="Arial"/>
              </a:rPr>
              <a:t>woman.</a:t>
            </a:r>
            <a:endParaRPr sz="1200">
              <a:latin typeface="Arial"/>
              <a:cs typeface="Arial"/>
            </a:endParaRPr>
          </a:p>
          <a:p>
            <a:pPr algn="just" marL="482600" indent="-229235">
              <a:lnSpc>
                <a:spcPts val="1380"/>
              </a:lnSpc>
              <a:buAutoNum type="arabicPeriod"/>
              <a:tabLst>
                <a:tab pos="483234" algn="l"/>
              </a:tabLst>
            </a:pPr>
            <a:r>
              <a:rPr dirty="0" sz="1200" spc="-5">
                <a:latin typeface="Arial"/>
                <a:cs typeface="Arial"/>
              </a:rPr>
              <a:t>There is the </a:t>
            </a:r>
            <a:r>
              <a:rPr dirty="0" sz="1200">
                <a:latin typeface="Arial"/>
                <a:cs typeface="Arial"/>
              </a:rPr>
              <a:t>reciting </a:t>
            </a:r>
            <a:r>
              <a:rPr dirty="0" sz="1200" spc="-5">
                <a:latin typeface="Arial"/>
                <a:cs typeface="Arial"/>
              </a:rPr>
              <a:t>of </a:t>
            </a:r>
            <a:r>
              <a:rPr dirty="0" sz="1200">
                <a:latin typeface="Arial"/>
                <a:cs typeface="Arial"/>
              </a:rPr>
              <a:t>the </a:t>
            </a:r>
            <a:r>
              <a:rPr dirty="0" sz="1200" spc="-5">
                <a:latin typeface="Arial"/>
                <a:cs typeface="Arial"/>
              </a:rPr>
              <a:t>Qur‘an </a:t>
            </a:r>
            <a:r>
              <a:rPr dirty="0" sz="1200">
                <a:latin typeface="Arial"/>
                <a:cs typeface="Arial"/>
              </a:rPr>
              <a:t>and </a:t>
            </a:r>
            <a:r>
              <a:rPr dirty="0" sz="1200" spc="-5">
                <a:latin typeface="Arial"/>
                <a:cs typeface="Arial"/>
              </a:rPr>
              <a:t>Du‘a.</a:t>
            </a:r>
            <a:endParaRPr sz="1200">
              <a:latin typeface="Arial"/>
              <a:cs typeface="Arial"/>
            </a:endParaRPr>
          </a:p>
          <a:p>
            <a:pPr algn="just" marL="482600" marR="83820" indent="-228600">
              <a:lnSpc>
                <a:spcPts val="1380"/>
              </a:lnSpc>
              <a:spcBef>
                <a:spcPts val="65"/>
              </a:spcBef>
              <a:buAutoNum type="arabicPeriod"/>
              <a:tabLst>
                <a:tab pos="483234" algn="l"/>
              </a:tabLst>
            </a:pPr>
            <a:r>
              <a:rPr dirty="0" sz="1200" spc="-5">
                <a:latin typeface="Arial"/>
                <a:cs typeface="Arial"/>
              </a:rPr>
              <a:t>The namaz Janaza is either performed inside a mosque or at a graveyard. </a:t>
            </a:r>
            <a:r>
              <a:rPr dirty="0" sz="1200">
                <a:latin typeface="Arial"/>
                <a:cs typeface="Arial"/>
              </a:rPr>
              <a:t>It </a:t>
            </a:r>
            <a:r>
              <a:rPr dirty="0" sz="1200" spc="-5">
                <a:latin typeface="Arial"/>
                <a:cs typeface="Arial"/>
              </a:rPr>
              <a:t>is in 4  Takbeer (Takbeer </a:t>
            </a:r>
            <a:r>
              <a:rPr dirty="0" sz="1200">
                <a:latin typeface="Arial"/>
                <a:cs typeface="Arial"/>
              </a:rPr>
              <a:t>+ </a:t>
            </a:r>
            <a:r>
              <a:rPr dirty="0" sz="1200" spc="-5">
                <a:latin typeface="Arial"/>
                <a:cs typeface="Arial"/>
              </a:rPr>
              <a:t>Thana </a:t>
            </a:r>
            <a:r>
              <a:rPr dirty="0" sz="1200">
                <a:latin typeface="Arial"/>
                <a:cs typeface="Arial"/>
              </a:rPr>
              <a:t>+ Al </a:t>
            </a:r>
            <a:r>
              <a:rPr dirty="0" sz="1200" spc="-5">
                <a:latin typeface="Arial"/>
                <a:cs typeface="Arial"/>
              </a:rPr>
              <a:t>Faatiha </a:t>
            </a:r>
            <a:r>
              <a:rPr dirty="0" sz="1200">
                <a:latin typeface="Arial"/>
                <a:cs typeface="Arial"/>
              </a:rPr>
              <a:t>/ </a:t>
            </a:r>
            <a:r>
              <a:rPr dirty="0" sz="1200" spc="-5">
                <a:latin typeface="Arial"/>
                <a:cs typeface="Arial"/>
              </a:rPr>
              <a:t>Takbeer </a:t>
            </a:r>
            <a:r>
              <a:rPr dirty="0" sz="1200">
                <a:latin typeface="Arial"/>
                <a:cs typeface="Arial"/>
              </a:rPr>
              <a:t>+ </a:t>
            </a:r>
            <a:r>
              <a:rPr dirty="0" sz="1200" spc="-5">
                <a:latin typeface="Arial"/>
                <a:cs typeface="Arial"/>
              </a:rPr>
              <a:t>Darood Ibrahim </a:t>
            </a:r>
            <a:r>
              <a:rPr dirty="0" sz="1200">
                <a:latin typeface="Arial"/>
                <a:cs typeface="Arial"/>
              </a:rPr>
              <a:t>/ </a:t>
            </a:r>
            <a:r>
              <a:rPr dirty="0" sz="1200" spc="-5">
                <a:latin typeface="Arial"/>
                <a:cs typeface="Arial"/>
              </a:rPr>
              <a:t>Takbeer </a:t>
            </a:r>
            <a:r>
              <a:rPr dirty="0" sz="1200">
                <a:latin typeface="Arial"/>
                <a:cs typeface="Arial"/>
              </a:rPr>
              <a:t>+ </a:t>
            </a:r>
            <a:r>
              <a:rPr dirty="0" sz="1200" spc="-10">
                <a:latin typeface="Arial"/>
                <a:cs typeface="Arial"/>
              </a:rPr>
              <a:t>Du‘a  </a:t>
            </a:r>
            <a:r>
              <a:rPr dirty="0" sz="1200" spc="-5">
                <a:latin typeface="Arial"/>
                <a:cs typeface="Arial"/>
              </a:rPr>
              <a:t>of Maghfirat </a:t>
            </a:r>
            <a:r>
              <a:rPr dirty="0" sz="1200">
                <a:latin typeface="Arial"/>
                <a:cs typeface="Arial"/>
              </a:rPr>
              <a:t>/ </a:t>
            </a:r>
            <a:r>
              <a:rPr dirty="0" sz="1200" spc="-5">
                <a:latin typeface="Arial"/>
                <a:cs typeface="Arial"/>
              </a:rPr>
              <a:t>Takbeer </a:t>
            </a:r>
            <a:r>
              <a:rPr dirty="0" sz="1200">
                <a:latin typeface="Arial"/>
                <a:cs typeface="Arial"/>
              </a:rPr>
              <a:t>+</a:t>
            </a:r>
            <a:r>
              <a:rPr dirty="0" sz="1200" spc="-5">
                <a:latin typeface="Arial"/>
                <a:cs typeface="Arial"/>
              </a:rPr>
              <a:t> Salaam).</a:t>
            </a:r>
            <a:endParaRPr sz="1200">
              <a:latin typeface="Arial"/>
              <a:cs typeface="Arial"/>
            </a:endParaRPr>
          </a:p>
          <a:p>
            <a:pPr algn="just" marL="482600" indent="-229235">
              <a:lnSpc>
                <a:spcPts val="1315"/>
              </a:lnSpc>
              <a:buAutoNum type="arabicPeriod"/>
              <a:tabLst>
                <a:tab pos="483234" algn="l"/>
              </a:tabLst>
            </a:pPr>
            <a:r>
              <a:rPr dirty="0" sz="1200">
                <a:latin typeface="Arial"/>
                <a:cs typeface="Arial"/>
              </a:rPr>
              <a:t>At </a:t>
            </a:r>
            <a:r>
              <a:rPr dirty="0" sz="1200" spc="-5">
                <a:latin typeface="Arial"/>
                <a:cs typeface="Arial"/>
              </a:rPr>
              <a:t>the graveyard, </a:t>
            </a:r>
            <a:r>
              <a:rPr dirty="0" sz="1200">
                <a:latin typeface="Arial"/>
                <a:cs typeface="Arial"/>
              </a:rPr>
              <a:t>the </a:t>
            </a:r>
            <a:r>
              <a:rPr dirty="0" sz="1200" spc="-5">
                <a:latin typeface="Arial"/>
                <a:cs typeface="Arial"/>
              </a:rPr>
              <a:t>body is </a:t>
            </a:r>
            <a:r>
              <a:rPr dirty="0" sz="1200">
                <a:latin typeface="Arial"/>
                <a:cs typeface="Arial"/>
              </a:rPr>
              <a:t>placed </a:t>
            </a:r>
            <a:r>
              <a:rPr dirty="0" sz="1200" spc="-5">
                <a:latin typeface="Arial"/>
                <a:cs typeface="Arial"/>
              </a:rPr>
              <a:t>on </a:t>
            </a:r>
            <a:r>
              <a:rPr dirty="0" sz="1200">
                <a:latin typeface="Arial"/>
                <a:cs typeface="Arial"/>
              </a:rPr>
              <a:t>the </a:t>
            </a:r>
            <a:r>
              <a:rPr dirty="0" sz="1200" spc="-5">
                <a:latin typeface="Arial"/>
                <a:cs typeface="Arial"/>
              </a:rPr>
              <a:t>back </a:t>
            </a:r>
            <a:r>
              <a:rPr dirty="0" sz="1200">
                <a:latin typeface="Arial"/>
                <a:cs typeface="Arial"/>
              </a:rPr>
              <a:t>with </a:t>
            </a:r>
            <a:r>
              <a:rPr dirty="0" sz="1200" spc="-5">
                <a:latin typeface="Arial"/>
                <a:cs typeface="Arial"/>
              </a:rPr>
              <a:t>the head turning </a:t>
            </a:r>
            <a:r>
              <a:rPr dirty="0" sz="1200">
                <a:latin typeface="Arial"/>
                <a:cs typeface="Arial"/>
              </a:rPr>
              <a:t>to </a:t>
            </a:r>
            <a:r>
              <a:rPr dirty="0" sz="1200" spc="-5">
                <a:latin typeface="Arial"/>
                <a:cs typeface="Arial"/>
              </a:rPr>
              <a:t>the</a:t>
            </a:r>
            <a:r>
              <a:rPr dirty="0" sz="1200" spc="30">
                <a:latin typeface="Arial"/>
                <a:cs typeface="Arial"/>
              </a:rPr>
              <a:t> </a:t>
            </a:r>
            <a:r>
              <a:rPr dirty="0" sz="1200" spc="-5">
                <a:latin typeface="Arial"/>
                <a:cs typeface="Arial"/>
              </a:rPr>
              <a:t>right.</a:t>
            </a:r>
            <a:endParaRPr sz="1200">
              <a:latin typeface="Arial"/>
              <a:cs typeface="Arial"/>
            </a:endParaRPr>
          </a:p>
          <a:p>
            <a:pPr algn="just" marL="482600" marR="85090" indent="-228600">
              <a:lnSpc>
                <a:spcPts val="1380"/>
              </a:lnSpc>
              <a:spcBef>
                <a:spcPts val="65"/>
              </a:spcBef>
              <a:buAutoNum type="arabicPeriod"/>
              <a:tabLst>
                <a:tab pos="483234" algn="l"/>
              </a:tabLst>
            </a:pPr>
            <a:r>
              <a:rPr dirty="0" sz="1200" spc="-5">
                <a:latin typeface="Arial"/>
                <a:cs typeface="Arial"/>
              </a:rPr>
              <a:t>There </a:t>
            </a:r>
            <a:r>
              <a:rPr dirty="0" sz="1200">
                <a:latin typeface="Arial"/>
                <a:cs typeface="Arial"/>
              </a:rPr>
              <a:t>can </a:t>
            </a:r>
            <a:r>
              <a:rPr dirty="0" sz="1200" spc="-5">
                <a:latin typeface="Arial"/>
                <a:cs typeface="Arial"/>
              </a:rPr>
              <a:t>be tilaawat, prayer </a:t>
            </a:r>
            <a:r>
              <a:rPr dirty="0" sz="1200">
                <a:latin typeface="Arial"/>
                <a:cs typeface="Arial"/>
              </a:rPr>
              <a:t>and </a:t>
            </a:r>
            <a:r>
              <a:rPr dirty="0" sz="1200" spc="-5">
                <a:latin typeface="Arial"/>
                <a:cs typeface="Arial"/>
              </a:rPr>
              <a:t>du‘a for </a:t>
            </a:r>
            <a:r>
              <a:rPr dirty="0" sz="1200">
                <a:latin typeface="Arial"/>
                <a:cs typeface="Arial"/>
              </a:rPr>
              <a:t>the </a:t>
            </a:r>
            <a:r>
              <a:rPr dirty="0" sz="1200" spc="-5">
                <a:latin typeface="Arial"/>
                <a:cs typeface="Arial"/>
              </a:rPr>
              <a:t>dead person, especially Du‘a of  forgiveness and </a:t>
            </a:r>
            <a:r>
              <a:rPr dirty="0" sz="1200">
                <a:latin typeface="Arial"/>
                <a:cs typeface="Arial"/>
              </a:rPr>
              <a:t>for </a:t>
            </a:r>
            <a:r>
              <a:rPr dirty="0" sz="1200" spc="-5">
                <a:latin typeface="Arial"/>
                <a:cs typeface="Arial"/>
              </a:rPr>
              <a:t>the </a:t>
            </a:r>
            <a:r>
              <a:rPr dirty="0" sz="1200">
                <a:latin typeface="Arial"/>
                <a:cs typeface="Arial"/>
              </a:rPr>
              <a:t>Qabr </a:t>
            </a:r>
            <a:r>
              <a:rPr dirty="0" sz="1200" spc="-5">
                <a:latin typeface="Arial"/>
                <a:cs typeface="Arial"/>
              </a:rPr>
              <a:t>and</a:t>
            </a:r>
            <a:r>
              <a:rPr dirty="0" sz="1200" spc="-15">
                <a:latin typeface="Arial"/>
                <a:cs typeface="Arial"/>
              </a:rPr>
              <a:t> </a:t>
            </a:r>
            <a:r>
              <a:rPr dirty="0" sz="1200" spc="-5">
                <a:latin typeface="Arial"/>
                <a:cs typeface="Arial"/>
              </a:rPr>
              <a:t>Aakhirah.</a:t>
            </a:r>
            <a:endParaRPr sz="1200">
              <a:latin typeface="Arial"/>
              <a:cs typeface="Arial"/>
            </a:endParaRPr>
          </a:p>
          <a:p>
            <a:pPr>
              <a:lnSpc>
                <a:spcPct val="100000"/>
              </a:lnSpc>
              <a:spcBef>
                <a:spcPts val="20"/>
              </a:spcBef>
            </a:pPr>
            <a:endParaRPr sz="1100">
              <a:latin typeface="Arial"/>
              <a:cs typeface="Arial"/>
            </a:endParaRPr>
          </a:p>
          <a:p>
            <a:pPr marL="25400">
              <a:lnSpc>
                <a:spcPct val="100000"/>
              </a:lnSpc>
            </a:pPr>
            <a:r>
              <a:rPr dirty="0" u="heavy" sz="1200" spc="-5" b="1" i="1">
                <a:uFill>
                  <a:solidFill>
                    <a:srgbClr val="000000"/>
                  </a:solidFill>
                </a:uFill>
                <a:latin typeface="Arial"/>
                <a:cs typeface="Arial"/>
              </a:rPr>
              <a:t>The Significance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death:</a:t>
            </a:r>
            <a:endParaRPr sz="1200">
              <a:latin typeface="Arial"/>
              <a:cs typeface="Arial"/>
            </a:endParaRPr>
          </a:p>
          <a:p>
            <a:pPr>
              <a:lnSpc>
                <a:spcPct val="100000"/>
              </a:lnSpc>
            </a:pPr>
            <a:endParaRPr sz="1150">
              <a:latin typeface="Arial"/>
              <a:cs typeface="Arial"/>
            </a:endParaRPr>
          </a:p>
          <a:p>
            <a:pPr marL="482600" indent="-229235">
              <a:lnSpc>
                <a:spcPts val="1410"/>
              </a:lnSpc>
              <a:buAutoNum type="arabicPeriod"/>
              <a:tabLst>
                <a:tab pos="483234" algn="l"/>
              </a:tabLst>
            </a:pPr>
            <a:r>
              <a:rPr dirty="0" sz="1200">
                <a:latin typeface="Arial"/>
                <a:cs typeface="Arial"/>
              </a:rPr>
              <a:t>It </a:t>
            </a:r>
            <a:r>
              <a:rPr dirty="0" sz="1200" spc="-5">
                <a:latin typeface="Arial"/>
                <a:cs typeface="Arial"/>
              </a:rPr>
              <a:t>is the </a:t>
            </a:r>
            <a:r>
              <a:rPr dirty="0" sz="1200">
                <a:latin typeface="Arial"/>
                <a:cs typeface="Arial"/>
              </a:rPr>
              <a:t>start </a:t>
            </a:r>
            <a:r>
              <a:rPr dirty="0" sz="1200" spc="-5">
                <a:latin typeface="Arial"/>
                <a:cs typeface="Arial"/>
              </a:rPr>
              <a:t>of our test exam in</a:t>
            </a:r>
            <a:r>
              <a:rPr dirty="0" sz="1200" spc="5">
                <a:latin typeface="Arial"/>
                <a:cs typeface="Arial"/>
              </a:rPr>
              <a:t> </a:t>
            </a:r>
            <a:r>
              <a:rPr dirty="0" sz="1200" spc="-5">
                <a:latin typeface="Arial"/>
                <a:cs typeface="Arial"/>
              </a:rPr>
              <a:t>Qabr</a:t>
            </a:r>
            <a:endParaRPr sz="1200">
              <a:latin typeface="Arial"/>
              <a:cs typeface="Arial"/>
            </a:endParaRPr>
          </a:p>
          <a:p>
            <a:pPr marL="482600" indent="-229235">
              <a:lnSpc>
                <a:spcPts val="1380"/>
              </a:lnSpc>
              <a:buAutoNum type="arabicPeriod"/>
              <a:tabLst>
                <a:tab pos="483234" algn="l"/>
              </a:tabLst>
            </a:pPr>
            <a:r>
              <a:rPr dirty="0" sz="1200">
                <a:latin typeface="Arial"/>
                <a:cs typeface="Arial"/>
              </a:rPr>
              <a:t>A </a:t>
            </a:r>
            <a:r>
              <a:rPr dirty="0" sz="1200" spc="-5">
                <a:latin typeface="Arial"/>
                <a:cs typeface="Arial"/>
              </a:rPr>
              <a:t>prelude of what is waiting us in</a:t>
            </a:r>
            <a:r>
              <a:rPr dirty="0" sz="1200" spc="45">
                <a:latin typeface="Arial"/>
                <a:cs typeface="Arial"/>
              </a:rPr>
              <a:t> </a:t>
            </a:r>
            <a:r>
              <a:rPr dirty="0" sz="1200" spc="-5">
                <a:latin typeface="Arial"/>
                <a:cs typeface="Arial"/>
              </a:rPr>
              <a:t>Paradise</a:t>
            </a:r>
            <a:endParaRPr sz="1200">
              <a:latin typeface="Arial"/>
              <a:cs typeface="Arial"/>
            </a:endParaRPr>
          </a:p>
          <a:p>
            <a:pPr marL="482600" indent="-229235">
              <a:lnSpc>
                <a:spcPts val="1380"/>
              </a:lnSpc>
              <a:buAutoNum type="arabicPeriod"/>
              <a:tabLst>
                <a:tab pos="483234" algn="l"/>
              </a:tabLst>
            </a:pPr>
            <a:r>
              <a:rPr dirty="0" sz="1200" spc="-5">
                <a:latin typeface="Arial"/>
                <a:cs typeface="Arial"/>
              </a:rPr>
              <a:t>The possibility </a:t>
            </a:r>
            <a:r>
              <a:rPr dirty="0" sz="1200">
                <a:latin typeface="Arial"/>
                <a:cs typeface="Arial"/>
              </a:rPr>
              <a:t>of the </a:t>
            </a:r>
            <a:r>
              <a:rPr dirty="0" sz="1200" spc="-5">
                <a:latin typeface="Arial"/>
                <a:cs typeface="Arial"/>
              </a:rPr>
              <a:t>beatific vision of</a:t>
            </a:r>
            <a:r>
              <a:rPr dirty="0" sz="1200">
                <a:latin typeface="Arial"/>
                <a:cs typeface="Arial"/>
              </a:rPr>
              <a:t> </a:t>
            </a:r>
            <a:r>
              <a:rPr dirty="0" sz="1200" spc="-5">
                <a:latin typeface="Arial"/>
                <a:cs typeface="Arial"/>
              </a:rPr>
              <a:t>Allah</a:t>
            </a:r>
            <a:endParaRPr sz="1200">
              <a:latin typeface="Arial"/>
              <a:cs typeface="Arial"/>
            </a:endParaRPr>
          </a:p>
          <a:p>
            <a:pPr marL="482600" indent="-229235">
              <a:lnSpc>
                <a:spcPts val="1380"/>
              </a:lnSpc>
              <a:buAutoNum type="arabicPeriod"/>
              <a:tabLst>
                <a:tab pos="483234" algn="l"/>
              </a:tabLst>
            </a:pPr>
            <a:r>
              <a:rPr dirty="0" sz="1200" spc="-5">
                <a:latin typeface="Arial"/>
                <a:cs typeface="Arial"/>
              </a:rPr>
              <a:t>The sight of the Holy</a:t>
            </a:r>
            <a:r>
              <a:rPr dirty="0" sz="1200">
                <a:latin typeface="Arial"/>
                <a:cs typeface="Arial"/>
              </a:rPr>
              <a:t> </a:t>
            </a:r>
            <a:r>
              <a:rPr dirty="0" sz="1200" spc="-5">
                <a:latin typeface="Arial"/>
                <a:cs typeface="Arial"/>
              </a:rPr>
              <a:t>Prophet</a:t>
            </a:r>
            <a:endParaRPr sz="1200">
              <a:latin typeface="Arial"/>
              <a:cs typeface="Arial"/>
            </a:endParaRPr>
          </a:p>
          <a:p>
            <a:pPr marL="482600" indent="-229235">
              <a:lnSpc>
                <a:spcPts val="1380"/>
              </a:lnSpc>
              <a:buAutoNum type="arabicPeriod"/>
              <a:tabLst>
                <a:tab pos="483234" algn="l"/>
              </a:tabLst>
            </a:pPr>
            <a:r>
              <a:rPr dirty="0" sz="1200" spc="-5">
                <a:latin typeface="Arial"/>
                <a:cs typeface="Arial"/>
              </a:rPr>
              <a:t>The </a:t>
            </a:r>
            <a:r>
              <a:rPr dirty="0" sz="1200">
                <a:latin typeface="Arial"/>
                <a:cs typeface="Arial"/>
              </a:rPr>
              <a:t>start </a:t>
            </a:r>
            <a:r>
              <a:rPr dirty="0" sz="1200" spc="-5">
                <a:latin typeface="Arial"/>
                <a:cs typeface="Arial"/>
              </a:rPr>
              <a:t>of eternal</a:t>
            </a:r>
            <a:r>
              <a:rPr dirty="0" sz="1200" spc="-10">
                <a:latin typeface="Arial"/>
                <a:cs typeface="Arial"/>
              </a:rPr>
              <a:t> </a:t>
            </a:r>
            <a:r>
              <a:rPr dirty="0" sz="1200" spc="-5">
                <a:latin typeface="Arial"/>
                <a:cs typeface="Arial"/>
              </a:rPr>
              <a:t>life</a:t>
            </a:r>
            <a:endParaRPr sz="1200">
              <a:latin typeface="Arial"/>
              <a:cs typeface="Arial"/>
            </a:endParaRPr>
          </a:p>
          <a:p>
            <a:pPr marL="482600" indent="-229235">
              <a:lnSpc>
                <a:spcPts val="1375"/>
              </a:lnSpc>
              <a:buAutoNum type="arabicPeriod"/>
              <a:tabLst>
                <a:tab pos="483234" algn="l"/>
              </a:tabLst>
            </a:pPr>
            <a:r>
              <a:rPr dirty="0" sz="1200" spc="-5">
                <a:latin typeface="Arial"/>
                <a:cs typeface="Arial"/>
              </a:rPr>
              <a:t>The feeling of security </a:t>
            </a:r>
            <a:r>
              <a:rPr dirty="0" sz="1200">
                <a:latin typeface="Arial"/>
                <a:cs typeface="Arial"/>
              </a:rPr>
              <a:t>and</a:t>
            </a:r>
            <a:r>
              <a:rPr dirty="0" sz="1200" spc="-15">
                <a:latin typeface="Arial"/>
                <a:cs typeface="Arial"/>
              </a:rPr>
              <a:t> </a:t>
            </a:r>
            <a:r>
              <a:rPr dirty="0" sz="1200" spc="-5">
                <a:latin typeface="Arial"/>
                <a:cs typeface="Arial"/>
              </a:rPr>
              <a:t>peace</a:t>
            </a:r>
            <a:endParaRPr sz="1200">
              <a:latin typeface="Arial"/>
              <a:cs typeface="Arial"/>
            </a:endParaRPr>
          </a:p>
          <a:p>
            <a:pPr marL="482600" indent="-229235">
              <a:lnSpc>
                <a:spcPts val="1375"/>
              </a:lnSpc>
              <a:buAutoNum type="arabicPeriod"/>
              <a:tabLst>
                <a:tab pos="483234" algn="l"/>
              </a:tabLst>
            </a:pPr>
            <a:r>
              <a:rPr dirty="0" sz="1200" spc="-5">
                <a:latin typeface="Arial"/>
                <a:cs typeface="Arial"/>
              </a:rPr>
              <a:t>The </a:t>
            </a:r>
            <a:r>
              <a:rPr dirty="0" sz="1200">
                <a:latin typeface="Arial"/>
                <a:cs typeface="Arial"/>
              </a:rPr>
              <a:t>start </a:t>
            </a:r>
            <a:r>
              <a:rPr dirty="0" sz="1200" spc="-5">
                <a:latin typeface="Arial"/>
                <a:cs typeface="Arial"/>
              </a:rPr>
              <a:t>of reward being</a:t>
            </a:r>
            <a:r>
              <a:rPr dirty="0" sz="1200">
                <a:latin typeface="Arial"/>
                <a:cs typeface="Arial"/>
              </a:rPr>
              <a:t> </a:t>
            </a:r>
            <a:r>
              <a:rPr dirty="0" sz="1200" spc="-5">
                <a:latin typeface="Arial"/>
                <a:cs typeface="Arial"/>
              </a:rPr>
              <a:t>bestowed</a:t>
            </a:r>
            <a:endParaRPr sz="1200">
              <a:latin typeface="Arial"/>
              <a:cs typeface="Arial"/>
            </a:endParaRPr>
          </a:p>
          <a:p>
            <a:pPr marL="482600" indent="-229235">
              <a:lnSpc>
                <a:spcPts val="1380"/>
              </a:lnSpc>
              <a:buAutoNum type="arabicPeriod"/>
              <a:tabLst>
                <a:tab pos="483234" algn="l"/>
              </a:tabLst>
            </a:pPr>
            <a:r>
              <a:rPr dirty="0" sz="1200" spc="-5">
                <a:latin typeface="Arial"/>
                <a:cs typeface="Arial"/>
              </a:rPr>
              <a:t>No worldly</a:t>
            </a:r>
            <a:r>
              <a:rPr dirty="0" sz="1200">
                <a:latin typeface="Arial"/>
                <a:cs typeface="Arial"/>
              </a:rPr>
              <a:t> </a:t>
            </a:r>
            <a:r>
              <a:rPr dirty="0" sz="1200" spc="-5">
                <a:latin typeface="Arial"/>
                <a:cs typeface="Arial"/>
              </a:rPr>
              <a:t>worry</a:t>
            </a:r>
            <a:endParaRPr sz="1200">
              <a:latin typeface="Arial"/>
              <a:cs typeface="Arial"/>
            </a:endParaRPr>
          </a:p>
          <a:p>
            <a:pPr marL="482600" indent="-229235">
              <a:lnSpc>
                <a:spcPts val="1380"/>
              </a:lnSpc>
              <a:buAutoNum type="arabicPeriod"/>
              <a:tabLst>
                <a:tab pos="483234" algn="l"/>
              </a:tabLst>
            </a:pPr>
            <a:r>
              <a:rPr dirty="0" sz="1200">
                <a:latin typeface="Arial"/>
                <a:cs typeface="Arial"/>
              </a:rPr>
              <a:t>Or the </a:t>
            </a:r>
            <a:r>
              <a:rPr dirty="0" sz="1200" spc="-5">
                <a:latin typeface="Arial"/>
                <a:cs typeface="Arial"/>
              </a:rPr>
              <a:t>prelude of punishment in the Aakhirah</a:t>
            </a:r>
            <a:endParaRPr sz="1200">
              <a:latin typeface="Arial"/>
              <a:cs typeface="Arial"/>
            </a:endParaRPr>
          </a:p>
          <a:p>
            <a:pPr marL="482600" indent="-229235">
              <a:lnSpc>
                <a:spcPts val="1410"/>
              </a:lnSpc>
              <a:buAutoNum type="arabicPeriod"/>
              <a:tabLst>
                <a:tab pos="483234" algn="l"/>
              </a:tabLst>
            </a:pPr>
            <a:r>
              <a:rPr dirty="0" sz="1200" spc="-5">
                <a:latin typeface="Arial"/>
                <a:cs typeface="Arial"/>
              </a:rPr>
              <a:t>The fright of the dark with</a:t>
            </a:r>
            <a:r>
              <a:rPr dirty="0" sz="1200" spc="10">
                <a:latin typeface="Arial"/>
                <a:cs typeface="Arial"/>
              </a:rPr>
              <a:t> </a:t>
            </a:r>
            <a:r>
              <a:rPr dirty="0" sz="1200" spc="-5">
                <a:latin typeface="Arial"/>
                <a:cs typeface="Arial"/>
              </a:rPr>
              <a:t>threat</a:t>
            </a:r>
            <a:endParaRPr sz="1200">
              <a:latin typeface="Arial"/>
              <a:cs typeface="Arial"/>
            </a:endParaRPr>
          </a:p>
          <a:p>
            <a:pPr>
              <a:lnSpc>
                <a:spcPct val="100000"/>
              </a:lnSpc>
              <a:spcBef>
                <a:spcPts val="55"/>
              </a:spcBef>
            </a:pPr>
            <a:endParaRPr sz="1100">
              <a:latin typeface="Arial"/>
              <a:cs typeface="Arial"/>
            </a:endParaRPr>
          </a:p>
          <a:p>
            <a:pPr marL="25400">
              <a:lnSpc>
                <a:spcPct val="100000"/>
              </a:lnSpc>
            </a:pPr>
            <a:r>
              <a:rPr dirty="0" u="heavy" sz="1200" spc="-5" b="1" i="1">
                <a:uFill>
                  <a:solidFill>
                    <a:srgbClr val="000000"/>
                  </a:solidFill>
                </a:uFill>
                <a:latin typeface="Arial"/>
                <a:cs typeface="Arial"/>
              </a:rPr>
              <a:t>False Concepts </a:t>
            </a:r>
            <a:r>
              <a:rPr dirty="0" u="heavy" sz="1200" b="1" i="1">
                <a:uFill>
                  <a:solidFill>
                    <a:srgbClr val="000000"/>
                  </a:solidFill>
                </a:uFill>
                <a:latin typeface="Arial"/>
                <a:cs typeface="Arial"/>
              </a:rPr>
              <a:t>on</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Funeral:</a:t>
            </a:r>
            <a:endParaRPr sz="1200">
              <a:latin typeface="Arial"/>
              <a:cs typeface="Arial"/>
            </a:endParaRPr>
          </a:p>
          <a:p>
            <a:pPr>
              <a:lnSpc>
                <a:spcPct val="100000"/>
              </a:lnSpc>
              <a:spcBef>
                <a:spcPts val="35"/>
              </a:spcBef>
            </a:pPr>
            <a:endParaRPr sz="1200">
              <a:latin typeface="Arial"/>
              <a:cs typeface="Arial"/>
            </a:endParaRPr>
          </a:p>
          <a:p>
            <a:pPr algn="just" marL="482600" marR="82550" indent="-228600">
              <a:lnSpc>
                <a:spcPts val="1380"/>
              </a:lnSpc>
              <a:buAutoNum type="arabicPeriod"/>
              <a:tabLst>
                <a:tab pos="483234" algn="l"/>
              </a:tabLst>
            </a:pPr>
            <a:r>
              <a:rPr dirty="0" sz="1200" spc="-5">
                <a:latin typeface="Arial"/>
                <a:cs typeface="Arial"/>
              </a:rPr>
              <a:t>Not </a:t>
            </a:r>
            <a:r>
              <a:rPr dirty="0" sz="1200">
                <a:latin typeface="Arial"/>
                <a:cs typeface="Arial"/>
              </a:rPr>
              <a:t>to ask du‘a for the </a:t>
            </a:r>
            <a:r>
              <a:rPr dirty="0" sz="1200" spc="-5">
                <a:latin typeface="Arial"/>
                <a:cs typeface="Arial"/>
              </a:rPr>
              <a:t>death </a:t>
            </a:r>
            <a:r>
              <a:rPr dirty="0" sz="1200">
                <a:latin typeface="Arial"/>
                <a:cs typeface="Arial"/>
              </a:rPr>
              <a:t>– </a:t>
            </a:r>
            <a:r>
              <a:rPr dirty="0" sz="1200" spc="-5">
                <a:latin typeface="Arial"/>
                <a:cs typeface="Arial"/>
              </a:rPr>
              <a:t>many </a:t>
            </a:r>
            <a:r>
              <a:rPr dirty="0" sz="1200">
                <a:latin typeface="Arial"/>
                <a:cs typeface="Arial"/>
              </a:rPr>
              <a:t>people </a:t>
            </a:r>
            <a:r>
              <a:rPr dirty="0" sz="1200" spc="-10">
                <a:latin typeface="Arial"/>
                <a:cs typeface="Arial"/>
              </a:rPr>
              <a:t>say </a:t>
            </a:r>
            <a:r>
              <a:rPr dirty="0" sz="1200">
                <a:latin typeface="Arial"/>
                <a:cs typeface="Arial"/>
              </a:rPr>
              <a:t>and </a:t>
            </a:r>
            <a:r>
              <a:rPr dirty="0" sz="1200" spc="-5">
                <a:latin typeface="Arial"/>
                <a:cs typeface="Arial"/>
              </a:rPr>
              <a:t>advocate that after the death of a  </a:t>
            </a:r>
            <a:r>
              <a:rPr dirty="0" sz="1200">
                <a:latin typeface="Arial"/>
                <a:cs typeface="Arial"/>
              </a:rPr>
              <a:t>person there </a:t>
            </a:r>
            <a:r>
              <a:rPr dirty="0" sz="1200" spc="-5">
                <a:latin typeface="Arial"/>
                <a:cs typeface="Arial"/>
              </a:rPr>
              <a:t>is </a:t>
            </a:r>
            <a:r>
              <a:rPr dirty="0" sz="1200">
                <a:latin typeface="Arial"/>
                <a:cs typeface="Arial"/>
              </a:rPr>
              <a:t>no </a:t>
            </a:r>
            <a:r>
              <a:rPr dirty="0" sz="1200" spc="-5">
                <a:latin typeface="Arial"/>
                <a:cs typeface="Arial"/>
              </a:rPr>
              <a:t>du‘a </a:t>
            </a:r>
            <a:r>
              <a:rPr dirty="0" sz="1200">
                <a:latin typeface="Arial"/>
                <a:cs typeface="Arial"/>
              </a:rPr>
              <a:t>or </a:t>
            </a:r>
            <a:r>
              <a:rPr dirty="0" sz="1200" spc="-5">
                <a:latin typeface="Arial"/>
                <a:cs typeface="Arial"/>
              </a:rPr>
              <a:t>recitation of the</a:t>
            </a:r>
            <a:r>
              <a:rPr dirty="0" sz="1200" spc="-30">
                <a:latin typeface="Arial"/>
                <a:cs typeface="Arial"/>
              </a:rPr>
              <a:t> </a:t>
            </a:r>
            <a:r>
              <a:rPr dirty="0" sz="1200" spc="-5">
                <a:latin typeface="Arial"/>
                <a:cs typeface="Arial"/>
              </a:rPr>
              <a:t>Qur‘an.</a:t>
            </a:r>
            <a:endParaRPr sz="1200">
              <a:latin typeface="Arial"/>
              <a:cs typeface="Arial"/>
            </a:endParaRPr>
          </a:p>
          <a:p>
            <a:pPr algn="just" marL="482600" indent="-229235">
              <a:lnSpc>
                <a:spcPts val="1315"/>
              </a:lnSpc>
              <a:buAutoNum type="arabicPeriod"/>
              <a:tabLst>
                <a:tab pos="483234" algn="l"/>
              </a:tabLst>
            </a:pPr>
            <a:r>
              <a:rPr dirty="0" sz="1200">
                <a:latin typeface="Arial"/>
                <a:cs typeface="Arial"/>
              </a:rPr>
              <a:t>To </a:t>
            </a:r>
            <a:r>
              <a:rPr dirty="0" sz="1200" spc="-5">
                <a:latin typeface="Arial"/>
                <a:cs typeface="Arial"/>
              </a:rPr>
              <a:t>cover all mirrors </a:t>
            </a:r>
            <a:r>
              <a:rPr dirty="0" sz="1200">
                <a:latin typeface="Arial"/>
                <a:cs typeface="Arial"/>
              </a:rPr>
              <a:t>at </a:t>
            </a:r>
            <a:r>
              <a:rPr dirty="0" sz="1200" spc="-5">
                <a:latin typeface="Arial"/>
                <a:cs typeface="Arial"/>
              </a:rPr>
              <a:t>home </a:t>
            </a:r>
            <a:r>
              <a:rPr dirty="0" sz="1200">
                <a:latin typeface="Arial"/>
                <a:cs typeface="Arial"/>
              </a:rPr>
              <a:t>– </a:t>
            </a:r>
            <a:r>
              <a:rPr dirty="0" sz="1200" spc="-5">
                <a:latin typeface="Arial"/>
                <a:cs typeface="Arial"/>
              </a:rPr>
              <a:t>supposedly not </a:t>
            </a:r>
            <a:r>
              <a:rPr dirty="0" sz="1200">
                <a:latin typeface="Arial"/>
                <a:cs typeface="Arial"/>
              </a:rPr>
              <a:t>to </a:t>
            </a:r>
            <a:r>
              <a:rPr dirty="0" sz="1200" spc="-5">
                <a:latin typeface="Arial"/>
                <a:cs typeface="Arial"/>
              </a:rPr>
              <a:t>see the </a:t>
            </a:r>
            <a:r>
              <a:rPr dirty="0" sz="1200">
                <a:latin typeface="Arial"/>
                <a:cs typeface="Arial"/>
              </a:rPr>
              <a:t>rouh </a:t>
            </a:r>
            <a:r>
              <a:rPr dirty="0" sz="1200" spc="-5">
                <a:latin typeface="Arial"/>
                <a:cs typeface="Arial"/>
              </a:rPr>
              <a:t>of the</a:t>
            </a:r>
            <a:r>
              <a:rPr dirty="0" sz="1200" spc="30">
                <a:latin typeface="Arial"/>
                <a:cs typeface="Arial"/>
              </a:rPr>
              <a:t> </a:t>
            </a:r>
            <a:r>
              <a:rPr dirty="0" sz="1200" spc="-5">
                <a:latin typeface="Arial"/>
                <a:cs typeface="Arial"/>
              </a:rPr>
              <a:t>dead</a:t>
            </a:r>
            <a:endParaRPr sz="1200">
              <a:latin typeface="Arial"/>
              <a:cs typeface="Arial"/>
            </a:endParaRPr>
          </a:p>
          <a:p>
            <a:pPr algn="just" marL="482600" marR="81280" indent="-228600">
              <a:lnSpc>
                <a:spcPts val="1380"/>
              </a:lnSpc>
              <a:spcBef>
                <a:spcPts val="65"/>
              </a:spcBef>
              <a:buAutoNum type="arabicPeriod"/>
              <a:tabLst>
                <a:tab pos="483234" algn="l"/>
              </a:tabLst>
            </a:pPr>
            <a:r>
              <a:rPr dirty="0" sz="1200">
                <a:latin typeface="Arial"/>
                <a:cs typeface="Arial"/>
              </a:rPr>
              <a:t>To </a:t>
            </a:r>
            <a:r>
              <a:rPr dirty="0" sz="1200" spc="-5">
                <a:latin typeface="Arial"/>
                <a:cs typeface="Arial"/>
              </a:rPr>
              <a:t>make Isaaluth Thawab on </a:t>
            </a:r>
            <a:r>
              <a:rPr dirty="0" sz="1200">
                <a:latin typeface="Arial"/>
                <a:cs typeface="Arial"/>
              </a:rPr>
              <a:t>the </a:t>
            </a:r>
            <a:r>
              <a:rPr dirty="0" sz="1200" spc="5">
                <a:latin typeface="Arial"/>
                <a:cs typeface="Arial"/>
              </a:rPr>
              <a:t>40</a:t>
            </a:r>
            <a:r>
              <a:rPr dirty="0" baseline="38194" sz="1200" spc="7">
                <a:latin typeface="Arial"/>
                <a:cs typeface="Arial"/>
              </a:rPr>
              <a:t>th </a:t>
            </a:r>
            <a:r>
              <a:rPr dirty="0" sz="1200" spc="-5">
                <a:latin typeface="Arial"/>
                <a:cs typeface="Arial"/>
              </a:rPr>
              <a:t>day </a:t>
            </a:r>
            <a:r>
              <a:rPr dirty="0" sz="1200">
                <a:latin typeface="Arial"/>
                <a:cs typeface="Arial"/>
              </a:rPr>
              <a:t>– some </a:t>
            </a:r>
            <a:r>
              <a:rPr dirty="0" sz="1200" spc="-5">
                <a:latin typeface="Arial"/>
                <a:cs typeface="Arial"/>
              </a:rPr>
              <a:t>advocate that </a:t>
            </a:r>
            <a:r>
              <a:rPr dirty="0" sz="1200">
                <a:latin typeface="Arial"/>
                <a:cs typeface="Arial"/>
              </a:rPr>
              <a:t>it </a:t>
            </a:r>
            <a:r>
              <a:rPr dirty="0" sz="1200" spc="-10">
                <a:latin typeface="Arial"/>
                <a:cs typeface="Arial"/>
              </a:rPr>
              <a:t>is </a:t>
            </a:r>
            <a:r>
              <a:rPr dirty="0" sz="1200" spc="-5">
                <a:latin typeface="Arial"/>
                <a:cs typeface="Arial"/>
              </a:rPr>
              <a:t>obligatory </a:t>
            </a:r>
            <a:r>
              <a:rPr dirty="0" sz="1200">
                <a:latin typeface="Arial"/>
                <a:cs typeface="Arial"/>
              </a:rPr>
              <a:t>that </a:t>
            </a:r>
            <a:r>
              <a:rPr dirty="0" sz="1200" spc="-5">
                <a:latin typeface="Arial"/>
                <a:cs typeface="Arial"/>
              </a:rPr>
              <a:t>a  Khatamul Qur‘an </a:t>
            </a:r>
            <a:r>
              <a:rPr dirty="0" sz="1200">
                <a:latin typeface="Arial"/>
                <a:cs typeface="Arial"/>
              </a:rPr>
              <a:t>be </a:t>
            </a:r>
            <a:r>
              <a:rPr dirty="0" sz="1200" spc="-5">
                <a:latin typeface="Arial"/>
                <a:cs typeface="Arial"/>
              </a:rPr>
              <a:t>done exactly </a:t>
            </a:r>
            <a:r>
              <a:rPr dirty="0" sz="1200">
                <a:latin typeface="Arial"/>
                <a:cs typeface="Arial"/>
              </a:rPr>
              <a:t>on the 40</a:t>
            </a:r>
            <a:r>
              <a:rPr dirty="0" baseline="38194" sz="1200">
                <a:latin typeface="Arial"/>
                <a:cs typeface="Arial"/>
              </a:rPr>
              <a:t>th </a:t>
            </a:r>
            <a:r>
              <a:rPr dirty="0" sz="1200" spc="-5">
                <a:latin typeface="Arial"/>
                <a:cs typeface="Arial"/>
              </a:rPr>
              <a:t>day </a:t>
            </a:r>
            <a:r>
              <a:rPr dirty="0" sz="1200">
                <a:latin typeface="Arial"/>
                <a:cs typeface="Arial"/>
              </a:rPr>
              <a:t>after </a:t>
            </a:r>
            <a:r>
              <a:rPr dirty="0" sz="1200" spc="-5">
                <a:latin typeface="Arial"/>
                <a:cs typeface="Arial"/>
              </a:rPr>
              <a:t>burial or else </a:t>
            </a:r>
            <a:r>
              <a:rPr dirty="0" sz="1200">
                <a:latin typeface="Arial"/>
                <a:cs typeface="Arial"/>
              </a:rPr>
              <a:t>the </a:t>
            </a:r>
            <a:r>
              <a:rPr dirty="0" sz="1200" spc="-5">
                <a:latin typeface="Arial"/>
                <a:cs typeface="Arial"/>
              </a:rPr>
              <a:t>rouh </a:t>
            </a:r>
            <a:r>
              <a:rPr dirty="0" sz="1200" spc="-10">
                <a:latin typeface="Arial"/>
                <a:cs typeface="Arial"/>
              </a:rPr>
              <a:t>will </a:t>
            </a:r>
            <a:r>
              <a:rPr dirty="0" sz="1200" spc="-5">
                <a:latin typeface="Arial"/>
                <a:cs typeface="Arial"/>
              </a:rPr>
              <a:t>not  </a:t>
            </a:r>
            <a:r>
              <a:rPr dirty="0" sz="1200">
                <a:latin typeface="Arial"/>
                <a:cs typeface="Arial"/>
              </a:rPr>
              <a:t>be </a:t>
            </a:r>
            <a:r>
              <a:rPr dirty="0" sz="1200" spc="-5">
                <a:latin typeface="Arial"/>
                <a:cs typeface="Arial"/>
              </a:rPr>
              <a:t>free. Asking </a:t>
            </a:r>
            <a:r>
              <a:rPr dirty="0" sz="1200">
                <a:latin typeface="Arial"/>
                <a:cs typeface="Arial"/>
              </a:rPr>
              <a:t>du‘a </a:t>
            </a:r>
            <a:r>
              <a:rPr dirty="0" sz="1200" spc="-5">
                <a:latin typeface="Arial"/>
                <a:cs typeface="Arial"/>
              </a:rPr>
              <a:t>for </a:t>
            </a:r>
            <a:r>
              <a:rPr dirty="0" sz="1200">
                <a:latin typeface="Arial"/>
                <a:cs typeface="Arial"/>
              </a:rPr>
              <a:t>the </a:t>
            </a:r>
            <a:r>
              <a:rPr dirty="0" sz="1200" spc="-5">
                <a:latin typeface="Arial"/>
                <a:cs typeface="Arial"/>
              </a:rPr>
              <a:t>dead can be </a:t>
            </a:r>
            <a:r>
              <a:rPr dirty="0" sz="1200">
                <a:latin typeface="Arial"/>
                <a:cs typeface="Arial"/>
              </a:rPr>
              <a:t>at </a:t>
            </a:r>
            <a:r>
              <a:rPr dirty="0" sz="1200" spc="-5">
                <a:latin typeface="Arial"/>
                <a:cs typeface="Arial"/>
              </a:rPr>
              <a:t>any</a:t>
            </a:r>
            <a:r>
              <a:rPr dirty="0" sz="1200" spc="-25">
                <a:latin typeface="Arial"/>
                <a:cs typeface="Arial"/>
              </a:rPr>
              <a:t> </a:t>
            </a:r>
            <a:r>
              <a:rPr dirty="0" sz="1200" spc="-5">
                <a:latin typeface="Arial"/>
                <a:cs typeface="Arial"/>
              </a:rPr>
              <a:t>time</a:t>
            </a:r>
            <a:endParaRPr sz="1200">
              <a:latin typeface="Arial"/>
              <a:cs typeface="Arial"/>
            </a:endParaRPr>
          </a:p>
          <a:p>
            <a:pPr algn="just" marL="525145" indent="-271780">
              <a:lnSpc>
                <a:spcPts val="1315"/>
              </a:lnSpc>
              <a:buAutoNum type="arabicPeriod"/>
              <a:tabLst>
                <a:tab pos="525780" algn="l"/>
              </a:tabLst>
            </a:pPr>
            <a:r>
              <a:rPr dirty="0" sz="1200">
                <a:latin typeface="Arial"/>
                <a:cs typeface="Arial"/>
              </a:rPr>
              <a:t>The </a:t>
            </a:r>
            <a:r>
              <a:rPr dirty="0" sz="1200" spc="-5">
                <a:latin typeface="Arial"/>
                <a:cs typeface="Arial"/>
              </a:rPr>
              <a:t>rouh </a:t>
            </a:r>
            <a:r>
              <a:rPr dirty="0" sz="1200" spc="-10">
                <a:latin typeface="Arial"/>
                <a:cs typeface="Arial"/>
              </a:rPr>
              <a:t>will </a:t>
            </a:r>
            <a:r>
              <a:rPr dirty="0" sz="1200" spc="-5">
                <a:latin typeface="Arial"/>
                <a:cs typeface="Arial"/>
              </a:rPr>
              <a:t>roam </a:t>
            </a:r>
            <a:r>
              <a:rPr dirty="0" sz="1200">
                <a:latin typeface="Arial"/>
                <a:cs typeface="Arial"/>
              </a:rPr>
              <a:t>– </a:t>
            </a:r>
            <a:r>
              <a:rPr dirty="0" sz="1200" spc="-10">
                <a:latin typeface="Arial"/>
                <a:cs typeface="Arial"/>
              </a:rPr>
              <a:t>if </a:t>
            </a:r>
            <a:r>
              <a:rPr dirty="0" sz="1200">
                <a:latin typeface="Arial"/>
                <a:cs typeface="Arial"/>
              </a:rPr>
              <a:t>the </a:t>
            </a:r>
            <a:r>
              <a:rPr dirty="0" sz="1200" spc="-5">
                <a:latin typeface="Arial"/>
                <a:cs typeface="Arial"/>
              </a:rPr>
              <a:t>Khatam is not done then the rouh </a:t>
            </a:r>
            <a:r>
              <a:rPr dirty="0" sz="1200" spc="-10">
                <a:latin typeface="Arial"/>
                <a:cs typeface="Arial"/>
              </a:rPr>
              <a:t>will </a:t>
            </a:r>
            <a:r>
              <a:rPr dirty="0" sz="1200" spc="-5">
                <a:latin typeface="Arial"/>
                <a:cs typeface="Arial"/>
              </a:rPr>
              <a:t>roam in the</a:t>
            </a:r>
            <a:r>
              <a:rPr dirty="0" sz="1200" spc="150">
                <a:latin typeface="Arial"/>
                <a:cs typeface="Arial"/>
              </a:rPr>
              <a:t> </a:t>
            </a:r>
            <a:r>
              <a:rPr dirty="0" sz="1200" spc="-5">
                <a:latin typeface="Arial"/>
                <a:cs typeface="Arial"/>
              </a:rPr>
              <a:t>house</a:t>
            </a:r>
            <a:endParaRPr sz="1200">
              <a:latin typeface="Arial"/>
              <a:cs typeface="Arial"/>
            </a:endParaRPr>
          </a:p>
          <a:p>
            <a:pPr algn="just" marL="482600" marR="83185" indent="-228600">
              <a:lnSpc>
                <a:spcPts val="1380"/>
              </a:lnSpc>
              <a:spcBef>
                <a:spcPts val="65"/>
              </a:spcBef>
              <a:buAutoNum type="arabicPeriod"/>
              <a:tabLst>
                <a:tab pos="483234" algn="l"/>
              </a:tabLst>
            </a:pPr>
            <a:r>
              <a:rPr dirty="0" sz="1200" spc="-5">
                <a:latin typeface="Arial"/>
                <a:cs typeface="Arial"/>
              </a:rPr>
              <a:t>The cloth of a woman </a:t>
            </a:r>
            <a:r>
              <a:rPr dirty="0" sz="1200">
                <a:latin typeface="Arial"/>
                <a:cs typeface="Arial"/>
              </a:rPr>
              <a:t>– </a:t>
            </a:r>
            <a:r>
              <a:rPr dirty="0" sz="1200" spc="-10">
                <a:latin typeface="Arial"/>
                <a:cs typeface="Arial"/>
              </a:rPr>
              <a:t>if </a:t>
            </a:r>
            <a:r>
              <a:rPr dirty="0" sz="1200" spc="-5">
                <a:latin typeface="Arial"/>
                <a:cs typeface="Arial"/>
              </a:rPr>
              <a:t>a widowed woman dies, </a:t>
            </a:r>
            <a:r>
              <a:rPr dirty="0" sz="1200" spc="-10">
                <a:latin typeface="Arial"/>
                <a:cs typeface="Arial"/>
              </a:rPr>
              <a:t>she </a:t>
            </a:r>
            <a:r>
              <a:rPr dirty="0" sz="1200" spc="-5">
                <a:latin typeface="Arial"/>
                <a:cs typeface="Arial"/>
              </a:rPr>
              <a:t>must be covered with a </a:t>
            </a:r>
            <a:r>
              <a:rPr dirty="0" sz="1200" spc="-10">
                <a:latin typeface="Arial"/>
                <a:cs typeface="Arial"/>
              </a:rPr>
              <a:t>blue  </a:t>
            </a:r>
            <a:r>
              <a:rPr dirty="0" sz="1200" spc="-5">
                <a:latin typeface="Arial"/>
                <a:cs typeface="Arial"/>
              </a:rPr>
              <a:t>cloth instead of a white one.</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89</a:t>
            </a:r>
            <a:endParaRPr sz="1200">
              <a:latin typeface="Times New Roman"/>
              <a:cs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975105"/>
            <a:ext cx="1728470" cy="208279"/>
          </a:xfrm>
          <a:prstGeom prst="rect">
            <a:avLst/>
          </a:prstGeom>
        </p:spPr>
        <p:txBody>
          <a:bodyPr wrap="square" lIns="0" tIns="12700" rIns="0" bIns="0" rtlCol="0" vert="horz">
            <a:spAutoFit/>
          </a:bodyPr>
          <a:lstStyle/>
          <a:p>
            <a:pPr marL="12700">
              <a:lnSpc>
                <a:spcPct val="100000"/>
              </a:lnSpc>
              <a:spcBef>
                <a:spcPts val="100"/>
              </a:spcBef>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35" b="1" i="1">
                <a:uFill>
                  <a:solidFill>
                    <a:srgbClr val="000000"/>
                  </a:solidFill>
                </a:uFill>
                <a:latin typeface="Arial"/>
                <a:cs typeface="Arial"/>
              </a:rPr>
              <a:t> </a:t>
            </a:r>
            <a:r>
              <a:rPr dirty="0" u="heavy" sz="1200" spc="-5" b="1" i="1">
                <a:uFill>
                  <a:solidFill>
                    <a:srgbClr val="000000"/>
                  </a:solidFill>
                </a:uFill>
                <a:latin typeface="Arial"/>
                <a:cs typeface="Arial"/>
              </a:rPr>
              <a:t>Questions</a:t>
            </a:r>
            <a:endParaRPr sz="1200">
              <a:latin typeface="Arial"/>
              <a:cs typeface="Arial"/>
            </a:endParaRPr>
          </a:p>
        </p:txBody>
      </p:sp>
      <p:sp>
        <p:nvSpPr>
          <p:cNvPr id="7" name="object 7"/>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8" name="object 8"/>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90</a:t>
            </a:r>
            <a:endParaRPr sz="1200">
              <a:latin typeface="Times New Roman"/>
              <a:cs typeface="Times New Roman"/>
            </a:endParaRPr>
          </a:p>
        </p:txBody>
      </p:sp>
      <p:sp>
        <p:nvSpPr>
          <p:cNvPr id="6" name="object 6"/>
          <p:cNvSpPr txBox="1"/>
          <p:nvPr/>
        </p:nvSpPr>
        <p:spPr>
          <a:xfrm>
            <a:off x="534416" y="1325626"/>
            <a:ext cx="6309995" cy="909319"/>
          </a:xfrm>
          <a:prstGeom prst="rect">
            <a:avLst/>
          </a:prstGeom>
        </p:spPr>
        <p:txBody>
          <a:bodyPr wrap="square" lIns="0" tIns="12700" rIns="0" bIns="0" rtlCol="0" vert="horz">
            <a:spAutoFit/>
          </a:bodyPr>
          <a:lstStyle/>
          <a:p>
            <a:pPr algn="ctr">
              <a:lnSpc>
                <a:spcPct val="100000"/>
              </a:lnSpc>
              <a:spcBef>
                <a:spcPts val="100"/>
              </a:spcBef>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spc="-5">
                <a:latin typeface="Arial"/>
                <a:cs typeface="Arial"/>
              </a:rPr>
              <a:t>8 Referring </a:t>
            </a:r>
            <a:r>
              <a:rPr dirty="0" sz="1200">
                <a:latin typeface="Arial"/>
                <a:cs typeface="Arial"/>
              </a:rPr>
              <a:t>to the </a:t>
            </a:r>
            <a:r>
              <a:rPr dirty="0" sz="1200" spc="-15">
                <a:latin typeface="Arial"/>
                <a:cs typeface="Arial"/>
              </a:rPr>
              <a:t>ways </a:t>
            </a:r>
            <a:r>
              <a:rPr dirty="0" sz="1200" spc="-5">
                <a:latin typeface="Arial"/>
                <a:cs typeface="Arial"/>
              </a:rPr>
              <a:t>in which (a) Muslim marriage ceremonies and (b) Muslim funerals  are celebrated in </a:t>
            </a:r>
            <a:r>
              <a:rPr dirty="0" sz="1200" spc="-10">
                <a:latin typeface="Arial"/>
                <a:cs typeface="Arial"/>
              </a:rPr>
              <a:t>your </a:t>
            </a:r>
            <a:r>
              <a:rPr dirty="0" sz="1200" spc="-5">
                <a:latin typeface="Arial"/>
                <a:cs typeface="Arial"/>
              </a:rPr>
              <a:t>country explain what elements in them </a:t>
            </a:r>
            <a:r>
              <a:rPr dirty="0" sz="1200" spc="-10">
                <a:latin typeface="Arial"/>
                <a:cs typeface="Arial"/>
              </a:rPr>
              <a:t>give </a:t>
            </a:r>
            <a:r>
              <a:rPr dirty="0" sz="1200">
                <a:latin typeface="Arial"/>
                <a:cs typeface="Arial"/>
              </a:rPr>
              <a:t>them </a:t>
            </a:r>
            <a:r>
              <a:rPr dirty="0" sz="1200" spc="-5">
                <a:latin typeface="Arial"/>
                <a:cs typeface="Arial"/>
              </a:rPr>
              <a:t>their particular  </a:t>
            </a:r>
            <a:r>
              <a:rPr dirty="0" sz="1200">
                <a:latin typeface="Arial"/>
                <a:cs typeface="Arial"/>
              </a:rPr>
              <a:t>Islamic </a:t>
            </a:r>
            <a:r>
              <a:rPr dirty="0" sz="1200" spc="-5">
                <a:latin typeface="Arial"/>
                <a:cs typeface="Arial"/>
              </a:rPr>
              <a:t>character. [20]</a:t>
            </a:r>
            <a:r>
              <a:rPr dirty="0" sz="1200" spc="-15">
                <a:latin typeface="Arial"/>
                <a:cs typeface="Arial"/>
              </a:rPr>
              <a:t> </a:t>
            </a:r>
            <a:r>
              <a:rPr dirty="0" sz="1200" spc="-5" b="1">
                <a:latin typeface="Arial"/>
                <a:cs typeface="Arial"/>
              </a:rPr>
              <a:t>(2004)</a:t>
            </a:r>
            <a:endParaRPr sz="1200">
              <a:latin typeface="Arial"/>
              <a:cs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5971540" cy="208279"/>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1062532" y="827531"/>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Articles </a:t>
            </a:r>
            <a:r>
              <a:rPr dirty="0" sz="1200" b="1">
                <a:latin typeface="Arial"/>
                <a:cs typeface="Arial"/>
              </a:rPr>
              <a:t>Of Faith</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91</a:t>
            </a:r>
            <a:endParaRPr sz="1200">
              <a:latin typeface="Times New Roman"/>
              <a:cs typeface="Times New Roman"/>
            </a:endParaRPr>
          </a:p>
        </p:txBody>
      </p:sp>
      <p:sp>
        <p:nvSpPr>
          <p:cNvPr id="5" name="object 5"/>
          <p:cNvSpPr txBox="1"/>
          <p:nvPr/>
        </p:nvSpPr>
        <p:spPr>
          <a:xfrm>
            <a:off x="718819" y="1162557"/>
            <a:ext cx="6311265" cy="8271509"/>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a:latin typeface="Arial"/>
                <a:cs typeface="Arial"/>
              </a:rPr>
              <a:t>For </a:t>
            </a:r>
            <a:r>
              <a:rPr dirty="0" sz="1200" spc="-5">
                <a:latin typeface="Arial"/>
                <a:cs typeface="Arial"/>
              </a:rPr>
              <a:t>one to </a:t>
            </a:r>
            <a:r>
              <a:rPr dirty="0" sz="1200" spc="-10">
                <a:latin typeface="Arial"/>
                <a:cs typeface="Arial"/>
              </a:rPr>
              <a:t>be </a:t>
            </a:r>
            <a:r>
              <a:rPr dirty="0" sz="1200" spc="-5">
                <a:latin typeface="Arial"/>
                <a:cs typeface="Arial"/>
              </a:rPr>
              <a:t>considered as a Muslim, one </a:t>
            </a:r>
            <a:r>
              <a:rPr dirty="0" sz="1200">
                <a:latin typeface="Arial"/>
                <a:cs typeface="Arial"/>
              </a:rPr>
              <a:t>must </a:t>
            </a:r>
            <a:r>
              <a:rPr dirty="0" sz="1200" spc="-5">
                <a:latin typeface="Arial"/>
                <a:cs typeface="Arial"/>
              </a:rPr>
              <a:t>believe in the articles of faith. Disbelief in  anyone of them </a:t>
            </a:r>
            <a:r>
              <a:rPr dirty="0" sz="1200" spc="-10">
                <a:latin typeface="Arial"/>
                <a:cs typeface="Arial"/>
              </a:rPr>
              <a:t>will </a:t>
            </a:r>
            <a:r>
              <a:rPr dirty="0" sz="1200" spc="-5">
                <a:latin typeface="Arial"/>
                <a:cs typeface="Arial"/>
              </a:rPr>
              <a:t>render the person a disbeliever. </a:t>
            </a:r>
            <a:r>
              <a:rPr dirty="0" sz="1200">
                <a:latin typeface="Arial"/>
                <a:cs typeface="Arial"/>
              </a:rPr>
              <a:t>This </a:t>
            </a:r>
            <a:r>
              <a:rPr dirty="0" sz="1200" spc="-5">
                <a:latin typeface="Arial"/>
                <a:cs typeface="Arial"/>
              </a:rPr>
              <a:t>is </a:t>
            </a:r>
            <a:r>
              <a:rPr dirty="0" sz="1200">
                <a:latin typeface="Arial"/>
                <a:cs typeface="Arial"/>
              </a:rPr>
              <a:t>to </a:t>
            </a:r>
            <a:r>
              <a:rPr dirty="0" sz="1200" spc="-10">
                <a:latin typeface="Arial"/>
                <a:cs typeface="Arial"/>
              </a:rPr>
              <a:t>show </a:t>
            </a:r>
            <a:r>
              <a:rPr dirty="0" sz="1200">
                <a:latin typeface="Arial"/>
                <a:cs typeface="Arial"/>
              </a:rPr>
              <a:t>to </a:t>
            </a:r>
            <a:r>
              <a:rPr dirty="0" sz="1200" spc="-5">
                <a:latin typeface="Arial"/>
                <a:cs typeface="Arial"/>
              </a:rPr>
              <a:t>what extent they are  of utmost importance. </a:t>
            </a:r>
            <a:r>
              <a:rPr dirty="0" sz="1200">
                <a:latin typeface="Arial"/>
                <a:cs typeface="Arial"/>
              </a:rPr>
              <a:t>It </a:t>
            </a:r>
            <a:r>
              <a:rPr dirty="0" sz="1200" spc="-5">
                <a:latin typeface="Arial"/>
                <a:cs typeface="Arial"/>
              </a:rPr>
              <a:t>can be said that they are </a:t>
            </a:r>
            <a:r>
              <a:rPr dirty="0" sz="1200">
                <a:latin typeface="Arial"/>
                <a:cs typeface="Arial"/>
              </a:rPr>
              <a:t>means </a:t>
            </a:r>
            <a:r>
              <a:rPr dirty="0" sz="1200" spc="-5">
                <a:latin typeface="Arial"/>
                <a:cs typeface="Arial"/>
              </a:rPr>
              <a:t>in regulating our </a:t>
            </a:r>
            <a:r>
              <a:rPr dirty="0" sz="1200" spc="5">
                <a:latin typeface="Arial"/>
                <a:cs typeface="Arial"/>
              </a:rPr>
              <a:t>deeds, </a:t>
            </a:r>
            <a:r>
              <a:rPr dirty="0" sz="1200" spc="-5">
                <a:latin typeface="Arial"/>
                <a:cs typeface="Arial"/>
              </a:rPr>
              <a:t>activities  and thoughts in this present world. </a:t>
            </a:r>
            <a:r>
              <a:rPr dirty="0" sz="1200">
                <a:latin typeface="Arial"/>
                <a:cs typeface="Arial"/>
              </a:rPr>
              <a:t>They </a:t>
            </a:r>
            <a:r>
              <a:rPr dirty="0" sz="1200" spc="-5">
                <a:latin typeface="Arial"/>
                <a:cs typeface="Arial"/>
              </a:rPr>
              <a:t>are seven in number such as Allah, Angels, </a:t>
            </a:r>
            <a:r>
              <a:rPr dirty="0" sz="1200" spc="-10">
                <a:latin typeface="Arial"/>
                <a:cs typeface="Arial"/>
              </a:rPr>
              <a:t>Books,  </a:t>
            </a:r>
            <a:r>
              <a:rPr dirty="0" sz="1200" spc="-5">
                <a:latin typeface="Arial"/>
                <a:cs typeface="Arial"/>
              </a:rPr>
              <a:t>Messengers, Day of Judgement, Destiny, and Life </a:t>
            </a:r>
            <a:r>
              <a:rPr dirty="0" sz="1200">
                <a:latin typeface="Arial"/>
                <a:cs typeface="Arial"/>
              </a:rPr>
              <a:t>after</a:t>
            </a:r>
            <a:r>
              <a:rPr dirty="0" sz="1200" spc="50">
                <a:latin typeface="Arial"/>
                <a:cs typeface="Arial"/>
              </a:rPr>
              <a:t> </a:t>
            </a:r>
            <a:r>
              <a:rPr dirty="0" sz="1200" spc="-5">
                <a:latin typeface="Arial"/>
                <a:cs typeface="Arial"/>
              </a:rPr>
              <a:t>Death.</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b="1" i="1">
                <a:uFill>
                  <a:solidFill>
                    <a:srgbClr val="000000"/>
                  </a:solidFill>
                </a:uFill>
                <a:latin typeface="Arial"/>
                <a:cs typeface="Arial"/>
              </a:rPr>
              <a:t>Allah</a:t>
            </a:r>
            <a:endParaRPr sz="1200">
              <a:latin typeface="Arial"/>
              <a:cs typeface="Arial"/>
            </a:endParaRPr>
          </a:p>
          <a:p>
            <a:pPr>
              <a:lnSpc>
                <a:spcPct val="100000"/>
              </a:lnSpc>
              <a:spcBef>
                <a:spcPts val="55"/>
              </a:spcBef>
            </a:pPr>
            <a:endParaRPr sz="1150">
              <a:latin typeface="Arial"/>
              <a:cs typeface="Arial"/>
            </a:endParaRPr>
          </a:p>
          <a:p>
            <a:pPr algn="just" marL="12700" marR="5080">
              <a:lnSpc>
                <a:spcPct val="95900"/>
              </a:lnSpc>
            </a:pPr>
            <a:r>
              <a:rPr dirty="0" sz="1200" spc="-5">
                <a:latin typeface="Arial"/>
                <a:cs typeface="Arial"/>
              </a:rPr>
              <a:t>He is no doubt our Creator, our Sustainer, our Provider, our Protector among </a:t>
            </a:r>
            <a:r>
              <a:rPr dirty="0" sz="1200" spc="5">
                <a:latin typeface="Arial"/>
                <a:cs typeface="Arial"/>
              </a:rPr>
              <a:t>others. </a:t>
            </a:r>
            <a:r>
              <a:rPr dirty="0" sz="1200" spc="15">
                <a:latin typeface="Arial"/>
                <a:cs typeface="Arial"/>
              </a:rPr>
              <a:t>We  </a:t>
            </a:r>
            <a:r>
              <a:rPr dirty="0" sz="1200" spc="-5">
                <a:latin typeface="Arial"/>
                <a:cs typeface="Arial"/>
              </a:rPr>
              <a:t>depend on </a:t>
            </a:r>
            <a:r>
              <a:rPr dirty="0" sz="1200" spc="-10">
                <a:latin typeface="Arial"/>
                <a:cs typeface="Arial"/>
              </a:rPr>
              <a:t>Him </a:t>
            </a:r>
            <a:r>
              <a:rPr dirty="0" sz="1200" spc="-5">
                <a:latin typeface="Arial"/>
                <a:cs typeface="Arial"/>
              </a:rPr>
              <a:t>and </a:t>
            </a:r>
            <a:r>
              <a:rPr dirty="0" sz="1200" spc="-10">
                <a:latin typeface="Arial"/>
                <a:cs typeface="Arial"/>
              </a:rPr>
              <a:t>we </a:t>
            </a:r>
            <a:r>
              <a:rPr dirty="0" sz="1200" spc="-5">
                <a:latin typeface="Arial"/>
                <a:cs typeface="Arial"/>
              </a:rPr>
              <a:t>obtain help from Him. Ibaadah is meant </a:t>
            </a:r>
            <a:r>
              <a:rPr dirty="0" sz="1200">
                <a:latin typeface="Arial"/>
                <a:cs typeface="Arial"/>
              </a:rPr>
              <a:t>for </a:t>
            </a:r>
            <a:r>
              <a:rPr dirty="0" sz="1200" spc="-5">
                <a:latin typeface="Arial"/>
                <a:cs typeface="Arial"/>
              </a:rPr>
              <a:t>Him and </a:t>
            </a:r>
            <a:r>
              <a:rPr dirty="0" sz="1200" spc="-10">
                <a:latin typeface="Arial"/>
                <a:cs typeface="Arial"/>
              </a:rPr>
              <a:t>we </a:t>
            </a:r>
            <a:r>
              <a:rPr dirty="0" sz="1200" spc="-5">
                <a:latin typeface="Arial"/>
                <a:cs typeface="Arial"/>
              </a:rPr>
              <a:t>must </a:t>
            </a:r>
            <a:r>
              <a:rPr dirty="0" sz="1200" spc="-10">
                <a:latin typeface="Arial"/>
                <a:cs typeface="Arial"/>
              </a:rPr>
              <a:t>be </a:t>
            </a:r>
            <a:r>
              <a:rPr dirty="0" sz="1200" spc="-5">
                <a:latin typeface="Arial"/>
                <a:cs typeface="Arial"/>
              </a:rPr>
              <a:t>at  his service </a:t>
            </a:r>
            <a:r>
              <a:rPr dirty="0" sz="1200">
                <a:latin typeface="Arial"/>
                <a:cs typeface="Arial"/>
              </a:rPr>
              <a:t>for </a:t>
            </a:r>
            <a:r>
              <a:rPr dirty="0" sz="1200" spc="-5">
                <a:latin typeface="Arial"/>
                <a:cs typeface="Arial"/>
              </a:rPr>
              <a:t>all the </a:t>
            </a:r>
            <a:r>
              <a:rPr dirty="0" sz="1200">
                <a:latin typeface="Arial"/>
                <a:cs typeface="Arial"/>
              </a:rPr>
              <a:t>time. </a:t>
            </a:r>
            <a:r>
              <a:rPr dirty="0" sz="1200" spc="-5">
                <a:latin typeface="Arial"/>
                <a:cs typeface="Arial"/>
              </a:rPr>
              <a:t>He is the </a:t>
            </a:r>
            <a:r>
              <a:rPr dirty="0" sz="1200" spc="-10">
                <a:latin typeface="Arial"/>
                <a:cs typeface="Arial"/>
              </a:rPr>
              <a:t>giver </a:t>
            </a:r>
            <a:r>
              <a:rPr dirty="0" sz="1200" spc="-5">
                <a:latin typeface="Arial"/>
                <a:cs typeface="Arial"/>
              </a:rPr>
              <a:t>and the taker of life. He is unique in Being,  Attributes and Action. </a:t>
            </a:r>
            <a:r>
              <a:rPr dirty="0" sz="1200" spc="15">
                <a:latin typeface="Arial"/>
                <a:cs typeface="Arial"/>
              </a:rPr>
              <a:t>We </a:t>
            </a:r>
            <a:r>
              <a:rPr dirty="0" sz="1200" spc="-5">
                <a:latin typeface="Arial"/>
                <a:cs typeface="Arial"/>
              </a:rPr>
              <a:t>have already </a:t>
            </a:r>
            <a:r>
              <a:rPr dirty="0" sz="1200">
                <a:latin typeface="Arial"/>
                <a:cs typeface="Arial"/>
              </a:rPr>
              <a:t>discussed </a:t>
            </a:r>
            <a:r>
              <a:rPr dirty="0" sz="1200" spc="-5">
                <a:latin typeface="Arial"/>
                <a:cs typeface="Arial"/>
              </a:rPr>
              <a:t>that through </a:t>
            </a:r>
            <a:r>
              <a:rPr dirty="0" sz="1200">
                <a:latin typeface="Arial"/>
                <a:cs typeface="Arial"/>
              </a:rPr>
              <a:t>the </a:t>
            </a:r>
            <a:r>
              <a:rPr dirty="0" sz="1200" spc="5">
                <a:latin typeface="Arial"/>
                <a:cs typeface="Arial"/>
              </a:rPr>
              <a:t>chapter </a:t>
            </a:r>
            <a:r>
              <a:rPr dirty="0" sz="1200" spc="-105">
                <a:latin typeface="Arial"/>
                <a:cs typeface="Arial"/>
              </a:rPr>
              <a:t>―Pillars </a:t>
            </a:r>
            <a:r>
              <a:rPr dirty="0" sz="1200">
                <a:latin typeface="Arial"/>
                <a:cs typeface="Arial"/>
              </a:rPr>
              <a:t>of </a:t>
            </a:r>
            <a:r>
              <a:rPr dirty="0" sz="1200" spc="-15">
                <a:latin typeface="Arial"/>
                <a:cs typeface="Arial"/>
              </a:rPr>
              <a:t>Islam‖.  </a:t>
            </a:r>
            <a:r>
              <a:rPr dirty="0" sz="1200">
                <a:latin typeface="Arial"/>
                <a:cs typeface="Arial"/>
              </a:rPr>
              <a:t>If </a:t>
            </a:r>
            <a:r>
              <a:rPr dirty="0" sz="1200" spc="-5">
                <a:latin typeface="Arial"/>
                <a:cs typeface="Arial"/>
              </a:rPr>
              <a:t>a disbelief in Allah occurs, then one is not considered </a:t>
            </a:r>
            <a:r>
              <a:rPr dirty="0" sz="1200">
                <a:latin typeface="Arial"/>
                <a:cs typeface="Arial"/>
              </a:rPr>
              <a:t>as </a:t>
            </a:r>
            <a:r>
              <a:rPr dirty="0" sz="1200" spc="-5">
                <a:latin typeface="Arial"/>
                <a:cs typeface="Arial"/>
              </a:rPr>
              <a:t>a</a:t>
            </a:r>
            <a:r>
              <a:rPr dirty="0" sz="1200" spc="35">
                <a:latin typeface="Arial"/>
                <a:cs typeface="Arial"/>
              </a:rPr>
              <a:t> </a:t>
            </a:r>
            <a:r>
              <a:rPr dirty="0" sz="1200" spc="-5">
                <a:latin typeface="Arial"/>
                <a:cs typeface="Arial"/>
              </a:rPr>
              <a:t>Muslim.</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Angels</a:t>
            </a:r>
            <a:endParaRPr sz="1200">
              <a:latin typeface="Arial"/>
              <a:cs typeface="Arial"/>
            </a:endParaRPr>
          </a:p>
          <a:p>
            <a:pPr>
              <a:lnSpc>
                <a:spcPct val="100000"/>
              </a:lnSpc>
              <a:spcBef>
                <a:spcPts val="35"/>
              </a:spcBef>
            </a:pPr>
            <a:endParaRPr sz="1200">
              <a:latin typeface="Arial"/>
              <a:cs typeface="Arial"/>
            </a:endParaRPr>
          </a:p>
          <a:p>
            <a:pPr algn="just" marL="12700" marR="6350">
              <a:lnSpc>
                <a:spcPts val="1380"/>
              </a:lnSpc>
            </a:pPr>
            <a:r>
              <a:rPr dirty="0" sz="1200" spc="-5">
                <a:latin typeface="Arial"/>
                <a:cs typeface="Arial"/>
              </a:rPr>
              <a:t>They are Creatures of Allah being created </a:t>
            </a:r>
            <a:r>
              <a:rPr dirty="0" sz="1200">
                <a:latin typeface="Arial"/>
                <a:cs typeface="Arial"/>
              </a:rPr>
              <a:t>from </a:t>
            </a:r>
            <a:r>
              <a:rPr dirty="0" sz="1200" spc="-5">
                <a:latin typeface="Arial"/>
                <a:cs typeface="Arial"/>
              </a:rPr>
              <a:t>light. There are four Main Angels, namely  Hazrat Jibril, Hazrat Mikail, Hazrat Israil and Hazrat </a:t>
            </a:r>
            <a:r>
              <a:rPr dirty="0" sz="1200">
                <a:latin typeface="Arial"/>
                <a:cs typeface="Arial"/>
              </a:rPr>
              <a:t>Israil. There </a:t>
            </a:r>
            <a:r>
              <a:rPr dirty="0" sz="1200" spc="-10">
                <a:latin typeface="Arial"/>
                <a:cs typeface="Arial"/>
              </a:rPr>
              <a:t>are </a:t>
            </a:r>
            <a:r>
              <a:rPr dirty="0" sz="1200" spc="-5">
                <a:latin typeface="Arial"/>
                <a:cs typeface="Arial"/>
              </a:rPr>
              <a:t>other main angels like  Hazrat Malik, Ridwaan, </a:t>
            </a:r>
            <a:r>
              <a:rPr dirty="0" sz="1200">
                <a:latin typeface="Arial"/>
                <a:cs typeface="Arial"/>
              </a:rPr>
              <a:t>Munkar, </a:t>
            </a:r>
            <a:r>
              <a:rPr dirty="0" sz="1200" spc="-5">
                <a:latin typeface="Arial"/>
                <a:cs typeface="Arial"/>
              </a:rPr>
              <a:t>Nakir, and the </a:t>
            </a:r>
            <a:r>
              <a:rPr dirty="0" sz="1200">
                <a:latin typeface="Arial"/>
                <a:cs typeface="Arial"/>
              </a:rPr>
              <a:t>2 </a:t>
            </a:r>
            <a:r>
              <a:rPr dirty="0" sz="1200" spc="-135">
                <a:latin typeface="Arial"/>
                <a:cs typeface="Arial"/>
              </a:rPr>
              <a:t>―noble </a:t>
            </a:r>
            <a:r>
              <a:rPr dirty="0" sz="1200" spc="-15">
                <a:latin typeface="Arial"/>
                <a:cs typeface="Arial"/>
              </a:rPr>
              <a:t>writers‖ </a:t>
            </a:r>
            <a:r>
              <a:rPr dirty="0" sz="1200" spc="-5">
                <a:latin typeface="Arial"/>
                <a:cs typeface="Arial"/>
              </a:rPr>
              <a:t>angels </a:t>
            </a:r>
            <a:r>
              <a:rPr dirty="0" sz="1200">
                <a:latin typeface="Arial"/>
                <a:cs typeface="Arial"/>
              </a:rPr>
              <a:t>– </a:t>
            </a:r>
            <a:r>
              <a:rPr dirty="0" sz="1200" spc="-5">
                <a:latin typeface="Arial"/>
                <a:cs typeface="Arial"/>
              </a:rPr>
              <a:t>Kiraaman Kaatibin.  They are </a:t>
            </a:r>
            <a:r>
              <a:rPr dirty="0" sz="1200" spc="-10">
                <a:latin typeface="Arial"/>
                <a:cs typeface="Arial"/>
              </a:rPr>
              <a:t>always </a:t>
            </a:r>
            <a:r>
              <a:rPr dirty="0" sz="1200">
                <a:latin typeface="Arial"/>
                <a:cs typeface="Arial"/>
              </a:rPr>
              <a:t>obedient </a:t>
            </a:r>
            <a:r>
              <a:rPr dirty="0" sz="1200" spc="-5">
                <a:latin typeface="Arial"/>
                <a:cs typeface="Arial"/>
              </a:rPr>
              <a:t>to Allah. </a:t>
            </a:r>
            <a:r>
              <a:rPr dirty="0" sz="1200">
                <a:latin typeface="Arial"/>
                <a:cs typeface="Arial"/>
              </a:rPr>
              <a:t>They </a:t>
            </a:r>
            <a:r>
              <a:rPr dirty="0" sz="1200" spc="-5">
                <a:latin typeface="Arial"/>
                <a:cs typeface="Arial"/>
              </a:rPr>
              <a:t>are creatures of wings </a:t>
            </a:r>
            <a:r>
              <a:rPr dirty="0" sz="1200">
                <a:latin typeface="Arial"/>
                <a:cs typeface="Arial"/>
              </a:rPr>
              <a:t>– 2, </a:t>
            </a:r>
            <a:r>
              <a:rPr dirty="0" sz="1200" spc="-5">
                <a:latin typeface="Arial"/>
                <a:cs typeface="Arial"/>
              </a:rPr>
              <a:t>3 and 4 pairs of wings.  They are </a:t>
            </a:r>
            <a:r>
              <a:rPr dirty="0" sz="1200">
                <a:latin typeface="Arial"/>
                <a:cs typeface="Arial"/>
              </a:rPr>
              <a:t>mortal </a:t>
            </a:r>
            <a:r>
              <a:rPr dirty="0" sz="1200" spc="-5">
                <a:latin typeface="Arial"/>
                <a:cs typeface="Arial"/>
              </a:rPr>
              <a:t>and they will also </a:t>
            </a:r>
            <a:r>
              <a:rPr dirty="0" sz="1200">
                <a:latin typeface="Arial"/>
                <a:cs typeface="Arial"/>
              </a:rPr>
              <a:t>taste </a:t>
            </a:r>
            <a:r>
              <a:rPr dirty="0" sz="1200" spc="-5">
                <a:latin typeface="Arial"/>
                <a:cs typeface="Arial"/>
              </a:rPr>
              <a:t>death </a:t>
            </a:r>
            <a:r>
              <a:rPr dirty="0" sz="1200">
                <a:latin typeface="Arial"/>
                <a:cs typeface="Arial"/>
              </a:rPr>
              <a:t>as </a:t>
            </a:r>
            <a:r>
              <a:rPr dirty="0" sz="1200" spc="-5">
                <a:latin typeface="Arial"/>
                <a:cs typeface="Arial"/>
              </a:rPr>
              <a:t>human beings. </a:t>
            </a:r>
            <a:r>
              <a:rPr dirty="0" sz="1200">
                <a:latin typeface="Arial"/>
                <a:cs typeface="Arial"/>
              </a:rPr>
              <a:t>But </a:t>
            </a:r>
            <a:r>
              <a:rPr dirty="0" sz="1200" spc="-10">
                <a:latin typeface="Arial"/>
                <a:cs typeface="Arial"/>
              </a:rPr>
              <a:t>we </a:t>
            </a:r>
            <a:r>
              <a:rPr dirty="0" sz="1200" spc="-5">
                <a:latin typeface="Arial"/>
                <a:cs typeface="Arial"/>
              </a:rPr>
              <a:t>don‘t </a:t>
            </a:r>
            <a:r>
              <a:rPr dirty="0" sz="1200">
                <a:latin typeface="Arial"/>
                <a:cs typeface="Arial"/>
              </a:rPr>
              <a:t>know how this  </a:t>
            </a:r>
            <a:r>
              <a:rPr dirty="0" sz="1200" spc="-5">
                <a:latin typeface="Arial"/>
                <a:cs typeface="Arial"/>
              </a:rPr>
              <a:t>is done.</a:t>
            </a:r>
            <a:endParaRPr sz="1200">
              <a:latin typeface="Arial"/>
              <a:cs typeface="Arial"/>
            </a:endParaRPr>
          </a:p>
          <a:p>
            <a:pPr>
              <a:lnSpc>
                <a:spcPct val="100000"/>
              </a:lnSpc>
              <a:spcBef>
                <a:spcPts val="20"/>
              </a:spcBef>
            </a:pPr>
            <a:endParaRPr sz="1100">
              <a:latin typeface="Arial"/>
              <a:cs typeface="Arial"/>
            </a:endParaRPr>
          </a:p>
          <a:p>
            <a:pPr marL="12700">
              <a:lnSpc>
                <a:spcPct val="100000"/>
              </a:lnSpc>
              <a:spcBef>
                <a:spcPts val="5"/>
              </a:spcBef>
            </a:pPr>
            <a:r>
              <a:rPr dirty="0" u="heavy" sz="1200" spc="-5" b="1" i="1">
                <a:uFill>
                  <a:solidFill>
                    <a:srgbClr val="000000"/>
                  </a:solidFill>
                </a:uFill>
                <a:latin typeface="Arial"/>
                <a:cs typeface="Arial"/>
              </a:rPr>
              <a:t>Why are they</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created?</a:t>
            </a:r>
            <a:endParaRPr sz="1200">
              <a:latin typeface="Arial"/>
              <a:cs typeface="Arial"/>
            </a:endParaRPr>
          </a:p>
          <a:p>
            <a:pPr>
              <a:lnSpc>
                <a:spcPct val="100000"/>
              </a:lnSpc>
              <a:spcBef>
                <a:spcPts val="50"/>
              </a:spcBef>
            </a:pPr>
            <a:endParaRPr sz="1100">
              <a:latin typeface="Arial"/>
              <a:cs typeface="Arial"/>
            </a:endParaRPr>
          </a:p>
          <a:p>
            <a:pPr marL="469900" indent="-229235">
              <a:lnSpc>
                <a:spcPts val="1410"/>
              </a:lnSpc>
              <a:spcBef>
                <a:spcPts val="5"/>
              </a:spcBef>
              <a:buAutoNum type="arabicPeriod"/>
              <a:tabLst>
                <a:tab pos="470534" algn="l"/>
              </a:tabLst>
            </a:pPr>
            <a:r>
              <a:rPr dirty="0" sz="1200" spc="5">
                <a:latin typeface="Arial"/>
                <a:cs typeface="Arial"/>
              </a:rPr>
              <a:t>To </a:t>
            </a:r>
            <a:r>
              <a:rPr dirty="0" sz="1200">
                <a:latin typeface="Arial"/>
                <a:cs typeface="Arial"/>
              </a:rPr>
              <a:t>praise </a:t>
            </a:r>
            <a:r>
              <a:rPr dirty="0" sz="1200" spc="-5">
                <a:latin typeface="Arial"/>
                <a:cs typeface="Arial"/>
              </a:rPr>
              <a:t>Allah </a:t>
            </a:r>
            <a:r>
              <a:rPr dirty="0" sz="1200">
                <a:latin typeface="Arial"/>
                <a:cs typeface="Arial"/>
              </a:rPr>
              <a:t>– </a:t>
            </a:r>
            <a:r>
              <a:rPr dirty="0" sz="1200" spc="-5">
                <a:latin typeface="Arial"/>
                <a:cs typeface="Arial"/>
              </a:rPr>
              <a:t>in all worlds </a:t>
            </a:r>
            <a:r>
              <a:rPr dirty="0" sz="1200">
                <a:latin typeface="Arial"/>
                <a:cs typeface="Arial"/>
              </a:rPr>
              <a:t>and </a:t>
            </a:r>
            <a:r>
              <a:rPr dirty="0" sz="1200" spc="-5">
                <a:latin typeface="Arial"/>
                <a:cs typeface="Arial"/>
              </a:rPr>
              <a:t>near the throne of Allah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a:latin typeface="Arial"/>
                <a:cs typeface="Arial"/>
              </a:rPr>
              <a:t>help </a:t>
            </a:r>
            <a:r>
              <a:rPr dirty="0" sz="1200" spc="-5">
                <a:latin typeface="Arial"/>
                <a:cs typeface="Arial"/>
              </a:rPr>
              <a:t>Human Beings </a:t>
            </a:r>
            <a:r>
              <a:rPr dirty="0" sz="1200">
                <a:latin typeface="Arial"/>
                <a:cs typeface="Arial"/>
              </a:rPr>
              <a:t>– </a:t>
            </a:r>
            <a:r>
              <a:rPr dirty="0" sz="1200" spc="-5">
                <a:latin typeface="Arial"/>
                <a:cs typeface="Arial"/>
              </a:rPr>
              <a:t>both Muslims and non-Muslims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a:latin typeface="Arial"/>
                <a:cs typeface="Arial"/>
              </a:rPr>
              <a:t>say </a:t>
            </a:r>
            <a:r>
              <a:rPr dirty="0" sz="1200" spc="-130">
                <a:latin typeface="Arial"/>
                <a:cs typeface="Arial"/>
              </a:rPr>
              <a:t>―Ameen‖ </a:t>
            </a:r>
            <a:r>
              <a:rPr dirty="0" sz="1200" spc="-5">
                <a:latin typeface="Arial"/>
                <a:cs typeface="Arial"/>
              </a:rPr>
              <a:t>over our</a:t>
            </a:r>
            <a:r>
              <a:rPr dirty="0" sz="1200" spc="-105">
                <a:latin typeface="Arial"/>
                <a:cs typeface="Arial"/>
              </a:rPr>
              <a:t> </a:t>
            </a:r>
            <a:r>
              <a:rPr dirty="0" sz="1200" spc="-5">
                <a:latin typeface="Arial"/>
                <a:cs typeface="Arial"/>
              </a:rPr>
              <a:t>du‘a</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spc="-5">
                <a:latin typeface="Arial"/>
                <a:cs typeface="Arial"/>
              </a:rPr>
              <a:t>protect human</a:t>
            </a:r>
            <a:r>
              <a:rPr dirty="0" sz="1200" spc="-25">
                <a:latin typeface="Arial"/>
                <a:cs typeface="Arial"/>
              </a:rPr>
              <a:t> </a:t>
            </a:r>
            <a:r>
              <a:rPr dirty="0" sz="1200" spc="-5">
                <a:latin typeface="Arial"/>
                <a:cs typeface="Arial"/>
              </a:rPr>
              <a:t>beings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spc="-5">
                <a:latin typeface="Arial"/>
                <a:cs typeface="Arial"/>
              </a:rPr>
              <a:t>bring </a:t>
            </a:r>
            <a:r>
              <a:rPr dirty="0" sz="1200" spc="5">
                <a:latin typeface="Arial"/>
                <a:cs typeface="Arial"/>
              </a:rPr>
              <a:t>Wahy </a:t>
            </a:r>
            <a:r>
              <a:rPr dirty="0" sz="1200" spc="-5">
                <a:latin typeface="Arial"/>
                <a:cs typeface="Arial"/>
              </a:rPr>
              <a:t>to</a:t>
            </a:r>
            <a:r>
              <a:rPr dirty="0" sz="1200" spc="-65">
                <a:latin typeface="Arial"/>
                <a:cs typeface="Arial"/>
              </a:rPr>
              <a:t> </a:t>
            </a:r>
            <a:r>
              <a:rPr dirty="0" sz="1200" spc="-5">
                <a:latin typeface="Arial"/>
                <a:cs typeface="Arial"/>
              </a:rPr>
              <a:t>Prophets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a:latin typeface="Arial"/>
                <a:cs typeface="Arial"/>
              </a:rPr>
              <a:t>help </a:t>
            </a:r>
            <a:r>
              <a:rPr dirty="0" sz="1200" spc="-5">
                <a:latin typeface="Arial"/>
                <a:cs typeface="Arial"/>
              </a:rPr>
              <a:t>prophets and the</a:t>
            </a:r>
            <a:r>
              <a:rPr dirty="0" sz="1200" spc="-50">
                <a:latin typeface="Arial"/>
                <a:cs typeface="Arial"/>
              </a:rPr>
              <a:t> </a:t>
            </a:r>
            <a:r>
              <a:rPr dirty="0" sz="1200" spc="-5">
                <a:latin typeface="Arial"/>
                <a:cs typeface="Arial"/>
              </a:rPr>
              <a:t>righteous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a:latin typeface="Arial"/>
                <a:cs typeface="Arial"/>
              </a:rPr>
              <a:t>help </a:t>
            </a:r>
            <a:r>
              <a:rPr dirty="0" sz="1200" spc="-5">
                <a:latin typeface="Arial"/>
                <a:cs typeface="Arial"/>
              </a:rPr>
              <a:t>in the creation of</a:t>
            </a:r>
            <a:r>
              <a:rPr dirty="0" sz="1200" spc="-35">
                <a:latin typeface="Arial"/>
                <a:cs typeface="Arial"/>
              </a:rPr>
              <a:t> </a:t>
            </a:r>
            <a:r>
              <a:rPr dirty="0" sz="1200" spc="-5">
                <a:latin typeface="Arial"/>
                <a:cs typeface="Arial"/>
              </a:rPr>
              <a:t>creatures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a:latin typeface="Arial"/>
                <a:cs typeface="Arial"/>
              </a:rPr>
              <a:t>help </a:t>
            </a:r>
            <a:r>
              <a:rPr dirty="0" sz="1200" spc="-5">
                <a:latin typeface="Arial"/>
                <a:cs typeface="Arial"/>
              </a:rPr>
              <a:t>in distributing </a:t>
            </a:r>
            <a:r>
              <a:rPr dirty="0" sz="1200">
                <a:latin typeface="Arial"/>
                <a:cs typeface="Arial"/>
              </a:rPr>
              <a:t>food </a:t>
            </a:r>
            <a:r>
              <a:rPr dirty="0" sz="1200" spc="-5">
                <a:latin typeface="Arial"/>
                <a:cs typeface="Arial"/>
              </a:rPr>
              <a:t>and</a:t>
            </a:r>
            <a:r>
              <a:rPr dirty="0" sz="1200" spc="-60">
                <a:latin typeface="Arial"/>
                <a:cs typeface="Arial"/>
              </a:rPr>
              <a:t> </a:t>
            </a:r>
            <a:r>
              <a:rPr dirty="0" sz="1200" spc="-5">
                <a:latin typeface="Arial"/>
                <a:cs typeface="Arial"/>
              </a:rPr>
              <a:t>drink</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To </a:t>
            </a:r>
            <a:r>
              <a:rPr dirty="0" sz="1200">
                <a:latin typeface="Arial"/>
                <a:cs typeface="Arial"/>
              </a:rPr>
              <a:t>help </a:t>
            </a:r>
            <a:r>
              <a:rPr dirty="0" sz="1200" spc="-5">
                <a:latin typeface="Arial"/>
                <a:cs typeface="Arial"/>
              </a:rPr>
              <a:t>man in this world, </a:t>
            </a:r>
            <a:r>
              <a:rPr dirty="0" sz="1200">
                <a:latin typeface="Arial"/>
                <a:cs typeface="Arial"/>
              </a:rPr>
              <a:t>Qabr </a:t>
            </a:r>
            <a:r>
              <a:rPr dirty="0" sz="1200" spc="-5">
                <a:latin typeface="Arial"/>
                <a:cs typeface="Arial"/>
              </a:rPr>
              <a:t>and</a:t>
            </a:r>
            <a:r>
              <a:rPr dirty="0" sz="1200" spc="-40">
                <a:latin typeface="Arial"/>
                <a:cs typeface="Arial"/>
              </a:rPr>
              <a:t> </a:t>
            </a:r>
            <a:r>
              <a:rPr dirty="0" sz="1200" spc="-5">
                <a:latin typeface="Arial"/>
                <a:cs typeface="Arial"/>
              </a:rPr>
              <a:t>Aakhirah</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To </a:t>
            </a:r>
            <a:r>
              <a:rPr dirty="0" sz="1200">
                <a:latin typeface="Arial"/>
                <a:cs typeface="Arial"/>
              </a:rPr>
              <a:t>be </a:t>
            </a:r>
            <a:r>
              <a:rPr dirty="0" sz="1200" spc="-5">
                <a:latin typeface="Arial"/>
                <a:cs typeface="Arial"/>
              </a:rPr>
              <a:t>witnesses of our good and bad deeds among</a:t>
            </a:r>
            <a:r>
              <a:rPr dirty="0" sz="1200" spc="-50">
                <a:latin typeface="Arial"/>
                <a:cs typeface="Arial"/>
              </a:rPr>
              <a:t> </a:t>
            </a:r>
            <a:r>
              <a:rPr dirty="0" sz="1200">
                <a:latin typeface="Arial"/>
                <a:cs typeface="Arial"/>
              </a:rPr>
              <a:t>others.</a:t>
            </a:r>
            <a:endParaRPr sz="1200">
              <a:latin typeface="Arial"/>
              <a:cs typeface="Arial"/>
            </a:endParaRPr>
          </a:p>
          <a:p>
            <a:pPr>
              <a:lnSpc>
                <a:spcPct val="100000"/>
              </a:lnSpc>
            </a:pPr>
            <a:endParaRPr sz="1300">
              <a:latin typeface="Arial"/>
              <a:cs typeface="Arial"/>
            </a:endParaRPr>
          </a:p>
          <a:p>
            <a:pPr>
              <a:lnSpc>
                <a:spcPct val="100000"/>
              </a:lnSpc>
              <a:spcBef>
                <a:spcPts val="50"/>
              </a:spcBef>
            </a:pPr>
            <a:endParaRPr sz="1000">
              <a:latin typeface="Arial"/>
              <a:cs typeface="Arial"/>
            </a:endParaRPr>
          </a:p>
          <a:p>
            <a:pPr marL="12700">
              <a:lnSpc>
                <a:spcPct val="100000"/>
              </a:lnSpc>
              <a:spcBef>
                <a:spcPts val="5"/>
              </a:spcBef>
            </a:pPr>
            <a:r>
              <a:rPr dirty="0" u="heavy" sz="1200" spc="-5" b="1" i="1">
                <a:uFill>
                  <a:solidFill>
                    <a:srgbClr val="000000"/>
                  </a:solidFill>
                </a:uFill>
                <a:latin typeface="Arial"/>
                <a:cs typeface="Arial"/>
              </a:rPr>
              <a:t>Books</a:t>
            </a:r>
            <a:endParaRPr sz="1200">
              <a:latin typeface="Arial"/>
              <a:cs typeface="Arial"/>
            </a:endParaRPr>
          </a:p>
          <a:p>
            <a:pPr>
              <a:lnSpc>
                <a:spcPct val="100000"/>
              </a:lnSpc>
              <a:spcBef>
                <a:spcPts val="35"/>
              </a:spcBef>
            </a:pPr>
            <a:endParaRPr sz="1200">
              <a:latin typeface="Arial"/>
              <a:cs typeface="Arial"/>
            </a:endParaRPr>
          </a:p>
          <a:p>
            <a:pPr algn="just" marL="12700" marR="10160">
              <a:lnSpc>
                <a:spcPts val="1380"/>
              </a:lnSpc>
            </a:pPr>
            <a:r>
              <a:rPr dirty="0" sz="1200" spc="-5">
                <a:latin typeface="Arial"/>
                <a:cs typeface="Arial"/>
              </a:rPr>
              <a:t>Since </a:t>
            </a:r>
            <a:r>
              <a:rPr dirty="0" sz="1200">
                <a:latin typeface="Arial"/>
                <a:cs typeface="Arial"/>
              </a:rPr>
              <a:t>the </a:t>
            </a:r>
            <a:r>
              <a:rPr dirty="0" sz="1200" spc="-5">
                <a:latin typeface="Arial"/>
                <a:cs typeface="Arial"/>
              </a:rPr>
              <a:t>sending of prophets and nations </a:t>
            </a:r>
            <a:r>
              <a:rPr dirty="0" sz="1200">
                <a:latin typeface="Arial"/>
                <a:cs typeface="Arial"/>
              </a:rPr>
              <a:t>to </a:t>
            </a:r>
            <a:r>
              <a:rPr dirty="0" sz="1200" spc="-5">
                <a:latin typeface="Arial"/>
                <a:cs typeface="Arial"/>
              </a:rPr>
              <a:t>earth, Allah has sent many books or </a:t>
            </a:r>
            <a:r>
              <a:rPr dirty="0" sz="1200">
                <a:latin typeface="Arial"/>
                <a:cs typeface="Arial"/>
              </a:rPr>
              <a:t>set </a:t>
            </a:r>
            <a:r>
              <a:rPr dirty="0" sz="1200" spc="-5">
                <a:latin typeface="Arial"/>
                <a:cs typeface="Arial"/>
              </a:rPr>
              <a:t>of  orders </a:t>
            </a:r>
            <a:r>
              <a:rPr dirty="0" sz="1200">
                <a:latin typeface="Arial"/>
                <a:cs typeface="Arial"/>
              </a:rPr>
              <a:t>to </a:t>
            </a:r>
            <a:r>
              <a:rPr dirty="0" sz="1200" spc="-5">
                <a:latin typeface="Arial"/>
                <a:cs typeface="Arial"/>
              </a:rPr>
              <a:t>human beings. </a:t>
            </a:r>
            <a:r>
              <a:rPr dirty="0" sz="1200">
                <a:latin typeface="Arial"/>
                <a:cs typeface="Arial"/>
              </a:rPr>
              <a:t>They </a:t>
            </a:r>
            <a:r>
              <a:rPr dirty="0" sz="1200" spc="-5">
                <a:latin typeface="Arial"/>
                <a:cs typeface="Arial"/>
              </a:rPr>
              <a:t>are divine guidance </a:t>
            </a:r>
            <a:r>
              <a:rPr dirty="0" sz="1200">
                <a:latin typeface="Arial"/>
                <a:cs typeface="Arial"/>
              </a:rPr>
              <a:t>for </a:t>
            </a:r>
            <a:r>
              <a:rPr dirty="0" sz="1200" spc="-5">
                <a:latin typeface="Arial"/>
                <a:cs typeface="Arial"/>
              </a:rPr>
              <a:t>the progress of Man in all worlds.  Among </a:t>
            </a:r>
            <a:r>
              <a:rPr dirty="0" sz="1200">
                <a:latin typeface="Arial"/>
                <a:cs typeface="Arial"/>
              </a:rPr>
              <a:t>others </a:t>
            </a:r>
            <a:r>
              <a:rPr dirty="0" sz="1200" spc="-10">
                <a:latin typeface="Arial"/>
                <a:cs typeface="Arial"/>
              </a:rPr>
              <a:t>we </a:t>
            </a:r>
            <a:r>
              <a:rPr dirty="0" sz="1200" spc="-5">
                <a:latin typeface="Arial"/>
                <a:cs typeface="Arial"/>
              </a:rPr>
              <a:t>have </a:t>
            </a:r>
            <a:r>
              <a:rPr dirty="0" sz="1200">
                <a:latin typeface="Arial"/>
                <a:cs typeface="Arial"/>
              </a:rPr>
              <a:t>the </a:t>
            </a:r>
            <a:r>
              <a:rPr dirty="0" sz="1200" spc="-5">
                <a:latin typeface="Arial"/>
                <a:cs typeface="Arial"/>
              </a:rPr>
              <a:t>Tawraat </a:t>
            </a:r>
            <a:r>
              <a:rPr dirty="0" sz="1200">
                <a:latin typeface="Arial"/>
                <a:cs typeface="Arial"/>
              </a:rPr>
              <a:t>to </a:t>
            </a:r>
            <a:r>
              <a:rPr dirty="0" sz="1200" spc="-5">
                <a:latin typeface="Arial"/>
                <a:cs typeface="Arial"/>
              </a:rPr>
              <a:t>Hazrat Musah </a:t>
            </a:r>
            <a:r>
              <a:rPr dirty="0" sz="1200">
                <a:latin typeface="Arial"/>
                <a:cs typeface="Arial"/>
              </a:rPr>
              <a:t>(as), </a:t>
            </a:r>
            <a:r>
              <a:rPr dirty="0" sz="1200" spc="-5">
                <a:latin typeface="Arial"/>
                <a:cs typeface="Arial"/>
              </a:rPr>
              <a:t>the Zabour </a:t>
            </a:r>
            <a:r>
              <a:rPr dirty="0" sz="1200">
                <a:latin typeface="Arial"/>
                <a:cs typeface="Arial"/>
              </a:rPr>
              <a:t>to </a:t>
            </a:r>
            <a:r>
              <a:rPr dirty="0" sz="1200" spc="-5">
                <a:latin typeface="Arial"/>
                <a:cs typeface="Arial"/>
              </a:rPr>
              <a:t>Hazrat Dawoud  </a:t>
            </a:r>
            <a:r>
              <a:rPr dirty="0" sz="1200">
                <a:latin typeface="Arial"/>
                <a:cs typeface="Arial"/>
              </a:rPr>
              <a:t>(as), the </a:t>
            </a:r>
            <a:r>
              <a:rPr dirty="0" sz="1200" spc="-5">
                <a:latin typeface="Arial"/>
                <a:cs typeface="Arial"/>
              </a:rPr>
              <a:t>Souhouf </a:t>
            </a:r>
            <a:r>
              <a:rPr dirty="0" sz="1200">
                <a:latin typeface="Arial"/>
                <a:cs typeface="Arial"/>
              </a:rPr>
              <a:t>to </a:t>
            </a:r>
            <a:r>
              <a:rPr dirty="0" sz="1200" spc="-5">
                <a:latin typeface="Arial"/>
                <a:cs typeface="Arial"/>
              </a:rPr>
              <a:t>Hazrat </a:t>
            </a:r>
            <a:r>
              <a:rPr dirty="0" sz="1200">
                <a:latin typeface="Arial"/>
                <a:cs typeface="Arial"/>
              </a:rPr>
              <a:t>Ibrahim (as), the Injeel </a:t>
            </a:r>
            <a:r>
              <a:rPr dirty="0" sz="1200" spc="-5">
                <a:latin typeface="Arial"/>
                <a:cs typeface="Arial"/>
              </a:rPr>
              <a:t>to Hazrat </a:t>
            </a:r>
            <a:r>
              <a:rPr dirty="0" sz="1200">
                <a:latin typeface="Arial"/>
                <a:cs typeface="Arial"/>
              </a:rPr>
              <a:t>Isa </a:t>
            </a:r>
            <a:r>
              <a:rPr dirty="0" sz="1200" spc="-5">
                <a:latin typeface="Arial"/>
                <a:cs typeface="Arial"/>
              </a:rPr>
              <a:t>(as) </a:t>
            </a:r>
            <a:r>
              <a:rPr dirty="0" sz="1200">
                <a:latin typeface="Arial"/>
                <a:cs typeface="Arial"/>
              </a:rPr>
              <a:t>and </a:t>
            </a:r>
            <a:r>
              <a:rPr dirty="0" sz="1200" spc="-5">
                <a:latin typeface="Arial"/>
                <a:cs typeface="Arial"/>
              </a:rPr>
              <a:t>the Qur‘an to </a:t>
            </a:r>
            <a:r>
              <a:rPr dirty="0" sz="1200" spc="-10">
                <a:latin typeface="Arial"/>
                <a:cs typeface="Arial"/>
              </a:rPr>
              <a:t>the  </a:t>
            </a:r>
            <a:r>
              <a:rPr dirty="0" sz="1200">
                <a:latin typeface="Arial"/>
                <a:cs typeface="Arial"/>
              </a:rPr>
              <a:t>last </a:t>
            </a:r>
            <a:r>
              <a:rPr dirty="0" sz="1200" spc="-5">
                <a:latin typeface="Arial"/>
                <a:cs typeface="Arial"/>
              </a:rPr>
              <a:t>Prophet Muhammad (s.a.w). these books </a:t>
            </a:r>
            <a:r>
              <a:rPr dirty="0" sz="1200">
                <a:latin typeface="Arial"/>
                <a:cs typeface="Arial"/>
              </a:rPr>
              <a:t>and </a:t>
            </a:r>
            <a:r>
              <a:rPr dirty="0" sz="1200" spc="-5">
                <a:latin typeface="Arial"/>
                <a:cs typeface="Arial"/>
              </a:rPr>
              <a:t>scriptures </a:t>
            </a:r>
            <a:r>
              <a:rPr dirty="0" sz="1200" spc="-10">
                <a:latin typeface="Arial"/>
                <a:cs typeface="Arial"/>
              </a:rPr>
              <a:t>are divine </a:t>
            </a:r>
            <a:r>
              <a:rPr dirty="0" sz="1200">
                <a:latin typeface="Arial"/>
                <a:cs typeface="Arial"/>
              </a:rPr>
              <a:t>and </a:t>
            </a:r>
            <a:r>
              <a:rPr dirty="0" sz="1200" spc="-5">
                <a:latin typeface="Arial"/>
                <a:cs typeface="Arial"/>
              </a:rPr>
              <a:t>won‘t </a:t>
            </a:r>
            <a:r>
              <a:rPr dirty="0" sz="1200">
                <a:latin typeface="Arial"/>
                <a:cs typeface="Arial"/>
              </a:rPr>
              <a:t>be </a:t>
            </a:r>
            <a:r>
              <a:rPr dirty="0" sz="1200" spc="-5">
                <a:latin typeface="Arial"/>
                <a:cs typeface="Arial"/>
              </a:rPr>
              <a:t>able </a:t>
            </a:r>
            <a:r>
              <a:rPr dirty="0" sz="1200">
                <a:latin typeface="Arial"/>
                <a:cs typeface="Arial"/>
              </a:rPr>
              <a:t>to  </a:t>
            </a:r>
            <a:r>
              <a:rPr dirty="0" sz="1200" spc="-5">
                <a:latin typeface="Arial"/>
                <a:cs typeface="Arial"/>
              </a:rPr>
              <a:t>imitate. They </a:t>
            </a:r>
            <a:r>
              <a:rPr dirty="0" sz="1200">
                <a:latin typeface="Arial"/>
                <a:cs typeface="Arial"/>
              </a:rPr>
              <a:t>are </a:t>
            </a:r>
            <a:r>
              <a:rPr dirty="0" sz="1200" spc="-5">
                <a:latin typeface="Arial"/>
                <a:cs typeface="Arial"/>
              </a:rPr>
              <a:t>devoid of sins</a:t>
            </a:r>
            <a:r>
              <a:rPr dirty="0" sz="1200">
                <a:latin typeface="Arial"/>
                <a:cs typeface="Arial"/>
              </a:rPr>
              <a:t> .</a:t>
            </a:r>
            <a:endParaRPr sz="1200">
              <a:latin typeface="Arial"/>
              <a:cs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311265" cy="897128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Why </a:t>
            </a:r>
            <a:r>
              <a:rPr dirty="0" u="heavy" sz="1200" b="1" i="1">
                <a:uFill>
                  <a:solidFill>
                    <a:srgbClr val="000000"/>
                  </a:solidFill>
                </a:uFill>
                <a:latin typeface="Arial"/>
                <a:cs typeface="Arial"/>
              </a:rPr>
              <a:t>were </a:t>
            </a:r>
            <a:r>
              <a:rPr dirty="0" u="heavy" sz="1200" spc="-5" b="1" i="1">
                <a:uFill>
                  <a:solidFill>
                    <a:srgbClr val="000000"/>
                  </a:solidFill>
                </a:uFill>
                <a:latin typeface="Arial"/>
                <a:cs typeface="Arial"/>
              </a:rPr>
              <a:t>we given</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books?</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They </a:t>
            </a:r>
            <a:r>
              <a:rPr dirty="0" sz="1200">
                <a:latin typeface="Arial"/>
                <a:cs typeface="Arial"/>
              </a:rPr>
              <a:t>act </a:t>
            </a:r>
            <a:r>
              <a:rPr dirty="0" sz="1200" spc="-5">
                <a:latin typeface="Arial"/>
                <a:cs typeface="Arial"/>
              </a:rPr>
              <a:t>as source of guidance </a:t>
            </a:r>
            <a:r>
              <a:rPr dirty="0" sz="1200">
                <a:latin typeface="Arial"/>
                <a:cs typeface="Arial"/>
              </a:rPr>
              <a:t>for </a:t>
            </a:r>
            <a:r>
              <a:rPr dirty="0" sz="1200" spc="-5">
                <a:latin typeface="Arial"/>
                <a:cs typeface="Arial"/>
              </a:rPr>
              <a:t>Mankind</a:t>
            </a:r>
            <a:endParaRPr sz="1200">
              <a:latin typeface="Arial"/>
              <a:cs typeface="Arial"/>
            </a:endParaRPr>
          </a:p>
          <a:p>
            <a:pPr marL="469900" indent="-229235">
              <a:lnSpc>
                <a:spcPts val="1380"/>
              </a:lnSpc>
              <a:buAutoNum type="arabicPeriod"/>
              <a:tabLst>
                <a:tab pos="470534" algn="l"/>
              </a:tabLst>
            </a:pPr>
            <a:r>
              <a:rPr dirty="0" sz="1200">
                <a:latin typeface="Arial"/>
                <a:cs typeface="Arial"/>
              </a:rPr>
              <a:t>Code </a:t>
            </a:r>
            <a:r>
              <a:rPr dirty="0" sz="1200" spc="-5">
                <a:latin typeface="Arial"/>
                <a:cs typeface="Arial"/>
              </a:rPr>
              <a:t>of conduct </a:t>
            </a:r>
            <a:r>
              <a:rPr dirty="0" sz="1200">
                <a:latin typeface="Arial"/>
                <a:cs typeface="Arial"/>
              </a:rPr>
              <a:t>for</a:t>
            </a:r>
            <a:r>
              <a:rPr dirty="0" sz="1200" spc="-5">
                <a:latin typeface="Arial"/>
                <a:cs typeface="Arial"/>
              </a:rPr>
              <a:t> success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Reminder of </a:t>
            </a:r>
            <a:r>
              <a:rPr dirty="0" sz="1200">
                <a:latin typeface="Arial"/>
                <a:cs typeface="Arial"/>
              </a:rPr>
              <a:t>the </a:t>
            </a:r>
            <a:r>
              <a:rPr dirty="0" sz="1200" spc="-5">
                <a:latin typeface="Arial"/>
                <a:cs typeface="Arial"/>
              </a:rPr>
              <a:t>favours from</a:t>
            </a:r>
            <a:r>
              <a:rPr dirty="0" sz="1200" spc="-15">
                <a:latin typeface="Arial"/>
                <a:cs typeface="Arial"/>
              </a:rPr>
              <a:t> </a:t>
            </a:r>
            <a:r>
              <a:rPr dirty="0" sz="1200" spc="-5">
                <a:latin typeface="Arial"/>
                <a:cs typeface="Arial"/>
              </a:rPr>
              <a:t>Allah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Lessons derived from stories</a:t>
            </a:r>
            <a:r>
              <a:rPr dirty="0" sz="1200">
                <a:latin typeface="Arial"/>
                <a:cs typeface="Arial"/>
              </a:rPr>
              <a:t> </a:t>
            </a:r>
            <a:r>
              <a:rPr dirty="0" sz="1200" spc="-5">
                <a:latin typeface="Arial"/>
                <a:cs typeface="Arial"/>
              </a:rPr>
              <a:t>therein</a:t>
            </a:r>
            <a:endParaRPr sz="1200">
              <a:latin typeface="Arial"/>
              <a:cs typeface="Arial"/>
            </a:endParaRPr>
          </a:p>
          <a:p>
            <a:pPr marL="469900" indent="-229235">
              <a:lnSpc>
                <a:spcPts val="1380"/>
              </a:lnSpc>
              <a:buAutoNum type="arabicPeriod"/>
              <a:tabLst>
                <a:tab pos="470534" algn="l"/>
              </a:tabLst>
            </a:pPr>
            <a:r>
              <a:rPr dirty="0" sz="1200">
                <a:latin typeface="Arial"/>
                <a:cs typeface="Arial"/>
              </a:rPr>
              <a:t>Ways </a:t>
            </a:r>
            <a:r>
              <a:rPr dirty="0" sz="1200" spc="-5">
                <a:latin typeface="Arial"/>
                <a:cs typeface="Arial"/>
              </a:rPr>
              <a:t>of how </a:t>
            </a:r>
            <a:r>
              <a:rPr dirty="0" sz="1200">
                <a:latin typeface="Arial"/>
                <a:cs typeface="Arial"/>
              </a:rPr>
              <a:t>to </a:t>
            </a:r>
            <a:r>
              <a:rPr dirty="0" sz="1200" spc="-5">
                <a:latin typeface="Arial"/>
                <a:cs typeface="Arial"/>
              </a:rPr>
              <a:t>avoid</a:t>
            </a:r>
            <a:r>
              <a:rPr dirty="0" sz="1200" spc="-20">
                <a:latin typeface="Arial"/>
                <a:cs typeface="Arial"/>
              </a:rPr>
              <a:t> </a:t>
            </a:r>
            <a:r>
              <a:rPr dirty="0" sz="1200" spc="-5">
                <a:latin typeface="Arial"/>
                <a:cs typeface="Arial"/>
              </a:rPr>
              <a:t>Pitfalls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Ways </a:t>
            </a:r>
            <a:r>
              <a:rPr dirty="0" sz="1200" spc="-5">
                <a:latin typeface="Arial"/>
                <a:cs typeface="Arial"/>
              </a:rPr>
              <a:t>to distinguish between Halal and</a:t>
            </a:r>
            <a:r>
              <a:rPr dirty="0" sz="1200" spc="35">
                <a:latin typeface="Arial"/>
                <a:cs typeface="Arial"/>
              </a:rPr>
              <a:t> </a:t>
            </a:r>
            <a:r>
              <a:rPr dirty="0" sz="1200" spc="-5">
                <a:latin typeface="Arial"/>
                <a:cs typeface="Arial"/>
              </a:rPr>
              <a:t>Haram</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Means to obtain wisdom</a:t>
            </a:r>
            <a:endParaRPr sz="1200">
              <a:latin typeface="Arial"/>
              <a:cs typeface="Arial"/>
            </a:endParaRPr>
          </a:p>
          <a:p>
            <a:pPr marL="469900" indent="-229235">
              <a:lnSpc>
                <a:spcPts val="1380"/>
              </a:lnSpc>
              <a:buAutoNum type="arabicPeriod"/>
              <a:tabLst>
                <a:tab pos="470534" algn="l"/>
              </a:tabLst>
            </a:pPr>
            <a:r>
              <a:rPr dirty="0" sz="1200">
                <a:latin typeface="Arial"/>
                <a:cs typeface="Arial"/>
              </a:rPr>
              <a:t>Ways </a:t>
            </a:r>
            <a:r>
              <a:rPr dirty="0" sz="1200" spc="-5">
                <a:latin typeface="Arial"/>
                <a:cs typeface="Arial"/>
              </a:rPr>
              <a:t>to remember</a:t>
            </a:r>
            <a:r>
              <a:rPr dirty="0" sz="1200">
                <a:latin typeface="Arial"/>
                <a:cs typeface="Arial"/>
              </a:rPr>
              <a:t> </a:t>
            </a:r>
            <a:r>
              <a:rPr dirty="0" sz="1200" spc="-5">
                <a:latin typeface="Arial"/>
                <a:cs typeface="Arial"/>
              </a:rPr>
              <a:t>Allah</a:t>
            </a:r>
            <a:endParaRPr sz="1200">
              <a:latin typeface="Arial"/>
              <a:cs typeface="Arial"/>
            </a:endParaRPr>
          </a:p>
          <a:p>
            <a:pPr marL="469900" indent="-229235">
              <a:lnSpc>
                <a:spcPts val="1380"/>
              </a:lnSpc>
              <a:buAutoNum type="arabicPeriod"/>
              <a:tabLst>
                <a:tab pos="470534" algn="l"/>
              </a:tabLst>
            </a:pPr>
            <a:r>
              <a:rPr dirty="0" sz="1200">
                <a:latin typeface="Arial"/>
                <a:cs typeface="Arial"/>
              </a:rPr>
              <a:t>To </a:t>
            </a:r>
            <a:r>
              <a:rPr dirty="0" sz="1200" spc="-5">
                <a:latin typeface="Arial"/>
                <a:cs typeface="Arial"/>
              </a:rPr>
              <a:t>tenderise </a:t>
            </a:r>
            <a:r>
              <a:rPr dirty="0" sz="1200">
                <a:latin typeface="Arial"/>
                <a:cs typeface="Arial"/>
              </a:rPr>
              <a:t>the</a:t>
            </a:r>
            <a:r>
              <a:rPr dirty="0" sz="1200" spc="-30">
                <a:latin typeface="Arial"/>
                <a:cs typeface="Arial"/>
              </a:rPr>
              <a:t> </a:t>
            </a:r>
            <a:r>
              <a:rPr dirty="0" sz="1200" spc="-5">
                <a:latin typeface="Arial"/>
                <a:cs typeface="Arial"/>
              </a:rPr>
              <a:t>heart</a:t>
            </a:r>
            <a:endParaRPr sz="1200">
              <a:latin typeface="Arial"/>
              <a:cs typeface="Arial"/>
            </a:endParaRPr>
          </a:p>
          <a:p>
            <a:pPr marL="469900" indent="-229235">
              <a:lnSpc>
                <a:spcPts val="1410"/>
              </a:lnSpc>
              <a:buAutoNum type="arabicPeriod"/>
              <a:tabLst>
                <a:tab pos="470534" algn="l"/>
              </a:tabLst>
            </a:pPr>
            <a:r>
              <a:rPr dirty="0" sz="1200">
                <a:latin typeface="Arial"/>
                <a:cs typeface="Arial"/>
              </a:rPr>
              <a:t>To </a:t>
            </a:r>
            <a:r>
              <a:rPr dirty="0" sz="1200" spc="-5">
                <a:latin typeface="Arial"/>
                <a:cs typeface="Arial"/>
              </a:rPr>
              <a:t>teach </a:t>
            </a:r>
            <a:r>
              <a:rPr dirty="0" sz="1200">
                <a:latin typeface="Arial"/>
                <a:cs typeface="Arial"/>
              </a:rPr>
              <a:t>us </a:t>
            </a:r>
            <a:r>
              <a:rPr dirty="0" sz="1200" spc="-5">
                <a:latin typeface="Arial"/>
                <a:cs typeface="Arial"/>
              </a:rPr>
              <a:t>about Allah, prophets and</a:t>
            </a:r>
            <a:r>
              <a:rPr dirty="0" sz="1200" spc="-20">
                <a:latin typeface="Arial"/>
                <a:cs typeface="Arial"/>
              </a:rPr>
              <a:t> </a:t>
            </a:r>
            <a:r>
              <a:rPr dirty="0" sz="1200" spc="-5">
                <a:latin typeface="Arial"/>
                <a:cs typeface="Arial"/>
              </a:rPr>
              <a:t>Mankind</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Messengers</a:t>
            </a:r>
            <a:endParaRPr sz="1200">
              <a:latin typeface="Arial"/>
              <a:cs typeface="Arial"/>
            </a:endParaRPr>
          </a:p>
          <a:p>
            <a:pPr>
              <a:lnSpc>
                <a:spcPct val="100000"/>
              </a:lnSpc>
              <a:spcBef>
                <a:spcPts val="40"/>
              </a:spcBef>
            </a:pPr>
            <a:endParaRPr sz="1200">
              <a:latin typeface="Arial"/>
              <a:cs typeface="Arial"/>
            </a:endParaRPr>
          </a:p>
          <a:p>
            <a:pPr algn="just" marL="12700" marR="5080">
              <a:lnSpc>
                <a:spcPts val="1380"/>
              </a:lnSpc>
            </a:pPr>
            <a:r>
              <a:rPr dirty="0" sz="1200" spc="-5">
                <a:latin typeface="Arial"/>
                <a:cs typeface="Arial"/>
              </a:rPr>
              <a:t>According </a:t>
            </a:r>
            <a:r>
              <a:rPr dirty="0" sz="1200">
                <a:latin typeface="Arial"/>
                <a:cs typeface="Arial"/>
              </a:rPr>
              <a:t>to </a:t>
            </a:r>
            <a:r>
              <a:rPr dirty="0" sz="1200" spc="-5">
                <a:latin typeface="Arial"/>
                <a:cs typeface="Arial"/>
              </a:rPr>
              <a:t>Hadith there are approximately 124000 prophets and 313 messengers. </a:t>
            </a:r>
            <a:r>
              <a:rPr dirty="0" sz="1200">
                <a:latin typeface="Arial"/>
                <a:cs typeface="Arial"/>
              </a:rPr>
              <a:t>They  </a:t>
            </a:r>
            <a:r>
              <a:rPr dirty="0" sz="1200" spc="-5">
                <a:latin typeface="Arial"/>
                <a:cs typeface="Arial"/>
              </a:rPr>
              <a:t>are </a:t>
            </a:r>
            <a:r>
              <a:rPr dirty="0" sz="1200">
                <a:latin typeface="Arial"/>
                <a:cs typeface="Arial"/>
              </a:rPr>
              <a:t>the </a:t>
            </a:r>
            <a:r>
              <a:rPr dirty="0" sz="1200" spc="-5">
                <a:latin typeface="Arial"/>
                <a:cs typeface="Arial"/>
              </a:rPr>
              <a:t>vicegerent </a:t>
            </a:r>
            <a:r>
              <a:rPr dirty="0" sz="1200">
                <a:latin typeface="Arial"/>
                <a:cs typeface="Arial"/>
              </a:rPr>
              <a:t>of </a:t>
            </a:r>
            <a:r>
              <a:rPr dirty="0" sz="1200" spc="-5">
                <a:latin typeface="Arial"/>
                <a:cs typeface="Arial"/>
              </a:rPr>
              <a:t>Allah </a:t>
            </a:r>
            <a:r>
              <a:rPr dirty="0" sz="1200">
                <a:latin typeface="Arial"/>
                <a:cs typeface="Arial"/>
              </a:rPr>
              <a:t>sent to </a:t>
            </a:r>
            <a:r>
              <a:rPr dirty="0" sz="1200" spc="-5">
                <a:latin typeface="Arial"/>
                <a:cs typeface="Arial"/>
              </a:rPr>
              <a:t>help Mankind. </a:t>
            </a:r>
            <a:r>
              <a:rPr dirty="0" sz="1200">
                <a:latin typeface="Arial"/>
                <a:cs typeface="Arial"/>
              </a:rPr>
              <a:t>They </a:t>
            </a:r>
            <a:r>
              <a:rPr dirty="0" sz="1200" spc="-5">
                <a:latin typeface="Arial"/>
                <a:cs typeface="Arial"/>
              </a:rPr>
              <a:t>are </a:t>
            </a:r>
            <a:r>
              <a:rPr dirty="0" sz="1200">
                <a:latin typeface="Arial"/>
                <a:cs typeface="Arial"/>
              </a:rPr>
              <a:t>closer to </a:t>
            </a:r>
            <a:r>
              <a:rPr dirty="0" sz="1200" spc="-5">
                <a:latin typeface="Arial"/>
                <a:cs typeface="Arial"/>
              </a:rPr>
              <a:t>Allah </a:t>
            </a:r>
            <a:r>
              <a:rPr dirty="0" sz="1200">
                <a:latin typeface="Arial"/>
                <a:cs typeface="Arial"/>
              </a:rPr>
              <a:t>than </a:t>
            </a:r>
            <a:r>
              <a:rPr dirty="0" sz="1200" spc="-5">
                <a:latin typeface="Arial"/>
                <a:cs typeface="Arial"/>
              </a:rPr>
              <a:t>anyone. Their  </a:t>
            </a:r>
            <a:r>
              <a:rPr dirty="0" sz="1200">
                <a:latin typeface="Arial"/>
                <a:cs typeface="Arial"/>
              </a:rPr>
              <a:t>intercessions </a:t>
            </a:r>
            <a:r>
              <a:rPr dirty="0" sz="1200" spc="-5">
                <a:latin typeface="Arial"/>
                <a:cs typeface="Arial"/>
              </a:rPr>
              <a:t>are important. They are different prophets </a:t>
            </a:r>
            <a:r>
              <a:rPr dirty="0" sz="1200">
                <a:latin typeface="Arial"/>
                <a:cs typeface="Arial"/>
              </a:rPr>
              <a:t>for </a:t>
            </a:r>
            <a:r>
              <a:rPr dirty="0" sz="1200" spc="-5">
                <a:latin typeface="Arial"/>
                <a:cs typeface="Arial"/>
              </a:rPr>
              <a:t>different periods such as Adam,  Shi‘ite, Nuh, Musah, </a:t>
            </a:r>
            <a:r>
              <a:rPr dirty="0" sz="1200">
                <a:latin typeface="Arial"/>
                <a:cs typeface="Arial"/>
              </a:rPr>
              <a:t>Isa, </a:t>
            </a:r>
            <a:r>
              <a:rPr dirty="0" sz="1200" spc="-5">
                <a:latin typeface="Arial"/>
                <a:cs typeface="Arial"/>
              </a:rPr>
              <a:t>Ismail, Ibrahim, Zakariyyah, Idris, Haroun, Dhun Nun, Ya‘qub,  Dawoud, Sulliman, </a:t>
            </a:r>
            <a:r>
              <a:rPr dirty="0" sz="1200" spc="-10">
                <a:latin typeface="Arial"/>
                <a:cs typeface="Arial"/>
              </a:rPr>
              <a:t>Ayyub </a:t>
            </a:r>
            <a:r>
              <a:rPr dirty="0" sz="1200" spc="-5">
                <a:latin typeface="Arial"/>
                <a:cs typeface="Arial"/>
              </a:rPr>
              <a:t>and Muhammad among others. They had been </a:t>
            </a:r>
            <a:r>
              <a:rPr dirty="0" sz="1200">
                <a:latin typeface="Arial"/>
                <a:cs typeface="Arial"/>
              </a:rPr>
              <a:t>sent </a:t>
            </a:r>
            <a:r>
              <a:rPr dirty="0" sz="1200" spc="-5">
                <a:latin typeface="Arial"/>
                <a:cs typeface="Arial"/>
              </a:rPr>
              <a:t>as  messengers and vice gerent of Allah. All of them accepted Allah and monotheism. </a:t>
            </a:r>
            <a:r>
              <a:rPr dirty="0" sz="1200">
                <a:latin typeface="Arial"/>
                <a:cs typeface="Arial"/>
              </a:rPr>
              <a:t>They </a:t>
            </a:r>
            <a:r>
              <a:rPr dirty="0" sz="1200" spc="-5">
                <a:latin typeface="Arial"/>
                <a:cs typeface="Arial"/>
              </a:rPr>
              <a:t>are  infallible, that is </a:t>
            </a:r>
            <a:r>
              <a:rPr dirty="0" sz="1200">
                <a:latin typeface="Arial"/>
                <a:cs typeface="Arial"/>
              </a:rPr>
              <a:t>they </a:t>
            </a:r>
            <a:r>
              <a:rPr dirty="0" sz="1200" spc="-5">
                <a:latin typeface="Arial"/>
                <a:cs typeface="Arial"/>
              </a:rPr>
              <a:t>don‘t commit</a:t>
            </a:r>
            <a:r>
              <a:rPr dirty="0" sz="1200" spc="-25">
                <a:latin typeface="Arial"/>
                <a:cs typeface="Arial"/>
              </a:rPr>
              <a:t> </a:t>
            </a:r>
            <a:r>
              <a:rPr dirty="0" sz="1200">
                <a:latin typeface="Arial"/>
                <a:cs typeface="Arial"/>
              </a:rPr>
              <a:t>sins.</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Why </a:t>
            </a:r>
            <a:r>
              <a:rPr dirty="0" u="heavy" sz="1200" b="1" i="1">
                <a:uFill>
                  <a:solidFill>
                    <a:srgbClr val="000000"/>
                  </a:solidFill>
                </a:uFill>
                <a:latin typeface="Arial"/>
                <a:cs typeface="Arial"/>
              </a:rPr>
              <a:t>were </a:t>
            </a:r>
            <a:r>
              <a:rPr dirty="0" u="heavy" sz="1200" spc="-5" b="1" i="1">
                <a:uFill>
                  <a:solidFill>
                    <a:srgbClr val="000000"/>
                  </a:solidFill>
                </a:uFill>
                <a:latin typeface="Arial"/>
                <a:cs typeface="Arial"/>
              </a:rPr>
              <a:t>they</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sent?</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They were </a:t>
            </a:r>
            <a:r>
              <a:rPr dirty="0" sz="1200">
                <a:latin typeface="Arial"/>
                <a:cs typeface="Arial"/>
              </a:rPr>
              <a:t>sent </a:t>
            </a:r>
            <a:r>
              <a:rPr dirty="0" sz="1200" spc="-5">
                <a:latin typeface="Arial"/>
                <a:cs typeface="Arial"/>
              </a:rPr>
              <a:t>with </a:t>
            </a:r>
            <a:r>
              <a:rPr dirty="0" sz="1200">
                <a:latin typeface="Arial"/>
                <a:cs typeface="Arial"/>
              </a:rPr>
              <a:t>orders </a:t>
            </a:r>
            <a:r>
              <a:rPr dirty="0" sz="1200" spc="-5">
                <a:latin typeface="Arial"/>
                <a:cs typeface="Arial"/>
              </a:rPr>
              <a:t>and commands from </a:t>
            </a:r>
            <a:r>
              <a:rPr dirty="0" sz="1200">
                <a:latin typeface="Arial"/>
                <a:cs typeface="Arial"/>
              </a:rPr>
              <a:t>Allah </a:t>
            </a:r>
            <a:r>
              <a:rPr dirty="0" sz="1200" spc="-5">
                <a:latin typeface="Arial"/>
                <a:cs typeface="Arial"/>
              </a:rPr>
              <a:t>as messages </a:t>
            </a:r>
            <a:r>
              <a:rPr dirty="0" sz="1200">
                <a:latin typeface="Arial"/>
                <a:cs typeface="Arial"/>
              </a:rPr>
              <a:t>to </a:t>
            </a:r>
            <a:r>
              <a:rPr dirty="0" sz="1200" spc="-5">
                <a:latin typeface="Arial"/>
                <a:cs typeface="Arial"/>
              </a:rPr>
              <a:t>their</a:t>
            </a:r>
            <a:r>
              <a:rPr dirty="0" sz="1200" spc="20">
                <a:latin typeface="Arial"/>
                <a:cs typeface="Arial"/>
              </a:rPr>
              <a:t> </a:t>
            </a:r>
            <a:r>
              <a:rPr dirty="0" sz="1200" spc="-5">
                <a:latin typeface="Arial"/>
                <a:cs typeface="Arial"/>
              </a:rPr>
              <a:t>people.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are examples </a:t>
            </a:r>
            <a:r>
              <a:rPr dirty="0" sz="1200">
                <a:latin typeface="Arial"/>
                <a:cs typeface="Arial"/>
              </a:rPr>
              <a:t>to </a:t>
            </a:r>
            <a:r>
              <a:rPr dirty="0" sz="1200" spc="-5">
                <a:latin typeface="Arial"/>
                <a:cs typeface="Arial"/>
              </a:rPr>
              <a:t>be</a:t>
            </a:r>
            <a:r>
              <a:rPr dirty="0" sz="1200" spc="-30">
                <a:latin typeface="Arial"/>
                <a:cs typeface="Arial"/>
              </a:rPr>
              <a:t> </a:t>
            </a:r>
            <a:r>
              <a:rPr dirty="0" sz="1200" spc="-5">
                <a:latin typeface="Arial"/>
                <a:cs typeface="Arial"/>
              </a:rPr>
              <a:t>followed</a:t>
            </a:r>
            <a:endParaRPr sz="1200">
              <a:latin typeface="Arial"/>
              <a:cs typeface="Arial"/>
            </a:endParaRPr>
          </a:p>
          <a:p>
            <a:pPr marL="469900" indent="-229235">
              <a:lnSpc>
                <a:spcPts val="1380"/>
              </a:lnSpc>
              <a:buAutoNum type="arabicPeriod"/>
              <a:tabLst>
                <a:tab pos="470534" algn="l"/>
              </a:tabLst>
            </a:pPr>
            <a:r>
              <a:rPr dirty="0" sz="1200">
                <a:latin typeface="Arial"/>
                <a:cs typeface="Arial"/>
              </a:rPr>
              <a:t>They are our</a:t>
            </a:r>
            <a:r>
              <a:rPr dirty="0" sz="1200" spc="-35">
                <a:latin typeface="Arial"/>
                <a:cs typeface="Arial"/>
              </a:rPr>
              <a:t> </a:t>
            </a:r>
            <a:r>
              <a:rPr dirty="0" sz="1200" spc="-5">
                <a:latin typeface="Arial"/>
                <a:cs typeface="Arial"/>
              </a:rPr>
              <a:t>educators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They are our </a:t>
            </a:r>
            <a:r>
              <a:rPr dirty="0" sz="1200" spc="-5">
                <a:latin typeface="Arial"/>
                <a:cs typeface="Arial"/>
              </a:rPr>
              <a:t>interprets of the holy</a:t>
            </a:r>
            <a:r>
              <a:rPr dirty="0" sz="1200" spc="-30">
                <a:latin typeface="Arial"/>
                <a:cs typeface="Arial"/>
              </a:rPr>
              <a:t> </a:t>
            </a:r>
            <a:r>
              <a:rPr dirty="0" sz="1200" spc="-5">
                <a:latin typeface="Arial"/>
                <a:cs typeface="Arial"/>
              </a:rPr>
              <a:t>Books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They are </a:t>
            </a:r>
            <a:r>
              <a:rPr dirty="0" sz="1200" spc="-5">
                <a:latin typeface="Arial"/>
                <a:cs typeface="Arial"/>
              </a:rPr>
              <a:t>magnets of blessings </a:t>
            </a:r>
            <a:r>
              <a:rPr dirty="0" sz="1200">
                <a:latin typeface="Arial"/>
                <a:cs typeface="Arial"/>
              </a:rPr>
              <a:t>from</a:t>
            </a:r>
            <a:r>
              <a:rPr dirty="0" sz="1200" spc="-10">
                <a:latin typeface="Arial"/>
                <a:cs typeface="Arial"/>
              </a:rPr>
              <a:t> </a:t>
            </a:r>
            <a:r>
              <a:rPr dirty="0" sz="1200" spc="-5">
                <a:latin typeface="Arial"/>
                <a:cs typeface="Arial"/>
              </a:rPr>
              <a:t>Allah</a:t>
            </a:r>
            <a:endParaRPr sz="1200">
              <a:latin typeface="Arial"/>
              <a:cs typeface="Arial"/>
            </a:endParaRPr>
          </a:p>
          <a:p>
            <a:pPr marL="469900" indent="-229235">
              <a:lnSpc>
                <a:spcPts val="1380"/>
              </a:lnSpc>
              <a:buAutoNum type="arabicPeriod"/>
              <a:tabLst>
                <a:tab pos="470534" algn="l"/>
              </a:tabLst>
            </a:pPr>
            <a:r>
              <a:rPr dirty="0" sz="1200">
                <a:latin typeface="Arial"/>
                <a:cs typeface="Arial"/>
              </a:rPr>
              <a:t>They are shields </a:t>
            </a:r>
            <a:r>
              <a:rPr dirty="0" sz="1200" spc="-5">
                <a:latin typeface="Arial"/>
                <a:cs typeface="Arial"/>
              </a:rPr>
              <a:t>from punishment </a:t>
            </a:r>
            <a:r>
              <a:rPr dirty="0" sz="1200">
                <a:latin typeface="Arial"/>
                <a:cs typeface="Arial"/>
              </a:rPr>
              <a:t>for</a:t>
            </a:r>
            <a:r>
              <a:rPr dirty="0" sz="1200" spc="-45">
                <a:latin typeface="Arial"/>
                <a:cs typeface="Arial"/>
              </a:rPr>
              <a:t> </a:t>
            </a:r>
            <a:r>
              <a:rPr dirty="0" sz="1200" spc="-5">
                <a:latin typeface="Arial"/>
                <a:cs typeface="Arial"/>
              </a:rPr>
              <a:t>Mankind</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Their </a:t>
            </a:r>
            <a:r>
              <a:rPr dirty="0" sz="1200">
                <a:latin typeface="Arial"/>
                <a:cs typeface="Arial"/>
              </a:rPr>
              <a:t>du‘a are </a:t>
            </a:r>
            <a:r>
              <a:rPr dirty="0" sz="1200" spc="-5">
                <a:latin typeface="Arial"/>
                <a:cs typeface="Arial"/>
              </a:rPr>
              <a:t>accepted </a:t>
            </a:r>
            <a:r>
              <a:rPr dirty="0" sz="1200">
                <a:latin typeface="Arial"/>
                <a:cs typeface="Arial"/>
              </a:rPr>
              <a:t>by</a:t>
            </a:r>
            <a:r>
              <a:rPr dirty="0" sz="1200" spc="-40">
                <a:latin typeface="Arial"/>
                <a:cs typeface="Arial"/>
              </a:rPr>
              <a:t> </a:t>
            </a:r>
            <a:r>
              <a:rPr dirty="0" sz="1200" spc="-5">
                <a:latin typeface="Arial"/>
                <a:cs typeface="Arial"/>
              </a:rPr>
              <a:t>Allah</a:t>
            </a:r>
            <a:endParaRPr sz="1200">
              <a:latin typeface="Arial"/>
              <a:cs typeface="Arial"/>
            </a:endParaRPr>
          </a:p>
          <a:p>
            <a:pPr marL="469900" indent="-229235">
              <a:lnSpc>
                <a:spcPts val="1380"/>
              </a:lnSpc>
              <a:buAutoNum type="arabicPeriod"/>
              <a:tabLst>
                <a:tab pos="470534" algn="l"/>
              </a:tabLst>
            </a:pPr>
            <a:r>
              <a:rPr dirty="0" sz="1200">
                <a:latin typeface="Arial"/>
                <a:cs typeface="Arial"/>
              </a:rPr>
              <a:t>They acted </a:t>
            </a:r>
            <a:r>
              <a:rPr dirty="0" sz="1200" spc="-5">
                <a:latin typeface="Arial"/>
                <a:cs typeface="Arial"/>
              </a:rPr>
              <a:t>as</a:t>
            </a:r>
            <a:r>
              <a:rPr dirty="0" sz="1200" spc="-30">
                <a:latin typeface="Arial"/>
                <a:cs typeface="Arial"/>
              </a:rPr>
              <a:t> </a:t>
            </a:r>
            <a:r>
              <a:rPr dirty="0" sz="1200" spc="-5">
                <a:latin typeface="Arial"/>
                <a:cs typeface="Arial"/>
              </a:rPr>
              <a:t>guides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Their lives are as codes of</a:t>
            </a:r>
            <a:r>
              <a:rPr dirty="0" sz="1200" spc="25">
                <a:latin typeface="Arial"/>
                <a:cs typeface="Arial"/>
              </a:rPr>
              <a:t> </a:t>
            </a:r>
            <a:r>
              <a:rPr dirty="0" sz="1200" spc="-5">
                <a:latin typeface="Arial"/>
                <a:cs typeface="Arial"/>
              </a:rPr>
              <a:t>conduct</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They </a:t>
            </a:r>
            <a:r>
              <a:rPr dirty="0" sz="1200">
                <a:latin typeface="Arial"/>
                <a:cs typeface="Arial"/>
              </a:rPr>
              <a:t>know Allah much more </a:t>
            </a:r>
            <a:r>
              <a:rPr dirty="0" sz="1200" spc="-5">
                <a:latin typeface="Arial"/>
                <a:cs typeface="Arial"/>
              </a:rPr>
              <a:t>than </a:t>
            </a:r>
            <a:r>
              <a:rPr dirty="0" sz="1200" spc="-10">
                <a:latin typeface="Arial"/>
                <a:cs typeface="Arial"/>
              </a:rPr>
              <a:t>we </a:t>
            </a:r>
            <a:r>
              <a:rPr dirty="0" sz="1200">
                <a:latin typeface="Arial"/>
                <a:cs typeface="Arial"/>
              </a:rPr>
              <a:t>do</a:t>
            </a:r>
            <a:r>
              <a:rPr dirty="0" sz="1200" spc="-40">
                <a:latin typeface="Arial"/>
                <a:cs typeface="Arial"/>
              </a:rPr>
              <a:t> </a:t>
            </a:r>
            <a:r>
              <a:rPr dirty="0" sz="1200" spc="-10">
                <a:latin typeface="Arial"/>
                <a:cs typeface="Arial"/>
              </a:rPr>
              <a:t>know.</a:t>
            </a:r>
            <a:endParaRPr sz="1200">
              <a:latin typeface="Arial"/>
              <a:cs typeface="Arial"/>
            </a:endParaRPr>
          </a:p>
          <a:p>
            <a:pPr>
              <a:lnSpc>
                <a:spcPct val="100000"/>
              </a:lnSpc>
            </a:pPr>
            <a:endParaRPr sz="1300">
              <a:latin typeface="Arial"/>
              <a:cs typeface="Arial"/>
            </a:endParaRPr>
          </a:p>
          <a:p>
            <a:pPr>
              <a:lnSpc>
                <a:spcPct val="100000"/>
              </a:lnSpc>
              <a:spcBef>
                <a:spcPts val="40"/>
              </a:spcBef>
            </a:pPr>
            <a:endParaRPr sz="1000">
              <a:latin typeface="Arial"/>
              <a:cs typeface="Arial"/>
            </a:endParaRPr>
          </a:p>
          <a:p>
            <a:pPr marL="12700">
              <a:lnSpc>
                <a:spcPct val="100000"/>
              </a:lnSpc>
            </a:pPr>
            <a:r>
              <a:rPr dirty="0" u="heavy" sz="1200" spc="-5" b="1" i="1">
                <a:uFill>
                  <a:solidFill>
                    <a:srgbClr val="000000"/>
                  </a:solidFill>
                </a:uFill>
                <a:latin typeface="Arial"/>
                <a:cs typeface="Arial"/>
              </a:rPr>
              <a:t>Day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Judgement</a:t>
            </a:r>
            <a:endParaRPr sz="1200">
              <a:latin typeface="Arial"/>
              <a:cs typeface="Arial"/>
            </a:endParaRPr>
          </a:p>
          <a:p>
            <a:pPr>
              <a:lnSpc>
                <a:spcPct val="100000"/>
              </a:lnSpc>
              <a:spcBef>
                <a:spcPts val="40"/>
              </a:spcBef>
            </a:pPr>
            <a:endParaRPr sz="1200">
              <a:latin typeface="Arial"/>
              <a:cs typeface="Arial"/>
            </a:endParaRPr>
          </a:p>
          <a:p>
            <a:pPr algn="just" marL="12700" marR="8890">
              <a:lnSpc>
                <a:spcPts val="1380"/>
              </a:lnSpc>
            </a:pPr>
            <a:r>
              <a:rPr dirty="0" sz="1200" spc="-5">
                <a:latin typeface="Arial"/>
                <a:cs typeface="Arial"/>
              </a:rPr>
              <a:t>That </a:t>
            </a:r>
            <a:r>
              <a:rPr dirty="0" sz="1200">
                <a:latin typeface="Arial"/>
                <a:cs typeface="Arial"/>
              </a:rPr>
              <a:t>day </a:t>
            </a:r>
            <a:r>
              <a:rPr dirty="0" sz="1200" spc="-5">
                <a:latin typeface="Arial"/>
                <a:cs typeface="Arial"/>
              </a:rPr>
              <a:t>will </a:t>
            </a:r>
            <a:r>
              <a:rPr dirty="0" sz="1200">
                <a:latin typeface="Arial"/>
                <a:cs typeface="Arial"/>
              </a:rPr>
              <a:t>come </a:t>
            </a:r>
            <a:r>
              <a:rPr dirty="0" sz="1200" spc="-5">
                <a:latin typeface="Arial"/>
                <a:cs typeface="Arial"/>
              </a:rPr>
              <a:t>but when </a:t>
            </a:r>
            <a:r>
              <a:rPr dirty="0" sz="1200">
                <a:latin typeface="Arial"/>
                <a:cs typeface="Arial"/>
              </a:rPr>
              <a:t>and </a:t>
            </a:r>
            <a:r>
              <a:rPr dirty="0" sz="1200" spc="-5">
                <a:latin typeface="Arial"/>
                <a:cs typeface="Arial"/>
              </a:rPr>
              <a:t>how, </a:t>
            </a:r>
            <a:r>
              <a:rPr dirty="0" sz="1200" spc="-10">
                <a:latin typeface="Arial"/>
                <a:cs typeface="Arial"/>
              </a:rPr>
              <a:t>we </a:t>
            </a:r>
            <a:r>
              <a:rPr dirty="0" sz="1200">
                <a:latin typeface="Arial"/>
                <a:cs typeface="Arial"/>
              </a:rPr>
              <a:t>don‘t </a:t>
            </a:r>
            <a:r>
              <a:rPr dirty="0" sz="1200" spc="-5">
                <a:latin typeface="Arial"/>
                <a:cs typeface="Arial"/>
              </a:rPr>
              <a:t>know. </a:t>
            </a:r>
            <a:r>
              <a:rPr dirty="0" sz="1200">
                <a:latin typeface="Arial"/>
                <a:cs typeface="Arial"/>
              </a:rPr>
              <a:t>The </a:t>
            </a:r>
            <a:r>
              <a:rPr dirty="0" sz="1200" spc="-5">
                <a:latin typeface="Arial"/>
                <a:cs typeface="Arial"/>
              </a:rPr>
              <a:t>seriousness </a:t>
            </a:r>
            <a:r>
              <a:rPr dirty="0" sz="1200">
                <a:latin typeface="Arial"/>
                <a:cs typeface="Arial"/>
              </a:rPr>
              <a:t>and </a:t>
            </a:r>
            <a:r>
              <a:rPr dirty="0" sz="1200" spc="-5">
                <a:latin typeface="Arial"/>
                <a:cs typeface="Arial"/>
              </a:rPr>
              <a:t>gravity </a:t>
            </a:r>
            <a:r>
              <a:rPr dirty="0" sz="1200">
                <a:latin typeface="Arial"/>
                <a:cs typeface="Arial"/>
              </a:rPr>
              <a:t>of </a:t>
            </a:r>
            <a:r>
              <a:rPr dirty="0" sz="1200" spc="-5">
                <a:latin typeface="Arial"/>
                <a:cs typeface="Arial"/>
              </a:rPr>
              <a:t>that  day can be seen through </a:t>
            </a:r>
            <a:r>
              <a:rPr dirty="0" sz="1200">
                <a:latin typeface="Arial"/>
                <a:cs typeface="Arial"/>
              </a:rPr>
              <a:t>the </a:t>
            </a:r>
            <a:r>
              <a:rPr dirty="0" sz="1200" spc="-5">
                <a:latin typeface="Arial"/>
                <a:cs typeface="Arial"/>
              </a:rPr>
              <a:t>numerous Hadith on that day. Those Muslims </a:t>
            </a:r>
            <a:r>
              <a:rPr dirty="0" sz="1200" spc="-10">
                <a:latin typeface="Arial"/>
                <a:cs typeface="Arial"/>
              </a:rPr>
              <a:t>who </a:t>
            </a:r>
            <a:r>
              <a:rPr dirty="0" sz="1200" spc="-5">
                <a:latin typeface="Arial"/>
                <a:cs typeface="Arial"/>
              </a:rPr>
              <a:t>spent their  </a:t>
            </a:r>
            <a:r>
              <a:rPr dirty="0" sz="1200">
                <a:latin typeface="Arial"/>
                <a:cs typeface="Arial"/>
              </a:rPr>
              <a:t>time </a:t>
            </a:r>
            <a:r>
              <a:rPr dirty="0" sz="1200" spc="-5">
                <a:latin typeface="Arial"/>
                <a:cs typeface="Arial"/>
              </a:rPr>
              <a:t>in Ibaadah and </a:t>
            </a:r>
            <a:r>
              <a:rPr dirty="0" sz="1200">
                <a:latin typeface="Arial"/>
                <a:cs typeface="Arial"/>
              </a:rPr>
              <a:t>for </a:t>
            </a:r>
            <a:r>
              <a:rPr dirty="0" sz="1200" spc="-5">
                <a:latin typeface="Arial"/>
                <a:cs typeface="Arial"/>
              </a:rPr>
              <a:t>the </a:t>
            </a:r>
            <a:r>
              <a:rPr dirty="0" sz="1200">
                <a:latin typeface="Arial"/>
                <a:cs typeface="Arial"/>
              </a:rPr>
              <a:t>best </a:t>
            </a:r>
            <a:r>
              <a:rPr dirty="0" sz="1200" spc="-10">
                <a:latin typeface="Arial"/>
                <a:cs typeface="Arial"/>
              </a:rPr>
              <a:t>cause </a:t>
            </a:r>
            <a:r>
              <a:rPr dirty="0" sz="1200">
                <a:latin typeface="Arial"/>
                <a:cs typeface="Arial"/>
              </a:rPr>
              <a:t>– </a:t>
            </a:r>
            <a:r>
              <a:rPr dirty="0" sz="1200" spc="-5">
                <a:latin typeface="Arial"/>
                <a:cs typeface="Arial"/>
              </a:rPr>
              <a:t>Islam, </a:t>
            </a:r>
            <a:r>
              <a:rPr dirty="0" sz="1200" spc="-10">
                <a:latin typeface="Arial"/>
                <a:cs typeface="Arial"/>
              </a:rPr>
              <a:t>will </a:t>
            </a:r>
            <a:r>
              <a:rPr dirty="0" sz="1200">
                <a:latin typeface="Arial"/>
                <a:cs typeface="Arial"/>
              </a:rPr>
              <a:t>find </a:t>
            </a:r>
            <a:r>
              <a:rPr dirty="0" sz="1200" spc="-5">
                <a:latin typeface="Arial"/>
                <a:cs typeface="Arial"/>
              </a:rPr>
              <a:t>himself rewarded on that day. </a:t>
            </a:r>
            <a:r>
              <a:rPr dirty="0" sz="1200">
                <a:latin typeface="Arial"/>
                <a:cs typeface="Arial"/>
              </a:rPr>
              <a:t>The  one </a:t>
            </a:r>
            <a:r>
              <a:rPr dirty="0" sz="1200" spc="-5">
                <a:latin typeface="Arial"/>
                <a:cs typeface="Arial"/>
              </a:rPr>
              <a:t>who went against </a:t>
            </a:r>
            <a:r>
              <a:rPr dirty="0" sz="1200">
                <a:latin typeface="Arial"/>
                <a:cs typeface="Arial"/>
              </a:rPr>
              <a:t>the </a:t>
            </a:r>
            <a:r>
              <a:rPr dirty="0" sz="1200" spc="-5">
                <a:latin typeface="Arial"/>
                <a:cs typeface="Arial"/>
              </a:rPr>
              <a:t>Shari‘ah and Islam will </a:t>
            </a:r>
            <a:r>
              <a:rPr dirty="0" sz="1200">
                <a:latin typeface="Arial"/>
                <a:cs typeface="Arial"/>
              </a:rPr>
              <a:t>find </a:t>
            </a:r>
            <a:r>
              <a:rPr dirty="0" sz="1200" spc="-5">
                <a:latin typeface="Arial"/>
                <a:cs typeface="Arial"/>
              </a:rPr>
              <a:t>oneself poor </a:t>
            </a:r>
            <a:r>
              <a:rPr dirty="0" sz="1200">
                <a:latin typeface="Arial"/>
                <a:cs typeface="Arial"/>
              </a:rPr>
              <a:t>and </a:t>
            </a:r>
            <a:r>
              <a:rPr dirty="0" sz="1200" spc="-5">
                <a:latin typeface="Arial"/>
                <a:cs typeface="Arial"/>
              </a:rPr>
              <a:t>deprived of help </a:t>
            </a:r>
            <a:r>
              <a:rPr dirty="0" sz="1200">
                <a:latin typeface="Arial"/>
                <a:cs typeface="Arial"/>
              </a:rPr>
              <a:t>to  enter </a:t>
            </a:r>
            <a:r>
              <a:rPr dirty="0" sz="1200" spc="-5">
                <a:latin typeface="Arial"/>
                <a:cs typeface="Arial"/>
              </a:rPr>
              <a:t>paradise. The punishment </a:t>
            </a:r>
            <a:r>
              <a:rPr dirty="0" sz="1200" spc="-10">
                <a:latin typeface="Arial"/>
                <a:cs typeface="Arial"/>
              </a:rPr>
              <a:t>will </a:t>
            </a:r>
            <a:r>
              <a:rPr dirty="0" sz="1200" spc="-5">
                <a:latin typeface="Arial"/>
                <a:cs typeface="Arial"/>
              </a:rPr>
              <a:t>be the fire of</a:t>
            </a:r>
            <a:r>
              <a:rPr dirty="0" sz="1200" spc="10">
                <a:latin typeface="Arial"/>
                <a:cs typeface="Arial"/>
              </a:rPr>
              <a:t> </a:t>
            </a:r>
            <a:r>
              <a:rPr dirty="0" sz="1200" spc="-5">
                <a:latin typeface="Arial"/>
                <a:cs typeface="Arial"/>
              </a:rPr>
              <a:t>hell.</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Ways </a:t>
            </a:r>
            <a:r>
              <a:rPr dirty="0" u="heavy" sz="1200" b="1" i="1">
                <a:uFill>
                  <a:solidFill>
                    <a:srgbClr val="000000"/>
                  </a:solidFill>
                </a:uFill>
                <a:latin typeface="Arial"/>
                <a:cs typeface="Arial"/>
              </a:rPr>
              <a:t>of how </a:t>
            </a:r>
            <a:r>
              <a:rPr dirty="0" u="heavy" sz="1200" spc="-5" b="1" i="1">
                <a:uFill>
                  <a:solidFill>
                    <a:srgbClr val="000000"/>
                  </a:solidFill>
                </a:uFill>
                <a:latin typeface="Arial"/>
                <a:cs typeface="Arial"/>
              </a:rPr>
              <a:t>our lives </a:t>
            </a:r>
            <a:r>
              <a:rPr dirty="0" u="heavy" sz="1200" b="1" i="1">
                <a:uFill>
                  <a:solidFill>
                    <a:srgbClr val="000000"/>
                  </a:solidFill>
                </a:uFill>
                <a:latin typeface="Arial"/>
                <a:cs typeface="Arial"/>
              </a:rPr>
              <a:t>can </a:t>
            </a:r>
            <a:r>
              <a:rPr dirty="0" u="heavy" sz="1200" spc="-5" b="1" i="1">
                <a:uFill>
                  <a:solidFill>
                    <a:srgbClr val="000000"/>
                  </a:solidFill>
                </a:uFill>
                <a:latin typeface="Arial"/>
                <a:cs typeface="Arial"/>
              </a:rPr>
              <a:t>change </a:t>
            </a:r>
            <a:r>
              <a:rPr dirty="0" u="heavy" sz="1200" b="1" i="1">
                <a:uFill>
                  <a:solidFill>
                    <a:srgbClr val="000000"/>
                  </a:solidFill>
                </a:uFill>
                <a:latin typeface="Arial"/>
                <a:cs typeface="Arial"/>
              </a:rPr>
              <a:t>through </a:t>
            </a:r>
            <a:r>
              <a:rPr dirty="0" u="heavy" sz="1200" spc="-5" b="1" i="1">
                <a:uFill>
                  <a:solidFill>
                    <a:srgbClr val="000000"/>
                  </a:solidFill>
                </a:uFill>
                <a:latin typeface="Arial"/>
                <a:cs typeface="Arial"/>
              </a:rPr>
              <a:t>the knowledge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that</a:t>
            </a:r>
            <a:r>
              <a:rPr dirty="0" u="heavy" sz="1200" spc="10" b="1" i="1">
                <a:uFill>
                  <a:solidFill>
                    <a:srgbClr val="000000"/>
                  </a:solidFill>
                </a:uFill>
                <a:latin typeface="Arial"/>
                <a:cs typeface="Arial"/>
              </a:rPr>
              <a:t> </a:t>
            </a:r>
            <a:r>
              <a:rPr dirty="0" u="heavy" sz="1200" b="1" i="1">
                <a:uFill>
                  <a:solidFill>
                    <a:srgbClr val="000000"/>
                  </a:solidFill>
                </a:uFill>
                <a:latin typeface="Arial"/>
                <a:cs typeface="Arial"/>
              </a:rPr>
              <a:t>day.</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The </a:t>
            </a:r>
            <a:r>
              <a:rPr dirty="0" sz="1200">
                <a:latin typeface="Arial"/>
                <a:cs typeface="Arial"/>
              </a:rPr>
              <a:t>fear </a:t>
            </a:r>
            <a:r>
              <a:rPr dirty="0" sz="1200" spc="-5">
                <a:latin typeface="Arial"/>
                <a:cs typeface="Arial"/>
              </a:rPr>
              <a:t>of that day </a:t>
            </a:r>
            <a:r>
              <a:rPr dirty="0" sz="1200">
                <a:latin typeface="Arial"/>
                <a:cs typeface="Arial"/>
              </a:rPr>
              <a:t>can </a:t>
            </a:r>
            <a:r>
              <a:rPr dirty="0" sz="1200" spc="-5">
                <a:latin typeface="Arial"/>
                <a:cs typeface="Arial"/>
              </a:rPr>
              <a:t>bring a person </a:t>
            </a:r>
            <a:r>
              <a:rPr dirty="0" sz="1200">
                <a:latin typeface="Arial"/>
                <a:cs typeface="Arial"/>
              </a:rPr>
              <a:t>to </a:t>
            </a:r>
            <a:r>
              <a:rPr dirty="0" sz="1200" spc="-5">
                <a:latin typeface="Arial"/>
                <a:cs typeface="Arial"/>
              </a:rPr>
              <a:t>stop committing</a:t>
            </a:r>
            <a:r>
              <a:rPr dirty="0" sz="1200" spc="25">
                <a:latin typeface="Arial"/>
                <a:cs typeface="Arial"/>
              </a:rPr>
              <a:t> </a:t>
            </a:r>
            <a:r>
              <a:rPr dirty="0" sz="1200">
                <a:latin typeface="Arial"/>
                <a:cs typeface="Arial"/>
              </a:rPr>
              <a:t>sins.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a:t>
            </a:r>
            <a:r>
              <a:rPr dirty="0" sz="1200">
                <a:latin typeface="Arial"/>
                <a:cs typeface="Arial"/>
              </a:rPr>
              <a:t>fear </a:t>
            </a:r>
            <a:r>
              <a:rPr dirty="0" sz="1200" spc="-5">
                <a:latin typeface="Arial"/>
                <a:cs typeface="Arial"/>
              </a:rPr>
              <a:t>of the punishment of</a:t>
            </a:r>
            <a:r>
              <a:rPr dirty="0" sz="1200" spc="5">
                <a:latin typeface="Arial"/>
                <a:cs typeface="Arial"/>
              </a:rPr>
              <a:t> </a:t>
            </a:r>
            <a:r>
              <a:rPr dirty="0" sz="1200" spc="-5">
                <a:latin typeface="Arial"/>
                <a:cs typeface="Arial"/>
              </a:rPr>
              <a:t>Hell</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a:t>
            </a:r>
            <a:r>
              <a:rPr dirty="0" sz="1200">
                <a:latin typeface="Arial"/>
                <a:cs typeface="Arial"/>
              </a:rPr>
              <a:t>fear </a:t>
            </a:r>
            <a:r>
              <a:rPr dirty="0" sz="1200" spc="-5">
                <a:latin typeface="Arial"/>
                <a:cs typeface="Arial"/>
              </a:rPr>
              <a:t>of the</a:t>
            </a:r>
            <a:r>
              <a:rPr dirty="0" sz="1200">
                <a:latin typeface="Arial"/>
                <a:cs typeface="Arial"/>
              </a:rPr>
              <a:t> </a:t>
            </a:r>
            <a:r>
              <a:rPr dirty="0" sz="1200" spc="-5">
                <a:latin typeface="Arial"/>
                <a:cs typeface="Arial"/>
              </a:rPr>
              <a:t>unknown</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The </a:t>
            </a:r>
            <a:r>
              <a:rPr dirty="0" sz="1200">
                <a:latin typeface="Arial"/>
                <a:cs typeface="Arial"/>
              </a:rPr>
              <a:t>fear </a:t>
            </a:r>
            <a:r>
              <a:rPr dirty="0" sz="1200" spc="-5">
                <a:latin typeface="Arial"/>
                <a:cs typeface="Arial"/>
              </a:rPr>
              <a:t>of the anger of Allah can lead someone to adhering </a:t>
            </a:r>
            <a:r>
              <a:rPr dirty="0" sz="1200">
                <a:latin typeface="Arial"/>
                <a:cs typeface="Arial"/>
              </a:rPr>
              <a:t>by the</a:t>
            </a:r>
            <a:r>
              <a:rPr dirty="0" sz="1200" spc="30">
                <a:latin typeface="Arial"/>
                <a:cs typeface="Arial"/>
              </a:rPr>
              <a:t> </a:t>
            </a:r>
            <a:r>
              <a:rPr dirty="0" sz="1200" spc="-5">
                <a:latin typeface="Arial"/>
                <a:cs typeface="Arial"/>
              </a:rPr>
              <a:t>Shari‘ah.</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92</a:t>
            </a:r>
            <a:endParaRPr sz="1200">
              <a:latin typeface="Times New Roman"/>
              <a:cs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9163050"/>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marL="469900" marR="8255" indent="-228600">
              <a:lnSpc>
                <a:spcPts val="1380"/>
              </a:lnSpc>
              <a:buAutoNum type="arabicPeriod" startAt="5"/>
              <a:tabLst>
                <a:tab pos="470534" algn="l"/>
              </a:tabLst>
            </a:pPr>
            <a:r>
              <a:rPr dirty="0" sz="1200">
                <a:latin typeface="Arial"/>
                <a:cs typeface="Arial"/>
              </a:rPr>
              <a:t>This </a:t>
            </a:r>
            <a:r>
              <a:rPr dirty="0" sz="1200" spc="-10">
                <a:latin typeface="Arial"/>
                <a:cs typeface="Arial"/>
              </a:rPr>
              <a:t>can </a:t>
            </a:r>
            <a:r>
              <a:rPr dirty="0" sz="1200" spc="-5">
                <a:latin typeface="Arial"/>
                <a:cs typeface="Arial"/>
              </a:rPr>
              <a:t>lead a Muslim behaving as a real Muslim, considering </a:t>
            </a:r>
            <a:r>
              <a:rPr dirty="0" sz="1200">
                <a:latin typeface="Arial"/>
                <a:cs typeface="Arial"/>
              </a:rPr>
              <a:t>the </a:t>
            </a:r>
            <a:r>
              <a:rPr dirty="0" sz="1200" spc="-5">
                <a:latin typeface="Arial"/>
                <a:cs typeface="Arial"/>
              </a:rPr>
              <a:t>Holy Prophet  (s.a.w) as </a:t>
            </a:r>
            <a:r>
              <a:rPr dirty="0" sz="1200">
                <a:latin typeface="Arial"/>
                <a:cs typeface="Arial"/>
              </a:rPr>
              <a:t>the </a:t>
            </a:r>
            <a:r>
              <a:rPr dirty="0" sz="1200" spc="-5">
                <a:latin typeface="Arial"/>
                <a:cs typeface="Arial"/>
              </a:rPr>
              <a:t>model, respecting the </a:t>
            </a:r>
            <a:r>
              <a:rPr dirty="0" sz="1200">
                <a:latin typeface="Arial"/>
                <a:cs typeface="Arial"/>
              </a:rPr>
              <a:t>rights </a:t>
            </a:r>
            <a:r>
              <a:rPr dirty="0" sz="1200" spc="-5">
                <a:latin typeface="Arial"/>
                <a:cs typeface="Arial"/>
              </a:rPr>
              <a:t>of Allah and human</a:t>
            </a:r>
            <a:r>
              <a:rPr dirty="0" sz="1200" spc="10">
                <a:latin typeface="Arial"/>
                <a:cs typeface="Arial"/>
              </a:rPr>
              <a:t> </a:t>
            </a:r>
            <a:r>
              <a:rPr dirty="0" sz="1200" spc="-5">
                <a:latin typeface="Arial"/>
                <a:cs typeface="Arial"/>
              </a:rPr>
              <a:t>beings.</a:t>
            </a:r>
            <a:endParaRPr sz="1200">
              <a:latin typeface="Arial"/>
              <a:cs typeface="Arial"/>
            </a:endParaRPr>
          </a:p>
          <a:p>
            <a:pPr marL="469900" marR="7620" indent="-228600">
              <a:lnSpc>
                <a:spcPts val="1380"/>
              </a:lnSpc>
              <a:spcBef>
                <a:spcPts val="5"/>
              </a:spcBef>
              <a:buAutoNum type="arabicPeriod" startAt="5"/>
              <a:tabLst>
                <a:tab pos="470534" algn="l"/>
              </a:tabLst>
            </a:pPr>
            <a:r>
              <a:rPr dirty="0" sz="1200" spc="-5">
                <a:latin typeface="Arial"/>
                <a:cs typeface="Arial"/>
              </a:rPr>
              <a:t>The </a:t>
            </a:r>
            <a:r>
              <a:rPr dirty="0" sz="1200">
                <a:latin typeface="Arial"/>
                <a:cs typeface="Arial"/>
              </a:rPr>
              <a:t>idea </a:t>
            </a:r>
            <a:r>
              <a:rPr dirty="0" sz="1200" spc="-5">
                <a:latin typeface="Arial"/>
                <a:cs typeface="Arial"/>
              </a:rPr>
              <a:t>of benefiting in </a:t>
            </a:r>
            <a:r>
              <a:rPr dirty="0" sz="1200">
                <a:latin typeface="Arial"/>
                <a:cs typeface="Arial"/>
              </a:rPr>
              <a:t>the </a:t>
            </a:r>
            <a:r>
              <a:rPr dirty="0" sz="1200" spc="-5">
                <a:latin typeface="Arial"/>
                <a:cs typeface="Arial"/>
              </a:rPr>
              <a:t>Aakhirah </a:t>
            </a:r>
            <a:r>
              <a:rPr dirty="0" sz="1200">
                <a:latin typeface="Arial"/>
                <a:cs typeface="Arial"/>
              </a:rPr>
              <a:t>– </a:t>
            </a:r>
            <a:r>
              <a:rPr dirty="0" sz="1200" spc="-5">
                <a:latin typeface="Arial"/>
                <a:cs typeface="Arial"/>
              </a:rPr>
              <a:t>all stages and phases of test in </a:t>
            </a:r>
            <a:r>
              <a:rPr dirty="0" sz="1200">
                <a:latin typeface="Arial"/>
                <a:cs typeface="Arial"/>
              </a:rPr>
              <a:t>the </a:t>
            </a:r>
            <a:r>
              <a:rPr dirty="0" sz="1200" spc="-5">
                <a:latin typeface="Arial"/>
                <a:cs typeface="Arial"/>
              </a:rPr>
              <a:t>Hereafter  and </a:t>
            </a:r>
            <a:r>
              <a:rPr dirty="0" sz="1200">
                <a:latin typeface="Arial"/>
                <a:cs typeface="Arial"/>
              </a:rPr>
              <a:t>to </a:t>
            </a:r>
            <a:r>
              <a:rPr dirty="0" sz="1200" spc="-5">
                <a:latin typeface="Arial"/>
                <a:cs typeface="Arial"/>
              </a:rPr>
              <a:t>be close </a:t>
            </a:r>
            <a:r>
              <a:rPr dirty="0" sz="1200">
                <a:latin typeface="Arial"/>
                <a:cs typeface="Arial"/>
              </a:rPr>
              <a:t>to </a:t>
            </a:r>
            <a:r>
              <a:rPr dirty="0" sz="1200" spc="-5">
                <a:latin typeface="Arial"/>
                <a:cs typeface="Arial"/>
              </a:rPr>
              <a:t>Allah and the prophet </a:t>
            </a:r>
            <a:r>
              <a:rPr dirty="0" sz="1200" spc="-10">
                <a:latin typeface="Arial"/>
                <a:cs typeface="Arial"/>
              </a:rPr>
              <a:t>can </a:t>
            </a:r>
            <a:r>
              <a:rPr dirty="0" sz="1200">
                <a:latin typeface="Arial"/>
                <a:cs typeface="Arial"/>
              </a:rPr>
              <a:t>change </a:t>
            </a:r>
            <a:r>
              <a:rPr dirty="0" sz="1200" spc="-5">
                <a:latin typeface="Arial"/>
                <a:cs typeface="Arial"/>
              </a:rPr>
              <a:t>one‘s behaviour.</a:t>
            </a:r>
            <a:endParaRPr sz="1200">
              <a:latin typeface="Arial"/>
              <a:cs typeface="Arial"/>
            </a:endParaRPr>
          </a:p>
          <a:p>
            <a:pPr>
              <a:lnSpc>
                <a:spcPct val="100000"/>
              </a:lnSpc>
              <a:spcBef>
                <a:spcPts val="15"/>
              </a:spcBef>
            </a:pPr>
            <a:endParaRPr sz="1100">
              <a:latin typeface="Arial"/>
              <a:cs typeface="Arial"/>
            </a:endParaRPr>
          </a:p>
          <a:p>
            <a:pPr marL="12700">
              <a:lnSpc>
                <a:spcPct val="100000"/>
              </a:lnSpc>
              <a:spcBef>
                <a:spcPts val="5"/>
              </a:spcBef>
            </a:pPr>
            <a:r>
              <a:rPr dirty="0" u="heavy" sz="1200" b="1" i="1">
                <a:uFill>
                  <a:solidFill>
                    <a:srgbClr val="000000"/>
                  </a:solidFill>
                </a:uFill>
                <a:latin typeface="Arial"/>
                <a:cs typeface="Arial"/>
              </a:rPr>
              <a:t>Destiny</a:t>
            </a:r>
            <a:endParaRPr sz="1200">
              <a:latin typeface="Arial"/>
              <a:cs typeface="Arial"/>
            </a:endParaRPr>
          </a:p>
          <a:p>
            <a:pPr>
              <a:lnSpc>
                <a:spcPct val="100000"/>
              </a:lnSpc>
              <a:spcBef>
                <a:spcPts val="55"/>
              </a:spcBef>
            </a:pPr>
            <a:endParaRPr sz="1150">
              <a:latin typeface="Arial"/>
              <a:cs typeface="Arial"/>
            </a:endParaRPr>
          </a:p>
          <a:p>
            <a:pPr algn="just" marL="12700" marR="5080">
              <a:lnSpc>
                <a:spcPct val="95900"/>
              </a:lnSpc>
            </a:pPr>
            <a:r>
              <a:rPr dirty="0" sz="1200">
                <a:latin typeface="Arial"/>
                <a:cs typeface="Arial"/>
              </a:rPr>
              <a:t>It </a:t>
            </a:r>
            <a:r>
              <a:rPr dirty="0" sz="1200" spc="-5">
                <a:latin typeface="Arial"/>
                <a:cs typeface="Arial"/>
              </a:rPr>
              <a:t>is always said </a:t>
            </a:r>
            <a:r>
              <a:rPr dirty="0" sz="1200">
                <a:latin typeface="Arial"/>
                <a:cs typeface="Arial"/>
              </a:rPr>
              <a:t>that </a:t>
            </a:r>
            <a:r>
              <a:rPr dirty="0" sz="1200" spc="-5">
                <a:latin typeface="Arial"/>
                <a:cs typeface="Arial"/>
              </a:rPr>
              <a:t>one has a good fate or a bad destiny. </a:t>
            </a:r>
            <a:r>
              <a:rPr dirty="0" sz="1200">
                <a:latin typeface="Arial"/>
                <a:cs typeface="Arial"/>
              </a:rPr>
              <a:t>In </a:t>
            </a:r>
            <a:r>
              <a:rPr dirty="0" sz="1200" spc="-5">
                <a:latin typeface="Arial"/>
                <a:cs typeface="Arial"/>
              </a:rPr>
              <a:t>whatever case </a:t>
            </a:r>
            <a:r>
              <a:rPr dirty="0" sz="1200">
                <a:latin typeface="Arial"/>
                <a:cs typeface="Arial"/>
              </a:rPr>
              <a:t>it </a:t>
            </a:r>
            <a:r>
              <a:rPr dirty="0" sz="1200" spc="-5">
                <a:latin typeface="Arial"/>
                <a:cs typeface="Arial"/>
              </a:rPr>
              <a:t>depends on  </a:t>
            </a:r>
            <a:r>
              <a:rPr dirty="0" sz="1200">
                <a:latin typeface="Arial"/>
                <a:cs typeface="Arial"/>
              </a:rPr>
              <a:t>three </a:t>
            </a:r>
            <a:r>
              <a:rPr dirty="0" sz="1200" spc="-5">
                <a:latin typeface="Arial"/>
                <a:cs typeface="Arial"/>
              </a:rPr>
              <a:t>parties – Allah, oneself and Shaitaan. Allah is the Master mind behind our destiny. He  has written only what is right and </a:t>
            </a:r>
            <a:r>
              <a:rPr dirty="0" sz="1200" spc="5">
                <a:latin typeface="Arial"/>
                <a:cs typeface="Arial"/>
              </a:rPr>
              <a:t>good </a:t>
            </a:r>
            <a:r>
              <a:rPr dirty="0" sz="1200">
                <a:latin typeface="Arial"/>
                <a:cs typeface="Arial"/>
              </a:rPr>
              <a:t>for </a:t>
            </a:r>
            <a:r>
              <a:rPr dirty="0" sz="1200" spc="-5">
                <a:latin typeface="Arial"/>
                <a:cs typeface="Arial"/>
              </a:rPr>
              <a:t>the individual. He does </a:t>
            </a:r>
            <a:r>
              <a:rPr dirty="0" sz="1200" spc="-10">
                <a:latin typeface="Arial"/>
                <a:cs typeface="Arial"/>
              </a:rPr>
              <a:t>never </a:t>
            </a:r>
            <a:r>
              <a:rPr dirty="0" sz="1200" spc="-5">
                <a:latin typeface="Arial"/>
                <a:cs typeface="Arial"/>
              </a:rPr>
              <a:t>want what is bad </a:t>
            </a:r>
            <a:r>
              <a:rPr dirty="0" sz="1200">
                <a:latin typeface="Arial"/>
                <a:cs typeface="Arial"/>
              </a:rPr>
              <a:t>for  </a:t>
            </a:r>
            <a:r>
              <a:rPr dirty="0" sz="1200" spc="-5">
                <a:latin typeface="Arial"/>
                <a:cs typeface="Arial"/>
              </a:rPr>
              <a:t>His servants. Secondly, </a:t>
            </a:r>
            <a:r>
              <a:rPr dirty="0" sz="1200">
                <a:latin typeface="Arial"/>
                <a:cs typeface="Arial"/>
              </a:rPr>
              <a:t>it </a:t>
            </a:r>
            <a:r>
              <a:rPr dirty="0" sz="1200" spc="-5">
                <a:latin typeface="Arial"/>
                <a:cs typeface="Arial"/>
              </a:rPr>
              <a:t>is our </a:t>
            </a:r>
            <a:r>
              <a:rPr dirty="0" sz="1200" spc="-10">
                <a:latin typeface="Arial"/>
                <a:cs typeface="Arial"/>
              </a:rPr>
              <a:t>own </a:t>
            </a:r>
            <a:r>
              <a:rPr dirty="0" sz="1200" spc="-5">
                <a:latin typeface="Arial"/>
                <a:cs typeface="Arial"/>
              </a:rPr>
              <a:t>responsibility </a:t>
            </a:r>
            <a:r>
              <a:rPr dirty="0" sz="1200">
                <a:latin typeface="Arial"/>
                <a:cs typeface="Arial"/>
              </a:rPr>
              <a:t>to </a:t>
            </a:r>
            <a:r>
              <a:rPr dirty="0" sz="1200" spc="-5">
                <a:latin typeface="Arial"/>
                <a:cs typeface="Arial"/>
              </a:rPr>
              <a:t>decide either </a:t>
            </a:r>
            <a:r>
              <a:rPr dirty="0" sz="1200">
                <a:latin typeface="Arial"/>
                <a:cs typeface="Arial"/>
              </a:rPr>
              <a:t>to take </a:t>
            </a:r>
            <a:r>
              <a:rPr dirty="0" sz="1200" spc="-5">
                <a:latin typeface="Arial"/>
                <a:cs typeface="Arial"/>
              </a:rPr>
              <a:t>the right or </a:t>
            </a:r>
            <a:r>
              <a:rPr dirty="0" sz="1200">
                <a:latin typeface="Arial"/>
                <a:cs typeface="Arial"/>
              </a:rPr>
              <a:t>the  </a:t>
            </a:r>
            <a:r>
              <a:rPr dirty="0" sz="1200" spc="-5">
                <a:latin typeface="Arial"/>
                <a:cs typeface="Arial"/>
              </a:rPr>
              <a:t>wrong </a:t>
            </a:r>
            <a:r>
              <a:rPr dirty="0" sz="1200">
                <a:latin typeface="Arial"/>
                <a:cs typeface="Arial"/>
              </a:rPr>
              <a:t>path. </a:t>
            </a:r>
            <a:r>
              <a:rPr dirty="0" sz="1200" spc="-5">
                <a:latin typeface="Arial"/>
                <a:cs typeface="Arial"/>
              </a:rPr>
              <a:t>Allah is and </a:t>
            </a:r>
            <a:r>
              <a:rPr dirty="0" sz="1200" spc="-10">
                <a:latin typeface="Arial"/>
                <a:cs typeface="Arial"/>
              </a:rPr>
              <a:t>will </a:t>
            </a:r>
            <a:r>
              <a:rPr dirty="0" sz="1200" spc="-5">
                <a:latin typeface="Arial"/>
                <a:cs typeface="Arial"/>
              </a:rPr>
              <a:t>never be responsible </a:t>
            </a:r>
            <a:r>
              <a:rPr dirty="0" sz="1200">
                <a:latin typeface="Arial"/>
                <a:cs typeface="Arial"/>
              </a:rPr>
              <a:t>for </a:t>
            </a:r>
            <a:r>
              <a:rPr dirty="0" sz="1200" spc="-5">
                <a:latin typeface="Arial"/>
                <a:cs typeface="Arial"/>
              </a:rPr>
              <a:t>our taking </a:t>
            </a:r>
            <a:r>
              <a:rPr dirty="0" sz="1200">
                <a:latin typeface="Arial"/>
                <a:cs typeface="Arial"/>
              </a:rPr>
              <a:t>of </a:t>
            </a:r>
            <a:r>
              <a:rPr dirty="0" sz="1200" spc="-5">
                <a:latin typeface="Arial"/>
                <a:cs typeface="Arial"/>
              </a:rPr>
              <a:t>the </a:t>
            </a:r>
            <a:r>
              <a:rPr dirty="0" sz="1200" spc="-10">
                <a:latin typeface="Arial"/>
                <a:cs typeface="Arial"/>
              </a:rPr>
              <a:t>way </a:t>
            </a:r>
            <a:r>
              <a:rPr dirty="0" sz="1200">
                <a:latin typeface="Arial"/>
                <a:cs typeface="Arial"/>
              </a:rPr>
              <a:t>of </a:t>
            </a:r>
            <a:r>
              <a:rPr dirty="0" sz="1200" spc="-5">
                <a:latin typeface="Arial"/>
                <a:cs typeface="Arial"/>
              </a:rPr>
              <a:t>Shaitaan.  Thirdly, </a:t>
            </a:r>
            <a:r>
              <a:rPr dirty="0" sz="1200">
                <a:latin typeface="Arial"/>
                <a:cs typeface="Arial"/>
              </a:rPr>
              <a:t>it </a:t>
            </a:r>
            <a:r>
              <a:rPr dirty="0" sz="1200" spc="-5">
                <a:latin typeface="Arial"/>
                <a:cs typeface="Arial"/>
              </a:rPr>
              <a:t>will be </a:t>
            </a:r>
            <a:r>
              <a:rPr dirty="0" sz="1200">
                <a:latin typeface="Arial"/>
                <a:cs typeface="Arial"/>
              </a:rPr>
              <a:t>the </a:t>
            </a:r>
            <a:r>
              <a:rPr dirty="0" sz="1200" spc="-5">
                <a:latin typeface="Arial"/>
                <a:cs typeface="Arial"/>
              </a:rPr>
              <a:t>work </a:t>
            </a:r>
            <a:r>
              <a:rPr dirty="0" sz="1200">
                <a:latin typeface="Arial"/>
                <a:cs typeface="Arial"/>
              </a:rPr>
              <a:t>of </a:t>
            </a:r>
            <a:r>
              <a:rPr dirty="0" sz="1200" spc="-5">
                <a:latin typeface="Arial"/>
                <a:cs typeface="Arial"/>
              </a:rPr>
              <a:t>Shaitaan </a:t>
            </a:r>
            <a:r>
              <a:rPr dirty="0" sz="1200">
                <a:latin typeface="Arial"/>
                <a:cs typeface="Arial"/>
              </a:rPr>
              <a:t>to </a:t>
            </a:r>
            <a:r>
              <a:rPr dirty="0" sz="1200" spc="-5">
                <a:latin typeface="Arial"/>
                <a:cs typeface="Arial"/>
              </a:rPr>
              <a:t>influence us in order </a:t>
            </a:r>
            <a:r>
              <a:rPr dirty="0" sz="1200">
                <a:latin typeface="Arial"/>
                <a:cs typeface="Arial"/>
              </a:rPr>
              <a:t>to commit </a:t>
            </a:r>
            <a:r>
              <a:rPr dirty="0" sz="1200" spc="-5">
                <a:latin typeface="Arial"/>
                <a:cs typeface="Arial"/>
              </a:rPr>
              <a:t>sins and </a:t>
            </a:r>
            <a:r>
              <a:rPr dirty="0" sz="1200" spc="-10">
                <a:latin typeface="Arial"/>
                <a:cs typeface="Arial"/>
              </a:rPr>
              <a:t>go </a:t>
            </a:r>
            <a:r>
              <a:rPr dirty="0" sz="1200" spc="-5">
                <a:latin typeface="Arial"/>
                <a:cs typeface="Arial"/>
              </a:rPr>
              <a:t>against  Shari‘ah. </a:t>
            </a:r>
            <a:r>
              <a:rPr dirty="0" sz="1200">
                <a:latin typeface="Arial"/>
                <a:cs typeface="Arial"/>
              </a:rPr>
              <a:t>As </a:t>
            </a:r>
            <a:r>
              <a:rPr dirty="0" sz="1200" spc="-5">
                <a:latin typeface="Arial"/>
                <a:cs typeface="Arial"/>
              </a:rPr>
              <a:t>such </a:t>
            </a:r>
            <a:r>
              <a:rPr dirty="0" sz="1200" spc="-10">
                <a:latin typeface="Arial"/>
                <a:cs typeface="Arial"/>
              </a:rPr>
              <a:t>we will </a:t>
            </a:r>
            <a:r>
              <a:rPr dirty="0" sz="1200">
                <a:latin typeface="Arial"/>
                <a:cs typeface="Arial"/>
              </a:rPr>
              <a:t>be responsible for our bad </a:t>
            </a:r>
            <a:r>
              <a:rPr dirty="0" sz="1200" spc="-5">
                <a:latin typeface="Arial"/>
                <a:cs typeface="Arial"/>
              </a:rPr>
              <a:t>deeds. </a:t>
            </a:r>
            <a:r>
              <a:rPr dirty="0" sz="1200" spc="-10">
                <a:latin typeface="Arial"/>
                <a:cs typeface="Arial"/>
              </a:rPr>
              <a:t>However, </a:t>
            </a:r>
            <a:r>
              <a:rPr dirty="0" sz="1200" spc="-5">
                <a:latin typeface="Arial"/>
                <a:cs typeface="Arial"/>
              </a:rPr>
              <a:t>repentance </a:t>
            </a:r>
            <a:r>
              <a:rPr dirty="0" sz="1200" spc="-10">
                <a:latin typeface="Arial"/>
                <a:cs typeface="Arial"/>
              </a:rPr>
              <a:t>and  </a:t>
            </a:r>
            <a:r>
              <a:rPr dirty="0" sz="1200" spc="-5">
                <a:latin typeface="Arial"/>
                <a:cs typeface="Arial"/>
              </a:rPr>
              <a:t>abstinence from </a:t>
            </a:r>
            <a:r>
              <a:rPr dirty="0" sz="1200">
                <a:latin typeface="Arial"/>
                <a:cs typeface="Arial"/>
              </a:rPr>
              <a:t>sins, </a:t>
            </a:r>
            <a:r>
              <a:rPr dirty="0" sz="1200" spc="-10">
                <a:latin typeface="Arial"/>
                <a:cs typeface="Arial"/>
              </a:rPr>
              <a:t>live </a:t>
            </a:r>
            <a:r>
              <a:rPr dirty="0" sz="1200">
                <a:latin typeface="Arial"/>
                <a:cs typeface="Arial"/>
              </a:rPr>
              <a:t>as a real and </a:t>
            </a:r>
            <a:r>
              <a:rPr dirty="0" sz="1200" spc="-5">
                <a:latin typeface="Arial"/>
                <a:cs typeface="Arial"/>
              </a:rPr>
              <a:t>good Muslim, </a:t>
            </a:r>
            <a:r>
              <a:rPr dirty="0" sz="1200">
                <a:latin typeface="Arial"/>
                <a:cs typeface="Arial"/>
              </a:rPr>
              <a:t>follow the </a:t>
            </a:r>
            <a:r>
              <a:rPr dirty="0" sz="1200" spc="-5">
                <a:latin typeface="Arial"/>
                <a:cs typeface="Arial"/>
              </a:rPr>
              <a:t>Shari‘ah, </a:t>
            </a:r>
            <a:r>
              <a:rPr dirty="0" sz="1200">
                <a:latin typeface="Arial"/>
                <a:cs typeface="Arial"/>
              </a:rPr>
              <a:t>read </a:t>
            </a:r>
            <a:r>
              <a:rPr dirty="0" sz="1200" spc="-5">
                <a:latin typeface="Arial"/>
                <a:cs typeface="Arial"/>
              </a:rPr>
              <a:t>much of </a:t>
            </a:r>
            <a:r>
              <a:rPr dirty="0" sz="1200" spc="10">
                <a:latin typeface="Arial"/>
                <a:cs typeface="Arial"/>
              </a:rPr>
              <a:t>the  </a:t>
            </a:r>
            <a:r>
              <a:rPr dirty="0" sz="1200" spc="-5">
                <a:latin typeface="Arial"/>
                <a:cs typeface="Arial"/>
              </a:rPr>
              <a:t>Qur‘an, send Darood upon the Prophet (s.a.w), think of Allah, make khidmat </a:t>
            </a:r>
            <a:r>
              <a:rPr dirty="0" sz="1200" spc="-10">
                <a:latin typeface="Arial"/>
                <a:cs typeface="Arial"/>
              </a:rPr>
              <a:t>(service </a:t>
            </a:r>
            <a:r>
              <a:rPr dirty="0" sz="1200">
                <a:latin typeface="Arial"/>
                <a:cs typeface="Arial"/>
              </a:rPr>
              <a:t>at) for  </a:t>
            </a:r>
            <a:r>
              <a:rPr dirty="0" sz="1200" spc="-5">
                <a:latin typeface="Arial"/>
                <a:cs typeface="Arial"/>
              </a:rPr>
              <a:t>one‘s parents, differentiate between Halaal </a:t>
            </a:r>
            <a:r>
              <a:rPr dirty="0" sz="1200">
                <a:latin typeface="Arial"/>
                <a:cs typeface="Arial"/>
              </a:rPr>
              <a:t>and </a:t>
            </a:r>
            <a:r>
              <a:rPr dirty="0" sz="1200" spc="-5">
                <a:latin typeface="Arial"/>
                <a:cs typeface="Arial"/>
              </a:rPr>
              <a:t>Haraam, help and </a:t>
            </a:r>
            <a:r>
              <a:rPr dirty="0" sz="1200">
                <a:latin typeface="Arial"/>
                <a:cs typeface="Arial"/>
              </a:rPr>
              <a:t>be </a:t>
            </a:r>
            <a:r>
              <a:rPr dirty="0" sz="1200" spc="-5">
                <a:latin typeface="Arial"/>
                <a:cs typeface="Arial"/>
              </a:rPr>
              <a:t>beneficial </a:t>
            </a:r>
            <a:r>
              <a:rPr dirty="0" sz="1200">
                <a:latin typeface="Arial"/>
                <a:cs typeface="Arial"/>
              </a:rPr>
              <a:t>to </a:t>
            </a:r>
            <a:r>
              <a:rPr dirty="0" sz="1200" spc="-5">
                <a:latin typeface="Arial"/>
                <a:cs typeface="Arial"/>
              </a:rPr>
              <a:t>human  beings, think of death </a:t>
            </a:r>
            <a:r>
              <a:rPr dirty="0" sz="1200">
                <a:latin typeface="Arial"/>
                <a:cs typeface="Arial"/>
              </a:rPr>
              <a:t>and </a:t>
            </a:r>
            <a:r>
              <a:rPr dirty="0" sz="1200" spc="-5">
                <a:latin typeface="Arial"/>
                <a:cs typeface="Arial"/>
              </a:rPr>
              <a:t>make du‘a can change </a:t>
            </a:r>
            <a:r>
              <a:rPr dirty="0" sz="1200">
                <a:latin typeface="Arial"/>
                <a:cs typeface="Arial"/>
              </a:rPr>
              <a:t>our</a:t>
            </a:r>
            <a:r>
              <a:rPr dirty="0" sz="1200" spc="-5">
                <a:latin typeface="Arial"/>
                <a:cs typeface="Arial"/>
              </a:rPr>
              <a:t> destiny.</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b="1" i="1">
                <a:uFill>
                  <a:solidFill>
                    <a:srgbClr val="000000"/>
                  </a:solidFill>
                </a:uFill>
                <a:latin typeface="Arial"/>
                <a:cs typeface="Arial"/>
              </a:rPr>
              <a:t>Life </a:t>
            </a:r>
            <a:r>
              <a:rPr dirty="0" u="heavy" sz="1200" spc="-5" b="1" i="1">
                <a:uFill>
                  <a:solidFill>
                    <a:srgbClr val="000000"/>
                  </a:solidFill>
                </a:uFill>
                <a:latin typeface="Arial"/>
                <a:cs typeface="Arial"/>
              </a:rPr>
              <a:t>after</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Death</a:t>
            </a:r>
            <a:endParaRPr sz="1200">
              <a:latin typeface="Arial"/>
              <a:cs typeface="Arial"/>
            </a:endParaRPr>
          </a:p>
          <a:p>
            <a:pPr>
              <a:lnSpc>
                <a:spcPct val="100000"/>
              </a:lnSpc>
            </a:pPr>
            <a:endParaRPr sz="1200">
              <a:latin typeface="Arial"/>
              <a:cs typeface="Arial"/>
            </a:endParaRPr>
          </a:p>
          <a:p>
            <a:pPr algn="just" marL="12700" marR="8255">
              <a:lnSpc>
                <a:spcPct val="95900"/>
              </a:lnSpc>
            </a:pPr>
            <a:r>
              <a:rPr dirty="0" sz="1200">
                <a:latin typeface="Arial"/>
                <a:cs typeface="Arial"/>
              </a:rPr>
              <a:t>This </a:t>
            </a:r>
            <a:r>
              <a:rPr dirty="0" sz="1200" spc="-5">
                <a:latin typeface="Arial"/>
                <a:cs typeface="Arial"/>
              </a:rPr>
              <a:t>is </a:t>
            </a:r>
            <a:r>
              <a:rPr dirty="0" sz="1200">
                <a:latin typeface="Arial"/>
                <a:cs typeface="Arial"/>
              </a:rPr>
              <a:t>a normal </a:t>
            </a:r>
            <a:r>
              <a:rPr dirty="0" sz="1200" spc="-5">
                <a:latin typeface="Arial"/>
                <a:cs typeface="Arial"/>
              </a:rPr>
              <a:t>and inevitable stage in </a:t>
            </a:r>
            <a:r>
              <a:rPr dirty="0" sz="1200">
                <a:latin typeface="Arial"/>
                <a:cs typeface="Arial"/>
              </a:rPr>
              <a:t>the </a:t>
            </a:r>
            <a:r>
              <a:rPr dirty="0" sz="1200" spc="-5">
                <a:latin typeface="Arial"/>
                <a:cs typeface="Arial"/>
              </a:rPr>
              <a:t>life of all people. </a:t>
            </a:r>
            <a:r>
              <a:rPr dirty="0" sz="1200">
                <a:latin typeface="Arial"/>
                <a:cs typeface="Arial"/>
              </a:rPr>
              <a:t>It </a:t>
            </a:r>
            <a:r>
              <a:rPr dirty="0" sz="1200" spc="-10">
                <a:latin typeface="Arial"/>
                <a:cs typeface="Arial"/>
              </a:rPr>
              <a:t>will </a:t>
            </a:r>
            <a:r>
              <a:rPr dirty="0" sz="1200">
                <a:latin typeface="Arial"/>
                <a:cs typeface="Arial"/>
              </a:rPr>
              <a:t>happen but </a:t>
            </a:r>
            <a:r>
              <a:rPr dirty="0" sz="1200" spc="-5">
                <a:latin typeface="Arial"/>
                <a:cs typeface="Arial"/>
              </a:rPr>
              <a:t>when </a:t>
            </a:r>
            <a:r>
              <a:rPr dirty="0" sz="1200" spc="-10">
                <a:latin typeface="Arial"/>
                <a:cs typeface="Arial"/>
              </a:rPr>
              <a:t>we </a:t>
            </a:r>
            <a:r>
              <a:rPr dirty="0" sz="1200" spc="-5">
                <a:latin typeface="Arial"/>
                <a:cs typeface="Arial"/>
              </a:rPr>
              <a:t>don‘t  know. </a:t>
            </a:r>
            <a:r>
              <a:rPr dirty="0" sz="1200">
                <a:latin typeface="Arial"/>
                <a:cs typeface="Arial"/>
              </a:rPr>
              <a:t>This </a:t>
            </a:r>
            <a:r>
              <a:rPr dirty="0" sz="1200" spc="-5">
                <a:latin typeface="Arial"/>
                <a:cs typeface="Arial"/>
              </a:rPr>
              <a:t>is only in </a:t>
            </a:r>
            <a:r>
              <a:rPr dirty="0" sz="1200" spc="-10">
                <a:latin typeface="Arial"/>
                <a:cs typeface="Arial"/>
              </a:rPr>
              <a:t>the </a:t>
            </a:r>
            <a:r>
              <a:rPr dirty="0" sz="1200" spc="-5">
                <a:latin typeface="Arial"/>
                <a:cs typeface="Arial"/>
              </a:rPr>
              <a:t>hands of Allah. Life </a:t>
            </a:r>
            <a:r>
              <a:rPr dirty="0" sz="1200">
                <a:latin typeface="Arial"/>
                <a:cs typeface="Arial"/>
              </a:rPr>
              <a:t>after </a:t>
            </a:r>
            <a:r>
              <a:rPr dirty="0" sz="1200" spc="-5">
                <a:latin typeface="Arial"/>
                <a:cs typeface="Arial"/>
              </a:rPr>
              <a:t>death </a:t>
            </a:r>
            <a:r>
              <a:rPr dirty="0" sz="1200" spc="-10">
                <a:latin typeface="Arial"/>
                <a:cs typeface="Arial"/>
              </a:rPr>
              <a:t>in </a:t>
            </a:r>
            <a:r>
              <a:rPr dirty="0" sz="1200" spc="-5">
                <a:latin typeface="Arial"/>
                <a:cs typeface="Arial"/>
              </a:rPr>
              <a:t>our grave can </a:t>
            </a:r>
            <a:r>
              <a:rPr dirty="0" sz="1200" spc="-10">
                <a:latin typeface="Arial"/>
                <a:cs typeface="Arial"/>
              </a:rPr>
              <a:t>be </a:t>
            </a:r>
            <a:r>
              <a:rPr dirty="0" sz="1200" spc="-5">
                <a:latin typeface="Arial"/>
                <a:cs typeface="Arial"/>
              </a:rPr>
              <a:t>pleasant as well  as unpleasant depending on the deeds, Ibaadah, sayings </a:t>
            </a:r>
            <a:r>
              <a:rPr dirty="0" sz="1200">
                <a:latin typeface="Arial"/>
                <a:cs typeface="Arial"/>
              </a:rPr>
              <a:t>and </a:t>
            </a:r>
            <a:r>
              <a:rPr dirty="0" sz="1200" spc="-5">
                <a:latin typeface="Arial"/>
                <a:cs typeface="Arial"/>
              </a:rPr>
              <a:t>intention of human beings.  </a:t>
            </a:r>
            <a:r>
              <a:rPr dirty="0" sz="1200">
                <a:latin typeface="Arial"/>
                <a:cs typeface="Arial"/>
              </a:rPr>
              <a:t>What </a:t>
            </a:r>
            <a:r>
              <a:rPr dirty="0" sz="1200" spc="-5">
                <a:latin typeface="Arial"/>
                <a:cs typeface="Arial"/>
              </a:rPr>
              <a:t>is important is </a:t>
            </a:r>
            <a:r>
              <a:rPr dirty="0" sz="1200">
                <a:latin typeface="Arial"/>
                <a:cs typeface="Arial"/>
              </a:rPr>
              <a:t>to follow the </a:t>
            </a:r>
            <a:r>
              <a:rPr dirty="0" sz="1200" spc="-5">
                <a:latin typeface="Arial"/>
                <a:cs typeface="Arial"/>
              </a:rPr>
              <a:t>Shari‘ah in order </a:t>
            </a:r>
            <a:r>
              <a:rPr dirty="0" sz="1200">
                <a:latin typeface="Arial"/>
                <a:cs typeface="Arial"/>
              </a:rPr>
              <a:t>to </a:t>
            </a:r>
            <a:r>
              <a:rPr dirty="0" sz="1200" spc="-5">
                <a:latin typeface="Arial"/>
                <a:cs typeface="Arial"/>
              </a:rPr>
              <a:t>avoid punishment of the </a:t>
            </a:r>
            <a:r>
              <a:rPr dirty="0" sz="1200" spc="-10">
                <a:latin typeface="Arial"/>
                <a:cs typeface="Arial"/>
              </a:rPr>
              <a:t>grave </a:t>
            </a:r>
            <a:r>
              <a:rPr dirty="0" sz="1200" spc="-5">
                <a:latin typeface="Arial"/>
                <a:cs typeface="Arial"/>
              </a:rPr>
              <a:t>and be  prepared </a:t>
            </a:r>
            <a:r>
              <a:rPr dirty="0" sz="1200">
                <a:latin typeface="Arial"/>
                <a:cs typeface="Arial"/>
              </a:rPr>
              <a:t>for </a:t>
            </a:r>
            <a:r>
              <a:rPr dirty="0" sz="1200" spc="-5">
                <a:latin typeface="Arial"/>
                <a:cs typeface="Arial"/>
              </a:rPr>
              <a:t>the three questions and the answers such as </a:t>
            </a:r>
            <a:r>
              <a:rPr dirty="0" sz="1200" spc="-10">
                <a:latin typeface="Arial"/>
                <a:cs typeface="Arial"/>
              </a:rPr>
              <a:t>who </a:t>
            </a:r>
            <a:r>
              <a:rPr dirty="0" sz="1200" spc="-5">
                <a:latin typeface="Arial"/>
                <a:cs typeface="Arial"/>
              </a:rPr>
              <a:t>is your Lord? </a:t>
            </a:r>
            <a:r>
              <a:rPr dirty="0" sz="1200" spc="5">
                <a:latin typeface="Arial"/>
                <a:cs typeface="Arial"/>
              </a:rPr>
              <a:t>What </a:t>
            </a:r>
            <a:r>
              <a:rPr dirty="0" sz="1200" spc="-5">
                <a:latin typeface="Arial"/>
                <a:cs typeface="Arial"/>
              </a:rPr>
              <a:t>is your  religion? </a:t>
            </a:r>
            <a:r>
              <a:rPr dirty="0" sz="1200" spc="5">
                <a:latin typeface="Arial"/>
                <a:cs typeface="Arial"/>
              </a:rPr>
              <a:t>What </a:t>
            </a:r>
            <a:r>
              <a:rPr dirty="0" sz="1200" spc="-5">
                <a:latin typeface="Arial"/>
                <a:cs typeface="Arial"/>
              </a:rPr>
              <a:t>do </a:t>
            </a:r>
            <a:r>
              <a:rPr dirty="0" sz="1200" spc="-10">
                <a:latin typeface="Arial"/>
                <a:cs typeface="Arial"/>
              </a:rPr>
              <a:t>you </a:t>
            </a:r>
            <a:r>
              <a:rPr dirty="0" sz="1200">
                <a:latin typeface="Arial"/>
                <a:cs typeface="Arial"/>
              </a:rPr>
              <a:t>think </a:t>
            </a:r>
            <a:r>
              <a:rPr dirty="0" sz="1200" spc="-5">
                <a:latin typeface="Arial"/>
                <a:cs typeface="Arial"/>
              </a:rPr>
              <a:t>of that person? </a:t>
            </a:r>
            <a:r>
              <a:rPr dirty="0" sz="1200" spc="5">
                <a:latin typeface="Arial"/>
                <a:cs typeface="Arial"/>
              </a:rPr>
              <a:t>No </a:t>
            </a:r>
            <a:r>
              <a:rPr dirty="0" sz="1200" spc="-5">
                <a:latin typeface="Arial"/>
                <a:cs typeface="Arial"/>
              </a:rPr>
              <a:t>one </a:t>
            </a:r>
            <a:r>
              <a:rPr dirty="0" sz="1200" spc="-10">
                <a:latin typeface="Arial"/>
                <a:cs typeface="Arial"/>
              </a:rPr>
              <a:t>knows </a:t>
            </a:r>
            <a:r>
              <a:rPr dirty="0" sz="1200">
                <a:latin typeface="Arial"/>
                <a:cs typeface="Arial"/>
              </a:rPr>
              <a:t>the </a:t>
            </a:r>
            <a:r>
              <a:rPr dirty="0" sz="1200" spc="-5">
                <a:latin typeface="Arial"/>
                <a:cs typeface="Arial"/>
              </a:rPr>
              <a:t>physical sufferings of that  moment </a:t>
            </a:r>
            <a:r>
              <a:rPr dirty="0" sz="1200" spc="-10">
                <a:latin typeface="Arial"/>
                <a:cs typeface="Arial"/>
              </a:rPr>
              <a:t>if </a:t>
            </a:r>
            <a:r>
              <a:rPr dirty="0" sz="1200" spc="-5">
                <a:latin typeface="Arial"/>
                <a:cs typeface="Arial"/>
              </a:rPr>
              <a:t>the answers are</a:t>
            </a:r>
            <a:r>
              <a:rPr dirty="0" sz="1200" spc="30">
                <a:latin typeface="Arial"/>
                <a:cs typeface="Arial"/>
              </a:rPr>
              <a:t> </a:t>
            </a:r>
            <a:r>
              <a:rPr dirty="0" sz="1200" spc="-5">
                <a:latin typeface="Arial"/>
                <a:cs typeface="Arial"/>
              </a:rPr>
              <a:t>wrong.</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However, </a:t>
            </a:r>
            <a:r>
              <a:rPr dirty="0" u="heavy" sz="1200" b="1" i="1">
                <a:uFill>
                  <a:solidFill>
                    <a:srgbClr val="000000"/>
                  </a:solidFill>
                </a:uFill>
                <a:latin typeface="Arial"/>
                <a:cs typeface="Arial"/>
              </a:rPr>
              <a:t>in order to benefit a </a:t>
            </a:r>
            <a:r>
              <a:rPr dirty="0" u="heavy" sz="1200" spc="-5" b="1" i="1">
                <a:uFill>
                  <a:solidFill>
                    <a:srgbClr val="000000"/>
                  </a:solidFill>
                </a:uFill>
                <a:latin typeface="Arial"/>
                <a:cs typeface="Arial"/>
              </a:rPr>
              <a:t>life </a:t>
            </a:r>
            <a:r>
              <a:rPr dirty="0" u="heavy" sz="1200" b="1" i="1">
                <a:uFill>
                  <a:solidFill>
                    <a:srgbClr val="000000"/>
                  </a:solidFill>
                </a:uFill>
                <a:latin typeface="Arial"/>
                <a:cs typeface="Arial"/>
              </a:rPr>
              <a:t>of a </a:t>
            </a:r>
            <a:r>
              <a:rPr dirty="0" u="heavy" sz="1200" spc="-5" b="1" i="1">
                <a:uFill>
                  <a:solidFill>
                    <a:srgbClr val="000000"/>
                  </a:solidFill>
                </a:uFill>
                <a:latin typeface="Arial"/>
                <a:cs typeface="Arial"/>
              </a:rPr>
              <a:t>good </a:t>
            </a:r>
            <a:r>
              <a:rPr dirty="0" u="heavy" sz="1200" spc="-50" b="1" i="1">
                <a:uFill>
                  <a:solidFill>
                    <a:srgbClr val="000000"/>
                  </a:solidFill>
                </a:uFill>
                <a:latin typeface="Arial"/>
                <a:cs typeface="Arial"/>
              </a:rPr>
              <a:t>Mu‟min </a:t>
            </a:r>
            <a:r>
              <a:rPr dirty="0" u="heavy" sz="1200" b="1" i="1">
                <a:uFill>
                  <a:solidFill>
                    <a:srgbClr val="000000"/>
                  </a:solidFill>
                </a:uFill>
                <a:latin typeface="Arial"/>
                <a:cs typeface="Arial"/>
              </a:rPr>
              <a:t>in </a:t>
            </a:r>
            <a:r>
              <a:rPr dirty="0" u="heavy" sz="1200" spc="-5" b="1" i="1">
                <a:uFill>
                  <a:solidFill>
                    <a:srgbClr val="000000"/>
                  </a:solidFill>
                </a:uFill>
                <a:latin typeface="Arial"/>
                <a:cs typeface="Arial"/>
              </a:rPr>
              <a:t>Qabr, one</a:t>
            </a:r>
            <a:r>
              <a:rPr dirty="0" u="heavy" sz="1200" spc="30" b="1" i="1">
                <a:uFill>
                  <a:solidFill>
                    <a:srgbClr val="000000"/>
                  </a:solidFill>
                </a:uFill>
                <a:latin typeface="Arial"/>
                <a:cs typeface="Arial"/>
              </a:rPr>
              <a:t> </a:t>
            </a:r>
            <a:r>
              <a:rPr dirty="0" u="heavy" sz="1200" spc="5" b="1" i="1">
                <a:uFill>
                  <a:solidFill>
                    <a:srgbClr val="000000"/>
                  </a:solidFill>
                </a:uFill>
                <a:latin typeface="Arial"/>
                <a:cs typeface="Arial"/>
              </a:rPr>
              <a:t>must:</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a:latin typeface="Arial"/>
                <a:cs typeface="Arial"/>
              </a:rPr>
              <a:t>Follow the</a:t>
            </a:r>
            <a:r>
              <a:rPr dirty="0" sz="1200" spc="-20">
                <a:latin typeface="Arial"/>
                <a:cs typeface="Arial"/>
              </a:rPr>
              <a:t> </a:t>
            </a:r>
            <a:r>
              <a:rPr dirty="0" sz="1200" spc="-5">
                <a:latin typeface="Arial"/>
                <a:cs typeface="Arial"/>
              </a:rPr>
              <a:t>Shari‘ah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Make </a:t>
            </a:r>
            <a:r>
              <a:rPr dirty="0" sz="1200">
                <a:latin typeface="Arial"/>
                <a:cs typeface="Arial"/>
              </a:rPr>
              <a:t>much </a:t>
            </a:r>
            <a:r>
              <a:rPr dirty="0" sz="1200" spc="-5">
                <a:latin typeface="Arial"/>
                <a:cs typeface="Arial"/>
              </a:rPr>
              <a:t>sincere</a:t>
            </a:r>
            <a:r>
              <a:rPr dirty="0" sz="1200" spc="10">
                <a:latin typeface="Arial"/>
                <a:cs typeface="Arial"/>
              </a:rPr>
              <a:t> </a:t>
            </a:r>
            <a:r>
              <a:rPr dirty="0" sz="1200" spc="-5">
                <a:latin typeface="Arial"/>
                <a:cs typeface="Arial"/>
              </a:rPr>
              <a:t>Ibaadah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Read much of the Qur‘an and Darood</a:t>
            </a:r>
            <a:r>
              <a:rPr dirty="0" sz="1200" spc="5">
                <a:latin typeface="Arial"/>
                <a:cs typeface="Arial"/>
              </a:rPr>
              <a:t> </a:t>
            </a:r>
            <a:r>
              <a:rPr dirty="0" sz="1200" spc="-5">
                <a:latin typeface="Arial"/>
                <a:cs typeface="Arial"/>
              </a:rPr>
              <a:t>Shareef</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Take </a:t>
            </a:r>
            <a:r>
              <a:rPr dirty="0" sz="1200">
                <a:latin typeface="Arial"/>
                <a:cs typeface="Arial"/>
              </a:rPr>
              <a:t>care </a:t>
            </a:r>
            <a:r>
              <a:rPr dirty="0" sz="1200" spc="-5">
                <a:latin typeface="Arial"/>
                <a:cs typeface="Arial"/>
              </a:rPr>
              <a:t>of one‘s parents </a:t>
            </a:r>
            <a:r>
              <a:rPr dirty="0" sz="1200">
                <a:latin typeface="Arial"/>
                <a:cs typeface="Arial"/>
              </a:rPr>
              <a:t>and</a:t>
            </a:r>
            <a:r>
              <a:rPr dirty="0" sz="1200" spc="-25">
                <a:latin typeface="Arial"/>
                <a:cs typeface="Arial"/>
              </a:rPr>
              <a:t> </a:t>
            </a:r>
            <a:r>
              <a:rPr dirty="0" sz="1200" spc="-5">
                <a:latin typeface="Arial"/>
                <a:cs typeface="Arial"/>
              </a:rPr>
              <a:t>relatives</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Cater </a:t>
            </a:r>
            <a:r>
              <a:rPr dirty="0" sz="1200">
                <a:latin typeface="Arial"/>
                <a:cs typeface="Arial"/>
              </a:rPr>
              <a:t>for </a:t>
            </a:r>
            <a:r>
              <a:rPr dirty="0" sz="1200" spc="-10">
                <a:latin typeface="Arial"/>
                <a:cs typeface="Arial"/>
              </a:rPr>
              <a:t>the </a:t>
            </a:r>
            <a:r>
              <a:rPr dirty="0" sz="1200" spc="-5">
                <a:latin typeface="Arial"/>
                <a:cs typeface="Arial"/>
              </a:rPr>
              <a:t>rights of both Muslims and</a:t>
            </a:r>
            <a:r>
              <a:rPr dirty="0" sz="1200" spc="50">
                <a:latin typeface="Arial"/>
                <a:cs typeface="Arial"/>
              </a:rPr>
              <a:t> </a:t>
            </a:r>
            <a:r>
              <a:rPr dirty="0" sz="1200" spc="-5">
                <a:latin typeface="Arial"/>
                <a:cs typeface="Arial"/>
              </a:rPr>
              <a:t>non-Muslims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Cater </a:t>
            </a:r>
            <a:r>
              <a:rPr dirty="0" sz="1200">
                <a:latin typeface="Arial"/>
                <a:cs typeface="Arial"/>
              </a:rPr>
              <a:t>for </a:t>
            </a:r>
            <a:r>
              <a:rPr dirty="0" sz="1200" spc="-10">
                <a:latin typeface="Arial"/>
                <a:cs typeface="Arial"/>
              </a:rPr>
              <a:t>the </a:t>
            </a:r>
            <a:r>
              <a:rPr dirty="0" sz="1200" spc="-5">
                <a:latin typeface="Arial"/>
                <a:cs typeface="Arial"/>
              </a:rPr>
              <a:t>needs of the weak</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Be a perfect practical and sincere Muslim among</a:t>
            </a:r>
            <a:r>
              <a:rPr dirty="0" sz="1200" spc="15">
                <a:latin typeface="Arial"/>
                <a:cs typeface="Arial"/>
              </a:rPr>
              <a:t> </a:t>
            </a:r>
            <a:r>
              <a:rPr dirty="0" sz="1200">
                <a:latin typeface="Arial"/>
                <a:cs typeface="Arial"/>
              </a:rPr>
              <a:t>others.</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5" b="1" i="1">
                <a:uFill>
                  <a:solidFill>
                    <a:srgbClr val="000000"/>
                  </a:solidFill>
                </a:uFill>
                <a:latin typeface="Arial"/>
                <a:cs typeface="Arial"/>
              </a:rPr>
              <a:t>Jihad</a:t>
            </a:r>
            <a:endParaRPr sz="1200">
              <a:latin typeface="Arial"/>
              <a:cs typeface="Arial"/>
            </a:endParaRPr>
          </a:p>
          <a:p>
            <a:pPr>
              <a:lnSpc>
                <a:spcPct val="100000"/>
              </a:lnSpc>
              <a:spcBef>
                <a:spcPts val="35"/>
              </a:spcBef>
            </a:pPr>
            <a:endParaRPr sz="1200">
              <a:latin typeface="Arial"/>
              <a:cs typeface="Arial"/>
            </a:endParaRPr>
          </a:p>
          <a:p>
            <a:pPr algn="just" marL="12700" marR="6985">
              <a:lnSpc>
                <a:spcPts val="1380"/>
              </a:lnSpc>
            </a:pPr>
            <a:r>
              <a:rPr dirty="0" sz="1200">
                <a:latin typeface="Arial"/>
                <a:cs typeface="Arial"/>
              </a:rPr>
              <a:t>Jihad </a:t>
            </a:r>
            <a:r>
              <a:rPr dirty="0" sz="1200" spc="-5">
                <a:latin typeface="Arial"/>
                <a:cs typeface="Arial"/>
              </a:rPr>
              <a:t>literally </a:t>
            </a:r>
            <a:r>
              <a:rPr dirty="0" sz="1200">
                <a:latin typeface="Arial"/>
                <a:cs typeface="Arial"/>
              </a:rPr>
              <a:t>means </a:t>
            </a:r>
            <a:r>
              <a:rPr dirty="0" sz="1200" spc="-5">
                <a:latin typeface="Arial"/>
                <a:cs typeface="Arial"/>
              </a:rPr>
              <a:t>to strive. Here </a:t>
            </a:r>
            <a:r>
              <a:rPr dirty="0" sz="1200">
                <a:latin typeface="Arial"/>
                <a:cs typeface="Arial"/>
              </a:rPr>
              <a:t>it </a:t>
            </a:r>
            <a:r>
              <a:rPr dirty="0" sz="1200" spc="-5">
                <a:latin typeface="Arial"/>
                <a:cs typeface="Arial"/>
              </a:rPr>
              <a:t>is </a:t>
            </a:r>
            <a:r>
              <a:rPr dirty="0" sz="1200">
                <a:latin typeface="Arial"/>
                <a:cs typeface="Arial"/>
              </a:rPr>
              <a:t>to </a:t>
            </a:r>
            <a:r>
              <a:rPr dirty="0" sz="1200" spc="-5">
                <a:latin typeface="Arial"/>
                <a:cs typeface="Arial"/>
              </a:rPr>
              <a:t>strive in </a:t>
            </a:r>
            <a:r>
              <a:rPr dirty="0" sz="1200">
                <a:latin typeface="Arial"/>
                <a:cs typeface="Arial"/>
              </a:rPr>
              <a:t>the </a:t>
            </a:r>
            <a:r>
              <a:rPr dirty="0" sz="1200" spc="-5">
                <a:latin typeface="Arial"/>
                <a:cs typeface="Arial"/>
              </a:rPr>
              <a:t>way </a:t>
            </a:r>
            <a:r>
              <a:rPr dirty="0" sz="1200">
                <a:latin typeface="Arial"/>
                <a:cs typeface="Arial"/>
              </a:rPr>
              <a:t>of </a:t>
            </a:r>
            <a:r>
              <a:rPr dirty="0" sz="1200" spc="-5">
                <a:latin typeface="Arial"/>
                <a:cs typeface="Arial"/>
              </a:rPr>
              <a:t>Allah. </a:t>
            </a:r>
            <a:r>
              <a:rPr dirty="0" sz="1200">
                <a:latin typeface="Arial"/>
                <a:cs typeface="Arial"/>
              </a:rPr>
              <a:t>Striving to </a:t>
            </a:r>
            <a:r>
              <a:rPr dirty="0" sz="1200" spc="-5">
                <a:latin typeface="Arial"/>
                <a:cs typeface="Arial"/>
              </a:rPr>
              <a:t>achieve  higher. </a:t>
            </a:r>
            <a:r>
              <a:rPr dirty="0" sz="1200">
                <a:latin typeface="Arial"/>
                <a:cs typeface="Arial"/>
              </a:rPr>
              <a:t>In the </a:t>
            </a:r>
            <a:r>
              <a:rPr dirty="0" sz="1200" spc="-5">
                <a:latin typeface="Arial"/>
                <a:cs typeface="Arial"/>
              </a:rPr>
              <a:t>tongue of the Arabs, </a:t>
            </a:r>
            <a:r>
              <a:rPr dirty="0" sz="1200">
                <a:latin typeface="Arial"/>
                <a:cs typeface="Arial"/>
              </a:rPr>
              <a:t>al-Jihad </a:t>
            </a:r>
            <a:r>
              <a:rPr dirty="0" sz="1200" spc="-5">
                <a:latin typeface="Arial"/>
                <a:cs typeface="Arial"/>
              </a:rPr>
              <a:t>means, </a:t>
            </a:r>
            <a:r>
              <a:rPr dirty="0" sz="1200" spc="-50">
                <a:latin typeface="Arial"/>
                <a:cs typeface="Arial"/>
              </a:rPr>
              <a:t>‗exerting </a:t>
            </a:r>
            <a:r>
              <a:rPr dirty="0" sz="1200" spc="-5">
                <a:latin typeface="Arial"/>
                <a:cs typeface="Arial"/>
              </a:rPr>
              <a:t>ability </a:t>
            </a:r>
            <a:r>
              <a:rPr dirty="0" sz="1200">
                <a:latin typeface="Arial"/>
                <a:cs typeface="Arial"/>
              </a:rPr>
              <a:t>and </a:t>
            </a:r>
            <a:r>
              <a:rPr dirty="0" sz="1200" spc="-5">
                <a:latin typeface="Arial"/>
                <a:cs typeface="Arial"/>
              </a:rPr>
              <a:t>effort </a:t>
            </a:r>
            <a:r>
              <a:rPr dirty="0" sz="1200">
                <a:latin typeface="Arial"/>
                <a:cs typeface="Arial"/>
              </a:rPr>
              <a:t>to do </a:t>
            </a:r>
            <a:r>
              <a:rPr dirty="0" sz="1200" spc="-5">
                <a:latin typeface="Arial"/>
                <a:cs typeface="Arial"/>
              </a:rPr>
              <a:t>an action  or express opinions‘. </a:t>
            </a:r>
            <a:r>
              <a:rPr dirty="0" sz="1200">
                <a:latin typeface="Arial"/>
                <a:cs typeface="Arial"/>
              </a:rPr>
              <a:t>Jihad </a:t>
            </a:r>
            <a:r>
              <a:rPr dirty="0" sz="1200" spc="-5">
                <a:latin typeface="Arial"/>
                <a:cs typeface="Arial"/>
              </a:rPr>
              <a:t>is </a:t>
            </a:r>
            <a:r>
              <a:rPr dirty="0" sz="1200">
                <a:latin typeface="Arial"/>
                <a:cs typeface="Arial"/>
              </a:rPr>
              <a:t>to </a:t>
            </a:r>
            <a:r>
              <a:rPr dirty="0" sz="1200" spc="-5">
                <a:latin typeface="Arial"/>
                <a:cs typeface="Arial"/>
              </a:rPr>
              <a:t>have patience </a:t>
            </a:r>
            <a:r>
              <a:rPr dirty="0" sz="1200">
                <a:latin typeface="Arial"/>
                <a:cs typeface="Arial"/>
              </a:rPr>
              <a:t>on </a:t>
            </a:r>
            <a:r>
              <a:rPr dirty="0" sz="1200" spc="-5">
                <a:latin typeface="Arial"/>
                <a:cs typeface="Arial"/>
              </a:rPr>
              <a:t>difficulties. It could </a:t>
            </a:r>
            <a:r>
              <a:rPr dirty="0" sz="1200">
                <a:latin typeface="Arial"/>
                <a:cs typeface="Arial"/>
              </a:rPr>
              <a:t>be </a:t>
            </a:r>
            <a:r>
              <a:rPr dirty="0" sz="1200" spc="-5">
                <a:latin typeface="Arial"/>
                <a:cs typeface="Arial"/>
              </a:rPr>
              <a:t>during war and </a:t>
            </a:r>
            <a:r>
              <a:rPr dirty="0" sz="1200" spc="-10">
                <a:latin typeface="Arial"/>
                <a:cs typeface="Arial"/>
              </a:rPr>
              <a:t>it  </a:t>
            </a:r>
            <a:r>
              <a:rPr dirty="0" sz="1200" spc="-5">
                <a:latin typeface="Arial"/>
                <a:cs typeface="Arial"/>
              </a:rPr>
              <a:t>could </a:t>
            </a:r>
            <a:r>
              <a:rPr dirty="0" sz="1200">
                <a:latin typeface="Arial"/>
                <a:cs typeface="Arial"/>
              </a:rPr>
              <a:t>be </a:t>
            </a:r>
            <a:r>
              <a:rPr dirty="0" sz="1200" spc="-5">
                <a:latin typeface="Arial"/>
                <a:cs typeface="Arial"/>
              </a:rPr>
              <a:t>inside the</a:t>
            </a:r>
            <a:r>
              <a:rPr dirty="0" sz="1200" spc="-15">
                <a:latin typeface="Arial"/>
                <a:cs typeface="Arial"/>
              </a:rPr>
              <a:t> </a:t>
            </a:r>
            <a:r>
              <a:rPr dirty="0" sz="1200" spc="-20">
                <a:latin typeface="Arial"/>
                <a:cs typeface="Arial"/>
              </a:rPr>
              <a:t>nafs.‖</a:t>
            </a:r>
            <a:endParaRPr sz="1200">
              <a:latin typeface="Arial"/>
              <a:cs typeface="Arial"/>
            </a:endParaRPr>
          </a:p>
          <a:p>
            <a:pPr>
              <a:lnSpc>
                <a:spcPct val="100000"/>
              </a:lnSpc>
            </a:pPr>
            <a:endParaRPr sz="1200">
              <a:latin typeface="Arial"/>
              <a:cs typeface="Arial"/>
            </a:endParaRPr>
          </a:p>
          <a:p>
            <a:pPr algn="just" marL="12700" marR="5080">
              <a:lnSpc>
                <a:spcPts val="1380"/>
              </a:lnSpc>
            </a:pPr>
            <a:r>
              <a:rPr dirty="0" sz="1200" spc="-5">
                <a:latin typeface="Arial"/>
                <a:cs typeface="Arial"/>
              </a:rPr>
              <a:t>Based </a:t>
            </a:r>
            <a:r>
              <a:rPr dirty="0" sz="1200" spc="-10">
                <a:latin typeface="Arial"/>
                <a:cs typeface="Arial"/>
              </a:rPr>
              <a:t>on </a:t>
            </a:r>
            <a:r>
              <a:rPr dirty="0" sz="1200">
                <a:latin typeface="Arial"/>
                <a:cs typeface="Arial"/>
              </a:rPr>
              <a:t>this </a:t>
            </a:r>
            <a:r>
              <a:rPr dirty="0" sz="1200" spc="-5">
                <a:latin typeface="Arial"/>
                <a:cs typeface="Arial"/>
              </a:rPr>
              <a:t>linguistic definition, the opponent that the Muslim </a:t>
            </a:r>
            <a:r>
              <a:rPr dirty="0" sz="1200" spc="-10">
                <a:latin typeface="Arial"/>
                <a:cs typeface="Arial"/>
              </a:rPr>
              <a:t>engages </a:t>
            </a:r>
            <a:r>
              <a:rPr dirty="0" sz="1200">
                <a:latin typeface="Arial"/>
                <a:cs typeface="Arial"/>
              </a:rPr>
              <a:t>Jihad </a:t>
            </a:r>
            <a:r>
              <a:rPr dirty="0" sz="1200" spc="-5">
                <a:latin typeface="Arial"/>
                <a:cs typeface="Arial"/>
              </a:rPr>
              <a:t>against could  be his </a:t>
            </a:r>
            <a:r>
              <a:rPr dirty="0" sz="1200" spc="-10">
                <a:latin typeface="Arial"/>
                <a:cs typeface="Arial"/>
              </a:rPr>
              <a:t>own </a:t>
            </a:r>
            <a:r>
              <a:rPr dirty="0" sz="1200">
                <a:latin typeface="Arial"/>
                <a:cs typeface="Arial"/>
              </a:rPr>
              <a:t>nafs, </a:t>
            </a:r>
            <a:r>
              <a:rPr dirty="0" sz="1200" spc="-5">
                <a:latin typeface="Arial"/>
                <a:cs typeface="Arial"/>
              </a:rPr>
              <a:t>or the shaiytan, or </a:t>
            </a:r>
            <a:r>
              <a:rPr dirty="0" sz="1200">
                <a:latin typeface="Arial"/>
                <a:cs typeface="Arial"/>
              </a:rPr>
              <a:t>the </a:t>
            </a:r>
            <a:r>
              <a:rPr dirty="0" sz="1200" spc="-5">
                <a:latin typeface="Arial"/>
                <a:cs typeface="Arial"/>
              </a:rPr>
              <a:t>transgressor or </a:t>
            </a:r>
            <a:r>
              <a:rPr dirty="0" sz="1200">
                <a:latin typeface="Arial"/>
                <a:cs typeface="Arial"/>
              </a:rPr>
              <a:t>the </a:t>
            </a:r>
            <a:r>
              <a:rPr dirty="0" sz="1200" spc="-5">
                <a:latin typeface="Arial"/>
                <a:cs typeface="Arial"/>
              </a:rPr>
              <a:t>kuffar. Additionally, by </a:t>
            </a:r>
            <a:r>
              <a:rPr dirty="0" sz="1200">
                <a:latin typeface="Arial"/>
                <a:cs typeface="Arial"/>
              </a:rPr>
              <a:t>this  </a:t>
            </a:r>
            <a:r>
              <a:rPr dirty="0" sz="1200" spc="-5">
                <a:latin typeface="Arial"/>
                <a:cs typeface="Arial"/>
              </a:rPr>
              <a:t>definition, Jihad could also </a:t>
            </a:r>
            <a:r>
              <a:rPr dirty="0" sz="1200">
                <a:latin typeface="Arial"/>
                <a:cs typeface="Arial"/>
              </a:rPr>
              <a:t>be </a:t>
            </a:r>
            <a:r>
              <a:rPr dirty="0" sz="1200" spc="-5">
                <a:latin typeface="Arial"/>
                <a:cs typeface="Arial"/>
              </a:rPr>
              <a:t>that which is in </a:t>
            </a:r>
            <a:r>
              <a:rPr dirty="0" sz="1200">
                <a:latin typeface="Arial"/>
                <a:cs typeface="Arial"/>
              </a:rPr>
              <a:t>the way of </a:t>
            </a:r>
            <a:r>
              <a:rPr dirty="0" sz="1200" spc="-5">
                <a:latin typeface="Arial"/>
                <a:cs typeface="Arial"/>
              </a:rPr>
              <a:t>Allah </a:t>
            </a:r>
            <a:r>
              <a:rPr dirty="0" sz="1200" spc="-140">
                <a:latin typeface="Arial"/>
                <a:cs typeface="Arial"/>
              </a:rPr>
              <a:t>‗Fi </a:t>
            </a:r>
            <a:r>
              <a:rPr dirty="0" sz="1200">
                <a:latin typeface="Arial"/>
                <a:cs typeface="Arial"/>
              </a:rPr>
              <a:t>Sabeel </a:t>
            </a:r>
            <a:r>
              <a:rPr dirty="0" sz="1200" spc="-5">
                <a:latin typeface="Arial"/>
                <a:cs typeface="Arial"/>
              </a:rPr>
              <a:t>Lillah‘‘. </a:t>
            </a:r>
            <a:r>
              <a:rPr dirty="0" sz="1200">
                <a:latin typeface="Arial"/>
                <a:cs typeface="Arial"/>
              </a:rPr>
              <a:t>So </a:t>
            </a:r>
            <a:r>
              <a:rPr dirty="0" sz="1200" spc="15">
                <a:latin typeface="Arial"/>
                <a:cs typeface="Arial"/>
              </a:rPr>
              <a:t>the  </a:t>
            </a:r>
            <a:r>
              <a:rPr dirty="0" sz="1200">
                <a:latin typeface="Arial"/>
                <a:cs typeface="Arial"/>
              </a:rPr>
              <a:t>Jihad</a:t>
            </a:r>
            <a:r>
              <a:rPr dirty="0" sz="1200" spc="170">
                <a:latin typeface="Arial"/>
                <a:cs typeface="Arial"/>
              </a:rPr>
              <a:t> </a:t>
            </a:r>
            <a:r>
              <a:rPr dirty="0" sz="1200" spc="-5">
                <a:latin typeface="Arial"/>
                <a:cs typeface="Arial"/>
              </a:rPr>
              <a:t>could</a:t>
            </a:r>
            <a:r>
              <a:rPr dirty="0" sz="1200" spc="170">
                <a:latin typeface="Arial"/>
                <a:cs typeface="Arial"/>
              </a:rPr>
              <a:t> </a:t>
            </a:r>
            <a:r>
              <a:rPr dirty="0" sz="1200" spc="-5">
                <a:latin typeface="Arial"/>
                <a:cs typeface="Arial"/>
              </a:rPr>
              <a:t>be</a:t>
            </a:r>
            <a:r>
              <a:rPr dirty="0" sz="1200" spc="170">
                <a:latin typeface="Arial"/>
                <a:cs typeface="Arial"/>
              </a:rPr>
              <a:t> </a:t>
            </a:r>
            <a:r>
              <a:rPr dirty="0" sz="1200" spc="-5">
                <a:latin typeface="Arial"/>
                <a:cs typeface="Arial"/>
              </a:rPr>
              <a:t>undertaken</a:t>
            </a:r>
            <a:r>
              <a:rPr dirty="0" sz="1200" spc="175">
                <a:latin typeface="Arial"/>
                <a:cs typeface="Arial"/>
              </a:rPr>
              <a:t> </a:t>
            </a:r>
            <a:r>
              <a:rPr dirty="0" sz="1200">
                <a:latin typeface="Arial"/>
                <a:cs typeface="Arial"/>
              </a:rPr>
              <a:t>to</a:t>
            </a:r>
            <a:r>
              <a:rPr dirty="0" sz="1200" spc="160">
                <a:latin typeface="Arial"/>
                <a:cs typeface="Arial"/>
              </a:rPr>
              <a:t> </a:t>
            </a:r>
            <a:r>
              <a:rPr dirty="0" sz="1200">
                <a:latin typeface="Arial"/>
                <a:cs typeface="Arial"/>
              </a:rPr>
              <a:t>please</a:t>
            </a:r>
            <a:r>
              <a:rPr dirty="0" sz="1200" spc="175">
                <a:latin typeface="Arial"/>
                <a:cs typeface="Arial"/>
              </a:rPr>
              <a:t> </a:t>
            </a:r>
            <a:r>
              <a:rPr dirty="0" sz="1200" spc="-5">
                <a:latin typeface="Arial"/>
                <a:cs typeface="Arial"/>
              </a:rPr>
              <a:t>Allah</a:t>
            </a:r>
            <a:r>
              <a:rPr dirty="0" sz="1200" spc="160">
                <a:latin typeface="Arial"/>
                <a:cs typeface="Arial"/>
              </a:rPr>
              <a:t> </a:t>
            </a:r>
            <a:r>
              <a:rPr dirty="0" sz="1200" spc="-5">
                <a:latin typeface="Arial"/>
                <a:cs typeface="Arial"/>
              </a:rPr>
              <a:t>or</a:t>
            </a:r>
            <a:r>
              <a:rPr dirty="0" sz="1200" spc="170">
                <a:latin typeface="Arial"/>
                <a:cs typeface="Arial"/>
              </a:rPr>
              <a:t> </a:t>
            </a:r>
            <a:r>
              <a:rPr dirty="0" sz="1200">
                <a:latin typeface="Arial"/>
                <a:cs typeface="Arial"/>
              </a:rPr>
              <a:t>to</a:t>
            </a:r>
            <a:r>
              <a:rPr dirty="0" sz="1200" spc="175">
                <a:latin typeface="Arial"/>
                <a:cs typeface="Arial"/>
              </a:rPr>
              <a:t> </a:t>
            </a:r>
            <a:r>
              <a:rPr dirty="0" sz="1200">
                <a:latin typeface="Arial"/>
                <a:cs typeface="Arial"/>
              </a:rPr>
              <a:t>please</a:t>
            </a:r>
            <a:r>
              <a:rPr dirty="0" sz="1200" spc="175">
                <a:latin typeface="Arial"/>
                <a:cs typeface="Arial"/>
              </a:rPr>
              <a:t> </a:t>
            </a:r>
            <a:r>
              <a:rPr dirty="0" sz="1200" spc="-5">
                <a:latin typeface="Arial"/>
                <a:cs typeface="Arial"/>
              </a:rPr>
              <a:t>the</a:t>
            </a:r>
            <a:r>
              <a:rPr dirty="0" sz="1200" spc="170">
                <a:latin typeface="Arial"/>
                <a:cs typeface="Arial"/>
              </a:rPr>
              <a:t> </a:t>
            </a:r>
            <a:r>
              <a:rPr dirty="0" sz="1200" spc="-5">
                <a:latin typeface="Arial"/>
                <a:cs typeface="Arial"/>
              </a:rPr>
              <a:t>shaiytan,</a:t>
            </a:r>
            <a:r>
              <a:rPr dirty="0" sz="1200" spc="170">
                <a:latin typeface="Arial"/>
                <a:cs typeface="Arial"/>
              </a:rPr>
              <a:t> </a:t>
            </a:r>
            <a:r>
              <a:rPr dirty="0" sz="1200" spc="-5">
                <a:latin typeface="Arial"/>
                <a:cs typeface="Arial"/>
              </a:rPr>
              <a:t>like</a:t>
            </a:r>
            <a:r>
              <a:rPr dirty="0" sz="1200" spc="175">
                <a:latin typeface="Arial"/>
                <a:cs typeface="Arial"/>
              </a:rPr>
              <a:t> </a:t>
            </a:r>
            <a:r>
              <a:rPr dirty="0" sz="1200" spc="-5">
                <a:latin typeface="Arial"/>
                <a:cs typeface="Arial"/>
              </a:rPr>
              <a:t>the</a:t>
            </a:r>
            <a:r>
              <a:rPr dirty="0" sz="1200" spc="170">
                <a:latin typeface="Arial"/>
                <a:cs typeface="Arial"/>
              </a:rPr>
              <a:t> </a:t>
            </a:r>
            <a:r>
              <a:rPr dirty="0" sz="1200">
                <a:latin typeface="Arial"/>
                <a:cs typeface="Arial"/>
              </a:rPr>
              <a:t>Jihad</a:t>
            </a:r>
            <a:r>
              <a:rPr dirty="0" sz="1200" spc="170">
                <a:latin typeface="Arial"/>
                <a:cs typeface="Arial"/>
              </a:rPr>
              <a:t> </a:t>
            </a:r>
            <a:r>
              <a:rPr dirty="0" sz="1200" spc="-5">
                <a:latin typeface="Arial"/>
                <a:cs typeface="Arial"/>
              </a:rPr>
              <a:t>of</a:t>
            </a:r>
            <a:r>
              <a:rPr dirty="0" sz="1200" spc="180">
                <a:latin typeface="Arial"/>
                <a:cs typeface="Arial"/>
              </a:rPr>
              <a:t> </a:t>
            </a:r>
            <a:r>
              <a:rPr dirty="0" sz="1200" spc="-10">
                <a:latin typeface="Arial"/>
                <a:cs typeface="Arial"/>
              </a:rPr>
              <a:t>the</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93</a:t>
            </a:r>
            <a:endParaRPr sz="1200">
              <a:latin typeface="Times New Roman"/>
              <a:cs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2535" cy="933831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12065">
              <a:lnSpc>
                <a:spcPts val="1380"/>
              </a:lnSpc>
            </a:pPr>
            <a:r>
              <a:rPr dirty="0" sz="1200">
                <a:latin typeface="Arial"/>
                <a:cs typeface="Arial"/>
              </a:rPr>
              <a:t>Kuffar </a:t>
            </a:r>
            <a:r>
              <a:rPr dirty="0" sz="1200" spc="-5">
                <a:latin typeface="Arial"/>
                <a:cs typeface="Arial"/>
              </a:rPr>
              <a:t>against others. It is, </a:t>
            </a:r>
            <a:r>
              <a:rPr dirty="0" sz="1200" spc="-204">
                <a:latin typeface="Arial"/>
                <a:cs typeface="Arial"/>
              </a:rPr>
              <a:t>―the </a:t>
            </a:r>
            <a:r>
              <a:rPr dirty="0" sz="1200" spc="-5">
                <a:latin typeface="Arial"/>
                <a:cs typeface="Arial"/>
              </a:rPr>
              <a:t>exerting of the effort </a:t>
            </a:r>
            <a:r>
              <a:rPr dirty="0" sz="1200">
                <a:latin typeface="Arial"/>
                <a:cs typeface="Arial"/>
              </a:rPr>
              <a:t>to </a:t>
            </a:r>
            <a:r>
              <a:rPr dirty="0" sz="1200" spc="-5">
                <a:latin typeface="Arial"/>
                <a:cs typeface="Arial"/>
              </a:rPr>
              <a:t>fight in </a:t>
            </a:r>
            <a:r>
              <a:rPr dirty="0" sz="1200">
                <a:latin typeface="Arial"/>
                <a:cs typeface="Arial"/>
              </a:rPr>
              <a:t>the </a:t>
            </a:r>
            <a:r>
              <a:rPr dirty="0" sz="1200" spc="5">
                <a:latin typeface="Arial"/>
                <a:cs typeface="Arial"/>
              </a:rPr>
              <a:t>Way </a:t>
            </a:r>
            <a:r>
              <a:rPr dirty="0" sz="1200" spc="-5">
                <a:latin typeface="Arial"/>
                <a:cs typeface="Arial"/>
              </a:rPr>
              <a:t>of Allah directly </a:t>
            </a:r>
            <a:r>
              <a:rPr dirty="0" sz="1200">
                <a:latin typeface="Arial"/>
                <a:cs typeface="Arial"/>
              </a:rPr>
              <a:t>or by  </a:t>
            </a:r>
            <a:r>
              <a:rPr dirty="0" sz="1200" spc="-5">
                <a:latin typeface="Arial"/>
                <a:cs typeface="Arial"/>
              </a:rPr>
              <a:t>financial aid, </a:t>
            </a:r>
            <a:r>
              <a:rPr dirty="0" sz="1200">
                <a:latin typeface="Arial"/>
                <a:cs typeface="Arial"/>
              </a:rPr>
              <a:t>or </a:t>
            </a:r>
            <a:r>
              <a:rPr dirty="0" sz="1200" spc="-5">
                <a:latin typeface="Arial"/>
                <a:cs typeface="Arial"/>
              </a:rPr>
              <a:t>opinion </a:t>
            </a:r>
            <a:r>
              <a:rPr dirty="0" sz="1200">
                <a:latin typeface="Arial"/>
                <a:cs typeface="Arial"/>
              </a:rPr>
              <a:t>and </a:t>
            </a:r>
            <a:r>
              <a:rPr dirty="0" sz="1200" spc="-5">
                <a:latin typeface="Arial"/>
                <a:cs typeface="Arial"/>
              </a:rPr>
              <a:t>the</a:t>
            </a:r>
            <a:r>
              <a:rPr dirty="0" sz="1200" spc="-30">
                <a:latin typeface="Arial"/>
                <a:cs typeface="Arial"/>
              </a:rPr>
              <a:t> </a:t>
            </a:r>
            <a:r>
              <a:rPr dirty="0" sz="1200" spc="-25">
                <a:latin typeface="Arial"/>
                <a:cs typeface="Arial"/>
              </a:rPr>
              <a:t>like‖</a:t>
            </a:r>
            <a:endParaRPr sz="1200">
              <a:latin typeface="Arial"/>
              <a:cs typeface="Arial"/>
            </a:endParaRPr>
          </a:p>
          <a:p>
            <a:pPr>
              <a:lnSpc>
                <a:spcPct val="100000"/>
              </a:lnSpc>
              <a:spcBef>
                <a:spcPts val="5"/>
              </a:spcBef>
            </a:pPr>
            <a:endParaRPr sz="1200">
              <a:latin typeface="Arial"/>
              <a:cs typeface="Arial"/>
            </a:endParaRPr>
          </a:p>
          <a:p>
            <a:pPr algn="just" marL="12700" marR="5715">
              <a:lnSpc>
                <a:spcPts val="1380"/>
              </a:lnSpc>
            </a:pPr>
            <a:r>
              <a:rPr dirty="0" sz="1200">
                <a:latin typeface="Arial"/>
                <a:cs typeface="Arial"/>
              </a:rPr>
              <a:t>In </a:t>
            </a:r>
            <a:r>
              <a:rPr dirty="0" sz="1200" spc="-5">
                <a:latin typeface="Arial"/>
                <a:cs typeface="Arial"/>
              </a:rPr>
              <a:t>Badi‘ul Sanai‘ of the Hanafi Mazhab, it </a:t>
            </a:r>
            <a:r>
              <a:rPr dirty="0" sz="1200">
                <a:latin typeface="Arial"/>
                <a:cs typeface="Arial"/>
              </a:rPr>
              <a:t>states </a:t>
            </a:r>
            <a:r>
              <a:rPr dirty="0" sz="1200" spc="-5">
                <a:latin typeface="Arial"/>
                <a:cs typeface="Arial"/>
              </a:rPr>
              <a:t>the following: </a:t>
            </a:r>
            <a:r>
              <a:rPr dirty="0" sz="1200" spc="-135">
                <a:latin typeface="Arial"/>
                <a:cs typeface="Arial"/>
              </a:rPr>
              <a:t>―Jihad</a:t>
            </a:r>
            <a:r>
              <a:rPr dirty="0" sz="1200" spc="60">
                <a:latin typeface="Arial"/>
                <a:cs typeface="Arial"/>
              </a:rPr>
              <a:t> </a:t>
            </a:r>
            <a:r>
              <a:rPr dirty="0" sz="1200" spc="-5">
                <a:latin typeface="Arial"/>
                <a:cs typeface="Arial"/>
              </a:rPr>
              <a:t>in the language </a:t>
            </a:r>
            <a:r>
              <a:rPr dirty="0" sz="1200" spc="-10">
                <a:latin typeface="Arial"/>
                <a:cs typeface="Arial"/>
              </a:rPr>
              <a:t>is  </a:t>
            </a:r>
            <a:r>
              <a:rPr dirty="0" sz="1200" spc="-5">
                <a:latin typeface="Arial"/>
                <a:cs typeface="Arial"/>
              </a:rPr>
              <a:t>exerting </a:t>
            </a:r>
            <a:r>
              <a:rPr dirty="0" sz="1200">
                <a:latin typeface="Arial"/>
                <a:cs typeface="Arial"/>
              </a:rPr>
              <a:t>effort. In the </a:t>
            </a:r>
            <a:r>
              <a:rPr dirty="0" sz="1200" spc="-5">
                <a:latin typeface="Arial"/>
                <a:cs typeface="Arial"/>
              </a:rPr>
              <a:t>understanding of the Shara, </a:t>
            </a:r>
            <a:r>
              <a:rPr dirty="0" sz="1200">
                <a:latin typeface="Arial"/>
                <a:cs typeface="Arial"/>
              </a:rPr>
              <a:t>it </a:t>
            </a:r>
            <a:r>
              <a:rPr dirty="0" sz="1200" spc="-5">
                <a:latin typeface="Arial"/>
                <a:cs typeface="Arial"/>
              </a:rPr>
              <a:t>is exerting </a:t>
            </a:r>
            <a:r>
              <a:rPr dirty="0" sz="1200">
                <a:latin typeface="Arial"/>
                <a:cs typeface="Arial"/>
              </a:rPr>
              <a:t>effort </a:t>
            </a:r>
            <a:r>
              <a:rPr dirty="0" sz="1200" spc="-5">
                <a:latin typeface="Arial"/>
                <a:cs typeface="Arial"/>
              </a:rPr>
              <a:t>and energy in fighting </a:t>
            </a:r>
            <a:r>
              <a:rPr dirty="0" sz="1200">
                <a:latin typeface="Arial"/>
                <a:cs typeface="Arial"/>
              </a:rPr>
              <a:t>fi  </a:t>
            </a:r>
            <a:r>
              <a:rPr dirty="0" sz="1200" spc="-5">
                <a:latin typeface="Arial"/>
                <a:cs typeface="Arial"/>
              </a:rPr>
              <a:t>sabeel lillah </a:t>
            </a:r>
            <a:r>
              <a:rPr dirty="0" sz="1200">
                <a:latin typeface="Arial"/>
                <a:cs typeface="Arial"/>
              </a:rPr>
              <a:t>by nafs, </a:t>
            </a:r>
            <a:r>
              <a:rPr dirty="0" sz="1200" spc="-5">
                <a:latin typeface="Arial"/>
                <a:cs typeface="Arial"/>
              </a:rPr>
              <a:t>finance, tongue </a:t>
            </a:r>
            <a:r>
              <a:rPr dirty="0" sz="1200">
                <a:latin typeface="Arial"/>
                <a:cs typeface="Arial"/>
              </a:rPr>
              <a:t>or</a:t>
            </a:r>
            <a:r>
              <a:rPr dirty="0" sz="1200" spc="-35">
                <a:latin typeface="Arial"/>
                <a:cs typeface="Arial"/>
              </a:rPr>
              <a:t> </a:t>
            </a:r>
            <a:r>
              <a:rPr dirty="0" sz="1200" spc="-15">
                <a:latin typeface="Arial"/>
                <a:cs typeface="Arial"/>
              </a:rPr>
              <a:t>another.‖</a:t>
            </a:r>
            <a:endParaRPr sz="1200">
              <a:latin typeface="Arial"/>
              <a:cs typeface="Arial"/>
            </a:endParaRPr>
          </a:p>
          <a:p>
            <a:pPr>
              <a:lnSpc>
                <a:spcPct val="100000"/>
              </a:lnSpc>
            </a:pPr>
            <a:endParaRPr sz="1200">
              <a:latin typeface="Arial"/>
              <a:cs typeface="Arial"/>
            </a:endParaRPr>
          </a:p>
          <a:p>
            <a:pPr algn="just" marL="12700" marR="5715">
              <a:lnSpc>
                <a:spcPts val="1380"/>
              </a:lnSpc>
            </a:pPr>
            <a:r>
              <a:rPr dirty="0" sz="1200">
                <a:latin typeface="Arial"/>
                <a:cs typeface="Arial"/>
              </a:rPr>
              <a:t>In </a:t>
            </a:r>
            <a:r>
              <a:rPr dirty="0" sz="1200" spc="-5">
                <a:latin typeface="Arial"/>
                <a:cs typeface="Arial"/>
              </a:rPr>
              <a:t>Manhul Jaleel of the Maliki Mazhab, al-Jihad is defined </a:t>
            </a:r>
            <a:r>
              <a:rPr dirty="0" sz="1200">
                <a:latin typeface="Arial"/>
                <a:cs typeface="Arial"/>
              </a:rPr>
              <a:t>as </a:t>
            </a:r>
            <a:r>
              <a:rPr dirty="0" sz="1200" spc="-5">
                <a:latin typeface="Arial"/>
                <a:cs typeface="Arial"/>
              </a:rPr>
              <a:t>the, </a:t>
            </a:r>
            <a:r>
              <a:rPr dirty="0" sz="1200" spc="-95">
                <a:latin typeface="Arial"/>
                <a:cs typeface="Arial"/>
              </a:rPr>
              <a:t>―fighting </a:t>
            </a:r>
            <a:r>
              <a:rPr dirty="0" sz="1200">
                <a:latin typeface="Arial"/>
                <a:cs typeface="Arial"/>
              </a:rPr>
              <a:t>by a </a:t>
            </a:r>
            <a:r>
              <a:rPr dirty="0" sz="1200" spc="-5">
                <a:latin typeface="Arial"/>
                <a:cs typeface="Arial"/>
              </a:rPr>
              <a:t>Muslim  against a kaafir </a:t>
            </a:r>
            <a:r>
              <a:rPr dirty="0" sz="1200" spc="-10">
                <a:latin typeface="Arial"/>
                <a:cs typeface="Arial"/>
              </a:rPr>
              <a:t>(who </a:t>
            </a:r>
            <a:r>
              <a:rPr dirty="0" sz="1200" spc="-5">
                <a:latin typeface="Arial"/>
                <a:cs typeface="Arial"/>
              </a:rPr>
              <a:t>does not have a treaty with </a:t>
            </a:r>
            <a:r>
              <a:rPr dirty="0" sz="1200">
                <a:latin typeface="Arial"/>
                <a:cs typeface="Arial"/>
              </a:rPr>
              <a:t>the </a:t>
            </a:r>
            <a:r>
              <a:rPr dirty="0" sz="1200" spc="-5">
                <a:latin typeface="Arial"/>
                <a:cs typeface="Arial"/>
              </a:rPr>
              <a:t>Muslims) </a:t>
            </a:r>
            <a:r>
              <a:rPr dirty="0" sz="1200">
                <a:latin typeface="Arial"/>
                <a:cs typeface="Arial"/>
              </a:rPr>
              <a:t>to </a:t>
            </a:r>
            <a:r>
              <a:rPr dirty="0" sz="1200" spc="-5">
                <a:latin typeface="Arial"/>
                <a:cs typeface="Arial"/>
              </a:rPr>
              <a:t>make the word </a:t>
            </a:r>
            <a:r>
              <a:rPr dirty="0" sz="1200">
                <a:latin typeface="Arial"/>
                <a:cs typeface="Arial"/>
              </a:rPr>
              <a:t>of </a:t>
            </a:r>
            <a:r>
              <a:rPr dirty="0" sz="1200" spc="-5">
                <a:latin typeface="Arial"/>
                <a:cs typeface="Arial"/>
              </a:rPr>
              <a:t>Allah </a:t>
            </a:r>
            <a:r>
              <a:rPr dirty="0" sz="1200" spc="-10">
                <a:latin typeface="Arial"/>
                <a:cs typeface="Arial"/>
              </a:rPr>
              <a:t>the  </a:t>
            </a:r>
            <a:r>
              <a:rPr dirty="0" sz="1200" spc="-5">
                <a:latin typeface="Arial"/>
                <a:cs typeface="Arial"/>
              </a:rPr>
              <a:t>highest…. </a:t>
            </a:r>
            <a:r>
              <a:rPr dirty="0" sz="1200">
                <a:latin typeface="Arial"/>
                <a:cs typeface="Arial"/>
              </a:rPr>
              <a:t>or for a </a:t>
            </a:r>
            <a:r>
              <a:rPr dirty="0" sz="1200" spc="-5">
                <a:latin typeface="Arial"/>
                <a:cs typeface="Arial"/>
              </a:rPr>
              <a:t>Muslim </a:t>
            </a:r>
            <a:r>
              <a:rPr dirty="0" sz="1200">
                <a:latin typeface="Arial"/>
                <a:cs typeface="Arial"/>
              </a:rPr>
              <a:t>to </a:t>
            </a:r>
            <a:r>
              <a:rPr dirty="0" sz="1200" spc="-5">
                <a:latin typeface="Arial"/>
                <a:cs typeface="Arial"/>
              </a:rPr>
              <a:t>arrive </a:t>
            </a:r>
            <a:r>
              <a:rPr dirty="0" sz="1200">
                <a:latin typeface="Arial"/>
                <a:cs typeface="Arial"/>
              </a:rPr>
              <a:t>to do </a:t>
            </a:r>
            <a:r>
              <a:rPr dirty="0" sz="1200" spc="-5">
                <a:latin typeface="Arial"/>
                <a:cs typeface="Arial"/>
              </a:rPr>
              <a:t>Jihad </a:t>
            </a:r>
            <a:r>
              <a:rPr dirty="0" sz="1200">
                <a:latin typeface="Arial"/>
                <a:cs typeface="Arial"/>
              </a:rPr>
              <a:t>or </a:t>
            </a:r>
            <a:r>
              <a:rPr dirty="0" sz="1200" spc="-5">
                <a:latin typeface="Arial"/>
                <a:cs typeface="Arial"/>
              </a:rPr>
              <a:t>to enter the Kaafir‘s land </a:t>
            </a:r>
            <a:r>
              <a:rPr dirty="0" sz="1200">
                <a:latin typeface="Arial"/>
                <a:cs typeface="Arial"/>
              </a:rPr>
              <a:t>for </a:t>
            </a:r>
            <a:r>
              <a:rPr dirty="0" sz="1200" spc="-15">
                <a:latin typeface="Arial"/>
                <a:cs typeface="Arial"/>
              </a:rPr>
              <a:t>fighting.‖ </a:t>
            </a:r>
            <a:r>
              <a:rPr dirty="0" sz="1200" spc="-10">
                <a:latin typeface="Arial"/>
                <a:cs typeface="Arial"/>
              </a:rPr>
              <a:t>Ibn  </a:t>
            </a:r>
            <a:r>
              <a:rPr dirty="0" sz="1200" spc="-5">
                <a:latin typeface="Arial"/>
                <a:cs typeface="Arial"/>
              </a:rPr>
              <a:t>Arafa defined</a:t>
            </a:r>
            <a:r>
              <a:rPr dirty="0" sz="1200" spc="-20">
                <a:latin typeface="Arial"/>
                <a:cs typeface="Arial"/>
              </a:rPr>
              <a:t> </a:t>
            </a:r>
            <a:r>
              <a:rPr dirty="0" sz="1200">
                <a:latin typeface="Arial"/>
                <a:cs typeface="Arial"/>
              </a:rPr>
              <a:t>this.</a:t>
            </a:r>
            <a:endParaRPr sz="1200">
              <a:latin typeface="Arial"/>
              <a:cs typeface="Arial"/>
            </a:endParaRPr>
          </a:p>
          <a:p>
            <a:pPr>
              <a:lnSpc>
                <a:spcPct val="100000"/>
              </a:lnSpc>
            </a:pPr>
            <a:endParaRPr sz="1200">
              <a:latin typeface="Arial"/>
              <a:cs typeface="Arial"/>
            </a:endParaRPr>
          </a:p>
          <a:p>
            <a:pPr algn="just" marL="12700" marR="5080">
              <a:lnSpc>
                <a:spcPts val="1380"/>
              </a:lnSpc>
            </a:pPr>
            <a:r>
              <a:rPr dirty="0" sz="1200" spc="-5">
                <a:latin typeface="Arial"/>
                <a:cs typeface="Arial"/>
              </a:rPr>
              <a:t>According </a:t>
            </a:r>
            <a:r>
              <a:rPr dirty="0" sz="1200">
                <a:latin typeface="Arial"/>
                <a:cs typeface="Arial"/>
              </a:rPr>
              <a:t>to </a:t>
            </a:r>
            <a:r>
              <a:rPr dirty="0" sz="1200" spc="-5">
                <a:latin typeface="Arial"/>
                <a:cs typeface="Arial"/>
              </a:rPr>
              <a:t>the Shafi Mazhab in </a:t>
            </a:r>
            <a:r>
              <a:rPr dirty="0" sz="1200">
                <a:latin typeface="Arial"/>
                <a:cs typeface="Arial"/>
              </a:rPr>
              <a:t>Al-Iqna, Jihad </a:t>
            </a:r>
            <a:r>
              <a:rPr dirty="0" sz="1200" spc="-5">
                <a:latin typeface="Arial"/>
                <a:cs typeface="Arial"/>
              </a:rPr>
              <a:t>is fighting </a:t>
            </a:r>
            <a:r>
              <a:rPr dirty="0" sz="1200" spc="-140">
                <a:latin typeface="Arial"/>
                <a:cs typeface="Arial"/>
              </a:rPr>
              <a:t>‗Fi </a:t>
            </a:r>
            <a:r>
              <a:rPr dirty="0" sz="1200" spc="-5">
                <a:latin typeface="Arial"/>
                <a:cs typeface="Arial"/>
              </a:rPr>
              <a:t>Sabeel Lillah‘. Al-Shirazi in Al-  Muhazab </a:t>
            </a:r>
            <a:r>
              <a:rPr dirty="0" sz="1200">
                <a:latin typeface="Arial"/>
                <a:cs typeface="Arial"/>
              </a:rPr>
              <a:t>said </a:t>
            </a:r>
            <a:r>
              <a:rPr dirty="0" sz="1200" spc="-5">
                <a:latin typeface="Arial"/>
                <a:cs typeface="Arial"/>
              </a:rPr>
              <a:t>that Jihad is </a:t>
            </a:r>
            <a:r>
              <a:rPr dirty="0" sz="1200" spc="-50">
                <a:latin typeface="Arial"/>
                <a:cs typeface="Arial"/>
              </a:rPr>
              <a:t>‗qitaal‘.</a:t>
            </a:r>
            <a:endParaRPr sz="1200">
              <a:latin typeface="Arial"/>
              <a:cs typeface="Arial"/>
            </a:endParaRPr>
          </a:p>
          <a:p>
            <a:pPr>
              <a:lnSpc>
                <a:spcPct val="100000"/>
              </a:lnSpc>
            </a:pPr>
            <a:endParaRPr sz="1200">
              <a:latin typeface="Arial"/>
              <a:cs typeface="Arial"/>
            </a:endParaRPr>
          </a:p>
          <a:p>
            <a:pPr algn="just" marL="12700" marR="5080">
              <a:lnSpc>
                <a:spcPts val="1380"/>
              </a:lnSpc>
            </a:pPr>
            <a:r>
              <a:rPr dirty="0" sz="1200">
                <a:latin typeface="Arial"/>
                <a:cs typeface="Arial"/>
              </a:rPr>
              <a:t>In </a:t>
            </a:r>
            <a:r>
              <a:rPr dirty="0" sz="1200" spc="-5">
                <a:latin typeface="Arial"/>
                <a:cs typeface="Arial"/>
              </a:rPr>
              <a:t>Al-Mughni according </a:t>
            </a:r>
            <a:r>
              <a:rPr dirty="0" sz="1200">
                <a:latin typeface="Arial"/>
                <a:cs typeface="Arial"/>
              </a:rPr>
              <a:t>to </a:t>
            </a:r>
            <a:r>
              <a:rPr dirty="0" sz="1200" spc="-5">
                <a:latin typeface="Arial"/>
                <a:cs typeface="Arial"/>
              </a:rPr>
              <a:t>the Hambali Mazhab, Ibn Qudama did not </a:t>
            </a:r>
            <a:r>
              <a:rPr dirty="0" sz="1200" spc="-10">
                <a:latin typeface="Arial"/>
                <a:cs typeface="Arial"/>
              </a:rPr>
              <a:t>give </a:t>
            </a:r>
            <a:r>
              <a:rPr dirty="0" sz="1200" spc="-5">
                <a:latin typeface="Arial"/>
                <a:cs typeface="Arial"/>
              </a:rPr>
              <a:t>any other  definition. In the section </a:t>
            </a:r>
            <a:r>
              <a:rPr dirty="0" sz="1200" spc="-70">
                <a:latin typeface="Arial"/>
                <a:cs typeface="Arial"/>
              </a:rPr>
              <a:t>‗kitab </a:t>
            </a:r>
            <a:r>
              <a:rPr dirty="0" sz="1200" spc="-5">
                <a:latin typeface="Arial"/>
                <a:cs typeface="Arial"/>
              </a:rPr>
              <a:t>ul-Jihad‘ whatever is </a:t>
            </a:r>
            <a:r>
              <a:rPr dirty="0" sz="1200">
                <a:latin typeface="Arial"/>
                <a:cs typeface="Arial"/>
              </a:rPr>
              <a:t>related to </a:t>
            </a:r>
            <a:r>
              <a:rPr dirty="0" sz="1200" spc="-5">
                <a:latin typeface="Arial"/>
                <a:cs typeface="Arial"/>
              </a:rPr>
              <a:t>war, whether it was fard ul-  kifaya (collective obligation) or </a:t>
            </a:r>
            <a:r>
              <a:rPr dirty="0" sz="1200">
                <a:latin typeface="Arial"/>
                <a:cs typeface="Arial"/>
              </a:rPr>
              <a:t>fard ul-ayn </a:t>
            </a:r>
            <a:r>
              <a:rPr dirty="0" sz="1200" spc="-5">
                <a:latin typeface="Arial"/>
                <a:cs typeface="Arial"/>
              </a:rPr>
              <a:t>(individual obligation) or whether </a:t>
            </a:r>
            <a:r>
              <a:rPr dirty="0" sz="1200">
                <a:latin typeface="Arial"/>
                <a:cs typeface="Arial"/>
              </a:rPr>
              <a:t>it </a:t>
            </a:r>
            <a:r>
              <a:rPr dirty="0" sz="1200" spc="-10">
                <a:latin typeface="Arial"/>
                <a:cs typeface="Arial"/>
              </a:rPr>
              <a:t>was </a:t>
            </a:r>
            <a:r>
              <a:rPr dirty="0" sz="1200" spc="-5">
                <a:latin typeface="Arial"/>
                <a:cs typeface="Arial"/>
              </a:rPr>
              <a:t>in </a:t>
            </a:r>
            <a:r>
              <a:rPr dirty="0" sz="1200">
                <a:latin typeface="Arial"/>
                <a:cs typeface="Arial"/>
              </a:rPr>
              <a:t>the form  </a:t>
            </a:r>
            <a:r>
              <a:rPr dirty="0" sz="1200" spc="-5">
                <a:latin typeface="Arial"/>
                <a:cs typeface="Arial"/>
              </a:rPr>
              <a:t>of guarding the believers from the enemy and the guards </a:t>
            </a:r>
            <a:r>
              <a:rPr dirty="0" sz="1200" spc="-65">
                <a:latin typeface="Arial"/>
                <a:cs typeface="Arial"/>
              </a:rPr>
              <a:t>‗ribat‘ </a:t>
            </a:r>
            <a:r>
              <a:rPr dirty="0" sz="1200" spc="-5">
                <a:latin typeface="Arial"/>
                <a:cs typeface="Arial"/>
              </a:rPr>
              <a:t>at the borders, all of this is  connected to </a:t>
            </a:r>
            <a:r>
              <a:rPr dirty="0" sz="1200">
                <a:latin typeface="Arial"/>
                <a:cs typeface="Arial"/>
              </a:rPr>
              <a:t>Jihad. </a:t>
            </a:r>
            <a:r>
              <a:rPr dirty="0" sz="1200" spc="-10">
                <a:latin typeface="Arial"/>
                <a:cs typeface="Arial"/>
              </a:rPr>
              <a:t>He </a:t>
            </a:r>
            <a:r>
              <a:rPr dirty="0" sz="1200" spc="-5">
                <a:latin typeface="Arial"/>
                <a:cs typeface="Arial"/>
              </a:rPr>
              <a:t>also said, </a:t>
            </a:r>
            <a:r>
              <a:rPr dirty="0" sz="1200" spc="-275">
                <a:latin typeface="Arial"/>
                <a:cs typeface="Arial"/>
              </a:rPr>
              <a:t>―If </a:t>
            </a:r>
            <a:r>
              <a:rPr dirty="0" sz="1200">
                <a:latin typeface="Arial"/>
                <a:cs typeface="Arial"/>
              </a:rPr>
              <a:t>the </a:t>
            </a:r>
            <a:r>
              <a:rPr dirty="0" sz="1200" spc="-5">
                <a:latin typeface="Arial"/>
                <a:cs typeface="Arial"/>
              </a:rPr>
              <a:t>enemy arrives, </a:t>
            </a:r>
            <a:r>
              <a:rPr dirty="0" sz="1200">
                <a:latin typeface="Arial"/>
                <a:cs typeface="Arial"/>
              </a:rPr>
              <a:t>Jihad </a:t>
            </a:r>
            <a:r>
              <a:rPr dirty="0" sz="1200" spc="-5">
                <a:latin typeface="Arial"/>
                <a:cs typeface="Arial"/>
              </a:rPr>
              <a:t>becomes </a:t>
            </a:r>
            <a:r>
              <a:rPr dirty="0" sz="1200">
                <a:latin typeface="Arial"/>
                <a:cs typeface="Arial"/>
              </a:rPr>
              <a:t>fardul-ayn </a:t>
            </a:r>
            <a:r>
              <a:rPr dirty="0" sz="1200" spc="-5">
                <a:latin typeface="Arial"/>
                <a:cs typeface="Arial"/>
              </a:rPr>
              <a:t>on the  murabitoon (border guards). If </a:t>
            </a:r>
            <a:r>
              <a:rPr dirty="0" sz="1200">
                <a:latin typeface="Arial"/>
                <a:cs typeface="Arial"/>
              </a:rPr>
              <a:t>it </a:t>
            </a:r>
            <a:r>
              <a:rPr dirty="0" sz="1200" spc="-5">
                <a:latin typeface="Arial"/>
                <a:cs typeface="Arial"/>
              </a:rPr>
              <a:t>becomes evident that the enemy arrived, </a:t>
            </a:r>
            <a:r>
              <a:rPr dirty="0" sz="1200">
                <a:latin typeface="Arial"/>
                <a:cs typeface="Arial"/>
              </a:rPr>
              <a:t>then </a:t>
            </a:r>
            <a:r>
              <a:rPr dirty="0" sz="1200" spc="-5">
                <a:latin typeface="Arial"/>
                <a:cs typeface="Arial"/>
              </a:rPr>
              <a:t>they do not  leave </a:t>
            </a:r>
            <a:r>
              <a:rPr dirty="0" sz="1200">
                <a:latin typeface="Arial"/>
                <a:cs typeface="Arial"/>
              </a:rPr>
              <a:t>to </a:t>
            </a:r>
            <a:r>
              <a:rPr dirty="0" sz="1200" spc="-5">
                <a:latin typeface="Arial"/>
                <a:cs typeface="Arial"/>
              </a:rPr>
              <a:t>meet them except by </a:t>
            </a:r>
            <a:r>
              <a:rPr dirty="0" sz="1200">
                <a:latin typeface="Arial"/>
                <a:cs typeface="Arial"/>
              </a:rPr>
              <a:t>an order </a:t>
            </a:r>
            <a:r>
              <a:rPr dirty="0" sz="1200" spc="-5">
                <a:latin typeface="Arial"/>
                <a:cs typeface="Arial"/>
              </a:rPr>
              <a:t>of the </a:t>
            </a:r>
            <a:r>
              <a:rPr dirty="0" sz="1200">
                <a:latin typeface="Arial"/>
                <a:cs typeface="Arial"/>
              </a:rPr>
              <a:t>Ameer, </a:t>
            </a:r>
            <a:r>
              <a:rPr dirty="0" sz="1200" spc="-5">
                <a:latin typeface="Arial"/>
                <a:cs typeface="Arial"/>
              </a:rPr>
              <a:t>since the Ameer is </a:t>
            </a:r>
            <a:r>
              <a:rPr dirty="0" sz="1200">
                <a:latin typeface="Arial"/>
                <a:cs typeface="Arial"/>
              </a:rPr>
              <a:t>the one </a:t>
            </a:r>
            <a:r>
              <a:rPr dirty="0" sz="1200" spc="-10">
                <a:latin typeface="Arial"/>
                <a:cs typeface="Arial"/>
              </a:rPr>
              <a:t>who </a:t>
            </a:r>
            <a:r>
              <a:rPr dirty="0" sz="1200">
                <a:latin typeface="Arial"/>
                <a:cs typeface="Arial"/>
              </a:rPr>
              <a:t>has </a:t>
            </a:r>
            <a:r>
              <a:rPr dirty="0" sz="1200" spc="-5">
                <a:latin typeface="Arial"/>
                <a:cs typeface="Arial"/>
              </a:rPr>
              <a:t>the  authority </a:t>
            </a:r>
            <a:r>
              <a:rPr dirty="0" sz="1200" spc="5">
                <a:latin typeface="Arial"/>
                <a:cs typeface="Arial"/>
              </a:rPr>
              <a:t>for </a:t>
            </a:r>
            <a:r>
              <a:rPr dirty="0" sz="1200" spc="-5">
                <a:latin typeface="Arial"/>
                <a:cs typeface="Arial"/>
              </a:rPr>
              <a:t>issuing orders in the matters of</a:t>
            </a:r>
            <a:r>
              <a:rPr dirty="0" sz="1200" spc="-15">
                <a:latin typeface="Arial"/>
                <a:cs typeface="Arial"/>
              </a:rPr>
              <a:t> </a:t>
            </a:r>
            <a:r>
              <a:rPr dirty="0" sz="1200" spc="-25">
                <a:latin typeface="Arial"/>
                <a:cs typeface="Arial"/>
              </a:rPr>
              <a:t>war.‖</a:t>
            </a:r>
            <a:endParaRPr sz="1200">
              <a:latin typeface="Arial"/>
              <a:cs typeface="Arial"/>
            </a:endParaRPr>
          </a:p>
          <a:p>
            <a:pPr>
              <a:lnSpc>
                <a:spcPct val="100000"/>
              </a:lnSpc>
              <a:spcBef>
                <a:spcPts val="20"/>
              </a:spcBef>
            </a:pPr>
            <a:endParaRPr sz="1150">
              <a:latin typeface="Arial"/>
              <a:cs typeface="Arial"/>
            </a:endParaRPr>
          </a:p>
          <a:p>
            <a:pPr algn="just" marL="12700" marR="5080">
              <a:lnSpc>
                <a:spcPct val="95900"/>
              </a:lnSpc>
              <a:spcBef>
                <a:spcPts val="5"/>
              </a:spcBef>
            </a:pPr>
            <a:r>
              <a:rPr dirty="0" sz="1200" spc="-135">
                <a:latin typeface="Arial"/>
                <a:cs typeface="Arial"/>
              </a:rPr>
              <a:t>―Allah </a:t>
            </a:r>
            <a:r>
              <a:rPr dirty="0" sz="1200">
                <a:latin typeface="Arial"/>
                <a:cs typeface="Arial"/>
              </a:rPr>
              <a:t>has </a:t>
            </a:r>
            <a:r>
              <a:rPr dirty="0" sz="1200" spc="-5">
                <a:latin typeface="Arial"/>
                <a:cs typeface="Arial"/>
              </a:rPr>
              <a:t>purchased of the believers </a:t>
            </a:r>
            <a:r>
              <a:rPr dirty="0" sz="1200">
                <a:latin typeface="Arial"/>
                <a:cs typeface="Arial"/>
              </a:rPr>
              <a:t>their persons </a:t>
            </a:r>
            <a:r>
              <a:rPr dirty="0" sz="1200" spc="-5">
                <a:latin typeface="Arial"/>
                <a:cs typeface="Arial"/>
              </a:rPr>
              <a:t>and their goods; </a:t>
            </a:r>
            <a:r>
              <a:rPr dirty="0" sz="1200">
                <a:latin typeface="Arial"/>
                <a:cs typeface="Arial"/>
              </a:rPr>
              <a:t>for </a:t>
            </a:r>
            <a:r>
              <a:rPr dirty="0" sz="1200" spc="-5">
                <a:latin typeface="Arial"/>
                <a:cs typeface="Arial"/>
              </a:rPr>
              <a:t>theirs (in return) is  </a:t>
            </a:r>
            <a:r>
              <a:rPr dirty="0" sz="1200">
                <a:latin typeface="Arial"/>
                <a:cs typeface="Arial"/>
              </a:rPr>
              <a:t>the </a:t>
            </a:r>
            <a:r>
              <a:rPr dirty="0" sz="1200" spc="-5">
                <a:latin typeface="Arial"/>
                <a:cs typeface="Arial"/>
              </a:rPr>
              <a:t>garden (of Paradise): </a:t>
            </a:r>
            <a:r>
              <a:rPr dirty="0" sz="1200">
                <a:latin typeface="Arial"/>
                <a:cs typeface="Arial"/>
              </a:rPr>
              <a:t>they fight </a:t>
            </a:r>
            <a:r>
              <a:rPr dirty="0" sz="1200" spc="-5">
                <a:latin typeface="Arial"/>
                <a:cs typeface="Arial"/>
              </a:rPr>
              <a:t>in His </a:t>
            </a:r>
            <a:r>
              <a:rPr dirty="0" sz="1200">
                <a:latin typeface="Arial"/>
                <a:cs typeface="Arial"/>
              </a:rPr>
              <a:t>cause, </a:t>
            </a:r>
            <a:r>
              <a:rPr dirty="0" sz="1200" spc="-5">
                <a:latin typeface="Arial"/>
                <a:cs typeface="Arial"/>
              </a:rPr>
              <a:t>and slay and are slain: a </a:t>
            </a:r>
            <a:r>
              <a:rPr dirty="0" sz="1200">
                <a:latin typeface="Arial"/>
                <a:cs typeface="Arial"/>
              </a:rPr>
              <a:t>promise </a:t>
            </a:r>
            <a:r>
              <a:rPr dirty="0" sz="1200" spc="-5">
                <a:latin typeface="Arial"/>
                <a:cs typeface="Arial"/>
              </a:rPr>
              <a:t>binding  on Him in truth, through the </a:t>
            </a:r>
            <a:r>
              <a:rPr dirty="0" sz="1200" spc="-10">
                <a:latin typeface="Arial"/>
                <a:cs typeface="Arial"/>
              </a:rPr>
              <a:t>Law, </a:t>
            </a:r>
            <a:r>
              <a:rPr dirty="0" sz="1200">
                <a:latin typeface="Arial"/>
                <a:cs typeface="Arial"/>
              </a:rPr>
              <a:t>the </a:t>
            </a:r>
            <a:r>
              <a:rPr dirty="0" sz="1200" spc="-5">
                <a:latin typeface="Arial"/>
                <a:cs typeface="Arial"/>
              </a:rPr>
              <a:t>Gospel, and the Quran: and </a:t>
            </a:r>
            <a:r>
              <a:rPr dirty="0" sz="1200" spc="-10">
                <a:latin typeface="Arial"/>
                <a:cs typeface="Arial"/>
              </a:rPr>
              <a:t>who </a:t>
            </a:r>
            <a:r>
              <a:rPr dirty="0" sz="1200" spc="-5">
                <a:latin typeface="Arial"/>
                <a:cs typeface="Arial"/>
              </a:rPr>
              <a:t>is </a:t>
            </a:r>
            <a:r>
              <a:rPr dirty="0" sz="1200">
                <a:latin typeface="Arial"/>
                <a:cs typeface="Arial"/>
              </a:rPr>
              <a:t>more </a:t>
            </a:r>
            <a:r>
              <a:rPr dirty="0" sz="1200" spc="-5">
                <a:latin typeface="Arial"/>
                <a:cs typeface="Arial"/>
              </a:rPr>
              <a:t>faithful </a:t>
            </a:r>
            <a:r>
              <a:rPr dirty="0" sz="1200">
                <a:latin typeface="Arial"/>
                <a:cs typeface="Arial"/>
              </a:rPr>
              <a:t>to </a:t>
            </a:r>
            <a:r>
              <a:rPr dirty="0" sz="1200" spc="-5">
                <a:latin typeface="Arial"/>
                <a:cs typeface="Arial"/>
              </a:rPr>
              <a:t>his  covenant than Allah? Then rejoice in </a:t>
            </a:r>
            <a:r>
              <a:rPr dirty="0" sz="1200">
                <a:latin typeface="Arial"/>
                <a:cs typeface="Arial"/>
              </a:rPr>
              <a:t>the </a:t>
            </a:r>
            <a:r>
              <a:rPr dirty="0" sz="1200" spc="-5">
                <a:latin typeface="Arial"/>
                <a:cs typeface="Arial"/>
              </a:rPr>
              <a:t>bargain which </a:t>
            </a:r>
            <a:r>
              <a:rPr dirty="0" sz="1200" spc="-10">
                <a:latin typeface="Arial"/>
                <a:cs typeface="Arial"/>
              </a:rPr>
              <a:t>you </a:t>
            </a:r>
            <a:r>
              <a:rPr dirty="0" sz="1200" spc="-5">
                <a:latin typeface="Arial"/>
                <a:cs typeface="Arial"/>
              </a:rPr>
              <a:t>have </a:t>
            </a:r>
            <a:r>
              <a:rPr dirty="0" sz="1200">
                <a:latin typeface="Arial"/>
                <a:cs typeface="Arial"/>
              </a:rPr>
              <a:t>concluded: </a:t>
            </a:r>
            <a:r>
              <a:rPr dirty="0" sz="1200" spc="-5">
                <a:latin typeface="Arial"/>
                <a:cs typeface="Arial"/>
              </a:rPr>
              <a:t>that is the  achievement </a:t>
            </a:r>
            <a:r>
              <a:rPr dirty="0" sz="1200" spc="-15">
                <a:latin typeface="Arial"/>
                <a:cs typeface="Arial"/>
              </a:rPr>
              <a:t>supreme.‖</a:t>
            </a:r>
            <a:r>
              <a:rPr dirty="0" sz="1200">
                <a:latin typeface="Arial"/>
                <a:cs typeface="Arial"/>
              </a:rPr>
              <a:t> (9:111)</a:t>
            </a:r>
            <a:endParaRPr sz="1200">
              <a:latin typeface="Arial"/>
              <a:cs typeface="Arial"/>
            </a:endParaRPr>
          </a:p>
          <a:p>
            <a:pPr>
              <a:lnSpc>
                <a:spcPct val="100000"/>
              </a:lnSpc>
              <a:spcBef>
                <a:spcPts val="35"/>
              </a:spcBef>
            </a:pPr>
            <a:endParaRPr sz="1200">
              <a:latin typeface="Arial"/>
              <a:cs typeface="Arial"/>
            </a:endParaRPr>
          </a:p>
          <a:p>
            <a:pPr algn="just" marL="12700" marR="5715">
              <a:lnSpc>
                <a:spcPts val="1380"/>
              </a:lnSpc>
            </a:pPr>
            <a:r>
              <a:rPr dirty="0" sz="1200" spc="-405">
                <a:latin typeface="Arial"/>
                <a:cs typeface="Arial"/>
              </a:rPr>
              <a:t>―O</a:t>
            </a:r>
            <a:r>
              <a:rPr dirty="0" sz="1200" spc="45">
                <a:latin typeface="Arial"/>
                <a:cs typeface="Arial"/>
              </a:rPr>
              <a:t> </a:t>
            </a:r>
            <a:r>
              <a:rPr dirty="0" sz="1200" spc="-5">
                <a:latin typeface="Arial"/>
                <a:cs typeface="Arial"/>
              </a:rPr>
              <a:t>you who believe! </a:t>
            </a:r>
            <a:r>
              <a:rPr dirty="0" sz="1200">
                <a:latin typeface="Arial"/>
                <a:cs typeface="Arial"/>
              </a:rPr>
              <a:t>What </a:t>
            </a:r>
            <a:r>
              <a:rPr dirty="0" sz="1200" spc="-5">
                <a:latin typeface="Arial"/>
                <a:cs typeface="Arial"/>
              </a:rPr>
              <a:t>is </a:t>
            </a:r>
            <a:r>
              <a:rPr dirty="0" sz="1200">
                <a:latin typeface="Arial"/>
                <a:cs typeface="Arial"/>
              </a:rPr>
              <a:t>the </a:t>
            </a:r>
            <a:r>
              <a:rPr dirty="0" sz="1200" spc="-5">
                <a:latin typeface="Arial"/>
                <a:cs typeface="Arial"/>
              </a:rPr>
              <a:t>matter with </a:t>
            </a:r>
            <a:r>
              <a:rPr dirty="0" sz="1200">
                <a:latin typeface="Arial"/>
                <a:cs typeface="Arial"/>
              </a:rPr>
              <a:t>you, </a:t>
            </a:r>
            <a:r>
              <a:rPr dirty="0" sz="1200" spc="-5">
                <a:latin typeface="Arial"/>
                <a:cs typeface="Arial"/>
              </a:rPr>
              <a:t>that, when </a:t>
            </a:r>
            <a:r>
              <a:rPr dirty="0" sz="1200" spc="-10">
                <a:latin typeface="Arial"/>
                <a:cs typeface="Arial"/>
              </a:rPr>
              <a:t>you </a:t>
            </a:r>
            <a:r>
              <a:rPr dirty="0" sz="1200" spc="-5">
                <a:latin typeface="Arial"/>
                <a:cs typeface="Arial"/>
              </a:rPr>
              <a:t>are asked </a:t>
            </a:r>
            <a:r>
              <a:rPr dirty="0" sz="1200">
                <a:latin typeface="Arial"/>
                <a:cs typeface="Arial"/>
              </a:rPr>
              <a:t>to </a:t>
            </a:r>
            <a:r>
              <a:rPr dirty="0" sz="1200" spc="-10">
                <a:latin typeface="Arial"/>
                <a:cs typeface="Arial"/>
              </a:rPr>
              <a:t>go </a:t>
            </a:r>
            <a:r>
              <a:rPr dirty="0" sz="1200">
                <a:latin typeface="Arial"/>
                <a:cs typeface="Arial"/>
              </a:rPr>
              <a:t>forth </a:t>
            </a:r>
            <a:r>
              <a:rPr dirty="0" sz="1200" spc="-5">
                <a:latin typeface="Arial"/>
                <a:cs typeface="Arial"/>
              </a:rPr>
              <a:t>in the  cause of Allah, </a:t>
            </a:r>
            <a:r>
              <a:rPr dirty="0" sz="1200" spc="-10">
                <a:latin typeface="Arial"/>
                <a:cs typeface="Arial"/>
              </a:rPr>
              <a:t>you </a:t>
            </a:r>
            <a:r>
              <a:rPr dirty="0" sz="1200" spc="-5">
                <a:latin typeface="Arial"/>
                <a:cs typeface="Arial"/>
              </a:rPr>
              <a:t>cling heavily </a:t>
            </a:r>
            <a:r>
              <a:rPr dirty="0" sz="1200">
                <a:latin typeface="Arial"/>
                <a:cs typeface="Arial"/>
              </a:rPr>
              <a:t>to the </a:t>
            </a:r>
            <a:r>
              <a:rPr dirty="0" sz="1200" spc="-5">
                <a:latin typeface="Arial"/>
                <a:cs typeface="Arial"/>
              </a:rPr>
              <a:t>earth? Do </a:t>
            </a:r>
            <a:r>
              <a:rPr dirty="0" sz="1200" spc="-10">
                <a:latin typeface="Arial"/>
                <a:cs typeface="Arial"/>
              </a:rPr>
              <a:t>you </a:t>
            </a:r>
            <a:r>
              <a:rPr dirty="0" sz="1200" spc="-5">
                <a:latin typeface="Arial"/>
                <a:cs typeface="Arial"/>
              </a:rPr>
              <a:t>prefer the life of </a:t>
            </a:r>
            <a:r>
              <a:rPr dirty="0" sz="1200">
                <a:latin typeface="Arial"/>
                <a:cs typeface="Arial"/>
              </a:rPr>
              <a:t>this </a:t>
            </a:r>
            <a:r>
              <a:rPr dirty="0" sz="1200" spc="-10">
                <a:latin typeface="Arial"/>
                <a:cs typeface="Arial"/>
              </a:rPr>
              <a:t>world </a:t>
            </a:r>
            <a:r>
              <a:rPr dirty="0" sz="1200">
                <a:latin typeface="Arial"/>
                <a:cs typeface="Arial"/>
              </a:rPr>
              <a:t>to </a:t>
            </a:r>
            <a:r>
              <a:rPr dirty="0" sz="1200" spc="-5">
                <a:latin typeface="Arial"/>
                <a:cs typeface="Arial"/>
              </a:rPr>
              <a:t>the  Hereafter? But little is the comfort of </a:t>
            </a:r>
            <a:r>
              <a:rPr dirty="0" sz="1200">
                <a:latin typeface="Arial"/>
                <a:cs typeface="Arial"/>
              </a:rPr>
              <a:t>this </a:t>
            </a:r>
            <a:r>
              <a:rPr dirty="0" sz="1200" spc="-5">
                <a:latin typeface="Arial"/>
                <a:cs typeface="Arial"/>
              </a:rPr>
              <a:t>life, as compared with </a:t>
            </a:r>
            <a:r>
              <a:rPr dirty="0" sz="1200">
                <a:latin typeface="Arial"/>
                <a:cs typeface="Arial"/>
              </a:rPr>
              <a:t>the </a:t>
            </a:r>
            <a:r>
              <a:rPr dirty="0" sz="1200" spc="-10">
                <a:latin typeface="Arial"/>
                <a:cs typeface="Arial"/>
              </a:rPr>
              <a:t>Hereafter.‖</a:t>
            </a:r>
            <a:r>
              <a:rPr dirty="0" sz="1200" spc="100">
                <a:latin typeface="Arial"/>
                <a:cs typeface="Arial"/>
              </a:rPr>
              <a:t> </a:t>
            </a:r>
            <a:r>
              <a:rPr dirty="0" sz="1200" spc="-5">
                <a:latin typeface="Arial"/>
                <a:cs typeface="Arial"/>
              </a:rPr>
              <a:t>(9:38)</a:t>
            </a:r>
            <a:endParaRPr sz="1200">
              <a:latin typeface="Arial"/>
              <a:cs typeface="Arial"/>
            </a:endParaRPr>
          </a:p>
          <a:p>
            <a:pPr>
              <a:lnSpc>
                <a:spcPct val="100000"/>
              </a:lnSpc>
              <a:spcBef>
                <a:spcPts val="15"/>
              </a:spcBef>
            </a:pPr>
            <a:endParaRPr sz="1100">
              <a:latin typeface="Arial"/>
              <a:cs typeface="Arial"/>
            </a:endParaRPr>
          </a:p>
          <a:p>
            <a:pPr marL="12700">
              <a:lnSpc>
                <a:spcPct val="100000"/>
              </a:lnSpc>
              <a:spcBef>
                <a:spcPts val="5"/>
              </a:spcBef>
            </a:pPr>
            <a:r>
              <a:rPr dirty="0" u="heavy" sz="1200" spc="-5" b="1" i="1">
                <a:uFill>
                  <a:solidFill>
                    <a:srgbClr val="000000"/>
                  </a:solidFill>
                </a:uFill>
                <a:latin typeface="Arial"/>
                <a:cs typeface="Arial"/>
              </a:rPr>
              <a:t>Additional </a:t>
            </a:r>
            <a:r>
              <a:rPr dirty="0" u="heavy" sz="1200" b="1" i="1">
                <a:uFill>
                  <a:solidFill>
                    <a:srgbClr val="000000"/>
                  </a:solidFill>
                </a:uFill>
                <a:latin typeface="Arial"/>
                <a:cs typeface="Arial"/>
              </a:rPr>
              <a:t>Material </a:t>
            </a:r>
            <a:r>
              <a:rPr dirty="0" u="heavy" sz="1200" spc="-10" b="1" i="1">
                <a:uFill>
                  <a:solidFill>
                    <a:srgbClr val="000000"/>
                  </a:solidFill>
                </a:uFill>
                <a:latin typeface="Arial"/>
                <a:cs typeface="Arial"/>
              </a:rPr>
              <a:t>For </a:t>
            </a:r>
            <a:r>
              <a:rPr dirty="0" u="heavy" sz="1200" spc="-5" b="1" i="1">
                <a:uFill>
                  <a:solidFill>
                    <a:srgbClr val="000000"/>
                  </a:solidFill>
                </a:uFill>
                <a:latin typeface="Arial"/>
                <a:cs typeface="Arial"/>
              </a:rPr>
              <a:t>Past Papers</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Questions:</a:t>
            </a:r>
            <a:endParaRPr sz="1200">
              <a:latin typeface="Arial"/>
              <a:cs typeface="Arial"/>
            </a:endParaRPr>
          </a:p>
          <a:p>
            <a:pPr>
              <a:lnSpc>
                <a:spcPct val="100000"/>
              </a:lnSpc>
              <a:spcBef>
                <a:spcPts val="40"/>
              </a:spcBef>
            </a:pPr>
            <a:endParaRPr sz="1100">
              <a:latin typeface="Arial"/>
              <a:cs typeface="Arial"/>
            </a:endParaRPr>
          </a:p>
          <a:p>
            <a:pPr marL="12700">
              <a:lnSpc>
                <a:spcPts val="1410"/>
              </a:lnSpc>
            </a:pPr>
            <a:r>
              <a:rPr dirty="0" u="heavy" sz="1200" spc="-5" b="1" i="1">
                <a:uFill>
                  <a:solidFill>
                    <a:srgbClr val="000000"/>
                  </a:solidFill>
                </a:uFill>
                <a:latin typeface="Arial"/>
                <a:cs typeface="Arial"/>
              </a:rPr>
              <a:t>Explain</a:t>
            </a:r>
            <a:r>
              <a:rPr dirty="0" u="heavy" sz="1200" spc="125" b="1" i="1">
                <a:uFill>
                  <a:solidFill>
                    <a:srgbClr val="000000"/>
                  </a:solidFill>
                </a:uFill>
                <a:latin typeface="Arial"/>
                <a:cs typeface="Arial"/>
              </a:rPr>
              <a:t> </a:t>
            </a:r>
            <a:r>
              <a:rPr dirty="0" u="heavy" sz="1200" b="1" i="1">
                <a:uFill>
                  <a:solidFill>
                    <a:srgbClr val="000000"/>
                  </a:solidFill>
                </a:uFill>
                <a:latin typeface="Arial"/>
                <a:cs typeface="Arial"/>
              </a:rPr>
              <a:t>how</a:t>
            </a:r>
            <a:r>
              <a:rPr dirty="0" u="heavy" sz="1200" spc="140" b="1" i="1">
                <a:uFill>
                  <a:solidFill>
                    <a:srgbClr val="000000"/>
                  </a:solidFill>
                </a:uFill>
                <a:latin typeface="Arial"/>
                <a:cs typeface="Arial"/>
              </a:rPr>
              <a:t> </a:t>
            </a:r>
            <a:r>
              <a:rPr dirty="0" u="heavy" sz="1200" spc="-5" b="1" i="1">
                <a:uFill>
                  <a:solidFill>
                    <a:srgbClr val="000000"/>
                  </a:solidFill>
                </a:uFill>
                <a:latin typeface="Arial"/>
                <a:cs typeface="Arial"/>
              </a:rPr>
              <a:t>Angels,</a:t>
            </a:r>
            <a:r>
              <a:rPr dirty="0" u="heavy" sz="1200" spc="130" b="1" i="1">
                <a:uFill>
                  <a:solidFill>
                    <a:srgbClr val="000000"/>
                  </a:solidFill>
                </a:uFill>
                <a:latin typeface="Arial"/>
                <a:cs typeface="Arial"/>
              </a:rPr>
              <a:t> </a:t>
            </a:r>
            <a:r>
              <a:rPr dirty="0" u="heavy" sz="1200" spc="-5" b="1" i="1">
                <a:uFill>
                  <a:solidFill>
                    <a:srgbClr val="000000"/>
                  </a:solidFill>
                </a:uFill>
                <a:latin typeface="Arial"/>
                <a:cs typeface="Arial"/>
              </a:rPr>
              <a:t>Books</a:t>
            </a:r>
            <a:r>
              <a:rPr dirty="0" u="heavy" sz="1200" spc="135" b="1" i="1">
                <a:uFill>
                  <a:solidFill>
                    <a:srgbClr val="000000"/>
                  </a:solidFill>
                </a:uFill>
                <a:latin typeface="Arial"/>
                <a:cs typeface="Arial"/>
              </a:rPr>
              <a:t> </a:t>
            </a:r>
            <a:r>
              <a:rPr dirty="0" u="heavy" sz="1200" spc="-5" b="1" i="1">
                <a:uFill>
                  <a:solidFill>
                    <a:srgbClr val="000000"/>
                  </a:solidFill>
                </a:uFill>
                <a:latin typeface="Arial"/>
                <a:cs typeface="Arial"/>
              </a:rPr>
              <a:t>and</a:t>
            </a:r>
            <a:r>
              <a:rPr dirty="0" u="heavy" sz="1200" spc="140" b="1" i="1">
                <a:uFill>
                  <a:solidFill>
                    <a:srgbClr val="000000"/>
                  </a:solidFill>
                </a:uFill>
                <a:latin typeface="Arial"/>
                <a:cs typeface="Arial"/>
              </a:rPr>
              <a:t> </a:t>
            </a:r>
            <a:r>
              <a:rPr dirty="0" u="heavy" sz="1200" spc="-5" b="1" i="1">
                <a:uFill>
                  <a:solidFill>
                    <a:srgbClr val="000000"/>
                  </a:solidFill>
                </a:uFill>
                <a:latin typeface="Arial"/>
                <a:cs typeface="Arial"/>
              </a:rPr>
              <a:t>Prophets</a:t>
            </a:r>
            <a:r>
              <a:rPr dirty="0" u="heavy" sz="1200" spc="140" b="1" i="1">
                <a:uFill>
                  <a:solidFill>
                    <a:srgbClr val="000000"/>
                  </a:solidFill>
                </a:uFill>
                <a:latin typeface="Arial"/>
                <a:cs typeface="Arial"/>
              </a:rPr>
              <a:t> </a:t>
            </a:r>
            <a:r>
              <a:rPr dirty="0" u="heavy" sz="1200" spc="-10" b="1" i="1">
                <a:uFill>
                  <a:solidFill>
                    <a:srgbClr val="000000"/>
                  </a:solidFill>
                </a:uFill>
                <a:latin typeface="Arial"/>
                <a:cs typeface="Arial"/>
              </a:rPr>
              <a:t>are</a:t>
            </a:r>
            <a:r>
              <a:rPr dirty="0" u="heavy" sz="1200" spc="135" b="1" i="1">
                <a:uFill>
                  <a:solidFill>
                    <a:srgbClr val="000000"/>
                  </a:solidFill>
                </a:uFill>
                <a:latin typeface="Arial"/>
                <a:cs typeface="Arial"/>
              </a:rPr>
              <a:t> </a:t>
            </a:r>
            <a:r>
              <a:rPr dirty="0" u="heavy" sz="1200" spc="-5" b="1" i="1">
                <a:uFill>
                  <a:solidFill>
                    <a:srgbClr val="000000"/>
                  </a:solidFill>
                </a:uFill>
                <a:latin typeface="Arial"/>
                <a:cs typeface="Arial"/>
              </a:rPr>
              <a:t>connected</a:t>
            </a:r>
            <a:r>
              <a:rPr dirty="0" u="heavy" sz="1200" spc="130" b="1" i="1">
                <a:uFill>
                  <a:solidFill>
                    <a:srgbClr val="000000"/>
                  </a:solidFill>
                </a:uFill>
                <a:latin typeface="Arial"/>
                <a:cs typeface="Arial"/>
              </a:rPr>
              <a:t> </a:t>
            </a:r>
            <a:r>
              <a:rPr dirty="0" u="heavy" sz="1200" b="1" i="1">
                <a:uFill>
                  <a:solidFill>
                    <a:srgbClr val="000000"/>
                  </a:solidFill>
                </a:uFill>
                <a:latin typeface="Arial"/>
                <a:cs typeface="Arial"/>
              </a:rPr>
              <a:t>with</a:t>
            </a:r>
            <a:r>
              <a:rPr dirty="0" u="heavy" sz="1200" spc="125" b="1" i="1">
                <a:uFill>
                  <a:solidFill>
                    <a:srgbClr val="000000"/>
                  </a:solidFill>
                </a:uFill>
                <a:latin typeface="Arial"/>
                <a:cs typeface="Arial"/>
              </a:rPr>
              <a:t> </a:t>
            </a:r>
            <a:r>
              <a:rPr dirty="0" u="heavy" sz="1200" spc="-5" b="1" i="1">
                <a:uFill>
                  <a:solidFill>
                    <a:srgbClr val="000000"/>
                  </a:solidFill>
                </a:uFill>
                <a:latin typeface="Arial"/>
                <a:cs typeface="Arial"/>
              </a:rPr>
              <a:t>one</a:t>
            </a:r>
            <a:r>
              <a:rPr dirty="0" u="heavy" sz="1200" spc="130" b="1" i="1">
                <a:uFill>
                  <a:solidFill>
                    <a:srgbClr val="000000"/>
                  </a:solidFill>
                </a:uFill>
                <a:latin typeface="Arial"/>
                <a:cs typeface="Arial"/>
              </a:rPr>
              <a:t> </a:t>
            </a:r>
            <a:r>
              <a:rPr dirty="0" u="heavy" sz="1200" spc="-5" b="1" i="1">
                <a:uFill>
                  <a:solidFill>
                    <a:srgbClr val="000000"/>
                  </a:solidFill>
                </a:uFill>
                <a:latin typeface="Arial"/>
                <a:cs typeface="Arial"/>
              </a:rPr>
              <a:t>another</a:t>
            </a:r>
            <a:r>
              <a:rPr dirty="0" u="heavy" sz="1200" spc="145" b="1" i="1">
                <a:uFill>
                  <a:solidFill>
                    <a:srgbClr val="000000"/>
                  </a:solidFill>
                </a:uFill>
                <a:latin typeface="Arial"/>
                <a:cs typeface="Arial"/>
              </a:rPr>
              <a:t> </a:t>
            </a:r>
            <a:r>
              <a:rPr dirty="0" u="heavy" sz="1200" spc="-10" b="1" i="1">
                <a:uFill>
                  <a:solidFill>
                    <a:srgbClr val="000000"/>
                  </a:solidFill>
                </a:uFill>
                <a:latin typeface="Arial"/>
                <a:cs typeface="Arial"/>
              </a:rPr>
              <a:t>as</a:t>
            </a:r>
            <a:r>
              <a:rPr dirty="0" u="heavy" sz="1200" spc="145" b="1" i="1">
                <a:uFill>
                  <a:solidFill>
                    <a:srgbClr val="000000"/>
                  </a:solidFill>
                </a:uFill>
                <a:latin typeface="Arial"/>
                <a:cs typeface="Arial"/>
              </a:rPr>
              <a:t> </a:t>
            </a:r>
            <a:r>
              <a:rPr dirty="0" u="heavy" sz="1200" spc="-5" b="1" i="1">
                <a:uFill>
                  <a:solidFill>
                    <a:srgbClr val="000000"/>
                  </a:solidFill>
                </a:uFill>
                <a:latin typeface="Arial"/>
                <a:cs typeface="Arial"/>
              </a:rPr>
              <a:t>part</a:t>
            </a:r>
            <a:r>
              <a:rPr dirty="0" u="heavy" sz="1200" spc="140" b="1" i="1">
                <a:uFill>
                  <a:solidFill>
                    <a:srgbClr val="000000"/>
                  </a:solidFill>
                </a:uFill>
                <a:latin typeface="Arial"/>
                <a:cs typeface="Arial"/>
              </a:rPr>
              <a:t> </a:t>
            </a:r>
            <a:r>
              <a:rPr dirty="0" u="heavy" sz="1200" b="1" i="1">
                <a:uFill>
                  <a:solidFill>
                    <a:srgbClr val="000000"/>
                  </a:solidFill>
                </a:uFill>
                <a:latin typeface="Arial"/>
                <a:cs typeface="Arial"/>
              </a:rPr>
              <a:t>of</a:t>
            </a:r>
            <a:endParaRPr sz="1200">
              <a:latin typeface="Arial"/>
              <a:cs typeface="Arial"/>
            </a:endParaRPr>
          </a:p>
          <a:p>
            <a:pPr marL="12700">
              <a:lnSpc>
                <a:spcPts val="1410"/>
              </a:lnSpc>
            </a:pPr>
            <a:r>
              <a:rPr dirty="0" u="heavy" sz="1200" spc="-300">
                <a:uFill>
                  <a:solidFill>
                    <a:srgbClr val="000000"/>
                  </a:solidFill>
                </a:uFill>
                <a:latin typeface="Times New Roman"/>
                <a:cs typeface="Times New Roman"/>
              </a:rPr>
              <a:t> </a:t>
            </a:r>
            <a:r>
              <a:rPr dirty="0" u="heavy" sz="1200" spc="-55" b="1" i="1">
                <a:uFill>
                  <a:solidFill>
                    <a:srgbClr val="000000"/>
                  </a:solidFill>
                </a:uFill>
                <a:latin typeface="Arial"/>
                <a:cs typeface="Arial"/>
              </a:rPr>
              <a:t>God‟s </a:t>
            </a:r>
            <a:r>
              <a:rPr dirty="0" u="heavy" sz="1200" b="1" i="1">
                <a:uFill>
                  <a:solidFill>
                    <a:srgbClr val="000000"/>
                  </a:solidFill>
                </a:uFill>
                <a:latin typeface="Arial"/>
                <a:cs typeface="Arial"/>
              </a:rPr>
              <a:t>plan to </a:t>
            </a:r>
            <a:r>
              <a:rPr dirty="0" u="heavy" sz="1200" spc="-5" b="1" i="1">
                <a:uFill>
                  <a:solidFill>
                    <a:srgbClr val="000000"/>
                  </a:solidFill>
                </a:uFill>
                <a:latin typeface="Arial"/>
                <a:cs typeface="Arial"/>
              </a:rPr>
              <a:t>give guidance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his</a:t>
            </a:r>
            <a:r>
              <a:rPr dirty="0" u="heavy" sz="1200" spc="70" b="1" i="1">
                <a:uFill>
                  <a:solidFill>
                    <a:srgbClr val="000000"/>
                  </a:solidFill>
                </a:uFill>
                <a:latin typeface="Arial"/>
                <a:cs typeface="Arial"/>
              </a:rPr>
              <a:t> </a:t>
            </a:r>
            <a:r>
              <a:rPr dirty="0" u="heavy" sz="1200" spc="-5" b="1" i="1">
                <a:uFill>
                  <a:solidFill>
                    <a:srgbClr val="000000"/>
                  </a:solidFill>
                </a:uFill>
                <a:latin typeface="Arial"/>
                <a:cs typeface="Arial"/>
              </a:rPr>
              <a:t>creatures.</a:t>
            </a:r>
            <a:endParaRPr sz="1200">
              <a:latin typeface="Arial"/>
              <a:cs typeface="Arial"/>
            </a:endParaRPr>
          </a:p>
          <a:p>
            <a:pPr>
              <a:lnSpc>
                <a:spcPct val="100000"/>
              </a:lnSpc>
            </a:pPr>
            <a:endParaRPr sz="1150">
              <a:latin typeface="Arial"/>
              <a:cs typeface="Arial"/>
            </a:endParaRPr>
          </a:p>
          <a:p>
            <a:pPr marL="469900" indent="-229235">
              <a:lnSpc>
                <a:spcPts val="1410"/>
              </a:lnSpc>
              <a:buAutoNum type="arabicPeriod"/>
              <a:tabLst>
                <a:tab pos="470534" algn="l"/>
              </a:tabLst>
            </a:pPr>
            <a:r>
              <a:rPr dirty="0" sz="1200" spc="-5">
                <a:latin typeface="Arial"/>
                <a:cs typeface="Arial"/>
              </a:rPr>
              <a:t>The importance and roles of Angels towards Mankind </a:t>
            </a:r>
            <a:r>
              <a:rPr dirty="0" sz="1200">
                <a:latin typeface="Arial"/>
                <a:cs typeface="Arial"/>
              </a:rPr>
              <a:t>(to</a:t>
            </a:r>
            <a:r>
              <a:rPr dirty="0" sz="1200" spc="35">
                <a:latin typeface="Arial"/>
                <a:cs typeface="Arial"/>
              </a:rPr>
              <a:t> </a:t>
            </a:r>
            <a:r>
              <a:rPr dirty="0" sz="1200" spc="-5">
                <a:latin typeface="Arial"/>
                <a:cs typeface="Arial"/>
              </a:rPr>
              <a:t>elaborate)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importance and roles of </a:t>
            </a:r>
            <a:r>
              <a:rPr dirty="0" sz="1200">
                <a:latin typeface="Arial"/>
                <a:cs typeface="Arial"/>
              </a:rPr>
              <a:t>Books </a:t>
            </a:r>
            <a:r>
              <a:rPr dirty="0" sz="1200" spc="-5">
                <a:latin typeface="Arial"/>
                <a:cs typeface="Arial"/>
              </a:rPr>
              <a:t>towards Mankind </a:t>
            </a:r>
            <a:r>
              <a:rPr dirty="0" sz="1200">
                <a:latin typeface="Arial"/>
                <a:cs typeface="Arial"/>
              </a:rPr>
              <a:t>(to</a:t>
            </a:r>
            <a:r>
              <a:rPr dirty="0" sz="1200" spc="30">
                <a:latin typeface="Arial"/>
                <a:cs typeface="Arial"/>
              </a:rPr>
              <a:t> </a:t>
            </a:r>
            <a:r>
              <a:rPr dirty="0" sz="1200" spc="-5">
                <a:latin typeface="Arial"/>
                <a:cs typeface="Arial"/>
              </a:rPr>
              <a:t>elaborate)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importance and roles of Prophets towards Mankind (to</a:t>
            </a:r>
            <a:r>
              <a:rPr dirty="0" sz="1200" spc="50">
                <a:latin typeface="Arial"/>
                <a:cs typeface="Arial"/>
              </a:rPr>
              <a:t> </a:t>
            </a:r>
            <a:r>
              <a:rPr dirty="0" sz="1200" spc="-5">
                <a:latin typeface="Arial"/>
                <a:cs typeface="Arial"/>
              </a:rPr>
              <a:t>elaborate)</a:t>
            </a:r>
            <a:endParaRPr sz="1200">
              <a:latin typeface="Arial"/>
              <a:cs typeface="Arial"/>
            </a:endParaRPr>
          </a:p>
          <a:p>
            <a:pPr marL="469900" marR="14604" indent="-229235">
              <a:lnSpc>
                <a:spcPts val="1380"/>
              </a:lnSpc>
              <a:spcBef>
                <a:spcPts val="70"/>
              </a:spcBef>
              <a:buAutoNum type="arabicPeriod"/>
              <a:tabLst>
                <a:tab pos="470534" algn="l"/>
              </a:tabLst>
            </a:pPr>
            <a:r>
              <a:rPr dirty="0" sz="1200" spc="-5">
                <a:latin typeface="Arial"/>
                <a:cs typeface="Arial"/>
              </a:rPr>
              <a:t>Angels are the creatures of Allah meant </a:t>
            </a:r>
            <a:r>
              <a:rPr dirty="0" sz="1200">
                <a:latin typeface="Arial"/>
                <a:cs typeface="Arial"/>
              </a:rPr>
              <a:t>to </a:t>
            </a:r>
            <a:r>
              <a:rPr dirty="0" sz="1200" spc="-5">
                <a:latin typeface="Arial"/>
                <a:cs typeface="Arial"/>
              </a:rPr>
              <a:t>deliver </a:t>
            </a:r>
            <a:r>
              <a:rPr dirty="0" sz="1200">
                <a:latin typeface="Arial"/>
                <a:cs typeface="Arial"/>
              </a:rPr>
              <a:t>the </a:t>
            </a:r>
            <a:r>
              <a:rPr dirty="0" sz="1200" spc="-5">
                <a:latin typeface="Arial"/>
                <a:cs typeface="Arial"/>
              </a:rPr>
              <a:t>message of Allah in the </a:t>
            </a:r>
            <a:r>
              <a:rPr dirty="0" sz="1200">
                <a:latin typeface="Arial"/>
                <a:cs typeface="Arial"/>
              </a:rPr>
              <a:t>form </a:t>
            </a:r>
            <a:r>
              <a:rPr dirty="0" sz="1200" spc="-5">
                <a:latin typeface="Arial"/>
                <a:cs typeface="Arial"/>
              </a:rPr>
              <a:t>of  </a:t>
            </a:r>
            <a:r>
              <a:rPr dirty="0" sz="1200" spc="5">
                <a:latin typeface="Arial"/>
                <a:cs typeface="Arial"/>
              </a:rPr>
              <a:t>Wahy </a:t>
            </a:r>
            <a:r>
              <a:rPr dirty="0" sz="1200" spc="-5">
                <a:latin typeface="Arial"/>
                <a:cs typeface="Arial"/>
              </a:rPr>
              <a:t>found in books to the vicegerents of Allah </a:t>
            </a:r>
            <a:r>
              <a:rPr dirty="0" sz="1200">
                <a:latin typeface="Arial"/>
                <a:cs typeface="Arial"/>
              </a:rPr>
              <a:t>as </a:t>
            </a:r>
            <a:r>
              <a:rPr dirty="0" sz="1200" spc="-5">
                <a:latin typeface="Arial"/>
                <a:cs typeface="Arial"/>
              </a:rPr>
              <a:t>Prophets and </a:t>
            </a:r>
            <a:r>
              <a:rPr dirty="0" sz="1200">
                <a:latin typeface="Arial"/>
                <a:cs typeface="Arial"/>
              </a:rPr>
              <a:t>messengers.</a:t>
            </a:r>
            <a:endParaRPr sz="1200">
              <a:latin typeface="Arial"/>
              <a:cs typeface="Arial"/>
            </a:endParaRPr>
          </a:p>
          <a:p>
            <a:pPr>
              <a:lnSpc>
                <a:spcPct val="100000"/>
              </a:lnSpc>
              <a:spcBef>
                <a:spcPts val="1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a:lnSpc>
                <a:spcPct val="100000"/>
              </a:lnSpc>
            </a:pPr>
            <a:endParaRPr sz="1150">
              <a:latin typeface="Arial"/>
              <a:cs typeface="Arial"/>
            </a:endParaRPr>
          </a:p>
          <a:p>
            <a:pPr algn="ctr">
              <a:lnSpc>
                <a:spcPct val="10000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35"/>
              </a:spcBef>
            </a:pPr>
            <a:endParaRPr sz="1200">
              <a:latin typeface="Arial"/>
              <a:cs typeface="Arial"/>
            </a:endParaRPr>
          </a:p>
          <a:p>
            <a:pPr marL="12700" marR="13970">
              <a:lnSpc>
                <a:spcPts val="1380"/>
              </a:lnSpc>
            </a:pPr>
            <a:r>
              <a:rPr dirty="0" sz="1200" spc="-5">
                <a:latin typeface="Arial"/>
                <a:cs typeface="Arial"/>
              </a:rPr>
              <a:t>9 Explain </a:t>
            </a:r>
            <a:r>
              <a:rPr dirty="0" sz="1200">
                <a:latin typeface="Arial"/>
                <a:cs typeface="Arial"/>
              </a:rPr>
              <a:t>how </a:t>
            </a:r>
            <a:r>
              <a:rPr dirty="0" sz="1200" spc="-5">
                <a:latin typeface="Arial"/>
                <a:cs typeface="Arial"/>
              </a:rPr>
              <a:t>Angels, </a:t>
            </a:r>
            <a:r>
              <a:rPr dirty="0" sz="1200">
                <a:latin typeface="Arial"/>
                <a:cs typeface="Arial"/>
              </a:rPr>
              <a:t>Books </a:t>
            </a:r>
            <a:r>
              <a:rPr dirty="0" sz="1200" spc="-5">
                <a:latin typeface="Arial"/>
                <a:cs typeface="Arial"/>
              </a:rPr>
              <a:t>and Prophets </a:t>
            </a:r>
            <a:r>
              <a:rPr dirty="0" sz="1200">
                <a:latin typeface="Arial"/>
                <a:cs typeface="Arial"/>
              </a:rPr>
              <a:t>are </a:t>
            </a:r>
            <a:r>
              <a:rPr dirty="0" sz="1200" spc="-5">
                <a:latin typeface="Arial"/>
                <a:cs typeface="Arial"/>
              </a:rPr>
              <a:t>connected </a:t>
            </a:r>
            <a:r>
              <a:rPr dirty="0" sz="1200" spc="-10">
                <a:latin typeface="Arial"/>
                <a:cs typeface="Arial"/>
              </a:rPr>
              <a:t>with </a:t>
            </a:r>
            <a:r>
              <a:rPr dirty="0" sz="1200" spc="-5">
                <a:latin typeface="Arial"/>
                <a:cs typeface="Arial"/>
              </a:rPr>
              <a:t>one another </a:t>
            </a:r>
            <a:r>
              <a:rPr dirty="0" sz="1200">
                <a:latin typeface="Arial"/>
                <a:cs typeface="Arial"/>
              </a:rPr>
              <a:t>as part </a:t>
            </a:r>
            <a:r>
              <a:rPr dirty="0" sz="1200" spc="-5">
                <a:latin typeface="Arial"/>
                <a:cs typeface="Arial"/>
              </a:rPr>
              <a:t>of God‘s  plan to </a:t>
            </a:r>
            <a:r>
              <a:rPr dirty="0" sz="1200" spc="-10">
                <a:latin typeface="Arial"/>
                <a:cs typeface="Arial"/>
              </a:rPr>
              <a:t>give </a:t>
            </a:r>
            <a:r>
              <a:rPr dirty="0" sz="1200" spc="-5">
                <a:latin typeface="Arial"/>
                <a:cs typeface="Arial"/>
              </a:rPr>
              <a:t>guidance to </a:t>
            </a:r>
            <a:r>
              <a:rPr dirty="0" sz="1200">
                <a:latin typeface="Arial"/>
                <a:cs typeface="Arial"/>
              </a:rPr>
              <a:t>his </a:t>
            </a:r>
            <a:r>
              <a:rPr dirty="0" sz="1200" spc="-5">
                <a:latin typeface="Arial"/>
                <a:cs typeface="Arial"/>
              </a:rPr>
              <a:t>creatures. [20]</a:t>
            </a:r>
            <a:r>
              <a:rPr dirty="0" sz="1200" spc="60">
                <a:latin typeface="Arial"/>
                <a:cs typeface="Arial"/>
              </a:rPr>
              <a:t> </a:t>
            </a:r>
            <a:r>
              <a:rPr dirty="0" sz="1200" spc="-5" b="1">
                <a:latin typeface="Arial"/>
                <a:cs typeface="Arial"/>
              </a:rPr>
              <a:t>(2004)</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94</a:t>
            </a:r>
            <a:endParaRPr sz="1200">
              <a:latin typeface="Times New Roman"/>
              <a:cs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975105"/>
            <a:ext cx="6311900" cy="4064635"/>
          </a:xfrm>
          <a:prstGeom prst="rect">
            <a:avLst/>
          </a:prstGeom>
        </p:spPr>
        <p:txBody>
          <a:bodyPr wrap="square" lIns="0" tIns="12700" rIns="0" bIns="0" rtlCol="0" vert="horz">
            <a:spAutoFit/>
          </a:bodyPr>
          <a:lstStyle/>
          <a:p>
            <a:pPr marL="12700">
              <a:lnSpc>
                <a:spcPts val="1410"/>
              </a:lnSpc>
              <a:spcBef>
                <a:spcPts val="100"/>
              </a:spcBef>
            </a:pPr>
            <a:r>
              <a:rPr dirty="0" sz="1200" spc="-5">
                <a:latin typeface="Arial"/>
                <a:cs typeface="Arial"/>
              </a:rPr>
              <a:t>9 Outline the teachings of Islam on the</a:t>
            </a:r>
            <a:r>
              <a:rPr dirty="0" sz="1200" spc="35">
                <a:latin typeface="Arial"/>
                <a:cs typeface="Arial"/>
              </a:rPr>
              <a:t> </a:t>
            </a:r>
            <a:r>
              <a:rPr dirty="0" sz="1200" spc="-5">
                <a:latin typeface="Arial"/>
                <a:cs typeface="Arial"/>
              </a:rPr>
              <a:t>following:</a:t>
            </a:r>
            <a:endParaRPr sz="1200">
              <a:latin typeface="Arial"/>
              <a:cs typeface="Arial"/>
            </a:endParaRPr>
          </a:p>
          <a:p>
            <a:pPr marL="369570" indent="-229235">
              <a:lnSpc>
                <a:spcPts val="1380"/>
              </a:lnSpc>
              <a:buAutoNum type="alphaLcParenBoth"/>
              <a:tabLst>
                <a:tab pos="370205" algn="l"/>
              </a:tabLst>
            </a:pPr>
            <a:r>
              <a:rPr dirty="0" sz="1200" spc="-5">
                <a:latin typeface="Arial"/>
                <a:cs typeface="Arial"/>
              </a:rPr>
              <a:t>Angels [5]</a:t>
            </a:r>
            <a:endParaRPr sz="1200">
              <a:latin typeface="Arial"/>
              <a:cs typeface="Arial"/>
            </a:endParaRPr>
          </a:p>
          <a:p>
            <a:pPr marL="369570" indent="-229235">
              <a:lnSpc>
                <a:spcPts val="1375"/>
              </a:lnSpc>
              <a:buAutoNum type="alphaLcParenBoth"/>
              <a:tabLst>
                <a:tab pos="370205" algn="l"/>
              </a:tabLst>
            </a:pPr>
            <a:r>
              <a:rPr dirty="0" sz="1200" spc="-5">
                <a:latin typeface="Arial"/>
                <a:cs typeface="Arial"/>
              </a:rPr>
              <a:t>Enjoining good and prohibiting evil</a:t>
            </a:r>
            <a:r>
              <a:rPr dirty="0" sz="1200" spc="-10">
                <a:latin typeface="Arial"/>
                <a:cs typeface="Arial"/>
              </a:rPr>
              <a:t> </a:t>
            </a:r>
            <a:r>
              <a:rPr dirty="0" sz="1200">
                <a:latin typeface="Arial"/>
                <a:cs typeface="Arial"/>
              </a:rPr>
              <a:t>[5]</a:t>
            </a:r>
            <a:endParaRPr sz="1200">
              <a:latin typeface="Arial"/>
              <a:cs typeface="Arial"/>
            </a:endParaRPr>
          </a:p>
          <a:p>
            <a:pPr marL="360045" indent="-219710">
              <a:lnSpc>
                <a:spcPts val="1380"/>
              </a:lnSpc>
              <a:buFont typeface="Arial"/>
              <a:buAutoNum type="alphaLcParenBoth"/>
              <a:tabLst>
                <a:tab pos="360680" algn="l"/>
              </a:tabLst>
            </a:pPr>
            <a:r>
              <a:rPr dirty="0" sz="1200" i="1">
                <a:latin typeface="Arial"/>
                <a:cs typeface="Arial"/>
              </a:rPr>
              <a:t>Jihad</a:t>
            </a:r>
            <a:r>
              <a:rPr dirty="0" sz="1200" spc="-10" i="1">
                <a:latin typeface="Arial"/>
                <a:cs typeface="Arial"/>
              </a:rPr>
              <a:t> </a:t>
            </a:r>
            <a:r>
              <a:rPr dirty="0" sz="1200">
                <a:latin typeface="Arial"/>
                <a:cs typeface="Arial"/>
              </a:rPr>
              <a:t>[5]</a:t>
            </a:r>
            <a:endParaRPr sz="1200">
              <a:latin typeface="Arial"/>
              <a:cs typeface="Arial"/>
            </a:endParaRPr>
          </a:p>
          <a:p>
            <a:pPr marL="369570" indent="-229235">
              <a:lnSpc>
                <a:spcPts val="1415"/>
              </a:lnSpc>
              <a:buAutoNum type="alphaLcParenBoth"/>
              <a:tabLst>
                <a:tab pos="370205" algn="l"/>
              </a:tabLst>
            </a:pPr>
            <a:r>
              <a:rPr dirty="0" sz="1200" spc="-5">
                <a:latin typeface="Arial"/>
                <a:cs typeface="Arial"/>
              </a:rPr>
              <a:t>God‘s predestination of all events. </a:t>
            </a:r>
            <a:r>
              <a:rPr dirty="0" sz="1200">
                <a:latin typeface="Arial"/>
                <a:cs typeface="Arial"/>
              </a:rPr>
              <a:t>[5]</a:t>
            </a:r>
            <a:r>
              <a:rPr dirty="0" sz="1200" spc="15">
                <a:latin typeface="Arial"/>
                <a:cs typeface="Arial"/>
              </a:rPr>
              <a:t> </a:t>
            </a:r>
            <a:r>
              <a:rPr dirty="0" sz="1200" spc="-5" b="1">
                <a:latin typeface="Arial"/>
                <a:cs typeface="Arial"/>
              </a:rPr>
              <a:t>(2006)</a:t>
            </a:r>
            <a:endParaRPr sz="1200">
              <a:latin typeface="Arial"/>
              <a:cs typeface="Arial"/>
            </a:endParaRPr>
          </a:p>
          <a:p>
            <a:pPr>
              <a:lnSpc>
                <a:spcPct val="100000"/>
              </a:lnSpc>
              <a:spcBef>
                <a:spcPts val="55"/>
              </a:spcBef>
            </a:pPr>
            <a:endParaRPr sz="1100">
              <a:latin typeface="Arial"/>
              <a:cs typeface="Arial"/>
            </a:endParaRPr>
          </a:p>
          <a:p>
            <a:pPr marL="140970" indent="-128905">
              <a:lnSpc>
                <a:spcPts val="1405"/>
              </a:lnSpc>
              <a:buAutoNum type="arabicPlain" startAt="8"/>
              <a:tabLst>
                <a:tab pos="141605" algn="l"/>
              </a:tabLst>
            </a:pPr>
            <a:r>
              <a:rPr dirty="0" sz="1200" spc="-5">
                <a:latin typeface="Arial"/>
                <a:cs typeface="Arial"/>
              </a:rPr>
              <a:t>Explain the </a:t>
            </a:r>
            <a:r>
              <a:rPr dirty="0" sz="1200">
                <a:latin typeface="Arial"/>
                <a:cs typeface="Arial"/>
              </a:rPr>
              <a:t>main </a:t>
            </a:r>
            <a:r>
              <a:rPr dirty="0" sz="1200" spc="-5">
                <a:latin typeface="Arial"/>
                <a:cs typeface="Arial"/>
              </a:rPr>
              <a:t>teachings of Islam</a:t>
            </a:r>
            <a:r>
              <a:rPr dirty="0" sz="1200" spc="5">
                <a:latin typeface="Arial"/>
                <a:cs typeface="Arial"/>
              </a:rPr>
              <a:t> </a:t>
            </a:r>
            <a:r>
              <a:rPr dirty="0" sz="1200" spc="-5">
                <a:latin typeface="Arial"/>
                <a:cs typeface="Arial"/>
              </a:rPr>
              <a:t>about:</a:t>
            </a:r>
            <a:endParaRPr sz="1200">
              <a:latin typeface="Arial"/>
              <a:cs typeface="Arial"/>
            </a:endParaRPr>
          </a:p>
          <a:p>
            <a:pPr lvl="1" marL="12700" marR="3959225" indent="128270">
              <a:lnSpc>
                <a:spcPts val="1390"/>
              </a:lnSpc>
              <a:spcBef>
                <a:spcPts val="50"/>
              </a:spcBef>
              <a:buAutoNum type="alphaLcParenBoth"/>
              <a:tabLst>
                <a:tab pos="370205" algn="l"/>
              </a:tabLst>
            </a:pPr>
            <a:r>
              <a:rPr dirty="0" sz="1200" spc="-5">
                <a:latin typeface="Arial"/>
                <a:cs typeface="Arial"/>
              </a:rPr>
              <a:t>Personal struggle </a:t>
            </a:r>
            <a:r>
              <a:rPr dirty="0" sz="1200">
                <a:latin typeface="Arial"/>
                <a:cs typeface="Arial"/>
              </a:rPr>
              <a:t>[</a:t>
            </a:r>
            <a:r>
              <a:rPr dirty="0" sz="1200" i="1">
                <a:latin typeface="Arial"/>
                <a:cs typeface="Arial"/>
              </a:rPr>
              <a:t>Jihad</a:t>
            </a:r>
            <a:r>
              <a:rPr dirty="0" sz="1200">
                <a:latin typeface="Arial"/>
                <a:cs typeface="Arial"/>
              </a:rPr>
              <a:t>] </a:t>
            </a:r>
            <a:r>
              <a:rPr dirty="0" sz="1200" spc="-5">
                <a:latin typeface="Arial"/>
                <a:cs typeface="Arial"/>
              </a:rPr>
              <a:t>[10]  And any </a:t>
            </a:r>
            <a:r>
              <a:rPr dirty="0" sz="1200" spc="-10">
                <a:latin typeface="Arial"/>
                <a:cs typeface="Arial"/>
              </a:rPr>
              <a:t>two </a:t>
            </a:r>
            <a:r>
              <a:rPr dirty="0" sz="1200">
                <a:latin typeface="Arial"/>
                <a:cs typeface="Arial"/>
              </a:rPr>
              <a:t>of </a:t>
            </a:r>
            <a:r>
              <a:rPr dirty="0" sz="1200" spc="-5">
                <a:latin typeface="Arial"/>
                <a:cs typeface="Arial"/>
              </a:rPr>
              <a:t>the following:</a:t>
            </a:r>
            <a:endParaRPr sz="1200">
              <a:latin typeface="Arial"/>
              <a:cs typeface="Arial"/>
            </a:endParaRPr>
          </a:p>
          <a:p>
            <a:pPr lvl="1" marL="369570" indent="-229235">
              <a:lnSpc>
                <a:spcPts val="1310"/>
              </a:lnSpc>
              <a:buAutoNum type="alphaLcParenBoth"/>
              <a:tabLst>
                <a:tab pos="370205" algn="l"/>
              </a:tabLst>
            </a:pPr>
            <a:r>
              <a:rPr dirty="0" sz="1200" spc="-5">
                <a:latin typeface="Arial"/>
                <a:cs typeface="Arial"/>
              </a:rPr>
              <a:t>The command </a:t>
            </a:r>
            <a:r>
              <a:rPr dirty="0" sz="1200">
                <a:latin typeface="Arial"/>
                <a:cs typeface="Arial"/>
              </a:rPr>
              <a:t>to </a:t>
            </a:r>
            <a:r>
              <a:rPr dirty="0" sz="1200" spc="-5">
                <a:latin typeface="Arial"/>
                <a:cs typeface="Arial"/>
              </a:rPr>
              <a:t>enjoin good and prohibit evil </a:t>
            </a:r>
            <a:r>
              <a:rPr dirty="0" sz="1200" spc="-50">
                <a:latin typeface="Arial"/>
                <a:cs typeface="Arial"/>
              </a:rPr>
              <a:t>[</a:t>
            </a:r>
            <a:r>
              <a:rPr dirty="0" sz="1200" spc="-50" i="1">
                <a:latin typeface="Arial"/>
                <a:cs typeface="Arial"/>
              </a:rPr>
              <a:t>al-‗amr </a:t>
            </a:r>
            <a:r>
              <a:rPr dirty="0" sz="1200" i="1">
                <a:latin typeface="Arial"/>
                <a:cs typeface="Arial"/>
              </a:rPr>
              <a:t>bil </a:t>
            </a:r>
            <a:r>
              <a:rPr dirty="0" sz="1200" spc="-70" i="1">
                <a:latin typeface="Arial"/>
                <a:cs typeface="Arial"/>
              </a:rPr>
              <a:t>ma‗ruf </a:t>
            </a:r>
            <a:r>
              <a:rPr dirty="0" sz="1200" i="1">
                <a:latin typeface="Arial"/>
                <a:cs typeface="Arial"/>
              </a:rPr>
              <a:t>wa </a:t>
            </a:r>
            <a:r>
              <a:rPr dirty="0" sz="1200" spc="-5" i="1">
                <a:latin typeface="Arial"/>
                <a:cs typeface="Arial"/>
              </a:rPr>
              <a:t>nahy </a:t>
            </a:r>
            <a:r>
              <a:rPr dirty="0" sz="1200" spc="-140" i="1">
                <a:latin typeface="Arial"/>
                <a:cs typeface="Arial"/>
              </a:rPr>
              <a:t>‗an </a:t>
            </a:r>
            <a:r>
              <a:rPr dirty="0" sz="1200" i="1">
                <a:latin typeface="Arial"/>
                <a:cs typeface="Arial"/>
              </a:rPr>
              <a:t>al-munkar</a:t>
            </a:r>
            <a:r>
              <a:rPr dirty="0" sz="1200">
                <a:latin typeface="Arial"/>
                <a:cs typeface="Arial"/>
              </a:rPr>
              <a:t>]</a:t>
            </a:r>
            <a:endParaRPr sz="1200">
              <a:latin typeface="Arial"/>
              <a:cs typeface="Arial"/>
            </a:endParaRPr>
          </a:p>
          <a:p>
            <a:pPr marL="12700">
              <a:lnSpc>
                <a:spcPts val="1380"/>
              </a:lnSpc>
            </a:pPr>
            <a:r>
              <a:rPr dirty="0" sz="1200">
                <a:latin typeface="Arial"/>
                <a:cs typeface="Arial"/>
              </a:rPr>
              <a:t>[5]</a:t>
            </a:r>
            <a:endParaRPr sz="1200">
              <a:latin typeface="Arial"/>
              <a:cs typeface="Arial"/>
            </a:endParaRPr>
          </a:p>
          <a:p>
            <a:pPr lvl="1" marL="360045" indent="-219710">
              <a:lnSpc>
                <a:spcPts val="1375"/>
              </a:lnSpc>
              <a:buAutoNum type="alphaLcParenBoth" startAt="3"/>
              <a:tabLst>
                <a:tab pos="360680" algn="l"/>
              </a:tabLst>
            </a:pPr>
            <a:r>
              <a:rPr dirty="0" sz="1200" spc="-5">
                <a:latin typeface="Arial"/>
                <a:cs typeface="Arial"/>
              </a:rPr>
              <a:t>Fasting outside Ramadhan [</a:t>
            </a:r>
            <a:r>
              <a:rPr dirty="0" sz="1200" spc="-5" i="1">
                <a:latin typeface="Arial"/>
                <a:cs typeface="Arial"/>
              </a:rPr>
              <a:t>Sawm</a:t>
            </a:r>
            <a:r>
              <a:rPr dirty="0" sz="1200" spc="-5">
                <a:latin typeface="Arial"/>
                <a:cs typeface="Arial"/>
              </a:rPr>
              <a:t>]</a:t>
            </a:r>
            <a:r>
              <a:rPr dirty="0" sz="1200" spc="5">
                <a:latin typeface="Arial"/>
                <a:cs typeface="Arial"/>
              </a:rPr>
              <a:t> </a:t>
            </a:r>
            <a:r>
              <a:rPr dirty="0" sz="1200">
                <a:latin typeface="Arial"/>
                <a:cs typeface="Arial"/>
              </a:rPr>
              <a:t>[5]</a:t>
            </a:r>
            <a:endParaRPr sz="1200">
              <a:latin typeface="Arial"/>
              <a:cs typeface="Arial"/>
            </a:endParaRPr>
          </a:p>
          <a:p>
            <a:pPr lvl="1" marL="369570" indent="-229235">
              <a:lnSpc>
                <a:spcPts val="1410"/>
              </a:lnSpc>
              <a:buAutoNum type="alphaLcParenBoth" startAt="3"/>
              <a:tabLst>
                <a:tab pos="370205" algn="l"/>
              </a:tabLst>
            </a:pPr>
            <a:r>
              <a:rPr dirty="0" sz="1200" spc="-5">
                <a:latin typeface="Arial"/>
                <a:cs typeface="Arial"/>
              </a:rPr>
              <a:t>Resurrection and </a:t>
            </a:r>
            <a:r>
              <a:rPr dirty="0" sz="1200">
                <a:latin typeface="Arial"/>
                <a:cs typeface="Arial"/>
              </a:rPr>
              <a:t>the </a:t>
            </a:r>
            <a:r>
              <a:rPr dirty="0" sz="1200" spc="-5">
                <a:latin typeface="Arial"/>
                <a:cs typeface="Arial"/>
              </a:rPr>
              <a:t>Day of Judgement </a:t>
            </a:r>
            <a:r>
              <a:rPr dirty="0" sz="1200">
                <a:latin typeface="Arial"/>
                <a:cs typeface="Arial"/>
              </a:rPr>
              <a:t>[</a:t>
            </a:r>
            <a:r>
              <a:rPr dirty="0" sz="1200" i="1">
                <a:latin typeface="Arial"/>
                <a:cs typeface="Arial"/>
              </a:rPr>
              <a:t>Yawm </a:t>
            </a:r>
            <a:r>
              <a:rPr dirty="0" sz="1200" spc="-5" i="1">
                <a:latin typeface="Arial"/>
                <a:cs typeface="Arial"/>
              </a:rPr>
              <a:t>al-Qiyamah</a:t>
            </a:r>
            <a:r>
              <a:rPr dirty="0" sz="1200" spc="-5">
                <a:latin typeface="Arial"/>
                <a:cs typeface="Arial"/>
              </a:rPr>
              <a:t>]. [5]</a:t>
            </a:r>
            <a:r>
              <a:rPr dirty="0" sz="1200" spc="10">
                <a:latin typeface="Arial"/>
                <a:cs typeface="Arial"/>
              </a:rPr>
              <a:t> </a:t>
            </a:r>
            <a:r>
              <a:rPr dirty="0" sz="1200" spc="-5" b="1">
                <a:latin typeface="Arial"/>
                <a:cs typeface="Arial"/>
              </a:rPr>
              <a:t>(2007)</a:t>
            </a:r>
            <a:endParaRPr sz="1200">
              <a:latin typeface="Arial"/>
              <a:cs typeface="Arial"/>
            </a:endParaRPr>
          </a:p>
          <a:p>
            <a:pPr lvl="1">
              <a:lnSpc>
                <a:spcPct val="100000"/>
              </a:lnSpc>
              <a:spcBef>
                <a:spcPts val="10"/>
              </a:spcBef>
              <a:buFont typeface="Arial"/>
              <a:buAutoNum type="alphaLcParenBoth" startAt="3"/>
            </a:pPr>
            <a:endParaRPr sz="1150">
              <a:latin typeface="Arial"/>
              <a:cs typeface="Arial"/>
            </a:endParaRPr>
          </a:p>
          <a:p>
            <a:pPr marL="140970" indent="-128905">
              <a:lnSpc>
                <a:spcPts val="1410"/>
              </a:lnSpc>
              <a:spcBef>
                <a:spcPts val="5"/>
              </a:spcBef>
              <a:buAutoNum type="arabicPlain" startAt="8"/>
              <a:tabLst>
                <a:tab pos="141605" algn="l"/>
              </a:tabLst>
            </a:pPr>
            <a:r>
              <a:rPr dirty="0" sz="1200" spc="-5">
                <a:latin typeface="Arial"/>
                <a:cs typeface="Arial"/>
              </a:rPr>
              <a:t>Explain </a:t>
            </a:r>
            <a:r>
              <a:rPr dirty="0" sz="1200">
                <a:latin typeface="Arial"/>
                <a:cs typeface="Arial"/>
              </a:rPr>
              <a:t>how </a:t>
            </a:r>
            <a:r>
              <a:rPr dirty="0" sz="1200" spc="-5">
                <a:latin typeface="Arial"/>
                <a:cs typeface="Arial"/>
              </a:rPr>
              <a:t>belief in the Life Hereafter influences the behaviour </a:t>
            </a:r>
            <a:r>
              <a:rPr dirty="0" sz="1200">
                <a:latin typeface="Arial"/>
                <a:cs typeface="Arial"/>
              </a:rPr>
              <a:t>of </a:t>
            </a:r>
            <a:r>
              <a:rPr dirty="0" sz="1200" spc="-5">
                <a:latin typeface="Arial"/>
                <a:cs typeface="Arial"/>
              </a:rPr>
              <a:t>a Muslim in this </a:t>
            </a:r>
            <a:r>
              <a:rPr dirty="0" sz="1200">
                <a:latin typeface="Arial"/>
                <a:cs typeface="Arial"/>
              </a:rPr>
              <a:t>life.</a:t>
            </a:r>
            <a:r>
              <a:rPr dirty="0" sz="1200" spc="260">
                <a:latin typeface="Arial"/>
                <a:cs typeface="Arial"/>
              </a:rPr>
              <a:t> </a:t>
            </a:r>
            <a:r>
              <a:rPr dirty="0" sz="1200" spc="-5">
                <a:latin typeface="Arial"/>
                <a:cs typeface="Arial"/>
              </a:rPr>
              <a:t>[20]</a:t>
            </a:r>
            <a:endParaRPr sz="1200">
              <a:latin typeface="Arial"/>
              <a:cs typeface="Arial"/>
            </a:endParaRPr>
          </a:p>
          <a:p>
            <a:pPr marL="12700">
              <a:lnSpc>
                <a:spcPts val="1410"/>
              </a:lnSpc>
            </a:pPr>
            <a:r>
              <a:rPr dirty="0" sz="1200" spc="-5" b="1">
                <a:latin typeface="Arial"/>
                <a:cs typeface="Arial"/>
              </a:rPr>
              <a:t>(2008)</a:t>
            </a:r>
            <a:endParaRPr sz="1200">
              <a:latin typeface="Arial"/>
              <a:cs typeface="Arial"/>
            </a:endParaRPr>
          </a:p>
          <a:p>
            <a:pPr>
              <a:lnSpc>
                <a:spcPct val="100000"/>
              </a:lnSpc>
              <a:spcBef>
                <a:spcPts val="50"/>
              </a:spcBef>
            </a:pPr>
            <a:endParaRPr sz="1100">
              <a:latin typeface="Arial"/>
              <a:cs typeface="Arial"/>
            </a:endParaRPr>
          </a:p>
          <a:p>
            <a:pPr marL="12700">
              <a:lnSpc>
                <a:spcPts val="1410"/>
              </a:lnSpc>
              <a:spcBef>
                <a:spcPts val="5"/>
              </a:spcBef>
            </a:pPr>
            <a:r>
              <a:rPr dirty="0" sz="1200" spc="-5">
                <a:latin typeface="Arial"/>
                <a:cs typeface="Arial"/>
              </a:rPr>
              <a:t>8 Explain the </a:t>
            </a:r>
            <a:r>
              <a:rPr dirty="0" sz="1200">
                <a:latin typeface="Arial"/>
                <a:cs typeface="Arial"/>
              </a:rPr>
              <a:t>main </a:t>
            </a:r>
            <a:r>
              <a:rPr dirty="0" sz="1200" spc="-5">
                <a:latin typeface="Arial"/>
                <a:cs typeface="Arial"/>
              </a:rPr>
              <a:t>teachings of Islam</a:t>
            </a:r>
            <a:r>
              <a:rPr dirty="0" sz="1200" spc="15">
                <a:latin typeface="Arial"/>
                <a:cs typeface="Arial"/>
              </a:rPr>
              <a:t> </a:t>
            </a:r>
            <a:r>
              <a:rPr dirty="0" sz="1200" spc="-5">
                <a:latin typeface="Arial"/>
                <a:cs typeface="Arial"/>
              </a:rPr>
              <a:t>about:</a:t>
            </a:r>
            <a:endParaRPr sz="1200">
              <a:latin typeface="Arial"/>
              <a:cs typeface="Arial"/>
            </a:endParaRPr>
          </a:p>
          <a:p>
            <a:pPr marL="12700" marR="3384550" indent="128270">
              <a:lnSpc>
                <a:spcPts val="1380"/>
              </a:lnSpc>
              <a:spcBef>
                <a:spcPts val="65"/>
              </a:spcBef>
              <a:buAutoNum type="alphaLcParenBoth"/>
              <a:tabLst>
                <a:tab pos="370205" algn="l"/>
              </a:tabLst>
            </a:pPr>
            <a:r>
              <a:rPr dirty="0" sz="1200" spc="-5">
                <a:latin typeface="Arial"/>
                <a:cs typeface="Arial"/>
              </a:rPr>
              <a:t>God‘s predestination of all events </a:t>
            </a:r>
            <a:r>
              <a:rPr dirty="0" sz="1200">
                <a:latin typeface="Arial"/>
                <a:cs typeface="Arial"/>
              </a:rPr>
              <a:t>[10]  </a:t>
            </a:r>
            <a:r>
              <a:rPr dirty="0" sz="1200" spc="-5">
                <a:latin typeface="Arial"/>
                <a:cs typeface="Arial"/>
              </a:rPr>
              <a:t>And any </a:t>
            </a:r>
            <a:r>
              <a:rPr dirty="0" sz="1200" spc="-10">
                <a:latin typeface="Arial"/>
                <a:cs typeface="Arial"/>
              </a:rPr>
              <a:t>two </a:t>
            </a:r>
            <a:r>
              <a:rPr dirty="0" sz="1200">
                <a:latin typeface="Arial"/>
                <a:cs typeface="Arial"/>
              </a:rPr>
              <a:t>of </a:t>
            </a:r>
            <a:r>
              <a:rPr dirty="0" sz="1200" spc="-5">
                <a:latin typeface="Arial"/>
                <a:cs typeface="Arial"/>
              </a:rPr>
              <a:t>the</a:t>
            </a:r>
            <a:r>
              <a:rPr dirty="0" sz="1200">
                <a:latin typeface="Arial"/>
                <a:cs typeface="Arial"/>
              </a:rPr>
              <a:t> </a:t>
            </a:r>
            <a:r>
              <a:rPr dirty="0" sz="1200" spc="-5">
                <a:latin typeface="Arial"/>
                <a:cs typeface="Arial"/>
              </a:rPr>
              <a:t>following:</a:t>
            </a:r>
            <a:endParaRPr sz="1200">
              <a:latin typeface="Arial"/>
              <a:cs typeface="Arial"/>
            </a:endParaRPr>
          </a:p>
          <a:p>
            <a:pPr marL="369570" indent="-229235">
              <a:lnSpc>
                <a:spcPts val="1315"/>
              </a:lnSpc>
              <a:buAutoNum type="alphaLcParenBoth"/>
              <a:tabLst>
                <a:tab pos="370205" algn="l"/>
              </a:tabLst>
            </a:pPr>
            <a:r>
              <a:rPr dirty="0" sz="1200" spc="-5">
                <a:latin typeface="Arial"/>
                <a:cs typeface="Arial"/>
              </a:rPr>
              <a:t>Angels [5]</a:t>
            </a:r>
            <a:endParaRPr sz="1200">
              <a:latin typeface="Arial"/>
              <a:cs typeface="Arial"/>
            </a:endParaRPr>
          </a:p>
          <a:p>
            <a:pPr marL="360045" indent="-219710">
              <a:lnSpc>
                <a:spcPts val="1380"/>
              </a:lnSpc>
              <a:buAutoNum type="alphaLcParenBoth"/>
              <a:tabLst>
                <a:tab pos="360680" algn="l"/>
              </a:tabLst>
            </a:pPr>
            <a:r>
              <a:rPr dirty="0" sz="1200" spc="-5">
                <a:latin typeface="Arial"/>
                <a:cs typeface="Arial"/>
              </a:rPr>
              <a:t>Revealed books </a:t>
            </a:r>
            <a:r>
              <a:rPr dirty="0" sz="1200">
                <a:latin typeface="Arial"/>
                <a:cs typeface="Arial"/>
              </a:rPr>
              <a:t>other </a:t>
            </a:r>
            <a:r>
              <a:rPr dirty="0" sz="1200" spc="-10">
                <a:latin typeface="Arial"/>
                <a:cs typeface="Arial"/>
              </a:rPr>
              <a:t>than </a:t>
            </a:r>
            <a:r>
              <a:rPr dirty="0" sz="1200" spc="-5">
                <a:latin typeface="Arial"/>
                <a:cs typeface="Arial"/>
              </a:rPr>
              <a:t>the Qur‘an</a:t>
            </a:r>
            <a:r>
              <a:rPr dirty="0" sz="1200" spc="20">
                <a:latin typeface="Arial"/>
                <a:cs typeface="Arial"/>
              </a:rPr>
              <a:t> </a:t>
            </a:r>
            <a:r>
              <a:rPr dirty="0" sz="1200" spc="-5">
                <a:latin typeface="Arial"/>
                <a:cs typeface="Arial"/>
              </a:rPr>
              <a:t>[5]</a:t>
            </a:r>
            <a:endParaRPr sz="1200">
              <a:latin typeface="Arial"/>
              <a:cs typeface="Arial"/>
            </a:endParaRPr>
          </a:p>
          <a:p>
            <a:pPr marL="367665" indent="-227329">
              <a:lnSpc>
                <a:spcPts val="1410"/>
              </a:lnSpc>
              <a:buAutoNum type="alphaLcParenBoth"/>
              <a:tabLst>
                <a:tab pos="368300" algn="l"/>
              </a:tabLst>
            </a:pPr>
            <a:r>
              <a:rPr dirty="0" sz="1200">
                <a:latin typeface="Arial"/>
                <a:cs typeface="Arial"/>
              </a:rPr>
              <a:t>The </a:t>
            </a:r>
            <a:r>
              <a:rPr dirty="0" sz="1200" spc="-5">
                <a:latin typeface="Arial"/>
                <a:cs typeface="Arial"/>
              </a:rPr>
              <a:t>Prophet as a model of behaviour. </a:t>
            </a:r>
            <a:r>
              <a:rPr dirty="0" sz="1200" spc="-10">
                <a:latin typeface="Arial"/>
                <a:cs typeface="Arial"/>
              </a:rPr>
              <a:t>[5]</a:t>
            </a:r>
            <a:r>
              <a:rPr dirty="0" sz="1200" spc="30">
                <a:latin typeface="Arial"/>
                <a:cs typeface="Arial"/>
              </a:rPr>
              <a:t> </a:t>
            </a:r>
            <a:r>
              <a:rPr dirty="0" sz="1200" spc="-5" b="1">
                <a:latin typeface="Arial"/>
                <a:cs typeface="Arial"/>
              </a:rPr>
              <a:t>(2009)</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95</a:t>
            </a:r>
            <a:endParaRPr sz="1200">
              <a:latin typeface="Times New Roman"/>
              <a:cs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2354326" y="799592"/>
            <a:ext cx="2668270" cy="559435"/>
          </a:xfrm>
          <a:prstGeom prst="rect">
            <a:avLst/>
          </a:prstGeom>
        </p:spPr>
        <p:txBody>
          <a:bodyPr wrap="square" lIns="0" tIns="12700" rIns="0" bIns="0" rtlCol="0" vert="horz">
            <a:spAutoFit/>
          </a:bodyPr>
          <a:lstStyle/>
          <a:p>
            <a:pPr algn="ctr" marL="2540">
              <a:lnSpc>
                <a:spcPct val="100000"/>
              </a:lnSpc>
              <a:spcBef>
                <a:spcPts val="100"/>
              </a:spcBef>
            </a:pPr>
            <a:r>
              <a:rPr dirty="0" u="heavy" sz="1200" spc="-5" b="1" i="1">
                <a:uFill>
                  <a:solidFill>
                    <a:srgbClr val="000000"/>
                  </a:solidFill>
                </a:uFill>
                <a:latin typeface="Arial"/>
                <a:cs typeface="Arial"/>
              </a:rPr>
              <a:t>Paper</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1</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5" b="1" i="1">
                <a:uFill>
                  <a:solidFill>
                    <a:srgbClr val="000000"/>
                  </a:solidFill>
                </a:uFill>
                <a:latin typeface="Arial"/>
                <a:cs typeface="Arial"/>
              </a:rPr>
              <a:t>Section D: The Bases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Islamic</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Law</a:t>
            </a:r>
            <a:endParaRPr sz="1200">
              <a:latin typeface="Arial"/>
              <a:cs typeface="Arial"/>
            </a:endParaRPr>
          </a:p>
        </p:txBody>
      </p:sp>
      <p:sp>
        <p:nvSpPr>
          <p:cNvPr id="8" name="object 8"/>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9" name="object 9"/>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96</a:t>
            </a:r>
            <a:endParaRPr sz="1200">
              <a:latin typeface="Times New Roman"/>
              <a:cs typeface="Times New Roman"/>
            </a:endParaRPr>
          </a:p>
        </p:txBody>
      </p:sp>
      <p:sp>
        <p:nvSpPr>
          <p:cNvPr id="6" name="object 6"/>
          <p:cNvSpPr txBox="1"/>
          <p:nvPr/>
        </p:nvSpPr>
        <p:spPr>
          <a:xfrm>
            <a:off x="478536" y="1704085"/>
            <a:ext cx="6420485"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35" b="1">
                <a:latin typeface="Arial"/>
                <a:cs typeface="Arial"/>
              </a:rPr>
              <a:t>Shari‟ah</a:t>
            </a:r>
            <a:endParaRPr sz="1200">
              <a:latin typeface="Arial"/>
              <a:cs typeface="Arial"/>
            </a:endParaRPr>
          </a:p>
        </p:txBody>
      </p:sp>
      <p:sp>
        <p:nvSpPr>
          <p:cNvPr id="7" name="object 7"/>
          <p:cNvSpPr txBox="1"/>
          <p:nvPr/>
        </p:nvSpPr>
        <p:spPr>
          <a:xfrm>
            <a:off x="534416" y="2038857"/>
            <a:ext cx="6311265" cy="7570470"/>
          </a:xfrm>
          <a:prstGeom prst="rect">
            <a:avLst/>
          </a:prstGeom>
        </p:spPr>
        <p:txBody>
          <a:bodyPr wrap="square" lIns="0" tIns="24765" rIns="0" bIns="0" rtlCol="0" vert="horz">
            <a:spAutoFit/>
          </a:bodyPr>
          <a:lstStyle/>
          <a:p>
            <a:pPr algn="just" marL="12700" marR="10160">
              <a:lnSpc>
                <a:spcPts val="1380"/>
              </a:lnSpc>
              <a:spcBef>
                <a:spcPts val="195"/>
              </a:spcBef>
            </a:pPr>
            <a:r>
              <a:rPr dirty="0" sz="1200" spc="-5">
                <a:latin typeface="Arial"/>
                <a:cs typeface="Arial"/>
              </a:rPr>
              <a:t>Shari‘ah literally means a path </a:t>
            </a:r>
            <a:r>
              <a:rPr dirty="0" sz="1200">
                <a:latin typeface="Arial"/>
                <a:cs typeface="Arial"/>
              </a:rPr>
              <a:t>to </a:t>
            </a:r>
            <a:r>
              <a:rPr dirty="0" sz="1200" spc="-5">
                <a:latin typeface="Arial"/>
                <a:cs typeface="Arial"/>
              </a:rPr>
              <a:t>a watering pond. </a:t>
            </a:r>
            <a:r>
              <a:rPr dirty="0" sz="1200">
                <a:latin typeface="Arial"/>
                <a:cs typeface="Arial"/>
              </a:rPr>
              <a:t>It </a:t>
            </a:r>
            <a:r>
              <a:rPr dirty="0" sz="1200" spc="-5">
                <a:latin typeface="Arial"/>
                <a:cs typeface="Arial"/>
              </a:rPr>
              <a:t>is the </a:t>
            </a:r>
            <a:r>
              <a:rPr dirty="0" sz="1200" spc="-10">
                <a:latin typeface="Arial"/>
                <a:cs typeface="Arial"/>
              </a:rPr>
              <a:t>way </a:t>
            </a:r>
            <a:r>
              <a:rPr dirty="0" sz="1200" spc="-5">
                <a:latin typeface="Arial"/>
                <a:cs typeface="Arial"/>
              </a:rPr>
              <a:t>towards </a:t>
            </a:r>
            <a:r>
              <a:rPr dirty="0" sz="1200">
                <a:latin typeface="Arial"/>
                <a:cs typeface="Arial"/>
              </a:rPr>
              <a:t>life </a:t>
            </a:r>
            <a:r>
              <a:rPr dirty="0" sz="1200" spc="-5">
                <a:latin typeface="Arial"/>
                <a:cs typeface="Arial"/>
              </a:rPr>
              <a:t>in Arabic  </a:t>
            </a:r>
            <a:r>
              <a:rPr dirty="0" sz="1200">
                <a:latin typeface="Arial"/>
                <a:cs typeface="Arial"/>
              </a:rPr>
              <a:t>customs. </a:t>
            </a:r>
            <a:r>
              <a:rPr dirty="0" sz="1200" spc="-5">
                <a:latin typeface="Arial"/>
                <a:cs typeface="Arial"/>
              </a:rPr>
              <a:t>According </a:t>
            </a:r>
            <a:r>
              <a:rPr dirty="0" sz="1200">
                <a:latin typeface="Arial"/>
                <a:cs typeface="Arial"/>
              </a:rPr>
              <a:t>to Islamic </a:t>
            </a:r>
            <a:r>
              <a:rPr dirty="0" sz="1200" spc="-5">
                <a:latin typeface="Arial"/>
                <a:cs typeface="Arial"/>
              </a:rPr>
              <a:t>terminology, </a:t>
            </a:r>
            <a:r>
              <a:rPr dirty="0" sz="1200">
                <a:latin typeface="Arial"/>
                <a:cs typeface="Arial"/>
              </a:rPr>
              <a:t>it </a:t>
            </a:r>
            <a:r>
              <a:rPr dirty="0" sz="1200" spc="-5">
                <a:latin typeface="Arial"/>
                <a:cs typeface="Arial"/>
              </a:rPr>
              <a:t>is </a:t>
            </a:r>
            <a:r>
              <a:rPr dirty="0" sz="1200">
                <a:latin typeface="Arial"/>
                <a:cs typeface="Arial"/>
              </a:rPr>
              <a:t>the </a:t>
            </a:r>
            <a:r>
              <a:rPr dirty="0" sz="1200" spc="-5">
                <a:latin typeface="Arial"/>
                <a:cs typeface="Arial"/>
              </a:rPr>
              <a:t>Islamic law. </a:t>
            </a:r>
            <a:r>
              <a:rPr dirty="0" sz="1200">
                <a:latin typeface="Arial"/>
                <a:cs typeface="Arial"/>
              </a:rPr>
              <a:t>It </a:t>
            </a:r>
            <a:r>
              <a:rPr dirty="0" sz="1200" spc="-5">
                <a:latin typeface="Arial"/>
                <a:cs typeface="Arial"/>
              </a:rPr>
              <a:t>is </a:t>
            </a:r>
            <a:r>
              <a:rPr dirty="0" sz="1200">
                <a:latin typeface="Arial"/>
                <a:cs typeface="Arial"/>
              </a:rPr>
              <a:t>the set </a:t>
            </a:r>
            <a:r>
              <a:rPr dirty="0" sz="1200" spc="-5">
                <a:latin typeface="Arial"/>
                <a:cs typeface="Arial"/>
              </a:rPr>
              <a:t>of rules and  regulations guiding human beings towards </a:t>
            </a:r>
            <a:r>
              <a:rPr dirty="0" sz="1200">
                <a:latin typeface="Arial"/>
                <a:cs typeface="Arial"/>
              </a:rPr>
              <a:t>success. </a:t>
            </a:r>
            <a:r>
              <a:rPr dirty="0" sz="1200" spc="-5">
                <a:latin typeface="Arial"/>
                <a:cs typeface="Arial"/>
              </a:rPr>
              <a:t>It is compulsory on every Muslim man  </a:t>
            </a:r>
            <a:r>
              <a:rPr dirty="0" sz="1200">
                <a:latin typeface="Arial"/>
                <a:cs typeface="Arial"/>
              </a:rPr>
              <a:t>and </a:t>
            </a:r>
            <a:r>
              <a:rPr dirty="0" sz="1200" spc="-5">
                <a:latin typeface="Arial"/>
                <a:cs typeface="Arial"/>
              </a:rPr>
              <a:t>woman. </a:t>
            </a:r>
            <a:r>
              <a:rPr dirty="0" sz="1200">
                <a:latin typeface="Arial"/>
                <a:cs typeface="Arial"/>
              </a:rPr>
              <a:t>It </a:t>
            </a:r>
            <a:r>
              <a:rPr dirty="0" sz="1200" spc="-5">
                <a:latin typeface="Arial"/>
                <a:cs typeface="Arial"/>
              </a:rPr>
              <a:t>can </a:t>
            </a:r>
            <a:r>
              <a:rPr dirty="0" sz="1200">
                <a:latin typeface="Arial"/>
                <a:cs typeface="Arial"/>
              </a:rPr>
              <a:t>be </a:t>
            </a:r>
            <a:r>
              <a:rPr dirty="0" sz="1200" spc="-5">
                <a:latin typeface="Arial"/>
                <a:cs typeface="Arial"/>
              </a:rPr>
              <a:t>divided into </a:t>
            </a:r>
            <a:r>
              <a:rPr dirty="0" sz="1200">
                <a:latin typeface="Arial"/>
                <a:cs typeface="Arial"/>
              </a:rPr>
              <a:t>5 </a:t>
            </a:r>
            <a:r>
              <a:rPr dirty="0" sz="1200" spc="-5">
                <a:latin typeface="Arial"/>
                <a:cs typeface="Arial"/>
              </a:rPr>
              <a:t>categories, the Qur‘an, the Hadith, the Ijma‘, the Qiyas  and </a:t>
            </a:r>
            <a:r>
              <a:rPr dirty="0" sz="1200">
                <a:latin typeface="Arial"/>
                <a:cs typeface="Arial"/>
              </a:rPr>
              <a:t>the</a:t>
            </a:r>
            <a:r>
              <a:rPr dirty="0" sz="1200" spc="-20">
                <a:latin typeface="Arial"/>
                <a:cs typeface="Arial"/>
              </a:rPr>
              <a:t> </a:t>
            </a:r>
            <a:r>
              <a:rPr dirty="0" sz="1200" spc="-5">
                <a:latin typeface="Arial"/>
                <a:cs typeface="Arial"/>
              </a:rPr>
              <a:t>Ijtihad.</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50" b="1" i="1">
                <a:uFill>
                  <a:solidFill>
                    <a:srgbClr val="000000"/>
                  </a:solidFill>
                </a:uFill>
                <a:latin typeface="Arial"/>
                <a:cs typeface="Arial"/>
              </a:rPr>
              <a:t>Qur‟an</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spcBef>
                <a:spcPts val="5"/>
              </a:spcBef>
            </a:pPr>
            <a:r>
              <a:rPr dirty="0" sz="1200" spc="-5">
                <a:latin typeface="Arial"/>
                <a:cs typeface="Arial"/>
              </a:rPr>
              <a:t>According </a:t>
            </a:r>
            <a:r>
              <a:rPr dirty="0" sz="1200">
                <a:latin typeface="Arial"/>
                <a:cs typeface="Arial"/>
              </a:rPr>
              <a:t>to the </a:t>
            </a:r>
            <a:r>
              <a:rPr dirty="0" sz="1200" spc="-5">
                <a:latin typeface="Arial"/>
                <a:cs typeface="Arial"/>
              </a:rPr>
              <a:t>scholars of Islam, laws are formulated and codified through different  injunctions of the Qur‘an. </a:t>
            </a:r>
            <a:r>
              <a:rPr dirty="0" sz="1200">
                <a:latin typeface="Arial"/>
                <a:cs typeface="Arial"/>
              </a:rPr>
              <a:t>They are </a:t>
            </a:r>
            <a:r>
              <a:rPr dirty="0" sz="1200" spc="-5">
                <a:latin typeface="Arial"/>
                <a:cs typeface="Arial"/>
              </a:rPr>
              <a:t>all </a:t>
            </a:r>
            <a:r>
              <a:rPr dirty="0" sz="1200">
                <a:latin typeface="Arial"/>
                <a:cs typeface="Arial"/>
              </a:rPr>
              <a:t>important </a:t>
            </a:r>
            <a:r>
              <a:rPr dirty="0" sz="1200" spc="-5">
                <a:latin typeface="Arial"/>
                <a:cs typeface="Arial"/>
              </a:rPr>
              <a:t>in </a:t>
            </a:r>
            <a:r>
              <a:rPr dirty="0" sz="1200">
                <a:latin typeface="Arial"/>
                <a:cs typeface="Arial"/>
              </a:rPr>
              <a:t>a way or </a:t>
            </a:r>
            <a:r>
              <a:rPr dirty="0" sz="1200" spc="-5">
                <a:latin typeface="Arial"/>
                <a:cs typeface="Arial"/>
              </a:rPr>
              <a:t>another. </a:t>
            </a:r>
            <a:r>
              <a:rPr dirty="0" sz="1200" spc="20">
                <a:latin typeface="Arial"/>
                <a:cs typeface="Arial"/>
              </a:rPr>
              <a:t>We </a:t>
            </a:r>
            <a:r>
              <a:rPr dirty="0" sz="1200" spc="-10">
                <a:latin typeface="Arial"/>
                <a:cs typeface="Arial"/>
              </a:rPr>
              <a:t>have </a:t>
            </a:r>
            <a:r>
              <a:rPr dirty="0" sz="1200">
                <a:latin typeface="Arial"/>
                <a:cs typeface="Arial"/>
              </a:rPr>
              <a:t>the </a:t>
            </a:r>
            <a:r>
              <a:rPr dirty="0" sz="1200" spc="-5">
                <a:latin typeface="Arial"/>
                <a:cs typeface="Arial"/>
              </a:rPr>
              <a:t>injunctions  from </a:t>
            </a:r>
            <a:r>
              <a:rPr dirty="0" sz="1200">
                <a:latin typeface="Arial"/>
                <a:cs typeface="Arial"/>
              </a:rPr>
              <a:t>the </a:t>
            </a:r>
            <a:r>
              <a:rPr dirty="0" sz="1200" spc="-5">
                <a:latin typeface="Arial"/>
                <a:cs typeface="Arial"/>
              </a:rPr>
              <a:t>Ayatul Ahkaam. They </a:t>
            </a:r>
            <a:r>
              <a:rPr dirty="0" sz="1200">
                <a:latin typeface="Arial"/>
                <a:cs typeface="Arial"/>
              </a:rPr>
              <a:t>are </a:t>
            </a:r>
            <a:r>
              <a:rPr dirty="0" sz="1200" spc="-5">
                <a:latin typeface="Arial"/>
                <a:cs typeface="Arial"/>
              </a:rPr>
              <a:t>the verses </a:t>
            </a:r>
            <a:r>
              <a:rPr dirty="0" sz="1200">
                <a:latin typeface="Arial"/>
                <a:cs typeface="Arial"/>
              </a:rPr>
              <a:t>of </a:t>
            </a:r>
            <a:r>
              <a:rPr dirty="0" sz="1200" spc="-5">
                <a:latin typeface="Arial"/>
                <a:cs typeface="Arial"/>
              </a:rPr>
              <a:t>the Qur‘an dealing </a:t>
            </a:r>
            <a:r>
              <a:rPr dirty="0" sz="1200" spc="-10">
                <a:latin typeface="Arial"/>
                <a:cs typeface="Arial"/>
              </a:rPr>
              <a:t>with </a:t>
            </a:r>
            <a:r>
              <a:rPr dirty="0" sz="1200">
                <a:latin typeface="Arial"/>
                <a:cs typeface="Arial"/>
              </a:rPr>
              <a:t>rules </a:t>
            </a:r>
            <a:r>
              <a:rPr dirty="0" sz="1200" spc="-5">
                <a:latin typeface="Arial"/>
                <a:cs typeface="Arial"/>
              </a:rPr>
              <a:t>and  regulations. They </a:t>
            </a:r>
            <a:r>
              <a:rPr dirty="0" sz="1200">
                <a:latin typeface="Arial"/>
                <a:cs typeface="Arial"/>
              </a:rPr>
              <a:t>are </a:t>
            </a:r>
            <a:r>
              <a:rPr dirty="0" sz="1200" spc="-5">
                <a:latin typeface="Arial"/>
                <a:cs typeface="Arial"/>
              </a:rPr>
              <a:t>the direct law </a:t>
            </a:r>
            <a:r>
              <a:rPr dirty="0" sz="1200">
                <a:latin typeface="Arial"/>
                <a:cs typeface="Arial"/>
              </a:rPr>
              <a:t>to</a:t>
            </a:r>
            <a:r>
              <a:rPr dirty="0" sz="1200" spc="-25">
                <a:latin typeface="Arial"/>
                <a:cs typeface="Arial"/>
              </a:rPr>
              <a:t> </a:t>
            </a:r>
            <a:r>
              <a:rPr dirty="0" sz="1200" spc="-5">
                <a:latin typeface="Arial"/>
                <a:cs typeface="Arial"/>
              </a:rPr>
              <a:t>Muslims.</a:t>
            </a:r>
            <a:endParaRPr sz="1200">
              <a:latin typeface="Arial"/>
              <a:cs typeface="Arial"/>
            </a:endParaRPr>
          </a:p>
          <a:p>
            <a:pPr>
              <a:lnSpc>
                <a:spcPct val="100000"/>
              </a:lnSpc>
              <a:spcBef>
                <a:spcPts val="15"/>
              </a:spcBef>
            </a:pPr>
            <a:endParaRPr sz="1100">
              <a:latin typeface="Arial"/>
              <a:cs typeface="Arial"/>
            </a:endParaRPr>
          </a:p>
          <a:p>
            <a:pPr marL="12700">
              <a:lnSpc>
                <a:spcPts val="1410"/>
              </a:lnSpc>
            </a:pPr>
            <a:r>
              <a:rPr dirty="0" u="heavy" sz="1200" b="1" i="1">
                <a:uFill>
                  <a:solidFill>
                    <a:srgbClr val="000000"/>
                  </a:solidFill>
                </a:uFill>
                <a:latin typeface="Arial"/>
                <a:cs typeface="Arial"/>
              </a:rPr>
              <a:t>According</a:t>
            </a:r>
            <a:r>
              <a:rPr dirty="0" u="heavy" sz="1200" spc="125" b="1" i="1">
                <a:uFill>
                  <a:solidFill>
                    <a:srgbClr val="000000"/>
                  </a:solidFill>
                </a:uFill>
                <a:latin typeface="Arial"/>
                <a:cs typeface="Arial"/>
              </a:rPr>
              <a:t> </a:t>
            </a:r>
            <a:r>
              <a:rPr dirty="0" u="heavy" sz="1200" b="1" i="1">
                <a:uFill>
                  <a:solidFill>
                    <a:srgbClr val="000000"/>
                  </a:solidFill>
                </a:uFill>
                <a:latin typeface="Arial"/>
                <a:cs typeface="Arial"/>
              </a:rPr>
              <a:t>to</a:t>
            </a:r>
            <a:r>
              <a:rPr dirty="0" u="heavy" sz="1200" spc="120" b="1" i="1">
                <a:uFill>
                  <a:solidFill>
                    <a:srgbClr val="000000"/>
                  </a:solidFill>
                </a:uFill>
                <a:latin typeface="Arial"/>
                <a:cs typeface="Arial"/>
              </a:rPr>
              <a:t> </a:t>
            </a:r>
            <a:r>
              <a:rPr dirty="0" u="heavy" sz="1200" spc="-5" b="1" i="1">
                <a:uFill>
                  <a:solidFill>
                    <a:srgbClr val="000000"/>
                  </a:solidFill>
                </a:uFill>
                <a:latin typeface="Arial"/>
                <a:cs typeface="Arial"/>
              </a:rPr>
              <a:t>Imam</a:t>
            </a:r>
            <a:r>
              <a:rPr dirty="0" u="heavy" sz="1200" spc="114" b="1" i="1">
                <a:uFill>
                  <a:solidFill>
                    <a:srgbClr val="000000"/>
                  </a:solidFill>
                </a:uFill>
                <a:latin typeface="Arial"/>
                <a:cs typeface="Arial"/>
              </a:rPr>
              <a:t> </a:t>
            </a:r>
            <a:r>
              <a:rPr dirty="0" u="heavy" sz="1200" b="1" i="1">
                <a:uFill>
                  <a:solidFill>
                    <a:srgbClr val="000000"/>
                  </a:solidFill>
                </a:uFill>
                <a:latin typeface="Arial"/>
                <a:cs typeface="Arial"/>
              </a:rPr>
              <a:t>Suyuti</a:t>
            </a:r>
            <a:r>
              <a:rPr dirty="0" u="heavy" sz="1200" spc="125" b="1" i="1">
                <a:uFill>
                  <a:solidFill>
                    <a:srgbClr val="000000"/>
                  </a:solidFill>
                </a:uFill>
                <a:latin typeface="Arial"/>
                <a:cs typeface="Arial"/>
              </a:rPr>
              <a:t> </a:t>
            </a:r>
            <a:r>
              <a:rPr dirty="0" u="heavy" sz="1200" spc="-5" b="1" i="1">
                <a:uFill>
                  <a:solidFill>
                    <a:srgbClr val="000000"/>
                  </a:solidFill>
                </a:uFill>
                <a:latin typeface="Arial"/>
                <a:cs typeface="Arial"/>
              </a:rPr>
              <a:t>(ra)</a:t>
            </a:r>
            <a:r>
              <a:rPr dirty="0" u="heavy" sz="1200" spc="125" b="1" i="1">
                <a:uFill>
                  <a:solidFill>
                    <a:srgbClr val="000000"/>
                  </a:solidFill>
                </a:uFill>
                <a:latin typeface="Arial"/>
                <a:cs typeface="Arial"/>
              </a:rPr>
              <a:t> </a:t>
            </a:r>
            <a:r>
              <a:rPr dirty="0" u="heavy" sz="1200" spc="-5" b="1" i="1">
                <a:uFill>
                  <a:solidFill>
                    <a:srgbClr val="000000"/>
                  </a:solidFill>
                </a:uFill>
                <a:latin typeface="Arial"/>
                <a:cs typeface="Arial"/>
              </a:rPr>
              <a:t>there</a:t>
            </a:r>
            <a:r>
              <a:rPr dirty="0" u="heavy" sz="1200" spc="130" b="1" i="1">
                <a:uFill>
                  <a:solidFill>
                    <a:srgbClr val="000000"/>
                  </a:solidFill>
                </a:uFill>
                <a:latin typeface="Arial"/>
                <a:cs typeface="Arial"/>
              </a:rPr>
              <a:t> </a:t>
            </a:r>
            <a:r>
              <a:rPr dirty="0" u="heavy" sz="1200" spc="-5" b="1" i="1">
                <a:uFill>
                  <a:solidFill>
                    <a:srgbClr val="000000"/>
                  </a:solidFill>
                </a:uFill>
                <a:latin typeface="Arial"/>
                <a:cs typeface="Arial"/>
              </a:rPr>
              <a:t>are</a:t>
            </a:r>
            <a:r>
              <a:rPr dirty="0" u="heavy" sz="1200" spc="114" b="1" i="1">
                <a:uFill>
                  <a:solidFill>
                    <a:srgbClr val="000000"/>
                  </a:solidFill>
                </a:uFill>
                <a:latin typeface="Arial"/>
                <a:cs typeface="Arial"/>
              </a:rPr>
              <a:t> </a:t>
            </a:r>
            <a:r>
              <a:rPr dirty="0" u="heavy" sz="1200" b="1" i="1">
                <a:uFill>
                  <a:solidFill>
                    <a:srgbClr val="000000"/>
                  </a:solidFill>
                </a:uFill>
                <a:latin typeface="Arial"/>
                <a:cs typeface="Arial"/>
              </a:rPr>
              <a:t>about</a:t>
            </a:r>
            <a:r>
              <a:rPr dirty="0" u="heavy" sz="1200" spc="114" b="1" i="1">
                <a:uFill>
                  <a:solidFill>
                    <a:srgbClr val="000000"/>
                  </a:solidFill>
                </a:uFill>
                <a:latin typeface="Arial"/>
                <a:cs typeface="Arial"/>
              </a:rPr>
              <a:t> </a:t>
            </a:r>
            <a:r>
              <a:rPr dirty="0" u="heavy" sz="1200" spc="-5" b="1" i="1">
                <a:uFill>
                  <a:solidFill>
                    <a:srgbClr val="000000"/>
                  </a:solidFill>
                </a:uFill>
                <a:latin typeface="Arial"/>
                <a:cs typeface="Arial"/>
              </a:rPr>
              <a:t>600</a:t>
            </a:r>
            <a:r>
              <a:rPr dirty="0" u="heavy" sz="1200" spc="130" b="1" i="1">
                <a:uFill>
                  <a:solidFill>
                    <a:srgbClr val="000000"/>
                  </a:solidFill>
                </a:uFill>
                <a:latin typeface="Arial"/>
                <a:cs typeface="Arial"/>
              </a:rPr>
              <a:t> </a:t>
            </a:r>
            <a:r>
              <a:rPr dirty="0" u="heavy" sz="1200" spc="-5" b="1" i="1">
                <a:uFill>
                  <a:solidFill>
                    <a:srgbClr val="000000"/>
                  </a:solidFill>
                </a:uFill>
                <a:latin typeface="Arial"/>
                <a:cs typeface="Arial"/>
              </a:rPr>
              <a:t>verses</a:t>
            </a:r>
            <a:r>
              <a:rPr dirty="0" u="heavy" sz="1200" spc="130" b="1" i="1">
                <a:uFill>
                  <a:solidFill>
                    <a:srgbClr val="000000"/>
                  </a:solidFill>
                </a:uFill>
                <a:latin typeface="Arial"/>
                <a:cs typeface="Arial"/>
              </a:rPr>
              <a:t> </a:t>
            </a:r>
            <a:r>
              <a:rPr dirty="0" u="heavy" sz="1200" spc="-5" b="1" i="1">
                <a:uFill>
                  <a:solidFill>
                    <a:srgbClr val="000000"/>
                  </a:solidFill>
                </a:uFill>
                <a:latin typeface="Arial"/>
                <a:cs typeface="Arial"/>
              </a:rPr>
              <a:t>dealing</a:t>
            </a:r>
            <a:r>
              <a:rPr dirty="0" u="heavy" sz="1200" spc="120" b="1" i="1">
                <a:uFill>
                  <a:solidFill>
                    <a:srgbClr val="000000"/>
                  </a:solidFill>
                </a:uFill>
                <a:latin typeface="Arial"/>
                <a:cs typeface="Arial"/>
              </a:rPr>
              <a:t> </a:t>
            </a:r>
            <a:r>
              <a:rPr dirty="0" u="heavy" sz="1200" spc="-5" b="1" i="1">
                <a:uFill>
                  <a:solidFill>
                    <a:srgbClr val="000000"/>
                  </a:solidFill>
                </a:uFill>
                <a:latin typeface="Arial"/>
                <a:cs typeface="Arial"/>
              </a:rPr>
              <a:t>directly</a:t>
            </a:r>
            <a:r>
              <a:rPr dirty="0" u="heavy" sz="1200" spc="130" b="1" i="1">
                <a:uFill>
                  <a:solidFill>
                    <a:srgbClr val="000000"/>
                  </a:solidFill>
                </a:uFill>
                <a:latin typeface="Arial"/>
                <a:cs typeface="Arial"/>
              </a:rPr>
              <a:t> </a:t>
            </a:r>
            <a:r>
              <a:rPr dirty="0" u="heavy" sz="1200" b="1" i="1">
                <a:uFill>
                  <a:solidFill>
                    <a:srgbClr val="000000"/>
                  </a:solidFill>
                </a:uFill>
                <a:latin typeface="Arial"/>
                <a:cs typeface="Arial"/>
              </a:rPr>
              <a:t>with</a:t>
            </a:r>
            <a:r>
              <a:rPr dirty="0" u="heavy" sz="1200" spc="120" b="1" i="1">
                <a:uFill>
                  <a:solidFill>
                    <a:srgbClr val="000000"/>
                  </a:solidFill>
                </a:uFill>
                <a:latin typeface="Arial"/>
                <a:cs typeface="Arial"/>
              </a:rPr>
              <a:t> </a:t>
            </a:r>
            <a:r>
              <a:rPr dirty="0" u="heavy" sz="1200" spc="-5" b="1" i="1">
                <a:uFill>
                  <a:solidFill>
                    <a:srgbClr val="000000"/>
                  </a:solidFill>
                </a:uFill>
                <a:latin typeface="Arial"/>
                <a:cs typeface="Arial"/>
              </a:rPr>
              <a:t>order</a:t>
            </a:r>
            <a:endParaRPr sz="1200">
              <a:latin typeface="Arial"/>
              <a:cs typeface="Arial"/>
            </a:endParaRPr>
          </a:p>
          <a:p>
            <a:pPr marL="12700">
              <a:lnSpc>
                <a:spcPts val="141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from </a:t>
            </a:r>
            <a:r>
              <a:rPr dirty="0" u="heavy" sz="1200" spc="-5" b="1" i="1">
                <a:uFill>
                  <a:solidFill>
                    <a:srgbClr val="000000"/>
                  </a:solidFill>
                </a:uFill>
                <a:latin typeface="Arial"/>
                <a:cs typeface="Arial"/>
              </a:rPr>
              <a:t>Allah. These verses </a:t>
            </a:r>
            <a:r>
              <a:rPr dirty="0" u="heavy" sz="1200" spc="-55" b="1" i="1">
                <a:uFill>
                  <a:solidFill>
                    <a:srgbClr val="000000"/>
                  </a:solidFill>
                </a:uFill>
                <a:latin typeface="Arial"/>
                <a:cs typeface="Arial"/>
              </a:rPr>
              <a:t>can‟t </a:t>
            </a:r>
            <a:r>
              <a:rPr dirty="0" u="heavy" sz="1200" b="1" i="1">
                <a:uFill>
                  <a:solidFill>
                    <a:srgbClr val="000000"/>
                  </a:solidFill>
                </a:uFill>
                <a:latin typeface="Arial"/>
                <a:cs typeface="Arial"/>
              </a:rPr>
              <a:t>be </a:t>
            </a:r>
            <a:r>
              <a:rPr dirty="0" u="heavy" sz="1200" spc="-5" b="1" i="1">
                <a:uFill>
                  <a:solidFill>
                    <a:srgbClr val="000000"/>
                  </a:solidFill>
                </a:uFill>
                <a:latin typeface="Arial"/>
                <a:cs typeface="Arial"/>
              </a:rPr>
              <a:t>altered in </a:t>
            </a:r>
            <a:r>
              <a:rPr dirty="0" u="heavy" sz="1200" b="1" i="1">
                <a:uFill>
                  <a:solidFill>
                    <a:srgbClr val="000000"/>
                  </a:solidFill>
                </a:uFill>
                <a:latin typeface="Arial"/>
                <a:cs typeface="Arial"/>
              </a:rPr>
              <a:t>any</a:t>
            </a:r>
            <a:r>
              <a:rPr dirty="0" u="heavy" sz="1200" spc="60" b="1" i="1">
                <a:uFill>
                  <a:solidFill>
                    <a:srgbClr val="000000"/>
                  </a:solidFill>
                </a:uFill>
                <a:latin typeface="Arial"/>
                <a:cs typeface="Arial"/>
              </a:rPr>
              <a:t> </a:t>
            </a:r>
            <a:r>
              <a:rPr dirty="0" u="heavy" sz="1200" b="1" i="1">
                <a:uFill>
                  <a:solidFill>
                    <a:srgbClr val="000000"/>
                  </a:solidFill>
                </a:uFill>
                <a:latin typeface="Arial"/>
                <a:cs typeface="Arial"/>
              </a:rPr>
              <a:t>way.</a:t>
            </a:r>
            <a:endParaRPr sz="1200">
              <a:latin typeface="Arial"/>
              <a:cs typeface="Arial"/>
            </a:endParaRPr>
          </a:p>
          <a:p>
            <a:pPr>
              <a:lnSpc>
                <a:spcPct val="100000"/>
              </a:lnSpc>
            </a:pPr>
            <a:endParaRPr sz="1150">
              <a:latin typeface="Arial"/>
              <a:cs typeface="Arial"/>
            </a:endParaRPr>
          </a:p>
          <a:p>
            <a:pPr algn="just" marL="469900" indent="-229235">
              <a:lnSpc>
                <a:spcPts val="1410"/>
              </a:lnSpc>
              <a:buAutoNum type="arabicPeriod"/>
              <a:tabLst>
                <a:tab pos="470534" algn="l"/>
              </a:tabLst>
            </a:pPr>
            <a:r>
              <a:rPr dirty="0" sz="1200" spc="-5">
                <a:latin typeface="Arial"/>
                <a:cs typeface="Arial"/>
              </a:rPr>
              <a:t>Firstly, </a:t>
            </a:r>
            <a:r>
              <a:rPr dirty="0" sz="1200">
                <a:latin typeface="Arial"/>
                <a:cs typeface="Arial"/>
              </a:rPr>
              <a:t>they deal </a:t>
            </a:r>
            <a:r>
              <a:rPr dirty="0" sz="1200" spc="-5">
                <a:latin typeface="Arial"/>
                <a:cs typeface="Arial"/>
              </a:rPr>
              <a:t>with family, business, crimes, halal, </a:t>
            </a:r>
            <a:r>
              <a:rPr dirty="0" sz="1200">
                <a:latin typeface="Arial"/>
                <a:cs typeface="Arial"/>
              </a:rPr>
              <a:t>haram </a:t>
            </a:r>
            <a:r>
              <a:rPr dirty="0" sz="1200" spc="-5">
                <a:latin typeface="Arial"/>
                <a:cs typeface="Arial"/>
              </a:rPr>
              <a:t>and many</a:t>
            </a:r>
            <a:r>
              <a:rPr dirty="0" sz="1200" spc="5">
                <a:latin typeface="Arial"/>
                <a:cs typeface="Arial"/>
              </a:rPr>
              <a:t> </a:t>
            </a:r>
            <a:r>
              <a:rPr dirty="0" sz="1200">
                <a:latin typeface="Arial"/>
                <a:cs typeface="Arial"/>
              </a:rPr>
              <a:t>others.</a:t>
            </a:r>
            <a:endParaRPr sz="1200">
              <a:latin typeface="Arial"/>
              <a:cs typeface="Arial"/>
            </a:endParaRPr>
          </a:p>
          <a:p>
            <a:pPr algn="just" marL="469900" marR="5080" indent="-229235">
              <a:lnSpc>
                <a:spcPct val="95900"/>
              </a:lnSpc>
              <a:spcBef>
                <a:spcPts val="30"/>
              </a:spcBef>
              <a:buAutoNum type="arabicPeriod"/>
              <a:tabLst>
                <a:tab pos="470534" algn="l"/>
              </a:tabLst>
            </a:pPr>
            <a:r>
              <a:rPr dirty="0" sz="1200" spc="-5">
                <a:latin typeface="Arial"/>
                <a:cs typeface="Arial"/>
              </a:rPr>
              <a:t>Secondly, </a:t>
            </a:r>
            <a:r>
              <a:rPr dirty="0" sz="1200" spc="-10">
                <a:latin typeface="Arial"/>
                <a:cs typeface="Arial"/>
              </a:rPr>
              <a:t>we </a:t>
            </a:r>
            <a:r>
              <a:rPr dirty="0" sz="1200" spc="-5">
                <a:latin typeface="Arial"/>
                <a:cs typeface="Arial"/>
              </a:rPr>
              <a:t>have </a:t>
            </a:r>
            <a:r>
              <a:rPr dirty="0" sz="1200">
                <a:latin typeface="Arial"/>
                <a:cs typeface="Arial"/>
              </a:rPr>
              <a:t>the </a:t>
            </a:r>
            <a:r>
              <a:rPr dirty="0" sz="1200" spc="-5">
                <a:latin typeface="Arial"/>
                <a:cs typeface="Arial"/>
              </a:rPr>
              <a:t>injunctions </a:t>
            </a:r>
            <a:r>
              <a:rPr dirty="0" sz="1200">
                <a:latin typeface="Arial"/>
                <a:cs typeface="Arial"/>
              </a:rPr>
              <a:t>from </a:t>
            </a:r>
            <a:r>
              <a:rPr dirty="0" sz="1200" spc="-5">
                <a:latin typeface="Arial"/>
                <a:cs typeface="Arial"/>
              </a:rPr>
              <a:t>histories of </a:t>
            </a:r>
            <a:r>
              <a:rPr dirty="0" sz="1200">
                <a:latin typeface="Arial"/>
                <a:cs typeface="Arial"/>
              </a:rPr>
              <a:t>past </a:t>
            </a:r>
            <a:r>
              <a:rPr dirty="0" sz="1200" spc="-5">
                <a:latin typeface="Arial"/>
                <a:cs typeface="Arial"/>
              </a:rPr>
              <a:t>prophets. From them, lessons  can be derived and </a:t>
            </a:r>
            <a:r>
              <a:rPr dirty="0" sz="1200" spc="-10">
                <a:latin typeface="Arial"/>
                <a:cs typeface="Arial"/>
              </a:rPr>
              <a:t>be </a:t>
            </a:r>
            <a:r>
              <a:rPr dirty="0" sz="1200" spc="-5">
                <a:latin typeface="Arial"/>
                <a:cs typeface="Arial"/>
              </a:rPr>
              <a:t>applied as laws </a:t>
            </a:r>
            <a:r>
              <a:rPr dirty="0" sz="1200">
                <a:latin typeface="Arial"/>
                <a:cs typeface="Arial"/>
              </a:rPr>
              <a:t>of </a:t>
            </a:r>
            <a:r>
              <a:rPr dirty="0" sz="1200" spc="-5">
                <a:latin typeface="Arial"/>
                <a:cs typeface="Arial"/>
              </a:rPr>
              <a:t>permissible or not. Due </a:t>
            </a:r>
            <a:r>
              <a:rPr dirty="0" sz="1200">
                <a:latin typeface="Arial"/>
                <a:cs typeface="Arial"/>
              </a:rPr>
              <a:t>to the </a:t>
            </a:r>
            <a:r>
              <a:rPr dirty="0" sz="1200" spc="-5">
                <a:latin typeface="Arial"/>
                <a:cs typeface="Arial"/>
              </a:rPr>
              <a:t>deeds </a:t>
            </a:r>
            <a:r>
              <a:rPr dirty="0" sz="1200" spc="-10">
                <a:latin typeface="Arial"/>
                <a:cs typeface="Arial"/>
              </a:rPr>
              <a:t>and  </a:t>
            </a:r>
            <a:r>
              <a:rPr dirty="0" sz="1200" spc="-5">
                <a:latin typeface="Arial"/>
                <a:cs typeface="Arial"/>
              </a:rPr>
              <a:t>sayings </a:t>
            </a:r>
            <a:r>
              <a:rPr dirty="0" sz="1200">
                <a:latin typeface="Arial"/>
                <a:cs typeface="Arial"/>
              </a:rPr>
              <a:t>of </a:t>
            </a:r>
            <a:r>
              <a:rPr dirty="0" sz="1200" spc="-5">
                <a:latin typeface="Arial"/>
                <a:cs typeface="Arial"/>
              </a:rPr>
              <a:t>past prophets, </a:t>
            </a:r>
            <a:r>
              <a:rPr dirty="0" sz="1200">
                <a:latin typeface="Arial"/>
                <a:cs typeface="Arial"/>
              </a:rPr>
              <a:t>it </a:t>
            </a:r>
            <a:r>
              <a:rPr dirty="0" sz="1200" spc="-5">
                <a:latin typeface="Arial"/>
                <a:cs typeface="Arial"/>
              </a:rPr>
              <a:t>is either allowed or not </a:t>
            </a:r>
            <a:r>
              <a:rPr dirty="0" sz="1200">
                <a:latin typeface="Arial"/>
                <a:cs typeface="Arial"/>
              </a:rPr>
              <a:t>to </a:t>
            </a:r>
            <a:r>
              <a:rPr dirty="0" sz="1200" spc="-5">
                <a:latin typeface="Arial"/>
                <a:cs typeface="Arial"/>
              </a:rPr>
              <a:t>say or </a:t>
            </a:r>
            <a:r>
              <a:rPr dirty="0" sz="1200">
                <a:latin typeface="Arial"/>
                <a:cs typeface="Arial"/>
              </a:rPr>
              <a:t>to </a:t>
            </a:r>
            <a:r>
              <a:rPr dirty="0" sz="1200" spc="-5">
                <a:latin typeface="Arial"/>
                <a:cs typeface="Arial"/>
              </a:rPr>
              <a:t>do something. Many  invocations and Ibaadah that </a:t>
            </a:r>
            <a:r>
              <a:rPr dirty="0" sz="1200" spc="-10">
                <a:latin typeface="Arial"/>
                <a:cs typeface="Arial"/>
              </a:rPr>
              <a:t>we </a:t>
            </a:r>
            <a:r>
              <a:rPr dirty="0" sz="1200" spc="-5">
                <a:latin typeface="Arial"/>
                <a:cs typeface="Arial"/>
              </a:rPr>
              <a:t>practise today </a:t>
            </a:r>
            <a:r>
              <a:rPr dirty="0" sz="1200">
                <a:latin typeface="Arial"/>
                <a:cs typeface="Arial"/>
              </a:rPr>
              <a:t>are </a:t>
            </a:r>
            <a:r>
              <a:rPr dirty="0" sz="1200" spc="-5">
                <a:latin typeface="Arial"/>
                <a:cs typeface="Arial"/>
              </a:rPr>
              <a:t>from </a:t>
            </a:r>
            <a:r>
              <a:rPr dirty="0" sz="1200">
                <a:latin typeface="Arial"/>
                <a:cs typeface="Arial"/>
              </a:rPr>
              <a:t>the </a:t>
            </a:r>
            <a:r>
              <a:rPr dirty="0" sz="1200" spc="-5">
                <a:latin typeface="Arial"/>
                <a:cs typeface="Arial"/>
              </a:rPr>
              <a:t>past</a:t>
            </a:r>
            <a:r>
              <a:rPr dirty="0" sz="1200" spc="55">
                <a:latin typeface="Arial"/>
                <a:cs typeface="Arial"/>
              </a:rPr>
              <a:t> </a:t>
            </a:r>
            <a:r>
              <a:rPr dirty="0" sz="1200" spc="-5">
                <a:latin typeface="Arial"/>
                <a:cs typeface="Arial"/>
              </a:rPr>
              <a:t>prophets.</a:t>
            </a:r>
            <a:endParaRPr sz="1200">
              <a:latin typeface="Arial"/>
              <a:cs typeface="Arial"/>
            </a:endParaRPr>
          </a:p>
          <a:p>
            <a:pPr algn="just" marL="469900" marR="5080" indent="-229235">
              <a:lnSpc>
                <a:spcPts val="1380"/>
              </a:lnSpc>
              <a:spcBef>
                <a:spcPts val="35"/>
              </a:spcBef>
              <a:buAutoNum type="arabicPeriod"/>
              <a:tabLst>
                <a:tab pos="470534" algn="l"/>
              </a:tabLst>
            </a:pPr>
            <a:r>
              <a:rPr dirty="0" sz="1200" spc="-5">
                <a:latin typeface="Arial"/>
                <a:cs typeface="Arial"/>
              </a:rPr>
              <a:t>Thirdly </a:t>
            </a:r>
            <a:r>
              <a:rPr dirty="0" sz="1200">
                <a:latin typeface="Arial"/>
                <a:cs typeface="Arial"/>
              </a:rPr>
              <a:t>there </a:t>
            </a:r>
            <a:r>
              <a:rPr dirty="0" sz="1200" spc="-10">
                <a:latin typeface="Arial"/>
                <a:cs typeface="Arial"/>
              </a:rPr>
              <a:t>are </a:t>
            </a:r>
            <a:r>
              <a:rPr dirty="0" sz="1200" spc="-5">
                <a:latin typeface="Arial"/>
                <a:cs typeface="Arial"/>
              </a:rPr>
              <a:t>the injunctions from the remembrance of Allah. It is a </a:t>
            </a:r>
            <a:r>
              <a:rPr dirty="0" sz="1200">
                <a:latin typeface="Arial"/>
                <a:cs typeface="Arial"/>
              </a:rPr>
              <a:t>fact </a:t>
            </a:r>
            <a:r>
              <a:rPr dirty="0" sz="1200" spc="-5">
                <a:latin typeface="Arial"/>
                <a:cs typeface="Arial"/>
              </a:rPr>
              <a:t>that the  remembrance of Allah brings love and </a:t>
            </a:r>
            <a:r>
              <a:rPr dirty="0" sz="1200">
                <a:latin typeface="Arial"/>
                <a:cs typeface="Arial"/>
              </a:rPr>
              <a:t>fear at the </a:t>
            </a:r>
            <a:r>
              <a:rPr dirty="0" sz="1200" spc="-10">
                <a:latin typeface="Arial"/>
                <a:cs typeface="Arial"/>
              </a:rPr>
              <a:t>same </a:t>
            </a:r>
            <a:r>
              <a:rPr dirty="0" sz="1200" spc="-5">
                <a:latin typeface="Arial"/>
                <a:cs typeface="Arial"/>
              </a:rPr>
              <a:t>time in the hearts of Muslims.  </a:t>
            </a:r>
            <a:r>
              <a:rPr dirty="0" sz="1200">
                <a:latin typeface="Arial"/>
                <a:cs typeface="Arial"/>
              </a:rPr>
              <a:t>If sincerely </a:t>
            </a:r>
            <a:r>
              <a:rPr dirty="0" sz="1200" spc="-10">
                <a:latin typeface="Arial"/>
                <a:cs typeface="Arial"/>
              </a:rPr>
              <a:t>we </a:t>
            </a:r>
            <a:r>
              <a:rPr dirty="0" sz="1200" spc="-5">
                <a:latin typeface="Arial"/>
                <a:cs typeface="Arial"/>
              </a:rPr>
              <a:t>love Allah, this </a:t>
            </a:r>
            <a:r>
              <a:rPr dirty="0" sz="1200" spc="-10">
                <a:latin typeface="Arial"/>
                <a:cs typeface="Arial"/>
              </a:rPr>
              <a:t>will </a:t>
            </a:r>
            <a:r>
              <a:rPr dirty="0" sz="1200" spc="-5">
                <a:latin typeface="Arial"/>
                <a:cs typeface="Arial"/>
              </a:rPr>
              <a:t>be the natural feeling. Being a </a:t>
            </a:r>
            <a:r>
              <a:rPr dirty="0" sz="1200">
                <a:latin typeface="Arial"/>
                <a:cs typeface="Arial"/>
              </a:rPr>
              <a:t>sinner </a:t>
            </a:r>
            <a:r>
              <a:rPr dirty="0" sz="1200" spc="-5">
                <a:latin typeface="Arial"/>
                <a:cs typeface="Arial"/>
              </a:rPr>
              <a:t>and at </a:t>
            </a:r>
            <a:r>
              <a:rPr dirty="0" sz="1200" spc="-10">
                <a:latin typeface="Arial"/>
                <a:cs typeface="Arial"/>
              </a:rPr>
              <a:t>the  </a:t>
            </a:r>
            <a:r>
              <a:rPr dirty="0" sz="1200">
                <a:latin typeface="Arial"/>
                <a:cs typeface="Arial"/>
              </a:rPr>
              <a:t>same </a:t>
            </a:r>
            <a:r>
              <a:rPr dirty="0" sz="1200" spc="-5">
                <a:latin typeface="Arial"/>
                <a:cs typeface="Arial"/>
              </a:rPr>
              <a:t>time a worshipper is not compatible. Committing sins and </a:t>
            </a:r>
            <a:r>
              <a:rPr dirty="0" sz="1200">
                <a:latin typeface="Arial"/>
                <a:cs typeface="Arial"/>
              </a:rPr>
              <a:t>at the </a:t>
            </a:r>
            <a:r>
              <a:rPr dirty="0" sz="1200" spc="-5">
                <a:latin typeface="Arial"/>
                <a:cs typeface="Arial"/>
              </a:rPr>
              <a:t>same </a:t>
            </a:r>
            <a:r>
              <a:rPr dirty="0" sz="1200">
                <a:latin typeface="Arial"/>
                <a:cs typeface="Arial"/>
              </a:rPr>
              <a:t>time  </a:t>
            </a:r>
            <a:r>
              <a:rPr dirty="0" sz="1200" spc="-5">
                <a:latin typeface="Arial"/>
                <a:cs typeface="Arial"/>
              </a:rPr>
              <a:t>remembering Allah is not</a:t>
            </a:r>
            <a:r>
              <a:rPr dirty="0" sz="1200" spc="5">
                <a:latin typeface="Arial"/>
                <a:cs typeface="Arial"/>
              </a:rPr>
              <a:t> </a:t>
            </a:r>
            <a:r>
              <a:rPr dirty="0" sz="1200" spc="-5">
                <a:latin typeface="Arial"/>
                <a:cs typeface="Arial"/>
              </a:rPr>
              <a:t>compatible.</a:t>
            </a:r>
            <a:endParaRPr sz="1200">
              <a:latin typeface="Arial"/>
              <a:cs typeface="Arial"/>
            </a:endParaRPr>
          </a:p>
          <a:p>
            <a:pPr algn="just" marL="469900" marR="8890" indent="-229235">
              <a:lnSpc>
                <a:spcPts val="1380"/>
              </a:lnSpc>
              <a:buAutoNum type="arabicPeriod"/>
              <a:tabLst>
                <a:tab pos="470534" algn="l"/>
              </a:tabLst>
            </a:pPr>
            <a:r>
              <a:rPr dirty="0" sz="1200">
                <a:latin typeface="Arial"/>
                <a:cs typeface="Arial"/>
              </a:rPr>
              <a:t>Fourthly there </a:t>
            </a:r>
            <a:r>
              <a:rPr dirty="0" sz="1200" spc="-5">
                <a:latin typeface="Arial"/>
                <a:cs typeface="Arial"/>
              </a:rPr>
              <a:t>are injunctions through </a:t>
            </a:r>
            <a:r>
              <a:rPr dirty="0" sz="1200">
                <a:latin typeface="Arial"/>
                <a:cs typeface="Arial"/>
              </a:rPr>
              <a:t>death </a:t>
            </a:r>
            <a:r>
              <a:rPr dirty="0" sz="1200" spc="-5">
                <a:latin typeface="Arial"/>
                <a:cs typeface="Arial"/>
              </a:rPr>
              <a:t>and life after death. Laws pertaining to  what will happen </a:t>
            </a:r>
            <a:r>
              <a:rPr dirty="0" sz="1200">
                <a:latin typeface="Arial"/>
                <a:cs typeface="Arial"/>
              </a:rPr>
              <a:t>at </a:t>
            </a:r>
            <a:r>
              <a:rPr dirty="0" sz="1200" spc="-5">
                <a:latin typeface="Arial"/>
                <a:cs typeface="Arial"/>
              </a:rPr>
              <a:t>one‘s death </a:t>
            </a:r>
            <a:r>
              <a:rPr dirty="0" sz="1200">
                <a:latin typeface="Arial"/>
                <a:cs typeface="Arial"/>
              </a:rPr>
              <a:t>or </a:t>
            </a:r>
            <a:r>
              <a:rPr dirty="0" sz="1200" spc="-5">
                <a:latin typeface="Arial"/>
                <a:cs typeface="Arial"/>
              </a:rPr>
              <a:t>life after death is mentioned through the Qur‘an.  There are many verses dealing with </a:t>
            </a:r>
            <a:r>
              <a:rPr dirty="0" sz="1200">
                <a:latin typeface="Arial"/>
                <a:cs typeface="Arial"/>
              </a:rPr>
              <a:t>the </a:t>
            </a:r>
            <a:r>
              <a:rPr dirty="0" sz="1200" spc="-5">
                <a:latin typeface="Arial"/>
                <a:cs typeface="Arial"/>
              </a:rPr>
              <a:t>peaceful atmosphere and </a:t>
            </a:r>
            <a:r>
              <a:rPr dirty="0" sz="1200">
                <a:latin typeface="Arial"/>
                <a:cs typeface="Arial"/>
              </a:rPr>
              <a:t>the </a:t>
            </a:r>
            <a:r>
              <a:rPr dirty="0" sz="1200" spc="-5">
                <a:latin typeface="Arial"/>
                <a:cs typeface="Arial"/>
              </a:rPr>
              <a:t>punishment at  </a:t>
            </a:r>
            <a:r>
              <a:rPr dirty="0" sz="1200">
                <a:latin typeface="Arial"/>
                <a:cs typeface="Arial"/>
              </a:rPr>
              <a:t>that</a:t>
            </a:r>
            <a:r>
              <a:rPr dirty="0" sz="1200" spc="-15">
                <a:latin typeface="Arial"/>
                <a:cs typeface="Arial"/>
              </a:rPr>
              <a:t> </a:t>
            </a:r>
            <a:r>
              <a:rPr dirty="0" sz="1200" spc="-5">
                <a:latin typeface="Arial"/>
                <a:cs typeface="Arial"/>
              </a:rPr>
              <a:t>moment.</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Hadith</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spcBef>
                <a:spcPts val="5"/>
              </a:spcBef>
            </a:pPr>
            <a:r>
              <a:rPr dirty="0" sz="1200" spc="-5">
                <a:latin typeface="Arial"/>
                <a:cs typeface="Arial"/>
              </a:rPr>
              <a:t>Laws are derived from </a:t>
            </a:r>
            <a:r>
              <a:rPr dirty="0" sz="1200" spc="5">
                <a:latin typeface="Arial"/>
                <a:cs typeface="Arial"/>
              </a:rPr>
              <a:t>the </a:t>
            </a:r>
            <a:r>
              <a:rPr dirty="0" sz="1200" spc="-5">
                <a:latin typeface="Arial"/>
                <a:cs typeface="Arial"/>
              </a:rPr>
              <a:t>hadith of </a:t>
            </a:r>
            <a:r>
              <a:rPr dirty="0" sz="1200">
                <a:latin typeface="Arial"/>
                <a:cs typeface="Arial"/>
              </a:rPr>
              <a:t>the </a:t>
            </a:r>
            <a:r>
              <a:rPr dirty="0" sz="1200" spc="-5">
                <a:latin typeface="Arial"/>
                <a:cs typeface="Arial"/>
              </a:rPr>
              <a:t>prophet through different ways. Firstly, </a:t>
            </a:r>
            <a:r>
              <a:rPr dirty="0" sz="1200">
                <a:latin typeface="Arial"/>
                <a:cs typeface="Arial"/>
              </a:rPr>
              <a:t>the </a:t>
            </a:r>
            <a:r>
              <a:rPr dirty="0" sz="1200" spc="-5">
                <a:latin typeface="Arial"/>
                <a:cs typeface="Arial"/>
              </a:rPr>
              <a:t>scholars  will </a:t>
            </a:r>
            <a:r>
              <a:rPr dirty="0" sz="1200">
                <a:latin typeface="Arial"/>
                <a:cs typeface="Arial"/>
              </a:rPr>
              <a:t>study </a:t>
            </a:r>
            <a:r>
              <a:rPr dirty="0" sz="1200" spc="-5">
                <a:latin typeface="Arial"/>
                <a:cs typeface="Arial"/>
              </a:rPr>
              <a:t>and examine all hadith Qudsiy </a:t>
            </a:r>
            <a:r>
              <a:rPr dirty="0" sz="1200">
                <a:latin typeface="Arial"/>
                <a:cs typeface="Arial"/>
              </a:rPr>
              <a:t>– </a:t>
            </a:r>
            <a:r>
              <a:rPr dirty="0" sz="1200" spc="-5">
                <a:latin typeface="Arial"/>
                <a:cs typeface="Arial"/>
              </a:rPr>
              <a:t>hadith narrated by </a:t>
            </a:r>
            <a:r>
              <a:rPr dirty="0" sz="1200">
                <a:latin typeface="Arial"/>
                <a:cs typeface="Arial"/>
              </a:rPr>
              <a:t>the </a:t>
            </a:r>
            <a:r>
              <a:rPr dirty="0" sz="1200" spc="-5">
                <a:latin typeface="Arial"/>
                <a:cs typeface="Arial"/>
              </a:rPr>
              <a:t>prophet from the words and  message of Allah. Then </a:t>
            </a:r>
            <a:r>
              <a:rPr dirty="0" sz="1200">
                <a:latin typeface="Arial"/>
                <a:cs typeface="Arial"/>
              </a:rPr>
              <a:t>there </a:t>
            </a:r>
            <a:r>
              <a:rPr dirty="0" sz="1200" spc="-10">
                <a:latin typeface="Arial"/>
                <a:cs typeface="Arial"/>
              </a:rPr>
              <a:t>will </a:t>
            </a:r>
            <a:r>
              <a:rPr dirty="0" sz="1200">
                <a:latin typeface="Arial"/>
                <a:cs typeface="Arial"/>
              </a:rPr>
              <a:t>be the </a:t>
            </a:r>
            <a:r>
              <a:rPr dirty="0" sz="1200" spc="-5">
                <a:latin typeface="Arial"/>
                <a:cs typeface="Arial"/>
              </a:rPr>
              <a:t>analysis </a:t>
            </a:r>
            <a:r>
              <a:rPr dirty="0" sz="1200">
                <a:latin typeface="Arial"/>
                <a:cs typeface="Arial"/>
              </a:rPr>
              <a:t>of all </a:t>
            </a:r>
            <a:r>
              <a:rPr dirty="0" sz="1200" spc="-5">
                <a:latin typeface="Arial"/>
                <a:cs typeface="Arial"/>
              </a:rPr>
              <a:t>hadith Swahih, Hasan and dwa‘if </a:t>
            </a:r>
            <a:r>
              <a:rPr dirty="0" sz="1200" spc="10">
                <a:latin typeface="Arial"/>
                <a:cs typeface="Arial"/>
              </a:rPr>
              <a:t>from  </a:t>
            </a:r>
            <a:r>
              <a:rPr dirty="0" sz="1200">
                <a:latin typeface="Arial"/>
                <a:cs typeface="Arial"/>
              </a:rPr>
              <a:t>the </a:t>
            </a:r>
            <a:r>
              <a:rPr dirty="0" sz="1200" spc="-5">
                <a:latin typeface="Arial"/>
                <a:cs typeface="Arial"/>
              </a:rPr>
              <a:t>prophet, Ashab, Tabi‘in and Tab‘ut Tabi‘in. All the words and sayings </a:t>
            </a:r>
            <a:r>
              <a:rPr dirty="0" sz="1200">
                <a:latin typeface="Arial"/>
                <a:cs typeface="Arial"/>
              </a:rPr>
              <a:t>or </a:t>
            </a:r>
            <a:r>
              <a:rPr dirty="0" sz="1200" spc="-10">
                <a:latin typeface="Arial"/>
                <a:cs typeface="Arial"/>
              </a:rPr>
              <a:t>laws </a:t>
            </a:r>
            <a:r>
              <a:rPr dirty="0" sz="1200">
                <a:latin typeface="Arial"/>
                <a:cs typeface="Arial"/>
              </a:rPr>
              <a:t>decided  </a:t>
            </a:r>
            <a:r>
              <a:rPr dirty="0" sz="1200" spc="-5">
                <a:latin typeface="Arial"/>
                <a:cs typeface="Arial"/>
              </a:rPr>
              <a:t>and codified by </a:t>
            </a:r>
            <a:r>
              <a:rPr dirty="0" sz="1200">
                <a:latin typeface="Arial"/>
                <a:cs typeface="Arial"/>
              </a:rPr>
              <a:t>the </a:t>
            </a:r>
            <a:r>
              <a:rPr dirty="0" sz="1200" spc="-5">
                <a:latin typeface="Arial"/>
                <a:cs typeface="Arial"/>
              </a:rPr>
              <a:t>above mentioned groups </a:t>
            </a:r>
            <a:r>
              <a:rPr dirty="0" sz="1200">
                <a:latin typeface="Arial"/>
                <a:cs typeface="Arial"/>
              </a:rPr>
              <a:t>of </a:t>
            </a:r>
            <a:r>
              <a:rPr dirty="0" sz="1200" spc="-5">
                <a:latin typeface="Arial"/>
                <a:cs typeface="Arial"/>
              </a:rPr>
              <a:t>persons must be </a:t>
            </a:r>
            <a:r>
              <a:rPr dirty="0" sz="1200">
                <a:latin typeface="Arial"/>
                <a:cs typeface="Arial"/>
              </a:rPr>
              <a:t>taken </a:t>
            </a:r>
            <a:r>
              <a:rPr dirty="0" sz="1200" spc="-5">
                <a:latin typeface="Arial"/>
                <a:cs typeface="Arial"/>
              </a:rPr>
              <a:t>into consideration.  Not only </a:t>
            </a:r>
            <a:r>
              <a:rPr dirty="0" sz="1200">
                <a:latin typeface="Arial"/>
                <a:cs typeface="Arial"/>
              </a:rPr>
              <a:t>the </a:t>
            </a:r>
            <a:r>
              <a:rPr dirty="0" sz="1200" spc="-5">
                <a:latin typeface="Arial"/>
                <a:cs typeface="Arial"/>
              </a:rPr>
              <a:t>words but </a:t>
            </a:r>
            <a:r>
              <a:rPr dirty="0" sz="1200">
                <a:latin typeface="Arial"/>
                <a:cs typeface="Arial"/>
              </a:rPr>
              <a:t>the </a:t>
            </a:r>
            <a:r>
              <a:rPr dirty="0" sz="1200" spc="-5">
                <a:latin typeface="Arial"/>
                <a:cs typeface="Arial"/>
              </a:rPr>
              <a:t>deeds and actions of all of them are also </a:t>
            </a:r>
            <a:r>
              <a:rPr dirty="0" sz="1200">
                <a:latin typeface="Arial"/>
                <a:cs typeface="Arial"/>
              </a:rPr>
              <a:t>considered </a:t>
            </a:r>
            <a:r>
              <a:rPr dirty="0" sz="1200" spc="-5">
                <a:latin typeface="Arial"/>
                <a:cs typeface="Arial"/>
              </a:rPr>
              <a:t>as Sunnah.  Their silent approval is regarded as law. Thus, rules and regulations pertaining </a:t>
            </a:r>
            <a:r>
              <a:rPr dirty="0" sz="1200">
                <a:latin typeface="Arial"/>
                <a:cs typeface="Arial"/>
              </a:rPr>
              <a:t>to </a:t>
            </a:r>
            <a:r>
              <a:rPr dirty="0" sz="1200" spc="-5">
                <a:latin typeface="Arial"/>
                <a:cs typeface="Arial"/>
              </a:rPr>
              <a:t>the hadith  and Sunnah of </a:t>
            </a:r>
            <a:r>
              <a:rPr dirty="0" sz="1200">
                <a:latin typeface="Arial"/>
                <a:cs typeface="Arial"/>
              </a:rPr>
              <a:t>the </a:t>
            </a:r>
            <a:r>
              <a:rPr dirty="0" sz="1200" spc="-5">
                <a:latin typeface="Arial"/>
                <a:cs typeface="Arial"/>
              </a:rPr>
              <a:t>prophet and the next three generations </a:t>
            </a:r>
            <a:r>
              <a:rPr dirty="0" sz="1200">
                <a:latin typeface="Arial"/>
                <a:cs typeface="Arial"/>
              </a:rPr>
              <a:t>are </a:t>
            </a:r>
            <a:r>
              <a:rPr dirty="0" sz="1200" spc="-5">
                <a:latin typeface="Arial"/>
                <a:cs typeface="Arial"/>
              </a:rPr>
              <a:t>classified </a:t>
            </a:r>
            <a:r>
              <a:rPr dirty="0" sz="1200">
                <a:latin typeface="Arial"/>
                <a:cs typeface="Arial"/>
              </a:rPr>
              <a:t>as </a:t>
            </a:r>
            <a:r>
              <a:rPr dirty="0" sz="1200" spc="-5">
                <a:latin typeface="Arial"/>
                <a:cs typeface="Arial"/>
              </a:rPr>
              <a:t>Shari‘ah. The  hadith and Sunnah </a:t>
            </a:r>
            <a:r>
              <a:rPr dirty="0" sz="1200">
                <a:latin typeface="Arial"/>
                <a:cs typeface="Arial"/>
              </a:rPr>
              <a:t>act as a </a:t>
            </a:r>
            <a:r>
              <a:rPr dirty="0" sz="1200" spc="-5">
                <a:latin typeface="Arial"/>
                <a:cs typeface="Arial"/>
              </a:rPr>
              <a:t>complementary </a:t>
            </a:r>
            <a:r>
              <a:rPr dirty="0" sz="1200">
                <a:latin typeface="Arial"/>
                <a:cs typeface="Arial"/>
              </a:rPr>
              <a:t>body to </a:t>
            </a:r>
            <a:r>
              <a:rPr dirty="0" sz="1200" spc="-5">
                <a:latin typeface="Arial"/>
                <a:cs typeface="Arial"/>
              </a:rPr>
              <a:t>the </a:t>
            </a:r>
            <a:r>
              <a:rPr dirty="0" sz="1200">
                <a:latin typeface="Arial"/>
                <a:cs typeface="Arial"/>
              </a:rPr>
              <a:t>Qur‘an. </a:t>
            </a:r>
            <a:r>
              <a:rPr dirty="0" sz="1200" spc="-5">
                <a:latin typeface="Arial"/>
                <a:cs typeface="Arial"/>
              </a:rPr>
              <a:t>They are </a:t>
            </a:r>
            <a:r>
              <a:rPr dirty="0" sz="1200">
                <a:latin typeface="Arial"/>
                <a:cs typeface="Arial"/>
              </a:rPr>
              <a:t>the </a:t>
            </a:r>
            <a:r>
              <a:rPr dirty="0" sz="1200" spc="-5">
                <a:latin typeface="Arial"/>
                <a:cs typeface="Arial"/>
              </a:rPr>
              <a:t>explanation </a:t>
            </a:r>
            <a:r>
              <a:rPr dirty="0" sz="1200">
                <a:latin typeface="Arial"/>
                <a:cs typeface="Arial"/>
              </a:rPr>
              <a:t>–  tafsir</a:t>
            </a:r>
            <a:r>
              <a:rPr dirty="0" sz="1200" spc="100">
                <a:latin typeface="Arial"/>
                <a:cs typeface="Arial"/>
              </a:rPr>
              <a:t> </a:t>
            </a:r>
            <a:r>
              <a:rPr dirty="0" sz="1200">
                <a:latin typeface="Arial"/>
                <a:cs typeface="Arial"/>
              </a:rPr>
              <a:t>–</a:t>
            </a:r>
            <a:r>
              <a:rPr dirty="0" sz="1200" spc="105">
                <a:latin typeface="Arial"/>
                <a:cs typeface="Arial"/>
              </a:rPr>
              <a:t> </a:t>
            </a:r>
            <a:r>
              <a:rPr dirty="0" sz="1200" spc="-5">
                <a:latin typeface="Arial"/>
                <a:cs typeface="Arial"/>
              </a:rPr>
              <a:t>of</a:t>
            </a:r>
            <a:r>
              <a:rPr dirty="0" sz="1200" spc="114">
                <a:latin typeface="Arial"/>
                <a:cs typeface="Arial"/>
              </a:rPr>
              <a:t> </a:t>
            </a:r>
            <a:r>
              <a:rPr dirty="0" sz="1200" spc="-5">
                <a:latin typeface="Arial"/>
                <a:cs typeface="Arial"/>
              </a:rPr>
              <a:t>the</a:t>
            </a:r>
            <a:r>
              <a:rPr dirty="0" sz="1200" spc="105">
                <a:latin typeface="Arial"/>
                <a:cs typeface="Arial"/>
              </a:rPr>
              <a:t> </a:t>
            </a:r>
            <a:r>
              <a:rPr dirty="0" sz="1200" spc="-5">
                <a:latin typeface="Arial"/>
                <a:cs typeface="Arial"/>
              </a:rPr>
              <a:t>Qur‘an.</a:t>
            </a:r>
            <a:r>
              <a:rPr dirty="0" sz="1200" spc="90">
                <a:latin typeface="Arial"/>
                <a:cs typeface="Arial"/>
              </a:rPr>
              <a:t> </a:t>
            </a:r>
            <a:r>
              <a:rPr dirty="0" sz="1200" spc="-5">
                <a:latin typeface="Arial"/>
                <a:cs typeface="Arial"/>
              </a:rPr>
              <a:t>There</a:t>
            </a:r>
            <a:r>
              <a:rPr dirty="0" sz="1200" spc="100">
                <a:latin typeface="Arial"/>
                <a:cs typeface="Arial"/>
              </a:rPr>
              <a:t> </a:t>
            </a:r>
            <a:r>
              <a:rPr dirty="0" sz="1200">
                <a:latin typeface="Arial"/>
                <a:cs typeface="Arial"/>
              </a:rPr>
              <a:t>are</a:t>
            </a:r>
            <a:r>
              <a:rPr dirty="0" sz="1200" spc="100">
                <a:latin typeface="Arial"/>
                <a:cs typeface="Arial"/>
              </a:rPr>
              <a:t> </a:t>
            </a:r>
            <a:r>
              <a:rPr dirty="0" sz="1200" spc="-5">
                <a:latin typeface="Arial"/>
                <a:cs typeface="Arial"/>
              </a:rPr>
              <a:t>verses</a:t>
            </a:r>
            <a:r>
              <a:rPr dirty="0" sz="1200" spc="100">
                <a:latin typeface="Arial"/>
                <a:cs typeface="Arial"/>
              </a:rPr>
              <a:t> </a:t>
            </a:r>
            <a:r>
              <a:rPr dirty="0" sz="1200" spc="-5">
                <a:latin typeface="Arial"/>
                <a:cs typeface="Arial"/>
              </a:rPr>
              <a:t>of</a:t>
            </a:r>
            <a:r>
              <a:rPr dirty="0" sz="1200" spc="114">
                <a:latin typeface="Arial"/>
                <a:cs typeface="Arial"/>
              </a:rPr>
              <a:t> </a:t>
            </a:r>
            <a:r>
              <a:rPr dirty="0" sz="1200" spc="-5">
                <a:latin typeface="Arial"/>
                <a:cs typeface="Arial"/>
              </a:rPr>
              <a:t>the</a:t>
            </a:r>
            <a:r>
              <a:rPr dirty="0" sz="1200" spc="105">
                <a:latin typeface="Arial"/>
                <a:cs typeface="Arial"/>
              </a:rPr>
              <a:t> </a:t>
            </a:r>
            <a:r>
              <a:rPr dirty="0" sz="1200" spc="-5">
                <a:latin typeface="Arial"/>
                <a:cs typeface="Arial"/>
              </a:rPr>
              <a:t>Qur‘an</a:t>
            </a:r>
            <a:r>
              <a:rPr dirty="0" sz="1200" spc="105">
                <a:latin typeface="Arial"/>
                <a:cs typeface="Arial"/>
              </a:rPr>
              <a:t> </a:t>
            </a:r>
            <a:r>
              <a:rPr dirty="0" sz="1200">
                <a:latin typeface="Arial"/>
                <a:cs typeface="Arial"/>
              </a:rPr>
              <a:t>or</a:t>
            </a:r>
            <a:r>
              <a:rPr dirty="0" sz="1200" spc="95">
                <a:latin typeface="Arial"/>
                <a:cs typeface="Arial"/>
              </a:rPr>
              <a:t> </a:t>
            </a:r>
            <a:r>
              <a:rPr dirty="0" sz="1200" spc="-5">
                <a:latin typeface="Arial"/>
                <a:cs typeface="Arial"/>
              </a:rPr>
              <a:t>the</a:t>
            </a:r>
            <a:r>
              <a:rPr dirty="0" sz="1200" spc="105">
                <a:latin typeface="Arial"/>
                <a:cs typeface="Arial"/>
              </a:rPr>
              <a:t> </a:t>
            </a:r>
            <a:r>
              <a:rPr dirty="0" sz="1200" spc="-5">
                <a:latin typeface="Arial"/>
                <a:cs typeface="Arial"/>
              </a:rPr>
              <a:t>application</a:t>
            </a:r>
            <a:r>
              <a:rPr dirty="0" sz="1200" spc="105">
                <a:latin typeface="Arial"/>
                <a:cs typeface="Arial"/>
              </a:rPr>
              <a:t> </a:t>
            </a:r>
            <a:r>
              <a:rPr dirty="0" sz="1200" spc="-5">
                <a:latin typeface="Arial"/>
                <a:cs typeface="Arial"/>
              </a:rPr>
              <a:t>of</a:t>
            </a:r>
            <a:r>
              <a:rPr dirty="0" sz="1200" spc="114">
                <a:latin typeface="Arial"/>
                <a:cs typeface="Arial"/>
              </a:rPr>
              <a:t> </a:t>
            </a:r>
            <a:r>
              <a:rPr dirty="0" sz="1200" spc="-5">
                <a:latin typeface="Arial"/>
                <a:cs typeface="Arial"/>
              </a:rPr>
              <a:t>certain</a:t>
            </a:r>
            <a:r>
              <a:rPr dirty="0" sz="1200" spc="105">
                <a:latin typeface="Arial"/>
                <a:cs typeface="Arial"/>
              </a:rPr>
              <a:t> </a:t>
            </a:r>
            <a:r>
              <a:rPr dirty="0" sz="1200" spc="-5">
                <a:latin typeface="Arial"/>
                <a:cs typeface="Arial"/>
              </a:rPr>
              <a:t>verses</a:t>
            </a:r>
            <a:r>
              <a:rPr dirty="0" sz="1200" spc="100">
                <a:latin typeface="Arial"/>
                <a:cs typeface="Arial"/>
              </a:rPr>
              <a:t> </a:t>
            </a:r>
            <a:r>
              <a:rPr dirty="0" sz="1200" spc="-5">
                <a:latin typeface="Arial"/>
                <a:cs typeface="Arial"/>
              </a:rPr>
              <a:t>in</a:t>
            </a:r>
            <a:endParaRPr sz="1200">
              <a:latin typeface="Arial"/>
              <a:cs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2535" cy="916178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8255">
              <a:lnSpc>
                <a:spcPts val="1380"/>
              </a:lnSpc>
            </a:pPr>
            <a:r>
              <a:rPr dirty="0" sz="1200" spc="-5">
                <a:latin typeface="Arial"/>
                <a:cs typeface="Arial"/>
              </a:rPr>
              <a:t>common usages which need the authority and explanation of the Sunnah. </a:t>
            </a:r>
            <a:r>
              <a:rPr dirty="0" sz="1200">
                <a:latin typeface="Arial"/>
                <a:cs typeface="Arial"/>
              </a:rPr>
              <a:t>It </a:t>
            </a:r>
            <a:r>
              <a:rPr dirty="0" sz="1200" spc="-5">
                <a:latin typeface="Arial"/>
                <a:cs typeface="Arial"/>
              </a:rPr>
              <a:t>is a </a:t>
            </a:r>
            <a:r>
              <a:rPr dirty="0" sz="1200" spc="-10">
                <a:latin typeface="Arial"/>
                <a:cs typeface="Arial"/>
              </a:rPr>
              <a:t>way </a:t>
            </a:r>
            <a:r>
              <a:rPr dirty="0" sz="1200" spc="-5">
                <a:latin typeface="Arial"/>
                <a:cs typeface="Arial"/>
              </a:rPr>
              <a:t>of  following the footsteps of the</a:t>
            </a:r>
            <a:r>
              <a:rPr dirty="0" sz="1200">
                <a:latin typeface="Arial"/>
                <a:cs typeface="Arial"/>
              </a:rPr>
              <a:t> </a:t>
            </a:r>
            <a:r>
              <a:rPr dirty="0" sz="1200" spc="-5">
                <a:latin typeface="Arial"/>
                <a:cs typeface="Arial"/>
              </a:rPr>
              <a:t>prophet.</a:t>
            </a:r>
            <a:endParaRPr sz="1200">
              <a:latin typeface="Arial"/>
              <a:cs typeface="Arial"/>
            </a:endParaRPr>
          </a:p>
          <a:p>
            <a:pPr>
              <a:lnSpc>
                <a:spcPct val="100000"/>
              </a:lnSpc>
              <a:spcBef>
                <a:spcPts val="20"/>
              </a:spcBef>
            </a:pPr>
            <a:endParaRPr sz="1100">
              <a:latin typeface="Arial"/>
              <a:cs typeface="Arial"/>
            </a:endParaRPr>
          </a:p>
          <a:p>
            <a:pPr marL="12700">
              <a:lnSpc>
                <a:spcPct val="100000"/>
              </a:lnSpc>
              <a:spcBef>
                <a:spcPts val="5"/>
              </a:spcBef>
            </a:pPr>
            <a:r>
              <a:rPr dirty="0" u="heavy" sz="1200" spc="-55" b="1" i="1">
                <a:uFill>
                  <a:solidFill>
                    <a:srgbClr val="000000"/>
                  </a:solidFill>
                </a:uFill>
                <a:latin typeface="Arial"/>
                <a:cs typeface="Arial"/>
              </a:rPr>
              <a:t>Ijma‟</a:t>
            </a:r>
            <a:endParaRPr sz="1200">
              <a:latin typeface="Arial"/>
              <a:cs typeface="Arial"/>
            </a:endParaRPr>
          </a:p>
          <a:p>
            <a:pPr>
              <a:lnSpc>
                <a:spcPct val="100000"/>
              </a:lnSpc>
              <a:spcBef>
                <a:spcPts val="40"/>
              </a:spcBef>
            </a:pPr>
            <a:endParaRPr sz="1100">
              <a:latin typeface="Arial"/>
              <a:cs typeface="Arial"/>
            </a:endParaRPr>
          </a:p>
          <a:p>
            <a:pPr marL="12700">
              <a:lnSpc>
                <a:spcPct val="100000"/>
              </a:lnSpc>
            </a:pPr>
            <a:r>
              <a:rPr dirty="0" sz="1200" spc="-10" i="1">
                <a:latin typeface="Arial"/>
                <a:cs typeface="Arial"/>
              </a:rPr>
              <a:t>Ijma </a:t>
            </a:r>
            <a:r>
              <a:rPr dirty="0" sz="1200" spc="-5">
                <a:latin typeface="Arial"/>
                <a:cs typeface="Arial"/>
              </a:rPr>
              <a:t>is </a:t>
            </a:r>
            <a:r>
              <a:rPr dirty="0" sz="1200">
                <a:latin typeface="Arial"/>
                <a:cs typeface="Arial"/>
              </a:rPr>
              <a:t>the </a:t>
            </a:r>
            <a:r>
              <a:rPr dirty="0" sz="1200" spc="-5">
                <a:latin typeface="Arial"/>
                <a:cs typeface="Arial"/>
              </a:rPr>
              <a:t>verbal noun of the Arabic word </a:t>
            </a:r>
            <a:r>
              <a:rPr dirty="0" sz="1200" spc="-5" i="1">
                <a:latin typeface="Arial"/>
                <a:cs typeface="Arial"/>
              </a:rPr>
              <a:t>Ajma'a </a:t>
            </a:r>
            <a:r>
              <a:rPr dirty="0" sz="1200" spc="-5">
                <a:latin typeface="Arial"/>
                <a:cs typeface="Arial"/>
              </a:rPr>
              <a:t>having 2</a:t>
            </a:r>
            <a:r>
              <a:rPr dirty="0" sz="1200" spc="85">
                <a:latin typeface="Arial"/>
                <a:cs typeface="Arial"/>
              </a:rPr>
              <a:t> </a:t>
            </a:r>
            <a:r>
              <a:rPr dirty="0" sz="1200" spc="-5">
                <a:latin typeface="Arial"/>
                <a:cs typeface="Arial"/>
              </a:rPr>
              <a:t>meanings:</a:t>
            </a:r>
            <a:endParaRPr sz="1200">
              <a:latin typeface="Arial"/>
              <a:cs typeface="Arial"/>
            </a:endParaRPr>
          </a:p>
          <a:p>
            <a:pPr>
              <a:lnSpc>
                <a:spcPct val="100000"/>
              </a:lnSpc>
              <a:spcBef>
                <a:spcPts val="10"/>
              </a:spcBef>
            </a:pPr>
            <a:endParaRPr sz="1150">
              <a:latin typeface="Arial"/>
              <a:cs typeface="Arial"/>
            </a:endParaRPr>
          </a:p>
          <a:p>
            <a:pPr marL="469900" indent="-229235">
              <a:lnSpc>
                <a:spcPts val="1410"/>
              </a:lnSpc>
              <a:buAutoNum type="arabicPeriod"/>
              <a:tabLst>
                <a:tab pos="470534" algn="l"/>
              </a:tabLst>
            </a:pPr>
            <a:r>
              <a:rPr dirty="0" sz="1200">
                <a:latin typeface="Arial"/>
                <a:cs typeface="Arial"/>
              </a:rPr>
              <a:t>to </a:t>
            </a:r>
            <a:r>
              <a:rPr dirty="0" sz="1200" spc="-5">
                <a:latin typeface="Arial"/>
                <a:cs typeface="Arial"/>
              </a:rPr>
              <a:t>determine</a:t>
            </a:r>
            <a:endParaRPr sz="1200">
              <a:latin typeface="Arial"/>
              <a:cs typeface="Arial"/>
            </a:endParaRPr>
          </a:p>
          <a:p>
            <a:pPr marL="469900" indent="-229235">
              <a:lnSpc>
                <a:spcPts val="1410"/>
              </a:lnSpc>
              <a:buAutoNum type="arabicPeriod"/>
              <a:tabLst>
                <a:tab pos="470534" algn="l"/>
              </a:tabLst>
            </a:pPr>
            <a:r>
              <a:rPr dirty="0" sz="1200">
                <a:latin typeface="Arial"/>
                <a:cs typeface="Arial"/>
              </a:rPr>
              <a:t>to </a:t>
            </a:r>
            <a:r>
              <a:rPr dirty="0" sz="1200" spc="-5">
                <a:latin typeface="Arial"/>
                <a:cs typeface="Arial"/>
              </a:rPr>
              <a:t>agree upon</a:t>
            </a:r>
            <a:r>
              <a:rPr dirty="0" sz="1200">
                <a:latin typeface="Arial"/>
                <a:cs typeface="Arial"/>
              </a:rPr>
              <a:t> </a:t>
            </a:r>
            <a:r>
              <a:rPr dirty="0" sz="1200" spc="-5">
                <a:latin typeface="Arial"/>
                <a:cs typeface="Arial"/>
              </a:rPr>
              <a:t>something.</a:t>
            </a:r>
            <a:endParaRPr sz="1200">
              <a:latin typeface="Arial"/>
              <a:cs typeface="Arial"/>
            </a:endParaRPr>
          </a:p>
          <a:p>
            <a:pPr>
              <a:lnSpc>
                <a:spcPct val="100000"/>
              </a:lnSpc>
              <a:spcBef>
                <a:spcPts val="35"/>
              </a:spcBef>
            </a:pPr>
            <a:endParaRPr sz="1200">
              <a:latin typeface="Arial"/>
              <a:cs typeface="Arial"/>
            </a:endParaRPr>
          </a:p>
          <a:p>
            <a:pPr algn="just" marL="12700" marR="12700">
              <a:lnSpc>
                <a:spcPts val="1380"/>
              </a:lnSpc>
            </a:pPr>
            <a:r>
              <a:rPr dirty="0" sz="1200">
                <a:latin typeface="Arial"/>
                <a:cs typeface="Arial"/>
              </a:rPr>
              <a:t>It </a:t>
            </a:r>
            <a:r>
              <a:rPr dirty="0" sz="1200" spc="-5">
                <a:latin typeface="Arial"/>
                <a:cs typeface="Arial"/>
              </a:rPr>
              <a:t>is the general consensus of the </a:t>
            </a:r>
            <a:r>
              <a:rPr dirty="0" sz="1200">
                <a:latin typeface="Arial"/>
                <a:cs typeface="Arial"/>
              </a:rPr>
              <a:t>scholars </a:t>
            </a:r>
            <a:r>
              <a:rPr dirty="0" sz="1200" spc="-5">
                <a:latin typeface="Arial"/>
                <a:cs typeface="Arial"/>
              </a:rPr>
              <a:t>of </a:t>
            </a:r>
            <a:r>
              <a:rPr dirty="0" sz="1200">
                <a:latin typeface="Arial"/>
                <a:cs typeface="Arial"/>
              </a:rPr>
              <a:t>Islam. It </a:t>
            </a:r>
            <a:r>
              <a:rPr dirty="0" sz="1200" spc="-5">
                <a:latin typeface="Arial"/>
                <a:cs typeface="Arial"/>
              </a:rPr>
              <a:t>is the agreed </a:t>
            </a:r>
            <a:r>
              <a:rPr dirty="0" sz="1200">
                <a:latin typeface="Arial"/>
                <a:cs typeface="Arial"/>
              </a:rPr>
              <a:t>opinion </a:t>
            </a:r>
            <a:r>
              <a:rPr dirty="0" sz="1200" spc="-5">
                <a:latin typeface="Arial"/>
                <a:cs typeface="Arial"/>
              </a:rPr>
              <a:t>of the ulama on a  specific verdict. </a:t>
            </a:r>
            <a:r>
              <a:rPr dirty="0" sz="1200">
                <a:latin typeface="Arial"/>
                <a:cs typeface="Arial"/>
              </a:rPr>
              <a:t>There </a:t>
            </a:r>
            <a:r>
              <a:rPr dirty="0" sz="1200" spc="-5">
                <a:latin typeface="Arial"/>
                <a:cs typeface="Arial"/>
              </a:rPr>
              <a:t>are three kinds of </a:t>
            </a:r>
            <a:r>
              <a:rPr dirty="0" sz="1200">
                <a:latin typeface="Arial"/>
                <a:cs typeface="Arial"/>
              </a:rPr>
              <a:t>Ijma‘</a:t>
            </a:r>
            <a:r>
              <a:rPr dirty="0" sz="1200" spc="-20">
                <a:latin typeface="Arial"/>
                <a:cs typeface="Arial"/>
              </a:rPr>
              <a:t> </a:t>
            </a:r>
            <a:r>
              <a:rPr dirty="0" sz="1200" spc="-5">
                <a:latin typeface="Arial"/>
                <a:cs typeface="Arial"/>
              </a:rPr>
              <a:t>namely:</a:t>
            </a:r>
            <a:endParaRPr sz="1200">
              <a:latin typeface="Arial"/>
              <a:cs typeface="Arial"/>
            </a:endParaRPr>
          </a:p>
          <a:p>
            <a:pPr>
              <a:lnSpc>
                <a:spcPct val="100000"/>
              </a:lnSpc>
              <a:spcBef>
                <a:spcPts val="20"/>
              </a:spcBef>
            </a:pPr>
            <a:endParaRPr sz="1100">
              <a:latin typeface="Arial"/>
              <a:cs typeface="Arial"/>
            </a:endParaRPr>
          </a:p>
          <a:p>
            <a:pPr marL="469900" indent="-229235">
              <a:lnSpc>
                <a:spcPts val="1410"/>
              </a:lnSpc>
              <a:buAutoNum type="arabicPeriod"/>
              <a:tabLst>
                <a:tab pos="470534" algn="l"/>
              </a:tabLst>
            </a:pPr>
            <a:r>
              <a:rPr dirty="0" sz="1200">
                <a:latin typeface="Arial"/>
                <a:cs typeface="Arial"/>
              </a:rPr>
              <a:t>Ijma‘ al</a:t>
            </a:r>
            <a:r>
              <a:rPr dirty="0" sz="1200" spc="-25">
                <a:latin typeface="Arial"/>
                <a:cs typeface="Arial"/>
              </a:rPr>
              <a:t> </a:t>
            </a:r>
            <a:r>
              <a:rPr dirty="0" sz="1200" spc="-5">
                <a:latin typeface="Arial"/>
                <a:cs typeface="Arial"/>
              </a:rPr>
              <a:t>Qawl:</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Ijma‘ al</a:t>
            </a:r>
            <a:r>
              <a:rPr dirty="0" sz="1200" spc="-15">
                <a:latin typeface="Arial"/>
                <a:cs typeface="Arial"/>
              </a:rPr>
              <a:t> </a:t>
            </a:r>
            <a:r>
              <a:rPr dirty="0" sz="1200" spc="-5">
                <a:latin typeface="Arial"/>
                <a:cs typeface="Arial"/>
              </a:rPr>
              <a:t>Fi‘l</a:t>
            </a:r>
            <a:endParaRPr sz="1200">
              <a:latin typeface="Arial"/>
              <a:cs typeface="Arial"/>
            </a:endParaRPr>
          </a:p>
          <a:p>
            <a:pPr marL="469900" indent="-229235">
              <a:lnSpc>
                <a:spcPts val="1410"/>
              </a:lnSpc>
              <a:buAutoNum type="arabicPeriod"/>
              <a:tabLst>
                <a:tab pos="470534" algn="l"/>
              </a:tabLst>
            </a:pPr>
            <a:r>
              <a:rPr dirty="0" sz="1200">
                <a:latin typeface="Arial"/>
                <a:cs typeface="Arial"/>
              </a:rPr>
              <a:t>Ijma‘ al</a:t>
            </a:r>
            <a:r>
              <a:rPr dirty="0" sz="1200" spc="-25">
                <a:latin typeface="Arial"/>
                <a:cs typeface="Arial"/>
              </a:rPr>
              <a:t> </a:t>
            </a:r>
            <a:r>
              <a:rPr dirty="0" sz="1200" spc="-5">
                <a:latin typeface="Arial"/>
                <a:cs typeface="Arial"/>
              </a:rPr>
              <a:t>Soukout.</a:t>
            </a:r>
            <a:endParaRPr sz="1200">
              <a:latin typeface="Arial"/>
              <a:cs typeface="Arial"/>
            </a:endParaRPr>
          </a:p>
          <a:p>
            <a:pPr>
              <a:lnSpc>
                <a:spcPct val="100000"/>
              </a:lnSpc>
              <a:spcBef>
                <a:spcPts val="35"/>
              </a:spcBef>
            </a:pPr>
            <a:endParaRPr sz="1200">
              <a:latin typeface="Arial"/>
              <a:cs typeface="Arial"/>
            </a:endParaRPr>
          </a:p>
          <a:p>
            <a:pPr algn="just" marL="12700" marR="6985">
              <a:lnSpc>
                <a:spcPts val="1380"/>
              </a:lnSpc>
            </a:pPr>
            <a:r>
              <a:rPr dirty="0" sz="1200">
                <a:latin typeface="Arial"/>
                <a:cs typeface="Arial"/>
              </a:rPr>
              <a:t>Ijma‘ al </a:t>
            </a:r>
            <a:r>
              <a:rPr dirty="0" sz="1200" spc="-5">
                <a:latin typeface="Arial"/>
                <a:cs typeface="Arial"/>
              </a:rPr>
              <a:t>Qawl is </a:t>
            </a:r>
            <a:r>
              <a:rPr dirty="0" sz="1200">
                <a:latin typeface="Arial"/>
                <a:cs typeface="Arial"/>
              </a:rPr>
              <a:t>the Ijma‘ and </a:t>
            </a:r>
            <a:r>
              <a:rPr dirty="0" sz="1200" spc="-5">
                <a:latin typeface="Arial"/>
                <a:cs typeface="Arial"/>
              </a:rPr>
              <a:t>decision uttered </a:t>
            </a:r>
            <a:r>
              <a:rPr dirty="0" sz="1200">
                <a:latin typeface="Arial"/>
                <a:cs typeface="Arial"/>
              </a:rPr>
              <a:t>by the </a:t>
            </a:r>
            <a:r>
              <a:rPr dirty="0" sz="1200" spc="-5">
                <a:latin typeface="Arial"/>
                <a:cs typeface="Arial"/>
              </a:rPr>
              <a:t>scholars </a:t>
            </a:r>
            <a:r>
              <a:rPr dirty="0" sz="1200">
                <a:latin typeface="Arial"/>
                <a:cs typeface="Arial"/>
              </a:rPr>
              <a:t>– </a:t>
            </a:r>
            <a:r>
              <a:rPr dirty="0" sz="1200" spc="-5">
                <a:latin typeface="Arial"/>
                <a:cs typeface="Arial"/>
              </a:rPr>
              <a:t>verbally. </a:t>
            </a:r>
            <a:r>
              <a:rPr dirty="0" sz="1200">
                <a:latin typeface="Arial"/>
                <a:cs typeface="Arial"/>
              </a:rPr>
              <a:t>The </a:t>
            </a:r>
            <a:r>
              <a:rPr dirty="0" sz="1200" spc="-5">
                <a:latin typeface="Arial"/>
                <a:cs typeface="Arial"/>
              </a:rPr>
              <a:t>ulama voice out  </a:t>
            </a:r>
            <a:r>
              <a:rPr dirty="0" sz="1200">
                <a:latin typeface="Arial"/>
                <a:cs typeface="Arial"/>
              </a:rPr>
              <a:t>their </a:t>
            </a:r>
            <a:r>
              <a:rPr dirty="0" sz="1200" spc="-5">
                <a:latin typeface="Arial"/>
                <a:cs typeface="Arial"/>
              </a:rPr>
              <a:t>opinions and decisions. If there is unanimity </a:t>
            </a:r>
            <a:r>
              <a:rPr dirty="0" sz="1200">
                <a:latin typeface="Arial"/>
                <a:cs typeface="Arial"/>
              </a:rPr>
              <a:t>among </a:t>
            </a:r>
            <a:r>
              <a:rPr dirty="0" sz="1200" spc="-5">
                <a:latin typeface="Arial"/>
                <a:cs typeface="Arial"/>
              </a:rPr>
              <a:t>the scholars, </a:t>
            </a:r>
            <a:r>
              <a:rPr dirty="0" sz="1200">
                <a:latin typeface="Arial"/>
                <a:cs typeface="Arial"/>
              </a:rPr>
              <a:t>then </a:t>
            </a:r>
            <a:r>
              <a:rPr dirty="0" sz="1200" spc="-5">
                <a:latin typeface="Arial"/>
                <a:cs typeface="Arial"/>
              </a:rPr>
              <a:t>it is called </a:t>
            </a:r>
            <a:r>
              <a:rPr dirty="0" sz="1200">
                <a:latin typeface="Arial"/>
                <a:cs typeface="Arial"/>
              </a:rPr>
              <a:t>al </a:t>
            </a:r>
            <a:r>
              <a:rPr dirty="0" sz="1200" spc="-5">
                <a:latin typeface="Arial"/>
                <a:cs typeface="Arial"/>
              </a:rPr>
              <a:t>Ijma‘  </a:t>
            </a:r>
            <a:r>
              <a:rPr dirty="0" sz="1200">
                <a:latin typeface="Arial"/>
                <a:cs typeface="Arial"/>
              </a:rPr>
              <a:t>al </a:t>
            </a:r>
            <a:r>
              <a:rPr dirty="0" sz="1200" spc="-5">
                <a:latin typeface="Arial"/>
                <a:cs typeface="Arial"/>
              </a:rPr>
              <a:t>Qawl </a:t>
            </a:r>
            <a:r>
              <a:rPr dirty="0" sz="1200">
                <a:latin typeface="Arial"/>
                <a:cs typeface="Arial"/>
              </a:rPr>
              <a:t>al </a:t>
            </a:r>
            <a:r>
              <a:rPr dirty="0" sz="1200" spc="-5">
                <a:latin typeface="Arial"/>
                <a:cs typeface="Arial"/>
              </a:rPr>
              <a:t>Azimah where </a:t>
            </a:r>
            <a:r>
              <a:rPr dirty="0" sz="1200" spc="-65">
                <a:latin typeface="Arial"/>
                <a:cs typeface="Arial"/>
              </a:rPr>
              <a:t>‗azimah </a:t>
            </a:r>
            <a:r>
              <a:rPr dirty="0" sz="1200" spc="-5">
                <a:latin typeface="Arial"/>
                <a:cs typeface="Arial"/>
              </a:rPr>
              <a:t>means </a:t>
            </a:r>
            <a:r>
              <a:rPr dirty="0" sz="1200" spc="-10">
                <a:latin typeface="Arial"/>
                <a:cs typeface="Arial"/>
              </a:rPr>
              <a:t>regular. </a:t>
            </a:r>
            <a:r>
              <a:rPr dirty="0" sz="1200" spc="-5">
                <a:latin typeface="Arial"/>
                <a:cs typeface="Arial"/>
              </a:rPr>
              <a:t>Thus it is </a:t>
            </a:r>
            <a:r>
              <a:rPr dirty="0" sz="1200">
                <a:latin typeface="Arial"/>
                <a:cs typeface="Arial"/>
              </a:rPr>
              <a:t>a </a:t>
            </a:r>
            <a:r>
              <a:rPr dirty="0" sz="1200" spc="-5">
                <a:latin typeface="Arial"/>
                <a:cs typeface="Arial"/>
              </a:rPr>
              <a:t>consensus through </a:t>
            </a:r>
            <a:r>
              <a:rPr dirty="0" sz="1200">
                <a:latin typeface="Arial"/>
                <a:cs typeface="Arial"/>
              </a:rPr>
              <a:t>a </a:t>
            </a:r>
            <a:r>
              <a:rPr dirty="0" sz="1200" spc="-5">
                <a:latin typeface="Arial"/>
                <a:cs typeface="Arial"/>
              </a:rPr>
              <a:t>regular  saying. </a:t>
            </a:r>
            <a:r>
              <a:rPr dirty="0" sz="1200">
                <a:latin typeface="Arial"/>
                <a:cs typeface="Arial"/>
              </a:rPr>
              <a:t>If </a:t>
            </a:r>
            <a:r>
              <a:rPr dirty="0" sz="1200" spc="-5">
                <a:latin typeface="Arial"/>
                <a:cs typeface="Arial"/>
              </a:rPr>
              <a:t>there </a:t>
            </a:r>
            <a:r>
              <a:rPr dirty="0" sz="1200">
                <a:latin typeface="Arial"/>
                <a:cs typeface="Arial"/>
              </a:rPr>
              <a:t>are </a:t>
            </a:r>
            <a:r>
              <a:rPr dirty="0" sz="1200" spc="-5">
                <a:latin typeface="Arial"/>
                <a:cs typeface="Arial"/>
              </a:rPr>
              <a:t>differences of opinions, then it </a:t>
            </a:r>
            <a:r>
              <a:rPr dirty="0" sz="1200" spc="-10">
                <a:latin typeface="Arial"/>
                <a:cs typeface="Arial"/>
              </a:rPr>
              <a:t>will </a:t>
            </a:r>
            <a:r>
              <a:rPr dirty="0" sz="1200">
                <a:latin typeface="Arial"/>
                <a:cs typeface="Arial"/>
              </a:rPr>
              <a:t>be al </a:t>
            </a:r>
            <a:r>
              <a:rPr dirty="0" sz="1200" spc="-5">
                <a:latin typeface="Arial"/>
                <a:cs typeface="Arial"/>
              </a:rPr>
              <a:t>ijma‘ </a:t>
            </a:r>
            <a:r>
              <a:rPr dirty="0" sz="1200">
                <a:latin typeface="Arial"/>
                <a:cs typeface="Arial"/>
              </a:rPr>
              <a:t>al </a:t>
            </a:r>
            <a:r>
              <a:rPr dirty="0" sz="1200" spc="-10">
                <a:latin typeface="Arial"/>
                <a:cs typeface="Arial"/>
              </a:rPr>
              <a:t>qawl </a:t>
            </a:r>
            <a:r>
              <a:rPr dirty="0" sz="1200">
                <a:latin typeface="Arial"/>
                <a:cs typeface="Arial"/>
              </a:rPr>
              <a:t>al rukhsah </a:t>
            </a:r>
            <a:r>
              <a:rPr dirty="0" sz="1200" spc="-10">
                <a:latin typeface="Arial"/>
                <a:cs typeface="Arial"/>
              </a:rPr>
              <a:t>where  </a:t>
            </a:r>
            <a:r>
              <a:rPr dirty="0" sz="1200" spc="-5">
                <a:latin typeface="Arial"/>
                <a:cs typeface="Arial"/>
              </a:rPr>
              <a:t>rukhsah means irregular. </a:t>
            </a:r>
            <a:r>
              <a:rPr dirty="0" sz="1200">
                <a:latin typeface="Arial"/>
                <a:cs typeface="Arial"/>
              </a:rPr>
              <a:t>Thus it </a:t>
            </a:r>
            <a:r>
              <a:rPr dirty="0" sz="1200" spc="-5">
                <a:latin typeface="Arial"/>
                <a:cs typeface="Arial"/>
              </a:rPr>
              <a:t>is a consensus through </a:t>
            </a:r>
            <a:r>
              <a:rPr dirty="0" sz="1200" spc="-10">
                <a:latin typeface="Arial"/>
                <a:cs typeface="Arial"/>
              </a:rPr>
              <a:t>an </a:t>
            </a:r>
            <a:r>
              <a:rPr dirty="0" sz="1200" spc="-5">
                <a:latin typeface="Arial"/>
                <a:cs typeface="Arial"/>
              </a:rPr>
              <a:t>irregular </a:t>
            </a:r>
            <a:r>
              <a:rPr dirty="0" sz="1200">
                <a:latin typeface="Arial"/>
                <a:cs typeface="Arial"/>
              </a:rPr>
              <a:t>saying. It </a:t>
            </a:r>
            <a:r>
              <a:rPr dirty="0" sz="1200" spc="-5">
                <a:latin typeface="Arial"/>
                <a:cs typeface="Arial"/>
              </a:rPr>
              <a:t>can </a:t>
            </a:r>
            <a:r>
              <a:rPr dirty="0" sz="1200" spc="-10">
                <a:latin typeface="Arial"/>
                <a:cs typeface="Arial"/>
              </a:rPr>
              <a:t>be </a:t>
            </a:r>
            <a:r>
              <a:rPr dirty="0" sz="1200" spc="-5">
                <a:latin typeface="Arial"/>
                <a:cs typeface="Arial"/>
              </a:rPr>
              <a:t>also  an ijma through regular or irregular deeds </a:t>
            </a:r>
            <a:r>
              <a:rPr dirty="0" sz="1200">
                <a:latin typeface="Arial"/>
                <a:cs typeface="Arial"/>
              </a:rPr>
              <a:t>– al </a:t>
            </a:r>
            <a:r>
              <a:rPr dirty="0" sz="1200" spc="-5">
                <a:latin typeface="Arial"/>
                <a:cs typeface="Arial"/>
              </a:rPr>
              <a:t>ijma‘ </a:t>
            </a:r>
            <a:r>
              <a:rPr dirty="0" sz="1200">
                <a:latin typeface="Arial"/>
                <a:cs typeface="Arial"/>
              </a:rPr>
              <a:t>al fi‘l al </a:t>
            </a:r>
            <a:r>
              <a:rPr dirty="0" sz="1200" spc="-60">
                <a:latin typeface="Arial"/>
                <a:cs typeface="Arial"/>
              </a:rPr>
              <a:t>‗azimah </a:t>
            </a:r>
            <a:r>
              <a:rPr dirty="0" sz="1200">
                <a:latin typeface="Arial"/>
                <a:cs typeface="Arial"/>
              </a:rPr>
              <a:t>or al </a:t>
            </a:r>
            <a:r>
              <a:rPr dirty="0" sz="1200" spc="-5">
                <a:latin typeface="Arial"/>
                <a:cs typeface="Arial"/>
              </a:rPr>
              <a:t>ijma‘ </a:t>
            </a:r>
            <a:r>
              <a:rPr dirty="0" sz="1200">
                <a:latin typeface="Arial"/>
                <a:cs typeface="Arial"/>
              </a:rPr>
              <a:t>al fi‘l al  rukhsah. The same </a:t>
            </a:r>
            <a:r>
              <a:rPr dirty="0" sz="1200" spc="-5">
                <a:latin typeface="Arial"/>
                <a:cs typeface="Arial"/>
              </a:rPr>
              <a:t>is applied </a:t>
            </a:r>
            <a:r>
              <a:rPr dirty="0" sz="1200">
                <a:latin typeface="Arial"/>
                <a:cs typeface="Arial"/>
              </a:rPr>
              <a:t>to al </a:t>
            </a:r>
            <a:r>
              <a:rPr dirty="0" sz="1200" spc="-5">
                <a:latin typeface="Arial"/>
                <a:cs typeface="Arial"/>
              </a:rPr>
              <a:t>ijma‘ </a:t>
            </a:r>
            <a:r>
              <a:rPr dirty="0" sz="1200">
                <a:latin typeface="Arial"/>
                <a:cs typeface="Arial"/>
              </a:rPr>
              <a:t>al</a:t>
            </a:r>
            <a:r>
              <a:rPr dirty="0" sz="1200" spc="-65">
                <a:latin typeface="Arial"/>
                <a:cs typeface="Arial"/>
              </a:rPr>
              <a:t> </a:t>
            </a:r>
            <a:r>
              <a:rPr dirty="0" sz="1200" spc="-5">
                <a:latin typeface="Arial"/>
                <a:cs typeface="Arial"/>
              </a:rPr>
              <a:t>soukout.</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Qiyas</a:t>
            </a:r>
            <a:endParaRPr sz="1200">
              <a:latin typeface="Arial"/>
              <a:cs typeface="Arial"/>
            </a:endParaRPr>
          </a:p>
          <a:p>
            <a:pPr>
              <a:lnSpc>
                <a:spcPct val="100000"/>
              </a:lnSpc>
              <a:spcBef>
                <a:spcPts val="40"/>
              </a:spcBef>
            </a:pPr>
            <a:endParaRPr sz="1200">
              <a:latin typeface="Arial"/>
              <a:cs typeface="Arial"/>
            </a:endParaRPr>
          </a:p>
          <a:p>
            <a:pPr algn="just" marL="12700" marR="6985">
              <a:lnSpc>
                <a:spcPts val="1380"/>
              </a:lnSpc>
            </a:pPr>
            <a:r>
              <a:rPr dirty="0" sz="1200">
                <a:latin typeface="Arial"/>
                <a:cs typeface="Arial"/>
              </a:rPr>
              <a:t>It </a:t>
            </a:r>
            <a:r>
              <a:rPr dirty="0" sz="1200" spc="-5">
                <a:latin typeface="Arial"/>
                <a:cs typeface="Arial"/>
              </a:rPr>
              <a:t>is </a:t>
            </a:r>
            <a:r>
              <a:rPr dirty="0" sz="1200">
                <a:latin typeface="Arial"/>
                <a:cs typeface="Arial"/>
              </a:rPr>
              <a:t>the </a:t>
            </a:r>
            <a:r>
              <a:rPr dirty="0" sz="1200" spc="-5">
                <a:latin typeface="Arial"/>
                <a:cs typeface="Arial"/>
              </a:rPr>
              <a:t>analogy or </a:t>
            </a:r>
            <a:r>
              <a:rPr dirty="0" sz="1200">
                <a:latin typeface="Arial"/>
                <a:cs typeface="Arial"/>
              </a:rPr>
              <a:t>the </a:t>
            </a:r>
            <a:r>
              <a:rPr dirty="0" sz="1200" spc="-5">
                <a:latin typeface="Arial"/>
                <a:cs typeface="Arial"/>
              </a:rPr>
              <a:t>analogical deduction. Islamically spoken, </a:t>
            </a:r>
            <a:r>
              <a:rPr dirty="0" sz="1200">
                <a:latin typeface="Arial"/>
                <a:cs typeface="Arial"/>
              </a:rPr>
              <a:t>it </a:t>
            </a:r>
            <a:r>
              <a:rPr dirty="0" sz="1200" spc="-5">
                <a:latin typeface="Arial"/>
                <a:cs typeface="Arial"/>
              </a:rPr>
              <a:t>is </a:t>
            </a:r>
            <a:r>
              <a:rPr dirty="0" sz="1200">
                <a:latin typeface="Arial"/>
                <a:cs typeface="Arial"/>
              </a:rPr>
              <a:t>the analogical </a:t>
            </a:r>
            <a:r>
              <a:rPr dirty="0" sz="1200" spc="-5">
                <a:latin typeface="Arial"/>
                <a:cs typeface="Arial"/>
              </a:rPr>
              <a:t>deduction  on a specific domain or problem according </a:t>
            </a:r>
            <a:r>
              <a:rPr dirty="0" sz="1200">
                <a:latin typeface="Arial"/>
                <a:cs typeface="Arial"/>
              </a:rPr>
              <a:t>to the Islamic </a:t>
            </a:r>
            <a:r>
              <a:rPr dirty="0" sz="1200" spc="-10">
                <a:latin typeface="Arial"/>
                <a:cs typeface="Arial"/>
              </a:rPr>
              <a:t>Law. </a:t>
            </a:r>
            <a:r>
              <a:rPr dirty="0" sz="1200">
                <a:latin typeface="Arial"/>
                <a:cs typeface="Arial"/>
              </a:rPr>
              <a:t>It </a:t>
            </a:r>
            <a:r>
              <a:rPr dirty="0" sz="1200" spc="-5">
                <a:latin typeface="Arial"/>
                <a:cs typeface="Arial"/>
              </a:rPr>
              <a:t>is </a:t>
            </a:r>
            <a:r>
              <a:rPr dirty="0" sz="1200">
                <a:latin typeface="Arial"/>
                <a:cs typeface="Arial"/>
              </a:rPr>
              <a:t>the </a:t>
            </a:r>
            <a:r>
              <a:rPr dirty="0" sz="1200" spc="-5">
                <a:latin typeface="Arial"/>
                <a:cs typeface="Arial"/>
              </a:rPr>
              <a:t>deliberation on any  new problem or situation arising in a society resulting on a solution. Qiyas is done by  analysing and scrutinising all cases and events </a:t>
            </a:r>
            <a:r>
              <a:rPr dirty="0" sz="1200">
                <a:latin typeface="Arial"/>
                <a:cs typeface="Arial"/>
              </a:rPr>
              <a:t>resembling </a:t>
            </a:r>
            <a:r>
              <a:rPr dirty="0" sz="1200" spc="-5">
                <a:latin typeface="Arial"/>
                <a:cs typeface="Arial"/>
              </a:rPr>
              <a:t>any new situation as from the  </a:t>
            </a:r>
            <a:r>
              <a:rPr dirty="0" sz="1200">
                <a:latin typeface="Arial"/>
                <a:cs typeface="Arial"/>
              </a:rPr>
              <a:t>time </a:t>
            </a:r>
            <a:r>
              <a:rPr dirty="0" sz="1200" spc="-5">
                <a:latin typeface="Arial"/>
                <a:cs typeface="Arial"/>
              </a:rPr>
              <a:t>of the prophet (s.a.w) till </a:t>
            </a:r>
            <a:r>
              <a:rPr dirty="0" sz="1200">
                <a:latin typeface="Arial"/>
                <a:cs typeface="Arial"/>
              </a:rPr>
              <a:t>the </a:t>
            </a:r>
            <a:r>
              <a:rPr dirty="0" sz="1200" spc="-5">
                <a:latin typeface="Arial"/>
                <a:cs typeface="Arial"/>
              </a:rPr>
              <a:t>present one. </a:t>
            </a:r>
            <a:r>
              <a:rPr dirty="0" sz="1200">
                <a:latin typeface="Arial"/>
                <a:cs typeface="Arial"/>
              </a:rPr>
              <a:t>The </a:t>
            </a:r>
            <a:r>
              <a:rPr dirty="0" sz="1200" spc="-5">
                <a:latin typeface="Arial"/>
                <a:cs typeface="Arial"/>
              </a:rPr>
              <a:t>ulama </a:t>
            </a:r>
            <a:r>
              <a:rPr dirty="0" sz="1200">
                <a:latin typeface="Arial"/>
                <a:cs typeface="Arial"/>
              </a:rPr>
              <a:t>must </a:t>
            </a:r>
            <a:r>
              <a:rPr dirty="0" sz="1200" spc="-5">
                <a:latin typeface="Arial"/>
                <a:cs typeface="Arial"/>
              </a:rPr>
              <a:t>analyse one by one </a:t>
            </a:r>
            <a:r>
              <a:rPr dirty="0" sz="1200">
                <a:latin typeface="Arial"/>
                <a:cs typeface="Arial"/>
              </a:rPr>
              <a:t>for  </a:t>
            </a:r>
            <a:r>
              <a:rPr dirty="0" sz="1200" spc="-5">
                <a:latin typeface="Arial"/>
                <a:cs typeface="Arial"/>
              </a:rPr>
              <a:t>deduction. If ever there </a:t>
            </a:r>
            <a:r>
              <a:rPr dirty="0" sz="1200" spc="-10">
                <a:latin typeface="Arial"/>
                <a:cs typeface="Arial"/>
              </a:rPr>
              <a:t>was </a:t>
            </a:r>
            <a:r>
              <a:rPr dirty="0" sz="1200" spc="-5">
                <a:latin typeface="Arial"/>
                <a:cs typeface="Arial"/>
              </a:rPr>
              <a:t>a similar </a:t>
            </a:r>
            <a:r>
              <a:rPr dirty="0" sz="1200">
                <a:latin typeface="Arial"/>
                <a:cs typeface="Arial"/>
              </a:rPr>
              <a:t>problem, </a:t>
            </a:r>
            <a:r>
              <a:rPr dirty="0" sz="1200" spc="-5">
                <a:latin typeface="Arial"/>
                <a:cs typeface="Arial"/>
              </a:rPr>
              <a:t>then the solution </a:t>
            </a:r>
            <a:r>
              <a:rPr dirty="0" sz="1200" spc="-10">
                <a:latin typeface="Arial"/>
                <a:cs typeface="Arial"/>
              </a:rPr>
              <a:t>will </a:t>
            </a:r>
            <a:r>
              <a:rPr dirty="0" sz="1200" spc="-5">
                <a:latin typeface="Arial"/>
                <a:cs typeface="Arial"/>
              </a:rPr>
              <a:t>be </a:t>
            </a:r>
            <a:r>
              <a:rPr dirty="0" sz="1200">
                <a:latin typeface="Arial"/>
                <a:cs typeface="Arial"/>
              </a:rPr>
              <a:t>of </a:t>
            </a:r>
            <a:r>
              <a:rPr dirty="0" sz="1200" spc="-5">
                <a:latin typeface="Arial"/>
                <a:cs typeface="Arial"/>
              </a:rPr>
              <a:t>similar character.  However, </a:t>
            </a:r>
            <a:r>
              <a:rPr dirty="0" sz="1200">
                <a:latin typeface="Arial"/>
                <a:cs typeface="Arial"/>
              </a:rPr>
              <a:t>if it </a:t>
            </a:r>
            <a:r>
              <a:rPr dirty="0" sz="1200" spc="-5">
                <a:latin typeface="Arial"/>
                <a:cs typeface="Arial"/>
              </a:rPr>
              <a:t>is partly similar, then </a:t>
            </a:r>
            <a:r>
              <a:rPr dirty="0" sz="1200">
                <a:latin typeface="Arial"/>
                <a:cs typeface="Arial"/>
              </a:rPr>
              <a:t>the </a:t>
            </a:r>
            <a:r>
              <a:rPr dirty="0" sz="1200" spc="-5">
                <a:latin typeface="Arial"/>
                <a:cs typeface="Arial"/>
              </a:rPr>
              <a:t>solution </a:t>
            </a:r>
            <a:r>
              <a:rPr dirty="0" sz="1200" spc="-10">
                <a:latin typeface="Arial"/>
                <a:cs typeface="Arial"/>
              </a:rPr>
              <a:t>will </a:t>
            </a:r>
            <a:r>
              <a:rPr dirty="0" sz="1200" spc="-5">
                <a:latin typeface="Arial"/>
                <a:cs typeface="Arial"/>
              </a:rPr>
              <a:t>be </a:t>
            </a:r>
            <a:r>
              <a:rPr dirty="0" sz="1200">
                <a:latin typeface="Arial"/>
                <a:cs typeface="Arial"/>
              </a:rPr>
              <a:t>according to </a:t>
            </a:r>
            <a:r>
              <a:rPr dirty="0" sz="1200" spc="-5">
                <a:latin typeface="Arial"/>
                <a:cs typeface="Arial"/>
              </a:rPr>
              <a:t>the degree of</a:t>
            </a:r>
            <a:r>
              <a:rPr dirty="0" sz="1200" spc="95">
                <a:latin typeface="Arial"/>
                <a:cs typeface="Arial"/>
              </a:rPr>
              <a:t> </a:t>
            </a:r>
            <a:r>
              <a:rPr dirty="0" sz="1200" spc="-5">
                <a:latin typeface="Arial"/>
                <a:cs typeface="Arial"/>
              </a:rPr>
              <a:t>severity.</a:t>
            </a:r>
            <a:endParaRPr sz="1200">
              <a:latin typeface="Arial"/>
              <a:cs typeface="Arial"/>
            </a:endParaRPr>
          </a:p>
          <a:p>
            <a:pPr>
              <a:lnSpc>
                <a:spcPct val="100000"/>
              </a:lnSpc>
              <a:spcBef>
                <a:spcPts val="5"/>
              </a:spcBef>
            </a:pPr>
            <a:endParaRPr sz="1150">
              <a:latin typeface="Arial"/>
              <a:cs typeface="Arial"/>
            </a:endParaRPr>
          </a:p>
          <a:p>
            <a:pPr algn="just" marL="12700" marR="13335">
              <a:lnSpc>
                <a:spcPct val="95900"/>
              </a:lnSpc>
              <a:spcBef>
                <a:spcPts val="5"/>
              </a:spcBef>
            </a:pPr>
            <a:r>
              <a:rPr dirty="0" sz="1200" spc="-5">
                <a:latin typeface="Arial"/>
                <a:cs typeface="Arial"/>
              </a:rPr>
              <a:t>There are </a:t>
            </a:r>
            <a:r>
              <a:rPr dirty="0" sz="1200" spc="-10">
                <a:latin typeface="Arial"/>
                <a:cs typeface="Arial"/>
              </a:rPr>
              <a:t>two </a:t>
            </a:r>
            <a:r>
              <a:rPr dirty="0" sz="1200">
                <a:latin typeface="Arial"/>
                <a:cs typeface="Arial"/>
              </a:rPr>
              <a:t>kinds </a:t>
            </a:r>
            <a:r>
              <a:rPr dirty="0" sz="1200" spc="-5">
                <a:latin typeface="Arial"/>
                <a:cs typeface="Arial"/>
              </a:rPr>
              <a:t>of Qiyas, one al Qiyas al Jaliyy and secondly al Qiyas al Khafiyy. </a:t>
            </a:r>
            <a:r>
              <a:rPr dirty="0" sz="1200">
                <a:latin typeface="Arial"/>
                <a:cs typeface="Arial"/>
              </a:rPr>
              <a:t>The  first </a:t>
            </a:r>
            <a:r>
              <a:rPr dirty="0" sz="1200" spc="-5">
                <a:latin typeface="Arial"/>
                <a:cs typeface="Arial"/>
              </a:rPr>
              <a:t>type is where there is no need </a:t>
            </a:r>
            <a:r>
              <a:rPr dirty="0" sz="1200">
                <a:latin typeface="Arial"/>
                <a:cs typeface="Arial"/>
              </a:rPr>
              <a:t>for </a:t>
            </a:r>
            <a:r>
              <a:rPr dirty="0" sz="1200" spc="-5">
                <a:latin typeface="Arial"/>
                <a:cs typeface="Arial"/>
              </a:rPr>
              <a:t>explanation. It is </a:t>
            </a:r>
            <a:r>
              <a:rPr dirty="0" sz="1200">
                <a:latin typeface="Arial"/>
                <a:cs typeface="Arial"/>
              </a:rPr>
              <a:t>clear. </a:t>
            </a:r>
            <a:r>
              <a:rPr dirty="0" sz="1200" spc="-5">
                <a:latin typeface="Arial"/>
                <a:cs typeface="Arial"/>
              </a:rPr>
              <a:t>The second one needs  explanation from the Ulama. </a:t>
            </a:r>
            <a:r>
              <a:rPr dirty="0" sz="1200">
                <a:latin typeface="Arial"/>
                <a:cs typeface="Arial"/>
              </a:rPr>
              <a:t>The </a:t>
            </a:r>
            <a:r>
              <a:rPr dirty="0" sz="1200" spc="-5">
                <a:latin typeface="Arial"/>
                <a:cs typeface="Arial"/>
              </a:rPr>
              <a:t>latter </a:t>
            </a:r>
            <a:r>
              <a:rPr dirty="0" sz="1200" spc="-10">
                <a:latin typeface="Arial"/>
                <a:cs typeface="Arial"/>
              </a:rPr>
              <a:t>will </a:t>
            </a:r>
            <a:r>
              <a:rPr dirty="0" sz="1200" spc="-5">
                <a:latin typeface="Arial"/>
                <a:cs typeface="Arial"/>
              </a:rPr>
              <a:t>be gathered through a Majlis Shurah consisting of  11 members including </a:t>
            </a:r>
            <a:r>
              <a:rPr dirty="0" sz="1200">
                <a:latin typeface="Arial"/>
                <a:cs typeface="Arial"/>
              </a:rPr>
              <a:t>the </a:t>
            </a:r>
            <a:r>
              <a:rPr dirty="0" sz="1200" spc="-5">
                <a:latin typeface="Arial"/>
                <a:cs typeface="Arial"/>
              </a:rPr>
              <a:t>president and </a:t>
            </a:r>
            <a:r>
              <a:rPr dirty="0" sz="1200">
                <a:latin typeface="Arial"/>
                <a:cs typeface="Arial"/>
              </a:rPr>
              <a:t>they </a:t>
            </a:r>
            <a:r>
              <a:rPr dirty="0" sz="1200" spc="-5">
                <a:latin typeface="Arial"/>
                <a:cs typeface="Arial"/>
              </a:rPr>
              <a:t>will deliberate on the situation.</a:t>
            </a:r>
            <a:endParaRPr sz="1200">
              <a:latin typeface="Arial"/>
              <a:cs typeface="Arial"/>
            </a:endParaRPr>
          </a:p>
          <a:p>
            <a:pPr>
              <a:lnSpc>
                <a:spcPct val="100000"/>
              </a:lnSpc>
              <a:spcBef>
                <a:spcPts val="50"/>
              </a:spcBef>
            </a:pPr>
            <a:endParaRPr sz="1100">
              <a:latin typeface="Arial"/>
              <a:cs typeface="Arial"/>
            </a:endParaRPr>
          </a:p>
          <a:p>
            <a:pPr marL="12700">
              <a:lnSpc>
                <a:spcPct val="100000"/>
              </a:lnSpc>
              <a:spcBef>
                <a:spcPts val="5"/>
              </a:spcBef>
            </a:pPr>
            <a:r>
              <a:rPr dirty="0" u="heavy" sz="1200" b="1" i="1">
                <a:uFill>
                  <a:solidFill>
                    <a:srgbClr val="000000"/>
                  </a:solidFill>
                </a:uFill>
                <a:latin typeface="Arial"/>
                <a:cs typeface="Arial"/>
              </a:rPr>
              <a:t>Ijtihad</a:t>
            </a:r>
            <a:endParaRPr sz="1200">
              <a:latin typeface="Arial"/>
              <a:cs typeface="Arial"/>
            </a:endParaRPr>
          </a:p>
          <a:p>
            <a:pPr>
              <a:lnSpc>
                <a:spcPct val="100000"/>
              </a:lnSpc>
            </a:pPr>
            <a:endParaRPr sz="1200">
              <a:latin typeface="Arial"/>
              <a:cs typeface="Arial"/>
            </a:endParaRPr>
          </a:p>
          <a:p>
            <a:pPr algn="just" marL="12700" marR="5080">
              <a:lnSpc>
                <a:spcPct val="95700"/>
              </a:lnSpc>
            </a:pPr>
            <a:r>
              <a:rPr dirty="0" sz="1200" spc="-5">
                <a:latin typeface="Arial"/>
                <a:cs typeface="Arial"/>
              </a:rPr>
              <a:t>Literally </a:t>
            </a:r>
            <a:r>
              <a:rPr dirty="0" sz="1200">
                <a:latin typeface="Arial"/>
                <a:cs typeface="Arial"/>
              </a:rPr>
              <a:t>it </a:t>
            </a:r>
            <a:r>
              <a:rPr dirty="0" sz="1200" spc="-5">
                <a:latin typeface="Arial"/>
                <a:cs typeface="Arial"/>
              </a:rPr>
              <a:t>is </a:t>
            </a:r>
            <a:r>
              <a:rPr dirty="0" sz="1200">
                <a:latin typeface="Arial"/>
                <a:cs typeface="Arial"/>
              </a:rPr>
              <a:t>the </a:t>
            </a:r>
            <a:r>
              <a:rPr dirty="0" sz="1200" spc="-5">
                <a:latin typeface="Arial"/>
                <a:cs typeface="Arial"/>
              </a:rPr>
              <a:t>using of the human faculty </a:t>
            </a:r>
            <a:r>
              <a:rPr dirty="0" sz="1200">
                <a:latin typeface="Arial"/>
                <a:cs typeface="Arial"/>
              </a:rPr>
              <a:t>for </a:t>
            </a:r>
            <a:r>
              <a:rPr dirty="0" sz="1200" spc="-5">
                <a:latin typeface="Arial"/>
                <a:cs typeface="Arial"/>
              </a:rPr>
              <a:t>judgement. Islamically speaking, </a:t>
            </a:r>
            <a:r>
              <a:rPr dirty="0" sz="1200">
                <a:latin typeface="Arial"/>
                <a:cs typeface="Arial"/>
              </a:rPr>
              <a:t>it </a:t>
            </a:r>
            <a:r>
              <a:rPr dirty="0" sz="1200" spc="-5">
                <a:latin typeface="Arial"/>
                <a:cs typeface="Arial"/>
              </a:rPr>
              <a:t>is </a:t>
            </a:r>
            <a:r>
              <a:rPr dirty="0" sz="1200" spc="10">
                <a:latin typeface="Arial"/>
                <a:cs typeface="Arial"/>
              </a:rPr>
              <a:t>the </a:t>
            </a:r>
            <a:r>
              <a:rPr dirty="0" sz="1200" spc="-10">
                <a:latin typeface="Arial"/>
                <a:cs typeface="Arial"/>
              </a:rPr>
              <a:t>use  </a:t>
            </a:r>
            <a:r>
              <a:rPr dirty="0" sz="1200" spc="-5">
                <a:latin typeface="Arial"/>
                <a:cs typeface="Arial"/>
              </a:rPr>
              <a:t>of </a:t>
            </a:r>
            <a:r>
              <a:rPr dirty="0" sz="1200">
                <a:latin typeface="Arial"/>
                <a:cs typeface="Arial"/>
              </a:rPr>
              <a:t>the </a:t>
            </a:r>
            <a:r>
              <a:rPr dirty="0" sz="1200" spc="-5">
                <a:latin typeface="Arial"/>
                <a:cs typeface="Arial"/>
              </a:rPr>
              <a:t>intellect based </a:t>
            </a:r>
            <a:r>
              <a:rPr dirty="0" sz="1200">
                <a:latin typeface="Arial"/>
                <a:cs typeface="Arial"/>
              </a:rPr>
              <a:t>on </a:t>
            </a:r>
            <a:r>
              <a:rPr dirty="0" sz="1200" spc="-5">
                <a:latin typeface="Arial"/>
                <a:cs typeface="Arial"/>
              </a:rPr>
              <a:t>the Qur‘an, Hadith, </a:t>
            </a:r>
            <a:r>
              <a:rPr dirty="0" sz="1200">
                <a:latin typeface="Arial"/>
                <a:cs typeface="Arial"/>
              </a:rPr>
              <a:t>Ijma‘ </a:t>
            </a:r>
            <a:r>
              <a:rPr dirty="0" sz="1200" spc="-5">
                <a:latin typeface="Arial"/>
                <a:cs typeface="Arial"/>
              </a:rPr>
              <a:t>and Qiyas </a:t>
            </a:r>
            <a:r>
              <a:rPr dirty="0" sz="1200">
                <a:latin typeface="Arial"/>
                <a:cs typeface="Arial"/>
              </a:rPr>
              <a:t>to </a:t>
            </a:r>
            <a:r>
              <a:rPr dirty="0" sz="1200" spc="-5">
                <a:latin typeface="Arial"/>
                <a:cs typeface="Arial"/>
              </a:rPr>
              <a:t>arrive </a:t>
            </a:r>
            <a:r>
              <a:rPr dirty="0" sz="1200">
                <a:latin typeface="Arial"/>
                <a:cs typeface="Arial"/>
              </a:rPr>
              <a:t>to a </a:t>
            </a:r>
            <a:r>
              <a:rPr dirty="0" sz="1200" spc="-5">
                <a:latin typeface="Arial"/>
                <a:cs typeface="Arial"/>
              </a:rPr>
              <a:t>solution </a:t>
            </a:r>
            <a:r>
              <a:rPr dirty="0" sz="1200">
                <a:latin typeface="Arial"/>
                <a:cs typeface="Arial"/>
              </a:rPr>
              <a:t>to </a:t>
            </a:r>
            <a:r>
              <a:rPr dirty="0" sz="1200" spc="-5">
                <a:latin typeface="Arial"/>
                <a:cs typeface="Arial"/>
              </a:rPr>
              <a:t>any  cropping up problem of the society. </a:t>
            </a:r>
            <a:r>
              <a:rPr dirty="0" sz="1200">
                <a:latin typeface="Arial"/>
                <a:cs typeface="Arial"/>
              </a:rPr>
              <a:t>This </a:t>
            </a:r>
            <a:r>
              <a:rPr dirty="0" sz="1200" spc="-5">
                <a:latin typeface="Arial"/>
                <a:cs typeface="Arial"/>
              </a:rPr>
              <a:t>is also done by </a:t>
            </a:r>
            <a:r>
              <a:rPr dirty="0" sz="1200">
                <a:latin typeface="Arial"/>
                <a:cs typeface="Arial"/>
              </a:rPr>
              <a:t>the </a:t>
            </a:r>
            <a:r>
              <a:rPr dirty="0" sz="1200" spc="-5">
                <a:latin typeface="Arial"/>
                <a:cs typeface="Arial"/>
              </a:rPr>
              <a:t>ulama of </a:t>
            </a:r>
            <a:r>
              <a:rPr dirty="0" sz="1200">
                <a:latin typeface="Arial"/>
                <a:cs typeface="Arial"/>
              </a:rPr>
              <a:t>the </a:t>
            </a:r>
            <a:r>
              <a:rPr dirty="0" sz="1200" spc="-5">
                <a:latin typeface="Arial"/>
                <a:cs typeface="Arial"/>
              </a:rPr>
              <a:t>Majlis Shurah. </a:t>
            </a:r>
            <a:r>
              <a:rPr dirty="0" sz="1200">
                <a:latin typeface="Arial"/>
                <a:cs typeface="Arial"/>
              </a:rPr>
              <a:t>It </a:t>
            </a:r>
            <a:r>
              <a:rPr dirty="0" sz="1200" spc="-5">
                <a:latin typeface="Arial"/>
                <a:cs typeface="Arial"/>
              </a:rPr>
              <a:t>is  </a:t>
            </a:r>
            <a:r>
              <a:rPr dirty="0" sz="1200">
                <a:latin typeface="Arial"/>
                <a:cs typeface="Arial"/>
              </a:rPr>
              <a:t>the </a:t>
            </a:r>
            <a:r>
              <a:rPr dirty="0" sz="1200" spc="-5">
                <a:latin typeface="Arial"/>
                <a:cs typeface="Arial"/>
              </a:rPr>
              <a:t>logically way </a:t>
            </a:r>
            <a:r>
              <a:rPr dirty="0" sz="1200">
                <a:latin typeface="Arial"/>
                <a:cs typeface="Arial"/>
              </a:rPr>
              <a:t>of </a:t>
            </a:r>
            <a:r>
              <a:rPr dirty="0" sz="1200" spc="-5">
                <a:latin typeface="Arial"/>
                <a:cs typeface="Arial"/>
              </a:rPr>
              <a:t>thinking </a:t>
            </a:r>
            <a:r>
              <a:rPr dirty="0" sz="1200">
                <a:latin typeface="Arial"/>
                <a:cs typeface="Arial"/>
              </a:rPr>
              <a:t>taking </a:t>
            </a:r>
            <a:r>
              <a:rPr dirty="0" sz="1200" spc="-5">
                <a:latin typeface="Arial"/>
                <a:cs typeface="Arial"/>
              </a:rPr>
              <a:t>into account the interest of the public </a:t>
            </a:r>
            <a:r>
              <a:rPr dirty="0" sz="1200" spc="-10">
                <a:latin typeface="Arial"/>
                <a:cs typeface="Arial"/>
              </a:rPr>
              <a:t>in </a:t>
            </a:r>
            <a:r>
              <a:rPr dirty="0" sz="1200" spc="-5">
                <a:latin typeface="Arial"/>
                <a:cs typeface="Arial"/>
              </a:rPr>
              <a:t>general not  individually. </a:t>
            </a:r>
            <a:r>
              <a:rPr dirty="0" sz="1200">
                <a:latin typeface="Arial"/>
                <a:cs typeface="Arial"/>
              </a:rPr>
              <a:t>Ibn </a:t>
            </a:r>
            <a:r>
              <a:rPr dirty="0" sz="1200" spc="-5">
                <a:latin typeface="Arial"/>
                <a:cs typeface="Arial"/>
              </a:rPr>
              <a:t>al-'Athir defines </a:t>
            </a:r>
            <a:r>
              <a:rPr dirty="0" sz="1200" spc="-5" i="1">
                <a:latin typeface="Arial"/>
                <a:cs typeface="Arial"/>
              </a:rPr>
              <a:t>`ijtihad' </a:t>
            </a:r>
            <a:r>
              <a:rPr dirty="0" sz="1200" spc="-5">
                <a:latin typeface="Arial"/>
                <a:cs typeface="Arial"/>
              </a:rPr>
              <a:t>as the </a:t>
            </a:r>
            <a:r>
              <a:rPr dirty="0" sz="1200">
                <a:latin typeface="Arial"/>
                <a:cs typeface="Arial"/>
              </a:rPr>
              <a:t>effort </a:t>
            </a:r>
            <a:r>
              <a:rPr dirty="0" sz="1200" spc="-5">
                <a:latin typeface="Arial"/>
                <a:cs typeface="Arial"/>
              </a:rPr>
              <a:t>and endeavour </a:t>
            </a:r>
            <a:r>
              <a:rPr dirty="0" sz="1200">
                <a:latin typeface="Arial"/>
                <a:cs typeface="Arial"/>
              </a:rPr>
              <a:t>undertaken for </a:t>
            </a:r>
            <a:r>
              <a:rPr dirty="0" sz="1200" spc="-5">
                <a:latin typeface="Arial"/>
                <a:cs typeface="Arial"/>
              </a:rPr>
              <a:t>attaining  </a:t>
            </a:r>
            <a:r>
              <a:rPr dirty="0" sz="1200">
                <a:latin typeface="Arial"/>
                <a:cs typeface="Arial"/>
              </a:rPr>
              <a:t>some </a:t>
            </a:r>
            <a:r>
              <a:rPr dirty="0" sz="1200" spc="-5">
                <a:latin typeface="Arial"/>
                <a:cs typeface="Arial"/>
              </a:rPr>
              <a:t>objective. He </a:t>
            </a:r>
            <a:r>
              <a:rPr dirty="0" sz="1200">
                <a:latin typeface="Arial"/>
                <a:cs typeface="Arial"/>
              </a:rPr>
              <a:t>further remarks </a:t>
            </a:r>
            <a:r>
              <a:rPr dirty="0" sz="1200" spc="-5">
                <a:latin typeface="Arial"/>
                <a:cs typeface="Arial"/>
              </a:rPr>
              <a:t>that the word occurs in many ahdith. </a:t>
            </a:r>
            <a:r>
              <a:rPr dirty="0" sz="1200" spc="-5" i="1">
                <a:latin typeface="Arial"/>
                <a:cs typeface="Arial"/>
              </a:rPr>
              <a:t>‘Juhd‘ </a:t>
            </a:r>
            <a:r>
              <a:rPr dirty="0" sz="1200">
                <a:latin typeface="Arial"/>
                <a:cs typeface="Arial"/>
              </a:rPr>
              <a:t>means  </a:t>
            </a:r>
            <a:r>
              <a:rPr dirty="0" sz="1200" spc="-5">
                <a:latin typeface="Arial"/>
                <a:cs typeface="Arial"/>
              </a:rPr>
              <a:t>employing ones complete strength, and </a:t>
            </a:r>
            <a:r>
              <a:rPr dirty="0" sz="1200" spc="-5" i="1">
                <a:latin typeface="Arial"/>
                <a:cs typeface="Arial"/>
              </a:rPr>
              <a:t>`jahd' </a:t>
            </a:r>
            <a:r>
              <a:rPr dirty="0" sz="1200" spc="-5">
                <a:latin typeface="Arial"/>
                <a:cs typeface="Arial"/>
              </a:rPr>
              <a:t>means hardship and difficulty.` Said al-Khuri  says: </a:t>
            </a:r>
            <a:r>
              <a:rPr dirty="0" sz="1200" spc="-5" i="1">
                <a:latin typeface="Arial"/>
                <a:cs typeface="Arial"/>
              </a:rPr>
              <a:t>Ijtihad </a:t>
            </a:r>
            <a:r>
              <a:rPr dirty="0" sz="1200" spc="-5">
                <a:latin typeface="Arial"/>
                <a:cs typeface="Arial"/>
              </a:rPr>
              <a:t>means undertaking effort and endeavour in performing </a:t>
            </a:r>
            <a:r>
              <a:rPr dirty="0" sz="1200">
                <a:latin typeface="Arial"/>
                <a:cs typeface="Arial"/>
              </a:rPr>
              <a:t>some</a:t>
            </a:r>
            <a:r>
              <a:rPr dirty="0" sz="1200" spc="10">
                <a:latin typeface="Arial"/>
                <a:cs typeface="Arial"/>
              </a:rPr>
              <a:t> </a:t>
            </a:r>
            <a:r>
              <a:rPr dirty="0" sz="1200">
                <a:latin typeface="Arial"/>
                <a:cs typeface="Arial"/>
              </a:rPr>
              <a:t>task.</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97</a:t>
            </a:r>
            <a:endParaRPr sz="1200">
              <a:latin typeface="Times New Roman"/>
              <a:cs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308725" cy="8620760"/>
          </a:xfrm>
          <a:prstGeom prst="rect">
            <a:avLst/>
          </a:prstGeom>
        </p:spPr>
        <p:txBody>
          <a:bodyPr wrap="square" lIns="0" tIns="12700" rIns="0" bIns="0" rtlCol="0" vert="horz">
            <a:spAutoFit/>
          </a:bodyPr>
          <a:lstStyle/>
          <a:p>
            <a:pPr marL="12700">
              <a:lnSpc>
                <a:spcPct val="100000"/>
              </a:lnSpc>
              <a:spcBef>
                <a:spcPts val="100"/>
              </a:spcBef>
            </a:pPr>
            <a:r>
              <a:rPr dirty="0" u="heavy" sz="1200" spc="-5" b="1" i="1">
                <a:solidFill>
                  <a:srgbClr val="221F1F"/>
                </a:solidFill>
                <a:uFill>
                  <a:solidFill>
                    <a:srgbClr val="221F1F"/>
                  </a:solidFill>
                </a:uFill>
                <a:latin typeface="Arial"/>
                <a:cs typeface="Arial"/>
              </a:rPr>
              <a:t>Additional Material </a:t>
            </a:r>
            <a:r>
              <a:rPr dirty="0" u="heavy" sz="1200" spc="-10" b="1" i="1">
                <a:solidFill>
                  <a:srgbClr val="221F1F"/>
                </a:solidFill>
                <a:uFill>
                  <a:solidFill>
                    <a:srgbClr val="221F1F"/>
                  </a:solidFill>
                </a:uFill>
                <a:latin typeface="Arial"/>
                <a:cs typeface="Arial"/>
              </a:rPr>
              <a:t>For </a:t>
            </a:r>
            <a:r>
              <a:rPr dirty="0" u="heavy" sz="1200" spc="-5" b="1" i="1">
                <a:solidFill>
                  <a:srgbClr val="221F1F"/>
                </a:solidFill>
                <a:uFill>
                  <a:solidFill>
                    <a:srgbClr val="221F1F"/>
                  </a:solidFill>
                </a:uFill>
                <a:latin typeface="Arial"/>
                <a:cs typeface="Arial"/>
              </a:rPr>
              <a:t>Past Question</a:t>
            </a:r>
            <a:r>
              <a:rPr dirty="0" u="heavy" sz="1200" spc="15" b="1" i="1">
                <a:solidFill>
                  <a:srgbClr val="221F1F"/>
                </a:solidFill>
                <a:uFill>
                  <a:solidFill>
                    <a:srgbClr val="221F1F"/>
                  </a:solidFill>
                </a:uFill>
                <a:latin typeface="Arial"/>
                <a:cs typeface="Arial"/>
              </a:rPr>
              <a:t> </a:t>
            </a:r>
            <a:r>
              <a:rPr dirty="0" u="heavy" sz="1200" spc="-5" b="1" i="1">
                <a:solidFill>
                  <a:srgbClr val="221F1F"/>
                </a:solidFill>
                <a:uFill>
                  <a:solidFill>
                    <a:srgbClr val="221F1F"/>
                  </a:solidFill>
                </a:uFill>
                <a:latin typeface="Arial"/>
                <a:cs typeface="Arial"/>
              </a:rPr>
              <a:t>Papers</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Some examples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(new) present problems or new</a:t>
            </a:r>
            <a:r>
              <a:rPr dirty="0" u="heavy" sz="1200" spc="35" b="1" i="1">
                <a:uFill>
                  <a:solidFill>
                    <a:srgbClr val="000000"/>
                  </a:solidFill>
                </a:uFill>
                <a:latin typeface="Arial"/>
                <a:cs typeface="Arial"/>
              </a:rPr>
              <a:t> </a:t>
            </a:r>
            <a:r>
              <a:rPr dirty="0" u="heavy" sz="1200" b="1" i="1">
                <a:uFill>
                  <a:solidFill>
                    <a:srgbClr val="000000"/>
                  </a:solidFill>
                </a:uFill>
                <a:latin typeface="Arial"/>
                <a:cs typeface="Arial"/>
              </a:rPr>
              <a:t>situations</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Transplantation of organ during </a:t>
            </a:r>
            <a:r>
              <a:rPr dirty="0" sz="1200">
                <a:latin typeface="Arial"/>
                <a:cs typeface="Arial"/>
              </a:rPr>
              <a:t>lifetime </a:t>
            </a:r>
            <a:r>
              <a:rPr dirty="0" sz="1200" spc="-5">
                <a:latin typeface="Arial"/>
                <a:cs typeface="Arial"/>
              </a:rPr>
              <a:t>and/or death of a</a:t>
            </a:r>
            <a:r>
              <a:rPr dirty="0" sz="1200" spc="25">
                <a:latin typeface="Arial"/>
                <a:cs typeface="Arial"/>
              </a:rPr>
              <a:t> </a:t>
            </a:r>
            <a:r>
              <a:rPr dirty="0" sz="1200" spc="-5">
                <a:latin typeface="Arial"/>
                <a:cs typeface="Arial"/>
              </a:rPr>
              <a:t>Muslim</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Giving </a:t>
            </a:r>
            <a:r>
              <a:rPr dirty="0" sz="1200">
                <a:latin typeface="Arial"/>
                <a:cs typeface="Arial"/>
              </a:rPr>
              <a:t>of</a:t>
            </a:r>
            <a:r>
              <a:rPr dirty="0" sz="1200" spc="5">
                <a:latin typeface="Arial"/>
                <a:cs typeface="Arial"/>
              </a:rPr>
              <a:t> </a:t>
            </a:r>
            <a:r>
              <a:rPr dirty="0" sz="1200" spc="-5">
                <a:latin typeface="Arial"/>
                <a:cs typeface="Arial"/>
              </a:rPr>
              <a:t>blood</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Usage of </a:t>
            </a:r>
            <a:r>
              <a:rPr dirty="0" sz="1200">
                <a:latin typeface="Arial"/>
                <a:cs typeface="Arial"/>
              </a:rPr>
              <a:t>false </a:t>
            </a:r>
            <a:r>
              <a:rPr dirty="0" sz="1200" spc="-5">
                <a:latin typeface="Arial"/>
                <a:cs typeface="Arial"/>
              </a:rPr>
              <a:t>(substitute) legs and/or</a:t>
            </a:r>
            <a:r>
              <a:rPr dirty="0" sz="1200" spc="5">
                <a:latin typeface="Arial"/>
                <a:cs typeface="Arial"/>
              </a:rPr>
              <a:t> </a:t>
            </a:r>
            <a:r>
              <a:rPr dirty="0" sz="1200" spc="-5">
                <a:latin typeface="Arial"/>
                <a:cs typeface="Arial"/>
              </a:rPr>
              <a:t>arms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Usage of </a:t>
            </a:r>
            <a:r>
              <a:rPr dirty="0" sz="1200" spc="-40">
                <a:latin typeface="Arial"/>
                <a:cs typeface="Arial"/>
              </a:rPr>
              <a:t>‗pacemaker‘ </a:t>
            </a:r>
            <a:r>
              <a:rPr dirty="0" sz="1200">
                <a:latin typeface="Arial"/>
                <a:cs typeface="Arial"/>
              </a:rPr>
              <a:t>for the</a:t>
            </a:r>
            <a:r>
              <a:rPr dirty="0" sz="1200" spc="25">
                <a:latin typeface="Arial"/>
                <a:cs typeface="Arial"/>
              </a:rPr>
              <a:t> </a:t>
            </a:r>
            <a:r>
              <a:rPr dirty="0" sz="1200" spc="-5">
                <a:latin typeface="Arial"/>
                <a:cs typeface="Arial"/>
              </a:rPr>
              <a:t>heart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InVitro </a:t>
            </a:r>
            <a:r>
              <a:rPr dirty="0" sz="1200">
                <a:latin typeface="Arial"/>
                <a:cs typeface="Arial"/>
              </a:rPr>
              <a:t>for </a:t>
            </a:r>
            <a:r>
              <a:rPr dirty="0" sz="1200" spc="-5">
                <a:latin typeface="Arial"/>
                <a:cs typeface="Arial"/>
              </a:rPr>
              <a:t>those who can‘t have</a:t>
            </a:r>
            <a:r>
              <a:rPr dirty="0" sz="1200">
                <a:latin typeface="Arial"/>
                <a:cs typeface="Arial"/>
              </a:rPr>
              <a:t> </a:t>
            </a:r>
            <a:r>
              <a:rPr dirty="0" sz="1200" spc="-5">
                <a:latin typeface="Arial"/>
                <a:cs typeface="Arial"/>
              </a:rPr>
              <a:t>babies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Usage of </a:t>
            </a:r>
            <a:r>
              <a:rPr dirty="0" sz="1200">
                <a:latin typeface="Arial"/>
                <a:cs typeface="Arial"/>
              </a:rPr>
              <a:t>CD, </a:t>
            </a:r>
            <a:r>
              <a:rPr dirty="0" sz="1200" spc="-5">
                <a:latin typeface="Arial"/>
                <a:cs typeface="Arial"/>
              </a:rPr>
              <a:t>DVD or any modern technology </a:t>
            </a:r>
            <a:r>
              <a:rPr dirty="0" sz="1200">
                <a:latin typeface="Arial"/>
                <a:cs typeface="Arial"/>
              </a:rPr>
              <a:t>to </a:t>
            </a:r>
            <a:r>
              <a:rPr dirty="0" sz="1200" spc="-5">
                <a:latin typeface="Arial"/>
                <a:cs typeface="Arial"/>
              </a:rPr>
              <a:t>listen </a:t>
            </a:r>
            <a:r>
              <a:rPr dirty="0" sz="1200">
                <a:latin typeface="Arial"/>
                <a:cs typeface="Arial"/>
              </a:rPr>
              <a:t>to</a:t>
            </a:r>
            <a:r>
              <a:rPr dirty="0" sz="1200" spc="5">
                <a:latin typeface="Arial"/>
                <a:cs typeface="Arial"/>
              </a:rPr>
              <a:t> </a:t>
            </a:r>
            <a:r>
              <a:rPr dirty="0" sz="1200" spc="-5">
                <a:latin typeface="Arial"/>
                <a:cs typeface="Arial"/>
              </a:rPr>
              <a:t>Qiraat</a:t>
            </a:r>
            <a:endParaRPr sz="1200">
              <a:latin typeface="Arial"/>
              <a:cs typeface="Arial"/>
            </a:endParaRPr>
          </a:p>
          <a:p>
            <a:pPr marL="469900" indent="-229235">
              <a:lnSpc>
                <a:spcPts val="1380"/>
              </a:lnSpc>
              <a:buAutoNum type="arabicPeriod"/>
              <a:tabLst>
                <a:tab pos="470534" algn="l"/>
              </a:tabLst>
            </a:pPr>
            <a:r>
              <a:rPr dirty="0" sz="1200">
                <a:latin typeface="Arial"/>
                <a:cs typeface="Arial"/>
              </a:rPr>
              <a:t>Taking </a:t>
            </a:r>
            <a:r>
              <a:rPr dirty="0" sz="1200" spc="-5">
                <a:latin typeface="Arial"/>
                <a:cs typeface="Arial"/>
              </a:rPr>
              <a:t>of photos </a:t>
            </a:r>
            <a:r>
              <a:rPr dirty="0" sz="1200">
                <a:latin typeface="Arial"/>
                <a:cs typeface="Arial"/>
              </a:rPr>
              <a:t>for </a:t>
            </a:r>
            <a:r>
              <a:rPr dirty="0" sz="1200" spc="-5">
                <a:latin typeface="Arial"/>
                <a:cs typeface="Arial"/>
              </a:rPr>
              <a:t>any</a:t>
            </a:r>
            <a:r>
              <a:rPr dirty="0" sz="1200" spc="-40">
                <a:latin typeface="Arial"/>
                <a:cs typeface="Arial"/>
              </a:rPr>
              <a:t> </a:t>
            </a:r>
            <a:r>
              <a:rPr dirty="0" sz="1200">
                <a:latin typeface="Arial"/>
                <a:cs typeface="Arial"/>
              </a:rPr>
              <a:t>use</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Abortion in cases of rape </a:t>
            </a:r>
            <a:r>
              <a:rPr dirty="0" sz="1200">
                <a:latin typeface="Arial"/>
                <a:cs typeface="Arial"/>
              </a:rPr>
              <a:t>or</a:t>
            </a:r>
            <a:r>
              <a:rPr dirty="0" sz="1200" spc="20">
                <a:latin typeface="Arial"/>
                <a:cs typeface="Arial"/>
              </a:rPr>
              <a:t> </a:t>
            </a:r>
            <a:r>
              <a:rPr dirty="0" sz="1200" spc="-5">
                <a:latin typeface="Arial"/>
                <a:cs typeface="Arial"/>
              </a:rPr>
              <a:t>incest</a:t>
            </a:r>
            <a:endParaRPr sz="1200">
              <a:latin typeface="Arial"/>
              <a:cs typeface="Arial"/>
            </a:endParaRPr>
          </a:p>
          <a:p>
            <a:pPr marL="12700" marR="2443480">
              <a:lnSpc>
                <a:spcPts val="2760"/>
              </a:lnSpc>
              <a:spcBef>
                <a:spcPts val="315"/>
              </a:spcBef>
            </a:pPr>
            <a:r>
              <a:rPr dirty="0" u="heavy" sz="1200" spc="-300">
                <a:solidFill>
                  <a:srgbClr val="221F1F"/>
                </a:solidFill>
                <a:uFill>
                  <a:solidFill>
                    <a:srgbClr val="221F1F"/>
                  </a:solidFill>
                </a:uFill>
                <a:latin typeface="Times New Roman"/>
                <a:cs typeface="Times New Roman"/>
              </a:rPr>
              <a:t> </a:t>
            </a:r>
            <a:r>
              <a:rPr dirty="0" u="heavy" sz="1200" spc="-35" b="1" i="1">
                <a:solidFill>
                  <a:srgbClr val="221F1F"/>
                </a:solidFill>
                <a:uFill>
                  <a:solidFill>
                    <a:srgbClr val="221F1F"/>
                  </a:solidFill>
                </a:uFill>
                <a:latin typeface="Arial"/>
                <a:cs typeface="Arial"/>
              </a:rPr>
              <a:t>„Without </a:t>
            </a:r>
            <a:r>
              <a:rPr dirty="0" u="heavy" sz="1200" b="1" i="1">
                <a:solidFill>
                  <a:srgbClr val="221F1F"/>
                </a:solidFill>
                <a:uFill>
                  <a:solidFill>
                    <a:srgbClr val="221F1F"/>
                  </a:solidFill>
                </a:uFill>
                <a:latin typeface="Arial"/>
                <a:cs typeface="Arial"/>
              </a:rPr>
              <a:t>the Sunnah no one could be a </a:t>
            </a:r>
            <a:r>
              <a:rPr dirty="0" u="heavy" sz="1200" spc="-5" b="1" i="1">
                <a:solidFill>
                  <a:srgbClr val="221F1F"/>
                </a:solidFill>
                <a:uFill>
                  <a:solidFill>
                    <a:srgbClr val="221F1F"/>
                  </a:solidFill>
                </a:uFill>
                <a:latin typeface="Arial"/>
                <a:cs typeface="Arial"/>
              </a:rPr>
              <a:t>good</a:t>
            </a:r>
            <a:r>
              <a:rPr dirty="0" u="heavy" sz="1200" spc="-50" b="1" i="1">
                <a:solidFill>
                  <a:srgbClr val="221F1F"/>
                </a:solidFill>
                <a:uFill>
                  <a:solidFill>
                    <a:srgbClr val="221F1F"/>
                  </a:solidFill>
                </a:uFill>
                <a:latin typeface="Arial"/>
                <a:cs typeface="Arial"/>
              </a:rPr>
              <a:t> </a:t>
            </a:r>
            <a:r>
              <a:rPr dirty="0" u="heavy" sz="1200" spc="-40" b="1" i="1">
                <a:solidFill>
                  <a:srgbClr val="221F1F"/>
                </a:solidFill>
                <a:uFill>
                  <a:solidFill>
                    <a:srgbClr val="221F1F"/>
                  </a:solidFill>
                </a:uFill>
                <a:latin typeface="Arial"/>
                <a:cs typeface="Arial"/>
              </a:rPr>
              <a:t>Muslim‟ </a:t>
            </a:r>
            <a:r>
              <a:rPr dirty="0" sz="1200" spc="-40" b="1" i="1">
                <a:solidFill>
                  <a:srgbClr val="221F1F"/>
                </a:solidFill>
                <a:latin typeface="Arial"/>
                <a:cs typeface="Arial"/>
              </a:rPr>
              <a:t> </a:t>
            </a:r>
            <a:r>
              <a:rPr dirty="0" u="heavy" sz="1200" spc="-5" b="1" i="1">
                <a:solidFill>
                  <a:srgbClr val="221F1F"/>
                </a:solidFill>
                <a:uFill>
                  <a:solidFill>
                    <a:srgbClr val="221F1F"/>
                  </a:solidFill>
                </a:uFill>
                <a:latin typeface="Arial"/>
                <a:cs typeface="Arial"/>
              </a:rPr>
              <a:t>OR</a:t>
            </a:r>
            <a:endParaRPr sz="1200">
              <a:latin typeface="Arial"/>
              <a:cs typeface="Arial"/>
            </a:endParaRPr>
          </a:p>
          <a:p>
            <a:pPr marL="12700">
              <a:lnSpc>
                <a:spcPct val="100000"/>
              </a:lnSpc>
              <a:spcBef>
                <a:spcPts val="1010"/>
              </a:spcBef>
            </a:pPr>
            <a:r>
              <a:rPr dirty="0" u="heavy" sz="1200" spc="-5" b="1" i="1">
                <a:solidFill>
                  <a:srgbClr val="221F1F"/>
                </a:solidFill>
                <a:uFill>
                  <a:solidFill>
                    <a:srgbClr val="221F1F"/>
                  </a:solidFill>
                </a:uFill>
                <a:latin typeface="Arial"/>
                <a:cs typeface="Arial"/>
              </a:rPr>
              <a:t>The Importance </a:t>
            </a:r>
            <a:r>
              <a:rPr dirty="0" u="heavy" sz="1200" b="1" i="1">
                <a:solidFill>
                  <a:srgbClr val="221F1F"/>
                </a:solidFill>
                <a:uFill>
                  <a:solidFill>
                    <a:srgbClr val="221F1F"/>
                  </a:solidFill>
                </a:uFill>
                <a:latin typeface="Arial"/>
                <a:cs typeface="Arial"/>
              </a:rPr>
              <a:t>and </a:t>
            </a:r>
            <a:r>
              <a:rPr dirty="0" u="heavy" sz="1200" spc="-5" b="1" i="1">
                <a:solidFill>
                  <a:srgbClr val="221F1F"/>
                </a:solidFill>
                <a:uFill>
                  <a:solidFill>
                    <a:srgbClr val="221F1F"/>
                  </a:solidFill>
                </a:uFill>
                <a:latin typeface="Arial"/>
                <a:cs typeface="Arial"/>
              </a:rPr>
              <a:t>significance </a:t>
            </a:r>
            <a:r>
              <a:rPr dirty="0" u="heavy" sz="1200" b="1" i="1">
                <a:solidFill>
                  <a:srgbClr val="221F1F"/>
                </a:solidFill>
                <a:uFill>
                  <a:solidFill>
                    <a:srgbClr val="221F1F"/>
                  </a:solidFill>
                </a:uFill>
                <a:latin typeface="Arial"/>
                <a:cs typeface="Arial"/>
              </a:rPr>
              <a:t>of</a:t>
            </a:r>
            <a:r>
              <a:rPr dirty="0" u="heavy" sz="1200" spc="-5" b="1" i="1">
                <a:solidFill>
                  <a:srgbClr val="221F1F"/>
                </a:solidFill>
                <a:uFill>
                  <a:solidFill>
                    <a:srgbClr val="221F1F"/>
                  </a:solidFill>
                </a:uFill>
                <a:latin typeface="Arial"/>
                <a:cs typeface="Arial"/>
              </a:rPr>
              <a:t> Sunnah</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a:latin typeface="Arial"/>
                <a:cs typeface="Arial"/>
              </a:rPr>
              <a:t>Obey </a:t>
            </a:r>
            <a:r>
              <a:rPr dirty="0" sz="1200" spc="-5">
                <a:latin typeface="Arial"/>
                <a:cs typeface="Arial"/>
              </a:rPr>
              <a:t>Allah and obey His prophet and </a:t>
            </a:r>
            <a:r>
              <a:rPr dirty="0" sz="1200" spc="-10">
                <a:latin typeface="Arial"/>
                <a:cs typeface="Arial"/>
              </a:rPr>
              <a:t>those </a:t>
            </a:r>
            <a:r>
              <a:rPr dirty="0" sz="1200" spc="-5">
                <a:latin typeface="Arial"/>
                <a:cs typeface="Arial"/>
              </a:rPr>
              <a:t>in authority among you</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Taharaat, Swalaat, Sawm, </a:t>
            </a:r>
            <a:r>
              <a:rPr dirty="0" sz="1200">
                <a:latin typeface="Arial"/>
                <a:cs typeface="Arial"/>
              </a:rPr>
              <a:t>Zakaat </a:t>
            </a:r>
            <a:r>
              <a:rPr dirty="0" sz="1200" spc="-5">
                <a:latin typeface="Arial"/>
                <a:cs typeface="Arial"/>
              </a:rPr>
              <a:t>and</a:t>
            </a:r>
            <a:r>
              <a:rPr dirty="0" sz="1200">
                <a:latin typeface="Arial"/>
                <a:cs typeface="Arial"/>
              </a:rPr>
              <a:t> Hajj</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Morality, </a:t>
            </a:r>
            <a:r>
              <a:rPr dirty="0" sz="1200" spc="5">
                <a:latin typeface="Arial"/>
                <a:cs typeface="Arial"/>
              </a:rPr>
              <a:t>Wisdom, </a:t>
            </a:r>
            <a:r>
              <a:rPr dirty="0" sz="1200" spc="-5">
                <a:latin typeface="Arial"/>
                <a:cs typeface="Arial"/>
              </a:rPr>
              <a:t>Politeness towards human</a:t>
            </a:r>
            <a:r>
              <a:rPr dirty="0" sz="1200" spc="-40">
                <a:latin typeface="Arial"/>
                <a:cs typeface="Arial"/>
              </a:rPr>
              <a:t> </a:t>
            </a:r>
            <a:r>
              <a:rPr dirty="0" sz="1200" spc="-5">
                <a:latin typeface="Arial"/>
                <a:cs typeface="Arial"/>
              </a:rPr>
              <a:t>beings</a:t>
            </a:r>
            <a:endParaRPr sz="1200">
              <a:latin typeface="Arial"/>
              <a:cs typeface="Arial"/>
            </a:endParaRPr>
          </a:p>
          <a:p>
            <a:pPr marL="469900" marR="5080" indent="-229235">
              <a:lnSpc>
                <a:spcPts val="1380"/>
              </a:lnSpc>
              <a:spcBef>
                <a:spcPts val="65"/>
              </a:spcBef>
              <a:buAutoNum type="arabicPeriod"/>
              <a:tabLst>
                <a:tab pos="470534" algn="l"/>
              </a:tabLst>
            </a:pPr>
            <a:r>
              <a:rPr dirty="0" sz="1200" spc="-5">
                <a:latin typeface="Arial"/>
                <a:cs typeface="Arial"/>
              </a:rPr>
              <a:t>Application of the Shari‘ah </a:t>
            </a:r>
            <a:r>
              <a:rPr dirty="0" sz="1200">
                <a:latin typeface="Arial"/>
                <a:cs typeface="Arial"/>
              </a:rPr>
              <a:t>– </a:t>
            </a:r>
            <a:r>
              <a:rPr dirty="0" sz="1200" spc="-5">
                <a:latin typeface="Arial"/>
                <a:cs typeface="Arial"/>
              </a:rPr>
              <a:t>the law of Hudud (Flogging, </a:t>
            </a:r>
            <a:r>
              <a:rPr dirty="0" sz="1200">
                <a:latin typeface="Arial"/>
                <a:cs typeface="Arial"/>
              </a:rPr>
              <a:t>cutting of the </a:t>
            </a:r>
            <a:r>
              <a:rPr dirty="0" sz="1200" spc="-5">
                <a:latin typeface="Arial"/>
                <a:cs typeface="Arial"/>
              </a:rPr>
              <a:t>hand, stoning  till</a:t>
            </a:r>
            <a:r>
              <a:rPr dirty="0" sz="1200" spc="-10">
                <a:latin typeface="Arial"/>
                <a:cs typeface="Arial"/>
              </a:rPr>
              <a:t> </a:t>
            </a:r>
            <a:r>
              <a:rPr dirty="0" sz="1200" spc="-5">
                <a:latin typeface="Arial"/>
                <a:cs typeface="Arial"/>
              </a:rPr>
              <a:t>death)</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Importance of Education and Spreading of</a:t>
            </a:r>
            <a:r>
              <a:rPr dirty="0" sz="1200" spc="10">
                <a:latin typeface="Arial"/>
                <a:cs typeface="Arial"/>
              </a:rPr>
              <a:t> </a:t>
            </a:r>
            <a:r>
              <a:rPr dirty="0" sz="1200" spc="-5">
                <a:latin typeface="Arial"/>
                <a:cs typeface="Arial"/>
              </a:rPr>
              <a:t>Islam</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Sunnah of the Ashab, Tabi‘in and Tab‘ut</a:t>
            </a:r>
            <a:r>
              <a:rPr dirty="0" sz="1200" spc="-15">
                <a:latin typeface="Arial"/>
                <a:cs typeface="Arial"/>
              </a:rPr>
              <a:t> </a:t>
            </a:r>
            <a:r>
              <a:rPr dirty="0" sz="1200" spc="-5">
                <a:latin typeface="Arial"/>
                <a:cs typeface="Arial"/>
              </a:rPr>
              <a:t>Tabi‘in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Protection from Allah against Shaitaan, mistakes, sins and</a:t>
            </a:r>
            <a:r>
              <a:rPr dirty="0" sz="1200" spc="25">
                <a:latin typeface="Arial"/>
                <a:cs typeface="Arial"/>
              </a:rPr>
              <a:t> </a:t>
            </a:r>
            <a:r>
              <a:rPr dirty="0" sz="1200" spc="-5">
                <a:latin typeface="Arial"/>
                <a:cs typeface="Arial"/>
              </a:rPr>
              <a:t>pitfalls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Qur‘an and </a:t>
            </a:r>
            <a:r>
              <a:rPr dirty="0" sz="1200">
                <a:latin typeface="Arial"/>
                <a:cs typeface="Arial"/>
              </a:rPr>
              <a:t>the </a:t>
            </a:r>
            <a:r>
              <a:rPr dirty="0" sz="1200" spc="-5">
                <a:latin typeface="Arial"/>
                <a:cs typeface="Arial"/>
              </a:rPr>
              <a:t>Sunnah being</a:t>
            </a:r>
            <a:r>
              <a:rPr dirty="0" sz="1200" spc="-15">
                <a:latin typeface="Arial"/>
                <a:cs typeface="Arial"/>
              </a:rPr>
              <a:t> </a:t>
            </a:r>
            <a:r>
              <a:rPr dirty="0" sz="1200" spc="-5">
                <a:latin typeface="Arial"/>
                <a:cs typeface="Arial"/>
              </a:rPr>
              <a:t>complement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Sunnah is </a:t>
            </a:r>
            <a:r>
              <a:rPr dirty="0" sz="1200">
                <a:latin typeface="Arial"/>
                <a:cs typeface="Arial"/>
              </a:rPr>
              <a:t>the </a:t>
            </a:r>
            <a:r>
              <a:rPr dirty="0" sz="1200" spc="-5">
                <a:latin typeface="Arial"/>
                <a:cs typeface="Arial"/>
              </a:rPr>
              <a:t>Tafsir </a:t>
            </a:r>
            <a:r>
              <a:rPr dirty="0" sz="1200">
                <a:latin typeface="Arial"/>
                <a:cs typeface="Arial"/>
              </a:rPr>
              <a:t>of the</a:t>
            </a:r>
            <a:r>
              <a:rPr dirty="0" sz="1200" spc="-15">
                <a:latin typeface="Arial"/>
                <a:cs typeface="Arial"/>
              </a:rPr>
              <a:t> </a:t>
            </a:r>
            <a:r>
              <a:rPr dirty="0" sz="1200" spc="-5">
                <a:latin typeface="Arial"/>
                <a:cs typeface="Arial"/>
              </a:rPr>
              <a:t>Qur‘an</a:t>
            </a:r>
            <a:endParaRPr sz="1200">
              <a:latin typeface="Arial"/>
              <a:cs typeface="Arial"/>
            </a:endParaRPr>
          </a:p>
          <a:p>
            <a:pPr marL="469900" indent="-229235">
              <a:lnSpc>
                <a:spcPts val="1380"/>
              </a:lnSpc>
              <a:buAutoNum type="arabicPeriod"/>
              <a:tabLst>
                <a:tab pos="470534" algn="l"/>
              </a:tabLst>
            </a:pPr>
            <a:r>
              <a:rPr dirty="0" sz="1200">
                <a:latin typeface="Arial"/>
                <a:cs typeface="Arial"/>
              </a:rPr>
              <a:t>Both </a:t>
            </a:r>
            <a:r>
              <a:rPr dirty="0" sz="1200" spc="-5">
                <a:latin typeface="Arial"/>
                <a:cs typeface="Arial"/>
              </a:rPr>
              <a:t>are important </a:t>
            </a:r>
            <a:r>
              <a:rPr dirty="0" sz="1200">
                <a:latin typeface="Arial"/>
                <a:cs typeface="Arial"/>
              </a:rPr>
              <a:t>– </a:t>
            </a:r>
            <a:r>
              <a:rPr dirty="0" sz="1200" spc="-5">
                <a:latin typeface="Arial"/>
                <a:cs typeface="Arial"/>
              </a:rPr>
              <a:t>one is theory </a:t>
            </a:r>
            <a:r>
              <a:rPr dirty="0" sz="1200">
                <a:latin typeface="Arial"/>
                <a:cs typeface="Arial"/>
              </a:rPr>
              <a:t>and </a:t>
            </a:r>
            <a:r>
              <a:rPr dirty="0" sz="1200" spc="-5">
                <a:latin typeface="Arial"/>
                <a:cs typeface="Arial"/>
              </a:rPr>
              <a:t>the other is</a:t>
            </a:r>
            <a:r>
              <a:rPr dirty="0" sz="1200" spc="10">
                <a:latin typeface="Arial"/>
                <a:cs typeface="Arial"/>
              </a:rPr>
              <a:t> </a:t>
            </a:r>
            <a:r>
              <a:rPr dirty="0" sz="1200" spc="-5">
                <a:latin typeface="Arial"/>
                <a:cs typeface="Arial"/>
              </a:rPr>
              <a:t>practice.</a:t>
            </a:r>
            <a:endParaRPr sz="1200">
              <a:latin typeface="Arial"/>
              <a:cs typeface="Arial"/>
            </a:endParaRPr>
          </a:p>
          <a:p>
            <a:pPr marL="469900" indent="-229235">
              <a:lnSpc>
                <a:spcPts val="1410"/>
              </a:lnSpc>
              <a:buAutoNum type="arabicPeriod"/>
              <a:tabLst>
                <a:tab pos="470534" algn="l"/>
              </a:tabLst>
            </a:pPr>
            <a:r>
              <a:rPr dirty="0" sz="1200">
                <a:latin typeface="Arial"/>
                <a:cs typeface="Arial"/>
              </a:rPr>
              <a:t>To know </a:t>
            </a:r>
            <a:r>
              <a:rPr dirty="0" sz="1200" spc="-5">
                <a:latin typeface="Arial"/>
                <a:cs typeface="Arial"/>
              </a:rPr>
              <a:t>the theory, </a:t>
            </a:r>
            <a:r>
              <a:rPr dirty="0" sz="1200">
                <a:latin typeface="Arial"/>
                <a:cs typeface="Arial"/>
              </a:rPr>
              <a:t>to </a:t>
            </a:r>
            <a:r>
              <a:rPr dirty="0" sz="1200" spc="-5">
                <a:latin typeface="Arial"/>
                <a:cs typeface="Arial"/>
              </a:rPr>
              <a:t>practice </a:t>
            </a:r>
            <a:r>
              <a:rPr dirty="0" sz="1200">
                <a:latin typeface="Arial"/>
                <a:cs typeface="Arial"/>
              </a:rPr>
              <a:t>it </a:t>
            </a:r>
            <a:r>
              <a:rPr dirty="0" sz="1200" spc="-5">
                <a:latin typeface="Arial"/>
                <a:cs typeface="Arial"/>
              </a:rPr>
              <a:t>and </a:t>
            </a:r>
            <a:r>
              <a:rPr dirty="0" sz="1200">
                <a:latin typeface="Arial"/>
                <a:cs typeface="Arial"/>
              </a:rPr>
              <a:t>to </a:t>
            </a:r>
            <a:r>
              <a:rPr dirty="0" sz="1200" spc="-5">
                <a:latin typeface="Arial"/>
                <a:cs typeface="Arial"/>
              </a:rPr>
              <a:t>spread </a:t>
            </a:r>
            <a:r>
              <a:rPr dirty="0" sz="1200">
                <a:latin typeface="Arial"/>
                <a:cs typeface="Arial"/>
              </a:rPr>
              <a:t>it makes </a:t>
            </a:r>
            <a:r>
              <a:rPr dirty="0" sz="1200" spc="-5">
                <a:latin typeface="Arial"/>
                <a:cs typeface="Arial"/>
              </a:rPr>
              <a:t>one a good</a:t>
            </a:r>
            <a:r>
              <a:rPr dirty="0" sz="1200" spc="-15">
                <a:latin typeface="Arial"/>
                <a:cs typeface="Arial"/>
              </a:rPr>
              <a:t> </a:t>
            </a:r>
            <a:r>
              <a:rPr dirty="0" sz="1200" spc="-5">
                <a:latin typeface="Arial"/>
                <a:cs typeface="Arial"/>
              </a:rPr>
              <a:t>Muslim</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How </a:t>
            </a:r>
            <a:r>
              <a:rPr dirty="0" u="heavy" sz="1200" b="1" i="1">
                <a:uFill>
                  <a:solidFill>
                    <a:srgbClr val="000000"/>
                  </a:solidFill>
                </a:uFill>
                <a:latin typeface="Arial"/>
                <a:cs typeface="Arial"/>
              </a:rPr>
              <a:t>does </a:t>
            </a:r>
            <a:r>
              <a:rPr dirty="0" u="heavy" sz="1200" spc="-5" b="1" i="1">
                <a:uFill>
                  <a:solidFill>
                    <a:srgbClr val="000000"/>
                  </a:solidFill>
                </a:uFill>
                <a:latin typeface="Arial"/>
                <a:cs typeface="Arial"/>
              </a:rPr>
              <a:t>the Shari`ah affect private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public activities </a:t>
            </a:r>
            <a:r>
              <a:rPr dirty="0" u="heavy" sz="1200" b="1" i="1">
                <a:uFill>
                  <a:solidFill>
                    <a:srgbClr val="000000"/>
                  </a:solidFill>
                </a:uFill>
                <a:latin typeface="Arial"/>
                <a:cs typeface="Arial"/>
              </a:rPr>
              <a:t>in</a:t>
            </a:r>
            <a:r>
              <a:rPr dirty="0" u="heavy" sz="1200" spc="35" b="1" i="1">
                <a:uFill>
                  <a:solidFill>
                    <a:srgbClr val="000000"/>
                  </a:solidFill>
                </a:uFill>
                <a:latin typeface="Arial"/>
                <a:cs typeface="Arial"/>
              </a:rPr>
              <a:t> </a:t>
            </a:r>
            <a:r>
              <a:rPr dirty="0" u="heavy" sz="1200" spc="-5" b="1" i="1">
                <a:uFill>
                  <a:solidFill>
                    <a:srgbClr val="000000"/>
                  </a:solidFill>
                </a:uFill>
                <a:latin typeface="Arial"/>
                <a:cs typeface="Arial"/>
              </a:rPr>
              <a:t>Islam</a:t>
            </a:r>
            <a:endParaRPr sz="1200">
              <a:latin typeface="Arial"/>
              <a:cs typeface="Arial"/>
            </a:endParaRPr>
          </a:p>
          <a:p>
            <a:pPr>
              <a:lnSpc>
                <a:spcPct val="100000"/>
              </a:lnSpc>
              <a:spcBef>
                <a:spcPts val="55"/>
              </a:spcBef>
            </a:pPr>
            <a:endParaRPr sz="1100">
              <a:latin typeface="Arial"/>
              <a:cs typeface="Arial"/>
            </a:endParaRPr>
          </a:p>
          <a:p>
            <a:pPr marL="469900" indent="-229235">
              <a:lnSpc>
                <a:spcPts val="1405"/>
              </a:lnSpc>
              <a:buAutoNum type="arabicPeriod"/>
              <a:tabLst>
                <a:tab pos="470534" algn="l"/>
              </a:tabLst>
            </a:pPr>
            <a:r>
              <a:rPr dirty="0" sz="1200" spc="-5">
                <a:latin typeface="Arial"/>
                <a:cs typeface="Arial"/>
              </a:rPr>
              <a:t>Private </a:t>
            </a:r>
            <a:r>
              <a:rPr dirty="0" sz="1200">
                <a:latin typeface="Arial"/>
                <a:cs typeface="Arial"/>
              </a:rPr>
              <a:t>life: </a:t>
            </a:r>
            <a:r>
              <a:rPr dirty="0" sz="1200" spc="-5">
                <a:latin typeface="Arial"/>
                <a:cs typeface="Arial"/>
              </a:rPr>
              <a:t>personal </a:t>
            </a:r>
            <a:r>
              <a:rPr dirty="0" sz="1200" spc="-10">
                <a:latin typeface="Arial"/>
                <a:cs typeface="Arial"/>
              </a:rPr>
              <a:t>life </a:t>
            </a:r>
            <a:r>
              <a:rPr dirty="0" sz="1200" spc="-5">
                <a:latin typeface="Arial"/>
                <a:cs typeface="Arial"/>
              </a:rPr>
              <a:t>based </a:t>
            </a:r>
            <a:r>
              <a:rPr dirty="0" sz="1200">
                <a:latin typeface="Arial"/>
                <a:cs typeface="Arial"/>
              </a:rPr>
              <a:t>on</a:t>
            </a:r>
            <a:r>
              <a:rPr dirty="0" sz="1200" spc="-5">
                <a:latin typeface="Arial"/>
                <a:cs typeface="Arial"/>
              </a:rPr>
              <a:t> Shari‘ah</a:t>
            </a:r>
            <a:endParaRPr sz="1200">
              <a:latin typeface="Arial"/>
              <a:cs typeface="Arial"/>
            </a:endParaRPr>
          </a:p>
          <a:p>
            <a:pPr marL="469900" marR="8890" indent="-229235">
              <a:lnSpc>
                <a:spcPts val="1380"/>
              </a:lnSpc>
              <a:spcBef>
                <a:spcPts val="60"/>
              </a:spcBef>
              <a:buAutoNum type="arabicPeriod"/>
              <a:tabLst>
                <a:tab pos="470534" algn="l"/>
              </a:tabLst>
            </a:pPr>
            <a:r>
              <a:rPr dirty="0" sz="1200" spc="-5">
                <a:latin typeface="Arial"/>
                <a:cs typeface="Arial"/>
              </a:rPr>
              <a:t>Public life: Life outside your </a:t>
            </a:r>
            <a:r>
              <a:rPr dirty="0" sz="1200">
                <a:latin typeface="Arial"/>
                <a:cs typeface="Arial"/>
              </a:rPr>
              <a:t>house </a:t>
            </a:r>
            <a:r>
              <a:rPr dirty="0" sz="1200" spc="-5">
                <a:latin typeface="Arial"/>
                <a:cs typeface="Arial"/>
              </a:rPr>
              <a:t>in society based </a:t>
            </a:r>
            <a:r>
              <a:rPr dirty="0" sz="1200">
                <a:latin typeface="Arial"/>
                <a:cs typeface="Arial"/>
              </a:rPr>
              <a:t>on </a:t>
            </a:r>
            <a:r>
              <a:rPr dirty="0" sz="1200" spc="-5">
                <a:latin typeface="Arial"/>
                <a:cs typeface="Arial"/>
              </a:rPr>
              <a:t>Shari‘ah </a:t>
            </a:r>
            <a:r>
              <a:rPr dirty="0" sz="1200">
                <a:latin typeface="Arial"/>
                <a:cs typeface="Arial"/>
              </a:rPr>
              <a:t>and </a:t>
            </a:r>
            <a:r>
              <a:rPr dirty="0" sz="1200" spc="-5">
                <a:latin typeface="Arial"/>
                <a:cs typeface="Arial"/>
              </a:rPr>
              <a:t>Rights </a:t>
            </a:r>
            <a:r>
              <a:rPr dirty="0" sz="1200">
                <a:latin typeface="Arial"/>
                <a:cs typeface="Arial"/>
              </a:rPr>
              <a:t>of </a:t>
            </a:r>
            <a:r>
              <a:rPr dirty="0" sz="1200" spc="-5">
                <a:latin typeface="Arial"/>
                <a:cs typeface="Arial"/>
              </a:rPr>
              <a:t>Human  Beings</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Private:</a:t>
            </a:r>
            <a:endParaRPr sz="1200">
              <a:latin typeface="Arial"/>
              <a:cs typeface="Arial"/>
            </a:endParaRPr>
          </a:p>
          <a:p>
            <a:pPr lvl="1" marL="927100" indent="-229235">
              <a:lnSpc>
                <a:spcPts val="1380"/>
              </a:lnSpc>
              <a:buAutoNum type="alphaLcPeriod"/>
              <a:tabLst>
                <a:tab pos="927735" algn="l"/>
              </a:tabLst>
            </a:pPr>
            <a:r>
              <a:rPr dirty="0" sz="1200" spc="-5">
                <a:latin typeface="Arial"/>
                <a:cs typeface="Arial"/>
              </a:rPr>
              <a:t>The </a:t>
            </a:r>
            <a:r>
              <a:rPr dirty="0" sz="1200" spc="-10">
                <a:latin typeface="Arial"/>
                <a:cs typeface="Arial"/>
              </a:rPr>
              <a:t>way you </a:t>
            </a:r>
            <a:r>
              <a:rPr dirty="0" sz="1200" spc="-5">
                <a:latin typeface="Arial"/>
                <a:cs typeface="Arial"/>
              </a:rPr>
              <a:t>talk </a:t>
            </a:r>
            <a:r>
              <a:rPr dirty="0" sz="1200">
                <a:latin typeface="Arial"/>
                <a:cs typeface="Arial"/>
              </a:rPr>
              <a:t>to </a:t>
            </a:r>
            <a:r>
              <a:rPr dirty="0" sz="1200" spc="-5">
                <a:latin typeface="Arial"/>
                <a:cs typeface="Arial"/>
              </a:rPr>
              <a:t>your</a:t>
            </a:r>
            <a:r>
              <a:rPr dirty="0" sz="1200" spc="30">
                <a:latin typeface="Arial"/>
                <a:cs typeface="Arial"/>
              </a:rPr>
              <a:t> </a:t>
            </a:r>
            <a:r>
              <a:rPr dirty="0" sz="1200" spc="-5">
                <a:latin typeface="Arial"/>
                <a:cs typeface="Arial"/>
              </a:rPr>
              <a:t>parents</a:t>
            </a:r>
            <a:endParaRPr sz="1200">
              <a:latin typeface="Arial"/>
              <a:cs typeface="Arial"/>
            </a:endParaRPr>
          </a:p>
          <a:p>
            <a:pPr lvl="1" marL="927100" indent="-229235">
              <a:lnSpc>
                <a:spcPts val="1380"/>
              </a:lnSpc>
              <a:buAutoNum type="alphaLcPeriod"/>
              <a:tabLst>
                <a:tab pos="927735" algn="l"/>
              </a:tabLst>
            </a:pPr>
            <a:r>
              <a:rPr dirty="0" sz="1200" spc="-5">
                <a:latin typeface="Arial"/>
                <a:cs typeface="Arial"/>
              </a:rPr>
              <a:t>Responsibility towards husbands, </a:t>
            </a:r>
            <a:r>
              <a:rPr dirty="0" sz="1200" spc="-10">
                <a:latin typeface="Arial"/>
                <a:cs typeface="Arial"/>
              </a:rPr>
              <a:t>wives </a:t>
            </a:r>
            <a:r>
              <a:rPr dirty="0" sz="1200">
                <a:latin typeface="Arial"/>
                <a:cs typeface="Arial"/>
              </a:rPr>
              <a:t>and</a:t>
            </a:r>
            <a:r>
              <a:rPr dirty="0" sz="1200" spc="10">
                <a:latin typeface="Arial"/>
                <a:cs typeface="Arial"/>
              </a:rPr>
              <a:t> </a:t>
            </a:r>
            <a:r>
              <a:rPr dirty="0" sz="1200" spc="-5">
                <a:latin typeface="Arial"/>
                <a:cs typeface="Arial"/>
              </a:rPr>
              <a:t>kids</a:t>
            </a:r>
            <a:endParaRPr sz="1200">
              <a:latin typeface="Arial"/>
              <a:cs typeface="Arial"/>
            </a:endParaRPr>
          </a:p>
          <a:p>
            <a:pPr lvl="1" marL="927100" indent="-229235">
              <a:lnSpc>
                <a:spcPts val="1380"/>
              </a:lnSpc>
              <a:buAutoNum type="alphaLcPeriod"/>
              <a:tabLst>
                <a:tab pos="927735" algn="l"/>
              </a:tabLst>
            </a:pPr>
            <a:r>
              <a:rPr dirty="0" sz="1200" spc="-5">
                <a:latin typeface="Arial"/>
                <a:cs typeface="Arial"/>
              </a:rPr>
              <a:t>Tah2Sarat, Swalaat </a:t>
            </a:r>
            <a:r>
              <a:rPr dirty="0" sz="1200" spc="-10">
                <a:latin typeface="Arial"/>
                <a:cs typeface="Arial"/>
              </a:rPr>
              <a:t>and</a:t>
            </a:r>
            <a:r>
              <a:rPr dirty="0" sz="1200">
                <a:latin typeface="Arial"/>
                <a:cs typeface="Arial"/>
              </a:rPr>
              <a:t> </a:t>
            </a:r>
            <a:r>
              <a:rPr dirty="0" sz="1200" spc="-5">
                <a:latin typeface="Arial"/>
                <a:cs typeface="Arial"/>
              </a:rPr>
              <a:t>Sawm</a:t>
            </a:r>
            <a:endParaRPr sz="1200">
              <a:latin typeface="Arial"/>
              <a:cs typeface="Arial"/>
            </a:endParaRPr>
          </a:p>
          <a:p>
            <a:pPr lvl="1" marL="927100" indent="-229235">
              <a:lnSpc>
                <a:spcPts val="1380"/>
              </a:lnSpc>
              <a:buAutoNum type="alphaLcPeriod"/>
              <a:tabLst>
                <a:tab pos="927735" algn="l"/>
              </a:tabLst>
            </a:pPr>
            <a:r>
              <a:rPr dirty="0" sz="1200" spc="-5">
                <a:latin typeface="Arial"/>
                <a:cs typeface="Arial"/>
              </a:rPr>
              <a:t>Sins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Public:</a:t>
            </a:r>
            <a:endParaRPr sz="1200">
              <a:latin typeface="Arial"/>
              <a:cs typeface="Arial"/>
            </a:endParaRPr>
          </a:p>
          <a:p>
            <a:pPr lvl="1" marL="913130" indent="-229235">
              <a:lnSpc>
                <a:spcPts val="1380"/>
              </a:lnSpc>
              <a:buAutoNum type="alphaLcPeriod"/>
              <a:tabLst>
                <a:tab pos="913765" algn="l"/>
              </a:tabLst>
            </a:pPr>
            <a:r>
              <a:rPr dirty="0" sz="1200" spc="-5">
                <a:latin typeface="Arial"/>
                <a:cs typeface="Arial"/>
              </a:rPr>
              <a:t>The </a:t>
            </a:r>
            <a:r>
              <a:rPr dirty="0" sz="1200" spc="-10">
                <a:latin typeface="Arial"/>
                <a:cs typeface="Arial"/>
              </a:rPr>
              <a:t>way you </a:t>
            </a:r>
            <a:r>
              <a:rPr dirty="0" sz="1200">
                <a:latin typeface="Arial"/>
                <a:cs typeface="Arial"/>
              </a:rPr>
              <a:t>dress </a:t>
            </a:r>
            <a:r>
              <a:rPr dirty="0" sz="1200" spc="-5">
                <a:latin typeface="Arial"/>
                <a:cs typeface="Arial"/>
              </a:rPr>
              <a:t>when you merge with other</a:t>
            </a:r>
            <a:r>
              <a:rPr dirty="0" sz="1200" spc="35">
                <a:latin typeface="Arial"/>
                <a:cs typeface="Arial"/>
              </a:rPr>
              <a:t> </a:t>
            </a:r>
            <a:r>
              <a:rPr dirty="0" sz="1200" spc="-5">
                <a:latin typeface="Arial"/>
                <a:cs typeface="Arial"/>
              </a:rPr>
              <a:t>people</a:t>
            </a:r>
            <a:endParaRPr sz="1200">
              <a:latin typeface="Arial"/>
              <a:cs typeface="Arial"/>
            </a:endParaRPr>
          </a:p>
          <a:p>
            <a:pPr lvl="1" marL="913130" indent="-229235">
              <a:lnSpc>
                <a:spcPts val="1380"/>
              </a:lnSpc>
              <a:buAutoNum type="alphaLcPeriod"/>
              <a:tabLst>
                <a:tab pos="913765" algn="l"/>
              </a:tabLst>
            </a:pPr>
            <a:r>
              <a:rPr dirty="0" sz="1200">
                <a:latin typeface="Arial"/>
                <a:cs typeface="Arial"/>
              </a:rPr>
              <a:t>Respecting </a:t>
            </a:r>
            <a:r>
              <a:rPr dirty="0" sz="1200" spc="-5">
                <a:latin typeface="Arial"/>
                <a:cs typeface="Arial"/>
              </a:rPr>
              <a:t>the rights of others</a:t>
            </a:r>
            <a:r>
              <a:rPr dirty="0" sz="1200" spc="10">
                <a:latin typeface="Arial"/>
                <a:cs typeface="Arial"/>
              </a:rPr>
              <a:t> </a:t>
            </a:r>
            <a:r>
              <a:rPr dirty="0" sz="1200" spc="-5">
                <a:latin typeface="Arial"/>
                <a:cs typeface="Arial"/>
              </a:rPr>
              <a:t>(Muslims)</a:t>
            </a:r>
            <a:endParaRPr sz="1200">
              <a:latin typeface="Arial"/>
              <a:cs typeface="Arial"/>
            </a:endParaRPr>
          </a:p>
          <a:p>
            <a:pPr lvl="1" marL="913130" indent="-229235">
              <a:lnSpc>
                <a:spcPts val="1380"/>
              </a:lnSpc>
              <a:buAutoNum type="alphaLcPeriod"/>
              <a:tabLst>
                <a:tab pos="913765" algn="l"/>
              </a:tabLst>
            </a:pPr>
            <a:r>
              <a:rPr dirty="0" sz="1200">
                <a:latin typeface="Arial"/>
                <a:cs typeface="Arial"/>
              </a:rPr>
              <a:t>Interest, </a:t>
            </a:r>
            <a:r>
              <a:rPr dirty="0" sz="1200" spc="-5">
                <a:latin typeface="Arial"/>
                <a:cs typeface="Arial"/>
              </a:rPr>
              <a:t>Bribes, Corruption</a:t>
            </a:r>
            <a:endParaRPr sz="1200">
              <a:latin typeface="Arial"/>
              <a:cs typeface="Arial"/>
            </a:endParaRPr>
          </a:p>
          <a:p>
            <a:pPr lvl="1" marL="913130" indent="-229235">
              <a:lnSpc>
                <a:spcPts val="1380"/>
              </a:lnSpc>
              <a:buAutoNum type="alphaLcPeriod"/>
              <a:tabLst>
                <a:tab pos="913765" algn="l"/>
              </a:tabLst>
            </a:pPr>
            <a:r>
              <a:rPr dirty="0" sz="1200" spc="-5">
                <a:latin typeface="Arial"/>
                <a:cs typeface="Arial"/>
              </a:rPr>
              <a:t>Rights </a:t>
            </a:r>
            <a:r>
              <a:rPr dirty="0" sz="1200">
                <a:latin typeface="Arial"/>
                <a:cs typeface="Arial"/>
              </a:rPr>
              <a:t>of </a:t>
            </a:r>
            <a:r>
              <a:rPr dirty="0" sz="1200" spc="-5">
                <a:latin typeface="Arial"/>
                <a:cs typeface="Arial"/>
              </a:rPr>
              <a:t>non</a:t>
            </a:r>
            <a:r>
              <a:rPr dirty="0" sz="1200">
                <a:latin typeface="Arial"/>
                <a:cs typeface="Arial"/>
              </a:rPr>
              <a:t> </a:t>
            </a:r>
            <a:r>
              <a:rPr dirty="0" sz="1200" spc="-5">
                <a:latin typeface="Arial"/>
                <a:cs typeface="Arial"/>
              </a:rPr>
              <a:t>Muslims</a:t>
            </a:r>
            <a:endParaRPr sz="1200">
              <a:latin typeface="Arial"/>
              <a:cs typeface="Arial"/>
            </a:endParaRPr>
          </a:p>
          <a:p>
            <a:pPr marL="469900" marR="8255" indent="-229235">
              <a:lnSpc>
                <a:spcPts val="1380"/>
              </a:lnSpc>
              <a:spcBef>
                <a:spcPts val="65"/>
              </a:spcBef>
              <a:buAutoNum type="arabicPeriod"/>
              <a:tabLst>
                <a:tab pos="470534" algn="l"/>
              </a:tabLst>
            </a:pPr>
            <a:r>
              <a:rPr dirty="0" sz="1200">
                <a:latin typeface="Arial"/>
                <a:cs typeface="Arial"/>
              </a:rPr>
              <a:t>Actions </a:t>
            </a:r>
            <a:r>
              <a:rPr dirty="0" sz="1200" spc="-5">
                <a:latin typeface="Arial"/>
                <a:cs typeface="Arial"/>
              </a:rPr>
              <a:t>and sayings (Islam is accepting Allah through </a:t>
            </a:r>
            <a:r>
              <a:rPr dirty="0" sz="1200">
                <a:latin typeface="Arial"/>
                <a:cs typeface="Arial"/>
              </a:rPr>
              <a:t>the </a:t>
            </a:r>
            <a:r>
              <a:rPr dirty="0" sz="1200" spc="-5">
                <a:latin typeface="Arial"/>
                <a:cs typeface="Arial"/>
              </a:rPr>
              <a:t>tongue, Imaan is witnessing  through the limbs and Ihsan is accepting and purifying of the</a:t>
            </a:r>
            <a:r>
              <a:rPr dirty="0" sz="1200" spc="25">
                <a:latin typeface="Arial"/>
                <a:cs typeface="Arial"/>
              </a:rPr>
              <a:t> </a:t>
            </a:r>
            <a:r>
              <a:rPr dirty="0" sz="1200" spc="-5">
                <a:latin typeface="Arial"/>
                <a:cs typeface="Arial"/>
              </a:rPr>
              <a:t>heart)</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211195" y="9905322"/>
            <a:ext cx="5524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98</a:t>
            </a:r>
            <a:endParaRPr sz="1200">
              <a:latin typeface="Times New Roman"/>
              <a:cs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8987790"/>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12700">
              <a:lnSpc>
                <a:spcPct val="100000"/>
              </a:lnSpc>
              <a:spcBef>
                <a:spcPts val="5"/>
              </a:spcBef>
            </a:pPr>
            <a:r>
              <a:rPr dirty="0" u="heavy" sz="1200" spc="-5" b="1" i="1">
                <a:solidFill>
                  <a:srgbClr val="221F1F"/>
                </a:solidFill>
                <a:uFill>
                  <a:solidFill>
                    <a:srgbClr val="221F1F"/>
                  </a:solidFill>
                </a:uFill>
                <a:latin typeface="Arial"/>
                <a:cs typeface="Arial"/>
              </a:rPr>
              <a:t>The importance </a:t>
            </a:r>
            <a:r>
              <a:rPr dirty="0" u="heavy" sz="1200" b="1" i="1">
                <a:solidFill>
                  <a:srgbClr val="221F1F"/>
                </a:solidFill>
                <a:uFill>
                  <a:solidFill>
                    <a:srgbClr val="221F1F"/>
                  </a:solidFill>
                </a:uFill>
                <a:latin typeface="Arial"/>
                <a:cs typeface="Arial"/>
              </a:rPr>
              <a:t>of </a:t>
            </a:r>
            <a:r>
              <a:rPr dirty="0" u="heavy" sz="1200" spc="-5" b="1" i="1">
                <a:solidFill>
                  <a:srgbClr val="221F1F"/>
                </a:solidFill>
                <a:uFill>
                  <a:solidFill>
                    <a:srgbClr val="221F1F"/>
                  </a:solidFill>
                </a:uFill>
                <a:latin typeface="Arial"/>
                <a:cs typeface="Arial"/>
              </a:rPr>
              <a:t>the </a:t>
            </a:r>
            <a:r>
              <a:rPr dirty="0" u="heavy" sz="1200" b="1" i="1">
                <a:solidFill>
                  <a:srgbClr val="221F1F"/>
                </a:solidFill>
                <a:uFill>
                  <a:solidFill>
                    <a:srgbClr val="221F1F"/>
                  </a:solidFill>
                </a:uFill>
                <a:latin typeface="Arial"/>
                <a:cs typeface="Arial"/>
              </a:rPr>
              <a:t>four </a:t>
            </a:r>
            <a:r>
              <a:rPr dirty="0" u="heavy" sz="1200" spc="-5" b="1" i="1">
                <a:solidFill>
                  <a:srgbClr val="221F1F"/>
                </a:solidFill>
                <a:uFill>
                  <a:solidFill>
                    <a:srgbClr val="221F1F"/>
                  </a:solidFill>
                </a:uFill>
                <a:latin typeface="Arial"/>
                <a:cs typeface="Arial"/>
              </a:rPr>
              <a:t>bases </a:t>
            </a:r>
            <a:r>
              <a:rPr dirty="0" u="heavy" sz="1200" b="1" i="1">
                <a:solidFill>
                  <a:srgbClr val="221F1F"/>
                </a:solidFill>
                <a:uFill>
                  <a:solidFill>
                    <a:srgbClr val="221F1F"/>
                  </a:solidFill>
                </a:uFill>
                <a:latin typeface="Arial"/>
                <a:cs typeface="Arial"/>
              </a:rPr>
              <a:t>of </a:t>
            </a:r>
            <a:r>
              <a:rPr dirty="0" u="heavy" sz="1200" spc="-5" b="1" i="1">
                <a:solidFill>
                  <a:srgbClr val="221F1F"/>
                </a:solidFill>
                <a:uFill>
                  <a:solidFill>
                    <a:srgbClr val="221F1F"/>
                  </a:solidFill>
                </a:uFill>
                <a:latin typeface="Arial"/>
                <a:cs typeface="Arial"/>
              </a:rPr>
              <a:t>the Shari`ah and the relationship </a:t>
            </a:r>
            <a:r>
              <a:rPr dirty="0" u="heavy" sz="1200" b="1" i="1">
                <a:solidFill>
                  <a:srgbClr val="221F1F"/>
                </a:solidFill>
                <a:uFill>
                  <a:solidFill>
                    <a:srgbClr val="221F1F"/>
                  </a:solidFill>
                </a:uFill>
                <a:latin typeface="Arial"/>
                <a:cs typeface="Arial"/>
              </a:rPr>
              <a:t>between</a:t>
            </a:r>
            <a:r>
              <a:rPr dirty="0" u="heavy" sz="1200" spc="100" b="1" i="1">
                <a:solidFill>
                  <a:srgbClr val="221F1F"/>
                </a:solidFill>
                <a:uFill>
                  <a:solidFill>
                    <a:srgbClr val="221F1F"/>
                  </a:solidFill>
                </a:uFill>
                <a:latin typeface="Arial"/>
                <a:cs typeface="Arial"/>
              </a:rPr>
              <a:t> </a:t>
            </a:r>
            <a:r>
              <a:rPr dirty="0" u="heavy" sz="1200" spc="-5" b="1" i="1">
                <a:solidFill>
                  <a:srgbClr val="221F1F"/>
                </a:solidFill>
                <a:uFill>
                  <a:solidFill>
                    <a:srgbClr val="221F1F"/>
                  </a:solidFill>
                </a:uFill>
                <a:latin typeface="Arial"/>
                <a:cs typeface="Arial"/>
              </a:rPr>
              <a:t>them</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They (Qur‘an, Hadith, Ijma‘ and Qiyas) </a:t>
            </a:r>
            <a:r>
              <a:rPr dirty="0" sz="1200">
                <a:latin typeface="Arial"/>
                <a:cs typeface="Arial"/>
              </a:rPr>
              <a:t>are </a:t>
            </a:r>
            <a:r>
              <a:rPr dirty="0" sz="1200" spc="-5">
                <a:latin typeface="Arial"/>
                <a:cs typeface="Arial"/>
              </a:rPr>
              <a:t>our </a:t>
            </a:r>
            <a:r>
              <a:rPr dirty="0" sz="1200">
                <a:latin typeface="Arial"/>
                <a:cs typeface="Arial"/>
              </a:rPr>
              <a:t>code </a:t>
            </a:r>
            <a:r>
              <a:rPr dirty="0" sz="1200" spc="-5">
                <a:latin typeface="Arial"/>
                <a:cs typeface="Arial"/>
              </a:rPr>
              <a:t>of</a:t>
            </a:r>
            <a:r>
              <a:rPr dirty="0" sz="1200" spc="15">
                <a:latin typeface="Arial"/>
                <a:cs typeface="Arial"/>
              </a:rPr>
              <a:t> </a:t>
            </a:r>
            <a:r>
              <a:rPr dirty="0" sz="1200" spc="-5">
                <a:latin typeface="Arial"/>
                <a:cs typeface="Arial"/>
              </a:rPr>
              <a:t>conduct</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Islamic </a:t>
            </a:r>
            <a:r>
              <a:rPr dirty="0" sz="1200" spc="-10">
                <a:latin typeface="Arial"/>
                <a:cs typeface="Arial"/>
              </a:rPr>
              <a:t>Laws </a:t>
            </a:r>
            <a:r>
              <a:rPr dirty="0" sz="1200" spc="-5">
                <a:latin typeface="Arial"/>
                <a:cs typeface="Arial"/>
              </a:rPr>
              <a:t>regulating Halal </a:t>
            </a:r>
            <a:r>
              <a:rPr dirty="0" sz="1200">
                <a:latin typeface="Arial"/>
                <a:cs typeface="Arial"/>
              </a:rPr>
              <a:t>and </a:t>
            </a:r>
            <a:r>
              <a:rPr dirty="0" sz="1200" spc="-5">
                <a:latin typeface="Arial"/>
                <a:cs typeface="Arial"/>
              </a:rPr>
              <a:t>Haram are found</a:t>
            </a:r>
            <a:r>
              <a:rPr dirty="0" sz="1200" spc="10">
                <a:latin typeface="Arial"/>
                <a:cs typeface="Arial"/>
              </a:rPr>
              <a:t> </a:t>
            </a:r>
            <a:r>
              <a:rPr dirty="0" sz="1200" spc="-5">
                <a:latin typeface="Arial"/>
                <a:cs typeface="Arial"/>
              </a:rPr>
              <a:t>therein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Explanation on </a:t>
            </a:r>
            <a:r>
              <a:rPr dirty="0" sz="1200">
                <a:latin typeface="Arial"/>
                <a:cs typeface="Arial"/>
              </a:rPr>
              <a:t>how </a:t>
            </a:r>
            <a:r>
              <a:rPr dirty="0" sz="1200" spc="-5">
                <a:latin typeface="Arial"/>
                <a:cs typeface="Arial"/>
              </a:rPr>
              <a:t>each one of them is important to</a:t>
            </a:r>
            <a:r>
              <a:rPr dirty="0" sz="1200" spc="30">
                <a:latin typeface="Arial"/>
                <a:cs typeface="Arial"/>
              </a:rPr>
              <a:t> </a:t>
            </a:r>
            <a:r>
              <a:rPr dirty="0" sz="1200" spc="-5">
                <a:latin typeface="Arial"/>
                <a:cs typeface="Arial"/>
              </a:rPr>
              <a:t>Muslims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a:t>
            </a:r>
            <a:r>
              <a:rPr dirty="0" sz="1200">
                <a:latin typeface="Arial"/>
                <a:cs typeface="Arial"/>
              </a:rPr>
              <a:t>are </a:t>
            </a:r>
            <a:r>
              <a:rPr dirty="0" sz="1200" spc="-5">
                <a:latin typeface="Arial"/>
                <a:cs typeface="Arial"/>
              </a:rPr>
              <a:t>related through their </a:t>
            </a:r>
            <a:r>
              <a:rPr dirty="0" sz="1200">
                <a:latin typeface="Arial"/>
                <a:cs typeface="Arial"/>
              </a:rPr>
              <a:t>roles – </a:t>
            </a:r>
            <a:r>
              <a:rPr dirty="0" sz="1200" spc="-5">
                <a:latin typeface="Arial"/>
                <a:cs typeface="Arial"/>
              </a:rPr>
              <a:t>they link each</a:t>
            </a:r>
            <a:r>
              <a:rPr dirty="0" sz="1200" spc="-15">
                <a:latin typeface="Arial"/>
                <a:cs typeface="Arial"/>
              </a:rPr>
              <a:t> </a:t>
            </a:r>
            <a:r>
              <a:rPr dirty="0" sz="1200" spc="-5">
                <a:latin typeface="Arial"/>
                <a:cs typeface="Arial"/>
              </a:rPr>
              <a:t>other</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Without the Qur‘an there is </a:t>
            </a:r>
            <a:r>
              <a:rPr dirty="0" sz="1200">
                <a:latin typeface="Arial"/>
                <a:cs typeface="Arial"/>
              </a:rPr>
              <a:t>no Sunnah </a:t>
            </a:r>
            <a:r>
              <a:rPr dirty="0" sz="1200" spc="-5">
                <a:latin typeface="Arial"/>
                <a:cs typeface="Arial"/>
              </a:rPr>
              <a:t>and</a:t>
            </a:r>
            <a:r>
              <a:rPr dirty="0" sz="1200" spc="-10">
                <a:latin typeface="Arial"/>
                <a:cs typeface="Arial"/>
              </a:rPr>
              <a:t> </a:t>
            </a:r>
            <a:r>
              <a:rPr dirty="0" sz="1200" spc="-5">
                <a:latin typeface="Arial"/>
                <a:cs typeface="Arial"/>
              </a:rPr>
              <a:t>Hadith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Sunnah and the Hadith are practical aspects of the</a:t>
            </a:r>
            <a:r>
              <a:rPr dirty="0" sz="1200" spc="55">
                <a:latin typeface="Arial"/>
                <a:cs typeface="Arial"/>
              </a:rPr>
              <a:t> </a:t>
            </a:r>
            <a:r>
              <a:rPr dirty="0" sz="1200" spc="-5">
                <a:latin typeface="Arial"/>
                <a:cs typeface="Arial"/>
              </a:rPr>
              <a:t>Qur‘an</a:t>
            </a:r>
            <a:endParaRPr sz="1200">
              <a:latin typeface="Arial"/>
              <a:cs typeface="Arial"/>
            </a:endParaRPr>
          </a:p>
          <a:p>
            <a:pPr marL="469900" marR="5715" indent="-228600">
              <a:lnSpc>
                <a:spcPts val="1380"/>
              </a:lnSpc>
              <a:spcBef>
                <a:spcPts val="65"/>
              </a:spcBef>
              <a:buAutoNum type="arabicPeriod"/>
              <a:tabLst>
                <a:tab pos="470534" algn="l"/>
              </a:tabLst>
            </a:pPr>
            <a:r>
              <a:rPr dirty="0" sz="1200" spc="-5">
                <a:latin typeface="Arial"/>
                <a:cs typeface="Arial"/>
              </a:rPr>
              <a:t>Without the Qur‘an and the Sunnah (being the primary </a:t>
            </a:r>
            <a:r>
              <a:rPr dirty="0" sz="1200" spc="5">
                <a:latin typeface="Arial"/>
                <a:cs typeface="Arial"/>
              </a:rPr>
              <a:t>sources) </a:t>
            </a:r>
            <a:r>
              <a:rPr dirty="0" sz="1200" spc="-5">
                <a:latin typeface="Arial"/>
                <a:cs typeface="Arial"/>
              </a:rPr>
              <a:t>there is no secondary  source</a:t>
            </a:r>
            <a:endParaRPr sz="1200">
              <a:latin typeface="Arial"/>
              <a:cs typeface="Arial"/>
            </a:endParaRPr>
          </a:p>
          <a:p>
            <a:pPr marL="469900" marR="12065" indent="-228600">
              <a:lnSpc>
                <a:spcPts val="1380"/>
              </a:lnSpc>
              <a:buAutoNum type="arabicPeriod"/>
              <a:tabLst>
                <a:tab pos="470534" algn="l"/>
              </a:tabLst>
            </a:pPr>
            <a:r>
              <a:rPr dirty="0" sz="1200" spc="-5">
                <a:latin typeface="Arial"/>
                <a:cs typeface="Arial"/>
              </a:rPr>
              <a:t>The Ijma‘ (consensus of </a:t>
            </a:r>
            <a:r>
              <a:rPr dirty="0" sz="1200">
                <a:latin typeface="Arial"/>
                <a:cs typeface="Arial"/>
              </a:rPr>
              <a:t>the </a:t>
            </a:r>
            <a:r>
              <a:rPr dirty="0" sz="1200" spc="-5">
                <a:latin typeface="Arial"/>
                <a:cs typeface="Arial"/>
              </a:rPr>
              <a:t>scholars) is based </a:t>
            </a:r>
            <a:r>
              <a:rPr dirty="0" sz="1200">
                <a:latin typeface="Arial"/>
                <a:cs typeface="Arial"/>
              </a:rPr>
              <a:t>on the </a:t>
            </a:r>
            <a:r>
              <a:rPr dirty="0" sz="1200" spc="-5">
                <a:latin typeface="Arial"/>
                <a:cs typeface="Arial"/>
              </a:rPr>
              <a:t>principles of Halal </a:t>
            </a:r>
            <a:r>
              <a:rPr dirty="0" sz="1200">
                <a:latin typeface="Arial"/>
                <a:cs typeface="Arial"/>
              </a:rPr>
              <a:t>and </a:t>
            </a:r>
            <a:r>
              <a:rPr dirty="0" sz="1200" spc="-5">
                <a:latin typeface="Arial"/>
                <a:cs typeface="Arial"/>
              </a:rPr>
              <a:t>Haram of  </a:t>
            </a:r>
            <a:r>
              <a:rPr dirty="0" sz="1200">
                <a:latin typeface="Arial"/>
                <a:cs typeface="Arial"/>
              </a:rPr>
              <a:t>the </a:t>
            </a:r>
            <a:r>
              <a:rPr dirty="0" sz="1200" spc="-5">
                <a:latin typeface="Arial"/>
                <a:cs typeface="Arial"/>
              </a:rPr>
              <a:t>primary</a:t>
            </a:r>
            <a:r>
              <a:rPr dirty="0" sz="1200" spc="-30">
                <a:latin typeface="Arial"/>
                <a:cs typeface="Arial"/>
              </a:rPr>
              <a:t> </a:t>
            </a:r>
            <a:r>
              <a:rPr dirty="0" sz="1200">
                <a:latin typeface="Arial"/>
                <a:cs typeface="Arial"/>
              </a:rPr>
              <a:t>sources</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Without the Primary </a:t>
            </a:r>
            <a:r>
              <a:rPr dirty="0" sz="1200">
                <a:latin typeface="Arial"/>
                <a:cs typeface="Arial"/>
              </a:rPr>
              <a:t>sources </a:t>
            </a:r>
            <a:r>
              <a:rPr dirty="0" sz="1200" spc="-5">
                <a:latin typeface="Arial"/>
                <a:cs typeface="Arial"/>
              </a:rPr>
              <a:t>and the Ijma‘ there is </a:t>
            </a:r>
            <a:r>
              <a:rPr dirty="0" sz="1200">
                <a:latin typeface="Arial"/>
                <a:cs typeface="Arial"/>
              </a:rPr>
              <a:t>no </a:t>
            </a:r>
            <a:r>
              <a:rPr dirty="0" sz="1200" spc="-5">
                <a:latin typeface="Arial"/>
                <a:cs typeface="Arial"/>
              </a:rPr>
              <a:t>Qiyas and</a:t>
            </a:r>
            <a:r>
              <a:rPr dirty="0" sz="1200" spc="50">
                <a:latin typeface="Arial"/>
                <a:cs typeface="Arial"/>
              </a:rPr>
              <a:t> </a:t>
            </a:r>
            <a:r>
              <a:rPr dirty="0" sz="1200" spc="-5">
                <a:latin typeface="Arial"/>
                <a:cs typeface="Arial"/>
              </a:rPr>
              <a:t>Ijtihad</a:t>
            </a:r>
            <a:endParaRPr sz="1200">
              <a:latin typeface="Arial"/>
              <a:cs typeface="Arial"/>
            </a:endParaRPr>
          </a:p>
          <a:p>
            <a:pPr marL="469900" marR="5080" indent="-228600">
              <a:lnSpc>
                <a:spcPts val="1380"/>
              </a:lnSpc>
              <a:spcBef>
                <a:spcPts val="65"/>
              </a:spcBef>
              <a:buAutoNum type="arabicPeriod"/>
              <a:tabLst>
                <a:tab pos="470534" algn="l"/>
              </a:tabLst>
            </a:pPr>
            <a:r>
              <a:rPr dirty="0" sz="1200" spc="-5">
                <a:latin typeface="Arial"/>
                <a:cs typeface="Arial"/>
              </a:rPr>
              <a:t>The Qiyas is </a:t>
            </a:r>
            <a:r>
              <a:rPr dirty="0" sz="1200">
                <a:latin typeface="Arial"/>
                <a:cs typeface="Arial"/>
              </a:rPr>
              <a:t>the </a:t>
            </a:r>
            <a:r>
              <a:rPr dirty="0" sz="1200" spc="-5">
                <a:latin typeface="Arial"/>
                <a:cs typeface="Arial"/>
              </a:rPr>
              <a:t>examination of the </a:t>
            </a:r>
            <a:r>
              <a:rPr dirty="0" sz="1200">
                <a:latin typeface="Arial"/>
                <a:cs typeface="Arial"/>
              </a:rPr>
              <a:t>Ijma‘ </a:t>
            </a:r>
            <a:r>
              <a:rPr dirty="0" sz="1200" spc="-5">
                <a:latin typeface="Arial"/>
                <a:cs typeface="Arial"/>
              </a:rPr>
              <a:t>of all previous periods </a:t>
            </a:r>
            <a:r>
              <a:rPr dirty="0" sz="1200">
                <a:latin typeface="Arial"/>
                <a:cs typeface="Arial"/>
              </a:rPr>
              <a:t>– the </a:t>
            </a:r>
            <a:r>
              <a:rPr dirty="0" sz="1200" spc="-5">
                <a:latin typeface="Arial"/>
                <a:cs typeface="Arial"/>
              </a:rPr>
              <a:t>analogical  deduction</a:t>
            </a:r>
            <a:endParaRPr sz="1200">
              <a:latin typeface="Arial"/>
              <a:cs typeface="Arial"/>
            </a:endParaRPr>
          </a:p>
          <a:p>
            <a:pPr marL="469900" indent="-229235">
              <a:lnSpc>
                <a:spcPts val="1345"/>
              </a:lnSpc>
              <a:buAutoNum type="arabicPeriod"/>
              <a:tabLst>
                <a:tab pos="470534" algn="l"/>
              </a:tabLst>
            </a:pPr>
            <a:r>
              <a:rPr dirty="0" sz="1200" spc="-5">
                <a:latin typeface="Arial"/>
                <a:cs typeface="Arial"/>
              </a:rPr>
              <a:t>No Fatwa (juristic judgement) can be issued without </a:t>
            </a:r>
            <a:r>
              <a:rPr dirty="0" sz="1200">
                <a:latin typeface="Arial"/>
                <a:cs typeface="Arial"/>
              </a:rPr>
              <a:t>the </a:t>
            </a:r>
            <a:r>
              <a:rPr dirty="0" sz="1200" spc="-5">
                <a:latin typeface="Arial"/>
                <a:cs typeface="Arial"/>
              </a:rPr>
              <a:t>bases of</a:t>
            </a:r>
            <a:r>
              <a:rPr dirty="0" sz="1200" spc="40">
                <a:latin typeface="Arial"/>
                <a:cs typeface="Arial"/>
              </a:rPr>
              <a:t> </a:t>
            </a:r>
            <a:r>
              <a:rPr dirty="0" sz="1200" spc="-5">
                <a:latin typeface="Arial"/>
                <a:cs typeface="Arial"/>
              </a:rPr>
              <a:t>Shari‘ah</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70" b="1" i="1">
                <a:uFill>
                  <a:solidFill>
                    <a:srgbClr val="000000"/>
                  </a:solidFill>
                </a:uFill>
                <a:latin typeface="Arial"/>
                <a:cs typeface="Arial"/>
              </a:rPr>
              <a:t>„The </a:t>
            </a:r>
            <a:r>
              <a:rPr dirty="0" u="heavy" sz="1200" b="1" i="1">
                <a:uFill>
                  <a:solidFill>
                    <a:srgbClr val="000000"/>
                  </a:solidFill>
                </a:uFill>
                <a:latin typeface="Arial"/>
                <a:cs typeface="Arial"/>
              </a:rPr>
              <a:t>Sunnah of </a:t>
            </a:r>
            <a:r>
              <a:rPr dirty="0" u="heavy" sz="1200" spc="-5" b="1" i="1">
                <a:uFill>
                  <a:solidFill>
                    <a:srgbClr val="000000"/>
                  </a:solidFill>
                </a:uFill>
                <a:latin typeface="Arial"/>
                <a:cs typeface="Arial"/>
              </a:rPr>
              <a:t>the Prophet </a:t>
            </a:r>
            <a:r>
              <a:rPr dirty="0" u="heavy" sz="1200" b="1" i="1">
                <a:uFill>
                  <a:solidFill>
                    <a:srgbClr val="000000"/>
                  </a:solidFill>
                </a:uFill>
                <a:latin typeface="Arial"/>
                <a:cs typeface="Arial"/>
              </a:rPr>
              <a:t>is a human </a:t>
            </a:r>
            <a:r>
              <a:rPr dirty="0" u="heavy" sz="1200" spc="-5" b="1" i="1">
                <a:uFill>
                  <a:solidFill>
                    <a:srgbClr val="000000"/>
                  </a:solidFill>
                </a:uFill>
                <a:latin typeface="Arial"/>
                <a:cs typeface="Arial"/>
              </a:rPr>
              <a:t>implementation </a:t>
            </a:r>
            <a:r>
              <a:rPr dirty="0" u="heavy" sz="1200" b="1" i="1">
                <a:uFill>
                  <a:solidFill>
                    <a:srgbClr val="000000"/>
                  </a:solidFill>
                </a:uFill>
                <a:latin typeface="Arial"/>
                <a:cs typeface="Arial"/>
              </a:rPr>
              <a:t>of the </a:t>
            </a:r>
            <a:r>
              <a:rPr dirty="0" u="heavy" sz="1200" spc="-5" b="1" i="1">
                <a:uFill>
                  <a:solidFill>
                    <a:srgbClr val="000000"/>
                  </a:solidFill>
                </a:uFill>
                <a:latin typeface="Arial"/>
                <a:cs typeface="Arial"/>
              </a:rPr>
              <a:t>revealed </a:t>
            </a:r>
            <a:r>
              <a:rPr dirty="0" u="heavy" sz="1200" b="1" i="1">
                <a:uFill>
                  <a:solidFill>
                    <a:srgbClr val="000000"/>
                  </a:solidFill>
                </a:uFill>
                <a:latin typeface="Arial"/>
                <a:cs typeface="Arial"/>
              </a:rPr>
              <a:t>word of</a:t>
            </a:r>
            <a:r>
              <a:rPr dirty="0" u="heavy" sz="1200" spc="80" b="1" i="1">
                <a:uFill>
                  <a:solidFill>
                    <a:srgbClr val="000000"/>
                  </a:solidFill>
                </a:uFill>
                <a:latin typeface="Arial"/>
                <a:cs typeface="Arial"/>
              </a:rPr>
              <a:t> </a:t>
            </a:r>
            <a:r>
              <a:rPr dirty="0" u="heavy" sz="1200" spc="-55" b="1" i="1">
                <a:uFill>
                  <a:solidFill>
                    <a:srgbClr val="000000"/>
                  </a:solidFill>
                </a:uFill>
                <a:latin typeface="Arial"/>
                <a:cs typeface="Arial"/>
              </a:rPr>
              <a:t>God.‟</a:t>
            </a:r>
            <a:endParaRPr sz="1200">
              <a:latin typeface="Arial"/>
              <a:cs typeface="Arial"/>
            </a:endParaRPr>
          </a:p>
          <a:p>
            <a:pPr>
              <a:lnSpc>
                <a:spcPct val="100000"/>
              </a:lnSpc>
              <a:spcBef>
                <a:spcPts val="35"/>
              </a:spcBef>
            </a:pPr>
            <a:endParaRPr sz="1200">
              <a:latin typeface="Arial"/>
              <a:cs typeface="Arial"/>
            </a:endParaRPr>
          </a:p>
          <a:p>
            <a:pPr algn="just" marL="469900" marR="5080" indent="-228600">
              <a:lnSpc>
                <a:spcPts val="1380"/>
              </a:lnSpc>
              <a:buAutoNum type="arabicPeriod"/>
              <a:tabLst>
                <a:tab pos="470534" algn="l"/>
              </a:tabLst>
            </a:pPr>
            <a:r>
              <a:rPr dirty="0" sz="1200" spc="-5">
                <a:latin typeface="Arial"/>
                <a:cs typeface="Arial"/>
              </a:rPr>
              <a:t>Allah says: </a:t>
            </a:r>
            <a:r>
              <a:rPr dirty="0" sz="1200">
                <a:latin typeface="Arial"/>
                <a:cs typeface="Arial"/>
              </a:rPr>
              <a:t>By </a:t>
            </a:r>
            <a:r>
              <a:rPr dirty="0" sz="1200" spc="-5">
                <a:latin typeface="Arial"/>
                <a:cs typeface="Arial"/>
              </a:rPr>
              <a:t>the </a:t>
            </a:r>
            <a:r>
              <a:rPr dirty="0" sz="1200">
                <a:latin typeface="Arial"/>
                <a:cs typeface="Arial"/>
              </a:rPr>
              <a:t>Star </a:t>
            </a:r>
            <a:r>
              <a:rPr dirty="0" sz="1200" spc="-5">
                <a:latin typeface="Arial"/>
                <a:cs typeface="Arial"/>
              </a:rPr>
              <a:t>when </a:t>
            </a:r>
            <a:r>
              <a:rPr dirty="0" sz="1200">
                <a:latin typeface="Arial"/>
                <a:cs typeface="Arial"/>
              </a:rPr>
              <a:t>it </a:t>
            </a:r>
            <a:r>
              <a:rPr dirty="0" sz="1200" spc="-5">
                <a:latin typeface="Arial"/>
                <a:cs typeface="Arial"/>
              </a:rPr>
              <a:t>sets. Your comrade errs </a:t>
            </a:r>
            <a:r>
              <a:rPr dirty="0" sz="1200">
                <a:latin typeface="Arial"/>
                <a:cs typeface="Arial"/>
              </a:rPr>
              <a:t>not, </a:t>
            </a:r>
            <a:r>
              <a:rPr dirty="0" sz="1200" spc="-5">
                <a:latin typeface="Arial"/>
                <a:cs typeface="Arial"/>
              </a:rPr>
              <a:t>nor is deceived. </a:t>
            </a:r>
            <a:r>
              <a:rPr dirty="0" sz="1200" spc="-10">
                <a:latin typeface="Arial"/>
                <a:cs typeface="Arial"/>
              </a:rPr>
              <a:t>Nor doth  </a:t>
            </a:r>
            <a:r>
              <a:rPr dirty="0" sz="1200" spc="-5">
                <a:latin typeface="Arial"/>
                <a:cs typeface="Arial"/>
              </a:rPr>
              <a:t>he speak of (his own) desire. </a:t>
            </a:r>
            <a:r>
              <a:rPr dirty="0" sz="1200">
                <a:latin typeface="Arial"/>
                <a:cs typeface="Arial"/>
              </a:rPr>
              <a:t>It </a:t>
            </a:r>
            <a:r>
              <a:rPr dirty="0" sz="1200" spc="-5">
                <a:latin typeface="Arial"/>
                <a:cs typeface="Arial"/>
              </a:rPr>
              <a:t>is naught save an inspiration </a:t>
            </a:r>
            <a:r>
              <a:rPr dirty="0" sz="1200">
                <a:latin typeface="Arial"/>
                <a:cs typeface="Arial"/>
              </a:rPr>
              <a:t>that </a:t>
            </a:r>
            <a:r>
              <a:rPr dirty="0" sz="1200" spc="-5">
                <a:latin typeface="Arial"/>
                <a:cs typeface="Arial"/>
              </a:rPr>
              <a:t>is inspired. </a:t>
            </a:r>
            <a:r>
              <a:rPr dirty="0" sz="1200" spc="15">
                <a:latin typeface="Arial"/>
                <a:cs typeface="Arial"/>
              </a:rPr>
              <a:t>Which  </a:t>
            </a:r>
            <a:r>
              <a:rPr dirty="0" sz="1200" spc="-5">
                <a:latin typeface="Arial"/>
                <a:cs typeface="Arial"/>
              </a:rPr>
              <a:t>one of mighty powers </a:t>
            </a:r>
            <a:r>
              <a:rPr dirty="0" sz="1200">
                <a:latin typeface="Arial"/>
                <a:cs typeface="Arial"/>
              </a:rPr>
              <a:t>hath </a:t>
            </a:r>
            <a:r>
              <a:rPr dirty="0" sz="1200" spc="-5">
                <a:latin typeface="Arial"/>
                <a:cs typeface="Arial"/>
              </a:rPr>
              <a:t>taught him. (53:</a:t>
            </a:r>
            <a:r>
              <a:rPr dirty="0" sz="1200" spc="5">
                <a:latin typeface="Arial"/>
                <a:cs typeface="Arial"/>
              </a:rPr>
              <a:t> </a:t>
            </a:r>
            <a:r>
              <a:rPr dirty="0" sz="1200">
                <a:latin typeface="Arial"/>
                <a:cs typeface="Arial"/>
              </a:rPr>
              <a:t>1-5)</a:t>
            </a:r>
            <a:endParaRPr sz="1200">
              <a:latin typeface="Arial"/>
              <a:cs typeface="Arial"/>
            </a:endParaRPr>
          </a:p>
          <a:p>
            <a:pPr algn="just" marL="469900" marR="5080" indent="-228600">
              <a:lnSpc>
                <a:spcPts val="1380"/>
              </a:lnSpc>
              <a:buAutoNum type="arabicPeriod"/>
              <a:tabLst>
                <a:tab pos="470534" algn="l"/>
              </a:tabLst>
            </a:pPr>
            <a:r>
              <a:rPr dirty="0" sz="1200">
                <a:latin typeface="Arial"/>
                <a:cs typeface="Arial"/>
              </a:rPr>
              <a:t>O </a:t>
            </a:r>
            <a:r>
              <a:rPr dirty="0" sz="1200" spc="-10">
                <a:latin typeface="Arial"/>
                <a:cs typeface="Arial"/>
              </a:rPr>
              <a:t>ye who </a:t>
            </a:r>
            <a:r>
              <a:rPr dirty="0" sz="1200" spc="-5">
                <a:latin typeface="Arial"/>
                <a:cs typeface="Arial"/>
              </a:rPr>
              <a:t>believe! Obey Allah and His messenger, and turn not away </a:t>
            </a:r>
            <a:r>
              <a:rPr dirty="0" sz="1200">
                <a:latin typeface="Arial"/>
                <a:cs typeface="Arial"/>
              </a:rPr>
              <a:t>from </a:t>
            </a:r>
            <a:r>
              <a:rPr dirty="0" sz="1200" spc="-10">
                <a:latin typeface="Arial"/>
                <a:cs typeface="Arial"/>
              </a:rPr>
              <a:t>him when  ye </a:t>
            </a:r>
            <a:r>
              <a:rPr dirty="0" sz="1200" spc="-5">
                <a:latin typeface="Arial"/>
                <a:cs typeface="Arial"/>
              </a:rPr>
              <a:t>hear (him speak). Be not as </a:t>
            </a:r>
            <a:r>
              <a:rPr dirty="0" sz="1200" spc="-10">
                <a:latin typeface="Arial"/>
                <a:cs typeface="Arial"/>
              </a:rPr>
              <a:t>those who </a:t>
            </a:r>
            <a:r>
              <a:rPr dirty="0" sz="1200" spc="-5">
                <a:latin typeface="Arial"/>
                <a:cs typeface="Arial"/>
              </a:rPr>
              <a:t>say, </a:t>
            </a:r>
            <a:r>
              <a:rPr dirty="0" sz="1200" spc="20">
                <a:latin typeface="Arial"/>
                <a:cs typeface="Arial"/>
              </a:rPr>
              <a:t>We </a:t>
            </a:r>
            <a:r>
              <a:rPr dirty="0" sz="1200" spc="-5">
                <a:latin typeface="Arial"/>
                <a:cs typeface="Arial"/>
              </a:rPr>
              <a:t>hear, and they hear </a:t>
            </a:r>
            <a:r>
              <a:rPr dirty="0" sz="1200">
                <a:latin typeface="Arial"/>
                <a:cs typeface="Arial"/>
              </a:rPr>
              <a:t>not. (8: </a:t>
            </a:r>
            <a:r>
              <a:rPr dirty="0" sz="1200" spc="-5">
                <a:latin typeface="Arial"/>
                <a:cs typeface="Arial"/>
              </a:rPr>
              <a:t>20 </a:t>
            </a:r>
            <a:r>
              <a:rPr dirty="0" sz="1200">
                <a:latin typeface="Arial"/>
                <a:cs typeface="Arial"/>
              </a:rPr>
              <a:t>–  </a:t>
            </a:r>
            <a:r>
              <a:rPr dirty="0" sz="1200" spc="-5">
                <a:latin typeface="Arial"/>
                <a:cs typeface="Arial"/>
              </a:rPr>
              <a:t>21)</a:t>
            </a:r>
            <a:endParaRPr sz="1200">
              <a:latin typeface="Arial"/>
              <a:cs typeface="Arial"/>
            </a:endParaRPr>
          </a:p>
          <a:p>
            <a:pPr algn="just" marL="469900" indent="-229235">
              <a:lnSpc>
                <a:spcPts val="1315"/>
              </a:lnSpc>
              <a:buAutoNum type="arabicPeriod"/>
              <a:tabLst>
                <a:tab pos="470534" algn="l"/>
              </a:tabLst>
            </a:pPr>
            <a:r>
              <a:rPr dirty="0" sz="1200" spc="-5">
                <a:latin typeface="Arial"/>
                <a:cs typeface="Arial"/>
              </a:rPr>
              <a:t>The Qur‘an is the Theoretical </a:t>
            </a:r>
            <a:r>
              <a:rPr dirty="0" sz="1200">
                <a:latin typeface="Arial"/>
                <a:cs typeface="Arial"/>
              </a:rPr>
              <a:t>part </a:t>
            </a:r>
            <a:r>
              <a:rPr dirty="0" sz="1200" spc="-5">
                <a:latin typeface="Arial"/>
                <a:cs typeface="Arial"/>
              </a:rPr>
              <a:t>of Islam and the Sunnah is </a:t>
            </a:r>
            <a:r>
              <a:rPr dirty="0" sz="1200">
                <a:latin typeface="Arial"/>
                <a:cs typeface="Arial"/>
              </a:rPr>
              <a:t>its </a:t>
            </a:r>
            <a:r>
              <a:rPr dirty="0" sz="1200" spc="-5">
                <a:latin typeface="Arial"/>
                <a:cs typeface="Arial"/>
              </a:rPr>
              <a:t>practical</a:t>
            </a:r>
            <a:r>
              <a:rPr dirty="0" sz="1200" spc="50">
                <a:latin typeface="Arial"/>
                <a:cs typeface="Arial"/>
              </a:rPr>
              <a:t> </a:t>
            </a:r>
            <a:r>
              <a:rPr dirty="0" sz="1200">
                <a:latin typeface="Arial"/>
                <a:cs typeface="Arial"/>
              </a:rPr>
              <a:t>part.</a:t>
            </a:r>
            <a:endParaRPr sz="1200">
              <a:latin typeface="Arial"/>
              <a:cs typeface="Arial"/>
            </a:endParaRPr>
          </a:p>
          <a:p>
            <a:pPr algn="just" marL="469900" indent="-229235">
              <a:lnSpc>
                <a:spcPts val="1380"/>
              </a:lnSpc>
              <a:buAutoNum type="arabicPeriod"/>
              <a:tabLst>
                <a:tab pos="470534" algn="l"/>
              </a:tabLst>
            </a:pPr>
            <a:r>
              <a:rPr dirty="0" sz="1200" spc="-5">
                <a:latin typeface="Arial"/>
                <a:cs typeface="Arial"/>
              </a:rPr>
              <a:t>The sunnah is an interpretation based on the prophet from the</a:t>
            </a:r>
            <a:r>
              <a:rPr dirty="0" sz="1200" spc="35">
                <a:latin typeface="Arial"/>
                <a:cs typeface="Arial"/>
              </a:rPr>
              <a:t> </a:t>
            </a:r>
            <a:r>
              <a:rPr dirty="0" sz="1200" spc="-5">
                <a:latin typeface="Arial"/>
                <a:cs typeface="Arial"/>
              </a:rPr>
              <a:t>Qur‘an</a:t>
            </a:r>
            <a:endParaRPr sz="1200">
              <a:latin typeface="Arial"/>
              <a:cs typeface="Arial"/>
            </a:endParaRPr>
          </a:p>
          <a:p>
            <a:pPr marL="469900" marR="6350" indent="-228600">
              <a:lnSpc>
                <a:spcPts val="1380"/>
              </a:lnSpc>
              <a:spcBef>
                <a:spcPts val="65"/>
              </a:spcBef>
              <a:buAutoNum type="arabicPeriod"/>
              <a:tabLst>
                <a:tab pos="470534" algn="l"/>
              </a:tabLst>
            </a:pPr>
            <a:r>
              <a:rPr dirty="0" sz="1200" spc="-5">
                <a:latin typeface="Arial"/>
                <a:cs typeface="Arial"/>
              </a:rPr>
              <a:t>All hadith and sunnah are from </a:t>
            </a:r>
            <a:r>
              <a:rPr dirty="0" sz="1200">
                <a:latin typeface="Arial"/>
                <a:cs typeface="Arial"/>
              </a:rPr>
              <a:t>the </a:t>
            </a:r>
            <a:r>
              <a:rPr dirty="0" sz="1200" spc="-5">
                <a:latin typeface="Arial"/>
                <a:cs typeface="Arial"/>
              </a:rPr>
              <a:t>divine words of Allah but in the words and actions  of the prophet</a:t>
            </a:r>
            <a:r>
              <a:rPr dirty="0" sz="1200" spc="15">
                <a:latin typeface="Arial"/>
                <a:cs typeface="Arial"/>
              </a:rPr>
              <a:t> </a:t>
            </a:r>
            <a:r>
              <a:rPr dirty="0" sz="1200" spc="-5">
                <a:latin typeface="Arial"/>
                <a:cs typeface="Arial"/>
              </a:rPr>
              <a:t>(s.a.w)</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How the prophet implement the words of </a:t>
            </a:r>
            <a:r>
              <a:rPr dirty="0" sz="1200">
                <a:latin typeface="Arial"/>
                <a:cs typeface="Arial"/>
              </a:rPr>
              <a:t>the </a:t>
            </a:r>
            <a:r>
              <a:rPr dirty="0" sz="1200" spc="-5">
                <a:latin typeface="Arial"/>
                <a:cs typeface="Arial"/>
              </a:rPr>
              <a:t>Qur‘an in </a:t>
            </a:r>
            <a:r>
              <a:rPr dirty="0" sz="1200">
                <a:latin typeface="Arial"/>
                <a:cs typeface="Arial"/>
              </a:rPr>
              <a:t>(his)</a:t>
            </a:r>
            <a:r>
              <a:rPr dirty="0" sz="1200" spc="15">
                <a:latin typeface="Arial"/>
                <a:cs typeface="Arial"/>
              </a:rPr>
              <a:t> </a:t>
            </a:r>
            <a:r>
              <a:rPr dirty="0" sz="1200" spc="-5">
                <a:latin typeface="Arial"/>
                <a:cs typeface="Arial"/>
              </a:rPr>
              <a:t>actions?</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Explanation on the importance of Sunnah in the life of a</a:t>
            </a:r>
            <a:r>
              <a:rPr dirty="0" sz="1200" spc="35">
                <a:latin typeface="Arial"/>
                <a:cs typeface="Arial"/>
              </a:rPr>
              <a:t> </a:t>
            </a:r>
            <a:r>
              <a:rPr dirty="0" sz="1200" spc="-5">
                <a:latin typeface="Arial"/>
                <a:cs typeface="Arial"/>
              </a:rPr>
              <a:t>Muslim</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Importance </a:t>
            </a:r>
            <a:r>
              <a:rPr dirty="0" u="heavy" sz="1200" b="1" i="1">
                <a:uFill>
                  <a:solidFill>
                    <a:srgbClr val="000000"/>
                  </a:solidFill>
                </a:uFill>
                <a:latin typeface="Arial"/>
                <a:cs typeface="Arial"/>
              </a:rPr>
              <a:t>of The</a:t>
            </a:r>
            <a:r>
              <a:rPr dirty="0" u="heavy" sz="1200" spc="-5" b="1" i="1">
                <a:uFill>
                  <a:solidFill>
                    <a:srgbClr val="000000"/>
                  </a:solidFill>
                </a:uFill>
                <a:latin typeface="Arial"/>
                <a:cs typeface="Arial"/>
              </a:rPr>
              <a:t> </a:t>
            </a:r>
            <a:r>
              <a:rPr dirty="0" u="heavy" sz="1200" spc="-50" b="1" i="1">
                <a:uFill>
                  <a:solidFill>
                    <a:srgbClr val="000000"/>
                  </a:solidFill>
                </a:uFill>
                <a:latin typeface="Arial"/>
                <a:cs typeface="Arial"/>
              </a:rPr>
              <a:t>Qur‟an</a:t>
            </a:r>
            <a:endParaRPr sz="1200">
              <a:latin typeface="Arial"/>
              <a:cs typeface="Arial"/>
            </a:endParaRPr>
          </a:p>
          <a:p>
            <a:pPr>
              <a:lnSpc>
                <a:spcPct val="100000"/>
              </a:lnSpc>
              <a:spcBef>
                <a:spcPts val="55"/>
              </a:spcBef>
            </a:pPr>
            <a:endParaRPr sz="1100">
              <a:latin typeface="Arial"/>
              <a:cs typeface="Arial"/>
            </a:endParaRPr>
          </a:p>
          <a:p>
            <a:pPr marL="469900" indent="-229235">
              <a:lnSpc>
                <a:spcPts val="1405"/>
              </a:lnSpc>
              <a:buAutoNum type="arabicPeriod"/>
              <a:tabLst>
                <a:tab pos="470534" algn="l"/>
              </a:tabLst>
            </a:pPr>
            <a:r>
              <a:rPr dirty="0" sz="1200" spc="-5">
                <a:latin typeface="Arial"/>
                <a:cs typeface="Arial"/>
              </a:rPr>
              <a:t>The message itself is</a:t>
            </a:r>
            <a:r>
              <a:rPr dirty="0" sz="1200" spc="10">
                <a:latin typeface="Arial"/>
                <a:cs typeface="Arial"/>
              </a:rPr>
              <a:t> </a:t>
            </a:r>
            <a:r>
              <a:rPr dirty="0" sz="1200" spc="-5">
                <a:latin typeface="Arial"/>
                <a:cs typeface="Arial"/>
              </a:rPr>
              <a:t>divine</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The Qur‘an is </a:t>
            </a:r>
            <a:r>
              <a:rPr dirty="0" sz="1200">
                <a:latin typeface="Arial"/>
                <a:cs typeface="Arial"/>
              </a:rPr>
              <a:t>a </a:t>
            </a:r>
            <a:r>
              <a:rPr dirty="0" sz="1200" spc="-5">
                <a:latin typeface="Arial"/>
                <a:cs typeface="Arial"/>
              </a:rPr>
              <a:t>book of guidance </a:t>
            </a:r>
            <a:r>
              <a:rPr dirty="0" sz="1200">
                <a:latin typeface="Arial"/>
                <a:cs typeface="Arial"/>
              </a:rPr>
              <a:t>for </a:t>
            </a:r>
            <a:r>
              <a:rPr dirty="0" sz="1200" spc="-5">
                <a:latin typeface="Arial"/>
                <a:cs typeface="Arial"/>
              </a:rPr>
              <a:t>all</a:t>
            </a:r>
            <a:r>
              <a:rPr dirty="0" sz="1200" spc="-10">
                <a:latin typeface="Arial"/>
                <a:cs typeface="Arial"/>
              </a:rPr>
              <a:t> </a:t>
            </a:r>
            <a:r>
              <a:rPr dirty="0" sz="1200" spc="-5">
                <a:latin typeface="Arial"/>
                <a:cs typeface="Arial"/>
              </a:rPr>
              <a:t>generations.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enables people </a:t>
            </a:r>
            <a:r>
              <a:rPr dirty="0" sz="1200">
                <a:latin typeface="Arial"/>
                <a:cs typeface="Arial"/>
              </a:rPr>
              <a:t>to </a:t>
            </a:r>
            <a:r>
              <a:rPr dirty="0" sz="1200" spc="-5">
                <a:latin typeface="Arial"/>
                <a:cs typeface="Arial"/>
              </a:rPr>
              <a:t>a new </a:t>
            </a:r>
            <a:r>
              <a:rPr dirty="0" sz="1200">
                <a:latin typeface="Arial"/>
                <a:cs typeface="Arial"/>
              </a:rPr>
              <a:t>path </a:t>
            </a:r>
            <a:r>
              <a:rPr dirty="0" sz="1200" spc="-5">
                <a:latin typeface="Arial"/>
                <a:cs typeface="Arial"/>
              </a:rPr>
              <a:t>from darkness </a:t>
            </a:r>
            <a:r>
              <a:rPr dirty="0" sz="1200">
                <a:latin typeface="Arial"/>
                <a:cs typeface="Arial"/>
              </a:rPr>
              <a:t>to</a:t>
            </a:r>
            <a:r>
              <a:rPr dirty="0" sz="1200" spc="5">
                <a:latin typeface="Arial"/>
                <a:cs typeface="Arial"/>
              </a:rPr>
              <a:t> </a:t>
            </a:r>
            <a:r>
              <a:rPr dirty="0" sz="1200" spc="-5">
                <a:latin typeface="Arial"/>
                <a:cs typeface="Arial"/>
              </a:rPr>
              <a:t>light.</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allows </a:t>
            </a:r>
            <a:r>
              <a:rPr dirty="0" sz="1200">
                <a:latin typeface="Arial"/>
                <a:cs typeface="Arial"/>
              </a:rPr>
              <a:t>man to </a:t>
            </a:r>
            <a:r>
              <a:rPr dirty="0" sz="1200" spc="-5">
                <a:latin typeface="Arial"/>
                <a:cs typeface="Arial"/>
              </a:rPr>
              <a:t>be </a:t>
            </a:r>
            <a:r>
              <a:rPr dirty="0" sz="1200">
                <a:latin typeface="Arial"/>
                <a:cs typeface="Arial"/>
              </a:rPr>
              <a:t>far </a:t>
            </a:r>
            <a:r>
              <a:rPr dirty="0" sz="1200" spc="-5">
                <a:latin typeface="Arial"/>
                <a:cs typeface="Arial"/>
              </a:rPr>
              <a:t>from sins and to avoid</a:t>
            </a:r>
            <a:r>
              <a:rPr dirty="0" sz="1200" spc="-35">
                <a:latin typeface="Arial"/>
                <a:cs typeface="Arial"/>
              </a:rPr>
              <a:t> </a:t>
            </a:r>
            <a:r>
              <a:rPr dirty="0" sz="1200" spc="-5">
                <a:latin typeface="Arial"/>
                <a:cs typeface="Arial"/>
              </a:rPr>
              <a:t>pitfalls.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Qur‘an is </a:t>
            </a:r>
            <a:r>
              <a:rPr dirty="0" sz="1200">
                <a:latin typeface="Arial"/>
                <a:cs typeface="Arial"/>
              </a:rPr>
              <a:t>a </a:t>
            </a:r>
            <a:r>
              <a:rPr dirty="0" sz="1200" spc="-5">
                <a:latin typeface="Arial"/>
                <a:cs typeface="Arial"/>
              </a:rPr>
              <a:t>book of</a:t>
            </a:r>
            <a:r>
              <a:rPr dirty="0" sz="1200" spc="15">
                <a:latin typeface="Arial"/>
                <a:cs typeface="Arial"/>
              </a:rPr>
              <a:t> </a:t>
            </a:r>
            <a:r>
              <a:rPr dirty="0" sz="1200" spc="-5">
                <a:latin typeface="Arial"/>
                <a:cs typeface="Arial"/>
              </a:rPr>
              <a:t>spirituality.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Qur‘an is </a:t>
            </a:r>
            <a:r>
              <a:rPr dirty="0" sz="1200">
                <a:latin typeface="Arial"/>
                <a:cs typeface="Arial"/>
              </a:rPr>
              <a:t>a </a:t>
            </a:r>
            <a:r>
              <a:rPr dirty="0" sz="1200" spc="-5">
                <a:latin typeface="Arial"/>
                <a:cs typeface="Arial"/>
              </a:rPr>
              <a:t>total and complete code of</a:t>
            </a:r>
            <a:r>
              <a:rPr dirty="0" sz="1200" spc="20">
                <a:latin typeface="Arial"/>
                <a:cs typeface="Arial"/>
              </a:rPr>
              <a:t> </a:t>
            </a:r>
            <a:r>
              <a:rPr dirty="0" sz="1200" spc="-5">
                <a:latin typeface="Arial"/>
                <a:cs typeface="Arial"/>
              </a:rPr>
              <a:t>conduct.</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enables man to lead a life based </a:t>
            </a:r>
            <a:r>
              <a:rPr dirty="0" sz="1200">
                <a:latin typeface="Arial"/>
                <a:cs typeface="Arial"/>
              </a:rPr>
              <a:t>on </a:t>
            </a:r>
            <a:r>
              <a:rPr dirty="0" sz="1200" spc="-5">
                <a:latin typeface="Arial"/>
                <a:cs typeface="Arial"/>
              </a:rPr>
              <a:t>a </a:t>
            </a:r>
            <a:r>
              <a:rPr dirty="0" sz="1200">
                <a:latin typeface="Arial"/>
                <a:cs typeface="Arial"/>
              </a:rPr>
              <a:t>moral</a:t>
            </a:r>
            <a:r>
              <a:rPr dirty="0" sz="1200" spc="-5">
                <a:latin typeface="Arial"/>
                <a:cs typeface="Arial"/>
              </a:rPr>
              <a:t> discipline.</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is a mean of approaching</a:t>
            </a:r>
            <a:r>
              <a:rPr dirty="0" sz="1200" spc="5">
                <a:latin typeface="Arial"/>
                <a:cs typeface="Arial"/>
              </a:rPr>
              <a:t> </a:t>
            </a:r>
            <a:r>
              <a:rPr dirty="0" sz="1200" spc="-5">
                <a:latin typeface="Arial"/>
                <a:cs typeface="Arial"/>
              </a:rPr>
              <a:t>Allah.</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Its </a:t>
            </a:r>
            <a:r>
              <a:rPr dirty="0" sz="1200" spc="-5">
                <a:latin typeface="Arial"/>
                <a:cs typeface="Arial"/>
              </a:rPr>
              <a:t>readings purify the heart from sins and</a:t>
            </a:r>
            <a:r>
              <a:rPr dirty="0" sz="1200" spc="-15">
                <a:latin typeface="Arial"/>
                <a:cs typeface="Arial"/>
              </a:rPr>
              <a:t> </a:t>
            </a:r>
            <a:r>
              <a:rPr dirty="0" sz="1200">
                <a:latin typeface="Arial"/>
                <a:cs typeface="Arial"/>
              </a:rPr>
              <a:t>diseases.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eradicates doubts of human beings concerning the law of Halal and</a:t>
            </a:r>
            <a:r>
              <a:rPr dirty="0" sz="1200" spc="50">
                <a:latin typeface="Arial"/>
                <a:cs typeface="Arial"/>
              </a:rPr>
              <a:t> </a:t>
            </a:r>
            <a:r>
              <a:rPr dirty="0" sz="1200" spc="-5">
                <a:latin typeface="Arial"/>
                <a:cs typeface="Arial"/>
              </a:rPr>
              <a:t>Haram.</a:t>
            </a:r>
            <a:endParaRPr sz="1200">
              <a:latin typeface="Arial"/>
              <a:cs typeface="Arial"/>
            </a:endParaRPr>
          </a:p>
          <a:p>
            <a:pPr marL="469900" indent="-229235">
              <a:lnSpc>
                <a:spcPts val="1410"/>
              </a:lnSpc>
              <a:buAutoNum type="arabicPeriod"/>
              <a:tabLst>
                <a:tab pos="470534" algn="l"/>
              </a:tabLst>
            </a:pPr>
            <a:r>
              <a:rPr dirty="0" sz="1200">
                <a:latin typeface="Arial"/>
                <a:cs typeface="Arial"/>
              </a:rPr>
              <a:t>It </a:t>
            </a:r>
            <a:r>
              <a:rPr dirty="0" sz="1200" spc="-5">
                <a:latin typeface="Arial"/>
                <a:cs typeface="Arial"/>
              </a:rPr>
              <a:t>is a book without</a:t>
            </a:r>
            <a:r>
              <a:rPr dirty="0" sz="1200" spc="-10">
                <a:latin typeface="Arial"/>
                <a:cs typeface="Arial"/>
              </a:rPr>
              <a:t> </a:t>
            </a:r>
            <a:r>
              <a:rPr dirty="0" sz="1200" spc="-5">
                <a:latin typeface="Arial"/>
                <a:cs typeface="Arial"/>
              </a:rPr>
              <a:t>error.</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5" b="1">
                <a:uFill>
                  <a:solidFill>
                    <a:srgbClr val="000000"/>
                  </a:solidFill>
                </a:uFill>
                <a:latin typeface="Arial"/>
                <a:cs typeface="Arial"/>
              </a:rPr>
              <a:t>Syllabus 9013</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211195" y="9905322"/>
            <a:ext cx="5270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99</a:t>
            </a:r>
            <a:endParaRPr sz="1200">
              <a:latin typeface="Times New Roman"/>
              <a:cs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09995" cy="933831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marL="12700" marR="5080">
              <a:lnSpc>
                <a:spcPts val="1380"/>
              </a:lnSpc>
              <a:buClr>
                <a:srgbClr val="000000"/>
              </a:buClr>
              <a:buFont typeface="Arial"/>
              <a:buAutoNum type="arabicPlain" startAt="10"/>
              <a:tabLst>
                <a:tab pos="266065" algn="l"/>
              </a:tabLst>
            </a:pPr>
            <a:r>
              <a:rPr dirty="0" sz="1200" spc="-55">
                <a:solidFill>
                  <a:srgbClr val="221F1F"/>
                </a:solidFill>
                <a:latin typeface="Arial"/>
                <a:cs typeface="Arial"/>
              </a:rPr>
              <a:t>‗Without </a:t>
            </a:r>
            <a:r>
              <a:rPr dirty="0" sz="1200" spc="-5">
                <a:solidFill>
                  <a:srgbClr val="221F1F"/>
                </a:solidFill>
                <a:latin typeface="Arial"/>
                <a:cs typeface="Arial"/>
              </a:rPr>
              <a:t>the Sunnah </a:t>
            </a:r>
            <a:r>
              <a:rPr dirty="0" sz="1200">
                <a:solidFill>
                  <a:srgbClr val="221F1F"/>
                </a:solidFill>
                <a:latin typeface="Arial"/>
                <a:cs typeface="Arial"/>
              </a:rPr>
              <a:t>no one </a:t>
            </a:r>
            <a:r>
              <a:rPr dirty="0" sz="1200" spc="-5">
                <a:solidFill>
                  <a:srgbClr val="221F1F"/>
                </a:solidFill>
                <a:latin typeface="Arial"/>
                <a:cs typeface="Arial"/>
              </a:rPr>
              <a:t>could be </a:t>
            </a:r>
            <a:r>
              <a:rPr dirty="0" sz="1200">
                <a:solidFill>
                  <a:srgbClr val="221F1F"/>
                </a:solidFill>
                <a:latin typeface="Arial"/>
                <a:cs typeface="Arial"/>
              </a:rPr>
              <a:t>a </a:t>
            </a:r>
            <a:r>
              <a:rPr dirty="0" sz="1200" spc="-5">
                <a:solidFill>
                  <a:srgbClr val="221F1F"/>
                </a:solidFill>
                <a:latin typeface="Arial"/>
                <a:cs typeface="Arial"/>
              </a:rPr>
              <a:t>good </a:t>
            </a:r>
            <a:r>
              <a:rPr dirty="0" sz="1200">
                <a:solidFill>
                  <a:srgbClr val="221F1F"/>
                </a:solidFill>
                <a:latin typeface="Arial"/>
                <a:cs typeface="Arial"/>
              </a:rPr>
              <a:t>Muslim.</a:t>
            </a:r>
            <a:r>
              <a:rPr dirty="0" sz="1200">
                <a:latin typeface="Arial"/>
                <a:cs typeface="Arial"/>
              </a:rPr>
              <a:t>‘ </a:t>
            </a:r>
            <a:r>
              <a:rPr dirty="0" sz="1200" spc="-5">
                <a:latin typeface="Arial"/>
                <a:cs typeface="Arial"/>
              </a:rPr>
              <a:t>Explain the meaning of this  statement, and </a:t>
            </a:r>
            <a:r>
              <a:rPr dirty="0" sz="1200">
                <a:latin typeface="Arial"/>
                <a:cs typeface="Arial"/>
              </a:rPr>
              <a:t>say whether </a:t>
            </a:r>
            <a:r>
              <a:rPr dirty="0" sz="1200" spc="-10">
                <a:latin typeface="Arial"/>
                <a:cs typeface="Arial"/>
              </a:rPr>
              <a:t>you </a:t>
            </a:r>
            <a:r>
              <a:rPr dirty="0" sz="1200" spc="-5">
                <a:latin typeface="Arial"/>
                <a:cs typeface="Arial"/>
              </a:rPr>
              <a:t>think </a:t>
            </a:r>
            <a:r>
              <a:rPr dirty="0" sz="1200">
                <a:latin typeface="Arial"/>
                <a:cs typeface="Arial"/>
              </a:rPr>
              <a:t>it </a:t>
            </a:r>
            <a:r>
              <a:rPr dirty="0" sz="1200" spc="-5">
                <a:latin typeface="Arial"/>
                <a:cs typeface="Arial"/>
              </a:rPr>
              <a:t>is accurate or not.</a:t>
            </a:r>
            <a:r>
              <a:rPr dirty="0" sz="1200">
                <a:latin typeface="Arial"/>
                <a:cs typeface="Arial"/>
              </a:rPr>
              <a:t> </a:t>
            </a:r>
            <a:r>
              <a:rPr dirty="0" sz="1200" spc="-5">
                <a:latin typeface="Arial"/>
                <a:cs typeface="Arial"/>
              </a:rPr>
              <a:t>[20]</a:t>
            </a:r>
            <a:endParaRPr sz="1200">
              <a:latin typeface="Arial"/>
              <a:cs typeface="Arial"/>
            </a:endParaRPr>
          </a:p>
          <a:p>
            <a:pPr>
              <a:lnSpc>
                <a:spcPct val="100000"/>
              </a:lnSpc>
              <a:spcBef>
                <a:spcPts val="5"/>
              </a:spcBef>
              <a:buAutoNum type="arabicPlain" startAt="10"/>
            </a:pPr>
            <a:endParaRPr sz="1200">
              <a:latin typeface="Arial"/>
              <a:cs typeface="Arial"/>
            </a:endParaRPr>
          </a:p>
          <a:p>
            <a:pPr marL="12700" marR="8890">
              <a:lnSpc>
                <a:spcPts val="1380"/>
              </a:lnSpc>
              <a:buClr>
                <a:srgbClr val="221F1F"/>
              </a:buClr>
              <a:buAutoNum type="arabicPlain" startAt="10"/>
              <a:tabLst>
                <a:tab pos="273685" algn="l"/>
              </a:tabLst>
            </a:pPr>
            <a:r>
              <a:rPr dirty="0" sz="1200" spc="-5" b="1">
                <a:latin typeface="Arial"/>
                <a:cs typeface="Arial"/>
              </a:rPr>
              <a:t>(a) </a:t>
            </a:r>
            <a:r>
              <a:rPr dirty="0" sz="1200" spc="-5">
                <a:solidFill>
                  <a:srgbClr val="221F1F"/>
                </a:solidFill>
                <a:latin typeface="Arial"/>
                <a:cs typeface="Arial"/>
              </a:rPr>
              <a:t>what methods ha</a:t>
            </a:r>
            <a:r>
              <a:rPr dirty="0" sz="1200" spc="-5">
                <a:latin typeface="Arial"/>
                <a:cs typeface="Arial"/>
              </a:rPr>
              <a:t>ve legal experts </a:t>
            </a:r>
            <a:r>
              <a:rPr dirty="0" sz="1200">
                <a:latin typeface="Arial"/>
                <a:cs typeface="Arial"/>
              </a:rPr>
              <a:t>traditionally </a:t>
            </a:r>
            <a:r>
              <a:rPr dirty="0" sz="1200" spc="-5">
                <a:latin typeface="Arial"/>
                <a:cs typeface="Arial"/>
              </a:rPr>
              <a:t>employed </a:t>
            </a:r>
            <a:r>
              <a:rPr dirty="0" sz="1200">
                <a:latin typeface="Arial"/>
                <a:cs typeface="Arial"/>
              </a:rPr>
              <a:t>to </a:t>
            </a:r>
            <a:r>
              <a:rPr dirty="0" sz="1200" spc="-5">
                <a:latin typeface="Arial"/>
                <a:cs typeface="Arial"/>
              </a:rPr>
              <a:t>find answers in </a:t>
            </a:r>
            <a:r>
              <a:rPr dirty="0" sz="1200" spc="-10">
                <a:latin typeface="Arial"/>
                <a:cs typeface="Arial"/>
              </a:rPr>
              <a:t>the  </a:t>
            </a:r>
            <a:r>
              <a:rPr dirty="0" sz="1200" spc="-5">
                <a:latin typeface="Arial"/>
                <a:cs typeface="Arial"/>
              </a:rPr>
              <a:t>authoritative </a:t>
            </a:r>
            <a:r>
              <a:rPr dirty="0" sz="1200">
                <a:latin typeface="Arial"/>
                <a:cs typeface="Arial"/>
              </a:rPr>
              <a:t>sources </a:t>
            </a:r>
            <a:r>
              <a:rPr dirty="0" sz="1200" spc="-5">
                <a:latin typeface="Arial"/>
                <a:cs typeface="Arial"/>
              </a:rPr>
              <a:t>of </a:t>
            </a:r>
            <a:r>
              <a:rPr dirty="0" sz="1200">
                <a:latin typeface="Arial"/>
                <a:cs typeface="Arial"/>
              </a:rPr>
              <a:t>Islam to </a:t>
            </a:r>
            <a:r>
              <a:rPr dirty="0" sz="1200" spc="-5">
                <a:latin typeface="Arial"/>
                <a:cs typeface="Arial"/>
              </a:rPr>
              <a:t>the questions raised in a constantly changing world?</a:t>
            </a:r>
            <a:r>
              <a:rPr dirty="0" sz="1200" spc="75">
                <a:latin typeface="Arial"/>
                <a:cs typeface="Arial"/>
              </a:rPr>
              <a:t> </a:t>
            </a:r>
            <a:r>
              <a:rPr dirty="0" sz="1200">
                <a:latin typeface="Arial"/>
                <a:cs typeface="Arial"/>
              </a:rPr>
              <a:t>[8]</a:t>
            </a:r>
            <a:endParaRPr sz="1200">
              <a:latin typeface="Arial"/>
              <a:cs typeface="Arial"/>
            </a:endParaRPr>
          </a:p>
          <a:p>
            <a:pPr marL="268605">
              <a:lnSpc>
                <a:spcPts val="1315"/>
              </a:lnSpc>
            </a:pPr>
            <a:r>
              <a:rPr dirty="0" sz="1200" spc="-5" b="1">
                <a:solidFill>
                  <a:srgbClr val="221F1F"/>
                </a:solidFill>
                <a:latin typeface="Arial"/>
                <a:cs typeface="Arial"/>
              </a:rPr>
              <a:t>(b)</a:t>
            </a:r>
            <a:r>
              <a:rPr dirty="0" sz="1200" spc="110" b="1">
                <a:solidFill>
                  <a:srgbClr val="221F1F"/>
                </a:solidFill>
                <a:latin typeface="Arial"/>
                <a:cs typeface="Arial"/>
              </a:rPr>
              <a:t> </a:t>
            </a:r>
            <a:r>
              <a:rPr dirty="0" sz="1200" spc="-5">
                <a:solidFill>
                  <a:srgbClr val="221F1F"/>
                </a:solidFill>
                <a:latin typeface="Arial"/>
                <a:cs typeface="Arial"/>
              </a:rPr>
              <a:t>Giv</a:t>
            </a:r>
            <a:r>
              <a:rPr dirty="0" sz="1200" spc="-5">
                <a:latin typeface="Arial"/>
                <a:cs typeface="Arial"/>
              </a:rPr>
              <a:t>e</a:t>
            </a:r>
            <a:r>
              <a:rPr dirty="0" sz="1200" spc="120">
                <a:latin typeface="Arial"/>
                <a:cs typeface="Arial"/>
              </a:rPr>
              <a:t> </a:t>
            </a:r>
            <a:r>
              <a:rPr dirty="0" sz="1200" spc="-5" b="1">
                <a:solidFill>
                  <a:srgbClr val="221F1F"/>
                </a:solidFill>
                <a:latin typeface="Arial"/>
                <a:cs typeface="Arial"/>
              </a:rPr>
              <a:t>three</a:t>
            </a:r>
            <a:r>
              <a:rPr dirty="0" sz="1200" spc="125" b="1">
                <a:solidFill>
                  <a:srgbClr val="221F1F"/>
                </a:solidFill>
                <a:latin typeface="Arial"/>
                <a:cs typeface="Arial"/>
              </a:rPr>
              <a:t> </a:t>
            </a:r>
            <a:r>
              <a:rPr dirty="0" sz="1200">
                <a:solidFill>
                  <a:srgbClr val="221F1F"/>
                </a:solidFill>
                <a:latin typeface="Arial"/>
                <a:cs typeface="Arial"/>
              </a:rPr>
              <a:t>e</a:t>
            </a:r>
            <a:r>
              <a:rPr dirty="0" sz="1200">
                <a:latin typeface="Arial"/>
                <a:cs typeface="Arial"/>
              </a:rPr>
              <a:t>xamples</a:t>
            </a:r>
            <a:r>
              <a:rPr dirty="0" sz="1200" spc="114">
                <a:latin typeface="Arial"/>
                <a:cs typeface="Arial"/>
              </a:rPr>
              <a:t> </a:t>
            </a:r>
            <a:r>
              <a:rPr dirty="0" sz="1200" spc="-5">
                <a:latin typeface="Arial"/>
                <a:cs typeface="Arial"/>
              </a:rPr>
              <a:t>to</a:t>
            </a:r>
            <a:r>
              <a:rPr dirty="0" sz="1200" spc="120">
                <a:latin typeface="Arial"/>
                <a:cs typeface="Arial"/>
              </a:rPr>
              <a:t> </a:t>
            </a:r>
            <a:r>
              <a:rPr dirty="0" sz="1200">
                <a:latin typeface="Arial"/>
                <a:cs typeface="Arial"/>
              </a:rPr>
              <a:t>show</a:t>
            </a:r>
            <a:r>
              <a:rPr dirty="0" sz="1200" spc="100">
                <a:latin typeface="Arial"/>
                <a:cs typeface="Arial"/>
              </a:rPr>
              <a:t> </a:t>
            </a:r>
            <a:r>
              <a:rPr dirty="0" sz="1200" spc="-5">
                <a:latin typeface="Arial"/>
                <a:cs typeface="Arial"/>
              </a:rPr>
              <a:t>how</a:t>
            </a:r>
            <a:r>
              <a:rPr dirty="0" sz="1200" spc="100">
                <a:latin typeface="Arial"/>
                <a:cs typeface="Arial"/>
              </a:rPr>
              <a:t> </a:t>
            </a:r>
            <a:r>
              <a:rPr dirty="0" sz="1200" spc="-5">
                <a:latin typeface="Arial"/>
                <a:cs typeface="Arial"/>
              </a:rPr>
              <a:t>legal</a:t>
            </a:r>
            <a:r>
              <a:rPr dirty="0" sz="1200" spc="114">
                <a:latin typeface="Arial"/>
                <a:cs typeface="Arial"/>
              </a:rPr>
              <a:t> </a:t>
            </a:r>
            <a:r>
              <a:rPr dirty="0" sz="1200" spc="-5">
                <a:latin typeface="Arial"/>
                <a:cs typeface="Arial"/>
              </a:rPr>
              <a:t>experts</a:t>
            </a:r>
            <a:r>
              <a:rPr dirty="0" sz="1200" spc="110">
                <a:latin typeface="Arial"/>
                <a:cs typeface="Arial"/>
              </a:rPr>
              <a:t> </a:t>
            </a:r>
            <a:r>
              <a:rPr dirty="0" sz="1200" spc="-5">
                <a:latin typeface="Arial"/>
                <a:cs typeface="Arial"/>
              </a:rPr>
              <a:t>have</a:t>
            </a:r>
            <a:r>
              <a:rPr dirty="0" sz="1200" spc="120">
                <a:latin typeface="Arial"/>
                <a:cs typeface="Arial"/>
              </a:rPr>
              <a:t> </a:t>
            </a:r>
            <a:r>
              <a:rPr dirty="0" sz="1200">
                <a:latin typeface="Arial"/>
                <a:cs typeface="Arial"/>
              </a:rPr>
              <a:t>actually</a:t>
            </a:r>
            <a:r>
              <a:rPr dirty="0" sz="1200" spc="100">
                <a:latin typeface="Arial"/>
                <a:cs typeface="Arial"/>
              </a:rPr>
              <a:t> </a:t>
            </a:r>
            <a:r>
              <a:rPr dirty="0" sz="1200" spc="-5">
                <a:latin typeface="Arial"/>
                <a:cs typeface="Arial"/>
              </a:rPr>
              <a:t>done</a:t>
            </a:r>
            <a:r>
              <a:rPr dirty="0" sz="1200" spc="114">
                <a:latin typeface="Arial"/>
                <a:cs typeface="Arial"/>
              </a:rPr>
              <a:t> </a:t>
            </a:r>
            <a:r>
              <a:rPr dirty="0" sz="1200">
                <a:latin typeface="Arial"/>
                <a:cs typeface="Arial"/>
              </a:rPr>
              <a:t>this</a:t>
            </a:r>
            <a:r>
              <a:rPr dirty="0" sz="1200" spc="114">
                <a:latin typeface="Arial"/>
                <a:cs typeface="Arial"/>
              </a:rPr>
              <a:t> </a:t>
            </a:r>
            <a:r>
              <a:rPr dirty="0" sz="1200" spc="-5">
                <a:latin typeface="Arial"/>
                <a:cs typeface="Arial"/>
              </a:rPr>
              <a:t>in</a:t>
            </a:r>
            <a:r>
              <a:rPr dirty="0" sz="1200" spc="114">
                <a:latin typeface="Arial"/>
                <a:cs typeface="Arial"/>
              </a:rPr>
              <a:t> </a:t>
            </a:r>
            <a:r>
              <a:rPr dirty="0" sz="1200" spc="-5">
                <a:latin typeface="Arial"/>
                <a:cs typeface="Arial"/>
              </a:rPr>
              <a:t>practice.</a:t>
            </a:r>
            <a:endParaRPr sz="1200">
              <a:latin typeface="Arial"/>
              <a:cs typeface="Arial"/>
            </a:endParaRPr>
          </a:p>
          <a:p>
            <a:pPr marL="12700">
              <a:lnSpc>
                <a:spcPts val="1410"/>
              </a:lnSpc>
            </a:pPr>
            <a:r>
              <a:rPr dirty="0" sz="1200">
                <a:latin typeface="Arial"/>
                <a:cs typeface="Arial"/>
              </a:rPr>
              <a:t>[12]</a:t>
            </a:r>
            <a:endParaRPr sz="1200">
              <a:latin typeface="Arial"/>
              <a:cs typeface="Arial"/>
            </a:endParaRPr>
          </a:p>
          <a:p>
            <a:pPr>
              <a:lnSpc>
                <a:spcPct val="100000"/>
              </a:lnSpc>
              <a:spcBef>
                <a:spcPts val="35"/>
              </a:spcBef>
            </a:pPr>
            <a:endParaRPr sz="1200">
              <a:latin typeface="Arial"/>
              <a:cs typeface="Arial"/>
            </a:endParaRPr>
          </a:p>
          <a:p>
            <a:pPr marL="12700" marR="8255">
              <a:lnSpc>
                <a:spcPts val="1380"/>
              </a:lnSpc>
              <a:buFont typeface="Arial"/>
              <a:buAutoNum type="arabicPlain" startAt="12"/>
              <a:tabLst>
                <a:tab pos="233679" algn="l"/>
              </a:tabLst>
            </a:pPr>
            <a:r>
              <a:rPr dirty="0" sz="1200">
                <a:solidFill>
                  <a:srgbClr val="221F1F"/>
                </a:solidFill>
                <a:latin typeface="Arial"/>
                <a:cs typeface="Arial"/>
              </a:rPr>
              <a:t>It </a:t>
            </a:r>
            <a:r>
              <a:rPr dirty="0" sz="1200" spc="-5">
                <a:solidFill>
                  <a:srgbClr val="221F1F"/>
                </a:solidFill>
                <a:latin typeface="Arial"/>
                <a:cs typeface="Arial"/>
              </a:rPr>
              <a:t>is often said that </a:t>
            </a:r>
            <a:r>
              <a:rPr dirty="0" sz="1200">
                <a:solidFill>
                  <a:srgbClr val="221F1F"/>
                </a:solidFill>
                <a:latin typeface="Arial"/>
                <a:cs typeface="Arial"/>
              </a:rPr>
              <a:t>Islam </a:t>
            </a:r>
            <a:r>
              <a:rPr dirty="0" sz="1200" spc="-5">
                <a:solidFill>
                  <a:srgbClr val="221F1F"/>
                </a:solidFill>
                <a:latin typeface="Arial"/>
                <a:cs typeface="Arial"/>
              </a:rPr>
              <a:t>is a whole </a:t>
            </a:r>
            <a:r>
              <a:rPr dirty="0" sz="1200">
                <a:solidFill>
                  <a:srgbClr val="221F1F"/>
                </a:solidFill>
                <a:latin typeface="Arial"/>
                <a:cs typeface="Arial"/>
              </a:rPr>
              <a:t>w</a:t>
            </a:r>
            <a:r>
              <a:rPr dirty="0" sz="1200">
                <a:latin typeface="Arial"/>
                <a:cs typeface="Arial"/>
              </a:rPr>
              <a:t>ay </a:t>
            </a:r>
            <a:r>
              <a:rPr dirty="0" sz="1200" spc="-5">
                <a:latin typeface="Arial"/>
                <a:cs typeface="Arial"/>
              </a:rPr>
              <a:t>of life. How does the Shari`ah affect private and  public activities in </a:t>
            </a:r>
            <a:r>
              <a:rPr dirty="0" sz="1200">
                <a:latin typeface="Arial"/>
                <a:cs typeface="Arial"/>
              </a:rPr>
              <a:t>Islam? [20]</a:t>
            </a:r>
            <a:r>
              <a:rPr dirty="0" sz="1200" spc="10">
                <a:latin typeface="Arial"/>
                <a:cs typeface="Arial"/>
              </a:rPr>
              <a:t> </a:t>
            </a:r>
            <a:r>
              <a:rPr dirty="0" sz="1200" spc="-5" b="1">
                <a:latin typeface="Arial"/>
                <a:cs typeface="Arial"/>
              </a:rPr>
              <a:t>(2004)</a:t>
            </a:r>
            <a:endParaRPr sz="1200">
              <a:latin typeface="Arial"/>
              <a:cs typeface="Arial"/>
            </a:endParaRPr>
          </a:p>
          <a:p>
            <a:pPr>
              <a:lnSpc>
                <a:spcPct val="100000"/>
              </a:lnSpc>
            </a:pPr>
            <a:endParaRPr sz="1200">
              <a:latin typeface="Arial"/>
              <a:cs typeface="Arial"/>
            </a:endParaRPr>
          </a:p>
          <a:p>
            <a:pPr marL="12700" marR="10160">
              <a:lnSpc>
                <a:spcPts val="1380"/>
              </a:lnSpc>
              <a:buAutoNum type="arabicPlain" startAt="10"/>
              <a:tabLst>
                <a:tab pos="227329" algn="l"/>
              </a:tabLst>
            </a:pPr>
            <a:r>
              <a:rPr dirty="0" sz="1200" spc="-5">
                <a:solidFill>
                  <a:srgbClr val="221F1F"/>
                </a:solidFill>
                <a:latin typeface="Arial"/>
                <a:cs typeface="Arial"/>
              </a:rPr>
              <a:t>Explain </a:t>
            </a:r>
            <a:r>
              <a:rPr dirty="0" sz="1200">
                <a:solidFill>
                  <a:srgbClr val="221F1F"/>
                </a:solidFill>
                <a:latin typeface="Arial"/>
                <a:cs typeface="Arial"/>
              </a:rPr>
              <a:t>why many </a:t>
            </a:r>
            <a:r>
              <a:rPr dirty="0" sz="1200" spc="-5">
                <a:solidFill>
                  <a:srgbClr val="221F1F"/>
                </a:solidFill>
                <a:latin typeface="Arial"/>
                <a:cs typeface="Arial"/>
              </a:rPr>
              <a:t>Muslims believe </a:t>
            </a:r>
            <a:r>
              <a:rPr dirty="0" sz="1200">
                <a:solidFill>
                  <a:srgbClr val="221F1F"/>
                </a:solidFill>
                <a:latin typeface="Arial"/>
                <a:cs typeface="Arial"/>
              </a:rPr>
              <a:t>that </a:t>
            </a:r>
            <a:r>
              <a:rPr dirty="0" sz="1200" spc="-5">
                <a:solidFill>
                  <a:srgbClr val="221F1F"/>
                </a:solidFill>
                <a:latin typeface="Arial"/>
                <a:cs typeface="Arial"/>
              </a:rPr>
              <a:t>the Qur‘an cannot </a:t>
            </a:r>
            <a:r>
              <a:rPr dirty="0" sz="1200">
                <a:solidFill>
                  <a:srgbClr val="221F1F"/>
                </a:solidFill>
                <a:latin typeface="Arial"/>
                <a:cs typeface="Arial"/>
              </a:rPr>
              <a:t>be </a:t>
            </a:r>
            <a:r>
              <a:rPr dirty="0" sz="1200" spc="-5">
                <a:solidFill>
                  <a:srgbClr val="221F1F"/>
                </a:solidFill>
                <a:latin typeface="Arial"/>
                <a:cs typeface="Arial"/>
              </a:rPr>
              <a:t>understood properly without  </a:t>
            </a:r>
            <a:r>
              <a:rPr dirty="0" sz="1200">
                <a:solidFill>
                  <a:srgbClr val="221F1F"/>
                </a:solidFill>
                <a:latin typeface="Arial"/>
                <a:cs typeface="Arial"/>
              </a:rPr>
              <a:t>the </a:t>
            </a:r>
            <a:r>
              <a:rPr dirty="0" sz="1200" spc="-5">
                <a:solidFill>
                  <a:srgbClr val="221F1F"/>
                </a:solidFill>
                <a:latin typeface="Arial"/>
                <a:cs typeface="Arial"/>
              </a:rPr>
              <a:t>help of the Sunnah.</a:t>
            </a:r>
            <a:r>
              <a:rPr dirty="0" sz="1200" spc="-10">
                <a:solidFill>
                  <a:srgbClr val="221F1F"/>
                </a:solidFill>
                <a:latin typeface="Arial"/>
                <a:cs typeface="Arial"/>
              </a:rPr>
              <a:t> </a:t>
            </a:r>
            <a:r>
              <a:rPr dirty="0" sz="1200" spc="-5">
                <a:solidFill>
                  <a:srgbClr val="221F1F"/>
                </a:solidFill>
                <a:latin typeface="Arial"/>
                <a:cs typeface="Arial"/>
              </a:rPr>
              <a:t>[20]</a:t>
            </a:r>
            <a:endParaRPr sz="1200">
              <a:latin typeface="Arial"/>
              <a:cs typeface="Arial"/>
            </a:endParaRPr>
          </a:p>
          <a:p>
            <a:pPr>
              <a:lnSpc>
                <a:spcPct val="100000"/>
              </a:lnSpc>
              <a:buClr>
                <a:srgbClr val="221F1F"/>
              </a:buClr>
              <a:buFont typeface="Arial"/>
              <a:buAutoNum type="arabicPlain" startAt="10"/>
            </a:pPr>
            <a:endParaRPr sz="1200">
              <a:latin typeface="Arial"/>
              <a:cs typeface="Arial"/>
            </a:endParaRPr>
          </a:p>
          <a:p>
            <a:pPr marL="12700" marR="12065">
              <a:lnSpc>
                <a:spcPts val="1380"/>
              </a:lnSpc>
              <a:spcBef>
                <a:spcPts val="5"/>
              </a:spcBef>
              <a:buAutoNum type="arabicPlain" startAt="10"/>
              <a:tabLst>
                <a:tab pos="234950" algn="l"/>
              </a:tabLst>
            </a:pPr>
            <a:r>
              <a:rPr dirty="0" sz="1200" spc="-5">
                <a:solidFill>
                  <a:srgbClr val="221F1F"/>
                </a:solidFill>
                <a:latin typeface="Arial"/>
                <a:cs typeface="Arial"/>
              </a:rPr>
              <a:t>How would </a:t>
            </a:r>
            <a:r>
              <a:rPr dirty="0" sz="1200" spc="-10">
                <a:solidFill>
                  <a:srgbClr val="221F1F"/>
                </a:solidFill>
                <a:latin typeface="Arial"/>
                <a:cs typeface="Arial"/>
              </a:rPr>
              <a:t>you </a:t>
            </a:r>
            <a:r>
              <a:rPr dirty="0" sz="1200">
                <a:solidFill>
                  <a:srgbClr val="221F1F"/>
                </a:solidFill>
                <a:latin typeface="Arial"/>
                <a:cs typeface="Arial"/>
              </a:rPr>
              <a:t>tell </a:t>
            </a:r>
            <a:r>
              <a:rPr dirty="0" sz="1200" spc="-5">
                <a:solidFill>
                  <a:srgbClr val="221F1F"/>
                </a:solidFill>
                <a:latin typeface="Arial"/>
                <a:cs typeface="Arial"/>
              </a:rPr>
              <a:t>someone about </a:t>
            </a:r>
            <a:r>
              <a:rPr dirty="0" sz="1200">
                <a:solidFill>
                  <a:srgbClr val="221F1F"/>
                </a:solidFill>
                <a:latin typeface="Arial"/>
                <a:cs typeface="Arial"/>
              </a:rPr>
              <a:t>the </a:t>
            </a:r>
            <a:r>
              <a:rPr dirty="0" sz="1200" spc="-5">
                <a:solidFill>
                  <a:srgbClr val="221F1F"/>
                </a:solidFill>
                <a:latin typeface="Arial"/>
                <a:cs typeface="Arial"/>
              </a:rPr>
              <a:t>importance of the </a:t>
            </a:r>
            <a:r>
              <a:rPr dirty="0" sz="1200">
                <a:solidFill>
                  <a:srgbClr val="221F1F"/>
                </a:solidFill>
                <a:latin typeface="Arial"/>
                <a:cs typeface="Arial"/>
              </a:rPr>
              <a:t>four </a:t>
            </a:r>
            <a:r>
              <a:rPr dirty="0" sz="1200" spc="-5">
                <a:solidFill>
                  <a:srgbClr val="221F1F"/>
                </a:solidFill>
                <a:latin typeface="Arial"/>
                <a:cs typeface="Arial"/>
              </a:rPr>
              <a:t>bases of the Shari`ah and  </a:t>
            </a:r>
            <a:r>
              <a:rPr dirty="0" sz="1200">
                <a:solidFill>
                  <a:srgbClr val="221F1F"/>
                </a:solidFill>
                <a:latin typeface="Arial"/>
                <a:cs typeface="Arial"/>
              </a:rPr>
              <a:t>the </a:t>
            </a:r>
            <a:r>
              <a:rPr dirty="0" sz="1200" spc="-5">
                <a:solidFill>
                  <a:srgbClr val="221F1F"/>
                </a:solidFill>
                <a:latin typeface="Arial"/>
                <a:cs typeface="Arial"/>
              </a:rPr>
              <a:t>relationship between them?</a:t>
            </a:r>
            <a:r>
              <a:rPr dirty="0" sz="1200" spc="5">
                <a:solidFill>
                  <a:srgbClr val="221F1F"/>
                </a:solidFill>
                <a:latin typeface="Arial"/>
                <a:cs typeface="Arial"/>
              </a:rPr>
              <a:t> </a:t>
            </a:r>
            <a:r>
              <a:rPr dirty="0" sz="1200" spc="-5">
                <a:solidFill>
                  <a:srgbClr val="221F1F"/>
                </a:solidFill>
                <a:latin typeface="Arial"/>
                <a:cs typeface="Arial"/>
              </a:rPr>
              <a:t>[20]</a:t>
            </a:r>
            <a:endParaRPr sz="1200">
              <a:latin typeface="Arial"/>
              <a:cs typeface="Arial"/>
            </a:endParaRPr>
          </a:p>
          <a:p>
            <a:pPr>
              <a:lnSpc>
                <a:spcPct val="100000"/>
              </a:lnSpc>
              <a:spcBef>
                <a:spcPts val="15"/>
              </a:spcBef>
              <a:buClr>
                <a:srgbClr val="221F1F"/>
              </a:buClr>
              <a:buFont typeface="Arial"/>
              <a:buAutoNum type="arabicPlain" startAt="10"/>
            </a:pPr>
            <a:endParaRPr sz="1100">
              <a:latin typeface="Arial"/>
              <a:cs typeface="Arial"/>
            </a:endParaRPr>
          </a:p>
          <a:p>
            <a:pPr marL="225425" indent="-213360">
              <a:lnSpc>
                <a:spcPts val="1410"/>
              </a:lnSpc>
              <a:buAutoNum type="arabicPlain" startAt="10"/>
              <a:tabLst>
                <a:tab pos="226060" algn="l"/>
              </a:tabLst>
            </a:pPr>
            <a:r>
              <a:rPr dirty="0" sz="1200" spc="-105">
                <a:solidFill>
                  <a:srgbClr val="221F1F"/>
                </a:solidFill>
                <a:latin typeface="Arial"/>
                <a:cs typeface="Arial"/>
              </a:rPr>
              <a:t>‗The </a:t>
            </a:r>
            <a:r>
              <a:rPr dirty="0" sz="1200" spc="-5">
                <a:solidFill>
                  <a:srgbClr val="221F1F"/>
                </a:solidFill>
                <a:latin typeface="Arial"/>
                <a:cs typeface="Arial"/>
              </a:rPr>
              <a:t>teachings of Islam can be made relevant in </a:t>
            </a:r>
            <a:r>
              <a:rPr dirty="0" sz="1200">
                <a:solidFill>
                  <a:srgbClr val="221F1F"/>
                </a:solidFill>
                <a:latin typeface="Arial"/>
                <a:cs typeface="Arial"/>
              </a:rPr>
              <a:t>new</a:t>
            </a:r>
            <a:r>
              <a:rPr dirty="0" sz="1200" spc="-105">
                <a:solidFill>
                  <a:srgbClr val="221F1F"/>
                </a:solidFill>
                <a:latin typeface="Arial"/>
                <a:cs typeface="Arial"/>
              </a:rPr>
              <a:t> </a:t>
            </a:r>
            <a:r>
              <a:rPr dirty="0" sz="1200" spc="-5">
                <a:solidFill>
                  <a:srgbClr val="221F1F"/>
                </a:solidFill>
                <a:latin typeface="Arial"/>
                <a:cs typeface="Arial"/>
              </a:rPr>
              <a:t>situations.‘</a:t>
            </a:r>
            <a:endParaRPr sz="1200">
              <a:latin typeface="Arial"/>
              <a:cs typeface="Arial"/>
            </a:endParaRPr>
          </a:p>
          <a:p>
            <a:pPr marL="12700">
              <a:lnSpc>
                <a:spcPts val="1410"/>
              </a:lnSpc>
            </a:pPr>
            <a:r>
              <a:rPr dirty="0" sz="1200" spc="-5">
                <a:solidFill>
                  <a:srgbClr val="221F1F"/>
                </a:solidFill>
                <a:latin typeface="Arial"/>
                <a:cs typeface="Arial"/>
              </a:rPr>
              <a:t>Explain this statement giving clear examples to illustrate your answer. </a:t>
            </a:r>
            <a:r>
              <a:rPr dirty="0" sz="1200">
                <a:solidFill>
                  <a:srgbClr val="221F1F"/>
                </a:solidFill>
                <a:latin typeface="Arial"/>
                <a:cs typeface="Arial"/>
              </a:rPr>
              <a:t>[20]</a:t>
            </a:r>
            <a:r>
              <a:rPr dirty="0" sz="1200" spc="100">
                <a:solidFill>
                  <a:srgbClr val="221F1F"/>
                </a:solidFill>
                <a:latin typeface="Arial"/>
                <a:cs typeface="Arial"/>
              </a:rPr>
              <a:t> </a:t>
            </a:r>
            <a:r>
              <a:rPr dirty="0" sz="1200" spc="-5" b="1">
                <a:solidFill>
                  <a:srgbClr val="221F1F"/>
                </a:solidFill>
                <a:latin typeface="Arial"/>
                <a:cs typeface="Arial"/>
              </a:rPr>
              <a:t>(2005)</a:t>
            </a:r>
            <a:endParaRPr sz="1200">
              <a:latin typeface="Arial"/>
              <a:cs typeface="Arial"/>
            </a:endParaRPr>
          </a:p>
          <a:p>
            <a:pPr>
              <a:lnSpc>
                <a:spcPct val="100000"/>
              </a:lnSpc>
              <a:spcBef>
                <a:spcPts val="35"/>
              </a:spcBef>
            </a:pPr>
            <a:endParaRPr sz="1200">
              <a:latin typeface="Arial"/>
              <a:cs typeface="Arial"/>
            </a:endParaRPr>
          </a:p>
          <a:p>
            <a:pPr marL="12700" marR="12065">
              <a:lnSpc>
                <a:spcPts val="1380"/>
              </a:lnSpc>
              <a:spcBef>
                <a:spcPts val="5"/>
              </a:spcBef>
              <a:buAutoNum type="arabicPlain" startAt="10"/>
              <a:tabLst>
                <a:tab pos="226060" algn="l"/>
              </a:tabLst>
            </a:pPr>
            <a:r>
              <a:rPr dirty="0" sz="1200" spc="5">
                <a:latin typeface="Arial"/>
                <a:cs typeface="Arial"/>
              </a:rPr>
              <a:t>To </a:t>
            </a:r>
            <a:r>
              <a:rPr dirty="0" sz="1200" spc="-5">
                <a:latin typeface="Arial"/>
                <a:cs typeface="Arial"/>
              </a:rPr>
              <a:t>what extent </a:t>
            </a:r>
            <a:r>
              <a:rPr dirty="0" sz="1200" spc="-10">
                <a:latin typeface="Arial"/>
                <a:cs typeface="Arial"/>
              </a:rPr>
              <a:t>does </a:t>
            </a:r>
            <a:r>
              <a:rPr dirty="0" sz="1200" spc="-5">
                <a:latin typeface="Arial"/>
                <a:cs typeface="Arial"/>
              </a:rPr>
              <a:t>a Muslim wedding ceremony in any country </a:t>
            </a:r>
            <a:r>
              <a:rPr dirty="0" sz="1200" spc="-10">
                <a:latin typeface="Arial"/>
                <a:cs typeface="Arial"/>
              </a:rPr>
              <a:t>you </a:t>
            </a:r>
            <a:r>
              <a:rPr dirty="0" sz="1200" spc="-5">
                <a:latin typeface="Arial"/>
                <a:cs typeface="Arial"/>
              </a:rPr>
              <a:t>know conform </a:t>
            </a:r>
            <a:r>
              <a:rPr dirty="0" sz="1200">
                <a:latin typeface="Arial"/>
                <a:cs typeface="Arial"/>
              </a:rPr>
              <a:t>to </a:t>
            </a:r>
            <a:r>
              <a:rPr dirty="0" sz="1200" spc="-10">
                <a:latin typeface="Arial"/>
                <a:cs typeface="Arial"/>
              </a:rPr>
              <a:t>the  </a:t>
            </a:r>
            <a:r>
              <a:rPr dirty="0" sz="1200" spc="-5">
                <a:latin typeface="Arial"/>
                <a:cs typeface="Arial"/>
              </a:rPr>
              <a:t>teachings of the Qur‘an and Hadith?</a:t>
            </a:r>
            <a:r>
              <a:rPr dirty="0" sz="1200" spc="20">
                <a:latin typeface="Arial"/>
                <a:cs typeface="Arial"/>
              </a:rPr>
              <a:t> </a:t>
            </a:r>
            <a:r>
              <a:rPr dirty="0" sz="1200" spc="-5">
                <a:latin typeface="Arial"/>
                <a:cs typeface="Arial"/>
              </a:rPr>
              <a:t>[20]</a:t>
            </a:r>
            <a:endParaRPr sz="1200">
              <a:latin typeface="Arial"/>
              <a:cs typeface="Arial"/>
            </a:endParaRPr>
          </a:p>
          <a:p>
            <a:pPr>
              <a:lnSpc>
                <a:spcPct val="100000"/>
              </a:lnSpc>
              <a:spcBef>
                <a:spcPts val="55"/>
              </a:spcBef>
              <a:buFont typeface="Arial"/>
              <a:buAutoNum type="arabicPlain" startAt="10"/>
            </a:pPr>
            <a:endParaRPr sz="1150">
              <a:latin typeface="Arial"/>
              <a:cs typeface="Arial"/>
            </a:endParaRPr>
          </a:p>
          <a:p>
            <a:pPr marL="12700" marR="11430">
              <a:lnSpc>
                <a:spcPts val="1380"/>
              </a:lnSpc>
              <a:buAutoNum type="arabicPlain" startAt="10"/>
              <a:tabLst>
                <a:tab pos="242570" algn="l"/>
              </a:tabLst>
            </a:pPr>
            <a:r>
              <a:rPr dirty="0" sz="1200" spc="-5">
                <a:latin typeface="Arial"/>
                <a:cs typeface="Arial"/>
              </a:rPr>
              <a:t>How can </a:t>
            </a:r>
            <a:r>
              <a:rPr dirty="0" sz="1200">
                <a:latin typeface="Arial"/>
                <a:cs typeface="Arial"/>
              </a:rPr>
              <a:t>the </a:t>
            </a:r>
            <a:r>
              <a:rPr dirty="0" sz="1200" spc="-5">
                <a:latin typeface="Arial"/>
                <a:cs typeface="Arial"/>
              </a:rPr>
              <a:t>teachings </a:t>
            </a:r>
            <a:r>
              <a:rPr dirty="0" sz="1200">
                <a:latin typeface="Arial"/>
                <a:cs typeface="Arial"/>
              </a:rPr>
              <a:t>of </a:t>
            </a:r>
            <a:r>
              <a:rPr dirty="0" sz="1200" spc="-5">
                <a:latin typeface="Arial"/>
                <a:cs typeface="Arial"/>
              </a:rPr>
              <a:t>Islam be made relevant in new situations? Give examples </a:t>
            </a:r>
            <a:r>
              <a:rPr dirty="0" sz="1200">
                <a:latin typeface="Arial"/>
                <a:cs typeface="Arial"/>
              </a:rPr>
              <a:t>to  </a:t>
            </a:r>
            <a:r>
              <a:rPr dirty="0" sz="1200" spc="-5">
                <a:latin typeface="Arial"/>
                <a:cs typeface="Arial"/>
              </a:rPr>
              <a:t>illustrate your answer. </a:t>
            </a:r>
            <a:r>
              <a:rPr dirty="0" sz="1200">
                <a:latin typeface="Arial"/>
                <a:cs typeface="Arial"/>
              </a:rPr>
              <a:t>[20]</a:t>
            </a:r>
            <a:endParaRPr sz="1200">
              <a:latin typeface="Arial"/>
              <a:cs typeface="Arial"/>
            </a:endParaRPr>
          </a:p>
          <a:p>
            <a:pPr>
              <a:lnSpc>
                <a:spcPct val="100000"/>
              </a:lnSpc>
              <a:spcBef>
                <a:spcPts val="20"/>
              </a:spcBef>
              <a:buFont typeface="Arial"/>
              <a:buAutoNum type="arabicPlain" startAt="10"/>
            </a:pPr>
            <a:endParaRPr sz="1100">
              <a:latin typeface="Arial"/>
              <a:cs typeface="Arial"/>
            </a:endParaRPr>
          </a:p>
          <a:p>
            <a:pPr marL="225425" indent="-213360">
              <a:lnSpc>
                <a:spcPct val="100000"/>
              </a:lnSpc>
              <a:buAutoNum type="arabicPlain" startAt="10"/>
              <a:tabLst>
                <a:tab pos="226060" algn="l"/>
              </a:tabLst>
            </a:pPr>
            <a:r>
              <a:rPr dirty="0" sz="1200" spc="-5">
                <a:latin typeface="Arial"/>
                <a:cs typeface="Arial"/>
              </a:rPr>
              <a:t>Discuss the relationship between the </a:t>
            </a:r>
            <a:r>
              <a:rPr dirty="0" sz="1200">
                <a:latin typeface="Arial"/>
                <a:cs typeface="Arial"/>
              </a:rPr>
              <a:t>four bases </a:t>
            </a:r>
            <a:r>
              <a:rPr dirty="0" sz="1200" spc="-5">
                <a:latin typeface="Arial"/>
                <a:cs typeface="Arial"/>
              </a:rPr>
              <a:t>of the </a:t>
            </a:r>
            <a:r>
              <a:rPr dirty="0" sz="1200" spc="-50">
                <a:latin typeface="Arial"/>
                <a:cs typeface="Arial"/>
              </a:rPr>
              <a:t>Shari‗ah. </a:t>
            </a:r>
            <a:r>
              <a:rPr dirty="0" sz="1200" spc="-5">
                <a:latin typeface="Arial"/>
                <a:cs typeface="Arial"/>
              </a:rPr>
              <a:t>[20]</a:t>
            </a:r>
            <a:r>
              <a:rPr dirty="0" sz="1200" spc="100">
                <a:latin typeface="Arial"/>
                <a:cs typeface="Arial"/>
              </a:rPr>
              <a:t> </a:t>
            </a:r>
            <a:r>
              <a:rPr dirty="0" sz="1200" spc="-5" b="1">
                <a:latin typeface="Arial"/>
                <a:cs typeface="Arial"/>
              </a:rPr>
              <a:t>(2006)</a:t>
            </a:r>
            <a:endParaRPr sz="1200">
              <a:latin typeface="Arial"/>
              <a:cs typeface="Arial"/>
            </a:endParaRPr>
          </a:p>
          <a:p>
            <a:pPr>
              <a:lnSpc>
                <a:spcPct val="100000"/>
              </a:lnSpc>
            </a:pPr>
            <a:endParaRPr sz="1150">
              <a:latin typeface="Arial"/>
              <a:cs typeface="Arial"/>
            </a:endParaRPr>
          </a:p>
          <a:p>
            <a:pPr marL="225425" indent="-213360">
              <a:lnSpc>
                <a:spcPct val="100000"/>
              </a:lnSpc>
              <a:buAutoNum type="arabicPlain" startAt="10"/>
              <a:tabLst>
                <a:tab pos="226060" algn="l"/>
              </a:tabLst>
            </a:pPr>
            <a:r>
              <a:rPr dirty="0" sz="1200" spc="-5">
                <a:latin typeface="Arial"/>
                <a:cs typeface="Arial"/>
              </a:rPr>
              <a:t>How would </a:t>
            </a:r>
            <a:r>
              <a:rPr dirty="0" sz="1200" spc="-10">
                <a:latin typeface="Arial"/>
                <a:cs typeface="Arial"/>
              </a:rPr>
              <a:t>you </a:t>
            </a:r>
            <a:r>
              <a:rPr dirty="0" sz="1200" spc="-5">
                <a:latin typeface="Arial"/>
                <a:cs typeface="Arial"/>
              </a:rPr>
              <a:t>tell someone about the </a:t>
            </a:r>
            <a:r>
              <a:rPr dirty="0" sz="1200">
                <a:latin typeface="Arial"/>
                <a:cs typeface="Arial"/>
              </a:rPr>
              <a:t>significance </a:t>
            </a:r>
            <a:r>
              <a:rPr dirty="0" sz="1200" spc="-5">
                <a:latin typeface="Arial"/>
                <a:cs typeface="Arial"/>
              </a:rPr>
              <a:t>of </a:t>
            </a:r>
            <a:r>
              <a:rPr dirty="0" sz="1200">
                <a:latin typeface="Arial"/>
                <a:cs typeface="Arial"/>
              </a:rPr>
              <a:t>the </a:t>
            </a:r>
            <a:r>
              <a:rPr dirty="0" sz="1200" spc="-5">
                <a:latin typeface="Arial"/>
                <a:cs typeface="Arial"/>
              </a:rPr>
              <a:t>Qur‘an in </a:t>
            </a:r>
            <a:r>
              <a:rPr dirty="0" sz="1200">
                <a:latin typeface="Arial"/>
                <a:cs typeface="Arial"/>
              </a:rPr>
              <a:t>a </a:t>
            </a:r>
            <a:r>
              <a:rPr dirty="0" sz="1200" spc="-5">
                <a:latin typeface="Arial"/>
                <a:cs typeface="Arial"/>
              </a:rPr>
              <a:t>Muslim‘s life?</a:t>
            </a:r>
            <a:r>
              <a:rPr dirty="0" sz="1200" spc="80">
                <a:latin typeface="Arial"/>
                <a:cs typeface="Arial"/>
              </a:rPr>
              <a:t> </a:t>
            </a:r>
            <a:r>
              <a:rPr dirty="0" sz="1200" spc="-5">
                <a:latin typeface="Arial"/>
                <a:cs typeface="Arial"/>
              </a:rPr>
              <a:t>[20]</a:t>
            </a:r>
            <a:endParaRPr sz="1200">
              <a:latin typeface="Arial"/>
              <a:cs typeface="Arial"/>
            </a:endParaRPr>
          </a:p>
          <a:p>
            <a:pPr>
              <a:lnSpc>
                <a:spcPct val="100000"/>
              </a:lnSpc>
              <a:spcBef>
                <a:spcPts val="35"/>
              </a:spcBef>
              <a:buFont typeface="Arial"/>
              <a:buAutoNum type="arabicPlain" startAt="10"/>
            </a:pPr>
            <a:endParaRPr sz="1200">
              <a:latin typeface="Arial"/>
              <a:cs typeface="Arial"/>
            </a:endParaRPr>
          </a:p>
          <a:p>
            <a:pPr marL="12700" marR="12065">
              <a:lnSpc>
                <a:spcPts val="1380"/>
              </a:lnSpc>
              <a:buAutoNum type="arabicPlain" startAt="10"/>
              <a:tabLst>
                <a:tab pos="259715" algn="l"/>
              </a:tabLst>
            </a:pPr>
            <a:r>
              <a:rPr dirty="0" sz="1200" spc="-5">
                <a:latin typeface="Arial"/>
                <a:cs typeface="Arial"/>
              </a:rPr>
              <a:t>Define and discuss </a:t>
            </a:r>
            <a:r>
              <a:rPr dirty="0" sz="1200">
                <a:latin typeface="Arial"/>
                <a:cs typeface="Arial"/>
              </a:rPr>
              <a:t>the </a:t>
            </a:r>
            <a:r>
              <a:rPr dirty="0" sz="1200" spc="-5">
                <a:latin typeface="Arial"/>
                <a:cs typeface="Arial"/>
              </a:rPr>
              <a:t>importance of the Sunnah, explaining how </a:t>
            </a:r>
            <a:r>
              <a:rPr dirty="0" sz="1200">
                <a:latin typeface="Arial"/>
                <a:cs typeface="Arial"/>
              </a:rPr>
              <a:t>it differs </a:t>
            </a:r>
            <a:r>
              <a:rPr dirty="0" sz="1200" spc="-5">
                <a:latin typeface="Arial"/>
                <a:cs typeface="Arial"/>
              </a:rPr>
              <a:t>from </a:t>
            </a:r>
            <a:r>
              <a:rPr dirty="0" sz="1200">
                <a:latin typeface="Arial"/>
                <a:cs typeface="Arial"/>
              </a:rPr>
              <a:t>the  </a:t>
            </a:r>
            <a:r>
              <a:rPr dirty="0" sz="1200" spc="-5">
                <a:latin typeface="Arial"/>
                <a:cs typeface="Arial"/>
              </a:rPr>
              <a:t>Qur‘an. [20]</a:t>
            </a:r>
            <a:endParaRPr sz="1200">
              <a:latin typeface="Arial"/>
              <a:cs typeface="Arial"/>
            </a:endParaRPr>
          </a:p>
          <a:p>
            <a:pPr>
              <a:lnSpc>
                <a:spcPct val="100000"/>
              </a:lnSpc>
              <a:buFont typeface="Arial"/>
              <a:buAutoNum type="arabicPlain" startAt="10"/>
            </a:pPr>
            <a:endParaRPr sz="1200">
              <a:latin typeface="Arial"/>
              <a:cs typeface="Arial"/>
            </a:endParaRPr>
          </a:p>
          <a:p>
            <a:pPr marL="12700" marR="9525">
              <a:lnSpc>
                <a:spcPts val="1380"/>
              </a:lnSpc>
              <a:buAutoNum type="arabicPlain" startAt="10"/>
              <a:tabLst>
                <a:tab pos="233679" algn="l"/>
              </a:tabLst>
            </a:pPr>
            <a:r>
              <a:rPr dirty="0" sz="1200" spc="5">
                <a:latin typeface="Arial"/>
                <a:cs typeface="Arial"/>
              </a:rPr>
              <a:t>With </a:t>
            </a:r>
            <a:r>
              <a:rPr dirty="0" sz="1200" spc="-5">
                <a:latin typeface="Arial"/>
                <a:cs typeface="Arial"/>
              </a:rPr>
              <a:t>specific examples, discuss </a:t>
            </a:r>
            <a:r>
              <a:rPr dirty="0" sz="1200">
                <a:latin typeface="Arial"/>
                <a:cs typeface="Arial"/>
              </a:rPr>
              <a:t>how the </a:t>
            </a:r>
            <a:r>
              <a:rPr dirty="0" sz="1200" spc="-5">
                <a:latin typeface="Arial"/>
                <a:cs typeface="Arial"/>
              </a:rPr>
              <a:t>legal </a:t>
            </a:r>
            <a:r>
              <a:rPr dirty="0" sz="1200">
                <a:latin typeface="Arial"/>
                <a:cs typeface="Arial"/>
              </a:rPr>
              <a:t>sources of </a:t>
            </a:r>
            <a:r>
              <a:rPr dirty="0" sz="1200" spc="-5">
                <a:latin typeface="Arial"/>
                <a:cs typeface="Arial"/>
              </a:rPr>
              <a:t>consensus [Ijma‘] </a:t>
            </a:r>
            <a:r>
              <a:rPr dirty="0" sz="1200">
                <a:latin typeface="Arial"/>
                <a:cs typeface="Arial"/>
              </a:rPr>
              <a:t>and </a:t>
            </a:r>
            <a:r>
              <a:rPr dirty="0" sz="1200" spc="-5">
                <a:latin typeface="Arial"/>
                <a:cs typeface="Arial"/>
              </a:rPr>
              <a:t>analogy  [Qiyas] are employed </a:t>
            </a:r>
            <a:r>
              <a:rPr dirty="0" sz="1200" spc="-10">
                <a:latin typeface="Arial"/>
                <a:cs typeface="Arial"/>
              </a:rPr>
              <a:t>in </a:t>
            </a:r>
            <a:r>
              <a:rPr dirty="0" sz="1200" spc="-5">
                <a:latin typeface="Arial"/>
                <a:cs typeface="Arial"/>
              </a:rPr>
              <a:t>Islamic legal thinking. [20]</a:t>
            </a:r>
            <a:r>
              <a:rPr dirty="0" sz="1200" spc="80">
                <a:latin typeface="Arial"/>
                <a:cs typeface="Arial"/>
              </a:rPr>
              <a:t> </a:t>
            </a:r>
            <a:r>
              <a:rPr dirty="0" sz="1200" spc="-5" b="1">
                <a:latin typeface="Arial"/>
                <a:cs typeface="Arial"/>
              </a:rPr>
              <a:t>(2007)</a:t>
            </a:r>
            <a:endParaRPr sz="1200">
              <a:latin typeface="Arial"/>
              <a:cs typeface="Arial"/>
            </a:endParaRPr>
          </a:p>
          <a:p>
            <a:pPr>
              <a:lnSpc>
                <a:spcPct val="100000"/>
              </a:lnSpc>
              <a:spcBef>
                <a:spcPts val="45"/>
              </a:spcBef>
            </a:pPr>
            <a:endParaRPr sz="1150">
              <a:latin typeface="Arial"/>
              <a:cs typeface="Arial"/>
            </a:endParaRPr>
          </a:p>
          <a:p>
            <a:pPr marL="12700" marR="8890">
              <a:lnSpc>
                <a:spcPts val="1380"/>
              </a:lnSpc>
              <a:buAutoNum type="arabicPlain" startAt="10"/>
              <a:tabLst>
                <a:tab pos="260985" algn="l"/>
              </a:tabLst>
            </a:pPr>
            <a:r>
              <a:rPr dirty="0" sz="1200" spc="-5">
                <a:latin typeface="Arial"/>
                <a:cs typeface="Arial"/>
              </a:rPr>
              <a:t>(a) what traditional methods </a:t>
            </a:r>
            <a:r>
              <a:rPr dirty="0" sz="1200">
                <a:latin typeface="Arial"/>
                <a:cs typeface="Arial"/>
              </a:rPr>
              <a:t>are </a:t>
            </a:r>
            <a:r>
              <a:rPr dirty="0" sz="1200" spc="-5">
                <a:latin typeface="Arial"/>
                <a:cs typeface="Arial"/>
              </a:rPr>
              <a:t>used to </a:t>
            </a:r>
            <a:r>
              <a:rPr dirty="0" sz="1200">
                <a:latin typeface="Arial"/>
                <a:cs typeface="Arial"/>
              </a:rPr>
              <a:t>relate </a:t>
            </a:r>
            <a:r>
              <a:rPr dirty="0" sz="1200" spc="-5">
                <a:latin typeface="Arial"/>
                <a:cs typeface="Arial"/>
              </a:rPr>
              <a:t>the Qur‘an to changing conditions in  society? [12]</a:t>
            </a:r>
            <a:endParaRPr sz="1200">
              <a:latin typeface="Arial"/>
              <a:cs typeface="Arial"/>
            </a:endParaRPr>
          </a:p>
          <a:p>
            <a:pPr marL="226060">
              <a:lnSpc>
                <a:spcPts val="1315"/>
              </a:lnSpc>
            </a:pPr>
            <a:r>
              <a:rPr dirty="0" sz="1200" spc="-5">
                <a:latin typeface="Arial"/>
                <a:cs typeface="Arial"/>
              </a:rPr>
              <a:t>(b)</a:t>
            </a:r>
            <a:r>
              <a:rPr dirty="0" sz="1200" spc="90">
                <a:latin typeface="Arial"/>
                <a:cs typeface="Arial"/>
              </a:rPr>
              <a:t> </a:t>
            </a:r>
            <a:r>
              <a:rPr dirty="0" sz="1200" spc="-5">
                <a:latin typeface="Arial"/>
                <a:cs typeface="Arial"/>
              </a:rPr>
              <a:t>Giving</a:t>
            </a:r>
            <a:r>
              <a:rPr dirty="0" sz="1200" spc="90">
                <a:latin typeface="Arial"/>
                <a:cs typeface="Arial"/>
              </a:rPr>
              <a:t> </a:t>
            </a:r>
            <a:r>
              <a:rPr dirty="0" sz="1200">
                <a:latin typeface="Arial"/>
                <a:cs typeface="Arial"/>
              </a:rPr>
              <a:t>three</a:t>
            </a:r>
            <a:r>
              <a:rPr dirty="0" sz="1200" spc="85">
                <a:latin typeface="Arial"/>
                <a:cs typeface="Arial"/>
              </a:rPr>
              <a:t> </a:t>
            </a:r>
            <a:r>
              <a:rPr dirty="0" sz="1200" spc="-5">
                <a:latin typeface="Arial"/>
                <a:cs typeface="Arial"/>
              </a:rPr>
              <a:t>examples,</a:t>
            </a:r>
            <a:r>
              <a:rPr dirty="0" sz="1200" spc="85">
                <a:latin typeface="Arial"/>
                <a:cs typeface="Arial"/>
              </a:rPr>
              <a:t> </a:t>
            </a:r>
            <a:r>
              <a:rPr dirty="0" sz="1200" spc="-5">
                <a:latin typeface="Arial"/>
                <a:cs typeface="Arial"/>
              </a:rPr>
              <a:t>discuss</a:t>
            </a:r>
            <a:r>
              <a:rPr dirty="0" sz="1200" spc="85">
                <a:latin typeface="Arial"/>
                <a:cs typeface="Arial"/>
              </a:rPr>
              <a:t> </a:t>
            </a:r>
            <a:r>
              <a:rPr dirty="0" sz="1200" spc="-5">
                <a:latin typeface="Arial"/>
                <a:cs typeface="Arial"/>
              </a:rPr>
              <a:t>how</a:t>
            </a:r>
            <a:r>
              <a:rPr dirty="0" sz="1200" spc="80">
                <a:latin typeface="Arial"/>
                <a:cs typeface="Arial"/>
              </a:rPr>
              <a:t> </a:t>
            </a:r>
            <a:r>
              <a:rPr dirty="0" sz="1200" spc="-5">
                <a:latin typeface="Arial"/>
                <a:cs typeface="Arial"/>
              </a:rPr>
              <a:t>legal</a:t>
            </a:r>
            <a:r>
              <a:rPr dirty="0" sz="1200" spc="95">
                <a:latin typeface="Arial"/>
                <a:cs typeface="Arial"/>
              </a:rPr>
              <a:t> </a:t>
            </a:r>
            <a:r>
              <a:rPr dirty="0" sz="1200" spc="-5">
                <a:latin typeface="Arial"/>
                <a:cs typeface="Arial"/>
              </a:rPr>
              <a:t>experts</a:t>
            </a:r>
            <a:r>
              <a:rPr dirty="0" sz="1200" spc="90">
                <a:latin typeface="Arial"/>
                <a:cs typeface="Arial"/>
              </a:rPr>
              <a:t> </a:t>
            </a:r>
            <a:r>
              <a:rPr dirty="0" sz="1200" spc="-10">
                <a:latin typeface="Arial"/>
                <a:cs typeface="Arial"/>
              </a:rPr>
              <a:t>have</a:t>
            </a:r>
            <a:r>
              <a:rPr dirty="0" sz="1200" spc="95">
                <a:latin typeface="Arial"/>
                <a:cs typeface="Arial"/>
              </a:rPr>
              <a:t> </a:t>
            </a:r>
            <a:r>
              <a:rPr dirty="0" sz="1200" spc="-5">
                <a:latin typeface="Arial"/>
                <a:cs typeface="Arial"/>
              </a:rPr>
              <a:t>actually</a:t>
            </a:r>
            <a:r>
              <a:rPr dirty="0" sz="1200" spc="80">
                <a:latin typeface="Arial"/>
                <a:cs typeface="Arial"/>
              </a:rPr>
              <a:t> </a:t>
            </a:r>
            <a:r>
              <a:rPr dirty="0" sz="1200" spc="-5">
                <a:latin typeface="Arial"/>
                <a:cs typeface="Arial"/>
              </a:rPr>
              <a:t>done</a:t>
            </a:r>
            <a:r>
              <a:rPr dirty="0" sz="1200" spc="85">
                <a:latin typeface="Arial"/>
                <a:cs typeface="Arial"/>
              </a:rPr>
              <a:t> </a:t>
            </a:r>
            <a:r>
              <a:rPr dirty="0" sz="1200">
                <a:latin typeface="Arial"/>
                <a:cs typeface="Arial"/>
              </a:rPr>
              <a:t>this</a:t>
            </a:r>
            <a:r>
              <a:rPr dirty="0" sz="1200" spc="85">
                <a:latin typeface="Arial"/>
                <a:cs typeface="Arial"/>
              </a:rPr>
              <a:t> </a:t>
            </a:r>
            <a:r>
              <a:rPr dirty="0" sz="1200" spc="-5">
                <a:latin typeface="Arial"/>
                <a:cs typeface="Arial"/>
              </a:rPr>
              <a:t>in</a:t>
            </a:r>
            <a:r>
              <a:rPr dirty="0" sz="1200" spc="85">
                <a:latin typeface="Arial"/>
                <a:cs typeface="Arial"/>
              </a:rPr>
              <a:t> </a:t>
            </a:r>
            <a:r>
              <a:rPr dirty="0" sz="1200" spc="-5">
                <a:latin typeface="Arial"/>
                <a:cs typeface="Arial"/>
              </a:rPr>
              <a:t>practice.</a:t>
            </a:r>
            <a:endParaRPr sz="1200">
              <a:latin typeface="Arial"/>
              <a:cs typeface="Arial"/>
            </a:endParaRPr>
          </a:p>
          <a:p>
            <a:pPr marL="12700">
              <a:lnSpc>
                <a:spcPts val="1410"/>
              </a:lnSpc>
            </a:pPr>
            <a:r>
              <a:rPr dirty="0" sz="1200">
                <a:latin typeface="Arial"/>
                <a:cs typeface="Arial"/>
              </a:rPr>
              <a:t>[8]</a:t>
            </a:r>
            <a:endParaRPr sz="1200">
              <a:latin typeface="Arial"/>
              <a:cs typeface="Arial"/>
            </a:endParaRPr>
          </a:p>
          <a:p>
            <a:pPr>
              <a:lnSpc>
                <a:spcPct val="100000"/>
              </a:lnSpc>
              <a:spcBef>
                <a:spcPts val="35"/>
              </a:spcBef>
            </a:pPr>
            <a:endParaRPr sz="1200">
              <a:latin typeface="Arial"/>
              <a:cs typeface="Arial"/>
            </a:endParaRPr>
          </a:p>
          <a:p>
            <a:pPr marL="12700" marR="9525">
              <a:lnSpc>
                <a:spcPts val="1380"/>
              </a:lnSpc>
              <a:spcBef>
                <a:spcPts val="5"/>
              </a:spcBef>
              <a:buAutoNum type="arabicPlain" startAt="11"/>
              <a:tabLst>
                <a:tab pos="233679" algn="l"/>
              </a:tabLst>
            </a:pPr>
            <a:r>
              <a:rPr dirty="0" sz="1200" spc="-105">
                <a:latin typeface="Arial"/>
                <a:cs typeface="Arial"/>
              </a:rPr>
              <a:t>‗The </a:t>
            </a:r>
            <a:r>
              <a:rPr dirty="0" sz="1200" spc="-5">
                <a:latin typeface="Arial"/>
                <a:cs typeface="Arial"/>
              </a:rPr>
              <a:t>Sunnah of </a:t>
            </a:r>
            <a:r>
              <a:rPr dirty="0" sz="1200">
                <a:latin typeface="Arial"/>
                <a:cs typeface="Arial"/>
              </a:rPr>
              <a:t>the </a:t>
            </a:r>
            <a:r>
              <a:rPr dirty="0" sz="1200" spc="-5">
                <a:latin typeface="Arial"/>
                <a:cs typeface="Arial"/>
              </a:rPr>
              <a:t>Prophet is </a:t>
            </a:r>
            <a:r>
              <a:rPr dirty="0" sz="1200">
                <a:latin typeface="Arial"/>
                <a:cs typeface="Arial"/>
              </a:rPr>
              <a:t>a </a:t>
            </a:r>
            <a:r>
              <a:rPr dirty="0" sz="1200" spc="-5">
                <a:latin typeface="Arial"/>
                <a:cs typeface="Arial"/>
              </a:rPr>
              <a:t>human implementation of the </a:t>
            </a:r>
            <a:r>
              <a:rPr dirty="0" sz="1200" spc="-10">
                <a:latin typeface="Arial"/>
                <a:cs typeface="Arial"/>
              </a:rPr>
              <a:t>revealed </a:t>
            </a:r>
            <a:r>
              <a:rPr dirty="0" sz="1200" spc="-5">
                <a:latin typeface="Arial"/>
                <a:cs typeface="Arial"/>
              </a:rPr>
              <a:t>word of God.‘ </a:t>
            </a:r>
            <a:r>
              <a:rPr dirty="0" sz="1200">
                <a:latin typeface="Arial"/>
                <a:cs typeface="Arial"/>
              </a:rPr>
              <a:t>To  </a:t>
            </a:r>
            <a:r>
              <a:rPr dirty="0" sz="1200" spc="-5">
                <a:latin typeface="Arial"/>
                <a:cs typeface="Arial"/>
              </a:rPr>
              <a:t>what extent is </a:t>
            </a:r>
            <a:r>
              <a:rPr dirty="0" sz="1200">
                <a:latin typeface="Arial"/>
                <a:cs typeface="Arial"/>
              </a:rPr>
              <a:t>this </a:t>
            </a:r>
            <a:r>
              <a:rPr dirty="0" sz="1200" spc="-5">
                <a:latin typeface="Arial"/>
                <a:cs typeface="Arial"/>
              </a:rPr>
              <a:t>claim accurate?</a:t>
            </a:r>
            <a:r>
              <a:rPr dirty="0" sz="1200" spc="20">
                <a:latin typeface="Arial"/>
                <a:cs typeface="Arial"/>
              </a:rPr>
              <a:t> </a:t>
            </a:r>
            <a:r>
              <a:rPr dirty="0" sz="1200" spc="-5">
                <a:latin typeface="Arial"/>
                <a:cs typeface="Arial"/>
              </a:rPr>
              <a:t>[20]</a:t>
            </a:r>
            <a:endParaRPr sz="1200">
              <a:latin typeface="Arial"/>
              <a:cs typeface="Arial"/>
            </a:endParaRPr>
          </a:p>
          <a:p>
            <a:pPr>
              <a:lnSpc>
                <a:spcPct val="100000"/>
              </a:lnSpc>
              <a:spcBef>
                <a:spcPts val="55"/>
              </a:spcBef>
              <a:buFont typeface="Arial"/>
              <a:buAutoNum type="arabicPlain" startAt="11"/>
            </a:pPr>
            <a:endParaRPr sz="1150">
              <a:latin typeface="Arial"/>
              <a:cs typeface="Arial"/>
            </a:endParaRPr>
          </a:p>
          <a:p>
            <a:pPr marL="12700" marR="10795">
              <a:lnSpc>
                <a:spcPts val="1380"/>
              </a:lnSpc>
              <a:buAutoNum type="arabicPlain" startAt="11"/>
              <a:tabLst>
                <a:tab pos="230504" algn="l"/>
              </a:tabLst>
            </a:pPr>
            <a:r>
              <a:rPr dirty="0" sz="1200" spc="-5">
                <a:latin typeface="Arial"/>
                <a:cs typeface="Arial"/>
              </a:rPr>
              <a:t>How relevant is </a:t>
            </a:r>
            <a:r>
              <a:rPr dirty="0" sz="1200">
                <a:latin typeface="Arial"/>
                <a:cs typeface="Arial"/>
              </a:rPr>
              <a:t>the </a:t>
            </a:r>
            <a:r>
              <a:rPr dirty="0" sz="1200" spc="-55">
                <a:latin typeface="Arial"/>
                <a:cs typeface="Arial"/>
              </a:rPr>
              <a:t>Shari‗ah </a:t>
            </a:r>
            <a:r>
              <a:rPr dirty="0" sz="1200" spc="-5">
                <a:latin typeface="Arial"/>
                <a:cs typeface="Arial"/>
              </a:rPr>
              <a:t>to Muslim individuals </a:t>
            </a:r>
            <a:r>
              <a:rPr dirty="0" sz="1200">
                <a:latin typeface="Arial"/>
                <a:cs typeface="Arial"/>
              </a:rPr>
              <a:t>and </a:t>
            </a:r>
            <a:r>
              <a:rPr dirty="0" sz="1200" spc="-5">
                <a:latin typeface="Arial"/>
                <a:cs typeface="Arial"/>
              </a:rPr>
              <a:t>communities in the modern world?  </a:t>
            </a:r>
            <a:r>
              <a:rPr dirty="0" sz="1200">
                <a:latin typeface="Arial"/>
                <a:cs typeface="Arial"/>
              </a:rPr>
              <a:t>[20] </a:t>
            </a:r>
            <a:r>
              <a:rPr dirty="0" sz="1200" spc="-5" b="1">
                <a:latin typeface="Arial"/>
                <a:cs typeface="Arial"/>
              </a:rPr>
              <a:t>(2008)</a:t>
            </a:r>
            <a:endParaRPr sz="1200">
              <a:latin typeface="Arial"/>
              <a:cs typeface="Arial"/>
            </a:endParaRPr>
          </a:p>
          <a:p>
            <a:pPr>
              <a:lnSpc>
                <a:spcPct val="100000"/>
              </a:lnSpc>
            </a:pPr>
            <a:endParaRPr sz="1200">
              <a:latin typeface="Arial"/>
              <a:cs typeface="Arial"/>
            </a:endParaRPr>
          </a:p>
          <a:p>
            <a:pPr marL="12700" marR="8255">
              <a:lnSpc>
                <a:spcPts val="1380"/>
              </a:lnSpc>
              <a:buAutoNum type="arabicPlain" startAt="10"/>
              <a:tabLst>
                <a:tab pos="242570" algn="l"/>
              </a:tabLst>
            </a:pPr>
            <a:r>
              <a:rPr dirty="0" sz="1200" spc="-5">
                <a:latin typeface="Arial"/>
                <a:cs typeface="Arial"/>
              </a:rPr>
              <a:t>How can </a:t>
            </a:r>
            <a:r>
              <a:rPr dirty="0" sz="1200">
                <a:latin typeface="Arial"/>
                <a:cs typeface="Arial"/>
              </a:rPr>
              <a:t>the </a:t>
            </a:r>
            <a:r>
              <a:rPr dirty="0" sz="1200" spc="-5">
                <a:latin typeface="Arial"/>
                <a:cs typeface="Arial"/>
              </a:rPr>
              <a:t>teachings </a:t>
            </a:r>
            <a:r>
              <a:rPr dirty="0" sz="1200">
                <a:latin typeface="Arial"/>
                <a:cs typeface="Arial"/>
              </a:rPr>
              <a:t>of </a:t>
            </a:r>
            <a:r>
              <a:rPr dirty="0" sz="1200" spc="-5">
                <a:latin typeface="Arial"/>
                <a:cs typeface="Arial"/>
              </a:rPr>
              <a:t>Islam </a:t>
            </a:r>
            <a:r>
              <a:rPr dirty="0" sz="1200" spc="10">
                <a:latin typeface="Arial"/>
                <a:cs typeface="Arial"/>
              </a:rPr>
              <a:t>be </a:t>
            </a:r>
            <a:r>
              <a:rPr dirty="0" sz="1200" spc="-5">
                <a:latin typeface="Arial"/>
                <a:cs typeface="Arial"/>
              </a:rPr>
              <a:t>made relevant in new situations? Give examples </a:t>
            </a:r>
            <a:r>
              <a:rPr dirty="0" sz="1200">
                <a:latin typeface="Arial"/>
                <a:cs typeface="Arial"/>
              </a:rPr>
              <a:t>to  </a:t>
            </a:r>
            <a:r>
              <a:rPr dirty="0" sz="1200" spc="-5">
                <a:latin typeface="Arial"/>
                <a:cs typeface="Arial"/>
              </a:rPr>
              <a:t>illustrate your answer. </a:t>
            </a:r>
            <a:r>
              <a:rPr dirty="0" sz="1200">
                <a:latin typeface="Arial"/>
                <a:cs typeface="Arial"/>
              </a:rPr>
              <a:t>[20]</a:t>
            </a:r>
            <a:endParaRPr sz="1200">
              <a:latin typeface="Arial"/>
              <a:cs typeface="Arial"/>
            </a:endParaRPr>
          </a:p>
          <a:p>
            <a:pPr>
              <a:lnSpc>
                <a:spcPct val="100000"/>
              </a:lnSpc>
              <a:spcBef>
                <a:spcPts val="20"/>
              </a:spcBef>
              <a:buFont typeface="Arial"/>
              <a:buAutoNum type="arabicPlain" startAt="10"/>
            </a:pPr>
            <a:endParaRPr sz="1100">
              <a:latin typeface="Arial"/>
              <a:cs typeface="Arial"/>
            </a:endParaRPr>
          </a:p>
          <a:p>
            <a:pPr marL="225425" indent="-213360">
              <a:lnSpc>
                <a:spcPct val="100000"/>
              </a:lnSpc>
              <a:buAutoNum type="arabicPlain" startAt="10"/>
              <a:tabLst>
                <a:tab pos="226060" algn="l"/>
              </a:tabLst>
            </a:pPr>
            <a:r>
              <a:rPr dirty="0" sz="1200" spc="-5">
                <a:latin typeface="Arial"/>
                <a:cs typeface="Arial"/>
              </a:rPr>
              <a:t>Discuss the relationship between the </a:t>
            </a:r>
            <a:r>
              <a:rPr dirty="0" sz="1200">
                <a:latin typeface="Arial"/>
                <a:cs typeface="Arial"/>
              </a:rPr>
              <a:t>four bases </a:t>
            </a:r>
            <a:r>
              <a:rPr dirty="0" sz="1200" spc="-5">
                <a:latin typeface="Arial"/>
                <a:cs typeface="Arial"/>
              </a:rPr>
              <a:t>of the </a:t>
            </a:r>
            <a:r>
              <a:rPr dirty="0" sz="1200">
                <a:latin typeface="Arial"/>
                <a:cs typeface="Arial"/>
              </a:rPr>
              <a:t>Shari </a:t>
            </a:r>
            <a:r>
              <a:rPr dirty="0" sz="1200" spc="-105">
                <a:latin typeface="Arial"/>
                <a:cs typeface="Arial"/>
              </a:rPr>
              <a:t>‗ah.</a:t>
            </a:r>
            <a:r>
              <a:rPr dirty="0" sz="1200" spc="-25">
                <a:latin typeface="Arial"/>
                <a:cs typeface="Arial"/>
              </a:rPr>
              <a:t> </a:t>
            </a:r>
            <a:r>
              <a:rPr dirty="0" sz="1200">
                <a:latin typeface="Arial"/>
                <a:cs typeface="Arial"/>
              </a:rPr>
              <a:t>[20]</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100</a:t>
            </a:r>
            <a:endParaRPr sz="1200">
              <a:latin typeface="Times New Roman"/>
              <a:cs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975105"/>
            <a:ext cx="6303645" cy="2487295"/>
          </a:xfrm>
          <a:prstGeom prst="rect">
            <a:avLst/>
          </a:prstGeom>
        </p:spPr>
        <p:txBody>
          <a:bodyPr wrap="square" lIns="0" tIns="12700" rIns="0" bIns="0" rtlCol="0" vert="horz">
            <a:spAutoFit/>
          </a:bodyPr>
          <a:lstStyle/>
          <a:p>
            <a:pPr marL="12700">
              <a:lnSpc>
                <a:spcPts val="1410"/>
              </a:lnSpc>
              <a:spcBef>
                <a:spcPts val="100"/>
              </a:spcBef>
            </a:pPr>
            <a:r>
              <a:rPr dirty="0" sz="1200" spc="-5">
                <a:latin typeface="Arial"/>
                <a:cs typeface="Arial"/>
              </a:rPr>
              <a:t>12 Define and explain the place</a:t>
            </a:r>
            <a:r>
              <a:rPr dirty="0" sz="1200" spc="10">
                <a:latin typeface="Arial"/>
                <a:cs typeface="Arial"/>
              </a:rPr>
              <a:t> </a:t>
            </a:r>
            <a:r>
              <a:rPr dirty="0" sz="1200" spc="-5">
                <a:latin typeface="Arial"/>
                <a:cs typeface="Arial"/>
              </a:rPr>
              <a:t>of</a:t>
            </a:r>
            <a:endParaRPr sz="1200">
              <a:latin typeface="Arial"/>
              <a:cs typeface="Arial"/>
            </a:endParaRPr>
          </a:p>
          <a:p>
            <a:pPr marL="12700" marR="5401310" indent="128270">
              <a:lnSpc>
                <a:spcPts val="1380"/>
              </a:lnSpc>
              <a:spcBef>
                <a:spcPts val="65"/>
              </a:spcBef>
              <a:buAutoNum type="alphaLcParenBoth"/>
              <a:tabLst>
                <a:tab pos="370205" algn="l"/>
              </a:tabLst>
            </a:pPr>
            <a:r>
              <a:rPr dirty="0" sz="1200">
                <a:latin typeface="Arial"/>
                <a:cs typeface="Arial"/>
              </a:rPr>
              <a:t>S</a:t>
            </a:r>
            <a:r>
              <a:rPr dirty="0" sz="1200" spc="-15">
                <a:latin typeface="Arial"/>
                <a:cs typeface="Arial"/>
              </a:rPr>
              <a:t>u</a:t>
            </a:r>
            <a:r>
              <a:rPr dirty="0" sz="1200" spc="-5">
                <a:latin typeface="Arial"/>
                <a:cs typeface="Arial"/>
              </a:rPr>
              <a:t>nn</a:t>
            </a:r>
            <a:r>
              <a:rPr dirty="0" sz="1200" spc="-15">
                <a:latin typeface="Arial"/>
                <a:cs typeface="Arial"/>
              </a:rPr>
              <a:t>a</a:t>
            </a:r>
            <a:r>
              <a:rPr dirty="0" sz="1200" spc="-5">
                <a:latin typeface="Arial"/>
                <a:cs typeface="Arial"/>
              </a:rPr>
              <a:t>h  </a:t>
            </a:r>
            <a:r>
              <a:rPr dirty="0" sz="1200" spc="-5">
                <a:latin typeface="Arial"/>
                <a:cs typeface="Arial"/>
              </a:rPr>
              <a:t>And</a:t>
            </a:r>
            <a:endParaRPr sz="1200">
              <a:latin typeface="Arial"/>
              <a:cs typeface="Arial"/>
            </a:endParaRPr>
          </a:p>
          <a:p>
            <a:pPr marL="369570" indent="-229235">
              <a:lnSpc>
                <a:spcPts val="1315"/>
              </a:lnSpc>
              <a:buAutoNum type="alphaLcParenBoth"/>
              <a:tabLst>
                <a:tab pos="370205" algn="l"/>
              </a:tabLst>
            </a:pPr>
            <a:r>
              <a:rPr dirty="0" sz="1200" spc="-5">
                <a:latin typeface="Arial"/>
                <a:cs typeface="Arial"/>
              </a:rPr>
              <a:t>Ijtihad</a:t>
            </a:r>
            <a:endParaRPr sz="1200">
              <a:latin typeface="Arial"/>
              <a:cs typeface="Arial"/>
            </a:endParaRPr>
          </a:p>
          <a:p>
            <a:pPr marL="55244">
              <a:lnSpc>
                <a:spcPts val="1410"/>
              </a:lnSpc>
            </a:pPr>
            <a:r>
              <a:rPr dirty="0" sz="1200">
                <a:latin typeface="Arial"/>
                <a:cs typeface="Arial"/>
              </a:rPr>
              <a:t>In </a:t>
            </a:r>
            <a:r>
              <a:rPr dirty="0" sz="1200" spc="-5">
                <a:latin typeface="Arial"/>
                <a:cs typeface="Arial"/>
              </a:rPr>
              <a:t>Islamic legal method. [20]</a:t>
            </a:r>
            <a:r>
              <a:rPr dirty="0" sz="1200" spc="15">
                <a:latin typeface="Arial"/>
                <a:cs typeface="Arial"/>
              </a:rPr>
              <a:t> </a:t>
            </a:r>
            <a:r>
              <a:rPr dirty="0" sz="1200" spc="-5" b="1">
                <a:latin typeface="Arial"/>
                <a:cs typeface="Arial"/>
              </a:rPr>
              <a:t>(2009)</a:t>
            </a:r>
            <a:endParaRPr sz="1200">
              <a:latin typeface="Arial"/>
              <a:cs typeface="Arial"/>
            </a:endParaRPr>
          </a:p>
          <a:p>
            <a:pPr>
              <a:lnSpc>
                <a:spcPct val="100000"/>
              </a:lnSpc>
              <a:spcBef>
                <a:spcPts val="35"/>
              </a:spcBef>
            </a:pPr>
            <a:endParaRPr sz="1200">
              <a:latin typeface="Arial"/>
              <a:cs typeface="Arial"/>
            </a:endParaRPr>
          </a:p>
          <a:p>
            <a:pPr marL="12700" marR="5080">
              <a:lnSpc>
                <a:spcPts val="1380"/>
              </a:lnSpc>
              <a:buAutoNum type="arabicPlain" startAt="10"/>
              <a:tabLst>
                <a:tab pos="250190" algn="l"/>
              </a:tabLst>
            </a:pPr>
            <a:r>
              <a:rPr dirty="0" sz="1200">
                <a:latin typeface="Arial"/>
                <a:cs typeface="Arial"/>
              </a:rPr>
              <a:t>In </a:t>
            </a:r>
            <a:r>
              <a:rPr dirty="0" sz="1200" spc="-5">
                <a:latin typeface="Arial"/>
                <a:cs typeface="Arial"/>
              </a:rPr>
              <a:t>what </a:t>
            </a:r>
            <a:r>
              <a:rPr dirty="0" sz="1200">
                <a:latin typeface="Arial"/>
                <a:cs typeface="Arial"/>
              </a:rPr>
              <a:t>main </a:t>
            </a:r>
            <a:r>
              <a:rPr dirty="0" sz="1200" spc="-5">
                <a:latin typeface="Arial"/>
                <a:cs typeface="Arial"/>
              </a:rPr>
              <a:t>ways have Muslim legal experts made use of </a:t>
            </a:r>
            <a:r>
              <a:rPr dirty="0" sz="1200">
                <a:latin typeface="Arial"/>
                <a:cs typeface="Arial"/>
              </a:rPr>
              <a:t>the </a:t>
            </a:r>
            <a:r>
              <a:rPr dirty="0" sz="1200" spc="-5">
                <a:latin typeface="Arial"/>
                <a:cs typeface="Arial"/>
              </a:rPr>
              <a:t>Prophet Muhammad‘s  Sunnah </a:t>
            </a:r>
            <a:r>
              <a:rPr dirty="0" sz="1200" spc="-10">
                <a:latin typeface="Arial"/>
                <a:cs typeface="Arial"/>
              </a:rPr>
              <a:t>in </a:t>
            </a:r>
            <a:r>
              <a:rPr dirty="0" sz="1200" spc="-5">
                <a:latin typeface="Arial"/>
                <a:cs typeface="Arial"/>
              </a:rPr>
              <a:t>order </a:t>
            </a:r>
            <a:r>
              <a:rPr dirty="0" sz="1200">
                <a:latin typeface="Arial"/>
                <a:cs typeface="Arial"/>
              </a:rPr>
              <a:t>to </a:t>
            </a:r>
            <a:r>
              <a:rPr dirty="0" sz="1200" spc="-5">
                <a:latin typeface="Arial"/>
                <a:cs typeface="Arial"/>
              </a:rPr>
              <a:t>interpret the Qur‘an?</a:t>
            </a:r>
            <a:r>
              <a:rPr dirty="0" sz="1200" spc="35">
                <a:latin typeface="Arial"/>
                <a:cs typeface="Arial"/>
              </a:rPr>
              <a:t> </a:t>
            </a:r>
            <a:r>
              <a:rPr dirty="0" sz="1200" spc="-5">
                <a:latin typeface="Arial"/>
                <a:cs typeface="Arial"/>
              </a:rPr>
              <a:t>[20]</a:t>
            </a:r>
            <a:endParaRPr sz="1200">
              <a:latin typeface="Arial"/>
              <a:cs typeface="Arial"/>
            </a:endParaRPr>
          </a:p>
          <a:p>
            <a:pPr>
              <a:lnSpc>
                <a:spcPct val="100000"/>
              </a:lnSpc>
              <a:buFont typeface="Arial"/>
              <a:buAutoNum type="arabicPlain" startAt="10"/>
            </a:pPr>
            <a:endParaRPr sz="1200">
              <a:latin typeface="Arial"/>
              <a:cs typeface="Arial"/>
            </a:endParaRPr>
          </a:p>
          <a:p>
            <a:pPr marL="12700" marR="6985">
              <a:lnSpc>
                <a:spcPts val="1380"/>
              </a:lnSpc>
              <a:buAutoNum type="arabicPlain" startAt="10"/>
              <a:tabLst>
                <a:tab pos="233679" algn="l"/>
              </a:tabLst>
            </a:pPr>
            <a:r>
              <a:rPr dirty="0" sz="1200" spc="10">
                <a:latin typeface="Arial"/>
                <a:cs typeface="Arial"/>
              </a:rPr>
              <a:t>Why </a:t>
            </a:r>
            <a:r>
              <a:rPr dirty="0" sz="1200" spc="-5">
                <a:latin typeface="Arial"/>
                <a:cs typeface="Arial"/>
              </a:rPr>
              <a:t>was it thought </a:t>
            </a:r>
            <a:r>
              <a:rPr dirty="0" sz="1200">
                <a:latin typeface="Arial"/>
                <a:cs typeface="Arial"/>
              </a:rPr>
              <a:t>necessary to </a:t>
            </a:r>
            <a:r>
              <a:rPr dirty="0" sz="1200" spc="-5">
                <a:latin typeface="Arial"/>
                <a:cs typeface="Arial"/>
              </a:rPr>
              <a:t>make use of consensus (ijma‘) </a:t>
            </a:r>
            <a:r>
              <a:rPr dirty="0" sz="1200">
                <a:latin typeface="Arial"/>
                <a:cs typeface="Arial"/>
              </a:rPr>
              <a:t>and </a:t>
            </a:r>
            <a:r>
              <a:rPr dirty="0" sz="1200" spc="-5">
                <a:latin typeface="Arial"/>
                <a:cs typeface="Arial"/>
              </a:rPr>
              <a:t>analogy (Qiyas) </a:t>
            </a:r>
            <a:r>
              <a:rPr dirty="0" sz="1200">
                <a:latin typeface="Arial"/>
                <a:cs typeface="Arial"/>
              </a:rPr>
              <a:t>by  </a:t>
            </a:r>
            <a:r>
              <a:rPr dirty="0" sz="1200" spc="-5">
                <a:latin typeface="Arial"/>
                <a:cs typeface="Arial"/>
              </a:rPr>
              <a:t>early Muslim legal experts?</a:t>
            </a:r>
            <a:r>
              <a:rPr dirty="0" sz="1200" spc="25">
                <a:latin typeface="Arial"/>
                <a:cs typeface="Arial"/>
              </a:rPr>
              <a:t> </a:t>
            </a:r>
            <a:r>
              <a:rPr dirty="0" sz="1200" spc="-5">
                <a:latin typeface="Arial"/>
                <a:cs typeface="Arial"/>
              </a:rPr>
              <a:t>[20]</a:t>
            </a:r>
            <a:endParaRPr sz="1200">
              <a:latin typeface="Arial"/>
              <a:cs typeface="Arial"/>
            </a:endParaRPr>
          </a:p>
          <a:p>
            <a:pPr>
              <a:lnSpc>
                <a:spcPct val="100000"/>
              </a:lnSpc>
              <a:buFont typeface="Arial"/>
              <a:buAutoNum type="arabicPlain" startAt="10"/>
            </a:pPr>
            <a:endParaRPr sz="1200">
              <a:latin typeface="Arial"/>
              <a:cs typeface="Arial"/>
            </a:endParaRPr>
          </a:p>
          <a:p>
            <a:pPr marL="12700" marR="5715">
              <a:lnSpc>
                <a:spcPts val="1380"/>
              </a:lnSpc>
              <a:buAutoNum type="arabicPlain" startAt="10"/>
              <a:tabLst>
                <a:tab pos="229235" algn="l"/>
              </a:tabLst>
            </a:pPr>
            <a:r>
              <a:rPr dirty="0" sz="1200">
                <a:latin typeface="Arial"/>
                <a:cs typeface="Arial"/>
              </a:rPr>
              <a:t>In a </a:t>
            </a:r>
            <a:r>
              <a:rPr dirty="0" sz="1200" spc="-5">
                <a:latin typeface="Arial"/>
                <a:cs typeface="Arial"/>
              </a:rPr>
              <a:t>rapidly changing world, </a:t>
            </a:r>
            <a:r>
              <a:rPr dirty="0" sz="1200">
                <a:latin typeface="Arial"/>
                <a:cs typeface="Arial"/>
              </a:rPr>
              <a:t>can the </a:t>
            </a:r>
            <a:r>
              <a:rPr dirty="0" sz="1200" spc="-5">
                <a:latin typeface="Arial"/>
                <a:cs typeface="Arial"/>
              </a:rPr>
              <a:t>Qur‘an continue </a:t>
            </a:r>
            <a:r>
              <a:rPr dirty="0" sz="1200">
                <a:latin typeface="Arial"/>
                <a:cs typeface="Arial"/>
              </a:rPr>
              <a:t>to form </a:t>
            </a:r>
            <a:r>
              <a:rPr dirty="0" sz="1200" spc="-5">
                <a:latin typeface="Arial"/>
                <a:cs typeface="Arial"/>
              </a:rPr>
              <a:t>the </a:t>
            </a:r>
            <a:r>
              <a:rPr dirty="0" sz="1200">
                <a:latin typeface="Arial"/>
                <a:cs typeface="Arial"/>
              </a:rPr>
              <a:t>basis </a:t>
            </a:r>
            <a:r>
              <a:rPr dirty="0" sz="1200" spc="-5">
                <a:latin typeface="Arial"/>
                <a:cs typeface="Arial"/>
              </a:rPr>
              <a:t>of belief and action  in </a:t>
            </a:r>
            <a:r>
              <a:rPr dirty="0" sz="1200">
                <a:latin typeface="Arial"/>
                <a:cs typeface="Arial"/>
              </a:rPr>
              <a:t>the </a:t>
            </a:r>
            <a:r>
              <a:rPr dirty="0" sz="1200" spc="-5">
                <a:latin typeface="Arial"/>
                <a:cs typeface="Arial"/>
              </a:rPr>
              <a:t>Muslim community? </a:t>
            </a:r>
            <a:r>
              <a:rPr dirty="0" sz="1200">
                <a:latin typeface="Arial"/>
                <a:cs typeface="Arial"/>
              </a:rPr>
              <a:t>[20]</a:t>
            </a:r>
            <a:r>
              <a:rPr dirty="0" sz="1200" spc="35">
                <a:latin typeface="Arial"/>
                <a:cs typeface="Arial"/>
              </a:rPr>
              <a:t> </a:t>
            </a:r>
            <a:r>
              <a:rPr dirty="0" sz="1200" spc="-10" b="1">
                <a:latin typeface="Arial"/>
                <a:cs typeface="Arial"/>
              </a:rPr>
              <a:t>(2010)</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101</a:t>
            </a:r>
            <a:endParaRPr sz="1200">
              <a:latin typeface="Times New Roman"/>
              <a:cs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2244598" y="799592"/>
            <a:ext cx="2887345" cy="559435"/>
          </a:xfrm>
          <a:prstGeom prst="rect">
            <a:avLst/>
          </a:prstGeom>
        </p:spPr>
        <p:txBody>
          <a:bodyPr wrap="square" lIns="0" tIns="12700" rIns="0" bIns="0" rtlCol="0" vert="horz">
            <a:spAutoFit/>
          </a:bodyPr>
          <a:lstStyle/>
          <a:p>
            <a:pPr algn="ctr" marL="2540">
              <a:lnSpc>
                <a:spcPct val="100000"/>
              </a:lnSpc>
              <a:spcBef>
                <a:spcPts val="100"/>
              </a:spcBef>
            </a:pPr>
            <a:r>
              <a:rPr dirty="0" u="heavy" sz="1200" spc="-5" b="1" i="1">
                <a:uFill>
                  <a:solidFill>
                    <a:srgbClr val="000000"/>
                  </a:solidFill>
                </a:uFill>
                <a:latin typeface="Arial"/>
                <a:cs typeface="Arial"/>
              </a:rPr>
              <a:t>Paper</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2</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5" b="1" i="1">
                <a:solidFill>
                  <a:srgbClr val="221F1F"/>
                </a:solidFill>
                <a:uFill>
                  <a:solidFill>
                    <a:srgbClr val="221F1F"/>
                  </a:solidFill>
                </a:uFill>
                <a:latin typeface="Arial"/>
                <a:cs typeface="Arial"/>
              </a:rPr>
              <a:t>Section A: The Early Dynasties </a:t>
            </a:r>
            <a:r>
              <a:rPr dirty="0" u="heavy" sz="1200" b="1" i="1">
                <a:solidFill>
                  <a:srgbClr val="221F1F"/>
                </a:solidFill>
                <a:uFill>
                  <a:solidFill>
                    <a:srgbClr val="221F1F"/>
                  </a:solidFill>
                </a:uFill>
                <a:latin typeface="Arial"/>
                <a:cs typeface="Arial"/>
              </a:rPr>
              <a:t>of</a:t>
            </a:r>
            <a:r>
              <a:rPr dirty="0" u="heavy" sz="1200" spc="30" b="1" i="1">
                <a:solidFill>
                  <a:srgbClr val="221F1F"/>
                </a:solidFill>
                <a:uFill>
                  <a:solidFill>
                    <a:srgbClr val="221F1F"/>
                  </a:solidFill>
                </a:uFill>
                <a:latin typeface="Arial"/>
                <a:cs typeface="Arial"/>
              </a:rPr>
              <a:t> </a:t>
            </a:r>
            <a:r>
              <a:rPr dirty="0" u="heavy" sz="1200" spc="-5" b="1" i="1">
                <a:solidFill>
                  <a:srgbClr val="221F1F"/>
                </a:solidFill>
                <a:uFill>
                  <a:solidFill>
                    <a:srgbClr val="221F1F"/>
                  </a:solidFill>
                </a:uFill>
                <a:latin typeface="Arial"/>
                <a:cs typeface="Arial"/>
              </a:rPr>
              <a:t>Islam</a:t>
            </a:r>
            <a:endParaRPr sz="1200">
              <a:latin typeface="Arial"/>
              <a:cs typeface="Arial"/>
            </a:endParaRP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9" name="object 9"/>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102</a:t>
            </a:r>
            <a:endParaRPr sz="1200">
              <a:latin typeface="Times New Roman"/>
              <a:cs typeface="Times New Roman"/>
            </a:endParaRPr>
          </a:p>
        </p:txBody>
      </p:sp>
      <p:sp>
        <p:nvSpPr>
          <p:cNvPr id="6" name="object 6"/>
          <p:cNvSpPr txBox="1"/>
          <p:nvPr/>
        </p:nvSpPr>
        <p:spPr>
          <a:xfrm>
            <a:off x="478536" y="1528825"/>
            <a:ext cx="6420485"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Umayyad Dynasties</a:t>
            </a:r>
            <a:endParaRPr sz="1200">
              <a:latin typeface="Arial"/>
              <a:cs typeface="Arial"/>
            </a:endParaRPr>
          </a:p>
        </p:txBody>
      </p:sp>
      <p:sp>
        <p:nvSpPr>
          <p:cNvPr id="7" name="object 7"/>
          <p:cNvSpPr txBox="1"/>
          <p:nvPr/>
        </p:nvSpPr>
        <p:spPr>
          <a:xfrm>
            <a:off x="534416" y="1863597"/>
            <a:ext cx="6311900" cy="7920990"/>
          </a:xfrm>
          <a:prstGeom prst="rect">
            <a:avLst/>
          </a:prstGeom>
        </p:spPr>
        <p:txBody>
          <a:bodyPr wrap="square" lIns="0" tIns="24765" rIns="0" bIns="0" rtlCol="0" vert="horz">
            <a:spAutoFit/>
          </a:bodyPr>
          <a:lstStyle/>
          <a:p>
            <a:pPr algn="just" marL="12700" marR="8255">
              <a:lnSpc>
                <a:spcPts val="1380"/>
              </a:lnSpc>
              <a:spcBef>
                <a:spcPts val="195"/>
              </a:spcBef>
            </a:pPr>
            <a:r>
              <a:rPr dirty="0" sz="1200" spc="-5">
                <a:latin typeface="Arial"/>
                <a:cs typeface="Arial"/>
              </a:rPr>
              <a:t>The </a:t>
            </a:r>
            <a:r>
              <a:rPr dirty="0" sz="1200" spc="-10">
                <a:latin typeface="Arial"/>
                <a:cs typeface="Arial"/>
              </a:rPr>
              <a:t>Umayyad </a:t>
            </a:r>
            <a:r>
              <a:rPr dirty="0" sz="1200" spc="-5">
                <a:latin typeface="Arial"/>
                <a:cs typeface="Arial"/>
              </a:rPr>
              <a:t>Dynasties lasted from the </a:t>
            </a:r>
            <a:r>
              <a:rPr dirty="0" sz="1200" spc="-10">
                <a:latin typeface="Arial"/>
                <a:cs typeface="Arial"/>
              </a:rPr>
              <a:t>year </a:t>
            </a:r>
            <a:r>
              <a:rPr dirty="0" sz="1200" spc="-5">
                <a:latin typeface="Arial"/>
                <a:cs typeface="Arial"/>
              </a:rPr>
              <a:t>661 </a:t>
            </a:r>
            <a:r>
              <a:rPr dirty="0" sz="1200">
                <a:latin typeface="Arial"/>
                <a:cs typeface="Arial"/>
              </a:rPr>
              <a:t>– </a:t>
            </a:r>
            <a:r>
              <a:rPr dirty="0" sz="1200" spc="-5">
                <a:latin typeface="Arial"/>
                <a:cs typeface="Arial"/>
              </a:rPr>
              <a:t>750 CE. They were characterized </a:t>
            </a:r>
            <a:r>
              <a:rPr dirty="0" sz="1200" spc="-10">
                <a:latin typeface="Arial"/>
                <a:cs typeface="Arial"/>
              </a:rPr>
              <a:t>by </a:t>
            </a:r>
            <a:r>
              <a:rPr dirty="0" sz="1200" spc="-5">
                <a:latin typeface="Arial"/>
                <a:cs typeface="Arial"/>
              </a:rPr>
              <a:t>4  </a:t>
            </a:r>
            <a:r>
              <a:rPr dirty="0" sz="1200">
                <a:latin typeface="Arial"/>
                <a:cs typeface="Arial"/>
              </a:rPr>
              <a:t>main </a:t>
            </a:r>
            <a:r>
              <a:rPr dirty="0" sz="1200" spc="-5">
                <a:latin typeface="Arial"/>
                <a:cs typeface="Arial"/>
              </a:rPr>
              <a:t>caliphs: Mu‘awiyah, Abdul </a:t>
            </a:r>
            <a:r>
              <a:rPr dirty="0" sz="1200">
                <a:latin typeface="Arial"/>
                <a:cs typeface="Arial"/>
              </a:rPr>
              <a:t>Malik, </a:t>
            </a:r>
            <a:r>
              <a:rPr dirty="0" sz="1200" spc="-85">
                <a:latin typeface="Arial"/>
                <a:cs typeface="Arial"/>
              </a:rPr>
              <a:t>‗Umar </a:t>
            </a:r>
            <a:r>
              <a:rPr dirty="0" sz="1200">
                <a:latin typeface="Arial"/>
                <a:cs typeface="Arial"/>
              </a:rPr>
              <a:t>II </a:t>
            </a:r>
            <a:r>
              <a:rPr dirty="0" sz="1200" spc="-5">
                <a:latin typeface="Arial"/>
                <a:cs typeface="Arial"/>
              </a:rPr>
              <a:t>and Marwan</a:t>
            </a:r>
            <a:r>
              <a:rPr dirty="0" sz="1200" spc="75">
                <a:latin typeface="Arial"/>
                <a:cs typeface="Arial"/>
              </a:rPr>
              <a:t> </a:t>
            </a:r>
            <a:r>
              <a:rPr dirty="0" sz="1200">
                <a:latin typeface="Arial"/>
                <a:cs typeface="Arial"/>
              </a:rPr>
              <a:t>II.</a:t>
            </a:r>
            <a:endParaRPr sz="1200">
              <a:latin typeface="Arial"/>
              <a:cs typeface="Arial"/>
            </a:endParaRPr>
          </a:p>
          <a:p>
            <a:pPr>
              <a:lnSpc>
                <a:spcPct val="100000"/>
              </a:lnSpc>
              <a:spcBef>
                <a:spcPts val="20"/>
              </a:spcBef>
            </a:pPr>
            <a:endParaRPr sz="1100">
              <a:latin typeface="Arial"/>
              <a:cs typeface="Arial"/>
            </a:endParaRPr>
          </a:p>
          <a:p>
            <a:pPr marL="469900" indent="-229235">
              <a:lnSpc>
                <a:spcPct val="100000"/>
              </a:lnSpc>
              <a:buFont typeface="Wingdings"/>
              <a:buChar char=""/>
              <a:tabLst>
                <a:tab pos="470534" algn="l"/>
              </a:tabLst>
            </a:pPr>
            <a:r>
              <a:rPr dirty="0" u="heavy" sz="1200" spc="-300">
                <a:uFill>
                  <a:solidFill>
                    <a:srgbClr val="000000"/>
                  </a:solidFill>
                </a:uFill>
                <a:latin typeface="Times New Roman"/>
                <a:cs typeface="Times New Roman"/>
              </a:rPr>
              <a:t> </a:t>
            </a:r>
            <a:r>
              <a:rPr dirty="0" u="heavy" sz="1200" spc="-30" b="1" i="1">
                <a:uFill>
                  <a:solidFill>
                    <a:srgbClr val="000000"/>
                  </a:solidFill>
                </a:uFill>
                <a:latin typeface="Arial"/>
                <a:cs typeface="Arial"/>
              </a:rPr>
              <a:t>Mu‟awiyah </a:t>
            </a:r>
            <a:r>
              <a:rPr dirty="0" u="heavy" sz="1200" b="1" i="1">
                <a:uFill>
                  <a:solidFill>
                    <a:srgbClr val="000000"/>
                  </a:solidFill>
                </a:uFill>
                <a:latin typeface="Arial"/>
                <a:cs typeface="Arial"/>
              </a:rPr>
              <a:t>(661 –</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680)</a:t>
            </a:r>
            <a:endParaRPr sz="1200">
              <a:latin typeface="Arial"/>
              <a:cs typeface="Arial"/>
            </a:endParaRPr>
          </a:p>
          <a:p>
            <a:pPr>
              <a:lnSpc>
                <a:spcPct val="100000"/>
              </a:lnSpc>
              <a:buFont typeface="Wingdings"/>
              <a:buChar char=""/>
            </a:pPr>
            <a:endParaRPr sz="1200">
              <a:latin typeface="Arial"/>
              <a:cs typeface="Arial"/>
            </a:endParaRPr>
          </a:p>
          <a:p>
            <a:pPr algn="just" marL="12700" marR="5080">
              <a:lnSpc>
                <a:spcPct val="95800"/>
              </a:lnSpc>
            </a:pPr>
            <a:r>
              <a:rPr dirty="0" sz="1200" spc="-5">
                <a:latin typeface="Arial"/>
                <a:cs typeface="Arial"/>
              </a:rPr>
              <a:t>Mu‘awiyah ibn Abu Sufyan </a:t>
            </a:r>
            <a:r>
              <a:rPr dirty="0" sz="1200" spc="-10">
                <a:latin typeface="Arial"/>
                <a:cs typeface="Arial"/>
              </a:rPr>
              <a:t>was </a:t>
            </a:r>
            <a:r>
              <a:rPr dirty="0" sz="1200">
                <a:latin typeface="Arial"/>
                <a:cs typeface="Arial"/>
              </a:rPr>
              <a:t>the </a:t>
            </a:r>
            <a:r>
              <a:rPr dirty="0" sz="1200" spc="-5">
                <a:latin typeface="Arial"/>
                <a:cs typeface="Arial"/>
              </a:rPr>
              <a:t>governor over Syria </a:t>
            </a:r>
            <a:r>
              <a:rPr dirty="0" sz="1200">
                <a:latin typeface="Arial"/>
                <a:cs typeface="Arial"/>
              </a:rPr>
              <a:t>for </a:t>
            </a:r>
            <a:r>
              <a:rPr dirty="0" sz="1200" spc="-5">
                <a:latin typeface="Arial"/>
                <a:cs typeface="Arial"/>
              </a:rPr>
              <a:t>20 </a:t>
            </a:r>
            <a:r>
              <a:rPr dirty="0" sz="1200" spc="-10">
                <a:latin typeface="Arial"/>
                <a:cs typeface="Arial"/>
              </a:rPr>
              <a:t>years. </a:t>
            </a:r>
            <a:r>
              <a:rPr dirty="0" sz="1200" spc="-5">
                <a:latin typeface="Arial"/>
                <a:cs typeface="Arial"/>
              </a:rPr>
              <a:t>He changed </a:t>
            </a:r>
            <a:r>
              <a:rPr dirty="0" sz="1200" spc="-10">
                <a:latin typeface="Arial"/>
                <a:cs typeface="Arial"/>
              </a:rPr>
              <a:t>Syria </a:t>
            </a:r>
            <a:r>
              <a:rPr dirty="0" sz="1200" spc="-5">
                <a:latin typeface="Arial"/>
                <a:cs typeface="Arial"/>
              </a:rPr>
              <a:t>into  a powerful military and naval base. His career began in 655 with </a:t>
            </a:r>
            <a:r>
              <a:rPr dirty="0" sz="1200">
                <a:latin typeface="Arial"/>
                <a:cs typeface="Arial"/>
              </a:rPr>
              <a:t>the </a:t>
            </a:r>
            <a:r>
              <a:rPr dirty="0" sz="1200" spc="-5">
                <a:latin typeface="Arial"/>
                <a:cs typeface="Arial"/>
              </a:rPr>
              <a:t>murder of the caliph  Othman </a:t>
            </a:r>
            <a:r>
              <a:rPr dirty="0" sz="1200" spc="-10">
                <a:latin typeface="Arial"/>
                <a:cs typeface="Arial"/>
              </a:rPr>
              <a:t>who was </a:t>
            </a:r>
            <a:r>
              <a:rPr dirty="0" sz="1200" spc="-5">
                <a:latin typeface="Arial"/>
                <a:cs typeface="Arial"/>
              </a:rPr>
              <a:t>his cousin. He </a:t>
            </a:r>
            <a:r>
              <a:rPr dirty="0" sz="1200" spc="-10">
                <a:latin typeface="Arial"/>
                <a:cs typeface="Arial"/>
              </a:rPr>
              <a:t>was </a:t>
            </a:r>
            <a:r>
              <a:rPr dirty="0" sz="1200" spc="-5">
                <a:latin typeface="Arial"/>
                <a:cs typeface="Arial"/>
              </a:rPr>
              <a:t>determined </a:t>
            </a:r>
            <a:r>
              <a:rPr dirty="0" sz="1200">
                <a:latin typeface="Arial"/>
                <a:cs typeface="Arial"/>
              </a:rPr>
              <a:t>to </a:t>
            </a:r>
            <a:r>
              <a:rPr dirty="0" sz="1200" spc="-5">
                <a:latin typeface="Arial"/>
                <a:cs typeface="Arial"/>
              </a:rPr>
              <a:t>bring </a:t>
            </a:r>
            <a:r>
              <a:rPr dirty="0" sz="1200">
                <a:latin typeface="Arial"/>
                <a:cs typeface="Arial"/>
              </a:rPr>
              <a:t>the </a:t>
            </a:r>
            <a:r>
              <a:rPr dirty="0" sz="1200" spc="-5">
                <a:latin typeface="Arial"/>
                <a:cs typeface="Arial"/>
              </a:rPr>
              <a:t>murderer </a:t>
            </a:r>
            <a:r>
              <a:rPr dirty="0" sz="1200">
                <a:latin typeface="Arial"/>
                <a:cs typeface="Arial"/>
              </a:rPr>
              <a:t>to </a:t>
            </a:r>
            <a:r>
              <a:rPr dirty="0" sz="1200" spc="-5">
                <a:latin typeface="Arial"/>
                <a:cs typeface="Arial"/>
              </a:rPr>
              <a:t>court. After death  of Ali (ra), he persuaded Imam Hasan (ra), </a:t>
            </a:r>
            <a:r>
              <a:rPr dirty="0" sz="1200">
                <a:latin typeface="Arial"/>
                <a:cs typeface="Arial"/>
              </a:rPr>
              <a:t>to </a:t>
            </a:r>
            <a:r>
              <a:rPr dirty="0" sz="1200" spc="-5">
                <a:latin typeface="Arial"/>
                <a:cs typeface="Arial"/>
              </a:rPr>
              <a:t>renounce his claim </a:t>
            </a:r>
            <a:r>
              <a:rPr dirty="0" sz="1200">
                <a:latin typeface="Arial"/>
                <a:cs typeface="Arial"/>
              </a:rPr>
              <a:t>to the caliphate. </a:t>
            </a:r>
            <a:r>
              <a:rPr dirty="0" sz="1200" spc="-5">
                <a:latin typeface="Arial"/>
                <a:cs typeface="Arial"/>
              </a:rPr>
              <a:t>He set  about restoring </a:t>
            </a:r>
            <a:r>
              <a:rPr dirty="0" sz="1200">
                <a:latin typeface="Arial"/>
                <a:cs typeface="Arial"/>
              </a:rPr>
              <a:t>the </a:t>
            </a:r>
            <a:r>
              <a:rPr dirty="0" sz="1200" spc="-5">
                <a:latin typeface="Arial"/>
                <a:cs typeface="Arial"/>
              </a:rPr>
              <a:t>unity and renewing </a:t>
            </a:r>
            <a:r>
              <a:rPr dirty="0" sz="1200">
                <a:latin typeface="Arial"/>
                <a:cs typeface="Arial"/>
              </a:rPr>
              <a:t>the </a:t>
            </a:r>
            <a:r>
              <a:rPr dirty="0" sz="1200" spc="-5">
                <a:latin typeface="Arial"/>
                <a:cs typeface="Arial"/>
              </a:rPr>
              <a:t>expansion of the Muslim </a:t>
            </a:r>
            <a:r>
              <a:rPr dirty="0" sz="1200" spc="5">
                <a:latin typeface="Arial"/>
                <a:cs typeface="Arial"/>
              </a:rPr>
              <a:t>state. </a:t>
            </a:r>
            <a:r>
              <a:rPr dirty="0" sz="1200" spc="-5">
                <a:latin typeface="Arial"/>
                <a:cs typeface="Arial"/>
              </a:rPr>
              <a:t>He obtained  strength from </a:t>
            </a:r>
            <a:r>
              <a:rPr dirty="0" sz="1200" spc="-10">
                <a:latin typeface="Arial"/>
                <a:cs typeface="Arial"/>
              </a:rPr>
              <a:t>two </a:t>
            </a:r>
            <a:r>
              <a:rPr dirty="0" sz="1200" spc="-5">
                <a:latin typeface="Arial"/>
                <a:cs typeface="Arial"/>
              </a:rPr>
              <a:t>quarters--the Syrian tribesmen and his </a:t>
            </a:r>
            <a:r>
              <a:rPr dirty="0" sz="1200" spc="-10">
                <a:latin typeface="Arial"/>
                <a:cs typeface="Arial"/>
              </a:rPr>
              <a:t>Umayyad </a:t>
            </a:r>
            <a:r>
              <a:rPr dirty="0" sz="1200" spc="-5">
                <a:latin typeface="Arial"/>
                <a:cs typeface="Arial"/>
              </a:rPr>
              <a:t>kinsmen. </a:t>
            </a:r>
            <a:r>
              <a:rPr dirty="0" sz="1200">
                <a:latin typeface="Arial"/>
                <a:cs typeface="Arial"/>
              </a:rPr>
              <a:t>To </a:t>
            </a:r>
            <a:r>
              <a:rPr dirty="0" sz="1200" spc="-5">
                <a:latin typeface="Arial"/>
                <a:cs typeface="Arial"/>
              </a:rPr>
              <a:t>consolidate  </a:t>
            </a:r>
            <a:r>
              <a:rPr dirty="0" sz="1200">
                <a:latin typeface="Arial"/>
                <a:cs typeface="Arial"/>
              </a:rPr>
              <a:t>the </a:t>
            </a:r>
            <a:r>
              <a:rPr dirty="0" sz="1200" spc="-5">
                <a:latin typeface="Arial"/>
                <a:cs typeface="Arial"/>
              </a:rPr>
              <a:t>support of </a:t>
            </a:r>
            <a:r>
              <a:rPr dirty="0" sz="1200">
                <a:latin typeface="Arial"/>
                <a:cs typeface="Arial"/>
              </a:rPr>
              <a:t>the </a:t>
            </a:r>
            <a:r>
              <a:rPr dirty="0" sz="1200" spc="-5">
                <a:latin typeface="Arial"/>
                <a:cs typeface="Arial"/>
              </a:rPr>
              <a:t>Syrian, </a:t>
            </a:r>
            <a:r>
              <a:rPr dirty="0" sz="1200" spc="-10">
                <a:latin typeface="Arial"/>
                <a:cs typeface="Arial"/>
              </a:rPr>
              <a:t>he </a:t>
            </a:r>
            <a:r>
              <a:rPr dirty="0" sz="1200" spc="-5">
                <a:latin typeface="Arial"/>
                <a:cs typeface="Arial"/>
              </a:rPr>
              <a:t>transferred the centre of Muslim government from </a:t>
            </a:r>
            <a:r>
              <a:rPr dirty="0" sz="1200">
                <a:latin typeface="Arial"/>
                <a:cs typeface="Arial"/>
              </a:rPr>
              <a:t>Iraq </a:t>
            </a:r>
            <a:r>
              <a:rPr dirty="0" sz="1200" spc="-5">
                <a:latin typeface="Arial"/>
                <a:cs typeface="Arial"/>
              </a:rPr>
              <a:t>to  Damascus. However, </a:t>
            </a:r>
            <a:r>
              <a:rPr dirty="0" sz="1200">
                <a:latin typeface="Arial"/>
                <a:cs typeface="Arial"/>
              </a:rPr>
              <a:t>there </a:t>
            </a:r>
            <a:r>
              <a:rPr dirty="0" sz="1200" spc="-10">
                <a:latin typeface="Arial"/>
                <a:cs typeface="Arial"/>
              </a:rPr>
              <a:t>was </a:t>
            </a:r>
            <a:r>
              <a:rPr dirty="0" sz="1200" spc="-5">
                <a:latin typeface="Arial"/>
                <a:cs typeface="Arial"/>
              </a:rPr>
              <a:t>a lack of the support from the influential religious </a:t>
            </a:r>
            <a:r>
              <a:rPr dirty="0" sz="1200">
                <a:latin typeface="Arial"/>
                <a:cs typeface="Arial"/>
              </a:rPr>
              <a:t>circles. </a:t>
            </a:r>
            <a:r>
              <a:rPr dirty="0" sz="1200" spc="-5">
                <a:latin typeface="Arial"/>
                <a:cs typeface="Arial"/>
              </a:rPr>
              <a:t>He  transformed the Islamic government to </a:t>
            </a:r>
            <a:r>
              <a:rPr dirty="0" sz="1200" spc="-10">
                <a:latin typeface="Arial"/>
                <a:cs typeface="Arial"/>
              </a:rPr>
              <a:t>an </a:t>
            </a:r>
            <a:r>
              <a:rPr dirty="0" sz="1200" spc="-5">
                <a:latin typeface="Arial"/>
                <a:cs typeface="Arial"/>
              </a:rPr>
              <a:t>Arab tribal aristocracy served by a </a:t>
            </a:r>
            <a:r>
              <a:rPr dirty="0" sz="1200">
                <a:latin typeface="Arial"/>
                <a:cs typeface="Arial"/>
              </a:rPr>
              <a:t>bureaucracy.  </a:t>
            </a:r>
            <a:r>
              <a:rPr dirty="0" sz="1200" spc="-5">
                <a:latin typeface="Arial"/>
                <a:cs typeface="Arial"/>
              </a:rPr>
              <a:t>He created a postal </a:t>
            </a:r>
            <a:r>
              <a:rPr dirty="0" sz="1200" spc="-10">
                <a:latin typeface="Arial"/>
                <a:cs typeface="Arial"/>
              </a:rPr>
              <a:t>service </a:t>
            </a:r>
            <a:r>
              <a:rPr dirty="0" sz="1200" spc="-5">
                <a:latin typeface="Arial"/>
                <a:cs typeface="Arial"/>
              </a:rPr>
              <a:t>and a bureau of </a:t>
            </a:r>
            <a:r>
              <a:rPr dirty="0" sz="1200">
                <a:latin typeface="Arial"/>
                <a:cs typeface="Arial"/>
              </a:rPr>
              <a:t>registry. </a:t>
            </a:r>
            <a:r>
              <a:rPr dirty="0" sz="1200" spc="-5">
                <a:latin typeface="Arial"/>
                <a:cs typeface="Arial"/>
              </a:rPr>
              <a:t>He </a:t>
            </a:r>
            <a:r>
              <a:rPr dirty="0" sz="1200">
                <a:latin typeface="Arial"/>
                <a:cs typeface="Arial"/>
              </a:rPr>
              <a:t>framed </a:t>
            </a:r>
            <a:r>
              <a:rPr dirty="0" sz="1200" spc="-5">
                <a:latin typeface="Arial"/>
                <a:cs typeface="Arial"/>
              </a:rPr>
              <a:t>a </a:t>
            </a:r>
            <a:r>
              <a:rPr dirty="0" sz="1200">
                <a:latin typeface="Arial"/>
                <a:cs typeface="Arial"/>
              </a:rPr>
              <a:t>tolerant </a:t>
            </a:r>
            <a:r>
              <a:rPr dirty="0" sz="1200" spc="-5">
                <a:latin typeface="Arial"/>
                <a:cs typeface="Arial"/>
              </a:rPr>
              <a:t>policy </a:t>
            </a:r>
            <a:r>
              <a:rPr dirty="0" sz="1200">
                <a:latin typeface="Arial"/>
                <a:cs typeface="Arial"/>
              </a:rPr>
              <a:t>toward  </a:t>
            </a:r>
            <a:r>
              <a:rPr dirty="0" sz="1200" spc="-5">
                <a:latin typeface="Arial"/>
                <a:cs typeface="Arial"/>
              </a:rPr>
              <a:t>Christians. </a:t>
            </a:r>
            <a:r>
              <a:rPr dirty="0" sz="1200">
                <a:latin typeface="Arial"/>
                <a:cs typeface="Arial"/>
              </a:rPr>
              <a:t>There </a:t>
            </a:r>
            <a:r>
              <a:rPr dirty="0" sz="1200" spc="-10">
                <a:latin typeface="Arial"/>
                <a:cs typeface="Arial"/>
              </a:rPr>
              <a:t>was </a:t>
            </a:r>
            <a:r>
              <a:rPr dirty="0" sz="1200">
                <a:latin typeface="Arial"/>
                <a:cs typeface="Arial"/>
              </a:rPr>
              <a:t>the </a:t>
            </a:r>
            <a:r>
              <a:rPr dirty="0" sz="1200" spc="-5">
                <a:latin typeface="Arial"/>
                <a:cs typeface="Arial"/>
              </a:rPr>
              <a:t>distribution of bribes </a:t>
            </a:r>
            <a:r>
              <a:rPr dirty="0" sz="1200">
                <a:latin typeface="Arial"/>
                <a:cs typeface="Arial"/>
              </a:rPr>
              <a:t>to </a:t>
            </a:r>
            <a:r>
              <a:rPr dirty="0" sz="1200" spc="-5">
                <a:latin typeface="Arial"/>
                <a:cs typeface="Arial"/>
              </a:rPr>
              <a:t>dissident (rebellious) </a:t>
            </a:r>
            <a:r>
              <a:rPr dirty="0" sz="1200">
                <a:latin typeface="Arial"/>
                <a:cs typeface="Arial"/>
              </a:rPr>
              <a:t>tribes. </a:t>
            </a:r>
            <a:r>
              <a:rPr dirty="0" sz="1200" spc="-5">
                <a:latin typeface="Arial"/>
                <a:cs typeface="Arial"/>
              </a:rPr>
              <a:t>He organised  military expansion </a:t>
            </a:r>
            <a:r>
              <a:rPr dirty="0" sz="1200">
                <a:latin typeface="Arial"/>
                <a:cs typeface="Arial"/>
              </a:rPr>
              <a:t>- </a:t>
            </a:r>
            <a:r>
              <a:rPr dirty="0" sz="1200" spc="-5">
                <a:latin typeface="Arial"/>
                <a:cs typeface="Arial"/>
              </a:rPr>
              <a:t>on </a:t>
            </a:r>
            <a:r>
              <a:rPr dirty="0" sz="1200">
                <a:latin typeface="Arial"/>
                <a:cs typeface="Arial"/>
              </a:rPr>
              <a:t>land </a:t>
            </a:r>
            <a:r>
              <a:rPr dirty="0" sz="1200" spc="-5">
                <a:latin typeface="Arial"/>
                <a:cs typeface="Arial"/>
              </a:rPr>
              <a:t>and sea, to the </a:t>
            </a:r>
            <a:r>
              <a:rPr dirty="0" sz="1200">
                <a:latin typeface="Arial"/>
                <a:cs typeface="Arial"/>
              </a:rPr>
              <a:t>north, east, </a:t>
            </a:r>
            <a:r>
              <a:rPr dirty="0" sz="1200" spc="-5">
                <a:latin typeface="Arial"/>
                <a:cs typeface="Arial"/>
              </a:rPr>
              <a:t>and </a:t>
            </a:r>
            <a:r>
              <a:rPr dirty="0" sz="1200">
                <a:latin typeface="Arial"/>
                <a:cs typeface="Arial"/>
              </a:rPr>
              <a:t>west. </a:t>
            </a:r>
            <a:r>
              <a:rPr dirty="0" sz="1200" spc="-5">
                <a:latin typeface="Arial"/>
                <a:cs typeface="Arial"/>
              </a:rPr>
              <a:t>That </a:t>
            </a:r>
            <a:r>
              <a:rPr dirty="0" sz="1200" spc="-10">
                <a:latin typeface="Arial"/>
                <a:cs typeface="Arial"/>
              </a:rPr>
              <a:t>was </a:t>
            </a:r>
            <a:r>
              <a:rPr dirty="0" sz="1200" spc="-5">
                <a:latin typeface="Arial"/>
                <a:cs typeface="Arial"/>
              </a:rPr>
              <a:t>a new era of  Muslim Arab </a:t>
            </a:r>
            <a:r>
              <a:rPr dirty="0" sz="1200" spc="-10">
                <a:latin typeface="Arial"/>
                <a:cs typeface="Arial"/>
              </a:rPr>
              <a:t>conquest </a:t>
            </a:r>
            <a:r>
              <a:rPr dirty="0" sz="1200" spc="-5">
                <a:latin typeface="Arial"/>
                <a:cs typeface="Arial"/>
              </a:rPr>
              <a:t>which </a:t>
            </a:r>
            <a:r>
              <a:rPr dirty="0" sz="1200" spc="-10">
                <a:latin typeface="Arial"/>
                <a:cs typeface="Arial"/>
              </a:rPr>
              <a:t>was </a:t>
            </a:r>
            <a:r>
              <a:rPr dirty="0" sz="1200" spc="-5">
                <a:latin typeface="Arial"/>
                <a:cs typeface="Arial"/>
              </a:rPr>
              <a:t>established. He established his kingdom </a:t>
            </a:r>
            <a:r>
              <a:rPr dirty="0" sz="1200" spc="5">
                <a:latin typeface="Arial"/>
                <a:cs typeface="Arial"/>
              </a:rPr>
              <a:t>to </a:t>
            </a:r>
            <a:r>
              <a:rPr dirty="0" sz="1200" spc="-5">
                <a:latin typeface="Arial"/>
                <a:cs typeface="Arial"/>
              </a:rPr>
              <a:t>the east, the  north-eastern province of Persia—Khurasan, </a:t>
            </a:r>
            <a:r>
              <a:rPr dirty="0" sz="1200">
                <a:latin typeface="Arial"/>
                <a:cs typeface="Arial"/>
              </a:rPr>
              <a:t>to </a:t>
            </a:r>
            <a:r>
              <a:rPr dirty="0" sz="1200" spc="-5">
                <a:latin typeface="Arial"/>
                <a:cs typeface="Arial"/>
              </a:rPr>
              <a:t>the west, North Africa as </a:t>
            </a:r>
            <a:r>
              <a:rPr dirty="0" sz="1200">
                <a:latin typeface="Arial"/>
                <a:cs typeface="Arial"/>
              </a:rPr>
              <a:t>far </a:t>
            </a:r>
            <a:r>
              <a:rPr dirty="0" sz="1200" spc="-5">
                <a:latin typeface="Arial"/>
                <a:cs typeface="Arial"/>
              </a:rPr>
              <a:t>west as Algeria  and </a:t>
            </a:r>
            <a:r>
              <a:rPr dirty="0" sz="1200">
                <a:latin typeface="Arial"/>
                <a:cs typeface="Arial"/>
              </a:rPr>
              <a:t>to </a:t>
            </a:r>
            <a:r>
              <a:rPr dirty="0" sz="1200" spc="-5">
                <a:latin typeface="Arial"/>
                <a:cs typeface="Arial"/>
              </a:rPr>
              <a:t>the north, with the</a:t>
            </a:r>
            <a:r>
              <a:rPr dirty="0" sz="1200">
                <a:latin typeface="Arial"/>
                <a:cs typeface="Arial"/>
              </a:rPr>
              <a:t> </a:t>
            </a:r>
            <a:r>
              <a:rPr dirty="0" sz="1200" spc="-5">
                <a:latin typeface="Arial"/>
                <a:cs typeface="Arial"/>
              </a:rPr>
              <a:t>Byzantine.</a:t>
            </a:r>
            <a:endParaRPr sz="1200">
              <a:latin typeface="Arial"/>
              <a:cs typeface="Arial"/>
            </a:endParaRPr>
          </a:p>
          <a:p>
            <a:pPr>
              <a:lnSpc>
                <a:spcPct val="100000"/>
              </a:lnSpc>
            </a:pPr>
            <a:endParaRPr sz="1150">
              <a:latin typeface="Arial"/>
              <a:cs typeface="Arial"/>
            </a:endParaRPr>
          </a:p>
          <a:p>
            <a:pPr marL="469900" indent="-229235">
              <a:lnSpc>
                <a:spcPct val="100000"/>
              </a:lnSpc>
              <a:buFont typeface="Wingdings"/>
              <a:buChar char=""/>
              <a:tabLst>
                <a:tab pos="470534" algn="l"/>
              </a:tabLst>
            </a:pPr>
            <a:r>
              <a:rPr dirty="0" u="heavy" sz="1200" spc="-5" b="1" i="1">
                <a:uFill>
                  <a:solidFill>
                    <a:srgbClr val="000000"/>
                  </a:solidFill>
                </a:uFill>
                <a:latin typeface="Arial"/>
                <a:cs typeface="Arial"/>
              </a:rPr>
              <a:t>Abdul Malik (685 </a:t>
            </a:r>
            <a:r>
              <a:rPr dirty="0" u="heavy" sz="1200" b="1" i="1">
                <a:uFill>
                  <a:solidFill>
                    <a:srgbClr val="000000"/>
                  </a:solidFill>
                </a:uFill>
                <a:latin typeface="Arial"/>
                <a:cs typeface="Arial"/>
              </a:rPr>
              <a:t>–</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705)</a:t>
            </a:r>
            <a:endParaRPr sz="1200">
              <a:latin typeface="Arial"/>
              <a:cs typeface="Arial"/>
            </a:endParaRPr>
          </a:p>
          <a:p>
            <a:pPr>
              <a:lnSpc>
                <a:spcPct val="100000"/>
              </a:lnSpc>
              <a:spcBef>
                <a:spcPts val="55"/>
              </a:spcBef>
              <a:buFont typeface="Wingdings"/>
              <a:buChar char=""/>
            </a:pPr>
            <a:endParaRPr sz="1150">
              <a:latin typeface="Arial"/>
              <a:cs typeface="Arial"/>
            </a:endParaRPr>
          </a:p>
          <a:p>
            <a:pPr algn="just" marL="12700" marR="5080">
              <a:lnSpc>
                <a:spcPct val="95900"/>
              </a:lnSpc>
            </a:pPr>
            <a:r>
              <a:rPr dirty="0" sz="1200" spc="-5">
                <a:latin typeface="Arial"/>
                <a:cs typeface="Arial"/>
              </a:rPr>
              <a:t>He </a:t>
            </a:r>
            <a:r>
              <a:rPr dirty="0" sz="1200" spc="-10">
                <a:latin typeface="Arial"/>
                <a:cs typeface="Arial"/>
              </a:rPr>
              <a:t>was </a:t>
            </a:r>
            <a:r>
              <a:rPr dirty="0" sz="1200" spc="-5">
                <a:latin typeface="Arial"/>
                <a:cs typeface="Arial"/>
              </a:rPr>
              <a:t>recognized by his partisans and he strengthened the governmental administration.  He adopted Arabic as </a:t>
            </a:r>
            <a:r>
              <a:rPr dirty="0" sz="1200">
                <a:latin typeface="Arial"/>
                <a:cs typeface="Arial"/>
              </a:rPr>
              <a:t>the </a:t>
            </a:r>
            <a:r>
              <a:rPr dirty="0" sz="1200" spc="-5">
                <a:latin typeface="Arial"/>
                <a:cs typeface="Arial"/>
              </a:rPr>
              <a:t>language of administration. He crushed his Enemies: the  Kharijites, the Shi'ah, and the </a:t>
            </a:r>
            <a:r>
              <a:rPr dirty="0" sz="1200">
                <a:latin typeface="Arial"/>
                <a:cs typeface="Arial"/>
              </a:rPr>
              <a:t>forces </a:t>
            </a:r>
            <a:r>
              <a:rPr dirty="0" sz="1200" spc="-5">
                <a:latin typeface="Arial"/>
                <a:cs typeface="Arial"/>
              </a:rPr>
              <a:t>of the anticaliph 'Abdallah ibn </a:t>
            </a:r>
            <a:r>
              <a:rPr dirty="0" sz="1200">
                <a:latin typeface="Arial"/>
                <a:cs typeface="Arial"/>
              </a:rPr>
              <a:t>az-Zubayr. The </a:t>
            </a:r>
            <a:r>
              <a:rPr dirty="0" sz="1200" spc="-5">
                <a:latin typeface="Arial"/>
                <a:cs typeface="Arial"/>
              </a:rPr>
              <a:t>Khawarij  </a:t>
            </a:r>
            <a:r>
              <a:rPr dirty="0" sz="1200" spc="-10">
                <a:latin typeface="Arial"/>
                <a:cs typeface="Arial"/>
              </a:rPr>
              <a:t>was </a:t>
            </a:r>
            <a:r>
              <a:rPr dirty="0" sz="1200">
                <a:latin typeface="Arial"/>
                <a:cs typeface="Arial"/>
              </a:rPr>
              <a:t>still </a:t>
            </a:r>
            <a:r>
              <a:rPr dirty="0" sz="1200" spc="-5">
                <a:latin typeface="Arial"/>
                <a:cs typeface="Arial"/>
              </a:rPr>
              <a:t>being a </a:t>
            </a:r>
            <a:r>
              <a:rPr dirty="0" sz="1200">
                <a:latin typeface="Arial"/>
                <a:cs typeface="Arial"/>
              </a:rPr>
              <a:t>problem. </a:t>
            </a:r>
            <a:r>
              <a:rPr dirty="0" sz="1200" spc="-5">
                <a:latin typeface="Arial"/>
                <a:cs typeface="Arial"/>
              </a:rPr>
              <a:t>'Abd al-Malik had appointed al-Hajjaj </a:t>
            </a:r>
            <a:r>
              <a:rPr dirty="0" sz="1200">
                <a:latin typeface="Arial"/>
                <a:cs typeface="Arial"/>
              </a:rPr>
              <a:t>to </a:t>
            </a:r>
            <a:r>
              <a:rPr dirty="0" sz="1200" spc="-5">
                <a:latin typeface="Arial"/>
                <a:cs typeface="Arial"/>
              </a:rPr>
              <a:t>govern Basra </a:t>
            </a:r>
            <a:r>
              <a:rPr dirty="0" sz="1200">
                <a:latin typeface="Arial"/>
                <a:cs typeface="Arial"/>
              </a:rPr>
              <a:t>that  </a:t>
            </a:r>
            <a:r>
              <a:rPr dirty="0" sz="1200" spc="-5">
                <a:latin typeface="Arial"/>
                <a:cs typeface="Arial"/>
              </a:rPr>
              <a:t>campaigns against them began to prove </a:t>
            </a:r>
            <a:r>
              <a:rPr dirty="0" sz="1200">
                <a:latin typeface="Arial"/>
                <a:cs typeface="Arial"/>
              </a:rPr>
              <a:t>successful. </a:t>
            </a:r>
            <a:r>
              <a:rPr dirty="0" sz="1200" spc="-5">
                <a:latin typeface="Arial"/>
                <a:cs typeface="Arial"/>
              </a:rPr>
              <a:t>In the north of Kufah, another Kharijite  </a:t>
            </a:r>
            <a:r>
              <a:rPr dirty="0" sz="1200">
                <a:latin typeface="Arial"/>
                <a:cs typeface="Arial"/>
              </a:rPr>
              <a:t>trouble </a:t>
            </a:r>
            <a:r>
              <a:rPr dirty="0" sz="1200" spc="-5">
                <a:latin typeface="Arial"/>
                <a:cs typeface="Arial"/>
              </a:rPr>
              <a:t>centre developed. </a:t>
            </a:r>
            <a:r>
              <a:rPr dirty="0" sz="1200">
                <a:latin typeface="Arial"/>
                <a:cs typeface="Arial"/>
              </a:rPr>
              <a:t>The </a:t>
            </a:r>
            <a:r>
              <a:rPr dirty="0" sz="1200" spc="-5">
                <a:latin typeface="Arial"/>
                <a:cs typeface="Arial"/>
              </a:rPr>
              <a:t>Kharijite movement remained strong, especially </a:t>
            </a:r>
            <a:r>
              <a:rPr dirty="0" sz="1200">
                <a:latin typeface="Arial"/>
                <a:cs typeface="Arial"/>
              </a:rPr>
              <a:t>among </a:t>
            </a:r>
            <a:r>
              <a:rPr dirty="0" sz="1200" spc="-5">
                <a:latin typeface="Arial"/>
                <a:cs typeface="Arial"/>
              </a:rPr>
              <a:t>the  </a:t>
            </a:r>
            <a:r>
              <a:rPr dirty="0" sz="1200">
                <a:latin typeface="Arial"/>
                <a:cs typeface="Arial"/>
              </a:rPr>
              <a:t>Bakr </a:t>
            </a:r>
            <a:r>
              <a:rPr dirty="0" sz="1200" spc="-5">
                <a:latin typeface="Arial"/>
                <a:cs typeface="Arial"/>
              </a:rPr>
              <a:t>tribes between Mosul and Kufah. He captured Carthage </a:t>
            </a:r>
            <a:r>
              <a:rPr dirty="0" sz="1200" spc="-10">
                <a:latin typeface="Arial"/>
                <a:cs typeface="Arial"/>
              </a:rPr>
              <a:t>and </a:t>
            </a:r>
            <a:r>
              <a:rPr dirty="0" sz="1200" spc="-5">
                <a:latin typeface="Arial"/>
                <a:cs typeface="Arial"/>
              </a:rPr>
              <a:t>other </a:t>
            </a:r>
            <a:r>
              <a:rPr dirty="0" sz="1200">
                <a:latin typeface="Arial"/>
                <a:cs typeface="Arial"/>
              </a:rPr>
              <a:t>coastal </a:t>
            </a:r>
            <a:r>
              <a:rPr dirty="0" sz="1200" spc="-5">
                <a:latin typeface="Arial"/>
                <a:cs typeface="Arial"/>
              </a:rPr>
              <a:t>cities </a:t>
            </a:r>
            <a:r>
              <a:rPr dirty="0" sz="1200">
                <a:latin typeface="Arial"/>
                <a:cs typeface="Arial"/>
              </a:rPr>
              <a:t>fell,  </a:t>
            </a:r>
            <a:r>
              <a:rPr dirty="0" sz="1200" spc="-5">
                <a:latin typeface="Arial"/>
                <a:cs typeface="Arial"/>
              </a:rPr>
              <a:t>and thus there </a:t>
            </a:r>
            <a:r>
              <a:rPr dirty="0" sz="1200" spc="-10">
                <a:latin typeface="Arial"/>
                <a:cs typeface="Arial"/>
              </a:rPr>
              <a:t>was </a:t>
            </a:r>
            <a:r>
              <a:rPr dirty="0" sz="1200" spc="-5">
                <a:latin typeface="Arial"/>
                <a:cs typeface="Arial"/>
              </a:rPr>
              <a:t>the work of pacification and </a:t>
            </a:r>
            <a:r>
              <a:rPr dirty="0" sz="1200">
                <a:latin typeface="Arial"/>
                <a:cs typeface="Arial"/>
              </a:rPr>
              <a:t>Islamization. </a:t>
            </a:r>
            <a:r>
              <a:rPr dirty="0" sz="1200" spc="-5">
                <a:latin typeface="Arial"/>
                <a:cs typeface="Arial"/>
              </a:rPr>
              <a:t>He set </a:t>
            </a:r>
            <a:r>
              <a:rPr dirty="0" sz="1200" spc="-10">
                <a:latin typeface="Arial"/>
                <a:cs typeface="Arial"/>
              </a:rPr>
              <a:t>up </a:t>
            </a:r>
            <a:r>
              <a:rPr dirty="0" sz="1200" spc="-5">
                <a:latin typeface="Arial"/>
                <a:cs typeface="Arial"/>
              </a:rPr>
              <a:t>a money </a:t>
            </a:r>
            <a:r>
              <a:rPr dirty="0" sz="1200">
                <a:latin typeface="Arial"/>
                <a:cs typeface="Arial"/>
              </a:rPr>
              <a:t>system. </a:t>
            </a:r>
            <a:r>
              <a:rPr dirty="0" sz="1200" spc="-5">
                <a:latin typeface="Arial"/>
                <a:cs typeface="Arial"/>
              </a:rPr>
              <a:t>He  built mosques from local materials. There was </a:t>
            </a:r>
            <a:r>
              <a:rPr dirty="0" sz="1200">
                <a:latin typeface="Arial"/>
                <a:cs typeface="Arial"/>
              </a:rPr>
              <a:t>the </a:t>
            </a:r>
            <a:r>
              <a:rPr dirty="0" sz="1200" spc="-5">
                <a:latin typeface="Arial"/>
                <a:cs typeface="Arial"/>
              </a:rPr>
              <a:t>system of coinage and development in  religious </a:t>
            </a:r>
            <a:r>
              <a:rPr dirty="0" sz="1200">
                <a:latin typeface="Arial"/>
                <a:cs typeface="Arial"/>
              </a:rPr>
              <a:t>architecture. </a:t>
            </a:r>
            <a:r>
              <a:rPr dirty="0" sz="1200" spc="-5">
                <a:latin typeface="Arial"/>
                <a:cs typeface="Arial"/>
              </a:rPr>
              <a:t>He made </a:t>
            </a:r>
            <a:r>
              <a:rPr dirty="0" sz="1200">
                <a:latin typeface="Arial"/>
                <a:cs typeface="Arial"/>
              </a:rPr>
              <a:t>the Dome </a:t>
            </a:r>
            <a:r>
              <a:rPr dirty="0" sz="1200" spc="-5">
                <a:latin typeface="Arial"/>
                <a:cs typeface="Arial"/>
              </a:rPr>
              <a:t>of </a:t>
            </a:r>
            <a:r>
              <a:rPr dirty="0" sz="1200">
                <a:latin typeface="Arial"/>
                <a:cs typeface="Arial"/>
              </a:rPr>
              <a:t>the Rock, the </a:t>
            </a:r>
            <a:r>
              <a:rPr dirty="0" sz="1200" spc="-5">
                <a:latin typeface="Arial"/>
                <a:cs typeface="Arial"/>
              </a:rPr>
              <a:t>Aqsa Mosque in Jerusalem and  </a:t>
            </a:r>
            <a:r>
              <a:rPr dirty="0" sz="1200">
                <a:latin typeface="Arial"/>
                <a:cs typeface="Arial"/>
              </a:rPr>
              <a:t>the </a:t>
            </a:r>
            <a:r>
              <a:rPr dirty="0" sz="1200" spc="-5">
                <a:latin typeface="Arial"/>
                <a:cs typeface="Arial"/>
              </a:rPr>
              <a:t>Great Mosque of </a:t>
            </a:r>
            <a:r>
              <a:rPr dirty="0" sz="1200">
                <a:latin typeface="Arial"/>
                <a:cs typeface="Arial"/>
              </a:rPr>
              <a:t>Damascus.</a:t>
            </a:r>
            <a:endParaRPr sz="1200">
              <a:latin typeface="Arial"/>
              <a:cs typeface="Arial"/>
            </a:endParaRPr>
          </a:p>
          <a:p>
            <a:pPr>
              <a:lnSpc>
                <a:spcPct val="100000"/>
              </a:lnSpc>
              <a:spcBef>
                <a:spcPts val="55"/>
              </a:spcBef>
            </a:pPr>
            <a:endParaRPr sz="1100">
              <a:latin typeface="Arial"/>
              <a:cs typeface="Arial"/>
            </a:endParaRPr>
          </a:p>
          <a:p>
            <a:pPr marL="469900" indent="-229235">
              <a:lnSpc>
                <a:spcPct val="100000"/>
              </a:lnSpc>
              <a:buFont typeface="Wingdings"/>
              <a:buChar char=""/>
              <a:tabLst>
                <a:tab pos="470534" algn="l"/>
              </a:tabLst>
            </a:pPr>
            <a:r>
              <a:rPr dirty="0" u="heavy" sz="1200" spc="-300">
                <a:uFill>
                  <a:solidFill>
                    <a:srgbClr val="000000"/>
                  </a:solidFill>
                </a:uFill>
                <a:latin typeface="Times New Roman"/>
                <a:cs typeface="Times New Roman"/>
              </a:rPr>
              <a:t> </a:t>
            </a:r>
            <a:r>
              <a:rPr dirty="0" u="heavy" sz="1200" spc="-60" b="1" i="1">
                <a:uFill>
                  <a:solidFill>
                    <a:srgbClr val="000000"/>
                  </a:solidFill>
                </a:uFill>
                <a:latin typeface="Arial"/>
                <a:cs typeface="Arial"/>
              </a:rPr>
              <a:t>„Umar </a:t>
            </a:r>
            <a:r>
              <a:rPr dirty="0" u="heavy" sz="1200" b="1" i="1">
                <a:uFill>
                  <a:solidFill>
                    <a:srgbClr val="000000"/>
                  </a:solidFill>
                </a:uFill>
                <a:latin typeface="Arial"/>
                <a:cs typeface="Arial"/>
              </a:rPr>
              <a:t>II (717 –</a:t>
            </a:r>
            <a:r>
              <a:rPr dirty="0" u="heavy" sz="1200" spc="55" b="1" i="1">
                <a:uFill>
                  <a:solidFill>
                    <a:srgbClr val="000000"/>
                  </a:solidFill>
                </a:uFill>
                <a:latin typeface="Arial"/>
                <a:cs typeface="Arial"/>
              </a:rPr>
              <a:t> </a:t>
            </a:r>
            <a:r>
              <a:rPr dirty="0" u="heavy" sz="1200" spc="-5" b="1" i="1">
                <a:uFill>
                  <a:solidFill>
                    <a:srgbClr val="000000"/>
                  </a:solidFill>
                </a:uFill>
                <a:latin typeface="Arial"/>
                <a:cs typeface="Arial"/>
              </a:rPr>
              <a:t>720)</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spc="-5">
                <a:latin typeface="Arial"/>
                <a:cs typeface="Arial"/>
              </a:rPr>
              <a:t>He </a:t>
            </a:r>
            <a:r>
              <a:rPr dirty="0" sz="1200" spc="-10">
                <a:latin typeface="Arial"/>
                <a:cs typeface="Arial"/>
              </a:rPr>
              <a:t>was </a:t>
            </a:r>
            <a:r>
              <a:rPr dirty="0" sz="1200">
                <a:latin typeface="Arial"/>
                <a:cs typeface="Arial"/>
              </a:rPr>
              <a:t>not </a:t>
            </a:r>
            <a:r>
              <a:rPr dirty="0" sz="1200" spc="-5">
                <a:latin typeface="Arial"/>
                <a:cs typeface="Arial"/>
              </a:rPr>
              <a:t>a hereditary </a:t>
            </a:r>
            <a:r>
              <a:rPr dirty="0" sz="1200">
                <a:latin typeface="Arial"/>
                <a:cs typeface="Arial"/>
              </a:rPr>
              <a:t>successor to </a:t>
            </a:r>
            <a:r>
              <a:rPr dirty="0" sz="1200" spc="-5">
                <a:latin typeface="Arial"/>
                <a:cs typeface="Arial"/>
              </a:rPr>
              <a:t>the </a:t>
            </a:r>
            <a:r>
              <a:rPr dirty="0" sz="1200">
                <a:latin typeface="Arial"/>
                <a:cs typeface="Arial"/>
              </a:rPr>
              <a:t>former caliph, </a:t>
            </a:r>
            <a:r>
              <a:rPr dirty="0" sz="1200" spc="-5">
                <a:latin typeface="Arial"/>
                <a:cs typeface="Arial"/>
              </a:rPr>
              <a:t>but </a:t>
            </a:r>
            <a:r>
              <a:rPr dirty="0" sz="1200" spc="-10">
                <a:latin typeface="Arial"/>
                <a:cs typeface="Arial"/>
              </a:rPr>
              <a:t>was </a:t>
            </a:r>
            <a:r>
              <a:rPr dirty="0" sz="1200" spc="-5">
                <a:latin typeface="Arial"/>
                <a:cs typeface="Arial"/>
              </a:rPr>
              <a:t>appointed. His mother was a  granddaughter of Hazrat Umar </a:t>
            </a:r>
            <a:r>
              <a:rPr dirty="0" sz="1200">
                <a:latin typeface="Arial"/>
                <a:cs typeface="Arial"/>
              </a:rPr>
              <a:t>(r.a). </a:t>
            </a:r>
            <a:r>
              <a:rPr dirty="0" sz="1200" spc="-5">
                <a:latin typeface="Arial"/>
                <a:cs typeface="Arial"/>
              </a:rPr>
              <a:t>He formed a council with which he administered </a:t>
            </a:r>
            <a:r>
              <a:rPr dirty="0" sz="1200">
                <a:latin typeface="Arial"/>
                <a:cs typeface="Arial"/>
              </a:rPr>
              <a:t>the  </a:t>
            </a:r>
            <a:r>
              <a:rPr dirty="0" sz="1200" spc="-5">
                <a:latin typeface="Arial"/>
                <a:cs typeface="Arial"/>
              </a:rPr>
              <a:t>province. He preferred </a:t>
            </a:r>
            <a:r>
              <a:rPr dirty="0" sz="1200">
                <a:latin typeface="Arial"/>
                <a:cs typeface="Arial"/>
              </a:rPr>
              <a:t>to </a:t>
            </a:r>
            <a:r>
              <a:rPr dirty="0" sz="1200" spc="-5">
                <a:latin typeface="Arial"/>
                <a:cs typeface="Arial"/>
              </a:rPr>
              <a:t>keep things </a:t>
            </a:r>
            <a:r>
              <a:rPr dirty="0" sz="1200">
                <a:latin typeface="Arial"/>
                <a:cs typeface="Arial"/>
              </a:rPr>
              <a:t>simple. </a:t>
            </a:r>
            <a:r>
              <a:rPr dirty="0" sz="1200" spc="-5">
                <a:latin typeface="Arial"/>
                <a:cs typeface="Arial"/>
              </a:rPr>
              <a:t>All depositing equipment in </a:t>
            </a:r>
            <a:r>
              <a:rPr dirty="0" sz="1200">
                <a:latin typeface="Arial"/>
                <a:cs typeface="Arial"/>
              </a:rPr>
              <a:t>the </a:t>
            </a:r>
            <a:r>
              <a:rPr dirty="0" sz="1200" spc="-5">
                <a:latin typeface="Arial"/>
                <a:cs typeface="Arial"/>
              </a:rPr>
              <a:t>public treasury  </a:t>
            </a:r>
            <a:r>
              <a:rPr dirty="0" sz="1200" spc="-10">
                <a:latin typeface="Arial"/>
                <a:cs typeface="Arial"/>
              </a:rPr>
              <a:t>was </a:t>
            </a:r>
            <a:r>
              <a:rPr dirty="0" sz="1200">
                <a:latin typeface="Arial"/>
                <a:cs typeface="Arial"/>
              </a:rPr>
              <a:t>meant </a:t>
            </a:r>
            <a:r>
              <a:rPr dirty="0" sz="1200" spc="5">
                <a:latin typeface="Arial"/>
                <a:cs typeface="Arial"/>
              </a:rPr>
              <a:t>for </a:t>
            </a:r>
            <a:r>
              <a:rPr dirty="0" sz="1200" spc="-5">
                <a:latin typeface="Arial"/>
                <a:cs typeface="Arial"/>
              </a:rPr>
              <a:t>the </a:t>
            </a:r>
            <a:r>
              <a:rPr dirty="0" sz="1200">
                <a:latin typeface="Arial"/>
                <a:cs typeface="Arial"/>
              </a:rPr>
              <a:t>caliph. </a:t>
            </a:r>
            <a:r>
              <a:rPr dirty="0" sz="1200" spc="-5">
                <a:latin typeface="Arial"/>
                <a:cs typeface="Arial"/>
              </a:rPr>
              <a:t>He decided in abandoning </a:t>
            </a:r>
            <a:r>
              <a:rPr dirty="0" sz="1200">
                <a:latin typeface="Arial"/>
                <a:cs typeface="Arial"/>
              </a:rPr>
              <a:t>the </a:t>
            </a:r>
            <a:r>
              <a:rPr dirty="0" sz="1200" spc="-5">
                <a:latin typeface="Arial"/>
                <a:cs typeface="Arial"/>
              </a:rPr>
              <a:t>palace to the family of Suleiman </a:t>
            </a:r>
            <a:r>
              <a:rPr dirty="0" sz="1200" spc="-15">
                <a:latin typeface="Arial"/>
                <a:cs typeface="Arial"/>
              </a:rPr>
              <a:t>and  </a:t>
            </a:r>
            <a:r>
              <a:rPr dirty="0" sz="1200" spc="-5">
                <a:latin typeface="Arial"/>
                <a:cs typeface="Arial"/>
              </a:rPr>
              <a:t>lived in a </a:t>
            </a:r>
            <a:r>
              <a:rPr dirty="0" sz="1200">
                <a:latin typeface="Arial"/>
                <a:cs typeface="Arial"/>
              </a:rPr>
              <a:t>tent. </a:t>
            </a:r>
            <a:r>
              <a:rPr dirty="0" sz="1200" spc="-5">
                <a:latin typeface="Arial"/>
                <a:cs typeface="Arial"/>
              </a:rPr>
              <a:t>He </a:t>
            </a:r>
            <a:r>
              <a:rPr dirty="0" sz="1200" spc="-10">
                <a:latin typeface="Arial"/>
                <a:cs typeface="Arial"/>
              </a:rPr>
              <a:t>was </a:t>
            </a:r>
            <a:r>
              <a:rPr dirty="0" sz="1200" spc="-5">
                <a:latin typeface="Arial"/>
                <a:cs typeface="Arial"/>
              </a:rPr>
              <a:t>publicly encouraging the people to </a:t>
            </a:r>
            <a:r>
              <a:rPr dirty="0" sz="1200">
                <a:latin typeface="Arial"/>
                <a:cs typeface="Arial"/>
              </a:rPr>
              <a:t>elect </a:t>
            </a:r>
            <a:r>
              <a:rPr dirty="0" sz="1200" spc="-5">
                <a:latin typeface="Arial"/>
                <a:cs typeface="Arial"/>
              </a:rPr>
              <a:t>someone else </a:t>
            </a:r>
            <a:r>
              <a:rPr dirty="0" sz="1200" spc="-10">
                <a:latin typeface="Arial"/>
                <a:cs typeface="Arial"/>
              </a:rPr>
              <a:t>if </a:t>
            </a:r>
            <a:r>
              <a:rPr dirty="0" sz="1200" spc="-5">
                <a:latin typeface="Arial"/>
                <a:cs typeface="Arial"/>
              </a:rPr>
              <a:t>they were </a:t>
            </a:r>
            <a:r>
              <a:rPr dirty="0" sz="1200">
                <a:latin typeface="Arial"/>
                <a:cs typeface="Arial"/>
              </a:rPr>
              <a:t>not  </a:t>
            </a:r>
            <a:r>
              <a:rPr dirty="0" sz="1200" spc="-5">
                <a:latin typeface="Arial"/>
                <a:cs typeface="Arial"/>
              </a:rPr>
              <a:t>satisfied with </a:t>
            </a:r>
            <a:r>
              <a:rPr dirty="0" sz="1200">
                <a:latin typeface="Arial"/>
                <a:cs typeface="Arial"/>
              </a:rPr>
              <a:t>him. </a:t>
            </a:r>
            <a:r>
              <a:rPr dirty="0" sz="1200" spc="-5">
                <a:latin typeface="Arial"/>
                <a:cs typeface="Arial"/>
              </a:rPr>
              <a:t>He confiscated all estates seized by Umayyad "royalty" and redistributed </a:t>
            </a:r>
            <a:r>
              <a:rPr dirty="0" sz="1200" spc="-10">
                <a:latin typeface="Arial"/>
                <a:cs typeface="Arial"/>
              </a:rPr>
              <a:t>it  </a:t>
            </a:r>
            <a:r>
              <a:rPr dirty="0" sz="1200">
                <a:latin typeface="Arial"/>
                <a:cs typeface="Arial"/>
              </a:rPr>
              <a:t>to the </a:t>
            </a:r>
            <a:r>
              <a:rPr dirty="0" sz="1200" spc="-5">
                <a:latin typeface="Arial"/>
                <a:cs typeface="Arial"/>
              </a:rPr>
              <a:t>people. He </a:t>
            </a:r>
            <a:r>
              <a:rPr dirty="0" sz="1200" spc="-10">
                <a:latin typeface="Arial"/>
                <a:cs typeface="Arial"/>
              </a:rPr>
              <a:t>was </a:t>
            </a:r>
            <a:r>
              <a:rPr dirty="0" sz="1200" spc="-5">
                <a:latin typeface="Arial"/>
                <a:cs typeface="Arial"/>
              </a:rPr>
              <a:t>unpopular with </a:t>
            </a:r>
            <a:r>
              <a:rPr dirty="0" sz="1200">
                <a:latin typeface="Arial"/>
                <a:cs typeface="Arial"/>
              </a:rPr>
              <a:t>the </a:t>
            </a:r>
            <a:r>
              <a:rPr dirty="0" sz="1200" spc="-5">
                <a:latin typeface="Arial"/>
                <a:cs typeface="Arial"/>
              </a:rPr>
              <a:t>Umayyad </a:t>
            </a:r>
            <a:r>
              <a:rPr dirty="0" sz="1200">
                <a:latin typeface="Arial"/>
                <a:cs typeface="Arial"/>
              </a:rPr>
              <a:t>court </a:t>
            </a:r>
            <a:r>
              <a:rPr dirty="0" sz="1200" spc="-5">
                <a:latin typeface="Arial"/>
                <a:cs typeface="Arial"/>
              </a:rPr>
              <a:t>but </a:t>
            </a:r>
            <a:r>
              <a:rPr dirty="0" sz="1200" spc="-10">
                <a:latin typeface="Arial"/>
                <a:cs typeface="Arial"/>
              </a:rPr>
              <a:t>was </a:t>
            </a:r>
            <a:r>
              <a:rPr dirty="0" sz="1200" spc="-5">
                <a:latin typeface="Arial"/>
                <a:cs typeface="Arial"/>
              </a:rPr>
              <a:t>beloved by </a:t>
            </a:r>
            <a:r>
              <a:rPr dirty="0" sz="1200">
                <a:latin typeface="Arial"/>
                <a:cs typeface="Arial"/>
              </a:rPr>
              <a:t>the masses.  </a:t>
            </a:r>
            <a:r>
              <a:rPr dirty="0" sz="1200" spc="-5">
                <a:latin typeface="Arial"/>
                <a:cs typeface="Arial"/>
              </a:rPr>
              <a:t>Umar</a:t>
            </a:r>
            <a:r>
              <a:rPr dirty="0" sz="1200" spc="254">
                <a:latin typeface="Arial"/>
                <a:cs typeface="Arial"/>
              </a:rPr>
              <a:t> </a:t>
            </a:r>
            <a:r>
              <a:rPr dirty="0" sz="1200" spc="-5">
                <a:latin typeface="Arial"/>
                <a:cs typeface="Arial"/>
              </a:rPr>
              <a:t>ended</a:t>
            </a:r>
            <a:r>
              <a:rPr dirty="0" sz="1200" spc="270">
                <a:latin typeface="Arial"/>
                <a:cs typeface="Arial"/>
              </a:rPr>
              <a:t> </a:t>
            </a:r>
            <a:r>
              <a:rPr dirty="0" sz="1200" spc="-5">
                <a:latin typeface="Arial"/>
                <a:cs typeface="Arial"/>
              </a:rPr>
              <a:t>a</a:t>
            </a:r>
            <a:r>
              <a:rPr dirty="0" sz="1200" spc="254">
                <a:latin typeface="Arial"/>
                <a:cs typeface="Arial"/>
              </a:rPr>
              <a:t> </a:t>
            </a:r>
            <a:r>
              <a:rPr dirty="0" sz="1200" spc="-5">
                <a:latin typeface="Arial"/>
                <a:cs typeface="Arial"/>
              </a:rPr>
              <a:t>tradition</a:t>
            </a:r>
            <a:r>
              <a:rPr dirty="0" sz="1200" spc="265">
                <a:latin typeface="Arial"/>
                <a:cs typeface="Arial"/>
              </a:rPr>
              <a:t> </a:t>
            </a:r>
            <a:r>
              <a:rPr dirty="0" sz="1200" spc="-5">
                <a:latin typeface="Arial"/>
                <a:cs typeface="Arial"/>
              </a:rPr>
              <a:t>among</a:t>
            </a:r>
            <a:r>
              <a:rPr dirty="0" sz="1200" spc="254">
                <a:latin typeface="Arial"/>
                <a:cs typeface="Arial"/>
              </a:rPr>
              <a:t> </a:t>
            </a:r>
            <a:r>
              <a:rPr dirty="0" sz="1200" spc="-5">
                <a:latin typeface="Arial"/>
                <a:cs typeface="Arial"/>
              </a:rPr>
              <a:t>some</a:t>
            </a:r>
            <a:r>
              <a:rPr dirty="0" sz="1200" spc="260">
                <a:latin typeface="Arial"/>
                <a:cs typeface="Arial"/>
              </a:rPr>
              <a:t> </a:t>
            </a:r>
            <a:r>
              <a:rPr dirty="0" sz="1200" spc="-10">
                <a:latin typeface="Arial"/>
                <a:cs typeface="Arial"/>
              </a:rPr>
              <a:t>Umayyad</a:t>
            </a:r>
            <a:r>
              <a:rPr dirty="0" sz="1200" spc="265">
                <a:latin typeface="Arial"/>
                <a:cs typeface="Arial"/>
              </a:rPr>
              <a:t> </a:t>
            </a:r>
            <a:r>
              <a:rPr dirty="0" sz="1200" spc="-5">
                <a:latin typeface="Arial"/>
                <a:cs typeface="Arial"/>
              </a:rPr>
              <a:t>rulers</a:t>
            </a:r>
            <a:r>
              <a:rPr dirty="0" sz="1200" spc="260">
                <a:latin typeface="Arial"/>
                <a:cs typeface="Arial"/>
              </a:rPr>
              <a:t> </a:t>
            </a:r>
            <a:r>
              <a:rPr dirty="0" sz="1200" spc="-5">
                <a:latin typeface="Arial"/>
                <a:cs typeface="Arial"/>
              </a:rPr>
              <a:t>where</a:t>
            </a:r>
            <a:r>
              <a:rPr dirty="0" sz="1200" spc="260">
                <a:latin typeface="Arial"/>
                <a:cs typeface="Arial"/>
              </a:rPr>
              <a:t> </a:t>
            </a:r>
            <a:r>
              <a:rPr dirty="0" sz="1200" spc="-5">
                <a:latin typeface="Arial"/>
                <a:cs typeface="Arial"/>
              </a:rPr>
              <a:t>Ali</a:t>
            </a:r>
            <a:r>
              <a:rPr dirty="0" sz="1200" spc="260">
                <a:latin typeface="Arial"/>
                <a:cs typeface="Arial"/>
              </a:rPr>
              <a:t> </a:t>
            </a:r>
            <a:r>
              <a:rPr dirty="0" sz="1200" spc="-5">
                <a:latin typeface="Arial"/>
                <a:cs typeface="Arial"/>
              </a:rPr>
              <a:t>would</a:t>
            </a:r>
            <a:r>
              <a:rPr dirty="0" sz="1200" spc="260">
                <a:latin typeface="Arial"/>
                <a:cs typeface="Arial"/>
              </a:rPr>
              <a:t> </a:t>
            </a:r>
            <a:r>
              <a:rPr dirty="0" sz="1200" spc="-5">
                <a:latin typeface="Arial"/>
                <a:cs typeface="Arial"/>
              </a:rPr>
              <a:t>be</a:t>
            </a:r>
            <a:r>
              <a:rPr dirty="0" sz="1200" spc="265">
                <a:latin typeface="Arial"/>
                <a:cs typeface="Arial"/>
              </a:rPr>
              <a:t> </a:t>
            </a:r>
            <a:r>
              <a:rPr dirty="0" sz="1200" spc="-5">
                <a:latin typeface="Arial"/>
                <a:cs typeface="Arial"/>
              </a:rPr>
              <a:t>cursed</a:t>
            </a:r>
            <a:r>
              <a:rPr dirty="0" sz="1200" spc="250">
                <a:latin typeface="Arial"/>
                <a:cs typeface="Arial"/>
              </a:rPr>
              <a:t> </a:t>
            </a:r>
            <a:r>
              <a:rPr dirty="0" sz="1200" spc="-5">
                <a:latin typeface="Arial"/>
                <a:cs typeface="Arial"/>
              </a:rPr>
              <a:t>during</a:t>
            </a:r>
            <a:endParaRPr sz="1200">
              <a:latin typeface="Arial"/>
              <a:cs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933831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pPr>
            <a:endParaRPr sz="1300">
              <a:latin typeface="Times New Roman"/>
              <a:cs typeface="Times New Roman"/>
            </a:endParaRPr>
          </a:p>
          <a:p>
            <a:pPr algn="just" marL="12700" marR="5080">
              <a:lnSpc>
                <a:spcPct val="96000"/>
              </a:lnSpc>
            </a:pPr>
            <a:r>
              <a:rPr dirty="0" sz="1200" spc="-5">
                <a:latin typeface="Arial"/>
                <a:cs typeface="Arial"/>
              </a:rPr>
              <a:t>Friday </a:t>
            </a:r>
            <a:r>
              <a:rPr dirty="0" sz="1200">
                <a:latin typeface="Arial"/>
                <a:cs typeface="Arial"/>
              </a:rPr>
              <a:t>sermons, </a:t>
            </a:r>
            <a:r>
              <a:rPr dirty="0" sz="1200" spc="-5">
                <a:latin typeface="Arial"/>
                <a:cs typeface="Arial"/>
              </a:rPr>
              <a:t>replacing </a:t>
            </a:r>
            <a:r>
              <a:rPr dirty="0" sz="1200">
                <a:latin typeface="Arial"/>
                <a:cs typeface="Arial"/>
              </a:rPr>
              <a:t>the tradition </a:t>
            </a:r>
            <a:r>
              <a:rPr dirty="0" sz="1200" spc="-5">
                <a:latin typeface="Arial"/>
                <a:cs typeface="Arial"/>
              </a:rPr>
              <a:t>with </a:t>
            </a:r>
            <a:r>
              <a:rPr dirty="0" sz="1200">
                <a:latin typeface="Arial"/>
                <a:cs typeface="Arial"/>
              </a:rPr>
              <a:t>the recitation </a:t>
            </a:r>
            <a:r>
              <a:rPr dirty="0" sz="1200" spc="-5">
                <a:latin typeface="Arial"/>
                <a:cs typeface="Arial"/>
              </a:rPr>
              <a:t>of </a:t>
            </a:r>
            <a:r>
              <a:rPr dirty="0" sz="1200">
                <a:latin typeface="Arial"/>
                <a:cs typeface="Arial"/>
              </a:rPr>
              <a:t>the </a:t>
            </a:r>
            <a:r>
              <a:rPr dirty="0" sz="1200" spc="-5">
                <a:latin typeface="Arial"/>
                <a:cs typeface="Arial"/>
              </a:rPr>
              <a:t>following verse, </a:t>
            </a:r>
            <a:r>
              <a:rPr dirty="0" sz="1200" spc="-114">
                <a:latin typeface="Arial"/>
                <a:cs typeface="Arial"/>
              </a:rPr>
              <a:t>―</a:t>
            </a:r>
            <a:r>
              <a:rPr dirty="0" sz="1200" spc="-114" i="1">
                <a:latin typeface="Arial"/>
                <a:cs typeface="Arial"/>
              </a:rPr>
              <a:t>Surely </a:t>
            </a:r>
            <a:r>
              <a:rPr dirty="0" sz="1200" spc="-5" i="1">
                <a:latin typeface="Arial"/>
                <a:cs typeface="Arial"/>
              </a:rPr>
              <a:t>God  </a:t>
            </a:r>
            <a:r>
              <a:rPr dirty="0" sz="1200" spc="-5" i="1">
                <a:latin typeface="Arial"/>
                <a:cs typeface="Arial"/>
              </a:rPr>
              <a:t>enjoins justice, doing of good and giving to </a:t>
            </a:r>
            <a:r>
              <a:rPr dirty="0" sz="1200" spc="-10" i="1">
                <a:latin typeface="Arial"/>
                <a:cs typeface="Arial"/>
              </a:rPr>
              <a:t>kinsfolk‖. </a:t>
            </a:r>
            <a:r>
              <a:rPr dirty="0" sz="1200" spc="-5">
                <a:latin typeface="Arial"/>
                <a:cs typeface="Arial"/>
              </a:rPr>
              <a:t>He enforced </a:t>
            </a:r>
            <a:r>
              <a:rPr dirty="0" sz="1200">
                <a:latin typeface="Arial"/>
                <a:cs typeface="Arial"/>
              </a:rPr>
              <a:t>the </a:t>
            </a:r>
            <a:r>
              <a:rPr dirty="0" sz="1200" spc="-5">
                <a:latin typeface="Arial"/>
                <a:cs typeface="Arial"/>
              </a:rPr>
              <a:t>Shari‘ah and ended  drinking and bathhouses. He continued the welfare programs and special programs </a:t>
            </a:r>
            <a:r>
              <a:rPr dirty="0" sz="1200">
                <a:latin typeface="Arial"/>
                <a:cs typeface="Arial"/>
              </a:rPr>
              <a:t>for  </a:t>
            </a:r>
            <a:r>
              <a:rPr dirty="0" sz="1200" spc="-5">
                <a:latin typeface="Arial"/>
                <a:cs typeface="Arial"/>
              </a:rPr>
              <a:t>orphans and the </a:t>
            </a:r>
            <a:r>
              <a:rPr dirty="0" sz="1200">
                <a:latin typeface="Arial"/>
                <a:cs typeface="Arial"/>
              </a:rPr>
              <a:t>destitute. </a:t>
            </a:r>
            <a:r>
              <a:rPr dirty="0" sz="1200" spc="-10">
                <a:latin typeface="Arial"/>
                <a:cs typeface="Arial"/>
              </a:rPr>
              <a:t>He </a:t>
            </a:r>
            <a:r>
              <a:rPr dirty="0" sz="1200" spc="-5">
                <a:latin typeface="Arial"/>
                <a:cs typeface="Arial"/>
              </a:rPr>
              <a:t>reinforced the Islamic frontier but he had </a:t>
            </a:r>
            <a:r>
              <a:rPr dirty="0" sz="1200">
                <a:latin typeface="Arial"/>
                <a:cs typeface="Arial"/>
              </a:rPr>
              <a:t>to </a:t>
            </a:r>
            <a:r>
              <a:rPr dirty="0" sz="1200" spc="-5">
                <a:latin typeface="Arial"/>
                <a:cs typeface="Arial"/>
              </a:rPr>
              <a:t>contend </a:t>
            </a:r>
            <a:r>
              <a:rPr dirty="0" sz="1200" spc="-10">
                <a:latin typeface="Arial"/>
                <a:cs typeface="Arial"/>
              </a:rPr>
              <a:t>with  </a:t>
            </a:r>
            <a:r>
              <a:rPr dirty="0" sz="1200" spc="-5">
                <a:latin typeface="Arial"/>
                <a:cs typeface="Arial"/>
              </a:rPr>
              <a:t>Kharijite uprisings. He </a:t>
            </a:r>
            <a:r>
              <a:rPr dirty="0" sz="1200" spc="-10">
                <a:latin typeface="Arial"/>
                <a:cs typeface="Arial"/>
              </a:rPr>
              <a:t>was </a:t>
            </a:r>
            <a:r>
              <a:rPr dirty="0" sz="1200" spc="-5">
                <a:latin typeface="Arial"/>
                <a:cs typeface="Arial"/>
              </a:rPr>
              <a:t>one of the </a:t>
            </a:r>
            <a:r>
              <a:rPr dirty="0" sz="1200">
                <a:latin typeface="Arial"/>
                <a:cs typeface="Arial"/>
              </a:rPr>
              <a:t>finest </a:t>
            </a:r>
            <a:r>
              <a:rPr dirty="0" sz="1200" spc="-5">
                <a:latin typeface="Arial"/>
                <a:cs typeface="Arial"/>
              </a:rPr>
              <a:t>caliphs in Islamic </a:t>
            </a:r>
            <a:r>
              <a:rPr dirty="0" sz="1200">
                <a:latin typeface="Arial"/>
                <a:cs typeface="Arial"/>
              </a:rPr>
              <a:t>History. </a:t>
            </a:r>
            <a:r>
              <a:rPr dirty="0" sz="1200" spc="-5">
                <a:latin typeface="Arial"/>
                <a:cs typeface="Arial"/>
              </a:rPr>
              <a:t>He </a:t>
            </a:r>
            <a:r>
              <a:rPr dirty="0" sz="1200" spc="-10">
                <a:latin typeface="Arial"/>
                <a:cs typeface="Arial"/>
              </a:rPr>
              <a:t>gave </a:t>
            </a:r>
            <a:r>
              <a:rPr dirty="0" sz="1200">
                <a:latin typeface="Arial"/>
                <a:cs typeface="Arial"/>
              </a:rPr>
              <a:t>much  </a:t>
            </a:r>
            <a:r>
              <a:rPr dirty="0" sz="1200" spc="-5">
                <a:latin typeface="Arial"/>
                <a:cs typeface="Arial"/>
              </a:rPr>
              <a:t>importance </a:t>
            </a:r>
            <a:r>
              <a:rPr dirty="0" sz="1200">
                <a:latin typeface="Arial"/>
                <a:cs typeface="Arial"/>
              </a:rPr>
              <a:t>to </a:t>
            </a:r>
            <a:r>
              <a:rPr dirty="0" sz="1200" spc="-5">
                <a:latin typeface="Arial"/>
                <a:cs typeface="Arial"/>
              </a:rPr>
              <a:t>Education, Schools of Shari‘ah and advocated the return </a:t>
            </a:r>
            <a:r>
              <a:rPr dirty="0" sz="1200">
                <a:latin typeface="Arial"/>
                <a:cs typeface="Arial"/>
              </a:rPr>
              <a:t>to</a:t>
            </a:r>
            <a:r>
              <a:rPr dirty="0" sz="1200" spc="85">
                <a:latin typeface="Arial"/>
                <a:cs typeface="Arial"/>
              </a:rPr>
              <a:t> </a:t>
            </a:r>
            <a:r>
              <a:rPr dirty="0" sz="1200" spc="-5">
                <a:latin typeface="Arial"/>
                <a:cs typeface="Arial"/>
              </a:rPr>
              <a:t>Shari‘ah.</a:t>
            </a:r>
            <a:endParaRPr sz="1200">
              <a:latin typeface="Arial"/>
              <a:cs typeface="Arial"/>
            </a:endParaRPr>
          </a:p>
          <a:p>
            <a:pPr>
              <a:lnSpc>
                <a:spcPct val="100000"/>
              </a:lnSpc>
            </a:pPr>
            <a:endParaRPr sz="1150">
              <a:latin typeface="Arial"/>
              <a:cs typeface="Arial"/>
            </a:endParaRPr>
          </a:p>
          <a:p>
            <a:pPr marL="469900" indent="-229235">
              <a:lnSpc>
                <a:spcPct val="100000"/>
              </a:lnSpc>
              <a:buFont typeface="Wingdings"/>
              <a:buChar char=""/>
              <a:tabLst>
                <a:tab pos="470534" algn="l"/>
              </a:tabLst>
            </a:pPr>
            <a:r>
              <a:rPr dirty="0" u="heavy" sz="1200" spc="-5" b="1" i="1">
                <a:uFill>
                  <a:solidFill>
                    <a:srgbClr val="000000"/>
                  </a:solidFill>
                </a:uFill>
                <a:latin typeface="Arial"/>
                <a:cs typeface="Arial"/>
              </a:rPr>
              <a:t>Marwan </a:t>
            </a:r>
            <a:r>
              <a:rPr dirty="0" u="heavy" sz="1200" b="1" i="1">
                <a:uFill>
                  <a:solidFill>
                    <a:srgbClr val="000000"/>
                  </a:solidFill>
                </a:uFill>
                <a:latin typeface="Arial"/>
                <a:cs typeface="Arial"/>
              </a:rPr>
              <a:t>II (744 –</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750)</a:t>
            </a:r>
            <a:endParaRPr sz="1200">
              <a:latin typeface="Arial"/>
              <a:cs typeface="Arial"/>
            </a:endParaRPr>
          </a:p>
          <a:p>
            <a:pPr>
              <a:lnSpc>
                <a:spcPct val="100000"/>
              </a:lnSpc>
            </a:pPr>
            <a:endParaRPr sz="1200">
              <a:latin typeface="Arial"/>
              <a:cs typeface="Arial"/>
            </a:endParaRPr>
          </a:p>
          <a:p>
            <a:pPr algn="just" marL="12700" marR="5080">
              <a:lnSpc>
                <a:spcPct val="95800"/>
              </a:lnSpc>
            </a:pPr>
            <a:r>
              <a:rPr dirty="0" sz="1200" spc="-5">
                <a:latin typeface="Arial"/>
                <a:cs typeface="Arial"/>
              </a:rPr>
              <a:t>He </a:t>
            </a:r>
            <a:r>
              <a:rPr dirty="0" sz="1200" spc="-10">
                <a:latin typeface="Arial"/>
                <a:cs typeface="Arial"/>
              </a:rPr>
              <a:t>was </a:t>
            </a:r>
            <a:r>
              <a:rPr dirty="0" sz="1200">
                <a:latin typeface="Arial"/>
                <a:cs typeface="Arial"/>
              </a:rPr>
              <a:t>the last </a:t>
            </a:r>
            <a:r>
              <a:rPr dirty="0" sz="1200" spc="-10">
                <a:latin typeface="Arial"/>
                <a:cs typeface="Arial"/>
              </a:rPr>
              <a:t>Umayyad </a:t>
            </a:r>
            <a:r>
              <a:rPr dirty="0" sz="1200" spc="-5">
                <a:latin typeface="Arial"/>
                <a:cs typeface="Arial"/>
              </a:rPr>
              <a:t>ruler </a:t>
            </a:r>
            <a:r>
              <a:rPr dirty="0" sz="1200">
                <a:latin typeface="Arial"/>
                <a:cs typeface="Arial"/>
              </a:rPr>
              <a:t>to </a:t>
            </a:r>
            <a:r>
              <a:rPr dirty="0" sz="1200" spc="-5">
                <a:latin typeface="Arial"/>
                <a:cs typeface="Arial"/>
              </a:rPr>
              <a:t>rule from </a:t>
            </a:r>
            <a:r>
              <a:rPr dirty="0" sz="1200">
                <a:latin typeface="Arial"/>
                <a:cs typeface="Arial"/>
              </a:rPr>
              <a:t>Damascus. </a:t>
            </a:r>
            <a:r>
              <a:rPr dirty="0" sz="1200" spc="-5">
                <a:latin typeface="Arial"/>
                <a:cs typeface="Arial"/>
              </a:rPr>
              <a:t>He </a:t>
            </a:r>
            <a:r>
              <a:rPr dirty="0" sz="1200">
                <a:latin typeface="Arial"/>
                <a:cs typeface="Arial"/>
              </a:rPr>
              <a:t>took </a:t>
            </a:r>
            <a:r>
              <a:rPr dirty="0" sz="1200" spc="-5">
                <a:latin typeface="Arial"/>
                <a:cs typeface="Arial"/>
              </a:rPr>
              <a:t>the caliphate after his cousin  Ibrahim abdicated and went into </a:t>
            </a:r>
            <a:r>
              <a:rPr dirty="0" sz="1200">
                <a:latin typeface="Arial"/>
                <a:cs typeface="Arial"/>
              </a:rPr>
              <a:t>hiding. </a:t>
            </a:r>
            <a:r>
              <a:rPr dirty="0" sz="1200" spc="-5">
                <a:latin typeface="Arial"/>
                <a:cs typeface="Arial"/>
              </a:rPr>
              <a:t>He inherited an empire that </a:t>
            </a:r>
            <a:r>
              <a:rPr dirty="0" sz="1200" spc="-10">
                <a:latin typeface="Arial"/>
                <a:cs typeface="Arial"/>
              </a:rPr>
              <a:t>was </a:t>
            </a:r>
            <a:r>
              <a:rPr dirty="0" sz="1200">
                <a:latin typeface="Arial"/>
                <a:cs typeface="Arial"/>
              </a:rPr>
              <a:t>falling </a:t>
            </a:r>
            <a:r>
              <a:rPr dirty="0" sz="1200" spc="-5">
                <a:latin typeface="Arial"/>
                <a:cs typeface="Arial"/>
              </a:rPr>
              <a:t>apart and he  dedicated his life in trying </a:t>
            </a:r>
            <a:r>
              <a:rPr dirty="0" sz="1200">
                <a:latin typeface="Arial"/>
                <a:cs typeface="Arial"/>
              </a:rPr>
              <a:t>to </a:t>
            </a:r>
            <a:r>
              <a:rPr dirty="0" sz="1200" spc="-5">
                <a:latin typeface="Arial"/>
                <a:cs typeface="Arial"/>
              </a:rPr>
              <a:t>keep </a:t>
            </a:r>
            <a:r>
              <a:rPr dirty="0" sz="1200">
                <a:latin typeface="Arial"/>
                <a:cs typeface="Arial"/>
              </a:rPr>
              <a:t>the </a:t>
            </a:r>
            <a:r>
              <a:rPr dirty="0" sz="1200" spc="-5">
                <a:latin typeface="Arial"/>
                <a:cs typeface="Arial"/>
              </a:rPr>
              <a:t>Umayyad Empire together. </a:t>
            </a:r>
            <a:r>
              <a:rPr dirty="0" sz="1200">
                <a:latin typeface="Arial"/>
                <a:cs typeface="Arial"/>
              </a:rPr>
              <a:t>There </a:t>
            </a:r>
            <a:r>
              <a:rPr dirty="0" sz="1200" spc="-5">
                <a:latin typeface="Arial"/>
                <a:cs typeface="Arial"/>
              </a:rPr>
              <a:t>were Anti-Umayyad  in </a:t>
            </a:r>
            <a:r>
              <a:rPr dirty="0" sz="1200">
                <a:latin typeface="Arial"/>
                <a:cs typeface="Arial"/>
              </a:rPr>
              <a:t>Iran </a:t>
            </a:r>
            <a:r>
              <a:rPr dirty="0" sz="1200" spc="-5">
                <a:latin typeface="Arial"/>
                <a:cs typeface="Arial"/>
              </a:rPr>
              <a:t>and </a:t>
            </a:r>
            <a:r>
              <a:rPr dirty="0" sz="1200">
                <a:latin typeface="Arial"/>
                <a:cs typeface="Arial"/>
              </a:rPr>
              <a:t>Iraq </a:t>
            </a:r>
            <a:r>
              <a:rPr dirty="0" sz="1200" spc="-5">
                <a:latin typeface="Arial"/>
                <a:cs typeface="Arial"/>
              </a:rPr>
              <a:t>and thus </a:t>
            </a:r>
            <a:r>
              <a:rPr dirty="0" sz="1200">
                <a:latin typeface="Arial"/>
                <a:cs typeface="Arial"/>
              </a:rPr>
              <a:t>the </a:t>
            </a:r>
            <a:r>
              <a:rPr dirty="0" sz="1200" spc="-5">
                <a:latin typeface="Arial"/>
                <a:cs typeface="Arial"/>
              </a:rPr>
              <a:t>Abbasids had gained a lot of </a:t>
            </a:r>
            <a:r>
              <a:rPr dirty="0" sz="1200">
                <a:latin typeface="Arial"/>
                <a:cs typeface="Arial"/>
              </a:rPr>
              <a:t>followers. </a:t>
            </a:r>
            <a:r>
              <a:rPr dirty="0" sz="1200" spc="-5">
                <a:latin typeface="Arial"/>
                <a:cs typeface="Arial"/>
              </a:rPr>
              <a:t>He </a:t>
            </a:r>
            <a:r>
              <a:rPr dirty="0" sz="1200" spc="-10">
                <a:latin typeface="Arial"/>
                <a:cs typeface="Arial"/>
              </a:rPr>
              <a:t>was </a:t>
            </a:r>
            <a:r>
              <a:rPr dirty="0" sz="1200" spc="-5">
                <a:latin typeface="Arial"/>
                <a:cs typeface="Arial"/>
              </a:rPr>
              <a:t>killed by Abu Al  Abbas </a:t>
            </a:r>
            <a:r>
              <a:rPr dirty="0" sz="1200">
                <a:latin typeface="Arial"/>
                <a:cs typeface="Arial"/>
              </a:rPr>
              <a:t>As </a:t>
            </a:r>
            <a:r>
              <a:rPr dirty="0" sz="1200" spc="-5">
                <a:latin typeface="Arial"/>
                <a:cs typeface="Arial"/>
              </a:rPr>
              <a:t>Saffa </a:t>
            </a:r>
            <a:r>
              <a:rPr dirty="0" sz="1200">
                <a:latin typeface="Arial"/>
                <a:cs typeface="Arial"/>
              </a:rPr>
              <a:t>(at </a:t>
            </a:r>
            <a:r>
              <a:rPr dirty="0" sz="1200" spc="-5">
                <a:latin typeface="Arial"/>
                <a:cs typeface="Arial"/>
              </a:rPr>
              <a:t>bank of river Nile). </a:t>
            </a:r>
            <a:r>
              <a:rPr dirty="0" sz="1200">
                <a:latin typeface="Arial"/>
                <a:cs typeface="Arial"/>
              </a:rPr>
              <a:t>There </a:t>
            </a:r>
            <a:r>
              <a:rPr dirty="0" sz="1200" spc="-5">
                <a:latin typeface="Arial"/>
                <a:cs typeface="Arial"/>
              </a:rPr>
              <a:t>were </a:t>
            </a:r>
            <a:r>
              <a:rPr dirty="0" sz="1200">
                <a:latin typeface="Arial"/>
                <a:cs typeface="Arial"/>
              </a:rPr>
              <a:t>too </a:t>
            </a:r>
            <a:r>
              <a:rPr dirty="0" sz="1200" spc="-5">
                <a:latin typeface="Arial"/>
                <a:cs typeface="Arial"/>
              </a:rPr>
              <a:t>many problems and could not solve all  of them. He </a:t>
            </a:r>
            <a:r>
              <a:rPr dirty="0" sz="1200">
                <a:latin typeface="Arial"/>
                <a:cs typeface="Arial"/>
              </a:rPr>
              <a:t>lost </a:t>
            </a:r>
            <a:r>
              <a:rPr dirty="0" sz="1200" spc="-5">
                <a:latin typeface="Arial"/>
                <a:cs typeface="Arial"/>
              </a:rPr>
              <a:t>many territories </a:t>
            </a:r>
            <a:r>
              <a:rPr dirty="0" sz="1200">
                <a:latin typeface="Arial"/>
                <a:cs typeface="Arial"/>
              </a:rPr>
              <a:t>to </a:t>
            </a:r>
            <a:r>
              <a:rPr dirty="0" sz="1200" spc="-5">
                <a:latin typeface="Arial"/>
                <a:cs typeface="Arial"/>
              </a:rPr>
              <a:t>the Abbasid and </a:t>
            </a:r>
            <a:r>
              <a:rPr dirty="0" sz="1200">
                <a:latin typeface="Arial"/>
                <a:cs typeface="Arial"/>
              </a:rPr>
              <a:t>the </a:t>
            </a:r>
            <a:r>
              <a:rPr dirty="0" sz="1200" spc="-5">
                <a:latin typeface="Arial"/>
                <a:cs typeface="Arial"/>
              </a:rPr>
              <a:t>Islamic dominion </a:t>
            </a:r>
            <a:r>
              <a:rPr dirty="0" sz="1200" spc="-10">
                <a:latin typeface="Arial"/>
                <a:cs typeface="Arial"/>
              </a:rPr>
              <a:t>was </a:t>
            </a:r>
            <a:r>
              <a:rPr dirty="0" sz="1200" spc="-5">
                <a:latin typeface="Arial"/>
                <a:cs typeface="Arial"/>
              </a:rPr>
              <a:t>surrounded by  enemies from all </a:t>
            </a:r>
            <a:r>
              <a:rPr dirty="0" sz="1200">
                <a:latin typeface="Arial"/>
                <a:cs typeface="Arial"/>
              </a:rPr>
              <a:t>sides. There </a:t>
            </a:r>
            <a:r>
              <a:rPr dirty="0" sz="1200" spc="-10">
                <a:latin typeface="Arial"/>
                <a:cs typeface="Arial"/>
              </a:rPr>
              <a:t>was </a:t>
            </a:r>
            <a:r>
              <a:rPr dirty="0" sz="1200" spc="-5">
                <a:latin typeface="Arial"/>
                <a:cs typeface="Arial"/>
              </a:rPr>
              <a:t>a </a:t>
            </a:r>
            <a:r>
              <a:rPr dirty="0" sz="1200">
                <a:latin typeface="Arial"/>
                <a:cs typeface="Arial"/>
              </a:rPr>
              <a:t>lack </a:t>
            </a:r>
            <a:r>
              <a:rPr dirty="0" sz="1200" spc="-5">
                <a:latin typeface="Arial"/>
                <a:cs typeface="Arial"/>
              </a:rPr>
              <a:t>of administrative measures due </a:t>
            </a:r>
            <a:r>
              <a:rPr dirty="0" sz="1200">
                <a:latin typeface="Arial"/>
                <a:cs typeface="Arial"/>
              </a:rPr>
              <a:t>to </a:t>
            </a:r>
            <a:r>
              <a:rPr dirty="0" sz="1200" spc="-5">
                <a:latin typeface="Arial"/>
                <a:cs typeface="Arial"/>
              </a:rPr>
              <a:t>inefficiency of  his governors. He </a:t>
            </a:r>
            <a:r>
              <a:rPr dirty="0" sz="1200" spc="-10">
                <a:latin typeface="Arial"/>
                <a:cs typeface="Arial"/>
              </a:rPr>
              <a:t>was </a:t>
            </a:r>
            <a:r>
              <a:rPr dirty="0" sz="1200">
                <a:latin typeface="Arial"/>
                <a:cs typeface="Arial"/>
              </a:rPr>
              <a:t>thus </a:t>
            </a:r>
            <a:r>
              <a:rPr dirty="0" sz="1200" spc="-5">
                <a:latin typeface="Arial"/>
                <a:cs typeface="Arial"/>
              </a:rPr>
              <a:t>not able to consolidate the </a:t>
            </a:r>
            <a:r>
              <a:rPr dirty="0" sz="1200">
                <a:latin typeface="Arial"/>
                <a:cs typeface="Arial"/>
              </a:rPr>
              <a:t>Islamic </a:t>
            </a:r>
            <a:r>
              <a:rPr dirty="0" sz="1200" spc="-5">
                <a:latin typeface="Arial"/>
                <a:cs typeface="Arial"/>
              </a:rPr>
              <a:t>frontiers and wasn‘t able </a:t>
            </a:r>
            <a:r>
              <a:rPr dirty="0" sz="1200">
                <a:latin typeface="Arial"/>
                <a:cs typeface="Arial"/>
              </a:rPr>
              <a:t>to  </a:t>
            </a:r>
            <a:r>
              <a:rPr dirty="0" sz="1200" spc="-5">
                <a:latin typeface="Arial"/>
                <a:cs typeface="Arial"/>
              </a:rPr>
              <a:t>cope with </a:t>
            </a:r>
            <a:r>
              <a:rPr dirty="0" sz="1200">
                <a:latin typeface="Arial"/>
                <a:cs typeface="Arial"/>
              </a:rPr>
              <a:t>the </a:t>
            </a:r>
            <a:r>
              <a:rPr dirty="0" sz="1200" spc="-5">
                <a:latin typeface="Arial"/>
                <a:cs typeface="Arial"/>
              </a:rPr>
              <a:t>existing and uprising </a:t>
            </a:r>
            <a:r>
              <a:rPr dirty="0" sz="1200">
                <a:latin typeface="Arial"/>
                <a:cs typeface="Arial"/>
              </a:rPr>
              <a:t>Khawarij. For </a:t>
            </a:r>
            <a:r>
              <a:rPr dirty="0" sz="1200" spc="-5">
                <a:latin typeface="Arial"/>
                <a:cs typeface="Arial"/>
              </a:rPr>
              <a:t>6 years he tried </a:t>
            </a:r>
            <a:r>
              <a:rPr dirty="0" sz="1200">
                <a:latin typeface="Arial"/>
                <a:cs typeface="Arial"/>
              </a:rPr>
              <a:t>to </a:t>
            </a:r>
            <a:r>
              <a:rPr dirty="0" sz="1200" spc="-5">
                <a:latin typeface="Arial"/>
                <a:cs typeface="Arial"/>
              </a:rPr>
              <a:t>regain </a:t>
            </a:r>
            <a:r>
              <a:rPr dirty="0" sz="1200">
                <a:latin typeface="Arial"/>
                <a:cs typeface="Arial"/>
              </a:rPr>
              <a:t>the lost </a:t>
            </a:r>
            <a:r>
              <a:rPr dirty="0" sz="1200" spc="-5">
                <a:latin typeface="Arial"/>
                <a:cs typeface="Arial"/>
              </a:rPr>
              <a:t>cause.  His society </a:t>
            </a:r>
            <a:r>
              <a:rPr dirty="0" sz="1200" spc="-10">
                <a:latin typeface="Arial"/>
                <a:cs typeface="Arial"/>
              </a:rPr>
              <a:t>was </a:t>
            </a:r>
            <a:r>
              <a:rPr dirty="0" sz="1200" spc="-5">
                <a:latin typeface="Arial"/>
                <a:cs typeface="Arial"/>
              </a:rPr>
              <a:t>characterized by Shari‘ah being established in the </a:t>
            </a:r>
            <a:r>
              <a:rPr dirty="0" sz="1200">
                <a:latin typeface="Arial"/>
                <a:cs typeface="Arial"/>
              </a:rPr>
              <a:t>dominion, </a:t>
            </a:r>
            <a:r>
              <a:rPr dirty="0" sz="1200" spc="-5">
                <a:latin typeface="Arial"/>
                <a:cs typeface="Arial"/>
              </a:rPr>
              <a:t>loyalty </a:t>
            </a:r>
            <a:r>
              <a:rPr dirty="0" sz="1200">
                <a:latin typeface="Arial"/>
                <a:cs typeface="Arial"/>
              </a:rPr>
              <a:t>of </a:t>
            </a:r>
            <a:r>
              <a:rPr dirty="0" sz="1200" spc="-10">
                <a:latin typeface="Arial"/>
                <a:cs typeface="Arial"/>
              </a:rPr>
              <a:t>some  </a:t>
            </a:r>
            <a:r>
              <a:rPr dirty="0" sz="1200" spc="-5">
                <a:latin typeface="Arial"/>
                <a:cs typeface="Arial"/>
              </a:rPr>
              <a:t>of his governors, support of the masses, inefficiency </a:t>
            </a:r>
            <a:r>
              <a:rPr dirty="0" sz="1200">
                <a:latin typeface="Arial"/>
                <a:cs typeface="Arial"/>
              </a:rPr>
              <a:t>of </a:t>
            </a:r>
            <a:r>
              <a:rPr dirty="0" sz="1200" spc="-5">
                <a:latin typeface="Arial"/>
                <a:cs typeface="Arial"/>
              </a:rPr>
              <a:t>his </a:t>
            </a:r>
            <a:r>
              <a:rPr dirty="0" sz="1200">
                <a:latin typeface="Arial"/>
                <a:cs typeface="Arial"/>
              </a:rPr>
              <a:t>men, </a:t>
            </a:r>
            <a:r>
              <a:rPr dirty="0" sz="1200" spc="-5">
                <a:latin typeface="Arial"/>
                <a:cs typeface="Arial"/>
              </a:rPr>
              <a:t>materialistic influence of </a:t>
            </a:r>
            <a:r>
              <a:rPr dirty="0" sz="1200">
                <a:latin typeface="Arial"/>
                <a:cs typeface="Arial"/>
              </a:rPr>
              <a:t>the  </a:t>
            </a:r>
            <a:r>
              <a:rPr dirty="0" sz="1200" spc="-5">
                <a:latin typeface="Arial"/>
                <a:cs typeface="Arial"/>
              </a:rPr>
              <a:t>society, degradation of </a:t>
            </a:r>
            <a:r>
              <a:rPr dirty="0" sz="1200">
                <a:latin typeface="Arial"/>
                <a:cs typeface="Arial"/>
              </a:rPr>
              <a:t>the </a:t>
            </a:r>
            <a:r>
              <a:rPr dirty="0" sz="1200" spc="-5">
                <a:latin typeface="Arial"/>
                <a:cs typeface="Arial"/>
              </a:rPr>
              <a:t>society </a:t>
            </a:r>
            <a:r>
              <a:rPr dirty="0" sz="1200">
                <a:latin typeface="Arial"/>
                <a:cs typeface="Arial"/>
              </a:rPr>
              <a:t>(sins), </a:t>
            </a:r>
            <a:r>
              <a:rPr dirty="0" sz="1200" spc="-5">
                <a:latin typeface="Arial"/>
                <a:cs typeface="Arial"/>
              </a:rPr>
              <a:t>emergence of Shi‘a movement helping the  Abbasid, uprising movement and slogan against </a:t>
            </a:r>
            <a:r>
              <a:rPr dirty="0" sz="1200">
                <a:latin typeface="Arial"/>
                <a:cs typeface="Arial"/>
              </a:rPr>
              <a:t>the </a:t>
            </a:r>
            <a:r>
              <a:rPr dirty="0" sz="1200" spc="-5">
                <a:latin typeface="Arial"/>
                <a:cs typeface="Arial"/>
              </a:rPr>
              <a:t>state and threat against the </a:t>
            </a:r>
            <a:r>
              <a:rPr dirty="0" sz="1200" spc="-10">
                <a:latin typeface="Arial"/>
                <a:cs typeface="Arial"/>
              </a:rPr>
              <a:t>Umayyad  </a:t>
            </a:r>
            <a:r>
              <a:rPr dirty="0" sz="1200">
                <a:latin typeface="Arial"/>
                <a:cs typeface="Arial"/>
              </a:rPr>
              <a:t>families.</a:t>
            </a:r>
            <a:endParaRPr sz="12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u="heavy" sz="1200" spc="-5" b="1" i="1">
                <a:uFill>
                  <a:solidFill>
                    <a:srgbClr val="000000"/>
                  </a:solidFill>
                </a:uFill>
                <a:latin typeface="Arial"/>
                <a:cs typeface="Arial"/>
              </a:rPr>
              <a:t>Main Traits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Umayyad</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Dynasty</a:t>
            </a:r>
            <a:endParaRPr sz="1200">
              <a:latin typeface="Arial"/>
              <a:cs typeface="Arial"/>
            </a:endParaRPr>
          </a:p>
          <a:p>
            <a:pPr>
              <a:lnSpc>
                <a:spcPct val="100000"/>
              </a:lnSpc>
              <a:spcBef>
                <a:spcPts val="35"/>
              </a:spcBef>
            </a:pPr>
            <a:endParaRPr sz="1200">
              <a:latin typeface="Arial"/>
              <a:cs typeface="Arial"/>
            </a:endParaRPr>
          </a:p>
          <a:p>
            <a:pPr algn="just" marL="469900" marR="10160" indent="-228600">
              <a:lnSpc>
                <a:spcPts val="1380"/>
              </a:lnSpc>
              <a:spcBef>
                <a:spcPts val="5"/>
              </a:spcBef>
              <a:buAutoNum type="arabicPeriod"/>
              <a:tabLst>
                <a:tab pos="470534" algn="l"/>
              </a:tabLst>
            </a:pPr>
            <a:r>
              <a:rPr dirty="0" sz="1200" spc="-5">
                <a:latin typeface="Arial"/>
                <a:cs typeface="Arial"/>
              </a:rPr>
              <a:t>Umayyad </a:t>
            </a:r>
            <a:r>
              <a:rPr dirty="0" sz="1200">
                <a:latin typeface="Arial"/>
                <a:cs typeface="Arial"/>
              </a:rPr>
              <a:t>architecture </a:t>
            </a:r>
            <a:r>
              <a:rPr dirty="0" sz="1200" spc="-5">
                <a:latin typeface="Arial"/>
                <a:cs typeface="Arial"/>
              </a:rPr>
              <a:t>is a </a:t>
            </a:r>
            <a:r>
              <a:rPr dirty="0" sz="1200">
                <a:latin typeface="Arial"/>
                <a:cs typeface="Arial"/>
              </a:rPr>
              <a:t>major </a:t>
            </a:r>
            <a:r>
              <a:rPr dirty="0" sz="1200" spc="-5">
                <a:latin typeface="Arial"/>
                <a:cs typeface="Arial"/>
              </a:rPr>
              <a:t>witness </a:t>
            </a:r>
            <a:r>
              <a:rPr dirty="0" sz="1200">
                <a:latin typeface="Arial"/>
                <a:cs typeface="Arial"/>
              </a:rPr>
              <a:t>of </a:t>
            </a:r>
            <a:r>
              <a:rPr dirty="0" sz="1200" spc="-5">
                <a:latin typeface="Arial"/>
                <a:cs typeface="Arial"/>
              </a:rPr>
              <a:t>the dynasty, with numerous buildings still  extant. Extensive municipal architectural programmes were undertaken, in addition to  </a:t>
            </a:r>
            <a:r>
              <a:rPr dirty="0" sz="1200">
                <a:latin typeface="Arial"/>
                <a:cs typeface="Arial"/>
              </a:rPr>
              <a:t>those </a:t>
            </a:r>
            <a:r>
              <a:rPr dirty="0" sz="1200" spc="-5">
                <a:latin typeface="Arial"/>
                <a:cs typeface="Arial"/>
              </a:rPr>
              <a:t>constructions </a:t>
            </a:r>
            <a:r>
              <a:rPr dirty="0" sz="1200">
                <a:latin typeface="Arial"/>
                <a:cs typeface="Arial"/>
              </a:rPr>
              <a:t>that </a:t>
            </a:r>
            <a:r>
              <a:rPr dirty="0" sz="1200" spc="-5">
                <a:latin typeface="Arial"/>
                <a:cs typeface="Arial"/>
              </a:rPr>
              <a:t>were built by order of </a:t>
            </a:r>
            <a:r>
              <a:rPr dirty="0" sz="1200">
                <a:latin typeface="Arial"/>
                <a:cs typeface="Arial"/>
              </a:rPr>
              <a:t>the </a:t>
            </a:r>
            <a:r>
              <a:rPr dirty="0" sz="1200" spc="-5">
                <a:latin typeface="Arial"/>
                <a:cs typeface="Arial"/>
              </a:rPr>
              <a:t>Umayyad royal family.  </a:t>
            </a:r>
            <a:r>
              <a:rPr dirty="0" sz="1200" spc="-5" b="1" i="1">
                <a:latin typeface="Arial"/>
                <a:cs typeface="Arial"/>
              </a:rPr>
              <a:t>(Architectural Buildings and</a:t>
            </a:r>
            <a:r>
              <a:rPr dirty="0" sz="1200" spc="15" b="1" i="1">
                <a:latin typeface="Arial"/>
                <a:cs typeface="Arial"/>
              </a:rPr>
              <a:t> </a:t>
            </a:r>
            <a:r>
              <a:rPr dirty="0" sz="1200" spc="-5" b="1" i="1">
                <a:latin typeface="Arial"/>
                <a:cs typeface="Arial"/>
              </a:rPr>
              <a:t>Palaces)</a:t>
            </a:r>
            <a:endParaRPr sz="1200">
              <a:latin typeface="Arial"/>
              <a:cs typeface="Arial"/>
            </a:endParaRPr>
          </a:p>
          <a:p>
            <a:pPr algn="just" marL="469900" marR="5080" indent="-228600">
              <a:lnSpc>
                <a:spcPts val="1380"/>
              </a:lnSpc>
              <a:buAutoNum type="arabicPeriod"/>
              <a:tabLst>
                <a:tab pos="470534" algn="l"/>
              </a:tabLst>
            </a:pPr>
            <a:r>
              <a:rPr dirty="0" sz="1200">
                <a:latin typeface="Arial"/>
                <a:cs typeface="Arial"/>
              </a:rPr>
              <a:t>Both </a:t>
            </a:r>
            <a:r>
              <a:rPr dirty="0" sz="1200" spc="-5">
                <a:latin typeface="Arial"/>
                <a:cs typeface="Arial"/>
              </a:rPr>
              <a:t>the Dome of the Rock in Jerusalem and </a:t>
            </a:r>
            <a:r>
              <a:rPr dirty="0" sz="1200">
                <a:latin typeface="Arial"/>
                <a:cs typeface="Arial"/>
              </a:rPr>
              <a:t>the </a:t>
            </a:r>
            <a:r>
              <a:rPr dirty="0" sz="1200" spc="-10">
                <a:latin typeface="Arial"/>
                <a:cs typeface="Arial"/>
              </a:rPr>
              <a:t>Umayyad </a:t>
            </a:r>
            <a:r>
              <a:rPr dirty="0" sz="1200" spc="-5">
                <a:latin typeface="Arial"/>
                <a:cs typeface="Arial"/>
              </a:rPr>
              <a:t>Mosque in Damascus  appear </a:t>
            </a:r>
            <a:r>
              <a:rPr dirty="0" sz="1200">
                <a:latin typeface="Arial"/>
                <a:cs typeface="Arial"/>
              </a:rPr>
              <a:t>to </a:t>
            </a:r>
            <a:r>
              <a:rPr dirty="0" sz="1200" spc="-5">
                <a:latin typeface="Arial"/>
                <a:cs typeface="Arial"/>
              </a:rPr>
              <a:t>have been built as symbols of Umayyad power and victory, and these  buildings </a:t>
            </a:r>
            <a:r>
              <a:rPr dirty="0" sz="1200">
                <a:latin typeface="Arial"/>
                <a:cs typeface="Arial"/>
              </a:rPr>
              <a:t>still </a:t>
            </a:r>
            <a:r>
              <a:rPr dirty="0" sz="1200" spc="-5">
                <a:latin typeface="Arial"/>
                <a:cs typeface="Arial"/>
              </a:rPr>
              <a:t>give </a:t>
            </a:r>
            <a:r>
              <a:rPr dirty="0" sz="1200">
                <a:latin typeface="Arial"/>
                <a:cs typeface="Arial"/>
              </a:rPr>
              <a:t>an </a:t>
            </a:r>
            <a:r>
              <a:rPr dirty="0" sz="1200" spc="-5">
                <a:latin typeface="Arial"/>
                <a:cs typeface="Arial"/>
              </a:rPr>
              <a:t>impression of </a:t>
            </a:r>
            <a:r>
              <a:rPr dirty="0" sz="1200">
                <a:latin typeface="Arial"/>
                <a:cs typeface="Arial"/>
              </a:rPr>
              <a:t>the </a:t>
            </a:r>
            <a:r>
              <a:rPr dirty="0" sz="1200" spc="-5">
                <a:latin typeface="Arial"/>
                <a:cs typeface="Arial"/>
              </a:rPr>
              <a:t>grandeur of the dynasty‘s </a:t>
            </a:r>
            <a:r>
              <a:rPr dirty="0" sz="1200">
                <a:latin typeface="Arial"/>
                <a:cs typeface="Arial"/>
              </a:rPr>
              <a:t>architecture. </a:t>
            </a:r>
            <a:r>
              <a:rPr dirty="0" sz="1200" spc="-10" b="1" i="1">
                <a:latin typeface="Arial"/>
                <a:cs typeface="Arial"/>
              </a:rPr>
              <a:t>(Dome  </a:t>
            </a:r>
            <a:r>
              <a:rPr dirty="0" sz="1200" b="1" i="1">
                <a:latin typeface="Arial"/>
                <a:cs typeface="Arial"/>
              </a:rPr>
              <a:t>of the </a:t>
            </a:r>
            <a:r>
              <a:rPr dirty="0" sz="1200" spc="-5" b="1" i="1">
                <a:latin typeface="Arial"/>
                <a:cs typeface="Arial"/>
              </a:rPr>
              <a:t>Rock </a:t>
            </a:r>
            <a:r>
              <a:rPr dirty="0" sz="1200" b="1" i="1">
                <a:latin typeface="Arial"/>
                <a:cs typeface="Arial"/>
              </a:rPr>
              <a:t>and </a:t>
            </a:r>
            <a:r>
              <a:rPr dirty="0" sz="1200" spc="-5" b="1" i="1">
                <a:latin typeface="Arial"/>
                <a:cs typeface="Arial"/>
              </a:rPr>
              <a:t>Mosques)</a:t>
            </a:r>
            <a:endParaRPr sz="1200">
              <a:latin typeface="Arial"/>
              <a:cs typeface="Arial"/>
            </a:endParaRPr>
          </a:p>
          <a:p>
            <a:pPr algn="just" marL="469900" marR="10160" indent="-228600">
              <a:lnSpc>
                <a:spcPts val="1370"/>
              </a:lnSpc>
              <a:spcBef>
                <a:spcPts val="5"/>
              </a:spcBef>
              <a:buAutoNum type="arabicPeriod"/>
              <a:tabLst>
                <a:tab pos="470534" algn="l"/>
              </a:tabLst>
            </a:pPr>
            <a:r>
              <a:rPr dirty="0" sz="1200">
                <a:latin typeface="Arial"/>
                <a:cs typeface="Arial"/>
              </a:rPr>
              <a:t>In </a:t>
            </a:r>
            <a:r>
              <a:rPr dirty="0" sz="1200" spc="-5">
                <a:latin typeface="Arial"/>
                <a:cs typeface="Arial"/>
              </a:rPr>
              <a:t>addition, the remarkable palatial buildings formerly </a:t>
            </a:r>
            <a:r>
              <a:rPr dirty="0" sz="1200">
                <a:latin typeface="Arial"/>
                <a:cs typeface="Arial"/>
              </a:rPr>
              <a:t>known as </a:t>
            </a:r>
            <a:r>
              <a:rPr dirty="0" sz="1200" spc="-60">
                <a:latin typeface="Arial"/>
                <a:cs typeface="Arial"/>
              </a:rPr>
              <a:t>‗desert </a:t>
            </a:r>
            <a:r>
              <a:rPr dirty="0" sz="1200" spc="-5">
                <a:latin typeface="Arial"/>
                <a:cs typeface="Arial"/>
              </a:rPr>
              <a:t>castles‘  continue</a:t>
            </a:r>
            <a:r>
              <a:rPr dirty="0" sz="1200" spc="275">
                <a:latin typeface="Arial"/>
                <a:cs typeface="Arial"/>
              </a:rPr>
              <a:t> </a:t>
            </a:r>
            <a:r>
              <a:rPr dirty="0" sz="1200" spc="-5">
                <a:latin typeface="Arial"/>
                <a:cs typeface="Arial"/>
              </a:rPr>
              <a:t>to</a:t>
            </a:r>
            <a:r>
              <a:rPr dirty="0" sz="1200" spc="270">
                <a:latin typeface="Arial"/>
                <a:cs typeface="Arial"/>
              </a:rPr>
              <a:t> </a:t>
            </a:r>
            <a:r>
              <a:rPr dirty="0" sz="1200" spc="-5">
                <a:latin typeface="Arial"/>
                <a:cs typeface="Arial"/>
              </a:rPr>
              <a:t>fascinate</a:t>
            </a:r>
            <a:r>
              <a:rPr dirty="0" sz="1200" spc="265">
                <a:latin typeface="Arial"/>
                <a:cs typeface="Arial"/>
              </a:rPr>
              <a:t> </a:t>
            </a:r>
            <a:r>
              <a:rPr dirty="0" sz="1200" spc="-5">
                <a:latin typeface="Arial"/>
                <a:cs typeface="Arial"/>
              </a:rPr>
              <a:t>us</a:t>
            </a:r>
            <a:r>
              <a:rPr dirty="0" sz="1200" spc="260">
                <a:latin typeface="Arial"/>
                <a:cs typeface="Arial"/>
              </a:rPr>
              <a:t> </a:t>
            </a:r>
            <a:r>
              <a:rPr dirty="0" sz="1200">
                <a:latin typeface="Arial"/>
                <a:cs typeface="Arial"/>
              </a:rPr>
              <a:t>for</a:t>
            </a:r>
            <a:r>
              <a:rPr dirty="0" sz="1200" spc="265">
                <a:latin typeface="Arial"/>
                <a:cs typeface="Arial"/>
              </a:rPr>
              <a:t> </a:t>
            </a:r>
            <a:r>
              <a:rPr dirty="0" sz="1200" spc="-5">
                <a:latin typeface="Arial"/>
                <a:cs typeface="Arial"/>
              </a:rPr>
              <a:t>the</a:t>
            </a:r>
            <a:r>
              <a:rPr dirty="0" sz="1200" spc="275">
                <a:latin typeface="Arial"/>
                <a:cs typeface="Arial"/>
              </a:rPr>
              <a:t> </a:t>
            </a:r>
            <a:r>
              <a:rPr dirty="0" sz="1200" spc="-5">
                <a:latin typeface="Arial"/>
                <a:cs typeface="Arial"/>
              </a:rPr>
              <a:t>window</a:t>
            </a:r>
            <a:r>
              <a:rPr dirty="0" sz="1200" spc="254">
                <a:latin typeface="Arial"/>
                <a:cs typeface="Arial"/>
              </a:rPr>
              <a:t> </a:t>
            </a:r>
            <a:r>
              <a:rPr dirty="0" sz="1200">
                <a:latin typeface="Arial"/>
                <a:cs typeface="Arial"/>
              </a:rPr>
              <a:t>they</a:t>
            </a:r>
            <a:r>
              <a:rPr dirty="0" sz="1200" spc="260">
                <a:latin typeface="Arial"/>
                <a:cs typeface="Arial"/>
              </a:rPr>
              <a:t> </a:t>
            </a:r>
            <a:r>
              <a:rPr dirty="0" sz="1200" spc="-5">
                <a:latin typeface="Arial"/>
                <a:cs typeface="Arial"/>
              </a:rPr>
              <a:t>provide</a:t>
            </a:r>
            <a:r>
              <a:rPr dirty="0" sz="1200" spc="275">
                <a:latin typeface="Arial"/>
                <a:cs typeface="Arial"/>
              </a:rPr>
              <a:t> </a:t>
            </a:r>
            <a:r>
              <a:rPr dirty="0" sz="1200" spc="-5">
                <a:latin typeface="Arial"/>
                <a:cs typeface="Arial"/>
              </a:rPr>
              <a:t>into</a:t>
            </a:r>
            <a:r>
              <a:rPr dirty="0" sz="1200" spc="275">
                <a:latin typeface="Arial"/>
                <a:cs typeface="Arial"/>
              </a:rPr>
              <a:t> </a:t>
            </a:r>
            <a:r>
              <a:rPr dirty="0" sz="1200" spc="-5">
                <a:latin typeface="Arial"/>
                <a:cs typeface="Arial"/>
              </a:rPr>
              <a:t>Umayyad</a:t>
            </a:r>
            <a:r>
              <a:rPr dirty="0" sz="1200" spc="280">
                <a:latin typeface="Arial"/>
                <a:cs typeface="Arial"/>
              </a:rPr>
              <a:t> </a:t>
            </a:r>
            <a:r>
              <a:rPr dirty="0" sz="1200">
                <a:latin typeface="Arial"/>
                <a:cs typeface="Arial"/>
              </a:rPr>
              <a:t>court</a:t>
            </a:r>
            <a:r>
              <a:rPr dirty="0" sz="1200" spc="270">
                <a:latin typeface="Arial"/>
                <a:cs typeface="Arial"/>
              </a:rPr>
              <a:t> </a:t>
            </a:r>
            <a:r>
              <a:rPr dirty="0" sz="1200" spc="-5">
                <a:latin typeface="Arial"/>
                <a:cs typeface="Arial"/>
              </a:rPr>
              <a:t>life</a:t>
            </a:r>
            <a:r>
              <a:rPr dirty="0" sz="1200" spc="275">
                <a:latin typeface="Arial"/>
                <a:cs typeface="Arial"/>
              </a:rPr>
              <a:t> </a:t>
            </a:r>
            <a:r>
              <a:rPr dirty="0" sz="1200" spc="-10">
                <a:latin typeface="Arial"/>
                <a:cs typeface="Arial"/>
              </a:rPr>
              <a:t>and</a:t>
            </a:r>
            <a:endParaRPr sz="1200">
              <a:latin typeface="Arial"/>
              <a:cs typeface="Arial"/>
            </a:endParaRPr>
          </a:p>
          <a:p>
            <a:pPr algn="just" marL="469900">
              <a:lnSpc>
                <a:spcPts val="1315"/>
              </a:lnSpc>
            </a:pPr>
            <a:r>
              <a:rPr dirty="0" sz="1200">
                <a:latin typeface="Arial"/>
                <a:cs typeface="Arial"/>
              </a:rPr>
              <a:t>ceremonials. </a:t>
            </a:r>
            <a:r>
              <a:rPr dirty="0" sz="1200" spc="-5" b="1" i="1">
                <a:latin typeface="Arial"/>
                <a:cs typeface="Arial"/>
              </a:rPr>
              <a:t>(Palaces for festivities, Forts and</a:t>
            </a:r>
            <a:r>
              <a:rPr dirty="0" sz="1200" spc="10" b="1" i="1">
                <a:latin typeface="Arial"/>
                <a:cs typeface="Arial"/>
              </a:rPr>
              <a:t> </a:t>
            </a:r>
            <a:r>
              <a:rPr dirty="0" sz="1200" spc="-5" b="1" i="1">
                <a:latin typeface="Arial"/>
                <a:cs typeface="Arial"/>
              </a:rPr>
              <a:t>Ruins)</a:t>
            </a:r>
            <a:endParaRPr sz="1200">
              <a:latin typeface="Arial"/>
              <a:cs typeface="Arial"/>
            </a:endParaRPr>
          </a:p>
          <a:p>
            <a:pPr algn="just" marL="469900" marR="5080" indent="-228600">
              <a:lnSpc>
                <a:spcPct val="95900"/>
              </a:lnSpc>
              <a:spcBef>
                <a:spcPts val="30"/>
              </a:spcBef>
              <a:buAutoNum type="arabicPeriod" startAt="4"/>
              <a:tabLst>
                <a:tab pos="470534" algn="l"/>
              </a:tabLst>
            </a:pPr>
            <a:r>
              <a:rPr dirty="0" sz="1200" spc="-5">
                <a:latin typeface="Arial"/>
                <a:cs typeface="Arial"/>
              </a:rPr>
              <a:t>Extensive building programmes were undertaken </a:t>
            </a:r>
            <a:r>
              <a:rPr dirty="0" sz="1200">
                <a:latin typeface="Arial"/>
                <a:cs typeface="Arial"/>
              </a:rPr>
              <a:t>for </a:t>
            </a:r>
            <a:r>
              <a:rPr dirty="0" sz="1200" spc="-5">
                <a:latin typeface="Arial"/>
                <a:cs typeface="Arial"/>
              </a:rPr>
              <a:t>the benefit of </a:t>
            </a:r>
            <a:r>
              <a:rPr dirty="0" sz="1200">
                <a:latin typeface="Arial"/>
                <a:cs typeface="Arial"/>
              </a:rPr>
              <a:t>the </a:t>
            </a:r>
            <a:r>
              <a:rPr dirty="0" sz="1200" spc="-5">
                <a:latin typeface="Arial"/>
                <a:cs typeface="Arial"/>
              </a:rPr>
              <a:t>community as  well as </a:t>
            </a:r>
            <a:r>
              <a:rPr dirty="0" sz="1200">
                <a:latin typeface="Arial"/>
                <a:cs typeface="Arial"/>
              </a:rPr>
              <a:t>for </a:t>
            </a:r>
            <a:r>
              <a:rPr dirty="0" sz="1200" spc="-5">
                <a:latin typeface="Arial"/>
                <a:cs typeface="Arial"/>
              </a:rPr>
              <a:t>the ruling elite. Cities such as </a:t>
            </a:r>
            <a:r>
              <a:rPr dirty="0" sz="1200">
                <a:latin typeface="Arial"/>
                <a:cs typeface="Arial"/>
              </a:rPr>
              <a:t>Amman </a:t>
            </a:r>
            <a:r>
              <a:rPr dirty="0" sz="1200" spc="-5">
                <a:latin typeface="Arial"/>
                <a:cs typeface="Arial"/>
              </a:rPr>
              <a:t>had a palatial complex, a mosque, a  marketplace and a water reservoir, and </a:t>
            </a:r>
            <a:r>
              <a:rPr dirty="0" sz="1200">
                <a:latin typeface="Arial"/>
                <a:cs typeface="Arial"/>
              </a:rPr>
              <a:t>thus </a:t>
            </a:r>
            <a:r>
              <a:rPr dirty="0" sz="1200" spc="-5">
                <a:latin typeface="Arial"/>
                <a:cs typeface="Arial"/>
              </a:rPr>
              <a:t>served the government and the  administration of the country in addition </a:t>
            </a:r>
            <a:r>
              <a:rPr dirty="0" sz="1200">
                <a:latin typeface="Arial"/>
                <a:cs typeface="Arial"/>
              </a:rPr>
              <a:t>to </a:t>
            </a:r>
            <a:r>
              <a:rPr dirty="0" sz="1200" spc="-5">
                <a:latin typeface="Arial"/>
                <a:cs typeface="Arial"/>
              </a:rPr>
              <a:t>the needs of </a:t>
            </a:r>
            <a:r>
              <a:rPr dirty="0" sz="1200">
                <a:latin typeface="Arial"/>
                <a:cs typeface="Arial"/>
              </a:rPr>
              <a:t>the </a:t>
            </a:r>
            <a:r>
              <a:rPr dirty="0" sz="1200" spc="-5">
                <a:latin typeface="Arial"/>
                <a:cs typeface="Arial"/>
              </a:rPr>
              <a:t>community. Vitally  important infrastructure such as dams, cisterns and water reservoirs were constructed  and bridges were erected.</a:t>
            </a:r>
            <a:endParaRPr sz="1200">
              <a:latin typeface="Arial"/>
              <a:cs typeface="Arial"/>
            </a:endParaRPr>
          </a:p>
          <a:p>
            <a:pPr algn="just" marL="469900" marR="7620" indent="-228600">
              <a:lnSpc>
                <a:spcPts val="1380"/>
              </a:lnSpc>
              <a:spcBef>
                <a:spcPts val="35"/>
              </a:spcBef>
              <a:buAutoNum type="arabicPeriod" startAt="4"/>
              <a:tabLst>
                <a:tab pos="470534" algn="l"/>
              </a:tabLst>
            </a:pPr>
            <a:r>
              <a:rPr dirty="0" sz="1200">
                <a:latin typeface="Arial"/>
                <a:cs typeface="Arial"/>
              </a:rPr>
              <a:t>In this </a:t>
            </a:r>
            <a:r>
              <a:rPr dirty="0" sz="1200" spc="-5">
                <a:latin typeface="Arial"/>
                <a:cs typeface="Arial"/>
              </a:rPr>
              <a:t>formative phase one cannot speak strictly </a:t>
            </a:r>
            <a:r>
              <a:rPr dirty="0" sz="1200">
                <a:latin typeface="Arial"/>
                <a:cs typeface="Arial"/>
              </a:rPr>
              <a:t>of </a:t>
            </a:r>
            <a:r>
              <a:rPr dirty="0" sz="1200" spc="-5">
                <a:latin typeface="Arial"/>
                <a:cs typeface="Arial"/>
              </a:rPr>
              <a:t>a </a:t>
            </a:r>
            <a:r>
              <a:rPr dirty="0" sz="1200">
                <a:latin typeface="Arial"/>
                <a:cs typeface="Arial"/>
              </a:rPr>
              <a:t>full-blown Islamic art </a:t>
            </a:r>
            <a:r>
              <a:rPr dirty="0" sz="1200" spc="-5">
                <a:latin typeface="Arial"/>
                <a:cs typeface="Arial"/>
              </a:rPr>
              <a:t>as </a:t>
            </a:r>
            <a:r>
              <a:rPr dirty="0" sz="1200">
                <a:latin typeface="Arial"/>
                <a:cs typeface="Arial"/>
              </a:rPr>
              <a:t>it </a:t>
            </a:r>
            <a:r>
              <a:rPr dirty="0" sz="1200" spc="-5">
                <a:latin typeface="Arial"/>
                <a:cs typeface="Arial"/>
              </a:rPr>
              <a:t>is </a:t>
            </a:r>
            <a:r>
              <a:rPr dirty="0" sz="1200" spc="-10">
                <a:latin typeface="Arial"/>
                <a:cs typeface="Arial"/>
              </a:rPr>
              <a:t>the  </a:t>
            </a:r>
            <a:r>
              <a:rPr dirty="0" sz="1200" spc="-5">
                <a:latin typeface="Arial"/>
                <a:cs typeface="Arial"/>
              </a:rPr>
              <a:t>juxtaposition and innovative </a:t>
            </a:r>
            <a:r>
              <a:rPr dirty="0" sz="1200">
                <a:latin typeface="Arial"/>
                <a:cs typeface="Arial"/>
              </a:rPr>
              <a:t>combination </a:t>
            </a:r>
            <a:r>
              <a:rPr dirty="0" sz="1200" spc="-5">
                <a:latin typeface="Arial"/>
                <a:cs typeface="Arial"/>
              </a:rPr>
              <a:t>of various </a:t>
            </a:r>
            <a:r>
              <a:rPr dirty="0" sz="1200">
                <a:latin typeface="Arial"/>
                <a:cs typeface="Arial"/>
              </a:rPr>
              <a:t>decorative </a:t>
            </a:r>
            <a:r>
              <a:rPr dirty="0" sz="1200" spc="-5">
                <a:latin typeface="Arial"/>
                <a:cs typeface="Arial"/>
              </a:rPr>
              <a:t>styles </a:t>
            </a:r>
            <a:r>
              <a:rPr dirty="0" sz="1200">
                <a:latin typeface="Arial"/>
                <a:cs typeface="Arial"/>
              </a:rPr>
              <a:t>and </a:t>
            </a:r>
            <a:r>
              <a:rPr dirty="0" sz="1200" spc="-5">
                <a:latin typeface="Arial"/>
                <a:cs typeface="Arial"/>
              </a:rPr>
              <a:t>motifs drawn  from different </a:t>
            </a:r>
            <a:r>
              <a:rPr dirty="0" sz="1200">
                <a:latin typeface="Arial"/>
                <a:cs typeface="Arial"/>
              </a:rPr>
              <a:t>artistic </a:t>
            </a:r>
            <a:r>
              <a:rPr dirty="0" sz="1200" spc="-5">
                <a:latin typeface="Arial"/>
                <a:cs typeface="Arial"/>
              </a:rPr>
              <a:t>traditions that produced such striking results and made them  appear different.</a:t>
            </a:r>
            <a:endParaRPr sz="1200">
              <a:latin typeface="Arial"/>
              <a:cs typeface="Arial"/>
            </a:endParaRPr>
          </a:p>
          <a:p>
            <a:pPr algn="just" marL="469900" marR="7620" indent="-228600">
              <a:lnSpc>
                <a:spcPts val="1380"/>
              </a:lnSpc>
              <a:buAutoNum type="arabicPeriod" startAt="4"/>
              <a:tabLst>
                <a:tab pos="470534" algn="l"/>
              </a:tabLst>
            </a:pPr>
            <a:r>
              <a:rPr dirty="0" sz="1200" spc="-5">
                <a:latin typeface="Arial"/>
                <a:cs typeface="Arial"/>
              </a:rPr>
              <a:t>During </a:t>
            </a:r>
            <a:r>
              <a:rPr dirty="0" sz="1200">
                <a:latin typeface="Arial"/>
                <a:cs typeface="Arial"/>
              </a:rPr>
              <a:t>the </a:t>
            </a:r>
            <a:r>
              <a:rPr dirty="0" sz="1200" spc="-5">
                <a:latin typeface="Arial"/>
                <a:cs typeface="Arial"/>
              </a:rPr>
              <a:t>caliphate of </a:t>
            </a:r>
            <a:r>
              <a:rPr dirty="0" sz="1200" spc="-105">
                <a:latin typeface="Arial"/>
                <a:cs typeface="Arial"/>
              </a:rPr>
              <a:t>‗Abd </a:t>
            </a:r>
            <a:r>
              <a:rPr dirty="0" sz="1200" spc="-5">
                <a:latin typeface="Arial"/>
                <a:cs typeface="Arial"/>
              </a:rPr>
              <a:t>al-Malik bin Marwan (r. </a:t>
            </a:r>
            <a:r>
              <a:rPr dirty="0" sz="1200">
                <a:latin typeface="Arial"/>
                <a:cs typeface="Arial"/>
              </a:rPr>
              <a:t>65–86 / </a:t>
            </a:r>
            <a:r>
              <a:rPr dirty="0" sz="1200" spc="-5">
                <a:latin typeface="Arial"/>
                <a:cs typeface="Arial"/>
              </a:rPr>
              <a:t>685–705), a policy of  administrative and political </a:t>
            </a:r>
            <a:r>
              <a:rPr dirty="0" sz="1200">
                <a:latin typeface="Arial"/>
                <a:cs typeface="Arial"/>
              </a:rPr>
              <a:t>centralisation </a:t>
            </a:r>
            <a:r>
              <a:rPr dirty="0" sz="1200" spc="-10">
                <a:latin typeface="Arial"/>
                <a:cs typeface="Arial"/>
              </a:rPr>
              <a:t>was </a:t>
            </a:r>
            <a:r>
              <a:rPr dirty="0" sz="1200">
                <a:latin typeface="Arial"/>
                <a:cs typeface="Arial"/>
              </a:rPr>
              <a:t>initiated. </a:t>
            </a:r>
            <a:r>
              <a:rPr dirty="0" sz="1200" spc="-5">
                <a:latin typeface="Arial"/>
                <a:cs typeface="Arial"/>
              </a:rPr>
              <a:t>Each province had </a:t>
            </a:r>
            <a:r>
              <a:rPr dirty="0" sz="1200">
                <a:latin typeface="Arial"/>
                <a:cs typeface="Arial"/>
              </a:rPr>
              <a:t>its </a:t>
            </a:r>
            <a:r>
              <a:rPr dirty="0" sz="1200" spc="-10">
                <a:latin typeface="Arial"/>
                <a:cs typeface="Arial"/>
              </a:rPr>
              <a:t>own </a:t>
            </a:r>
            <a:r>
              <a:rPr dirty="0" sz="1200" spc="-5">
                <a:latin typeface="Arial"/>
                <a:cs typeface="Arial"/>
              </a:rPr>
              <a:t>way  of administration and policy. However </a:t>
            </a:r>
            <a:r>
              <a:rPr dirty="0" sz="1200">
                <a:latin typeface="Arial"/>
                <a:cs typeface="Arial"/>
              </a:rPr>
              <a:t>the rulers </a:t>
            </a:r>
            <a:r>
              <a:rPr dirty="0" sz="1200" spc="-5">
                <a:latin typeface="Arial"/>
                <a:cs typeface="Arial"/>
              </a:rPr>
              <a:t>and governors will be accountable </a:t>
            </a:r>
            <a:r>
              <a:rPr dirty="0" sz="1200">
                <a:latin typeface="Arial"/>
                <a:cs typeface="Arial"/>
              </a:rPr>
              <a:t>for  the </a:t>
            </a:r>
            <a:r>
              <a:rPr dirty="0" sz="1200" spc="-5">
                <a:latin typeface="Arial"/>
                <a:cs typeface="Arial"/>
              </a:rPr>
              <a:t>financial development and</a:t>
            </a:r>
            <a:r>
              <a:rPr dirty="0" sz="1200" spc="-30">
                <a:latin typeface="Arial"/>
                <a:cs typeface="Arial"/>
              </a:rPr>
              <a:t> </a:t>
            </a:r>
            <a:r>
              <a:rPr dirty="0" sz="1200" spc="-5">
                <a:latin typeface="Arial"/>
                <a:cs typeface="Arial"/>
              </a:rPr>
              <a:t>problems.</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103</a:t>
            </a:r>
            <a:endParaRPr sz="1200">
              <a:latin typeface="Times New Roman"/>
              <a:cs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2535" cy="916305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469900" marR="6985" indent="-229235">
              <a:lnSpc>
                <a:spcPct val="95700"/>
              </a:lnSpc>
              <a:spcBef>
                <a:spcPts val="5"/>
              </a:spcBef>
              <a:buAutoNum type="arabicPeriod" startAt="7"/>
              <a:tabLst>
                <a:tab pos="470534" algn="l"/>
              </a:tabLst>
            </a:pPr>
            <a:r>
              <a:rPr dirty="0" sz="1200">
                <a:latin typeface="Arial"/>
                <a:cs typeface="Arial"/>
              </a:rPr>
              <a:t>In the </a:t>
            </a:r>
            <a:r>
              <a:rPr dirty="0" sz="1200" spc="-5">
                <a:latin typeface="Arial"/>
                <a:cs typeface="Arial"/>
              </a:rPr>
              <a:t>fiscal administration, </a:t>
            </a:r>
            <a:r>
              <a:rPr dirty="0" sz="1200" spc="-10">
                <a:latin typeface="Arial"/>
                <a:cs typeface="Arial"/>
              </a:rPr>
              <a:t>however, </a:t>
            </a:r>
            <a:r>
              <a:rPr dirty="0" sz="1200">
                <a:latin typeface="Arial"/>
                <a:cs typeface="Arial"/>
              </a:rPr>
              <a:t>the </a:t>
            </a:r>
            <a:r>
              <a:rPr dirty="0" sz="1200" spc="-5">
                <a:latin typeface="Arial"/>
                <a:cs typeface="Arial"/>
              </a:rPr>
              <a:t>Arabs introduced an innovative </a:t>
            </a:r>
            <a:r>
              <a:rPr dirty="0" sz="1200">
                <a:latin typeface="Arial"/>
                <a:cs typeface="Arial"/>
              </a:rPr>
              <a:t>system  </a:t>
            </a:r>
            <a:r>
              <a:rPr dirty="0" sz="1200" spc="-5">
                <a:latin typeface="Arial"/>
                <a:cs typeface="Arial"/>
              </a:rPr>
              <a:t>according </a:t>
            </a:r>
            <a:r>
              <a:rPr dirty="0" sz="1200">
                <a:latin typeface="Arial"/>
                <a:cs typeface="Arial"/>
              </a:rPr>
              <a:t>to </a:t>
            </a:r>
            <a:r>
              <a:rPr dirty="0" sz="1200" spc="-5">
                <a:latin typeface="Arial"/>
                <a:cs typeface="Arial"/>
              </a:rPr>
              <a:t>which all fully </a:t>
            </a:r>
            <a:r>
              <a:rPr dirty="0" sz="1200">
                <a:latin typeface="Arial"/>
                <a:cs typeface="Arial"/>
              </a:rPr>
              <a:t>fledged </a:t>
            </a:r>
            <a:r>
              <a:rPr dirty="0" sz="1200" spc="-5">
                <a:latin typeface="Arial"/>
                <a:cs typeface="Arial"/>
              </a:rPr>
              <a:t>members of </a:t>
            </a:r>
            <a:r>
              <a:rPr dirty="0" sz="1200">
                <a:latin typeface="Arial"/>
                <a:cs typeface="Arial"/>
              </a:rPr>
              <a:t>the </a:t>
            </a:r>
            <a:r>
              <a:rPr dirty="0" sz="1200" spc="-5">
                <a:latin typeface="Arial"/>
                <a:cs typeface="Arial"/>
              </a:rPr>
              <a:t>new polity were entitled </a:t>
            </a:r>
            <a:r>
              <a:rPr dirty="0" sz="1200">
                <a:latin typeface="Arial"/>
                <a:cs typeface="Arial"/>
              </a:rPr>
              <a:t>to </a:t>
            </a:r>
            <a:r>
              <a:rPr dirty="0" sz="1200" spc="-5">
                <a:latin typeface="Arial"/>
                <a:cs typeface="Arial"/>
              </a:rPr>
              <a:t>regular  stipends </a:t>
            </a:r>
            <a:r>
              <a:rPr dirty="0" sz="1200" spc="-55">
                <a:latin typeface="Arial"/>
                <a:cs typeface="Arial"/>
              </a:rPr>
              <a:t>(</a:t>
            </a:r>
            <a:r>
              <a:rPr dirty="0" sz="1200" spc="-55" i="1">
                <a:latin typeface="Arial"/>
                <a:cs typeface="Arial"/>
              </a:rPr>
              <a:t>‗ata‘</a:t>
            </a:r>
            <a:r>
              <a:rPr dirty="0" sz="1200" spc="-55">
                <a:latin typeface="Arial"/>
                <a:cs typeface="Arial"/>
              </a:rPr>
              <a:t>); </a:t>
            </a:r>
            <a:r>
              <a:rPr dirty="0" sz="1200" spc="-5">
                <a:latin typeface="Arial"/>
                <a:cs typeface="Arial"/>
              </a:rPr>
              <a:t>a system that </a:t>
            </a:r>
            <a:r>
              <a:rPr dirty="0" sz="1200" spc="-10">
                <a:latin typeface="Arial"/>
                <a:cs typeface="Arial"/>
              </a:rPr>
              <a:t>was </a:t>
            </a:r>
            <a:r>
              <a:rPr dirty="0" sz="1200" spc="-5">
                <a:latin typeface="Arial"/>
                <a:cs typeface="Arial"/>
              </a:rPr>
              <a:t>financed by </a:t>
            </a:r>
            <a:r>
              <a:rPr dirty="0" sz="1200">
                <a:latin typeface="Arial"/>
                <a:cs typeface="Arial"/>
              </a:rPr>
              <a:t>the </a:t>
            </a:r>
            <a:r>
              <a:rPr dirty="0" sz="1200" spc="-5">
                <a:latin typeface="Arial"/>
                <a:cs typeface="Arial"/>
              </a:rPr>
              <a:t>taxes of the local populous. The  </a:t>
            </a:r>
            <a:r>
              <a:rPr dirty="0" sz="1200">
                <a:latin typeface="Arial"/>
                <a:cs typeface="Arial"/>
              </a:rPr>
              <a:t>main </a:t>
            </a:r>
            <a:r>
              <a:rPr dirty="0" sz="1200" spc="-5">
                <a:latin typeface="Arial"/>
                <a:cs typeface="Arial"/>
              </a:rPr>
              <a:t>taxes were land </a:t>
            </a:r>
            <a:r>
              <a:rPr dirty="0" sz="1200">
                <a:latin typeface="Arial"/>
                <a:cs typeface="Arial"/>
              </a:rPr>
              <a:t>tax </a:t>
            </a:r>
            <a:r>
              <a:rPr dirty="0" sz="1200" spc="-5">
                <a:latin typeface="Arial"/>
                <a:cs typeface="Arial"/>
              </a:rPr>
              <a:t>(kharaj), a fixed </a:t>
            </a:r>
            <a:r>
              <a:rPr dirty="0" sz="1200">
                <a:latin typeface="Arial"/>
                <a:cs typeface="Arial"/>
              </a:rPr>
              <a:t>rate </a:t>
            </a:r>
            <a:r>
              <a:rPr dirty="0" sz="1200" spc="-5">
                <a:latin typeface="Arial"/>
                <a:cs typeface="Arial"/>
              </a:rPr>
              <a:t>in kind </a:t>
            </a:r>
            <a:r>
              <a:rPr dirty="0" sz="1200">
                <a:latin typeface="Arial"/>
                <a:cs typeface="Arial"/>
              </a:rPr>
              <a:t>or money and </a:t>
            </a:r>
            <a:r>
              <a:rPr dirty="0" sz="1200" spc="-5">
                <a:latin typeface="Arial"/>
                <a:cs typeface="Arial"/>
              </a:rPr>
              <a:t>the </a:t>
            </a:r>
            <a:r>
              <a:rPr dirty="0" sz="1200">
                <a:latin typeface="Arial"/>
                <a:cs typeface="Arial"/>
              </a:rPr>
              <a:t>poll tax (jizya),  </a:t>
            </a:r>
            <a:r>
              <a:rPr dirty="0" sz="1200" spc="-5">
                <a:latin typeface="Arial"/>
                <a:cs typeface="Arial"/>
              </a:rPr>
              <a:t>which </a:t>
            </a:r>
            <a:r>
              <a:rPr dirty="0" sz="1200" spc="-10">
                <a:latin typeface="Arial"/>
                <a:cs typeface="Arial"/>
              </a:rPr>
              <a:t>was </a:t>
            </a:r>
            <a:r>
              <a:rPr dirty="0" sz="1200" spc="-5">
                <a:latin typeface="Arial"/>
                <a:cs typeface="Arial"/>
              </a:rPr>
              <a:t>imposed </a:t>
            </a:r>
            <a:r>
              <a:rPr dirty="0" sz="1200" spc="-10">
                <a:latin typeface="Arial"/>
                <a:cs typeface="Arial"/>
              </a:rPr>
              <a:t>on </a:t>
            </a:r>
            <a:r>
              <a:rPr dirty="0" sz="1200" spc="-5">
                <a:latin typeface="Arial"/>
                <a:cs typeface="Arial"/>
              </a:rPr>
              <a:t>every </a:t>
            </a:r>
            <a:r>
              <a:rPr dirty="0" sz="1200">
                <a:latin typeface="Arial"/>
                <a:cs typeface="Arial"/>
              </a:rPr>
              <a:t>mature non-Muslim </a:t>
            </a:r>
            <a:r>
              <a:rPr dirty="0" sz="1200" spc="-5">
                <a:latin typeface="Arial"/>
                <a:cs typeface="Arial"/>
              </a:rPr>
              <a:t>and means </a:t>
            </a:r>
            <a:r>
              <a:rPr dirty="0" sz="1200">
                <a:latin typeface="Arial"/>
                <a:cs typeface="Arial"/>
              </a:rPr>
              <a:t>tested </a:t>
            </a:r>
            <a:r>
              <a:rPr dirty="0" sz="1200" spc="-5">
                <a:latin typeface="Arial"/>
                <a:cs typeface="Arial"/>
              </a:rPr>
              <a:t>according to  income. Priests, monks, and the disabled were exempt from paying</a:t>
            </a:r>
            <a:r>
              <a:rPr dirty="0" sz="1200" spc="80">
                <a:latin typeface="Arial"/>
                <a:cs typeface="Arial"/>
              </a:rPr>
              <a:t> </a:t>
            </a:r>
            <a:r>
              <a:rPr dirty="0" sz="1200" spc="-5" i="1">
                <a:latin typeface="Arial"/>
                <a:cs typeface="Arial"/>
              </a:rPr>
              <a:t>jizya</a:t>
            </a:r>
            <a:r>
              <a:rPr dirty="0" sz="1200" spc="-5">
                <a:latin typeface="Arial"/>
                <a:cs typeface="Arial"/>
              </a:rPr>
              <a:t>.</a:t>
            </a:r>
            <a:endParaRPr sz="1200">
              <a:latin typeface="Arial"/>
              <a:cs typeface="Arial"/>
            </a:endParaRPr>
          </a:p>
          <a:p>
            <a:pPr algn="just" marL="469900" marR="5080" indent="-229235">
              <a:lnSpc>
                <a:spcPts val="1380"/>
              </a:lnSpc>
              <a:spcBef>
                <a:spcPts val="45"/>
              </a:spcBef>
              <a:buAutoNum type="arabicPeriod" startAt="7"/>
              <a:tabLst>
                <a:tab pos="470534" algn="l"/>
              </a:tabLst>
            </a:pPr>
            <a:r>
              <a:rPr dirty="0" sz="1200">
                <a:latin typeface="Arial"/>
                <a:cs typeface="Arial"/>
              </a:rPr>
              <a:t>A </a:t>
            </a:r>
            <a:r>
              <a:rPr dirty="0" sz="1200" spc="-5">
                <a:latin typeface="Arial"/>
                <a:cs typeface="Arial"/>
              </a:rPr>
              <a:t>standard Arabic coinage </a:t>
            </a:r>
            <a:r>
              <a:rPr dirty="0" sz="1200" spc="-10">
                <a:latin typeface="Arial"/>
                <a:cs typeface="Arial"/>
              </a:rPr>
              <a:t>was </a:t>
            </a:r>
            <a:r>
              <a:rPr dirty="0" sz="1200" spc="-5">
                <a:latin typeface="Arial"/>
                <a:cs typeface="Arial"/>
              </a:rPr>
              <a:t>developed to </a:t>
            </a:r>
            <a:r>
              <a:rPr dirty="0" sz="1200">
                <a:latin typeface="Arial"/>
                <a:cs typeface="Arial"/>
              </a:rPr>
              <a:t>replace </a:t>
            </a:r>
            <a:r>
              <a:rPr dirty="0" sz="1200" spc="-5">
                <a:latin typeface="Arial"/>
                <a:cs typeface="Arial"/>
              </a:rPr>
              <a:t>the Arab-Byzantine and Arab-  Sassanian types which had been used </a:t>
            </a:r>
            <a:r>
              <a:rPr dirty="0" sz="1200" spc="-10">
                <a:latin typeface="Arial"/>
                <a:cs typeface="Arial"/>
              </a:rPr>
              <a:t>up </a:t>
            </a:r>
            <a:r>
              <a:rPr dirty="0" sz="1200" spc="-5">
                <a:latin typeface="Arial"/>
                <a:cs typeface="Arial"/>
              </a:rPr>
              <a:t>to </a:t>
            </a:r>
            <a:r>
              <a:rPr dirty="0" sz="1200">
                <a:latin typeface="Arial"/>
                <a:cs typeface="Arial"/>
              </a:rPr>
              <a:t>this time. </a:t>
            </a:r>
            <a:r>
              <a:rPr dirty="0" sz="1200" spc="-5">
                <a:latin typeface="Arial"/>
                <a:cs typeface="Arial"/>
              </a:rPr>
              <a:t>From </a:t>
            </a:r>
            <a:r>
              <a:rPr dirty="0" sz="1200">
                <a:latin typeface="Arial"/>
                <a:cs typeface="Arial"/>
              </a:rPr>
              <a:t>the </a:t>
            </a:r>
            <a:r>
              <a:rPr dirty="0" sz="1200" spc="-5">
                <a:latin typeface="Arial"/>
                <a:cs typeface="Arial"/>
              </a:rPr>
              <a:t>coin reform on, all  Umayyad coinage </a:t>
            </a:r>
            <a:r>
              <a:rPr dirty="0" sz="1200" spc="-10">
                <a:latin typeface="Arial"/>
                <a:cs typeface="Arial"/>
              </a:rPr>
              <a:t>was </a:t>
            </a:r>
            <a:r>
              <a:rPr dirty="0" sz="1200">
                <a:latin typeface="Arial"/>
                <a:cs typeface="Arial"/>
              </a:rPr>
              <a:t>of </a:t>
            </a:r>
            <a:r>
              <a:rPr dirty="0" sz="1200" spc="-5">
                <a:latin typeface="Arial"/>
                <a:cs typeface="Arial"/>
              </a:rPr>
              <a:t>a standardised weight and design: purely </a:t>
            </a:r>
            <a:r>
              <a:rPr dirty="0" sz="1200">
                <a:latin typeface="Arial"/>
                <a:cs typeface="Arial"/>
              </a:rPr>
              <a:t>epigraphic, </a:t>
            </a:r>
            <a:r>
              <a:rPr dirty="0" sz="1200" spc="-5">
                <a:latin typeface="Arial"/>
                <a:cs typeface="Arial"/>
              </a:rPr>
              <a:t>with  an inscription giving </a:t>
            </a:r>
            <a:r>
              <a:rPr dirty="0" sz="1200">
                <a:latin typeface="Arial"/>
                <a:cs typeface="Arial"/>
              </a:rPr>
              <a:t>the </a:t>
            </a:r>
            <a:r>
              <a:rPr dirty="0" sz="1200" spc="-5">
                <a:latin typeface="Arial"/>
                <a:cs typeface="Arial"/>
              </a:rPr>
              <a:t>date and a religious </a:t>
            </a:r>
            <a:r>
              <a:rPr dirty="0" sz="1200">
                <a:latin typeface="Arial"/>
                <a:cs typeface="Arial"/>
              </a:rPr>
              <a:t>formula. These </a:t>
            </a:r>
            <a:r>
              <a:rPr dirty="0" sz="1200" spc="-5">
                <a:latin typeface="Arial"/>
                <a:cs typeface="Arial"/>
              </a:rPr>
              <a:t>measures </a:t>
            </a:r>
            <a:r>
              <a:rPr dirty="0" sz="1200" spc="-10">
                <a:latin typeface="Arial"/>
                <a:cs typeface="Arial"/>
              </a:rPr>
              <a:t>served </a:t>
            </a:r>
            <a:r>
              <a:rPr dirty="0" sz="1200" spc="-5">
                <a:latin typeface="Arial"/>
                <a:cs typeface="Arial"/>
              </a:rPr>
              <a:t>to  introduce a unity which hitherto had been</a:t>
            </a:r>
            <a:r>
              <a:rPr dirty="0" sz="1200">
                <a:latin typeface="Arial"/>
                <a:cs typeface="Arial"/>
              </a:rPr>
              <a:t> </a:t>
            </a:r>
            <a:r>
              <a:rPr dirty="0" sz="1200" spc="-5">
                <a:latin typeface="Arial"/>
                <a:cs typeface="Arial"/>
              </a:rPr>
              <a:t>lacking.</a:t>
            </a:r>
            <a:endParaRPr sz="1200">
              <a:latin typeface="Arial"/>
              <a:cs typeface="Arial"/>
            </a:endParaRPr>
          </a:p>
          <a:p>
            <a:pPr>
              <a:lnSpc>
                <a:spcPct val="100000"/>
              </a:lnSpc>
              <a:spcBef>
                <a:spcPts val="20"/>
              </a:spcBef>
            </a:pPr>
            <a:endParaRPr sz="1100">
              <a:latin typeface="Arial"/>
              <a:cs typeface="Arial"/>
            </a:endParaRPr>
          </a:p>
          <a:p>
            <a:pPr marL="469900" indent="-229235">
              <a:lnSpc>
                <a:spcPct val="100000"/>
              </a:lnSpc>
              <a:buFont typeface="Wingdings"/>
              <a:buChar char=""/>
              <a:tabLst>
                <a:tab pos="470534" algn="l"/>
              </a:tabLst>
            </a:pPr>
            <a:r>
              <a:rPr dirty="0" u="heavy" sz="1200" b="1" i="1">
                <a:uFill>
                  <a:solidFill>
                    <a:srgbClr val="000000"/>
                  </a:solidFill>
                </a:uFill>
                <a:latin typeface="Arial"/>
                <a:cs typeface="Arial"/>
              </a:rPr>
              <a:t>Reasons </a:t>
            </a:r>
            <a:r>
              <a:rPr dirty="0" u="heavy" sz="1200" spc="-5" b="1" i="1">
                <a:uFill>
                  <a:solidFill>
                    <a:srgbClr val="000000"/>
                  </a:solidFill>
                </a:uFill>
                <a:latin typeface="Arial"/>
                <a:cs typeface="Arial"/>
              </a:rPr>
              <a:t>for the Downfall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Umayyad</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Dynasty</a:t>
            </a:r>
            <a:endParaRPr sz="1200">
              <a:latin typeface="Arial"/>
              <a:cs typeface="Arial"/>
            </a:endParaRPr>
          </a:p>
          <a:p>
            <a:pPr>
              <a:lnSpc>
                <a:spcPct val="100000"/>
              </a:lnSpc>
              <a:buFont typeface="Wingdings"/>
              <a:buChar char=""/>
            </a:pPr>
            <a:endParaRPr sz="1150">
              <a:latin typeface="Arial"/>
              <a:cs typeface="Arial"/>
            </a:endParaRPr>
          </a:p>
          <a:p>
            <a:pPr lvl="1" marL="698500" indent="-229235">
              <a:lnSpc>
                <a:spcPts val="1410"/>
              </a:lnSpc>
              <a:buAutoNum type="arabicPeriod"/>
              <a:tabLst>
                <a:tab pos="699135" algn="l"/>
              </a:tabLst>
            </a:pPr>
            <a:r>
              <a:rPr dirty="0" sz="1200">
                <a:latin typeface="Arial"/>
                <a:cs typeface="Arial"/>
              </a:rPr>
              <a:t>Battle </a:t>
            </a:r>
            <a:r>
              <a:rPr dirty="0" sz="1200" spc="-5">
                <a:latin typeface="Arial"/>
                <a:cs typeface="Arial"/>
              </a:rPr>
              <a:t>of Karbala against </a:t>
            </a:r>
            <a:r>
              <a:rPr dirty="0" sz="1200">
                <a:latin typeface="Arial"/>
                <a:cs typeface="Arial"/>
              </a:rPr>
              <a:t>the </a:t>
            </a:r>
            <a:r>
              <a:rPr dirty="0" sz="1200" spc="-5">
                <a:latin typeface="Arial"/>
                <a:cs typeface="Arial"/>
              </a:rPr>
              <a:t>Ahlu </a:t>
            </a:r>
            <a:r>
              <a:rPr dirty="0" sz="1200">
                <a:latin typeface="Arial"/>
                <a:cs typeface="Arial"/>
              </a:rPr>
              <a:t>Bait by </a:t>
            </a:r>
            <a:r>
              <a:rPr dirty="0" sz="1200" spc="-5">
                <a:latin typeface="Arial"/>
                <a:cs typeface="Arial"/>
              </a:rPr>
              <a:t>Yazid </a:t>
            </a:r>
            <a:r>
              <a:rPr dirty="0" sz="1200">
                <a:latin typeface="Arial"/>
                <a:cs typeface="Arial"/>
              </a:rPr>
              <a:t>the son </a:t>
            </a:r>
            <a:r>
              <a:rPr dirty="0" sz="1200" spc="-5">
                <a:latin typeface="Arial"/>
                <a:cs typeface="Arial"/>
              </a:rPr>
              <a:t>of</a:t>
            </a:r>
            <a:r>
              <a:rPr dirty="0" sz="1200" spc="-25">
                <a:latin typeface="Arial"/>
                <a:cs typeface="Arial"/>
              </a:rPr>
              <a:t> </a:t>
            </a:r>
            <a:r>
              <a:rPr dirty="0" sz="1200" spc="-5">
                <a:latin typeface="Arial"/>
                <a:cs typeface="Arial"/>
              </a:rPr>
              <a:t>Mu‘awiyah</a:t>
            </a:r>
            <a:endParaRPr sz="1200">
              <a:latin typeface="Arial"/>
              <a:cs typeface="Arial"/>
            </a:endParaRPr>
          </a:p>
          <a:p>
            <a:pPr lvl="1" marL="698500" marR="6350" indent="-228600">
              <a:lnSpc>
                <a:spcPts val="1380"/>
              </a:lnSpc>
              <a:spcBef>
                <a:spcPts val="65"/>
              </a:spcBef>
              <a:buAutoNum type="arabicPeriod"/>
              <a:tabLst>
                <a:tab pos="699135" algn="l"/>
              </a:tabLst>
            </a:pPr>
            <a:r>
              <a:rPr dirty="0" sz="1200" spc="-5">
                <a:latin typeface="Arial"/>
                <a:cs typeface="Arial"/>
              </a:rPr>
              <a:t>Illicit thoughts and activities </a:t>
            </a:r>
            <a:r>
              <a:rPr dirty="0" sz="1200">
                <a:latin typeface="Arial"/>
                <a:cs typeface="Arial"/>
              </a:rPr>
              <a:t>(policies). </a:t>
            </a:r>
            <a:r>
              <a:rPr dirty="0" sz="1200" spc="-5">
                <a:latin typeface="Arial"/>
                <a:cs typeface="Arial"/>
              </a:rPr>
              <a:t>Adultery, </a:t>
            </a:r>
            <a:r>
              <a:rPr dirty="0" sz="1200">
                <a:latin typeface="Arial"/>
                <a:cs typeface="Arial"/>
              </a:rPr>
              <a:t>prostitution, </a:t>
            </a:r>
            <a:r>
              <a:rPr dirty="0" sz="1200" spc="-5">
                <a:latin typeface="Arial"/>
                <a:cs typeface="Arial"/>
              </a:rPr>
              <a:t>bait-ul-Maal became  </a:t>
            </a:r>
            <a:r>
              <a:rPr dirty="0" sz="1200">
                <a:latin typeface="Arial"/>
                <a:cs typeface="Arial"/>
              </a:rPr>
              <a:t>the </a:t>
            </a:r>
            <a:r>
              <a:rPr dirty="0" sz="1200" spc="-5">
                <a:latin typeface="Arial"/>
                <a:cs typeface="Arial"/>
              </a:rPr>
              <a:t>kingdom‘s</a:t>
            </a:r>
            <a:r>
              <a:rPr dirty="0" sz="1200" spc="-20">
                <a:latin typeface="Arial"/>
                <a:cs typeface="Arial"/>
              </a:rPr>
              <a:t> </a:t>
            </a:r>
            <a:r>
              <a:rPr dirty="0" sz="1200" spc="-5">
                <a:latin typeface="Arial"/>
                <a:cs typeface="Arial"/>
              </a:rPr>
              <a:t>property.</a:t>
            </a:r>
            <a:endParaRPr sz="1200">
              <a:latin typeface="Arial"/>
              <a:cs typeface="Arial"/>
            </a:endParaRPr>
          </a:p>
          <a:p>
            <a:pPr lvl="1" marL="698500" marR="8890" indent="-228600">
              <a:lnSpc>
                <a:spcPts val="1380"/>
              </a:lnSpc>
              <a:buAutoNum type="arabicPeriod"/>
              <a:tabLst>
                <a:tab pos="699135" algn="l"/>
              </a:tabLst>
            </a:pPr>
            <a:r>
              <a:rPr dirty="0" sz="1200" spc="-5">
                <a:latin typeface="Arial"/>
                <a:cs typeface="Arial"/>
              </a:rPr>
              <a:t>Bribes were distributed </a:t>
            </a:r>
            <a:r>
              <a:rPr dirty="0" sz="1200">
                <a:latin typeface="Arial"/>
                <a:cs typeface="Arial"/>
              </a:rPr>
              <a:t>to </a:t>
            </a:r>
            <a:r>
              <a:rPr dirty="0" sz="1200" spc="-5">
                <a:latin typeface="Arial"/>
                <a:cs typeface="Arial"/>
              </a:rPr>
              <a:t>gain popularity and election by the governors of </a:t>
            </a:r>
            <a:r>
              <a:rPr dirty="0" sz="1200" spc="-10">
                <a:latin typeface="Arial"/>
                <a:cs typeface="Arial"/>
              </a:rPr>
              <a:t>the  </a:t>
            </a:r>
            <a:r>
              <a:rPr dirty="0" sz="1200">
                <a:latin typeface="Arial"/>
                <a:cs typeface="Arial"/>
              </a:rPr>
              <a:t>future</a:t>
            </a:r>
            <a:r>
              <a:rPr dirty="0" sz="1200" spc="-5">
                <a:latin typeface="Arial"/>
                <a:cs typeface="Arial"/>
              </a:rPr>
              <a:t> caliph.</a:t>
            </a:r>
            <a:endParaRPr sz="1200">
              <a:latin typeface="Arial"/>
              <a:cs typeface="Arial"/>
            </a:endParaRPr>
          </a:p>
          <a:p>
            <a:pPr lvl="1" marL="698500" marR="5715" indent="-228600">
              <a:lnSpc>
                <a:spcPts val="1380"/>
              </a:lnSpc>
              <a:buAutoNum type="arabicPeriod"/>
              <a:tabLst>
                <a:tab pos="699135" algn="l"/>
              </a:tabLst>
            </a:pPr>
            <a:r>
              <a:rPr dirty="0" sz="1200">
                <a:latin typeface="Arial"/>
                <a:cs typeface="Arial"/>
              </a:rPr>
              <a:t>Interest </a:t>
            </a:r>
            <a:r>
              <a:rPr dirty="0" sz="1200" spc="-10">
                <a:latin typeface="Arial"/>
                <a:cs typeface="Arial"/>
              </a:rPr>
              <a:t>was </a:t>
            </a:r>
            <a:r>
              <a:rPr dirty="0" sz="1200" spc="-5">
                <a:latin typeface="Arial"/>
                <a:cs typeface="Arial"/>
              </a:rPr>
              <a:t>ramping and too much liberty </a:t>
            </a:r>
            <a:r>
              <a:rPr dirty="0" sz="1200" spc="-10">
                <a:latin typeface="Arial"/>
                <a:cs typeface="Arial"/>
              </a:rPr>
              <a:t>was </a:t>
            </a:r>
            <a:r>
              <a:rPr dirty="0" sz="1200" spc="-5">
                <a:latin typeface="Arial"/>
                <a:cs typeface="Arial"/>
              </a:rPr>
              <a:t>given </a:t>
            </a:r>
            <a:r>
              <a:rPr dirty="0" sz="1200">
                <a:latin typeface="Arial"/>
                <a:cs typeface="Arial"/>
              </a:rPr>
              <a:t>to </a:t>
            </a:r>
            <a:r>
              <a:rPr dirty="0" sz="1200" spc="-5">
                <a:latin typeface="Arial"/>
                <a:cs typeface="Arial"/>
              </a:rPr>
              <a:t>non-Muslims in many  fields.</a:t>
            </a:r>
            <a:endParaRPr sz="1200">
              <a:latin typeface="Arial"/>
              <a:cs typeface="Arial"/>
            </a:endParaRPr>
          </a:p>
          <a:p>
            <a:pPr lvl="1" marL="698500" marR="12700" indent="-228600">
              <a:lnSpc>
                <a:spcPts val="1380"/>
              </a:lnSpc>
              <a:buAutoNum type="arabicPeriod"/>
              <a:tabLst>
                <a:tab pos="699135" algn="l"/>
              </a:tabLst>
            </a:pPr>
            <a:r>
              <a:rPr dirty="0" sz="1200">
                <a:latin typeface="Arial"/>
                <a:cs typeface="Arial"/>
              </a:rPr>
              <a:t>A return to </a:t>
            </a:r>
            <a:r>
              <a:rPr dirty="0" sz="1200" spc="-5">
                <a:latin typeface="Arial"/>
                <a:cs typeface="Arial"/>
              </a:rPr>
              <a:t>islamisation from the good caliphs meant a reduction of illicit gain. </a:t>
            </a:r>
            <a:r>
              <a:rPr dirty="0" sz="1200">
                <a:latin typeface="Arial"/>
                <a:cs typeface="Arial"/>
              </a:rPr>
              <a:t>In  this </a:t>
            </a:r>
            <a:r>
              <a:rPr dirty="0" sz="1200" spc="-10">
                <a:latin typeface="Arial"/>
                <a:cs typeface="Arial"/>
              </a:rPr>
              <a:t>way </a:t>
            </a:r>
            <a:r>
              <a:rPr dirty="0" sz="1200">
                <a:latin typeface="Arial"/>
                <a:cs typeface="Arial"/>
              </a:rPr>
              <a:t>people </a:t>
            </a:r>
            <a:r>
              <a:rPr dirty="0" sz="1200" spc="-5">
                <a:latin typeface="Arial"/>
                <a:cs typeface="Arial"/>
              </a:rPr>
              <a:t>tried their </a:t>
            </a:r>
            <a:r>
              <a:rPr dirty="0" sz="1200">
                <a:latin typeface="Arial"/>
                <a:cs typeface="Arial"/>
              </a:rPr>
              <a:t>best </a:t>
            </a:r>
            <a:r>
              <a:rPr dirty="0" sz="1200" spc="-5">
                <a:latin typeface="Arial"/>
                <a:cs typeface="Arial"/>
              </a:rPr>
              <a:t>to eliminate</a:t>
            </a:r>
            <a:r>
              <a:rPr dirty="0" sz="1200" spc="-10">
                <a:latin typeface="Arial"/>
                <a:cs typeface="Arial"/>
              </a:rPr>
              <a:t> </a:t>
            </a:r>
            <a:r>
              <a:rPr dirty="0" sz="1200" spc="-5">
                <a:latin typeface="Arial"/>
                <a:cs typeface="Arial"/>
              </a:rPr>
              <a:t>them.</a:t>
            </a:r>
            <a:endParaRPr sz="1200">
              <a:latin typeface="Arial"/>
              <a:cs typeface="Arial"/>
            </a:endParaRPr>
          </a:p>
          <a:p>
            <a:pPr lvl="1" marL="698500" marR="8890" indent="-228600">
              <a:lnSpc>
                <a:spcPts val="1380"/>
              </a:lnSpc>
              <a:buAutoNum type="arabicPeriod"/>
              <a:tabLst>
                <a:tab pos="699135" algn="l"/>
              </a:tabLst>
            </a:pPr>
            <a:r>
              <a:rPr dirty="0" sz="1200" spc="-5">
                <a:latin typeface="Arial"/>
                <a:cs typeface="Arial"/>
              </a:rPr>
              <a:t>The Christian and Jews were not loyal </a:t>
            </a:r>
            <a:r>
              <a:rPr dirty="0" sz="1200">
                <a:latin typeface="Arial"/>
                <a:cs typeface="Arial"/>
              </a:rPr>
              <a:t>to the </a:t>
            </a:r>
            <a:r>
              <a:rPr dirty="0" sz="1200" spc="-5">
                <a:latin typeface="Arial"/>
                <a:cs typeface="Arial"/>
              </a:rPr>
              <a:t>caliph and they plotted against them  </a:t>
            </a:r>
            <a:r>
              <a:rPr dirty="0" sz="1200">
                <a:latin typeface="Arial"/>
                <a:cs typeface="Arial"/>
              </a:rPr>
              <a:t>for </a:t>
            </a:r>
            <a:r>
              <a:rPr dirty="0" sz="1200" spc="-5">
                <a:latin typeface="Arial"/>
                <a:cs typeface="Arial"/>
              </a:rPr>
              <a:t>personnel interest.</a:t>
            </a:r>
            <a:endParaRPr sz="1200">
              <a:latin typeface="Arial"/>
              <a:cs typeface="Arial"/>
            </a:endParaRPr>
          </a:p>
          <a:p>
            <a:pPr lvl="1" marL="698500" indent="-229235">
              <a:lnSpc>
                <a:spcPts val="1315"/>
              </a:lnSpc>
              <a:buAutoNum type="arabicPeriod"/>
              <a:tabLst>
                <a:tab pos="699135" algn="l"/>
              </a:tabLst>
            </a:pPr>
            <a:r>
              <a:rPr dirty="0" sz="1200" spc="-5">
                <a:latin typeface="Arial"/>
                <a:cs typeface="Arial"/>
              </a:rPr>
              <a:t>Khawarij were always uprising </a:t>
            </a:r>
            <a:r>
              <a:rPr dirty="0" sz="1200">
                <a:latin typeface="Arial"/>
                <a:cs typeface="Arial"/>
              </a:rPr>
              <a:t>from </a:t>
            </a:r>
            <a:r>
              <a:rPr dirty="0" sz="1200" spc="-5">
                <a:latin typeface="Arial"/>
                <a:cs typeface="Arial"/>
              </a:rPr>
              <a:t>all sides to create instability in the</a:t>
            </a:r>
            <a:r>
              <a:rPr dirty="0" sz="1200" spc="110">
                <a:latin typeface="Arial"/>
                <a:cs typeface="Arial"/>
              </a:rPr>
              <a:t> </a:t>
            </a:r>
            <a:r>
              <a:rPr dirty="0" sz="1200" spc="-5">
                <a:latin typeface="Arial"/>
                <a:cs typeface="Arial"/>
              </a:rPr>
              <a:t>society.</a:t>
            </a:r>
            <a:endParaRPr sz="1200">
              <a:latin typeface="Arial"/>
              <a:cs typeface="Arial"/>
            </a:endParaRPr>
          </a:p>
          <a:p>
            <a:pPr lvl="1" marL="698500" marR="10160" indent="-228600">
              <a:lnSpc>
                <a:spcPts val="1380"/>
              </a:lnSpc>
              <a:spcBef>
                <a:spcPts val="70"/>
              </a:spcBef>
              <a:buAutoNum type="arabicPeriod"/>
              <a:tabLst>
                <a:tab pos="699135" algn="l"/>
              </a:tabLst>
            </a:pPr>
            <a:r>
              <a:rPr dirty="0" sz="1200" spc="-5">
                <a:latin typeface="Arial"/>
                <a:cs typeface="Arial"/>
              </a:rPr>
              <a:t>There were revolts </a:t>
            </a:r>
            <a:r>
              <a:rPr dirty="0" sz="1200">
                <a:latin typeface="Arial"/>
                <a:cs typeface="Arial"/>
              </a:rPr>
              <a:t>from </a:t>
            </a:r>
            <a:r>
              <a:rPr dirty="0" sz="1200" spc="-5">
                <a:latin typeface="Arial"/>
                <a:cs typeface="Arial"/>
              </a:rPr>
              <a:t>those tribes </a:t>
            </a:r>
            <a:r>
              <a:rPr dirty="0" sz="1200" spc="-10">
                <a:latin typeface="Arial"/>
                <a:cs typeface="Arial"/>
              </a:rPr>
              <a:t>who </a:t>
            </a:r>
            <a:r>
              <a:rPr dirty="0" sz="1200" spc="-5">
                <a:latin typeface="Arial"/>
                <a:cs typeface="Arial"/>
              </a:rPr>
              <a:t>accepted Islam based </a:t>
            </a:r>
            <a:r>
              <a:rPr dirty="0" sz="1200">
                <a:latin typeface="Arial"/>
                <a:cs typeface="Arial"/>
              </a:rPr>
              <a:t>for </a:t>
            </a:r>
            <a:r>
              <a:rPr dirty="0" sz="1200" spc="-5">
                <a:latin typeface="Arial"/>
                <a:cs typeface="Arial"/>
              </a:rPr>
              <a:t>personnel  </a:t>
            </a:r>
            <a:r>
              <a:rPr dirty="0" sz="1200">
                <a:latin typeface="Arial"/>
                <a:cs typeface="Arial"/>
              </a:rPr>
              <a:t>interest </a:t>
            </a:r>
            <a:r>
              <a:rPr dirty="0" sz="1200" spc="-5">
                <a:latin typeface="Arial"/>
                <a:cs typeface="Arial"/>
              </a:rPr>
              <a:t>and once a caliph passed away </a:t>
            </a:r>
            <a:r>
              <a:rPr dirty="0" sz="1200">
                <a:latin typeface="Arial"/>
                <a:cs typeface="Arial"/>
              </a:rPr>
              <a:t>they rose </a:t>
            </a:r>
            <a:r>
              <a:rPr dirty="0" sz="1200" spc="-5">
                <a:latin typeface="Arial"/>
                <a:cs typeface="Arial"/>
              </a:rPr>
              <a:t>against the</a:t>
            </a:r>
            <a:r>
              <a:rPr dirty="0" sz="1200" spc="-15">
                <a:latin typeface="Arial"/>
                <a:cs typeface="Arial"/>
              </a:rPr>
              <a:t> </a:t>
            </a:r>
            <a:r>
              <a:rPr dirty="0" sz="1200" spc="-5">
                <a:latin typeface="Arial"/>
                <a:cs typeface="Arial"/>
              </a:rPr>
              <a:t>Muslims.</a:t>
            </a:r>
            <a:endParaRPr sz="1200">
              <a:latin typeface="Arial"/>
              <a:cs typeface="Arial"/>
            </a:endParaRPr>
          </a:p>
          <a:p>
            <a:pPr lvl="1" marL="698500" marR="7620" indent="-228600">
              <a:lnSpc>
                <a:spcPts val="1380"/>
              </a:lnSpc>
              <a:buAutoNum type="arabicPeriod"/>
              <a:tabLst>
                <a:tab pos="699135" algn="l"/>
              </a:tabLst>
            </a:pPr>
            <a:r>
              <a:rPr dirty="0" sz="1200" spc="-5">
                <a:latin typeface="Arial"/>
                <a:cs typeface="Arial"/>
              </a:rPr>
              <a:t>There were </a:t>
            </a:r>
            <a:r>
              <a:rPr dirty="0" sz="1200">
                <a:latin typeface="Arial"/>
                <a:cs typeface="Arial"/>
              </a:rPr>
              <a:t>constant </a:t>
            </a:r>
            <a:r>
              <a:rPr dirty="0" sz="1200" spc="-5">
                <a:latin typeface="Arial"/>
                <a:cs typeface="Arial"/>
              </a:rPr>
              <a:t>revolts from the Abbasid leaders against any Umayyad  caliph.</a:t>
            </a:r>
            <a:endParaRPr sz="1200">
              <a:latin typeface="Arial"/>
              <a:cs typeface="Arial"/>
            </a:endParaRPr>
          </a:p>
          <a:p>
            <a:pPr lvl="1" marL="698500" marR="8890" indent="-228600">
              <a:lnSpc>
                <a:spcPts val="1380"/>
              </a:lnSpc>
              <a:buAutoNum type="arabicPeriod"/>
              <a:tabLst>
                <a:tab pos="699135" algn="l"/>
              </a:tabLst>
            </a:pPr>
            <a:r>
              <a:rPr dirty="0" sz="1200" spc="-5">
                <a:latin typeface="Arial"/>
                <a:cs typeface="Arial"/>
              </a:rPr>
              <a:t>There were revolts </a:t>
            </a:r>
            <a:r>
              <a:rPr dirty="0" sz="1200">
                <a:latin typeface="Arial"/>
                <a:cs typeface="Arial"/>
              </a:rPr>
              <a:t>from </a:t>
            </a:r>
            <a:r>
              <a:rPr dirty="0" sz="1200" spc="-5">
                <a:latin typeface="Arial"/>
                <a:cs typeface="Arial"/>
              </a:rPr>
              <a:t>the Shi‘a movement in search </a:t>
            </a:r>
            <a:r>
              <a:rPr dirty="0" sz="1200">
                <a:latin typeface="Arial"/>
                <a:cs typeface="Arial"/>
              </a:rPr>
              <a:t>for </a:t>
            </a:r>
            <a:r>
              <a:rPr dirty="0" sz="1200" spc="-5">
                <a:latin typeface="Arial"/>
                <a:cs typeface="Arial"/>
              </a:rPr>
              <a:t>a leader from the </a:t>
            </a:r>
            <a:r>
              <a:rPr dirty="0" sz="1200" spc="-10">
                <a:latin typeface="Arial"/>
                <a:cs typeface="Arial"/>
              </a:rPr>
              <a:t>Ahle  </a:t>
            </a:r>
            <a:r>
              <a:rPr dirty="0" sz="1200">
                <a:latin typeface="Arial"/>
                <a:cs typeface="Arial"/>
              </a:rPr>
              <a:t>Bait.</a:t>
            </a:r>
            <a:endParaRPr sz="1200">
              <a:latin typeface="Arial"/>
              <a:cs typeface="Arial"/>
            </a:endParaRPr>
          </a:p>
          <a:p>
            <a:pPr lvl="1" marL="698500" marR="5080" indent="-228600">
              <a:lnSpc>
                <a:spcPts val="1380"/>
              </a:lnSpc>
              <a:buAutoNum type="arabicPeriod"/>
              <a:tabLst>
                <a:tab pos="699135" algn="l"/>
              </a:tabLst>
            </a:pPr>
            <a:r>
              <a:rPr dirty="0" sz="1200" spc="-5">
                <a:latin typeface="Arial"/>
                <a:cs typeface="Arial"/>
              </a:rPr>
              <a:t>There </a:t>
            </a:r>
            <a:r>
              <a:rPr dirty="0" sz="1200" spc="-10">
                <a:latin typeface="Arial"/>
                <a:cs typeface="Arial"/>
              </a:rPr>
              <a:t>was </a:t>
            </a:r>
            <a:r>
              <a:rPr dirty="0" sz="1200" spc="-5">
                <a:latin typeface="Arial"/>
                <a:cs typeface="Arial"/>
              </a:rPr>
              <a:t>a decrease in the amount of </a:t>
            </a:r>
            <a:r>
              <a:rPr dirty="0" sz="1200" spc="-10">
                <a:latin typeface="Arial"/>
                <a:cs typeface="Arial"/>
              </a:rPr>
              <a:t>jizya </a:t>
            </a:r>
            <a:r>
              <a:rPr dirty="0" sz="1200" spc="-5">
                <a:latin typeface="Arial"/>
                <a:cs typeface="Arial"/>
              </a:rPr>
              <a:t>obtained from non-Muslims resulting  in a decrease in the</a:t>
            </a:r>
            <a:r>
              <a:rPr dirty="0" sz="1200" spc="5">
                <a:latin typeface="Arial"/>
                <a:cs typeface="Arial"/>
              </a:rPr>
              <a:t> </a:t>
            </a:r>
            <a:r>
              <a:rPr dirty="0" sz="1200" spc="-5">
                <a:latin typeface="Arial"/>
                <a:cs typeface="Arial"/>
              </a:rPr>
              <a:t>Bait-ul-Maal.</a:t>
            </a:r>
            <a:endParaRPr sz="1200">
              <a:latin typeface="Arial"/>
              <a:cs typeface="Arial"/>
            </a:endParaRPr>
          </a:p>
          <a:p>
            <a:pPr lvl="1" marL="698500" marR="7620" indent="-228600">
              <a:lnSpc>
                <a:spcPts val="1370"/>
              </a:lnSpc>
              <a:spcBef>
                <a:spcPts val="5"/>
              </a:spcBef>
              <a:buAutoNum type="arabicPeriod"/>
              <a:tabLst>
                <a:tab pos="699135" algn="l"/>
              </a:tabLst>
            </a:pPr>
            <a:r>
              <a:rPr dirty="0" sz="1200" spc="-5">
                <a:latin typeface="Arial"/>
                <a:cs typeface="Arial"/>
              </a:rPr>
              <a:t>The unpopular caliphs due </a:t>
            </a:r>
            <a:r>
              <a:rPr dirty="0" sz="1200">
                <a:latin typeface="Arial"/>
                <a:cs typeface="Arial"/>
              </a:rPr>
              <a:t>to </a:t>
            </a:r>
            <a:r>
              <a:rPr dirty="0" sz="1200" spc="-5">
                <a:latin typeface="Arial"/>
                <a:cs typeface="Arial"/>
              </a:rPr>
              <a:t>their personnel interest disgusted </a:t>
            </a:r>
            <a:r>
              <a:rPr dirty="0" sz="1200">
                <a:latin typeface="Arial"/>
                <a:cs typeface="Arial"/>
              </a:rPr>
              <a:t>the </a:t>
            </a:r>
            <a:r>
              <a:rPr dirty="0" sz="1200" spc="-5">
                <a:latin typeface="Arial"/>
                <a:cs typeface="Arial"/>
              </a:rPr>
              <a:t>common  people.</a:t>
            </a:r>
            <a:endParaRPr sz="1200">
              <a:latin typeface="Arial"/>
              <a:cs typeface="Arial"/>
            </a:endParaRPr>
          </a:p>
          <a:p>
            <a:pPr lvl="1" marL="698500" marR="5715" indent="-228600">
              <a:lnSpc>
                <a:spcPts val="1380"/>
              </a:lnSpc>
              <a:buAutoNum type="arabicPeriod"/>
              <a:tabLst>
                <a:tab pos="699135" algn="l"/>
              </a:tabLst>
            </a:pPr>
            <a:r>
              <a:rPr dirty="0" sz="1200" spc="-5">
                <a:latin typeface="Arial"/>
                <a:cs typeface="Arial"/>
              </a:rPr>
              <a:t>There were so many </a:t>
            </a:r>
            <a:r>
              <a:rPr dirty="0" sz="1200">
                <a:latin typeface="Arial"/>
                <a:cs typeface="Arial"/>
              </a:rPr>
              <a:t>other </a:t>
            </a:r>
            <a:r>
              <a:rPr dirty="0" sz="1200" spc="-5">
                <a:latin typeface="Arial"/>
                <a:cs typeface="Arial"/>
              </a:rPr>
              <a:t>small Karbala (murders) against </a:t>
            </a:r>
            <a:r>
              <a:rPr dirty="0" sz="1200" spc="-10">
                <a:latin typeface="Arial"/>
                <a:cs typeface="Arial"/>
              </a:rPr>
              <a:t>the </a:t>
            </a:r>
            <a:r>
              <a:rPr dirty="0" sz="1200" spc="-5">
                <a:latin typeface="Arial"/>
                <a:cs typeface="Arial"/>
              </a:rPr>
              <a:t>caliph of </a:t>
            </a:r>
            <a:r>
              <a:rPr dirty="0" sz="1200">
                <a:latin typeface="Arial"/>
                <a:cs typeface="Arial"/>
              </a:rPr>
              <a:t>the  </a:t>
            </a:r>
            <a:r>
              <a:rPr dirty="0" sz="1200" spc="-5">
                <a:latin typeface="Arial"/>
                <a:cs typeface="Arial"/>
              </a:rPr>
              <a:t>Umayyad.</a:t>
            </a:r>
            <a:endParaRPr sz="1200">
              <a:latin typeface="Arial"/>
              <a:cs typeface="Arial"/>
            </a:endParaRPr>
          </a:p>
          <a:p>
            <a:pPr lvl="1" marL="698500" marR="6985" indent="-228600">
              <a:lnSpc>
                <a:spcPts val="1380"/>
              </a:lnSpc>
              <a:spcBef>
                <a:spcPts val="5"/>
              </a:spcBef>
              <a:buAutoNum type="arabicPeriod"/>
              <a:tabLst>
                <a:tab pos="699135" algn="l"/>
                <a:tab pos="1228090" algn="l"/>
                <a:tab pos="1628775" algn="l"/>
                <a:tab pos="1844675" algn="l"/>
                <a:tab pos="2484120" algn="l"/>
                <a:tab pos="3126740" algn="l"/>
                <a:tab pos="3884295" algn="l"/>
                <a:tab pos="4481195" algn="l"/>
                <a:tab pos="4824730" algn="l"/>
                <a:tab pos="5354955" algn="l"/>
                <a:tab pos="5741670" algn="l"/>
                <a:tab pos="6000750" algn="l"/>
              </a:tabLst>
            </a:pPr>
            <a:r>
              <a:rPr dirty="0" sz="1200" spc="5">
                <a:latin typeface="Arial"/>
                <a:cs typeface="Arial"/>
              </a:rPr>
              <a:t>T</a:t>
            </a:r>
            <a:r>
              <a:rPr dirty="0" sz="1200" spc="-15">
                <a:latin typeface="Arial"/>
                <a:cs typeface="Arial"/>
              </a:rPr>
              <a:t>h</a:t>
            </a:r>
            <a:r>
              <a:rPr dirty="0" sz="1200" spc="-5">
                <a:latin typeface="Arial"/>
                <a:cs typeface="Arial"/>
              </a:rPr>
              <a:t>ere</a:t>
            </a:r>
            <a:r>
              <a:rPr dirty="0" sz="1200">
                <a:latin typeface="Arial"/>
                <a:cs typeface="Arial"/>
              </a:rPr>
              <a:t>	</a:t>
            </a:r>
            <a:r>
              <a:rPr dirty="0" sz="1200" spc="-20">
                <a:latin typeface="Arial"/>
                <a:cs typeface="Arial"/>
              </a:rPr>
              <a:t>w</a:t>
            </a:r>
            <a:r>
              <a:rPr dirty="0" sz="1200" spc="-5">
                <a:latin typeface="Arial"/>
                <a:cs typeface="Arial"/>
              </a:rPr>
              <a:t>a</a:t>
            </a:r>
            <a:r>
              <a:rPr dirty="0" sz="1200">
                <a:latin typeface="Arial"/>
                <a:cs typeface="Arial"/>
              </a:rPr>
              <a:t>s	</a:t>
            </a:r>
            <a:r>
              <a:rPr dirty="0" sz="1200" spc="-5">
                <a:latin typeface="Arial"/>
                <a:cs typeface="Arial"/>
              </a:rPr>
              <a:t>a</a:t>
            </a:r>
            <a:r>
              <a:rPr dirty="0" sz="1200">
                <a:latin typeface="Arial"/>
                <a:cs typeface="Arial"/>
              </a:rPr>
              <a:t>	</a:t>
            </a:r>
            <a:r>
              <a:rPr dirty="0" sz="1200" spc="-15">
                <a:latin typeface="Arial"/>
                <a:cs typeface="Arial"/>
              </a:rPr>
              <a:t>g</a:t>
            </a:r>
            <a:r>
              <a:rPr dirty="0" sz="1200" spc="-5">
                <a:latin typeface="Arial"/>
                <a:cs typeface="Arial"/>
              </a:rPr>
              <a:t>eneral</a:t>
            </a:r>
            <a:r>
              <a:rPr dirty="0" sz="1200">
                <a:latin typeface="Arial"/>
                <a:cs typeface="Arial"/>
              </a:rPr>
              <a:t>	</a:t>
            </a:r>
            <a:r>
              <a:rPr dirty="0" sz="1200" spc="15">
                <a:latin typeface="Arial"/>
                <a:cs typeface="Arial"/>
              </a:rPr>
              <a:t>p</a:t>
            </a:r>
            <a:r>
              <a:rPr dirty="0" sz="1200" spc="-5">
                <a:latin typeface="Arial"/>
                <a:cs typeface="Arial"/>
              </a:rPr>
              <a:t>o</a:t>
            </a:r>
            <a:r>
              <a:rPr dirty="0" sz="1200" spc="-5">
                <a:latin typeface="Arial"/>
                <a:cs typeface="Arial"/>
              </a:rPr>
              <a:t>l</a:t>
            </a:r>
            <a:r>
              <a:rPr dirty="0" sz="1200" spc="-10">
                <a:latin typeface="Arial"/>
                <a:cs typeface="Arial"/>
              </a:rPr>
              <a:t>i</a:t>
            </a:r>
            <a:r>
              <a:rPr dirty="0" sz="1200">
                <a:latin typeface="Arial"/>
                <a:cs typeface="Arial"/>
              </a:rPr>
              <a:t>tica</a:t>
            </a:r>
            <a:r>
              <a:rPr dirty="0" sz="1200" spc="-5">
                <a:latin typeface="Arial"/>
                <a:cs typeface="Arial"/>
              </a:rPr>
              <a:t>l</a:t>
            </a:r>
            <a:r>
              <a:rPr dirty="0" sz="1200">
                <a:latin typeface="Arial"/>
                <a:cs typeface="Arial"/>
              </a:rPr>
              <a:t>	inst</a:t>
            </a:r>
            <a:r>
              <a:rPr dirty="0" sz="1200" spc="-5">
                <a:latin typeface="Arial"/>
                <a:cs typeface="Arial"/>
              </a:rPr>
              <a:t>ab</a:t>
            </a:r>
            <a:r>
              <a:rPr dirty="0" sz="1200" spc="-5">
                <a:latin typeface="Arial"/>
                <a:cs typeface="Arial"/>
              </a:rPr>
              <a:t>i</a:t>
            </a:r>
            <a:r>
              <a:rPr dirty="0" sz="1200" spc="-10">
                <a:latin typeface="Arial"/>
                <a:cs typeface="Arial"/>
              </a:rPr>
              <a:t>l</a:t>
            </a:r>
            <a:r>
              <a:rPr dirty="0" sz="1200">
                <a:latin typeface="Arial"/>
                <a:cs typeface="Arial"/>
              </a:rPr>
              <a:t>ity	</a:t>
            </a:r>
            <a:r>
              <a:rPr dirty="0" sz="1200" spc="-5">
                <a:latin typeface="Arial"/>
                <a:cs typeface="Arial"/>
              </a:rPr>
              <a:t>a</a:t>
            </a:r>
            <a:r>
              <a:rPr dirty="0" sz="1200" spc="5">
                <a:latin typeface="Arial"/>
                <a:cs typeface="Arial"/>
              </a:rPr>
              <a:t>m</a:t>
            </a:r>
            <a:r>
              <a:rPr dirty="0" sz="1200" spc="-15">
                <a:latin typeface="Arial"/>
                <a:cs typeface="Arial"/>
              </a:rPr>
              <a:t>o</a:t>
            </a:r>
            <a:r>
              <a:rPr dirty="0" sz="1200" spc="-5">
                <a:latin typeface="Arial"/>
                <a:cs typeface="Arial"/>
              </a:rPr>
              <a:t>ng</a:t>
            </a:r>
            <a:r>
              <a:rPr dirty="0" sz="1200">
                <a:latin typeface="Arial"/>
                <a:cs typeface="Arial"/>
              </a:rPr>
              <a:t>	t</a:t>
            </a:r>
            <a:r>
              <a:rPr dirty="0" sz="1200" spc="5">
                <a:latin typeface="Arial"/>
                <a:cs typeface="Arial"/>
              </a:rPr>
              <a:t>h</a:t>
            </a:r>
            <a:r>
              <a:rPr dirty="0" sz="1200" spc="-5">
                <a:latin typeface="Arial"/>
                <a:cs typeface="Arial"/>
              </a:rPr>
              <a:t>e</a:t>
            </a:r>
            <a:r>
              <a:rPr dirty="0" sz="1200">
                <a:latin typeface="Arial"/>
                <a:cs typeface="Arial"/>
              </a:rPr>
              <a:t>	</a:t>
            </a:r>
            <a:r>
              <a:rPr dirty="0" sz="1200" spc="-5">
                <a:latin typeface="Arial"/>
                <a:cs typeface="Arial"/>
              </a:rPr>
              <a:t>ca</a:t>
            </a:r>
            <a:r>
              <a:rPr dirty="0" sz="1200" spc="-5">
                <a:latin typeface="Arial"/>
                <a:cs typeface="Arial"/>
              </a:rPr>
              <a:t>l</a:t>
            </a:r>
            <a:r>
              <a:rPr dirty="0" sz="1200" spc="-10">
                <a:latin typeface="Arial"/>
                <a:cs typeface="Arial"/>
              </a:rPr>
              <a:t>i</a:t>
            </a:r>
            <a:r>
              <a:rPr dirty="0" sz="1200" spc="-5">
                <a:latin typeface="Arial"/>
                <a:cs typeface="Arial"/>
              </a:rPr>
              <a:t>ph</a:t>
            </a:r>
            <a:r>
              <a:rPr dirty="0" sz="1200">
                <a:latin typeface="Arial"/>
                <a:cs typeface="Arial"/>
              </a:rPr>
              <a:t>	</a:t>
            </a:r>
            <a:r>
              <a:rPr dirty="0" sz="1200" spc="-5">
                <a:latin typeface="Arial"/>
                <a:cs typeface="Arial"/>
              </a:rPr>
              <a:t>due</a:t>
            </a:r>
            <a:r>
              <a:rPr dirty="0" sz="1200">
                <a:latin typeface="Arial"/>
                <a:cs typeface="Arial"/>
              </a:rPr>
              <a:t>	to	t</a:t>
            </a:r>
            <a:r>
              <a:rPr dirty="0" sz="1200" spc="-5">
                <a:latin typeface="Arial"/>
                <a:cs typeface="Arial"/>
              </a:rPr>
              <a:t>h</a:t>
            </a:r>
            <a:r>
              <a:rPr dirty="0" sz="1200" spc="-5">
                <a:latin typeface="Arial"/>
                <a:cs typeface="Arial"/>
              </a:rPr>
              <a:t>eir  </a:t>
            </a:r>
            <a:r>
              <a:rPr dirty="0" sz="1200" spc="-5">
                <a:latin typeface="Arial"/>
                <a:cs typeface="Arial"/>
              </a:rPr>
              <a:t>inexperienced</a:t>
            </a:r>
            <a:r>
              <a:rPr dirty="0" sz="1200" spc="-15">
                <a:latin typeface="Arial"/>
                <a:cs typeface="Arial"/>
              </a:rPr>
              <a:t> </a:t>
            </a:r>
            <a:r>
              <a:rPr dirty="0" sz="1200" spc="-5">
                <a:latin typeface="Arial"/>
                <a:cs typeface="Arial"/>
              </a:rPr>
              <a:t>governance.</a:t>
            </a:r>
            <a:endParaRPr sz="1200">
              <a:latin typeface="Arial"/>
              <a:cs typeface="Arial"/>
            </a:endParaRPr>
          </a:p>
          <a:p>
            <a:pPr lvl="1" marL="698500" indent="-229235">
              <a:lnSpc>
                <a:spcPts val="1315"/>
              </a:lnSpc>
              <a:buAutoNum type="arabicPeriod"/>
              <a:tabLst>
                <a:tab pos="699135" algn="l"/>
              </a:tabLst>
            </a:pPr>
            <a:r>
              <a:rPr dirty="0" sz="1200" spc="-5">
                <a:latin typeface="Arial"/>
                <a:cs typeface="Arial"/>
              </a:rPr>
              <a:t>There </a:t>
            </a:r>
            <a:r>
              <a:rPr dirty="0" sz="1200" spc="-10">
                <a:latin typeface="Arial"/>
                <a:cs typeface="Arial"/>
              </a:rPr>
              <a:t>was </a:t>
            </a:r>
            <a:r>
              <a:rPr dirty="0" sz="1200" spc="-5">
                <a:latin typeface="Arial"/>
                <a:cs typeface="Arial"/>
              </a:rPr>
              <a:t>a lack of expertise and counselling from </a:t>
            </a:r>
            <a:r>
              <a:rPr dirty="0" sz="1200" spc="-10">
                <a:latin typeface="Arial"/>
                <a:cs typeface="Arial"/>
              </a:rPr>
              <a:t>Umayyad</a:t>
            </a:r>
            <a:r>
              <a:rPr dirty="0" sz="1200" spc="110">
                <a:latin typeface="Arial"/>
                <a:cs typeface="Arial"/>
              </a:rPr>
              <a:t> </a:t>
            </a:r>
            <a:r>
              <a:rPr dirty="0" sz="1200" spc="-5">
                <a:latin typeface="Arial"/>
                <a:cs typeface="Arial"/>
              </a:rPr>
              <a:t>caliphs.</a:t>
            </a:r>
            <a:endParaRPr sz="1200">
              <a:latin typeface="Arial"/>
              <a:cs typeface="Arial"/>
            </a:endParaRPr>
          </a:p>
          <a:p>
            <a:pPr lvl="1" marL="698500" marR="7620" indent="-228600">
              <a:lnSpc>
                <a:spcPts val="1380"/>
              </a:lnSpc>
              <a:spcBef>
                <a:spcPts val="65"/>
              </a:spcBef>
              <a:buAutoNum type="arabicPeriod"/>
              <a:tabLst>
                <a:tab pos="699135" algn="l"/>
              </a:tabLst>
            </a:pPr>
            <a:r>
              <a:rPr dirty="0" sz="1200" spc="-5">
                <a:latin typeface="Arial"/>
                <a:cs typeface="Arial"/>
              </a:rPr>
              <a:t>There were well established conspiracies led by </a:t>
            </a:r>
            <a:r>
              <a:rPr dirty="0" sz="1200">
                <a:latin typeface="Arial"/>
                <a:cs typeface="Arial"/>
              </a:rPr>
              <a:t>the </a:t>
            </a:r>
            <a:r>
              <a:rPr dirty="0" sz="1200" spc="-5">
                <a:latin typeface="Arial"/>
                <a:cs typeface="Arial"/>
              </a:rPr>
              <a:t>Abbasid </a:t>
            </a:r>
            <a:r>
              <a:rPr dirty="0" sz="1200">
                <a:latin typeface="Arial"/>
                <a:cs typeface="Arial"/>
              </a:rPr>
              <a:t>to </a:t>
            </a:r>
            <a:r>
              <a:rPr dirty="0" sz="1200" spc="-5">
                <a:latin typeface="Arial"/>
                <a:cs typeface="Arial"/>
              </a:rPr>
              <a:t>bribe and buy </a:t>
            </a:r>
            <a:r>
              <a:rPr dirty="0" sz="1200">
                <a:latin typeface="Arial"/>
                <a:cs typeface="Arial"/>
              </a:rPr>
              <a:t>the  </a:t>
            </a:r>
            <a:r>
              <a:rPr dirty="0" sz="1200" spc="-5">
                <a:latin typeface="Arial"/>
                <a:cs typeface="Arial"/>
              </a:rPr>
              <a:t>Umayyad</a:t>
            </a:r>
            <a:r>
              <a:rPr dirty="0" sz="1200" spc="5">
                <a:latin typeface="Arial"/>
                <a:cs typeface="Arial"/>
              </a:rPr>
              <a:t> </a:t>
            </a:r>
            <a:r>
              <a:rPr dirty="0" sz="1200" spc="-5">
                <a:latin typeface="Arial"/>
                <a:cs typeface="Arial"/>
              </a:rPr>
              <a:t>governors.</a:t>
            </a:r>
            <a:endParaRPr sz="1200">
              <a:latin typeface="Arial"/>
              <a:cs typeface="Arial"/>
            </a:endParaRPr>
          </a:p>
          <a:p>
            <a:pPr lvl="1" marL="698500" marR="6350" indent="-228600">
              <a:lnSpc>
                <a:spcPts val="1380"/>
              </a:lnSpc>
              <a:buAutoNum type="arabicPeriod"/>
              <a:tabLst>
                <a:tab pos="699135" algn="l"/>
              </a:tabLst>
            </a:pPr>
            <a:r>
              <a:rPr dirty="0" sz="1200" spc="-5">
                <a:latin typeface="Arial"/>
                <a:cs typeface="Arial"/>
              </a:rPr>
              <a:t>There </a:t>
            </a:r>
            <a:r>
              <a:rPr dirty="0" sz="1200" spc="-10">
                <a:latin typeface="Arial"/>
                <a:cs typeface="Arial"/>
              </a:rPr>
              <a:t>was </a:t>
            </a:r>
            <a:r>
              <a:rPr dirty="0" sz="1200" spc="-5">
                <a:latin typeface="Arial"/>
                <a:cs typeface="Arial"/>
              </a:rPr>
              <a:t>a series of </a:t>
            </a:r>
            <a:r>
              <a:rPr dirty="0" sz="1200">
                <a:latin typeface="Arial"/>
                <a:cs typeface="Arial"/>
              </a:rPr>
              <a:t>attack </a:t>
            </a:r>
            <a:r>
              <a:rPr dirty="0" sz="1200" spc="-10">
                <a:latin typeface="Arial"/>
                <a:cs typeface="Arial"/>
              </a:rPr>
              <a:t>on </a:t>
            </a:r>
            <a:r>
              <a:rPr dirty="0" sz="1200" spc="-5">
                <a:latin typeface="Arial"/>
                <a:cs typeface="Arial"/>
              </a:rPr>
              <a:t>the main points/strength of the </a:t>
            </a:r>
            <a:r>
              <a:rPr dirty="0" sz="1200">
                <a:latin typeface="Arial"/>
                <a:cs typeface="Arial"/>
              </a:rPr>
              <a:t>caliphate </a:t>
            </a:r>
            <a:r>
              <a:rPr dirty="0" sz="1200" spc="-5">
                <a:latin typeface="Arial"/>
                <a:cs typeface="Arial"/>
              </a:rPr>
              <a:t>or related  </a:t>
            </a:r>
            <a:r>
              <a:rPr dirty="0" sz="1200">
                <a:latin typeface="Arial"/>
                <a:cs typeface="Arial"/>
              </a:rPr>
              <a:t>to </a:t>
            </a:r>
            <a:r>
              <a:rPr dirty="0" sz="1200" spc="-5">
                <a:latin typeface="Arial"/>
                <a:cs typeface="Arial"/>
              </a:rPr>
              <a:t>their family</a:t>
            </a:r>
            <a:r>
              <a:rPr dirty="0" sz="1200" spc="-30">
                <a:latin typeface="Arial"/>
                <a:cs typeface="Arial"/>
              </a:rPr>
              <a:t> </a:t>
            </a:r>
            <a:r>
              <a:rPr dirty="0" sz="1200" spc="-5">
                <a:latin typeface="Arial"/>
                <a:cs typeface="Arial"/>
              </a:rPr>
              <a:t>members.</a:t>
            </a:r>
            <a:endParaRPr sz="1200">
              <a:latin typeface="Arial"/>
              <a:cs typeface="Arial"/>
            </a:endParaRPr>
          </a:p>
          <a:p>
            <a:pPr lvl="1" marL="698500" marR="6985" indent="-228600">
              <a:lnSpc>
                <a:spcPts val="1380"/>
              </a:lnSpc>
              <a:buAutoNum type="arabicPeriod"/>
              <a:tabLst>
                <a:tab pos="699135" algn="l"/>
              </a:tabLst>
            </a:pPr>
            <a:r>
              <a:rPr dirty="0" sz="1200" spc="-5">
                <a:latin typeface="Arial"/>
                <a:cs typeface="Arial"/>
              </a:rPr>
              <a:t>There were so </a:t>
            </a:r>
            <a:r>
              <a:rPr dirty="0" sz="1200">
                <a:latin typeface="Arial"/>
                <a:cs typeface="Arial"/>
              </a:rPr>
              <a:t>many unreligious </a:t>
            </a:r>
            <a:r>
              <a:rPr dirty="0" sz="1200" spc="-5">
                <a:latin typeface="Arial"/>
                <a:cs typeface="Arial"/>
              </a:rPr>
              <a:t>and egocentric deputies, governors and caliphs of  </a:t>
            </a:r>
            <a:r>
              <a:rPr dirty="0" sz="1200">
                <a:latin typeface="Arial"/>
                <a:cs typeface="Arial"/>
              </a:rPr>
              <a:t>the </a:t>
            </a:r>
            <a:r>
              <a:rPr dirty="0" sz="1200" spc="-10">
                <a:latin typeface="Arial"/>
                <a:cs typeface="Arial"/>
              </a:rPr>
              <a:t>Umayyad</a:t>
            </a:r>
            <a:r>
              <a:rPr dirty="0" sz="1200" spc="-5">
                <a:latin typeface="Arial"/>
                <a:cs typeface="Arial"/>
              </a:rPr>
              <a:t> </a:t>
            </a:r>
            <a:r>
              <a:rPr dirty="0" sz="1200">
                <a:latin typeface="Arial"/>
                <a:cs typeface="Arial"/>
              </a:rPr>
              <a:t>period.</a:t>
            </a:r>
            <a:endParaRPr sz="1200">
              <a:latin typeface="Arial"/>
              <a:cs typeface="Arial"/>
            </a:endParaRPr>
          </a:p>
          <a:p>
            <a:pPr lvl="1" marL="698500" indent="-229235">
              <a:lnSpc>
                <a:spcPts val="1315"/>
              </a:lnSpc>
              <a:buAutoNum type="arabicPeriod"/>
              <a:tabLst>
                <a:tab pos="699135" algn="l"/>
              </a:tabLst>
            </a:pPr>
            <a:r>
              <a:rPr dirty="0" sz="1200" spc="-5">
                <a:latin typeface="Arial"/>
                <a:cs typeface="Arial"/>
              </a:rPr>
              <a:t>There </a:t>
            </a:r>
            <a:r>
              <a:rPr dirty="0" sz="1200" spc="-10">
                <a:latin typeface="Arial"/>
                <a:cs typeface="Arial"/>
              </a:rPr>
              <a:t>was </a:t>
            </a:r>
            <a:r>
              <a:rPr dirty="0" sz="1200">
                <a:latin typeface="Arial"/>
                <a:cs typeface="Arial"/>
              </a:rPr>
              <a:t>no </a:t>
            </a:r>
            <a:r>
              <a:rPr dirty="0" sz="1200" spc="-5">
                <a:latin typeface="Arial"/>
                <a:cs typeface="Arial"/>
              </a:rPr>
              <a:t>regular check on the work </a:t>
            </a:r>
            <a:r>
              <a:rPr dirty="0" sz="1200">
                <a:latin typeface="Arial"/>
                <a:cs typeface="Arial"/>
              </a:rPr>
              <a:t>and </a:t>
            </a:r>
            <a:r>
              <a:rPr dirty="0" sz="1200" spc="-5">
                <a:latin typeface="Arial"/>
                <a:cs typeface="Arial"/>
              </a:rPr>
              <a:t>expenses of the</a:t>
            </a:r>
            <a:r>
              <a:rPr dirty="0" sz="1200" spc="85">
                <a:latin typeface="Arial"/>
                <a:cs typeface="Arial"/>
              </a:rPr>
              <a:t> </a:t>
            </a:r>
            <a:r>
              <a:rPr dirty="0" sz="1200" spc="-5">
                <a:latin typeface="Arial"/>
                <a:cs typeface="Arial"/>
              </a:rPr>
              <a:t>governors.</a:t>
            </a:r>
            <a:endParaRPr sz="1200">
              <a:latin typeface="Arial"/>
              <a:cs typeface="Arial"/>
            </a:endParaRPr>
          </a:p>
          <a:p>
            <a:pPr lvl="1" marL="698500" marR="8255" indent="-228600">
              <a:lnSpc>
                <a:spcPts val="1380"/>
              </a:lnSpc>
              <a:spcBef>
                <a:spcPts val="65"/>
              </a:spcBef>
              <a:buAutoNum type="arabicPeriod"/>
              <a:tabLst>
                <a:tab pos="699135" algn="l"/>
              </a:tabLst>
            </a:pPr>
            <a:r>
              <a:rPr dirty="0" sz="1200" spc="-5">
                <a:latin typeface="Arial"/>
                <a:cs typeface="Arial"/>
              </a:rPr>
              <a:t>There were so </a:t>
            </a:r>
            <a:r>
              <a:rPr dirty="0" sz="1200">
                <a:latin typeface="Arial"/>
                <a:cs typeface="Arial"/>
              </a:rPr>
              <a:t>many </a:t>
            </a:r>
            <a:r>
              <a:rPr dirty="0" sz="1200" spc="-5">
                <a:latin typeface="Arial"/>
                <a:cs typeface="Arial"/>
              </a:rPr>
              <a:t>critics concerning </a:t>
            </a:r>
            <a:r>
              <a:rPr dirty="0" sz="1200">
                <a:latin typeface="Arial"/>
                <a:cs typeface="Arial"/>
              </a:rPr>
              <a:t>the </a:t>
            </a:r>
            <a:r>
              <a:rPr dirty="0" sz="1200" spc="-5">
                <a:latin typeface="Arial"/>
                <a:cs typeface="Arial"/>
              </a:rPr>
              <a:t>morality </a:t>
            </a:r>
            <a:r>
              <a:rPr dirty="0" sz="1200">
                <a:latin typeface="Arial"/>
                <a:cs typeface="Arial"/>
              </a:rPr>
              <a:t>of </a:t>
            </a:r>
            <a:r>
              <a:rPr dirty="0" sz="1200" spc="-5">
                <a:latin typeface="Arial"/>
                <a:cs typeface="Arial"/>
              </a:rPr>
              <a:t>both the Umayyad caliphs  and </a:t>
            </a:r>
            <a:r>
              <a:rPr dirty="0" sz="1200">
                <a:latin typeface="Arial"/>
                <a:cs typeface="Arial"/>
              </a:rPr>
              <a:t>the </a:t>
            </a:r>
            <a:r>
              <a:rPr dirty="0" sz="1200" spc="-5">
                <a:latin typeface="Arial"/>
                <a:cs typeface="Arial"/>
              </a:rPr>
              <a:t>state of the Islamic society.</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104</a:t>
            </a:r>
            <a:endParaRPr sz="1200">
              <a:latin typeface="Times New Roman"/>
              <a:cs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662940" y="1002791"/>
            <a:ext cx="6420485"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Abbasid Dynasties</a:t>
            </a:r>
            <a:endParaRPr sz="12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8" name="object 8"/>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105</a:t>
            </a:r>
            <a:endParaRPr sz="1200">
              <a:latin typeface="Times New Roman"/>
              <a:cs typeface="Times New Roman"/>
            </a:endParaRPr>
          </a:p>
        </p:txBody>
      </p:sp>
      <p:sp>
        <p:nvSpPr>
          <p:cNvPr id="6" name="object 6"/>
          <p:cNvSpPr txBox="1"/>
          <p:nvPr/>
        </p:nvSpPr>
        <p:spPr>
          <a:xfrm>
            <a:off x="718819" y="1337817"/>
            <a:ext cx="6312535" cy="8446770"/>
          </a:xfrm>
          <a:prstGeom prst="rect">
            <a:avLst/>
          </a:prstGeom>
        </p:spPr>
        <p:txBody>
          <a:bodyPr wrap="square" lIns="0" tIns="24765" rIns="0" bIns="0" rtlCol="0" vert="horz">
            <a:spAutoFit/>
          </a:bodyPr>
          <a:lstStyle/>
          <a:p>
            <a:pPr algn="just" marL="12700" marR="5080">
              <a:lnSpc>
                <a:spcPts val="1380"/>
              </a:lnSpc>
              <a:spcBef>
                <a:spcPts val="195"/>
              </a:spcBef>
            </a:pPr>
            <a:r>
              <a:rPr dirty="0" sz="1200" spc="-5">
                <a:latin typeface="Arial"/>
                <a:cs typeface="Arial"/>
              </a:rPr>
              <a:t>The Abbasid Dynasties came </a:t>
            </a:r>
            <a:r>
              <a:rPr dirty="0" sz="1200">
                <a:latin typeface="Arial"/>
                <a:cs typeface="Arial"/>
              </a:rPr>
              <a:t>just </a:t>
            </a:r>
            <a:r>
              <a:rPr dirty="0" sz="1200" spc="-5">
                <a:latin typeface="Arial"/>
                <a:cs typeface="Arial"/>
              </a:rPr>
              <a:t>after the </a:t>
            </a:r>
            <a:r>
              <a:rPr dirty="0" sz="1200" spc="-10">
                <a:latin typeface="Arial"/>
                <a:cs typeface="Arial"/>
              </a:rPr>
              <a:t>Umayyad </a:t>
            </a:r>
            <a:r>
              <a:rPr dirty="0" sz="1200" spc="-5">
                <a:latin typeface="Arial"/>
                <a:cs typeface="Arial"/>
              </a:rPr>
              <a:t>Dynasties and lasted from 750 </a:t>
            </a:r>
            <a:r>
              <a:rPr dirty="0" sz="1200">
                <a:latin typeface="Arial"/>
                <a:cs typeface="Arial"/>
              </a:rPr>
              <a:t>to </a:t>
            </a:r>
            <a:r>
              <a:rPr dirty="0" sz="1200" spc="-5">
                <a:latin typeface="Arial"/>
                <a:cs typeface="Arial"/>
              </a:rPr>
              <a:t>1258.  There were achievements and twists during that period. </a:t>
            </a:r>
            <a:r>
              <a:rPr dirty="0" sz="1200">
                <a:latin typeface="Arial"/>
                <a:cs typeface="Arial"/>
              </a:rPr>
              <a:t>The most </a:t>
            </a:r>
            <a:r>
              <a:rPr dirty="0" sz="1200" spc="-5">
                <a:latin typeface="Arial"/>
                <a:cs typeface="Arial"/>
              </a:rPr>
              <a:t>Important </a:t>
            </a:r>
            <a:r>
              <a:rPr dirty="0" sz="1200">
                <a:latin typeface="Arial"/>
                <a:cs typeface="Arial"/>
              </a:rPr>
              <a:t>Caliphs </a:t>
            </a:r>
            <a:r>
              <a:rPr dirty="0" sz="1200" spc="-5">
                <a:latin typeface="Arial"/>
                <a:cs typeface="Arial"/>
              </a:rPr>
              <a:t>were  </a:t>
            </a:r>
            <a:r>
              <a:rPr dirty="0" sz="1200">
                <a:latin typeface="Arial"/>
                <a:cs typeface="Arial"/>
              </a:rPr>
              <a:t>Abu </a:t>
            </a:r>
            <a:r>
              <a:rPr dirty="0" sz="1200" spc="-50">
                <a:latin typeface="Arial"/>
                <a:cs typeface="Arial"/>
              </a:rPr>
              <a:t>al-‗Abbas </a:t>
            </a:r>
            <a:r>
              <a:rPr dirty="0" sz="1200" spc="-5">
                <a:latin typeface="Arial"/>
                <a:cs typeface="Arial"/>
              </a:rPr>
              <a:t>al-Saffah, Abu </a:t>
            </a:r>
            <a:r>
              <a:rPr dirty="0" sz="1200" spc="-70">
                <a:latin typeface="Arial"/>
                <a:cs typeface="Arial"/>
              </a:rPr>
              <a:t>Ja‗far </a:t>
            </a:r>
            <a:r>
              <a:rPr dirty="0" sz="1200">
                <a:latin typeface="Arial"/>
                <a:cs typeface="Arial"/>
              </a:rPr>
              <a:t>al </a:t>
            </a:r>
            <a:r>
              <a:rPr dirty="0" sz="1200" spc="-5">
                <a:latin typeface="Arial"/>
                <a:cs typeface="Arial"/>
              </a:rPr>
              <a:t>Mansur, al-Mahdi, Harun al-Rashid, al-Ma‘mun and al-  Mutawakkil.</a:t>
            </a:r>
            <a:endParaRPr sz="1200">
              <a:latin typeface="Arial"/>
              <a:cs typeface="Arial"/>
            </a:endParaRPr>
          </a:p>
          <a:p>
            <a:pPr>
              <a:lnSpc>
                <a:spcPct val="100000"/>
              </a:lnSpc>
              <a:spcBef>
                <a:spcPts val="20"/>
              </a:spcBef>
            </a:pPr>
            <a:endParaRPr sz="1100">
              <a:latin typeface="Arial"/>
              <a:cs typeface="Arial"/>
            </a:endParaRPr>
          </a:p>
          <a:p>
            <a:pPr marL="469900" indent="-229235">
              <a:lnSpc>
                <a:spcPct val="100000"/>
              </a:lnSpc>
              <a:buFont typeface="Wingdings"/>
              <a:buChar char=""/>
              <a:tabLst>
                <a:tab pos="470534" algn="l"/>
              </a:tabLst>
            </a:pPr>
            <a:r>
              <a:rPr dirty="0" u="heavy" sz="1200" spc="-5" b="1" i="1">
                <a:uFill>
                  <a:solidFill>
                    <a:srgbClr val="000000"/>
                  </a:solidFill>
                </a:uFill>
                <a:latin typeface="Arial"/>
                <a:cs typeface="Arial"/>
              </a:rPr>
              <a:t>Abu </a:t>
            </a:r>
            <a:r>
              <a:rPr dirty="0" u="heavy" sz="1200" spc="-35" b="1" i="1">
                <a:uFill>
                  <a:solidFill>
                    <a:srgbClr val="000000"/>
                  </a:solidFill>
                </a:uFill>
                <a:latin typeface="Arial"/>
                <a:cs typeface="Arial"/>
              </a:rPr>
              <a:t>al-„Abbas </a:t>
            </a:r>
            <a:r>
              <a:rPr dirty="0" u="heavy" sz="1200" spc="-5" b="1" i="1">
                <a:uFill>
                  <a:solidFill>
                    <a:srgbClr val="000000"/>
                  </a:solidFill>
                </a:uFill>
                <a:latin typeface="Arial"/>
                <a:cs typeface="Arial"/>
              </a:rPr>
              <a:t>al-Saffah </a:t>
            </a:r>
            <a:r>
              <a:rPr dirty="0" u="heavy" sz="1200" b="1" i="1">
                <a:uFill>
                  <a:solidFill>
                    <a:srgbClr val="000000"/>
                  </a:solidFill>
                </a:uFill>
                <a:latin typeface="Arial"/>
                <a:cs typeface="Arial"/>
              </a:rPr>
              <a:t>(750 –</a:t>
            </a:r>
            <a:r>
              <a:rPr dirty="0" u="heavy" sz="1200" spc="35" b="1" i="1">
                <a:uFill>
                  <a:solidFill>
                    <a:srgbClr val="000000"/>
                  </a:solidFill>
                </a:uFill>
                <a:latin typeface="Arial"/>
                <a:cs typeface="Arial"/>
              </a:rPr>
              <a:t> </a:t>
            </a:r>
            <a:r>
              <a:rPr dirty="0" u="heavy" sz="1200" spc="-5" b="1" i="1">
                <a:uFill>
                  <a:solidFill>
                    <a:srgbClr val="000000"/>
                  </a:solidFill>
                </a:uFill>
                <a:latin typeface="Arial"/>
                <a:cs typeface="Arial"/>
              </a:rPr>
              <a:t>754)</a:t>
            </a:r>
            <a:endParaRPr sz="1200">
              <a:latin typeface="Arial"/>
              <a:cs typeface="Arial"/>
            </a:endParaRPr>
          </a:p>
          <a:p>
            <a:pPr>
              <a:lnSpc>
                <a:spcPct val="100000"/>
              </a:lnSpc>
              <a:spcBef>
                <a:spcPts val="55"/>
              </a:spcBef>
              <a:buFont typeface="Wingdings"/>
              <a:buChar char=""/>
            </a:pPr>
            <a:endParaRPr sz="1150">
              <a:latin typeface="Arial"/>
              <a:cs typeface="Arial"/>
            </a:endParaRPr>
          </a:p>
          <a:p>
            <a:pPr algn="just" marL="12700" marR="6350">
              <a:lnSpc>
                <a:spcPct val="95900"/>
              </a:lnSpc>
            </a:pPr>
            <a:r>
              <a:rPr dirty="0" sz="1200" spc="-5">
                <a:latin typeface="Arial"/>
                <a:cs typeface="Arial"/>
              </a:rPr>
              <a:t>He magnified the virtues and claims of the descendants of the Prophet and Hazrat Abbas  (ra). He denounced the usurpation </a:t>
            </a:r>
            <a:r>
              <a:rPr dirty="0" sz="1200">
                <a:latin typeface="Arial"/>
                <a:cs typeface="Arial"/>
              </a:rPr>
              <a:t>and </a:t>
            </a:r>
            <a:r>
              <a:rPr dirty="0" sz="1200" spc="-5">
                <a:latin typeface="Arial"/>
                <a:cs typeface="Arial"/>
              </a:rPr>
              <a:t>crimes </a:t>
            </a:r>
            <a:r>
              <a:rPr dirty="0" sz="1200">
                <a:latin typeface="Arial"/>
                <a:cs typeface="Arial"/>
              </a:rPr>
              <a:t>of </a:t>
            </a:r>
            <a:r>
              <a:rPr dirty="0" sz="1200" spc="-5">
                <a:latin typeface="Arial"/>
                <a:cs typeface="Arial"/>
              </a:rPr>
              <a:t>the Umayyad </a:t>
            </a:r>
            <a:r>
              <a:rPr dirty="0" sz="1200">
                <a:latin typeface="Arial"/>
                <a:cs typeface="Arial"/>
              </a:rPr>
              <a:t>and </a:t>
            </a:r>
            <a:r>
              <a:rPr dirty="0" sz="1200" spc="-5">
                <a:latin typeface="Arial"/>
                <a:cs typeface="Arial"/>
              </a:rPr>
              <a:t>their Syrian followers </a:t>
            </a:r>
            <a:r>
              <a:rPr dirty="0" sz="1200">
                <a:latin typeface="Arial"/>
                <a:cs typeface="Arial"/>
              </a:rPr>
              <a:t>and  </a:t>
            </a:r>
            <a:r>
              <a:rPr dirty="0" sz="1200" spc="-5">
                <a:latin typeface="Arial"/>
                <a:cs typeface="Arial"/>
              </a:rPr>
              <a:t>praised the Kufans </a:t>
            </a:r>
            <a:r>
              <a:rPr dirty="0" sz="1200">
                <a:latin typeface="Arial"/>
                <a:cs typeface="Arial"/>
              </a:rPr>
              <a:t>for their fidelity to </a:t>
            </a:r>
            <a:r>
              <a:rPr dirty="0" sz="1200" spc="-5">
                <a:latin typeface="Arial"/>
                <a:cs typeface="Arial"/>
              </a:rPr>
              <a:t>his </a:t>
            </a:r>
            <a:r>
              <a:rPr dirty="0" sz="1200">
                <a:latin typeface="Arial"/>
                <a:cs typeface="Arial"/>
              </a:rPr>
              <a:t>family. </a:t>
            </a:r>
            <a:r>
              <a:rPr dirty="0" sz="1200" spc="-5">
                <a:latin typeface="Arial"/>
                <a:cs typeface="Arial"/>
              </a:rPr>
              <a:t>He declared openly: </a:t>
            </a:r>
            <a:r>
              <a:rPr dirty="0" sz="1200">
                <a:latin typeface="Arial"/>
                <a:cs typeface="Arial"/>
              </a:rPr>
              <a:t>"I </a:t>
            </a:r>
            <a:r>
              <a:rPr dirty="0" sz="1200" spc="-5">
                <a:latin typeface="Arial"/>
                <a:cs typeface="Arial"/>
              </a:rPr>
              <a:t>am </a:t>
            </a:r>
            <a:r>
              <a:rPr dirty="0" sz="1200">
                <a:latin typeface="Arial"/>
                <a:cs typeface="Arial"/>
              </a:rPr>
              <a:t>the </a:t>
            </a:r>
            <a:r>
              <a:rPr dirty="0" sz="1200" spc="-5">
                <a:latin typeface="Arial"/>
                <a:cs typeface="Arial"/>
              </a:rPr>
              <a:t>Great  Revenger, and </a:t>
            </a:r>
            <a:r>
              <a:rPr dirty="0" sz="1200">
                <a:latin typeface="Arial"/>
                <a:cs typeface="Arial"/>
              </a:rPr>
              <a:t>my </a:t>
            </a:r>
            <a:r>
              <a:rPr dirty="0" sz="1200" spc="-5">
                <a:latin typeface="Arial"/>
                <a:cs typeface="Arial"/>
              </a:rPr>
              <a:t>name is </a:t>
            </a:r>
            <a:r>
              <a:rPr dirty="0" sz="1200" spc="-5" i="1">
                <a:latin typeface="Arial"/>
                <a:cs typeface="Arial"/>
              </a:rPr>
              <a:t>As-Saffah</a:t>
            </a:r>
            <a:r>
              <a:rPr dirty="0" sz="1200" spc="-5">
                <a:latin typeface="Arial"/>
                <a:cs typeface="Arial"/>
              </a:rPr>
              <a:t>, </a:t>
            </a:r>
            <a:r>
              <a:rPr dirty="0" sz="1200">
                <a:latin typeface="Arial"/>
                <a:cs typeface="Arial"/>
              </a:rPr>
              <a:t>the </a:t>
            </a:r>
            <a:r>
              <a:rPr dirty="0" sz="1200" spc="-5">
                <a:latin typeface="Arial"/>
                <a:cs typeface="Arial"/>
              </a:rPr>
              <a:t>Shedder of Blood." His </a:t>
            </a:r>
            <a:r>
              <a:rPr dirty="0" sz="1200">
                <a:latin typeface="Arial"/>
                <a:cs typeface="Arial"/>
              </a:rPr>
              <a:t>first </a:t>
            </a:r>
            <a:r>
              <a:rPr dirty="0" sz="1200" spc="-5">
                <a:latin typeface="Arial"/>
                <a:cs typeface="Arial"/>
              </a:rPr>
              <a:t>care </a:t>
            </a:r>
            <a:r>
              <a:rPr dirty="0" sz="1200" spc="-10">
                <a:latin typeface="Arial"/>
                <a:cs typeface="Arial"/>
              </a:rPr>
              <a:t>was </a:t>
            </a:r>
            <a:r>
              <a:rPr dirty="0" sz="1200">
                <a:latin typeface="Arial"/>
                <a:cs typeface="Arial"/>
              </a:rPr>
              <a:t>to </a:t>
            </a:r>
            <a:r>
              <a:rPr dirty="0" sz="1200" spc="-5">
                <a:latin typeface="Arial"/>
                <a:cs typeface="Arial"/>
              </a:rPr>
              <a:t>sweep  from the </a:t>
            </a:r>
            <a:r>
              <a:rPr dirty="0" sz="1200">
                <a:latin typeface="Arial"/>
                <a:cs typeface="Arial"/>
              </a:rPr>
              <a:t>face </a:t>
            </a:r>
            <a:r>
              <a:rPr dirty="0" sz="1200" spc="-5">
                <a:latin typeface="Arial"/>
                <a:cs typeface="Arial"/>
              </a:rPr>
              <a:t>of the earth the entire Umayyad </a:t>
            </a:r>
            <a:r>
              <a:rPr dirty="0" sz="1200">
                <a:latin typeface="Arial"/>
                <a:cs typeface="Arial"/>
              </a:rPr>
              <a:t>race. In </a:t>
            </a:r>
            <a:r>
              <a:rPr dirty="0" sz="1200" spc="-5">
                <a:latin typeface="Arial"/>
                <a:cs typeface="Arial"/>
              </a:rPr>
              <a:t>Palestine, an amnesty </a:t>
            </a:r>
            <a:r>
              <a:rPr dirty="0" sz="1200" spc="-10">
                <a:latin typeface="Arial"/>
                <a:cs typeface="Arial"/>
              </a:rPr>
              <a:t>was </a:t>
            </a:r>
            <a:r>
              <a:rPr dirty="0" sz="1200" spc="-5">
                <a:latin typeface="Arial"/>
                <a:cs typeface="Arial"/>
              </a:rPr>
              <a:t>offered to  </a:t>
            </a:r>
            <a:r>
              <a:rPr dirty="0" sz="1200">
                <a:latin typeface="Arial"/>
                <a:cs typeface="Arial"/>
              </a:rPr>
              <a:t>the </a:t>
            </a:r>
            <a:r>
              <a:rPr dirty="0" sz="1200" spc="-10">
                <a:latin typeface="Arial"/>
                <a:cs typeface="Arial"/>
              </a:rPr>
              <a:t>Umayyad </a:t>
            </a:r>
            <a:r>
              <a:rPr dirty="0" sz="1200" spc="-5">
                <a:latin typeface="Arial"/>
                <a:cs typeface="Arial"/>
              </a:rPr>
              <a:t>family. They (90) were </a:t>
            </a:r>
            <a:r>
              <a:rPr dirty="0" sz="1200">
                <a:latin typeface="Arial"/>
                <a:cs typeface="Arial"/>
              </a:rPr>
              <a:t>invited for </a:t>
            </a:r>
            <a:r>
              <a:rPr dirty="0" sz="1200" spc="-5">
                <a:latin typeface="Arial"/>
                <a:cs typeface="Arial"/>
              </a:rPr>
              <a:t>a </a:t>
            </a:r>
            <a:r>
              <a:rPr dirty="0" sz="1200">
                <a:latin typeface="Arial"/>
                <a:cs typeface="Arial"/>
              </a:rPr>
              <a:t>feast </a:t>
            </a:r>
            <a:r>
              <a:rPr dirty="0" sz="1200" spc="-5">
                <a:latin typeface="Arial"/>
                <a:cs typeface="Arial"/>
              </a:rPr>
              <a:t>and killed. The bodies of </a:t>
            </a:r>
            <a:r>
              <a:rPr dirty="0" sz="1200" spc="-10">
                <a:latin typeface="Arial"/>
                <a:cs typeface="Arial"/>
              </a:rPr>
              <a:t>Umayyad  </a:t>
            </a:r>
            <a:r>
              <a:rPr dirty="0" sz="1200" spc="-5">
                <a:latin typeface="Arial"/>
                <a:cs typeface="Arial"/>
              </a:rPr>
              <a:t>caliphs (except Mu‘awiyah </a:t>
            </a:r>
            <a:r>
              <a:rPr dirty="0" sz="1200">
                <a:latin typeface="Arial"/>
                <a:cs typeface="Arial"/>
              </a:rPr>
              <a:t>and </a:t>
            </a:r>
            <a:r>
              <a:rPr dirty="0" sz="1200" spc="-5">
                <a:latin typeface="Arial"/>
                <a:cs typeface="Arial"/>
              </a:rPr>
              <a:t>Umar </a:t>
            </a:r>
            <a:r>
              <a:rPr dirty="0" sz="1200">
                <a:latin typeface="Arial"/>
                <a:cs typeface="Arial"/>
              </a:rPr>
              <a:t>II) </a:t>
            </a:r>
            <a:r>
              <a:rPr dirty="0" sz="1200" spc="-5">
                <a:latin typeface="Arial"/>
                <a:cs typeface="Arial"/>
              </a:rPr>
              <a:t>were unearthed, hung and burned </a:t>
            </a:r>
            <a:r>
              <a:rPr dirty="0" sz="1200">
                <a:latin typeface="Arial"/>
                <a:cs typeface="Arial"/>
              </a:rPr>
              <a:t>(throughout </a:t>
            </a:r>
            <a:r>
              <a:rPr dirty="0" sz="1200" spc="-5">
                <a:latin typeface="Arial"/>
                <a:cs typeface="Arial"/>
              </a:rPr>
              <a:t>Syria,  Khurasan and Ethiopia. He used </a:t>
            </a:r>
            <a:r>
              <a:rPr dirty="0" sz="1200">
                <a:latin typeface="Arial"/>
                <a:cs typeface="Arial"/>
              </a:rPr>
              <a:t>to </a:t>
            </a:r>
            <a:r>
              <a:rPr dirty="0" sz="1200" spc="-5">
                <a:latin typeface="Arial"/>
                <a:cs typeface="Arial"/>
              </a:rPr>
              <a:t>stand looking </a:t>
            </a:r>
            <a:r>
              <a:rPr dirty="0" sz="1200">
                <a:latin typeface="Arial"/>
                <a:cs typeface="Arial"/>
              </a:rPr>
              <a:t>at </a:t>
            </a:r>
            <a:r>
              <a:rPr dirty="0" sz="1200" spc="-5">
                <a:latin typeface="Arial"/>
                <a:cs typeface="Arial"/>
              </a:rPr>
              <a:t>himself in a mirror and exclaimed, </a:t>
            </a:r>
            <a:r>
              <a:rPr dirty="0" sz="1200">
                <a:latin typeface="Arial"/>
                <a:cs typeface="Arial"/>
              </a:rPr>
              <a:t>"I </a:t>
            </a:r>
            <a:r>
              <a:rPr dirty="0" sz="1200" spc="-10">
                <a:latin typeface="Arial"/>
                <a:cs typeface="Arial"/>
              </a:rPr>
              <a:t>do  </a:t>
            </a:r>
            <a:r>
              <a:rPr dirty="0" sz="1200" spc="-5">
                <a:latin typeface="Arial"/>
                <a:cs typeface="Arial"/>
              </a:rPr>
              <a:t>not </a:t>
            </a:r>
            <a:r>
              <a:rPr dirty="0" sz="1200" spc="-10">
                <a:latin typeface="Arial"/>
                <a:cs typeface="Arial"/>
              </a:rPr>
              <a:t>say, </a:t>
            </a:r>
            <a:r>
              <a:rPr dirty="0" sz="1200" spc="-5">
                <a:latin typeface="Arial"/>
                <a:cs typeface="Arial"/>
              </a:rPr>
              <a:t>as Suleiman, </a:t>
            </a:r>
            <a:r>
              <a:rPr dirty="0" sz="1200" spc="-5" i="1">
                <a:latin typeface="Arial"/>
                <a:cs typeface="Arial"/>
              </a:rPr>
              <a:t>Behold the kingly youth; </a:t>
            </a:r>
            <a:r>
              <a:rPr dirty="0" sz="1200" spc="-5">
                <a:latin typeface="Arial"/>
                <a:cs typeface="Arial"/>
              </a:rPr>
              <a:t>but </a:t>
            </a:r>
            <a:r>
              <a:rPr dirty="0" sz="1200">
                <a:latin typeface="Arial"/>
                <a:cs typeface="Arial"/>
              </a:rPr>
              <a:t>I </a:t>
            </a:r>
            <a:r>
              <a:rPr dirty="0" sz="1200" spc="-5">
                <a:latin typeface="Arial"/>
                <a:cs typeface="Arial"/>
              </a:rPr>
              <a:t>say, </a:t>
            </a:r>
            <a:r>
              <a:rPr dirty="0" sz="1200" spc="-5" i="1">
                <a:latin typeface="Arial"/>
                <a:cs typeface="Arial"/>
              </a:rPr>
              <a:t>Lord give </a:t>
            </a:r>
            <a:r>
              <a:rPr dirty="0" sz="1200" spc="-15" i="1">
                <a:latin typeface="Arial"/>
                <a:cs typeface="Arial"/>
              </a:rPr>
              <a:t>me </a:t>
            </a:r>
            <a:r>
              <a:rPr dirty="0" sz="1200" i="1">
                <a:latin typeface="Arial"/>
                <a:cs typeface="Arial"/>
              </a:rPr>
              <a:t>long </a:t>
            </a:r>
            <a:r>
              <a:rPr dirty="0" sz="1200" spc="-5" i="1">
                <a:latin typeface="Arial"/>
                <a:cs typeface="Arial"/>
              </a:rPr>
              <a:t>life, and health </a:t>
            </a:r>
            <a:r>
              <a:rPr dirty="0" sz="1200" spc="-10" i="1">
                <a:latin typeface="Arial"/>
                <a:cs typeface="Arial"/>
              </a:rPr>
              <a:t>to  </a:t>
            </a:r>
            <a:r>
              <a:rPr dirty="0" sz="1200" spc="-5" i="1">
                <a:latin typeface="Arial"/>
                <a:cs typeface="Arial"/>
              </a:rPr>
              <a:t>enjoy </a:t>
            </a:r>
            <a:r>
              <a:rPr dirty="0" sz="1200" spc="-200" i="1">
                <a:latin typeface="Arial"/>
                <a:cs typeface="Arial"/>
              </a:rPr>
              <a:t>it</a:t>
            </a:r>
            <a:r>
              <a:rPr dirty="0" sz="1200" spc="-200">
                <a:latin typeface="Arial"/>
                <a:cs typeface="Arial"/>
              </a:rPr>
              <a:t>.― </a:t>
            </a:r>
            <a:r>
              <a:rPr dirty="0" sz="1200">
                <a:latin typeface="Arial"/>
                <a:cs typeface="Arial"/>
              </a:rPr>
              <a:t>As </a:t>
            </a:r>
            <a:r>
              <a:rPr dirty="0" sz="1200" spc="-5">
                <a:latin typeface="Arial"/>
                <a:cs typeface="Arial"/>
              </a:rPr>
              <a:t>he spoke, a slave said </a:t>
            </a:r>
            <a:r>
              <a:rPr dirty="0" sz="1200">
                <a:latin typeface="Arial"/>
                <a:cs typeface="Arial"/>
              </a:rPr>
              <a:t>to </a:t>
            </a:r>
            <a:r>
              <a:rPr dirty="0" sz="1200" spc="-5">
                <a:latin typeface="Arial"/>
                <a:cs typeface="Arial"/>
              </a:rPr>
              <a:t>his fellow, </a:t>
            </a:r>
            <a:r>
              <a:rPr dirty="0" sz="1200">
                <a:latin typeface="Arial"/>
                <a:cs typeface="Arial"/>
              </a:rPr>
              <a:t>"The </a:t>
            </a:r>
            <a:r>
              <a:rPr dirty="0" sz="1200" spc="-5">
                <a:latin typeface="Arial"/>
                <a:cs typeface="Arial"/>
              </a:rPr>
              <a:t>term between us is </a:t>
            </a:r>
            <a:r>
              <a:rPr dirty="0" sz="1200" spc="-10">
                <a:latin typeface="Arial"/>
                <a:cs typeface="Arial"/>
              </a:rPr>
              <a:t>two </a:t>
            </a:r>
            <a:r>
              <a:rPr dirty="0" sz="1200">
                <a:latin typeface="Arial"/>
                <a:cs typeface="Arial"/>
              </a:rPr>
              <a:t>months </a:t>
            </a:r>
            <a:r>
              <a:rPr dirty="0" sz="1200" spc="-10">
                <a:latin typeface="Arial"/>
                <a:cs typeface="Arial"/>
              </a:rPr>
              <a:t>and  </a:t>
            </a:r>
            <a:r>
              <a:rPr dirty="0" sz="1200" spc="-5">
                <a:latin typeface="Arial"/>
                <a:cs typeface="Arial"/>
              </a:rPr>
              <a:t>five days." He took </a:t>
            </a:r>
            <a:r>
              <a:rPr dirty="0" sz="1200">
                <a:latin typeface="Arial"/>
                <a:cs typeface="Arial"/>
              </a:rPr>
              <a:t>it </a:t>
            </a:r>
            <a:r>
              <a:rPr dirty="0" sz="1200" spc="-10">
                <a:latin typeface="Arial"/>
                <a:cs typeface="Arial"/>
              </a:rPr>
              <a:t>as </a:t>
            </a:r>
            <a:r>
              <a:rPr dirty="0" sz="1200" spc="-5">
                <a:latin typeface="Arial"/>
                <a:cs typeface="Arial"/>
              </a:rPr>
              <a:t>an evil augury (prophesy); and so </a:t>
            </a:r>
            <a:r>
              <a:rPr dirty="0" sz="1200" spc="-10">
                <a:latin typeface="Arial"/>
                <a:cs typeface="Arial"/>
              </a:rPr>
              <a:t>he </a:t>
            </a:r>
            <a:r>
              <a:rPr dirty="0" sz="1200" spc="-5">
                <a:latin typeface="Arial"/>
                <a:cs typeface="Arial"/>
              </a:rPr>
              <a:t>sickened, and death (smallpox)  overtook </a:t>
            </a:r>
            <a:r>
              <a:rPr dirty="0" sz="1200">
                <a:latin typeface="Arial"/>
                <a:cs typeface="Arial"/>
              </a:rPr>
              <a:t>him as the </a:t>
            </a:r>
            <a:r>
              <a:rPr dirty="0" sz="1200" spc="-5">
                <a:latin typeface="Arial"/>
                <a:cs typeface="Arial"/>
              </a:rPr>
              <a:t>term</a:t>
            </a:r>
            <a:r>
              <a:rPr dirty="0" sz="1200" spc="-25">
                <a:latin typeface="Arial"/>
                <a:cs typeface="Arial"/>
              </a:rPr>
              <a:t> </a:t>
            </a:r>
            <a:r>
              <a:rPr dirty="0" sz="1200" spc="-5">
                <a:latin typeface="Arial"/>
                <a:cs typeface="Arial"/>
              </a:rPr>
              <a:t>expired.</a:t>
            </a:r>
            <a:endParaRPr sz="1200">
              <a:latin typeface="Arial"/>
              <a:cs typeface="Arial"/>
            </a:endParaRPr>
          </a:p>
          <a:p>
            <a:pPr>
              <a:lnSpc>
                <a:spcPct val="100000"/>
              </a:lnSpc>
            </a:pPr>
            <a:endParaRPr sz="1200">
              <a:latin typeface="Arial"/>
              <a:cs typeface="Arial"/>
            </a:endParaRPr>
          </a:p>
          <a:p>
            <a:pPr algn="just" marL="12700" marR="5080">
              <a:lnSpc>
                <a:spcPct val="95900"/>
              </a:lnSpc>
            </a:pPr>
            <a:r>
              <a:rPr dirty="0" sz="1200" spc="-5">
                <a:latin typeface="Arial"/>
                <a:cs typeface="Arial"/>
              </a:rPr>
              <a:t>Towers were </a:t>
            </a:r>
            <a:r>
              <a:rPr dirty="0" sz="1200">
                <a:latin typeface="Arial"/>
                <a:cs typeface="Arial"/>
              </a:rPr>
              <a:t>constructed for </a:t>
            </a:r>
            <a:r>
              <a:rPr dirty="0" sz="1200" spc="-5">
                <a:latin typeface="Arial"/>
                <a:cs typeface="Arial"/>
              </a:rPr>
              <a:t>protection of the pilgrims </a:t>
            </a:r>
            <a:r>
              <a:rPr dirty="0" sz="1200">
                <a:latin typeface="Arial"/>
                <a:cs typeface="Arial"/>
              </a:rPr>
              <a:t>at </a:t>
            </a:r>
            <a:r>
              <a:rPr dirty="0" sz="1200" spc="-5">
                <a:latin typeface="Arial"/>
                <a:cs typeface="Arial"/>
              </a:rPr>
              <a:t>convenient distances all </a:t>
            </a:r>
            <a:r>
              <a:rPr dirty="0" sz="1200">
                <a:latin typeface="Arial"/>
                <a:cs typeface="Arial"/>
              </a:rPr>
              <a:t>the </a:t>
            </a:r>
            <a:r>
              <a:rPr dirty="0" sz="1200" spc="-5">
                <a:latin typeface="Arial"/>
                <a:cs typeface="Arial"/>
              </a:rPr>
              <a:t>way  from Al-Kufa </a:t>
            </a:r>
            <a:r>
              <a:rPr dirty="0" sz="1200">
                <a:latin typeface="Arial"/>
                <a:cs typeface="Arial"/>
              </a:rPr>
              <a:t>to </a:t>
            </a:r>
            <a:r>
              <a:rPr dirty="0" sz="1200" spc="-5">
                <a:latin typeface="Arial"/>
                <a:cs typeface="Arial"/>
              </a:rPr>
              <a:t>Mecca. He had small respect </a:t>
            </a:r>
            <a:r>
              <a:rPr dirty="0" sz="1200">
                <a:latin typeface="Arial"/>
                <a:cs typeface="Arial"/>
              </a:rPr>
              <a:t>for </a:t>
            </a:r>
            <a:r>
              <a:rPr dirty="0" sz="1200" spc="-5">
                <a:latin typeface="Arial"/>
                <a:cs typeface="Arial"/>
              </a:rPr>
              <a:t>human </a:t>
            </a:r>
            <a:r>
              <a:rPr dirty="0" sz="1200">
                <a:latin typeface="Arial"/>
                <a:cs typeface="Arial"/>
              </a:rPr>
              <a:t>life. </a:t>
            </a:r>
            <a:r>
              <a:rPr dirty="0" sz="1200" spc="-5">
                <a:latin typeface="Arial"/>
                <a:cs typeface="Arial"/>
              </a:rPr>
              <a:t>He intensified his cruelty and  guilt by </a:t>
            </a:r>
            <a:r>
              <a:rPr dirty="0" sz="1200">
                <a:latin typeface="Arial"/>
                <a:cs typeface="Arial"/>
              </a:rPr>
              <a:t>treachery </a:t>
            </a:r>
            <a:r>
              <a:rPr dirty="0" sz="1200" spc="-5">
                <a:latin typeface="Arial"/>
                <a:cs typeface="Arial"/>
              </a:rPr>
              <a:t>in </a:t>
            </a:r>
            <a:r>
              <a:rPr dirty="0" sz="1200">
                <a:latin typeface="Arial"/>
                <a:cs typeface="Arial"/>
              </a:rPr>
              <a:t>the face </a:t>
            </a:r>
            <a:r>
              <a:rPr dirty="0" sz="1200" spc="-5">
                <a:latin typeface="Arial"/>
                <a:cs typeface="Arial"/>
              </a:rPr>
              <a:t>of solemn oaths, and also by </a:t>
            </a:r>
            <a:r>
              <a:rPr dirty="0" sz="1200">
                <a:latin typeface="Arial"/>
                <a:cs typeface="Arial"/>
              </a:rPr>
              <a:t>ingratitude. </a:t>
            </a:r>
            <a:r>
              <a:rPr dirty="0" sz="1200" spc="-5">
                <a:latin typeface="Arial"/>
                <a:cs typeface="Arial"/>
              </a:rPr>
              <a:t>He began his rule </a:t>
            </a:r>
            <a:r>
              <a:rPr dirty="0" sz="1200">
                <a:latin typeface="Arial"/>
                <a:cs typeface="Arial"/>
              </a:rPr>
              <a:t>at  Kufa. </a:t>
            </a:r>
            <a:r>
              <a:rPr dirty="0" sz="1200" spc="-5">
                <a:latin typeface="Arial"/>
                <a:cs typeface="Arial"/>
              </a:rPr>
              <a:t>He </a:t>
            </a:r>
            <a:r>
              <a:rPr dirty="0" sz="1200">
                <a:latin typeface="Arial"/>
                <a:cs typeface="Arial"/>
              </a:rPr>
              <a:t>had </a:t>
            </a:r>
            <a:r>
              <a:rPr dirty="0" sz="1200" spc="-5">
                <a:latin typeface="Arial"/>
                <a:cs typeface="Arial"/>
              </a:rPr>
              <a:t>to </a:t>
            </a:r>
            <a:r>
              <a:rPr dirty="0" sz="1200">
                <a:latin typeface="Arial"/>
                <a:cs typeface="Arial"/>
              </a:rPr>
              <a:t>face </a:t>
            </a:r>
            <a:r>
              <a:rPr dirty="0" sz="1200" spc="-10">
                <a:latin typeface="Arial"/>
                <a:cs typeface="Arial"/>
              </a:rPr>
              <a:t>revolts </a:t>
            </a:r>
            <a:r>
              <a:rPr dirty="0" sz="1200">
                <a:latin typeface="Arial"/>
                <a:cs typeface="Arial"/>
              </a:rPr>
              <a:t>from </a:t>
            </a:r>
            <a:r>
              <a:rPr dirty="0" sz="1200" spc="-5">
                <a:latin typeface="Arial"/>
                <a:cs typeface="Arial"/>
              </a:rPr>
              <a:t>the partisans of Umayyad, Shi‘a </a:t>
            </a:r>
            <a:r>
              <a:rPr dirty="0" sz="1200" spc="15">
                <a:latin typeface="Arial"/>
                <a:cs typeface="Arial"/>
              </a:rPr>
              <a:t>and </a:t>
            </a:r>
            <a:r>
              <a:rPr dirty="0" sz="1200" spc="-5">
                <a:latin typeface="Arial"/>
                <a:cs typeface="Arial"/>
              </a:rPr>
              <a:t>the Khawarij. He had  </a:t>
            </a:r>
            <a:r>
              <a:rPr dirty="0" sz="1200" spc="-10">
                <a:latin typeface="Arial"/>
                <a:cs typeface="Arial"/>
              </a:rPr>
              <a:t>two </a:t>
            </a:r>
            <a:r>
              <a:rPr dirty="0" sz="1200" spc="-5">
                <a:latin typeface="Arial"/>
                <a:cs typeface="Arial"/>
              </a:rPr>
              <a:t>great men and soldiers with him </a:t>
            </a:r>
            <a:r>
              <a:rPr dirty="0" sz="1200">
                <a:latin typeface="Arial"/>
                <a:cs typeface="Arial"/>
              </a:rPr>
              <a:t>– </a:t>
            </a:r>
            <a:r>
              <a:rPr dirty="0" sz="1200" spc="-5">
                <a:latin typeface="Arial"/>
                <a:cs typeface="Arial"/>
              </a:rPr>
              <a:t>Abu Salama and Abu Muslim. </a:t>
            </a:r>
            <a:r>
              <a:rPr dirty="0" sz="1200">
                <a:latin typeface="Arial"/>
                <a:cs typeface="Arial"/>
              </a:rPr>
              <a:t>They </a:t>
            </a:r>
            <a:r>
              <a:rPr dirty="0" sz="1200" spc="-5">
                <a:latin typeface="Arial"/>
                <a:cs typeface="Arial"/>
              </a:rPr>
              <a:t>played a leading  role </a:t>
            </a:r>
            <a:r>
              <a:rPr dirty="0" sz="1200">
                <a:latin typeface="Arial"/>
                <a:cs typeface="Arial"/>
              </a:rPr>
              <a:t>to </a:t>
            </a:r>
            <a:r>
              <a:rPr dirty="0" sz="1200" spc="-5">
                <a:latin typeface="Arial"/>
                <a:cs typeface="Arial"/>
              </a:rPr>
              <a:t>the downfall of </a:t>
            </a:r>
            <a:r>
              <a:rPr dirty="0" sz="1200">
                <a:latin typeface="Arial"/>
                <a:cs typeface="Arial"/>
              </a:rPr>
              <a:t>the </a:t>
            </a:r>
            <a:r>
              <a:rPr dirty="0" sz="1200" spc="-10">
                <a:latin typeface="Arial"/>
                <a:cs typeface="Arial"/>
              </a:rPr>
              <a:t>Umayyad. </a:t>
            </a:r>
            <a:r>
              <a:rPr dirty="0" sz="1200">
                <a:latin typeface="Arial"/>
                <a:cs typeface="Arial"/>
              </a:rPr>
              <a:t>There </a:t>
            </a:r>
            <a:r>
              <a:rPr dirty="0" sz="1200" spc="-10">
                <a:latin typeface="Arial"/>
                <a:cs typeface="Arial"/>
              </a:rPr>
              <a:t>was </a:t>
            </a:r>
            <a:r>
              <a:rPr dirty="0" sz="1200" spc="-5">
                <a:latin typeface="Arial"/>
                <a:cs typeface="Arial"/>
              </a:rPr>
              <a:t>jealousy between them. </a:t>
            </a:r>
            <a:r>
              <a:rPr dirty="0" sz="1200" spc="-10">
                <a:latin typeface="Arial"/>
                <a:cs typeface="Arial"/>
              </a:rPr>
              <a:t>Men </a:t>
            </a:r>
            <a:r>
              <a:rPr dirty="0" sz="1200" spc="-5">
                <a:latin typeface="Arial"/>
                <a:cs typeface="Arial"/>
              </a:rPr>
              <a:t>of Abu Muslim  killed Abu Salama.</a:t>
            </a:r>
            <a:endParaRPr sz="1200">
              <a:latin typeface="Arial"/>
              <a:cs typeface="Arial"/>
            </a:endParaRPr>
          </a:p>
          <a:p>
            <a:pPr>
              <a:lnSpc>
                <a:spcPct val="100000"/>
              </a:lnSpc>
              <a:spcBef>
                <a:spcPts val="55"/>
              </a:spcBef>
            </a:pPr>
            <a:endParaRPr sz="1100">
              <a:latin typeface="Arial"/>
              <a:cs typeface="Arial"/>
            </a:endParaRPr>
          </a:p>
          <a:p>
            <a:pPr marL="469900" indent="-229235">
              <a:lnSpc>
                <a:spcPct val="100000"/>
              </a:lnSpc>
              <a:buFont typeface="Wingdings"/>
              <a:buChar char=""/>
              <a:tabLst>
                <a:tab pos="470534" algn="l"/>
              </a:tabLst>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Abu </a:t>
            </a:r>
            <a:r>
              <a:rPr dirty="0" u="heavy" sz="1200" spc="-50" b="1" i="1">
                <a:uFill>
                  <a:solidFill>
                    <a:srgbClr val="000000"/>
                  </a:solidFill>
                </a:uFill>
                <a:latin typeface="Arial"/>
                <a:cs typeface="Arial"/>
              </a:rPr>
              <a:t>Ja„far </a:t>
            </a:r>
            <a:r>
              <a:rPr dirty="0" u="heavy" sz="1200" b="1" i="1">
                <a:uFill>
                  <a:solidFill>
                    <a:srgbClr val="000000"/>
                  </a:solidFill>
                </a:uFill>
                <a:latin typeface="Arial"/>
                <a:cs typeface="Arial"/>
              </a:rPr>
              <a:t>al </a:t>
            </a:r>
            <a:r>
              <a:rPr dirty="0" u="heavy" sz="1200" spc="-5" b="1" i="1">
                <a:uFill>
                  <a:solidFill>
                    <a:srgbClr val="000000"/>
                  </a:solidFill>
                </a:uFill>
                <a:latin typeface="Arial"/>
                <a:cs typeface="Arial"/>
              </a:rPr>
              <a:t>Mansur </a:t>
            </a:r>
            <a:r>
              <a:rPr dirty="0" u="heavy" sz="1200" b="1" i="1">
                <a:uFill>
                  <a:solidFill>
                    <a:srgbClr val="000000"/>
                  </a:solidFill>
                </a:uFill>
                <a:latin typeface="Arial"/>
                <a:cs typeface="Arial"/>
              </a:rPr>
              <a:t>(754 –</a:t>
            </a:r>
            <a:r>
              <a:rPr dirty="0" u="heavy" sz="1200" spc="40" b="1" i="1">
                <a:uFill>
                  <a:solidFill>
                    <a:srgbClr val="000000"/>
                  </a:solidFill>
                </a:uFill>
                <a:latin typeface="Arial"/>
                <a:cs typeface="Arial"/>
              </a:rPr>
              <a:t> </a:t>
            </a:r>
            <a:r>
              <a:rPr dirty="0" u="heavy" sz="1200" spc="-5" b="1" i="1">
                <a:uFill>
                  <a:solidFill>
                    <a:srgbClr val="000000"/>
                  </a:solidFill>
                </a:uFill>
                <a:latin typeface="Arial"/>
                <a:cs typeface="Arial"/>
              </a:rPr>
              <a:t>775)</a:t>
            </a:r>
            <a:endParaRPr sz="1200">
              <a:latin typeface="Arial"/>
              <a:cs typeface="Arial"/>
            </a:endParaRPr>
          </a:p>
          <a:p>
            <a:pPr>
              <a:lnSpc>
                <a:spcPct val="100000"/>
              </a:lnSpc>
            </a:pPr>
            <a:endParaRPr sz="1200">
              <a:latin typeface="Arial"/>
              <a:cs typeface="Arial"/>
            </a:endParaRPr>
          </a:p>
          <a:p>
            <a:pPr algn="just" marL="12700" marR="5715">
              <a:lnSpc>
                <a:spcPct val="95900"/>
              </a:lnSpc>
            </a:pPr>
            <a:r>
              <a:rPr dirty="0" sz="1200" spc="-5">
                <a:latin typeface="Arial"/>
                <a:cs typeface="Arial"/>
              </a:rPr>
              <a:t>He </a:t>
            </a:r>
            <a:r>
              <a:rPr dirty="0" sz="1200" spc="-10">
                <a:latin typeface="Arial"/>
                <a:cs typeface="Arial"/>
              </a:rPr>
              <a:t>was </a:t>
            </a:r>
            <a:r>
              <a:rPr dirty="0" sz="1200">
                <a:latin typeface="Arial"/>
                <a:cs typeface="Arial"/>
              </a:rPr>
              <a:t>the </a:t>
            </a:r>
            <a:r>
              <a:rPr dirty="0" sz="1200" spc="-5">
                <a:latin typeface="Arial"/>
                <a:cs typeface="Arial"/>
              </a:rPr>
              <a:t>brother of </a:t>
            </a:r>
            <a:r>
              <a:rPr dirty="0" sz="1200">
                <a:latin typeface="Arial"/>
                <a:cs typeface="Arial"/>
              </a:rPr>
              <a:t>As </a:t>
            </a:r>
            <a:r>
              <a:rPr dirty="0" sz="1200" spc="-5">
                <a:latin typeface="Arial"/>
                <a:cs typeface="Arial"/>
              </a:rPr>
              <a:t>Saffah and when </a:t>
            </a:r>
            <a:r>
              <a:rPr dirty="0" sz="1200" spc="-10">
                <a:latin typeface="Arial"/>
                <a:cs typeface="Arial"/>
              </a:rPr>
              <a:t>he </a:t>
            </a:r>
            <a:r>
              <a:rPr dirty="0" sz="1200" spc="-5">
                <a:latin typeface="Arial"/>
                <a:cs typeface="Arial"/>
              </a:rPr>
              <a:t>returned from pilgrimage, he assumed khilafat.  He </a:t>
            </a:r>
            <a:r>
              <a:rPr dirty="0" sz="1200">
                <a:latin typeface="Arial"/>
                <a:cs typeface="Arial"/>
              </a:rPr>
              <a:t>led the </a:t>
            </a:r>
            <a:r>
              <a:rPr dirty="0" sz="1200" spc="-5">
                <a:latin typeface="Arial"/>
                <a:cs typeface="Arial"/>
              </a:rPr>
              <a:t>prayer and made his announcements of </a:t>
            </a:r>
            <a:r>
              <a:rPr dirty="0" sz="1200" spc="5">
                <a:latin typeface="Arial"/>
                <a:cs typeface="Arial"/>
              </a:rPr>
              <a:t>caliph. </a:t>
            </a:r>
            <a:r>
              <a:rPr dirty="0" sz="1200" spc="-5">
                <a:latin typeface="Arial"/>
                <a:cs typeface="Arial"/>
              </a:rPr>
              <a:t>He assumed </a:t>
            </a:r>
            <a:r>
              <a:rPr dirty="0" sz="1200">
                <a:latin typeface="Arial"/>
                <a:cs typeface="Arial"/>
              </a:rPr>
              <a:t>the </a:t>
            </a:r>
            <a:r>
              <a:rPr dirty="0" sz="1200" spc="-5">
                <a:latin typeface="Arial"/>
                <a:cs typeface="Arial"/>
              </a:rPr>
              <a:t>name of </a:t>
            </a:r>
            <a:r>
              <a:rPr dirty="0" sz="1200">
                <a:latin typeface="Arial"/>
                <a:cs typeface="Arial"/>
              </a:rPr>
              <a:t>Al-  </a:t>
            </a:r>
            <a:r>
              <a:rPr dirty="0" sz="1200" spc="-5">
                <a:latin typeface="Arial"/>
                <a:cs typeface="Arial"/>
              </a:rPr>
              <a:t>Mansur, the Victorious. Al Mansur </a:t>
            </a:r>
            <a:r>
              <a:rPr dirty="0" sz="1200">
                <a:latin typeface="Arial"/>
                <a:cs typeface="Arial"/>
              </a:rPr>
              <a:t>feared </a:t>
            </a:r>
            <a:r>
              <a:rPr dirty="0" sz="1200" spc="-5">
                <a:latin typeface="Arial"/>
                <a:cs typeface="Arial"/>
              </a:rPr>
              <a:t>the attitudes of his uncle </a:t>
            </a:r>
            <a:r>
              <a:rPr dirty="0" sz="1200">
                <a:latin typeface="Arial"/>
                <a:cs typeface="Arial"/>
              </a:rPr>
              <a:t>Abdullah. </a:t>
            </a:r>
            <a:r>
              <a:rPr dirty="0" sz="1200" spc="-5">
                <a:latin typeface="Arial"/>
                <a:cs typeface="Arial"/>
              </a:rPr>
              <a:t>Abu Muslim  assured him that he would take charge of </a:t>
            </a:r>
            <a:r>
              <a:rPr dirty="0" sz="1200" spc="5">
                <a:latin typeface="Arial"/>
                <a:cs typeface="Arial"/>
              </a:rPr>
              <a:t>him. </a:t>
            </a:r>
            <a:r>
              <a:rPr dirty="0" sz="1200">
                <a:latin typeface="Arial"/>
                <a:cs typeface="Arial"/>
              </a:rPr>
              <a:t>When </a:t>
            </a:r>
            <a:r>
              <a:rPr dirty="0" sz="1200" spc="-5">
                <a:latin typeface="Arial"/>
                <a:cs typeface="Arial"/>
              </a:rPr>
              <a:t>the enemy and burden Abdullah </a:t>
            </a:r>
            <a:r>
              <a:rPr dirty="0" sz="1200" spc="-10">
                <a:latin typeface="Arial"/>
                <a:cs typeface="Arial"/>
              </a:rPr>
              <a:t>was  </a:t>
            </a:r>
            <a:r>
              <a:rPr dirty="0" sz="1200" spc="-5">
                <a:latin typeface="Arial"/>
                <a:cs typeface="Arial"/>
              </a:rPr>
              <a:t>calmed down, al Mansur killed Abu </a:t>
            </a:r>
            <a:r>
              <a:rPr dirty="0" sz="1200">
                <a:latin typeface="Arial"/>
                <a:cs typeface="Arial"/>
              </a:rPr>
              <a:t>Muslim. The </a:t>
            </a:r>
            <a:r>
              <a:rPr dirty="0" sz="1200" spc="-5">
                <a:latin typeface="Arial"/>
                <a:cs typeface="Arial"/>
              </a:rPr>
              <a:t>reason he </a:t>
            </a:r>
            <a:r>
              <a:rPr dirty="0" sz="1200" spc="-10">
                <a:latin typeface="Arial"/>
                <a:cs typeface="Arial"/>
              </a:rPr>
              <a:t>gave </a:t>
            </a:r>
            <a:r>
              <a:rPr dirty="0" sz="1200" spc="-5">
                <a:latin typeface="Arial"/>
                <a:cs typeface="Arial"/>
              </a:rPr>
              <a:t>was </a:t>
            </a:r>
            <a:r>
              <a:rPr dirty="0" sz="1200">
                <a:latin typeface="Arial"/>
                <a:cs typeface="Arial"/>
              </a:rPr>
              <a:t>– "It </a:t>
            </a:r>
            <a:r>
              <a:rPr dirty="0" sz="1200" spc="-10">
                <a:latin typeface="Arial"/>
                <a:cs typeface="Arial"/>
              </a:rPr>
              <a:t>was </a:t>
            </a:r>
            <a:r>
              <a:rPr dirty="0" sz="1200" spc="-5">
                <a:latin typeface="Arial"/>
                <a:cs typeface="Arial"/>
              </a:rPr>
              <a:t>a </a:t>
            </a:r>
            <a:r>
              <a:rPr dirty="0" sz="1200">
                <a:latin typeface="Arial"/>
                <a:cs typeface="Arial"/>
              </a:rPr>
              <a:t>lesson to </a:t>
            </a:r>
            <a:r>
              <a:rPr dirty="0" sz="1200" spc="-5">
                <a:latin typeface="Arial"/>
                <a:cs typeface="Arial"/>
              </a:rPr>
              <a:t>be  laid </a:t>
            </a:r>
            <a:r>
              <a:rPr dirty="0" sz="1200">
                <a:latin typeface="Arial"/>
                <a:cs typeface="Arial"/>
              </a:rPr>
              <a:t>to </a:t>
            </a:r>
            <a:r>
              <a:rPr dirty="0" sz="1200" spc="-5">
                <a:latin typeface="Arial"/>
                <a:cs typeface="Arial"/>
              </a:rPr>
              <a:t>heart; </a:t>
            </a:r>
            <a:r>
              <a:rPr dirty="0" sz="1200">
                <a:latin typeface="Arial"/>
                <a:cs typeface="Arial"/>
              </a:rPr>
              <a:t>the </a:t>
            </a:r>
            <a:r>
              <a:rPr dirty="0" sz="1200" spc="-5">
                <a:latin typeface="Arial"/>
                <a:cs typeface="Arial"/>
              </a:rPr>
              <a:t>man began well, but ended ill, and now by pride and </a:t>
            </a:r>
            <a:r>
              <a:rPr dirty="0" sz="1200">
                <a:latin typeface="Arial"/>
                <a:cs typeface="Arial"/>
              </a:rPr>
              <a:t>rebellion </a:t>
            </a:r>
            <a:r>
              <a:rPr dirty="0" sz="1200" spc="-5">
                <a:latin typeface="Arial"/>
                <a:cs typeface="Arial"/>
              </a:rPr>
              <a:t>hath forfeited  his</a:t>
            </a:r>
            <a:r>
              <a:rPr dirty="0" sz="1200" spc="-10">
                <a:latin typeface="Arial"/>
                <a:cs typeface="Arial"/>
              </a:rPr>
              <a:t> </a:t>
            </a:r>
            <a:r>
              <a:rPr dirty="0" sz="1200" spc="-20">
                <a:latin typeface="Arial"/>
                <a:cs typeface="Arial"/>
              </a:rPr>
              <a:t>life.‖</a:t>
            </a:r>
            <a:endParaRPr sz="1200">
              <a:latin typeface="Arial"/>
              <a:cs typeface="Arial"/>
            </a:endParaRPr>
          </a:p>
          <a:p>
            <a:pPr>
              <a:lnSpc>
                <a:spcPct val="100000"/>
              </a:lnSpc>
              <a:spcBef>
                <a:spcPts val="35"/>
              </a:spcBef>
            </a:pPr>
            <a:endParaRPr sz="1200">
              <a:latin typeface="Arial"/>
              <a:cs typeface="Arial"/>
            </a:endParaRPr>
          </a:p>
          <a:p>
            <a:pPr algn="just" marL="12700" marR="5715">
              <a:lnSpc>
                <a:spcPts val="1380"/>
              </a:lnSpc>
            </a:pPr>
            <a:r>
              <a:rPr dirty="0" sz="1200" spc="-5">
                <a:latin typeface="Arial"/>
                <a:cs typeface="Arial"/>
              </a:rPr>
              <a:t>Abu Muslim </a:t>
            </a:r>
            <a:r>
              <a:rPr dirty="0" sz="1200" spc="-10">
                <a:latin typeface="Arial"/>
                <a:cs typeface="Arial"/>
              </a:rPr>
              <a:t>was </a:t>
            </a:r>
            <a:r>
              <a:rPr dirty="0" sz="1200">
                <a:latin typeface="Arial"/>
                <a:cs typeface="Arial"/>
              </a:rPr>
              <a:t>at </a:t>
            </a:r>
            <a:r>
              <a:rPr dirty="0" sz="1200" spc="-5">
                <a:latin typeface="Arial"/>
                <a:cs typeface="Arial"/>
              </a:rPr>
              <a:t>the head of </a:t>
            </a:r>
            <a:r>
              <a:rPr dirty="0" sz="1200">
                <a:latin typeface="Arial"/>
                <a:cs typeface="Arial"/>
              </a:rPr>
              <a:t>the army. </a:t>
            </a:r>
            <a:r>
              <a:rPr dirty="0" sz="1200" spc="-5">
                <a:latin typeface="Arial"/>
                <a:cs typeface="Arial"/>
              </a:rPr>
              <a:t>He </a:t>
            </a:r>
            <a:r>
              <a:rPr dirty="0" sz="1200" spc="-10">
                <a:latin typeface="Arial"/>
                <a:cs typeface="Arial"/>
              </a:rPr>
              <a:t>was </a:t>
            </a:r>
            <a:r>
              <a:rPr dirty="0" sz="1200" spc="-5">
                <a:latin typeface="Arial"/>
                <a:cs typeface="Arial"/>
              </a:rPr>
              <a:t>powerful and a </a:t>
            </a:r>
            <a:r>
              <a:rPr dirty="0" sz="1200">
                <a:latin typeface="Arial"/>
                <a:cs typeface="Arial"/>
              </a:rPr>
              <a:t>threat to </a:t>
            </a:r>
            <a:r>
              <a:rPr dirty="0" sz="1200" spc="-5">
                <a:latin typeface="Arial"/>
                <a:cs typeface="Arial"/>
              </a:rPr>
              <a:t>al </a:t>
            </a:r>
            <a:r>
              <a:rPr dirty="0" sz="1200">
                <a:latin typeface="Arial"/>
                <a:cs typeface="Arial"/>
              </a:rPr>
              <a:t>Mansur. There  </a:t>
            </a:r>
            <a:r>
              <a:rPr dirty="0" sz="1200" spc="-10">
                <a:latin typeface="Arial"/>
                <a:cs typeface="Arial"/>
              </a:rPr>
              <a:t>was </a:t>
            </a:r>
            <a:r>
              <a:rPr dirty="0" sz="1200">
                <a:latin typeface="Arial"/>
                <a:cs typeface="Arial"/>
              </a:rPr>
              <a:t>complete </a:t>
            </a:r>
            <a:r>
              <a:rPr dirty="0" sz="1200" spc="-5">
                <a:latin typeface="Arial"/>
                <a:cs typeface="Arial"/>
              </a:rPr>
              <a:t>loyalty of </a:t>
            </a:r>
            <a:r>
              <a:rPr dirty="0" sz="1200">
                <a:latin typeface="Arial"/>
                <a:cs typeface="Arial"/>
              </a:rPr>
              <a:t>the </a:t>
            </a:r>
            <a:r>
              <a:rPr dirty="0" sz="1200" spc="-5">
                <a:latin typeface="Arial"/>
                <a:cs typeface="Arial"/>
              </a:rPr>
              <a:t>army towards al </a:t>
            </a:r>
            <a:r>
              <a:rPr dirty="0" sz="1200">
                <a:latin typeface="Arial"/>
                <a:cs typeface="Arial"/>
              </a:rPr>
              <a:t>Mansur. </a:t>
            </a:r>
            <a:r>
              <a:rPr dirty="0" sz="1200" spc="-5">
                <a:latin typeface="Arial"/>
                <a:cs typeface="Arial"/>
              </a:rPr>
              <a:t>Peace restored in Persia and Ethiopia  (Mesopotamia). Abdullah </a:t>
            </a:r>
            <a:r>
              <a:rPr dirty="0" sz="1200" spc="-10">
                <a:latin typeface="Arial"/>
                <a:cs typeface="Arial"/>
              </a:rPr>
              <a:t>was </a:t>
            </a:r>
            <a:r>
              <a:rPr dirty="0" sz="1200" spc="-5">
                <a:latin typeface="Arial"/>
                <a:cs typeface="Arial"/>
              </a:rPr>
              <a:t>imprisoned. There was </a:t>
            </a:r>
            <a:r>
              <a:rPr dirty="0" sz="1200">
                <a:latin typeface="Arial"/>
                <a:cs typeface="Arial"/>
              </a:rPr>
              <a:t>the </a:t>
            </a:r>
            <a:r>
              <a:rPr dirty="0" sz="1200" spc="-5">
                <a:latin typeface="Arial"/>
                <a:cs typeface="Arial"/>
              </a:rPr>
              <a:t>rise </a:t>
            </a:r>
            <a:r>
              <a:rPr dirty="0" sz="1200">
                <a:latin typeface="Arial"/>
                <a:cs typeface="Arial"/>
              </a:rPr>
              <a:t>of the </a:t>
            </a:r>
            <a:r>
              <a:rPr dirty="0" sz="1200" spc="-5">
                <a:latin typeface="Arial"/>
                <a:cs typeface="Arial"/>
              </a:rPr>
              <a:t>Rawendiyah </a:t>
            </a:r>
            <a:r>
              <a:rPr dirty="0" sz="1200">
                <a:latin typeface="Arial"/>
                <a:cs typeface="Arial"/>
              </a:rPr>
              <a:t>– </a:t>
            </a:r>
            <a:r>
              <a:rPr dirty="0" sz="1200" spc="-5">
                <a:latin typeface="Arial"/>
                <a:cs typeface="Arial"/>
              </a:rPr>
              <a:t>a Persian  </a:t>
            </a:r>
            <a:r>
              <a:rPr dirty="0" sz="1200">
                <a:latin typeface="Arial"/>
                <a:cs typeface="Arial"/>
              </a:rPr>
              <a:t>sect. </a:t>
            </a:r>
            <a:r>
              <a:rPr dirty="0" sz="1200" spc="-5">
                <a:latin typeface="Arial"/>
                <a:cs typeface="Arial"/>
              </a:rPr>
              <a:t>Al Mansur already had 200 </a:t>
            </a:r>
            <a:r>
              <a:rPr dirty="0" sz="1200">
                <a:latin typeface="Arial"/>
                <a:cs typeface="Arial"/>
              </a:rPr>
              <a:t>of </a:t>
            </a:r>
            <a:r>
              <a:rPr dirty="0" sz="1200" spc="-5">
                <a:latin typeface="Arial"/>
                <a:cs typeface="Arial"/>
              </a:rPr>
              <a:t>their leaders </a:t>
            </a:r>
            <a:r>
              <a:rPr dirty="0" sz="1200">
                <a:latin typeface="Arial"/>
                <a:cs typeface="Arial"/>
              </a:rPr>
              <a:t>imprisoned. They </a:t>
            </a:r>
            <a:r>
              <a:rPr dirty="0" sz="1200" spc="-5">
                <a:latin typeface="Arial"/>
                <a:cs typeface="Arial"/>
              </a:rPr>
              <a:t>didn‘t consider </a:t>
            </a:r>
            <a:r>
              <a:rPr dirty="0" sz="1200">
                <a:latin typeface="Arial"/>
                <a:cs typeface="Arial"/>
              </a:rPr>
              <a:t>al </a:t>
            </a:r>
            <a:r>
              <a:rPr dirty="0" sz="1200" spc="-5">
                <a:latin typeface="Arial"/>
                <a:cs typeface="Arial"/>
              </a:rPr>
              <a:t>Mansur  as divine though </a:t>
            </a:r>
            <a:r>
              <a:rPr dirty="0" sz="1200" spc="-10">
                <a:latin typeface="Arial"/>
                <a:cs typeface="Arial"/>
              </a:rPr>
              <a:t>he </a:t>
            </a:r>
            <a:r>
              <a:rPr dirty="0" sz="1200" spc="-5">
                <a:latin typeface="Arial"/>
                <a:cs typeface="Arial"/>
              </a:rPr>
              <a:t>came personally talking </a:t>
            </a:r>
            <a:r>
              <a:rPr dirty="0" sz="1200">
                <a:latin typeface="Arial"/>
                <a:cs typeface="Arial"/>
              </a:rPr>
              <a:t>to </a:t>
            </a:r>
            <a:r>
              <a:rPr dirty="0" sz="1200" spc="5">
                <a:latin typeface="Arial"/>
                <a:cs typeface="Arial"/>
              </a:rPr>
              <a:t>them. </a:t>
            </a:r>
            <a:r>
              <a:rPr dirty="0" sz="1200">
                <a:latin typeface="Arial"/>
                <a:cs typeface="Arial"/>
              </a:rPr>
              <a:t>They </a:t>
            </a:r>
            <a:r>
              <a:rPr dirty="0" sz="1200" spc="-5">
                <a:latin typeface="Arial"/>
                <a:cs typeface="Arial"/>
              </a:rPr>
              <a:t>were </a:t>
            </a:r>
            <a:r>
              <a:rPr dirty="0" sz="1200">
                <a:latin typeface="Arial"/>
                <a:cs typeface="Arial"/>
              </a:rPr>
              <a:t>then </a:t>
            </a:r>
            <a:r>
              <a:rPr dirty="0" sz="1200" spc="-5">
                <a:latin typeface="Arial"/>
                <a:cs typeface="Arial"/>
              </a:rPr>
              <a:t>extirpated. There </a:t>
            </a:r>
            <a:r>
              <a:rPr dirty="0" sz="1200" spc="-10">
                <a:latin typeface="Arial"/>
                <a:cs typeface="Arial"/>
              </a:rPr>
              <a:t>was  </a:t>
            </a:r>
            <a:r>
              <a:rPr dirty="0" sz="1200" spc="-5">
                <a:latin typeface="Arial"/>
                <a:cs typeface="Arial"/>
              </a:rPr>
              <a:t>rebellion </a:t>
            </a:r>
            <a:r>
              <a:rPr dirty="0" sz="1200">
                <a:latin typeface="Arial"/>
                <a:cs typeface="Arial"/>
              </a:rPr>
              <a:t>at </a:t>
            </a:r>
            <a:r>
              <a:rPr dirty="0" sz="1200" spc="-5">
                <a:latin typeface="Arial"/>
                <a:cs typeface="Arial"/>
              </a:rPr>
              <a:t>Khurasan and </a:t>
            </a:r>
            <a:r>
              <a:rPr dirty="0" sz="1200">
                <a:latin typeface="Arial"/>
                <a:cs typeface="Arial"/>
              </a:rPr>
              <a:t>as </a:t>
            </a:r>
            <a:r>
              <a:rPr dirty="0" sz="1200" spc="-5">
                <a:latin typeface="Arial"/>
                <a:cs typeface="Arial"/>
              </a:rPr>
              <a:t>such its leader‘s hands, </a:t>
            </a:r>
            <a:r>
              <a:rPr dirty="0" sz="1200">
                <a:latin typeface="Arial"/>
                <a:cs typeface="Arial"/>
              </a:rPr>
              <a:t>feet </a:t>
            </a:r>
            <a:r>
              <a:rPr dirty="0" sz="1200" spc="-5">
                <a:latin typeface="Arial"/>
                <a:cs typeface="Arial"/>
              </a:rPr>
              <a:t>and head were </a:t>
            </a:r>
            <a:r>
              <a:rPr dirty="0" sz="1200">
                <a:latin typeface="Arial"/>
                <a:cs typeface="Arial"/>
              </a:rPr>
              <a:t>cut </a:t>
            </a:r>
            <a:r>
              <a:rPr dirty="0" sz="1200" spc="-5">
                <a:latin typeface="Arial"/>
                <a:cs typeface="Arial"/>
              </a:rPr>
              <a:t>off after cruelty.  Al Mansur, </a:t>
            </a:r>
            <a:r>
              <a:rPr dirty="0" sz="1200">
                <a:latin typeface="Arial"/>
                <a:cs typeface="Arial"/>
              </a:rPr>
              <a:t>to </a:t>
            </a:r>
            <a:r>
              <a:rPr dirty="0" sz="1200" spc="-5">
                <a:latin typeface="Arial"/>
                <a:cs typeface="Arial"/>
              </a:rPr>
              <a:t>his enemies </a:t>
            </a:r>
            <a:r>
              <a:rPr dirty="0" sz="1200" spc="-10">
                <a:latin typeface="Arial"/>
                <a:cs typeface="Arial"/>
              </a:rPr>
              <a:t>he was </a:t>
            </a:r>
            <a:r>
              <a:rPr dirty="0" sz="1200" spc="-5">
                <a:latin typeface="Arial"/>
                <a:cs typeface="Arial"/>
              </a:rPr>
              <a:t>cruel but </a:t>
            </a:r>
            <a:r>
              <a:rPr dirty="0" sz="1200">
                <a:latin typeface="Arial"/>
                <a:cs typeface="Arial"/>
              </a:rPr>
              <a:t>to </a:t>
            </a:r>
            <a:r>
              <a:rPr dirty="0" sz="1200" spc="-5">
                <a:latin typeface="Arial"/>
                <a:cs typeface="Arial"/>
              </a:rPr>
              <a:t>his friends he </a:t>
            </a:r>
            <a:r>
              <a:rPr dirty="0" sz="1200" spc="-10">
                <a:latin typeface="Arial"/>
                <a:cs typeface="Arial"/>
              </a:rPr>
              <a:t>was </a:t>
            </a:r>
            <a:r>
              <a:rPr dirty="0" sz="1200" spc="-5">
                <a:latin typeface="Arial"/>
                <a:cs typeface="Arial"/>
              </a:rPr>
              <a:t>liberal. He invested in  statecraft and </a:t>
            </a:r>
            <a:r>
              <a:rPr dirty="0" sz="1200" spc="-10">
                <a:latin typeface="Arial"/>
                <a:cs typeface="Arial"/>
              </a:rPr>
              <a:t>was </a:t>
            </a:r>
            <a:r>
              <a:rPr dirty="0" sz="1200" spc="-5">
                <a:latin typeface="Arial"/>
                <a:cs typeface="Arial"/>
              </a:rPr>
              <a:t>very strict in maintaining accounts. He </a:t>
            </a:r>
            <a:r>
              <a:rPr dirty="0" sz="1200">
                <a:latin typeface="Arial"/>
                <a:cs typeface="Arial"/>
              </a:rPr>
              <a:t>left </a:t>
            </a:r>
            <a:r>
              <a:rPr dirty="0" sz="1200" spc="-5">
                <a:latin typeface="Arial"/>
                <a:cs typeface="Arial"/>
              </a:rPr>
              <a:t>the treasury </a:t>
            </a:r>
            <a:r>
              <a:rPr dirty="0" sz="1200">
                <a:latin typeface="Arial"/>
                <a:cs typeface="Arial"/>
              </a:rPr>
              <a:t>to </a:t>
            </a:r>
            <a:r>
              <a:rPr dirty="0" sz="1200" spc="-5">
                <a:latin typeface="Arial"/>
                <a:cs typeface="Arial"/>
              </a:rPr>
              <a:t>his successor.  He maintained religious discipline </a:t>
            </a:r>
            <a:r>
              <a:rPr dirty="0" sz="1200" spc="-10">
                <a:latin typeface="Arial"/>
                <a:cs typeface="Arial"/>
              </a:rPr>
              <a:t>in </a:t>
            </a:r>
            <a:r>
              <a:rPr dirty="0" sz="1200" spc="-5">
                <a:latin typeface="Arial"/>
                <a:cs typeface="Arial"/>
              </a:rPr>
              <a:t>his court and didn‘t allow repugnant practice outside  </a:t>
            </a:r>
            <a:r>
              <a:rPr dirty="0" sz="1200">
                <a:latin typeface="Arial"/>
                <a:cs typeface="Arial"/>
              </a:rPr>
              <a:t>Islam.</a:t>
            </a:r>
            <a:endParaRPr sz="1200">
              <a:latin typeface="Arial"/>
              <a:cs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975105"/>
            <a:ext cx="6312535" cy="8796020"/>
          </a:xfrm>
          <a:prstGeom prst="rect">
            <a:avLst/>
          </a:prstGeom>
        </p:spPr>
        <p:txBody>
          <a:bodyPr wrap="square" lIns="0" tIns="12700" rIns="0" bIns="0" rtlCol="0" vert="horz">
            <a:spAutoFit/>
          </a:bodyPr>
          <a:lstStyle/>
          <a:p>
            <a:pPr marL="469900" indent="-229235">
              <a:lnSpc>
                <a:spcPct val="100000"/>
              </a:lnSpc>
              <a:spcBef>
                <a:spcPts val="100"/>
              </a:spcBef>
              <a:buFont typeface="Wingdings"/>
              <a:buChar char=""/>
              <a:tabLst>
                <a:tab pos="470534" algn="l"/>
              </a:tabLst>
            </a:pPr>
            <a:r>
              <a:rPr dirty="0" u="heavy" sz="1200" spc="-5" b="1" i="1">
                <a:uFill>
                  <a:solidFill>
                    <a:srgbClr val="000000"/>
                  </a:solidFill>
                </a:uFill>
                <a:latin typeface="Arial"/>
                <a:cs typeface="Arial"/>
              </a:rPr>
              <a:t>al-Mahdi </a:t>
            </a:r>
            <a:r>
              <a:rPr dirty="0" u="heavy" sz="1200" b="1" i="1">
                <a:uFill>
                  <a:solidFill>
                    <a:srgbClr val="000000"/>
                  </a:solidFill>
                </a:uFill>
                <a:latin typeface="Arial"/>
                <a:cs typeface="Arial"/>
              </a:rPr>
              <a:t>(775 –</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785)</a:t>
            </a:r>
            <a:endParaRPr sz="1200">
              <a:latin typeface="Arial"/>
              <a:cs typeface="Arial"/>
            </a:endParaRPr>
          </a:p>
          <a:p>
            <a:pPr>
              <a:lnSpc>
                <a:spcPct val="100000"/>
              </a:lnSpc>
              <a:buFont typeface="Wingdings"/>
              <a:buChar char=""/>
            </a:pPr>
            <a:endParaRPr sz="1200">
              <a:latin typeface="Arial"/>
              <a:cs typeface="Arial"/>
            </a:endParaRPr>
          </a:p>
          <a:p>
            <a:pPr algn="just" marL="12700" marR="5080">
              <a:lnSpc>
                <a:spcPct val="95800"/>
              </a:lnSpc>
            </a:pPr>
            <a:r>
              <a:rPr dirty="0" sz="1200" spc="-5">
                <a:latin typeface="Arial"/>
                <a:cs typeface="Arial"/>
              </a:rPr>
              <a:t>He succeeded his father, </a:t>
            </a:r>
            <a:r>
              <a:rPr dirty="0" sz="1200" spc="-5">
                <a:latin typeface="Arial"/>
                <a:cs typeface="Arial"/>
                <a:hlinkClick r:id="rId2"/>
              </a:rPr>
              <a:t>al-Mansur</a:t>
            </a:r>
            <a:r>
              <a:rPr dirty="0" sz="1200" spc="-5">
                <a:latin typeface="Arial"/>
                <a:cs typeface="Arial"/>
              </a:rPr>
              <a:t>. Al-Mahdi, whose name means "Rightly-guided" or  "Redeemer," </a:t>
            </a:r>
            <a:r>
              <a:rPr dirty="0" sz="1200" spc="-10">
                <a:latin typeface="Arial"/>
                <a:cs typeface="Arial"/>
              </a:rPr>
              <a:t>was </a:t>
            </a:r>
            <a:r>
              <a:rPr dirty="0" sz="1200" spc="-5">
                <a:latin typeface="Arial"/>
                <a:cs typeface="Arial"/>
              </a:rPr>
              <a:t>proclaimed caliph when his </a:t>
            </a:r>
            <a:r>
              <a:rPr dirty="0" sz="1200">
                <a:latin typeface="Arial"/>
                <a:cs typeface="Arial"/>
              </a:rPr>
              <a:t>father </a:t>
            </a:r>
            <a:r>
              <a:rPr dirty="0" sz="1200" spc="-10">
                <a:latin typeface="Arial"/>
                <a:cs typeface="Arial"/>
              </a:rPr>
              <a:t>was </a:t>
            </a:r>
            <a:r>
              <a:rPr dirty="0" sz="1200" spc="-5">
                <a:latin typeface="Arial"/>
                <a:cs typeface="Arial"/>
              </a:rPr>
              <a:t>on his </a:t>
            </a:r>
            <a:r>
              <a:rPr dirty="0" sz="1200">
                <a:latin typeface="Arial"/>
                <a:cs typeface="Arial"/>
              </a:rPr>
              <a:t>deathbed. </a:t>
            </a:r>
            <a:r>
              <a:rPr dirty="0" sz="1200" spc="-10">
                <a:latin typeface="Arial"/>
                <a:cs typeface="Arial"/>
              </a:rPr>
              <a:t>He was </a:t>
            </a:r>
            <a:r>
              <a:rPr dirty="0" sz="1200" spc="-5">
                <a:latin typeface="Arial"/>
                <a:cs typeface="Arial"/>
              </a:rPr>
              <a:t>mild </a:t>
            </a:r>
            <a:r>
              <a:rPr dirty="0" sz="1200" spc="-10">
                <a:latin typeface="Arial"/>
                <a:cs typeface="Arial"/>
              </a:rPr>
              <a:t>and  </a:t>
            </a:r>
            <a:r>
              <a:rPr dirty="0" sz="1200" spc="-5">
                <a:latin typeface="Arial"/>
                <a:cs typeface="Arial"/>
              </a:rPr>
              <a:t>generous in contrast </a:t>
            </a:r>
            <a:r>
              <a:rPr dirty="0" sz="1200">
                <a:latin typeface="Arial"/>
                <a:cs typeface="Arial"/>
              </a:rPr>
              <a:t>to his father. </a:t>
            </a:r>
            <a:r>
              <a:rPr dirty="0" sz="1200" spc="-5">
                <a:latin typeface="Arial"/>
                <a:cs typeface="Arial"/>
              </a:rPr>
              <a:t>He tried to </a:t>
            </a:r>
            <a:r>
              <a:rPr dirty="0" sz="1200" spc="-10">
                <a:latin typeface="Arial"/>
                <a:cs typeface="Arial"/>
              </a:rPr>
              <a:t>win </a:t>
            </a:r>
            <a:r>
              <a:rPr dirty="0" sz="1200">
                <a:latin typeface="Arial"/>
                <a:cs typeface="Arial"/>
              </a:rPr>
              <a:t>the hearts </a:t>
            </a:r>
            <a:r>
              <a:rPr dirty="0" sz="1200" spc="-5">
                <a:latin typeface="Arial"/>
                <a:cs typeface="Arial"/>
              </a:rPr>
              <a:t>of people </a:t>
            </a:r>
            <a:r>
              <a:rPr dirty="0" sz="1200">
                <a:latin typeface="Arial"/>
                <a:cs typeface="Arial"/>
              </a:rPr>
              <a:t>by </a:t>
            </a:r>
            <a:r>
              <a:rPr dirty="0" sz="1200" spc="-5">
                <a:latin typeface="Arial"/>
                <a:cs typeface="Arial"/>
              </a:rPr>
              <a:t>kind </a:t>
            </a:r>
            <a:r>
              <a:rPr dirty="0" sz="1200">
                <a:latin typeface="Arial"/>
                <a:cs typeface="Arial"/>
              </a:rPr>
              <a:t>and </a:t>
            </a:r>
            <a:r>
              <a:rPr dirty="0" sz="1200" spc="-5">
                <a:latin typeface="Arial"/>
                <a:cs typeface="Arial"/>
              </a:rPr>
              <a:t>benevolent  policies. He adopted a conciliatory </a:t>
            </a:r>
            <a:r>
              <a:rPr dirty="0" sz="1200">
                <a:latin typeface="Arial"/>
                <a:cs typeface="Arial"/>
              </a:rPr>
              <a:t>attitude </a:t>
            </a:r>
            <a:r>
              <a:rPr dirty="0" sz="1200" spc="-5">
                <a:latin typeface="Arial"/>
                <a:cs typeface="Arial"/>
              </a:rPr>
              <a:t>towards his </a:t>
            </a:r>
            <a:r>
              <a:rPr dirty="0" sz="1200">
                <a:latin typeface="Arial"/>
                <a:cs typeface="Arial"/>
              </a:rPr>
              <a:t>opponents. </a:t>
            </a:r>
            <a:r>
              <a:rPr dirty="0" sz="1200" spc="-5">
                <a:latin typeface="Arial"/>
                <a:cs typeface="Arial"/>
              </a:rPr>
              <a:t>He made a  rapprochement with the </a:t>
            </a:r>
            <a:r>
              <a:rPr dirty="0" sz="1200" spc="-5">
                <a:latin typeface="Arial"/>
                <a:cs typeface="Arial"/>
                <a:hlinkClick r:id="rId3"/>
              </a:rPr>
              <a:t>Shi'a </a:t>
            </a:r>
            <a:r>
              <a:rPr dirty="0" sz="1200" spc="-5">
                <a:latin typeface="Arial"/>
                <a:cs typeface="Arial"/>
              </a:rPr>
              <a:t>Muslims in the Caliphate and Islamization of the administration.  He tried in reaching out </a:t>
            </a:r>
            <a:r>
              <a:rPr dirty="0" sz="1200">
                <a:latin typeface="Arial"/>
                <a:cs typeface="Arial"/>
              </a:rPr>
              <a:t>to </a:t>
            </a:r>
            <a:r>
              <a:rPr dirty="0" sz="1200" spc="-5">
                <a:latin typeface="Arial"/>
                <a:cs typeface="Arial"/>
              </a:rPr>
              <a:t>Shi'a and </a:t>
            </a:r>
            <a:r>
              <a:rPr dirty="0" sz="1200" spc="-10">
                <a:latin typeface="Arial"/>
                <a:cs typeface="Arial"/>
              </a:rPr>
              <a:t>he </a:t>
            </a:r>
            <a:r>
              <a:rPr dirty="0" sz="1200" spc="-5">
                <a:latin typeface="Arial"/>
                <a:cs typeface="Arial"/>
              </a:rPr>
              <a:t>appointed them </a:t>
            </a:r>
            <a:r>
              <a:rPr dirty="0" sz="1200">
                <a:latin typeface="Arial"/>
                <a:cs typeface="Arial"/>
              </a:rPr>
              <a:t>to </a:t>
            </a:r>
            <a:r>
              <a:rPr dirty="0" sz="1200" spc="-5">
                <a:latin typeface="Arial"/>
                <a:cs typeface="Arial"/>
              </a:rPr>
              <a:t>senior </a:t>
            </a:r>
            <a:r>
              <a:rPr dirty="0" sz="1200">
                <a:latin typeface="Arial"/>
                <a:cs typeface="Arial"/>
              </a:rPr>
              <a:t>posts. </a:t>
            </a:r>
            <a:r>
              <a:rPr dirty="0" sz="1200" spc="-5">
                <a:latin typeface="Arial"/>
                <a:cs typeface="Arial"/>
              </a:rPr>
              <a:t>The </a:t>
            </a:r>
            <a:r>
              <a:rPr dirty="0" sz="1200">
                <a:latin typeface="Arial"/>
                <a:cs typeface="Arial"/>
              </a:rPr>
              <a:t>city </a:t>
            </a:r>
            <a:r>
              <a:rPr dirty="0" sz="1200" spc="-5">
                <a:latin typeface="Arial"/>
                <a:cs typeface="Arial"/>
              </a:rPr>
              <a:t>attracted  immigrants from all of </a:t>
            </a:r>
            <a:r>
              <a:rPr dirty="0" sz="1200">
                <a:latin typeface="Arial"/>
                <a:cs typeface="Arial"/>
                <a:hlinkClick r:id="rId4"/>
              </a:rPr>
              <a:t>Arabia</a:t>
            </a:r>
            <a:r>
              <a:rPr dirty="0" sz="1200">
                <a:latin typeface="Arial"/>
                <a:cs typeface="Arial"/>
              </a:rPr>
              <a:t>, </a:t>
            </a:r>
            <a:r>
              <a:rPr dirty="0" sz="1200" spc="-5">
                <a:latin typeface="Arial"/>
                <a:cs typeface="Arial"/>
                <a:hlinkClick r:id="rId5"/>
              </a:rPr>
              <a:t>Iraq</a:t>
            </a:r>
            <a:r>
              <a:rPr dirty="0" sz="1200" spc="-5">
                <a:latin typeface="Arial"/>
                <a:cs typeface="Arial"/>
              </a:rPr>
              <a:t>, </a:t>
            </a:r>
            <a:r>
              <a:rPr dirty="0" sz="1200" spc="-5">
                <a:latin typeface="Arial"/>
                <a:cs typeface="Arial"/>
                <a:hlinkClick r:id="rId6"/>
              </a:rPr>
              <a:t>Syria</a:t>
            </a:r>
            <a:r>
              <a:rPr dirty="0" sz="1200" spc="-5">
                <a:latin typeface="Arial"/>
                <a:cs typeface="Arial"/>
              </a:rPr>
              <a:t>, </a:t>
            </a:r>
            <a:r>
              <a:rPr dirty="0" sz="1200" spc="-5">
                <a:latin typeface="Arial"/>
                <a:cs typeface="Arial"/>
                <a:hlinkClick r:id="rId7"/>
              </a:rPr>
              <a:t>Persia</a:t>
            </a:r>
            <a:r>
              <a:rPr dirty="0" sz="1200" spc="-5">
                <a:latin typeface="Arial"/>
                <a:cs typeface="Arial"/>
              </a:rPr>
              <a:t>, and lands as </a:t>
            </a:r>
            <a:r>
              <a:rPr dirty="0" sz="1200">
                <a:latin typeface="Arial"/>
                <a:cs typeface="Arial"/>
              </a:rPr>
              <a:t>far </a:t>
            </a:r>
            <a:r>
              <a:rPr dirty="0" sz="1200" spc="-5">
                <a:latin typeface="Arial"/>
                <a:cs typeface="Arial"/>
              </a:rPr>
              <a:t>away as </a:t>
            </a:r>
            <a:r>
              <a:rPr dirty="0" sz="1200">
                <a:latin typeface="Arial"/>
                <a:cs typeface="Arial"/>
                <a:hlinkClick r:id="rId8"/>
              </a:rPr>
              <a:t>India </a:t>
            </a:r>
            <a:r>
              <a:rPr dirty="0" sz="1200" spc="-5">
                <a:latin typeface="Arial"/>
                <a:cs typeface="Arial"/>
              </a:rPr>
              <a:t>and </a:t>
            </a:r>
            <a:r>
              <a:rPr dirty="0" sz="1200" spc="-10">
                <a:latin typeface="Arial"/>
                <a:cs typeface="Arial"/>
                <a:hlinkClick r:id="rId9"/>
              </a:rPr>
              <a:t>Spain</a:t>
            </a:r>
            <a:r>
              <a:rPr dirty="0" sz="1200" spc="-10">
                <a:latin typeface="Arial"/>
                <a:cs typeface="Arial"/>
              </a:rPr>
              <a:t>.  </a:t>
            </a:r>
            <a:r>
              <a:rPr dirty="0" sz="1200" spc="-5">
                <a:latin typeface="Arial"/>
                <a:cs typeface="Arial"/>
              </a:rPr>
              <a:t>He also engaged in </a:t>
            </a:r>
            <a:r>
              <a:rPr dirty="0" sz="1200" spc="-5">
                <a:latin typeface="Arial"/>
                <a:cs typeface="Arial"/>
                <a:hlinkClick r:id="rId10"/>
              </a:rPr>
              <a:t>dialogue</a:t>
            </a:r>
            <a:r>
              <a:rPr dirty="0" sz="1200" spc="-5">
                <a:latin typeface="Arial"/>
                <a:cs typeface="Arial"/>
              </a:rPr>
              <a:t> with </a:t>
            </a:r>
            <a:r>
              <a:rPr dirty="0" sz="1200">
                <a:latin typeface="Arial"/>
                <a:cs typeface="Arial"/>
              </a:rPr>
              <a:t>the </a:t>
            </a:r>
            <a:r>
              <a:rPr dirty="0" sz="1200" spc="-5">
                <a:latin typeface="Arial"/>
                <a:cs typeface="Arial"/>
              </a:rPr>
              <a:t>leader of the </a:t>
            </a:r>
            <a:r>
              <a:rPr dirty="0" sz="1200" spc="-5">
                <a:latin typeface="Arial"/>
                <a:cs typeface="Arial"/>
                <a:hlinkClick r:id="rId11"/>
              </a:rPr>
              <a:t>Nestorian</a:t>
            </a:r>
            <a:r>
              <a:rPr dirty="0" sz="1200" spc="-5">
                <a:latin typeface="Arial"/>
                <a:cs typeface="Arial"/>
              </a:rPr>
              <a:t> Church, an early </a:t>
            </a:r>
            <a:r>
              <a:rPr dirty="0" sz="1200">
                <a:latin typeface="Arial"/>
                <a:cs typeface="Arial"/>
              </a:rPr>
              <a:t>episode </a:t>
            </a:r>
            <a:r>
              <a:rPr dirty="0" sz="1200" spc="-5">
                <a:latin typeface="Arial"/>
                <a:cs typeface="Arial"/>
              </a:rPr>
              <a:t>in  Christian-Muslim </a:t>
            </a:r>
            <a:r>
              <a:rPr dirty="0" sz="1200">
                <a:latin typeface="Arial"/>
                <a:cs typeface="Arial"/>
              </a:rPr>
              <a:t>relations. It </a:t>
            </a:r>
            <a:r>
              <a:rPr dirty="0" sz="1200" spc="-10">
                <a:latin typeface="Arial"/>
                <a:cs typeface="Arial"/>
              </a:rPr>
              <a:t>was </a:t>
            </a:r>
            <a:r>
              <a:rPr dirty="0" sz="1200">
                <a:latin typeface="Arial"/>
                <a:cs typeface="Arial"/>
              </a:rPr>
              <a:t>the </a:t>
            </a:r>
            <a:r>
              <a:rPr dirty="0" sz="1200" spc="-5">
                <a:latin typeface="Arial"/>
                <a:cs typeface="Arial"/>
              </a:rPr>
              <a:t>period of prosperity, scholarly excellence and </a:t>
            </a:r>
            <a:r>
              <a:rPr dirty="0" sz="1200" spc="-5">
                <a:latin typeface="Arial"/>
                <a:cs typeface="Arial"/>
                <a:hlinkClick r:id="rId12"/>
              </a:rPr>
              <a:t>religious </a:t>
            </a:r>
            <a:r>
              <a:rPr dirty="0" sz="1200" spc="-5">
                <a:latin typeface="Arial"/>
                <a:cs typeface="Arial"/>
              </a:rPr>
              <a:t> </a:t>
            </a:r>
            <a:r>
              <a:rPr dirty="0" sz="1200" spc="-5">
                <a:latin typeface="Arial"/>
                <a:cs typeface="Arial"/>
                <a:hlinkClick r:id="rId12"/>
              </a:rPr>
              <a:t>freedom</a:t>
            </a:r>
            <a:r>
              <a:rPr dirty="0" sz="1200" spc="-5">
                <a:latin typeface="Arial"/>
                <a:cs typeface="Arial"/>
              </a:rPr>
              <a:t> although there were </a:t>
            </a:r>
            <a:r>
              <a:rPr dirty="0" sz="1200">
                <a:latin typeface="Arial"/>
                <a:cs typeface="Arial"/>
              </a:rPr>
              <a:t>persecutions. </a:t>
            </a:r>
            <a:r>
              <a:rPr dirty="0" sz="1200" spc="-5">
                <a:latin typeface="Arial"/>
                <a:cs typeface="Arial"/>
              </a:rPr>
              <a:t>He expanded the Abbasid administration,  creating new </a:t>
            </a:r>
            <a:r>
              <a:rPr dirty="0" sz="1200" i="1">
                <a:latin typeface="Arial"/>
                <a:cs typeface="Arial"/>
              </a:rPr>
              <a:t>divans, </a:t>
            </a:r>
            <a:r>
              <a:rPr dirty="0" sz="1200" spc="-5">
                <a:latin typeface="Arial"/>
                <a:cs typeface="Arial"/>
              </a:rPr>
              <a:t>or departments, </a:t>
            </a:r>
            <a:r>
              <a:rPr dirty="0" sz="1200">
                <a:latin typeface="Arial"/>
                <a:cs typeface="Arial"/>
              </a:rPr>
              <a:t>for the </a:t>
            </a:r>
            <a:r>
              <a:rPr dirty="0" sz="1200" spc="-5">
                <a:latin typeface="Arial"/>
                <a:cs typeface="Arial"/>
              </a:rPr>
              <a:t>army, </a:t>
            </a:r>
            <a:r>
              <a:rPr dirty="0" sz="1200">
                <a:latin typeface="Arial"/>
                <a:cs typeface="Arial"/>
              </a:rPr>
              <a:t>the chancery </a:t>
            </a:r>
            <a:r>
              <a:rPr dirty="0" sz="1200" spc="-5">
                <a:latin typeface="Arial"/>
                <a:cs typeface="Arial"/>
              </a:rPr>
              <a:t>and taxation. </a:t>
            </a:r>
            <a:r>
              <a:rPr dirty="0" sz="1200" spc="-10" i="1">
                <a:latin typeface="Arial"/>
                <a:cs typeface="Arial"/>
              </a:rPr>
              <a:t>Qazi </a:t>
            </a:r>
            <a:r>
              <a:rPr dirty="0" sz="1200" spc="-5">
                <a:latin typeface="Arial"/>
                <a:cs typeface="Arial"/>
              </a:rPr>
              <a:t>or judges  were appointed, and laws against </a:t>
            </a:r>
            <a:r>
              <a:rPr dirty="0" sz="1200">
                <a:latin typeface="Arial"/>
                <a:cs typeface="Arial"/>
              </a:rPr>
              <a:t>non-Arabs </a:t>
            </a:r>
            <a:r>
              <a:rPr dirty="0" sz="1200" spc="-5">
                <a:latin typeface="Arial"/>
                <a:cs typeface="Arial"/>
              </a:rPr>
              <a:t>put into place by </a:t>
            </a:r>
            <a:r>
              <a:rPr dirty="0" sz="1200">
                <a:latin typeface="Arial"/>
                <a:cs typeface="Arial"/>
              </a:rPr>
              <a:t>the </a:t>
            </a:r>
            <a:r>
              <a:rPr dirty="0" sz="1200" spc="-5">
                <a:latin typeface="Arial"/>
                <a:cs typeface="Arial"/>
                <a:hlinkClick r:id="rId13"/>
              </a:rPr>
              <a:t>Umayyad </a:t>
            </a:r>
            <a:r>
              <a:rPr dirty="0" sz="1200" spc="-5">
                <a:latin typeface="Arial"/>
                <a:cs typeface="Arial"/>
              </a:rPr>
              <a:t>were dropped.  </a:t>
            </a:r>
            <a:r>
              <a:rPr dirty="0" sz="1200" spc="-5">
                <a:latin typeface="Arial"/>
                <a:cs typeface="Arial"/>
                <a:hlinkClick r:id="rId14"/>
              </a:rPr>
              <a:t>Shari‘ah </a:t>
            </a:r>
            <a:r>
              <a:rPr dirty="0" sz="1200" spc="-5">
                <a:latin typeface="Arial"/>
                <a:cs typeface="Arial"/>
              </a:rPr>
              <a:t>began </a:t>
            </a:r>
            <a:r>
              <a:rPr dirty="0" sz="1200">
                <a:latin typeface="Arial"/>
                <a:cs typeface="Arial"/>
              </a:rPr>
              <a:t>to </a:t>
            </a:r>
            <a:r>
              <a:rPr dirty="0" sz="1200" spc="-5">
                <a:latin typeface="Arial"/>
                <a:cs typeface="Arial"/>
              </a:rPr>
              <a:t>develop, neglected under </a:t>
            </a:r>
            <a:r>
              <a:rPr dirty="0" sz="1200">
                <a:latin typeface="Arial"/>
                <a:cs typeface="Arial"/>
              </a:rPr>
              <a:t>the </a:t>
            </a:r>
            <a:r>
              <a:rPr dirty="0" sz="1200" spc="-10">
                <a:latin typeface="Arial"/>
                <a:cs typeface="Arial"/>
              </a:rPr>
              <a:t>Umayyad </a:t>
            </a:r>
            <a:r>
              <a:rPr dirty="0" sz="1200" spc="-5">
                <a:latin typeface="Arial"/>
                <a:cs typeface="Arial"/>
              </a:rPr>
              <a:t>as </a:t>
            </a:r>
            <a:r>
              <a:rPr dirty="0" sz="1200">
                <a:latin typeface="Arial"/>
                <a:cs typeface="Arial"/>
              </a:rPr>
              <a:t>part </a:t>
            </a:r>
            <a:r>
              <a:rPr dirty="0" sz="1200" spc="-5">
                <a:latin typeface="Arial"/>
                <a:cs typeface="Arial"/>
              </a:rPr>
              <a:t>of an Islamization process.  The Abbasids had swept </a:t>
            </a:r>
            <a:r>
              <a:rPr dirty="0" sz="1200">
                <a:latin typeface="Arial"/>
                <a:cs typeface="Arial"/>
              </a:rPr>
              <a:t>the </a:t>
            </a:r>
            <a:r>
              <a:rPr dirty="0" sz="1200" spc="-5">
                <a:latin typeface="Arial"/>
                <a:cs typeface="Arial"/>
              </a:rPr>
              <a:t>Umayyad from power promising </a:t>
            </a:r>
            <a:r>
              <a:rPr dirty="0" sz="1200">
                <a:latin typeface="Arial"/>
                <a:cs typeface="Arial"/>
              </a:rPr>
              <a:t>to restore Islam to </a:t>
            </a:r>
            <a:r>
              <a:rPr dirty="0" sz="1200" spc="-5">
                <a:latin typeface="Arial"/>
                <a:cs typeface="Arial"/>
              </a:rPr>
              <a:t>the centre of  </a:t>
            </a:r>
            <a:r>
              <a:rPr dirty="0" sz="1200">
                <a:latin typeface="Arial"/>
                <a:cs typeface="Arial"/>
              </a:rPr>
              <a:t>the </a:t>
            </a:r>
            <a:r>
              <a:rPr dirty="0" sz="1200" spc="-5">
                <a:latin typeface="Arial"/>
                <a:cs typeface="Arial"/>
              </a:rPr>
              <a:t>what, effectively, </a:t>
            </a:r>
            <a:r>
              <a:rPr dirty="0" sz="1200" spc="-10">
                <a:latin typeface="Arial"/>
                <a:cs typeface="Arial"/>
              </a:rPr>
              <a:t>was </a:t>
            </a:r>
            <a:r>
              <a:rPr dirty="0" sz="1200" spc="-5">
                <a:latin typeface="Arial"/>
                <a:cs typeface="Arial"/>
              </a:rPr>
              <a:t>an </a:t>
            </a:r>
            <a:r>
              <a:rPr dirty="0" sz="1200" spc="-5">
                <a:latin typeface="Arial"/>
                <a:cs typeface="Arial"/>
                <a:hlinkClick r:id="rId15"/>
              </a:rPr>
              <a:t>imperial </a:t>
            </a:r>
            <a:r>
              <a:rPr dirty="0" sz="1200" spc="-5">
                <a:latin typeface="Arial"/>
                <a:cs typeface="Arial"/>
              </a:rPr>
              <a:t>polity. </a:t>
            </a:r>
            <a:r>
              <a:rPr dirty="0" sz="1200">
                <a:latin typeface="Arial"/>
                <a:cs typeface="Arial"/>
              </a:rPr>
              <a:t>The </a:t>
            </a:r>
            <a:r>
              <a:rPr dirty="0" sz="1200" spc="-5">
                <a:latin typeface="Arial"/>
                <a:cs typeface="Arial"/>
              </a:rPr>
              <a:t>Umayyad had privileged Arabs over </a:t>
            </a:r>
            <a:r>
              <a:rPr dirty="0" sz="1200">
                <a:latin typeface="Arial"/>
                <a:cs typeface="Arial"/>
              </a:rPr>
              <a:t>non-  Arabs.</a:t>
            </a:r>
            <a:endParaRPr sz="1200">
              <a:latin typeface="Arial"/>
              <a:cs typeface="Arial"/>
            </a:endParaRPr>
          </a:p>
          <a:p>
            <a:pPr>
              <a:lnSpc>
                <a:spcPct val="100000"/>
              </a:lnSpc>
              <a:spcBef>
                <a:spcPts val="45"/>
              </a:spcBef>
            </a:pPr>
            <a:endParaRPr sz="1150">
              <a:latin typeface="Arial"/>
              <a:cs typeface="Arial"/>
            </a:endParaRPr>
          </a:p>
          <a:p>
            <a:pPr algn="just" marL="12700" marR="5080">
              <a:lnSpc>
                <a:spcPct val="95800"/>
              </a:lnSpc>
            </a:pPr>
            <a:r>
              <a:rPr dirty="0" sz="1200" spc="-5">
                <a:latin typeface="Arial"/>
                <a:cs typeface="Arial"/>
              </a:rPr>
              <a:t>Al-Mahdi had </a:t>
            </a:r>
            <a:r>
              <a:rPr dirty="0" sz="1200" spc="-10">
                <a:latin typeface="Arial"/>
                <a:cs typeface="Arial"/>
              </a:rPr>
              <a:t>two </a:t>
            </a:r>
            <a:r>
              <a:rPr dirty="0" sz="1200">
                <a:latin typeface="Arial"/>
                <a:cs typeface="Arial"/>
              </a:rPr>
              <a:t>important </a:t>
            </a:r>
            <a:r>
              <a:rPr dirty="0" sz="1200" spc="-5">
                <a:latin typeface="Arial"/>
                <a:cs typeface="Arial"/>
              </a:rPr>
              <a:t>religious policies: </a:t>
            </a:r>
            <a:r>
              <a:rPr dirty="0" sz="1200">
                <a:latin typeface="Arial"/>
                <a:cs typeface="Arial"/>
              </a:rPr>
              <a:t>the </a:t>
            </a:r>
            <a:r>
              <a:rPr dirty="0" sz="1200" spc="-5">
                <a:latin typeface="Arial"/>
                <a:cs typeface="Arial"/>
              </a:rPr>
              <a:t>persecution of the </a:t>
            </a:r>
            <a:r>
              <a:rPr dirty="0" sz="1200" spc="-5" i="1">
                <a:latin typeface="Arial"/>
                <a:cs typeface="Arial"/>
              </a:rPr>
              <a:t>zanadiqa </a:t>
            </a:r>
            <a:r>
              <a:rPr dirty="0" sz="1200" spc="-5">
                <a:latin typeface="Arial"/>
                <a:cs typeface="Arial"/>
              </a:rPr>
              <a:t>(atheists), </a:t>
            </a:r>
            <a:r>
              <a:rPr dirty="0" sz="1200" spc="-10">
                <a:latin typeface="Arial"/>
                <a:cs typeface="Arial"/>
              </a:rPr>
              <a:t>and  </a:t>
            </a:r>
            <a:r>
              <a:rPr dirty="0" sz="1200">
                <a:latin typeface="Arial"/>
                <a:cs typeface="Arial"/>
              </a:rPr>
              <a:t>the </a:t>
            </a:r>
            <a:r>
              <a:rPr dirty="0" sz="1200" spc="-5">
                <a:latin typeface="Arial"/>
                <a:cs typeface="Arial"/>
              </a:rPr>
              <a:t>declaration of orthodoxy. </a:t>
            </a:r>
            <a:r>
              <a:rPr dirty="0" sz="1200">
                <a:latin typeface="Arial"/>
                <a:cs typeface="Arial"/>
              </a:rPr>
              <a:t>The </a:t>
            </a:r>
            <a:r>
              <a:rPr dirty="0" sz="1200" spc="-10" i="1">
                <a:latin typeface="Arial"/>
                <a:cs typeface="Arial"/>
              </a:rPr>
              <a:t>zanadiqa </a:t>
            </a:r>
            <a:r>
              <a:rPr dirty="0" sz="1200" spc="-5">
                <a:latin typeface="Arial"/>
                <a:cs typeface="Arial"/>
              </a:rPr>
              <a:t>ridiculed the </a:t>
            </a:r>
            <a:r>
              <a:rPr dirty="0" sz="1200" spc="-5">
                <a:latin typeface="Arial"/>
                <a:cs typeface="Arial"/>
                <a:hlinkClick r:id="rId16"/>
              </a:rPr>
              <a:t>Qur'an</a:t>
            </a:r>
            <a:r>
              <a:rPr dirty="0" sz="1200" spc="-5">
                <a:latin typeface="Arial"/>
                <a:cs typeface="Arial"/>
              </a:rPr>
              <a:t>, </a:t>
            </a:r>
            <a:r>
              <a:rPr dirty="0" sz="1200" spc="-10">
                <a:latin typeface="Arial"/>
                <a:cs typeface="Arial"/>
              </a:rPr>
              <a:t>but </a:t>
            </a:r>
            <a:r>
              <a:rPr dirty="0" sz="1200" spc="-5">
                <a:latin typeface="Arial"/>
                <a:cs typeface="Arial"/>
              </a:rPr>
              <a:t>admired </a:t>
            </a:r>
            <a:r>
              <a:rPr dirty="0" sz="1200" spc="-5">
                <a:latin typeface="Arial"/>
                <a:cs typeface="Arial"/>
                <a:hlinkClick r:id="rId17"/>
              </a:rPr>
              <a:t>Muhammad </a:t>
            </a:r>
            <a:r>
              <a:rPr dirty="0" sz="1200" spc="-5">
                <a:latin typeface="Arial"/>
                <a:cs typeface="Arial"/>
              </a:rPr>
              <a:t>as  a human law-maker. </a:t>
            </a:r>
            <a:r>
              <a:rPr dirty="0" sz="1200">
                <a:latin typeface="Arial"/>
                <a:cs typeface="Arial"/>
              </a:rPr>
              <a:t>The </a:t>
            </a:r>
            <a:r>
              <a:rPr dirty="0" sz="1200" spc="-10" i="1">
                <a:latin typeface="Arial"/>
                <a:cs typeface="Arial"/>
              </a:rPr>
              <a:t>zanadiqa </a:t>
            </a:r>
            <a:r>
              <a:rPr dirty="0" sz="1200" spc="-5">
                <a:latin typeface="Arial"/>
                <a:cs typeface="Arial"/>
              </a:rPr>
              <a:t>were almost certainly followers of </a:t>
            </a:r>
            <a:r>
              <a:rPr dirty="0" sz="1200" spc="-5">
                <a:latin typeface="Arial"/>
                <a:cs typeface="Arial"/>
                <a:hlinkClick r:id="rId18"/>
              </a:rPr>
              <a:t>Mani</a:t>
            </a:r>
            <a:r>
              <a:rPr dirty="0" sz="1200" spc="-5">
                <a:latin typeface="Arial"/>
                <a:cs typeface="Arial"/>
              </a:rPr>
              <a:t>, or </a:t>
            </a:r>
            <a:r>
              <a:rPr dirty="0" sz="1200" spc="-5">
                <a:latin typeface="Arial"/>
                <a:cs typeface="Arial"/>
                <a:hlinkClick r:id="rId19"/>
              </a:rPr>
              <a:t>Manichaeans </a:t>
            </a:r>
            <a:r>
              <a:rPr dirty="0" sz="1200" spc="-5">
                <a:latin typeface="Arial"/>
                <a:cs typeface="Arial"/>
              </a:rPr>
              <a:t> (one of the Iranian Gnostic </a:t>
            </a:r>
            <a:r>
              <a:rPr dirty="0" sz="1200">
                <a:latin typeface="Arial"/>
                <a:cs typeface="Arial"/>
              </a:rPr>
              <a:t>religion). </a:t>
            </a:r>
            <a:r>
              <a:rPr dirty="0" sz="1200" spc="-5">
                <a:latin typeface="Arial"/>
                <a:cs typeface="Arial"/>
              </a:rPr>
              <a:t>Al-Mahdi singled out the persecution of </a:t>
            </a:r>
            <a:r>
              <a:rPr dirty="0" sz="1200">
                <a:latin typeface="Arial"/>
                <a:cs typeface="Arial"/>
              </a:rPr>
              <a:t>the </a:t>
            </a:r>
            <a:r>
              <a:rPr dirty="0" sz="1200" spc="-10" i="1">
                <a:latin typeface="Arial"/>
                <a:cs typeface="Arial"/>
              </a:rPr>
              <a:t>zanadiqa </a:t>
            </a:r>
            <a:r>
              <a:rPr dirty="0" sz="1200" spc="-10">
                <a:latin typeface="Arial"/>
                <a:cs typeface="Arial"/>
              </a:rPr>
              <a:t>in  </a:t>
            </a:r>
            <a:r>
              <a:rPr dirty="0" sz="1200" spc="-5">
                <a:latin typeface="Arial"/>
                <a:cs typeface="Arial"/>
              </a:rPr>
              <a:t>order </a:t>
            </a:r>
            <a:r>
              <a:rPr dirty="0" sz="1200">
                <a:latin typeface="Arial"/>
                <a:cs typeface="Arial"/>
              </a:rPr>
              <a:t>to </a:t>
            </a:r>
            <a:r>
              <a:rPr dirty="0" sz="1200" spc="-5">
                <a:latin typeface="Arial"/>
                <a:cs typeface="Arial"/>
              </a:rPr>
              <a:t>improve his standing among the Shi'i, whom he also presented with </a:t>
            </a:r>
            <a:r>
              <a:rPr dirty="0" sz="1200">
                <a:latin typeface="Arial"/>
                <a:cs typeface="Arial"/>
              </a:rPr>
              <a:t>gifts </a:t>
            </a:r>
            <a:r>
              <a:rPr dirty="0" sz="1200" spc="-5">
                <a:latin typeface="Arial"/>
                <a:cs typeface="Arial"/>
              </a:rPr>
              <a:t>and  appointed </a:t>
            </a:r>
            <a:r>
              <a:rPr dirty="0" sz="1200">
                <a:latin typeface="Arial"/>
                <a:cs typeface="Arial"/>
              </a:rPr>
              <a:t>to </a:t>
            </a:r>
            <a:r>
              <a:rPr dirty="0" sz="1200" spc="-5">
                <a:latin typeface="Arial"/>
                <a:cs typeface="Arial"/>
              </a:rPr>
              <a:t>posts, including </a:t>
            </a:r>
            <a:r>
              <a:rPr dirty="0" sz="1200">
                <a:latin typeface="Arial"/>
                <a:cs typeface="Arial"/>
              </a:rPr>
              <a:t>the </a:t>
            </a:r>
            <a:r>
              <a:rPr dirty="0" sz="1200" spc="-5">
                <a:latin typeface="Arial"/>
                <a:cs typeface="Arial"/>
              </a:rPr>
              <a:t>Viziership as well as </a:t>
            </a:r>
            <a:r>
              <a:rPr dirty="0" sz="1200">
                <a:latin typeface="Arial"/>
                <a:cs typeface="Arial"/>
              </a:rPr>
              <a:t>releasing political </a:t>
            </a:r>
            <a:r>
              <a:rPr dirty="0" sz="1200" spc="-5">
                <a:latin typeface="Arial"/>
                <a:cs typeface="Arial"/>
              </a:rPr>
              <a:t>prisoners. He </a:t>
            </a:r>
            <a:r>
              <a:rPr dirty="0" sz="1200" spc="-10">
                <a:latin typeface="Arial"/>
                <a:cs typeface="Arial"/>
              </a:rPr>
              <a:t>was  </a:t>
            </a:r>
            <a:r>
              <a:rPr dirty="0" sz="1200" spc="-5">
                <a:latin typeface="Arial"/>
                <a:cs typeface="Arial"/>
              </a:rPr>
              <a:t>able to </a:t>
            </a:r>
            <a:r>
              <a:rPr dirty="0" sz="1200" spc="-10">
                <a:latin typeface="Arial"/>
                <a:cs typeface="Arial"/>
              </a:rPr>
              <a:t>use </a:t>
            </a:r>
            <a:r>
              <a:rPr dirty="0" sz="1200" spc="-5">
                <a:latin typeface="Arial"/>
                <a:cs typeface="Arial"/>
              </a:rPr>
              <a:t>the considerable financial legacy </a:t>
            </a:r>
            <a:r>
              <a:rPr dirty="0" sz="1200">
                <a:latin typeface="Arial"/>
                <a:cs typeface="Arial"/>
              </a:rPr>
              <a:t>left </a:t>
            </a:r>
            <a:r>
              <a:rPr dirty="0" sz="1200" spc="-5">
                <a:latin typeface="Arial"/>
                <a:cs typeface="Arial"/>
              </a:rPr>
              <a:t>by his father. Scholarship flourished,  including </a:t>
            </a:r>
            <a:r>
              <a:rPr dirty="0" sz="1200">
                <a:latin typeface="Arial"/>
                <a:cs typeface="Arial"/>
              </a:rPr>
              <a:t>the </a:t>
            </a:r>
            <a:r>
              <a:rPr dirty="0" sz="1200" spc="-5">
                <a:latin typeface="Arial"/>
                <a:cs typeface="Arial"/>
              </a:rPr>
              <a:t>translation of Greek </a:t>
            </a:r>
            <a:r>
              <a:rPr dirty="0" sz="1200" spc="-5">
                <a:latin typeface="Arial"/>
                <a:cs typeface="Arial"/>
                <a:hlinkClick r:id="rId20"/>
              </a:rPr>
              <a:t>philosophical</a:t>
            </a:r>
            <a:r>
              <a:rPr dirty="0" sz="1200" spc="-5">
                <a:latin typeface="Arial"/>
                <a:cs typeface="Arial"/>
              </a:rPr>
              <a:t> works into Arabic. Al-Mahdi "enlarged and  beautified the Mosques of the Holy Cities, and of the </a:t>
            </a:r>
            <a:r>
              <a:rPr dirty="0" sz="1200">
                <a:latin typeface="Arial"/>
                <a:cs typeface="Arial"/>
              </a:rPr>
              <a:t>capital </a:t>
            </a:r>
            <a:r>
              <a:rPr dirty="0" sz="1200" spc="-10">
                <a:latin typeface="Arial"/>
                <a:cs typeface="Arial"/>
              </a:rPr>
              <a:t>towns </a:t>
            </a:r>
            <a:r>
              <a:rPr dirty="0" sz="1200" spc="-5">
                <a:latin typeface="Arial"/>
                <a:cs typeface="Arial"/>
              </a:rPr>
              <a:t>elsewhere. Al-Mahdi also  began the practice of withdrawing into isolation, to emphasize </a:t>
            </a:r>
            <a:r>
              <a:rPr dirty="0" sz="1200">
                <a:latin typeface="Arial"/>
                <a:cs typeface="Arial"/>
              </a:rPr>
              <a:t>the sanctity </a:t>
            </a:r>
            <a:r>
              <a:rPr dirty="0" sz="1200" spc="-5">
                <a:latin typeface="Arial"/>
                <a:cs typeface="Arial"/>
              </a:rPr>
              <a:t>of the </a:t>
            </a:r>
            <a:r>
              <a:rPr dirty="0" sz="1200">
                <a:latin typeface="Arial"/>
                <a:cs typeface="Arial"/>
              </a:rPr>
              <a:t>office </a:t>
            </a:r>
            <a:r>
              <a:rPr dirty="0" sz="1200" spc="-5">
                <a:latin typeface="Arial"/>
                <a:cs typeface="Arial"/>
              </a:rPr>
              <a:t>of  caliph. He therefore depended heavily on his </a:t>
            </a:r>
            <a:r>
              <a:rPr dirty="0" sz="1200">
                <a:latin typeface="Arial"/>
                <a:cs typeface="Arial"/>
              </a:rPr>
              <a:t>Vizier. </a:t>
            </a:r>
            <a:r>
              <a:rPr dirty="0" sz="1200" spc="-5">
                <a:latin typeface="Arial"/>
                <a:cs typeface="Arial"/>
              </a:rPr>
              <a:t>Ultimately, </a:t>
            </a:r>
            <a:r>
              <a:rPr dirty="0" sz="1200">
                <a:latin typeface="Arial"/>
                <a:cs typeface="Arial"/>
              </a:rPr>
              <a:t>this led to </a:t>
            </a:r>
            <a:r>
              <a:rPr dirty="0" sz="1200" spc="-5">
                <a:latin typeface="Arial"/>
                <a:cs typeface="Arial"/>
              </a:rPr>
              <a:t>a weakening </a:t>
            </a:r>
            <a:r>
              <a:rPr dirty="0" sz="1200">
                <a:latin typeface="Arial"/>
                <a:cs typeface="Arial"/>
              </a:rPr>
              <a:t>of </a:t>
            </a:r>
            <a:r>
              <a:rPr dirty="0" sz="1200" spc="-10">
                <a:latin typeface="Arial"/>
                <a:cs typeface="Arial"/>
              </a:rPr>
              <a:t>the  </a:t>
            </a:r>
            <a:r>
              <a:rPr dirty="0" sz="1200" spc="-5">
                <a:latin typeface="Arial"/>
                <a:cs typeface="Arial"/>
              </a:rPr>
              <a:t>temporal power of the caliphate, although </a:t>
            </a:r>
            <a:r>
              <a:rPr dirty="0" sz="1200">
                <a:latin typeface="Arial"/>
                <a:cs typeface="Arial"/>
              </a:rPr>
              <a:t>it may </a:t>
            </a:r>
            <a:r>
              <a:rPr dirty="0" sz="1200" spc="-5">
                <a:latin typeface="Arial"/>
                <a:cs typeface="Arial"/>
              </a:rPr>
              <a:t>have enhanced the caliph's spiritual status.  Al-Mahdi continued the </a:t>
            </a:r>
            <a:r>
              <a:rPr dirty="0" sz="1200" spc="-10">
                <a:latin typeface="Arial"/>
                <a:cs typeface="Arial"/>
              </a:rPr>
              <a:t>war </a:t>
            </a:r>
            <a:r>
              <a:rPr dirty="0" sz="1200" spc="-5">
                <a:latin typeface="Arial"/>
                <a:cs typeface="Arial"/>
              </a:rPr>
              <a:t>with </a:t>
            </a:r>
            <a:r>
              <a:rPr dirty="0" sz="1200">
                <a:latin typeface="Arial"/>
                <a:cs typeface="Arial"/>
              </a:rPr>
              <a:t>the </a:t>
            </a:r>
            <a:r>
              <a:rPr dirty="0" sz="1200" spc="-5">
                <a:latin typeface="Arial"/>
                <a:cs typeface="Arial"/>
                <a:hlinkClick r:id="rId21"/>
              </a:rPr>
              <a:t>Byzantine Empire</a:t>
            </a:r>
            <a:r>
              <a:rPr dirty="0" sz="1200" spc="-5">
                <a:latin typeface="Arial"/>
                <a:cs typeface="Arial"/>
              </a:rPr>
              <a:t> throughout his reign, extending the  caliphate as </a:t>
            </a:r>
            <a:r>
              <a:rPr dirty="0" sz="1200">
                <a:latin typeface="Arial"/>
                <a:cs typeface="Arial"/>
              </a:rPr>
              <a:t>far </a:t>
            </a:r>
            <a:r>
              <a:rPr dirty="0" sz="1200" spc="-5">
                <a:latin typeface="Arial"/>
                <a:cs typeface="Arial"/>
              </a:rPr>
              <a:t>as </a:t>
            </a:r>
            <a:r>
              <a:rPr dirty="0" sz="1200" spc="-5">
                <a:latin typeface="Arial"/>
                <a:cs typeface="Arial"/>
                <a:hlinkClick r:id="rId22"/>
              </a:rPr>
              <a:t>Ankara </a:t>
            </a:r>
            <a:r>
              <a:rPr dirty="0" sz="1200" spc="-5">
                <a:latin typeface="Arial"/>
                <a:cs typeface="Arial"/>
              </a:rPr>
              <a:t>(capital of Turkey). </a:t>
            </a:r>
            <a:r>
              <a:rPr dirty="0" sz="1200">
                <a:latin typeface="Arial"/>
                <a:cs typeface="Arial"/>
              </a:rPr>
              <a:t>It </a:t>
            </a:r>
            <a:r>
              <a:rPr dirty="0" sz="1200" spc="-10">
                <a:latin typeface="Arial"/>
                <a:cs typeface="Arial"/>
              </a:rPr>
              <a:t>was </a:t>
            </a:r>
            <a:r>
              <a:rPr dirty="0" sz="1200" spc="-5">
                <a:latin typeface="Arial"/>
                <a:cs typeface="Arial"/>
              </a:rPr>
              <a:t>a prosperous period marked by internal  stability and peace although territorial expansion </a:t>
            </a:r>
            <a:r>
              <a:rPr dirty="0" sz="1200">
                <a:latin typeface="Arial"/>
                <a:cs typeface="Arial"/>
              </a:rPr>
              <a:t>continued. </a:t>
            </a:r>
            <a:r>
              <a:rPr dirty="0" sz="1200" spc="-5">
                <a:latin typeface="Arial"/>
                <a:cs typeface="Arial"/>
              </a:rPr>
              <a:t>Al-Mahdi dealt severely with  what he saw as heresy. He tried </a:t>
            </a:r>
            <a:r>
              <a:rPr dirty="0" sz="1200">
                <a:latin typeface="Arial"/>
                <a:cs typeface="Arial"/>
              </a:rPr>
              <a:t>to build </a:t>
            </a:r>
            <a:r>
              <a:rPr dirty="0" sz="1200" spc="-5">
                <a:latin typeface="Arial"/>
                <a:cs typeface="Arial"/>
              </a:rPr>
              <a:t>bridges with Shi'a Muslims and </a:t>
            </a:r>
            <a:r>
              <a:rPr dirty="0" sz="1200" spc="-10">
                <a:latin typeface="Arial"/>
                <a:cs typeface="Arial"/>
              </a:rPr>
              <a:t>was </a:t>
            </a:r>
            <a:r>
              <a:rPr dirty="0" sz="1200" spc="-5">
                <a:latin typeface="Arial"/>
                <a:cs typeface="Arial"/>
              </a:rPr>
              <a:t>tolerant </a:t>
            </a:r>
            <a:r>
              <a:rPr dirty="0" sz="1200" spc="-10">
                <a:latin typeface="Arial"/>
                <a:cs typeface="Arial"/>
              </a:rPr>
              <a:t>and  </a:t>
            </a:r>
            <a:r>
              <a:rPr dirty="0" sz="1200" spc="-5">
                <a:latin typeface="Arial"/>
                <a:cs typeface="Arial"/>
              </a:rPr>
              <a:t>even magnanimous </a:t>
            </a:r>
            <a:r>
              <a:rPr dirty="0" sz="1200" spc="-10">
                <a:latin typeface="Arial"/>
                <a:cs typeface="Arial"/>
              </a:rPr>
              <a:t>in </a:t>
            </a:r>
            <a:r>
              <a:rPr dirty="0" sz="1200" spc="-5">
                <a:latin typeface="Arial"/>
                <a:cs typeface="Arial"/>
              </a:rPr>
              <a:t>his dealings with the "people of </a:t>
            </a:r>
            <a:r>
              <a:rPr dirty="0" sz="1200">
                <a:latin typeface="Arial"/>
                <a:cs typeface="Arial"/>
              </a:rPr>
              <a:t>the</a:t>
            </a:r>
            <a:r>
              <a:rPr dirty="0" sz="1200" spc="25">
                <a:latin typeface="Arial"/>
                <a:cs typeface="Arial"/>
              </a:rPr>
              <a:t> </a:t>
            </a:r>
            <a:r>
              <a:rPr dirty="0" sz="1200" spc="-5">
                <a:latin typeface="Arial"/>
                <a:cs typeface="Arial"/>
              </a:rPr>
              <a:t>book".</a:t>
            </a:r>
            <a:endParaRPr sz="1200">
              <a:latin typeface="Arial"/>
              <a:cs typeface="Arial"/>
            </a:endParaRPr>
          </a:p>
          <a:p>
            <a:pPr>
              <a:lnSpc>
                <a:spcPct val="100000"/>
              </a:lnSpc>
            </a:pPr>
            <a:endParaRPr sz="1150">
              <a:latin typeface="Arial"/>
              <a:cs typeface="Arial"/>
            </a:endParaRPr>
          </a:p>
          <a:p>
            <a:pPr marL="469900" indent="-229235">
              <a:lnSpc>
                <a:spcPct val="100000"/>
              </a:lnSpc>
              <a:buFont typeface="Wingdings"/>
              <a:buChar char=""/>
              <a:tabLst>
                <a:tab pos="470534" algn="l"/>
              </a:tabLst>
            </a:pPr>
            <a:r>
              <a:rPr dirty="0" u="heavy" sz="1200" spc="-5" b="1" i="1">
                <a:uFill>
                  <a:solidFill>
                    <a:srgbClr val="000000"/>
                  </a:solidFill>
                </a:uFill>
                <a:latin typeface="Arial"/>
                <a:cs typeface="Arial"/>
              </a:rPr>
              <a:t>Harun Ar-Rashid </a:t>
            </a:r>
            <a:r>
              <a:rPr dirty="0" u="heavy" sz="1200" b="1" i="1">
                <a:uFill>
                  <a:solidFill>
                    <a:srgbClr val="000000"/>
                  </a:solidFill>
                </a:uFill>
                <a:latin typeface="Arial"/>
                <a:cs typeface="Arial"/>
              </a:rPr>
              <a:t>(786 – </a:t>
            </a:r>
            <a:r>
              <a:rPr dirty="0" u="heavy" sz="1200" spc="-5" b="1" i="1">
                <a:uFill>
                  <a:solidFill>
                    <a:srgbClr val="000000"/>
                  </a:solidFill>
                </a:uFill>
                <a:latin typeface="Arial"/>
                <a:cs typeface="Arial"/>
              </a:rPr>
              <a:t>809)</a:t>
            </a:r>
            <a:endParaRPr sz="1200">
              <a:latin typeface="Arial"/>
              <a:cs typeface="Arial"/>
            </a:endParaRPr>
          </a:p>
          <a:p>
            <a:pPr>
              <a:lnSpc>
                <a:spcPct val="100000"/>
              </a:lnSpc>
              <a:spcBef>
                <a:spcPts val="35"/>
              </a:spcBef>
            </a:pPr>
            <a:endParaRPr sz="1200">
              <a:latin typeface="Arial"/>
              <a:cs typeface="Arial"/>
            </a:endParaRPr>
          </a:p>
          <a:p>
            <a:pPr algn="just" marL="12700" marR="6350">
              <a:lnSpc>
                <a:spcPts val="1380"/>
              </a:lnSpc>
            </a:pPr>
            <a:r>
              <a:rPr dirty="0" sz="1200" spc="-5">
                <a:latin typeface="Arial"/>
                <a:cs typeface="Arial"/>
              </a:rPr>
              <a:t>He </a:t>
            </a:r>
            <a:r>
              <a:rPr dirty="0" sz="1200" spc="-10">
                <a:latin typeface="Arial"/>
                <a:cs typeface="Arial"/>
              </a:rPr>
              <a:t>was </a:t>
            </a:r>
            <a:r>
              <a:rPr dirty="0" sz="1200">
                <a:latin typeface="Arial"/>
                <a:cs typeface="Arial"/>
              </a:rPr>
              <a:t>the </a:t>
            </a:r>
            <a:r>
              <a:rPr dirty="0" sz="1200" spc="-5">
                <a:latin typeface="Arial"/>
                <a:cs typeface="Arial"/>
              </a:rPr>
              <a:t>brother of Musa (surnamed as </a:t>
            </a:r>
            <a:r>
              <a:rPr dirty="0" sz="1200">
                <a:latin typeface="Arial"/>
                <a:cs typeface="Arial"/>
              </a:rPr>
              <a:t>Hade) </a:t>
            </a:r>
            <a:r>
              <a:rPr dirty="0" sz="1200" spc="-5">
                <a:latin typeface="Arial"/>
                <a:cs typeface="Arial"/>
              </a:rPr>
              <a:t>being </a:t>
            </a:r>
            <a:r>
              <a:rPr dirty="0" sz="1200">
                <a:latin typeface="Arial"/>
                <a:cs typeface="Arial"/>
              </a:rPr>
              <a:t>the </a:t>
            </a:r>
            <a:r>
              <a:rPr dirty="0" sz="1200" spc="-10">
                <a:latin typeface="Arial"/>
                <a:cs typeface="Arial"/>
              </a:rPr>
              <a:t>son </a:t>
            </a:r>
            <a:r>
              <a:rPr dirty="0" sz="1200" spc="-5">
                <a:latin typeface="Arial"/>
                <a:cs typeface="Arial"/>
              </a:rPr>
              <a:t>of al Mahdi. </a:t>
            </a:r>
            <a:r>
              <a:rPr dirty="0" sz="1200" spc="5">
                <a:latin typeface="Arial"/>
                <a:cs typeface="Arial"/>
              </a:rPr>
              <a:t>His </a:t>
            </a:r>
            <a:r>
              <a:rPr dirty="0" sz="1200">
                <a:latin typeface="Arial"/>
                <a:cs typeface="Arial"/>
              </a:rPr>
              <a:t>time </a:t>
            </a:r>
            <a:r>
              <a:rPr dirty="0" sz="1200" spc="-10">
                <a:latin typeface="Arial"/>
                <a:cs typeface="Arial"/>
              </a:rPr>
              <a:t>was  </a:t>
            </a:r>
            <a:r>
              <a:rPr dirty="0" sz="1200" spc="-5">
                <a:latin typeface="Arial"/>
                <a:cs typeface="Arial"/>
              </a:rPr>
              <a:t>marked by </a:t>
            </a:r>
            <a:r>
              <a:rPr dirty="0" sz="1200">
                <a:latin typeface="Arial"/>
                <a:cs typeface="Arial"/>
                <a:hlinkClick r:id="rId23"/>
              </a:rPr>
              <a:t>scientific</a:t>
            </a:r>
            <a:r>
              <a:rPr dirty="0" sz="1200">
                <a:latin typeface="Arial"/>
                <a:cs typeface="Arial"/>
              </a:rPr>
              <a:t>, </a:t>
            </a:r>
            <a:r>
              <a:rPr dirty="0" sz="1200" spc="-5">
                <a:latin typeface="Arial"/>
                <a:cs typeface="Arial"/>
                <a:hlinkClick r:id="rId24"/>
              </a:rPr>
              <a:t>cultural</a:t>
            </a:r>
            <a:r>
              <a:rPr dirty="0" sz="1200" spc="-5">
                <a:latin typeface="Arial"/>
                <a:cs typeface="Arial"/>
              </a:rPr>
              <a:t> and </a:t>
            </a:r>
            <a:r>
              <a:rPr dirty="0" sz="1200" spc="-5">
                <a:latin typeface="Arial"/>
                <a:cs typeface="Arial"/>
                <a:hlinkClick r:id="rId25"/>
              </a:rPr>
              <a:t>religious</a:t>
            </a:r>
            <a:r>
              <a:rPr dirty="0" sz="1200" spc="-5">
                <a:latin typeface="Arial"/>
                <a:cs typeface="Arial"/>
              </a:rPr>
              <a:t> prosperity. </a:t>
            </a:r>
            <a:r>
              <a:rPr dirty="0" sz="1200">
                <a:latin typeface="Arial"/>
                <a:cs typeface="Arial"/>
                <a:hlinkClick r:id="rId26"/>
              </a:rPr>
              <a:t>Art</a:t>
            </a:r>
            <a:r>
              <a:rPr dirty="0" sz="1200">
                <a:latin typeface="Arial"/>
                <a:cs typeface="Arial"/>
              </a:rPr>
              <a:t> </a:t>
            </a:r>
            <a:r>
              <a:rPr dirty="0" sz="1200" spc="-5">
                <a:latin typeface="Arial"/>
                <a:cs typeface="Arial"/>
              </a:rPr>
              <a:t>and </a:t>
            </a:r>
            <a:r>
              <a:rPr dirty="0" sz="1200">
                <a:latin typeface="Arial"/>
                <a:cs typeface="Arial"/>
                <a:hlinkClick r:id="rId27"/>
              </a:rPr>
              <a:t>music</a:t>
            </a:r>
            <a:r>
              <a:rPr dirty="0" sz="1200">
                <a:latin typeface="Arial"/>
                <a:cs typeface="Arial"/>
              </a:rPr>
              <a:t> </a:t>
            </a:r>
            <a:r>
              <a:rPr dirty="0" sz="1200" spc="-5">
                <a:latin typeface="Arial"/>
                <a:cs typeface="Arial"/>
              </a:rPr>
              <a:t>also flourished  </a:t>
            </a:r>
            <a:r>
              <a:rPr dirty="0" sz="1200">
                <a:latin typeface="Arial"/>
                <a:cs typeface="Arial"/>
              </a:rPr>
              <a:t>significantly </a:t>
            </a:r>
            <a:r>
              <a:rPr dirty="0" sz="1200" spc="-5">
                <a:latin typeface="Arial"/>
                <a:cs typeface="Arial"/>
              </a:rPr>
              <a:t>during his reign. He established </a:t>
            </a:r>
            <a:r>
              <a:rPr dirty="0" sz="1200">
                <a:latin typeface="Arial"/>
                <a:cs typeface="Arial"/>
              </a:rPr>
              <a:t>the </a:t>
            </a:r>
            <a:r>
              <a:rPr dirty="0" sz="1200" spc="-5">
                <a:latin typeface="Arial"/>
                <a:cs typeface="Arial"/>
              </a:rPr>
              <a:t>library </a:t>
            </a:r>
            <a:r>
              <a:rPr dirty="0" sz="1200">
                <a:latin typeface="Arial"/>
                <a:cs typeface="Arial"/>
                <a:hlinkClick r:id="rId28"/>
              </a:rPr>
              <a:t>Bait </a:t>
            </a:r>
            <a:r>
              <a:rPr dirty="0" sz="1200" spc="-5">
                <a:latin typeface="Arial"/>
                <a:cs typeface="Arial"/>
                <a:hlinkClick r:id="rId28"/>
              </a:rPr>
              <a:t>al-</a:t>
            </a:r>
            <a:r>
              <a:rPr dirty="0" sz="1200" spc="-5">
                <a:latin typeface="Arial"/>
                <a:cs typeface="Arial"/>
                <a:hlinkClick r:id="rId28"/>
              </a:rPr>
              <a:t>Hikma </a:t>
            </a:r>
            <a:r>
              <a:rPr dirty="0" sz="1200" spc="-5">
                <a:latin typeface="Arial"/>
                <a:cs typeface="Arial"/>
              </a:rPr>
              <a:t>("House of Wisdom").  </a:t>
            </a:r>
            <a:r>
              <a:rPr dirty="0" sz="1200">
                <a:latin typeface="Arial"/>
                <a:cs typeface="Arial"/>
              </a:rPr>
              <a:t>Islamic </a:t>
            </a:r>
            <a:r>
              <a:rPr dirty="0" sz="1200" spc="-5">
                <a:latin typeface="Arial"/>
                <a:cs typeface="Arial"/>
              </a:rPr>
              <a:t>literature (the work </a:t>
            </a:r>
            <a:r>
              <a:rPr dirty="0" sz="1200">
                <a:latin typeface="Arial"/>
                <a:cs typeface="Arial"/>
              </a:rPr>
              <a:t>of </a:t>
            </a:r>
            <a:r>
              <a:rPr dirty="0" sz="1200" spc="-5">
                <a:latin typeface="Arial"/>
                <a:cs typeface="Arial"/>
                <a:hlinkClick r:id="rId29"/>
              </a:rPr>
              <a:t>ibn </a:t>
            </a:r>
            <a:r>
              <a:rPr dirty="0" sz="1200" spc="-5">
                <a:latin typeface="Arial"/>
                <a:cs typeface="Arial"/>
                <a:hlinkClick r:id="rId29"/>
              </a:rPr>
              <a:t>Kathir</a:t>
            </a:r>
            <a:r>
              <a:rPr dirty="0" sz="1200" spc="-5">
                <a:latin typeface="Arial"/>
                <a:cs typeface="Arial"/>
              </a:rPr>
              <a:t>, </a:t>
            </a:r>
            <a:r>
              <a:rPr dirty="0" sz="1200">
                <a:latin typeface="Arial"/>
                <a:cs typeface="Arial"/>
              </a:rPr>
              <a:t>for </a:t>
            </a:r>
            <a:r>
              <a:rPr dirty="0" sz="1200" spc="-5">
                <a:latin typeface="Arial"/>
                <a:cs typeface="Arial"/>
              </a:rPr>
              <a:t>example) has raised him </a:t>
            </a:r>
            <a:r>
              <a:rPr dirty="0" sz="1200">
                <a:latin typeface="Arial"/>
                <a:cs typeface="Arial"/>
              </a:rPr>
              <a:t>to </a:t>
            </a:r>
            <a:r>
              <a:rPr dirty="0" sz="1200" spc="-5">
                <a:latin typeface="Arial"/>
                <a:cs typeface="Arial"/>
              </a:rPr>
              <a:t>the level of an ideal  </a:t>
            </a:r>
            <a:r>
              <a:rPr dirty="0" sz="1200">
                <a:latin typeface="Arial"/>
                <a:cs typeface="Arial"/>
              </a:rPr>
              <a:t>figure, </a:t>
            </a:r>
            <a:r>
              <a:rPr dirty="0" sz="1200" spc="-5">
                <a:latin typeface="Arial"/>
                <a:cs typeface="Arial"/>
              </a:rPr>
              <a:t>a great military and intellectual leader, even a paragon </a:t>
            </a:r>
            <a:r>
              <a:rPr dirty="0" sz="1200" spc="5">
                <a:latin typeface="Arial"/>
                <a:cs typeface="Arial"/>
              </a:rPr>
              <a:t>for </a:t>
            </a:r>
            <a:r>
              <a:rPr dirty="0" sz="1200">
                <a:latin typeface="Arial"/>
                <a:cs typeface="Arial"/>
              </a:rPr>
              <a:t>future </a:t>
            </a:r>
            <a:r>
              <a:rPr dirty="0" sz="1200" spc="-5">
                <a:latin typeface="Arial"/>
                <a:cs typeface="Arial"/>
              </a:rPr>
              <a:t>rulers </a:t>
            </a:r>
            <a:r>
              <a:rPr dirty="0" sz="1200">
                <a:latin typeface="Arial"/>
                <a:cs typeface="Arial"/>
              </a:rPr>
              <a:t>to </a:t>
            </a:r>
            <a:r>
              <a:rPr dirty="0" sz="1200" spc="-5">
                <a:latin typeface="Arial"/>
                <a:cs typeface="Arial"/>
              </a:rPr>
              <a:t>emulate. His  best-known portrayal </a:t>
            </a:r>
            <a:r>
              <a:rPr dirty="0" sz="1200">
                <a:latin typeface="Arial"/>
                <a:cs typeface="Arial"/>
              </a:rPr>
              <a:t>in </a:t>
            </a:r>
            <a:r>
              <a:rPr dirty="0" sz="1200" spc="-5">
                <a:latin typeface="Arial"/>
                <a:cs typeface="Arial"/>
              </a:rPr>
              <a:t>the </a:t>
            </a:r>
            <a:r>
              <a:rPr dirty="0" sz="1200" spc="5">
                <a:latin typeface="Arial"/>
                <a:cs typeface="Arial"/>
              </a:rPr>
              <a:t>West, </a:t>
            </a:r>
            <a:r>
              <a:rPr dirty="0" sz="1200" spc="-5">
                <a:latin typeface="Arial"/>
                <a:cs typeface="Arial"/>
              </a:rPr>
              <a:t>in the stories of </a:t>
            </a:r>
            <a:r>
              <a:rPr dirty="0" sz="1200">
                <a:latin typeface="Arial"/>
                <a:cs typeface="Arial"/>
              </a:rPr>
              <a:t>the </a:t>
            </a:r>
            <a:r>
              <a:rPr dirty="0" sz="1200" spc="-5">
                <a:latin typeface="Arial"/>
                <a:cs typeface="Arial"/>
                <a:hlinkClick r:id="rId30"/>
              </a:rPr>
              <a:t>Thousand and One Nights</a:t>
            </a:r>
            <a:r>
              <a:rPr dirty="0" sz="1200" spc="-5">
                <a:latin typeface="Arial"/>
                <a:cs typeface="Arial"/>
              </a:rPr>
              <a:t>, has little  basis in historical </a:t>
            </a:r>
            <a:r>
              <a:rPr dirty="0" sz="1200">
                <a:latin typeface="Arial"/>
                <a:cs typeface="Arial"/>
              </a:rPr>
              <a:t>fact, </a:t>
            </a:r>
            <a:r>
              <a:rPr dirty="0" sz="1200" spc="-5">
                <a:latin typeface="Arial"/>
                <a:cs typeface="Arial"/>
              </a:rPr>
              <a:t>but does show </a:t>
            </a:r>
            <a:r>
              <a:rPr dirty="0" sz="1200">
                <a:latin typeface="Arial"/>
                <a:cs typeface="Arial"/>
              </a:rPr>
              <a:t>the </a:t>
            </a:r>
            <a:r>
              <a:rPr dirty="0" sz="1200" spc="-5">
                <a:latin typeface="Arial"/>
                <a:cs typeface="Arial"/>
              </a:rPr>
              <a:t>mythic </a:t>
            </a:r>
            <a:r>
              <a:rPr dirty="0" sz="1200">
                <a:latin typeface="Arial"/>
                <a:cs typeface="Arial"/>
              </a:rPr>
              <a:t>stature </a:t>
            </a:r>
            <a:r>
              <a:rPr dirty="0" sz="1200" spc="-5">
                <a:latin typeface="Arial"/>
                <a:cs typeface="Arial"/>
              </a:rPr>
              <a:t>he has attained over </a:t>
            </a:r>
            <a:r>
              <a:rPr dirty="0" sz="1200">
                <a:latin typeface="Arial"/>
                <a:cs typeface="Arial"/>
              </a:rPr>
              <a:t>time. </a:t>
            </a:r>
            <a:r>
              <a:rPr dirty="0" sz="1200" spc="-5">
                <a:latin typeface="Arial"/>
                <a:cs typeface="Arial"/>
              </a:rPr>
              <a:t>He </a:t>
            </a:r>
            <a:r>
              <a:rPr dirty="0" sz="1200" spc="-10">
                <a:latin typeface="Arial"/>
                <a:cs typeface="Arial"/>
              </a:rPr>
              <a:t>was  </a:t>
            </a:r>
            <a:r>
              <a:rPr dirty="0" sz="1200" spc="-5">
                <a:latin typeface="Arial"/>
                <a:cs typeface="Arial"/>
              </a:rPr>
              <a:t>strongly </a:t>
            </a:r>
            <a:r>
              <a:rPr dirty="0" sz="1200">
                <a:latin typeface="Arial"/>
                <a:cs typeface="Arial"/>
              </a:rPr>
              <a:t>influenced </a:t>
            </a:r>
            <a:r>
              <a:rPr dirty="0" sz="1200" spc="-5">
                <a:latin typeface="Arial"/>
                <a:cs typeface="Arial"/>
              </a:rPr>
              <a:t>by </a:t>
            </a:r>
            <a:r>
              <a:rPr dirty="0" sz="1200">
                <a:latin typeface="Arial"/>
                <a:cs typeface="Arial"/>
              </a:rPr>
              <a:t>the </a:t>
            </a:r>
            <a:r>
              <a:rPr dirty="0" sz="1200" spc="-10">
                <a:latin typeface="Arial"/>
                <a:cs typeface="Arial"/>
              </a:rPr>
              <a:t>will </a:t>
            </a:r>
            <a:r>
              <a:rPr dirty="0" sz="1200">
                <a:latin typeface="Arial"/>
                <a:cs typeface="Arial"/>
              </a:rPr>
              <a:t>of </a:t>
            </a:r>
            <a:r>
              <a:rPr dirty="0" sz="1200" spc="-5">
                <a:latin typeface="Arial"/>
                <a:cs typeface="Arial"/>
              </a:rPr>
              <a:t>his mother, Khaizuran </a:t>
            </a:r>
            <a:r>
              <a:rPr dirty="0" sz="1200" spc="-10">
                <a:latin typeface="Arial"/>
                <a:cs typeface="Arial"/>
              </a:rPr>
              <a:t>in </a:t>
            </a:r>
            <a:r>
              <a:rPr dirty="0" sz="1200" spc="-5">
                <a:latin typeface="Arial"/>
                <a:cs typeface="Arial"/>
              </a:rPr>
              <a:t>the governance of the empire.  Baghdad flourished into </a:t>
            </a:r>
            <a:r>
              <a:rPr dirty="0" sz="1200">
                <a:latin typeface="Arial"/>
                <a:cs typeface="Arial"/>
              </a:rPr>
              <a:t>the most </a:t>
            </a:r>
            <a:r>
              <a:rPr dirty="0" sz="1200" spc="-5">
                <a:latin typeface="Arial"/>
                <a:cs typeface="Arial"/>
              </a:rPr>
              <a:t>splendid </a:t>
            </a:r>
            <a:r>
              <a:rPr dirty="0" sz="1200">
                <a:latin typeface="Arial"/>
                <a:cs typeface="Arial"/>
              </a:rPr>
              <a:t>city of its </a:t>
            </a:r>
            <a:r>
              <a:rPr dirty="0" sz="1200" spc="-5">
                <a:latin typeface="Arial"/>
                <a:cs typeface="Arial"/>
              </a:rPr>
              <a:t>period. Tribute </a:t>
            </a:r>
            <a:r>
              <a:rPr dirty="0" sz="1200" spc="-10">
                <a:latin typeface="Arial"/>
                <a:cs typeface="Arial"/>
              </a:rPr>
              <a:t>was </a:t>
            </a:r>
            <a:r>
              <a:rPr dirty="0" sz="1200" spc="-5">
                <a:latin typeface="Arial"/>
                <a:cs typeface="Arial"/>
              </a:rPr>
              <a:t>paid by </a:t>
            </a:r>
            <a:r>
              <a:rPr dirty="0" sz="1200">
                <a:latin typeface="Arial"/>
                <a:cs typeface="Arial"/>
              </a:rPr>
              <a:t>many rulers  to the </a:t>
            </a:r>
            <a:r>
              <a:rPr dirty="0" sz="1200" spc="-5">
                <a:latin typeface="Arial"/>
                <a:cs typeface="Arial"/>
              </a:rPr>
              <a:t>caliph, and these funds were used </a:t>
            </a:r>
            <a:r>
              <a:rPr dirty="0" sz="1200" spc="-10">
                <a:latin typeface="Arial"/>
                <a:cs typeface="Arial"/>
              </a:rPr>
              <a:t>on </a:t>
            </a:r>
            <a:r>
              <a:rPr dirty="0" sz="1200" spc="-5">
                <a:latin typeface="Arial"/>
                <a:cs typeface="Arial"/>
                <a:hlinkClick r:id="rId31"/>
              </a:rPr>
              <a:t>architecture</a:t>
            </a:r>
            <a:r>
              <a:rPr dirty="0" sz="1200" spc="-5">
                <a:latin typeface="Arial"/>
                <a:cs typeface="Arial"/>
              </a:rPr>
              <a:t>, the </a:t>
            </a:r>
            <a:r>
              <a:rPr dirty="0" sz="1200" spc="-5">
                <a:latin typeface="Arial"/>
                <a:cs typeface="Arial"/>
                <a:hlinkClick r:id="rId32"/>
              </a:rPr>
              <a:t>arts</a:t>
            </a:r>
            <a:r>
              <a:rPr dirty="0" sz="1200" spc="-5">
                <a:latin typeface="Arial"/>
                <a:cs typeface="Arial"/>
              </a:rPr>
              <a:t> and a luxurious life at  </a:t>
            </a:r>
            <a:r>
              <a:rPr dirty="0" sz="1200">
                <a:latin typeface="Arial"/>
                <a:cs typeface="Arial"/>
              </a:rPr>
              <a:t>court.</a:t>
            </a:r>
            <a:r>
              <a:rPr dirty="0" sz="1200" spc="45">
                <a:latin typeface="Arial"/>
                <a:cs typeface="Arial"/>
              </a:rPr>
              <a:t> </a:t>
            </a:r>
            <a:r>
              <a:rPr dirty="0" sz="1200" spc="-5">
                <a:latin typeface="Arial"/>
                <a:cs typeface="Arial"/>
              </a:rPr>
              <a:t>Agriculture</a:t>
            </a:r>
            <a:r>
              <a:rPr dirty="0" sz="1200" spc="40">
                <a:latin typeface="Arial"/>
                <a:cs typeface="Arial"/>
              </a:rPr>
              <a:t> </a:t>
            </a:r>
            <a:r>
              <a:rPr dirty="0" sz="1200" spc="-10">
                <a:latin typeface="Arial"/>
                <a:cs typeface="Arial"/>
              </a:rPr>
              <a:t>was</a:t>
            </a:r>
            <a:r>
              <a:rPr dirty="0" sz="1200" spc="35">
                <a:latin typeface="Arial"/>
                <a:cs typeface="Arial"/>
              </a:rPr>
              <a:t> </a:t>
            </a:r>
            <a:r>
              <a:rPr dirty="0" sz="1200" spc="-5">
                <a:latin typeface="Arial"/>
                <a:cs typeface="Arial"/>
              </a:rPr>
              <a:t>flourishing</a:t>
            </a:r>
            <a:r>
              <a:rPr dirty="0" sz="1200" spc="35">
                <a:latin typeface="Arial"/>
                <a:cs typeface="Arial"/>
              </a:rPr>
              <a:t> </a:t>
            </a:r>
            <a:r>
              <a:rPr dirty="0" sz="1200">
                <a:latin typeface="Arial"/>
                <a:cs typeface="Arial"/>
              </a:rPr>
              <a:t>to</a:t>
            </a:r>
            <a:r>
              <a:rPr dirty="0" sz="1200" spc="45">
                <a:latin typeface="Arial"/>
                <a:cs typeface="Arial"/>
              </a:rPr>
              <a:t> </a:t>
            </a:r>
            <a:r>
              <a:rPr dirty="0" sz="1200" spc="-5">
                <a:latin typeface="Arial"/>
                <a:cs typeface="Arial"/>
              </a:rPr>
              <a:t>support</a:t>
            </a:r>
            <a:r>
              <a:rPr dirty="0" sz="1200" spc="45">
                <a:latin typeface="Arial"/>
                <a:cs typeface="Arial"/>
              </a:rPr>
              <a:t> </a:t>
            </a:r>
            <a:r>
              <a:rPr dirty="0" sz="1200" spc="-5">
                <a:latin typeface="Arial"/>
                <a:cs typeface="Arial"/>
              </a:rPr>
              <a:t>the</a:t>
            </a:r>
            <a:r>
              <a:rPr dirty="0" sz="1200" spc="45">
                <a:latin typeface="Arial"/>
                <a:cs typeface="Arial"/>
              </a:rPr>
              <a:t> </a:t>
            </a:r>
            <a:r>
              <a:rPr dirty="0" sz="1200" spc="-5">
                <a:latin typeface="Arial"/>
                <a:cs typeface="Arial"/>
              </a:rPr>
              <a:t>new</a:t>
            </a:r>
            <a:r>
              <a:rPr dirty="0" sz="1200" spc="30">
                <a:latin typeface="Arial"/>
                <a:cs typeface="Arial"/>
              </a:rPr>
              <a:t> </a:t>
            </a:r>
            <a:r>
              <a:rPr dirty="0" sz="1200" spc="-5">
                <a:latin typeface="Arial"/>
                <a:cs typeface="Arial"/>
              </a:rPr>
              <a:t>Imperial</a:t>
            </a:r>
            <a:r>
              <a:rPr dirty="0" sz="1200" spc="70">
                <a:latin typeface="Arial"/>
                <a:cs typeface="Arial"/>
              </a:rPr>
              <a:t> </a:t>
            </a:r>
            <a:r>
              <a:rPr dirty="0" sz="1200" spc="-5">
                <a:latin typeface="Arial"/>
                <a:cs typeface="Arial"/>
              </a:rPr>
              <a:t>centre.</a:t>
            </a:r>
            <a:r>
              <a:rPr dirty="0" sz="1200" spc="50">
                <a:latin typeface="Arial"/>
                <a:cs typeface="Arial"/>
              </a:rPr>
              <a:t> </a:t>
            </a:r>
            <a:r>
              <a:rPr dirty="0" sz="1200" spc="-5">
                <a:latin typeface="Arial"/>
                <a:cs typeface="Arial"/>
              </a:rPr>
              <a:t>He</a:t>
            </a:r>
            <a:r>
              <a:rPr dirty="0" sz="1200" spc="40">
                <a:latin typeface="Arial"/>
                <a:cs typeface="Arial"/>
              </a:rPr>
              <a:t> </a:t>
            </a:r>
            <a:r>
              <a:rPr dirty="0" sz="1200" spc="-5">
                <a:latin typeface="Arial"/>
                <a:cs typeface="Arial"/>
              </a:rPr>
              <a:t>tried</a:t>
            </a:r>
            <a:r>
              <a:rPr dirty="0" sz="1200" spc="35">
                <a:latin typeface="Arial"/>
                <a:cs typeface="Arial"/>
              </a:rPr>
              <a:t> </a:t>
            </a:r>
            <a:r>
              <a:rPr dirty="0" sz="1200">
                <a:latin typeface="Arial"/>
                <a:cs typeface="Arial"/>
              </a:rPr>
              <a:t>to</a:t>
            </a:r>
            <a:r>
              <a:rPr dirty="0" sz="1200" spc="40">
                <a:latin typeface="Arial"/>
                <a:cs typeface="Arial"/>
              </a:rPr>
              <a:t> </a:t>
            </a:r>
            <a:r>
              <a:rPr dirty="0" sz="1200" spc="-5">
                <a:latin typeface="Arial"/>
                <a:cs typeface="Arial"/>
              </a:rPr>
              <a:t>bring</a:t>
            </a:r>
            <a:r>
              <a:rPr dirty="0" sz="1200" spc="35">
                <a:latin typeface="Arial"/>
                <a:cs typeface="Arial"/>
              </a:rPr>
              <a:t> </a:t>
            </a:r>
            <a:r>
              <a:rPr dirty="0" sz="1200">
                <a:latin typeface="Arial"/>
                <a:cs typeface="Arial"/>
              </a:rPr>
              <a:t>to</a:t>
            </a:r>
            <a:r>
              <a:rPr dirty="0" sz="1200" spc="35">
                <a:latin typeface="Arial"/>
                <a:cs typeface="Arial"/>
              </a:rPr>
              <a:t> </a:t>
            </a:r>
            <a:r>
              <a:rPr dirty="0" sz="1200" spc="-5">
                <a:latin typeface="Arial"/>
                <a:cs typeface="Arial"/>
              </a:rPr>
              <a:t>heel</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p:nvPr/>
        </p:nvSpPr>
        <p:spPr>
          <a:xfrm>
            <a:off x="2988691" y="9905322"/>
            <a:ext cx="603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106</a:t>
            </a:r>
            <a:endParaRPr sz="1200">
              <a:latin typeface="Times New Roman"/>
              <a:cs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2535" cy="933704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8255">
              <a:lnSpc>
                <a:spcPts val="1380"/>
              </a:lnSpc>
            </a:pPr>
            <a:r>
              <a:rPr dirty="0" sz="1200">
                <a:latin typeface="Arial"/>
                <a:cs typeface="Arial"/>
              </a:rPr>
              <a:t>the </a:t>
            </a:r>
            <a:r>
              <a:rPr dirty="0" sz="1200" spc="-5">
                <a:latin typeface="Arial"/>
                <a:cs typeface="Arial"/>
              </a:rPr>
              <a:t>princes and chieftains of the region, </a:t>
            </a:r>
            <a:r>
              <a:rPr dirty="0" sz="1200" spc="-10">
                <a:latin typeface="Arial"/>
                <a:cs typeface="Arial"/>
              </a:rPr>
              <a:t>and </a:t>
            </a:r>
            <a:r>
              <a:rPr dirty="0" sz="1200">
                <a:latin typeface="Arial"/>
                <a:cs typeface="Arial"/>
              </a:rPr>
              <a:t>to </a:t>
            </a:r>
            <a:r>
              <a:rPr dirty="0" sz="1200" spc="-5">
                <a:latin typeface="Arial"/>
                <a:cs typeface="Arial"/>
              </a:rPr>
              <a:t>re-impose the full authority of </a:t>
            </a:r>
            <a:r>
              <a:rPr dirty="0" sz="1200">
                <a:latin typeface="Arial"/>
                <a:cs typeface="Arial"/>
              </a:rPr>
              <a:t>the </a:t>
            </a:r>
            <a:r>
              <a:rPr dirty="0" sz="1200" spc="-5">
                <a:latin typeface="Arial"/>
                <a:cs typeface="Arial"/>
              </a:rPr>
              <a:t>central  government </a:t>
            </a:r>
            <a:r>
              <a:rPr dirty="0" sz="1200" spc="-10">
                <a:latin typeface="Arial"/>
                <a:cs typeface="Arial"/>
              </a:rPr>
              <a:t>on </a:t>
            </a:r>
            <a:r>
              <a:rPr dirty="0" sz="1200" spc="-5">
                <a:latin typeface="Arial"/>
                <a:cs typeface="Arial"/>
              </a:rPr>
              <a:t>them. </a:t>
            </a:r>
            <a:r>
              <a:rPr dirty="0" sz="1200">
                <a:latin typeface="Arial"/>
                <a:cs typeface="Arial"/>
              </a:rPr>
              <a:t>This </a:t>
            </a:r>
            <a:r>
              <a:rPr dirty="0" sz="1200" spc="-5">
                <a:latin typeface="Arial"/>
                <a:cs typeface="Arial"/>
              </a:rPr>
              <a:t>new policy </a:t>
            </a:r>
            <a:r>
              <a:rPr dirty="0" sz="1200">
                <a:latin typeface="Arial"/>
                <a:cs typeface="Arial"/>
              </a:rPr>
              <a:t>met </a:t>
            </a:r>
            <a:r>
              <a:rPr dirty="0" sz="1200" spc="-5">
                <a:latin typeface="Arial"/>
                <a:cs typeface="Arial"/>
              </a:rPr>
              <a:t>with </a:t>
            </a:r>
            <a:r>
              <a:rPr dirty="0" sz="1200">
                <a:latin typeface="Arial"/>
                <a:cs typeface="Arial"/>
              </a:rPr>
              <a:t>fierce </a:t>
            </a:r>
            <a:r>
              <a:rPr dirty="0" sz="1200" spc="-5">
                <a:latin typeface="Arial"/>
                <a:cs typeface="Arial"/>
              </a:rPr>
              <a:t>resistance and provoked numerous  uprisings in the </a:t>
            </a:r>
            <a:r>
              <a:rPr dirty="0" sz="1200">
                <a:latin typeface="Arial"/>
                <a:cs typeface="Arial"/>
              </a:rPr>
              <a:t>region.</a:t>
            </a:r>
            <a:endParaRPr sz="1200">
              <a:latin typeface="Arial"/>
              <a:cs typeface="Arial"/>
            </a:endParaRPr>
          </a:p>
          <a:p>
            <a:pPr>
              <a:lnSpc>
                <a:spcPct val="100000"/>
              </a:lnSpc>
              <a:spcBef>
                <a:spcPts val="25"/>
              </a:spcBef>
            </a:pPr>
            <a:endParaRPr sz="1150">
              <a:latin typeface="Arial"/>
              <a:cs typeface="Arial"/>
            </a:endParaRPr>
          </a:p>
          <a:p>
            <a:pPr algn="just" marL="12700" marR="6350">
              <a:lnSpc>
                <a:spcPct val="95800"/>
              </a:lnSpc>
            </a:pPr>
            <a:r>
              <a:rPr dirty="0" sz="1200" spc="-5">
                <a:latin typeface="Arial"/>
                <a:cs typeface="Arial"/>
              </a:rPr>
              <a:t>He imposed </a:t>
            </a:r>
            <a:r>
              <a:rPr dirty="0" sz="1200" spc="-10">
                <a:latin typeface="Arial"/>
                <a:cs typeface="Arial"/>
              </a:rPr>
              <a:t>heavy </a:t>
            </a:r>
            <a:r>
              <a:rPr dirty="0" sz="1200" spc="-5">
                <a:latin typeface="Arial"/>
                <a:cs typeface="Arial"/>
              </a:rPr>
              <a:t>taxes on </a:t>
            </a:r>
            <a:r>
              <a:rPr dirty="0" sz="1200">
                <a:latin typeface="Arial"/>
                <a:cs typeface="Arial"/>
              </a:rPr>
              <a:t>farmers, </a:t>
            </a:r>
            <a:r>
              <a:rPr dirty="0" sz="1200" spc="-5">
                <a:latin typeface="Arial"/>
                <a:cs typeface="Arial"/>
              </a:rPr>
              <a:t>traders and </a:t>
            </a:r>
            <a:r>
              <a:rPr dirty="0" sz="1200">
                <a:latin typeface="Arial"/>
                <a:cs typeface="Arial"/>
              </a:rPr>
              <a:t>artisans. </a:t>
            </a:r>
            <a:r>
              <a:rPr dirty="0" sz="1200" spc="-5">
                <a:latin typeface="Arial"/>
                <a:cs typeface="Arial"/>
              </a:rPr>
              <a:t>He maintained </a:t>
            </a:r>
            <a:r>
              <a:rPr dirty="0" sz="1200">
                <a:latin typeface="Arial"/>
                <a:cs typeface="Arial"/>
              </a:rPr>
              <a:t>slave-girls </a:t>
            </a:r>
            <a:r>
              <a:rPr dirty="0" sz="1200" spc="-5">
                <a:latin typeface="Arial"/>
                <a:cs typeface="Arial"/>
              </a:rPr>
              <a:t>and  concubines to entertain him. Al-Rashid virtually dismembered </a:t>
            </a:r>
            <a:r>
              <a:rPr dirty="0" sz="1200">
                <a:latin typeface="Arial"/>
                <a:cs typeface="Arial"/>
              </a:rPr>
              <a:t>the </a:t>
            </a:r>
            <a:r>
              <a:rPr dirty="0" sz="1200" spc="-5">
                <a:latin typeface="Arial"/>
                <a:cs typeface="Arial"/>
              </a:rPr>
              <a:t>empire by apportioning </a:t>
            </a:r>
            <a:r>
              <a:rPr dirty="0" sz="1200">
                <a:latin typeface="Arial"/>
                <a:cs typeface="Arial"/>
              </a:rPr>
              <a:t>it  </a:t>
            </a:r>
            <a:r>
              <a:rPr dirty="0" sz="1200" spc="-5">
                <a:latin typeface="Arial"/>
                <a:cs typeface="Arial"/>
              </a:rPr>
              <a:t>between </a:t>
            </a:r>
            <a:r>
              <a:rPr dirty="0" sz="1200">
                <a:latin typeface="Arial"/>
                <a:cs typeface="Arial"/>
              </a:rPr>
              <a:t>his </a:t>
            </a:r>
            <a:r>
              <a:rPr dirty="0" sz="1200" spc="-10">
                <a:latin typeface="Arial"/>
                <a:cs typeface="Arial"/>
              </a:rPr>
              <a:t>two </a:t>
            </a:r>
            <a:r>
              <a:rPr dirty="0" sz="1200">
                <a:latin typeface="Arial"/>
                <a:cs typeface="Arial"/>
              </a:rPr>
              <a:t>sons, </a:t>
            </a:r>
            <a:r>
              <a:rPr dirty="0" sz="1200" spc="-5">
                <a:latin typeface="Arial"/>
                <a:cs typeface="Arial"/>
              </a:rPr>
              <a:t>al-Amin and al-Ma'mun. Very soon </a:t>
            </a:r>
            <a:r>
              <a:rPr dirty="0" sz="1200">
                <a:latin typeface="Arial"/>
                <a:cs typeface="Arial"/>
              </a:rPr>
              <a:t>it </a:t>
            </a:r>
            <a:r>
              <a:rPr dirty="0" sz="1200" spc="-5">
                <a:latin typeface="Arial"/>
                <a:cs typeface="Arial"/>
              </a:rPr>
              <a:t>became </a:t>
            </a:r>
            <a:r>
              <a:rPr dirty="0" sz="1200">
                <a:latin typeface="Arial"/>
                <a:cs typeface="Arial"/>
              </a:rPr>
              <a:t>clear </a:t>
            </a:r>
            <a:r>
              <a:rPr dirty="0" sz="1200" spc="-5">
                <a:latin typeface="Arial"/>
                <a:cs typeface="Arial"/>
              </a:rPr>
              <a:t>that by dividing the  empire, </a:t>
            </a:r>
            <a:r>
              <a:rPr dirty="0" sz="1200">
                <a:latin typeface="Arial"/>
                <a:cs typeface="Arial"/>
              </a:rPr>
              <a:t>Rashid </a:t>
            </a:r>
            <a:r>
              <a:rPr dirty="0" sz="1200" spc="-5">
                <a:latin typeface="Arial"/>
                <a:cs typeface="Arial"/>
              </a:rPr>
              <a:t>had actually </a:t>
            </a:r>
            <a:r>
              <a:rPr dirty="0" sz="1200">
                <a:latin typeface="Arial"/>
                <a:cs typeface="Arial"/>
              </a:rPr>
              <a:t>helped </a:t>
            </a:r>
            <a:r>
              <a:rPr dirty="0" sz="1200" spc="-5">
                <a:latin typeface="Arial"/>
                <a:cs typeface="Arial"/>
              </a:rPr>
              <a:t>to </a:t>
            </a:r>
            <a:r>
              <a:rPr dirty="0" sz="1200">
                <a:latin typeface="Arial"/>
                <a:cs typeface="Arial"/>
              </a:rPr>
              <a:t>set </a:t>
            </a:r>
            <a:r>
              <a:rPr dirty="0" sz="1200" spc="-5">
                <a:latin typeface="Arial"/>
                <a:cs typeface="Arial"/>
              </a:rPr>
              <a:t>the opposing parties against one another, and had  provided them with sufficient resources </a:t>
            </a:r>
            <a:r>
              <a:rPr dirty="0" sz="1200">
                <a:latin typeface="Arial"/>
                <a:cs typeface="Arial"/>
              </a:rPr>
              <a:t>to </a:t>
            </a:r>
            <a:r>
              <a:rPr dirty="0" sz="1200" spc="-5">
                <a:latin typeface="Arial"/>
                <a:cs typeface="Arial"/>
              </a:rPr>
              <a:t>become independent of each other. After the  death of Harun al-Rashid civil </a:t>
            </a:r>
            <a:r>
              <a:rPr dirty="0" sz="1200" spc="-10">
                <a:latin typeface="Arial"/>
                <a:cs typeface="Arial"/>
              </a:rPr>
              <a:t>war </a:t>
            </a:r>
            <a:r>
              <a:rPr dirty="0" sz="1200" spc="-5">
                <a:latin typeface="Arial"/>
                <a:cs typeface="Arial"/>
              </a:rPr>
              <a:t>broke </a:t>
            </a:r>
            <a:r>
              <a:rPr dirty="0" sz="1200">
                <a:latin typeface="Arial"/>
                <a:cs typeface="Arial"/>
              </a:rPr>
              <a:t>out </a:t>
            </a:r>
            <a:r>
              <a:rPr dirty="0" sz="1200" spc="-5">
                <a:latin typeface="Arial"/>
                <a:cs typeface="Arial"/>
              </a:rPr>
              <a:t>in </a:t>
            </a:r>
            <a:r>
              <a:rPr dirty="0" sz="1200">
                <a:latin typeface="Arial"/>
                <a:cs typeface="Arial"/>
              </a:rPr>
              <a:t>the </a:t>
            </a:r>
            <a:r>
              <a:rPr dirty="0" sz="1200" spc="-5">
                <a:latin typeface="Arial"/>
                <a:cs typeface="Arial"/>
              </a:rPr>
              <a:t>empire between his </a:t>
            </a:r>
            <a:r>
              <a:rPr dirty="0" sz="1200" spc="-10">
                <a:latin typeface="Arial"/>
                <a:cs typeface="Arial"/>
              </a:rPr>
              <a:t>two </a:t>
            </a:r>
            <a:r>
              <a:rPr dirty="0" sz="1200" spc="5">
                <a:latin typeface="Arial"/>
                <a:cs typeface="Arial"/>
              </a:rPr>
              <a:t>sons, </a:t>
            </a:r>
            <a:r>
              <a:rPr dirty="0" sz="1200" spc="-5">
                <a:latin typeface="Arial"/>
                <a:cs typeface="Arial"/>
              </a:rPr>
              <a:t>al-Amin and  al-Ma'mun. Harun made the pilgrimage </a:t>
            </a:r>
            <a:r>
              <a:rPr dirty="0" sz="1200">
                <a:latin typeface="Arial"/>
                <a:cs typeface="Arial"/>
              </a:rPr>
              <a:t>to </a:t>
            </a:r>
            <a:r>
              <a:rPr dirty="0" sz="1200" spc="-5">
                <a:latin typeface="Arial"/>
                <a:cs typeface="Arial"/>
              </a:rPr>
              <a:t>Mecca several </a:t>
            </a:r>
            <a:r>
              <a:rPr dirty="0" sz="1200" spc="5">
                <a:latin typeface="Arial"/>
                <a:cs typeface="Arial"/>
              </a:rPr>
              <a:t>times. </a:t>
            </a:r>
            <a:r>
              <a:rPr dirty="0" sz="1200" spc="-5">
                <a:latin typeface="Arial"/>
                <a:cs typeface="Arial"/>
              </a:rPr>
              <a:t>Hārūn is widely considered  </a:t>
            </a:r>
            <a:r>
              <a:rPr dirty="0" sz="1200">
                <a:latin typeface="Arial"/>
                <a:cs typeface="Arial"/>
              </a:rPr>
              <a:t>the </a:t>
            </a:r>
            <a:r>
              <a:rPr dirty="0" sz="1200" spc="-5">
                <a:latin typeface="Arial"/>
                <a:cs typeface="Arial"/>
              </a:rPr>
              <a:t>greatest of the Abbasid </a:t>
            </a:r>
            <a:r>
              <a:rPr dirty="0" sz="1200" spc="-5" i="1">
                <a:latin typeface="Arial"/>
                <a:cs typeface="Arial"/>
              </a:rPr>
              <a:t>caliph</a:t>
            </a:r>
            <a:r>
              <a:rPr dirty="0" sz="1200" spc="-5">
                <a:latin typeface="Arial"/>
                <a:cs typeface="Arial"/>
              </a:rPr>
              <a:t>s, presiding over the </a:t>
            </a:r>
            <a:r>
              <a:rPr dirty="0" sz="1200" spc="-5">
                <a:latin typeface="Arial"/>
                <a:cs typeface="Arial"/>
                <a:hlinkClick r:id="rId2"/>
              </a:rPr>
              <a:t>Arab Empire </a:t>
            </a:r>
            <a:r>
              <a:rPr dirty="0" sz="1200">
                <a:latin typeface="Arial"/>
                <a:cs typeface="Arial"/>
              </a:rPr>
              <a:t>at its </a:t>
            </a:r>
            <a:r>
              <a:rPr dirty="0" sz="1200" spc="-5">
                <a:latin typeface="Arial"/>
                <a:cs typeface="Arial"/>
              </a:rPr>
              <a:t>political and cultural  peak. He died in </a:t>
            </a:r>
            <a:r>
              <a:rPr dirty="0" sz="1200">
                <a:latin typeface="Arial"/>
                <a:cs typeface="Arial"/>
              </a:rPr>
              <a:t>Tus, </a:t>
            </a:r>
            <a:r>
              <a:rPr dirty="0" sz="1200" spc="-5">
                <a:latin typeface="Arial"/>
                <a:cs typeface="Arial"/>
              </a:rPr>
              <a:t>Iran.</a:t>
            </a:r>
            <a:endParaRPr sz="1200">
              <a:latin typeface="Arial"/>
              <a:cs typeface="Arial"/>
            </a:endParaRPr>
          </a:p>
          <a:p>
            <a:pPr>
              <a:lnSpc>
                <a:spcPct val="100000"/>
              </a:lnSpc>
            </a:pPr>
            <a:endParaRPr sz="1150">
              <a:latin typeface="Arial"/>
              <a:cs typeface="Arial"/>
            </a:endParaRPr>
          </a:p>
          <a:p>
            <a:pPr marL="469900" indent="-229235">
              <a:lnSpc>
                <a:spcPct val="100000"/>
              </a:lnSpc>
              <a:buFont typeface="Wingdings"/>
              <a:buChar char=""/>
              <a:tabLst>
                <a:tab pos="470534" algn="l"/>
              </a:tabLst>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Al </a:t>
            </a:r>
            <a:r>
              <a:rPr dirty="0" u="heavy" sz="1200" spc="-50" b="1" i="1">
                <a:uFill>
                  <a:solidFill>
                    <a:srgbClr val="000000"/>
                  </a:solidFill>
                </a:uFill>
                <a:latin typeface="Arial"/>
                <a:cs typeface="Arial"/>
              </a:rPr>
              <a:t>Ma‟mun </a:t>
            </a:r>
            <a:r>
              <a:rPr dirty="0" u="heavy" sz="1200" b="1" i="1">
                <a:uFill>
                  <a:solidFill>
                    <a:srgbClr val="000000"/>
                  </a:solidFill>
                </a:uFill>
                <a:latin typeface="Arial"/>
                <a:cs typeface="Arial"/>
              </a:rPr>
              <a:t>(813 –</a:t>
            </a:r>
            <a:r>
              <a:rPr dirty="0" u="heavy" sz="1200" spc="30" b="1" i="1">
                <a:uFill>
                  <a:solidFill>
                    <a:srgbClr val="000000"/>
                  </a:solidFill>
                </a:uFill>
                <a:latin typeface="Arial"/>
                <a:cs typeface="Arial"/>
              </a:rPr>
              <a:t> </a:t>
            </a:r>
            <a:r>
              <a:rPr dirty="0" u="heavy" sz="1200" spc="-5" b="1" i="1">
                <a:uFill>
                  <a:solidFill>
                    <a:srgbClr val="000000"/>
                  </a:solidFill>
                </a:uFill>
                <a:latin typeface="Arial"/>
                <a:cs typeface="Arial"/>
              </a:rPr>
              <a:t>833)</a:t>
            </a:r>
            <a:endParaRPr sz="1200">
              <a:latin typeface="Arial"/>
              <a:cs typeface="Arial"/>
            </a:endParaRPr>
          </a:p>
          <a:p>
            <a:pPr>
              <a:lnSpc>
                <a:spcPct val="100000"/>
              </a:lnSpc>
            </a:pPr>
            <a:endParaRPr sz="1200">
              <a:latin typeface="Arial"/>
              <a:cs typeface="Arial"/>
            </a:endParaRPr>
          </a:p>
          <a:p>
            <a:pPr algn="just" marL="12700" marR="5080">
              <a:lnSpc>
                <a:spcPct val="95800"/>
              </a:lnSpc>
            </a:pPr>
            <a:r>
              <a:rPr dirty="0" sz="1200">
                <a:latin typeface="Arial"/>
                <a:cs typeface="Arial"/>
              </a:rPr>
              <a:t>On </a:t>
            </a:r>
            <a:r>
              <a:rPr dirty="0" sz="1200" spc="-5">
                <a:latin typeface="Arial"/>
                <a:cs typeface="Arial"/>
              </a:rPr>
              <a:t>the death of </a:t>
            </a:r>
            <a:r>
              <a:rPr dirty="0" sz="1200">
                <a:latin typeface="Arial"/>
                <a:cs typeface="Arial"/>
              </a:rPr>
              <a:t>Al </a:t>
            </a:r>
            <a:r>
              <a:rPr dirty="0" sz="1200" spc="-5">
                <a:latin typeface="Arial"/>
                <a:cs typeface="Arial"/>
              </a:rPr>
              <a:t>Amin, </a:t>
            </a:r>
            <a:r>
              <a:rPr dirty="0" sz="1200">
                <a:latin typeface="Arial"/>
                <a:cs typeface="Arial"/>
              </a:rPr>
              <a:t>al </a:t>
            </a:r>
            <a:r>
              <a:rPr dirty="0" sz="1200" spc="-5">
                <a:latin typeface="Arial"/>
                <a:cs typeface="Arial"/>
              </a:rPr>
              <a:t>Ma‘mun took over. There were many disturbances in </a:t>
            </a:r>
            <a:r>
              <a:rPr dirty="0" sz="1200">
                <a:latin typeface="Arial"/>
                <a:cs typeface="Arial"/>
                <a:hlinkClick r:id="rId3"/>
              </a:rPr>
              <a:t>Iraq </a:t>
            </a:r>
            <a:r>
              <a:rPr dirty="0" sz="1200" spc="-5">
                <a:latin typeface="Arial"/>
                <a:cs typeface="Arial"/>
              </a:rPr>
              <a:t>during  </a:t>
            </a:r>
            <a:r>
              <a:rPr dirty="0" sz="1200">
                <a:latin typeface="Arial"/>
                <a:cs typeface="Arial"/>
              </a:rPr>
              <a:t>the first </a:t>
            </a:r>
            <a:r>
              <a:rPr dirty="0" sz="1200" spc="-5">
                <a:latin typeface="Arial"/>
                <a:cs typeface="Arial"/>
              </a:rPr>
              <a:t>several years of al-Ma'mun's reign. Lawlessness in </a:t>
            </a:r>
            <a:r>
              <a:rPr dirty="0" sz="1200" spc="-5">
                <a:latin typeface="Arial"/>
                <a:cs typeface="Arial"/>
                <a:hlinkClick r:id="rId4"/>
              </a:rPr>
              <a:t>Baghdad </a:t>
            </a:r>
            <a:r>
              <a:rPr dirty="0" sz="1200" spc="-5">
                <a:latin typeface="Arial"/>
                <a:cs typeface="Arial"/>
              </a:rPr>
              <a:t>led to </a:t>
            </a:r>
            <a:r>
              <a:rPr dirty="0" sz="1200">
                <a:latin typeface="Arial"/>
                <a:cs typeface="Arial"/>
              </a:rPr>
              <a:t>the </a:t>
            </a:r>
            <a:r>
              <a:rPr dirty="0" sz="1200" spc="-5">
                <a:latin typeface="Arial"/>
                <a:cs typeface="Arial"/>
              </a:rPr>
              <a:t>formation of  neighbourhood watches. Most of Persia was sympathetic </a:t>
            </a:r>
            <a:r>
              <a:rPr dirty="0" sz="1200">
                <a:latin typeface="Arial"/>
                <a:cs typeface="Arial"/>
              </a:rPr>
              <a:t>to </a:t>
            </a:r>
            <a:r>
              <a:rPr dirty="0" sz="1200" spc="-5">
                <a:latin typeface="Arial"/>
                <a:cs typeface="Arial"/>
              </a:rPr>
              <a:t>the </a:t>
            </a:r>
            <a:r>
              <a:rPr dirty="0" sz="1200">
                <a:latin typeface="Arial"/>
                <a:cs typeface="Arial"/>
                <a:hlinkClick r:id="rId5"/>
              </a:rPr>
              <a:t>Hashemites</a:t>
            </a:r>
            <a:r>
              <a:rPr dirty="0" sz="1200">
                <a:latin typeface="Arial"/>
                <a:cs typeface="Arial"/>
              </a:rPr>
              <a:t>. </a:t>
            </a:r>
            <a:r>
              <a:rPr dirty="0" sz="1200" spc="-5">
                <a:latin typeface="Arial"/>
                <a:cs typeface="Arial"/>
              </a:rPr>
              <a:t>Al-Ma'mun's  opponents in Baghdad </a:t>
            </a:r>
            <a:r>
              <a:rPr dirty="0" sz="1200" spc="-10">
                <a:latin typeface="Arial"/>
                <a:cs typeface="Arial"/>
              </a:rPr>
              <a:t>gave </a:t>
            </a:r>
            <a:r>
              <a:rPr dirty="0" sz="1200" spc="-5">
                <a:latin typeface="Arial"/>
                <a:cs typeface="Arial"/>
              </a:rPr>
              <a:t>allegiance </a:t>
            </a:r>
            <a:r>
              <a:rPr dirty="0" sz="1200">
                <a:latin typeface="Arial"/>
                <a:cs typeface="Arial"/>
              </a:rPr>
              <a:t>to </a:t>
            </a:r>
            <a:r>
              <a:rPr dirty="0" sz="1200" spc="-5">
                <a:latin typeface="Arial"/>
                <a:cs typeface="Arial"/>
                <a:hlinkClick r:id="rId6"/>
              </a:rPr>
              <a:t>Ibrahim </a:t>
            </a:r>
            <a:r>
              <a:rPr dirty="0" sz="1200" spc="-10">
                <a:latin typeface="Arial"/>
                <a:cs typeface="Arial"/>
                <a:hlinkClick r:id="rId6"/>
              </a:rPr>
              <a:t>ibn </a:t>
            </a:r>
            <a:r>
              <a:rPr dirty="0" sz="1200" spc="-5">
                <a:latin typeface="Arial"/>
                <a:cs typeface="Arial"/>
                <a:hlinkClick r:id="rId6"/>
              </a:rPr>
              <a:t>al-</a:t>
            </a:r>
            <a:r>
              <a:rPr dirty="0" sz="1200" spc="-5">
                <a:latin typeface="Arial"/>
                <a:cs typeface="Arial"/>
                <a:hlinkClick r:id="rId6"/>
              </a:rPr>
              <a:t>Mahdi </a:t>
            </a:r>
            <a:r>
              <a:rPr dirty="0" sz="1200" spc="-5">
                <a:latin typeface="Arial"/>
                <a:cs typeface="Arial"/>
              </a:rPr>
              <a:t>(one of </a:t>
            </a:r>
            <a:r>
              <a:rPr dirty="0" sz="1200">
                <a:latin typeface="Arial"/>
                <a:cs typeface="Arial"/>
              </a:rPr>
              <a:t>the </a:t>
            </a:r>
            <a:r>
              <a:rPr dirty="0" sz="1200" spc="-5">
                <a:latin typeface="Arial"/>
                <a:cs typeface="Arial"/>
              </a:rPr>
              <a:t>Alids). </a:t>
            </a:r>
            <a:r>
              <a:rPr dirty="0" sz="1200" spc="-5">
                <a:latin typeface="Arial"/>
                <a:cs typeface="Arial"/>
                <a:hlinkClick r:id="rId7"/>
              </a:rPr>
              <a:t>Imam Ali </a:t>
            </a:r>
            <a:r>
              <a:rPr dirty="0" sz="1200" spc="-5">
                <a:latin typeface="Arial"/>
                <a:cs typeface="Arial"/>
              </a:rPr>
              <a:t> </a:t>
            </a:r>
            <a:r>
              <a:rPr dirty="0" sz="1200" spc="-5">
                <a:latin typeface="Arial"/>
                <a:cs typeface="Arial"/>
                <a:hlinkClick r:id="rId7"/>
              </a:rPr>
              <a:t>Raza</a:t>
            </a:r>
            <a:r>
              <a:rPr dirty="0" sz="1200" spc="-5">
                <a:latin typeface="Arial"/>
                <a:cs typeface="Arial"/>
              </a:rPr>
              <a:t> informed al-Ma'mun of happenings in Baghdad and sided with </a:t>
            </a:r>
            <a:r>
              <a:rPr dirty="0" sz="1200">
                <a:latin typeface="Arial"/>
                <a:cs typeface="Arial"/>
              </a:rPr>
              <a:t>the </a:t>
            </a:r>
            <a:r>
              <a:rPr dirty="0" sz="1200" spc="-5">
                <a:latin typeface="Arial"/>
                <a:cs typeface="Arial"/>
              </a:rPr>
              <a:t>Alids. </a:t>
            </a:r>
            <a:r>
              <a:rPr dirty="0" sz="1200">
                <a:latin typeface="Arial"/>
                <a:cs typeface="Arial"/>
              </a:rPr>
              <a:t>When </a:t>
            </a:r>
            <a:r>
              <a:rPr dirty="0" sz="1200" spc="-5">
                <a:latin typeface="Arial"/>
                <a:cs typeface="Arial"/>
              </a:rPr>
              <a:t>Ali  Raza </a:t>
            </a:r>
            <a:r>
              <a:rPr dirty="0" sz="1200">
                <a:latin typeface="Arial"/>
                <a:cs typeface="Arial"/>
              </a:rPr>
              <a:t>fell sick </a:t>
            </a:r>
            <a:r>
              <a:rPr dirty="0" sz="1200" spc="-5">
                <a:latin typeface="Arial"/>
                <a:cs typeface="Arial"/>
              </a:rPr>
              <a:t>and died </a:t>
            </a:r>
            <a:r>
              <a:rPr dirty="0" sz="1200">
                <a:latin typeface="Arial"/>
                <a:cs typeface="Arial"/>
              </a:rPr>
              <a:t>at Tus, </a:t>
            </a:r>
            <a:r>
              <a:rPr dirty="0" sz="1200" spc="-5">
                <a:latin typeface="Arial"/>
                <a:cs typeface="Arial"/>
              </a:rPr>
              <a:t>Al-Ma‘mun wept </a:t>
            </a:r>
            <a:r>
              <a:rPr dirty="0" sz="1200">
                <a:latin typeface="Arial"/>
                <a:cs typeface="Arial"/>
              </a:rPr>
              <a:t>and </a:t>
            </a:r>
            <a:r>
              <a:rPr dirty="0" sz="1200" spc="-5">
                <a:latin typeface="Arial"/>
                <a:cs typeface="Arial"/>
              </a:rPr>
              <a:t>mourned </a:t>
            </a:r>
            <a:r>
              <a:rPr dirty="0" sz="1200">
                <a:latin typeface="Arial"/>
                <a:cs typeface="Arial"/>
              </a:rPr>
              <a:t>for </a:t>
            </a:r>
            <a:r>
              <a:rPr dirty="0" sz="1200" spc="-5">
                <a:latin typeface="Arial"/>
                <a:cs typeface="Arial"/>
                <a:hlinkClick r:id="rId7"/>
              </a:rPr>
              <a:t>Imam Reza</a:t>
            </a:r>
            <a:r>
              <a:rPr dirty="0" sz="1200" spc="-5">
                <a:latin typeface="Arial"/>
                <a:cs typeface="Arial"/>
              </a:rPr>
              <a:t> and tried </a:t>
            </a:r>
            <a:r>
              <a:rPr dirty="0" sz="1200">
                <a:latin typeface="Arial"/>
                <a:cs typeface="Arial"/>
              </a:rPr>
              <a:t>to  </a:t>
            </a:r>
            <a:r>
              <a:rPr dirty="0" sz="1200" spc="-5">
                <a:latin typeface="Arial"/>
                <a:cs typeface="Arial"/>
              </a:rPr>
              <a:t>show himself innocent </a:t>
            </a:r>
            <a:r>
              <a:rPr dirty="0" sz="1200">
                <a:latin typeface="Arial"/>
                <a:cs typeface="Arial"/>
              </a:rPr>
              <a:t>of </a:t>
            </a:r>
            <a:r>
              <a:rPr dirty="0" sz="1200" spc="-5">
                <a:latin typeface="Arial"/>
                <a:cs typeface="Arial"/>
              </a:rPr>
              <a:t>the supposed crime. </a:t>
            </a:r>
            <a:r>
              <a:rPr dirty="0" sz="1200">
                <a:latin typeface="Arial"/>
                <a:cs typeface="Arial"/>
              </a:rPr>
              <a:t>While </a:t>
            </a:r>
            <a:r>
              <a:rPr dirty="0" sz="1200" spc="-5">
                <a:latin typeface="Arial"/>
                <a:cs typeface="Arial"/>
              </a:rPr>
              <a:t>Baghdad became peaceful, there </a:t>
            </a:r>
            <a:r>
              <a:rPr dirty="0" sz="1200" spc="-10">
                <a:latin typeface="Arial"/>
                <a:cs typeface="Arial"/>
              </a:rPr>
              <a:t>were  </a:t>
            </a:r>
            <a:r>
              <a:rPr dirty="0" sz="1200" spc="-5">
                <a:latin typeface="Arial"/>
                <a:cs typeface="Arial"/>
              </a:rPr>
              <a:t>disturbances elsewhere. There </a:t>
            </a:r>
            <a:r>
              <a:rPr dirty="0" sz="1200" spc="-10">
                <a:latin typeface="Arial"/>
                <a:cs typeface="Arial"/>
              </a:rPr>
              <a:t>was </a:t>
            </a:r>
            <a:r>
              <a:rPr dirty="0" sz="1200" spc="-5">
                <a:latin typeface="Arial"/>
                <a:cs typeface="Arial"/>
              </a:rPr>
              <a:t>uprising in </a:t>
            </a:r>
            <a:r>
              <a:rPr dirty="0" sz="1200">
                <a:latin typeface="Arial"/>
                <a:cs typeface="Arial"/>
              </a:rPr>
              <a:t>Qum </a:t>
            </a:r>
            <a:r>
              <a:rPr dirty="0" sz="1200" spc="-5">
                <a:latin typeface="Arial"/>
                <a:cs typeface="Arial"/>
              </a:rPr>
              <a:t>sparked by complaints about </a:t>
            </a:r>
            <a:r>
              <a:rPr dirty="0" sz="1200">
                <a:latin typeface="Arial"/>
                <a:cs typeface="Arial"/>
              </a:rPr>
              <a:t>taxes.  After it </a:t>
            </a:r>
            <a:r>
              <a:rPr dirty="0" sz="1200" spc="-10">
                <a:latin typeface="Arial"/>
                <a:cs typeface="Arial"/>
              </a:rPr>
              <a:t>was </a:t>
            </a:r>
            <a:r>
              <a:rPr dirty="0" sz="1200" spc="-5">
                <a:latin typeface="Arial"/>
                <a:cs typeface="Arial"/>
              </a:rPr>
              <a:t>quashed (crushed), the tax assessment </a:t>
            </a:r>
            <a:r>
              <a:rPr dirty="0" sz="1200" spc="-10">
                <a:latin typeface="Arial"/>
                <a:cs typeface="Arial"/>
              </a:rPr>
              <a:t>was </a:t>
            </a:r>
            <a:r>
              <a:rPr dirty="0" sz="1200" spc="-5">
                <a:latin typeface="Arial"/>
                <a:cs typeface="Arial"/>
              </a:rPr>
              <a:t>set significantly </a:t>
            </a:r>
            <a:r>
              <a:rPr dirty="0" sz="1200">
                <a:latin typeface="Arial"/>
                <a:cs typeface="Arial"/>
              </a:rPr>
              <a:t>higher. </a:t>
            </a:r>
            <a:r>
              <a:rPr dirty="0" sz="1200" spc="-10">
                <a:latin typeface="Arial"/>
                <a:cs typeface="Arial"/>
              </a:rPr>
              <a:t>Egypt  </a:t>
            </a:r>
            <a:r>
              <a:rPr dirty="0" sz="1200" spc="-5">
                <a:latin typeface="Arial"/>
                <a:cs typeface="Arial"/>
              </a:rPr>
              <a:t>continued to be unquiet. Sind </a:t>
            </a:r>
            <a:r>
              <a:rPr dirty="0" sz="1200" spc="-10">
                <a:latin typeface="Arial"/>
                <a:cs typeface="Arial"/>
              </a:rPr>
              <a:t>was </a:t>
            </a:r>
            <a:r>
              <a:rPr dirty="0" sz="1200">
                <a:latin typeface="Arial"/>
                <a:cs typeface="Arial"/>
              </a:rPr>
              <a:t>rebellious. There </a:t>
            </a:r>
            <a:r>
              <a:rPr dirty="0" sz="1200" spc="-10">
                <a:latin typeface="Arial"/>
                <a:cs typeface="Arial"/>
              </a:rPr>
              <a:t>was </a:t>
            </a:r>
            <a:r>
              <a:rPr dirty="0" sz="1200" spc="-5">
                <a:latin typeface="Arial"/>
                <a:cs typeface="Arial"/>
              </a:rPr>
              <a:t>also struggle against the  Byzantines. In 830, al-Ma'mun </a:t>
            </a:r>
            <a:r>
              <a:rPr dirty="0" sz="1200" spc="-10">
                <a:latin typeface="Arial"/>
                <a:cs typeface="Arial"/>
              </a:rPr>
              <a:t>led </a:t>
            </a:r>
            <a:r>
              <a:rPr dirty="0" sz="1200" spc="-5">
                <a:latin typeface="Arial"/>
                <a:cs typeface="Arial"/>
              </a:rPr>
              <a:t>a victorious </a:t>
            </a:r>
            <a:r>
              <a:rPr dirty="0" sz="1200">
                <a:latin typeface="Arial"/>
                <a:cs typeface="Arial"/>
              </a:rPr>
              <a:t>force </a:t>
            </a:r>
            <a:r>
              <a:rPr dirty="0" sz="1200" spc="-5">
                <a:latin typeface="Arial"/>
                <a:cs typeface="Arial"/>
              </a:rPr>
              <a:t>across the border. He captured several  </a:t>
            </a:r>
            <a:r>
              <a:rPr dirty="0" sz="1200">
                <a:latin typeface="Arial"/>
                <a:cs typeface="Arial"/>
              </a:rPr>
              <a:t>fortresses, </a:t>
            </a:r>
            <a:r>
              <a:rPr dirty="0" sz="1200" spc="-5">
                <a:latin typeface="Arial"/>
                <a:cs typeface="Arial"/>
              </a:rPr>
              <a:t>sparing </a:t>
            </a:r>
            <a:r>
              <a:rPr dirty="0" sz="1200">
                <a:latin typeface="Arial"/>
                <a:cs typeface="Arial"/>
              </a:rPr>
              <a:t>the </a:t>
            </a:r>
            <a:r>
              <a:rPr dirty="0" sz="1200" spc="-5">
                <a:latin typeface="Arial"/>
                <a:cs typeface="Arial"/>
              </a:rPr>
              <a:t>surrendering </a:t>
            </a:r>
            <a:r>
              <a:rPr dirty="0" sz="1200">
                <a:latin typeface="Arial"/>
                <a:cs typeface="Arial"/>
              </a:rPr>
              <a:t>Byzantines. </a:t>
            </a:r>
            <a:r>
              <a:rPr dirty="0" sz="1200" spc="-5">
                <a:latin typeface="Arial"/>
                <a:cs typeface="Arial"/>
              </a:rPr>
              <a:t>Al-Ma'mun's relations with </a:t>
            </a:r>
            <a:r>
              <a:rPr dirty="0" sz="1200">
                <a:latin typeface="Arial"/>
                <a:cs typeface="Arial"/>
              </a:rPr>
              <a:t>the </a:t>
            </a:r>
            <a:r>
              <a:rPr dirty="0" sz="1200" spc="-5">
                <a:latin typeface="Arial"/>
                <a:cs typeface="Arial"/>
                <a:hlinkClick r:id="rId8"/>
              </a:rPr>
              <a:t>Byzantine </a:t>
            </a:r>
            <a:r>
              <a:rPr dirty="0" sz="1200" spc="-5">
                <a:latin typeface="Arial"/>
                <a:cs typeface="Arial"/>
              </a:rPr>
              <a:t> </a:t>
            </a:r>
            <a:r>
              <a:rPr dirty="0" sz="1200">
                <a:latin typeface="Arial"/>
                <a:cs typeface="Arial"/>
                <a:hlinkClick r:id="rId8"/>
              </a:rPr>
              <a:t>Greeks </a:t>
            </a:r>
            <a:r>
              <a:rPr dirty="0" sz="1200" spc="-5">
                <a:latin typeface="Arial"/>
                <a:cs typeface="Arial"/>
              </a:rPr>
              <a:t>were marked by his </a:t>
            </a:r>
            <a:r>
              <a:rPr dirty="0" sz="1200">
                <a:latin typeface="Arial"/>
                <a:cs typeface="Arial"/>
              </a:rPr>
              <a:t>efforts </a:t>
            </a:r>
            <a:r>
              <a:rPr dirty="0" sz="1200" spc="-5">
                <a:latin typeface="Arial"/>
                <a:cs typeface="Arial"/>
              </a:rPr>
              <a:t>in </a:t>
            </a:r>
            <a:r>
              <a:rPr dirty="0" sz="1200">
                <a:latin typeface="Arial"/>
                <a:cs typeface="Arial"/>
              </a:rPr>
              <a:t>the </a:t>
            </a:r>
            <a:r>
              <a:rPr dirty="0" sz="1200" spc="-5">
                <a:latin typeface="Arial"/>
                <a:cs typeface="Arial"/>
              </a:rPr>
              <a:t>translation of </a:t>
            </a:r>
            <a:r>
              <a:rPr dirty="0" sz="1200">
                <a:latin typeface="Arial"/>
                <a:cs typeface="Arial"/>
                <a:hlinkClick r:id="rId9"/>
              </a:rPr>
              <a:t>Greek </a:t>
            </a:r>
            <a:r>
              <a:rPr dirty="0" sz="1200" spc="-5">
                <a:latin typeface="Arial"/>
                <a:cs typeface="Arial"/>
                <a:hlinkClick r:id="rId10"/>
              </a:rPr>
              <a:t>philosophy </a:t>
            </a:r>
            <a:r>
              <a:rPr dirty="0" sz="1200" spc="-5">
                <a:latin typeface="Arial"/>
                <a:cs typeface="Arial"/>
              </a:rPr>
              <a:t>and </a:t>
            </a:r>
            <a:r>
              <a:rPr dirty="0" sz="1200" spc="-5">
                <a:latin typeface="Arial"/>
                <a:cs typeface="Arial"/>
                <a:hlinkClick r:id="rId11"/>
              </a:rPr>
              <a:t>science</a:t>
            </a:r>
            <a:r>
              <a:rPr dirty="0" sz="1200" spc="-5">
                <a:latin typeface="Arial"/>
                <a:cs typeface="Arial"/>
              </a:rPr>
              <a:t>. Al-  Ma'mun gathered scholars </a:t>
            </a:r>
            <a:r>
              <a:rPr dirty="0" sz="1200">
                <a:latin typeface="Arial"/>
                <a:cs typeface="Arial"/>
              </a:rPr>
              <a:t>of </a:t>
            </a:r>
            <a:r>
              <a:rPr dirty="0" sz="1200" spc="-5">
                <a:latin typeface="Arial"/>
                <a:cs typeface="Arial"/>
              </a:rPr>
              <a:t>many religions </a:t>
            </a:r>
            <a:r>
              <a:rPr dirty="0" sz="1200">
                <a:latin typeface="Arial"/>
                <a:cs typeface="Arial"/>
              </a:rPr>
              <a:t>at </a:t>
            </a:r>
            <a:r>
              <a:rPr dirty="0" sz="1200" spc="-5">
                <a:latin typeface="Arial"/>
                <a:cs typeface="Arial"/>
                <a:hlinkClick r:id="rId4"/>
              </a:rPr>
              <a:t>Baghdad</a:t>
            </a:r>
            <a:r>
              <a:rPr dirty="0" sz="1200" spc="-5">
                <a:latin typeface="Arial"/>
                <a:cs typeface="Arial"/>
              </a:rPr>
              <a:t>, whom he treated magnificently and  with </a:t>
            </a:r>
            <a:r>
              <a:rPr dirty="0" sz="1200">
                <a:latin typeface="Arial"/>
                <a:cs typeface="Arial"/>
              </a:rPr>
              <a:t>tolerance. </a:t>
            </a:r>
            <a:r>
              <a:rPr dirty="0" sz="1200" spc="-5">
                <a:latin typeface="Arial"/>
                <a:cs typeface="Arial"/>
              </a:rPr>
              <a:t>He </a:t>
            </a:r>
            <a:r>
              <a:rPr dirty="0" sz="1200">
                <a:latin typeface="Arial"/>
                <a:cs typeface="Arial"/>
              </a:rPr>
              <a:t>sent </a:t>
            </a:r>
            <a:r>
              <a:rPr dirty="0" sz="1200" spc="-5">
                <a:latin typeface="Arial"/>
                <a:cs typeface="Arial"/>
              </a:rPr>
              <a:t>an emissary </a:t>
            </a:r>
            <a:r>
              <a:rPr dirty="0" sz="1200" spc="10">
                <a:latin typeface="Arial"/>
                <a:cs typeface="Arial"/>
              </a:rPr>
              <a:t>to </a:t>
            </a:r>
            <a:r>
              <a:rPr dirty="0" sz="1200">
                <a:latin typeface="Arial"/>
                <a:cs typeface="Arial"/>
              </a:rPr>
              <a:t>the </a:t>
            </a:r>
            <a:r>
              <a:rPr dirty="0" sz="1200" spc="-5">
                <a:latin typeface="Arial"/>
                <a:cs typeface="Arial"/>
                <a:hlinkClick r:id="rId12"/>
              </a:rPr>
              <a:t>Byzantine Empire</a:t>
            </a:r>
            <a:r>
              <a:rPr dirty="0" sz="1200" spc="-5">
                <a:latin typeface="Arial"/>
                <a:cs typeface="Arial"/>
              </a:rPr>
              <a:t> </a:t>
            </a:r>
            <a:r>
              <a:rPr dirty="0" sz="1200">
                <a:latin typeface="Arial"/>
                <a:cs typeface="Arial"/>
              </a:rPr>
              <a:t>to </a:t>
            </a:r>
            <a:r>
              <a:rPr dirty="0" sz="1200" spc="-5">
                <a:latin typeface="Arial"/>
                <a:cs typeface="Arial"/>
              </a:rPr>
              <a:t>collect </a:t>
            </a:r>
            <a:r>
              <a:rPr dirty="0" sz="1200">
                <a:latin typeface="Arial"/>
                <a:cs typeface="Arial"/>
              </a:rPr>
              <a:t>the </a:t>
            </a:r>
            <a:r>
              <a:rPr dirty="0" sz="1200" spc="-5">
                <a:latin typeface="Arial"/>
                <a:cs typeface="Arial"/>
              </a:rPr>
              <a:t>most famous  manuscripts there, and had them translated </a:t>
            </a:r>
            <a:r>
              <a:rPr dirty="0" sz="1200" spc="-10">
                <a:latin typeface="Arial"/>
                <a:cs typeface="Arial"/>
              </a:rPr>
              <a:t>into </a:t>
            </a:r>
            <a:r>
              <a:rPr dirty="0" sz="1200" spc="-5">
                <a:latin typeface="Arial"/>
                <a:cs typeface="Arial"/>
                <a:hlinkClick r:id="rId13"/>
              </a:rPr>
              <a:t>Arabic</a:t>
            </a:r>
            <a:r>
              <a:rPr dirty="0" sz="1200" spc="-5">
                <a:latin typeface="Arial"/>
                <a:cs typeface="Arial"/>
              </a:rPr>
              <a:t>. </a:t>
            </a:r>
            <a:r>
              <a:rPr dirty="0" sz="1200">
                <a:latin typeface="Arial"/>
                <a:cs typeface="Arial"/>
              </a:rPr>
              <a:t>It </a:t>
            </a:r>
            <a:r>
              <a:rPr dirty="0" sz="1200" spc="-5">
                <a:latin typeface="Arial"/>
                <a:cs typeface="Arial"/>
              </a:rPr>
              <a:t>is said that, had he been victorious  over </a:t>
            </a:r>
            <a:r>
              <a:rPr dirty="0" sz="1200">
                <a:latin typeface="Arial"/>
                <a:cs typeface="Arial"/>
              </a:rPr>
              <a:t>the </a:t>
            </a:r>
            <a:r>
              <a:rPr dirty="0" sz="1200" spc="-5">
                <a:latin typeface="Arial"/>
                <a:cs typeface="Arial"/>
              </a:rPr>
              <a:t>Byzantine Emperor, </a:t>
            </a:r>
            <a:r>
              <a:rPr dirty="0" sz="1200">
                <a:latin typeface="Arial"/>
                <a:cs typeface="Arial"/>
              </a:rPr>
              <a:t>Al-Ma'mun </a:t>
            </a:r>
            <a:r>
              <a:rPr dirty="0" sz="1200" spc="-5">
                <a:latin typeface="Arial"/>
                <a:cs typeface="Arial"/>
              </a:rPr>
              <a:t>would have made a condition of peace </a:t>
            </a:r>
            <a:r>
              <a:rPr dirty="0" sz="1200" spc="-10">
                <a:latin typeface="Arial"/>
                <a:cs typeface="Arial"/>
              </a:rPr>
              <a:t>be </a:t>
            </a:r>
            <a:r>
              <a:rPr dirty="0" sz="1200" spc="-5">
                <a:latin typeface="Arial"/>
                <a:cs typeface="Arial"/>
              </a:rPr>
              <a:t>that the  emperor hand over of a </a:t>
            </a:r>
            <a:r>
              <a:rPr dirty="0" sz="1200">
                <a:latin typeface="Arial"/>
                <a:cs typeface="Arial"/>
              </a:rPr>
              <a:t>copy </a:t>
            </a:r>
            <a:r>
              <a:rPr dirty="0" sz="1200" spc="-5">
                <a:latin typeface="Arial"/>
                <a:cs typeface="Arial"/>
              </a:rPr>
              <a:t>of </a:t>
            </a:r>
            <a:r>
              <a:rPr dirty="0" sz="1200">
                <a:latin typeface="Arial"/>
                <a:cs typeface="Arial"/>
              </a:rPr>
              <a:t>the</a:t>
            </a:r>
            <a:r>
              <a:rPr dirty="0" sz="1200" spc="20">
                <a:latin typeface="Arial"/>
                <a:cs typeface="Arial"/>
              </a:rPr>
              <a:t> </a:t>
            </a:r>
            <a:r>
              <a:rPr dirty="0" sz="1200" spc="-5" i="1">
                <a:latin typeface="Arial"/>
                <a:cs typeface="Arial"/>
              </a:rPr>
              <a:t>"</a:t>
            </a:r>
            <a:r>
              <a:rPr dirty="0" sz="1200" spc="-5" i="1">
                <a:latin typeface="Arial"/>
                <a:cs typeface="Arial"/>
                <a:hlinkClick r:id="rId14"/>
              </a:rPr>
              <a:t>Almagest</a:t>
            </a:r>
            <a:r>
              <a:rPr dirty="0" sz="1200" spc="-5" i="1">
                <a:latin typeface="Arial"/>
                <a:cs typeface="Arial"/>
              </a:rPr>
              <a:t>"</a:t>
            </a:r>
            <a:r>
              <a:rPr dirty="0" sz="1200" spc="-5">
                <a:latin typeface="Arial"/>
                <a:cs typeface="Arial"/>
              </a:rPr>
              <a:t>.</a:t>
            </a:r>
            <a:endParaRPr sz="1200">
              <a:latin typeface="Arial"/>
              <a:cs typeface="Arial"/>
            </a:endParaRPr>
          </a:p>
          <a:p>
            <a:pPr>
              <a:lnSpc>
                <a:spcPct val="100000"/>
              </a:lnSpc>
              <a:spcBef>
                <a:spcPts val="45"/>
              </a:spcBef>
            </a:pPr>
            <a:endParaRPr sz="1150">
              <a:latin typeface="Arial"/>
              <a:cs typeface="Arial"/>
            </a:endParaRPr>
          </a:p>
          <a:p>
            <a:pPr algn="just" marL="12700" marR="5715">
              <a:lnSpc>
                <a:spcPct val="95900"/>
              </a:lnSpc>
            </a:pPr>
            <a:r>
              <a:rPr dirty="0" sz="1200" spc="-5">
                <a:latin typeface="Arial"/>
                <a:cs typeface="Arial"/>
              </a:rPr>
              <a:t>He made efforts toward </a:t>
            </a:r>
            <a:r>
              <a:rPr dirty="0" sz="1200">
                <a:latin typeface="Arial"/>
                <a:cs typeface="Arial"/>
              </a:rPr>
              <a:t>the </a:t>
            </a:r>
            <a:r>
              <a:rPr dirty="0" sz="1200" spc="-5">
                <a:latin typeface="Arial"/>
                <a:cs typeface="Arial"/>
              </a:rPr>
              <a:t>centralization of power and the </a:t>
            </a:r>
            <a:r>
              <a:rPr dirty="0" sz="1200">
                <a:latin typeface="Arial"/>
                <a:cs typeface="Arial"/>
              </a:rPr>
              <a:t>certainty of </a:t>
            </a:r>
            <a:r>
              <a:rPr dirty="0" sz="1200" spc="-5">
                <a:latin typeface="Arial"/>
                <a:cs typeface="Arial"/>
              </a:rPr>
              <a:t>succession. </a:t>
            </a:r>
            <a:r>
              <a:rPr dirty="0" sz="1200">
                <a:latin typeface="Arial"/>
                <a:cs typeface="Arial"/>
              </a:rPr>
              <a:t>The </a:t>
            </a:r>
            <a:r>
              <a:rPr dirty="0" sz="1200" spc="-10" i="1">
                <a:latin typeface="Arial"/>
                <a:cs typeface="Arial"/>
              </a:rPr>
              <a:t>Bayt  </a:t>
            </a:r>
            <a:r>
              <a:rPr dirty="0" sz="1200" spc="-5" i="1">
                <a:latin typeface="Arial"/>
                <a:cs typeface="Arial"/>
              </a:rPr>
              <a:t>al-Hikma</a:t>
            </a:r>
            <a:r>
              <a:rPr dirty="0" sz="1200" spc="-5">
                <a:latin typeface="Arial"/>
                <a:cs typeface="Arial"/>
              </a:rPr>
              <a:t>, or </a:t>
            </a:r>
            <a:r>
              <a:rPr dirty="0" sz="1200">
                <a:latin typeface="Arial"/>
                <a:cs typeface="Arial"/>
                <a:hlinkClick r:id="rId15"/>
              </a:rPr>
              <a:t>House </a:t>
            </a:r>
            <a:r>
              <a:rPr dirty="0" sz="1200" spc="-5">
                <a:latin typeface="Arial"/>
                <a:cs typeface="Arial"/>
                <a:hlinkClick r:id="rId15"/>
              </a:rPr>
              <a:t>of </a:t>
            </a:r>
            <a:r>
              <a:rPr dirty="0" sz="1200">
                <a:latin typeface="Arial"/>
                <a:cs typeface="Arial"/>
                <a:hlinkClick r:id="rId15"/>
              </a:rPr>
              <a:t>Wisdom</a:t>
            </a:r>
            <a:r>
              <a:rPr dirty="0" sz="1200">
                <a:latin typeface="Arial"/>
                <a:cs typeface="Arial"/>
              </a:rPr>
              <a:t>, </a:t>
            </a:r>
            <a:r>
              <a:rPr dirty="0" sz="1200" spc="-10">
                <a:latin typeface="Arial"/>
                <a:cs typeface="Arial"/>
              </a:rPr>
              <a:t>was </a:t>
            </a:r>
            <a:r>
              <a:rPr dirty="0" sz="1200" spc="-5">
                <a:latin typeface="Arial"/>
                <a:cs typeface="Arial"/>
              </a:rPr>
              <a:t>developed during his reign. The </a:t>
            </a:r>
            <a:r>
              <a:rPr dirty="0" sz="1200" spc="-10" i="1">
                <a:latin typeface="Arial"/>
                <a:cs typeface="Arial"/>
                <a:hlinkClick r:id="rId16"/>
              </a:rPr>
              <a:t>ulama </a:t>
            </a:r>
            <a:r>
              <a:rPr dirty="0" sz="1200" spc="-5">
                <a:latin typeface="Arial"/>
                <a:cs typeface="Arial"/>
              </a:rPr>
              <a:t>emerged </a:t>
            </a:r>
            <a:r>
              <a:rPr dirty="0" sz="1200" spc="-10">
                <a:latin typeface="Arial"/>
                <a:cs typeface="Arial"/>
              </a:rPr>
              <a:t>as </a:t>
            </a:r>
            <a:r>
              <a:rPr dirty="0" sz="1200" spc="-5">
                <a:latin typeface="Arial"/>
                <a:cs typeface="Arial"/>
              </a:rPr>
              <a:t>a  real force in </a:t>
            </a:r>
            <a:r>
              <a:rPr dirty="0" sz="1200">
                <a:latin typeface="Arial"/>
                <a:cs typeface="Arial"/>
              </a:rPr>
              <a:t>Islamic </a:t>
            </a:r>
            <a:r>
              <a:rPr dirty="0" sz="1200" spc="-5">
                <a:latin typeface="Arial"/>
                <a:cs typeface="Arial"/>
              </a:rPr>
              <a:t>politics during al-Ma'mun's reign </a:t>
            </a:r>
            <a:r>
              <a:rPr dirty="0" sz="1200">
                <a:latin typeface="Arial"/>
                <a:cs typeface="Arial"/>
              </a:rPr>
              <a:t>for </a:t>
            </a:r>
            <a:r>
              <a:rPr dirty="0" sz="1200" spc="-5">
                <a:latin typeface="Arial"/>
                <a:cs typeface="Arial"/>
              </a:rPr>
              <a:t>opposing </a:t>
            </a:r>
            <a:r>
              <a:rPr dirty="0" sz="1200">
                <a:latin typeface="Arial"/>
                <a:cs typeface="Arial"/>
              </a:rPr>
              <a:t>the </a:t>
            </a:r>
            <a:r>
              <a:rPr dirty="0" sz="1200" spc="-5" i="1">
                <a:latin typeface="Arial"/>
                <a:cs typeface="Arial"/>
                <a:hlinkClick r:id="rId17"/>
              </a:rPr>
              <a:t>mihna </a:t>
            </a:r>
            <a:r>
              <a:rPr dirty="0" sz="1200" spc="-5">
                <a:latin typeface="Arial"/>
                <a:cs typeface="Arial"/>
              </a:rPr>
              <a:t>(it is a move </a:t>
            </a:r>
            <a:r>
              <a:rPr dirty="0" sz="1200">
                <a:latin typeface="Arial"/>
                <a:cs typeface="Arial"/>
              </a:rPr>
              <a:t>to  </a:t>
            </a:r>
            <a:r>
              <a:rPr dirty="0" sz="1200" spc="-5">
                <a:latin typeface="Arial"/>
                <a:cs typeface="Arial"/>
              </a:rPr>
              <a:t>impose his theoretical views upon people), which </a:t>
            </a:r>
            <a:r>
              <a:rPr dirty="0" sz="1200" spc="-10">
                <a:latin typeface="Arial"/>
                <a:cs typeface="Arial"/>
              </a:rPr>
              <a:t>was </a:t>
            </a:r>
            <a:r>
              <a:rPr dirty="0" sz="1200">
                <a:latin typeface="Arial"/>
                <a:cs typeface="Arial"/>
              </a:rPr>
              <a:t>initiated </a:t>
            </a:r>
            <a:r>
              <a:rPr dirty="0" sz="1200" spc="-10">
                <a:latin typeface="Arial"/>
                <a:cs typeface="Arial"/>
              </a:rPr>
              <a:t>in </a:t>
            </a:r>
            <a:r>
              <a:rPr dirty="0" sz="1200" spc="-5">
                <a:latin typeface="Arial"/>
                <a:cs typeface="Arial"/>
              </a:rPr>
              <a:t>833, only </a:t>
            </a:r>
            <a:r>
              <a:rPr dirty="0" sz="1200">
                <a:latin typeface="Arial"/>
                <a:cs typeface="Arial"/>
              </a:rPr>
              <a:t>four </a:t>
            </a:r>
            <a:r>
              <a:rPr dirty="0" sz="1200" spc="-5">
                <a:latin typeface="Arial"/>
                <a:cs typeface="Arial"/>
              </a:rPr>
              <a:t>months  before </a:t>
            </a:r>
            <a:r>
              <a:rPr dirty="0" sz="1200" spc="-10">
                <a:latin typeface="Arial"/>
                <a:cs typeface="Arial"/>
              </a:rPr>
              <a:t>he </a:t>
            </a:r>
            <a:r>
              <a:rPr dirty="0" sz="1200">
                <a:latin typeface="Arial"/>
                <a:cs typeface="Arial"/>
              </a:rPr>
              <a:t>died. </a:t>
            </a:r>
            <a:r>
              <a:rPr dirty="0" sz="1200" spc="-5">
                <a:latin typeface="Arial"/>
                <a:cs typeface="Arial"/>
              </a:rPr>
              <a:t>People </a:t>
            </a:r>
            <a:r>
              <a:rPr dirty="0" sz="1200" spc="-10">
                <a:latin typeface="Arial"/>
                <a:cs typeface="Arial"/>
              </a:rPr>
              <a:t>who </a:t>
            </a:r>
            <a:r>
              <a:rPr dirty="0" sz="1200" spc="-5">
                <a:latin typeface="Arial"/>
                <a:cs typeface="Arial"/>
              </a:rPr>
              <a:t>were subject </a:t>
            </a:r>
            <a:r>
              <a:rPr dirty="0" sz="1200">
                <a:latin typeface="Arial"/>
                <a:cs typeface="Arial"/>
              </a:rPr>
              <a:t>to the mihna </a:t>
            </a:r>
            <a:r>
              <a:rPr dirty="0" sz="1200" spc="-5">
                <a:latin typeface="Arial"/>
                <a:cs typeface="Arial"/>
              </a:rPr>
              <a:t>were </a:t>
            </a:r>
            <a:r>
              <a:rPr dirty="0" sz="1200">
                <a:latin typeface="Arial"/>
                <a:cs typeface="Arial"/>
              </a:rPr>
              <a:t>traditionalist </a:t>
            </a:r>
            <a:r>
              <a:rPr dirty="0" sz="1200" spc="-5">
                <a:latin typeface="Arial"/>
                <a:cs typeface="Arial"/>
              </a:rPr>
              <a:t>scholars whose  social influence and intellectual quality </a:t>
            </a:r>
            <a:r>
              <a:rPr dirty="0" sz="1200" spc="-10">
                <a:latin typeface="Arial"/>
                <a:cs typeface="Arial"/>
              </a:rPr>
              <a:t>was </a:t>
            </a:r>
            <a:r>
              <a:rPr dirty="0" sz="1200" spc="-5">
                <a:latin typeface="Arial"/>
                <a:cs typeface="Arial"/>
              </a:rPr>
              <a:t>uncommonly </a:t>
            </a:r>
            <a:r>
              <a:rPr dirty="0" sz="1200" spc="5">
                <a:latin typeface="Arial"/>
                <a:cs typeface="Arial"/>
              </a:rPr>
              <a:t>high. </a:t>
            </a:r>
            <a:r>
              <a:rPr dirty="0" sz="1200" spc="-5">
                <a:latin typeface="Arial"/>
                <a:cs typeface="Arial"/>
              </a:rPr>
              <a:t>Al-Ma'mun introduced </a:t>
            </a:r>
            <a:r>
              <a:rPr dirty="0" sz="1200" spc="-10">
                <a:latin typeface="Arial"/>
                <a:cs typeface="Arial"/>
              </a:rPr>
              <a:t>the  </a:t>
            </a:r>
            <a:r>
              <a:rPr dirty="0" sz="1200" spc="-5">
                <a:latin typeface="Arial"/>
                <a:cs typeface="Arial"/>
              </a:rPr>
              <a:t>mihna with </a:t>
            </a:r>
            <a:r>
              <a:rPr dirty="0" sz="1200">
                <a:latin typeface="Arial"/>
                <a:cs typeface="Arial"/>
              </a:rPr>
              <a:t>the </a:t>
            </a:r>
            <a:r>
              <a:rPr dirty="0" sz="1200" spc="-5">
                <a:latin typeface="Arial"/>
                <a:cs typeface="Arial"/>
              </a:rPr>
              <a:t>intention </a:t>
            </a:r>
            <a:r>
              <a:rPr dirty="0" sz="1200">
                <a:latin typeface="Arial"/>
                <a:cs typeface="Arial"/>
              </a:rPr>
              <a:t>to </a:t>
            </a:r>
            <a:r>
              <a:rPr dirty="0" sz="1200" spc="-5">
                <a:latin typeface="Arial"/>
                <a:cs typeface="Arial"/>
              </a:rPr>
              <a:t>centralize religious power in </a:t>
            </a:r>
            <a:r>
              <a:rPr dirty="0" sz="1200">
                <a:latin typeface="Arial"/>
                <a:cs typeface="Arial"/>
              </a:rPr>
              <a:t>the </a:t>
            </a:r>
            <a:r>
              <a:rPr dirty="0" sz="1200" spc="-5">
                <a:latin typeface="Arial"/>
                <a:cs typeface="Arial"/>
              </a:rPr>
              <a:t>caliphate institution and </a:t>
            </a:r>
            <a:r>
              <a:rPr dirty="0" sz="1200">
                <a:latin typeface="Arial"/>
                <a:cs typeface="Arial"/>
              </a:rPr>
              <a:t>test </a:t>
            </a:r>
            <a:r>
              <a:rPr dirty="0" sz="1200" spc="-5">
                <a:latin typeface="Arial"/>
                <a:cs typeface="Arial"/>
              </a:rPr>
              <a:t>the  loyalty </a:t>
            </a:r>
            <a:r>
              <a:rPr dirty="0" sz="1200">
                <a:latin typeface="Arial"/>
                <a:cs typeface="Arial"/>
              </a:rPr>
              <a:t>of </a:t>
            </a:r>
            <a:r>
              <a:rPr dirty="0" sz="1200" spc="-5">
                <a:latin typeface="Arial"/>
                <a:cs typeface="Arial"/>
              </a:rPr>
              <a:t>his subjects. The </a:t>
            </a:r>
            <a:r>
              <a:rPr dirty="0" sz="1200">
                <a:latin typeface="Arial"/>
                <a:cs typeface="Arial"/>
              </a:rPr>
              <a:t>mihna </a:t>
            </a:r>
            <a:r>
              <a:rPr dirty="0" sz="1200" spc="-5">
                <a:latin typeface="Arial"/>
                <a:cs typeface="Arial"/>
              </a:rPr>
              <a:t>had </a:t>
            </a:r>
            <a:r>
              <a:rPr dirty="0" sz="1200">
                <a:latin typeface="Arial"/>
                <a:cs typeface="Arial"/>
              </a:rPr>
              <a:t>to </a:t>
            </a:r>
            <a:r>
              <a:rPr dirty="0" sz="1200" spc="-5">
                <a:latin typeface="Arial"/>
                <a:cs typeface="Arial"/>
              </a:rPr>
              <a:t>be undergone by elites, scholars, judges and other  government officials, and in consisted of a series of questions relating </a:t>
            </a:r>
            <a:r>
              <a:rPr dirty="0" sz="1200">
                <a:latin typeface="Arial"/>
                <a:cs typeface="Arial"/>
              </a:rPr>
              <a:t>to </a:t>
            </a:r>
            <a:r>
              <a:rPr dirty="0" sz="1200" spc="-5">
                <a:latin typeface="Arial"/>
                <a:cs typeface="Arial"/>
              </a:rPr>
              <a:t>theology and faith.  The central question </a:t>
            </a:r>
            <a:r>
              <a:rPr dirty="0" sz="1200" spc="-10">
                <a:latin typeface="Arial"/>
                <a:cs typeface="Arial"/>
              </a:rPr>
              <a:t>was </a:t>
            </a:r>
            <a:r>
              <a:rPr dirty="0" sz="1200" spc="-5">
                <a:latin typeface="Arial"/>
                <a:cs typeface="Arial"/>
              </a:rPr>
              <a:t>about </a:t>
            </a:r>
            <a:r>
              <a:rPr dirty="0" sz="1200">
                <a:latin typeface="Arial"/>
                <a:cs typeface="Arial"/>
              </a:rPr>
              <a:t>the </a:t>
            </a:r>
            <a:r>
              <a:rPr dirty="0" sz="1200" spc="-5">
                <a:latin typeface="Arial"/>
                <a:cs typeface="Arial"/>
              </a:rPr>
              <a:t>createdness of the Qur'an, </a:t>
            </a:r>
            <a:r>
              <a:rPr dirty="0" sz="1200" spc="-10">
                <a:latin typeface="Arial"/>
                <a:cs typeface="Arial"/>
              </a:rPr>
              <a:t>if </a:t>
            </a:r>
            <a:r>
              <a:rPr dirty="0" sz="1200">
                <a:latin typeface="Arial"/>
                <a:cs typeface="Arial"/>
              </a:rPr>
              <a:t>the </a:t>
            </a:r>
            <a:r>
              <a:rPr dirty="0" sz="1200" spc="-5">
                <a:latin typeface="Arial"/>
                <a:cs typeface="Arial"/>
              </a:rPr>
              <a:t>interrogate stated he  believed the Qur'an to be created he </a:t>
            </a:r>
            <a:r>
              <a:rPr dirty="0" sz="1200" spc="-10">
                <a:latin typeface="Arial"/>
                <a:cs typeface="Arial"/>
              </a:rPr>
              <a:t>was </a:t>
            </a:r>
            <a:r>
              <a:rPr dirty="0" sz="1200">
                <a:latin typeface="Arial"/>
                <a:cs typeface="Arial"/>
              </a:rPr>
              <a:t>free to </a:t>
            </a:r>
            <a:r>
              <a:rPr dirty="0" sz="1200" spc="-10">
                <a:latin typeface="Arial"/>
                <a:cs typeface="Arial"/>
              </a:rPr>
              <a:t>leave </a:t>
            </a:r>
            <a:r>
              <a:rPr dirty="0" sz="1200">
                <a:latin typeface="Arial"/>
                <a:cs typeface="Arial"/>
              </a:rPr>
              <a:t>and </a:t>
            </a:r>
            <a:r>
              <a:rPr dirty="0" sz="1200" spc="-5">
                <a:latin typeface="Arial"/>
                <a:cs typeface="Arial"/>
              </a:rPr>
              <a:t>continue his</a:t>
            </a:r>
            <a:r>
              <a:rPr dirty="0" sz="1200" spc="65">
                <a:latin typeface="Arial"/>
                <a:cs typeface="Arial"/>
              </a:rPr>
              <a:t> </a:t>
            </a:r>
            <a:r>
              <a:rPr dirty="0" sz="1200" spc="-5">
                <a:latin typeface="Arial"/>
                <a:cs typeface="Arial"/>
              </a:rPr>
              <a:t>profession.</a:t>
            </a:r>
            <a:endParaRPr sz="1200">
              <a:latin typeface="Arial"/>
              <a:cs typeface="Arial"/>
            </a:endParaRPr>
          </a:p>
          <a:p>
            <a:pPr>
              <a:lnSpc>
                <a:spcPct val="100000"/>
              </a:lnSpc>
              <a:spcBef>
                <a:spcPts val="5"/>
              </a:spcBef>
            </a:pPr>
            <a:endParaRPr sz="1200">
              <a:latin typeface="Arial"/>
              <a:cs typeface="Arial"/>
            </a:endParaRPr>
          </a:p>
          <a:p>
            <a:pPr algn="just" marL="12700" marR="6350">
              <a:lnSpc>
                <a:spcPct val="95500"/>
              </a:lnSpc>
            </a:pPr>
            <a:r>
              <a:rPr dirty="0" sz="1200" spc="-5">
                <a:latin typeface="Arial"/>
                <a:cs typeface="Arial"/>
              </a:rPr>
              <a:t>During his reign </a:t>
            </a:r>
            <a:r>
              <a:rPr dirty="0" sz="1200">
                <a:latin typeface="Arial"/>
                <a:cs typeface="Arial"/>
                <a:hlinkClick r:id="rId18"/>
              </a:rPr>
              <a:t>Alchemy </a:t>
            </a:r>
            <a:r>
              <a:rPr dirty="0" sz="1200" spc="-5">
                <a:latin typeface="Arial"/>
                <a:cs typeface="Arial"/>
              </a:rPr>
              <a:t>greatly </a:t>
            </a:r>
            <a:r>
              <a:rPr dirty="0" sz="1200">
                <a:latin typeface="Arial"/>
                <a:cs typeface="Arial"/>
              </a:rPr>
              <a:t>developed </a:t>
            </a:r>
            <a:r>
              <a:rPr dirty="0" sz="1200" spc="-5">
                <a:latin typeface="Arial"/>
                <a:cs typeface="Arial"/>
              </a:rPr>
              <a:t>and the pioneers of the </a:t>
            </a:r>
            <a:r>
              <a:rPr dirty="0" sz="1200">
                <a:latin typeface="Arial"/>
                <a:cs typeface="Arial"/>
              </a:rPr>
              <a:t>science </a:t>
            </a:r>
            <a:r>
              <a:rPr dirty="0" sz="1200" spc="-5">
                <a:latin typeface="Arial"/>
                <a:cs typeface="Arial"/>
              </a:rPr>
              <a:t>were </a:t>
            </a:r>
            <a:r>
              <a:rPr dirty="0" sz="1200" spc="-5">
                <a:latin typeface="Arial"/>
                <a:cs typeface="Arial"/>
                <a:hlinkClick r:id="rId19"/>
              </a:rPr>
              <a:t>Jabir </a:t>
            </a:r>
            <a:r>
              <a:rPr dirty="0" sz="1200">
                <a:latin typeface="Arial"/>
                <a:cs typeface="Arial"/>
                <a:hlinkClick r:id="rId19"/>
              </a:rPr>
              <a:t>Ibn </a:t>
            </a:r>
            <a:r>
              <a:rPr dirty="0" sz="1200">
                <a:latin typeface="Arial"/>
                <a:cs typeface="Arial"/>
              </a:rPr>
              <a:t> </a:t>
            </a:r>
            <a:r>
              <a:rPr dirty="0" sz="1200" spc="-5">
                <a:latin typeface="Arial"/>
                <a:cs typeface="Arial"/>
                <a:hlinkClick r:id="rId19"/>
              </a:rPr>
              <a:t>Hayyan</a:t>
            </a:r>
            <a:r>
              <a:rPr dirty="0" sz="1200" spc="-5">
                <a:latin typeface="Arial"/>
                <a:cs typeface="Arial"/>
              </a:rPr>
              <a:t> and his student </a:t>
            </a:r>
            <a:r>
              <a:rPr dirty="0" sz="1200" spc="-5">
                <a:latin typeface="Arial"/>
                <a:cs typeface="Arial"/>
                <a:hlinkClick r:id="rId20"/>
              </a:rPr>
              <a:t>Yusuf</a:t>
            </a:r>
            <a:r>
              <a:rPr dirty="0" sz="1200" spc="-5">
                <a:latin typeface="Arial"/>
                <a:cs typeface="Arial"/>
              </a:rPr>
              <a:t> </a:t>
            </a:r>
            <a:r>
              <a:rPr dirty="0" sz="1200" spc="-10">
                <a:latin typeface="Arial"/>
                <a:cs typeface="Arial"/>
                <a:hlinkClick r:id="rId20"/>
              </a:rPr>
              <a:t>Lukwa</a:t>
            </a:r>
            <a:r>
              <a:rPr dirty="0" sz="1200" spc="-10">
                <a:latin typeface="Arial"/>
                <a:cs typeface="Arial"/>
              </a:rPr>
              <a:t> was </a:t>
            </a:r>
            <a:r>
              <a:rPr dirty="0" sz="1200" spc="-5">
                <a:latin typeface="Arial"/>
                <a:cs typeface="Arial"/>
              </a:rPr>
              <a:t>patronized by Al-Ma'mun, although </a:t>
            </a:r>
            <a:r>
              <a:rPr dirty="0" sz="1200" spc="-10">
                <a:latin typeface="Arial"/>
                <a:cs typeface="Arial"/>
              </a:rPr>
              <a:t>he was  </a:t>
            </a:r>
            <a:r>
              <a:rPr dirty="0" sz="1200" spc="-5">
                <a:latin typeface="Arial"/>
                <a:cs typeface="Arial"/>
              </a:rPr>
              <a:t>unsuccessful in his attempts </a:t>
            </a:r>
            <a:r>
              <a:rPr dirty="0" sz="1200">
                <a:latin typeface="Arial"/>
                <a:cs typeface="Arial"/>
              </a:rPr>
              <a:t>regarding the </a:t>
            </a:r>
            <a:r>
              <a:rPr dirty="0" sz="1200" spc="-5">
                <a:latin typeface="Arial"/>
                <a:cs typeface="Arial"/>
              </a:rPr>
              <a:t>transmutation </a:t>
            </a:r>
            <a:r>
              <a:rPr dirty="0" sz="1200" spc="-5">
                <a:latin typeface="Arial"/>
                <a:cs typeface="Arial"/>
                <a:hlinkClick r:id="rId21"/>
              </a:rPr>
              <a:t>gold</a:t>
            </a:r>
            <a:r>
              <a:rPr dirty="0" sz="1200" spc="-5">
                <a:latin typeface="Arial"/>
                <a:cs typeface="Arial"/>
              </a:rPr>
              <a:t>, his methods greatly led </a:t>
            </a:r>
            <a:r>
              <a:rPr dirty="0" sz="1200">
                <a:latin typeface="Arial"/>
                <a:cs typeface="Arial"/>
              </a:rPr>
              <a:t>to the  </a:t>
            </a:r>
            <a:r>
              <a:rPr dirty="0" sz="1200" spc="-5">
                <a:latin typeface="Arial"/>
                <a:cs typeface="Arial"/>
              </a:rPr>
              <a:t>patronization of </a:t>
            </a:r>
            <a:r>
              <a:rPr dirty="0" sz="1200" spc="-5">
                <a:latin typeface="Arial"/>
                <a:cs typeface="Arial"/>
                <a:hlinkClick r:id="rId22"/>
              </a:rPr>
              <a:t>Pharmaceuticals</a:t>
            </a:r>
            <a:r>
              <a:rPr dirty="0" sz="1200" spc="-5">
                <a:latin typeface="Arial"/>
                <a:cs typeface="Arial"/>
              </a:rPr>
              <a:t> compounds. Although the </a:t>
            </a:r>
            <a:r>
              <a:rPr dirty="0" sz="1200" spc="-5" i="1">
                <a:latin typeface="Arial"/>
                <a:cs typeface="Arial"/>
              </a:rPr>
              <a:t>mihna </a:t>
            </a:r>
            <a:r>
              <a:rPr dirty="0" sz="1200" spc="-5">
                <a:latin typeface="Arial"/>
                <a:cs typeface="Arial"/>
              </a:rPr>
              <a:t>persisted through</a:t>
            </a:r>
            <a:r>
              <a:rPr dirty="0" sz="1200" spc="120">
                <a:latin typeface="Arial"/>
                <a:cs typeface="Arial"/>
              </a:rPr>
              <a:t> </a:t>
            </a:r>
            <a:r>
              <a:rPr dirty="0" sz="1200" spc="-5">
                <a:latin typeface="Arial"/>
                <a:cs typeface="Arial"/>
              </a:rPr>
              <a:t>the</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107</a:t>
            </a:r>
            <a:endParaRPr sz="1200">
              <a:latin typeface="Times New Roman"/>
              <a:cs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265" cy="916305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5"/>
              </a:spcBef>
            </a:pPr>
            <a:endParaRPr sz="1250">
              <a:latin typeface="Times New Roman"/>
              <a:cs typeface="Times New Roman"/>
            </a:endParaRPr>
          </a:p>
          <a:p>
            <a:pPr algn="just" marL="12700" marR="5080">
              <a:lnSpc>
                <a:spcPct val="96200"/>
              </a:lnSpc>
            </a:pPr>
            <a:r>
              <a:rPr dirty="0" sz="1200" spc="-5">
                <a:latin typeface="Arial"/>
                <a:cs typeface="Arial"/>
              </a:rPr>
              <a:t>reigns </a:t>
            </a:r>
            <a:r>
              <a:rPr dirty="0" sz="1200">
                <a:latin typeface="Arial"/>
                <a:cs typeface="Arial"/>
              </a:rPr>
              <a:t>of </a:t>
            </a:r>
            <a:r>
              <a:rPr dirty="0" sz="1200" spc="-10">
                <a:latin typeface="Arial"/>
                <a:cs typeface="Arial"/>
              </a:rPr>
              <a:t>two </a:t>
            </a:r>
            <a:r>
              <a:rPr dirty="0" sz="1200" spc="-5">
                <a:latin typeface="Arial"/>
                <a:cs typeface="Arial"/>
              </a:rPr>
              <a:t>more caliphs, </a:t>
            </a:r>
            <a:r>
              <a:rPr dirty="0" sz="1200" spc="-5">
                <a:latin typeface="Arial"/>
                <a:cs typeface="Arial"/>
                <a:hlinkClick r:id="rId2"/>
              </a:rPr>
              <a:t>al-</a:t>
            </a:r>
            <a:r>
              <a:rPr dirty="0" sz="1200" spc="-5">
                <a:latin typeface="Arial"/>
                <a:cs typeface="Arial"/>
                <a:hlinkClick r:id="rId2"/>
              </a:rPr>
              <a:t>Mutawakkil</a:t>
            </a:r>
            <a:r>
              <a:rPr dirty="0" sz="1200" spc="-5">
                <a:latin typeface="Arial"/>
                <a:cs typeface="Arial"/>
              </a:rPr>
              <a:t> abandoned </a:t>
            </a:r>
            <a:r>
              <a:rPr dirty="0" sz="1200">
                <a:latin typeface="Arial"/>
                <a:cs typeface="Arial"/>
              </a:rPr>
              <a:t>it </a:t>
            </a:r>
            <a:r>
              <a:rPr dirty="0" sz="1200" spc="-5">
                <a:latin typeface="Arial"/>
                <a:cs typeface="Arial"/>
              </a:rPr>
              <a:t>in 848. </a:t>
            </a:r>
            <a:r>
              <a:rPr dirty="0" sz="1200">
                <a:latin typeface="Arial"/>
                <a:cs typeface="Arial"/>
              </a:rPr>
              <a:t>The </a:t>
            </a:r>
            <a:r>
              <a:rPr dirty="0" sz="1200" spc="-5" i="1">
                <a:latin typeface="Arial"/>
                <a:cs typeface="Arial"/>
              </a:rPr>
              <a:t>ulama </a:t>
            </a:r>
            <a:r>
              <a:rPr dirty="0" sz="1200" spc="-5">
                <a:latin typeface="Arial"/>
                <a:cs typeface="Arial"/>
              </a:rPr>
              <a:t>and the major  </a:t>
            </a:r>
            <a:r>
              <a:rPr dirty="0" sz="1200">
                <a:latin typeface="Arial"/>
                <a:cs typeface="Arial"/>
              </a:rPr>
              <a:t>Islamic </a:t>
            </a:r>
            <a:r>
              <a:rPr dirty="0" sz="1200" spc="-5">
                <a:latin typeface="Arial"/>
                <a:cs typeface="Arial"/>
              </a:rPr>
              <a:t>law schools became </a:t>
            </a:r>
            <a:r>
              <a:rPr dirty="0" sz="1200">
                <a:latin typeface="Arial"/>
                <a:cs typeface="Arial"/>
              </a:rPr>
              <a:t>truly </a:t>
            </a:r>
            <a:r>
              <a:rPr dirty="0" sz="1200" spc="-5">
                <a:latin typeface="Arial"/>
                <a:cs typeface="Arial"/>
              </a:rPr>
              <a:t>defined in </a:t>
            </a:r>
            <a:r>
              <a:rPr dirty="0" sz="1200">
                <a:latin typeface="Arial"/>
                <a:cs typeface="Arial"/>
              </a:rPr>
              <a:t>the </a:t>
            </a:r>
            <a:r>
              <a:rPr dirty="0" sz="1200" spc="-5">
                <a:latin typeface="Arial"/>
                <a:cs typeface="Arial"/>
              </a:rPr>
              <a:t>period of al-Ma'mun and </a:t>
            </a:r>
            <a:r>
              <a:rPr dirty="0" sz="1200" spc="-5">
                <a:latin typeface="Arial"/>
                <a:cs typeface="Arial"/>
                <a:hlinkClick r:id="rId3"/>
              </a:rPr>
              <a:t>Sunnism</a:t>
            </a:r>
            <a:r>
              <a:rPr dirty="0" sz="1200" spc="-5">
                <a:latin typeface="Arial"/>
                <a:cs typeface="Arial"/>
              </a:rPr>
              <a:t>, </a:t>
            </a:r>
            <a:r>
              <a:rPr dirty="0" sz="1200" spc="-10">
                <a:latin typeface="Arial"/>
                <a:cs typeface="Arial"/>
              </a:rPr>
              <a:t>as </a:t>
            </a:r>
            <a:r>
              <a:rPr dirty="0" sz="1200" spc="-5">
                <a:latin typeface="Arial"/>
                <a:cs typeface="Arial"/>
              </a:rPr>
              <a:t>a  religion </a:t>
            </a:r>
            <a:r>
              <a:rPr dirty="0" sz="1200">
                <a:latin typeface="Arial"/>
                <a:cs typeface="Arial"/>
              </a:rPr>
              <a:t>of </a:t>
            </a:r>
            <a:r>
              <a:rPr dirty="0" sz="1200" spc="-5">
                <a:latin typeface="Arial"/>
                <a:cs typeface="Arial"/>
              </a:rPr>
              <a:t>legalism, became defined in parallel. Doctrinal differences between Sunni and  Shi'a Islam began </a:t>
            </a:r>
            <a:r>
              <a:rPr dirty="0" sz="1200">
                <a:latin typeface="Arial"/>
                <a:cs typeface="Arial"/>
              </a:rPr>
              <a:t>to </a:t>
            </a:r>
            <a:r>
              <a:rPr dirty="0" sz="1200" spc="-5">
                <a:latin typeface="Arial"/>
                <a:cs typeface="Arial"/>
              </a:rPr>
              <a:t>become </a:t>
            </a:r>
            <a:r>
              <a:rPr dirty="0" sz="1200">
                <a:latin typeface="Arial"/>
                <a:cs typeface="Arial"/>
              </a:rPr>
              <a:t>more</a:t>
            </a:r>
            <a:r>
              <a:rPr dirty="0" sz="1200" spc="-20">
                <a:latin typeface="Arial"/>
                <a:cs typeface="Arial"/>
              </a:rPr>
              <a:t> </a:t>
            </a:r>
            <a:r>
              <a:rPr dirty="0" sz="1200" spc="-5">
                <a:latin typeface="Arial"/>
                <a:cs typeface="Arial"/>
              </a:rPr>
              <a:t>pronounced.</a:t>
            </a:r>
            <a:endParaRPr sz="1200">
              <a:latin typeface="Arial"/>
              <a:cs typeface="Arial"/>
            </a:endParaRPr>
          </a:p>
          <a:p>
            <a:pPr>
              <a:lnSpc>
                <a:spcPct val="100000"/>
              </a:lnSpc>
              <a:spcBef>
                <a:spcPts val="55"/>
              </a:spcBef>
            </a:pPr>
            <a:endParaRPr sz="1100">
              <a:latin typeface="Arial"/>
              <a:cs typeface="Arial"/>
            </a:endParaRPr>
          </a:p>
          <a:p>
            <a:pPr marL="469900" indent="-229235">
              <a:lnSpc>
                <a:spcPct val="100000"/>
              </a:lnSpc>
              <a:buFont typeface="Wingdings"/>
              <a:buChar char=""/>
              <a:tabLst>
                <a:tab pos="470534" algn="l"/>
              </a:tabLst>
            </a:pPr>
            <a:r>
              <a:rPr dirty="0" u="heavy" sz="1200" spc="-5" b="1" i="1">
                <a:uFill>
                  <a:solidFill>
                    <a:srgbClr val="000000"/>
                  </a:solidFill>
                </a:uFill>
                <a:latin typeface="Arial"/>
                <a:cs typeface="Arial"/>
              </a:rPr>
              <a:t>Al Mutawakkil (847 </a:t>
            </a:r>
            <a:r>
              <a:rPr dirty="0" u="heavy" sz="1200" b="1" i="1">
                <a:uFill>
                  <a:solidFill>
                    <a:srgbClr val="000000"/>
                  </a:solidFill>
                </a:uFill>
                <a:latin typeface="Arial"/>
                <a:cs typeface="Arial"/>
              </a:rPr>
              <a:t>–</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861)</a:t>
            </a:r>
            <a:endParaRPr sz="1200">
              <a:latin typeface="Arial"/>
              <a:cs typeface="Arial"/>
            </a:endParaRPr>
          </a:p>
          <a:p>
            <a:pPr>
              <a:lnSpc>
                <a:spcPct val="100000"/>
              </a:lnSpc>
            </a:pPr>
            <a:endParaRPr sz="1200">
              <a:latin typeface="Arial"/>
              <a:cs typeface="Arial"/>
            </a:endParaRPr>
          </a:p>
          <a:p>
            <a:pPr algn="just" marL="12700" marR="5080">
              <a:lnSpc>
                <a:spcPct val="95800"/>
              </a:lnSpc>
            </a:pPr>
            <a:r>
              <a:rPr dirty="0" sz="1200">
                <a:latin typeface="Arial"/>
                <a:cs typeface="Arial"/>
              </a:rPr>
              <a:t>Upon </a:t>
            </a:r>
            <a:r>
              <a:rPr dirty="0" sz="1200" spc="-5">
                <a:latin typeface="Arial"/>
                <a:cs typeface="Arial"/>
              </a:rPr>
              <a:t>the death of </a:t>
            </a:r>
            <a:r>
              <a:rPr dirty="0" sz="1200">
                <a:latin typeface="Arial"/>
                <a:cs typeface="Arial"/>
              </a:rPr>
              <a:t>al </a:t>
            </a:r>
            <a:r>
              <a:rPr dirty="0" sz="1200" spc="-5">
                <a:latin typeface="Arial"/>
                <a:cs typeface="Arial"/>
              </a:rPr>
              <a:t>Ma‘mun, </a:t>
            </a:r>
            <a:r>
              <a:rPr dirty="0" sz="1200">
                <a:latin typeface="Arial"/>
                <a:cs typeface="Arial"/>
              </a:rPr>
              <a:t>he </a:t>
            </a:r>
            <a:r>
              <a:rPr dirty="0" sz="1200" spc="-5">
                <a:latin typeface="Arial"/>
                <a:cs typeface="Arial"/>
              </a:rPr>
              <a:t>appointed his brother </a:t>
            </a:r>
            <a:r>
              <a:rPr dirty="0" sz="1200">
                <a:latin typeface="Arial"/>
                <a:cs typeface="Arial"/>
              </a:rPr>
              <a:t>Must‘asim, </a:t>
            </a:r>
            <a:r>
              <a:rPr dirty="0" sz="1200" spc="-5">
                <a:latin typeface="Arial"/>
                <a:cs typeface="Arial"/>
              </a:rPr>
              <a:t>then the latter‘s </a:t>
            </a:r>
            <a:r>
              <a:rPr dirty="0" sz="1200">
                <a:latin typeface="Arial"/>
                <a:cs typeface="Arial"/>
              </a:rPr>
              <a:t>son  Wasiq </a:t>
            </a:r>
            <a:r>
              <a:rPr dirty="0" sz="1200" spc="-5">
                <a:latin typeface="Arial"/>
                <a:cs typeface="Arial"/>
              </a:rPr>
              <a:t>then the latter‘s brother Jaafar known </a:t>
            </a:r>
            <a:r>
              <a:rPr dirty="0" sz="1200">
                <a:latin typeface="Arial"/>
                <a:cs typeface="Arial"/>
              </a:rPr>
              <a:t>as </a:t>
            </a:r>
            <a:r>
              <a:rPr dirty="0" sz="1200" spc="-5">
                <a:latin typeface="Arial"/>
                <a:cs typeface="Arial"/>
              </a:rPr>
              <a:t>Mutawakkil. The latter was </a:t>
            </a:r>
            <a:r>
              <a:rPr dirty="0" sz="1200">
                <a:latin typeface="Arial"/>
                <a:cs typeface="Arial"/>
              </a:rPr>
              <a:t>not </a:t>
            </a:r>
            <a:r>
              <a:rPr dirty="0" sz="1200" spc="-5">
                <a:latin typeface="Arial"/>
                <a:cs typeface="Arial"/>
              </a:rPr>
              <a:t>in good </a:t>
            </a:r>
            <a:r>
              <a:rPr dirty="0" sz="1200" spc="-10">
                <a:latin typeface="Arial"/>
                <a:cs typeface="Arial"/>
              </a:rPr>
              <a:t>term  with </a:t>
            </a:r>
            <a:r>
              <a:rPr dirty="0" sz="1200" spc="5">
                <a:latin typeface="Arial"/>
                <a:cs typeface="Arial"/>
              </a:rPr>
              <a:t>Wasiq. </a:t>
            </a:r>
            <a:r>
              <a:rPr dirty="0" sz="1200" spc="-5">
                <a:latin typeface="Arial"/>
                <a:cs typeface="Arial"/>
              </a:rPr>
              <a:t>During Wasiq‘s reign, Mutawakkil was </a:t>
            </a:r>
            <a:r>
              <a:rPr dirty="0" sz="1200">
                <a:latin typeface="Arial"/>
                <a:cs typeface="Arial"/>
              </a:rPr>
              <a:t>ill-treated. </a:t>
            </a:r>
            <a:r>
              <a:rPr dirty="0" sz="1200" spc="-5">
                <a:latin typeface="Arial"/>
                <a:cs typeface="Arial"/>
              </a:rPr>
              <a:t>Mutawakkil on assuming  caliphate reversed the policies of </a:t>
            </a:r>
            <a:r>
              <a:rPr dirty="0" sz="1200">
                <a:latin typeface="Arial"/>
                <a:cs typeface="Arial"/>
              </a:rPr>
              <a:t>the </a:t>
            </a:r>
            <a:r>
              <a:rPr dirty="0" sz="1200" spc="-5">
                <a:latin typeface="Arial"/>
                <a:cs typeface="Arial"/>
              </a:rPr>
              <a:t>regime and </a:t>
            </a:r>
            <a:r>
              <a:rPr dirty="0" sz="1200" spc="-10">
                <a:latin typeface="Arial"/>
                <a:cs typeface="Arial"/>
              </a:rPr>
              <a:t>avenged </a:t>
            </a:r>
            <a:r>
              <a:rPr dirty="0" sz="1200" spc="-5">
                <a:latin typeface="Arial"/>
                <a:cs typeface="Arial"/>
              </a:rPr>
              <a:t>himself. He restored  fundamentalism (strict adherence </a:t>
            </a:r>
            <a:r>
              <a:rPr dirty="0" sz="1200">
                <a:latin typeface="Arial"/>
                <a:cs typeface="Arial"/>
              </a:rPr>
              <a:t>to </a:t>
            </a:r>
            <a:r>
              <a:rPr dirty="0" sz="1200" spc="-5">
                <a:latin typeface="Arial"/>
                <a:cs typeface="Arial"/>
              </a:rPr>
              <a:t>specific theological </a:t>
            </a:r>
            <a:r>
              <a:rPr dirty="0" sz="1200">
                <a:latin typeface="Arial"/>
                <a:cs typeface="Arial"/>
              </a:rPr>
              <a:t>doctrines) </a:t>
            </a:r>
            <a:r>
              <a:rPr dirty="0" sz="1200" spc="-5">
                <a:latin typeface="Arial"/>
                <a:cs typeface="Arial"/>
              </a:rPr>
              <a:t>and banned rationalism  (use of reason as a source of </a:t>
            </a:r>
            <a:r>
              <a:rPr dirty="0" sz="1200">
                <a:latin typeface="Arial"/>
                <a:cs typeface="Arial"/>
              </a:rPr>
              <a:t>knowledge). </a:t>
            </a:r>
            <a:r>
              <a:rPr dirty="0" sz="1200" spc="-5">
                <a:latin typeface="Arial"/>
                <a:cs typeface="Arial"/>
              </a:rPr>
              <a:t>He </a:t>
            </a:r>
            <a:r>
              <a:rPr dirty="0" sz="1200">
                <a:latin typeface="Arial"/>
                <a:cs typeface="Arial"/>
              </a:rPr>
              <a:t>stated </a:t>
            </a:r>
            <a:r>
              <a:rPr dirty="0" sz="1200" spc="-5">
                <a:latin typeface="Arial"/>
                <a:cs typeface="Arial"/>
              </a:rPr>
              <a:t>that the Qur‘an was </a:t>
            </a:r>
            <a:r>
              <a:rPr dirty="0" sz="1200">
                <a:latin typeface="Arial"/>
                <a:cs typeface="Arial"/>
              </a:rPr>
              <a:t>not created. </a:t>
            </a:r>
            <a:r>
              <a:rPr dirty="0" sz="1200" spc="5">
                <a:latin typeface="Arial"/>
                <a:cs typeface="Arial"/>
              </a:rPr>
              <a:t>The </a:t>
            </a:r>
            <a:r>
              <a:rPr dirty="0" sz="1200" spc="340">
                <a:latin typeface="Arial"/>
                <a:cs typeface="Arial"/>
              </a:rPr>
              <a:t> </a:t>
            </a:r>
            <a:r>
              <a:rPr dirty="0" sz="1200" spc="-5">
                <a:latin typeface="Arial"/>
                <a:cs typeface="Arial"/>
              </a:rPr>
              <a:t>rationalists were expelled from public </a:t>
            </a:r>
            <a:r>
              <a:rPr dirty="0" sz="1200">
                <a:latin typeface="Arial"/>
                <a:cs typeface="Arial"/>
              </a:rPr>
              <a:t>offices </a:t>
            </a:r>
            <a:r>
              <a:rPr dirty="0" sz="1200" spc="-5">
                <a:latin typeface="Arial"/>
                <a:cs typeface="Arial"/>
              </a:rPr>
              <a:t>and all discussions </a:t>
            </a:r>
            <a:r>
              <a:rPr dirty="0" sz="1200" spc="-10">
                <a:latin typeface="Arial"/>
                <a:cs typeface="Arial"/>
              </a:rPr>
              <a:t>on </a:t>
            </a:r>
            <a:r>
              <a:rPr dirty="0" sz="1200" spc="-5">
                <a:latin typeface="Arial"/>
                <a:cs typeface="Arial"/>
              </a:rPr>
              <a:t>science and philosophy  were banned. All fundamentalist </a:t>
            </a:r>
            <a:r>
              <a:rPr dirty="0" sz="1200">
                <a:latin typeface="Arial"/>
                <a:cs typeface="Arial"/>
              </a:rPr>
              <a:t>Imams </a:t>
            </a:r>
            <a:r>
              <a:rPr dirty="0" sz="1200" spc="-5">
                <a:latin typeface="Arial"/>
                <a:cs typeface="Arial"/>
              </a:rPr>
              <a:t>like Imam Ahmad bin Hambal were </a:t>
            </a:r>
            <a:r>
              <a:rPr dirty="0" sz="1200">
                <a:latin typeface="Arial"/>
                <a:cs typeface="Arial"/>
              </a:rPr>
              <a:t>set free </a:t>
            </a:r>
            <a:r>
              <a:rPr dirty="0" sz="1200" spc="-5">
                <a:latin typeface="Arial"/>
                <a:cs typeface="Arial"/>
              </a:rPr>
              <a:t>and </a:t>
            </a:r>
            <a:r>
              <a:rPr dirty="0" sz="1200" spc="-10">
                <a:latin typeface="Arial"/>
                <a:cs typeface="Arial"/>
              </a:rPr>
              <a:t>the  </a:t>
            </a:r>
            <a:r>
              <a:rPr dirty="0" sz="1200" spc="-5">
                <a:latin typeface="Arial"/>
                <a:cs typeface="Arial"/>
              </a:rPr>
              <a:t>Mu‘tazilah were imprisoned and their properties confiscated. He </a:t>
            </a:r>
            <a:r>
              <a:rPr dirty="0" sz="1200" spc="-10">
                <a:latin typeface="Arial"/>
                <a:cs typeface="Arial"/>
              </a:rPr>
              <a:t>was </a:t>
            </a:r>
            <a:r>
              <a:rPr dirty="0" sz="1200">
                <a:latin typeface="Arial"/>
                <a:cs typeface="Arial"/>
              </a:rPr>
              <a:t>hostile to the </a:t>
            </a:r>
            <a:r>
              <a:rPr dirty="0" sz="1200" spc="-5">
                <a:latin typeface="Arial"/>
                <a:cs typeface="Arial"/>
              </a:rPr>
              <a:t>Shi‘a </a:t>
            </a:r>
            <a:r>
              <a:rPr dirty="0" sz="1200">
                <a:latin typeface="Arial"/>
                <a:cs typeface="Arial"/>
              </a:rPr>
              <a:t>and  </a:t>
            </a:r>
            <a:r>
              <a:rPr dirty="0" sz="1200" spc="-5">
                <a:latin typeface="Arial"/>
                <a:cs typeface="Arial"/>
              </a:rPr>
              <a:t>continued anti-Shi‘a policies. He destroyed Mausoleum of </a:t>
            </a:r>
            <a:r>
              <a:rPr dirty="0" sz="1200">
                <a:latin typeface="Arial"/>
                <a:cs typeface="Arial"/>
              </a:rPr>
              <a:t>Imam </a:t>
            </a:r>
            <a:r>
              <a:rPr dirty="0" sz="1200" spc="-5">
                <a:latin typeface="Arial"/>
                <a:cs typeface="Arial"/>
              </a:rPr>
              <a:t>Husain </a:t>
            </a:r>
            <a:r>
              <a:rPr dirty="0" sz="1200">
                <a:latin typeface="Arial"/>
                <a:cs typeface="Arial"/>
              </a:rPr>
              <a:t>and </a:t>
            </a:r>
            <a:r>
              <a:rPr dirty="0" sz="1200" spc="-5">
                <a:latin typeface="Arial"/>
                <a:cs typeface="Arial"/>
              </a:rPr>
              <a:t>banned  pilgrimage of Najaf (according </a:t>
            </a:r>
            <a:r>
              <a:rPr dirty="0" sz="1200">
                <a:latin typeface="Arial"/>
                <a:cs typeface="Arial"/>
              </a:rPr>
              <a:t>to the </a:t>
            </a:r>
            <a:r>
              <a:rPr dirty="0" sz="1200" spc="-5">
                <a:latin typeface="Arial"/>
                <a:cs typeface="Arial"/>
              </a:rPr>
              <a:t>Shi‘a Hazrat Ali said that </a:t>
            </a:r>
            <a:r>
              <a:rPr dirty="0" sz="1200">
                <a:latin typeface="Arial"/>
                <a:cs typeface="Arial"/>
              </a:rPr>
              <a:t>this </a:t>
            </a:r>
            <a:r>
              <a:rPr dirty="0" sz="1200" spc="-5">
                <a:latin typeface="Arial"/>
                <a:cs typeface="Arial"/>
              </a:rPr>
              <a:t>valley is </a:t>
            </a:r>
            <a:r>
              <a:rPr dirty="0" sz="1200">
                <a:latin typeface="Arial"/>
                <a:cs typeface="Arial"/>
              </a:rPr>
              <a:t>part </a:t>
            </a:r>
            <a:r>
              <a:rPr dirty="0" sz="1200" spc="-5">
                <a:latin typeface="Arial"/>
                <a:cs typeface="Arial"/>
              </a:rPr>
              <a:t>of paradise)  and Karbala (martyrs of Karbala). He ordered the </a:t>
            </a:r>
            <a:r>
              <a:rPr dirty="0" sz="1200" spc="-10">
                <a:latin typeface="Arial"/>
                <a:cs typeface="Arial"/>
              </a:rPr>
              <a:t>Jews </a:t>
            </a:r>
            <a:r>
              <a:rPr dirty="0" sz="1200" spc="-5">
                <a:latin typeface="Arial"/>
                <a:cs typeface="Arial"/>
              </a:rPr>
              <a:t>and </a:t>
            </a:r>
            <a:r>
              <a:rPr dirty="0" sz="1200">
                <a:latin typeface="Arial"/>
                <a:cs typeface="Arial"/>
              </a:rPr>
              <a:t>the </a:t>
            </a:r>
            <a:r>
              <a:rPr dirty="0" sz="1200" spc="-5">
                <a:latin typeface="Arial"/>
                <a:cs typeface="Arial"/>
              </a:rPr>
              <a:t>Christians </a:t>
            </a:r>
            <a:r>
              <a:rPr dirty="0" sz="1200">
                <a:latin typeface="Arial"/>
                <a:cs typeface="Arial"/>
              </a:rPr>
              <a:t>to </a:t>
            </a:r>
            <a:r>
              <a:rPr dirty="0" sz="1200" spc="-5">
                <a:latin typeface="Arial"/>
                <a:cs typeface="Arial"/>
              </a:rPr>
              <a:t>wear distinctive  </a:t>
            </a:r>
            <a:r>
              <a:rPr dirty="0" sz="1200">
                <a:latin typeface="Arial"/>
                <a:cs typeface="Arial"/>
              </a:rPr>
              <a:t>dress. They </a:t>
            </a:r>
            <a:r>
              <a:rPr dirty="0" sz="1200" spc="-5">
                <a:latin typeface="Arial"/>
                <a:cs typeface="Arial"/>
              </a:rPr>
              <a:t>were forbidden </a:t>
            </a:r>
            <a:r>
              <a:rPr dirty="0" sz="1200">
                <a:latin typeface="Arial"/>
                <a:cs typeface="Arial"/>
              </a:rPr>
              <a:t>to </a:t>
            </a:r>
            <a:r>
              <a:rPr dirty="0" sz="1200" spc="-5">
                <a:latin typeface="Arial"/>
                <a:cs typeface="Arial"/>
              </a:rPr>
              <a:t>ride on animals </a:t>
            </a:r>
            <a:r>
              <a:rPr dirty="0" sz="1200">
                <a:latin typeface="Arial"/>
                <a:cs typeface="Arial"/>
              </a:rPr>
              <a:t>other </a:t>
            </a:r>
            <a:r>
              <a:rPr dirty="0" sz="1200" spc="-5">
                <a:latin typeface="Arial"/>
                <a:cs typeface="Arial"/>
              </a:rPr>
              <a:t>than donkeys </a:t>
            </a:r>
            <a:r>
              <a:rPr dirty="0" sz="1200">
                <a:latin typeface="Arial"/>
                <a:cs typeface="Arial"/>
              </a:rPr>
              <a:t>and </a:t>
            </a:r>
            <a:r>
              <a:rPr dirty="0" sz="1200" spc="-5">
                <a:latin typeface="Arial"/>
                <a:cs typeface="Arial"/>
              </a:rPr>
              <a:t>mules. No new </a:t>
            </a:r>
            <a:r>
              <a:rPr dirty="0" sz="1200">
                <a:latin typeface="Arial"/>
                <a:cs typeface="Arial"/>
              </a:rPr>
              <a:t>church  </a:t>
            </a:r>
            <a:r>
              <a:rPr dirty="0" sz="1200" spc="-5">
                <a:latin typeface="Arial"/>
                <a:cs typeface="Arial"/>
              </a:rPr>
              <a:t>and synagogue </a:t>
            </a:r>
            <a:r>
              <a:rPr dirty="0" sz="1200" spc="-10">
                <a:latin typeface="Arial"/>
                <a:cs typeface="Arial"/>
              </a:rPr>
              <a:t>was</a:t>
            </a:r>
            <a:r>
              <a:rPr dirty="0" sz="1200" spc="5">
                <a:latin typeface="Arial"/>
                <a:cs typeface="Arial"/>
              </a:rPr>
              <a:t> </a:t>
            </a:r>
            <a:r>
              <a:rPr dirty="0" sz="1200" spc="-5">
                <a:latin typeface="Arial"/>
                <a:cs typeface="Arial"/>
              </a:rPr>
              <a:t>built.</a:t>
            </a:r>
            <a:endParaRPr sz="1200">
              <a:latin typeface="Arial"/>
              <a:cs typeface="Arial"/>
            </a:endParaRPr>
          </a:p>
          <a:p>
            <a:pPr>
              <a:lnSpc>
                <a:spcPct val="100000"/>
              </a:lnSpc>
            </a:pPr>
            <a:endParaRPr sz="1200">
              <a:latin typeface="Arial"/>
              <a:cs typeface="Arial"/>
            </a:endParaRPr>
          </a:p>
          <a:p>
            <a:pPr algn="just" marL="12700" marR="8890">
              <a:lnSpc>
                <a:spcPct val="95900"/>
              </a:lnSpc>
            </a:pPr>
            <a:r>
              <a:rPr dirty="0" sz="1200" spc="-5">
                <a:latin typeface="Arial"/>
                <a:cs typeface="Arial"/>
              </a:rPr>
              <a:t>There were revolts in Armenia, Azerbaijan and </a:t>
            </a:r>
            <a:r>
              <a:rPr dirty="0" sz="1200">
                <a:latin typeface="Arial"/>
                <a:cs typeface="Arial"/>
              </a:rPr>
              <a:t>Hims. </a:t>
            </a:r>
            <a:r>
              <a:rPr dirty="0" sz="1200" spc="-5">
                <a:latin typeface="Arial"/>
                <a:cs typeface="Arial"/>
              </a:rPr>
              <a:t>All of them were crushed. </a:t>
            </a:r>
            <a:r>
              <a:rPr dirty="0" sz="1200">
                <a:latin typeface="Arial"/>
                <a:cs typeface="Arial"/>
              </a:rPr>
              <a:t>In </a:t>
            </a:r>
            <a:r>
              <a:rPr dirty="0" sz="1200" spc="-5">
                <a:latin typeface="Arial"/>
                <a:cs typeface="Arial"/>
              </a:rPr>
              <a:t>Egypt the  </a:t>
            </a:r>
            <a:r>
              <a:rPr dirty="0" sz="1200">
                <a:latin typeface="Arial"/>
                <a:cs typeface="Arial"/>
              </a:rPr>
              <a:t>Sufi Dhun </a:t>
            </a:r>
            <a:r>
              <a:rPr dirty="0" sz="1200" spc="-5">
                <a:latin typeface="Arial"/>
                <a:cs typeface="Arial"/>
              </a:rPr>
              <a:t>Nun </a:t>
            </a:r>
            <a:r>
              <a:rPr dirty="0" sz="1200">
                <a:latin typeface="Arial"/>
                <a:cs typeface="Arial"/>
              </a:rPr>
              <a:t>proclaimed </a:t>
            </a:r>
            <a:r>
              <a:rPr dirty="0" sz="1200" spc="-5">
                <a:latin typeface="Arial"/>
                <a:cs typeface="Arial"/>
              </a:rPr>
              <a:t>communication with </a:t>
            </a:r>
            <a:r>
              <a:rPr dirty="0" sz="1200">
                <a:latin typeface="Arial"/>
                <a:cs typeface="Arial"/>
              </a:rPr>
              <a:t>God. </a:t>
            </a:r>
            <a:r>
              <a:rPr dirty="0" sz="1200" spc="-5">
                <a:latin typeface="Arial"/>
                <a:cs typeface="Arial"/>
              </a:rPr>
              <a:t>The fundamentalist wanted </a:t>
            </a:r>
            <a:r>
              <a:rPr dirty="0" sz="1200" spc="-10">
                <a:latin typeface="Arial"/>
                <a:cs typeface="Arial"/>
              </a:rPr>
              <a:t>punitive  </a:t>
            </a:r>
            <a:r>
              <a:rPr dirty="0" sz="1200" spc="-5">
                <a:latin typeface="Arial"/>
                <a:cs typeface="Arial"/>
              </a:rPr>
              <a:t>measures. But when he </a:t>
            </a:r>
            <a:r>
              <a:rPr dirty="0" sz="1200" spc="-10">
                <a:latin typeface="Arial"/>
                <a:cs typeface="Arial"/>
              </a:rPr>
              <a:t>was </a:t>
            </a:r>
            <a:r>
              <a:rPr dirty="0" sz="1200" spc="-5">
                <a:latin typeface="Arial"/>
                <a:cs typeface="Arial"/>
              </a:rPr>
              <a:t>questioned by al Mutawakkil, he found nothing wrong in his  belief and let him free </a:t>
            </a:r>
            <a:r>
              <a:rPr dirty="0" sz="1200">
                <a:latin typeface="Arial"/>
                <a:cs typeface="Arial"/>
              </a:rPr>
              <a:t>to return to </a:t>
            </a:r>
            <a:r>
              <a:rPr dirty="0" sz="1200" spc="-5">
                <a:latin typeface="Arial"/>
                <a:cs typeface="Arial"/>
              </a:rPr>
              <a:t>Egypt. During his reign, a great </a:t>
            </a:r>
            <a:r>
              <a:rPr dirty="0" sz="1200">
                <a:latin typeface="Arial"/>
                <a:cs typeface="Arial"/>
              </a:rPr>
              <a:t>part </a:t>
            </a:r>
            <a:r>
              <a:rPr dirty="0" sz="1200" spc="-5">
                <a:latin typeface="Arial"/>
                <a:cs typeface="Arial"/>
              </a:rPr>
              <a:t>of his dominion  suffered </a:t>
            </a:r>
            <a:r>
              <a:rPr dirty="0" sz="1200">
                <a:latin typeface="Arial"/>
                <a:cs typeface="Arial"/>
              </a:rPr>
              <a:t>from </a:t>
            </a:r>
            <a:r>
              <a:rPr dirty="0" sz="1200" spc="-5">
                <a:latin typeface="Arial"/>
                <a:cs typeface="Arial"/>
              </a:rPr>
              <a:t>earthquakes and other natural calamities. Special measures and prayers were  made. Mutawakkil wanted his son Muntasir </a:t>
            </a:r>
            <a:r>
              <a:rPr dirty="0" sz="1200">
                <a:latin typeface="Arial"/>
                <a:cs typeface="Arial"/>
              </a:rPr>
              <a:t>to </a:t>
            </a:r>
            <a:r>
              <a:rPr dirty="0" sz="1200" spc="-5">
                <a:latin typeface="Arial"/>
                <a:cs typeface="Arial"/>
              </a:rPr>
              <a:t>succeed him but through </a:t>
            </a:r>
            <a:r>
              <a:rPr dirty="0" sz="1200">
                <a:latin typeface="Arial"/>
                <a:cs typeface="Arial"/>
              </a:rPr>
              <a:t>the </a:t>
            </a:r>
            <a:r>
              <a:rPr dirty="0" sz="1200" spc="-5">
                <a:latin typeface="Arial"/>
                <a:cs typeface="Arial"/>
              </a:rPr>
              <a:t>influence of his  wife Qabiha </a:t>
            </a:r>
            <a:r>
              <a:rPr dirty="0" sz="1200">
                <a:latin typeface="Arial"/>
                <a:cs typeface="Arial"/>
              </a:rPr>
              <a:t>he </a:t>
            </a:r>
            <a:r>
              <a:rPr dirty="0" sz="1200" spc="-5">
                <a:latin typeface="Arial"/>
                <a:cs typeface="Arial"/>
              </a:rPr>
              <a:t>changed his idea </a:t>
            </a:r>
            <a:r>
              <a:rPr dirty="0" sz="1200">
                <a:latin typeface="Arial"/>
                <a:cs typeface="Arial"/>
              </a:rPr>
              <a:t>and </a:t>
            </a:r>
            <a:r>
              <a:rPr dirty="0" sz="1200" spc="-5">
                <a:latin typeface="Arial"/>
                <a:cs typeface="Arial"/>
              </a:rPr>
              <a:t>wanted Mu‘taaz </a:t>
            </a:r>
            <a:r>
              <a:rPr dirty="0" sz="1200">
                <a:latin typeface="Arial"/>
                <a:cs typeface="Arial"/>
              </a:rPr>
              <a:t>(the </a:t>
            </a:r>
            <a:r>
              <a:rPr dirty="0" sz="1200" spc="-5">
                <a:latin typeface="Arial"/>
                <a:cs typeface="Arial"/>
              </a:rPr>
              <a:t>son of Qabiha) to be </a:t>
            </a:r>
            <a:r>
              <a:rPr dirty="0" sz="1200" spc="-10">
                <a:latin typeface="Arial"/>
                <a:cs typeface="Arial"/>
              </a:rPr>
              <a:t>the  </a:t>
            </a:r>
            <a:r>
              <a:rPr dirty="0" sz="1200">
                <a:latin typeface="Arial"/>
                <a:cs typeface="Arial"/>
              </a:rPr>
              <a:t>successor. </a:t>
            </a:r>
            <a:r>
              <a:rPr dirty="0" sz="1200" spc="-5">
                <a:latin typeface="Arial"/>
                <a:cs typeface="Arial"/>
              </a:rPr>
              <a:t>Muntasir refused and that created bitterness between </a:t>
            </a:r>
            <a:r>
              <a:rPr dirty="0" sz="1200">
                <a:latin typeface="Arial"/>
                <a:cs typeface="Arial"/>
              </a:rPr>
              <a:t>them. </a:t>
            </a:r>
            <a:r>
              <a:rPr dirty="0" sz="1200" spc="-5">
                <a:latin typeface="Arial"/>
                <a:cs typeface="Arial"/>
              </a:rPr>
              <a:t>Muntasir and his  army conspired and killed the caliph. He </a:t>
            </a:r>
            <a:r>
              <a:rPr dirty="0" sz="1200" spc="-10">
                <a:latin typeface="Arial"/>
                <a:cs typeface="Arial"/>
              </a:rPr>
              <a:t>was </a:t>
            </a:r>
            <a:r>
              <a:rPr dirty="0" sz="1200" spc="-5">
                <a:latin typeface="Arial"/>
                <a:cs typeface="Arial"/>
              </a:rPr>
              <a:t>the </a:t>
            </a:r>
            <a:r>
              <a:rPr dirty="0" sz="1200">
                <a:latin typeface="Arial"/>
                <a:cs typeface="Arial"/>
              </a:rPr>
              <a:t>first </a:t>
            </a:r>
            <a:r>
              <a:rPr dirty="0" sz="1200" spc="-5">
                <a:latin typeface="Arial"/>
                <a:cs typeface="Arial"/>
              </a:rPr>
              <a:t>caliph to be killed </a:t>
            </a:r>
            <a:r>
              <a:rPr dirty="0" sz="1200">
                <a:latin typeface="Arial"/>
                <a:cs typeface="Arial"/>
              </a:rPr>
              <a:t>by his </a:t>
            </a:r>
            <a:r>
              <a:rPr dirty="0" sz="1200" spc="-10">
                <a:latin typeface="Arial"/>
                <a:cs typeface="Arial"/>
              </a:rPr>
              <a:t>own</a:t>
            </a:r>
            <a:r>
              <a:rPr dirty="0" sz="1200" spc="100">
                <a:latin typeface="Arial"/>
                <a:cs typeface="Arial"/>
              </a:rPr>
              <a:t> </a:t>
            </a:r>
            <a:r>
              <a:rPr dirty="0" sz="1200" spc="-5">
                <a:latin typeface="Arial"/>
                <a:cs typeface="Arial"/>
              </a:rPr>
              <a:t>army.</a:t>
            </a:r>
            <a:endParaRPr sz="12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u="heavy" sz="1200" spc="-5" b="1" i="1">
                <a:uFill>
                  <a:solidFill>
                    <a:srgbClr val="000000"/>
                  </a:solidFill>
                </a:uFill>
                <a:latin typeface="Arial"/>
                <a:cs typeface="Arial"/>
              </a:rPr>
              <a:t>Main Traits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Abassid</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Dynasty</a:t>
            </a:r>
            <a:endParaRPr sz="1200">
              <a:latin typeface="Arial"/>
              <a:cs typeface="Arial"/>
            </a:endParaRPr>
          </a:p>
          <a:p>
            <a:pPr>
              <a:lnSpc>
                <a:spcPct val="100000"/>
              </a:lnSpc>
              <a:spcBef>
                <a:spcPts val="5"/>
              </a:spcBef>
            </a:pPr>
            <a:endParaRPr sz="1200">
              <a:latin typeface="Arial"/>
              <a:cs typeface="Arial"/>
            </a:endParaRPr>
          </a:p>
          <a:p>
            <a:pPr algn="just" marL="469900" marR="7620" indent="-229235">
              <a:lnSpc>
                <a:spcPct val="95400"/>
              </a:lnSpc>
              <a:buAutoNum type="arabicPeriod"/>
              <a:tabLst>
                <a:tab pos="470534" algn="l"/>
              </a:tabLst>
            </a:pPr>
            <a:r>
              <a:rPr dirty="0" sz="1200" spc="-5">
                <a:latin typeface="Arial"/>
                <a:cs typeface="Arial"/>
              </a:rPr>
              <a:t>The Golden age of the Abbasids </a:t>
            </a:r>
            <a:r>
              <a:rPr dirty="0" sz="1200" spc="-10">
                <a:latin typeface="Arial"/>
                <a:cs typeface="Arial"/>
              </a:rPr>
              <a:t>was between </a:t>
            </a:r>
            <a:r>
              <a:rPr dirty="0" sz="1200">
                <a:latin typeface="Arial"/>
                <a:cs typeface="Arial"/>
              </a:rPr>
              <a:t>the </a:t>
            </a:r>
            <a:r>
              <a:rPr dirty="0" sz="1200" spc="-5">
                <a:latin typeface="Arial"/>
                <a:cs typeface="Arial"/>
              </a:rPr>
              <a:t>3rd and 4th </a:t>
            </a:r>
            <a:r>
              <a:rPr dirty="0" sz="1200">
                <a:latin typeface="Arial"/>
                <a:cs typeface="Arial"/>
              </a:rPr>
              <a:t>/ </a:t>
            </a:r>
            <a:r>
              <a:rPr dirty="0" sz="1200" spc="-5">
                <a:latin typeface="Arial"/>
                <a:cs typeface="Arial"/>
              </a:rPr>
              <a:t>9th and </a:t>
            </a:r>
            <a:r>
              <a:rPr dirty="0" sz="1200" spc="-10">
                <a:latin typeface="Arial"/>
                <a:cs typeface="Arial"/>
              </a:rPr>
              <a:t>10th  </a:t>
            </a:r>
            <a:r>
              <a:rPr dirty="0" sz="1200" spc="-5">
                <a:latin typeface="Arial"/>
                <a:cs typeface="Arial"/>
              </a:rPr>
              <a:t>centuries, during which </a:t>
            </a:r>
            <a:r>
              <a:rPr dirty="0" sz="1200">
                <a:latin typeface="Arial"/>
                <a:cs typeface="Arial"/>
              </a:rPr>
              <a:t>time </a:t>
            </a:r>
            <a:r>
              <a:rPr dirty="0" sz="1200" spc="-5">
                <a:latin typeface="Arial"/>
                <a:cs typeface="Arial"/>
              </a:rPr>
              <a:t>the Middle East and North Africa witnessed a </a:t>
            </a:r>
            <a:r>
              <a:rPr dirty="0" sz="1200">
                <a:latin typeface="Arial"/>
                <a:cs typeface="Arial"/>
              </a:rPr>
              <a:t>major </a:t>
            </a:r>
            <a:r>
              <a:rPr dirty="0" sz="1200" spc="-5">
                <a:latin typeface="Arial"/>
                <a:cs typeface="Arial"/>
              </a:rPr>
              <a:t>shift  from a largely agricultural economy </a:t>
            </a:r>
            <a:r>
              <a:rPr dirty="0" sz="1200">
                <a:latin typeface="Arial"/>
                <a:cs typeface="Arial"/>
              </a:rPr>
              <a:t>to </a:t>
            </a:r>
            <a:r>
              <a:rPr dirty="0" sz="1200" spc="-5">
                <a:latin typeface="Arial"/>
                <a:cs typeface="Arial"/>
              </a:rPr>
              <a:t>one </a:t>
            </a:r>
            <a:r>
              <a:rPr dirty="0" sz="1200" spc="-10">
                <a:latin typeface="Arial"/>
                <a:cs typeface="Arial"/>
              </a:rPr>
              <a:t>driven </a:t>
            </a:r>
            <a:r>
              <a:rPr dirty="0" sz="1200">
                <a:latin typeface="Arial"/>
                <a:cs typeface="Arial"/>
              </a:rPr>
              <a:t>by trade. </a:t>
            </a:r>
            <a:r>
              <a:rPr dirty="0" sz="1200" spc="-5" b="1" i="1">
                <a:latin typeface="Arial"/>
                <a:cs typeface="Arial"/>
              </a:rPr>
              <a:t>(Agriculture &amp;</a:t>
            </a:r>
            <a:r>
              <a:rPr dirty="0" sz="1200" spc="145" b="1" i="1">
                <a:latin typeface="Arial"/>
                <a:cs typeface="Arial"/>
              </a:rPr>
              <a:t> </a:t>
            </a:r>
            <a:r>
              <a:rPr dirty="0" sz="1200" spc="-5" b="1" i="1">
                <a:latin typeface="Arial"/>
                <a:cs typeface="Arial"/>
              </a:rPr>
              <a:t>Economy)</a:t>
            </a:r>
            <a:endParaRPr sz="1200">
              <a:latin typeface="Arial"/>
              <a:cs typeface="Arial"/>
            </a:endParaRPr>
          </a:p>
          <a:p>
            <a:pPr algn="just" marL="469900" marR="5080" indent="-229235">
              <a:lnSpc>
                <a:spcPct val="95900"/>
              </a:lnSpc>
              <a:buAutoNum type="arabicPeriod"/>
              <a:tabLst>
                <a:tab pos="470534" algn="l"/>
              </a:tabLst>
            </a:pPr>
            <a:r>
              <a:rPr dirty="0" sz="1200" spc="-5">
                <a:latin typeface="Arial"/>
                <a:cs typeface="Arial"/>
              </a:rPr>
              <a:t>The seeking of formal knowledge </a:t>
            </a:r>
            <a:r>
              <a:rPr dirty="0" sz="1200" spc="-10">
                <a:latin typeface="Arial"/>
                <a:cs typeface="Arial"/>
              </a:rPr>
              <a:t>was </a:t>
            </a:r>
            <a:r>
              <a:rPr dirty="0" sz="1200" spc="-5">
                <a:latin typeface="Arial"/>
                <a:cs typeface="Arial"/>
              </a:rPr>
              <a:t>encouraged by </a:t>
            </a:r>
            <a:r>
              <a:rPr dirty="0" sz="1200">
                <a:latin typeface="Arial"/>
                <a:cs typeface="Arial"/>
              </a:rPr>
              <a:t>the </a:t>
            </a:r>
            <a:r>
              <a:rPr dirty="0" sz="1200" spc="5">
                <a:latin typeface="Arial"/>
                <a:cs typeface="Arial"/>
              </a:rPr>
              <a:t>state. </a:t>
            </a:r>
            <a:r>
              <a:rPr dirty="0" sz="1200" spc="-5">
                <a:latin typeface="Arial"/>
                <a:cs typeface="Arial"/>
              </a:rPr>
              <a:t>Many schools were  established in Baghdad and the provinces. </a:t>
            </a:r>
            <a:r>
              <a:rPr dirty="0" sz="1200">
                <a:latin typeface="Arial"/>
                <a:cs typeface="Arial"/>
              </a:rPr>
              <a:t>The art </a:t>
            </a:r>
            <a:r>
              <a:rPr dirty="0" sz="1200" spc="-5">
                <a:latin typeface="Arial"/>
                <a:cs typeface="Arial"/>
              </a:rPr>
              <a:t>of book translation </a:t>
            </a:r>
            <a:r>
              <a:rPr dirty="0" sz="1200" spc="-10">
                <a:latin typeface="Arial"/>
                <a:cs typeface="Arial"/>
              </a:rPr>
              <a:t>thrived </a:t>
            </a:r>
            <a:r>
              <a:rPr dirty="0" sz="1200" spc="-5">
                <a:latin typeface="Arial"/>
                <a:cs typeface="Arial"/>
              </a:rPr>
              <a:t>and </a:t>
            </a:r>
            <a:r>
              <a:rPr dirty="0" sz="1200" spc="-10">
                <a:latin typeface="Arial"/>
                <a:cs typeface="Arial"/>
              </a:rPr>
              <a:t>led  </a:t>
            </a:r>
            <a:r>
              <a:rPr dirty="0" sz="1200">
                <a:latin typeface="Arial"/>
                <a:cs typeface="Arial"/>
              </a:rPr>
              <a:t>to </a:t>
            </a:r>
            <a:r>
              <a:rPr dirty="0" sz="1200" spc="-5">
                <a:latin typeface="Arial"/>
                <a:cs typeface="Arial"/>
              </a:rPr>
              <a:t>the preservation of many key </a:t>
            </a:r>
            <a:r>
              <a:rPr dirty="0" sz="1200">
                <a:latin typeface="Arial"/>
                <a:cs typeface="Arial"/>
              </a:rPr>
              <a:t>Greek, </a:t>
            </a:r>
            <a:r>
              <a:rPr dirty="0" sz="1200" spc="-5">
                <a:latin typeface="Arial"/>
                <a:cs typeface="Arial"/>
              </a:rPr>
              <a:t>Persian and Indian works which were  translated into Arabic. Significant contributions were made in the fields </a:t>
            </a:r>
            <a:r>
              <a:rPr dirty="0" sz="1200" spc="15">
                <a:latin typeface="Arial"/>
                <a:cs typeface="Arial"/>
              </a:rPr>
              <a:t>of </a:t>
            </a:r>
            <a:r>
              <a:rPr dirty="0" sz="1200" spc="-10">
                <a:latin typeface="Arial"/>
                <a:cs typeface="Arial"/>
              </a:rPr>
              <a:t>science,  </a:t>
            </a:r>
            <a:r>
              <a:rPr dirty="0" sz="1200" spc="-5">
                <a:latin typeface="Arial"/>
                <a:cs typeface="Arial"/>
              </a:rPr>
              <a:t>mathematics, medicine </a:t>
            </a:r>
            <a:r>
              <a:rPr dirty="0" sz="1200">
                <a:latin typeface="Arial"/>
                <a:cs typeface="Arial"/>
              </a:rPr>
              <a:t>and </a:t>
            </a:r>
            <a:r>
              <a:rPr dirty="0" sz="1200" spc="-5">
                <a:latin typeface="Arial"/>
                <a:cs typeface="Arial"/>
              </a:rPr>
              <a:t>philosophy.</a:t>
            </a:r>
            <a:r>
              <a:rPr dirty="0" sz="1200" spc="5">
                <a:latin typeface="Arial"/>
                <a:cs typeface="Arial"/>
              </a:rPr>
              <a:t> </a:t>
            </a:r>
            <a:r>
              <a:rPr dirty="0" sz="1200" spc="-5" b="1" i="1">
                <a:latin typeface="Arial"/>
                <a:cs typeface="Arial"/>
              </a:rPr>
              <a:t>(Knowledge)</a:t>
            </a:r>
            <a:endParaRPr sz="1200">
              <a:latin typeface="Arial"/>
              <a:cs typeface="Arial"/>
            </a:endParaRPr>
          </a:p>
          <a:p>
            <a:pPr algn="just" marL="469900" marR="8255" indent="-229235">
              <a:lnSpc>
                <a:spcPts val="1380"/>
              </a:lnSpc>
              <a:spcBef>
                <a:spcPts val="35"/>
              </a:spcBef>
              <a:buAutoNum type="arabicPeriod"/>
              <a:tabLst>
                <a:tab pos="470534" algn="l"/>
              </a:tabLst>
            </a:pPr>
            <a:r>
              <a:rPr dirty="0" sz="1200" spc="-5">
                <a:latin typeface="Arial"/>
                <a:cs typeface="Arial"/>
              </a:rPr>
              <a:t>The Abbasids supported and patronised medical research and medical practitioners.  </a:t>
            </a:r>
            <a:r>
              <a:rPr dirty="0" sz="1200">
                <a:latin typeface="Arial"/>
                <a:cs typeface="Arial"/>
              </a:rPr>
              <a:t>Great </a:t>
            </a:r>
            <a:r>
              <a:rPr dirty="0" sz="1200" spc="-5">
                <a:latin typeface="Arial"/>
                <a:cs typeface="Arial"/>
              </a:rPr>
              <a:t>developments </a:t>
            </a:r>
            <a:r>
              <a:rPr dirty="0" sz="1200" spc="-10">
                <a:latin typeface="Arial"/>
                <a:cs typeface="Arial"/>
              </a:rPr>
              <a:t>in </a:t>
            </a:r>
            <a:r>
              <a:rPr dirty="0" sz="1200" spc="-5">
                <a:latin typeface="Arial"/>
                <a:cs typeface="Arial"/>
              </a:rPr>
              <a:t>medicine were achieved: books on a variety </a:t>
            </a:r>
            <a:r>
              <a:rPr dirty="0" sz="1200">
                <a:latin typeface="Arial"/>
                <a:cs typeface="Arial"/>
              </a:rPr>
              <a:t>of </a:t>
            </a:r>
            <a:r>
              <a:rPr dirty="0" sz="1200" spc="-5">
                <a:latin typeface="Arial"/>
                <a:cs typeface="Arial"/>
              </a:rPr>
              <a:t>medical  subjects were written and translated; medical experiments were conducted and  documented and a number of medical instruments were designed </a:t>
            </a:r>
            <a:r>
              <a:rPr dirty="0" sz="1200">
                <a:latin typeface="Arial"/>
                <a:cs typeface="Arial"/>
              </a:rPr>
              <a:t>to </a:t>
            </a:r>
            <a:r>
              <a:rPr dirty="0" sz="1200" spc="-5">
                <a:latin typeface="Arial"/>
                <a:cs typeface="Arial"/>
              </a:rPr>
              <a:t>deal with a  variety </a:t>
            </a:r>
            <a:r>
              <a:rPr dirty="0" sz="1200">
                <a:latin typeface="Arial"/>
                <a:cs typeface="Arial"/>
              </a:rPr>
              <a:t>of </a:t>
            </a:r>
            <a:r>
              <a:rPr dirty="0" sz="1200" spc="-5">
                <a:latin typeface="Arial"/>
                <a:cs typeface="Arial"/>
              </a:rPr>
              <a:t>procedures. </a:t>
            </a:r>
            <a:r>
              <a:rPr dirty="0" sz="1200" spc="-5" b="1" i="1">
                <a:latin typeface="Arial"/>
                <a:cs typeface="Arial"/>
              </a:rPr>
              <a:t>(Medical</a:t>
            </a:r>
            <a:r>
              <a:rPr dirty="0" sz="1200" b="1" i="1">
                <a:latin typeface="Arial"/>
                <a:cs typeface="Arial"/>
              </a:rPr>
              <a:t> </a:t>
            </a:r>
            <a:r>
              <a:rPr dirty="0" sz="1200" spc="-5" b="1" i="1">
                <a:latin typeface="Arial"/>
                <a:cs typeface="Arial"/>
              </a:rPr>
              <a:t>Field)</a:t>
            </a:r>
            <a:endParaRPr sz="1200">
              <a:latin typeface="Arial"/>
              <a:cs typeface="Arial"/>
            </a:endParaRPr>
          </a:p>
          <a:p>
            <a:pPr algn="just" marL="469900" marR="10160" indent="-229235">
              <a:lnSpc>
                <a:spcPts val="1380"/>
              </a:lnSpc>
              <a:buAutoNum type="arabicPeriod"/>
              <a:tabLst>
                <a:tab pos="470534" algn="l"/>
              </a:tabLst>
            </a:pPr>
            <a:r>
              <a:rPr dirty="0" sz="1200">
                <a:latin typeface="Arial"/>
                <a:cs typeface="Arial"/>
              </a:rPr>
              <a:t>With </a:t>
            </a:r>
            <a:r>
              <a:rPr dirty="0" sz="1200" spc="-5">
                <a:latin typeface="Arial"/>
                <a:cs typeface="Arial"/>
              </a:rPr>
              <a:t>an expanding population and an awareness of how valuable </a:t>
            </a:r>
            <a:r>
              <a:rPr dirty="0" sz="1200" spc="-10">
                <a:latin typeface="Arial"/>
                <a:cs typeface="Arial"/>
              </a:rPr>
              <a:t>was </a:t>
            </a:r>
            <a:r>
              <a:rPr dirty="0" sz="1200" spc="-5">
                <a:latin typeface="Arial"/>
                <a:cs typeface="Arial"/>
              </a:rPr>
              <a:t>good urban  planning, the Abbasids </a:t>
            </a:r>
            <a:r>
              <a:rPr dirty="0" sz="1200">
                <a:latin typeface="Arial"/>
                <a:cs typeface="Arial"/>
              </a:rPr>
              <a:t>built </a:t>
            </a:r>
            <a:r>
              <a:rPr dirty="0" sz="1200" spc="-5">
                <a:latin typeface="Arial"/>
                <a:cs typeface="Arial"/>
              </a:rPr>
              <a:t>a number of towns and cities where special attention </a:t>
            </a:r>
            <a:r>
              <a:rPr dirty="0" sz="1200" spc="-10">
                <a:latin typeface="Arial"/>
                <a:cs typeface="Arial"/>
              </a:rPr>
              <a:t>was  </a:t>
            </a:r>
            <a:r>
              <a:rPr dirty="0" sz="1200" spc="-5">
                <a:latin typeface="Arial"/>
                <a:cs typeface="Arial"/>
              </a:rPr>
              <a:t>given </a:t>
            </a:r>
            <a:r>
              <a:rPr dirty="0" sz="1200">
                <a:latin typeface="Arial"/>
                <a:cs typeface="Arial"/>
              </a:rPr>
              <a:t>to </a:t>
            </a:r>
            <a:r>
              <a:rPr dirty="0" sz="1200" spc="-5">
                <a:latin typeface="Arial"/>
                <a:cs typeface="Arial"/>
              </a:rPr>
              <a:t>communications and transport routes. </a:t>
            </a:r>
            <a:r>
              <a:rPr dirty="0" sz="1200" spc="-5" b="1" i="1">
                <a:latin typeface="Arial"/>
                <a:cs typeface="Arial"/>
              </a:rPr>
              <a:t>(Towns</a:t>
            </a:r>
            <a:r>
              <a:rPr dirty="0" sz="1200" spc="60" b="1" i="1">
                <a:latin typeface="Arial"/>
                <a:cs typeface="Arial"/>
              </a:rPr>
              <a:t> </a:t>
            </a:r>
            <a:r>
              <a:rPr dirty="0" sz="1200" spc="-5" b="1" i="1">
                <a:latin typeface="Arial"/>
                <a:cs typeface="Arial"/>
              </a:rPr>
              <a:t>Infrastructures)</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108</a:t>
            </a:r>
            <a:endParaRPr sz="1200">
              <a:latin typeface="Times New Roman"/>
              <a:cs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0630" cy="8286750"/>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70" b="1">
                <a:latin typeface="Times New Roman"/>
                <a:cs typeface="Times New Roman"/>
              </a:rPr>
              <a:t>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469900" marR="5080" indent="-228600">
              <a:lnSpc>
                <a:spcPts val="1380"/>
              </a:lnSpc>
              <a:buAutoNum type="arabicPeriod" startAt="5"/>
              <a:tabLst>
                <a:tab pos="470534" algn="l"/>
              </a:tabLst>
            </a:pPr>
            <a:r>
              <a:rPr dirty="0" sz="1200">
                <a:latin typeface="Arial"/>
                <a:cs typeface="Arial"/>
              </a:rPr>
              <a:t>It </a:t>
            </a:r>
            <a:r>
              <a:rPr dirty="0" sz="1200" spc="-5">
                <a:latin typeface="Arial"/>
                <a:cs typeface="Arial"/>
              </a:rPr>
              <a:t>is not until </a:t>
            </a:r>
            <a:r>
              <a:rPr dirty="0" sz="1200">
                <a:latin typeface="Arial"/>
                <a:cs typeface="Arial"/>
              </a:rPr>
              <a:t>the </a:t>
            </a:r>
            <a:r>
              <a:rPr dirty="0" sz="1200" spc="-5">
                <a:latin typeface="Arial"/>
                <a:cs typeface="Arial"/>
              </a:rPr>
              <a:t>Abbasid period that a </a:t>
            </a:r>
            <a:r>
              <a:rPr dirty="0" sz="1200">
                <a:latin typeface="Arial"/>
                <a:cs typeface="Arial"/>
              </a:rPr>
              <a:t>distinct </a:t>
            </a:r>
            <a:r>
              <a:rPr dirty="0" sz="1200" spc="-5">
                <a:latin typeface="Arial"/>
                <a:cs typeface="Arial"/>
              </a:rPr>
              <a:t>type and style of ceramic </a:t>
            </a:r>
            <a:r>
              <a:rPr dirty="0" sz="1200" spc="-10">
                <a:latin typeface="Arial"/>
                <a:cs typeface="Arial"/>
              </a:rPr>
              <a:t>was </a:t>
            </a:r>
            <a:r>
              <a:rPr dirty="0" sz="1200" spc="-5">
                <a:latin typeface="Arial"/>
                <a:cs typeface="Arial"/>
              </a:rPr>
              <a:t>emerged  and that can </a:t>
            </a:r>
            <a:r>
              <a:rPr dirty="0" sz="1200">
                <a:latin typeface="Arial"/>
                <a:cs typeface="Arial"/>
              </a:rPr>
              <a:t>be </a:t>
            </a:r>
            <a:r>
              <a:rPr dirty="0" sz="1200" spc="-5">
                <a:latin typeface="Arial"/>
                <a:cs typeface="Arial"/>
              </a:rPr>
              <a:t>distinguished technically </a:t>
            </a:r>
            <a:r>
              <a:rPr dirty="0" sz="1200">
                <a:latin typeface="Arial"/>
                <a:cs typeface="Arial"/>
              </a:rPr>
              <a:t>as </a:t>
            </a:r>
            <a:r>
              <a:rPr dirty="0" sz="1200" spc="-45">
                <a:latin typeface="Arial"/>
                <a:cs typeface="Arial"/>
              </a:rPr>
              <a:t>‗Islamic‘. </a:t>
            </a:r>
            <a:r>
              <a:rPr dirty="0" sz="1200" spc="-5" b="1" i="1">
                <a:latin typeface="Arial"/>
                <a:cs typeface="Arial"/>
              </a:rPr>
              <a:t>(Islamic</a:t>
            </a:r>
            <a:r>
              <a:rPr dirty="0" sz="1200" spc="60" b="1" i="1">
                <a:latin typeface="Arial"/>
                <a:cs typeface="Arial"/>
              </a:rPr>
              <a:t> </a:t>
            </a:r>
            <a:r>
              <a:rPr dirty="0" sz="1200" spc="-5" b="1" i="1">
                <a:latin typeface="Arial"/>
                <a:cs typeface="Arial"/>
              </a:rPr>
              <a:t>Ceramic)</a:t>
            </a:r>
            <a:endParaRPr sz="1200">
              <a:latin typeface="Arial"/>
              <a:cs typeface="Arial"/>
            </a:endParaRPr>
          </a:p>
          <a:p>
            <a:pPr algn="just" marL="469900" marR="6350" indent="-228600">
              <a:lnSpc>
                <a:spcPts val="1380"/>
              </a:lnSpc>
              <a:spcBef>
                <a:spcPts val="5"/>
              </a:spcBef>
              <a:buAutoNum type="arabicPeriod" startAt="5"/>
              <a:tabLst>
                <a:tab pos="470534" algn="l"/>
              </a:tabLst>
            </a:pPr>
            <a:r>
              <a:rPr dirty="0" sz="1200" spc="-5">
                <a:latin typeface="Arial"/>
                <a:cs typeface="Arial"/>
              </a:rPr>
              <a:t>During </a:t>
            </a:r>
            <a:r>
              <a:rPr dirty="0" sz="1200">
                <a:latin typeface="Arial"/>
                <a:cs typeface="Arial"/>
              </a:rPr>
              <a:t>the </a:t>
            </a:r>
            <a:r>
              <a:rPr dirty="0" sz="1200" spc="-5">
                <a:latin typeface="Arial"/>
                <a:cs typeface="Arial"/>
              </a:rPr>
              <a:t>early Abbasid period, the refined and luxury-loving ruler and imperial court  got directly involved in sponsoring </a:t>
            </a:r>
            <a:r>
              <a:rPr dirty="0" sz="1200">
                <a:latin typeface="Arial"/>
                <a:cs typeface="Arial"/>
              </a:rPr>
              <a:t>new </a:t>
            </a:r>
            <a:r>
              <a:rPr dirty="0" sz="1200" spc="-5">
                <a:latin typeface="Arial"/>
                <a:cs typeface="Arial"/>
              </a:rPr>
              <a:t>innovations in the ceramics industry, especially  in </a:t>
            </a:r>
            <a:r>
              <a:rPr dirty="0" sz="1200">
                <a:latin typeface="Arial"/>
                <a:cs typeface="Arial"/>
              </a:rPr>
              <a:t>the </a:t>
            </a:r>
            <a:r>
              <a:rPr dirty="0" sz="1200" spc="-5">
                <a:latin typeface="Arial"/>
                <a:cs typeface="Arial"/>
              </a:rPr>
              <a:t>development and manufacture of luster wares. </a:t>
            </a:r>
            <a:r>
              <a:rPr dirty="0" sz="1200">
                <a:latin typeface="Arial"/>
                <a:cs typeface="Arial"/>
              </a:rPr>
              <a:t>They </a:t>
            </a:r>
            <a:r>
              <a:rPr dirty="0" sz="1200" spc="-5">
                <a:latin typeface="Arial"/>
                <a:cs typeface="Arial"/>
              </a:rPr>
              <a:t>were </a:t>
            </a:r>
            <a:r>
              <a:rPr dirty="0" sz="1200">
                <a:latin typeface="Arial"/>
                <a:cs typeface="Arial"/>
              </a:rPr>
              <a:t>meant for </a:t>
            </a:r>
            <a:r>
              <a:rPr dirty="0" sz="1200" spc="-5">
                <a:latin typeface="Arial"/>
                <a:cs typeface="Arial"/>
              </a:rPr>
              <a:t>inland and  foreign business. </a:t>
            </a:r>
            <a:r>
              <a:rPr dirty="0" sz="1200" spc="-5" b="1" i="1">
                <a:latin typeface="Arial"/>
                <a:cs typeface="Arial"/>
              </a:rPr>
              <a:t>(Luster</a:t>
            </a:r>
            <a:r>
              <a:rPr dirty="0" sz="1200" spc="20" b="1" i="1">
                <a:latin typeface="Arial"/>
                <a:cs typeface="Arial"/>
              </a:rPr>
              <a:t> </a:t>
            </a:r>
            <a:r>
              <a:rPr dirty="0" sz="1200" spc="-5" b="1" i="1">
                <a:latin typeface="Arial"/>
                <a:cs typeface="Arial"/>
              </a:rPr>
              <a:t>wares)</a:t>
            </a:r>
            <a:endParaRPr sz="1200">
              <a:latin typeface="Arial"/>
              <a:cs typeface="Arial"/>
            </a:endParaRPr>
          </a:p>
          <a:p>
            <a:pPr algn="just" marL="469900" marR="10160" indent="-228600">
              <a:lnSpc>
                <a:spcPts val="1380"/>
              </a:lnSpc>
              <a:buSzPct val="83333"/>
              <a:buFont typeface="Times New Roman"/>
              <a:buAutoNum type="arabicPeriod" startAt="5"/>
              <a:tabLst>
                <a:tab pos="470534" algn="l"/>
              </a:tabLst>
            </a:pPr>
            <a:r>
              <a:rPr dirty="0" sz="1200">
                <a:latin typeface="Arial"/>
                <a:cs typeface="Arial"/>
              </a:rPr>
              <a:t>As the </a:t>
            </a:r>
            <a:r>
              <a:rPr dirty="0" sz="1200" spc="-5">
                <a:latin typeface="Arial"/>
                <a:cs typeface="Arial"/>
              </a:rPr>
              <a:t>Abbasid Empire expanded from Afghanistan </a:t>
            </a:r>
            <a:r>
              <a:rPr dirty="0" sz="1200">
                <a:latin typeface="Arial"/>
                <a:cs typeface="Arial"/>
              </a:rPr>
              <a:t>to </a:t>
            </a:r>
            <a:r>
              <a:rPr dirty="0" sz="1200" spc="-5">
                <a:latin typeface="Arial"/>
                <a:cs typeface="Arial"/>
              </a:rPr>
              <a:t>Algeria, regional </a:t>
            </a:r>
            <a:r>
              <a:rPr dirty="0" sz="1200">
                <a:latin typeface="Arial"/>
                <a:cs typeface="Arial"/>
              </a:rPr>
              <a:t>ceramics  </a:t>
            </a:r>
            <a:r>
              <a:rPr dirty="0" sz="1200" spc="-5">
                <a:latin typeface="Arial"/>
                <a:cs typeface="Arial"/>
              </a:rPr>
              <a:t>industries were influenced by techniques, designs and </a:t>
            </a:r>
            <a:r>
              <a:rPr dirty="0" sz="1200">
                <a:latin typeface="Arial"/>
                <a:cs typeface="Arial"/>
              </a:rPr>
              <a:t>motifs </a:t>
            </a:r>
            <a:r>
              <a:rPr dirty="0" sz="1200" spc="-5">
                <a:latin typeface="Arial"/>
                <a:cs typeface="Arial"/>
              </a:rPr>
              <a:t>from </a:t>
            </a:r>
            <a:r>
              <a:rPr dirty="0" sz="1200">
                <a:latin typeface="Arial"/>
                <a:cs typeface="Arial"/>
              </a:rPr>
              <a:t>other parts </a:t>
            </a:r>
            <a:r>
              <a:rPr dirty="0" sz="1200" spc="-5">
                <a:latin typeface="Arial"/>
                <a:cs typeface="Arial"/>
              </a:rPr>
              <a:t>of the  empire, adding </a:t>
            </a:r>
            <a:r>
              <a:rPr dirty="0" sz="1200">
                <a:latin typeface="Arial"/>
                <a:cs typeface="Arial"/>
              </a:rPr>
              <a:t>to the </a:t>
            </a:r>
            <a:r>
              <a:rPr dirty="0" sz="1200" spc="-5">
                <a:latin typeface="Arial"/>
                <a:cs typeface="Arial"/>
              </a:rPr>
              <a:t>variety </a:t>
            </a:r>
            <a:r>
              <a:rPr dirty="0" sz="1200">
                <a:latin typeface="Arial"/>
                <a:cs typeface="Arial"/>
              </a:rPr>
              <a:t>of </a:t>
            </a:r>
            <a:r>
              <a:rPr dirty="0" sz="1200" spc="-5">
                <a:latin typeface="Arial"/>
                <a:cs typeface="Arial"/>
              </a:rPr>
              <a:t>designs, decorations and styles available locally.  </a:t>
            </a:r>
            <a:r>
              <a:rPr dirty="0" sz="1200" spc="-5" b="1" i="1">
                <a:latin typeface="Arial"/>
                <a:cs typeface="Arial"/>
              </a:rPr>
              <a:t>(Innovative Architectural</a:t>
            </a:r>
            <a:r>
              <a:rPr dirty="0" sz="1200" spc="10" b="1" i="1">
                <a:latin typeface="Arial"/>
                <a:cs typeface="Arial"/>
              </a:rPr>
              <a:t> </a:t>
            </a:r>
            <a:r>
              <a:rPr dirty="0" sz="1200" spc="-5" b="1" i="1">
                <a:latin typeface="Arial"/>
                <a:cs typeface="Arial"/>
              </a:rPr>
              <a:t>Designs)</a:t>
            </a:r>
            <a:endParaRPr sz="1200">
              <a:latin typeface="Arial"/>
              <a:cs typeface="Arial"/>
            </a:endParaRPr>
          </a:p>
          <a:p>
            <a:pPr>
              <a:lnSpc>
                <a:spcPct val="100000"/>
              </a:lnSpc>
              <a:spcBef>
                <a:spcPts val="15"/>
              </a:spcBef>
            </a:pPr>
            <a:endParaRPr sz="1100">
              <a:latin typeface="Arial"/>
              <a:cs typeface="Arial"/>
            </a:endParaRPr>
          </a:p>
          <a:p>
            <a:pPr algn="just" marL="469900" indent="-229235">
              <a:lnSpc>
                <a:spcPct val="100000"/>
              </a:lnSpc>
              <a:spcBef>
                <a:spcPts val="5"/>
              </a:spcBef>
              <a:buFont typeface="Wingdings"/>
              <a:buChar char=""/>
              <a:tabLst>
                <a:tab pos="470534" algn="l"/>
              </a:tabLst>
            </a:pPr>
            <a:r>
              <a:rPr dirty="0" u="heavy" sz="1200" b="1" i="1">
                <a:uFill>
                  <a:solidFill>
                    <a:srgbClr val="000000"/>
                  </a:solidFill>
                </a:uFill>
                <a:latin typeface="Arial"/>
                <a:cs typeface="Arial"/>
              </a:rPr>
              <a:t>Reasons </a:t>
            </a:r>
            <a:r>
              <a:rPr dirty="0" u="heavy" sz="1200" spc="-5" b="1" i="1">
                <a:uFill>
                  <a:solidFill>
                    <a:srgbClr val="000000"/>
                  </a:solidFill>
                </a:uFill>
                <a:latin typeface="Arial"/>
                <a:cs typeface="Arial"/>
              </a:rPr>
              <a:t>for the Downfall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a:t>
            </a:r>
            <a:r>
              <a:rPr dirty="0" u="heavy" sz="1200" b="1" i="1">
                <a:uFill>
                  <a:solidFill>
                    <a:srgbClr val="000000"/>
                  </a:solidFill>
                </a:uFill>
                <a:latin typeface="Arial"/>
                <a:cs typeface="Arial"/>
              </a:rPr>
              <a:t>Abbasid</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Dynasties</a:t>
            </a:r>
            <a:endParaRPr sz="1200">
              <a:latin typeface="Arial"/>
              <a:cs typeface="Arial"/>
            </a:endParaRPr>
          </a:p>
          <a:p>
            <a:pPr>
              <a:lnSpc>
                <a:spcPct val="100000"/>
              </a:lnSpc>
              <a:spcBef>
                <a:spcPts val="35"/>
              </a:spcBef>
            </a:pPr>
            <a:endParaRPr sz="1200">
              <a:latin typeface="Arial"/>
              <a:cs typeface="Arial"/>
            </a:endParaRPr>
          </a:p>
          <a:p>
            <a:pPr algn="just" marL="469900" marR="12700" indent="-228600">
              <a:lnSpc>
                <a:spcPts val="1380"/>
              </a:lnSpc>
              <a:buAutoNum type="arabicPeriod"/>
              <a:tabLst>
                <a:tab pos="470534" algn="l"/>
              </a:tabLst>
            </a:pPr>
            <a:r>
              <a:rPr dirty="0" sz="1200" spc="-5">
                <a:latin typeface="Arial"/>
                <a:cs typeface="Arial"/>
              </a:rPr>
              <a:t>Most </a:t>
            </a:r>
            <a:r>
              <a:rPr dirty="0" sz="1200">
                <a:latin typeface="Arial"/>
                <a:cs typeface="Arial"/>
              </a:rPr>
              <a:t>of </a:t>
            </a:r>
            <a:r>
              <a:rPr dirty="0" sz="1200" spc="-5">
                <a:latin typeface="Arial"/>
                <a:cs typeface="Arial"/>
              </a:rPr>
              <a:t>the later Khalifas of this dynasty </a:t>
            </a:r>
            <a:r>
              <a:rPr dirty="0" sz="1200">
                <a:latin typeface="Arial"/>
                <a:cs typeface="Arial"/>
              </a:rPr>
              <a:t>led </a:t>
            </a:r>
            <a:r>
              <a:rPr dirty="0" sz="1200" spc="-5">
                <a:latin typeface="Arial"/>
                <a:cs typeface="Arial"/>
              </a:rPr>
              <a:t>pompous and luxurious life and cared  little </a:t>
            </a:r>
            <a:r>
              <a:rPr dirty="0" sz="1200">
                <a:latin typeface="Arial"/>
                <a:cs typeface="Arial"/>
              </a:rPr>
              <a:t>for </a:t>
            </a:r>
            <a:r>
              <a:rPr dirty="0" sz="1200" spc="-5">
                <a:latin typeface="Arial"/>
                <a:cs typeface="Arial"/>
              </a:rPr>
              <a:t>the</a:t>
            </a:r>
            <a:r>
              <a:rPr dirty="0" sz="1200" spc="-10">
                <a:latin typeface="Arial"/>
                <a:cs typeface="Arial"/>
              </a:rPr>
              <a:t> </a:t>
            </a:r>
            <a:r>
              <a:rPr dirty="0" sz="1200">
                <a:latin typeface="Arial"/>
                <a:cs typeface="Arial"/>
              </a:rPr>
              <a:t>state.</a:t>
            </a:r>
            <a:endParaRPr sz="1200">
              <a:latin typeface="Arial"/>
              <a:cs typeface="Arial"/>
            </a:endParaRPr>
          </a:p>
          <a:p>
            <a:pPr algn="just" marL="469900" marR="10795" indent="-228600">
              <a:lnSpc>
                <a:spcPts val="1380"/>
              </a:lnSpc>
              <a:buAutoNum type="arabicPeriod"/>
              <a:tabLst>
                <a:tab pos="470534" algn="l"/>
              </a:tabLst>
            </a:pPr>
            <a:r>
              <a:rPr dirty="0" sz="1200" spc="-5">
                <a:latin typeface="Arial"/>
                <a:cs typeface="Arial"/>
              </a:rPr>
              <a:t>Instead of making </a:t>
            </a:r>
            <a:r>
              <a:rPr dirty="0" sz="1200">
                <a:latin typeface="Arial"/>
                <a:cs typeface="Arial"/>
              </a:rPr>
              <a:t>any </a:t>
            </a:r>
            <a:r>
              <a:rPr dirty="0" sz="1200" spc="-5">
                <a:latin typeface="Arial"/>
                <a:cs typeface="Arial"/>
              </a:rPr>
              <a:t>attempt to uplift </a:t>
            </a:r>
            <a:r>
              <a:rPr dirty="0" sz="1200">
                <a:latin typeface="Arial"/>
                <a:cs typeface="Arial"/>
              </a:rPr>
              <a:t>the </a:t>
            </a:r>
            <a:r>
              <a:rPr dirty="0" sz="1200" spc="-5">
                <a:latin typeface="Arial"/>
                <a:cs typeface="Arial"/>
              </a:rPr>
              <a:t>condition of the subjects and </a:t>
            </a:r>
            <a:r>
              <a:rPr dirty="0" sz="1200">
                <a:latin typeface="Arial"/>
                <a:cs typeface="Arial"/>
              </a:rPr>
              <a:t>to </a:t>
            </a:r>
            <a:r>
              <a:rPr dirty="0" sz="1200" spc="-5">
                <a:latin typeface="Arial"/>
                <a:cs typeface="Arial"/>
              </a:rPr>
              <a:t>improve the  government, </a:t>
            </a:r>
            <a:r>
              <a:rPr dirty="0" sz="1200">
                <a:latin typeface="Arial"/>
                <a:cs typeface="Arial"/>
              </a:rPr>
              <a:t>they </a:t>
            </a:r>
            <a:r>
              <a:rPr dirty="0" sz="1200" spc="-5">
                <a:latin typeface="Arial"/>
                <a:cs typeface="Arial"/>
              </a:rPr>
              <a:t>devoted their valuable time </a:t>
            </a:r>
            <a:r>
              <a:rPr dirty="0" sz="1200">
                <a:latin typeface="Arial"/>
                <a:cs typeface="Arial"/>
              </a:rPr>
              <a:t>to </a:t>
            </a:r>
            <a:r>
              <a:rPr dirty="0" sz="1200" spc="-5">
                <a:latin typeface="Arial"/>
                <a:cs typeface="Arial"/>
              </a:rPr>
              <a:t>wine, women and</a:t>
            </a:r>
            <a:r>
              <a:rPr dirty="0" sz="1200" spc="-10">
                <a:latin typeface="Arial"/>
                <a:cs typeface="Arial"/>
              </a:rPr>
              <a:t> </a:t>
            </a:r>
            <a:r>
              <a:rPr dirty="0" sz="1200">
                <a:latin typeface="Arial"/>
                <a:cs typeface="Arial"/>
              </a:rPr>
              <a:t>music.</a:t>
            </a:r>
            <a:endParaRPr sz="1200">
              <a:latin typeface="Arial"/>
              <a:cs typeface="Arial"/>
            </a:endParaRPr>
          </a:p>
          <a:p>
            <a:pPr algn="just" marL="469900" marR="9525" indent="-228600">
              <a:lnSpc>
                <a:spcPts val="1380"/>
              </a:lnSpc>
              <a:buAutoNum type="arabicPeriod"/>
              <a:tabLst>
                <a:tab pos="470534" algn="l"/>
              </a:tabLst>
            </a:pPr>
            <a:r>
              <a:rPr dirty="0" sz="1200" spc="-5">
                <a:latin typeface="Arial"/>
                <a:cs typeface="Arial"/>
              </a:rPr>
              <a:t>The supremacy of the </a:t>
            </a:r>
            <a:r>
              <a:rPr dirty="0" sz="1200">
                <a:latin typeface="Arial"/>
                <a:cs typeface="Arial"/>
              </a:rPr>
              <a:t>Turks </a:t>
            </a:r>
            <a:r>
              <a:rPr dirty="0" sz="1200" spc="-5">
                <a:latin typeface="Arial"/>
                <a:cs typeface="Arial"/>
              </a:rPr>
              <a:t>in the later period </a:t>
            </a:r>
            <a:r>
              <a:rPr dirty="0" sz="1200" spc="-10">
                <a:latin typeface="Arial"/>
                <a:cs typeface="Arial"/>
              </a:rPr>
              <a:t>was </a:t>
            </a:r>
            <a:r>
              <a:rPr dirty="0" sz="1200" spc="-5">
                <a:latin typeface="Arial"/>
                <a:cs typeface="Arial"/>
              </a:rPr>
              <a:t>one of </a:t>
            </a:r>
            <a:r>
              <a:rPr dirty="0" sz="1200">
                <a:latin typeface="Arial"/>
                <a:cs typeface="Arial"/>
              </a:rPr>
              <a:t>the </a:t>
            </a:r>
            <a:r>
              <a:rPr dirty="0" sz="1200" spc="-10">
                <a:latin typeface="Arial"/>
                <a:cs typeface="Arial"/>
              </a:rPr>
              <a:t>causes </a:t>
            </a:r>
            <a:r>
              <a:rPr dirty="0" sz="1200" spc="-5">
                <a:latin typeface="Arial"/>
                <a:cs typeface="Arial"/>
              </a:rPr>
              <a:t>of the </a:t>
            </a:r>
            <a:r>
              <a:rPr dirty="0" sz="1200">
                <a:latin typeface="Arial"/>
                <a:cs typeface="Arial"/>
              </a:rPr>
              <a:t>fall </a:t>
            </a:r>
            <a:r>
              <a:rPr dirty="0" sz="1200" spc="-5">
                <a:latin typeface="Arial"/>
                <a:cs typeface="Arial"/>
              </a:rPr>
              <a:t>of </a:t>
            </a:r>
            <a:r>
              <a:rPr dirty="0" sz="1200" spc="-10">
                <a:latin typeface="Arial"/>
                <a:cs typeface="Arial"/>
              </a:rPr>
              <a:t>the  </a:t>
            </a:r>
            <a:r>
              <a:rPr dirty="0" sz="1200" spc="-5">
                <a:latin typeface="Arial"/>
                <a:cs typeface="Arial"/>
              </a:rPr>
              <a:t>empire. After the death </a:t>
            </a:r>
            <a:r>
              <a:rPr dirty="0" sz="1200">
                <a:latin typeface="Arial"/>
                <a:cs typeface="Arial"/>
              </a:rPr>
              <a:t>of </a:t>
            </a:r>
            <a:r>
              <a:rPr dirty="0" sz="1200" spc="-5">
                <a:latin typeface="Arial"/>
                <a:cs typeface="Arial"/>
              </a:rPr>
              <a:t>Mutawakkil the power of the </a:t>
            </a:r>
            <a:r>
              <a:rPr dirty="0" sz="1200">
                <a:latin typeface="Arial"/>
                <a:cs typeface="Arial"/>
              </a:rPr>
              <a:t>Turks </a:t>
            </a:r>
            <a:r>
              <a:rPr dirty="0" sz="1200" spc="-5">
                <a:latin typeface="Arial"/>
                <a:cs typeface="Arial"/>
              </a:rPr>
              <a:t>began to increase rapidly  and </a:t>
            </a:r>
            <a:r>
              <a:rPr dirty="0" sz="1200">
                <a:latin typeface="Arial"/>
                <a:cs typeface="Arial"/>
              </a:rPr>
              <a:t>the </a:t>
            </a:r>
            <a:r>
              <a:rPr dirty="0" sz="1200" spc="-5">
                <a:latin typeface="Arial"/>
                <a:cs typeface="Arial"/>
              </a:rPr>
              <a:t>successors of Mutawakkil </a:t>
            </a:r>
            <a:r>
              <a:rPr dirty="0" sz="1200">
                <a:latin typeface="Arial"/>
                <a:cs typeface="Arial"/>
              </a:rPr>
              <a:t>could </a:t>
            </a:r>
            <a:r>
              <a:rPr dirty="0" sz="1200" spc="-5">
                <a:latin typeface="Arial"/>
                <a:cs typeface="Arial"/>
              </a:rPr>
              <a:t>not resist</a:t>
            </a:r>
            <a:r>
              <a:rPr dirty="0" sz="1200">
                <a:latin typeface="Arial"/>
                <a:cs typeface="Arial"/>
              </a:rPr>
              <a:t> it.</a:t>
            </a:r>
            <a:endParaRPr sz="1200">
              <a:latin typeface="Arial"/>
              <a:cs typeface="Arial"/>
            </a:endParaRPr>
          </a:p>
          <a:p>
            <a:pPr algn="just" marL="469900" indent="-229235">
              <a:lnSpc>
                <a:spcPts val="1315"/>
              </a:lnSpc>
              <a:buAutoNum type="arabicPeriod"/>
              <a:tabLst>
                <a:tab pos="470534" algn="l"/>
              </a:tabLst>
            </a:pPr>
            <a:r>
              <a:rPr dirty="0" sz="1200" spc="-5">
                <a:latin typeface="Arial"/>
                <a:cs typeface="Arial"/>
              </a:rPr>
              <a:t>The Arabs and the Persians became disgusted with their high handed</a:t>
            </a:r>
            <a:r>
              <a:rPr dirty="0" sz="1200" spc="45">
                <a:latin typeface="Arial"/>
                <a:cs typeface="Arial"/>
              </a:rPr>
              <a:t> </a:t>
            </a:r>
            <a:r>
              <a:rPr dirty="0" sz="1200" spc="-5">
                <a:latin typeface="Arial"/>
                <a:cs typeface="Arial"/>
              </a:rPr>
              <a:t>policy.</a:t>
            </a:r>
            <a:endParaRPr sz="1200">
              <a:latin typeface="Arial"/>
              <a:cs typeface="Arial"/>
            </a:endParaRPr>
          </a:p>
          <a:p>
            <a:pPr marL="469900" marR="8255" indent="-228600">
              <a:lnSpc>
                <a:spcPts val="1380"/>
              </a:lnSpc>
              <a:spcBef>
                <a:spcPts val="70"/>
              </a:spcBef>
              <a:buAutoNum type="arabicPeriod"/>
              <a:tabLst>
                <a:tab pos="470534" algn="l"/>
              </a:tabLst>
            </a:pPr>
            <a:r>
              <a:rPr dirty="0" sz="1200" spc="-5">
                <a:latin typeface="Arial"/>
                <a:cs typeface="Arial"/>
              </a:rPr>
              <a:t>The negligence of the military department under </a:t>
            </a:r>
            <a:r>
              <a:rPr dirty="0" sz="1200">
                <a:latin typeface="Arial"/>
                <a:cs typeface="Arial"/>
              </a:rPr>
              <a:t>the </a:t>
            </a:r>
            <a:r>
              <a:rPr dirty="0" sz="1200" spc="-5">
                <a:latin typeface="Arial"/>
                <a:cs typeface="Arial"/>
              </a:rPr>
              <a:t>later Khalifa greatly contributed to  </a:t>
            </a:r>
            <a:r>
              <a:rPr dirty="0" sz="1200">
                <a:latin typeface="Arial"/>
                <a:cs typeface="Arial"/>
              </a:rPr>
              <a:t>the </a:t>
            </a:r>
            <a:r>
              <a:rPr dirty="0" sz="1200" spc="-5">
                <a:latin typeface="Arial"/>
                <a:cs typeface="Arial"/>
              </a:rPr>
              <a:t>downfall of </a:t>
            </a:r>
            <a:r>
              <a:rPr dirty="0" sz="1200">
                <a:latin typeface="Arial"/>
                <a:cs typeface="Arial"/>
              </a:rPr>
              <a:t>the</a:t>
            </a:r>
            <a:r>
              <a:rPr dirty="0" sz="1200" spc="-20">
                <a:latin typeface="Arial"/>
                <a:cs typeface="Arial"/>
              </a:rPr>
              <a:t> </a:t>
            </a:r>
            <a:r>
              <a:rPr dirty="0" sz="1200" spc="-5">
                <a:latin typeface="Arial"/>
                <a:cs typeface="Arial"/>
              </a:rPr>
              <a:t>Abbasids.</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The relation between the province and the central government </a:t>
            </a:r>
            <a:r>
              <a:rPr dirty="0" sz="1200" spc="-10">
                <a:latin typeface="Arial"/>
                <a:cs typeface="Arial"/>
              </a:rPr>
              <a:t>was </a:t>
            </a:r>
            <a:r>
              <a:rPr dirty="0" sz="1200">
                <a:latin typeface="Arial"/>
                <a:cs typeface="Arial"/>
              </a:rPr>
              <a:t>not</a:t>
            </a:r>
            <a:r>
              <a:rPr dirty="0" sz="1200" spc="80">
                <a:latin typeface="Arial"/>
                <a:cs typeface="Arial"/>
              </a:rPr>
              <a:t> </a:t>
            </a:r>
            <a:r>
              <a:rPr dirty="0" sz="1200" spc="-5">
                <a:latin typeface="Arial"/>
                <a:cs typeface="Arial"/>
              </a:rPr>
              <a:t>cordial.</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Many provinces </a:t>
            </a:r>
            <a:r>
              <a:rPr dirty="0" sz="1200">
                <a:latin typeface="Arial"/>
                <a:cs typeface="Arial"/>
              </a:rPr>
              <a:t>declared </a:t>
            </a:r>
            <a:r>
              <a:rPr dirty="0" sz="1200" spc="-5">
                <a:latin typeface="Arial"/>
                <a:cs typeface="Arial"/>
              </a:rPr>
              <a:t>their</a:t>
            </a:r>
            <a:r>
              <a:rPr dirty="0" sz="1200" spc="-15">
                <a:latin typeface="Arial"/>
                <a:cs typeface="Arial"/>
              </a:rPr>
              <a:t> </a:t>
            </a:r>
            <a:r>
              <a:rPr dirty="0" sz="1200" spc="-5">
                <a:latin typeface="Arial"/>
                <a:cs typeface="Arial"/>
              </a:rPr>
              <a:t>independence.</a:t>
            </a:r>
            <a:endParaRPr sz="1200">
              <a:latin typeface="Arial"/>
              <a:cs typeface="Arial"/>
            </a:endParaRPr>
          </a:p>
          <a:p>
            <a:pPr algn="just" marL="469900" marR="5080" indent="-228600">
              <a:lnSpc>
                <a:spcPts val="1380"/>
              </a:lnSpc>
              <a:spcBef>
                <a:spcPts val="65"/>
              </a:spcBef>
              <a:buAutoNum type="arabicPeriod"/>
              <a:tabLst>
                <a:tab pos="470534" algn="l"/>
              </a:tabLst>
            </a:pPr>
            <a:r>
              <a:rPr dirty="0" sz="1200" spc="-5">
                <a:latin typeface="Arial"/>
                <a:cs typeface="Arial"/>
              </a:rPr>
              <a:t>The struggle between </a:t>
            </a:r>
            <a:r>
              <a:rPr dirty="0" sz="1200">
                <a:latin typeface="Arial"/>
                <a:cs typeface="Arial"/>
              </a:rPr>
              <a:t>the </a:t>
            </a:r>
            <a:r>
              <a:rPr dirty="0" sz="1200" spc="-5">
                <a:latin typeface="Arial"/>
                <a:cs typeface="Arial"/>
              </a:rPr>
              <a:t>Arabs and non-Arabs between </a:t>
            </a:r>
            <a:r>
              <a:rPr dirty="0" sz="1200">
                <a:latin typeface="Arial"/>
                <a:cs typeface="Arial"/>
              </a:rPr>
              <a:t>the </a:t>
            </a:r>
            <a:r>
              <a:rPr dirty="0" sz="1200" spc="-5">
                <a:latin typeface="Arial"/>
                <a:cs typeface="Arial"/>
              </a:rPr>
              <a:t>Muslims and non-Muslim  </a:t>
            </a:r>
            <a:r>
              <a:rPr dirty="0" sz="1200" spc="-10">
                <a:latin typeface="Arial"/>
                <a:cs typeface="Arial"/>
              </a:rPr>
              <a:t>was </a:t>
            </a:r>
            <a:r>
              <a:rPr dirty="0" sz="1200" spc="-5">
                <a:latin typeface="Arial"/>
                <a:cs typeface="Arial"/>
              </a:rPr>
              <a:t>going </a:t>
            </a:r>
            <a:r>
              <a:rPr dirty="0" sz="1200">
                <a:latin typeface="Arial"/>
                <a:cs typeface="Arial"/>
              </a:rPr>
              <a:t>on </a:t>
            </a:r>
            <a:r>
              <a:rPr dirty="0" sz="1200" spc="-5">
                <a:latin typeface="Arial"/>
                <a:cs typeface="Arial"/>
              </a:rPr>
              <a:t>in full swing during this</a:t>
            </a:r>
            <a:r>
              <a:rPr dirty="0" sz="1200" spc="5">
                <a:latin typeface="Arial"/>
                <a:cs typeface="Arial"/>
              </a:rPr>
              <a:t> </a:t>
            </a:r>
            <a:r>
              <a:rPr dirty="0" sz="1200" spc="-5">
                <a:latin typeface="Arial"/>
                <a:cs typeface="Arial"/>
              </a:rPr>
              <a:t>period.</a:t>
            </a:r>
            <a:endParaRPr sz="1200">
              <a:latin typeface="Arial"/>
              <a:cs typeface="Arial"/>
            </a:endParaRPr>
          </a:p>
          <a:p>
            <a:pPr algn="just" marL="469900" marR="8890" indent="-228600">
              <a:lnSpc>
                <a:spcPts val="1380"/>
              </a:lnSpc>
              <a:buAutoNum type="arabicPeriod"/>
              <a:tabLst>
                <a:tab pos="470534" algn="l"/>
              </a:tabLst>
            </a:pPr>
            <a:r>
              <a:rPr dirty="0" sz="1200" spc="-5">
                <a:latin typeface="Arial"/>
                <a:cs typeface="Arial"/>
              </a:rPr>
              <a:t>The Iranians </a:t>
            </a:r>
            <a:r>
              <a:rPr dirty="0" sz="1200" spc="-10">
                <a:latin typeface="Arial"/>
                <a:cs typeface="Arial"/>
              </a:rPr>
              <a:t>who </a:t>
            </a:r>
            <a:r>
              <a:rPr dirty="0" sz="1200" spc="-5">
                <a:latin typeface="Arial"/>
                <a:cs typeface="Arial"/>
              </a:rPr>
              <a:t>were favoured by </a:t>
            </a:r>
            <a:r>
              <a:rPr dirty="0" sz="1200">
                <a:latin typeface="Arial"/>
                <a:cs typeface="Arial"/>
              </a:rPr>
              <a:t>the </a:t>
            </a:r>
            <a:r>
              <a:rPr dirty="0" sz="1200" spc="-5">
                <a:latin typeface="Arial"/>
                <a:cs typeface="Arial"/>
              </a:rPr>
              <a:t>Abbasids despaired (saw no hope in) the  Arabs and </a:t>
            </a:r>
            <a:r>
              <a:rPr dirty="0" sz="1200">
                <a:latin typeface="Arial"/>
                <a:cs typeface="Arial"/>
              </a:rPr>
              <a:t>the </a:t>
            </a:r>
            <a:r>
              <a:rPr dirty="0" sz="1200" spc="-5">
                <a:latin typeface="Arial"/>
                <a:cs typeface="Arial"/>
              </a:rPr>
              <a:t>Arabs despaired the Iranians and</a:t>
            </a:r>
            <a:r>
              <a:rPr dirty="0" sz="1200" spc="-20">
                <a:latin typeface="Arial"/>
                <a:cs typeface="Arial"/>
              </a:rPr>
              <a:t> </a:t>
            </a:r>
            <a:r>
              <a:rPr dirty="0" sz="1200">
                <a:latin typeface="Arial"/>
                <a:cs typeface="Arial"/>
              </a:rPr>
              <a:t>other.</a:t>
            </a:r>
            <a:endParaRPr sz="1200">
              <a:latin typeface="Arial"/>
              <a:cs typeface="Arial"/>
            </a:endParaRPr>
          </a:p>
          <a:p>
            <a:pPr algn="just" marL="469900" marR="6350" indent="-228600">
              <a:lnSpc>
                <a:spcPts val="1380"/>
              </a:lnSpc>
              <a:buAutoNum type="arabicPeriod"/>
              <a:tabLst>
                <a:tab pos="470534" algn="l"/>
              </a:tabLst>
            </a:pPr>
            <a:r>
              <a:rPr dirty="0" sz="1200" spc="-5">
                <a:latin typeface="Arial"/>
                <a:cs typeface="Arial"/>
              </a:rPr>
              <a:t>The imposition of taxes </a:t>
            </a:r>
            <a:r>
              <a:rPr dirty="0" sz="1200">
                <a:latin typeface="Arial"/>
                <a:cs typeface="Arial"/>
              </a:rPr>
              <a:t>for </a:t>
            </a:r>
            <a:r>
              <a:rPr dirty="0" sz="1200" spc="-5">
                <a:latin typeface="Arial"/>
                <a:cs typeface="Arial"/>
              </a:rPr>
              <a:t>the interest of the </a:t>
            </a:r>
            <a:r>
              <a:rPr dirty="0" sz="1200">
                <a:latin typeface="Arial"/>
                <a:cs typeface="Arial"/>
              </a:rPr>
              <a:t>ruling </a:t>
            </a:r>
            <a:r>
              <a:rPr dirty="0" sz="1200" spc="-5">
                <a:latin typeface="Arial"/>
                <a:cs typeface="Arial"/>
              </a:rPr>
              <a:t>class discouraged farming </a:t>
            </a:r>
            <a:r>
              <a:rPr dirty="0" sz="1200" spc="-10">
                <a:latin typeface="Arial"/>
                <a:cs typeface="Arial"/>
              </a:rPr>
              <a:t>and  </a:t>
            </a:r>
            <a:r>
              <a:rPr dirty="0" sz="1200">
                <a:latin typeface="Arial"/>
                <a:cs typeface="Arial"/>
              </a:rPr>
              <a:t>industry </a:t>
            </a:r>
            <a:r>
              <a:rPr dirty="0" sz="1200" spc="-5">
                <a:latin typeface="Arial"/>
                <a:cs typeface="Arial"/>
              </a:rPr>
              <a:t>and </a:t>
            </a:r>
            <a:r>
              <a:rPr dirty="0" sz="1200">
                <a:latin typeface="Arial"/>
                <a:cs typeface="Arial"/>
              </a:rPr>
              <a:t>the </a:t>
            </a:r>
            <a:r>
              <a:rPr dirty="0" sz="1200" spc="-5">
                <a:latin typeface="Arial"/>
                <a:cs typeface="Arial"/>
              </a:rPr>
              <a:t>constant bloody stripers </a:t>
            </a:r>
            <a:r>
              <a:rPr dirty="0" sz="1200">
                <a:latin typeface="Arial"/>
                <a:cs typeface="Arial"/>
              </a:rPr>
              <a:t>left many </a:t>
            </a:r>
            <a:r>
              <a:rPr dirty="0" sz="1200" spc="-5">
                <a:latin typeface="Arial"/>
                <a:cs typeface="Arial"/>
              </a:rPr>
              <a:t>a piece of cultivated land desolate  and</a:t>
            </a:r>
            <a:r>
              <a:rPr dirty="0" sz="1200" spc="-15">
                <a:latin typeface="Arial"/>
                <a:cs typeface="Arial"/>
              </a:rPr>
              <a:t> </a:t>
            </a:r>
            <a:r>
              <a:rPr dirty="0" sz="1200" spc="-5">
                <a:latin typeface="Arial"/>
                <a:cs typeface="Arial"/>
              </a:rPr>
              <a:t>forlorn.</a:t>
            </a:r>
            <a:endParaRPr sz="1200">
              <a:latin typeface="Arial"/>
              <a:cs typeface="Arial"/>
            </a:endParaRPr>
          </a:p>
          <a:p>
            <a:pPr algn="just" marL="469900" marR="11430" indent="-228600">
              <a:lnSpc>
                <a:spcPts val="1380"/>
              </a:lnSpc>
              <a:buAutoNum type="arabicPeriod"/>
              <a:tabLst>
                <a:tab pos="470534" algn="l"/>
              </a:tabLst>
            </a:pPr>
            <a:r>
              <a:rPr dirty="0" sz="1200" spc="-5">
                <a:latin typeface="Arial"/>
                <a:cs typeface="Arial"/>
              </a:rPr>
              <a:t>The flood in Mesopotamia made </a:t>
            </a:r>
            <a:r>
              <a:rPr dirty="0" sz="1200">
                <a:latin typeface="Arial"/>
                <a:cs typeface="Arial"/>
              </a:rPr>
              <a:t>the </a:t>
            </a:r>
            <a:r>
              <a:rPr dirty="0" sz="1200" spc="-5">
                <a:latin typeface="Arial"/>
                <a:cs typeface="Arial"/>
              </a:rPr>
              <a:t>people hopeless and homeless. </a:t>
            </a:r>
            <a:r>
              <a:rPr dirty="0" sz="1200">
                <a:latin typeface="Arial"/>
                <a:cs typeface="Arial"/>
              </a:rPr>
              <a:t>Besides </a:t>
            </a:r>
            <a:r>
              <a:rPr dirty="0" sz="1200" spc="-5">
                <a:latin typeface="Arial"/>
                <a:cs typeface="Arial"/>
              </a:rPr>
              <a:t>this  famine and epidemic decimated </a:t>
            </a:r>
            <a:r>
              <a:rPr dirty="0" sz="1200">
                <a:latin typeface="Arial"/>
                <a:cs typeface="Arial"/>
              </a:rPr>
              <a:t>the </a:t>
            </a:r>
            <a:r>
              <a:rPr dirty="0" sz="1200" spc="-5">
                <a:latin typeface="Arial"/>
                <a:cs typeface="Arial"/>
              </a:rPr>
              <a:t>population in </a:t>
            </a:r>
            <a:r>
              <a:rPr dirty="0" sz="1200">
                <a:latin typeface="Arial"/>
                <a:cs typeface="Arial"/>
              </a:rPr>
              <a:t>many</a:t>
            </a:r>
            <a:r>
              <a:rPr dirty="0" sz="1200" spc="-20">
                <a:latin typeface="Arial"/>
                <a:cs typeface="Arial"/>
              </a:rPr>
              <a:t> </a:t>
            </a:r>
            <a:r>
              <a:rPr dirty="0" sz="1200" spc="-5">
                <a:latin typeface="Arial"/>
                <a:cs typeface="Arial"/>
              </a:rPr>
              <a:t>provinces.</a:t>
            </a:r>
            <a:endParaRPr sz="1200">
              <a:latin typeface="Arial"/>
              <a:cs typeface="Arial"/>
            </a:endParaRPr>
          </a:p>
          <a:p>
            <a:pPr algn="just" marL="469900" marR="11430" indent="-228600">
              <a:lnSpc>
                <a:spcPts val="1370"/>
              </a:lnSpc>
              <a:spcBef>
                <a:spcPts val="10"/>
              </a:spcBef>
              <a:buAutoNum type="arabicPeriod"/>
              <a:tabLst>
                <a:tab pos="470534" algn="l"/>
              </a:tabLst>
            </a:pPr>
            <a:r>
              <a:rPr dirty="0" sz="1200">
                <a:latin typeface="Arial"/>
                <a:cs typeface="Arial"/>
              </a:rPr>
              <a:t>To </a:t>
            </a:r>
            <a:r>
              <a:rPr dirty="0" sz="1200" spc="-5">
                <a:latin typeface="Arial"/>
                <a:cs typeface="Arial"/>
              </a:rPr>
              <a:t>these causes of decay </a:t>
            </a:r>
            <a:r>
              <a:rPr dirty="0" sz="1200">
                <a:latin typeface="Arial"/>
                <a:cs typeface="Arial"/>
              </a:rPr>
              <a:t>must </a:t>
            </a:r>
            <a:r>
              <a:rPr dirty="0" sz="1200" spc="-5">
                <a:latin typeface="Arial"/>
                <a:cs typeface="Arial"/>
              </a:rPr>
              <a:t>be added </a:t>
            </a:r>
            <a:r>
              <a:rPr dirty="0" sz="1200">
                <a:latin typeface="Arial"/>
                <a:cs typeface="Arial"/>
              </a:rPr>
              <a:t>the </a:t>
            </a:r>
            <a:r>
              <a:rPr dirty="0" sz="1200" spc="-5">
                <a:latin typeface="Arial"/>
                <a:cs typeface="Arial"/>
              </a:rPr>
              <a:t>invasion of Halaqu, a grandson of  Changez</a:t>
            </a:r>
            <a:r>
              <a:rPr dirty="0" sz="1200" spc="50">
                <a:latin typeface="Arial"/>
                <a:cs typeface="Arial"/>
              </a:rPr>
              <a:t> </a:t>
            </a:r>
            <a:r>
              <a:rPr dirty="0" sz="1200" spc="-5">
                <a:latin typeface="Arial"/>
                <a:cs typeface="Arial"/>
              </a:rPr>
              <a:t>Khan</a:t>
            </a:r>
            <a:r>
              <a:rPr dirty="0" sz="1200" spc="70">
                <a:latin typeface="Arial"/>
                <a:cs typeface="Arial"/>
              </a:rPr>
              <a:t> </a:t>
            </a:r>
            <a:r>
              <a:rPr dirty="0" sz="1200" spc="-10">
                <a:latin typeface="Arial"/>
                <a:cs typeface="Arial"/>
              </a:rPr>
              <a:t>who</a:t>
            </a:r>
            <a:r>
              <a:rPr dirty="0" sz="1200" spc="70">
                <a:latin typeface="Arial"/>
                <a:cs typeface="Arial"/>
              </a:rPr>
              <a:t> </a:t>
            </a:r>
            <a:r>
              <a:rPr dirty="0" sz="1200" spc="-5">
                <a:latin typeface="Arial"/>
                <a:cs typeface="Arial"/>
              </a:rPr>
              <a:t>divested</a:t>
            </a:r>
            <a:r>
              <a:rPr dirty="0" sz="1200" spc="70">
                <a:latin typeface="Arial"/>
                <a:cs typeface="Arial"/>
              </a:rPr>
              <a:t> </a:t>
            </a:r>
            <a:r>
              <a:rPr dirty="0" sz="1200">
                <a:latin typeface="Arial"/>
                <a:cs typeface="Arial"/>
              </a:rPr>
              <a:t>the</a:t>
            </a:r>
            <a:r>
              <a:rPr dirty="0" sz="1200" spc="55">
                <a:latin typeface="Arial"/>
                <a:cs typeface="Arial"/>
              </a:rPr>
              <a:t> </a:t>
            </a:r>
            <a:r>
              <a:rPr dirty="0" sz="1200">
                <a:latin typeface="Arial"/>
                <a:cs typeface="Arial"/>
              </a:rPr>
              <a:t>city</a:t>
            </a:r>
            <a:r>
              <a:rPr dirty="0" sz="1200" spc="50">
                <a:latin typeface="Arial"/>
                <a:cs typeface="Arial"/>
              </a:rPr>
              <a:t> </a:t>
            </a:r>
            <a:r>
              <a:rPr dirty="0" sz="1200">
                <a:latin typeface="Arial"/>
                <a:cs typeface="Arial"/>
              </a:rPr>
              <a:t>of</a:t>
            </a:r>
            <a:r>
              <a:rPr dirty="0" sz="1200" spc="70">
                <a:latin typeface="Arial"/>
                <a:cs typeface="Arial"/>
              </a:rPr>
              <a:t> </a:t>
            </a:r>
            <a:r>
              <a:rPr dirty="0" sz="1200" spc="-5">
                <a:latin typeface="Arial"/>
                <a:cs typeface="Arial"/>
              </a:rPr>
              <a:t>Baghdad</a:t>
            </a:r>
            <a:r>
              <a:rPr dirty="0" sz="1200" spc="70">
                <a:latin typeface="Arial"/>
                <a:cs typeface="Arial"/>
              </a:rPr>
              <a:t> </a:t>
            </a:r>
            <a:r>
              <a:rPr dirty="0" sz="1200" spc="-5">
                <a:latin typeface="Arial"/>
                <a:cs typeface="Arial"/>
              </a:rPr>
              <a:t>on</a:t>
            </a:r>
            <a:r>
              <a:rPr dirty="0" sz="1200" spc="55">
                <a:latin typeface="Arial"/>
                <a:cs typeface="Arial"/>
              </a:rPr>
              <a:t> </a:t>
            </a:r>
            <a:r>
              <a:rPr dirty="0" sz="1200" spc="-5">
                <a:latin typeface="Arial"/>
                <a:cs typeface="Arial"/>
              </a:rPr>
              <a:t>such</a:t>
            </a:r>
            <a:r>
              <a:rPr dirty="0" sz="1200" spc="55">
                <a:latin typeface="Arial"/>
                <a:cs typeface="Arial"/>
              </a:rPr>
              <a:t> </a:t>
            </a:r>
            <a:r>
              <a:rPr dirty="0" sz="1200" spc="-5">
                <a:latin typeface="Arial"/>
                <a:cs typeface="Arial"/>
              </a:rPr>
              <a:t>a</a:t>
            </a:r>
            <a:r>
              <a:rPr dirty="0" sz="1200" spc="70">
                <a:latin typeface="Arial"/>
                <a:cs typeface="Arial"/>
              </a:rPr>
              <a:t> </a:t>
            </a:r>
            <a:r>
              <a:rPr dirty="0" sz="1200" spc="-5">
                <a:latin typeface="Arial"/>
                <a:cs typeface="Arial"/>
              </a:rPr>
              <a:t>scale</a:t>
            </a:r>
            <a:r>
              <a:rPr dirty="0" sz="1200" spc="40">
                <a:latin typeface="Arial"/>
                <a:cs typeface="Arial"/>
              </a:rPr>
              <a:t> </a:t>
            </a:r>
            <a:r>
              <a:rPr dirty="0" sz="1200">
                <a:latin typeface="Arial"/>
                <a:cs typeface="Arial"/>
              </a:rPr>
              <a:t>that</a:t>
            </a:r>
            <a:r>
              <a:rPr dirty="0" sz="1200" spc="60">
                <a:latin typeface="Arial"/>
                <a:cs typeface="Arial"/>
              </a:rPr>
              <a:t> </a:t>
            </a:r>
            <a:r>
              <a:rPr dirty="0" sz="1200">
                <a:latin typeface="Arial"/>
                <a:cs typeface="Arial"/>
              </a:rPr>
              <a:t>for</a:t>
            </a:r>
            <a:r>
              <a:rPr dirty="0" sz="1200" spc="60">
                <a:latin typeface="Arial"/>
                <a:cs typeface="Arial"/>
              </a:rPr>
              <a:t> </a:t>
            </a:r>
            <a:r>
              <a:rPr dirty="0" sz="1200" spc="-5">
                <a:latin typeface="Arial"/>
                <a:cs typeface="Arial"/>
              </a:rPr>
              <a:t>three</a:t>
            </a:r>
            <a:r>
              <a:rPr dirty="0" sz="1200" spc="70">
                <a:latin typeface="Arial"/>
                <a:cs typeface="Arial"/>
              </a:rPr>
              <a:t> </a:t>
            </a:r>
            <a:r>
              <a:rPr dirty="0" sz="1200" spc="-5">
                <a:latin typeface="Arial"/>
                <a:cs typeface="Arial"/>
              </a:rPr>
              <a:t>years</a:t>
            </a:r>
            <a:endParaRPr sz="1200">
              <a:latin typeface="Arial"/>
              <a:cs typeface="Arial"/>
            </a:endParaRPr>
          </a:p>
          <a:p>
            <a:pPr algn="just" marL="469900" marR="5080">
              <a:lnSpc>
                <a:spcPts val="1380"/>
              </a:lnSpc>
            </a:pPr>
            <a:r>
              <a:rPr dirty="0" sz="1200">
                <a:latin typeface="Arial"/>
                <a:cs typeface="Arial"/>
              </a:rPr>
              <a:t>the </a:t>
            </a:r>
            <a:r>
              <a:rPr dirty="0" sz="1200" spc="-5">
                <a:latin typeface="Arial"/>
                <a:cs typeface="Arial"/>
              </a:rPr>
              <a:t>streets ran with blood and the water of </a:t>
            </a:r>
            <a:r>
              <a:rPr dirty="0" sz="1200" spc="-10">
                <a:latin typeface="Arial"/>
                <a:cs typeface="Arial"/>
              </a:rPr>
              <a:t>the </a:t>
            </a:r>
            <a:r>
              <a:rPr dirty="0" sz="1200" spc="-5">
                <a:latin typeface="Arial"/>
                <a:cs typeface="Arial"/>
              </a:rPr>
              <a:t>Tigris </a:t>
            </a:r>
            <a:r>
              <a:rPr dirty="0" sz="1200" spc="-10">
                <a:latin typeface="Arial"/>
                <a:cs typeface="Arial"/>
              </a:rPr>
              <a:t>was </a:t>
            </a:r>
            <a:r>
              <a:rPr dirty="0" sz="1200" spc="-5">
                <a:latin typeface="Arial"/>
                <a:cs typeface="Arial"/>
              </a:rPr>
              <a:t>dyed red </a:t>
            </a:r>
            <a:r>
              <a:rPr dirty="0" sz="1200">
                <a:latin typeface="Arial"/>
                <a:cs typeface="Arial"/>
              </a:rPr>
              <a:t>for </a:t>
            </a:r>
            <a:r>
              <a:rPr dirty="0" sz="1200" spc="10">
                <a:latin typeface="Arial"/>
                <a:cs typeface="Arial"/>
              </a:rPr>
              <a:t>miles </a:t>
            </a:r>
            <a:r>
              <a:rPr dirty="0" sz="1200" spc="-5">
                <a:latin typeface="Arial"/>
                <a:cs typeface="Arial"/>
              </a:rPr>
              <a:t>along </a:t>
            </a:r>
            <a:r>
              <a:rPr dirty="0" sz="1200">
                <a:latin typeface="Arial"/>
                <a:cs typeface="Arial"/>
              </a:rPr>
              <a:t>the  </a:t>
            </a:r>
            <a:r>
              <a:rPr dirty="0" sz="1200" spc="-5">
                <a:latin typeface="Arial"/>
                <a:cs typeface="Arial"/>
              </a:rPr>
              <a:t>course.</a:t>
            </a:r>
            <a:r>
              <a:rPr dirty="0" sz="1200" spc="30">
                <a:latin typeface="Arial"/>
                <a:cs typeface="Arial"/>
              </a:rPr>
              <a:t> </a:t>
            </a:r>
            <a:r>
              <a:rPr dirty="0" sz="1200" spc="-5">
                <a:latin typeface="Arial"/>
                <a:cs typeface="Arial"/>
              </a:rPr>
              <a:t>He</a:t>
            </a:r>
            <a:r>
              <a:rPr dirty="0" sz="1200" spc="35">
                <a:latin typeface="Arial"/>
                <a:cs typeface="Arial"/>
              </a:rPr>
              <a:t> </a:t>
            </a:r>
            <a:r>
              <a:rPr dirty="0" sz="1200" spc="-5">
                <a:latin typeface="Arial"/>
                <a:cs typeface="Arial"/>
              </a:rPr>
              <a:t>killed</a:t>
            </a:r>
            <a:r>
              <a:rPr dirty="0" sz="1200" spc="35">
                <a:latin typeface="Arial"/>
                <a:cs typeface="Arial"/>
              </a:rPr>
              <a:t> </a:t>
            </a:r>
            <a:r>
              <a:rPr dirty="0" sz="1200">
                <a:latin typeface="Arial"/>
                <a:cs typeface="Arial"/>
              </a:rPr>
              <a:t>the</a:t>
            </a:r>
            <a:r>
              <a:rPr dirty="0" sz="1200" spc="35">
                <a:latin typeface="Arial"/>
                <a:cs typeface="Arial"/>
              </a:rPr>
              <a:t> </a:t>
            </a:r>
            <a:r>
              <a:rPr dirty="0" sz="1200" spc="-5">
                <a:latin typeface="Arial"/>
                <a:cs typeface="Arial"/>
              </a:rPr>
              <a:t>last</a:t>
            </a:r>
            <a:r>
              <a:rPr dirty="0" sz="1200" spc="35">
                <a:latin typeface="Arial"/>
                <a:cs typeface="Arial"/>
              </a:rPr>
              <a:t> </a:t>
            </a:r>
            <a:r>
              <a:rPr dirty="0" sz="1200" spc="-5">
                <a:latin typeface="Arial"/>
                <a:cs typeface="Arial"/>
              </a:rPr>
              <a:t>Khalifa</a:t>
            </a:r>
            <a:r>
              <a:rPr dirty="0" sz="1200" spc="30">
                <a:latin typeface="Arial"/>
                <a:cs typeface="Arial"/>
              </a:rPr>
              <a:t> </a:t>
            </a:r>
            <a:r>
              <a:rPr dirty="0" sz="1200" spc="-5">
                <a:latin typeface="Arial"/>
                <a:cs typeface="Arial"/>
              </a:rPr>
              <a:t>of</a:t>
            </a:r>
            <a:r>
              <a:rPr dirty="0" sz="1200" spc="45">
                <a:latin typeface="Arial"/>
                <a:cs typeface="Arial"/>
              </a:rPr>
              <a:t> </a:t>
            </a:r>
            <a:r>
              <a:rPr dirty="0" sz="1200" spc="-5">
                <a:latin typeface="Arial"/>
                <a:cs typeface="Arial"/>
              </a:rPr>
              <a:t>this</a:t>
            </a:r>
            <a:r>
              <a:rPr dirty="0" sz="1200" spc="25">
                <a:latin typeface="Arial"/>
                <a:cs typeface="Arial"/>
              </a:rPr>
              <a:t> </a:t>
            </a:r>
            <a:r>
              <a:rPr dirty="0" sz="1200" spc="-5">
                <a:latin typeface="Arial"/>
                <a:cs typeface="Arial"/>
              </a:rPr>
              <a:t>dynasty</a:t>
            </a:r>
            <a:r>
              <a:rPr dirty="0" sz="1200" spc="25">
                <a:latin typeface="Arial"/>
                <a:cs typeface="Arial"/>
              </a:rPr>
              <a:t> </a:t>
            </a:r>
            <a:r>
              <a:rPr dirty="0" sz="1200" spc="-5">
                <a:latin typeface="Arial"/>
                <a:cs typeface="Arial"/>
              </a:rPr>
              <a:t>and</a:t>
            </a:r>
            <a:r>
              <a:rPr dirty="0" sz="1200" spc="30">
                <a:latin typeface="Arial"/>
                <a:cs typeface="Arial"/>
              </a:rPr>
              <a:t> </a:t>
            </a:r>
            <a:r>
              <a:rPr dirty="0" sz="1200" spc="-5">
                <a:latin typeface="Arial"/>
                <a:cs typeface="Arial"/>
              </a:rPr>
              <a:t>massacred</a:t>
            </a:r>
            <a:r>
              <a:rPr dirty="0" sz="1200" spc="35">
                <a:latin typeface="Arial"/>
                <a:cs typeface="Arial"/>
              </a:rPr>
              <a:t> </a:t>
            </a:r>
            <a:r>
              <a:rPr dirty="0" sz="1200" spc="-5">
                <a:latin typeface="Arial"/>
                <a:cs typeface="Arial"/>
              </a:rPr>
              <a:t>his</a:t>
            </a:r>
            <a:r>
              <a:rPr dirty="0" sz="1200" spc="30">
                <a:latin typeface="Arial"/>
                <a:cs typeface="Arial"/>
              </a:rPr>
              <a:t> </a:t>
            </a:r>
            <a:r>
              <a:rPr dirty="0" sz="1200">
                <a:latin typeface="Arial"/>
                <a:cs typeface="Arial"/>
              </a:rPr>
              <a:t>family</a:t>
            </a:r>
            <a:r>
              <a:rPr dirty="0" sz="1200" spc="15">
                <a:latin typeface="Arial"/>
                <a:cs typeface="Arial"/>
              </a:rPr>
              <a:t> </a:t>
            </a:r>
            <a:r>
              <a:rPr dirty="0" sz="1200" spc="-5">
                <a:latin typeface="Arial"/>
                <a:cs typeface="Arial"/>
              </a:rPr>
              <a:t>so</a:t>
            </a:r>
            <a:r>
              <a:rPr dirty="0" sz="1200" spc="35">
                <a:latin typeface="Arial"/>
                <a:cs typeface="Arial"/>
              </a:rPr>
              <a:t> </a:t>
            </a:r>
            <a:r>
              <a:rPr dirty="0" sz="1200">
                <a:latin typeface="Arial"/>
                <a:cs typeface="Arial"/>
              </a:rPr>
              <a:t>much</a:t>
            </a:r>
            <a:r>
              <a:rPr dirty="0" sz="1200" spc="30">
                <a:latin typeface="Arial"/>
                <a:cs typeface="Arial"/>
              </a:rPr>
              <a:t> </a:t>
            </a:r>
            <a:r>
              <a:rPr dirty="0" sz="1200" spc="-10">
                <a:latin typeface="Arial"/>
                <a:cs typeface="Arial"/>
              </a:rPr>
              <a:t>so</a:t>
            </a:r>
            <a:endParaRPr sz="1200">
              <a:latin typeface="Arial"/>
              <a:cs typeface="Arial"/>
            </a:endParaRPr>
          </a:p>
          <a:p>
            <a:pPr algn="just" marL="469900" marR="12065">
              <a:lnSpc>
                <a:spcPts val="1380"/>
              </a:lnSpc>
            </a:pPr>
            <a:r>
              <a:rPr dirty="0" sz="1200">
                <a:latin typeface="Arial"/>
                <a:cs typeface="Arial"/>
              </a:rPr>
              <a:t>that for </a:t>
            </a:r>
            <a:r>
              <a:rPr dirty="0" sz="1200" spc="-5">
                <a:latin typeface="Arial"/>
                <a:cs typeface="Arial"/>
              </a:rPr>
              <a:t>the </a:t>
            </a:r>
            <a:r>
              <a:rPr dirty="0" sz="1200">
                <a:latin typeface="Arial"/>
                <a:cs typeface="Arial"/>
              </a:rPr>
              <a:t>first </a:t>
            </a:r>
            <a:r>
              <a:rPr dirty="0" sz="1200" spc="-5">
                <a:latin typeface="Arial"/>
                <a:cs typeface="Arial"/>
              </a:rPr>
              <a:t>time </a:t>
            </a:r>
            <a:r>
              <a:rPr dirty="0" sz="1200" spc="-10">
                <a:latin typeface="Arial"/>
                <a:cs typeface="Arial"/>
              </a:rPr>
              <a:t>in </a:t>
            </a:r>
            <a:r>
              <a:rPr dirty="0" sz="1200">
                <a:latin typeface="Arial"/>
                <a:cs typeface="Arial"/>
              </a:rPr>
              <a:t>its </a:t>
            </a:r>
            <a:r>
              <a:rPr dirty="0" sz="1200" spc="-5">
                <a:latin typeface="Arial"/>
                <a:cs typeface="Arial"/>
              </a:rPr>
              <a:t>history </a:t>
            </a:r>
            <a:r>
              <a:rPr dirty="0" sz="1200">
                <a:latin typeface="Arial"/>
                <a:cs typeface="Arial"/>
              </a:rPr>
              <a:t>the </a:t>
            </a:r>
            <a:r>
              <a:rPr dirty="0" sz="1200" spc="-5">
                <a:latin typeface="Arial"/>
                <a:cs typeface="Arial"/>
              </a:rPr>
              <a:t>Muslim </a:t>
            </a:r>
            <a:r>
              <a:rPr dirty="0" sz="1200" spc="-10">
                <a:latin typeface="Arial"/>
                <a:cs typeface="Arial"/>
              </a:rPr>
              <a:t>world was </a:t>
            </a:r>
            <a:r>
              <a:rPr dirty="0" sz="1200">
                <a:latin typeface="Arial"/>
                <a:cs typeface="Arial"/>
              </a:rPr>
              <a:t>left </a:t>
            </a:r>
            <a:r>
              <a:rPr dirty="0" sz="1200" spc="-5">
                <a:latin typeface="Arial"/>
                <a:cs typeface="Arial"/>
              </a:rPr>
              <a:t>without a Khalifa whose  name could be cited in the Friday prayers.</a:t>
            </a:r>
            <a:endParaRPr sz="1200">
              <a:latin typeface="Arial"/>
              <a:cs typeface="Arial"/>
            </a:endParaRPr>
          </a:p>
          <a:p>
            <a:pPr algn="just" marL="469900" indent="-229235">
              <a:lnSpc>
                <a:spcPts val="1315"/>
              </a:lnSpc>
              <a:buAutoNum type="arabicPeriod" startAt="13"/>
              <a:tabLst>
                <a:tab pos="470534" algn="l"/>
              </a:tabLst>
            </a:pPr>
            <a:r>
              <a:rPr dirty="0" sz="1200" spc="-5">
                <a:latin typeface="Arial"/>
                <a:cs typeface="Arial"/>
              </a:rPr>
              <a:t>The Khawarij were </a:t>
            </a:r>
            <a:r>
              <a:rPr dirty="0" sz="1200">
                <a:latin typeface="Arial"/>
                <a:cs typeface="Arial"/>
              </a:rPr>
              <a:t>continuing </a:t>
            </a:r>
            <a:r>
              <a:rPr dirty="0" sz="1200" spc="-5">
                <a:latin typeface="Arial"/>
                <a:cs typeface="Arial"/>
              </a:rPr>
              <a:t>their plots to instabilise the</a:t>
            </a:r>
            <a:r>
              <a:rPr dirty="0" sz="1200" spc="50">
                <a:latin typeface="Arial"/>
                <a:cs typeface="Arial"/>
              </a:rPr>
              <a:t> </a:t>
            </a:r>
            <a:r>
              <a:rPr dirty="0" sz="1200" spc="-5">
                <a:latin typeface="Arial"/>
                <a:cs typeface="Arial"/>
              </a:rPr>
              <a:t>society.</a:t>
            </a:r>
            <a:endParaRPr sz="1200">
              <a:latin typeface="Arial"/>
              <a:cs typeface="Arial"/>
            </a:endParaRPr>
          </a:p>
          <a:p>
            <a:pPr algn="just" marL="469900" marR="10160" indent="-228600">
              <a:lnSpc>
                <a:spcPts val="1380"/>
              </a:lnSpc>
              <a:spcBef>
                <a:spcPts val="70"/>
              </a:spcBef>
              <a:buAutoNum type="arabicPeriod" startAt="13"/>
              <a:tabLst>
                <a:tab pos="470534" algn="l"/>
              </a:tabLst>
            </a:pPr>
            <a:r>
              <a:rPr dirty="0" sz="1200" spc="-5">
                <a:latin typeface="Arial"/>
                <a:cs typeface="Arial"/>
              </a:rPr>
              <a:t>The Shi‘a </a:t>
            </a:r>
            <a:r>
              <a:rPr dirty="0" sz="1200">
                <a:latin typeface="Arial"/>
                <a:cs typeface="Arial"/>
              </a:rPr>
              <a:t>party </a:t>
            </a:r>
            <a:r>
              <a:rPr dirty="0" sz="1200" spc="-10">
                <a:latin typeface="Arial"/>
                <a:cs typeface="Arial"/>
              </a:rPr>
              <a:t>was </a:t>
            </a:r>
            <a:r>
              <a:rPr dirty="0" sz="1200" spc="-5">
                <a:latin typeface="Arial"/>
                <a:cs typeface="Arial"/>
              </a:rPr>
              <a:t>constantly demanding </a:t>
            </a:r>
            <a:r>
              <a:rPr dirty="0" sz="1200">
                <a:latin typeface="Arial"/>
                <a:cs typeface="Arial"/>
              </a:rPr>
              <a:t>their </a:t>
            </a:r>
            <a:r>
              <a:rPr dirty="0" sz="1200" spc="-5">
                <a:latin typeface="Arial"/>
                <a:cs typeface="Arial"/>
              </a:rPr>
              <a:t>rights and as such dividing </a:t>
            </a:r>
            <a:r>
              <a:rPr dirty="0" sz="1200">
                <a:latin typeface="Arial"/>
                <a:cs typeface="Arial"/>
              </a:rPr>
              <a:t>the  </a:t>
            </a:r>
            <a:r>
              <a:rPr dirty="0" sz="1200" spc="-5">
                <a:latin typeface="Arial"/>
                <a:cs typeface="Arial"/>
              </a:rPr>
              <a:t>Ummah.</a:t>
            </a:r>
            <a:endParaRPr sz="1200">
              <a:latin typeface="Arial"/>
              <a:cs typeface="Arial"/>
            </a:endParaRPr>
          </a:p>
          <a:p>
            <a:pPr algn="just" marL="469900" marR="11430" indent="-228600">
              <a:lnSpc>
                <a:spcPts val="1380"/>
              </a:lnSpc>
              <a:buAutoNum type="arabicPeriod" startAt="13"/>
              <a:tabLst>
                <a:tab pos="470534" algn="l"/>
              </a:tabLst>
            </a:pPr>
            <a:r>
              <a:rPr dirty="0" sz="1200" spc="-5">
                <a:latin typeface="Arial"/>
                <a:cs typeface="Arial"/>
              </a:rPr>
              <a:t>The people were disgusted with a society based on blood and iron policy of </a:t>
            </a:r>
            <a:r>
              <a:rPr dirty="0" sz="1200" spc="-10">
                <a:latin typeface="Arial"/>
                <a:cs typeface="Arial"/>
              </a:rPr>
              <a:t>the  </a:t>
            </a:r>
            <a:r>
              <a:rPr dirty="0" sz="1200" spc="-5">
                <a:latin typeface="Arial"/>
                <a:cs typeface="Arial"/>
              </a:rPr>
              <a:t>Abbasids.</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109</a:t>
            </a:r>
            <a:endParaRPr sz="1200">
              <a:latin typeface="Times New Roman"/>
              <a:cs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975105"/>
            <a:ext cx="1728470" cy="208279"/>
          </a:xfrm>
          <a:prstGeom prst="rect">
            <a:avLst/>
          </a:prstGeom>
        </p:spPr>
        <p:txBody>
          <a:bodyPr wrap="square" lIns="0" tIns="12700" rIns="0" bIns="0" rtlCol="0" vert="horz">
            <a:spAutoFit/>
          </a:bodyPr>
          <a:lstStyle/>
          <a:p>
            <a:pPr marL="12700">
              <a:lnSpc>
                <a:spcPct val="100000"/>
              </a:lnSpc>
              <a:spcBef>
                <a:spcPts val="100"/>
              </a:spcBef>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35" b="1" i="1">
                <a:uFill>
                  <a:solidFill>
                    <a:srgbClr val="000000"/>
                  </a:solidFill>
                </a:uFill>
                <a:latin typeface="Arial"/>
                <a:cs typeface="Arial"/>
              </a:rPr>
              <a:t> </a:t>
            </a:r>
            <a:r>
              <a:rPr dirty="0" u="heavy" sz="1200" spc="-5" b="1" i="1">
                <a:uFill>
                  <a:solidFill>
                    <a:srgbClr val="000000"/>
                  </a:solidFill>
                </a:uFill>
                <a:latin typeface="Arial"/>
                <a:cs typeface="Arial"/>
              </a:rPr>
              <a:t>Questions</a:t>
            </a:r>
            <a:endParaRPr sz="1200">
              <a:latin typeface="Arial"/>
              <a:cs typeface="Arial"/>
            </a:endParaRPr>
          </a:p>
        </p:txBody>
      </p:sp>
      <p:sp>
        <p:nvSpPr>
          <p:cNvPr id="7" name="object 7"/>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8" name="object 8"/>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110</a:t>
            </a:r>
            <a:endParaRPr sz="1200">
              <a:latin typeface="Times New Roman"/>
              <a:cs typeface="Times New Roman"/>
            </a:endParaRPr>
          </a:p>
        </p:txBody>
      </p:sp>
      <p:sp>
        <p:nvSpPr>
          <p:cNvPr id="6" name="object 6"/>
          <p:cNvSpPr txBox="1"/>
          <p:nvPr/>
        </p:nvSpPr>
        <p:spPr>
          <a:xfrm>
            <a:off x="534416" y="1325626"/>
            <a:ext cx="6311265" cy="8094980"/>
          </a:xfrm>
          <a:prstGeom prst="rect">
            <a:avLst/>
          </a:prstGeom>
        </p:spPr>
        <p:txBody>
          <a:bodyPr wrap="square" lIns="0" tIns="12700" rIns="0" bIns="0" rtlCol="0" vert="horz">
            <a:spAutoFit/>
          </a:bodyPr>
          <a:lstStyle/>
          <a:p>
            <a:pPr algn="ctr">
              <a:lnSpc>
                <a:spcPct val="100000"/>
              </a:lnSpc>
              <a:spcBef>
                <a:spcPts val="100"/>
              </a:spcBef>
            </a:pPr>
            <a:r>
              <a:rPr dirty="0" u="heavy" sz="1200" spc="-5" b="1">
                <a:uFill>
                  <a:solidFill>
                    <a:srgbClr val="000000"/>
                  </a:solidFill>
                </a:uFill>
                <a:latin typeface="Arial"/>
                <a:cs typeface="Arial"/>
              </a:rPr>
              <a:t>Syllabus 9013</a:t>
            </a:r>
            <a:endParaRPr sz="1200">
              <a:latin typeface="Arial"/>
              <a:cs typeface="Arial"/>
            </a:endParaRPr>
          </a:p>
          <a:p>
            <a:pPr>
              <a:lnSpc>
                <a:spcPct val="100000"/>
              </a:lnSpc>
            </a:pPr>
            <a:endParaRPr sz="1300">
              <a:latin typeface="Arial"/>
              <a:cs typeface="Arial"/>
            </a:endParaRPr>
          </a:p>
          <a:p>
            <a:pPr>
              <a:lnSpc>
                <a:spcPct val="100000"/>
              </a:lnSpc>
              <a:spcBef>
                <a:spcPts val="35"/>
              </a:spcBef>
            </a:pPr>
            <a:endParaRPr sz="1100">
              <a:latin typeface="Arial"/>
              <a:cs typeface="Arial"/>
            </a:endParaRPr>
          </a:p>
          <a:p>
            <a:pPr marL="12700" marR="13335">
              <a:lnSpc>
                <a:spcPts val="1380"/>
              </a:lnSpc>
              <a:buFont typeface="Arial"/>
              <a:buAutoNum type="arabicPlain"/>
              <a:tabLst>
                <a:tab pos="162560" algn="l"/>
              </a:tabLst>
            </a:pPr>
            <a:r>
              <a:rPr dirty="0" sz="1200" spc="-5">
                <a:latin typeface="Arial"/>
                <a:cs typeface="Arial"/>
              </a:rPr>
              <a:t>Most of </a:t>
            </a:r>
            <a:r>
              <a:rPr dirty="0" sz="1200">
                <a:latin typeface="Arial"/>
                <a:cs typeface="Arial"/>
              </a:rPr>
              <a:t>the </a:t>
            </a:r>
            <a:r>
              <a:rPr dirty="0" sz="1200" spc="-5">
                <a:latin typeface="Arial"/>
                <a:cs typeface="Arial"/>
              </a:rPr>
              <a:t>later </a:t>
            </a:r>
            <a:r>
              <a:rPr dirty="0" sz="1200" spc="-10">
                <a:latin typeface="Arial"/>
                <a:cs typeface="Arial"/>
              </a:rPr>
              <a:t>Umayyad </a:t>
            </a:r>
            <a:r>
              <a:rPr dirty="0" sz="1200" spc="-5">
                <a:latin typeface="Arial"/>
                <a:cs typeface="Arial"/>
              </a:rPr>
              <a:t>caliphs are considered </a:t>
            </a:r>
            <a:r>
              <a:rPr dirty="0" sz="1200">
                <a:latin typeface="Arial"/>
                <a:cs typeface="Arial"/>
              </a:rPr>
              <a:t>to </a:t>
            </a:r>
            <a:r>
              <a:rPr dirty="0" sz="1200" spc="-5">
                <a:latin typeface="Arial"/>
                <a:cs typeface="Arial"/>
              </a:rPr>
              <a:t>be weak rulers. How </a:t>
            </a:r>
            <a:r>
              <a:rPr dirty="0" sz="1200">
                <a:latin typeface="Arial"/>
                <a:cs typeface="Arial"/>
              </a:rPr>
              <a:t>far </a:t>
            </a:r>
            <a:r>
              <a:rPr dirty="0" sz="1200" spc="-5">
                <a:latin typeface="Arial"/>
                <a:cs typeface="Arial"/>
              </a:rPr>
              <a:t>does </a:t>
            </a:r>
            <a:r>
              <a:rPr dirty="0" sz="1200">
                <a:latin typeface="Arial"/>
                <a:cs typeface="Arial"/>
              </a:rPr>
              <a:t>this  </a:t>
            </a:r>
            <a:r>
              <a:rPr dirty="0" sz="1200" spc="-5">
                <a:latin typeface="Arial"/>
                <a:cs typeface="Arial"/>
              </a:rPr>
              <a:t>explain the overthrow of the dynasty?</a:t>
            </a:r>
            <a:r>
              <a:rPr dirty="0" sz="1200" spc="20">
                <a:latin typeface="Arial"/>
                <a:cs typeface="Arial"/>
              </a:rPr>
              <a:t> </a:t>
            </a:r>
            <a:r>
              <a:rPr dirty="0" sz="1200" spc="-5">
                <a:latin typeface="Arial"/>
                <a:cs typeface="Arial"/>
              </a:rPr>
              <a:t>[20]</a:t>
            </a:r>
            <a:endParaRPr sz="1200">
              <a:latin typeface="Arial"/>
              <a:cs typeface="Arial"/>
            </a:endParaRPr>
          </a:p>
          <a:p>
            <a:pPr>
              <a:lnSpc>
                <a:spcPct val="100000"/>
              </a:lnSpc>
              <a:buFont typeface="Arial"/>
              <a:buAutoNum type="arabicPlain"/>
            </a:pPr>
            <a:endParaRPr sz="1200">
              <a:latin typeface="Arial"/>
              <a:cs typeface="Arial"/>
            </a:endParaRPr>
          </a:p>
          <a:p>
            <a:pPr marL="12700" marR="11430">
              <a:lnSpc>
                <a:spcPts val="1380"/>
              </a:lnSpc>
              <a:buFont typeface="Arial"/>
              <a:buAutoNum type="arabicPlain"/>
              <a:tabLst>
                <a:tab pos="145415" algn="l"/>
              </a:tabLst>
            </a:pPr>
            <a:r>
              <a:rPr dirty="0" sz="1200" spc="-5">
                <a:latin typeface="Arial"/>
                <a:cs typeface="Arial"/>
              </a:rPr>
              <a:t>How </a:t>
            </a:r>
            <a:r>
              <a:rPr dirty="0" sz="1200">
                <a:latin typeface="Arial"/>
                <a:cs typeface="Arial"/>
              </a:rPr>
              <a:t>far </a:t>
            </a:r>
            <a:r>
              <a:rPr dirty="0" sz="1200" spc="-5">
                <a:latin typeface="Arial"/>
                <a:cs typeface="Arial"/>
              </a:rPr>
              <a:t>can purely religious </a:t>
            </a:r>
            <a:r>
              <a:rPr dirty="0" sz="1200">
                <a:latin typeface="Arial"/>
                <a:cs typeface="Arial"/>
              </a:rPr>
              <a:t>factors </a:t>
            </a:r>
            <a:r>
              <a:rPr dirty="0" sz="1200" spc="-5">
                <a:latin typeface="Arial"/>
                <a:cs typeface="Arial"/>
              </a:rPr>
              <a:t>explain </a:t>
            </a:r>
            <a:r>
              <a:rPr dirty="0" sz="1200">
                <a:latin typeface="Arial"/>
                <a:cs typeface="Arial"/>
              </a:rPr>
              <a:t>the </a:t>
            </a:r>
            <a:r>
              <a:rPr dirty="0" sz="1200" spc="-5">
                <a:latin typeface="Arial"/>
                <a:cs typeface="Arial"/>
              </a:rPr>
              <a:t>success of the `Abbasid dynasty in </a:t>
            </a:r>
            <a:r>
              <a:rPr dirty="0" sz="1200">
                <a:latin typeface="Arial"/>
                <a:cs typeface="Arial"/>
              </a:rPr>
              <a:t>coming  to </a:t>
            </a:r>
            <a:r>
              <a:rPr dirty="0" sz="1200" spc="-10">
                <a:latin typeface="Arial"/>
                <a:cs typeface="Arial"/>
              </a:rPr>
              <a:t>power </a:t>
            </a:r>
            <a:r>
              <a:rPr dirty="0" sz="1200" spc="-5">
                <a:latin typeface="Arial"/>
                <a:cs typeface="Arial"/>
              </a:rPr>
              <a:t>in </a:t>
            </a:r>
            <a:r>
              <a:rPr dirty="0" sz="1200">
                <a:latin typeface="Arial"/>
                <a:cs typeface="Arial"/>
              </a:rPr>
              <a:t>the </a:t>
            </a:r>
            <a:r>
              <a:rPr dirty="0" sz="1200" spc="-5">
                <a:latin typeface="Arial"/>
                <a:cs typeface="Arial"/>
              </a:rPr>
              <a:t>eighth century?`</a:t>
            </a:r>
            <a:r>
              <a:rPr dirty="0" sz="1200" spc="10">
                <a:latin typeface="Arial"/>
                <a:cs typeface="Arial"/>
              </a:rPr>
              <a:t> </a:t>
            </a:r>
            <a:r>
              <a:rPr dirty="0" sz="1200" spc="-5">
                <a:latin typeface="Arial"/>
                <a:cs typeface="Arial"/>
              </a:rPr>
              <a:t>[20]</a:t>
            </a:r>
            <a:endParaRPr sz="1200">
              <a:latin typeface="Arial"/>
              <a:cs typeface="Arial"/>
            </a:endParaRPr>
          </a:p>
          <a:p>
            <a:pPr>
              <a:lnSpc>
                <a:spcPct val="100000"/>
              </a:lnSpc>
              <a:buFont typeface="Arial"/>
              <a:buAutoNum type="arabicPlain"/>
            </a:pPr>
            <a:endParaRPr sz="1200">
              <a:latin typeface="Arial"/>
              <a:cs typeface="Arial"/>
            </a:endParaRPr>
          </a:p>
          <a:p>
            <a:pPr marL="12700" marR="22860">
              <a:lnSpc>
                <a:spcPts val="1380"/>
              </a:lnSpc>
              <a:buFont typeface="Arial"/>
              <a:buAutoNum type="arabicPlain"/>
              <a:tabLst>
                <a:tab pos="140970" algn="l"/>
              </a:tabLst>
            </a:pPr>
            <a:r>
              <a:rPr dirty="0" sz="1200">
                <a:latin typeface="Arial"/>
                <a:cs typeface="Arial"/>
              </a:rPr>
              <a:t>It </a:t>
            </a:r>
            <a:r>
              <a:rPr dirty="0" sz="1200" spc="-5">
                <a:latin typeface="Arial"/>
                <a:cs typeface="Arial"/>
              </a:rPr>
              <a:t>is often said that al-Ma‘mun </a:t>
            </a:r>
            <a:r>
              <a:rPr dirty="0" sz="1200">
                <a:latin typeface="Arial"/>
                <a:cs typeface="Arial"/>
              </a:rPr>
              <a:t>and </a:t>
            </a:r>
            <a:r>
              <a:rPr dirty="0" sz="1200" spc="-5">
                <a:latin typeface="Arial"/>
                <a:cs typeface="Arial"/>
              </a:rPr>
              <a:t>al-Mutawakkil </a:t>
            </a:r>
            <a:r>
              <a:rPr dirty="0" sz="1200">
                <a:latin typeface="Arial"/>
                <a:cs typeface="Arial"/>
              </a:rPr>
              <a:t>had </a:t>
            </a:r>
            <a:r>
              <a:rPr dirty="0" sz="1200" spc="-5">
                <a:latin typeface="Arial"/>
                <a:cs typeface="Arial"/>
              </a:rPr>
              <a:t>completely opposite religious policies.  How </a:t>
            </a:r>
            <a:r>
              <a:rPr dirty="0" sz="1200" spc="5">
                <a:latin typeface="Arial"/>
                <a:cs typeface="Arial"/>
              </a:rPr>
              <a:t>far </a:t>
            </a:r>
            <a:r>
              <a:rPr dirty="0" sz="1200" spc="-5">
                <a:latin typeface="Arial"/>
                <a:cs typeface="Arial"/>
              </a:rPr>
              <a:t>do you consider this view true? </a:t>
            </a:r>
            <a:r>
              <a:rPr dirty="0" sz="1200">
                <a:latin typeface="Arial"/>
                <a:cs typeface="Arial"/>
              </a:rPr>
              <a:t>[20]</a:t>
            </a:r>
            <a:r>
              <a:rPr dirty="0" sz="1200" spc="5">
                <a:latin typeface="Arial"/>
                <a:cs typeface="Arial"/>
              </a:rPr>
              <a:t> </a:t>
            </a:r>
            <a:r>
              <a:rPr dirty="0" sz="1200" spc="-5" b="1">
                <a:latin typeface="Arial"/>
                <a:cs typeface="Arial"/>
              </a:rPr>
              <a:t>(2004)</a:t>
            </a:r>
            <a:endParaRPr sz="1200">
              <a:latin typeface="Arial"/>
              <a:cs typeface="Arial"/>
            </a:endParaRPr>
          </a:p>
          <a:p>
            <a:pPr>
              <a:lnSpc>
                <a:spcPct val="100000"/>
              </a:lnSpc>
              <a:spcBef>
                <a:spcPts val="20"/>
              </a:spcBef>
            </a:pPr>
            <a:endParaRPr sz="1100">
              <a:latin typeface="Arial"/>
              <a:cs typeface="Arial"/>
            </a:endParaRPr>
          </a:p>
          <a:p>
            <a:pPr marL="137160" indent="-125095">
              <a:lnSpc>
                <a:spcPct val="100000"/>
              </a:lnSpc>
              <a:buFont typeface="Arial"/>
              <a:buAutoNum type="arabicPlain"/>
              <a:tabLst>
                <a:tab pos="137795" algn="l"/>
              </a:tabLst>
            </a:pPr>
            <a:r>
              <a:rPr dirty="0" sz="1200" spc="10">
                <a:latin typeface="Arial"/>
                <a:cs typeface="Arial"/>
              </a:rPr>
              <a:t>Why </a:t>
            </a:r>
            <a:r>
              <a:rPr dirty="0" sz="1200" spc="-5">
                <a:latin typeface="Arial"/>
                <a:cs typeface="Arial"/>
              </a:rPr>
              <a:t>do Muslims often regard the period of Umayyad </a:t>
            </a:r>
            <a:r>
              <a:rPr dirty="0" sz="1200">
                <a:latin typeface="Arial"/>
                <a:cs typeface="Arial"/>
              </a:rPr>
              <a:t>rule as </a:t>
            </a:r>
            <a:r>
              <a:rPr dirty="0" sz="1200" spc="-35">
                <a:latin typeface="Arial"/>
                <a:cs typeface="Arial"/>
              </a:rPr>
              <a:t>‗unislamic‘?</a:t>
            </a:r>
            <a:r>
              <a:rPr dirty="0" sz="1200" spc="15">
                <a:latin typeface="Arial"/>
                <a:cs typeface="Arial"/>
              </a:rPr>
              <a:t> </a:t>
            </a:r>
            <a:r>
              <a:rPr dirty="0" sz="1200" spc="-5">
                <a:latin typeface="Arial"/>
                <a:cs typeface="Arial"/>
              </a:rPr>
              <a:t>[20]</a:t>
            </a:r>
            <a:endParaRPr sz="1200">
              <a:latin typeface="Arial"/>
              <a:cs typeface="Arial"/>
            </a:endParaRPr>
          </a:p>
          <a:p>
            <a:pPr>
              <a:lnSpc>
                <a:spcPct val="100000"/>
              </a:lnSpc>
              <a:spcBef>
                <a:spcPts val="35"/>
              </a:spcBef>
              <a:buFont typeface="Arial"/>
              <a:buAutoNum type="arabicPlain"/>
            </a:pPr>
            <a:endParaRPr sz="1200">
              <a:latin typeface="Arial"/>
              <a:cs typeface="Arial"/>
            </a:endParaRPr>
          </a:p>
          <a:p>
            <a:pPr marL="12700" marR="5080">
              <a:lnSpc>
                <a:spcPts val="1380"/>
              </a:lnSpc>
              <a:spcBef>
                <a:spcPts val="5"/>
              </a:spcBef>
              <a:buFont typeface="Arial"/>
              <a:buAutoNum type="arabicPlain"/>
              <a:tabLst>
                <a:tab pos="163830" algn="l"/>
              </a:tabLst>
            </a:pPr>
            <a:r>
              <a:rPr dirty="0" sz="1200" spc="-5">
                <a:latin typeface="Arial"/>
                <a:cs typeface="Arial"/>
              </a:rPr>
              <a:t>Explain why Muslims have generally given `Umar </a:t>
            </a:r>
            <a:r>
              <a:rPr dirty="0" sz="1200">
                <a:latin typeface="Arial"/>
                <a:cs typeface="Arial"/>
              </a:rPr>
              <a:t>II </a:t>
            </a:r>
            <a:r>
              <a:rPr dirty="0" sz="1200" spc="-5">
                <a:latin typeface="Arial"/>
                <a:cs typeface="Arial"/>
              </a:rPr>
              <a:t>(`Umar </a:t>
            </a:r>
            <a:r>
              <a:rPr dirty="0" sz="1200">
                <a:latin typeface="Arial"/>
                <a:cs typeface="Arial"/>
              </a:rPr>
              <a:t>Ibn `Abd al-`Aziz) </a:t>
            </a:r>
            <a:r>
              <a:rPr dirty="0" sz="1200" spc="-5">
                <a:latin typeface="Arial"/>
                <a:cs typeface="Arial"/>
              </a:rPr>
              <a:t>a special  place among Umayyad </a:t>
            </a:r>
            <a:r>
              <a:rPr dirty="0" sz="1200">
                <a:latin typeface="Arial"/>
                <a:cs typeface="Arial"/>
              </a:rPr>
              <a:t>and </a:t>
            </a:r>
            <a:r>
              <a:rPr dirty="0" sz="1200" spc="-5">
                <a:latin typeface="Arial"/>
                <a:cs typeface="Arial"/>
              </a:rPr>
              <a:t>other early rulers.</a:t>
            </a:r>
            <a:r>
              <a:rPr dirty="0" sz="1200">
                <a:latin typeface="Arial"/>
                <a:cs typeface="Arial"/>
              </a:rPr>
              <a:t> [20]</a:t>
            </a:r>
            <a:endParaRPr sz="1200">
              <a:latin typeface="Arial"/>
              <a:cs typeface="Arial"/>
            </a:endParaRPr>
          </a:p>
          <a:p>
            <a:pPr>
              <a:lnSpc>
                <a:spcPct val="100000"/>
              </a:lnSpc>
              <a:spcBef>
                <a:spcPts val="15"/>
              </a:spcBef>
              <a:buFont typeface="Arial"/>
              <a:buAutoNum type="arabicPlain"/>
            </a:pPr>
            <a:endParaRPr sz="1100">
              <a:latin typeface="Arial"/>
              <a:cs typeface="Arial"/>
            </a:endParaRPr>
          </a:p>
          <a:p>
            <a:pPr marL="137160" indent="-125095">
              <a:lnSpc>
                <a:spcPts val="1410"/>
              </a:lnSpc>
              <a:buFont typeface="Arial"/>
              <a:buAutoNum type="arabicPlain"/>
              <a:tabLst>
                <a:tab pos="137795" algn="l"/>
              </a:tabLst>
            </a:pPr>
            <a:r>
              <a:rPr dirty="0" sz="1200">
                <a:latin typeface="Arial"/>
                <a:cs typeface="Arial"/>
              </a:rPr>
              <a:t>Write </a:t>
            </a:r>
            <a:r>
              <a:rPr dirty="0" sz="1200" spc="-5">
                <a:latin typeface="Arial"/>
                <a:cs typeface="Arial"/>
              </a:rPr>
              <a:t>short notes on </a:t>
            </a:r>
            <a:r>
              <a:rPr dirty="0" sz="1200">
                <a:latin typeface="Arial"/>
                <a:cs typeface="Arial"/>
              </a:rPr>
              <a:t>the main </a:t>
            </a:r>
            <a:r>
              <a:rPr dirty="0" sz="1200" spc="-5">
                <a:latin typeface="Arial"/>
                <a:cs typeface="Arial"/>
              </a:rPr>
              <a:t>activities of </a:t>
            </a:r>
            <a:r>
              <a:rPr dirty="0" sz="1200" spc="-10">
                <a:latin typeface="Arial"/>
                <a:cs typeface="Arial"/>
              </a:rPr>
              <a:t>the </a:t>
            </a:r>
            <a:r>
              <a:rPr dirty="0" sz="1200" spc="-5">
                <a:latin typeface="Arial"/>
                <a:cs typeface="Arial"/>
              </a:rPr>
              <a:t>following </a:t>
            </a:r>
            <a:r>
              <a:rPr dirty="0" sz="1200">
                <a:latin typeface="Arial"/>
                <a:cs typeface="Arial"/>
              </a:rPr>
              <a:t>`Abbasid</a:t>
            </a:r>
            <a:r>
              <a:rPr dirty="0" sz="1200" spc="5">
                <a:latin typeface="Arial"/>
                <a:cs typeface="Arial"/>
              </a:rPr>
              <a:t> </a:t>
            </a:r>
            <a:r>
              <a:rPr dirty="0" sz="1200" spc="-5">
                <a:latin typeface="Arial"/>
                <a:cs typeface="Arial"/>
              </a:rPr>
              <a:t>rulers:</a:t>
            </a:r>
            <a:endParaRPr sz="1200">
              <a:latin typeface="Arial"/>
              <a:cs typeface="Arial"/>
            </a:endParaRPr>
          </a:p>
          <a:p>
            <a:pPr marL="241300" indent="-228600">
              <a:lnSpc>
                <a:spcPts val="1380"/>
              </a:lnSpc>
              <a:buFont typeface="Arial"/>
              <a:buAutoNum type="alphaLcParenBoth"/>
              <a:tabLst>
                <a:tab pos="241300" algn="l"/>
              </a:tabLst>
            </a:pPr>
            <a:r>
              <a:rPr dirty="0" sz="1200" spc="-5">
                <a:latin typeface="Arial"/>
                <a:cs typeface="Arial"/>
              </a:rPr>
              <a:t>Abu Ja`far</a:t>
            </a:r>
            <a:r>
              <a:rPr dirty="0" sz="1200">
                <a:latin typeface="Arial"/>
                <a:cs typeface="Arial"/>
              </a:rPr>
              <a:t> </a:t>
            </a:r>
            <a:r>
              <a:rPr dirty="0" sz="1200" spc="-5">
                <a:latin typeface="Arial"/>
                <a:cs typeface="Arial"/>
              </a:rPr>
              <a:t>al-Mansur</a:t>
            </a:r>
            <a:endParaRPr sz="1200">
              <a:latin typeface="Arial"/>
              <a:cs typeface="Arial"/>
            </a:endParaRPr>
          </a:p>
          <a:p>
            <a:pPr marL="248920" indent="-236220">
              <a:lnSpc>
                <a:spcPts val="1380"/>
              </a:lnSpc>
              <a:buFont typeface="Arial"/>
              <a:buAutoNum type="alphaLcParenBoth"/>
              <a:tabLst>
                <a:tab pos="248920" algn="l"/>
              </a:tabLst>
            </a:pPr>
            <a:r>
              <a:rPr dirty="0" sz="1200" spc="-5">
                <a:latin typeface="Arial"/>
                <a:cs typeface="Arial"/>
              </a:rPr>
              <a:t>Harun </a:t>
            </a:r>
            <a:r>
              <a:rPr dirty="0" sz="1200">
                <a:latin typeface="Arial"/>
                <a:cs typeface="Arial"/>
              </a:rPr>
              <a:t>al-Rashid</a:t>
            </a:r>
            <a:endParaRPr sz="1200">
              <a:latin typeface="Arial"/>
              <a:cs typeface="Arial"/>
            </a:endParaRPr>
          </a:p>
          <a:p>
            <a:pPr marL="241300" indent="-228600">
              <a:lnSpc>
                <a:spcPts val="1380"/>
              </a:lnSpc>
              <a:buFont typeface="Arial"/>
              <a:buAutoNum type="alphaLcParenBoth"/>
              <a:tabLst>
                <a:tab pos="241300" algn="l"/>
              </a:tabLst>
            </a:pPr>
            <a:r>
              <a:rPr dirty="0" sz="1200" spc="-5">
                <a:latin typeface="Arial"/>
                <a:cs typeface="Arial"/>
              </a:rPr>
              <a:t>al-Ma‘mun</a:t>
            </a:r>
            <a:endParaRPr sz="1200">
              <a:latin typeface="Arial"/>
              <a:cs typeface="Arial"/>
            </a:endParaRPr>
          </a:p>
          <a:p>
            <a:pPr marL="248920" indent="-236220">
              <a:lnSpc>
                <a:spcPts val="1410"/>
              </a:lnSpc>
              <a:buFont typeface="Arial"/>
              <a:buAutoNum type="alphaLcParenBoth"/>
              <a:tabLst>
                <a:tab pos="248920" algn="l"/>
              </a:tabLst>
            </a:pPr>
            <a:r>
              <a:rPr dirty="0" sz="1200" spc="-5">
                <a:latin typeface="Arial"/>
                <a:cs typeface="Arial"/>
              </a:rPr>
              <a:t>al-Mutawakkil. </a:t>
            </a:r>
            <a:r>
              <a:rPr dirty="0" sz="1200">
                <a:latin typeface="Arial"/>
                <a:cs typeface="Arial"/>
              </a:rPr>
              <a:t>[20]</a:t>
            </a:r>
            <a:r>
              <a:rPr dirty="0" sz="1200" spc="-5">
                <a:latin typeface="Arial"/>
                <a:cs typeface="Arial"/>
              </a:rPr>
              <a:t> </a:t>
            </a:r>
            <a:r>
              <a:rPr dirty="0" sz="1200" spc="-5" b="1">
                <a:latin typeface="Arial"/>
                <a:cs typeface="Arial"/>
              </a:rPr>
              <a:t>(2005)</a:t>
            </a:r>
            <a:endParaRPr sz="1200">
              <a:latin typeface="Arial"/>
              <a:cs typeface="Arial"/>
            </a:endParaRPr>
          </a:p>
          <a:p>
            <a:pPr>
              <a:lnSpc>
                <a:spcPct val="100000"/>
              </a:lnSpc>
              <a:spcBef>
                <a:spcPts val="40"/>
              </a:spcBef>
            </a:pPr>
            <a:endParaRPr sz="1200">
              <a:latin typeface="Arial"/>
              <a:cs typeface="Arial"/>
            </a:endParaRPr>
          </a:p>
          <a:p>
            <a:pPr algn="just" marL="12700" marR="7620">
              <a:lnSpc>
                <a:spcPts val="1380"/>
              </a:lnSpc>
              <a:buFont typeface="Arial"/>
              <a:buAutoNum type="arabicPlain"/>
              <a:tabLst>
                <a:tab pos="168275" algn="l"/>
              </a:tabLst>
            </a:pPr>
            <a:r>
              <a:rPr dirty="0" sz="1200" spc="-5">
                <a:latin typeface="Arial"/>
                <a:cs typeface="Arial"/>
              </a:rPr>
              <a:t>Explain </a:t>
            </a:r>
            <a:r>
              <a:rPr dirty="0" sz="1200">
                <a:latin typeface="Arial"/>
                <a:cs typeface="Arial"/>
              </a:rPr>
              <a:t>how </a:t>
            </a:r>
            <a:r>
              <a:rPr dirty="0" sz="1200" spc="-55">
                <a:latin typeface="Arial"/>
                <a:cs typeface="Arial"/>
              </a:rPr>
              <a:t>Mu‗awiya </a:t>
            </a:r>
            <a:r>
              <a:rPr dirty="0" sz="1200">
                <a:latin typeface="Arial"/>
                <a:cs typeface="Arial"/>
              </a:rPr>
              <a:t>and </a:t>
            </a:r>
            <a:r>
              <a:rPr dirty="0" sz="1200" spc="-5">
                <a:latin typeface="Arial"/>
                <a:cs typeface="Arial"/>
              </a:rPr>
              <a:t>his immediate </a:t>
            </a:r>
            <a:r>
              <a:rPr dirty="0" sz="1200">
                <a:latin typeface="Arial"/>
                <a:cs typeface="Arial"/>
              </a:rPr>
              <a:t>successors up to </a:t>
            </a:r>
            <a:r>
              <a:rPr dirty="0" sz="1200" spc="-105">
                <a:latin typeface="Arial"/>
                <a:cs typeface="Arial"/>
              </a:rPr>
              <a:t>‗Abd </a:t>
            </a:r>
            <a:r>
              <a:rPr dirty="0" sz="1200" spc="-5">
                <a:latin typeface="Arial"/>
                <a:cs typeface="Arial"/>
              </a:rPr>
              <a:t>al-Malik in </a:t>
            </a:r>
            <a:r>
              <a:rPr dirty="0" sz="1200">
                <a:latin typeface="Arial"/>
                <a:cs typeface="Arial"/>
              </a:rPr>
              <a:t>the </a:t>
            </a:r>
            <a:r>
              <a:rPr dirty="0" sz="1200" spc="-5">
                <a:latin typeface="Arial"/>
                <a:cs typeface="Arial"/>
              </a:rPr>
              <a:t>period  between 661 and 705 maintained their power in </a:t>
            </a:r>
            <a:r>
              <a:rPr dirty="0" sz="1200">
                <a:latin typeface="Arial"/>
                <a:cs typeface="Arial"/>
              </a:rPr>
              <a:t>the face </a:t>
            </a:r>
            <a:r>
              <a:rPr dirty="0" sz="1200" spc="-5">
                <a:latin typeface="Arial"/>
                <a:cs typeface="Arial"/>
              </a:rPr>
              <a:t>of </a:t>
            </a:r>
            <a:r>
              <a:rPr dirty="0" sz="1200">
                <a:latin typeface="Arial"/>
                <a:cs typeface="Arial"/>
              </a:rPr>
              <a:t>internal </a:t>
            </a:r>
            <a:r>
              <a:rPr dirty="0" sz="1200" spc="-5">
                <a:latin typeface="Arial"/>
                <a:cs typeface="Arial"/>
              </a:rPr>
              <a:t>and external opposition.  </a:t>
            </a:r>
            <a:r>
              <a:rPr dirty="0" sz="1200">
                <a:latin typeface="Arial"/>
                <a:cs typeface="Arial"/>
              </a:rPr>
              <a:t>[20]</a:t>
            </a:r>
            <a:endParaRPr sz="1200">
              <a:latin typeface="Arial"/>
              <a:cs typeface="Arial"/>
            </a:endParaRPr>
          </a:p>
          <a:p>
            <a:pPr>
              <a:lnSpc>
                <a:spcPct val="100000"/>
              </a:lnSpc>
              <a:buFont typeface="Arial"/>
              <a:buAutoNum type="arabicPlain"/>
            </a:pPr>
            <a:endParaRPr sz="1200">
              <a:latin typeface="Arial"/>
              <a:cs typeface="Arial"/>
            </a:endParaRPr>
          </a:p>
          <a:p>
            <a:pPr marL="12700" marR="10160">
              <a:lnSpc>
                <a:spcPts val="1380"/>
              </a:lnSpc>
              <a:buFont typeface="Arial"/>
              <a:buAutoNum type="arabicPlain"/>
              <a:tabLst>
                <a:tab pos="187960" algn="l"/>
              </a:tabLst>
            </a:pPr>
            <a:r>
              <a:rPr dirty="0" sz="1200" spc="-5">
                <a:latin typeface="Arial"/>
                <a:cs typeface="Arial"/>
              </a:rPr>
              <a:t>Discuss </a:t>
            </a:r>
            <a:r>
              <a:rPr dirty="0" sz="1200">
                <a:latin typeface="Arial"/>
                <a:cs typeface="Arial"/>
              </a:rPr>
              <a:t>the steps taken </a:t>
            </a:r>
            <a:r>
              <a:rPr dirty="0" sz="1200" spc="-5">
                <a:latin typeface="Arial"/>
                <a:cs typeface="Arial"/>
              </a:rPr>
              <a:t>by </a:t>
            </a:r>
            <a:r>
              <a:rPr dirty="0" sz="1200">
                <a:latin typeface="Arial"/>
                <a:cs typeface="Arial"/>
              </a:rPr>
              <a:t>the </a:t>
            </a:r>
            <a:r>
              <a:rPr dirty="0" sz="1200" spc="-5">
                <a:latin typeface="Arial"/>
                <a:cs typeface="Arial"/>
              </a:rPr>
              <a:t>Umayyad caliphs </a:t>
            </a:r>
            <a:r>
              <a:rPr dirty="0" sz="1200">
                <a:latin typeface="Arial"/>
                <a:cs typeface="Arial"/>
              </a:rPr>
              <a:t>to </a:t>
            </a:r>
            <a:r>
              <a:rPr dirty="0" sz="1200" spc="-5">
                <a:latin typeface="Arial"/>
                <a:cs typeface="Arial"/>
              </a:rPr>
              <a:t>promote </a:t>
            </a:r>
            <a:r>
              <a:rPr dirty="0" sz="1200">
                <a:latin typeface="Arial"/>
                <a:cs typeface="Arial"/>
              </a:rPr>
              <a:t>the </a:t>
            </a:r>
            <a:r>
              <a:rPr dirty="0" sz="1200" spc="-5">
                <a:latin typeface="Arial"/>
                <a:cs typeface="Arial"/>
              </a:rPr>
              <a:t>Arab and Muslim  character of their administrations.</a:t>
            </a:r>
            <a:r>
              <a:rPr dirty="0" sz="1200">
                <a:latin typeface="Arial"/>
                <a:cs typeface="Arial"/>
              </a:rPr>
              <a:t> </a:t>
            </a:r>
            <a:r>
              <a:rPr dirty="0" sz="1200" spc="-5">
                <a:latin typeface="Arial"/>
                <a:cs typeface="Arial"/>
              </a:rPr>
              <a:t>[20]</a:t>
            </a:r>
            <a:endParaRPr sz="1200">
              <a:latin typeface="Arial"/>
              <a:cs typeface="Arial"/>
            </a:endParaRPr>
          </a:p>
          <a:p>
            <a:pPr>
              <a:lnSpc>
                <a:spcPct val="100000"/>
              </a:lnSpc>
              <a:buFont typeface="Arial"/>
              <a:buAutoNum type="arabicPlain"/>
            </a:pPr>
            <a:endParaRPr sz="1200">
              <a:latin typeface="Arial"/>
              <a:cs typeface="Arial"/>
            </a:endParaRPr>
          </a:p>
          <a:p>
            <a:pPr algn="just" marL="12700" marR="8890">
              <a:lnSpc>
                <a:spcPts val="1380"/>
              </a:lnSpc>
              <a:buFont typeface="Arial"/>
              <a:buAutoNum type="arabicPlain"/>
              <a:tabLst>
                <a:tab pos="148590" algn="l"/>
              </a:tabLst>
            </a:pPr>
            <a:r>
              <a:rPr dirty="0" sz="1200" spc="-5">
                <a:latin typeface="Arial"/>
                <a:cs typeface="Arial"/>
              </a:rPr>
              <a:t>Give an account of the caliphate of Harun </a:t>
            </a:r>
            <a:r>
              <a:rPr dirty="0" sz="1200">
                <a:latin typeface="Arial"/>
                <a:cs typeface="Arial"/>
              </a:rPr>
              <a:t>al-Rashid, </a:t>
            </a:r>
            <a:r>
              <a:rPr dirty="0" sz="1200" spc="-5">
                <a:latin typeface="Arial"/>
                <a:cs typeface="Arial"/>
              </a:rPr>
              <a:t>explaining why he is </a:t>
            </a:r>
            <a:r>
              <a:rPr dirty="0" sz="1200">
                <a:latin typeface="Arial"/>
                <a:cs typeface="Arial"/>
              </a:rPr>
              <a:t>often </a:t>
            </a:r>
            <a:r>
              <a:rPr dirty="0" sz="1200" spc="-5">
                <a:latin typeface="Arial"/>
                <a:cs typeface="Arial"/>
              </a:rPr>
              <a:t>seen </a:t>
            </a:r>
            <a:r>
              <a:rPr dirty="0" sz="1200" spc="-10">
                <a:latin typeface="Arial"/>
                <a:cs typeface="Arial"/>
              </a:rPr>
              <a:t>as </a:t>
            </a:r>
            <a:r>
              <a:rPr dirty="0" sz="1200" spc="-5">
                <a:latin typeface="Arial"/>
                <a:cs typeface="Arial"/>
              </a:rPr>
              <a:t>a  popular ruler. [20]</a:t>
            </a:r>
            <a:r>
              <a:rPr dirty="0" sz="1200" spc="15">
                <a:latin typeface="Arial"/>
                <a:cs typeface="Arial"/>
              </a:rPr>
              <a:t> </a:t>
            </a:r>
            <a:r>
              <a:rPr dirty="0" sz="1200" spc="-5" b="1">
                <a:latin typeface="Arial"/>
                <a:cs typeface="Arial"/>
              </a:rPr>
              <a:t>(2006)</a:t>
            </a:r>
            <a:endParaRPr sz="1200">
              <a:latin typeface="Arial"/>
              <a:cs typeface="Arial"/>
            </a:endParaRPr>
          </a:p>
          <a:p>
            <a:pPr>
              <a:lnSpc>
                <a:spcPct val="100000"/>
              </a:lnSpc>
              <a:spcBef>
                <a:spcPts val="45"/>
              </a:spcBef>
            </a:pPr>
            <a:endParaRPr sz="1150">
              <a:latin typeface="Arial"/>
              <a:cs typeface="Arial"/>
            </a:endParaRPr>
          </a:p>
          <a:p>
            <a:pPr algn="just" marL="12700" marR="8890">
              <a:lnSpc>
                <a:spcPts val="1380"/>
              </a:lnSpc>
              <a:buFont typeface="Arial"/>
              <a:buAutoNum type="arabicPlain"/>
              <a:tabLst>
                <a:tab pos="168275" algn="l"/>
              </a:tabLst>
            </a:pPr>
            <a:r>
              <a:rPr dirty="0" sz="1200">
                <a:latin typeface="Arial"/>
                <a:cs typeface="Arial"/>
              </a:rPr>
              <a:t>By </a:t>
            </a:r>
            <a:r>
              <a:rPr dirty="0" sz="1200" spc="-5">
                <a:latin typeface="Arial"/>
                <a:cs typeface="Arial"/>
              </a:rPr>
              <a:t>tracing the events of the caliphates </a:t>
            </a:r>
            <a:r>
              <a:rPr dirty="0" sz="1200" spc="5">
                <a:latin typeface="Arial"/>
                <a:cs typeface="Arial"/>
              </a:rPr>
              <a:t>of </a:t>
            </a:r>
            <a:r>
              <a:rPr dirty="0" sz="1200" spc="-105">
                <a:latin typeface="Arial"/>
                <a:cs typeface="Arial"/>
              </a:rPr>
              <a:t>‗Ali </a:t>
            </a:r>
            <a:r>
              <a:rPr dirty="0" sz="1200" spc="-5">
                <a:latin typeface="Arial"/>
                <a:cs typeface="Arial"/>
              </a:rPr>
              <a:t>and Mu‘awiyah, </a:t>
            </a:r>
            <a:r>
              <a:rPr dirty="0" sz="1200">
                <a:latin typeface="Arial"/>
                <a:cs typeface="Arial"/>
              </a:rPr>
              <a:t>show how the </a:t>
            </a:r>
            <a:r>
              <a:rPr dirty="0" sz="1200" spc="-5">
                <a:latin typeface="Arial"/>
                <a:cs typeface="Arial"/>
              </a:rPr>
              <a:t>Umayyad  dynasty </a:t>
            </a:r>
            <a:r>
              <a:rPr dirty="0" sz="1200">
                <a:latin typeface="Arial"/>
                <a:cs typeface="Arial"/>
              </a:rPr>
              <a:t>came </a:t>
            </a:r>
            <a:r>
              <a:rPr dirty="0" sz="1200" spc="-5">
                <a:latin typeface="Arial"/>
                <a:cs typeface="Arial"/>
              </a:rPr>
              <a:t>into power </a:t>
            </a:r>
            <a:r>
              <a:rPr dirty="0" sz="1200">
                <a:latin typeface="Arial"/>
                <a:cs typeface="Arial"/>
              </a:rPr>
              <a:t>and </a:t>
            </a:r>
            <a:r>
              <a:rPr dirty="0" sz="1200" spc="-5">
                <a:latin typeface="Arial"/>
                <a:cs typeface="Arial"/>
              </a:rPr>
              <a:t>suppressed resistance </a:t>
            </a:r>
            <a:r>
              <a:rPr dirty="0" sz="1200">
                <a:latin typeface="Arial"/>
                <a:cs typeface="Arial"/>
              </a:rPr>
              <a:t>to its </a:t>
            </a:r>
            <a:r>
              <a:rPr dirty="0" sz="1200" spc="-5">
                <a:latin typeface="Arial"/>
                <a:cs typeface="Arial"/>
              </a:rPr>
              <a:t>rule. [20]</a:t>
            </a:r>
            <a:endParaRPr sz="1200">
              <a:latin typeface="Arial"/>
              <a:cs typeface="Arial"/>
            </a:endParaRPr>
          </a:p>
          <a:p>
            <a:pPr>
              <a:lnSpc>
                <a:spcPct val="100000"/>
              </a:lnSpc>
              <a:spcBef>
                <a:spcPts val="20"/>
              </a:spcBef>
              <a:buFont typeface="Arial"/>
              <a:buAutoNum type="arabicPlain"/>
            </a:pPr>
            <a:endParaRPr sz="1100">
              <a:latin typeface="Arial"/>
              <a:cs typeface="Arial"/>
            </a:endParaRPr>
          </a:p>
          <a:p>
            <a:pPr algn="just" marL="139700" indent="-127635">
              <a:lnSpc>
                <a:spcPts val="1410"/>
              </a:lnSpc>
              <a:spcBef>
                <a:spcPts val="5"/>
              </a:spcBef>
              <a:buAutoNum type="arabicPlain"/>
              <a:tabLst>
                <a:tab pos="140335" algn="l"/>
              </a:tabLst>
            </a:pPr>
            <a:r>
              <a:rPr dirty="0" sz="1200" spc="-5" b="1">
                <a:latin typeface="Arial"/>
                <a:cs typeface="Arial"/>
              </a:rPr>
              <a:t>(a) </a:t>
            </a:r>
            <a:r>
              <a:rPr dirty="0" sz="1200" spc="-5">
                <a:latin typeface="Arial"/>
                <a:cs typeface="Arial"/>
              </a:rPr>
              <a:t>Trace the main stages </a:t>
            </a:r>
            <a:r>
              <a:rPr dirty="0" sz="1200">
                <a:latin typeface="Arial"/>
                <a:cs typeface="Arial"/>
              </a:rPr>
              <a:t>by </a:t>
            </a:r>
            <a:r>
              <a:rPr dirty="0" sz="1200" spc="-5">
                <a:latin typeface="Arial"/>
                <a:cs typeface="Arial"/>
              </a:rPr>
              <a:t>which </a:t>
            </a:r>
            <a:r>
              <a:rPr dirty="0" sz="1200">
                <a:latin typeface="Arial"/>
                <a:cs typeface="Arial"/>
              </a:rPr>
              <a:t>the </a:t>
            </a:r>
            <a:r>
              <a:rPr dirty="0" sz="1200" spc="-50">
                <a:latin typeface="Arial"/>
                <a:cs typeface="Arial"/>
              </a:rPr>
              <a:t>‗Abbasids </a:t>
            </a:r>
            <a:r>
              <a:rPr dirty="0" sz="1200" spc="-10">
                <a:latin typeface="Arial"/>
                <a:cs typeface="Arial"/>
              </a:rPr>
              <a:t>seized </a:t>
            </a:r>
            <a:r>
              <a:rPr dirty="0" sz="1200" spc="-5">
                <a:latin typeface="Arial"/>
                <a:cs typeface="Arial"/>
              </a:rPr>
              <a:t>power from </a:t>
            </a:r>
            <a:r>
              <a:rPr dirty="0" sz="1200">
                <a:latin typeface="Arial"/>
                <a:cs typeface="Arial"/>
              </a:rPr>
              <a:t>the </a:t>
            </a:r>
            <a:r>
              <a:rPr dirty="0" sz="1200" spc="-5">
                <a:latin typeface="Arial"/>
                <a:cs typeface="Arial"/>
              </a:rPr>
              <a:t>Umayyad.</a:t>
            </a:r>
            <a:r>
              <a:rPr dirty="0" sz="1200" spc="160">
                <a:latin typeface="Arial"/>
                <a:cs typeface="Arial"/>
              </a:rPr>
              <a:t> </a:t>
            </a:r>
            <a:r>
              <a:rPr dirty="0" sz="1200">
                <a:latin typeface="Arial"/>
                <a:cs typeface="Arial"/>
              </a:rPr>
              <a:t>[8]</a:t>
            </a:r>
            <a:endParaRPr sz="1200">
              <a:latin typeface="Arial"/>
              <a:cs typeface="Arial"/>
            </a:endParaRPr>
          </a:p>
          <a:p>
            <a:pPr marL="140335">
              <a:lnSpc>
                <a:spcPts val="1410"/>
              </a:lnSpc>
            </a:pPr>
            <a:r>
              <a:rPr dirty="0" sz="1200" spc="-5" b="1">
                <a:latin typeface="Arial"/>
                <a:cs typeface="Arial"/>
              </a:rPr>
              <a:t>(b) </a:t>
            </a:r>
            <a:r>
              <a:rPr dirty="0" sz="1200" spc="-5">
                <a:latin typeface="Arial"/>
                <a:cs typeface="Arial"/>
              </a:rPr>
              <a:t>Discuss </a:t>
            </a:r>
            <a:r>
              <a:rPr dirty="0" sz="1200" spc="-5" b="1">
                <a:latin typeface="Arial"/>
                <a:cs typeface="Arial"/>
              </a:rPr>
              <a:t>three </a:t>
            </a:r>
            <a:r>
              <a:rPr dirty="0" sz="1200" spc="-5">
                <a:latin typeface="Arial"/>
                <a:cs typeface="Arial"/>
              </a:rPr>
              <a:t>major reasons </a:t>
            </a:r>
            <a:r>
              <a:rPr dirty="0" sz="1200">
                <a:latin typeface="Arial"/>
                <a:cs typeface="Arial"/>
              </a:rPr>
              <a:t>for the </a:t>
            </a:r>
            <a:r>
              <a:rPr dirty="0" sz="1200" spc="-5">
                <a:latin typeface="Arial"/>
                <a:cs typeface="Arial"/>
              </a:rPr>
              <a:t>change of dynasty.</a:t>
            </a:r>
            <a:r>
              <a:rPr dirty="0" sz="1200" spc="10">
                <a:latin typeface="Arial"/>
                <a:cs typeface="Arial"/>
              </a:rPr>
              <a:t> </a:t>
            </a:r>
            <a:r>
              <a:rPr dirty="0" sz="1200" spc="-5">
                <a:latin typeface="Arial"/>
                <a:cs typeface="Arial"/>
              </a:rPr>
              <a:t>[12]</a:t>
            </a:r>
            <a:endParaRPr sz="1200">
              <a:latin typeface="Arial"/>
              <a:cs typeface="Arial"/>
            </a:endParaRPr>
          </a:p>
          <a:p>
            <a:pPr>
              <a:lnSpc>
                <a:spcPct val="100000"/>
              </a:lnSpc>
              <a:spcBef>
                <a:spcPts val="35"/>
              </a:spcBef>
            </a:pPr>
            <a:endParaRPr sz="1200">
              <a:latin typeface="Arial"/>
              <a:cs typeface="Arial"/>
            </a:endParaRPr>
          </a:p>
          <a:p>
            <a:pPr algn="just" marL="12700" marR="13335">
              <a:lnSpc>
                <a:spcPts val="1380"/>
              </a:lnSpc>
              <a:buFont typeface="Arial"/>
              <a:buAutoNum type="arabicPlain" startAt="3"/>
              <a:tabLst>
                <a:tab pos="151765" algn="l"/>
              </a:tabLst>
            </a:pPr>
            <a:r>
              <a:rPr dirty="0" sz="1200">
                <a:latin typeface="Arial"/>
                <a:cs typeface="Arial"/>
              </a:rPr>
              <a:t>It </a:t>
            </a:r>
            <a:r>
              <a:rPr dirty="0" sz="1200" spc="-5">
                <a:latin typeface="Arial"/>
                <a:cs typeface="Arial"/>
              </a:rPr>
              <a:t>is </a:t>
            </a:r>
            <a:r>
              <a:rPr dirty="0" sz="1200">
                <a:latin typeface="Arial"/>
                <a:cs typeface="Arial"/>
              </a:rPr>
              <a:t>often </a:t>
            </a:r>
            <a:r>
              <a:rPr dirty="0" sz="1200" spc="-5">
                <a:latin typeface="Arial"/>
                <a:cs typeface="Arial"/>
              </a:rPr>
              <a:t>asserted that the </a:t>
            </a:r>
            <a:r>
              <a:rPr dirty="0" sz="1200" spc="-55">
                <a:latin typeface="Arial"/>
                <a:cs typeface="Arial"/>
              </a:rPr>
              <a:t>‗Abbasid </a:t>
            </a:r>
            <a:r>
              <a:rPr dirty="0" sz="1200" spc="-5">
                <a:latin typeface="Arial"/>
                <a:cs typeface="Arial"/>
              </a:rPr>
              <a:t>dynasty </a:t>
            </a:r>
            <a:r>
              <a:rPr dirty="0" sz="1200">
                <a:latin typeface="Arial"/>
                <a:cs typeface="Arial"/>
              </a:rPr>
              <a:t>reached the </a:t>
            </a:r>
            <a:r>
              <a:rPr dirty="0" sz="1200" spc="-5">
                <a:latin typeface="Arial"/>
                <a:cs typeface="Arial"/>
              </a:rPr>
              <a:t>height </a:t>
            </a:r>
            <a:r>
              <a:rPr dirty="0" sz="1200">
                <a:latin typeface="Arial"/>
                <a:cs typeface="Arial"/>
              </a:rPr>
              <a:t>of </a:t>
            </a:r>
            <a:r>
              <a:rPr dirty="0" sz="1200" spc="-5">
                <a:latin typeface="Arial"/>
                <a:cs typeface="Arial"/>
              </a:rPr>
              <a:t>its </a:t>
            </a:r>
            <a:r>
              <a:rPr dirty="0" sz="1200">
                <a:latin typeface="Arial"/>
                <a:cs typeface="Arial"/>
              </a:rPr>
              <a:t>success </a:t>
            </a:r>
            <a:r>
              <a:rPr dirty="0" sz="1200" spc="-5">
                <a:latin typeface="Arial"/>
                <a:cs typeface="Arial"/>
              </a:rPr>
              <a:t>during the  </a:t>
            </a:r>
            <a:r>
              <a:rPr dirty="0" sz="1200">
                <a:latin typeface="Arial"/>
                <a:cs typeface="Arial"/>
              </a:rPr>
              <a:t>first </a:t>
            </a:r>
            <a:r>
              <a:rPr dirty="0" sz="1200" spc="-5">
                <a:latin typeface="Arial"/>
                <a:cs typeface="Arial"/>
              </a:rPr>
              <a:t>century of </a:t>
            </a:r>
            <a:r>
              <a:rPr dirty="0" sz="1200">
                <a:latin typeface="Arial"/>
                <a:cs typeface="Arial"/>
              </a:rPr>
              <a:t>its </a:t>
            </a:r>
            <a:r>
              <a:rPr dirty="0" sz="1200" spc="-5">
                <a:latin typeface="Arial"/>
                <a:cs typeface="Arial"/>
              </a:rPr>
              <a:t>rule. Discuss, saying </a:t>
            </a:r>
            <a:r>
              <a:rPr dirty="0" sz="1200" spc="-10">
                <a:latin typeface="Arial"/>
                <a:cs typeface="Arial"/>
              </a:rPr>
              <a:t>why </a:t>
            </a:r>
            <a:r>
              <a:rPr dirty="0" sz="1200" spc="-5">
                <a:latin typeface="Arial"/>
                <a:cs typeface="Arial"/>
              </a:rPr>
              <a:t>you agree or disagree. [20]</a:t>
            </a:r>
            <a:r>
              <a:rPr dirty="0" sz="1200" spc="95">
                <a:latin typeface="Arial"/>
                <a:cs typeface="Arial"/>
              </a:rPr>
              <a:t> </a:t>
            </a:r>
            <a:r>
              <a:rPr dirty="0" sz="1200" spc="-5" b="1">
                <a:latin typeface="Arial"/>
                <a:cs typeface="Arial"/>
              </a:rPr>
              <a:t>(2007)</a:t>
            </a:r>
            <a:endParaRPr sz="1200">
              <a:latin typeface="Arial"/>
              <a:cs typeface="Arial"/>
            </a:endParaRPr>
          </a:p>
          <a:p>
            <a:pPr>
              <a:lnSpc>
                <a:spcPct val="100000"/>
              </a:lnSpc>
              <a:spcBef>
                <a:spcPts val="20"/>
              </a:spcBef>
            </a:pPr>
            <a:endParaRPr sz="1100">
              <a:latin typeface="Arial"/>
              <a:cs typeface="Arial"/>
            </a:endParaRPr>
          </a:p>
          <a:p>
            <a:pPr algn="just" marL="137160" indent="-125095">
              <a:lnSpc>
                <a:spcPct val="100000"/>
              </a:lnSpc>
              <a:buFont typeface="Arial"/>
              <a:buAutoNum type="arabicPlain"/>
              <a:tabLst>
                <a:tab pos="137795" algn="l"/>
              </a:tabLst>
            </a:pPr>
            <a:r>
              <a:rPr dirty="0" sz="1200" spc="10">
                <a:latin typeface="Arial"/>
                <a:cs typeface="Arial"/>
              </a:rPr>
              <a:t>Why </a:t>
            </a:r>
            <a:r>
              <a:rPr dirty="0" sz="1200" spc="-5">
                <a:latin typeface="Arial"/>
                <a:cs typeface="Arial"/>
              </a:rPr>
              <a:t>is </a:t>
            </a:r>
            <a:r>
              <a:rPr dirty="0" sz="1200" spc="-85">
                <a:latin typeface="Arial"/>
                <a:cs typeface="Arial"/>
              </a:rPr>
              <a:t>‗Umar </a:t>
            </a:r>
            <a:r>
              <a:rPr dirty="0" sz="1200">
                <a:latin typeface="Arial"/>
                <a:cs typeface="Arial"/>
              </a:rPr>
              <a:t>II </a:t>
            </a:r>
            <a:r>
              <a:rPr dirty="0" sz="1200" spc="-5">
                <a:latin typeface="Arial"/>
                <a:cs typeface="Arial"/>
              </a:rPr>
              <a:t>remembered </a:t>
            </a:r>
            <a:r>
              <a:rPr dirty="0" sz="1200">
                <a:latin typeface="Arial"/>
                <a:cs typeface="Arial"/>
              </a:rPr>
              <a:t>as </a:t>
            </a:r>
            <a:r>
              <a:rPr dirty="0" sz="1200" spc="-5">
                <a:latin typeface="Arial"/>
                <a:cs typeface="Arial"/>
              </a:rPr>
              <a:t>the only </a:t>
            </a:r>
            <a:r>
              <a:rPr dirty="0" sz="1200">
                <a:latin typeface="Arial"/>
                <a:cs typeface="Arial"/>
              </a:rPr>
              <a:t>pious </a:t>
            </a:r>
            <a:r>
              <a:rPr dirty="0" sz="1200" spc="-5">
                <a:latin typeface="Arial"/>
                <a:cs typeface="Arial"/>
              </a:rPr>
              <a:t>Caliph amongst the </a:t>
            </a:r>
            <a:r>
              <a:rPr dirty="0" sz="1200">
                <a:latin typeface="Arial"/>
                <a:cs typeface="Arial"/>
              </a:rPr>
              <a:t>Umayyad </a:t>
            </a:r>
            <a:r>
              <a:rPr dirty="0" sz="1200" spc="-5">
                <a:latin typeface="Arial"/>
                <a:cs typeface="Arial"/>
              </a:rPr>
              <a:t>Rulers?</a:t>
            </a:r>
            <a:r>
              <a:rPr dirty="0" sz="1200" spc="70">
                <a:latin typeface="Arial"/>
                <a:cs typeface="Arial"/>
              </a:rPr>
              <a:t> </a:t>
            </a:r>
            <a:r>
              <a:rPr dirty="0" sz="1200" spc="-5">
                <a:latin typeface="Arial"/>
                <a:cs typeface="Arial"/>
              </a:rPr>
              <a:t>[20]</a:t>
            </a:r>
            <a:endParaRPr sz="1200">
              <a:latin typeface="Arial"/>
              <a:cs typeface="Arial"/>
            </a:endParaRPr>
          </a:p>
          <a:p>
            <a:pPr>
              <a:lnSpc>
                <a:spcPct val="100000"/>
              </a:lnSpc>
              <a:spcBef>
                <a:spcPts val="35"/>
              </a:spcBef>
              <a:buFont typeface="Arial"/>
              <a:buAutoNum type="arabicPlain"/>
            </a:pPr>
            <a:endParaRPr sz="1200">
              <a:latin typeface="Arial"/>
              <a:cs typeface="Arial"/>
            </a:endParaRPr>
          </a:p>
          <a:p>
            <a:pPr algn="just" marL="12700" marR="5080">
              <a:lnSpc>
                <a:spcPts val="1380"/>
              </a:lnSpc>
              <a:buFont typeface="Arial"/>
              <a:buAutoNum type="arabicPlain"/>
              <a:tabLst>
                <a:tab pos="159385" algn="l"/>
              </a:tabLst>
            </a:pPr>
            <a:r>
              <a:rPr dirty="0" sz="1200" spc="-5">
                <a:latin typeface="Arial"/>
                <a:cs typeface="Arial"/>
              </a:rPr>
              <a:t>Identify and explain </a:t>
            </a:r>
            <a:r>
              <a:rPr dirty="0" sz="1200">
                <a:latin typeface="Arial"/>
                <a:cs typeface="Arial"/>
              </a:rPr>
              <a:t>the factors that </a:t>
            </a:r>
            <a:r>
              <a:rPr dirty="0" sz="1200" spc="-5">
                <a:latin typeface="Arial"/>
                <a:cs typeface="Arial"/>
              </a:rPr>
              <a:t>contributed </a:t>
            </a:r>
            <a:r>
              <a:rPr dirty="0" sz="1200">
                <a:latin typeface="Arial"/>
                <a:cs typeface="Arial"/>
              </a:rPr>
              <a:t>to </a:t>
            </a:r>
            <a:r>
              <a:rPr dirty="0" sz="1200" spc="-5">
                <a:latin typeface="Arial"/>
                <a:cs typeface="Arial"/>
              </a:rPr>
              <a:t>making </a:t>
            </a:r>
            <a:r>
              <a:rPr dirty="0" sz="1200">
                <a:latin typeface="Arial"/>
                <a:cs typeface="Arial"/>
              </a:rPr>
              <a:t>the </a:t>
            </a:r>
            <a:r>
              <a:rPr dirty="0" sz="1200" spc="-5">
                <a:latin typeface="Arial"/>
                <a:cs typeface="Arial"/>
              </a:rPr>
              <a:t>reigns </a:t>
            </a:r>
            <a:r>
              <a:rPr dirty="0" sz="1200">
                <a:latin typeface="Arial"/>
                <a:cs typeface="Arial"/>
              </a:rPr>
              <a:t>of </a:t>
            </a:r>
            <a:r>
              <a:rPr dirty="0" sz="1200" spc="-5">
                <a:latin typeface="Arial"/>
                <a:cs typeface="Arial"/>
              </a:rPr>
              <a:t>Harun </a:t>
            </a:r>
            <a:r>
              <a:rPr dirty="0" sz="1200">
                <a:latin typeface="Arial"/>
                <a:cs typeface="Arial"/>
              </a:rPr>
              <a:t>al-Rashid  </a:t>
            </a:r>
            <a:r>
              <a:rPr dirty="0" sz="1200" spc="-5">
                <a:latin typeface="Arial"/>
                <a:cs typeface="Arial"/>
              </a:rPr>
              <a:t>and his immediate successors the </a:t>
            </a:r>
            <a:r>
              <a:rPr dirty="0" sz="1200">
                <a:latin typeface="Arial"/>
                <a:cs typeface="Arial"/>
              </a:rPr>
              <a:t>most </a:t>
            </a:r>
            <a:r>
              <a:rPr dirty="0" sz="1200" spc="-5">
                <a:latin typeface="Arial"/>
                <a:cs typeface="Arial"/>
              </a:rPr>
              <a:t>successful among </a:t>
            </a:r>
            <a:r>
              <a:rPr dirty="0" sz="1200">
                <a:latin typeface="Arial"/>
                <a:cs typeface="Arial"/>
              </a:rPr>
              <a:t>the </a:t>
            </a:r>
            <a:r>
              <a:rPr dirty="0" sz="1200" spc="-55">
                <a:latin typeface="Arial"/>
                <a:cs typeface="Arial"/>
              </a:rPr>
              <a:t>‗Abbasid </a:t>
            </a:r>
            <a:r>
              <a:rPr dirty="0" sz="1200" spc="-5">
                <a:latin typeface="Arial"/>
                <a:cs typeface="Arial"/>
              </a:rPr>
              <a:t>Caliphs.</a:t>
            </a:r>
            <a:r>
              <a:rPr dirty="0" sz="1200" spc="60">
                <a:latin typeface="Arial"/>
                <a:cs typeface="Arial"/>
              </a:rPr>
              <a:t> </a:t>
            </a:r>
            <a:r>
              <a:rPr dirty="0" sz="1200" spc="-5">
                <a:latin typeface="Arial"/>
                <a:cs typeface="Arial"/>
              </a:rPr>
              <a:t>[20]</a:t>
            </a:r>
            <a:endParaRPr sz="1200">
              <a:latin typeface="Arial"/>
              <a:cs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08725" cy="4607560"/>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marL="12700" marR="5080">
              <a:lnSpc>
                <a:spcPts val="1380"/>
              </a:lnSpc>
            </a:pPr>
            <a:r>
              <a:rPr dirty="0" sz="1200" spc="-5" b="1">
                <a:latin typeface="Arial"/>
                <a:cs typeface="Arial"/>
              </a:rPr>
              <a:t>3 </a:t>
            </a:r>
            <a:r>
              <a:rPr dirty="0" sz="1200">
                <a:latin typeface="Arial"/>
                <a:cs typeface="Arial"/>
              </a:rPr>
              <a:t>It </a:t>
            </a:r>
            <a:r>
              <a:rPr dirty="0" sz="1200" spc="-5">
                <a:latin typeface="Arial"/>
                <a:cs typeface="Arial"/>
              </a:rPr>
              <a:t>is </a:t>
            </a:r>
            <a:r>
              <a:rPr dirty="0" sz="1200">
                <a:latin typeface="Arial"/>
                <a:cs typeface="Arial"/>
              </a:rPr>
              <a:t>often </a:t>
            </a:r>
            <a:r>
              <a:rPr dirty="0" sz="1200" spc="-5">
                <a:latin typeface="Arial"/>
                <a:cs typeface="Arial"/>
              </a:rPr>
              <a:t>asserted </a:t>
            </a:r>
            <a:r>
              <a:rPr dirty="0" sz="1200">
                <a:latin typeface="Arial"/>
                <a:cs typeface="Arial"/>
              </a:rPr>
              <a:t>that </a:t>
            </a:r>
            <a:r>
              <a:rPr dirty="0" sz="1200" spc="-5">
                <a:latin typeface="Arial"/>
                <a:cs typeface="Arial"/>
              </a:rPr>
              <a:t>al-Ma‘mun and al-Mutawakkil had </a:t>
            </a:r>
            <a:r>
              <a:rPr dirty="0" sz="1200">
                <a:latin typeface="Arial"/>
                <a:cs typeface="Arial"/>
              </a:rPr>
              <a:t>completely </a:t>
            </a:r>
            <a:r>
              <a:rPr dirty="0" sz="1200" spc="-5">
                <a:latin typeface="Arial"/>
                <a:cs typeface="Arial"/>
              </a:rPr>
              <a:t>opposite policies.  How </a:t>
            </a:r>
            <a:r>
              <a:rPr dirty="0" sz="1200" spc="5">
                <a:latin typeface="Arial"/>
                <a:cs typeface="Arial"/>
              </a:rPr>
              <a:t>far </a:t>
            </a:r>
            <a:r>
              <a:rPr dirty="0" sz="1200" spc="-5">
                <a:latin typeface="Arial"/>
                <a:cs typeface="Arial"/>
              </a:rPr>
              <a:t>do </a:t>
            </a:r>
            <a:r>
              <a:rPr dirty="0" sz="1200" spc="-10">
                <a:latin typeface="Arial"/>
                <a:cs typeface="Arial"/>
              </a:rPr>
              <a:t>you </a:t>
            </a:r>
            <a:r>
              <a:rPr dirty="0" sz="1200" spc="-5">
                <a:latin typeface="Arial"/>
                <a:cs typeface="Arial"/>
              </a:rPr>
              <a:t>consider this assertion </a:t>
            </a:r>
            <a:r>
              <a:rPr dirty="0" sz="1200">
                <a:latin typeface="Arial"/>
                <a:cs typeface="Arial"/>
              </a:rPr>
              <a:t>to </a:t>
            </a:r>
            <a:r>
              <a:rPr dirty="0" sz="1200" spc="-5">
                <a:latin typeface="Arial"/>
                <a:cs typeface="Arial"/>
              </a:rPr>
              <a:t>be valid? </a:t>
            </a:r>
            <a:r>
              <a:rPr dirty="0" sz="1200">
                <a:latin typeface="Arial"/>
                <a:cs typeface="Arial"/>
              </a:rPr>
              <a:t>[20]</a:t>
            </a:r>
            <a:r>
              <a:rPr dirty="0" sz="1200" spc="20">
                <a:latin typeface="Arial"/>
                <a:cs typeface="Arial"/>
              </a:rPr>
              <a:t> </a:t>
            </a:r>
            <a:r>
              <a:rPr dirty="0" sz="1200" spc="-5">
                <a:latin typeface="Arial"/>
                <a:cs typeface="Arial"/>
              </a:rPr>
              <a:t>(</a:t>
            </a:r>
            <a:r>
              <a:rPr dirty="0" sz="1200" spc="-5" b="1">
                <a:latin typeface="Arial"/>
                <a:cs typeface="Arial"/>
              </a:rPr>
              <a:t>2008)</a:t>
            </a:r>
            <a:endParaRPr sz="1200">
              <a:latin typeface="Arial"/>
              <a:cs typeface="Arial"/>
            </a:endParaRPr>
          </a:p>
          <a:p>
            <a:pPr>
              <a:lnSpc>
                <a:spcPct val="100000"/>
              </a:lnSpc>
              <a:spcBef>
                <a:spcPts val="20"/>
              </a:spcBef>
            </a:pPr>
            <a:endParaRPr sz="1100">
              <a:latin typeface="Arial"/>
              <a:cs typeface="Arial"/>
            </a:endParaRPr>
          </a:p>
          <a:p>
            <a:pPr marL="137795" indent="-125730">
              <a:lnSpc>
                <a:spcPct val="100000"/>
              </a:lnSpc>
              <a:spcBef>
                <a:spcPts val="5"/>
              </a:spcBef>
              <a:buFont typeface="Arial"/>
              <a:buAutoNum type="arabicPlain"/>
              <a:tabLst>
                <a:tab pos="138430" algn="l"/>
              </a:tabLst>
            </a:pPr>
            <a:r>
              <a:rPr dirty="0" sz="1200" spc="10">
                <a:latin typeface="Arial"/>
                <a:cs typeface="Arial"/>
              </a:rPr>
              <a:t>Why </a:t>
            </a:r>
            <a:r>
              <a:rPr dirty="0" sz="1200" spc="-5">
                <a:latin typeface="Arial"/>
                <a:cs typeface="Arial"/>
              </a:rPr>
              <a:t>were </a:t>
            </a:r>
            <a:r>
              <a:rPr dirty="0" sz="1200">
                <a:latin typeface="Arial"/>
                <a:cs typeface="Arial"/>
              </a:rPr>
              <a:t>the </a:t>
            </a:r>
            <a:r>
              <a:rPr dirty="0" sz="1200" spc="-5">
                <a:latin typeface="Arial"/>
                <a:cs typeface="Arial"/>
              </a:rPr>
              <a:t>reigns of Mu‘awiyah </a:t>
            </a:r>
            <a:r>
              <a:rPr dirty="0" sz="1200">
                <a:latin typeface="Arial"/>
                <a:cs typeface="Arial"/>
              </a:rPr>
              <a:t>and his </a:t>
            </a:r>
            <a:r>
              <a:rPr dirty="0" sz="1200" spc="-5">
                <a:latin typeface="Arial"/>
                <a:cs typeface="Arial"/>
              </a:rPr>
              <a:t>son </a:t>
            </a:r>
            <a:r>
              <a:rPr dirty="0" sz="1200" spc="-10">
                <a:latin typeface="Arial"/>
                <a:cs typeface="Arial"/>
              </a:rPr>
              <a:t>Yazid </a:t>
            </a:r>
            <a:r>
              <a:rPr dirty="0" sz="1200">
                <a:latin typeface="Arial"/>
                <a:cs typeface="Arial"/>
              </a:rPr>
              <a:t>full </a:t>
            </a:r>
            <a:r>
              <a:rPr dirty="0" sz="1200" spc="-5">
                <a:latin typeface="Arial"/>
                <a:cs typeface="Arial"/>
              </a:rPr>
              <a:t>of violent events?</a:t>
            </a:r>
            <a:r>
              <a:rPr dirty="0" sz="1200" spc="20">
                <a:latin typeface="Arial"/>
                <a:cs typeface="Arial"/>
              </a:rPr>
              <a:t> </a:t>
            </a:r>
            <a:r>
              <a:rPr dirty="0" sz="1200" spc="-5">
                <a:latin typeface="Arial"/>
                <a:cs typeface="Arial"/>
              </a:rPr>
              <a:t>[20]</a:t>
            </a:r>
            <a:endParaRPr sz="1200">
              <a:latin typeface="Arial"/>
              <a:cs typeface="Arial"/>
            </a:endParaRPr>
          </a:p>
          <a:p>
            <a:pPr>
              <a:lnSpc>
                <a:spcPct val="100000"/>
              </a:lnSpc>
              <a:spcBef>
                <a:spcPts val="50"/>
              </a:spcBef>
              <a:buFont typeface="Arial"/>
              <a:buAutoNum type="arabicPlain"/>
            </a:pPr>
            <a:endParaRPr sz="1100">
              <a:latin typeface="Arial"/>
              <a:cs typeface="Arial"/>
            </a:endParaRPr>
          </a:p>
          <a:p>
            <a:pPr marL="140970" indent="-128905">
              <a:lnSpc>
                <a:spcPts val="1410"/>
              </a:lnSpc>
              <a:spcBef>
                <a:spcPts val="5"/>
              </a:spcBef>
              <a:buFont typeface="Arial"/>
              <a:buAutoNum type="arabicPlain"/>
              <a:tabLst>
                <a:tab pos="141605" algn="l"/>
              </a:tabLst>
            </a:pPr>
            <a:r>
              <a:rPr dirty="0" sz="1200" spc="-5">
                <a:latin typeface="Arial"/>
                <a:cs typeface="Arial"/>
              </a:rPr>
              <a:t>Present a critical assessment of the Caliphates</a:t>
            </a:r>
            <a:r>
              <a:rPr dirty="0" sz="1200" spc="20">
                <a:latin typeface="Arial"/>
                <a:cs typeface="Arial"/>
              </a:rPr>
              <a:t> </a:t>
            </a:r>
            <a:r>
              <a:rPr dirty="0" sz="1200" spc="-5">
                <a:latin typeface="Arial"/>
                <a:cs typeface="Arial"/>
              </a:rPr>
              <a:t>of:</a:t>
            </a:r>
            <a:endParaRPr sz="1200">
              <a:latin typeface="Arial"/>
              <a:cs typeface="Arial"/>
            </a:endParaRPr>
          </a:p>
          <a:p>
            <a:pPr marL="12700">
              <a:lnSpc>
                <a:spcPts val="1380"/>
              </a:lnSpc>
            </a:pPr>
            <a:r>
              <a:rPr dirty="0" sz="1200" spc="-5" b="1">
                <a:latin typeface="Arial"/>
                <a:cs typeface="Arial"/>
              </a:rPr>
              <a:t>(a) </a:t>
            </a:r>
            <a:r>
              <a:rPr dirty="0" sz="1200" spc="-105">
                <a:latin typeface="Arial"/>
                <a:cs typeface="Arial"/>
              </a:rPr>
              <a:t>‗Abd </a:t>
            </a:r>
            <a:r>
              <a:rPr dirty="0" sz="1200" spc="-5">
                <a:latin typeface="Arial"/>
                <a:cs typeface="Arial"/>
              </a:rPr>
              <a:t>al-Malik [685–705]</a:t>
            </a:r>
            <a:r>
              <a:rPr dirty="0" sz="1200" spc="-125">
                <a:latin typeface="Arial"/>
                <a:cs typeface="Arial"/>
              </a:rPr>
              <a:t> </a:t>
            </a:r>
            <a:r>
              <a:rPr dirty="0" sz="1200" spc="-5">
                <a:latin typeface="Arial"/>
                <a:cs typeface="Arial"/>
              </a:rPr>
              <a:t>[12]</a:t>
            </a:r>
            <a:endParaRPr sz="1200">
              <a:latin typeface="Arial"/>
              <a:cs typeface="Arial"/>
            </a:endParaRPr>
          </a:p>
          <a:p>
            <a:pPr marL="12700">
              <a:lnSpc>
                <a:spcPts val="1380"/>
              </a:lnSpc>
            </a:pPr>
            <a:r>
              <a:rPr dirty="0" sz="1200" spc="-5" b="1">
                <a:latin typeface="Arial"/>
                <a:cs typeface="Arial"/>
              </a:rPr>
              <a:t>and either</a:t>
            </a:r>
            <a:endParaRPr sz="1200">
              <a:latin typeface="Arial"/>
              <a:cs typeface="Arial"/>
            </a:endParaRPr>
          </a:p>
          <a:p>
            <a:pPr marL="12700">
              <a:lnSpc>
                <a:spcPts val="1380"/>
              </a:lnSpc>
            </a:pPr>
            <a:r>
              <a:rPr dirty="0" sz="1200" spc="-5" b="1">
                <a:latin typeface="Arial"/>
                <a:cs typeface="Arial"/>
              </a:rPr>
              <a:t>(b) </a:t>
            </a:r>
            <a:r>
              <a:rPr dirty="0" sz="1200" spc="-85">
                <a:latin typeface="Arial"/>
                <a:cs typeface="Arial"/>
              </a:rPr>
              <a:t>‗Umar </a:t>
            </a:r>
            <a:r>
              <a:rPr dirty="0" sz="1200">
                <a:latin typeface="Arial"/>
                <a:cs typeface="Arial"/>
              </a:rPr>
              <a:t>II </a:t>
            </a:r>
            <a:r>
              <a:rPr dirty="0" sz="1200" spc="-5">
                <a:latin typeface="Arial"/>
                <a:cs typeface="Arial"/>
              </a:rPr>
              <a:t>[717–720]</a:t>
            </a:r>
            <a:r>
              <a:rPr dirty="0" sz="1200" spc="80">
                <a:latin typeface="Arial"/>
                <a:cs typeface="Arial"/>
              </a:rPr>
              <a:t> </a:t>
            </a:r>
            <a:r>
              <a:rPr dirty="0" sz="1200">
                <a:latin typeface="Arial"/>
                <a:cs typeface="Arial"/>
              </a:rPr>
              <a:t>[8]</a:t>
            </a:r>
            <a:endParaRPr sz="1200">
              <a:latin typeface="Arial"/>
              <a:cs typeface="Arial"/>
            </a:endParaRPr>
          </a:p>
          <a:p>
            <a:pPr marL="12700">
              <a:lnSpc>
                <a:spcPts val="1380"/>
              </a:lnSpc>
            </a:pPr>
            <a:r>
              <a:rPr dirty="0" sz="1200" spc="-10" b="1">
                <a:latin typeface="Arial"/>
                <a:cs typeface="Arial"/>
              </a:rPr>
              <a:t>or</a:t>
            </a:r>
            <a:endParaRPr sz="1200">
              <a:latin typeface="Arial"/>
              <a:cs typeface="Arial"/>
            </a:endParaRPr>
          </a:p>
          <a:p>
            <a:pPr marL="12700">
              <a:lnSpc>
                <a:spcPts val="1410"/>
              </a:lnSpc>
            </a:pPr>
            <a:r>
              <a:rPr dirty="0" sz="1200" spc="-5" b="1">
                <a:latin typeface="Arial"/>
                <a:cs typeface="Arial"/>
              </a:rPr>
              <a:t>(c) </a:t>
            </a:r>
            <a:r>
              <a:rPr dirty="0" sz="1200" spc="-5">
                <a:latin typeface="Arial"/>
                <a:cs typeface="Arial"/>
              </a:rPr>
              <a:t>Marwan </a:t>
            </a:r>
            <a:r>
              <a:rPr dirty="0" sz="1200">
                <a:latin typeface="Arial"/>
                <a:cs typeface="Arial"/>
              </a:rPr>
              <a:t>II </a:t>
            </a:r>
            <a:r>
              <a:rPr dirty="0" sz="1200" spc="-5">
                <a:latin typeface="Arial"/>
                <a:cs typeface="Arial"/>
              </a:rPr>
              <a:t>[744–750].</a:t>
            </a:r>
            <a:r>
              <a:rPr dirty="0" sz="1200" spc="5">
                <a:latin typeface="Arial"/>
                <a:cs typeface="Arial"/>
              </a:rPr>
              <a:t> </a:t>
            </a:r>
            <a:r>
              <a:rPr dirty="0" sz="1200" spc="-5">
                <a:latin typeface="Arial"/>
                <a:cs typeface="Arial"/>
              </a:rPr>
              <a:t>[8]</a:t>
            </a:r>
            <a:endParaRPr sz="1200">
              <a:latin typeface="Arial"/>
              <a:cs typeface="Arial"/>
            </a:endParaRPr>
          </a:p>
          <a:p>
            <a:pPr>
              <a:lnSpc>
                <a:spcPct val="100000"/>
              </a:lnSpc>
              <a:spcBef>
                <a:spcPts val="35"/>
              </a:spcBef>
            </a:pPr>
            <a:endParaRPr sz="1200">
              <a:latin typeface="Arial"/>
              <a:cs typeface="Arial"/>
            </a:endParaRPr>
          </a:p>
          <a:p>
            <a:pPr marL="12700" marR="9525">
              <a:lnSpc>
                <a:spcPts val="1380"/>
              </a:lnSpc>
              <a:buFont typeface="Arial"/>
              <a:buAutoNum type="arabicPlain" startAt="3"/>
              <a:tabLst>
                <a:tab pos="142875" algn="l"/>
              </a:tabLst>
            </a:pPr>
            <a:r>
              <a:rPr dirty="0" sz="1200" spc="10">
                <a:latin typeface="Arial"/>
                <a:cs typeface="Arial"/>
              </a:rPr>
              <a:t>Why </a:t>
            </a:r>
            <a:r>
              <a:rPr dirty="0" sz="1200" spc="-5">
                <a:latin typeface="Arial"/>
                <a:cs typeface="Arial"/>
              </a:rPr>
              <a:t>did </a:t>
            </a:r>
            <a:r>
              <a:rPr dirty="0" sz="1200">
                <a:latin typeface="Arial"/>
                <a:cs typeface="Arial"/>
              </a:rPr>
              <a:t>the </a:t>
            </a:r>
            <a:r>
              <a:rPr dirty="0" sz="1200" spc="-5">
                <a:latin typeface="Arial"/>
                <a:cs typeface="Arial"/>
              </a:rPr>
              <a:t>personal authority </a:t>
            </a:r>
            <a:r>
              <a:rPr dirty="0" sz="1200">
                <a:latin typeface="Arial"/>
                <a:cs typeface="Arial"/>
              </a:rPr>
              <a:t>of </a:t>
            </a:r>
            <a:r>
              <a:rPr dirty="0" sz="1200" spc="-5">
                <a:latin typeface="Arial"/>
                <a:cs typeface="Arial"/>
              </a:rPr>
              <a:t>the </a:t>
            </a:r>
            <a:r>
              <a:rPr dirty="0" sz="1200" spc="-55">
                <a:latin typeface="Arial"/>
                <a:cs typeface="Arial"/>
              </a:rPr>
              <a:t>‗Abbasid </a:t>
            </a:r>
            <a:r>
              <a:rPr dirty="0" sz="1200" spc="-5">
                <a:latin typeface="Arial"/>
                <a:cs typeface="Arial"/>
              </a:rPr>
              <a:t>caliphs begin </a:t>
            </a:r>
            <a:r>
              <a:rPr dirty="0" sz="1200">
                <a:latin typeface="Arial"/>
                <a:cs typeface="Arial"/>
              </a:rPr>
              <a:t>to </a:t>
            </a:r>
            <a:r>
              <a:rPr dirty="0" sz="1200" spc="-5">
                <a:latin typeface="Arial"/>
                <a:cs typeface="Arial"/>
              </a:rPr>
              <a:t>decline only </a:t>
            </a:r>
            <a:r>
              <a:rPr dirty="0" sz="1200">
                <a:latin typeface="Arial"/>
                <a:cs typeface="Arial"/>
              </a:rPr>
              <a:t>a century after  their </a:t>
            </a:r>
            <a:r>
              <a:rPr dirty="0" sz="1200" spc="-5">
                <a:latin typeface="Arial"/>
                <a:cs typeface="Arial"/>
              </a:rPr>
              <a:t>dynasty came </a:t>
            </a:r>
            <a:r>
              <a:rPr dirty="0" sz="1200">
                <a:latin typeface="Arial"/>
                <a:cs typeface="Arial"/>
              </a:rPr>
              <a:t>to </a:t>
            </a:r>
            <a:r>
              <a:rPr dirty="0" sz="1200" spc="-5">
                <a:latin typeface="Arial"/>
                <a:cs typeface="Arial"/>
              </a:rPr>
              <a:t>power? </a:t>
            </a:r>
            <a:r>
              <a:rPr dirty="0" sz="1200">
                <a:latin typeface="Arial"/>
                <a:cs typeface="Arial"/>
              </a:rPr>
              <a:t>[20]</a:t>
            </a:r>
            <a:r>
              <a:rPr dirty="0" sz="1200" spc="-10">
                <a:latin typeface="Arial"/>
                <a:cs typeface="Arial"/>
              </a:rPr>
              <a:t> </a:t>
            </a:r>
            <a:r>
              <a:rPr dirty="0" sz="1200" spc="-5" b="1">
                <a:latin typeface="Arial"/>
                <a:cs typeface="Arial"/>
              </a:rPr>
              <a:t>(2009)</a:t>
            </a:r>
            <a:endParaRPr sz="1200">
              <a:latin typeface="Arial"/>
              <a:cs typeface="Arial"/>
            </a:endParaRPr>
          </a:p>
          <a:p>
            <a:pPr>
              <a:lnSpc>
                <a:spcPct val="100000"/>
              </a:lnSpc>
            </a:pPr>
            <a:endParaRPr sz="1200">
              <a:latin typeface="Arial"/>
              <a:cs typeface="Arial"/>
            </a:endParaRPr>
          </a:p>
          <a:p>
            <a:pPr marL="12700" marR="7620">
              <a:lnSpc>
                <a:spcPts val="1380"/>
              </a:lnSpc>
              <a:buFont typeface="Arial"/>
              <a:buAutoNum type="arabicPlain"/>
              <a:tabLst>
                <a:tab pos="158115" algn="l"/>
              </a:tabLst>
            </a:pPr>
            <a:r>
              <a:rPr dirty="0" sz="1200" spc="-5">
                <a:latin typeface="Arial"/>
                <a:cs typeface="Arial"/>
              </a:rPr>
              <a:t>(a) Trace the </a:t>
            </a:r>
            <a:r>
              <a:rPr dirty="0" sz="1200">
                <a:latin typeface="Arial"/>
                <a:cs typeface="Arial"/>
              </a:rPr>
              <a:t>main </a:t>
            </a:r>
            <a:r>
              <a:rPr dirty="0" sz="1200" spc="-5">
                <a:latin typeface="Arial"/>
                <a:cs typeface="Arial"/>
              </a:rPr>
              <a:t>events through </a:t>
            </a:r>
            <a:r>
              <a:rPr dirty="0" sz="1200">
                <a:latin typeface="Arial"/>
                <a:cs typeface="Arial"/>
              </a:rPr>
              <a:t>which </a:t>
            </a:r>
            <a:r>
              <a:rPr dirty="0" sz="1200" spc="-5">
                <a:latin typeface="Arial"/>
                <a:cs typeface="Arial"/>
              </a:rPr>
              <a:t>Mu‘awiya obtained </a:t>
            </a:r>
            <a:r>
              <a:rPr dirty="0" sz="1200" spc="-10">
                <a:latin typeface="Arial"/>
                <a:cs typeface="Arial"/>
              </a:rPr>
              <a:t>and </a:t>
            </a:r>
            <a:r>
              <a:rPr dirty="0" sz="1200" spc="-5">
                <a:latin typeface="Arial"/>
                <a:cs typeface="Arial"/>
              </a:rPr>
              <a:t>secured his position </a:t>
            </a:r>
            <a:r>
              <a:rPr dirty="0" sz="1200">
                <a:latin typeface="Arial"/>
                <a:cs typeface="Arial"/>
              </a:rPr>
              <a:t>as  </a:t>
            </a:r>
            <a:r>
              <a:rPr dirty="0" sz="1200" spc="-5">
                <a:latin typeface="Arial"/>
                <a:cs typeface="Arial"/>
              </a:rPr>
              <a:t>caliph of the Islamic state.</a:t>
            </a:r>
            <a:r>
              <a:rPr dirty="0" sz="1200" spc="20">
                <a:latin typeface="Arial"/>
                <a:cs typeface="Arial"/>
              </a:rPr>
              <a:t> </a:t>
            </a:r>
            <a:r>
              <a:rPr dirty="0" sz="1200" spc="-5">
                <a:latin typeface="Arial"/>
                <a:cs typeface="Arial"/>
              </a:rPr>
              <a:t>[12]</a:t>
            </a:r>
            <a:endParaRPr sz="1200">
              <a:latin typeface="Arial"/>
              <a:cs typeface="Arial"/>
            </a:endParaRPr>
          </a:p>
          <a:p>
            <a:pPr marL="140970">
              <a:lnSpc>
                <a:spcPts val="1345"/>
              </a:lnSpc>
            </a:pPr>
            <a:r>
              <a:rPr dirty="0" sz="1200" spc="-5">
                <a:latin typeface="Arial"/>
                <a:cs typeface="Arial"/>
              </a:rPr>
              <a:t>(b) Explain how </a:t>
            </a:r>
            <a:r>
              <a:rPr dirty="0" sz="1200">
                <a:latin typeface="Arial"/>
                <a:cs typeface="Arial"/>
              </a:rPr>
              <a:t>his </a:t>
            </a:r>
            <a:r>
              <a:rPr dirty="0" sz="1200" spc="-5">
                <a:latin typeface="Arial"/>
                <a:cs typeface="Arial"/>
              </a:rPr>
              <a:t>position as caliph differed from that of </a:t>
            </a:r>
            <a:r>
              <a:rPr dirty="0" sz="1200">
                <a:latin typeface="Arial"/>
                <a:cs typeface="Arial"/>
              </a:rPr>
              <a:t>his </a:t>
            </a:r>
            <a:r>
              <a:rPr dirty="0" sz="1200" spc="-5">
                <a:latin typeface="Arial"/>
                <a:cs typeface="Arial"/>
              </a:rPr>
              <a:t>predecessors.</a:t>
            </a:r>
            <a:r>
              <a:rPr dirty="0" sz="1200" spc="45">
                <a:latin typeface="Arial"/>
                <a:cs typeface="Arial"/>
              </a:rPr>
              <a:t> </a:t>
            </a:r>
            <a:r>
              <a:rPr dirty="0" sz="1200">
                <a:latin typeface="Arial"/>
                <a:cs typeface="Arial"/>
              </a:rPr>
              <a:t>[8]</a:t>
            </a:r>
            <a:endParaRPr sz="1200">
              <a:latin typeface="Arial"/>
              <a:cs typeface="Arial"/>
            </a:endParaRPr>
          </a:p>
          <a:p>
            <a:pPr>
              <a:lnSpc>
                <a:spcPct val="100000"/>
              </a:lnSpc>
              <a:spcBef>
                <a:spcPts val="35"/>
              </a:spcBef>
            </a:pPr>
            <a:endParaRPr sz="1200">
              <a:latin typeface="Arial"/>
              <a:cs typeface="Arial"/>
            </a:endParaRPr>
          </a:p>
          <a:p>
            <a:pPr marL="12700" marR="8890">
              <a:lnSpc>
                <a:spcPts val="1380"/>
              </a:lnSpc>
              <a:spcBef>
                <a:spcPts val="5"/>
              </a:spcBef>
              <a:buFont typeface="Arial"/>
              <a:buAutoNum type="arabicPlain" startAt="2"/>
              <a:tabLst>
                <a:tab pos="193040" algn="l"/>
              </a:tabLst>
            </a:pPr>
            <a:r>
              <a:rPr dirty="0" sz="1200" spc="-5">
                <a:latin typeface="Arial"/>
                <a:cs typeface="Arial"/>
              </a:rPr>
              <a:t>How did </a:t>
            </a:r>
            <a:r>
              <a:rPr dirty="0" sz="1200">
                <a:latin typeface="Arial"/>
                <a:cs typeface="Arial"/>
              </a:rPr>
              <a:t>the </a:t>
            </a:r>
            <a:r>
              <a:rPr dirty="0" sz="1200" spc="-5">
                <a:latin typeface="Arial"/>
                <a:cs typeface="Arial"/>
              </a:rPr>
              <a:t>early </a:t>
            </a:r>
            <a:r>
              <a:rPr dirty="0" sz="1200" spc="-55">
                <a:latin typeface="Arial"/>
                <a:cs typeface="Arial"/>
              </a:rPr>
              <a:t>‗Abbasid </a:t>
            </a:r>
            <a:r>
              <a:rPr dirty="0" sz="1200" spc="-5">
                <a:latin typeface="Arial"/>
                <a:cs typeface="Arial"/>
              </a:rPr>
              <a:t>caliphs justify in religious </a:t>
            </a:r>
            <a:r>
              <a:rPr dirty="0" sz="1200">
                <a:latin typeface="Arial"/>
                <a:cs typeface="Arial"/>
              </a:rPr>
              <a:t>terms their </a:t>
            </a:r>
            <a:r>
              <a:rPr dirty="0" sz="1200" spc="-5">
                <a:latin typeface="Arial"/>
                <a:cs typeface="Arial"/>
              </a:rPr>
              <a:t>overthrow </a:t>
            </a:r>
            <a:r>
              <a:rPr dirty="0" sz="1200">
                <a:latin typeface="Arial"/>
                <a:cs typeface="Arial"/>
              </a:rPr>
              <a:t>of </a:t>
            </a:r>
            <a:r>
              <a:rPr dirty="0" sz="1200" spc="-5">
                <a:latin typeface="Arial"/>
                <a:cs typeface="Arial"/>
              </a:rPr>
              <a:t>the  Umayyad? </a:t>
            </a:r>
            <a:r>
              <a:rPr dirty="0" sz="1200">
                <a:latin typeface="Arial"/>
                <a:cs typeface="Arial"/>
              </a:rPr>
              <a:t>[20]</a:t>
            </a:r>
            <a:endParaRPr sz="1200">
              <a:latin typeface="Arial"/>
              <a:cs typeface="Arial"/>
            </a:endParaRPr>
          </a:p>
          <a:p>
            <a:pPr>
              <a:lnSpc>
                <a:spcPct val="100000"/>
              </a:lnSpc>
              <a:spcBef>
                <a:spcPts val="55"/>
              </a:spcBef>
              <a:buFont typeface="Arial"/>
              <a:buAutoNum type="arabicPlain" startAt="2"/>
            </a:pPr>
            <a:endParaRPr sz="1150">
              <a:latin typeface="Arial"/>
              <a:cs typeface="Arial"/>
            </a:endParaRPr>
          </a:p>
          <a:p>
            <a:pPr marL="12700" marR="8255">
              <a:lnSpc>
                <a:spcPts val="1380"/>
              </a:lnSpc>
              <a:buFont typeface="Arial"/>
              <a:buAutoNum type="arabicPlain" startAt="2"/>
              <a:tabLst>
                <a:tab pos="147320" algn="l"/>
              </a:tabLst>
            </a:pPr>
            <a:r>
              <a:rPr dirty="0" sz="1200" spc="-5">
                <a:latin typeface="Arial"/>
                <a:cs typeface="Arial"/>
              </a:rPr>
              <a:t>Harun al-Rashid is often regarded </a:t>
            </a:r>
            <a:r>
              <a:rPr dirty="0" sz="1200">
                <a:latin typeface="Arial"/>
                <a:cs typeface="Arial"/>
              </a:rPr>
              <a:t>as </a:t>
            </a:r>
            <a:r>
              <a:rPr dirty="0" sz="1200" spc="-5">
                <a:latin typeface="Arial"/>
                <a:cs typeface="Arial"/>
              </a:rPr>
              <a:t>the greatest of the </a:t>
            </a:r>
            <a:r>
              <a:rPr dirty="0" sz="1200" spc="-55">
                <a:latin typeface="Arial"/>
                <a:cs typeface="Arial"/>
              </a:rPr>
              <a:t>‗Abbasid </a:t>
            </a:r>
            <a:r>
              <a:rPr dirty="0" sz="1200" spc="-5">
                <a:latin typeface="Arial"/>
                <a:cs typeface="Arial"/>
              </a:rPr>
              <a:t>caliphs. Give </a:t>
            </a:r>
            <a:r>
              <a:rPr dirty="0" sz="1200">
                <a:latin typeface="Arial"/>
                <a:cs typeface="Arial"/>
              </a:rPr>
              <a:t>reasons to  </a:t>
            </a:r>
            <a:r>
              <a:rPr dirty="0" sz="1200" spc="-5">
                <a:latin typeface="Arial"/>
                <a:cs typeface="Arial"/>
              </a:rPr>
              <a:t>agree or disagree with </a:t>
            </a:r>
            <a:r>
              <a:rPr dirty="0" sz="1200">
                <a:latin typeface="Arial"/>
                <a:cs typeface="Arial"/>
              </a:rPr>
              <a:t>this </a:t>
            </a:r>
            <a:r>
              <a:rPr dirty="0" sz="1200" spc="-10">
                <a:latin typeface="Arial"/>
                <a:cs typeface="Arial"/>
              </a:rPr>
              <a:t>view. </a:t>
            </a:r>
            <a:r>
              <a:rPr dirty="0" sz="1200">
                <a:latin typeface="Arial"/>
                <a:cs typeface="Arial"/>
              </a:rPr>
              <a:t>[20]</a:t>
            </a:r>
            <a:r>
              <a:rPr dirty="0" sz="1200" spc="60">
                <a:latin typeface="Arial"/>
                <a:cs typeface="Arial"/>
              </a:rPr>
              <a:t> </a:t>
            </a:r>
            <a:r>
              <a:rPr dirty="0" sz="1200" spc="-5" b="1">
                <a:latin typeface="Arial"/>
                <a:cs typeface="Arial"/>
              </a:rPr>
              <a:t>(2010)</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111</a:t>
            </a:r>
            <a:endParaRPr sz="1200">
              <a:latin typeface="Times New Roman"/>
              <a:cs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2096770" y="799592"/>
            <a:ext cx="3183255" cy="559435"/>
          </a:xfrm>
          <a:prstGeom prst="rect">
            <a:avLst/>
          </a:prstGeom>
        </p:spPr>
        <p:txBody>
          <a:bodyPr wrap="square" lIns="0" tIns="12700" rIns="0" bIns="0" rtlCol="0" vert="horz">
            <a:spAutoFit/>
          </a:bodyPr>
          <a:lstStyle/>
          <a:p>
            <a:pPr algn="ctr" marL="2540">
              <a:lnSpc>
                <a:spcPct val="100000"/>
              </a:lnSpc>
              <a:spcBef>
                <a:spcPts val="100"/>
              </a:spcBef>
            </a:pPr>
            <a:r>
              <a:rPr dirty="0" u="heavy" sz="1200" spc="-5" b="1" i="1">
                <a:solidFill>
                  <a:srgbClr val="221F1F"/>
                </a:solidFill>
                <a:uFill>
                  <a:solidFill>
                    <a:srgbClr val="221F1F"/>
                  </a:solidFill>
                </a:uFill>
                <a:latin typeface="Arial"/>
                <a:cs typeface="Arial"/>
              </a:rPr>
              <a:t>Paper</a:t>
            </a:r>
            <a:r>
              <a:rPr dirty="0" u="heavy" sz="1200" spc="-15" b="1" i="1">
                <a:solidFill>
                  <a:srgbClr val="221F1F"/>
                </a:solidFill>
                <a:uFill>
                  <a:solidFill>
                    <a:srgbClr val="221F1F"/>
                  </a:solidFill>
                </a:uFill>
                <a:latin typeface="Arial"/>
                <a:cs typeface="Arial"/>
              </a:rPr>
              <a:t> </a:t>
            </a:r>
            <a:r>
              <a:rPr dirty="0" u="heavy" sz="1200" spc="-5" b="1" i="1">
                <a:solidFill>
                  <a:srgbClr val="221F1F"/>
                </a:solidFill>
                <a:uFill>
                  <a:solidFill>
                    <a:srgbClr val="221F1F"/>
                  </a:solidFill>
                </a:uFill>
                <a:latin typeface="Arial"/>
                <a:cs typeface="Arial"/>
              </a:rPr>
              <a:t>2</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5" b="1" i="1">
                <a:solidFill>
                  <a:srgbClr val="221F1F"/>
                </a:solidFill>
                <a:uFill>
                  <a:solidFill>
                    <a:srgbClr val="221F1F"/>
                  </a:solidFill>
                </a:uFill>
                <a:latin typeface="Arial"/>
                <a:cs typeface="Arial"/>
              </a:rPr>
              <a:t>Section B: Religious Thought </a:t>
            </a:r>
            <a:r>
              <a:rPr dirty="0" u="heavy" sz="1200" b="1" i="1">
                <a:solidFill>
                  <a:srgbClr val="221F1F"/>
                </a:solidFill>
                <a:uFill>
                  <a:solidFill>
                    <a:srgbClr val="221F1F"/>
                  </a:solidFill>
                </a:uFill>
                <a:latin typeface="Arial"/>
                <a:cs typeface="Arial"/>
              </a:rPr>
              <a:t>in </a:t>
            </a:r>
            <a:r>
              <a:rPr dirty="0" u="heavy" sz="1200" spc="-5" b="1" i="1">
                <a:solidFill>
                  <a:srgbClr val="221F1F"/>
                </a:solidFill>
                <a:uFill>
                  <a:solidFill>
                    <a:srgbClr val="221F1F"/>
                  </a:solidFill>
                </a:uFill>
                <a:latin typeface="Arial"/>
                <a:cs typeface="Arial"/>
              </a:rPr>
              <a:t>Early</a:t>
            </a:r>
            <a:r>
              <a:rPr dirty="0" u="heavy" sz="1200" spc="35" b="1" i="1">
                <a:solidFill>
                  <a:srgbClr val="221F1F"/>
                </a:solidFill>
                <a:uFill>
                  <a:solidFill>
                    <a:srgbClr val="221F1F"/>
                  </a:solidFill>
                </a:uFill>
                <a:latin typeface="Arial"/>
                <a:cs typeface="Arial"/>
              </a:rPr>
              <a:t> </a:t>
            </a:r>
            <a:r>
              <a:rPr dirty="0" u="heavy" sz="1200" spc="-5" b="1" i="1">
                <a:solidFill>
                  <a:srgbClr val="221F1F"/>
                </a:solidFill>
                <a:uFill>
                  <a:solidFill>
                    <a:srgbClr val="221F1F"/>
                  </a:solidFill>
                </a:uFill>
                <a:latin typeface="Arial"/>
                <a:cs typeface="Arial"/>
              </a:rPr>
              <a:t>Islam</a:t>
            </a:r>
            <a:endParaRPr sz="1200">
              <a:latin typeface="Arial"/>
              <a:cs typeface="Arial"/>
            </a:endParaRPr>
          </a:p>
        </p:txBody>
      </p:sp>
      <p:sp>
        <p:nvSpPr>
          <p:cNvPr id="8" name="object 8"/>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9" name="object 9"/>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112</a:t>
            </a:r>
            <a:endParaRPr sz="1200">
              <a:latin typeface="Times New Roman"/>
              <a:cs typeface="Times New Roman"/>
            </a:endParaRPr>
          </a:p>
        </p:txBody>
      </p:sp>
      <p:sp>
        <p:nvSpPr>
          <p:cNvPr id="6" name="object 6"/>
          <p:cNvSpPr txBox="1"/>
          <p:nvPr/>
        </p:nvSpPr>
        <p:spPr>
          <a:xfrm>
            <a:off x="478536" y="1528825"/>
            <a:ext cx="6420485"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The 4 Schools </a:t>
            </a:r>
            <a:r>
              <a:rPr dirty="0" sz="1200" b="1">
                <a:latin typeface="Arial"/>
                <a:cs typeface="Arial"/>
              </a:rPr>
              <a:t>of</a:t>
            </a:r>
            <a:r>
              <a:rPr dirty="0" sz="1200" spc="10" b="1">
                <a:latin typeface="Arial"/>
                <a:cs typeface="Arial"/>
              </a:rPr>
              <a:t> </a:t>
            </a:r>
            <a:r>
              <a:rPr dirty="0" sz="1200" spc="-5" b="1">
                <a:latin typeface="Arial"/>
                <a:cs typeface="Arial"/>
              </a:rPr>
              <a:t>Thought</a:t>
            </a:r>
            <a:endParaRPr sz="1200">
              <a:latin typeface="Arial"/>
              <a:cs typeface="Arial"/>
            </a:endParaRPr>
          </a:p>
        </p:txBody>
      </p:sp>
      <p:sp>
        <p:nvSpPr>
          <p:cNvPr id="7" name="object 7"/>
          <p:cNvSpPr txBox="1"/>
          <p:nvPr/>
        </p:nvSpPr>
        <p:spPr>
          <a:xfrm>
            <a:off x="534416" y="1863597"/>
            <a:ext cx="6311900" cy="7806690"/>
          </a:xfrm>
          <a:prstGeom prst="rect">
            <a:avLst/>
          </a:prstGeom>
        </p:spPr>
        <p:txBody>
          <a:bodyPr wrap="square" lIns="0" tIns="24765" rIns="0" bIns="0" rtlCol="0" vert="horz">
            <a:spAutoFit/>
          </a:bodyPr>
          <a:lstStyle/>
          <a:p>
            <a:pPr algn="just" marL="12700" marR="12065">
              <a:lnSpc>
                <a:spcPts val="1380"/>
              </a:lnSpc>
              <a:spcBef>
                <a:spcPts val="195"/>
              </a:spcBef>
            </a:pPr>
            <a:r>
              <a:rPr dirty="0" sz="1200" spc="-5">
                <a:latin typeface="Arial"/>
                <a:cs typeface="Arial"/>
              </a:rPr>
              <a:t>Among </a:t>
            </a:r>
            <a:r>
              <a:rPr dirty="0" sz="1200">
                <a:latin typeface="Arial"/>
                <a:cs typeface="Arial"/>
              </a:rPr>
              <a:t>the </a:t>
            </a:r>
            <a:r>
              <a:rPr dirty="0" sz="1200" spc="-5">
                <a:latin typeface="Arial"/>
                <a:cs typeface="Arial"/>
              </a:rPr>
              <a:t>schools of thought emerging </a:t>
            </a:r>
            <a:r>
              <a:rPr dirty="0" sz="1200">
                <a:latin typeface="Arial"/>
                <a:cs typeface="Arial"/>
              </a:rPr>
              <a:t>after the </a:t>
            </a:r>
            <a:r>
              <a:rPr dirty="0" sz="1200" spc="-5">
                <a:latin typeface="Arial"/>
                <a:cs typeface="Arial"/>
              </a:rPr>
              <a:t>death of </a:t>
            </a:r>
            <a:r>
              <a:rPr dirty="0" sz="1200">
                <a:latin typeface="Arial"/>
                <a:cs typeface="Arial"/>
              </a:rPr>
              <a:t>the </a:t>
            </a:r>
            <a:r>
              <a:rPr dirty="0" sz="1200" spc="-5">
                <a:latin typeface="Arial"/>
                <a:cs typeface="Arial"/>
              </a:rPr>
              <a:t>prophet (s.a.w) </a:t>
            </a:r>
            <a:r>
              <a:rPr dirty="0" sz="1200">
                <a:latin typeface="Arial"/>
                <a:cs typeface="Arial"/>
              </a:rPr>
              <a:t>there </a:t>
            </a:r>
            <a:r>
              <a:rPr dirty="0" sz="1200" spc="-5">
                <a:latin typeface="Arial"/>
                <a:cs typeface="Arial"/>
              </a:rPr>
              <a:t>were 4  </a:t>
            </a:r>
            <a:r>
              <a:rPr dirty="0" sz="1200">
                <a:latin typeface="Arial"/>
                <a:cs typeface="Arial"/>
              </a:rPr>
              <a:t>famous ones </a:t>
            </a:r>
            <a:r>
              <a:rPr dirty="0" sz="1200" spc="-5">
                <a:latin typeface="Arial"/>
                <a:cs typeface="Arial"/>
              </a:rPr>
              <a:t>in the name of Hanafi, Maliki, Shafi‘I and Hambali Mathhab.</a:t>
            </a:r>
            <a:endParaRPr sz="1200">
              <a:latin typeface="Arial"/>
              <a:cs typeface="Arial"/>
            </a:endParaRPr>
          </a:p>
          <a:p>
            <a:pPr>
              <a:lnSpc>
                <a:spcPct val="100000"/>
              </a:lnSpc>
              <a:spcBef>
                <a:spcPts val="20"/>
              </a:spcBef>
            </a:pPr>
            <a:endParaRPr sz="1100">
              <a:latin typeface="Arial"/>
              <a:cs typeface="Arial"/>
            </a:endParaRPr>
          </a:p>
          <a:p>
            <a:pPr marL="469900" indent="-229235">
              <a:lnSpc>
                <a:spcPct val="100000"/>
              </a:lnSpc>
              <a:buFont typeface="Wingdings"/>
              <a:buChar char=""/>
              <a:tabLst>
                <a:tab pos="470534" algn="l"/>
              </a:tabLst>
            </a:pPr>
            <a:r>
              <a:rPr dirty="0" u="heavy" sz="1200" spc="-25" b="1" i="1">
                <a:uFill>
                  <a:solidFill>
                    <a:srgbClr val="000000"/>
                  </a:solidFill>
                </a:uFill>
                <a:latin typeface="Arial"/>
                <a:cs typeface="Arial"/>
              </a:rPr>
              <a:t>Imam-ul-„Azam </a:t>
            </a:r>
            <a:r>
              <a:rPr dirty="0" u="heavy" sz="1200" spc="-5" b="1" i="1">
                <a:uFill>
                  <a:solidFill>
                    <a:srgbClr val="000000"/>
                  </a:solidFill>
                </a:uFill>
                <a:latin typeface="Arial"/>
                <a:cs typeface="Arial"/>
              </a:rPr>
              <a:t>Abu Hanifa</a:t>
            </a:r>
            <a:r>
              <a:rPr dirty="0" u="heavy" sz="1200" spc="30" b="1" i="1">
                <a:uFill>
                  <a:solidFill>
                    <a:srgbClr val="000000"/>
                  </a:solidFill>
                </a:uFill>
                <a:latin typeface="Arial"/>
                <a:cs typeface="Arial"/>
              </a:rPr>
              <a:t> </a:t>
            </a:r>
            <a:r>
              <a:rPr dirty="0" u="heavy" sz="1200" spc="-5" b="1" i="1">
                <a:uFill>
                  <a:solidFill>
                    <a:srgbClr val="000000"/>
                  </a:solidFill>
                </a:uFill>
                <a:latin typeface="Arial"/>
                <a:cs typeface="Arial"/>
              </a:rPr>
              <a:t>(ra)</a:t>
            </a:r>
            <a:endParaRPr sz="1200">
              <a:latin typeface="Arial"/>
              <a:cs typeface="Arial"/>
            </a:endParaRPr>
          </a:p>
          <a:p>
            <a:pPr>
              <a:lnSpc>
                <a:spcPct val="100000"/>
              </a:lnSpc>
              <a:spcBef>
                <a:spcPts val="55"/>
              </a:spcBef>
              <a:buFont typeface="Wingdings"/>
              <a:buChar char=""/>
            </a:pPr>
            <a:endParaRPr sz="1150">
              <a:latin typeface="Arial"/>
              <a:cs typeface="Arial"/>
            </a:endParaRPr>
          </a:p>
          <a:p>
            <a:pPr algn="just" marL="12700" marR="5080">
              <a:lnSpc>
                <a:spcPct val="95900"/>
              </a:lnSpc>
            </a:pPr>
            <a:r>
              <a:rPr dirty="0" sz="1200" spc="-5">
                <a:latin typeface="Arial"/>
                <a:cs typeface="Arial"/>
              </a:rPr>
              <a:t>He </a:t>
            </a:r>
            <a:r>
              <a:rPr dirty="0" sz="1200" spc="-10">
                <a:latin typeface="Arial"/>
                <a:cs typeface="Arial"/>
              </a:rPr>
              <a:t>was </a:t>
            </a:r>
            <a:r>
              <a:rPr dirty="0" sz="1200" spc="-5">
                <a:latin typeface="Arial"/>
                <a:cs typeface="Arial"/>
              </a:rPr>
              <a:t>born in </a:t>
            </a:r>
            <a:r>
              <a:rPr dirty="0" sz="1200">
                <a:latin typeface="Arial"/>
                <a:cs typeface="Arial"/>
              </a:rPr>
              <a:t>the </a:t>
            </a:r>
            <a:r>
              <a:rPr dirty="0" sz="1200" spc="-5">
                <a:latin typeface="Arial"/>
                <a:cs typeface="Arial"/>
              </a:rPr>
              <a:t>year 80 AH and died in </a:t>
            </a:r>
            <a:r>
              <a:rPr dirty="0" sz="1200">
                <a:latin typeface="Arial"/>
                <a:cs typeface="Arial"/>
              </a:rPr>
              <a:t>the </a:t>
            </a:r>
            <a:r>
              <a:rPr dirty="0" sz="1200" spc="-5">
                <a:latin typeface="Arial"/>
                <a:cs typeface="Arial"/>
              </a:rPr>
              <a:t>year 150 AH. His </a:t>
            </a:r>
            <a:r>
              <a:rPr dirty="0" sz="1200">
                <a:latin typeface="Arial"/>
                <a:cs typeface="Arial"/>
              </a:rPr>
              <a:t>name </a:t>
            </a:r>
            <a:r>
              <a:rPr dirty="0" sz="1200" spc="-10">
                <a:latin typeface="Arial"/>
                <a:cs typeface="Arial"/>
              </a:rPr>
              <a:t>was </a:t>
            </a:r>
            <a:r>
              <a:rPr dirty="0" sz="1200" spc="-5">
                <a:latin typeface="Arial"/>
                <a:cs typeface="Arial"/>
              </a:rPr>
              <a:t>Nu‘man bin  Thabit bin Zuta bin Mah. He was </a:t>
            </a:r>
            <a:r>
              <a:rPr dirty="0" sz="1200">
                <a:latin typeface="Arial"/>
                <a:cs typeface="Arial"/>
              </a:rPr>
              <a:t>an </a:t>
            </a:r>
            <a:r>
              <a:rPr dirty="0" sz="1200" spc="-65">
                <a:latin typeface="Arial"/>
                <a:cs typeface="Arial"/>
              </a:rPr>
              <a:t>‗Ajami </a:t>
            </a:r>
            <a:r>
              <a:rPr dirty="0" sz="1200">
                <a:latin typeface="Arial"/>
                <a:cs typeface="Arial"/>
              </a:rPr>
              <a:t>– </a:t>
            </a:r>
            <a:r>
              <a:rPr dirty="0" sz="1200" spc="-5">
                <a:latin typeface="Arial"/>
                <a:cs typeface="Arial"/>
              </a:rPr>
              <a:t>non Arab scholar and </a:t>
            </a:r>
            <a:r>
              <a:rPr dirty="0" sz="1200" spc="-10">
                <a:latin typeface="Arial"/>
                <a:cs typeface="Arial"/>
              </a:rPr>
              <a:t>was </a:t>
            </a:r>
            <a:r>
              <a:rPr dirty="0" sz="1200">
                <a:latin typeface="Arial"/>
                <a:cs typeface="Arial"/>
              </a:rPr>
              <a:t>born </a:t>
            </a:r>
            <a:r>
              <a:rPr dirty="0" sz="1200" spc="-5">
                <a:latin typeface="Arial"/>
                <a:cs typeface="Arial"/>
              </a:rPr>
              <a:t>in </a:t>
            </a:r>
            <a:r>
              <a:rPr dirty="0" sz="1200">
                <a:latin typeface="Arial"/>
                <a:cs typeface="Arial"/>
              </a:rPr>
              <a:t>Kufah. </a:t>
            </a:r>
            <a:r>
              <a:rPr dirty="0" sz="1200" spc="-5">
                <a:latin typeface="Arial"/>
                <a:cs typeface="Arial"/>
              </a:rPr>
              <a:t>He  lived during </a:t>
            </a:r>
            <a:r>
              <a:rPr dirty="0" sz="1200">
                <a:latin typeface="Arial"/>
                <a:cs typeface="Arial"/>
              </a:rPr>
              <a:t>the </a:t>
            </a:r>
            <a:r>
              <a:rPr dirty="0" sz="1200" spc="-5">
                <a:latin typeface="Arial"/>
                <a:cs typeface="Arial"/>
              </a:rPr>
              <a:t>Notable Period of the Ashab of the Holy Prophet (s.a.w). According </a:t>
            </a:r>
            <a:r>
              <a:rPr dirty="0" sz="1200">
                <a:latin typeface="Arial"/>
                <a:cs typeface="Arial"/>
              </a:rPr>
              <a:t>to  </a:t>
            </a:r>
            <a:r>
              <a:rPr dirty="0" sz="1200" spc="-5">
                <a:latin typeface="Arial"/>
                <a:cs typeface="Arial"/>
              </a:rPr>
              <a:t>different historians, he had been acquainted with 7 </a:t>
            </a:r>
            <a:r>
              <a:rPr dirty="0" sz="1200" spc="20">
                <a:latin typeface="Arial"/>
                <a:cs typeface="Arial"/>
              </a:rPr>
              <a:t>or </a:t>
            </a:r>
            <a:r>
              <a:rPr dirty="0" sz="1200" spc="-5">
                <a:latin typeface="Arial"/>
                <a:cs typeface="Arial"/>
              </a:rPr>
              <a:t>17 ashab namely </a:t>
            </a:r>
            <a:r>
              <a:rPr dirty="0" sz="1200">
                <a:latin typeface="Arial"/>
                <a:cs typeface="Arial"/>
              </a:rPr>
              <a:t>the </a:t>
            </a:r>
            <a:r>
              <a:rPr dirty="0" sz="1200" spc="-5">
                <a:latin typeface="Arial"/>
                <a:cs typeface="Arial"/>
              </a:rPr>
              <a:t>famous Anas </a:t>
            </a:r>
            <a:r>
              <a:rPr dirty="0" sz="1200" spc="-10">
                <a:latin typeface="Arial"/>
                <a:cs typeface="Arial"/>
              </a:rPr>
              <a:t>bin  </a:t>
            </a:r>
            <a:r>
              <a:rPr dirty="0" sz="1200" spc="-5">
                <a:latin typeface="Arial"/>
                <a:cs typeface="Arial"/>
              </a:rPr>
              <a:t>Malik (93 </a:t>
            </a:r>
            <a:r>
              <a:rPr dirty="0" sz="1200">
                <a:latin typeface="Arial"/>
                <a:cs typeface="Arial"/>
              </a:rPr>
              <a:t>AH), </a:t>
            </a:r>
            <a:r>
              <a:rPr dirty="0" sz="1200" spc="-5">
                <a:latin typeface="Arial"/>
                <a:cs typeface="Arial"/>
              </a:rPr>
              <a:t>Sahl bin Sa‘ad (91 </a:t>
            </a:r>
            <a:r>
              <a:rPr dirty="0" sz="1200">
                <a:latin typeface="Arial"/>
                <a:cs typeface="Arial"/>
              </a:rPr>
              <a:t>AH), </a:t>
            </a:r>
            <a:r>
              <a:rPr dirty="0" sz="1200" spc="-5">
                <a:latin typeface="Arial"/>
                <a:cs typeface="Arial"/>
              </a:rPr>
              <a:t>Abul Tu‘fail Amir bin Wathilah (100 </a:t>
            </a:r>
            <a:r>
              <a:rPr dirty="0" sz="1200">
                <a:latin typeface="Arial"/>
                <a:cs typeface="Arial"/>
              </a:rPr>
              <a:t>AH). </a:t>
            </a:r>
            <a:r>
              <a:rPr dirty="0" sz="1200" spc="-5">
                <a:latin typeface="Arial"/>
                <a:cs typeface="Arial"/>
              </a:rPr>
              <a:t>Among his  famous teachers, </a:t>
            </a:r>
            <a:r>
              <a:rPr dirty="0" sz="1200">
                <a:latin typeface="Arial"/>
                <a:cs typeface="Arial"/>
              </a:rPr>
              <a:t>the </a:t>
            </a:r>
            <a:r>
              <a:rPr dirty="0" sz="1200" spc="-5">
                <a:latin typeface="Arial"/>
                <a:cs typeface="Arial"/>
              </a:rPr>
              <a:t>names of Imam Sha‘bi, Shu‘bah (Hadith), </a:t>
            </a:r>
            <a:r>
              <a:rPr dirty="0" sz="1200">
                <a:latin typeface="Arial"/>
                <a:cs typeface="Arial"/>
              </a:rPr>
              <a:t>Hammad </a:t>
            </a:r>
            <a:r>
              <a:rPr dirty="0" sz="1200" spc="-5">
                <a:latin typeface="Arial"/>
                <a:cs typeface="Arial"/>
              </a:rPr>
              <a:t>(Fiqh), </a:t>
            </a:r>
            <a:r>
              <a:rPr dirty="0" sz="1200">
                <a:latin typeface="Arial"/>
                <a:cs typeface="Arial"/>
              </a:rPr>
              <a:t>Ata </a:t>
            </a:r>
            <a:r>
              <a:rPr dirty="0" sz="1200" spc="-5">
                <a:latin typeface="Arial"/>
                <a:cs typeface="Arial"/>
              </a:rPr>
              <a:t>bin  Rabah, </a:t>
            </a:r>
            <a:r>
              <a:rPr dirty="0" sz="1200">
                <a:latin typeface="Arial"/>
                <a:cs typeface="Arial"/>
              </a:rPr>
              <a:t>Ikramah </a:t>
            </a:r>
            <a:r>
              <a:rPr dirty="0" sz="1200" spc="-5">
                <a:latin typeface="Arial"/>
                <a:cs typeface="Arial"/>
              </a:rPr>
              <a:t>(pupil </a:t>
            </a:r>
            <a:r>
              <a:rPr dirty="0" sz="1200">
                <a:latin typeface="Arial"/>
                <a:cs typeface="Arial"/>
              </a:rPr>
              <a:t>of </a:t>
            </a:r>
            <a:r>
              <a:rPr dirty="0" sz="1200" spc="-5">
                <a:latin typeface="Arial"/>
                <a:cs typeface="Arial"/>
              </a:rPr>
              <a:t>Abdullah bin Abbas), Imam Baqar, </a:t>
            </a:r>
            <a:r>
              <a:rPr dirty="0" sz="1200">
                <a:latin typeface="Arial"/>
                <a:cs typeface="Arial"/>
              </a:rPr>
              <a:t>Imam Ja‘far as </a:t>
            </a:r>
            <a:r>
              <a:rPr dirty="0" sz="1200" spc="-5">
                <a:latin typeface="Arial"/>
                <a:cs typeface="Arial"/>
              </a:rPr>
              <a:t>Swadiq and </a:t>
            </a:r>
            <a:r>
              <a:rPr dirty="0" sz="1200" spc="-10">
                <a:latin typeface="Arial"/>
                <a:cs typeface="Arial"/>
              </a:rPr>
              <a:t>93  </a:t>
            </a:r>
            <a:r>
              <a:rPr dirty="0" sz="1200" spc="-5">
                <a:latin typeface="Arial"/>
                <a:cs typeface="Arial"/>
              </a:rPr>
              <a:t>Tabi‘in of Kufah can be </a:t>
            </a:r>
            <a:r>
              <a:rPr dirty="0" sz="1200">
                <a:latin typeface="Arial"/>
                <a:cs typeface="Arial"/>
              </a:rPr>
              <a:t>cited. </a:t>
            </a:r>
            <a:r>
              <a:rPr dirty="0" sz="1200" spc="-5">
                <a:latin typeface="Arial"/>
                <a:cs typeface="Arial"/>
              </a:rPr>
              <a:t>Among his students </a:t>
            </a:r>
            <a:r>
              <a:rPr dirty="0" sz="1200">
                <a:latin typeface="Arial"/>
                <a:cs typeface="Arial"/>
              </a:rPr>
              <a:t>the </a:t>
            </a:r>
            <a:r>
              <a:rPr dirty="0" sz="1200" spc="-5">
                <a:latin typeface="Arial"/>
                <a:cs typeface="Arial"/>
              </a:rPr>
              <a:t>names of Qadi Abu Yusuf (113 </a:t>
            </a:r>
            <a:r>
              <a:rPr dirty="0" sz="1200">
                <a:latin typeface="Arial"/>
                <a:cs typeface="Arial"/>
              </a:rPr>
              <a:t>– </a:t>
            </a:r>
            <a:r>
              <a:rPr dirty="0" sz="1200" spc="-15">
                <a:latin typeface="Arial"/>
                <a:cs typeface="Arial"/>
              </a:rPr>
              <a:t>182  </a:t>
            </a:r>
            <a:r>
              <a:rPr dirty="0" sz="1200" spc="-5">
                <a:latin typeface="Arial"/>
                <a:cs typeface="Arial"/>
              </a:rPr>
              <a:t>AH), Muhammad bin </a:t>
            </a:r>
            <a:r>
              <a:rPr dirty="0" sz="1200" spc="-10">
                <a:latin typeface="Arial"/>
                <a:cs typeface="Arial"/>
              </a:rPr>
              <a:t>al </a:t>
            </a:r>
            <a:r>
              <a:rPr dirty="0" sz="1200">
                <a:latin typeface="Arial"/>
                <a:cs typeface="Arial"/>
              </a:rPr>
              <a:t>Hasan </a:t>
            </a:r>
            <a:r>
              <a:rPr dirty="0" sz="1200" spc="-5">
                <a:latin typeface="Arial"/>
                <a:cs typeface="Arial"/>
              </a:rPr>
              <a:t>al Shaibani (135 </a:t>
            </a:r>
            <a:r>
              <a:rPr dirty="0" sz="1200">
                <a:latin typeface="Arial"/>
                <a:cs typeface="Arial"/>
              </a:rPr>
              <a:t>– </a:t>
            </a:r>
            <a:r>
              <a:rPr dirty="0" sz="1200" spc="-5">
                <a:latin typeface="Arial"/>
                <a:cs typeface="Arial"/>
              </a:rPr>
              <a:t>189 AH) and </a:t>
            </a:r>
            <a:r>
              <a:rPr dirty="0" sz="1200" spc="-10">
                <a:latin typeface="Arial"/>
                <a:cs typeface="Arial"/>
              </a:rPr>
              <a:t>Imam </a:t>
            </a:r>
            <a:r>
              <a:rPr dirty="0" sz="1200" spc="-5">
                <a:latin typeface="Arial"/>
                <a:cs typeface="Arial"/>
              </a:rPr>
              <a:t>Zufar (110 </a:t>
            </a:r>
            <a:r>
              <a:rPr dirty="0" sz="1200">
                <a:latin typeface="Arial"/>
                <a:cs typeface="Arial"/>
              </a:rPr>
              <a:t>– </a:t>
            </a:r>
            <a:r>
              <a:rPr dirty="0" sz="1200" spc="-5">
                <a:latin typeface="Arial"/>
                <a:cs typeface="Arial"/>
              </a:rPr>
              <a:t>158 AH)  can be</a:t>
            </a:r>
            <a:r>
              <a:rPr dirty="0" sz="1200">
                <a:latin typeface="Arial"/>
                <a:cs typeface="Arial"/>
              </a:rPr>
              <a:t> </a:t>
            </a:r>
            <a:r>
              <a:rPr dirty="0" sz="1200" spc="-5">
                <a:latin typeface="Arial"/>
                <a:cs typeface="Arial"/>
              </a:rPr>
              <a:t>cited.</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Views on</a:t>
            </a:r>
            <a:r>
              <a:rPr dirty="0" u="heavy" sz="1200" spc="-10" b="1" i="1">
                <a:uFill>
                  <a:solidFill>
                    <a:srgbClr val="000000"/>
                  </a:solidFill>
                </a:uFill>
                <a:latin typeface="Arial"/>
                <a:cs typeface="Arial"/>
              </a:rPr>
              <a:t> </a:t>
            </a:r>
            <a:r>
              <a:rPr dirty="0" u="heavy" sz="1200" spc="-40" b="1" i="1">
                <a:uFill>
                  <a:solidFill>
                    <a:srgbClr val="000000"/>
                  </a:solidFill>
                </a:uFill>
                <a:latin typeface="Arial"/>
                <a:cs typeface="Arial"/>
              </a:rPr>
              <a:t>Shari‟ah</a:t>
            </a:r>
            <a:endParaRPr sz="1200">
              <a:latin typeface="Arial"/>
              <a:cs typeface="Arial"/>
            </a:endParaRPr>
          </a:p>
          <a:p>
            <a:pPr>
              <a:lnSpc>
                <a:spcPct val="100000"/>
              </a:lnSpc>
              <a:spcBef>
                <a:spcPts val="55"/>
              </a:spcBef>
            </a:pPr>
            <a:endParaRPr sz="1100">
              <a:latin typeface="Arial"/>
              <a:cs typeface="Arial"/>
            </a:endParaRPr>
          </a:p>
          <a:p>
            <a:pPr lvl="1" marL="698500" indent="-229235">
              <a:lnSpc>
                <a:spcPts val="1410"/>
              </a:lnSpc>
              <a:buFont typeface="Wingdings"/>
              <a:buChar char=""/>
              <a:tabLst>
                <a:tab pos="699135" algn="l"/>
              </a:tabLst>
            </a:pPr>
            <a:r>
              <a:rPr dirty="0" sz="1200">
                <a:latin typeface="Arial"/>
                <a:cs typeface="Arial"/>
              </a:rPr>
              <a:t>Focussed on </a:t>
            </a:r>
            <a:r>
              <a:rPr dirty="0" sz="1200" spc="-5">
                <a:latin typeface="Arial"/>
                <a:cs typeface="Arial"/>
              </a:rPr>
              <a:t>needs and circumstances around</a:t>
            </a:r>
            <a:r>
              <a:rPr dirty="0" sz="1200" spc="-30">
                <a:latin typeface="Arial"/>
                <a:cs typeface="Arial"/>
              </a:rPr>
              <a:t> </a:t>
            </a:r>
            <a:r>
              <a:rPr dirty="0" sz="1200">
                <a:latin typeface="Arial"/>
                <a:cs typeface="Arial"/>
              </a:rPr>
              <a:t>him</a:t>
            </a:r>
            <a:endParaRPr sz="1200">
              <a:latin typeface="Arial"/>
              <a:cs typeface="Arial"/>
            </a:endParaRPr>
          </a:p>
          <a:p>
            <a:pPr lvl="1" marL="698500" marR="5715" indent="-228600">
              <a:lnSpc>
                <a:spcPts val="1380"/>
              </a:lnSpc>
              <a:spcBef>
                <a:spcPts val="65"/>
              </a:spcBef>
              <a:buFont typeface="Wingdings"/>
              <a:buChar char=""/>
              <a:tabLst>
                <a:tab pos="699135" algn="l"/>
              </a:tabLst>
            </a:pPr>
            <a:r>
              <a:rPr dirty="0" sz="1200" spc="-5">
                <a:latin typeface="Arial"/>
                <a:cs typeface="Arial"/>
              </a:rPr>
              <a:t>Jurisprudence on measuring relative </a:t>
            </a:r>
            <a:r>
              <a:rPr dirty="0" sz="1200">
                <a:latin typeface="Arial"/>
                <a:cs typeface="Arial"/>
              </a:rPr>
              <a:t>cases </a:t>
            </a:r>
            <a:r>
              <a:rPr dirty="0" sz="1200" spc="-5">
                <a:latin typeface="Arial"/>
                <a:cs typeface="Arial"/>
              </a:rPr>
              <a:t>with equivalents in Qur‘an and Sunnah  </a:t>
            </a:r>
            <a:r>
              <a:rPr dirty="0" sz="1200">
                <a:latin typeface="Arial"/>
                <a:cs typeface="Arial"/>
              </a:rPr>
              <a:t>to </a:t>
            </a:r>
            <a:r>
              <a:rPr dirty="0" sz="1200" spc="-5">
                <a:latin typeface="Arial"/>
                <a:cs typeface="Arial"/>
              </a:rPr>
              <a:t>address the daily changes in</a:t>
            </a:r>
            <a:r>
              <a:rPr dirty="0" sz="1200">
                <a:latin typeface="Arial"/>
                <a:cs typeface="Arial"/>
              </a:rPr>
              <a:t> </a:t>
            </a:r>
            <a:r>
              <a:rPr dirty="0" sz="1200" spc="-5">
                <a:latin typeface="Arial"/>
                <a:cs typeface="Arial"/>
              </a:rPr>
              <a:t>life.</a:t>
            </a:r>
            <a:endParaRPr sz="1200">
              <a:latin typeface="Arial"/>
              <a:cs typeface="Arial"/>
            </a:endParaRPr>
          </a:p>
          <a:p>
            <a:pPr lvl="1" marL="698500" indent="-229235">
              <a:lnSpc>
                <a:spcPts val="1310"/>
              </a:lnSpc>
              <a:buFont typeface="Wingdings"/>
              <a:buChar char=""/>
              <a:tabLst>
                <a:tab pos="699135" algn="l"/>
              </a:tabLst>
            </a:pPr>
            <a:r>
              <a:rPr dirty="0" sz="1200" spc="-5">
                <a:latin typeface="Arial"/>
                <a:cs typeface="Arial"/>
              </a:rPr>
              <a:t>Solutions in the Qur‘an </a:t>
            </a:r>
            <a:r>
              <a:rPr dirty="0" sz="1200">
                <a:latin typeface="Arial"/>
                <a:cs typeface="Arial"/>
              </a:rPr>
              <a:t>and </a:t>
            </a:r>
            <a:r>
              <a:rPr dirty="0" sz="1200" spc="-5" i="1">
                <a:latin typeface="Arial"/>
                <a:cs typeface="Arial"/>
              </a:rPr>
              <a:t>sunnah</a:t>
            </a:r>
            <a:r>
              <a:rPr dirty="0" sz="1200" spc="-5">
                <a:latin typeface="Arial"/>
                <a:cs typeface="Arial"/>
              </a:rPr>
              <a:t>, then </a:t>
            </a:r>
            <a:r>
              <a:rPr dirty="0" sz="1200">
                <a:latin typeface="Arial"/>
                <a:cs typeface="Arial"/>
              </a:rPr>
              <a:t>the </a:t>
            </a:r>
            <a:r>
              <a:rPr dirty="0" sz="1200" spc="-5">
                <a:latin typeface="Arial"/>
                <a:cs typeface="Arial"/>
              </a:rPr>
              <a:t>sayings </a:t>
            </a:r>
            <a:r>
              <a:rPr dirty="0" sz="1200">
                <a:latin typeface="Arial"/>
                <a:cs typeface="Arial"/>
              </a:rPr>
              <a:t>of</a:t>
            </a:r>
            <a:r>
              <a:rPr dirty="0" sz="1200" spc="10">
                <a:latin typeface="Arial"/>
                <a:cs typeface="Arial"/>
              </a:rPr>
              <a:t> </a:t>
            </a:r>
            <a:r>
              <a:rPr dirty="0" sz="1200" spc="-5">
                <a:latin typeface="Arial"/>
                <a:cs typeface="Arial"/>
              </a:rPr>
              <a:t>Ashab</a:t>
            </a:r>
            <a:endParaRPr sz="1200">
              <a:latin typeface="Arial"/>
              <a:cs typeface="Arial"/>
            </a:endParaRPr>
          </a:p>
          <a:p>
            <a:pPr lvl="1" marL="698500" marR="8890" indent="-228600">
              <a:lnSpc>
                <a:spcPts val="1370"/>
              </a:lnSpc>
              <a:spcBef>
                <a:spcPts val="80"/>
              </a:spcBef>
              <a:buFont typeface="Wingdings"/>
              <a:buChar char=""/>
              <a:tabLst>
                <a:tab pos="699135" algn="l"/>
              </a:tabLst>
            </a:pPr>
            <a:r>
              <a:rPr dirty="0" sz="1200" spc="-5">
                <a:latin typeface="Arial"/>
                <a:cs typeface="Arial"/>
              </a:rPr>
              <a:t>Then opinion on measuring new </a:t>
            </a:r>
            <a:r>
              <a:rPr dirty="0" sz="1200">
                <a:latin typeface="Arial"/>
                <a:cs typeface="Arial"/>
              </a:rPr>
              <a:t>problems </a:t>
            </a:r>
            <a:r>
              <a:rPr dirty="0" sz="1200" spc="-10">
                <a:latin typeface="Arial"/>
                <a:cs typeface="Arial"/>
              </a:rPr>
              <a:t>with </a:t>
            </a:r>
            <a:r>
              <a:rPr dirty="0" sz="1200" spc="-5">
                <a:latin typeface="Arial"/>
                <a:cs typeface="Arial"/>
              </a:rPr>
              <a:t>relatively similar </a:t>
            </a:r>
            <a:r>
              <a:rPr dirty="0" sz="1200">
                <a:latin typeface="Arial"/>
                <a:cs typeface="Arial"/>
              </a:rPr>
              <a:t>ones </a:t>
            </a:r>
            <a:r>
              <a:rPr dirty="0" sz="1200" spc="-5">
                <a:latin typeface="Arial"/>
                <a:cs typeface="Arial"/>
              </a:rPr>
              <a:t>in Qur‘an  and sunnah</a:t>
            </a:r>
            <a:r>
              <a:rPr dirty="0" sz="1200" spc="-5" i="1">
                <a:latin typeface="Arial"/>
                <a:cs typeface="Arial"/>
              </a:rPr>
              <a:t>, </a:t>
            </a:r>
            <a:r>
              <a:rPr dirty="0" sz="1200" spc="-5">
                <a:latin typeface="Arial"/>
                <a:cs typeface="Arial"/>
              </a:rPr>
              <a:t>and then finding a solution by</a:t>
            </a:r>
            <a:r>
              <a:rPr dirty="0" sz="1200" spc="-15">
                <a:latin typeface="Arial"/>
                <a:cs typeface="Arial"/>
              </a:rPr>
              <a:t> </a:t>
            </a:r>
            <a:r>
              <a:rPr dirty="0" sz="1200" spc="-5">
                <a:latin typeface="Arial"/>
                <a:cs typeface="Arial"/>
              </a:rPr>
              <a:t>analogy</a:t>
            </a:r>
            <a:endParaRPr sz="1200">
              <a:latin typeface="Arial"/>
              <a:cs typeface="Arial"/>
            </a:endParaRPr>
          </a:p>
          <a:p>
            <a:pPr lvl="1" marL="698500" marR="14604" indent="-228600">
              <a:lnSpc>
                <a:spcPts val="1380"/>
              </a:lnSpc>
              <a:spcBef>
                <a:spcPts val="15"/>
              </a:spcBef>
              <a:buFont typeface="Wingdings"/>
              <a:buChar char=""/>
              <a:tabLst>
                <a:tab pos="699135" algn="l"/>
              </a:tabLst>
            </a:pPr>
            <a:r>
              <a:rPr dirty="0" sz="1200" spc="-5">
                <a:latin typeface="Arial"/>
                <a:cs typeface="Arial"/>
              </a:rPr>
              <a:t>Abu Hanifa wanted </a:t>
            </a:r>
            <a:r>
              <a:rPr dirty="0" sz="1200">
                <a:latin typeface="Arial"/>
                <a:cs typeface="Arial"/>
              </a:rPr>
              <a:t>to make </a:t>
            </a:r>
            <a:r>
              <a:rPr dirty="0" sz="1200" spc="-5">
                <a:latin typeface="Arial"/>
                <a:cs typeface="Arial"/>
              </a:rPr>
              <a:t>Islam </a:t>
            </a:r>
            <a:r>
              <a:rPr dirty="0" sz="1200">
                <a:latin typeface="Arial"/>
                <a:cs typeface="Arial"/>
              </a:rPr>
              <a:t>fill the </a:t>
            </a:r>
            <a:r>
              <a:rPr dirty="0" sz="1200" spc="-5">
                <a:latin typeface="Arial"/>
                <a:cs typeface="Arial"/>
              </a:rPr>
              <a:t>gap and </a:t>
            </a:r>
            <a:r>
              <a:rPr dirty="0" sz="1200" spc="-10">
                <a:latin typeface="Arial"/>
                <a:cs typeface="Arial"/>
              </a:rPr>
              <a:t>go </a:t>
            </a:r>
            <a:r>
              <a:rPr dirty="0" sz="1200" spc="-5">
                <a:latin typeface="Arial"/>
                <a:cs typeface="Arial"/>
              </a:rPr>
              <a:t>in parallel with daily needs of  </a:t>
            </a:r>
            <a:r>
              <a:rPr dirty="0" sz="1200">
                <a:latin typeface="Arial"/>
                <a:cs typeface="Arial"/>
              </a:rPr>
              <a:t>life</a:t>
            </a:r>
            <a:endParaRPr sz="1200">
              <a:latin typeface="Arial"/>
              <a:cs typeface="Arial"/>
            </a:endParaRPr>
          </a:p>
          <a:p>
            <a:pPr lvl="1" marL="698500" marR="5080" indent="-228600">
              <a:lnSpc>
                <a:spcPts val="1380"/>
              </a:lnSpc>
              <a:buFont typeface="Wingdings"/>
              <a:buChar char=""/>
              <a:tabLst>
                <a:tab pos="699135" algn="l"/>
              </a:tabLst>
            </a:pPr>
            <a:r>
              <a:rPr dirty="0" sz="1200" spc="-5">
                <a:latin typeface="Arial"/>
                <a:cs typeface="Arial"/>
              </a:rPr>
              <a:t>Supposed </a:t>
            </a:r>
            <a:r>
              <a:rPr dirty="0" sz="1200">
                <a:latin typeface="Arial"/>
                <a:cs typeface="Arial"/>
              </a:rPr>
              <a:t>future </a:t>
            </a:r>
            <a:r>
              <a:rPr dirty="0" sz="1200" spc="-5">
                <a:latin typeface="Arial"/>
                <a:cs typeface="Arial"/>
              </a:rPr>
              <a:t>problems and found out relevant solutions </a:t>
            </a:r>
            <a:r>
              <a:rPr dirty="0" sz="1200">
                <a:latin typeface="Arial"/>
                <a:cs typeface="Arial"/>
              </a:rPr>
              <a:t>– </a:t>
            </a:r>
            <a:r>
              <a:rPr dirty="0" sz="1200" spc="-35">
                <a:latin typeface="Arial"/>
                <a:cs typeface="Arial"/>
              </a:rPr>
              <a:t>‗hypothetical  </a:t>
            </a:r>
            <a:r>
              <a:rPr dirty="0" sz="1200" spc="-5">
                <a:latin typeface="Arial"/>
                <a:cs typeface="Arial"/>
              </a:rPr>
              <a:t>jurisprudence‘</a:t>
            </a:r>
            <a:endParaRPr sz="1200">
              <a:latin typeface="Arial"/>
              <a:cs typeface="Arial"/>
            </a:endParaRPr>
          </a:p>
          <a:p>
            <a:pPr lvl="1" marL="698500" marR="6985" indent="-228600">
              <a:lnSpc>
                <a:spcPts val="1380"/>
              </a:lnSpc>
              <a:buFont typeface="Wingdings"/>
              <a:buChar char=""/>
              <a:tabLst>
                <a:tab pos="699135" algn="l"/>
                <a:tab pos="4132579" algn="l"/>
              </a:tabLst>
            </a:pPr>
            <a:r>
              <a:rPr dirty="0" sz="1200" spc="-5">
                <a:latin typeface="Arial"/>
                <a:cs typeface="Arial"/>
              </a:rPr>
              <a:t>Established  </a:t>
            </a:r>
            <a:r>
              <a:rPr dirty="0" sz="1200">
                <a:latin typeface="Arial"/>
                <a:cs typeface="Arial"/>
              </a:rPr>
              <a:t>the  </a:t>
            </a:r>
            <a:r>
              <a:rPr dirty="0" sz="1200" spc="-55">
                <a:latin typeface="Arial"/>
                <a:cs typeface="Arial"/>
              </a:rPr>
              <a:t>‗freedom   </a:t>
            </a:r>
            <a:r>
              <a:rPr dirty="0" sz="1200" spc="-5">
                <a:latin typeface="Arial"/>
                <a:cs typeface="Arial"/>
              </a:rPr>
              <a:t>of</a:t>
            </a:r>
            <a:r>
              <a:rPr dirty="0" sz="1200" spc="295">
                <a:latin typeface="Arial"/>
                <a:cs typeface="Arial"/>
              </a:rPr>
              <a:t> </a:t>
            </a:r>
            <a:r>
              <a:rPr dirty="0" sz="1200" spc="-5">
                <a:latin typeface="Arial"/>
                <a:cs typeface="Arial"/>
              </a:rPr>
              <a:t>thought‘ </a:t>
            </a:r>
            <a:r>
              <a:rPr dirty="0" sz="1200" spc="30">
                <a:latin typeface="Arial"/>
                <a:cs typeface="Arial"/>
              </a:rPr>
              <a:t> </a:t>
            </a:r>
            <a:r>
              <a:rPr dirty="0" sz="1200" spc="-5">
                <a:latin typeface="Arial"/>
                <a:cs typeface="Arial"/>
              </a:rPr>
              <a:t>principle.	</a:t>
            </a:r>
            <a:r>
              <a:rPr dirty="0" sz="1200" spc="-10">
                <a:latin typeface="Arial"/>
                <a:cs typeface="Arial"/>
              </a:rPr>
              <a:t>Not </a:t>
            </a:r>
            <a:r>
              <a:rPr dirty="0" sz="1200" spc="-5">
                <a:latin typeface="Arial"/>
                <a:cs typeface="Arial"/>
              </a:rPr>
              <a:t>imposed his </a:t>
            </a:r>
            <a:r>
              <a:rPr dirty="0" sz="1200">
                <a:latin typeface="Arial"/>
                <a:cs typeface="Arial"/>
              </a:rPr>
              <a:t>ideas </a:t>
            </a:r>
            <a:r>
              <a:rPr dirty="0" sz="1200" spc="-10">
                <a:latin typeface="Arial"/>
                <a:cs typeface="Arial"/>
              </a:rPr>
              <a:t>on </a:t>
            </a:r>
            <a:r>
              <a:rPr dirty="0" sz="1200" spc="-5">
                <a:latin typeface="Arial"/>
                <a:cs typeface="Arial"/>
              </a:rPr>
              <a:t>his  students</a:t>
            </a:r>
            <a:endParaRPr sz="1200">
              <a:latin typeface="Arial"/>
              <a:cs typeface="Arial"/>
            </a:endParaRPr>
          </a:p>
          <a:p>
            <a:pPr lvl="1" marL="698500" indent="-229235">
              <a:lnSpc>
                <a:spcPts val="1315"/>
              </a:lnSpc>
              <a:buFont typeface="Wingdings"/>
              <a:buChar char=""/>
              <a:tabLst>
                <a:tab pos="699135" algn="l"/>
              </a:tabLst>
            </a:pPr>
            <a:r>
              <a:rPr dirty="0" sz="1200" spc="-5">
                <a:latin typeface="Arial"/>
                <a:cs typeface="Arial"/>
              </a:rPr>
              <a:t>Wanted them </a:t>
            </a:r>
            <a:r>
              <a:rPr dirty="0" sz="1200">
                <a:latin typeface="Arial"/>
                <a:cs typeface="Arial"/>
              </a:rPr>
              <a:t>to </a:t>
            </a:r>
            <a:r>
              <a:rPr dirty="0" sz="1200" spc="-5">
                <a:latin typeface="Arial"/>
                <a:cs typeface="Arial"/>
              </a:rPr>
              <a:t>develop their own personalities</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Thus development of other</a:t>
            </a:r>
            <a:r>
              <a:rPr dirty="0" sz="1200">
                <a:latin typeface="Arial"/>
                <a:cs typeface="Arial"/>
              </a:rPr>
              <a:t> </a:t>
            </a:r>
            <a:r>
              <a:rPr dirty="0" sz="1200" spc="-5">
                <a:latin typeface="Arial"/>
                <a:cs typeface="Arial"/>
              </a:rPr>
              <a:t>sciences</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Qur‘an</a:t>
            </a:r>
            <a:endParaRPr sz="1200">
              <a:latin typeface="Arial"/>
              <a:cs typeface="Arial"/>
            </a:endParaRPr>
          </a:p>
          <a:p>
            <a:pPr lvl="1" marL="698500" indent="-229235">
              <a:lnSpc>
                <a:spcPts val="1380"/>
              </a:lnSpc>
              <a:buFont typeface="Wingdings"/>
              <a:buChar char=""/>
              <a:tabLst>
                <a:tab pos="699135" algn="l"/>
              </a:tabLst>
            </a:pPr>
            <a:r>
              <a:rPr dirty="0" sz="1200">
                <a:latin typeface="Arial"/>
                <a:cs typeface="Arial"/>
              </a:rPr>
              <a:t>Hadith </a:t>
            </a:r>
            <a:r>
              <a:rPr dirty="0" sz="1200" spc="-5">
                <a:latin typeface="Arial"/>
                <a:cs typeface="Arial"/>
              </a:rPr>
              <a:t>of Holy Prophet</a:t>
            </a:r>
            <a:r>
              <a:rPr dirty="0" sz="1200" spc="-20">
                <a:latin typeface="Arial"/>
                <a:cs typeface="Arial"/>
              </a:rPr>
              <a:t> </a:t>
            </a:r>
            <a:r>
              <a:rPr dirty="0" sz="1200" spc="-5">
                <a:latin typeface="Arial"/>
                <a:cs typeface="Arial"/>
              </a:rPr>
              <a:t>(s.a.w)</a:t>
            </a:r>
            <a:endParaRPr sz="1200">
              <a:latin typeface="Arial"/>
              <a:cs typeface="Arial"/>
            </a:endParaRPr>
          </a:p>
          <a:p>
            <a:pPr lvl="1" marL="698500" indent="-229235">
              <a:lnSpc>
                <a:spcPts val="1380"/>
              </a:lnSpc>
              <a:buFont typeface="Wingdings"/>
              <a:buChar char=""/>
              <a:tabLst>
                <a:tab pos="699135" algn="l"/>
              </a:tabLst>
            </a:pPr>
            <a:r>
              <a:rPr dirty="0" sz="1200">
                <a:latin typeface="Arial"/>
                <a:cs typeface="Arial"/>
              </a:rPr>
              <a:t>Hadith </a:t>
            </a:r>
            <a:r>
              <a:rPr dirty="0" sz="1200" spc="-5">
                <a:latin typeface="Arial"/>
                <a:cs typeface="Arial"/>
              </a:rPr>
              <a:t>of Ashab</a:t>
            </a:r>
            <a:r>
              <a:rPr dirty="0" sz="1200" spc="-10">
                <a:latin typeface="Arial"/>
                <a:cs typeface="Arial"/>
              </a:rPr>
              <a:t> </a:t>
            </a:r>
            <a:r>
              <a:rPr dirty="0" sz="1200">
                <a:latin typeface="Arial"/>
                <a:cs typeface="Arial"/>
              </a:rPr>
              <a:t>(r.a)</a:t>
            </a:r>
            <a:endParaRPr sz="1200">
              <a:latin typeface="Arial"/>
              <a:cs typeface="Arial"/>
            </a:endParaRPr>
          </a:p>
          <a:p>
            <a:pPr lvl="1" marL="698500" indent="-229235">
              <a:lnSpc>
                <a:spcPts val="1380"/>
              </a:lnSpc>
              <a:buFont typeface="Wingdings"/>
              <a:buChar char=""/>
              <a:tabLst>
                <a:tab pos="699135" algn="l"/>
              </a:tabLst>
            </a:pPr>
            <a:r>
              <a:rPr dirty="0" sz="1200">
                <a:latin typeface="Arial"/>
                <a:cs typeface="Arial"/>
              </a:rPr>
              <a:t>Ijma‘</a:t>
            </a:r>
            <a:endParaRPr sz="1200">
              <a:latin typeface="Arial"/>
              <a:cs typeface="Arial"/>
            </a:endParaRPr>
          </a:p>
          <a:p>
            <a:pPr lvl="1" marL="698500" indent="-229235">
              <a:lnSpc>
                <a:spcPts val="1410"/>
              </a:lnSpc>
              <a:buFont typeface="Wingdings"/>
              <a:buChar char=""/>
              <a:tabLst>
                <a:tab pos="699135" algn="l"/>
              </a:tabLst>
            </a:pPr>
            <a:r>
              <a:rPr dirty="0" sz="1200" spc="-5">
                <a:latin typeface="Arial"/>
                <a:cs typeface="Arial"/>
              </a:rPr>
              <a:t>Qiyas</a:t>
            </a:r>
            <a:endParaRPr sz="1200">
              <a:latin typeface="Arial"/>
              <a:cs typeface="Arial"/>
            </a:endParaRPr>
          </a:p>
          <a:p>
            <a:pPr>
              <a:lnSpc>
                <a:spcPct val="100000"/>
              </a:lnSpc>
              <a:spcBef>
                <a:spcPts val="45"/>
              </a:spcBef>
            </a:pPr>
            <a:endParaRPr sz="1600">
              <a:latin typeface="Arial"/>
              <a:cs typeface="Arial"/>
            </a:endParaRPr>
          </a:p>
          <a:p>
            <a:pPr algn="just" marL="12700" marR="6985">
              <a:lnSpc>
                <a:spcPct val="95500"/>
              </a:lnSpc>
            </a:pPr>
            <a:r>
              <a:rPr dirty="0" sz="1200" spc="-5">
                <a:latin typeface="Arial"/>
                <a:cs typeface="Arial"/>
              </a:rPr>
              <a:t>He </a:t>
            </a:r>
            <a:r>
              <a:rPr dirty="0" sz="1200" spc="-10">
                <a:latin typeface="Arial"/>
                <a:cs typeface="Arial"/>
              </a:rPr>
              <a:t>was </a:t>
            </a:r>
            <a:r>
              <a:rPr dirty="0" sz="1200">
                <a:latin typeface="Arial"/>
                <a:cs typeface="Arial"/>
              </a:rPr>
              <a:t>the </a:t>
            </a:r>
            <a:r>
              <a:rPr dirty="0" sz="1200" spc="-5">
                <a:latin typeface="Arial"/>
                <a:cs typeface="Arial"/>
              </a:rPr>
              <a:t>pioneer in classification and compilation of </a:t>
            </a:r>
            <a:r>
              <a:rPr dirty="0" sz="1200">
                <a:latin typeface="Arial"/>
                <a:cs typeface="Arial"/>
              </a:rPr>
              <a:t>fiqh. One </a:t>
            </a:r>
            <a:r>
              <a:rPr dirty="0" sz="1200" spc="-5">
                <a:latin typeface="Arial"/>
                <a:cs typeface="Arial"/>
              </a:rPr>
              <a:t>of </a:t>
            </a:r>
            <a:r>
              <a:rPr dirty="0" sz="1200">
                <a:latin typeface="Arial"/>
                <a:cs typeface="Arial"/>
              </a:rPr>
              <a:t>the </a:t>
            </a:r>
            <a:r>
              <a:rPr dirty="0" sz="1200" spc="-5">
                <a:latin typeface="Arial"/>
                <a:cs typeface="Arial"/>
              </a:rPr>
              <a:t>biggest contributions  of Imam Abu Hanifa is </a:t>
            </a:r>
            <a:r>
              <a:rPr dirty="0" sz="1200">
                <a:latin typeface="Arial"/>
                <a:cs typeface="Arial"/>
              </a:rPr>
              <a:t>that </a:t>
            </a:r>
            <a:r>
              <a:rPr dirty="0" sz="1200" spc="-5">
                <a:latin typeface="Arial"/>
                <a:cs typeface="Arial"/>
              </a:rPr>
              <a:t>he organized </a:t>
            </a:r>
            <a:r>
              <a:rPr dirty="0" sz="1200" spc="-5" i="1">
                <a:latin typeface="Arial"/>
                <a:cs typeface="Arial"/>
              </a:rPr>
              <a:t>fiqh </a:t>
            </a:r>
            <a:r>
              <a:rPr dirty="0" sz="1200" spc="-5">
                <a:latin typeface="Arial"/>
                <a:cs typeface="Arial"/>
              </a:rPr>
              <a:t>into functional </a:t>
            </a:r>
            <a:r>
              <a:rPr dirty="0" sz="1200" spc="-10">
                <a:latin typeface="Arial"/>
                <a:cs typeface="Arial"/>
              </a:rPr>
              <a:t>sub </a:t>
            </a:r>
            <a:r>
              <a:rPr dirty="0" sz="1200" spc="-5">
                <a:latin typeface="Arial"/>
                <a:cs typeface="Arial"/>
              </a:rPr>
              <a:t>categories starting with  </a:t>
            </a:r>
            <a:r>
              <a:rPr dirty="0" sz="1200" spc="-5" i="1">
                <a:latin typeface="Arial"/>
                <a:cs typeface="Arial"/>
              </a:rPr>
              <a:t>Taharaat </a:t>
            </a:r>
            <a:r>
              <a:rPr dirty="0" sz="1200" spc="-5">
                <a:latin typeface="Arial"/>
                <a:cs typeface="Arial"/>
              </a:rPr>
              <a:t>(purification). All other imams and scholars followed his </a:t>
            </a:r>
            <a:r>
              <a:rPr dirty="0" sz="1200">
                <a:latin typeface="Arial"/>
                <a:cs typeface="Arial"/>
              </a:rPr>
              <a:t>organization. </a:t>
            </a:r>
            <a:r>
              <a:rPr dirty="0" sz="1200" spc="-5">
                <a:latin typeface="Arial"/>
                <a:cs typeface="Arial"/>
              </a:rPr>
              <a:t>He is </a:t>
            </a:r>
            <a:r>
              <a:rPr dirty="0" sz="1200" spc="-10">
                <a:latin typeface="Arial"/>
                <a:cs typeface="Arial"/>
              </a:rPr>
              <a:t>known  </a:t>
            </a:r>
            <a:r>
              <a:rPr dirty="0" sz="1200">
                <a:latin typeface="Arial"/>
                <a:cs typeface="Arial"/>
              </a:rPr>
              <a:t>for </a:t>
            </a:r>
            <a:r>
              <a:rPr dirty="0" sz="1200" spc="-5">
                <a:latin typeface="Arial"/>
                <a:cs typeface="Arial"/>
              </a:rPr>
              <a:t>his unparalleled </a:t>
            </a:r>
            <a:r>
              <a:rPr dirty="0" sz="1200" spc="-10">
                <a:latin typeface="Arial"/>
                <a:cs typeface="Arial"/>
              </a:rPr>
              <a:t>knowledge </a:t>
            </a:r>
            <a:r>
              <a:rPr dirty="0" sz="1200">
                <a:latin typeface="Arial"/>
                <a:cs typeface="Arial"/>
              </a:rPr>
              <a:t>of </a:t>
            </a:r>
            <a:r>
              <a:rPr dirty="0" sz="1200" spc="-5">
                <a:latin typeface="Arial"/>
                <a:cs typeface="Arial"/>
              </a:rPr>
              <a:t>fiqh and skill in Qiyas as well as Taqwa and an amazing  memory. </a:t>
            </a:r>
            <a:r>
              <a:rPr dirty="0" sz="1200">
                <a:latin typeface="Arial"/>
                <a:cs typeface="Arial"/>
              </a:rPr>
              <a:t>A </a:t>
            </a:r>
            <a:r>
              <a:rPr dirty="0" sz="1200" spc="-5">
                <a:latin typeface="Arial"/>
                <a:cs typeface="Arial"/>
              </a:rPr>
              <a:t>quote attributed to Imam Shafi‘I </a:t>
            </a:r>
            <a:r>
              <a:rPr dirty="0" sz="1200">
                <a:latin typeface="Arial"/>
                <a:cs typeface="Arial"/>
              </a:rPr>
              <a:t>states </a:t>
            </a:r>
            <a:r>
              <a:rPr dirty="0" sz="1200" spc="-5">
                <a:latin typeface="Arial"/>
                <a:cs typeface="Arial"/>
              </a:rPr>
              <a:t>that a person </a:t>
            </a:r>
            <a:r>
              <a:rPr dirty="0" sz="1200" spc="-10">
                <a:latin typeface="Arial"/>
                <a:cs typeface="Arial"/>
              </a:rPr>
              <a:t>who </a:t>
            </a:r>
            <a:r>
              <a:rPr dirty="0" sz="1200" spc="-5">
                <a:latin typeface="Arial"/>
                <a:cs typeface="Arial"/>
              </a:rPr>
              <a:t>wanted to specialize in  </a:t>
            </a:r>
            <a:r>
              <a:rPr dirty="0" sz="1200" spc="-5" i="1">
                <a:latin typeface="Arial"/>
                <a:cs typeface="Arial"/>
              </a:rPr>
              <a:t>fiqh </a:t>
            </a:r>
            <a:r>
              <a:rPr dirty="0" sz="1200" spc="-5">
                <a:latin typeface="Arial"/>
                <a:cs typeface="Arial"/>
              </a:rPr>
              <a:t>should read Abu Hanifa‘s</a:t>
            </a:r>
            <a:r>
              <a:rPr dirty="0" sz="1200">
                <a:latin typeface="Arial"/>
                <a:cs typeface="Arial"/>
              </a:rPr>
              <a:t> books.</a:t>
            </a:r>
            <a:endParaRPr sz="1200">
              <a:latin typeface="Arial"/>
              <a:cs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1100073"/>
            <a:ext cx="6311265" cy="8590280"/>
          </a:xfrm>
          <a:prstGeom prst="rect">
            <a:avLst/>
          </a:prstGeom>
        </p:spPr>
        <p:txBody>
          <a:bodyPr wrap="square" lIns="0" tIns="24765" rIns="0" bIns="0" rtlCol="0" vert="horz">
            <a:spAutoFit/>
          </a:bodyPr>
          <a:lstStyle/>
          <a:p>
            <a:pPr algn="just" marL="12700" marR="6350">
              <a:lnSpc>
                <a:spcPts val="1380"/>
              </a:lnSpc>
              <a:spcBef>
                <a:spcPts val="195"/>
              </a:spcBef>
            </a:pPr>
            <a:r>
              <a:rPr dirty="0" sz="1200" spc="-5">
                <a:latin typeface="Arial"/>
                <a:cs typeface="Arial"/>
              </a:rPr>
              <a:t>Abdullah </a:t>
            </a:r>
            <a:r>
              <a:rPr dirty="0" sz="1200">
                <a:latin typeface="Arial"/>
                <a:cs typeface="Arial"/>
              </a:rPr>
              <a:t>Ibn </a:t>
            </a:r>
            <a:r>
              <a:rPr dirty="0" sz="1200" spc="-5">
                <a:latin typeface="Arial"/>
                <a:cs typeface="Arial"/>
              </a:rPr>
              <a:t>Mubarak said, </a:t>
            </a:r>
            <a:r>
              <a:rPr dirty="0" sz="1200" spc="-400">
                <a:latin typeface="Arial"/>
                <a:cs typeface="Arial"/>
              </a:rPr>
              <a:t>―</a:t>
            </a:r>
            <a:r>
              <a:rPr dirty="0" sz="1200" spc="-400" i="1">
                <a:latin typeface="Arial"/>
                <a:cs typeface="Arial"/>
              </a:rPr>
              <a:t>I</a:t>
            </a:r>
            <a:r>
              <a:rPr dirty="0" sz="1200" spc="80" i="1">
                <a:latin typeface="Arial"/>
                <a:cs typeface="Arial"/>
              </a:rPr>
              <a:t> </a:t>
            </a:r>
            <a:r>
              <a:rPr dirty="0" sz="1200" spc="-5" i="1">
                <a:latin typeface="Arial"/>
                <a:cs typeface="Arial"/>
              </a:rPr>
              <a:t>have not seen another specialist as learned as Abu Hanifa </a:t>
            </a:r>
            <a:r>
              <a:rPr dirty="0" sz="1200" spc="-10" i="1">
                <a:latin typeface="Arial"/>
                <a:cs typeface="Arial"/>
              </a:rPr>
              <a:t>in  </a:t>
            </a:r>
            <a:r>
              <a:rPr dirty="0" sz="1200" i="1">
                <a:latin typeface="Arial"/>
                <a:cs typeface="Arial"/>
              </a:rPr>
              <a:t>the </a:t>
            </a:r>
            <a:r>
              <a:rPr dirty="0" sz="1200" spc="-5" i="1">
                <a:latin typeface="Arial"/>
                <a:cs typeface="Arial"/>
              </a:rPr>
              <a:t>knowledge of </a:t>
            </a:r>
            <a:r>
              <a:rPr dirty="0" sz="1200" spc="-20" i="1">
                <a:latin typeface="Arial"/>
                <a:cs typeface="Arial"/>
              </a:rPr>
              <a:t>fiqh</a:t>
            </a:r>
            <a:r>
              <a:rPr dirty="0" sz="1200" spc="-20">
                <a:latin typeface="Arial"/>
                <a:cs typeface="Arial"/>
              </a:rPr>
              <a:t>.‖ </a:t>
            </a:r>
            <a:r>
              <a:rPr dirty="0" sz="1200" spc="-5">
                <a:latin typeface="Arial"/>
                <a:cs typeface="Arial"/>
              </a:rPr>
              <a:t>Sufyan al-Thawri encapsulated all of the qualities of </a:t>
            </a:r>
            <a:r>
              <a:rPr dirty="0" sz="1200" spc="-5" i="1">
                <a:latin typeface="Arial"/>
                <a:cs typeface="Arial"/>
              </a:rPr>
              <a:t>imam al-a`zam </a:t>
            </a:r>
            <a:r>
              <a:rPr dirty="0" sz="1200" spc="-5">
                <a:latin typeface="Arial"/>
                <a:cs typeface="Arial"/>
              </a:rPr>
              <a:t>in  </a:t>
            </a:r>
            <a:r>
              <a:rPr dirty="0" sz="1200">
                <a:latin typeface="Arial"/>
                <a:cs typeface="Arial"/>
              </a:rPr>
              <a:t>this statement</a:t>
            </a:r>
            <a:r>
              <a:rPr dirty="0" sz="1200" i="1">
                <a:latin typeface="Arial"/>
                <a:cs typeface="Arial"/>
              </a:rPr>
              <a:t>, </a:t>
            </a:r>
            <a:r>
              <a:rPr dirty="0" sz="1200" spc="-165">
                <a:latin typeface="Arial"/>
                <a:cs typeface="Arial"/>
              </a:rPr>
              <a:t>―</a:t>
            </a:r>
            <a:r>
              <a:rPr dirty="0" sz="1200" spc="-165" i="1">
                <a:latin typeface="Arial"/>
                <a:cs typeface="Arial"/>
              </a:rPr>
              <a:t>This </a:t>
            </a:r>
            <a:r>
              <a:rPr dirty="0" sz="1200" spc="-10" i="1">
                <a:latin typeface="Arial"/>
                <a:cs typeface="Arial"/>
              </a:rPr>
              <a:t>man </a:t>
            </a:r>
            <a:r>
              <a:rPr dirty="0" sz="1200" spc="-5" i="1">
                <a:latin typeface="Arial"/>
                <a:cs typeface="Arial"/>
              </a:rPr>
              <a:t>holds a high </a:t>
            </a:r>
            <a:r>
              <a:rPr dirty="0" sz="1200" spc="-10" i="1">
                <a:latin typeface="Arial"/>
                <a:cs typeface="Arial"/>
              </a:rPr>
              <a:t>rank </a:t>
            </a:r>
            <a:r>
              <a:rPr dirty="0" sz="1200" spc="-5" i="1">
                <a:latin typeface="Arial"/>
                <a:cs typeface="Arial"/>
              </a:rPr>
              <a:t>in knowledge, and if </a:t>
            </a:r>
            <a:r>
              <a:rPr dirty="0" sz="1200" i="1">
                <a:latin typeface="Arial"/>
                <a:cs typeface="Arial"/>
              </a:rPr>
              <a:t>I </a:t>
            </a:r>
            <a:r>
              <a:rPr dirty="0" sz="1200" spc="-5" i="1">
                <a:latin typeface="Arial"/>
                <a:cs typeface="Arial"/>
              </a:rPr>
              <a:t>did not stand up for his  </a:t>
            </a:r>
            <a:r>
              <a:rPr dirty="0" sz="1200" i="1">
                <a:latin typeface="Arial"/>
                <a:cs typeface="Arial"/>
              </a:rPr>
              <a:t>science I would </a:t>
            </a:r>
            <a:r>
              <a:rPr dirty="0" sz="1200" spc="-5" i="1">
                <a:latin typeface="Arial"/>
                <a:cs typeface="Arial"/>
              </a:rPr>
              <a:t>stand up for his age, and if not </a:t>
            </a:r>
            <a:r>
              <a:rPr dirty="0" sz="1200" i="1">
                <a:latin typeface="Arial"/>
                <a:cs typeface="Arial"/>
              </a:rPr>
              <a:t>for </a:t>
            </a:r>
            <a:r>
              <a:rPr dirty="0" sz="1200" spc="-5" i="1">
                <a:latin typeface="Arial"/>
                <a:cs typeface="Arial"/>
              </a:rPr>
              <a:t>his age then </a:t>
            </a:r>
            <a:r>
              <a:rPr dirty="0" sz="1200" i="1">
                <a:latin typeface="Arial"/>
                <a:cs typeface="Arial"/>
              </a:rPr>
              <a:t>for </a:t>
            </a:r>
            <a:r>
              <a:rPr dirty="0" sz="1200" spc="-5" i="1">
                <a:latin typeface="Arial"/>
                <a:cs typeface="Arial"/>
              </a:rPr>
              <a:t>his </a:t>
            </a:r>
            <a:r>
              <a:rPr dirty="0" sz="1200" i="1">
                <a:latin typeface="Arial"/>
                <a:cs typeface="Arial"/>
              </a:rPr>
              <a:t>God </a:t>
            </a:r>
            <a:r>
              <a:rPr dirty="0" sz="1200" spc="-5" i="1">
                <a:latin typeface="Arial"/>
                <a:cs typeface="Arial"/>
              </a:rPr>
              <a:t>wariness </a:t>
            </a:r>
            <a:r>
              <a:rPr dirty="0" sz="1200" spc="-10" i="1">
                <a:latin typeface="Arial"/>
                <a:cs typeface="Arial"/>
              </a:rPr>
              <a:t>(wara`),  </a:t>
            </a:r>
            <a:r>
              <a:rPr dirty="0" sz="1200" spc="-5" i="1">
                <a:latin typeface="Arial"/>
                <a:cs typeface="Arial"/>
              </a:rPr>
              <a:t>and if not </a:t>
            </a:r>
            <a:r>
              <a:rPr dirty="0" sz="1200" i="1">
                <a:latin typeface="Arial"/>
                <a:cs typeface="Arial"/>
              </a:rPr>
              <a:t>for </a:t>
            </a:r>
            <a:r>
              <a:rPr dirty="0" sz="1200" spc="-5" i="1">
                <a:latin typeface="Arial"/>
                <a:cs typeface="Arial"/>
              </a:rPr>
              <a:t>his God wariness then for his jurisprudence</a:t>
            </a:r>
            <a:r>
              <a:rPr dirty="0" sz="1200" i="1">
                <a:latin typeface="Arial"/>
                <a:cs typeface="Arial"/>
              </a:rPr>
              <a:t> </a:t>
            </a:r>
            <a:r>
              <a:rPr dirty="0" sz="1200" spc="-10" i="1">
                <a:latin typeface="Arial"/>
                <a:cs typeface="Arial"/>
              </a:rPr>
              <a:t>(fiqh)</a:t>
            </a:r>
            <a:r>
              <a:rPr dirty="0" sz="1200" spc="-10">
                <a:latin typeface="Arial"/>
                <a:cs typeface="Arial"/>
              </a:rPr>
              <a:t>.‖</a:t>
            </a:r>
            <a:endParaRPr sz="1200">
              <a:latin typeface="Arial"/>
              <a:cs typeface="Arial"/>
            </a:endParaRPr>
          </a:p>
          <a:p>
            <a:pPr algn="just" marL="12700" marR="5080">
              <a:lnSpc>
                <a:spcPct val="95700"/>
              </a:lnSpc>
              <a:spcBef>
                <a:spcPts val="975"/>
              </a:spcBef>
            </a:pPr>
            <a:r>
              <a:rPr dirty="0" sz="1200">
                <a:latin typeface="Arial"/>
                <a:cs typeface="Arial"/>
              </a:rPr>
              <a:t>Qadi </a:t>
            </a:r>
            <a:r>
              <a:rPr dirty="0" sz="1200" spc="-5">
                <a:latin typeface="Arial"/>
                <a:cs typeface="Arial"/>
              </a:rPr>
              <a:t>Abu Yusuf </a:t>
            </a:r>
            <a:r>
              <a:rPr dirty="0" sz="1200">
                <a:latin typeface="Arial"/>
                <a:cs typeface="Arial"/>
              </a:rPr>
              <a:t>, </a:t>
            </a:r>
            <a:r>
              <a:rPr dirty="0" sz="1200" spc="-5">
                <a:latin typeface="Arial"/>
                <a:cs typeface="Arial"/>
              </a:rPr>
              <a:t>while describing imam </a:t>
            </a:r>
            <a:r>
              <a:rPr dirty="0" sz="1200" spc="-10">
                <a:latin typeface="Arial"/>
                <a:cs typeface="Arial"/>
              </a:rPr>
              <a:t>Abu </a:t>
            </a:r>
            <a:r>
              <a:rPr dirty="0" sz="1200" spc="-5">
                <a:latin typeface="Arial"/>
                <a:cs typeface="Arial"/>
              </a:rPr>
              <a:t>Hanifa‘s personality, said, </a:t>
            </a:r>
            <a:r>
              <a:rPr dirty="0" sz="1200" spc="-270" i="1">
                <a:latin typeface="Arial"/>
                <a:cs typeface="Arial"/>
              </a:rPr>
              <a:t>―As </a:t>
            </a:r>
            <a:r>
              <a:rPr dirty="0" sz="1200" i="1">
                <a:latin typeface="Arial"/>
                <a:cs typeface="Arial"/>
              </a:rPr>
              <a:t>far as I </a:t>
            </a:r>
            <a:r>
              <a:rPr dirty="0" sz="1200" spc="-5" i="1">
                <a:latin typeface="Arial"/>
                <a:cs typeface="Arial"/>
              </a:rPr>
              <a:t>know,  </a:t>
            </a:r>
            <a:r>
              <a:rPr dirty="0" sz="1200" spc="-5" i="1">
                <a:latin typeface="Arial"/>
                <a:cs typeface="Arial"/>
              </a:rPr>
              <a:t>Abu Hanifah </a:t>
            </a:r>
            <a:r>
              <a:rPr dirty="0" sz="1200" i="1">
                <a:latin typeface="Arial"/>
                <a:cs typeface="Arial"/>
              </a:rPr>
              <a:t>was </a:t>
            </a:r>
            <a:r>
              <a:rPr dirty="0" sz="1200" spc="-5" i="1">
                <a:latin typeface="Arial"/>
                <a:cs typeface="Arial"/>
              </a:rPr>
              <a:t>extremely </a:t>
            </a:r>
            <a:r>
              <a:rPr dirty="0" sz="1200" i="1">
                <a:latin typeface="Arial"/>
                <a:cs typeface="Arial"/>
              </a:rPr>
              <a:t>pious, </a:t>
            </a:r>
            <a:r>
              <a:rPr dirty="0" sz="1200" spc="-5" i="1">
                <a:latin typeface="Arial"/>
                <a:cs typeface="Arial"/>
              </a:rPr>
              <a:t>avoided forbidden things, remained silent and absorbed in  his thoughts most of </a:t>
            </a:r>
            <a:r>
              <a:rPr dirty="0" sz="1200" i="1">
                <a:latin typeface="Arial"/>
                <a:cs typeface="Arial"/>
              </a:rPr>
              <a:t>the </a:t>
            </a:r>
            <a:r>
              <a:rPr dirty="0" sz="1200" spc="-5" i="1">
                <a:latin typeface="Arial"/>
                <a:cs typeface="Arial"/>
              </a:rPr>
              <a:t>time, and answered a question only if he knew the answer. He was  </a:t>
            </a:r>
            <a:r>
              <a:rPr dirty="0" sz="1200" i="1">
                <a:latin typeface="Arial"/>
                <a:cs typeface="Arial"/>
              </a:rPr>
              <a:t>very </a:t>
            </a:r>
            <a:r>
              <a:rPr dirty="0" sz="1200" spc="-5" i="1">
                <a:latin typeface="Arial"/>
                <a:cs typeface="Arial"/>
              </a:rPr>
              <a:t>generous and self-respecting, never asked a favour of anybody, shunned the </a:t>
            </a:r>
            <a:r>
              <a:rPr dirty="0" sz="1200" spc="-10" i="1">
                <a:latin typeface="Arial"/>
                <a:cs typeface="Arial"/>
              </a:rPr>
              <a:t>company  </a:t>
            </a:r>
            <a:r>
              <a:rPr dirty="0" sz="1200" spc="-5" i="1">
                <a:latin typeface="Arial"/>
                <a:cs typeface="Arial"/>
              </a:rPr>
              <a:t>of the worldly-minded and held worldly </a:t>
            </a:r>
            <a:r>
              <a:rPr dirty="0" sz="1200" spc="-10" i="1">
                <a:latin typeface="Arial"/>
                <a:cs typeface="Arial"/>
              </a:rPr>
              <a:t>power </a:t>
            </a:r>
            <a:r>
              <a:rPr dirty="0" sz="1200" spc="-5" i="1">
                <a:latin typeface="Arial"/>
                <a:cs typeface="Arial"/>
              </a:rPr>
              <a:t>and position in </a:t>
            </a:r>
            <a:r>
              <a:rPr dirty="0" sz="1200" spc="-10" i="1">
                <a:latin typeface="Arial"/>
                <a:cs typeface="Arial"/>
              </a:rPr>
              <a:t>contempt. </a:t>
            </a:r>
            <a:r>
              <a:rPr dirty="0" sz="1200" spc="-5" i="1">
                <a:latin typeface="Arial"/>
                <a:cs typeface="Arial"/>
              </a:rPr>
              <a:t>He </a:t>
            </a:r>
            <a:r>
              <a:rPr dirty="0" sz="1200" i="1">
                <a:latin typeface="Arial"/>
                <a:cs typeface="Arial"/>
              </a:rPr>
              <a:t>avoided </a:t>
            </a:r>
            <a:r>
              <a:rPr dirty="0" sz="1200" spc="-5" i="1">
                <a:latin typeface="Arial"/>
                <a:cs typeface="Arial"/>
              </a:rPr>
              <a:t>slander  and </a:t>
            </a:r>
            <a:r>
              <a:rPr dirty="0" sz="1200" i="1">
                <a:latin typeface="Arial"/>
                <a:cs typeface="Arial"/>
              </a:rPr>
              <a:t>only talked well </a:t>
            </a:r>
            <a:r>
              <a:rPr dirty="0" sz="1200" spc="-5" i="1">
                <a:latin typeface="Arial"/>
                <a:cs typeface="Arial"/>
              </a:rPr>
              <a:t>of people. He was a </a:t>
            </a:r>
            <a:r>
              <a:rPr dirty="0" sz="1200" spc="-10" i="1">
                <a:latin typeface="Arial"/>
                <a:cs typeface="Arial"/>
              </a:rPr>
              <a:t>man </a:t>
            </a:r>
            <a:r>
              <a:rPr dirty="0" sz="1200" spc="-5" i="1">
                <a:latin typeface="Arial"/>
                <a:cs typeface="Arial"/>
              </a:rPr>
              <a:t>of profound learning and </a:t>
            </a:r>
            <a:r>
              <a:rPr dirty="0" sz="1200" i="1">
                <a:latin typeface="Arial"/>
                <a:cs typeface="Arial"/>
              </a:rPr>
              <a:t>was </a:t>
            </a:r>
            <a:r>
              <a:rPr dirty="0" sz="1200" spc="-5" i="1">
                <a:latin typeface="Arial"/>
                <a:cs typeface="Arial"/>
              </a:rPr>
              <a:t>as generous with  his knowledge as </a:t>
            </a:r>
            <a:r>
              <a:rPr dirty="0" sz="1200" i="1">
                <a:latin typeface="Arial"/>
                <a:cs typeface="Arial"/>
              </a:rPr>
              <a:t>with </a:t>
            </a:r>
            <a:r>
              <a:rPr dirty="0" sz="1200" spc="-5" i="1">
                <a:latin typeface="Arial"/>
                <a:cs typeface="Arial"/>
              </a:rPr>
              <a:t>his</a:t>
            </a:r>
            <a:r>
              <a:rPr dirty="0" sz="1200" spc="-20" i="1">
                <a:latin typeface="Arial"/>
                <a:cs typeface="Arial"/>
              </a:rPr>
              <a:t> </a:t>
            </a:r>
            <a:r>
              <a:rPr dirty="0" sz="1200" spc="-15" i="1">
                <a:latin typeface="Arial"/>
                <a:cs typeface="Arial"/>
              </a:rPr>
              <a:t>money</a:t>
            </a:r>
            <a:r>
              <a:rPr dirty="0" sz="1200" spc="-15">
                <a:latin typeface="Arial"/>
                <a:cs typeface="Arial"/>
              </a:rPr>
              <a:t>.‖</a:t>
            </a:r>
            <a:endParaRPr sz="1200">
              <a:latin typeface="Arial"/>
              <a:cs typeface="Arial"/>
            </a:endParaRPr>
          </a:p>
          <a:p>
            <a:pPr algn="just" marL="12700" marR="10160">
              <a:lnSpc>
                <a:spcPct val="95400"/>
              </a:lnSpc>
              <a:spcBef>
                <a:spcPts val="1025"/>
              </a:spcBef>
            </a:pPr>
            <a:r>
              <a:rPr dirty="0" sz="1200">
                <a:latin typeface="Arial"/>
                <a:cs typeface="Arial"/>
              </a:rPr>
              <a:t>Despite </a:t>
            </a:r>
            <a:r>
              <a:rPr dirty="0" sz="1200" spc="-5">
                <a:latin typeface="Arial"/>
                <a:cs typeface="Arial"/>
              </a:rPr>
              <a:t>being regarded as one of the greatest contributors </a:t>
            </a:r>
            <a:r>
              <a:rPr dirty="0" sz="1200">
                <a:latin typeface="Arial"/>
                <a:cs typeface="Arial"/>
              </a:rPr>
              <a:t>to </a:t>
            </a:r>
            <a:r>
              <a:rPr dirty="0" sz="1200" spc="-5">
                <a:latin typeface="Arial"/>
                <a:cs typeface="Arial"/>
              </a:rPr>
              <a:t>Islamic jurisprudence, </a:t>
            </a:r>
            <a:r>
              <a:rPr dirty="0" sz="1200" spc="-10">
                <a:latin typeface="Arial"/>
                <a:cs typeface="Arial"/>
              </a:rPr>
              <a:t>Imam  </a:t>
            </a:r>
            <a:r>
              <a:rPr dirty="0" sz="1200" spc="-5">
                <a:latin typeface="Arial"/>
                <a:cs typeface="Arial"/>
              </a:rPr>
              <a:t>Shafi‘I openly acknowledges </a:t>
            </a:r>
            <a:r>
              <a:rPr dirty="0" sz="1200">
                <a:latin typeface="Arial"/>
                <a:cs typeface="Arial"/>
              </a:rPr>
              <a:t>the </a:t>
            </a:r>
            <a:r>
              <a:rPr dirty="0" sz="1200" spc="-5">
                <a:latin typeface="Arial"/>
                <a:cs typeface="Arial"/>
              </a:rPr>
              <a:t>stature of Imam </a:t>
            </a:r>
            <a:r>
              <a:rPr dirty="0" sz="1200">
                <a:latin typeface="Arial"/>
                <a:cs typeface="Arial"/>
              </a:rPr>
              <a:t>Abu </a:t>
            </a:r>
            <a:r>
              <a:rPr dirty="0" sz="1200" spc="-5">
                <a:latin typeface="Arial"/>
                <a:cs typeface="Arial"/>
              </a:rPr>
              <a:t>Hanifa. </a:t>
            </a:r>
            <a:r>
              <a:rPr dirty="0" sz="1200" spc="-120">
                <a:latin typeface="Arial"/>
                <a:cs typeface="Arial"/>
              </a:rPr>
              <a:t>―People </a:t>
            </a:r>
            <a:r>
              <a:rPr dirty="0" sz="1200">
                <a:latin typeface="Arial"/>
                <a:cs typeface="Arial"/>
              </a:rPr>
              <a:t>are </a:t>
            </a:r>
            <a:r>
              <a:rPr dirty="0" sz="1200" spc="-5">
                <a:latin typeface="Arial"/>
                <a:cs typeface="Arial"/>
              </a:rPr>
              <a:t>all </a:t>
            </a:r>
            <a:r>
              <a:rPr dirty="0" sz="1200">
                <a:latin typeface="Arial"/>
                <a:cs typeface="Arial"/>
              </a:rPr>
              <a:t>the </a:t>
            </a:r>
            <a:r>
              <a:rPr dirty="0" sz="1200" spc="-5">
                <a:latin typeface="Arial"/>
                <a:cs typeface="Arial"/>
              </a:rPr>
              <a:t>children of  Abu Hanifa </a:t>
            </a:r>
            <a:r>
              <a:rPr dirty="0" sz="1200" spc="-10">
                <a:latin typeface="Arial"/>
                <a:cs typeface="Arial"/>
              </a:rPr>
              <a:t>in</a:t>
            </a:r>
            <a:r>
              <a:rPr dirty="0" sz="1200" spc="20">
                <a:latin typeface="Arial"/>
                <a:cs typeface="Arial"/>
              </a:rPr>
              <a:t> </a:t>
            </a:r>
            <a:r>
              <a:rPr dirty="0" sz="1200" spc="-20" i="1">
                <a:latin typeface="Arial"/>
                <a:cs typeface="Arial"/>
              </a:rPr>
              <a:t>fiqh.</a:t>
            </a:r>
            <a:r>
              <a:rPr dirty="0" sz="1200" spc="-20">
                <a:latin typeface="Arial"/>
                <a:cs typeface="Arial"/>
              </a:rPr>
              <a:t>‖</a:t>
            </a:r>
            <a:endParaRPr sz="1200">
              <a:latin typeface="Arial"/>
              <a:cs typeface="Arial"/>
            </a:endParaRPr>
          </a:p>
          <a:p>
            <a:pPr>
              <a:lnSpc>
                <a:spcPct val="100000"/>
              </a:lnSpc>
              <a:spcBef>
                <a:spcPts val="40"/>
              </a:spcBef>
            </a:pPr>
            <a:endParaRPr sz="1550">
              <a:latin typeface="Arial"/>
              <a:cs typeface="Arial"/>
            </a:endParaRPr>
          </a:p>
          <a:p>
            <a:pPr marL="469900" indent="-229235">
              <a:lnSpc>
                <a:spcPct val="100000"/>
              </a:lnSpc>
              <a:buFont typeface="Wingdings"/>
              <a:buChar char=""/>
              <a:tabLst>
                <a:tab pos="470534" algn="l"/>
              </a:tabLst>
            </a:pPr>
            <a:r>
              <a:rPr dirty="0" u="heavy" sz="1200" spc="-5" b="1" i="1">
                <a:uFill>
                  <a:solidFill>
                    <a:srgbClr val="000000"/>
                  </a:solidFill>
                </a:uFill>
                <a:latin typeface="Arial"/>
                <a:cs typeface="Arial"/>
              </a:rPr>
              <a:t>Imam Malik</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(ra)</a:t>
            </a:r>
            <a:endParaRPr sz="1200">
              <a:latin typeface="Arial"/>
              <a:cs typeface="Arial"/>
            </a:endParaRPr>
          </a:p>
          <a:p>
            <a:pPr>
              <a:lnSpc>
                <a:spcPct val="100000"/>
              </a:lnSpc>
              <a:buFont typeface="Wingdings"/>
              <a:buChar char=""/>
            </a:pPr>
            <a:endParaRPr sz="1200">
              <a:latin typeface="Arial"/>
              <a:cs typeface="Arial"/>
            </a:endParaRPr>
          </a:p>
          <a:p>
            <a:pPr algn="just" marL="12700" marR="5080">
              <a:lnSpc>
                <a:spcPct val="95900"/>
              </a:lnSpc>
            </a:pPr>
            <a:r>
              <a:rPr dirty="0" sz="1200" spc="-5">
                <a:latin typeface="Arial"/>
                <a:cs typeface="Arial"/>
              </a:rPr>
              <a:t>He was </a:t>
            </a:r>
            <a:r>
              <a:rPr dirty="0" sz="1200">
                <a:latin typeface="Arial"/>
                <a:cs typeface="Arial"/>
              </a:rPr>
              <a:t>one of </a:t>
            </a:r>
            <a:r>
              <a:rPr dirty="0" sz="1200" spc="-5">
                <a:latin typeface="Arial"/>
                <a:cs typeface="Arial"/>
              </a:rPr>
              <a:t>the best Tab‘ut Tabi‘in. He was </a:t>
            </a:r>
            <a:r>
              <a:rPr dirty="0" sz="1200">
                <a:latin typeface="Arial"/>
                <a:cs typeface="Arial"/>
              </a:rPr>
              <a:t>born </a:t>
            </a:r>
            <a:r>
              <a:rPr dirty="0" sz="1200" spc="-5">
                <a:latin typeface="Arial"/>
                <a:cs typeface="Arial"/>
              </a:rPr>
              <a:t>in the year 93 AH and died in the year  179 </a:t>
            </a:r>
            <a:r>
              <a:rPr dirty="0" sz="1200">
                <a:latin typeface="Arial"/>
                <a:cs typeface="Arial"/>
              </a:rPr>
              <a:t>AH. </a:t>
            </a:r>
            <a:r>
              <a:rPr dirty="0" sz="1200" spc="-5">
                <a:latin typeface="Arial"/>
                <a:cs typeface="Arial"/>
              </a:rPr>
              <a:t>His name </a:t>
            </a:r>
            <a:r>
              <a:rPr dirty="0" sz="1200" spc="-10">
                <a:latin typeface="Arial"/>
                <a:cs typeface="Arial"/>
              </a:rPr>
              <a:t>was </a:t>
            </a:r>
            <a:r>
              <a:rPr dirty="0" sz="1200" spc="-5">
                <a:latin typeface="Arial"/>
                <a:cs typeface="Arial"/>
              </a:rPr>
              <a:t>Malik bin Anas bin Malik bin </a:t>
            </a:r>
            <a:r>
              <a:rPr dirty="0" sz="1200" spc="5">
                <a:latin typeface="Arial"/>
                <a:cs typeface="Arial"/>
              </a:rPr>
              <a:t>Amr. </a:t>
            </a:r>
            <a:r>
              <a:rPr dirty="0" sz="1200" spc="-5">
                <a:latin typeface="Arial"/>
                <a:cs typeface="Arial"/>
              </a:rPr>
              <a:t>He </a:t>
            </a:r>
            <a:r>
              <a:rPr dirty="0" sz="1200" spc="-10">
                <a:latin typeface="Arial"/>
                <a:cs typeface="Arial"/>
              </a:rPr>
              <a:t>was </a:t>
            </a:r>
            <a:r>
              <a:rPr dirty="0" sz="1200" spc="-5">
                <a:latin typeface="Arial"/>
                <a:cs typeface="Arial"/>
              </a:rPr>
              <a:t>an Arab scholar and born  in Madina. </a:t>
            </a:r>
            <a:r>
              <a:rPr dirty="0" sz="1200" spc="-10">
                <a:latin typeface="Arial"/>
                <a:cs typeface="Arial"/>
              </a:rPr>
              <a:t>He was </a:t>
            </a:r>
            <a:r>
              <a:rPr dirty="0" sz="1200" spc="-5">
                <a:latin typeface="Arial"/>
                <a:cs typeface="Arial"/>
              </a:rPr>
              <a:t>born when the </a:t>
            </a:r>
            <a:r>
              <a:rPr dirty="0" sz="1200">
                <a:latin typeface="Arial"/>
                <a:cs typeface="Arial"/>
              </a:rPr>
              <a:t>time </a:t>
            </a:r>
            <a:r>
              <a:rPr dirty="0" sz="1200" spc="-10">
                <a:latin typeface="Arial"/>
                <a:cs typeface="Arial"/>
              </a:rPr>
              <a:t>Ashab </a:t>
            </a:r>
            <a:r>
              <a:rPr dirty="0" sz="1200" spc="-5">
                <a:latin typeface="Arial"/>
                <a:cs typeface="Arial"/>
              </a:rPr>
              <a:t>of </a:t>
            </a:r>
            <a:r>
              <a:rPr dirty="0" sz="1200">
                <a:latin typeface="Arial"/>
                <a:cs typeface="Arial"/>
              </a:rPr>
              <a:t>the </a:t>
            </a:r>
            <a:r>
              <a:rPr dirty="0" sz="1200" spc="-5">
                <a:latin typeface="Arial"/>
                <a:cs typeface="Arial"/>
              </a:rPr>
              <a:t>Holy Prophet (s.a.w) had come </a:t>
            </a:r>
            <a:r>
              <a:rPr dirty="0" sz="1200">
                <a:latin typeface="Arial"/>
                <a:cs typeface="Arial"/>
              </a:rPr>
              <a:t>to </a:t>
            </a:r>
            <a:r>
              <a:rPr dirty="0" sz="1200" spc="-5">
                <a:latin typeface="Arial"/>
                <a:cs typeface="Arial"/>
              </a:rPr>
              <a:t>an  end and </a:t>
            </a:r>
            <a:r>
              <a:rPr dirty="0" sz="1200" spc="-10">
                <a:latin typeface="Arial"/>
                <a:cs typeface="Arial"/>
              </a:rPr>
              <a:t>he </a:t>
            </a:r>
            <a:r>
              <a:rPr dirty="0" sz="1200" spc="-5">
                <a:latin typeface="Arial"/>
                <a:cs typeface="Arial"/>
              </a:rPr>
              <a:t>witnessed </a:t>
            </a:r>
            <a:r>
              <a:rPr dirty="0" sz="1200">
                <a:latin typeface="Arial"/>
                <a:cs typeface="Arial"/>
              </a:rPr>
              <a:t>the </a:t>
            </a:r>
            <a:r>
              <a:rPr dirty="0" sz="1200" spc="-5">
                <a:latin typeface="Arial"/>
                <a:cs typeface="Arial"/>
              </a:rPr>
              <a:t>Period of the Tabi‘in, </a:t>
            </a:r>
            <a:r>
              <a:rPr dirty="0" sz="1200">
                <a:latin typeface="Arial"/>
                <a:cs typeface="Arial"/>
              </a:rPr>
              <a:t>the </a:t>
            </a:r>
            <a:r>
              <a:rPr dirty="0" sz="1200" spc="-10">
                <a:latin typeface="Arial"/>
                <a:cs typeface="Arial"/>
              </a:rPr>
              <a:t>Umayyad </a:t>
            </a:r>
            <a:r>
              <a:rPr dirty="0" sz="1200" spc="-5">
                <a:latin typeface="Arial"/>
                <a:cs typeface="Arial"/>
              </a:rPr>
              <a:t>Dynasty and </a:t>
            </a:r>
            <a:r>
              <a:rPr dirty="0" sz="1200">
                <a:latin typeface="Arial"/>
                <a:cs typeface="Arial"/>
              </a:rPr>
              <a:t>the </a:t>
            </a:r>
            <a:r>
              <a:rPr dirty="0" sz="1200" spc="-5">
                <a:latin typeface="Arial"/>
                <a:cs typeface="Arial"/>
              </a:rPr>
              <a:t>Caliph </a:t>
            </a:r>
            <a:r>
              <a:rPr dirty="0" sz="1200">
                <a:latin typeface="Arial"/>
                <a:cs typeface="Arial"/>
              </a:rPr>
              <a:t>Walid  </a:t>
            </a:r>
            <a:r>
              <a:rPr dirty="0" sz="1200" spc="-5">
                <a:latin typeface="Arial"/>
                <a:cs typeface="Arial"/>
              </a:rPr>
              <a:t>bin Abdul Malik. Among his </a:t>
            </a:r>
            <a:r>
              <a:rPr dirty="0" sz="1200">
                <a:latin typeface="Arial"/>
                <a:cs typeface="Arial"/>
              </a:rPr>
              <a:t>teachers </a:t>
            </a:r>
            <a:r>
              <a:rPr dirty="0" sz="1200" spc="-5">
                <a:latin typeface="Arial"/>
                <a:cs typeface="Arial"/>
              </a:rPr>
              <a:t>the names of </a:t>
            </a:r>
            <a:r>
              <a:rPr dirty="0" sz="1200" spc="5">
                <a:latin typeface="Arial"/>
                <a:cs typeface="Arial"/>
              </a:rPr>
              <a:t>his </a:t>
            </a:r>
            <a:r>
              <a:rPr dirty="0" sz="1200" spc="-5">
                <a:latin typeface="Arial"/>
                <a:cs typeface="Arial"/>
              </a:rPr>
              <a:t>uncle: Abu Suhail Nafi‘ (Hadith), </a:t>
            </a:r>
            <a:r>
              <a:rPr dirty="0" sz="1200" spc="-10">
                <a:latin typeface="Arial"/>
                <a:cs typeface="Arial"/>
              </a:rPr>
              <a:t>Abu  </a:t>
            </a:r>
            <a:r>
              <a:rPr dirty="0" sz="1200" spc="-5">
                <a:latin typeface="Arial"/>
                <a:cs typeface="Arial"/>
              </a:rPr>
              <a:t>Radim Nafi‘ bin Abdur Rahman </a:t>
            </a:r>
            <a:r>
              <a:rPr dirty="0" sz="1200">
                <a:latin typeface="Arial"/>
                <a:cs typeface="Arial"/>
              </a:rPr>
              <a:t>(Qur‘an), </a:t>
            </a:r>
            <a:r>
              <a:rPr dirty="0" sz="1200" spc="-5">
                <a:latin typeface="Arial"/>
                <a:cs typeface="Arial"/>
              </a:rPr>
              <a:t>Nafi‘ (Hadith), Ja‘far </a:t>
            </a:r>
            <a:r>
              <a:rPr dirty="0" sz="1200">
                <a:latin typeface="Arial"/>
                <a:cs typeface="Arial"/>
              </a:rPr>
              <a:t>As </a:t>
            </a:r>
            <a:r>
              <a:rPr dirty="0" sz="1200" spc="-5">
                <a:latin typeface="Arial"/>
                <a:cs typeface="Arial"/>
              </a:rPr>
              <a:t>Swadiq, Muhammad bin  </a:t>
            </a:r>
            <a:r>
              <a:rPr dirty="0" sz="1200" spc="-10">
                <a:latin typeface="Arial"/>
                <a:cs typeface="Arial"/>
              </a:rPr>
              <a:t>Yahya </a:t>
            </a:r>
            <a:r>
              <a:rPr dirty="0" sz="1200" spc="-5">
                <a:latin typeface="Arial"/>
                <a:cs typeface="Arial"/>
              </a:rPr>
              <a:t>al Ansari, Abu Hazim Salmah bin Dinar, Yahya bin Sa‘d </a:t>
            </a:r>
            <a:r>
              <a:rPr dirty="0" sz="1200" spc="-10">
                <a:latin typeface="Arial"/>
                <a:cs typeface="Arial"/>
              </a:rPr>
              <a:t>and </a:t>
            </a:r>
            <a:r>
              <a:rPr dirty="0" sz="1200" spc="-5">
                <a:latin typeface="Arial"/>
                <a:cs typeface="Arial"/>
              </a:rPr>
              <a:t>Hasham bin </a:t>
            </a:r>
            <a:r>
              <a:rPr dirty="0" sz="1200" spc="-75">
                <a:latin typeface="Arial"/>
                <a:cs typeface="Arial"/>
              </a:rPr>
              <a:t>‗Urwah </a:t>
            </a:r>
            <a:r>
              <a:rPr dirty="0" sz="1200" spc="-5">
                <a:latin typeface="Arial"/>
                <a:cs typeface="Arial"/>
              </a:rPr>
              <a:t>can  be mentioned. Among his students famous names like </a:t>
            </a:r>
            <a:r>
              <a:rPr dirty="0" sz="1200">
                <a:latin typeface="Arial"/>
                <a:cs typeface="Arial"/>
              </a:rPr>
              <a:t>Yahya </a:t>
            </a:r>
            <a:r>
              <a:rPr dirty="0" sz="1200" spc="-5">
                <a:latin typeface="Arial"/>
                <a:cs typeface="Arial"/>
              </a:rPr>
              <a:t>bin </a:t>
            </a:r>
            <a:r>
              <a:rPr dirty="0" sz="1200" spc="-10">
                <a:latin typeface="Arial"/>
                <a:cs typeface="Arial"/>
              </a:rPr>
              <a:t>Yahya </a:t>
            </a:r>
            <a:r>
              <a:rPr dirty="0" sz="1200" spc="-5">
                <a:latin typeface="Arial"/>
                <a:cs typeface="Arial"/>
              </a:rPr>
              <a:t>al Masmudi, </a:t>
            </a:r>
            <a:r>
              <a:rPr dirty="0" sz="1200" spc="-10">
                <a:latin typeface="Arial"/>
                <a:cs typeface="Arial"/>
              </a:rPr>
              <a:t>Ibn  </a:t>
            </a:r>
            <a:r>
              <a:rPr dirty="0" sz="1200">
                <a:latin typeface="Arial"/>
                <a:cs typeface="Arial"/>
              </a:rPr>
              <a:t>Wahb </a:t>
            </a:r>
            <a:r>
              <a:rPr dirty="0" sz="1200" spc="-5">
                <a:latin typeface="Arial"/>
                <a:cs typeface="Arial"/>
              </a:rPr>
              <a:t>Abu Muhammad Abdullah and Abi Abdallah Abdal Rahman bin </a:t>
            </a:r>
            <a:r>
              <a:rPr dirty="0" sz="1200">
                <a:latin typeface="Arial"/>
                <a:cs typeface="Arial"/>
              </a:rPr>
              <a:t>al </a:t>
            </a:r>
            <a:r>
              <a:rPr dirty="0" sz="1200" spc="-5">
                <a:latin typeface="Arial"/>
                <a:cs typeface="Arial"/>
              </a:rPr>
              <a:t>Qasim </a:t>
            </a:r>
            <a:r>
              <a:rPr dirty="0" sz="1200" spc="-10">
                <a:latin typeface="Arial"/>
                <a:cs typeface="Arial"/>
              </a:rPr>
              <a:t>can </a:t>
            </a:r>
            <a:r>
              <a:rPr dirty="0" sz="1200" spc="-5">
                <a:latin typeface="Arial"/>
                <a:cs typeface="Arial"/>
              </a:rPr>
              <a:t>be</a:t>
            </a:r>
            <a:r>
              <a:rPr dirty="0" sz="1200" spc="120">
                <a:latin typeface="Arial"/>
                <a:cs typeface="Arial"/>
              </a:rPr>
              <a:t> </a:t>
            </a:r>
            <a:r>
              <a:rPr dirty="0" sz="1200" spc="-5">
                <a:latin typeface="Arial"/>
                <a:cs typeface="Arial"/>
              </a:rPr>
              <a:t>cited.</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Views on</a:t>
            </a:r>
            <a:r>
              <a:rPr dirty="0" u="heavy" sz="1200" spc="-10" b="1" i="1">
                <a:uFill>
                  <a:solidFill>
                    <a:srgbClr val="000000"/>
                  </a:solidFill>
                </a:uFill>
                <a:latin typeface="Arial"/>
                <a:cs typeface="Arial"/>
              </a:rPr>
              <a:t> </a:t>
            </a:r>
            <a:r>
              <a:rPr dirty="0" u="heavy" sz="1200" spc="-40" b="1" i="1">
                <a:uFill>
                  <a:solidFill>
                    <a:srgbClr val="000000"/>
                  </a:solidFill>
                </a:uFill>
                <a:latin typeface="Arial"/>
                <a:cs typeface="Arial"/>
              </a:rPr>
              <a:t>Shari‟ah</a:t>
            </a:r>
            <a:endParaRPr sz="1200">
              <a:latin typeface="Arial"/>
              <a:cs typeface="Arial"/>
            </a:endParaRPr>
          </a:p>
          <a:p>
            <a:pPr>
              <a:lnSpc>
                <a:spcPct val="100000"/>
              </a:lnSpc>
              <a:spcBef>
                <a:spcPts val="55"/>
              </a:spcBef>
            </a:pPr>
            <a:endParaRPr sz="1100">
              <a:latin typeface="Arial"/>
              <a:cs typeface="Arial"/>
            </a:endParaRPr>
          </a:p>
          <a:p>
            <a:pPr lvl="1" marL="698500" indent="-229235">
              <a:lnSpc>
                <a:spcPts val="1410"/>
              </a:lnSpc>
              <a:buFont typeface="Wingdings"/>
              <a:buChar char=""/>
              <a:tabLst>
                <a:tab pos="699135" algn="l"/>
              </a:tabLst>
            </a:pPr>
            <a:r>
              <a:rPr dirty="0" sz="1200" spc="-5">
                <a:latin typeface="Arial"/>
                <a:cs typeface="Arial"/>
              </a:rPr>
              <a:t>Scrutinised all </a:t>
            </a:r>
            <a:r>
              <a:rPr dirty="0" sz="1200">
                <a:latin typeface="Arial"/>
                <a:cs typeface="Arial"/>
              </a:rPr>
              <a:t>kinds </a:t>
            </a:r>
            <a:r>
              <a:rPr dirty="0" sz="1200" spc="-5">
                <a:latin typeface="Arial"/>
                <a:cs typeface="Arial"/>
              </a:rPr>
              <a:t>of narrations, sermons of Holy Prophet (s.a.w), everything</a:t>
            </a:r>
            <a:r>
              <a:rPr dirty="0" sz="1200" spc="85">
                <a:latin typeface="Arial"/>
                <a:cs typeface="Arial"/>
              </a:rPr>
              <a:t> </a:t>
            </a:r>
            <a:r>
              <a:rPr dirty="0" sz="1200">
                <a:latin typeface="Arial"/>
                <a:cs typeface="Arial"/>
              </a:rPr>
              <a:t>...</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Compiled thousands of </a:t>
            </a:r>
            <a:r>
              <a:rPr dirty="0" sz="1200">
                <a:latin typeface="Arial"/>
                <a:cs typeface="Arial"/>
              </a:rPr>
              <a:t>Hadith </a:t>
            </a:r>
            <a:r>
              <a:rPr dirty="0" sz="1200" spc="-5">
                <a:latin typeface="Arial"/>
                <a:cs typeface="Arial"/>
              </a:rPr>
              <a:t>before </a:t>
            </a:r>
            <a:r>
              <a:rPr dirty="0" sz="1200">
                <a:latin typeface="Arial"/>
                <a:cs typeface="Arial"/>
              </a:rPr>
              <a:t>his </a:t>
            </a:r>
            <a:r>
              <a:rPr dirty="0" sz="1200" spc="-5">
                <a:latin typeface="Arial"/>
                <a:cs typeface="Arial"/>
              </a:rPr>
              <a:t>Al</a:t>
            </a:r>
            <a:r>
              <a:rPr dirty="0" sz="1200" spc="-15">
                <a:latin typeface="Arial"/>
                <a:cs typeface="Arial"/>
              </a:rPr>
              <a:t> </a:t>
            </a:r>
            <a:r>
              <a:rPr dirty="0" sz="1200" spc="-5">
                <a:latin typeface="Arial"/>
                <a:cs typeface="Arial"/>
              </a:rPr>
              <a:t>Muwatta</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Legal theories based on</a:t>
            </a:r>
            <a:r>
              <a:rPr dirty="0" sz="1200">
                <a:latin typeface="Arial"/>
                <a:cs typeface="Arial"/>
              </a:rPr>
              <a:t> </a:t>
            </a:r>
            <a:r>
              <a:rPr dirty="0" sz="1200" spc="-5">
                <a:latin typeface="Arial"/>
                <a:cs typeface="Arial"/>
              </a:rPr>
              <a:t>Hadith</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Fearlessly gave </a:t>
            </a:r>
            <a:r>
              <a:rPr dirty="0" sz="1200">
                <a:latin typeface="Arial"/>
                <a:cs typeface="Arial"/>
              </a:rPr>
              <a:t>his</a:t>
            </a:r>
            <a:r>
              <a:rPr dirty="0" sz="1200" spc="-10">
                <a:latin typeface="Arial"/>
                <a:cs typeface="Arial"/>
              </a:rPr>
              <a:t> </a:t>
            </a:r>
            <a:r>
              <a:rPr dirty="0" sz="1200" spc="-5">
                <a:latin typeface="Arial"/>
                <a:cs typeface="Arial"/>
              </a:rPr>
              <a:t>Fatwa</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No Fatwa from a distance</a:t>
            </a:r>
            <a:r>
              <a:rPr dirty="0" sz="1200" spc="10">
                <a:latin typeface="Arial"/>
                <a:cs typeface="Arial"/>
              </a:rPr>
              <a:t> </a:t>
            </a:r>
            <a:r>
              <a:rPr dirty="0" sz="1200" spc="-5">
                <a:latin typeface="Arial"/>
                <a:cs typeface="Arial"/>
              </a:rPr>
              <a:t>place</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No narration from the great scholars of</a:t>
            </a:r>
            <a:r>
              <a:rPr dirty="0" sz="1200" spc="15">
                <a:latin typeface="Arial"/>
                <a:cs typeface="Arial"/>
              </a:rPr>
              <a:t> </a:t>
            </a:r>
            <a:r>
              <a:rPr dirty="0" sz="1200">
                <a:latin typeface="Arial"/>
                <a:cs typeface="Arial"/>
              </a:rPr>
              <a:t>Iraq</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Codification of Madinan</a:t>
            </a:r>
            <a:r>
              <a:rPr dirty="0" sz="1200" spc="5">
                <a:latin typeface="Arial"/>
                <a:cs typeface="Arial"/>
              </a:rPr>
              <a:t> </a:t>
            </a:r>
            <a:r>
              <a:rPr dirty="0" sz="1200" spc="-5">
                <a:latin typeface="Arial"/>
                <a:cs typeface="Arial"/>
              </a:rPr>
              <a:t>Fiqh</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Madinan Fiqh based on the pious</a:t>
            </a:r>
            <a:r>
              <a:rPr dirty="0" sz="1200">
                <a:latin typeface="Arial"/>
                <a:cs typeface="Arial"/>
              </a:rPr>
              <a:t> </a:t>
            </a:r>
            <a:r>
              <a:rPr dirty="0" sz="1200" spc="-5">
                <a:latin typeface="Arial"/>
                <a:cs typeface="Arial"/>
              </a:rPr>
              <a:t>Tabi‘in</a:t>
            </a:r>
            <a:endParaRPr sz="1200">
              <a:latin typeface="Arial"/>
              <a:cs typeface="Arial"/>
            </a:endParaRPr>
          </a:p>
          <a:p>
            <a:pPr lvl="1" marL="698500" marR="11430" indent="-228600">
              <a:lnSpc>
                <a:spcPts val="1380"/>
              </a:lnSpc>
              <a:spcBef>
                <a:spcPts val="65"/>
              </a:spcBef>
              <a:buFont typeface="Wingdings"/>
              <a:buChar char=""/>
              <a:tabLst>
                <a:tab pos="699135" algn="l"/>
              </a:tabLst>
            </a:pPr>
            <a:r>
              <a:rPr dirty="0" sz="1200" spc="-5">
                <a:latin typeface="Arial"/>
                <a:cs typeface="Arial"/>
              </a:rPr>
              <a:t>Anything </a:t>
            </a:r>
            <a:r>
              <a:rPr dirty="0" sz="1200">
                <a:latin typeface="Arial"/>
                <a:cs typeface="Arial"/>
              </a:rPr>
              <a:t>taken </a:t>
            </a:r>
            <a:r>
              <a:rPr dirty="0" sz="1200" spc="-5">
                <a:latin typeface="Arial"/>
                <a:cs typeface="Arial"/>
              </a:rPr>
              <a:t>as reported would be: considered, then interpreted, </a:t>
            </a:r>
            <a:r>
              <a:rPr dirty="0" sz="1200">
                <a:latin typeface="Arial"/>
                <a:cs typeface="Arial"/>
              </a:rPr>
              <a:t>then </a:t>
            </a:r>
            <a:r>
              <a:rPr dirty="0" sz="1200" spc="-5">
                <a:latin typeface="Arial"/>
                <a:cs typeface="Arial"/>
              </a:rPr>
              <a:t>accepted  or rejected, or otherwise </a:t>
            </a:r>
            <a:r>
              <a:rPr dirty="0" sz="1200">
                <a:latin typeface="Arial"/>
                <a:cs typeface="Arial"/>
              </a:rPr>
              <a:t>use </a:t>
            </a:r>
            <a:r>
              <a:rPr dirty="0" sz="1200" spc="-5">
                <a:latin typeface="Arial"/>
                <a:cs typeface="Arial"/>
              </a:rPr>
              <a:t>reasoning and legal </a:t>
            </a:r>
            <a:r>
              <a:rPr dirty="0" sz="1200">
                <a:latin typeface="Arial"/>
                <a:cs typeface="Arial"/>
              </a:rPr>
              <a:t>tradition </a:t>
            </a:r>
            <a:r>
              <a:rPr dirty="0" sz="1200" spc="-5">
                <a:latin typeface="Arial"/>
                <a:cs typeface="Arial"/>
              </a:rPr>
              <a:t>of</a:t>
            </a:r>
            <a:r>
              <a:rPr dirty="0" sz="1200" spc="25">
                <a:latin typeface="Arial"/>
                <a:cs typeface="Arial"/>
              </a:rPr>
              <a:t> </a:t>
            </a:r>
            <a:r>
              <a:rPr dirty="0" sz="1200" spc="-5">
                <a:latin typeface="Arial"/>
                <a:cs typeface="Arial"/>
              </a:rPr>
              <a:t>Madina</a:t>
            </a:r>
            <a:endParaRPr sz="1200">
              <a:latin typeface="Arial"/>
              <a:cs typeface="Arial"/>
            </a:endParaRPr>
          </a:p>
          <a:p>
            <a:pPr lvl="1" marL="698500" indent="-229235">
              <a:lnSpc>
                <a:spcPts val="1315"/>
              </a:lnSpc>
              <a:buFont typeface="Wingdings"/>
              <a:buChar char=""/>
              <a:tabLst>
                <a:tab pos="699135" algn="l"/>
              </a:tabLst>
            </a:pPr>
            <a:r>
              <a:rPr dirty="0" sz="1200" spc="-5">
                <a:latin typeface="Arial"/>
                <a:cs typeface="Arial"/>
              </a:rPr>
              <a:t>Local Consensus of</a:t>
            </a:r>
            <a:r>
              <a:rPr dirty="0" sz="1200" spc="5">
                <a:latin typeface="Arial"/>
                <a:cs typeface="Arial"/>
              </a:rPr>
              <a:t> </a:t>
            </a:r>
            <a:r>
              <a:rPr dirty="0" sz="1200" spc="-5">
                <a:latin typeface="Arial"/>
                <a:cs typeface="Arial"/>
              </a:rPr>
              <a:t>Opinion</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Wanted </a:t>
            </a:r>
            <a:r>
              <a:rPr dirty="0" sz="1200">
                <a:latin typeface="Arial"/>
                <a:cs typeface="Arial"/>
              </a:rPr>
              <a:t>to </a:t>
            </a:r>
            <a:r>
              <a:rPr dirty="0" sz="1200" spc="-5">
                <a:latin typeface="Arial"/>
                <a:cs typeface="Arial"/>
              </a:rPr>
              <a:t>revive </a:t>
            </a:r>
            <a:r>
              <a:rPr dirty="0" sz="1200">
                <a:latin typeface="Arial"/>
                <a:cs typeface="Arial"/>
              </a:rPr>
              <a:t>the </a:t>
            </a:r>
            <a:r>
              <a:rPr dirty="0" sz="1200" spc="-5">
                <a:latin typeface="Arial"/>
                <a:cs typeface="Arial"/>
              </a:rPr>
              <a:t>Sunnah of Holy Prophet</a:t>
            </a:r>
            <a:r>
              <a:rPr dirty="0" sz="1200" spc="5">
                <a:latin typeface="Arial"/>
                <a:cs typeface="Arial"/>
              </a:rPr>
              <a:t> </a:t>
            </a:r>
            <a:r>
              <a:rPr dirty="0" sz="1200" spc="-5">
                <a:latin typeface="Arial"/>
                <a:cs typeface="Arial"/>
              </a:rPr>
              <a:t>(s.a.w)</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Spent his life in collecting</a:t>
            </a:r>
            <a:r>
              <a:rPr dirty="0" sz="1200">
                <a:latin typeface="Arial"/>
                <a:cs typeface="Arial"/>
              </a:rPr>
              <a:t> </a:t>
            </a:r>
            <a:r>
              <a:rPr dirty="0" sz="1200" spc="-5">
                <a:latin typeface="Arial"/>
                <a:cs typeface="Arial"/>
              </a:rPr>
              <a:t>Ahadith</a:t>
            </a:r>
            <a:endParaRPr sz="1200">
              <a:latin typeface="Arial"/>
              <a:cs typeface="Arial"/>
            </a:endParaRPr>
          </a:p>
          <a:p>
            <a:pPr lvl="1" marL="698500" indent="-229235">
              <a:lnSpc>
                <a:spcPts val="1380"/>
              </a:lnSpc>
              <a:buFont typeface="Wingdings"/>
              <a:buChar char=""/>
              <a:tabLst>
                <a:tab pos="699135" algn="l"/>
              </a:tabLst>
            </a:pPr>
            <a:r>
              <a:rPr dirty="0" sz="1200">
                <a:latin typeface="Arial"/>
                <a:cs typeface="Arial"/>
              </a:rPr>
              <a:t>Choose </a:t>
            </a:r>
            <a:r>
              <a:rPr dirty="0" sz="1200" spc="-5">
                <a:latin typeface="Arial"/>
                <a:cs typeface="Arial"/>
              </a:rPr>
              <a:t>authentic ones </a:t>
            </a:r>
            <a:r>
              <a:rPr dirty="0" sz="1200">
                <a:latin typeface="Arial"/>
                <a:cs typeface="Arial"/>
              </a:rPr>
              <a:t>to </a:t>
            </a:r>
            <a:r>
              <a:rPr dirty="0" sz="1200" spc="-5">
                <a:latin typeface="Arial"/>
                <a:cs typeface="Arial"/>
              </a:rPr>
              <a:t>include in </a:t>
            </a:r>
            <a:r>
              <a:rPr dirty="0" sz="1200">
                <a:latin typeface="Arial"/>
                <a:cs typeface="Arial"/>
              </a:rPr>
              <a:t>his </a:t>
            </a:r>
            <a:r>
              <a:rPr dirty="0" sz="1200" spc="-5">
                <a:latin typeface="Arial"/>
                <a:cs typeface="Arial"/>
              </a:rPr>
              <a:t>Al</a:t>
            </a:r>
            <a:r>
              <a:rPr dirty="0" sz="1200" spc="-15">
                <a:latin typeface="Arial"/>
                <a:cs typeface="Arial"/>
              </a:rPr>
              <a:t> </a:t>
            </a:r>
            <a:r>
              <a:rPr dirty="0" sz="1200" spc="-5">
                <a:latin typeface="Arial"/>
                <a:cs typeface="Arial"/>
              </a:rPr>
              <a:t>Muwatta</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Qur‘an and Hadith of Holy Prophet (s.a.w) and</a:t>
            </a:r>
            <a:r>
              <a:rPr dirty="0" sz="1200" spc="45">
                <a:latin typeface="Arial"/>
                <a:cs typeface="Arial"/>
              </a:rPr>
              <a:t> </a:t>
            </a:r>
            <a:r>
              <a:rPr dirty="0" sz="1200" spc="-5">
                <a:latin typeface="Arial"/>
                <a:cs typeface="Arial"/>
              </a:rPr>
              <a:t>Ashab</a:t>
            </a:r>
            <a:endParaRPr sz="1200">
              <a:latin typeface="Arial"/>
              <a:cs typeface="Arial"/>
            </a:endParaRPr>
          </a:p>
          <a:p>
            <a:pPr lvl="1" marL="698500" indent="-229235">
              <a:lnSpc>
                <a:spcPts val="1380"/>
              </a:lnSpc>
              <a:buFont typeface="Wingdings"/>
              <a:buChar char=""/>
              <a:tabLst>
                <a:tab pos="699135" algn="l"/>
              </a:tabLst>
            </a:pPr>
            <a:r>
              <a:rPr dirty="0" sz="1200">
                <a:latin typeface="Arial"/>
                <a:cs typeface="Arial"/>
              </a:rPr>
              <a:t>Ijma‘ </a:t>
            </a:r>
            <a:r>
              <a:rPr dirty="0" sz="1200" spc="-5">
                <a:latin typeface="Arial"/>
                <a:cs typeface="Arial"/>
              </a:rPr>
              <a:t>of Madina only</a:t>
            </a:r>
            <a:endParaRPr sz="1200">
              <a:latin typeface="Arial"/>
              <a:cs typeface="Arial"/>
            </a:endParaRPr>
          </a:p>
          <a:p>
            <a:pPr lvl="1" marL="698500" indent="-229235">
              <a:lnSpc>
                <a:spcPts val="1410"/>
              </a:lnSpc>
              <a:buFont typeface="Wingdings"/>
              <a:buChar char=""/>
              <a:tabLst>
                <a:tab pos="699135" algn="l"/>
              </a:tabLst>
            </a:pPr>
            <a:r>
              <a:rPr dirty="0" sz="1200" spc="-5">
                <a:latin typeface="Arial"/>
                <a:cs typeface="Arial"/>
              </a:rPr>
              <a:t>Qiyas</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113</a:t>
            </a:r>
            <a:endParaRPr sz="1200">
              <a:latin typeface="Times New Roman"/>
              <a:cs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2535" cy="932053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pPr>
            <a:endParaRPr sz="1300">
              <a:latin typeface="Times New Roman"/>
              <a:cs typeface="Times New Roman"/>
            </a:endParaRPr>
          </a:p>
          <a:p>
            <a:pPr algn="just" marL="12700" marR="5715">
              <a:lnSpc>
                <a:spcPct val="95900"/>
              </a:lnSpc>
              <a:spcBef>
                <a:spcPts val="5"/>
              </a:spcBef>
            </a:pPr>
            <a:r>
              <a:rPr dirty="0" sz="1200" spc="-5" i="1">
                <a:latin typeface="Arial"/>
                <a:cs typeface="Arial"/>
              </a:rPr>
              <a:t>Al Muwatta </a:t>
            </a:r>
            <a:r>
              <a:rPr dirty="0" sz="1200" spc="-165">
                <a:latin typeface="Arial"/>
                <a:cs typeface="Arial"/>
              </a:rPr>
              <a:t>(―the </a:t>
            </a:r>
            <a:r>
              <a:rPr dirty="0" sz="1200" spc="-15">
                <a:latin typeface="Arial"/>
                <a:cs typeface="Arial"/>
              </a:rPr>
              <a:t>Approved‖) </a:t>
            </a:r>
            <a:r>
              <a:rPr dirty="0" sz="1200" spc="-5">
                <a:latin typeface="Arial"/>
                <a:cs typeface="Arial"/>
              </a:rPr>
              <a:t>is his </a:t>
            </a:r>
            <a:r>
              <a:rPr dirty="0" sz="1200">
                <a:latin typeface="Arial"/>
                <a:cs typeface="Arial"/>
              </a:rPr>
              <a:t>seminal </a:t>
            </a:r>
            <a:r>
              <a:rPr dirty="0" sz="1200" spc="-5">
                <a:latin typeface="Arial"/>
                <a:cs typeface="Arial"/>
              </a:rPr>
              <a:t>work </a:t>
            </a:r>
            <a:r>
              <a:rPr dirty="0" sz="1200">
                <a:latin typeface="Arial"/>
                <a:cs typeface="Arial"/>
              </a:rPr>
              <a:t>that </a:t>
            </a:r>
            <a:r>
              <a:rPr dirty="0" sz="1200" spc="-5">
                <a:latin typeface="Arial"/>
                <a:cs typeface="Arial"/>
              </a:rPr>
              <a:t>contains the </a:t>
            </a:r>
            <a:r>
              <a:rPr dirty="0" sz="1200">
                <a:latin typeface="Arial"/>
                <a:cs typeface="Arial"/>
              </a:rPr>
              <a:t>most </a:t>
            </a:r>
            <a:r>
              <a:rPr dirty="0" sz="1200" spc="-5">
                <a:latin typeface="Arial"/>
                <a:cs typeface="Arial"/>
              </a:rPr>
              <a:t>authentic and sound  ahadith and sayings of </a:t>
            </a:r>
            <a:r>
              <a:rPr dirty="0" sz="1200">
                <a:latin typeface="Arial"/>
                <a:cs typeface="Arial"/>
              </a:rPr>
              <a:t>the </a:t>
            </a:r>
            <a:r>
              <a:rPr dirty="0" sz="1200" spc="-5">
                <a:latin typeface="Arial"/>
                <a:cs typeface="Arial"/>
              </a:rPr>
              <a:t>companions of Prophet Muhammad (pbuh). </a:t>
            </a:r>
            <a:r>
              <a:rPr dirty="0" sz="1200">
                <a:latin typeface="Arial"/>
                <a:cs typeface="Arial"/>
              </a:rPr>
              <a:t>Imam </a:t>
            </a:r>
            <a:r>
              <a:rPr dirty="0" sz="1200" spc="-5">
                <a:latin typeface="Arial"/>
                <a:cs typeface="Arial"/>
              </a:rPr>
              <a:t>Shafi‘I  </a:t>
            </a:r>
            <a:r>
              <a:rPr dirty="0" sz="1200">
                <a:latin typeface="Arial"/>
                <a:cs typeface="Arial"/>
              </a:rPr>
              <a:t>considers </a:t>
            </a:r>
            <a:r>
              <a:rPr dirty="0" sz="1200" spc="-5">
                <a:latin typeface="Arial"/>
                <a:cs typeface="Arial"/>
              </a:rPr>
              <a:t>it </a:t>
            </a:r>
            <a:r>
              <a:rPr dirty="0" sz="1200">
                <a:latin typeface="Arial"/>
                <a:cs typeface="Arial"/>
              </a:rPr>
              <a:t>the most </a:t>
            </a:r>
            <a:r>
              <a:rPr dirty="0" sz="1200" spc="-5">
                <a:latin typeface="Arial"/>
                <a:cs typeface="Arial"/>
              </a:rPr>
              <a:t>correct </a:t>
            </a:r>
            <a:r>
              <a:rPr dirty="0" sz="1200">
                <a:latin typeface="Arial"/>
                <a:cs typeface="Arial"/>
              </a:rPr>
              <a:t>and </a:t>
            </a:r>
            <a:r>
              <a:rPr dirty="0" sz="1200" spc="-5">
                <a:latin typeface="Arial"/>
                <a:cs typeface="Arial"/>
              </a:rPr>
              <a:t>the </a:t>
            </a:r>
            <a:r>
              <a:rPr dirty="0" sz="1200">
                <a:latin typeface="Arial"/>
                <a:cs typeface="Arial"/>
              </a:rPr>
              <a:t>most </a:t>
            </a:r>
            <a:r>
              <a:rPr dirty="0" sz="1200" spc="-5">
                <a:latin typeface="Arial"/>
                <a:cs typeface="Arial"/>
              </a:rPr>
              <a:t>beneficial </a:t>
            </a:r>
            <a:r>
              <a:rPr dirty="0" sz="1200">
                <a:latin typeface="Arial"/>
                <a:cs typeface="Arial"/>
              </a:rPr>
              <a:t>book </a:t>
            </a:r>
            <a:r>
              <a:rPr dirty="0" sz="1200" spc="-5">
                <a:latin typeface="Arial"/>
                <a:cs typeface="Arial"/>
              </a:rPr>
              <a:t>on </a:t>
            </a:r>
            <a:r>
              <a:rPr dirty="0" sz="1200">
                <a:latin typeface="Arial"/>
                <a:cs typeface="Arial"/>
              </a:rPr>
              <a:t>earth after </a:t>
            </a:r>
            <a:r>
              <a:rPr dirty="0" sz="1200" spc="-5">
                <a:latin typeface="Arial"/>
                <a:cs typeface="Arial"/>
              </a:rPr>
              <a:t>Qur‘an. According </a:t>
            </a:r>
            <a:r>
              <a:rPr dirty="0" sz="1200">
                <a:latin typeface="Arial"/>
                <a:cs typeface="Arial"/>
              </a:rPr>
              <a:t>to  </a:t>
            </a:r>
            <a:r>
              <a:rPr dirty="0" sz="1200" spc="-5">
                <a:latin typeface="Arial"/>
                <a:cs typeface="Arial"/>
              </a:rPr>
              <a:t>Imam Malik, he had seventy jurists </a:t>
            </a:r>
            <a:r>
              <a:rPr dirty="0" sz="1200">
                <a:latin typeface="Arial"/>
                <a:cs typeface="Arial"/>
              </a:rPr>
              <a:t>of Madinah </a:t>
            </a:r>
            <a:r>
              <a:rPr dirty="0" sz="1200" spc="-5">
                <a:latin typeface="Arial"/>
                <a:cs typeface="Arial"/>
              </a:rPr>
              <a:t>examine </a:t>
            </a:r>
            <a:r>
              <a:rPr dirty="0" sz="1200" spc="-5" i="1">
                <a:latin typeface="Arial"/>
                <a:cs typeface="Arial"/>
              </a:rPr>
              <a:t>Muwatta </a:t>
            </a:r>
            <a:r>
              <a:rPr dirty="0" sz="1200" spc="-5">
                <a:latin typeface="Arial"/>
                <a:cs typeface="Arial"/>
              </a:rPr>
              <a:t>and each one of them  approved it. He was extremely </a:t>
            </a:r>
            <a:r>
              <a:rPr dirty="0" sz="1200">
                <a:latin typeface="Arial"/>
                <a:cs typeface="Arial"/>
              </a:rPr>
              <a:t>careful </a:t>
            </a:r>
            <a:r>
              <a:rPr dirty="0" sz="1200" spc="-5">
                <a:latin typeface="Arial"/>
                <a:cs typeface="Arial"/>
              </a:rPr>
              <a:t>in narrating hadith and said, </a:t>
            </a:r>
            <a:r>
              <a:rPr dirty="0" sz="1200" spc="-380">
                <a:latin typeface="Arial"/>
                <a:cs typeface="Arial"/>
              </a:rPr>
              <a:t>―</a:t>
            </a:r>
            <a:r>
              <a:rPr dirty="0" sz="1200" spc="-380" i="1">
                <a:latin typeface="Arial"/>
                <a:cs typeface="Arial"/>
              </a:rPr>
              <a:t>I</a:t>
            </a:r>
            <a:r>
              <a:rPr dirty="0" sz="1200" spc="405" i="1">
                <a:latin typeface="Arial"/>
                <a:cs typeface="Arial"/>
              </a:rPr>
              <a:t> </a:t>
            </a:r>
            <a:r>
              <a:rPr dirty="0" sz="1200" spc="-5" i="1">
                <a:latin typeface="Arial"/>
                <a:cs typeface="Arial"/>
              </a:rPr>
              <a:t>do not accept  </a:t>
            </a:r>
            <a:r>
              <a:rPr dirty="0" sz="1200" spc="-5" i="1">
                <a:latin typeface="Arial"/>
                <a:cs typeface="Arial"/>
              </a:rPr>
              <a:t>knowledge </a:t>
            </a:r>
            <a:r>
              <a:rPr dirty="0" sz="1200" i="1">
                <a:latin typeface="Arial"/>
                <a:cs typeface="Arial"/>
              </a:rPr>
              <a:t>from four </a:t>
            </a:r>
            <a:r>
              <a:rPr dirty="0" sz="1200" spc="-5" i="1">
                <a:latin typeface="Arial"/>
                <a:cs typeface="Arial"/>
              </a:rPr>
              <a:t>types of people: a </a:t>
            </a:r>
            <a:r>
              <a:rPr dirty="0" sz="1200" spc="-10" i="1">
                <a:latin typeface="Arial"/>
                <a:cs typeface="Arial"/>
              </a:rPr>
              <a:t>person </a:t>
            </a:r>
            <a:r>
              <a:rPr dirty="0" sz="1200" i="1">
                <a:latin typeface="Arial"/>
                <a:cs typeface="Arial"/>
              </a:rPr>
              <a:t>well-known </a:t>
            </a:r>
            <a:r>
              <a:rPr dirty="0" sz="1200" spc="-5" i="1">
                <a:latin typeface="Arial"/>
                <a:cs typeface="Arial"/>
              </a:rPr>
              <a:t>to </a:t>
            </a:r>
            <a:r>
              <a:rPr dirty="0" sz="1200" spc="-10" i="1">
                <a:latin typeface="Arial"/>
                <a:cs typeface="Arial"/>
              </a:rPr>
              <a:t>be </a:t>
            </a:r>
            <a:r>
              <a:rPr dirty="0" sz="1200" spc="-5" i="1">
                <a:latin typeface="Arial"/>
                <a:cs typeface="Arial"/>
              </a:rPr>
              <a:t>foolish, even though all </a:t>
            </a:r>
            <a:r>
              <a:rPr dirty="0" sz="1200" i="1">
                <a:latin typeface="Arial"/>
                <a:cs typeface="Arial"/>
              </a:rPr>
              <a:t>the  other </a:t>
            </a:r>
            <a:r>
              <a:rPr dirty="0" sz="1200" spc="-5" i="1">
                <a:latin typeface="Arial"/>
                <a:cs typeface="Arial"/>
              </a:rPr>
              <a:t>people narrate from him, a person involved in committing heresy and calling others  </a:t>
            </a:r>
            <a:r>
              <a:rPr dirty="0" sz="1200" i="1">
                <a:latin typeface="Arial"/>
                <a:cs typeface="Arial"/>
              </a:rPr>
              <a:t>towards </a:t>
            </a:r>
            <a:r>
              <a:rPr dirty="0" sz="1200" spc="-5" i="1">
                <a:latin typeface="Arial"/>
                <a:cs typeface="Arial"/>
              </a:rPr>
              <a:t>innovation in </a:t>
            </a:r>
            <a:r>
              <a:rPr dirty="0" sz="1200" i="1">
                <a:latin typeface="Arial"/>
                <a:cs typeface="Arial"/>
              </a:rPr>
              <a:t>Deen, </a:t>
            </a:r>
            <a:r>
              <a:rPr dirty="0" sz="1200" spc="-5" i="1">
                <a:latin typeface="Arial"/>
                <a:cs typeface="Arial"/>
              </a:rPr>
              <a:t>a person who lies in regular conversation </a:t>
            </a:r>
            <a:r>
              <a:rPr dirty="0" sz="1200" i="1">
                <a:latin typeface="Arial"/>
                <a:cs typeface="Arial"/>
              </a:rPr>
              <a:t>with </a:t>
            </a:r>
            <a:r>
              <a:rPr dirty="0" sz="1200" spc="-5" i="1">
                <a:latin typeface="Arial"/>
                <a:cs typeface="Arial"/>
              </a:rPr>
              <a:t>people, </a:t>
            </a:r>
            <a:r>
              <a:rPr dirty="0" sz="1200" spc="-10" i="1">
                <a:latin typeface="Arial"/>
                <a:cs typeface="Arial"/>
              </a:rPr>
              <a:t>even  </a:t>
            </a:r>
            <a:r>
              <a:rPr dirty="0" sz="1200" spc="-5" i="1">
                <a:latin typeface="Arial"/>
                <a:cs typeface="Arial"/>
              </a:rPr>
              <a:t>though </a:t>
            </a:r>
            <a:r>
              <a:rPr dirty="0" sz="1200" i="1">
                <a:latin typeface="Arial"/>
                <a:cs typeface="Arial"/>
              </a:rPr>
              <a:t>I </a:t>
            </a:r>
            <a:r>
              <a:rPr dirty="0" sz="1200" spc="-10" i="1">
                <a:latin typeface="Arial"/>
                <a:cs typeface="Arial"/>
              </a:rPr>
              <a:t>do </a:t>
            </a:r>
            <a:r>
              <a:rPr dirty="0" sz="1200" spc="-5" i="1">
                <a:latin typeface="Arial"/>
                <a:cs typeface="Arial"/>
              </a:rPr>
              <a:t>not </a:t>
            </a:r>
            <a:r>
              <a:rPr dirty="0" sz="1200" spc="-10" i="1">
                <a:latin typeface="Arial"/>
                <a:cs typeface="Arial"/>
              </a:rPr>
              <a:t>accuse </a:t>
            </a:r>
            <a:r>
              <a:rPr dirty="0" sz="1200" spc="-5" i="1">
                <a:latin typeface="Arial"/>
                <a:cs typeface="Arial"/>
              </a:rPr>
              <a:t>him as liar in regards to Hadith, a person who is pious worshipper or  scholar, but does not </a:t>
            </a:r>
            <a:r>
              <a:rPr dirty="0" sz="1200" i="1">
                <a:latin typeface="Arial"/>
                <a:cs typeface="Arial"/>
              </a:rPr>
              <a:t>properly </a:t>
            </a:r>
            <a:r>
              <a:rPr dirty="0" sz="1200" spc="-5" i="1">
                <a:latin typeface="Arial"/>
                <a:cs typeface="Arial"/>
              </a:rPr>
              <a:t>and correctly memorize </a:t>
            </a:r>
            <a:r>
              <a:rPr dirty="0" sz="1200" i="1">
                <a:latin typeface="Arial"/>
                <a:cs typeface="Arial"/>
              </a:rPr>
              <a:t>what </a:t>
            </a:r>
            <a:r>
              <a:rPr dirty="0" sz="1200" spc="-5" i="1">
                <a:latin typeface="Arial"/>
                <a:cs typeface="Arial"/>
              </a:rPr>
              <a:t>he </a:t>
            </a:r>
            <a:r>
              <a:rPr dirty="0" sz="1200" spc="-10" i="1">
                <a:latin typeface="Arial"/>
                <a:cs typeface="Arial"/>
              </a:rPr>
              <a:t>narrates</a:t>
            </a:r>
            <a:r>
              <a:rPr dirty="0" sz="1200" spc="-10">
                <a:latin typeface="Arial"/>
                <a:cs typeface="Arial"/>
              </a:rPr>
              <a:t>.‖ </a:t>
            </a:r>
            <a:r>
              <a:rPr dirty="0" sz="1200" spc="-5">
                <a:latin typeface="Arial"/>
                <a:cs typeface="Arial"/>
              </a:rPr>
              <a:t>His chain of  narration (from Malik </a:t>
            </a:r>
            <a:r>
              <a:rPr dirty="0" sz="1200">
                <a:latin typeface="Arial"/>
                <a:cs typeface="Arial"/>
              </a:rPr>
              <a:t>from </a:t>
            </a:r>
            <a:r>
              <a:rPr dirty="0" sz="1200" spc="-5">
                <a:latin typeface="Arial"/>
                <a:cs typeface="Arial"/>
              </a:rPr>
              <a:t>Nafi‘ from Ibn Umar) was called </a:t>
            </a:r>
            <a:r>
              <a:rPr dirty="0" sz="1200" spc="-204">
                <a:latin typeface="Arial"/>
                <a:cs typeface="Arial"/>
              </a:rPr>
              <a:t>―the </a:t>
            </a:r>
            <a:r>
              <a:rPr dirty="0" sz="1200" spc="-5">
                <a:latin typeface="Arial"/>
                <a:cs typeface="Arial"/>
              </a:rPr>
              <a:t>golden chain of </a:t>
            </a:r>
            <a:r>
              <a:rPr dirty="0" sz="1200" spc="-15">
                <a:latin typeface="Arial"/>
                <a:cs typeface="Arial"/>
              </a:rPr>
              <a:t>narrators‖ </a:t>
            </a:r>
            <a:r>
              <a:rPr dirty="0" sz="1200">
                <a:latin typeface="Arial"/>
                <a:cs typeface="Arial"/>
              </a:rPr>
              <a:t>by  </a:t>
            </a:r>
            <a:r>
              <a:rPr dirty="0" sz="1200" spc="-5">
                <a:latin typeface="Arial"/>
                <a:cs typeface="Arial"/>
              </a:rPr>
              <a:t>Imam Bukhari. He </a:t>
            </a:r>
            <a:r>
              <a:rPr dirty="0" sz="1200" spc="-10">
                <a:latin typeface="Arial"/>
                <a:cs typeface="Arial"/>
              </a:rPr>
              <a:t>was </a:t>
            </a:r>
            <a:r>
              <a:rPr dirty="0" sz="1200" spc="-5">
                <a:latin typeface="Arial"/>
                <a:cs typeface="Arial"/>
              </a:rPr>
              <a:t>regarded in </a:t>
            </a:r>
            <a:r>
              <a:rPr dirty="0" sz="1200">
                <a:latin typeface="Arial"/>
                <a:cs typeface="Arial"/>
              </a:rPr>
              <a:t>the </a:t>
            </a:r>
            <a:r>
              <a:rPr dirty="0" sz="1200" spc="-5">
                <a:latin typeface="Arial"/>
                <a:cs typeface="Arial"/>
              </a:rPr>
              <a:t>highest esteem </a:t>
            </a:r>
            <a:r>
              <a:rPr dirty="0" sz="1200">
                <a:latin typeface="Arial"/>
                <a:cs typeface="Arial"/>
              </a:rPr>
              <a:t>by </a:t>
            </a:r>
            <a:r>
              <a:rPr dirty="0" sz="1200" spc="-5">
                <a:latin typeface="Arial"/>
                <a:cs typeface="Arial"/>
              </a:rPr>
              <a:t>other three of </a:t>
            </a:r>
            <a:r>
              <a:rPr dirty="0" sz="1200">
                <a:latin typeface="Arial"/>
                <a:cs typeface="Arial"/>
              </a:rPr>
              <a:t>the </a:t>
            </a:r>
            <a:r>
              <a:rPr dirty="0" sz="1200" spc="-5">
                <a:latin typeface="Arial"/>
                <a:cs typeface="Arial"/>
              </a:rPr>
              <a:t>great</a:t>
            </a:r>
            <a:r>
              <a:rPr dirty="0" sz="1200" spc="90">
                <a:latin typeface="Arial"/>
                <a:cs typeface="Arial"/>
              </a:rPr>
              <a:t> </a:t>
            </a:r>
            <a:r>
              <a:rPr dirty="0" sz="1200" spc="-5">
                <a:latin typeface="Arial"/>
                <a:cs typeface="Arial"/>
              </a:rPr>
              <a:t>imams.</a:t>
            </a:r>
            <a:endParaRPr sz="1200">
              <a:latin typeface="Arial"/>
              <a:cs typeface="Arial"/>
            </a:endParaRPr>
          </a:p>
          <a:p>
            <a:pPr algn="just" marL="12700" marR="11430">
              <a:lnSpc>
                <a:spcPts val="1380"/>
              </a:lnSpc>
              <a:spcBef>
                <a:spcPts val="1030"/>
              </a:spcBef>
            </a:pPr>
            <a:r>
              <a:rPr dirty="0" sz="1200" spc="-5">
                <a:latin typeface="Arial"/>
                <a:cs typeface="Arial"/>
              </a:rPr>
              <a:t>Imam Shafi‘I says, </a:t>
            </a:r>
            <a:r>
              <a:rPr dirty="0" sz="1200" spc="-275">
                <a:latin typeface="Arial"/>
                <a:cs typeface="Arial"/>
              </a:rPr>
              <a:t>―If </a:t>
            </a:r>
            <a:r>
              <a:rPr dirty="0" sz="1200" spc="-5">
                <a:latin typeface="Arial"/>
                <a:cs typeface="Arial"/>
              </a:rPr>
              <a:t>Malik </a:t>
            </a:r>
            <a:r>
              <a:rPr dirty="0" sz="1200">
                <a:latin typeface="Arial"/>
                <a:cs typeface="Arial"/>
              </a:rPr>
              <a:t>and </a:t>
            </a:r>
            <a:r>
              <a:rPr dirty="0" sz="1200" spc="-5">
                <a:latin typeface="Arial"/>
                <a:cs typeface="Arial"/>
              </a:rPr>
              <a:t>Ibn Uyainah where not here, </a:t>
            </a:r>
            <a:r>
              <a:rPr dirty="0" sz="1200">
                <a:latin typeface="Arial"/>
                <a:cs typeface="Arial"/>
              </a:rPr>
              <a:t>the </a:t>
            </a:r>
            <a:r>
              <a:rPr dirty="0" sz="1200" spc="-5">
                <a:latin typeface="Arial"/>
                <a:cs typeface="Arial"/>
              </a:rPr>
              <a:t>knowledge of Hijaaz would  </a:t>
            </a:r>
            <a:r>
              <a:rPr dirty="0" sz="1200">
                <a:latin typeface="Arial"/>
                <a:cs typeface="Arial"/>
              </a:rPr>
              <a:t>be</a:t>
            </a:r>
            <a:r>
              <a:rPr dirty="0" sz="1200" spc="-5">
                <a:latin typeface="Arial"/>
                <a:cs typeface="Arial"/>
              </a:rPr>
              <a:t> </a:t>
            </a:r>
            <a:r>
              <a:rPr dirty="0" sz="1200" spc="-20">
                <a:latin typeface="Arial"/>
                <a:cs typeface="Arial"/>
              </a:rPr>
              <a:t>gone.‖</a:t>
            </a:r>
            <a:endParaRPr sz="1200">
              <a:latin typeface="Arial"/>
              <a:cs typeface="Arial"/>
            </a:endParaRPr>
          </a:p>
          <a:p>
            <a:pPr algn="just" marL="12700" marR="13335">
              <a:lnSpc>
                <a:spcPts val="1370"/>
              </a:lnSpc>
              <a:spcBef>
                <a:spcPts val="1019"/>
              </a:spcBef>
            </a:pPr>
            <a:r>
              <a:rPr dirty="0" sz="1200" spc="-5">
                <a:latin typeface="Arial"/>
                <a:cs typeface="Arial"/>
              </a:rPr>
              <a:t>Imam Ahmed bin Hanbal </a:t>
            </a:r>
            <a:r>
              <a:rPr dirty="0" sz="1200">
                <a:latin typeface="Arial"/>
                <a:cs typeface="Arial"/>
              </a:rPr>
              <a:t>praised </a:t>
            </a:r>
            <a:r>
              <a:rPr dirty="0" sz="1200" spc="-5">
                <a:latin typeface="Arial"/>
                <a:cs typeface="Arial"/>
              </a:rPr>
              <a:t>him, </a:t>
            </a:r>
            <a:r>
              <a:rPr dirty="0" sz="1200" spc="-405">
                <a:latin typeface="Arial"/>
                <a:cs typeface="Arial"/>
              </a:rPr>
              <a:t>―I</a:t>
            </a:r>
            <a:r>
              <a:rPr dirty="0" sz="1200" spc="60">
                <a:latin typeface="Arial"/>
                <a:cs typeface="Arial"/>
              </a:rPr>
              <a:t> </a:t>
            </a:r>
            <a:r>
              <a:rPr dirty="0" sz="1200" spc="-5">
                <a:latin typeface="Arial"/>
                <a:cs typeface="Arial"/>
              </a:rPr>
              <a:t>compared Imam Malik </a:t>
            </a:r>
            <a:r>
              <a:rPr dirty="0" sz="1200">
                <a:latin typeface="Arial"/>
                <a:cs typeface="Arial"/>
              </a:rPr>
              <a:t>to </a:t>
            </a:r>
            <a:r>
              <a:rPr dirty="0" sz="1200" spc="-5">
                <a:latin typeface="Arial"/>
                <a:cs typeface="Arial"/>
              </a:rPr>
              <a:t>Awzaa‘eey, Thawri, Laith,  Hammaad, and al-Hakam in knowledge, and </a:t>
            </a:r>
            <a:r>
              <a:rPr dirty="0" sz="1200">
                <a:latin typeface="Arial"/>
                <a:cs typeface="Arial"/>
              </a:rPr>
              <a:t>he </a:t>
            </a:r>
            <a:r>
              <a:rPr dirty="0" sz="1200" spc="-5">
                <a:latin typeface="Arial"/>
                <a:cs typeface="Arial"/>
              </a:rPr>
              <a:t>is the leader </a:t>
            </a:r>
            <a:r>
              <a:rPr dirty="0" sz="1200" spc="-10">
                <a:latin typeface="Arial"/>
                <a:cs typeface="Arial"/>
              </a:rPr>
              <a:t>in </a:t>
            </a:r>
            <a:r>
              <a:rPr dirty="0" sz="1200" spc="-5">
                <a:latin typeface="Arial"/>
                <a:cs typeface="Arial"/>
              </a:rPr>
              <a:t>Hadith and</a:t>
            </a:r>
            <a:r>
              <a:rPr dirty="0" sz="1200" spc="55">
                <a:latin typeface="Arial"/>
                <a:cs typeface="Arial"/>
              </a:rPr>
              <a:t> </a:t>
            </a:r>
            <a:r>
              <a:rPr dirty="0" sz="1200" spc="-20">
                <a:latin typeface="Arial"/>
                <a:cs typeface="Arial"/>
              </a:rPr>
              <a:t>Fiqh.‖</a:t>
            </a:r>
            <a:endParaRPr sz="1200">
              <a:latin typeface="Arial"/>
              <a:cs typeface="Arial"/>
            </a:endParaRPr>
          </a:p>
          <a:p>
            <a:pPr algn="just" marL="12700" marR="14604">
              <a:lnSpc>
                <a:spcPts val="1380"/>
              </a:lnSpc>
              <a:spcBef>
                <a:spcPts val="1005"/>
              </a:spcBef>
            </a:pPr>
            <a:r>
              <a:rPr dirty="0" sz="1200" spc="-5">
                <a:latin typeface="Arial"/>
                <a:cs typeface="Arial"/>
              </a:rPr>
              <a:t>Imam Abu Hanifah </a:t>
            </a:r>
            <a:r>
              <a:rPr dirty="0" sz="1200" spc="-10">
                <a:latin typeface="Arial"/>
                <a:cs typeface="Arial"/>
              </a:rPr>
              <a:t>said </a:t>
            </a:r>
            <a:r>
              <a:rPr dirty="0" sz="1200" spc="-5">
                <a:latin typeface="Arial"/>
                <a:cs typeface="Arial"/>
              </a:rPr>
              <a:t>while acknowledging his qualities, </a:t>
            </a:r>
            <a:r>
              <a:rPr dirty="0" sz="1200" spc="-405">
                <a:latin typeface="Arial"/>
                <a:cs typeface="Arial"/>
              </a:rPr>
              <a:t>―I</a:t>
            </a:r>
            <a:r>
              <a:rPr dirty="0" sz="1200" spc="80">
                <a:latin typeface="Arial"/>
                <a:cs typeface="Arial"/>
              </a:rPr>
              <a:t> </a:t>
            </a:r>
            <a:r>
              <a:rPr dirty="0" sz="1200" spc="-5">
                <a:latin typeface="Arial"/>
                <a:cs typeface="Arial"/>
              </a:rPr>
              <a:t>have never </a:t>
            </a:r>
            <a:r>
              <a:rPr dirty="0" sz="1200">
                <a:latin typeface="Arial"/>
                <a:cs typeface="Arial"/>
              </a:rPr>
              <a:t>seen </a:t>
            </a:r>
            <a:r>
              <a:rPr dirty="0" sz="1200" spc="-5">
                <a:latin typeface="Arial"/>
                <a:cs typeface="Arial"/>
              </a:rPr>
              <a:t>anyone more  </a:t>
            </a:r>
            <a:r>
              <a:rPr dirty="0" sz="1200">
                <a:latin typeface="Arial"/>
                <a:cs typeface="Arial"/>
              </a:rPr>
              <a:t>fast </a:t>
            </a:r>
            <a:r>
              <a:rPr dirty="0" sz="1200" spc="-5">
                <a:latin typeface="Arial"/>
                <a:cs typeface="Arial"/>
              </a:rPr>
              <a:t>understanding, correct answering, and </a:t>
            </a:r>
            <a:r>
              <a:rPr dirty="0" sz="1200">
                <a:latin typeface="Arial"/>
                <a:cs typeface="Arial"/>
              </a:rPr>
              <a:t>test-taking </a:t>
            </a:r>
            <a:r>
              <a:rPr dirty="0" sz="1200" spc="-5">
                <a:latin typeface="Arial"/>
                <a:cs typeface="Arial"/>
              </a:rPr>
              <a:t>than Imam</a:t>
            </a:r>
            <a:r>
              <a:rPr dirty="0" sz="1200" spc="20">
                <a:latin typeface="Arial"/>
                <a:cs typeface="Arial"/>
              </a:rPr>
              <a:t> </a:t>
            </a:r>
            <a:r>
              <a:rPr dirty="0" sz="1200" spc="-20">
                <a:latin typeface="Arial"/>
                <a:cs typeface="Arial"/>
              </a:rPr>
              <a:t>Malik.‖</a:t>
            </a:r>
            <a:endParaRPr sz="1200">
              <a:latin typeface="Arial"/>
              <a:cs typeface="Arial"/>
            </a:endParaRPr>
          </a:p>
          <a:p>
            <a:pPr>
              <a:lnSpc>
                <a:spcPct val="100000"/>
              </a:lnSpc>
              <a:spcBef>
                <a:spcPts val="50"/>
              </a:spcBef>
            </a:pPr>
            <a:endParaRPr sz="1500">
              <a:latin typeface="Arial"/>
              <a:cs typeface="Arial"/>
            </a:endParaRPr>
          </a:p>
          <a:p>
            <a:pPr marL="469900" indent="-229235">
              <a:lnSpc>
                <a:spcPct val="100000"/>
              </a:lnSpc>
              <a:spcBef>
                <a:spcPts val="5"/>
              </a:spcBef>
              <a:buFont typeface="Wingdings"/>
              <a:buChar char=""/>
              <a:tabLst>
                <a:tab pos="470534" algn="l"/>
              </a:tabLst>
            </a:pPr>
            <a:r>
              <a:rPr dirty="0" u="heavy" sz="1200" spc="-5" b="1" i="1">
                <a:uFill>
                  <a:solidFill>
                    <a:srgbClr val="000000"/>
                  </a:solidFill>
                </a:uFill>
                <a:latin typeface="Arial"/>
                <a:cs typeface="Arial"/>
              </a:rPr>
              <a:t>Imam</a:t>
            </a:r>
            <a:r>
              <a:rPr dirty="0" u="heavy" sz="1200" b="1" i="1">
                <a:uFill>
                  <a:solidFill>
                    <a:srgbClr val="000000"/>
                  </a:solidFill>
                </a:uFill>
                <a:latin typeface="Arial"/>
                <a:cs typeface="Arial"/>
              </a:rPr>
              <a:t> </a:t>
            </a:r>
            <a:r>
              <a:rPr dirty="0" u="heavy" sz="1200" spc="-45" b="1" i="1">
                <a:uFill>
                  <a:solidFill>
                    <a:srgbClr val="000000"/>
                  </a:solidFill>
                </a:uFill>
                <a:latin typeface="Arial"/>
                <a:cs typeface="Arial"/>
              </a:rPr>
              <a:t>Shafi‟I</a:t>
            </a:r>
            <a:endParaRPr sz="1200">
              <a:latin typeface="Arial"/>
              <a:cs typeface="Arial"/>
            </a:endParaRPr>
          </a:p>
          <a:p>
            <a:pPr>
              <a:lnSpc>
                <a:spcPct val="100000"/>
              </a:lnSpc>
              <a:spcBef>
                <a:spcPts val="55"/>
              </a:spcBef>
              <a:buFont typeface="Wingdings"/>
              <a:buChar char=""/>
            </a:pPr>
            <a:endParaRPr sz="1150">
              <a:latin typeface="Arial"/>
              <a:cs typeface="Arial"/>
            </a:endParaRPr>
          </a:p>
          <a:p>
            <a:pPr algn="just" marL="12700" marR="5715">
              <a:lnSpc>
                <a:spcPct val="95900"/>
              </a:lnSpc>
            </a:pPr>
            <a:r>
              <a:rPr dirty="0" sz="1200" spc="-5">
                <a:latin typeface="Arial"/>
                <a:cs typeface="Arial"/>
              </a:rPr>
              <a:t>He </a:t>
            </a:r>
            <a:r>
              <a:rPr dirty="0" sz="1200" spc="-10">
                <a:latin typeface="Arial"/>
                <a:cs typeface="Arial"/>
              </a:rPr>
              <a:t>was </a:t>
            </a:r>
            <a:r>
              <a:rPr dirty="0" sz="1200">
                <a:latin typeface="Arial"/>
                <a:cs typeface="Arial"/>
              </a:rPr>
              <a:t>the </a:t>
            </a:r>
            <a:r>
              <a:rPr dirty="0" sz="1200" spc="-5">
                <a:latin typeface="Arial"/>
                <a:cs typeface="Arial"/>
              </a:rPr>
              <a:t>third school </a:t>
            </a:r>
            <a:r>
              <a:rPr dirty="0" sz="1200">
                <a:latin typeface="Arial"/>
                <a:cs typeface="Arial"/>
              </a:rPr>
              <a:t>of </a:t>
            </a:r>
            <a:r>
              <a:rPr dirty="0" sz="1200" spc="-5">
                <a:latin typeface="Arial"/>
                <a:cs typeface="Arial"/>
              </a:rPr>
              <a:t>thought. He </a:t>
            </a:r>
            <a:r>
              <a:rPr dirty="0" sz="1200">
                <a:latin typeface="Arial"/>
                <a:cs typeface="Arial"/>
              </a:rPr>
              <a:t>took </a:t>
            </a:r>
            <a:r>
              <a:rPr dirty="0" sz="1200" spc="-5">
                <a:latin typeface="Arial"/>
                <a:cs typeface="Arial"/>
              </a:rPr>
              <a:t>birth in </a:t>
            </a:r>
            <a:r>
              <a:rPr dirty="0" sz="1200">
                <a:latin typeface="Arial"/>
                <a:cs typeface="Arial"/>
              </a:rPr>
              <a:t>the </a:t>
            </a:r>
            <a:r>
              <a:rPr dirty="0" sz="1200" spc="-5">
                <a:latin typeface="Arial"/>
                <a:cs typeface="Arial"/>
              </a:rPr>
              <a:t>year </a:t>
            </a:r>
            <a:r>
              <a:rPr dirty="0" sz="1200" spc="15">
                <a:latin typeface="Arial"/>
                <a:cs typeface="Arial"/>
              </a:rPr>
              <a:t>150 </a:t>
            </a:r>
            <a:r>
              <a:rPr dirty="0" sz="1200" spc="-10">
                <a:latin typeface="Arial"/>
                <a:cs typeface="Arial"/>
              </a:rPr>
              <a:t>AH </a:t>
            </a:r>
            <a:r>
              <a:rPr dirty="0" sz="1200" spc="-5">
                <a:latin typeface="Arial"/>
                <a:cs typeface="Arial"/>
              </a:rPr>
              <a:t>and died in </a:t>
            </a:r>
            <a:r>
              <a:rPr dirty="0" sz="1200">
                <a:latin typeface="Arial"/>
                <a:cs typeface="Arial"/>
              </a:rPr>
              <a:t>the </a:t>
            </a:r>
            <a:r>
              <a:rPr dirty="0" sz="1200" spc="-5">
                <a:latin typeface="Arial"/>
                <a:cs typeface="Arial"/>
              </a:rPr>
              <a:t>year 204  AH. His </a:t>
            </a:r>
            <a:r>
              <a:rPr dirty="0" sz="1200">
                <a:latin typeface="Arial"/>
                <a:cs typeface="Arial"/>
              </a:rPr>
              <a:t>name </a:t>
            </a:r>
            <a:r>
              <a:rPr dirty="0" sz="1200" spc="-10">
                <a:latin typeface="Arial"/>
                <a:cs typeface="Arial"/>
              </a:rPr>
              <a:t>was </a:t>
            </a:r>
            <a:r>
              <a:rPr dirty="0" sz="1200" spc="-5">
                <a:latin typeface="Arial"/>
                <a:cs typeface="Arial"/>
              </a:rPr>
              <a:t>Muhammad Idris Al Shafi‘I. He </a:t>
            </a:r>
            <a:r>
              <a:rPr dirty="0" sz="1200" spc="-10">
                <a:latin typeface="Arial"/>
                <a:cs typeface="Arial"/>
              </a:rPr>
              <a:t>was </a:t>
            </a:r>
            <a:r>
              <a:rPr dirty="0" sz="1200">
                <a:latin typeface="Arial"/>
                <a:cs typeface="Arial"/>
              </a:rPr>
              <a:t>an </a:t>
            </a:r>
            <a:r>
              <a:rPr dirty="0" sz="1200" spc="-5">
                <a:latin typeface="Arial"/>
                <a:cs typeface="Arial"/>
              </a:rPr>
              <a:t>Arab </a:t>
            </a:r>
            <a:r>
              <a:rPr dirty="0" sz="1200">
                <a:latin typeface="Arial"/>
                <a:cs typeface="Arial"/>
              </a:rPr>
              <a:t>scholar </a:t>
            </a:r>
            <a:r>
              <a:rPr dirty="0" sz="1200" spc="-5">
                <a:latin typeface="Arial"/>
                <a:cs typeface="Arial"/>
              </a:rPr>
              <a:t>and </a:t>
            </a:r>
            <a:r>
              <a:rPr dirty="0" sz="1200">
                <a:latin typeface="Arial"/>
                <a:cs typeface="Arial"/>
              </a:rPr>
              <a:t>born </a:t>
            </a:r>
            <a:r>
              <a:rPr dirty="0" sz="1200" spc="-5">
                <a:latin typeface="Arial"/>
                <a:cs typeface="Arial"/>
              </a:rPr>
              <a:t>in Gaza. He  </a:t>
            </a:r>
            <a:r>
              <a:rPr dirty="0" sz="1200" spc="-10">
                <a:latin typeface="Arial"/>
                <a:cs typeface="Arial"/>
              </a:rPr>
              <a:t>was </a:t>
            </a:r>
            <a:r>
              <a:rPr dirty="0" sz="1200">
                <a:latin typeface="Arial"/>
                <a:cs typeface="Arial"/>
              </a:rPr>
              <a:t>from the </a:t>
            </a:r>
            <a:r>
              <a:rPr dirty="0" sz="1200" spc="-5">
                <a:latin typeface="Arial"/>
                <a:cs typeface="Arial"/>
              </a:rPr>
              <a:t>Quraishite </a:t>
            </a:r>
            <a:r>
              <a:rPr dirty="0" sz="1200">
                <a:latin typeface="Arial"/>
                <a:cs typeface="Arial"/>
              </a:rPr>
              <a:t>Family </a:t>
            </a:r>
            <a:r>
              <a:rPr dirty="0" sz="1200" spc="-5">
                <a:latin typeface="Arial"/>
                <a:cs typeface="Arial"/>
              </a:rPr>
              <a:t>and witnessing </a:t>
            </a:r>
            <a:r>
              <a:rPr dirty="0" sz="1200">
                <a:latin typeface="Arial"/>
                <a:cs typeface="Arial"/>
              </a:rPr>
              <a:t>the period </a:t>
            </a:r>
            <a:r>
              <a:rPr dirty="0" sz="1200" spc="-5">
                <a:latin typeface="Arial"/>
                <a:cs typeface="Arial"/>
              </a:rPr>
              <a:t>of Tabi‘in and the Abbasid  Dynasty. He </a:t>
            </a:r>
            <a:r>
              <a:rPr dirty="0" sz="1200" spc="-10">
                <a:latin typeface="Arial"/>
                <a:cs typeface="Arial"/>
              </a:rPr>
              <a:t>was </a:t>
            </a:r>
            <a:r>
              <a:rPr dirty="0" sz="1200" spc="-5">
                <a:latin typeface="Arial"/>
                <a:cs typeface="Arial"/>
              </a:rPr>
              <a:t>known as </a:t>
            </a:r>
            <a:r>
              <a:rPr dirty="0" sz="1200">
                <a:latin typeface="Arial"/>
                <a:cs typeface="Arial"/>
              </a:rPr>
              <a:t>the Father </a:t>
            </a:r>
            <a:r>
              <a:rPr dirty="0" sz="1200" spc="-5">
                <a:latin typeface="Arial"/>
                <a:cs typeface="Arial"/>
              </a:rPr>
              <a:t>of Jurisprudence. He learned through </a:t>
            </a:r>
            <a:r>
              <a:rPr dirty="0" sz="1200">
                <a:latin typeface="Arial"/>
                <a:cs typeface="Arial"/>
              </a:rPr>
              <a:t>famous </a:t>
            </a:r>
            <a:r>
              <a:rPr dirty="0" sz="1200" spc="-5">
                <a:latin typeface="Arial"/>
                <a:cs typeface="Arial"/>
              </a:rPr>
              <a:t>Tabi‘in  and the names of Muslim bin Khalid al Zanji </a:t>
            </a:r>
            <a:r>
              <a:rPr dirty="0" sz="1200">
                <a:latin typeface="Arial"/>
                <a:cs typeface="Arial"/>
              </a:rPr>
              <a:t>(Fiqh), Imam </a:t>
            </a:r>
            <a:r>
              <a:rPr dirty="0" sz="1200" spc="-5">
                <a:latin typeface="Arial"/>
                <a:cs typeface="Arial"/>
              </a:rPr>
              <a:t>bin </a:t>
            </a:r>
            <a:r>
              <a:rPr dirty="0" sz="1200">
                <a:latin typeface="Arial"/>
                <a:cs typeface="Arial"/>
              </a:rPr>
              <a:t>Anas, </a:t>
            </a:r>
            <a:r>
              <a:rPr dirty="0" sz="1200" spc="-5">
                <a:latin typeface="Arial"/>
                <a:cs typeface="Arial"/>
              </a:rPr>
              <a:t>Imam Malik, Imam  Shaybani and various Imam and Mufti of Hanafi and Maliki schools can be cited. His famous  students are Imam Ahmad bin </a:t>
            </a:r>
            <a:r>
              <a:rPr dirty="0" sz="1200">
                <a:latin typeface="Arial"/>
                <a:cs typeface="Arial"/>
              </a:rPr>
              <a:t>Hanbal, </a:t>
            </a:r>
            <a:r>
              <a:rPr dirty="0" sz="1200" spc="-5">
                <a:latin typeface="Arial"/>
                <a:cs typeface="Arial"/>
              </a:rPr>
              <a:t>Rabi bin Sulaiman al Marali and Abu Yakub </a:t>
            </a:r>
            <a:r>
              <a:rPr dirty="0" sz="1200" spc="-10">
                <a:latin typeface="Arial"/>
                <a:cs typeface="Arial"/>
              </a:rPr>
              <a:t>al  </a:t>
            </a:r>
            <a:r>
              <a:rPr dirty="0" sz="1200" spc="-5">
                <a:latin typeface="Arial"/>
                <a:cs typeface="Arial"/>
              </a:rPr>
              <a:t>Ruwayti.</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Views on</a:t>
            </a:r>
            <a:r>
              <a:rPr dirty="0" u="heavy" sz="1200" spc="-10" b="1" i="1">
                <a:uFill>
                  <a:solidFill>
                    <a:srgbClr val="000000"/>
                  </a:solidFill>
                </a:uFill>
                <a:latin typeface="Arial"/>
                <a:cs typeface="Arial"/>
              </a:rPr>
              <a:t> </a:t>
            </a:r>
            <a:r>
              <a:rPr dirty="0" u="heavy" sz="1200" spc="-40" b="1" i="1">
                <a:uFill>
                  <a:solidFill>
                    <a:srgbClr val="000000"/>
                  </a:solidFill>
                </a:uFill>
                <a:latin typeface="Arial"/>
                <a:cs typeface="Arial"/>
              </a:rPr>
              <a:t>Shari‟ah</a:t>
            </a:r>
            <a:endParaRPr sz="1200">
              <a:latin typeface="Arial"/>
              <a:cs typeface="Arial"/>
            </a:endParaRPr>
          </a:p>
          <a:p>
            <a:pPr>
              <a:lnSpc>
                <a:spcPct val="100000"/>
              </a:lnSpc>
              <a:spcBef>
                <a:spcPts val="55"/>
              </a:spcBef>
            </a:pPr>
            <a:endParaRPr sz="1100">
              <a:latin typeface="Arial"/>
              <a:cs typeface="Arial"/>
            </a:endParaRPr>
          </a:p>
          <a:p>
            <a:pPr lvl="1" marL="698500" indent="-229235">
              <a:lnSpc>
                <a:spcPts val="1410"/>
              </a:lnSpc>
              <a:buFont typeface="Wingdings"/>
              <a:buChar char=""/>
              <a:tabLst>
                <a:tab pos="699135" algn="l"/>
              </a:tabLst>
            </a:pPr>
            <a:r>
              <a:rPr dirty="0" sz="1200" spc="-5">
                <a:latin typeface="Arial"/>
                <a:cs typeface="Arial"/>
              </a:rPr>
              <a:t>Studied both the Hanafi </a:t>
            </a:r>
            <a:r>
              <a:rPr dirty="0" sz="1200">
                <a:latin typeface="Arial"/>
                <a:cs typeface="Arial"/>
              </a:rPr>
              <a:t>and </a:t>
            </a:r>
            <a:r>
              <a:rPr dirty="0" sz="1200" spc="-5">
                <a:latin typeface="Arial"/>
                <a:cs typeface="Arial"/>
              </a:rPr>
              <a:t>Maliki</a:t>
            </a:r>
            <a:r>
              <a:rPr dirty="0" sz="1200">
                <a:latin typeface="Arial"/>
                <a:cs typeface="Arial"/>
              </a:rPr>
              <a:t> </a:t>
            </a:r>
            <a:r>
              <a:rPr dirty="0" sz="1200" spc="-5">
                <a:latin typeface="Arial"/>
                <a:cs typeface="Arial"/>
              </a:rPr>
              <a:t>Thought</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Derived </a:t>
            </a:r>
            <a:r>
              <a:rPr dirty="0" sz="1200">
                <a:latin typeface="Arial"/>
                <a:cs typeface="Arial"/>
              </a:rPr>
              <a:t>his </a:t>
            </a:r>
            <a:r>
              <a:rPr dirty="0" sz="1200" spc="-5">
                <a:latin typeface="Arial"/>
                <a:cs typeface="Arial"/>
              </a:rPr>
              <a:t>thought in between</a:t>
            </a:r>
            <a:r>
              <a:rPr dirty="0" sz="1200" spc="-10">
                <a:latin typeface="Arial"/>
                <a:cs typeface="Arial"/>
              </a:rPr>
              <a:t> </a:t>
            </a:r>
            <a:r>
              <a:rPr dirty="0" sz="1200" spc="-5">
                <a:latin typeface="Arial"/>
                <a:cs typeface="Arial"/>
              </a:rPr>
              <a:t>them</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Experience through </a:t>
            </a:r>
            <a:r>
              <a:rPr dirty="0" sz="1200">
                <a:latin typeface="Arial"/>
                <a:cs typeface="Arial"/>
              </a:rPr>
              <a:t>his </a:t>
            </a:r>
            <a:r>
              <a:rPr dirty="0" sz="1200" spc="-5">
                <a:latin typeface="Arial"/>
                <a:cs typeface="Arial"/>
              </a:rPr>
              <a:t>intense</a:t>
            </a:r>
            <a:r>
              <a:rPr dirty="0" sz="1200" spc="-10">
                <a:latin typeface="Arial"/>
                <a:cs typeface="Arial"/>
              </a:rPr>
              <a:t> </a:t>
            </a:r>
            <a:r>
              <a:rPr dirty="0" sz="1200" spc="-5">
                <a:latin typeface="Arial"/>
                <a:cs typeface="Arial"/>
              </a:rPr>
              <a:t>debates</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Views </a:t>
            </a:r>
            <a:r>
              <a:rPr dirty="0" sz="1200">
                <a:latin typeface="Arial"/>
                <a:cs typeface="Arial"/>
              </a:rPr>
              <a:t>from </a:t>
            </a:r>
            <a:r>
              <a:rPr dirty="0" sz="1200" spc="-5">
                <a:latin typeface="Arial"/>
                <a:cs typeface="Arial"/>
              </a:rPr>
              <a:t>Imam</a:t>
            </a:r>
            <a:r>
              <a:rPr dirty="0" sz="1200" spc="5">
                <a:latin typeface="Arial"/>
                <a:cs typeface="Arial"/>
              </a:rPr>
              <a:t> </a:t>
            </a:r>
            <a:r>
              <a:rPr dirty="0" sz="1200" spc="-5">
                <a:latin typeface="Arial"/>
                <a:cs typeface="Arial"/>
              </a:rPr>
              <a:t>Shaybani</a:t>
            </a:r>
            <a:endParaRPr sz="1200">
              <a:latin typeface="Arial"/>
              <a:cs typeface="Arial"/>
            </a:endParaRPr>
          </a:p>
          <a:p>
            <a:pPr lvl="1" marL="698500" indent="-229235">
              <a:lnSpc>
                <a:spcPts val="1380"/>
              </a:lnSpc>
              <a:buFont typeface="Wingdings"/>
              <a:buChar char=""/>
              <a:tabLst>
                <a:tab pos="699135" algn="l"/>
              </a:tabLst>
            </a:pPr>
            <a:r>
              <a:rPr dirty="0" sz="1200">
                <a:latin typeface="Arial"/>
                <a:cs typeface="Arial"/>
              </a:rPr>
              <a:t>Rejected </a:t>
            </a:r>
            <a:r>
              <a:rPr dirty="0" sz="1200" spc="-5">
                <a:latin typeface="Arial"/>
                <a:cs typeface="Arial"/>
              </a:rPr>
              <a:t>Theology </a:t>
            </a:r>
            <a:r>
              <a:rPr dirty="0" sz="1200">
                <a:latin typeface="Arial"/>
                <a:cs typeface="Arial"/>
              </a:rPr>
              <a:t>(Kalam) </a:t>
            </a:r>
            <a:r>
              <a:rPr dirty="0" sz="1200" spc="-5">
                <a:latin typeface="Arial"/>
                <a:cs typeface="Arial"/>
              </a:rPr>
              <a:t>and</a:t>
            </a:r>
            <a:r>
              <a:rPr dirty="0" sz="1200" spc="-35">
                <a:latin typeface="Arial"/>
                <a:cs typeface="Arial"/>
              </a:rPr>
              <a:t> </a:t>
            </a:r>
            <a:r>
              <a:rPr dirty="0" sz="1200" spc="-5">
                <a:latin typeface="Arial"/>
                <a:cs typeface="Arial"/>
              </a:rPr>
              <a:t>Theologians</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No assumption when </a:t>
            </a:r>
            <a:r>
              <a:rPr dirty="0" sz="1200" spc="-10">
                <a:latin typeface="Arial"/>
                <a:cs typeface="Arial"/>
              </a:rPr>
              <a:t>we </a:t>
            </a:r>
            <a:r>
              <a:rPr dirty="0" sz="1200">
                <a:latin typeface="Arial"/>
                <a:cs typeface="Arial"/>
              </a:rPr>
              <a:t>don‘t have </a:t>
            </a:r>
            <a:r>
              <a:rPr dirty="0" sz="1200" spc="-5">
                <a:latin typeface="Arial"/>
                <a:cs typeface="Arial"/>
              </a:rPr>
              <a:t>the</a:t>
            </a:r>
            <a:r>
              <a:rPr dirty="0" sz="1200" spc="5">
                <a:latin typeface="Arial"/>
                <a:cs typeface="Arial"/>
              </a:rPr>
              <a:t> </a:t>
            </a:r>
            <a:r>
              <a:rPr dirty="0" sz="1200" spc="-5">
                <a:latin typeface="Arial"/>
                <a:cs typeface="Arial"/>
              </a:rPr>
              <a:t>knowledge</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Divided Bid‘ah into Good and</a:t>
            </a:r>
            <a:r>
              <a:rPr dirty="0" sz="1200" spc="5">
                <a:latin typeface="Arial"/>
                <a:cs typeface="Arial"/>
              </a:rPr>
              <a:t> </a:t>
            </a:r>
            <a:r>
              <a:rPr dirty="0" sz="1200">
                <a:latin typeface="Arial"/>
                <a:cs typeface="Arial"/>
              </a:rPr>
              <a:t>Bad</a:t>
            </a:r>
            <a:endParaRPr sz="1200">
              <a:latin typeface="Arial"/>
              <a:cs typeface="Arial"/>
            </a:endParaRPr>
          </a:p>
          <a:p>
            <a:pPr lvl="1" marL="698500" indent="-229235">
              <a:lnSpc>
                <a:spcPts val="1380"/>
              </a:lnSpc>
              <a:buFont typeface="Wingdings"/>
              <a:buChar char=""/>
              <a:tabLst>
                <a:tab pos="699135" algn="l"/>
              </a:tabLst>
            </a:pPr>
            <a:r>
              <a:rPr dirty="0" sz="1200">
                <a:latin typeface="Arial"/>
                <a:cs typeface="Arial"/>
              </a:rPr>
              <a:t>Study </a:t>
            </a:r>
            <a:r>
              <a:rPr dirty="0" sz="1200" spc="-5">
                <a:latin typeface="Arial"/>
                <a:cs typeface="Arial"/>
              </a:rPr>
              <a:t>of Hadith and</a:t>
            </a:r>
            <a:r>
              <a:rPr dirty="0" sz="1200" spc="-10">
                <a:latin typeface="Arial"/>
                <a:cs typeface="Arial"/>
              </a:rPr>
              <a:t> </a:t>
            </a:r>
            <a:r>
              <a:rPr dirty="0" sz="1200" spc="-5">
                <a:latin typeface="Arial"/>
                <a:cs typeface="Arial"/>
              </a:rPr>
              <a:t>Knowledge</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Qur‘an</a:t>
            </a:r>
            <a:endParaRPr sz="1200">
              <a:latin typeface="Arial"/>
              <a:cs typeface="Arial"/>
            </a:endParaRPr>
          </a:p>
          <a:p>
            <a:pPr lvl="1" marL="698500" indent="-229235">
              <a:lnSpc>
                <a:spcPts val="1380"/>
              </a:lnSpc>
              <a:buFont typeface="Wingdings"/>
              <a:buChar char=""/>
              <a:tabLst>
                <a:tab pos="699135" algn="l"/>
              </a:tabLst>
            </a:pPr>
            <a:r>
              <a:rPr dirty="0" sz="1200" spc="-5">
                <a:latin typeface="Arial"/>
                <a:cs typeface="Arial"/>
              </a:rPr>
              <a:t>Sunnah</a:t>
            </a:r>
            <a:endParaRPr sz="1200">
              <a:latin typeface="Arial"/>
              <a:cs typeface="Arial"/>
            </a:endParaRPr>
          </a:p>
          <a:p>
            <a:pPr lvl="1" marL="698500" indent="-229235">
              <a:lnSpc>
                <a:spcPts val="1380"/>
              </a:lnSpc>
              <a:buFont typeface="Wingdings"/>
              <a:buChar char=""/>
              <a:tabLst>
                <a:tab pos="699135" algn="l"/>
              </a:tabLst>
            </a:pPr>
            <a:r>
              <a:rPr dirty="0" sz="1200">
                <a:latin typeface="Arial"/>
                <a:cs typeface="Arial"/>
              </a:rPr>
              <a:t>Ijma‘</a:t>
            </a:r>
            <a:endParaRPr sz="1200">
              <a:latin typeface="Arial"/>
              <a:cs typeface="Arial"/>
            </a:endParaRPr>
          </a:p>
          <a:p>
            <a:pPr lvl="1" marL="698500" indent="-229235">
              <a:lnSpc>
                <a:spcPts val="1410"/>
              </a:lnSpc>
              <a:buFont typeface="Wingdings"/>
              <a:buChar char=""/>
              <a:tabLst>
                <a:tab pos="699135" algn="l"/>
              </a:tabLst>
            </a:pPr>
            <a:r>
              <a:rPr dirty="0" sz="1200" spc="-5">
                <a:latin typeface="Arial"/>
                <a:cs typeface="Arial"/>
              </a:rPr>
              <a:t>Ijtihad through</a:t>
            </a:r>
            <a:r>
              <a:rPr dirty="0" sz="1200" spc="-20">
                <a:latin typeface="Arial"/>
                <a:cs typeface="Arial"/>
              </a:rPr>
              <a:t> </a:t>
            </a:r>
            <a:r>
              <a:rPr dirty="0" sz="1200" spc="-5">
                <a:latin typeface="Arial"/>
                <a:cs typeface="Arial"/>
              </a:rPr>
              <a:t>Qiyas</a:t>
            </a:r>
            <a:endParaRPr sz="1200">
              <a:latin typeface="Arial"/>
              <a:cs typeface="Arial"/>
            </a:endParaRPr>
          </a:p>
          <a:p>
            <a:pPr>
              <a:lnSpc>
                <a:spcPct val="100000"/>
              </a:lnSpc>
              <a:spcBef>
                <a:spcPts val="10"/>
              </a:spcBef>
            </a:pPr>
            <a:endParaRPr sz="1650">
              <a:latin typeface="Arial"/>
              <a:cs typeface="Arial"/>
            </a:endParaRPr>
          </a:p>
          <a:p>
            <a:pPr algn="just" marL="12700" marR="5080">
              <a:lnSpc>
                <a:spcPts val="1380"/>
              </a:lnSpc>
            </a:pPr>
            <a:r>
              <a:rPr dirty="0" sz="1200" spc="-5">
                <a:latin typeface="Arial"/>
                <a:cs typeface="Arial"/>
              </a:rPr>
              <a:t>Imam Shafi‘I is attributed with two </a:t>
            </a:r>
            <a:r>
              <a:rPr dirty="0" sz="1200" spc="-5" i="1">
                <a:latin typeface="Arial"/>
                <a:cs typeface="Arial"/>
              </a:rPr>
              <a:t>madhahib</a:t>
            </a:r>
            <a:r>
              <a:rPr dirty="0" sz="1200" spc="-5">
                <a:latin typeface="Arial"/>
                <a:cs typeface="Arial"/>
              </a:rPr>
              <a:t>; </a:t>
            </a:r>
            <a:r>
              <a:rPr dirty="0" sz="1200" spc="-5" i="1">
                <a:latin typeface="Arial"/>
                <a:cs typeface="Arial"/>
              </a:rPr>
              <a:t>al-qadîm </a:t>
            </a:r>
            <a:r>
              <a:rPr dirty="0" sz="1200" i="1">
                <a:latin typeface="Arial"/>
                <a:cs typeface="Arial"/>
              </a:rPr>
              <a:t>(</a:t>
            </a:r>
            <a:r>
              <a:rPr dirty="0" sz="1200">
                <a:latin typeface="Arial"/>
                <a:cs typeface="Arial"/>
              </a:rPr>
              <a:t>the Old</a:t>
            </a:r>
            <a:r>
              <a:rPr dirty="0" sz="1200" i="1">
                <a:latin typeface="Arial"/>
                <a:cs typeface="Arial"/>
              </a:rPr>
              <a:t>) </a:t>
            </a:r>
            <a:r>
              <a:rPr dirty="0" sz="1200" spc="-5">
                <a:latin typeface="Arial"/>
                <a:cs typeface="Arial"/>
              </a:rPr>
              <a:t>from his </a:t>
            </a:r>
            <a:r>
              <a:rPr dirty="0" sz="1200">
                <a:latin typeface="Arial"/>
                <a:cs typeface="Arial"/>
              </a:rPr>
              <a:t>stay </a:t>
            </a:r>
            <a:r>
              <a:rPr dirty="0" sz="1200" spc="-5">
                <a:latin typeface="Arial"/>
                <a:cs typeface="Arial"/>
              </a:rPr>
              <a:t>in </a:t>
            </a:r>
            <a:r>
              <a:rPr dirty="0" sz="1200">
                <a:latin typeface="Arial"/>
                <a:cs typeface="Arial"/>
              </a:rPr>
              <a:t>Iraq </a:t>
            </a:r>
            <a:r>
              <a:rPr dirty="0" sz="1200" spc="-5">
                <a:latin typeface="Arial"/>
                <a:cs typeface="Arial"/>
              </a:rPr>
              <a:t>and </a:t>
            </a:r>
            <a:r>
              <a:rPr dirty="0" sz="1200" spc="-5" i="1">
                <a:latin typeface="Arial"/>
                <a:cs typeface="Arial"/>
              </a:rPr>
              <a:t>al-  </a:t>
            </a:r>
            <a:r>
              <a:rPr dirty="0" sz="1200" i="1">
                <a:latin typeface="Arial"/>
                <a:cs typeface="Arial"/>
              </a:rPr>
              <a:t>jadîd (</a:t>
            </a:r>
            <a:r>
              <a:rPr dirty="0" sz="1200">
                <a:latin typeface="Arial"/>
                <a:cs typeface="Arial"/>
              </a:rPr>
              <a:t>the </a:t>
            </a:r>
            <a:r>
              <a:rPr dirty="0" sz="1200" spc="-5">
                <a:latin typeface="Arial"/>
                <a:cs typeface="Arial"/>
              </a:rPr>
              <a:t>New</a:t>
            </a:r>
            <a:r>
              <a:rPr dirty="0" sz="1200" spc="-5" i="1">
                <a:latin typeface="Arial"/>
                <a:cs typeface="Arial"/>
              </a:rPr>
              <a:t>) </a:t>
            </a:r>
            <a:r>
              <a:rPr dirty="0" sz="1200">
                <a:latin typeface="Arial"/>
                <a:cs typeface="Arial"/>
              </a:rPr>
              <a:t>from </a:t>
            </a:r>
            <a:r>
              <a:rPr dirty="0" sz="1200" spc="-5">
                <a:latin typeface="Arial"/>
                <a:cs typeface="Arial"/>
              </a:rPr>
              <a:t>his </a:t>
            </a:r>
            <a:r>
              <a:rPr dirty="0" sz="1200">
                <a:latin typeface="Arial"/>
                <a:cs typeface="Arial"/>
              </a:rPr>
              <a:t>stay </a:t>
            </a:r>
            <a:r>
              <a:rPr dirty="0" sz="1200" spc="-5">
                <a:latin typeface="Arial"/>
                <a:cs typeface="Arial"/>
              </a:rPr>
              <a:t>in Egypt. Al-jadid </a:t>
            </a:r>
            <a:r>
              <a:rPr dirty="0" sz="1200">
                <a:latin typeface="Arial"/>
                <a:cs typeface="Arial"/>
              </a:rPr>
              <a:t>forms most </a:t>
            </a:r>
            <a:r>
              <a:rPr dirty="0" sz="1200" spc="-5">
                <a:latin typeface="Arial"/>
                <a:cs typeface="Arial"/>
              </a:rPr>
              <a:t>of </a:t>
            </a:r>
            <a:r>
              <a:rPr dirty="0" sz="1200" spc="-10">
                <a:latin typeface="Arial"/>
                <a:cs typeface="Arial"/>
              </a:rPr>
              <a:t>the </a:t>
            </a:r>
            <a:r>
              <a:rPr dirty="0" sz="1200" spc="-5">
                <a:latin typeface="Arial"/>
                <a:cs typeface="Arial"/>
              </a:rPr>
              <a:t>Shafi‘I </a:t>
            </a:r>
            <a:r>
              <a:rPr dirty="0" sz="1200" spc="-5" i="1">
                <a:latin typeface="Arial"/>
                <a:cs typeface="Arial"/>
              </a:rPr>
              <a:t>fiqh </a:t>
            </a:r>
            <a:r>
              <a:rPr dirty="0" sz="1200" spc="-5">
                <a:latin typeface="Arial"/>
                <a:cs typeface="Arial"/>
              </a:rPr>
              <a:t>except </a:t>
            </a:r>
            <a:r>
              <a:rPr dirty="0" sz="1200" spc="-10">
                <a:latin typeface="Arial"/>
                <a:cs typeface="Arial"/>
              </a:rPr>
              <a:t>in </a:t>
            </a:r>
            <a:r>
              <a:rPr dirty="0" sz="1200" spc="-5">
                <a:latin typeface="Arial"/>
                <a:cs typeface="Arial"/>
              </a:rPr>
              <a:t>a  limited</a:t>
            </a:r>
            <a:r>
              <a:rPr dirty="0" sz="1200" spc="80">
                <a:latin typeface="Arial"/>
                <a:cs typeface="Arial"/>
              </a:rPr>
              <a:t> </a:t>
            </a:r>
            <a:r>
              <a:rPr dirty="0" sz="1200" spc="-5">
                <a:latin typeface="Arial"/>
                <a:cs typeface="Arial"/>
              </a:rPr>
              <a:t>number</a:t>
            </a:r>
            <a:r>
              <a:rPr dirty="0" sz="1200" spc="75">
                <a:latin typeface="Arial"/>
                <a:cs typeface="Arial"/>
              </a:rPr>
              <a:t> </a:t>
            </a:r>
            <a:r>
              <a:rPr dirty="0" sz="1200" spc="-5">
                <a:latin typeface="Arial"/>
                <a:cs typeface="Arial"/>
              </a:rPr>
              <a:t>of</a:t>
            </a:r>
            <a:r>
              <a:rPr dirty="0" sz="1200" spc="90">
                <a:latin typeface="Arial"/>
                <a:cs typeface="Arial"/>
              </a:rPr>
              <a:t> </a:t>
            </a:r>
            <a:r>
              <a:rPr dirty="0" sz="1200" spc="-5">
                <a:latin typeface="Arial"/>
                <a:cs typeface="Arial"/>
              </a:rPr>
              <a:t>cases</a:t>
            </a:r>
            <a:r>
              <a:rPr dirty="0" sz="1200" spc="80">
                <a:latin typeface="Arial"/>
                <a:cs typeface="Arial"/>
              </a:rPr>
              <a:t> </a:t>
            </a:r>
            <a:r>
              <a:rPr dirty="0" sz="1200" spc="-5">
                <a:latin typeface="Arial"/>
                <a:cs typeface="Arial"/>
              </a:rPr>
              <a:t>where</a:t>
            </a:r>
            <a:r>
              <a:rPr dirty="0" sz="1200" spc="80">
                <a:latin typeface="Arial"/>
                <a:cs typeface="Arial"/>
              </a:rPr>
              <a:t> </a:t>
            </a:r>
            <a:r>
              <a:rPr dirty="0" sz="1200" spc="-5">
                <a:latin typeface="Arial"/>
                <a:cs typeface="Arial"/>
              </a:rPr>
              <a:t>scholars</a:t>
            </a:r>
            <a:r>
              <a:rPr dirty="0" sz="1200" spc="75">
                <a:latin typeface="Arial"/>
                <a:cs typeface="Arial"/>
              </a:rPr>
              <a:t> </a:t>
            </a:r>
            <a:r>
              <a:rPr dirty="0" sz="1200" spc="-5">
                <a:latin typeface="Arial"/>
                <a:cs typeface="Arial"/>
              </a:rPr>
              <a:t>have</a:t>
            </a:r>
            <a:r>
              <a:rPr dirty="0" sz="1200" spc="85">
                <a:latin typeface="Arial"/>
                <a:cs typeface="Arial"/>
              </a:rPr>
              <a:t> </a:t>
            </a:r>
            <a:r>
              <a:rPr dirty="0" sz="1200" spc="-5">
                <a:latin typeface="Arial"/>
                <a:cs typeface="Arial"/>
              </a:rPr>
              <a:t>followed</a:t>
            </a:r>
            <a:r>
              <a:rPr dirty="0" sz="1200" spc="120">
                <a:latin typeface="Arial"/>
                <a:cs typeface="Arial"/>
              </a:rPr>
              <a:t> </a:t>
            </a:r>
            <a:r>
              <a:rPr dirty="0" sz="1200" spc="-5" i="1">
                <a:latin typeface="Arial"/>
                <a:cs typeface="Arial"/>
              </a:rPr>
              <a:t>al-qadîm</a:t>
            </a:r>
            <a:r>
              <a:rPr dirty="0" sz="1200" spc="-5">
                <a:latin typeface="Arial"/>
                <a:cs typeface="Arial"/>
              </a:rPr>
              <a:t>.</a:t>
            </a:r>
            <a:r>
              <a:rPr dirty="0" sz="1200" spc="85">
                <a:latin typeface="Arial"/>
                <a:cs typeface="Arial"/>
              </a:rPr>
              <a:t> </a:t>
            </a:r>
            <a:r>
              <a:rPr dirty="0" sz="1200">
                <a:latin typeface="Arial"/>
                <a:cs typeface="Arial"/>
              </a:rPr>
              <a:t>The</a:t>
            </a:r>
            <a:r>
              <a:rPr dirty="0" sz="1200" spc="90">
                <a:latin typeface="Arial"/>
                <a:cs typeface="Arial"/>
              </a:rPr>
              <a:t> </a:t>
            </a:r>
            <a:r>
              <a:rPr dirty="0" sz="1200" spc="-5">
                <a:latin typeface="Arial"/>
                <a:cs typeface="Arial"/>
              </a:rPr>
              <a:t>most</a:t>
            </a:r>
            <a:r>
              <a:rPr dirty="0" sz="1200" spc="65">
                <a:latin typeface="Arial"/>
                <a:cs typeface="Arial"/>
              </a:rPr>
              <a:t> </a:t>
            </a:r>
            <a:r>
              <a:rPr dirty="0" sz="1200" spc="-5">
                <a:latin typeface="Arial"/>
                <a:cs typeface="Arial"/>
              </a:rPr>
              <a:t>famous</a:t>
            </a:r>
            <a:r>
              <a:rPr dirty="0" sz="1200" spc="80">
                <a:latin typeface="Arial"/>
                <a:cs typeface="Arial"/>
              </a:rPr>
              <a:t> </a:t>
            </a:r>
            <a:r>
              <a:rPr dirty="0" sz="1200" spc="-5">
                <a:latin typeface="Arial"/>
                <a:cs typeface="Arial"/>
              </a:rPr>
              <a:t>works</a:t>
            </a:r>
            <a:r>
              <a:rPr dirty="0" sz="1200" spc="70">
                <a:latin typeface="Arial"/>
                <a:cs typeface="Arial"/>
              </a:rPr>
              <a:t> </a:t>
            </a:r>
            <a:r>
              <a:rPr dirty="0" sz="1200" spc="-5">
                <a:latin typeface="Arial"/>
                <a:cs typeface="Arial"/>
              </a:rPr>
              <a:t>of</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114</a:t>
            </a:r>
            <a:endParaRPr sz="1200">
              <a:latin typeface="Times New Roman"/>
              <a:cs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932180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pPr>
            <a:endParaRPr sz="1300">
              <a:latin typeface="Times New Roman"/>
              <a:cs typeface="Times New Roman"/>
            </a:endParaRPr>
          </a:p>
          <a:p>
            <a:pPr algn="just" marL="12700" marR="5080">
              <a:lnSpc>
                <a:spcPct val="95900"/>
              </a:lnSpc>
              <a:spcBef>
                <a:spcPts val="5"/>
              </a:spcBef>
            </a:pPr>
            <a:r>
              <a:rPr dirty="0" sz="1200">
                <a:latin typeface="Arial"/>
                <a:cs typeface="Arial"/>
              </a:rPr>
              <a:t>the </a:t>
            </a:r>
            <a:r>
              <a:rPr dirty="0" sz="1200" spc="-5">
                <a:latin typeface="Arial"/>
                <a:cs typeface="Arial"/>
              </a:rPr>
              <a:t>imam include </a:t>
            </a:r>
            <a:r>
              <a:rPr dirty="0" sz="1200" spc="-5" i="1">
                <a:latin typeface="Arial"/>
                <a:cs typeface="Arial"/>
              </a:rPr>
              <a:t>Kitab al-Umm </a:t>
            </a:r>
            <a:r>
              <a:rPr dirty="0" sz="1200">
                <a:latin typeface="Arial"/>
                <a:cs typeface="Arial"/>
              </a:rPr>
              <a:t>(the </a:t>
            </a:r>
            <a:r>
              <a:rPr dirty="0" sz="1200" spc="-5">
                <a:latin typeface="Arial"/>
                <a:cs typeface="Arial"/>
              </a:rPr>
              <a:t>source of </a:t>
            </a:r>
            <a:r>
              <a:rPr dirty="0" sz="1200" spc="-5" i="1">
                <a:latin typeface="Arial"/>
                <a:cs typeface="Arial"/>
              </a:rPr>
              <a:t>al-qadîm) </a:t>
            </a:r>
            <a:r>
              <a:rPr dirty="0" sz="1200" spc="-5">
                <a:latin typeface="Arial"/>
                <a:cs typeface="Arial"/>
              </a:rPr>
              <a:t>and </a:t>
            </a:r>
            <a:r>
              <a:rPr dirty="0" sz="1200" spc="-5" i="1">
                <a:latin typeface="Arial"/>
                <a:cs typeface="Arial"/>
              </a:rPr>
              <a:t>Kitab al-Hujja </a:t>
            </a:r>
            <a:r>
              <a:rPr dirty="0" sz="1200">
                <a:latin typeface="Arial"/>
                <a:cs typeface="Arial"/>
              </a:rPr>
              <a:t>(the </a:t>
            </a:r>
            <a:r>
              <a:rPr dirty="0" sz="1200" spc="-5">
                <a:latin typeface="Arial"/>
                <a:cs typeface="Arial"/>
              </a:rPr>
              <a:t>source of </a:t>
            </a:r>
            <a:r>
              <a:rPr dirty="0" sz="1200" spc="-5" i="1">
                <a:latin typeface="Arial"/>
                <a:cs typeface="Arial"/>
              </a:rPr>
              <a:t>al-  </a:t>
            </a:r>
            <a:r>
              <a:rPr dirty="0" sz="1200" i="1">
                <a:latin typeface="Arial"/>
                <a:cs typeface="Arial"/>
              </a:rPr>
              <a:t>jadîd</a:t>
            </a:r>
            <a:r>
              <a:rPr dirty="0" sz="1200">
                <a:latin typeface="Arial"/>
                <a:cs typeface="Arial"/>
              </a:rPr>
              <a:t>). A </a:t>
            </a:r>
            <a:r>
              <a:rPr dirty="0" sz="1200" spc="-5">
                <a:latin typeface="Arial"/>
                <a:cs typeface="Arial"/>
              </a:rPr>
              <a:t>significant contribution of imam Shafi‘I is </a:t>
            </a:r>
            <a:r>
              <a:rPr dirty="0" sz="1200">
                <a:latin typeface="Arial"/>
                <a:cs typeface="Arial"/>
              </a:rPr>
              <a:t>the </a:t>
            </a:r>
            <a:r>
              <a:rPr dirty="0" sz="1200" spc="-5">
                <a:latin typeface="Arial"/>
                <a:cs typeface="Arial"/>
              </a:rPr>
              <a:t>distinction between good </a:t>
            </a:r>
            <a:r>
              <a:rPr dirty="0" sz="1200" spc="-5" i="1">
                <a:latin typeface="Arial"/>
                <a:cs typeface="Arial"/>
              </a:rPr>
              <a:t>bid`a and bad  </a:t>
            </a:r>
            <a:r>
              <a:rPr dirty="0" sz="1200" spc="-5" i="1">
                <a:latin typeface="Arial"/>
                <a:cs typeface="Arial"/>
              </a:rPr>
              <a:t>bid`a. </a:t>
            </a:r>
            <a:r>
              <a:rPr dirty="0" sz="1200">
                <a:latin typeface="Arial"/>
                <a:cs typeface="Arial"/>
              </a:rPr>
              <a:t>In </a:t>
            </a:r>
            <a:r>
              <a:rPr dirty="0" sz="1200" spc="-5">
                <a:latin typeface="Arial"/>
                <a:cs typeface="Arial"/>
              </a:rPr>
              <a:t>his words, </a:t>
            </a:r>
            <a:r>
              <a:rPr dirty="0" sz="1200" spc="-75">
                <a:latin typeface="Arial"/>
                <a:cs typeface="Arial"/>
              </a:rPr>
              <a:t>―</a:t>
            </a:r>
            <a:r>
              <a:rPr dirty="0" sz="1200" spc="-75" i="1">
                <a:latin typeface="Arial"/>
                <a:cs typeface="Arial"/>
              </a:rPr>
              <a:t>Therefore, </a:t>
            </a:r>
            <a:r>
              <a:rPr dirty="0" sz="1200" spc="-5" i="1">
                <a:latin typeface="Arial"/>
                <a:cs typeface="Arial"/>
              </a:rPr>
              <a:t>whatever innovation conforms to </a:t>
            </a:r>
            <a:r>
              <a:rPr dirty="0" sz="1200" i="1">
                <a:latin typeface="Arial"/>
                <a:cs typeface="Arial"/>
              </a:rPr>
              <a:t>the </a:t>
            </a:r>
            <a:r>
              <a:rPr dirty="0" sz="1200" spc="-5" i="1">
                <a:latin typeface="Arial"/>
                <a:cs typeface="Arial"/>
              </a:rPr>
              <a:t>Sunnah is approved  </a:t>
            </a:r>
            <a:r>
              <a:rPr dirty="0" sz="1200" spc="-5" i="1">
                <a:latin typeface="Arial"/>
                <a:cs typeface="Arial"/>
              </a:rPr>
              <a:t>(mahmûd)</a:t>
            </a:r>
            <a:r>
              <a:rPr dirty="0" sz="1200" spc="-5">
                <a:latin typeface="Arial"/>
                <a:cs typeface="Arial"/>
              </a:rPr>
              <a:t>, </a:t>
            </a:r>
            <a:r>
              <a:rPr dirty="0" sz="1200" spc="-5" i="1">
                <a:latin typeface="Arial"/>
                <a:cs typeface="Arial"/>
              </a:rPr>
              <a:t>and whatever opposes it is abominable</a:t>
            </a:r>
            <a:r>
              <a:rPr dirty="0" sz="1200" spc="35" i="1">
                <a:latin typeface="Arial"/>
                <a:cs typeface="Arial"/>
              </a:rPr>
              <a:t> </a:t>
            </a:r>
            <a:r>
              <a:rPr dirty="0" sz="1200" spc="-15" i="1">
                <a:latin typeface="Arial"/>
                <a:cs typeface="Arial"/>
              </a:rPr>
              <a:t>(madhmûm)</a:t>
            </a:r>
            <a:r>
              <a:rPr dirty="0" sz="1200" spc="-15">
                <a:latin typeface="Arial"/>
                <a:cs typeface="Arial"/>
              </a:rPr>
              <a:t>.‖</a:t>
            </a:r>
            <a:endParaRPr sz="1200">
              <a:latin typeface="Arial"/>
              <a:cs typeface="Arial"/>
            </a:endParaRPr>
          </a:p>
          <a:p>
            <a:pPr algn="just" marL="12700" marR="7620">
              <a:lnSpc>
                <a:spcPct val="95700"/>
              </a:lnSpc>
              <a:spcBef>
                <a:spcPts val="1010"/>
              </a:spcBef>
            </a:pPr>
            <a:r>
              <a:rPr dirty="0" sz="1200" spc="-5">
                <a:latin typeface="Arial"/>
                <a:cs typeface="Arial"/>
              </a:rPr>
              <a:t>He is known </a:t>
            </a:r>
            <a:r>
              <a:rPr dirty="0" sz="1200">
                <a:latin typeface="Arial"/>
                <a:cs typeface="Arial"/>
              </a:rPr>
              <a:t>for </a:t>
            </a:r>
            <a:r>
              <a:rPr dirty="0" sz="1200" spc="-5">
                <a:latin typeface="Arial"/>
                <a:cs typeface="Arial"/>
              </a:rPr>
              <a:t>his </a:t>
            </a:r>
            <a:r>
              <a:rPr dirty="0" sz="1200">
                <a:latin typeface="Arial"/>
                <a:cs typeface="Arial"/>
              </a:rPr>
              <a:t>mastery of </a:t>
            </a:r>
            <a:r>
              <a:rPr dirty="0" sz="1200" spc="-5">
                <a:latin typeface="Arial"/>
                <a:cs typeface="Arial"/>
              </a:rPr>
              <a:t>the Arabic language, eloquence, humility, and knowledge of  hadith. </a:t>
            </a:r>
            <a:r>
              <a:rPr dirty="0" sz="1200">
                <a:latin typeface="Arial"/>
                <a:cs typeface="Arial"/>
              </a:rPr>
              <a:t>As </a:t>
            </a:r>
            <a:r>
              <a:rPr dirty="0" sz="1200" spc="-5">
                <a:latin typeface="Arial"/>
                <a:cs typeface="Arial"/>
              </a:rPr>
              <a:t>acknowledged </a:t>
            </a:r>
            <a:r>
              <a:rPr dirty="0" sz="1200">
                <a:latin typeface="Arial"/>
                <a:cs typeface="Arial"/>
              </a:rPr>
              <a:t>by </a:t>
            </a:r>
            <a:r>
              <a:rPr dirty="0" sz="1200" spc="-5">
                <a:latin typeface="Arial"/>
                <a:cs typeface="Arial"/>
              </a:rPr>
              <a:t>Imaam Ahmed bin Hanbal, </a:t>
            </a:r>
            <a:r>
              <a:rPr dirty="0" sz="1200" spc="-195">
                <a:latin typeface="Arial"/>
                <a:cs typeface="Arial"/>
              </a:rPr>
              <a:t>―</a:t>
            </a:r>
            <a:r>
              <a:rPr dirty="0" sz="1200" spc="-195" i="1">
                <a:latin typeface="Arial"/>
                <a:cs typeface="Arial"/>
              </a:rPr>
              <a:t>Our </a:t>
            </a:r>
            <a:r>
              <a:rPr dirty="0" sz="1200" spc="-5" i="1">
                <a:latin typeface="Arial"/>
                <a:cs typeface="Arial"/>
              </a:rPr>
              <a:t>napes </a:t>
            </a:r>
            <a:r>
              <a:rPr dirty="0" sz="1200" i="1">
                <a:latin typeface="Arial"/>
                <a:cs typeface="Arial"/>
              </a:rPr>
              <a:t>were </a:t>
            </a:r>
            <a:r>
              <a:rPr dirty="0" sz="1200" spc="-5" i="1">
                <a:latin typeface="Arial"/>
                <a:cs typeface="Arial"/>
              </a:rPr>
              <a:t>in the hands of </a:t>
            </a:r>
            <a:r>
              <a:rPr dirty="0" sz="1200" spc="-10" i="1">
                <a:latin typeface="Arial"/>
                <a:cs typeface="Arial"/>
              </a:rPr>
              <a:t>the  </a:t>
            </a:r>
            <a:r>
              <a:rPr dirty="0" sz="1200" spc="-5" i="1">
                <a:latin typeface="Arial"/>
                <a:cs typeface="Arial"/>
              </a:rPr>
              <a:t>Companions of Abu </a:t>
            </a:r>
            <a:r>
              <a:rPr dirty="0" sz="1200" i="1">
                <a:latin typeface="Arial"/>
                <a:cs typeface="Arial"/>
              </a:rPr>
              <a:t>Hanifah </a:t>
            </a:r>
            <a:r>
              <a:rPr dirty="0" sz="1200" spc="-5" i="1">
                <a:latin typeface="Arial"/>
                <a:cs typeface="Arial"/>
              </a:rPr>
              <a:t>(RA) when it </a:t>
            </a:r>
            <a:r>
              <a:rPr dirty="0" sz="1200" spc="-10" i="1">
                <a:latin typeface="Arial"/>
                <a:cs typeface="Arial"/>
              </a:rPr>
              <a:t>came </a:t>
            </a:r>
            <a:r>
              <a:rPr dirty="0" sz="1200" spc="-5" i="1">
                <a:latin typeface="Arial"/>
                <a:cs typeface="Arial"/>
              </a:rPr>
              <a:t>to hadith (i.e. </a:t>
            </a:r>
            <a:r>
              <a:rPr dirty="0" sz="1200" i="1">
                <a:latin typeface="Arial"/>
                <a:cs typeface="Arial"/>
              </a:rPr>
              <a:t>we were </a:t>
            </a:r>
            <a:r>
              <a:rPr dirty="0" sz="1200" spc="-5" i="1">
                <a:latin typeface="Arial"/>
                <a:cs typeface="Arial"/>
              </a:rPr>
              <a:t>inclined </a:t>
            </a:r>
            <a:r>
              <a:rPr dirty="0" sz="1200" spc="-10" i="1">
                <a:latin typeface="Arial"/>
                <a:cs typeface="Arial"/>
              </a:rPr>
              <a:t>to </a:t>
            </a:r>
            <a:r>
              <a:rPr dirty="0" sz="1200" spc="-5" i="1">
                <a:latin typeface="Arial"/>
                <a:cs typeface="Arial"/>
              </a:rPr>
              <a:t>them  more) until </a:t>
            </a:r>
            <a:r>
              <a:rPr dirty="0" sz="1200" i="1">
                <a:latin typeface="Arial"/>
                <a:cs typeface="Arial"/>
              </a:rPr>
              <a:t>we </a:t>
            </a:r>
            <a:r>
              <a:rPr dirty="0" sz="1200" spc="-5" i="1">
                <a:latin typeface="Arial"/>
                <a:cs typeface="Arial"/>
              </a:rPr>
              <a:t>saw </a:t>
            </a:r>
            <a:r>
              <a:rPr dirty="0" sz="1200" i="1">
                <a:latin typeface="Arial"/>
                <a:cs typeface="Arial"/>
              </a:rPr>
              <a:t>Imaam </a:t>
            </a:r>
            <a:r>
              <a:rPr dirty="0" sz="1200">
                <a:latin typeface="Arial"/>
                <a:cs typeface="Arial"/>
              </a:rPr>
              <a:t>Shafi‘I</a:t>
            </a:r>
            <a:r>
              <a:rPr dirty="0" sz="1200" i="1">
                <a:latin typeface="Arial"/>
                <a:cs typeface="Arial"/>
              </a:rPr>
              <a:t>, </a:t>
            </a:r>
            <a:r>
              <a:rPr dirty="0" sz="1200" spc="-5" i="1">
                <a:latin typeface="Arial"/>
                <a:cs typeface="Arial"/>
              </a:rPr>
              <a:t>he was the most knowledgeable in </a:t>
            </a:r>
            <a:r>
              <a:rPr dirty="0" sz="1200" i="1">
                <a:latin typeface="Arial"/>
                <a:cs typeface="Arial"/>
              </a:rPr>
              <a:t>the </a:t>
            </a:r>
            <a:r>
              <a:rPr dirty="0" sz="1200" spc="-5" i="1">
                <a:latin typeface="Arial"/>
                <a:cs typeface="Arial"/>
              </a:rPr>
              <a:t>Book </a:t>
            </a:r>
            <a:r>
              <a:rPr dirty="0" sz="1200" spc="-10" i="1">
                <a:latin typeface="Arial"/>
                <a:cs typeface="Arial"/>
              </a:rPr>
              <a:t>of </a:t>
            </a:r>
            <a:r>
              <a:rPr dirty="0" sz="1200" spc="-5" i="1">
                <a:latin typeface="Arial"/>
                <a:cs typeface="Arial"/>
              </a:rPr>
              <a:t>Allah </a:t>
            </a:r>
            <a:r>
              <a:rPr dirty="0" sz="1200" spc="-10" i="1">
                <a:latin typeface="Arial"/>
                <a:cs typeface="Arial"/>
              </a:rPr>
              <a:t>and  </a:t>
            </a:r>
            <a:r>
              <a:rPr dirty="0" sz="1200" i="1">
                <a:latin typeface="Arial"/>
                <a:cs typeface="Arial"/>
              </a:rPr>
              <a:t>the </a:t>
            </a:r>
            <a:r>
              <a:rPr dirty="0" sz="1200" spc="-5" i="1">
                <a:latin typeface="Arial"/>
                <a:cs typeface="Arial"/>
              </a:rPr>
              <a:t>Sunnah of Rasulullah (Sallallahu Alaihi </a:t>
            </a:r>
            <a:r>
              <a:rPr dirty="0" sz="1200" i="1">
                <a:latin typeface="Arial"/>
                <a:cs typeface="Arial"/>
              </a:rPr>
              <a:t>Wa </a:t>
            </a:r>
            <a:r>
              <a:rPr dirty="0" sz="1200" spc="-5" i="1">
                <a:latin typeface="Arial"/>
                <a:cs typeface="Arial"/>
              </a:rPr>
              <a:t>Sallam) </a:t>
            </a:r>
            <a:r>
              <a:rPr dirty="0" sz="1200" i="1">
                <a:latin typeface="Arial"/>
                <a:cs typeface="Arial"/>
              </a:rPr>
              <a:t>that </a:t>
            </a:r>
            <a:r>
              <a:rPr dirty="0" sz="1200" spc="-5" i="1">
                <a:latin typeface="Arial"/>
                <a:cs typeface="Arial"/>
              </a:rPr>
              <a:t>he </a:t>
            </a:r>
            <a:r>
              <a:rPr dirty="0" sz="1200" i="1">
                <a:latin typeface="Arial"/>
                <a:cs typeface="Arial"/>
              </a:rPr>
              <a:t>would </a:t>
            </a:r>
            <a:r>
              <a:rPr dirty="0" sz="1200" spc="-5" i="1">
                <a:latin typeface="Arial"/>
                <a:cs typeface="Arial"/>
              </a:rPr>
              <a:t>even suffice one who  </a:t>
            </a:r>
            <a:r>
              <a:rPr dirty="0" sz="1200" i="1">
                <a:latin typeface="Arial"/>
                <a:cs typeface="Arial"/>
              </a:rPr>
              <a:t>was </a:t>
            </a:r>
            <a:r>
              <a:rPr dirty="0" sz="1200" spc="-5" i="1">
                <a:latin typeface="Arial"/>
                <a:cs typeface="Arial"/>
              </a:rPr>
              <a:t>not well informed in</a:t>
            </a:r>
            <a:r>
              <a:rPr dirty="0" sz="1200" spc="-10" i="1">
                <a:latin typeface="Arial"/>
                <a:cs typeface="Arial"/>
              </a:rPr>
              <a:t> </a:t>
            </a:r>
            <a:r>
              <a:rPr dirty="0" sz="1200" spc="-15" i="1">
                <a:latin typeface="Arial"/>
                <a:cs typeface="Arial"/>
              </a:rPr>
              <a:t>Hadith</a:t>
            </a:r>
            <a:r>
              <a:rPr dirty="0" sz="1200" spc="-15">
                <a:latin typeface="Arial"/>
                <a:cs typeface="Arial"/>
              </a:rPr>
              <a:t>.‖</a:t>
            </a:r>
            <a:endParaRPr sz="1200">
              <a:latin typeface="Arial"/>
              <a:cs typeface="Arial"/>
            </a:endParaRPr>
          </a:p>
          <a:p>
            <a:pPr algn="just" marL="12700" marR="6985">
              <a:lnSpc>
                <a:spcPct val="95600"/>
              </a:lnSpc>
              <a:spcBef>
                <a:spcPts val="1010"/>
              </a:spcBef>
            </a:pPr>
            <a:r>
              <a:rPr dirty="0" sz="1200">
                <a:latin typeface="Arial"/>
                <a:cs typeface="Arial"/>
              </a:rPr>
              <a:t>On </a:t>
            </a:r>
            <a:r>
              <a:rPr dirty="0" sz="1200" spc="-5">
                <a:latin typeface="Arial"/>
                <a:cs typeface="Arial"/>
              </a:rPr>
              <a:t>another occasion Imaam Ahmed bin Hanbal said, </a:t>
            </a:r>
            <a:r>
              <a:rPr dirty="0" sz="1200" spc="-160">
                <a:latin typeface="Arial"/>
                <a:cs typeface="Arial"/>
              </a:rPr>
              <a:t>―</a:t>
            </a:r>
            <a:r>
              <a:rPr dirty="0" sz="1200" spc="-160" i="1">
                <a:latin typeface="Arial"/>
                <a:cs typeface="Arial"/>
              </a:rPr>
              <a:t>When</a:t>
            </a:r>
            <a:r>
              <a:rPr dirty="0" sz="1200" spc="10" i="1">
                <a:latin typeface="Arial"/>
                <a:cs typeface="Arial"/>
              </a:rPr>
              <a:t> </a:t>
            </a:r>
            <a:r>
              <a:rPr dirty="0" sz="1200" i="1">
                <a:latin typeface="Arial"/>
                <a:cs typeface="Arial"/>
              </a:rPr>
              <a:t>I </a:t>
            </a:r>
            <a:r>
              <a:rPr dirty="0" sz="1200" spc="-10" i="1">
                <a:latin typeface="Arial"/>
                <a:cs typeface="Arial"/>
              </a:rPr>
              <a:t>am </a:t>
            </a:r>
            <a:r>
              <a:rPr dirty="0" sz="1200" spc="-5" i="1">
                <a:latin typeface="Arial"/>
                <a:cs typeface="Arial"/>
              </a:rPr>
              <a:t>questioned about </a:t>
            </a:r>
            <a:r>
              <a:rPr dirty="0" sz="1200" spc="-10" i="1">
                <a:latin typeface="Arial"/>
                <a:cs typeface="Arial"/>
              </a:rPr>
              <a:t>some  </a:t>
            </a:r>
            <a:r>
              <a:rPr dirty="0" sz="1200" spc="-5" i="1">
                <a:latin typeface="Arial"/>
                <a:cs typeface="Arial"/>
              </a:rPr>
              <a:t>matter </a:t>
            </a:r>
            <a:r>
              <a:rPr dirty="0" sz="1200" i="1">
                <a:latin typeface="Arial"/>
                <a:cs typeface="Arial"/>
              </a:rPr>
              <a:t>that I </a:t>
            </a:r>
            <a:r>
              <a:rPr dirty="0" sz="1200" spc="-5" i="1">
                <a:latin typeface="Arial"/>
                <a:cs typeface="Arial"/>
              </a:rPr>
              <a:t>do not know of </a:t>
            </a:r>
            <a:r>
              <a:rPr dirty="0" sz="1200" i="1">
                <a:latin typeface="Arial"/>
                <a:cs typeface="Arial"/>
              </a:rPr>
              <a:t>I </a:t>
            </a:r>
            <a:r>
              <a:rPr dirty="0" sz="1200" spc="-5" i="1">
                <a:latin typeface="Arial"/>
                <a:cs typeface="Arial"/>
              </a:rPr>
              <a:t>say to myself Imaam </a:t>
            </a:r>
            <a:r>
              <a:rPr dirty="0" sz="1200">
                <a:latin typeface="Arial"/>
                <a:cs typeface="Arial"/>
              </a:rPr>
              <a:t>Shafi‘I </a:t>
            </a:r>
            <a:r>
              <a:rPr dirty="0" sz="1200" spc="-5" i="1">
                <a:latin typeface="Arial"/>
                <a:cs typeface="Arial"/>
              </a:rPr>
              <a:t>knows about this and he will have  </a:t>
            </a:r>
            <a:r>
              <a:rPr dirty="0" sz="1200" spc="-5" i="1">
                <a:latin typeface="Arial"/>
                <a:cs typeface="Arial"/>
              </a:rPr>
              <a:t>some </a:t>
            </a:r>
            <a:r>
              <a:rPr dirty="0" sz="1200" i="1">
                <a:latin typeface="Arial"/>
                <a:cs typeface="Arial"/>
              </a:rPr>
              <a:t>say </a:t>
            </a:r>
            <a:r>
              <a:rPr dirty="0" sz="1200" spc="-5" i="1">
                <a:latin typeface="Arial"/>
                <a:cs typeface="Arial"/>
              </a:rPr>
              <a:t>in it, because </a:t>
            </a:r>
            <a:r>
              <a:rPr dirty="0" sz="1200" i="1">
                <a:latin typeface="Arial"/>
                <a:cs typeface="Arial"/>
              </a:rPr>
              <a:t>he </a:t>
            </a:r>
            <a:r>
              <a:rPr dirty="0" sz="1200" spc="-5" i="1">
                <a:latin typeface="Arial"/>
                <a:cs typeface="Arial"/>
              </a:rPr>
              <a:t>is </a:t>
            </a:r>
            <a:r>
              <a:rPr dirty="0" sz="1200" i="1">
                <a:latin typeface="Arial"/>
                <a:cs typeface="Arial"/>
              </a:rPr>
              <a:t>an </a:t>
            </a:r>
            <a:r>
              <a:rPr dirty="0" sz="1200" spc="-85" i="1">
                <a:latin typeface="Arial"/>
                <a:cs typeface="Arial"/>
              </a:rPr>
              <a:t>‗Alim </a:t>
            </a:r>
            <a:r>
              <a:rPr dirty="0" sz="1200" spc="-5" i="1">
                <a:latin typeface="Arial"/>
                <a:cs typeface="Arial"/>
              </a:rPr>
              <a:t>(Scholar) </a:t>
            </a:r>
            <a:r>
              <a:rPr dirty="0" sz="1200" i="1">
                <a:latin typeface="Arial"/>
                <a:cs typeface="Arial"/>
              </a:rPr>
              <a:t>of </a:t>
            </a:r>
            <a:r>
              <a:rPr dirty="0" sz="1200" spc="-5" i="1">
                <a:latin typeface="Arial"/>
                <a:cs typeface="Arial"/>
              </a:rPr>
              <a:t>Quraish. And </a:t>
            </a:r>
            <a:r>
              <a:rPr dirty="0" sz="1200" i="1">
                <a:latin typeface="Arial"/>
                <a:cs typeface="Arial"/>
              </a:rPr>
              <a:t>the </a:t>
            </a:r>
            <a:r>
              <a:rPr dirty="0" sz="1200" spc="-5" i="1">
                <a:latin typeface="Arial"/>
                <a:cs typeface="Arial"/>
              </a:rPr>
              <a:t>Prophet (Sallallahu  Alaihi </a:t>
            </a:r>
            <a:r>
              <a:rPr dirty="0" sz="1200" i="1">
                <a:latin typeface="Arial"/>
                <a:cs typeface="Arial"/>
              </a:rPr>
              <a:t>Wa </a:t>
            </a:r>
            <a:r>
              <a:rPr dirty="0" sz="1200" spc="-5" i="1">
                <a:latin typeface="Arial"/>
                <a:cs typeface="Arial"/>
              </a:rPr>
              <a:t>Sallam) said, An Alim </a:t>
            </a:r>
            <a:r>
              <a:rPr dirty="0" sz="1200" i="1">
                <a:latin typeface="Arial"/>
                <a:cs typeface="Arial"/>
              </a:rPr>
              <a:t>of Quraish </a:t>
            </a:r>
            <a:r>
              <a:rPr dirty="0" sz="1200" spc="-5" i="1">
                <a:latin typeface="Arial"/>
                <a:cs typeface="Arial"/>
              </a:rPr>
              <a:t>fills </a:t>
            </a:r>
            <a:r>
              <a:rPr dirty="0" sz="1200" i="1">
                <a:latin typeface="Arial"/>
                <a:cs typeface="Arial"/>
              </a:rPr>
              <a:t>the </a:t>
            </a:r>
            <a:r>
              <a:rPr dirty="0" sz="1200" spc="-5" i="1">
                <a:latin typeface="Arial"/>
                <a:cs typeface="Arial"/>
              </a:rPr>
              <a:t>earth with</a:t>
            </a:r>
            <a:r>
              <a:rPr dirty="0" sz="1200" spc="35" i="1">
                <a:latin typeface="Arial"/>
                <a:cs typeface="Arial"/>
              </a:rPr>
              <a:t> </a:t>
            </a:r>
            <a:r>
              <a:rPr dirty="0" sz="1200" spc="-15" i="1">
                <a:latin typeface="Arial"/>
                <a:cs typeface="Arial"/>
              </a:rPr>
              <a:t>knowledge</a:t>
            </a:r>
            <a:r>
              <a:rPr dirty="0" sz="1200" spc="-15">
                <a:latin typeface="Arial"/>
                <a:cs typeface="Arial"/>
              </a:rPr>
              <a:t>.‖</a:t>
            </a:r>
            <a:endParaRPr sz="1200">
              <a:latin typeface="Arial"/>
              <a:cs typeface="Arial"/>
            </a:endParaRPr>
          </a:p>
          <a:p>
            <a:pPr>
              <a:lnSpc>
                <a:spcPct val="100000"/>
              </a:lnSpc>
              <a:spcBef>
                <a:spcPts val="50"/>
              </a:spcBef>
            </a:pPr>
            <a:endParaRPr sz="1550">
              <a:latin typeface="Arial"/>
              <a:cs typeface="Arial"/>
            </a:endParaRPr>
          </a:p>
          <a:p>
            <a:pPr marL="469900" indent="-229235">
              <a:lnSpc>
                <a:spcPct val="100000"/>
              </a:lnSpc>
              <a:spcBef>
                <a:spcPts val="5"/>
              </a:spcBef>
              <a:buFont typeface="Wingdings"/>
              <a:buChar char=""/>
              <a:tabLst>
                <a:tab pos="470534" algn="l"/>
              </a:tabLst>
            </a:pPr>
            <a:r>
              <a:rPr dirty="0" u="heavy" sz="1200" spc="-5" b="1" i="1">
                <a:uFill>
                  <a:solidFill>
                    <a:srgbClr val="000000"/>
                  </a:solidFill>
                </a:uFill>
                <a:latin typeface="Arial"/>
                <a:cs typeface="Arial"/>
              </a:rPr>
              <a:t>Imam Ahmad Bin Hambal</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(ra)</a:t>
            </a:r>
            <a:endParaRPr sz="1200">
              <a:latin typeface="Arial"/>
              <a:cs typeface="Arial"/>
            </a:endParaRPr>
          </a:p>
          <a:p>
            <a:pPr>
              <a:lnSpc>
                <a:spcPct val="100000"/>
              </a:lnSpc>
              <a:spcBef>
                <a:spcPts val="35"/>
              </a:spcBef>
              <a:buFont typeface="Wingdings"/>
              <a:buChar char=""/>
            </a:pPr>
            <a:endParaRPr sz="1200">
              <a:latin typeface="Arial"/>
              <a:cs typeface="Arial"/>
            </a:endParaRPr>
          </a:p>
          <a:p>
            <a:pPr algn="just" marL="12700" marR="5080">
              <a:lnSpc>
                <a:spcPts val="1380"/>
              </a:lnSpc>
            </a:pPr>
            <a:r>
              <a:rPr dirty="0" sz="1200" spc="-5">
                <a:latin typeface="Arial"/>
                <a:cs typeface="Arial"/>
              </a:rPr>
              <a:t>He </a:t>
            </a:r>
            <a:r>
              <a:rPr dirty="0" sz="1200" spc="-10">
                <a:latin typeface="Arial"/>
                <a:cs typeface="Arial"/>
              </a:rPr>
              <a:t>was </a:t>
            </a:r>
            <a:r>
              <a:rPr dirty="0" sz="1200">
                <a:latin typeface="Arial"/>
                <a:cs typeface="Arial"/>
              </a:rPr>
              <a:t>the last </a:t>
            </a:r>
            <a:r>
              <a:rPr dirty="0" sz="1200" spc="-5">
                <a:latin typeface="Arial"/>
                <a:cs typeface="Arial"/>
              </a:rPr>
              <a:t>of the </a:t>
            </a:r>
            <a:r>
              <a:rPr dirty="0" sz="1200">
                <a:latin typeface="Arial"/>
                <a:cs typeface="Arial"/>
              </a:rPr>
              <a:t>four </a:t>
            </a:r>
            <a:r>
              <a:rPr dirty="0" sz="1200" spc="-5">
                <a:latin typeface="Arial"/>
                <a:cs typeface="Arial"/>
              </a:rPr>
              <a:t>imams and he </a:t>
            </a:r>
            <a:r>
              <a:rPr dirty="0" sz="1200" spc="-10">
                <a:latin typeface="Arial"/>
                <a:cs typeface="Arial"/>
              </a:rPr>
              <a:t>was </a:t>
            </a:r>
            <a:r>
              <a:rPr dirty="0" sz="1200" spc="-5">
                <a:latin typeface="Arial"/>
                <a:cs typeface="Arial"/>
              </a:rPr>
              <a:t>born in the year 164 AH and died in the </a:t>
            </a:r>
            <a:r>
              <a:rPr dirty="0" sz="1200" spc="-10">
                <a:latin typeface="Arial"/>
                <a:cs typeface="Arial"/>
              </a:rPr>
              <a:t>year  </a:t>
            </a:r>
            <a:r>
              <a:rPr dirty="0" sz="1200" spc="-5">
                <a:latin typeface="Arial"/>
                <a:cs typeface="Arial"/>
              </a:rPr>
              <a:t>241 </a:t>
            </a:r>
            <a:r>
              <a:rPr dirty="0" sz="1200">
                <a:latin typeface="Arial"/>
                <a:cs typeface="Arial"/>
              </a:rPr>
              <a:t>AH. </a:t>
            </a:r>
            <a:r>
              <a:rPr dirty="0" sz="1200" spc="-5">
                <a:latin typeface="Arial"/>
                <a:cs typeface="Arial"/>
              </a:rPr>
              <a:t>His name </a:t>
            </a:r>
            <a:r>
              <a:rPr dirty="0" sz="1200" spc="-10">
                <a:latin typeface="Arial"/>
                <a:cs typeface="Arial"/>
              </a:rPr>
              <a:t>was </a:t>
            </a:r>
            <a:r>
              <a:rPr dirty="0" sz="1200" spc="-5">
                <a:latin typeface="Arial"/>
                <a:cs typeface="Arial"/>
              </a:rPr>
              <a:t>Ahmad bin Muhammad bin </a:t>
            </a:r>
            <a:r>
              <a:rPr dirty="0" sz="1200">
                <a:latin typeface="Arial"/>
                <a:cs typeface="Arial"/>
              </a:rPr>
              <a:t>Hanbal. </a:t>
            </a:r>
            <a:r>
              <a:rPr dirty="0" sz="1200" spc="-5">
                <a:latin typeface="Arial"/>
                <a:cs typeface="Arial"/>
              </a:rPr>
              <a:t>He </a:t>
            </a:r>
            <a:r>
              <a:rPr dirty="0" sz="1200" spc="-10">
                <a:latin typeface="Arial"/>
                <a:cs typeface="Arial"/>
              </a:rPr>
              <a:t>was </a:t>
            </a:r>
            <a:r>
              <a:rPr dirty="0" sz="1200" spc="-5">
                <a:latin typeface="Arial"/>
                <a:cs typeface="Arial"/>
              </a:rPr>
              <a:t>an Arab scholar and </a:t>
            </a:r>
            <a:r>
              <a:rPr dirty="0" sz="1200" spc="-10">
                <a:latin typeface="Arial"/>
                <a:cs typeface="Arial"/>
              </a:rPr>
              <a:t>was  </a:t>
            </a:r>
            <a:r>
              <a:rPr dirty="0" sz="1200" spc="-5">
                <a:latin typeface="Arial"/>
                <a:cs typeface="Arial"/>
              </a:rPr>
              <a:t>born in Marw </a:t>
            </a:r>
            <a:r>
              <a:rPr dirty="0" sz="1200">
                <a:latin typeface="Arial"/>
                <a:cs typeface="Arial"/>
              </a:rPr>
              <a:t>(in </a:t>
            </a:r>
            <a:r>
              <a:rPr dirty="0" sz="1200" spc="-5">
                <a:latin typeface="Arial"/>
                <a:cs typeface="Arial"/>
              </a:rPr>
              <a:t>Jordan). He </a:t>
            </a:r>
            <a:r>
              <a:rPr dirty="0" sz="1200" spc="-10">
                <a:latin typeface="Arial"/>
                <a:cs typeface="Arial"/>
              </a:rPr>
              <a:t>was </a:t>
            </a:r>
            <a:r>
              <a:rPr dirty="0" sz="1200">
                <a:latin typeface="Arial"/>
                <a:cs typeface="Arial"/>
              </a:rPr>
              <a:t>from </a:t>
            </a:r>
            <a:r>
              <a:rPr dirty="0" sz="1200" spc="-5">
                <a:latin typeface="Arial"/>
                <a:cs typeface="Arial"/>
              </a:rPr>
              <a:t>a Mujahid (Warrior) </a:t>
            </a:r>
            <a:r>
              <a:rPr dirty="0" sz="1200">
                <a:latin typeface="Arial"/>
                <a:cs typeface="Arial"/>
              </a:rPr>
              <a:t>Family </a:t>
            </a:r>
            <a:r>
              <a:rPr dirty="0" sz="1200" spc="-5">
                <a:latin typeface="Arial"/>
                <a:cs typeface="Arial"/>
              </a:rPr>
              <a:t>and witnessed the </a:t>
            </a:r>
            <a:r>
              <a:rPr dirty="0" sz="1200" spc="-10">
                <a:latin typeface="Arial"/>
                <a:cs typeface="Arial"/>
              </a:rPr>
              <a:t>Period  </a:t>
            </a:r>
            <a:r>
              <a:rPr dirty="0" sz="1200" spc="-5">
                <a:latin typeface="Arial"/>
                <a:cs typeface="Arial"/>
              </a:rPr>
              <a:t>of Tabi‘in and the Abbasid Dynasty. He </a:t>
            </a:r>
            <a:r>
              <a:rPr dirty="0" sz="1200" spc="-10">
                <a:latin typeface="Arial"/>
                <a:cs typeface="Arial"/>
              </a:rPr>
              <a:t>was </a:t>
            </a:r>
            <a:r>
              <a:rPr dirty="0" sz="1200">
                <a:latin typeface="Arial"/>
                <a:cs typeface="Arial"/>
              </a:rPr>
              <a:t>the most </a:t>
            </a:r>
            <a:r>
              <a:rPr dirty="0" sz="1200" spc="-5">
                <a:latin typeface="Arial"/>
                <a:cs typeface="Arial"/>
              </a:rPr>
              <a:t>learned in the affairs of </a:t>
            </a:r>
            <a:r>
              <a:rPr dirty="0" sz="1200">
                <a:latin typeface="Arial"/>
                <a:cs typeface="Arial"/>
              </a:rPr>
              <a:t>Ahadith. </a:t>
            </a:r>
            <a:r>
              <a:rPr dirty="0" sz="1200" spc="-10">
                <a:latin typeface="Arial"/>
                <a:cs typeface="Arial"/>
              </a:rPr>
              <a:t>He  </a:t>
            </a:r>
            <a:r>
              <a:rPr dirty="0" sz="1200" spc="-5">
                <a:latin typeface="Arial"/>
                <a:cs typeface="Arial"/>
              </a:rPr>
              <a:t>was </a:t>
            </a:r>
            <a:r>
              <a:rPr dirty="0" sz="1200">
                <a:latin typeface="Arial"/>
                <a:cs typeface="Arial"/>
              </a:rPr>
              <a:t>a </a:t>
            </a:r>
            <a:r>
              <a:rPr dirty="0" sz="1200" spc="-5">
                <a:latin typeface="Arial"/>
                <a:cs typeface="Arial"/>
              </a:rPr>
              <a:t>Tab‘ut Tabi‘in. He obtained his education </a:t>
            </a:r>
            <a:r>
              <a:rPr dirty="0" sz="1200">
                <a:latin typeface="Arial"/>
                <a:cs typeface="Arial"/>
              </a:rPr>
              <a:t>from famous </a:t>
            </a:r>
            <a:r>
              <a:rPr dirty="0" sz="1200" spc="-5">
                <a:latin typeface="Arial"/>
                <a:cs typeface="Arial"/>
              </a:rPr>
              <a:t>Tabi‘in </a:t>
            </a:r>
            <a:r>
              <a:rPr dirty="0" sz="1200">
                <a:latin typeface="Arial"/>
                <a:cs typeface="Arial"/>
              </a:rPr>
              <a:t>and </a:t>
            </a:r>
            <a:r>
              <a:rPr dirty="0" sz="1200" spc="-5">
                <a:latin typeface="Arial"/>
                <a:cs typeface="Arial"/>
              </a:rPr>
              <a:t>the names of Imam  Shafi‘I, Bishr bin al Mufaddal and Yahya bin Sa‘id can be noted. His renowned students are  Abu </a:t>
            </a:r>
            <a:r>
              <a:rPr dirty="0" sz="1200">
                <a:latin typeface="Arial"/>
                <a:cs typeface="Arial"/>
              </a:rPr>
              <a:t>Bakr al Ahram, </a:t>
            </a:r>
            <a:r>
              <a:rPr dirty="0" sz="1200" spc="-5">
                <a:latin typeface="Arial"/>
                <a:cs typeface="Arial"/>
              </a:rPr>
              <a:t>Hanbal bin Ishaq and </a:t>
            </a:r>
            <a:r>
              <a:rPr dirty="0" sz="1200" spc="-10">
                <a:latin typeface="Arial"/>
                <a:cs typeface="Arial"/>
              </a:rPr>
              <a:t>Abul </a:t>
            </a:r>
            <a:r>
              <a:rPr dirty="0" sz="1200">
                <a:latin typeface="Arial"/>
                <a:cs typeface="Arial"/>
              </a:rPr>
              <a:t>Qasim </a:t>
            </a:r>
            <a:r>
              <a:rPr dirty="0" sz="1200" spc="-5">
                <a:latin typeface="Arial"/>
                <a:cs typeface="Arial"/>
              </a:rPr>
              <a:t>al</a:t>
            </a:r>
            <a:r>
              <a:rPr dirty="0" sz="1200" spc="5">
                <a:latin typeface="Arial"/>
                <a:cs typeface="Arial"/>
              </a:rPr>
              <a:t> </a:t>
            </a:r>
            <a:r>
              <a:rPr dirty="0" sz="1200" spc="-5">
                <a:latin typeface="Arial"/>
                <a:cs typeface="Arial"/>
              </a:rPr>
              <a:t>Baghwi.</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Views on</a:t>
            </a:r>
            <a:r>
              <a:rPr dirty="0" u="heavy" sz="1200" spc="-10" b="1" i="1">
                <a:uFill>
                  <a:solidFill>
                    <a:srgbClr val="000000"/>
                  </a:solidFill>
                </a:uFill>
                <a:latin typeface="Arial"/>
                <a:cs typeface="Arial"/>
              </a:rPr>
              <a:t> </a:t>
            </a:r>
            <a:r>
              <a:rPr dirty="0" u="heavy" sz="1200" spc="-40" b="1" i="1">
                <a:uFill>
                  <a:solidFill>
                    <a:srgbClr val="000000"/>
                  </a:solidFill>
                </a:uFill>
                <a:latin typeface="Arial"/>
                <a:cs typeface="Arial"/>
              </a:rPr>
              <a:t>Shari‟ah</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Font typeface="Wingdings"/>
              <a:buChar char=""/>
              <a:tabLst>
                <a:tab pos="470534" algn="l"/>
              </a:tabLst>
            </a:pPr>
            <a:r>
              <a:rPr dirty="0" sz="1200" spc="-5">
                <a:latin typeface="Arial"/>
                <a:cs typeface="Arial"/>
              </a:rPr>
              <a:t>Made a merger of the 3 Mathhab before</a:t>
            </a:r>
            <a:r>
              <a:rPr dirty="0" sz="1200" spc="10">
                <a:latin typeface="Arial"/>
                <a:cs typeface="Arial"/>
              </a:rPr>
              <a:t> </a:t>
            </a:r>
            <a:r>
              <a:rPr dirty="0" sz="1200" spc="-5">
                <a:latin typeface="Arial"/>
                <a:cs typeface="Arial"/>
              </a:rPr>
              <a:t>him</a:t>
            </a:r>
            <a:endParaRPr sz="1200">
              <a:latin typeface="Arial"/>
              <a:cs typeface="Arial"/>
            </a:endParaRPr>
          </a:p>
          <a:p>
            <a:pPr marL="469900" indent="-229235">
              <a:lnSpc>
                <a:spcPts val="1380"/>
              </a:lnSpc>
              <a:buFont typeface="Wingdings"/>
              <a:buChar char=""/>
              <a:tabLst>
                <a:tab pos="470534" algn="l"/>
              </a:tabLst>
            </a:pPr>
            <a:r>
              <a:rPr dirty="0" sz="1200" spc="-5">
                <a:latin typeface="Arial"/>
                <a:cs typeface="Arial"/>
              </a:rPr>
              <a:t>Based </a:t>
            </a:r>
            <a:r>
              <a:rPr dirty="0" sz="1200">
                <a:latin typeface="Arial"/>
                <a:cs typeface="Arial"/>
              </a:rPr>
              <a:t>his </a:t>
            </a:r>
            <a:r>
              <a:rPr dirty="0" sz="1200" spc="-5">
                <a:latin typeface="Arial"/>
                <a:cs typeface="Arial"/>
              </a:rPr>
              <a:t>opinion </a:t>
            </a:r>
            <a:r>
              <a:rPr dirty="0" sz="1200">
                <a:latin typeface="Arial"/>
                <a:cs typeface="Arial"/>
              </a:rPr>
              <a:t>on</a:t>
            </a:r>
            <a:r>
              <a:rPr dirty="0" sz="1200" spc="-35">
                <a:latin typeface="Arial"/>
                <a:cs typeface="Arial"/>
              </a:rPr>
              <a:t> </a:t>
            </a:r>
            <a:r>
              <a:rPr dirty="0" sz="1200">
                <a:latin typeface="Arial"/>
                <a:cs typeface="Arial"/>
              </a:rPr>
              <a:t>Hadith</a:t>
            </a:r>
            <a:endParaRPr sz="1200">
              <a:latin typeface="Arial"/>
              <a:cs typeface="Arial"/>
            </a:endParaRPr>
          </a:p>
          <a:p>
            <a:pPr marL="469900" indent="-229235">
              <a:lnSpc>
                <a:spcPts val="1380"/>
              </a:lnSpc>
              <a:buFont typeface="Wingdings"/>
              <a:buChar char=""/>
              <a:tabLst>
                <a:tab pos="470534" algn="l"/>
              </a:tabLst>
            </a:pPr>
            <a:r>
              <a:rPr dirty="0" sz="1200" spc="-5">
                <a:latin typeface="Arial"/>
                <a:cs typeface="Arial"/>
              </a:rPr>
              <a:t>Devoted life to Ahadith </a:t>
            </a:r>
            <a:r>
              <a:rPr dirty="0" sz="1200">
                <a:latin typeface="Arial"/>
                <a:cs typeface="Arial"/>
              </a:rPr>
              <a:t>and</a:t>
            </a:r>
            <a:r>
              <a:rPr dirty="0" sz="1200" spc="-5">
                <a:latin typeface="Arial"/>
                <a:cs typeface="Arial"/>
              </a:rPr>
              <a:t> Fiqh</a:t>
            </a:r>
            <a:endParaRPr sz="1200">
              <a:latin typeface="Arial"/>
              <a:cs typeface="Arial"/>
            </a:endParaRPr>
          </a:p>
          <a:p>
            <a:pPr marL="469900" indent="-229235">
              <a:lnSpc>
                <a:spcPts val="1380"/>
              </a:lnSpc>
              <a:buFont typeface="Wingdings"/>
              <a:buChar char=""/>
              <a:tabLst>
                <a:tab pos="470534" algn="l"/>
              </a:tabLst>
            </a:pPr>
            <a:r>
              <a:rPr dirty="0" sz="1200" spc="-5">
                <a:latin typeface="Arial"/>
                <a:cs typeface="Arial"/>
              </a:rPr>
              <a:t>Refused Mu‘tazilites</a:t>
            </a:r>
            <a:r>
              <a:rPr dirty="0" sz="1200" spc="5">
                <a:latin typeface="Arial"/>
                <a:cs typeface="Arial"/>
              </a:rPr>
              <a:t> </a:t>
            </a:r>
            <a:r>
              <a:rPr dirty="0" sz="1200" spc="-5">
                <a:latin typeface="Arial"/>
                <a:cs typeface="Arial"/>
              </a:rPr>
              <a:t>doctrines</a:t>
            </a:r>
            <a:endParaRPr sz="1200">
              <a:latin typeface="Arial"/>
              <a:cs typeface="Arial"/>
            </a:endParaRPr>
          </a:p>
          <a:p>
            <a:pPr marL="469900" indent="-229235">
              <a:lnSpc>
                <a:spcPts val="1380"/>
              </a:lnSpc>
              <a:buFont typeface="Wingdings"/>
              <a:buChar char=""/>
              <a:tabLst>
                <a:tab pos="470534" algn="l"/>
              </a:tabLst>
            </a:pPr>
            <a:r>
              <a:rPr dirty="0" sz="1200" spc="-5">
                <a:latin typeface="Arial"/>
                <a:cs typeface="Arial"/>
              </a:rPr>
              <a:t>No use of Kalam</a:t>
            </a:r>
            <a:r>
              <a:rPr dirty="0" sz="1200" spc="15">
                <a:latin typeface="Arial"/>
                <a:cs typeface="Arial"/>
              </a:rPr>
              <a:t> </a:t>
            </a:r>
            <a:r>
              <a:rPr dirty="0" sz="1200" spc="-5">
                <a:latin typeface="Arial"/>
                <a:cs typeface="Arial"/>
              </a:rPr>
              <a:t>(Theology)</a:t>
            </a:r>
            <a:endParaRPr sz="1200">
              <a:latin typeface="Arial"/>
              <a:cs typeface="Arial"/>
            </a:endParaRPr>
          </a:p>
          <a:p>
            <a:pPr marL="469900" indent="-229235">
              <a:lnSpc>
                <a:spcPts val="1380"/>
              </a:lnSpc>
              <a:buFont typeface="Wingdings"/>
              <a:buChar char=""/>
              <a:tabLst>
                <a:tab pos="470534" algn="l"/>
              </a:tabLst>
            </a:pPr>
            <a:r>
              <a:rPr dirty="0" sz="1200" spc="-5">
                <a:latin typeface="Arial"/>
                <a:cs typeface="Arial"/>
              </a:rPr>
              <a:t>Kalam is</a:t>
            </a:r>
            <a:r>
              <a:rPr dirty="0" sz="1200" spc="5">
                <a:latin typeface="Arial"/>
                <a:cs typeface="Arial"/>
              </a:rPr>
              <a:t> </a:t>
            </a:r>
            <a:r>
              <a:rPr dirty="0" sz="1200" spc="-5">
                <a:latin typeface="Arial"/>
                <a:cs typeface="Arial"/>
              </a:rPr>
              <a:t>reprehensible</a:t>
            </a:r>
            <a:endParaRPr sz="1200">
              <a:latin typeface="Arial"/>
              <a:cs typeface="Arial"/>
            </a:endParaRPr>
          </a:p>
          <a:p>
            <a:pPr marL="469900" indent="-229235">
              <a:lnSpc>
                <a:spcPts val="1380"/>
              </a:lnSpc>
              <a:buFont typeface="Wingdings"/>
              <a:buChar char=""/>
              <a:tabLst>
                <a:tab pos="470534" algn="l"/>
              </a:tabLst>
            </a:pPr>
            <a:r>
              <a:rPr dirty="0" sz="1200" spc="-5">
                <a:latin typeface="Arial"/>
                <a:cs typeface="Arial"/>
              </a:rPr>
              <a:t>Qur‘an</a:t>
            </a:r>
            <a:endParaRPr sz="1200">
              <a:latin typeface="Arial"/>
              <a:cs typeface="Arial"/>
            </a:endParaRPr>
          </a:p>
          <a:p>
            <a:pPr marL="469900" indent="-229235">
              <a:lnSpc>
                <a:spcPts val="1380"/>
              </a:lnSpc>
              <a:buFont typeface="Wingdings"/>
              <a:buChar char=""/>
              <a:tabLst>
                <a:tab pos="470534" algn="l"/>
              </a:tabLst>
            </a:pPr>
            <a:r>
              <a:rPr dirty="0" sz="1200" spc="-5">
                <a:latin typeface="Arial"/>
                <a:cs typeface="Arial"/>
              </a:rPr>
              <a:t>Sunnah</a:t>
            </a:r>
            <a:endParaRPr sz="1200">
              <a:latin typeface="Arial"/>
              <a:cs typeface="Arial"/>
            </a:endParaRPr>
          </a:p>
          <a:p>
            <a:pPr marL="469900" indent="-229235">
              <a:lnSpc>
                <a:spcPts val="1380"/>
              </a:lnSpc>
              <a:buFont typeface="Wingdings"/>
              <a:buChar char=""/>
              <a:tabLst>
                <a:tab pos="470534" algn="l"/>
              </a:tabLst>
            </a:pPr>
            <a:r>
              <a:rPr dirty="0" sz="1200">
                <a:latin typeface="Arial"/>
                <a:cs typeface="Arial"/>
              </a:rPr>
              <a:t>Ijma‘</a:t>
            </a:r>
            <a:endParaRPr sz="1200">
              <a:latin typeface="Arial"/>
              <a:cs typeface="Arial"/>
            </a:endParaRPr>
          </a:p>
          <a:p>
            <a:pPr marL="469900" indent="-229235">
              <a:lnSpc>
                <a:spcPts val="1410"/>
              </a:lnSpc>
              <a:buFont typeface="Wingdings"/>
              <a:buChar char=""/>
              <a:tabLst>
                <a:tab pos="470534" algn="l"/>
              </a:tabLst>
            </a:pPr>
            <a:r>
              <a:rPr dirty="0" sz="1200" spc="-5">
                <a:latin typeface="Arial"/>
                <a:cs typeface="Arial"/>
              </a:rPr>
              <a:t>Qiyas</a:t>
            </a:r>
            <a:endParaRPr sz="1200">
              <a:latin typeface="Arial"/>
              <a:cs typeface="Arial"/>
            </a:endParaRPr>
          </a:p>
          <a:p>
            <a:pPr>
              <a:lnSpc>
                <a:spcPct val="100000"/>
              </a:lnSpc>
              <a:spcBef>
                <a:spcPts val="35"/>
              </a:spcBef>
            </a:pPr>
            <a:endParaRPr sz="1600">
              <a:latin typeface="Arial"/>
              <a:cs typeface="Arial"/>
            </a:endParaRPr>
          </a:p>
          <a:p>
            <a:pPr algn="just" marL="12700" marR="5080">
              <a:lnSpc>
                <a:spcPct val="95700"/>
              </a:lnSpc>
            </a:pPr>
            <a:r>
              <a:rPr dirty="0" sz="1200">
                <a:latin typeface="Arial"/>
                <a:cs typeface="Arial"/>
              </a:rPr>
              <a:t>In </a:t>
            </a:r>
            <a:r>
              <a:rPr dirty="0" sz="1200" spc="-5">
                <a:latin typeface="Arial"/>
                <a:cs typeface="Arial"/>
              </a:rPr>
              <a:t>addition </a:t>
            </a:r>
            <a:r>
              <a:rPr dirty="0" sz="1200">
                <a:latin typeface="Arial"/>
                <a:cs typeface="Arial"/>
              </a:rPr>
              <a:t>to </a:t>
            </a:r>
            <a:r>
              <a:rPr dirty="0" sz="1200" spc="-5" i="1">
                <a:latin typeface="Arial"/>
                <a:cs typeface="Arial"/>
              </a:rPr>
              <a:t>Masnad, </a:t>
            </a:r>
            <a:r>
              <a:rPr dirty="0" sz="1200" spc="-5">
                <a:latin typeface="Arial"/>
                <a:cs typeface="Arial"/>
              </a:rPr>
              <a:t>his exceptional collection of </a:t>
            </a:r>
            <a:r>
              <a:rPr dirty="0" sz="1200">
                <a:latin typeface="Arial"/>
                <a:cs typeface="Arial"/>
              </a:rPr>
              <a:t>Hadith, </a:t>
            </a:r>
            <a:r>
              <a:rPr dirty="0" sz="1200" spc="-5" i="1">
                <a:latin typeface="Arial"/>
                <a:cs typeface="Arial"/>
              </a:rPr>
              <a:t>Kitab al-Zuhd </a:t>
            </a:r>
            <a:r>
              <a:rPr dirty="0" sz="1200" spc="-5">
                <a:latin typeface="Arial"/>
                <a:cs typeface="Arial"/>
              </a:rPr>
              <a:t>is also considered  </a:t>
            </a:r>
            <a:r>
              <a:rPr dirty="0" sz="1200">
                <a:latin typeface="Arial"/>
                <a:cs typeface="Arial"/>
              </a:rPr>
              <a:t>to </a:t>
            </a:r>
            <a:r>
              <a:rPr dirty="0" sz="1200" spc="-5">
                <a:latin typeface="Arial"/>
                <a:cs typeface="Arial"/>
              </a:rPr>
              <a:t>be an influential work in </a:t>
            </a:r>
            <a:r>
              <a:rPr dirty="0" sz="1200">
                <a:latin typeface="Arial"/>
                <a:cs typeface="Arial"/>
              </a:rPr>
              <a:t>Islamic </a:t>
            </a:r>
            <a:r>
              <a:rPr dirty="0" sz="1200" spc="-5">
                <a:latin typeface="Arial"/>
                <a:cs typeface="Arial"/>
              </a:rPr>
              <a:t>heritage as well as </a:t>
            </a:r>
            <a:r>
              <a:rPr dirty="0" sz="1200" spc="5">
                <a:latin typeface="Arial"/>
                <a:cs typeface="Arial"/>
              </a:rPr>
              <a:t>Kitabul </a:t>
            </a:r>
            <a:r>
              <a:rPr dirty="0" sz="1200" spc="-5">
                <a:latin typeface="Arial"/>
                <a:cs typeface="Arial"/>
              </a:rPr>
              <a:t>A‘maal, Kitaabut Tafseer,  Kitaabul Naasikh wal Mansookh, Kitaabul Masaa‘il </a:t>
            </a:r>
            <a:r>
              <a:rPr dirty="0" sz="1200">
                <a:latin typeface="Arial"/>
                <a:cs typeface="Arial"/>
              </a:rPr>
              <a:t>and </a:t>
            </a:r>
            <a:r>
              <a:rPr dirty="0" sz="1200" spc="-5">
                <a:latin typeface="Arial"/>
                <a:cs typeface="Arial"/>
              </a:rPr>
              <a:t>Kitaabul Fadaa‘il. He strongly  believed in the orthodox doctrine of Islam and propagated </a:t>
            </a:r>
            <a:r>
              <a:rPr dirty="0" sz="1200">
                <a:latin typeface="Arial"/>
                <a:cs typeface="Arial"/>
              </a:rPr>
              <a:t>it. </a:t>
            </a:r>
            <a:r>
              <a:rPr dirty="0" sz="1200" spc="-5">
                <a:latin typeface="Arial"/>
                <a:cs typeface="Arial"/>
              </a:rPr>
              <a:t>He wrote </a:t>
            </a:r>
            <a:r>
              <a:rPr dirty="0" sz="1200" spc="-10">
                <a:latin typeface="Arial"/>
                <a:cs typeface="Arial"/>
              </a:rPr>
              <a:t>two </a:t>
            </a:r>
            <a:r>
              <a:rPr dirty="0" sz="1200" spc="-5">
                <a:latin typeface="Arial"/>
                <a:cs typeface="Arial"/>
              </a:rPr>
              <a:t>important </a:t>
            </a:r>
            <a:r>
              <a:rPr dirty="0" sz="1200" spc="-10">
                <a:latin typeface="Arial"/>
                <a:cs typeface="Arial"/>
              </a:rPr>
              <a:t>books  </a:t>
            </a:r>
            <a:r>
              <a:rPr dirty="0" sz="1200" spc="-5">
                <a:latin typeface="Arial"/>
                <a:cs typeface="Arial"/>
              </a:rPr>
              <a:t>on the orthodox religious doctrine, the </a:t>
            </a:r>
            <a:r>
              <a:rPr dirty="0" sz="1200" spc="-5" i="1">
                <a:latin typeface="Arial"/>
                <a:cs typeface="Arial"/>
              </a:rPr>
              <a:t>Kitab al-Sunnah </a:t>
            </a:r>
            <a:r>
              <a:rPr dirty="0" sz="1200" spc="-5">
                <a:latin typeface="Arial"/>
                <a:cs typeface="Arial"/>
              </a:rPr>
              <a:t>and </a:t>
            </a:r>
            <a:r>
              <a:rPr dirty="0" sz="1200" spc="-5" i="1">
                <a:latin typeface="Arial"/>
                <a:cs typeface="Arial"/>
              </a:rPr>
              <a:t>al-Rad </a:t>
            </a:r>
            <a:r>
              <a:rPr dirty="0" sz="1200" spc="-105" i="1">
                <a:latin typeface="Arial"/>
                <a:cs typeface="Arial"/>
              </a:rPr>
              <a:t>‗Ala </a:t>
            </a:r>
            <a:r>
              <a:rPr dirty="0" sz="1200" spc="-5" i="1">
                <a:latin typeface="Arial"/>
                <a:cs typeface="Arial"/>
              </a:rPr>
              <a:t>al-Zanadiqah wa </a:t>
            </a:r>
            <a:r>
              <a:rPr dirty="0" sz="1200" i="1">
                <a:latin typeface="Arial"/>
                <a:cs typeface="Arial"/>
              </a:rPr>
              <a:t>al-  </a:t>
            </a:r>
            <a:r>
              <a:rPr dirty="0" sz="1200" spc="-5" i="1">
                <a:latin typeface="Arial"/>
                <a:cs typeface="Arial"/>
              </a:rPr>
              <a:t>Jahmiyah</a:t>
            </a:r>
            <a:r>
              <a:rPr dirty="0" sz="1200" spc="-5">
                <a:latin typeface="Arial"/>
                <a:cs typeface="Arial"/>
              </a:rPr>
              <a:t>. He </a:t>
            </a:r>
            <a:r>
              <a:rPr dirty="0" sz="1200" spc="-10">
                <a:latin typeface="Arial"/>
                <a:cs typeface="Arial"/>
              </a:rPr>
              <a:t>was </a:t>
            </a:r>
            <a:r>
              <a:rPr dirty="0" sz="1200" spc="-5">
                <a:latin typeface="Arial"/>
                <a:cs typeface="Arial"/>
              </a:rPr>
              <a:t>a great jurist but </a:t>
            </a:r>
            <a:r>
              <a:rPr dirty="0" sz="1200" spc="-10">
                <a:latin typeface="Arial"/>
                <a:cs typeface="Arial"/>
              </a:rPr>
              <a:t>was </a:t>
            </a:r>
            <a:r>
              <a:rPr dirty="0" sz="1200" spc="-5">
                <a:latin typeface="Arial"/>
                <a:cs typeface="Arial"/>
              </a:rPr>
              <a:t>reluctant </a:t>
            </a:r>
            <a:r>
              <a:rPr dirty="0" sz="1200">
                <a:latin typeface="Arial"/>
                <a:cs typeface="Arial"/>
              </a:rPr>
              <a:t>to </a:t>
            </a:r>
            <a:r>
              <a:rPr dirty="0" sz="1200" spc="-10">
                <a:latin typeface="Arial"/>
                <a:cs typeface="Arial"/>
              </a:rPr>
              <a:t>give </a:t>
            </a:r>
            <a:r>
              <a:rPr dirty="0" sz="1200" i="1">
                <a:latin typeface="Arial"/>
                <a:cs typeface="Arial"/>
              </a:rPr>
              <a:t>fatwa. </a:t>
            </a:r>
            <a:r>
              <a:rPr dirty="0" sz="1200" spc="-5">
                <a:latin typeface="Arial"/>
                <a:cs typeface="Arial"/>
              </a:rPr>
              <a:t>A</a:t>
            </a:r>
            <a:r>
              <a:rPr dirty="0" sz="1200" spc="-5" i="1">
                <a:latin typeface="Arial"/>
                <a:cs typeface="Arial"/>
              </a:rPr>
              <a:t>l-Mukhtasar </a:t>
            </a:r>
            <a:r>
              <a:rPr dirty="0" sz="1200" spc="-5">
                <a:latin typeface="Arial"/>
                <a:cs typeface="Arial"/>
              </a:rPr>
              <a:t>by al-Khiraqi is  </a:t>
            </a:r>
            <a:r>
              <a:rPr dirty="0" sz="1200">
                <a:latin typeface="Arial"/>
                <a:cs typeface="Arial"/>
              </a:rPr>
              <a:t>the first </a:t>
            </a:r>
            <a:r>
              <a:rPr dirty="0" sz="1200" spc="-5">
                <a:latin typeface="Arial"/>
                <a:cs typeface="Arial"/>
              </a:rPr>
              <a:t>written manual of </a:t>
            </a:r>
            <a:r>
              <a:rPr dirty="0" sz="1200" spc="-5" i="1">
                <a:latin typeface="Arial"/>
                <a:cs typeface="Arial"/>
              </a:rPr>
              <a:t>fiqh </a:t>
            </a:r>
            <a:r>
              <a:rPr dirty="0" sz="1200" spc="-5">
                <a:latin typeface="Arial"/>
                <a:cs typeface="Arial"/>
              </a:rPr>
              <a:t>and an introductory work on Hanbali</a:t>
            </a:r>
            <a:r>
              <a:rPr dirty="0" sz="1200" spc="35">
                <a:latin typeface="Arial"/>
                <a:cs typeface="Arial"/>
              </a:rPr>
              <a:t> </a:t>
            </a:r>
            <a:r>
              <a:rPr dirty="0" sz="1200" spc="-5">
                <a:latin typeface="Arial"/>
                <a:cs typeface="Arial"/>
              </a:rPr>
              <a:t>fiqh.</a:t>
            </a:r>
            <a:endParaRPr sz="1200">
              <a:latin typeface="Arial"/>
              <a:cs typeface="Arial"/>
            </a:endParaRPr>
          </a:p>
          <a:p>
            <a:pPr algn="just" marL="12700" marR="6350">
              <a:lnSpc>
                <a:spcPct val="96200"/>
              </a:lnSpc>
              <a:spcBef>
                <a:spcPts val="1005"/>
              </a:spcBef>
            </a:pPr>
            <a:r>
              <a:rPr dirty="0" sz="1200">
                <a:latin typeface="Arial"/>
                <a:cs typeface="Arial"/>
              </a:rPr>
              <a:t>One </a:t>
            </a:r>
            <a:r>
              <a:rPr dirty="0" sz="1200" spc="-5">
                <a:latin typeface="Arial"/>
                <a:cs typeface="Arial"/>
              </a:rPr>
              <a:t>of the </a:t>
            </a:r>
            <a:r>
              <a:rPr dirty="0" sz="1200">
                <a:latin typeface="Arial"/>
                <a:cs typeface="Arial"/>
              </a:rPr>
              <a:t>most </a:t>
            </a:r>
            <a:r>
              <a:rPr dirty="0" sz="1200" spc="-5">
                <a:latin typeface="Arial"/>
                <a:cs typeface="Arial"/>
              </a:rPr>
              <a:t>significant events of his </a:t>
            </a:r>
            <a:r>
              <a:rPr dirty="0" sz="1200" spc="5">
                <a:latin typeface="Arial"/>
                <a:cs typeface="Arial"/>
              </a:rPr>
              <a:t>life </a:t>
            </a:r>
            <a:r>
              <a:rPr dirty="0" sz="1200" spc="-5">
                <a:latin typeface="Arial"/>
                <a:cs typeface="Arial"/>
              </a:rPr>
              <a:t>was </a:t>
            </a:r>
            <a:r>
              <a:rPr dirty="0" sz="1200">
                <a:latin typeface="Arial"/>
                <a:cs typeface="Arial"/>
              </a:rPr>
              <a:t>the trial of </a:t>
            </a:r>
            <a:r>
              <a:rPr dirty="0" sz="1200" spc="-30">
                <a:latin typeface="Arial"/>
                <a:cs typeface="Arial"/>
              </a:rPr>
              <a:t>‗</a:t>
            </a:r>
            <a:r>
              <a:rPr dirty="0" sz="1200" spc="-30" i="1">
                <a:latin typeface="Arial"/>
                <a:cs typeface="Arial"/>
              </a:rPr>
              <a:t>khalq-e-Qur‘an‘ </a:t>
            </a:r>
            <a:r>
              <a:rPr dirty="0" sz="1200" spc="-5">
                <a:latin typeface="Arial"/>
                <a:cs typeface="Arial"/>
              </a:rPr>
              <a:t>(creation of  Qur‘an) during the reign of Abbaside caliph Ma‘mun. </a:t>
            </a:r>
            <a:r>
              <a:rPr dirty="0" sz="1200" spc="-5" i="1">
                <a:latin typeface="Arial"/>
                <a:cs typeface="Arial"/>
              </a:rPr>
              <a:t>Mu‘tazilah </a:t>
            </a:r>
            <a:r>
              <a:rPr dirty="0" sz="1200" spc="-5">
                <a:latin typeface="Arial"/>
                <a:cs typeface="Arial"/>
              </a:rPr>
              <a:t>had instigated </a:t>
            </a:r>
            <a:r>
              <a:rPr dirty="0" sz="1200">
                <a:latin typeface="Arial"/>
                <a:cs typeface="Arial"/>
              </a:rPr>
              <a:t>the </a:t>
            </a:r>
            <a:r>
              <a:rPr dirty="0" sz="1200" spc="-5">
                <a:latin typeface="Arial"/>
                <a:cs typeface="Arial"/>
              </a:rPr>
              <a:t>belief that  Allah</a:t>
            </a:r>
            <a:r>
              <a:rPr dirty="0" sz="1200" spc="120">
                <a:latin typeface="Arial"/>
                <a:cs typeface="Arial"/>
              </a:rPr>
              <a:t> </a:t>
            </a:r>
            <a:r>
              <a:rPr dirty="0" sz="1200" spc="-5">
                <a:latin typeface="Arial"/>
                <a:cs typeface="Arial"/>
              </a:rPr>
              <a:t>created</a:t>
            </a:r>
            <a:r>
              <a:rPr dirty="0" sz="1200" spc="125">
                <a:latin typeface="Arial"/>
                <a:cs typeface="Arial"/>
              </a:rPr>
              <a:t> </a:t>
            </a:r>
            <a:r>
              <a:rPr dirty="0" sz="1200" spc="-5">
                <a:latin typeface="Arial"/>
                <a:cs typeface="Arial"/>
              </a:rPr>
              <a:t>His</a:t>
            </a:r>
            <a:r>
              <a:rPr dirty="0" sz="1200" spc="120">
                <a:latin typeface="Arial"/>
                <a:cs typeface="Arial"/>
              </a:rPr>
              <a:t> </a:t>
            </a:r>
            <a:r>
              <a:rPr dirty="0" sz="1200">
                <a:latin typeface="Arial"/>
                <a:cs typeface="Arial"/>
              </a:rPr>
              <a:t>speech</a:t>
            </a:r>
            <a:r>
              <a:rPr dirty="0" sz="1200" spc="130">
                <a:latin typeface="Arial"/>
                <a:cs typeface="Arial"/>
              </a:rPr>
              <a:t> </a:t>
            </a:r>
            <a:r>
              <a:rPr dirty="0" sz="1200">
                <a:latin typeface="Arial"/>
                <a:cs typeface="Arial"/>
              </a:rPr>
              <a:t>as</a:t>
            </a:r>
            <a:r>
              <a:rPr dirty="0" sz="1200" spc="125">
                <a:latin typeface="Arial"/>
                <a:cs typeface="Arial"/>
              </a:rPr>
              <a:t> </a:t>
            </a:r>
            <a:r>
              <a:rPr dirty="0" sz="1200">
                <a:latin typeface="Arial"/>
                <a:cs typeface="Arial"/>
              </a:rPr>
              <a:t>a</a:t>
            </a:r>
            <a:r>
              <a:rPr dirty="0" sz="1200" spc="120">
                <a:latin typeface="Arial"/>
                <a:cs typeface="Arial"/>
              </a:rPr>
              <a:t> </a:t>
            </a:r>
            <a:r>
              <a:rPr dirty="0" sz="1200" spc="-5">
                <a:latin typeface="Arial"/>
                <a:cs typeface="Arial"/>
              </a:rPr>
              <a:t>distinct</a:t>
            </a:r>
            <a:r>
              <a:rPr dirty="0" sz="1200" spc="125">
                <a:latin typeface="Arial"/>
                <a:cs typeface="Arial"/>
              </a:rPr>
              <a:t> </a:t>
            </a:r>
            <a:r>
              <a:rPr dirty="0" sz="1200" spc="-5">
                <a:latin typeface="Arial"/>
                <a:cs typeface="Arial"/>
              </a:rPr>
              <a:t>entity</a:t>
            </a:r>
            <a:r>
              <a:rPr dirty="0" sz="1200" spc="105">
                <a:latin typeface="Arial"/>
                <a:cs typeface="Arial"/>
              </a:rPr>
              <a:t> </a:t>
            </a:r>
            <a:r>
              <a:rPr dirty="0" sz="1200">
                <a:latin typeface="Arial"/>
                <a:cs typeface="Arial"/>
              </a:rPr>
              <a:t>and</a:t>
            </a:r>
            <a:r>
              <a:rPr dirty="0" sz="1200" spc="125">
                <a:latin typeface="Arial"/>
                <a:cs typeface="Arial"/>
              </a:rPr>
              <a:t> </a:t>
            </a:r>
            <a:r>
              <a:rPr dirty="0" sz="1200" spc="-5">
                <a:latin typeface="Arial"/>
                <a:cs typeface="Arial"/>
              </a:rPr>
              <a:t>called</a:t>
            </a:r>
            <a:r>
              <a:rPr dirty="0" sz="1200" spc="125">
                <a:latin typeface="Arial"/>
                <a:cs typeface="Arial"/>
              </a:rPr>
              <a:t> </a:t>
            </a:r>
            <a:r>
              <a:rPr dirty="0" sz="1200" spc="-5">
                <a:latin typeface="Arial"/>
                <a:cs typeface="Arial"/>
              </a:rPr>
              <a:t>it</a:t>
            </a:r>
            <a:r>
              <a:rPr dirty="0" sz="1200" spc="120">
                <a:latin typeface="Arial"/>
                <a:cs typeface="Arial"/>
              </a:rPr>
              <a:t> </a:t>
            </a:r>
            <a:r>
              <a:rPr dirty="0" sz="1200">
                <a:latin typeface="Arial"/>
                <a:cs typeface="Arial"/>
              </a:rPr>
              <a:t>the</a:t>
            </a:r>
            <a:r>
              <a:rPr dirty="0" sz="1200" spc="125">
                <a:latin typeface="Arial"/>
                <a:cs typeface="Arial"/>
              </a:rPr>
              <a:t> </a:t>
            </a:r>
            <a:r>
              <a:rPr dirty="0" sz="1200" spc="-5">
                <a:latin typeface="Arial"/>
                <a:cs typeface="Arial"/>
              </a:rPr>
              <a:t>Qur‘an.</a:t>
            </a:r>
            <a:r>
              <a:rPr dirty="0" sz="1200" spc="120">
                <a:latin typeface="Arial"/>
                <a:cs typeface="Arial"/>
              </a:rPr>
              <a:t> </a:t>
            </a:r>
            <a:r>
              <a:rPr dirty="0" sz="1200">
                <a:latin typeface="Arial"/>
                <a:cs typeface="Arial"/>
              </a:rPr>
              <a:t>This</a:t>
            </a:r>
            <a:r>
              <a:rPr dirty="0" sz="1200" spc="120">
                <a:latin typeface="Arial"/>
                <a:cs typeface="Arial"/>
              </a:rPr>
              <a:t> </a:t>
            </a:r>
            <a:r>
              <a:rPr dirty="0" sz="1200" spc="-5">
                <a:latin typeface="Arial"/>
                <a:cs typeface="Arial"/>
              </a:rPr>
              <a:t>was</a:t>
            </a:r>
            <a:r>
              <a:rPr dirty="0" sz="1200" spc="125">
                <a:latin typeface="Arial"/>
                <a:cs typeface="Arial"/>
              </a:rPr>
              <a:t> </a:t>
            </a:r>
            <a:r>
              <a:rPr dirty="0" sz="1200" spc="-5">
                <a:latin typeface="Arial"/>
                <a:cs typeface="Arial"/>
              </a:rPr>
              <a:t>against</a:t>
            </a:r>
            <a:r>
              <a:rPr dirty="0" sz="1200" spc="120">
                <a:latin typeface="Arial"/>
                <a:cs typeface="Arial"/>
              </a:rPr>
              <a:t> </a:t>
            </a:r>
            <a:r>
              <a:rPr dirty="0" sz="1200">
                <a:latin typeface="Arial"/>
                <a:cs typeface="Arial"/>
              </a:rPr>
              <a:t>the</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03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115</a:t>
            </a:r>
            <a:endParaRPr sz="1200">
              <a:latin typeface="Times New Roman"/>
              <a:cs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900" cy="9257665"/>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12700">
              <a:lnSpc>
                <a:spcPts val="1380"/>
              </a:lnSpc>
            </a:pPr>
            <a:r>
              <a:rPr dirty="0" sz="1200" spc="-5">
                <a:latin typeface="Arial"/>
                <a:cs typeface="Arial"/>
              </a:rPr>
              <a:t>orthodox Muslim belief. The caliph forced all of the scholars of the time </a:t>
            </a:r>
            <a:r>
              <a:rPr dirty="0" sz="1200">
                <a:latin typeface="Arial"/>
                <a:cs typeface="Arial"/>
              </a:rPr>
              <a:t>to </a:t>
            </a:r>
            <a:r>
              <a:rPr dirty="0" sz="1200" spc="-5">
                <a:latin typeface="Arial"/>
                <a:cs typeface="Arial"/>
              </a:rPr>
              <a:t>accept </a:t>
            </a:r>
            <a:r>
              <a:rPr dirty="0" sz="1200">
                <a:latin typeface="Arial"/>
                <a:cs typeface="Arial"/>
              </a:rPr>
              <a:t>this </a:t>
            </a:r>
            <a:r>
              <a:rPr dirty="0" sz="1200" spc="-10">
                <a:latin typeface="Arial"/>
                <a:cs typeface="Arial"/>
              </a:rPr>
              <a:t>belief  </a:t>
            </a:r>
            <a:r>
              <a:rPr dirty="0" sz="1200" spc="-5">
                <a:latin typeface="Arial"/>
                <a:cs typeface="Arial"/>
              </a:rPr>
              <a:t>and </a:t>
            </a:r>
            <a:r>
              <a:rPr dirty="0" sz="1200">
                <a:latin typeface="Arial"/>
                <a:cs typeface="Arial"/>
              </a:rPr>
              <a:t>most </a:t>
            </a:r>
            <a:r>
              <a:rPr dirty="0" sz="1200" spc="-5">
                <a:latin typeface="Arial"/>
                <a:cs typeface="Arial"/>
              </a:rPr>
              <a:t>of them did but Imam Ahmad completely disregarded the pressure and refused to  accept this heresy. </a:t>
            </a:r>
            <a:r>
              <a:rPr dirty="0" sz="1200">
                <a:latin typeface="Arial"/>
                <a:cs typeface="Arial"/>
              </a:rPr>
              <a:t>As </a:t>
            </a:r>
            <a:r>
              <a:rPr dirty="0" sz="1200" spc="-5">
                <a:latin typeface="Arial"/>
                <a:cs typeface="Arial"/>
              </a:rPr>
              <a:t>a </a:t>
            </a:r>
            <a:r>
              <a:rPr dirty="0" sz="1200">
                <a:latin typeface="Arial"/>
                <a:cs typeface="Arial"/>
              </a:rPr>
              <a:t>result, </a:t>
            </a:r>
            <a:r>
              <a:rPr dirty="0" sz="1200" spc="-5">
                <a:latin typeface="Arial"/>
                <a:cs typeface="Arial"/>
              </a:rPr>
              <a:t>he </a:t>
            </a:r>
            <a:r>
              <a:rPr dirty="0" sz="1200" spc="-10">
                <a:latin typeface="Arial"/>
                <a:cs typeface="Arial"/>
              </a:rPr>
              <a:t>was </a:t>
            </a:r>
            <a:r>
              <a:rPr dirty="0" sz="1200" spc="-5">
                <a:latin typeface="Arial"/>
                <a:cs typeface="Arial"/>
              </a:rPr>
              <a:t>imprisoned and severely </a:t>
            </a:r>
            <a:r>
              <a:rPr dirty="0" sz="1200">
                <a:latin typeface="Arial"/>
                <a:cs typeface="Arial"/>
              </a:rPr>
              <a:t>tortured for </a:t>
            </a:r>
            <a:r>
              <a:rPr dirty="0" sz="1200" spc="-5">
                <a:latin typeface="Arial"/>
                <a:cs typeface="Arial"/>
              </a:rPr>
              <a:t>over </a:t>
            </a:r>
            <a:r>
              <a:rPr dirty="0" sz="1200" spc="-10">
                <a:latin typeface="Arial"/>
                <a:cs typeface="Arial"/>
              </a:rPr>
              <a:t>two</a:t>
            </a:r>
            <a:r>
              <a:rPr dirty="0" sz="1200" spc="90">
                <a:latin typeface="Arial"/>
                <a:cs typeface="Arial"/>
              </a:rPr>
              <a:t> </a:t>
            </a:r>
            <a:r>
              <a:rPr dirty="0" sz="1200" spc="-5">
                <a:latin typeface="Arial"/>
                <a:cs typeface="Arial"/>
              </a:rPr>
              <a:t>years.</a:t>
            </a:r>
            <a:endParaRPr sz="1200">
              <a:latin typeface="Arial"/>
              <a:cs typeface="Arial"/>
            </a:endParaRPr>
          </a:p>
          <a:p>
            <a:pPr algn="just" marL="12700" marR="7620">
              <a:lnSpc>
                <a:spcPts val="1380"/>
              </a:lnSpc>
              <a:spcBef>
                <a:spcPts val="990"/>
              </a:spcBef>
            </a:pPr>
            <a:r>
              <a:rPr dirty="0" sz="1200" spc="-5">
                <a:latin typeface="Arial"/>
                <a:cs typeface="Arial"/>
              </a:rPr>
              <a:t>He </a:t>
            </a:r>
            <a:r>
              <a:rPr dirty="0" sz="1200" spc="-10">
                <a:latin typeface="Arial"/>
                <a:cs typeface="Arial"/>
              </a:rPr>
              <a:t>was </a:t>
            </a:r>
            <a:r>
              <a:rPr dirty="0" sz="1200" spc="-5">
                <a:latin typeface="Arial"/>
                <a:cs typeface="Arial"/>
              </a:rPr>
              <a:t>highly regarded by </a:t>
            </a:r>
            <a:r>
              <a:rPr dirty="0" sz="1200">
                <a:latin typeface="Arial"/>
                <a:cs typeface="Arial"/>
              </a:rPr>
              <a:t>the </a:t>
            </a:r>
            <a:r>
              <a:rPr dirty="0" sz="1200" spc="-5">
                <a:latin typeface="Arial"/>
                <a:cs typeface="Arial"/>
              </a:rPr>
              <a:t>likes of Imam Shafi‘I, who said, </a:t>
            </a:r>
            <a:r>
              <a:rPr dirty="0" sz="1200" spc="-400">
                <a:latin typeface="Arial"/>
                <a:cs typeface="Arial"/>
              </a:rPr>
              <a:t>―</a:t>
            </a:r>
            <a:r>
              <a:rPr dirty="0" sz="1200" spc="-400" i="1">
                <a:latin typeface="Arial"/>
                <a:cs typeface="Arial"/>
              </a:rPr>
              <a:t>I</a:t>
            </a:r>
            <a:r>
              <a:rPr dirty="0" sz="1200" spc="65" i="1">
                <a:latin typeface="Arial"/>
                <a:cs typeface="Arial"/>
              </a:rPr>
              <a:t> </a:t>
            </a:r>
            <a:r>
              <a:rPr dirty="0" sz="1200" spc="-5" i="1">
                <a:latin typeface="Arial"/>
                <a:cs typeface="Arial"/>
              </a:rPr>
              <a:t>left Baghdad, and </a:t>
            </a:r>
            <a:r>
              <a:rPr dirty="0" sz="1200" i="1">
                <a:latin typeface="Arial"/>
                <a:cs typeface="Arial"/>
              </a:rPr>
              <a:t>I </a:t>
            </a:r>
            <a:r>
              <a:rPr dirty="0" sz="1200" spc="-5" i="1">
                <a:latin typeface="Arial"/>
                <a:cs typeface="Arial"/>
              </a:rPr>
              <a:t>did not  </a:t>
            </a:r>
            <a:r>
              <a:rPr dirty="0" sz="1200" i="1">
                <a:latin typeface="Arial"/>
                <a:cs typeface="Arial"/>
              </a:rPr>
              <a:t>leave </a:t>
            </a:r>
            <a:r>
              <a:rPr dirty="0" sz="1200" spc="-5" i="1">
                <a:latin typeface="Arial"/>
                <a:cs typeface="Arial"/>
              </a:rPr>
              <a:t>behind </a:t>
            </a:r>
            <a:r>
              <a:rPr dirty="0" sz="1200" spc="-15" i="1">
                <a:latin typeface="Arial"/>
                <a:cs typeface="Arial"/>
              </a:rPr>
              <a:t>me </a:t>
            </a:r>
            <a:r>
              <a:rPr dirty="0" sz="1200" spc="-5" i="1">
                <a:latin typeface="Arial"/>
                <a:cs typeface="Arial"/>
              </a:rPr>
              <a:t>a </a:t>
            </a:r>
            <a:r>
              <a:rPr dirty="0" sz="1200" spc="-10" i="1">
                <a:latin typeface="Arial"/>
                <a:cs typeface="Arial"/>
              </a:rPr>
              <a:t>man </a:t>
            </a:r>
            <a:r>
              <a:rPr dirty="0" sz="1200" spc="-5" i="1">
                <a:latin typeface="Arial"/>
                <a:cs typeface="Arial"/>
              </a:rPr>
              <a:t>better, having </a:t>
            </a:r>
            <a:r>
              <a:rPr dirty="0" sz="1200" spc="-10" i="1">
                <a:latin typeface="Arial"/>
                <a:cs typeface="Arial"/>
              </a:rPr>
              <a:t>more </a:t>
            </a:r>
            <a:r>
              <a:rPr dirty="0" sz="1200" spc="-5" i="1">
                <a:latin typeface="Arial"/>
                <a:cs typeface="Arial"/>
              </a:rPr>
              <a:t>knowledge, or greater fiqh (understanding), nor  having greater Taqwa (piety) than </a:t>
            </a:r>
            <a:r>
              <a:rPr dirty="0" sz="1200" spc="-10" i="1">
                <a:latin typeface="Arial"/>
                <a:cs typeface="Arial"/>
              </a:rPr>
              <a:t>Ahmad </a:t>
            </a:r>
            <a:r>
              <a:rPr dirty="0" sz="1200" spc="-5" i="1">
                <a:latin typeface="Arial"/>
                <a:cs typeface="Arial"/>
              </a:rPr>
              <a:t>Ibn</a:t>
            </a:r>
            <a:r>
              <a:rPr dirty="0" sz="1200" spc="15" i="1">
                <a:latin typeface="Arial"/>
                <a:cs typeface="Arial"/>
              </a:rPr>
              <a:t> </a:t>
            </a:r>
            <a:r>
              <a:rPr dirty="0" sz="1200" spc="-15" i="1">
                <a:latin typeface="Arial"/>
                <a:cs typeface="Arial"/>
              </a:rPr>
              <a:t>Hanbal</a:t>
            </a:r>
            <a:r>
              <a:rPr dirty="0" sz="1200" spc="-15">
                <a:latin typeface="Arial"/>
                <a:cs typeface="Arial"/>
              </a:rPr>
              <a:t>.‖</a:t>
            </a:r>
            <a:endParaRPr sz="1200">
              <a:latin typeface="Arial"/>
              <a:cs typeface="Arial"/>
            </a:endParaRPr>
          </a:p>
          <a:p>
            <a:pPr algn="just" marL="12700" marR="10160">
              <a:lnSpc>
                <a:spcPts val="1370"/>
              </a:lnSpc>
              <a:spcBef>
                <a:spcPts val="1015"/>
              </a:spcBef>
            </a:pPr>
            <a:r>
              <a:rPr dirty="0" sz="1200" spc="-5">
                <a:latin typeface="Arial"/>
                <a:cs typeface="Arial"/>
              </a:rPr>
              <a:t>According </a:t>
            </a:r>
            <a:r>
              <a:rPr dirty="0" sz="1200">
                <a:latin typeface="Arial"/>
                <a:cs typeface="Arial"/>
              </a:rPr>
              <a:t>to </a:t>
            </a:r>
            <a:r>
              <a:rPr dirty="0" sz="1200" spc="-5">
                <a:latin typeface="Arial"/>
                <a:cs typeface="Arial"/>
              </a:rPr>
              <a:t>Abu </a:t>
            </a:r>
            <a:r>
              <a:rPr dirty="0" sz="1200">
                <a:latin typeface="Arial"/>
                <a:cs typeface="Arial"/>
              </a:rPr>
              <a:t>Dawood, </a:t>
            </a:r>
            <a:r>
              <a:rPr dirty="0" sz="1200" spc="-204">
                <a:latin typeface="Arial"/>
                <a:cs typeface="Arial"/>
              </a:rPr>
              <a:t>―</a:t>
            </a:r>
            <a:r>
              <a:rPr dirty="0" sz="1200" spc="-204" i="1">
                <a:latin typeface="Arial"/>
                <a:cs typeface="Arial"/>
              </a:rPr>
              <a:t>The </a:t>
            </a:r>
            <a:r>
              <a:rPr dirty="0" sz="1200" spc="-5" i="1">
                <a:latin typeface="Arial"/>
                <a:cs typeface="Arial"/>
              </a:rPr>
              <a:t>lectures of Ahmad </a:t>
            </a:r>
            <a:r>
              <a:rPr dirty="0" sz="1200" i="1">
                <a:latin typeface="Arial"/>
                <a:cs typeface="Arial"/>
              </a:rPr>
              <a:t>were </a:t>
            </a:r>
            <a:r>
              <a:rPr dirty="0" sz="1200" spc="-5" i="1">
                <a:latin typeface="Arial"/>
                <a:cs typeface="Arial"/>
              </a:rPr>
              <a:t>sittings </a:t>
            </a:r>
            <a:r>
              <a:rPr dirty="0" sz="1200" spc="-10" i="1">
                <a:latin typeface="Arial"/>
                <a:cs typeface="Arial"/>
              </a:rPr>
              <a:t>of </a:t>
            </a:r>
            <a:r>
              <a:rPr dirty="0" sz="1200" i="1">
                <a:latin typeface="Arial"/>
                <a:cs typeface="Arial"/>
              </a:rPr>
              <a:t>the </a:t>
            </a:r>
            <a:r>
              <a:rPr dirty="0" sz="1200" spc="-5" i="1">
                <a:latin typeface="Arial"/>
                <a:cs typeface="Arial"/>
              </a:rPr>
              <a:t>Hereafter. He would  </a:t>
            </a:r>
            <a:r>
              <a:rPr dirty="0" sz="1200" spc="-5" i="1">
                <a:latin typeface="Arial"/>
                <a:cs typeface="Arial"/>
              </a:rPr>
              <a:t>not mention in them anything of the worldly affairs; and </a:t>
            </a:r>
            <a:r>
              <a:rPr dirty="0" sz="1200" i="1">
                <a:latin typeface="Arial"/>
                <a:cs typeface="Arial"/>
              </a:rPr>
              <a:t>I </a:t>
            </a:r>
            <a:r>
              <a:rPr dirty="0" sz="1200" spc="-5" i="1">
                <a:latin typeface="Arial"/>
                <a:cs typeface="Arial"/>
              </a:rPr>
              <a:t>never saw him mention this</a:t>
            </a:r>
            <a:r>
              <a:rPr dirty="0" sz="1200" spc="125" i="1">
                <a:latin typeface="Arial"/>
                <a:cs typeface="Arial"/>
              </a:rPr>
              <a:t> </a:t>
            </a:r>
            <a:r>
              <a:rPr dirty="0" sz="1200" spc="-10" i="1">
                <a:latin typeface="Arial"/>
                <a:cs typeface="Arial"/>
              </a:rPr>
              <a:t>world</a:t>
            </a:r>
            <a:r>
              <a:rPr dirty="0" sz="1200" spc="-10">
                <a:latin typeface="Arial"/>
                <a:cs typeface="Arial"/>
              </a:rPr>
              <a:t>.‖</a:t>
            </a:r>
            <a:endParaRPr sz="1200">
              <a:latin typeface="Arial"/>
              <a:cs typeface="Arial"/>
            </a:endParaRPr>
          </a:p>
          <a:p>
            <a:pPr algn="just" marL="12700" marR="6985">
              <a:lnSpc>
                <a:spcPts val="1380"/>
              </a:lnSpc>
              <a:spcBef>
                <a:spcPts val="1005"/>
              </a:spcBef>
            </a:pPr>
            <a:r>
              <a:rPr dirty="0" sz="1200" spc="-5">
                <a:latin typeface="Arial"/>
                <a:cs typeface="Arial"/>
              </a:rPr>
              <a:t>The famous Hanafi scholar Yahya ibn Ma‘in </a:t>
            </a:r>
            <a:r>
              <a:rPr dirty="0" sz="1200">
                <a:latin typeface="Arial"/>
                <a:cs typeface="Arial"/>
              </a:rPr>
              <a:t>praised </a:t>
            </a:r>
            <a:r>
              <a:rPr dirty="0" sz="1200" spc="-5">
                <a:latin typeface="Arial"/>
                <a:cs typeface="Arial"/>
              </a:rPr>
              <a:t>him in these words, </a:t>
            </a:r>
            <a:r>
              <a:rPr dirty="0" sz="1200" spc="-390">
                <a:latin typeface="Arial"/>
                <a:cs typeface="Arial"/>
              </a:rPr>
              <a:t>―</a:t>
            </a:r>
            <a:r>
              <a:rPr dirty="0" sz="1200" spc="-390" i="1">
                <a:latin typeface="Arial"/>
                <a:cs typeface="Arial"/>
              </a:rPr>
              <a:t>I</a:t>
            </a:r>
            <a:r>
              <a:rPr dirty="0" sz="1200" spc="30" i="1">
                <a:latin typeface="Arial"/>
                <a:cs typeface="Arial"/>
              </a:rPr>
              <a:t> </a:t>
            </a:r>
            <a:r>
              <a:rPr dirty="0" sz="1200" spc="-5" i="1">
                <a:latin typeface="Arial"/>
                <a:cs typeface="Arial"/>
              </a:rPr>
              <a:t>have not </a:t>
            </a:r>
            <a:r>
              <a:rPr dirty="0" sz="1200" spc="-10" i="1">
                <a:latin typeface="Arial"/>
                <a:cs typeface="Arial"/>
              </a:rPr>
              <a:t>seen </a:t>
            </a:r>
            <a:r>
              <a:rPr dirty="0" sz="1200" spc="-5" i="1">
                <a:latin typeface="Arial"/>
                <a:cs typeface="Arial"/>
              </a:rPr>
              <a:t>the  </a:t>
            </a:r>
            <a:r>
              <a:rPr dirty="0" sz="1200" spc="-5" i="1">
                <a:latin typeface="Arial"/>
                <a:cs typeface="Arial"/>
              </a:rPr>
              <a:t>like of </a:t>
            </a:r>
            <a:r>
              <a:rPr dirty="0" sz="1200" spc="-10" i="1">
                <a:latin typeface="Arial"/>
                <a:cs typeface="Arial"/>
              </a:rPr>
              <a:t>Ahmad, </a:t>
            </a:r>
            <a:r>
              <a:rPr dirty="0" sz="1200" i="1">
                <a:latin typeface="Arial"/>
                <a:cs typeface="Arial"/>
              </a:rPr>
              <a:t>we </a:t>
            </a:r>
            <a:r>
              <a:rPr dirty="0" sz="1200" spc="-5" i="1">
                <a:latin typeface="Arial"/>
                <a:cs typeface="Arial"/>
              </a:rPr>
              <a:t>have accompanied </a:t>
            </a:r>
            <a:r>
              <a:rPr dirty="0" sz="1200" spc="-10" i="1">
                <a:latin typeface="Arial"/>
                <a:cs typeface="Arial"/>
              </a:rPr>
              <a:t>him </a:t>
            </a:r>
            <a:r>
              <a:rPr dirty="0" sz="1200" i="1">
                <a:latin typeface="Arial"/>
                <a:cs typeface="Arial"/>
              </a:rPr>
              <a:t>for fifty </a:t>
            </a:r>
            <a:r>
              <a:rPr dirty="0" sz="1200" spc="-5" i="1">
                <a:latin typeface="Arial"/>
                <a:cs typeface="Arial"/>
              </a:rPr>
              <a:t>years, and he never boasted about  anything </a:t>
            </a:r>
            <a:r>
              <a:rPr dirty="0" sz="1200" i="1">
                <a:latin typeface="Arial"/>
                <a:cs typeface="Arial"/>
              </a:rPr>
              <a:t>from the </a:t>
            </a:r>
            <a:r>
              <a:rPr dirty="0" sz="1200" spc="-5" i="1">
                <a:latin typeface="Arial"/>
                <a:cs typeface="Arial"/>
              </a:rPr>
              <a:t>good which he was characterized</a:t>
            </a:r>
            <a:r>
              <a:rPr dirty="0" sz="1200" spc="-10" i="1">
                <a:latin typeface="Arial"/>
                <a:cs typeface="Arial"/>
              </a:rPr>
              <a:t> </a:t>
            </a:r>
            <a:r>
              <a:rPr dirty="0" sz="1200" spc="-20" i="1">
                <a:latin typeface="Arial"/>
                <a:cs typeface="Arial"/>
              </a:rPr>
              <a:t>with.‖</a:t>
            </a:r>
            <a:endParaRPr sz="1200">
              <a:latin typeface="Arial"/>
              <a:cs typeface="Arial"/>
            </a:endParaRPr>
          </a:p>
          <a:p>
            <a:pPr>
              <a:lnSpc>
                <a:spcPct val="100000"/>
              </a:lnSpc>
              <a:spcBef>
                <a:spcPts val="10"/>
              </a:spcBef>
            </a:pPr>
            <a:endParaRPr sz="1550">
              <a:latin typeface="Arial"/>
              <a:cs typeface="Arial"/>
            </a:endParaRPr>
          </a:p>
          <a:p>
            <a:pPr algn="just" marL="12700">
              <a:lnSpc>
                <a:spcPct val="100000"/>
              </a:lnSpc>
            </a:pPr>
            <a:r>
              <a:rPr dirty="0" u="heavy" sz="1200" spc="-5" b="1" i="1">
                <a:uFill>
                  <a:solidFill>
                    <a:srgbClr val="000000"/>
                  </a:solidFill>
                </a:uFill>
                <a:latin typeface="Arial"/>
                <a:cs typeface="Arial"/>
              </a:rPr>
              <a:t>Examples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Difference </a:t>
            </a:r>
            <a:r>
              <a:rPr dirty="0" u="heavy" sz="1200" b="1" i="1">
                <a:uFill>
                  <a:solidFill>
                    <a:srgbClr val="000000"/>
                  </a:solidFill>
                </a:uFill>
                <a:latin typeface="Arial"/>
                <a:cs typeface="Arial"/>
              </a:rPr>
              <a:t>among </a:t>
            </a:r>
            <a:r>
              <a:rPr dirty="0" u="heavy" sz="1200" spc="-5" b="1" i="1">
                <a:uFill>
                  <a:solidFill>
                    <a:srgbClr val="000000"/>
                  </a:solidFill>
                </a:uFill>
                <a:latin typeface="Arial"/>
                <a:cs typeface="Arial"/>
              </a:rPr>
              <a:t>the 4</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Mathhab</a:t>
            </a:r>
            <a:endParaRPr sz="1200">
              <a:latin typeface="Arial"/>
              <a:cs typeface="Arial"/>
            </a:endParaRPr>
          </a:p>
          <a:p>
            <a:pPr>
              <a:lnSpc>
                <a:spcPct val="100000"/>
              </a:lnSpc>
              <a:spcBef>
                <a:spcPts val="35"/>
              </a:spcBef>
            </a:pPr>
            <a:endParaRPr sz="1200">
              <a:latin typeface="Arial"/>
              <a:cs typeface="Arial"/>
            </a:endParaRPr>
          </a:p>
          <a:p>
            <a:pPr algn="just" marL="469900" marR="5715" indent="-229235">
              <a:lnSpc>
                <a:spcPts val="1380"/>
              </a:lnSpc>
              <a:buAutoNum type="arabicPeriod"/>
              <a:tabLst>
                <a:tab pos="470534" algn="l"/>
              </a:tabLst>
            </a:pPr>
            <a:r>
              <a:rPr dirty="0" sz="1200" spc="-5">
                <a:latin typeface="Arial"/>
                <a:cs typeface="Arial"/>
              </a:rPr>
              <a:t>Nikah </a:t>
            </a:r>
            <a:r>
              <a:rPr dirty="0" sz="1200">
                <a:latin typeface="Arial"/>
                <a:cs typeface="Arial"/>
              </a:rPr>
              <a:t>– </a:t>
            </a:r>
            <a:r>
              <a:rPr dirty="0" sz="1200" spc="-5">
                <a:latin typeface="Arial"/>
                <a:cs typeface="Arial"/>
              </a:rPr>
              <a:t>According </a:t>
            </a:r>
            <a:r>
              <a:rPr dirty="0" sz="1200">
                <a:latin typeface="Arial"/>
                <a:cs typeface="Arial"/>
              </a:rPr>
              <a:t>to the </a:t>
            </a:r>
            <a:r>
              <a:rPr dirty="0" sz="1200" spc="-5">
                <a:latin typeface="Arial"/>
                <a:cs typeface="Arial"/>
              </a:rPr>
              <a:t>Hanafi, Maliki and </a:t>
            </a:r>
            <a:r>
              <a:rPr dirty="0" sz="1200">
                <a:latin typeface="Arial"/>
                <a:cs typeface="Arial"/>
              </a:rPr>
              <a:t>Hambali it </a:t>
            </a:r>
            <a:r>
              <a:rPr dirty="0" sz="1200" spc="-5">
                <a:latin typeface="Arial"/>
                <a:cs typeface="Arial"/>
              </a:rPr>
              <a:t>is obligatory </a:t>
            </a:r>
            <a:r>
              <a:rPr dirty="0" sz="1200">
                <a:latin typeface="Arial"/>
                <a:cs typeface="Arial"/>
              </a:rPr>
              <a:t>– Wajib. </a:t>
            </a:r>
            <a:r>
              <a:rPr dirty="0" sz="1200" spc="-5">
                <a:latin typeface="Arial"/>
                <a:cs typeface="Arial"/>
              </a:rPr>
              <a:t>But  </a:t>
            </a:r>
            <a:r>
              <a:rPr dirty="0" sz="1200">
                <a:latin typeface="Arial"/>
                <a:cs typeface="Arial"/>
              </a:rPr>
              <a:t>according to the </a:t>
            </a:r>
            <a:r>
              <a:rPr dirty="0" sz="1200" spc="-5">
                <a:latin typeface="Arial"/>
                <a:cs typeface="Arial"/>
              </a:rPr>
              <a:t>Shafi‘I it is superogetory </a:t>
            </a:r>
            <a:r>
              <a:rPr dirty="0" sz="1200">
                <a:latin typeface="Arial"/>
                <a:cs typeface="Arial"/>
              </a:rPr>
              <a:t>–</a:t>
            </a:r>
            <a:r>
              <a:rPr dirty="0" sz="1200" spc="-20">
                <a:latin typeface="Arial"/>
                <a:cs typeface="Arial"/>
              </a:rPr>
              <a:t> </a:t>
            </a:r>
            <a:r>
              <a:rPr dirty="0" sz="1200" spc="-5">
                <a:latin typeface="Arial"/>
                <a:cs typeface="Arial"/>
              </a:rPr>
              <a:t>Mubah</a:t>
            </a:r>
            <a:endParaRPr sz="1200">
              <a:latin typeface="Arial"/>
              <a:cs typeface="Arial"/>
            </a:endParaRPr>
          </a:p>
          <a:p>
            <a:pPr algn="just" marL="469900" marR="7620" indent="-229235">
              <a:lnSpc>
                <a:spcPts val="1380"/>
              </a:lnSpc>
              <a:buAutoNum type="arabicPeriod"/>
              <a:tabLst>
                <a:tab pos="470534" algn="l"/>
              </a:tabLst>
            </a:pPr>
            <a:r>
              <a:rPr dirty="0" sz="1200" spc="-5">
                <a:latin typeface="Arial"/>
                <a:cs typeface="Arial"/>
              </a:rPr>
              <a:t>Proposal on </a:t>
            </a:r>
            <a:r>
              <a:rPr dirty="0" sz="1200">
                <a:latin typeface="Arial"/>
                <a:cs typeface="Arial"/>
              </a:rPr>
              <a:t>the </a:t>
            </a:r>
            <a:r>
              <a:rPr dirty="0" sz="1200" spc="-5">
                <a:latin typeface="Arial"/>
                <a:cs typeface="Arial"/>
              </a:rPr>
              <a:t>proposal of a brother </a:t>
            </a:r>
            <a:r>
              <a:rPr dirty="0" sz="1200">
                <a:latin typeface="Arial"/>
                <a:cs typeface="Arial"/>
              </a:rPr>
              <a:t>– </a:t>
            </a:r>
            <a:r>
              <a:rPr dirty="0" sz="1200" spc="-5">
                <a:latin typeface="Arial"/>
                <a:cs typeface="Arial"/>
              </a:rPr>
              <a:t>According </a:t>
            </a:r>
            <a:r>
              <a:rPr dirty="0" sz="1200">
                <a:latin typeface="Arial"/>
                <a:cs typeface="Arial"/>
              </a:rPr>
              <a:t>to </a:t>
            </a:r>
            <a:r>
              <a:rPr dirty="0" sz="1200" spc="-5">
                <a:latin typeface="Arial"/>
                <a:cs typeface="Arial"/>
              </a:rPr>
              <a:t>the Hanafi, Maliki </a:t>
            </a:r>
            <a:r>
              <a:rPr dirty="0" sz="1200">
                <a:latin typeface="Arial"/>
                <a:cs typeface="Arial"/>
              </a:rPr>
              <a:t>and </a:t>
            </a:r>
            <a:r>
              <a:rPr dirty="0" sz="1200" spc="-5">
                <a:latin typeface="Arial"/>
                <a:cs typeface="Arial"/>
              </a:rPr>
              <a:t>Shafi‘I it </a:t>
            </a:r>
            <a:r>
              <a:rPr dirty="0" sz="1200" spc="-10">
                <a:latin typeface="Arial"/>
                <a:cs typeface="Arial"/>
              </a:rPr>
              <a:t>is  </a:t>
            </a:r>
            <a:r>
              <a:rPr dirty="0" sz="1200" spc="-5">
                <a:latin typeface="Arial"/>
                <a:cs typeface="Arial"/>
              </a:rPr>
              <a:t>a </a:t>
            </a:r>
            <a:r>
              <a:rPr dirty="0" sz="1200">
                <a:latin typeface="Arial"/>
                <a:cs typeface="Arial"/>
              </a:rPr>
              <a:t>sin. </a:t>
            </a:r>
            <a:r>
              <a:rPr dirty="0" sz="1200" spc="-5">
                <a:latin typeface="Arial"/>
                <a:cs typeface="Arial"/>
              </a:rPr>
              <a:t>But according </a:t>
            </a:r>
            <a:r>
              <a:rPr dirty="0" sz="1200">
                <a:latin typeface="Arial"/>
                <a:cs typeface="Arial"/>
              </a:rPr>
              <a:t>to the </a:t>
            </a:r>
            <a:r>
              <a:rPr dirty="0" sz="1200" spc="-5">
                <a:latin typeface="Arial"/>
                <a:cs typeface="Arial"/>
              </a:rPr>
              <a:t>Hambali </a:t>
            </a:r>
            <a:r>
              <a:rPr dirty="0" sz="1200">
                <a:latin typeface="Arial"/>
                <a:cs typeface="Arial"/>
              </a:rPr>
              <a:t>it </a:t>
            </a:r>
            <a:r>
              <a:rPr dirty="0" sz="1200" spc="-5">
                <a:latin typeface="Arial"/>
                <a:cs typeface="Arial"/>
              </a:rPr>
              <a:t>is not a</a:t>
            </a:r>
            <a:r>
              <a:rPr dirty="0" sz="1200" spc="-35">
                <a:latin typeface="Arial"/>
                <a:cs typeface="Arial"/>
              </a:rPr>
              <a:t> </a:t>
            </a:r>
            <a:r>
              <a:rPr dirty="0" sz="1200">
                <a:latin typeface="Arial"/>
                <a:cs typeface="Arial"/>
              </a:rPr>
              <a:t>sin.</a:t>
            </a:r>
            <a:endParaRPr sz="1200">
              <a:latin typeface="Arial"/>
              <a:cs typeface="Arial"/>
            </a:endParaRPr>
          </a:p>
          <a:p>
            <a:pPr algn="just" marL="469900" marR="7620" indent="-229235">
              <a:lnSpc>
                <a:spcPts val="1380"/>
              </a:lnSpc>
              <a:buAutoNum type="arabicPeriod"/>
              <a:tabLst>
                <a:tab pos="470534" algn="l"/>
              </a:tabLst>
            </a:pPr>
            <a:r>
              <a:rPr dirty="0" sz="1200" spc="-5">
                <a:latin typeface="Arial"/>
                <a:cs typeface="Arial"/>
              </a:rPr>
              <a:t>Marriage with </a:t>
            </a:r>
            <a:r>
              <a:rPr dirty="0" sz="1200">
                <a:latin typeface="Arial"/>
                <a:cs typeface="Arial"/>
              </a:rPr>
              <a:t>the </a:t>
            </a:r>
            <a:r>
              <a:rPr dirty="0" sz="1200" spc="-5">
                <a:latin typeface="Arial"/>
                <a:cs typeface="Arial"/>
              </a:rPr>
              <a:t>people of the Book </a:t>
            </a:r>
            <a:r>
              <a:rPr dirty="0" sz="1200">
                <a:latin typeface="Arial"/>
                <a:cs typeface="Arial"/>
              </a:rPr>
              <a:t>– </a:t>
            </a:r>
            <a:r>
              <a:rPr dirty="0" sz="1200" spc="-5">
                <a:latin typeface="Arial"/>
                <a:cs typeface="Arial"/>
              </a:rPr>
              <a:t>According </a:t>
            </a:r>
            <a:r>
              <a:rPr dirty="0" sz="1200">
                <a:latin typeface="Arial"/>
                <a:cs typeface="Arial"/>
              </a:rPr>
              <a:t>to the </a:t>
            </a:r>
            <a:r>
              <a:rPr dirty="0" sz="1200" spc="-5">
                <a:latin typeface="Arial"/>
                <a:cs typeface="Arial"/>
              </a:rPr>
              <a:t>Hanafi </a:t>
            </a:r>
            <a:r>
              <a:rPr dirty="0" sz="1200">
                <a:latin typeface="Arial"/>
                <a:cs typeface="Arial"/>
              </a:rPr>
              <a:t>it </a:t>
            </a:r>
            <a:r>
              <a:rPr dirty="0" sz="1200" spc="-5">
                <a:latin typeface="Arial"/>
                <a:cs typeface="Arial"/>
              </a:rPr>
              <a:t>is unlawful </a:t>
            </a:r>
            <a:r>
              <a:rPr dirty="0" sz="1200">
                <a:latin typeface="Arial"/>
                <a:cs typeface="Arial"/>
              </a:rPr>
              <a:t>to </a:t>
            </a:r>
            <a:r>
              <a:rPr dirty="0" sz="1200" spc="-5">
                <a:latin typeface="Arial"/>
                <a:cs typeface="Arial"/>
              </a:rPr>
              <a:t>marry  a woman of the Book </a:t>
            </a:r>
            <a:r>
              <a:rPr dirty="0" sz="1200">
                <a:latin typeface="Arial"/>
                <a:cs typeface="Arial"/>
              </a:rPr>
              <a:t>if </a:t>
            </a:r>
            <a:r>
              <a:rPr dirty="0" sz="1200" spc="-10">
                <a:latin typeface="Arial"/>
                <a:cs typeface="Arial"/>
              </a:rPr>
              <a:t>she </a:t>
            </a:r>
            <a:r>
              <a:rPr dirty="0" sz="1200" spc="-5">
                <a:latin typeface="Arial"/>
                <a:cs typeface="Arial"/>
              </a:rPr>
              <a:t>is in a country known as </a:t>
            </a:r>
            <a:r>
              <a:rPr dirty="0" sz="1200" spc="5">
                <a:latin typeface="Arial"/>
                <a:cs typeface="Arial"/>
              </a:rPr>
              <a:t>Dar-ul </a:t>
            </a:r>
            <a:r>
              <a:rPr dirty="0" sz="1200" spc="-5">
                <a:latin typeface="Arial"/>
                <a:cs typeface="Arial"/>
              </a:rPr>
              <a:t>Harb. She </a:t>
            </a:r>
            <a:r>
              <a:rPr dirty="0" sz="1200">
                <a:latin typeface="Arial"/>
                <a:cs typeface="Arial"/>
              </a:rPr>
              <a:t>may return </a:t>
            </a:r>
            <a:r>
              <a:rPr dirty="0" sz="1200" spc="-5">
                <a:latin typeface="Arial"/>
                <a:cs typeface="Arial"/>
              </a:rPr>
              <a:t>to  her ancient religion. According </a:t>
            </a:r>
            <a:r>
              <a:rPr dirty="0" sz="1200">
                <a:latin typeface="Arial"/>
                <a:cs typeface="Arial"/>
              </a:rPr>
              <a:t>to </a:t>
            </a:r>
            <a:r>
              <a:rPr dirty="0" sz="1200" spc="-5">
                <a:latin typeface="Arial"/>
                <a:cs typeface="Arial"/>
              </a:rPr>
              <a:t>the Maliki, </a:t>
            </a:r>
            <a:r>
              <a:rPr dirty="0" sz="1200">
                <a:latin typeface="Arial"/>
                <a:cs typeface="Arial"/>
              </a:rPr>
              <a:t>it </a:t>
            </a:r>
            <a:r>
              <a:rPr dirty="0" sz="1200" spc="-5">
                <a:latin typeface="Arial"/>
                <a:cs typeface="Arial"/>
              </a:rPr>
              <a:t>depends </a:t>
            </a:r>
            <a:r>
              <a:rPr dirty="0" sz="1200">
                <a:latin typeface="Arial"/>
                <a:cs typeface="Arial"/>
              </a:rPr>
              <a:t>to </a:t>
            </a:r>
            <a:r>
              <a:rPr dirty="0" sz="1200" spc="-5">
                <a:latin typeface="Arial"/>
                <a:cs typeface="Arial"/>
              </a:rPr>
              <a:t>what extent </a:t>
            </a:r>
            <a:r>
              <a:rPr dirty="0" sz="1200">
                <a:latin typeface="Arial"/>
                <a:cs typeface="Arial"/>
              </a:rPr>
              <a:t>the </a:t>
            </a:r>
            <a:r>
              <a:rPr dirty="0" sz="1200" spc="-5">
                <a:latin typeface="Arial"/>
                <a:cs typeface="Arial"/>
              </a:rPr>
              <a:t>husband  </a:t>
            </a:r>
            <a:r>
              <a:rPr dirty="0" sz="1200">
                <a:latin typeface="Arial"/>
                <a:cs typeface="Arial"/>
              </a:rPr>
              <a:t>trusts the </a:t>
            </a:r>
            <a:r>
              <a:rPr dirty="0" sz="1200" spc="-5">
                <a:latin typeface="Arial"/>
                <a:cs typeface="Arial"/>
              </a:rPr>
              <a:t>wife </a:t>
            </a:r>
            <a:r>
              <a:rPr dirty="0" sz="1200">
                <a:latin typeface="Arial"/>
                <a:cs typeface="Arial"/>
              </a:rPr>
              <a:t>and </a:t>
            </a:r>
            <a:r>
              <a:rPr dirty="0" sz="1200" spc="-5">
                <a:latin typeface="Arial"/>
                <a:cs typeface="Arial"/>
              </a:rPr>
              <a:t>the wife‘s sincerity in </a:t>
            </a:r>
            <a:r>
              <a:rPr dirty="0" sz="1200">
                <a:latin typeface="Arial"/>
                <a:cs typeface="Arial"/>
              </a:rPr>
              <a:t>Islam. </a:t>
            </a:r>
            <a:r>
              <a:rPr dirty="0" sz="1200" spc="-5">
                <a:latin typeface="Arial"/>
                <a:cs typeface="Arial"/>
              </a:rPr>
              <a:t>According </a:t>
            </a:r>
            <a:r>
              <a:rPr dirty="0" sz="1200">
                <a:latin typeface="Arial"/>
                <a:cs typeface="Arial"/>
              </a:rPr>
              <a:t>to </a:t>
            </a:r>
            <a:r>
              <a:rPr dirty="0" sz="1200" spc="-5">
                <a:latin typeface="Arial"/>
                <a:cs typeface="Arial"/>
              </a:rPr>
              <a:t>the Shafi‘I and the  Hambali both of her parents </a:t>
            </a:r>
            <a:r>
              <a:rPr dirty="0" sz="1200">
                <a:latin typeface="Arial"/>
                <a:cs typeface="Arial"/>
              </a:rPr>
              <a:t>must </a:t>
            </a:r>
            <a:r>
              <a:rPr dirty="0" sz="1200" spc="-5">
                <a:latin typeface="Arial"/>
                <a:cs typeface="Arial"/>
              </a:rPr>
              <a:t>be from people of the</a:t>
            </a:r>
            <a:r>
              <a:rPr dirty="0" sz="1200" spc="15">
                <a:latin typeface="Arial"/>
                <a:cs typeface="Arial"/>
              </a:rPr>
              <a:t> </a:t>
            </a:r>
            <a:r>
              <a:rPr dirty="0" sz="1200" spc="-5">
                <a:latin typeface="Arial"/>
                <a:cs typeface="Arial"/>
              </a:rPr>
              <a:t>Book.</a:t>
            </a:r>
            <a:endParaRPr sz="1200">
              <a:latin typeface="Arial"/>
              <a:cs typeface="Arial"/>
            </a:endParaRPr>
          </a:p>
          <a:p>
            <a:pPr algn="just" marL="469900" marR="6985" indent="-229235">
              <a:lnSpc>
                <a:spcPts val="1380"/>
              </a:lnSpc>
              <a:spcBef>
                <a:spcPts val="5"/>
              </a:spcBef>
              <a:buAutoNum type="arabicPeriod"/>
              <a:tabLst>
                <a:tab pos="470534" algn="l"/>
              </a:tabLst>
            </a:pPr>
            <a:r>
              <a:rPr dirty="0" sz="1200" spc="-5">
                <a:latin typeface="Arial"/>
                <a:cs typeface="Arial"/>
              </a:rPr>
              <a:t>Role of the Guardian </a:t>
            </a:r>
            <a:r>
              <a:rPr dirty="0" sz="1200" spc="-10">
                <a:latin typeface="Arial"/>
                <a:cs typeface="Arial"/>
              </a:rPr>
              <a:t>in </a:t>
            </a:r>
            <a:r>
              <a:rPr dirty="0" sz="1200" spc="-5">
                <a:latin typeface="Arial"/>
                <a:cs typeface="Arial"/>
              </a:rPr>
              <a:t>Nikah </a:t>
            </a:r>
            <a:r>
              <a:rPr dirty="0" sz="1200">
                <a:latin typeface="Arial"/>
                <a:cs typeface="Arial"/>
              </a:rPr>
              <a:t>– </a:t>
            </a:r>
            <a:r>
              <a:rPr dirty="0" sz="1200" spc="-5">
                <a:latin typeface="Arial"/>
                <a:cs typeface="Arial"/>
              </a:rPr>
              <a:t>According </a:t>
            </a:r>
            <a:r>
              <a:rPr dirty="0" sz="1200">
                <a:latin typeface="Arial"/>
                <a:cs typeface="Arial"/>
              </a:rPr>
              <a:t>to the </a:t>
            </a:r>
            <a:r>
              <a:rPr dirty="0" sz="1200" spc="-5">
                <a:latin typeface="Arial"/>
                <a:cs typeface="Arial"/>
              </a:rPr>
              <a:t>Hanafi and the Hambali the guardian  is optional. According </a:t>
            </a:r>
            <a:r>
              <a:rPr dirty="0" sz="1200">
                <a:latin typeface="Arial"/>
                <a:cs typeface="Arial"/>
              </a:rPr>
              <a:t>to the </a:t>
            </a:r>
            <a:r>
              <a:rPr dirty="0" sz="1200" spc="-5">
                <a:latin typeface="Arial"/>
                <a:cs typeface="Arial"/>
              </a:rPr>
              <a:t>Maliki </a:t>
            </a:r>
            <a:r>
              <a:rPr dirty="0" sz="1200">
                <a:latin typeface="Arial"/>
                <a:cs typeface="Arial"/>
              </a:rPr>
              <a:t>and the </a:t>
            </a:r>
            <a:r>
              <a:rPr dirty="0" sz="1200" spc="-5">
                <a:latin typeface="Arial"/>
                <a:cs typeface="Arial"/>
              </a:rPr>
              <a:t>Shafi‘I it is </a:t>
            </a:r>
            <a:r>
              <a:rPr dirty="0" sz="1200">
                <a:latin typeface="Arial"/>
                <a:cs typeface="Arial"/>
              </a:rPr>
              <a:t>one of </a:t>
            </a:r>
            <a:r>
              <a:rPr dirty="0" sz="1200" spc="-5">
                <a:latin typeface="Arial"/>
                <a:cs typeface="Arial"/>
              </a:rPr>
              <a:t>the </a:t>
            </a:r>
            <a:r>
              <a:rPr dirty="0" sz="1200">
                <a:latin typeface="Arial"/>
                <a:cs typeface="Arial"/>
              </a:rPr>
              <a:t>essential </a:t>
            </a:r>
            <a:r>
              <a:rPr dirty="0" sz="1200" spc="-5">
                <a:latin typeface="Arial"/>
                <a:cs typeface="Arial"/>
              </a:rPr>
              <a:t>elements of  Nikah.</a:t>
            </a:r>
            <a:endParaRPr sz="1200">
              <a:latin typeface="Arial"/>
              <a:cs typeface="Arial"/>
            </a:endParaRPr>
          </a:p>
          <a:p>
            <a:pPr algn="just" marL="469900" marR="10160" indent="-229235">
              <a:lnSpc>
                <a:spcPts val="1380"/>
              </a:lnSpc>
              <a:buAutoNum type="arabicPeriod"/>
              <a:tabLst>
                <a:tab pos="470534" algn="l"/>
              </a:tabLst>
            </a:pPr>
            <a:r>
              <a:rPr dirty="0" sz="1200">
                <a:latin typeface="Arial"/>
                <a:cs typeface="Arial"/>
              </a:rPr>
              <a:t>Talaq </a:t>
            </a:r>
            <a:r>
              <a:rPr dirty="0" sz="1200" spc="-5">
                <a:latin typeface="Arial"/>
                <a:cs typeface="Arial"/>
              </a:rPr>
              <a:t>through duress or pressure </a:t>
            </a:r>
            <a:r>
              <a:rPr dirty="0" sz="1200">
                <a:latin typeface="Arial"/>
                <a:cs typeface="Arial"/>
              </a:rPr>
              <a:t>– </a:t>
            </a:r>
            <a:r>
              <a:rPr dirty="0" sz="1200" spc="-5">
                <a:latin typeface="Arial"/>
                <a:cs typeface="Arial"/>
              </a:rPr>
              <a:t>According </a:t>
            </a:r>
            <a:r>
              <a:rPr dirty="0" sz="1200">
                <a:latin typeface="Arial"/>
                <a:cs typeface="Arial"/>
              </a:rPr>
              <a:t>to </a:t>
            </a:r>
            <a:r>
              <a:rPr dirty="0" sz="1200" spc="-5">
                <a:latin typeface="Arial"/>
                <a:cs typeface="Arial"/>
              </a:rPr>
              <a:t>the Hanafi and the </a:t>
            </a:r>
            <a:r>
              <a:rPr dirty="0" sz="1200">
                <a:latin typeface="Arial"/>
                <a:cs typeface="Arial"/>
              </a:rPr>
              <a:t>Hambali it </a:t>
            </a:r>
            <a:r>
              <a:rPr dirty="0" sz="1200" spc="-5">
                <a:latin typeface="Arial"/>
                <a:cs typeface="Arial"/>
              </a:rPr>
              <a:t>is valid  </a:t>
            </a:r>
            <a:r>
              <a:rPr dirty="0" sz="1200">
                <a:latin typeface="Arial"/>
                <a:cs typeface="Arial"/>
              </a:rPr>
              <a:t>but according to </a:t>
            </a:r>
            <a:r>
              <a:rPr dirty="0" sz="1200" spc="-5">
                <a:latin typeface="Arial"/>
                <a:cs typeface="Arial"/>
              </a:rPr>
              <a:t>the </a:t>
            </a:r>
            <a:r>
              <a:rPr dirty="0" sz="1200">
                <a:latin typeface="Arial"/>
                <a:cs typeface="Arial"/>
              </a:rPr>
              <a:t>Maliki and the </a:t>
            </a:r>
            <a:r>
              <a:rPr dirty="0" sz="1200" spc="-5">
                <a:latin typeface="Arial"/>
                <a:cs typeface="Arial"/>
              </a:rPr>
              <a:t>Shafi‘I it is </a:t>
            </a:r>
            <a:r>
              <a:rPr dirty="0" sz="1200">
                <a:latin typeface="Arial"/>
                <a:cs typeface="Arial"/>
              </a:rPr>
              <a:t>not</a:t>
            </a:r>
            <a:r>
              <a:rPr dirty="0" sz="1200" spc="-60">
                <a:latin typeface="Arial"/>
                <a:cs typeface="Arial"/>
              </a:rPr>
              <a:t> </a:t>
            </a:r>
            <a:r>
              <a:rPr dirty="0" sz="1200" spc="-5">
                <a:latin typeface="Arial"/>
                <a:cs typeface="Arial"/>
              </a:rPr>
              <a:t>valid.</a:t>
            </a:r>
            <a:endParaRPr sz="1200">
              <a:latin typeface="Arial"/>
              <a:cs typeface="Arial"/>
            </a:endParaRPr>
          </a:p>
          <a:p>
            <a:pPr algn="just" marL="469900" indent="-229235">
              <a:lnSpc>
                <a:spcPts val="1300"/>
              </a:lnSpc>
              <a:buAutoNum type="arabicPeriod"/>
              <a:tabLst>
                <a:tab pos="470534" algn="l"/>
              </a:tabLst>
            </a:pPr>
            <a:r>
              <a:rPr dirty="0" sz="1200" spc="-5">
                <a:latin typeface="Arial"/>
                <a:cs typeface="Arial"/>
              </a:rPr>
              <a:t>Punishment</a:t>
            </a:r>
            <a:r>
              <a:rPr dirty="0" sz="1200" spc="140">
                <a:latin typeface="Arial"/>
                <a:cs typeface="Arial"/>
              </a:rPr>
              <a:t> </a:t>
            </a:r>
            <a:r>
              <a:rPr dirty="0" sz="1200">
                <a:latin typeface="Arial"/>
                <a:cs typeface="Arial"/>
              </a:rPr>
              <a:t>for</a:t>
            </a:r>
            <a:r>
              <a:rPr dirty="0" sz="1200" spc="145">
                <a:latin typeface="Arial"/>
                <a:cs typeface="Arial"/>
              </a:rPr>
              <a:t> </a:t>
            </a:r>
            <a:r>
              <a:rPr dirty="0" sz="1200" spc="-5">
                <a:latin typeface="Arial"/>
                <a:cs typeface="Arial"/>
              </a:rPr>
              <a:t>bestiality</a:t>
            </a:r>
            <a:r>
              <a:rPr dirty="0" sz="1200" spc="155">
                <a:latin typeface="Arial"/>
                <a:cs typeface="Arial"/>
              </a:rPr>
              <a:t> </a:t>
            </a:r>
            <a:r>
              <a:rPr dirty="0" sz="1200">
                <a:latin typeface="Arial"/>
                <a:cs typeface="Arial"/>
              </a:rPr>
              <a:t>–</a:t>
            </a:r>
            <a:r>
              <a:rPr dirty="0" sz="1200" spc="155">
                <a:latin typeface="Arial"/>
                <a:cs typeface="Arial"/>
              </a:rPr>
              <a:t> </a:t>
            </a:r>
            <a:r>
              <a:rPr dirty="0" sz="1200" spc="-5">
                <a:latin typeface="Arial"/>
                <a:cs typeface="Arial"/>
              </a:rPr>
              <a:t>According</a:t>
            </a:r>
            <a:r>
              <a:rPr dirty="0" sz="1200" spc="160">
                <a:latin typeface="Arial"/>
                <a:cs typeface="Arial"/>
              </a:rPr>
              <a:t> </a:t>
            </a:r>
            <a:r>
              <a:rPr dirty="0" sz="1200">
                <a:latin typeface="Arial"/>
                <a:cs typeface="Arial"/>
              </a:rPr>
              <a:t>to</a:t>
            </a:r>
            <a:r>
              <a:rPr dirty="0" sz="1200" spc="160">
                <a:latin typeface="Arial"/>
                <a:cs typeface="Arial"/>
              </a:rPr>
              <a:t> </a:t>
            </a:r>
            <a:r>
              <a:rPr dirty="0" sz="1200">
                <a:latin typeface="Arial"/>
                <a:cs typeface="Arial"/>
              </a:rPr>
              <a:t>the</a:t>
            </a:r>
            <a:r>
              <a:rPr dirty="0" sz="1200" spc="145">
                <a:latin typeface="Arial"/>
                <a:cs typeface="Arial"/>
              </a:rPr>
              <a:t> </a:t>
            </a:r>
            <a:r>
              <a:rPr dirty="0" sz="1200" spc="-5">
                <a:latin typeface="Arial"/>
                <a:cs typeface="Arial"/>
              </a:rPr>
              <a:t>Maliki</a:t>
            </a:r>
            <a:r>
              <a:rPr dirty="0" sz="1200" spc="145">
                <a:latin typeface="Arial"/>
                <a:cs typeface="Arial"/>
              </a:rPr>
              <a:t> </a:t>
            </a:r>
            <a:r>
              <a:rPr dirty="0" sz="1200" spc="-5">
                <a:latin typeface="Arial"/>
                <a:cs typeface="Arial"/>
              </a:rPr>
              <a:t>and</a:t>
            </a:r>
            <a:r>
              <a:rPr dirty="0" sz="1200" spc="150">
                <a:latin typeface="Arial"/>
                <a:cs typeface="Arial"/>
              </a:rPr>
              <a:t> </a:t>
            </a:r>
            <a:r>
              <a:rPr dirty="0" sz="1200">
                <a:latin typeface="Arial"/>
                <a:cs typeface="Arial"/>
              </a:rPr>
              <a:t>the</a:t>
            </a:r>
            <a:r>
              <a:rPr dirty="0" sz="1200" spc="155">
                <a:latin typeface="Arial"/>
                <a:cs typeface="Arial"/>
              </a:rPr>
              <a:t> </a:t>
            </a:r>
            <a:r>
              <a:rPr dirty="0" sz="1200">
                <a:latin typeface="Arial"/>
                <a:cs typeface="Arial"/>
              </a:rPr>
              <a:t>Hanafi</a:t>
            </a:r>
            <a:r>
              <a:rPr dirty="0" sz="1200" spc="135">
                <a:latin typeface="Arial"/>
                <a:cs typeface="Arial"/>
              </a:rPr>
              <a:t> </a:t>
            </a:r>
            <a:r>
              <a:rPr dirty="0" sz="1200">
                <a:latin typeface="Arial"/>
                <a:cs typeface="Arial"/>
              </a:rPr>
              <a:t>there</a:t>
            </a:r>
            <a:r>
              <a:rPr dirty="0" sz="1200" spc="155">
                <a:latin typeface="Arial"/>
                <a:cs typeface="Arial"/>
              </a:rPr>
              <a:t> </a:t>
            </a:r>
            <a:r>
              <a:rPr dirty="0" sz="1200" spc="-5">
                <a:latin typeface="Arial"/>
                <a:cs typeface="Arial"/>
              </a:rPr>
              <a:t>is</a:t>
            </a:r>
            <a:r>
              <a:rPr dirty="0" sz="1200" spc="145">
                <a:latin typeface="Arial"/>
                <a:cs typeface="Arial"/>
              </a:rPr>
              <a:t> </a:t>
            </a:r>
            <a:r>
              <a:rPr dirty="0" sz="1200" spc="-5">
                <a:latin typeface="Arial"/>
                <a:cs typeface="Arial"/>
              </a:rPr>
              <a:t>no</a:t>
            </a:r>
            <a:r>
              <a:rPr dirty="0" sz="1200" spc="185">
                <a:latin typeface="Arial"/>
                <a:cs typeface="Arial"/>
              </a:rPr>
              <a:t> </a:t>
            </a:r>
            <a:r>
              <a:rPr dirty="0" sz="1200" i="1">
                <a:latin typeface="Arial"/>
                <a:cs typeface="Arial"/>
              </a:rPr>
              <a:t>Hadd</a:t>
            </a:r>
            <a:endParaRPr sz="1200">
              <a:latin typeface="Arial"/>
              <a:cs typeface="Arial"/>
            </a:endParaRPr>
          </a:p>
          <a:p>
            <a:pPr algn="just" marL="469900">
              <a:lnSpc>
                <a:spcPts val="1385"/>
              </a:lnSpc>
            </a:pPr>
            <a:r>
              <a:rPr dirty="0" sz="1200" spc="-5">
                <a:latin typeface="Arial"/>
                <a:cs typeface="Arial"/>
              </a:rPr>
              <a:t>punishment</a:t>
            </a:r>
            <a:r>
              <a:rPr dirty="0" sz="1200" spc="135">
                <a:latin typeface="Arial"/>
                <a:cs typeface="Arial"/>
              </a:rPr>
              <a:t> </a:t>
            </a:r>
            <a:r>
              <a:rPr dirty="0" sz="1200" spc="-5">
                <a:latin typeface="Arial"/>
                <a:cs typeface="Arial"/>
              </a:rPr>
              <a:t>but</a:t>
            </a:r>
            <a:r>
              <a:rPr dirty="0" sz="1200" spc="145">
                <a:latin typeface="Arial"/>
                <a:cs typeface="Arial"/>
              </a:rPr>
              <a:t> </a:t>
            </a:r>
            <a:r>
              <a:rPr dirty="0" sz="1200" spc="-5" i="1">
                <a:latin typeface="Arial"/>
                <a:cs typeface="Arial"/>
              </a:rPr>
              <a:t>Ta‘azir.</a:t>
            </a:r>
            <a:r>
              <a:rPr dirty="0" sz="1200" spc="155" i="1">
                <a:latin typeface="Arial"/>
                <a:cs typeface="Arial"/>
              </a:rPr>
              <a:t> </a:t>
            </a:r>
            <a:r>
              <a:rPr dirty="0" sz="1200">
                <a:latin typeface="Arial"/>
                <a:cs typeface="Arial"/>
              </a:rPr>
              <a:t>But</a:t>
            </a:r>
            <a:r>
              <a:rPr dirty="0" sz="1200" spc="140">
                <a:latin typeface="Arial"/>
                <a:cs typeface="Arial"/>
              </a:rPr>
              <a:t> </a:t>
            </a:r>
            <a:r>
              <a:rPr dirty="0" sz="1200">
                <a:latin typeface="Arial"/>
                <a:cs typeface="Arial"/>
              </a:rPr>
              <a:t>according</a:t>
            </a:r>
            <a:r>
              <a:rPr dirty="0" sz="1200" spc="140">
                <a:latin typeface="Arial"/>
                <a:cs typeface="Arial"/>
              </a:rPr>
              <a:t> </a:t>
            </a:r>
            <a:r>
              <a:rPr dirty="0" sz="1200" spc="-5">
                <a:latin typeface="Arial"/>
                <a:cs typeface="Arial"/>
              </a:rPr>
              <a:t>to</a:t>
            </a:r>
            <a:r>
              <a:rPr dirty="0" sz="1200" spc="150">
                <a:latin typeface="Arial"/>
                <a:cs typeface="Arial"/>
              </a:rPr>
              <a:t> </a:t>
            </a:r>
            <a:r>
              <a:rPr dirty="0" sz="1200" spc="-10">
                <a:latin typeface="Arial"/>
                <a:cs typeface="Arial"/>
              </a:rPr>
              <a:t>the</a:t>
            </a:r>
            <a:r>
              <a:rPr dirty="0" sz="1200" spc="150">
                <a:latin typeface="Arial"/>
                <a:cs typeface="Arial"/>
              </a:rPr>
              <a:t> </a:t>
            </a:r>
            <a:r>
              <a:rPr dirty="0" sz="1200" spc="-5">
                <a:latin typeface="Arial"/>
                <a:cs typeface="Arial"/>
              </a:rPr>
              <a:t>Shafi‘I</a:t>
            </a:r>
            <a:r>
              <a:rPr dirty="0" sz="1200" spc="150">
                <a:latin typeface="Arial"/>
                <a:cs typeface="Arial"/>
              </a:rPr>
              <a:t> </a:t>
            </a:r>
            <a:r>
              <a:rPr dirty="0" sz="1200" spc="-5">
                <a:latin typeface="Arial"/>
                <a:cs typeface="Arial"/>
              </a:rPr>
              <a:t>and</a:t>
            </a:r>
            <a:r>
              <a:rPr dirty="0" sz="1200" spc="140">
                <a:latin typeface="Arial"/>
                <a:cs typeface="Arial"/>
              </a:rPr>
              <a:t> </a:t>
            </a:r>
            <a:r>
              <a:rPr dirty="0" sz="1200" spc="-5">
                <a:latin typeface="Arial"/>
                <a:cs typeface="Arial"/>
              </a:rPr>
              <a:t>the</a:t>
            </a:r>
            <a:r>
              <a:rPr dirty="0" sz="1200" spc="145">
                <a:latin typeface="Arial"/>
                <a:cs typeface="Arial"/>
              </a:rPr>
              <a:t> </a:t>
            </a:r>
            <a:r>
              <a:rPr dirty="0" sz="1200" spc="-5">
                <a:latin typeface="Arial"/>
                <a:cs typeface="Arial"/>
              </a:rPr>
              <a:t>Hambali,</a:t>
            </a:r>
            <a:r>
              <a:rPr dirty="0" sz="1200" spc="150">
                <a:latin typeface="Arial"/>
                <a:cs typeface="Arial"/>
              </a:rPr>
              <a:t> </a:t>
            </a:r>
            <a:r>
              <a:rPr dirty="0" sz="1200" spc="-5">
                <a:latin typeface="Arial"/>
                <a:cs typeface="Arial"/>
              </a:rPr>
              <a:t>there</a:t>
            </a:r>
            <a:r>
              <a:rPr dirty="0" sz="1200" spc="150">
                <a:latin typeface="Arial"/>
                <a:cs typeface="Arial"/>
              </a:rPr>
              <a:t> </a:t>
            </a:r>
            <a:r>
              <a:rPr dirty="0" sz="1200" spc="-5">
                <a:latin typeface="Arial"/>
                <a:cs typeface="Arial"/>
              </a:rPr>
              <a:t>is</a:t>
            </a:r>
            <a:r>
              <a:rPr dirty="0" sz="1200" spc="175">
                <a:latin typeface="Arial"/>
                <a:cs typeface="Arial"/>
              </a:rPr>
              <a:t> </a:t>
            </a:r>
            <a:r>
              <a:rPr dirty="0" sz="1200" spc="-5" i="1">
                <a:latin typeface="Arial"/>
                <a:cs typeface="Arial"/>
              </a:rPr>
              <a:t>Hadd</a:t>
            </a:r>
            <a:endParaRPr sz="1200">
              <a:latin typeface="Arial"/>
              <a:cs typeface="Arial"/>
            </a:endParaRPr>
          </a:p>
          <a:p>
            <a:pPr algn="just" marL="469900">
              <a:lnSpc>
                <a:spcPts val="1385"/>
              </a:lnSpc>
            </a:pPr>
            <a:r>
              <a:rPr dirty="0" sz="1200" spc="-5">
                <a:latin typeface="Arial"/>
                <a:cs typeface="Arial"/>
              </a:rPr>
              <a:t>punishment. </a:t>
            </a:r>
            <a:r>
              <a:rPr dirty="0" sz="1200">
                <a:latin typeface="Arial"/>
                <a:cs typeface="Arial"/>
              </a:rPr>
              <a:t>The </a:t>
            </a:r>
            <a:r>
              <a:rPr dirty="0" sz="1200" spc="-5">
                <a:latin typeface="Arial"/>
                <a:cs typeface="Arial"/>
              </a:rPr>
              <a:t>animal must </a:t>
            </a:r>
            <a:r>
              <a:rPr dirty="0" sz="1200" spc="-10">
                <a:latin typeface="Arial"/>
                <a:cs typeface="Arial"/>
              </a:rPr>
              <a:t>be </a:t>
            </a:r>
            <a:r>
              <a:rPr dirty="0" sz="1200" spc="-5">
                <a:latin typeface="Arial"/>
                <a:cs typeface="Arial"/>
              </a:rPr>
              <a:t>killed and its flesh is</a:t>
            </a:r>
            <a:r>
              <a:rPr dirty="0" sz="1200" spc="15">
                <a:latin typeface="Arial"/>
                <a:cs typeface="Arial"/>
              </a:rPr>
              <a:t> </a:t>
            </a:r>
            <a:r>
              <a:rPr dirty="0" sz="1200" spc="-5">
                <a:latin typeface="Arial"/>
                <a:cs typeface="Arial"/>
              </a:rPr>
              <a:t>unlawful.</a:t>
            </a:r>
            <a:endParaRPr sz="1200">
              <a:latin typeface="Arial"/>
              <a:cs typeface="Arial"/>
            </a:endParaRPr>
          </a:p>
          <a:p>
            <a:pPr algn="just" marL="469900" marR="10160" indent="-229235">
              <a:lnSpc>
                <a:spcPts val="1380"/>
              </a:lnSpc>
              <a:spcBef>
                <a:spcPts val="65"/>
              </a:spcBef>
              <a:buAutoNum type="arabicPeriod" startAt="7"/>
              <a:tabLst>
                <a:tab pos="470534" algn="l"/>
              </a:tabLst>
            </a:pPr>
            <a:r>
              <a:rPr dirty="0" sz="1200" spc="-5">
                <a:latin typeface="Arial"/>
                <a:cs typeface="Arial"/>
              </a:rPr>
              <a:t>Defamation </a:t>
            </a:r>
            <a:r>
              <a:rPr dirty="0" sz="1200">
                <a:latin typeface="Arial"/>
                <a:cs typeface="Arial"/>
              </a:rPr>
              <a:t>– </a:t>
            </a:r>
            <a:r>
              <a:rPr dirty="0" sz="1200" spc="-5">
                <a:latin typeface="Arial"/>
                <a:cs typeface="Arial"/>
              </a:rPr>
              <a:t>According </a:t>
            </a:r>
            <a:r>
              <a:rPr dirty="0" sz="1200">
                <a:latin typeface="Arial"/>
                <a:cs typeface="Arial"/>
              </a:rPr>
              <a:t>to the </a:t>
            </a:r>
            <a:r>
              <a:rPr dirty="0" sz="1200" spc="-5">
                <a:latin typeface="Arial"/>
                <a:cs typeface="Arial"/>
              </a:rPr>
              <a:t>Hanafi and </a:t>
            </a:r>
            <a:r>
              <a:rPr dirty="0" sz="1200">
                <a:latin typeface="Arial"/>
                <a:cs typeface="Arial"/>
              </a:rPr>
              <a:t>the </a:t>
            </a:r>
            <a:r>
              <a:rPr dirty="0" sz="1200" spc="-5">
                <a:latin typeface="Arial"/>
                <a:cs typeface="Arial"/>
              </a:rPr>
              <a:t>Maliki the person </a:t>
            </a:r>
            <a:r>
              <a:rPr dirty="0" sz="1200">
                <a:latin typeface="Arial"/>
                <a:cs typeface="Arial"/>
              </a:rPr>
              <a:t>must </a:t>
            </a:r>
            <a:r>
              <a:rPr dirty="0" sz="1200" spc="-5">
                <a:latin typeface="Arial"/>
                <a:cs typeface="Arial"/>
              </a:rPr>
              <a:t>receive </a:t>
            </a:r>
            <a:r>
              <a:rPr dirty="0" sz="1200" spc="-10">
                <a:latin typeface="Arial"/>
                <a:cs typeface="Arial"/>
              </a:rPr>
              <a:t>80  </a:t>
            </a:r>
            <a:r>
              <a:rPr dirty="0" sz="1200">
                <a:latin typeface="Arial"/>
                <a:cs typeface="Arial"/>
              </a:rPr>
              <a:t>lashes. </a:t>
            </a:r>
            <a:r>
              <a:rPr dirty="0" sz="1200" spc="-5">
                <a:latin typeface="Arial"/>
                <a:cs typeface="Arial"/>
              </a:rPr>
              <a:t>But according </a:t>
            </a:r>
            <a:r>
              <a:rPr dirty="0" sz="1200">
                <a:latin typeface="Arial"/>
                <a:cs typeface="Arial"/>
              </a:rPr>
              <a:t>to the Shafi‘I </a:t>
            </a:r>
            <a:r>
              <a:rPr dirty="0" sz="1200" spc="-5">
                <a:latin typeface="Arial"/>
                <a:cs typeface="Arial"/>
              </a:rPr>
              <a:t>and the Hambali, </a:t>
            </a:r>
            <a:r>
              <a:rPr dirty="0" sz="1200">
                <a:latin typeface="Arial"/>
                <a:cs typeface="Arial"/>
              </a:rPr>
              <a:t>the </a:t>
            </a:r>
            <a:r>
              <a:rPr dirty="0" sz="1200" spc="-5">
                <a:latin typeface="Arial"/>
                <a:cs typeface="Arial"/>
              </a:rPr>
              <a:t>reason </a:t>
            </a:r>
            <a:r>
              <a:rPr dirty="0" sz="1200">
                <a:latin typeface="Arial"/>
                <a:cs typeface="Arial"/>
              </a:rPr>
              <a:t>for </a:t>
            </a:r>
            <a:r>
              <a:rPr dirty="0" sz="1200" spc="-5">
                <a:latin typeface="Arial"/>
                <a:cs typeface="Arial"/>
              </a:rPr>
              <a:t>his </a:t>
            </a:r>
            <a:r>
              <a:rPr dirty="0" sz="1200">
                <a:latin typeface="Arial"/>
                <a:cs typeface="Arial"/>
              </a:rPr>
              <a:t>action must </a:t>
            </a:r>
            <a:r>
              <a:rPr dirty="0" sz="1200" spc="-5">
                <a:latin typeface="Arial"/>
                <a:cs typeface="Arial"/>
              </a:rPr>
              <a:t>be  known </a:t>
            </a:r>
            <a:r>
              <a:rPr dirty="0" sz="1200">
                <a:latin typeface="Arial"/>
                <a:cs typeface="Arial"/>
              </a:rPr>
              <a:t>first </a:t>
            </a:r>
            <a:r>
              <a:rPr dirty="0" sz="1200" spc="-5">
                <a:latin typeface="Arial"/>
                <a:cs typeface="Arial"/>
              </a:rPr>
              <a:t>before lashing </a:t>
            </a:r>
            <a:r>
              <a:rPr dirty="0" sz="1200">
                <a:latin typeface="Arial"/>
                <a:cs typeface="Arial"/>
              </a:rPr>
              <a:t>him. Then </a:t>
            </a:r>
            <a:r>
              <a:rPr dirty="0" sz="1200" spc="-5">
                <a:latin typeface="Arial"/>
                <a:cs typeface="Arial"/>
              </a:rPr>
              <a:t>Ta‘azir </a:t>
            </a:r>
            <a:r>
              <a:rPr dirty="0" sz="1200">
                <a:latin typeface="Arial"/>
                <a:cs typeface="Arial"/>
              </a:rPr>
              <a:t>must </a:t>
            </a:r>
            <a:r>
              <a:rPr dirty="0" sz="1200" spc="-5">
                <a:latin typeface="Arial"/>
                <a:cs typeface="Arial"/>
              </a:rPr>
              <a:t>be applied </a:t>
            </a:r>
            <a:r>
              <a:rPr dirty="0" sz="1200">
                <a:latin typeface="Arial"/>
                <a:cs typeface="Arial"/>
              </a:rPr>
              <a:t>by the</a:t>
            </a:r>
            <a:r>
              <a:rPr dirty="0" sz="1200" spc="-45">
                <a:latin typeface="Arial"/>
                <a:cs typeface="Arial"/>
              </a:rPr>
              <a:t> </a:t>
            </a:r>
            <a:r>
              <a:rPr dirty="0" sz="1200" spc="-5">
                <a:latin typeface="Arial"/>
                <a:cs typeface="Arial"/>
              </a:rPr>
              <a:t>judge.</a:t>
            </a:r>
            <a:endParaRPr sz="1200">
              <a:latin typeface="Arial"/>
              <a:cs typeface="Arial"/>
            </a:endParaRPr>
          </a:p>
          <a:p>
            <a:pPr algn="just" marL="469900" marR="6350" indent="-229235">
              <a:lnSpc>
                <a:spcPts val="1380"/>
              </a:lnSpc>
              <a:buAutoNum type="arabicPeriod" startAt="7"/>
              <a:tabLst>
                <a:tab pos="470534" algn="l"/>
              </a:tabLst>
            </a:pPr>
            <a:r>
              <a:rPr dirty="0" sz="1200" spc="-5">
                <a:latin typeface="Arial"/>
                <a:cs typeface="Arial"/>
              </a:rPr>
              <a:t>Stealing of </a:t>
            </a:r>
            <a:r>
              <a:rPr dirty="0" sz="1200">
                <a:latin typeface="Arial"/>
                <a:cs typeface="Arial"/>
              </a:rPr>
              <a:t>a </a:t>
            </a:r>
            <a:r>
              <a:rPr dirty="0" sz="1200" spc="-5">
                <a:latin typeface="Arial"/>
                <a:cs typeface="Arial"/>
              </a:rPr>
              <a:t>brother‘s </a:t>
            </a:r>
            <a:r>
              <a:rPr dirty="0" sz="1200">
                <a:latin typeface="Arial"/>
                <a:cs typeface="Arial"/>
              </a:rPr>
              <a:t>or </a:t>
            </a:r>
            <a:r>
              <a:rPr dirty="0" sz="1200" spc="-5">
                <a:latin typeface="Arial"/>
                <a:cs typeface="Arial"/>
              </a:rPr>
              <a:t>relative‘s property </a:t>
            </a:r>
            <a:r>
              <a:rPr dirty="0" sz="1200">
                <a:latin typeface="Arial"/>
                <a:cs typeface="Arial"/>
              </a:rPr>
              <a:t>or </a:t>
            </a:r>
            <a:r>
              <a:rPr dirty="0" sz="1200" spc="-5">
                <a:latin typeface="Arial"/>
                <a:cs typeface="Arial"/>
              </a:rPr>
              <a:t>belonging </a:t>
            </a:r>
            <a:r>
              <a:rPr dirty="0" sz="1200">
                <a:latin typeface="Arial"/>
                <a:cs typeface="Arial"/>
              </a:rPr>
              <a:t>– </a:t>
            </a:r>
            <a:r>
              <a:rPr dirty="0" sz="1200" spc="-5">
                <a:latin typeface="Arial"/>
                <a:cs typeface="Arial"/>
              </a:rPr>
              <a:t>According </a:t>
            </a:r>
            <a:r>
              <a:rPr dirty="0" sz="1200">
                <a:latin typeface="Arial"/>
                <a:cs typeface="Arial"/>
              </a:rPr>
              <a:t>to </a:t>
            </a:r>
            <a:r>
              <a:rPr dirty="0" sz="1200" spc="-5">
                <a:latin typeface="Arial"/>
                <a:cs typeface="Arial"/>
              </a:rPr>
              <a:t>the Maliki,  Shafi‘I</a:t>
            </a:r>
            <a:r>
              <a:rPr dirty="0" sz="1200" spc="60">
                <a:latin typeface="Arial"/>
                <a:cs typeface="Arial"/>
              </a:rPr>
              <a:t> </a:t>
            </a:r>
            <a:r>
              <a:rPr dirty="0" sz="1200" spc="-5">
                <a:latin typeface="Arial"/>
                <a:cs typeface="Arial"/>
              </a:rPr>
              <a:t>and</a:t>
            </a:r>
            <a:r>
              <a:rPr dirty="0" sz="1200" spc="80">
                <a:latin typeface="Arial"/>
                <a:cs typeface="Arial"/>
              </a:rPr>
              <a:t> </a:t>
            </a:r>
            <a:r>
              <a:rPr dirty="0" sz="1200" spc="-5">
                <a:latin typeface="Arial"/>
                <a:cs typeface="Arial"/>
              </a:rPr>
              <a:t>the</a:t>
            </a:r>
            <a:r>
              <a:rPr dirty="0" sz="1200" spc="80">
                <a:latin typeface="Arial"/>
                <a:cs typeface="Arial"/>
              </a:rPr>
              <a:t> </a:t>
            </a:r>
            <a:r>
              <a:rPr dirty="0" sz="1200" spc="-5">
                <a:latin typeface="Arial"/>
                <a:cs typeface="Arial"/>
              </a:rPr>
              <a:t>Hambali</a:t>
            </a:r>
            <a:r>
              <a:rPr dirty="0" sz="1200" spc="70">
                <a:latin typeface="Arial"/>
                <a:cs typeface="Arial"/>
              </a:rPr>
              <a:t> </a:t>
            </a:r>
            <a:r>
              <a:rPr dirty="0" sz="1200">
                <a:latin typeface="Arial"/>
                <a:cs typeface="Arial"/>
              </a:rPr>
              <a:t>there</a:t>
            </a:r>
            <a:r>
              <a:rPr dirty="0" sz="1200" spc="75">
                <a:latin typeface="Arial"/>
                <a:cs typeface="Arial"/>
              </a:rPr>
              <a:t> </a:t>
            </a:r>
            <a:r>
              <a:rPr dirty="0" sz="1200" spc="-5">
                <a:latin typeface="Arial"/>
                <a:cs typeface="Arial"/>
              </a:rPr>
              <a:t>is</a:t>
            </a:r>
            <a:r>
              <a:rPr dirty="0" sz="1200" spc="75">
                <a:latin typeface="Arial"/>
                <a:cs typeface="Arial"/>
              </a:rPr>
              <a:t> </a:t>
            </a:r>
            <a:r>
              <a:rPr dirty="0" sz="1200">
                <a:latin typeface="Arial"/>
                <a:cs typeface="Arial"/>
              </a:rPr>
              <a:t>Hadd</a:t>
            </a:r>
            <a:r>
              <a:rPr dirty="0" sz="1200" spc="70">
                <a:latin typeface="Arial"/>
                <a:cs typeface="Arial"/>
              </a:rPr>
              <a:t> </a:t>
            </a:r>
            <a:r>
              <a:rPr dirty="0" sz="1200" spc="-5">
                <a:latin typeface="Arial"/>
                <a:cs typeface="Arial"/>
              </a:rPr>
              <a:t>punishment</a:t>
            </a:r>
            <a:r>
              <a:rPr dirty="0" sz="1200" spc="80">
                <a:latin typeface="Arial"/>
                <a:cs typeface="Arial"/>
              </a:rPr>
              <a:t> </a:t>
            </a:r>
            <a:r>
              <a:rPr dirty="0" sz="1200" spc="-5">
                <a:latin typeface="Arial"/>
                <a:cs typeface="Arial"/>
              </a:rPr>
              <a:t>(cutting</a:t>
            </a:r>
            <a:r>
              <a:rPr dirty="0" sz="1200" spc="70">
                <a:latin typeface="Arial"/>
                <a:cs typeface="Arial"/>
              </a:rPr>
              <a:t> </a:t>
            </a:r>
            <a:r>
              <a:rPr dirty="0" sz="1200" spc="-5">
                <a:latin typeface="Arial"/>
                <a:cs typeface="Arial"/>
              </a:rPr>
              <a:t>of</a:t>
            </a:r>
            <a:r>
              <a:rPr dirty="0" sz="1200" spc="90">
                <a:latin typeface="Arial"/>
                <a:cs typeface="Arial"/>
              </a:rPr>
              <a:t> </a:t>
            </a:r>
            <a:r>
              <a:rPr dirty="0" sz="1200" spc="-5">
                <a:latin typeface="Arial"/>
                <a:cs typeface="Arial"/>
              </a:rPr>
              <a:t>the</a:t>
            </a:r>
            <a:r>
              <a:rPr dirty="0" sz="1200" spc="70">
                <a:latin typeface="Arial"/>
                <a:cs typeface="Arial"/>
              </a:rPr>
              <a:t> </a:t>
            </a:r>
            <a:r>
              <a:rPr dirty="0" sz="1200" spc="-5">
                <a:latin typeface="Arial"/>
                <a:cs typeface="Arial"/>
              </a:rPr>
              <a:t>hand)</a:t>
            </a:r>
            <a:r>
              <a:rPr dirty="0" sz="1200" spc="65">
                <a:latin typeface="Arial"/>
                <a:cs typeface="Arial"/>
              </a:rPr>
              <a:t> </a:t>
            </a:r>
            <a:r>
              <a:rPr dirty="0" sz="1200" spc="-5">
                <a:latin typeface="Arial"/>
                <a:cs typeface="Arial"/>
              </a:rPr>
              <a:t>but</a:t>
            </a:r>
            <a:r>
              <a:rPr dirty="0" sz="1200" spc="80">
                <a:latin typeface="Arial"/>
                <a:cs typeface="Arial"/>
              </a:rPr>
              <a:t> </a:t>
            </a:r>
            <a:r>
              <a:rPr dirty="0" sz="1200" spc="-5">
                <a:latin typeface="Arial"/>
                <a:cs typeface="Arial"/>
              </a:rPr>
              <a:t>according</a:t>
            </a:r>
            <a:endParaRPr sz="1200">
              <a:latin typeface="Arial"/>
              <a:cs typeface="Arial"/>
            </a:endParaRPr>
          </a:p>
          <a:p>
            <a:pPr algn="just" marL="469900">
              <a:lnSpc>
                <a:spcPts val="1315"/>
              </a:lnSpc>
            </a:pPr>
            <a:r>
              <a:rPr dirty="0" sz="1200">
                <a:latin typeface="Arial"/>
                <a:cs typeface="Arial"/>
              </a:rPr>
              <a:t>to </a:t>
            </a:r>
            <a:r>
              <a:rPr dirty="0" sz="1200" spc="-5">
                <a:latin typeface="Arial"/>
                <a:cs typeface="Arial"/>
              </a:rPr>
              <a:t>the Hanafi there is no Hadd but Ta‘azir</a:t>
            </a:r>
            <a:r>
              <a:rPr dirty="0" sz="1200" spc="5">
                <a:latin typeface="Arial"/>
                <a:cs typeface="Arial"/>
              </a:rPr>
              <a:t> </a:t>
            </a:r>
            <a:r>
              <a:rPr dirty="0" sz="1200" spc="-5">
                <a:latin typeface="Arial"/>
                <a:cs typeface="Arial"/>
              </a:rPr>
              <a:t>punishment.</a:t>
            </a:r>
            <a:endParaRPr sz="1200">
              <a:latin typeface="Arial"/>
              <a:cs typeface="Arial"/>
            </a:endParaRPr>
          </a:p>
          <a:p>
            <a:pPr algn="just" marL="469900" marR="10160" indent="-229235">
              <a:lnSpc>
                <a:spcPts val="1380"/>
              </a:lnSpc>
              <a:spcBef>
                <a:spcPts val="65"/>
              </a:spcBef>
              <a:buAutoNum type="arabicPeriod" startAt="9"/>
              <a:tabLst>
                <a:tab pos="470534" algn="l"/>
              </a:tabLst>
            </a:pPr>
            <a:r>
              <a:rPr dirty="0" sz="1200" spc="-5">
                <a:latin typeface="Arial"/>
                <a:cs typeface="Arial"/>
              </a:rPr>
              <a:t>Alcoholic drink </a:t>
            </a:r>
            <a:r>
              <a:rPr dirty="0" sz="1200">
                <a:latin typeface="Arial"/>
                <a:cs typeface="Arial"/>
              </a:rPr>
              <a:t>– </a:t>
            </a:r>
            <a:r>
              <a:rPr dirty="0" sz="1200" spc="-5">
                <a:latin typeface="Arial"/>
                <a:cs typeface="Arial"/>
              </a:rPr>
              <a:t>According </a:t>
            </a:r>
            <a:r>
              <a:rPr dirty="0" sz="1200">
                <a:latin typeface="Arial"/>
                <a:cs typeface="Arial"/>
              </a:rPr>
              <a:t>to the Hanafi, </a:t>
            </a:r>
            <a:r>
              <a:rPr dirty="0" sz="1200" spc="-5">
                <a:latin typeface="Arial"/>
                <a:cs typeface="Arial"/>
              </a:rPr>
              <a:t>Maliki and </a:t>
            </a:r>
            <a:r>
              <a:rPr dirty="0" sz="1200">
                <a:latin typeface="Arial"/>
                <a:cs typeface="Arial"/>
              </a:rPr>
              <a:t>the </a:t>
            </a:r>
            <a:r>
              <a:rPr dirty="0" sz="1200" spc="-5">
                <a:latin typeface="Arial"/>
                <a:cs typeface="Arial"/>
              </a:rPr>
              <a:t>Hambali </a:t>
            </a:r>
            <a:r>
              <a:rPr dirty="0" sz="1200">
                <a:latin typeface="Arial"/>
                <a:cs typeface="Arial"/>
              </a:rPr>
              <a:t>there </a:t>
            </a:r>
            <a:r>
              <a:rPr dirty="0" sz="1200" spc="-5">
                <a:latin typeface="Arial"/>
                <a:cs typeface="Arial"/>
              </a:rPr>
              <a:t>are </a:t>
            </a:r>
            <a:r>
              <a:rPr dirty="0" sz="1200" spc="-10">
                <a:latin typeface="Arial"/>
                <a:cs typeface="Arial"/>
              </a:rPr>
              <a:t>80 </a:t>
            </a:r>
            <a:r>
              <a:rPr dirty="0" sz="1200" spc="-5">
                <a:latin typeface="Arial"/>
                <a:cs typeface="Arial"/>
              </a:rPr>
              <a:t>lashes  </a:t>
            </a:r>
            <a:r>
              <a:rPr dirty="0" sz="1200">
                <a:latin typeface="Arial"/>
                <a:cs typeface="Arial"/>
              </a:rPr>
              <a:t>as </a:t>
            </a:r>
            <a:r>
              <a:rPr dirty="0" sz="1200" spc="-5">
                <a:latin typeface="Arial"/>
                <a:cs typeface="Arial"/>
              </a:rPr>
              <a:t>punishment but according </a:t>
            </a:r>
            <a:r>
              <a:rPr dirty="0" sz="1200">
                <a:latin typeface="Arial"/>
                <a:cs typeface="Arial"/>
              </a:rPr>
              <a:t>to </a:t>
            </a:r>
            <a:r>
              <a:rPr dirty="0" sz="1200" spc="-5">
                <a:latin typeface="Arial"/>
                <a:cs typeface="Arial"/>
              </a:rPr>
              <a:t>the Shafi‘I there </a:t>
            </a:r>
            <a:r>
              <a:rPr dirty="0" sz="1200">
                <a:latin typeface="Arial"/>
                <a:cs typeface="Arial"/>
              </a:rPr>
              <a:t>are </a:t>
            </a:r>
            <a:r>
              <a:rPr dirty="0" sz="1200" spc="-5">
                <a:latin typeface="Arial"/>
                <a:cs typeface="Arial"/>
              </a:rPr>
              <a:t>only </a:t>
            </a:r>
            <a:r>
              <a:rPr dirty="0" sz="1200">
                <a:latin typeface="Arial"/>
                <a:cs typeface="Arial"/>
              </a:rPr>
              <a:t>40</a:t>
            </a:r>
            <a:r>
              <a:rPr dirty="0" sz="1200" spc="-5">
                <a:latin typeface="Arial"/>
                <a:cs typeface="Arial"/>
              </a:rPr>
              <a:t> </a:t>
            </a:r>
            <a:r>
              <a:rPr dirty="0" sz="1200">
                <a:latin typeface="Arial"/>
                <a:cs typeface="Arial"/>
              </a:rPr>
              <a:t>lashes.</a:t>
            </a:r>
            <a:endParaRPr sz="1200">
              <a:latin typeface="Arial"/>
              <a:cs typeface="Arial"/>
            </a:endParaRPr>
          </a:p>
          <a:p>
            <a:pPr algn="just" marL="469900" marR="5080" indent="-229235">
              <a:lnSpc>
                <a:spcPts val="1380"/>
              </a:lnSpc>
              <a:buAutoNum type="arabicPeriod" startAt="9"/>
              <a:tabLst>
                <a:tab pos="470534" algn="l"/>
              </a:tabLst>
            </a:pPr>
            <a:r>
              <a:rPr dirty="0" sz="1200" spc="-5">
                <a:latin typeface="Arial"/>
                <a:cs typeface="Arial"/>
              </a:rPr>
              <a:t>Sunnah in Swalaat </a:t>
            </a:r>
            <a:r>
              <a:rPr dirty="0" sz="1200">
                <a:latin typeface="Arial"/>
                <a:cs typeface="Arial"/>
              </a:rPr>
              <a:t>- The </a:t>
            </a:r>
            <a:r>
              <a:rPr dirty="0" sz="1200" spc="-5">
                <a:latin typeface="Arial"/>
                <a:cs typeface="Arial"/>
              </a:rPr>
              <a:t>Shafi'is consider them to be eleven rak'ahs: </a:t>
            </a:r>
            <a:r>
              <a:rPr dirty="0" sz="1200" spc="-10">
                <a:latin typeface="Arial"/>
                <a:cs typeface="Arial"/>
              </a:rPr>
              <a:t>two </a:t>
            </a:r>
            <a:r>
              <a:rPr dirty="0" sz="1200" spc="-5">
                <a:latin typeface="Arial"/>
                <a:cs typeface="Arial"/>
              </a:rPr>
              <a:t>before the  </a:t>
            </a:r>
            <a:r>
              <a:rPr dirty="0" sz="1200">
                <a:latin typeface="Arial"/>
                <a:cs typeface="Arial"/>
              </a:rPr>
              <a:t>morning (subh) </a:t>
            </a:r>
            <a:r>
              <a:rPr dirty="0" sz="1200" spc="-5">
                <a:latin typeface="Arial"/>
                <a:cs typeface="Arial"/>
              </a:rPr>
              <a:t>prayer, </a:t>
            </a:r>
            <a:r>
              <a:rPr dirty="0" sz="1200" spc="-10">
                <a:latin typeface="Arial"/>
                <a:cs typeface="Arial"/>
              </a:rPr>
              <a:t>two </a:t>
            </a:r>
            <a:r>
              <a:rPr dirty="0" sz="1200">
                <a:latin typeface="Arial"/>
                <a:cs typeface="Arial"/>
              </a:rPr>
              <a:t>before the </a:t>
            </a:r>
            <a:r>
              <a:rPr dirty="0" sz="1200" spc="-5">
                <a:latin typeface="Arial"/>
                <a:cs typeface="Arial"/>
              </a:rPr>
              <a:t>noon </a:t>
            </a:r>
            <a:r>
              <a:rPr dirty="0" sz="1200" spc="-10">
                <a:latin typeface="Arial"/>
                <a:cs typeface="Arial"/>
              </a:rPr>
              <a:t>(zuhr) </a:t>
            </a:r>
            <a:r>
              <a:rPr dirty="0" sz="1200" spc="-5">
                <a:latin typeface="Arial"/>
                <a:cs typeface="Arial"/>
              </a:rPr>
              <a:t>prayer </a:t>
            </a:r>
            <a:r>
              <a:rPr dirty="0" sz="1200">
                <a:latin typeface="Arial"/>
                <a:cs typeface="Arial"/>
              </a:rPr>
              <a:t>and </a:t>
            </a:r>
            <a:r>
              <a:rPr dirty="0" sz="1200" spc="-5">
                <a:latin typeface="Arial"/>
                <a:cs typeface="Arial"/>
              </a:rPr>
              <a:t>two </a:t>
            </a:r>
            <a:r>
              <a:rPr dirty="0" sz="1200">
                <a:latin typeface="Arial"/>
                <a:cs typeface="Arial"/>
              </a:rPr>
              <a:t>after it, </a:t>
            </a:r>
            <a:r>
              <a:rPr dirty="0" sz="1200" spc="-10">
                <a:latin typeface="Arial"/>
                <a:cs typeface="Arial"/>
              </a:rPr>
              <a:t>two </a:t>
            </a:r>
            <a:r>
              <a:rPr dirty="0" sz="1200">
                <a:latin typeface="Arial"/>
                <a:cs typeface="Arial"/>
              </a:rPr>
              <a:t>after </a:t>
            </a:r>
            <a:r>
              <a:rPr dirty="0" sz="1200" spc="-5">
                <a:latin typeface="Arial"/>
                <a:cs typeface="Arial"/>
              </a:rPr>
              <a:t>the  sunset (maghrib) prayer, </a:t>
            </a:r>
            <a:r>
              <a:rPr dirty="0" sz="1200" spc="-10">
                <a:latin typeface="Arial"/>
                <a:cs typeface="Arial"/>
              </a:rPr>
              <a:t>two </a:t>
            </a:r>
            <a:r>
              <a:rPr dirty="0" sz="1200">
                <a:latin typeface="Arial"/>
                <a:cs typeface="Arial"/>
              </a:rPr>
              <a:t>after </a:t>
            </a:r>
            <a:r>
              <a:rPr dirty="0" sz="1200" spc="-5">
                <a:latin typeface="Arial"/>
                <a:cs typeface="Arial"/>
              </a:rPr>
              <a:t>the night </a:t>
            </a:r>
            <a:r>
              <a:rPr dirty="0" sz="1200">
                <a:latin typeface="Arial"/>
                <a:cs typeface="Arial"/>
              </a:rPr>
              <a:t>('isha') </a:t>
            </a:r>
            <a:r>
              <a:rPr dirty="0" sz="1200" spc="-5">
                <a:latin typeface="Arial"/>
                <a:cs typeface="Arial"/>
              </a:rPr>
              <a:t>prayer and a single rak'ah </a:t>
            </a:r>
            <a:r>
              <a:rPr dirty="0" sz="1200" spc="-10">
                <a:latin typeface="Arial"/>
                <a:cs typeface="Arial"/>
              </a:rPr>
              <a:t>called  </a:t>
            </a:r>
            <a:r>
              <a:rPr dirty="0" sz="1200" spc="-5">
                <a:latin typeface="Arial"/>
                <a:cs typeface="Arial"/>
              </a:rPr>
              <a:t>'al-watirah'. </a:t>
            </a:r>
            <a:r>
              <a:rPr dirty="0" sz="1200">
                <a:latin typeface="Arial"/>
                <a:cs typeface="Arial"/>
              </a:rPr>
              <a:t>The </a:t>
            </a:r>
            <a:r>
              <a:rPr dirty="0" sz="1200" spc="-5">
                <a:latin typeface="Arial"/>
                <a:cs typeface="Arial"/>
              </a:rPr>
              <a:t>Hanbalis </a:t>
            </a:r>
            <a:r>
              <a:rPr dirty="0" sz="1200">
                <a:latin typeface="Arial"/>
                <a:cs typeface="Arial"/>
              </a:rPr>
              <a:t>consider </a:t>
            </a:r>
            <a:r>
              <a:rPr dirty="0" sz="1200" spc="-5">
                <a:latin typeface="Arial"/>
                <a:cs typeface="Arial"/>
              </a:rPr>
              <a:t>them </a:t>
            </a:r>
            <a:r>
              <a:rPr dirty="0" sz="1200">
                <a:latin typeface="Arial"/>
                <a:cs typeface="Arial"/>
              </a:rPr>
              <a:t>to </a:t>
            </a:r>
            <a:r>
              <a:rPr dirty="0" sz="1200" spc="-5">
                <a:latin typeface="Arial"/>
                <a:cs typeface="Arial"/>
              </a:rPr>
              <a:t>be </a:t>
            </a:r>
            <a:r>
              <a:rPr dirty="0" sz="1200">
                <a:latin typeface="Arial"/>
                <a:cs typeface="Arial"/>
              </a:rPr>
              <a:t>ten </a:t>
            </a:r>
            <a:r>
              <a:rPr dirty="0" sz="1200" spc="-5">
                <a:latin typeface="Arial"/>
                <a:cs typeface="Arial"/>
              </a:rPr>
              <a:t>rak'ahs; </a:t>
            </a:r>
            <a:r>
              <a:rPr dirty="0" sz="1200" spc="-10">
                <a:latin typeface="Arial"/>
                <a:cs typeface="Arial"/>
              </a:rPr>
              <a:t>two </a:t>
            </a:r>
            <a:r>
              <a:rPr dirty="0" sz="1200">
                <a:latin typeface="Arial"/>
                <a:cs typeface="Arial"/>
              </a:rPr>
              <a:t>rak'ahs </a:t>
            </a:r>
            <a:r>
              <a:rPr dirty="0" sz="1200" spc="-5">
                <a:latin typeface="Arial"/>
                <a:cs typeface="Arial"/>
              </a:rPr>
              <a:t>before </a:t>
            </a:r>
            <a:r>
              <a:rPr dirty="0" sz="1200" spc="-10">
                <a:latin typeface="Arial"/>
                <a:cs typeface="Arial"/>
              </a:rPr>
              <a:t>and  </a:t>
            </a:r>
            <a:r>
              <a:rPr dirty="0" sz="1200">
                <a:latin typeface="Arial"/>
                <a:cs typeface="Arial"/>
              </a:rPr>
              <a:t>after </a:t>
            </a:r>
            <a:r>
              <a:rPr dirty="0" sz="1200" spc="-5">
                <a:latin typeface="Arial"/>
                <a:cs typeface="Arial"/>
              </a:rPr>
              <a:t>the noon prayer, </a:t>
            </a:r>
            <a:r>
              <a:rPr dirty="0" sz="1200" spc="-10">
                <a:latin typeface="Arial"/>
                <a:cs typeface="Arial"/>
              </a:rPr>
              <a:t>two </a:t>
            </a:r>
            <a:r>
              <a:rPr dirty="0" sz="1200">
                <a:latin typeface="Arial"/>
                <a:cs typeface="Arial"/>
              </a:rPr>
              <a:t>after the </a:t>
            </a:r>
            <a:r>
              <a:rPr dirty="0" sz="1200" spc="-5">
                <a:latin typeface="Arial"/>
                <a:cs typeface="Arial"/>
              </a:rPr>
              <a:t>sunset and the night prayer, and </a:t>
            </a:r>
            <a:r>
              <a:rPr dirty="0" sz="1200" spc="-10">
                <a:latin typeface="Arial"/>
                <a:cs typeface="Arial"/>
              </a:rPr>
              <a:t>two </a:t>
            </a:r>
            <a:r>
              <a:rPr dirty="0" sz="1200" spc="-5">
                <a:latin typeface="Arial"/>
                <a:cs typeface="Arial"/>
              </a:rPr>
              <a:t>rak'ahs  before the Morning Prayer. According to the Maliki‘s </a:t>
            </a:r>
            <a:r>
              <a:rPr dirty="0" sz="1200">
                <a:latin typeface="Arial"/>
                <a:cs typeface="Arial"/>
              </a:rPr>
              <a:t>there </a:t>
            </a:r>
            <a:r>
              <a:rPr dirty="0" sz="1200" spc="-5">
                <a:latin typeface="Arial"/>
                <a:cs typeface="Arial"/>
              </a:rPr>
              <a:t>is </a:t>
            </a:r>
            <a:r>
              <a:rPr dirty="0" sz="1200" spc="-10">
                <a:latin typeface="Arial"/>
                <a:cs typeface="Arial"/>
              </a:rPr>
              <a:t>no </a:t>
            </a:r>
            <a:r>
              <a:rPr dirty="0" sz="1200" spc="-5">
                <a:latin typeface="Arial"/>
                <a:cs typeface="Arial"/>
              </a:rPr>
              <a:t>fixed number </a:t>
            </a:r>
            <a:r>
              <a:rPr dirty="0" sz="1200">
                <a:latin typeface="Arial"/>
                <a:cs typeface="Arial"/>
              </a:rPr>
              <a:t>for </a:t>
            </a:r>
            <a:r>
              <a:rPr dirty="0" sz="1200" spc="-10">
                <a:latin typeface="Arial"/>
                <a:cs typeface="Arial"/>
              </a:rPr>
              <a:t>the  </a:t>
            </a:r>
            <a:r>
              <a:rPr dirty="0" sz="1200" spc="-5">
                <a:latin typeface="Arial"/>
                <a:cs typeface="Arial"/>
              </a:rPr>
              <a:t>supererogatory (Nawafil) prayers performed with </a:t>
            </a:r>
            <a:r>
              <a:rPr dirty="0" sz="1200">
                <a:latin typeface="Arial"/>
                <a:cs typeface="Arial"/>
              </a:rPr>
              <a:t>the </a:t>
            </a:r>
            <a:r>
              <a:rPr dirty="0" sz="1200" spc="-5">
                <a:latin typeface="Arial"/>
                <a:cs typeface="Arial"/>
              </a:rPr>
              <a:t>obligatory </a:t>
            </a:r>
            <a:r>
              <a:rPr dirty="0" sz="1200">
                <a:latin typeface="Arial"/>
                <a:cs typeface="Arial"/>
              </a:rPr>
              <a:t>salat, </a:t>
            </a:r>
            <a:r>
              <a:rPr dirty="0" sz="1200" spc="-5">
                <a:latin typeface="Arial"/>
                <a:cs typeface="Arial"/>
              </a:rPr>
              <a:t>though </a:t>
            </a:r>
            <a:r>
              <a:rPr dirty="0" sz="1200">
                <a:latin typeface="Arial"/>
                <a:cs typeface="Arial"/>
              </a:rPr>
              <a:t>it </a:t>
            </a:r>
            <a:r>
              <a:rPr dirty="0" sz="1200" spc="-5">
                <a:latin typeface="Arial"/>
                <a:cs typeface="Arial"/>
              </a:rPr>
              <a:t>is best  </a:t>
            </a:r>
            <a:r>
              <a:rPr dirty="0" sz="1200">
                <a:latin typeface="Arial"/>
                <a:cs typeface="Arial"/>
              </a:rPr>
              <a:t>to </a:t>
            </a:r>
            <a:r>
              <a:rPr dirty="0" sz="1200" spc="-5">
                <a:latin typeface="Arial"/>
                <a:cs typeface="Arial"/>
              </a:rPr>
              <a:t>offer </a:t>
            </a:r>
            <a:r>
              <a:rPr dirty="0" sz="1200">
                <a:latin typeface="Arial"/>
                <a:cs typeface="Arial"/>
              </a:rPr>
              <a:t>four rak'ahs </a:t>
            </a:r>
            <a:r>
              <a:rPr dirty="0" sz="1200" spc="-5">
                <a:latin typeface="Arial"/>
                <a:cs typeface="Arial"/>
              </a:rPr>
              <a:t>before the zuhr and six </a:t>
            </a:r>
            <a:r>
              <a:rPr dirty="0" sz="1200">
                <a:latin typeface="Arial"/>
                <a:cs typeface="Arial"/>
              </a:rPr>
              <a:t>after the </a:t>
            </a:r>
            <a:r>
              <a:rPr dirty="0" sz="1200" spc="-5">
                <a:latin typeface="Arial"/>
                <a:cs typeface="Arial"/>
              </a:rPr>
              <a:t>Maghrib </a:t>
            </a:r>
            <a:r>
              <a:rPr dirty="0" sz="1200" spc="-10">
                <a:latin typeface="Arial"/>
                <a:cs typeface="Arial"/>
              </a:rPr>
              <a:t>prayer. </a:t>
            </a:r>
            <a:r>
              <a:rPr dirty="0" sz="1200">
                <a:latin typeface="Arial"/>
                <a:cs typeface="Arial"/>
              </a:rPr>
              <a:t>The </a:t>
            </a:r>
            <a:r>
              <a:rPr dirty="0" sz="1200" spc="-5">
                <a:latin typeface="Arial"/>
                <a:cs typeface="Arial"/>
              </a:rPr>
              <a:t>Hanafis  </a:t>
            </a:r>
            <a:r>
              <a:rPr dirty="0" sz="1200">
                <a:latin typeface="Arial"/>
                <a:cs typeface="Arial"/>
              </a:rPr>
              <a:t>classify </a:t>
            </a:r>
            <a:r>
              <a:rPr dirty="0" sz="1200" spc="-5">
                <a:latin typeface="Arial"/>
                <a:cs typeface="Arial"/>
              </a:rPr>
              <a:t>the nawafil performed along with </a:t>
            </a:r>
            <a:r>
              <a:rPr dirty="0" sz="1200">
                <a:latin typeface="Arial"/>
                <a:cs typeface="Arial"/>
              </a:rPr>
              <a:t>the fara'id </a:t>
            </a:r>
            <a:r>
              <a:rPr dirty="0" sz="1200" spc="-10">
                <a:latin typeface="Arial"/>
                <a:cs typeface="Arial"/>
              </a:rPr>
              <a:t>into </a:t>
            </a:r>
            <a:r>
              <a:rPr dirty="0" sz="1200" spc="-5">
                <a:latin typeface="Arial"/>
                <a:cs typeface="Arial"/>
              </a:rPr>
              <a:t>'masnunah'</a:t>
            </a:r>
            <a:r>
              <a:rPr dirty="0" sz="1200" spc="270">
                <a:latin typeface="Arial"/>
                <a:cs typeface="Arial"/>
              </a:rPr>
              <a:t> </a:t>
            </a:r>
            <a:r>
              <a:rPr dirty="0" sz="1200" spc="-5">
                <a:latin typeface="Arial"/>
                <a:cs typeface="Arial"/>
              </a:rPr>
              <a:t>and</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116</a:t>
            </a:r>
            <a:endParaRPr sz="1200">
              <a:latin typeface="Times New Roman"/>
              <a:cs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9163050"/>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469900" marR="5080">
              <a:lnSpc>
                <a:spcPct val="95900"/>
              </a:lnSpc>
            </a:pPr>
            <a:r>
              <a:rPr dirty="0" sz="1200" spc="-5">
                <a:latin typeface="Arial"/>
                <a:cs typeface="Arial"/>
              </a:rPr>
              <a:t>'mandubah'.(1) The 'masnunah' are five: </a:t>
            </a:r>
            <a:r>
              <a:rPr dirty="0" sz="1200" spc="-10">
                <a:latin typeface="Arial"/>
                <a:cs typeface="Arial"/>
              </a:rPr>
              <a:t>two </a:t>
            </a:r>
            <a:r>
              <a:rPr dirty="0" sz="1200" spc="-5">
                <a:latin typeface="Arial"/>
                <a:cs typeface="Arial"/>
              </a:rPr>
              <a:t>rak'ahs </a:t>
            </a:r>
            <a:r>
              <a:rPr dirty="0" sz="1200" spc="-10">
                <a:latin typeface="Arial"/>
                <a:cs typeface="Arial"/>
              </a:rPr>
              <a:t>before </a:t>
            </a:r>
            <a:r>
              <a:rPr dirty="0" sz="1200">
                <a:latin typeface="Arial"/>
                <a:cs typeface="Arial"/>
              </a:rPr>
              <a:t>the </a:t>
            </a:r>
            <a:r>
              <a:rPr dirty="0" sz="1200" spc="-10">
                <a:latin typeface="Arial"/>
                <a:cs typeface="Arial"/>
              </a:rPr>
              <a:t>subh; </a:t>
            </a:r>
            <a:r>
              <a:rPr dirty="0" sz="1200">
                <a:latin typeface="Arial"/>
                <a:cs typeface="Arial"/>
              </a:rPr>
              <a:t>four </a:t>
            </a:r>
            <a:r>
              <a:rPr dirty="0" sz="1200" spc="-5">
                <a:latin typeface="Arial"/>
                <a:cs typeface="Arial"/>
              </a:rPr>
              <a:t>before the  zuhr, and </a:t>
            </a:r>
            <a:r>
              <a:rPr dirty="0" sz="1200" spc="-10">
                <a:latin typeface="Arial"/>
                <a:cs typeface="Arial"/>
              </a:rPr>
              <a:t>two </a:t>
            </a:r>
            <a:r>
              <a:rPr dirty="0" sz="1200">
                <a:latin typeface="Arial"/>
                <a:cs typeface="Arial"/>
              </a:rPr>
              <a:t>after it, </a:t>
            </a:r>
            <a:r>
              <a:rPr dirty="0" sz="1200" spc="-5">
                <a:latin typeface="Arial"/>
                <a:cs typeface="Arial"/>
              </a:rPr>
              <a:t>except on Friday; two </a:t>
            </a:r>
            <a:r>
              <a:rPr dirty="0" sz="1200">
                <a:latin typeface="Arial"/>
                <a:cs typeface="Arial"/>
              </a:rPr>
              <a:t>after the </a:t>
            </a:r>
            <a:r>
              <a:rPr dirty="0" sz="1200" spc="-5">
                <a:latin typeface="Arial"/>
                <a:cs typeface="Arial"/>
              </a:rPr>
              <a:t>maghrib and </a:t>
            </a:r>
            <a:r>
              <a:rPr dirty="0" sz="1200" spc="-10">
                <a:latin typeface="Arial"/>
                <a:cs typeface="Arial"/>
              </a:rPr>
              <a:t>two </a:t>
            </a:r>
            <a:r>
              <a:rPr dirty="0" sz="1200">
                <a:latin typeface="Arial"/>
                <a:cs typeface="Arial"/>
              </a:rPr>
              <a:t>after the </a:t>
            </a:r>
            <a:r>
              <a:rPr dirty="0" sz="1200" spc="-5">
                <a:latin typeface="Arial"/>
                <a:cs typeface="Arial"/>
              </a:rPr>
              <a:t>'isha'  prayer. The 'mandubah' are </a:t>
            </a:r>
            <a:r>
              <a:rPr dirty="0" sz="1200">
                <a:latin typeface="Arial"/>
                <a:cs typeface="Arial"/>
              </a:rPr>
              <a:t>four: four </a:t>
            </a:r>
            <a:r>
              <a:rPr dirty="0" sz="1200" spc="-10">
                <a:latin typeface="Arial"/>
                <a:cs typeface="Arial"/>
              </a:rPr>
              <a:t>-or </a:t>
            </a:r>
            <a:r>
              <a:rPr dirty="0" sz="1200" spc="-5">
                <a:latin typeface="Arial"/>
                <a:cs typeface="Arial"/>
              </a:rPr>
              <a:t>two- </a:t>
            </a:r>
            <a:r>
              <a:rPr dirty="0" sz="1200">
                <a:latin typeface="Arial"/>
                <a:cs typeface="Arial"/>
              </a:rPr>
              <a:t>rak'ahs </a:t>
            </a:r>
            <a:r>
              <a:rPr dirty="0" sz="1200" spc="-5">
                <a:latin typeface="Arial"/>
                <a:cs typeface="Arial"/>
              </a:rPr>
              <a:t>before the 'asr, six </a:t>
            </a:r>
            <a:r>
              <a:rPr dirty="0" sz="1200">
                <a:latin typeface="Arial"/>
                <a:cs typeface="Arial"/>
              </a:rPr>
              <a:t>after </a:t>
            </a:r>
            <a:r>
              <a:rPr dirty="0" sz="1200" spc="-5">
                <a:latin typeface="Arial"/>
                <a:cs typeface="Arial"/>
              </a:rPr>
              <a:t>the  Maghrib, and </a:t>
            </a:r>
            <a:r>
              <a:rPr dirty="0" sz="1200">
                <a:latin typeface="Arial"/>
                <a:cs typeface="Arial"/>
              </a:rPr>
              <a:t>four </a:t>
            </a:r>
            <a:r>
              <a:rPr dirty="0" sz="1200" spc="-5">
                <a:latin typeface="Arial"/>
                <a:cs typeface="Arial"/>
              </a:rPr>
              <a:t>before </a:t>
            </a:r>
            <a:r>
              <a:rPr dirty="0" sz="1200">
                <a:latin typeface="Arial"/>
                <a:cs typeface="Arial"/>
              </a:rPr>
              <a:t>and </a:t>
            </a:r>
            <a:r>
              <a:rPr dirty="0" sz="1200" spc="-5">
                <a:latin typeface="Arial"/>
                <a:cs typeface="Arial"/>
              </a:rPr>
              <a:t>after the 'isha'</a:t>
            </a:r>
            <a:r>
              <a:rPr dirty="0" sz="1200" spc="-25">
                <a:latin typeface="Arial"/>
                <a:cs typeface="Arial"/>
              </a:rPr>
              <a:t> </a:t>
            </a:r>
            <a:r>
              <a:rPr dirty="0" sz="1200" spc="-5">
                <a:latin typeface="Arial"/>
                <a:cs typeface="Arial"/>
              </a:rPr>
              <a:t>prayer.</a:t>
            </a:r>
            <a:endParaRPr sz="1200">
              <a:latin typeface="Arial"/>
              <a:cs typeface="Arial"/>
            </a:endParaRPr>
          </a:p>
          <a:p>
            <a:pPr algn="just" marL="469900" marR="8890" indent="-228600">
              <a:lnSpc>
                <a:spcPts val="1380"/>
              </a:lnSpc>
              <a:spcBef>
                <a:spcPts val="35"/>
              </a:spcBef>
            </a:pPr>
            <a:r>
              <a:rPr dirty="0" sz="1200" spc="-5">
                <a:latin typeface="Arial"/>
                <a:cs typeface="Arial"/>
              </a:rPr>
              <a:t>11. Folding of hands in Swalaat </a:t>
            </a:r>
            <a:r>
              <a:rPr dirty="0" sz="1200">
                <a:latin typeface="Arial"/>
                <a:cs typeface="Arial"/>
              </a:rPr>
              <a:t>– </a:t>
            </a:r>
            <a:r>
              <a:rPr dirty="0" sz="1200" spc="-5">
                <a:latin typeface="Arial"/>
                <a:cs typeface="Arial"/>
              </a:rPr>
              <a:t>According </a:t>
            </a:r>
            <a:r>
              <a:rPr dirty="0" sz="1200">
                <a:latin typeface="Arial"/>
                <a:cs typeface="Arial"/>
              </a:rPr>
              <a:t>to the </a:t>
            </a:r>
            <a:r>
              <a:rPr dirty="0" sz="1200" spc="-5">
                <a:latin typeface="Arial"/>
                <a:cs typeface="Arial"/>
              </a:rPr>
              <a:t>Hanafi </a:t>
            </a:r>
            <a:r>
              <a:rPr dirty="0" sz="1200">
                <a:latin typeface="Arial"/>
                <a:cs typeface="Arial"/>
              </a:rPr>
              <a:t>the </a:t>
            </a:r>
            <a:r>
              <a:rPr dirty="0" sz="1200" spc="-5">
                <a:latin typeface="Arial"/>
                <a:cs typeface="Arial"/>
              </a:rPr>
              <a:t>hands are </a:t>
            </a:r>
            <a:r>
              <a:rPr dirty="0" sz="1200">
                <a:latin typeface="Arial"/>
                <a:cs typeface="Arial"/>
              </a:rPr>
              <a:t>folded </a:t>
            </a:r>
            <a:r>
              <a:rPr dirty="0" sz="1200" spc="-5">
                <a:latin typeface="Arial"/>
                <a:cs typeface="Arial"/>
              </a:rPr>
              <a:t>right over  </a:t>
            </a:r>
            <a:r>
              <a:rPr dirty="0" sz="1200">
                <a:latin typeface="Arial"/>
                <a:cs typeface="Arial"/>
              </a:rPr>
              <a:t>left </a:t>
            </a:r>
            <a:r>
              <a:rPr dirty="0" sz="1200" spc="-5">
                <a:latin typeface="Arial"/>
                <a:cs typeface="Arial"/>
              </a:rPr>
              <a:t>below </a:t>
            </a:r>
            <a:r>
              <a:rPr dirty="0" sz="1200">
                <a:latin typeface="Arial"/>
                <a:cs typeface="Arial"/>
              </a:rPr>
              <a:t>the </a:t>
            </a:r>
            <a:r>
              <a:rPr dirty="0" sz="1200" spc="-5">
                <a:latin typeface="Arial"/>
                <a:cs typeface="Arial"/>
              </a:rPr>
              <a:t>navel, according </a:t>
            </a:r>
            <a:r>
              <a:rPr dirty="0" sz="1200">
                <a:latin typeface="Arial"/>
                <a:cs typeface="Arial"/>
              </a:rPr>
              <a:t>to </a:t>
            </a:r>
            <a:r>
              <a:rPr dirty="0" sz="1200" spc="-5">
                <a:latin typeface="Arial"/>
                <a:cs typeface="Arial"/>
              </a:rPr>
              <a:t>the Maliki </a:t>
            </a:r>
            <a:r>
              <a:rPr dirty="0" sz="1200">
                <a:latin typeface="Arial"/>
                <a:cs typeface="Arial"/>
              </a:rPr>
              <a:t>they </a:t>
            </a:r>
            <a:r>
              <a:rPr dirty="0" sz="1200" spc="-5">
                <a:latin typeface="Arial"/>
                <a:cs typeface="Arial"/>
              </a:rPr>
              <a:t>are on </a:t>
            </a:r>
            <a:r>
              <a:rPr dirty="0" sz="1200">
                <a:latin typeface="Arial"/>
                <a:cs typeface="Arial"/>
              </a:rPr>
              <a:t>the </a:t>
            </a:r>
            <a:r>
              <a:rPr dirty="0" sz="1200" spc="-5">
                <a:latin typeface="Arial"/>
                <a:cs typeface="Arial"/>
              </a:rPr>
              <a:t>sides of the </a:t>
            </a:r>
            <a:r>
              <a:rPr dirty="0" sz="1200" spc="-10">
                <a:latin typeface="Arial"/>
                <a:cs typeface="Arial"/>
              </a:rPr>
              <a:t>body,  </a:t>
            </a:r>
            <a:r>
              <a:rPr dirty="0" sz="1200">
                <a:latin typeface="Arial"/>
                <a:cs typeface="Arial"/>
              </a:rPr>
              <a:t>according to the </a:t>
            </a:r>
            <a:r>
              <a:rPr dirty="0" sz="1200" spc="-5">
                <a:latin typeface="Arial"/>
                <a:cs typeface="Arial"/>
              </a:rPr>
              <a:t>Shafi‘I </a:t>
            </a:r>
            <a:r>
              <a:rPr dirty="0" sz="1200">
                <a:latin typeface="Arial"/>
                <a:cs typeface="Arial"/>
              </a:rPr>
              <a:t>they are folded </a:t>
            </a:r>
            <a:r>
              <a:rPr dirty="0" sz="1200" spc="-5">
                <a:latin typeface="Arial"/>
                <a:cs typeface="Arial"/>
              </a:rPr>
              <a:t>right over </a:t>
            </a:r>
            <a:r>
              <a:rPr dirty="0" sz="1200">
                <a:latin typeface="Arial"/>
                <a:cs typeface="Arial"/>
              </a:rPr>
              <a:t>left </a:t>
            </a:r>
            <a:r>
              <a:rPr dirty="0" sz="1200" spc="-5">
                <a:latin typeface="Arial"/>
                <a:cs typeface="Arial"/>
              </a:rPr>
              <a:t>above </a:t>
            </a:r>
            <a:r>
              <a:rPr dirty="0" sz="1200">
                <a:latin typeface="Arial"/>
                <a:cs typeface="Arial"/>
              </a:rPr>
              <a:t>the </a:t>
            </a:r>
            <a:r>
              <a:rPr dirty="0" sz="1200" spc="-10">
                <a:latin typeface="Arial"/>
                <a:cs typeface="Arial"/>
              </a:rPr>
              <a:t>navel </a:t>
            </a:r>
            <a:r>
              <a:rPr dirty="0" sz="1200">
                <a:latin typeface="Arial"/>
                <a:cs typeface="Arial"/>
              </a:rPr>
              <a:t>below the chest  </a:t>
            </a:r>
            <a:r>
              <a:rPr dirty="0" sz="1200" spc="-5">
                <a:latin typeface="Arial"/>
                <a:cs typeface="Arial"/>
              </a:rPr>
              <a:t>and according to the Hambali they </a:t>
            </a:r>
            <a:r>
              <a:rPr dirty="0" sz="1200">
                <a:latin typeface="Arial"/>
                <a:cs typeface="Arial"/>
              </a:rPr>
              <a:t>are </a:t>
            </a:r>
            <a:r>
              <a:rPr dirty="0" sz="1200" spc="-5">
                <a:latin typeface="Arial"/>
                <a:cs typeface="Arial"/>
              </a:rPr>
              <a:t>folded right over </a:t>
            </a:r>
            <a:r>
              <a:rPr dirty="0" sz="1200">
                <a:latin typeface="Arial"/>
                <a:cs typeface="Arial"/>
              </a:rPr>
              <a:t>left </a:t>
            </a:r>
            <a:r>
              <a:rPr dirty="0" sz="1200" spc="-5">
                <a:latin typeface="Arial"/>
                <a:cs typeface="Arial"/>
              </a:rPr>
              <a:t>above the</a:t>
            </a:r>
            <a:r>
              <a:rPr dirty="0" sz="1200" spc="35">
                <a:latin typeface="Arial"/>
                <a:cs typeface="Arial"/>
              </a:rPr>
              <a:t> </a:t>
            </a:r>
            <a:r>
              <a:rPr dirty="0" sz="1200" spc="-5">
                <a:latin typeface="Arial"/>
                <a:cs typeface="Arial"/>
              </a:rPr>
              <a:t>navel</a:t>
            </a:r>
            <a:endParaRPr sz="1200">
              <a:latin typeface="Arial"/>
              <a:cs typeface="Arial"/>
            </a:endParaRPr>
          </a:p>
          <a:p>
            <a:pPr>
              <a:lnSpc>
                <a:spcPct val="100000"/>
              </a:lnSpc>
            </a:pPr>
            <a:endParaRPr sz="1300">
              <a:latin typeface="Arial"/>
              <a:cs typeface="Arial"/>
            </a:endParaRPr>
          </a:p>
          <a:p>
            <a:pPr>
              <a:lnSpc>
                <a:spcPct val="100000"/>
              </a:lnSpc>
              <a:spcBef>
                <a:spcPts val="20"/>
              </a:spcBef>
            </a:pPr>
            <a:endParaRPr sz="10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40"/>
              </a:spcBef>
            </a:pPr>
            <a:endParaRPr sz="1200">
              <a:latin typeface="Arial"/>
              <a:cs typeface="Arial"/>
            </a:endParaRPr>
          </a:p>
          <a:p>
            <a:pPr marL="12700" marR="5080">
              <a:lnSpc>
                <a:spcPts val="1380"/>
              </a:lnSpc>
            </a:pPr>
            <a:r>
              <a:rPr dirty="0" sz="1200" spc="-5" b="1">
                <a:latin typeface="Arial"/>
                <a:cs typeface="Arial"/>
              </a:rPr>
              <a:t>4 </a:t>
            </a:r>
            <a:r>
              <a:rPr dirty="0" sz="1200" spc="-5">
                <a:latin typeface="Arial"/>
                <a:cs typeface="Arial"/>
              </a:rPr>
              <a:t>Many Muslim scholars regard </a:t>
            </a:r>
            <a:r>
              <a:rPr dirty="0" sz="1200">
                <a:latin typeface="Arial"/>
                <a:cs typeface="Arial"/>
              </a:rPr>
              <a:t>al-Shafi‘I </a:t>
            </a:r>
            <a:r>
              <a:rPr dirty="0" sz="1200" spc="-10">
                <a:latin typeface="Arial"/>
                <a:cs typeface="Arial"/>
              </a:rPr>
              <a:t>as </a:t>
            </a:r>
            <a:r>
              <a:rPr dirty="0" sz="1200">
                <a:latin typeface="Arial"/>
                <a:cs typeface="Arial"/>
              </a:rPr>
              <a:t>the </a:t>
            </a:r>
            <a:r>
              <a:rPr dirty="0" sz="1200" spc="-5">
                <a:latin typeface="Arial"/>
                <a:cs typeface="Arial"/>
              </a:rPr>
              <a:t>most important of the early legal </a:t>
            </a:r>
            <a:r>
              <a:rPr dirty="0" sz="1200">
                <a:latin typeface="Arial"/>
                <a:cs typeface="Arial"/>
              </a:rPr>
              <a:t>experts.  </a:t>
            </a:r>
            <a:r>
              <a:rPr dirty="0" sz="1200" spc="-5">
                <a:latin typeface="Arial"/>
                <a:cs typeface="Arial"/>
              </a:rPr>
              <a:t>Give </a:t>
            </a:r>
            <a:r>
              <a:rPr dirty="0" sz="1200">
                <a:latin typeface="Arial"/>
                <a:cs typeface="Arial"/>
              </a:rPr>
              <a:t>reasons </a:t>
            </a:r>
            <a:r>
              <a:rPr dirty="0" sz="1200" spc="-5">
                <a:latin typeface="Arial"/>
                <a:cs typeface="Arial"/>
              </a:rPr>
              <a:t>to agree or disagree with this judgement. [20]</a:t>
            </a:r>
            <a:r>
              <a:rPr dirty="0" sz="1200" spc="65">
                <a:latin typeface="Arial"/>
                <a:cs typeface="Arial"/>
              </a:rPr>
              <a:t> </a:t>
            </a:r>
            <a:r>
              <a:rPr dirty="0" sz="1200" spc="-5" b="1">
                <a:latin typeface="Arial"/>
                <a:cs typeface="Arial"/>
              </a:rPr>
              <a:t>(2003)</a:t>
            </a:r>
            <a:endParaRPr sz="1200">
              <a:latin typeface="Arial"/>
              <a:cs typeface="Arial"/>
            </a:endParaRPr>
          </a:p>
          <a:p>
            <a:pPr>
              <a:lnSpc>
                <a:spcPct val="100000"/>
              </a:lnSpc>
            </a:pPr>
            <a:endParaRPr sz="1200">
              <a:latin typeface="Arial"/>
              <a:cs typeface="Arial"/>
            </a:endParaRPr>
          </a:p>
          <a:p>
            <a:pPr marL="12700" marR="5080">
              <a:lnSpc>
                <a:spcPts val="1380"/>
              </a:lnSpc>
            </a:pPr>
            <a:r>
              <a:rPr dirty="0" sz="1200" spc="-5" b="1">
                <a:latin typeface="Arial"/>
                <a:cs typeface="Arial"/>
              </a:rPr>
              <a:t>4 (a) </a:t>
            </a:r>
            <a:r>
              <a:rPr dirty="0" sz="1200" spc="5">
                <a:latin typeface="Arial"/>
                <a:cs typeface="Arial"/>
              </a:rPr>
              <a:t>What </a:t>
            </a:r>
            <a:r>
              <a:rPr dirty="0" sz="1200" spc="-10">
                <a:latin typeface="Arial"/>
                <a:cs typeface="Arial"/>
              </a:rPr>
              <a:t>was </a:t>
            </a:r>
            <a:r>
              <a:rPr dirty="0" sz="1200" spc="-5">
                <a:latin typeface="Arial"/>
                <a:cs typeface="Arial"/>
              </a:rPr>
              <a:t>al-Shafi‘is teaching about the relationship between the Qur‘an </a:t>
            </a:r>
            <a:r>
              <a:rPr dirty="0" sz="1200">
                <a:latin typeface="Arial"/>
                <a:cs typeface="Arial"/>
              </a:rPr>
              <a:t>and </a:t>
            </a:r>
            <a:r>
              <a:rPr dirty="0" sz="1200" spc="-5">
                <a:latin typeface="Arial"/>
                <a:cs typeface="Arial"/>
              </a:rPr>
              <a:t>Sunnah </a:t>
            </a:r>
            <a:r>
              <a:rPr dirty="0" sz="1200" spc="-10">
                <a:latin typeface="Arial"/>
                <a:cs typeface="Arial"/>
              </a:rPr>
              <a:t>in  </a:t>
            </a:r>
            <a:r>
              <a:rPr dirty="0" sz="1200" spc="-5">
                <a:latin typeface="Arial"/>
                <a:cs typeface="Arial"/>
              </a:rPr>
              <a:t>developing Islamic law?</a:t>
            </a:r>
            <a:r>
              <a:rPr dirty="0" sz="1200">
                <a:latin typeface="Arial"/>
                <a:cs typeface="Arial"/>
              </a:rPr>
              <a:t> </a:t>
            </a:r>
            <a:r>
              <a:rPr dirty="0" sz="1200" spc="-5">
                <a:latin typeface="Arial"/>
                <a:cs typeface="Arial"/>
              </a:rPr>
              <a:t>[12]</a:t>
            </a:r>
            <a:endParaRPr sz="1200">
              <a:latin typeface="Arial"/>
              <a:cs typeface="Arial"/>
            </a:endParaRPr>
          </a:p>
          <a:p>
            <a:pPr marL="12700">
              <a:lnSpc>
                <a:spcPts val="1345"/>
              </a:lnSpc>
            </a:pPr>
            <a:r>
              <a:rPr dirty="0" sz="1200" spc="-5" b="1">
                <a:latin typeface="Arial"/>
                <a:cs typeface="Arial"/>
              </a:rPr>
              <a:t>(b) </a:t>
            </a:r>
            <a:r>
              <a:rPr dirty="0" sz="1200">
                <a:latin typeface="Arial"/>
                <a:cs typeface="Arial"/>
              </a:rPr>
              <a:t>How did </a:t>
            </a:r>
            <a:r>
              <a:rPr dirty="0" sz="1200" spc="-5">
                <a:latin typeface="Arial"/>
                <a:cs typeface="Arial"/>
              </a:rPr>
              <a:t>these teachings </a:t>
            </a:r>
            <a:r>
              <a:rPr dirty="0" sz="1200">
                <a:latin typeface="Arial"/>
                <a:cs typeface="Arial"/>
              </a:rPr>
              <a:t>differ </a:t>
            </a:r>
            <a:r>
              <a:rPr dirty="0" sz="1200" spc="-5">
                <a:latin typeface="Arial"/>
                <a:cs typeface="Arial"/>
              </a:rPr>
              <a:t>from </a:t>
            </a:r>
            <a:r>
              <a:rPr dirty="0" sz="1200" spc="-10">
                <a:latin typeface="Arial"/>
                <a:cs typeface="Arial"/>
              </a:rPr>
              <a:t>those </a:t>
            </a:r>
            <a:r>
              <a:rPr dirty="0" sz="1200" spc="-5">
                <a:latin typeface="Arial"/>
                <a:cs typeface="Arial"/>
              </a:rPr>
              <a:t>of Malik and </a:t>
            </a:r>
            <a:r>
              <a:rPr dirty="0" sz="1200" spc="5">
                <a:latin typeface="Arial"/>
                <a:cs typeface="Arial"/>
              </a:rPr>
              <a:t>Abu </a:t>
            </a:r>
            <a:r>
              <a:rPr dirty="0" sz="1200" spc="-5">
                <a:latin typeface="Arial"/>
                <a:cs typeface="Arial"/>
              </a:rPr>
              <a:t>Hanifah? </a:t>
            </a:r>
            <a:r>
              <a:rPr dirty="0" sz="1200">
                <a:latin typeface="Arial"/>
                <a:cs typeface="Arial"/>
              </a:rPr>
              <a:t>[8]</a:t>
            </a:r>
            <a:r>
              <a:rPr dirty="0" sz="1200" spc="50">
                <a:latin typeface="Arial"/>
                <a:cs typeface="Arial"/>
              </a:rPr>
              <a:t> </a:t>
            </a:r>
            <a:r>
              <a:rPr dirty="0" sz="1200" spc="-5" b="1">
                <a:latin typeface="Arial"/>
                <a:cs typeface="Arial"/>
              </a:rPr>
              <a:t>(2004)</a:t>
            </a:r>
            <a:endParaRPr sz="1200">
              <a:latin typeface="Arial"/>
              <a:cs typeface="Arial"/>
            </a:endParaRPr>
          </a:p>
          <a:p>
            <a:pPr>
              <a:lnSpc>
                <a:spcPct val="100000"/>
              </a:lnSpc>
              <a:spcBef>
                <a:spcPts val="15"/>
              </a:spcBef>
            </a:pPr>
            <a:endParaRPr sz="1200">
              <a:latin typeface="Arial"/>
              <a:cs typeface="Arial"/>
            </a:endParaRPr>
          </a:p>
          <a:p>
            <a:pPr marL="12700" marR="6985">
              <a:lnSpc>
                <a:spcPts val="1390"/>
              </a:lnSpc>
            </a:pPr>
            <a:r>
              <a:rPr dirty="0" sz="1200" spc="-5" b="1">
                <a:latin typeface="Arial"/>
                <a:cs typeface="Arial"/>
              </a:rPr>
              <a:t>5 </a:t>
            </a:r>
            <a:r>
              <a:rPr dirty="0" sz="1200" spc="-5">
                <a:latin typeface="Arial"/>
                <a:cs typeface="Arial"/>
              </a:rPr>
              <a:t>Choose any </a:t>
            </a:r>
            <a:r>
              <a:rPr dirty="0" sz="1200" b="1">
                <a:latin typeface="Arial"/>
                <a:cs typeface="Arial"/>
              </a:rPr>
              <a:t>two </a:t>
            </a:r>
            <a:r>
              <a:rPr dirty="0" sz="1200" spc="-5">
                <a:latin typeface="Arial"/>
                <a:cs typeface="Arial"/>
              </a:rPr>
              <a:t>of </a:t>
            </a:r>
            <a:r>
              <a:rPr dirty="0" sz="1200">
                <a:latin typeface="Arial"/>
                <a:cs typeface="Arial"/>
              </a:rPr>
              <a:t>the four </a:t>
            </a:r>
            <a:r>
              <a:rPr dirty="0" sz="1200" spc="-5">
                <a:latin typeface="Arial"/>
                <a:cs typeface="Arial"/>
              </a:rPr>
              <a:t>Imams after whom </a:t>
            </a:r>
            <a:r>
              <a:rPr dirty="0" sz="1200">
                <a:latin typeface="Arial"/>
                <a:cs typeface="Arial"/>
              </a:rPr>
              <a:t>the </a:t>
            </a:r>
            <a:r>
              <a:rPr dirty="0" sz="1200" spc="-5" i="1">
                <a:latin typeface="Arial"/>
                <a:cs typeface="Arial"/>
              </a:rPr>
              <a:t>Madhahib </a:t>
            </a:r>
            <a:r>
              <a:rPr dirty="0" sz="1200" spc="-5">
                <a:latin typeface="Arial"/>
                <a:cs typeface="Arial"/>
              </a:rPr>
              <a:t>[schools of law] are named  and</a:t>
            </a:r>
            <a:endParaRPr sz="1200">
              <a:latin typeface="Arial"/>
              <a:cs typeface="Arial"/>
            </a:endParaRPr>
          </a:p>
          <a:p>
            <a:pPr marL="241300" indent="-229235">
              <a:lnSpc>
                <a:spcPts val="1315"/>
              </a:lnSpc>
              <a:buFont typeface="Arial"/>
              <a:buAutoNum type="alphaLcParenBoth"/>
              <a:tabLst>
                <a:tab pos="241935" algn="l"/>
              </a:tabLst>
            </a:pPr>
            <a:r>
              <a:rPr dirty="0" sz="1200" spc="-5">
                <a:latin typeface="Arial"/>
                <a:cs typeface="Arial"/>
              </a:rPr>
              <a:t>discuss the </a:t>
            </a:r>
            <a:r>
              <a:rPr dirty="0" sz="1200">
                <a:latin typeface="Arial"/>
                <a:cs typeface="Arial"/>
              </a:rPr>
              <a:t>main </a:t>
            </a:r>
            <a:r>
              <a:rPr dirty="0" sz="1200" spc="-5">
                <a:latin typeface="Arial"/>
                <a:cs typeface="Arial"/>
              </a:rPr>
              <a:t>principles of </a:t>
            </a:r>
            <a:r>
              <a:rPr dirty="0" sz="1200">
                <a:latin typeface="Arial"/>
                <a:cs typeface="Arial"/>
              </a:rPr>
              <a:t>their </a:t>
            </a:r>
            <a:r>
              <a:rPr dirty="0" sz="1200" spc="-5">
                <a:latin typeface="Arial"/>
                <a:cs typeface="Arial"/>
              </a:rPr>
              <a:t>legal teachings [12]</a:t>
            </a:r>
            <a:endParaRPr sz="1200">
              <a:latin typeface="Arial"/>
              <a:cs typeface="Arial"/>
            </a:endParaRPr>
          </a:p>
          <a:p>
            <a:pPr marL="12700">
              <a:lnSpc>
                <a:spcPts val="1380"/>
              </a:lnSpc>
            </a:pPr>
            <a:r>
              <a:rPr dirty="0" sz="1200" spc="-5" b="1">
                <a:latin typeface="Arial"/>
                <a:cs typeface="Arial"/>
              </a:rPr>
              <a:t>and</a:t>
            </a:r>
            <a:endParaRPr sz="1200">
              <a:latin typeface="Arial"/>
              <a:cs typeface="Arial"/>
            </a:endParaRPr>
          </a:p>
          <a:p>
            <a:pPr marL="248920" indent="-236854">
              <a:lnSpc>
                <a:spcPts val="1410"/>
              </a:lnSpc>
              <a:buFont typeface="Arial"/>
              <a:buAutoNum type="alphaLcParenBoth" startAt="2"/>
              <a:tabLst>
                <a:tab pos="249554" algn="l"/>
              </a:tabLst>
            </a:pPr>
            <a:r>
              <a:rPr dirty="0" sz="1200" spc="-5">
                <a:latin typeface="Arial"/>
                <a:cs typeface="Arial"/>
              </a:rPr>
              <a:t>explain </a:t>
            </a:r>
            <a:r>
              <a:rPr dirty="0" sz="1200">
                <a:latin typeface="Arial"/>
                <a:cs typeface="Arial"/>
              </a:rPr>
              <a:t>any </a:t>
            </a:r>
            <a:r>
              <a:rPr dirty="0" sz="1200" spc="-5">
                <a:latin typeface="Arial"/>
                <a:cs typeface="Arial"/>
              </a:rPr>
              <a:t>differences between these </a:t>
            </a:r>
            <a:r>
              <a:rPr dirty="0" sz="1200" spc="-10">
                <a:latin typeface="Arial"/>
                <a:cs typeface="Arial"/>
              </a:rPr>
              <a:t>two </a:t>
            </a:r>
            <a:r>
              <a:rPr dirty="0" sz="1200">
                <a:latin typeface="Arial"/>
                <a:cs typeface="Arial"/>
              </a:rPr>
              <a:t>sets </a:t>
            </a:r>
            <a:r>
              <a:rPr dirty="0" sz="1200" spc="-5">
                <a:latin typeface="Arial"/>
                <a:cs typeface="Arial"/>
              </a:rPr>
              <a:t>of principles. [8]</a:t>
            </a:r>
            <a:r>
              <a:rPr dirty="0" sz="1200" spc="70">
                <a:latin typeface="Arial"/>
                <a:cs typeface="Arial"/>
              </a:rPr>
              <a:t> </a:t>
            </a:r>
            <a:r>
              <a:rPr dirty="0" sz="1200" spc="-10" b="1">
                <a:latin typeface="Arial"/>
                <a:cs typeface="Arial"/>
              </a:rPr>
              <a:t>(2005)</a:t>
            </a:r>
            <a:endParaRPr sz="1200">
              <a:latin typeface="Arial"/>
              <a:cs typeface="Arial"/>
            </a:endParaRPr>
          </a:p>
          <a:p>
            <a:pPr>
              <a:lnSpc>
                <a:spcPct val="100000"/>
              </a:lnSpc>
              <a:spcBef>
                <a:spcPts val="40"/>
              </a:spcBef>
            </a:pPr>
            <a:endParaRPr sz="1200">
              <a:latin typeface="Arial"/>
              <a:cs typeface="Arial"/>
            </a:endParaRPr>
          </a:p>
          <a:p>
            <a:pPr marL="12700" marR="6350">
              <a:lnSpc>
                <a:spcPts val="1380"/>
              </a:lnSpc>
            </a:pPr>
            <a:r>
              <a:rPr dirty="0" sz="1200" spc="-5" b="1">
                <a:latin typeface="Arial"/>
                <a:cs typeface="Arial"/>
              </a:rPr>
              <a:t>4 </a:t>
            </a:r>
            <a:r>
              <a:rPr dirty="0" sz="1200">
                <a:latin typeface="Arial"/>
                <a:cs typeface="Arial"/>
              </a:rPr>
              <a:t>It </a:t>
            </a:r>
            <a:r>
              <a:rPr dirty="0" sz="1200" spc="-5">
                <a:latin typeface="Arial"/>
                <a:cs typeface="Arial"/>
              </a:rPr>
              <a:t>is said </a:t>
            </a:r>
            <a:r>
              <a:rPr dirty="0" sz="1200">
                <a:latin typeface="Arial"/>
                <a:cs typeface="Arial"/>
              </a:rPr>
              <a:t>that </a:t>
            </a:r>
            <a:r>
              <a:rPr dirty="0" sz="1200" spc="-5">
                <a:latin typeface="Arial"/>
                <a:cs typeface="Arial"/>
              </a:rPr>
              <a:t>Imam al-Shafi‘I </a:t>
            </a:r>
            <a:r>
              <a:rPr dirty="0" sz="1200" spc="-10">
                <a:latin typeface="Arial"/>
                <a:cs typeface="Arial"/>
              </a:rPr>
              <a:t>was </a:t>
            </a:r>
            <a:r>
              <a:rPr dirty="0" sz="1200">
                <a:latin typeface="Arial"/>
                <a:cs typeface="Arial"/>
              </a:rPr>
              <a:t>the most </a:t>
            </a:r>
            <a:r>
              <a:rPr dirty="0" sz="1200" spc="-5">
                <a:latin typeface="Arial"/>
                <a:cs typeface="Arial"/>
              </a:rPr>
              <a:t>important of the early legal </a:t>
            </a:r>
            <a:r>
              <a:rPr dirty="0" sz="1200">
                <a:latin typeface="Arial"/>
                <a:cs typeface="Arial"/>
              </a:rPr>
              <a:t>experts. </a:t>
            </a:r>
            <a:r>
              <a:rPr dirty="0" sz="1200" spc="-5">
                <a:latin typeface="Arial"/>
                <a:cs typeface="Arial"/>
              </a:rPr>
              <a:t>Give  reasons </a:t>
            </a:r>
            <a:r>
              <a:rPr dirty="0" sz="1200">
                <a:latin typeface="Arial"/>
                <a:cs typeface="Arial"/>
              </a:rPr>
              <a:t>to </a:t>
            </a:r>
            <a:r>
              <a:rPr dirty="0" sz="1200" spc="-5">
                <a:latin typeface="Arial"/>
                <a:cs typeface="Arial"/>
              </a:rPr>
              <a:t>agree </a:t>
            </a:r>
            <a:r>
              <a:rPr dirty="0" sz="1200">
                <a:latin typeface="Arial"/>
                <a:cs typeface="Arial"/>
              </a:rPr>
              <a:t>or </a:t>
            </a:r>
            <a:r>
              <a:rPr dirty="0" sz="1200" spc="-5">
                <a:latin typeface="Arial"/>
                <a:cs typeface="Arial"/>
              </a:rPr>
              <a:t>disagree with this opinion. </a:t>
            </a:r>
            <a:r>
              <a:rPr dirty="0" sz="1200">
                <a:latin typeface="Arial"/>
                <a:cs typeface="Arial"/>
              </a:rPr>
              <a:t>[20]</a:t>
            </a:r>
            <a:r>
              <a:rPr dirty="0" sz="1200" spc="40">
                <a:latin typeface="Arial"/>
                <a:cs typeface="Arial"/>
              </a:rPr>
              <a:t> </a:t>
            </a:r>
            <a:r>
              <a:rPr dirty="0" sz="1200" spc="-5" b="1">
                <a:latin typeface="Arial"/>
                <a:cs typeface="Arial"/>
              </a:rPr>
              <a:t>(2006)</a:t>
            </a:r>
            <a:endParaRPr sz="1200">
              <a:latin typeface="Arial"/>
              <a:cs typeface="Arial"/>
            </a:endParaRPr>
          </a:p>
          <a:p>
            <a:pPr>
              <a:lnSpc>
                <a:spcPct val="100000"/>
              </a:lnSpc>
            </a:pPr>
            <a:endParaRPr sz="1200">
              <a:latin typeface="Arial"/>
              <a:cs typeface="Arial"/>
            </a:endParaRPr>
          </a:p>
          <a:p>
            <a:pPr marL="12700" marR="11430">
              <a:lnSpc>
                <a:spcPts val="1380"/>
              </a:lnSpc>
            </a:pPr>
            <a:r>
              <a:rPr dirty="0" sz="1200" spc="-5" b="1">
                <a:latin typeface="Arial"/>
                <a:cs typeface="Arial"/>
              </a:rPr>
              <a:t>4 </a:t>
            </a:r>
            <a:r>
              <a:rPr dirty="0" sz="1200" spc="-5">
                <a:latin typeface="Arial"/>
                <a:cs typeface="Arial"/>
              </a:rPr>
              <a:t>Give reasons </a:t>
            </a:r>
            <a:r>
              <a:rPr dirty="0" sz="1200">
                <a:latin typeface="Arial"/>
                <a:cs typeface="Arial"/>
              </a:rPr>
              <a:t>to </a:t>
            </a:r>
            <a:r>
              <a:rPr dirty="0" sz="1200" spc="-5">
                <a:latin typeface="Arial"/>
                <a:cs typeface="Arial"/>
              </a:rPr>
              <a:t>explain why </a:t>
            </a:r>
            <a:r>
              <a:rPr dirty="0" sz="1200" spc="-45">
                <a:latin typeface="Arial"/>
                <a:cs typeface="Arial"/>
              </a:rPr>
              <a:t>al-Ash‗ari </a:t>
            </a:r>
            <a:r>
              <a:rPr dirty="0" sz="1200" spc="-5">
                <a:latin typeface="Arial"/>
                <a:cs typeface="Arial"/>
              </a:rPr>
              <a:t>is </a:t>
            </a:r>
            <a:r>
              <a:rPr dirty="0" sz="1200">
                <a:latin typeface="Arial"/>
                <a:cs typeface="Arial"/>
              </a:rPr>
              <a:t>regarded as one </a:t>
            </a:r>
            <a:r>
              <a:rPr dirty="0" sz="1200" spc="-5">
                <a:latin typeface="Arial"/>
                <a:cs typeface="Arial"/>
              </a:rPr>
              <a:t>of the </a:t>
            </a:r>
            <a:r>
              <a:rPr dirty="0" sz="1200">
                <a:latin typeface="Arial"/>
                <a:cs typeface="Arial"/>
              </a:rPr>
              <a:t>most </a:t>
            </a:r>
            <a:r>
              <a:rPr dirty="0" sz="1200" spc="-5">
                <a:latin typeface="Arial"/>
                <a:cs typeface="Arial"/>
              </a:rPr>
              <a:t>influential thinkers of  early </a:t>
            </a:r>
            <a:r>
              <a:rPr dirty="0" sz="1200">
                <a:latin typeface="Arial"/>
                <a:cs typeface="Arial"/>
              </a:rPr>
              <a:t>Islam.</a:t>
            </a:r>
            <a:r>
              <a:rPr dirty="0" sz="1200" spc="-5">
                <a:latin typeface="Arial"/>
                <a:cs typeface="Arial"/>
              </a:rPr>
              <a:t> [20]</a:t>
            </a:r>
            <a:endParaRPr sz="1200">
              <a:latin typeface="Arial"/>
              <a:cs typeface="Arial"/>
            </a:endParaRPr>
          </a:p>
          <a:p>
            <a:pPr>
              <a:lnSpc>
                <a:spcPct val="100000"/>
              </a:lnSpc>
            </a:pPr>
            <a:endParaRPr sz="1200">
              <a:latin typeface="Arial"/>
              <a:cs typeface="Arial"/>
            </a:endParaRPr>
          </a:p>
          <a:p>
            <a:pPr marL="12700" marR="13970">
              <a:lnSpc>
                <a:spcPts val="1380"/>
              </a:lnSpc>
            </a:pPr>
            <a:r>
              <a:rPr dirty="0" sz="1200" spc="-5" b="1">
                <a:latin typeface="Arial"/>
                <a:cs typeface="Arial"/>
              </a:rPr>
              <a:t>6 </a:t>
            </a:r>
            <a:r>
              <a:rPr dirty="0" sz="1200">
                <a:latin typeface="Arial"/>
                <a:cs typeface="Arial"/>
              </a:rPr>
              <a:t>Write </a:t>
            </a:r>
            <a:r>
              <a:rPr dirty="0" sz="1200" spc="-5">
                <a:latin typeface="Arial"/>
                <a:cs typeface="Arial"/>
              </a:rPr>
              <a:t>briefly on </a:t>
            </a:r>
            <a:r>
              <a:rPr dirty="0" sz="1200">
                <a:latin typeface="Arial"/>
                <a:cs typeface="Arial"/>
              </a:rPr>
              <a:t>the </a:t>
            </a:r>
            <a:r>
              <a:rPr dirty="0" sz="1200" spc="-5">
                <a:latin typeface="Arial"/>
                <a:cs typeface="Arial"/>
              </a:rPr>
              <a:t>following legal scholars in </a:t>
            </a:r>
            <a:r>
              <a:rPr dirty="0" sz="1200">
                <a:latin typeface="Arial"/>
                <a:cs typeface="Arial"/>
              </a:rPr>
              <a:t>Islam, </a:t>
            </a:r>
            <a:r>
              <a:rPr dirty="0" sz="1200" spc="-5">
                <a:latin typeface="Arial"/>
                <a:cs typeface="Arial"/>
              </a:rPr>
              <a:t>pointing out clearly what is distinctive  about their</a:t>
            </a:r>
            <a:r>
              <a:rPr dirty="0" sz="1200">
                <a:latin typeface="Arial"/>
                <a:cs typeface="Arial"/>
              </a:rPr>
              <a:t> </a:t>
            </a:r>
            <a:r>
              <a:rPr dirty="0" sz="1200" spc="-5">
                <a:latin typeface="Arial"/>
                <a:cs typeface="Arial"/>
              </a:rPr>
              <a:t>teachings:</a:t>
            </a:r>
            <a:endParaRPr sz="1200">
              <a:latin typeface="Arial"/>
              <a:cs typeface="Arial"/>
            </a:endParaRPr>
          </a:p>
          <a:p>
            <a:pPr marL="241300" indent="-229235">
              <a:lnSpc>
                <a:spcPts val="1300"/>
              </a:lnSpc>
              <a:buFont typeface="Arial"/>
              <a:buAutoNum type="alphaLcParenBoth"/>
              <a:tabLst>
                <a:tab pos="241935" algn="l"/>
              </a:tabLst>
            </a:pPr>
            <a:r>
              <a:rPr dirty="0" sz="1200" spc="-5">
                <a:latin typeface="Arial"/>
                <a:cs typeface="Arial"/>
              </a:rPr>
              <a:t>Malik </a:t>
            </a:r>
            <a:r>
              <a:rPr dirty="0" sz="1200">
                <a:latin typeface="Arial"/>
                <a:cs typeface="Arial"/>
              </a:rPr>
              <a:t>b. </a:t>
            </a:r>
            <a:r>
              <a:rPr dirty="0" sz="1200" spc="-5">
                <a:latin typeface="Arial"/>
                <a:cs typeface="Arial"/>
              </a:rPr>
              <a:t>Anas</a:t>
            </a:r>
            <a:r>
              <a:rPr dirty="0" sz="1200">
                <a:latin typeface="Arial"/>
                <a:cs typeface="Arial"/>
              </a:rPr>
              <a:t> </a:t>
            </a:r>
            <a:r>
              <a:rPr dirty="0" sz="1200" spc="-5">
                <a:latin typeface="Arial"/>
                <a:cs typeface="Arial"/>
              </a:rPr>
              <a:t>[5]</a:t>
            </a:r>
            <a:endParaRPr sz="1200">
              <a:latin typeface="Arial"/>
              <a:cs typeface="Arial"/>
            </a:endParaRPr>
          </a:p>
          <a:p>
            <a:pPr marL="248920" indent="-236854">
              <a:lnSpc>
                <a:spcPts val="1380"/>
              </a:lnSpc>
              <a:buFont typeface="Arial"/>
              <a:buAutoNum type="alphaLcParenBoth"/>
              <a:tabLst>
                <a:tab pos="249554" algn="l"/>
              </a:tabLst>
            </a:pPr>
            <a:r>
              <a:rPr dirty="0" sz="1200" spc="-5">
                <a:latin typeface="Arial"/>
                <a:cs typeface="Arial"/>
              </a:rPr>
              <a:t>Abu Hanifah</a:t>
            </a:r>
            <a:r>
              <a:rPr dirty="0" sz="1200" spc="-10">
                <a:latin typeface="Arial"/>
                <a:cs typeface="Arial"/>
              </a:rPr>
              <a:t> </a:t>
            </a:r>
            <a:r>
              <a:rPr dirty="0" sz="1200">
                <a:latin typeface="Arial"/>
                <a:cs typeface="Arial"/>
              </a:rPr>
              <a:t>[5]</a:t>
            </a:r>
            <a:endParaRPr sz="1200">
              <a:latin typeface="Arial"/>
              <a:cs typeface="Arial"/>
            </a:endParaRPr>
          </a:p>
          <a:p>
            <a:pPr marL="241300" indent="-229235">
              <a:lnSpc>
                <a:spcPts val="1380"/>
              </a:lnSpc>
              <a:buFont typeface="Arial"/>
              <a:buAutoNum type="alphaLcParenBoth"/>
              <a:tabLst>
                <a:tab pos="241935" algn="l"/>
              </a:tabLst>
            </a:pPr>
            <a:r>
              <a:rPr dirty="0" sz="1200" spc="-5">
                <a:latin typeface="Arial"/>
                <a:cs typeface="Arial"/>
              </a:rPr>
              <a:t>al-Shafi‘I</a:t>
            </a:r>
            <a:r>
              <a:rPr dirty="0" sz="1200">
                <a:latin typeface="Arial"/>
                <a:cs typeface="Arial"/>
              </a:rPr>
              <a:t> </a:t>
            </a:r>
            <a:r>
              <a:rPr dirty="0" sz="1200" spc="-5">
                <a:latin typeface="Arial"/>
                <a:cs typeface="Arial"/>
              </a:rPr>
              <a:t>[5]</a:t>
            </a:r>
            <a:endParaRPr sz="1200">
              <a:latin typeface="Arial"/>
              <a:cs typeface="Arial"/>
            </a:endParaRPr>
          </a:p>
          <a:p>
            <a:pPr marL="248920" indent="-236854">
              <a:lnSpc>
                <a:spcPts val="1410"/>
              </a:lnSpc>
              <a:buFont typeface="Arial"/>
              <a:buAutoNum type="alphaLcParenBoth"/>
              <a:tabLst>
                <a:tab pos="249554" algn="l"/>
              </a:tabLst>
            </a:pPr>
            <a:r>
              <a:rPr dirty="0" sz="1200" spc="-5">
                <a:latin typeface="Arial"/>
                <a:cs typeface="Arial"/>
              </a:rPr>
              <a:t>Ahmad </a:t>
            </a:r>
            <a:r>
              <a:rPr dirty="0" sz="1200">
                <a:latin typeface="Arial"/>
                <a:cs typeface="Arial"/>
              </a:rPr>
              <a:t>b. </a:t>
            </a:r>
            <a:r>
              <a:rPr dirty="0" sz="1200" spc="-5">
                <a:latin typeface="Arial"/>
                <a:cs typeface="Arial"/>
              </a:rPr>
              <a:t>Hanbal [5]</a:t>
            </a:r>
            <a:r>
              <a:rPr dirty="0" sz="1200" spc="10">
                <a:latin typeface="Arial"/>
                <a:cs typeface="Arial"/>
              </a:rPr>
              <a:t> </a:t>
            </a:r>
            <a:r>
              <a:rPr dirty="0" sz="1200" spc="-5" b="1">
                <a:latin typeface="Arial"/>
                <a:cs typeface="Arial"/>
              </a:rPr>
              <a:t>(2007)</a:t>
            </a:r>
            <a:endParaRPr sz="1200">
              <a:latin typeface="Arial"/>
              <a:cs typeface="Arial"/>
            </a:endParaRPr>
          </a:p>
          <a:p>
            <a:pPr>
              <a:lnSpc>
                <a:spcPct val="100000"/>
              </a:lnSpc>
              <a:spcBef>
                <a:spcPts val="35"/>
              </a:spcBef>
            </a:pPr>
            <a:endParaRPr sz="1200">
              <a:latin typeface="Arial"/>
              <a:cs typeface="Arial"/>
            </a:endParaRPr>
          </a:p>
          <a:p>
            <a:pPr marL="12700" marR="7620">
              <a:lnSpc>
                <a:spcPts val="1380"/>
              </a:lnSpc>
            </a:pPr>
            <a:r>
              <a:rPr dirty="0" sz="1200" spc="-5" b="1">
                <a:latin typeface="Arial"/>
                <a:cs typeface="Arial"/>
              </a:rPr>
              <a:t>4 (a) </a:t>
            </a:r>
            <a:r>
              <a:rPr dirty="0" sz="1200">
                <a:latin typeface="Arial"/>
                <a:cs typeface="Arial"/>
              </a:rPr>
              <a:t>Outline the </a:t>
            </a:r>
            <a:r>
              <a:rPr dirty="0" sz="1200" spc="-5">
                <a:latin typeface="Arial"/>
                <a:cs typeface="Arial"/>
              </a:rPr>
              <a:t>teachings </a:t>
            </a:r>
            <a:r>
              <a:rPr dirty="0" sz="1200" spc="5">
                <a:latin typeface="Arial"/>
                <a:cs typeface="Arial"/>
              </a:rPr>
              <a:t>of </a:t>
            </a:r>
            <a:r>
              <a:rPr dirty="0" sz="1200" spc="-5">
                <a:latin typeface="Arial"/>
                <a:cs typeface="Arial"/>
              </a:rPr>
              <a:t>al-Shafi‘I about </a:t>
            </a:r>
            <a:r>
              <a:rPr dirty="0" sz="1200">
                <a:latin typeface="Arial"/>
                <a:cs typeface="Arial"/>
              </a:rPr>
              <a:t>the </a:t>
            </a:r>
            <a:r>
              <a:rPr dirty="0" sz="1200" spc="-5">
                <a:latin typeface="Arial"/>
                <a:cs typeface="Arial"/>
              </a:rPr>
              <a:t>relationship between </a:t>
            </a:r>
            <a:r>
              <a:rPr dirty="0" sz="1200">
                <a:latin typeface="Arial"/>
                <a:cs typeface="Arial"/>
              </a:rPr>
              <a:t>the </a:t>
            </a:r>
            <a:r>
              <a:rPr dirty="0" sz="1200" spc="-5">
                <a:latin typeface="Arial"/>
                <a:cs typeface="Arial"/>
              </a:rPr>
              <a:t>Qur‘an and the  Sunnah </a:t>
            </a:r>
            <a:r>
              <a:rPr dirty="0" sz="1200" spc="-10">
                <a:latin typeface="Arial"/>
                <a:cs typeface="Arial"/>
              </a:rPr>
              <a:t>in </a:t>
            </a:r>
            <a:r>
              <a:rPr dirty="0" sz="1200" spc="-5">
                <a:latin typeface="Arial"/>
                <a:cs typeface="Arial"/>
              </a:rPr>
              <a:t>the development of Islamic thinking.</a:t>
            </a:r>
            <a:r>
              <a:rPr dirty="0" sz="1200" spc="45">
                <a:latin typeface="Arial"/>
                <a:cs typeface="Arial"/>
              </a:rPr>
              <a:t> </a:t>
            </a:r>
            <a:r>
              <a:rPr dirty="0" sz="1200">
                <a:latin typeface="Arial"/>
                <a:cs typeface="Arial"/>
              </a:rPr>
              <a:t>[12]</a:t>
            </a:r>
            <a:endParaRPr sz="1200">
              <a:latin typeface="Arial"/>
              <a:cs typeface="Arial"/>
            </a:endParaRPr>
          </a:p>
          <a:p>
            <a:pPr marL="12700" marR="5715">
              <a:lnSpc>
                <a:spcPts val="1380"/>
              </a:lnSpc>
            </a:pPr>
            <a:r>
              <a:rPr dirty="0" sz="1200" spc="-5" b="1">
                <a:latin typeface="Arial"/>
                <a:cs typeface="Arial"/>
              </a:rPr>
              <a:t>(b) </a:t>
            </a:r>
            <a:r>
              <a:rPr dirty="0" sz="1200">
                <a:latin typeface="Arial"/>
                <a:cs typeface="Arial"/>
              </a:rPr>
              <a:t>How </a:t>
            </a:r>
            <a:r>
              <a:rPr dirty="0" sz="1200" spc="-5">
                <a:latin typeface="Arial"/>
                <a:cs typeface="Arial"/>
              </a:rPr>
              <a:t>do these differ from the teachings of any </a:t>
            </a:r>
            <a:r>
              <a:rPr dirty="0" sz="1200">
                <a:latin typeface="Arial"/>
                <a:cs typeface="Arial"/>
              </a:rPr>
              <a:t>other </a:t>
            </a:r>
            <a:r>
              <a:rPr dirty="0" sz="1200" spc="-5" b="1">
                <a:latin typeface="Arial"/>
                <a:cs typeface="Arial"/>
              </a:rPr>
              <a:t>two </a:t>
            </a:r>
            <a:r>
              <a:rPr dirty="0" sz="1200" spc="-5">
                <a:latin typeface="Arial"/>
                <a:cs typeface="Arial"/>
              </a:rPr>
              <a:t>Sunni Imams </a:t>
            </a:r>
            <a:r>
              <a:rPr dirty="0" sz="1200" spc="-10">
                <a:latin typeface="Arial"/>
                <a:cs typeface="Arial"/>
              </a:rPr>
              <a:t>you </a:t>
            </a:r>
            <a:r>
              <a:rPr dirty="0" sz="1200" spc="-5">
                <a:latin typeface="Arial"/>
                <a:cs typeface="Arial"/>
              </a:rPr>
              <a:t>have studied?  </a:t>
            </a:r>
            <a:r>
              <a:rPr dirty="0" sz="1200">
                <a:latin typeface="Arial"/>
                <a:cs typeface="Arial"/>
              </a:rPr>
              <a:t>[8] </a:t>
            </a:r>
            <a:r>
              <a:rPr dirty="0" sz="1200" spc="-5" b="1">
                <a:latin typeface="Arial"/>
                <a:cs typeface="Arial"/>
              </a:rPr>
              <a:t>(2008)</a:t>
            </a:r>
            <a:endParaRPr sz="1200">
              <a:latin typeface="Arial"/>
              <a:cs typeface="Arial"/>
            </a:endParaRPr>
          </a:p>
          <a:p>
            <a:pPr>
              <a:lnSpc>
                <a:spcPct val="100000"/>
              </a:lnSpc>
            </a:pPr>
            <a:endParaRPr sz="1200">
              <a:latin typeface="Arial"/>
              <a:cs typeface="Arial"/>
            </a:endParaRPr>
          </a:p>
          <a:p>
            <a:pPr marL="12700" marR="6985">
              <a:lnSpc>
                <a:spcPts val="1380"/>
              </a:lnSpc>
            </a:pPr>
            <a:r>
              <a:rPr dirty="0" sz="1200" spc="-5" b="1">
                <a:latin typeface="Arial"/>
                <a:cs typeface="Arial"/>
              </a:rPr>
              <a:t>6 </a:t>
            </a:r>
            <a:r>
              <a:rPr dirty="0" sz="1200" spc="-5">
                <a:latin typeface="Arial"/>
                <a:cs typeface="Arial"/>
              </a:rPr>
              <a:t>Many Muslim scholars regard </a:t>
            </a:r>
            <a:r>
              <a:rPr dirty="0" sz="1200">
                <a:latin typeface="Arial"/>
                <a:cs typeface="Arial"/>
              </a:rPr>
              <a:t>al-Shafi‘I </a:t>
            </a:r>
            <a:r>
              <a:rPr dirty="0" sz="1200" spc="-10">
                <a:latin typeface="Arial"/>
                <a:cs typeface="Arial"/>
              </a:rPr>
              <a:t>as </a:t>
            </a:r>
            <a:r>
              <a:rPr dirty="0" sz="1200">
                <a:latin typeface="Arial"/>
                <a:cs typeface="Arial"/>
              </a:rPr>
              <a:t>the </a:t>
            </a:r>
            <a:r>
              <a:rPr dirty="0" sz="1200" spc="-5">
                <a:latin typeface="Arial"/>
                <a:cs typeface="Arial"/>
              </a:rPr>
              <a:t>most important of the early legal </a:t>
            </a:r>
            <a:r>
              <a:rPr dirty="0" sz="1200">
                <a:latin typeface="Arial"/>
                <a:cs typeface="Arial"/>
              </a:rPr>
              <a:t>experts.  </a:t>
            </a:r>
            <a:r>
              <a:rPr dirty="0" sz="1200" spc="-5">
                <a:latin typeface="Arial"/>
                <a:cs typeface="Arial"/>
              </a:rPr>
              <a:t>Give </a:t>
            </a:r>
            <a:r>
              <a:rPr dirty="0" sz="1200">
                <a:latin typeface="Arial"/>
                <a:cs typeface="Arial"/>
              </a:rPr>
              <a:t>reasons </a:t>
            </a:r>
            <a:r>
              <a:rPr dirty="0" sz="1200" spc="-5">
                <a:latin typeface="Arial"/>
                <a:cs typeface="Arial"/>
              </a:rPr>
              <a:t>to agree or disagree with this judgement. [20]</a:t>
            </a:r>
            <a:r>
              <a:rPr dirty="0" sz="1200" spc="65">
                <a:latin typeface="Arial"/>
                <a:cs typeface="Arial"/>
              </a:rPr>
              <a:t> </a:t>
            </a:r>
            <a:r>
              <a:rPr dirty="0" sz="1200" spc="-5" b="1">
                <a:latin typeface="Arial"/>
                <a:cs typeface="Arial"/>
              </a:rPr>
              <a:t>(2009)</a:t>
            </a:r>
            <a:endParaRPr sz="1200">
              <a:latin typeface="Arial"/>
              <a:cs typeface="Arial"/>
            </a:endParaRPr>
          </a:p>
          <a:p>
            <a:pPr>
              <a:lnSpc>
                <a:spcPct val="100000"/>
              </a:lnSpc>
            </a:pPr>
            <a:endParaRPr sz="1200">
              <a:latin typeface="Arial"/>
              <a:cs typeface="Arial"/>
            </a:endParaRPr>
          </a:p>
          <a:p>
            <a:pPr marL="12700" marR="11430">
              <a:lnSpc>
                <a:spcPts val="1380"/>
              </a:lnSpc>
              <a:tabLst>
                <a:tab pos="1224915" algn="l"/>
              </a:tabLst>
            </a:pPr>
            <a:r>
              <a:rPr dirty="0" sz="1200" spc="-5" b="1">
                <a:latin typeface="Arial"/>
                <a:cs typeface="Arial"/>
              </a:rPr>
              <a:t>4 </a:t>
            </a:r>
            <a:r>
              <a:rPr dirty="0" sz="1200" spc="5">
                <a:latin typeface="Arial"/>
                <a:cs typeface="Arial"/>
              </a:rPr>
              <a:t>What </a:t>
            </a:r>
            <a:r>
              <a:rPr dirty="0" sz="1200" spc="-5">
                <a:latin typeface="Arial"/>
                <a:cs typeface="Arial"/>
              </a:rPr>
              <a:t>are the main differences in the methods employed by </a:t>
            </a:r>
            <a:r>
              <a:rPr dirty="0" sz="1200">
                <a:latin typeface="Arial"/>
                <a:cs typeface="Arial"/>
              </a:rPr>
              <a:t>the </a:t>
            </a:r>
            <a:r>
              <a:rPr dirty="0" sz="1200" spc="-5">
                <a:latin typeface="Arial"/>
                <a:cs typeface="Arial"/>
              </a:rPr>
              <a:t>founders of </a:t>
            </a:r>
            <a:r>
              <a:rPr dirty="0" sz="1200">
                <a:latin typeface="Arial"/>
                <a:cs typeface="Arial"/>
              </a:rPr>
              <a:t>the four </a:t>
            </a:r>
            <a:r>
              <a:rPr dirty="0" sz="1200" spc="-10">
                <a:latin typeface="Arial"/>
                <a:cs typeface="Arial"/>
              </a:rPr>
              <a:t>Sunni  </a:t>
            </a:r>
            <a:r>
              <a:rPr dirty="0" sz="1200" spc="-5">
                <a:latin typeface="Arial"/>
                <a:cs typeface="Arial"/>
              </a:rPr>
              <a:t>schools of</a:t>
            </a:r>
            <a:r>
              <a:rPr dirty="0" sz="1200" spc="20">
                <a:latin typeface="Arial"/>
                <a:cs typeface="Arial"/>
              </a:rPr>
              <a:t> </a:t>
            </a:r>
            <a:r>
              <a:rPr dirty="0" sz="1200" spc="-5">
                <a:latin typeface="Arial"/>
                <a:cs typeface="Arial"/>
              </a:rPr>
              <a:t>law?	[20]</a:t>
            </a:r>
            <a:r>
              <a:rPr dirty="0" sz="1200">
                <a:latin typeface="Arial"/>
                <a:cs typeface="Arial"/>
              </a:rPr>
              <a:t> </a:t>
            </a:r>
            <a:r>
              <a:rPr dirty="0" sz="1200" spc="-5" b="1">
                <a:latin typeface="Arial"/>
                <a:cs typeface="Arial"/>
              </a:rPr>
              <a:t>(2010)</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117</a:t>
            </a:r>
            <a:endParaRPr sz="1200">
              <a:latin typeface="Times New Roman"/>
              <a:cs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5970905" cy="208279"/>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878128" y="827531"/>
            <a:ext cx="5624830"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b="1">
                <a:latin typeface="Arial"/>
                <a:cs typeface="Arial"/>
              </a:rPr>
              <a:t>Swahih </a:t>
            </a:r>
            <a:r>
              <a:rPr dirty="0" sz="1200" spc="-5" b="1">
                <a:latin typeface="Arial"/>
                <a:cs typeface="Arial"/>
              </a:rPr>
              <a:t>Sittah</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118</a:t>
            </a:r>
            <a:endParaRPr sz="1200">
              <a:latin typeface="Times New Roman"/>
              <a:cs typeface="Times New Roman"/>
            </a:endParaRPr>
          </a:p>
        </p:txBody>
      </p:sp>
      <p:sp>
        <p:nvSpPr>
          <p:cNvPr id="5" name="object 5"/>
          <p:cNvSpPr txBox="1"/>
          <p:nvPr/>
        </p:nvSpPr>
        <p:spPr>
          <a:xfrm>
            <a:off x="534416" y="1162557"/>
            <a:ext cx="6309360" cy="809625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Introduction</a:t>
            </a:r>
            <a:endParaRPr sz="1200">
              <a:latin typeface="Arial"/>
              <a:cs typeface="Arial"/>
            </a:endParaRPr>
          </a:p>
          <a:p>
            <a:pPr>
              <a:lnSpc>
                <a:spcPct val="100000"/>
              </a:lnSpc>
              <a:spcBef>
                <a:spcPts val="35"/>
              </a:spcBef>
            </a:pPr>
            <a:endParaRPr sz="1200">
              <a:latin typeface="Arial"/>
              <a:cs typeface="Arial"/>
            </a:endParaRPr>
          </a:p>
          <a:p>
            <a:pPr algn="just" marL="12700" marR="5715">
              <a:lnSpc>
                <a:spcPts val="1380"/>
              </a:lnSpc>
            </a:pPr>
            <a:r>
              <a:rPr dirty="0" sz="1200">
                <a:latin typeface="Arial"/>
                <a:cs typeface="Arial"/>
              </a:rPr>
              <a:t>After </a:t>
            </a:r>
            <a:r>
              <a:rPr dirty="0" sz="1200" spc="-5">
                <a:latin typeface="Arial"/>
                <a:cs typeface="Arial"/>
              </a:rPr>
              <a:t>the sending </a:t>
            </a:r>
            <a:r>
              <a:rPr dirty="0" sz="1200">
                <a:latin typeface="Arial"/>
                <a:cs typeface="Arial"/>
              </a:rPr>
              <a:t>of </a:t>
            </a:r>
            <a:r>
              <a:rPr dirty="0" sz="1200" spc="-5">
                <a:latin typeface="Arial"/>
                <a:cs typeface="Arial"/>
              </a:rPr>
              <a:t>the holy Qur‘an </a:t>
            </a:r>
            <a:r>
              <a:rPr dirty="0" sz="1200">
                <a:latin typeface="Arial"/>
                <a:cs typeface="Arial"/>
              </a:rPr>
              <a:t>to </a:t>
            </a:r>
            <a:r>
              <a:rPr dirty="0" sz="1200" spc="-5">
                <a:latin typeface="Arial"/>
                <a:cs typeface="Arial"/>
              </a:rPr>
              <a:t>the holy </a:t>
            </a:r>
            <a:r>
              <a:rPr dirty="0" sz="1200">
                <a:latin typeface="Arial"/>
                <a:cs typeface="Arial"/>
              </a:rPr>
              <a:t>prophet </a:t>
            </a:r>
            <a:r>
              <a:rPr dirty="0" sz="1200" spc="-5">
                <a:latin typeface="Arial"/>
                <a:cs typeface="Arial"/>
              </a:rPr>
              <a:t>(s.a.w) </a:t>
            </a:r>
            <a:r>
              <a:rPr dirty="0" sz="1200">
                <a:latin typeface="Arial"/>
                <a:cs typeface="Arial"/>
              </a:rPr>
              <a:t>there </a:t>
            </a:r>
            <a:r>
              <a:rPr dirty="0" sz="1200" spc="-5">
                <a:latin typeface="Arial"/>
                <a:cs typeface="Arial"/>
              </a:rPr>
              <a:t>was </a:t>
            </a:r>
            <a:r>
              <a:rPr dirty="0" sz="1200">
                <a:latin typeface="Arial"/>
                <a:cs typeface="Arial"/>
              </a:rPr>
              <a:t>the </a:t>
            </a:r>
            <a:r>
              <a:rPr dirty="0" sz="1200" spc="-5">
                <a:latin typeface="Arial"/>
                <a:cs typeface="Arial"/>
              </a:rPr>
              <a:t>need </a:t>
            </a:r>
            <a:r>
              <a:rPr dirty="0" sz="1200">
                <a:latin typeface="Arial"/>
                <a:cs typeface="Arial"/>
              </a:rPr>
              <a:t>for  </a:t>
            </a:r>
            <a:r>
              <a:rPr dirty="0" sz="1200" spc="-5">
                <a:latin typeface="Arial"/>
                <a:cs typeface="Arial"/>
              </a:rPr>
              <a:t>explanation and </a:t>
            </a:r>
            <a:r>
              <a:rPr dirty="0" sz="1200">
                <a:latin typeface="Arial"/>
                <a:cs typeface="Arial"/>
              </a:rPr>
              <a:t>interpretation </a:t>
            </a:r>
            <a:r>
              <a:rPr dirty="0" sz="1200" spc="-5">
                <a:latin typeface="Arial"/>
                <a:cs typeface="Arial"/>
              </a:rPr>
              <a:t>of the divine message. </a:t>
            </a:r>
            <a:r>
              <a:rPr dirty="0" sz="1200">
                <a:latin typeface="Arial"/>
                <a:cs typeface="Arial"/>
              </a:rPr>
              <a:t>Then </a:t>
            </a:r>
            <a:r>
              <a:rPr dirty="0" sz="1200" spc="-10">
                <a:latin typeface="Arial"/>
                <a:cs typeface="Arial"/>
              </a:rPr>
              <a:t>came </a:t>
            </a:r>
            <a:r>
              <a:rPr dirty="0" sz="1200">
                <a:latin typeface="Arial"/>
                <a:cs typeface="Arial"/>
              </a:rPr>
              <a:t>the </a:t>
            </a:r>
            <a:r>
              <a:rPr dirty="0" sz="1200" spc="-5">
                <a:latin typeface="Arial"/>
                <a:cs typeface="Arial"/>
              </a:rPr>
              <a:t>work and part of the  mission of the prophet</a:t>
            </a:r>
            <a:r>
              <a:rPr dirty="0" sz="1200" spc="-10">
                <a:latin typeface="Arial"/>
                <a:cs typeface="Arial"/>
              </a:rPr>
              <a:t> </a:t>
            </a:r>
            <a:r>
              <a:rPr dirty="0" sz="1200" spc="-5">
                <a:latin typeface="Arial"/>
                <a:cs typeface="Arial"/>
              </a:rPr>
              <a:t>(s.a.w).</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Hadith And </a:t>
            </a:r>
            <a:r>
              <a:rPr dirty="0" u="heavy" sz="1200" b="1" i="1">
                <a:uFill>
                  <a:solidFill>
                    <a:srgbClr val="000000"/>
                  </a:solidFill>
                </a:uFill>
                <a:latin typeface="Arial"/>
                <a:cs typeface="Arial"/>
              </a:rPr>
              <a:t>Sunnah</a:t>
            </a:r>
            <a:endParaRPr sz="1200">
              <a:latin typeface="Arial"/>
              <a:cs typeface="Arial"/>
            </a:endParaRPr>
          </a:p>
          <a:p>
            <a:pPr>
              <a:lnSpc>
                <a:spcPct val="100000"/>
              </a:lnSpc>
              <a:spcBef>
                <a:spcPts val="35"/>
              </a:spcBef>
            </a:pPr>
            <a:endParaRPr sz="1200">
              <a:latin typeface="Arial"/>
              <a:cs typeface="Arial"/>
            </a:endParaRPr>
          </a:p>
          <a:p>
            <a:pPr algn="just" marL="12700" marR="8890">
              <a:lnSpc>
                <a:spcPts val="1380"/>
              </a:lnSpc>
            </a:pPr>
            <a:r>
              <a:rPr dirty="0" sz="1200" spc="-5">
                <a:latin typeface="Arial"/>
                <a:cs typeface="Arial"/>
              </a:rPr>
              <a:t>Literally, </a:t>
            </a:r>
            <a:r>
              <a:rPr dirty="0" sz="1200">
                <a:latin typeface="Arial"/>
                <a:cs typeface="Arial"/>
              </a:rPr>
              <a:t>Hadith </a:t>
            </a:r>
            <a:r>
              <a:rPr dirty="0" sz="1200" spc="-5">
                <a:latin typeface="Arial"/>
                <a:cs typeface="Arial"/>
              </a:rPr>
              <a:t>means a narration or a recitation of a specific event. Sunnah is the deeds of  </a:t>
            </a:r>
            <a:r>
              <a:rPr dirty="0" sz="1200">
                <a:latin typeface="Arial"/>
                <a:cs typeface="Arial"/>
              </a:rPr>
              <a:t>the </a:t>
            </a:r>
            <a:r>
              <a:rPr dirty="0" sz="1200" spc="-5">
                <a:latin typeface="Arial"/>
                <a:cs typeface="Arial"/>
              </a:rPr>
              <a:t>prophet (s.a.w). However, according </a:t>
            </a:r>
            <a:r>
              <a:rPr dirty="0" sz="1200">
                <a:latin typeface="Arial"/>
                <a:cs typeface="Arial"/>
              </a:rPr>
              <a:t>to Islamic </a:t>
            </a:r>
            <a:r>
              <a:rPr dirty="0" sz="1200" spc="-5">
                <a:latin typeface="Arial"/>
                <a:cs typeface="Arial"/>
              </a:rPr>
              <a:t>terminology </a:t>
            </a:r>
            <a:r>
              <a:rPr dirty="0" sz="1200">
                <a:latin typeface="Arial"/>
                <a:cs typeface="Arial"/>
              </a:rPr>
              <a:t>Hadith </a:t>
            </a:r>
            <a:r>
              <a:rPr dirty="0" sz="1200" spc="-5">
                <a:latin typeface="Arial"/>
                <a:cs typeface="Arial"/>
              </a:rPr>
              <a:t>is generally  characterised </a:t>
            </a:r>
            <a:r>
              <a:rPr dirty="0" sz="1200">
                <a:latin typeface="Arial"/>
                <a:cs typeface="Arial"/>
              </a:rPr>
              <a:t>as the </a:t>
            </a:r>
            <a:r>
              <a:rPr dirty="0" sz="1200" spc="-5">
                <a:latin typeface="Arial"/>
                <a:cs typeface="Arial"/>
              </a:rPr>
              <a:t>deeds, sayings </a:t>
            </a:r>
            <a:r>
              <a:rPr dirty="0" sz="1200">
                <a:latin typeface="Arial"/>
                <a:cs typeface="Arial"/>
              </a:rPr>
              <a:t>and </a:t>
            </a:r>
            <a:r>
              <a:rPr dirty="0" sz="1200" spc="-5">
                <a:latin typeface="Arial"/>
                <a:cs typeface="Arial"/>
              </a:rPr>
              <a:t>silent approval of the holy prophet</a:t>
            </a:r>
            <a:r>
              <a:rPr dirty="0" sz="1200" spc="35">
                <a:latin typeface="Arial"/>
                <a:cs typeface="Arial"/>
              </a:rPr>
              <a:t> </a:t>
            </a:r>
            <a:r>
              <a:rPr dirty="0" sz="1200" spc="-5">
                <a:latin typeface="Arial"/>
                <a:cs typeface="Arial"/>
              </a:rPr>
              <a:t>(s.a.w).</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A </a:t>
            </a:r>
            <a:r>
              <a:rPr dirty="0" u="heavy" sz="1200" b="1" i="1">
                <a:uFill>
                  <a:solidFill>
                    <a:srgbClr val="000000"/>
                  </a:solidFill>
                </a:uFill>
                <a:latin typeface="Arial"/>
                <a:cs typeface="Arial"/>
              </a:rPr>
              <a:t>hadith </a:t>
            </a:r>
            <a:r>
              <a:rPr dirty="0" u="heavy" sz="1200" spc="-5" b="1" i="1">
                <a:uFill>
                  <a:solidFill>
                    <a:srgbClr val="000000"/>
                  </a:solidFill>
                </a:uFill>
                <a:latin typeface="Arial"/>
                <a:cs typeface="Arial"/>
              </a:rPr>
              <a:t>is divided into </a:t>
            </a:r>
            <a:r>
              <a:rPr dirty="0" u="heavy" sz="1200" b="1" i="1">
                <a:uFill>
                  <a:solidFill>
                    <a:srgbClr val="000000"/>
                  </a:solidFill>
                </a:uFill>
                <a:latin typeface="Arial"/>
                <a:cs typeface="Arial"/>
              </a:rPr>
              <a:t>two</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parts:</a:t>
            </a:r>
            <a:endParaRPr sz="1200">
              <a:latin typeface="Arial"/>
              <a:cs typeface="Arial"/>
            </a:endParaRPr>
          </a:p>
          <a:p>
            <a:pPr>
              <a:lnSpc>
                <a:spcPct val="100000"/>
              </a:lnSpc>
              <a:spcBef>
                <a:spcPts val="35"/>
              </a:spcBef>
            </a:pPr>
            <a:endParaRPr sz="1200">
              <a:latin typeface="Arial"/>
              <a:cs typeface="Arial"/>
            </a:endParaRPr>
          </a:p>
          <a:p>
            <a:pPr algn="just" marL="469900" marR="5080" indent="-229235">
              <a:lnSpc>
                <a:spcPts val="1380"/>
              </a:lnSpc>
              <a:spcBef>
                <a:spcPts val="5"/>
              </a:spcBef>
              <a:buAutoNum type="arabicPeriod"/>
              <a:tabLst>
                <a:tab pos="470534" algn="l"/>
              </a:tabLst>
            </a:pPr>
            <a:r>
              <a:rPr dirty="0" sz="1200" spc="-5">
                <a:latin typeface="Arial"/>
                <a:cs typeface="Arial"/>
              </a:rPr>
              <a:t>The isnad: </a:t>
            </a:r>
            <a:r>
              <a:rPr dirty="0" sz="1200">
                <a:latin typeface="Arial"/>
                <a:cs typeface="Arial"/>
              </a:rPr>
              <a:t>It </a:t>
            </a:r>
            <a:r>
              <a:rPr dirty="0" sz="1200" spc="-5">
                <a:latin typeface="Arial"/>
                <a:cs typeface="Arial"/>
              </a:rPr>
              <a:t>is the chain of narrators </a:t>
            </a:r>
            <a:r>
              <a:rPr dirty="0" sz="1200">
                <a:latin typeface="Arial"/>
                <a:cs typeface="Arial"/>
              </a:rPr>
              <a:t>or </a:t>
            </a:r>
            <a:r>
              <a:rPr dirty="0" sz="1200" spc="-5">
                <a:latin typeface="Arial"/>
                <a:cs typeface="Arial"/>
              </a:rPr>
              <a:t>reporters. </a:t>
            </a:r>
            <a:r>
              <a:rPr dirty="0" sz="1200">
                <a:latin typeface="Arial"/>
                <a:cs typeface="Arial"/>
              </a:rPr>
              <a:t>It </a:t>
            </a:r>
            <a:r>
              <a:rPr dirty="0" sz="1200" spc="-5">
                <a:latin typeface="Arial"/>
                <a:cs typeface="Arial"/>
              </a:rPr>
              <a:t>is the list of Ashab, Tabi‘in, Tab‘ut  Tabi‘in </a:t>
            </a:r>
            <a:r>
              <a:rPr dirty="0" sz="1200">
                <a:latin typeface="Arial"/>
                <a:cs typeface="Arial"/>
              </a:rPr>
              <a:t>and </a:t>
            </a:r>
            <a:r>
              <a:rPr dirty="0" sz="1200" spc="-5">
                <a:latin typeface="Arial"/>
                <a:cs typeface="Arial"/>
              </a:rPr>
              <a:t>scholars who have heard </a:t>
            </a:r>
            <a:r>
              <a:rPr dirty="0" sz="1200">
                <a:latin typeface="Arial"/>
                <a:cs typeface="Arial"/>
              </a:rPr>
              <a:t>or </a:t>
            </a:r>
            <a:r>
              <a:rPr dirty="0" sz="1200" spc="-5">
                <a:latin typeface="Arial"/>
                <a:cs typeface="Arial"/>
              </a:rPr>
              <a:t>reported the Hadith directly </a:t>
            </a:r>
            <a:r>
              <a:rPr dirty="0" sz="1200">
                <a:latin typeface="Arial"/>
                <a:cs typeface="Arial"/>
              </a:rPr>
              <a:t>or </a:t>
            </a:r>
            <a:r>
              <a:rPr dirty="0" sz="1200" spc="-5">
                <a:latin typeface="Arial"/>
                <a:cs typeface="Arial"/>
              </a:rPr>
              <a:t>indirectly from  </a:t>
            </a:r>
            <a:r>
              <a:rPr dirty="0" sz="1200">
                <a:latin typeface="Arial"/>
                <a:cs typeface="Arial"/>
              </a:rPr>
              <a:t>the </a:t>
            </a:r>
            <a:r>
              <a:rPr dirty="0" sz="1200" spc="-5">
                <a:latin typeface="Arial"/>
                <a:cs typeface="Arial"/>
              </a:rPr>
              <a:t>holy prophet (s.a.w). </a:t>
            </a:r>
            <a:r>
              <a:rPr dirty="0" sz="1200">
                <a:latin typeface="Arial"/>
                <a:cs typeface="Arial"/>
              </a:rPr>
              <a:t>The </a:t>
            </a:r>
            <a:r>
              <a:rPr dirty="0" sz="1200" spc="-5">
                <a:latin typeface="Arial"/>
                <a:cs typeface="Arial"/>
              </a:rPr>
              <a:t>number of person in an Isnad varies. </a:t>
            </a:r>
            <a:r>
              <a:rPr dirty="0" sz="1200">
                <a:latin typeface="Arial"/>
                <a:cs typeface="Arial"/>
              </a:rPr>
              <a:t>It may </a:t>
            </a:r>
            <a:r>
              <a:rPr dirty="0" sz="1200" spc="-5">
                <a:latin typeface="Arial"/>
                <a:cs typeface="Arial"/>
              </a:rPr>
              <a:t>reach </a:t>
            </a:r>
            <a:r>
              <a:rPr dirty="0" sz="1200" spc="-10">
                <a:latin typeface="Arial"/>
                <a:cs typeface="Arial"/>
              </a:rPr>
              <a:t>150  </a:t>
            </a:r>
            <a:r>
              <a:rPr dirty="0" sz="1200" spc="-5">
                <a:latin typeface="Arial"/>
                <a:cs typeface="Arial"/>
              </a:rPr>
              <a:t>persons.</a:t>
            </a:r>
            <a:endParaRPr sz="1200">
              <a:latin typeface="Arial"/>
              <a:cs typeface="Arial"/>
            </a:endParaRPr>
          </a:p>
          <a:p>
            <a:pPr algn="just" marL="469900" marR="10160" indent="-229235">
              <a:lnSpc>
                <a:spcPts val="1380"/>
              </a:lnSpc>
              <a:buAutoNum type="arabicPeriod"/>
              <a:tabLst>
                <a:tab pos="470534" algn="l"/>
              </a:tabLst>
            </a:pPr>
            <a:r>
              <a:rPr dirty="0" sz="1200" spc="-5">
                <a:latin typeface="Arial"/>
                <a:cs typeface="Arial"/>
              </a:rPr>
              <a:t>The </a:t>
            </a:r>
            <a:r>
              <a:rPr dirty="0" sz="1200">
                <a:latin typeface="Arial"/>
                <a:cs typeface="Arial"/>
              </a:rPr>
              <a:t>Matn: </a:t>
            </a:r>
            <a:r>
              <a:rPr dirty="0" sz="1200" spc="-5">
                <a:latin typeface="Arial"/>
                <a:cs typeface="Arial"/>
              </a:rPr>
              <a:t>It is </a:t>
            </a:r>
            <a:r>
              <a:rPr dirty="0" sz="1200">
                <a:latin typeface="Arial"/>
                <a:cs typeface="Arial"/>
              </a:rPr>
              <a:t>the </a:t>
            </a:r>
            <a:r>
              <a:rPr dirty="0" sz="1200" spc="-5">
                <a:latin typeface="Arial"/>
                <a:cs typeface="Arial"/>
              </a:rPr>
              <a:t>text or context. </a:t>
            </a:r>
            <a:r>
              <a:rPr dirty="0" sz="1200">
                <a:latin typeface="Arial"/>
                <a:cs typeface="Arial"/>
              </a:rPr>
              <a:t>It </a:t>
            </a:r>
            <a:r>
              <a:rPr dirty="0" sz="1200" spc="-5">
                <a:latin typeface="Arial"/>
                <a:cs typeface="Arial"/>
              </a:rPr>
              <a:t>is what has been reported or done by </a:t>
            </a:r>
            <a:r>
              <a:rPr dirty="0" sz="1200">
                <a:latin typeface="Arial"/>
                <a:cs typeface="Arial"/>
              </a:rPr>
              <a:t>the </a:t>
            </a:r>
            <a:r>
              <a:rPr dirty="0" sz="1200" spc="-5">
                <a:latin typeface="Arial"/>
                <a:cs typeface="Arial"/>
              </a:rPr>
              <a:t>prophet  (s.a.w) or </a:t>
            </a:r>
            <a:r>
              <a:rPr dirty="0" sz="1200">
                <a:latin typeface="Arial"/>
                <a:cs typeface="Arial"/>
              </a:rPr>
              <a:t>any</a:t>
            </a:r>
            <a:r>
              <a:rPr dirty="0" sz="1200" spc="-10">
                <a:latin typeface="Arial"/>
                <a:cs typeface="Arial"/>
              </a:rPr>
              <a:t> </a:t>
            </a:r>
            <a:r>
              <a:rPr dirty="0" sz="1200" spc="-5">
                <a:latin typeface="Arial"/>
                <a:cs typeface="Arial"/>
              </a:rPr>
              <a:t>Sahaba.</a:t>
            </a:r>
            <a:endParaRPr sz="1200">
              <a:latin typeface="Arial"/>
              <a:cs typeface="Arial"/>
            </a:endParaRPr>
          </a:p>
          <a:p>
            <a:pPr>
              <a:lnSpc>
                <a:spcPct val="100000"/>
              </a:lnSpc>
              <a:spcBef>
                <a:spcPts val="1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Criteria For</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Isnad</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5" b="1" i="1">
                <a:uFill>
                  <a:solidFill>
                    <a:srgbClr val="000000"/>
                  </a:solidFill>
                </a:uFill>
                <a:latin typeface="Arial"/>
                <a:cs typeface="Arial"/>
              </a:rPr>
              <a:t>There are some criteria for an Isnad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be considered as</a:t>
            </a:r>
            <a:r>
              <a:rPr dirty="0" u="heavy" sz="1200" spc="25" b="1" i="1">
                <a:uFill>
                  <a:solidFill>
                    <a:srgbClr val="000000"/>
                  </a:solidFill>
                </a:uFill>
                <a:latin typeface="Arial"/>
                <a:cs typeface="Arial"/>
              </a:rPr>
              <a:t> </a:t>
            </a:r>
            <a:r>
              <a:rPr dirty="0" u="heavy" sz="1200" b="1" i="1">
                <a:uFill>
                  <a:solidFill>
                    <a:srgbClr val="000000"/>
                  </a:solidFill>
                </a:uFill>
                <a:latin typeface="Arial"/>
                <a:cs typeface="Arial"/>
              </a:rPr>
              <a:t>good:</a:t>
            </a:r>
            <a:endParaRPr sz="1200">
              <a:latin typeface="Arial"/>
              <a:cs typeface="Arial"/>
            </a:endParaRPr>
          </a:p>
          <a:p>
            <a:pPr>
              <a:lnSpc>
                <a:spcPct val="100000"/>
              </a:lnSpc>
            </a:pPr>
            <a:endParaRPr sz="1150">
              <a:latin typeface="Arial"/>
              <a:cs typeface="Arial"/>
            </a:endParaRPr>
          </a:p>
          <a:p>
            <a:pPr marL="469900" indent="-229235">
              <a:lnSpc>
                <a:spcPts val="1410"/>
              </a:lnSpc>
              <a:buAutoNum type="arabicPeriod"/>
              <a:tabLst>
                <a:tab pos="470534" algn="l"/>
              </a:tabLst>
            </a:pPr>
            <a:r>
              <a:rPr dirty="0" sz="1200" spc="-5">
                <a:latin typeface="Arial"/>
                <a:cs typeface="Arial"/>
              </a:rPr>
              <a:t>The narrator </a:t>
            </a:r>
            <a:r>
              <a:rPr dirty="0" sz="1200">
                <a:latin typeface="Arial"/>
                <a:cs typeface="Arial"/>
              </a:rPr>
              <a:t>must </a:t>
            </a:r>
            <a:r>
              <a:rPr dirty="0" sz="1200" spc="-5">
                <a:latin typeface="Arial"/>
                <a:cs typeface="Arial"/>
              </a:rPr>
              <a:t>be a</a:t>
            </a:r>
            <a:r>
              <a:rPr dirty="0" sz="1200" spc="-30">
                <a:latin typeface="Arial"/>
                <a:cs typeface="Arial"/>
              </a:rPr>
              <a:t> </a:t>
            </a:r>
            <a:r>
              <a:rPr dirty="0" sz="1200" spc="-5">
                <a:latin typeface="Arial"/>
                <a:cs typeface="Arial"/>
              </a:rPr>
              <a:t>Muslim</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must </a:t>
            </a:r>
            <a:r>
              <a:rPr dirty="0" sz="1200" spc="-10">
                <a:latin typeface="Arial"/>
                <a:cs typeface="Arial"/>
              </a:rPr>
              <a:t>be</a:t>
            </a:r>
            <a:r>
              <a:rPr dirty="0" sz="1200" spc="15">
                <a:latin typeface="Arial"/>
                <a:cs typeface="Arial"/>
              </a:rPr>
              <a:t> </a:t>
            </a:r>
            <a:r>
              <a:rPr dirty="0" sz="1200" spc="-5">
                <a:latin typeface="Arial"/>
                <a:cs typeface="Arial"/>
              </a:rPr>
              <a:t>pious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must </a:t>
            </a:r>
            <a:r>
              <a:rPr dirty="0" sz="1200" spc="-10">
                <a:latin typeface="Arial"/>
                <a:cs typeface="Arial"/>
              </a:rPr>
              <a:t>be </a:t>
            </a:r>
            <a:r>
              <a:rPr dirty="0" sz="1200" spc="-5">
                <a:latin typeface="Arial"/>
                <a:cs typeface="Arial"/>
              </a:rPr>
              <a:t>a practicing</a:t>
            </a:r>
            <a:r>
              <a:rPr dirty="0" sz="1200" spc="5">
                <a:latin typeface="Arial"/>
                <a:cs typeface="Arial"/>
              </a:rPr>
              <a:t> </a:t>
            </a:r>
            <a:r>
              <a:rPr dirty="0" sz="1200" spc="-5">
                <a:latin typeface="Arial"/>
                <a:cs typeface="Arial"/>
              </a:rPr>
              <a:t>Muslim</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must </a:t>
            </a:r>
            <a:r>
              <a:rPr dirty="0" sz="1200" spc="-10">
                <a:latin typeface="Arial"/>
                <a:cs typeface="Arial"/>
              </a:rPr>
              <a:t>have </a:t>
            </a:r>
            <a:r>
              <a:rPr dirty="0" sz="1200" spc="-5">
                <a:latin typeface="Arial"/>
                <a:cs typeface="Arial"/>
              </a:rPr>
              <a:t>a retentive</a:t>
            </a:r>
            <a:r>
              <a:rPr dirty="0" sz="1200" spc="25">
                <a:latin typeface="Arial"/>
                <a:cs typeface="Arial"/>
              </a:rPr>
              <a:t> </a:t>
            </a:r>
            <a:r>
              <a:rPr dirty="0" sz="1200" spc="-5">
                <a:latin typeface="Arial"/>
                <a:cs typeface="Arial"/>
              </a:rPr>
              <a:t>memory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must not </a:t>
            </a:r>
            <a:r>
              <a:rPr dirty="0" sz="1200" spc="-10">
                <a:latin typeface="Arial"/>
                <a:cs typeface="Arial"/>
              </a:rPr>
              <a:t>be </a:t>
            </a:r>
            <a:r>
              <a:rPr dirty="0" sz="1200" spc="-5">
                <a:latin typeface="Arial"/>
                <a:cs typeface="Arial"/>
              </a:rPr>
              <a:t>a</a:t>
            </a:r>
            <a:r>
              <a:rPr dirty="0" sz="1200" spc="15">
                <a:latin typeface="Arial"/>
                <a:cs typeface="Arial"/>
              </a:rPr>
              <a:t> </a:t>
            </a:r>
            <a:r>
              <a:rPr dirty="0" sz="1200" spc="-5">
                <a:latin typeface="Arial"/>
                <a:cs typeface="Arial"/>
              </a:rPr>
              <a:t>liar</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must </a:t>
            </a:r>
            <a:r>
              <a:rPr dirty="0" sz="1200" spc="-10">
                <a:latin typeface="Arial"/>
                <a:cs typeface="Arial"/>
              </a:rPr>
              <a:t>be </a:t>
            </a:r>
            <a:r>
              <a:rPr dirty="0" sz="1200" spc="-5">
                <a:latin typeface="Arial"/>
                <a:cs typeface="Arial"/>
              </a:rPr>
              <a:t>clean from </a:t>
            </a:r>
            <a:r>
              <a:rPr dirty="0" sz="1200">
                <a:latin typeface="Arial"/>
                <a:cs typeface="Arial"/>
              </a:rPr>
              <a:t>any </a:t>
            </a:r>
            <a:r>
              <a:rPr dirty="0" sz="1200" spc="-5">
                <a:latin typeface="Arial"/>
                <a:cs typeface="Arial"/>
              </a:rPr>
              <a:t>judicial case against</a:t>
            </a:r>
            <a:r>
              <a:rPr dirty="0" sz="1200" spc="25">
                <a:latin typeface="Arial"/>
                <a:cs typeface="Arial"/>
              </a:rPr>
              <a:t> </a:t>
            </a:r>
            <a:r>
              <a:rPr dirty="0" sz="1200" spc="-10">
                <a:latin typeface="Arial"/>
                <a:cs typeface="Arial"/>
              </a:rPr>
              <a:t>him</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must </a:t>
            </a:r>
            <a:r>
              <a:rPr dirty="0" sz="1200" spc="-10">
                <a:latin typeface="Arial"/>
                <a:cs typeface="Arial"/>
              </a:rPr>
              <a:t>be </a:t>
            </a:r>
            <a:r>
              <a:rPr dirty="0" sz="1200" spc="-5">
                <a:latin typeface="Arial"/>
                <a:cs typeface="Arial"/>
              </a:rPr>
              <a:t>known </a:t>
            </a:r>
            <a:r>
              <a:rPr dirty="0" sz="1200">
                <a:latin typeface="Arial"/>
                <a:cs typeface="Arial"/>
              </a:rPr>
              <a:t>for </a:t>
            </a:r>
            <a:r>
              <a:rPr dirty="0" sz="1200" spc="-5">
                <a:latin typeface="Arial"/>
                <a:cs typeface="Arial"/>
              </a:rPr>
              <a:t>his</a:t>
            </a:r>
            <a:r>
              <a:rPr dirty="0" sz="1200" spc="20">
                <a:latin typeface="Arial"/>
                <a:cs typeface="Arial"/>
              </a:rPr>
              <a:t> </a:t>
            </a:r>
            <a:r>
              <a:rPr dirty="0" sz="1200" spc="-5">
                <a:latin typeface="Arial"/>
                <a:cs typeface="Arial"/>
              </a:rPr>
              <a:t>knowledge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must </a:t>
            </a:r>
            <a:r>
              <a:rPr dirty="0" sz="1200" spc="-10">
                <a:latin typeface="Arial"/>
                <a:cs typeface="Arial"/>
              </a:rPr>
              <a:t>be </a:t>
            </a:r>
            <a:r>
              <a:rPr dirty="0" sz="1200" spc="-5">
                <a:latin typeface="Arial"/>
                <a:cs typeface="Arial"/>
              </a:rPr>
              <a:t>known </a:t>
            </a:r>
            <a:r>
              <a:rPr dirty="0" sz="1200">
                <a:latin typeface="Arial"/>
                <a:cs typeface="Arial"/>
              </a:rPr>
              <a:t>for </a:t>
            </a:r>
            <a:r>
              <a:rPr dirty="0" sz="1200" spc="-5">
                <a:latin typeface="Arial"/>
                <a:cs typeface="Arial"/>
              </a:rPr>
              <a:t>his</a:t>
            </a:r>
            <a:r>
              <a:rPr dirty="0" sz="1200" spc="20">
                <a:latin typeface="Arial"/>
                <a:cs typeface="Arial"/>
              </a:rPr>
              <a:t> </a:t>
            </a:r>
            <a:r>
              <a:rPr dirty="0" sz="1200" spc="-5">
                <a:latin typeface="Arial"/>
                <a:cs typeface="Arial"/>
              </a:rPr>
              <a:t>authority</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He must </a:t>
            </a:r>
            <a:r>
              <a:rPr dirty="0" sz="1200" spc="-10">
                <a:latin typeface="Arial"/>
                <a:cs typeface="Arial"/>
              </a:rPr>
              <a:t>have </a:t>
            </a:r>
            <a:r>
              <a:rPr dirty="0" sz="1200" spc="-5">
                <a:latin typeface="Arial"/>
                <a:cs typeface="Arial"/>
              </a:rPr>
              <a:t>lived among the </a:t>
            </a:r>
            <a:r>
              <a:rPr dirty="0" sz="1200">
                <a:latin typeface="Arial"/>
                <a:cs typeface="Arial"/>
              </a:rPr>
              <a:t>pious</a:t>
            </a:r>
            <a:r>
              <a:rPr dirty="0" sz="1200" spc="20">
                <a:latin typeface="Arial"/>
                <a:cs typeface="Arial"/>
              </a:rPr>
              <a:t> </a:t>
            </a:r>
            <a:r>
              <a:rPr dirty="0" sz="1200" spc="-5">
                <a:latin typeface="Arial"/>
                <a:cs typeface="Arial"/>
              </a:rPr>
              <a:t>men</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He must </a:t>
            </a:r>
            <a:r>
              <a:rPr dirty="0" sz="1200" spc="-10">
                <a:latin typeface="Arial"/>
                <a:cs typeface="Arial"/>
              </a:rPr>
              <a:t>be </a:t>
            </a:r>
            <a:r>
              <a:rPr dirty="0" sz="1200" spc="-5">
                <a:latin typeface="Arial"/>
                <a:cs typeface="Arial"/>
              </a:rPr>
              <a:t>dedicated </a:t>
            </a:r>
            <a:r>
              <a:rPr dirty="0" sz="1200">
                <a:latin typeface="Arial"/>
                <a:cs typeface="Arial"/>
              </a:rPr>
              <a:t>to</a:t>
            </a:r>
            <a:r>
              <a:rPr dirty="0" sz="1200" spc="20">
                <a:latin typeface="Arial"/>
                <a:cs typeface="Arial"/>
              </a:rPr>
              <a:t> </a:t>
            </a:r>
            <a:r>
              <a:rPr dirty="0" sz="1200" spc="-5">
                <a:latin typeface="Arial"/>
                <a:cs typeface="Arial"/>
              </a:rPr>
              <a:t>religion.</a:t>
            </a:r>
            <a:endParaRPr sz="1200">
              <a:latin typeface="Arial"/>
              <a:cs typeface="Arial"/>
            </a:endParaRPr>
          </a:p>
          <a:p>
            <a:pPr>
              <a:lnSpc>
                <a:spcPct val="100000"/>
              </a:lnSpc>
              <a:buFont typeface="Arial"/>
              <a:buAutoNum type="arabicPeriod"/>
            </a:pPr>
            <a:endParaRPr sz="1150">
              <a:latin typeface="Arial"/>
              <a:cs typeface="Arial"/>
            </a:endParaRPr>
          </a:p>
          <a:p>
            <a:pPr marL="12700">
              <a:lnSpc>
                <a:spcPct val="100000"/>
              </a:lnSpc>
            </a:pPr>
            <a:r>
              <a:rPr dirty="0" u="heavy" sz="1200" spc="-5" b="1" i="1">
                <a:uFill>
                  <a:solidFill>
                    <a:srgbClr val="000000"/>
                  </a:solidFill>
                </a:uFill>
                <a:latin typeface="Arial"/>
                <a:cs typeface="Arial"/>
              </a:rPr>
              <a:t>Criteria For</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Matn</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There are some criteria for the </a:t>
            </a:r>
            <a:r>
              <a:rPr dirty="0" u="heavy" sz="1200" b="1" i="1">
                <a:uFill>
                  <a:solidFill>
                    <a:srgbClr val="000000"/>
                  </a:solidFill>
                </a:uFill>
                <a:latin typeface="Arial"/>
                <a:cs typeface="Arial"/>
              </a:rPr>
              <a:t>Matn to </a:t>
            </a:r>
            <a:r>
              <a:rPr dirty="0" u="heavy" sz="1200" spc="-5" b="1" i="1">
                <a:uFill>
                  <a:solidFill>
                    <a:srgbClr val="000000"/>
                  </a:solidFill>
                </a:uFill>
                <a:latin typeface="Arial"/>
                <a:cs typeface="Arial"/>
              </a:rPr>
              <a:t>be</a:t>
            </a:r>
            <a:r>
              <a:rPr dirty="0" u="heavy" sz="1200" spc="35" b="1" i="1">
                <a:uFill>
                  <a:solidFill>
                    <a:srgbClr val="000000"/>
                  </a:solidFill>
                </a:uFill>
                <a:latin typeface="Arial"/>
                <a:cs typeface="Arial"/>
              </a:rPr>
              <a:t> </a:t>
            </a:r>
            <a:r>
              <a:rPr dirty="0" u="heavy" sz="1200" spc="-5" b="1" i="1">
                <a:uFill>
                  <a:solidFill>
                    <a:srgbClr val="000000"/>
                  </a:solidFill>
                </a:uFill>
                <a:latin typeface="Arial"/>
                <a:cs typeface="Arial"/>
              </a:rPr>
              <a:t>respected:</a:t>
            </a:r>
            <a:endParaRPr sz="1200">
              <a:latin typeface="Arial"/>
              <a:cs typeface="Arial"/>
            </a:endParaRPr>
          </a:p>
          <a:p>
            <a:pPr>
              <a:lnSpc>
                <a:spcPct val="100000"/>
              </a:lnSpc>
              <a:spcBef>
                <a:spcPts val="55"/>
              </a:spcBef>
            </a:pPr>
            <a:endParaRPr sz="1100">
              <a:latin typeface="Arial"/>
              <a:cs typeface="Arial"/>
            </a:endParaRPr>
          </a:p>
          <a:p>
            <a:pPr lvl="1" marL="698500" indent="-229235">
              <a:lnSpc>
                <a:spcPts val="1410"/>
              </a:lnSpc>
              <a:buAutoNum type="arabicPeriod"/>
              <a:tabLst>
                <a:tab pos="699135" algn="l"/>
              </a:tabLst>
            </a:pPr>
            <a:r>
              <a:rPr dirty="0" sz="1200" spc="-5">
                <a:latin typeface="Arial"/>
                <a:cs typeface="Arial"/>
              </a:rPr>
              <a:t>The text </a:t>
            </a:r>
            <a:r>
              <a:rPr dirty="0" sz="1200">
                <a:latin typeface="Arial"/>
                <a:cs typeface="Arial"/>
              </a:rPr>
              <a:t>must not be </a:t>
            </a:r>
            <a:r>
              <a:rPr dirty="0" sz="1200" spc="-5">
                <a:latin typeface="Arial"/>
                <a:cs typeface="Arial"/>
              </a:rPr>
              <a:t>against </a:t>
            </a:r>
            <a:r>
              <a:rPr dirty="0" sz="1200">
                <a:latin typeface="Arial"/>
                <a:cs typeface="Arial"/>
              </a:rPr>
              <a:t>the</a:t>
            </a:r>
            <a:r>
              <a:rPr dirty="0" sz="1200" spc="-35">
                <a:latin typeface="Arial"/>
                <a:cs typeface="Arial"/>
              </a:rPr>
              <a:t> </a:t>
            </a:r>
            <a:r>
              <a:rPr dirty="0" sz="1200" spc="-5">
                <a:latin typeface="Arial"/>
                <a:cs typeface="Arial"/>
              </a:rPr>
              <a:t>Qur‘an</a:t>
            </a:r>
            <a:endParaRPr sz="1200">
              <a:latin typeface="Arial"/>
              <a:cs typeface="Arial"/>
            </a:endParaRPr>
          </a:p>
          <a:p>
            <a:pPr lvl="1" marL="698500" indent="-229235">
              <a:lnSpc>
                <a:spcPts val="1380"/>
              </a:lnSpc>
              <a:buAutoNum type="arabicPeriod"/>
              <a:tabLst>
                <a:tab pos="699135" algn="l"/>
              </a:tabLst>
            </a:pPr>
            <a:r>
              <a:rPr dirty="0" sz="1200" spc="-5">
                <a:latin typeface="Arial"/>
                <a:cs typeface="Arial"/>
              </a:rPr>
              <a:t>The text </a:t>
            </a:r>
            <a:r>
              <a:rPr dirty="0" sz="1200">
                <a:latin typeface="Arial"/>
                <a:cs typeface="Arial"/>
              </a:rPr>
              <a:t>must </a:t>
            </a:r>
            <a:r>
              <a:rPr dirty="0" sz="1200" spc="-5">
                <a:latin typeface="Arial"/>
                <a:cs typeface="Arial"/>
              </a:rPr>
              <a:t>not </a:t>
            </a:r>
            <a:r>
              <a:rPr dirty="0" sz="1200">
                <a:latin typeface="Arial"/>
                <a:cs typeface="Arial"/>
              </a:rPr>
              <a:t>be </a:t>
            </a:r>
            <a:r>
              <a:rPr dirty="0" sz="1200" spc="-5">
                <a:latin typeface="Arial"/>
                <a:cs typeface="Arial"/>
              </a:rPr>
              <a:t>against </a:t>
            </a:r>
            <a:r>
              <a:rPr dirty="0" sz="1200">
                <a:latin typeface="Arial"/>
                <a:cs typeface="Arial"/>
              </a:rPr>
              <a:t>any </a:t>
            </a:r>
            <a:r>
              <a:rPr dirty="0" sz="1200" spc="-5">
                <a:latin typeface="Arial"/>
                <a:cs typeface="Arial"/>
              </a:rPr>
              <a:t>Swahih Hadith </a:t>
            </a:r>
            <a:r>
              <a:rPr dirty="0" sz="1200">
                <a:latin typeface="Arial"/>
                <a:cs typeface="Arial"/>
              </a:rPr>
              <a:t>or </a:t>
            </a:r>
            <a:r>
              <a:rPr dirty="0" sz="1200" spc="-5">
                <a:latin typeface="Arial"/>
                <a:cs typeface="Arial"/>
              </a:rPr>
              <a:t>Hadith</a:t>
            </a:r>
            <a:r>
              <a:rPr dirty="0" sz="1200" spc="5">
                <a:latin typeface="Arial"/>
                <a:cs typeface="Arial"/>
              </a:rPr>
              <a:t> </a:t>
            </a:r>
            <a:r>
              <a:rPr dirty="0" sz="1200" spc="-5">
                <a:latin typeface="Arial"/>
                <a:cs typeface="Arial"/>
              </a:rPr>
              <a:t>Qudsiy</a:t>
            </a:r>
            <a:endParaRPr sz="1200">
              <a:latin typeface="Arial"/>
              <a:cs typeface="Arial"/>
            </a:endParaRPr>
          </a:p>
          <a:p>
            <a:pPr lvl="1" marL="698500" indent="-229235">
              <a:lnSpc>
                <a:spcPts val="1380"/>
              </a:lnSpc>
              <a:buAutoNum type="arabicPeriod"/>
              <a:tabLst>
                <a:tab pos="699135" algn="l"/>
              </a:tabLst>
            </a:pPr>
            <a:r>
              <a:rPr dirty="0" sz="1200">
                <a:latin typeface="Arial"/>
                <a:cs typeface="Arial"/>
              </a:rPr>
              <a:t>It </a:t>
            </a:r>
            <a:r>
              <a:rPr dirty="0" sz="1200" spc="-5">
                <a:latin typeface="Arial"/>
                <a:cs typeface="Arial"/>
              </a:rPr>
              <a:t>must not </a:t>
            </a:r>
            <a:r>
              <a:rPr dirty="0" sz="1200">
                <a:latin typeface="Arial"/>
                <a:cs typeface="Arial"/>
              </a:rPr>
              <a:t>be </a:t>
            </a:r>
            <a:r>
              <a:rPr dirty="0" sz="1200" spc="-5">
                <a:latin typeface="Arial"/>
                <a:cs typeface="Arial"/>
              </a:rPr>
              <a:t>against any article of</a:t>
            </a:r>
            <a:r>
              <a:rPr dirty="0" sz="1200" spc="-30">
                <a:latin typeface="Arial"/>
                <a:cs typeface="Arial"/>
              </a:rPr>
              <a:t> </a:t>
            </a:r>
            <a:r>
              <a:rPr dirty="0" sz="1200">
                <a:latin typeface="Arial"/>
                <a:cs typeface="Arial"/>
              </a:rPr>
              <a:t>faith</a:t>
            </a:r>
            <a:endParaRPr sz="1200">
              <a:latin typeface="Arial"/>
              <a:cs typeface="Arial"/>
            </a:endParaRPr>
          </a:p>
          <a:p>
            <a:pPr lvl="1" marL="698500" indent="-229235">
              <a:lnSpc>
                <a:spcPts val="1380"/>
              </a:lnSpc>
              <a:buAutoNum type="arabicPeriod"/>
              <a:tabLst>
                <a:tab pos="699135" algn="l"/>
              </a:tabLst>
            </a:pPr>
            <a:r>
              <a:rPr dirty="0" sz="1200">
                <a:latin typeface="Arial"/>
                <a:cs typeface="Arial"/>
              </a:rPr>
              <a:t>It </a:t>
            </a:r>
            <a:r>
              <a:rPr dirty="0" sz="1200" spc="-5">
                <a:latin typeface="Arial"/>
                <a:cs typeface="Arial"/>
              </a:rPr>
              <a:t>must not be against </a:t>
            </a:r>
            <a:r>
              <a:rPr dirty="0" sz="1200" spc="-10">
                <a:latin typeface="Arial"/>
                <a:cs typeface="Arial"/>
              </a:rPr>
              <a:t>logic </a:t>
            </a:r>
            <a:r>
              <a:rPr dirty="0" sz="1200" spc="-5">
                <a:latin typeface="Arial"/>
                <a:cs typeface="Arial"/>
              </a:rPr>
              <a:t>and</a:t>
            </a:r>
            <a:r>
              <a:rPr dirty="0" sz="1200">
                <a:latin typeface="Arial"/>
                <a:cs typeface="Arial"/>
              </a:rPr>
              <a:t> </a:t>
            </a:r>
            <a:r>
              <a:rPr dirty="0" sz="1200" spc="-5">
                <a:latin typeface="Arial"/>
                <a:cs typeface="Arial"/>
              </a:rPr>
              <a:t>nature</a:t>
            </a:r>
            <a:endParaRPr sz="1200">
              <a:latin typeface="Arial"/>
              <a:cs typeface="Arial"/>
            </a:endParaRPr>
          </a:p>
          <a:p>
            <a:pPr lvl="1" marL="698500" indent="-229235">
              <a:lnSpc>
                <a:spcPts val="1380"/>
              </a:lnSpc>
              <a:buAutoNum type="arabicPeriod"/>
              <a:tabLst>
                <a:tab pos="699135" algn="l"/>
              </a:tabLst>
            </a:pPr>
            <a:r>
              <a:rPr dirty="0" sz="1200">
                <a:latin typeface="Arial"/>
                <a:cs typeface="Arial"/>
              </a:rPr>
              <a:t>It </a:t>
            </a:r>
            <a:r>
              <a:rPr dirty="0" sz="1200" spc="-5">
                <a:latin typeface="Arial"/>
                <a:cs typeface="Arial"/>
              </a:rPr>
              <a:t>must not </a:t>
            </a:r>
            <a:r>
              <a:rPr dirty="0" sz="1200" spc="-10">
                <a:latin typeface="Arial"/>
                <a:cs typeface="Arial"/>
              </a:rPr>
              <a:t>give </a:t>
            </a:r>
            <a:r>
              <a:rPr dirty="0" sz="1200">
                <a:latin typeface="Arial"/>
                <a:cs typeface="Arial"/>
              </a:rPr>
              <a:t>precise </a:t>
            </a:r>
            <a:r>
              <a:rPr dirty="0" sz="1200" spc="-5">
                <a:latin typeface="Arial"/>
                <a:cs typeface="Arial"/>
              </a:rPr>
              <a:t>time, date, </a:t>
            </a:r>
            <a:r>
              <a:rPr dirty="0" sz="1200" spc="-10">
                <a:latin typeface="Arial"/>
                <a:cs typeface="Arial"/>
              </a:rPr>
              <a:t>day, </a:t>
            </a:r>
            <a:r>
              <a:rPr dirty="0" sz="1200" spc="-5">
                <a:latin typeface="Arial"/>
                <a:cs typeface="Arial"/>
              </a:rPr>
              <a:t>year of the day of</a:t>
            </a:r>
            <a:r>
              <a:rPr dirty="0" sz="1200" spc="80">
                <a:latin typeface="Arial"/>
                <a:cs typeface="Arial"/>
              </a:rPr>
              <a:t> </a:t>
            </a:r>
            <a:r>
              <a:rPr dirty="0" sz="1200" spc="-5">
                <a:latin typeface="Arial"/>
                <a:cs typeface="Arial"/>
              </a:rPr>
              <a:t>judgement</a:t>
            </a:r>
            <a:endParaRPr sz="1200">
              <a:latin typeface="Arial"/>
              <a:cs typeface="Arial"/>
            </a:endParaRPr>
          </a:p>
          <a:p>
            <a:pPr lvl="1" marL="698500" indent="-229235">
              <a:lnSpc>
                <a:spcPts val="1410"/>
              </a:lnSpc>
              <a:buAutoNum type="arabicPeriod"/>
              <a:tabLst>
                <a:tab pos="699135" algn="l"/>
              </a:tabLst>
            </a:pPr>
            <a:r>
              <a:rPr dirty="0" sz="1200">
                <a:latin typeface="Arial"/>
                <a:cs typeface="Arial"/>
              </a:rPr>
              <a:t>It </a:t>
            </a:r>
            <a:r>
              <a:rPr dirty="0" sz="1200" spc="-5">
                <a:latin typeface="Arial"/>
                <a:cs typeface="Arial"/>
              </a:rPr>
              <a:t>must not include rough</a:t>
            </a:r>
            <a:r>
              <a:rPr dirty="0" sz="1200" spc="-10">
                <a:latin typeface="Arial"/>
                <a:cs typeface="Arial"/>
              </a:rPr>
              <a:t> </a:t>
            </a:r>
            <a:r>
              <a:rPr dirty="0" sz="1200" spc="-5">
                <a:latin typeface="Arial"/>
                <a:cs typeface="Arial"/>
              </a:rPr>
              <a:t>words.</a:t>
            </a:r>
            <a:endParaRPr sz="1200">
              <a:latin typeface="Arial"/>
              <a:cs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6309995" cy="2487295"/>
          </a:xfrm>
          <a:prstGeom prst="rect">
            <a:avLst/>
          </a:prstGeom>
        </p:spPr>
        <p:txBody>
          <a:bodyPr wrap="square" lIns="0" tIns="12700" rIns="0" bIns="0" rtlCol="0" vert="horz">
            <a:spAutoFit/>
          </a:bodyPr>
          <a:lstStyle/>
          <a:p>
            <a:pPr marL="12700">
              <a:lnSpc>
                <a:spcPct val="100000"/>
              </a:lnSpc>
              <a:spcBef>
                <a:spcPts val="100"/>
              </a:spcBef>
            </a:pPr>
            <a:r>
              <a:rPr dirty="0" u="heavy" sz="1200" b="1" i="1">
                <a:uFill>
                  <a:solidFill>
                    <a:srgbClr val="000000"/>
                  </a:solidFill>
                </a:uFill>
                <a:latin typeface="Arial"/>
                <a:cs typeface="Arial"/>
              </a:rPr>
              <a:t>Types of</a:t>
            </a:r>
            <a:r>
              <a:rPr dirty="0" u="heavy" sz="1200" spc="-5" b="1" i="1">
                <a:uFill>
                  <a:solidFill>
                    <a:srgbClr val="000000"/>
                  </a:solidFill>
                </a:uFill>
                <a:latin typeface="Arial"/>
                <a:cs typeface="Arial"/>
              </a:rPr>
              <a:t> Hadith</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There are 4 </a:t>
            </a:r>
            <a:r>
              <a:rPr dirty="0" u="heavy" sz="1200" b="1" i="1">
                <a:uFill>
                  <a:solidFill>
                    <a:srgbClr val="000000"/>
                  </a:solidFill>
                </a:uFill>
                <a:latin typeface="Arial"/>
                <a:cs typeface="Arial"/>
              </a:rPr>
              <a:t>types of </a:t>
            </a:r>
            <a:r>
              <a:rPr dirty="0" u="heavy" sz="1200" spc="-5" b="1" i="1">
                <a:uFill>
                  <a:solidFill>
                    <a:srgbClr val="000000"/>
                  </a:solidFill>
                </a:uFill>
                <a:latin typeface="Arial"/>
                <a:cs typeface="Arial"/>
              </a:rPr>
              <a:t>Hadith,</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namely:</a:t>
            </a:r>
            <a:endParaRPr sz="1200">
              <a:latin typeface="Arial"/>
              <a:cs typeface="Arial"/>
            </a:endParaRPr>
          </a:p>
          <a:p>
            <a:pPr>
              <a:lnSpc>
                <a:spcPct val="100000"/>
              </a:lnSpc>
              <a:spcBef>
                <a:spcPts val="55"/>
              </a:spcBef>
            </a:pPr>
            <a:endParaRPr sz="1100">
              <a:latin typeface="Arial"/>
              <a:cs typeface="Arial"/>
            </a:endParaRPr>
          </a:p>
          <a:p>
            <a:pPr algn="just" marL="469900" indent="-229235">
              <a:lnSpc>
                <a:spcPts val="1410"/>
              </a:lnSpc>
              <a:buAutoNum type="arabicPeriod"/>
              <a:tabLst>
                <a:tab pos="470534" algn="l"/>
              </a:tabLst>
            </a:pPr>
            <a:r>
              <a:rPr dirty="0" sz="1200" spc="-5">
                <a:latin typeface="Arial"/>
                <a:cs typeface="Arial"/>
              </a:rPr>
              <a:t>Swahih</a:t>
            </a:r>
            <a:endParaRPr sz="1200">
              <a:latin typeface="Arial"/>
              <a:cs typeface="Arial"/>
            </a:endParaRPr>
          </a:p>
          <a:p>
            <a:pPr algn="just" lvl="1" marL="927100" marR="6350" indent="-228600">
              <a:lnSpc>
                <a:spcPts val="1380"/>
              </a:lnSpc>
              <a:spcBef>
                <a:spcPts val="65"/>
              </a:spcBef>
              <a:buAutoNum type="alphaLcPeriod" startAt="5"/>
              <a:tabLst>
                <a:tab pos="927735" algn="l"/>
              </a:tabLst>
            </a:pPr>
            <a:r>
              <a:rPr dirty="0" sz="1200" spc="-5">
                <a:latin typeface="Arial"/>
                <a:cs typeface="Arial"/>
              </a:rPr>
              <a:t>Swahih li dhaatihi is a </a:t>
            </a:r>
            <a:r>
              <a:rPr dirty="0" sz="1200">
                <a:latin typeface="Arial"/>
                <a:cs typeface="Arial"/>
              </a:rPr>
              <a:t>Hadith </a:t>
            </a:r>
            <a:r>
              <a:rPr dirty="0" sz="1200" spc="-5">
                <a:latin typeface="Arial"/>
                <a:cs typeface="Arial"/>
              </a:rPr>
              <a:t>whose chain of narrators is unbroken, every  narrator is reliable </a:t>
            </a:r>
            <a:r>
              <a:rPr dirty="0" sz="1200" spc="-50">
                <a:latin typeface="Arial"/>
                <a:cs typeface="Arial"/>
              </a:rPr>
              <a:t>(‗aadil), </a:t>
            </a:r>
            <a:r>
              <a:rPr dirty="0" sz="1200" spc="-5">
                <a:latin typeface="Arial"/>
                <a:cs typeface="Arial"/>
              </a:rPr>
              <a:t>well-known </a:t>
            </a:r>
            <a:r>
              <a:rPr dirty="0" sz="1200">
                <a:latin typeface="Arial"/>
                <a:cs typeface="Arial"/>
              </a:rPr>
              <a:t>for </a:t>
            </a:r>
            <a:r>
              <a:rPr dirty="0" sz="1200" spc="-5">
                <a:latin typeface="Arial"/>
                <a:cs typeface="Arial"/>
              </a:rPr>
              <a:t>memorization and preservation (dabt)  of the</a:t>
            </a:r>
            <a:r>
              <a:rPr dirty="0" sz="1200" spc="10">
                <a:latin typeface="Arial"/>
                <a:cs typeface="Arial"/>
              </a:rPr>
              <a:t> </a:t>
            </a:r>
            <a:r>
              <a:rPr dirty="0" sz="1200" spc="-5">
                <a:latin typeface="Arial"/>
                <a:cs typeface="Arial"/>
              </a:rPr>
              <a:t>hadith</a:t>
            </a:r>
            <a:endParaRPr sz="1200">
              <a:latin typeface="Arial"/>
              <a:cs typeface="Arial"/>
            </a:endParaRPr>
          </a:p>
          <a:p>
            <a:pPr algn="just" lvl="1" marL="927100" marR="5080" indent="-228600">
              <a:lnSpc>
                <a:spcPts val="1380"/>
              </a:lnSpc>
              <a:buAutoNum type="alphaLcPeriod" startAt="5"/>
              <a:tabLst>
                <a:tab pos="927735" algn="l"/>
              </a:tabLst>
            </a:pPr>
            <a:r>
              <a:rPr dirty="0" sz="1200" spc="15">
                <a:latin typeface="Arial"/>
                <a:cs typeface="Arial"/>
              </a:rPr>
              <a:t>We </a:t>
            </a:r>
            <a:r>
              <a:rPr dirty="0" sz="1200" spc="-10">
                <a:latin typeface="Arial"/>
                <a:cs typeface="Arial"/>
              </a:rPr>
              <a:t>have </a:t>
            </a:r>
            <a:r>
              <a:rPr dirty="0" sz="1200" spc="-5">
                <a:latin typeface="Arial"/>
                <a:cs typeface="Arial"/>
              </a:rPr>
              <a:t>also Swahih li ghayrihi which is a hadith having </a:t>
            </a:r>
            <a:r>
              <a:rPr dirty="0" sz="1200">
                <a:latin typeface="Arial"/>
                <a:cs typeface="Arial"/>
              </a:rPr>
              <a:t>the </a:t>
            </a:r>
            <a:r>
              <a:rPr dirty="0" sz="1200" spc="-10">
                <a:latin typeface="Arial"/>
                <a:cs typeface="Arial"/>
              </a:rPr>
              <a:t>same </a:t>
            </a:r>
            <a:r>
              <a:rPr dirty="0" sz="1200" spc="-5">
                <a:latin typeface="Arial"/>
                <a:cs typeface="Arial"/>
              </a:rPr>
              <a:t>qualities as  </a:t>
            </a:r>
            <a:r>
              <a:rPr dirty="0" sz="1200">
                <a:latin typeface="Arial"/>
                <a:cs typeface="Arial"/>
              </a:rPr>
              <a:t>the </a:t>
            </a:r>
            <a:r>
              <a:rPr dirty="0" sz="1200" spc="-5">
                <a:latin typeface="Arial"/>
                <a:cs typeface="Arial"/>
              </a:rPr>
              <a:t>previous one except </a:t>
            </a:r>
            <a:r>
              <a:rPr dirty="0" sz="1200">
                <a:latin typeface="Arial"/>
                <a:cs typeface="Arial"/>
              </a:rPr>
              <a:t>for the </a:t>
            </a:r>
            <a:r>
              <a:rPr dirty="0" sz="1200" spc="-5">
                <a:latin typeface="Arial"/>
                <a:cs typeface="Arial"/>
              </a:rPr>
              <a:t>dabt of a narrator which </a:t>
            </a:r>
            <a:r>
              <a:rPr dirty="0" sz="1200">
                <a:latin typeface="Arial"/>
                <a:cs typeface="Arial"/>
              </a:rPr>
              <a:t>may </a:t>
            </a:r>
            <a:r>
              <a:rPr dirty="0" sz="1200" spc="-5">
                <a:latin typeface="Arial"/>
                <a:cs typeface="Arial"/>
              </a:rPr>
              <a:t>be slightly less  reliable but that is compensated </a:t>
            </a:r>
            <a:r>
              <a:rPr dirty="0" sz="1200">
                <a:latin typeface="Arial"/>
                <a:cs typeface="Arial"/>
              </a:rPr>
              <a:t>for </a:t>
            </a:r>
            <a:r>
              <a:rPr dirty="0" sz="1200" spc="-5">
                <a:latin typeface="Arial"/>
                <a:cs typeface="Arial"/>
              </a:rPr>
              <a:t>by </a:t>
            </a:r>
            <a:r>
              <a:rPr dirty="0" sz="1200">
                <a:latin typeface="Arial"/>
                <a:cs typeface="Arial"/>
              </a:rPr>
              <a:t>the fact </a:t>
            </a:r>
            <a:r>
              <a:rPr dirty="0" sz="1200" spc="-5">
                <a:latin typeface="Arial"/>
                <a:cs typeface="Arial"/>
              </a:rPr>
              <a:t>that the hadith is narrated from  </a:t>
            </a:r>
            <a:r>
              <a:rPr dirty="0" sz="1200">
                <a:latin typeface="Arial"/>
                <a:cs typeface="Arial"/>
              </a:rPr>
              <a:t>many </a:t>
            </a:r>
            <a:r>
              <a:rPr dirty="0" sz="1200" spc="-5">
                <a:latin typeface="Arial"/>
                <a:cs typeface="Arial"/>
              </a:rPr>
              <a:t>chains of people. [The word dabt refers </a:t>
            </a:r>
            <a:r>
              <a:rPr dirty="0" sz="1200">
                <a:latin typeface="Arial"/>
                <a:cs typeface="Arial"/>
              </a:rPr>
              <a:t>to </a:t>
            </a:r>
            <a:r>
              <a:rPr dirty="0" sz="1200" spc="-5">
                <a:latin typeface="Arial"/>
                <a:cs typeface="Arial"/>
              </a:rPr>
              <a:t>a narrator having a good </a:t>
            </a:r>
            <a:r>
              <a:rPr dirty="0" sz="1200" spc="-10">
                <a:latin typeface="Arial"/>
                <a:cs typeface="Arial"/>
              </a:rPr>
              <a:t>grasp  </a:t>
            </a:r>
            <a:r>
              <a:rPr dirty="0" sz="1200" spc="-5">
                <a:latin typeface="Arial"/>
                <a:cs typeface="Arial"/>
              </a:rPr>
              <a:t>of what </a:t>
            </a:r>
            <a:r>
              <a:rPr dirty="0" sz="1200" spc="-10">
                <a:latin typeface="Arial"/>
                <a:cs typeface="Arial"/>
              </a:rPr>
              <a:t>he </a:t>
            </a:r>
            <a:r>
              <a:rPr dirty="0" sz="1200" spc="-5">
                <a:latin typeface="Arial"/>
                <a:cs typeface="Arial"/>
              </a:rPr>
              <a:t>narrates </a:t>
            </a:r>
            <a:r>
              <a:rPr dirty="0" sz="1200">
                <a:latin typeface="Arial"/>
                <a:cs typeface="Arial"/>
              </a:rPr>
              <a:t>as </a:t>
            </a:r>
            <a:r>
              <a:rPr dirty="0" sz="1200" spc="-5">
                <a:latin typeface="Arial"/>
                <a:cs typeface="Arial"/>
              </a:rPr>
              <a:t>well </a:t>
            </a:r>
            <a:r>
              <a:rPr dirty="0" sz="1200">
                <a:latin typeface="Arial"/>
                <a:cs typeface="Arial"/>
              </a:rPr>
              <a:t>as </a:t>
            </a:r>
            <a:r>
              <a:rPr dirty="0" sz="1200" spc="-5">
                <a:latin typeface="Arial"/>
                <a:cs typeface="Arial"/>
              </a:rPr>
              <a:t>a sound memory </a:t>
            </a:r>
            <a:r>
              <a:rPr dirty="0" sz="1200">
                <a:latin typeface="Arial"/>
                <a:cs typeface="Arial"/>
              </a:rPr>
              <a:t>and/or </a:t>
            </a:r>
            <a:r>
              <a:rPr dirty="0" sz="1200" spc="-5">
                <a:latin typeface="Arial"/>
                <a:cs typeface="Arial"/>
              </a:rPr>
              <a:t>carefully </a:t>
            </a:r>
            <a:r>
              <a:rPr dirty="0" sz="1200">
                <a:latin typeface="Arial"/>
                <a:cs typeface="Arial"/>
              </a:rPr>
              <a:t>kept</a:t>
            </a:r>
            <a:r>
              <a:rPr dirty="0" sz="1200" spc="50">
                <a:latin typeface="Arial"/>
                <a:cs typeface="Arial"/>
              </a:rPr>
              <a:t> </a:t>
            </a:r>
            <a:r>
              <a:rPr dirty="0" sz="1200" spc="-5">
                <a:latin typeface="Arial"/>
                <a:cs typeface="Arial"/>
              </a:rPr>
              <a:t>books.]</a:t>
            </a:r>
            <a:endParaRPr sz="1200">
              <a:latin typeface="Arial"/>
              <a:cs typeface="Arial"/>
            </a:endParaRPr>
          </a:p>
          <a:p>
            <a:pPr algn="just" marL="469900" indent="-229235">
              <a:lnSpc>
                <a:spcPts val="1345"/>
              </a:lnSpc>
              <a:buAutoNum type="arabicPeriod"/>
              <a:tabLst>
                <a:tab pos="470534" algn="l"/>
              </a:tabLst>
            </a:pPr>
            <a:r>
              <a:rPr dirty="0" sz="1200">
                <a:latin typeface="Arial"/>
                <a:cs typeface="Arial"/>
              </a:rPr>
              <a:t>Hasan</a:t>
            </a:r>
            <a:endParaRPr sz="1200">
              <a:latin typeface="Arial"/>
              <a:cs typeface="Arial"/>
            </a:endParaRP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10" name="object 10"/>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119</a:t>
            </a:r>
            <a:endParaRPr sz="1200">
              <a:latin typeface="Times New Roman"/>
              <a:cs typeface="Times New Roman"/>
            </a:endParaRPr>
          </a:p>
        </p:txBody>
      </p:sp>
      <p:sp>
        <p:nvSpPr>
          <p:cNvPr id="6" name="object 6"/>
          <p:cNvSpPr txBox="1"/>
          <p:nvPr/>
        </p:nvSpPr>
        <p:spPr>
          <a:xfrm>
            <a:off x="1246428" y="3779646"/>
            <a:ext cx="168910" cy="208279"/>
          </a:xfrm>
          <a:prstGeom prst="rect">
            <a:avLst/>
          </a:prstGeom>
        </p:spPr>
        <p:txBody>
          <a:bodyPr wrap="square" lIns="0" tIns="12700" rIns="0" bIns="0" rtlCol="0" vert="horz">
            <a:spAutoFit/>
          </a:bodyPr>
          <a:lstStyle/>
          <a:p>
            <a:pPr marL="12700">
              <a:lnSpc>
                <a:spcPct val="100000"/>
              </a:lnSpc>
              <a:spcBef>
                <a:spcPts val="100"/>
              </a:spcBef>
            </a:pPr>
            <a:r>
              <a:rPr dirty="0" sz="1200" spc="-10">
                <a:latin typeface="Arial"/>
                <a:cs typeface="Arial"/>
              </a:rPr>
              <a:t>iii</a:t>
            </a:r>
            <a:r>
              <a:rPr dirty="0" sz="1200">
                <a:latin typeface="Arial"/>
                <a:cs typeface="Arial"/>
              </a:rPr>
              <a:t>.</a:t>
            </a:r>
            <a:endParaRPr sz="1200">
              <a:latin typeface="Arial"/>
              <a:cs typeface="Arial"/>
            </a:endParaRPr>
          </a:p>
        </p:txBody>
      </p:sp>
      <p:sp>
        <p:nvSpPr>
          <p:cNvPr id="7" name="object 7"/>
          <p:cNvSpPr txBox="1"/>
          <p:nvPr/>
        </p:nvSpPr>
        <p:spPr>
          <a:xfrm>
            <a:off x="1281430" y="3253867"/>
            <a:ext cx="5742940" cy="1084580"/>
          </a:xfrm>
          <a:prstGeom prst="rect">
            <a:avLst/>
          </a:prstGeom>
        </p:spPr>
        <p:txBody>
          <a:bodyPr wrap="square" lIns="0" tIns="24765" rIns="0" bIns="0" rtlCol="0" vert="horz">
            <a:spAutoFit/>
          </a:bodyPr>
          <a:lstStyle/>
          <a:p>
            <a:pPr algn="just" marL="350520" marR="5715" indent="-338455">
              <a:lnSpc>
                <a:spcPts val="1380"/>
              </a:lnSpc>
              <a:spcBef>
                <a:spcPts val="195"/>
              </a:spcBef>
            </a:pPr>
            <a:r>
              <a:rPr dirty="0" sz="1200" spc="-5">
                <a:latin typeface="Arial"/>
                <a:cs typeface="Arial"/>
              </a:rPr>
              <a:t>ii. </a:t>
            </a:r>
            <a:r>
              <a:rPr dirty="0" sz="1200">
                <a:latin typeface="Arial"/>
                <a:cs typeface="Arial"/>
              </a:rPr>
              <a:t>Hasan </a:t>
            </a:r>
            <a:r>
              <a:rPr dirty="0" sz="1200" spc="-5">
                <a:latin typeface="Arial"/>
                <a:cs typeface="Arial"/>
              </a:rPr>
              <a:t>li dhaatihi is a hadith which has </a:t>
            </a:r>
            <a:r>
              <a:rPr dirty="0" sz="1200">
                <a:latin typeface="Arial"/>
                <a:cs typeface="Arial"/>
              </a:rPr>
              <a:t>the </a:t>
            </a:r>
            <a:r>
              <a:rPr dirty="0" sz="1200" spc="-5">
                <a:latin typeface="Arial"/>
                <a:cs typeface="Arial"/>
              </a:rPr>
              <a:t>qualities of Swahih except that the  dabt is not as reliable and </a:t>
            </a:r>
            <a:r>
              <a:rPr dirty="0" sz="1200">
                <a:latin typeface="Arial"/>
                <a:cs typeface="Arial"/>
              </a:rPr>
              <a:t>there </a:t>
            </a:r>
            <a:r>
              <a:rPr dirty="0" sz="1200" spc="-5">
                <a:latin typeface="Arial"/>
                <a:cs typeface="Arial"/>
              </a:rPr>
              <a:t>are not enough other chains of narrations </a:t>
            </a:r>
            <a:r>
              <a:rPr dirty="0" sz="1200">
                <a:latin typeface="Arial"/>
                <a:cs typeface="Arial"/>
              </a:rPr>
              <a:t>to  </a:t>
            </a:r>
            <a:r>
              <a:rPr dirty="0" sz="1200" spc="-5">
                <a:latin typeface="Arial"/>
                <a:cs typeface="Arial"/>
              </a:rPr>
              <a:t>raise </a:t>
            </a:r>
            <a:r>
              <a:rPr dirty="0" sz="1200">
                <a:latin typeface="Arial"/>
                <a:cs typeface="Arial"/>
              </a:rPr>
              <a:t>it to the </a:t>
            </a:r>
            <a:r>
              <a:rPr dirty="0" sz="1200" spc="-5">
                <a:latin typeface="Arial"/>
                <a:cs typeface="Arial"/>
              </a:rPr>
              <a:t>status of Swahih li</a:t>
            </a:r>
            <a:r>
              <a:rPr dirty="0" sz="1200" spc="-15">
                <a:latin typeface="Arial"/>
                <a:cs typeface="Arial"/>
              </a:rPr>
              <a:t> </a:t>
            </a:r>
            <a:r>
              <a:rPr dirty="0" sz="1200" spc="-5">
                <a:latin typeface="Arial"/>
                <a:cs typeface="Arial"/>
              </a:rPr>
              <a:t>ghayrihi.</a:t>
            </a:r>
            <a:endParaRPr sz="1200">
              <a:latin typeface="Arial"/>
              <a:cs typeface="Arial"/>
            </a:endParaRPr>
          </a:p>
          <a:p>
            <a:pPr algn="just" marL="350520" marR="5080">
              <a:lnSpc>
                <a:spcPts val="1380"/>
              </a:lnSpc>
            </a:pPr>
            <a:r>
              <a:rPr dirty="0" sz="1200" spc="-5">
                <a:latin typeface="Arial"/>
                <a:cs typeface="Arial"/>
              </a:rPr>
              <a:t>Hasan li ghayrihi is a hadith which is lacking in more than one quality required  </a:t>
            </a:r>
            <a:r>
              <a:rPr dirty="0" sz="1200">
                <a:latin typeface="Arial"/>
                <a:cs typeface="Arial"/>
              </a:rPr>
              <a:t>for the </a:t>
            </a:r>
            <a:r>
              <a:rPr dirty="0" sz="1200" spc="-5">
                <a:latin typeface="Arial"/>
                <a:cs typeface="Arial"/>
              </a:rPr>
              <a:t>Swahih but </a:t>
            </a:r>
            <a:r>
              <a:rPr dirty="0" sz="1200">
                <a:latin typeface="Arial"/>
                <a:cs typeface="Arial"/>
              </a:rPr>
              <a:t>this </a:t>
            </a:r>
            <a:r>
              <a:rPr dirty="0" sz="1200" spc="-5">
                <a:latin typeface="Arial"/>
                <a:cs typeface="Arial"/>
              </a:rPr>
              <a:t>lack is again compensated </a:t>
            </a:r>
            <a:r>
              <a:rPr dirty="0" sz="1200">
                <a:latin typeface="Arial"/>
                <a:cs typeface="Arial"/>
              </a:rPr>
              <a:t>for </a:t>
            </a:r>
            <a:r>
              <a:rPr dirty="0" sz="1200" spc="-5">
                <a:latin typeface="Arial"/>
                <a:cs typeface="Arial"/>
              </a:rPr>
              <a:t>by </a:t>
            </a:r>
            <a:r>
              <a:rPr dirty="0" sz="1200">
                <a:latin typeface="Arial"/>
                <a:cs typeface="Arial"/>
              </a:rPr>
              <a:t>the </a:t>
            </a:r>
            <a:r>
              <a:rPr dirty="0" sz="1200" spc="-5">
                <a:latin typeface="Arial"/>
                <a:cs typeface="Arial"/>
              </a:rPr>
              <a:t>presence of other  chains of transmission of the same</a:t>
            </a:r>
            <a:r>
              <a:rPr dirty="0" sz="1200" spc="15">
                <a:latin typeface="Arial"/>
                <a:cs typeface="Arial"/>
              </a:rPr>
              <a:t> </a:t>
            </a:r>
            <a:r>
              <a:rPr dirty="0" sz="1200" spc="-5">
                <a:latin typeface="Arial"/>
                <a:cs typeface="Arial"/>
              </a:rPr>
              <a:t>hadith</a:t>
            </a:r>
            <a:endParaRPr sz="1200">
              <a:latin typeface="Arial"/>
              <a:cs typeface="Arial"/>
            </a:endParaRPr>
          </a:p>
        </p:txBody>
      </p:sp>
      <p:sp>
        <p:nvSpPr>
          <p:cNvPr id="8" name="object 8"/>
          <p:cNvSpPr txBox="1"/>
          <p:nvPr/>
        </p:nvSpPr>
        <p:spPr>
          <a:xfrm>
            <a:off x="718819" y="4305426"/>
            <a:ext cx="6311265" cy="5448935"/>
          </a:xfrm>
          <a:prstGeom prst="rect">
            <a:avLst/>
          </a:prstGeom>
        </p:spPr>
        <p:txBody>
          <a:bodyPr wrap="square" lIns="0" tIns="24765" rIns="0" bIns="0" rtlCol="0" vert="horz">
            <a:spAutoFit/>
          </a:bodyPr>
          <a:lstStyle/>
          <a:p>
            <a:pPr marL="469900" marR="6985" indent="-228600">
              <a:lnSpc>
                <a:spcPts val="1380"/>
              </a:lnSpc>
              <a:spcBef>
                <a:spcPts val="195"/>
              </a:spcBef>
              <a:buAutoNum type="arabicPeriod" startAt="3"/>
              <a:tabLst>
                <a:tab pos="470534" algn="l"/>
              </a:tabLst>
            </a:pPr>
            <a:r>
              <a:rPr dirty="0" sz="1200" spc="-5">
                <a:latin typeface="Arial"/>
                <a:cs typeface="Arial"/>
              </a:rPr>
              <a:t>Dwa‘if: </a:t>
            </a:r>
            <a:r>
              <a:rPr dirty="0" sz="1200">
                <a:latin typeface="Arial"/>
                <a:cs typeface="Arial"/>
              </a:rPr>
              <a:t>It </a:t>
            </a:r>
            <a:r>
              <a:rPr dirty="0" sz="1200" spc="-5">
                <a:latin typeface="Arial"/>
                <a:cs typeface="Arial"/>
              </a:rPr>
              <a:t>is a hadith which is lacking </a:t>
            </a:r>
            <a:r>
              <a:rPr dirty="0" sz="1200">
                <a:latin typeface="Arial"/>
                <a:cs typeface="Arial"/>
              </a:rPr>
              <a:t>more than </a:t>
            </a:r>
            <a:r>
              <a:rPr dirty="0" sz="1200" spc="-5">
                <a:latin typeface="Arial"/>
                <a:cs typeface="Arial"/>
              </a:rPr>
              <a:t>one of the qualities of Swahih </a:t>
            </a:r>
            <a:r>
              <a:rPr dirty="0" sz="1200" spc="-10">
                <a:latin typeface="Arial"/>
                <a:cs typeface="Arial"/>
              </a:rPr>
              <a:t>and  </a:t>
            </a:r>
            <a:r>
              <a:rPr dirty="0" sz="1200">
                <a:latin typeface="Arial"/>
                <a:cs typeface="Arial"/>
              </a:rPr>
              <a:t>there </a:t>
            </a:r>
            <a:r>
              <a:rPr dirty="0" sz="1200" spc="-5">
                <a:latin typeface="Arial"/>
                <a:cs typeface="Arial"/>
              </a:rPr>
              <a:t>are not enough alternate chains </a:t>
            </a:r>
            <a:r>
              <a:rPr dirty="0" sz="1200">
                <a:latin typeface="Arial"/>
                <a:cs typeface="Arial"/>
              </a:rPr>
              <a:t>to </a:t>
            </a:r>
            <a:r>
              <a:rPr dirty="0" sz="1200" spc="-5">
                <a:latin typeface="Arial"/>
                <a:cs typeface="Arial"/>
              </a:rPr>
              <a:t>raise </a:t>
            </a:r>
            <a:r>
              <a:rPr dirty="0" sz="1200">
                <a:latin typeface="Arial"/>
                <a:cs typeface="Arial"/>
              </a:rPr>
              <a:t>its </a:t>
            </a:r>
            <a:r>
              <a:rPr dirty="0" sz="1200" spc="-5">
                <a:latin typeface="Arial"/>
                <a:cs typeface="Arial"/>
              </a:rPr>
              <a:t>status </a:t>
            </a:r>
            <a:r>
              <a:rPr dirty="0" sz="1200">
                <a:latin typeface="Arial"/>
                <a:cs typeface="Arial"/>
              </a:rPr>
              <a:t>to</a:t>
            </a:r>
            <a:r>
              <a:rPr dirty="0" sz="1200" spc="-10">
                <a:latin typeface="Arial"/>
                <a:cs typeface="Arial"/>
              </a:rPr>
              <a:t> </a:t>
            </a:r>
            <a:r>
              <a:rPr dirty="0" sz="1200" spc="-5">
                <a:latin typeface="Arial"/>
                <a:cs typeface="Arial"/>
              </a:rPr>
              <a:t>Hasan</a:t>
            </a:r>
            <a:endParaRPr sz="1200">
              <a:latin typeface="Arial"/>
              <a:cs typeface="Arial"/>
            </a:endParaRPr>
          </a:p>
          <a:p>
            <a:pPr marL="469900" indent="-229235">
              <a:lnSpc>
                <a:spcPts val="1315"/>
              </a:lnSpc>
              <a:buAutoNum type="arabicPeriod" startAt="3"/>
              <a:tabLst>
                <a:tab pos="470534" algn="l"/>
              </a:tabLst>
            </a:pPr>
            <a:r>
              <a:rPr dirty="0" sz="1200" spc="-5">
                <a:latin typeface="Arial"/>
                <a:cs typeface="Arial"/>
              </a:rPr>
              <a:t>Matrook and</a:t>
            </a:r>
            <a:r>
              <a:rPr dirty="0" sz="1200">
                <a:latin typeface="Arial"/>
                <a:cs typeface="Arial"/>
              </a:rPr>
              <a:t> </a:t>
            </a:r>
            <a:r>
              <a:rPr dirty="0" sz="1200" spc="-5">
                <a:latin typeface="Arial"/>
                <a:cs typeface="Arial"/>
              </a:rPr>
              <a:t>Mawdu‘</a:t>
            </a:r>
            <a:endParaRPr sz="1200">
              <a:latin typeface="Arial"/>
              <a:cs typeface="Arial"/>
            </a:endParaRPr>
          </a:p>
          <a:p>
            <a:pPr lvl="1" marL="913130" indent="-229235">
              <a:lnSpc>
                <a:spcPts val="1380"/>
              </a:lnSpc>
              <a:buAutoNum type="alphaLcPeriod"/>
              <a:tabLst>
                <a:tab pos="913765" algn="l"/>
              </a:tabLst>
            </a:pPr>
            <a:r>
              <a:rPr dirty="0" sz="1200" spc="-5">
                <a:latin typeface="Arial"/>
                <a:cs typeface="Arial"/>
              </a:rPr>
              <a:t>Matrook is a hadith in whose </a:t>
            </a:r>
            <a:r>
              <a:rPr dirty="0" sz="1200">
                <a:latin typeface="Arial"/>
                <a:cs typeface="Arial"/>
              </a:rPr>
              <a:t>chain </a:t>
            </a:r>
            <a:r>
              <a:rPr dirty="0" sz="1200" spc="-5">
                <a:latin typeface="Arial"/>
                <a:cs typeface="Arial"/>
              </a:rPr>
              <a:t>is a </a:t>
            </a:r>
            <a:r>
              <a:rPr dirty="0" sz="1200">
                <a:latin typeface="Arial"/>
                <a:cs typeface="Arial"/>
              </a:rPr>
              <a:t>narrator </a:t>
            </a:r>
            <a:r>
              <a:rPr dirty="0" sz="1200" spc="-5">
                <a:latin typeface="Arial"/>
                <a:cs typeface="Arial"/>
              </a:rPr>
              <a:t>known </a:t>
            </a:r>
            <a:r>
              <a:rPr dirty="0" sz="1200">
                <a:latin typeface="Arial"/>
                <a:cs typeface="Arial"/>
              </a:rPr>
              <a:t>for </a:t>
            </a:r>
            <a:r>
              <a:rPr dirty="0" sz="1200" spc="-5">
                <a:latin typeface="Arial"/>
                <a:cs typeface="Arial"/>
              </a:rPr>
              <a:t>being a</a:t>
            </a:r>
            <a:r>
              <a:rPr dirty="0" sz="1200" spc="10">
                <a:latin typeface="Arial"/>
                <a:cs typeface="Arial"/>
              </a:rPr>
              <a:t> </a:t>
            </a:r>
            <a:r>
              <a:rPr dirty="0" sz="1200" spc="-5">
                <a:latin typeface="Arial"/>
                <a:cs typeface="Arial"/>
              </a:rPr>
              <a:t>Liar</a:t>
            </a:r>
            <a:endParaRPr sz="1200">
              <a:latin typeface="Arial"/>
              <a:cs typeface="Arial"/>
            </a:endParaRPr>
          </a:p>
          <a:p>
            <a:pPr lvl="1" marL="913130" marR="5080" indent="-228600">
              <a:lnSpc>
                <a:spcPts val="1380"/>
              </a:lnSpc>
              <a:spcBef>
                <a:spcPts val="65"/>
              </a:spcBef>
              <a:buAutoNum type="alphaLcPeriod"/>
              <a:tabLst>
                <a:tab pos="913765" algn="l"/>
              </a:tabLst>
            </a:pPr>
            <a:r>
              <a:rPr dirty="0" sz="1200" spc="-5">
                <a:latin typeface="Arial"/>
                <a:cs typeface="Arial"/>
              </a:rPr>
              <a:t>Mawdu‘ is </a:t>
            </a:r>
            <a:r>
              <a:rPr dirty="0" sz="1200">
                <a:latin typeface="Arial"/>
                <a:cs typeface="Arial"/>
              </a:rPr>
              <a:t>a </a:t>
            </a:r>
            <a:r>
              <a:rPr dirty="0" sz="1200" spc="-5">
                <a:latin typeface="Arial"/>
                <a:cs typeface="Arial"/>
              </a:rPr>
              <a:t>hadith in whose </a:t>
            </a:r>
            <a:r>
              <a:rPr dirty="0" sz="1200">
                <a:latin typeface="Arial"/>
                <a:cs typeface="Arial"/>
              </a:rPr>
              <a:t>chain </a:t>
            </a:r>
            <a:r>
              <a:rPr dirty="0" sz="1200" spc="-5">
                <a:latin typeface="Arial"/>
                <a:cs typeface="Arial"/>
              </a:rPr>
              <a:t>is </a:t>
            </a:r>
            <a:r>
              <a:rPr dirty="0" sz="1200">
                <a:latin typeface="Arial"/>
                <a:cs typeface="Arial"/>
              </a:rPr>
              <a:t>a </a:t>
            </a:r>
            <a:r>
              <a:rPr dirty="0" sz="1200" spc="-5">
                <a:latin typeface="Arial"/>
                <a:cs typeface="Arial"/>
              </a:rPr>
              <a:t>narrator upon whom it is </a:t>
            </a:r>
            <a:r>
              <a:rPr dirty="0" sz="1200">
                <a:latin typeface="Arial"/>
                <a:cs typeface="Arial"/>
              </a:rPr>
              <a:t>established </a:t>
            </a:r>
            <a:r>
              <a:rPr dirty="0" sz="1200" spc="-5">
                <a:latin typeface="Arial"/>
                <a:cs typeface="Arial"/>
              </a:rPr>
              <a:t>that  he fabricated</a:t>
            </a:r>
            <a:r>
              <a:rPr dirty="0" sz="1200" spc="-10">
                <a:latin typeface="Arial"/>
                <a:cs typeface="Arial"/>
              </a:rPr>
              <a:t> </a:t>
            </a:r>
            <a:r>
              <a:rPr dirty="0" sz="1200" spc="-5">
                <a:latin typeface="Arial"/>
                <a:cs typeface="Arial"/>
              </a:rPr>
              <a:t>hadith.</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Importance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Hadith</a:t>
            </a:r>
            <a:endParaRPr sz="1200">
              <a:latin typeface="Arial"/>
              <a:cs typeface="Arial"/>
            </a:endParaRPr>
          </a:p>
          <a:p>
            <a:pPr>
              <a:lnSpc>
                <a:spcPct val="100000"/>
              </a:lnSpc>
              <a:spcBef>
                <a:spcPts val="35"/>
              </a:spcBef>
            </a:pPr>
            <a:endParaRPr sz="1200">
              <a:latin typeface="Arial"/>
              <a:cs typeface="Arial"/>
            </a:endParaRPr>
          </a:p>
          <a:p>
            <a:pPr marL="12700" marR="10160">
              <a:lnSpc>
                <a:spcPts val="1380"/>
              </a:lnSpc>
              <a:spcBef>
                <a:spcPts val="5"/>
              </a:spcBef>
            </a:pPr>
            <a:r>
              <a:rPr dirty="0" u="heavy" sz="1200" b="1" i="1">
                <a:uFill>
                  <a:solidFill>
                    <a:srgbClr val="000000"/>
                  </a:solidFill>
                </a:uFill>
                <a:latin typeface="Arial"/>
                <a:cs typeface="Arial"/>
              </a:rPr>
              <a:t>In </a:t>
            </a:r>
            <a:r>
              <a:rPr dirty="0" u="heavy" sz="1200" spc="-5" b="1" i="1">
                <a:uFill>
                  <a:solidFill>
                    <a:srgbClr val="000000"/>
                  </a:solidFill>
                </a:uFill>
                <a:latin typeface="Arial"/>
                <a:cs typeface="Arial"/>
              </a:rPr>
              <a:t>many different ways Hadith is important both for the </a:t>
            </a:r>
            <a:r>
              <a:rPr dirty="0" u="heavy" sz="1200" b="1" i="1">
                <a:uFill>
                  <a:solidFill>
                    <a:srgbClr val="000000"/>
                  </a:solidFill>
                </a:uFill>
                <a:latin typeface="Arial"/>
                <a:cs typeface="Arial"/>
              </a:rPr>
              <a:t>individual </a:t>
            </a:r>
            <a:r>
              <a:rPr dirty="0" u="heavy" sz="1200" spc="-5" b="1" i="1">
                <a:uFill>
                  <a:solidFill>
                    <a:srgbClr val="000000"/>
                  </a:solidFill>
                </a:uFill>
                <a:latin typeface="Arial"/>
                <a:cs typeface="Arial"/>
              </a:rPr>
              <a:t>Muslim and </a:t>
            </a:r>
            <a:r>
              <a:rPr dirty="0" u="heavy" sz="1200" spc="-10" b="1" i="1">
                <a:uFill>
                  <a:solidFill>
                    <a:srgbClr val="000000"/>
                  </a:solidFill>
                </a:uFill>
                <a:latin typeface="Arial"/>
                <a:cs typeface="Arial"/>
              </a:rPr>
              <a:t>the </a:t>
            </a:r>
            <a:r>
              <a:rPr dirty="0" sz="1200" spc="-10" b="1" i="1">
                <a:latin typeface="Arial"/>
                <a:cs typeface="Arial"/>
              </a:rPr>
              <a:t> </a:t>
            </a:r>
            <a:r>
              <a:rPr dirty="0" u="heavy" sz="1200" spc="-5" b="1" i="1">
                <a:uFill>
                  <a:solidFill>
                    <a:srgbClr val="000000"/>
                  </a:solidFill>
                </a:uFill>
                <a:latin typeface="Arial"/>
                <a:cs typeface="Arial"/>
              </a:rPr>
              <a:t>Ummah.</a:t>
            </a:r>
            <a:endParaRPr sz="1200">
              <a:latin typeface="Arial"/>
              <a:cs typeface="Arial"/>
            </a:endParaRPr>
          </a:p>
          <a:p>
            <a:pPr>
              <a:lnSpc>
                <a:spcPct val="100000"/>
              </a:lnSpc>
              <a:spcBef>
                <a:spcPts val="15"/>
              </a:spcBef>
            </a:pPr>
            <a:endParaRPr sz="1100">
              <a:latin typeface="Arial"/>
              <a:cs typeface="Arial"/>
            </a:endParaRPr>
          </a:p>
          <a:p>
            <a:pPr marL="413384" indent="-172720">
              <a:lnSpc>
                <a:spcPts val="1410"/>
              </a:lnSpc>
              <a:buAutoNum type="arabicPeriod"/>
              <a:tabLst>
                <a:tab pos="414020" algn="l"/>
              </a:tabLst>
            </a:pPr>
            <a:r>
              <a:rPr dirty="0" sz="1200">
                <a:latin typeface="Arial"/>
                <a:cs typeface="Arial"/>
              </a:rPr>
              <a:t>It </a:t>
            </a:r>
            <a:r>
              <a:rPr dirty="0" sz="1200" spc="-5">
                <a:latin typeface="Arial"/>
                <a:cs typeface="Arial"/>
              </a:rPr>
              <a:t>is a personal Code of</a:t>
            </a:r>
            <a:r>
              <a:rPr dirty="0" sz="1200" spc="20">
                <a:latin typeface="Arial"/>
                <a:cs typeface="Arial"/>
              </a:rPr>
              <a:t> </a:t>
            </a:r>
            <a:r>
              <a:rPr dirty="0" sz="1200" spc="-5">
                <a:latin typeface="Arial"/>
                <a:cs typeface="Arial"/>
              </a:rPr>
              <a:t>Conduct</a:t>
            </a:r>
            <a:endParaRPr sz="1200">
              <a:latin typeface="Arial"/>
              <a:cs typeface="Arial"/>
            </a:endParaRPr>
          </a:p>
          <a:p>
            <a:pPr marL="413384" indent="-172720">
              <a:lnSpc>
                <a:spcPts val="1380"/>
              </a:lnSpc>
              <a:buAutoNum type="arabicPeriod"/>
              <a:tabLst>
                <a:tab pos="414020" algn="l"/>
              </a:tabLst>
            </a:pPr>
            <a:r>
              <a:rPr dirty="0" sz="1200">
                <a:latin typeface="Arial"/>
                <a:cs typeface="Arial"/>
              </a:rPr>
              <a:t>It </a:t>
            </a:r>
            <a:r>
              <a:rPr dirty="0" sz="1200" spc="-5">
                <a:latin typeface="Arial"/>
                <a:cs typeface="Arial"/>
              </a:rPr>
              <a:t>forms part of the</a:t>
            </a:r>
            <a:r>
              <a:rPr dirty="0" sz="1200">
                <a:latin typeface="Arial"/>
                <a:cs typeface="Arial"/>
              </a:rPr>
              <a:t> </a:t>
            </a:r>
            <a:r>
              <a:rPr dirty="0" sz="1200" spc="-10">
                <a:latin typeface="Arial"/>
                <a:cs typeface="Arial"/>
              </a:rPr>
              <a:t>Shari‘ah</a:t>
            </a:r>
            <a:endParaRPr sz="1200">
              <a:latin typeface="Arial"/>
              <a:cs typeface="Arial"/>
            </a:endParaRPr>
          </a:p>
          <a:p>
            <a:pPr marL="413384" indent="-172720">
              <a:lnSpc>
                <a:spcPts val="1375"/>
              </a:lnSpc>
              <a:buAutoNum type="arabicPeriod"/>
              <a:tabLst>
                <a:tab pos="414020" algn="l"/>
              </a:tabLst>
            </a:pPr>
            <a:r>
              <a:rPr dirty="0" sz="1200">
                <a:latin typeface="Arial"/>
                <a:cs typeface="Arial"/>
              </a:rPr>
              <a:t>Is a </a:t>
            </a:r>
            <a:r>
              <a:rPr dirty="0" sz="1200" spc="-5">
                <a:latin typeface="Arial"/>
                <a:cs typeface="Arial"/>
              </a:rPr>
              <a:t>complement </a:t>
            </a:r>
            <a:r>
              <a:rPr dirty="0" sz="1200">
                <a:latin typeface="Arial"/>
                <a:cs typeface="Arial"/>
              </a:rPr>
              <a:t>to the</a:t>
            </a:r>
            <a:r>
              <a:rPr dirty="0" sz="1200" spc="-25">
                <a:latin typeface="Arial"/>
                <a:cs typeface="Arial"/>
              </a:rPr>
              <a:t> </a:t>
            </a:r>
            <a:r>
              <a:rPr dirty="0" sz="1200" spc="-5">
                <a:latin typeface="Arial"/>
                <a:cs typeface="Arial"/>
              </a:rPr>
              <a:t>Qur‘an</a:t>
            </a:r>
            <a:endParaRPr sz="1200">
              <a:latin typeface="Arial"/>
              <a:cs typeface="Arial"/>
            </a:endParaRPr>
          </a:p>
          <a:p>
            <a:pPr marL="413384" indent="-172720">
              <a:lnSpc>
                <a:spcPts val="1375"/>
              </a:lnSpc>
              <a:buAutoNum type="arabicPeriod"/>
              <a:tabLst>
                <a:tab pos="414020" algn="l"/>
              </a:tabLst>
            </a:pPr>
            <a:r>
              <a:rPr dirty="0" sz="1200">
                <a:latin typeface="Arial"/>
                <a:cs typeface="Arial"/>
              </a:rPr>
              <a:t>It </a:t>
            </a:r>
            <a:r>
              <a:rPr dirty="0" sz="1200" spc="-5">
                <a:latin typeface="Arial"/>
                <a:cs typeface="Arial"/>
              </a:rPr>
              <a:t>is the </a:t>
            </a:r>
            <a:r>
              <a:rPr dirty="0" sz="1200">
                <a:latin typeface="Arial"/>
                <a:cs typeface="Arial"/>
              </a:rPr>
              <a:t>Tafsir </a:t>
            </a:r>
            <a:r>
              <a:rPr dirty="0" sz="1200" spc="-5">
                <a:latin typeface="Arial"/>
                <a:cs typeface="Arial"/>
              </a:rPr>
              <a:t>and explanation of the verses of </a:t>
            </a:r>
            <a:r>
              <a:rPr dirty="0" sz="1200">
                <a:latin typeface="Arial"/>
                <a:cs typeface="Arial"/>
              </a:rPr>
              <a:t>the</a:t>
            </a:r>
            <a:r>
              <a:rPr dirty="0" sz="1200" spc="10">
                <a:latin typeface="Arial"/>
                <a:cs typeface="Arial"/>
              </a:rPr>
              <a:t> </a:t>
            </a:r>
            <a:r>
              <a:rPr dirty="0" sz="1200" spc="-5">
                <a:latin typeface="Arial"/>
                <a:cs typeface="Arial"/>
              </a:rPr>
              <a:t>Qur‘an</a:t>
            </a:r>
            <a:endParaRPr sz="1200">
              <a:latin typeface="Arial"/>
              <a:cs typeface="Arial"/>
            </a:endParaRPr>
          </a:p>
          <a:p>
            <a:pPr marL="413384" indent="-172720">
              <a:lnSpc>
                <a:spcPts val="1380"/>
              </a:lnSpc>
              <a:buAutoNum type="arabicPeriod"/>
              <a:tabLst>
                <a:tab pos="414020" algn="l"/>
              </a:tabLst>
            </a:pPr>
            <a:r>
              <a:rPr dirty="0" sz="1200">
                <a:latin typeface="Arial"/>
                <a:cs typeface="Arial"/>
              </a:rPr>
              <a:t>It </a:t>
            </a:r>
            <a:r>
              <a:rPr dirty="0" sz="1200" spc="-10">
                <a:latin typeface="Arial"/>
                <a:cs typeface="Arial"/>
              </a:rPr>
              <a:t>gives </a:t>
            </a:r>
            <a:r>
              <a:rPr dirty="0" sz="1200">
                <a:latin typeface="Arial"/>
                <a:cs typeface="Arial"/>
              </a:rPr>
              <a:t>details on </a:t>
            </a:r>
            <a:r>
              <a:rPr dirty="0" sz="1200" spc="-5">
                <a:latin typeface="Arial"/>
                <a:cs typeface="Arial"/>
              </a:rPr>
              <a:t>how </a:t>
            </a:r>
            <a:r>
              <a:rPr dirty="0" sz="1200">
                <a:latin typeface="Arial"/>
                <a:cs typeface="Arial"/>
              </a:rPr>
              <a:t>to </a:t>
            </a:r>
            <a:r>
              <a:rPr dirty="0" sz="1200" spc="-5">
                <a:latin typeface="Arial"/>
                <a:cs typeface="Arial"/>
              </a:rPr>
              <a:t>perform Ibaadah and other </a:t>
            </a:r>
            <a:r>
              <a:rPr dirty="0" sz="1200">
                <a:latin typeface="Arial"/>
                <a:cs typeface="Arial"/>
              </a:rPr>
              <a:t>acts </a:t>
            </a:r>
            <a:r>
              <a:rPr dirty="0" sz="1200" spc="-5">
                <a:latin typeface="Arial"/>
                <a:cs typeface="Arial"/>
              </a:rPr>
              <a:t>of</a:t>
            </a:r>
            <a:r>
              <a:rPr dirty="0" sz="1200">
                <a:latin typeface="Arial"/>
                <a:cs typeface="Arial"/>
              </a:rPr>
              <a:t> </a:t>
            </a:r>
            <a:r>
              <a:rPr dirty="0" sz="1200" spc="-5">
                <a:latin typeface="Arial"/>
                <a:cs typeface="Arial"/>
              </a:rPr>
              <a:t>worship</a:t>
            </a:r>
            <a:endParaRPr sz="1200">
              <a:latin typeface="Arial"/>
              <a:cs typeface="Arial"/>
            </a:endParaRPr>
          </a:p>
          <a:p>
            <a:pPr marL="413384" indent="-172720">
              <a:lnSpc>
                <a:spcPts val="1380"/>
              </a:lnSpc>
              <a:buAutoNum type="arabicPeriod"/>
              <a:tabLst>
                <a:tab pos="414020" algn="l"/>
              </a:tabLst>
            </a:pPr>
            <a:r>
              <a:rPr dirty="0" sz="1200">
                <a:latin typeface="Arial"/>
                <a:cs typeface="Arial"/>
              </a:rPr>
              <a:t>It </a:t>
            </a:r>
            <a:r>
              <a:rPr dirty="0" sz="1200" spc="-5">
                <a:latin typeface="Arial"/>
                <a:cs typeface="Arial"/>
              </a:rPr>
              <a:t>helps </a:t>
            </a:r>
            <a:r>
              <a:rPr dirty="0" sz="1200">
                <a:latin typeface="Arial"/>
                <a:cs typeface="Arial"/>
              </a:rPr>
              <a:t>to </a:t>
            </a:r>
            <a:r>
              <a:rPr dirty="0" sz="1200" spc="-5">
                <a:latin typeface="Arial"/>
                <a:cs typeface="Arial"/>
              </a:rPr>
              <a:t>avoid</a:t>
            </a:r>
            <a:r>
              <a:rPr dirty="0" sz="1200" spc="-10">
                <a:latin typeface="Arial"/>
                <a:cs typeface="Arial"/>
              </a:rPr>
              <a:t> </a:t>
            </a:r>
            <a:r>
              <a:rPr dirty="0" sz="1200" spc="-5">
                <a:latin typeface="Arial"/>
                <a:cs typeface="Arial"/>
              </a:rPr>
              <a:t>pitfalls</a:t>
            </a:r>
            <a:endParaRPr sz="1200">
              <a:latin typeface="Arial"/>
              <a:cs typeface="Arial"/>
            </a:endParaRPr>
          </a:p>
          <a:p>
            <a:pPr marL="413384" indent="-172720">
              <a:lnSpc>
                <a:spcPts val="1380"/>
              </a:lnSpc>
              <a:buAutoNum type="arabicPeriod"/>
              <a:tabLst>
                <a:tab pos="414020" algn="l"/>
              </a:tabLst>
            </a:pPr>
            <a:r>
              <a:rPr dirty="0" sz="1200">
                <a:latin typeface="Arial"/>
                <a:cs typeface="Arial"/>
              </a:rPr>
              <a:t>It </a:t>
            </a:r>
            <a:r>
              <a:rPr dirty="0" sz="1200" spc="-5">
                <a:latin typeface="Arial"/>
                <a:cs typeface="Arial"/>
              </a:rPr>
              <a:t>helps </a:t>
            </a:r>
            <a:r>
              <a:rPr dirty="0" sz="1200">
                <a:latin typeface="Arial"/>
                <a:cs typeface="Arial"/>
              </a:rPr>
              <a:t>to </a:t>
            </a:r>
            <a:r>
              <a:rPr dirty="0" sz="1200" spc="-5">
                <a:latin typeface="Arial"/>
                <a:cs typeface="Arial"/>
              </a:rPr>
              <a:t>upgrade our </a:t>
            </a:r>
            <a:r>
              <a:rPr dirty="0" sz="1200">
                <a:latin typeface="Arial"/>
                <a:cs typeface="Arial"/>
              </a:rPr>
              <a:t>status </a:t>
            </a:r>
            <a:r>
              <a:rPr dirty="0" sz="1200" spc="-5">
                <a:latin typeface="Arial"/>
                <a:cs typeface="Arial"/>
              </a:rPr>
              <a:t>through wazifah</a:t>
            </a:r>
            <a:endParaRPr sz="1200">
              <a:latin typeface="Arial"/>
              <a:cs typeface="Arial"/>
            </a:endParaRPr>
          </a:p>
          <a:p>
            <a:pPr marL="413384" indent="-172720">
              <a:lnSpc>
                <a:spcPts val="1380"/>
              </a:lnSpc>
              <a:buAutoNum type="arabicPeriod"/>
              <a:tabLst>
                <a:tab pos="414020" algn="l"/>
              </a:tabLst>
            </a:pPr>
            <a:r>
              <a:rPr dirty="0" sz="1200">
                <a:latin typeface="Arial"/>
                <a:cs typeface="Arial"/>
              </a:rPr>
              <a:t>It </a:t>
            </a:r>
            <a:r>
              <a:rPr dirty="0" sz="1200" spc="-5">
                <a:latin typeface="Arial"/>
                <a:cs typeface="Arial"/>
              </a:rPr>
              <a:t>helps in having the knowledge of the life of </a:t>
            </a:r>
            <a:r>
              <a:rPr dirty="0" sz="1200">
                <a:latin typeface="Arial"/>
                <a:cs typeface="Arial"/>
              </a:rPr>
              <a:t>the </a:t>
            </a:r>
            <a:r>
              <a:rPr dirty="0" sz="1200" spc="-5">
                <a:latin typeface="Arial"/>
                <a:cs typeface="Arial"/>
              </a:rPr>
              <a:t>prophet and the</a:t>
            </a:r>
            <a:r>
              <a:rPr dirty="0" sz="1200" spc="70">
                <a:latin typeface="Arial"/>
                <a:cs typeface="Arial"/>
              </a:rPr>
              <a:t> </a:t>
            </a:r>
            <a:r>
              <a:rPr dirty="0" sz="1200" spc="-5">
                <a:latin typeface="Arial"/>
                <a:cs typeface="Arial"/>
              </a:rPr>
              <a:t>Salaf</a:t>
            </a:r>
            <a:endParaRPr sz="1200">
              <a:latin typeface="Arial"/>
              <a:cs typeface="Arial"/>
            </a:endParaRPr>
          </a:p>
          <a:p>
            <a:pPr marL="413384" indent="-172720">
              <a:lnSpc>
                <a:spcPts val="1380"/>
              </a:lnSpc>
              <a:buAutoNum type="arabicPeriod"/>
              <a:tabLst>
                <a:tab pos="414020" algn="l"/>
              </a:tabLst>
            </a:pPr>
            <a:r>
              <a:rPr dirty="0" sz="1200">
                <a:latin typeface="Arial"/>
                <a:cs typeface="Arial"/>
              </a:rPr>
              <a:t>It </a:t>
            </a:r>
            <a:r>
              <a:rPr dirty="0" sz="1200" spc="-5">
                <a:latin typeface="Arial"/>
                <a:cs typeface="Arial"/>
              </a:rPr>
              <a:t>explains how </a:t>
            </a:r>
            <a:r>
              <a:rPr dirty="0" sz="1200">
                <a:latin typeface="Arial"/>
                <a:cs typeface="Arial"/>
              </a:rPr>
              <a:t>to </a:t>
            </a:r>
            <a:r>
              <a:rPr dirty="0" sz="1200" spc="-5">
                <a:latin typeface="Arial"/>
                <a:cs typeface="Arial"/>
              </a:rPr>
              <a:t>deal with Muslims </a:t>
            </a:r>
            <a:r>
              <a:rPr dirty="0" sz="1200">
                <a:latin typeface="Arial"/>
                <a:cs typeface="Arial"/>
              </a:rPr>
              <a:t>and</a:t>
            </a:r>
            <a:r>
              <a:rPr dirty="0" sz="1200" spc="-10">
                <a:latin typeface="Arial"/>
                <a:cs typeface="Arial"/>
              </a:rPr>
              <a:t> </a:t>
            </a:r>
            <a:r>
              <a:rPr dirty="0" sz="1200" spc="-5">
                <a:latin typeface="Arial"/>
                <a:cs typeface="Arial"/>
              </a:rPr>
              <a:t>non-Muslims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It </a:t>
            </a:r>
            <a:r>
              <a:rPr dirty="0" sz="1200" spc="-5">
                <a:latin typeface="Arial"/>
                <a:cs typeface="Arial"/>
              </a:rPr>
              <a:t>elaborates on Halal and</a:t>
            </a:r>
            <a:r>
              <a:rPr dirty="0" sz="1200">
                <a:latin typeface="Arial"/>
                <a:cs typeface="Arial"/>
              </a:rPr>
              <a:t> </a:t>
            </a:r>
            <a:r>
              <a:rPr dirty="0" sz="1200" spc="-5">
                <a:latin typeface="Arial"/>
                <a:cs typeface="Arial"/>
              </a:rPr>
              <a:t>Haram</a:t>
            </a:r>
            <a:endParaRPr sz="1200">
              <a:latin typeface="Arial"/>
              <a:cs typeface="Arial"/>
            </a:endParaRPr>
          </a:p>
          <a:p>
            <a:pPr marL="469900" indent="-229235">
              <a:lnSpc>
                <a:spcPts val="1410"/>
              </a:lnSpc>
              <a:buAutoNum type="arabicPeriod"/>
              <a:tabLst>
                <a:tab pos="470534" algn="l"/>
              </a:tabLst>
            </a:pPr>
            <a:r>
              <a:rPr dirty="0" sz="1200">
                <a:latin typeface="Arial"/>
                <a:cs typeface="Arial"/>
              </a:rPr>
              <a:t>It </a:t>
            </a:r>
            <a:r>
              <a:rPr dirty="0" sz="1200" spc="-5">
                <a:latin typeface="Arial"/>
                <a:cs typeface="Arial"/>
              </a:rPr>
              <a:t>is an example in all </a:t>
            </a:r>
            <a:r>
              <a:rPr dirty="0" sz="1200">
                <a:latin typeface="Arial"/>
                <a:cs typeface="Arial"/>
              </a:rPr>
              <a:t>spheres </a:t>
            </a:r>
            <a:r>
              <a:rPr dirty="0" sz="1200" spc="-5">
                <a:latin typeface="Arial"/>
                <a:cs typeface="Arial"/>
              </a:rPr>
              <a:t>of live (materialistic </a:t>
            </a:r>
            <a:r>
              <a:rPr dirty="0" sz="1200">
                <a:latin typeface="Arial"/>
                <a:cs typeface="Arial"/>
              </a:rPr>
              <a:t>and</a:t>
            </a:r>
            <a:r>
              <a:rPr dirty="0" sz="1200" spc="25">
                <a:latin typeface="Arial"/>
                <a:cs typeface="Arial"/>
              </a:rPr>
              <a:t> </a:t>
            </a:r>
            <a:r>
              <a:rPr dirty="0" sz="1200" spc="-5">
                <a:latin typeface="Arial"/>
                <a:cs typeface="Arial"/>
              </a:rPr>
              <a:t>spiritual)</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Relationship between </a:t>
            </a:r>
            <a:r>
              <a:rPr dirty="0" u="heavy" sz="1200" spc="-45" b="1" i="1">
                <a:uFill>
                  <a:solidFill>
                    <a:srgbClr val="000000"/>
                  </a:solidFill>
                </a:uFill>
                <a:latin typeface="Arial"/>
                <a:cs typeface="Arial"/>
              </a:rPr>
              <a:t>Qur‟an </a:t>
            </a:r>
            <a:r>
              <a:rPr dirty="0" u="heavy" sz="1200" b="1" i="1">
                <a:uFill>
                  <a:solidFill>
                    <a:srgbClr val="000000"/>
                  </a:solidFill>
                </a:uFill>
                <a:latin typeface="Arial"/>
                <a:cs typeface="Arial"/>
              </a:rPr>
              <a:t>and</a:t>
            </a:r>
            <a:r>
              <a:rPr dirty="0" u="heavy" sz="1200" spc="50" b="1" i="1">
                <a:uFill>
                  <a:solidFill>
                    <a:srgbClr val="000000"/>
                  </a:solidFill>
                </a:uFill>
                <a:latin typeface="Arial"/>
                <a:cs typeface="Arial"/>
              </a:rPr>
              <a:t> </a:t>
            </a:r>
            <a:r>
              <a:rPr dirty="0" u="heavy" sz="1200" spc="-5" b="1" i="1">
                <a:uFill>
                  <a:solidFill>
                    <a:srgbClr val="000000"/>
                  </a:solidFill>
                </a:uFill>
                <a:latin typeface="Arial"/>
                <a:cs typeface="Arial"/>
              </a:rPr>
              <a:t>Hadith</a:t>
            </a:r>
            <a:endParaRPr sz="1200">
              <a:latin typeface="Arial"/>
              <a:cs typeface="Arial"/>
            </a:endParaRPr>
          </a:p>
          <a:p>
            <a:pPr marL="12700">
              <a:lnSpc>
                <a:spcPct val="100000"/>
              </a:lnSpc>
              <a:spcBef>
                <a:spcPts val="695"/>
              </a:spcBef>
            </a:pPr>
            <a:r>
              <a:rPr dirty="0" sz="1200" spc="-5">
                <a:latin typeface="Arial"/>
                <a:cs typeface="Arial"/>
              </a:rPr>
              <a:t>Allah Almighty says in the Quran what</a:t>
            </a:r>
            <a:r>
              <a:rPr dirty="0" sz="1200" spc="15">
                <a:latin typeface="Arial"/>
                <a:cs typeface="Arial"/>
              </a:rPr>
              <a:t> </a:t>
            </a:r>
            <a:r>
              <a:rPr dirty="0" sz="1200" spc="-5">
                <a:latin typeface="Arial"/>
                <a:cs typeface="Arial"/>
              </a:rPr>
              <a:t>means:</a:t>
            </a:r>
            <a:endParaRPr sz="1200">
              <a:latin typeface="Arial"/>
              <a:cs typeface="Arial"/>
            </a:endParaRPr>
          </a:p>
          <a:p>
            <a:pPr>
              <a:lnSpc>
                <a:spcPct val="100000"/>
              </a:lnSpc>
              <a:spcBef>
                <a:spcPts val="50"/>
              </a:spcBef>
            </a:pPr>
            <a:endParaRPr sz="1600">
              <a:latin typeface="Arial"/>
              <a:cs typeface="Arial"/>
            </a:endParaRPr>
          </a:p>
          <a:p>
            <a:pPr algn="just" marL="12700" marR="107314">
              <a:lnSpc>
                <a:spcPct val="95400"/>
              </a:lnSpc>
            </a:pPr>
            <a:r>
              <a:rPr dirty="0" sz="1200" spc="-160">
                <a:latin typeface="Arial"/>
                <a:cs typeface="Arial"/>
              </a:rPr>
              <a:t>―[[We</a:t>
            </a:r>
            <a:r>
              <a:rPr dirty="0" sz="1200" spc="10">
                <a:latin typeface="Arial"/>
                <a:cs typeface="Arial"/>
              </a:rPr>
              <a:t> </a:t>
            </a:r>
            <a:r>
              <a:rPr dirty="0" sz="1200" spc="-5">
                <a:latin typeface="Arial"/>
                <a:cs typeface="Arial"/>
              </a:rPr>
              <a:t>sent </a:t>
            </a:r>
            <a:r>
              <a:rPr dirty="0" sz="1200">
                <a:latin typeface="Arial"/>
                <a:cs typeface="Arial"/>
              </a:rPr>
              <a:t>them] </a:t>
            </a:r>
            <a:r>
              <a:rPr dirty="0" sz="1200" spc="-5">
                <a:latin typeface="Arial"/>
                <a:cs typeface="Arial"/>
              </a:rPr>
              <a:t>with </a:t>
            </a:r>
            <a:r>
              <a:rPr dirty="0" sz="1200">
                <a:latin typeface="Arial"/>
                <a:cs typeface="Arial"/>
              </a:rPr>
              <a:t>clear proofs </a:t>
            </a:r>
            <a:r>
              <a:rPr dirty="0" sz="1200" spc="-5">
                <a:latin typeface="Arial"/>
                <a:cs typeface="Arial"/>
              </a:rPr>
              <a:t>and written ordinances. And </a:t>
            </a:r>
            <a:r>
              <a:rPr dirty="0" sz="1200" spc="15">
                <a:latin typeface="Arial"/>
                <a:cs typeface="Arial"/>
              </a:rPr>
              <a:t>We </a:t>
            </a:r>
            <a:r>
              <a:rPr dirty="0" sz="1200" spc="-5">
                <a:latin typeface="Arial"/>
                <a:cs typeface="Arial"/>
              </a:rPr>
              <a:t>revealed </a:t>
            </a:r>
            <a:r>
              <a:rPr dirty="0" sz="1200">
                <a:latin typeface="Arial"/>
                <a:cs typeface="Arial"/>
              </a:rPr>
              <a:t>to </a:t>
            </a:r>
            <a:r>
              <a:rPr dirty="0" sz="1200" spc="-10">
                <a:latin typeface="Arial"/>
                <a:cs typeface="Arial"/>
              </a:rPr>
              <a:t>you </a:t>
            </a:r>
            <a:r>
              <a:rPr dirty="0" sz="1200">
                <a:latin typeface="Arial"/>
                <a:cs typeface="Arial"/>
              </a:rPr>
              <a:t>the  </a:t>
            </a:r>
            <a:r>
              <a:rPr dirty="0" sz="1200" spc="-5">
                <a:latin typeface="Arial"/>
                <a:cs typeface="Arial"/>
              </a:rPr>
              <a:t>message that </a:t>
            </a:r>
            <a:r>
              <a:rPr dirty="0" sz="1200" spc="-10">
                <a:latin typeface="Arial"/>
                <a:cs typeface="Arial"/>
              </a:rPr>
              <a:t>you </a:t>
            </a:r>
            <a:r>
              <a:rPr dirty="0" sz="1200">
                <a:latin typeface="Arial"/>
                <a:cs typeface="Arial"/>
              </a:rPr>
              <a:t>may </a:t>
            </a:r>
            <a:r>
              <a:rPr dirty="0" sz="1200" spc="-5">
                <a:latin typeface="Arial"/>
                <a:cs typeface="Arial"/>
              </a:rPr>
              <a:t>make </a:t>
            </a:r>
            <a:r>
              <a:rPr dirty="0" sz="1200">
                <a:latin typeface="Arial"/>
                <a:cs typeface="Arial"/>
              </a:rPr>
              <a:t>clear </a:t>
            </a:r>
            <a:r>
              <a:rPr dirty="0" sz="1200" spc="-5">
                <a:latin typeface="Arial"/>
                <a:cs typeface="Arial"/>
              </a:rPr>
              <a:t>to the people what </a:t>
            </a:r>
            <a:r>
              <a:rPr dirty="0" sz="1200" spc="-10">
                <a:latin typeface="Arial"/>
                <a:cs typeface="Arial"/>
              </a:rPr>
              <a:t>was </a:t>
            </a:r>
            <a:r>
              <a:rPr dirty="0" sz="1200">
                <a:latin typeface="Arial"/>
                <a:cs typeface="Arial"/>
              </a:rPr>
              <a:t>sent </a:t>
            </a:r>
            <a:r>
              <a:rPr dirty="0" sz="1200" spc="-5">
                <a:latin typeface="Arial"/>
                <a:cs typeface="Arial"/>
              </a:rPr>
              <a:t>down </a:t>
            </a:r>
            <a:r>
              <a:rPr dirty="0" sz="1200">
                <a:latin typeface="Arial"/>
                <a:cs typeface="Arial"/>
              </a:rPr>
              <a:t>to </a:t>
            </a:r>
            <a:r>
              <a:rPr dirty="0" sz="1200" spc="-5">
                <a:latin typeface="Arial"/>
                <a:cs typeface="Arial"/>
              </a:rPr>
              <a:t>them and that they  might </a:t>
            </a:r>
            <a:r>
              <a:rPr dirty="0" sz="1200" spc="-10">
                <a:latin typeface="Arial"/>
                <a:cs typeface="Arial"/>
              </a:rPr>
              <a:t>give </a:t>
            </a:r>
            <a:r>
              <a:rPr dirty="0" sz="1200" spc="-15">
                <a:latin typeface="Arial"/>
                <a:cs typeface="Arial"/>
              </a:rPr>
              <a:t>thought.]‖ </a:t>
            </a:r>
            <a:r>
              <a:rPr dirty="0" sz="1200" spc="-5">
                <a:latin typeface="Arial"/>
                <a:cs typeface="Arial"/>
              </a:rPr>
              <a:t>(An-Nahl</a:t>
            </a:r>
            <a:r>
              <a:rPr dirty="0" sz="1200" spc="30">
                <a:latin typeface="Arial"/>
                <a:cs typeface="Arial"/>
              </a:rPr>
              <a:t> </a:t>
            </a:r>
            <a:r>
              <a:rPr dirty="0" sz="1200" spc="-5">
                <a:latin typeface="Arial"/>
                <a:cs typeface="Arial"/>
              </a:rPr>
              <a:t>16:44)</a:t>
            </a:r>
            <a:endParaRPr sz="1200">
              <a:latin typeface="Arial"/>
              <a:cs typeface="Aria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216650" cy="9204325"/>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7620">
              <a:lnSpc>
                <a:spcPts val="1380"/>
              </a:lnSpc>
            </a:pPr>
            <a:r>
              <a:rPr dirty="0" sz="1200" spc="-5">
                <a:latin typeface="Arial"/>
                <a:cs typeface="Arial"/>
              </a:rPr>
              <a:t>Commenting </a:t>
            </a:r>
            <a:r>
              <a:rPr dirty="0" sz="1200">
                <a:latin typeface="Arial"/>
                <a:cs typeface="Arial"/>
              </a:rPr>
              <a:t>on </a:t>
            </a:r>
            <a:r>
              <a:rPr dirty="0" sz="1200" spc="-5">
                <a:latin typeface="Arial"/>
                <a:cs typeface="Arial"/>
              </a:rPr>
              <a:t>this </a:t>
            </a:r>
            <a:r>
              <a:rPr dirty="0" sz="1200">
                <a:latin typeface="Arial"/>
                <a:cs typeface="Arial"/>
              </a:rPr>
              <a:t>verse, </a:t>
            </a:r>
            <a:r>
              <a:rPr dirty="0" sz="1200" spc="-5">
                <a:latin typeface="Arial"/>
                <a:cs typeface="Arial"/>
              </a:rPr>
              <a:t>Imam Al-Baghawi, </a:t>
            </a:r>
            <a:r>
              <a:rPr dirty="0" sz="1200">
                <a:latin typeface="Arial"/>
                <a:cs typeface="Arial"/>
              </a:rPr>
              <a:t>one </a:t>
            </a:r>
            <a:r>
              <a:rPr dirty="0" sz="1200" spc="-5">
                <a:latin typeface="Arial"/>
                <a:cs typeface="Arial"/>
              </a:rPr>
              <a:t>of </a:t>
            </a:r>
            <a:r>
              <a:rPr dirty="0" sz="1200">
                <a:latin typeface="Arial"/>
                <a:cs typeface="Arial"/>
              </a:rPr>
              <a:t>the </a:t>
            </a:r>
            <a:r>
              <a:rPr dirty="0" sz="1200" spc="-5">
                <a:latin typeface="Arial"/>
                <a:cs typeface="Arial"/>
              </a:rPr>
              <a:t>well-versed </a:t>
            </a:r>
            <a:r>
              <a:rPr dirty="0" sz="1200">
                <a:latin typeface="Arial"/>
                <a:cs typeface="Arial"/>
              </a:rPr>
              <a:t>scholars </a:t>
            </a:r>
            <a:r>
              <a:rPr dirty="0" sz="1200" spc="-5">
                <a:latin typeface="Arial"/>
                <a:cs typeface="Arial"/>
              </a:rPr>
              <a:t>of </a:t>
            </a:r>
            <a:r>
              <a:rPr dirty="0" sz="1200">
                <a:latin typeface="Arial"/>
                <a:cs typeface="Arial"/>
              </a:rPr>
              <a:t>Islam, </a:t>
            </a:r>
            <a:r>
              <a:rPr dirty="0" sz="1200" spc="-5">
                <a:latin typeface="Arial"/>
                <a:cs typeface="Arial"/>
              </a:rPr>
              <a:t>said  in his</a:t>
            </a:r>
            <a:r>
              <a:rPr dirty="0" sz="1200">
                <a:latin typeface="Arial"/>
                <a:cs typeface="Arial"/>
              </a:rPr>
              <a:t> tafseer:</a:t>
            </a:r>
            <a:endParaRPr sz="1200">
              <a:latin typeface="Arial"/>
              <a:cs typeface="Arial"/>
            </a:endParaRPr>
          </a:p>
          <a:p>
            <a:pPr>
              <a:lnSpc>
                <a:spcPct val="100000"/>
              </a:lnSpc>
              <a:spcBef>
                <a:spcPts val="15"/>
              </a:spcBef>
            </a:pPr>
            <a:endParaRPr sz="1600">
              <a:latin typeface="Arial"/>
              <a:cs typeface="Arial"/>
            </a:endParaRPr>
          </a:p>
          <a:p>
            <a:pPr algn="just" marL="12700" marR="10795">
              <a:lnSpc>
                <a:spcPct val="95400"/>
              </a:lnSpc>
              <a:spcBef>
                <a:spcPts val="5"/>
              </a:spcBef>
            </a:pPr>
            <a:r>
              <a:rPr dirty="0" sz="1200">
                <a:latin typeface="Arial"/>
                <a:cs typeface="Arial"/>
              </a:rPr>
              <a:t>"The </a:t>
            </a:r>
            <a:r>
              <a:rPr dirty="0" sz="1200" spc="-5">
                <a:latin typeface="Arial"/>
                <a:cs typeface="Arial"/>
              </a:rPr>
              <a:t>message </a:t>
            </a:r>
            <a:r>
              <a:rPr dirty="0" sz="1200">
                <a:latin typeface="Arial"/>
                <a:cs typeface="Arial"/>
              </a:rPr>
              <a:t>— </a:t>
            </a:r>
            <a:r>
              <a:rPr dirty="0" sz="1200" spc="-5">
                <a:latin typeface="Arial"/>
                <a:cs typeface="Arial"/>
              </a:rPr>
              <a:t>in the verse </a:t>
            </a:r>
            <a:r>
              <a:rPr dirty="0" sz="1200">
                <a:latin typeface="Arial"/>
                <a:cs typeface="Arial"/>
              </a:rPr>
              <a:t>— </a:t>
            </a:r>
            <a:r>
              <a:rPr dirty="0" sz="1200" spc="-5">
                <a:latin typeface="Arial"/>
                <a:cs typeface="Arial"/>
              </a:rPr>
              <a:t>refers </a:t>
            </a:r>
            <a:r>
              <a:rPr dirty="0" sz="1200">
                <a:latin typeface="Arial"/>
                <a:cs typeface="Arial"/>
              </a:rPr>
              <a:t>to the </a:t>
            </a:r>
            <a:r>
              <a:rPr dirty="0" sz="1200" spc="-5">
                <a:latin typeface="Arial"/>
                <a:cs typeface="Arial"/>
              </a:rPr>
              <a:t>divine inspiration. And the Prophet is the  </a:t>
            </a:r>
            <a:r>
              <a:rPr dirty="0" sz="1200">
                <a:latin typeface="Arial"/>
                <a:cs typeface="Arial"/>
              </a:rPr>
              <a:t>clarifier </a:t>
            </a:r>
            <a:r>
              <a:rPr dirty="0" sz="1200" spc="-5">
                <a:latin typeface="Arial"/>
                <a:cs typeface="Arial"/>
              </a:rPr>
              <a:t>of the divine inspiration. </a:t>
            </a:r>
            <a:r>
              <a:rPr dirty="0" sz="1200">
                <a:latin typeface="Arial"/>
                <a:cs typeface="Arial"/>
              </a:rPr>
              <a:t>The </a:t>
            </a:r>
            <a:r>
              <a:rPr dirty="0" sz="1200" spc="-5">
                <a:latin typeface="Arial"/>
                <a:cs typeface="Arial"/>
              </a:rPr>
              <a:t>explanation of the </a:t>
            </a:r>
            <a:r>
              <a:rPr dirty="0" sz="1200">
                <a:latin typeface="Arial"/>
                <a:cs typeface="Arial"/>
              </a:rPr>
              <a:t>Quran </a:t>
            </a:r>
            <a:r>
              <a:rPr dirty="0" sz="1200" spc="-10">
                <a:latin typeface="Arial"/>
                <a:cs typeface="Arial"/>
              </a:rPr>
              <a:t>is </a:t>
            </a:r>
            <a:r>
              <a:rPr dirty="0" sz="1200">
                <a:latin typeface="Arial"/>
                <a:cs typeface="Arial"/>
              </a:rPr>
              <a:t>to </a:t>
            </a:r>
            <a:r>
              <a:rPr dirty="0" sz="1200" spc="-5">
                <a:latin typeface="Arial"/>
                <a:cs typeface="Arial"/>
              </a:rPr>
              <a:t>be sought in the  Sunnah." (Al-Baghawi</a:t>
            </a:r>
            <a:r>
              <a:rPr dirty="0" sz="1200" spc="5">
                <a:latin typeface="Arial"/>
                <a:cs typeface="Arial"/>
              </a:rPr>
              <a:t> </a:t>
            </a:r>
            <a:r>
              <a:rPr dirty="0" sz="1200" spc="-5">
                <a:latin typeface="Arial"/>
                <a:cs typeface="Arial"/>
              </a:rPr>
              <a:t>25)</a:t>
            </a:r>
            <a:endParaRPr sz="1200">
              <a:latin typeface="Arial"/>
              <a:cs typeface="Arial"/>
            </a:endParaRPr>
          </a:p>
          <a:p>
            <a:pPr>
              <a:lnSpc>
                <a:spcPct val="100000"/>
              </a:lnSpc>
              <a:spcBef>
                <a:spcPts val="45"/>
              </a:spcBef>
            </a:pPr>
            <a:endParaRPr sz="1600">
              <a:latin typeface="Arial"/>
              <a:cs typeface="Arial"/>
            </a:endParaRPr>
          </a:p>
          <a:p>
            <a:pPr algn="just" marL="12700" marR="5080">
              <a:lnSpc>
                <a:spcPct val="95700"/>
              </a:lnSpc>
            </a:pPr>
            <a:r>
              <a:rPr dirty="0" sz="1200">
                <a:latin typeface="Arial"/>
                <a:cs typeface="Arial"/>
              </a:rPr>
              <a:t>Thus, </a:t>
            </a:r>
            <a:r>
              <a:rPr dirty="0" sz="1200" spc="-5">
                <a:latin typeface="Arial"/>
                <a:cs typeface="Arial"/>
              </a:rPr>
              <a:t>the relation between the Quran </a:t>
            </a:r>
            <a:r>
              <a:rPr dirty="0" sz="1200">
                <a:latin typeface="Arial"/>
                <a:cs typeface="Arial"/>
              </a:rPr>
              <a:t>and </a:t>
            </a:r>
            <a:r>
              <a:rPr dirty="0" sz="1200" spc="-5">
                <a:latin typeface="Arial"/>
                <a:cs typeface="Arial"/>
              </a:rPr>
              <a:t>the Sunnah is such that the latter is a clarification  of the former. </a:t>
            </a:r>
            <a:r>
              <a:rPr dirty="0" sz="1200">
                <a:latin typeface="Arial"/>
                <a:cs typeface="Arial"/>
              </a:rPr>
              <a:t>The </a:t>
            </a:r>
            <a:r>
              <a:rPr dirty="0" sz="1200" spc="-5">
                <a:latin typeface="Arial"/>
                <a:cs typeface="Arial"/>
              </a:rPr>
              <a:t>Sunnah explains and interprets the Quran. </a:t>
            </a:r>
            <a:r>
              <a:rPr dirty="0" sz="1200">
                <a:latin typeface="Arial"/>
                <a:cs typeface="Arial"/>
              </a:rPr>
              <a:t>It </a:t>
            </a:r>
            <a:r>
              <a:rPr dirty="0" sz="1200" spc="-5">
                <a:latin typeface="Arial"/>
                <a:cs typeface="Arial"/>
              </a:rPr>
              <a:t>gives </a:t>
            </a:r>
            <a:r>
              <a:rPr dirty="0" sz="1200">
                <a:latin typeface="Arial"/>
                <a:cs typeface="Arial"/>
              </a:rPr>
              <a:t>more </a:t>
            </a:r>
            <a:r>
              <a:rPr dirty="0" sz="1200" spc="-5">
                <a:latin typeface="Arial"/>
                <a:cs typeface="Arial"/>
              </a:rPr>
              <a:t>details about  what is concisely </a:t>
            </a:r>
            <a:r>
              <a:rPr dirty="0" sz="1200">
                <a:latin typeface="Arial"/>
                <a:cs typeface="Arial"/>
              </a:rPr>
              <a:t>mentioned </a:t>
            </a:r>
            <a:r>
              <a:rPr dirty="0" sz="1200" spc="-5">
                <a:latin typeface="Arial"/>
                <a:cs typeface="Arial"/>
              </a:rPr>
              <a:t>in the Quran, especially when </a:t>
            </a:r>
            <a:r>
              <a:rPr dirty="0" sz="1200">
                <a:latin typeface="Arial"/>
                <a:cs typeface="Arial"/>
              </a:rPr>
              <a:t>it comes to </a:t>
            </a:r>
            <a:r>
              <a:rPr dirty="0" sz="1200" spc="5">
                <a:latin typeface="Arial"/>
                <a:cs typeface="Arial"/>
              </a:rPr>
              <a:t>legal </a:t>
            </a:r>
            <a:r>
              <a:rPr dirty="0" sz="1200" spc="-5">
                <a:latin typeface="Arial"/>
                <a:cs typeface="Arial"/>
              </a:rPr>
              <a:t>rulings. Many  laws, as well as </a:t>
            </a:r>
            <a:r>
              <a:rPr dirty="0" sz="1200">
                <a:latin typeface="Arial"/>
                <a:cs typeface="Arial"/>
              </a:rPr>
              <a:t>acts </a:t>
            </a:r>
            <a:r>
              <a:rPr dirty="0" sz="1200" spc="-5">
                <a:latin typeface="Arial"/>
                <a:cs typeface="Arial"/>
              </a:rPr>
              <a:t>of worships, are briefly mentioned in </a:t>
            </a:r>
            <a:r>
              <a:rPr dirty="0" sz="1200">
                <a:latin typeface="Arial"/>
                <a:cs typeface="Arial"/>
              </a:rPr>
              <a:t>the </a:t>
            </a:r>
            <a:r>
              <a:rPr dirty="0" sz="1200" spc="-5">
                <a:latin typeface="Arial"/>
                <a:cs typeface="Arial"/>
              </a:rPr>
              <a:t>Quran. Then, the Sunnah  elaborates on such items and </a:t>
            </a:r>
            <a:r>
              <a:rPr dirty="0" sz="1200" spc="-10">
                <a:latin typeface="Arial"/>
                <a:cs typeface="Arial"/>
              </a:rPr>
              <a:t>gives </a:t>
            </a:r>
            <a:r>
              <a:rPr dirty="0" sz="1200">
                <a:latin typeface="Arial"/>
                <a:cs typeface="Arial"/>
              </a:rPr>
              <a:t>more </a:t>
            </a:r>
            <a:r>
              <a:rPr dirty="0" sz="1200" spc="-5">
                <a:latin typeface="Arial"/>
                <a:cs typeface="Arial"/>
              </a:rPr>
              <a:t>details and explanation </a:t>
            </a:r>
            <a:r>
              <a:rPr dirty="0" sz="1200" spc="-10">
                <a:latin typeface="Arial"/>
                <a:cs typeface="Arial"/>
              </a:rPr>
              <a:t>or </a:t>
            </a:r>
            <a:r>
              <a:rPr dirty="0" sz="1200" spc="-5">
                <a:latin typeface="Arial"/>
                <a:cs typeface="Arial"/>
              </a:rPr>
              <a:t>interpretation. </a:t>
            </a:r>
            <a:r>
              <a:rPr dirty="0" sz="1200">
                <a:latin typeface="Arial"/>
                <a:cs typeface="Arial"/>
              </a:rPr>
              <a:t>A </a:t>
            </a:r>
            <a:r>
              <a:rPr dirty="0" sz="1200" spc="-5">
                <a:latin typeface="Arial"/>
                <a:cs typeface="Arial"/>
              </a:rPr>
              <a:t>good  example </a:t>
            </a:r>
            <a:r>
              <a:rPr dirty="0" sz="1200">
                <a:latin typeface="Arial"/>
                <a:cs typeface="Arial"/>
              </a:rPr>
              <a:t>for this </a:t>
            </a:r>
            <a:r>
              <a:rPr dirty="0" sz="1200" spc="-5">
                <a:latin typeface="Arial"/>
                <a:cs typeface="Arial"/>
              </a:rPr>
              <a:t>is the prayers. </a:t>
            </a:r>
            <a:r>
              <a:rPr dirty="0" sz="1200">
                <a:latin typeface="Arial"/>
                <a:cs typeface="Arial"/>
              </a:rPr>
              <a:t>The </a:t>
            </a:r>
            <a:r>
              <a:rPr dirty="0" sz="1200" spc="-5">
                <a:latin typeface="Arial"/>
                <a:cs typeface="Arial"/>
              </a:rPr>
              <a:t>Quran orders Muslims </a:t>
            </a:r>
            <a:r>
              <a:rPr dirty="0" sz="1200">
                <a:latin typeface="Arial"/>
                <a:cs typeface="Arial"/>
              </a:rPr>
              <a:t>to </a:t>
            </a:r>
            <a:r>
              <a:rPr dirty="0" sz="1200" spc="-5">
                <a:latin typeface="Arial"/>
                <a:cs typeface="Arial"/>
              </a:rPr>
              <a:t>pray, but </a:t>
            </a:r>
            <a:r>
              <a:rPr dirty="0" sz="1200">
                <a:latin typeface="Arial"/>
                <a:cs typeface="Arial"/>
              </a:rPr>
              <a:t>it </a:t>
            </a:r>
            <a:r>
              <a:rPr dirty="0" sz="1200" spc="-5">
                <a:latin typeface="Arial"/>
                <a:cs typeface="Arial"/>
              </a:rPr>
              <a:t>does not mention  how </a:t>
            </a:r>
            <a:r>
              <a:rPr dirty="0" sz="1200">
                <a:latin typeface="Arial"/>
                <a:cs typeface="Arial"/>
              </a:rPr>
              <a:t>many times </a:t>
            </a:r>
            <a:r>
              <a:rPr dirty="0" sz="1200" spc="-5">
                <a:latin typeface="Arial"/>
                <a:cs typeface="Arial"/>
              </a:rPr>
              <a:t>Muslims should pray. </a:t>
            </a:r>
            <a:r>
              <a:rPr dirty="0" sz="1200">
                <a:latin typeface="Arial"/>
                <a:cs typeface="Arial"/>
              </a:rPr>
              <a:t>Or, when </a:t>
            </a:r>
            <a:r>
              <a:rPr dirty="0" sz="1200" spc="-5">
                <a:latin typeface="Arial"/>
                <a:cs typeface="Arial"/>
              </a:rPr>
              <a:t>and how </a:t>
            </a:r>
            <a:r>
              <a:rPr dirty="0" sz="1200">
                <a:latin typeface="Arial"/>
                <a:cs typeface="Arial"/>
              </a:rPr>
              <a:t>to </a:t>
            </a:r>
            <a:r>
              <a:rPr dirty="0" sz="1200" spc="-5">
                <a:latin typeface="Arial"/>
                <a:cs typeface="Arial"/>
              </a:rPr>
              <a:t>pray </a:t>
            </a:r>
            <a:r>
              <a:rPr dirty="0" sz="1200">
                <a:latin typeface="Arial"/>
                <a:cs typeface="Arial"/>
              </a:rPr>
              <a:t>but it </a:t>
            </a:r>
            <a:r>
              <a:rPr dirty="0" sz="1200" spc="-5">
                <a:latin typeface="Arial"/>
                <a:cs typeface="Arial"/>
              </a:rPr>
              <a:t>does mention </a:t>
            </a:r>
            <a:r>
              <a:rPr dirty="0" sz="1200" spc="-10">
                <a:latin typeface="Arial"/>
                <a:cs typeface="Arial"/>
              </a:rPr>
              <a:t>what  </a:t>
            </a:r>
            <a:r>
              <a:rPr dirty="0" sz="1200" spc="-5">
                <a:latin typeface="Arial"/>
                <a:cs typeface="Arial"/>
              </a:rPr>
              <a:t>means:</a:t>
            </a:r>
            <a:endParaRPr sz="1200">
              <a:latin typeface="Arial"/>
              <a:cs typeface="Arial"/>
            </a:endParaRPr>
          </a:p>
          <a:p>
            <a:pPr>
              <a:lnSpc>
                <a:spcPct val="100000"/>
              </a:lnSpc>
              <a:spcBef>
                <a:spcPts val="30"/>
              </a:spcBef>
            </a:pPr>
            <a:endParaRPr sz="1650">
              <a:latin typeface="Arial"/>
              <a:cs typeface="Arial"/>
            </a:endParaRPr>
          </a:p>
          <a:p>
            <a:pPr algn="just" marL="12700" marR="12700">
              <a:lnSpc>
                <a:spcPts val="1370"/>
              </a:lnSpc>
            </a:pPr>
            <a:r>
              <a:rPr dirty="0" sz="1200" spc="-204">
                <a:latin typeface="Arial"/>
                <a:cs typeface="Arial"/>
              </a:rPr>
              <a:t>―And </a:t>
            </a:r>
            <a:r>
              <a:rPr dirty="0" sz="1200">
                <a:latin typeface="Arial"/>
                <a:cs typeface="Arial"/>
              </a:rPr>
              <a:t>obey </a:t>
            </a:r>
            <a:r>
              <a:rPr dirty="0" sz="1200" spc="-5">
                <a:latin typeface="Arial"/>
                <a:cs typeface="Arial"/>
              </a:rPr>
              <a:t>Allah and obey </a:t>
            </a:r>
            <a:r>
              <a:rPr dirty="0" sz="1200">
                <a:latin typeface="Arial"/>
                <a:cs typeface="Arial"/>
              </a:rPr>
              <a:t>the </a:t>
            </a:r>
            <a:r>
              <a:rPr dirty="0" sz="1200" spc="-5">
                <a:latin typeface="Arial"/>
                <a:cs typeface="Arial"/>
              </a:rPr>
              <a:t>messenger; but </a:t>
            </a:r>
            <a:r>
              <a:rPr dirty="0" sz="1200" spc="-10">
                <a:latin typeface="Arial"/>
                <a:cs typeface="Arial"/>
              </a:rPr>
              <a:t>if </a:t>
            </a:r>
            <a:r>
              <a:rPr dirty="0" sz="1200" spc="-5">
                <a:latin typeface="Arial"/>
                <a:cs typeface="Arial"/>
              </a:rPr>
              <a:t>you </a:t>
            </a:r>
            <a:r>
              <a:rPr dirty="0" sz="1200">
                <a:latin typeface="Arial"/>
                <a:cs typeface="Arial"/>
              </a:rPr>
              <a:t>turn </a:t>
            </a:r>
            <a:r>
              <a:rPr dirty="0" sz="1200" spc="-10">
                <a:latin typeface="Arial"/>
                <a:cs typeface="Arial"/>
              </a:rPr>
              <a:t>away, </a:t>
            </a:r>
            <a:r>
              <a:rPr dirty="0" sz="1200" spc="-5">
                <a:latin typeface="Arial"/>
                <a:cs typeface="Arial"/>
              </a:rPr>
              <a:t>then upon Our messenger  is only </a:t>
            </a:r>
            <a:r>
              <a:rPr dirty="0" sz="1200">
                <a:latin typeface="Arial"/>
                <a:cs typeface="Arial"/>
              </a:rPr>
              <a:t>[the duty of] </a:t>
            </a:r>
            <a:r>
              <a:rPr dirty="0" sz="1200" spc="-5">
                <a:latin typeface="Arial"/>
                <a:cs typeface="Arial"/>
              </a:rPr>
              <a:t>clear </a:t>
            </a:r>
            <a:r>
              <a:rPr dirty="0" sz="1200" spc="-10">
                <a:latin typeface="Arial"/>
                <a:cs typeface="Arial"/>
              </a:rPr>
              <a:t>notification.‖ </a:t>
            </a:r>
            <a:r>
              <a:rPr dirty="0" sz="1200" spc="-5">
                <a:latin typeface="Arial"/>
                <a:cs typeface="Arial"/>
              </a:rPr>
              <a:t>(At-Taghabun</a:t>
            </a:r>
            <a:r>
              <a:rPr dirty="0" sz="1200" spc="-15">
                <a:latin typeface="Arial"/>
                <a:cs typeface="Arial"/>
              </a:rPr>
              <a:t> </a:t>
            </a:r>
            <a:r>
              <a:rPr dirty="0" sz="1200" spc="-5">
                <a:latin typeface="Arial"/>
                <a:cs typeface="Arial"/>
              </a:rPr>
              <a:t>64:12)</a:t>
            </a:r>
            <a:endParaRPr sz="1200">
              <a:latin typeface="Arial"/>
              <a:cs typeface="Arial"/>
            </a:endParaRPr>
          </a:p>
          <a:p>
            <a:pPr>
              <a:lnSpc>
                <a:spcPct val="100000"/>
              </a:lnSpc>
              <a:spcBef>
                <a:spcPts val="45"/>
              </a:spcBef>
            </a:pPr>
            <a:endParaRPr sz="1600">
              <a:latin typeface="Arial"/>
              <a:cs typeface="Arial"/>
            </a:endParaRPr>
          </a:p>
          <a:p>
            <a:pPr algn="just" marL="12700" marR="12065">
              <a:lnSpc>
                <a:spcPts val="1380"/>
              </a:lnSpc>
            </a:pPr>
            <a:r>
              <a:rPr dirty="0" sz="1200">
                <a:latin typeface="Arial"/>
                <a:cs typeface="Arial"/>
              </a:rPr>
              <a:t>And </a:t>
            </a:r>
            <a:r>
              <a:rPr dirty="0" sz="1200" spc="-5">
                <a:latin typeface="Arial"/>
                <a:cs typeface="Arial"/>
              </a:rPr>
              <a:t>it also mentions what </a:t>
            </a:r>
            <a:r>
              <a:rPr dirty="0" sz="1200">
                <a:latin typeface="Arial"/>
                <a:cs typeface="Arial"/>
              </a:rPr>
              <a:t>means </a:t>
            </a:r>
            <a:r>
              <a:rPr dirty="0" sz="1200" spc="-204">
                <a:latin typeface="Arial"/>
                <a:cs typeface="Arial"/>
              </a:rPr>
              <a:t>―And </a:t>
            </a:r>
            <a:r>
              <a:rPr dirty="0" sz="1200" spc="-5">
                <a:latin typeface="Arial"/>
                <a:cs typeface="Arial"/>
              </a:rPr>
              <a:t>whatever </a:t>
            </a:r>
            <a:r>
              <a:rPr dirty="0" sz="1200">
                <a:latin typeface="Arial"/>
                <a:cs typeface="Arial"/>
              </a:rPr>
              <a:t>the </a:t>
            </a:r>
            <a:r>
              <a:rPr dirty="0" sz="1200" spc="-5">
                <a:latin typeface="Arial"/>
                <a:cs typeface="Arial"/>
              </a:rPr>
              <a:t>messenger </a:t>
            </a:r>
            <a:r>
              <a:rPr dirty="0" sz="1200">
                <a:latin typeface="Arial"/>
                <a:cs typeface="Arial"/>
              </a:rPr>
              <a:t>has </a:t>
            </a:r>
            <a:r>
              <a:rPr dirty="0" sz="1200" spc="-5">
                <a:latin typeface="Arial"/>
                <a:cs typeface="Arial"/>
              </a:rPr>
              <a:t>given you, </a:t>
            </a:r>
            <a:r>
              <a:rPr dirty="0" sz="1200">
                <a:latin typeface="Arial"/>
                <a:cs typeface="Arial"/>
              </a:rPr>
              <a:t>take; </a:t>
            </a:r>
            <a:r>
              <a:rPr dirty="0" sz="1200" spc="-5">
                <a:latin typeface="Arial"/>
                <a:cs typeface="Arial"/>
              </a:rPr>
              <a:t>and  what </a:t>
            </a:r>
            <a:r>
              <a:rPr dirty="0" sz="1200">
                <a:latin typeface="Arial"/>
                <a:cs typeface="Arial"/>
              </a:rPr>
              <a:t>he has forbidden </a:t>
            </a:r>
            <a:r>
              <a:rPr dirty="0" sz="1200" spc="-5">
                <a:latin typeface="Arial"/>
                <a:cs typeface="Arial"/>
              </a:rPr>
              <a:t>you, refrain from. And </a:t>
            </a:r>
            <a:r>
              <a:rPr dirty="0" sz="1200">
                <a:latin typeface="Arial"/>
                <a:cs typeface="Arial"/>
              </a:rPr>
              <a:t>fear </a:t>
            </a:r>
            <a:r>
              <a:rPr dirty="0" sz="1200" spc="-5">
                <a:latin typeface="Arial"/>
                <a:cs typeface="Arial"/>
              </a:rPr>
              <a:t>Allah; indeed, Allah is severe in </a:t>
            </a:r>
            <a:r>
              <a:rPr dirty="0" sz="1200" spc="-15">
                <a:latin typeface="Arial"/>
                <a:cs typeface="Arial"/>
              </a:rPr>
              <a:t>penalty.‖  </a:t>
            </a:r>
            <a:r>
              <a:rPr dirty="0" sz="1200" spc="-5">
                <a:latin typeface="Arial"/>
                <a:cs typeface="Arial"/>
              </a:rPr>
              <a:t>(Al-Hashr </a:t>
            </a:r>
            <a:r>
              <a:rPr dirty="0" sz="1200">
                <a:latin typeface="Arial"/>
                <a:cs typeface="Arial"/>
              </a:rPr>
              <a:t>59:7)</a:t>
            </a:r>
            <a:endParaRPr sz="1200">
              <a:latin typeface="Arial"/>
              <a:cs typeface="Arial"/>
            </a:endParaRPr>
          </a:p>
          <a:p>
            <a:pPr>
              <a:lnSpc>
                <a:spcPct val="100000"/>
              </a:lnSpc>
              <a:spcBef>
                <a:spcPts val="30"/>
              </a:spcBef>
            </a:pPr>
            <a:endParaRPr sz="1600">
              <a:latin typeface="Arial"/>
              <a:cs typeface="Arial"/>
            </a:endParaRPr>
          </a:p>
          <a:p>
            <a:pPr algn="just" marL="12700" marR="7620">
              <a:lnSpc>
                <a:spcPts val="1380"/>
              </a:lnSpc>
            </a:pPr>
            <a:r>
              <a:rPr dirty="0" sz="1200">
                <a:latin typeface="Arial"/>
                <a:cs typeface="Arial"/>
              </a:rPr>
              <a:t>So, </a:t>
            </a:r>
            <a:r>
              <a:rPr dirty="0" sz="1200" spc="-5">
                <a:latin typeface="Arial"/>
                <a:cs typeface="Arial"/>
              </a:rPr>
              <a:t>Allah orders us clearly </a:t>
            </a:r>
            <a:r>
              <a:rPr dirty="0" sz="1200">
                <a:latin typeface="Arial"/>
                <a:cs typeface="Arial"/>
              </a:rPr>
              <a:t>to follow </a:t>
            </a:r>
            <a:r>
              <a:rPr dirty="0" sz="1200" spc="-5">
                <a:latin typeface="Arial"/>
                <a:cs typeface="Arial"/>
              </a:rPr>
              <a:t>and </a:t>
            </a:r>
            <a:r>
              <a:rPr dirty="0" sz="1200" spc="5">
                <a:latin typeface="Arial"/>
                <a:cs typeface="Arial"/>
              </a:rPr>
              <a:t>obey </a:t>
            </a:r>
            <a:r>
              <a:rPr dirty="0" sz="1200">
                <a:latin typeface="Arial"/>
                <a:cs typeface="Arial"/>
              </a:rPr>
              <a:t>the </a:t>
            </a:r>
            <a:r>
              <a:rPr dirty="0" sz="1200" spc="-5">
                <a:latin typeface="Arial"/>
                <a:cs typeface="Arial"/>
              </a:rPr>
              <a:t>messenger and </a:t>
            </a:r>
            <a:r>
              <a:rPr dirty="0" sz="1200">
                <a:latin typeface="Arial"/>
                <a:cs typeface="Arial"/>
              </a:rPr>
              <a:t>take </a:t>
            </a:r>
            <a:r>
              <a:rPr dirty="0" sz="1200" spc="-5">
                <a:latin typeface="Arial"/>
                <a:cs typeface="Arial"/>
              </a:rPr>
              <a:t>whatever he gives  </a:t>
            </a:r>
            <a:r>
              <a:rPr dirty="0" sz="1200">
                <a:latin typeface="Arial"/>
                <a:cs typeface="Arial"/>
              </a:rPr>
              <a:t>us. </a:t>
            </a:r>
            <a:r>
              <a:rPr dirty="0" sz="1200" spc="-5">
                <a:latin typeface="Arial"/>
                <a:cs typeface="Arial"/>
              </a:rPr>
              <a:t>And </a:t>
            </a:r>
            <a:r>
              <a:rPr dirty="0" sz="1200">
                <a:latin typeface="Arial"/>
                <a:cs typeface="Arial"/>
              </a:rPr>
              <a:t>as </a:t>
            </a:r>
            <a:r>
              <a:rPr dirty="0" sz="1200" spc="-10">
                <a:latin typeface="Arial"/>
                <a:cs typeface="Arial"/>
              </a:rPr>
              <a:t>we </a:t>
            </a:r>
            <a:r>
              <a:rPr dirty="0" sz="1200">
                <a:latin typeface="Arial"/>
                <a:cs typeface="Arial"/>
              </a:rPr>
              <a:t>are </a:t>
            </a:r>
            <a:r>
              <a:rPr dirty="0" sz="1200" spc="-5">
                <a:latin typeface="Arial"/>
                <a:cs typeface="Arial"/>
              </a:rPr>
              <a:t>talking about prayers, the Prophet</a:t>
            </a:r>
            <a:r>
              <a:rPr dirty="0" sz="1200">
                <a:latin typeface="Arial"/>
                <a:cs typeface="Arial"/>
              </a:rPr>
              <a:t> </a:t>
            </a:r>
            <a:r>
              <a:rPr dirty="0" sz="1200" spc="-5">
                <a:latin typeface="Arial"/>
                <a:cs typeface="Arial"/>
              </a:rPr>
              <a:t>says:</a:t>
            </a:r>
            <a:endParaRPr sz="1200">
              <a:latin typeface="Arial"/>
              <a:cs typeface="Arial"/>
            </a:endParaRPr>
          </a:p>
          <a:p>
            <a:pPr>
              <a:lnSpc>
                <a:spcPct val="100000"/>
              </a:lnSpc>
              <a:spcBef>
                <a:spcPts val="10"/>
              </a:spcBef>
            </a:pPr>
            <a:endParaRPr sz="1550">
              <a:latin typeface="Arial"/>
              <a:cs typeface="Arial"/>
            </a:endParaRPr>
          </a:p>
          <a:p>
            <a:pPr algn="just" marL="12700">
              <a:lnSpc>
                <a:spcPct val="100000"/>
              </a:lnSpc>
            </a:pPr>
            <a:r>
              <a:rPr dirty="0" sz="1200">
                <a:latin typeface="Arial"/>
                <a:cs typeface="Arial"/>
              </a:rPr>
              <a:t>"Pray as </a:t>
            </a:r>
            <a:r>
              <a:rPr dirty="0" sz="1200" spc="-5">
                <a:latin typeface="Arial"/>
                <a:cs typeface="Arial"/>
              </a:rPr>
              <a:t>you </a:t>
            </a:r>
            <a:r>
              <a:rPr dirty="0" sz="1200">
                <a:latin typeface="Arial"/>
                <a:cs typeface="Arial"/>
              </a:rPr>
              <a:t>saw me </a:t>
            </a:r>
            <a:r>
              <a:rPr dirty="0" sz="1200" spc="-5">
                <a:latin typeface="Arial"/>
                <a:cs typeface="Arial"/>
              </a:rPr>
              <a:t>praying."</a:t>
            </a:r>
            <a:r>
              <a:rPr dirty="0" sz="1200" spc="-35">
                <a:latin typeface="Arial"/>
                <a:cs typeface="Arial"/>
              </a:rPr>
              <a:t> </a:t>
            </a:r>
            <a:r>
              <a:rPr dirty="0" sz="1200" spc="-5">
                <a:latin typeface="Arial"/>
                <a:cs typeface="Arial"/>
              </a:rPr>
              <a:t>(Al-Bukhari)</a:t>
            </a:r>
            <a:endParaRPr sz="1200">
              <a:latin typeface="Arial"/>
              <a:cs typeface="Arial"/>
            </a:endParaRPr>
          </a:p>
          <a:p>
            <a:pPr>
              <a:lnSpc>
                <a:spcPct val="100000"/>
              </a:lnSpc>
              <a:spcBef>
                <a:spcPts val="30"/>
              </a:spcBef>
            </a:pPr>
            <a:endParaRPr sz="1600">
              <a:latin typeface="Arial"/>
              <a:cs typeface="Arial"/>
            </a:endParaRPr>
          </a:p>
          <a:p>
            <a:pPr algn="just" marL="12700" marR="7620">
              <a:lnSpc>
                <a:spcPct val="95800"/>
              </a:lnSpc>
            </a:pPr>
            <a:r>
              <a:rPr dirty="0" sz="1200">
                <a:latin typeface="Arial"/>
                <a:cs typeface="Arial"/>
              </a:rPr>
              <a:t>Zakah </a:t>
            </a:r>
            <a:r>
              <a:rPr dirty="0" sz="1200" spc="-5">
                <a:latin typeface="Arial"/>
                <a:cs typeface="Arial"/>
              </a:rPr>
              <a:t>(obligatory alms), </a:t>
            </a:r>
            <a:r>
              <a:rPr dirty="0" sz="1200">
                <a:latin typeface="Arial"/>
                <a:cs typeface="Arial"/>
              </a:rPr>
              <a:t>fasting </a:t>
            </a:r>
            <a:r>
              <a:rPr dirty="0" sz="1200" spc="-5">
                <a:latin typeface="Arial"/>
                <a:cs typeface="Arial"/>
              </a:rPr>
              <a:t>the month of Ramadan, monetary transactions, and so on.  All </a:t>
            </a:r>
            <a:r>
              <a:rPr dirty="0" sz="1200">
                <a:latin typeface="Arial"/>
                <a:cs typeface="Arial"/>
              </a:rPr>
              <a:t>of </a:t>
            </a:r>
            <a:r>
              <a:rPr dirty="0" sz="1200" spc="-5">
                <a:latin typeface="Arial"/>
                <a:cs typeface="Arial"/>
              </a:rPr>
              <a:t>the above </a:t>
            </a:r>
            <a:r>
              <a:rPr dirty="0" sz="1200">
                <a:latin typeface="Arial"/>
                <a:cs typeface="Arial"/>
              </a:rPr>
              <a:t>titles </a:t>
            </a:r>
            <a:r>
              <a:rPr dirty="0" sz="1200" spc="-5">
                <a:latin typeface="Arial"/>
                <a:cs typeface="Arial"/>
              </a:rPr>
              <a:t>are touched on briefly by </a:t>
            </a:r>
            <a:r>
              <a:rPr dirty="0" sz="1200">
                <a:latin typeface="Arial"/>
                <a:cs typeface="Arial"/>
              </a:rPr>
              <a:t>the Quran </a:t>
            </a:r>
            <a:r>
              <a:rPr dirty="0" sz="1200" spc="-5">
                <a:latin typeface="Arial"/>
                <a:cs typeface="Arial"/>
              </a:rPr>
              <a:t>but </a:t>
            </a:r>
            <a:r>
              <a:rPr dirty="0" sz="1200">
                <a:latin typeface="Arial"/>
                <a:cs typeface="Arial"/>
              </a:rPr>
              <a:t>the </a:t>
            </a:r>
            <a:r>
              <a:rPr dirty="0" sz="1200" spc="-5">
                <a:latin typeface="Arial"/>
                <a:cs typeface="Arial"/>
              </a:rPr>
              <a:t>Sunnah elaborates </a:t>
            </a:r>
            <a:r>
              <a:rPr dirty="0" sz="1200" spc="-10">
                <a:latin typeface="Arial"/>
                <a:cs typeface="Arial"/>
              </a:rPr>
              <a:t>on  </a:t>
            </a:r>
            <a:r>
              <a:rPr dirty="0" sz="1200">
                <a:latin typeface="Arial"/>
                <a:cs typeface="Arial"/>
              </a:rPr>
              <a:t>them. It </a:t>
            </a:r>
            <a:r>
              <a:rPr dirty="0" sz="1200" spc="-5">
                <a:latin typeface="Arial"/>
                <a:cs typeface="Arial"/>
              </a:rPr>
              <a:t>is worth mentioning that Quran </a:t>
            </a:r>
            <a:r>
              <a:rPr dirty="0" sz="1200" spc="-10">
                <a:latin typeface="Arial"/>
                <a:cs typeface="Arial"/>
              </a:rPr>
              <a:t>is </a:t>
            </a:r>
            <a:r>
              <a:rPr dirty="0" sz="1200" spc="-5">
                <a:latin typeface="Arial"/>
                <a:cs typeface="Arial"/>
              </a:rPr>
              <a:t>communally transmitted from generation </a:t>
            </a:r>
            <a:r>
              <a:rPr dirty="0" sz="1200">
                <a:latin typeface="Arial"/>
                <a:cs typeface="Arial"/>
              </a:rPr>
              <a:t>to  </a:t>
            </a:r>
            <a:r>
              <a:rPr dirty="0" sz="1200" spc="-5">
                <a:latin typeface="Arial"/>
                <a:cs typeface="Arial"/>
              </a:rPr>
              <a:t>generation in such a way </a:t>
            </a:r>
            <a:r>
              <a:rPr dirty="0" sz="1200">
                <a:latin typeface="Arial"/>
                <a:cs typeface="Arial"/>
              </a:rPr>
              <a:t>that </a:t>
            </a:r>
            <a:r>
              <a:rPr dirty="0" sz="1200" spc="-5">
                <a:latin typeface="Arial"/>
                <a:cs typeface="Arial"/>
              </a:rPr>
              <a:t>huge number of people memorised and transmitted </a:t>
            </a:r>
            <a:r>
              <a:rPr dirty="0" sz="1200">
                <a:latin typeface="Arial"/>
                <a:cs typeface="Arial"/>
              </a:rPr>
              <a:t>it to </a:t>
            </a:r>
            <a:r>
              <a:rPr dirty="0" sz="1200" spc="-10">
                <a:latin typeface="Arial"/>
                <a:cs typeface="Arial"/>
              </a:rPr>
              <a:t>the  </a:t>
            </a:r>
            <a:r>
              <a:rPr dirty="0" sz="1200" spc="-5">
                <a:latin typeface="Arial"/>
                <a:cs typeface="Arial"/>
              </a:rPr>
              <a:t>subsequent generation all the </a:t>
            </a:r>
            <a:r>
              <a:rPr dirty="0" sz="1200" spc="-10">
                <a:latin typeface="Arial"/>
                <a:cs typeface="Arial"/>
              </a:rPr>
              <a:t>way </a:t>
            </a:r>
            <a:r>
              <a:rPr dirty="0" sz="1200" spc="-5">
                <a:latin typeface="Arial"/>
                <a:cs typeface="Arial"/>
              </a:rPr>
              <a:t>from the </a:t>
            </a:r>
            <a:r>
              <a:rPr dirty="0" sz="1200">
                <a:latin typeface="Arial"/>
                <a:cs typeface="Arial"/>
              </a:rPr>
              <a:t>time </a:t>
            </a:r>
            <a:r>
              <a:rPr dirty="0" sz="1200" spc="-5">
                <a:latin typeface="Arial"/>
                <a:cs typeface="Arial"/>
              </a:rPr>
              <a:t>of the Prophet until today. </a:t>
            </a:r>
            <a:r>
              <a:rPr dirty="0" sz="1200">
                <a:latin typeface="Arial"/>
                <a:cs typeface="Arial"/>
              </a:rPr>
              <a:t>This </a:t>
            </a:r>
            <a:r>
              <a:rPr dirty="0" sz="1200" spc="-5">
                <a:latin typeface="Arial"/>
                <a:cs typeface="Arial"/>
              </a:rPr>
              <a:t>is what  </a:t>
            </a:r>
            <a:r>
              <a:rPr dirty="0" sz="1200">
                <a:latin typeface="Arial"/>
                <a:cs typeface="Arial"/>
              </a:rPr>
              <a:t>makes </a:t>
            </a:r>
            <a:r>
              <a:rPr dirty="0" sz="1200" spc="-5">
                <a:latin typeface="Arial"/>
                <a:cs typeface="Arial"/>
              </a:rPr>
              <a:t>the Quran so authentic, because </a:t>
            </a:r>
            <a:r>
              <a:rPr dirty="0" sz="1200">
                <a:latin typeface="Arial"/>
                <a:cs typeface="Arial"/>
              </a:rPr>
              <a:t>it </a:t>
            </a:r>
            <a:r>
              <a:rPr dirty="0" sz="1200" spc="-5">
                <a:latin typeface="Arial"/>
                <a:cs typeface="Arial"/>
              </a:rPr>
              <a:t>is impossible that </a:t>
            </a:r>
            <a:r>
              <a:rPr dirty="0" sz="1200" spc="-10">
                <a:latin typeface="Arial"/>
                <a:cs typeface="Arial"/>
              </a:rPr>
              <a:t>an </a:t>
            </a:r>
            <a:r>
              <a:rPr dirty="0" sz="1200" spc="-5">
                <a:latin typeface="Arial"/>
                <a:cs typeface="Arial"/>
              </a:rPr>
              <a:t>entire generation </a:t>
            </a:r>
            <a:r>
              <a:rPr dirty="0" sz="1200" spc="-10">
                <a:latin typeface="Arial"/>
                <a:cs typeface="Arial"/>
              </a:rPr>
              <a:t>will </a:t>
            </a:r>
            <a:r>
              <a:rPr dirty="0" sz="1200" spc="-5">
                <a:latin typeface="Arial"/>
                <a:cs typeface="Arial"/>
              </a:rPr>
              <a:t>be  mistaken in their narration. </a:t>
            </a:r>
            <a:r>
              <a:rPr dirty="0" sz="1200">
                <a:latin typeface="Arial"/>
                <a:cs typeface="Arial"/>
              </a:rPr>
              <a:t>On the </a:t>
            </a:r>
            <a:r>
              <a:rPr dirty="0" sz="1200" spc="-5">
                <a:latin typeface="Arial"/>
                <a:cs typeface="Arial"/>
              </a:rPr>
              <a:t>other hand, not all the Sunnah </a:t>
            </a:r>
            <a:r>
              <a:rPr dirty="0" sz="1200" spc="-10">
                <a:latin typeface="Arial"/>
                <a:cs typeface="Arial"/>
              </a:rPr>
              <a:t>was </a:t>
            </a:r>
            <a:r>
              <a:rPr dirty="0" sz="1200">
                <a:latin typeface="Arial"/>
                <a:cs typeface="Arial"/>
              </a:rPr>
              <a:t>transmitted to </a:t>
            </a:r>
            <a:r>
              <a:rPr dirty="0" sz="1200" spc="-5">
                <a:latin typeface="Arial"/>
                <a:cs typeface="Arial"/>
              </a:rPr>
              <a:t>us </a:t>
            </a:r>
            <a:r>
              <a:rPr dirty="0" sz="1200" spc="-10">
                <a:latin typeface="Arial"/>
                <a:cs typeface="Arial"/>
              </a:rPr>
              <a:t>in  </a:t>
            </a:r>
            <a:r>
              <a:rPr dirty="0" sz="1200" spc="-5">
                <a:latin typeface="Arial"/>
                <a:cs typeface="Arial"/>
              </a:rPr>
              <a:t>the </a:t>
            </a:r>
            <a:r>
              <a:rPr dirty="0" sz="1200" spc="-10">
                <a:latin typeface="Arial"/>
                <a:cs typeface="Arial"/>
              </a:rPr>
              <a:t>same way </a:t>
            </a:r>
            <a:r>
              <a:rPr dirty="0" sz="1200" spc="-5">
                <a:latin typeface="Arial"/>
                <a:cs typeface="Arial"/>
              </a:rPr>
              <a:t>like </a:t>
            </a:r>
            <a:r>
              <a:rPr dirty="0" sz="1200">
                <a:latin typeface="Arial"/>
                <a:cs typeface="Arial"/>
              </a:rPr>
              <a:t>the Quran, </a:t>
            </a:r>
            <a:r>
              <a:rPr dirty="0" sz="1200" spc="-5">
                <a:latin typeface="Arial"/>
                <a:cs typeface="Arial"/>
              </a:rPr>
              <a:t>only some </a:t>
            </a:r>
            <a:r>
              <a:rPr dirty="0" sz="1200" spc="-10">
                <a:latin typeface="Arial"/>
                <a:cs typeface="Arial"/>
              </a:rPr>
              <a:t>if </a:t>
            </a:r>
            <a:r>
              <a:rPr dirty="0" sz="1200">
                <a:latin typeface="Arial"/>
                <a:cs typeface="Arial"/>
              </a:rPr>
              <a:t>it is. </a:t>
            </a:r>
            <a:r>
              <a:rPr dirty="0" sz="1200" spc="-5">
                <a:latin typeface="Arial"/>
                <a:cs typeface="Arial"/>
              </a:rPr>
              <a:t>However, Muslim scholars developed a very  scientific and sophisticated methodology </a:t>
            </a:r>
            <a:r>
              <a:rPr dirty="0" sz="1200">
                <a:latin typeface="Arial"/>
                <a:cs typeface="Arial"/>
              </a:rPr>
              <a:t>to </a:t>
            </a:r>
            <a:r>
              <a:rPr dirty="0" sz="1200" spc="-5">
                <a:latin typeface="Arial"/>
                <a:cs typeface="Arial"/>
              </a:rPr>
              <a:t>categorise </a:t>
            </a:r>
            <a:r>
              <a:rPr dirty="0" sz="1200">
                <a:latin typeface="Arial"/>
                <a:cs typeface="Arial"/>
              </a:rPr>
              <a:t>the </a:t>
            </a:r>
            <a:r>
              <a:rPr dirty="0" sz="1200" spc="-5">
                <a:latin typeface="Arial"/>
                <a:cs typeface="Arial"/>
              </a:rPr>
              <a:t>narrations </a:t>
            </a:r>
            <a:r>
              <a:rPr dirty="0" sz="1200">
                <a:latin typeface="Arial"/>
                <a:cs typeface="Arial"/>
              </a:rPr>
              <a:t>that </a:t>
            </a:r>
            <a:r>
              <a:rPr dirty="0" sz="1200" spc="-5">
                <a:latin typeface="Arial"/>
                <a:cs typeface="Arial"/>
              </a:rPr>
              <a:t>come </a:t>
            </a:r>
            <a:r>
              <a:rPr dirty="0" sz="1200">
                <a:latin typeface="Arial"/>
                <a:cs typeface="Arial"/>
              </a:rPr>
              <a:t>to </a:t>
            </a:r>
            <a:r>
              <a:rPr dirty="0" sz="1200" spc="-5">
                <a:latin typeface="Arial"/>
                <a:cs typeface="Arial"/>
              </a:rPr>
              <a:t>us from  </a:t>
            </a:r>
            <a:r>
              <a:rPr dirty="0" sz="1200">
                <a:latin typeface="Arial"/>
                <a:cs typeface="Arial"/>
              </a:rPr>
              <a:t>the </a:t>
            </a:r>
            <a:r>
              <a:rPr dirty="0" sz="1200" spc="-5">
                <a:latin typeface="Arial"/>
                <a:cs typeface="Arial"/>
              </a:rPr>
              <a:t>Prophet. </a:t>
            </a:r>
            <a:r>
              <a:rPr dirty="0" sz="1200">
                <a:latin typeface="Arial"/>
                <a:cs typeface="Arial"/>
              </a:rPr>
              <a:t>This </a:t>
            </a:r>
            <a:r>
              <a:rPr dirty="0" sz="1200" spc="-5">
                <a:latin typeface="Arial"/>
                <a:cs typeface="Arial"/>
              </a:rPr>
              <a:t>science is called hadith methodology. Using certain </a:t>
            </a:r>
            <a:r>
              <a:rPr dirty="0" sz="1200">
                <a:latin typeface="Arial"/>
                <a:cs typeface="Arial"/>
              </a:rPr>
              <a:t>scientific </a:t>
            </a:r>
            <a:r>
              <a:rPr dirty="0" sz="1200" spc="-5">
                <a:latin typeface="Arial"/>
                <a:cs typeface="Arial"/>
              </a:rPr>
              <a:t>criteria, </a:t>
            </a:r>
            <a:r>
              <a:rPr dirty="0" sz="1200">
                <a:latin typeface="Arial"/>
                <a:cs typeface="Arial"/>
              </a:rPr>
              <a:t>they  </a:t>
            </a:r>
            <a:r>
              <a:rPr dirty="0" sz="1200" spc="-5">
                <a:latin typeface="Arial"/>
                <a:cs typeface="Arial"/>
              </a:rPr>
              <a:t>can </a:t>
            </a:r>
            <a:r>
              <a:rPr dirty="0" sz="1200">
                <a:latin typeface="Arial"/>
                <a:cs typeface="Arial"/>
              </a:rPr>
              <a:t>tell </a:t>
            </a:r>
            <a:r>
              <a:rPr dirty="0" sz="1200" spc="-5">
                <a:latin typeface="Arial"/>
                <a:cs typeface="Arial"/>
              </a:rPr>
              <a:t>which narration is authentic and which is not. </a:t>
            </a:r>
            <a:r>
              <a:rPr dirty="0" sz="1200">
                <a:latin typeface="Arial"/>
                <a:cs typeface="Arial"/>
              </a:rPr>
              <a:t>In </a:t>
            </a:r>
            <a:r>
              <a:rPr dirty="0" sz="1200" spc="-5">
                <a:latin typeface="Arial"/>
                <a:cs typeface="Arial"/>
              </a:rPr>
              <a:t>a nutshell, </a:t>
            </a:r>
            <a:r>
              <a:rPr dirty="0" sz="1200">
                <a:latin typeface="Arial"/>
                <a:cs typeface="Arial"/>
              </a:rPr>
              <a:t>the </a:t>
            </a:r>
            <a:r>
              <a:rPr dirty="0" sz="1200" spc="-5">
                <a:latin typeface="Arial"/>
                <a:cs typeface="Arial"/>
              </a:rPr>
              <a:t>Quran is inspired by  Allah in meaning and wording. However, </a:t>
            </a:r>
            <a:r>
              <a:rPr dirty="0" sz="1200">
                <a:latin typeface="Arial"/>
                <a:cs typeface="Arial"/>
              </a:rPr>
              <a:t>the </a:t>
            </a:r>
            <a:r>
              <a:rPr dirty="0" sz="1200" spc="-5">
                <a:latin typeface="Arial"/>
                <a:cs typeface="Arial"/>
              </a:rPr>
              <a:t>Sunnah is inspired by Allah in meaning while  </a:t>
            </a:r>
            <a:r>
              <a:rPr dirty="0" sz="1200">
                <a:latin typeface="Arial"/>
                <a:cs typeface="Arial"/>
              </a:rPr>
              <a:t>the </a:t>
            </a:r>
            <a:r>
              <a:rPr dirty="0" sz="1200" spc="-5">
                <a:latin typeface="Arial"/>
                <a:cs typeface="Arial"/>
              </a:rPr>
              <a:t>wording is </a:t>
            </a:r>
            <a:r>
              <a:rPr dirty="0" sz="1200">
                <a:latin typeface="Arial"/>
                <a:cs typeface="Arial"/>
              </a:rPr>
              <a:t>from </a:t>
            </a:r>
            <a:r>
              <a:rPr dirty="0" sz="1200" spc="-5">
                <a:latin typeface="Arial"/>
                <a:cs typeface="Arial"/>
              </a:rPr>
              <a:t>Prophet Muhammad. Allah says in the Quran what</a:t>
            </a:r>
            <a:r>
              <a:rPr dirty="0" sz="1200" spc="70">
                <a:latin typeface="Arial"/>
                <a:cs typeface="Arial"/>
              </a:rPr>
              <a:t> </a:t>
            </a:r>
            <a:r>
              <a:rPr dirty="0" sz="1200" spc="-5">
                <a:latin typeface="Arial"/>
                <a:cs typeface="Arial"/>
              </a:rPr>
              <a:t>means:</a:t>
            </a:r>
            <a:endParaRPr sz="1200">
              <a:latin typeface="Arial"/>
              <a:cs typeface="Arial"/>
            </a:endParaRPr>
          </a:p>
          <a:p>
            <a:pPr>
              <a:lnSpc>
                <a:spcPct val="100000"/>
              </a:lnSpc>
              <a:spcBef>
                <a:spcPts val="30"/>
              </a:spcBef>
            </a:pPr>
            <a:endParaRPr sz="1650">
              <a:latin typeface="Arial"/>
              <a:cs typeface="Arial"/>
            </a:endParaRPr>
          </a:p>
          <a:p>
            <a:pPr algn="just" marL="12700" marR="5080">
              <a:lnSpc>
                <a:spcPts val="1370"/>
              </a:lnSpc>
            </a:pPr>
            <a:r>
              <a:rPr dirty="0" sz="1200" spc="-204">
                <a:latin typeface="Arial"/>
                <a:cs typeface="Arial"/>
              </a:rPr>
              <a:t>―Nor </a:t>
            </a:r>
            <a:r>
              <a:rPr dirty="0" sz="1200">
                <a:latin typeface="Arial"/>
                <a:cs typeface="Arial"/>
              </a:rPr>
              <a:t>does he </a:t>
            </a:r>
            <a:r>
              <a:rPr dirty="0" sz="1200" spc="-5">
                <a:latin typeface="Arial"/>
                <a:cs typeface="Arial"/>
              </a:rPr>
              <a:t>speak from </a:t>
            </a:r>
            <a:r>
              <a:rPr dirty="0" sz="1200">
                <a:latin typeface="Arial"/>
                <a:cs typeface="Arial"/>
              </a:rPr>
              <a:t>[his </a:t>
            </a:r>
            <a:r>
              <a:rPr dirty="0" sz="1200" spc="-5">
                <a:latin typeface="Arial"/>
                <a:cs typeface="Arial"/>
              </a:rPr>
              <a:t>own] inclination. </a:t>
            </a:r>
            <a:r>
              <a:rPr dirty="0" sz="1200">
                <a:latin typeface="Arial"/>
                <a:cs typeface="Arial"/>
              </a:rPr>
              <a:t>It </a:t>
            </a:r>
            <a:r>
              <a:rPr dirty="0" sz="1200" spc="-5">
                <a:latin typeface="Arial"/>
                <a:cs typeface="Arial"/>
              </a:rPr>
              <a:t>is </a:t>
            </a:r>
            <a:r>
              <a:rPr dirty="0" sz="1200">
                <a:latin typeface="Arial"/>
                <a:cs typeface="Arial"/>
              </a:rPr>
              <a:t>not but a </a:t>
            </a:r>
            <a:r>
              <a:rPr dirty="0" sz="1200" spc="-5">
                <a:latin typeface="Arial"/>
                <a:cs typeface="Arial"/>
              </a:rPr>
              <a:t>revelation </a:t>
            </a:r>
            <a:r>
              <a:rPr dirty="0" sz="1200" spc="-15">
                <a:latin typeface="Arial"/>
                <a:cs typeface="Arial"/>
              </a:rPr>
              <a:t>revealed.‖ </a:t>
            </a:r>
            <a:r>
              <a:rPr dirty="0" sz="1200" spc="5">
                <a:latin typeface="Arial"/>
                <a:cs typeface="Arial"/>
              </a:rPr>
              <a:t>(An-Najm  </a:t>
            </a:r>
            <a:r>
              <a:rPr dirty="0" sz="1200">
                <a:latin typeface="Arial"/>
                <a:cs typeface="Arial"/>
              </a:rPr>
              <a:t>53:3-4).</a:t>
            </a:r>
            <a:endParaRPr sz="1200">
              <a:latin typeface="Arial"/>
              <a:cs typeface="Arial"/>
            </a:endParaRPr>
          </a:p>
          <a:p>
            <a:pPr>
              <a:lnSpc>
                <a:spcPct val="100000"/>
              </a:lnSpc>
              <a:spcBef>
                <a:spcPts val="45"/>
              </a:spcBef>
            </a:pPr>
            <a:endParaRPr sz="1600">
              <a:latin typeface="Arial"/>
              <a:cs typeface="Arial"/>
            </a:endParaRPr>
          </a:p>
          <a:p>
            <a:pPr algn="just" marL="12700" marR="10160">
              <a:lnSpc>
                <a:spcPts val="1380"/>
              </a:lnSpc>
            </a:pPr>
            <a:r>
              <a:rPr dirty="0" sz="1200">
                <a:latin typeface="Arial"/>
                <a:cs typeface="Arial"/>
              </a:rPr>
              <a:t>So, </a:t>
            </a:r>
            <a:r>
              <a:rPr dirty="0" sz="1200" spc="-5">
                <a:latin typeface="Arial"/>
                <a:cs typeface="Arial"/>
              </a:rPr>
              <a:t>the Sunnah, as the Prophetic text, comes right </a:t>
            </a:r>
            <a:r>
              <a:rPr dirty="0" sz="1200">
                <a:latin typeface="Arial"/>
                <a:cs typeface="Arial"/>
              </a:rPr>
              <a:t>after </a:t>
            </a:r>
            <a:r>
              <a:rPr dirty="0" sz="1200" spc="-5">
                <a:latin typeface="Arial"/>
                <a:cs typeface="Arial"/>
              </a:rPr>
              <a:t>the Quran as </a:t>
            </a:r>
            <a:r>
              <a:rPr dirty="0" sz="1200">
                <a:latin typeface="Arial"/>
                <a:cs typeface="Arial"/>
              </a:rPr>
              <a:t>part </a:t>
            </a:r>
            <a:r>
              <a:rPr dirty="0" sz="1200" spc="-5">
                <a:latin typeface="Arial"/>
                <a:cs typeface="Arial"/>
              </a:rPr>
              <a:t>of </a:t>
            </a:r>
            <a:r>
              <a:rPr dirty="0" sz="1200">
                <a:latin typeface="Arial"/>
                <a:cs typeface="Arial"/>
              </a:rPr>
              <a:t>the </a:t>
            </a:r>
            <a:r>
              <a:rPr dirty="0" sz="1200" spc="-5">
                <a:latin typeface="Arial"/>
                <a:cs typeface="Arial"/>
              </a:rPr>
              <a:t>revelation,  and both of them are the </a:t>
            </a:r>
            <a:r>
              <a:rPr dirty="0" sz="1200" spc="-10">
                <a:latin typeface="Arial"/>
                <a:cs typeface="Arial"/>
              </a:rPr>
              <a:t>two </a:t>
            </a:r>
            <a:r>
              <a:rPr dirty="0" sz="1200">
                <a:latin typeface="Arial"/>
                <a:cs typeface="Arial"/>
              </a:rPr>
              <a:t>main sources </a:t>
            </a:r>
            <a:r>
              <a:rPr dirty="0" sz="1200" spc="-5">
                <a:latin typeface="Arial"/>
                <a:cs typeface="Arial"/>
              </a:rPr>
              <a:t>of Islam. Allah made </a:t>
            </a:r>
            <a:r>
              <a:rPr dirty="0" sz="1200">
                <a:latin typeface="Arial"/>
                <a:cs typeface="Arial"/>
              </a:rPr>
              <a:t>it </a:t>
            </a:r>
            <a:r>
              <a:rPr dirty="0" sz="1200" spc="-5">
                <a:latin typeface="Arial"/>
                <a:cs typeface="Arial"/>
              </a:rPr>
              <a:t>clear </a:t>
            </a:r>
            <a:r>
              <a:rPr dirty="0" sz="1200">
                <a:latin typeface="Arial"/>
                <a:cs typeface="Arial"/>
              </a:rPr>
              <a:t>that </a:t>
            </a:r>
            <a:r>
              <a:rPr dirty="0" sz="1200" spc="-5">
                <a:latin typeface="Arial"/>
                <a:cs typeface="Arial"/>
              </a:rPr>
              <a:t>Sunnah</a:t>
            </a:r>
            <a:r>
              <a:rPr dirty="0" sz="1200" spc="315">
                <a:latin typeface="Arial"/>
                <a:cs typeface="Arial"/>
              </a:rPr>
              <a:t> </a:t>
            </a:r>
            <a:r>
              <a:rPr dirty="0" sz="1200" spc="-5">
                <a:latin typeface="Arial"/>
                <a:cs typeface="Arial"/>
              </a:rPr>
              <a:t>should</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534416" y="9617871"/>
            <a:ext cx="1811020" cy="481965"/>
          </a:xfrm>
          <a:prstGeom prst="rect">
            <a:avLst/>
          </a:prstGeom>
        </p:spPr>
        <p:txBody>
          <a:bodyPr wrap="square" lIns="0" tIns="0" rIns="0" bIns="0" rtlCol="0" vert="horz">
            <a:spAutoFit/>
          </a:bodyPr>
          <a:lstStyle/>
          <a:p>
            <a:pPr marL="12700">
              <a:lnSpc>
                <a:spcPts val="1425"/>
              </a:lnSpc>
            </a:pPr>
            <a:r>
              <a:rPr dirty="0" sz="1200" spc="-5">
                <a:latin typeface="Arial"/>
                <a:cs typeface="Arial"/>
              </a:rPr>
              <a:t>be followed when </a:t>
            </a:r>
            <a:r>
              <a:rPr dirty="0" sz="1200">
                <a:latin typeface="Arial"/>
                <a:cs typeface="Arial"/>
              </a:rPr>
              <a:t>he</a:t>
            </a:r>
            <a:r>
              <a:rPr dirty="0" sz="1200" spc="-50">
                <a:latin typeface="Arial"/>
                <a:cs typeface="Arial"/>
              </a:rPr>
              <a:t> </a:t>
            </a:r>
            <a:r>
              <a:rPr dirty="0" sz="1200" spc="-5">
                <a:latin typeface="Arial"/>
                <a:cs typeface="Arial"/>
              </a:rPr>
              <a:t>says:</a:t>
            </a:r>
            <a:endParaRPr sz="1200">
              <a:latin typeface="Arial"/>
              <a:cs typeface="Arial"/>
            </a:endParaRPr>
          </a:p>
          <a:p>
            <a:pPr marL="12700">
              <a:lnSpc>
                <a:spcPct val="100000"/>
              </a:lnSpc>
              <a:spcBef>
                <a:spcPts val="805"/>
              </a:spcBef>
            </a:pPr>
            <a:r>
              <a:rPr dirty="0" sz="1200" spc="-5" b="1">
                <a:latin typeface="Times New Roman"/>
                <a:cs typeface="Times New Roman"/>
              </a:rPr>
              <a:t>Mr</a:t>
            </a:r>
            <a:r>
              <a:rPr dirty="0" sz="120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2988691" y="9905322"/>
            <a:ext cx="603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120</a:t>
            </a:r>
            <a:endParaRPr sz="1200">
              <a:latin typeface="Times New Roman"/>
              <a:cs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6312535" cy="8919210"/>
          </a:xfrm>
          <a:prstGeom prst="rect">
            <a:avLst/>
          </a:prstGeom>
        </p:spPr>
        <p:txBody>
          <a:bodyPr wrap="square" lIns="0" tIns="12700" rIns="0" bIns="0" rtlCol="0" vert="horz">
            <a:spAutoFit/>
          </a:bodyPr>
          <a:lstStyle/>
          <a:p>
            <a:pPr algn="just" marL="12700">
              <a:lnSpc>
                <a:spcPct val="100000"/>
              </a:lnSpc>
              <a:spcBef>
                <a:spcPts val="100"/>
              </a:spcBef>
            </a:pPr>
            <a:r>
              <a:rPr dirty="0" sz="1200" spc="-275">
                <a:latin typeface="Arial"/>
                <a:cs typeface="Arial"/>
              </a:rPr>
              <a:t>―He </a:t>
            </a:r>
            <a:r>
              <a:rPr dirty="0" sz="1200" spc="-5">
                <a:latin typeface="Arial"/>
                <a:cs typeface="Arial"/>
              </a:rPr>
              <a:t>who obeys </a:t>
            </a:r>
            <a:r>
              <a:rPr dirty="0" sz="1200">
                <a:latin typeface="Arial"/>
                <a:cs typeface="Arial"/>
              </a:rPr>
              <a:t>the </a:t>
            </a:r>
            <a:r>
              <a:rPr dirty="0" sz="1200" spc="-5">
                <a:latin typeface="Arial"/>
                <a:cs typeface="Arial"/>
              </a:rPr>
              <a:t>Messenger </a:t>
            </a:r>
            <a:r>
              <a:rPr dirty="0" sz="1200">
                <a:latin typeface="Arial"/>
                <a:cs typeface="Arial"/>
              </a:rPr>
              <a:t>has </a:t>
            </a:r>
            <a:r>
              <a:rPr dirty="0" sz="1200" spc="-5">
                <a:latin typeface="Arial"/>
                <a:cs typeface="Arial"/>
              </a:rPr>
              <a:t>obeyed </a:t>
            </a:r>
            <a:r>
              <a:rPr dirty="0" sz="1200" spc="-20">
                <a:latin typeface="Arial"/>
                <a:cs typeface="Arial"/>
              </a:rPr>
              <a:t>Allah.‖ </a:t>
            </a:r>
            <a:r>
              <a:rPr dirty="0" sz="1200">
                <a:latin typeface="Arial"/>
                <a:cs typeface="Arial"/>
              </a:rPr>
              <a:t>(An-Nisaa' </a:t>
            </a:r>
            <a:r>
              <a:rPr dirty="0" sz="1200" spc="-5">
                <a:latin typeface="Arial"/>
                <a:cs typeface="Arial"/>
              </a:rPr>
              <a:t>4:80).</a:t>
            </a:r>
            <a:endParaRPr sz="1200">
              <a:latin typeface="Arial"/>
              <a:cs typeface="Arial"/>
            </a:endParaRPr>
          </a:p>
          <a:p>
            <a:pPr>
              <a:lnSpc>
                <a:spcPct val="100000"/>
              </a:lnSpc>
              <a:spcBef>
                <a:spcPts val="30"/>
              </a:spcBef>
            </a:pPr>
            <a:endParaRPr sz="1650">
              <a:latin typeface="Arial"/>
              <a:cs typeface="Arial"/>
            </a:endParaRPr>
          </a:p>
          <a:p>
            <a:pPr algn="just" marL="12700" marR="109855">
              <a:lnSpc>
                <a:spcPts val="1370"/>
              </a:lnSpc>
            </a:pPr>
            <a:r>
              <a:rPr dirty="0" sz="1200" spc="-5">
                <a:latin typeface="Arial"/>
                <a:cs typeface="Arial"/>
              </a:rPr>
              <a:t>Another hadith that </a:t>
            </a:r>
            <a:r>
              <a:rPr dirty="0" sz="1200" spc="-10">
                <a:latin typeface="Arial"/>
                <a:cs typeface="Arial"/>
              </a:rPr>
              <a:t>shows </a:t>
            </a:r>
            <a:r>
              <a:rPr dirty="0" sz="1200">
                <a:latin typeface="Arial"/>
                <a:cs typeface="Arial"/>
              </a:rPr>
              <a:t>that Quran </a:t>
            </a:r>
            <a:r>
              <a:rPr dirty="0" sz="1200" spc="-5">
                <a:latin typeface="Arial"/>
                <a:cs typeface="Arial"/>
              </a:rPr>
              <a:t>and Sunnah are interrelated, and warns against  </a:t>
            </a:r>
            <a:r>
              <a:rPr dirty="0" sz="1200">
                <a:latin typeface="Arial"/>
                <a:cs typeface="Arial"/>
              </a:rPr>
              <a:t>taking </a:t>
            </a:r>
            <a:r>
              <a:rPr dirty="0" sz="1200" spc="-5">
                <a:latin typeface="Arial"/>
                <a:cs typeface="Arial"/>
              </a:rPr>
              <a:t>the Quran and abandoning Sunnah</a:t>
            </a:r>
            <a:r>
              <a:rPr dirty="0" sz="1200" spc="-10">
                <a:latin typeface="Arial"/>
                <a:cs typeface="Arial"/>
              </a:rPr>
              <a:t> </a:t>
            </a:r>
            <a:r>
              <a:rPr dirty="0" sz="1200" spc="-5">
                <a:latin typeface="Arial"/>
                <a:cs typeface="Arial"/>
              </a:rPr>
              <a:t>goes:</a:t>
            </a:r>
            <a:endParaRPr sz="1200">
              <a:latin typeface="Arial"/>
              <a:cs typeface="Arial"/>
            </a:endParaRPr>
          </a:p>
          <a:p>
            <a:pPr>
              <a:lnSpc>
                <a:spcPct val="100000"/>
              </a:lnSpc>
              <a:spcBef>
                <a:spcPts val="50"/>
              </a:spcBef>
            </a:pPr>
            <a:endParaRPr sz="1600">
              <a:latin typeface="Arial"/>
              <a:cs typeface="Arial"/>
            </a:endParaRPr>
          </a:p>
          <a:p>
            <a:pPr algn="just" marL="12700" marR="109220">
              <a:lnSpc>
                <a:spcPts val="1370"/>
              </a:lnSpc>
              <a:spcBef>
                <a:spcPts val="5"/>
              </a:spcBef>
            </a:pPr>
            <a:r>
              <a:rPr dirty="0" sz="1200" spc="-5">
                <a:latin typeface="Arial"/>
                <a:cs typeface="Arial"/>
              </a:rPr>
              <a:t>"Indeed </a:t>
            </a:r>
            <a:r>
              <a:rPr dirty="0" sz="1200">
                <a:latin typeface="Arial"/>
                <a:cs typeface="Arial"/>
              </a:rPr>
              <a:t>I </a:t>
            </a:r>
            <a:r>
              <a:rPr dirty="0" sz="1200" spc="-5">
                <a:latin typeface="Arial"/>
                <a:cs typeface="Arial"/>
              </a:rPr>
              <a:t>have been given </a:t>
            </a:r>
            <a:r>
              <a:rPr dirty="0" sz="1200">
                <a:latin typeface="Arial"/>
                <a:cs typeface="Arial"/>
              </a:rPr>
              <a:t>the </a:t>
            </a:r>
            <a:r>
              <a:rPr dirty="0" sz="1200" spc="-5">
                <a:latin typeface="Arial"/>
                <a:cs typeface="Arial"/>
              </a:rPr>
              <a:t>Book (that </a:t>
            </a:r>
            <a:r>
              <a:rPr dirty="0" sz="1200">
                <a:latin typeface="Arial"/>
                <a:cs typeface="Arial"/>
              </a:rPr>
              <a:t>is, the </a:t>
            </a:r>
            <a:r>
              <a:rPr dirty="0" sz="1200" spc="-5">
                <a:latin typeface="Arial"/>
                <a:cs typeface="Arial"/>
              </a:rPr>
              <a:t>Quran) and something like </a:t>
            </a:r>
            <a:r>
              <a:rPr dirty="0" sz="1200">
                <a:latin typeface="Arial"/>
                <a:cs typeface="Arial"/>
              </a:rPr>
              <a:t>it along </a:t>
            </a:r>
            <a:r>
              <a:rPr dirty="0" sz="1200" spc="-5">
                <a:latin typeface="Arial"/>
                <a:cs typeface="Arial"/>
              </a:rPr>
              <a:t>with </a:t>
            </a:r>
            <a:r>
              <a:rPr dirty="0" sz="1200">
                <a:latin typeface="Arial"/>
                <a:cs typeface="Arial"/>
              </a:rPr>
              <a:t>it."  </a:t>
            </a:r>
            <a:r>
              <a:rPr dirty="0" sz="1200" spc="-5">
                <a:latin typeface="Arial"/>
                <a:cs typeface="Arial"/>
              </a:rPr>
              <a:t>(Abu Dawud)</a:t>
            </a:r>
            <a:endParaRPr sz="1200">
              <a:latin typeface="Arial"/>
              <a:cs typeface="Arial"/>
            </a:endParaRPr>
          </a:p>
          <a:p>
            <a:pPr>
              <a:lnSpc>
                <a:spcPct val="100000"/>
              </a:lnSpc>
              <a:spcBef>
                <a:spcPts val="10"/>
              </a:spcBef>
            </a:pPr>
            <a:endParaRPr sz="1600">
              <a:latin typeface="Arial"/>
              <a:cs typeface="Arial"/>
            </a:endParaRPr>
          </a:p>
          <a:p>
            <a:pPr algn="just" marL="12700" marR="102235">
              <a:lnSpc>
                <a:spcPct val="95600"/>
              </a:lnSpc>
            </a:pPr>
            <a:r>
              <a:rPr dirty="0" sz="1200">
                <a:latin typeface="Arial"/>
                <a:cs typeface="Arial"/>
              </a:rPr>
              <a:t>To </a:t>
            </a:r>
            <a:r>
              <a:rPr dirty="0" sz="1200" spc="-5">
                <a:latin typeface="Arial"/>
                <a:cs typeface="Arial"/>
              </a:rPr>
              <a:t>conclude, the </a:t>
            </a:r>
            <a:r>
              <a:rPr dirty="0" sz="1200" spc="-10">
                <a:latin typeface="Arial"/>
                <a:cs typeface="Arial"/>
              </a:rPr>
              <a:t>Quran </a:t>
            </a:r>
            <a:r>
              <a:rPr dirty="0" sz="1200" spc="-5">
                <a:latin typeface="Arial"/>
                <a:cs typeface="Arial"/>
              </a:rPr>
              <a:t>and the Sunnah together are the sources of guidance and laws </a:t>
            </a:r>
            <a:r>
              <a:rPr dirty="0" sz="1200">
                <a:latin typeface="Arial"/>
                <a:cs typeface="Arial"/>
              </a:rPr>
              <a:t>for  </a:t>
            </a:r>
            <a:r>
              <a:rPr dirty="0" sz="1200" spc="-5">
                <a:latin typeface="Arial"/>
                <a:cs typeface="Arial"/>
              </a:rPr>
              <a:t>Muslims. The Sunnah is </a:t>
            </a:r>
            <a:r>
              <a:rPr dirty="0" sz="1200">
                <a:latin typeface="Arial"/>
                <a:cs typeface="Arial"/>
              </a:rPr>
              <a:t>the </a:t>
            </a:r>
            <a:r>
              <a:rPr dirty="0" sz="1200" spc="-5">
                <a:latin typeface="Arial"/>
                <a:cs typeface="Arial"/>
              </a:rPr>
              <a:t>explanation and interpretation of the </a:t>
            </a:r>
            <a:r>
              <a:rPr dirty="0" sz="1200">
                <a:latin typeface="Arial"/>
                <a:cs typeface="Arial"/>
              </a:rPr>
              <a:t>Quran. </a:t>
            </a:r>
            <a:r>
              <a:rPr dirty="0" sz="1200" spc="-5">
                <a:latin typeface="Arial"/>
                <a:cs typeface="Arial"/>
              </a:rPr>
              <a:t>That is why </a:t>
            </a:r>
            <a:r>
              <a:rPr dirty="0" sz="1200">
                <a:latin typeface="Arial"/>
                <a:cs typeface="Arial"/>
              </a:rPr>
              <a:t>they  </a:t>
            </a:r>
            <a:r>
              <a:rPr dirty="0" sz="1200" spc="-5">
                <a:latin typeface="Arial"/>
                <a:cs typeface="Arial"/>
              </a:rPr>
              <a:t>cannot be separated, as </a:t>
            </a:r>
            <a:r>
              <a:rPr dirty="0" sz="1200">
                <a:latin typeface="Arial"/>
                <a:cs typeface="Arial"/>
              </a:rPr>
              <a:t>they </a:t>
            </a:r>
            <a:r>
              <a:rPr dirty="0" sz="1200" spc="-5">
                <a:latin typeface="Arial"/>
                <a:cs typeface="Arial"/>
              </a:rPr>
              <a:t>work harmoniously </a:t>
            </a:r>
            <a:r>
              <a:rPr dirty="0" sz="1200">
                <a:latin typeface="Arial"/>
                <a:cs typeface="Arial"/>
              </a:rPr>
              <a:t>to </a:t>
            </a:r>
            <a:r>
              <a:rPr dirty="0" sz="1200" spc="-5">
                <a:latin typeface="Arial"/>
                <a:cs typeface="Arial"/>
              </a:rPr>
              <a:t>convey </a:t>
            </a:r>
            <a:r>
              <a:rPr dirty="0" sz="1200">
                <a:latin typeface="Arial"/>
                <a:cs typeface="Arial"/>
              </a:rPr>
              <a:t>the </a:t>
            </a:r>
            <a:r>
              <a:rPr dirty="0" sz="1200" spc="-5">
                <a:latin typeface="Arial"/>
                <a:cs typeface="Arial"/>
              </a:rPr>
              <a:t>message of </a:t>
            </a:r>
            <a:r>
              <a:rPr dirty="0" sz="1200">
                <a:latin typeface="Arial"/>
                <a:cs typeface="Arial"/>
              </a:rPr>
              <a:t>Islam and </a:t>
            </a:r>
            <a:r>
              <a:rPr dirty="0" sz="1200" spc="-10">
                <a:latin typeface="Arial"/>
                <a:cs typeface="Arial"/>
              </a:rPr>
              <a:t>show  </a:t>
            </a:r>
            <a:r>
              <a:rPr dirty="0" sz="1200" spc="-5">
                <a:latin typeface="Arial"/>
                <a:cs typeface="Arial"/>
              </a:rPr>
              <a:t>people what Allah wants from them in order </a:t>
            </a:r>
            <a:r>
              <a:rPr dirty="0" sz="1200">
                <a:latin typeface="Arial"/>
                <a:cs typeface="Arial"/>
              </a:rPr>
              <a:t>for </a:t>
            </a:r>
            <a:r>
              <a:rPr dirty="0" sz="1200" spc="-5">
                <a:latin typeface="Arial"/>
                <a:cs typeface="Arial"/>
              </a:rPr>
              <a:t>them </a:t>
            </a:r>
            <a:r>
              <a:rPr dirty="0" sz="1200">
                <a:latin typeface="Arial"/>
                <a:cs typeface="Arial"/>
              </a:rPr>
              <a:t>to </a:t>
            </a:r>
            <a:r>
              <a:rPr dirty="0" sz="1200" spc="-5">
                <a:latin typeface="Arial"/>
                <a:cs typeface="Arial"/>
              </a:rPr>
              <a:t>lead the best life on </a:t>
            </a:r>
            <a:r>
              <a:rPr dirty="0" sz="1200">
                <a:latin typeface="Arial"/>
                <a:cs typeface="Arial"/>
              </a:rPr>
              <a:t>this </a:t>
            </a:r>
            <a:r>
              <a:rPr dirty="0" sz="1200" spc="-5">
                <a:latin typeface="Arial"/>
                <a:cs typeface="Arial"/>
              </a:rPr>
              <a:t>earth </a:t>
            </a:r>
            <a:r>
              <a:rPr dirty="0" sz="1200" spc="-10">
                <a:latin typeface="Arial"/>
                <a:cs typeface="Arial"/>
              </a:rPr>
              <a:t>and  </a:t>
            </a:r>
            <a:r>
              <a:rPr dirty="0" sz="1200" spc="-5">
                <a:latin typeface="Arial"/>
                <a:cs typeface="Arial"/>
              </a:rPr>
              <a:t>also </a:t>
            </a:r>
            <a:r>
              <a:rPr dirty="0" sz="1200">
                <a:latin typeface="Arial"/>
                <a:cs typeface="Arial"/>
              </a:rPr>
              <a:t>to </a:t>
            </a:r>
            <a:r>
              <a:rPr dirty="0" sz="1200" spc="-10">
                <a:latin typeface="Arial"/>
                <a:cs typeface="Arial"/>
              </a:rPr>
              <a:t>win </a:t>
            </a:r>
            <a:r>
              <a:rPr dirty="0" sz="1200" spc="-5">
                <a:latin typeface="Arial"/>
                <a:cs typeface="Arial"/>
              </a:rPr>
              <a:t>Heaven in the</a:t>
            </a:r>
            <a:r>
              <a:rPr dirty="0" sz="1200" spc="15">
                <a:latin typeface="Arial"/>
                <a:cs typeface="Arial"/>
              </a:rPr>
              <a:t> </a:t>
            </a:r>
            <a:r>
              <a:rPr dirty="0" sz="1200">
                <a:latin typeface="Arial"/>
                <a:cs typeface="Arial"/>
              </a:rPr>
              <a:t>hereafter.</a:t>
            </a:r>
            <a:endParaRPr sz="1200">
              <a:latin typeface="Arial"/>
              <a:cs typeface="Arial"/>
            </a:endParaRPr>
          </a:p>
          <a:p>
            <a:pPr algn="just" marL="12700">
              <a:lnSpc>
                <a:spcPct val="100000"/>
              </a:lnSpc>
              <a:spcBef>
                <a:spcPts val="1070"/>
              </a:spcBef>
            </a:pPr>
            <a:r>
              <a:rPr dirty="0" u="heavy" sz="1200" spc="-5" b="1" i="1">
                <a:uFill>
                  <a:solidFill>
                    <a:srgbClr val="000000"/>
                  </a:solidFill>
                </a:uFill>
                <a:latin typeface="Arial"/>
                <a:cs typeface="Arial"/>
              </a:rPr>
              <a:t>Six Canonical</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Hadith</a:t>
            </a:r>
            <a:endParaRPr sz="1200">
              <a:latin typeface="Arial"/>
              <a:cs typeface="Arial"/>
            </a:endParaRPr>
          </a:p>
          <a:p>
            <a:pPr>
              <a:lnSpc>
                <a:spcPct val="100000"/>
              </a:lnSpc>
              <a:spcBef>
                <a:spcPts val="35"/>
              </a:spcBef>
            </a:pPr>
            <a:endParaRPr sz="1200">
              <a:latin typeface="Arial"/>
              <a:cs typeface="Arial"/>
            </a:endParaRPr>
          </a:p>
          <a:p>
            <a:pPr algn="just" marL="12700" marR="5715">
              <a:lnSpc>
                <a:spcPts val="1380"/>
              </a:lnSpc>
            </a:pPr>
            <a:r>
              <a:rPr dirty="0" sz="1200" spc="-5">
                <a:latin typeface="Arial"/>
                <a:cs typeface="Arial"/>
              </a:rPr>
              <a:t>According </a:t>
            </a:r>
            <a:r>
              <a:rPr dirty="0" sz="1200">
                <a:latin typeface="Arial"/>
                <a:cs typeface="Arial"/>
              </a:rPr>
              <a:t>to the </a:t>
            </a:r>
            <a:r>
              <a:rPr dirty="0" sz="1200" spc="-5">
                <a:latin typeface="Arial"/>
                <a:cs typeface="Arial"/>
              </a:rPr>
              <a:t>Ulama of Islam, there are six canonical books </a:t>
            </a:r>
            <a:r>
              <a:rPr dirty="0" sz="1200">
                <a:latin typeface="Arial"/>
                <a:cs typeface="Arial"/>
              </a:rPr>
              <a:t>of </a:t>
            </a:r>
            <a:r>
              <a:rPr dirty="0" sz="1200" spc="-5">
                <a:latin typeface="Arial"/>
                <a:cs typeface="Arial"/>
              </a:rPr>
              <a:t>Hadith known as </a:t>
            </a:r>
            <a:r>
              <a:rPr dirty="0" sz="1200" spc="-10">
                <a:latin typeface="Arial"/>
                <a:cs typeface="Arial"/>
              </a:rPr>
              <a:t>the  </a:t>
            </a:r>
            <a:r>
              <a:rPr dirty="0" sz="1200" spc="-5">
                <a:latin typeface="Arial"/>
                <a:cs typeface="Arial"/>
              </a:rPr>
              <a:t>Swahih </a:t>
            </a:r>
            <a:r>
              <a:rPr dirty="0" sz="1200">
                <a:latin typeface="Arial"/>
                <a:cs typeface="Arial"/>
              </a:rPr>
              <a:t>Sitta. They </a:t>
            </a:r>
            <a:r>
              <a:rPr dirty="0" sz="1200" spc="-5">
                <a:latin typeface="Arial"/>
                <a:cs typeface="Arial"/>
              </a:rPr>
              <a:t>are </a:t>
            </a:r>
            <a:r>
              <a:rPr dirty="0" sz="1200">
                <a:latin typeface="Arial"/>
                <a:cs typeface="Arial"/>
              </a:rPr>
              <a:t>the </a:t>
            </a:r>
            <a:r>
              <a:rPr dirty="0" sz="1200" spc="-5">
                <a:latin typeface="Arial"/>
                <a:cs typeface="Arial"/>
              </a:rPr>
              <a:t>Swahih Al Bukhariy, Swahih </a:t>
            </a:r>
            <a:r>
              <a:rPr dirty="0" sz="1200">
                <a:latin typeface="Arial"/>
                <a:cs typeface="Arial"/>
              </a:rPr>
              <a:t>Muslim, Jami‘ Al </a:t>
            </a:r>
            <a:r>
              <a:rPr dirty="0" sz="1200" spc="-5">
                <a:latin typeface="Arial"/>
                <a:cs typeface="Arial"/>
              </a:rPr>
              <a:t>Tirmidhi, </a:t>
            </a:r>
            <a:r>
              <a:rPr dirty="0" sz="1200" spc="-10">
                <a:latin typeface="Arial"/>
                <a:cs typeface="Arial"/>
              </a:rPr>
              <a:t>Sunan  </a:t>
            </a:r>
            <a:r>
              <a:rPr dirty="0" sz="1200" spc="-5">
                <a:latin typeface="Arial"/>
                <a:cs typeface="Arial"/>
              </a:rPr>
              <a:t>Abu Dawood, Sunan Nasaa‘I and Sunan Ibn </a:t>
            </a:r>
            <a:r>
              <a:rPr dirty="0" sz="1200">
                <a:latin typeface="Arial"/>
                <a:cs typeface="Arial"/>
              </a:rPr>
              <a:t>Majaa. </a:t>
            </a:r>
            <a:r>
              <a:rPr dirty="0" sz="1200" spc="-5">
                <a:latin typeface="Arial"/>
                <a:cs typeface="Arial"/>
              </a:rPr>
              <a:t>All of the said books are important to the  understanding of</a:t>
            </a:r>
            <a:r>
              <a:rPr dirty="0" sz="1200" spc="5">
                <a:latin typeface="Arial"/>
                <a:cs typeface="Arial"/>
              </a:rPr>
              <a:t> </a:t>
            </a:r>
            <a:r>
              <a:rPr dirty="0" sz="1200" spc="-5">
                <a:latin typeface="Arial"/>
                <a:cs typeface="Arial"/>
              </a:rPr>
              <a:t>Islam.</a:t>
            </a:r>
            <a:endParaRPr sz="1200">
              <a:latin typeface="Arial"/>
              <a:cs typeface="Arial"/>
            </a:endParaRPr>
          </a:p>
          <a:p>
            <a:pPr>
              <a:lnSpc>
                <a:spcPct val="100000"/>
              </a:lnSpc>
              <a:spcBef>
                <a:spcPts val="20"/>
              </a:spcBef>
            </a:pPr>
            <a:endParaRPr sz="1100">
              <a:latin typeface="Arial"/>
              <a:cs typeface="Arial"/>
            </a:endParaRPr>
          </a:p>
          <a:p>
            <a:pPr marL="241300">
              <a:lnSpc>
                <a:spcPct val="100000"/>
              </a:lnSpc>
            </a:pPr>
            <a:r>
              <a:rPr dirty="0" sz="1200" spc="-5" b="1" i="1">
                <a:latin typeface="Arial"/>
                <a:cs typeface="Arial"/>
              </a:rPr>
              <a:t>1. </a:t>
            </a:r>
            <a:r>
              <a:rPr dirty="0" u="heavy" sz="1200" b="1" i="1">
                <a:uFill>
                  <a:solidFill>
                    <a:srgbClr val="000000"/>
                  </a:solidFill>
                </a:uFill>
                <a:latin typeface="Arial"/>
                <a:cs typeface="Arial"/>
              </a:rPr>
              <a:t>Swahih </a:t>
            </a:r>
            <a:r>
              <a:rPr dirty="0" u="heavy" sz="1200" spc="-5" b="1" i="1">
                <a:uFill>
                  <a:solidFill>
                    <a:srgbClr val="000000"/>
                  </a:solidFill>
                </a:uFill>
                <a:latin typeface="Arial"/>
                <a:cs typeface="Arial"/>
              </a:rPr>
              <a:t>Al</a:t>
            </a:r>
            <a:r>
              <a:rPr dirty="0" u="heavy" sz="1200" spc="-200" b="1" i="1">
                <a:uFill>
                  <a:solidFill>
                    <a:srgbClr val="000000"/>
                  </a:solidFill>
                </a:uFill>
                <a:latin typeface="Arial"/>
                <a:cs typeface="Arial"/>
              </a:rPr>
              <a:t> </a:t>
            </a:r>
            <a:r>
              <a:rPr dirty="0" u="heavy" sz="1200" spc="-5" b="1" i="1">
                <a:uFill>
                  <a:solidFill>
                    <a:srgbClr val="000000"/>
                  </a:solidFill>
                </a:uFill>
                <a:latin typeface="Arial"/>
                <a:cs typeface="Arial"/>
              </a:rPr>
              <a:t>Bukhariy</a:t>
            </a:r>
            <a:endParaRPr sz="1200">
              <a:latin typeface="Arial"/>
              <a:cs typeface="Arial"/>
            </a:endParaRPr>
          </a:p>
          <a:p>
            <a:pPr>
              <a:lnSpc>
                <a:spcPct val="100000"/>
              </a:lnSpc>
            </a:pPr>
            <a:endParaRPr sz="1200">
              <a:latin typeface="Arial"/>
              <a:cs typeface="Arial"/>
            </a:endParaRPr>
          </a:p>
          <a:p>
            <a:pPr algn="just" marL="12700" marR="5080">
              <a:lnSpc>
                <a:spcPct val="95900"/>
              </a:lnSpc>
            </a:pPr>
            <a:r>
              <a:rPr dirty="0" sz="1200" spc="-5">
                <a:latin typeface="Arial"/>
                <a:cs typeface="Arial"/>
              </a:rPr>
              <a:t>The author of the book of Hadith is Imaam Abu </a:t>
            </a:r>
            <a:r>
              <a:rPr dirty="0" sz="1200" spc="-50">
                <a:latin typeface="Arial"/>
                <a:cs typeface="Arial"/>
              </a:rPr>
              <a:t>‗Abdullah </a:t>
            </a:r>
            <a:r>
              <a:rPr dirty="0" sz="1200" spc="-5">
                <a:latin typeface="Arial"/>
                <a:cs typeface="Arial"/>
              </a:rPr>
              <a:t>Muhammad ibn Ismaa‘il </a:t>
            </a:r>
            <a:r>
              <a:rPr dirty="0" sz="1200" spc="5">
                <a:latin typeface="Arial"/>
                <a:cs typeface="Arial"/>
              </a:rPr>
              <a:t>al-  </a:t>
            </a:r>
            <a:r>
              <a:rPr dirty="0" sz="1200" spc="-5">
                <a:latin typeface="Arial"/>
                <a:cs typeface="Arial"/>
              </a:rPr>
              <a:t>Bukhaari. He </a:t>
            </a:r>
            <a:r>
              <a:rPr dirty="0" sz="1200">
                <a:latin typeface="Arial"/>
                <a:cs typeface="Arial"/>
              </a:rPr>
              <a:t>took </a:t>
            </a:r>
            <a:r>
              <a:rPr dirty="0" sz="1200" spc="-5">
                <a:latin typeface="Arial"/>
                <a:cs typeface="Arial"/>
              </a:rPr>
              <a:t>birth in </a:t>
            </a:r>
            <a:r>
              <a:rPr dirty="0" sz="1200">
                <a:latin typeface="Arial"/>
                <a:cs typeface="Arial"/>
              </a:rPr>
              <a:t>the </a:t>
            </a:r>
            <a:r>
              <a:rPr dirty="0" sz="1200" spc="-5">
                <a:latin typeface="Arial"/>
                <a:cs typeface="Arial"/>
              </a:rPr>
              <a:t>year 194 and died in </a:t>
            </a:r>
            <a:r>
              <a:rPr dirty="0" sz="1200">
                <a:latin typeface="Arial"/>
                <a:cs typeface="Arial"/>
              </a:rPr>
              <a:t>the </a:t>
            </a:r>
            <a:r>
              <a:rPr dirty="0" sz="1200" spc="-5">
                <a:latin typeface="Arial"/>
                <a:cs typeface="Arial"/>
              </a:rPr>
              <a:t>year 256 </a:t>
            </a:r>
            <a:r>
              <a:rPr dirty="0" sz="1200">
                <a:latin typeface="Arial"/>
                <a:cs typeface="Arial"/>
              </a:rPr>
              <a:t>AH. </a:t>
            </a:r>
            <a:r>
              <a:rPr dirty="0" sz="1200" spc="-5">
                <a:latin typeface="Arial"/>
                <a:cs typeface="Arial"/>
              </a:rPr>
              <a:t>He </a:t>
            </a:r>
            <a:r>
              <a:rPr dirty="0" sz="1200" spc="-10">
                <a:latin typeface="Arial"/>
                <a:cs typeface="Arial"/>
              </a:rPr>
              <a:t>was </a:t>
            </a:r>
            <a:r>
              <a:rPr dirty="0" sz="1200">
                <a:latin typeface="Arial"/>
                <a:cs typeface="Arial"/>
              </a:rPr>
              <a:t>born </a:t>
            </a:r>
            <a:r>
              <a:rPr dirty="0" sz="1200" spc="-5">
                <a:latin typeface="Arial"/>
                <a:cs typeface="Arial"/>
              </a:rPr>
              <a:t>in  Bukhara, </a:t>
            </a:r>
            <a:r>
              <a:rPr dirty="0" sz="1200">
                <a:latin typeface="Arial"/>
                <a:cs typeface="Arial"/>
              </a:rPr>
              <a:t>Iran </a:t>
            </a:r>
            <a:r>
              <a:rPr dirty="0" sz="1200" spc="-5">
                <a:latin typeface="Arial"/>
                <a:cs typeface="Arial"/>
              </a:rPr>
              <a:t>and memorized 200000 </a:t>
            </a:r>
            <a:r>
              <a:rPr dirty="0" sz="1200">
                <a:latin typeface="Arial"/>
                <a:cs typeface="Arial"/>
              </a:rPr>
              <a:t>Hadith. </a:t>
            </a:r>
            <a:r>
              <a:rPr dirty="0" sz="1200" spc="-5">
                <a:latin typeface="Arial"/>
                <a:cs typeface="Arial"/>
              </a:rPr>
              <a:t>The book of </a:t>
            </a:r>
            <a:r>
              <a:rPr dirty="0" sz="1200">
                <a:latin typeface="Arial"/>
                <a:cs typeface="Arial"/>
              </a:rPr>
              <a:t>Hadith </a:t>
            </a:r>
            <a:r>
              <a:rPr dirty="0" sz="1200" spc="-5">
                <a:latin typeface="Arial"/>
                <a:cs typeface="Arial"/>
              </a:rPr>
              <a:t>has 7275 out of </a:t>
            </a:r>
            <a:r>
              <a:rPr dirty="0" sz="1200" spc="-10">
                <a:latin typeface="Arial"/>
                <a:cs typeface="Arial"/>
              </a:rPr>
              <a:t>600000  </a:t>
            </a:r>
            <a:r>
              <a:rPr dirty="0" sz="1200" spc="-5">
                <a:latin typeface="Arial"/>
                <a:cs typeface="Arial"/>
              </a:rPr>
              <a:t>hadith collected by the</a:t>
            </a:r>
            <a:r>
              <a:rPr dirty="0" sz="1200" spc="-25">
                <a:latin typeface="Arial"/>
                <a:cs typeface="Arial"/>
              </a:rPr>
              <a:t> </a:t>
            </a:r>
            <a:r>
              <a:rPr dirty="0" sz="1200">
                <a:latin typeface="Arial"/>
                <a:cs typeface="Arial"/>
              </a:rPr>
              <a:t>Imam.</a:t>
            </a:r>
            <a:endParaRPr sz="1200">
              <a:latin typeface="Arial"/>
              <a:cs typeface="Arial"/>
            </a:endParaRPr>
          </a:p>
          <a:p>
            <a:pPr>
              <a:lnSpc>
                <a:spcPct val="100000"/>
              </a:lnSpc>
              <a:spcBef>
                <a:spcPts val="35"/>
              </a:spcBef>
            </a:pPr>
            <a:endParaRPr sz="1200">
              <a:latin typeface="Arial"/>
              <a:cs typeface="Arial"/>
            </a:endParaRPr>
          </a:p>
          <a:p>
            <a:pPr algn="just" marL="12700" marR="7620">
              <a:lnSpc>
                <a:spcPts val="1380"/>
              </a:lnSpc>
            </a:pPr>
            <a:r>
              <a:rPr dirty="0" sz="1200" spc="-5">
                <a:latin typeface="Arial"/>
                <a:cs typeface="Arial"/>
              </a:rPr>
              <a:t>Imâm al-muhaddithîn </a:t>
            </a:r>
            <a:r>
              <a:rPr dirty="0" sz="1200">
                <a:latin typeface="Arial"/>
                <a:cs typeface="Arial"/>
              </a:rPr>
              <a:t>Hadrat </a:t>
            </a:r>
            <a:r>
              <a:rPr dirty="0" sz="1200" spc="-5">
                <a:latin typeface="Arial"/>
                <a:cs typeface="Arial"/>
              </a:rPr>
              <a:t>Imâm Abû `Abdullâh Muhammad ibn Ismâ`îl </a:t>
            </a:r>
            <a:r>
              <a:rPr dirty="0" sz="1200">
                <a:latin typeface="Arial"/>
                <a:cs typeface="Arial"/>
              </a:rPr>
              <a:t>al-Bukhârî </a:t>
            </a:r>
            <a:r>
              <a:rPr dirty="0" sz="1200" spc="-10">
                <a:latin typeface="Arial"/>
                <a:cs typeface="Arial"/>
              </a:rPr>
              <a:t>was  </a:t>
            </a:r>
            <a:r>
              <a:rPr dirty="0" sz="1200" spc="-5">
                <a:latin typeface="Arial"/>
                <a:cs typeface="Arial"/>
              </a:rPr>
              <a:t>born </a:t>
            </a:r>
            <a:r>
              <a:rPr dirty="0" sz="1200" spc="-10">
                <a:latin typeface="Arial"/>
                <a:cs typeface="Arial"/>
              </a:rPr>
              <a:t>on </a:t>
            </a:r>
            <a:r>
              <a:rPr dirty="0" sz="1200" spc="-5">
                <a:latin typeface="Arial"/>
                <a:cs typeface="Arial"/>
              </a:rPr>
              <a:t>the 13th of the </a:t>
            </a:r>
            <a:r>
              <a:rPr dirty="0" sz="1200">
                <a:latin typeface="Arial"/>
                <a:cs typeface="Arial"/>
              </a:rPr>
              <a:t>Islâmic </a:t>
            </a:r>
            <a:r>
              <a:rPr dirty="0" sz="1200" spc="-5">
                <a:latin typeface="Arial"/>
                <a:cs typeface="Arial"/>
              </a:rPr>
              <a:t>month of </a:t>
            </a:r>
            <a:r>
              <a:rPr dirty="0" sz="1200" spc="-10">
                <a:latin typeface="Arial"/>
                <a:cs typeface="Arial"/>
              </a:rPr>
              <a:t>Shawwâl, </a:t>
            </a:r>
            <a:r>
              <a:rPr dirty="0" sz="1200" spc="-5">
                <a:latin typeface="Arial"/>
                <a:cs typeface="Arial"/>
              </a:rPr>
              <a:t>194AH, in the </a:t>
            </a:r>
            <a:r>
              <a:rPr dirty="0" sz="1200" spc="5">
                <a:latin typeface="Arial"/>
                <a:cs typeface="Arial"/>
              </a:rPr>
              <a:t>famous </a:t>
            </a:r>
            <a:r>
              <a:rPr dirty="0" sz="1200">
                <a:latin typeface="Arial"/>
                <a:cs typeface="Arial"/>
              </a:rPr>
              <a:t>city </a:t>
            </a:r>
            <a:r>
              <a:rPr dirty="0" sz="1200" spc="-5">
                <a:latin typeface="Arial"/>
                <a:cs typeface="Arial"/>
              </a:rPr>
              <a:t>of Bukhara, of  </a:t>
            </a:r>
            <a:r>
              <a:rPr dirty="0" sz="1200">
                <a:latin typeface="Arial"/>
                <a:cs typeface="Arial"/>
              </a:rPr>
              <a:t>the </a:t>
            </a:r>
            <a:r>
              <a:rPr dirty="0" sz="1200" spc="-5">
                <a:latin typeface="Arial"/>
                <a:cs typeface="Arial"/>
              </a:rPr>
              <a:t>land "beyond the canal" </a:t>
            </a:r>
            <a:r>
              <a:rPr dirty="0" sz="1200">
                <a:latin typeface="Arial"/>
                <a:cs typeface="Arial"/>
              </a:rPr>
              <a:t>- </a:t>
            </a:r>
            <a:r>
              <a:rPr dirty="0" sz="1200" spc="-5">
                <a:latin typeface="Arial"/>
                <a:cs typeface="Arial"/>
              </a:rPr>
              <a:t>present day</a:t>
            </a:r>
            <a:r>
              <a:rPr dirty="0" sz="1200">
                <a:latin typeface="Arial"/>
                <a:cs typeface="Arial"/>
              </a:rPr>
              <a:t> </a:t>
            </a:r>
            <a:r>
              <a:rPr dirty="0" sz="1200" spc="-5">
                <a:latin typeface="Arial"/>
                <a:cs typeface="Arial"/>
              </a:rPr>
              <a:t>Uzbekistan</a:t>
            </a:r>
            <a:endParaRPr sz="1200">
              <a:latin typeface="Arial"/>
              <a:cs typeface="Arial"/>
            </a:endParaRPr>
          </a:p>
          <a:p>
            <a:pPr>
              <a:lnSpc>
                <a:spcPct val="100000"/>
              </a:lnSpc>
              <a:spcBef>
                <a:spcPts val="10"/>
              </a:spcBef>
            </a:pPr>
            <a:endParaRPr sz="1600">
              <a:latin typeface="Arial"/>
              <a:cs typeface="Arial"/>
            </a:endParaRPr>
          </a:p>
          <a:p>
            <a:pPr algn="just" marL="12700" marR="6350">
              <a:lnSpc>
                <a:spcPct val="95900"/>
              </a:lnSpc>
            </a:pPr>
            <a:r>
              <a:rPr dirty="0" sz="1200">
                <a:latin typeface="Arial"/>
                <a:cs typeface="Arial"/>
              </a:rPr>
              <a:t>Hashid </a:t>
            </a:r>
            <a:r>
              <a:rPr dirty="0" sz="1200" spc="-5">
                <a:latin typeface="Arial"/>
                <a:cs typeface="Arial"/>
              </a:rPr>
              <a:t>ibn Ismâ`îl </a:t>
            </a:r>
            <a:r>
              <a:rPr dirty="0" sz="1200">
                <a:latin typeface="Arial"/>
                <a:cs typeface="Arial"/>
              </a:rPr>
              <a:t>states </a:t>
            </a:r>
            <a:r>
              <a:rPr dirty="0" sz="1200" spc="-5">
                <a:latin typeface="Arial"/>
                <a:cs typeface="Arial"/>
              </a:rPr>
              <a:t>that in his childhood: "Imâm Bukhârî used </a:t>
            </a:r>
            <a:r>
              <a:rPr dirty="0" sz="1200">
                <a:latin typeface="Arial"/>
                <a:cs typeface="Arial"/>
              </a:rPr>
              <a:t>to </a:t>
            </a:r>
            <a:r>
              <a:rPr dirty="0" sz="1200" spc="-10">
                <a:latin typeface="Arial"/>
                <a:cs typeface="Arial"/>
              </a:rPr>
              <a:t>go </a:t>
            </a:r>
            <a:r>
              <a:rPr dirty="0" sz="1200" spc="-5">
                <a:latin typeface="Arial"/>
                <a:cs typeface="Arial"/>
              </a:rPr>
              <a:t>with us </a:t>
            </a:r>
            <a:r>
              <a:rPr dirty="0" sz="1200">
                <a:latin typeface="Arial"/>
                <a:cs typeface="Arial"/>
              </a:rPr>
              <a:t>to </a:t>
            </a:r>
            <a:r>
              <a:rPr dirty="0" sz="1200" spc="-10">
                <a:latin typeface="Arial"/>
                <a:cs typeface="Arial"/>
              </a:rPr>
              <a:t>the  </a:t>
            </a:r>
            <a:r>
              <a:rPr dirty="0" sz="1200" spc="-5">
                <a:latin typeface="Arial"/>
                <a:cs typeface="Arial"/>
              </a:rPr>
              <a:t>Scholars of Basra </a:t>
            </a:r>
            <a:r>
              <a:rPr dirty="0" sz="1200">
                <a:latin typeface="Arial"/>
                <a:cs typeface="Arial"/>
              </a:rPr>
              <a:t>to </a:t>
            </a:r>
            <a:r>
              <a:rPr dirty="0" sz="1200" spc="-5">
                <a:latin typeface="Arial"/>
                <a:cs typeface="Arial"/>
              </a:rPr>
              <a:t>listen to Ahâdîth. All of us used to </a:t>
            </a:r>
            <a:r>
              <a:rPr dirty="0" sz="1200" spc="-10">
                <a:latin typeface="Arial"/>
                <a:cs typeface="Arial"/>
              </a:rPr>
              <a:t>write </a:t>
            </a:r>
            <a:r>
              <a:rPr dirty="0" sz="1200" spc="-5">
                <a:latin typeface="Arial"/>
                <a:cs typeface="Arial"/>
              </a:rPr>
              <a:t>Ahâdîth </a:t>
            </a:r>
            <a:r>
              <a:rPr dirty="0" sz="1200" spc="-10">
                <a:latin typeface="Arial"/>
                <a:cs typeface="Arial"/>
              </a:rPr>
              <a:t>down, </a:t>
            </a:r>
            <a:r>
              <a:rPr dirty="0" sz="1200" spc="-5">
                <a:latin typeface="Arial"/>
                <a:cs typeface="Arial"/>
              </a:rPr>
              <a:t>except Imâm  Bukhârî. After sixteen days, </a:t>
            </a:r>
            <a:r>
              <a:rPr dirty="0" sz="1200" spc="-10">
                <a:latin typeface="Arial"/>
                <a:cs typeface="Arial"/>
              </a:rPr>
              <a:t>we </a:t>
            </a:r>
            <a:r>
              <a:rPr dirty="0" sz="1200" spc="-5">
                <a:latin typeface="Arial"/>
                <a:cs typeface="Arial"/>
              </a:rPr>
              <a:t>thought about </a:t>
            </a:r>
            <a:r>
              <a:rPr dirty="0" sz="1200">
                <a:latin typeface="Arial"/>
                <a:cs typeface="Arial"/>
              </a:rPr>
              <a:t>it </a:t>
            </a:r>
            <a:r>
              <a:rPr dirty="0" sz="1200" spc="-5">
                <a:latin typeface="Arial"/>
                <a:cs typeface="Arial"/>
              </a:rPr>
              <a:t>and </a:t>
            </a:r>
            <a:r>
              <a:rPr dirty="0" sz="1200" spc="-10">
                <a:latin typeface="Arial"/>
                <a:cs typeface="Arial"/>
              </a:rPr>
              <a:t>we </a:t>
            </a:r>
            <a:r>
              <a:rPr dirty="0" sz="1200" spc="-5">
                <a:latin typeface="Arial"/>
                <a:cs typeface="Arial"/>
              </a:rPr>
              <a:t>condemned Imâm Bukhârî saying  </a:t>
            </a:r>
            <a:r>
              <a:rPr dirty="0" sz="1200">
                <a:latin typeface="Arial"/>
                <a:cs typeface="Arial"/>
              </a:rPr>
              <a:t>that, </a:t>
            </a:r>
            <a:r>
              <a:rPr dirty="0" sz="1200" spc="-5">
                <a:latin typeface="Arial"/>
                <a:cs typeface="Arial"/>
              </a:rPr>
              <a:t>'you had wasted so many days work </a:t>
            </a:r>
            <a:r>
              <a:rPr dirty="0" sz="1200" spc="5">
                <a:latin typeface="Arial"/>
                <a:cs typeface="Arial"/>
              </a:rPr>
              <a:t>by </a:t>
            </a:r>
            <a:r>
              <a:rPr dirty="0" sz="1200" spc="-5">
                <a:latin typeface="Arial"/>
                <a:cs typeface="Arial"/>
              </a:rPr>
              <a:t>not writing down Ahâdîth.' Imâm Bukhârî asked  us </a:t>
            </a:r>
            <a:r>
              <a:rPr dirty="0" sz="1200">
                <a:latin typeface="Arial"/>
                <a:cs typeface="Arial"/>
              </a:rPr>
              <a:t>to </a:t>
            </a:r>
            <a:r>
              <a:rPr dirty="0" sz="1200" spc="-5">
                <a:latin typeface="Arial"/>
                <a:cs typeface="Arial"/>
              </a:rPr>
              <a:t>bring </a:t>
            </a:r>
            <a:r>
              <a:rPr dirty="0" sz="1200">
                <a:latin typeface="Arial"/>
                <a:cs typeface="Arial"/>
              </a:rPr>
              <a:t>our notes </a:t>
            </a:r>
            <a:r>
              <a:rPr dirty="0" sz="1200" spc="-5">
                <a:latin typeface="Arial"/>
                <a:cs typeface="Arial"/>
              </a:rPr>
              <a:t>to </a:t>
            </a:r>
            <a:r>
              <a:rPr dirty="0" sz="1200">
                <a:latin typeface="Arial"/>
                <a:cs typeface="Arial"/>
              </a:rPr>
              <a:t>him. </a:t>
            </a:r>
            <a:r>
              <a:rPr dirty="0" sz="1200" spc="-5">
                <a:latin typeface="Arial"/>
                <a:cs typeface="Arial"/>
              </a:rPr>
              <a:t>So </a:t>
            </a:r>
            <a:r>
              <a:rPr dirty="0" sz="1200" spc="-10">
                <a:latin typeface="Arial"/>
                <a:cs typeface="Arial"/>
              </a:rPr>
              <a:t>we </a:t>
            </a:r>
            <a:r>
              <a:rPr dirty="0" sz="1200">
                <a:latin typeface="Arial"/>
                <a:cs typeface="Arial"/>
              </a:rPr>
              <a:t>all </a:t>
            </a:r>
            <a:r>
              <a:rPr dirty="0" sz="1200" spc="-5">
                <a:latin typeface="Arial"/>
                <a:cs typeface="Arial"/>
              </a:rPr>
              <a:t>brought our notes, upon which Imâm Bukhârî began </a:t>
            </a:r>
            <a:r>
              <a:rPr dirty="0" sz="1200">
                <a:latin typeface="Arial"/>
                <a:cs typeface="Arial"/>
              </a:rPr>
              <a:t>to  </a:t>
            </a:r>
            <a:r>
              <a:rPr dirty="0" sz="1200" spc="-5">
                <a:latin typeface="Arial"/>
                <a:cs typeface="Arial"/>
              </a:rPr>
              <a:t>read Ahâdîth one by one from the top of his head until he narrated </a:t>
            </a:r>
            <a:r>
              <a:rPr dirty="0" sz="1200">
                <a:latin typeface="Arial"/>
                <a:cs typeface="Arial"/>
              </a:rPr>
              <a:t>to </a:t>
            </a:r>
            <a:r>
              <a:rPr dirty="0" sz="1200" spc="-5">
                <a:latin typeface="Arial"/>
                <a:cs typeface="Arial"/>
              </a:rPr>
              <a:t>us more </a:t>
            </a:r>
            <a:r>
              <a:rPr dirty="0" sz="1200" spc="-10">
                <a:latin typeface="Arial"/>
                <a:cs typeface="Arial"/>
              </a:rPr>
              <a:t>than </a:t>
            </a:r>
            <a:r>
              <a:rPr dirty="0" sz="1200" spc="-5">
                <a:latin typeface="Arial"/>
                <a:cs typeface="Arial"/>
              </a:rPr>
              <a:t>fifteen  thousand! Hearing these, </a:t>
            </a:r>
            <a:r>
              <a:rPr dirty="0" sz="1200">
                <a:latin typeface="Arial"/>
                <a:cs typeface="Arial"/>
              </a:rPr>
              <a:t>it </a:t>
            </a:r>
            <a:r>
              <a:rPr dirty="0" sz="1200" spc="-5">
                <a:latin typeface="Arial"/>
                <a:cs typeface="Arial"/>
              </a:rPr>
              <a:t>seemed that Imâm Bukhârî </a:t>
            </a:r>
            <a:r>
              <a:rPr dirty="0" sz="1200" spc="-10">
                <a:latin typeface="Arial"/>
                <a:cs typeface="Arial"/>
              </a:rPr>
              <a:t>was </a:t>
            </a:r>
            <a:r>
              <a:rPr dirty="0" sz="1200">
                <a:latin typeface="Arial"/>
                <a:cs typeface="Arial"/>
              </a:rPr>
              <a:t>reteaching </a:t>
            </a:r>
            <a:r>
              <a:rPr dirty="0" sz="1200" spc="-5">
                <a:latin typeface="Arial"/>
                <a:cs typeface="Arial"/>
              </a:rPr>
              <a:t>us all of the Ahâdîth  </a:t>
            </a:r>
            <a:r>
              <a:rPr dirty="0" sz="1200" spc="-10">
                <a:latin typeface="Arial"/>
                <a:cs typeface="Arial"/>
              </a:rPr>
              <a:t>we </a:t>
            </a:r>
            <a:r>
              <a:rPr dirty="0" sz="1200">
                <a:latin typeface="Arial"/>
                <a:cs typeface="Arial"/>
              </a:rPr>
              <a:t>had</a:t>
            </a:r>
            <a:r>
              <a:rPr dirty="0" sz="1200" spc="5">
                <a:latin typeface="Arial"/>
                <a:cs typeface="Arial"/>
              </a:rPr>
              <a:t> </a:t>
            </a:r>
            <a:r>
              <a:rPr dirty="0" sz="1200" spc="-5">
                <a:latin typeface="Arial"/>
                <a:cs typeface="Arial"/>
              </a:rPr>
              <a:t>noted."</a:t>
            </a:r>
            <a:endParaRPr sz="1200">
              <a:latin typeface="Arial"/>
              <a:cs typeface="Arial"/>
            </a:endParaRPr>
          </a:p>
          <a:p>
            <a:pPr algn="just" marL="12700" marR="6985">
              <a:lnSpc>
                <a:spcPts val="1380"/>
              </a:lnSpc>
              <a:spcBef>
                <a:spcPts val="1030"/>
              </a:spcBef>
            </a:pPr>
            <a:r>
              <a:rPr dirty="0" sz="1200" spc="-5">
                <a:latin typeface="Arial"/>
                <a:cs typeface="Arial"/>
              </a:rPr>
              <a:t>Muhammad ibn Azhar Sajistânî says: </a:t>
            </a:r>
            <a:r>
              <a:rPr dirty="0" sz="1200">
                <a:latin typeface="Arial"/>
                <a:cs typeface="Arial"/>
              </a:rPr>
              <a:t>"I </a:t>
            </a:r>
            <a:r>
              <a:rPr dirty="0" sz="1200" spc="-10">
                <a:latin typeface="Arial"/>
                <a:cs typeface="Arial"/>
              </a:rPr>
              <a:t>used </a:t>
            </a:r>
            <a:r>
              <a:rPr dirty="0" sz="1200">
                <a:latin typeface="Arial"/>
                <a:cs typeface="Arial"/>
              </a:rPr>
              <a:t>to </a:t>
            </a:r>
            <a:r>
              <a:rPr dirty="0" sz="1200" spc="-10">
                <a:latin typeface="Arial"/>
                <a:cs typeface="Arial"/>
              </a:rPr>
              <a:t>go </a:t>
            </a:r>
            <a:r>
              <a:rPr dirty="0" sz="1200" spc="15">
                <a:latin typeface="Arial"/>
                <a:cs typeface="Arial"/>
              </a:rPr>
              <a:t>to </a:t>
            </a:r>
            <a:r>
              <a:rPr dirty="0" sz="1200" spc="-5">
                <a:latin typeface="Arial"/>
                <a:cs typeface="Arial"/>
              </a:rPr>
              <a:t>Sulaymân </a:t>
            </a:r>
            <a:r>
              <a:rPr dirty="0" sz="1200" spc="-10">
                <a:latin typeface="Arial"/>
                <a:cs typeface="Arial"/>
              </a:rPr>
              <a:t>ibn </a:t>
            </a:r>
            <a:r>
              <a:rPr dirty="0" sz="1200" spc="-5">
                <a:latin typeface="Arial"/>
                <a:cs typeface="Arial"/>
              </a:rPr>
              <a:t>Harab accompanied by  Imâm Bukhârî </a:t>
            </a:r>
            <a:r>
              <a:rPr dirty="0" sz="1200">
                <a:latin typeface="Arial"/>
                <a:cs typeface="Arial"/>
              </a:rPr>
              <a:t>for </a:t>
            </a:r>
            <a:r>
              <a:rPr dirty="0" sz="1200" spc="-5">
                <a:latin typeface="Arial"/>
                <a:cs typeface="Arial"/>
              </a:rPr>
              <a:t>listening </a:t>
            </a:r>
            <a:r>
              <a:rPr dirty="0" sz="1200">
                <a:latin typeface="Arial"/>
                <a:cs typeface="Arial"/>
              </a:rPr>
              <a:t>to </a:t>
            </a:r>
            <a:r>
              <a:rPr dirty="0" sz="1200" spc="-5">
                <a:latin typeface="Arial"/>
                <a:cs typeface="Arial"/>
              </a:rPr>
              <a:t>Ahâdîth. </a:t>
            </a:r>
            <a:r>
              <a:rPr dirty="0" sz="1200">
                <a:latin typeface="Arial"/>
                <a:cs typeface="Arial"/>
              </a:rPr>
              <a:t>I </a:t>
            </a:r>
            <a:r>
              <a:rPr dirty="0" sz="1200" spc="-5">
                <a:latin typeface="Arial"/>
                <a:cs typeface="Arial"/>
              </a:rPr>
              <a:t>used </a:t>
            </a:r>
            <a:r>
              <a:rPr dirty="0" sz="1200">
                <a:latin typeface="Arial"/>
                <a:cs typeface="Arial"/>
              </a:rPr>
              <a:t>to </a:t>
            </a:r>
            <a:r>
              <a:rPr dirty="0" sz="1200" spc="-10">
                <a:latin typeface="Arial"/>
                <a:cs typeface="Arial"/>
              </a:rPr>
              <a:t>write </a:t>
            </a:r>
            <a:r>
              <a:rPr dirty="0" sz="1200">
                <a:latin typeface="Arial"/>
                <a:cs typeface="Arial"/>
              </a:rPr>
              <a:t>the </a:t>
            </a:r>
            <a:r>
              <a:rPr dirty="0" sz="1200" spc="-5">
                <a:latin typeface="Arial"/>
                <a:cs typeface="Arial"/>
              </a:rPr>
              <a:t>Ahâdîth, but </a:t>
            </a:r>
            <a:r>
              <a:rPr dirty="0" sz="1200">
                <a:latin typeface="Arial"/>
                <a:cs typeface="Arial"/>
              </a:rPr>
              <a:t>Imâm </a:t>
            </a:r>
            <a:r>
              <a:rPr dirty="0" sz="1200" spc="-5">
                <a:latin typeface="Arial"/>
                <a:cs typeface="Arial"/>
              </a:rPr>
              <a:t>Bukhârî  wouldn't. Somone </a:t>
            </a:r>
            <a:r>
              <a:rPr dirty="0" sz="1200">
                <a:latin typeface="Arial"/>
                <a:cs typeface="Arial"/>
              </a:rPr>
              <a:t>said to </a:t>
            </a:r>
            <a:r>
              <a:rPr dirty="0" sz="1200" spc="-5">
                <a:latin typeface="Arial"/>
                <a:cs typeface="Arial"/>
              </a:rPr>
              <a:t>me, </a:t>
            </a:r>
            <a:r>
              <a:rPr dirty="0" sz="1200">
                <a:latin typeface="Arial"/>
                <a:cs typeface="Arial"/>
              </a:rPr>
              <a:t>'Why </a:t>
            </a:r>
            <a:r>
              <a:rPr dirty="0" sz="1200" spc="-5">
                <a:latin typeface="Arial"/>
                <a:cs typeface="Arial"/>
              </a:rPr>
              <a:t>doesn't Imâm Bukhârî </a:t>
            </a:r>
            <a:r>
              <a:rPr dirty="0" sz="1200">
                <a:latin typeface="Arial"/>
                <a:cs typeface="Arial"/>
              </a:rPr>
              <a:t>note </a:t>
            </a:r>
            <a:r>
              <a:rPr dirty="0" sz="1200" spc="-5">
                <a:latin typeface="Arial"/>
                <a:cs typeface="Arial"/>
              </a:rPr>
              <a:t>the Ahâdîth down?' </a:t>
            </a:r>
            <a:r>
              <a:rPr dirty="0" sz="1200">
                <a:latin typeface="Arial"/>
                <a:cs typeface="Arial"/>
              </a:rPr>
              <a:t>I </a:t>
            </a:r>
            <a:r>
              <a:rPr dirty="0" sz="1200" spc="-5">
                <a:latin typeface="Arial"/>
                <a:cs typeface="Arial"/>
              </a:rPr>
              <a:t>told him,  </a:t>
            </a:r>
            <a:r>
              <a:rPr dirty="0" sz="1200">
                <a:latin typeface="Arial"/>
                <a:cs typeface="Arial"/>
              </a:rPr>
              <a:t>'if </a:t>
            </a:r>
            <a:r>
              <a:rPr dirty="0" sz="1200" spc="-5">
                <a:latin typeface="Arial"/>
                <a:cs typeface="Arial"/>
              </a:rPr>
              <a:t>you </a:t>
            </a:r>
            <a:r>
              <a:rPr dirty="0" sz="1200">
                <a:latin typeface="Arial"/>
                <a:cs typeface="Arial"/>
              </a:rPr>
              <a:t>missed any </a:t>
            </a:r>
            <a:r>
              <a:rPr dirty="0" sz="1200" spc="-5">
                <a:latin typeface="Arial"/>
                <a:cs typeface="Arial"/>
              </a:rPr>
              <a:t>Hâdîth in writing, </a:t>
            </a:r>
            <a:r>
              <a:rPr dirty="0" sz="1200" spc="-10">
                <a:latin typeface="Arial"/>
                <a:cs typeface="Arial"/>
              </a:rPr>
              <a:t>you </a:t>
            </a:r>
            <a:r>
              <a:rPr dirty="0" sz="1200">
                <a:latin typeface="Arial"/>
                <a:cs typeface="Arial"/>
              </a:rPr>
              <a:t>could </a:t>
            </a:r>
            <a:r>
              <a:rPr dirty="0" sz="1200" spc="-5">
                <a:latin typeface="Arial"/>
                <a:cs typeface="Arial"/>
              </a:rPr>
              <a:t>obtain </a:t>
            </a:r>
            <a:r>
              <a:rPr dirty="0" sz="1200">
                <a:latin typeface="Arial"/>
                <a:cs typeface="Arial"/>
              </a:rPr>
              <a:t>it </a:t>
            </a:r>
            <a:r>
              <a:rPr dirty="0" sz="1200" spc="-5">
                <a:latin typeface="Arial"/>
                <a:cs typeface="Arial"/>
              </a:rPr>
              <a:t>from </a:t>
            </a:r>
            <a:r>
              <a:rPr dirty="0" sz="1200">
                <a:latin typeface="Arial"/>
                <a:cs typeface="Arial"/>
              </a:rPr>
              <a:t>the </a:t>
            </a:r>
            <a:r>
              <a:rPr dirty="0" sz="1200" spc="-5">
                <a:latin typeface="Arial"/>
                <a:cs typeface="Arial"/>
              </a:rPr>
              <a:t>memory </a:t>
            </a:r>
            <a:r>
              <a:rPr dirty="0" sz="1200">
                <a:latin typeface="Arial"/>
                <a:cs typeface="Arial"/>
              </a:rPr>
              <a:t>of </a:t>
            </a:r>
            <a:r>
              <a:rPr dirty="0" sz="1200" spc="-5">
                <a:latin typeface="Arial"/>
                <a:cs typeface="Arial"/>
              </a:rPr>
              <a:t>Imâm</a:t>
            </a:r>
            <a:r>
              <a:rPr dirty="0" sz="1200" spc="50">
                <a:latin typeface="Arial"/>
                <a:cs typeface="Arial"/>
              </a:rPr>
              <a:t> </a:t>
            </a:r>
            <a:r>
              <a:rPr dirty="0" sz="1200" spc="-5">
                <a:latin typeface="Arial"/>
                <a:cs typeface="Arial"/>
              </a:rPr>
              <a:t>Bukhârî.'"</a:t>
            </a:r>
            <a:endParaRPr sz="1200">
              <a:latin typeface="Arial"/>
              <a:cs typeface="Arial"/>
            </a:endParaRPr>
          </a:p>
          <a:p>
            <a:pPr>
              <a:lnSpc>
                <a:spcPct val="100000"/>
              </a:lnSpc>
            </a:pPr>
            <a:endParaRPr sz="1300">
              <a:latin typeface="Arial"/>
              <a:cs typeface="Arial"/>
            </a:endParaRPr>
          </a:p>
          <a:p>
            <a:pPr algn="just" marL="12700" marR="10160">
              <a:lnSpc>
                <a:spcPct val="95400"/>
              </a:lnSpc>
              <a:spcBef>
                <a:spcPts val="865"/>
              </a:spcBef>
            </a:pPr>
            <a:r>
              <a:rPr dirty="0" sz="1200" spc="-5">
                <a:latin typeface="Arial"/>
                <a:cs typeface="Arial"/>
              </a:rPr>
              <a:t>Sulaymân </a:t>
            </a:r>
            <a:r>
              <a:rPr dirty="0" sz="1200" spc="-10">
                <a:latin typeface="Arial"/>
                <a:cs typeface="Arial"/>
              </a:rPr>
              <a:t>ibn </a:t>
            </a:r>
            <a:r>
              <a:rPr dirty="0" sz="1200" spc="-5">
                <a:latin typeface="Arial"/>
                <a:cs typeface="Arial"/>
              </a:rPr>
              <a:t>Mujâhid says: "One day </a:t>
            </a:r>
            <a:r>
              <a:rPr dirty="0" sz="1200">
                <a:latin typeface="Arial"/>
                <a:cs typeface="Arial"/>
              </a:rPr>
              <a:t>I </a:t>
            </a:r>
            <a:r>
              <a:rPr dirty="0" sz="1200" spc="-5">
                <a:latin typeface="Arial"/>
                <a:cs typeface="Arial"/>
              </a:rPr>
              <a:t>was present in the company of Muhammad ibn  Salâm Baykandî. Muhammad ibn Salâm </a:t>
            </a:r>
            <a:r>
              <a:rPr dirty="0" sz="1200" spc="-10">
                <a:latin typeface="Arial"/>
                <a:cs typeface="Arial"/>
              </a:rPr>
              <a:t>said, </a:t>
            </a:r>
            <a:r>
              <a:rPr dirty="0" sz="1200" spc="-5">
                <a:latin typeface="Arial"/>
                <a:cs typeface="Arial"/>
              </a:rPr>
              <a:t>'If </a:t>
            </a:r>
            <a:r>
              <a:rPr dirty="0" sz="1200" spc="-10">
                <a:latin typeface="Arial"/>
                <a:cs typeface="Arial"/>
              </a:rPr>
              <a:t>you </a:t>
            </a:r>
            <a:r>
              <a:rPr dirty="0" sz="1200" spc="-5">
                <a:latin typeface="Arial"/>
                <a:cs typeface="Arial"/>
              </a:rPr>
              <a:t>had come earlier, </a:t>
            </a:r>
            <a:r>
              <a:rPr dirty="0" sz="1200">
                <a:latin typeface="Arial"/>
                <a:cs typeface="Arial"/>
              </a:rPr>
              <a:t>I </a:t>
            </a:r>
            <a:r>
              <a:rPr dirty="0" sz="1200" spc="-5">
                <a:latin typeface="Arial"/>
                <a:cs typeface="Arial"/>
              </a:rPr>
              <a:t>would have </a:t>
            </a:r>
            <a:r>
              <a:rPr dirty="0" sz="1200" spc="-10">
                <a:latin typeface="Arial"/>
                <a:cs typeface="Arial"/>
              </a:rPr>
              <a:t>shown  you </a:t>
            </a:r>
            <a:r>
              <a:rPr dirty="0" sz="1200">
                <a:latin typeface="Arial"/>
                <a:cs typeface="Arial"/>
              </a:rPr>
              <a:t>the </a:t>
            </a:r>
            <a:r>
              <a:rPr dirty="0" sz="1200" spc="-5">
                <a:latin typeface="Arial"/>
                <a:cs typeface="Arial"/>
              </a:rPr>
              <a:t>child </a:t>
            </a:r>
            <a:r>
              <a:rPr dirty="0" sz="1200" spc="-10">
                <a:latin typeface="Arial"/>
                <a:cs typeface="Arial"/>
              </a:rPr>
              <a:t>who </a:t>
            </a:r>
            <a:r>
              <a:rPr dirty="0" sz="1200" spc="-5">
                <a:latin typeface="Arial"/>
                <a:cs typeface="Arial"/>
              </a:rPr>
              <a:t>has seventy thousand Ahâdîth in his memory.' Sulaymân stood up </a:t>
            </a:r>
            <a:r>
              <a:rPr dirty="0" sz="1200">
                <a:latin typeface="Arial"/>
                <a:cs typeface="Arial"/>
              </a:rPr>
              <a:t>from</a:t>
            </a:r>
            <a:r>
              <a:rPr dirty="0" sz="1200" spc="310">
                <a:latin typeface="Arial"/>
                <a:cs typeface="Arial"/>
              </a:rPr>
              <a:t> </a:t>
            </a:r>
            <a:r>
              <a:rPr dirty="0" sz="1200">
                <a:latin typeface="Arial"/>
                <a:cs typeface="Arial"/>
              </a:rPr>
              <a:t>his</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03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121</a:t>
            </a:r>
            <a:endParaRPr sz="1200">
              <a:latin typeface="Times New Roman"/>
              <a:cs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0630" cy="938403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9525">
              <a:lnSpc>
                <a:spcPct val="95900"/>
              </a:lnSpc>
            </a:pPr>
            <a:r>
              <a:rPr dirty="0" sz="1200" spc="-5">
                <a:latin typeface="Arial"/>
                <a:cs typeface="Arial"/>
              </a:rPr>
              <a:t>company </a:t>
            </a:r>
            <a:r>
              <a:rPr dirty="0" sz="1200">
                <a:latin typeface="Arial"/>
                <a:cs typeface="Arial"/>
              </a:rPr>
              <a:t>and </a:t>
            </a:r>
            <a:r>
              <a:rPr dirty="0" sz="1200" spc="-5">
                <a:latin typeface="Arial"/>
                <a:cs typeface="Arial"/>
              </a:rPr>
              <a:t>started looking </a:t>
            </a:r>
            <a:r>
              <a:rPr dirty="0" sz="1200">
                <a:latin typeface="Arial"/>
                <a:cs typeface="Arial"/>
              </a:rPr>
              <a:t>for </a:t>
            </a:r>
            <a:r>
              <a:rPr dirty="0" sz="1200" spc="-5">
                <a:latin typeface="Arial"/>
                <a:cs typeface="Arial"/>
              </a:rPr>
              <a:t>Imâm Bukhârî. Shortly </a:t>
            </a:r>
            <a:r>
              <a:rPr dirty="0" sz="1200">
                <a:latin typeface="Arial"/>
                <a:cs typeface="Arial"/>
              </a:rPr>
              <a:t>he </a:t>
            </a:r>
            <a:r>
              <a:rPr dirty="0" sz="1200" spc="-5">
                <a:latin typeface="Arial"/>
                <a:cs typeface="Arial"/>
              </a:rPr>
              <a:t>found him and asked, 'Are you </a:t>
            </a:r>
            <a:r>
              <a:rPr dirty="0" sz="1200">
                <a:latin typeface="Arial"/>
                <a:cs typeface="Arial"/>
              </a:rPr>
              <a:t>the  </a:t>
            </a:r>
            <a:r>
              <a:rPr dirty="0" sz="1200" spc="-5">
                <a:latin typeface="Arial"/>
                <a:cs typeface="Arial"/>
              </a:rPr>
              <a:t>one </a:t>
            </a:r>
            <a:r>
              <a:rPr dirty="0" sz="1200" spc="-10">
                <a:latin typeface="Arial"/>
                <a:cs typeface="Arial"/>
              </a:rPr>
              <a:t>who </a:t>
            </a:r>
            <a:r>
              <a:rPr dirty="0" sz="1200" spc="-5">
                <a:latin typeface="Arial"/>
                <a:cs typeface="Arial"/>
              </a:rPr>
              <a:t>has committed seventy thousand Ahâdîth </a:t>
            </a:r>
            <a:r>
              <a:rPr dirty="0" sz="1200">
                <a:latin typeface="Arial"/>
                <a:cs typeface="Arial"/>
              </a:rPr>
              <a:t>to </a:t>
            </a:r>
            <a:r>
              <a:rPr dirty="0" sz="1200" spc="-5">
                <a:latin typeface="Arial"/>
                <a:cs typeface="Arial"/>
              </a:rPr>
              <a:t>memory?' Imâm Bukhârî replied, </a:t>
            </a:r>
            <a:r>
              <a:rPr dirty="0" sz="1200">
                <a:latin typeface="Arial"/>
                <a:cs typeface="Arial"/>
              </a:rPr>
              <a:t>'I  </a:t>
            </a:r>
            <a:r>
              <a:rPr dirty="0" sz="1200" spc="-5">
                <a:latin typeface="Arial"/>
                <a:cs typeface="Arial"/>
              </a:rPr>
              <a:t>have </a:t>
            </a:r>
            <a:r>
              <a:rPr dirty="0" sz="1200">
                <a:latin typeface="Arial"/>
                <a:cs typeface="Arial"/>
              </a:rPr>
              <a:t>learnt </a:t>
            </a:r>
            <a:r>
              <a:rPr dirty="0" sz="1200" spc="-5">
                <a:latin typeface="Arial"/>
                <a:cs typeface="Arial"/>
              </a:rPr>
              <a:t>more Ahâdîth than </a:t>
            </a:r>
            <a:r>
              <a:rPr dirty="0" sz="1200">
                <a:latin typeface="Arial"/>
                <a:cs typeface="Arial"/>
              </a:rPr>
              <a:t>this </a:t>
            </a:r>
            <a:r>
              <a:rPr dirty="0" sz="1200" spc="-5">
                <a:latin typeface="Arial"/>
                <a:cs typeface="Arial"/>
              </a:rPr>
              <a:t>by heart. </a:t>
            </a:r>
            <a:r>
              <a:rPr dirty="0" sz="1200">
                <a:latin typeface="Arial"/>
                <a:cs typeface="Arial"/>
              </a:rPr>
              <a:t>I </a:t>
            </a:r>
            <a:r>
              <a:rPr dirty="0" sz="1200" spc="-5">
                <a:latin typeface="Arial"/>
                <a:cs typeface="Arial"/>
              </a:rPr>
              <a:t>even know </a:t>
            </a:r>
            <a:r>
              <a:rPr dirty="0" sz="1200">
                <a:latin typeface="Arial"/>
                <a:cs typeface="Arial"/>
              </a:rPr>
              <a:t>the </a:t>
            </a:r>
            <a:r>
              <a:rPr dirty="0" sz="1200" spc="-5">
                <a:latin typeface="Arial"/>
                <a:cs typeface="Arial"/>
              </a:rPr>
              <a:t>place of birth, death and  residence of most of those companions from whom the Ahâdîth </a:t>
            </a:r>
            <a:r>
              <a:rPr dirty="0" sz="1200" spc="-10">
                <a:latin typeface="Arial"/>
                <a:cs typeface="Arial"/>
              </a:rPr>
              <a:t>are</a:t>
            </a:r>
            <a:r>
              <a:rPr dirty="0" sz="1200" spc="45">
                <a:latin typeface="Arial"/>
                <a:cs typeface="Arial"/>
              </a:rPr>
              <a:t> </a:t>
            </a:r>
            <a:r>
              <a:rPr dirty="0" sz="1200" spc="-5">
                <a:latin typeface="Arial"/>
                <a:cs typeface="Arial"/>
              </a:rPr>
              <a:t>narrated."</a:t>
            </a:r>
            <a:endParaRPr sz="1200">
              <a:latin typeface="Arial"/>
              <a:cs typeface="Arial"/>
            </a:endParaRPr>
          </a:p>
          <a:p>
            <a:pPr>
              <a:lnSpc>
                <a:spcPct val="100000"/>
              </a:lnSpc>
              <a:spcBef>
                <a:spcPts val="30"/>
              </a:spcBef>
            </a:pPr>
            <a:endParaRPr sz="1550">
              <a:latin typeface="Arial"/>
              <a:cs typeface="Arial"/>
            </a:endParaRPr>
          </a:p>
          <a:p>
            <a:pPr algn="just" marL="12700">
              <a:lnSpc>
                <a:spcPct val="100000"/>
              </a:lnSpc>
            </a:pPr>
            <a:r>
              <a:rPr dirty="0" sz="1200">
                <a:latin typeface="Arial"/>
                <a:cs typeface="Arial"/>
              </a:rPr>
              <a:t>Haafidh </a:t>
            </a:r>
            <a:r>
              <a:rPr dirty="0" sz="1200" spc="-5">
                <a:latin typeface="Arial"/>
                <a:cs typeface="Arial"/>
              </a:rPr>
              <a:t>adh-Dhahabee</a:t>
            </a:r>
            <a:r>
              <a:rPr dirty="0" sz="1200" spc="-10">
                <a:latin typeface="Arial"/>
                <a:cs typeface="Arial"/>
              </a:rPr>
              <a:t> </a:t>
            </a:r>
            <a:r>
              <a:rPr dirty="0" sz="1200" spc="-5">
                <a:latin typeface="Arial"/>
                <a:cs typeface="Arial"/>
              </a:rPr>
              <a:t>mentions,</a:t>
            </a:r>
            <a:endParaRPr sz="1200">
              <a:latin typeface="Arial"/>
              <a:cs typeface="Arial"/>
            </a:endParaRPr>
          </a:p>
          <a:p>
            <a:pPr>
              <a:lnSpc>
                <a:spcPct val="100000"/>
              </a:lnSpc>
              <a:spcBef>
                <a:spcPts val="20"/>
              </a:spcBef>
            </a:pPr>
            <a:endParaRPr sz="1300">
              <a:latin typeface="Arial"/>
              <a:cs typeface="Arial"/>
            </a:endParaRPr>
          </a:p>
          <a:p>
            <a:pPr algn="just" marL="12700" marR="11430">
              <a:lnSpc>
                <a:spcPct val="95400"/>
              </a:lnSpc>
              <a:spcBef>
                <a:spcPts val="5"/>
              </a:spcBef>
            </a:pPr>
            <a:r>
              <a:rPr dirty="0" sz="1200" spc="-165">
                <a:latin typeface="Arial"/>
                <a:cs typeface="Arial"/>
              </a:rPr>
              <a:t>―When </a:t>
            </a:r>
            <a:r>
              <a:rPr dirty="0" sz="1200" spc="-5">
                <a:latin typeface="Arial"/>
                <a:cs typeface="Arial"/>
              </a:rPr>
              <a:t>Imaam Bukhaaree </a:t>
            </a:r>
            <a:r>
              <a:rPr dirty="0" sz="1200">
                <a:latin typeface="Arial"/>
                <a:cs typeface="Arial"/>
              </a:rPr>
              <a:t>started </a:t>
            </a:r>
            <a:r>
              <a:rPr dirty="0" sz="1200" spc="-5">
                <a:latin typeface="Arial"/>
                <a:cs typeface="Arial"/>
              </a:rPr>
              <a:t>teaching and writing </a:t>
            </a:r>
            <a:r>
              <a:rPr dirty="0" sz="1200">
                <a:latin typeface="Arial"/>
                <a:cs typeface="Arial"/>
              </a:rPr>
              <a:t>he </a:t>
            </a:r>
            <a:r>
              <a:rPr dirty="0" sz="1200" spc="-5">
                <a:latin typeface="Arial"/>
                <a:cs typeface="Arial"/>
              </a:rPr>
              <a:t>did </a:t>
            </a:r>
            <a:r>
              <a:rPr dirty="0" sz="1200">
                <a:latin typeface="Arial"/>
                <a:cs typeface="Arial"/>
              </a:rPr>
              <a:t>not </a:t>
            </a:r>
            <a:r>
              <a:rPr dirty="0" sz="1200" spc="-5">
                <a:latin typeface="Arial"/>
                <a:cs typeface="Arial"/>
              </a:rPr>
              <a:t>have </a:t>
            </a:r>
            <a:r>
              <a:rPr dirty="0" sz="1200">
                <a:latin typeface="Arial"/>
                <a:cs typeface="Arial"/>
              </a:rPr>
              <a:t>a </a:t>
            </a:r>
            <a:r>
              <a:rPr dirty="0" sz="1200" spc="-5">
                <a:latin typeface="Arial"/>
                <a:cs typeface="Arial"/>
              </a:rPr>
              <a:t>single hair </a:t>
            </a:r>
            <a:r>
              <a:rPr dirty="0" sz="1200">
                <a:latin typeface="Arial"/>
                <a:cs typeface="Arial"/>
              </a:rPr>
              <a:t>on </a:t>
            </a:r>
            <a:r>
              <a:rPr dirty="0" sz="1200" spc="-5">
                <a:latin typeface="Arial"/>
                <a:cs typeface="Arial"/>
              </a:rPr>
              <a:t>his  beard, (meaning that he </a:t>
            </a:r>
            <a:r>
              <a:rPr dirty="0" sz="1200" spc="-10">
                <a:latin typeface="Arial"/>
                <a:cs typeface="Arial"/>
              </a:rPr>
              <a:t>was </a:t>
            </a:r>
            <a:r>
              <a:rPr dirty="0" sz="1200" spc="-5">
                <a:latin typeface="Arial"/>
                <a:cs typeface="Arial"/>
              </a:rPr>
              <a:t>young) and </a:t>
            </a:r>
            <a:r>
              <a:rPr dirty="0" sz="1200" spc="-10">
                <a:latin typeface="Arial"/>
                <a:cs typeface="Arial"/>
              </a:rPr>
              <a:t>the </a:t>
            </a:r>
            <a:r>
              <a:rPr dirty="0" sz="1200" spc="-5">
                <a:latin typeface="Arial"/>
                <a:cs typeface="Arial"/>
              </a:rPr>
              <a:t>people </a:t>
            </a:r>
            <a:r>
              <a:rPr dirty="0" sz="1200" spc="-10">
                <a:latin typeface="Arial"/>
                <a:cs typeface="Arial"/>
              </a:rPr>
              <a:t>he </a:t>
            </a:r>
            <a:r>
              <a:rPr dirty="0" sz="1200" spc="-5">
                <a:latin typeface="Arial"/>
                <a:cs typeface="Arial"/>
              </a:rPr>
              <a:t>wrote hadeeth from he himself has  mentioned </a:t>
            </a:r>
            <a:r>
              <a:rPr dirty="0" sz="1200">
                <a:latin typeface="Arial"/>
                <a:cs typeface="Arial"/>
              </a:rPr>
              <a:t>more </a:t>
            </a:r>
            <a:r>
              <a:rPr dirty="0" sz="1200" spc="-5">
                <a:latin typeface="Arial"/>
                <a:cs typeface="Arial"/>
              </a:rPr>
              <a:t>than </a:t>
            </a:r>
            <a:r>
              <a:rPr dirty="0" sz="1200" spc="-20">
                <a:latin typeface="Arial"/>
                <a:cs typeface="Arial"/>
              </a:rPr>
              <a:t>1000.‖ </a:t>
            </a:r>
            <a:r>
              <a:rPr dirty="0" sz="1200" spc="-5">
                <a:latin typeface="Arial"/>
                <a:cs typeface="Arial"/>
              </a:rPr>
              <a:t>[Tadhkirrah </a:t>
            </a:r>
            <a:r>
              <a:rPr dirty="0" sz="1200">
                <a:latin typeface="Arial"/>
                <a:cs typeface="Arial"/>
              </a:rPr>
              <a:t>tal-Huffaadh</a:t>
            </a:r>
            <a:r>
              <a:rPr dirty="0" sz="1200" spc="5">
                <a:latin typeface="Arial"/>
                <a:cs typeface="Arial"/>
              </a:rPr>
              <a:t> </a:t>
            </a:r>
            <a:r>
              <a:rPr dirty="0" sz="1200" spc="-5">
                <a:latin typeface="Arial"/>
                <a:cs typeface="Arial"/>
              </a:rPr>
              <a:t>(2/122)]</a:t>
            </a:r>
            <a:endParaRPr sz="1200">
              <a:latin typeface="Arial"/>
              <a:cs typeface="Arial"/>
            </a:endParaRPr>
          </a:p>
          <a:p>
            <a:pPr>
              <a:lnSpc>
                <a:spcPct val="100000"/>
              </a:lnSpc>
              <a:spcBef>
                <a:spcPts val="20"/>
              </a:spcBef>
            </a:pPr>
            <a:endParaRPr sz="1300">
              <a:latin typeface="Arial"/>
              <a:cs typeface="Arial"/>
            </a:endParaRPr>
          </a:p>
          <a:p>
            <a:pPr algn="just" marL="12700" marR="8890">
              <a:lnSpc>
                <a:spcPct val="95500"/>
              </a:lnSpc>
            </a:pPr>
            <a:r>
              <a:rPr dirty="0" sz="1200" spc="-5">
                <a:latin typeface="Arial"/>
                <a:cs typeface="Arial"/>
              </a:rPr>
              <a:t>Some of his teachers include: Dhihaak Ibn Mukhlid, Makkee Ibn Ibraheem Khadhalee,  </a:t>
            </a:r>
            <a:r>
              <a:rPr dirty="0" sz="1200">
                <a:latin typeface="Arial"/>
                <a:cs typeface="Arial"/>
              </a:rPr>
              <a:t>Ubaidullah </a:t>
            </a:r>
            <a:r>
              <a:rPr dirty="0" sz="1200" spc="-5">
                <a:latin typeface="Arial"/>
                <a:cs typeface="Arial"/>
              </a:rPr>
              <a:t>Ibn </a:t>
            </a:r>
            <a:r>
              <a:rPr dirty="0" sz="1200" spc="-10">
                <a:latin typeface="Arial"/>
                <a:cs typeface="Arial"/>
              </a:rPr>
              <a:t>Moosaa </a:t>
            </a:r>
            <a:r>
              <a:rPr dirty="0" sz="1200" spc="-5">
                <a:latin typeface="Arial"/>
                <a:cs typeface="Arial"/>
              </a:rPr>
              <a:t>Abasa, Abdul Quddoos Ibn Hajjaaj and Muhammad </a:t>
            </a:r>
            <a:r>
              <a:rPr dirty="0" sz="1200">
                <a:latin typeface="Arial"/>
                <a:cs typeface="Arial"/>
              </a:rPr>
              <a:t>Ibn </a:t>
            </a:r>
            <a:r>
              <a:rPr dirty="0" sz="1200" spc="-5">
                <a:latin typeface="Arial"/>
                <a:cs typeface="Arial"/>
              </a:rPr>
              <a:t>Abdullaah  Ansaaree.</a:t>
            </a:r>
            <a:endParaRPr sz="1200">
              <a:latin typeface="Arial"/>
              <a:cs typeface="Arial"/>
            </a:endParaRPr>
          </a:p>
          <a:p>
            <a:pPr>
              <a:lnSpc>
                <a:spcPct val="100000"/>
              </a:lnSpc>
              <a:spcBef>
                <a:spcPts val="20"/>
              </a:spcBef>
            </a:pPr>
            <a:endParaRPr sz="1300">
              <a:latin typeface="Arial"/>
              <a:cs typeface="Arial"/>
            </a:endParaRPr>
          </a:p>
          <a:p>
            <a:pPr algn="just" marL="12700" marR="8890">
              <a:lnSpc>
                <a:spcPct val="95600"/>
              </a:lnSpc>
            </a:pPr>
            <a:r>
              <a:rPr dirty="0" sz="1200" spc="-5">
                <a:latin typeface="Arial"/>
                <a:cs typeface="Arial"/>
              </a:rPr>
              <a:t>The names of the Muhadditheen that were his students </a:t>
            </a:r>
            <a:r>
              <a:rPr dirty="0" sz="1200">
                <a:latin typeface="Arial"/>
                <a:cs typeface="Arial"/>
              </a:rPr>
              <a:t>are </a:t>
            </a:r>
            <a:r>
              <a:rPr dirty="0" sz="1200" spc="-5">
                <a:latin typeface="Arial"/>
                <a:cs typeface="Arial"/>
              </a:rPr>
              <a:t>Tirmidhee, Muslim, Nasaa‘ee,  Ibraaheem </a:t>
            </a:r>
            <a:r>
              <a:rPr dirty="0" sz="1200">
                <a:latin typeface="Arial"/>
                <a:cs typeface="Arial"/>
              </a:rPr>
              <a:t>Ibn </a:t>
            </a:r>
            <a:r>
              <a:rPr dirty="0" sz="1200" spc="-5">
                <a:latin typeface="Arial"/>
                <a:cs typeface="Arial"/>
              </a:rPr>
              <a:t>Ishaaq Al-Harawee, Muhammad Ibn Ahmad </a:t>
            </a:r>
            <a:r>
              <a:rPr dirty="0" sz="1200" spc="-10">
                <a:latin typeface="Arial"/>
                <a:cs typeface="Arial"/>
              </a:rPr>
              <a:t>Ibn </a:t>
            </a:r>
            <a:r>
              <a:rPr dirty="0" sz="1200" spc="-5">
                <a:latin typeface="Arial"/>
                <a:cs typeface="Arial"/>
              </a:rPr>
              <a:t>Doolaabee and </a:t>
            </a:r>
            <a:r>
              <a:rPr dirty="0" sz="1200">
                <a:latin typeface="Arial"/>
                <a:cs typeface="Arial"/>
              </a:rPr>
              <a:t>the last  </a:t>
            </a:r>
            <a:r>
              <a:rPr dirty="0" sz="1200" spc="-5">
                <a:latin typeface="Arial"/>
                <a:cs typeface="Arial"/>
              </a:rPr>
              <a:t>person </a:t>
            </a:r>
            <a:r>
              <a:rPr dirty="0" sz="1200" spc="-10">
                <a:latin typeface="Arial"/>
                <a:cs typeface="Arial"/>
              </a:rPr>
              <a:t>who </a:t>
            </a:r>
            <a:r>
              <a:rPr dirty="0" sz="1200" spc="-5">
                <a:latin typeface="Arial"/>
                <a:cs typeface="Arial"/>
              </a:rPr>
              <a:t>narrated </a:t>
            </a:r>
            <a:r>
              <a:rPr dirty="0" sz="1200">
                <a:latin typeface="Arial"/>
                <a:cs typeface="Arial"/>
              </a:rPr>
              <a:t>As-Saheeh </a:t>
            </a:r>
            <a:r>
              <a:rPr dirty="0" sz="1200" spc="-5">
                <a:latin typeface="Arial"/>
                <a:cs typeface="Arial"/>
              </a:rPr>
              <a:t>from </a:t>
            </a:r>
            <a:r>
              <a:rPr dirty="0" sz="1200" spc="-10">
                <a:latin typeface="Arial"/>
                <a:cs typeface="Arial"/>
              </a:rPr>
              <a:t>him was </a:t>
            </a:r>
            <a:r>
              <a:rPr dirty="0" sz="1200" spc="-5">
                <a:latin typeface="Arial"/>
                <a:cs typeface="Arial"/>
              </a:rPr>
              <a:t>Mansoor </a:t>
            </a:r>
            <a:r>
              <a:rPr dirty="0" sz="1200">
                <a:latin typeface="Arial"/>
                <a:cs typeface="Arial"/>
              </a:rPr>
              <a:t>Ibn </a:t>
            </a:r>
            <a:r>
              <a:rPr dirty="0" sz="1200" spc="-5">
                <a:latin typeface="Arial"/>
                <a:cs typeface="Arial"/>
              </a:rPr>
              <a:t>Muhammad Bazdooree  </a:t>
            </a:r>
            <a:r>
              <a:rPr dirty="0" sz="1200">
                <a:latin typeface="Arial"/>
                <a:cs typeface="Arial"/>
              </a:rPr>
              <a:t>(d.329H)</a:t>
            </a:r>
            <a:endParaRPr sz="1200">
              <a:latin typeface="Arial"/>
              <a:cs typeface="Arial"/>
            </a:endParaRPr>
          </a:p>
          <a:p>
            <a:pPr>
              <a:lnSpc>
                <a:spcPct val="100000"/>
              </a:lnSpc>
              <a:spcBef>
                <a:spcPts val="5"/>
              </a:spcBef>
            </a:pPr>
            <a:endParaRPr sz="1800">
              <a:latin typeface="Arial"/>
              <a:cs typeface="Arial"/>
            </a:endParaRPr>
          </a:p>
          <a:p>
            <a:pPr algn="just" marL="12700">
              <a:lnSpc>
                <a:spcPct val="100000"/>
              </a:lnSpc>
            </a:pPr>
            <a:r>
              <a:rPr dirty="0" u="heavy" sz="1200" spc="-5" b="1" i="1">
                <a:uFill>
                  <a:solidFill>
                    <a:srgbClr val="000000"/>
                  </a:solidFill>
                </a:uFill>
                <a:latin typeface="Arial"/>
                <a:cs typeface="Arial"/>
              </a:rPr>
              <a:t>Criteria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Collection</a:t>
            </a:r>
            <a:endParaRPr sz="1200">
              <a:latin typeface="Arial"/>
              <a:cs typeface="Arial"/>
            </a:endParaRPr>
          </a:p>
          <a:p>
            <a:pPr>
              <a:lnSpc>
                <a:spcPct val="100000"/>
              </a:lnSpc>
            </a:pPr>
            <a:endParaRPr sz="1150">
              <a:latin typeface="Arial"/>
              <a:cs typeface="Arial"/>
            </a:endParaRPr>
          </a:p>
          <a:p>
            <a:pPr marL="413384" indent="-172720">
              <a:lnSpc>
                <a:spcPts val="1410"/>
              </a:lnSpc>
              <a:buFont typeface="Wingdings"/>
              <a:buChar char=""/>
              <a:tabLst>
                <a:tab pos="414020" algn="l"/>
              </a:tabLst>
            </a:pPr>
            <a:r>
              <a:rPr dirty="0" sz="1200" spc="-5">
                <a:latin typeface="Arial"/>
                <a:cs typeface="Arial"/>
              </a:rPr>
              <a:t>All </a:t>
            </a:r>
            <a:r>
              <a:rPr dirty="0" sz="1200">
                <a:latin typeface="Arial"/>
                <a:cs typeface="Arial"/>
              </a:rPr>
              <a:t>reporters as </a:t>
            </a:r>
            <a:r>
              <a:rPr dirty="0" sz="1200" spc="-5">
                <a:latin typeface="Arial"/>
                <a:cs typeface="Arial"/>
              </a:rPr>
              <a:t>from him should be trustworthy </a:t>
            </a:r>
            <a:r>
              <a:rPr dirty="0" sz="1200">
                <a:latin typeface="Arial"/>
                <a:cs typeface="Arial"/>
              </a:rPr>
              <a:t>and</a:t>
            </a:r>
            <a:r>
              <a:rPr dirty="0" sz="1200" spc="-15">
                <a:latin typeface="Arial"/>
                <a:cs typeface="Arial"/>
              </a:rPr>
              <a:t> </a:t>
            </a:r>
            <a:r>
              <a:rPr dirty="0" sz="1200" spc="-5">
                <a:latin typeface="Arial"/>
                <a:cs typeface="Arial"/>
              </a:rPr>
              <a:t>reliable</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Preference to students of highest rank of any </a:t>
            </a:r>
            <a:r>
              <a:rPr dirty="0" sz="1200">
                <a:latin typeface="Arial"/>
                <a:cs typeface="Arial"/>
              </a:rPr>
              <a:t>particular</a:t>
            </a:r>
            <a:r>
              <a:rPr dirty="0" sz="1200" spc="15">
                <a:latin typeface="Arial"/>
                <a:cs typeface="Arial"/>
              </a:rPr>
              <a:t> </a:t>
            </a:r>
            <a:r>
              <a:rPr dirty="0" sz="1200" spc="-5">
                <a:latin typeface="Arial"/>
                <a:cs typeface="Arial"/>
              </a:rPr>
              <a:t>teacher</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Accepted the usage </a:t>
            </a:r>
            <a:r>
              <a:rPr dirty="0" sz="1200" spc="-140">
                <a:latin typeface="Arial"/>
                <a:cs typeface="Arial"/>
              </a:rPr>
              <a:t>‗an </a:t>
            </a:r>
            <a:r>
              <a:rPr dirty="0" sz="1200">
                <a:latin typeface="Arial"/>
                <a:cs typeface="Arial"/>
              </a:rPr>
              <a:t>-</a:t>
            </a:r>
            <a:r>
              <a:rPr dirty="0" sz="1200" spc="-35">
                <a:latin typeface="Arial"/>
                <a:cs typeface="Arial"/>
              </a:rPr>
              <a:t> </a:t>
            </a:r>
            <a:r>
              <a:rPr dirty="0" sz="1200" spc="-5">
                <a:latin typeface="Arial"/>
                <a:cs typeface="Arial"/>
              </a:rPr>
              <a:t>contemporary</a:t>
            </a:r>
            <a:endParaRPr sz="1200">
              <a:latin typeface="Arial"/>
              <a:cs typeface="Arial"/>
            </a:endParaRPr>
          </a:p>
          <a:p>
            <a:pPr marL="413384" indent="-172720">
              <a:lnSpc>
                <a:spcPts val="1380"/>
              </a:lnSpc>
              <a:buFont typeface="Wingdings"/>
              <a:buChar char=""/>
              <a:tabLst>
                <a:tab pos="414020" algn="l"/>
              </a:tabLst>
            </a:pPr>
            <a:r>
              <a:rPr dirty="0" sz="1200">
                <a:latin typeface="Arial"/>
                <a:cs typeface="Arial"/>
              </a:rPr>
              <a:t>Rejected Hadith </a:t>
            </a:r>
            <a:r>
              <a:rPr dirty="0" sz="1200" spc="-5">
                <a:latin typeface="Arial"/>
                <a:cs typeface="Arial"/>
              </a:rPr>
              <a:t>with discontinued</a:t>
            </a:r>
            <a:r>
              <a:rPr dirty="0" sz="1200" spc="-30">
                <a:latin typeface="Arial"/>
                <a:cs typeface="Arial"/>
              </a:rPr>
              <a:t> </a:t>
            </a:r>
            <a:r>
              <a:rPr dirty="0" sz="1200" spc="-5">
                <a:latin typeface="Arial"/>
                <a:cs typeface="Arial"/>
              </a:rPr>
              <a:t>Sanad</a:t>
            </a:r>
            <a:endParaRPr sz="1200">
              <a:latin typeface="Arial"/>
              <a:cs typeface="Arial"/>
            </a:endParaRPr>
          </a:p>
          <a:p>
            <a:pPr marL="413384" indent="-172720">
              <a:lnSpc>
                <a:spcPts val="1410"/>
              </a:lnSpc>
              <a:buFont typeface="Wingdings"/>
              <a:buChar char=""/>
              <a:tabLst>
                <a:tab pos="414020" algn="l"/>
              </a:tabLst>
            </a:pPr>
            <a:r>
              <a:rPr dirty="0" sz="1200" spc="-5">
                <a:latin typeface="Arial"/>
                <a:cs typeface="Arial"/>
              </a:rPr>
              <a:t>Accepted reports of no matured children</a:t>
            </a:r>
            <a:endParaRPr sz="1200">
              <a:latin typeface="Arial"/>
              <a:cs typeface="Arial"/>
            </a:endParaRPr>
          </a:p>
          <a:p>
            <a:pPr>
              <a:lnSpc>
                <a:spcPct val="100000"/>
              </a:lnSpc>
              <a:spcBef>
                <a:spcPts val="55"/>
              </a:spcBef>
            </a:pPr>
            <a:endParaRPr sz="1100">
              <a:latin typeface="Arial"/>
              <a:cs typeface="Arial"/>
            </a:endParaRPr>
          </a:p>
          <a:p>
            <a:pPr marL="241300">
              <a:lnSpc>
                <a:spcPct val="100000"/>
              </a:lnSpc>
            </a:pPr>
            <a:r>
              <a:rPr dirty="0" sz="1200" b="1" i="1">
                <a:latin typeface="Arial"/>
                <a:cs typeface="Arial"/>
              </a:rPr>
              <a:t>2. </a:t>
            </a:r>
            <a:r>
              <a:rPr dirty="0" u="heavy" sz="1200" b="1" i="1">
                <a:uFill>
                  <a:solidFill>
                    <a:srgbClr val="000000"/>
                  </a:solidFill>
                </a:uFill>
                <a:latin typeface="Arial"/>
                <a:cs typeface="Arial"/>
              </a:rPr>
              <a:t>Swahih </a:t>
            </a:r>
            <a:r>
              <a:rPr dirty="0" u="heavy" sz="1200" spc="-5" b="1" i="1">
                <a:uFill>
                  <a:solidFill>
                    <a:srgbClr val="000000"/>
                  </a:solidFill>
                </a:uFill>
                <a:latin typeface="Arial"/>
                <a:cs typeface="Arial"/>
              </a:rPr>
              <a:t>al</a:t>
            </a:r>
            <a:r>
              <a:rPr dirty="0" u="heavy" sz="1200" spc="-225" b="1" i="1">
                <a:uFill>
                  <a:solidFill>
                    <a:srgbClr val="000000"/>
                  </a:solidFill>
                </a:uFill>
                <a:latin typeface="Arial"/>
                <a:cs typeface="Arial"/>
              </a:rPr>
              <a:t> </a:t>
            </a:r>
            <a:r>
              <a:rPr dirty="0" u="heavy" sz="1200" spc="-5" b="1" i="1">
                <a:uFill>
                  <a:solidFill>
                    <a:srgbClr val="000000"/>
                  </a:solidFill>
                </a:uFill>
                <a:latin typeface="Arial"/>
                <a:cs typeface="Arial"/>
              </a:rPr>
              <a:t>Muslim</a:t>
            </a:r>
            <a:endParaRPr sz="1200">
              <a:latin typeface="Arial"/>
              <a:cs typeface="Arial"/>
            </a:endParaRPr>
          </a:p>
          <a:p>
            <a:pPr>
              <a:lnSpc>
                <a:spcPct val="100000"/>
              </a:lnSpc>
              <a:spcBef>
                <a:spcPts val="35"/>
              </a:spcBef>
            </a:pPr>
            <a:endParaRPr sz="1200">
              <a:latin typeface="Arial"/>
              <a:cs typeface="Arial"/>
            </a:endParaRPr>
          </a:p>
          <a:p>
            <a:pPr algn="just" marL="12700" marR="6350">
              <a:lnSpc>
                <a:spcPts val="1380"/>
              </a:lnSpc>
            </a:pPr>
            <a:r>
              <a:rPr dirty="0" sz="1200" spc="-5">
                <a:latin typeface="Arial"/>
                <a:cs typeface="Arial"/>
              </a:rPr>
              <a:t>The author of </a:t>
            </a:r>
            <a:r>
              <a:rPr dirty="0" sz="1200">
                <a:latin typeface="Arial"/>
                <a:cs typeface="Arial"/>
              </a:rPr>
              <a:t>this </a:t>
            </a:r>
            <a:r>
              <a:rPr dirty="0" sz="1200" spc="-10">
                <a:latin typeface="Arial"/>
                <a:cs typeface="Arial"/>
              </a:rPr>
              <a:t>book </a:t>
            </a:r>
            <a:r>
              <a:rPr dirty="0" sz="1200" spc="-5">
                <a:latin typeface="Arial"/>
                <a:cs typeface="Arial"/>
              </a:rPr>
              <a:t>is Imaam Abul-Husayn Muslim ibn </a:t>
            </a:r>
            <a:r>
              <a:rPr dirty="0" sz="1200">
                <a:latin typeface="Arial"/>
                <a:cs typeface="Arial"/>
              </a:rPr>
              <a:t>al-Hajjaaj. </a:t>
            </a:r>
            <a:r>
              <a:rPr dirty="0" sz="1200" spc="-5">
                <a:latin typeface="Arial"/>
                <a:cs typeface="Arial"/>
              </a:rPr>
              <a:t>He </a:t>
            </a:r>
            <a:r>
              <a:rPr dirty="0" sz="1200" spc="-10">
                <a:latin typeface="Arial"/>
                <a:cs typeface="Arial"/>
              </a:rPr>
              <a:t>was </a:t>
            </a:r>
            <a:r>
              <a:rPr dirty="0" sz="1200">
                <a:latin typeface="Arial"/>
                <a:cs typeface="Arial"/>
              </a:rPr>
              <a:t>born </a:t>
            </a:r>
            <a:r>
              <a:rPr dirty="0" sz="1200" spc="-5">
                <a:latin typeface="Arial"/>
                <a:cs typeface="Arial"/>
              </a:rPr>
              <a:t>in the year  202 </a:t>
            </a:r>
            <a:r>
              <a:rPr dirty="0" sz="1200">
                <a:latin typeface="Arial"/>
                <a:cs typeface="Arial"/>
              </a:rPr>
              <a:t>– </a:t>
            </a:r>
            <a:r>
              <a:rPr dirty="0" sz="1200" spc="-5">
                <a:latin typeface="Arial"/>
                <a:cs typeface="Arial"/>
              </a:rPr>
              <a:t>261 AH in Nisaabur, </a:t>
            </a:r>
            <a:r>
              <a:rPr dirty="0" sz="1200">
                <a:latin typeface="Arial"/>
                <a:cs typeface="Arial"/>
              </a:rPr>
              <a:t>Iran. </a:t>
            </a:r>
            <a:r>
              <a:rPr dirty="0" sz="1200" spc="-5">
                <a:latin typeface="Arial"/>
                <a:cs typeface="Arial"/>
              </a:rPr>
              <a:t>His book has 4000 Hadith out of 300000 he </a:t>
            </a:r>
            <a:r>
              <a:rPr dirty="0" sz="1200">
                <a:latin typeface="Arial"/>
                <a:cs typeface="Arial"/>
              </a:rPr>
              <a:t>has</a:t>
            </a:r>
            <a:r>
              <a:rPr dirty="0" sz="1200" spc="135">
                <a:latin typeface="Arial"/>
                <a:cs typeface="Arial"/>
              </a:rPr>
              <a:t> </a:t>
            </a:r>
            <a:r>
              <a:rPr dirty="0" sz="1200" spc="-5">
                <a:latin typeface="Arial"/>
                <a:cs typeface="Arial"/>
              </a:rPr>
              <a:t>collected.</a:t>
            </a:r>
            <a:endParaRPr sz="1200">
              <a:latin typeface="Arial"/>
              <a:cs typeface="Arial"/>
            </a:endParaRPr>
          </a:p>
          <a:p>
            <a:pPr>
              <a:lnSpc>
                <a:spcPct val="100000"/>
              </a:lnSpc>
              <a:spcBef>
                <a:spcPts val="10"/>
              </a:spcBef>
            </a:pPr>
            <a:endParaRPr sz="1600">
              <a:latin typeface="Arial"/>
              <a:cs typeface="Arial"/>
            </a:endParaRPr>
          </a:p>
          <a:p>
            <a:pPr algn="just" marL="12700" marR="5715">
              <a:lnSpc>
                <a:spcPct val="95600"/>
              </a:lnSpc>
            </a:pPr>
            <a:r>
              <a:rPr dirty="0" sz="1200" spc="-5">
                <a:latin typeface="Arial"/>
                <a:cs typeface="Arial"/>
              </a:rPr>
              <a:t>Imam Muslim travelled widely </a:t>
            </a:r>
            <a:r>
              <a:rPr dirty="0" sz="1200">
                <a:latin typeface="Arial"/>
                <a:cs typeface="Arial"/>
              </a:rPr>
              <a:t>to </a:t>
            </a:r>
            <a:r>
              <a:rPr dirty="0" sz="1200" spc="-5">
                <a:latin typeface="Arial"/>
                <a:cs typeface="Arial"/>
              </a:rPr>
              <a:t>collect traditions in Arabia, Egypt, </a:t>
            </a:r>
            <a:r>
              <a:rPr dirty="0" sz="1200" spc="-10">
                <a:latin typeface="Arial"/>
                <a:cs typeface="Arial"/>
              </a:rPr>
              <a:t>Syria </a:t>
            </a:r>
            <a:r>
              <a:rPr dirty="0" sz="1200" spc="-5">
                <a:latin typeface="Arial"/>
                <a:cs typeface="Arial"/>
              </a:rPr>
              <a:t>and Iraq, where he  attended </a:t>
            </a:r>
            <a:r>
              <a:rPr dirty="0" sz="1200">
                <a:latin typeface="Arial"/>
                <a:cs typeface="Arial"/>
              </a:rPr>
              <a:t>the </a:t>
            </a:r>
            <a:r>
              <a:rPr dirty="0" sz="1200" spc="-5">
                <a:latin typeface="Arial"/>
                <a:cs typeface="Arial"/>
              </a:rPr>
              <a:t>lectures of some of </a:t>
            </a:r>
            <a:r>
              <a:rPr dirty="0" sz="1200">
                <a:latin typeface="Arial"/>
                <a:cs typeface="Arial"/>
              </a:rPr>
              <a:t>the </a:t>
            </a:r>
            <a:r>
              <a:rPr dirty="0" sz="1200" spc="-5">
                <a:latin typeface="Arial"/>
                <a:cs typeface="Arial"/>
              </a:rPr>
              <a:t>prominent Traditionists of his </a:t>
            </a:r>
            <a:r>
              <a:rPr dirty="0" sz="1200">
                <a:latin typeface="Arial"/>
                <a:cs typeface="Arial"/>
              </a:rPr>
              <a:t>time: Ishaq b. </a:t>
            </a:r>
            <a:r>
              <a:rPr dirty="0" sz="1200" spc="-5">
                <a:latin typeface="Arial"/>
                <a:cs typeface="Arial"/>
              </a:rPr>
              <a:t>Rahwaih,  Ahmad </a:t>
            </a:r>
            <a:r>
              <a:rPr dirty="0" sz="1200">
                <a:latin typeface="Arial"/>
                <a:cs typeface="Arial"/>
              </a:rPr>
              <a:t>b. </a:t>
            </a:r>
            <a:r>
              <a:rPr dirty="0" sz="1200" spc="-5">
                <a:latin typeface="Arial"/>
                <a:cs typeface="Arial"/>
              </a:rPr>
              <a:t>Hanbal, 'Ubaydullah al-Qawariri, Qutaiba </a:t>
            </a:r>
            <a:r>
              <a:rPr dirty="0" sz="1200">
                <a:latin typeface="Arial"/>
                <a:cs typeface="Arial"/>
              </a:rPr>
              <a:t>b. Sa‘id, </a:t>
            </a:r>
            <a:r>
              <a:rPr dirty="0" sz="1200" spc="-5">
                <a:latin typeface="Arial"/>
                <a:cs typeface="Arial"/>
              </a:rPr>
              <a:t>'Abdullah </a:t>
            </a:r>
            <a:r>
              <a:rPr dirty="0" sz="1200">
                <a:latin typeface="Arial"/>
                <a:cs typeface="Arial"/>
              </a:rPr>
              <a:t>b. </a:t>
            </a:r>
            <a:r>
              <a:rPr dirty="0" sz="1200" spc="-5">
                <a:latin typeface="Arial"/>
                <a:cs typeface="Arial"/>
              </a:rPr>
              <a:t>Maslama,  </a:t>
            </a:r>
            <a:r>
              <a:rPr dirty="0" sz="1200">
                <a:latin typeface="Arial"/>
                <a:cs typeface="Arial"/>
              </a:rPr>
              <a:t>Harmalah b. </a:t>
            </a:r>
            <a:r>
              <a:rPr dirty="0" sz="1200" spc="-10">
                <a:latin typeface="Arial"/>
                <a:cs typeface="Arial"/>
              </a:rPr>
              <a:t>Yahya, </a:t>
            </a:r>
            <a:r>
              <a:rPr dirty="0" sz="1200" spc="-5">
                <a:latin typeface="Arial"/>
                <a:cs typeface="Arial"/>
              </a:rPr>
              <a:t>and</a:t>
            </a:r>
            <a:r>
              <a:rPr dirty="0" sz="1200">
                <a:latin typeface="Arial"/>
                <a:cs typeface="Arial"/>
              </a:rPr>
              <a:t> </a:t>
            </a:r>
            <a:r>
              <a:rPr dirty="0" sz="1200" spc="-5">
                <a:latin typeface="Arial"/>
                <a:cs typeface="Arial"/>
              </a:rPr>
              <a:t>others.</a:t>
            </a:r>
            <a:endParaRPr sz="1200">
              <a:latin typeface="Arial"/>
              <a:cs typeface="Arial"/>
            </a:endParaRPr>
          </a:p>
          <a:p>
            <a:pPr algn="just" marL="12700" marR="5080">
              <a:lnSpc>
                <a:spcPts val="1380"/>
              </a:lnSpc>
              <a:spcBef>
                <a:spcPts val="545"/>
              </a:spcBef>
            </a:pPr>
            <a:r>
              <a:rPr dirty="0" sz="1200" spc="-5">
                <a:latin typeface="Arial"/>
                <a:cs typeface="Arial"/>
              </a:rPr>
              <a:t>Having </a:t>
            </a:r>
            <a:r>
              <a:rPr dirty="0" sz="1200">
                <a:latin typeface="Arial"/>
                <a:cs typeface="Arial"/>
              </a:rPr>
              <a:t>finished </a:t>
            </a:r>
            <a:r>
              <a:rPr dirty="0" sz="1200" spc="-5">
                <a:latin typeface="Arial"/>
                <a:cs typeface="Arial"/>
              </a:rPr>
              <a:t>his studies </a:t>
            </a:r>
            <a:r>
              <a:rPr dirty="0" sz="1200">
                <a:latin typeface="Arial"/>
                <a:cs typeface="Arial"/>
              </a:rPr>
              <a:t>he </a:t>
            </a:r>
            <a:r>
              <a:rPr dirty="0" sz="1200" spc="-5">
                <a:latin typeface="Arial"/>
                <a:cs typeface="Arial"/>
              </a:rPr>
              <a:t>settled </a:t>
            </a:r>
            <a:r>
              <a:rPr dirty="0" sz="1200" spc="-10">
                <a:latin typeface="Arial"/>
                <a:cs typeface="Arial"/>
              </a:rPr>
              <a:t>down </a:t>
            </a:r>
            <a:r>
              <a:rPr dirty="0" sz="1200">
                <a:latin typeface="Arial"/>
                <a:cs typeface="Arial"/>
              </a:rPr>
              <a:t>at </a:t>
            </a:r>
            <a:r>
              <a:rPr dirty="0" sz="1200" spc="-5">
                <a:latin typeface="Arial"/>
                <a:cs typeface="Arial"/>
              </a:rPr>
              <a:t>Nishapur. </a:t>
            </a:r>
            <a:r>
              <a:rPr dirty="0" sz="1200">
                <a:latin typeface="Arial"/>
                <a:cs typeface="Arial"/>
              </a:rPr>
              <a:t>There </a:t>
            </a:r>
            <a:r>
              <a:rPr dirty="0" sz="1200" spc="-10">
                <a:latin typeface="Arial"/>
                <a:cs typeface="Arial"/>
              </a:rPr>
              <a:t>he </a:t>
            </a:r>
            <a:r>
              <a:rPr dirty="0" sz="1200" spc="-5">
                <a:latin typeface="Arial"/>
                <a:cs typeface="Arial"/>
              </a:rPr>
              <a:t>came into contact with  Imam Bukhari, and </a:t>
            </a:r>
            <a:r>
              <a:rPr dirty="0" sz="1200" spc="-10">
                <a:latin typeface="Arial"/>
                <a:cs typeface="Arial"/>
              </a:rPr>
              <a:t>was </a:t>
            </a:r>
            <a:r>
              <a:rPr dirty="0" sz="1200" spc="-5">
                <a:latin typeface="Arial"/>
                <a:cs typeface="Arial"/>
              </a:rPr>
              <a:t>so much impressed by his vast knowledge of Hadith and his </a:t>
            </a:r>
            <a:r>
              <a:rPr dirty="0" sz="1200" spc="-10">
                <a:latin typeface="Arial"/>
                <a:cs typeface="Arial"/>
              </a:rPr>
              <a:t>deep  </a:t>
            </a:r>
            <a:r>
              <a:rPr dirty="0" sz="1200" spc="-5">
                <a:latin typeface="Arial"/>
                <a:cs typeface="Arial"/>
              </a:rPr>
              <a:t>insight into </a:t>
            </a:r>
            <a:r>
              <a:rPr dirty="0" sz="1200">
                <a:latin typeface="Arial"/>
                <a:cs typeface="Arial"/>
              </a:rPr>
              <a:t>it that </a:t>
            </a:r>
            <a:r>
              <a:rPr dirty="0" sz="1200" spc="-5">
                <a:latin typeface="Arial"/>
                <a:cs typeface="Arial"/>
              </a:rPr>
              <a:t>he </a:t>
            </a:r>
            <a:r>
              <a:rPr dirty="0" sz="1200">
                <a:latin typeface="Arial"/>
                <a:cs typeface="Arial"/>
              </a:rPr>
              <a:t>kept </a:t>
            </a:r>
            <a:r>
              <a:rPr dirty="0" sz="1200" spc="-5">
                <a:latin typeface="Arial"/>
                <a:cs typeface="Arial"/>
              </a:rPr>
              <a:t>himself attached </a:t>
            </a:r>
            <a:r>
              <a:rPr dirty="0" sz="1200">
                <a:latin typeface="Arial"/>
                <a:cs typeface="Arial"/>
              </a:rPr>
              <a:t>to </a:t>
            </a:r>
            <a:r>
              <a:rPr dirty="0" sz="1200" spc="-5">
                <a:latin typeface="Arial"/>
                <a:cs typeface="Arial"/>
              </a:rPr>
              <a:t>him </a:t>
            </a:r>
            <a:r>
              <a:rPr dirty="0" sz="1200" spc="-10">
                <a:latin typeface="Arial"/>
                <a:cs typeface="Arial"/>
              </a:rPr>
              <a:t>up </a:t>
            </a:r>
            <a:r>
              <a:rPr dirty="0" sz="1200">
                <a:latin typeface="Arial"/>
                <a:cs typeface="Arial"/>
              </a:rPr>
              <a:t>to </a:t>
            </a:r>
            <a:r>
              <a:rPr dirty="0" sz="1200" spc="-5">
                <a:latin typeface="Arial"/>
                <a:cs typeface="Arial"/>
              </a:rPr>
              <a:t>the end of his </a:t>
            </a:r>
            <a:r>
              <a:rPr dirty="0" sz="1200">
                <a:latin typeface="Arial"/>
                <a:cs typeface="Arial"/>
              </a:rPr>
              <a:t>life. </a:t>
            </a:r>
            <a:r>
              <a:rPr dirty="0" sz="1200" spc="-5">
                <a:latin typeface="Arial"/>
                <a:cs typeface="Arial"/>
              </a:rPr>
              <a:t>Imam Muslim  considered only such traditions to be genuine and authentic as </a:t>
            </a:r>
            <a:r>
              <a:rPr dirty="0" sz="1200" spc="-10">
                <a:latin typeface="Arial"/>
                <a:cs typeface="Arial"/>
              </a:rPr>
              <a:t>had </a:t>
            </a:r>
            <a:r>
              <a:rPr dirty="0" sz="1200" spc="-5">
                <a:latin typeface="Arial"/>
                <a:cs typeface="Arial"/>
              </a:rPr>
              <a:t>been transmitted to him  by an unbroken chain of reliable authorities and were in perfect harmony with what had </a:t>
            </a:r>
            <a:r>
              <a:rPr dirty="0" sz="1200" spc="-15">
                <a:latin typeface="Arial"/>
                <a:cs typeface="Arial"/>
              </a:rPr>
              <a:t>been  </a:t>
            </a:r>
            <a:r>
              <a:rPr dirty="0" sz="1200">
                <a:latin typeface="Arial"/>
                <a:cs typeface="Arial"/>
              </a:rPr>
              <a:t>related </a:t>
            </a:r>
            <a:r>
              <a:rPr dirty="0" sz="1200" spc="-5">
                <a:latin typeface="Arial"/>
                <a:cs typeface="Arial"/>
              </a:rPr>
              <a:t>by </a:t>
            </a:r>
            <a:r>
              <a:rPr dirty="0" sz="1200">
                <a:latin typeface="Arial"/>
                <a:cs typeface="Arial"/>
              </a:rPr>
              <a:t>other </a:t>
            </a:r>
            <a:r>
              <a:rPr dirty="0" sz="1200" spc="-5">
                <a:latin typeface="Arial"/>
                <a:cs typeface="Arial"/>
              </a:rPr>
              <a:t>narrators whose trustworthiness </a:t>
            </a:r>
            <a:r>
              <a:rPr dirty="0" sz="1200" spc="-10">
                <a:latin typeface="Arial"/>
                <a:cs typeface="Arial"/>
              </a:rPr>
              <a:t>was </a:t>
            </a:r>
            <a:r>
              <a:rPr dirty="0" sz="1200" spc="-5">
                <a:latin typeface="Arial"/>
                <a:cs typeface="Arial"/>
              </a:rPr>
              <a:t>unanimously accepted and </a:t>
            </a:r>
            <a:r>
              <a:rPr dirty="0" sz="1200" spc="-10">
                <a:latin typeface="Arial"/>
                <a:cs typeface="Arial"/>
              </a:rPr>
              <a:t>who </a:t>
            </a:r>
            <a:r>
              <a:rPr dirty="0" sz="1200" spc="-5">
                <a:latin typeface="Arial"/>
                <a:cs typeface="Arial"/>
              </a:rPr>
              <a:t>were  free from </a:t>
            </a:r>
            <a:r>
              <a:rPr dirty="0" sz="1200">
                <a:latin typeface="Arial"/>
                <a:cs typeface="Arial"/>
              </a:rPr>
              <a:t>all</a:t>
            </a:r>
            <a:r>
              <a:rPr dirty="0" sz="1200" spc="-15">
                <a:latin typeface="Arial"/>
                <a:cs typeface="Arial"/>
              </a:rPr>
              <a:t> </a:t>
            </a:r>
            <a:r>
              <a:rPr dirty="0" sz="1200" spc="-5">
                <a:latin typeface="Arial"/>
                <a:cs typeface="Arial"/>
              </a:rPr>
              <a:t>defects.</a:t>
            </a:r>
            <a:endParaRPr sz="1200">
              <a:latin typeface="Arial"/>
              <a:cs typeface="Arial"/>
            </a:endParaRPr>
          </a:p>
          <a:p>
            <a:pPr algn="just" marL="12700" marR="5080">
              <a:lnSpc>
                <a:spcPts val="1380"/>
              </a:lnSpc>
              <a:spcBef>
                <a:spcPts val="505"/>
              </a:spcBef>
            </a:pPr>
            <a:r>
              <a:rPr dirty="0" sz="1200" spc="-5">
                <a:latin typeface="Arial"/>
                <a:cs typeface="Arial"/>
              </a:rPr>
              <a:t>Moreover, </a:t>
            </a:r>
            <a:r>
              <a:rPr dirty="0" sz="1200">
                <a:latin typeface="Arial"/>
                <a:cs typeface="Arial"/>
              </a:rPr>
              <a:t>Imam </a:t>
            </a:r>
            <a:r>
              <a:rPr dirty="0" sz="1200" spc="-5">
                <a:latin typeface="Arial"/>
                <a:cs typeface="Arial"/>
              </a:rPr>
              <a:t>Bukhari, while describing </a:t>
            </a:r>
            <a:r>
              <a:rPr dirty="0" sz="1200">
                <a:latin typeface="Arial"/>
                <a:cs typeface="Arial"/>
              </a:rPr>
              <a:t>the </a:t>
            </a:r>
            <a:r>
              <a:rPr dirty="0" sz="1200" spc="-5">
                <a:latin typeface="Arial"/>
                <a:cs typeface="Arial"/>
              </a:rPr>
              <a:t>chain of narrators, sometimes mentions their  kunya and sometimes gives </a:t>
            </a:r>
            <a:r>
              <a:rPr dirty="0" sz="1200">
                <a:latin typeface="Arial"/>
                <a:cs typeface="Arial"/>
              </a:rPr>
              <a:t>their </a:t>
            </a:r>
            <a:r>
              <a:rPr dirty="0" sz="1200" spc="-5">
                <a:latin typeface="Arial"/>
                <a:cs typeface="Arial"/>
              </a:rPr>
              <a:t>names. This is particularly </a:t>
            </a:r>
            <a:r>
              <a:rPr dirty="0" sz="1200" spc="10">
                <a:latin typeface="Arial"/>
                <a:cs typeface="Arial"/>
              </a:rPr>
              <a:t>true </a:t>
            </a:r>
            <a:r>
              <a:rPr dirty="0" sz="1200" spc="-5">
                <a:latin typeface="Arial"/>
                <a:cs typeface="Arial"/>
              </a:rPr>
              <a:t>in case of the narrators of  Syria. </a:t>
            </a:r>
            <a:r>
              <a:rPr dirty="0" sz="1200">
                <a:latin typeface="Arial"/>
                <a:cs typeface="Arial"/>
              </a:rPr>
              <a:t>This creates </a:t>
            </a:r>
            <a:r>
              <a:rPr dirty="0" sz="1200" spc="-5">
                <a:latin typeface="Arial"/>
                <a:cs typeface="Arial"/>
              </a:rPr>
              <a:t>a sort of confusion, which Imam Muslim has avoided. Imam Muslim takes  particular care in according </a:t>
            </a:r>
            <a:r>
              <a:rPr dirty="0" sz="1200">
                <a:latin typeface="Arial"/>
                <a:cs typeface="Arial"/>
              </a:rPr>
              <a:t>the </a:t>
            </a:r>
            <a:r>
              <a:rPr dirty="0" sz="1200" spc="-5">
                <a:latin typeface="Arial"/>
                <a:cs typeface="Arial"/>
              </a:rPr>
              <a:t>exact words </a:t>
            </a:r>
            <a:r>
              <a:rPr dirty="0" sz="1200">
                <a:latin typeface="Arial"/>
                <a:cs typeface="Arial"/>
              </a:rPr>
              <a:t>of </a:t>
            </a:r>
            <a:r>
              <a:rPr dirty="0" sz="1200" spc="-5">
                <a:latin typeface="Arial"/>
                <a:cs typeface="Arial"/>
              </a:rPr>
              <a:t>the narrators and points out even the minutest  difference in </a:t>
            </a:r>
            <a:r>
              <a:rPr dirty="0" sz="1200">
                <a:latin typeface="Arial"/>
                <a:cs typeface="Arial"/>
              </a:rPr>
              <a:t>the </a:t>
            </a:r>
            <a:r>
              <a:rPr dirty="0" sz="1200" spc="-5">
                <a:latin typeface="Arial"/>
                <a:cs typeface="Arial"/>
              </a:rPr>
              <a:t>wording of their </a:t>
            </a:r>
            <a:r>
              <a:rPr dirty="0" sz="1200">
                <a:latin typeface="Arial"/>
                <a:cs typeface="Arial"/>
              </a:rPr>
              <a:t>reports.</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122</a:t>
            </a:r>
            <a:endParaRPr sz="1200">
              <a:latin typeface="Times New Roman"/>
              <a:cs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8019" y="432307"/>
            <a:ext cx="6412865" cy="9088755"/>
          </a:xfrm>
          <a:prstGeom prst="rect">
            <a:avLst/>
          </a:prstGeom>
        </p:spPr>
        <p:txBody>
          <a:bodyPr wrap="square" lIns="0" tIns="12700" rIns="0" bIns="0" rtlCol="0" vert="horz">
            <a:spAutoFit/>
          </a:bodyPr>
          <a:lstStyle/>
          <a:p>
            <a:pPr algn="just" marL="63500">
              <a:lnSpc>
                <a:spcPct val="100000"/>
              </a:lnSpc>
              <a:spcBef>
                <a:spcPts val="100"/>
              </a:spcBef>
              <a:tabLst>
                <a:tab pos="51149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63500" marR="55880">
              <a:lnSpc>
                <a:spcPct val="95900"/>
              </a:lnSpc>
            </a:pPr>
            <a:r>
              <a:rPr dirty="0" sz="1200" spc="-5">
                <a:latin typeface="Arial"/>
                <a:cs typeface="Arial"/>
              </a:rPr>
              <a:t>Imam Muslim has also constantly </a:t>
            </a:r>
            <a:r>
              <a:rPr dirty="0" sz="1200">
                <a:latin typeface="Arial"/>
                <a:cs typeface="Arial"/>
              </a:rPr>
              <a:t>kept </a:t>
            </a:r>
            <a:r>
              <a:rPr dirty="0" sz="1200" spc="-5">
                <a:latin typeface="Arial"/>
                <a:cs typeface="Arial"/>
              </a:rPr>
              <a:t>in view </a:t>
            </a:r>
            <a:r>
              <a:rPr dirty="0" sz="1200">
                <a:latin typeface="Arial"/>
                <a:cs typeface="Arial"/>
              </a:rPr>
              <a:t>the difference </a:t>
            </a:r>
            <a:r>
              <a:rPr dirty="0" sz="1200" spc="-5">
                <a:latin typeface="Arial"/>
                <a:cs typeface="Arial"/>
              </a:rPr>
              <a:t>between </a:t>
            </a:r>
            <a:r>
              <a:rPr dirty="0" sz="1200">
                <a:latin typeface="Arial"/>
                <a:cs typeface="Arial"/>
              </a:rPr>
              <a:t>the </a:t>
            </a:r>
            <a:r>
              <a:rPr dirty="0" sz="1200" spc="-10">
                <a:latin typeface="Arial"/>
                <a:cs typeface="Arial"/>
              </a:rPr>
              <a:t>two </a:t>
            </a:r>
            <a:r>
              <a:rPr dirty="0" sz="1200">
                <a:latin typeface="Arial"/>
                <a:cs typeface="Arial"/>
              </a:rPr>
              <a:t>well-known  </a:t>
            </a:r>
            <a:r>
              <a:rPr dirty="0" sz="1200" spc="-5">
                <a:latin typeface="Arial"/>
                <a:cs typeface="Arial"/>
              </a:rPr>
              <a:t>modes of narration, </a:t>
            </a:r>
            <a:r>
              <a:rPr dirty="0" sz="1200" spc="-5" i="1">
                <a:latin typeface="Arial"/>
                <a:cs typeface="Arial"/>
              </a:rPr>
              <a:t>haddathana </a:t>
            </a:r>
            <a:r>
              <a:rPr dirty="0" sz="1200" spc="-5">
                <a:latin typeface="Arial"/>
                <a:cs typeface="Arial"/>
              </a:rPr>
              <a:t>(he narrated </a:t>
            </a:r>
            <a:r>
              <a:rPr dirty="0" sz="1200">
                <a:latin typeface="Arial"/>
                <a:cs typeface="Arial"/>
              </a:rPr>
              <a:t>to us) and </a:t>
            </a:r>
            <a:r>
              <a:rPr dirty="0" sz="1200" spc="-5" i="1">
                <a:latin typeface="Arial"/>
                <a:cs typeface="Arial"/>
              </a:rPr>
              <a:t>akhbarana </a:t>
            </a:r>
            <a:r>
              <a:rPr dirty="0" sz="1200" spc="-5">
                <a:latin typeface="Arial"/>
                <a:cs typeface="Arial"/>
              </a:rPr>
              <a:t>(he informed </a:t>
            </a:r>
            <a:r>
              <a:rPr dirty="0" sz="1200">
                <a:latin typeface="Arial"/>
                <a:cs typeface="Arial"/>
              </a:rPr>
              <a:t>us). </a:t>
            </a:r>
            <a:r>
              <a:rPr dirty="0" sz="1200" spc="-5">
                <a:latin typeface="Arial"/>
                <a:cs typeface="Arial"/>
              </a:rPr>
              <a:t>He is of  </a:t>
            </a:r>
            <a:r>
              <a:rPr dirty="0" sz="1200">
                <a:latin typeface="Arial"/>
                <a:cs typeface="Arial"/>
              </a:rPr>
              <a:t>the </a:t>
            </a:r>
            <a:r>
              <a:rPr dirty="0" sz="1200" spc="-5">
                <a:latin typeface="Arial"/>
                <a:cs typeface="Arial"/>
              </a:rPr>
              <a:t>opinion that the first mode is used only when </a:t>
            </a:r>
            <a:r>
              <a:rPr dirty="0" sz="1200">
                <a:latin typeface="Arial"/>
                <a:cs typeface="Arial"/>
              </a:rPr>
              <a:t>the </a:t>
            </a:r>
            <a:r>
              <a:rPr dirty="0" sz="1200" spc="-5">
                <a:latin typeface="Arial"/>
                <a:cs typeface="Arial"/>
              </a:rPr>
              <a:t>teacher is </a:t>
            </a:r>
            <a:r>
              <a:rPr dirty="0" sz="1200">
                <a:latin typeface="Arial"/>
                <a:cs typeface="Arial"/>
              </a:rPr>
              <a:t>narrating the </a:t>
            </a:r>
            <a:r>
              <a:rPr dirty="0" sz="1200" spc="-5">
                <a:latin typeface="Arial"/>
                <a:cs typeface="Arial"/>
              </a:rPr>
              <a:t>hadith and </a:t>
            </a:r>
            <a:r>
              <a:rPr dirty="0" sz="1200">
                <a:latin typeface="Arial"/>
                <a:cs typeface="Arial"/>
              </a:rPr>
              <a:t>the  </a:t>
            </a:r>
            <a:r>
              <a:rPr dirty="0" sz="1200" spc="-5">
                <a:latin typeface="Arial"/>
                <a:cs typeface="Arial"/>
              </a:rPr>
              <a:t>student is listening </a:t>
            </a:r>
            <a:r>
              <a:rPr dirty="0" sz="1200">
                <a:latin typeface="Arial"/>
                <a:cs typeface="Arial"/>
              </a:rPr>
              <a:t>to it, </a:t>
            </a:r>
            <a:r>
              <a:rPr dirty="0" sz="1200" spc="-5">
                <a:latin typeface="Arial"/>
                <a:cs typeface="Arial"/>
              </a:rPr>
              <a:t>while </a:t>
            </a:r>
            <a:r>
              <a:rPr dirty="0" sz="1200">
                <a:latin typeface="Arial"/>
                <a:cs typeface="Arial"/>
              </a:rPr>
              <a:t>the </a:t>
            </a:r>
            <a:r>
              <a:rPr dirty="0" sz="1200" spc="-5">
                <a:latin typeface="Arial"/>
                <a:cs typeface="Arial"/>
              </a:rPr>
              <a:t>second mode of expression implies that the student </a:t>
            </a:r>
            <a:r>
              <a:rPr dirty="0" sz="1200" spc="-10">
                <a:latin typeface="Arial"/>
                <a:cs typeface="Arial"/>
              </a:rPr>
              <a:t>is  </a:t>
            </a:r>
            <a:r>
              <a:rPr dirty="0" sz="1200" spc="-5">
                <a:latin typeface="Arial"/>
                <a:cs typeface="Arial"/>
              </a:rPr>
              <a:t>reading </a:t>
            </a:r>
            <a:r>
              <a:rPr dirty="0" sz="1200">
                <a:latin typeface="Arial"/>
                <a:cs typeface="Arial"/>
              </a:rPr>
              <a:t>the </a:t>
            </a:r>
            <a:r>
              <a:rPr dirty="0" sz="1200" spc="-5">
                <a:latin typeface="Arial"/>
                <a:cs typeface="Arial"/>
              </a:rPr>
              <a:t>hadith before </a:t>
            </a:r>
            <a:r>
              <a:rPr dirty="0" sz="1200">
                <a:latin typeface="Arial"/>
                <a:cs typeface="Arial"/>
              </a:rPr>
              <a:t>the </a:t>
            </a:r>
            <a:r>
              <a:rPr dirty="0" sz="1200" spc="-5">
                <a:latin typeface="Arial"/>
                <a:cs typeface="Arial"/>
              </a:rPr>
              <a:t>teacher. </a:t>
            </a:r>
            <a:r>
              <a:rPr dirty="0" sz="1200">
                <a:latin typeface="Arial"/>
                <a:cs typeface="Arial"/>
              </a:rPr>
              <a:t>This </a:t>
            </a:r>
            <a:r>
              <a:rPr dirty="0" sz="1200" spc="-5">
                <a:latin typeface="Arial"/>
                <a:cs typeface="Arial"/>
              </a:rPr>
              <a:t>reflects his utmost care in </a:t>
            </a:r>
            <a:r>
              <a:rPr dirty="0" sz="1200">
                <a:latin typeface="Arial"/>
                <a:cs typeface="Arial"/>
              </a:rPr>
              <a:t>the </a:t>
            </a:r>
            <a:r>
              <a:rPr dirty="0" sz="1200" spc="-5">
                <a:latin typeface="Arial"/>
                <a:cs typeface="Arial"/>
              </a:rPr>
              <a:t>transmission of a  hadith.</a:t>
            </a:r>
            <a:endParaRPr sz="1200">
              <a:latin typeface="Arial"/>
              <a:cs typeface="Arial"/>
            </a:endParaRPr>
          </a:p>
          <a:p>
            <a:pPr algn="just" marL="63500" marR="59055">
              <a:lnSpc>
                <a:spcPct val="95800"/>
              </a:lnSpc>
              <a:spcBef>
                <a:spcPts val="994"/>
              </a:spcBef>
            </a:pPr>
            <a:r>
              <a:rPr dirty="0" sz="1200" spc="-5">
                <a:latin typeface="Arial"/>
                <a:cs typeface="Arial"/>
              </a:rPr>
              <a:t>Imam Muslim has taken great pains in </a:t>
            </a:r>
            <a:r>
              <a:rPr dirty="0" sz="1200">
                <a:latin typeface="Arial"/>
                <a:cs typeface="Arial"/>
              </a:rPr>
              <a:t>connecting the </a:t>
            </a:r>
            <a:r>
              <a:rPr dirty="0" sz="1200" spc="-5">
                <a:latin typeface="Arial"/>
                <a:cs typeface="Arial"/>
              </a:rPr>
              <a:t>chain of narrators. He has recorded  only </a:t>
            </a:r>
            <a:r>
              <a:rPr dirty="0" sz="1200">
                <a:latin typeface="Arial"/>
                <a:cs typeface="Arial"/>
              </a:rPr>
              <a:t>that </a:t>
            </a:r>
            <a:r>
              <a:rPr dirty="0" sz="1200" spc="-5">
                <a:latin typeface="Arial"/>
                <a:cs typeface="Arial"/>
              </a:rPr>
              <a:t>hadith which, at least, </a:t>
            </a:r>
            <a:r>
              <a:rPr dirty="0" sz="1200" spc="-10">
                <a:latin typeface="Arial"/>
                <a:cs typeface="Arial"/>
              </a:rPr>
              <a:t>two </a:t>
            </a:r>
            <a:r>
              <a:rPr dirty="0" sz="1200" spc="-5">
                <a:latin typeface="Arial"/>
                <a:cs typeface="Arial"/>
              </a:rPr>
              <a:t>reliable </a:t>
            </a:r>
            <a:r>
              <a:rPr dirty="0" sz="1200" spc="-5" i="1">
                <a:latin typeface="Arial"/>
                <a:cs typeface="Arial"/>
              </a:rPr>
              <a:t>tabi'in </a:t>
            </a:r>
            <a:r>
              <a:rPr dirty="0" sz="1200" spc="-5">
                <a:latin typeface="Arial"/>
                <a:cs typeface="Arial"/>
              </a:rPr>
              <a:t>(successors) had heard from </a:t>
            </a:r>
            <a:r>
              <a:rPr dirty="0" sz="1200" spc="-10">
                <a:latin typeface="Arial"/>
                <a:cs typeface="Arial"/>
              </a:rPr>
              <a:t>two  </a:t>
            </a:r>
            <a:r>
              <a:rPr dirty="0" sz="1200" spc="-5">
                <a:latin typeface="Arial"/>
                <a:cs typeface="Arial"/>
              </a:rPr>
              <a:t>Companions and this principle is observed throughout the subsequent chain of</a:t>
            </a:r>
            <a:r>
              <a:rPr dirty="0" sz="1200" spc="105">
                <a:latin typeface="Arial"/>
                <a:cs typeface="Arial"/>
              </a:rPr>
              <a:t> </a:t>
            </a:r>
            <a:r>
              <a:rPr dirty="0" sz="1200" spc="-5">
                <a:latin typeface="Arial"/>
                <a:cs typeface="Arial"/>
              </a:rPr>
              <a:t>narrators.</a:t>
            </a:r>
            <a:endParaRPr sz="1200">
              <a:latin typeface="Arial"/>
              <a:cs typeface="Arial"/>
            </a:endParaRPr>
          </a:p>
          <a:p>
            <a:pPr>
              <a:lnSpc>
                <a:spcPct val="100000"/>
              </a:lnSpc>
              <a:spcBef>
                <a:spcPts val="40"/>
              </a:spcBef>
            </a:pPr>
            <a:endParaRPr sz="1750">
              <a:latin typeface="Arial"/>
              <a:cs typeface="Arial"/>
            </a:endParaRPr>
          </a:p>
          <a:p>
            <a:pPr algn="just" marL="63500" marR="56515">
              <a:lnSpc>
                <a:spcPct val="95900"/>
              </a:lnSpc>
            </a:pPr>
            <a:r>
              <a:rPr dirty="0" sz="1200" spc="-5">
                <a:latin typeface="Arial"/>
                <a:cs typeface="Arial"/>
              </a:rPr>
              <a:t>Imaam Muslim </a:t>
            </a:r>
            <a:r>
              <a:rPr dirty="0" sz="1200">
                <a:latin typeface="Arial"/>
                <a:cs typeface="Arial"/>
              </a:rPr>
              <a:t>R.A. </a:t>
            </a:r>
            <a:r>
              <a:rPr dirty="0" sz="1200" spc="-5">
                <a:latin typeface="Arial"/>
                <a:cs typeface="Arial"/>
              </a:rPr>
              <a:t>adhered </a:t>
            </a:r>
            <a:r>
              <a:rPr dirty="0" sz="1200">
                <a:latin typeface="Arial"/>
                <a:cs typeface="Arial"/>
              </a:rPr>
              <a:t>strictly to the </a:t>
            </a:r>
            <a:r>
              <a:rPr dirty="0" sz="1200" spc="-10">
                <a:latin typeface="Arial"/>
                <a:cs typeface="Arial"/>
              </a:rPr>
              <a:t>path </a:t>
            </a:r>
            <a:r>
              <a:rPr dirty="0" sz="1200" spc="-5">
                <a:latin typeface="Arial"/>
                <a:cs typeface="Arial"/>
              </a:rPr>
              <a:t>of righteousness. He </a:t>
            </a:r>
            <a:r>
              <a:rPr dirty="0" sz="1200" spc="-10">
                <a:latin typeface="Arial"/>
                <a:cs typeface="Arial"/>
              </a:rPr>
              <a:t>was </a:t>
            </a:r>
            <a:r>
              <a:rPr dirty="0" sz="1200" spc="-5">
                <a:latin typeface="Arial"/>
                <a:cs typeface="Arial"/>
              </a:rPr>
              <a:t>in </a:t>
            </a:r>
            <a:r>
              <a:rPr dirty="0" sz="1200">
                <a:latin typeface="Arial"/>
                <a:cs typeface="Arial"/>
              </a:rPr>
              <a:t>fact </a:t>
            </a:r>
            <a:r>
              <a:rPr dirty="0" sz="1200" spc="-5">
                <a:latin typeface="Arial"/>
                <a:cs typeface="Arial"/>
              </a:rPr>
              <a:t>a great saint  of a very high calibre. His excellent character can be well judged </a:t>
            </a:r>
            <a:r>
              <a:rPr dirty="0" sz="1200">
                <a:latin typeface="Arial"/>
                <a:cs typeface="Arial"/>
              </a:rPr>
              <a:t>from the </a:t>
            </a:r>
            <a:r>
              <a:rPr dirty="0" sz="1200" spc="-5">
                <a:latin typeface="Arial"/>
                <a:cs typeface="Arial"/>
              </a:rPr>
              <a:t>simple </a:t>
            </a:r>
            <a:r>
              <a:rPr dirty="0" sz="1200">
                <a:latin typeface="Arial"/>
                <a:cs typeface="Arial"/>
              </a:rPr>
              <a:t>fact </a:t>
            </a:r>
            <a:r>
              <a:rPr dirty="0" sz="1200" spc="-5">
                <a:latin typeface="Arial"/>
                <a:cs typeface="Arial"/>
              </a:rPr>
              <a:t>that </a:t>
            </a:r>
            <a:r>
              <a:rPr dirty="0" sz="1200" spc="-10">
                <a:latin typeface="Arial"/>
                <a:cs typeface="Arial"/>
              </a:rPr>
              <a:t>he  </a:t>
            </a:r>
            <a:r>
              <a:rPr dirty="0" sz="1200" spc="-5">
                <a:latin typeface="Arial"/>
                <a:cs typeface="Arial"/>
              </a:rPr>
              <a:t>never ever indulged </a:t>
            </a:r>
            <a:r>
              <a:rPr dirty="0" sz="1200" spc="-10">
                <a:latin typeface="Arial"/>
                <a:cs typeface="Arial"/>
              </a:rPr>
              <a:t>in </a:t>
            </a:r>
            <a:r>
              <a:rPr dirty="0" sz="1200" spc="-5">
                <a:latin typeface="Arial"/>
                <a:cs typeface="Arial"/>
              </a:rPr>
              <a:t>backbiting, a very common human failing. He had a remarkable  memory. </a:t>
            </a:r>
            <a:r>
              <a:rPr dirty="0" sz="1200">
                <a:latin typeface="Arial"/>
                <a:cs typeface="Arial"/>
              </a:rPr>
              <a:t>Ishaq </a:t>
            </a:r>
            <a:r>
              <a:rPr dirty="0" sz="1200" spc="-5">
                <a:latin typeface="Arial"/>
                <a:cs typeface="Arial"/>
              </a:rPr>
              <a:t>bin </a:t>
            </a:r>
            <a:r>
              <a:rPr dirty="0" sz="1200" spc="-10">
                <a:latin typeface="Arial"/>
                <a:cs typeface="Arial"/>
              </a:rPr>
              <a:t>Rahwi </a:t>
            </a:r>
            <a:r>
              <a:rPr dirty="0" sz="1200" spc="-5">
                <a:latin typeface="Arial"/>
                <a:cs typeface="Arial"/>
              </a:rPr>
              <a:t>said </a:t>
            </a:r>
            <a:r>
              <a:rPr dirty="0" sz="1200">
                <a:latin typeface="Arial"/>
                <a:cs typeface="Arial"/>
              </a:rPr>
              <a:t>of </a:t>
            </a:r>
            <a:r>
              <a:rPr dirty="0" sz="1200" spc="-5">
                <a:latin typeface="Arial"/>
                <a:cs typeface="Arial"/>
              </a:rPr>
              <a:t>Imaam Muslim; </a:t>
            </a:r>
            <a:r>
              <a:rPr dirty="0" sz="1200">
                <a:latin typeface="Arial"/>
                <a:cs typeface="Arial"/>
              </a:rPr>
              <a:t>" I </a:t>
            </a:r>
            <a:r>
              <a:rPr dirty="0" sz="1200" spc="-5">
                <a:latin typeface="Arial"/>
                <a:cs typeface="Arial"/>
              </a:rPr>
              <a:t>wonder what this person is going </a:t>
            </a:r>
            <a:r>
              <a:rPr dirty="0" sz="1200">
                <a:latin typeface="Arial"/>
                <a:cs typeface="Arial"/>
              </a:rPr>
              <a:t>to </a:t>
            </a:r>
            <a:r>
              <a:rPr dirty="0" sz="1200" spc="-5">
                <a:latin typeface="Arial"/>
                <a:cs typeface="Arial"/>
              </a:rPr>
              <a:t>be?"  </a:t>
            </a:r>
            <a:r>
              <a:rPr dirty="0" sz="1200">
                <a:latin typeface="Arial"/>
                <a:cs typeface="Arial"/>
              </a:rPr>
              <a:t>This </a:t>
            </a:r>
            <a:r>
              <a:rPr dirty="0" sz="1200" spc="-10">
                <a:latin typeface="Arial"/>
                <a:cs typeface="Arial"/>
              </a:rPr>
              <a:t>was </a:t>
            </a:r>
            <a:r>
              <a:rPr dirty="0" sz="1200" spc="-5">
                <a:latin typeface="Arial"/>
                <a:cs typeface="Arial"/>
              </a:rPr>
              <a:t>said in his youth. </a:t>
            </a:r>
            <a:r>
              <a:rPr dirty="0" sz="1200">
                <a:latin typeface="Arial"/>
                <a:cs typeface="Arial"/>
              </a:rPr>
              <a:t>Ishaq </a:t>
            </a:r>
            <a:r>
              <a:rPr dirty="0" sz="1200" spc="-5">
                <a:latin typeface="Arial"/>
                <a:cs typeface="Arial"/>
              </a:rPr>
              <a:t>Kausar once addressed lmaam Muslim (R.A.) and said;  "Your presence </a:t>
            </a:r>
            <a:r>
              <a:rPr dirty="0" sz="1200" spc="-10">
                <a:latin typeface="Arial"/>
                <a:cs typeface="Arial"/>
              </a:rPr>
              <a:t>in </a:t>
            </a:r>
            <a:r>
              <a:rPr dirty="0" sz="1200" spc="-5">
                <a:latin typeface="Arial"/>
                <a:cs typeface="Arial"/>
              </a:rPr>
              <a:t>the Muslim community will </a:t>
            </a:r>
            <a:r>
              <a:rPr dirty="0" sz="1200" spc="-10">
                <a:latin typeface="Arial"/>
                <a:cs typeface="Arial"/>
              </a:rPr>
              <a:t>always </a:t>
            </a:r>
            <a:r>
              <a:rPr dirty="0" sz="1200" spc="-5">
                <a:latin typeface="Arial"/>
                <a:cs typeface="Arial"/>
              </a:rPr>
              <a:t>keep </a:t>
            </a:r>
            <a:r>
              <a:rPr dirty="0" sz="1200">
                <a:latin typeface="Arial"/>
                <a:cs typeface="Arial"/>
              </a:rPr>
              <a:t>it </a:t>
            </a:r>
            <a:r>
              <a:rPr dirty="0" sz="1200" spc="-5">
                <a:latin typeface="Arial"/>
                <a:cs typeface="Arial"/>
              </a:rPr>
              <a:t>in the </a:t>
            </a:r>
            <a:r>
              <a:rPr dirty="0" sz="1200" spc="-10">
                <a:latin typeface="Arial"/>
                <a:cs typeface="Arial"/>
              </a:rPr>
              <a:t>good.‖ </a:t>
            </a:r>
            <a:r>
              <a:rPr dirty="0" sz="1200" spc="-5">
                <a:latin typeface="Arial"/>
                <a:cs typeface="Arial"/>
              </a:rPr>
              <a:t>Abu Saimah </a:t>
            </a:r>
            <a:r>
              <a:rPr dirty="0" sz="1200" spc="-10">
                <a:latin typeface="Arial"/>
                <a:cs typeface="Arial"/>
              </a:rPr>
              <a:t>who  was </a:t>
            </a:r>
            <a:r>
              <a:rPr dirty="0" sz="1200" spc="-5">
                <a:latin typeface="Arial"/>
                <a:cs typeface="Arial"/>
              </a:rPr>
              <a:t>a colleague of lmaam Muslim </a:t>
            </a:r>
            <a:r>
              <a:rPr dirty="0" sz="1200" spc="-10">
                <a:latin typeface="Arial"/>
                <a:cs typeface="Arial"/>
              </a:rPr>
              <a:t>was </a:t>
            </a:r>
            <a:r>
              <a:rPr dirty="0" sz="1200" spc="-5">
                <a:latin typeface="Arial"/>
                <a:cs typeface="Arial"/>
              </a:rPr>
              <a:t>so attached </a:t>
            </a:r>
            <a:r>
              <a:rPr dirty="0" sz="1200">
                <a:latin typeface="Arial"/>
                <a:cs typeface="Arial"/>
              </a:rPr>
              <a:t>to </a:t>
            </a:r>
            <a:r>
              <a:rPr dirty="0" sz="1200" spc="-5">
                <a:latin typeface="Arial"/>
                <a:cs typeface="Arial"/>
              </a:rPr>
              <a:t>him that while lmaam Sahib </a:t>
            </a:r>
            <a:r>
              <a:rPr dirty="0" sz="1200" spc="-10">
                <a:latin typeface="Arial"/>
                <a:cs typeface="Arial"/>
              </a:rPr>
              <a:t>was </a:t>
            </a:r>
            <a:r>
              <a:rPr dirty="0" sz="1200" spc="-5">
                <a:latin typeface="Arial"/>
                <a:cs typeface="Arial"/>
              </a:rPr>
              <a:t>busy  compiling </a:t>
            </a:r>
            <a:r>
              <a:rPr dirty="0" sz="1200">
                <a:latin typeface="Arial"/>
                <a:cs typeface="Arial"/>
              </a:rPr>
              <a:t>the </a:t>
            </a:r>
            <a:r>
              <a:rPr dirty="0" sz="1200" spc="-5">
                <a:latin typeface="Arial"/>
                <a:cs typeface="Arial"/>
              </a:rPr>
              <a:t>Sahih Muslim, he remained in lmaam Sahib's company </a:t>
            </a:r>
            <a:r>
              <a:rPr dirty="0" sz="1200">
                <a:latin typeface="Arial"/>
                <a:cs typeface="Arial"/>
              </a:rPr>
              <a:t>for </a:t>
            </a:r>
            <a:r>
              <a:rPr dirty="0" sz="1200" spc="-5">
                <a:latin typeface="Arial"/>
                <a:cs typeface="Arial"/>
              </a:rPr>
              <a:t>fifteen years. He  never told a lie nor did he ever use vulgar</a:t>
            </a:r>
            <a:r>
              <a:rPr dirty="0" sz="1200" spc="30">
                <a:latin typeface="Arial"/>
                <a:cs typeface="Arial"/>
              </a:rPr>
              <a:t> </a:t>
            </a:r>
            <a:r>
              <a:rPr dirty="0" sz="1200" spc="-5">
                <a:latin typeface="Arial"/>
                <a:cs typeface="Arial"/>
              </a:rPr>
              <a:t>words.</a:t>
            </a:r>
            <a:endParaRPr sz="1200">
              <a:latin typeface="Arial"/>
              <a:cs typeface="Arial"/>
            </a:endParaRPr>
          </a:p>
          <a:p>
            <a:pPr>
              <a:lnSpc>
                <a:spcPct val="100000"/>
              </a:lnSpc>
              <a:spcBef>
                <a:spcPts val="35"/>
              </a:spcBef>
            </a:pPr>
            <a:endParaRPr sz="1200">
              <a:latin typeface="Arial"/>
              <a:cs typeface="Arial"/>
            </a:endParaRPr>
          </a:p>
          <a:p>
            <a:pPr algn="just" marL="63500" marR="55880">
              <a:lnSpc>
                <a:spcPts val="1380"/>
              </a:lnSpc>
            </a:pPr>
            <a:r>
              <a:rPr dirty="0" sz="1200" spc="-5">
                <a:latin typeface="Arial"/>
                <a:cs typeface="Arial"/>
              </a:rPr>
              <a:t>Imaam Muslim (R.A.) apart from </a:t>
            </a:r>
            <a:r>
              <a:rPr dirty="0" sz="1200">
                <a:latin typeface="Arial"/>
                <a:cs typeface="Arial"/>
              </a:rPr>
              <a:t>attending the </a:t>
            </a:r>
            <a:r>
              <a:rPr dirty="0" sz="1200" spc="-5">
                <a:latin typeface="Arial"/>
                <a:cs typeface="Arial"/>
              </a:rPr>
              <a:t>lessons of Imaam Bukhari regularly, also  attended the lectures of lmaam Ahmad bin Hambal, Abdullah al Qarri, Qutaiba bin Said,  Abdullah bin Maslama and other great </a:t>
            </a:r>
            <a:r>
              <a:rPr dirty="0" sz="1200">
                <a:latin typeface="Arial"/>
                <a:cs typeface="Arial"/>
              </a:rPr>
              <a:t>Muhaddith. </a:t>
            </a:r>
            <a:r>
              <a:rPr dirty="0" sz="1200" spc="-5">
                <a:latin typeface="Arial"/>
                <a:cs typeface="Arial"/>
              </a:rPr>
              <a:t>Imaam Muslim (R.A.'s) most </a:t>
            </a:r>
            <a:r>
              <a:rPr dirty="0" sz="1200">
                <a:latin typeface="Arial"/>
                <a:cs typeface="Arial"/>
              </a:rPr>
              <a:t>noted  </a:t>
            </a:r>
            <a:r>
              <a:rPr dirty="0" sz="1200" spc="-5">
                <a:latin typeface="Arial"/>
                <a:cs typeface="Arial"/>
              </a:rPr>
              <a:t>students are Hatim Razi, </a:t>
            </a:r>
            <a:r>
              <a:rPr dirty="0" sz="1200">
                <a:latin typeface="Arial"/>
                <a:cs typeface="Arial"/>
              </a:rPr>
              <a:t>Ahmad </a:t>
            </a:r>
            <a:r>
              <a:rPr dirty="0" sz="1200" spc="-5">
                <a:latin typeface="Arial"/>
                <a:cs typeface="Arial"/>
              </a:rPr>
              <a:t>bin Salmah, Abu </a:t>
            </a:r>
            <a:r>
              <a:rPr dirty="0" sz="1200">
                <a:latin typeface="Arial"/>
                <a:cs typeface="Arial"/>
              </a:rPr>
              <a:t>Isa </a:t>
            </a:r>
            <a:r>
              <a:rPr dirty="0" sz="1200" spc="-5">
                <a:latin typeface="Arial"/>
                <a:cs typeface="Arial"/>
              </a:rPr>
              <a:t>Tirmizi, Abubaker bin Khuzaima and  </a:t>
            </a:r>
            <a:r>
              <a:rPr dirty="0" sz="1200">
                <a:latin typeface="Arial"/>
                <a:cs typeface="Arial"/>
              </a:rPr>
              <a:t>other </a:t>
            </a:r>
            <a:r>
              <a:rPr dirty="0" sz="1200" spc="-5">
                <a:latin typeface="Arial"/>
                <a:cs typeface="Arial"/>
              </a:rPr>
              <a:t>great</a:t>
            </a:r>
            <a:r>
              <a:rPr dirty="0" sz="1200" spc="-15">
                <a:latin typeface="Arial"/>
                <a:cs typeface="Arial"/>
              </a:rPr>
              <a:t> </a:t>
            </a:r>
            <a:r>
              <a:rPr dirty="0" sz="1200">
                <a:latin typeface="Arial"/>
                <a:cs typeface="Arial"/>
              </a:rPr>
              <a:t>scholars.</a:t>
            </a:r>
            <a:endParaRPr sz="1200">
              <a:latin typeface="Arial"/>
              <a:cs typeface="Arial"/>
            </a:endParaRPr>
          </a:p>
          <a:p>
            <a:pPr>
              <a:lnSpc>
                <a:spcPct val="100000"/>
              </a:lnSpc>
              <a:spcBef>
                <a:spcPts val="20"/>
              </a:spcBef>
            </a:pPr>
            <a:endParaRPr sz="1100">
              <a:latin typeface="Arial"/>
              <a:cs typeface="Arial"/>
            </a:endParaRPr>
          </a:p>
          <a:p>
            <a:pPr algn="just" marL="63500">
              <a:lnSpc>
                <a:spcPct val="100000"/>
              </a:lnSpc>
            </a:pPr>
            <a:r>
              <a:rPr dirty="0" u="heavy" sz="1200" spc="-5" b="1" i="1">
                <a:uFill>
                  <a:solidFill>
                    <a:srgbClr val="000000"/>
                  </a:solidFill>
                </a:uFill>
                <a:latin typeface="Arial"/>
                <a:cs typeface="Arial"/>
              </a:rPr>
              <a:t>Criteria of</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Collection</a:t>
            </a:r>
            <a:endParaRPr sz="1200">
              <a:latin typeface="Arial"/>
              <a:cs typeface="Arial"/>
            </a:endParaRPr>
          </a:p>
          <a:p>
            <a:pPr>
              <a:lnSpc>
                <a:spcPct val="100000"/>
              </a:lnSpc>
              <a:spcBef>
                <a:spcPts val="45"/>
              </a:spcBef>
            </a:pPr>
            <a:endParaRPr sz="1100">
              <a:latin typeface="Arial"/>
              <a:cs typeface="Arial"/>
            </a:endParaRPr>
          </a:p>
          <a:p>
            <a:pPr marL="464184" indent="-172720">
              <a:lnSpc>
                <a:spcPts val="1415"/>
              </a:lnSpc>
              <a:buFont typeface="Wingdings"/>
              <a:buChar char=""/>
              <a:tabLst>
                <a:tab pos="464820" algn="l"/>
              </a:tabLst>
            </a:pPr>
            <a:r>
              <a:rPr dirty="0" sz="1200" spc="-5">
                <a:latin typeface="Arial"/>
                <a:cs typeface="Arial"/>
              </a:rPr>
              <a:t>Distinction between </a:t>
            </a:r>
            <a:r>
              <a:rPr dirty="0" sz="1200" spc="-5" i="1">
                <a:latin typeface="Arial"/>
                <a:cs typeface="Arial"/>
              </a:rPr>
              <a:t>Haddathana </a:t>
            </a:r>
            <a:r>
              <a:rPr dirty="0" sz="1200" spc="-5">
                <a:latin typeface="Arial"/>
                <a:cs typeface="Arial"/>
              </a:rPr>
              <a:t>and</a:t>
            </a:r>
            <a:r>
              <a:rPr dirty="0" sz="1200" spc="35">
                <a:latin typeface="Arial"/>
                <a:cs typeface="Arial"/>
              </a:rPr>
              <a:t> </a:t>
            </a:r>
            <a:r>
              <a:rPr dirty="0" sz="1200" spc="-5" i="1">
                <a:latin typeface="Arial"/>
                <a:cs typeface="Arial"/>
              </a:rPr>
              <a:t>Akhbarana</a:t>
            </a:r>
            <a:endParaRPr sz="1200">
              <a:latin typeface="Arial"/>
              <a:cs typeface="Arial"/>
            </a:endParaRPr>
          </a:p>
          <a:p>
            <a:pPr marL="464184" indent="-172720">
              <a:lnSpc>
                <a:spcPts val="1385"/>
              </a:lnSpc>
              <a:buFont typeface="Wingdings"/>
              <a:buChar char=""/>
              <a:tabLst>
                <a:tab pos="464820" algn="l"/>
              </a:tabLst>
            </a:pPr>
            <a:r>
              <a:rPr dirty="0" sz="1200" spc="-5">
                <a:latin typeface="Arial"/>
                <a:cs typeface="Arial"/>
              </a:rPr>
              <a:t>Accepted usage of </a:t>
            </a:r>
            <a:r>
              <a:rPr dirty="0" sz="1200" spc="-140">
                <a:latin typeface="Arial"/>
                <a:cs typeface="Arial"/>
              </a:rPr>
              <a:t>‗an </a:t>
            </a:r>
            <a:r>
              <a:rPr dirty="0" sz="1200">
                <a:latin typeface="Arial"/>
                <a:cs typeface="Arial"/>
              </a:rPr>
              <a:t>– </a:t>
            </a:r>
            <a:r>
              <a:rPr dirty="0" sz="1200" spc="-5">
                <a:latin typeface="Arial"/>
                <a:cs typeface="Arial"/>
              </a:rPr>
              <a:t>no need </a:t>
            </a:r>
            <a:r>
              <a:rPr dirty="0" sz="1200">
                <a:latin typeface="Arial"/>
                <a:cs typeface="Arial"/>
              </a:rPr>
              <a:t>to </a:t>
            </a:r>
            <a:r>
              <a:rPr dirty="0" sz="1200" spc="-5">
                <a:latin typeface="Arial"/>
                <a:cs typeface="Arial"/>
              </a:rPr>
              <a:t>be in contemporary</a:t>
            </a:r>
            <a:r>
              <a:rPr dirty="0" sz="1200" spc="-50">
                <a:latin typeface="Arial"/>
                <a:cs typeface="Arial"/>
              </a:rPr>
              <a:t> </a:t>
            </a:r>
            <a:r>
              <a:rPr dirty="0" sz="1200" spc="-5">
                <a:latin typeface="Arial"/>
                <a:cs typeface="Arial"/>
              </a:rPr>
              <a:t>period</a:t>
            </a:r>
            <a:endParaRPr sz="1200">
              <a:latin typeface="Arial"/>
              <a:cs typeface="Arial"/>
            </a:endParaRPr>
          </a:p>
          <a:p>
            <a:pPr marL="464184" indent="-172720">
              <a:lnSpc>
                <a:spcPts val="1380"/>
              </a:lnSpc>
              <a:buFont typeface="Wingdings"/>
              <a:buChar char=""/>
              <a:tabLst>
                <a:tab pos="464820" algn="l"/>
              </a:tabLst>
            </a:pPr>
            <a:r>
              <a:rPr dirty="0" sz="1200" spc="-5">
                <a:latin typeface="Arial"/>
                <a:cs typeface="Arial"/>
              </a:rPr>
              <a:t>Accepted Hadith only through consensus of</a:t>
            </a:r>
            <a:r>
              <a:rPr dirty="0" sz="1200" spc="15">
                <a:latin typeface="Arial"/>
                <a:cs typeface="Arial"/>
              </a:rPr>
              <a:t> </a:t>
            </a:r>
            <a:r>
              <a:rPr dirty="0" sz="1200" spc="-5">
                <a:latin typeface="Arial"/>
                <a:cs typeface="Arial"/>
              </a:rPr>
              <a:t>Traditionist</a:t>
            </a:r>
            <a:endParaRPr sz="1200">
              <a:latin typeface="Arial"/>
              <a:cs typeface="Arial"/>
            </a:endParaRPr>
          </a:p>
          <a:p>
            <a:pPr marL="464184" indent="-172720">
              <a:lnSpc>
                <a:spcPts val="1380"/>
              </a:lnSpc>
              <a:buFont typeface="Wingdings"/>
              <a:buChar char=""/>
              <a:tabLst>
                <a:tab pos="464820" algn="l"/>
              </a:tabLst>
            </a:pPr>
            <a:r>
              <a:rPr dirty="0" sz="1200">
                <a:latin typeface="Arial"/>
                <a:cs typeface="Arial"/>
              </a:rPr>
              <a:t>Classified </a:t>
            </a:r>
            <a:r>
              <a:rPr dirty="0" sz="1200" spc="-5">
                <a:latin typeface="Arial"/>
                <a:cs typeface="Arial"/>
              </a:rPr>
              <a:t>students in 3</a:t>
            </a:r>
            <a:r>
              <a:rPr dirty="0" sz="1200" spc="-10">
                <a:latin typeface="Arial"/>
                <a:cs typeface="Arial"/>
              </a:rPr>
              <a:t> </a:t>
            </a:r>
            <a:r>
              <a:rPr dirty="0" sz="1200" spc="-5">
                <a:latin typeface="Arial"/>
                <a:cs typeface="Arial"/>
              </a:rPr>
              <a:t>categories:</a:t>
            </a:r>
            <a:endParaRPr sz="1200">
              <a:latin typeface="Arial"/>
              <a:cs typeface="Arial"/>
            </a:endParaRPr>
          </a:p>
          <a:p>
            <a:pPr marL="464184" indent="-172720">
              <a:lnSpc>
                <a:spcPts val="1380"/>
              </a:lnSpc>
              <a:buFont typeface="Wingdings"/>
              <a:buChar char=""/>
              <a:tabLst>
                <a:tab pos="464820" algn="l"/>
              </a:tabLst>
            </a:pPr>
            <a:r>
              <a:rPr dirty="0" sz="1200">
                <a:latin typeface="Arial"/>
                <a:cs typeface="Arial"/>
              </a:rPr>
              <a:t>1. </a:t>
            </a:r>
            <a:r>
              <a:rPr dirty="0" sz="1200" spc="-5">
                <a:latin typeface="Arial"/>
                <a:cs typeface="Arial"/>
              </a:rPr>
              <a:t>High memory and</a:t>
            </a:r>
            <a:r>
              <a:rPr dirty="0" sz="1200" spc="-15">
                <a:latin typeface="Arial"/>
                <a:cs typeface="Arial"/>
              </a:rPr>
              <a:t> </a:t>
            </a:r>
            <a:r>
              <a:rPr dirty="0" sz="1200" spc="-5">
                <a:latin typeface="Arial"/>
                <a:cs typeface="Arial"/>
              </a:rPr>
              <a:t>credibility</a:t>
            </a:r>
            <a:endParaRPr sz="1200">
              <a:latin typeface="Arial"/>
              <a:cs typeface="Arial"/>
            </a:endParaRPr>
          </a:p>
          <a:p>
            <a:pPr marL="464184" indent="-172720">
              <a:lnSpc>
                <a:spcPts val="1380"/>
              </a:lnSpc>
              <a:buFont typeface="Wingdings"/>
              <a:buChar char=""/>
              <a:tabLst>
                <a:tab pos="464820" algn="l"/>
              </a:tabLst>
            </a:pPr>
            <a:r>
              <a:rPr dirty="0" sz="1200">
                <a:latin typeface="Arial"/>
                <a:cs typeface="Arial"/>
              </a:rPr>
              <a:t>2. </a:t>
            </a:r>
            <a:r>
              <a:rPr dirty="0" sz="1200" spc="-5">
                <a:latin typeface="Arial"/>
                <a:cs typeface="Arial"/>
              </a:rPr>
              <a:t>Lesser than </a:t>
            </a:r>
            <a:r>
              <a:rPr dirty="0" sz="1200">
                <a:latin typeface="Arial"/>
                <a:cs typeface="Arial"/>
              </a:rPr>
              <a:t>1</a:t>
            </a:r>
            <a:r>
              <a:rPr dirty="0" baseline="38194" sz="1200">
                <a:latin typeface="Arial"/>
                <a:cs typeface="Arial"/>
              </a:rPr>
              <a:t>st</a:t>
            </a:r>
            <a:r>
              <a:rPr dirty="0" baseline="38194" sz="1200" spc="165">
                <a:latin typeface="Arial"/>
                <a:cs typeface="Arial"/>
              </a:rPr>
              <a:t> </a:t>
            </a:r>
            <a:r>
              <a:rPr dirty="0" sz="1200" spc="-5">
                <a:latin typeface="Arial"/>
                <a:cs typeface="Arial"/>
              </a:rPr>
              <a:t>group</a:t>
            </a:r>
            <a:endParaRPr sz="1200">
              <a:latin typeface="Arial"/>
              <a:cs typeface="Arial"/>
            </a:endParaRPr>
          </a:p>
          <a:p>
            <a:pPr marL="464184" indent="-172720">
              <a:lnSpc>
                <a:spcPts val="1380"/>
              </a:lnSpc>
              <a:buFont typeface="Wingdings"/>
              <a:buChar char=""/>
              <a:tabLst>
                <a:tab pos="464820" algn="l"/>
              </a:tabLst>
            </a:pPr>
            <a:r>
              <a:rPr dirty="0" sz="1200">
                <a:latin typeface="Arial"/>
                <a:cs typeface="Arial"/>
              </a:rPr>
              <a:t>3. </a:t>
            </a:r>
            <a:r>
              <a:rPr dirty="0" sz="1200" spc="-5">
                <a:latin typeface="Arial"/>
                <a:cs typeface="Arial"/>
              </a:rPr>
              <a:t>Accused of</a:t>
            </a:r>
            <a:r>
              <a:rPr dirty="0" sz="1200">
                <a:latin typeface="Arial"/>
                <a:cs typeface="Arial"/>
              </a:rPr>
              <a:t> </a:t>
            </a:r>
            <a:r>
              <a:rPr dirty="0" sz="1200" spc="-5">
                <a:latin typeface="Arial"/>
                <a:cs typeface="Arial"/>
              </a:rPr>
              <a:t>lying</a:t>
            </a:r>
            <a:endParaRPr sz="1200">
              <a:latin typeface="Arial"/>
              <a:cs typeface="Arial"/>
            </a:endParaRPr>
          </a:p>
          <a:p>
            <a:pPr marL="464184" indent="-172720">
              <a:lnSpc>
                <a:spcPts val="1410"/>
              </a:lnSpc>
              <a:buFont typeface="Wingdings"/>
              <a:buChar char=""/>
              <a:tabLst>
                <a:tab pos="464820" algn="l"/>
              </a:tabLst>
            </a:pPr>
            <a:r>
              <a:rPr dirty="0" sz="1200">
                <a:latin typeface="Arial"/>
                <a:cs typeface="Arial"/>
              </a:rPr>
              <a:t>Choose </a:t>
            </a:r>
            <a:r>
              <a:rPr dirty="0" sz="1200" spc="-5">
                <a:latin typeface="Arial"/>
                <a:cs typeface="Arial"/>
              </a:rPr>
              <a:t>the </a:t>
            </a:r>
            <a:r>
              <a:rPr dirty="0" sz="1200">
                <a:latin typeface="Arial"/>
                <a:cs typeface="Arial"/>
              </a:rPr>
              <a:t>1</a:t>
            </a:r>
            <a:r>
              <a:rPr dirty="0" baseline="38194" sz="1200">
                <a:latin typeface="Arial"/>
                <a:cs typeface="Arial"/>
              </a:rPr>
              <a:t>st </a:t>
            </a:r>
            <a:r>
              <a:rPr dirty="0" sz="1200" spc="-10">
                <a:latin typeface="Arial"/>
                <a:cs typeface="Arial"/>
              </a:rPr>
              <a:t>category </a:t>
            </a:r>
            <a:r>
              <a:rPr dirty="0" sz="1200">
                <a:latin typeface="Arial"/>
                <a:cs typeface="Arial"/>
              </a:rPr>
              <a:t>and </a:t>
            </a:r>
            <a:r>
              <a:rPr dirty="0" sz="1200" spc="-5">
                <a:latin typeface="Arial"/>
                <a:cs typeface="Arial"/>
              </a:rPr>
              <a:t>rarely the </a:t>
            </a:r>
            <a:r>
              <a:rPr dirty="0" sz="1200" spc="5">
                <a:latin typeface="Arial"/>
                <a:cs typeface="Arial"/>
              </a:rPr>
              <a:t>2</a:t>
            </a:r>
            <a:r>
              <a:rPr dirty="0" baseline="38194" sz="1200" spc="7">
                <a:latin typeface="Arial"/>
                <a:cs typeface="Arial"/>
              </a:rPr>
              <a:t>nd </a:t>
            </a:r>
            <a:r>
              <a:rPr dirty="0" sz="1200">
                <a:latin typeface="Arial"/>
                <a:cs typeface="Arial"/>
              </a:rPr>
              <a:t>– </a:t>
            </a:r>
            <a:r>
              <a:rPr dirty="0" sz="1200" spc="-10">
                <a:latin typeface="Arial"/>
                <a:cs typeface="Arial"/>
              </a:rPr>
              <a:t>never </a:t>
            </a:r>
            <a:r>
              <a:rPr dirty="0" sz="1200" spc="-5">
                <a:latin typeface="Arial"/>
                <a:cs typeface="Arial"/>
              </a:rPr>
              <a:t>the</a:t>
            </a:r>
            <a:r>
              <a:rPr dirty="0" sz="1200" spc="-15">
                <a:latin typeface="Arial"/>
                <a:cs typeface="Arial"/>
              </a:rPr>
              <a:t> </a:t>
            </a:r>
            <a:r>
              <a:rPr dirty="0" sz="1200">
                <a:latin typeface="Arial"/>
                <a:cs typeface="Arial"/>
              </a:rPr>
              <a:t>3</a:t>
            </a:r>
            <a:r>
              <a:rPr dirty="0" baseline="38194" sz="1200">
                <a:latin typeface="Arial"/>
                <a:cs typeface="Arial"/>
              </a:rPr>
              <a:t>rd</a:t>
            </a:r>
            <a:endParaRPr baseline="38194" sz="1200">
              <a:latin typeface="Arial"/>
              <a:cs typeface="Arial"/>
            </a:endParaRPr>
          </a:p>
          <a:p>
            <a:pPr marL="292100">
              <a:lnSpc>
                <a:spcPct val="100000"/>
              </a:lnSpc>
              <a:spcBef>
                <a:spcPts val="1325"/>
              </a:spcBef>
            </a:pPr>
            <a:r>
              <a:rPr dirty="0" sz="1200" spc="-5" b="1" i="1">
                <a:latin typeface="Arial"/>
                <a:cs typeface="Arial"/>
              </a:rPr>
              <a:t>3.</a:t>
            </a:r>
            <a:r>
              <a:rPr dirty="0" u="heavy" sz="1200" spc="-5" b="1" i="1">
                <a:uFill>
                  <a:solidFill>
                    <a:srgbClr val="000000"/>
                  </a:solidFill>
                </a:uFill>
                <a:latin typeface="Arial"/>
                <a:cs typeface="Arial"/>
              </a:rPr>
              <a:t> </a:t>
            </a:r>
            <a:r>
              <a:rPr dirty="0" u="heavy" sz="1200" spc="-55" b="1" i="1">
                <a:uFill>
                  <a:solidFill>
                    <a:srgbClr val="000000"/>
                  </a:solidFill>
                </a:uFill>
                <a:latin typeface="Arial"/>
                <a:cs typeface="Arial"/>
              </a:rPr>
              <a:t>Jami‟ </a:t>
            </a:r>
            <a:r>
              <a:rPr dirty="0" u="heavy" sz="1200" b="1" i="1">
                <a:uFill>
                  <a:solidFill>
                    <a:srgbClr val="000000"/>
                  </a:solidFill>
                </a:uFill>
                <a:latin typeface="Arial"/>
                <a:cs typeface="Arial"/>
              </a:rPr>
              <a:t>al</a:t>
            </a:r>
            <a:r>
              <a:rPr dirty="0" u="heavy" sz="1200" spc="-155" b="1" i="1">
                <a:uFill>
                  <a:solidFill>
                    <a:srgbClr val="000000"/>
                  </a:solidFill>
                </a:uFill>
                <a:latin typeface="Arial"/>
                <a:cs typeface="Arial"/>
              </a:rPr>
              <a:t> </a:t>
            </a:r>
            <a:r>
              <a:rPr dirty="0" u="heavy" sz="1200" spc="-5" b="1" i="1">
                <a:uFill>
                  <a:solidFill>
                    <a:srgbClr val="000000"/>
                  </a:solidFill>
                </a:uFill>
                <a:latin typeface="Arial"/>
                <a:cs typeface="Arial"/>
              </a:rPr>
              <a:t>Tirmidhi</a:t>
            </a:r>
            <a:endParaRPr sz="1200">
              <a:latin typeface="Arial"/>
              <a:cs typeface="Arial"/>
            </a:endParaRPr>
          </a:p>
          <a:p>
            <a:pPr>
              <a:lnSpc>
                <a:spcPct val="100000"/>
              </a:lnSpc>
              <a:spcBef>
                <a:spcPts val="35"/>
              </a:spcBef>
            </a:pPr>
            <a:endParaRPr sz="1200">
              <a:latin typeface="Arial"/>
              <a:cs typeface="Arial"/>
            </a:endParaRPr>
          </a:p>
          <a:p>
            <a:pPr algn="just" marL="63500" marR="56515">
              <a:lnSpc>
                <a:spcPts val="1380"/>
              </a:lnSpc>
            </a:pPr>
            <a:r>
              <a:rPr dirty="0" sz="1200" spc="-5">
                <a:latin typeface="Arial"/>
                <a:cs typeface="Arial"/>
              </a:rPr>
              <a:t>The author of </a:t>
            </a:r>
            <a:r>
              <a:rPr dirty="0" sz="1200">
                <a:latin typeface="Arial"/>
                <a:cs typeface="Arial"/>
              </a:rPr>
              <a:t>this </a:t>
            </a:r>
            <a:r>
              <a:rPr dirty="0" sz="1200" spc="-5">
                <a:latin typeface="Arial"/>
                <a:cs typeface="Arial"/>
              </a:rPr>
              <a:t>collection is Imaam Abu </a:t>
            </a:r>
            <a:r>
              <a:rPr dirty="0" sz="1200" spc="-105">
                <a:latin typeface="Arial"/>
                <a:cs typeface="Arial"/>
              </a:rPr>
              <a:t>‗Isa </a:t>
            </a:r>
            <a:r>
              <a:rPr dirty="0" sz="1200" spc="-5">
                <a:latin typeface="Arial"/>
                <a:cs typeface="Arial"/>
              </a:rPr>
              <a:t>Muhammad ibn </a:t>
            </a:r>
            <a:r>
              <a:rPr dirty="0" sz="1200" spc="-100">
                <a:latin typeface="Arial"/>
                <a:cs typeface="Arial"/>
              </a:rPr>
              <a:t>‗Isa </a:t>
            </a:r>
            <a:r>
              <a:rPr dirty="0" sz="1200">
                <a:latin typeface="Arial"/>
                <a:cs typeface="Arial"/>
              </a:rPr>
              <a:t>at-Tirmidhi. </a:t>
            </a:r>
            <a:r>
              <a:rPr dirty="0" sz="1200" spc="-5">
                <a:latin typeface="Arial"/>
                <a:cs typeface="Arial"/>
              </a:rPr>
              <a:t>He took birth  in </a:t>
            </a:r>
            <a:r>
              <a:rPr dirty="0" sz="1200">
                <a:latin typeface="Arial"/>
                <a:cs typeface="Arial"/>
              </a:rPr>
              <a:t>Tirmidh, </a:t>
            </a:r>
            <a:r>
              <a:rPr dirty="0" sz="1200" spc="-5">
                <a:latin typeface="Arial"/>
                <a:cs typeface="Arial"/>
              </a:rPr>
              <a:t>Iran in the year 209 and died </a:t>
            </a:r>
            <a:r>
              <a:rPr dirty="0" sz="1200" spc="-10">
                <a:latin typeface="Arial"/>
                <a:cs typeface="Arial"/>
              </a:rPr>
              <a:t>in </a:t>
            </a:r>
            <a:r>
              <a:rPr dirty="0" sz="1200" spc="-5">
                <a:latin typeface="Arial"/>
                <a:cs typeface="Arial"/>
              </a:rPr>
              <a:t>the year 279 AH during </a:t>
            </a:r>
            <a:r>
              <a:rPr dirty="0" sz="1200">
                <a:latin typeface="Arial"/>
                <a:cs typeface="Arial"/>
              </a:rPr>
              <a:t>the </a:t>
            </a:r>
            <a:r>
              <a:rPr dirty="0" sz="1200" spc="-5">
                <a:latin typeface="Arial"/>
                <a:cs typeface="Arial"/>
              </a:rPr>
              <a:t>reign of </a:t>
            </a:r>
            <a:r>
              <a:rPr dirty="0" sz="1200">
                <a:latin typeface="Arial"/>
                <a:cs typeface="Arial"/>
              </a:rPr>
              <a:t>the </a:t>
            </a:r>
            <a:r>
              <a:rPr dirty="0" sz="1200" spc="-5">
                <a:latin typeface="Arial"/>
                <a:cs typeface="Arial"/>
              </a:rPr>
              <a:t>Abbasid  Khalifa Ma'mun </a:t>
            </a:r>
            <a:r>
              <a:rPr dirty="0" sz="1200">
                <a:latin typeface="Arial"/>
                <a:cs typeface="Arial"/>
              </a:rPr>
              <a:t>al-Rashid. </a:t>
            </a:r>
            <a:r>
              <a:rPr dirty="0" sz="1200" spc="-5">
                <a:latin typeface="Arial"/>
                <a:cs typeface="Arial"/>
              </a:rPr>
              <a:t>His Jami‘ </a:t>
            </a:r>
            <a:r>
              <a:rPr dirty="0" sz="1200">
                <a:latin typeface="Arial"/>
                <a:cs typeface="Arial"/>
              </a:rPr>
              <a:t>has </a:t>
            </a:r>
            <a:r>
              <a:rPr dirty="0" sz="1200" spc="-10">
                <a:latin typeface="Arial"/>
                <a:cs typeface="Arial"/>
              </a:rPr>
              <a:t>2028</a:t>
            </a:r>
            <a:r>
              <a:rPr dirty="0" sz="1200" spc="15">
                <a:latin typeface="Arial"/>
                <a:cs typeface="Arial"/>
              </a:rPr>
              <a:t> </a:t>
            </a:r>
            <a:r>
              <a:rPr dirty="0" sz="1200" spc="-5">
                <a:latin typeface="Arial"/>
                <a:cs typeface="Arial"/>
              </a:rPr>
              <a:t>Hadith.</a:t>
            </a:r>
            <a:endParaRPr sz="1200">
              <a:latin typeface="Arial"/>
              <a:cs typeface="Arial"/>
            </a:endParaRPr>
          </a:p>
          <a:p>
            <a:pPr>
              <a:lnSpc>
                <a:spcPct val="100000"/>
              </a:lnSpc>
              <a:spcBef>
                <a:spcPts val="10"/>
              </a:spcBef>
            </a:pPr>
            <a:endParaRPr sz="1600">
              <a:latin typeface="Arial"/>
              <a:cs typeface="Arial"/>
            </a:endParaRPr>
          </a:p>
          <a:p>
            <a:pPr algn="just" marL="63500" marR="54610">
              <a:lnSpc>
                <a:spcPct val="95600"/>
              </a:lnSpc>
            </a:pPr>
            <a:r>
              <a:rPr dirty="0" sz="1200">
                <a:latin typeface="Arial"/>
                <a:cs typeface="Arial"/>
              </a:rPr>
              <a:t>Once </a:t>
            </a:r>
            <a:r>
              <a:rPr dirty="0" sz="1200" spc="-5">
                <a:latin typeface="Arial"/>
                <a:cs typeface="Arial"/>
              </a:rPr>
              <a:t>Imam Bukhari mentioned </a:t>
            </a:r>
            <a:r>
              <a:rPr dirty="0" sz="1200">
                <a:latin typeface="Arial"/>
                <a:cs typeface="Arial"/>
              </a:rPr>
              <a:t>to </a:t>
            </a:r>
            <a:r>
              <a:rPr dirty="0" sz="1200" spc="-5">
                <a:latin typeface="Arial"/>
                <a:cs typeface="Arial"/>
              </a:rPr>
              <a:t>him "I have benefited </a:t>
            </a:r>
            <a:r>
              <a:rPr dirty="0" sz="1200">
                <a:latin typeface="Arial"/>
                <a:cs typeface="Arial"/>
              </a:rPr>
              <a:t>more </a:t>
            </a:r>
            <a:r>
              <a:rPr dirty="0" sz="1200" spc="-5">
                <a:latin typeface="Arial"/>
                <a:cs typeface="Arial"/>
              </a:rPr>
              <a:t>from </a:t>
            </a:r>
            <a:r>
              <a:rPr dirty="0" sz="1200" spc="-10">
                <a:latin typeface="Arial"/>
                <a:cs typeface="Arial"/>
              </a:rPr>
              <a:t>you </a:t>
            </a:r>
            <a:r>
              <a:rPr dirty="0" sz="1200" spc="-5">
                <a:latin typeface="Arial"/>
                <a:cs typeface="Arial"/>
              </a:rPr>
              <a:t>than </a:t>
            </a:r>
            <a:r>
              <a:rPr dirty="0" sz="1200" spc="-10">
                <a:latin typeface="Arial"/>
                <a:cs typeface="Arial"/>
              </a:rPr>
              <a:t>you </a:t>
            </a:r>
            <a:r>
              <a:rPr dirty="0" sz="1200" spc="10">
                <a:latin typeface="Arial"/>
                <a:cs typeface="Arial"/>
              </a:rPr>
              <a:t>have  </a:t>
            </a:r>
            <a:r>
              <a:rPr dirty="0" sz="1200" spc="-5">
                <a:latin typeface="Arial"/>
                <a:cs typeface="Arial"/>
              </a:rPr>
              <a:t>benefitted from me." Musa ibn `Alaq once said: "When Imam Bukhari </a:t>
            </a:r>
            <a:r>
              <a:rPr dirty="0" sz="1200">
                <a:latin typeface="Arial"/>
                <a:cs typeface="Arial"/>
              </a:rPr>
              <a:t>passed </a:t>
            </a:r>
            <a:r>
              <a:rPr dirty="0" sz="1200" spc="-10">
                <a:latin typeface="Arial"/>
                <a:cs typeface="Arial"/>
              </a:rPr>
              <a:t>away, </a:t>
            </a:r>
            <a:r>
              <a:rPr dirty="0" sz="1200" spc="-5">
                <a:latin typeface="Arial"/>
                <a:cs typeface="Arial"/>
              </a:rPr>
              <a:t>he </a:t>
            </a:r>
            <a:r>
              <a:rPr dirty="0" sz="1200">
                <a:latin typeface="Arial"/>
                <a:cs typeface="Arial"/>
              </a:rPr>
              <a:t>left </a:t>
            </a:r>
            <a:r>
              <a:rPr dirty="0" sz="1200" spc="-5">
                <a:latin typeface="Arial"/>
                <a:cs typeface="Arial"/>
              </a:rPr>
              <a:t>no  one </a:t>
            </a:r>
            <a:r>
              <a:rPr dirty="0" sz="1200" spc="-10">
                <a:latin typeface="Arial"/>
                <a:cs typeface="Arial"/>
              </a:rPr>
              <a:t>in </a:t>
            </a:r>
            <a:r>
              <a:rPr dirty="0" sz="1200" spc="-5">
                <a:latin typeface="Arial"/>
                <a:cs typeface="Arial"/>
              </a:rPr>
              <a:t>Khurasan </a:t>
            </a:r>
            <a:r>
              <a:rPr dirty="0" sz="1200" spc="-10">
                <a:latin typeface="Arial"/>
                <a:cs typeface="Arial"/>
              </a:rPr>
              <a:t>who </a:t>
            </a:r>
            <a:r>
              <a:rPr dirty="0" sz="1200" spc="-5">
                <a:latin typeface="Arial"/>
                <a:cs typeface="Arial"/>
              </a:rPr>
              <a:t>compared with Abu `Isa Tirmidhi in knowledge, memory, piety and  abstinence." According </a:t>
            </a:r>
            <a:r>
              <a:rPr dirty="0" sz="1200">
                <a:latin typeface="Arial"/>
                <a:cs typeface="Arial"/>
              </a:rPr>
              <a:t>to </a:t>
            </a:r>
            <a:r>
              <a:rPr dirty="0" sz="1200" spc="-5">
                <a:latin typeface="Arial"/>
                <a:cs typeface="Arial"/>
              </a:rPr>
              <a:t>`Abdullah ibn Muhammed </a:t>
            </a:r>
            <a:r>
              <a:rPr dirty="0" sz="1200">
                <a:latin typeface="Arial"/>
                <a:cs typeface="Arial"/>
              </a:rPr>
              <a:t>Al-Ansari, </a:t>
            </a:r>
            <a:r>
              <a:rPr dirty="0" sz="1200" spc="-5">
                <a:latin typeface="Arial"/>
                <a:cs typeface="Arial"/>
              </a:rPr>
              <a:t>Imam Tirmidhi's </a:t>
            </a:r>
            <a:r>
              <a:rPr dirty="0" sz="1200" spc="-5" i="1">
                <a:latin typeface="Arial"/>
                <a:cs typeface="Arial"/>
              </a:rPr>
              <a:t>Al-Jami` </a:t>
            </a:r>
            <a:r>
              <a:rPr dirty="0" sz="1200" spc="-5">
                <a:latin typeface="Arial"/>
                <a:cs typeface="Arial"/>
              </a:rPr>
              <a:t>is  </a:t>
            </a:r>
            <a:r>
              <a:rPr dirty="0" sz="1200">
                <a:latin typeface="Arial"/>
                <a:cs typeface="Arial"/>
              </a:rPr>
              <a:t>more </a:t>
            </a:r>
            <a:r>
              <a:rPr dirty="0" sz="1200" spc="-5">
                <a:latin typeface="Arial"/>
                <a:cs typeface="Arial"/>
              </a:rPr>
              <a:t>beneficial than the works </a:t>
            </a:r>
            <a:r>
              <a:rPr dirty="0" sz="1200">
                <a:latin typeface="Arial"/>
                <a:cs typeface="Arial"/>
              </a:rPr>
              <a:t>of </a:t>
            </a:r>
            <a:r>
              <a:rPr dirty="0" sz="1200" spc="-5">
                <a:latin typeface="Arial"/>
                <a:cs typeface="Arial"/>
              </a:rPr>
              <a:t>Bukhari and Muslim since </a:t>
            </a:r>
            <a:r>
              <a:rPr dirty="0" sz="1200">
                <a:latin typeface="Arial"/>
                <a:cs typeface="Arial"/>
              </a:rPr>
              <a:t>their </a:t>
            </a:r>
            <a:r>
              <a:rPr dirty="0" sz="1200" spc="-5">
                <a:latin typeface="Arial"/>
                <a:cs typeface="Arial"/>
              </a:rPr>
              <a:t>compilations can only</a:t>
            </a:r>
            <a:r>
              <a:rPr dirty="0" sz="1200" spc="-150">
                <a:latin typeface="Arial"/>
                <a:cs typeface="Arial"/>
              </a:rPr>
              <a:t> </a:t>
            </a:r>
            <a:r>
              <a:rPr dirty="0" sz="1200" spc="-10">
                <a:latin typeface="Arial"/>
                <a:cs typeface="Arial"/>
              </a:rPr>
              <a:t>be</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123</a:t>
            </a:r>
            <a:endParaRPr sz="1200">
              <a:latin typeface="Times New Roman"/>
              <a:cs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08090" cy="934593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30"/>
              </a:spcBef>
            </a:pPr>
            <a:endParaRPr sz="1300">
              <a:latin typeface="Times New Roman"/>
              <a:cs typeface="Times New Roman"/>
            </a:endParaRPr>
          </a:p>
          <a:p>
            <a:pPr algn="just" marL="12700" marR="5080">
              <a:lnSpc>
                <a:spcPts val="1390"/>
              </a:lnSpc>
            </a:pPr>
            <a:r>
              <a:rPr dirty="0" sz="1200" spc="-5">
                <a:latin typeface="Arial"/>
                <a:cs typeface="Arial"/>
              </a:rPr>
              <a:t>understood by a very deep sighted scholar whereas </a:t>
            </a:r>
            <a:r>
              <a:rPr dirty="0" sz="1200" spc="-5" i="1">
                <a:latin typeface="Arial"/>
                <a:cs typeface="Arial"/>
              </a:rPr>
              <a:t>Al-Jami` </a:t>
            </a:r>
            <a:r>
              <a:rPr dirty="0" sz="1200" spc="-5">
                <a:latin typeface="Arial"/>
                <a:cs typeface="Arial"/>
              </a:rPr>
              <a:t>can be understood by both the  scholar and the</a:t>
            </a:r>
            <a:r>
              <a:rPr dirty="0" sz="1200" spc="5">
                <a:latin typeface="Arial"/>
                <a:cs typeface="Arial"/>
              </a:rPr>
              <a:t> </a:t>
            </a:r>
            <a:r>
              <a:rPr dirty="0" sz="1200" spc="-10">
                <a:latin typeface="Arial"/>
                <a:cs typeface="Arial"/>
              </a:rPr>
              <a:t>layman.</a:t>
            </a:r>
            <a:endParaRPr sz="1200">
              <a:latin typeface="Arial"/>
              <a:cs typeface="Arial"/>
            </a:endParaRPr>
          </a:p>
          <a:p>
            <a:pPr algn="just" marL="12700" marR="5715">
              <a:lnSpc>
                <a:spcPts val="1380"/>
              </a:lnSpc>
              <a:spcBef>
                <a:spcPts val="1000"/>
              </a:spcBef>
            </a:pPr>
            <a:r>
              <a:rPr dirty="0" sz="1200" spc="-5">
                <a:latin typeface="Arial"/>
                <a:cs typeface="Arial"/>
              </a:rPr>
              <a:t>Imam Tirmidhi had </a:t>
            </a:r>
            <a:r>
              <a:rPr dirty="0" sz="1200" spc="-10">
                <a:latin typeface="Arial"/>
                <a:cs typeface="Arial"/>
              </a:rPr>
              <a:t>lost </a:t>
            </a:r>
            <a:r>
              <a:rPr dirty="0" sz="1200" spc="-5">
                <a:latin typeface="Arial"/>
                <a:cs typeface="Arial"/>
              </a:rPr>
              <a:t>his sight towards </a:t>
            </a:r>
            <a:r>
              <a:rPr dirty="0" sz="1200" spc="10">
                <a:latin typeface="Arial"/>
                <a:cs typeface="Arial"/>
              </a:rPr>
              <a:t>the </a:t>
            </a:r>
            <a:r>
              <a:rPr dirty="0" sz="1200" spc="-5">
                <a:latin typeface="Arial"/>
                <a:cs typeface="Arial"/>
              </a:rPr>
              <a:t>latter portion of his </a:t>
            </a:r>
            <a:r>
              <a:rPr dirty="0" sz="1200">
                <a:latin typeface="Arial"/>
                <a:cs typeface="Arial"/>
              </a:rPr>
              <a:t>life. Once </a:t>
            </a:r>
            <a:r>
              <a:rPr dirty="0" sz="1200" spc="-5">
                <a:latin typeface="Arial"/>
                <a:cs typeface="Arial"/>
              </a:rPr>
              <a:t>whilst on a  journey, </a:t>
            </a:r>
            <a:r>
              <a:rPr dirty="0" sz="1200">
                <a:latin typeface="Arial"/>
                <a:cs typeface="Arial"/>
              </a:rPr>
              <a:t>at </a:t>
            </a:r>
            <a:r>
              <a:rPr dirty="0" sz="1200" spc="-5">
                <a:latin typeface="Arial"/>
                <a:cs typeface="Arial"/>
              </a:rPr>
              <a:t>a certain point he bowed his head. </a:t>
            </a:r>
            <a:r>
              <a:rPr dirty="0" sz="1200">
                <a:latin typeface="Arial"/>
                <a:cs typeface="Arial"/>
              </a:rPr>
              <a:t>When </a:t>
            </a:r>
            <a:r>
              <a:rPr dirty="0" sz="1200" spc="-5">
                <a:latin typeface="Arial"/>
                <a:cs typeface="Arial"/>
              </a:rPr>
              <a:t>asked as </a:t>
            </a:r>
            <a:r>
              <a:rPr dirty="0" sz="1200">
                <a:latin typeface="Arial"/>
                <a:cs typeface="Arial"/>
              </a:rPr>
              <a:t>to </a:t>
            </a:r>
            <a:r>
              <a:rPr dirty="0" sz="1200" spc="-5">
                <a:latin typeface="Arial"/>
                <a:cs typeface="Arial"/>
              </a:rPr>
              <a:t>why he did </a:t>
            </a:r>
            <a:r>
              <a:rPr dirty="0" sz="1200">
                <a:latin typeface="Arial"/>
                <a:cs typeface="Arial"/>
              </a:rPr>
              <a:t>this, </a:t>
            </a:r>
            <a:r>
              <a:rPr dirty="0" sz="1200" spc="-5">
                <a:latin typeface="Arial"/>
                <a:cs typeface="Arial"/>
              </a:rPr>
              <a:t>he replied:  </a:t>
            </a:r>
            <a:r>
              <a:rPr dirty="0" sz="1200">
                <a:latin typeface="Arial"/>
                <a:cs typeface="Arial"/>
              </a:rPr>
              <a:t>"Is </a:t>
            </a:r>
            <a:r>
              <a:rPr dirty="0" sz="1200" spc="-5">
                <a:latin typeface="Arial"/>
                <a:cs typeface="Arial"/>
              </a:rPr>
              <a:t>there not a </a:t>
            </a:r>
            <a:r>
              <a:rPr dirty="0" sz="1200">
                <a:latin typeface="Arial"/>
                <a:cs typeface="Arial"/>
              </a:rPr>
              <a:t>tree </a:t>
            </a:r>
            <a:r>
              <a:rPr dirty="0" sz="1200" spc="-5">
                <a:latin typeface="Arial"/>
                <a:cs typeface="Arial"/>
              </a:rPr>
              <a:t>here whose branches hang over in such a manner that </a:t>
            </a:r>
            <a:r>
              <a:rPr dirty="0" sz="1200">
                <a:latin typeface="Arial"/>
                <a:cs typeface="Arial"/>
              </a:rPr>
              <a:t>it </a:t>
            </a:r>
            <a:r>
              <a:rPr dirty="0" sz="1200" spc="-5">
                <a:latin typeface="Arial"/>
                <a:cs typeface="Arial"/>
              </a:rPr>
              <a:t>harms those  </a:t>
            </a:r>
            <a:r>
              <a:rPr dirty="0" sz="1200" spc="-10">
                <a:latin typeface="Arial"/>
                <a:cs typeface="Arial"/>
              </a:rPr>
              <a:t>who </a:t>
            </a:r>
            <a:r>
              <a:rPr dirty="0" sz="1200" spc="-5">
                <a:latin typeface="Arial"/>
                <a:cs typeface="Arial"/>
              </a:rPr>
              <a:t>are passing </a:t>
            </a:r>
            <a:r>
              <a:rPr dirty="0" sz="1200">
                <a:latin typeface="Arial"/>
                <a:cs typeface="Arial"/>
              </a:rPr>
              <a:t>by." </a:t>
            </a:r>
            <a:r>
              <a:rPr dirty="0" sz="1200" spc="-5">
                <a:latin typeface="Arial"/>
                <a:cs typeface="Arial"/>
              </a:rPr>
              <a:t>They </a:t>
            </a:r>
            <a:r>
              <a:rPr dirty="0" sz="1200">
                <a:latin typeface="Arial"/>
                <a:cs typeface="Arial"/>
              </a:rPr>
              <a:t>answered </a:t>
            </a:r>
            <a:r>
              <a:rPr dirty="0" sz="1200" spc="-5">
                <a:latin typeface="Arial"/>
                <a:cs typeface="Arial"/>
              </a:rPr>
              <a:t>in </a:t>
            </a:r>
            <a:r>
              <a:rPr dirty="0" sz="1200">
                <a:latin typeface="Arial"/>
                <a:cs typeface="Arial"/>
              </a:rPr>
              <a:t>the </a:t>
            </a:r>
            <a:r>
              <a:rPr dirty="0" sz="1200" spc="-5">
                <a:latin typeface="Arial"/>
                <a:cs typeface="Arial"/>
              </a:rPr>
              <a:t>negative. He </a:t>
            </a:r>
            <a:r>
              <a:rPr dirty="0" sz="1200" spc="-10">
                <a:latin typeface="Arial"/>
                <a:cs typeface="Arial"/>
              </a:rPr>
              <a:t>was </a:t>
            </a:r>
            <a:r>
              <a:rPr dirty="0" sz="1200" spc="-5">
                <a:latin typeface="Arial"/>
                <a:cs typeface="Arial"/>
              </a:rPr>
              <a:t>quite shocked when he </a:t>
            </a:r>
            <a:r>
              <a:rPr dirty="0" sz="1200" spc="-10">
                <a:latin typeface="Arial"/>
                <a:cs typeface="Arial"/>
              </a:rPr>
              <a:t>heard  </a:t>
            </a:r>
            <a:r>
              <a:rPr dirty="0" sz="1200">
                <a:latin typeface="Arial"/>
                <a:cs typeface="Arial"/>
              </a:rPr>
              <a:t>this </a:t>
            </a:r>
            <a:r>
              <a:rPr dirty="0" sz="1200" spc="-5">
                <a:latin typeface="Arial"/>
                <a:cs typeface="Arial"/>
              </a:rPr>
              <a:t>as he distinctly remembered there being a </a:t>
            </a:r>
            <a:r>
              <a:rPr dirty="0" sz="1200">
                <a:latin typeface="Arial"/>
                <a:cs typeface="Arial"/>
              </a:rPr>
              <a:t>tree </a:t>
            </a:r>
            <a:r>
              <a:rPr dirty="0" sz="1200" spc="-5">
                <a:latin typeface="Arial"/>
                <a:cs typeface="Arial"/>
              </a:rPr>
              <a:t>and </a:t>
            </a:r>
            <a:r>
              <a:rPr dirty="0" sz="1200" spc="-10">
                <a:latin typeface="Arial"/>
                <a:cs typeface="Arial"/>
              </a:rPr>
              <a:t>was </a:t>
            </a:r>
            <a:r>
              <a:rPr dirty="0" sz="1200" spc="-5">
                <a:latin typeface="Arial"/>
                <a:cs typeface="Arial"/>
              </a:rPr>
              <a:t>worried as </a:t>
            </a:r>
            <a:r>
              <a:rPr dirty="0" sz="1200">
                <a:latin typeface="Arial"/>
                <a:cs typeface="Arial"/>
              </a:rPr>
              <a:t>to </a:t>
            </a:r>
            <a:r>
              <a:rPr dirty="0" sz="1200" spc="-5">
                <a:latin typeface="Arial"/>
                <a:cs typeface="Arial"/>
              </a:rPr>
              <a:t>whether </a:t>
            </a:r>
            <a:r>
              <a:rPr dirty="0" sz="1200" spc="-10">
                <a:latin typeface="Arial"/>
                <a:cs typeface="Arial"/>
              </a:rPr>
              <a:t>his  </a:t>
            </a:r>
            <a:r>
              <a:rPr dirty="0" sz="1200" spc="-5">
                <a:latin typeface="Arial"/>
                <a:cs typeface="Arial"/>
              </a:rPr>
              <a:t>memory </a:t>
            </a:r>
            <a:r>
              <a:rPr dirty="0" sz="1200" spc="-10">
                <a:latin typeface="Arial"/>
                <a:cs typeface="Arial"/>
              </a:rPr>
              <a:t>was </a:t>
            </a:r>
            <a:r>
              <a:rPr dirty="0" sz="1200">
                <a:latin typeface="Arial"/>
                <a:cs typeface="Arial"/>
              </a:rPr>
              <a:t>failing </a:t>
            </a:r>
            <a:r>
              <a:rPr dirty="0" sz="1200" spc="-5">
                <a:latin typeface="Arial"/>
                <a:cs typeface="Arial"/>
              </a:rPr>
              <a:t>him or not. He stopped the caravan immediately and asked his  companions to enquire from </a:t>
            </a:r>
            <a:r>
              <a:rPr dirty="0" sz="1200">
                <a:latin typeface="Arial"/>
                <a:cs typeface="Arial"/>
              </a:rPr>
              <a:t>the locals </a:t>
            </a:r>
            <a:r>
              <a:rPr dirty="0" sz="1200" spc="-5">
                <a:latin typeface="Arial"/>
                <a:cs typeface="Arial"/>
              </a:rPr>
              <a:t>whether a </a:t>
            </a:r>
            <a:r>
              <a:rPr dirty="0" sz="1200">
                <a:latin typeface="Arial"/>
                <a:cs typeface="Arial"/>
              </a:rPr>
              <a:t>tree </a:t>
            </a:r>
            <a:r>
              <a:rPr dirty="0" sz="1200" spc="-5">
                <a:latin typeface="Arial"/>
                <a:cs typeface="Arial"/>
              </a:rPr>
              <a:t>had existed there or not. "If </a:t>
            </a:r>
            <a:r>
              <a:rPr dirty="0" sz="1200">
                <a:latin typeface="Arial"/>
                <a:cs typeface="Arial"/>
              </a:rPr>
              <a:t>it </a:t>
            </a:r>
            <a:r>
              <a:rPr dirty="0" sz="1200" spc="-5">
                <a:latin typeface="Arial"/>
                <a:cs typeface="Arial"/>
              </a:rPr>
              <a:t>is  established that </a:t>
            </a:r>
            <a:r>
              <a:rPr dirty="0" sz="1200" spc="-10">
                <a:latin typeface="Arial"/>
                <a:cs typeface="Arial"/>
              </a:rPr>
              <a:t>no </a:t>
            </a:r>
            <a:r>
              <a:rPr dirty="0" sz="1200" spc="-5">
                <a:latin typeface="Arial"/>
                <a:cs typeface="Arial"/>
              </a:rPr>
              <a:t>tree existed </a:t>
            </a:r>
            <a:r>
              <a:rPr dirty="0" sz="1200" spc="-10">
                <a:latin typeface="Arial"/>
                <a:cs typeface="Arial"/>
              </a:rPr>
              <a:t>then </a:t>
            </a:r>
            <a:r>
              <a:rPr dirty="0" sz="1200">
                <a:latin typeface="Arial"/>
                <a:cs typeface="Arial"/>
              </a:rPr>
              <a:t>I </a:t>
            </a:r>
            <a:r>
              <a:rPr dirty="0" sz="1200" spc="-10">
                <a:latin typeface="Arial"/>
                <a:cs typeface="Arial"/>
              </a:rPr>
              <a:t>will </a:t>
            </a:r>
            <a:r>
              <a:rPr dirty="0" sz="1200">
                <a:latin typeface="Arial"/>
                <a:cs typeface="Arial"/>
              </a:rPr>
              <a:t>stop </a:t>
            </a:r>
            <a:r>
              <a:rPr dirty="0" sz="1200" spc="-5">
                <a:latin typeface="Arial"/>
                <a:cs typeface="Arial"/>
              </a:rPr>
              <a:t>narrating the Hadith of the Prophet </a:t>
            </a:r>
            <a:r>
              <a:rPr dirty="0" sz="1200">
                <a:latin typeface="Arial"/>
                <a:cs typeface="Arial"/>
              </a:rPr>
              <a:t>(s) </a:t>
            </a:r>
            <a:r>
              <a:rPr dirty="0" sz="1200" spc="-10">
                <a:latin typeface="Arial"/>
                <a:cs typeface="Arial"/>
              </a:rPr>
              <a:t>due </a:t>
            </a:r>
            <a:r>
              <a:rPr dirty="0" sz="1200" spc="-5">
                <a:latin typeface="Arial"/>
                <a:cs typeface="Arial"/>
              </a:rPr>
              <a:t>to  </a:t>
            </a:r>
            <a:r>
              <a:rPr dirty="0" sz="1200">
                <a:latin typeface="Arial"/>
                <a:cs typeface="Arial"/>
              </a:rPr>
              <a:t>my </a:t>
            </a:r>
            <a:r>
              <a:rPr dirty="0" sz="1200" spc="-5">
                <a:latin typeface="Arial"/>
                <a:cs typeface="Arial"/>
              </a:rPr>
              <a:t>weak memory." </a:t>
            </a:r>
            <a:r>
              <a:rPr dirty="0" sz="1200">
                <a:latin typeface="Arial"/>
                <a:cs typeface="Arial"/>
              </a:rPr>
              <a:t>On </a:t>
            </a:r>
            <a:r>
              <a:rPr dirty="0" sz="1200" spc="-5">
                <a:latin typeface="Arial"/>
                <a:cs typeface="Arial"/>
              </a:rPr>
              <a:t>inquiry </a:t>
            </a:r>
            <a:r>
              <a:rPr dirty="0" sz="1200">
                <a:latin typeface="Arial"/>
                <a:cs typeface="Arial"/>
              </a:rPr>
              <a:t>it </a:t>
            </a:r>
            <a:r>
              <a:rPr dirty="0" sz="1200" spc="-10">
                <a:latin typeface="Arial"/>
                <a:cs typeface="Arial"/>
              </a:rPr>
              <a:t>was </a:t>
            </a:r>
            <a:r>
              <a:rPr dirty="0" sz="1200" spc="-5">
                <a:latin typeface="Arial"/>
                <a:cs typeface="Arial"/>
              </a:rPr>
              <a:t>shown </a:t>
            </a:r>
            <a:r>
              <a:rPr dirty="0" sz="1200">
                <a:latin typeface="Arial"/>
                <a:cs typeface="Arial"/>
              </a:rPr>
              <a:t>to </a:t>
            </a:r>
            <a:r>
              <a:rPr dirty="0" sz="1200" spc="-5">
                <a:latin typeface="Arial"/>
                <a:cs typeface="Arial"/>
              </a:rPr>
              <a:t>them that a </a:t>
            </a:r>
            <a:r>
              <a:rPr dirty="0" sz="1200">
                <a:latin typeface="Arial"/>
                <a:cs typeface="Arial"/>
              </a:rPr>
              <a:t>tree </a:t>
            </a:r>
            <a:r>
              <a:rPr dirty="0" sz="1200" spc="-10">
                <a:latin typeface="Arial"/>
                <a:cs typeface="Arial"/>
              </a:rPr>
              <a:t>had </a:t>
            </a:r>
            <a:r>
              <a:rPr dirty="0" sz="1200" spc="-5">
                <a:latin typeface="Arial"/>
                <a:cs typeface="Arial"/>
              </a:rPr>
              <a:t>previously existed </a:t>
            </a:r>
            <a:r>
              <a:rPr dirty="0" sz="1200" spc="-10">
                <a:latin typeface="Arial"/>
                <a:cs typeface="Arial"/>
              </a:rPr>
              <a:t>over  </a:t>
            </a:r>
            <a:r>
              <a:rPr dirty="0" sz="1200">
                <a:latin typeface="Arial"/>
                <a:cs typeface="Arial"/>
              </a:rPr>
              <a:t>there </a:t>
            </a:r>
            <a:r>
              <a:rPr dirty="0" sz="1200" spc="-5">
                <a:latin typeface="Arial"/>
                <a:cs typeface="Arial"/>
              </a:rPr>
              <a:t>but due </a:t>
            </a:r>
            <a:r>
              <a:rPr dirty="0" sz="1200">
                <a:latin typeface="Arial"/>
                <a:cs typeface="Arial"/>
              </a:rPr>
              <a:t>to it </a:t>
            </a:r>
            <a:r>
              <a:rPr dirty="0" sz="1200" spc="-5">
                <a:latin typeface="Arial"/>
                <a:cs typeface="Arial"/>
              </a:rPr>
              <a:t>being a hindrance to travelers </a:t>
            </a:r>
            <a:r>
              <a:rPr dirty="0" sz="1200">
                <a:latin typeface="Arial"/>
                <a:cs typeface="Arial"/>
              </a:rPr>
              <a:t>it </a:t>
            </a:r>
            <a:r>
              <a:rPr dirty="0" sz="1200" spc="-10">
                <a:latin typeface="Arial"/>
                <a:cs typeface="Arial"/>
              </a:rPr>
              <a:t>was</a:t>
            </a:r>
            <a:r>
              <a:rPr dirty="0" sz="1200" spc="10">
                <a:latin typeface="Arial"/>
                <a:cs typeface="Arial"/>
              </a:rPr>
              <a:t> </a:t>
            </a:r>
            <a:r>
              <a:rPr dirty="0" sz="1200" spc="-5">
                <a:latin typeface="Arial"/>
                <a:cs typeface="Arial"/>
              </a:rPr>
              <a:t>removed.</a:t>
            </a:r>
            <a:endParaRPr sz="1200">
              <a:latin typeface="Arial"/>
              <a:cs typeface="Arial"/>
            </a:endParaRPr>
          </a:p>
          <a:p>
            <a:pPr algn="just" marL="12700" marR="8890">
              <a:lnSpc>
                <a:spcPct val="95600"/>
              </a:lnSpc>
              <a:spcBef>
                <a:spcPts val="980"/>
              </a:spcBef>
            </a:pPr>
            <a:r>
              <a:rPr dirty="0" sz="1200" spc="-5">
                <a:latin typeface="Arial"/>
                <a:cs typeface="Arial"/>
              </a:rPr>
              <a:t>Abul Abbaas and Muhammed ibn Ahmed </a:t>
            </a:r>
            <a:r>
              <a:rPr dirty="0" sz="1200" spc="-10">
                <a:latin typeface="Arial"/>
                <a:cs typeface="Arial"/>
              </a:rPr>
              <a:t>Shah </a:t>
            </a:r>
            <a:r>
              <a:rPr dirty="0" sz="1200" spc="-5">
                <a:latin typeface="Arial"/>
                <a:cs typeface="Arial"/>
              </a:rPr>
              <a:t>Abdul `Aziz describes Imam Tirmidhi in </a:t>
            </a:r>
            <a:r>
              <a:rPr dirty="0" sz="1200" spc="-10">
                <a:latin typeface="Arial"/>
                <a:cs typeface="Arial"/>
              </a:rPr>
              <a:t>the  </a:t>
            </a:r>
            <a:r>
              <a:rPr dirty="0" sz="1200" spc="-5">
                <a:latin typeface="Arial"/>
                <a:cs typeface="Arial"/>
              </a:rPr>
              <a:t>following words: "His memory </a:t>
            </a:r>
            <a:r>
              <a:rPr dirty="0" sz="1200" spc="-10">
                <a:latin typeface="Arial"/>
                <a:cs typeface="Arial"/>
              </a:rPr>
              <a:t>was </a:t>
            </a:r>
            <a:r>
              <a:rPr dirty="0" sz="1200" spc="-5">
                <a:latin typeface="Arial"/>
                <a:cs typeface="Arial"/>
              </a:rPr>
              <a:t>unique and his piety and </a:t>
            </a:r>
            <a:r>
              <a:rPr dirty="0" sz="1200">
                <a:latin typeface="Arial"/>
                <a:cs typeface="Arial"/>
              </a:rPr>
              <a:t>fear </a:t>
            </a:r>
            <a:r>
              <a:rPr dirty="0" sz="1200" spc="-5">
                <a:latin typeface="Arial"/>
                <a:cs typeface="Arial"/>
              </a:rPr>
              <a:t>of Allah </a:t>
            </a:r>
            <a:r>
              <a:rPr dirty="0" sz="1200">
                <a:latin typeface="Arial"/>
                <a:cs typeface="Arial"/>
              </a:rPr>
              <a:t>ta'la </a:t>
            </a:r>
            <a:r>
              <a:rPr dirty="0" sz="1200" spc="-10">
                <a:latin typeface="Arial"/>
                <a:cs typeface="Arial"/>
              </a:rPr>
              <a:t>was </a:t>
            </a:r>
            <a:r>
              <a:rPr dirty="0" sz="1200">
                <a:latin typeface="Arial"/>
                <a:cs typeface="Arial"/>
              </a:rPr>
              <a:t>of </a:t>
            </a:r>
            <a:r>
              <a:rPr dirty="0" sz="1200" spc="-5">
                <a:latin typeface="Arial"/>
                <a:cs typeface="Arial"/>
              </a:rPr>
              <a:t>a very  high caliber. He would cry so </a:t>
            </a:r>
            <a:r>
              <a:rPr dirty="0" sz="1200">
                <a:latin typeface="Arial"/>
                <a:cs typeface="Arial"/>
              </a:rPr>
              <a:t>much </a:t>
            </a:r>
            <a:r>
              <a:rPr dirty="0" sz="1200" spc="-5">
                <a:latin typeface="Arial"/>
                <a:cs typeface="Arial"/>
              </a:rPr>
              <a:t>out of </a:t>
            </a:r>
            <a:r>
              <a:rPr dirty="0" sz="1200">
                <a:latin typeface="Arial"/>
                <a:cs typeface="Arial"/>
              </a:rPr>
              <a:t>the fear </a:t>
            </a:r>
            <a:r>
              <a:rPr dirty="0" sz="1200" spc="-5">
                <a:latin typeface="Arial"/>
                <a:cs typeface="Arial"/>
              </a:rPr>
              <a:t>of Allah, </a:t>
            </a:r>
            <a:r>
              <a:rPr dirty="0" sz="1200">
                <a:latin typeface="Arial"/>
                <a:cs typeface="Arial"/>
              </a:rPr>
              <a:t>that </a:t>
            </a:r>
            <a:r>
              <a:rPr dirty="0" sz="1200" spc="-5">
                <a:latin typeface="Arial"/>
                <a:cs typeface="Arial"/>
              </a:rPr>
              <a:t>towards </a:t>
            </a:r>
            <a:r>
              <a:rPr dirty="0" sz="1200">
                <a:latin typeface="Arial"/>
                <a:cs typeface="Arial"/>
              </a:rPr>
              <a:t>the </a:t>
            </a:r>
            <a:r>
              <a:rPr dirty="0" sz="1200" spc="-5">
                <a:latin typeface="Arial"/>
                <a:cs typeface="Arial"/>
              </a:rPr>
              <a:t>end of his life he  </a:t>
            </a:r>
            <a:r>
              <a:rPr dirty="0" sz="1200">
                <a:latin typeface="Arial"/>
                <a:cs typeface="Arial"/>
              </a:rPr>
              <a:t>lost his</a:t>
            </a:r>
            <a:r>
              <a:rPr dirty="0" sz="1200" spc="-5">
                <a:latin typeface="Arial"/>
                <a:cs typeface="Arial"/>
              </a:rPr>
              <a:t> sight."</a:t>
            </a:r>
            <a:endParaRPr sz="1200">
              <a:latin typeface="Arial"/>
              <a:cs typeface="Arial"/>
            </a:endParaRPr>
          </a:p>
          <a:p>
            <a:pPr>
              <a:lnSpc>
                <a:spcPct val="100000"/>
              </a:lnSpc>
            </a:pPr>
            <a:endParaRPr sz="1300">
              <a:latin typeface="Arial"/>
              <a:cs typeface="Arial"/>
            </a:endParaRPr>
          </a:p>
          <a:p>
            <a:pPr algn="just" marL="12700">
              <a:lnSpc>
                <a:spcPct val="100000"/>
              </a:lnSpc>
              <a:spcBef>
                <a:spcPts val="819"/>
              </a:spcBef>
            </a:pPr>
            <a:r>
              <a:rPr dirty="0" sz="1200" spc="-5">
                <a:latin typeface="Arial"/>
                <a:cs typeface="Arial"/>
              </a:rPr>
              <a:t>The Special characteristics of </a:t>
            </a:r>
            <a:r>
              <a:rPr dirty="0" sz="1200" spc="-5" i="1">
                <a:latin typeface="Arial"/>
                <a:cs typeface="Arial"/>
              </a:rPr>
              <a:t>al-Jami`</a:t>
            </a:r>
            <a:r>
              <a:rPr dirty="0" sz="1200" spc="35" i="1">
                <a:latin typeface="Arial"/>
                <a:cs typeface="Arial"/>
              </a:rPr>
              <a:t> </a:t>
            </a:r>
            <a:r>
              <a:rPr dirty="0" sz="1200" i="1">
                <a:latin typeface="Arial"/>
                <a:cs typeface="Arial"/>
              </a:rPr>
              <a:t>ut-Tirmidhi</a:t>
            </a:r>
            <a:endParaRPr sz="1200">
              <a:latin typeface="Arial"/>
              <a:cs typeface="Arial"/>
            </a:endParaRPr>
          </a:p>
          <a:p>
            <a:pPr marL="182880" indent="-170815">
              <a:lnSpc>
                <a:spcPct val="100000"/>
              </a:lnSpc>
              <a:spcBef>
                <a:spcPts val="935"/>
              </a:spcBef>
              <a:buAutoNum type="arabicPeriod"/>
              <a:tabLst>
                <a:tab pos="183515" algn="l"/>
              </a:tabLst>
            </a:pPr>
            <a:r>
              <a:rPr dirty="0" sz="1200">
                <a:latin typeface="Arial"/>
                <a:cs typeface="Arial"/>
              </a:rPr>
              <a:t>It </a:t>
            </a:r>
            <a:r>
              <a:rPr dirty="0" sz="1200" spc="-5">
                <a:latin typeface="Arial"/>
                <a:cs typeface="Arial"/>
              </a:rPr>
              <a:t>is a </a:t>
            </a:r>
            <a:r>
              <a:rPr dirty="0" sz="1200" spc="-5" i="1">
                <a:latin typeface="Arial"/>
                <a:cs typeface="Arial"/>
              </a:rPr>
              <a:t>Sunan </a:t>
            </a:r>
            <a:r>
              <a:rPr dirty="0" sz="1200" spc="-5">
                <a:latin typeface="Arial"/>
                <a:cs typeface="Arial"/>
              </a:rPr>
              <a:t>and a</a:t>
            </a:r>
            <a:r>
              <a:rPr dirty="0" sz="1200" spc="15">
                <a:latin typeface="Arial"/>
                <a:cs typeface="Arial"/>
              </a:rPr>
              <a:t> </a:t>
            </a:r>
            <a:r>
              <a:rPr dirty="0" sz="1200" spc="-10" i="1">
                <a:latin typeface="Arial"/>
                <a:cs typeface="Arial"/>
              </a:rPr>
              <a:t>Jami</a:t>
            </a:r>
            <a:r>
              <a:rPr dirty="0" sz="1200" spc="-10">
                <a:latin typeface="Arial"/>
                <a:cs typeface="Arial"/>
              </a:rPr>
              <a:t>`.</a:t>
            </a:r>
            <a:endParaRPr sz="1200">
              <a:latin typeface="Arial"/>
              <a:cs typeface="Arial"/>
            </a:endParaRPr>
          </a:p>
          <a:p>
            <a:pPr marL="182880" indent="-170815">
              <a:lnSpc>
                <a:spcPct val="100000"/>
              </a:lnSpc>
              <a:spcBef>
                <a:spcPts val="960"/>
              </a:spcBef>
              <a:buAutoNum type="arabicPeriod"/>
              <a:tabLst>
                <a:tab pos="183515" algn="l"/>
              </a:tabLst>
            </a:pPr>
            <a:r>
              <a:rPr dirty="0" sz="1200">
                <a:latin typeface="Arial"/>
                <a:cs typeface="Arial"/>
              </a:rPr>
              <a:t>Only 83 </a:t>
            </a:r>
            <a:r>
              <a:rPr dirty="0" sz="1200" spc="-5">
                <a:latin typeface="Arial"/>
                <a:cs typeface="Arial"/>
              </a:rPr>
              <a:t>hadith </a:t>
            </a:r>
            <a:r>
              <a:rPr dirty="0" sz="1200" spc="-10">
                <a:latin typeface="Arial"/>
                <a:cs typeface="Arial"/>
              </a:rPr>
              <a:t>are</a:t>
            </a:r>
            <a:r>
              <a:rPr dirty="0" sz="1200" spc="-25">
                <a:latin typeface="Arial"/>
                <a:cs typeface="Arial"/>
              </a:rPr>
              <a:t> </a:t>
            </a:r>
            <a:r>
              <a:rPr dirty="0" sz="1200" spc="-5">
                <a:latin typeface="Arial"/>
                <a:cs typeface="Arial"/>
              </a:rPr>
              <a:t>repeated.</a:t>
            </a:r>
            <a:endParaRPr sz="1200">
              <a:latin typeface="Arial"/>
              <a:cs typeface="Arial"/>
            </a:endParaRPr>
          </a:p>
          <a:p>
            <a:pPr marL="12700" marR="5715">
              <a:lnSpc>
                <a:spcPts val="1380"/>
              </a:lnSpc>
              <a:spcBef>
                <a:spcPts val="1030"/>
              </a:spcBef>
              <a:buAutoNum type="arabicPeriod"/>
              <a:tabLst>
                <a:tab pos="195580" algn="l"/>
              </a:tabLst>
            </a:pPr>
            <a:r>
              <a:rPr dirty="0" sz="1200" spc="-5">
                <a:latin typeface="Arial"/>
                <a:cs typeface="Arial"/>
              </a:rPr>
              <a:t>Imam </a:t>
            </a:r>
            <a:r>
              <a:rPr dirty="0" sz="1200">
                <a:latin typeface="Arial"/>
                <a:cs typeface="Arial"/>
              </a:rPr>
              <a:t>Tirmidhi </a:t>
            </a:r>
            <a:r>
              <a:rPr dirty="0" sz="1200" spc="-5">
                <a:latin typeface="Arial"/>
                <a:cs typeface="Arial"/>
              </a:rPr>
              <a:t>omits </a:t>
            </a:r>
            <a:r>
              <a:rPr dirty="0" sz="1200">
                <a:latin typeface="Arial"/>
                <a:cs typeface="Arial"/>
              </a:rPr>
              <a:t>the major </a:t>
            </a:r>
            <a:r>
              <a:rPr dirty="0" sz="1200" spc="-5">
                <a:latin typeface="Arial"/>
                <a:cs typeface="Arial"/>
              </a:rPr>
              <a:t>portion of </a:t>
            </a:r>
            <a:r>
              <a:rPr dirty="0" sz="1200">
                <a:latin typeface="Arial"/>
                <a:cs typeface="Arial"/>
              </a:rPr>
              <a:t>the hadith </a:t>
            </a:r>
            <a:r>
              <a:rPr dirty="0" sz="1200" spc="-5">
                <a:latin typeface="Arial"/>
                <a:cs typeface="Arial"/>
              </a:rPr>
              <a:t>and only mentions </a:t>
            </a:r>
            <a:r>
              <a:rPr dirty="0" sz="1200">
                <a:latin typeface="Arial"/>
                <a:cs typeface="Arial"/>
              </a:rPr>
              <a:t>that </a:t>
            </a:r>
            <a:r>
              <a:rPr dirty="0" sz="1200" spc="-5">
                <a:latin typeface="Arial"/>
                <a:cs typeface="Arial"/>
              </a:rPr>
              <a:t>part which is  relevant </a:t>
            </a:r>
            <a:r>
              <a:rPr dirty="0" sz="1200">
                <a:latin typeface="Arial"/>
                <a:cs typeface="Arial"/>
              </a:rPr>
              <a:t>to </a:t>
            </a:r>
            <a:r>
              <a:rPr dirty="0" sz="1200" spc="-5">
                <a:latin typeface="Arial"/>
                <a:cs typeface="Arial"/>
              </a:rPr>
              <a:t>the heading.</a:t>
            </a:r>
            <a:r>
              <a:rPr dirty="0" sz="1200">
                <a:latin typeface="Arial"/>
                <a:cs typeface="Arial"/>
              </a:rPr>
              <a:t> </a:t>
            </a:r>
            <a:r>
              <a:rPr dirty="0" sz="1200" spc="-5">
                <a:latin typeface="Arial"/>
                <a:cs typeface="Arial"/>
              </a:rPr>
              <a:t>(title)</a:t>
            </a:r>
            <a:endParaRPr sz="1200">
              <a:latin typeface="Arial"/>
              <a:cs typeface="Arial"/>
            </a:endParaRPr>
          </a:p>
          <a:p>
            <a:pPr marL="182880" indent="-170815">
              <a:lnSpc>
                <a:spcPct val="100000"/>
              </a:lnSpc>
              <a:spcBef>
                <a:spcPts val="905"/>
              </a:spcBef>
              <a:buAutoNum type="arabicPeriod"/>
              <a:tabLst>
                <a:tab pos="183515" algn="l"/>
              </a:tabLst>
            </a:pPr>
            <a:r>
              <a:rPr dirty="0" sz="1200" spc="-5">
                <a:latin typeface="Arial"/>
                <a:cs typeface="Arial"/>
              </a:rPr>
              <a:t>After mentioning a hadith he classifies </a:t>
            </a:r>
            <a:r>
              <a:rPr dirty="0" sz="1200">
                <a:latin typeface="Arial"/>
                <a:cs typeface="Arial"/>
              </a:rPr>
              <a:t>it </a:t>
            </a:r>
            <a:r>
              <a:rPr dirty="0" sz="1200" spc="-5">
                <a:latin typeface="Arial"/>
                <a:cs typeface="Arial"/>
              </a:rPr>
              <a:t>narration (whether </a:t>
            </a:r>
            <a:r>
              <a:rPr dirty="0" sz="1200">
                <a:latin typeface="Arial"/>
                <a:cs typeface="Arial"/>
              </a:rPr>
              <a:t>it </a:t>
            </a:r>
            <a:r>
              <a:rPr dirty="0" sz="1200" spc="-5">
                <a:latin typeface="Arial"/>
                <a:cs typeface="Arial"/>
              </a:rPr>
              <a:t>is authentic </a:t>
            </a:r>
            <a:r>
              <a:rPr dirty="0" sz="1200">
                <a:latin typeface="Arial"/>
                <a:cs typeface="Arial"/>
              </a:rPr>
              <a:t>or </a:t>
            </a:r>
            <a:r>
              <a:rPr dirty="0" sz="1200" spc="-5">
                <a:latin typeface="Arial"/>
                <a:cs typeface="Arial"/>
              </a:rPr>
              <a:t>weak,</a:t>
            </a:r>
            <a:r>
              <a:rPr dirty="0" sz="1200" spc="85">
                <a:latin typeface="Arial"/>
                <a:cs typeface="Arial"/>
              </a:rPr>
              <a:t> </a:t>
            </a:r>
            <a:r>
              <a:rPr dirty="0" sz="1200" spc="-5">
                <a:latin typeface="Arial"/>
                <a:cs typeface="Arial"/>
              </a:rPr>
              <a:t>etc.)</a:t>
            </a:r>
            <a:endParaRPr sz="1200">
              <a:latin typeface="Arial"/>
              <a:cs typeface="Arial"/>
            </a:endParaRPr>
          </a:p>
          <a:p>
            <a:pPr marL="12700" marR="11430">
              <a:lnSpc>
                <a:spcPts val="1370"/>
              </a:lnSpc>
              <a:spcBef>
                <a:spcPts val="1050"/>
              </a:spcBef>
              <a:buAutoNum type="arabicPeriod"/>
              <a:tabLst>
                <a:tab pos="230504" algn="l"/>
              </a:tabLst>
            </a:pPr>
            <a:r>
              <a:rPr dirty="0" sz="1200" spc="-5">
                <a:latin typeface="Arial"/>
                <a:cs typeface="Arial"/>
              </a:rPr>
              <a:t>He specifies the narrators names, e.g. </a:t>
            </a:r>
            <a:r>
              <a:rPr dirty="0" sz="1200">
                <a:latin typeface="Arial"/>
                <a:cs typeface="Arial"/>
              </a:rPr>
              <a:t>if </a:t>
            </a:r>
            <a:r>
              <a:rPr dirty="0" sz="1200" spc="-5">
                <a:latin typeface="Arial"/>
                <a:cs typeface="Arial"/>
              </a:rPr>
              <a:t>the narrators </a:t>
            </a:r>
            <a:r>
              <a:rPr dirty="0" sz="1200" spc="-10">
                <a:latin typeface="Arial"/>
                <a:cs typeface="Arial"/>
              </a:rPr>
              <a:t>kunya </a:t>
            </a:r>
            <a:r>
              <a:rPr dirty="0" sz="1200" spc="-5">
                <a:latin typeface="Arial"/>
                <a:cs typeface="Arial"/>
              </a:rPr>
              <a:t>(honorific name) </a:t>
            </a:r>
            <a:r>
              <a:rPr dirty="0" sz="1200" spc="-10">
                <a:latin typeface="Arial"/>
                <a:cs typeface="Arial"/>
              </a:rPr>
              <a:t>was  </a:t>
            </a:r>
            <a:r>
              <a:rPr dirty="0" sz="1200" spc="-5">
                <a:latin typeface="Arial"/>
                <a:cs typeface="Arial"/>
              </a:rPr>
              <a:t>mentioned, he would then mention </a:t>
            </a:r>
            <a:r>
              <a:rPr dirty="0" sz="1200">
                <a:latin typeface="Arial"/>
                <a:cs typeface="Arial"/>
              </a:rPr>
              <a:t>his </a:t>
            </a:r>
            <a:r>
              <a:rPr dirty="0" sz="1200" spc="-5">
                <a:latin typeface="Arial"/>
                <a:cs typeface="Arial"/>
              </a:rPr>
              <a:t>proper name and vice</a:t>
            </a:r>
            <a:r>
              <a:rPr dirty="0" sz="1200" spc="-35">
                <a:latin typeface="Arial"/>
                <a:cs typeface="Arial"/>
              </a:rPr>
              <a:t> </a:t>
            </a:r>
            <a:r>
              <a:rPr dirty="0" sz="1200" spc="-5">
                <a:latin typeface="Arial"/>
                <a:cs typeface="Arial"/>
              </a:rPr>
              <a:t>versa.</a:t>
            </a:r>
            <a:endParaRPr sz="1200">
              <a:latin typeface="Arial"/>
              <a:cs typeface="Arial"/>
            </a:endParaRPr>
          </a:p>
          <a:p>
            <a:pPr marL="12700" marR="5715">
              <a:lnSpc>
                <a:spcPts val="1390"/>
              </a:lnSpc>
              <a:spcBef>
                <a:spcPts val="990"/>
              </a:spcBef>
              <a:buAutoNum type="arabicPeriod"/>
              <a:tabLst>
                <a:tab pos="200025" algn="l"/>
              </a:tabLst>
            </a:pPr>
            <a:r>
              <a:rPr dirty="0" sz="1200">
                <a:latin typeface="Arial"/>
                <a:cs typeface="Arial"/>
              </a:rPr>
              <a:t>One </a:t>
            </a:r>
            <a:r>
              <a:rPr dirty="0" sz="1200" spc="-5">
                <a:latin typeface="Arial"/>
                <a:cs typeface="Arial"/>
              </a:rPr>
              <a:t>hadith in Tirmidhi is a </a:t>
            </a:r>
            <a:r>
              <a:rPr dirty="0" sz="1200" spc="-5" i="1">
                <a:latin typeface="Arial"/>
                <a:cs typeface="Arial"/>
              </a:rPr>
              <a:t>thulaathiyaat </a:t>
            </a:r>
            <a:r>
              <a:rPr dirty="0" sz="1200" spc="-5">
                <a:latin typeface="Arial"/>
                <a:cs typeface="Arial"/>
              </a:rPr>
              <a:t>i.e. the </a:t>
            </a:r>
            <a:r>
              <a:rPr dirty="0" sz="1200">
                <a:latin typeface="Arial"/>
                <a:cs typeface="Arial"/>
              </a:rPr>
              <a:t>transmitters </a:t>
            </a:r>
            <a:r>
              <a:rPr dirty="0" sz="1200" spc="-5">
                <a:latin typeface="Arial"/>
                <a:cs typeface="Arial"/>
              </a:rPr>
              <a:t>of </a:t>
            </a:r>
            <a:r>
              <a:rPr dirty="0" sz="1200">
                <a:latin typeface="Arial"/>
                <a:cs typeface="Arial"/>
              </a:rPr>
              <a:t>the </a:t>
            </a:r>
            <a:r>
              <a:rPr dirty="0" sz="1200" spc="-5">
                <a:latin typeface="Arial"/>
                <a:cs typeface="Arial"/>
              </a:rPr>
              <a:t>hadith betwen Imam  Tirmidhi and the Prophet </a:t>
            </a:r>
            <a:r>
              <a:rPr dirty="0" sz="1200">
                <a:latin typeface="Arial"/>
                <a:cs typeface="Arial"/>
              </a:rPr>
              <a:t>(s) are </a:t>
            </a:r>
            <a:r>
              <a:rPr dirty="0" sz="1200" spc="-5">
                <a:latin typeface="Arial"/>
                <a:cs typeface="Arial"/>
              </a:rPr>
              <a:t>only</a:t>
            </a:r>
            <a:r>
              <a:rPr dirty="0" sz="1200" spc="-10">
                <a:latin typeface="Arial"/>
                <a:cs typeface="Arial"/>
              </a:rPr>
              <a:t> </a:t>
            </a:r>
            <a:r>
              <a:rPr dirty="0" sz="1200">
                <a:latin typeface="Arial"/>
                <a:cs typeface="Arial"/>
              </a:rPr>
              <a:t>three.</a:t>
            </a:r>
            <a:endParaRPr sz="1200">
              <a:latin typeface="Arial"/>
              <a:cs typeface="Arial"/>
            </a:endParaRPr>
          </a:p>
          <a:p>
            <a:pPr marL="182880" indent="-170815">
              <a:lnSpc>
                <a:spcPct val="100000"/>
              </a:lnSpc>
              <a:spcBef>
                <a:spcPts val="885"/>
              </a:spcBef>
              <a:buAutoNum type="arabicPeriod"/>
              <a:tabLst>
                <a:tab pos="183515" algn="l"/>
              </a:tabLst>
            </a:pPr>
            <a:r>
              <a:rPr dirty="0" sz="1200" spc="-5">
                <a:latin typeface="Arial"/>
                <a:cs typeface="Arial"/>
              </a:rPr>
              <a:t>Every </a:t>
            </a:r>
            <a:r>
              <a:rPr dirty="0" sz="1200">
                <a:latin typeface="Arial"/>
                <a:cs typeface="Arial"/>
              </a:rPr>
              <a:t>hadith </a:t>
            </a:r>
            <a:r>
              <a:rPr dirty="0" sz="1200" spc="-5">
                <a:latin typeface="Arial"/>
                <a:cs typeface="Arial"/>
              </a:rPr>
              <a:t>in Tirmidhi </a:t>
            </a:r>
            <a:r>
              <a:rPr dirty="0" sz="1200" spc="-5" i="1">
                <a:latin typeface="Arial"/>
                <a:cs typeface="Arial"/>
              </a:rPr>
              <a:t>al-Jami` </a:t>
            </a:r>
            <a:r>
              <a:rPr dirty="0" sz="1200" spc="-5">
                <a:latin typeface="Arial"/>
                <a:cs typeface="Arial"/>
              </a:rPr>
              <a:t>is "</a:t>
            </a:r>
            <a:r>
              <a:rPr dirty="0" sz="1200" spc="-5" i="1">
                <a:latin typeface="Arial"/>
                <a:cs typeface="Arial"/>
              </a:rPr>
              <a:t>ma'mul </a:t>
            </a:r>
            <a:r>
              <a:rPr dirty="0" sz="1200" i="1">
                <a:latin typeface="Arial"/>
                <a:cs typeface="Arial"/>
              </a:rPr>
              <a:t>bihi</a:t>
            </a:r>
            <a:r>
              <a:rPr dirty="0" sz="1200">
                <a:latin typeface="Arial"/>
                <a:cs typeface="Arial"/>
              </a:rPr>
              <a:t>" </a:t>
            </a:r>
            <a:r>
              <a:rPr dirty="0" sz="1200" spc="-5">
                <a:latin typeface="Arial"/>
                <a:cs typeface="Arial"/>
              </a:rPr>
              <a:t>(practised upon by the</a:t>
            </a:r>
            <a:r>
              <a:rPr dirty="0" sz="1200" spc="45">
                <a:latin typeface="Arial"/>
                <a:cs typeface="Arial"/>
              </a:rPr>
              <a:t> </a:t>
            </a:r>
            <a:r>
              <a:rPr dirty="0" sz="1200" spc="-5">
                <a:latin typeface="Arial"/>
                <a:cs typeface="Arial"/>
              </a:rPr>
              <a:t>jurists.)</a:t>
            </a:r>
            <a:endParaRPr sz="1200">
              <a:latin typeface="Arial"/>
              <a:cs typeface="Arial"/>
            </a:endParaRPr>
          </a:p>
          <a:p>
            <a:pPr marL="182880" indent="-170815">
              <a:lnSpc>
                <a:spcPct val="100000"/>
              </a:lnSpc>
              <a:spcBef>
                <a:spcPts val="960"/>
              </a:spcBef>
              <a:buAutoNum type="arabicPeriod"/>
              <a:tabLst>
                <a:tab pos="183515" algn="l"/>
              </a:tabLst>
            </a:pPr>
            <a:r>
              <a:rPr dirty="0" sz="1200" spc="-5">
                <a:latin typeface="Arial"/>
                <a:cs typeface="Arial"/>
              </a:rPr>
              <a:t>He explains the different madhahib together with their</a:t>
            </a:r>
            <a:r>
              <a:rPr dirty="0" sz="1200" spc="5">
                <a:latin typeface="Arial"/>
                <a:cs typeface="Arial"/>
              </a:rPr>
              <a:t> </a:t>
            </a:r>
            <a:r>
              <a:rPr dirty="0" sz="1200" spc="-5">
                <a:latin typeface="Arial"/>
                <a:cs typeface="Arial"/>
              </a:rPr>
              <a:t>proofs.</a:t>
            </a:r>
            <a:endParaRPr sz="1200">
              <a:latin typeface="Arial"/>
              <a:cs typeface="Arial"/>
            </a:endParaRPr>
          </a:p>
          <a:p>
            <a:pPr marL="182880" indent="-170815">
              <a:lnSpc>
                <a:spcPct val="100000"/>
              </a:lnSpc>
              <a:spcBef>
                <a:spcPts val="940"/>
              </a:spcBef>
              <a:buAutoNum type="arabicPeriod"/>
              <a:tabLst>
                <a:tab pos="183515" algn="l"/>
              </a:tabLst>
            </a:pPr>
            <a:r>
              <a:rPr dirty="0" sz="1200" spc="-5">
                <a:latin typeface="Arial"/>
                <a:cs typeface="Arial"/>
              </a:rPr>
              <a:t>He </a:t>
            </a:r>
            <a:r>
              <a:rPr dirty="0" sz="1200" spc="-10">
                <a:latin typeface="Arial"/>
                <a:cs typeface="Arial"/>
              </a:rPr>
              <a:t>gives </a:t>
            </a:r>
            <a:r>
              <a:rPr dirty="0" sz="1200">
                <a:latin typeface="Arial"/>
                <a:cs typeface="Arial"/>
              </a:rPr>
              <a:t>an </a:t>
            </a:r>
            <a:r>
              <a:rPr dirty="0" sz="1200" spc="-5">
                <a:latin typeface="Arial"/>
                <a:cs typeface="Arial"/>
              </a:rPr>
              <a:t>explanation to </a:t>
            </a:r>
            <a:r>
              <a:rPr dirty="0" sz="1200">
                <a:latin typeface="Arial"/>
                <a:cs typeface="Arial"/>
              </a:rPr>
              <a:t>all </a:t>
            </a:r>
            <a:r>
              <a:rPr dirty="0" sz="1200" spc="-5">
                <a:latin typeface="Arial"/>
                <a:cs typeface="Arial"/>
              </a:rPr>
              <a:t>difficult</a:t>
            </a:r>
            <a:r>
              <a:rPr dirty="0" sz="1200" spc="20">
                <a:latin typeface="Arial"/>
                <a:cs typeface="Arial"/>
              </a:rPr>
              <a:t> </a:t>
            </a:r>
            <a:r>
              <a:rPr dirty="0" sz="1200" spc="-5">
                <a:latin typeface="Arial"/>
                <a:cs typeface="Arial"/>
              </a:rPr>
              <a:t>ahadith.</a:t>
            </a:r>
            <a:endParaRPr sz="1200">
              <a:latin typeface="Arial"/>
              <a:cs typeface="Arial"/>
            </a:endParaRPr>
          </a:p>
          <a:p>
            <a:pPr marL="12700" marR="8255">
              <a:lnSpc>
                <a:spcPts val="1380"/>
              </a:lnSpc>
              <a:spcBef>
                <a:spcPts val="1035"/>
              </a:spcBef>
              <a:buAutoNum type="arabicPeriod"/>
              <a:tabLst>
                <a:tab pos="283845" algn="l"/>
              </a:tabLst>
            </a:pPr>
            <a:r>
              <a:rPr dirty="0" sz="1200" spc="-5">
                <a:latin typeface="Arial"/>
                <a:cs typeface="Arial"/>
              </a:rPr>
              <a:t>His book has </a:t>
            </a:r>
            <a:r>
              <a:rPr dirty="0" sz="1200" spc="-10">
                <a:latin typeface="Arial"/>
                <a:cs typeface="Arial"/>
              </a:rPr>
              <a:t>been </a:t>
            </a:r>
            <a:r>
              <a:rPr dirty="0" sz="1200">
                <a:latin typeface="Arial"/>
                <a:cs typeface="Arial"/>
              </a:rPr>
              <a:t>set </a:t>
            </a:r>
            <a:r>
              <a:rPr dirty="0" sz="1200" spc="-5">
                <a:latin typeface="Arial"/>
                <a:cs typeface="Arial"/>
              </a:rPr>
              <a:t>out in </a:t>
            </a:r>
            <a:r>
              <a:rPr dirty="0" sz="1200" spc="-10">
                <a:latin typeface="Arial"/>
                <a:cs typeface="Arial"/>
              </a:rPr>
              <a:t>an </a:t>
            </a:r>
            <a:r>
              <a:rPr dirty="0" sz="1200" spc="-5">
                <a:latin typeface="Arial"/>
                <a:cs typeface="Arial"/>
              </a:rPr>
              <a:t>excellent sequence, hence </a:t>
            </a:r>
            <a:r>
              <a:rPr dirty="0" sz="1200">
                <a:latin typeface="Arial"/>
                <a:cs typeface="Arial"/>
              </a:rPr>
              <a:t>to look for </a:t>
            </a:r>
            <a:r>
              <a:rPr dirty="0" sz="1200" spc="-5">
                <a:latin typeface="Arial"/>
                <a:cs typeface="Arial"/>
              </a:rPr>
              <a:t>a hadith is very  easy.</a:t>
            </a:r>
            <a:endParaRPr sz="1200">
              <a:latin typeface="Arial"/>
              <a:cs typeface="Arial"/>
            </a:endParaRPr>
          </a:p>
          <a:p>
            <a:pPr marL="266700" indent="-254635">
              <a:lnSpc>
                <a:spcPct val="100000"/>
              </a:lnSpc>
              <a:spcBef>
                <a:spcPts val="910"/>
              </a:spcBef>
              <a:buAutoNum type="arabicPeriod"/>
              <a:tabLst>
                <a:tab pos="267335" algn="l"/>
              </a:tabLst>
            </a:pPr>
            <a:r>
              <a:rPr dirty="0" sz="1200" spc="-5">
                <a:latin typeface="Arial"/>
                <a:cs typeface="Arial"/>
              </a:rPr>
              <a:t>There is no fabricated hadith in the entire</a:t>
            </a:r>
            <a:r>
              <a:rPr dirty="0" sz="1200" spc="-10">
                <a:latin typeface="Arial"/>
                <a:cs typeface="Arial"/>
              </a:rPr>
              <a:t> </a:t>
            </a:r>
            <a:r>
              <a:rPr dirty="0" sz="1200" spc="-5">
                <a:latin typeface="Arial"/>
                <a:cs typeface="Arial"/>
              </a:rPr>
              <a:t>book.</a:t>
            </a:r>
            <a:endParaRPr sz="1200">
              <a:latin typeface="Arial"/>
              <a:cs typeface="Arial"/>
            </a:endParaRPr>
          </a:p>
          <a:p>
            <a:pPr algn="just" marL="12700">
              <a:lnSpc>
                <a:spcPct val="100000"/>
              </a:lnSpc>
              <a:spcBef>
                <a:spcPts val="935"/>
              </a:spcBef>
            </a:pPr>
            <a:r>
              <a:rPr dirty="0" u="heavy" sz="1200" spc="-5" b="1" i="1">
                <a:uFill>
                  <a:solidFill>
                    <a:srgbClr val="000000"/>
                  </a:solidFill>
                </a:uFill>
                <a:latin typeface="Arial"/>
                <a:cs typeface="Arial"/>
              </a:rPr>
              <a:t>The conditions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Imam </a:t>
            </a:r>
            <a:r>
              <a:rPr dirty="0" u="heavy" sz="1200" b="1" i="1">
                <a:uFill>
                  <a:solidFill>
                    <a:srgbClr val="000000"/>
                  </a:solidFill>
                </a:uFill>
                <a:latin typeface="Arial"/>
                <a:cs typeface="Arial"/>
              </a:rPr>
              <a:t>Tirmidhi in </a:t>
            </a:r>
            <a:r>
              <a:rPr dirty="0" u="heavy" sz="1200" spc="-5" b="1" i="1">
                <a:uFill>
                  <a:solidFill>
                    <a:srgbClr val="000000"/>
                  </a:solidFill>
                </a:uFill>
                <a:latin typeface="Arial"/>
                <a:cs typeface="Arial"/>
              </a:rPr>
              <a:t>the selection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a:t>
            </a:r>
            <a:r>
              <a:rPr dirty="0" u="heavy" sz="1200" b="1" i="1">
                <a:uFill>
                  <a:solidFill>
                    <a:srgbClr val="000000"/>
                  </a:solidFill>
                </a:uFill>
                <a:latin typeface="Arial"/>
                <a:cs typeface="Arial"/>
              </a:rPr>
              <a:t>hadith</a:t>
            </a:r>
            <a:endParaRPr sz="1200">
              <a:latin typeface="Arial"/>
              <a:cs typeface="Arial"/>
            </a:endParaRPr>
          </a:p>
          <a:p>
            <a:pPr algn="just" marL="12700" marR="5715">
              <a:lnSpc>
                <a:spcPts val="1380"/>
              </a:lnSpc>
              <a:spcBef>
                <a:spcPts val="1035"/>
              </a:spcBef>
            </a:pPr>
            <a:r>
              <a:rPr dirty="0" sz="1200" spc="-5">
                <a:latin typeface="Arial"/>
                <a:cs typeface="Arial"/>
              </a:rPr>
              <a:t>According </a:t>
            </a:r>
            <a:r>
              <a:rPr dirty="0" sz="1200">
                <a:latin typeface="Arial"/>
                <a:cs typeface="Arial"/>
              </a:rPr>
              <a:t>to the </a:t>
            </a:r>
            <a:r>
              <a:rPr dirty="0" sz="1200" spc="-5">
                <a:latin typeface="Arial"/>
                <a:cs typeface="Arial"/>
              </a:rPr>
              <a:t>commentators of </a:t>
            </a:r>
            <a:r>
              <a:rPr dirty="0" sz="1200">
                <a:latin typeface="Arial"/>
                <a:cs typeface="Arial"/>
              </a:rPr>
              <a:t>Al-Jami </a:t>
            </a:r>
            <a:r>
              <a:rPr dirty="0" sz="1200" spc="-5">
                <a:latin typeface="Arial"/>
                <a:cs typeface="Arial"/>
              </a:rPr>
              <a:t>Imam Tirmidhi maintained </a:t>
            </a:r>
            <a:r>
              <a:rPr dirty="0" sz="1200">
                <a:latin typeface="Arial"/>
                <a:cs typeface="Arial"/>
              </a:rPr>
              <a:t>the </a:t>
            </a:r>
            <a:r>
              <a:rPr dirty="0" sz="1200" spc="-5">
                <a:latin typeface="Arial"/>
                <a:cs typeface="Arial"/>
              </a:rPr>
              <a:t>following </a:t>
            </a:r>
            <a:r>
              <a:rPr dirty="0" sz="1200">
                <a:latin typeface="Arial"/>
                <a:cs typeface="Arial"/>
              </a:rPr>
              <a:t>conditions  </a:t>
            </a:r>
            <a:r>
              <a:rPr dirty="0" sz="1200" spc="-5">
                <a:latin typeface="Arial"/>
                <a:cs typeface="Arial"/>
              </a:rPr>
              <a:t>throughout the compilation of his</a:t>
            </a:r>
            <a:r>
              <a:rPr dirty="0" sz="1200">
                <a:latin typeface="Arial"/>
                <a:cs typeface="Arial"/>
              </a:rPr>
              <a:t> </a:t>
            </a:r>
            <a:r>
              <a:rPr dirty="0" sz="1200" spc="-5">
                <a:latin typeface="Arial"/>
                <a:cs typeface="Arial"/>
              </a:rPr>
              <a:t>book.</a:t>
            </a:r>
            <a:endParaRPr sz="1200">
              <a:latin typeface="Arial"/>
              <a:cs typeface="Arial"/>
            </a:endParaRPr>
          </a:p>
          <a:p>
            <a:pPr marL="182880" indent="-170815">
              <a:lnSpc>
                <a:spcPct val="100000"/>
              </a:lnSpc>
              <a:spcBef>
                <a:spcPts val="900"/>
              </a:spcBef>
              <a:buAutoNum type="arabicPeriod"/>
              <a:tabLst>
                <a:tab pos="183515" algn="l"/>
              </a:tabLst>
            </a:pPr>
            <a:r>
              <a:rPr dirty="0" sz="1200" spc="-5">
                <a:latin typeface="Arial"/>
                <a:cs typeface="Arial"/>
              </a:rPr>
              <a:t>He never </a:t>
            </a:r>
            <a:r>
              <a:rPr dirty="0" sz="1200">
                <a:latin typeface="Arial"/>
                <a:cs typeface="Arial"/>
              </a:rPr>
              <a:t>narrated </a:t>
            </a:r>
            <a:r>
              <a:rPr dirty="0" sz="1200" spc="-5">
                <a:latin typeface="Arial"/>
                <a:cs typeface="Arial"/>
              </a:rPr>
              <a:t>hadith from those </a:t>
            </a:r>
            <a:r>
              <a:rPr dirty="0" sz="1200" spc="-10">
                <a:latin typeface="Arial"/>
                <a:cs typeface="Arial"/>
              </a:rPr>
              <a:t>who </a:t>
            </a:r>
            <a:r>
              <a:rPr dirty="0" sz="1200" spc="-5">
                <a:latin typeface="Arial"/>
                <a:cs typeface="Arial"/>
              </a:rPr>
              <a:t>fabricated</a:t>
            </a:r>
            <a:r>
              <a:rPr dirty="0" sz="1200" spc="5">
                <a:latin typeface="Arial"/>
                <a:cs typeface="Arial"/>
              </a:rPr>
              <a:t> </a:t>
            </a:r>
            <a:r>
              <a:rPr dirty="0" sz="1200" spc="-5">
                <a:latin typeface="Arial"/>
                <a:cs typeface="Arial"/>
              </a:rPr>
              <a:t>hadith.</a:t>
            </a:r>
            <a:endParaRPr sz="1200">
              <a:latin typeface="Arial"/>
              <a:cs typeface="Arial"/>
            </a:endParaRPr>
          </a:p>
          <a:p>
            <a:pPr marL="182880" indent="-170815">
              <a:lnSpc>
                <a:spcPct val="100000"/>
              </a:lnSpc>
              <a:spcBef>
                <a:spcPts val="935"/>
              </a:spcBef>
              <a:buAutoNum type="arabicPeriod"/>
              <a:tabLst>
                <a:tab pos="183515" algn="l"/>
              </a:tabLst>
            </a:pPr>
            <a:r>
              <a:rPr dirty="0" sz="1200" spc="-5">
                <a:latin typeface="Arial"/>
                <a:cs typeface="Arial"/>
              </a:rPr>
              <a:t>Allama </a:t>
            </a:r>
            <a:r>
              <a:rPr dirty="0" sz="1200">
                <a:latin typeface="Arial"/>
                <a:cs typeface="Arial"/>
              </a:rPr>
              <a:t>Tahir </a:t>
            </a:r>
            <a:r>
              <a:rPr dirty="0" sz="1200" spc="-5">
                <a:latin typeface="Arial"/>
                <a:cs typeface="Arial"/>
              </a:rPr>
              <a:t>Muqaddisi mentions that </a:t>
            </a:r>
            <a:r>
              <a:rPr dirty="0" sz="1200" spc="-5" i="1">
                <a:latin typeface="Arial"/>
                <a:cs typeface="Arial"/>
              </a:rPr>
              <a:t>al-Jami` ut-Tirmidhi </a:t>
            </a:r>
            <a:r>
              <a:rPr dirty="0" sz="1200" spc="-5">
                <a:latin typeface="Arial"/>
                <a:cs typeface="Arial"/>
              </a:rPr>
              <a:t>contains </a:t>
            </a:r>
            <a:r>
              <a:rPr dirty="0" sz="1200">
                <a:latin typeface="Arial"/>
                <a:cs typeface="Arial"/>
              </a:rPr>
              <a:t>four </a:t>
            </a:r>
            <a:r>
              <a:rPr dirty="0" sz="1200" spc="-5">
                <a:latin typeface="Arial"/>
                <a:cs typeface="Arial"/>
              </a:rPr>
              <a:t>types of</a:t>
            </a:r>
            <a:r>
              <a:rPr dirty="0" sz="1200" spc="80">
                <a:latin typeface="Arial"/>
                <a:cs typeface="Arial"/>
              </a:rPr>
              <a:t> </a:t>
            </a:r>
            <a:r>
              <a:rPr dirty="0" sz="1200" spc="-5">
                <a:latin typeface="Arial"/>
                <a:cs typeface="Arial"/>
              </a:rPr>
              <a:t>hadith:</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124</a:t>
            </a:r>
            <a:endParaRPr sz="1200">
              <a:latin typeface="Times New Roman"/>
              <a:cs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2535" cy="936625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469900" indent="-229235">
              <a:lnSpc>
                <a:spcPct val="100000"/>
              </a:lnSpc>
              <a:spcBef>
                <a:spcPts val="5"/>
              </a:spcBef>
              <a:buAutoNum type="alphaLcParenR"/>
              <a:tabLst>
                <a:tab pos="470534" algn="l"/>
              </a:tabLst>
            </a:pPr>
            <a:r>
              <a:rPr dirty="0" sz="1200" spc="-5">
                <a:latin typeface="Arial"/>
                <a:cs typeface="Arial"/>
              </a:rPr>
              <a:t>Those ahadith that conform with the conditions of Bukhari and</a:t>
            </a:r>
            <a:r>
              <a:rPr dirty="0" sz="1200" spc="20">
                <a:latin typeface="Arial"/>
                <a:cs typeface="Arial"/>
              </a:rPr>
              <a:t> </a:t>
            </a:r>
            <a:r>
              <a:rPr dirty="0" sz="1200">
                <a:latin typeface="Arial"/>
                <a:cs typeface="Arial"/>
              </a:rPr>
              <a:t>Muslim.</a:t>
            </a:r>
            <a:endParaRPr sz="1200">
              <a:latin typeface="Arial"/>
              <a:cs typeface="Arial"/>
            </a:endParaRPr>
          </a:p>
          <a:p>
            <a:pPr marL="469900" indent="-229235">
              <a:lnSpc>
                <a:spcPct val="100000"/>
              </a:lnSpc>
              <a:spcBef>
                <a:spcPts val="935"/>
              </a:spcBef>
              <a:buAutoNum type="alphaLcParenR"/>
              <a:tabLst>
                <a:tab pos="470534" algn="l"/>
              </a:tabLst>
            </a:pPr>
            <a:r>
              <a:rPr dirty="0" sz="1200" spc="-5">
                <a:latin typeface="Arial"/>
                <a:cs typeface="Arial"/>
              </a:rPr>
              <a:t>Those ahadith that conform with the conditions of Abu Dawud and</a:t>
            </a:r>
            <a:r>
              <a:rPr dirty="0" sz="1200" spc="75">
                <a:latin typeface="Arial"/>
                <a:cs typeface="Arial"/>
              </a:rPr>
              <a:t> </a:t>
            </a:r>
            <a:r>
              <a:rPr dirty="0" sz="1200" spc="-5">
                <a:latin typeface="Arial"/>
                <a:cs typeface="Arial"/>
              </a:rPr>
              <a:t>Nasa'i.</a:t>
            </a:r>
            <a:endParaRPr sz="1200">
              <a:latin typeface="Arial"/>
              <a:cs typeface="Arial"/>
            </a:endParaRPr>
          </a:p>
          <a:p>
            <a:pPr marL="469900" indent="-229235">
              <a:lnSpc>
                <a:spcPct val="100000"/>
              </a:lnSpc>
              <a:spcBef>
                <a:spcPts val="935"/>
              </a:spcBef>
              <a:buAutoNum type="alphaLcParenR"/>
              <a:tabLst>
                <a:tab pos="470534" algn="l"/>
              </a:tabLst>
            </a:pPr>
            <a:r>
              <a:rPr dirty="0" sz="1200" spc="-5">
                <a:latin typeface="Arial"/>
                <a:cs typeface="Arial"/>
              </a:rPr>
              <a:t>Those ahadith that </a:t>
            </a:r>
            <a:r>
              <a:rPr dirty="0" sz="1200" spc="-10">
                <a:latin typeface="Arial"/>
                <a:cs typeface="Arial"/>
              </a:rPr>
              <a:t>have </a:t>
            </a:r>
            <a:r>
              <a:rPr dirty="0" sz="1200">
                <a:latin typeface="Arial"/>
                <a:cs typeface="Arial"/>
              </a:rPr>
              <a:t>certain </a:t>
            </a:r>
            <a:r>
              <a:rPr dirty="0" sz="1200" spc="-5">
                <a:latin typeface="Arial"/>
                <a:cs typeface="Arial"/>
              </a:rPr>
              <a:t>discrepancies </a:t>
            </a:r>
            <a:r>
              <a:rPr dirty="0" sz="1200">
                <a:latin typeface="Arial"/>
                <a:cs typeface="Arial"/>
              </a:rPr>
              <a:t>either </a:t>
            </a:r>
            <a:r>
              <a:rPr dirty="0" sz="1200" spc="-5">
                <a:latin typeface="Arial"/>
                <a:cs typeface="Arial"/>
              </a:rPr>
              <a:t>in the </a:t>
            </a:r>
            <a:r>
              <a:rPr dirty="0" sz="1200" spc="-5" i="1">
                <a:latin typeface="Arial"/>
                <a:cs typeface="Arial"/>
              </a:rPr>
              <a:t>sanad </a:t>
            </a:r>
            <a:r>
              <a:rPr dirty="0" sz="1200" spc="-5">
                <a:latin typeface="Arial"/>
                <a:cs typeface="Arial"/>
              </a:rPr>
              <a:t>or</a:t>
            </a:r>
            <a:r>
              <a:rPr dirty="0" sz="1200" spc="40">
                <a:latin typeface="Arial"/>
                <a:cs typeface="Arial"/>
              </a:rPr>
              <a:t> </a:t>
            </a:r>
            <a:r>
              <a:rPr dirty="0" sz="1200" spc="-5" i="1">
                <a:latin typeface="Arial"/>
                <a:cs typeface="Arial"/>
              </a:rPr>
              <a:t>matan</a:t>
            </a:r>
            <a:r>
              <a:rPr dirty="0" sz="1200" spc="-5">
                <a:latin typeface="Arial"/>
                <a:cs typeface="Arial"/>
              </a:rPr>
              <a:t>.</a:t>
            </a:r>
            <a:endParaRPr sz="1200">
              <a:latin typeface="Arial"/>
              <a:cs typeface="Arial"/>
            </a:endParaRPr>
          </a:p>
          <a:p>
            <a:pPr marL="469900" indent="-229235">
              <a:lnSpc>
                <a:spcPct val="100000"/>
              </a:lnSpc>
              <a:spcBef>
                <a:spcPts val="940"/>
              </a:spcBef>
              <a:buAutoNum type="alphaLcParenR"/>
              <a:tabLst>
                <a:tab pos="470534" algn="l"/>
              </a:tabLst>
            </a:pPr>
            <a:r>
              <a:rPr dirty="0" sz="1200" spc="-5">
                <a:latin typeface="Arial"/>
                <a:cs typeface="Arial"/>
              </a:rPr>
              <a:t>Those weak hadith that some </a:t>
            </a:r>
            <a:r>
              <a:rPr dirty="0" sz="1200" spc="-5" i="1">
                <a:latin typeface="Arial"/>
                <a:cs typeface="Arial"/>
              </a:rPr>
              <a:t>fuqaha </a:t>
            </a:r>
            <a:r>
              <a:rPr dirty="0" sz="1200" spc="-5">
                <a:latin typeface="Arial"/>
                <a:cs typeface="Arial"/>
              </a:rPr>
              <a:t>have relied</a:t>
            </a:r>
            <a:r>
              <a:rPr dirty="0" sz="1200" spc="50">
                <a:latin typeface="Arial"/>
                <a:cs typeface="Arial"/>
              </a:rPr>
              <a:t> </a:t>
            </a:r>
            <a:r>
              <a:rPr dirty="0" sz="1200" spc="-5">
                <a:latin typeface="Arial"/>
                <a:cs typeface="Arial"/>
              </a:rPr>
              <a:t>on.</a:t>
            </a:r>
            <a:endParaRPr sz="1200">
              <a:latin typeface="Arial"/>
              <a:cs typeface="Arial"/>
            </a:endParaRPr>
          </a:p>
          <a:p>
            <a:pPr marL="12700" marR="13335">
              <a:lnSpc>
                <a:spcPts val="1380"/>
              </a:lnSpc>
              <a:spcBef>
                <a:spcPts val="1040"/>
              </a:spcBef>
              <a:buAutoNum type="arabicPeriod" startAt="3"/>
              <a:tabLst>
                <a:tab pos="203200" algn="l"/>
              </a:tabLst>
            </a:pPr>
            <a:r>
              <a:rPr dirty="0" sz="1200" spc="-5">
                <a:latin typeface="Arial"/>
                <a:cs typeface="Arial"/>
              </a:rPr>
              <a:t>Imam Tirmidhi accepts a hadith which is narrated with </a:t>
            </a:r>
            <a:r>
              <a:rPr dirty="0" sz="1200">
                <a:latin typeface="Arial"/>
                <a:cs typeface="Arial"/>
              </a:rPr>
              <a:t>the </a:t>
            </a:r>
            <a:r>
              <a:rPr dirty="0" sz="1200" spc="-5">
                <a:latin typeface="Arial"/>
                <a:cs typeface="Arial"/>
              </a:rPr>
              <a:t>word "a'n" provided both </a:t>
            </a:r>
            <a:r>
              <a:rPr dirty="0" sz="1200">
                <a:latin typeface="Arial"/>
                <a:cs typeface="Arial"/>
              </a:rPr>
              <a:t>the  </a:t>
            </a:r>
            <a:r>
              <a:rPr dirty="0" sz="1200" spc="-5">
                <a:latin typeface="Arial"/>
                <a:cs typeface="Arial"/>
              </a:rPr>
              <a:t>narrators are</a:t>
            </a:r>
            <a:r>
              <a:rPr dirty="0" sz="1200" spc="5">
                <a:latin typeface="Arial"/>
                <a:cs typeface="Arial"/>
              </a:rPr>
              <a:t> </a:t>
            </a:r>
            <a:r>
              <a:rPr dirty="0" sz="1200" spc="-5">
                <a:latin typeface="Arial"/>
                <a:cs typeface="Arial"/>
              </a:rPr>
              <a:t>contemporaries.</a:t>
            </a:r>
            <a:endParaRPr sz="1200">
              <a:latin typeface="Arial"/>
              <a:cs typeface="Arial"/>
            </a:endParaRPr>
          </a:p>
          <a:p>
            <a:pPr marL="182880" indent="-170815">
              <a:lnSpc>
                <a:spcPct val="100000"/>
              </a:lnSpc>
              <a:spcBef>
                <a:spcPts val="915"/>
              </a:spcBef>
              <a:buAutoNum type="arabicPeriod" startAt="3"/>
              <a:tabLst>
                <a:tab pos="183515" algn="l"/>
              </a:tabLst>
            </a:pPr>
            <a:r>
              <a:rPr dirty="0" sz="1200" spc="-5">
                <a:latin typeface="Arial"/>
                <a:cs typeface="Arial"/>
              </a:rPr>
              <a:t>After mentioning a weak hadith, </a:t>
            </a:r>
            <a:r>
              <a:rPr dirty="0" sz="1200" spc="-10">
                <a:latin typeface="Arial"/>
                <a:cs typeface="Arial"/>
              </a:rPr>
              <a:t>he </a:t>
            </a:r>
            <a:r>
              <a:rPr dirty="0" sz="1200" spc="-5">
                <a:latin typeface="Arial"/>
                <a:cs typeface="Arial"/>
              </a:rPr>
              <a:t>explains the state of </a:t>
            </a:r>
            <a:r>
              <a:rPr dirty="0" sz="1200">
                <a:latin typeface="Arial"/>
                <a:cs typeface="Arial"/>
              </a:rPr>
              <a:t>its</a:t>
            </a:r>
            <a:r>
              <a:rPr dirty="0" sz="1200" spc="40">
                <a:latin typeface="Arial"/>
                <a:cs typeface="Arial"/>
              </a:rPr>
              <a:t> </a:t>
            </a:r>
            <a:r>
              <a:rPr dirty="0" sz="1200" spc="-5">
                <a:latin typeface="Arial"/>
                <a:cs typeface="Arial"/>
              </a:rPr>
              <a:t>weakness.</a:t>
            </a:r>
            <a:endParaRPr sz="1200">
              <a:latin typeface="Arial"/>
              <a:cs typeface="Arial"/>
            </a:endParaRPr>
          </a:p>
          <a:p>
            <a:pPr marL="12700" marR="12065">
              <a:lnSpc>
                <a:spcPts val="1390"/>
              </a:lnSpc>
              <a:spcBef>
                <a:spcPts val="1010"/>
              </a:spcBef>
              <a:buAutoNum type="arabicPeriod" startAt="3"/>
              <a:tabLst>
                <a:tab pos="187960" algn="l"/>
              </a:tabLst>
            </a:pPr>
            <a:r>
              <a:rPr dirty="0" sz="1200">
                <a:latin typeface="Arial"/>
                <a:cs typeface="Arial"/>
              </a:rPr>
              <a:t>A </a:t>
            </a:r>
            <a:r>
              <a:rPr dirty="0" sz="1200" spc="-5" i="1">
                <a:latin typeface="Arial"/>
                <a:cs typeface="Arial"/>
              </a:rPr>
              <a:t>mursal </a:t>
            </a:r>
            <a:r>
              <a:rPr dirty="0" sz="1200" spc="-5">
                <a:latin typeface="Arial"/>
                <a:cs typeface="Arial"/>
              </a:rPr>
              <a:t>hadith is accepted by Imam Tirmidhi when </a:t>
            </a:r>
            <a:r>
              <a:rPr dirty="0" sz="1200">
                <a:latin typeface="Arial"/>
                <a:cs typeface="Arial"/>
              </a:rPr>
              <a:t>it </a:t>
            </a:r>
            <a:r>
              <a:rPr dirty="0" sz="1200" spc="-5">
                <a:latin typeface="Arial"/>
                <a:cs typeface="Arial"/>
              </a:rPr>
              <a:t>is supported by a chain of narrators  which is not</a:t>
            </a:r>
            <a:r>
              <a:rPr dirty="0" sz="1200" spc="5">
                <a:latin typeface="Arial"/>
                <a:cs typeface="Arial"/>
              </a:rPr>
              <a:t> </a:t>
            </a:r>
            <a:r>
              <a:rPr dirty="0" sz="1200" spc="-5">
                <a:latin typeface="Arial"/>
                <a:cs typeface="Arial"/>
              </a:rPr>
              <a:t>broken.</a:t>
            </a:r>
            <a:endParaRPr sz="1200">
              <a:latin typeface="Arial"/>
              <a:cs typeface="Arial"/>
            </a:endParaRPr>
          </a:p>
          <a:p>
            <a:pPr algn="just" marL="12700" marR="5080">
              <a:lnSpc>
                <a:spcPct val="96000"/>
              </a:lnSpc>
              <a:spcBef>
                <a:spcPts val="950"/>
              </a:spcBef>
            </a:pPr>
            <a:r>
              <a:rPr dirty="0" sz="1200" spc="-5">
                <a:latin typeface="Arial"/>
                <a:cs typeface="Arial"/>
              </a:rPr>
              <a:t>The status of </a:t>
            </a:r>
            <a:r>
              <a:rPr dirty="0" sz="1200" spc="-5" i="1">
                <a:latin typeface="Arial"/>
                <a:cs typeface="Arial"/>
              </a:rPr>
              <a:t>al-Jami` ut-Tirmidhi </a:t>
            </a:r>
            <a:r>
              <a:rPr dirty="0" sz="1200">
                <a:latin typeface="Arial"/>
                <a:cs typeface="Arial"/>
              </a:rPr>
              <a:t>among the </a:t>
            </a:r>
            <a:r>
              <a:rPr dirty="0" sz="1200" spc="-5">
                <a:latin typeface="Arial"/>
                <a:cs typeface="Arial"/>
              </a:rPr>
              <a:t>six </a:t>
            </a:r>
            <a:r>
              <a:rPr dirty="0" sz="1200">
                <a:latin typeface="Arial"/>
                <a:cs typeface="Arial"/>
              </a:rPr>
              <a:t>authentic </a:t>
            </a:r>
            <a:r>
              <a:rPr dirty="0" sz="1200" spc="-5">
                <a:latin typeface="Arial"/>
                <a:cs typeface="Arial"/>
              </a:rPr>
              <a:t>books </a:t>
            </a:r>
            <a:r>
              <a:rPr dirty="0" sz="1200">
                <a:latin typeface="Arial"/>
                <a:cs typeface="Arial"/>
              </a:rPr>
              <a:t>of </a:t>
            </a:r>
            <a:r>
              <a:rPr dirty="0" sz="1200" spc="-5">
                <a:latin typeface="Arial"/>
                <a:cs typeface="Arial"/>
              </a:rPr>
              <a:t>hadith. </a:t>
            </a:r>
            <a:r>
              <a:rPr dirty="0" sz="1200" spc="-5" i="1">
                <a:latin typeface="Arial"/>
                <a:cs typeface="Arial"/>
              </a:rPr>
              <a:t>al-Jami` ut-  </a:t>
            </a:r>
            <a:r>
              <a:rPr dirty="0" sz="1200" spc="-5" i="1">
                <a:latin typeface="Arial"/>
                <a:cs typeface="Arial"/>
              </a:rPr>
              <a:t>Tirmidhi </a:t>
            </a:r>
            <a:r>
              <a:rPr dirty="0" sz="1200" spc="-5">
                <a:latin typeface="Arial"/>
                <a:cs typeface="Arial"/>
              </a:rPr>
              <a:t>has been </a:t>
            </a:r>
            <a:r>
              <a:rPr dirty="0" sz="1200" spc="-10">
                <a:latin typeface="Arial"/>
                <a:cs typeface="Arial"/>
              </a:rPr>
              <a:t>categorized </a:t>
            </a:r>
            <a:r>
              <a:rPr dirty="0" sz="1200" spc="-5">
                <a:latin typeface="Arial"/>
                <a:cs typeface="Arial"/>
              </a:rPr>
              <a:t>as fifth amongst the six most authentic books of hadith.  According </a:t>
            </a:r>
            <a:r>
              <a:rPr dirty="0" sz="1200">
                <a:latin typeface="Arial"/>
                <a:cs typeface="Arial"/>
              </a:rPr>
              <a:t>to the </a:t>
            </a:r>
            <a:r>
              <a:rPr dirty="0" sz="1200" spc="-5">
                <a:latin typeface="Arial"/>
                <a:cs typeface="Arial"/>
              </a:rPr>
              <a:t>most preferred opinion, Bukhari enjoys </a:t>
            </a:r>
            <a:r>
              <a:rPr dirty="0" sz="1200">
                <a:latin typeface="Arial"/>
                <a:cs typeface="Arial"/>
              </a:rPr>
              <a:t>the </a:t>
            </a:r>
            <a:r>
              <a:rPr dirty="0" sz="1200" spc="-5">
                <a:latin typeface="Arial"/>
                <a:cs typeface="Arial"/>
              </a:rPr>
              <a:t>highest </a:t>
            </a:r>
            <a:r>
              <a:rPr dirty="0" sz="1200">
                <a:latin typeface="Arial"/>
                <a:cs typeface="Arial"/>
              </a:rPr>
              <a:t>status, </a:t>
            </a:r>
            <a:r>
              <a:rPr dirty="0" sz="1200" spc="-5">
                <a:latin typeface="Arial"/>
                <a:cs typeface="Arial"/>
              </a:rPr>
              <a:t>followed by  Muslim, Abu Dawood, </a:t>
            </a:r>
            <a:r>
              <a:rPr dirty="0" sz="1200">
                <a:latin typeface="Arial"/>
                <a:cs typeface="Arial"/>
              </a:rPr>
              <a:t>Nasai, Tirmidhi </a:t>
            </a:r>
            <a:r>
              <a:rPr dirty="0" sz="1200" spc="-5">
                <a:latin typeface="Arial"/>
                <a:cs typeface="Arial"/>
              </a:rPr>
              <a:t>and Ibn Majah respectively. Haji Khalifa </a:t>
            </a:r>
            <a:r>
              <a:rPr dirty="0" sz="1200" spc="-10">
                <a:latin typeface="Arial"/>
                <a:cs typeface="Arial"/>
              </a:rPr>
              <a:t>in </a:t>
            </a:r>
            <a:r>
              <a:rPr dirty="0" sz="1200" spc="-5" i="1">
                <a:latin typeface="Arial"/>
                <a:cs typeface="Arial"/>
              </a:rPr>
              <a:t>al-Kashf al-  </a:t>
            </a:r>
            <a:r>
              <a:rPr dirty="0" sz="1200" spc="-5" i="1">
                <a:latin typeface="Arial"/>
                <a:cs typeface="Arial"/>
              </a:rPr>
              <a:t>Dhunoon </a:t>
            </a:r>
            <a:r>
              <a:rPr dirty="0" sz="1200" spc="-5">
                <a:latin typeface="Arial"/>
                <a:cs typeface="Arial"/>
              </a:rPr>
              <a:t>has categorised Tirmidhi in third position. </a:t>
            </a:r>
            <a:r>
              <a:rPr dirty="0" sz="1200">
                <a:latin typeface="Arial"/>
                <a:cs typeface="Arial"/>
              </a:rPr>
              <a:t>Al-Dhahabi </a:t>
            </a:r>
            <a:r>
              <a:rPr dirty="0" sz="1200" spc="-10">
                <a:latin typeface="Arial"/>
                <a:cs typeface="Arial"/>
              </a:rPr>
              <a:t>has </a:t>
            </a:r>
            <a:r>
              <a:rPr dirty="0" sz="1200" spc="-5">
                <a:latin typeface="Arial"/>
                <a:cs typeface="Arial"/>
              </a:rPr>
              <a:t>written </a:t>
            </a:r>
            <a:r>
              <a:rPr dirty="0" sz="1200">
                <a:latin typeface="Arial"/>
                <a:cs typeface="Arial"/>
              </a:rPr>
              <a:t>that Tirmidhi </a:t>
            </a:r>
            <a:r>
              <a:rPr dirty="0" sz="1200" spc="-5">
                <a:latin typeface="Arial"/>
                <a:cs typeface="Arial"/>
              </a:rPr>
              <a:t>in  </a:t>
            </a:r>
            <a:r>
              <a:rPr dirty="0" sz="1200">
                <a:latin typeface="Arial"/>
                <a:cs typeface="Arial"/>
              </a:rPr>
              <a:t>actual fact </a:t>
            </a:r>
            <a:r>
              <a:rPr dirty="0" sz="1200" spc="-5">
                <a:latin typeface="Arial"/>
                <a:cs typeface="Arial"/>
              </a:rPr>
              <a:t>should </a:t>
            </a:r>
            <a:r>
              <a:rPr dirty="0" sz="1200" spc="-10">
                <a:latin typeface="Arial"/>
                <a:cs typeface="Arial"/>
              </a:rPr>
              <a:t>be </a:t>
            </a:r>
            <a:r>
              <a:rPr dirty="0" sz="1200" spc="-5">
                <a:latin typeface="Arial"/>
                <a:cs typeface="Arial"/>
              </a:rPr>
              <a:t>holding </a:t>
            </a:r>
            <a:r>
              <a:rPr dirty="0" sz="1200">
                <a:latin typeface="Arial"/>
                <a:cs typeface="Arial"/>
              </a:rPr>
              <a:t>the </a:t>
            </a:r>
            <a:r>
              <a:rPr dirty="0" sz="1200" spc="-5">
                <a:latin typeface="Arial"/>
                <a:cs typeface="Arial"/>
              </a:rPr>
              <a:t>third position, but due </a:t>
            </a:r>
            <a:r>
              <a:rPr dirty="0" sz="1200">
                <a:latin typeface="Arial"/>
                <a:cs typeface="Arial"/>
              </a:rPr>
              <a:t>to </a:t>
            </a:r>
            <a:r>
              <a:rPr dirty="0" sz="1200" spc="-5">
                <a:latin typeface="Arial"/>
                <a:cs typeface="Arial"/>
              </a:rPr>
              <a:t>him bringing weak narrators like  Kalbi and Masloob </a:t>
            </a:r>
            <a:r>
              <a:rPr dirty="0" sz="1200">
                <a:latin typeface="Arial"/>
                <a:cs typeface="Arial"/>
              </a:rPr>
              <a:t>its status </a:t>
            </a:r>
            <a:r>
              <a:rPr dirty="0" sz="1200" spc="-5">
                <a:latin typeface="Arial"/>
                <a:cs typeface="Arial"/>
              </a:rPr>
              <a:t>has dropped. </a:t>
            </a:r>
            <a:r>
              <a:rPr dirty="0" sz="1200" spc="-10">
                <a:latin typeface="Arial"/>
                <a:cs typeface="Arial"/>
              </a:rPr>
              <a:t>However, </a:t>
            </a:r>
            <a:r>
              <a:rPr dirty="0" sz="1200">
                <a:latin typeface="Arial"/>
                <a:cs typeface="Arial"/>
              </a:rPr>
              <a:t>looking at the </a:t>
            </a:r>
            <a:r>
              <a:rPr dirty="0" sz="1200" spc="-5">
                <a:latin typeface="Arial"/>
                <a:cs typeface="Arial"/>
              </a:rPr>
              <a:t>manner in which he set  out his book </a:t>
            </a:r>
            <a:r>
              <a:rPr dirty="0" sz="1200">
                <a:latin typeface="Arial"/>
                <a:cs typeface="Arial"/>
              </a:rPr>
              <a:t>it </a:t>
            </a:r>
            <a:r>
              <a:rPr dirty="0" sz="1200" spc="-5">
                <a:latin typeface="Arial"/>
                <a:cs typeface="Arial"/>
              </a:rPr>
              <a:t>seems that Haji Khalifa's opinion is</a:t>
            </a:r>
            <a:r>
              <a:rPr dirty="0" sz="1200" spc="20">
                <a:latin typeface="Arial"/>
                <a:cs typeface="Arial"/>
              </a:rPr>
              <a:t> </a:t>
            </a:r>
            <a:r>
              <a:rPr dirty="0" sz="1200" spc="-5">
                <a:latin typeface="Arial"/>
                <a:cs typeface="Arial"/>
              </a:rPr>
              <a:t>best.</a:t>
            </a:r>
            <a:endParaRPr sz="1200">
              <a:latin typeface="Arial"/>
              <a:cs typeface="Arial"/>
            </a:endParaRPr>
          </a:p>
          <a:p>
            <a:pPr>
              <a:lnSpc>
                <a:spcPct val="100000"/>
              </a:lnSpc>
              <a:spcBef>
                <a:spcPts val="50"/>
              </a:spcBef>
            </a:pPr>
            <a:endParaRPr sz="1050">
              <a:latin typeface="Arial"/>
              <a:cs typeface="Arial"/>
            </a:endParaRPr>
          </a:p>
          <a:p>
            <a:pPr algn="just" marL="12700" marR="6350">
              <a:lnSpc>
                <a:spcPct val="95800"/>
              </a:lnSpc>
              <a:spcBef>
                <a:spcPts val="5"/>
              </a:spcBef>
            </a:pPr>
            <a:r>
              <a:rPr dirty="0" sz="1200" spc="-5">
                <a:latin typeface="Arial"/>
                <a:cs typeface="Arial"/>
              </a:rPr>
              <a:t>Imam al-Tirmidhi had an exceptionally </a:t>
            </a:r>
            <a:r>
              <a:rPr dirty="0" sz="1200">
                <a:latin typeface="Arial"/>
                <a:cs typeface="Arial"/>
              </a:rPr>
              <a:t>remarkable </a:t>
            </a:r>
            <a:r>
              <a:rPr dirty="0" sz="1200" spc="-5">
                <a:latin typeface="Arial"/>
                <a:cs typeface="Arial"/>
              </a:rPr>
              <a:t>memory. </a:t>
            </a:r>
            <a:r>
              <a:rPr dirty="0" sz="1200">
                <a:latin typeface="Arial"/>
                <a:cs typeface="Arial"/>
              </a:rPr>
              <a:t>If </a:t>
            </a:r>
            <a:r>
              <a:rPr dirty="0" sz="1200" spc="-10">
                <a:latin typeface="Arial"/>
                <a:cs typeface="Arial"/>
              </a:rPr>
              <a:t>he </a:t>
            </a:r>
            <a:r>
              <a:rPr dirty="0" sz="1200">
                <a:latin typeface="Arial"/>
                <a:cs typeface="Arial"/>
              </a:rPr>
              <a:t>heard </a:t>
            </a:r>
            <a:r>
              <a:rPr dirty="0" sz="1200" spc="-5">
                <a:latin typeface="Arial"/>
                <a:cs typeface="Arial"/>
              </a:rPr>
              <a:t>something once, </a:t>
            </a:r>
            <a:r>
              <a:rPr dirty="0" sz="1200" spc="-10">
                <a:latin typeface="Arial"/>
                <a:cs typeface="Arial"/>
              </a:rPr>
              <a:t>he  </a:t>
            </a:r>
            <a:r>
              <a:rPr dirty="0" sz="1200" spc="-5">
                <a:latin typeface="Arial"/>
                <a:cs typeface="Arial"/>
              </a:rPr>
              <a:t>would never </a:t>
            </a:r>
            <a:r>
              <a:rPr dirty="0" sz="1200">
                <a:latin typeface="Arial"/>
                <a:cs typeface="Arial"/>
              </a:rPr>
              <a:t>forget it. Once </a:t>
            </a:r>
            <a:r>
              <a:rPr dirty="0" sz="1200" spc="-10">
                <a:latin typeface="Arial"/>
                <a:cs typeface="Arial"/>
              </a:rPr>
              <a:t>on </a:t>
            </a:r>
            <a:r>
              <a:rPr dirty="0" sz="1200" spc="-5">
                <a:latin typeface="Arial"/>
                <a:cs typeface="Arial"/>
              </a:rPr>
              <a:t>his </a:t>
            </a:r>
            <a:r>
              <a:rPr dirty="0" sz="1200" spc="-10">
                <a:latin typeface="Arial"/>
                <a:cs typeface="Arial"/>
              </a:rPr>
              <a:t>way </a:t>
            </a:r>
            <a:r>
              <a:rPr dirty="0" sz="1200">
                <a:latin typeface="Arial"/>
                <a:cs typeface="Arial"/>
              </a:rPr>
              <a:t>to Makkah, Imam </a:t>
            </a:r>
            <a:r>
              <a:rPr dirty="0" sz="1200" spc="-5">
                <a:latin typeface="Arial"/>
                <a:cs typeface="Arial"/>
              </a:rPr>
              <a:t>al-Tirmidhi </a:t>
            </a:r>
            <a:r>
              <a:rPr dirty="0" sz="1200">
                <a:latin typeface="Arial"/>
                <a:cs typeface="Arial"/>
              </a:rPr>
              <a:t>met </a:t>
            </a:r>
            <a:r>
              <a:rPr dirty="0" sz="1200" spc="-5">
                <a:latin typeface="Arial"/>
                <a:cs typeface="Arial"/>
              </a:rPr>
              <a:t>a scholar of </a:t>
            </a:r>
            <a:r>
              <a:rPr dirty="0" sz="1200" spc="-10">
                <a:latin typeface="Arial"/>
                <a:cs typeface="Arial"/>
              </a:rPr>
              <a:t>hadith  </a:t>
            </a:r>
            <a:r>
              <a:rPr dirty="0" sz="1200" spc="-5">
                <a:latin typeface="Arial"/>
                <a:cs typeface="Arial"/>
              </a:rPr>
              <a:t>from </a:t>
            </a:r>
            <a:r>
              <a:rPr dirty="0" sz="1200" spc="-10">
                <a:latin typeface="Arial"/>
                <a:cs typeface="Arial"/>
              </a:rPr>
              <a:t>whom he </a:t>
            </a:r>
            <a:r>
              <a:rPr dirty="0" sz="1200" spc="-5">
                <a:latin typeface="Arial"/>
                <a:cs typeface="Arial"/>
              </a:rPr>
              <a:t>had previously copied </a:t>
            </a:r>
            <a:r>
              <a:rPr dirty="0" sz="1200" spc="-10">
                <a:latin typeface="Arial"/>
                <a:cs typeface="Arial"/>
              </a:rPr>
              <a:t>two </a:t>
            </a:r>
            <a:r>
              <a:rPr dirty="0" sz="1200" spc="-5">
                <a:latin typeface="Arial"/>
                <a:cs typeface="Arial"/>
              </a:rPr>
              <a:t>chapters of hadith. Thinking </a:t>
            </a:r>
            <a:r>
              <a:rPr dirty="0" sz="1200">
                <a:latin typeface="Arial"/>
                <a:cs typeface="Arial"/>
              </a:rPr>
              <a:t>that </a:t>
            </a:r>
            <a:r>
              <a:rPr dirty="0" sz="1200" spc="-5">
                <a:latin typeface="Arial"/>
                <a:cs typeface="Arial"/>
              </a:rPr>
              <a:t>he had the notes  with him </a:t>
            </a:r>
            <a:r>
              <a:rPr dirty="0" sz="1200" spc="-10">
                <a:latin typeface="Arial"/>
                <a:cs typeface="Arial"/>
              </a:rPr>
              <a:t>he </a:t>
            </a:r>
            <a:r>
              <a:rPr dirty="0" sz="1200" spc="-5">
                <a:latin typeface="Arial"/>
                <a:cs typeface="Arial"/>
              </a:rPr>
              <a:t>asked the </a:t>
            </a:r>
            <a:r>
              <a:rPr dirty="0" sz="1200">
                <a:latin typeface="Arial"/>
                <a:cs typeface="Arial"/>
              </a:rPr>
              <a:t>scholar </a:t>
            </a:r>
            <a:r>
              <a:rPr dirty="0" sz="1200" spc="-10">
                <a:latin typeface="Arial"/>
                <a:cs typeface="Arial"/>
              </a:rPr>
              <a:t>if </a:t>
            </a:r>
            <a:r>
              <a:rPr dirty="0" sz="1200">
                <a:latin typeface="Arial"/>
                <a:cs typeface="Arial"/>
              </a:rPr>
              <a:t>he </a:t>
            </a:r>
            <a:r>
              <a:rPr dirty="0" sz="1200" spc="-5">
                <a:latin typeface="Arial"/>
                <a:cs typeface="Arial"/>
              </a:rPr>
              <a:t>would allow him </a:t>
            </a:r>
            <a:r>
              <a:rPr dirty="0" sz="1200">
                <a:latin typeface="Arial"/>
                <a:cs typeface="Arial"/>
              </a:rPr>
              <a:t>to </a:t>
            </a:r>
            <a:r>
              <a:rPr dirty="0" sz="1200" spc="-5">
                <a:latin typeface="Arial"/>
                <a:cs typeface="Arial"/>
              </a:rPr>
              <a:t>read out </a:t>
            </a:r>
            <a:r>
              <a:rPr dirty="0" sz="1200" spc="-10">
                <a:latin typeface="Arial"/>
                <a:cs typeface="Arial"/>
              </a:rPr>
              <a:t>these two </a:t>
            </a:r>
            <a:r>
              <a:rPr dirty="0" sz="1200" spc="-5">
                <a:latin typeface="Arial"/>
                <a:cs typeface="Arial"/>
              </a:rPr>
              <a:t>chapters </a:t>
            </a:r>
            <a:r>
              <a:rPr dirty="0" sz="1200" spc="-10">
                <a:latin typeface="Arial"/>
                <a:cs typeface="Arial"/>
              </a:rPr>
              <a:t>so </a:t>
            </a:r>
            <a:r>
              <a:rPr dirty="0" sz="1200" spc="-5">
                <a:latin typeface="Arial"/>
                <a:cs typeface="Arial"/>
              </a:rPr>
              <a:t>that </a:t>
            </a:r>
            <a:r>
              <a:rPr dirty="0" sz="1200">
                <a:latin typeface="Arial"/>
                <a:cs typeface="Arial"/>
              </a:rPr>
              <a:t>he  </a:t>
            </a:r>
            <a:r>
              <a:rPr dirty="0" sz="1200" spc="-5">
                <a:latin typeface="Arial"/>
                <a:cs typeface="Arial"/>
              </a:rPr>
              <a:t>could correct any </a:t>
            </a:r>
            <a:r>
              <a:rPr dirty="0" sz="1200">
                <a:latin typeface="Arial"/>
                <a:cs typeface="Arial"/>
              </a:rPr>
              <a:t>errors. After </a:t>
            </a:r>
            <a:r>
              <a:rPr dirty="0" sz="1200" spc="-5">
                <a:latin typeface="Arial"/>
                <a:cs typeface="Arial"/>
              </a:rPr>
              <a:t>realizing </a:t>
            </a:r>
            <a:r>
              <a:rPr dirty="0" sz="1200">
                <a:latin typeface="Arial"/>
                <a:cs typeface="Arial"/>
              </a:rPr>
              <a:t>that </a:t>
            </a:r>
            <a:r>
              <a:rPr dirty="0" sz="1200" spc="-5">
                <a:latin typeface="Arial"/>
                <a:cs typeface="Arial"/>
              </a:rPr>
              <a:t>he did not have those </a:t>
            </a:r>
            <a:r>
              <a:rPr dirty="0" sz="1200">
                <a:latin typeface="Arial"/>
                <a:cs typeface="Arial"/>
              </a:rPr>
              <a:t>notes </a:t>
            </a:r>
            <a:r>
              <a:rPr dirty="0" sz="1200" spc="-5">
                <a:latin typeface="Arial"/>
                <a:cs typeface="Arial"/>
              </a:rPr>
              <a:t>with </a:t>
            </a:r>
            <a:r>
              <a:rPr dirty="0" sz="1200" spc="-10">
                <a:latin typeface="Arial"/>
                <a:cs typeface="Arial"/>
              </a:rPr>
              <a:t>him </a:t>
            </a:r>
            <a:r>
              <a:rPr dirty="0" sz="1200" spc="-5">
                <a:latin typeface="Arial"/>
                <a:cs typeface="Arial"/>
              </a:rPr>
              <a:t>he took a  </a:t>
            </a:r>
            <a:r>
              <a:rPr dirty="0" sz="1200">
                <a:latin typeface="Arial"/>
                <a:cs typeface="Arial"/>
              </a:rPr>
              <a:t>blank </a:t>
            </a:r>
            <a:r>
              <a:rPr dirty="0" sz="1200" spc="-5">
                <a:latin typeface="Arial"/>
                <a:cs typeface="Arial"/>
              </a:rPr>
              <a:t>piece of paper and read out the entire </a:t>
            </a:r>
            <a:r>
              <a:rPr dirty="0" sz="1200" spc="-10">
                <a:latin typeface="Arial"/>
                <a:cs typeface="Arial"/>
              </a:rPr>
              <a:t>two </a:t>
            </a:r>
            <a:r>
              <a:rPr dirty="0" sz="1200">
                <a:latin typeface="Arial"/>
                <a:cs typeface="Arial"/>
              </a:rPr>
              <a:t>parts </a:t>
            </a:r>
            <a:r>
              <a:rPr dirty="0" sz="1200" spc="-5">
                <a:latin typeface="Arial"/>
                <a:cs typeface="Arial"/>
              </a:rPr>
              <a:t>from memory. </a:t>
            </a:r>
            <a:r>
              <a:rPr dirty="0" sz="1200">
                <a:latin typeface="Arial"/>
                <a:cs typeface="Arial"/>
              </a:rPr>
              <a:t>When </a:t>
            </a:r>
            <a:r>
              <a:rPr dirty="0" sz="1200" spc="-5">
                <a:latin typeface="Arial"/>
                <a:cs typeface="Arial"/>
              </a:rPr>
              <a:t>the scholar  realised what he </a:t>
            </a:r>
            <a:r>
              <a:rPr dirty="0" sz="1200" spc="-10">
                <a:latin typeface="Arial"/>
                <a:cs typeface="Arial"/>
              </a:rPr>
              <a:t>was </a:t>
            </a:r>
            <a:r>
              <a:rPr dirty="0" sz="1200" spc="-5">
                <a:latin typeface="Arial"/>
                <a:cs typeface="Arial"/>
              </a:rPr>
              <a:t>doing he rebuked Imam </a:t>
            </a:r>
            <a:r>
              <a:rPr dirty="0" sz="1200">
                <a:latin typeface="Arial"/>
                <a:cs typeface="Arial"/>
              </a:rPr>
              <a:t>al-Tirmidhi </a:t>
            </a:r>
            <a:r>
              <a:rPr dirty="0" sz="1200" spc="-5">
                <a:latin typeface="Arial"/>
                <a:cs typeface="Arial"/>
              </a:rPr>
              <a:t>saying: "Have </a:t>
            </a:r>
            <a:r>
              <a:rPr dirty="0" sz="1200" spc="-10">
                <a:latin typeface="Arial"/>
                <a:cs typeface="Arial"/>
              </a:rPr>
              <a:t>you </a:t>
            </a:r>
            <a:r>
              <a:rPr dirty="0" sz="1200" spc="-5">
                <a:latin typeface="Arial"/>
                <a:cs typeface="Arial"/>
              </a:rPr>
              <a:t>no shame, why  are </a:t>
            </a:r>
            <a:r>
              <a:rPr dirty="0" sz="1200" spc="-10">
                <a:latin typeface="Arial"/>
                <a:cs typeface="Arial"/>
              </a:rPr>
              <a:t>you </a:t>
            </a:r>
            <a:r>
              <a:rPr dirty="0" sz="1200" spc="-5">
                <a:latin typeface="Arial"/>
                <a:cs typeface="Arial"/>
              </a:rPr>
              <a:t>wasting </a:t>
            </a:r>
            <a:r>
              <a:rPr dirty="0" sz="1200">
                <a:latin typeface="Arial"/>
                <a:cs typeface="Arial"/>
              </a:rPr>
              <a:t>my time." </a:t>
            </a:r>
            <a:r>
              <a:rPr dirty="0" sz="1200" spc="-5">
                <a:latin typeface="Arial"/>
                <a:cs typeface="Arial"/>
              </a:rPr>
              <a:t>Imam al-Tirmidhi assured </a:t>
            </a:r>
            <a:r>
              <a:rPr dirty="0" sz="1200" spc="-10">
                <a:latin typeface="Arial"/>
                <a:cs typeface="Arial"/>
              </a:rPr>
              <a:t>him </a:t>
            </a:r>
            <a:r>
              <a:rPr dirty="0" sz="1200" spc="-5">
                <a:latin typeface="Arial"/>
                <a:cs typeface="Arial"/>
              </a:rPr>
              <a:t>that </a:t>
            </a:r>
            <a:r>
              <a:rPr dirty="0" sz="1200" spc="-10">
                <a:latin typeface="Arial"/>
                <a:cs typeface="Arial"/>
              </a:rPr>
              <a:t>he </a:t>
            </a:r>
            <a:r>
              <a:rPr dirty="0" sz="1200" spc="-5">
                <a:latin typeface="Arial"/>
                <a:cs typeface="Arial"/>
              </a:rPr>
              <a:t>had committed all the  ahadith </a:t>
            </a:r>
            <a:r>
              <a:rPr dirty="0" sz="1200">
                <a:latin typeface="Arial"/>
                <a:cs typeface="Arial"/>
              </a:rPr>
              <a:t>to </a:t>
            </a:r>
            <a:r>
              <a:rPr dirty="0" sz="1200" spc="-5">
                <a:latin typeface="Arial"/>
                <a:cs typeface="Arial"/>
              </a:rPr>
              <a:t>memory. </a:t>
            </a:r>
            <a:r>
              <a:rPr dirty="0" sz="1200">
                <a:latin typeface="Arial"/>
                <a:cs typeface="Arial"/>
              </a:rPr>
              <a:t>The </a:t>
            </a:r>
            <a:r>
              <a:rPr dirty="0" sz="1200" spc="-5">
                <a:latin typeface="Arial"/>
                <a:cs typeface="Arial"/>
              </a:rPr>
              <a:t>scholar </a:t>
            </a:r>
            <a:r>
              <a:rPr dirty="0" sz="1200" spc="-10">
                <a:latin typeface="Arial"/>
                <a:cs typeface="Arial"/>
              </a:rPr>
              <a:t>was </a:t>
            </a:r>
            <a:r>
              <a:rPr dirty="0" sz="1200" spc="-5">
                <a:latin typeface="Arial"/>
                <a:cs typeface="Arial"/>
              </a:rPr>
              <a:t>not convinced, even though Imam </a:t>
            </a:r>
            <a:r>
              <a:rPr dirty="0" sz="1200">
                <a:latin typeface="Arial"/>
                <a:cs typeface="Arial"/>
              </a:rPr>
              <a:t>al-Tirmidhi </a:t>
            </a:r>
            <a:r>
              <a:rPr dirty="0" sz="1200" spc="-10">
                <a:latin typeface="Arial"/>
                <a:cs typeface="Arial"/>
              </a:rPr>
              <a:t>had  </a:t>
            </a:r>
            <a:r>
              <a:rPr dirty="0" sz="1200" spc="-5">
                <a:latin typeface="Arial"/>
                <a:cs typeface="Arial"/>
              </a:rPr>
              <a:t>recited all </a:t>
            </a:r>
            <a:r>
              <a:rPr dirty="0" sz="1200">
                <a:latin typeface="Arial"/>
                <a:cs typeface="Arial"/>
              </a:rPr>
              <a:t>the </a:t>
            </a:r>
            <a:r>
              <a:rPr dirty="0" sz="1200" spc="-5">
                <a:latin typeface="Arial"/>
                <a:cs typeface="Arial"/>
              </a:rPr>
              <a:t>hadith </a:t>
            </a:r>
            <a:r>
              <a:rPr dirty="0" sz="1200">
                <a:latin typeface="Arial"/>
                <a:cs typeface="Arial"/>
              </a:rPr>
              <a:t>from </a:t>
            </a:r>
            <a:r>
              <a:rPr dirty="0" sz="1200" spc="-5">
                <a:latin typeface="Arial"/>
                <a:cs typeface="Arial"/>
              </a:rPr>
              <a:t>memory. </a:t>
            </a:r>
            <a:r>
              <a:rPr dirty="0" sz="1200">
                <a:latin typeface="Arial"/>
                <a:cs typeface="Arial"/>
              </a:rPr>
              <a:t>Imam al-Tirmidhi </a:t>
            </a:r>
            <a:r>
              <a:rPr dirty="0" sz="1200" spc="-5">
                <a:latin typeface="Arial"/>
                <a:cs typeface="Arial"/>
              </a:rPr>
              <a:t>requested </a:t>
            </a:r>
            <a:r>
              <a:rPr dirty="0" sz="1200" spc="-10">
                <a:latin typeface="Arial"/>
                <a:cs typeface="Arial"/>
              </a:rPr>
              <a:t>him </a:t>
            </a:r>
            <a:r>
              <a:rPr dirty="0" sz="1200" spc="-5">
                <a:latin typeface="Arial"/>
                <a:cs typeface="Arial"/>
              </a:rPr>
              <a:t>to recite </a:t>
            </a:r>
            <a:r>
              <a:rPr dirty="0" sz="1200">
                <a:latin typeface="Arial"/>
                <a:cs typeface="Arial"/>
              </a:rPr>
              <a:t>to </a:t>
            </a:r>
            <a:r>
              <a:rPr dirty="0" sz="1200" spc="-10">
                <a:latin typeface="Arial"/>
                <a:cs typeface="Arial"/>
              </a:rPr>
              <a:t>him </a:t>
            </a:r>
            <a:r>
              <a:rPr dirty="0" sz="1200" spc="-5">
                <a:latin typeface="Arial"/>
                <a:cs typeface="Arial"/>
              </a:rPr>
              <a:t>some  </a:t>
            </a:r>
            <a:r>
              <a:rPr dirty="0" sz="1200">
                <a:latin typeface="Arial"/>
                <a:cs typeface="Arial"/>
              </a:rPr>
              <a:t>other </a:t>
            </a:r>
            <a:r>
              <a:rPr dirty="0" sz="1200" spc="-5">
                <a:latin typeface="Arial"/>
                <a:cs typeface="Arial"/>
              </a:rPr>
              <a:t>hadith. </a:t>
            </a:r>
            <a:r>
              <a:rPr dirty="0" sz="1200">
                <a:latin typeface="Arial"/>
                <a:cs typeface="Arial"/>
              </a:rPr>
              <a:t>The </a:t>
            </a:r>
            <a:r>
              <a:rPr dirty="0" sz="1200" spc="-5">
                <a:latin typeface="Arial"/>
                <a:cs typeface="Arial"/>
              </a:rPr>
              <a:t>scholar recited </a:t>
            </a:r>
            <a:r>
              <a:rPr dirty="0" sz="1200">
                <a:latin typeface="Arial"/>
                <a:cs typeface="Arial"/>
              </a:rPr>
              <a:t>forty </a:t>
            </a:r>
            <a:r>
              <a:rPr dirty="0" sz="1200" spc="-5">
                <a:latin typeface="Arial"/>
                <a:cs typeface="Arial"/>
              </a:rPr>
              <a:t>ahadith that Imam </a:t>
            </a:r>
            <a:r>
              <a:rPr dirty="0" sz="1200">
                <a:latin typeface="Arial"/>
                <a:cs typeface="Arial"/>
              </a:rPr>
              <a:t>al-Tirmidhi </a:t>
            </a:r>
            <a:r>
              <a:rPr dirty="0" sz="1200" spc="-5">
                <a:latin typeface="Arial"/>
                <a:cs typeface="Arial"/>
              </a:rPr>
              <a:t>then repeated without  </a:t>
            </a:r>
            <a:r>
              <a:rPr dirty="0" sz="1200">
                <a:latin typeface="Arial"/>
                <a:cs typeface="Arial"/>
              </a:rPr>
              <a:t>making a </a:t>
            </a:r>
            <a:r>
              <a:rPr dirty="0" sz="1200" spc="-5">
                <a:latin typeface="Arial"/>
                <a:cs typeface="Arial"/>
              </a:rPr>
              <a:t>single error. Upon this </a:t>
            </a:r>
            <a:r>
              <a:rPr dirty="0" sz="1200">
                <a:latin typeface="Arial"/>
                <a:cs typeface="Arial"/>
              </a:rPr>
              <a:t>the </a:t>
            </a:r>
            <a:r>
              <a:rPr dirty="0" sz="1200" spc="-5">
                <a:latin typeface="Arial"/>
                <a:cs typeface="Arial"/>
              </a:rPr>
              <a:t>scholar apologized </a:t>
            </a:r>
            <a:r>
              <a:rPr dirty="0" sz="1200">
                <a:latin typeface="Arial"/>
                <a:cs typeface="Arial"/>
              </a:rPr>
              <a:t>and </a:t>
            </a:r>
            <a:r>
              <a:rPr dirty="0" sz="1200" spc="-5">
                <a:latin typeface="Arial"/>
                <a:cs typeface="Arial"/>
              </a:rPr>
              <a:t>said, </a:t>
            </a:r>
            <a:r>
              <a:rPr dirty="0" sz="1200" spc="-405">
                <a:latin typeface="Arial"/>
                <a:cs typeface="Arial"/>
              </a:rPr>
              <a:t>―I</a:t>
            </a:r>
            <a:r>
              <a:rPr dirty="0" sz="1200" spc="-10">
                <a:latin typeface="Arial"/>
                <a:cs typeface="Arial"/>
              </a:rPr>
              <a:t> </a:t>
            </a:r>
            <a:r>
              <a:rPr dirty="0" sz="1200" spc="-5">
                <a:latin typeface="Arial"/>
                <a:cs typeface="Arial"/>
              </a:rPr>
              <a:t>have never imagined that  such a thing was humanly</a:t>
            </a:r>
            <a:r>
              <a:rPr dirty="0" sz="1200">
                <a:latin typeface="Arial"/>
                <a:cs typeface="Arial"/>
              </a:rPr>
              <a:t> </a:t>
            </a:r>
            <a:r>
              <a:rPr dirty="0" sz="1200" spc="-10">
                <a:latin typeface="Arial"/>
                <a:cs typeface="Arial"/>
              </a:rPr>
              <a:t>possible‖.</a:t>
            </a:r>
            <a:endParaRPr sz="1200">
              <a:latin typeface="Arial"/>
              <a:cs typeface="Arial"/>
            </a:endParaRPr>
          </a:p>
          <a:p>
            <a:pPr>
              <a:lnSpc>
                <a:spcPct val="100000"/>
              </a:lnSpc>
              <a:spcBef>
                <a:spcPts val="45"/>
              </a:spcBef>
            </a:pPr>
            <a:endParaRPr sz="1600">
              <a:latin typeface="Arial"/>
              <a:cs typeface="Arial"/>
            </a:endParaRPr>
          </a:p>
          <a:p>
            <a:pPr algn="just" marL="12700" marR="6985">
              <a:lnSpc>
                <a:spcPct val="95700"/>
              </a:lnSpc>
            </a:pPr>
            <a:r>
              <a:rPr dirty="0" sz="1200" spc="-5">
                <a:latin typeface="Arial"/>
                <a:cs typeface="Arial"/>
              </a:rPr>
              <a:t>Some of the </a:t>
            </a:r>
            <a:r>
              <a:rPr dirty="0" sz="1200">
                <a:latin typeface="Arial"/>
                <a:cs typeface="Arial"/>
              </a:rPr>
              <a:t>most </a:t>
            </a:r>
            <a:r>
              <a:rPr dirty="0" sz="1200" spc="-5">
                <a:latin typeface="Arial"/>
                <a:cs typeface="Arial"/>
              </a:rPr>
              <a:t>famous teachers that </a:t>
            </a:r>
            <a:r>
              <a:rPr dirty="0" sz="1200" spc="-10">
                <a:latin typeface="Arial"/>
                <a:cs typeface="Arial"/>
              </a:rPr>
              <a:t>he </a:t>
            </a:r>
            <a:r>
              <a:rPr dirty="0" sz="1200">
                <a:latin typeface="Arial"/>
                <a:cs typeface="Arial"/>
              </a:rPr>
              <a:t>studied </a:t>
            </a:r>
            <a:r>
              <a:rPr dirty="0" sz="1200" spc="-5">
                <a:latin typeface="Arial"/>
                <a:cs typeface="Arial"/>
              </a:rPr>
              <a:t>with were </a:t>
            </a:r>
            <a:r>
              <a:rPr dirty="0" sz="1200">
                <a:latin typeface="Arial"/>
                <a:cs typeface="Arial"/>
              </a:rPr>
              <a:t>Imam </a:t>
            </a:r>
            <a:r>
              <a:rPr dirty="0" sz="1200" spc="-5">
                <a:latin typeface="Arial"/>
                <a:cs typeface="Arial"/>
              </a:rPr>
              <a:t>al-Bukhari, Imam Muslim,  Imam Abu Dawood, Imam Qutaibah ibn Sa'eed and Shaykh Abu </a:t>
            </a:r>
            <a:r>
              <a:rPr dirty="0" sz="1200">
                <a:latin typeface="Arial"/>
                <a:cs typeface="Arial"/>
              </a:rPr>
              <a:t>Bakr al-Zuhri. </a:t>
            </a:r>
            <a:r>
              <a:rPr dirty="0" sz="1200" spc="-5">
                <a:latin typeface="Arial"/>
                <a:cs typeface="Arial"/>
              </a:rPr>
              <a:t>Imam  Tirmidhi had a large number of students from all over the world. </a:t>
            </a:r>
            <a:r>
              <a:rPr dirty="0" sz="1200">
                <a:latin typeface="Arial"/>
                <a:cs typeface="Arial"/>
              </a:rPr>
              <a:t>The most </a:t>
            </a:r>
            <a:r>
              <a:rPr dirty="0" sz="1200" spc="-5">
                <a:latin typeface="Arial"/>
                <a:cs typeface="Arial"/>
              </a:rPr>
              <a:t>famous </a:t>
            </a:r>
            <a:r>
              <a:rPr dirty="0" sz="1200" spc="-10">
                <a:latin typeface="Arial"/>
                <a:cs typeface="Arial"/>
              </a:rPr>
              <a:t>amongst  </a:t>
            </a:r>
            <a:r>
              <a:rPr dirty="0" sz="1200" spc="-5">
                <a:latin typeface="Arial"/>
                <a:cs typeface="Arial"/>
              </a:rPr>
              <a:t>them were Haysam ibn Kulaib, Abul Abbaas and </a:t>
            </a:r>
            <a:r>
              <a:rPr dirty="0" sz="1200">
                <a:latin typeface="Arial"/>
                <a:cs typeface="Arial"/>
              </a:rPr>
              <a:t>Muhammed </a:t>
            </a:r>
            <a:r>
              <a:rPr dirty="0" sz="1200" spc="-5">
                <a:latin typeface="Arial"/>
                <a:cs typeface="Arial"/>
              </a:rPr>
              <a:t>ibn Ahmed Shah Abdul `Aziz  describes </a:t>
            </a:r>
            <a:r>
              <a:rPr dirty="0" sz="1200">
                <a:latin typeface="Arial"/>
                <a:cs typeface="Arial"/>
              </a:rPr>
              <a:t>Imam </a:t>
            </a:r>
            <a:r>
              <a:rPr dirty="0" sz="1200" spc="-5">
                <a:latin typeface="Arial"/>
                <a:cs typeface="Arial"/>
              </a:rPr>
              <a:t>Tirmidhi in the following words: "His memory </a:t>
            </a:r>
            <a:r>
              <a:rPr dirty="0" sz="1200" spc="-10">
                <a:latin typeface="Arial"/>
                <a:cs typeface="Arial"/>
              </a:rPr>
              <a:t>was </a:t>
            </a:r>
            <a:r>
              <a:rPr dirty="0" sz="1200" spc="-5">
                <a:latin typeface="Arial"/>
                <a:cs typeface="Arial"/>
              </a:rPr>
              <a:t>unique and his piety and  </a:t>
            </a:r>
            <a:r>
              <a:rPr dirty="0" sz="1200">
                <a:latin typeface="Arial"/>
                <a:cs typeface="Arial"/>
              </a:rPr>
              <a:t>fear </a:t>
            </a:r>
            <a:r>
              <a:rPr dirty="0" sz="1200" spc="-5">
                <a:latin typeface="Arial"/>
                <a:cs typeface="Arial"/>
              </a:rPr>
              <a:t>of Allah </a:t>
            </a:r>
            <a:r>
              <a:rPr dirty="0" sz="1200">
                <a:latin typeface="Arial"/>
                <a:cs typeface="Arial"/>
              </a:rPr>
              <a:t>ta'la </a:t>
            </a:r>
            <a:r>
              <a:rPr dirty="0" sz="1200" spc="-10">
                <a:latin typeface="Arial"/>
                <a:cs typeface="Arial"/>
              </a:rPr>
              <a:t>was </a:t>
            </a:r>
            <a:r>
              <a:rPr dirty="0" sz="1200" spc="-5">
                <a:latin typeface="Arial"/>
                <a:cs typeface="Arial"/>
              </a:rPr>
              <a:t>of a very high calibre. He would </a:t>
            </a:r>
            <a:r>
              <a:rPr dirty="0" sz="1200">
                <a:latin typeface="Arial"/>
                <a:cs typeface="Arial"/>
              </a:rPr>
              <a:t>cry </a:t>
            </a:r>
            <a:r>
              <a:rPr dirty="0" sz="1200" spc="-5">
                <a:latin typeface="Arial"/>
                <a:cs typeface="Arial"/>
              </a:rPr>
              <a:t>so </a:t>
            </a:r>
            <a:r>
              <a:rPr dirty="0" sz="1200">
                <a:latin typeface="Arial"/>
                <a:cs typeface="Arial"/>
              </a:rPr>
              <a:t>much </a:t>
            </a:r>
            <a:r>
              <a:rPr dirty="0" sz="1200" spc="-5">
                <a:latin typeface="Arial"/>
                <a:cs typeface="Arial"/>
              </a:rPr>
              <a:t>out of </a:t>
            </a:r>
            <a:r>
              <a:rPr dirty="0" sz="1200">
                <a:latin typeface="Arial"/>
                <a:cs typeface="Arial"/>
              </a:rPr>
              <a:t>the fear </a:t>
            </a:r>
            <a:r>
              <a:rPr dirty="0" sz="1200" spc="-5">
                <a:latin typeface="Arial"/>
                <a:cs typeface="Arial"/>
              </a:rPr>
              <a:t>of Allah,  </a:t>
            </a:r>
            <a:r>
              <a:rPr dirty="0" sz="1200">
                <a:latin typeface="Arial"/>
                <a:cs typeface="Arial"/>
              </a:rPr>
              <a:t>that </a:t>
            </a:r>
            <a:r>
              <a:rPr dirty="0" sz="1200" spc="-5">
                <a:latin typeface="Arial"/>
                <a:cs typeface="Arial"/>
              </a:rPr>
              <a:t>towards </a:t>
            </a:r>
            <a:r>
              <a:rPr dirty="0" sz="1200">
                <a:latin typeface="Arial"/>
                <a:cs typeface="Arial"/>
              </a:rPr>
              <a:t>the </a:t>
            </a:r>
            <a:r>
              <a:rPr dirty="0" sz="1200" spc="-5">
                <a:latin typeface="Arial"/>
                <a:cs typeface="Arial"/>
              </a:rPr>
              <a:t>end of </a:t>
            </a:r>
            <a:r>
              <a:rPr dirty="0" sz="1200">
                <a:latin typeface="Arial"/>
                <a:cs typeface="Arial"/>
              </a:rPr>
              <a:t>his </a:t>
            </a:r>
            <a:r>
              <a:rPr dirty="0" sz="1200" spc="-5">
                <a:latin typeface="Arial"/>
                <a:cs typeface="Arial"/>
              </a:rPr>
              <a:t>life he </a:t>
            </a:r>
            <a:r>
              <a:rPr dirty="0" sz="1200">
                <a:latin typeface="Arial"/>
                <a:cs typeface="Arial"/>
              </a:rPr>
              <a:t>lost his</a:t>
            </a:r>
            <a:r>
              <a:rPr dirty="0" sz="1200" spc="-10">
                <a:latin typeface="Arial"/>
                <a:cs typeface="Arial"/>
              </a:rPr>
              <a:t> </a:t>
            </a:r>
            <a:r>
              <a:rPr dirty="0" sz="1200" spc="-5">
                <a:latin typeface="Arial"/>
                <a:cs typeface="Arial"/>
              </a:rPr>
              <a:t>sight."</a:t>
            </a:r>
            <a:endParaRPr sz="1200">
              <a:latin typeface="Arial"/>
              <a:cs typeface="Arial"/>
            </a:endParaRPr>
          </a:p>
          <a:p>
            <a:pPr algn="just" marL="12700">
              <a:lnSpc>
                <a:spcPct val="100000"/>
              </a:lnSpc>
              <a:spcBef>
                <a:spcPts val="1065"/>
              </a:spcBef>
            </a:pPr>
            <a:r>
              <a:rPr dirty="0" u="heavy" sz="1200" spc="-5" b="1" i="1">
                <a:uFill>
                  <a:solidFill>
                    <a:srgbClr val="000000"/>
                  </a:solidFill>
                </a:uFill>
                <a:latin typeface="Arial"/>
                <a:cs typeface="Arial"/>
              </a:rPr>
              <a:t>Criteria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Collection</a:t>
            </a:r>
            <a:endParaRPr sz="1200">
              <a:latin typeface="Arial"/>
              <a:cs typeface="Arial"/>
            </a:endParaRPr>
          </a:p>
          <a:p>
            <a:pPr>
              <a:lnSpc>
                <a:spcPct val="100000"/>
              </a:lnSpc>
            </a:pPr>
            <a:endParaRPr sz="1150">
              <a:latin typeface="Arial"/>
              <a:cs typeface="Arial"/>
            </a:endParaRPr>
          </a:p>
          <a:p>
            <a:pPr lvl="1" marL="413384" indent="-172720">
              <a:lnSpc>
                <a:spcPts val="1410"/>
              </a:lnSpc>
              <a:buFont typeface="Wingdings"/>
              <a:buChar char=""/>
              <a:tabLst>
                <a:tab pos="414020" algn="l"/>
              </a:tabLst>
            </a:pPr>
            <a:r>
              <a:rPr dirty="0" sz="1200" spc="-5">
                <a:latin typeface="Arial"/>
                <a:cs typeface="Arial"/>
              </a:rPr>
              <a:t>Collected all </a:t>
            </a:r>
            <a:r>
              <a:rPr dirty="0" sz="1200">
                <a:latin typeface="Arial"/>
                <a:cs typeface="Arial"/>
              </a:rPr>
              <a:t>sorts </a:t>
            </a:r>
            <a:r>
              <a:rPr dirty="0" sz="1200" spc="-5">
                <a:latin typeface="Arial"/>
                <a:cs typeface="Arial"/>
              </a:rPr>
              <a:t>of Ahadith but in</a:t>
            </a:r>
            <a:r>
              <a:rPr dirty="0" sz="1200">
                <a:latin typeface="Arial"/>
                <a:cs typeface="Arial"/>
              </a:rPr>
              <a:t> </a:t>
            </a:r>
            <a:r>
              <a:rPr dirty="0" sz="1200" spc="-5">
                <a:latin typeface="Arial"/>
                <a:cs typeface="Arial"/>
              </a:rPr>
              <a:t>headings</a:t>
            </a:r>
            <a:endParaRPr sz="1200">
              <a:latin typeface="Arial"/>
              <a:cs typeface="Arial"/>
            </a:endParaRPr>
          </a:p>
          <a:p>
            <a:pPr lvl="1" marL="413384" indent="-172720">
              <a:lnSpc>
                <a:spcPts val="1380"/>
              </a:lnSpc>
              <a:buFont typeface="Wingdings"/>
              <a:buChar char=""/>
              <a:tabLst>
                <a:tab pos="414020" algn="l"/>
              </a:tabLst>
            </a:pPr>
            <a:r>
              <a:rPr dirty="0" sz="1200" spc="-5">
                <a:latin typeface="Arial"/>
                <a:cs typeface="Arial"/>
              </a:rPr>
              <a:t>Then he </a:t>
            </a:r>
            <a:r>
              <a:rPr dirty="0" sz="1200" spc="-10">
                <a:latin typeface="Arial"/>
                <a:cs typeface="Arial"/>
              </a:rPr>
              <a:t>gave </a:t>
            </a:r>
            <a:r>
              <a:rPr dirty="0" sz="1200">
                <a:latin typeface="Arial"/>
                <a:cs typeface="Arial"/>
              </a:rPr>
              <a:t>his </a:t>
            </a:r>
            <a:r>
              <a:rPr dirty="0" sz="1200" spc="-5">
                <a:latin typeface="Arial"/>
                <a:cs typeface="Arial"/>
              </a:rPr>
              <a:t>opinion of </a:t>
            </a:r>
            <a:r>
              <a:rPr dirty="0" sz="1200">
                <a:latin typeface="Arial"/>
                <a:cs typeface="Arial"/>
              </a:rPr>
              <a:t>its</a:t>
            </a:r>
            <a:r>
              <a:rPr dirty="0" sz="1200" spc="20">
                <a:latin typeface="Arial"/>
                <a:cs typeface="Arial"/>
              </a:rPr>
              <a:t> </a:t>
            </a:r>
            <a:r>
              <a:rPr dirty="0" sz="1200" spc="-5">
                <a:latin typeface="Arial"/>
                <a:cs typeface="Arial"/>
              </a:rPr>
              <a:t>authenticity</a:t>
            </a:r>
            <a:endParaRPr sz="1200">
              <a:latin typeface="Arial"/>
              <a:cs typeface="Arial"/>
            </a:endParaRPr>
          </a:p>
          <a:p>
            <a:pPr lvl="1" marL="413384" indent="-172720">
              <a:lnSpc>
                <a:spcPts val="1380"/>
              </a:lnSpc>
              <a:buFont typeface="Wingdings"/>
              <a:buChar char=""/>
              <a:tabLst>
                <a:tab pos="414020" algn="l"/>
              </a:tabLst>
            </a:pPr>
            <a:r>
              <a:rPr dirty="0" sz="1200" spc="-5">
                <a:latin typeface="Arial"/>
                <a:cs typeface="Arial"/>
              </a:rPr>
              <a:t>Gave opinions of early jurists, Imam and</a:t>
            </a:r>
            <a:r>
              <a:rPr dirty="0" sz="1200" spc="10">
                <a:latin typeface="Arial"/>
                <a:cs typeface="Arial"/>
              </a:rPr>
              <a:t> </a:t>
            </a:r>
            <a:r>
              <a:rPr dirty="0" sz="1200" spc="-5">
                <a:latin typeface="Arial"/>
                <a:cs typeface="Arial"/>
              </a:rPr>
              <a:t>Lawyers</a:t>
            </a:r>
            <a:endParaRPr sz="1200">
              <a:latin typeface="Arial"/>
              <a:cs typeface="Arial"/>
            </a:endParaRPr>
          </a:p>
          <a:p>
            <a:pPr lvl="1" marL="413384" indent="-172720">
              <a:lnSpc>
                <a:spcPts val="1410"/>
              </a:lnSpc>
              <a:buFont typeface="Wingdings"/>
              <a:buChar char=""/>
              <a:tabLst>
                <a:tab pos="414020" algn="l"/>
              </a:tabLst>
            </a:pPr>
            <a:r>
              <a:rPr dirty="0" sz="1200" spc="-5">
                <a:latin typeface="Arial"/>
                <a:cs typeface="Arial"/>
              </a:rPr>
              <a:t>Mentioned the names and nicknames of all</a:t>
            </a:r>
            <a:r>
              <a:rPr dirty="0" sz="1200" spc="-20">
                <a:latin typeface="Arial"/>
                <a:cs typeface="Arial"/>
              </a:rPr>
              <a:t> </a:t>
            </a:r>
            <a:r>
              <a:rPr dirty="0" sz="1200">
                <a:latin typeface="Arial"/>
                <a:cs typeface="Arial"/>
              </a:rPr>
              <a:t>reporters</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125</a:t>
            </a:r>
            <a:endParaRPr sz="1200">
              <a:latin typeface="Times New Roman"/>
              <a:cs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310630" cy="8712200"/>
          </a:xfrm>
          <a:prstGeom prst="rect">
            <a:avLst/>
          </a:prstGeom>
        </p:spPr>
        <p:txBody>
          <a:bodyPr wrap="square" lIns="0" tIns="12700" rIns="0" bIns="0" rtlCol="0" vert="horz">
            <a:spAutoFit/>
          </a:bodyPr>
          <a:lstStyle/>
          <a:p>
            <a:pPr marL="413384" indent="-172720">
              <a:lnSpc>
                <a:spcPts val="1410"/>
              </a:lnSpc>
              <a:spcBef>
                <a:spcPts val="100"/>
              </a:spcBef>
              <a:buFont typeface="Wingdings"/>
              <a:buChar char=""/>
              <a:tabLst>
                <a:tab pos="414020" algn="l"/>
              </a:tabLst>
            </a:pPr>
            <a:r>
              <a:rPr dirty="0" sz="1200" spc="-5">
                <a:latin typeface="Arial"/>
                <a:cs typeface="Arial"/>
              </a:rPr>
              <a:t>Usage of </a:t>
            </a:r>
            <a:r>
              <a:rPr dirty="0" sz="1200" spc="-135">
                <a:latin typeface="Arial"/>
                <a:cs typeface="Arial"/>
              </a:rPr>
              <a:t>‗an </a:t>
            </a:r>
            <a:r>
              <a:rPr dirty="0" sz="1200">
                <a:latin typeface="Arial"/>
                <a:cs typeface="Arial"/>
              </a:rPr>
              <a:t>–</a:t>
            </a:r>
            <a:r>
              <a:rPr dirty="0" sz="1200" spc="-50">
                <a:latin typeface="Arial"/>
                <a:cs typeface="Arial"/>
              </a:rPr>
              <a:t> </a:t>
            </a:r>
            <a:r>
              <a:rPr dirty="0" sz="1200" spc="-5">
                <a:latin typeface="Arial"/>
                <a:cs typeface="Arial"/>
              </a:rPr>
              <a:t>contemporary</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Mursal Hadith</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All Hadith practiced </a:t>
            </a:r>
            <a:r>
              <a:rPr dirty="0" sz="1200">
                <a:latin typeface="Arial"/>
                <a:cs typeface="Arial"/>
              </a:rPr>
              <a:t>by </a:t>
            </a:r>
            <a:r>
              <a:rPr dirty="0" sz="1200" spc="-5">
                <a:latin typeface="Arial"/>
                <a:cs typeface="Arial"/>
              </a:rPr>
              <a:t>the</a:t>
            </a:r>
            <a:r>
              <a:rPr dirty="0" sz="1200" spc="-20">
                <a:latin typeface="Arial"/>
                <a:cs typeface="Arial"/>
              </a:rPr>
              <a:t> </a:t>
            </a:r>
            <a:r>
              <a:rPr dirty="0" sz="1200" spc="-5">
                <a:latin typeface="Arial"/>
                <a:cs typeface="Arial"/>
              </a:rPr>
              <a:t>Jurists</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Explanation of</a:t>
            </a:r>
            <a:r>
              <a:rPr dirty="0" sz="1200" spc="-35">
                <a:latin typeface="Arial"/>
                <a:cs typeface="Arial"/>
              </a:rPr>
              <a:t> </a:t>
            </a:r>
            <a:r>
              <a:rPr dirty="0" sz="1200" spc="-5">
                <a:latin typeface="Arial"/>
                <a:cs typeface="Arial"/>
              </a:rPr>
              <a:t>Hadith</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No Fabricated</a:t>
            </a:r>
            <a:r>
              <a:rPr dirty="0" sz="1200" spc="-30">
                <a:latin typeface="Arial"/>
                <a:cs typeface="Arial"/>
              </a:rPr>
              <a:t> </a:t>
            </a:r>
            <a:r>
              <a:rPr dirty="0" sz="1200" spc="-5">
                <a:latin typeface="Arial"/>
                <a:cs typeface="Arial"/>
              </a:rPr>
              <a:t>Hadith</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Conditions of Bukhariy, Muslim, Abu </a:t>
            </a:r>
            <a:r>
              <a:rPr dirty="0" sz="1200" spc="-10">
                <a:latin typeface="Arial"/>
                <a:cs typeface="Arial"/>
              </a:rPr>
              <a:t>Dawood,</a:t>
            </a:r>
            <a:r>
              <a:rPr dirty="0" sz="1200" spc="10">
                <a:latin typeface="Arial"/>
                <a:cs typeface="Arial"/>
              </a:rPr>
              <a:t> </a:t>
            </a:r>
            <a:r>
              <a:rPr dirty="0" sz="1200" spc="-5">
                <a:latin typeface="Arial"/>
                <a:cs typeface="Arial"/>
              </a:rPr>
              <a:t>Nasa‘i</a:t>
            </a:r>
            <a:endParaRPr sz="1200">
              <a:latin typeface="Arial"/>
              <a:cs typeface="Arial"/>
            </a:endParaRPr>
          </a:p>
          <a:p>
            <a:pPr marL="413384" indent="-172720">
              <a:lnSpc>
                <a:spcPts val="1380"/>
              </a:lnSpc>
              <a:buFont typeface="Wingdings"/>
              <a:buChar char=""/>
              <a:tabLst>
                <a:tab pos="414020" algn="l"/>
              </a:tabLst>
            </a:pPr>
            <a:r>
              <a:rPr dirty="0" sz="1200">
                <a:latin typeface="Arial"/>
                <a:cs typeface="Arial"/>
              </a:rPr>
              <a:t>Hadith </a:t>
            </a:r>
            <a:r>
              <a:rPr dirty="0" sz="1200" spc="-5">
                <a:latin typeface="Arial"/>
                <a:cs typeface="Arial"/>
              </a:rPr>
              <a:t>having </a:t>
            </a:r>
            <a:r>
              <a:rPr dirty="0" sz="1200">
                <a:latin typeface="Arial"/>
                <a:cs typeface="Arial"/>
              </a:rPr>
              <a:t>any </a:t>
            </a:r>
            <a:r>
              <a:rPr dirty="0" sz="1200" spc="-5">
                <a:latin typeface="Arial"/>
                <a:cs typeface="Arial"/>
              </a:rPr>
              <a:t>discrepancy either in Isnad </a:t>
            </a:r>
            <a:r>
              <a:rPr dirty="0" sz="1200">
                <a:latin typeface="Arial"/>
                <a:cs typeface="Arial"/>
              </a:rPr>
              <a:t>or</a:t>
            </a:r>
            <a:r>
              <a:rPr dirty="0" sz="1200" spc="-10">
                <a:latin typeface="Arial"/>
                <a:cs typeface="Arial"/>
              </a:rPr>
              <a:t> </a:t>
            </a:r>
            <a:r>
              <a:rPr dirty="0" sz="1200" spc="-5">
                <a:latin typeface="Arial"/>
                <a:cs typeface="Arial"/>
              </a:rPr>
              <a:t>Matn</a:t>
            </a:r>
            <a:endParaRPr sz="1200">
              <a:latin typeface="Arial"/>
              <a:cs typeface="Arial"/>
            </a:endParaRPr>
          </a:p>
          <a:p>
            <a:pPr marL="413384" indent="-172720">
              <a:lnSpc>
                <a:spcPts val="1410"/>
              </a:lnSpc>
              <a:buFont typeface="Wingdings"/>
              <a:buChar char=""/>
              <a:tabLst>
                <a:tab pos="414020" algn="l"/>
              </a:tabLst>
            </a:pPr>
            <a:r>
              <a:rPr dirty="0" sz="1200">
                <a:latin typeface="Arial"/>
                <a:cs typeface="Arial"/>
              </a:rPr>
              <a:t>Weak </a:t>
            </a:r>
            <a:r>
              <a:rPr dirty="0" sz="1200" spc="-5">
                <a:latin typeface="Arial"/>
                <a:cs typeface="Arial"/>
              </a:rPr>
              <a:t>Hadith which Fuqaha relied</a:t>
            </a:r>
            <a:r>
              <a:rPr dirty="0" sz="1200" spc="-25">
                <a:latin typeface="Arial"/>
                <a:cs typeface="Arial"/>
              </a:rPr>
              <a:t> </a:t>
            </a:r>
            <a:r>
              <a:rPr dirty="0" sz="1200" spc="-5">
                <a:latin typeface="Arial"/>
                <a:cs typeface="Arial"/>
              </a:rPr>
              <a:t>on</a:t>
            </a:r>
            <a:endParaRPr sz="1200">
              <a:latin typeface="Arial"/>
              <a:cs typeface="Arial"/>
            </a:endParaRPr>
          </a:p>
          <a:p>
            <a:pPr>
              <a:lnSpc>
                <a:spcPct val="100000"/>
              </a:lnSpc>
            </a:pPr>
            <a:endParaRPr sz="1300">
              <a:latin typeface="Arial"/>
              <a:cs typeface="Arial"/>
            </a:endParaRPr>
          </a:p>
          <a:p>
            <a:pPr>
              <a:lnSpc>
                <a:spcPct val="100000"/>
              </a:lnSpc>
              <a:spcBef>
                <a:spcPts val="55"/>
              </a:spcBef>
            </a:pPr>
            <a:endParaRPr sz="1000">
              <a:latin typeface="Arial"/>
              <a:cs typeface="Arial"/>
            </a:endParaRPr>
          </a:p>
          <a:p>
            <a:pPr marL="241300">
              <a:lnSpc>
                <a:spcPct val="100000"/>
              </a:lnSpc>
            </a:pPr>
            <a:r>
              <a:rPr dirty="0" sz="1200" b="1" i="1">
                <a:latin typeface="Arial"/>
                <a:cs typeface="Arial"/>
              </a:rPr>
              <a:t>4. </a:t>
            </a:r>
            <a:r>
              <a:rPr dirty="0" u="heavy" sz="1200" b="1" i="1">
                <a:uFill>
                  <a:solidFill>
                    <a:srgbClr val="000000"/>
                  </a:solidFill>
                </a:uFill>
                <a:latin typeface="Arial"/>
                <a:cs typeface="Arial"/>
              </a:rPr>
              <a:t>Sunan </a:t>
            </a:r>
            <a:r>
              <a:rPr dirty="0" u="heavy" sz="1200" spc="-5" b="1" i="1">
                <a:uFill>
                  <a:solidFill>
                    <a:srgbClr val="000000"/>
                  </a:solidFill>
                </a:uFill>
                <a:latin typeface="Arial"/>
                <a:cs typeface="Arial"/>
              </a:rPr>
              <a:t>Abu</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Dawood</a:t>
            </a:r>
            <a:endParaRPr sz="1200">
              <a:latin typeface="Arial"/>
              <a:cs typeface="Arial"/>
            </a:endParaRPr>
          </a:p>
          <a:p>
            <a:pPr>
              <a:lnSpc>
                <a:spcPct val="100000"/>
              </a:lnSpc>
              <a:spcBef>
                <a:spcPts val="55"/>
              </a:spcBef>
            </a:pPr>
            <a:endParaRPr sz="1150">
              <a:latin typeface="Arial"/>
              <a:cs typeface="Arial"/>
            </a:endParaRPr>
          </a:p>
          <a:p>
            <a:pPr algn="just" marL="12700" marR="5080">
              <a:lnSpc>
                <a:spcPct val="95900"/>
              </a:lnSpc>
            </a:pPr>
            <a:r>
              <a:rPr dirty="0" sz="1200">
                <a:latin typeface="Arial"/>
                <a:cs typeface="Arial"/>
              </a:rPr>
              <a:t>Its </a:t>
            </a:r>
            <a:r>
              <a:rPr dirty="0" sz="1200" spc="-5">
                <a:latin typeface="Arial"/>
                <a:cs typeface="Arial"/>
              </a:rPr>
              <a:t>author is Imaam Abu Dawood Sulaymaan ibn </a:t>
            </a:r>
            <a:r>
              <a:rPr dirty="0" sz="1200">
                <a:latin typeface="Arial"/>
                <a:cs typeface="Arial"/>
              </a:rPr>
              <a:t>al-Ash‘ath </a:t>
            </a:r>
            <a:r>
              <a:rPr dirty="0" sz="1200" spc="-5">
                <a:latin typeface="Arial"/>
                <a:cs typeface="Arial"/>
              </a:rPr>
              <a:t>Sijistaaniy </a:t>
            </a:r>
            <a:r>
              <a:rPr dirty="0" sz="1200" spc="-10">
                <a:latin typeface="Arial"/>
                <a:cs typeface="Arial"/>
              </a:rPr>
              <a:t>who </a:t>
            </a:r>
            <a:r>
              <a:rPr dirty="0" sz="1200">
                <a:latin typeface="Arial"/>
                <a:cs typeface="Arial"/>
              </a:rPr>
              <a:t>took </a:t>
            </a:r>
            <a:r>
              <a:rPr dirty="0" sz="1200" spc="-5">
                <a:latin typeface="Arial"/>
                <a:cs typeface="Arial"/>
              </a:rPr>
              <a:t>birth in  Sijistaan, Khuraasaan in the year 202 and died in the year 275 </a:t>
            </a:r>
            <a:r>
              <a:rPr dirty="0" sz="1200">
                <a:latin typeface="Arial"/>
                <a:cs typeface="Arial"/>
              </a:rPr>
              <a:t>AH. The </a:t>
            </a:r>
            <a:r>
              <a:rPr dirty="0" sz="1200" spc="-5">
                <a:latin typeface="Arial"/>
                <a:cs typeface="Arial"/>
              </a:rPr>
              <a:t>book consists of  4,800 Hadith. He belonged </a:t>
            </a:r>
            <a:r>
              <a:rPr dirty="0" sz="1200">
                <a:latin typeface="Arial"/>
                <a:cs typeface="Arial"/>
              </a:rPr>
              <a:t>to </a:t>
            </a:r>
            <a:r>
              <a:rPr dirty="0" sz="1200" spc="-5">
                <a:latin typeface="Arial"/>
                <a:cs typeface="Arial"/>
              </a:rPr>
              <a:t>the Arab tribe, Azd. Even though </a:t>
            </a:r>
            <a:r>
              <a:rPr dirty="0" sz="1200" spc="-10">
                <a:latin typeface="Arial"/>
                <a:cs typeface="Arial"/>
              </a:rPr>
              <a:t>he was </a:t>
            </a:r>
            <a:r>
              <a:rPr dirty="0" sz="1200" spc="-5">
                <a:latin typeface="Arial"/>
                <a:cs typeface="Arial"/>
              </a:rPr>
              <a:t>born in </a:t>
            </a:r>
            <a:r>
              <a:rPr dirty="0" sz="1200" spc="5">
                <a:latin typeface="Arial"/>
                <a:cs typeface="Arial"/>
              </a:rPr>
              <a:t>Sajistan </a:t>
            </a:r>
            <a:r>
              <a:rPr dirty="0" sz="1200" spc="-5">
                <a:latin typeface="Arial"/>
                <a:cs typeface="Arial"/>
              </a:rPr>
              <a:t>he  spent the greater part of </a:t>
            </a:r>
            <a:r>
              <a:rPr dirty="0" sz="1200">
                <a:latin typeface="Arial"/>
                <a:cs typeface="Arial"/>
              </a:rPr>
              <a:t>his </a:t>
            </a:r>
            <a:r>
              <a:rPr dirty="0" sz="1200" spc="-5">
                <a:latin typeface="Arial"/>
                <a:cs typeface="Arial"/>
              </a:rPr>
              <a:t>life </a:t>
            </a:r>
            <a:r>
              <a:rPr dirty="0" sz="1200">
                <a:latin typeface="Arial"/>
                <a:cs typeface="Arial"/>
              </a:rPr>
              <a:t>at </a:t>
            </a:r>
            <a:r>
              <a:rPr dirty="0" sz="1200" spc="-5">
                <a:latin typeface="Arial"/>
                <a:cs typeface="Arial"/>
              </a:rPr>
              <a:t>Basrah which </a:t>
            </a:r>
            <a:r>
              <a:rPr dirty="0" sz="1200" spc="-10">
                <a:latin typeface="Arial"/>
                <a:cs typeface="Arial"/>
              </a:rPr>
              <a:t>was </a:t>
            </a:r>
            <a:r>
              <a:rPr dirty="0" sz="1200" spc="-5">
                <a:latin typeface="Arial"/>
                <a:cs typeface="Arial"/>
              </a:rPr>
              <a:t>the seat of Islamic </a:t>
            </a:r>
            <a:r>
              <a:rPr dirty="0" sz="1200">
                <a:latin typeface="Arial"/>
                <a:cs typeface="Arial"/>
              </a:rPr>
              <a:t>learning </a:t>
            </a:r>
            <a:r>
              <a:rPr dirty="0" sz="1200" spc="-5">
                <a:latin typeface="Arial"/>
                <a:cs typeface="Arial"/>
              </a:rPr>
              <a:t>in his</a:t>
            </a:r>
            <a:r>
              <a:rPr dirty="0" sz="1200" spc="130">
                <a:latin typeface="Arial"/>
                <a:cs typeface="Arial"/>
              </a:rPr>
              <a:t> </a:t>
            </a:r>
            <a:r>
              <a:rPr dirty="0" sz="1200" spc="-5">
                <a:latin typeface="Arial"/>
                <a:cs typeface="Arial"/>
              </a:rPr>
              <a:t>time.</a:t>
            </a:r>
            <a:endParaRPr sz="1200">
              <a:latin typeface="Arial"/>
              <a:cs typeface="Arial"/>
            </a:endParaRPr>
          </a:p>
          <a:p>
            <a:pPr>
              <a:lnSpc>
                <a:spcPct val="100000"/>
              </a:lnSpc>
              <a:spcBef>
                <a:spcPts val="35"/>
              </a:spcBef>
            </a:pPr>
            <a:endParaRPr sz="1200">
              <a:latin typeface="Arial"/>
              <a:cs typeface="Arial"/>
            </a:endParaRPr>
          </a:p>
          <a:p>
            <a:pPr algn="just" marL="12700" marR="5715">
              <a:lnSpc>
                <a:spcPts val="1380"/>
              </a:lnSpc>
            </a:pPr>
            <a:r>
              <a:rPr dirty="0" sz="1200">
                <a:latin typeface="Arial"/>
                <a:cs typeface="Arial"/>
              </a:rPr>
              <a:t>It </a:t>
            </a:r>
            <a:r>
              <a:rPr dirty="0" sz="1200" spc="-5">
                <a:latin typeface="Arial"/>
                <a:cs typeface="Arial"/>
              </a:rPr>
              <a:t>is stated that </a:t>
            </a:r>
            <a:r>
              <a:rPr dirty="0" sz="1200">
                <a:latin typeface="Arial"/>
                <a:cs typeface="Arial"/>
              </a:rPr>
              <a:t>Imam </a:t>
            </a:r>
            <a:r>
              <a:rPr dirty="0" sz="1200" spc="-5">
                <a:latin typeface="Arial"/>
                <a:cs typeface="Arial"/>
              </a:rPr>
              <a:t>Abu Dawud used </a:t>
            </a:r>
            <a:r>
              <a:rPr dirty="0" sz="1200">
                <a:latin typeface="Arial"/>
                <a:cs typeface="Arial"/>
              </a:rPr>
              <a:t>to </a:t>
            </a:r>
            <a:r>
              <a:rPr dirty="0" sz="1200" spc="-5">
                <a:latin typeface="Arial"/>
                <a:cs typeface="Arial"/>
              </a:rPr>
              <a:t>wear one of his sleeves wide and </a:t>
            </a:r>
            <a:r>
              <a:rPr dirty="0" sz="1200">
                <a:latin typeface="Arial"/>
                <a:cs typeface="Arial"/>
              </a:rPr>
              <a:t>the </a:t>
            </a:r>
            <a:r>
              <a:rPr dirty="0" sz="1200" spc="-5">
                <a:latin typeface="Arial"/>
                <a:cs typeface="Arial"/>
              </a:rPr>
              <a:t>other  correctly sized. </a:t>
            </a:r>
            <a:r>
              <a:rPr dirty="0" sz="1200">
                <a:latin typeface="Arial"/>
                <a:cs typeface="Arial"/>
              </a:rPr>
              <a:t>When </a:t>
            </a:r>
            <a:r>
              <a:rPr dirty="0" sz="1200" spc="-5">
                <a:latin typeface="Arial"/>
                <a:cs typeface="Arial"/>
              </a:rPr>
              <a:t>he </a:t>
            </a:r>
            <a:r>
              <a:rPr dirty="0" sz="1200" spc="-10">
                <a:latin typeface="Arial"/>
                <a:cs typeface="Arial"/>
              </a:rPr>
              <a:t>was </a:t>
            </a:r>
            <a:r>
              <a:rPr dirty="0" sz="1200" spc="-5">
                <a:latin typeface="Arial"/>
                <a:cs typeface="Arial"/>
              </a:rPr>
              <a:t>asked </a:t>
            </a:r>
            <a:r>
              <a:rPr dirty="0" sz="1200">
                <a:latin typeface="Arial"/>
                <a:cs typeface="Arial"/>
              </a:rPr>
              <a:t>for </a:t>
            </a:r>
            <a:r>
              <a:rPr dirty="0" sz="1200" spc="-5">
                <a:latin typeface="Arial"/>
                <a:cs typeface="Arial"/>
              </a:rPr>
              <a:t>the </a:t>
            </a:r>
            <a:r>
              <a:rPr dirty="0" sz="1200" spc="-10">
                <a:latin typeface="Arial"/>
                <a:cs typeface="Arial"/>
              </a:rPr>
              <a:t>reason </a:t>
            </a:r>
            <a:r>
              <a:rPr dirty="0" sz="1200" spc="-5">
                <a:latin typeface="Arial"/>
                <a:cs typeface="Arial"/>
              </a:rPr>
              <a:t>of </a:t>
            </a:r>
            <a:r>
              <a:rPr dirty="0" sz="1200">
                <a:latin typeface="Arial"/>
                <a:cs typeface="Arial"/>
              </a:rPr>
              <a:t>this </a:t>
            </a:r>
            <a:r>
              <a:rPr dirty="0" sz="1200" spc="-5">
                <a:latin typeface="Arial"/>
                <a:cs typeface="Arial"/>
              </a:rPr>
              <a:t>oddity </a:t>
            </a:r>
            <a:r>
              <a:rPr dirty="0" sz="1200" spc="15">
                <a:latin typeface="Arial"/>
                <a:cs typeface="Arial"/>
              </a:rPr>
              <a:t>he </a:t>
            </a:r>
            <a:r>
              <a:rPr dirty="0" sz="1200" spc="-5">
                <a:latin typeface="Arial"/>
                <a:cs typeface="Arial"/>
              </a:rPr>
              <a:t>replied, "To </a:t>
            </a:r>
            <a:r>
              <a:rPr dirty="0" sz="1200">
                <a:latin typeface="Arial"/>
                <a:cs typeface="Arial"/>
              </a:rPr>
              <a:t>store </a:t>
            </a:r>
            <a:r>
              <a:rPr dirty="0" sz="1200" spc="-5">
                <a:latin typeface="Arial"/>
                <a:cs typeface="Arial"/>
              </a:rPr>
              <a:t>notes  on hadith. </a:t>
            </a:r>
            <a:r>
              <a:rPr dirty="0" sz="1200">
                <a:latin typeface="Arial"/>
                <a:cs typeface="Arial"/>
              </a:rPr>
              <a:t>I </a:t>
            </a:r>
            <a:r>
              <a:rPr dirty="0" sz="1200" spc="-5">
                <a:latin typeface="Arial"/>
                <a:cs typeface="Arial"/>
              </a:rPr>
              <a:t>consider widening the other </a:t>
            </a:r>
            <a:r>
              <a:rPr dirty="0" sz="1200" spc="-10">
                <a:latin typeface="Arial"/>
                <a:cs typeface="Arial"/>
              </a:rPr>
              <a:t>sleeve </a:t>
            </a:r>
            <a:r>
              <a:rPr dirty="0" sz="1200" spc="-5">
                <a:latin typeface="Arial"/>
                <a:cs typeface="Arial"/>
              </a:rPr>
              <a:t>unnecessarily </a:t>
            </a:r>
            <a:r>
              <a:rPr dirty="0" sz="1200">
                <a:latin typeface="Arial"/>
                <a:cs typeface="Arial"/>
              </a:rPr>
              <a:t>as an</a:t>
            </a:r>
            <a:r>
              <a:rPr dirty="0" sz="1200" spc="55">
                <a:latin typeface="Arial"/>
                <a:cs typeface="Arial"/>
              </a:rPr>
              <a:t> </a:t>
            </a:r>
            <a:r>
              <a:rPr dirty="0" sz="1200" spc="-5">
                <a:latin typeface="Arial"/>
                <a:cs typeface="Arial"/>
              </a:rPr>
              <a:t>extravagance".</a:t>
            </a:r>
            <a:endParaRPr sz="1200">
              <a:latin typeface="Arial"/>
              <a:cs typeface="Arial"/>
            </a:endParaRPr>
          </a:p>
          <a:p>
            <a:pPr>
              <a:lnSpc>
                <a:spcPct val="100000"/>
              </a:lnSpc>
              <a:spcBef>
                <a:spcPts val="10"/>
              </a:spcBef>
            </a:pPr>
            <a:endParaRPr sz="1600">
              <a:latin typeface="Arial"/>
              <a:cs typeface="Arial"/>
            </a:endParaRPr>
          </a:p>
          <a:p>
            <a:pPr algn="just" marL="12700" marR="5715">
              <a:lnSpc>
                <a:spcPct val="95600"/>
              </a:lnSpc>
              <a:spcBef>
                <a:spcPts val="5"/>
              </a:spcBef>
            </a:pPr>
            <a:r>
              <a:rPr dirty="0" sz="1200" spc="-5">
                <a:latin typeface="Arial"/>
                <a:cs typeface="Arial"/>
              </a:rPr>
              <a:t>Imam Abu Dawud heard hadith from 300 persons </a:t>
            </a:r>
            <a:r>
              <a:rPr dirty="0" sz="1200" spc="-10">
                <a:latin typeface="Arial"/>
                <a:cs typeface="Arial"/>
              </a:rPr>
              <a:t>who </a:t>
            </a:r>
            <a:r>
              <a:rPr dirty="0" sz="1200" spc="-5">
                <a:latin typeface="Arial"/>
                <a:cs typeface="Arial"/>
              </a:rPr>
              <a:t>were his </a:t>
            </a:r>
            <a:r>
              <a:rPr dirty="0" sz="1200">
                <a:latin typeface="Arial"/>
                <a:cs typeface="Arial"/>
              </a:rPr>
              <a:t>teachers. </a:t>
            </a:r>
            <a:r>
              <a:rPr dirty="0" sz="1200" spc="-5">
                <a:latin typeface="Arial"/>
                <a:cs typeface="Arial"/>
              </a:rPr>
              <a:t>Some were: Imam  Ahmad ibn Hanbal, Ishaq ibn Rahawaiy, Abu Thaur, </a:t>
            </a:r>
            <a:r>
              <a:rPr dirty="0" sz="1200" spc="-10">
                <a:latin typeface="Arial"/>
                <a:cs typeface="Arial"/>
              </a:rPr>
              <a:t>Yahya </a:t>
            </a:r>
            <a:r>
              <a:rPr dirty="0" sz="1200" spc="-5">
                <a:latin typeface="Arial"/>
                <a:cs typeface="Arial"/>
              </a:rPr>
              <a:t>ibn </a:t>
            </a:r>
            <a:r>
              <a:rPr dirty="0" sz="1200" spc="5">
                <a:latin typeface="Arial"/>
                <a:cs typeface="Arial"/>
              </a:rPr>
              <a:t>Ma'in. </a:t>
            </a:r>
            <a:r>
              <a:rPr dirty="0" sz="1200">
                <a:latin typeface="Arial"/>
                <a:cs typeface="Arial"/>
              </a:rPr>
              <a:t>For </a:t>
            </a:r>
            <a:r>
              <a:rPr dirty="0" sz="1200" spc="-5">
                <a:latin typeface="Arial"/>
                <a:cs typeface="Arial"/>
              </a:rPr>
              <a:t>one to grasp his  elevated status, </a:t>
            </a:r>
            <a:r>
              <a:rPr dirty="0" sz="1200" spc="-10">
                <a:latin typeface="Arial"/>
                <a:cs typeface="Arial"/>
              </a:rPr>
              <a:t>he </a:t>
            </a:r>
            <a:r>
              <a:rPr dirty="0" sz="1200" spc="-5">
                <a:latin typeface="Arial"/>
                <a:cs typeface="Arial"/>
              </a:rPr>
              <a:t>narrated hadith </a:t>
            </a:r>
            <a:r>
              <a:rPr dirty="0" sz="1200">
                <a:latin typeface="Arial"/>
                <a:cs typeface="Arial"/>
              </a:rPr>
              <a:t>to </a:t>
            </a:r>
            <a:r>
              <a:rPr dirty="0" sz="1200" spc="-5">
                <a:latin typeface="Arial"/>
                <a:cs typeface="Arial"/>
              </a:rPr>
              <a:t>the teachers of Imam Ahmad. Imam Ahmad ibn Hanbal  also narrated one hadith from </a:t>
            </a:r>
            <a:r>
              <a:rPr dirty="0" sz="1200">
                <a:latin typeface="Arial"/>
                <a:cs typeface="Arial"/>
              </a:rPr>
              <a:t>him. </a:t>
            </a:r>
            <a:r>
              <a:rPr dirty="0" sz="1200" spc="-5">
                <a:latin typeface="Arial"/>
                <a:cs typeface="Arial"/>
              </a:rPr>
              <a:t>Among </a:t>
            </a:r>
            <a:r>
              <a:rPr dirty="0" sz="1200">
                <a:latin typeface="Arial"/>
                <a:cs typeface="Arial"/>
              </a:rPr>
              <a:t>the </a:t>
            </a:r>
            <a:r>
              <a:rPr dirty="0" sz="1200" spc="-5">
                <a:latin typeface="Arial"/>
                <a:cs typeface="Arial"/>
              </a:rPr>
              <a:t>students of Imam Abu Dawud are great  personalities like: Ibn Arabi, Abu `Isa </a:t>
            </a:r>
            <a:r>
              <a:rPr dirty="0" sz="1200">
                <a:latin typeface="Arial"/>
                <a:cs typeface="Arial"/>
              </a:rPr>
              <a:t>al-Tirmidhi </a:t>
            </a:r>
            <a:r>
              <a:rPr dirty="0" sz="1200" spc="-5">
                <a:latin typeface="Arial"/>
                <a:cs typeface="Arial"/>
              </a:rPr>
              <a:t>and Abu `Abdur-Rahman </a:t>
            </a:r>
            <a:r>
              <a:rPr dirty="0" sz="1200" spc="-10">
                <a:latin typeface="Arial"/>
                <a:cs typeface="Arial"/>
              </a:rPr>
              <a:t>An</a:t>
            </a:r>
            <a:r>
              <a:rPr dirty="0" sz="1200" spc="90">
                <a:latin typeface="Arial"/>
                <a:cs typeface="Arial"/>
              </a:rPr>
              <a:t> </a:t>
            </a:r>
            <a:r>
              <a:rPr dirty="0" sz="1200" spc="-5">
                <a:latin typeface="Arial"/>
                <a:cs typeface="Arial"/>
              </a:rPr>
              <a:t>Nasa'i.</a:t>
            </a:r>
            <a:endParaRPr sz="1200">
              <a:latin typeface="Arial"/>
              <a:cs typeface="Arial"/>
            </a:endParaRPr>
          </a:p>
          <a:p>
            <a:pPr algn="just" marL="12700" marR="11430">
              <a:lnSpc>
                <a:spcPts val="1380"/>
              </a:lnSpc>
              <a:spcBef>
                <a:spcPts val="1045"/>
              </a:spcBef>
            </a:pPr>
            <a:r>
              <a:rPr dirty="0" sz="1200" spc="-5">
                <a:latin typeface="Arial"/>
                <a:cs typeface="Arial"/>
              </a:rPr>
              <a:t>He presented the completed compilation to his beloved teacher Imam Ahmad ibn </a:t>
            </a:r>
            <a:r>
              <a:rPr dirty="0" sz="1200">
                <a:latin typeface="Arial"/>
                <a:cs typeface="Arial"/>
              </a:rPr>
              <a:t>Hanbal  </a:t>
            </a:r>
            <a:r>
              <a:rPr dirty="0" sz="1200" spc="-10">
                <a:latin typeface="Arial"/>
                <a:cs typeface="Arial"/>
              </a:rPr>
              <a:t>who was </a:t>
            </a:r>
            <a:r>
              <a:rPr dirty="0" sz="1200">
                <a:latin typeface="Arial"/>
                <a:cs typeface="Arial"/>
              </a:rPr>
              <a:t>greatly pleased </a:t>
            </a:r>
            <a:r>
              <a:rPr dirty="0" sz="1200" spc="-5">
                <a:latin typeface="Arial"/>
                <a:cs typeface="Arial"/>
              </a:rPr>
              <a:t>at </a:t>
            </a:r>
            <a:r>
              <a:rPr dirty="0" sz="1200">
                <a:latin typeface="Arial"/>
                <a:cs typeface="Arial"/>
              </a:rPr>
              <a:t>this</a:t>
            </a:r>
            <a:r>
              <a:rPr dirty="0" sz="1200" spc="5">
                <a:latin typeface="Arial"/>
                <a:cs typeface="Arial"/>
              </a:rPr>
              <a:t> </a:t>
            </a:r>
            <a:r>
              <a:rPr dirty="0" sz="1200" spc="-5">
                <a:latin typeface="Arial"/>
                <a:cs typeface="Arial"/>
              </a:rPr>
              <a:t>collection.</a:t>
            </a:r>
            <a:endParaRPr sz="1200">
              <a:latin typeface="Arial"/>
              <a:cs typeface="Arial"/>
            </a:endParaRPr>
          </a:p>
          <a:p>
            <a:pPr algn="just" marL="12700" marR="10160">
              <a:lnSpc>
                <a:spcPct val="96300"/>
              </a:lnSpc>
              <a:spcBef>
                <a:spcPts val="940"/>
              </a:spcBef>
            </a:pPr>
            <a:r>
              <a:rPr dirty="0" sz="1200" spc="-5" i="1">
                <a:latin typeface="Arial"/>
                <a:cs typeface="Arial"/>
              </a:rPr>
              <a:t>Sunan Abu Dawud </a:t>
            </a:r>
            <a:r>
              <a:rPr dirty="0" sz="1200" spc="-5">
                <a:latin typeface="Arial"/>
                <a:cs typeface="Arial"/>
              </a:rPr>
              <a:t>is an important collection of hadith: Most of the scholars have assigned </a:t>
            </a:r>
            <a:r>
              <a:rPr dirty="0" sz="1200">
                <a:latin typeface="Arial"/>
                <a:cs typeface="Arial"/>
              </a:rPr>
              <a:t>it  to </a:t>
            </a:r>
            <a:r>
              <a:rPr dirty="0" sz="1200" spc="-5">
                <a:latin typeface="Arial"/>
                <a:cs typeface="Arial"/>
              </a:rPr>
              <a:t>third position </a:t>
            </a:r>
            <a:r>
              <a:rPr dirty="0" sz="1200" spc="-10">
                <a:latin typeface="Arial"/>
                <a:cs typeface="Arial"/>
              </a:rPr>
              <a:t>among </a:t>
            </a:r>
            <a:r>
              <a:rPr dirty="0" sz="1200">
                <a:latin typeface="Arial"/>
                <a:cs typeface="Arial"/>
              </a:rPr>
              <a:t>the </a:t>
            </a:r>
            <a:r>
              <a:rPr dirty="0" sz="1200" spc="-5">
                <a:latin typeface="Arial"/>
                <a:cs typeface="Arial"/>
              </a:rPr>
              <a:t>six authentic books of hadith. It is only </a:t>
            </a:r>
            <a:r>
              <a:rPr dirty="0" sz="1200">
                <a:latin typeface="Arial"/>
                <a:cs typeface="Arial"/>
              </a:rPr>
              <a:t>after </a:t>
            </a:r>
            <a:r>
              <a:rPr dirty="0" sz="1200" spc="-5">
                <a:latin typeface="Arial"/>
                <a:cs typeface="Arial"/>
              </a:rPr>
              <a:t>the compilation of  Sahih Bukhari and Sahih</a:t>
            </a:r>
            <a:r>
              <a:rPr dirty="0" sz="1200" spc="-10">
                <a:latin typeface="Arial"/>
                <a:cs typeface="Arial"/>
              </a:rPr>
              <a:t> </a:t>
            </a:r>
            <a:r>
              <a:rPr dirty="0" sz="1200" spc="-5">
                <a:latin typeface="Arial"/>
                <a:cs typeface="Arial"/>
              </a:rPr>
              <a:t>Muslim.</a:t>
            </a:r>
            <a:endParaRPr sz="1200">
              <a:latin typeface="Arial"/>
              <a:cs typeface="Arial"/>
            </a:endParaRPr>
          </a:p>
          <a:p>
            <a:pPr algn="just" marL="12700">
              <a:lnSpc>
                <a:spcPct val="100000"/>
              </a:lnSpc>
              <a:spcBef>
                <a:spcPts val="950"/>
              </a:spcBef>
            </a:pPr>
            <a:r>
              <a:rPr dirty="0" u="heavy" sz="1200" spc="-5" b="1" i="1">
                <a:uFill>
                  <a:solidFill>
                    <a:srgbClr val="000000"/>
                  </a:solidFill>
                </a:uFill>
                <a:latin typeface="Arial"/>
                <a:cs typeface="Arial"/>
              </a:rPr>
              <a:t>Imam Abu Dawud himself has</a:t>
            </a:r>
            <a:r>
              <a:rPr dirty="0" u="heavy" sz="1200" spc="10" b="1" i="1">
                <a:uFill>
                  <a:solidFill>
                    <a:srgbClr val="000000"/>
                  </a:solidFill>
                </a:uFill>
                <a:latin typeface="Arial"/>
                <a:cs typeface="Arial"/>
              </a:rPr>
              <a:t> </a:t>
            </a:r>
            <a:r>
              <a:rPr dirty="0" u="heavy" sz="1200" b="1" i="1">
                <a:uFill>
                  <a:solidFill>
                    <a:srgbClr val="000000"/>
                  </a:solidFill>
                </a:uFill>
                <a:latin typeface="Arial"/>
                <a:cs typeface="Arial"/>
              </a:rPr>
              <a:t>stated:</a:t>
            </a:r>
            <a:endParaRPr sz="1200">
              <a:latin typeface="Arial"/>
              <a:cs typeface="Arial"/>
            </a:endParaRPr>
          </a:p>
          <a:p>
            <a:pPr algn="just" marL="12700" marR="12065">
              <a:lnSpc>
                <a:spcPts val="1380"/>
              </a:lnSpc>
              <a:spcBef>
                <a:spcPts val="525"/>
              </a:spcBef>
            </a:pPr>
            <a:r>
              <a:rPr dirty="0" sz="1200" spc="-5">
                <a:latin typeface="Arial"/>
                <a:cs typeface="Arial"/>
              </a:rPr>
              <a:t>From this book of mine </a:t>
            </a:r>
            <a:r>
              <a:rPr dirty="0" sz="1200">
                <a:latin typeface="Arial"/>
                <a:cs typeface="Arial"/>
              </a:rPr>
              <a:t>four </a:t>
            </a:r>
            <a:r>
              <a:rPr dirty="0" sz="1200" spc="-5">
                <a:latin typeface="Arial"/>
                <a:cs typeface="Arial"/>
              </a:rPr>
              <a:t>(4) hadith are sufficient </a:t>
            </a:r>
            <a:r>
              <a:rPr dirty="0" sz="1200">
                <a:latin typeface="Arial"/>
                <a:cs typeface="Arial"/>
              </a:rPr>
              <a:t>for </a:t>
            </a:r>
            <a:r>
              <a:rPr dirty="0" sz="1200" spc="-5">
                <a:latin typeface="Arial"/>
                <a:cs typeface="Arial"/>
              </a:rPr>
              <a:t>an intelligent and insightful person.  They</a:t>
            </a:r>
            <a:r>
              <a:rPr dirty="0" sz="1200" spc="-20">
                <a:latin typeface="Arial"/>
                <a:cs typeface="Arial"/>
              </a:rPr>
              <a:t> </a:t>
            </a:r>
            <a:r>
              <a:rPr dirty="0" sz="1200">
                <a:latin typeface="Arial"/>
                <a:cs typeface="Arial"/>
              </a:rPr>
              <a:t>are:</a:t>
            </a:r>
            <a:endParaRPr sz="1200">
              <a:latin typeface="Arial"/>
              <a:cs typeface="Arial"/>
            </a:endParaRPr>
          </a:p>
          <a:p>
            <a:pPr marL="281940" indent="-227329">
              <a:lnSpc>
                <a:spcPct val="100000"/>
              </a:lnSpc>
              <a:spcBef>
                <a:spcPts val="915"/>
              </a:spcBef>
              <a:buSzPct val="83333"/>
              <a:buFont typeface="Symbol"/>
              <a:buChar char=""/>
              <a:tabLst>
                <a:tab pos="281940" algn="l"/>
                <a:tab pos="282575" algn="l"/>
              </a:tabLst>
            </a:pPr>
            <a:r>
              <a:rPr dirty="0" sz="1200">
                <a:latin typeface="Arial"/>
                <a:cs typeface="Arial"/>
              </a:rPr>
              <a:t>Deeds </a:t>
            </a:r>
            <a:r>
              <a:rPr dirty="0" sz="1200" spc="-5">
                <a:latin typeface="Arial"/>
                <a:cs typeface="Arial"/>
              </a:rPr>
              <a:t>are </a:t>
            </a:r>
            <a:r>
              <a:rPr dirty="0" sz="1200">
                <a:latin typeface="Arial"/>
                <a:cs typeface="Arial"/>
              </a:rPr>
              <a:t>to be </a:t>
            </a:r>
            <a:r>
              <a:rPr dirty="0" sz="1200" spc="-5">
                <a:latin typeface="Arial"/>
                <a:cs typeface="Arial"/>
              </a:rPr>
              <a:t>judged </a:t>
            </a:r>
            <a:r>
              <a:rPr dirty="0" sz="1200">
                <a:latin typeface="Arial"/>
                <a:cs typeface="Arial"/>
              </a:rPr>
              <a:t>only by</a:t>
            </a:r>
            <a:r>
              <a:rPr dirty="0" sz="1200" spc="-55">
                <a:latin typeface="Arial"/>
                <a:cs typeface="Arial"/>
              </a:rPr>
              <a:t> </a:t>
            </a:r>
            <a:r>
              <a:rPr dirty="0" sz="1200" spc="-5">
                <a:latin typeface="Arial"/>
                <a:cs typeface="Arial"/>
              </a:rPr>
              <a:t>intentions.</a:t>
            </a:r>
            <a:endParaRPr sz="1200">
              <a:latin typeface="Arial"/>
              <a:cs typeface="Arial"/>
            </a:endParaRPr>
          </a:p>
          <a:p>
            <a:pPr marL="281940" marR="12065" indent="-227329">
              <a:lnSpc>
                <a:spcPts val="1370"/>
              </a:lnSpc>
              <a:spcBef>
                <a:spcPts val="1040"/>
              </a:spcBef>
              <a:buSzPct val="83333"/>
              <a:buFont typeface="Symbol"/>
              <a:buChar char=""/>
              <a:tabLst>
                <a:tab pos="283845" algn="l"/>
                <a:tab pos="284480" algn="l"/>
              </a:tabLst>
            </a:pPr>
            <a:r>
              <a:rPr dirty="0" sz="1200">
                <a:latin typeface="Arial"/>
                <a:cs typeface="Arial"/>
              </a:rPr>
              <a:t>Part </a:t>
            </a:r>
            <a:r>
              <a:rPr dirty="0" sz="1200" spc="-5">
                <a:latin typeface="Arial"/>
                <a:cs typeface="Arial"/>
              </a:rPr>
              <a:t>of a man's good observance of Islam </a:t>
            </a:r>
            <a:r>
              <a:rPr dirty="0" sz="1200" spc="-10">
                <a:latin typeface="Arial"/>
                <a:cs typeface="Arial"/>
              </a:rPr>
              <a:t>is </a:t>
            </a:r>
            <a:r>
              <a:rPr dirty="0" sz="1200">
                <a:latin typeface="Arial"/>
                <a:cs typeface="Arial"/>
              </a:rPr>
              <a:t>that </a:t>
            </a:r>
            <a:r>
              <a:rPr dirty="0" sz="1200" spc="-5">
                <a:latin typeface="Arial"/>
                <a:cs typeface="Arial"/>
              </a:rPr>
              <a:t>he leaves alone </a:t>
            </a:r>
            <a:r>
              <a:rPr dirty="0" sz="1200">
                <a:latin typeface="Arial"/>
                <a:cs typeface="Arial"/>
              </a:rPr>
              <a:t>that </a:t>
            </a:r>
            <a:r>
              <a:rPr dirty="0" sz="1200" spc="-5">
                <a:latin typeface="Arial"/>
                <a:cs typeface="Arial"/>
              </a:rPr>
              <a:t>which does </a:t>
            </a:r>
            <a:r>
              <a:rPr dirty="0" sz="1200" spc="-10">
                <a:latin typeface="Arial"/>
                <a:cs typeface="Arial"/>
              </a:rPr>
              <a:t>not  </a:t>
            </a:r>
            <a:r>
              <a:rPr dirty="0" sz="1200" spc="-5">
                <a:latin typeface="Arial"/>
                <a:cs typeface="Arial"/>
              </a:rPr>
              <a:t>concern</a:t>
            </a:r>
            <a:r>
              <a:rPr dirty="0" sz="1200" spc="-15">
                <a:latin typeface="Arial"/>
                <a:cs typeface="Arial"/>
              </a:rPr>
              <a:t> </a:t>
            </a:r>
            <a:r>
              <a:rPr dirty="0" sz="1200">
                <a:latin typeface="Arial"/>
                <a:cs typeface="Arial"/>
              </a:rPr>
              <a:t>him.</a:t>
            </a:r>
            <a:endParaRPr sz="1200">
              <a:latin typeface="Arial"/>
              <a:cs typeface="Arial"/>
            </a:endParaRPr>
          </a:p>
          <a:p>
            <a:pPr marL="281940" marR="11430" indent="-227329">
              <a:lnSpc>
                <a:spcPts val="1380"/>
              </a:lnSpc>
              <a:spcBef>
                <a:spcPts val="1010"/>
              </a:spcBef>
              <a:buSzPct val="83333"/>
              <a:buFont typeface="Symbol"/>
              <a:buChar char=""/>
              <a:tabLst>
                <a:tab pos="283845" algn="l"/>
                <a:tab pos="284480" algn="l"/>
              </a:tabLst>
            </a:pPr>
            <a:r>
              <a:rPr dirty="0" sz="1200">
                <a:latin typeface="Arial"/>
                <a:cs typeface="Arial"/>
              </a:rPr>
              <a:t>None </a:t>
            </a:r>
            <a:r>
              <a:rPr dirty="0" sz="1200" spc="-5">
                <a:latin typeface="Arial"/>
                <a:cs typeface="Arial"/>
              </a:rPr>
              <a:t>of </a:t>
            </a:r>
            <a:r>
              <a:rPr dirty="0" sz="1200" spc="-10">
                <a:latin typeface="Arial"/>
                <a:cs typeface="Arial"/>
              </a:rPr>
              <a:t>you </a:t>
            </a:r>
            <a:r>
              <a:rPr dirty="0" sz="1200" spc="-5">
                <a:latin typeface="Arial"/>
                <a:cs typeface="Arial"/>
              </a:rPr>
              <a:t>can </a:t>
            </a:r>
            <a:r>
              <a:rPr dirty="0" sz="1200" spc="-10">
                <a:latin typeface="Arial"/>
                <a:cs typeface="Arial"/>
              </a:rPr>
              <a:t>be </a:t>
            </a:r>
            <a:r>
              <a:rPr dirty="0" sz="1200" spc="-5">
                <a:latin typeface="Arial"/>
                <a:cs typeface="Arial"/>
              </a:rPr>
              <a:t>a believer unless </a:t>
            </a:r>
            <a:r>
              <a:rPr dirty="0" sz="1200" spc="-10">
                <a:latin typeface="Arial"/>
                <a:cs typeface="Arial"/>
              </a:rPr>
              <a:t>you love </a:t>
            </a:r>
            <a:r>
              <a:rPr dirty="0" sz="1200">
                <a:latin typeface="Arial"/>
                <a:cs typeface="Arial"/>
              </a:rPr>
              <a:t>for </a:t>
            </a:r>
            <a:r>
              <a:rPr dirty="0" sz="1200" spc="-5">
                <a:latin typeface="Arial"/>
                <a:cs typeface="Arial"/>
              </a:rPr>
              <a:t>your brother that which </a:t>
            </a:r>
            <a:r>
              <a:rPr dirty="0" sz="1200" spc="-10">
                <a:latin typeface="Arial"/>
                <a:cs typeface="Arial"/>
              </a:rPr>
              <a:t>you </a:t>
            </a:r>
            <a:r>
              <a:rPr dirty="0" sz="1200" spc="-5">
                <a:latin typeface="Arial"/>
                <a:cs typeface="Arial"/>
              </a:rPr>
              <a:t>love for  yourself.</a:t>
            </a:r>
            <a:endParaRPr sz="1200">
              <a:latin typeface="Arial"/>
              <a:cs typeface="Arial"/>
            </a:endParaRPr>
          </a:p>
          <a:p>
            <a:pPr marL="281940" marR="6985" indent="-227329">
              <a:lnSpc>
                <a:spcPts val="1390"/>
              </a:lnSpc>
              <a:spcBef>
                <a:spcPts val="975"/>
              </a:spcBef>
              <a:buSzPct val="83333"/>
              <a:buFont typeface="Symbol"/>
              <a:buChar char=""/>
              <a:tabLst>
                <a:tab pos="283845" algn="l"/>
                <a:tab pos="284480" algn="l"/>
              </a:tabLst>
            </a:pPr>
            <a:r>
              <a:rPr dirty="0" sz="1200" spc="-5">
                <a:latin typeface="Arial"/>
                <a:cs typeface="Arial"/>
              </a:rPr>
              <a:t>The permitted </a:t>
            </a:r>
            <a:r>
              <a:rPr dirty="0" sz="1200">
                <a:latin typeface="Arial"/>
                <a:cs typeface="Arial"/>
              </a:rPr>
              <a:t>(</a:t>
            </a:r>
            <a:r>
              <a:rPr dirty="0" sz="1200" i="1">
                <a:latin typeface="Arial"/>
                <a:cs typeface="Arial"/>
              </a:rPr>
              <a:t>halal</a:t>
            </a:r>
            <a:r>
              <a:rPr dirty="0" sz="1200">
                <a:latin typeface="Arial"/>
                <a:cs typeface="Arial"/>
              </a:rPr>
              <a:t>) </a:t>
            </a:r>
            <a:r>
              <a:rPr dirty="0" sz="1200" spc="-5">
                <a:latin typeface="Arial"/>
                <a:cs typeface="Arial"/>
              </a:rPr>
              <a:t>is </a:t>
            </a:r>
            <a:r>
              <a:rPr dirty="0" sz="1200">
                <a:latin typeface="Arial"/>
                <a:cs typeface="Arial"/>
              </a:rPr>
              <a:t>clear, </a:t>
            </a:r>
            <a:r>
              <a:rPr dirty="0" sz="1200" spc="-5">
                <a:latin typeface="Arial"/>
                <a:cs typeface="Arial"/>
              </a:rPr>
              <a:t>and the forbidden (</a:t>
            </a:r>
            <a:r>
              <a:rPr dirty="0" sz="1200" spc="-5" i="1">
                <a:latin typeface="Arial"/>
                <a:cs typeface="Arial"/>
              </a:rPr>
              <a:t>haram</a:t>
            </a:r>
            <a:r>
              <a:rPr dirty="0" sz="1200" spc="-5">
                <a:latin typeface="Arial"/>
                <a:cs typeface="Arial"/>
              </a:rPr>
              <a:t>) is </a:t>
            </a:r>
            <a:r>
              <a:rPr dirty="0" sz="1200">
                <a:latin typeface="Arial"/>
                <a:cs typeface="Arial"/>
              </a:rPr>
              <a:t>clear, </a:t>
            </a:r>
            <a:r>
              <a:rPr dirty="0" sz="1200" spc="-5">
                <a:latin typeface="Arial"/>
                <a:cs typeface="Arial"/>
              </a:rPr>
              <a:t>between these </a:t>
            </a:r>
            <a:r>
              <a:rPr dirty="0" sz="1200" spc="-10">
                <a:latin typeface="Arial"/>
                <a:cs typeface="Arial"/>
              </a:rPr>
              <a:t>two are  </a:t>
            </a:r>
            <a:r>
              <a:rPr dirty="0" sz="1200" spc="-5">
                <a:latin typeface="Arial"/>
                <a:cs typeface="Arial"/>
              </a:rPr>
              <a:t>doubtful matters. Whosoever abstains from these doubtful matters </a:t>
            </a:r>
            <a:r>
              <a:rPr dirty="0" sz="1200">
                <a:latin typeface="Arial"/>
                <a:cs typeface="Arial"/>
              </a:rPr>
              <a:t>has </a:t>
            </a:r>
            <a:r>
              <a:rPr dirty="0" sz="1200" spc="-5">
                <a:latin typeface="Arial"/>
                <a:cs typeface="Arial"/>
              </a:rPr>
              <a:t>saved his</a:t>
            </a:r>
            <a:r>
              <a:rPr dirty="0" sz="1200" spc="140">
                <a:latin typeface="Arial"/>
                <a:cs typeface="Arial"/>
              </a:rPr>
              <a:t> </a:t>
            </a:r>
            <a:r>
              <a:rPr dirty="0" sz="1200" spc="-5">
                <a:latin typeface="Arial"/>
                <a:cs typeface="Arial"/>
              </a:rPr>
              <a:t>religion.</a:t>
            </a:r>
            <a:endParaRPr sz="1200">
              <a:latin typeface="Arial"/>
              <a:cs typeface="Arial"/>
            </a:endParaRPr>
          </a:p>
          <a:p>
            <a:pPr algn="just" marL="12700" marR="7620">
              <a:lnSpc>
                <a:spcPts val="1380"/>
              </a:lnSpc>
              <a:spcBef>
                <a:spcPts val="994"/>
              </a:spcBef>
            </a:pPr>
            <a:r>
              <a:rPr dirty="0" sz="1200" spc="-5">
                <a:latin typeface="Arial"/>
                <a:cs typeface="Arial"/>
              </a:rPr>
              <a:t>The traditions compiled in </a:t>
            </a:r>
            <a:r>
              <a:rPr dirty="0" sz="1200" spc="-5" i="1">
                <a:latin typeface="Arial"/>
                <a:cs typeface="Arial"/>
              </a:rPr>
              <a:t>Sunan Abu Dawud </a:t>
            </a:r>
            <a:r>
              <a:rPr dirty="0" sz="1200" spc="-5">
                <a:latin typeface="Arial"/>
                <a:cs typeface="Arial"/>
              </a:rPr>
              <a:t>were generally followed by companions,  successors</a:t>
            </a:r>
            <a:r>
              <a:rPr dirty="0" sz="1200" spc="155">
                <a:latin typeface="Arial"/>
                <a:cs typeface="Arial"/>
              </a:rPr>
              <a:t> </a:t>
            </a:r>
            <a:r>
              <a:rPr dirty="0" sz="1200" spc="-5">
                <a:latin typeface="Arial"/>
                <a:cs typeface="Arial"/>
              </a:rPr>
              <a:t>and</a:t>
            </a:r>
            <a:r>
              <a:rPr dirty="0" sz="1200" spc="160">
                <a:latin typeface="Arial"/>
                <a:cs typeface="Arial"/>
              </a:rPr>
              <a:t> </a:t>
            </a:r>
            <a:r>
              <a:rPr dirty="0" sz="1200" spc="-5">
                <a:latin typeface="Arial"/>
                <a:cs typeface="Arial"/>
              </a:rPr>
              <a:t>their</a:t>
            </a:r>
            <a:r>
              <a:rPr dirty="0" sz="1200" spc="145">
                <a:latin typeface="Arial"/>
                <a:cs typeface="Arial"/>
              </a:rPr>
              <a:t> </a:t>
            </a:r>
            <a:r>
              <a:rPr dirty="0" sz="1200" spc="-5">
                <a:latin typeface="Arial"/>
                <a:cs typeface="Arial"/>
              </a:rPr>
              <a:t>followers.</a:t>
            </a:r>
            <a:r>
              <a:rPr dirty="0" sz="1200" spc="165">
                <a:latin typeface="Arial"/>
                <a:cs typeface="Arial"/>
              </a:rPr>
              <a:t> </a:t>
            </a:r>
            <a:r>
              <a:rPr dirty="0" sz="1200">
                <a:latin typeface="Arial"/>
                <a:cs typeface="Arial"/>
              </a:rPr>
              <a:t>It</a:t>
            </a:r>
            <a:r>
              <a:rPr dirty="0" sz="1200" spc="170">
                <a:latin typeface="Arial"/>
                <a:cs typeface="Arial"/>
              </a:rPr>
              <a:t> </a:t>
            </a:r>
            <a:r>
              <a:rPr dirty="0" sz="1200" spc="-5">
                <a:latin typeface="Arial"/>
                <a:cs typeface="Arial"/>
              </a:rPr>
              <a:t>is</a:t>
            </a:r>
            <a:r>
              <a:rPr dirty="0" sz="1200" spc="165">
                <a:latin typeface="Arial"/>
                <a:cs typeface="Arial"/>
              </a:rPr>
              <a:t> </a:t>
            </a:r>
            <a:r>
              <a:rPr dirty="0" sz="1200" spc="-5">
                <a:latin typeface="Arial"/>
                <a:cs typeface="Arial"/>
              </a:rPr>
              <a:t>a</a:t>
            </a:r>
            <a:r>
              <a:rPr dirty="0" sz="1200" spc="155">
                <a:latin typeface="Arial"/>
                <a:cs typeface="Arial"/>
              </a:rPr>
              <a:t> </a:t>
            </a:r>
            <a:r>
              <a:rPr dirty="0" sz="1200" spc="-5">
                <a:latin typeface="Arial"/>
                <a:cs typeface="Arial"/>
              </a:rPr>
              <a:t>basic</a:t>
            </a:r>
            <a:r>
              <a:rPr dirty="0" sz="1200" spc="150">
                <a:latin typeface="Arial"/>
                <a:cs typeface="Arial"/>
              </a:rPr>
              <a:t> </a:t>
            </a:r>
            <a:r>
              <a:rPr dirty="0" sz="1200" spc="-5">
                <a:latin typeface="Arial"/>
                <a:cs typeface="Arial"/>
              </a:rPr>
              <a:t>source</a:t>
            </a:r>
            <a:r>
              <a:rPr dirty="0" sz="1200" spc="155">
                <a:latin typeface="Arial"/>
                <a:cs typeface="Arial"/>
              </a:rPr>
              <a:t> </a:t>
            </a:r>
            <a:r>
              <a:rPr dirty="0" sz="1200" spc="-5">
                <a:latin typeface="Arial"/>
                <a:cs typeface="Arial"/>
              </a:rPr>
              <a:t>of</a:t>
            </a:r>
            <a:r>
              <a:rPr dirty="0" sz="1200" spc="180">
                <a:latin typeface="Arial"/>
                <a:cs typeface="Arial"/>
              </a:rPr>
              <a:t> </a:t>
            </a:r>
            <a:r>
              <a:rPr dirty="0" sz="1200" spc="-5">
                <a:latin typeface="Arial"/>
                <a:cs typeface="Arial"/>
              </a:rPr>
              <a:t>knowledge</a:t>
            </a:r>
            <a:r>
              <a:rPr dirty="0" sz="1200" spc="170">
                <a:latin typeface="Arial"/>
                <a:cs typeface="Arial"/>
              </a:rPr>
              <a:t> </a:t>
            </a:r>
            <a:r>
              <a:rPr dirty="0" sz="1200" spc="-5">
                <a:latin typeface="Arial"/>
                <a:cs typeface="Arial"/>
              </a:rPr>
              <a:t>about</a:t>
            </a:r>
            <a:r>
              <a:rPr dirty="0" sz="1200" spc="170">
                <a:latin typeface="Arial"/>
                <a:cs typeface="Arial"/>
              </a:rPr>
              <a:t> </a:t>
            </a:r>
            <a:r>
              <a:rPr dirty="0" sz="1200" spc="-5">
                <a:latin typeface="Arial"/>
                <a:cs typeface="Arial"/>
              </a:rPr>
              <a:t>the</a:t>
            </a:r>
            <a:r>
              <a:rPr dirty="0" sz="1200" spc="170">
                <a:latin typeface="Arial"/>
                <a:cs typeface="Arial"/>
              </a:rPr>
              <a:t> </a:t>
            </a:r>
            <a:r>
              <a:rPr dirty="0" sz="1200" spc="-10">
                <a:latin typeface="Arial"/>
                <a:cs typeface="Arial"/>
              </a:rPr>
              <a:t>legal</a:t>
            </a:r>
            <a:r>
              <a:rPr dirty="0" sz="1200" spc="165">
                <a:latin typeface="Arial"/>
                <a:cs typeface="Arial"/>
              </a:rPr>
              <a:t> </a:t>
            </a:r>
            <a:r>
              <a:rPr dirty="0" sz="1200" spc="-5">
                <a:latin typeface="Arial"/>
                <a:cs typeface="Arial"/>
              </a:rPr>
              <a:t>points</a:t>
            </a:r>
            <a:r>
              <a:rPr dirty="0" sz="1200" spc="155">
                <a:latin typeface="Arial"/>
                <a:cs typeface="Arial"/>
              </a:rPr>
              <a:t> </a:t>
            </a:r>
            <a:r>
              <a:rPr dirty="0" sz="1200" spc="-5">
                <a:latin typeface="Arial"/>
                <a:cs typeface="Arial"/>
              </a:rPr>
              <a:t>of</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126</a:t>
            </a:r>
            <a:endParaRPr sz="1200">
              <a:latin typeface="Times New Roman"/>
              <a:cs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900" cy="933704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8890">
              <a:lnSpc>
                <a:spcPts val="1380"/>
              </a:lnSpc>
            </a:pPr>
            <a:r>
              <a:rPr dirty="0" sz="1200" spc="-5">
                <a:latin typeface="Arial"/>
                <a:cs typeface="Arial"/>
              </a:rPr>
              <a:t>views held by </a:t>
            </a:r>
            <a:r>
              <a:rPr dirty="0" sz="1200">
                <a:latin typeface="Arial"/>
                <a:cs typeface="Arial"/>
              </a:rPr>
              <a:t>Imam </a:t>
            </a:r>
            <a:r>
              <a:rPr dirty="0" sz="1200" spc="-5">
                <a:latin typeface="Arial"/>
                <a:cs typeface="Arial"/>
              </a:rPr>
              <a:t>Malik, Sufyan Al-Thawri and Al-Awza'i. </a:t>
            </a:r>
            <a:r>
              <a:rPr dirty="0" sz="1200">
                <a:latin typeface="Arial"/>
                <a:cs typeface="Arial"/>
              </a:rPr>
              <a:t>It </a:t>
            </a:r>
            <a:r>
              <a:rPr dirty="0" sz="1200" spc="-5">
                <a:latin typeface="Arial"/>
                <a:cs typeface="Arial"/>
              </a:rPr>
              <a:t>serves as an arbiter </a:t>
            </a:r>
            <a:r>
              <a:rPr dirty="0" sz="1200">
                <a:latin typeface="Arial"/>
                <a:cs typeface="Arial"/>
              </a:rPr>
              <a:t>for  </a:t>
            </a:r>
            <a:r>
              <a:rPr dirty="0" sz="1200" spc="-5">
                <a:latin typeface="Arial"/>
                <a:cs typeface="Arial"/>
              </a:rPr>
              <a:t>disagreement among</a:t>
            </a:r>
            <a:r>
              <a:rPr dirty="0" sz="1200" spc="-15">
                <a:latin typeface="Arial"/>
                <a:cs typeface="Arial"/>
              </a:rPr>
              <a:t> </a:t>
            </a:r>
            <a:r>
              <a:rPr dirty="0" sz="1200" spc="-5">
                <a:latin typeface="Arial"/>
                <a:cs typeface="Arial"/>
              </a:rPr>
              <a:t>jurists.</a:t>
            </a:r>
            <a:endParaRPr sz="1200">
              <a:latin typeface="Arial"/>
              <a:cs typeface="Arial"/>
            </a:endParaRPr>
          </a:p>
          <a:p>
            <a:pPr>
              <a:lnSpc>
                <a:spcPct val="100000"/>
              </a:lnSpc>
              <a:spcBef>
                <a:spcPts val="35"/>
              </a:spcBef>
            </a:pPr>
            <a:endParaRPr sz="1600">
              <a:latin typeface="Arial"/>
              <a:cs typeface="Arial"/>
            </a:endParaRPr>
          </a:p>
          <a:p>
            <a:pPr algn="just" marL="12700" marR="7620">
              <a:lnSpc>
                <a:spcPts val="1380"/>
              </a:lnSpc>
            </a:pPr>
            <a:r>
              <a:rPr dirty="0" sz="1200" spc="-5">
                <a:latin typeface="Arial"/>
                <a:cs typeface="Arial"/>
              </a:rPr>
              <a:t>He </a:t>
            </a:r>
            <a:r>
              <a:rPr dirty="0" sz="1200" spc="-10">
                <a:latin typeface="Arial"/>
                <a:cs typeface="Arial"/>
              </a:rPr>
              <a:t>was </a:t>
            </a:r>
            <a:r>
              <a:rPr dirty="0" sz="1200">
                <a:latin typeface="Arial"/>
                <a:cs typeface="Arial"/>
              </a:rPr>
              <a:t>blessed </a:t>
            </a:r>
            <a:r>
              <a:rPr dirty="0" sz="1200" spc="-5">
                <a:latin typeface="Arial"/>
                <a:cs typeface="Arial"/>
              </a:rPr>
              <a:t>with an exceptional </a:t>
            </a:r>
            <a:r>
              <a:rPr dirty="0" sz="1200">
                <a:latin typeface="Arial"/>
                <a:cs typeface="Arial"/>
              </a:rPr>
              <a:t>mind. </a:t>
            </a:r>
            <a:r>
              <a:rPr dirty="0" sz="1200" spc="-5">
                <a:latin typeface="Arial"/>
                <a:cs typeface="Arial"/>
              </a:rPr>
              <a:t>Imam Abu Dawud had to </a:t>
            </a:r>
            <a:r>
              <a:rPr dirty="0" sz="1200">
                <a:latin typeface="Arial"/>
                <a:cs typeface="Arial"/>
              </a:rPr>
              <a:t>read </a:t>
            </a:r>
            <a:r>
              <a:rPr dirty="0" sz="1200" spc="-5">
                <a:latin typeface="Arial"/>
                <a:cs typeface="Arial"/>
              </a:rPr>
              <a:t>a book </a:t>
            </a:r>
            <a:r>
              <a:rPr dirty="0" sz="1200">
                <a:latin typeface="Arial"/>
                <a:cs typeface="Arial"/>
              </a:rPr>
              <a:t>only </a:t>
            </a:r>
            <a:r>
              <a:rPr dirty="0" sz="1200" spc="-5">
                <a:latin typeface="Arial"/>
                <a:cs typeface="Arial"/>
              </a:rPr>
              <a:t>once </a:t>
            </a:r>
            <a:r>
              <a:rPr dirty="0" sz="1200">
                <a:latin typeface="Arial"/>
                <a:cs typeface="Arial"/>
              </a:rPr>
              <a:t>to  commit its </a:t>
            </a:r>
            <a:r>
              <a:rPr dirty="0" sz="1200" spc="-5">
                <a:latin typeface="Arial"/>
                <a:cs typeface="Arial"/>
              </a:rPr>
              <a:t>entire contents </a:t>
            </a:r>
            <a:r>
              <a:rPr dirty="0" sz="1200">
                <a:latin typeface="Arial"/>
                <a:cs typeface="Arial"/>
              </a:rPr>
              <a:t>to </a:t>
            </a:r>
            <a:r>
              <a:rPr dirty="0" sz="1200" spc="-5">
                <a:latin typeface="Arial"/>
                <a:cs typeface="Arial"/>
              </a:rPr>
              <a:t>memory. He was well versed in </a:t>
            </a:r>
            <a:r>
              <a:rPr dirty="0" sz="1200">
                <a:latin typeface="Arial"/>
                <a:cs typeface="Arial"/>
              </a:rPr>
              <a:t>the </a:t>
            </a:r>
            <a:r>
              <a:rPr dirty="0" sz="1200" spc="-5">
                <a:latin typeface="Arial"/>
                <a:cs typeface="Arial"/>
              </a:rPr>
              <a:t>criticism </a:t>
            </a:r>
            <a:r>
              <a:rPr dirty="0" sz="1200">
                <a:latin typeface="Arial"/>
                <a:cs typeface="Arial"/>
              </a:rPr>
              <a:t>of </a:t>
            </a:r>
            <a:r>
              <a:rPr dirty="0" sz="1200" spc="-5">
                <a:latin typeface="Arial"/>
                <a:cs typeface="Arial"/>
              </a:rPr>
              <a:t>hadith and an  expert in distinguishing the sound hadith from </a:t>
            </a:r>
            <a:r>
              <a:rPr dirty="0" sz="1200">
                <a:latin typeface="Arial"/>
                <a:cs typeface="Arial"/>
              </a:rPr>
              <a:t>the </a:t>
            </a:r>
            <a:r>
              <a:rPr dirty="0" sz="1200" spc="-5">
                <a:latin typeface="Arial"/>
                <a:cs typeface="Arial"/>
              </a:rPr>
              <a:t>weak and defective</a:t>
            </a:r>
            <a:r>
              <a:rPr dirty="0" sz="1200" spc="20">
                <a:latin typeface="Arial"/>
                <a:cs typeface="Arial"/>
              </a:rPr>
              <a:t> </a:t>
            </a:r>
            <a:r>
              <a:rPr dirty="0" sz="1200" spc="-5">
                <a:latin typeface="Arial"/>
                <a:cs typeface="Arial"/>
              </a:rPr>
              <a:t>ones.</a:t>
            </a:r>
            <a:endParaRPr sz="1200">
              <a:latin typeface="Arial"/>
              <a:cs typeface="Arial"/>
            </a:endParaRPr>
          </a:p>
          <a:p>
            <a:pPr algn="just" marL="12700" marR="6985">
              <a:lnSpc>
                <a:spcPct val="95600"/>
              </a:lnSpc>
              <a:spcBef>
                <a:spcPts val="975"/>
              </a:spcBef>
            </a:pPr>
            <a:r>
              <a:rPr dirty="0" sz="1200">
                <a:latin typeface="Arial"/>
                <a:cs typeface="Arial"/>
              </a:rPr>
              <a:t>Only four </a:t>
            </a:r>
            <a:r>
              <a:rPr dirty="0" sz="1200" spc="-5">
                <a:latin typeface="Arial"/>
                <a:cs typeface="Arial"/>
              </a:rPr>
              <a:t>persons are reported </a:t>
            </a:r>
            <a:r>
              <a:rPr dirty="0" sz="1200">
                <a:latin typeface="Arial"/>
                <a:cs typeface="Arial"/>
              </a:rPr>
              <a:t>to </a:t>
            </a:r>
            <a:r>
              <a:rPr dirty="0" sz="1200" spc="-5">
                <a:latin typeface="Arial"/>
                <a:cs typeface="Arial"/>
              </a:rPr>
              <a:t>have earned </a:t>
            </a:r>
            <a:r>
              <a:rPr dirty="0" sz="1200">
                <a:latin typeface="Arial"/>
                <a:cs typeface="Arial"/>
              </a:rPr>
              <a:t>their </a:t>
            </a:r>
            <a:r>
              <a:rPr dirty="0" sz="1200" spc="-5">
                <a:latin typeface="Arial"/>
                <a:cs typeface="Arial"/>
              </a:rPr>
              <a:t>names </a:t>
            </a:r>
            <a:r>
              <a:rPr dirty="0" sz="1200">
                <a:latin typeface="Arial"/>
                <a:cs typeface="Arial"/>
              </a:rPr>
              <a:t>for the </a:t>
            </a:r>
            <a:r>
              <a:rPr dirty="0" sz="1200" spc="-5">
                <a:latin typeface="Arial"/>
                <a:cs typeface="Arial"/>
              </a:rPr>
              <a:t>criticism </a:t>
            </a:r>
            <a:r>
              <a:rPr dirty="0" sz="1200">
                <a:latin typeface="Arial"/>
                <a:cs typeface="Arial"/>
              </a:rPr>
              <a:t>of </a:t>
            </a:r>
            <a:r>
              <a:rPr dirty="0" sz="1200" spc="-5">
                <a:latin typeface="Arial"/>
                <a:cs typeface="Arial"/>
              </a:rPr>
              <a:t>hadith. They  </a:t>
            </a:r>
            <a:r>
              <a:rPr dirty="0" sz="1200">
                <a:latin typeface="Arial"/>
                <a:cs typeface="Arial"/>
              </a:rPr>
              <a:t>are: </a:t>
            </a:r>
            <a:r>
              <a:rPr dirty="0" sz="1200" spc="-5">
                <a:latin typeface="Arial"/>
                <a:cs typeface="Arial"/>
              </a:rPr>
              <a:t>Imam Bukhari, Imam Muslim, Imam Abu Dawud and Imam </a:t>
            </a:r>
            <a:r>
              <a:rPr dirty="0" sz="1200">
                <a:latin typeface="Arial"/>
                <a:cs typeface="Arial"/>
              </a:rPr>
              <a:t>Nasa'i. </a:t>
            </a:r>
            <a:r>
              <a:rPr dirty="0" sz="1200" spc="-5">
                <a:latin typeface="Arial"/>
                <a:cs typeface="Arial"/>
              </a:rPr>
              <a:t>Imam Abu </a:t>
            </a:r>
            <a:r>
              <a:rPr dirty="0" sz="1200" spc="-10">
                <a:latin typeface="Arial"/>
                <a:cs typeface="Arial"/>
              </a:rPr>
              <a:t>Dawud  </a:t>
            </a:r>
            <a:r>
              <a:rPr dirty="0" sz="1200" spc="-5">
                <a:latin typeface="Arial"/>
                <a:cs typeface="Arial"/>
              </a:rPr>
              <a:t>lived during </a:t>
            </a:r>
            <a:r>
              <a:rPr dirty="0" sz="1200">
                <a:latin typeface="Arial"/>
                <a:cs typeface="Arial"/>
              </a:rPr>
              <a:t>the </a:t>
            </a:r>
            <a:r>
              <a:rPr dirty="0" sz="1200" spc="-5">
                <a:latin typeface="Arial"/>
                <a:cs typeface="Arial"/>
              </a:rPr>
              <a:t>time when </a:t>
            </a:r>
            <a:r>
              <a:rPr dirty="0" sz="1200">
                <a:latin typeface="Arial"/>
                <a:cs typeface="Arial"/>
              </a:rPr>
              <a:t>the </a:t>
            </a:r>
            <a:r>
              <a:rPr dirty="0" sz="1200" spc="-5">
                <a:latin typeface="Arial"/>
                <a:cs typeface="Arial"/>
              </a:rPr>
              <a:t>Muslim </a:t>
            </a:r>
            <a:r>
              <a:rPr dirty="0" sz="1200" spc="-10">
                <a:latin typeface="Arial"/>
                <a:cs typeface="Arial"/>
              </a:rPr>
              <a:t>world was </a:t>
            </a:r>
            <a:r>
              <a:rPr dirty="0" sz="1200">
                <a:latin typeface="Arial"/>
                <a:cs typeface="Arial"/>
              </a:rPr>
              <a:t>full </a:t>
            </a:r>
            <a:r>
              <a:rPr dirty="0" sz="1200" spc="-5">
                <a:latin typeface="Arial"/>
                <a:cs typeface="Arial"/>
              </a:rPr>
              <a:t>of eminent </a:t>
            </a:r>
            <a:r>
              <a:rPr dirty="0" sz="1200">
                <a:latin typeface="Arial"/>
                <a:cs typeface="Arial"/>
              </a:rPr>
              <a:t>scholars. </a:t>
            </a:r>
            <a:r>
              <a:rPr dirty="0" sz="1200" spc="-5">
                <a:latin typeface="Arial"/>
                <a:cs typeface="Arial"/>
              </a:rPr>
              <a:t>He had so much  command over hadith, he </a:t>
            </a:r>
            <a:r>
              <a:rPr dirty="0" sz="1200" spc="-10">
                <a:latin typeface="Arial"/>
                <a:cs typeface="Arial"/>
              </a:rPr>
              <a:t>was </a:t>
            </a:r>
            <a:r>
              <a:rPr dirty="0" sz="1200" spc="-5">
                <a:latin typeface="Arial"/>
                <a:cs typeface="Arial"/>
              </a:rPr>
              <a:t>considered by </a:t>
            </a:r>
            <a:r>
              <a:rPr dirty="0" sz="1200">
                <a:latin typeface="Arial"/>
                <a:cs typeface="Arial"/>
              </a:rPr>
              <a:t>many as </a:t>
            </a:r>
            <a:r>
              <a:rPr dirty="0" sz="1200" spc="-5" i="1">
                <a:latin typeface="Arial"/>
                <a:cs typeface="Arial"/>
              </a:rPr>
              <a:t>Imam al-muhaddithin </a:t>
            </a:r>
            <a:r>
              <a:rPr dirty="0" sz="1200" spc="-5">
                <a:latin typeface="Arial"/>
                <a:cs typeface="Arial"/>
              </a:rPr>
              <a:t>of his</a:t>
            </a:r>
            <a:r>
              <a:rPr dirty="0" sz="1200" spc="95">
                <a:latin typeface="Arial"/>
                <a:cs typeface="Arial"/>
              </a:rPr>
              <a:t> </a:t>
            </a:r>
            <a:r>
              <a:rPr dirty="0" sz="1200" spc="-5">
                <a:latin typeface="Arial"/>
                <a:cs typeface="Arial"/>
              </a:rPr>
              <a:t>time.</a:t>
            </a:r>
            <a:endParaRPr sz="1200">
              <a:latin typeface="Arial"/>
              <a:cs typeface="Arial"/>
            </a:endParaRPr>
          </a:p>
          <a:p>
            <a:pPr algn="just" marL="12700" marR="9525">
              <a:lnSpc>
                <a:spcPct val="95900"/>
              </a:lnSpc>
              <a:spcBef>
                <a:spcPts val="1010"/>
              </a:spcBef>
            </a:pPr>
            <a:r>
              <a:rPr dirty="0" sz="1200">
                <a:latin typeface="Arial"/>
                <a:cs typeface="Arial"/>
              </a:rPr>
              <a:t>Besides </a:t>
            </a:r>
            <a:r>
              <a:rPr dirty="0" sz="1200" spc="-5">
                <a:latin typeface="Arial"/>
                <a:cs typeface="Arial"/>
              </a:rPr>
              <a:t>his expertise in hadith he </a:t>
            </a:r>
            <a:r>
              <a:rPr dirty="0" sz="1200" spc="-10">
                <a:latin typeface="Arial"/>
                <a:cs typeface="Arial"/>
              </a:rPr>
              <a:t>was </a:t>
            </a:r>
            <a:r>
              <a:rPr dirty="0" sz="1200" spc="-5">
                <a:latin typeface="Arial"/>
                <a:cs typeface="Arial"/>
              </a:rPr>
              <a:t>also a great jurist. He had keen insight in fiqh and  ijtihad. He </a:t>
            </a:r>
            <a:r>
              <a:rPr dirty="0" sz="1200" spc="-10">
                <a:latin typeface="Arial"/>
                <a:cs typeface="Arial"/>
              </a:rPr>
              <a:t>was </a:t>
            </a:r>
            <a:r>
              <a:rPr dirty="0" sz="1200" spc="-5">
                <a:latin typeface="Arial"/>
                <a:cs typeface="Arial"/>
              </a:rPr>
              <a:t>a religious man. He led a pious and ascetic life. He devoted most of his time  </a:t>
            </a:r>
            <a:r>
              <a:rPr dirty="0" sz="1200">
                <a:latin typeface="Arial"/>
                <a:cs typeface="Arial"/>
              </a:rPr>
              <a:t>for </a:t>
            </a:r>
            <a:r>
              <a:rPr dirty="0" sz="1200" spc="-5">
                <a:latin typeface="Arial"/>
                <a:cs typeface="Arial"/>
              </a:rPr>
              <a:t>worship, devotion and remembrance of </a:t>
            </a:r>
            <a:r>
              <a:rPr dirty="0" sz="1200">
                <a:latin typeface="Arial"/>
                <a:cs typeface="Arial"/>
              </a:rPr>
              <a:t>Allah. </a:t>
            </a:r>
            <a:r>
              <a:rPr dirty="0" sz="1200" spc="-10">
                <a:latin typeface="Arial"/>
                <a:cs typeface="Arial"/>
              </a:rPr>
              <a:t>He always </a:t>
            </a:r>
            <a:r>
              <a:rPr dirty="0" sz="1200">
                <a:latin typeface="Arial"/>
                <a:cs typeface="Arial"/>
              </a:rPr>
              <a:t>kept </a:t>
            </a:r>
            <a:r>
              <a:rPr dirty="0" sz="1200" spc="-5">
                <a:latin typeface="Arial"/>
                <a:cs typeface="Arial"/>
              </a:rPr>
              <a:t>away from men of rank, </a:t>
            </a:r>
            <a:r>
              <a:rPr dirty="0" sz="1200" spc="-10">
                <a:latin typeface="Arial"/>
                <a:cs typeface="Arial"/>
              </a:rPr>
              <a:t>the  </a:t>
            </a:r>
            <a:r>
              <a:rPr dirty="0" sz="1200" spc="-5">
                <a:latin typeface="Arial"/>
                <a:cs typeface="Arial"/>
              </a:rPr>
              <a:t>company of sultans and</a:t>
            </a:r>
            <a:r>
              <a:rPr dirty="0" sz="1200" spc="-10">
                <a:latin typeface="Arial"/>
                <a:cs typeface="Arial"/>
              </a:rPr>
              <a:t> </a:t>
            </a:r>
            <a:r>
              <a:rPr dirty="0" sz="1200">
                <a:latin typeface="Arial"/>
                <a:cs typeface="Arial"/>
              </a:rPr>
              <a:t>courtiers</a:t>
            </a:r>
            <a:endParaRPr sz="1200">
              <a:latin typeface="Arial"/>
              <a:cs typeface="Arial"/>
            </a:endParaRPr>
          </a:p>
          <a:p>
            <a:pPr>
              <a:lnSpc>
                <a:spcPct val="100000"/>
              </a:lnSpc>
              <a:spcBef>
                <a:spcPts val="40"/>
              </a:spcBef>
            </a:pPr>
            <a:endParaRPr sz="1550">
              <a:latin typeface="Arial"/>
              <a:cs typeface="Arial"/>
            </a:endParaRPr>
          </a:p>
          <a:p>
            <a:pPr algn="just" marL="12700">
              <a:lnSpc>
                <a:spcPct val="100000"/>
              </a:lnSpc>
            </a:pPr>
            <a:r>
              <a:rPr dirty="0" u="heavy" sz="1200" spc="-5" b="1" i="1">
                <a:uFill>
                  <a:solidFill>
                    <a:srgbClr val="000000"/>
                  </a:solidFill>
                </a:uFill>
                <a:latin typeface="Arial"/>
                <a:cs typeface="Arial"/>
              </a:rPr>
              <a:t>Criteria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Collection</a:t>
            </a:r>
            <a:endParaRPr sz="1200">
              <a:latin typeface="Arial"/>
              <a:cs typeface="Arial"/>
            </a:endParaRPr>
          </a:p>
          <a:p>
            <a:pPr>
              <a:lnSpc>
                <a:spcPct val="100000"/>
              </a:lnSpc>
              <a:spcBef>
                <a:spcPts val="55"/>
              </a:spcBef>
            </a:pPr>
            <a:endParaRPr sz="1100">
              <a:latin typeface="Arial"/>
              <a:cs typeface="Arial"/>
            </a:endParaRPr>
          </a:p>
          <a:p>
            <a:pPr marL="413384" indent="-172720">
              <a:lnSpc>
                <a:spcPts val="1410"/>
              </a:lnSpc>
              <a:buFont typeface="Wingdings"/>
              <a:buChar char=""/>
              <a:tabLst>
                <a:tab pos="414020" algn="l"/>
              </a:tabLst>
            </a:pPr>
            <a:r>
              <a:rPr dirty="0" sz="1200">
                <a:latin typeface="Arial"/>
                <a:cs typeface="Arial"/>
              </a:rPr>
              <a:t>Hadith </a:t>
            </a:r>
            <a:r>
              <a:rPr dirty="0" sz="1200" spc="-5">
                <a:latin typeface="Arial"/>
                <a:cs typeface="Arial"/>
              </a:rPr>
              <a:t>supported </a:t>
            </a:r>
            <a:r>
              <a:rPr dirty="0" sz="1200">
                <a:latin typeface="Arial"/>
                <a:cs typeface="Arial"/>
              </a:rPr>
              <a:t>by Practice </a:t>
            </a:r>
            <a:r>
              <a:rPr dirty="0" sz="1200" spc="-5">
                <a:latin typeface="Arial"/>
                <a:cs typeface="Arial"/>
              </a:rPr>
              <a:t>of</a:t>
            </a:r>
            <a:r>
              <a:rPr dirty="0" sz="1200" spc="-20">
                <a:latin typeface="Arial"/>
                <a:cs typeface="Arial"/>
              </a:rPr>
              <a:t> </a:t>
            </a:r>
            <a:r>
              <a:rPr dirty="0" sz="1200" spc="-5">
                <a:latin typeface="Arial"/>
                <a:cs typeface="Arial"/>
              </a:rPr>
              <a:t>Ashab</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Investigation </a:t>
            </a:r>
            <a:r>
              <a:rPr dirty="0" sz="1200" spc="-10">
                <a:latin typeface="Arial"/>
                <a:cs typeface="Arial"/>
              </a:rPr>
              <a:t>if </a:t>
            </a:r>
            <a:r>
              <a:rPr dirty="0" sz="1200" spc="-5">
                <a:latin typeface="Arial"/>
                <a:cs typeface="Arial"/>
              </a:rPr>
              <a:t>any contradictory Hadith</a:t>
            </a:r>
            <a:endParaRPr sz="1200">
              <a:latin typeface="Arial"/>
              <a:cs typeface="Arial"/>
            </a:endParaRPr>
          </a:p>
          <a:p>
            <a:pPr marL="413384" indent="-172720">
              <a:lnSpc>
                <a:spcPts val="1380"/>
              </a:lnSpc>
              <a:buFont typeface="Wingdings"/>
              <a:buChar char=""/>
              <a:tabLst>
                <a:tab pos="414020" algn="l"/>
              </a:tabLst>
            </a:pPr>
            <a:r>
              <a:rPr dirty="0" sz="1200">
                <a:latin typeface="Arial"/>
                <a:cs typeface="Arial"/>
              </a:rPr>
              <a:t>If </a:t>
            </a:r>
            <a:r>
              <a:rPr dirty="0" sz="1200" spc="-5">
                <a:latin typeface="Arial"/>
                <a:cs typeface="Arial"/>
              </a:rPr>
              <a:t>a Mursal Hadith (1 person omitted) is backed and supported by a</a:t>
            </a:r>
            <a:r>
              <a:rPr dirty="0" sz="1200" spc="100">
                <a:latin typeface="Arial"/>
                <a:cs typeface="Arial"/>
              </a:rPr>
              <a:t> </a:t>
            </a:r>
            <a:r>
              <a:rPr dirty="0" sz="1200" spc="-5">
                <a:latin typeface="Arial"/>
                <a:cs typeface="Arial"/>
              </a:rPr>
              <a:t>Swahih</a:t>
            </a:r>
            <a:endParaRPr sz="1200">
              <a:latin typeface="Arial"/>
              <a:cs typeface="Arial"/>
            </a:endParaRPr>
          </a:p>
          <a:p>
            <a:pPr marL="413384" indent="-172720">
              <a:lnSpc>
                <a:spcPts val="1410"/>
              </a:lnSpc>
              <a:buFont typeface="Wingdings"/>
              <a:buChar char=""/>
              <a:tabLst>
                <a:tab pos="414020" algn="l"/>
              </a:tabLst>
            </a:pPr>
            <a:r>
              <a:rPr dirty="0" sz="1200" spc="-5">
                <a:latin typeface="Arial"/>
                <a:cs typeface="Arial"/>
              </a:rPr>
              <a:t>The conditions and styles of </a:t>
            </a:r>
            <a:r>
              <a:rPr dirty="0" sz="1200">
                <a:latin typeface="Arial"/>
                <a:cs typeface="Arial"/>
              </a:rPr>
              <a:t>Imam </a:t>
            </a:r>
            <a:r>
              <a:rPr dirty="0" sz="1200" spc="-5">
                <a:latin typeface="Arial"/>
                <a:cs typeface="Arial"/>
              </a:rPr>
              <a:t>Bukhariy and Imam</a:t>
            </a:r>
            <a:r>
              <a:rPr dirty="0" sz="1200" spc="60">
                <a:latin typeface="Arial"/>
                <a:cs typeface="Arial"/>
              </a:rPr>
              <a:t> </a:t>
            </a:r>
            <a:r>
              <a:rPr dirty="0" sz="1200" spc="-5">
                <a:latin typeface="Arial"/>
                <a:cs typeface="Arial"/>
              </a:rPr>
              <a:t>Muslim</a:t>
            </a:r>
            <a:endParaRPr sz="1200">
              <a:latin typeface="Arial"/>
              <a:cs typeface="Arial"/>
            </a:endParaRPr>
          </a:p>
          <a:p>
            <a:pPr>
              <a:lnSpc>
                <a:spcPct val="100000"/>
              </a:lnSpc>
            </a:pPr>
            <a:endParaRPr sz="1300">
              <a:latin typeface="Arial"/>
              <a:cs typeface="Arial"/>
            </a:endParaRPr>
          </a:p>
          <a:p>
            <a:pPr>
              <a:lnSpc>
                <a:spcPct val="100000"/>
              </a:lnSpc>
              <a:spcBef>
                <a:spcPts val="55"/>
              </a:spcBef>
            </a:pPr>
            <a:endParaRPr sz="1000">
              <a:latin typeface="Arial"/>
              <a:cs typeface="Arial"/>
            </a:endParaRPr>
          </a:p>
          <a:p>
            <a:pPr marL="241300">
              <a:lnSpc>
                <a:spcPct val="100000"/>
              </a:lnSpc>
            </a:pPr>
            <a:r>
              <a:rPr dirty="0" sz="1200" spc="-5" b="1" i="1">
                <a:latin typeface="Arial"/>
                <a:cs typeface="Arial"/>
              </a:rPr>
              <a:t>5.</a:t>
            </a:r>
            <a:r>
              <a:rPr dirty="0" u="heavy" sz="1200" spc="-5" b="1" i="1">
                <a:uFill>
                  <a:solidFill>
                    <a:srgbClr val="000000"/>
                  </a:solidFill>
                </a:uFill>
                <a:latin typeface="Arial"/>
                <a:cs typeface="Arial"/>
              </a:rPr>
              <a:t> </a:t>
            </a:r>
            <a:r>
              <a:rPr dirty="0" u="heavy" sz="1200" b="1" i="1">
                <a:uFill>
                  <a:solidFill>
                    <a:srgbClr val="000000"/>
                  </a:solidFill>
                </a:uFill>
                <a:latin typeface="Arial"/>
                <a:cs typeface="Arial"/>
              </a:rPr>
              <a:t>Sunan</a:t>
            </a:r>
            <a:r>
              <a:rPr dirty="0" u="heavy" sz="1200" spc="-200" b="1" i="1">
                <a:uFill>
                  <a:solidFill>
                    <a:srgbClr val="000000"/>
                  </a:solidFill>
                </a:uFill>
                <a:latin typeface="Arial"/>
                <a:cs typeface="Arial"/>
              </a:rPr>
              <a:t> </a:t>
            </a:r>
            <a:r>
              <a:rPr dirty="0" u="heavy" sz="1200" spc="-45" b="1" i="1">
                <a:uFill>
                  <a:solidFill>
                    <a:srgbClr val="000000"/>
                  </a:solidFill>
                </a:uFill>
                <a:latin typeface="Arial"/>
                <a:cs typeface="Arial"/>
              </a:rPr>
              <a:t>Nasaa‟i</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spcBef>
                <a:spcPts val="5"/>
              </a:spcBef>
            </a:pPr>
            <a:r>
              <a:rPr dirty="0" sz="1200">
                <a:latin typeface="Arial"/>
                <a:cs typeface="Arial"/>
              </a:rPr>
              <a:t>Its </a:t>
            </a:r>
            <a:r>
              <a:rPr dirty="0" sz="1200" spc="-5">
                <a:latin typeface="Arial"/>
                <a:cs typeface="Arial"/>
              </a:rPr>
              <a:t>author is Imaam </a:t>
            </a:r>
            <a:r>
              <a:rPr dirty="0" sz="1200" spc="-10">
                <a:latin typeface="Arial"/>
                <a:cs typeface="Arial"/>
              </a:rPr>
              <a:t>Abu </a:t>
            </a:r>
            <a:r>
              <a:rPr dirty="0" sz="1200" spc="-30">
                <a:latin typeface="Arial"/>
                <a:cs typeface="Arial"/>
              </a:rPr>
              <a:t>‗Abdur-Rahmaan </a:t>
            </a:r>
            <a:r>
              <a:rPr dirty="0" sz="1200" spc="-5">
                <a:latin typeface="Arial"/>
                <a:cs typeface="Arial"/>
              </a:rPr>
              <a:t>Ahmad ibn Shu‘ayb ibn </a:t>
            </a:r>
            <a:r>
              <a:rPr dirty="0" sz="1200" spc="-105">
                <a:latin typeface="Arial"/>
                <a:cs typeface="Arial"/>
              </a:rPr>
              <a:t>‗Ali </a:t>
            </a:r>
            <a:r>
              <a:rPr dirty="0" sz="1200">
                <a:latin typeface="Arial"/>
                <a:cs typeface="Arial"/>
              </a:rPr>
              <a:t>Nasaa‘I taking </a:t>
            </a:r>
            <a:r>
              <a:rPr dirty="0" sz="1200" spc="-5">
                <a:latin typeface="Arial"/>
                <a:cs typeface="Arial"/>
              </a:rPr>
              <a:t>birth in  Nasa, Iran (in </a:t>
            </a:r>
            <a:r>
              <a:rPr dirty="0" sz="1200">
                <a:latin typeface="Arial"/>
                <a:cs typeface="Arial"/>
              </a:rPr>
              <a:t>the </a:t>
            </a:r>
            <a:r>
              <a:rPr dirty="0" sz="1200" spc="-5">
                <a:latin typeface="Arial"/>
                <a:cs typeface="Arial"/>
              </a:rPr>
              <a:t>year 215 and died in </a:t>
            </a:r>
            <a:r>
              <a:rPr dirty="0" sz="1200">
                <a:latin typeface="Arial"/>
                <a:cs typeface="Arial"/>
              </a:rPr>
              <a:t>the </a:t>
            </a:r>
            <a:r>
              <a:rPr dirty="0" sz="1200" spc="-5">
                <a:latin typeface="Arial"/>
                <a:cs typeface="Arial"/>
              </a:rPr>
              <a:t>year 303 AH) situated </a:t>
            </a:r>
            <a:r>
              <a:rPr dirty="0" sz="1200" spc="-10">
                <a:latin typeface="Arial"/>
                <a:cs typeface="Arial"/>
              </a:rPr>
              <a:t>in </a:t>
            </a:r>
            <a:r>
              <a:rPr dirty="0" sz="1200">
                <a:latin typeface="Arial"/>
                <a:cs typeface="Arial"/>
              </a:rPr>
              <a:t>Western </a:t>
            </a:r>
            <a:r>
              <a:rPr dirty="0" sz="1200" spc="-5">
                <a:latin typeface="Arial"/>
                <a:cs typeface="Arial"/>
              </a:rPr>
              <a:t>Asia known </a:t>
            </a:r>
            <a:r>
              <a:rPr dirty="0" sz="1200">
                <a:latin typeface="Arial"/>
                <a:cs typeface="Arial"/>
              </a:rPr>
              <a:t>at  that time </a:t>
            </a:r>
            <a:r>
              <a:rPr dirty="0" sz="1200" spc="-5">
                <a:latin typeface="Arial"/>
                <a:cs typeface="Arial"/>
              </a:rPr>
              <a:t>as Khurusan which </a:t>
            </a:r>
            <a:r>
              <a:rPr dirty="0" sz="1200" spc="-10">
                <a:latin typeface="Arial"/>
                <a:cs typeface="Arial"/>
              </a:rPr>
              <a:t>was </a:t>
            </a:r>
            <a:r>
              <a:rPr dirty="0" sz="1200" spc="-5">
                <a:latin typeface="Arial"/>
                <a:cs typeface="Arial"/>
              </a:rPr>
              <a:t>a famous centre </a:t>
            </a:r>
            <a:r>
              <a:rPr dirty="0" sz="1200">
                <a:latin typeface="Arial"/>
                <a:cs typeface="Arial"/>
              </a:rPr>
              <a:t>for </a:t>
            </a:r>
            <a:r>
              <a:rPr dirty="0" sz="1200" spc="-5">
                <a:latin typeface="Arial"/>
                <a:cs typeface="Arial"/>
              </a:rPr>
              <a:t>Islamic Knowledge where millions of  Ulama'a were situated and Hadeeth and Fiqh </a:t>
            </a:r>
            <a:r>
              <a:rPr dirty="0" sz="1200" spc="-10">
                <a:latin typeface="Arial"/>
                <a:cs typeface="Arial"/>
              </a:rPr>
              <a:t>was </a:t>
            </a:r>
            <a:r>
              <a:rPr dirty="0" sz="1200">
                <a:latin typeface="Arial"/>
                <a:cs typeface="Arial"/>
              </a:rPr>
              <a:t>at its </a:t>
            </a:r>
            <a:r>
              <a:rPr dirty="0" sz="1200" spc="-5">
                <a:latin typeface="Arial"/>
                <a:cs typeface="Arial"/>
              </a:rPr>
              <a:t>peak </a:t>
            </a:r>
            <a:r>
              <a:rPr dirty="0" sz="1200">
                <a:latin typeface="Arial"/>
                <a:cs typeface="Arial"/>
              </a:rPr>
              <a:t>. </a:t>
            </a:r>
            <a:r>
              <a:rPr dirty="0" sz="1200" spc="-5">
                <a:latin typeface="Arial"/>
                <a:cs typeface="Arial"/>
              </a:rPr>
              <a:t>The book has 5761</a:t>
            </a:r>
            <a:r>
              <a:rPr dirty="0" sz="1200" spc="155">
                <a:latin typeface="Arial"/>
                <a:cs typeface="Arial"/>
              </a:rPr>
              <a:t> </a:t>
            </a:r>
            <a:r>
              <a:rPr dirty="0" sz="1200" spc="-5">
                <a:latin typeface="Arial"/>
                <a:cs typeface="Arial"/>
              </a:rPr>
              <a:t>Hadith.</a:t>
            </a:r>
            <a:endParaRPr sz="1200">
              <a:latin typeface="Arial"/>
              <a:cs typeface="Arial"/>
            </a:endParaRPr>
          </a:p>
          <a:p>
            <a:pPr>
              <a:lnSpc>
                <a:spcPct val="100000"/>
              </a:lnSpc>
              <a:spcBef>
                <a:spcPts val="10"/>
              </a:spcBef>
            </a:pPr>
            <a:endParaRPr sz="1600">
              <a:latin typeface="Arial"/>
              <a:cs typeface="Arial"/>
            </a:endParaRPr>
          </a:p>
          <a:p>
            <a:pPr algn="just" marL="12700" marR="7620">
              <a:lnSpc>
                <a:spcPct val="95400"/>
              </a:lnSpc>
              <a:spcBef>
                <a:spcPts val="5"/>
              </a:spcBef>
            </a:pPr>
            <a:r>
              <a:rPr dirty="0" sz="1200">
                <a:latin typeface="Arial"/>
                <a:cs typeface="Arial"/>
              </a:rPr>
              <a:t>When </a:t>
            </a:r>
            <a:r>
              <a:rPr dirty="0" sz="1200" spc="-5">
                <a:latin typeface="Arial"/>
                <a:cs typeface="Arial"/>
              </a:rPr>
              <a:t>he </a:t>
            </a:r>
            <a:r>
              <a:rPr dirty="0" sz="1200" spc="-10">
                <a:latin typeface="Arial"/>
                <a:cs typeface="Arial"/>
              </a:rPr>
              <a:t>was </a:t>
            </a:r>
            <a:r>
              <a:rPr dirty="0" sz="1200" spc="-5">
                <a:latin typeface="Arial"/>
                <a:cs typeface="Arial"/>
              </a:rPr>
              <a:t>20 years old, he started traveling and made his </a:t>
            </a:r>
            <a:r>
              <a:rPr dirty="0" sz="1200">
                <a:latin typeface="Arial"/>
                <a:cs typeface="Arial"/>
              </a:rPr>
              <a:t>first journey to </a:t>
            </a:r>
            <a:r>
              <a:rPr dirty="0" sz="1200" spc="-5">
                <a:latin typeface="Arial"/>
                <a:cs typeface="Arial"/>
              </a:rPr>
              <a:t>Qutaibah. He  covered </a:t>
            </a:r>
            <a:r>
              <a:rPr dirty="0" sz="1200">
                <a:latin typeface="Arial"/>
                <a:cs typeface="Arial"/>
              </a:rPr>
              <a:t>the </a:t>
            </a:r>
            <a:r>
              <a:rPr dirty="0" sz="1200" spc="-5">
                <a:latin typeface="Arial"/>
                <a:cs typeface="Arial"/>
              </a:rPr>
              <a:t>whole Arabian Peninsula seeking knowledge </a:t>
            </a:r>
            <a:r>
              <a:rPr dirty="0" sz="1200">
                <a:latin typeface="Arial"/>
                <a:cs typeface="Arial"/>
              </a:rPr>
              <a:t>from </a:t>
            </a:r>
            <a:r>
              <a:rPr dirty="0" sz="1200" spc="-5">
                <a:latin typeface="Arial"/>
                <a:cs typeface="Arial"/>
              </a:rPr>
              <a:t>the Ulama and Muhadditheen  of Iraq, Kufa, Hijaz, Syria and Egypt. Finally </a:t>
            </a:r>
            <a:r>
              <a:rPr dirty="0" sz="1200">
                <a:latin typeface="Arial"/>
                <a:cs typeface="Arial"/>
              </a:rPr>
              <a:t>he </a:t>
            </a:r>
            <a:r>
              <a:rPr dirty="0" sz="1200" spc="-5">
                <a:latin typeface="Arial"/>
                <a:cs typeface="Arial"/>
              </a:rPr>
              <a:t>decided </a:t>
            </a:r>
            <a:r>
              <a:rPr dirty="0" sz="1200">
                <a:latin typeface="Arial"/>
                <a:cs typeface="Arial"/>
              </a:rPr>
              <a:t>to </a:t>
            </a:r>
            <a:r>
              <a:rPr dirty="0" sz="1200" spc="-5">
                <a:latin typeface="Arial"/>
                <a:cs typeface="Arial"/>
              </a:rPr>
              <a:t>stay in</a:t>
            </a:r>
            <a:r>
              <a:rPr dirty="0" sz="1200" spc="35">
                <a:latin typeface="Arial"/>
                <a:cs typeface="Arial"/>
              </a:rPr>
              <a:t> </a:t>
            </a:r>
            <a:r>
              <a:rPr dirty="0" sz="1200" spc="-5">
                <a:latin typeface="Arial"/>
                <a:cs typeface="Arial"/>
              </a:rPr>
              <a:t>Egypt.</a:t>
            </a:r>
            <a:endParaRPr sz="1200">
              <a:latin typeface="Arial"/>
              <a:cs typeface="Arial"/>
            </a:endParaRPr>
          </a:p>
          <a:p>
            <a:pPr>
              <a:lnSpc>
                <a:spcPct val="100000"/>
              </a:lnSpc>
            </a:pPr>
            <a:endParaRPr sz="1300">
              <a:latin typeface="Arial"/>
              <a:cs typeface="Arial"/>
            </a:endParaRPr>
          </a:p>
          <a:p>
            <a:pPr algn="just" marL="12700" marR="5080">
              <a:lnSpc>
                <a:spcPct val="95700"/>
              </a:lnSpc>
              <a:spcBef>
                <a:spcPts val="895"/>
              </a:spcBef>
            </a:pPr>
            <a:r>
              <a:rPr dirty="0" sz="1200" spc="-5">
                <a:latin typeface="Arial"/>
                <a:cs typeface="Arial"/>
              </a:rPr>
              <a:t>He </a:t>
            </a:r>
            <a:r>
              <a:rPr dirty="0" sz="1200" spc="-10">
                <a:latin typeface="Arial"/>
                <a:cs typeface="Arial"/>
              </a:rPr>
              <a:t>was </a:t>
            </a:r>
            <a:r>
              <a:rPr dirty="0" sz="1200" spc="-5">
                <a:latin typeface="Arial"/>
                <a:cs typeface="Arial"/>
              </a:rPr>
              <a:t>a </a:t>
            </a:r>
            <a:r>
              <a:rPr dirty="0" sz="1200">
                <a:latin typeface="Arial"/>
                <a:cs typeface="Arial"/>
              </a:rPr>
              <a:t>man full </a:t>
            </a:r>
            <a:r>
              <a:rPr dirty="0" sz="1200" spc="-5">
                <a:latin typeface="Arial"/>
                <a:cs typeface="Arial"/>
              </a:rPr>
              <a:t>of Taqwa, piety and he possessed a photographic memory </a:t>
            </a:r>
            <a:r>
              <a:rPr dirty="0" sz="1200">
                <a:latin typeface="Arial"/>
                <a:cs typeface="Arial"/>
              </a:rPr>
              <a:t>too. </a:t>
            </a:r>
            <a:r>
              <a:rPr dirty="0" sz="1200" spc="15">
                <a:latin typeface="Arial"/>
                <a:cs typeface="Arial"/>
              </a:rPr>
              <a:t>The  </a:t>
            </a:r>
            <a:r>
              <a:rPr dirty="0" sz="1200" spc="-5">
                <a:latin typeface="Arial"/>
                <a:cs typeface="Arial"/>
              </a:rPr>
              <a:t>famous Sheikh Allamah Dhahabi </a:t>
            </a:r>
            <a:r>
              <a:rPr dirty="0" sz="1200" spc="-10">
                <a:latin typeface="Arial"/>
                <a:cs typeface="Arial"/>
              </a:rPr>
              <a:t>was </a:t>
            </a:r>
            <a:r>
              <a:rPr dirty="0" sz="1200" spc="-5">
                <a:latin typeface="Arial"/>
                <a:cs typeface="Arial"/>
              </a:rPr>
              <a:t>once asked </a:t>
            </a:r>
            <a:r>
              <a:rPr dirty="0" sz="1200" spc="-10">
                <a:latin typeface="Arial"/>
                <a:cs typeface="Arial"/>
              </a:rPr>
              <a:t>who </a:t>
            </a:r>
            <a:r>
              <a:rPr dirty="0" sz="1200" spc="-5">
                <a:latin typeface="Arial"/>
                <a:cs typeface="Arial"/>
              </a:rPr>
              <a:t>has a better memory, Imam Muslim  </a:t>
            </a:r>
            <a:r>
              <a:rPr dirty="0" sz="1200">
                <a:latin typeface="Arial"/>
                <a:cs typeface="Arial"/>
              </a:rPr>
              <a:t>(author </a:t>
            </a:r>
            <a:r>
              <a:rPr dirty="0" sz="1200" spc="-5">
                <a:latin typeface="Arial"/>
                <a:cs typeface="Arial"/>
              </a:rPr>
              <a:t>of Sahih Muslim) or </a:t>
            </a:r>
            <a:r>
              <a:rPr dirty="0" sz="1200">
                <a:latin typeface="Arial"/>
                <a:cs typeface="Arial"/>
              </a:rPr>
              <a:t>this </a:t>
            </a:r>
            <a:r>
              <a:rPr dirty="0" sz="1200" spc="-5">
                <a:latin typeface="Arial"/>
                <a:cs typeface="Arial"/>
              </a:rPr>
              <a:t>great Imam he replied </a:t>
            </a:r>
            <a:r>
              <a:rPr dirty="0" sz="1200">
                <a:latin typeface="Arial"/>
                <a:cs typeface="Arial"/>
              </a:rPr>
              <a:t>this </a:t>
            </a:r>
            <a:r>
              <a:rPr dirty="0" sz="1200" spc="-5">
                <a:latin typeface="Arial"/>
                <a:cs typeface="Arial"/>
              </a:rPr>
              <a:t>great </a:t>
            </a:r>
            <a:r>
              <a:rPr dirty="0" sz="1200">
                <a:latin typeface="Arial"/>
                <a:cs typeface="Arial"/>
              </a:rPr>
              <a:t>Imam. </a:t>
            </a:r>
            <a:r>
              <a:rPr dirty="0" sz="1200" spc="-5">
                <a:latin typeface="Arial"/>
                <a:cs typeface="Arial"/>
              </a:rPr>
              <a:t>Allamah Dhahabi  would also say </a:t>
            </a:r>
            <a:r>
              <a:rPr dirty="0" sz="1200">
                <a:latin typeface="Arial"/>
                <a:cs typeface="Arial"/>
              </a:rPr>
              <a:t>that </a:t>
            </a:r>
            <a:r>
              <a:rPr dirty="0" sz="1200" spc="-5">
                <a:latin typeface="Arial"/>
                <a:cs typeface="Arial"/>
              </a:rPr>
              <a:t>this great Imam possessed more knowledge in Hadeeth than Imam  Muslim, </a:t>
            </a:r>
            <a:r>
              <a:rPr dirty="0" sz="1200">
                <a:latin typeface="Arial"/>
                <a:cs typeface="Arial"/>
              </a:rPr>
              <a:t>Imam </a:t>
            </a:r>
            <a:r>
              <a:rPr dirty="0" sz="1200" spc="-5">
                <a:latin typeface="Arial"/>
                <a:cs typeface="Arial"/>
              </a:rPr>
              <a:t>Tirmidhi and Imam Abu Dawood </a:t>
            </a:r>
            <a:r>
              <a:rPr dirty="0" sz="1200" spc="-10">
                <a:latin typeface="Arial"/>
                <a:cs typeface="Arial"/>
              </a:rPr>
              <a:t>(who was </a:t>
            </a:r>
            <a:r>
              <a:rPr dirty="0" sz="1200" spc="-5">
                <a:latin typeface="Arial"/>
                <a:cs typeface="Arial"/>
              </a:rPr>
              <a:t>his teacher). The famous Scholar  and Commentator of the Holy </a:t>
            </a:r>
            <a:r>
              <a:rPr dirty="0" sz="1200">
                <a:latin typeface="Arial"/>
                <a:cs typeface="Arial"/>
              </a:rPr>
              <a:t>Qura'an </a:t>
            </a:r>
            <a:r>
              <a:rPr dirty="0" sz="1200" spc="-5">
                <a:latin typeface="Arial"/>
                <a:cs typeface="Arial"/>
              </a:rPr>
              <a:t>would say narrating </a:t>
            </a:r>
            <a:r>
              <a:rPr dirty="0" sz="1200">
                <a:latin typeface="Arial"/>
                <a:cs typeface="Arial"/>
              </a:rPr>
              <a:t>from </a:t>
            </a:r>
            <a:r>
              <a:rPr dirty="0" sz="1200" spc="-10">
                <a:latin typeface="Arial"/>
                <a:cs typeface="Arial"/>
              </a:rPr>
              <a:t>his </a:t>
            </a:r>
            <a:r>
              <a:rPr dirty="0" sz="1200">
                <a:latin typeface="Arial"/>
                <a:cs typeface="Arial"/>
              </a:rPr>
              <a:t>teachers </a:t>
            </a:r>
            <a:r>
              <a:rPr dirty="0" sz="1200" spc="-5">
                <a:latin typeface="Arial"/>
                <a:cs typeface="Arial"/>
              </a:rPr>
              <a:t>that </a:t>
            </a:r>
            <a:r>
              <a:rPr dirty="0" sz="1200">
                <a:latin typeface="Arial"/>
                <a:cs typeface="Arial"/>
              </a:rPr>
              <a:t>this </a:t>
            </a:r>
            <a:r>
              <a:rPr dirty="0" sz="1200" spc="-5">
                <a:latin typeface="Arial"/>
                <a:cs typeface="Arial"/>
              </a:rPr>
              <a:t>Great  Imam </a:t>
            </a:r>
            <a:r>
              <a:rPr dirty="0" sz="1200" spc="-10">
                <a:latin typeface="Arial"/>
                <a:cs typeface="Arial"/>
              </a:rPr>
              <a:t>was </a:t>
            </a:r>
            <a:r>
              <a:rPr dirty="0" sz="1200" spc="-5">
                <a:latin typeface="Arial"/>
                <a:cs typeface="Arial"/>
              </a:rPr>
              <a:t>the </a:t>
            </a:r>
            <a:r>
              <a:rPr dirty="0" sz="1200">
                <a:latin typeface="Arial"/>
                <a:cs typeface="Arial"/>
              </a:rPr>
              <a:t>most </a:t>
            </a:r>
            <a:r>
              <a:rPr dirty="0" sz="1200" spc="-5">
                <a:latin typeface="Arial"/>
                <a:cs typeface="Arial"/>
              </a:rPr>
              <a:t>knowledgeable in</a:t>
            </a:r>
            <a:r>
              <a:rPr dirty="0" sz="1200" spc="50">
                <a:latin typeface="Arial"/>
                <a:cs typeface="Arial"/>
              </a:rPr>
              <a:t> </a:t>
            </a:r>
            <a:r>
              <a:rPr dirty="0" sz="1200" spc="-5">
                <a:latin typeface="Arial"/>
                <a:cs typeface="Arial"/>
              </a:rPr>
              <a:t>Egypt.</a:t>
            </a:r>
            <a:endParaRPr sz="1200">
              <a:latin typeface="Arial"/>
              <a:cs typeface="Arial"/>
            </a:endParaRPr>
          </a:p>
          <a:p>
            <a:pPr algn="just" marL="12700" marR="6985">
              <a:lnSpc>
                <a:spcPts val="1380"/>
              </a:lnSpc>
              <a:spcBef>
                <a:spcPts val="1040"/>
              </a:spcBef>
            </a:pPr>
            <a:r>
              <a:rPr dirty="0" sz="1200" spc="-5">
                <a:latin typeface="Arial"/>
                <a:cs typeface="Arial"/>
              </a:rPr>
              <a:t>The Great </a:t>
            </a:r>
            <a:r>
              <a:rPr dirty="0" sz="1200">
                <a:latin typeface="Arial"/>
                <a:cs typeface="Arial"/>
              </a:rPr>
              <a:t>Imam </a:t>
            </a:r>
            <a:r>
              <a:rPr dirty="0" sz="1200" spc="-5">
                <a:latin typeface="Arial"/>
                <a:cs typeface="Arial"/>
              </a:rPr>
              <a:t>would put </a:t>
            </a:r>
            <a:r>
              <a:rPr dirty="0" sz="1200" spc="-10">
                <a:latin typeface="Arial"/>
                <a:cs typeface="Arial"/>
              </a:rPr>
              <a:t>on good </a:t>
            </a:r>
            <a:r>
              <a:rPr dirty="0" sz="1200">
                <a:latin typeface="Arial"/>
                <a:cs typeface="Arial"/>
              </a:rPr>
              <a:t>clothing </a:t>
            </a:r>
            <a:r>
              <a:rPr dirty="0" sz="1200" spc="-5">
                <a:latin typeface="Arial"/>
                <a:cs typeface="Arial"/>
              </a:rPr>
              <a:t>according </a:t>
            </a:r>
            <a:r>
              <a:rPr dirty="0" sz="1200">
                <a:latin typeface="Arial"/>
                <a:cs typeface="Arial"/>
              </a:rPr>
              <a:t>to the </a:t>
            </a:r>
            <a:r>
              <a:rPr dirty="0" sz="1200" spc="-10">
                <a:latin typeface="Arial"/>
                <a:cs typeface="Arial"/>
              </a:rPr>
              <a:t>Sunnah </a:t>
            </a:r>
            <a:r>
              <a:rPr dirty="0" sz="1200" spc="-5">
                <a:latin typeface="Arial"/>
                <a:cs typeface="Arial"/>
              </a:rPr>
              <a:t>of our beloved Prophet  Muhammad and would eat poultry everyday with nabeeth (a </a:t>
            </a:r>
            <a:r>
              <a:rPr dirty="0" sz="1200">
                <a:latin typeface="Arial"/>
                <a:cs typeface="Arial"/>
              </a:rPr>
              <a:t>fruit </a:t>
            </a:r>
            <a:r>
              <a:rPr dirty="0" sz="1200" spc="-5">
                <a:latin typeface="Arial"/>
                <a:cs typeface="Arial"/>
              </a:rPr>
              <a:t>drink) acting on the </a:t>
            </a:r>
            <a:r>
              <a:rPr dirty="0" sz="1200" spc="-10">
                <a:latin typeface="Arial"/>
                <a:cs typeface="Arial"/>
              </a:rPr>
              <a:t>Sunnah  </a:t>
            </a:r>
            <a:r>
              <a:rPr dirty="0" sz="1200" spc="-5">
                <a:latin typeface="Arial"/>
                <a:cs typeface="Arial"/>
              </a:rPr>
              <a:t>so that he could worship Allah with ease. </a:t>
            </a:r>
            <a:r>
              <a:rPr dirty="0" sz="1200">
                <a:latin typeface="Arial"/>
                <a:cs typeface="Arial"/>
              </a:rPr>
              <a:t>In fact it </a:t>
            </a:r>
            <a:r>
              <a:rPr dirty="0" sz="1200" spc="-5">
                <a:latin typeface="Arial"/>
                <a:cs typeface="Arial"/>
              </a:rPr>
              <a:t>is narrated that </a:t>
            </a:r>
            <a:r>
              <a:rPr dirty="0" sz="1200">
                <a:latin typeface="Arial"/>
                <a:cs typeface="Arial"/>
              </a:rPr>
              <a:t>the </a:t>
            </a:r>
            <a:r>
              <a:rPr dirty="0" sz="1200" spc="-5">
                <a:latin typeface="Arial"/>
                <a:cs typeface="Arial"/>
              </a:rPr>
              <a:t>man would fast every  </a:t>
            </a:r>
            <a:r>
              <a:rPr dirty="0" sz="1200">
                <a:latin typeface="Arial"/>
                <a:cs typeface="Arial"/>
              </a:rPr>
              <a:t>other </a:t>
            </a:r>
            <a:r>
              <a:rPr dirty="0" sz="1200" spc="-5">
                <a:latin typeface="Arial"/>
                <a:cs typeface="Arial"/>
              </a:rPr>
              <a:t>day which is </a:t>
            </a:r>
            <a:r>
              <a:rPr dirty="0" sz="1200">
                <a:latin typeface="Arial"/>
                <a:cs typeface="Arial"/>
              </a:rPr>
              <a:t>classified </a:t>
            </a:r>
            <a:r>
              <a:rPr dirty="0" sz="1200" spc="-5">
                <a:latin typeface="Arial"/>
                <a:cs typeface="Arial"/>
              </a:rPr>
              <a:t>in the Hadeeth as Saum-u-Dawoodi </a:t>
            </a:r>
            <a:r>
              <a:rPr dirty="0" sz="1200">
                <a:latin typeface="Arial"/>
                <a:cs typeface="Arial"/>
              </a:rPr>
              <a:t>(the fast </a:t>
            </a:r>
            <a:r>
              <a:rPr dirty="0" sz="1200" spc="-5">
                <a:latin typeface="Arial"/>
                <a:cs typeface="Arial"/>
              </a:rPr>
              <a:t>of Dawood A.S).  He would worship Allah continuously throughout the nights and teach Hadeeth throughout  </a:t>
            </a:r>
            <a:r>
              <a:rPr dirty="0" sz="1200">
                <a:latin typeface="Arial"/>
                <a:cs typeface="Arial"/>
              </a:rPr>
              <a:t>the</a:t>
            </a:r>
            <a:r>
              <a:rPr dirty="0" sz="1200" spc="175">
                <a:latin typeface="Arial"/>
                <a:cs typeface="Arial"/>
              </a:rPr>
              <a:t> </a:t>
            </a:r>
            <a:r>
              <a:rPr dirty="0" sz="1200" spc="-5">
                <a:latin typeface="Arial"/>
                <a:cs typeface="Arial"/>
              </a:rPr>
              <a:t>day</a:t>
            </a:r>
            <a:r>
              <a:rPr dirty="0" sz="1200" spc="180">
                <a:latin typeface="Arial"/>
                <a:cs typeface="Arial"/>
              </a:rPr>
              <a:t> </a:t>
            </a:r>
            <a:r>
              <a:rPr dirty="0" sz="1200" spc="-5">
                <a:latin typeface="Arial"/>
                <a:cs typeface="Arial"/>
              </a:rPr>
              <a:t>without</a:t>
            </a:r>
            <a:r>
              <a:rPr dirty="0" sz="1200" spc="160">
                <a:latin typeface="Arial"/>
                <a:cs typeface="Arial"/>
              </a:rPr>
              <a:t> </a:t>
            </a:r>
            <a:r>
              <a:rPr dirty="0" sz="1200" spc="-5">
                <a:latin typeface="Arial"/>
                <a:cs typeface="Arial"/>
              </a:rPr>
              <a:t>forgetting</a:t>
            </a:r>
            <a:r>
              <a:rPr dirty="0" sz="1200" spc="170">
                <a:latin typeface="Arial"/>
                <a:cs typeface="Arial"/>
              </a:rPr>
              <a:t> </a:t>
            </a:r>
            <a:r>
              <a:rPr dirty="0" sz="1200">
                <a:latin typeface="Arial"/>
                <a:cs typeface="Arial"/>
              </a:rPr>
              <a:t>that</a:t>
            </a:r>
            <a:r>
              <a:rPr dirty="0" sz="1200" spc="180">
                <a:latin typeface="Arial"/>
                <a:cs typeface="Arial"/>
              </a:rPr>
              <a:t> </a:t>
            </a:r>
            <a:r>
              <a:rPr dirty="0" sz="1200">
                <a:latin typeface="Arial"/>
                <a:cs typeface="Arial"/>
              </a:rPr>
              <a:t>to</a:t>
            </a:r>
            <a:r>
              <a:rPr dirty="0" sz="1200" spc="195">
                <a:latin typeface="Arial"/>
                <a:cs typeface="Arial"/>
              </a:rPr>
              <a:t> </a:t>
            </a:r>
            <a:r>
              <a:rPr dirty="0" sz="1200" spc="-5">
                <a:latin typeface="Arial"/>
                <a:cs typeface="Arial"/>
              </a:rPr>
              <a:t>fulfil</a:t>
            </a:r>
            <a:r>
              <a:rPr dirty="0" sz="1200" spc="175">
                <a:latin typeface="Arial"/>
                <a:cs typeface="Arial"/>
              </a:rPr>
              <a:t> </a:t>
            </a:r>
            <a:r>
              <a:rPr dirty="0" sz="1200">
                <a:latin typeface="Arial"/>
                <a:cs typeface="Arial"/>
              </a:rPr>
              <a:t>the</a:t>
            </a:r>
            <a:r>
              <a:rPr dirty="0" sz="1200" spc="175">
                <a:latin typeface="Arial"/>
                <a:cs typeface="Arial"/>
              </a:rPr>
              <a:t> </a:t>
            </a:r>
            <a:r>
              <a:rPr dirty="0" sz="1200" spc="-10">
                <a:latin typeface="Arial"/>
                <a:cs typeface="Arial"/>
              </a:rPr>
              <a:t>rights</a:t>
            </a:r>
            <a:r>
              <a:rPr dirty="0" sz="1200" spc="180">
                <a:latin typeface="Arial"/>
                <a:cs typeface="Arial"/>
              </a:rPr>
              <a:t> </a:t>
            </a:r>
            <a:r>
              <a:rPr dirty="0" sz="1200">
                <a:latin typeface="Arial"/>
                <a:cs typeface="Arial"/>
              </a:rPr>
              <a:t>of</a:t>
            </a:r>
            <a:r>
              <a:rPr dirty="0" sz="1200" spc="175">
                <a:latin typeface="Arial"/>
                <a:cs typeface="Arial"/>
              </a:rPr>
              <a:t> </a:t>
            </a:r>
            <a:r>
              <a:rPr dirty="0" sz="1200" spc="-5">
                <a:latin typeface="Arial"/>
                <a:cs typeface="Arial"/>
              </a:rPr>
              <a:t>his</a:t>
            </a:r>
            <a:r>
              <a:rPr dirty="0" sz="1200" spc="165">
                <a:latin typeface="Arial"/>
                <a:cs typeface="Arial"/>
              </a:rPr>
              <a:t> </a:t>
            </a:r>
            <a:r>
              <a:rPr dirty="0" sz="1200">
                <a:latin typeface="Arial"/>
                <a:cs typeface="Arial"/>
              </a:rPr>
              <a:t>four</a:t>
            </a:r>
            <a:r>
              <a:rPr dirty="0" sz="1200" spc="175">
                <a:latin typeface="Arial"/>
                <a:cs typeface="Arial"/>
              </a:rPr>
              <a:t> </a:t>
            </a:r>
            <a:r>
              <a:rPr dirty="0" sz="1200" spc="-10">
                <a:latin typeface="Arial"/>
                <a:cs typeface="Arial"/>
              </a:rPr>
              <a:t>wives</a:t>
            </a:r>
            <a:r>
              <a:rPr dirty="0" sz="1200" spc="175">
                <a:latin typeface="Arial"/>
                <a:cs typeface="Arial"/>
              </a:rPr>
              <a:t> </a:t>
            </a:r>
            <a:r>
              <a:rPr dirty="0" sz="1200" spc="-5">
                <a:latin typeface="Arial"/>
                <a:cs typeface="Arial"/>
              </a:rPr>
              <a:t>and</a:t>
            </a:r>
            <a:r>
              <a:rPr dirty="0" sz="1200" spc="180">
                <a:latin typeface="Arial"/>
                <a:cs typeface="Arial"/>
              </a:rPr>
              <a:t> </a:t>
            </a:r>
            <a:r>
              <a:rPr dirty="0" sz="1200" spc="-5">
                <a:latin typeface="Arial"/>
                <a:cs typeface="Arial"/>
              </a:rPr>
              <a:t>treat</a:t>
            </a:r>
            <a:r>
              <a:rPr dirty="0" sz="1200" spc="175">
                <a:latin typeface="Arial"/>
                <a:cs typeface="Arial"/>
              </a:rPr>
              <a:t> </a:t>
            </a:r>
            <a:r>
              <a:rPr dirty="0" sz="1200" spc="-5">
                <a:latin typeface="Arial"/>
                <a:cs typeface="Arial"/>
              </a:rPr>
              <a:t>his</a:t>
            </a:r>
            <a:r>
              <a:rPr dirty="0" sz="1200" spc="175">
                <a:latin typeface="Arial"/>
                <a:cs typeface="Arial"/>
              </a:rPr>
              <a:t> </a:t>
            </a:r>
            <a:r>
              <a:rPr dirty="0" sz="1200" spc="-5">
                <a:latin typeface="Arial"/>
                <a:cs typeface="Arial"/>
              </a:rPr>
              <a:t>slaves</a:t>
            </a:r>
            <a:r>
              <a:rPr dirty="0" sz="1200" spc="175">
                <a:latin typeface="Arial"/>
                <a:cs typeface="Arial"/>
              </a:rPr>
              <a:t> </a:t>
            </a:r>
            <a:r>
              <a:rPr dirty="0" sz="1200" spc="-5">
                <a:latin typeface="Arial"/>
                <a:cs typeface="Arial"/>
              </a:rPr>
              <a:t>like</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127</a:t>
            </a:r>
            <a:endParaRPr sz="1200">
              <a:latin typeface="Times New Roman"/>
              <a:cs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3" name="object 3"/>
          <p:cNvSpPr txBox="1"/>
          <p:nvPr/>
        </p:nvSpPr>
        <p:spPr>
          <a:xfrm>
            <a:off x="534416" y="432307"/>
            <a:ext cx="6311900" cy="9415145"/>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5715">
              <a:lnSpc>
                <a:spcPct val="95900"/>
              </a:lnSpc>
            </a:pPr>
            <a:r>
              <a:rPr dirty="0" sz="1200" spc="-5">
                <a:latin typeface="Arial"/>
                <a:cs typeface="Arial"/>
              </a:rPr>
              <a:t>children. The Imam would also perform Hajj nearly every year and would also take part in  </a:t>
            </a:r>
            <a:r>
              <a:rPr dirty="0" sz="1200">
                <a:latin typeface="Arial"/>
                <a:cs typeface="Arial"/>
              </a:rPr>
              <a:t>Jihad. </a:t>
            </a:r>
            <a:r>
              <a:rPr dirty="0" sz="1200" spc="-5">
                <a:latin typeface="Arial"/>
                <a:cs typeface="Arial"/>
              </a:rPr>
              <a:t>He </a:t>
            </a:r>
            <a:r>
              <a:rPr dirty="0" sz="1200" spc="-10">
                <a:latin typeface="Arial"/>
                <a:cs typeface="Arial"/>
              </a:rPr>
              <a:t>was </a:t>
            </a:r>
            <a:r>
              <a:rPr dirty="0" sz="1200" spc="-5">
                <a:latin typeface="Arial"/>
                <a:cs typeface="Arial"/>
              </a:rPr>
              <a:t>a straight forward </a:t>
            </a:r>
            <a:r>
              <a:rPr dirty="0" sz="1200">
                <a:latin typeface="Arial"/>
                <a:cs typeface="Arial"/>
              </a:rPr>
              <a:t>truthful </a:t>
            </a:r>
            <a:r>
              <a:rPr dirty="0" sz="1200" spc="-5">
                <a:latin typeface="Arial"/>
                <a:cs typeface="Arial"/>
              </a:rPr>
              <a:t>man </a:t>
            </a:r>
            <a:r>
              <a:rPr dirty="0" sz="1200">
                <a:latin typeface="Arial"/>
                <a:cs typeface="Arial"/>
              </a:rPr>
              <a:t>and </a:t>
            </a:r>
            <a:r>
              <a:rPr dirty="0" sz="1200" spc="-5">
                <a:latin typeface="Arial"/>
                <a:cs typeface="Arial"/>
              </a:rPr>
              <a:t>nothing </a:t>
            </a:r>
            <a:r>
              <a:rPr dirty="0" sz="1200">
                <a:latin typeface="Arial"/>
                <a:cs typeface="Arial"/>
              </a:rPr>
              <a:t>or none </a:t>
            </a:r>
            <a:r>
              <a:rPr dirty="0" sz="1200" spc="-5">
                <a:latin typeface="Arial"/>
                <a:cs typeface="Arial"/>
              </a:rPr>
              <a:t>could stop him from saying  </a:t>
            </a:r>
            <a:r>
              <a:rPr dirty="0" sz="1200">
                <a:latin typeface="Arial"/>
                <a:cs typeface="Arial"/>
              </a:rPr>
              <a:t>the </a:t>
            </a:r>
            <a:r>
              <a:rPr dirty="0" sz="1200" spc="-5">
                <a:latin typeface="Arial"/>
                <a:cs typeface="Arial"/>
              </a:rPr>
              <a:t>truth. Allah the Bestower had granted </a:t>
            </a:r>
            <a:r>
              <a:rPr dirty="0" sz="1200" spc="-10">
                <a:latin typeface="Arial"/>
                <a:cs typeface="Arial"/>
              </a:rPr>
              <a:t>him </a:t>
            </a:r>
            <a:r>
              <a:rPr dirty="0" sz="1200" spc="-5">
                <a:latin typeface="Arial"/>
                <a:cs typeface="Arial"/>
              </a:rPr>
              <a:t>all the </a:t>
            </a:r>
            <a:r>
              <a:rPr dirty="0" sz="1200" spc="-10">
                <a:latin typeface="Arial"/>
                <a:cs typeface="Arial"/>
              </a:rPr>
              <a:t>good </a:t>
            </a:r>
            <a:r>
              <a:rPr dirty="0" sz="1200" spc="-5">
                <a:latin typeface="Arial"/>
                <a:cs typeface="Arial"/>
              </a:rPr>
              <a:t>qualities a person </a:t>
            </a:r>
            <a:r>
              <a:rPr dirty="0" sz="1200" spc="5">
                <a:latin typeface="Arial"/>
                <a:cs typeface="Arial"/>
              </a:rPr>
              <a:t>could </a:t>
            </a:r>
            <a:r>
              <a:rPr dirty="0" sz="1200" spc="-5">
                <a:latin typeface="Arial"/>
                <a:cs typeface="Arial"/>
              </a:rPr>
              <a:t>possess.  </a:t>
            </a:r>
            <a:r>
              <a:rPr dirty="0" sz="1200">
                <a:latin typeface="Arial"/>
                <a:cs typeface="Arial"/>
              </a:rPr>
              <a:t>At the </a:t>
            </a:r>
            <a:r>
              <a:rPr dirty="0" sz="1200" spc="-5">
                <a:latin typeface="Arial"/>
                <a:cs typeface="Arial"/>
              </a:rPr>
              <a:t>same </a:t>
            </a:r>
            <a:r>
              <a:rPr dirty="0" sz="1200">
                <a:latin typeface="Arial"/>
                <a:cs typeface="Arial"/>
              </a:rPr>
              <a:t>time </a:t>
            </a:r>
            <a:r>
              <a:rPr dirty="0" sz="1200" spc="-5">
                <a:latin typeface="Arial"/>
                <a:cs typeface="Arial"/>
              </a:rPr>
              <a:t>he </a:t>
            </a:r>
            <a:r>
              <a:rPr dirty="0" sz="1200" spc="-10">
                <a:latin typeface="Arial"/>
                <a:cs typeface="Arial"/>
              </a:rPr>
              <a:t>was </a:t>
            </a:r>
            <a:r>
              <a:rPr dirty="0" sz="1200" spc="-5">
                <a:latin typeface="Arial"/>
                <a:cs typeface="Arial"/>
              </a:rPr>
              <a:t>an extremely beautiful man and </a:t>
            </a:r>
            <a:r>
              <a:rPr dirty="0" sz="1200">
                <a:latin typeface="Arial"/>
                <a:cs typeface="Arial"/>
              </a:rPr>
              <a:t>the </a:t>
            </a:r>
            <a:r>
              <a:rPr dirty="0" sz="1200" spc="-5">
                <a:latin typeface="Arial"/>
                <a:cs typeface="Arial"/>
              </a:rPr>
              <a:t>beauty </a:t>
            </a:r>
            <a:r>
              <a:rPr dirty="0" sz="1200">
                <a:latin typeface="Arial"/>
                <a:cs typeface="Arial"/>
              </a:rPr>
              <a:t>of </a:t>
            </a:r>
            <a:r>
              <a:rPr dirty="0" sz="1200" spc="-5">
                <a:latin typeface="Arial"/>
                <a:cs typeface="Arial"/>
              </a:rPr>
              <a:t>his </a:t>
            </a:r>
            <a:r>
              <a:rPr dirty="0" sz="1200">
                <a:latin typeface="Arial"/>
                <a:cs typeface="Arial"/>
              </a:rPr>
              <a:t>face </a:t>
            </a:r>
            <a:r>
              <a:rPr dirty="0" sz="1200" spc="-5">
                <a:latin typeface="Arial"/>
                <a:cs typeface="Arial"/>
              </a:rPr>
              <a:t>stayed up till  his death. </a:t>
            </a:r>
            <a:r>
              <a:rPr dirty="0" sz="1200">
                <a:latin typeface="Arial"/>
                <a:cs typeface="Arial"/>
              </a:rPr>
              <a:t>This </a:t>
            </a:r>
            <a:r>
              <a:rPr dirty="0" sz="1200" spc="-5">
                <a:latin typeface="Arial"/>
                <a:cs typeface="Arial"/>
              </a:rPr>
              <a:t>in reality </a:t>
            </a:r>
            <a:r>
              <a:rPr dirty="0" sz="1200" spc="-10">
                <a:latin typeface="Arial"/>
                <a:cs typeface="Arial"/>
              </a:rPr>
              <a:t>was </a:t>
            </a:r>
            <a:r>
              <a:rPr dirty="0" sz="1200" spc="-5">
                <a:latin typeface="Arial"/>
                <a:cs typeface="Arial"/>
              </a:rPr>
              <a:t>the Noor Allah bestows </a:t>
            </a:r>
            <a:r>
              <a:rPr dirty="0" sz="1200">
                <a:latin typeface="Arial"/>
                <a:cs typeface="Arial"/>
              </a:rPr>
              <a:t>upon </a:t>
            </a:r>
            <a:r>
              <a:rPr dirty="0" sz="1200" spc="-5">
                <a:latin typeface="Arial"/>
                <a:cs typeface="Arial"/>
              </a:rPr>
              <a:t>certain pious accepted</a:t>
            </a:r>
            <a:r>
              <a:rPr dirty="0" sz="1200" spc="120">
                <a:latin typeface="Arial"/>
                <a:cs typeface="Arial"/>
              </a:rPr>
              <a:t> </a:t>
            </a:r>
            <a:r>
              <a:rPr dirty="0" sz="1200" spc="-5">
                <a:latin typeface="Arial"/>
                <a:cs typeface="Arial"/>
              </a:rPr>
              <a:t>servants.</a:t>
            </a:r>
            <a:endParaRPr sz="1200">
              <a:latin typeface="Arial"/>
              <a:cs typeface="Arial"/>
            </a:endParaRPr>
          </a:p>
          <a:p>
            <a:pPr algn="just" marL="12700" marR="6350">
              <a:lnSpc>
                <a:spcPts val="1380"/>
              </a:lnSpc>
              <a:spcBef>
                <a:spcPts val="1030"/>
              </a:spcBef>
            </a:pPr>
            <a:r>
              <a:rPr dirty="0" sz="1200">
                <a:latin typeface="Arial"/>
                <a:cs typeface="Arial"/>
              </a:rPr>
              <a:t>In </a:t>
            </a:r>
            <a:r>
              <a:rPr dirty="0" sz="1200" spc="-5">
                <a:latin typeface="Arial"/>
                <a:cs typeface="Arial"/>
              </a:rPr>
              <a:t>reality when </a:t>
            </a:r>
            <a:r>
              <a:rPr dirty="0" sz="1200">
                <a:latin typeface="Arial"/>
                <a:cs typeface="Arial"/>
              </a:rPr>
              <a:t>the </a:t>
            </a:r>
            <a:r>
              <a:rPr dirty="0" sz="1200" spc="-5">
                <a:latin typeface="Arial"/>
                <a:cs typeface="Arial"/>
              </a:rPr>
              <a:t>Imam had finished compiling Sunan </a:t>
            </a:r>
            <a:r>
              <a:rPr dirty="0" sz="1200">
                <a:latin typeface="Arial"/>
                <a:cs typeface="Arial"/>
              </a:rPr>
              <a:t>Al-Kubra </a:t>
            </a:r>
            <a:r>
              <a:rPr dirty="0" sz="1200" spc="-5">
                <a:latin typeface="Arial"/>
                <a:cs typeface="Arial"/>
              </a:rPr>
              <a:t>he presented </a:t>
            </a:r>
            <a:r>
              <a:rPr dirty="0" sz="1200">
                <a:latin typeface="Arial"/>
                <a:cs typeface="Arial"/>
              </a:rPr>
              <a:t>to </a:t>
            </a:r>
            <a:r>
              <a:rPr dirty="0" sz="1200" spc="-5">
                <a:latin typeface="Arial"/>
                <a:cs typeface="Arial"/>
              </a:rPr>
              <a:t>the  governor </a:t>
            </a:r>
            <a:r>
              <a:rPr dirty="0" sz="1200">
                <a:latin typeface="Arial"/>
                <a:cs typeface="Arial"/>
              </a:rPr>
              <a:t>of </a:t>
            </a:r>
            <a:r>
              <a:rPr dirty="0" sz="1200" spc="-5">
                <a:latin typeface="Arial"/>
                <a:cs typeface="Arial"/>
              </a:rPr>
              <a:t>Ramalah </a:t>
            </a:r>
            <a:r>
              <a:rPr dirty="0" sz="1200">
                <a:latin typeface="Arial"/>
                <a:cs typeface="Arial"/>
              </a:rPr>
              <a:t>so the </a:t>
            </a:r>
            <a:r>
              <a:rPr dirty="0" sz="1200" spc="-5">
                <a:latin typeface="Arial"/>
                <a:cs typeface="Arial"/>
              </a:rPr>
              <a:t>governor </a:t>
            </a:r>
            <a:r>
              <a:rPr dirty="0" sz="1200">
                <a:latin typeface="Arial"/>
                <a:cs typeface="Arial"/>
              </a:rPr>
              <a:t>asked </a:t>
            </a:r>
            <a:r>
              <a:rPr dirty="0" sz="1200" spc="-5">
                <a:latin typeface="Arial"/>
                <a:cs typeface="Arial"/>
              </a:rPr>
              <a:t>him </a:t>
            </a:r>
            <a:r>
              <a:rPr dirty="0" sz="1200" spc="-275">
                <a:latin typeface="Arial"/>
                <a:cs typeface="Arial"/>
              </a:rPr>
              <a:t>―is </a:t>
            </a:r>
            <a:r>
              <a:rPr dirty="0" sz="1200" spc="-5">
                <a:latin typeface="Arial"/>
                <a:cs typeface="Arial"/>
              </a:rPr>
              <a:t>it all sahih </a:t>
            </a:r>
            <a:r>
              <a:rPr dirty="0" sz="1200">
                <a:latin typeface="Arial"/>
                <a:cs typeface="Arial"/>
              </a:rPr>
              <a:t>(are </a:t>
            </a:r>
            <a:r>
              <a:rPr dirty="0" sz="1200" spc="-5">
                <a:latin typeface="Arial"/>
                <a:cs typeface="Arial"/>
              </a:rPr>
              <a:t>all </a:t>
            </a:r>
            <a:r>
              <a:rPr dirty="0" sz="1200">
                <a:latin typeface="Arial"/>
                <a:cs typeface="Arial"/>
              </a:rPr>
              <a:t>the </a:t>
            </a:r>
            <a:r>
              <a:rPr dirty="0" sz="1200" spc="-5">
                <a:latin typeface="Arial"/>
                <a:cs typeface="Arial"/>
              </a:rPr>
              <a:t>narrators 100%  </a:t>
            </a:r>
            <a:r>
              <a:rPr dirty="0" sz="1200" spc="-10">
                <a:latin typeface="Arial"/>
                <a:cs typeface="Arial"/>
              </a:rPr>
              <a:t>authentic)?‖ </a:t>
            </a:r>
            <a:r>
              <a:rPr dirty="0" sz="1200">
                <a:latin typeface="Arial"/>
                <a:cs typeface="Arial"/>
              </a:rPr>
              <a:t>he </a:t>
            </a:r>
            <a:r>
              <a:rPr dirty="0" sz="1200" spc="-5">
                <a:latin typeface="Arial"/>
                <a:cs typeface="Arial"/>
              </a:rPr>
              <a:t>replied in </a:t>
            </a:r>
            <a:r>
              <a:rPr dirty="0" sz="1200">
                <a:latin typeface="Arial"/>
                <a:cs typeface="Arial"/>
              </a:rPr>
              <a:t>the </a:t>
            </a:r>
            <a:r>
              <a:rPr dirty="0" sz="1200" spc="-5">
                <a:latin typeface="Arial"/>
                <a:cs typeface="Arial"/>
              </a:rPr>
              <a:t>negative, </a:t>
            </a:r>
            <a:r>
              <a:rPr dirty="0" sz="1200">
                <a:latin typeface="Arial"/>
                <a:cs typeface="Arial"/>
              </a:rPr>
              <a:t>thus the </a:t>
            </a:r>
            <a:r>
              <a:rPr dirty="0" sz="1200" spc="-5">
                <a:latin typeface="Arial"/>
                <a:cs typeface="Arial"/>
              </a:rPr>
              <a:t>governor suggested </a:t>
            </a:r>
            <a:r>
              <a:rPr dirty="0" sz="1200">
                <a:latin typeface="Arial"/>
                <a:cs typeface="Arial"/>
              </a:rPr>
              <a:t>and </a:t>
            </a:r>
            <a:r>
              <a:rPr dirty="0" sz="1200" spc="-5">
                <a:latin typeface="Arial"/>
                <a:cs typeface="Arial"/>
              </a:rPr>
              <a:t>requested </a:t>
            </a:r>
            <a:r>
              <a:rPr dirty="0" sz="1200">
                <a:latin typeface="Arial"/>
                <a:cs typeface="Arial"/>
              </a:rPr>
              <a:t>that </a:t>
            </a:r>
            <a:r>
              <a:rPr dirty="0" sz="1200" spc="-5">
                <a:latin typeface="Arial"/>
                <a:cs typeface="Arial"/>
              </a:rPr>
              <a:t>he  compiles another book and gathers in </a:t>
            </a:r>
            <a:r>
              <a:rPr dirty="0" sz="1200">
                <a:latin typeface="Arial"/>
                <a:cs typeface="Arial"/>
              </a:rPr>
              <a:t>there </a:t>
            </a:r>
            <a:r>
              <a:rPr dirty="0" sz="1200" spc="5">
                <a:latin typeface="Arial"/>
                <a:cs typeface="Arial"/>
              </a:rPr>
              <a:t>Sahih </a:t>
            </a:r>
            <a:r>
              <a:rPr dirty="0" sz="1200" spc="-5">
                <a:latin typeface="Arial"/>
                <a:cs typeface="Arial"/>
              </a:rPr>
              <a:t>Hadeeth. So </a:t>
            </a:r>
            <a:r>
              <a:rPr dirty="0" sz="1200" spc="-10">
                <a:latin typeface="Arial"/>
                <a:cs typeface="Arial"/>
              </a:rPr>
              <a:t>then </a:t>
            </a:r>
            <a:r>
              <a:rPr dirty="0" sz="1200" spc="-5">
                <a:latin typeface="Arial"/>
                <a:cs typeface="Arial"/>
              </a:rPr>
              <a:t>he did this and named  his book Sunan Al-Sughra </a:t>
            </a:r>
            <a:r>
              <a:rPr dirty="0" sz="1200">
                <a:latin typeface="Arial"/>
                <a:cs typeface="Arial"/>
              </a:rPr>
              <a:t>(the </a:t>
            </a:r>
            <a:r>
              <a:rPr dirty="0" sz="1200" spc="-5">
                <a:latin typeface="Arial"/>
                <a:cs typeface="Arial"/>
              </a:rPr>
              <a:t>small Sunan) and Al-Mujtaba </a:t>
            </a:r>
            <a:r>
              <a:rPr dirty="0" sz="1200" spc="-10">
                <a:latin typeface="Arial"/>
                <a:cs typeface="Arial"/>
              </a:rPr>
              <a:t>and </a:t>
            </a:r>
            <a:r>
              <a:rPr dirty="0" sz="1200" spc="-5">
                <a:latin typeface="Arial"/>
                <a:cs typeface="Arial"/>
              </a:rPr>
              <a:t>Al-Mujtana (both mean  carefully </a:t>
            </a:r>
            <a:r>
              <a:rPr dirty="0" sz="1200">
                <a:latin typeface="Arial"/>
                <a:cs typeface="Arial"/>
              </a:rPr>
              <a:t>chosen) </a:t>
            </a:r>
            <a:r>
              <a:rPr dirty="0" sz="1200" spc="-5">
                <a:latin typeface="Arial"/>
                <a:cs typeface="Arial"/>
              </a:rPr>
              <a:t>and this is </a:t>
            </a:r>
            <a:r>
              <a:rPr dirty="0" sz="1200">
                <a:latin typeface="Arial"/>
                <a:cs typeface="Arial"/>
              </a:rPr>
              <a:t>the </a:t>
            </a:r>
            <a:r>
              <a:rPr dirty="0" sz="1200" spc="-5">
                <a:latin typeface="Arial"/>
                <a:cs typeface="Arial"/>
              </a:rPr>
              <a:t>Sunan which </a:t>
            </a:r>
            <a:r>
              <a:rPr dirty="0" sz="1200" spc="-10">
                <a:latin typeface="Arial"/>
                <a:cs typeface="Arial"/>
              </a:rPr>
              <a:t>we </a:t>
            </a:r>
            <a:r>
              <a:rPr dirty="0" sz="1200">
                <a:latin typeface="Arial"/>
                <a:cs typeface="Arial"/>
              </a:rPr>
              <a:t>know as </a:t>
            </a:r>
            <a:r>
              <a:rPr dirty="0" sz="1200" spc="-5">
                <a:latin typeface="Arial"/>
                <a:cs typeface="Arial"/>
              </a:rPr>
              <a:t>Sunan</a:t>
            </a:r>
            <a:r>
              <a:rPr dirty="0" sz="1200" spc="-25">
                <a:latin typeface="Arial"/>
                <a:cs typeface="Arial"/>
              </a:rPr>
              <a:t> </a:t>
            </a:r>
            <a:r>
              <a:rPr dirty="0" sz="1200">
                <a:latin typeface="Arial"/>
                <a:cs typeface="Arial"/>
              </a:rPr>
              <a:t>Al-Nasai.</a:t>
            </a:r>
            <a:endParaRPr sz="1200">
              <a:latin typeface="Arial"/>
              <a:cs typeface="Arial"/>
            </a:endParaRPr>
          </a:p>
          <a:p>
            <a:pPr>
              <a:lnSpc>
                <a:spcPct val="100000"/>
              </a:lnSpc>
              <a:spcBef>
                <a:spcPts val="40"/>
              </a:spcBef>
            </a:pPr>
            <a:endParaRPr sz="1000">
              <a:latin typeface="Arial"/>
              <a:cs typeface="Arial"/>
            </a:endParaRPr>
          </a:p>
          <a:p>
            <a:pPr algn="just" marL="12700" marR="7620">
              <a:lnSpc>
                <a:spcPct val="95900"/>
              </a:lnSpc>
            </a:pPr>
            <a:r>
              <a:rPr dirty="0" sz="1200">
                <a:latin typeface="Arial"/>
                <a:cs typeface="Arial"/>
              </a:rPr>
              <a:t>In </a:t>
            </a:r>
            <a:r>
              <a:rPr dirty="0" sz="1200" spc="-5">
                <a:latin typeface="Arial"/>
                <a:cs typeface="Arial"/>
              </a:rPr>
              <a:t>this book </a:t>
            </a:r>
            <a:r>
              <a:rPr dirty="0" sz="1200" spc="-10">
                <a:latin typeface="Arial"/>
                <a:cs typeface="Arial"/>
              </a:rPr>
              <a:t>he </a:t>
            </a:r>
            <a:r>
              <a:rPr dirty="0" sz="1200" spc="-5">
                <a:latin typeface="Arial"/>
                <a:cs typeface="Arial"/>
              </a:rPr>
              <a:t>follows </a:t>
            </a:r>
            <a:r>
              <a:rPr dirty="0" sz="1200">
                <a:latin typeface="Arial"/>
                <a:cs typeface="Arial"/>
              </a:rPr>
              <a:t>the </a:t>
            </a:r>
            <a:r>
              <a:rPr dirty="0" sz="1200" spc="-5">
                <a:latin typeface="Arial"/>
                <a:cs typeface="Arial"/>
              </a:rPr>
              <a:t>footsteps of Imam Muslim and </a:t>
            </a:r>
            <a:r>
              <a:rPr dirty="0" sz="1200">
                <a:latin typeface="Arial"/>
                <a:cs typeface="Arial"/>
              </a:rPr>
              <a:t>Imam </a:t>
            </a:r>
            <a:r>
              <a:rPr dirty="0" sz="1200" spc="-5">
                <a:latin typeface="Arial"/>
                <a:cs typeface="Arial"/>
              </a:rPr>
              <a:t>Bukhari (R.A). Overall most  of the Ahadeeth are Sahih and where </a:t>
            </a:r>
            <a:r>
              <a:rPr dirty="0" sz="1200" spc="-10">
                <a:latin typeface="Arial"/>
                <a:cs typeface="Arial"/>
              </a:rPr>
              <a:t>he </a:t>
            </a:r>
            <a:r>
              <a:rPr dirty="0" sz="1200" spc="-5">
                <a:latin typeface="Arial"/>
                <a:cs typeface="Arial"/>
              </a:rPr>
              <a:t>narrates a weak narration </a:t>
            </a:r>
            <a:r>
              <a:rPr dirty="0" sz="1200" spc="-10">
                <a:latin typeface="Arial"/>
                <a:cs typeface="Arial"/>
              </a:rPr>
              <a:t>he </a:t>
            </a:r>
            <a:r>
              <a:rPr dirty="0" sz="1200" spc="-5">
                <a:latin typeface="Arial"/>
                <a:cs typeface="Arial"/>
              </a:rPr>
              <a:t>clearly </a:t>
            </a:r>
            <a:r>
              <a:rPr dirty="0" sz="1200">
                <a:latin typeface="Arial"/>
                <a:cs typeface="Arial"/>
              </a:rPr>
              <a:t>clarifies </a:t>
            </a:r>
            <a:r>
              <a:rPr dirty="0" sz="1200" spc="-5">
                <a:latin typeface="Arial"/>
                <a:cs typeface="Arial"/>
              </a:rPr>
              <a:t>the  weakness.</a:t>
            </a:r>
            <a:endParaRPr sz="1200">
              <a:latin typeface="Arial"/>
              <a:cs typeface="Arial"/>
            </a:endParaRPr>
          </a:p>
          <a:p>
            <a:pPr algn="just" marL="12700" marR="8255">
              <a:lnSpc>
                <a:spcPts val="1380"/>
              </a:lnSpc>
              <a:spcBef>
                <a:spcPts val="1115"/>
              </a:spcBef>
            </a:pPr>
            <a:r>
              <a:rPr dirty="0" sz="1200" spc="-5">
                <a:latin typeface="Arial"/>
                <a:cs typeface="Arial"/>
              </a:rPr>
              <a:t>Teachers of Imam Nasa‘i: Qutayba, Ishaq Ibn Rawahaiyi, Ahmad </a:t>
            </a:r>
            <a:r>
              <a:rPr dirty="0" sz="1200">
                <a:latin typeface="Arial"/>
                <a:cs typeface="Arial"/>
              </a:rPr>
              <a:t>Ibn </a:t>
            </a:r>
            <a:r>
              <a:rPr dirty="0" sz="1200" spc="-5">
                <a:latin typeface="Arial"/>
                <a:cs typeface="Arial"/>
              </a:rPr>
              <a:t>Mani‘, Ali Ibn </a:t>
            </a:r>
            <a:r>
              <a:rPr dirty="0" sz="1200" spc="-10">
                <a:latin typeface="Arial"/>
                <a:cs typeface="Arial"/>
              </a:rPr>
              <a:t>Hajr,  </a:t>
            </a:r>
            <a:r>
              <a:rPr dirty="0" sz="1200" spc="-5">
                <a:latin typeface="Arial"/>
                <a:cs typeface="Arial"/>
              </a:rPr>
              <a:t>Imam Abu Dawood, Imam Tirmidhi, Imam </a:t>
            </a:r>
            <a:r>
              <a:rPr dirty="0" sz="1200">
                <a:latin typeface="Arial"/>
                <a:cs typeface="Arial"/>
              </a:rPr>
              <a:t>Abu </a:t>
            </a:r>
            <a:r>
              <a:rPr dirty="0" sz="1200" spc="-5">
                <a:latin typeface="Arial"/>
                <a:cs typeface="Arial"/>
              </a:rPr>
              <a:t>Hatham, Imam Abu Zur‘a, Muhammad </a:t>
            </a:r>
            <a:r>
              <a:rPr dirty="0" sz="1200">
                <a:latin typeface="Arial"/>
                <a:cs typeface="Arial"/>
              </a:rPr>
              <a:t>Ibn  </a:t>
            </a:r>
            <a:r>
              <a:rPr dirty="0" sz="1200" spc="-5">
                <a:latin typeface="Arial"/>
                <a:cs typeface="Arial"/>
              </a:rPr>
              <a:t>Yahya, Muhammad Ibn Bashshaar and others taught Imam Nasa‘i. Most of them were  teachers of </a:t>
            </a:r>
            <a:r>
              <a:rPr dirty="0" sz="1200">
                <a:latin typeface="Arial"/>
                <a:cs typeface="Arial"/>
              </a:rPr>
              <a:t>Imam </a:t>
            </a:r>
            <a:r>
              <a:rPr dirty="0" sz="1200" spc="-5">
                <a:latin typeface="Arial"/>
                <a:cs typeface="Arial"/>
              </a:rPr>
              <a:t>Bukhari and Imam</a:t>
            </a:r>
            <a:r>
              <a:rPr dirty="0" sz="1200" spc="10">
                <a:latin typeface="Arial"/>
                <a:cs typeface="Arial"/>
              </a:rPr>
              <a:t> </a:t>
            </a:r>
            <a:r>
              <a:rPr dirty="0" sz="1200" spc="-5">
                <a:latin typeface="Arial"/>
                <a:cs typeface="Arial"/>
              </a:rPr>
              <a:t>Muslim.</a:t>
            </a:r>
            <a:endParaRPr sz="1200">
              <a:latin typeface="Arial"/>
              <a:cs typeface="Arial"/>
            </a:endParaRPr>
          </a:p>
          <a:p>
            <a:pPr algn="just" marL="12700" marR="11430">
              <a:lnSpc>
                <a:spcPts val="1380"/>
              </a:lnSpc>
              <a:spcBef>
                <a:spcPts val="1080"/>
              </a:spcBef>
            </a:pPr>
            <a:r>
              <a:rPr dirty="0" sz="1200" spc="-5">
                <a:latin typeface="Arial"/>
                <a:cs typeface="Arial"/>
              </a:rPr>
              <a:t>Students of Imam Nasa‘i: Eminent scholars like Ibn Hibban, Uqaili, </a:t>
            </a:r>
            <a:r>
              <a:rPr dirty="0" sz="1200">
                <a:latin typeface="Arial"/>
                <a:cs typeface="Arial"/>
              </a:rPr>
              <a:t>Ibn </a:t>
            </a:r>
            <a:r>
              <a:rPr dirty="0" sz="1200" spc="-5">
                <a:latin typeface="Arial"/>
                <a:cs typeface="Arial"/>
              </a:rPr>
              <a:t>Adi, </a:t>
            </a:r>
            <a:r>
              <a:rPr dirty="0" sz="1200">
                <a:latin typeface="Arial"/>
                <a:cs typeface="Arial"/>
              </a:rPr>
              <a:t>At Talabi, At  </a:t>
            </a:r>
            <a:r>
              <a:rPr dirty="0" sz="1200" spc="-5">
                <a:latin typeface="Arial"/>
                <a:cs typeface="Arial"/>
              </a:rPr>
              <a:t>Tahawi, Abu Uwanah, </a:t>
            </a:r>
            <a:r>
              <a:rPr dirty="0" sz="1200">
                <a:latin typeface="Arial"/>
                <a:cs typeface="Arial"/>
              </a:rPr>
              <a:t>At </a:t>
            </a:r>
            <a:r>
              <a:rPr dirty="0" sz="1200" spc="-5">
                <a:latin typeface="Arial"/>
                <a:cs typeface="Arial"/>
              </a:rPr>
              <a:t>Tabrani, Ibn Sina, Imam Abi Dunya, Abu Uwanah and others  studied under Imam</a:t>
            </a:r>
            <a:r>
              <a:rPr dirty="0" sz="1200" spc="10">
                <a:latin typeface="Arial"/>
                <a:cs typeface="Arial"/>
              </a:rPr>
              <a:t> </a:t>
            </a:r>
            <a:r>
              <a:rPr dirty="0" sz="1200" spc="-5">
                <a:latin typeface="Arial"/>
                <a:cs typeface="Arial"/>
              </a:rPr>
              <a:t>Nasa‘i.</a:t>
            </a:r>
            <a:endParaRPr sz="1200">
              <a:latin typeface="Arial"/>
              <a:cs typeface="Arial"/>
            </a:endParaRPr>
          </a:p>
          <a:p>
            <a:pPr>
              <a:lnSpc>
                <a:spcPct val="100000"/>
              </a:lnSpc>
              <a:spcBef>
                <a:spcPts val="35"/>
              </a:spcBef>
            </a:pPr>
            <a:endParaRPr sz="1400">
              <a:latin typeface="Arial"/>
              <a:cs typeface="Arial"/>
            </a:endParaRPr>
          </a:p>
          <a:p>
            <a:pPr algn="just" marL="12700">
              <a:lnSpc>
                <a:spcPct val="100000"/>
              </a:lnSpc>
            </a:pPr>
            <a:r>
              <a:rPr dirty="0" u="heavy" sz="1200" spc="-5" b="1" i="1">
                <a:uFill>
                  <a:solidFill>
                    <a:srgbClr val="000000"/>
                  </a:solidFill>
                </a:uFill>
                <a:latin typeface="Arial"/>
                <a:cs typeface="Arial"/>
              </a:rPr>
              <a:t>Criteria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Collection</a:t>
            </a:r>
            <a:endParaRPr sz="1200">
              <a:latin typeface="Arial"/>
              <a:cs typeface="Arial"/>
            </a:endParaRPr>
          </a:p>
          <a:p>
            <a:pPr>
              <a:lnSpc>
                <a:spcPct val="100000"/>
              </a:lnSpc>
            </a:pPr>
            <a:endParaRPr sz="1150">
              <a:latin typeface="Arial"/>
              <a:cs typeface="Arial"/>
            </a:endParaRPr>
          </a:p>
          <a:p>
            <a:pPr marL="413384" indent="-172720">
              <a:lnSpc>
                <a:spcPts val="1410"/>
              </a:lnSpc>
              <a:buFont typeface="Wingdings"/>
              <a:buChar char=""/>
              <a:tabLst>
                <a:tab pos="414020" algn="l"/>
              </a:tabLst>
            </a:pPr>
            <a:r>
              <a:rPr dirty="0" sz="1200">
                <a:latin typeface="Arial"/>
                <a:cs typeface="Arial"/>
              </a:rPr>
              <a:t>Rejected </a:t>
            </a:r>
            <a:r>
              <a:rPr dirty="0" sz="1200" spc="-5">
                <a:latin typeface="Arial"/>
                <a:cs typeface="Arial"/>
              </a:rPr>
              <a:t>a reporter </a:t>
            </a:r>
            <a:r>
              <a:rPr dirty="0" sz="1200" spc="-10">
                <a:latin typeface="Arial"/>
                <a:cs typeface="Arial"/>
              </a:rPr>
              <a:t>if </a:t>
            </a:r>
            <a:r>
              <a:rPr dirty="0" sz="1200" spc="-5">
                <a:latin typeface="Arial"/>
                <a:cs typeface="Arial"/>
              </a:rPr>
              <a:t>all Traditionists </a:t>
            </a:r>
            <a:r>
              <a:rPr dirty="0" sz="1200">
                <a:latin typeface="Arial"/>
                <a:cs typeface="Arial"/>
              </a:rPr>
              <a:t>did</a:t>
            </a:r>
            <a:r>
              <a:rPr dirty="0" sz="1200" spc="10">
                <a:latin typeface="Arial"/>
                <a:cs typeface="Arial"/>
              </a:rPr>
              <a:t> </a:t>
            </a:r>
            <a:r>
              <a:rPr dirty="0" sz="1200" spc="-5">
                <a:latin typeface="Arial"/>
                <a:cs typeface="Arial"/>
              </a:rPr>
              <a:t>so</a:t>
            </a:r>
            <a:endParaRPr sz="1200">
              <a:latin typeface="Arial"/>
              <a:cs typeface="Arial"/>
            </a:endParaRPr>
          </a:p>
          <a:p>
            <a:pPr marL="469900" marR="5080" indent="-229235">
              <a:lnSpc>
                <a:spcPts val="1380"/>
              </a:lnSpc>
              <a:spcBef>
                <a:spcPts val="65"/>
              </a:spcBef>
              <a:buFont typeface="Wingdings"/>
              <a:buChar char=""/>
              <a:tabLst>
                <a:tab pos="414020" algn="l"/>
              </a:tabLst>
            </a:pPr>
            <a:r>
              <a:rPr dirty="0" sz="1200">
                <a:latin typeface="Arial"/>
                <a:cs typeface="Arial"/>
              </a:rPr>
              <a:t>Rejected </a:t>
            </a:r>
            <a:r>
              <a:rPr dirty="0" sz="1200" spc="-10">
                <a:latin typeface="Arial"/>
                <a:cs typeface="Arial"/>
              </a:rPr>
              <a:t>if </a:t>
            </a:r>
            <a:r>
              <a:rPr dirty="0" sz="1200" spc="-5">
                <a:latin typeface="Arial"/>
                <a:cs typeface="Arial"/>
              </a:rPr>
              <a:t>the reporter has mentioned anything extra </a:t>
            </a:r>
            <a:r>
              <a:rPr dirty="0" sz="1200">
                <a:latin typeface="Arial"/>
                <a:cs typeface="Arial"/>
              </a:rPr>
              <a:t>while other </a:t>
            </a:r>
            <a:r>
              <a:rPr dirty="0" sz="1200" spc="-10">
                <a:latin typeface="Arial"/>
                <a:cs typeface="Arial"/>
              </a:rPr>
              <a:t>have </a:t>
            </a:r>
            <a:r>
              <a:rPr dirty="0" sz="1200" spc="-5">
                <a:latin typeface="Arial"/>
                <a:cs typeface="Arial"/>
              </a:rPr>
              <a:t>not reported </a:t>
            </a:r>
            <a:r>
              <a:rPr dirty="0" sz="1200" spc="-10">
                <a:latin typeface="Arial"/>
                <a:cs typeface="Arial"/>
              </a:rPr>
              <a:t>it  </a:t>
            </a:r>
            <a:r>
              <a:rPr dirty="0" sz="1200" spc="-5">
                <a:latin typeface="Arial"/>
                <a:cs typeface="Arial"/>
              </a:rPr>
              <a:t>from the same</a:t>
            </a:r>
            <a:r>
              <a:rPr dirty="0" sz="1200" spc="10">
                <a:latin typeface="Arial"/>
                <a:cs typeface="Arial"/>
              </a:rPr>
              <a:t> </a:t>
            </a:r>
            <a:r>
              <a:rPr dirty="0" sz="1200" spc="-5">
                <a:latin typeface="Arial"/>
                <a:cs typeface="Arial"/>
              </a:rPr>
              <a:t>teacher</a:t>
            </a:r>
            <a:endParaRPr sz="1200">
              <a:latin typeface="Arial"/>
              <a:cs typeface="Arial"/>
            </a:endParaRPr>
          </a:p>
          <a:p>
            <a:pPr marL="413384" indent="-172720">
              <a:lnSpc>
                <a:spcPts val="1345"/>
              </a:lnSpc>
              <a:buFont typeface="Wingdings"/>
              <a:buChar char=""/>
              <a:tabLst>
                <a:tab pos="414020" algn="l"/>
              </a:tabLst>
            </a:pPr>
            <a:r>
              <a:rPr dirty="0" sz="1200">
                <a:latin typeface="Arial"/>
                <a:cs typeface="Arial"/>
              </a:rPr>
              <a:t>Recorded </a:t>
            </a:r>
            <a:r>
              <a:rPr dirty="0" sz="1200" spc="-5">
                <a:latin typeface="Arial"/>
                <a:cs typeface="Arial"/>
              </a:rPr>
              <a:t>weak Hadith </a:t>
            </a:r>
            <a:r>
              <a:rPr dirty="0" sz="1200">
                <a:latin typeface="Arial"/>
                <a:cs typeface="Arial"/>
              </a:rPr>
              <a:t>only to </a:t>
            </a:r>
            <a:r>
              <a:rPr dirty="0" sz="1200" spc="-5">
                <a:latin typeface="Arial"/>
                <a:cs typeface="Arial"/>
              </a:rPr>
              <a:t>show their</a:t>
            </a:r>
            <a:r>
              <a:rPr dirty="0" sz="1200" spc="-45">
                <a:latin typeface="Arial"/>
                <a:cs typeface="Arial"/>
              </a:rPr>
              <a:t> </a:t>
            </a:r>
            <a:r>
              <a:rPr dirty="0" sz="1200" spc="-5">
                <a:latin typeface="Arial"/>
                <a:cs typeface="Arial"/>
              </a:rPr>
              <a:t>mistakes</a:t>
            </a:r>
            <a:endParaRPr sz="1200">
              <a:latin typeface="Arial"/>
              <a:cs typeface="Arial"/>
            </a:endParaRPr>
          </a:p>
          <a:p>
            <a:pPr>
              <a:lnSpc>
                <a:spcPct val="100000"/>
              </a:lnSpc>
              <a:spcBef>
                <a:spcPts val="55"/>
              </a:spcBef>
            </a:pPr>
            <a:endParaRPr sz="1100">
              <a:latin typeface="Arial"/>
              <a:cs typeface="Arial"/>
            </a:endParaRPr>
          </a:p>
          <a:p>
            <a:pPr marL="241300">
              <a:lnSpc>
                <a:spcPct val="100000"/>
              </a:lnSpc>
            </a:pPr>
            <a:r>
              <a:rPr dirty="0" sz="1200" b="1" i="1">
                <a:latin typeface="Arial"/>
                <a:cs typeface="Arial"/>
              </a:rPr>
              <a:t>6. </a:t>
            </a:r>
            <a:r>
              <a:rPr dirty="0" u="heavy" sz="1200" b="1" i="1">
                <a:uFill>
                  <a:solidFill>
                    <a:srgbClr val="000000"/>
                  </a:solidFill>
                </a:uFill>
                <a:latin typeface="Arial"/>
                <a:cs typeface="Arial"/>
              </a:rPr>
              <a:t>Sunan Ibn</a:t>
            </a:r>
            <a:r>
              <a:rPr dirty="0" u="heavy" sz="1200" spc="-215" b="1" i="1">
                <a:uFill>
                  <a:solidFill>
                    <a:srgbClr val="000000"/>
                  </a:solidFill>
                </a:uFill>
                <a:latin typeface="Arial"/>
                <a:cs typeface="Arial"/>
              </a:rPr>
              <a:t> </a:t>
            </a:r>
            <a:r>
              <a:rPr dirty="0" u="heavy" sz="1200" spc="-5" b="1" i="1">
                <a:uFill>
                  <a:solidFill>
                    <a:srgbClr val="000000"/>
                  </a:solidFill>
                </a:uFill>
                <a:latin typeface="Arial"/>
                <a:cs typeface="Arial"/>
              </a:rPr>
              <a:t>Majaa</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a:latin typeface="Arial"/>
                <a:cs typeface="Arial"/>
              </a:rPr>
              <a:t>Its </a:t>
            </a:r>
            <a:r>
              <a:rPr dirty="0" sz="1200" spc="-5">
                <a:latin typeface="Arial"/>
                <a:cs typeface="Arial"/>
              </a:rPr>
              <a:t>author is Imaam </a:t>
            </a:r>
            <a:r>
              <a:rPr dirty="0" sz="1200" spc="-10">
                <a:latin typeface="Arial"/>
                <a:cs typeface="Arial"/>
              </a:rPr>
              <a:t>Abu </a:t>
            </a:r>
            <a:r>
              <a:rPr dirty="0" sz="1200" spc="-50">
                <a:latin typeface="Arial"/>
                <a:cs typeface="Arial"/>
              </a:rPr>
              <a:t>‗Abdullah </a:t>
            </a:r>
            <a:r>
              <a:rPr dirty="0" sz="1200" spc="-5">
                <a:latin typeface="Arial"/>
                <a:cs typeface="Arial"/>
              </a:rPr>
              <a:t>Muhammad ibn Yazeed ibn Maajah al-Qazweeniy, born in  Qazween, Iran in the year 209 and died in the year 273 </a:t>
            </a:r>
            <a:r>
              <a:rPr dirty="0" sz="1200">
                <a:latin typeface="Arial"/>
                <a:cs typeface="Arial"/>
              </a:rPr>
              <a:t>AH. The </a:t>
            </a:r>
            <a:r>
              <a:rPr dirty="0" sz="1200" spc="-5">
                <a:latin typeface="Arial"/>
                <a:cs typeface="Arial"/>
              </a:rPr>
              <a:t>sunan has 4,000</a:t>
            </a:r>
            <a:r>
              <a:rPr dirty="0" sz="1200" spc="130">
                <a:latin typeface="Arial"/>
                <a:cs typeface="Arial"/>
              </a:rPr>
              <a:t> </a:t>
            </a:r>
            <a:r>
              <a:rPr dirty="0" sz="1200" spc="-5">
                <a:latin typeface="Arial"/>
                <a:cs typeface="Arial"/>
              </a:rPr>
              <a:t>Hadith.</a:t>
            </a:r>
            <a:endParaRPr sz="1200">
              <a:latin typeface="Arial"/>
              <a:cs typeface="Arial"/>
            </a:endParaRPr>
          </a:p>
          <a:p>
            <a:pPr>
              <a:lnSpc>
                <a:spcPct val="100000"/>
              </a:lnSpc>
              <a:spcBef>
                <a:spcPts val="25"/>
              </a:spcBef>
            </a:pPr>
            <a:endParaRPr sz="1150">
              <a:latin typeface="Arial"/>
              <a:cs typeface="Arial"/>
            </a:endParaRPr>
          </a:p>
          <a:p>
            <a:pPr algn="just" marL="12700" marR="5080">
              <a:lnSpc>
                <a:spcPct val="95700"/>
              </a:lnSpc>
            </a:pPr>
            <a:r>
              <a:rPr dirty="0" sz="1200" spc="-5">
                <a:latin typeface="Arial"/>
                <a:cs typeface="Arial"/>
              </a:rPr>
              <a:t>He develops and grows up as a </a:t>
            </a:r>
            <a:r>
              <a:rPr dirty="0" sz="1200">
                <a:latin typeface="Arial"/>
                <a:cs typeface="Arial"/>
              </a:rPr>
              <a:t>man </a:t>
            </a:r>
            <a:r>
              <a:rPr dirty="0" sz="1200" spc="-10">
                <a:latin typeface="Arial"/>
                <a:cs typeface="Arial"/>
              </a:rPr>
              <a:t>who </a:t>
            </a:r>
            <a:r>
              <a:rPr dirty="0" sz="1200">
                <a:latin typeface="Arial"/>
                <a:cs typeface="Arial"/>
              </a:rPr>
              <a:t>loves to </a:t>
            </a:r>
            <a:r>
              <a:rPr dirty="0" sz="1200" spc="-5">
                <a:latin typeface="Arial"/>
                <a:cs typeface="Arial"/>
              </a:rPr>
              <a:t>study </a:t>
            </a:r>
            <a:r>
              <a:rPr dirty="0" sz="1200">
                <a:latin typeface="Arial"/>
                <a:cs typeface="Arial"/>
              </a:rPr>
              <a:t>science </a:t>
            </a:r>
            <a:r>
              <a:rPr dirty="0" sz="1200" spc="-5">
                <a:latin typeface="Arial"/>
                <a:cs typeface="Arial"/>
              </a:rPr>
              <a:t>and knowledge, especially  about </a:t>
            </a:r>
            <a:r>
              <a:rPr dirty="0" sz="1200">
                <a:latin typeface="Arial"/>
                <a:cs typeface="Arial"/>
              </a:rPr>
              <a:t>the </a:t>
            </a:r>
            <a:r>
              <a:rPr dirty="0" sz="1200" spc="-5">
                <a:latin typeface="Arial"/>
                <a:cs typeface="Arial"/>
              </a:rPr>
              <a:t>Hadith and Sunnah. </a:t>
            </a:r>
            <a:r>
              <a:rPr dirty="0" sz="1200">
                <a:latin typeface="Arial"/>
                <a:cs typeface="Arial"/>
              </a:rPr>
              <a:t>To </a:t>
            </a:r>
            <a:r>
              <a:rPr dirty="0" sz="1200" spc="-5">
                <a:latin typeface="Arial"/>
                <a:cs typeface="Arial"/>
              </a:rPr>
              <a:t>achieve </a:t>
            </a:r>
            <a:r>
              <a:rPr dirty="0" sz="1200">
                <a:latin typeface="Arial"/>
                <a:cs typeface="Arial"/>
              </a:rPr>
              <a:t>its business </a:t>
            </a:r>
            <a:r>
              <a:rPr dirty="0" sz="1200" spc="-5">
                <a:latin typeface="Arial"/>
                <a:cs typeface="Arial"/>
              </a:rPr>
              <a:t>in </a:t>
            </a:r>
            <a:r>
              <a:rPr dirty="0" sz="1200">
                <a:latin typeface="Arial"/>
                <a:cs typeface="Arial"/>
              </a:rPr>
              <a:t>the </a:t>
            </a:r>
            <a:r>
              <a:rPr dirty="0" sz="1200" spc="-5">
                <a:latin typeface="Arial"/>
                <a:cs typeface="Arial"/>
              </a:rPr>
              <a:t>search </a:t>
            </a:r>
            <a:r>
              <a:rPr dirty="0" sz="1200">
                <a:latin typeface="Arial"/>
                <a:cs typeface="Arial"/>
              </a:rPr>
              <a:t>for </a:t>
            </a:r>
            <a:r>
              <a:rPr dirty="0" sz="1200" spc="-5">
                <a:latin typeface="Arial"/>
                <a:cs typeface="Arial"/>
              </a:rPr>
              <a:t>and collect the  </a:t>
            </a:r>
            <a:r>
              <a:rPr dirty="0" sz="1200">
                <a:latin typeface="Arial"/>
                <a:cs typeface="Arial"/>
              </a:rPr>
              <a:t>Hadith, </a:t>
            </a:r>
            <a:r>
              <a:rPr dirty="0" sz="1200" spc="-10">
                <a:latin typeface="Arial"/>
                <a:cs typeface="Arial"/>
              </a:rPr>
              <a:t>he </a:t>
            </a:r>
            <a:r>
              <a:rPr dirty="0" sz="1200" spc="-5">
                <a:latin typeface="Arial"/>
                <a:cs typeface="Arial"/>
              </a:rPr>
              <a:t>has conducted tour and travelled through several countries. He visited Iraq, </a:t>
            </a:r>
            <a:r>
              <a:rPr dirty="0" sz="1200">
                <a:latin typeface="Arial"/>
                <a:cs typeface="Arial"/>
              </a:rPr>
              <a:t>the  </a:t>
            </a:r>
            <a:r>
              <a:rPr dirty="0" sz="1200" spc="-5">
                <a:latin typeface="Arial"/>
                <a:cs typeface="Arial"/>
              </a:rPr>
              <a:t>Hijaz, </a:t>
            </a:r>
            <a:r>
              <a:rPr dirty="0" sz="1200">
                <a:latin typeface="Arial"/>
                <a:cs typeface="Arial"/>
              </a:rPr>
              <a:t>Syria, </a:t>
            </a:r>
            <a:r>
              <a:rPr dirty="0" sz="1200" spc="-5">
                <a:latin typeface="Arial"/>
                <a:cs typeface="Arial"/>
              </a:rPr>
              <a:t>Egypt, Kufa, Basra and countries as well as </a:t>
            </a:r>
            <a:r>
              <a:rPr dirty="0" sz="1200">
                <a:latin typeface="Arial"/>
                <a:cs typeface="Arial"/>
              </a:rPr>
              <a:t>other </a:t>
            </a:r>
            <a:r>
              <a:rPr dirty="0" sz="1200" spc="-5">
                <a:latin typeface="Arial"/>
                <a:cs typeface="Arial"/>
              </a:rPr>
              <a:t>cities </a:t>
            </a:r>
            <a:r>
              <a:rPr dirty="0" sz="1200">
                <a:latin typeface="Arial"/>
                <a:cs typeface="Arial"/>
              </a:rPr>
              <a:t>to </a:t>
            </a:r>
            <a:r>
              <a:rPr dirty="0" sz="1200" spc="-5">
                <a:latin typeface="Arial"/>
                <a:cs typeface="Arial"/>
              </a:rPr>
              <a:t>meet and </a:t>
            </a:r>
            <a:r>
              <a:rPr dirty="0" sz="1200">
                <a:latin typeface="Arial"/>
                <a:cs typeface="Arial"/>
              </a:rPr>
              <a:t>learn </a:t>
            </a:r>
            <a:r>
              <a:rPr dirty="0" sz="1200" spc="-5">
                <a:latin typeface="Arial"/>
                <a:cs typeface="Arial"/>
              </a:rPr>
              <a:t>from  </a:t>
            </a:r>
            <a:r>
              <a:rPr dirty="0" sz="1200">
                <a:latin typeface="Arial"/>
                <a:cs typeface="Arial"/>
              </a:rPr>
              <a:t>the </a:t>
            </a:r>
            <a:r>
              <a:rPr dirty="0" sz="1200" spc="-5">
                <a:latin typeface="Arial"/>
                <a:cs typeface="Arial"/>
              </a:rPr>
              <a:t>Hadith </a:t>
            </a:r>
            <a:r>
              <a:rPr dirty="0" sz="1200">
                <a:latin typeface="Arial"/>
                <a:cs typeface="Arial"/>
              </a:rPr>
              <a:t>scholars. </a:t>
            </a:r>
            <a:r>
              <a:rPr dirty="0" sz="1200" spc="-5">
                <a:latin typeface="Arial"/>
                <a:cs typeface="Arial"/>
              </a:rPr>
              <a:t>Moreover, he </a:t>
            </a:r>
            <a:r>
              <a:rPr dirty="0" sz="1200">
                <a:latin typeface="Arial"/>
                <a:cs typeface="Arial"/>
              </a:rPr>
              <a:t>learned under </a:t>
            </a:r>
            <a:r>
              <a:rPr dirty="0" sz="1200" spc="-5">
                <a:latin typeface="Arial"/>
                <a:cs typeface="Arial"/>
              </a:rPr>
              <a:t>Malik </a:t>
            </a:r>
            <a:r>
              <a:rPr dirty="0" sz="1200">
                <a:latin typeface="Arial"/>
                <a:cs typeface="Arial"/>
              </a:rPr>
              <a:t>(not </a:t>
            </a:r>
            <a:r>
              <a:rPr dirty="0" sz="1200" spc="-5">
                <a:latin typeface="Arial"/>
                <a:cs typeface="Arial"/>
              </a:rPr>
              <a:t>Imam Malik) and al-Laith, </a:t>
            </a:r>
            <a:r>
              <a:rPr dirty="0" sz="1200">
                <a:latin typeface="Arial"/>
                <a:cs typeface="Arial"/>
              </a:rPr>
              <a:t>may  </a:t>
            </a:r>
            <a:r>
              <a:rPr dirty="0" sz="1200" spc="-5">
                <a:latin typeface="Arial"/>
                <a:cs typeface="Arial"/>
              </a:rPr>
              <a:t>Allah have mercy, so </a:t>
            </a:r>
            <a:r>
              <a:rPr dirty="0" sz="1200">
                <a:latin typeface="Arial"/>
                <a:cs typeface="Arial"/>
              </a:rPr>
              <a:t>that </a:t>
            </a:r>
            <a:r>
              <a:rPr dirty="0" sz="1200" spc="-10">
                <a:latin typeface="Arial"/>
                <a:cs typeface="Arial"/>
              </a:rPr>
              <a:t>he </a:t>
            </a:r>
            <a:r>
              <a:rPr dirty="0" sz="1200" spc="-5">
                <a:latin typeface="Arial"/>
                <a:cs typeface="Arial"/>
              </a:rPr>
              <a:t>became one of </a:t>
            </a:r>
            <a:r>
              <a:rPr dirty="0" sz="1200">
                <a:latin typeface="Arial"/>
                <a:cs typeface="Arial"/>
              </a:rPr>
              <a:t>the leading </a:t>
            </a:r>
            <a:r>
              <a:rPr dirty="0" sz="1200" spc="-5">
                <a:latin typeface="Arial"/>
                <a:cs typeface="Arial"/>
              </a:rPr>
              <a:t>imam </a:t>
            </a:r>
            <a:r>
              <a:rPr dirty="0" sz="1200" spc="-10">
                <a:latin typeface="Arial"/>
                <a:cs typeface="Arial"/>
              </a:rPr>
              <a:t>on </a:t>
            </a:r>
            <a:r>
              <a:rPr dirty="0" sz="1200" spc="-5">
                <a:latin typeface="Arial"/>
                <a:cs typeface="Arial"/>
              </a:rPr>
              <a:t>his </a:t>
            </a:r>
            <a:r>
              <a:rPr dirty="0" sz="1200">
                <a:latin typeface="Arial"/>
                <a:cs typeface="Arial"/>
              </a:rPr>
              <a:t>time </a:t>
            </a:r>
            <a:r>
              <a:rPr dirty="0" sz="1200" spc="-5">
                <a:latin typeface="Arial"/>
                <a:cs typeface="Arial"/>
              </a:rPr>
              <a:t>in the </a:t>
            </a:r>
            <a:r>
              <a:rPr dirty="0" sz="1200">
                <a:latin typeface="Arial"/>
                <a:cs typeface="Arial"/>
              </a:rPr>
              <a:t>field </a:t>
            </a:r>
            <a:r>
              <a:rPr dirty="0" sz="1200" spc="-5">
                <a:latin typeface="Arial"/>
                <a:cs typeface="Arial"/>
              </a:rPr>
              <a:t>of  </a:t>
            </a:r>
            <a:r>
              <a:rPr dirty="0" sz="1200">
                <a:latin typeface="Arial"/>
                <a:cs typeface="Arial"/>
              </a:rPr>
              <a:t>science for this </a:t>
            </a:r>
            <a:r>
              <a:rPr dirty="0" sz="1200" spc="-5">
                <a:latin typeface="Arial"/>
                <a:cs typeface="Arial"/>
              </a:rPr>
              <a:t>noble</a:t>
            </a:r>
            <a:r>
              <a:rPr dirty="0" sz="1200" spc="-40">
                <a:latin typeface="Arial"/>
                <a:cs typeface="Arial"/>
              </a:rPr>
              <a:t> </a:t>
            </a:r>
            <a:r>
              <a:rPr dirty="0" sz="1200" spc="-5">
                <a:latin typeface="Arial"/>
                <a:cs typeface="Arial"/>
              </a:rPr>
              <a:t>Prophet.</a:t>
            </a:r>
            <a:endParaRPr sz="1200">
              <a:latin typeface="Arial"/>
              <a:cs typeface="Arial"/>
            </a:endParaRPr>
          </a:p>
          <a:p>
            <a:pPr>
              <a:lnSpc>
                <a:spcPct val="100000"/>
              </a:lnSpc>
              <a:spcBef>
                <a:spcPts val="55"/>
              </a:spcBef>
            </a:pPr>
            <a:endParaRPr sz="1150">
              <a:latin typeface="Arial"/>
              <a:cs typeface="Arial"/>
            </a:endParaRPr>
          </a:p>
          <a:p>
            <a:pPr algn="just" marL="12700" marR="5715">
              <a:lnSpc>
                <a:spcPct val="95900"/>
              </a:lnSpc>
            </a:pPr>
            <a:r>
              <a:rPr dirty="0" sz="1200" spc="-5">
                <a:latin typeface="Arial"/>
                <a:cs typeface="Arial"/>
              </a:rPr>
              <a:t>He studied under </a:t>
            </a:r>
            <a:r>
              <a:rPr dirty="0" sz="1200" spc="-10">
                <a:latin typeface="Arial"/>
                <a:cs typeface="Arial"/>
              </a:rPr>
              <a:t>Abū </a:t>
            </a:r>
            <a:r>
              <a:rPr dirty="0" sz="1200">
                <a:latin typeface="Arial"/>
                <a:cs typeface="Arial"/>
              </a:rPr>
              <a:t>Bakr </a:t>
            </a:r>
            <a:r>
              <a:rPr dirty="0" sz="1200" spc="-5">
                <a:latin typeface="Arial"/>
                <a:cs typeface="Arial"/>
              </a:rPr>
              <a:t>ibn </a:t>
            </a:r>
            <a:r>
              <a:rPr dirty="0" sz="1200">
                <a:latin typeface="Arial"/>
                <a:cs typeface="Arial"/>
              </a:rPr>
              <a:t>Abī </a:t>
            </a:r>
            <a:r>
              <a:rPr dirty="0" sz="1200" spc="-5">
                <a:latin typeface="Arial"/>
                <a:cs typeface="Arial"/>
              </a:rPr>
              <a:t>Shaybah (through whom came over </a:t>
            </a:r>
            <a:r>
              <a:rPr dirty="0" sz="1200">
                <a:latin typeface="Arial"/>
                <a:cs typeface="Arial"/>
              </a:rPr>
              <a:t>a </a:t>
            </a:r>
            <a:r>
              <a:rPr dirty="0" sz="1200" spc="-5">
                <a:latin typeface="Arial"/>
                <a:cs typeface="Arial"/>
              </a:rPr>
              <a:t>quarter </a:t>
            </a:r>
            <a:r>
              <a:rPr dirty="0" sz="1200">
                <a:latin typeface="Arial"/>
                <a:cs typeface="Arial"/>
              </a:rPr>
              <a:t>of </a:t>
            </a:r>
            <a:r>
              <a:rPr dirty="0" sz="1200" spc="20">
                <a:latin typeface="Arial"/>
                <a:cs typeface="Arial"/>
              </a:rPr>
              <a:t>al-  </a:t>
            </a:r>
            <a:r>
              <a:rPr dirty="0" sz="1200" spc="-5">
                <a:latin typeface="Arial"/>
                <a:cs typeface="Arial"/>
              </a:rPr>
              <a:t>Sunan), Muḥammad ibn ˤAbdillāh ibn Numayr, </a:t>
            </a:r>
            <a:r>
              <a:rPr dirty="0" sz="1200">
                <a:latin typeface="Arial"/>
                <a:cs typeface="Arial"/>
              </a:rPr>
              <a:t>Jubārah </a:t>
            </a:r>
            <a:r>
              <a:rPr dirty="0" sz="1200" spc="-5">
                <a:latin typeface="Arial"/>
                <a:cs typeface="Arial"/>
              </a:rPr>
              <a:t>ibn al-Mughallis, Ibrāhīm ibn </a:t>
            </a:r>
            <a:r>
              <a:rPr dirty="0" sz="1200" spc="5">
                <a:latin typeface="Arial"/>
                <a:cs typeface="Arial"/>
              </a:rPr>
              <a:t>al-  </a:t>
            </a:r>
            <a:r>
              <a:rPr dirty="0" sz="1200" spc="-5">
                <a:latin typeface="Arial"/>
                <a:cs typeface="Arial"/>
              </a:rPr>
              <a:t>Mundhir al-Ḥizāmī, ˤAbdullāh ibn Muˤāwiyah, Hishām ibn ˤAmmār, Muḥammad ibn Rumḥ,  Dāwūd </a:t>
            </a:r>
            <a:r>
              <a:rPr dirty="0" sz="1200">
                <a:latin typeface="Arial"/>
                <a:cs typeface="Arial"/>
              </a:rPr>
              <a:t>ibn </a:t>
            </a:r>
            <a:r>
              <a:rPr dirty="0" sz="1200" spc="-5">
                <a:latin typeface="Arial"/>
                <a:cs typeface="Arial"/>
              </a:rPr>
              <a:t>Rashīd </a:t>
            </a:r>
            <a:r>
              <a:rPr dirty="0" sz="1200">
                <a:latin typeface="Arial"/>
                <a:cs typeface="Arial"/>
              </a:rPr>
              <a:t>and </a:t>
            </a:r>
            <a:r>
              <a:rPr dirty="0" sz="1200" spc="-5">
                <a:latin typeface="Arial"/>
                <a:cs typeface="Arial"/>
              </a:rPr>
              <a:t>others </a:t>
            </a:r>
            <a:r>
              <a:rPr dirty="0" sz="1200">
                <a:latin typeface="Arial"/>
                <a:cs typeface="Arial"/>
              </a:rPr>
              <a:t>from </a:t>
            </a:r>
            <a:r>
              <a:rPr dirty="0" sz="1200" spc="-5">
                <a:latin typeface="Arial"/>
                <a:cs typeface="Arial"/>
              </a:rPr>
              <a:t>their </a:t>
            </a:r>
            <a:r>
              <a:rPr dirty="0" sz="1200">
                <a:latin typeface="Arial"/>
                <a:cs typeface="Arial"/>
              </a:rPr>
              <a:t>era. Abū </a:t>
            </a:r>
            <a:r>
              <a:rPr dirty="0" sz="1200" spc="-5">
                <a:latin typeface="Arial"/>
                <a:cs typeface="Arial"/>
              </a:rPr>
              <a:t>Yaˤlā al-Khalīlī </a:t>
            </a:r>
            <a:r>
              <a:rPr dirty="0" sz="1200">
                <a:latin typeface="Arial"/>
                <a:cs typeface="Arial"/>
              </a:rPr>
              <a:t>praised Ibn </a:t>
            </a:r>
            <a:r>
              <a:rPr dirty="0" sz="1200" spc="-5">
                <a:latin typeface="Arial"/>
                <a:cs typeface="Arial"/>
              </a:rPr>
              <a:t>Mājah </a:t>
            </a:r>
            <a:r>
              <a:rPr dirty="0" sz="1200">
                <a:latin typeface="Arial"/>
                <a:cs typeface="Arial"/>
              </a:rPr>
              <a:t>as  </a:t>
            </a:r>
            <a:r>
              <a:rPr dirty="0" sz="1200" spc="-5">
                <a:latin typeface="Arial"/>
                <a:cs typeface="Arial"/>
              </a:rPr>
              <a:t>"reliable (thiqah), prominent, agreed upon, a religious authority, possessing knowledge and  </a:t>
            </a:r>
            <a:r>
              <a:rPr dirty="0" sz="1200">
                <a:latin typeface="Arial"/>
                <a:cs typeface="Arial"/>
              </a:rPr>
              <a:t>the </a:t>
            </a:r>
            <a:r>
              <a:rPr dirty="0" sz="1200" spc="-5">
                <a:latin typeface="Arial"/>
                <a:cs typeface="Arial"/>
              </a:rPr>
              <a:t>capability </a:t>
            </a:r>
            <a:r>
              <a:rPr dirty="0" sz="1200">
                <a:latin typeface="Arial"/>
                <a:cs typeface="Arial"/>
              </a:rPr>
              <a:t>to</a:t>
            </a:r>
            <a:r>
              <a:rPr dirty="0" sz="1200" spc="-15">
                <a:latin typeface="Arial"/>
                <a:cs typeface="Arial"/>
              </a:rPr>
              <a:t> </a:t>
            </a:r>
            <a:r>
              <a:rPr dirty="0" sz="1200" spc="-5">
                <a:latin typeface="Arial"/>
                <a:cs typeface="Arial"/>
              </a:rPr>
              <a:t>memorize."</a:t>
            </a:r>
            <a:endParaRPr sz="12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128</a:t>
            </a:r>
            <a:endParaRPr sz="1200">
              <a:latin typeface="Times New Roman"/>
              <a:cs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975105"/>
            <a:ext cx="6311265" cy="8628380"/>
          </a:xfrm>
          <a:prstGeom prst="rect">
            <a:avLst/>
          </a:prstGeom>
        </p:spPr>
        <p:txBody>
          <a:bodyPr wrap="square" lIns="0" tIns="24765" rIns="0" bIns="0" rtlCol="0" vert="horz">
            <a:spAutoFit/>
          </a:bodyPr>
          <a:lstStyle/>
          <a:p>
            <a:pPr algn="just" marL="12700" marR="5080">
              <a:lnSpc>
                <a:spcPts val="1380"/>
              </a:lnSpc>
              <a:spcBef>
                <a:spcPts val="195"/>
              </a:spcBef>
            </a:pPr>
            <a:r>
              <a:rPr dirty="0" sz="1200" spc="-5">
                <a:latin typeface="Arial"/>
                <a:cs typeface="Arial"/>
              </a:rPr>
              <a:t>Ya'la Abu al-Khalili al-Qazwini said: </a:t>
            </a:r>
            <a:r>
              <a:rPr dirty="0" sz="1200">
                <a:latin typeface="Arial"/>
                <a:cs typeface="Arial"/>
              </a:rPr>
              <a:t>"Ibn </a:t>
            </a:r>
            <a:r>
              <a:rPr dirty="0" sz="1200" spc="-5">
                <a:latin typeface="Arial"/>
                <a:cs typeface="Arial"/>
              </a:rPr>
              <a:t>Majah is a </a:t>
            </a:r>
            <a:r>
              <a:rPr dirty="0" sz="1200">
                <a:latin typeface="Arial"/>
                <a:cs typeface="Arial"/>
              </a:rPr>
              <a:t>great trust, </a:t>
            </a:r>
            <a:r>
              <a:rPr dirty="0" sz="1200" spc="-5">
                <a:latin typeface="Arial"/>
                <a:cs typeface="Arial"/>
              </a:rPr>
              <a:t>which agreed about honesty,  he can argue his opinions. He has extensive knowledge and many </a:t>
            </a:r>
            <a:r>
              <a:rPr dirty="0" sz="1200">
                <a:latin typeface="Arial"/>
                <a:cs typeface="Arial"/>
              </a:rPr>
              <a:t>Hadith </a:t>
            </a:r>
            <a:r>
              <a:rPr dirty="0" sz="1200" spc="-5">
                <a:latin typeface="Arial"/>
                <a:cs typeface="Arial"/>
              </a:rPr>
              <a:t>memorization."  Imam Dhahabi in Tazkiratul Huffaz, described him as an expert commentator of Hadith, the  author of the book of Sunan and commentary, as well as famous Hadith experts country. </a:t>
            </a:r>
            <a:r>
              <a:rPr dirty="0" sz="1200" spc="-10">
                <a:latin typeface="Arial"/>
                <a:cs typeface="Arial"/>
              </a:rPr>
              <a:t>Ibn  </a:t>
            </a:r>
            <a:r>
              <a:rPr dirty="0" sz="1200">
                <a:latin typeface="Arial"/>
                <a:cs typeface="Arial"/>
              </a:rPr>
              <a:t>Cashier, </a:t>
            </a:r>
            <a:r>
              <a:rPr dirty="0" sz="1200" spc="-5">
                <a:latin typeface="Arial"/>
                <a:cs typeface="Arial"/>
              </a:rPr>
              <a:t>an expert in </a:t>
            </a:r>
            <a:r>
              <a:rPr dirty="0" sz="1200">
                <a:latin typeface="Arial"/>
                <a:cs typeface="Arial"/>
              </a:rPr>
              <a:t>Hadith </a:t>
            </a:r>
            <a:r>
              <a:rPr dirty="0" sz="1200" spc="-5">
                <a:latin typeface="Arial"/>
                <a:cs typeface="Arial"/>
              </a:rPr>
              <a:t>and Hadith critics say </a:t>
            </a:r>
            <a:r>
              <a:rPr dirty="0" sz="1200">
                <a:latin typeface="Arial"/>
                <a:cs typeface="Arial"/>
              </a:rPr>
              <a:t>the </a:t>
            </a:r>
            <a:r>
              <a:rPr dirty="0" sz="1200" spc="-5">
                <a:latin typeface="Arial"/>
                <a:cs typeface="Arial"/>
              </a:rPr>
              <a:t>Bidayah him: "Muhammad ibn </a:t>
            </a:r>
            <a:r>
              <a:rPr dirty="0" sz="1200" spc="-10">
                <a:latin typeface="Arial"/>
                <a:cs typeface="Arial"/>
              </a:rPr>
              <a:t>Yazid  </a:t>
            </a:r>
            <a:r>
              <a:rPr dirty="0" sz="1200">
                <a:latin typeface="Arial"/>
                <a:cs typeface="Arial"/>
              </a:rPr>
              <a:t>(Ibn </a:t>
            </a:r>
            <a:r>
              <a:rPr dirty="0" sz="1200" spc="-5">
                <a:latin typeface="Arial"/>
                <a:cs typeface="Arial"/>
              </a:rPr>
              <a:t>Majah) is the author of </a:t>
            </a:r>
            <a:r>
              <a:rPr dirty="0" sz="1200">
                <a:latin typeface="Arial"/>
                <a:cs typeface="Arial"/>
              </a:rPr>
              <a:t>the </a:t>
            </a:r>
            <a:r>
              <a:rPr dirty="0" sz="1200" spc="-5">
                <a:latin typeface="Arial"/>
                <a:cs typeface="Arial"/>
              </a:rPr>
              <a:t>famous book of Sunan. His </a:t>
            </a:r>
            <a:r>
              <a:rPr dirty="0" sz="1200" spc="-10">
                <a:latin typeface="Arial"/>
                <a:cs typeface="Arial"/>
              </a:rPr>
              <a:t>book </a:t>
            </a:r>
            <a:r>
              <a:rPr dirty="0" sz="1200" spc="-5">
                <a:latin typeface="Arial"/>
                <a:cs typeface="Arial"/>
              </a:rPr>
              <a:t>is a testament </a:t>
            </a:r>
            <a:r>
              <a:rPr dirty="0" sz="1200">
                <a:latin typeface="Arial"/>
                <a:cs typeface="Arial"/>
              </a:rPr>
              <a:t>to the  </a:t>
            </a:r>
            <a:r>
              <a:rPr dirty="0" sz="1200" spc="-5">
                <a:latin typeface="Arial"/>
                <a:cs typeface="Arial"/>
              </a:rPr>
              <a:t>charitable and knowledge, breadth of knowledge and </a:t>
            </a:r>
            <a:r>
              <a:rPr dirty="0" sz="1200" spc="-10">
                <a:latin typeface="Arial"/>
                <a:cs typeface="Arial"/>
              </a:rPr>
              <a:t>views, </a:t>
            </a:r>
            <a:r>
              <a:rPr dirty="0" sz="1200" spc="-5">
                <a:latin typeface="Arial"/>
                <a:cs typeface="Arial"/>
              </a:rPr>
              <a:t>as well as </a:t>
            </a:r>
            <a:r>
              <a:rPr dirty="0" sz="1200">
                <a:latin typeface="Arial"/>
                <a:cs typeface="Arial"/>
              </a:rPr>
              <a:t>the </a:t>
            </a:r>
            <a:r>
              <a:rPr dirty="0" sz="1200" spc="-5">
                <a:latin typeface="Arial"/>
                <a:cs typeface="Arial"/>
              </a:rPr>
              <a:t>credibility and  loyalty </a:t>
            </a:r>
            <a:r>
              <a:rPr dirty="0" sz="1200">
                <a:latin typeface="Arial"/>
                <a:cs typeface="Arial"/>
              </a:rPr>
              <a:t>to</a:t>
            </a:r>
            <a:r>
              <a:rPr dirty="0" sz="1200" spc="-5">
                <a:latin typeface="Arial"/>
                <a:cs typeface="Arial"/>
              </a:rPr>
              <a:t> </a:t>
            </a:r>
            <a:r>
              <a:rPr dirty="0" sz="1200">
                <a:latin typeface="Arial"/>
                <a:cs typeface="Arial"/>
              </a:rPr>
              <a:t>Hadith.</a:t>
            </a:r>
            <a:endParaRPr sz="1200">
              <a:latin typeface="Arial"/>
              <a:cs typeface="Arial"/>
            </a:endParaRPr>
          </a:p>
          <a:p>
            <a:pPr algn="just" marL="12700">
              <a:lnSpc>
                <a:spcPts val="1410"/>
              </a:lnSpc>
              <a:spcBef>
                <a:spcPts val="625"/>
              </a:spcBef>
            </a:pPr>
            <a:r>
              <a:rPr dirty="0" sz="1200" spc="-5">
                <a:latin typeface="Arial"/>
                <a:cs typeface="Arial"/>
              </a:rPr>
              <a:t>Students</a:t>
            </a:r>
            <a:r>
              <a:rPr dirty="0" sz="1200" spc="210">
                <a:latin typeface="Arial"/>
                <a:cs typeface="Arial"/>
              </a:rPr>
              <a:t> </a:t>
            </a:r>
            <a:r>
              <a:rPr dirty="0" sz="1200" spc="-5">
                <a:latin typeface="Arial"/>
                <a:cs typeface="Arial"/>
              </a:rPr>
              <a:t>of</a:t>
            </a:r>
            <a:r>
              <a:rPr dirty="0" sz="1200" spc="210">
                <a:latin typeface="Arial"/>
                <a:cs typeface="Arial"/>
              </a:rPr>
              <a:t> </a:t>
            </a:r>
            <a:r>
              <a:rPr dirty="0" sz="1200">
                <a:latin typeface="Arial"/>
                <a:cs typeface="Arial"/>
              </a:rPr>
              <a:t>Imam</a:t>
            </a:r>
            <a:r>
              <a:rPr dirty="0" sz="1200" spc="220">
                <a:latin typeface="Arial"/>
                <a:cs typeface="Arial"/>
              </a:rPr>
              <a:t> </a:t>
            </a:r>
            <a:r>
              <a:rPr dirty="0" sz="1200" spc="-5">
                <a:latin typeface="Arial"/>
                <a:cs typeface="Arial"/>
              </a:rPr>
              <a:t>Nasa‘i:</a:t>
            </a:r>
            <a:r>
              <a:rPr dirty="0" sz="1200" spc="215">
                <a:latin typeface="Arial"/>
                <a:cs typeface="Arial"/>
              </a:rPr>
              <a:t> </a:t>
            </a:r>
            <a:r>
              <a:rPr dirty="0" sz="1200" spc="-5">
                <a:latin typeface="Arial"/>
                <a:cs typeface="Arial"/>
              </a:rPr>
              <a:t>Ali</a:t>
            </a:r>
            <a:r>
              <a:rPr dirty="0" sz="1200" spc="204">
                <a:latin typeface="Arial"/>
                <a:cs typeface="Arial"/>
              </a:rPr>
              <a:t> </a:t>
            </a:r>
            <a:r>
              <a:rPr dirty="0" sz="1200">
                <a:latin typeface="Arial"/>
                <a:cs typeface="Arial"/>
              </a:rPr>
              <a:t>Ibn</a:t>
            </a:r>
            <a:r>
              <a:rPr dirty="0" sz="1200" spc="215">
                <a:latin typeface="Arial"/>
                <a:cs typeface="Arial"/>
              </a:rPr>
              <a:t> </a:t>
            </a:r>
            <a:r>
              <a:rPr dirty="0" sz="1200" spc="-5">
                <a:latin typeface="Arial"/>
                <a:cs typeface="Arial"/>
              </a:rPr>
              <a:t>Ibrahim</a:t>
            </a:r>
            <a:r>
              <a:rPr dirty="0" sz="1200" spc="220">
                <a:latin typeface="Arial"/>
                <a:cs typeface="Arial"/>
              </a:rPr>
              <a:t> </a:t>
            </a:r>
            <a:r>
              <a:rPr dirty="0" sz="1200" spc="-5">
                <a:latin typeface="Arial"/>
                <a:cs typeface="Arial"/>
              </a:rPr>
              <a:t>Al</a:t>
            </a:r>
            <a:r>
              <a:rPr dirty="0" sz="1200" spc="204">
                <a:latin typeface="Arial"/>
                <a:cs typeface="Arial"/>
              </a:rPr>
              <a:t> </a:t>
            </a:r>
            <a:r>
              <a:rPr dirty="0" sz="1200" spc="-5">
                <a:latin typeface="Arial"/>
                <a:cs typeface="Arial"/>
              </a:rPr>
              <a:t>Qattan,</a:t>
            </a:r>
            <a:r>
              <a:rPr dirty="0" sz="1200" spc="210">
                <a:latin typeface="Arial"/>
                <a:cs typeface="Arial"/>
              </a:rPr>
              <a:t> </a:t>
            </a:r>
            <a:r>
              <a:rPr dirty="0" sz="1200" spc="-5">
                <a:latin typeface="Arial"/>
                <a:cs typeface="Arial"/>
              </a:rPr>
              <a:t>Sulaiman</a:t>
            </a:r>
            <a:r>
              <a:rPr dirty="0" sz="1200" spc="215">
                <a:latin typeface="Arial"/>
                <a:cs typeface="Arial"/>
              </a:rPr>
              <a:t> </a:t>
            </a:r>
            <a:r>
              <a:rPr dirty="0" sz="1200" spc="-10">
                <a:latin typeface="Arial"/>
                <a:cs typeface="Arial"/>
              </a:rPr>
              <a:t>Ibn</a:t>
            </a:r>
            <a:r>
              <a:rPr dirty="0" sz="1200" spc="220">
                <a:latin typeface="Arial"/>
                <a:cs typeface="Arial"/>
              </a:rPr>
              <a:t> </a:t>
            </a:r>
            <a:r>
              <a:rPr dirty="0" sz="1200" spc="-10">
                <a:latin typeface="Arial"/>
                <a:cs typeface="Arial"/>
              </a:rPr>
              <a:t>Yazid,</a:t>
            </a:r>
            <a:r>
              <a:rPr dirty="0" sz="1200" spc="215">
                <a:latin typeface="Arial"/>
                <a:cs typeface="Arial"/>
              </a:rPr>
              <a:t> </a:t>
            </a:r>
            <a:r>
              <a:rPr dirty="0" sz="1200" spc="-5">
                <a:latin typeface="Arial"/>
                <a:cs typeface="Arial"/>
              </a:rPr>
              <a:t>Muhammad</a:t>
            </a:r>
            <a:r>
              <a:rPr dirty="0" sz="1200" spc="200">
                <a:latin typeface="Arial"/>
                <a:cs typeface="Arial"/>
              </a:rPr>
              <a:t> </a:t>
            </a:r>
            <a:r>
              <a:rPr dirty="0" sz="1200">
                <a:latin typeface="Arial"/>
                <a:cs typeface="Arial"/>
              </a:rPr>
              <a:t>Ibn</a:t>
            </a:r>
            <a:endParaRPr sz="1200">
              <a:latin typeface="Arial"/>
              <a:cs typeface="Arial"/>
            </a:endParaRPr>
          </a:p>
          <a:p>
            <a:pPr algn="just" marL="12700" marR="10160">
              <a:lnSpc>
                <a:spcPts val="1380"/>
              </a:lnSpc>
              <a:spcBef>
                <a:spcPts val="65"/>
              </a:spcBef>
            </a:pPr>
            <a:r>
              <a:rPr dirty="0" sz="1200" spc="-70">
                <a:latin typeface="Arial"/>
                <a:cs typeface="Arial"/>
              </a:rPr>
              <a:t>‗Eesa, </a:t>
            </a:r>
            <a:r>
              <a:rPr dirty="0" sz="1200" spc="-5">
                <a:latin typeface="Arial"/>
                <a:cs typeface="Arial"/>
              </a:rPr>
              <a:t>Abu Bakar </a:t>
            </a:r>
            <a:r>
              <a:rPr dirty="0" sz="1200">
                <a:latin typeface="Arial"/>
                <a:cs typeface="Arial"/>
              </a:rPr>
              <a:t>Hamid. </a:t>
            </a:r>
            <a:r>
              <a:rPr dirty="0" sz="1200" spc="-5">
                <a:latin typeface="Arial"/>
                <a:cs typeface="Arial"/>
              </a:rPr>
              <a:t>Teachers of Imam Nasa‘i: Abdullah </a:t>
            </a:r>
            <a:r>
              <a:rPr dirty="0" sz="1200">
                <a:latin typeface="Arial"/>
                <a:cs typeface="Arial"/>
              </a:rPr>
              <a:t>Ibn Abi </a:t>
            </a:r>
            <a:r>
              <a:rPr dirty="0" sz="1200" spc="-5">
                <a:latin typeface="Arial"/>
                <a:cs typeface="Arial"/>
              </a:rPr>
              <a:t>Shayba, Ali Ibn  Muhammad, Usman Ibn Abi Shayba, Ali Ibn Muhammad and</a:t>
            </a:r>
            <a:r>
              <a:rPr dirty="0" sz="1200" spc="-15">
                <a:latin typeface="Arial"/>
                <a:cs typeface="Arial"/>
              </a:rPr>
              <a:t> </a:t>
            </a:r>
            <a:r>
              <a:rPr dirty="0" sz="1200" spc="-5">
                <a:latin typeface="Arial"/>
                <a:cs typeface="Arial"/>
              </a:rPr>
              <a:t>others</a:t>
            </a:r>
            <a:endParaRPr sz="1200">
              <a:latin typeface="Arial"/>
              <a:cs typeface="Arial"/>
            </a:endParaRPr>
          </a:p>
          <a:p>
            <a:pPr>
              <a:lnSpc>
                <a:spcPct val="100000"/>
              </a:lnSpc>
              <a:spcBef>
                <a:spcPts val="35"/>
              </a:spcBef>
            </a:pPr>
            <a:endParaRPr sz="1400">
              <a:latin typeface="Arial"/>
              <a:cs typeface="Arial"/>
            </a:endParaRPr>
          </a:p>
          <a:p>
            <a:pPr algn="just" marL="12700">
              <a:lnSpc>
                <a:spcPct val="100000"/>
              </a:lnSpc>
            </a:pPr>
            <a:r>
              <a:rPr dirty="0" u="heavy" sz="1200" spc="-5" b="1" i="1">
                <a:uFill>
                  <a:solidFill>
                    <a:srgbClr val="000000"/>
                  </a:solidFill>
                </a:uFill>
                <a:latin typeface="Arial"/>
                <a:cs typeface="Arial"/>
              </a:rPr>
              <a:t>Criteria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Collection</a:t>
            </a:r>
            <a:endParaRPr sz="1200">
              <a:latin typeface="Arial"/>
              <a:cs typeface="Arial"/>
            </a:endParaRPr>
          </a:p>
          <a:p>
            <a:pPr>
              <a:lnSpc>
                <a:spcPct val="100000"/>
              </a:lnSpc>
            </a:pPr>
            <a:endParaRPr sz="1150">
              <a:latin typeface="Arial"/>
              <a:cs typeface="Arial"/>
            </a:endParaRPr>
          </a:p>
          <a:p>
            <a:pPr marL="413384" indent="-172720">
              <a:lnSpc>
                <a:spcPts val="1410"/>
              </a:lnSpc>
              <a:buFont typeface="Wingdings"/>
              <a:buChar char=""/>
              <a:tabLst>
                <a:tab pos="414020" algn="l"/>
              </a:tabLst>
            </a:pPr>
            <a:r>
              <a:rPr dirty="0" sz="1200" spc="-5">
                <a:latin typeface="Arial"/>
                <a:cs typeface="Arial"/>
              </a:rPr>
              <a:t>Didn‘t mention </a:t>
            </a:r>
            <a:r>
              <a:rPr dirty="0" sz="1200">
                <a:latin typeface="Arial"/>
                <a:cs typeface="Arial"/>
              </a:rPr>
              <a:t>his</a:t>
            </a:r>
            <a:r>
              <a:rPr dirty="0" sz="1200" spc="-15">
                <a:latin typeface="Arial"/>
                <a:cs typeface="Arial"/>
              </a:rPr>
              <a:t> </a:t>
            </a:r>
            <a:r>
              <a:rPr dirty="0" sz="1200" spc="-5">
                <a:latin typeface="Arial"/>
                <a:cs typeface="Arial"/>
              </a:rPr>
              <a:t>methodology</a:t>
            </a:r>
            <a:endParaRPr sz="1200">
              <a:latin typeface="Arial"/>
              <a:cs typeface="Arial"/>
            </a:endParaRPr>
          </a:p>
          <a:p>
            <a:pPr marL="413384" indent="-172720">
              <a:lnSpc>
                <a:spcPts val="1410"/>
              </a:lnSpc>
              <a:buFont typeface="Wingdings"/>
              <a:buChar char=""/>
              <a:tabLst>
                <a:tab pos="414020" algn="l"/>
              </a:tabLst>
            </a:pPr>
            <a:r>
              <a:rPr dirty="0" sz="1200" spc="-5">
                <a:latin typeface="Arial"/>
                <a:cs typeface="Arial"/>
              </a:rPr>
              <a:t>Merger </a:t>
            </a:r>
            <a:r>
              <a:rPr dirty="0" sz="1200">
                <a:latin typeface="Arial"/>
                <a:cs typeface="Arial"/>
              </a:rPr>
              <a:t>of </a:t>
            </a:r>
            <a:r>
              <a:rPr dirty="0" sz="1200" spc="-5">
                <a:latin typeface="Arial"/>
                <a:cs typeface="Arial"/>
              </a:rPr>
              <a:t>all categories of</a:t>
            </a:r>
            <a:r>
              <a:rPr dirty="0" sz="1200" spc="20">
                <a:latin typeface="Arial"/>
                <a:cs typeface="Arial"/>
              </a:rPr>
              <a:t> </a:t>
            </a:r>
            <a:r>
              <a:rPr dirty="0" sz="1200" spc="-5">
                <a:latin typeface="Arial"/>
                <a:cs typeface="Arial"/>
              </a:rPr>
              <a:t>Hadith</a:t>
            </a:r>
            <a:endParaRPr sz="1200">
              <a:latin typeface="Arial"/>
              <a:cs typeface="Arial"/>
            </a:endParaRPr>
          </a:p>
          <a:p>
            <a:pPr>
              <a:lnSpc>
                <a:spcPct val="100000"/>
              </a:lnSpc>
              <a:spcBef>
                <a:spcPts val="40"/>
              </a:spcBef>
            </a:pPr>
            <a:endParaRPr sz="1550">
              <a:latin typeface="Arial"/>
              <a:cs typeface="Arial"/>
            </a:endParaRPr>
          </a:p>
          <a:p>
            <a:pPr algn="just" marL="12700">
              <a:lnSpc>
                <a:spcPct val="100000"/>
              </a:lnSpc>
            </a:pPr>
            <a:r>
              <a:rPr dirty="0" u="heavy" sz="1200" spc="-5" b="1" i="1">
                <a:uFill>
                  <a:solidFill>
                    <a:srgbClr val="000000"/>
                  </a:solidFill>
                </a:uFill>
                <a:latin typeface="Arial"/>
                <a:cs typeface="Arial"/>
              </a:rPr>
              <a:t>Methods </a:t>
            </a:r>
            <a:r>
              <a:rPr dirty="0" u="heavy" sz="1200" b="1" i="1">
                <a:uFill>
                  <a:solidFill>
                    <a:srgbClr val="000000"/>
                  </a:solidFill>
                </a:uFill>
                <a:latin typeface="Arial"/>
                <a:cs typeface="Arial"/>
              </a:rPr>
              <a:t>to </a:t>
            </a:r>
            <a:r>
              <a:rPr dirty="0" u="heavy" sz="1200" spc="-5" b="1" i="1">
                <a:uFill>
                  <a:solidFill>
                    <a:srgbClr val="000000"/>
                  </a:solidFill>
                </a:uFill>
                <a:latin typeface="Arial"/>
                <a:cs typeface="Arial"/>
              </a:rPr>
              <a:t>Determine the Reliability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a:t>
            </a:r>
            <a:r>
              <a:rPr dirty="0" u="heavy" sz="1200" spc="5" b="1" i="1">
                <a:uFill>
                  <a:solidFill>
                    <a:srgbClr val="000000"/>
                  </a:solidFill>
                </a:uFill>
                <a:latin typeface="Arial"/>
                <a:cs typeface="Arial"/>
              </a:rPr>
              <a:t> </a:t>
            </a:r>
            <a:r>
              <a:rPr dirty="0" u="heavy" sz="1200" b="1" i="1">
                <a:uFill>
                  <a:solidFill>
                    <a:srgbClr val="000000"/>
                  </a:solidFill>
                </a:uFill>
                <a:latin typeface="Arial"/>
                <a:cs typeface="Arial"/>
              </a:rPr>
              <a:t>Traditions</a:t>
            </a:r>
            <a:endParaRPr sz="1200">
              <a:latin typeface="Arial"/>
              <a:cs typeface="Arial"/>
            </a:endParaRPr>
          </a:p>
          <a:p>
            <a:pPr algn="just" marL="12700" marR="5715">
              <a:lnSpc>
                <a:spcPct val="95800"/>
              </a:lnSpc>
              <a:spcBef>
                <a:spcPts val="994"/>
              </a:spcBef>
            </a:pPr>
            <a:r>
              <a:rPr dirty="0" sz="1200" spc="-5">
                <a:latin typeface="Arial"/>
                <a:cs typeface="Arial"/>
              </a:rPr>
              <a:t>According </a:t>
            </a:r>
            <a:r>
              <a:rPr dirty="0" sz="1200">
                <a:latin typeface="Arial"/>
                <a:cs typeface="Arial"/>
              </a:rPr>
              <a:t>to </a:t>
            </a:r>
            <a:r>
              <a:rPr dirty="0" sz="1200" spc="-5">
                <a:latin typeface="Arial"/>
                <a:cs typeface="Arial"/>
              </a:rPr>
              <a:t>the traditionists, a Hadith can only be </a:t>
            </a:r>
            <a:r>
              <a:rPr dirty="0" sz="1200">
                <a:latin typeface="Arial"/>
                <a:cs typeface="Arial"/>
              </a:rPr>
              <a:t>considered </a:t>
            </a:r>
            <a:r>
              <a:rPr dirty="0" sz="1200" spc="-5">
                <a:latin typeface="Arial"/>
                <a:cs typeface="Arial"/>
              </a:rPr>
              <a:t>reliable when </a:t>
            </a:r>
            <a:r>
              <a:rPr dirty="0" sz="1200">
                <a:latin typeface="Arial"/>
                <a:cs typeface="Arial"/>
              </a:rPr>
              <a:t>its </a:t>
            </a:r>
            <a:r>
              <a:rPr dirty="0" sz="1200" spc="-5">
                <a:latin typeface="Arial"/>
                <a:cs typeface="Arial"/>
              </a:rPr>
              <a:t>Sanad offers  an unbroken series of credible and veracious authorities till </a:t>
            </a:r>
            <a:r>
              <a:rPr dirty="0" sz="1200">
                <a:latin typeface="Arial"/>
                <a:cs typeface="Arial"/>
              </a:rPr>
              <a:t>the </a:t>
            </a:r>
            <a:r>
              <a:rPr dirty="0" sz="1200" spc="-5">
                <a:latin typeface="Arial"/>
                <a:cs typeface="Arial"/>
              </a:rPr>
              <a:t>Prophet (S.A.W.). </a:t>
            </a:r>
            <a:r>
              <a:rPr dirty="0" sz="1200">
                <a:latin typeface="Arial"/>
                <a:cs typeface="Arial"/>
              </a:rPr>
              <a:t>The </a:t>
            </a:r>
            <a:r>
              <a:rPr dirty="0" sz="1200" spc="-5">
                <a:latin typeface="Arial"/>
                <a:cs typeface="Arial"/>
              </a:rPr>
              <a:t>critical  investigation of the Sanad </a:t>
            </a:r>
            <a:r>
              <a:rPr dirty="0" sz="1200">
                <a:latin typeface="Arial"/>
                <a:cs typeface="Arial"/>
              </a:rPr>
              <a:t>had </a:t>
            </a:r>
            <a:r>
              <a:rPr dirty="0" sz="1200" spc="-5">
                <a:latin typeface="Arial"/>
                <a:cs typeface="Arial"/>
              </a:rPr>
              <a:t>caused the Muslim scholars </a:t>
            </a:r>
            <a:r>
              <a:rPr dirty="0" sz="1200">
                <a:latin typeface="Arial"/>
                <a:cs typeface="Arial"/>
              </a:rPr>
              <a:t>to make </a:t>
            </a:r>
            <a:r>
              <a:rPr dirty="0" sz="1200" spc="-5">
                <a:latin typeface="Arial"/>
                <a:cs typeface="Arial"/>
              </a:rPr>
              <a:t>thorough research. They  endeavoured not only </a:t>
            </a:r>
            <a:r>
              <a:rPr dirty="0" sz="1200">
                <a:latin typeface="Arial"/>
                <a:cs typeface="Arial"/>
              </a:rPr>
              <a:t>to </a:t>
            </a:r>
            <a:r>
              <a:rPr dirty="0" sz="1200" spc="-5">
                <a:latin typeface="Arial"/>
                <a:cs typeface="Arial"/>
              </a:rPr>
              <a:t>ascertain </a:t>
            </a:r>
            <a:r>
              <a:rPr dirty="0" sz="1200" spc="5">
                <a:latin typeface="Arial"/>
                <a:cs typeface="Arial"/>
              </a:rPr>
              <a:t>the </a:t>
            </a:r>
            <a:r>
              <a:rPr dirty="0" sz="1200" spc="-10">
                <a:latin typeface="Arial"/>
                <a:cs typeface="Arial"/>
              </a:rPr>
              <a:t>names </a:t>
            </a:r>
            <a:r>
              <a:rPr dirty="0" sz="1200" spc="-5">
                <a:latin typeface="Arial"/>
                <a:cs typeface="Arial"/>
              </a:rPr>
              <a:t>and circumstances of the narrators in order </a:t>
            </a:r>
            <a:r>
              <a:rPr dirty="0" sz="1200">
                <a:latin typeface="Arial"/>
                <a:cs typeface="Arial"/>
              </a:rPr>
              <a:t>to  </a:t>
            </a:r>
            <a:r>
              <a:rPr dirty="0" sz="1200" spc="-5">
                <a:latin typeface="Arial"/>
                <a:cs typeface="Arial"/>
              </a:rPr>
              <a:t>investigate where and when </a:t>
            </a:r>
            <a:r>
              <a:rPr dirty="0" sz="1200">
                <a:latin typeface="Arial"/>
                <a:cs typeface="Arial"/>
              </a:rPr>
              <a:t>they </a:t>
            </a:r>
            <a:r>
              <a:rPr dirty="0" sz="1200" spc="-5">
                <a:latin typeface="Arial"/>
                <a:cs typeface="Arial"/>
              </a:rPr>
              <a:t>lived, and which </a:t>
            </a:r>
            <a:r>
              <a:rPr dirty="0" sz="1200">
                <a:latin typeface="Arial"/>
                <a:cs typeface="Arial"/>
              </a:rPr>
              <a:t>of </a:t>
            </a:r>
            <a:r>
              <a:rPr dirty="0" sz="1200" spc="-5">
                <a:latin typeface="Arial"/>
                <a:cs typeface="Arial"/>
              </a:rPr>
              <a:t>them had been personally acquainted  with </a:t>
            </a:r>
            <a:r>
              <a:rPr dirty="0" sz="1200">
                <a:latin typeface="Arial"/>
                <a:cs typeface="Arial"/>
              </a:rPr>
              <a:t>the </a:t>
            </a:r>
            <a:r>
              <a:rPr dirty="0" sz="1200" spc="-5">
                <a:latin typeface="Arial"/>
                <a:cs typeface="Arial"/>
              </a:rPr>
              <a:t>other, but also </a:t>
            </a:r>
            <a:r>
              <a:rPr dirty="0" sz="1200">
                <a:latin typeface="Arial"/>
                <a:cs typeface="Arial"/>
              </a:rPr>
              <a:t>to </a:t>
            </a:r>
            <a:r>
              <a:rPr dirty="0" sz="1200" spc="-5">
                <a:latin typeface="Arial"/>
                <a:cs typeface="Arial"/>
              </a:rPr>
              <a:t>test their reliability, truthfulness and accuracy in transmitting </a:t>
            </a:r>
            <a:r>
              <a:rPr dirty="0" sz="1200">
                <a:latin typeface="Arial"/>
                <a:cs typeface="Arial"/>
              </a:rPr>
              <a:t>the  </a:t>
            </a:r>
            <a:r>
              <a:rPr dirty="0" sz="1200" spc="-5">
                <a:latin typeface="Arial"/>
                <a:cs typeface="Arial"/>
              </a:rPr>
              <a:t>texts, </a:t>
            </a:r>
            <a:r>
              <a:rPr dirty="0" sz="1200">
                <a:latin typeface="Arial"/>
                <a:cs typeface="Arial"/>
              </a:rPr>
              <a:t>to make </a:t>
            </a:r>
            <a:r>
              <a:rPr dirty="0" sz="1200" spc="-5">
                <a:latin typeface="Arial"/>
                <a:cs typeface="Arial"/>
              </a:rPr>
              <a:t>certain which </a:t>
            </a:r>
            <a:r>
              <a:rPr dirty="0" sz="1200">
                <a:latin typeface="Arial"/>
                <a:cs typeface="Arial"/>
              </a:rPr>
              <a:t>of </a:t>
            </a:r>
            <a:r>
              <a:rPr dirty="0" sz="1200" spc="-5">
                <a:latin typeface="Arial"/>
                <a:cs typeface="Arial"/>
              </a:rPr>
              <a:t>them were </a:t>
            </a:r>
            <a:r>
              <a:rPr dirty="0" sz="1200">
                <a:latin typeface="Arial"/>
                <a:cs typeface="Arial"/>
              </a:rPr>
              <a:t>reliable. This </a:t>
            </a:r>
            <a:r>
              <a:rPr dirty="0" sz="1200" spc="-5">
                <a:latin typeface="Arial"/>
                <a:cs typeface="Arial"/>
              </a:rPr>
              <a:t>criticism </a:t>
            </a:r>
            <a:r>
              <a:rPr dirty="0" sz="1200">
                <a:latin typeface="Arial"/>
                <a:cs typeface="Arial"/>
              </a:rPr>
              <a:t>of the </a:t>
            </a:r>
            <a:r>
              <a:rPr dirty="0" sz="1200" spc="-5">
                <a:latin typeface="Arial"/>
                <a:cs typeface="Arial"/>
              </a:rPr>
              <a:t>narrators </a:t>
            </a:r>
            <a:r>
              <a:rPr dirty="0" sz="1200" spc="-10">
                <a:latin typeface="Arial"/>
                <a:cs typeface="Arial"/>
              </a:rPr>
              <a:t>was </a:t>
            </a:r>
            <a:r>
              <a:rPr dirty="0" sz="1200" spc="-5">
                <a:latin typeface="Arial"/>
                <a:cs typeface="Arial"/>
              </a:rPr>
              <a:t>called  "disparaging and authentication". </a:t>
            </a:r>
            <a:r>
              <a:rPr dirty="0" sz="1200">
                <a:latin typeface="Arial"/>
                <a:cs typeface="Arial"/>
              </a:rPr>
              <a:t>The </a:t>
            </a:r>
            <a:r>
              <a:rPr dirty="0" sz="1200" spc="-5">
                <a:latin typeface="Arial"/>
                <a:cs typeface="Arial"/>
              </a:rPr>
              <a:t>"character and background of the man" was  considered indispensable </a:t>
            </a:r>
            <a:r>
              <a:rPr dirty="0" sz="1200">
                <a:latin typeface="Arial"/>
                <a:cs typeface="Arial"/>
              </a:rPr>
              <a:t>for </a:t>
            </a:r>
            <a:r>
              <a:rPr dirty="0" sz="1200" spc="-5">
                <a:latin typeface="Arial"/>
                <a:cs typeface="Arial"/>
              </a:rPr>
              <a:t>every </a:t>
            </a:r>
            <a:r>
              <a:rPr dirty="0" sz="1200">
                <a:latin typeface="Arial"/>
                <a:cs typeface="Arial"/>
              </a:rPr>
              <a:t>student </a:t>
            </a:r>
            <a:r>
              <a:rPr dirty="0" sz="1200" spc="-5">
                <a:latin typeface="Arial"/>
                <a:cs typeface="Arial"/>
              </a:rPr>
              <a:t>of Hadith, therefore all the commentaries on the  </a:t>
            </a:r>
            <a:r>
              <a:rPr dirty="0" sz="1200">
                <a:latin typeface="Arial"/>
                <a:cs typeface="Arial"/>
              </a:rPr>
              <a:t>collections </a:t>
            </a:r>
            <a:r>
              <a:rPr dirty="0" sz="1200" spc="-5">
                <a:latin typeface="Arial"/>
                <a:cs typeface="Arial"/>
              </a:rPr>
              <a:t>of tradition contain more or less copious details concerning </a:t>
            </a:r>
            <a:r>
              <a:rPr dirty="0" sz="1200">
                <a:latin typeface="Arial"/>
                <a:cs typeface="Arial"/>
              </a:rPr>
              <a:t>the </a:t>
            </a:r>
            <a:r>
              <a:rPr dirty="0" sz="1200" spc="-5">
                <a:latin typeface="Arial"/>
                <a:cs typeface="Arial"/>
              </a:rPr>
              <a:t>narrators. Special  works are also devoted </a:t>
            </a:r>
            <a:r>
              <a:rPr dirty="0" sz="1200">
                <a:latin typeface="Arial"/>
                <a:cs typeface="Arial"/>
              </a:rPr>
              <a:t>to this </a:t>
            </a:r>
            <a:r>
              <a:rPr dirty="0" sz="1200" spc="-5">
                <a:latin typeface="Arial"/>
                <a:cs typeface="Arial"/>
              </a:rPr>
              <a:t>subject, among them many of the </a:t>
            </a:r>
            <a:r>
              <a:rPr dirty="0" sz="1200">
                <a:latin typeface="Arial"/>
                <a:cs typeface="Arial"/>
              </a:rPr>
              <a:t>so-called </a:t>
            </a:r>
            <a:r>
              <a:rPr dirty="0" sz="1200" spc="-5">
                <a:latin typeface="Arial"/>
                <a:cs typeface="Arial"/>
              </a:rPr>
              <a:t>Tabaqat works  </a:t>
            </a:r>
            <a:r>
              <a:rPr dirty="0" sz="1200">
                <a:latin typeface="Arial"/>
                <a:cs typeface="Arial"/>
              </a:rPr>
              <a:t>(that </a:t>
            </a:r>
            <a:r>
              <a:rPr dirty="0" sz="1200" spc="-5">
                <a:latin typeface="Arial"/>
                <a:cs typeface="Arial"/>
              </a:rPr>
              <a:t>is biographies arranged in Islam </a:t>
            </a:r>
            <a:r>
              <a:rPr dirty="0" sz="1200">
                <a:latin typeface="Arial"/>
                <a:cs typeface="Arial"/>
              </a:rPr>
              <a:t>&amp; </a:t>
            </a:r>
            <a:r>
              <a:rPr dirty="0" sz="1200" spc="-5">
                <a:latin typeface="Arial"/>
                <a:cs typeface="Arial"/>
              </a:rPr>
              <a:t>Muslims of various</a:t>
            </a:r>
            <a:r>
              <a:rPr dirty="0" sz="1200" spc="35">
                <a:latin typeface="Arial"/>
                <a:cs typeface="Arial"/>
              </a:rPr>
              <a:t> </a:t>
            </a:r>
            <a:r>
              <a:rPr dirty="0" sz="1200" spc="-5">
                <a:latin typeface="Arial"/>
                <a:cs typeface="Arial"/>
              </a:rPr>
              <a:t>scholars).</a:t>
            </a:r>
            <a:endParaRPr sz="1200">
              <a:latin typeface="Arial"/>
              <a:cs typeface="Arial"/>
            </a:endParaRPr>
          </a:p>
          <a:p>
            <a:pPr algn="just" marL="12700" marR="5080">
              <a:lnSpc>
                <a:spcPts val="1380"/>
              </a:lnSpc>
              <a:spcBef>
                <a:spcPts val="1035"/>
              </a:spcBef>
            </a:pPr>
            <a:r>
              <a:rPr dirty="0" sz="1200">
                <a:latin typeface="Arial"/>
                <a:cs typeface="Arial"/>
              </a:rPr>
              <a:t>Gradually </a:t>
            </a:r>
            <a:r>
              <a:rPr dirty="0" sz="1200" spc="-5">
                <a:latin typeface="Arial"/>
                <a:cs typeface="Arial"/>
              </a:rPr>
              <a:t>six collections, which were compiled in the third century </a:t>
            </a:r>
            <a:r>
              <a:rPr dirty="0" sz="1200">
                <a:latin typeface="Arial"/>
                <a:cs typeface="Arial"/>
              </a:rPr>
              <a:t>of </a:t>
            </a:r>
            <a:r>
              <a:rPr dirty="0" sz="1200" spc="-5">
                <a:latin typeface="Arial"/>
                <a:cs typeface="Arial"/>
              </a:rPr>
              <a:t>Islam succeeded in  gaining such general approval </a:t>
            </a:r>
            <a:r>
              <a:rPr dirty="0" sz="1200">
                <a:latin typeface="Arial"/>
                <a:cs typeface="Arial"/>
              </a:rPr>
              <a:t>that </a:t>
            </a:r>
            <a:r>
              <a:rPr dirty="0" sz="1200" spc="-5">
                <a:latin typeface="Arial"/>
                <a:cs typeface="Arial"/>
              </a:rPr>
              <a:t>later generations, </a:t>
            </a:r>
            <a:r>
              <a:rPr dirty="0" sz="1200">
                <a:latin typeface="Arial"/>
                <a:cs typeface="Arial"/>
              </a:rPr>
              <a:t>tacitly </a:t>
            </a:r>
            <a:r>
              <a:rPr dirty="0" sz="1200" spc="-5">
                <a:latin typeface="Arial"/>
                <a:cs typeface="Arial"/>
              </a:rPr>
              <a:t>accepted them as the six  </a:t>
            </a:r>
            <a:r>
              <a:rPr dirty="0" sz="1200">
                <a:latin typeface="Arial"/>
                <a:cs typeface="Arial"/>
              </a:rPr>
              <a:t>Canonical </a:t>
            </a:r>
            <a:r>
              <a:rPr dirty="0" sz="1200" spc="-5">
                <a:latin typeface="Arial"/>
                <a:cs typeface="Arial"/>
              </a:rPr>
              <a:t>Collections </a:t>
            </a:r>
            <a:r>
              <a:rPr dirty="0" sz="1200">
                <a:latin typeface="Arial"/>
                <a:cs typeface="Arial"/>
              </a:rPr>
              <a:t>(Sihah Sitta). They are: </a:t>
            </a:r>
            <a:r>
              <a:rPr dirty="0" sz="1200" spc="-5">
                <a:latin typeface="Arial"/>
                <a:cs typeface="Arial"/>
              </a:rPr>
              <a:t>Sahih Bukhari, Sahih Muslim, Sunan </a:t>
            </a:r>
            <a:r>
              <a:rPr dirty="0" sz="1200" spc="15">
                <a:latin typeface="Arial"/>
                <a:cs typeface="Arial"/>
              </a:rPr>
              <a:t>Abu  </a:t>
            </a:r>
            <a:r>
              <a:rPr dirty="0" sz="1200" spc="-5">
                <a:latin typeface="Arial"/>
                <a:cs typeface="Arial"/>
              </a:rPr>
              <a:t>Dawud, Sunan Nasai, </a:t>
            </a:r>
            <a:r>
              <a:rPr dirty="0" sz="1200">
                <a:latin typeface="Arial"/>
                <a:cs typeface="Arial"/>
              </a:rPr>
              <a:t>Jami' </a:t>
            </a:r>
            <a:r>
              <a:rPr dirty="0" sz="1200" spc="-5">
                <a:latin typeface="Arial"/>
                <a:cs typeface="Arial"/>
              </a:rPr>
              <a:t>Tirmidhi and </a:t>
            </a:r>
            <a:r>
              <a:rPr dirty="0" sz="1200">
                <a:latin typeface="Arial"/>
                <a:cs typeface="Arial"/>
              </a:rPr>
              <a:t>Su-an </a:t>
            </a:r>
            <a:r>
              <a:rPr dirty="0" sz="1200" spc="-5">
                <a:latin typeface="Arial"/>
                <a:cs typeface="Arial"/>
              </a:rPr>
              <a:t>ibn</a:t>
            </a:r>
            <a:r>
              <a:rPr dirty="0" sz="1200">
                <a:latin typeface="Arial"/>
                <a:cs typeface="Arial"/>
              </a:rPr>
              <a:t> </a:t>
            </a:r>
            <a:r>
              <a:rPr dirty="0" sz="1200" spc="-5">
                <a:latin typeface="Arial"/>
                <a:cs typeface="Arial"/>
              </a:rPr>
              <a:t>Maja.</a:t>
            </a:r>
            <a:endParaRPr sz="1200">
              <a:latin typeface="Arial"/>
              <a:cs typeface="Arial"/>
            </a:endParaRPr>
          </a:p>
          <a:p>
            <a:pPr algn="just" marL="12700" marR="5080">
              <a:lnSpc>
                <a:spcPts val="1380"/>
              </a:lnSpc>
              <a:spcBef>
                <a:spcPts val="1000"/>
              </a:spcBef>
            </a:pPr>
            <a:r>
              <a:rPr dirty="0" sz="1200">
                <a:latin typeface="Arial"/>
                <a:cs typeface="Arial"/>
              </a:rPr>
              <a:t>In </a:t>
            </a:r>
            <a:r>
              <a:rPr dirty="0" sz="1200" spc="-5">
                <a:latin typeface="Arial"/>
                <a:cs typeface="Arial"/>
              </a:rPr>
              <a:t>preparing their collections, these traditionists obviously used a critical technique of  selection to decide what </a:t>
            </a:r>
            <a:r>
              <a:rPr dirty="0" sz="1200">
                <a:latin typeface="Arial"/>
                <a:cs typeface="Arial"/>
              </a:rPr>
              <a:t>they </a:t>
            </a:r>
            <a:r>
              <a:rPr dirty="0" sz="1200" spc="-5">
                <a:latin typeface="Arial"/>
                <a:cs typeface="Arial"/>
              </a:rPr>
              <a:t>would include and what </a:t>
            </a:r>
            <a:r>
              <a:rPr dirty="0" sz="1200">
                <a:latin typeface="Arial"/>
                <a:cs typeface="Arial"/>
              </a:rPr>
              <a:t>they </a:t>
            </a:r>
            <a:r>
              <a:rPr dirty="0" sz="1200" spc="-5">
                <a:latin typeface="Arial"/>
                <a:cs typeface="Arial"/>
              </a:rPr>
              <a:t>would </a:t>
            </a:r>
            <a:r>
              <a:rPr dirty="0" sz="1200">
                <a:latin typeface="Arial"/>
                <a:cs typeface="Arial"/>
              </a:rPr>
              <a:t>reject. Their </a:t>
            </a:r>
            <a:r>
              <a:rPr dirty="0" sz="1200" spc="-5">
                <a:latin typeface="Arial"/>
                <a:cs typeface="Arial"/>
              </a:rPr>
              <a:t>purpose </a:t>
            </a:r>
            <a:r>
              <a:rPr dirty="0" sz="1200" spc="-10">
                <a:latin typeface="Arial"/>
                <a:cs typeface="Arial"/>
              </a:rPr>
              <a:t>was </a:t>
            </a:r>
            <a:r>
              <a:rPr dirty="0" sz="1200" spc="-5">
                <a:latin typeface="Arial"/>
                <a:cs typeface="Arial"/>
              </a:rPr>
              <a:t>to  assemble a corpus of </a:t>
            </a:r>
            <a:r>
              <a:rPr dirty="0" sz="1200">
                <a:latin typeface="Arial"/>
                <a:cs typeface="Arial"/>
              </a:rPr>
              <a:t>traditions </a:t>
            </a:r>
            <a:r>
              <a:rPr dirty="0" sz="1200" spc="-5">
                <a:latin typeface="Arial"/>
                <a:cs typeface="Arial"/>
              </a:rPr>
              <a:t>which would serve as a code of </a:t>
            </a:r>
            <a:r>
              <a:rPr dirty="0" sz="1200">
                <a:latin typeface="Arial"/>
                <a:cs typeface="Arial"/>
              </a:rPr>
              <a:t>life for </a:t>
            </a:r>
            <a:r>
              <a:rPr dirty="0" sz="1200" spc="-5">
                <a:latin typeface="Arial"/>
                <a:cs typeface="Arial"/>
              </a:rPr>
              <a:t>Muslims, so their  primary </a:t>
            </a:r>
            <a:r>
              <a:rPr dirty="0" sz="1200">
                <a:latin typeface="Arial"/>
                <a:cs typeface="Arial"/>
              </a:rPr>
              <a:t>interest </a:t>
            </a:r>
            <a:r>
              <a:rPr dirty="0" sz="1200" spc="-10">
                <a:latin typeface="Arial"/>
                <a:cs typeface="Arial"/>
              </a:rPr>
              <a:t>was </a:t>
            </a:r>
            <a:r>
              <a:rPr dirty="0" sz="1200">
                <a:latin typeface="Arial"/>
                <a:cs typeface="Arial"/>
              </a:rPr>
              <a:t>in </a:t>
            </a:r>
            <a:r>
              <a:rPr dirty="0" sz="1200" spc="-5">
                <a:latin typeface="Arial"/>
                <a:cs typeface="Arial"/>
              </a:rPr>
              <a:t>selecting such traditions </a:t>
            </a:r>
            <a:r>
              <a:rPr dirty="0" sz="1200">
                <a:latin typeface="Arial"/>
                <a:cs typeface="Arial"/>
              </a:rPr>
              <a:t>that </a:t>
            </a:r>
            <a:r>
              <a:rPr dirty="0" sz="1200" spc="-5">
                <a:latin typeface="Arial"/>
                <a:cs typeface="Arial"/>
              </a:rPr>
              <a:t>would </a:t>
            </a:r>
            <a:r>
              <a:rPr dirty="0" sz="1200" spc="-10">
                <a:latin typeface="Arial"/>
                <a:cs typeface="Arial"/>
              </a:rPr>
              <a:t>give </a:t>
            </a:r>
            <a:r>
              <a:rPr dirty="0" sz="1200">
                <a:latin typeface="Arial"/>
                <a:cs typeface="Arial"/>
              </a:rPr>
              <a:t>clear </a:t>
            </a:r>
            <a:r>
              <a:rPr dirty="0" sz="1200" spc="-5">
                <a:latin typeface="Arial"/>
                <a:cs typeface="Arial"/>
              </a:rPr>
              <a:t>guidance concerning  what Muslim belief and practice should be, which things were permissible and approved, </a:t>
            </a:r>
            <a:r>
              <a:rPr dirty="0" sz="1200" spc="15">
                <a:latin typeface="Arial"/>
                <a:cs typeface="Arial"/>
              </a:rPr>
              <a:t>and  </a:t>
            </a:r>
            <a:r>
              <a:rPr dirty="0" sz="1200" spc="-5">
                <a:latin typeface="Arial"/>
                <a:cs typeface="Arial"/>
              </a:rPr>
              <a:t>which were</a:t>
            </a:r>
            <a:r>
              <a:rPr dirty="0" sz="1200" spc="15">
                <a:latin typeface="Arial"/>
                <a:cs typeface="Arial"/>
              </a:rPr>
              <a:t> </a:t>
            </a:r>
            <a:r>
              <a:rPr dirty="0" sz="1200">
                <a:latin typeface="Arial"/>
                <a:cs typeface="Arial"/>
              </a:rPr>
              <a:t>not.</a:t>
            </a:r>
            <a:endParaRPr sz="1200">
              <a:latin typeface="Arial"/>
              <a:cs typeface="Arial"/>
            </a:endParaRPr>
          </a:p>
          <a:p>
            <a:pPr algn="just" marL="12700" marR="6985">
              <a:lnSpc>
                <a:spcPct val="95600"/>
              </a:lnSpc>
              <a:spcBef>
                <a:spcPts val="975"/>
              </a:spcBef>
            </a:pPr>
            <a:r>
              <a:rPr dirty="0" sz="1200">
                <a:latin typeface="Arial"/>
                <a:cs typeface="Arial"/>
              </a:rPr>
              <a:t>In </a:t>
            </a:r>
            <a:r>
              <a:rPr dirty="0" sz="1200" spc="-5">
                <a:latin typeface="Arial"/>
                <a:cs typeface="Arial"/>
              </a:rPr>
              <a:t>their attempt to set up tests of authenticity which would exclude unauthentic material,  </a:t>
            </a:r>
            <a:r>
              <a:rPr dirty="0" sz="1200">
                <a:latin typeface="Arial"/>
                <a:cs typeface="Arial"/>
              </a:rPr>
              <a:t>these </a:t>
            </a:r>
            <a:r>
              <a:rPr dirty="0" sz="1200" spc="-5">
                <a:latin typeface="Arial"/>
                <a:cs typeface="Arial"/>
              </a:rPr>
              <a:t>traditionists </a:t>
            </a:r>
            <a:r>
              <a:rPr dirty="0" sz="1200" spc="-10">
                <a:latin typeface="Arial"/>
                <a:cs typeface="Arial"/>
              </a:rPr>
              <a:t>chose </a:t>
            </a:r>
            <a:r>
              <a:rPr dirty="0" sz="1200" spc="-5">
                <a:latin typeface="Arial"/>
                <a:cs typeface="Arial"/>
              </a:rPr>
              <a:t>the Isnad (chains of transmitters) as the </a:t>
            </a:r>
            <a:r>
              <a:rPr dirty="0" sz="1200">
                <a:latin typeface="Arial"/>
                <a:cs typeface="Arial"/>
              </a:rPr>
              <a:t>testing </a:t>
            </a:r>
            <a:r>
              <a:rPr dirty="0" sz="1200" spc="-5">
                <a:latin typeface="Arial"/>
                <a:cs typeface="Arial"/>
              </a:rPr>
              <a:t>point and worked  </a:t>
            </a:r>
            <a:r>
              <a:rPr dirty="0" sz="1200">
                <a:latin typeface="Arial"/>
                <a:cs typeface="Arial"/>
              </a:rPr>
              <a:t>out </a:t>
            </a:r>
            <a:r>
              <a:rPr dirty="0" sz="1200" spc="-5">
                <a:latin typeface="Arial"/>
                <a:cs typeface="Arial"/>
              </a:rPr>
              <a:t>an elaborate system </a:t>
            </a:r>
            <a:r>
              <a:rPr dirty="0" sz="1200">
                <a:latin typeface="Arial"/>
                <a:cs typeface="Arial"/>
              </a:rPr>
              <a:t>for testing </a:t>
            </a:r>
            <a:r>
              <a:rPr dirty="0" sz="1200" spc="-5">
                <a:latin typeface="Arial"/>
                <a:cs typeface="Arial"/>
              </a:rPr>
              <a:t>the </a:t>
            </a:r>
            <a:r>
              <a:rPr dirty="0" sz="1200">
                <a:latin typeface="Arial"/>
                <a:cs typeface="Arial"/>
              </a:rPr>
              <a:t>trustworthiness </a:t>
            </a:r>
            <a:r>
              <a:rPr dirty="0" sz="1200" spc="-5">
                <a:latin typeface="Arial"/>
                <a:cs typeface="Arial"/>
              </a:rPr>
              <a:t>of these "chains" and of the  individuals </a:t>
            </a:r>
            <a:r>
              <a:rPr dirty="0" sz="1200" spc="-10">
                <a:latin typeface="Arial"/>
                <a:cs typeface="Arial"/>
              </a:rPr>
              <a:t>who </a:t>
            </a:r>
            <a:r>
              <a:rPr dirty="0" sz="1200" spc="-5">
                <a:latin typeface="Arial"/>
                <a:cs typeface="Arial"/>
              </a:rPr>
              <a:t>formed </a:t>
            </a:r>
            <a:r>
              <a:rPr dirty="0" sz="1200">
                <a:latin typeface="Arial"/>
                <a:cs typeface="Arial"/>
              </a:rPr>
              <a:t>the </a:t>
            </a:r>
            <a:r>
              <a:rPr dirty="0" sz="1200" spc="-5">
                <a:latin typeface="Arial"/>
                <a:cs typeface="Arial"/>
              </a:rPr>
              <a:t>links therein, so that a Isnad could </a:t>
            </a:r>
            <a:r>
              <a:rPr dirty="0" sz="1200" spc="-10">
                <a:latin typeface="Arial"/>
                <a:cs typeface="Arial"/>
              </a:rPr>
              <a:t>be </a:t>
            </a:r>
            <a:r>
              <a:rPr dirty="0" sz="1200" spc="-5">
                <a:latin typeface="Arial"/>
                <a:cs typeface="Arial"/>
              </a:rPr>
              <a:t>labelled "excellent", "good",  "fair", "weak" and the tradition itself rated</a:t>
            </a:r>
            <a:r>
              <a:rPr dirty="0" sz="1200" spc="5">
                <a:latin typeface="Arial"/>
                <a:cs typeface="Arial"/>
              </a:rPr>
              <a:t> </a:t>
            </a:r>
            <a:r>
              <a:rPr dirty="0" sz="1200" spc="-5">
                <a:latin typeface="Arial"/>
                <a:cs typeface="Arial"/>
              </a:rPr>
              <a:t>accordingly.</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129</a:t>
            </a:r>
            <a:endParaRPr sz="1200">
              <a:latin typeface="Times New Roman"/>
              <a:cs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09995" cy="8983345"/>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5080">
              <a:lnSpc>
                <a:spcPct val="95800"/>
              </a:lnSpc>
            </a:pPr>
            <a:r>
              <a:rPr dirty="0" sz="1200" spc="-5">
                <a:latin typeface="Arial"/>
                <a:cs typeface="Arial"/>
              </a:rPr>
              <a:t>The primary aim of the reporters </a:t>
            </a:r>
            <a:r>
              <a:rPr dirty="0" sz="1200" spc="-10">
                <a:latin typeface="Arial"/>
                <a:cs typeface="Arial"/>
              </a:rPr>
              <a:t>was </a:t>
            </a:r>
            <a:r>
              <a:rPr dirty="0" sz="1200">
                <a:latin typeface="Arial"/>
                <a:cs typeface="Arial"/>
              </a:rPr>
              <a:t>to </a:t>
            </a:r>
            <a:r>
              <a:rPr dirty="0" sz="1200" spc="-5">
                <a:latin typeface="Arial"/>
                <a:cs typeface="Arial"/>
              </a:rPr>
              <a:t>establish unerring authority </a:t>
            </a:r>
            <a:r>
              <a:rPr dirty="0" sz="1200">
                <a:latin typeface="Arial"/>
                <a:cs typeface="Arial"/>
              </a:rPr>
              <a:t>for </a:t>
            </a:r>
            <a:r>
              <a:rPr dirty="0" sz="1200" spc="-5">
                <a:latin typeface="Arial"/>
                <a:cs typeface="Arial"/>
              </a:rPr>
              <a:t>laws and customs;  </a:t>
            </a:r>
            <a:r>
              <a:rPr dirty="0" sz="1200">
                <a:latin typeface="Arial"/>
                <a:cs typeface="Arial"/>
              </a:rPr>
              <a:t>thus </a:t>
            </a:r>
            <a:r>
              <a:rPr dirty="0" sz="1200" spc="-5">
                <a:latin typeface="Arial"/>
                <a:cs typeface="Arial"/>
              </a:rPr>
              <a:t>the narrators devoted scrupulous attention to </a:t>
            </a:r>
            <a:r>
              <a:rPr dirty="0" sz="1200">
                <a:latin typeface="Arial"/>
                <a:cs typeface="Arial"/>
              </a:rPr>
              <a:t>the </a:t>
            </a:r>
            <a:r>
              <a:rPr dirty="0" sz="1200" spc="-5">
                <a:latin typeface="Arial"/>
                <a:cs typeface="Arial"/>
              </a:rPr>
              <a:t>Isnad. Ibn Sirin </a:t>
            </a:r>
            <a:r>
              <a:rPr dirty="0" sz="1200">
                <a:latin typeface="Arial"/>
                <a:cs typeface="Arial"/>
              </a:rPr>
              <a:t>(d. </a:t>
            </a:r>
            <a:r>
              <a:rPr dirty="0" sz="1200" spc="-5">
                <a:latin typeface="Arial"/>
                <a:cs typeface="Arial"/>
              </a:rPr>
              <a:t>110 A.H.), </a:t>
            </a:r>
            <a:r>
              <a:rPr dirty="0" sz="1200">
                <a:latin typeface="Arial"/>
                <a:cs typeface="Arial"/>
              </a:rPr>
              <a:t>the  </a:t>
            </a:r>
            <a:r>
              <a:rPr dirty="0" sz="1200" spc="-5">
                <a:latin typeface="Arial"/>
                <a:cs typeface="Arial"/>
              </a:rPr>
              <a:t>famous interpreter of dreams, said that the traditionists did not ask about the Isnad, but </a:t>
            </a:r>
            <a:r>
              <a:rPr dirty="0" sz="1200" spc="-10">
                <a:latin typeface="Arial"/>
                <a:cs typeface="Arial"/>
              </a:rPr>
              <a:t>did  </a:t>
            </a:r>
            <a:r>
              <a:rPr dirty="0" sz="1200" spc="-5">
                <a:latin typeface="Arial"/>
                <a:cs typeface="Arial"/>
              </a:rPr>
              <a:t>so when civil </a:t>
            </a:r>
            <a:r>
              <a:rPr dirty="0" sz="1200" spc="-10">
                <a:latin typeface="Arial"/>
                <a:cs typeface="Arial"/>
              </a:rPr>
              <a:t>war </a:t>
            </a:r>
            <a:r>
              <a:rPr dirty="0" sz="1200" spc="-5">
                <a:latin typeface="Arial"/>
                <a:cs typeface="Arial"/>
              </a:rPr>
              <a:t>broke out, and those men </a:t>
            </a:r>
            <a:r>
              <a:rPr dirty="0" sz="1200" spc="-10">
                <a:latin typeface="Arial"/>
                <a:cs typeface="Arial"/>
              </a:rPr>
              <a:t>who </a:t>
            </a:r>
            <a:r>
              <a:rPr dirty="0" sz="1200">
                <a:latin typeface="Arial"/>
                <a:cs typeface="Arial"/>
              </a:rPr>
              <a:t>adhered to the </a:t>
            </a:r>
            <a:r>
              <a:rPr dirty="0" sz="1200" spc="-5">
                <a:latin typeface="Arial"/>
                <a:cs typeface="Arial"/>
              </a:rPr>
              <a:t>Sunna, their traditions were  accepted and </a:t>
            </a:r>
            <a:r>
              <a:rPr dirty="0" sz="1200" spc="-10">
                <a:latin typeface="Arial"/>
                <a:cs typeface="Arial"/>
              </a:rPr>
              <a:t>those who </a:t>
            </a:r>
            <a:r>
              <a:rPr dirty="0" sz="1200" spc="-5">
                <a:latin typeface="Arial"/>
                <a:cs typeface="Arial"/>
              </a:rPr>
              <a:t>were innovators, </a:t>
            </a:r>
            <a:r>
              <a:rPr dirty="0" sz="1200">
                <a:latin typeface="Arial"/>
                <a:cs typeface="Arial"/>
              </a:rPr>
              <a:t>their </a:t>
            </a:r>
            <a:r>
              <a:rPr dirty="0" sz="1200" spc="-5">
                <a:latin typeface="Arial"/>
                <a:cs typeface="Arial"/>
              </a:rPr>
              <a:t>traditions were rejected. 'Abd AllAh b.  Mubarak </a:t>
            </a:r>
            <a:r>
              <a:rPr dirty="0" sz="1200">
                <a:latin typeface="Arial"/>
                <a:cs typeface="Arial"/>
              </a:rPr>
              <a:t>(d. </a:t>
            </a:r>
            <a:r>
              <a:rPr dirty="0" sz="1200" spc="-5">
                <a:latin typeface="Arial"/>
                <a:cs typeface="Arial"/>
              </a:rPr>
              <a:t>181 A.H.), a student of Abu Hanifa (d. 150 </a:t>
            </a:r>
            <a:r>
              <a:rPr dirty="0" sz="1200">
                <a:latin typeface="Arial"/>
                <a:cs typeface="Arial"/>
              </a:rPr>
              <a:t>A.H.), </a:t>
            </a:r>
            <a:r>
              <a:rPr dirty="0" sz="1200" spc="-10">
                <a:latin typeface="Arial"/>
                <a:cs typeface="Arial"/>
              </a:rPr>
              <a:t>was </a:t>
            </a:r>
            <a:r>
              <a:rPr dirty="0" sz="1200" spc="-5">
                <a:latin typeface="Arial"/>
                <a:cs typeface="Arial"/>
              </a:rPr>
              <a:t>very </a:t>
            </a:r>
            <a:r>
              <a:rPr dirty="0" sz="1200">
                <a:latin typeface="Arial"/>
                <a:cs typeface="Arial"/>
              </a:rPr>
              <a:t>outspoken </a:t>
            </a:r>
            <a:r>
              <a:rPr dirty="0" sz="1200" spc="-5">
                <a:latin typeface="Arial"/>
                <a:cs typeface="Arial"/>
              </a:rPr>
              <a:t>with  regards </a:t>
            </a:r>
            <a:r>
              <a:rPr dirty="0" sz="1200">
                <a:latin typeface="Arial"/>
                <a:cs typeface="Arial"/>
              </a:rPr>
              <a:t>to the </a:t>
            </a:r>
            <a:r>
              <a:rPr dirty="0" sz="1200" spc="-5">
                <a:latin typeface="Arial"/>
                <a:cs typeface="Arial"/>
              </a:rPr>
              <a:t>importance of the chains </a:t>
            </a:r>
            <a:r>
              <a:rPr dirty="0" sz="1200" spc="10">
                <a:latin typeface="Arial"/>
                <a:cs typeface="Arial"/>
              </a:rPr>
              <a:t>of </a:t>
            </a:r>
            <a:r>
              <a:rPr dirty="0" sz="1200" spc="-5">
                <a:latin typeface="Arial"/>
                <a:cs typeface="Arial"/>
              </a:rPr>
              <a:t>narrators, and </a:t>
            </a:r>
            <a:r>
              <a:rPr dirty="0" sz="1200">
                <a:latin typeface="Arial"/>
                <a:cs typeface="Arial"/>
              </a:rPr>
              <a:t>this </a:t>
            </a:r>
            <a:r>
              <a:rPr dirty="0" sz="1200" spc="-5">
                <a:latin typeface="Arial"/>
                <a:cs typeface="Arial"/>
              </a:rPr>
              <a:t>is evidenced in </a:t>
            </a:r>
            <a:r>
              <a:rPr dirty="0" sz="1200">
                <a:latin typeface="Arial"/>
                <a:cs typeface="Arial"/>
              </a:rPr>
              <a:t>the </a:t>
            </a:r>
            <a:r>
              <a:rPr dirty="0" sz="1200" spc="-5">
                <a:latin typeface="Arial"/>
                <a:cs typeface="Arial"/>
              </a:rPr>
              <a:t>following  statement by </a:t>
            </a:r>
            <a:r>
              <a:rPr dirty="0" sz="1200">
                <a:latin typeface="Arial"/>
                <a:cs typeface="Arial"/>
              </a:rPr>
              <a:t>him, </a:t>
            </a:r>
            <a:r>
              <a:rPr dirty="0" sz="1200" spc="-5">
                <a:latin typeface="Arial"/>
                <a:cs typeface="Arial"/>
              </a:rPr>
              <a:t>"The chains of narrators according </a:t>
            </a:r>
            <a:r>
              <a:rPr dirty="0" sz="1200">
                <a:latin typeface="Arial"/>
                <a:cs typeface="Arial"/>
              </a:rPr>
              <a:t>to me </a:t>
            </a:r>
            <a:r>
              <a:rPr dirty="0" sz="1200" spc="-5">
                <a:latin typeface="Arial"/>
                <a:cs typeface="Arial"/>
              </a:rPr>
              <a:t>are part </a:t>
            </a:r>
            <a:r>
              <a:rPr dirty="0" sz="1200">
                <a:latin typeface="Arial"/>
                <a:cs typeface="Arial"/>
              </a:rPr>
              <a:t>of </a:t>
            </a:r>
            <a:r>
              <a:rPr dirty="0" sz="1200" spc="-5">
                <a:latin typeface="Arial"/>
                <a:cs typeface="Arial"/>
              </a:rPr>
              <a:t>religion. If </a:t>
            </a:r>
            <a:r>
              <a:rPr dirty="0" sz="1200">
                <a:latin typeface="Arial"/>
                <a:cs typeface="Arial"/>
              </a:rPr>
              <a:t>there </a:t>
            </a:r>
            <a:r>
              <a:rPr dirty="0" sz="1200" spc="-5">
                <a:latin typeface="Arial"/>
                <a:cs typeface="Arial"/>
              </a:rPr>
              <a:t>were  no chains of reporters, anybody would say whatever he liked and about whomsoever he  wished". Ahmad Abu </a:t>
            </a:r>
            <a:r>
              <a:rPr dirty="0" sz="1200">
                <a:latin typeface="Arial"/>
                <a:cs typeface="Arial"/>
              </a:rPr>
              <a:t>Wahb </a:t>
            </a:r>
            <a:r>
              <a:rPr dirty="0" sz="1200" spc="-5">
                <a:latin typeface="Arial"/>
                <a:cs typeface="Arial"/>
              </a:rPr>
              <a:t>throws </a:t>
            </a:r>
            <a:r>
              <a:rPr dirty="0" sz="1200">
                <a:latin typeface="Arial"/>
                <a:cs typeface="Arial"/>
              </a:rPr>
              <a:t>more </a:t>
            </a:r>
            <a:r>
              <a:rPr dirty="0" sz="1200" spc="-5">
                <a:latin typeface="Arial"/>
                <a:cs typeface="Arial"/>
              </a:rPr>
              <a:t>light </a:t>
            </a:r>
            <a:r>
              <a:rPr dirty="0" sz="1200" spc="-10">
                <a:latin typeface="Arial"/>
                <a:cs typeface="Arial"/>
              </a:rPr>
              <a:t>on </a:t>
            </a:r>
            <a:r>
              <a:rPr dirty="0" sz="1200" spc="-5">
                <a:latin typeface="Arial"/>
                <a:cs typeface="Arial"/>
              </a:rPr>
              <a:t>the extent </a:t>
            </a:r>
            <a:r>
              <a:rPr dirty="0" sz="1200">
                <a:latin typeface="Arial"/>
                <a:cs typeface="Arial"/>
              </a:rPr>
              <a:t>to </a:t>
            </a:r>
            <a:r>
              <a:rPr dirty="0" sz="1200" spc="-5">
                <a:latin typeface="Arial"/>
                <a:cs typeface="Arial"/>
              </a:rPr>
              <a:t>which 'Abd Allah </a:t>
            </a:r>
            <a:r>
              <a:rPr dirty="0" sz="1200">
                <a:latin typeface="Arial"/>
                <a:cs typeface="Arial"/>
              </a:rPr>
              <a:t>b. </a:t>
            </a:r>
            <a:r>
              <a:rPr dirty="0" sz="1200" spc="-5">
                <a:latin typeface="Arial"/>
                <a:cs typeface="Arial"/>
              </a:rPr>
              <a:t>Mubarak  regarded </a:t>
            </a:r>
            <a:r>
              <a:rPr dirty="0" sz="1200">
                <a:latin typeface="Arial"/>
                <a:cs typeface="Arial"/>
              </a:rPr>
              <a:t>the </a:t>
            </a:r>
            <a:r>
              <a:rPr dirty="0" sz="1200" spc="-5">
                <a:latin typeface="Arial"/>
                <a:cs typeface="Arial"/>
              </a:rPr>
              <a:t>Isnad by saying </a:t>
            </a:r>
            <a:r>
              <a:rPr dirty="0" sz="1200">
                <a:latin typeface="Arial"/>
                <a:cs typeface="Arial"/>
              </a:rPr>
              <a:t>that </a:t>
            </a:r>
            <a:r>
              <a:rPr dirty="0" sz="1200" spc="-5">
                <a:latin typeface="Arial"/>
                <a:cs typeface="Arial"/>
              </a:rPr>
              <a:t>he ('Abd AllAh </a:t>
            </a:r>
            <a:r>
              <a:rPr dirty="0" sz="1200">
                <a:latin typeface="Arial"/>
                <a:cs typeface="Arial"/>
              </a:rPr>
              <a:t>b. </a:t>
            </a:r>
            <a:r>
              <a:rPr dirty="0" sz="1200" spc="-5">
                <a:latin typeface="Arial"/>
                <a:cs typeface="Arial"/>
              </a:rPr>
              <a:t>Mubarak) would consider committing  highway </a:t>
            </a:r>
            <a:r>
              <a:rPr dirty="0" sz="1200">
                <a:latin typeface="Arial"/>
                <a:cs typeface="Arial"/>
              </a:rPr>
              <a:t>robbery </a:t>
            </a:r>
            <a:r>
              <a:rPr dirty="0" sz="1200" spc="-5">
                <a:latin typeface="Arial"/>
                <a:cs typeface="Arial"/>
              </a:rPr>
              <a:t>rather than narrating </a:t>
            </a:r>
            <a:r>
              <a:rPr dirty="0" sz="1200">
                <a:latin typeface="Arial"/>
                <a:cs typeface="Arial"/>
              </a:rPr>
              <a:t>from </a:t>
            </a:r>
            <a:r>
              <a:rPr dirty="0" sz="1200" spc="-5">
                <a:latin typeface="Arial"/>
                <a:cs typeface="Arial"/>
              </a:rPr>
              <a:t>a narrator accused of</a:t>
            </a:r>
            <a:r>
              <a:rPr dirty="0" sz="1200" spc="-20">
                <a:latin typeface="Arial"/>
                <a:cs typeface="Arial"/>
              </a:rPr>
              <a:t> </a:t>
            </a:r>
            <a:r>
              <a:rPr dirty="0" sz="1200" spc="-5">
                <a:latin typeface="Arial"/>
                <a:cs typeface="Arial"/>
              </a:rPr>
              <a:t>lying.</a:t>
            </a:r>
            <a:endParaRPr sz="1200">
              <a:latin typeface="Arial"/>
              <a:cs typeface="Arial"/>
            </a:endParaRPr>
          </a:p>
          <a:p>
            <a:pPr algn="just" marL="12700" marR="7620">
              <a:lnSpc>
                <a:spcPts val="1380"/>
              </a:lnSpc>
              <a:spcBef>
                <a:spcPts val="1035"/>
              </a:spcBef>
            </a:pPr>
            <a:r>
              <a:rPr dirty="0" sz="1200" spc="-5">
                <a:latin typeface="Arial"/>
                <a:cs typeface="Arial"/>
              </a:rPr>
              <a:t>Thus, </a:t>
            </a:r>
            <a:r>
              <a:rPr dirty="0" sz="1200">
                <a:latin typeface="Arial"/>
                <a:cs typeface="Arial"/>
              </a:rPr>
              <a:t>there </a:t>
            </a:r>
            <a:r>
              <a:rPr dirty="0" sz="1200" spc="-5">
                <a:latin typeface="Arial"/>
                <a:cs typeface="Arial"/>
              </a:rPr>
              <a:t>came into existence </a:t>
            </a:r>
            <a:r>
              <a:rPr dirty="0" sz="1200">
                <a:latin typeface="Arial"/>
                <a:cs typeface="Arial"/>
              </a:rPr>
              <a:t>the science of </a:t>
            </a:r>
            <a:r>
              <a:rPr dirty="0" sz="1200" spc="-5">
                <a:latin typeface="Arial"/>
                <a:cs typeface="Arial"/>
              </a:rPr>
              <a:t>criticism on </a:t>
            </a:r>
            <a:r>
              <a:rPr dirty="0" sz="1200">
                <a:latin typeface="Arial"/>
                <a:cs typeface="Arial"/>
              </a:rPr>
              <a:t>Hadith </a:t>
            </a:r>
            <a:r>
              <a:rPr dirty="0" sz="1200" spc="-5">
                <a:latin typeface="Arial"/>
                <a:cs typeface="Arial"/>
              </a:rPr>
              <a:t>relating </a:t>
            </a:r>
            <a:r>
              <a:rPr dirty="0" sz="1200">
                <a:latin typeface="Arial"/>
                <a:cs typeface="Arial"/>
              </a:rPr>
              <a:t>to the Isnad </a:t>
            </a:r>
            <a:r>
              <a:rPr dirty="0" sz="1200" spc="-5">
                <a:latin typeface="Arial"/>
                <a:cs typeface="Arial"/>
              </a:rPr>
              <a:t>and  Matn</a:t>
            </a:r>
            <a:r>
              <a:rPr dirty="0" sz="1200">
                <a:latin typeface="Arial"/>
                <a:cs typeface="Arial"/>
              </a:rPr>
              <a:t> </a:t>
            </a:r>
            <a:r>
              <a:rPr dirty="0" sz="1200" spc="-5">
                <a:latin typeface="Arial"/>
                <a:cs typeface="Arial"/>
              </a:rPr>
              <a:t>(text).</a:t>
            </a:r>
            <a:endParaRPr sz="1200">
              <a:latin typeface="Arial"/>
              <a:cs typeface="Arial"/>
            </a:endParaRPr>
          </a:p>
          <a:p>
            <a:pPr algn="just" marL="12700">
              <a:lnSpc>
                <a:spcPct val="100000"/>
              </a:lnSpc>
              <a:spcBef>
                <a:spcPts val="915"/>
              </a:spcBef>
            </a:pPr>
            <a:r>
              <a:rPr dirty="0" u="heavy" sz="1200" spc="-5" b="1" i="1">
                <a:uFill>
                  <a:solidFill>
                    <a:srgbClr val="000000"/>
                  </a:solidFill>
                </a:uFill>
                <a:latin typeface="Arial"/>
                <a:cs typeface="Arial"/>
              </a:rPr>
              <a:t>The following is a summary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principles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criticism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a:t>
            </a:r>
            <a:r>
              <a:rPr dirty="0" u="heavy" sz="1200" spc="30" b="1" i="1">
                <a:uFill>
                  <a:solidFill>
                    <a:srgbClr val="000000"/>
                  </a:solidFill>
                </a:uFill>
                <a:latin typeface="Arial"/>
                <a:cs typeface="Arial"/>
              </a:rPr>
              <a:t> </a:t>
            </a:r>
            <a:r>
              <a:rPr dirty="0" u="heavy" sz="1200" b="1" i="1">
                <a:uFill>
                  <a:solidFill>
                    <a:srgbClr val="000000"/>
                  </a:solidFill>
                </a:uFill>
                <a:latin typeface="Arial"/>
                <a:cs typeface="Arial"/>
              </a:rPr>
              <a:t>Isnad:</a:t>
            </a:r>
            <a:endParaRPr sz="1200">
              <a:latin typeface="Arial"/>
              <a:cs typeface="Arial"/>
            </a:endParaRPr>
          </a:p>
          <a:p>
            <a:pPr algn="just" marL="12700" marR="10795">
              <a:lnSpc>
                <a:spcPts val="1380"/>
              </a:lnSpc>
              <a:spcBef>
                <a:spcPts val="1030"/>
              </a:spcBef>
              <a:buAutoNum type="arabicPeriod"/>
              <a:tabLst>
                <a:tab pos="196850" algn="l"/>
              </a:tabLst>
            </a:pPr>
            <a:r>
              <a:rPr dirty="0" sz="1200" spc="-5">
                <a:latin typeface="Arial"/>
                <a:cs typeface="Arial"/>
              </a:rPr>
              <a:t>All </a:t>
            </a:r>
            <a:r>
              <a:rPr dirty="0" sz="1200">
                <a:latin typeface="Arial"/>
                <a:cs typeface="Arial"/>
              </a:rPr>
              <a:t>the </a:t>
            </a:r>
            <a:r>
              <a:rPr dirty="0" sz="1200" spc="-5">
                <a:latin typeface="Arial"/>
                <a:cs typeface="Arial"/>
              </a:rPr>
              <a:t>traditions must be traced </a:t>
            </a:r>
            <a:r>
              <a:rPr dirty="0" sz="1200">
                <a:latin typeface="Arial"/>
                <a:cs typeface="Arial"/>
              </a:rPr>
              <a:t>to </a:t>
            </a:r>
            <a:r>
              <a:rPr dirty="0" sz="1200" spc="-5">
                <a:latin typeface="Arial"/>
                <a:cs typeface="Arial"/>
              </a:rPr>
              <a:t>their original reporter through a chain of transmitters.  These transmitters must be of excellent character, truthful and have a good retentive  memory.</a:t>
            </a:r>
            <a:endParaRPr sz="1200">
              <a:latin typeface="Arial"/>
              <a:cs typeface="Arial"/>
            </a:endParaRPr>
          </a:p>
          <a:p>
            <a:pPr algn="just" marL="12700" marR="10795">
              <a:lnSpc>
                <a:spcPts val="1380"/>
              </a:lnSpc>
              <a:spcBef>
                <a:spcPts val="994"/>
              </a:spcBef>
              <a:buAutoNum type="arabicPeriod"/>
              <a:tabLst>
                <a:tab pos="194310" algn="l"/>
              </a:tabLst>
            </a:pPr>
            <a:r>
              <a:rPr dirty="0" sz="1200" spc="-5">
                <a:latin typeface="Arial"/>
                <a:cs typeface="Arial"/>
              </a:rPr>
              <a:t>Every </a:t>
            </a:r>
            <a:r>
              <a:rPr dirty="0" sz="1200">
                <a:latin typeface="Arial"/>
                <a:cs typeface="Arial"/>
              </a:rPr>
              <a:t>tradition </a:t>
            </a:r>
            <a:r>
              <a:rPr dirty="0" sz="1200" spc="-5">
                <a:latin typeface="Arial"/>
                <a:cs typeface="Arial"/>
              </a:rPr>
              <a:t>which </a:t>
            </a:r>
            <a:r>
              <a:rPr dirty="0" sz="1200">
                <a:latin typeface="Arial"/>
                <a:cs typeface="Arial"/>
              </a:rPr>
              <a:t>reports </a:t>
            </a:r>
            <a:r>
              <a:rPr dirty="0" sz="1200" spc="-5">
                <a:latin typeface="Arial"/>
                <a:cs typeface="Arial"/>
              </a:rPr>
              <a:t>an event that occurred frequently </a:t>
            </a:r>
            <a:r>
              <a:rPr dirty="0" sz="1200">
                <a:latin typeface="Arial"/>
                <a:cs typeface="Arial"/>
              </a:rPr>
              <a:t>in </a:t>
            </a:r>
            <a:r>
              <a:rPr dirty="0" sz="1200" spc="-5">
                <a:latin typeface="Arial"/>
                <a:cs typeface="Arial"/>
              </a:rPr>
              <a:t>the presence of a </a:t>
            </a:r>
            <a:r>
              <a:rPr dirty="0" sz="1200" spc="-10">
                <a:latin typeface="Arial"/>
                <a:cs typeface="Arial"/>
              </a:rPr>
              <a:t>large  </a:t>
            </a:r>
            <a:r>
              <a:rPr dirty="0" sz="1200" spc="-5">
                <a:latin typeface="Arial"/>
                <a:cs typeface="Arial"/>
              </a:rPr>
              <a:t>number of people, must have originally </a:t>
            </a:r>
            <a:r>
              <a:rPr dirty="0" sz="1200">
                <a:latin typeface="Arial"/>
                <a:cs typeface="Arial"/>
              </a:rPr>
              <a:t>been </a:t>
            </a:r>
            <a:r>
              <a:rPr dirty="0" sz="1200" spc="-5">
                <a:latin typeface="Arial"/>
                <a:cs typeface="Arial"/>
              </a:rPr>
              <a:t>reported </a:t>
            </a:r>
            <a:r>
              <a:rPr dirty="0" sz="1200">
                <a:latin typeface="Arial"/>
                <a:cs typeface="Arial"/>
              </a:rPr>
              <a:t>by </a:t>
            </a:r>
            <a:r>
              <a:rPr dirty="0" sz="1200" spc="-5">
                <a:latin typeface="Arial"/>
                <a:cs typeface="Arial"/>
              </a:rPr>
              <a:t>several</a:t>
            </a:r>
            <a:r>
              <a:rPr dirty="0" sz="1200" spc="5">
                <a:latin typeface="Arial"/>
                <a:cs typeface="Arial"/>
              </a:rPr>
              <a:t> </a:t>
            </a:r>
            <a:r>
              <a:rPr dirty="0" sz="1200" spc="-5">
                <a:latin typeface="Arial"/>
                <a:cs typeface="Arial"/>
              </a:rPr>
              <a:t>narrators.</a:t>
            </a:r>
            <a:endParaRPr sz="1200">
              <a:latin typeface="Arial"/>
              <a:cs typeface="Arial"/>
            </a:endParaRPr>
          </a:p>
          <a:p>
            <a:pPr algn="just" marL="12700" marR="8890">
              <a:lnSpc>
                <a:spcPts val="1370"/>
              </a:lnSpc>
              <a:spcBef>
                <a:spcPts val="1015"/>
              </a:spcBef>
            </a:pPr>
            <a:r>
              <a:rPr dirty="0" u="heavy" sz="1200" spc="-5" b="1" i="1">
                <a:uFill>
                  <a:solidFill>
                    <a:srgbClr val="000000"/>
                  </a:solidFill>
                </a:uFill>
                <a:latin typeface="Arial"/>
                <a:cs typeface="Arial"/>
              </a:rPr>
              <a:t>As far </a:t>
            </a:r>
            <a:r>
              <a:rPr dirty="0" u="heavy" sz="1200" spc="-10" b="1" i="1">
                <a:uFill>
                  <a:solidFill>
                    <a:srgbClr val="000000"/>
                  </a:solidFill>
                </a:uFill>
                <a:latin typeface="Arial"/>
                <a:cs typeface="Arial"/>
              </a:rPr>
              <a:t>as </a:t>
            </a:r>
            <a:r>
              <a:rPr dirty="0" u="heavy" sz="1200" spc="-5" b="1" i="1">
                <a:uFill>
                  <a:solidFill>
                    <a:srgbClr val="000000"/>
                  </a:solidFill>
                </a:uFill>
                <a:latin typeface="Arial"/>
                <a:cs typeface="Arial"/>
              </a:rPr>
              <a:t>the Matn is </a:t>
            </a:r>
            <a:r>
              <a:rPr dirty="0" u="heavy" sz="1200" b="1" i="1">
                <a:uFill>
                  <a:solidFill>
                    <a:srgbClr val="000000"/>
                  </a:solidFill>
                </a:uFill>
                <a:latin typeface="Arial"/>
                <a:cs typeface="Arial"/>
              </a:rPr>
              <a:t>concerned, </a:t>
            </a:r>
            <a:r>
              <a:rPr dirty="0" u="heavy" sz="1200" spc="-5" b="1" i="1">
                <a:uFill>
                  <a:solidFill>
                    <a:srgbClr val="000000"/>
                  </a:solidFill>
                </a:uFill>
                <a:latin typeface="Arial"/>
                <a:cs typeface="Arial"/>
              </a:rPr>
              <a:t>the following principles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criticism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Hadith are laid </a:t>
            </a:r>
            <a:r>
              <a:rPr dirty="0" sz="1200" spc="-5" b="1" i="1">
                <a:latin typeface="Arial"/>
                <a:cs typeface="Arial"/>
              </a:rPr>
              <a:t> </a:t>
            </a:r>
            <a:r>
              <a:rPr dirty="0" u="heavy" sz="1200" b="1" i="1">
                <a:uFill>
                  <a:solidFill>
                    <a:srgbClr val="000000"/>
                  </a:solidFill>
                </a:uFill>
                <a:latin typeface="Arial"/>
                <a:cs typeface="Arial"/>
              </a:rPr>
              <a:t>down:</a:t>
            </a:r>
            <a:endParaRPr sz="1200">
              <a:latin typeface="Arial"/>
              <a:cs typeface="Arial"/>
            </a:endParaRPr>
          </a:p>
          <a:p>
            <a:pPr algn="just" marL="12700" marR="11430">
              <a:lnSpc>
                <a:spcPts val="1380"/>
              </a:lnSpc>
              <a:spcBef>
                <a:spcPts val="1010"/>
              </a:spcBef>
              <a:buAutoNum type="arabicPeriod"/>
              <a:tabLst>
                <a:tab pos="219710" algn="l"/>
              </a:tabLst>
            </a:pPr>
            <a:r>
              <a:rPr dirty="0" sz="1200">
                <a:latin typeface="Arial"/>
                <a:cs typeface="Arial"/>
              </a:rPr>
              <a:t>The </a:t>
            </a:r>
            <a:r>
              <a:rPr dirty="0" sz="1200" spc="-5">
                <a:latin typeface="Arial"/>
                <a:cs typeface="Arial"/>
              </a:rPr>
              <a:t>Hadith should not </a:t>
            </a:r>
            <a:r>
              <a:rPr dirty="0" sz="1200" spc="-10">
                <a:latin typeface="Arial"/>
                <a:cs typeface="Arial"/>
              </a:rPr>
              <a:t>be </a:t>
            </a:r>
            <a:r>
              <a:rPr dirty="0" sz="1200" spc="-5">
                <a:latin typeface="Arial"/>
                <a:cs typeface="Arial"/>
              </a:rPr>
              <a:t>contrary </a:t>
            </a:r>
            <a:r>
              <a:rPr dirty="0" sz="1200">
                <a:latin typeface="Arial"/>
                <a:cs typeface="Arial"/>
              </a:rPr>
              <a:t>to the </a:t>
            </a:r>
            <a:r>
              <a:rPr dirty="0" sz="1200" spc="-5">
                <a:latin typeface="Arial"/>
                <a:cs typeface="Arial"/>
              </a:rPr>
              <a:t>text or </a:t>
            </a:r>
            <a:r>
              <a:rPr dirty="0" sz="1200">
                <a:latin typeface="Arial"/>
                <a:cs typeface="Arial"/>
              </a:rPr>
              <a:t>the </a:t>
            </a:r>
            <a:r>
              <a:rPr dirty="0" sz="1200" spc="-5">
                <a:latin typeface="Arial"/>
                <a:cs typeface="Arial"/>
              </a:rPr>
              <a:t>teachings </a:t>
            </a:r>
            <a:r>
              <a:rPr dirty="0" sz="1200">
                <a:latin typeface="Arial"/>
                <a:cs typeface="Arial"/>
              </a:rPr>
              <a:t>of </a:t>
            </a:r>
            <a:r>
              <a:rPr dirty="0" sz="1200" spc="-5">
                <a:latin typeface="Arial"/>
                <a:cs typeface="Arial"/>
              </a:rPr>
              <a:t>the Qur'an or the  accepted basic principles of</a:t>
            </a:r>
            <a:r>
              <a:rPr dirty="0" sz="1200" spc="5">
                <a:latin typeface="Arial"/>
                <a:cs typeface="Arial"/>
              </a:rPr>
              <a:t> </a:t>
            </a:r>
            <a:r>
              <a:rPr dirty="0" sz="1200" spc="-5">
                <a:latin typeface="Arial"/>
                <a:cs typeface="Arial"/>
              </a:rPr>
              <a:t>Islam.</a:t>
            </a:r>
            <a:endParaRPr sz="1200">
              <a:latin typeface="Arial"/>
              <a:cs typeface="Arial"/>
            </a:endParaRPr>
          </a:p>
          <a:p>
            <a:pPr algn="just" marL="12700" marR="6350">
              <a:lnSpc>
                <a:spcPts val="1380"/>
              </a:lnSpc>
              <a:spcBef>
                <a:spcPts val="1000"/>
              </a:spcBef>
              <a:buAutoNum type="arabicPeriod"/>
              <a:tabLst>
                <a:tab pos="204470" algn="l"/>
              </a:tabLst>
            </a:pPr>
            <a:r>
              <a:rPr dirty="0" sz="1200" spc="-5">
                <a:latin typeface="Arial"/>
                <a:cs typeface="Arial"/>
              </a:rPr>
              <a:t>The Hadith should not be against the </a:t>
            </a:r>
            <a:r>
              <a:rPr dirty="0" sz="1200">
                <a:latin typeface="Arial"/>
                <a:cs typeface="Arial"/>
              </a:rPr>
              <a:t>dictates, </a:t>
            </a:r>
            <a:r>
              <a:rPr dirty="0" sz="1200" spc="-5">
                <a:latin typeface="Arial"/>
                <a:cs typeface="Arial"/>
              </a:rPr>
              <a:t>reasons or laws of nature and </a:t>
            </a:r>
            <a:r>
              <a:rPr dirty="0" sz="1200" spc="-10">
                <a:latin typeface="Arial"/>
                <a:cs typeface="Arial"/>
              </a:rPr>
              <a:t>common  </a:t>
            </a:r>
            <a:r>
              <a:rPr dirty="0" sz="1200" spc="-5">
                <a:latin typeface="Arial"/>
                <a:cs typeface="Arial"/>
              </a:rPr>
              <a:t>experience.</a:t>
            </a:r>
            <a:endParaRPr sz="1200">
              <a:latin typeface="Arial"/>
              <a:cs typeface="Arial"/>
            </a:endParaRPr>
          </a:p>
          <a:p>
            <a:pPr algn="just" marL="12700" marR="11430">
              <a:lnSpc>
                <a:spcPts val="1370"/>
              </a:lnSpc>
              <a:spcBef>
                <a:spcPts val="1015"/>
              </a:spcBef>
              <a:buAutoNum type="arabicPeriod"/>
              <a:tabLst>
                <a:tab pos="191135" algn="l"/>
              </a:tabLst>
            </a:pPr>
            <a:r>
              <a:rPr dirty="0" sz="1200">
                <a:latin typeface="Arial"/>
                <a:cs typeface="Arial"/>
              </a:rPr>
              <a:t>The </a:t>
            </a:r>
            <a:r>
              <a:rPr dirty="0" sz="1200" spc="-5">
                <a:latin typeface="Arial"/>
                <a:cs typeface="Arial"/>
              </a:rPr>
              <a:t>Hadith </a:t>
            </a:r>
            <a:r>
              <a:rPr dirty="0" sz="1200" spc="-10">
                <a:latin typeface="Arial"/>
                <a:cs typeface="Arial"/>
              </a:rPr>
              <a:t>should </a:t>
            </a:r>
            <a:r>
              <a:rPr dirty="0" sz="1200" spc="-5">
                <a:latin typeface="Arial"/>
                <a:cs typeface="Arial"/>
              </a:rPr>
              <a:t>not </a:t>
            </a:r>
            <a:r>
              <a:rPr dirty="0" sz="1200" spc="-10">
                <a:latin typeface="Arial"/>
                <a:cs typeface="Arial"/>
              </a:rPr>
              <a:t>be </a:t>
            </a:r>
            <a:r>
              <a:rPr dirty="0" sz="1200" spc="-5">
                <a:latin typeface="Arial"/>
                <a:cs typeface="Arial"/>
              </a:rPr>
              <a:t>contrary </a:t>
            </a:r>
            <a:r>
              <a:rPr dirty="0" sz="1200">
                <a:latin typeface="Arial"/>
                <a:cs typeface="Arial"/>
              </a:rPr>
              <a:t>to the traditions </a:t>
            </a:r>
            <a:r>
              <a:rPr dirty="0" sz="1200" spc="-5">
                <a:latin typeface="Arial"/>
                <a:cs typeface="Arial"/>
              </a:rPr>
              <a:t>which have already been accepted by  </a:t>
            </a:r>
            <a:r>
              <a:rPr dirty="0" sz="1200">
                <a:latin typeface="Arial"/>
                <a:cs typeface="Arial"/>
              </a:rPr>
              <a:t>the </a:t>
            </a:r>
            <a:r>
              <a:rPr dirty="0" sz="1200" spc="-5">
                <a:latin typeface="Arial"/>
                <a:cs typeface="Arial"/>
              </a:rPr>
              <a:t>authorities </a:t>
            </a:r>
            <a:r>
              <a:rPr dirty="0" sz="1200">
                <a:latin typeface="Arial"/>
                <a:cs typeface="Arial"/>
              </a:rPr>
              <a:t>as </a:t>
            </a:r>
            <a:r>
              <a:rPr dirty="0" sz="1200" spc="-5">
                <a:latin typeface="Arial"/>
                <a:cs typeface="Arial"/>
              </a:rPr>
              <a:t>reliable and</a:t>
            </a:r>
            <a:r>
              <a:rPr dirty="0" sz="1200" spc="-15">
                <a:latin typeface="Arial"/>
                <a:cs typeface="Arial"/>
              </a:rPr>
              <a:t> </a:t>
            </a:r>
            <a:r>
              <a:rPr dirty="0" sz="1200" spc="-5">
                <a:latin typeface="Arial"/>
                <a:cs typeface="Arial"/>
              </a:rPr>
              <a:t>authentic.</a:t>
            </a:r>
            <a:endParaRPr sz="1200">
              <a:latin typeface="Arial"/>
              <a:cs typeface="Arial"/>
            </a:endParaRPr>
          </a:p>
          <a:p>
            <a:pPr algn="just" marL="182880" indent="-170815">
              <a:lnSpc>
                <a:spcPct val="100000"/>
              </a:lnSpc>
              <a:spcBef>
                <a:spcPts val="910"/>
              </a:spcBef>
              <a:buAutoNum type="arabicPeriod"/>
              <a:tabLst>
                <a:tab pos="183515" algn="l"/>
              </a:tabLst>
            </a:pPr>
            <a:r>
              <a:rPr dirty="0" sz="1200">
                <a:latin typeface="Arial"/>
                <a:cs typeface="Arial"/>
              </a:rPr>
              <a:t>A </a:t>
            </a:r>
            <a:r>
              <a:rPr dirty="0" sz="1200" spc="-5">
                <a:latin typeface="Arial"/>
                <a:cs typeface="Arial"/>
              </a:rPr>
              <a:t>Hadith that contains the dates and minute details of </a:t>
            </a:r>
            <a:r>
              <a:rPr dirty="0" sz="1200">
                <a:latin typeface="Arial"/>
                <a:cs typeface="Arial"/>
              </a:rPr>
              <a:t>future </a:t>
            </a:r>
            <a:r>
              <a:rPr dirty="0" sz="1200" spc="-5">
                <a:latin typeface="Arial"/>
                <a:cs typeface="Arial"/>
              </a:rPr>
              <a:t>events should </a:t>
            </a:r>
            <a:r>
              <a:rPr dirty="0" sz="1200" spc="-10">
                <a:latin typeface="Arial"/>
                <a:cs typeface="Arial"/>
              </a:rPr>
              <a:t>be</a:t>
            </a:r>
            <a:r>
              <a:rPr dirty="0" sz="1200" spc="125">
                <a:latin typeface="Arial"/>
                <a:cs typeface="Arial"/>
              </a:rPr>
              <a:t> </a:t>
            </a:r>
            <a:r>
              <a:rPr dirty="0" sz="1200" spc="-5">
                <a:latin typeface="Arial"/>
                <a:cs typeface="Arial"/>
              </a:rPr>
              <a:t>rejected.</a:t>
            </a:r>
            <a:endParaRPr sz="1200">
              <a:latin typeface="Arial"/>
              <a:cs typeface="Arial"/>
            </a:endParaRPr>
          </a:p>
          <a:p>
            <a:pPr algn="just" marL="12700" marR="10795">
              <a:lnSpc>
                <a:spcPct val="95900"/>
              </a:lnSpc>
              <a:spcBef>
                <a:spcPts val="994"/>
              </a:spcBef>
              <a:buAutoNum type="arabicPeriod"/>
              <a:tabLst>
                <a:tab pos="184785" algn="l"/>
              </a:tabLst>
            </a:pPr>
            <a:r>
              <a:rPr dirty="0" sz="1200">
                <a:latin typeface="Arial"/>
                <a:cs typeface="Arial"/>
              </a:rPr>
              <a:t>A Hadith </a:t>
            </a:r>
            <a:r>
              <a:rPr dirty="0" sz="1200" spc="-5">
                <a:latin typeface="Arial"/>
                <a:cs typeface="Arial"/>
              </a:rPr>
              <a:t>that contains </a:t>
            </a:r>
            <a:r>
              <a:rPr dirty="0" sz="1200">
                <a:latin typeface="Arial"/>
                <a:cs typeface="Arial"/>
              </a:rPr>
              <a:t>some </a:t>
            </a:r>
            <a:r>
              <a:rPr dirty="0" sz="1200" spc="-5">
                <a:latin typeface="Arial"/>
                <a:cs typeface="Arial"/>
              </a:rPr>
              <a:t>remarks of the Prophet </a:t>
            </a:r>
            <a:r>
              <a:rPr dirty="0" sz="1200">
                <a:latin typeface="Arial"/>
                <a:cs typeface="Arial"/>
              </a:rPr>
              <a:t>(S.A.W) </a:t>
            </a:r>
            <a:r>
              <a:rPr dirty="0" sz="1200" spc="-5">
                <a:latin typeface="Arial"/>
                <a:cs typeface="Arial"/>
              </a:rPr>
              <a:t>which are not in keeping with  </a:t>
            </a:r>
            <a:r>
              <a:rPr dirty="0" sz="1200">
                <a:latin typeface="Arial"/>
                <a:cs typeface="Arial"/>
              </a:rPr>
              <a:t>the Islamic </a:t>
            </a:r>
            <a:r>
              <a:rPr dirty="0" sz="1200" spc="-5">
                <a:latin typeface="Arial"/>
                <a:cs typeface="Arial"/>
              </a:rPr>
              <a:t>belief of Prophethood or the position of the Prophet (S.A.W.), should also </a:t>
            </a:r>
            <a:r>
              <a:rPr dirty="0" sz="1200" spc="-10">
                <a:latin typeface="Arial"/>
                <a:cs typeface="Arial"/>
              </a:rPr>
              <a:t>be  </a:t>
            </a:r>
            <a:r>
              <a:rPr dirty="0" sz="1200">
                <a:latin typeface="Arial"/>
                <a:cs typeface="Arial"/>
              </a:rPr>
              <a:t>rejected.</a:t>
            </a:r>
            <a:endParaRPr sz="1200">
              <a:latin typeface="Arial"/>
              <a:cs typeface="Arial"/>
            </a:endParaRPr>
          </a:p>
          <a:p>
            <a:pPr algn="just" marL="12700" marR="6350">
              <a:lnSpc>
                <a:spcPct val="95700"/>
              </a:lnSpc>
              <a:spcBef>
                <a:spcPts val="1010"/>
              </a:spcBef>
            </a:pPr>
            <a:r>
              <a:rPr dirty="0" sz="1200" spc="-5">
                <a:latin typeface="Arial"/>
                <a:cs typeface="Arial"/>
              </a:rPr>
              <a:t>According </a:t>
            </a:r>
            <a:r>
              <a:rPr dirty="0" sz="1200">
                <a:latin typeface="Arial"/>
                <a:cs typeface="Arial"/>
              </a:rPr>
              <a:t>to </a:t>
            </a:r>
            <a:r>
              <a:rPr dirty="0" sz="1200" spc="-5">
                <a:latin typeface="Arial"/>
                <a:cs typeface="Arial"/>
              </a:rPr>
              <a:t>the overwhelming </a:t>
            </a:r>
            <a:r>
              <a:rPr dirty="0" sz="1200">
                <a:latin typeface="Arial"/>
                <a:cs typeface="Arial"/>
              </a:rPr>
              <a:t>majority </a:t>
            </a:r>
            <a:r>
              <a:rPr dirty="0" sz="1200" spc="-5">
                <a:latin typeface="Arial"/>
                <a:cs typeface="Arial"/>
              </a:rPr>
              <a:t>of </a:t>
            </a:r>
            <a:r>
              <a:rPr dirty="0" sz="1200">
                <a:latin typeface="Arial"/>
                <a:cs typeface="Arial"/>
              </a:rPr>
              <a:t>the </a:t>
            </a:r>
            <a:r>
              <a:rPr dirty="0" sz="1200" spc="-5">
                <a:latin typeface="Arial"/>
                <a:cs typeface="Arial"/>
              </a:rPr>
              <a:t>traditionists, the </a:t>
            </a:r>
            <a:r>
              <a:rPr dirty="0" sz="1200" spc="-10">
                <a:latin typeface="Arial"/>
                <a:cs typeface="Arial"/>
              </a:rPr>
              <a:t>rank </a:t>
            </a:r>
            <a:r>
              <a:rPr dirty="0" sz="1200" spc="-5">
                <a:latin typeface="Arial"/>
                <a:cs typeface="Arial"/>
              </a:rPr>
              <a:t>of the six canonical  works are as follows., (1) Sahih Bukhari (2) Sahih Muslim (3) Sunan Abu Dawud (4) Sunan  </a:t>
            </a:r>
            <a:r>
              <a:rPr dirty="0" sz="1200">
                <a:latin typeface="Arial"/>
                <a:cs typeface="Arial"/>
              </a:rPr>
              <a:t>Nasai </a:t>
            </a:r>
            <a:r>
              <a:rPr dirty="0" sz="1200" spc="-5">
                <a:latin typeface="Arial"/>
                <a:cs typeface="Arial"/>
              </a:rPr>
              <a:t>(5) </a:t>
            </a:r>
            <a:r>
              <a:rPr dirty="0" sz="1200">
                <a:latin typeface="Arial"/>
                <a:cs typeface="Arial"/>
              </a:rPr>
              <a:t>Jami' </a:t>
            </a:r>
            <a:r>
              <a:rPr dirty="0" sz="1200" spc="-5">
                <a:latin typeface="Arial"/>
                <a:cs typeface="Arial"/>
              </a:rPr>
              <a:t>Tirmidhi (6) Sunan Ibn Maja. The relative </a:t>
            </a:r>
            <a:r>
              <a:rPr dirty="0" sz="1200">
                <a:latin typeface="Arial"/>
                <a:cs typeface="Arial"/>
              </a:rPr>
              <a:t>status </a:t>
            </a:r>
            <a:r>
              <a:rPr dirty="0" sz="1200" spc="-5">
                <a:latin typeface="Arial"/>
                <a:cs typeface="Arial"/>
              </a:rPr>
              <a:t>of the canonical works on  </a:t>
            </a:r>
            <a:r>
              <a:rPr dirty="0" sz="1200">
                <a:latin typeface="Arial"/>
                <a:cs typeface="Arial"/>
              </a:rPr>
              <a:t>Hadith </a:t>
            </a:r>
            <a:r>
              <a:rPr dirty="0" sz="1200" spc="-5">
                <a:latin typeface="Arial"/>
                <a:cs typeface="Arial"/>
              </a:rPr>
              <a:t>are determined by </a:t>
            </a:r>
            <a:r>
              <a:rPr dirty="0" sz="1200">
                <a:latin typeface="Arial"/>
                <a:cs typeface="Arial"/>
              </a:rPr>
              <a:t>the </a:t>
            </a:r>
            <a:r>
              <a:rPr dirty="0" sz="1200" spc="-5">
                <a:latin typeface="Arial"/>
                <a:cs typeface="Arial"/>
              </a:rPr>
              <a:t>conditions laid down by each traditionist in his method of  compiling Ahadith. There is unanimity among </a:t>
            </a:r>
            <a:r>
              <a:rPr dirty="0" sz="1200">
                <a:latin typeface="Arial"/>
                <a:cs typeface="Arial"/>
              </a:rPr>
              <a:t>the </a:t>
            </a:r>
            <a:r>
              <a:rPr dirty="0" sz="1200" spc="-5">
                <a:latin typeface="Arial"/>
                <a:cs typeface="Arial"/>
              </a:rPr>
              <a:t>traditionists that every reporter </a:t>
            </a:r>
            <a:r>
              <a:rPr dirty="0" sz="1200">
                <a:latin typeface="Arial"/>
                <a:cs typeface="Arial"/>
              </a:rPr>
              <a:t>must </a:t>
            </a:r>
            <a:r>
              <a:rPr dirty="0" sz="1200" spc="-10">
                <a:latin typeface="Arial"/>
                <a:cs typeface="Arial"/>
              </a:rPr>
              <a:t>be </a:t>
            </a:r>
            <a:r>
              <a:rPr dirty="0" sz="1200" spc="-5">
                <a:latin typeface="Arial"/>
                <a:cs typeface="Arial"/>
              </a:rPr>
              <a:t>a  Muslim, sane and a just person. Together with the above qualities a </a:t>
            </a:r>
            <a:r>
              <a:rPr dirty="0" sz="1200">
                <a:latin typeface="Arial"/>
                <a:cs typeface="Arial"/>
              </a:rPr>
              <a:t>reporter must </a:t>
            </a:r>
            <a:r>
              <a:rPr dirty="0" sz="1200" spc="-5">
                <a:latin typeface="Arial"/>
                <a:cs typeface="Arial"/>
              </a:rPr>
              <a:t>not be one  </a:t>
            </a:r>
            <a:r>
              <a:rPr dirty="0" sz="1200" spc="-10">
                <a:latin typeface="Arial"/>
                <a:cs typeface="Arial"/>
              </a:rPr>
              <a:t>who </a:t>
            </a:r>
            <a:r>
              <a:rPr dirty="0" sz="1200">
                <a:latin typeface="Arial"/>
                <a:cs typeface="Arial"/>
              </a:rPr>
              <a:t>commits major </a:t>
            </a:r>
            <a:r>
              <a:rPr dirty="0" sz="1200" spc="-5">
                <a:latin typeface="Arial"/>
                <a:cs typeface="Arial"/>
              </a:rPr>
              <a:t>sins nor should he be persistent on minor sins. Subsequently, </a:t>
            </a:r>
            <a:r>
              <a:rPr dirty="0" sz="1200">
                <a:latin typeface="Arial"/>
                <a:cs typeface="Arial"/>
              </a:rPr>
              <a:t>there </a:t>
            </a:r>
            <a:r>
              <a:rPr dirty="0" sz="1200" spc="-10">
                <a:latin typeface="Arial"/>
                <a:cs typeface="Arial"/>
              </a:rPr>
              <a:t>is </a:t>
            </a:r>
            <a:r>
              <a:rPr dirty="0" sz="1200" spc="-5">
                <a:latin typeface="Arial"/>
                <a:cs typeface="Arial"/>
              </a:rPr>
              <a:t>a  difference of opinion among the traditionists as to what the conditions </a:t>
            </a:r>
            <a:r>
              <a:rPr dirty="0" sz="1200" spc="-10">
                <a:latin typeface="Arial"/>
                <a:cs typeface="Arial"/>
              </a:rPr>
              <a:t>will </a:t>
            </a:r>
            <a:r>
              <a:rPr dirty="0" sz="1200" spc="-5">
                <a:latin typeface="Arial"/>
                <a:cs typeface="Arial"/>
              </a:rPr>
              <a:t>be </a:t>
            </a:r>
            <a:r>
              <a:rPr dirty="0" sz="1200">
                <a:latin typeface="Arial"/>
                <a:cs typeface="Arial"/>
              </a:rPr>
              <a:t>to </a:t>
            </a:r>
            <a:r>
              <a:rPr dirty="0" sz="1200" spc="-5">
                <a:latin typeface="Arial"/>
                <a:cs typeface="Arial"/>
              </a:rPr>
              <a:t>accept a  </a:t>
            </a:r>
            <a:r>
              <a:rPr dirty="0" sz="1200">
                <a:latin typeface="Arial"/>
                <a:cs typeface="Arial"/>
              </a:rPr>
              <a:t>Hadith.</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130</a:t>
            </a:r>
            <a:endParaRPr sz="1200">
              <a:latin typeface="Times New Roman"/>
              <a:cs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1728470" cy="208279"/>
          </a:xfrm>
          <a:prstGeom prst="rect">
            <a:avLst/>
          </a:prstGeom>
        </p:spPr>
        <p:txBody>
          <a:bodyPr wrap="square" lIns="0" tIns="12700" rIns="0" bIns="0" rtlCol="0" vert="horz">
            <a:spAutoFit/>
          </a:bodyPr>
          <a:lstStyle/>
          <a:p>
            <a:pPr marL="12700">
              <a:lnSpc>
                <a:spcPct val="100000"/>
              </a:lnSpc>
              <a:spcBef>
                <a:spcPts val="100"/>
              </a:spcBef>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35" b="1" i="1">
                <a:uFill>
                  <a:solidFill>
                    <a:srgbClr val="000000"/>
                  </a:solidFill>
                </a:uFill>
                <a:latin typeface="Arial"/>
                <a:cs typeface="Arial"/>
              </a:rPr>
              <a:t> </a:t>
            </a:r>
            <a:r>
              <a:rPr dirty="0" u="heavy" sz="1200" spc="-5" b="1" i="1">
                <a:uFill>
                  <a:solidFill>
                    <a:srgbClr val="000000"/>
                  </a:solidFill>
                </a:uFill>
                <a:latin typeface="Arial"/>
                <a:cs typeface="Arial"/>
              </a:rPr>
              <a:t>Questions</a:t>
            </a:r>
            <a:endParaRPr sz="12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8" name="object 8"/>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131</a:t>
            </a:r>
            <a:endParaRPr sz="1200">
              <a:latin typeface="Times New Roman"/>
              <a:cs typeface="Times New Roman"/>
            </a:endParaRPr>
          </a:p>
        </p:txBody>
      </p:sp>
      <p:sp>
        <p:nvSpPr>
          <p:cNvPr id="6" name="object 6"/>
          <p:cNvSpPr txBox="1"/>
          <p:nvPr/>
        </p:nvSpPr>
        <p:spPr>
          <a:xfrm>
            <a:off x="718819" y="1150366"/>
            <a:ext cx="6309360" cy="4415155"/>
          </a:xfrm>
          <a:prstGeom prst="rect">
            <a:avLst/>
          </a:prstGeom>
        </p:spPr>
        <p:txBody>
          <a:bodyPr wrap="square" lIns="0" tIns="12700" rIns="0" bIns="0" rtlCol="0" vert="horz">
            <a:spAutoFit/>
          </a:bodyPr>
          <a:lstStyle/>
          <a:p>
            <a:pPr algn="ctr">
              <a:lnSpc>
                <a:spcPct val="100000"/>
              </a:lnSpc>
              <a:spcBef>
                <a:spcPts val="100"/>
              </a:spcBef>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35"/>
              </a:spcBef>
            </a:pPr>
            <a:endParaRPr sz="1200">
              <a:latin typeface="Arial"/>
              <a:cs typeface="Arial"/>
            </a:endParaRPr>
          </a:p>
          <a:p>
            <a:pPr marL="12700" marR="7620">
              <a:lnSpc>
                <a:spcPts val="1380"/>
              </a:lnSpc>
            </a:pPr>
            <a:r>
              <a:rPr dirty="0" sz="1200" spc="-5" b="1">
                <a:latin typeface="Arial"/>
                <a:cs typeface="Arial"/>
              </a:rPr>
              <a:t>5 (a) </a:t>
            </a:r>
            <a:r>
              <a:rPr dirty="0" sz="1200">
                <a:latin typeface="Arial"/>
                <a:cs typeface="Arial"/>
              </a:rPr>
              <a:t>Outline </a:t>
            </a:r>
            <a:r>
              <a:rPr dirty="0" sz="1200" spc="-5" b="1">
                <a:latin typeface="Arial"/>
                <a:cs typeface="Arial"/>
              </a:rPr>
              <a:t>three </a:t>
            </a:r>
            <a:r>
              <a:rPr dirty="0" sz="1200" spc="-5">
                <a:latin typeface="Arial"/>
                <a:cs typeface="Arial"/>
              </a:rPr>
              <a:t>methods which the collectors of the Hadiths employed </a:t>
            </a:r>
            <a:r>
              <a:rPr dirty="0" sz="1200">
                <a:latin typeface="Arial"/>
                <a:cs typeface="Arial"/>
              </a:rPr>
              <a:t>to </a:t>
            </a:r>
            <a:r>
              <a:rPr dirty="0" sz="1200" spc="-5">
                <a:latin typeface="Arial"/>
                <a:cs typeface="Arial"/>
              </a:rPr>
              <a:t>ensure that </a:t>
            </a:r>
            <a:r>
              <a:rPr dirty="0" sz="1200" spc="-10">
                <a:latin typeface="Arial"/>
                <a:cs typeface="Arial"/>
              </a:rPr>
              <a:t>the  </a:t>
            </a:r>
            <a:r>
              <a:rPr dirty="0" sz="1200" spc="-5">
                <a:latin typeface="Arial"/>
                <a:cs typeface="Arial"/>
              </a:rPr>
              <a:t>sayings </a:t>
            </a:r>
            <a:r>
              <a:rPr dirty="0" sz="1200">
                <a:latin typeface="Arial"/>
                <a:cs typeface="Arial"/>
              </a:rPr>
              <a:t>they compiled </a:t>
            </a:r>
            <a:r>
              <a:rPr dirty="0" sz="1200" spc="-5">
                <a:latin typeface="Arial"/>
                <a:cs typeface="Arial"/>
              </a:rPr>
              <a:t>had come from the Prophet himself.</a:t>
            </a:r>
            <a:r>
              <a:rPr dirty="0" sz="1200" spc="-20">
                <a:latin typeface="Arial"/>
                <a:cs typeface="Arial"/>
              </a:rPr>
              <a:t> </a:t>
            </a:r>
            <a:r>
              <a:rPr dirty="0" sz="1200" spc="-5">
                <a:latin typeface="Arial"/>
                <a:cs typeface="Arial"/>
              </a:rPr>
              <a:t>[12]</a:t>
            </a:r>
            <a:endParaRPr sz="1200">
              <a:latin typeface="Arial"/>
              <a:cs typeface="Arial"/>
            </a:endParaRPr>
          </a:p>
          <a:p>
            <a:pPr marL="12700" marR="5080" indent="128270">
              <a:lnSpc>
                <a:spcPts val="1380"/>
              </a:lnSpc>
            </a:pPr>
            <a:r>
              <a:rPr dirty="0" sz="1200" spc="-5" b="1">
                <a:latin typeface="Arial"/>
                <a:cs typeface="Arial"/>
              </a:rPr>
              <a:t>(b) </a:t>
            </a:r>
            <a:r>
              <a:rPr dirty="0" sz="1200" spc="5">
                <a:latin typeface="Arial"/>
                <a:cs typeface="Arial"/>
              </a:rPr>
              <a:t>What </a:t>
            </a:r>
            <a:r>
              <a:rPr dirty="0" sz="1200">
                <a:latin typeface="Arial"/>
                <a:cs typeface="Arial"/>
              </a:rPr>
              <a:t>major </a:t>
            </a:r>
            <a:r>
              <a:rPr dirty="0" sz="1200" spc="-5">
                <a:latin typeface="Arial"/>
                <a:cs typeface="Arial"/>
              </a:rPr>
              <a:t>common </a:t>
            </a:r>
            <a:r>
              <a:rPr dirty="0" sz="1200">
                <a:latin typeface="Arial"/>
                <a:cs typeface="Arial"/>
              </a:rPr>
              <a:t>features </a:t>
            </a:r>
            <a:r>
              <a:rPr dirty="0" sz="1200" spc="-5">
                <a:latin typeface="Arial"/>
                <a:cs typeface="Arial"/>
              </a:rPr>
              <a:t>are shared by </a:t>
            </a:r>
            <a:r>
              <a:rPr dirty="0" sz="1200">
                <a:latin typeface="Arial"/>
                <a:cs typeface="Arial"/>
              </a:rPr>
              <a:t>the </a:t>
            </a:r>
            <a:r>
              <a:rPr dirty="0" sz="1200" spc="-5">
                <a:latin typeface="Arial"/>
                <a:cs typeface="Arial"/>
              </a:rPr>
              <a:t>Six Canonical </a:t>
            </a:r>
            <a:r>
              <a:rPr dirty="0" sz="1200">
                <a:latin typeface="Arial"/>
                <a:cs typeface="Arial"/>
              </a:rPr>
              <a:t>Collections that </a:t>
            </a:r>
            <a:r>
              <a:rPr dirty="0" sz="1200" spc="-5">
                <a:latin typeface="Arial"/>
                <a:cs typeface="Arial"/>
              </a:rPr>
              <a:t>make  them different from earlier collections? </a:t>
            </a:r>
            <a:r>
              <a:rPr dirty="0" sz="1200" spc="5">
                <a:latin typeface="Arial"/>
                <a:cs typeface="Arial"/>
              </a:rPr>
              <a:t>[8]</a:t>
            </a:r>
            <a:r>
              <a:rPr dirty="0" sz="1200" spc="10">
                <a:latin typeface="Arial"/>
                <a:cs typeface="Arial"/>
              </a:rPr>
              <a:t> </a:t>
            </a:r>
            <a:r>
              <a:rPr dirty="0" sz="1200" spc="-5" b="1">
                <a:latin typeface="Arial"/>
                <a:cs typeface="Arial"/>
              </a:rPr>
              <a:t>(2003)</a:t>
            </a:r>
            <a:endParaRPr sz="1200">
              <a:latin typeface="Arial"/>
              <a:cs typeface="Arial"/>
            </a:endParaRPr>
          </a:p>
          <a:p>
            <a:pPr>
              <a:lnSpc>
                <a:spcPct val="100000"/>
              </a:lnSpc>
            </a:pPr>
            <a:endParaRPr sz="1200">
              <a:latin typeface="Arial"/>
              <a:cs typeface="Arial"/>
            </a:endParaRPr>
          </a:p>
          <a:p>
            <a:pPr marL="12700" marR="10160">
              <a:lnSpc>
                <a:spcPts val="1380"/>
              </a:lnSpc>
              <a:buFont typeface="Arial"/>
              <a:buAutoNum type="arabicPlain" startAt="4"/>
              <a:tabLst>
                <a:tab pos="168910" algn="l"/>
              </a:tabLst>
            </a:pPr>
            <a:r>
              <a:rPr dirty="0" sz="1200">
                <a:latin typeface="Arial"/>
                <a:cs typeface="Arial"/>
              </a:rPr>
              <a:t>Outline </a:t>
            </a:r>
            <a:r>
              <a:rPr dirty="0" sz="1200" spc="-5">
                <a:latin typeface="Arial"/>
                <a:cs typeface="Arial"/>
              </a:rPr>
              <a:t>the </a:t>
            </a:r>
            <a:r>
              <a:rPr dirty="0" sz="1200">
                <a:latin typeface="Arial"/>
                <a:cs typeface="Arial"/>
              </a:rPr>
              <a:t>main </a:t>
            </a:r>
            <a:r>
              <a:rPr dirty="0" sz="1200" spc="-5">
                <a:latin typeface="Arial"/>
                <a:cs typeface="Arial"/>
              </a:rPr>
              <a:t>stages </a:t>
            </a:r>
            <a:r>
              <a:rPr dirty="0" sz="1200">
                <a:latin typeface="Arial"/>
                <a:cs typeface="Arial"/>
              </a:rPr>
              <a:t>that </a:t>
            </a:r>
            <a:r>
              <a:rPr dirty="0" sz="1200" spc="-5">
                <a:latin typeface="Arial"/>
                <a:cs typeface="Arial"/>
              </a:rPr>
              <a:t>led </a:t>
            </a:r>
            <a:r>
              <a:rPr dirty="0" sz="1200">
                <a:latin typeface="Arial"/>
                <a:cs typeface="Arial"/>
              </a:rPr>
              <a:t>to </a:t>
            </a:r>
            <a:r>
              <a:rPr dirty="0" sz="1200" spc="-5">
                <a:latin typeface="Arial"/>
                <a:cs typeface="Arial"/>
              </a:rPr>
              <a:t>the compilation of the Sunnah in </a:t>
            </a:r>
            <a:r>
              <a:rPr dirty="0" sz="1200">
                <a:latin typeface="Arial"/>
                <a:cs typeface="Arial"/>
              </a:rPr>
              <a:t>the </a:t>
            </a:r>
            <a:r>
              <a:rPr dirty="0" sz="1200" spc="-5">
                <a:latin typeface="Arial"/>
                <a:cs typeface="Arial"/>
              </a:rPr>
              <a:t>six canonical  collections. [20]</a:t>
            </a:r>
            <a:r>
              <a:rPr dirty="0" sz="1200">
                <a:latin typeface="Arial"/>
                <a:cs typeface="Arial"/>
              </a:rPr>
              <a:t> </a:t>
            </a:r>
            <a:r>
              <a:rPr dirty="0" sz="1200" spc="-5" b="1">
                <a:latin typeface="Arial"/>
                <a:cs typeface="Arial"/>
              </a:rPr>
              <a:t>(2005)</a:t>
            </a:r>
            <a:endParaRPr sz="1200">
              <a:latin typeface="Arial"/>
              <a:cs typeface="Arial"/>
            </a:endParaRPr>
          </a:p>
          <a:p>
            <a:pPr>
              <a:lnSpc>
                <a:spcPct val="100000"/>
              </a:lnSpc>
              <a:buFont typeface="Arial"/>
              <a:buAutoNum type="arabicPlain" startAt="4"/>
            </a:pPr>
            <a:endParaRPr sz="1200">
              <a:latin typeface="Arial"/>
              <a:cs typeface="Arial"/>
            </a:endParaRPr>
          </a:p>
          <a:p>
            <a:pPr marL="12700" marR="6350">
              <a:lnSpc>
                <a:spcPts val="1380"/>
              </a:lnSpc>
              <a:buAutoNum type="arabicPlain" startAt="4"/>
              <a:tabLst>
                <a:tab pos="168275" algn="l"/>
              </a:tabLst>
            </a:pPr>
            <a:r>
              <a:rPr dirty="0" sz="1200" spc="-5" b="1">
                <a:latin typeface="Arial"/>
                <a:cs typeface="Arial"/>
              </a:rPr>
              <a:t>(a) </a:t>
            </a:r>
            <a:r>
              <a:rPr dirty="0" sz="1200" spc="5">
                <a:latin typeface="Arial"/>
                <a:cs typeface="Arial"/>
              </a:rPr>
              <a:t>What </a:t>
            </a:r>
            <a:r>
              <a:rPr dirty="0" sz="1200" spc="-5">
                <a:latin typeface="Arial"/>
                <a:cs typeface="Arial"/>
              </a:rPr>
              <a:t>specific methods were used </a:t>
            </a:r>
            <a:r>
              <a:rPr dirty="0" sz="1200">
                <a:latin typeface="Arial"/>
                <a:cs typeface="Arial"/>
              </a:rPr>
              <a:t>to </a:t>
            </a:r>
            <a:r>
              <a:rPr dirty="0" sz="1200" spc="-5">
                <a:latin typeface="Arial"/>
                <a:cs typeface="Arial"/>
              </a:rPr>
              <a:t>ensure that the </a:t>
            </a:r>
            <a:r>
              <a:rPr dirty="0" sz="1200" spc="10">
                <a:latin typeface="Arial"/>
                <a:cs typeface="Arial"/>
              </a:rPr>
              <a:t>six </a:t>
            </a:r>
            <a:r>
              <a:rPr dirty="0" sz="1200" spc="-5">
                <a:latin typeface="Arial"/>
                <a:cs typeface="Arial"/>
              </a:rPr>
              <a:t>authoritative collections of  </a:t>
            </a:r>
            <a:r>
              <a:rPr dirty="0" sz="1200">
                <a:latin typeface="Arial"/>
                <a:cs typeface="Arial"/>
              </a:rPr>
              <a:t>Hadith </a:t>
            </a:r>
            <a:r>
              <a:rPr dirty="0" sz="1200" spc="-5">
                <a:latin typeface="Arial"/>
                <a:cs typeface="Arial"/>
              </a:rPr>
              <a:t>contained </a:t>
            </a:r>
            <a:r>
              <a:rPr dirty="0" sz="1200">
                <a:latin typeface="Arial"/>
                <a:cs typeface="Arial"/>
              </a:rPr>
              <a:t>only </a:t>
            </a:r>
            <a:r>
              <a:rPr dirty="0" sz="1200" spc="-5">
                <a:latin typeface="Arial"/>
                <a:cs typeface="Arial"/>
              </a:rPr>
              <a:t>authentic sayings </a:t>
            </a:r>
            <a:r>
              <a:rPr dirty="0" sz="1200">
                <a:latin typeface="Arial"/>
                <a:cs typeface="Arial"/>
              </a:rPr>
              <a:t>of </a:t>
            </a:r>
            <a:r>
              <a:rPr dirty="0" sz="1200" spc="-10">
                <a:latin typeface="Arial"/>
                <a:cs typeface="Arial"/>
              </a:rPr>
              <a:t>the </a:t>
            </a:r>
            <a:r>
              <a:rPr dirty="0" sz="1200" spc="-5">
                <a:latin typeface="Arial"/>
                <a:cs typeface="Arial"/>
              </a:rPr>
              <a:t>Prophet?</a:t>
            </a:r>
            <a:r>
              <a:rPr dirty="0" sz="1200" spc="35">
                <a:latin typeface="Arial"/>
                <a:cs typeface="Arial"/>
              </a:rPr>
              <a:t> </a:t>
            </a:r>
            <a:r>
              <a:rPr dirty="0" sz="1200" spc="-5">
                <a:latin typeface="Arial"/>
                <a:cs typeface="Arial"/>
              </a:rPr>
              <a:t>[12]</a:t>
            </a:r>
            <a:endParaRPr sz="1200">
              <a:latin typeface="Arial"/>
              <a:cs typeface="Arial"/>
            </a:endParaRPr>
          </a:p>
          <a:p>
            <a:pPr marL="140970">
              <a:lnSpc>
                <a:spcPts val="1345"/>
              </a:lnSpc>
            </a:pPr>
            <a:r>
              <a:rPr dirty="0" sz="1200" spc="-5" b="1">
                <a:latin typeface="Arial"/>
                <a:cs typeface="Arial"/>
              </a:rPr>
              <a:t>(b) </a:t>
            </a:r>
            <a:r>
              <a:rPr dirty="0" sz="1200" spc="-5">
                <a:latin typeface="Arial"/>
                <a:cs typeface="Arial"/>
              </a:rPr>
              <a:t>Give </a:t>
            </a:r>
            <a:r>
              <a:rPr dirty="0" sz="1200" b="1">
                <a:latin typeface="Arial"/>
                <a:cs typeface="Arial"/>
              </a:rPr>
              <a:t>two </a:t>
            </a:r>
            <a:r>
              <a:rPr dirty="0" sz="1200" spc="-5">
                <a:latin typeface="Arial"/>
                <a:cs typeface="Arial"/>
              </a:rPr>
              <a:t>examples of how the Hadith </a:t>
            </a:r>
            <a:r>
              <a:rPr dirty="0" sz="1200" spc="-10">
                <a:latin typeface="Arial"/>
                <a:cs typeface="Arial"/>
              </a:rPr>
              <a:t>have </a:t>
            </a:r>
            <a:r>
              <a:rPr dirty="0" sz="1200">
                <a:latin typeface="Arial"/>
                <a:cs typeface="Arial"/>
              </a:rPr>
              <a:t>been </a:t>
            </a:r>
            <a:r>
              <a:rPr dirty="0" sz="1200" spc="-5">
                <a:latin typeface="Arial"/>
                <a:cs typeface="Arial"/>
              </a:rPr>
              <a:t>employed in Muslim </a:t>
            </a:r>
            <a:r>
              <a:rPr dirty="0" sz="1200">
                <a:latin typeface="Arial"/>
                <a:cs typeface="Arial"/>
              </a:rPr>
              <a:t>life. </a:t>
            </a:r>
            <a:r>
              <a:rPr dirty="0" sz="1200" spc="-5">
                <a:latin typeface="Arial"/>
                <a:cs typeface="Arial"/>
              </a:rPr>
              <a:t>[8]</a:t>
            </a:r>
            <a:r>
              <a:rPr dirty="0" sz="1200" spc="105">
                <a:latin typeface="Arial"/>
                <a:cs typeface="Arial"/>
              </a:rPr>
              <a:t> </a:t>
            </a:r>
            <a:r>
              <a:rPr dirty="0" sz="1200" spc="-5" b="1">
                <a:latin typeface="Arial"/>
                <a:cs typeface="Arial"/>
              </a:rPr>
              <a:t>(2006)</a:t>
            </a:r>
            <a:endParaRPr sz="1200">
              <a:latin typeface="Arial"/>
              <a:cs typeface="Arial"/>
            </a:endParaRPr>
          </a:p>
          <a:p>
            <a:pPr>
              <a:lnSpc>
                <a:spcPct val="100000"/>
              </a:lnSpc>
              <a:spcBef>
                <a:spcPts val="35"/>
              </a:spcBef>
            </a:pPr>
            <a:endParaRPr sz="1200">
              <a:latin typeface="Arial"/>
              <a:cs typeface="Arial"/>
            </a:endParaRPr>
          </a:p>
          <a:p>
            <a:pPr marL="12700" marR="5715">
              <a:lnSpc>
                <a:spcPts val="1380"/>
              </a:lnSpc>
              <a:buFont typeface="Arial"/>
              <a:buAutoNum type="arabicPlain" startAt="6"/>
              <a:tabLst>
                <a:tab pos="167005" algn="l"/>
              </a:tabLst>
            </a:pPr>
            <a:r>
              <a:rPr dirty="0" sz="1200" spc="-5">
                <a:latin typeface="Arial"/>
                <a:cs typeface="Arial"/>
              </a:rPr>
              <a:t>Identify and explain </a:t>
            </a:r>
            <a:r>
              <a:rPr dirty="0" sz="1200">
                <a:latin typeface="Arial"/>
                <a:cs typeface="Arial"/>
              </a:rPr>
              <a:t>the four </a:t>
            </a:r>
            <a:r>
              <a:rPr dirty="0" sz="1200" spc="-5">
                <a:latin typeface="Arial"/>
                <a:cs typeface="Arial"/>
              </a:rPr>
              <a:t>main methods which </a:t>
            </a:r>
            <a:r>
              <a:rPr dirty="0" sz="1200">
                <a:latin typeface="Arial"/>
                <a:cs typeface="Arial"/>
              </a:rPr>
              <a:t>the collectors </a:t>
            </a:r>
            <a:r>
              <a:rPr dirty="0" sz="1200" spc="-5">
                <a:latin typeface="Arial"/>
                <a:cs typeface="Arial"/>
              </a:rPr>
              <a:t>of the Hadiths used </a:t>
            </a:r>
            <a:r>
              <a:rPr dirty="0" sz="1200">
                <a:latin typeface="Arial"/>
                <a:cs typeface="Arial"/>
              </a:rPr>
              <a:t>to  </a:t>
            </a:r>
            <a:r>
              <a:rPr dirty="0" sz="1200" spc="-5">
                <a:latin typeface="Arial"/>
                <a:cs typeface="Arial"/>
              </a:rPr>
              <a:t>ensure that the sayings </a:t>
            </a:r>
            <a:r>
              <a:rPr dirty="0" sz="1200">
                <a:latin typeface="Arial"/>
                <a:cs typeface="Arial"/>
              </a:rPr>
              <a:t>they </a:t>
            </a:r>
            <a:r>
              <a:rPr dirty="0" sz="1200" spc="-5">
                <a:latin typeface="Arial"/>
                <a:cs typeface="Arial"/>
              </a:rPr>
              <a:t>compiled could reliably </a:t>
            </a:r>
            <a:r>
              <a:rPr dirty="0" sz="1200">
                <a:latin typeface="Arial"/>
                <a:cs typeface="Arial"/>
              </a:rPr>
              <a:t>be </a:t>
            </a:r>
            <a:r>
              <a:rPr dirty="0" sz="1200" spc="-5">
                <a:latin typeface="Arial"/>
                <a:cs typeface="Arial"/>
              </a:rPr>
              <a:t>traced to the Prophet. [20]</a:t>
            </a:r>
            <a:r>
              <a:rPr dirty="0" sz="1200" spc="135">
                <a:latin typeface="Arial"/>
                <a:cs typeface="Arial"/>
              </a:rPr>
              <a:t> </a:t>
            </a:r>
            <a:r>
              <a:rPr dirty="0" sz="1200" spc="-5" b="1">
                <a:latin typeface="Arial"/>
                <a:cs typeface="Arial"/>
              </a:rPr>
              <a:t>(2008)</a:t>
            </a:r>
            <a:endParaRPr sz="1200">
              <a:latin typeface="Arial"/>
              <a:cs typeface="Arial"/>
            </a:endParaRPr>
          </a:p>
          <a:p>
            <a:pPr>
              <a:lnSpc>
                <a:spcPct val="100000"/>
              </a:lnSpc>
            </a:pPr>
            <a:endParaRPr sz="1200">
              <a:latin typeface="Arial"/>
              <a:cs typeface="Arial"/>
            </a:endParaRPr>
          </a:p>
          <a:p>
            <a:pPr marL="12700" marR="5080">
              <a:lnSpc>
                <a:spcPts val="1380"/>
              </a:lnSpc>
            </a:pPr>
            <a:r>
              <a:rPr dirty="0" sz="1200" spc="-5" b="1">
                <a:latin typeface="Arial"/>
                <a:cs typeface="Arial"/>
              </a:rPr>
              <a:t>5 (a) </a:t>
            </a:r>
            <a:r>
              <a:rPr dirty="0" sz="1200" spc="-5">
                <a:latin typeface="Arial"/>
                <a:cs typeface="Arial"/>
              </a:rPr>
              <a:t>Outline the </a:t>
            </a:r>
            <a:r>
              <a:rPr dirty="0" sz="1200">
                <a:latin typeface="Arial"/>
                <a:cs typeface="Arial"/>
              </a:rPr>
              <a:t>main </a:t>
            </a:r>
            <a:r>
              <a:rPr dirty="0" sz="1200" spc="-5">
                <a:latin typeface="Arial"/>
                <a:cs typeface="Arial"/>
              </a:rPr>
              <a:t>stages that led to the compilation of the Sunnah in the six canonical  collections.</a:t>
            </a:r>
            <a:r>
              <a:rPr dirty="0" sz="1200" spc="-15">
                <a:latin typeface="Arial"/>
                <a:cs typeface="Arial"/>
              </a:rPr>
              <a:t> </a:t>
            </a:r>
            <a:r>
              <a:rPr dirty="0" sz="1200" spc="-5">
                <a:latin typeface="Arial"/>
                <a:cs typeface="Arial"/>
              </a:rPr>
              <a:t>[10]</a:t>
            </a:r>
            <a:endParaRPr sz="1200">
              <a:latin typeface="Arial"/>
              <a:cs typeface="Arial"/>
            </a:endParaRPr>
          </a:p>
          <a:p>
            <a:pPr marL="12700" marR="5080" indent="128270">
              <a:lnSpc>
                <a:spcPts val="1380"/>
              </a:lnSpc>
            </a:pPr>
            <a:r>
              <a:rPr dirty="0" sz="1200" spc="-5" b="1">
                <a:latin typeface="Arial"/>
                <a:cs typeface="Arial"/>
              </a:rPr>
              <a:t>(b) </a:t>
            </a:r>
            <a:r>
              <a:rPr dirty="0" sz="1200" spc="-5">
                <a:latin typeface="Arial"/>
                <a:cs typeface="Arial"/>
              </a:rPr>
              <a:t>Identify and discuss </a:t>
            </a:r>
            <a:r>
              <a:rPr dirty="0" sz="1200">
                <a:latin typeface="Arial"/>
                <a:cs typeface="Arial"/>
              </a:rPr>
              <a:t>the </a:t>
            </a:r>
            <a:r>
              <a:rPr dirty="0" sz="1200" spc="-5">
                <a:latin typeface="Arial"/>
                <a:cs typeface="Arial"/>
              </a:rPr>
              <a:t>main methods </a:t>
            </a:r>
            <a:r>
              <a:rPr dirty="0" sz="1200" spc="-10">
                <a:latin typeface="Arial"/>
                <a:cs typeface="Arial"/>
              </a:rPr>
              <a:t>by </a:t>
            </a:r>
            <a:r>
              <a:rPr dirty="0" sz="1200" spc="-5">
                <a:latin typeface="Arial"/>
                <a:cs typeface="Arial"/>
              </a:rPr>
              <a:t>which </a:t>
            </a:r>
            <a:r>
              <a:rPr dirty="0" sz="1200">
                <a:latin typeface="Arial"/>
                <a:cs typeface="Arial"/>
              </a:rPr>
              <a:t>the compilers </a:t>
            </a:r>
            <a:r>
              <a:rPr dirty="0" sz="1200" spc="-5">
                <a:latin typeface="Arial"/>
                <a:cs typeface="Arial"/>
              </a:rPr>
              <a:t>ensured that </a:t>
            </a:r>
            <a:r>
              <a:rPr dirty="0" sz="1200">
                <a:latin typeface="Arial"/>
                <a:cs typeface="Arial"/>
              </a:rPr>
              <a:t>the </a:t>
            </a:r>
            <a:r>
              <a:rPr dirty="0" sz="1200" spc="-5">
                <a:latin typeface="Arial"/>
                <a:cs typeface="Arial"/>
              </a:rPr>
              <a:t>Hadiths  were authentic. [10]</a:t>
            </a:r>
            <a:r>
              <a:rPr dirty="0" sz="1200" spc="20">
                <a:latin typeface="Arial"/>
                <a:cs typeface="Arial"/>
              </a:rPr>
              <a:t> </a:t>
            </a:r>
            <a:r>
              <a:rPr dirty="0" sz="1200" spc="-5" b="1">
                <a:latin typeface="Arial"/>
                <a:cs typeface="Arial"/>
              </a:rPr>
              <a:t>(2009)</a:t>
            </a:r>
            <a:endParaRPr sz="1200">
              <a:latin typeface="Arial"/>
              <a:cs typeface="Arial"/>
            </a:endParaRPr>
          </a:p>
          <a:p>
            <a:pPr>
              <a:lnSpc>
                <a:spcPct val="100000"/>
              </a:lnSpc>
            </a:pPr>
            <a:endParaRPr sz="1200">
              <a:latin typeface="Arial"/>
              <a:cs typeface="Arial"/>
            </a:endParaRPr>
          </a:p>
          <a:p>
            <a:pPr marL="12700" marR="5715">
              <a:lnSpc>
                <a:spcPts val="1380"/>
              </a:lnSpc>
            </a:pPr>
            <a:r>
              <a:rPr dirty="0" sz="1200" spc="-5" b="1">
                <a:latin typeface="Arial"/>
                <a:cs typeface="Arial"/>
              </a:rPr>
              <a:t>5 (a) </a:t>
            </a:r>
            <a:r>
              <a:rPr dirty="0" sz="1200" spc="5">
                <a:latin typeface="Arial"/>
                <a:cs typeface="Arial"/>
              </a:rPr>
              <a:t>Write </a:t>
            </a:r>
            <a:r>
              <a:rPr dirty="0" sz="1200" spc="-5">
                <a:latin typeface="Arial"/>
                <a:cs typeface="Arial"/>
              </a:rPr>
              <a:t>an account </a:t>
            </a:r>
            <a:r>
              <a:rPr dirty="0" sz="1200">
                <a:latin typeface="Arial"/>
                <a:cs typeface="Arial"/>
              </a:rPr>
              <a:t>of </a:t>
            </a:r>
            <a:r>
              <a:rPr dirty="0" sz="1200" spc="-5">
                <a:latin typeface="Arial"/>
                <a:cs typeface="Arial"/>
              </a:rPr>
              <a:t>the methods used by </a:t>
            </a:r>
            <a:r>
              <a:rPr dirty="0" sz="1200">
                <a:latin typeface="Arial"/>
                <a:cs typeface="Arial"/>
              </a:rPr>
              <a:t>al-Bukhari to </a:t>
            </a:r>
            <a:r>
              <a:rPr dirty="0" sz="1200" spc="-5">
                <a:latin typeface="Arial"/>
                <a:cs typeface="Arial"/>
              </a:rPr>
              <a:t>ensure </a:t>
            </a:r>
            <a:r>
              <a:rPr dirty="0" sz="1200">
                <a:latin typeface="Arial"/>
                <a:cs typeface="Arial"/>
              </a:rPr>
              <a:t>the </a:t>
            </a:r>
            <a:r>
              <a:rPr dirty="0" sz="1200" spc="-5">
                <a:latin typeface="Arial"/>
                <a:cs typeface="Arial"/>
              </a:rPr>
              <a:t>Hadiths he collected  were authentic.</a:t>
            </a:r>
            <a:r>
              <a:rPr dirty="0" sz="1200" spc="5">
                <a:latin typeface="Arial"/>
                <a:cs typeface="Arial"/>
              </a:rPr>
              <a:t> </a:t>
            </a:r>
            <a:r>
              <a:rPr dirty="0" sz="1200" spc="-5">
                <a:latin typeface="Arial"/>
                <a:cs typeface="Arial"/>
              </a:rPr>
              <a:t>[12]</a:t>
            </a:r>
            <a:endParaRPr sz="1200">
              <a:latin typeface="Arial"/>
              <a:cs typeface="Arial"/>
            </a:endParaRPr>
          </a:p>
          <a:p>
            <a:pPr marL="140970">
              <a:lnSpc>
                <a:spcPts val="1345"/>
              </a:lnSpc>
            </a:pPr>
            <a:r>
              <a:rPr dirty="0" sz="1200" spc="-5" b="1">
                <a:latin typeface="Arial"/>
                <a:cs typeface="Arial"/>
              </a:rPr>
              <a:t>(b) </a:t>
            </a:r>
            <a:r>
              <a:rPr dirty="0" sz="1200" spc="10">
                <a:latin typeface="Arial"/>
                <a:cs typeface="Arial"/>
              </a:rPr>
              <a:t>Why </a:t>
            </a:r>
            <a:r>
              <a:rPr dirty="0" sz="1200" spc="-10">
                <a:latin typeface="Arial"/>
                <a:cs typeface="Arial"/>
              </a:rPr>
              <a:t>was </a:t>
            </a:r>
            <a:r>
              <a:rPr dirty="0" sz="1200">
                <a:latin typeface="Arial"/>
                <a:cs typeface="Arial"/>
              </a:rPr>
              <a:t>it </a:t>
            </a:r>
            <a:r>
              <a:rPr dirty="0" sz="1200" spc="-5">
                <a:latin typeface="Arial"/>
                <a:cs typeface="Arial"/>
              </a:rPr>
              <a:t>thought important to ensure </a:t>
            </a:r>
            <a:r>
              <a:rPr dirty="0" sz="1200">
                <a:latin typeface="Arial"/>
                <a:cs typeface="Arial"/>
              </a:rPr>
              <a:t>the </a:t>
            </a:r>
            <a:r>
              <a:rPr dirty="0" sz="1200" spc="-5">
                <a:latin typeface="Arial"/>
                <a:cs typeface="Arial"/>
              </a:rPr>
              <a:t>Hadiths were authentic? </a:t>
            </a:r>
            <a:r>
              <a:rPr dirty="0" sz="1200">
                <a:latin typeface="Arial"/>
                <a:cs typeface="Arial"/>
              </a:rPr>
              <a:t>[8]</a:t>
            </a:r>
            <a:r>
              <a:rPr dirty="0" sz="1200" spc="50">
                <a:latin typeface="Arial"/>
                <a:cs typeface="Arial"/>
              </a:rPr>
              <a:t> </a:t>
            </a:r>
            <a:r>
              <a:rPr dirty="0" sz="1200" spc="-5" b="1">
                <a:latin typeface="Arial"/>
                <a:cs typeface="Arial"/>
              </a:rPr>
              <a:t>(2010)</a:t>
            </a:r>
            <a:endParaRPr sz="1200">
              <a:latin typeface="Arial"/>
              <a:cs typeface="Aria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5970905" cy="208279"/>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478536" y="827531"/>
            <a:ext cx="6259195" cy="181610"/>
          </a:xfrm>
          <a:prstGeom prst="rect">
            <a:avLst/>
          </a:prstGeom>
          <a:ln w="6096">
            <a:solidFill>
              <a:srgbClr val="000000"/>
            </a:solidFill>
          </a:ln>
        </p:spPr>
        <p:txBody>
          <a:bodyPr wrap="square" lIns="0" tIns="0" rIns="0" bIns="0" rtlCol="0" vert="horz">
            <a:spAutoFit/>
          </a:bodyPr>
          <a:lstStyle/>
          <a:p>
            <a:pPr algn="ctr">
              <a:lnSpc>
                <a:spcPts val="1370"/>
              </a:lnSpc>
            </a:pPr>
            <a:r>
              <a:rPr dirty="0" sz="1200" spc="-30" b="1">
                <a:latin typeface="Arial"/>
                <a:cs typeface="Arial"/>
              </a:rPr>
              <a:t>Mu‟tazilah </a:t>
            </a:r>
            <a:r>
              <a:rPr dirty="0" sz="1200" spc="-15" b="1">
                <a:latin typeface="Arial"/>
                <a:cs typeface="Arial"/>
              </a:rPr>
              <a:t>And</a:t>
            </a:r>
            <a:r>
              <a:rPr dirty="0" sz="1200" spc="55" b="1">
                <a:latin typeface="Arial"/>
                <a:cs typeface="Arial"/>
              </a:rPr>
              <a:t> </a:t>
            </a:r>
            <a:r>
              <a:rPr dirty="0" sz="1200" spc="-30" b="1">
                <a:latin typeface="Arial"/>
                <a:cs typeface="Arial"/>
              </a:rPr>
              <a:t>Ash‟ariyyah</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132</a:t>
            </a:r>
            <a:endParaRPr sz="1200">
              <a:latin typeface="Times New Roman"/>
              <a:cs typeface="Times New Roman"/>
            </a:endParaRPr>
          </a:p>
        </p:txBody>
      </p:sp>
      <p:sp>
        <p:nvSpPr>
          <p:cNvPr id="5" name="object 5"/>
          <p:cNvSpPr txBox="1"/>
          <p:nvPr/>
        </p:nvSpPr>
        <p:spPr>
          <a:xfrm>
            <a:off x="534416" y="1337817"/>
            <a:ext cx="6311900" cy="8096250"/>
          </a:xfrm>
          <a:prstGeom prst="rect">
            <a:avLst/>
          </a:prstGeom>
        </p:spPr>
        <p:txBody>
          <a:bodyPr wrap="square" lIns="0" tIns="20320" rIns="0" bIns="0" rtlCol="0" vert="horz">
            <a:spAutoFit/>
          </a:bodyPr>
          <a:lstStyle/>
          <a:p>
            <a:pPr algn="just" marL="12700" marR="5080">
              <a:lnSpc>
                <a:spcPct val="95800"/>
              </a:lnSpc>
              <a:spcBef>
                <a:spcPts val="160"/>
              </a:spcBef>
            </a:pPr>
            <a:r>
              <a:rPr dirty="0" sz="1200" spc="-5">
                <a:latin typeface="Arial"/>
                <a:cs typeface="Arial"/>
              </a:rPr>
              <a:t>Mu‘tazilah, </a:t>
            </a:r>
            <a:r>
              <a:rPr dirty="0" sz="1200">
                <a:latin typeface="Arial"/>
                <a:cs typeface="Arial"/>
              </a:rPr>
              <a:t>the </a:t>
            </a:r>
            <a:r>
              <a:rPr dirty="0" sz="1200" spc="-5">
                <a:latin typeface="Arial"/>
                <a:cs typeface="Arial"/>
              </a:rPr>
              <a:t>name </a:t>
            </a:r>
            <a:r>
              <a:rPr dirty="0" sz="1200">
                <a:latin typeface="Arial"/>
                <a:cs typeface="Arial"/>
              </a:rPr>
              <a:t>of </a:t>
            </a:r>
            <a:r>
              <a:rPr dirty="0" sz="1200" spc="-5">
                <a:latin typeface="Arial"/>
                <a:cs typeface="Arial"/>
              </a:rPr>
              <a:t>a religious movement founded </a:t>
            </a:r>
            <a:r>
              <a:rPr dirty="0" sz="1200">
                <a:latin typeface="Arial"/>
                <a:cs typeface="Arial"/>
              </a:rPr>
              <a:t>at </a:t>
            </a:r>
            <a:r>
              <a:rPr dirty="0" sz="1200" spc="-5">
                <a:latin typeface="Arial"/>
                <a:cs typeface="Arial"/>
              </a:rPr>
              <a:t>Basra, in </a:t>
            </a:r>
            <a:r>
              <a:rPr dirty="0" sz="1200">
                <a:latin typeface="Arial"/>
                <a:cs typeface="Arial"/>
              </a:rPr>
              <a:t>the first </a:t>
            </a:r>
            <a:r>
              <a:rPr dirty="0" sz="1200" spc="-5">
                <a:latin typeface="Arial"/>
                <a:cs typeface="Arial"/>
              </a:rPr>
              <a:t>half of the  2nd/8th century by </a:t>
            </a:r>
            <a:r>
              <a:rPr dirty="0" sz="1200">
                <a:latin typeface="Arial"/>
                <a:cs typeface="Arial"/>
              </a:rPr>
              <a:t>Wasil b. 'Ata' (699-749), </a:t>
            </a:r>
            <a:r>
              <a:rPr dirty="0" sz="1200" spc="-5">
                <a:latin typeface="Arial"/>
                <a:cs typeface="Arial"/>
              </a:rPr>
              <a:t>subsequently </a:t>
            </a:r>
            <a:r>
              <a:rPr dirty="0" sz="1200">
                <a:latin typeface="Arial"/>
                <a:cs typeface="Arial"/>
              </a:rPr>
              <a:t>becoming </a:t>
            </a:r>
            <a:r>
              <a:rPr dirty="0" sz="1200" spc="-5">
                <a:latin typeface="Arial"/>
                <a:cs typeface="Arial"/>
              </a:rPr>
              <a:t>one of the most  important theological schools of Islam. The </a:t>
            </a:r>
            <a:r>
              <a:rPr dirty="0" sz="1200" spc="-10">
                <a:latin typeface="Arial"/>
                <a:cs typeface="Arial"/>
              </a:rPr>
              <a:t>origin </a:t>
            </a:r>
            <a:r>
              <a:rPr dirty="0" sz="1200">
                <a:latin typeface="Arial"/>
                <a:cs typeface="Arial"/>
              </a:rPr>
              <a:t>of this </a:t>
            </a:r>
            <a:r>
              <a:rPr dirty="0" sz="1200" spc="-5">
                <a:latin typeface="Arial"/>
                <a:cs typeface="Arial"/>
              </a:rPr>
              <a:t>term-which has </a:t>
            </a:r>
            <a:r>
              <a:rPr dirty="0" sz="1200">
                <a:latin typeface="Arial"/>
                <a:cs typeface="Arial"/>
              </a:rPr>
              <a:t>the </a:t>
            </a:r>
            <a:r>
              <a:rPr dirty="0" sz="1200" spc="-5">
                <a:latin typeface="Arial"/>
                <a:cs typeface="Arial"/>
              </a:rPr>
              <a:t>sense of 'those  </a:t>
            </a:r>
            <a:r>
              <a:rPr dirty="0" sz="1200" spc="-10">
                <a:latin typeface="Arial"/>
                <a:cs typeface="Arial"/>
              </a:rPr>
              <a:t>who </a:t>
            </a:r>
            <a:r>
              <a:rPr dirty="0" sz="1200" spc="-5">
                <a:latin typeface="Arial"/>
                <a:cs typeface="Arial"/>
              </a:rPr>
              <a:t>separate themselves, </a:t>
            </a:r>
            <a:r>
              <a:rPr dirty="0" sz="1200" spc="-10">
                <a:latin typeface="Arial"/>
                <a:cs typeface="Arial"/>
              </a:rPr>
              <a:t>who </a:t>
            </a:r>
            <a:r>
              <a:rPr dirty="0" sz="1200" spc="-5">
                <a:latin typeface="Arial"/>
                <a:cs typeface="Arial"/>
              </a:rPr>
              <a:t>stand aside'-remains enigmatic. According </a:t>
            </a:r>
            <a:r>
              <a:rPr dirty="0" sz="1200">
                <a:latin typeface="Arial"/>
                <a:cs typeface="Arial"/>
              </a:rPr>
              <a:t>to </a:t>
            </a:r>
            <a:r>
              <a:rPr dirty="0" sz="1200" spc="-5">
                <a:latin typeface="Arial"/>
                <a:cs typeface="Arial"/>
              </a:rPr>
              <a:t>a traditional  explanation (sometimes acknowledged by the Mu‘tazilah themselves), </a:t>
            </a:r>
            <a:r>
              <a:rPr dirty="0" sz="1200">
                <a:latin typeface="Arial"/>
                <a:cs typeface="Arial"/>
              </a:rPr>
              <a:t>the </a:t>
            </a:r>
            <a:r>
              <a:rPr dirty="0" sz="1200" spc="-5">
                <a:latin typeface="Arial"/>
                <a:cs typeface="Arial"/>
              </a:rPr>
              <a:t>word would </a:t>
            </a:r>
            <a:r>
              <a:rPr dirty="0" sz="1200" spc="-10">
                <a:latin typeface="Arial"/>
                <a:cs typeface="Arial"/>
              </a:rPr>
              <a:t>have  </a:t>
            </a:r>
            <a:r>
              <a:rPr dirty="0" sz="1200" spc="-5">
                <a:latin typeface="Arial"/>
                <a:cs typeface="Arial"/>
              </a:rPr>
              <a:t>been applied </a:t>
            </a:r>
            <a:r>
              <a:rPr dirty="0" sz="1200">
                <a:latin typeface="Arial"/>
                <a:cs typeface="Arial"/>
              </a:rPr>
              <a:t>to Wasil </a:t>
            </a:r>
            <a:r>
              <a:rPr dirty="0" sz="1200" spc="-5">
                <a:latin typeface="Arial"/>
                <a:cs typeface="Arial"/>
              </a:rPr>
              <a:t>or </a:t>
            </a:r>
            <a:r>
              <a:rPr dirty="0" sz="1200">
                <a:latin typeface="Arial"/>
                <a:cs typeface="Arial"/>
              </a:rPr>
              <a:t>to </a:t>
            </a:r>
            <a:r>
              <a:rPr dirty="0" sz="1200" spc="-5">
                <a:latin typeface="Arial"/>
                <a:cs typeface="Arial"/>
              </a:rPr>
              <a:t>his lieutenant, </a:t>
            </a:r>
            <a:r>
              <a:rPr dirty="0" sz="1200">
                <a:latin typeface="Arial"/>
                <a:cs typeface="Arial"/>
              </a:rPr>
              <a:t>'Amr b. </a:t>
            </a:r>
            <a:r>
              <a:rPr dirty="0" sz="1200" spc="-5">
                <a:latin typeface="Arial"/>
                <a:cs typeface="Arial"/>
              </a:rPr>
              <a:t>'Ubayd </a:t>
            </a:r>
            <a:r>
              <a:rPr dirty="0" sz="1200">
                <a:latin typeface="Arial"/>
                <a:cs typeface="Arial"/>
              </a:rPr>
              <a:t>(d. </a:t>
            </a:r>
            <a:r>
              <a:rPr dirty="0" sz="1200" spc="-5">
                <a:latin typeface="Arial"/>
                <a:cs typeface="Arial"/>
              </a:rPr>
              <a:t>144/761) because </a:t>
            </a:r>
            <a:r>
              <a:rPr dirty="0" sz="1200" spc="-10">
                <a:latin typeface="Arial"/>
                <a:cs typeface="Arial"/>
              </a:rPr>
              <a:t>on </a:t>
            </a:r>
            <a:r>
              <a:rPr dirty="0" sz="1200" spc="-5">
                <a:latin typeface="Arial"/>
                <a:cs typeface="Arial"/>
              </a:rPr>
              <a:t>the  question relating </a:t>
            </a:r>
            <a:r>
              <a:rPr dirty="0" sz="1200">
                <a:latin typeface="Arial"/>
                <a:cs typeface="Arial"/>
              </a:rPr>
              <a:t>to </a:t>
            </a:r>
            <a:r>
              <a:rPr dirty="0" sz="1200" spc="-5">
                <a:latin typeface="Arial"/>
                <a:cs typeface="Arial"/>
              </a:rPr>
              <a:t>the definition applicable </a:t>
            </a:r>
            <a:r>
              <a:rPr dirty="0" sz="1200">
                <a:latin typeface="Arial"/>
                <a:cs typeface="Arial"/>
              </a:rPr>
              <a:t>to </a:t>
            </a:r>
            <a:r>
              <a:rPr dirty="0" sz="1200" spc="-5">
                <a:latin typeface="Arial"/>
                <a:cs typeface="Arial"/>
              </a:rPr>
              <a:t>the Muslim guilty of a serious offence, the  </a:t>
            </a:r>
            <a:r>
              <a:rPr dirty="0" sz="1200">
                <a:latin typeface="Arial"/>
                <a:cs typeface="Arial"/>
              </a:rPr>
              <a:t>former </a:t>
            </a:r>
            <a:r>
              <a:rPr dirty="0" sz="1200" spc="-5">
                <a:latin typeface="Arial"/>
                <a:cs typeface="Arial"/>
              </a:rPr>
              <a:t>(or the second) 'would have separated himself' from al-Hasan al-Basri (or from  qatada). </a:t>
            </a:r>
            <a:r>
              <a:rPr dirty="0" sz="1200">
                <a:latin typeface="Arial"/>
                <a:cs typeface="Arial"/>
              </a:rPr>
              <a:t>It </a:t>
            </a:r>
            <a:r>
              <a:rPr dirty="0" sz="1200" spc="-5">
                <a:latin typeface="Arial"/>
                <a:cs typeface="Arial"/>
              </a:rPr>
              <a:t>appears to be established that </a:t>
            </a:r>
            <a:r>
              <a:rPr dirty="0" sz="1200">
                <a:latin typeface="Arial"/>
                <a:cs typeface="Arial"/>
              </a:rPr>
              <a:t>Wasil, originally </a:t>
            </a:r>
            <a:r>
              <a:rPr dirty="0" sz="1200" spc="-5">
                <a:latin typeface="Arial"/>
                <a:cs typeface="Arial"/>
              </a:rPr>
              <a:t>a disciple of </a:t>
            </a:r>
            <a:r>
              <a:rPr dirty="0" sz="1200">
                <a:latin typeface="Arial"/>
                <a:cs typeface="Arial"/>
              </a:rPr>
              <a:t>al-Hasan </a:t>
            </a:r>
            <a:r>
              <a:rPr dirty="0" sz="1200" spc="-5">
                <a:latin typeface="Arial"/>
                <a:cs typeface="Arial"/>
              </a:rPr>
              <a:t>al-Basri was  indeed </a:t>
            </a:r>
            <a:r>
              <a:rPr dirty="0" sz="1200">
                <a:latin typeface="Arial"/>
                <a:cs typeface="Arial"/>
              </a:rPr>
              <a:t>the </a:t>
            </a:r>
            <a:r>
              <a:rPr dirty="0" sz="1200" spc="-5">
                <a:latin typeface="Arial"/>
                <a:cs typeface="Arial"/>
              </a:rPr>
              <a:t>sole founder and </a:t>
            </a:r>
            <a:r>
              <a:rPr dirty="0" sz="1200">
                <a:latin typeface="Arial"/>
                <a:cs typeface="Arial"/>
              </a:rPr>
              <a:t>this </a:t>
            </a:r>
            <a:r>
              <a:rPr dirty="0" sz="1200" spc="-5">
                <a:latin typeface="Arial"/>
                <a:cs typeface="Arial"/>
              </a:rPr>
              <a:t>during </a:t>
            </a:r>
            <a:r>
              <a:rPr dirty="0" sz="1200">
                <a:latin typeface="Arial"/>
                <a:cs typeface="Arial"/>
              </a:rPr>
              <a:t>the </a:t>
            </a:r>
            <a:r>
              <a:rPr dirty="0" sz="1200" spc="-5">
                <a:latin typeface="Arial"/>
                <a:cs typeface="Arial"/>
              </a:rPr>
              <a:t>lifetime of </a:t>
            </a:r>
            <a:r>
              <a:rPr dirty="0" sz="1200">
                <a:latin typeface="Arial"/>
                <a:cs typeface="Arial"/>
              </a:rPr>
              <a:t>the </a:t>
            </a:r>
            <a:r>
              <a:rPr dirty="0" sz="1200" spc="-5">
                <a:latin typeface="Arial"/>
                <a:cs typeface="Arial"/>
              </a:rPr>
              <a:t>latter. </a:t>
            </a:r>
            <a:r>
              <a:rPr dirty="0" sz="1200">
                <a:latin typeface="Arial"/>
                <a:cs typeface="Arial"/>
              </a:rPr>
              <a:t>It </a:t>
            </a:r>
            <a:r>
              <a:rPr dirty="0" sz="1200" spc="-10">
                <a:latin typeface="Arial"/>
                <a:cs typeface="Arial"/>
              </a:rPr>
              <a:t>was </a:t>
            </a:r>
            <a:r>
              <a:rPr dirty="0" sz="1200">
                <a:latin typeface="Arial"/>
                <a:cs typeface="Arial"/>
              </a:rPr>
              <a:t>only at the </a:t>
            </a:r>
            <a:r>
              <a:rPr dirty="0" sz="1200" spc="-5">
                <a:latin typeface="Arial"/>
                <a:cs typeface="Arial"/>
              </a:rPr>
              <a:t>end of a  relatively </a:t>
            </a:r>
            <a:r>
              <a:rPr dirty="0" sz="1200">
                <a:latin typeface="Arial"/>
                <a:cs typeface="Arial"/>
              </a:rPr>
              <a:t>long </a:t>
            </a:r>
            <a:r>
              <a:rPr dirty="0" sz="1200" spc="-5">
                <a:latin typeface="Arial"/>
                <a:cs typeface="Arial"/>
              </a:rPr>
              <a:t>period, and after </a:t>
            </a:r>
            <a:r>
              <a:rPr dirty="0" sz="1200">
                <a:latin typeface="Arial"/>
                <a:cs typeface="Arial"/>
              </a:rPr>
              <a:t>the </a:t>
            </a:r>
            <a:r>
              <a:rPr dirty="0" sz="1200" spc="-5">
                <a:latin typeface="Arial"/>
                <a:cs typeface="Arial"/>
              </a:rPr>
              <a:t>death of </a:t>
            </a:r>
            <a:r>
              <a:rPr dirty="0" sz="1200">
                <a:latin typeface="Arial"/>
                <a:cs typeface="Arial"/>
              </a:rPr>
              <a:t>al-Hasan </a:t>
            </a:r>
            <a:r>
              <a:rPr dirty="0" sz="1200" spc="-5">
                <a:latin typeface="Arial"/>
                <a:cs typeface="Arial"/>
              </a:rPr>
              <a:t>(110/728), that </a:t>
            </a:r>
            <a:r>
              <a:rPr dirty="0" sz="1200">
                <a:latin typeface="Arial"/>
                <a:cs typeface="Arial"/>
              </a:rPr>
              <a:t>'Amr b. </a:t>
            </a:r>
            <a:r>
              <a:rPr dirty="0" sz="1200" spc="-5">
                <a:latin typeface="Arial"/>
                <a:cs typeface="Arial"/>
              </a:rPr>
              <a:t>'Ubayd, another  disciple of al-Hasan, and a particularly </a:t>
            </a:r>
            <a:r>
              <a:rPr dirty="0" sz="1200">
                <a:latin typeface="Arial"/>
                <a:cs typeface="Arial"/>
              </a:rPr>
              <a:t>eminent </a:t>
            </a:r>
            <a:r>
              <a:rPr dirty="0" sz="1200" spc="-5">
                <a:latin typeface="Arial"/>
                <a:cs typeface="Arial"/>
              </a:rPr>
              <a:t>one decided to join </a:t>
            </a:r>
            <a:r>
              <a:rPr dirty="0" sz="1200">
                <a:latin typeface="Arial"/>
                <a:cs typeface="Arial"/>
              </a:rPr>
              <a:t>him. </a:t>
            </a:r>
            <a:r>
              <a:rPr dirty="0" sz="1200" spc="-5">
                <a:latin typeface="Arial"/>
                <a:cs typeface="Arial"/>
              </a:rPr>
              <a:t>After the death of  </a:t>
            </a:r>
            <a:r>
              <a:rPr dirty="0" sz="1200">
                <a:latin typeface="Arial"/>
                <a:cs typeface="Arial"/>
              </a:rPr>
              <a:t>Wasil </a:t>
            </a:r>
            <a:r>
              <a:rPr dirty="0" sz="1200" spc="-5">
                <a:latin typeface="Arial"/>
                <a:cs typeface="Arial"/>
              </a:rPr>
              <a:t>in 131/749, </a:t>
            </a:r>
            <a:r>
              <a:rPr dirty="0" sz="1200">
                <a:latin typeface="Arial"/>
                <a:cs typeface="Arial"/>
              </a:rPr>
              <a:t>it </a:t>
            </a:r>
            <a:r>
              <a:rPr dirty="0" sz="1200" spc="-10">
                <a:latin typeface="Arial"/>
                <a:cs typeface="Arial"/>
              </a:rPr>
              <a:t>was </a:t>
            </a:r>
            <a:r>
              <a:rPr dirty="0" sz="1200">
                <a:latin typeface="Arial"/>
                <a:cs typeface="Arial"/>
              </a:rPr>
              <a:t>'Amr </a:t>
            </a:r>
            <a:r>
              <a:rPr dirty="0" sz="1200" spc="-10">
                <a:latin typeface="Arial"/>
                <a:cs typeface="Arial"/>
              </a:rPr>
              <a:t>who </a:t>
            </a:r>
            <a:r>
              <a:rPr dirty="0" sz="1200">
                <a:latin typeface="Arial"/>
                <a:cs typeface="Arial"/>
              </a:rPr>
              <a:t>took </a:t>
            </a:r>
            <a:r>
              <a:rPr dirty="0" sz="1200" spc="-5">
                <a:latin typeface="Arial"/>
                <a:cs typeface="Arial"/>
              </a:rPr>
              <a:t>on the </a:t>
            </a:r>
            <a:r>
              <a:rPr dirty="0" sz="1200">
                <a:latin typeface="Arial"/>
                <a:cs typeface="Arial"/>
              </a:rPr>
              <a:t>leadership </a:t>
            </a:r>
            <a:r>
              <a:rPr dirty="0" sz="1200" spc="-5">
                <a:latin typeface="Arial"/>
                <a:cs typeface="Arial"/>
              </a:rPr>
              <a:t>of the group. </a:t>
            </a:r>
            <a:r>
              <a:rPr dirty="0" sz="1200">
                <a:latin typeface="Arial"/>
                <a:cs typeface="Arial"/>
              </a:rPr>
              <a:t>It </a:t>
            </a:r>
            <a:r>
              <a:rPr dirty="0" sz="1200" spc="-5">
                <a:latin typeface="Arial"/>
                <a:cs typeface="Arial"/>
              </a:rPr>
              <a:t>is hardly likely </a:t>
            </a:r>
            <a:r>
              <a:rPr dirty="0" sz="1200">
                <a:latin typeface="Arial"/>
                <a:cs typeface="Arial"/>
              </a:rPr>
              <a:t>that  at this </a:t>
            </a:r>
            <a:r>
              <a:rPr dirty="0" sz="1200" spc="-5">
                <a:latin typeface="Arial"/>
                <a:cs typeface="Arial"/>
              </a:rPr>
              <a:t>early stage of the movement the Mu'tazili doctrine, as </a:t>
            </a:r>
            <a:r>
              <a:rPr dirty="0" sz="1200">
                <a:latin typeface="Arial"/>
                <a:cs typeface="Arial"/>
              </a:rPr>
              <a:t>it </a:t>
            </a:r>
            <a:r>
              <a:rPr dirty="0" sz="1200" spc="-10">
                <a:latin typeface="Arial"/>
                <a:cs typeface="Arial"/>
              </a:rPr>
              <a:t>was </a:t>
            </a:r>
            <a:r>
              <a:rPr dirty="0" sz="1200">
                <a:latin typeface="Arial"/>
                <a:cs typeface="Arial"/>
              </a:rPr>
              <a:t>to </a:t>
            </a:r>
            <a:r>
              <a:rPr dirty="0" sz="1200" spc="-5">
                <a:latin typeface="Arial"/>
                <a:cs typeface="Arial"/>
              </a:rPr>
              <a:t>be formulated several  decades later by Abu 'l-Hujayl, </a:t>
            </a:r>
            <a:r>
              <a:rPr dirty="0" sz="1200" spc="-10">
                <a:latin typeface="Arial"/>
                <a:cs typeface="Arial"/>
              </a:rPr>
              <a:t>was </a:t>
            </a:r>
            <a:r>
              <a:rPr dirty="0" sz="1200" spc="-5">
                <a:latin typeface="Arial"/>
                <a:cs typeface="Arial"/>
              </a:rPr>
              <a:t>already fully</a:t>
            </a:r>
            <a:r>
              <a:rPr dirty="0" sz="1200" spc="25">
                <a:latin typeface="Arial"/>
                <a:cs typeface="Arial"/>
              </a:rPr>
              <a:t> </a:t>
            </a:r>
            <a:r>
              <a:rPr dirty="0" sz="1200" spc="-5">
                <a:latin typeface="Arial"/>
                <a:cs typeface="Arial"/>
              </a:rPr>
              <a:t>developed.</a:t>
            </a:r>
            <a:endParaRPr sz="1200">
              <a:latin typeface="Arial"/>
              <a:cs typeface="Arial"/>
            </a:endParaRPr>
          </a:p>
          <a:p>
            <a:pPr>
              <a:lnSpc>
                <a:spcPct val="100000"/>
              </a:lnSpc>
            </a:pPr>
            <a:endParaRPr sz="1200">
              <a:latin typeface="Arial"/>
              <a:cs typeface="Arial"/>
            </a:endParaRPr>
          </a:p>
          <a:p>
            <a:pPr algn="just" marL="12700" marR="5080">
              <a:lnSpc>
                <a:spcPct val="95800"/>
              </a:lnSpc>
            </a:pPr>
            <a:r>
              <a:rPr dirty="0" sz="1200">
                <a:latin typeface="Arial"/>
                <a:cs typeface="Arial"/>
              </a:rPr>
              <a:t>Al </a:t>
            </a:r>
            <a:r>
              <a:rPr dirty="0" sz="1200" spc="-5">
                <a:latin typeface="Arial"/>
                <a:cs typeface="Arial"/>
              </a:rPr>
              <a:t>Ash‘ari Abul Hasan 'Ali </a:t>
            </a:r>
            <a:r>
              <a:rPr dirty="0" sz="1200">
                <a:latin typeface="Arial"/>
                <a:cs typeface="Arial"/>
              </a:rPr>
              <a:t>b. </a:t>
            </a:r>
            <a:r>
              <a:rPr dirty="0" sz="1200" spc="-5">
                <a:latin typeface="Arial"/>
                <a:cs typeface="Arial"/>
              </a:rPr>
              <a:t>Isma'il, theologian, and founder of </a:t>
            </a:r>
            <a:r>
              <a:rPr dirty="0" sz="1200">
                <a:latin typeface="Arial"/>
                <a:cs typeface="Arial"/>
              </a:rPr>
              <a:t>the </a:t>
            </a:r>
            <a:r>
              <a:rPr dirty="0" sz="1200" spc="-5">
                <a:latin typeface="Arial"/>
                <a:cs typeface="Arial"/>
              </a:rPr>
              <a:t>school of orthodox  theology which bears his name. </a:t>
            </a:r>
            <a:r>
              <a:rPr dirty="0" sz="1200" spc="-10">
                <a:latin typeface="Arial"/>
                <a:cs typeface="Arial"/>
              </a:rPr>
              <a:t>He </a:t>
            </a:r>
            <a:r>
              <a:rPr dirty="0" sz="1200" spc="-5">
                <a:latin typeface="Arial"/>
                <a:cs typeface="Arial"/>
              </a:rPr>
              <a:t>is said to have been born in 873 till 935 </a:t>
            </a:r>
            <a:r>
              <a:rPr dirty="0" sz="1200">
                <a:latin typeface="Arial"/>
                <a:cs typeface="Arial"/>
              </a:rPr>
              <a:t>at </a:t>
            </a:r>
            <a:r>
              <a:rPr dirty="0" sz="1200" spc="-5">
                <a:latin typeface="Arial"/>
                <a:cs typeface="Arial"/>
              </a:rPr>
              <a:t>Basra, </a:t>
            </a:r>
            <a:r>
              <a:rPr dirty="0" sz="1200" spc="-15">
                <a:latin typeface="Arial"/>
                <a:cs typeface="Arial"/>
              </a:rPr>
              <a:t>and  </a:t>
            </a:r>
            <a:r>
              <a:rPr dirty="0" sz="1200" spc="-10">
                <a:latin typeface="Arial"/>
                <a:cs typeface="Arial"/>
              </a:rPr>
              <a:t>was </a:t>
            </a:r>
            <a:r>
              <a:rPr dirty="0" sz="1200" spc="-5">
                <a:latin typeface="Arial"/>
                <a:cs typeface="Arial"/>
              </a:rPr>
              <a:t>ninth in descent </a:t>
            </a:r>
            <a:r>
              <a:rPr dirty="0" sz="1200">
                <a:latin typeface="Arial"/>
                <a:cs typeface="Arial"/>
              </a:rPr>
              <a:t>from </a:t>
            </a:r>
            <a:r>
              <a:rPr dirty="0" sz="1200" spc="-5">
                <a:latin typeface="Arial"/>
                <a:cs typeface="Arial"/>
              </a:rPr>
              <a:t>the Companion Abu Musa </a:t>
            </a:r>
            <a:r>
              <a:rPr dirty="0" sz="1200">
                <a:latin typeface="Arial"/>
                <a:cs typeface="Arial"/>
              </a:rPr>
              <a:t>al-Ash'ari. </a:t>
            </a:r>
            <a:r>
              <a:rPr dirty="0" sz="1200" spc="-5">
                <a:latin typeface="Arial"/>
                <a:cs typeface="Arial"/>
              </a:rPr>
              <a:t>Little is known </a:t>
            </a:r>
            <a:r>
              <a:rPr dirty="0" sz="1200">
                <a:latin typeface="Arial"/>
                <a:cs typeface="Arial"/>
              </a:rPr>
              <a:t>of </a:t>
            </a:r>
            <a:r>
              <a:rPr dirty="0" sz="1200" spc="-5">
                <a:latin typeface="Arial"/>
                <a:cs typeface="Arial"/>
              </a:rPr>
              <a:t>his </a:t>
            </a:r>
            <a:r>
              <a:rPr dirty="0" sz="1200">
                <a:latin typeface="Arial"/>
                <a:cs typeface="Arial"/>
              </a:rPr>
              <a:t>life. </a:t>
            </a:r>
            <a:r>
              <a:rPr dirty="0" sz="1200" spc="-5">
                <a:latin typeface="Arial"/>
                <a:cs typeface="Arial"/>
              </a:rPr>
              <a:t>He  </a:t>
            </a:r>
            <a:r>
              <a:rPr dirty="0" sz="1200" spc="-10">
                <a:latin typeface="Arial"/>
                <a:cs typeface="Arial"/>
              </a:rPr>
              <a:t>was </a:t>
            </a:r>
            <a:r>
              <a:rPr dirty="0" sz="1200" spc="-5">
                <a:latin typeface="Arial"/>
                <a:cs typeface="Arial"/>
              </a:rPr>
              <a:t>one of the </a:t>
            </a:r>
            <a:r>
              <a:rPr dirty="0" sz="1200">
                <a:latin typeface="Arial"/>
                <a:cs typeface="Arial"/>
              </a:rPr>
              <a:t>best </a:t>
            </a:r>
            <a:r>
              <a:rPr dirty="0" sz="1200" spc="-5">
                <a:latin typeface="Arial"/>
                <a:cs typeface="Arial"/>
              </a:rPr>
              <a:t>pupils of </a:t>
            </a:r>
            <a:r>
              <a:rPr dirty="0" sz="1200">
                <a:latin typeface="Arial"/>
                <a:cs typeface="Arial"/>
              </a:rPr>
              <a:t>al-Dhubba'i, </a:t>
            </a:r>
            <a:r>
              <a:rPr dirty="0" sz="1200" spc="-5">
                <a:latin typeface="Arial"/>
                <a:cs typeface="Arial"/>
              </a:rPr>
              <a:t>head of </a:t>
            </a:r>
            <a:r>
              <a:rPr dirty="0" sz="1200">
                <a:latin typeface="Arial"/>
                <a:cs typeface="Arial"/>
              </a:rPr>
              <a:t>the </a:t>
            </a:r>
            <a:r>
              <a:rPr dirty="0" sz="1200" spc="-5">
                <a:latin typeface="Arial"/>
                <a:cs typeface="Arial"/>
              </a:rPr>
              <a:t>Mu‘tazilah </a:t>
            </a:r>
            <a:r>
              <a:rPr dirty="0" sz="1200" spc="-10">
                <a:latin typeface="Arial"/>
                <a:cs typeface="Arial"/>
              </a:rPr>
              <a:t>in </a:t>
            </a:r>
            <a:r>
              <a:rPr dirty="0" sz="1200" spc="-5">
                <a:latin typeface="Arial"/>
                <a:cs typeface="Arial"/>
              </a:rPr>
              <a:t>Basra, and might </a:t>
            </a:r>
            <a:r>
              <a:rPr dirty="0" sz="1200" spc="-10">
                <a:latin typeface="Arial"/>
                <a:cs typeface="Arial"/>
              </a:rPr>
              <a:t>have  </a:t>
            </a:r>
            <a:r>
              <a:rPr dirty="0" sz="1200" spc="-5">
                <a:latin typeface="Arial"/>
                <a:cs typeface="Arial"/>
              </a:rPr>
              <a:t>succeeded him, had </a:t>
            </a:r>
            <a:r>
              <a:rPr dirty="0" sz="1200" spc="-10">
                <a:latin typeface="Arial"/>
                <a:cs typeface="Arial"/>
              </a:rPr>
              <a:t>he </a:t>
            </a:r>
            <a:r>
              <a:rPr dirty="0" sz="1200" spc="-5">
                <a:latin typeface="Arial"/>
                <a:cs typeface="Arial"/>
              </a:rPr>
              <a:t>not left the Mu‘tazilah </a:t>
            </a:r>
            <a:r>
              <a:rPr dirty="0" sz="1200">
                <a:latin typeface="Arial"/>
                <a:cs typeface="Arial"/>
              </a:rPr>
              <a:t>for the </a:t>
            </a:r>
            <a:r>
              <a:rPr dirty="0" sz="1200" spc="-5">
                <a:latin typeface="Arial"/>
                <a:cs typeface="Arial"/>
              </a:rPr>
              <a:t>party of the orthodox </a:t>
            </a:r>
            <a:r>
              <a:rPr dirty="0" sz="1200">
                <a:latin typeface="Arial"/>
                <a:cs typeface="Arial"/>
              </a:rPr>
              <a:t>traditionists </a:t>
            </a:r>
            <a:r>
              <a:rPr dirty="0" sz="1200" spc="-10">
                <a:latin typeface="Arial"/>
                <a:cs typeface="Arial"/>
              </a:rPr>
              <a:t>(ahl  </a:t>
            </a:r>
            <a:r>
              <a:rPr dirty="0" sz="1200" spc="-5">
                <a:latin typeface="Arial"/>
                <a:cs typeface="Arial"/>
              </a:rPr>
              <a:t>al-sunna). </a:t>
            </a:r>
            <a:r>
              <a:rPr dirty="0" sz="1200">
                <a:latin typeface="Arial"/>
                <a:cs typeface="Arial"/>
              </a:rPr>
              <a:t>This </a:t>
            </a:r>
            <a:r>
              <a:rPr dirty="0" sz="1200" spc="-5">
                <a:latin typeface="Arial"/>
                <a:cs typeface="Arial"/>
              </a:rPr>
              <a:t>change </a:t>
            </a:r>
            <a:r>
              <a:rPr dirty="0" sz="1200">
                <a:latin typeface="Arial"/>
                <a:cs typeface="Arial"/>
              </a:rPr>
              <a:t>or </a:t>
            </a:r>
            <a:r>
              <a:rPr dirty="0" sz="1200" spc="-5">
                <a:latin typeface="Arial"/>
                <a:cs typeface="Arial"/>
              </a:rPr>
              <a:t>conversion is </a:t>
            </a:r>
            <a:r>
              <a:rPr dirty="0" sz="1200">
                <a:latin typeface="Arial"/>
                <a:cs typeface="Arial"/>
              </a:rPr>
              <a:t>placed </a:t>
            </a:r>
            <a:r>
              <a:rPr dirty="0" sz="1200" spc="-5">
                <a:latin typeface="Arial"/>
                <a:cs typeface="Arial"/>
              </a:rPr>
              <a:t>in 300/913. In </a:t>
            </a:r>
            <a:r>
              <a:rPr dirty="0" sz="1200">
                <a:latin typeface="Arial"/>
                <a:cs typeface="Arial"/>
              </a:rPr>
              <a:t>later </a:t>
            </a:r>
            <a:r>
              <a:rPr dirty="0" sz="1200" spc="-5">
                <a:latin typeface="Arial"/>
                <a:cs typeface="Arial"/>
              </a:rPr>
              <a:t>life </a:t>
            </a:r>
            <a:r>
              <a:rPr dirty="0" sz="1200">
                <a:latin typeface="Arial"/>
                <a:cs typeface="Arial"/>
              </a:rPr>
              <a:t>he </a:t>
            </a:r>
            <a:r>
              <a:rPr dirty="0" sz="1200" spc="-5">
                <a:latin typeface="Arial"/>
                <a:cs typeface="Arial"/>
              </a:rPr>
              <a:t>moved </a:t>
            </a:r>
            <a:r>
              <a:rPr dirty="0" sz="1200">
                <a:latin typeface="Arial"/>
                <a:cs typeface="Arial"/>
              </a:rPr>
              <a:t>to </a:t>
            </a:r>
            <a:r>
              <a:rPr dirty="0" sz="1200" spc="-10">
                <a:latin typeface="Arial"/>
                <a:cs typeface="Arial"/>
              </a:rPr>
              <a:t>Baghdad,  </a:t>
            </a:r>
            <a:r>
              <a:rPr dirty="0" sz="1200" spc="-5">
                <a:latin typeface="Arial"/>
                <a:cs typeface="Arial"/>
              </a:rPr>
              <a:t>and died there in </a:t>
            </a:r>
            <a:r>
              <a:rPr dirty="0" sz="1200" spc="-10">
                <a:latin typeface="Arial"/>
                <a:cs typeface="Arial"/>
              </a:rPr>
              <a:t>935. </a:t>
            </a:r>
            <a:r>
              <a:rPr dirty="0" sz="1200" spc="-5">
                <a:latin typeface="Arial"/>
                <a:cs typeface="Arial"/>
              </a:rPr>
              <a:t>The </a:t>
            </a:r>
            <a:r>
              <a:rPr dirty="0" sz="1200">
                <a:latin typeface="Arial"/>
                <a:cs typeface="Arial"/>
              </a:rPr>
              <a:t>story </a:t>
            </a:r>
            <a:r>
              <a:rPr dirty="0" sz="1200" spc="-5">
                <a:latin typeface="Arial"/>
                <a:cs typeface="Arial"/>
              </a:rPr>
              <a:t>of al-Ash'ari's conversion is </a:t>
            </a:r>
            <a:r>
              <a:rPr dirty="0" sz="1200">
                <a:latin typeface="Arial"/>
                <a:cs typeface="Arial"/>
              </a:rPr>
              <a:t>told </a:t>
            </a:r>
            <a:r>
              <a:rPr dirty="0" sz="1200" spc="-5">
                <a:latin typeface="Arial"/>
                <a:cs typeface="Arial"/>
              </a:rPr>
              <a:t>with </a:t>
            </a:r>
            <a:r>
              <a:rPr dirty="0" sz="1200">
                <a:latin typeface="Arial"/>
                <a:cs typeface="Arial"/>
              </a:rPr>
              <a:t>many </a:t>
            </a:r>
            <a:r>
              <a:rPr dirty="0" sz="1200" spc="-5">
                <a:latin typeface="Arial"/>
                <a:cs typeface="Arial"/>
              </a:rPr>
              <a:t>variations of  detail. </a:t>
            </a:r>
            <a:r>
              <a:rPr dirty="0" sz="1200">
                <a:latin typeface="Arial"/>
                <a:cs typeface="Arial"/>
              </a:rPr>
              <a:t>Three </a:t>
            </a:r>
            <a:r>
              <a:rPr dirty="0" sz="1200" spc="-5">
                <a:latin typeface="Arial"/>
                <a:cs typeface="Arial"/>
              </a:rPr>
              <a:t>times during </a:t>
            </a:r>
            <a:r>
              <a:rPr dirty="0" sz="1200">
                <a:latin typeface="Arial"/>
                <a:cs typeface="Arial"/>
              </a:rPr>
              <a:t>the month </a:t>
            </a:r>
            <a:r>
              <a:rPr dirty="0" sz="1200" spc="-5">
                <a:latin typeface="Arial"/>
                <a:cs typeface="Arial"/>
              </a:rPr>
              <a:t>of Ramadan </a:t>
            </a:r>
            <a:r>
              <a:rPr dirty="0" sz="1200" spc="-10">
                <a:latin typeface="Arial"/>
                <a:cs typeface="Arial"/>
              </a:rPr>
              <a:t>he </a:t>
            </a:r>
            <a:r>
              <a:rPr dirty="0" sz="1200" spc="-5">
                <a:latin typeface="Arial"/>
                <a:cs typeface="Arial"/>
              </a:rPr>
              <a:t>is said </a:t>
            </a:r>
            <a:r>
              <a:rPr dirty="0" sz="1200">
                <a:latin typeface="Arial"/>
                <a:cs typeface="Arial"/>
              </a:rPr>
              <a:t>to </a:t>
            </a:r>
            <a:r>
              <a:rPr dirty="0" sz="1200" spc="-5">
                <a:latin typeface="Arial"/>
                <a:cs typeface="Arial"/>
              </a:rPr>
              <a:t>have seen Muhammad in a  vision, and </a:t>
            </a:r>
            <a:r>
              <a:rPr dirty="0" sz="1200">
                <a:latin typeface="Arial"/>
                <a:cs typeface="Arial"/>
              </a:rPr>
              <a:t>to </a:t>
            </a:r>
            <a:r>
              <a:rPr dirty="0" sz="1200" spc="-5">
                <a:latin typeface="Arial"/>
                <a:cs typeface="Arial"/>
              </a:rPr>
              <a:t>have been commanded </a:t>
            </a:r>
            <a:r>
              <a:rPr dirty="0" sz="1200">
                <a:latin typeface="Arial"/>
                <a:cs typeface="Arial"/>
              </a:rPr>
              <a:t>to </a:t>
            </a:r>
            <a:r>
              <a:rPr dirty="0" sz="1200" spc="-5">
                <a:latin typeface="Arial"/>
                <a:cs typeface="Arial"/>
              </a:rPr>
              <a:t>adhere to true Tradition. </a:t>
            </a:r>
            <a:r>
              <a:rPr dirty="0" sz="1200" spc="-10">
                <a:latin typeface="Arial"/>
                <a:cs typeface="Arial"/>
              </a:rPr>
              <a:t>He </a:t>
            </a:r>
            <a:r>
              <a:rPr dirty="0" sz="1200" spc="-5">
                <a:latin typeface="Arial"/>
                <a:cs typeface="Arial"/>
              </a:rPr>
              <a:t>regarded this vision as  authoritative, and, since </a:t>
            </a:r>
            <a:r>
              <a:rPr dirty="0" sz="1200">
                <a:latin typeface="Arial"/>
                <a:cs typeface="Arial"/>
              </a:rPr>
              <a:t>the </a:t>
            </a:r>
            <a:r>
              <a:rPr dirty="0" sz="1200" spc="-5">
                <a:latin typeface="Arial"/>
                <a:cs typeface="Arial"/>
              </a:rPr>
              <a:t>traditionists disapproved of rational argument (kalam), he </a:t>
            </a:r>
            <a:r>
              <a:rPr dirty="0" sz="1200" spc="-10">
                <a:latin typeface="Arial"/>
                <a:cs typeface="Arial"/>
              </a:rPr>
              <a:t>gave  </a:t>
            </a:r>
            <a:r>
              <a:rPr dirty="0" sz="1200" spc="-5">
                <a:latin typeface="Arial"/>
                <a:cs typeface="Arial"/>
              </a:rPr>
              <a:t>up </a:t>
            </a:r>
            <a:r>
              <a:rPr dirty="0" sz="1200">
                <a:latin typeface="Arial"/>
                <a:cs typeface="Arial"/>
              </a:rPr>
              <a:t>this </a:t>
            </a:r>
            <a:r>
              <a:rPr dirty="0" sz="1200" spc="-5">
                <a:latin typeface="Arial"/>
                <a:cs typeface="Arial"/>
              </a:rPr>
              <a:t>also. In the third vision, however, he </a:t>
            </a:r>
            <a:r>
              <a:rPr dirty="0" sz="1200" spc="-10">
                <a:latin typeface="Arial"/>
                <a:cs typeface="Arial"/>
              </a:rPr>
              <a:t>was </a:t>
            </a:r>
            <a:r>
              <a:rPr dirty="0" sz="1200">
                <a:latin typeface="Arial"/>
                <a:cs typeface="Arial"/>
              </a:rPr>
              <a:t>told to </a:t>
            </a:r>
            <a:r>
              <a:rPr dirty="0" sz="1200" spc="-5">
                <a:latin typeface="Arial"/>
                <a:cs typeface="Arial"/>
              </a:rPr>
              <a:t>adhere to </a:t>
            </a:r>
            <a:r>
              <a:rPr dirty="0" sz="1200">
                <a:latin typeface="Arial"/>
                <a:cs typeface="Arial"/>
              </a:rPr>
              <a:t>true </a:t>
            </a:r>
            <a:r>
              <a:rPr dirty="0" sz="1200" spc="-5">
                <a:latin typeface="Arial"/>
                <a:cs typeface="Arial"/>
              </a:rPr>
              <a:t>Tradition but not </a:t>
            </a:r>
            <a:r>
              <a:rPr dirty="0" sz="1200">
                <a:latin typeface="Arial"/>
                <a:cs typeface="Arial"/>
              </a:rPr>
              <a:t>to  </a:t>
            </a:r>
            <a:r>
              <a:rPr dirty="0" sz="1200" spc="-5">
                <a:latin typeface="Arial"/>
                <a:cs typeface="Arial"/>
              </a:rPr>
              <a:t>abandon kalam. Whatever be </a:t>
            </a:r>
            <a:r>
              <a:rPr dirty="0" sz="1200">
                <a:latin typeface="Arial"/>
                <a:cs typeface="Arial"/>
              </a:rPr>
              <a:t>the truth </a:t>
            </a:r>
            <a:r>
              <a:rPr dirty="0" sz="1200" spc="-5">
                <a:latin typeface="Arial"/>
                <a:cs typeface="Arial"/>
              </a:rPr>
              <a:t>of this story, </a:t>
            </a:r>
            <a:r>
              <a:rPr dirty="0" sz="1200">
                <a:latin typeface="Arial"/>
                <a:cs typeface="Arial"/>
              </a:rPr>
              <a:t>it </a:t>
            </a:r>
            <a:r>
              <a:rPr dirty="0" sz="1200" spc="-5">
                <a:latin typeface="Arial"/>
                <a:cs typeface="Arial"/>
              </a:rPr>
              <a:t>is a succinct account of al-Ash'ari's  position. He abandoned the dogmatic theses of the Mu‘tazilah </a:t>
            </a:r>
            <a:r>
              <a:rPr dirty="0" sz="1200">
                <a:latin typeface="Arial"/>
                <a:cs typeface="Arial"/>
              </a:rPr>
              <a:t>for those </a:t>
            </a:r>
            <a:r>
              <a:rPr dirty="0" sz="1200" spc="-5">
                <a:latin typeface="Arial"/>
                <a:cs typeface="Arial"/>
              </a:rPr>
              <a:t>of opponents like  Ahmad </a:t>
            </a:r>
            <a:r>
              <a:rPr dirty="0" sz="1200">
                <a:latin typeface="Arial"/>
                <a:cs typeface="Arial"/>
              </a:rPr>
              <a:t>b. </a:t>
            </a:r>
            <a:r>
              <a:rPr dirty="0" sz="1200" spc="-5">
                <a:latin typeface="Arial"/>
                <a:cs typeface="Arial"/>
              </a:rPr>
              <a:t>Hanbal, whom </a:t>
            </a:r>
            <a:r>
              <a:rPr dirty="0" sz="1200" spc="-10">
                <a:latin typeface="Arial"/>
                <a:cs typeface="Arial"/>
              </a:rPr>
              <a:t>he </a:t>
            </a:r>
            <a:r>
              <a:rPr dirty="0" sz="1200" spc="-5">
                <a:latin typeface="Arial"/>
                <a:cs typeface="Arial"/>
              </a:rPr>
              <a:t>professed </a:t>
            </a:r>
            <a:r>
              <a:rPr dirty="0" sz="1200">
                <a:latin typeface="Arial"/>
                <a:cs typeface="Arial"/>
              </a:rPr>
              <a:t>to </a:t>
            </a:r>
            <a:r>
              <a:rPr dirty="0" sz="1200" spc="-5">
                <a:latin typeface="Arial"/>
                <a:cs typeface="Arial"/>
              </a:rPr>
              <a:t>follow; but he defended his new beliefs by </a:t>
            </a:r>
            <a:r>
              <a:rPr dirty="0" sz="1200">
                <a:latin typeface="Arial"/>
                <a:cs typeface="Arial"/>
              </a:rPr>
              <a:t>the </a:t>
            </a:r>
            <a:r>
              <a:rPr dirty="0" sz="1200" spc="-5">
                <a:latin typeface="Arial"/>
                <a:cs typeface="Arial"/>
              </a:rPr>
              <a:t>type  of rational argument which the Mu‘tazilah</a:t>
            </a:r>
            <a:r>
              <a:rPr dirty="0" sz="1200" spc="60">
                <a:latin typeface="Arial"/>
                <a:cs typeface="Arial"/>
              </a:rPr>
              <a:t> </a:t>
            </a:r>
            <a:r>
              <a:rPr dirty="0" sz="1200" spc="-5">
                <a:latin typeface="Arial"/>
                <a:cs typeface="Arial"/>
              </a:rPr>
              <a:t>employed.</a:t>
            </a:r>
            <a:endParaRPr sz="12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sz="1200" spc="-5">
                <a:latin typeface="Arial"/>
                <a:cs typeface="Arial"/>
              </a:rPr>
              <a:t>There </a:t>
            </a:r>
            <a:r>
              <a:rPr dirty="0" sz="1200">
                <a:latin typeface="Arial"/>
                <a:cs typeface="Arial"/>
              </a:rPr>
              <a:t>are </a:t>
            </a:r>
            <a:r>
              <a:rPr dirty="0" sz="1200" spc="-5">
                <a:latin typeface="Arial"/>
                <a:cs typeface="Arial"/>
              </a:rPr>
              <a:t>different fields of divergence between </a:t>
            </a:r>
            <a:r>
              <a:rPr dirty="0" sz="1200">
                <a:latin typeface="Arial"/>
                <a:cs typeface="Arial"/>
              </a:rPr>
              <a:t>the </a:t>
            </a:r>
            <a:r>
              <a:rPr dirty="0" sz="1200" spc="-10">
                <a:latin typeface="Arial"/>
                <a:cs typeface="Arial"/>
              </a:rPr>
              <a:t>two </a:t>
            </a:r>
            <a:r>
              <a:rPr dirty="0" sz="1200">
                <a:latin typeface="Arial"/>
                <a:cs typeface="Arial"/>
              </a:rPr>
              <a:t>schools </a:t>
            </a:r>
            <a:r>
              <a:rPr dirty="0" sz="1200" spc="-5">
                <a:latin typeface="Arial"/>
                <a:cs typeface="Arial"/>
              </a:rPr>
              <a:t>of thought.</a:t>
            </a:r>
            <a:endParaRPr sz="12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u="heavy" sz="1200" spc="-5" b="1" i="1">
                <a:uFill>
                  <a:solidFill>
                    <a:srgbClr val="000000"/>
                  </a:solidFill>
                </a:uFill>
                <a:latin typeface="Arial"/>
                <a:cs typeface="Arial"/>
              </a:rPr>
              <a:t>Anthropomorphic</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Verses.</a:t>
            </a:r>
            <a:endParaRPr sz="1200">
              <a:latin typeface="Arial"/>
              <a:cs typeface="Arial"/>
            </a:endParaRPr>
          </a:p>
          <a:p>
            <a:pPr>
              <a:lnSpc>
                <a:spcPct val="100000"/>
              </a:lnSpc>
              <a:spcBef>
                <a:spcPts val="40"/>
              </a:spcBef>
            </a:pPr>
            <a:endParaRPr sz="1200">
              <a:latin typeface="Arial"/>
              <a:cs typeface="Arial"/>
            </a:endParaRPr>
          </a:p>
          <a:p>
            <a:pPr algn="just" marL="12700" marR="5715">
              <a:lnSpc>
                <a:spcPts val="1380"/>
              </a:lnSpc>
            </a:pPr>
            <a:r>
              <a:rPr dirty="0" sz="1200">
                <a:latin typeface="Arial"/>
                <a:cs typeface="Arial"/>
              </a:rPr>
              <a:t>Concerning the </a:t>
            </a:r>
            <a:r>
              <a:rPr dirty="0" sz="1200" spc="-5">
                <a:latin typeface="Arial"/>
                <a:cs typeface="Arial"/>
              </a:rPr>
              <a:t>anthropomorphic verses on the Unity </a:t>
            </a:r>
            <a:r>
              <a:rPr dirty="0" sz="1200">
                <a:latin typeface="Arial"/>
                <a:cs typeface="Arial"/>
              </a:rPr>
              <a:t>Of </a:t>
            </a:r>
            <a:r>
              <a:rPr dirty="0" sz="1200" spc="-5">
                <a:latin typeface="Arial"/>
                <a:cs typeface="Arial"/>
              </a:rPr>
              <a:t>Allah about </a:t>
            </a:r>
            <a:r>
              <a:rPr dirty="0" sz="1200">
                <a:latin typeface="Arial"/>
                <a:cs typeface="Arial"/>
              </a:rPr>
              <a:t>God's </a:t>
            </a:r>
            <a:r>
              <a:rPr dirty="0" sz="1200" spc="-5">
                <a:latin typeface="Arial"/>
                <a:cs typeface="Arial"/>
              </a:rPr>
              <a:t>'hands' (38: 75),  'eyes' </a:t>
            </a:r>
            <a:r>
              <a:rPr dirty="0" sz="1200">
                <a:latin typeface="Arial"/>
                <a:cs typeface="Arial"/>
              </a:rPr>
              <a:t>(54: 14), 'face' (55: </a:t>
            </a:r>
            <a:r>
              <a:rPr dirty="0" sz="1200" spc="-5">
                <a:latin typeface="Arial"/>
                <a:cs typeface="Arial"/>
              </a:rPr>
              <a:t>27), throne (Surah 20: 5) and </a:t>
            </a:r>
            <a:r>
              <a:rPr dirty="0" sz="1200" spc="-50">
                <a:latin typeface="Arial"/>
                <a:cs typeface="Arial"/>
              </a:rPr>
              <a:t>‗beatific </a:t>
            </a:r>
            <a:r>
              <a:rPr dirty="0" sz="1200" spc="-5">
                <a:latin typeface="Arial"/>
                <a:cs typeface="Arial"/>
              </a:rPr>
              <a:t>vision‘ </a:t>
            </a:r>
            <a:r>
              <a:rPr dirty="0" sz="1200">
                <a:latin typeface="Arial"/>
                <a:cs typeface="Arial"/>
              </a:rPr>
              <a:t>(Surah </a:t>
            </a:r>
            <a:r>
              <a:rPr dirty="0" sz="1200" spc="-5">
                <a:latin typeface="Arial"/>
                <a:cs typeface="Arial"/>
              </a:rPr>
              <a:t>75: </a:t>
            </a:r>
            <a:r>
              <a:rPr dirty="0" sz="1200">
                <a:latin typeface="Arial"/>
                <a:cs typeface="Arial"/>
              </a:rPr>
              <a:t>23), </a:t>
            </a:r>
            <a:r>
              <a:rPr dirty="0" sz="1200" spc="-10">
                <a:latin typeface="Arial"/>
                <a:cs typeface="Arial"/>
              </a:rPr>
              <a:t>the  </a:t>
            </a:r>
            <a:r>
              <a:rPr dirty="0" sz="1200" spc="-5">
                <a:latin typeface="Arial"/>
                <a:cs typeface="Arial"/>
              </a:rPr>
              <a:t>following </a:t>
            </a:r>
            <a:r>
              <a:rPr dirty="0" sz="1200">
                <a:latin typeface="Arial"/>
                <a:cs typeface="Arial"/>
              </a:rPr>
              <a:t>can be</a:t>
            </a:r>
            <a:r>
              <a:rPr dirty="0" sz="1200" spc="-5">
                <a:latin typeface="Arial"/>
                <a:cs typeface="Arial"/>
              </a:rPr>
              <a:t> noted.</a:t>
            </a:r>
            <a:endParaRPr sz="1200">
              <a:latin typeface="Arial"/>
              <a:cs typeface="Arial"/>
            </a:endParaRPr>
          </a:p>
          <a:p>
            <a:pPr>
              <a:lnSpc>
                <a:spcPct val="100000"/>
              </a:lnSpc>
            </a:pPr>
            <a:endParaRPr sz="1200">
              <a:latin typeface="Arial"/>
              <a:cs typeface="Arial"/>
            </a:endParaRPr>
          </a:p>
          <a:p>
            <a:pPr algn="just" marL="12700" marR="5080">
              <a:lnSpc>
                <a:spcPts val="1380"/>
              </a:lnSpc>
            </a:pPr>
            <a:r>
              <a:rPr dirty="0" sz="1200" spc="-5">
                <a:latin typeface="Arial"/>
                <a:cs typeface="Arial"/>
              </a:rPr>
              <a:t>The Mu‘tazilah deny </a:t>
            </a:r>
            <a:r>
              <a:rPr dirty="0" sz="1200">
                <a:latin typeface="Arial"/>
                <a:cs typeface="Arial"/>
              </a:rPr>
              <a:t>the </a:t>
            </a:r>
            <a:r>
              <a:rPr dirty="0" sz="1200" spc="-5">
                <a:latin typeface="Arial"/>
                <a:cs typeface="Arial"/>
              </a:rPr>
              <a:t>literal meaning of these verses and </a:t>
            </a:r>
            <a:r>
              <a:rPr dirty="0" sz="1200" spc="-10">
                <a:latin typeface="Arial"/>
                <a:cs typeface="Arial"/>
              </a:rPr>
              <a:t>believed </a:t>
            </a:r>
            <a:r>
              <a:rPr dirty="0" sz="1200" spc="-5">
                <a:latin typeface="Arial"/>
                <a:cs typeface="Arial"/>
              </a:rPr>
              <a:t>in </a:t>
            </a:r>
            <a:r>
              <a:rPr dirty="0" sz="1200">
                <a:latin typeface="Arial"/>
                <a:cs typeface="Arial"/>
              </a:rPr>
              <a:t>the </a:t>
            </a:r>
            <a:r>
              <a:rPr dirty="0" sz="1200" spc="-5">
                <a:latin typeface="Arial"/>
                <a:cs typeface="Arial"/>
              </a:rPr>
              <a:t>metaphorical  meaning. </a:t>
            </a:r>
            <a:r>
              <a:rPr dirty="0" sz="1200">
                <a:latin typeface="Arial"/>
                <a:cs typeface="Arial"/>
              </a:rPr>
              <a:t>They </a:t>
            </a:r>
            <a:r>
              <a:rPr dirty="0" sz="1200" spc="-5">
                <a:latin typeface="Arial"/>
                <a:cs typeface="Arial"/>
              </a:rPr>
              <a:t>believe that they </a:t>
            </a:r>
            <a:r>
              <a:rPr dirty="0" sz="1200">
                <a:latin typeface="Arial"/>
                <a:cs typeface="Arial"/>
              </a:rPr>
              <a:t>can‘t be </a:t>
            </a:r>
            <a:r>
              <a:rPr dirty="0" sz="1200" spc="-5">
                <a:latin typeface="Arial"/>
                <a:cs typeface="Arial"/>
              </a:rPr>
              <a:t>seen </a:t>
            </a:r>
            <a:r>
              <a:rPr dirty="0" sz="1200" spc="-10">
                <a:latin typeface="Arial"/>
                <a:cs typeface="Arial"/>
              </a:rPr>
              <a:t>in </a:t>
            </a:r>
            <a:r>
              <a:rPr dirty="0" sz="1200">
                <a:latin typeface="Arial"/>
                <a:cs typeface="Arial"/>
              </a:rPr>
              <a:t>this </a:t>
            </a:r>
            <a:r>
              <a:rPr dirty="0" sz="1200" spc="-5">
                <a:latin typeface="Arial"/>
                <a:cs typeface="Arial"/>
              </a:rPr>
              <a:t>world and the </a:t>
            </a:r>
            <a:r>
              <a:rPr dirty="0" sz="1200">
                <a:latin typeface="Arial"/>
                <a:cs typeface="Arial"/>
              </a:rPr>
              <a:t>next. The </a:t>
            </a:r>
            <a:r>
              <a:rPr dirty="0" sz="1200" spc="-5">
                <a:latin typeface="Arial"/>
                <a:cs typeface="Arial"/>
              </a:rPr>
              <a:t>Attributes of  Allah </a:t>
            </a:r>
            <a:r>
              <a:rPr dirty="0" sz="1200" spc="-10">
                <a:latin typeface="Arial"/>
                <a:cs typeface="Arial"/>
              </a:rPr>
              <a:t>are </a:t>
            </a:r>
            <a:r>
              <a:rPr dirty="0" sz="1200" spc="-5">
                <a:latin typeface="Arial"/>
                <a:cs typeface="Arial"/>
              </a:rPr>
              <a:t>the Attributes of His Essence which are </a:t>
            </a:r>
            <a:r>
              <a:rPr dirty="0" sz="1200">
                <a:latin typeface="Arial"/>
                <a:cs typeface="Arial"/>
              </a:rPr>
              <a:t>within Him. </a:t>
            </a:r>
            <a:r>
              <a:rPr dirty="0" sz="1200" spc="-5">
                <a:latin typeface="Arial"/>
                <a:cs typeface="Arial"/>
              </a:rPr>
              <a:t>According </a:t>
            </a:r>
            <a:r>
              <a:rPr dirty="0" sz="1200">
                <a:latin typeface="Arial"/>
                <a:cs typeface="Arial"/>
              </a:rPr>
              <a:t>to </a:t>
            </a:r>
            <a:r>
              <a:rPr dirty="0" sz="1200" spc="-5">
                <a:latin typeface="Arial"/>
                <a:cs typeface="Arial"/>
              </a:rPr>
              <a:t>them the Qur‘an  has been created. The Holy Qur'an </a:t>
            </a:r>
            <a:r>
              <a:rPr dirty="0" sz="1200">
                <a:latin typeface="Arial"/>
                <a:cs typeface="Arial"/>
              </a:rPr>
              <a:t>(Kalam </a:t>
            </a:r>
            <a:r>
              <a:rPr dirty="0" sz="1200" spc="-5">
                <a:latin typeface="Arial"/>
                <a:cs typeface="Arial"/>
              </a:rPr>
              <a:t>Allah) is </a:t>
            </a:r>
            <a:r>
              <a:rPr dirty="0" sz="1200">
                <a:latin typeface="Arial"/>
                <a:cs typeface="Arial"/>
              </a:rPr>
              <a:t>created </a:t>
            </a:r>
            <a:r>
              <a:rPr dirty="0" sz="1200" spc="-5">
                <a:latin typeface="Arial"/>
                <a:cs typeface="Arial"/>
              </a:rPr>
              <a:t>(kalam, or speech, is </a:t>
            </a:r>
            <a:r>
              <a:rPr dirty="0" sz="1200" spc="-10">
                <a:latin typeface="Arial"/>
                <a:cs typeface="Arial"/>
              </a:rPr>
              <a:t>an </a:t>
            </a:r>
            <a:r>
              <a:rPr dirty="0" sz="1200" spc="-5">
                <a:latin typeface="Arial"/>
                <a:cs typeface="Arial"/>
              </a:rPr>
              <a:t>attribute  of Act, not of the Essence). God cannot be seen with the eyes, either in </a:t>
            </a:r>
            <a:r>
              <a:rPr dirty="0" sz="1200">
                <a:latin typeface="Arial"/>
                <a:cs typeface="Arial"/>
              </a:rPr>
              <a:t>this </a:t>
            </a:r>
            <a:r>
              <a:rPr dirty="0" sz="1200" spc="-10">
                <a:latin typeface="Arial"/>
                <a:cs typeface="Arial"/>
              </a:rPr>
              <a:t>world </a:t>
            </a:r>
            <a:r>
              <a:rPr dirty="0" sz="1200" spc="-5">
                <a:latin typeface="Arial"/>
                <a:cs typeface="Arial"/>
              </a:rPr>
              <a:t>or in the  </a:t>
            </a:r>
            <a:r>
              <a:rPr dirty="0" sz="1200">
                <a:latin typeface="Arial"/>
                <a:cs typeface="Arial"/>
              </a:rPr>
              <a:t>Hereafter.</a:t>
            </a:r>
            <a:endParaRPr sz="1200">
              <a:latin typeface="Arial"/>
              <a:cs typeface="Arial"/>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2535" cy="933831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6985">
              <a:lnSpc>
                <a:spcPct val="95900"/>
              </a:lnSpc>
            </a:pPr>
            <a:r>
              <a:rPr dirty="0" sz="1200" spc="-5">
                <a:latin typeface="Arial"/>
                <a:cs typeface="Arial"/>
              </a:rPr>
              <a:t>The Ash‘ari accept them but </a:t>
            </a:r>
            <a:r>
              <a:rPr dirty="0" sz="1200" spc="-10">
                <a:latin typeface="Arial"/>
                <a:cs typeface="Arial"/>
              </a:rPr>
              <a:t>adhere </a:t>
            </a:r>
            <a:r>
              <a:rPr dirty="0" sz="1200" spc="-5">
                <a:latin typeface="Arial"/>
                <a:cs typeface="Arial"/>
              </a:rPr>
              <a:t>that only Allah knows how these </a:t>
            </a:r>
            <a:r>
              <a:rPr dirty="0" sz="1200">
                <a:latin typeface="Arial"/>
                <a:cs typeface="Arial"/>
              </a:rPr>
              <a:t>features </a:t>
            </a:r>
            <a:r>
              <a:rPr dirty="0" sz="1200" spc="-5">
                <a:latin typeface="Arial"/>
                <a:cs typeface="Arial"/>
              </a:rPr>
              <a:t>are and </a:t>
            </a:r>
            <a:r>
              <a:rPr dirty="0" sz="1200" spc="-10">
                <a:latin typeface="Arial"/>
                <a:cs typeface="Arial"/>
              </a:rPr>
              <a:t>we  </a:t>
            </a:r>
            <a:r>
              <a:rPr dirty="0" sz="1200" spc="-5">
                <a:latin typeface="Arial"/>
                <a:cs typeface="Arial"/>
              </a:rPr>
              <a:t>don‘t need </a:t>
            </a:r>
            <a:r>
              <a:rPr dirty="0" sz="1200">
                <a:latin typeface="Arial"/>
                <a:cs typeface="Arial"/>
              </a:rPr>
              <a:t>to understand. </a:t>
            </a:r>
            <a:r>
              <a:rPr dirty="0" sz="1200" spc="20">
                <a:latin typeface="Arial"/>
                <a:cs typeface="Arial"/>
              </a:rPr>
              <a:t>We </a:t>
            </a:r>
            <a:r>
              <a:rPr dirty="0" sz="1200" spc="-5">
                <a:latin typeface="Arial"/>
                <a:cs typeface="Arial"/>
              </a:rPr>
              <a:t>don‘t have the </a:t>
            </a:r>
            <a:r>
              <a:rPr dirty="0" sz="1200">
                <a:latin typeface="Arial"/>
                <a:cs typeface="Arial"/>
              </a:rPr>
              <a:t>faculty to </a:t>
            </a:r>
            <a:r>
              <a:rPr dirty="0" sz="1200" spc="-5">
                <a:latin typeface="Arial"/>
                <a:cs typeface="Arial"/>
              </a:rPr>
              <a:t>understand. </a:t>
            </a:r>
            <a:r>
              <a:rPr dirty="0" sz="1200">
                <a:latin typeface="Arial"/>
                <a:cs typeface="Arial"/>
              </a:rPr>
              <a:t>The attributes </a:t>
            </a:r>
            <a:r>
              <a:rPr dirty="0" sz="1200" spc="-5">
                <a:latin typeface="Arial"/>
                <a:cs typeface="Arial"/>
              </a:rPr>
              <a:t>of Allah  need </a:t>
            </a:r>
            <a:r>
              <a:rPr dirty="0" sz="1200">
                <a:latin typeface="Arial"/>
                <a:cs typeface="Arial"/>
              </a:rPr>
              <a:t>no </a:t>
            </a:r>
            <a:r>
              <a:rPr dirty="0" sz="1200" spc="-5">
                <a:latin typeface="Arial"/>
                <a:cs typeface="Arial"/>
              </a:rPr>
              <a:t>question </a:t>
            </a:r>
            <a:r>
              <a:rPr dirty="0" sz="1200">
                <a:latin typeface="Arial"/>
                <a:cs typeface="Arial"/>
              </a:rPr>
              <a:t>to </a:t>
            </a:r>
            <a:r>
              <a:rPr dirty="0" sz="1200" spc="-5">
                <a:latin typeface="Arial"/>
                <a:cs typeface="Arial"/>
              </a:rPr>
              <a:t>be stipulated. </a:t>
            </a:r>
            <a:r>
              <a:rPr dirty="0" sz="1200" spc="25">
                <a:latin typeface="Arial"/>
                <a:cs typeface="Arial"/>
              </a:rPr>
              <a:t>We </a:t>
            </a:r>
            <a:r>
              <a:rPr dirty="0" sz="1200">
                <a:latin typeface="Arial"/>
                <a:cs typeface="Arial"/>
              </a:rPr>
              <a:t>just </a:t>
            </a:r>
            <a:r>
              <a:rPr dirty="0" sz="1200" spc="-5">
                <a:latin typeface="Arial"/>
                <a:cs typeface="Arial"/>
              </a:rPr>
              <a:t>have </a:t>
            </a:r>
            <a:r>
              <a:rPr dirty="0" sz="1200">
                <a:latin typeface="Arial"/>
                <a:cs typeface="Arial"/>
              </a:rPr>
              <a:t>to </a:t>
            </a:r>
            <a:r>
              <a:rPr dirty="0" sz="1200" spc="-5">
                <a:latin typeface="Arial"/>
                <a:cs typeface="Arial"/>
              </a:rPr>
              <a:t>accept them. </a:t>
            </a:r>
            <a:r>
              <a:rPr dirty="0" sz="1200">
                <a:latin typeface="Arial"/>
                <a:cs typeface="Arial"/>
              </a:rPr>
              <a:t>For them </a:t>
            </a:r>
            <a:r>
              <a:rPr dirty="0" sz="1200" spc="-5">
                <a:latin typeface="Arial"/>
                <a:cs typeface="Arial"/>
              </a:rPr>
              <a:t>the Qur‘an </a:t>
            </a:r>
            <a:r>
              <a:rPr dirty="0" sz="1200" spc="-10">
                <a:latin typeface="Arial"/>
                <a:cs typeface="Arial"/>
              </a:rPr>
              <a:t>is  </a:t>
            </a:r>
            <a:r>
              <a:rPr dirty="0" sz="1200">
                <a:latin typeface="Arial"/>
                <a:cs typeface="Arial"/>
              </a:rPr>
              <a:t>Eternal </a:t>
            </a:r>
            <a:r>
              <a:rPr dirty="0" sz="1200" spc="-5">
                <a:latin typeface="Arial"/>
                <a:cs typeface="Arial"/>
              </a:rPr>
              <a:t>as the words of Allah are eternal. </a:t>
            </a:r>
            <a:r>
              <a:rPr dirty="0" sz="1200">
                <a:latin typeface="Arial"/>
                <a:cs typeface="Arial"/>
              </a:rPr>
              <a:t>The </a:t>
            </a:r>
            <a:r>
              <a:rPr dirty="0" sz="1200" spc="-5">
                <a:latin typeface="Arial"/>
                <a:cs typeface="Arial"/>
              </a:rPr>
              <a:t>Divine Attributes, contrary </a:t>
            </a:r>
            <a:r>
              <a:rPr dirty="0" sz="1200">
                <a:latin typeface="Arial"/>
                <a:cs typeface="Arial"/>
              </a:rPr>
              <a:t>to the </a:t>
            </a:r>
            <a:r>
              <a:rPr dirty="0" sz="1200" spc="-5">
                <a:latin typeface="Arial"/>
                <a:cs typeface="Arial"/>
              </a:rPr>
              <a:t>belief of </a:t>
            </a:r>
            <a:r>
              <a:rPr dirty="0" sz="1200">
                <a:latin typeface="Arial"/>
                <a:cs typeface="Arial"/>
              </a:rPr>
              <a:t>the  </a:t>
            </a:r>
            <a:r>
              <a:rPr dirty="0" sz="1200" spc="-5">
                <a:latin typeface="Arial"/>
                <a:cs typeface="Arial"/>
              </a:rPr>
              <a:t>Mu'tazilah and </a:t>
            </a:r>
            <a:r>
              <a:rPr dirty="0" sz="1200">
                <a:latin typeface="Arial"/>
                <a:cs typeface="Arial"/>
              </a:rPr>
              <a:t>the </a:t>
            </a:r>
            <a:r>
              <a:rPr dirty="0" sz="1200" spc="-5">
                <a:latin typeface="Arial"/>
                <a:cs typeface="Arial"/>
              </a:rPr>
              <a:t>philosophers, are not identical with </a:t>
            </a:r>
            <a:r>
              <a:rPr dirty="0" sz="1200">
                <a:latin typeface="Arial"/>
                <a:cs typeface="Arial"/>
              </a:rPr>
              <a:t>the </a:t>
            </a:r>
            <a:r>
              <a:rPr dirty="0" sz="1200" spc="-5">
                <a:latin typeface="Arial"/>
                <a:cs typeface="Arial"/>
              </a:rPr>
              <a:t>Divine Essence. Possibility of the  beatific vision: </a:t>
            </a:r>
            <a:r>
              <a:rPr dirty="0" sz="1200">
                <a:latin typeface="Arial"/>
                <a:cs typeface="Arial"/>
              </a:rPr>
              <a:t>God </a:t>
            </a:r>
            <a:r>
              <a:rPr dirty="0" sz="1200" spc="-10">
                <a:latin typeface="Arial"/>
                <a:cs typeface="Arial"/>
              </a:rPr>
              <a:t>shall </a:t>
            </a:r>
            <a:r>
              <a:rPr dirty="0" sz="1200" spc="-5">
                <a:latin typeface="Arial"/>
                <a:cs typeface="Arial"/>
              </a:rPr>
              <a:t>be visible </a:t>
            </a:r>
            <a:r>
              <a:rPr dirty="0" sz="1200">
                <a:latin typeface="Arial"/>
                <a:cs typeface="Arial"/>
              </a:rPr>
              <a:t>to the </a:t>
            </a:r>
            <a:r>
              <a:rPr dirty="0" sz="1200" spc="-5">
                <a:latin typeface="Arial"/>
                <a:cs typeface="Arial"/>
              </a:rPr>
              <a:t>eyes on the Day </a:t>
            </a:r>
            <a:r>
              <a:rPr dirty="0" sz="1200">
                <a:latin typeface="Arial"/>
                <a:cs typeface="Arial"/>
              </a:rPr>
              <a:t>of </a:t>
            </a:r>
            <a:r>
              <a:rPr dirty="0" sz="1200" spc="-5">
                <a:latin typeface="Arial"/>
                <a:cs typeface="Arial"/>
              </a:rPr>
              <a:t>Resurrection (contrary </a:t>
            </a:r>
            <a:r>
              <a:rPr dirty="0" sz="1200">
                <a:latin typeface="Arial"/>
                <a:cs typeface="Arial"/>
              </a:rPr>
              <a:t>to the  </a:t>
            </a:r>
            <a:r>
              <a:rPr dirty="0" sz="1200" spc="-5">
                <a:latin typeface="Arial"/>
                <a:cs typeface="Arial"/>
              </a:rPr>
              <a:t>view </a:t>
            </a:r>
            <a:r>
              <a:rPr dirty="0" sz="1200">
                <a:latin typeface="Arial"/>
                <a:cs typeface="Arial"/>
              </a:rPr>
              <a:t>of </a:t>
            </a:r>
            <a:r>
              <a:rPr dirty="0" sz="1200" spc="-5">
                <a:latin typeface="Arial"/>
                <a:cs typeface="Arial"/>
              </a:rPr>
              <a:t>the Mu'tazilah and </a:t>
            </a:r>
            <a:r>
              <a:rPr dirty="0" sz="1200">
                <a:latin typeface="Arial"/>
                <a:cs typeface="Arial"/>
              </a:rPr>
              <a:t>the </a:t>
            </a:r>
            <a:r>
              <a:rPr dirty="0" sz="1200" spc="-5">
                <a:latin typeface="Arial"/>
                <a:cs typeface="Arial"/>
              </a:rPr>
              <a:t>philosophers). </a:t>
            </a:r>
            <a:r>
              <a:rPr dirty="0" sz="1200">
                <a:latin typeface="Arial"/>
                <a:cs typeface="Arial"/>
              </a:rPr>
              <a:t>To tell </a:t>
            </a:r>
            <a:r>
              <a:rPr dirty="0" sz="1200" spc="-5">
                <a:latin typeface="Arial"/>
                <a:cs typeface="Arial"/>
              </a:rPr>
              <a:t>a lie or break a </a:t>
            </a:r>
            <a:r>
              <a:rPr dirty="0" sz="1200" spc="5">
                <a:latin typeface="Arial"/>
                <a:cs typeface="Arial"/>
              </a:rPr>
              <a:t>promise </a:t>
            </a:r>
            <a:r>
              <a:rPr dirty="0" sz="1200" spc="-5">
                <a:latin typeface="Arial"/>
                <a:cs typeface="Arial"/>
              </a:rPr>
              <a:t>is not possible  </a:t>
            </a:r>
            <a:r>
              <a:rPr dirty="0" sz="1200">
                <a:latin typeface="Arial"/>
                <a:cs typeface="Arial"/>
              </a:rPr>
              <a:t>for </a:t>
            </a:r>
            <a:r>
              <a:rPr dirty="0" sz="1200" spc="-5">
                <a:latin typeface="Arial"/>
                <a:cs typeface="Arial"/>
              </a:rPr>
              <a:t>God. The Divine </a:t>
            </a:r>
            <a:r>
              <a:rPr dirty="0" sz="1200">
                <a:latin typeface="Arial"/>
                <a:cs typeface="Arial"/>
              </a:rPr>
              <a:t>Acts </a:t>
            </a:r>
            <a:r>
              <a:rPr dirty="0" sz="1200" spc="-10">
                <a:latin typeface="Arial"/>
                <a:cs typeface="Arial"/>
              </a:rPr>
              <a:t>do </a:t>
            </a:r>
            <a:r>
              <a:rPr dirty="0" sz="1200" spc="-5">
                <a:latin typeface="Arial"/>
                <a:cs typeface="Arial"/>
              </a:rPr>
              <a:t>not follow any purpose or </a:t>
            </a:r>
            <a:r>
              <a:rPr dirty="0" sz="1200" spc="-10">
                <a:latin typeface="Arial"/>
                <a:cs typeface="Arial"/>
              </a:rPr>
              <a:t>aim </a:t>
            </a:r>
            <a:r>
              <a:rPr dirty="0" sz="1200" spc="-5">
                <a:latin typeface="Arial"/>
                <a:cs typeface="Arial"/>
              </a:rPr>
              <a:t>(contrary </a:t>
            </a:r>
            <a:r>
              <a:rPr dirty="0" sz="1200">
                <a:latin typeface="Arial"/>
                <a:cs typeface="Arial"/>
              </a:rPr>
              <a:t>to </a:t>
            </a:r>
            <a:r>
              <a:rPr dirty="0" sz="1200" spc="-5">
                <a:latin typeface="Arial"/>
                <a:cs typeface="Arial"/>
              </a:rPr>
              <a:t>the view </a:t>
            </a:r>
            <a:r>
              <a:rPr dirty="0" sz="1200">
                <a:latin typeface="Arial"/>
                <a:cs typeface="Arial"/>
              </a:rPr>
              <a:t>of the  </a:t>
            </a:r>
            <a:r>
              <a:rPr dirty="0" sz="1200" spc="-5">
                <a:latin typeface="Arial"/>
                <a:cs typeface="Arial"/>
              </a:rPr>
              <a:t>philosophers and </a:t>
            </a:r>
            <a:r>
              <a:rPr dirty="0" sz="1200">
                <a:latin typeface="Arial"/>
                <a:cs typeface="Arial"/>
              </a:rPr>
              <a:t>the</a:t>
            </a:r>
            <a:r>
              <a:rPr dirty="0" sz="1200" spc="-40">
                <a:latin typeface="Arial"/>
                <a:cs typeface="Arial"/>
              </a:rPr>
              <a:t> </a:t>
            </a:r>
            <a:r>
              <a:rPr dirty="0" sz="1200" spc="-5">
                <a:latin typeface="Arial"/>
                <a:cs typeface="Arial"/>
              </a:rPr>
              <a:t>Mu'tazilah)</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Divine Justice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Human</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Destiny</a:t>
            </a:r>
            <a:endParaRPr sz="1200">
              <a:latin typeface="Arial"/>
              <a:cs typeface="Arial"/>
            </a:endParaRPr>
          </a:p>
          <a:p>
            <a:pPr>
              <a:lnSpc>
                <a:spcPct val="100000"/>
              </a:lnSpc>
            </a:pPr>
            <a:endParaRPr sz="1200">
              <a:latin typeface="Arial"/>
              <a:cs typeface="Arial"/>
            </a:endParaRPr>
          </a:p>
          <a:p>
            <a:pPr algn="just" marL="12700" marR="6350">
              <a:lnSpc>
                <a:spcPct val="95900"/>
              </a:lnSpc>
            </a:pPr>
            <a:r>
              <a:rPr dirty="0" sz="1200" spc="-5">
                <a:latin typeface="Arial"/>
                <a:cs typeface="Arial"/>
              </a:rPr>
              <a:t>According </a:t>
            </a:r>
            <a:r>
              <a:rPr dirty="0" sz="1200">
                <a:latin typeface="Arial"/>
                <a:cs typeface="Arial"/>
              </a:rPr>
              <a:t>to </a:t>
            </a:r>
            <a:r>
              <a:rPr dirty="0" sz="1200" spc="-5">
                <a:latin typeface="Arial"/>
                <a:cs typeface="Arial"/>
              </a:rPr>
              <a:t>the Mu‘tazilah Allah </a:t>
            </a:r>
            <a:r>
              <a:rPr dirty="0" sz="1200">
                <a:latin typeface="Arial"/>
                <a:cs typeface="Arial"/>
              </a:rPr>
              <a:t>must </a:t>
            </a:r>
            <a:r>
              <a:rPr dirty="0" sz="1200" spc="-10">
                <a:latin typeface="Arial"/>
                <a:cs typeface="Arial"/>
              </a:rPr>
              <a:t>be </a:t>
            </a:r>
            <a:r>
              <a:rPr dirty="0" sz="1200" spc="-5">
                <a:latin typeface="Arial"/>
                <a:cs typeface="Arial"/>
              </a:rPr>
              <a:t>just as He has promised. Justice ('adl), </a:t>
            </a:r>
            <a:r>
              <a:rPr dirty="0" sz="1200">
                <a:latin typeface="Arial"/>
                <a:cs typeface="Arial"/>
              </a:rPr>
              <a:t>i.e. </a:t>
            </a:r>
            <a:r>
              <a:rPr dirty="0" sz="1200" spc="-5">
                <a:latin typeface="Arial"/>
                <a:cs typeface="Arial"/>
              </a:rPr>
              <a:t>God is  </a:t>
            </a:r>
            <a:r>
              <a:rPr dirty="0" sz="1200">
                <a:latin typeface="Arial"/>
                <a:cs typeface="Arial"/>
              </a:rPr>
              <a:t>just </a:t>
            </a:r>
            <a:r>
              <a:rPr dirty="0" sz="1200" spc="-5">
                <a:latin typeface="Arial"/>
                <a:cs typeface="Arial"/>
              </a:rPr>
              <a:t>and that He </a:t>
            </a:r>
            <a:r>
              <a:rPr dirty="0" sz="1200" spc="-10">
                <a:latin typeface="Arial"/>
                <a:cs typeface="Arial"/>
              </a:rPr>
              <a:t>does </a:t>
            </a:r>
            <a:r>
              <a:rPr dirty="0" sz="1200" spc="-5">
                <a:latin typeface="Arial"/>
                <a:cs typeface="Arial"/>
              </a:rPr>
              <a:t>not oppress His creatures. </a:t>
            </a:r>
            <a:r>
              <a:rPr dirty="0" sz="1200" spc="20">
                <a:latin typeface="Arial"/>
                <a:cs typeface="Arial"/>
              </a:rPr>
              <a:t>We </a:t>
            </a:r>
            <a:r>
              <a:rPr dirty="0" sz="1200" spc="-10">
                <a:latin typeface="Arial"/>
                <a:cs typeface="Arial"/>
              </a:rPr>
              <a:t>have </a:t>
            </a:r>
            <a:r>
              <a:rPr dirty="0" sz="1200">
                <a:latin typeface="Arial"/>
                <a:cs typeface="Arial"/>
              </a:rPr>
              <a:t>the </a:t>
            </a:r>
            <a:r>
              <a:rPr dirty="0" sz="1200" spc="-5">
                <a:latin typeface="Arial"/>
                <a:cs typeface="Arial"/>
              </a:rPr>
              <a:t>opportunity </a:t>
            </a:r>
            <a:r>
              <a:rPr dirty="0" sz="1200">
                <a:latin typeface="Arial"/>
                <a:cs typeface="Arial"/>
              </a:rPr>
              <a:t>to </a:t>
            </a:r>
            <a:r>
              <a:rPr dirty="0" sz="1200" spc="-5">
                <a:latin typeface="Arial"/>
                <a:cs typeface="Arial"/>
              </a:rPr>
              <a:t>choose  between the right and </a:t>
            </a:r>
            <a:r>
              <a:rPr dirty="0" sz="1200">
                <a:latin typeface="Arial"/>
                <a:cs typeface="Arial"/>
              </a:rPr>
              <a:t>the </a:t>
            </a:r>
            <a:r>
              <a:rPr dirty="0" sz="1200" spc="-5">
                <a:latin typeface="Arial"/>
                <a:cs typeface="Arial"/>
              </a:rPr>
              <a:t>wrong </a:t>
            </a:r>
            <a:r>
              <a:rPr dirty="0" sz="1200">
                <a:latin typeface="Arial"/>
                <a:cs typeface="Arial"/>
              </a:rPr>
              <a:t>path. </a:t>
            </a:r>
            <a:r>
              <a:rPr dirty="0" sz="1200" spc="-5">
                <a:latin typeface="Arial"/>
                <a:cs typeface="Arial"/>
              </a:rPr>
              <a:t>Allah </a:t>
            </a:r>
            <a:r>
              <a:rPr dirty="0" sz="1200" spc="-10">
                <a:latin typeface="Arial"/>
                <a:cs typeface="Arial"/>
              </a:rPr>
              <a:t>is </a:t>
            </a:r>
            <a:r>
              <a:rPr dirty="0" sz="1200" spc="-5">
                <a:latin typeface="Arial"/>
                <a:cs typeface="Arial"/>
              </a:rPr>
              <a:t>not responsible </a:t>
            </a:r>
            <a:r>
              <a:rPr dirty="0" sz="1200">
                <a:latin typeface="Arial"/>
                <a:cs typeface="Arial"/>
              </a:rPr>
              <a:t>for </a:t>
            </a:r>
            <a:r>
              <a:rPr dirty="0" sz="1200" spc="-5">
                <a:latin typeface="Arial"/>
                <a:cs typeface="Arial"/>
              </a:rPr>
              <a:t>our deeds as </a:t>
            </a:r>
            <a:r>
              <a:rPr dirty="0" sz="1200">
                <a:latin typeface="Arial"/>
                <a:cs typeface="Arial"/>
              </a:rPr>
              <a:t>there </a:t>
            </a:r>
            <a:r>
              <a:rPr dirty="0" sz="1200" spc="-5">
                <a:latin typeface="Arial"/>
                <a:cs typeface="Arial"/>
              </a:rPr>
              <a:t>is </a:t>
            </a:r>
            <a:r>
              <a:rPr dirty="0" sz="1200" spc="-15">
                <a:latin typeface="Arial"/>
                <a:cs typeface="Arial"/>
              </a:rPr>
              <a:t>no  </a:t>
            </a:r>
            <a:r>
              <a:rPr dirty="0" sz="1200" spc="-5">
                <a:latin typeface="Arial"/>
                <a:cs typeface="Arial"/>
              </a:rPr>
              <a:t>Predestination. </a:t>
            </a:r>
            <a:r>
              <a:rPr dirty="0" sz="1200">
                <a:latin typeface="Arial"/>
                <a:cs typeface="Arial"/>
              </a:rPr>
              <a:t>The </a:t>
            </a:r>
            <a:r>
              <a:rPr dirty="0" sz="1200" spc="-10">
                <a:latin typeface="Arial"/>
                <a:cs typeface="Arial"/>
              </a:rPr>
              <a:t>Divine </a:t>
            </a:r>
            <a:r>
              <a:rPr dirty="0" sz="1200">
                <a:latin typeface="Arial"/>
                <a:cs typeface="Arial"/>
              </a:rPr>
              <a:t>Acts </a:t>
            </a:r>
            <a:r>
              <a:rPr dirty="0" sz="1200" spc="-5">
                <a:latin typeface="Arial"/>
                <a:cs typeface="Arial"/>
              </a:rPr>
              <a:t>are caused and controlled by </a:t>
            </a:r>
            <a:r>
              <a:rPr dirty="0" sz="1200">
                <a:latin typeface="Arial"/>
                <a:cs typeface="Arial"/>
              </a:rPr>
              <a:t>purposes </a:t>
            </a:r>
            <a:r>
              <a:rPr dirty="0" sz="1200" spc="-5">
                <a:latin typeface="Arial"/>
                <a:cs typeface="Arial"/>
              </a:rPr>
              <a:t>(i.e. every Divine </a:t>
            </a:r>
            <a:r>
              <a:rPr dirty="0" sz="1200">
                <a:latin typeface="Arial"/>
                <a:cs typeface="Arial"/>
              </a:rPr>
              <a:t>Act  </a:t>
            </a:r>
            <a:r>
              <a:rPr dirty="0" sz="1200" spc="-5">
                <a:latin typeface="Arial"/>
                <a:cs typeface="Arial"/>
              </a:rPr>
              <a:t>is </a:t>
            </a:r>
            <a:r>
              <a:rPr dirty="0" sz="1200">
                <a:latin typeface="Arial"/>
                <a:cs typeface="Arial"/>
              </a:rPr>
              <a:t>for the </a:t>
            </a:r>
            <a:r>
              <a:rPr dirty="0" sz="1200" spc="-5">
                <a:latin typeface="Arial"/>
                <a:cs typeface="Arial"/>
              </a:rPr>
              <a:t>sake of some beneficial outcome). 'Ali </a:t>
            </a:r>
            <a:r>
              <a:rPr dirty="0" sz="1200">
                <a:latin typeface="Arial"/>
                <a:cs typeface="Arial"/>
              </a:rPr>
              <a:t>(A) </a:t>
            </a:r>
            <a:r>
              <a:rPr dirty="0" sz="1200" spc="-10">
                <a:latin typeface="Arial"/>
                <a:cs typeface="Arial"/>
              </a:rPr>
              <a:t>was </a:t>
            </a:r>
            <a:r>
              <a:rPr dirty="0" sz="1200" spc="-5">
                <a:latin typeface="Arial"/>
                <a:cs typeface="Arial"/>
              </a:rPr>
              <a:t>superior </a:t>
            </a:r>
            <a:r>
              <a:rPr dirty="0" sz="1200">
                <a:latin typeface="Arial"/>
                <a:cs typeface="Arial"/>
              </a:rPr>
              <a:t>to the Caliphs </a:t>
            </a:r>
            <a:r>
              <a:rPr dirty="0" sz="1200" spc="-5">
                <a:latin typeface="Arial"/>
                <a:cs typeface="Arial"/>
              </a:rPr>
              <a:t>who  preceded him </a:t>
            </a:r>
            <a:r>
              <a:rPr dirty="0" sz="1200">
                <a:latin typeface="Arial"/>
                <a:cs typeface="Arial"/>
              </a:rPr>
              <a:t>(this </a:t>
            </a:r>
            <a:r>
              <a:rPr dirty="0" sz="1200" spc="-5">
                <a:latin typeface="Arial"/>
                <a:cs typeface="Arial"/>
              </a:rPr>
              <a:t>is the view </a:t>
            </a:r>
            <a:r>
              <a:rPr dirty="0" sz="1200">
                <a:latin typeface="Arial"/>
                <a:cs typeface="Arial"/>
              </a:rPr>
              <a:t>of </a:t>
            </a:r>
            <a:r>
              <a:rPr dirty="0" sz="1200" spc="-5">
                <a:latin typeface="Arial"/>
                <a:cs typeface="Arial"/>
              </a:rPr>
              <a:t>some of the Mu'tazilah, not of </a:t>
            </a:r>
            <a:r>
              <a:rPr dirty="0" sz="1200" spc="-10">
                <a:latin typeface="Arial"/>
                <a:cs typeface="Arial"/>
              </a:rPr>
              <a:t>all. </a:t>
            </a:r>
            <a:r>
              <a:rPr dirty="0" sz="1200">
                <a:latin typeface="Arial"/>
                <a:cs typeface="Arial"/>
              </a:rPr>
              <a:t>The </a:t>
            </a:r>
            <a:r>
              <a:rPr dirty="0" sz="1200" spc="-5">
                <a:latin typeface="Arial"/>
                <a:cs typeface="Arial"/>
              </a:rPr>
              <a:t>earlier Mu'tazilah </a:t>
            </a:r>
            <a:r>
              <a:rPr dirty="0" sz="1200">
                <a:latin typeface="Arial"/>
                <a:cs typeface="Arial"/>
              </a:rPr>
              <a:t>-  </a:t>
            </a:r>
            <a:r>
              <a:rPr dirty="0" sz="1200" spc="-5">
                <a:latin typeface="Arial"/>
                <a:cs typeface="Arial"/>
              </a:rPr>
              <a:t>with </a:t>
            </a:r>
            <a:r>
              <a:rPr dirty="0" sz="1200">
                <a:latin typeface="Arial"/>
                <a:cs typeface="Arial"/>
              </a:rPr>
              <a:t>the </a:t>
            </a:r>
            <a:r>
              <a:rPr dirty="0" sz="1200" spc="-5">
                <a:latin typeface="Arial"/>
                <a:cs typeface="Arial"/>
              </a:rPr>
              <a:t>exception of </a:t>
            </a:r>
            <a:r>
              <a:rPr dirty="0" sz="1200">
                <a:latin typeface="Arial"/>
                <a:cs typeface="Arial"/>
              </a:rPr>
              <a:t>Wasil </a:t>
            </a:r>
            <a:r>
              <a:rPr dirty="0" sz="1200" spc="-5">
                <a:latin typeface="Arial"/>
                <a:cs typeface="Arial"/>
              </a:rPr>
              <a:t>ibn 'Ata' </a:t>
            </a:r>
            <a:r>
              <a:rPr dirty="0" sz="1200">
                <a:latin typeface="Arial"/>
                <a:cs typeface="Arial"/>
              </a:rPr>
              <a:t>considered </a:t>
            </a:r>
            <a:r>
              <a:rPr dirty="0" sz="1200" spc="-5">
                <a:latin typeface="Arial"/>
                <a:cs typeface="Arial"/>
              </a:rPr>
              <a:t>Abu </a:t>
            </a:r>
            <a:r>
              <a:rPr dirty="0" sz="1200">
                <a:latin typeface="Arial"/>
                <a:cs typeface="Arial"/>
              </a:rPr>
              <a:t>Bakr </a:t>
            </a:r>
            <a:r>
              <a:rPr dirty="0" sz="1200" spc="-5">
                <a:latin typeface="Arial"/>
                <a:cs typeface="Arial"/>
              </a:rPr>
              <a:t>as the best, but the majority </a:t>
            </a:r>
            <a:r>
              <a:rPr dirty="0" sz="1200">
                <a:latin typeface="Arial"/>
                <a:cs typeface="Arial"/>
              </a:rPr>
              <a:t>of the  latter </a:t>
            </a:r>
            <a:r>
              <a:rPr dirty="0" sz="1200" spc="-5">
                <a:latin typeface="Arial"/>
                <a:cs typeface="Arial"/>
              </a:rPr>
              <a:t>Mu'tazilah considered 'Ali </a:t>
            </a:r>
            <a:r>
              <a:rPr dirty="0" sz="1200">
                <a:latin typeface="Arial"/>
                <a:cs typeface="Arial"/>
              </a:rPr>
              <a:t>(A) </a:t>
            </a:r>
            <a:r>
              <a:rPr dirty="0" sz="1200" spc="-5">
                <a:latin typeface="Arial"/>
                <a:cs typeface="Arial"/>
              </a:rPr>
              <a:t>as superior). Evaluation and criticism of </a:t>
            </a:r>
            <a:r>
              <a:rPr dirty="0" sz="1200">
                <a:latin typeface="Arial"/>
                <a:cs typeface="Arial"/>
              </a:rPr>
              <a:t>the </a:t>
            </a:r>
            <a:r>
              <a:rPr dirty="0" sz="1200" spc="-5">
                <a:latin typeface="Arial"/>
                <a:cs typeface="Arial"/>
              </a:rPr>
              <a:t>Companions  of </a:t>
            </a:r>
            <a:r>
              <a:rPr dirty="0" sz="1200">
                <a:latin typeface="Arial"/>
                <a:cs typeface="Arial"/>
              </a:rPr>
              <a:t>the </a:t>
            </a:r>
            <a:r>
              <a:rPr dirty="0" sz="1200" spc="-5">
                <a:latin typeface="Arial"/>
                <a:cs typeface="Arial"/>
              </a:rPr>
              <a:t>Prophet </a:t>
            </a:r>
            <a:r>
              <a:rPr dirty="0" sz="1200">
                <a:latin typeface="Arial"/>
                <a:cs typeface="Arial"/>
              </a:rPr>
              <a:t>(S) </a:t>
            </a:r>
            <a:r>
              <a:rPr dirty="0" sz="1200" spc="-5">
                <a:latin typeface="Arial"/>
                <a:cs typeface="Arial"/>
              </a:rPr>
              <a:t>and </a:t>
            </a:r>
            <a:r>
              <a:rPr dirty="0" sz="1200">
                <a:latin typeface="Arial"/>
                <a:cs typeface="Arial"/>
              </a:rPr>
              <a:t>their </a:t>
            </a:r>
            <a:r>
              <a:rPr dirty="0" sz="1200" spc="-5">
                <a:latin typeface="Arial"/>
                <a:cs typeface="Arial"/>
              </a:rPr>
              <a:t>deeds is permissible. </a:t>
            </a:r>
            <a:r>
              <a:rPr dirty="0" sz="1200">
                <a:latin typeface="Arial"/>
                <a:cs typeface="Arial"/>
              </a:rPr>
              <a:t>A </a:t>
            </a:r>
            <a:r>
              <a:rPr dirty="0" sz="1200" spc="-5">
                <a:latin typeface="Arial"/>
                <a:cs typeface="Arial"/>
              </a:rPr>
              <a:t>comparative </a:t>
            </a:r>
            <a:r>
              <a:rPr dirty="0" sz="1200">
                <a:latin typeface="Arial"/>
                <a:cs typeface="Arial"/>
              </a:rPr>
              <a:t>study </a:t>
            </a:r>
            <a:r>
              <a:rPr dirty="0" sz="1200" spc="-5">
                <a:latin typeface="Arial"/>
                <a:cs typeface="Arial"/>
              </a:rPr>
              <a:t>and analysis </a:t>
            </a:r>
            <a:r>
              <a:rPr dirty="0" sz="1200">
                <a:latin typeface="Arial"/>
                <a:cs typeface="Arial"/>
              </a:rPr>
              <a:t>of the  state </a:t>
            </a:r>
            <a:r>
              <a:rPr dirty="0" sz="1200" spc="-5">
                <a:latin typeface="Arial"/>
                <a:cs typeface="Arial"/>
              </a:rPr>
              <a:t>policies of </a:t>
            </a:r>
            <a:r>
              <a:rPr dirty="0" sz="1200">
                <a:latin typeface="Arial"/>
                <a:cs typeface="Arial"/>
              </a:rPr>
              <a:t>'Umar </a:t>
            </a:r>
            <a:r>
              <a:rPr dirty="0" sz="1200" spc="-5">
                <a:latin typeface="Arial"/>
                <a:cs typeface="Arial"/>
              </a:rPr>
              <a:t>and 'Ali</a:t>
            </a:r>
            <a:r>
              <a:rPr dirty="0" sz="1200" spc="-15">
                <a:latin typeface="Arial"/>
                <a:cs typeface="Arial"/>
              </a:rPr>
              <a:t> </a:t>
            </a:r>
            <a:r>
              <a:rPr dirty="0" sz="1200">
                <a:latin typeface="Arial"/>
                <a:cs typeface="Arial"/>
              </a:rPr>
              <a:t>(A).</a:t>
            </a:r>
            <a:endParaRPr sz="1200">
              <a:latin typeface="Arial"/>
              <a:cs typeface="Arial"/>
            </a:endParaRPr>
          </a:p>
          <a:p>
            <a:pPr>
              <a:lnSpc>
                <a:spcPct val="100000"/>
              </a:lnSpc>
            </a:pPr>
            <a:endParaRPr sz="1200">
              <a:latin typeface="Arial"/>
              <a:cs typeface="Arial"/>
            </a:endParaRPr>
          </a:p>
          <a:p>
            <a:pPr algn="just" marL="12700" marR="5715">
              <a:lnSpc>
                <a:spcPct val="95800"/>
              </a:lnSpc>
            </a:pPr>
            <a:r>
              <a:rPr dirty="0" sz="1200">
                <a:latin typeface="Arial"/>
                <a:cs typeface="Arial"/>
              </a:rPr>
              <a:t>According to </a:t>
            </a:r>
            <a:r>
              <a:rPr dirty="0" sz="1200" spc="-5">
                <a:latin typeface="Arial"/>
                <a:cs typeface="Arial"/>
              </a:rPr>
              <a:t>the Ash‘ari Divine Justice is a matter of </a:t>
            </a:r>
            <a:r>
              <a:rPr dirty="0" sz="1200">
                <a:latin typeface="Arial"/>
                <a:cs typeface="Arial"/>
              </a:rPr>
              <a:t>Faith. </a:t>
            </a:r>
            <a:r>
              <a:rPr dirty="0" sz="1200" spc="20">
                <a:latin typeface="Arial"/>
                <a:cs typeface="Arial"/>
              </a:rPr>
              <a:t>We </a:t>
            </a:r>
            <a:r>
              <a:rPr dirty="0" sz="1200" spc="-10">
                <a:latin typeface="Arial"/>
                <a:cs typeface="Arial"/>
              </a:rPr>
              <a:t>are </a:t>
            </a:r>
            <a:r>
              <a:rPr dirty="0" sz="1200" spc="-5">
                <a:latin typeface="Arial"/>
                <a:cs typeface="Arial"/>
              </a:rPr>
              <a:t>responsible </a:t>
            </a:r>
            <a:r>
              <a:rPr dirty="0" sz="1200">
                <a:latin typeface="Arial"/>
                <a:cs typeface="Arial"/>
              </a:rPr>
              <a:t>for </a:t>
            </a:r>
            <a:r>
              <a:rPr dirty="0" sz="1200" spc="-5">
                <a:latin typeface="Arial"/>
                <a:cs typeface="Arial"/>
              </a:rPr>
              <a:t>our deeds  and </a:t>
            </a:r>
            <a:r>
              <a:rPr dirty="0" sz="1200">
                <a:latin typeface="Arial"/>
                <a:cs typeface="Arial"/>
              </a:rPr>
              <a:t>for </a:t>
            </a:r>
            <a:r>
              <a:rPr dirty="0" sz="1200" spc="-5">
                <a:latin typeface="Arial"/>
                <a:cs typeface="Arial"/>
              </a:rPr>
              <a:t>our </a:t>
            </a:r>
            <a:r>
              <a:rPr dirty="0" sz="1200">
                <a:latin typeface="Arial"/>
                <a:cs typeface="Arial"/>
              </a:rPr>
              <a:t>future </a:t>
            </a:r>
            <a:r>
              <a:rPr dirty="0" sz="1200" spc="-5">
                <a:latin typeface="Arial"/>
                <a:cs typeface="Arial"/>
              </a:rPr>
              <a:t>in Jannah or/and Jahannam. </a:t>
            </a:r>
            <a:r>
              <a:rPr dirty="0" sz="1200">
                <a:latin typeface="Arial"/>
                <a:cs typeface="Arial"/>
              </a:rPr>
              <a:t>There </a:t>
            </a:r>
            <a:r>
              <a:rPr dirty="0" sz="1200" spc="-5">
                <a:latin typeface="Arial"/>
                <a:cs typeface="Arial"/>
              </a:rPr>
              <a:t>is predestination but </a:t>
            </a:r>
            <a:r>
              <a:rPr dirty="0" sz="1200" spc="-10">
                <a:latin typeface="Arial"/>
                <a:cs typeface="Arial"/>
              </a:rPr>
              <a:t>we </a:t>
            </a:r>
            <a:r>
              <a:rPr dirty="0" sz="1200" spc="-5">
                <a:latin typeface="Arial"/>
                <a:cs typeface="Arial"/>
              </a:rPr>
              <a:t>can influence  our destiny. The Divine </a:t>
            </a:r>
            <a:r>
              <a:rPr dirty="0" sz="1200" spc="5">
                <a:latin typeface="Arial"/>
                <a:cs typeface="Arial"/>
              </a:rPr>
              <a:t>Will </a:t>
            </a:r>
            <a:r>
              <a:rPr dirty="0" sz="1200" spc="-5">
                <a:latin typeface="Arial"/>
                <a:cs typeface="Arial"/>
              </a:rPr>
              <a:t>is all-embracing. </a:t>
            </a:r>
            <a:r>
              <a:rPr dirty="0" sz="1200">
                <a:latin typeface="Arial"/>
                <a:cs typeface="Arial"/>
              </a:rPr>
              <a:t>The </a:t>
            </a:r>
            <a:r>
              <a:rPr dirty="0" sz="1200" spc="-5">
                <a:latin typeface="Arial"/>
                <a:cs typeface="Arial"/>
              </a:rPr>
              <a:t>Divine providence and predestination  encompass </a:t>
            </a:r>
            <a:r>
              <a:rPr dirty="0" sz="1200">
                <a:latin typeface="Arial"/>
                <a:cs typeface="Arial"/>
              </a:rPr>
              <a:t>all </a:t>
            </a:r>
            <a:r>
              <a:rPr dirty="0" sz="1200" spc="-5">
                <a:latin typeface="Arial"/>
                <a:cs typeface="Arial"/>
              </a:rPr>
              <a:t>events (this belief, too, is contrary </a:t>
            </a:r>
            <a:r>
              <a:rPr dirty="0" sz="1200">
                <a:latin typeface="Arial"/>
                <a:cs typeface="Arial"/>
              </a:rPr>
              <a:t>to </a:t>
            </a:r>
            <a:r>
              <a:rPr dirty="0" sz="1200" spc="-5">
                <a:latin typeface="Arial"/>
                <a:cs typeface="Arial"/>
              </a:rPr>
              <a:t>the view </a:t>
            </a:r>
            <a:r>
              <a:rPr dirty="0" sz="1200">
                <a:latin typeface="Arial"/>
                <a:cs typeface="Arial"/>
              </a:rPr>
              <a:t>held </a:t>
            </a:r>
            <a:r>
              <a:rPr dirty="0" sz="1200" spc="-5">
                <a:latin typeface="Arial"/>
                <a:cs typeface="Arial"/>
              </a:rPr>
              <a:t>by the Mu'tazilah, though </a:t>
            </a:r>
            <a:r>
              <a:rPr dirty="0" sz="1200" spc="-10">
                <a:latin typeface="Arial"/>
                <a:cs typeface="Arial"/>
              </a:rPr>
              <a:t>in  </a:t>
            </a:r>
            <a:r>
              <a:rPr dirty="0" sz="1200" spc="-5">
                <a:latin typeface="Arial"/>
                <a:cs typeface="Arial"/>
              </a:rPr>
              <a:t>agreement with </a:t>
            </a:r>
            <a:r>
              <a:rPr dirty="0" sz="1200">
                <a:latin typeface="Arial"/>
                <a:cs typeface="Arial"/>
              </a:rPr>
              <a:t>those of </a:t>
            </a:r>
            <a:r>
              <a:rPr dirty="0" sz="1200" spc="-5">
                <a:latin typeface="Arial"/>
                <a:cs typeface="Arial"/>
              </a:rPr>
              <a:t>the philosophers). All evil, like good, is </a:t>
            </a:r>
            <a:r>
              <a:rPr dirty="0" sz="1200">
                <a:latin typeface="Arial"/>
                <a:cs typeface="Arial"/>
              </a:rPr>
              <a:t>from God </a:t>
            </a:r>
            <a:r>
              <a:rPr dirty="0" sz="1200" spc="-5">
                <a:latin typeface="Arial"/>
                <a:cs typeface="Arial"/>
              </a:rPr>
              <a:t>(of course, this  view is a logical corollary, in al-Ash'ari's view of the </a:t>
            </a:r>
            <a:r>
              <a:rPr dirty="0" sz="1200" spc="-10">
                <a:latin typeface="Arial"/>
                <a:cs typeface="Arial"/>
              </a:rPr>
              <a:t>above </a:t>
            </a:r>
            <a:r>
              <a:rPr dirty="0" sz="1200" spc="-5">
                <a:latin typeface="Arial"/>
                <a:cs typeface="Arial"/>
              </a:rPr>
              <a:t>belief). Man is not </a:t>
            </a:r>
            <a:r>
              <a:rPr dirty="0" sz="1200">
                <a:latin typeface="Arial"/>
                <a:cs typeface="Arial"/>
              </a:rPr>
              <a:t>free </a:t>
            </a:r>
            <a:r>
              <a:rPr dirty="0" sz="1200" spc="-10">
                <a:latin typeface="Arial"/>
                <a:cs typeface="Arial"/>
              </a:rPr>
              <a:t>in </a:t>
            </a:r>
            <a:r>
              <a:rPr dirty="0" sz="1200" spc="-5">
                <a:latin typeface="Arial"/>
                <a:cs typeface="Arial"/>
              </a:rPr>
              <a:t>his </a:t>
            </a:r>
            <a:r>
              <a:rPr dirty="0" sz="1200">
                <a:latin typeface="Arial"/>
                <a:cs typeface="Arial"/>
              </a:rPr>
              <a:t>acts,  </a:t>
            </a:r>
            <a:r>
              <a:rPr dirty="0" sz="1200" spc="-5">
                <a:latin typeface="Arial"/>
                <a:cs typeface="Arial"/>
              </a:rPr>
              <a:t>which are created by </a:t>
            </a:r>
            <a:r>
              <a:rPr dirty="0" sz="1200">
                <a:latin typeface="Arial"/>
                <a:cs typeface="Arial"/>
              </a:rPr>
              <a:t>God </a:t>
            </a:r>
            <a:r>
              <a:rPr dirty="0" sz="1200" spc="-5">
                <a:latin typeface="Arial"/>
                <a:cs typeface="Arial"/>
              </a:rPr>
              <a:t>(this belief, too, </a:t>
            </a:r>
            <a:r>
              <a:rPr dirty="0" sz="1200" spc="-10">
                <a:latin typeface="Arial"/>
                <a:cs typeface="Arial"/>
              </a:rPr>
              <a:t>in </a:t>
            </a:r>
            <a:r>
              <a:rPr dirty="0" sz="1200" spc="-5">
                <a:latin typeface="Arial"/>
                <a:cs typeface="Arial"/>
              </a:rPr>
              <a:t>al-Ash'ari's view, necessarily follows </a:t>
            </a:r>
            <a:r>
              <a:rPr dirty="0" sz="1200">
                <a:latin typeface="Arial"/>
                <a:cs typeface="Arial"/>
              </a:rPr>
              <a:t>from the  </a:t>
            </a:r>
            <a:r>
              <a:rPr dirty="0" sz="1200" spc="-5">
                <a:latin typeface="Arial"/>
                <a:cs typeface="Arial"/>
              </a:rPr>
              <a:t>doctrine of all-embracing nature of the Divine </a:t>
            </a:r>
            <a:r>
              <a:rPr dirty="0" sz="1200">
                <a:latin typeface="Arial"/>
                <a:cs typeface="Arial"/>
              </a:rPr>
              <a:t>Will). </a:t>
            </a:r>
            <a:r>
              <a:rPr dirty="0" sz="1200" spc="-5">
                <a:latin typeface="Arial"/>
                <a:cs typeface="Arial"/>
              </a:rPr>
              <a:t>Acts </a:t>
            </a:r>
            <a:r>
              <a:rPr dirty="0" sz="1200" spc="-10">
                <a:latin typeface="Arial"/>
                <a:cs typeface="Arial"/>
              </a:rPr>
              <a:t>are </a:t>
            </a:r>
            <a:r>
              <a:rPr dirty="0" sz="1200" spc="-5">
                <a:latin typeface="Arial"/>
                <a:cs typeface="Arial"/>
              </a:rPr>
              <a:t>not intrinsically good or evil, </a:t>
            </a:r>
            <a:r>
              <a:rPr dirty="0" sz="1200">
                <a:latin typeface="Arial"/>
                <a:cs typeface="Arial"/>
              </a:rPr>
              <a:t>i.e.  </a:t>
            </a:r>
            <a:r>
              <a:rPr dirty="0" sz="1200" spc="-5">
                <a:latin typeface="Arial"/>
                <a:cs typeface="Arial"/>
              </a:rPr>
              <a:t>husn or qubh of deeds is not intrinsic, but determined by </a:t>
            </a:r>
            <a:r>
              <a:rPr dirty="0" sz="1200">
                <a:latin typeface="Arial"/>
                <a:cs typeface="Arial"/>
              </a:rPr>
              <a:t>the </a:t>
            </a:r>
            <a:r>
              <a:rPr dirty="0" sz="1200" spc="-5">
                <a:latin typeface="Arial"/>
                <a:cs typeface="Arial"/>
              </a:rPr>
              <a:t>Shari'ah. The same is </a:t>
            </a:r>
            <a:r>
              <a:rPr dirty="0" sz="1200">
                <a:latin typeface="Arial"/>
                <a:cs typeface="Arial"/>
              </a:rPr>
              <a:t>true </a:t>
            </a:r>
            <a:r>
              <a:rPr dirty="0" sz="1200" spc="-5">
                <a:latin typeface="Arial"/>
                <a:cs typeface="Arial"/>
              </a:rPr>
              <a:t>of  </a:t>
            </a:r>
            <a:r>
              <a:rPr dirty="0" sz="1200">
                <a:latin typeface="Arial"/>
                <a:cs typeface="Arial"/>
              </a:rPr>
              <a:t>justice. </a:t>
            </a:r>
            <a:r>
              <a:rPr dirty="0" sz="1200" spc="5">
                <a:latin typeface="Arial"/>
                <a:cs typeface="Arial"/>
              </a:rPr>
              <a:t>What </a:t>
            </a:r>
            <a:r>
              <a:rPr dirty="0" sz="1200" spc="-5">
                <a:latin typeface="Arial"/>
                <a:cs typeface="Arial"/>
              </a:rPr>
              <a:t>is 'just', is determined </a:t>
            </a:r>
            <a:r>
              <a:rPr dirty="0" sz="1200">
                <a:latin typeface="Arial"/>
                <a:cs typeface="Arial"/>
              </a:rPr>
              <a:t>by </a:t>
            </a:r>
            <a:r>
              <a:rPr dirty="0" sz="1200" spc="-5">
                <a:latin typeface="Arial"/>
                <a:cs typeface="Arial"/>
              </a:rPr>
              <a:t>the Shari'ah not by </a:t>
            </a:r>
            <a:r>
              <a:rPr dirty="0" sz="1200">
                <a:latin typeface="Arial"/>
                <a:cs typeface="Arial"/>
              </a:rPr>
              <a:t>reason </a:t>
            </a:r>
            <a:r>
              <a:rPr dirty="0" sz="1200" spc="-5">
                <a:latin typeface="Arial"/>
                <a:cs typeface="Arial"/>
              </a:rPr>
              <a:t>(contrary </a:t>
            </a:r>
            <a:r>
              <a:rPr dirty="0" sz="1200">
                <a:latin typeface="Arial"/>
                <a:cs typeface="Arial"/>
              </a:rPr>
              <a:t>to </a:t>
            </a:r>
            <a:r>
              <a:rPr dirty="0" sz="1200" spc="-5">
                <a:latin typeface="Arial"/>
                <a:cs typeface="Arial"/>
              </a:rPr>
              <a:t>the belief of the  Mu'tazilah).</a:t>
            </a:r>
            <a:endParaRPr sz="1200">
              <a:latin typeface="Arial"/>
              <a:cs typeface="Arial"/>
            </a:endParaRPr>
          </a:p>
          <a:p>
            <a:pPr>
              <a:lnSpc>
                <a:spcPct val="100000"/>
              </a:lnSpc>
              <a:spcBef>
                <a:spcPts val="40"/>
              </a:spcBef>
            </a:pPr>
            <a:endParaRPr sz="1100">
              <a:latin typeface="Arial"/>
              <a:cs typeface="Arial"/>
            </a:endParaRPr>
          </a:p>
          <a:p>
            <a:pPr marL="12700">
              <a:lnSpc>
                <a:spcPct val="100000"/>
              </a:lnSpc>
              <a:spcBef>
                <a:spcPts val="5"/>
              </a:spcBef>
            </a:pPr>
            <a:r>
              <a:rPr dirty="0" u="heavy" sz="1200" spc="-5" b="1" i="1">
                <a:uFill>
                  <a:solidFill>
                    <a:srgbClr val="000000"/>
                  </a:solidFill>
                </a:uFill>
                <a:latin typeface="Arial"/>
                <a:cs typeface="Arial"/>
              </a:rPr>
              <a:t>The Promise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the</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Threat</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spc="-5">
                <a:latin typeface="Arial"/>
                <a:cs typeface="Arial"/>
              </a:rPr>
              <a:t>According </a:t>
            </a:r>
            <a:r>
              <a:rPr dirty="0" sz="1200">
                <a:latin typeface="Arial"/>
                <a:cs typeface="Arial"/>
              </a:rPr>
              <a:t>to </a:t>
            </a:r>
            <a:r>
              <a:rPr dirty="0" sz="1200" spc="-5">
                <a:latin typeface="Arial"/>
                <a:cs typeface="Arial"/>
              </a:rPr>
              <a:t>some of the Mu‘tazilah </a:t>
            </a:r>
            <a:r>
              <a:rPr dirty="0" sz="1200">
                <a:latin typeface="Arial"/>
                <a:cs typeface="Arial"/>
              </a:rPr>
              <a:t>it </a:t>
            </a:r>
            <a:r>
              <a:rPr dirty="0" sz="1200" spc="-5">
                <a:latin typeface="Arial"/>
                <a:cs typeface="Arial"/>
              </a:rPr>
              <a:t>is used metaphorically and according </a:t>
            </a:r>
            <a:r>
              <a:rPr dirty="0" sz="1200">
                <a:latin typeface="Arial"/>
                <a:cs typeface="Arial"/>
              </a:rPr>
              <a:t>to </a:t>
            </a:r>
            <a:r>
              <a:rPr dirty="0" sz="1200" spc="-5">
                <a:latin typeface="Arial"/>
                <a:cs typeface="Arial"/>
              </a:rPr>
              <a:t>others </a:t>
            </a:r>
            <a:r>
              <a:rPr dirty="0" sz="1200">
                <a:latin typeface="Arial"/>
                <a:cs typeface="Arial"/>
              </a:rPr>
              <a:t>it </a:t>
            </a:r>
            <a:r>
              <a:rPr dirty="0" sz="1200" spc="-5">
                <a:latin typeface="Arial"/>
                <a:cs typeface="Arial"/>
              </a:rPr>
              <a:t>does  not</a:t>
            </a:r>
            <a:r>
              <a:rPr dirty="0" sz="1200" spc="80">
                <a:latin typeface="Arial"/>
                <a:cs typeface="Arial"/>
              </a:rPr>
              <a:t> </a:t>
            </a:r>
            <a:r>
              <a:rPr dirty="0" sz="1200" spc="-5">
                <a:latin typeface="Arial"/>
                <a:cs typeface="Arial"/>
              </a:rPr>
              <a:t>exist</a:t>
            </a:r>
            <a:r>
              <a:rPr dirty="0" sz="1200" spc="75">
                <a:latin typeface="Arial"/>
                <a:cs typeface="Arial"/>
              </a:rPr>
              <a:t> </a:t>
            </a:r>
            <a:r>
              <a:rPr dirty="0" sz="1200" spc="-5">
                <a:latin typeface="Arial"/>
                <a:cs typeface="Arial"/>
              </a:rPr>
              <a:t>as</a:t>
            </a:r>
            <a:r>
              <a:rPr dirty="0" sz="1200" spc="75">
                <a:latin typeface="Arial"/>
                <a:cs typeface="Arial"/>
              </a:rPr>
              <a:t> </a:t>
            </a:r>
            <a:r>
              <a:rPr dirty="0" sz="1200">
                <a:latin typeface="Arial"/>
                <a:cs typeface="Arial"/>
              </a:rPr>
              <a:t>it</a:t>
            </a:r>
            <a:r>
              <a:rPr dirty="0" sz="1200" spc="75">
                <a:latin typeface="Arial"/>
                <a:cs typeface="Arial"/>
              </a:rPr>
              <a:t> </a:t>
            </a:r>
            <a:r>
              <a:rPr dirty="0" sz="1200" spc="-5">
                <a:latin typeface="Arial"/>
                <a:cs typeface="Arial"/>
              </a:rPr>
              <a:t>is</a:t>
            </a:r>
            <a:r>
              <a:rPr dirty="0" sz="1200" spc="85">
                <a:latin typeface="Arial"/>
                <a:cs typeface="Arial"/>
              </a:rPr>
              <a:t> </a:t>
            </a:r>
            <a:r>
              <a:rPr dirty="0" sz="1200" spc="-5">
                <a:latin typeface="Arial"/>
                <a:cs typeface="Arial"/>
              </a:rPr>
              <a:t>only</a:t>
            </a:r>
            <a:r>
              <a:rPr dirty="0" sz="1200" spc="60">
                <a:latin typeface="Arial"/>
                <a:cs typeface="Arial"/>
              </a:rPr>
              <a:t> </a:t>
            </a:r>
            <a:r>
              <a:rPr dirty="0" sz="1200" spc="-5">
                <a:latin typeface="Arial"/>
                <a:cs typeface="Arial"/>
              </a:rPr>
              <a:t>a</a:t>
            </a:r>
            <a:r>
              <a:rPr dirty="0" sz="1200" spc="80">
                <a:latin typeface="Arial"/>
                <a:cs typeface="Arial"/>
              </a:rPr>
              <a:t> </a:t>
            </a:r>
            <a:r>
              <a:rPr dirty="0" sz="1200" spc="-5">
                <a:latin typeface="Arial"/>
                <a:cs typeface="Arial"/>
              </a:rPr>
              <a:t>mean</a:t>
            </a:r>
            <a:r>
              <a:rPr dirty="0" sz="1200" spc="80">
                <a:latin typeface="Arial"/>
                <a:cs typeface="Arial"/>
              </a:rPr>
              <a:t> </a:t>
            </a:r>
            <a:r>
              <a:rPr dirty="0" sz="1200">
                <a:latin typeface="Arial"/>
                <a:cs typeface="Arial"/>
              </a:rPr>
              <a:t>to</a:t>
            </a:r>
            <a:r>
              <a:rPr dirty="0" sz="1200" spc="70">
                <a:latin typeface="Arial"/>
                <a:cs typeface="Arial"/>
              </a:rPr>
              <a:t> </a:t>
            </a:r>
            <a:r>
              <a:rPr dirty="0" sz="1200" spc="-5">
                <a:latin typeface="Arial"/>
                <a:cs typeface="Arial"/>
              </a:rPr>
              <a:t>encourage</a:t>
            </a:r>
            <a:r>
              <a:rPr dirty="0" sz="1200" spc="80">
                <a:latin typeface="Arial"/>
                <a:cs typeface="Arial"/>
              </a:rPr>
              <a:t> </a:t>
            </a:r>
            <a:r>
              <a:rPr dirty="0" sz="1200">
                <a:latin typeface="Arial"/>
                <a:cs typeface="Arial"/>
              </a:rPr>
              <a:t>Muslims.</a:t>
            </a:r>
            <a:r>
              <a:rPr dirty="0" sz="1200" spc="80">
                <a:latin typeface="Arial"/>
                <a:cs typeface="Arial"/>
              </a:rPr>
              <a:t> </a:t>
            </a:r>
            <a:r>
              <a:rPr dirty="0" sz="1200" spc="-5">
                <a:latin typeface="Arial"/>
                <a:cs typeface="Arial"/>
              </a:rPr>
              <a:t>Divine</a:t>
            </a:r>
            <a:r>
              <a:rPr dirty="0" sz="1200" spc="80">
                <a:latin typeface="Arial"/>
                <a:cs typeface="Arial"/>
              </a:rPr>
              <a:t> </a:t>
            </a:r>
            <a:r>
              <a:rPr dirty="0" sz="1200">
                <a:latin typeface="Arial"/>
                <a:cs typeface="Arial"/>
              </a:rPr>
              <a:t>retribution</a:t>
            </a:r>
            <a:r>
              <a:rPr dirty="0" sz="1200" spc="80">
                <a:latin typeface="Arial"/>
                <a:cs typeface="Arial"/>
              </a:rPr>
              <a:t> </a:t>
            </a:r>
            <a:r>
              <a:rPr dirty="0" sz="1200" spc="-5">
                <a:latin typeface="Arial"/>
                <a:cs typeface="Arial"/>
              </a:rPr>
              <a:t>(at-wa'd</a:t>
            </a:r>
            <a:r>
              <a:rPr dirty="0" sz="1200" spc="80">
                <a:latin typeface="Arial"/>
                <a:cs typeface="Arial"/>
              </a:rPr>
              <a:t> </a:t>
            </a:r>
            <a:r>
              <a:rPr dirty="0" sz="1200" spc="-10">
                <a:latin typeface="Arial"/>
                <a:cs typeface="Arial"/>
              </a:rPr>
              <a:t>wa</a:t>
            </a:r>
            <a:r>
              <a:rPr dirty="0" sz="1200" spc="80">
                <a:latin typeface="Arial"/>
                <a:cs typeface="Arial"/>
              </a:rPr>
              <a:t> </a:t>
            </a:r>
            <a:r>
              <a:rPr dirty="0" sz="1200">
                <a:latin typeface="Arial"/>
                <a:cs typeface="Arial"/>
              </a:rPr>
              <a:t>al-wa'id),</a:t>
            </a:r>
            <a:endParaRPr sz="1200">
              <a:latin typeface="Arial"/>
              <a:cs typeface="Arial"/>
            </a:endParaRPr>
          </a:p>
          <a:p>
            <a:pPr algn="just" marL="12700" marR="6985">
              <a:lnSpc>
                <a:spcPts val="1380"/>
              </a:lnSpc>
            </a:pPr>
            <a:r>
              <a:rPr dirty="0" sz="1200">
                <a:latin typeface="Arial"/>
                <a:cs typeface="Arial"/>
              </a:rPr>
              <a:t>i.e. God has </a:t>
            </a:r>
            <a:r>
              <a:rPr dirty="0" sz="1200" spc="-5">
                <a:latin typeface="Arial"/>
                <a:cs typeface="Arial"/>
              </a:rPr>
              <a:t>determined a reward </a:t>
            </a:r>
            <a:r>
              <a:rPr dirty="0" sz="1200">
                <a:latin typeface="Arial"/>
                <a:cs typeface="Arial"/>
              </a:rPr>
              <a:t>for </a:t>
            </a:r>
            <a:r>
              <a:rPr dirty="0" sz="1200" spc="-5">
                <a:latin typeface="Arial"/>
                <a:cs typeface="Arial"/>
              </a:rPr>
              <a:t>the obedient and a punishment </a:t>
            </a:r>
            <a:r>
              <a:rPr dirty="0" sz="1200">
                <a:latin typeface="Arial"/>
                <a:cs typeface="Arial"/>
              </a:rPr>
              <a:t>for the disobedient, </a:t>
            </a:r>
            <a:r>
              <a:rPr dirty="0" sz="1200" spc="-5">
                <a:latin typeface="Arial"/>
                <a:cs typeface="Arial"/>
              </a:rPr>
              <a:t>and  </a:t>
            </a:r>
            <a:r>
              <a:rPr dirty="0" sz="1200">
                <a:latin typeface="Arial"/>
                <a:cs typeface="Arial"/>
              </a:rPr>
              <a:t>there </a:t>
            </a:r>
            <a:r>
              <a:rPr dirty="0" sz="1200" spc="-5">
                <a:latin typeface="Arial"/>
                <a:cs typeface="Arial"/>
              </a:rPr>
              <a:t>can be no uncertainty about </a:t>
            </a:r>
            <a:r>
              <a:rPr dirty="0" sz="1200">
                <a:latin typeface="Arial"/>
                <a:cs typeface="Arial"/>
              </a:rPr>
              <a:t>it. </a:t>
            </a:r>
            <a:r>
              <a:rPr dirty="0" sz="1200" spc="-5">
                <a:latin typeface="Arial"/>
                <a:cs typeface="Arial"/>
              </a:rPr>
              <a:t>Therefore, Divine pardon is only possible </a:t>
            </a:r>
            <a:r>
              <a:rPr dirty="0" sz="1200">
                <a:latin typeface="Arial"/>
                <a:cs typeface="Arial"/>
              </a:rPr>
              <a:t>if </a:t>
            </a:r>
            <a:r>
              <a:rPr dirty="0" sz="1200" spc="-5">
                <a:latin typeface="Arial"/>
                <a:cs typeface="Arial"/>
              </a:rPr>
              <a:t>the </a:t>
            </a:r>
            <a:r>
              <a:rPr dirty="0" sz="1200">
                <a:latin typeface="Arial"/>
                <a:cs typeface="Arial"/>
              </a:rPr>
              <a:t>sinner  </a:t>
            </a:r>
            <a:r>
              <a:rPr dirty="0" sz="1200" spc="-5">
                <a:latin typeface="Arial"/>
                <a:cs typeface="Arial"/>
              </a:rPr>
              <a:t>repents, </a:t>
            </a:r>
            <a:r>
              <a:rPr dirty="0" sz="1200">
                <a:latin typeface="Arial"/>
                <a:cs typeface="Arial"/>
              </a:rPr>
              <a:t>for </a:t>
            </a:r>
            <a:r>
              <a:rPr dirty="0" sz="1200" spc="-5">
                <a:latin typeface="Arial"/>
                <a:cs typeface="Arial"/>
              </a:rPr>
              <a:t>forgiveness without repentance (tawbah) is not</a:t>
            </a:r>
            <a:r>
              <a:rPr dirty="0" sz="1200" spc="5">
                <a:latin typeface="Arial"/>
                <a:cs typeface="Arial"/>
              </a:rPr>
              <a:t> </a:t>
            </a:r>
            <a:r>
              <a:rPr dirty="0" sz="1200" spc="-5">
                <a:latin typeface="Arial"/>
                <a:cs typeface="Arial"/>
              </a:rPr>
              <a:t>possible.</a:t>
            </a:r>
            <a:endParaRPr sz="1200">
              <a:latin typeface="Arial"/>
              <a:cs typeface="Arial"/>
            </a:endParaRPr>
          </a:p>
          <a:p>
            <a:pPr>
              <a:lnSpc>
                <a:spcPct val="100000"/>
              </a:lnSpc>
            </a:pPr>
            <a:endParaRPr sz="1200">
              <a:latin typeface="Arial"/>
              <a:cs typeface="Arial"/>
            </a:endParaRPr>
          </a:p>
          <a:p>
            <a:pPr algn="just" marL="12700" marR="5080">
              <a:lnSpc>
                <a:spcPts val="1380"/>
              </a:lnSpc>
            </a:pPr>
            <a:r>
              <a:rPr dirty="0" sz="1200">
                <a:latin typeface="Arial"/>
                <a:cs typeface="Arial"/>
              </a:rPr>
              <a:t>According to </a:t>
            </a:r>
            <a:r>
              <a:rPr dirty="0" sz="1200" spc="-5">
                <a:latin typeface="Arial"/>
                <a:cs typeface="Arial"/>
              </a:rPr>
              <a:t>the Ash‘ari Allah </a:t>
            </a:r>
            <a:r>
              <a:rPr dirty="0" sz="1200">
                <a:latin typeface="Arial"/>
                <a:cs typeface="Arial"/>
              </a:rPr>
              <a:t>has to </a:t>
            </a:r>
            <a:r>
              <a:rPr dirty="0" sz="1200" spc="-5">
                <a:latin typeface="Arial"/>
                <a:cs typeface="Arial"/>
              </a:rPr>
              <a:t>keep </a:t>
            </a:r>
            <a:r>
              <a:rPr dirty="0" sz="1200" spc="-10">
                <a:latin typeface="Arial"/>
                <a:cs typeface="Arial"/>
              </a:rPr>
              <a:t>His </a:t>
            </a:r>
            <a:r>
              <a:rPr dirty="0" sz="1200">
                <a:latin typeface="Arial"/>
                <a:cs typeface="Arial"/>
              </a:rPr>
              <a:t>promise </a:t>
            </a:r>
            <a:r>
              <a:rPr dirty="0" sz="1200" spc="-5">
                <a:latin typeface="Arial"/>
                <a:cs typeface="Arial"/>
              </a:rPr>
              <a:t>as He always </a:t>
            </a:r>
            <a:r>
              <a:rPr dirty="0" sz="1200">
                <a:latin typeface="Arial"/>
                <a:cs typeface="Arial"/>
              </a:rPr>
              <a:t>does. </a:t>
            </a:r>
            <a:r>
              <a:rPr dirty="0" sz="1200" spc="-5">
                <a:latin typeface="Arial"/>
                <a:cs typeface="Arial"/>
              </a:rPr>
              <a:t>Paradise and Hell  are </a:t>
            </a:r>
            <a:r>
              <a:rPr dirty="0" sz="1200">
                <a:latin typeface="Arial"/>
                <a:cs typeface="Arial"/>
              </a:rPr>
              <a:t>for </a:t>
            </a:r>
            <a:r>
              <a:rPr dirty="0" sz="1200" spc="-5">
                <a:latin typeface="Arial"/>
                <a:cs typeface="Arial"/>
              </a:rPr>
              <a:t>real. Intercession (shafa'ah) is justifiable </a:t>
            </a:r>
            <a:r>
              <a:rPr dirty="0" sz="1200">
                <a:latin typeface="Arial"/>
                <a:cs typeface="Arial"/>
              </a:rPr>
              <a:t>(contrary to </a:t>
            </a:r>
            <a:r>
              <a:rPr dirty="0" sz="1200" spc="-5">
                <a:latin typeface="Arial"/>
                <a:cs typeface="Arial"/>
              </a:rPr>
              <a:t>the Mu'tazilite</a:t>
            </a:r>
            <a:r>
              <a:rPr dirty="0" sz="1200" spc="50">
                <a:latin typeface="Arial"/>
                <a:cs typeface="Arial"/>
              </a:rPr>
              <a:t> </a:t>
            </a:r>
            <a:r>
              <a:rPr dirty="0" sz="1200">
                <a:latin typeface="Arial"/>
                <a:cs typeface="Arial"/>
              </a:rPr>
              <a:t>position).</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The Intermediate</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Position</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spc="-5">
                <a:latin typeface="Arial"/>
                <a:cs typeface="Arial"/>
              </a:rPr>
              <a:t>According </a:t>
            </a:r>
            <a:r>
              <a:rPr dirty="0" sz="1200">
                <a:latin typeface="Arial"/>
                <a:cs typeface="Arial"/>
              </a:rPr>
              <a:t>to </a:t>
            </a:r>
            <a:r>
              <a:rPr dirty="0" sz="1200" spc="-5">
                <a:latin typeface="Arial"/>
                <a:cs typeface="Arial"/>
              </a:rPr>
              <a:t>the </a:t>
            </a:r>
            <a:r>
              <a:rPr dirty="0" sz="1200" spc="-10">
                <a:latin typeface="Arial"/>
                <a:cs typeface="Arial"/>
              </a:rPr>
              <a:t>Mu‘tazilah </a:t>
            </a:r>
            <a:r>
              <a:rPr dirty="0" sz="1200" spc="-5">
                <a:latin typeface="Arial"/>
                <a:cs typeface="Arial"/>
              </a:rPr>
              <a:t>when someone commits a sin, </a:t>
            </a:r>
            <a:r>
              <a:rPr dirty="0" sz="1200" spc="-10">
                <a:latin typeface="Arial"/>
                <a:cs typeface="Arial"/>
              </a:rPr>
              <a:t>he </a:t>
            </a:r>
            <a:r>
              <a:rPr dirty="0" sz="1200" spc="-5">
                <a:latin typeface="Arial"/>
                <a:cs typeface="Arial"/>
              </a:rPr>
              <a:t>is neither a Muslim nor a non-  Muslim </a:t>
            </a:r>
            <a:r>
              <a:rPr dirty="0" sz="1200">
                <a:latin typeface="Arial"/>
                <a:cs typeface="Arial"/>
              </a:rPr>
              <a:t>at </a:t>
            </a:r>
            <a:r>
              <a:rPr dirty="0" sz="1200" spc="-5">
                <a:latin typeface="Arial"/>
                <a:cs typeface="Arial"/>
              </a:rPr>
              <a:t>that specific </a:t>
            </a:r>
            <a:r>
              <a:rPr dirty="0" sz="1200">
                <a:latin typeface="Arial"/>
                <a:cs typeface="Arial"/>
              </a:rPr>
              <a:t>moment. </a:t>
            </a:r>
            <a:r>
              <a:rPr dirty="0" sz="1200" spc="-10">
                <a:latin typeface="Arial"/>
                <a:cs typeface="Arial"/>
              </a:rPr>
              <a:t>He </a:t>
            </a:r>
            <a:r>
              <a:rPr dirty="0" sz="1200" spc="-5">
                <a:latin typeface="Arial"/>
                <a:cs typeface="Arial"/>
              </a:rPr>
              <a:t>is in an intermediate </a:t>
            </a:r>
            <a:r>
              <a:rPr dirty="0" sz="1200">
                <a:latin typeface="Arial"/>
                <a:cs typeface="Arial"/>
              </a:rPr>
              <a:t>position. </a:t>
            </a:r>
            <a:r>
              <a:rPr dirty="0" sz="1200" spc="-5">
                <a:latin typeface="Arial"/>
                <a:cs typeface="Arial"/>
              </a:rPr>
              <a:t>Manzilah bayna </a:t>
            </a:r>
            <a:r>
              <a:rPr dirty="0" sz="1200">
                <a:latin typeface="Arial"/>
                <a:cs typeface="Arial"/>
              </a:rPr>
              <a:t>al-  </a:t>
            </a:r>
            <a:r>
              <a:rPr dirty="0" sz="1200" spc="-5">
                <a:latin typeface="Arial"/>
                <a:cs typeface="Arial"/>
              </a:rPr>
              <a:t>manzilatayn</a:t>
            </a:r>
            <a:r>
              <a:rPr dirty="0" sz="1200" spc="175">
                <a:latin typeface="Arial"/>
                <a:cs typeface="Arial"/>
              </a:rPr>
              <a:t> </a:t>
            </a:r>
            <a:r>
              <a:rPr dirty="0" sz="1200" spc="-5">
                <a:latin typeface="Arial"/>
                <a:cs typeface="Arial"/>
              </a:rPr>
              <a:t>(a</a:t>
            </a:r>
            <a:r>
              <a:rPr dirty="0" sz="1200" spc="175">
                <a:latin typeface="Arial"/>
                <a:cs typeface="Arial"/>
              </a:rPr>
              <a:t> </a:t>
            </a:r>
            <a:r>
              <a:rPr dirty="0" sz="1200" spc="-5">
                <a:latin typeface="Arial"/>
                <a:cs typeface="Arial"/>
              </a:rPr>
              <a:t>position</a:t>
            </a:r>
            <a:r>
              <a:rPr dirty="0" sz="1200" spc="175">
                <a:latin typeface="Arial"/>
                <a:cs typeface="Arial"/>
              </a:rPr>
              <a:t> </a:t>
            </a:r>
            <a:r>
              <a:rPr dirty="0" sz="1200" spc="-5">
                <a:latin typeface="Arial"/>
                <a:cs typeface="Arial"/>
              </a:rPr>
              <a:t>between</a:t>
            </a:r>
            <a:r>
              <a:rPr dirty="0" sz="1200" spc="180">
                <a:latin typeface="Arial"/>
                <a:cs typeface="Arial"/>
              </a:rPr>
              <a:t> </a:t>
            </a:r>
            <a:r>
              <a:rPr dirty="0" sz="1200" spc="-5">
                <a:latin typeface="Arial"/>
                <a:cs typeface="Arial"/>
              </a:rPr>
              <a:t>the</a:t>
            </a:r>
            <a:r>
              <a:rPr dirty="0" sz="1200" spc="175">
                <a:latin typeface="Arial"/>
                <a:cs typeface="Arial"/>
              </a:rPr>
              <a:t> </a:t>
            </a:r>
            <a:r>
              <a:rPr dirty="0" sz="1200" spc="-10">
                <a:latin typeface="Arial"/>
                <a:cs typeface="Arial"/>
              </a:rPr>
              <a:t>two</a:t>
            </a:r>
            <a:r>
              <a:rPr dirty="0" sz="1200" spc="175">
                <a:latin typeface="Arial"/>
                <a:cs typeface="Arial"/>
              </a:rPr>
              <a:t> </a:t>
            </a:r>
            <a:r>
              <a:rPr dirty="0" sz="1200" spc="-5">
                <a:latin typeface="Arial"/>
                <a:cs typeface="Arial"/>
              </a:rPr>
              <a:t>positions).</a:t>
            </a:r>
            <a:r>
              <a:rPr dirty="0" sz="1200" spc="180">
                <a:latin typeface="Arial"/>
                <a:cs typeface="Arial"/>
              </a:rPr>
              <a:t> </a:t>
            </a:r>
            <a:r>
              <a:rPr dirty="0" sz="1200">
                <a:latin typeface="Arial"/>
                <a:cs typeface="Arial"/>
              </a:rPr>
              <a:t>This</a:t>
            </a:r>
            <a:r>
              <a:rPr dirty="0" sz="1200" spc="175">
                <a:latin typeface="Arial"/>
                <a:cs typeface="Arial"/>
              </a:rPr>
              <a:t> </a:t>
            </a:r>
            <a:r>
              <a:rPr dirty="0" sz="1200" spc="-5">
                <a:latin typeface="Arial"/>
                <a:cs typeface="Arial"/>
              </a:rPr>
              <a:t>means</a:t>
            </a:r>
            <a:r>
              <a:rPr dirty="0" sz="1200" spc="165">
                <a:latin typeface="Arial"/>
                <a:cs typeface="Arial"/>
              </a:rPr>
              <a:t> </a:t>
            </a:r>
            <a:r>
              <a:rPr dirty="0" sz="1200" spc="-5">
                <a:latin typeface="Arial"/>
                <a:cs typeface="Arial"/>
              </a:rPr>
              <a:t>that</a:t>
            </a:r>
            <a:r>
              <a:rPr dirty="0" sz="1200" spc="175">
                <a:latin typeface="Arial"/>
                <a:cs typeface="Arial"/>
              </a:rPr>
              <a:t> </a:t>
            </a:r>
            <a:r>
              <a:rPr dirty="0" sz="1200" spc="-5">
                <a:latin typeface="Arial"/>
                <a:cs typeface="Arial"/>
              </a:rPr>
              <a:t>a</a:t>
            </a:r>
            <a:r>
              <a:rPr dirty="0" sz="1200" spc="170">
                <a:latin typeface="Arial"/>
                <a:cs typeface="Arial"/>
              </a:rPr>
              <a:t> </a:t>
            </a:r>
            <a:r>
              <a:rPr dirty="0" sz="1200">
                <a:latin typeface="Arial"/>
                <a:cs typeface="Arial"/>
              </a:rPr>
              <a:t>fasiq</a:t>
            </a:r>
            <a:r>
              <a:rPr dirty="0" sz="1200" spc="160">
                <a:latin typeface="Arial"/>
                <a:cs typeface="Arial"/>
              </a:rPr>
              <a:t> </a:t>
            </a:r>
            <a:r>
              <a:rPr dirty="0" sz="1200" spc="-5">
                <a:latin typeface="Arial"/>
                <a:cs typeface="Arial"/>
              </a:rPr>
              <a:t>(i.e.</a:t>
            </a:r>
            <a:r>
              <a:rPr dirty="0" sz="1200" spc="180">
                <a:latin typeface="Arial"/>
                <a:cs typeface="Arial"/>
              </a:rPr>
              <a:t> </a:t>
            </a:r>
            <a:r>
              <a:rPr dirty="0" sz="1200" spc="-5">
                <a:latin typeface="Arial"/>
                <a:cs typeface="Arial"/>
              </a:rPr>
              <a:t>one</a:t>
            </a:r>
            <a:r>
              <a:rPr dirty="0" sz="1200" spc="175">
                <a:latin typeface="Arial"/>
                <a:cs typeface="Arial"/>
              </a:rPr>
              <a:t> </a:t>
            </a:r>
            <a:r>
              <a:rPr dirty="0" sz="1200" spc="-5">
                <a:latin typeface="Arial"/>
                <a:cs typeface="Arial"/>
              </a:rPr>
              <a:t>who</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133</a:t>
            </a:r>
            <a:endParaRPr sz="1200">
              <a:latin typeface="Times New Roman"/>
              <a:cs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265" cy="933831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8255">
              <a:lnSpc>
                <a:spcPct val="95900"/>
              </a:lnSpc>
            </a:pPr>
            <a:r>
              <a:rPr dirty="0" sz="1200">
                <a:latin typeface="Arial"/>
                <a:cs typeface="Arial"/>
              </a:rPr>
              <a:t>commits </a:t>
            </a:r>
            <a:r>
              <a:rPr dirty="0" sz="1200" spc="-5">
                <a:latin typeface="Arial"/>
                <a:cs typeface="Arial"/>
              </a:rPr>
              <a:t>one of the "greater sins," </a:t>
            </a:r>
            <a:r>
              <a:rPr dirty="0" sz="1200">
                <a:latin typeface="Arial"/>
                <a:cs typeface="Arial"/>
              </a:rPr>
              <a:t>such </a:t>
            </a:r>
            <a:r>
              <a:rPr dirty="0" sz="1200" spc="-5">
                <a:latin typeface="Arial"/>
                <a:cs typeface="Arial"/>
              </a:rPr>
              <a:t>as a wine </a:t>
            </a:r>
            <a:r>
              <a:rPr dirty="0" sz="1200">
                <a:latin typeface="Arial"/>
                <a:cs typeface="Arial"/>
              </a:rPr>
              <a:t>imbiber, </a:t>
            </a:r>
            <a:r>
              <a:rPr dirty="0" sz="1200" spc="-5">
                <a:latin typeface="Arial"/>
                <a:cs typeface="Arial"/>
              </a:rPr>
              <a:t>adulterer, or a liar </a:t>
            </a:r>
            <a:r>
              <a:rPr dirty="0" sz="1200">
                <a:latin typeface="Arial"/>
                <a:cs typeface="Arial"/>
              </a:rPr>
              <a:t>etc.) </a:t>
            </a:r>
            <a:r>
              <a:rPr dirty="0" sz="1200" spc="-5">
                <a:latin typeface="Arial"/>
                <a:cs typeface="Arial"/>
              </a:rPr>
              <a:t>is neither a  believer (mu'min) nor an </a:t>
            </a:r>
            <a:r>
              <a:rPr dirty="0" sz="1200">
                <a:latin typeface="Arial"/>
                <a:cs typeface="Arial"/>
              </a:rPr>
              <a:t>infidel </a:t>
            </a:r>
            <a:r>
              <a:rPr dirty="0" sz="1200" spc="-5">
                <a:latin typeface="Arial"/>
                <a:cs typeface="Arial"/>
              </a:rPr>
              <a:t>(kafir); fisq is an intermediary </a:t>
            </a:r>
            <a:r>
              <a:rPr dirty="0" sz="1200">
                <a:latin typeface="Arial"/>
                <a:cs typeface="Arial"/>
              </a:rPr>
              <a:t>state </a:t>
            </a:r>
            <a:r>
              <a:rPr dirty="0" sz="1200" spc="-5">
                <a:latin typeface="Arial"/>
                <a:cs typeface="Arial"/>
              </a:rPr>
              <a:t>between belief and  infidelity. Forgiveness without repentance is not possible (the doctrine of retribution </a:t>
            </a:r>
            <a:r>
              <a:rPr dirty="0" sz="1200">
                <a:latin typeface="Arial"/>
                <a:cs typeface="Arial"/>
              </a:rPr>
              <a:t>- </a:t>
            </a:r>
            <a:r>
              <a:rPr dirty="0" sz="1200" spc="-5">
                <a:latin typeface="Arial"/>
                <a:cs typeface="Arial"/>
              </a:rPr>
              <a:t>wa'd </a:t>
            </a:r>
            <a:r>
              <a:rPr dirty="0" sz="1200" spc="-10">
                <a:latin typeface="Arial"/>
                <a:cs typeface="Arial"/>
              </a:rPr>
              <a:t>wa  </a:t>
            </a:r>
            <a:r>
              <a:rPr dirty="0" sz="1200" spc="-5">
                <a:latin typeface="Arial"/>
                <a:cs typeface="Arial"/>
              </a:rPr>
              <a:t>wa'id).</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a:latin typeface="Arial"/>
                <a:cs typeface="Arial"/>
              </a:rPr>
              <a:t>According to </a:t>
            </a:r>
            <a:r>
              <a:rPr dirty="0" sz="1200" spc="-5">
                <a:latin typeface="Arial"/>
                <a:cs typeface="Arial"/>
              </a:rPr>
              <a:t>the Ash‘ari </a:t>
            </a:r>
            <a:r>
              <a:rPr dirty="0" sz="1200">
                <a:latin typeface="Arial"/>
                <a:cs typeface="Arial"/>
              </a:rPr>
              <a:t>the person </a:t>
            </a:r>
            <a:r>
              <a:rPr dirty="0" sz="1200" spc="-5">
                <a:latin typeface="Arial"/>
                <a:cs typeface="Arial"/>
              </a:rPr>
              <a:t>committing a sin </a:t>
            </a:r>
            <a:r>
              <a:rPr dirty="0" sz="1200">
                <a:latin typeface="Arial"/>
                <a:cs typeface="Arial"/>
              </a:rPr>
              <a:t>at </a:t>
            </a:r>
            <a:r>
              <a:rPr dirty="0" sz="1200" spc="-5">
                <a:latin typeface="Arial"/>
                <a:cs typeface="Arial"/>
              </a:rPr>
              <a:t>any moment and even before dying  </a:t>
            </a:r>
            <a:r>
              <a:rPr dirty="0" sz="1200">
                <a:latin typeface="Arial"/>
                <a:cs typeface="Arial"/>
              </a:rPr>
              <a:t>remains </a:t>
            </a:r>
            <a:r>
              <a:rPr dirty="0" sz="1200" spc="-5">
                <a:latin typeface="Arial"/>
                <a:cs typeface="Arial"/>
              </a:rPr>
              <a:t>a </a:t>
            </a:r>
            <a:r>
              <a:rPr dirty="0" sz="1200">
                <a:latin typeface="Arial"/>
                <a:cs typeface="Arial"/>
              </a:rPr>
              <a:t>Muslim. </a:t>
            </a:r>
            <a:r>
              <a:rPr dirty="0" sz="1200" spc="-5">
                <a:latin typeface="Arial"/>
                <a:cs typeface="Arial"/>
              </a:rPr>
              <a:t>The </a:t>
            </a:r>
            <a:r>
              <a:rPr dirty="0" sz="1200">
                <a:latin typeface="Arial"/>
                <a:cs typeface="Arial"/>
              </a:rPr>
              <a:t>fasiq </a:t>
            </a:r>
            <a:r>
              <a:rPr dirty="0" sz="1200" spc="-5">
                <a:latin typeface="Arial"/>
                <a:cs typeface="Arial"/>
              </a:rPr>
              <a:t>is a believer (mu'min) </a:t>
            </a:r>
            <a:r>
              <a:rPr dirty="0" sz="1200">
                <a:latin typeface="Arial"/>
                <a:cs typeface="Arial"/>
              </a:rPr>
              <a:t>(contrary to the </a:t>
            </a:r>
            <a:r>
              <a:rPr dirty="0" sz="1200" spc="-5">
                <a:latin typeface="Arial"/>
                <a:cs typeface="Arial"/>
              </a:rPr>
              <a:t>view </a:t>
            </a:r>
            <a:r>
              <a:rPr dirty="0" sz="1200">
                <a:latin typeface="Arial"/>
                <a:cs typeface="Arial"/>
              </a:rPr>
              <a:t>of the </a:t>
            </a:r>
            <a:r>
              <a:rPr dirty="0" sz="1200" spc="-5">
                <a:latin typeface="Arial"/>
                <a:cs typeface="Arial"/>
              </a:rPr>
              <a:t>Khawarij, who  </a:t>
            </a:r>
            <a:r>
              <a:rPr dirty="0" sz="1200">
                <a:latin typeface="Arial"/>
                <a:cs typeface="Arial"/>
              </a:rPr>
              <a:t>consider </a:t>
            </a:r>
            <a:r>
              <a:rPr dirty="0" sz="1200" spc="-5">
                <a:latin typeface="Arial"/>
                <a:cs typeface="Arial"/>
              </a:rPr>
              <a:t>him kafir, and </a:t>
            </a:r>
            <a:r>
              <a:rPr dirty="0" sz="1200">
                <a:latin typeface="Arial"/>
                <a:cs typeface="Arial"/>
              </a:rPr>
              <a:t>contrary to </a:t>
            </a:r>
            <a:r>
              <a:rPr dirty="0" sz="1200" spc="-5">
                <a:latin typeface="Arial"/>
                <a:cs typeface="Arial"/>
              </a:rPr>
              <a:t>the Mu'tazilite doctrine of manzilah bayna </a:t>
            </a:r>
            <a:r>
              <a:rPr dirty="0" sz="1200">
                <a:latin typeface="Arial"/>
                <a:cs typeface="Arial"/>
              </a:rPr>
              <a:t>al-manzilatayn).  </a:t>
            </a:r>
            <a:r>
              <a:rPr dirty="0" sz="1200" spc="-5">
                <a:latin typeface="Arial"/>
                <a:cs typeface="Arial"/>
              </a:rPr>
              <a:t>There is </a:t>
            </a:r>
            <a:r>
              <a:rPr dirty="0" sz="1200">
                <a:latin typeface="Arial"/>
                <a:cs typeface="Arial"/>
              </a:rPr>
              <a:t>nothing </a:t>
            </a:r>
            <a:r>
              <a:rPr dirty="0" sz="1200" spc="-5">
                <a:latin typeface="Arial"/>
                <a:cs typeface="Arial"/>
              </a:rPr>
              <a:t>wrong about God's pardoning </a:t>
            </a:r>
            <a:r>
              <a:rPr dirty="0" sz="1200">
                <a:latin typeface="Arial"/>
                <a:cs typeface="Arial"/>
              </a:rPr>
              <a:t>someone </a:t>
            </a:r>
            <a:r>
              <a:rPr dirty="0" sz="1200" spc="-5">
                <a:latin typeface="Arial"/>
                <a:cs typeface="Arial"/>
              </a:rPr>
              <a:t>without repentance. Similarly,  nothing is wrong about God's subjecting a believer </a:t>
            </a:r>
            <a:r>
              <a:rPr dirty="0" sz="1200">
                <a:latin typeface="Arial"/>
                <a:cs typeface="Arial"/>
              </a:rPr>
              <a:t>to </a:t>
            </a:r>
            <a:r>
              <a:rPr dirty="0" sz="1200" spc="-5">
                <a:latin typeface="Arial"/>
                <a:cs typeface="Arial"/>
              </a:rPr>
              <a:t>chastisement </a:t>
            </a:r>
            <a:r>
              <a:rPr dirty="0" sz="1200">
                <a:latin typeface="Arial"/>
                <a:cs typeface="Arial"/>
              </a:rPr>
              <a:t>(contrary to the  </a:t>
            </a:r>
            <a:r>
              <a:rPr dirty="0" sz="1200" spc="-5">
                <a:latin typeface="Arial"/>
                <a:cs typeface="Arial"/>
              </a:rPr>
              <a:t>Mu'tazilite </a:t>
            </a:r>
            <a:r>
              <a:rPr dirty="0" sz="1200">
                <a:latin typeface="Arial"/>
                <a:cs typeface="Arial"/>
              </a:rPr>
              <a:t>position).</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Commanding </a:t>
            </a:r>
            <a:r>
              <a:rPr dirty="0" u="heavy" sz="1200" b="1" i="1">
                <a:uFill>
                  <a:solidFill>
                    <a:srgbClr val="000000"/>
                  </a:solidFill>
                </a:uFill>
                <a:latin typeface="Arial"/>
                <a:cs typeface="Arial"/>
              </a:rPr>
              <a:t>Good </a:t>
            </a:r>
            <a:r>
              <a:rPr dirty="0" u="heavy" sz="1200" spc="-5" b="1" i="1">
                <a:uFill>
                  <a:solidFill>
                    <a:srgbClr val="000000"/>
                  </a:solidFill>
                </a:uFill>
                <a:latin typeface="Arial"/>
                <a:cs typeface="Arial"/>
              </a:rPr>
              <a:t>&amp; </a:t>
            </a:r>
            <a:r>
              <a:rPr dirty="0" u="heavy" sz="1200" b="1" i="1">
                <a:uFill>
                  <a:solidFill>
                    <a:srgbClr val="000000"/>
                  </a:solidFill>
                </a:uFill>
                <a:latin typeface="Arial"/>
                <a:cs typeface="Arial"/>
              </a:rPr>
              <a:t>Forbidding</a:t>
            </a:r>
            <a:r>
              <a:rPr dirty="0" u="heavy" sz="1200" spc="5" b="1" i="1">
                <a:uFill>
                  <a:solidFill>
                    <a:srgbClr val="000000"/>
                  </a:solidFill>
                </a:uFill>
                <a:latin typeface="Arial"/>
                <a:cs typeface="Arial"/>
              </a:rPr>
              <a:t> </a:t>
            </a:r>
            <a:r>
              <a:rPr dirty="0" u="heavy" sz="1200" b="1" i="1">
                <a:uFill>
                  <a:solidFill>
                    <a:srgbClr val="000000"/>
                  </a:solidFill>
                </a:uFill>
                <a:latin typeface="Arial"/>
                <a:cs typeface="Arial"/>
              </a:rPr>
              <a:t>Evil</a:t>
            </a:r>
            <a:endParaRPr sz="1200">
              <a:latin typeface="Arial"/>
              <a:cs typeface="Arial"/>
            </a:endParaRPr>
          </a:p>
          <a:p>
            <a:pPr>
              <a:lnSpc>
                <a:spcPct val="100000"/>
              </a:lnSpc>
              <a:spcBef>
                <a:spcPts val="5"/>
              </a:spcBef>
            </a:pPr>
            <a:endParaRPr sz="1200">
              <a:latin typeface="Arial"/>
              <a:cs typeface="Arial"/>
            </a:endParaRPr>
          </a:p>
          <a:p>
            <a:pPr algn="just" marL="12700" marR="5080">
              <a:lnSpc>
                <a:spcPct val="95800"/>
              </a:lnSpc>
            </a:pPr>
            <a:r>
              <a:rPr dirty="0" sz="1200" spc="-5">
                <a:latin typeface="Arial"/>
                <a:cs typeface="Arial"/>
              </a:rPr>
              <a:t>According </a:t>
            </a:r>
            <a:r>
              <a:rPr dirty="0" sz="1200">
                <a:latin typeface="Arial"/>
                <a:cs typeface="Arial"/>
              </a:rPr>
              <a:t>to </a:t>
            </a:r>
            <a:r>
              <a:rPr dirty="0" sz="1200" spc="-5">
                <a:latin typeface="Arial"/>
                <a:cs typeface="Arial"/>
              </a:rPr>
              <a:t>the </a:t>
            </a:r>
            <a:r>
              <a:rPr dirty="0" sz="1200" spc="-10">
                <a:latin typeface="Arial"/>
                <a:cs typeface="Arial"/>
              </a:rPr>
              <a:t>Mu‘tazilah </a:t>
            </a:r>
            <a:r>
              <a:rPr dirty="0" sz="1200" spc="-5">
                <a:latin typeface="Arial"/>
                <a:cs typeface="Arial"/>
              </a:rPr>
              <a:t>it is the duty of all </a:t>
            </a:r>
            <a:r>
              <a:rPr dirty="0" sz="1200">
                <a:latin typeface="Arial"/>
                <a:cs typeface="Arial"/>
              </a:rPr>
              <a:t>Muslims. </a:t>
            </a:r>
            <a:r>
              <a:rPr dirty="0" sz="1200" spc="-5">
                <a:latin typeface="Arial"/>
                <a:cs typeface="Arial"/>
              </a:rPr>
              <a:t>al-'amr bil ma'ruf </a:t>
            </a:r>
            <a:r>
              <a:rPr dirty="0" sz="1200" spc="-10">
                <a:latin typeface="Arial"/>
                <a:cs typeface="Arial"/>
              </a:rPr>
              <a:t>wa </a:t>
            </a:r>
            <a:r>
              <a:rPr dirty="0" sz="1200" spc="-5">
                <a:latin typeface="Arial"/>
                <a:cs typeface="Arial"/>
              </a:rPr>
              <a:t>al-nahy 'an </a:t>
            </a:r>
            <a:r>
              <a:rPr dirty="0" sz="1200">
                <a:latin typeface="Arial"/>
                <a:cs typeface="Arial"/>
              </a:rPr>
              <a:t>al-  </a:t>
            </a:r>
            <a:r>
              <a:rPr dirty="0" sz="1200" spc="-5">
                <a:latin typeface="Arial"/>
                <a:cs typeface="Arial"/>
              </a:rPr>
              <a:t>munkar bidding </a:t>
            </a:r>
            <a:r>
              <a:rPr dirty="0" sz="1200">
                <a:latin typeface="Arial"/>
                <a:cs typeface="Arial"/>
              </a:rPr>
              <a:t>to do </a:t>
            </a:r>
            <a:r>
              <a:rPr dirty="0" sz="1200" spc="-5">
                <a:latin typeface="Arial"/>
                <a:cs typeface="Arial"/>
              </a:rPr>
              <a:t>what is right and lawful, and forbidding what </a:t>
            </a:r>
            <a:r>
              <a:rPr dirty="0" sz="1200">
                <a:latin typeface="Arial"/>
                <a:cs typeface="Arial"/>
              </a:rPr>
              <a:t>is </a:t>
            </a:r>
            <a:r>
              <a:rPr dirty="0" sz="1200" spc="-5">
                <a:latin typeface="Arial"/>
                <a:cs typeface="Arial"/>
              </a:rPr>
              <a:t>wrong </a:t>
            </a:r>
            <a:r>
              <a:rPr dirty="0" sz="1200">
                <a:latin typeface="Arial"/>
                <a:cs typeface="Arial"/>
              </a:rPr>
              <a:t>and </a:t>
            </a:r>
            <a:r>
              <a:rPr dirty="0" sz="1200" spc="-5">
                <a:latin typeface="Arial"/>
                <a:cs typeface="Arial"/>
              </a:rPr>
              <a:t>unlawful. The  opinion of </a:t>
            </a:r>
            <a:r>
              <a:rPr dirty="0" sz="1200">
                <a:latin typeface="Arial"/>
                <a:cs typeface="Arial"/>
              </a:rPr>
              <a:t>the </a:t>
            </a:r>
            <a:r>
              <a:rPr dirty="0" sz="1200" spc="-5">
                <a:latin typeface="Arial"/>
                <a:cs typeface="Arial"/>
              </a:rPr>
              <a:t>Mu'tazilah about </a:t>
            </a:r>
            <a:r>
              <a:rPr dirty="0" sz="1200">
                <a:latin typeface="Arial"/>
                <a:cs typeface="Arial"/>
              </a:rPr>
              <a:t>this </a:t>
            </a:r>
            <a:r>
              <a:rPr dirty="0" sz="1200" spc="-5">
                <a:latin typeface="Arial"/>
                <a:cs typeface="Arial"/>
              </a:rPr>
              <a:t>Islamic </a:t>
            </a:r>
            <a:r>
              <a:rPr dirty="0" sz="1200">
                <a:latin typeface="Arial"/>
                <a:cs typeface="Arial"/>
              </a:rPr>
              <a:t>duty is, </a:t>
            </a:r>
            <a:r>
              <a:rPr dirty="0" sz="1200" spc="-5">
                <a:latin typeface="Arial"/>
                <a:cs typeface="Arial"/>
              </a:rPr>
              <a:t>firstly, </a:t>
            </a:r>
            <a:r>
              <a:rPr dirty="0" sz="1200">
                <a:latin typeface="Arial"/>
                <a:cs typeface="Arial"/>
              </a:rPr>
              <a:t>that the </a:t>
            </a:r>
            <a:r>
              <a:rPr dirty="0" sz="1200" spc="-5">
                <a:latin typeface="Arial"/>
                <a:cs typeface="Arial"/>
              </a:rPr>
              <a:t>Shari'ah is not the  exclusive </a:t>
            </a:r>
            <a:r>
              <a:rPr dirty="0" sz="1200">
                <a:latin typeface="Arial"/>
                <a:cs typeface="Arial"/>
              </a:rPr>
              <a:t>means </a:t>
            </a:r>
            <a:r>
              <a:rPr dirty="0" sz="1200" spc="-5">
                <a:latin typeface="Arial"/>
                <a:cs typeface="Arial"/>
              </a:rPr>
              <a:t>of identifying </a:t>
            </a:r>
            <a:r>
              <a:rPr dirty="0" sz="1200">
                <a:latin typeface="Arial"/>
                <a:cs typeface="Arial"/>
              </a:rPr>
              <a:t>the </a:t>
            </a:r>
            <a:r>
              <a:rPr dirty="0" sz="1200" spc="-5">
                <a:latin typeface="Arial"/>
                <a:cs typeface="Arial"/>
              </a:rPr>
              <a:t>ma'ruf and the </a:t>
            </a:r>
            <a:r>
              <a:rPr dirty="0" sz="1200" spc="5">
                <a:latin typeface="Arial"/>
                <a:cs typeface="Arial"/>
              </a:rPr>
              <a:t>munkar; </a:t>
            </a:r>
            <a:r>
              <a:rPr dirty="0" sz="1200" spc="-5">
                <a:latin typeface="Arial"/>
                <a:cs typeface="Arial"/>
              </a:rPr>
              <a:t>human </a:t>
            </a:r>
            <a:r>
              <a:rPr dirty="0" sz="1200" spc="-10">
                <a:latin typeface="Arial"/>
                <a:cs typeface="Arial"/>
              </a:rPr>
              <a:t>reason </a:t>
            </a:r>
            <a:r>
              <a:rPr dirty="0" sz="1200" spc="-5">
                <a:latin typeface="Arial"/>
                <a:cs typeface="Arial"/>
              </a:rPr>
              <a:t>can, </a:t>
            </a:r>
            <a:r>
              <a:rPr dirty="0" sz="1200">
                <a:latin typeface="Arial"/>
                <a:cs typeface="Arial"/>
              </a:rPr>
              <a:t>at </a:t>
            </a:r>
            <a:r>
              <a:rPr dirty="0" sz="1200" spc="-5">
                <a:latin typeface="Arial"/>
                <a:cs typeface="Arial"/>
              </a:rPr>
              <a:t>least  partially, independently identify </a:t>
            </a:r>
            <a:r>
              <a:rPr dirty="0" sz="1200">
                <a:latin typeface="Arial"/>
                <a:cs typeface="Arial"/>
              </a:rPr>
              <a:t>the </a:t>
            </a:r>
            <a:r>
              <a:rPr dirty="0" sz="1200" spc="-5">
                <a:latin typeface="Arial"/>
                <a:cs typeface="Arial"/>
              </a:rPr>
              <a:t>various </a:t>
            </a:r>
            <a:r>
              <a:rPr dirty="0" sz="1200">
                <a:latin typeface="Arial"/>
                <a:cs typeface="Arial"/>
              </a:rPr>
              <a:t>kinds </a:t>
            </a:r>
            <a:r>
              <a:rPr dirty="0" sz="1200" spc="-5">
                <a:latin typeface="Arial"/>
                <a:cs typeface="Arial"/>
              </a:rPr>
              <a:t>of ma'ruf and munkar. Secondly, </a:t>
            </a:r>
            <a:r>
              <a:rPr dirty="0" sz="1200">
                <a:latin typeface="Arial"/>
                <a:cs typeface="Arial"/>
              </a:rPr>
              <a:t>the  </a:t>
            </a:r>
            <a:r>
              <a:rPr dirty="0" sz="1200" spc="-5">
                <a:latin typeface="Arial"/>
                <a:cs typeface="Arial"/>
              </a:rPr>
              <a:t>implementation of this </a:t>
            </a:r>
            <a:r>
              <a:rPr dirty="0" sz="1200">
                <a:latin typeface="Arial"/>
                <a:cs typeface="Arial"/>
              </a:rPr>
              <a:t>duty </a:t>
            </a:r>
            <a:r>
              <a:rPr dirty="0" sz="1200" spc="-5">
                <a:latin typeface="Arial"/>
                <a:cs typeface="Arial"/>
              </a:rPr>
              <a:t>does not necessitate </a:t>
            </a:r>
            <a:r>
              <a:rPr dirty="0" sz="1200">
                <a:latin typeface="Arial"/>
                <a:cs typeface="Arial"/>
              </a:rPr>
              <a:t>the </a:t>
            </a:r>
            <a:r>
              <a:rPr dirty="0" sz="1200" spc="-5">
                <a:latin typeface="Arial"/>
                <a:cs typeface="Arial"/>
              </a:rPr>
              <a:t>presence of the Imam, and is a  universal obligation of all Muslims, whether the </a:t>
            </a:r>
            <a:r>
              <a:rPr dirty="0" sz="1200" spc="5">
                <a:latin typeface="Arial"/>
                <a:cs typeface="Arial"/>
              </a:rPr>
              <a:t>Imam </a:t>
            </a:r>
            <a:r>
              <a:rPr dirty="0" sz="1200" spc="-5">
                <a:latin typeface="Arial"/>
                <a:cs typeface="Arial"/>
              </a:rPr>
              <a:t>or leader is present or </a:t>
            </a:r>
            <a:r>
              <a:rPr dirty="0" sz="1200">
                <a:latin typeface="Arial"/>
                <a:cs typeface="Arial"/>
              </a:rPr>
              <a:t>not. Only </a:t>
            </a:r>
            <a:r>
              <a:rPr dirty="0" sz="1200" spc="-5">
                <a:latin typeface="Arial"/>
                <a:cs typeface="Arial"/>
              </a:rPr>
              <a:t>some  categories of </a:t>
            </a:r>
            <a:r>
              <a:rPr dirty="0" sz="1200">
                <a:latin typeface="Arial"/>
                <a:cs typeface="Arial"/>
              </a:rPr>
              <a:t>it </a:t>
            </a:r>
            <a:r>
              <a:rPr dirty="0" sz="1200" spc="-5">
                <a:latin typeface="Arial"/>
                <a:cs typeface="Arial"/>
              </a:rPr>
              <a:t>are </a:t>
            </a:r>
            <a:r>
              <a:rPr dirty="0" sz="1200">
                <a:latin typeface="Arial"/>
                <a:cs typeface="Arial"/>
              </a:rPr>
              <a:t>the </a:t>
            </a:r>
            <a:r>
              <a:rPr dirty="0" sz="1200" spc="-5">
                <a:latin typeface="Arial"/>
                <a:cs typeface="Arial"/>
              </a:rPr>
              <a:t>obligation </a:t>
            </a:r>
            <a:r>
              <a:rPr dirty="0" sz="1200">
                <a:latin typeface="Arial"/>
                <a:cs typeface="Arial"/>
              </a:rPr>
              <a:t>of </a:t>
            </a:r>
            <a:r>
              <a:rPr dirty="0" sz="1200" spc="-5">
                <a:latin typeface="Arial"/>
                <a:cs typeface="Arial"/>
              </a:rPr>
              <a:t>the Imam or ruler </a:t>
            </a:r>
            <a:r>
              <a:rPr dirty="0" sz="1200">
                <a:latin typeface="Arial"/>
                <a:cs typeface="Arial"/>
              </a:rPr>
              <a:t>of </a:t>
            </a:r>
            <a:r>
              <a:rPr dirty="0" sz="1200" spc="-5">
                <a:latin typeface="Arial"/>
                <a:cs typeface="Arial"/>
              </a:rPr>
              <a:t>Muslims, such </a:t>
            </a:r>
            <a:r>
              <a:rPr dirty="0" sz="1200">
                <a:latin typeface="Arial"/>
                <a:cs typeface="Arial"/>
              </a:rPr>
              <a:t>as, </a:t>
            </a:r>
            <a:r>
              <a:rPr dirty="0" sz="1200" spc="-5">
                <a:latin typeface="Arial"/>
                <a:cs typeface="Arial"/>
              </a:rPr>
              <a:t>implementation of  </a:t>
            </a:r>
            <a:r>
              <a:rPr dirty="0" sz="1200">
                <a:latin typeface="Arial"/>
                <a:cs typeface="Arial"/>
              </a:rPr>
              <a:t>the </a:t>
            </a:r>
            <a:r>
              <a:rPr dirty="0" sz="1200" spc="-5">
                <a:latin typeface="Arial"/>
                <a:cs typeface="Arial"/>
              </a:rPr>
              <a:t>punishments (hudud) prescribed by </a:t>
            </a:r>
            <a:r>
              <a:rPr dirty="0" sz="1200">
                <a:latin typeface="Arial"/>
                <a:cs typeface="Arial"/>
              </a:rPr>
              <a:t>the </a:t>
            </a:r>
            <a:r>
              <a:rPr dirty="0" sz="1200" spc="-5">
                <a:latin typeface="Arial"/>
                <a:cs typeface="Arial"/>
              </a:rPr>
              <a:t>Shari'ah, guarding of </a:t>
            </a:r>
            <a:r>
              <a:rPr dirty="0" sz="1200">
                <a:latin typeface="Arial"/>
                <a:cs typeface="Arial"/>
              </a:rPr>
              <a:t>the </a:t>
            </a:r>
            <a:r>
              <a:rPr dirty="0" sz="1200" spc="-5">
                <a:latin typeface="Arial"/>
                <a:cs typeface="Arial"/>
              </a:rPr>
              <a:t>frontiers of Islamic  countries, and other such </a:t>
            </a:r>
            <a:r>
              <a:rPr dirty="0" sz="1200">
                <a:latin typeface="Arial"/>
                <a:cs typeface="Arial"/>
              </a:rPr>
              <a:t>matters </a:t>
            </a:r>
            <a:r>
              <a:rPr dirty="0" sz="1200" spc="-5">
                <a:latin typeface="Arial"/>
                <a:cs typeface="Arial"/>
              </a:rPr>
              <a:t>relating </a:t>
            </a:r>
            <a:r>
              <a:rPr dirty="0" sz="1200">
                <a:latin typeface="Arial"/>
                <a:cs typeface="Arial"/>
              </a:rPr>
              <a:t>to </a:t>
            </a:r>
            <a:r>
              <a:rPr dirty="0" sz="1200" spc="-5">
                <a:latin typeface="Arial"/>
                <a:cs typeface="Arial"/>
              </a:rPr>
              <a:t>the Islamic government. </a:t>
            </a:r>
            <a:r>
              <a:rPr dirty="0" sz="1200">
                <a:latin typeface="Arial"/>
                <a:cs typeface="Arial"/>
              </a:rPr>
              <a:t>In </a:t>
            </a:r>
            <a:r>
              <a:rPr dirty="0" sz="1200" spc="-5">
                <a:latin typeface="Arial"/>
                <a:cs typeface="Arial"/>
              </a:rPr>
              <a:t>case of conflict  between reason and </a:t>
            </a:r>
            <a:r>
              <a:rPr dirty="0" sz="1200">
                <a:latin typeface="Arial"/>
                <a:cs typeface="Arial"/>
              </a:rPr>
              <a:t>Hadith, </a:t>
            </a:r>
            <a:r>
              <a:rPr dirty="0" sz="1200" spc="-5">
                <a:latin typeface="Arial"/>
                <a:cs typeface="Arial"/>
              </a:rPr>
              <a:t>reason is </a:t>
            </a:r>
            <a:r>
              <a:rPr dirty="0" sz="1200">
                <a:latin typeface="Arial"/>
                <a:cs typeface="Arial"/>
              </a:rPr>
              <a:t>to </a:t>
            </a:r>
            <a:r>
              <a:rPr dirty="0" sz="1200" spc="-10">
                <a:latin typeface="Arial"/>
                <a:cs typeface="Arial"/>
              </a:rPr>
              <a:t>be </a:t>
            </a:r>
            <a:r>
              <a:rPr dirty="0" sz="1200" spc="-5">
                <a:latin typeface="Arial"/>
                <a:cs typeface="Arial"/>
              </a:rPr>
              <a:t>preferred. </a:t>
            </a:r>
            <a:r>
              <a:rPr dirty="0" sz="1200">
                <a:latin typeface="Arial"/>
                <a:cs typeface="Arial"/>
              </a:rPr>
              <a:t>It </a:t>
            </a:r>
            <a:r>
              <a:rPr dirty="0" sz="1200" spc="-5">
                <a:latin typeface="Arial"/>
                <a:cs typeface="Arial"/>
              </a:rPr>
              <a:t>is possible </a:t>
            </a:r>
            <a:r>
              <a:rPr dirty="0" sz="1200">
                <a:latin typeface="Arial"/>
                <a:cs typeface="Arial"/>
              </a:rPr>
              <a:t>to </a:t>
            </a:r>
            <a:r>
              <a:rPr dirty="0" sz="1200" spc="-5">
                <a:latin typeface="Arial"/>
                <a:cs typeface="Arial"/>
              </a:rPr>
              <a:t>interpret </a:t>
            </a:r>
            <a:r>
              <a:rPr dirty="0" sz="1200">
                <a:latin typeface="Arial"/>
                <a:cs typeface="Arial"/>
              </a:rPr>
              <a:t>the </a:t>
            </a:r>
            <a:r>
              <a:rPr dirty="0" sz="1200" spc="-5">
                <a:latin typeface="Arial"/>
                <a:cs typeface="Arial"/>
              </a:rPr>
              <a:t>Qur'an  with </a:t>
            </a:r>
            <a:r>
              <a:rPr dirty="0" sz="1200">
                <a:latin typeface="Arial"/>
                <a:cs typeface="Arial"/>
              </a:rPr>
              <a:t>the </a:t>
            </a:r>
            <a:r>
              <a:rPr dirty="0" sz="1200" spc="-5">
                <a:latin typeface="Arial"/>
                <a:cs typeface="Arial"/>
              </a:rPr>
              <a:t>help of reason. Human reason can understand and judge some </a:t>
            </a:r>
            <a:r>
              <a:rPr dirty="0" sz="1200">
                <a:latin typeface="Arial"/>
                <a:cs typeface="Arial"/>
              </a:rPr>
              <a:t>matters  </a:t>
            </a:r>
            <a:r>
              <a:rPr dirty="0" sz="1200" spc="-5">
                <a:latin typeface="Arial"/>
                <a:cs typeface="Arial"/>
              </a:rPr>
              <a:t>independently (without </a:t>
            </a:r>
            <a:r>
              <a:rPr dirty="0" sz="1200" spc="5">
                <a:latin typeface="Arial"/>
                <a:cs typeface="Arial"/>
              </a:rPr>
              <a:t>the </a:t>
            </a:r>
            <a:r>
              <a:rPr dirty="0" sz="1200" spc="-5">
                <a:latin typeface="Arial"/>
                <a:cs typeface="Arial"/>
              </a:rPr>
              <a:t>prior need of guidance from the</a:t>
            </a:r>
            <a:r>
              <a:rPr dirty="0" sz="1200">
                <a:latin typeface="Arial"/>
                <a:cs typeface="Arial"/>
              </a:rPr>
              <a:t> </a:t>
            </a:r>
            <a:r>
              <a:rPr dirty="0" sz="1200" spc="-5">
                <a:latin typeface="Arial"/>
                <a:cs typeface="Arial"/>
              </a:rPr>
              <a:t>Shari'ah).</a:t>
            </a:r>
            <a:endParaRPr sz="1200">
              <a:latin typeface="Arial"/>
              <a:cs typeface="Arial"/>
            </a:endParaRPr>
          </a:p>
          <a:p>
            <a:pPr>
              <a:lnSpc>
                <a:spcPct val="100000"/>
              </a:lnSpc>
              <a:spcBef>
                <a:spcPts val="35"/>
              </a:spcBef>
            </a:pPr>
            <a:endParaRPr sz="1200">
              <a:latin typeface="Arial"/>
              <a:cs typeface="Arial"/>
            </a:endParaRPr>
          </a:p>
          <a:p>
            <a:pPr algn="just" marL="12700" marR="5715">
              <a:lnSpc>
                <a:spcPts val="1380"/>
              </a:lnSpc>
            </a:pPr>
            <a:r>
              <a:rPr dirty="0" sz="1200" spc="-5">
                <a:latin typeface="Arial"/>
                <a:cs typeface="Arial"/>
              </a:rPr>
              <a:t>However </a:t>
            </a:r>
            <a:r>
              <a:rPr dirty="0" sz="1200">
                <a:latin typeface="Arial"/>
                <a:cs typeface="Arial"/>
              </a:rPr>
              <a:t>according </a:t>
            </a:r>
            <a:r>
              <a:rPr dirty="0" sz="1200" spc="5">
                <a:latin typeface="Arial"/>
                <a:cs typeface="Arial"/>
              </a:rPr>
              <a:t>to </a:t>
            </a:r>
            <a:r>
              <a:rPr dirty="0" sz="1200">
                <a:latin typeface="Arial"/>
                <a:cs typeface="Arial"/>
              </a:rPr>
              <a:t>the </a:t>
            </a:r>
            <a:r>
              <a:rPr dirty="0" sz="1200" spc="-5">
                <a:latin typeface="Arial"/>
                <a:cs typeface="Arial"/>
              </a:rPr>
              <a:t>Ash‘ari </a:t>
            </a:r>
            <a:r>
              <a:rPr dirty="0" sz="1200" spc="5">
                <a:latin typeface="Arial"/>
                <a:cs typeface="Arial"/>
              </a:rPr>
              <a:t>it </a:t>
            </a:r>
            <a:r>
              <a:rPr dirty="0" sz="1200" spc="-5">
                <a:latin typeface="Arial"/>
                <a:cs typeface="Arial"/>
              </a:rPr>
              <a:t>is </a:t>
            </a:r>
            <a:r>
              <a:rPr dirty="0" sz="1200">
                <a:latin typeface="Arial"/>
                <a:cs typeface="Arial"/>
              </a:rPr>
              <a:t>the </a:t>
            </a:r>
            <a:r>
              <a:rPr dirty="0" sz="1200" spc="-5">
                <a:latin typeface="Arial"/>
                <a:cs typeface="Arial"/>
              </a:rPr>
              <a:t>responsibility </a:t>
            </a:r>
            <a:r>
              <a:rPr dirty="0" sz="1200">
                <a:latin typeface="Arial"/>
                <a:cs typeface="Arial"/>
              </a:rPr>
              <a:t>of the </a:t>
            </a:r>
            <a:r>
              <a:rPr dirty="0" sz="1200" spc="-5">
                <a:latin typeface="Arial"/>
                <a:cs typeface="Arial"/>
              </a:rPr>
              <a:t>State </a:t>
            </a:r>
            <a:r>
              <a:rPr dirty="0" sz="1200">
                <a:latin typeface="Arial"/>
                <a:cs typeface="Arial"/>
              </a:rPr>
              <a:t>to </a:t>
            </a:r>
            <a:r>
              <a:rPr dirty="0" sz="1200" spc="-5">
                <a:latin typeface="Arial"/>
                <a:cs typeface="Arial"/>
              </a:rPr>
              <a:t>create that  atmosphere. Doctrine of acquisition: Man does not 'create' his </a:t>
            </a:r>
            <a:r>
              <a:rPr dirty="0" sz="1200" spc="-10">
                <a:latin typeface="Arial"/>
                <a:cs typeface="Arial"/>
              </a:rPr>
              <a:t>own </a:t>
            </a:r>
            <a:r>
              <a:rPr dirty="0" sz="1200">
                <a:latin typeface="Arial"/>
                <a:cs typeface="Arial"/>
              </a:rPr>
              <a:t>acts; rather </a:t>
            </a:r>
            <a:r>
              <a:rPr dirty="0" sz="1200" spc="-5">
                <a:latin typeface="Arial"/>
                <a:cs typeface="Arial"/>
              </a:rPr>
              <a:t>he 'acquires'  or </a:t>
            </a:r>
            <a:r>
              <a:rPr dirty="0" sz="1200">
                <a:latin typeface="Arial"/>
                <a:cs typeface="Arial"/>
              </a:rPr>
              <a:t>'earns' </a:t>
            </a:r>
            <a:r>
              <a:rPr dirty="0" sz="1200" spc="-5">
                <a:latin typeface="Arial"/>
                <a:cs typeface="Arial"/>
              </a:rPr>
              <a:t>them </a:t>
            </a:r>
            <a:r>
              <a:rPr dirty="0" sz="1200">
                <a:latin typeface="Arial"/>
                <a:cs typeface="Arial"/>
              </a:rPr>
              <a:t>(this </a:t>
            </a:r>
            <a:r>
              <a:rPr dirty="0" sz="1200" spc="-5">
                <a:latin typeface="Arial"/>
                <a:cs typeface="Arial"/>
              </a:rPr>
              <a:t>is in </a:t>
            </a:r>
            <a:r>
              <a:rPr dirty="0" sz="1200">
                <a:latin typeface="Arial"/>
                <a:cs typeface="Arial"/>
              </a:rPr>
              <a:t>justification </a:t>
            </a:r>
            <a:r>
              <a:rPr dirty="0" sz="1200" spc="-5">
                <a:latin typeface="Arial"/>
                <a:cs typeface="Arial"/>
              </a:rPr>
              <a:t>of the Ahl al-Sunnah's belief in </a:t>
            </a:r>
            <a:r>
              <a:rPr dirty="0" sz="1200">
                <a:latin typeface="Arial"/>
                <a:cs typeface="Arial"/>
              </a:rPr>
              <a:t>the </a:t>
            </a:r>
            <a:r>
              <a:rPr dirty="0" sz="1200" spc="-5">
                <a:latin typeface="Arial"/>
                <a:cs typeface="Arial"/>
              </a:rPr>
              <a:t>creation of </a:t>
            </a:r>
            <a:r>
              <a:rPr dirty="0" sz="1200" spc="-10">
                <a:latin typeface="Arial"/>
                <a:cs typeface="Arial"/>
              </a:rPr>
              <a:t>human  </a:t>
            </a:r>
            <a:r>
              <a:rPr dirty="0" sz="1200">
                <a:latin typeface="Arial"/>
                <a:cs typeface="Arial"/>
              </a:rPr>
              <a:t>acts </a:t>
            </a:r>
            <a:r>
              <a:rPr dirty="0" sz="1200" spc="-5">
                <a:latin typeface="Arial"/>
                <a:cs typeface="Arial"/>
              </a:rPr>
              <a:t>by</a:t>
            </a:r>
            <a:r>
              <a:rPr dirty="0" sz="1200" spc="-20">
                <a:latin typeface="Arial"/>
                <a:cs typeface="Arial"/>
              </a:rPr>
              <a:t> </a:t>
            </a:r>
            <a:r>
              <a:rPr dirty="0" sz="1200">
                <a:latin typeface="Arial"/>
                <a:cs typeface="Arial"/>
              </a:rPr>
              <a:t>God).</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b="1" i="1">
                <a:uFill>
                  <a:solidFill>
                    <a:srgbClr val="000000"/>
                  </a:solidFill>
                </a:uFill>
                <a:latin typeface="Arial"/>
                <a:cs typeface="Arial"/>
              </a:rPr>
              <a:t>In</a:t>
            </a:r>
            <a:r>
              <a:rPr dirty="0" u="heavy" sz="1200" spc="-5" b="1" i="1">
                <a:uFill>
                  <a:solidFill>
                    <a:srgbClr val="000000"/>
                  </a:solidFill>
                </a:uFill>
                <a:latin typeface="Arial"/>
                <a:cs typeface="Arial"/>
              </a:rPr>
              <a:t> History</a:t>
            </a:r>
            <a:endParaRPr sz="1200">
              <a:latin typeface="Arial"/>
              <a:cs typeface="Arial"/>
            </a:endParaRPr>
          </a:p>
          <a:p>
            <a:pPr>
              <a:lnSpc>
                <a:spcPct val="100000"/>
              </a:lnSpc>
              <a:spcBef>
                <a:spcPts val="40"/>
              </a:spcBef>
            </a:pPr>
            <a:endParaRPr sz="1150">
              <a:latin typeface="Arial"/>
              <a:cs typeface="Arial"/>
            </a:endParaRPr>
          </a:p>
          <a:p>
            <a:pPr algn="just" marL="12700" marR="5080">
              <a:lnSpc>
                <a:spcPct val="95900"/>
              </a:lnSpc>
              <a:spcBef>
                <a:spcPts val="5"/>
              </a:spcBef>
            </a:pPr>
            <a:r>
              <a:rPr dirty="0" sz="1200" spc="-5">
                <a:latin typeface="Arial"/>
                <a:cs typeface="Arial"/>
              </a:rPr>
              <a:t>During </a:t>
            </a:r>
            <a:r>
              <a:rPr dirty="0" sz="1200">
                <a:latin typeface="Arial"/>
                <a:cs typeface="Arial"/>
              </a:rPr>
              <a:t>the </a:t>
            </a:r>
            <a:r>
              <a:rPr dirty="0" sz="1200" spc="-5">
                <a:latin typeface="Arial"/>
                <a:cs typeface="Arial"/>
              </a:rPr>
              <a:t>rule of the Banu </a:t>
            </a:r>
            <a:r>
              <a:rPr dirty="0" sz="1200" spc="-10">
                <a:latin typeface="Arial"/>
                <a:cs typeface="Arial"/>
              </a:rPr>
              <a:t>Umayyah, </a:t>
            </a:r>
            <a:r>
              <a:rPr dirty="0" sz="1200">
                <a:latin typeface="Arial"/>
                <a:cs typeface="Arial"/>
              </a:rPr>
              <a:t>the </a:t>
            </a:r>
            <a:r>
              <a:rPr dirty="0" sz="1200" spc="-5">
                <a:latin typeface="Arial"/>
                <a:cs typeface="Arial"/>
              </a:rPr>
              <a:t>Mu'tazilah did not have good relations with </a:t>
            </a:r>
            <a:r>
              <a:rPr dirty="0" sz="1200">
                <a:latin typeface="Arial"/>
                <a:cs typeface="Arial"/>
              </a:rPr>
              <a:t>the  </a:t>
            </a:r>
            <a:r>
              <a:rPr dirty="0" sz="1200" spc="-5">
                <a:latin typeface="Arial"/>
                <a:cs typeface="Arial"/>
              </a:rPr>
              <a:t>ruling authorities. During </a:t>
            </a:r>
            <a:r>
              <a:rPr dirty="0" sz="1200">
                <a:latin typeface="Arial"/>
                <a:cs typeface="Arial"/>
              </a:rPr>
              <a:t>the </a:t>
            </a:r>
            <a:r>
              <a:rPr dirty="0" sz="1200" spc="-5">
                <a:latin typeface="Arial"/>
                <a:cs typeface="Arial"/>
              </a:rPr>
              <a:t>early days </a:t>
            </a:r>
            <a:r>
              <a:rPr dirty="0" sz="1200">
                <a:latin typeface="Arial"/>
                <a:cs typeface="Arial"/>
              </a:rPr>
              <a:t>of </a:t>
            </a:r>
            <a:r>
              <a:rPr dirty="0" sz="1200" spc="-10">
                <a:latin typeface="Arial"/>
                <a:cs typeface="Arial"/>
              </a:rPr>
              <a:t>the </a:t>
            </a:r>
            <a:r>
              <a:rPr dirty="0" sz="1200" spc="-5">
                <a:latin typeface="Arial"/>
                <a:cs typeface="Arial"/>
              </a:rPr>
              <a:t>Banu </a:t>
            </a:r>
            <a:r>
              <a:rPr dirty="0" sz="1200">
                <a:latin typeface="Arial"/>
                <a:cs typeface="Arial"/>
              </a:rPr>
              <a:t>al-'Abbas, </a:t>
            </a:r>
            <a:r>
              <a:rPr dirty="0" sz="1200" spc="-5">
                <a:latin typeface="Arial"/>
                <a:cs typeface="Arial"/>
              </a:rPr>
              <a:t>they </a:t>
            </a:r>
            <a:r>
              <a:rPr dirty="0" sz="1200">
                <a:latin typeface="Arial"/>
                <a:cs typeface="Arial"/>
              </a:rPr>
              <a:t>took </a:t>
            </a:r>
            <a:r>
              <a:rPr dirty="0" sz="1200" spc="-5">
                <a:latin typeface="Arial"/>
                <a:cs typeface="Arial"/>
              </a:rPr>
              <a:t>on a neutral stand.  </a:t>
            </a:r>
            <a:r>
              <a:rPr dirty="0" sz="1200">
                <a:latin typeface="Arial"/>
                <a:cs typeface="Arial"/>
              </a:rPr>
              <a:t>But </a:t>
            </a:r>
            <a:r>
              <a:rPr dirty="0" sz="1200" spc="-5">
                <a:latin typeface="Arial"/>
                <a:cs typeface="Arial"/>
              </a:rPr>
              <a:t>during </a:t>
            </a:r>
            <a:r>
              <a:rPr dirty="0" sz="1200">
                <a:latin typeface="Arial"/>
                <a:cs typeface="Arial"/>
              </a:rPr>
              <a:t>the </a:t>
            </a:r>
            <a:r>
              <a:rPr dirty="0" sz="1200" spc="-5">
                <a:latin typeface="Arial"/>
                <a:cs typeface="Arial"/>
              </a:rPr>
              <a:t>rule of al-Ma'mun, </a:t>
            </a:r>
            <a:r>
              <a:rPr dirty="0" sz="1200" spc="-10">
                <a:latin typeface="Arial"/>
                <a:cs typeface="Arial"/>
              </a:rPr>
              <a:t>who was </a:t>
            </a:r>
            <a:r>
              <a:rPr dirty="0" sz="1200" spc="-5">
                <a:latin typeface="Arial"/>
                <a:cs typeface="Arial"/>
              </a:rPr>
              <a:t>himself learned in </a:t>
            </a:r>
            <a:r>
              <a:rPr dirty="0" sz="1200">
                <a:latin typeface="Arial"/>
                <a:cs typeface="Arial"/>
              </a:rPr>
              <a:t>literature, </a:t>
            </a:r>
            <a:r>
              <a:rPr dirty="0" sz="1200" spc="-5">
                <a:latin typeface="Arial"/>
                <a:cs typeface="Arial"/>
              </a:rPr>
              <a:t>sciences and  philosophy, </a:t>
            </a:r>
            <a:r>
              <a:rPr dirty="0" sz="1200">
                <a:latin typeface="Arial"/>
                <a:cs typeface="Arial"/>
              </a:rPr>
              <a:t>they </a:t>
            </a:r>
            <a:r>
              <a:rPr dirty="0" sz="1200" spc="-5">
                <a:latin typeface="Arial"/>
                <a:cs typeface="Arial"/>
              </a:rPr>
              <a:t>attracted the ruler's patronage. </a:t>
            </a:r>
            <a:r>
              <a:rPr dirty="0" sz="1200">
                <a:latin typeface="Arial"/>
                <a:cs typeface="Arial"/>
              </a:rPr>
              <a:t>Al-Ma'mun, </a:t>
            </a:r>
            <a:r>
              <a:rPr dirty="0" sz="1200" spc="-5">
                <a:latin typeface="Arial"/>
                <a:cs typeface="Arial"/>
              </a:rPr>
              <a:t>and after him al-Mu'tasim and </a:t>
            </a:r>
            <a:r>
              <a:rPr dirty="0" sz="1200">
                <a:latin typeface="Arial"/>
                <a:cs typeface="Arial"/>
              </a:rPr>
              <a:t>al-  Wathiq, </a:t>
            </a:r>
            <a:r>
              <a:rPr dirty="0" sz="1200" spc="-5">
                <a:latin typeface="Arial"/>
                <a:cs typeface="Arial"/>
              </a:rPr>
              <a:t>were staunch patrons of </a:t>
            </a:r>
            <a:r>
              <a:rPr dirty="0" sz="1200">
                <a:latin typeface="Arial"/>
                <a:cs typeface="Arial"/>
              </a:rPr>
              <a:t>the </a:t>
            </a:r>
            <a:r>
              <a:rPr dirty="0" sz="1200" spc="-5">
                <a:latin typeface="Arial"/>
                <a:cs typeface="Arial"/>
              </a:rPr>
              <a:t>Mu'tazilah. All </a:t>
            </a:r>
            <a:r>
              <a:rPr dirty="0" sz="1200" spc="10">
                <a:latin typeface="Arial"/>
                <a:cs typeface="Arial"/>
              </a:rPr>
              <a:t>the </a:t>
            </a:r>
            <a:r>
              <a:rPr dirty="0" sz="1200" spc="-5">
                <a:latin typeface="Arial"/>
                <a:cs typeface="Arial"/>
              </a:rPr>
              <a:t>three caliphs called themselves  Mu'tazilites.</a:t>
            </a:r>
            <a:endParaRPr sz="1200">
              <a:latin typeface="Arial"/>
              <a:cs typeface="Arial"/>
            </a:endParaRPr>
          </a:p>
          <a:p>
            <a:pPr>
              <a:lnSpc>
                <a:spcPct val="100000"/>
              </a:lnSpc>
              <a:spcBef>
                <a:spcPts val="35"/>
              </a:spcBef>
            </a:pPr>
            <a:endParaRPr sz="1200">
              <a:latin typeface="Arial"/>
              <a:cs typeface="Arial"/>
            </a:endParaRPr>
          </a:p>
          <a:p>
            <a:pPr algn="just" marL="12700" marR="6985">
              <a:lnSpc>
                <a:spcPts val="1380"/>
              </a:lnSpc>
            </a:pPr>
            <a:r>
              <a:rPr dirty="0" sz="1200">
                <a:latin typeface="Arial"/>
                <a:cs typeface="Arial"/>
              </a:rPr>
              <a:t>It </a:t>
            </a:r>
            <a:r>
              <a:rPr dirty="0" sz="1200" spc="-10">
                <a:latin typeface="Arial"/>
                <a:cs typeface="Arial"/>
              </a:rPr>
              <a:t>was </a:t>
            </a:r>
            <a:r>
              <a:rPr dirty="0" sz="1200" spc="-5">
                <a:latin typeface="Arial"/>
                <a:cs typeface="Arial"/>
              </a:rPr>
              <a:t>during </a:t>
            </a:r>
            <a:r>
              <a:rPr dirty="0" sz="1200">
                <a:latin typeface="Arial"/>
                <a:cs typeface="Arial"/>
              </a:rPr>
              <a:t>this </a:t>
            </a:r>
            <a:r>
              <a:rPr dirty="0" sz="1200" spc="-5">
                <a:latin typeface="Arial"/>
                <a:cs typeface="Arial"/>
              </a:rPr>
              <a:t>period </a:t>
            </a:r>
            <a:r>
              <a:rPr dirty="0" sz="1200">
                <a:latin typeface="Arial"/>
                <a:cs typeface="Arial"/>
              </a:rPr>
              <a:t>that </a:t>
            </a:r>
            <a:r>
              <a:rPr dirty="0" sz="1200" spc="-5">
                <a:latin typeface="Arial"/>
                <a:cs typeface="Arial"/>
              </a:rPr>
              <a:t>a heated controversy began extending </a:t>
            </a:r>
            <a:r>
              <a:rPr dirty="0" sz="1200">
                <a:latin typeface="Arial"/>
                <a:cs typeface="Arial"/>
              </a:rPr>
              <a:t>to </a:t>
            </a:r>
            <a:r>
              <a:rPr dirty="0" sz="1200" spc="-5">
                <a:latin typeface="Arial"/>
                <a:cs typeface="Arial"/>
              </a:rPr>
              <a:t>all corners of the vast  </a:t>
            </a:r>
            <a:r>
              <a:rPr dirty="0" sz="1200">
                <a:latin typeface="Arial"/>
                <a:cs typeface="Arial"/>
              </a:rPr>
              <a:t>Islamic </a:t>
            </a:r>
            <a:r>
              <a:rPr dirty="0" sz="1200" spc="-5">
                <a:latin typeface="Arial"/>
                <a:cs typeface="Arial"/>
              </a:rPr>
              <a:t>dominions of the period. </a:t>
            </a:r>
            <a:r>
              <a:rPr dirty="0" sz="1200">
                <a:latin typeface="Arial"/>
                <a:cs typeface="Arial"/>
              </a:rPr>
              <a:t>The </a:t>
            </a:r>
            <a:r>
              <a:rPr dirty="0" sz="1200" spc="-5">
                <a:latin typeface="Arial"/>
                <a:cs typeface="Arial"/>
              </a:rPr>
              <a:t>issue under debate </a:t>
            </a:r>
            <a:r>
              <a:rPr dirty="0" sz="1200" spc="-10">
                <a:latin typeface="Arial"/>
                <a:cs typeface="Arial"/>
              </a:rPr>
              <a:t>was </a:t>
            </a:r>
            <a:r>
              <a:rPr dirty="0" sz="1200" spc="-5">
                <a:latin typeface="Arial"/>
                <a:cs typeface="Arial"/>
              </a:rPr>
              <a:t>whether Speech is </a:t>
            </a:r>
            <a:r>
              <a:rPr dirty="0" sz="1200" spc="-10">
                <a:latin typeface="Arial"/>
                <a:cs typeface="Arial"/>
              </a:rPr>
              <a:t>an </a:t>
            </a:r>
            <a:r>
              <a:rPr dirty="0" sz="1200" spc="-5">
                <a:latin typeface="Arial"/>
                <a:cs typeface="Arial"/>
              </a:rPr>
              <a:t>attribute  of the Divine </a:t>
            </a:r>
            <a:r>
              <a:rPr dirty="0" sz="1200">
                <a:latin typeface="Arial"/>
                <a:cs typeface="Arial"/>
              </a:rPr>
              <a:t>Act </a:t>
            </a:r>
            <a:r>
              <a:rPr dirty="0" sz="1200" spc="-5">
                <a:latin typeface="Arial"/>
                <a:cs typeface="Arial"/>
              </a:rPr>
              <a:t>or </a:t>
            </a:r>
            <a:r>
              <a:rPr dirty="0" sz="1200" spc="-10">
                <a:latin typeface="Arial"/>
                <a:cs typeface="Arial"/>
              </a:rPr>
              <a:t>an </a:t>
            </a:r>
            <a:r>
              <a:rPr dirty="0" sz="1200" spc="-5">
                <a:latin typeface="Arial"/>
                <a:cs typeface="Arial"/>
              </a:rPr>
              <a:t>attribute of the Essence. </a:t>
            </a:r>
            <a:r>
              <a:rPr dirty="0" sz="1200">
                <a:latin typeface="Arial"/>
                <a:cs typeface="Arial"/>
              </a:rPr>
              <a:t>Whether it </a:t>
            </a:r>
            <a:r>
              <a:rPr dirty="0" sz="1200" spc="-5">
                <a:latin typeface="Arial"/>
                <a:cs typeface="Arial"/>
              </a:rPr>
              <a:t>is created and temporal (hadith)  or uncreated and eternal (qadim) like Divine Knowledge, Power, and Life. The Mu'tazilah  believed that the Qur'an is created (in </a:t>
            </a:r>
            <a:r>
              <a:rPr dirty="0" sz="1200">
                <a:latin typeface="Arial"/>
                <a:cs typeface="Arial"/>
              </a:rPr>
              <a:t>time) </a:t>
            </a:r>
            <a:r>
              <a:rPr dirty="0" sz="1200" spc="-5">
                <a:latin typeface="Arial"/>
                <a:cs typeface="Arial"/>
              </a:rPr>
              <a:t>and, therefore, is a creation of God (makhluq)  and </a:t>
            </a:r>
            <a:r>
              <a:rPr dirty="0" sz="1200" spc="-10">
                <a:latin typeface="Arial"/>
                <a:cs typeface="Arial"/>
              </a:rPr>
              <a:t>so </a:t>
            </a:r>
            <a:r>
              <a:rPr dirty="0" sz="1200" spc="-5">
                <a:latin typeface="Arial"/>
                <a:cs typeface="Arial"/>
              </a:rPr>
              <a:t>temporal. They also maintained that belief in the </a:t>
            </a:r>
            <a:r>
              <a:rPr dirty="0" sz="1200">
                <a:latin typeface="Arial"/>
                <a:cs typeface="Arial"/>
              </a:rPr>
              <a:t>pre-eternity </a:t>
            </a:r>
            <a:r>
              <a:rPr dirty="0" sz="1200" spc="-5">
                <a:latin typeface="Arial"/>
                <a:cs typeface="Arial"/>
              </a:rPr>
              <a:t>of the Qur'an amounted  </a:t>
            </a:r>
            <a:r>
              <a:rPr dirty="0" sz="1200">
                <a:latin typeface="Arial"/>
                <a:cs typeface="Arial"/>
              </a:rPr>
              <a:t>to </a:t>
            </a:r>
            <a:r>
              <a:rPr dirty="0" sz="1200" spc="-5">
                <a:latin typeface="Arial"/>
                <a:cs typeface="Arial"/>
              </a:rPr>
              <a:t>infidelity</a:t>
            </a:r>
            <a:r>
              <a:rPr dirty="0" sz="1200" spc="-10">
                <a:latin typeface="Arial"/>
                <a:cs typeface="Arial"/>
              </a:rPr>
              <a:t> </a:t>
            </a:r>
            <a:r>
              <a:rPr dirty="0" sz="1200">
                <a:latin typeface="Arial"/>
                <a:cs typeface="Arial"/>
              </a:rPr>
              <a:t>(kufr).</a:t>
            </a:r>
            <a:endParaRPr sz="1200">
              <a:latin typeface="Arial"/>
              <a:cs typeface="Arial"/>
            </a:endParaRPr>
          </a:p>
          <a:p>
            <a:pPr>
              <a:lnSpc>
                <a:spcPct val="100000"/>
              </a:lnSpc>
              <a:spcBef>
                <a:spcPts val="15"/>
              </a:spcBef>
            </a:pPr>
            <a:endParaRPr sz="1100">
              <a:latin typeface="Arial"/>
              <a:cs typeface="Arial"/>
            </a:endParaRPr>
          </a:p>
          <a:p>
            <a:pPr marL="12700">
              <a:lnSpc>
                <a:spcPct val="100000"/>
              </a:lnSpc>
              <a:spcBef>
                <a:spcPts val="5"/>
              </a:spcBef>
            </a:pPr>
            <a:r>
              <a:rPr dirty="0" sz="1200" spc="-5">
                <a:latin typeface="Arial"/>
                <a:cs typeface="Arial"/>
              </a:rPr>
              <a:t>The</a:t>
            </a:r>
            <a:r>
              <a:rPr dirty="0" sz="1200" spc="229">
                <a:latin typeface="Arial"/>
                <a:cs typeface="Arial"/>
              </a:rPr>
              <a:t> </a:t>
            </a:r>
            <a:r>
              <a:rPr dirty="0" sz="1200" spc="-5">
                <a:latin typeface="Arial"/>
                <a:cs typeface="Arial"/>
              </a:rPr>
              <a:t>opponents</a:t>
            </a:r>
            <a:r>
              <a:rPr dirty="0" sz="1200" spc="229">
                <a:latin typeface="Arial"/>
                <a:cs typeface="Arial"/>
              </a:rPr>
              <a:t> </a:t>
            </a:r>
            <a:r>
              <a:rPr dirty="0" sz="1200" spc="-5">
                <a:latin typeface="Arial"/>
                <a:cs typeface="Arial"/>
              </a:rPr>
              <a:t>of</a:t>
            </a:r>
            <a:r>
              <a:rPr dirty="0" sz="1200" spc="229">
                <a:latin typeface="Arial"/>
                <a:cs typeface="Arial"/>
              </a:rPr>
              <a:t> </a:t>
            </a:r>
            <a:r>
              <a:rPr dirty="0" sz="1200" spc="-5">
                <a:latin typeface="Arial"/>
                <a:cs typeface="Arial"/>
              </a:rPr>
              <a:t>the</a:t>
            </a:r>
            <a:r>
              <a:rPr dirty="0" sz="1200" spc="229">
                <a:latin typeface="Arial"/>
                <a:cs typeface="Arial"/>
              </a:rPr>
              <a:t> </a:t>
            </a:r>
            <a:r>
              <a:rPr dirty="0" sz="1200" spc="-5">
                <a:latin typeface="Arial"/>
                <a:cs typeface="Arial"/>
              </a:rPr>
              <a:t>Mu'tazilah,</a:t>
            </a:r>
            <a:r>
              <a:rPr dirty="0" sz="1200" spc="229">
                <a:latin typeface="Arial"/>
                <a:cs typeface="Arial"/>
              </a:rPr>
              <a:t> </a:t>
            </a:r>
            <a:r>
              <a:rPr dirty="0" sz="1200" spc="-5">
                <a:latin typeface="Arial"/>
                <a:cs typeface="Arial"/>
              </a:rPr>
              <a:t>on</a:t>
            </a:r>
            <a:r>
              <a:rPr dirty="0" sz="1200" spc="235">
                <a:latin typeface="Arial"/>
                <a:cs typeface="Arial"/>
              </a:rPr>
              <a:t> </a:t>
            </a:r>
            <a:r>
              <a:rPr dirty="0" sz="1200" spc="-10">
                <a:latin typeface="Arial"/>
                <a:cs typeface="Arial"/>
              </a:rPr>
              <a:t>the</a:t>
            </a:r>
            <a:r>
              <a:rPr dirty="0" sz="1200" spc="240">
                <a:latin typeface="Arial"/>
                <a:cs typeface="Arial"/>
              </a:rPr>
              <a:t> </a:t>
            </a:r>
            <a:r>
              <a:rPr dirty="0" sz="1200" spc="-5">
                <a:latin typeface="Arial"/>
                <a:cs typeface="Arial"/>
              </a:rPr>
              <a:t>contrary,</a:t>
            </a:r>
            <a:r>
              <a:rPr dirty="0" sz="1200" spc="225">
                <a:latin typeface="Arial"/>
                <a:cs typeface="Arial"/>
              </a:rPr>
              <a:t> </a:t>
            </a:r>
            <a:r>
              <a:rPr dirty="0" sz="1200" spc="-5">
                <a:latin typeface="Arial"/>
                <a:cs typeface="Arial"/>
              </a:rPr>
              <a:t>believed</a:t>
            </a:r>
            <a:r>
              <a:rPr dirty="0" sz="1200" spc="235">
                <a:latin typeface="Arial"/>
                <a:cs typeface="Arial"/>
              </a:rPr>
              <a:t> </a:t>
            </a:r>
            <a:r>
              <a:rPr dirty="0" sz="1200" spc="-5">
                <a:latin typeface="Arial"/>
                <a:cs typeface="Arial"/>
              </a:rPr>
              <a:t>in</a:t>
            </a:r>
            <a:r>
              <a:rPr dirty="0" sz="1200" spc="229">
                <a:latin typeface="Arial"/>
                <a:cs typeface="Arial"/>
              </a:rPr>
              <a:t> </a:t>
            </a:r>
            <a:r>
              <a:rPr dirty="0" sz="1200" spc="-5">
                <a:latin typeface="Arial"/>
                <a:cs typeface="Arial"/>
              </a:rPr>
              <a:t>the</a:t>
            </a:r>
            <a:r>
              <a:rPr dirty="0" sz="1200" spc="229">
                <a:latin typeface="Arial"/>
                <a:cs typeface="Arial"/>
              </a:rPr>
              <a:t> </a:t>
            </a:r>
            <a:r>
              <a:rPr dirty="0" sz="1200">
                <a:latin typeface="Arial"/>
                <a:cs typeface="Arial"/>
              </a:rPr>
              <a:t>pre-eternity</a:t>
            </a:r>
            <a:r>
              <a:rPr dirty="0" sz="1200" spc="215">
                <a:latin typeface="Arial"/>
                <a:cs typeface="Arial"/>
              </a:rPr>
              <a:t> </a:t>
            </a:r>
            <a:r>
              <a:rPr dirty="0" sz="1200" spc="-5">
                <a:latin typeface="Arial"/>
                <a:cs typeface="Arial"/>
              </a:rPr>
              <a:t>and</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134</a:t>
            </a:r>
            <a:endParaRPr sz="1200">
              <a:latin typeface="Times New Roman"/>
              <a:cs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8433435"/>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6985">
              <a:lnSpc>
                <a:spcPts val="1380"/>
              </a:lnSpc>
            </a:pPr>
            <a:r>
              <a:rPr dirty="0" sz="1200" spc="-5">
                <a:latin typeface="Arial"/>
                <a:cs typeface="Arial"/>
              </a:rPr>
              <a:t>uncreatedness of </a:t>
            </a:r>
            <a:r>
              <a:rPr dirty="0" sz="1200">
                <a:latin typeface="Arial"/>
                <a:cs typeface="Arial"/>
              </a:rPr>
              <a:t>the Qur'an. </a:t>
            </a:r>
            <a:r>
              <a:rPr dirty="0" sz="1200" spc="-5">
                <a:latin typeface="Arial"/>
                <a:cs typeface="Arial"/>
              </a:rPr>
              <a:t>Al-Ma'mun (r. 198/813 </a:t>
            </a:r>
            <a:r>
              <a:rPr dirty="0" sz="1200">
                <a:latin typeface="Arial"/>
                <a:cs typeface="Arial"/>
              </a:rPr>
              <a:t>to </a:t>
            </a:r>
            <a:r>
              <a:rPr dirty="0" sz="1200" spc="-5">
                <a:latin typeface="Arial"/>
                <a:cs typeface="Arial"/>
              </a:rPr>
              <a:t>218/833) sent out a circular that any  believer in </a:t>
            </a:r>
            <a:r>
              <a:rPr dirty="0" sz="1200">
                <a:latin typeface="Arial"/>
                <a:cs typeface="Arial"/>
              </a:rPr>
              <a:t>the </a:t>
            </a:r>
            <a:r>
              <a:rPr dirty="0" sz="1200" spc="-5">
                <a:latin typeface="Arial"/>
                <a:cs typeface="Arial"/>
              </a:rPr>
              <a:t>pre-eternity </a:t>
            </a:r>
            <a:r>
              <a:rPr dirty="0" sz="1200">
                <a:latin typeface="Arial"/>
                <a:cs typeface="Arial"/>
              </a:rPr>
              <a:t>of the </a:t>
            </a:r>
            <a:r>
              <a:rPr dirty="0" sz="1200" spc="-5">
                <a:latin typeface="Arial"/>
                <a:cs typeface="Arial"/>
              </a:rPr>
              <a:t>Qur'an would be liable </a:t>
            </a:r>
            <a:r>
              <a:rPr dirty="0" sz="1200">
                <a:latin typeface="Arial"/>
                <a:cs typeface="Arial"/>
              </a:rPr>
              <a:t>to </a:t>
            </a:r>
            <a:r>
              <a:rPr dirty="0" sz="1200" spc="-5">
                <a:latin typeface="Arial"/>
                <a:cs typeface="Arial"/>
              </a:rPr>
              <a:t>punishment. Many persons were  thrown into prison and subjected to</a:t>
            </a:r>
            <a:r>
              <a:rPr dirty="0" sz="1200" spc="20">
                <a:latin typeface="Arial"/>
                <a:cs typeface="Arial"/>
              </a:rPr>
              <a:t> </a:t>
            </a:r>
            <a:r>
              <a:rPr dirty="0" sz="1200" spc="-5">
                <a:latin typeface="Arial"/>
                <a:cs typeface="Arial"/>
              </a:rPr>
              <a:t>torture.</a:t>
            </a:r>
            <a:endParaRPr sz="1200">
              <a:latin typeface="Arial"/>
              <a:cs typeface="Arial"/>
            </a:endParaRPr>
          </a:p>
          <a:p>
            <a:pPr>
              <a:lnSpc>
                <a:spcPct val="100000"/>
              </a:lnSpc>
              <a:spcBef>
                <a:spcPts val="5"/>
              </a:spcBef>
            </a:pPr>
            <a:endParaRPr sz="1200">
              <a:latin typeface="Arial"/>
              <a:cs typeface="Arial"/>
            </a:endParaRPr>
          </a:p>
          <a:p>
            <a:pPr algn="just" marL="12700" marR="5080">
              <a:lnSpc>
                <a:spcPts val="1380"/>
              </a:lnSpc>
            </a:pPr>
            <a:r>
              <a:rPr dirty="0" sz="1200" spc="-5">
                <a:latin typeface="Arial"/>
                <a:cs typeface="Arial"/>
              </a:rPr>
              <a:t>Al-Mu'tasim (r. 218/833 </a:t>
            </a:r>
            <a:r>
              <a:rPr dirty="0" sz="1200">
                <a:latin typeface="Arial"/>
                <a:cs typeface="Arial"/>
              </a:rPr>
              <a:t>to </a:t>
            </a:r>
            <a:r>
              <a:rPr dirty="0" sz="1200" spc="-5">
                <a:latin typeface="Arial"/>
                <a:cs typeface="Arial"/>
              </a:rPr>
              <a:t>227/842) and </a:t>
            </a:r>
            <a:r>
              <a:rPr dirty="0" sz="1200">
                <a:latin typeface="Arial"/>
                <a:cs typeface="Arial"/>
              </a:rPr>
              <a:t>al-Withiq </a:t>
            </a:r>
            <a:r>
              <a:rPr dirty="0" sz="1200" spc="-5">
                <a:latin typeface="Arial"/>
                <a:cs typeface="Arial"/>
              </a:rPr>
              <a:t>(r. 227/842 </a:t>
            </a:r>
            <a:r>
              <a:rPr dirty="0" sz="1200">
                <a:latin typeface="Arial"/>
                <a:cs typeface="Arial"/>
              </a:rPr>
              <a:t>to </a:t>
            </a:r>
            <a:r>
              <a:rPr dirty="0" sz="1200" spc="-5">
                <a:latin typeface="Arial"/>
                <a:cs typeface="Arial"/>
              </a:rPr>
              <a:t>232/847) also </a:t>
            </a:r>
            <a:r>
              <a:rPr dirty="0" sz="1200">
                <a:latin typeface="Arial"/>
                <a:cs typeface="Arial"/>
              </a:rPr>
              <a:t>followed </a:t>
            </a:r>
            <a:r>
              <a:rPr dirty="0" sz="1200" spc="-5">
                <a:latin typeface="Arial"/>
                <a:cs typeface="Arial"/>
              </a:rPr>
              <a:t>al-  </a:t>
            </a:r>
            <a:r>
              <a:rPr dirty="0" sz="1200">
                <a:latin typeface="Arial"/>
                <a:cs typeface="Arial"/>
              </a:rPr>
              <a:t>Ma'mun's </a:t>
            </a:r>
            <a:r>
              <a:rPr dirty="0" sz="1200" spc="-5">
                <a:latin typeface="Arial"/>
                <a:cs typeface="Arial"/>
              </a:rPr>
              <a:t>practice. Of </a:t>
            </a:r>
            <a:r>
              <a:rPr dirty="0" sz="1200">
                <a:latin typeface="Arial"/>
                <a:cs typeface="Arial"/>
              </a:rPr>
              <a:t>those </a:t>
            </a:r>
            <a:r>
              <a:rPr dirty="0" sz="1200" spc="-10">
                <a:latin typeface="Arial"/>
                <a:cs typeface="Arial"/>
              </a:rPr>
              <a:t>who </a:t>
            </a:r>
            <a:r>
              <a:rPr dirty="0" sz="1200" spc="-5">
                <a:latin typeface="Arial"/>
                <a:cs typeface="Arial"/>
              </a:rPr>
              <a:t>went </a:t>
            </a:r>
            <a:r>
              <a:rPr dirty="0" sz="1200">
                <a:latin typeface="Arial"/>
                <a:cs typeface="Arial"/>
              </a:rPr>
              <a:t>to </a:t>
            </a:r>
            <a:r>
              <a:rPr dirty="0" sz="1200" spc="-5">
                <a:latin typeface="Arial"/>
                <a:cs typeface="Arial"/>
              </a:rPr>
              <a:t>the prison during </a:t>
            </a:r>
            <a:r>
              <a:rPr dirty="0" sz="1200">
                <a:latin typeface="Arial"/>
                <a:cs typeface="Arial"/>
              </a:rPr>
              <a:t>that </a:t>
            </a:r>
            <a:r>
              <a:rPr dirty="0" sz="1200" spc="-5">
                <a:latin typeface="Arial"/>
                <a:cs typeface="Arial"/>
              </a:rPr>
              <a:t>time </a:t>
            </a:r>
            <a:r>
              <a:rPr dirty="0" sz="1200" spc="-10">
                <a:latin typeface="Arial"/>
                <a:cs typeface="Arial"/>
              </a:rPr>
              <a:t>was </a:t>
            </a:r>
            <a:r>
              <a:rPr dirty="0" sz="1200" spc="-5">
                <a:latin typeface="Arial"/>
                <a:cs typeface="Arial"/>
              </a:rPr>
              <a:t>Ahmad ibn </a:t>
            </a:r>
            <a:r>
              <a:rPr dirty="0" sz="1200" spc="-10">
                <a:latin typeface="Arial"/>
                <a:cs typeface="Arial"/>
              </a:rPr>
              <a:t>Hanbal.  </a:t>
            </a:r>
            <a:r>
              <a:rPr dirty="0" sz="1200">
                <a:latin typeface="Arial"/>
                <a:cs typeface="Arial"/>
              </a:rPr>
              <a:t>This </a:t>
            </a:r>
            <a:r>
              <a:rPr dirty="0" sz="1200" spc="-5">
                <a:latin typeface="Arial"/>
                <a:cs typeface="Arial"/>
              </a:rPr>
              <a:t>policy remained </a:t>
            </a:r>
            <a:r>
              <a:rPr dirty="0" sz="1200" spc="-10">
                <a:latin typeface="Arial"/>
                <a:cs typeface="Arial"/>
              </a:rPr>
              <a:t>in </a:t>
            </a:r>
            <a:r>
              <a:rPr dirty="0" sz="1200">
                <a:latin typeface="Arial"/>
                <a:cs typeface="Arial"/>
              </a:rPr>
              <a:t>force </a:t>
            </a:r>
            <a:r>
              <a:rPr dirty="0" sz="1200" spc="-5">
                <a:latin typeface="Arial"/>
                <a:cs typeface="Arial"/>
              </a:rPr>
              <a:t>until al-Mutawakkil assumed power (r. 232/847 </a:t>
            </a:r>
            <a:r>
              <a:rPr dirty="0" sz="1200">
                <a:latin typeface="Arial"/>
                <a:cs typeface="Arial"/>
              </a:rPr>
              <a:t>to </a:t>
            </a:r>
            <a:r>
              <a:rPr dirty="0" sz="1200" spc="-5">
                <a:latin typeface="Arial"/>
                <a:cs typeface="Arial"/>
              </a:rPr>
              <a:t>247/861). </a:t>
            </a:r>
            <a:r>
              <a:rPr dirty="0" sz="1200" spc="5">
                <a:latin typeface="Arial"/>
                <a:cs typeface="Arial"/>
              </a:rPr>
              <a:t>Al- </a:t>
            </a:r>
            <a:r>
              <a:rPr dirty="0" sz="1200" spc="340">
                <a:latin typeface="Arial"/>
                <a:cs typeface="Arial"/>
              </a:rPr>
              <a:t> </a:t>
            </a:r>
            <a:r>
              <a:rPr dirty="0" sz="1200" spc="-5">
                <a:latin typeface="Arial"/>
                <a:cs typeface="Arial"/>
              </a:rPr>
              <a:t>Mutawakkil </a:t>
            </a:r>
            <a:r>
              <a:rPr dirty="0" sz="1200" spc="-10">
                <a:latin typeface="Arial"/>
                <a:cs typeface="Arial"/>
              </a:rPr>
              <a:t>was </a:t>
            </a:r>
            <a:r>
              <a:rPr dirty="0" sz="1200" spc="-5">
                <a:latin typeface="Arial"/>
                <a:cs typeface="Arial"/>
              </a:rPr>
              <a:t>not inclined in favour of the Mu'tazilah, and also </a:t>
            </a:r>
            <a:r>
              <a:rPr dirty="0" sz="1200">
                <a:latin typeface="Arial"/>
                <a:cs typeface="Arial"/>
              </a:rPr>
              <a:t>most </a:t>
            </a:r>
            <a:r>
              <a:rPr dirty="0" sz="1200" spc="-5">
                <a:latin typeface="Arial"/>
                <a:cs typeface="Arial"/>
              </a:rPr>
              <a:t>of the people were  opposed to them. </a:t>
            </a:r>
            <a:r>
              <a:rPr dirty="0" sz="1200">
                <a:latin typeface="Arial"/>
                <a:cs typeface="Arial"/>
              </a:rPr>
              <a:t>As </a:t>
            </a:r>
            <a:r>
              <a:rPr dirty="0" sz="1200" spc="-5">
                <a:latin typeface="Arial"/>
                <a:cs typeface="Arial"/>
              </a:rPr>
              <a:t>a result the Mu'tazilah and their admirers suffered a reverse, </a:t>
            </a:r>
            <a:r>
              <a:rPr dirty="0" sz="1200" spc="-10">
                <a:latin typeface="Arial"/>
                <a:cs typeface="Arial"/>
              </a:rPr>
              <a:t>nay, </a:t>
            </a:r>
            <a:r>
              <a:rPr dirty="0" sz="1200" spc="-5">
                <a:latin typeface="Arial"/>
                <a:cs typeface="Arial"/>
              </a:rPr>
              <a:t>a  reprisal. </a:t>
            </a:r>
            <a:r>
              <a:rPr dirty="0" sz="1200">
                <a:latin typeface="Arial"/>
                <a:cs typeface="Arial"/>
              </a:rPr>
              <a:t>In </a:t>
            </a:r>
            <a:r>
              <a:rPr dirty="0" sz="1200" spc="-5">
                <a:latin typeface="Arial"/>
                <a:cs typeface="Arial"/>
              </a:rPr>
              <a:t>the purges </a:t>
            </a:r>
            <a:r>
              <a:rPr dirty="0" sz="1200">
                <a:latin typeface="Arial"/>
                <a:cs typeface="Arial"/>
              </a:rPr>
              <a:t>that </a:t>
            </a:r>
            <a:r>
              <a:rPr dirty="0" sz="1200" spc="-5">
                <a:latin typeface="Arial"/>
                <a:cs typeface="Arial"/>
              </a:rPr>
              <a:t>followed, </a:t>
            </a:r>
            <a:r>
              <a:rPr dirty="0" sz="1200">
                <a:latin typeface="Arial"/>
                <a:cs typeface="Arial"/>
              </a:rPr>
              <a:t>much blood </a:t>
            </a:r>
            <a:r>
              <a:rPr dirty="0" sz="1200" spc="-10">
                <a:latin typeface="Arial"/>
                <a:cs typeface="Arial"/>
              </a:rPr>
              <a:t>was </a:t>
            </a:r>
            <a:r>
              <a:rPr dirty="0" sz="1200" spc="-5">
                <a:latin typeface="Arial"/>
                <a:cs typeface="Arial"/>
              </a:rPr>
              <a:t>shed and homes were </a:t>
            </a:r>
            <a:r>
              <a:rPr dirty="0" sz="1200">
                <a:latin typeface="Arial"/>
                <a:cs typeface="Arial"/>
              </a:rPr>
              <a:t>ruined. The  </a:t>
            </a:r>
            <a:r>
              <a:rPr dirty="0" sz="1200" spc="-5">
                <a:latin typeface="Arial"/>
                <a:cs typeface="Arial"/>
              </a:rPr>
              <a:t>period is remembered by Muslims </a:t>
            </a:r>
            <a:r>
              <a:rPr dirty="0" sz="1200">
                <a:latin typeface="Arial"/>
                <a:cs typeface="Arial"/>
              </a:rPr>
              <a:t>as </a:t>
            </a:r>
            <a:r>
              <a:rPr dirty="0" sz="1200" spc="-5">
                <a:latin typeface="Arial"/>
                <a:cs typeface="Arial"/>
              </a:rPr>
              <a:t>the times of "mihnah </a:t>
            </a:r>
            <a:r>
              <a:rPr dirty="0" sz="1200">
                <a:latin typeface="Arial"/>
                <a:cs typeface="Arial"/>
              </a:rPr>
              <a:t>" - times </a:t>
            </a:r>
            <a:r>
              <a:rPr dirty="0" sz="1200" spc="-5">
                <a:latin typeface="Arial"/>
                <a:cs typeface="Arial"/>
              </a:rPr>
              <a:t>of adversity </a:t>
            </a:r>
            <a:r>
              <a:rPr dirty="0" sz="1200">
                <a:latin typeface="Arial"/>
                <a:cs typeface="Arial"/>
              </a:rPr>
              <a:t>and</a:t>
            </a:r>
            <a:r>
              <a:rPr dirty="0" sz="1200" spc="90">
                <a:latin typeface="Arial"/>
                <a:cs typeface="Arial"/>
              </a:rPr>
              <a:t> </a:t>
            </a:r>
            <a:r>
              <a:rPr dirty="0" sz="1200" spc="-5">
                <a:latin typeface="Arial"/>
                <a:cs typeface="Arial"/>
              </a:rPr>
              <a:t>trial.</a:t>
            </a:r>
            <a:endParaRPr sz="1200">
              <a:latin typeface="Arial"/>
              <a:cs typeface="Arial"/>
            </a:endParaRPr>
          </a:p>
          <a:p>
            <a:pPr>
              <a:lnSpc>
                <a:spcPct val="100000"/>
              </a:lnSpc>
              <a:spcBef>
                <a:spcPts val="20"/>
              </a:spcBef>
            </a:pPr>
            <a:endParaRPr sz="1150">
              <a:latin typeface="Arial"/>
              <a:cs typeface="Arial"/>
            </a:endParaRPr>
          </a:p>
          <a:p>
            <a:pPr algn="just" marL="12700" marR="5080">
              <a:lnSpc>
                <a:spcPct val="95900"/>
              </a:lnSpc>
            </a:pPr>
            <a:r>
              <a:rPr dirty="0" sz="1200" spc="-5">
                <a:latin typeface="Arial"/>
                <a:cs typeface="Arial"/>
              </a:rPr>
              <a:t>The Mu'tazilah never recuperated after </a:t>
            </a:r>
            <a:r>
              <a:rPr dirty="0" sz="1200">
                <a:latin typeface="Arial"/>
                <a:cs typeface="Arial"/>
              </a:rPr>
              <a:t>this, </a:t>
            </a:r>
            <a:r>
              <a:rPr dirty="0" sz="1200" spc="-5">
                <a:latin typeface="Arial"/>
                <a:cs typeface="Arial"/>
              </a:rPr>
              <a:t>and </a:t>
            </a:r>
            <a:r>
              <a:rPr dirty="0" sz="1200">
                <a:latin typeface="Arial"/>
                <a:cs typeface="Arial"/>
              </a:rPr>
              <a:t>the </a:t>
            </a:r>
            <a:r>
              <a:rPr dirty="0" sz="1200" spc="-5">
                <a:latin typeface="Arial"/>
                <a:cs typeface="Arial"/>
              </a:rPr>
              <a:t>field </a:t>
            </a:r>
            <a:r>
              <a:rPr dirty="0" sz="1200" spc="-10">
                <a:latin typeface="Arial"/>
                <a:cs typeface="Arial"/>
              </a:rPr>
              <a:t>was </a:t>
            </a:r>
            <a:r>
              <a:rPr dirty="0" sz="1200">
                <a:latin typeface="Arial"/>
                <a:cs typeface="Arial"/>
              </a:rPr>
              <a:t>left </a:t>
            </a:r>
            <a:r>
              <a:rPr dirty="0" sz="1200" spc="-5">
                <a:latin typeface="Arial"/>
                <a:cs typeface="Arial"/>
              </a:rPr>
              <a:t>open forever </a:t>
            </a:r>
            <a:r>
              <a:rPr dirty="0" sz="1200">
                <a:latin typeface="Arial"/>
                <a:cs typeface="Arial"/>
              </a:rPr>
              <a:t>for </a:t>
            </a:r>
            <a:r>
              <a:rPr dirty="0" sz="1200" spc="-5">
                <a:latin typeface="Arial"/>
                <a:cs typeface="Arial"/>
              </a:rPr>
              <a:t>their  opponents: the Ahl al-Sunnah and </a:t>
            </a:r>
            <a:r>
              <a:rPr dirty="0" sz="1200">
                <a:latin typeface="Arial"/>
                <a:cs typeface="Arial"/>
              </a:rPr>
              <a:t>the </a:t>
            </a:r>
            <a:r>
              <a:rPr dirty="0" sz="1200" spc="-5">
                <a:latin typeface="Arial"/>
                <a:cs typeface="Arial"/>
              </a:rPr>
              <a:t>Ahl </a:t>
            </a:r>
            <a:r>
              <a:rPr dirty="0" sz="1200">
                <a:latin typeface="Arial"/>
                <a:cs typeface="Arial"/>
              </a:rPr>
              <a:t>al-Hadith. </a:t>
            </a:r>
            <a:r>
              <a:rPr dirty="0" sz="1200" spc="-5">
                <a:latin typeface="Arial"/>
                <a:cs typeface="Arial"/>
              </a:rPr>
              <a:t>Nevertheless, </a:t>
            </a:r>
            <a:r>
              <a:rPr dirty="0" sz="1200">
                <a:latin typeface="Arial"/>
                <a:cs typeface="Arial"/>
              </a:rPr>
              <a:t>there </a:t>
            </a:r>
            <a:r>
              <a:rPr dirty="0" sz="1200" spc="-5">
                <a:latin typeface="Arial"/>
                <a:cs typeface="Arial"/>
              </a:rPr>
              <a:t>appeared some  prominent personalities even during the </a:t>
            </a:r>
            <a:r>
              <a:rPr dirty="0" sz="1200">
                <a:latin typeface="Arial"/>
                <a:cs typeface="Arial"/>
              </a:rPr>
              <a:t>following </a:t>
            </a:r>
            <a:r>
              <a:rPr dirty="0" sz="1200" spc="-5">
                <a:latin typeface="Arial"/>
                <a:cs typeface="Arial"/>
              </a:rPr>
              <a:t>periods of their decline, like, </a:t>
            </a:r>
            <a:r>
              <a:rPr dirty="0" sz="1200">
                <a:latin typeface="Arial"/>
                <a:cs typeface="Arial"/>
              </a:rPr>
              <a:t>'Abd </a:t>
            </a:r>
            <a:r>
              <a:rPr dirty="0" sz="1200" spc="-5">
                <a:latin typeface="Arial"/>
                <a:cs typeface="Arial"/>
              </a:rPr>
              <a:t>Allah ibn  Ahmad Abu al-Qasim al-Balkhi, well-known as al-Ka'bi </a:t>
            </a:r>
            <a:r>
              <a:rPr dirty="0" sz="1200">
                <a:latin typeface="Arial"/>
                <a:cs typeface="Arial"/>
              </a:rPr>
              <a:t>(d. </a:t>
            </a:r>
            <a:r>
              <a:rPr dirty="0" sz="1200" spc="-5">
                <a:latin typeface="Arial"/>
                <a:cs typeface="Arial"/>
              </a:rPr>
              <a:t>319/ 931); Abu 'Ali </a:t>
            </a:r>
            <a:r>
              <a:rPr dirty="0" sz="1200">
                <a:latin typeface="Arial"/>
                <a:cs typeface="Arial"/>
              </a:rPr>
              <a:t>al-Jubba'i </a:t>
            </a:r>
            <a:r>
              <a:rPr dirty="0" sz="1200" spc="-5">
                <a:latin typeface="Arial"/>
                <a:cs typeface="Arial"/>
              </a:rPr>
              <a:t>(d.  303/915-6); Abu </a:t>
            </a:r>
            <a:r>
              <a:rPr dirty="0" sz="1200">
                <a:latin typeface="Arial"/>
                <a:cs typeface="Arial"/>
              </a:rPr>
              <a:t>al-Hashim </a:t>
            </a:r>
            <a:r>
              <a:rPr dirty="0" sz="1200" spc="-5">
                <a:latin typeface="Arial"/>
                <a:cs typeface="Arial"/>
              </a:rPr>
              <a:t>al-Jubba'i </a:t>
            </a:r>
            <a:r>
              <a:rPr dirty="0" sz="1200">
                <a:latin typeface="Arial"/>
                <a:cs typeface="Arial"/>
              </a:rPr>
              <a:t>(d. </a:t>
            </a:r>
            <a:r>
              <a:rPr dirty="0" sz="1200" spc="-5">
                <a:latin typeface="Arial"/>
                <a:cs typeface="Arial"/>
              </a:rPr>
              <a:t>321/933) </a:t>
            </a:r>
            <a:r>
              <a:rPr dirty="0" sz="1200">
                <a:latin typeface="Arial"/>
                <a:cs typeface="Arial"/>
              </a:rPr>
              <a:t>the </a:t>
            </a:r>
            <a:r>
              <a:rPr dirty="0" sz="1200" spc="-10">
                <a:latin typeface="Arial"/>
                <a:cs typeface="Arial"/>
              </a:rPr>
              <a:t>son </a:t>
            </a:r>
            <a:r>
              <a:rPr dirty="0" sz="1200" spc="-5">
                <a:latin typeface="Arial"/>
                <a:cs typeface="Arial"/>
              </a:rPr>
              <a:t>of Abu 'Ali </a:t>
            </a:r>
            <a:r>
              <a:rPr dirty="0" sz="1200">
                <a:latin typeface="Arial"/>
                <a:cs typeface="Arial"/>
              </a:rPr>
              <a:t>al-Jubba'i; </a:t>
            </a:r>
            <a:r>
              <a:rPr dirty="0" sz="1200" spc="-5">
                <a:latin typeface="Arial"/>
                <a:cs typeface="Arial"/>
              </a:rPr>
              <a:t>Qadi 'Abd  al-Jabbar </a:t>
            </a:r>
            <a:r>
              <a:rPr dirty="0" sz="1200">
                <a:latin typeface="Arial"/>
                <a:cs typeface="Arial"/>
              </a:rPr>
              <a:t>(d. </a:t>
            </a:r>
            <a:r>
              <a:rPr dirty="0" sz="1200" spc="-5">
                <a:latin typeface="Arial"/>
                <a:cs typeface="Arial"/>
              </a:rPr>
              <a:t>415/1024); Abu </a:t>
            </a:r>
            <a:r>
              <a:rPr dirty="0" sz="1200">
                <a:latin typeface="Arial"/>
                <a:cs typeface="Arial"/>
              </a:rPr>
              <a:t>al-Hasan </a:t>
            </a:r>
            <a:r>
              <a:rPr dirty="0" sz="1200" spc="-5">
                <a:latin typeface="Arial"/>
                <a:cs typeface="Arial"/>
              </a:rPr>
              <a:t>al-Khayyat; al-Sahib ibn 'Abbad, al-Zamakhshari </a:t>
            </a:r>
            <a:r>
              <a:rPr dirty="0" sz="1200">
                <a:latin typeface="Arial"/>
                <a:cs typeface="Arial"/>
              </a:rPr>
              <a:t>(d.  </a:t>
            </a:r>
            <a:r>
              <a:rPr dirty="0" sz="1200" spc="-5">
                <a:latin typeface="Arial"/>
                <a:cs typeface="Arial"/>
              </a:rPr>
              <a:t>538/1144); and Abu Ja'far</a:t>
            </a:r>
            <a:r>
              <a:rPr dirty="0" sz="1200" spc="-10">
                <a:latin typeface="Arial"/>
                <a:cs typeface="Arial"/>
              </a:rPr>
              <a:t> </a:t>
            </a:r>
            <a:r>
              <a:rPr dirty="0" sz="1200">
                <a:latin typeface="Arial"/>
                <a:cs typeface="Arial"/>
              </a:rPr>
              <a:t>al-'Iskafi.</a:t>
            </a:r>
            <a:endParaRPr sz="1200">
              <a:latin typeface="Arial"/>
              <a:cs typeface="Arial"/>
            </a:endParaRPr>
          </a:p>
          <a:p>
            <a:pPr marL="12700">
              <a:lnSpc>
                <a:spcPct val="100000"/>
              </a:lnSpc>
              <a:spcBef>
                <a:spcPts val="1080"/>
              </a:spcBef>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55"/>
              </a:spcBef>
            </a:pPr>
            <a:endParaRPr sz="1100">
              <a:latin typeface="Arial"/>
              <a:cs typeface="Arial"/>
            </a:endParaRPr>
          </a:p>
          <a:p>
            <a:pPr marL="12700">
              <a:lnSpc>
                <a:spcPts val="1410"/>
              </a:lnSpc>
            </a:pPr>
            <a:r>
              <a:rPr dirty="0" sz="1200" spc="-5" b="1">
                <a:latin typeface="Arial"/>
                <a:cs typeface="Arial"/>
              </a:rPr>
              <a:t>6</a:t>
            </a:r>
            <a:r>
              <a:rPr dirty="0" sz="1200" spc="105" b="1">
                <a:latin typeface="Arial"/>
                <a:cs typeface="Arial"/>
              </a:rPr>
              <a:t> </a:t>
            </a:r>
            <a:r>
              <a:rPr dirty="0" sz="1200" spc="-5">
                <a:latin typeface="Arial"/>
                <a:cs typeface="Arial"/>
              </a:rPr>
              <a:t>Explain</a:t>
            </a:r>
            <a:r>
              <a:rPr dirty="0" sz="1200" spc="100">
                <a:latin typeface="Arial"/>
                <a:cs typeface="Arial"/>
              </a:rPr>
              <a:t> </a:t>
            </a:r>
            <a:r>
              <a:rPr dirty="0" sz="1200" spc="-5">
                <a:latin typeface="Arial"/>
                <a:cs typeface="Arial"/>
              </a:rPr>
              <a:t>why</a:t>
            </a:r>
            <a:r>
              <a:rPr dirty="0" sz="1200" spc="90">
                <a:latin typeface="Arial"/>
                <a:cs typeface="Arial"/>
              </a:rPr>
              <a:t> </a:t>
            </a:r>
            <a:r>
              <a:rPr dirty="0" sz="1200">
                <a:latin typeface="Arial"/>
                <a:cs typeface="Arial"/>
              </a:rPr>
              <a:t>the</a:t>
            </a:r>
            <a:r>
              <a:rPr dirty="0" sz="1200" spc="100">
                <a:latin typeface="Arial"/>
                <a:cs typeface="Arial"/>
              </a:rPr>
              <a:t> </a:t>
            </a:r>
            <a:r>
              <a:rPr dirty="0" sz="1200" spc="-5">
                <a:latin typeface="Arial"/>
                <a:cs typeface="Arial"/>
              </a:rPr>
              <a:t>Mu`tazilah</a:t>
            </a:r>
            <a:r>
              <a:rPr dirty="0" sz="1200" spc="105">
                <a:latin typeface="Arial"/>
                <a:cs typeface="Arial"/>
              </a:rPr>
              <a:t> </a:t>
            </a:r>
            <a:r>
              <a:rPr dirty="0" sz="1200" spc="-5">
                <a:latin typeface="Arial"/>
                <a:cs typeface="Arial"/>
              </a:rPr>
              <a:t>called</a:t>
            </a:r>
            <a:r>
              <a:rPr dirty="0" sz="1200" spc="85">
                <a:latin typeface="Arial"/>
                <a:cs typeface="Arial"/>
              </a:rPr>
              <a:t> </a:t>
            </a:r>
            <a:r>
              <a:rPr dirty="0" sz="1200" spc="-5">
                <a:latin typeface="Arial"/>
                <a:cs typeface="Arial"/>
              </a:rPr>
              <a:t>themselves</a:t>
            </a:r>
            <a:r>
              <a:rPr dirty="0" sz="1200" spc="95">
                <a:latin typeface="Arial"/>
                <a:cs typeface="Arial"/>
              </a:rPr>
              <a:t> </a:t>
            </a:r>
            <a:r>
              <a:rPr dirty="0" sz="1200" spc="-5">
                <a:latin typeface="Arial"/>
                <a:cs typeface="Arial"/>
              </a:rPr>
              <a:t>the</a:t>
            </a:r>
            <a:r>
              <a:rPr dirty="0" sz="1200" spc="105">
                <a:latin typeface="Arial"/>
                <a:cs typeface="Arial"/>
              </a:rPr>
              <a:t> </a:t>
            </a:r>
            <a:r>
              <a:rPr dirty="0" sz="1200" spc="-5">
                <a:latin typeface="Arial"/>
                <a:cs typeface="Arial"/>
              </a:rPr>
              <a:t>People</a:t>
            </a:r>
            <a:r>
              <a:rPr dirty="0" sz="1200" spc="100">
                <a:latin typeface="Arial"/>
                <a:cs typeface="Arial"/>
              </a:rPr>
              <a:t> </a:t>
            </a:r>
            <a:r>
              <a:rPr dirty="0" sz="1200" spc="-5">
                <a:latin typeface="Arial"/>
                <a:cs typeface="Arial"/>
              </a:rPr>
              <a:t>of</a:t>
            </a:r>
            <a:r>
              <a:rPr dirty="0" sz="1200" spc="105">
                <a:latin typeface="Arial"/>
                <a:cs typeface="Arial"/>
              </a:rPr>
              <a:t> </a:t>
            </a:r>
            <a:r>
              <a:rPr dirty="0" sz="1200" spc="-5">
                <a:latin typeface="Arial"/>
                <a:cs typeface="Arial"/>
              </a:rPr>
              <a:t>God‘s</a:t>
            </a:r>
            <a:r>
              <a:rPr dirty="0" sz="1200" spc="95">
                <a:latin typeface="Arial"/>
                <a:cs typeface="Arial"/>
              </a:rPr>
              <a:t> </a:t>
            </a:r>
            <a:r>
              <a:rPr dirty="0" sz="1200" spc="-5">
                <a:latin typeface="Arial"/>
                <a:cs typeface="Arial"/>
              </a:rPr>
              <a:t>Unity</a:t>
            </a:r>
            <a:r>
              <a:rPr dirty="0" sz="1200" spc="85">
                <a:latin typeface="Arial"/>
                <a:cs typeface="Arial"/>
              </a:rPr>
              <a:t> </a:t>
            </a:r>
            <a:r>
              <a:rPr dirty="0" sz="1200">
                <a:latin typeface="Arial"/>
                <a:cs typeface="Arial"/>
              </a:rPr>
              <a:t>and</a:t>
            </a:r>
            <a:r>
              <a:rPr dirty="0" sz="1200" spc="105">
                <a:latin typeface="Arial"/>
                <a:cs typeface="Arial"/>
              </a:rPr>
              <a:t> </a:t>
            </a:r>
            <a:r>
              <a:rPr dirty="0" sz="1200" spc="-5">
                <a:latin typeface="Arial"/>
                <a:cs typeface="Arial"/>
              </a:rPr>
              <a:t>Justice.</a:t>
            </a:r>
            <a:r>
              <a:rPr dirty="0" sz="1200" spc="85">
                <a:latin typeface="Arial"/>
                <a:cs typeface="Arial"/>
              </a:rPr>
              <a:t> </a:t>
            </a:r>
            <a:r>
              <a:rPr dirty="0" sz="1200" spc="-5">
                <a:latin typeface="Arial"/>
                <a:cs typeface="Arial"/>
              </a:rPr>
              <a:t>[20]</a:t>
            </a:r>
            <a:endParaRPr sz="1200">
              <a:latin typeface="Arial"/>
              <a:cs typeface="Arial"/>
            </a:endParaRPr>
          </a:p>
          <a:p>
            <a:pPr marL="12700">
              <a:lnSpc>
                <a:spcPts val="1410"/>
              </a:lnSpc>
            </a:pPr>
            <a:r>
              <a:rPr dirty="0" sz="1200" spc="-5" b="1">
                <a:latin typeface="Arial"/>
                <a:cs typeface="Arial"/>
              </a:rPr>
              <a:t>(2003)</a:t>
            </a:r>
            <a:endParaRPr sz="1200">
              <a:latin typeface="Arial"/>
              <a:cs typeface="Arial"/>
            </a:endParaRPr>
          </a:p>
          <a:p>
            <a:pPr>
              <a:lnSpc>
                <a:spcPct val="100000"/>
              </a:lnSpc>
              <a:spcBef>
                <a:spcPts val="35"/>
              </a:spcBef>
            </a:pPr>
            <a:endParaRPr sz="1200">
              <a:latin typeface="Arial"/>
              <a:cs typeface="Arial"/>
            </a:endParaRPr>
          </a:p>
          <a:p>
            <a:pPr marL="12700" marR="10160">
              <a:lnSpc>
                <a:spcPts val="1380"/>
              </a:lnSpc>
              <a:spcBef>
                <a:spcPts val="5"/>
              </a:spcBef>
            </a:pPr>
            <a:r>
              <a:rPr dirty="0" sz="1200" spc="-5" b="1">
                <a:latin typeface="Arial"/>
                <a:cs typeface="Arial"/>
              </a:rPr>
              <a:t>6 </a:t>
            </a:r>
            <a:r>
              <a:rPr dirty="0" sz="1200" spc="-5">
                <a:latin typeface="Arial"/>
                <a:cs typeface="Arial"/>
              </a:rPr>
              <a:t>Give reasons </a:t>
            </a:r>
            <a:r>
              <a:rPr dirty="0" sz="1200">
                <a:latin typeface="Arial"/>
                <a:cs typeface="Arial"/>
              </a:rPr>
              <a:t>to </a:t>
            </a:r>
            <a:r>
              <a:rPr dirty="0" sz="1200" spc="-5">
                <a:latin typeface="Arial"/>
                <a:cs typeface="Arial"/>
              </a:rPr>
              <a:t>explain </a:t>
            </a:r>
            <a:r>
              <a:rPr dirty="0" sz="1200" spc="-10">
                <a:latin typeface="Arial"/>
                <a:cs typeface="Arial"/>
              </a:rPr>
              <a:t>why </a:t>
            </a:r>
            <a:r>
              <a:rPr dirty="0" sz="1200">
                <a:latin typeface="Arial"/>
                <a:cs typeface="Arial"/>
              </a:rPr>
              <a:t>al-Ash`ari </a:t>
            </a:r>
            <a:r>
              <a:rPr dirty="0" sz="1200" spc="-5">
                <a:latin typeface="Arial"/>
                <a:cs typeface="Arial"/>
              </a:rPr>
              <a:t>is regarded as one of the </a:t>
            </a:r>
            <a:r>
              <a:rPr dirty="0" sz="1200">
                <a:latin typeface="Arial"/>
                <a:cs typeface="Arial"/>
              </a:rPr>
              <a:t>most </a:t>
            </a:r>
            <a:r>
              <a:rPr dirty="0" sz="1200" spc="-5">
                <a:latin typeface="Arial"/>
                <a:cs typeface="Arial"/>
              </a:rPr>
              <a:t>influential thinkers of  early </a:t>
            </a:r>
            <a:r>
              <a:rPr dirty="0" sz="1200">
                <a:latin typeface="Arial"/>
                <a:cs typeface="Arial"/>
              </a:rPr>
              <a:t>Islam. </a:t>
            </a:r>
            <a:r>
              <a:rPr dirty="0" sz="1200" spc="-5">
                <a:latin typeface="Arial"/>
                <a:cs typeface="Arial"/>
              </a:rPr>
              <a:t>[20]</a:t>
            </a:r>
            <a:r>
              <a:rPr dirty="0" sz="1200" spc="5">
                <a:latin typeface="Arial"/>
                <a:cs typeface="Arial"/>
              </a:rPr>
              <a:t> </a:t>
            </a:r>
            <a:r>
              <a:rPr dirty="0" sz="1200" spc="-5" b="1">
                <a:latin typeface="Arial"/>
                <a:cs typeface="Arial"/>
              </a:rPr>
              <a:t>(2004)</a:t>
            </a:r>
            <a:endParaRPr sz="1200">
              <a:latin typeface="Arial"/>
              <a:cs typeface="Arial"/>
            </a:endParaRPr>
          </a:p>
          <a:p>
            <a:pPr>
              <a:lnSpc>
                <a:spcPct val="100000"/>
              </a:lnSpc>
              <a:spcBef>
                <a:spcPts val="15"/>
              </a:spcBef>
            </a:pPr>
            <a:endParaRPr sz="1100">
              <a:latin typeface="Arial"/>
              <a:cs typeface="Arial"/>
            </a:endParaRPr>
          </a:p>
          <a:p>
            <a:pPr marL="12700">
              <a:lnSpc>
                <a:spcPts val="1410"/>
              </a:lnSpc>
            </a:pPr>
            <a:r>
              <a:rPr dirty="0" sz="1200" spc="-5" b="1">
                <a:latin typeface="Arial"/>
                <a:cs typeface="Arial"/>
              </a:rPr>
              <a:t>6 (a) </a:t>
            </a:r>
            <a:r>
              <a:rPr dirty="0" sz="1200" spc="-5">
                <a:latin typeface="Arial"/>
                <a:cs typeface="Arial"/>
              </a:rPr>
              <a:t>Briefly describe the </a:t>
            </a:r>
            <a:r>
              <a:rPr dirty="0" sz="1200">
                <a:latin typeface="Arial"/>
                <a:cs typeface="Arial"/>
              </a:rPr>
              <a:t>main </a:t>
            </a:r>
            <a:r>
              <a:rPr dirty="0" sz="1200" spc="-5">
                <a:latin typeface="Arial"/>
                <a:cs typeface="Arial"/>
              </a:rPr>
              <a:t>teachings of the Mu`tazilah.</a:t>
            </a:r>
            <a:r>
              <a:rPr dirty="0" sz="1200" spc="20">
                <a:latin typeface="Arial"/>
                <a:cs typeface="Arial"/>
              </a:rPr>
              <a:t> </a:t>
            </a:r>
            <a:r>
              <a:rPr dirty="0" sz="1200" spc="-5">
                <a:latin typeface="Arial"/>
                <a:cs typeface="Arial"/>
              </a:rPr>
              <a:t>[12]</a:t>
            </a:r>
            <a:endParaRPr sz="1200">
              <a:latin typeface="Arial"/>
              <a:cs typeface="Arial"/>
            </a:endParaRPr>
          </a:p>
          <a:p>
            <a:pPr marL="140970">
              <a:lnSpc>
                <a:spcPts val="1410"/>
              </a:lnSpc>
            </a:pPr>
            <a:r>
              <a:rPr dirty="0" sz="1200" spc="-5" b="1">
                <a:latin typeface="Arial"/>
                <a:cs typeface="Arial"/>
              </a:rPr>
              <a:t>(b) </a:t>
            </a:r>
            <a:r>
              <a:rPr dirty="0" sz="1200" spc="10">
                <a:latin typeface="Arial"/>
                <a:cs typeface="Arial"/>
              </a:rPr>
              <a:t>Why </a:t>
            </a:r>
            <a:r>
              <a:rPr dirty="0" sz="1200" spc="-5">
                <a:latin typeface="Arial"/>
                <a:cs typeface="Arial"/>
              </a:rPr>
              <a:t>do some Muslims </a:t>
            </a:r>
            <a:r>
              <a:rPr dirty="0" sz="1200">
                <a:latin typeface="Arial"/>
                <a:cs typeface="Arial"/>
              </a:rPr>
              <a:t>see the </a:t>
            </a:r>
            <a:r>
              <a:rPr dirty="0" sz="1200" spc="-5">
                <a:latin typeface="Arial"/>
                <a:cs typeface="Arial"/>
              </a:rPr>
              <a:t>ideas of the Mu`tazilah </a:t>
            </a:r>
            <a:r>
              <a:rPr dirty="0" sz="1200">
                <a:latin typeface="Arial"/>
                <a:cs typeface="Arial"/>
              </a:rPr>
              <a:t>as </a:t>
            </a:r>
            <a:r>
              <a:rPr dirty="0" sz="1200" spc="-5">
                <a:latin typeface="Arial"/>
                <a:cs typeface="Arial"/>
              </a:rPr>
              <a:t>not part of Islam? [8]</a:t>
            </a:r>
            <a:r>
              <a:rPr dirty="0" sz="1200" spc="90">
                <a:latin typeface="Arial"/>
                <a:cs typeface="Arial"/>
              </a:rPr>
              <a:t> </a:t>
            </a:r>
            <a:r>
              <a:rPr dirty="0" sz="1200" spc="-5" b="1">
                <a:latin typeface="Arial"/>
                <a:cs typeface="Arial"/>
              </a:rPr>
              <a:t>(2005)</a:t>
            </a:r>
            <a:endParaRPr sz="1200">
              <a:latin typeface="Arial"/>
              <a:cs typeface="Arial"/>
            </a:endParaRPr>
          </a:p>
          <a:p>
            <a:pPr>
              <a:lnSpc>
                <a:spcPct val="100000"/>
              </a:lnSpc>
            </a:pPr>
            <a:endParaRPr sz="1150">
              <a:latin typeface="Arial"/>
              <a:cs typeface="Arial"/>
            </a:endParaRPr>
          </a:p>
          <a:p>
            <a:pPr marL="12700">
              <a:lnSpc>
                <a:spcPts val="1410"/>
              </a:lnSpc>
            </a:pPr>
            <a:r>
              <a:rPr dirty="0" sz="1200" spc="-5" b="1">
                <a:latin typeface="Arial"/>
                <a:cs typeface="Arial"/>
              </a:rPr>
              <a:t>5 (a) </a:t>
            </a:r>
            <a:r>
              <a:rPr dirty="0" sz="1200" spc="10">
                <a:latin typeface="Arial"/>
                <a:cs typeface="Arial"/>
              </a:rPr>
              <a:t>Why </a:t>
            </a:r>
            <a:r>
              <a:rPr dirty="0" sz="1200" spc="-5">
                <a:latin typeface="Arial"/>
                <a:cs typeface="Arial"/>
              </a:rPr>
              <a:t>were </a:t>
            </a:r>
            <a:r>
              <a:rPr dirty="0" sz="1200">
                <a:latin typeface="Arial"/>
                <a:cs typeface="Arial"/>
              </a:rPr>
              <a:t>the </a:t>
            </a:r>
            <a:r>
              <a:rPr dirty="0" sz="1200" spc="-5">
                <a:latin typeface="Arial"/>
                <a:cs typeface="Arial"/>
              </a:rPr>
              <a:t>Mu‘tazilah known </a:t>
            </a:r>
            <a:r>
              <a:rPr dirty="0" sz="1200">
                <a:latin typeface="Arial"/>
                <a:cs typeface="Arial"/>
              </a:rPr>
              <a:t>as </a:t>
            </a:r>
            <a:r>
              <a:rPr dirty="0" sz="1200" spc="-5">
                <a:latin typeface="Arial"/>
                <a:cs typeface="Arial"/>
              </a:rPr>
              <a:t>the people of divine justice?</a:t>
            </a:r>
            <a:r>
              <a:rPr dirty="0" sz="1200" spc="-10">
                <a:latin typeface="Arial"/>
                <a:cs typeface="Arial"/>
              </a:rPr>
              <a:t> </a:t>
            </a:r>
            <a:r>
              <a:rPr dirty="0" sz="1200">
                <a:latin typeface="Arial"/>
                <a:cs typeface="Arial"/>
              </a:rPr>
              <a:t>[10]</a:t>
            </a:r>
            <a:endParaRPr sz="1200">
              <a:latin typeface="Arial"/>
              <a:cs typeface="Arial"/>
            </a:endParaRPr>
          </a:p>
          <a:p>
            <a:pPr marL="12700" marR="12065" indent="128270">
              <a:lnSpc>
                <a:spcPts val="1380"/>
              </a:lnSpc>
              <a:spcBef>
                <a:spcPts val="65"/>
              </a:spcBef>
            </a:pPr>
            <a:r>
              <a:rPr dirty="0" sz="1200" spc="-5" b="1">
                <a:latin typeface="Arial"/>
                <a:cs typeface="Arial"/>
              </a:rPr>
              <a:t>(b) </a:t>
            </a:r>
            <a:r>
              <a:rPr dirty="0" sz="1200" spc="10">
                <a:latin typeface="Arial"/>
                <a:cs typeface="Arial"/>
              </a:rPr>
              <a:t>Why </a:t>
            </a:r>
            <a:r>
              <a:rPr dirty="0" sz="1200" spc="-5">
                <a:latin typeface="Arial"/>
                <a:cs typeface="Arial"/>
              </a:rPr>
              <a:t>did their opponents disagree with them over </a:t>
            </a:r>
            <a:r>
              <a:rPr dirty="0" sz="1200">
                <a:latin typeface="Arial"/>
                <a:cs typeface="Arial"/>
              </a:rPr>
              <a:t>the </a:t>
            </a:r>
            <a:r>
              <a:rPr dirty="0" sz="1200" spc="-5">
                <a:latin typeface="Arial"/>
                <a:cs typeface="Arial"/>
              </a:rPr>
              <a:t>contents </a:t>
            </a:r>
            <a:r>
              <a:rPr dirty="0" sz="1200">
                <a:latin typeface="Arial"/>
                <a:cs typeface="Arial"/>
              </a:rPr>
              <a:t>of </a:t>
            </a:r>
            <a:r>
              <a:rPr dirty="0" sz="1200" spc="-5">
                <a:latin typeface="Arial"/>
                <a:cs typeface="Arial"/>
              </a:rPr>
              <a:t>their teachings about  </a:t>
            </a:r>
            <a:r>
              <a:rPr dirty="0" sz="1200">
                <a:latin typeface="Arial"/>
                <a:cs typeface="Arial"/>
              </a:rPr>
              <a:t>the </a:t>
            </a:r>
            <a:r>
              <a:rPr dirty="0" sz="1200" spc="-5">
                <a:latin typeface="Arial"/>
                <a:cs typeface="Arial"/>
              </a:rPr>
              <a:t>justice of God? [10]</a:t>
            </a:r>
            <a:r>
              <a:rPr dirty="0" sz="1200" spc="20">
                <a:latin typeface="Arial"/>
                <a:cs typeface="Arial"/>
              </a:rPr>
              <a:t> </a:t>
            </a:r>
            <a:r>
              <a:rPr dirty="0" sz="1200" spc="-5" b="1">
                <a:latin typeface="Arial"/>
                <a:cs typeface="Arial"/>
              </a:rPr>
              <a:t>(2007)</a:t>
            </a:r>
            <a:endParaRPr sz="1200">
              <a:latin typeface="Arial"/>
              <a:cs typeface="Arial"/>
            </a:endParaRPr>
          </a:p>
          <a:p>
            <a:pPr>
              <a:lnSpc>
                <a:spcPct val="100000"/>
              </a:lnSpc>
              <a:spcBef>
                <a:spcPts val="5"/>
              </a:spcBef>
            </a:pPr>
            <a:endParaRPr sz="1100">
              <a:latin typeface="Arial"/>
              <a:cs typeface="Arial"/>
            </a:endParaRPr>
          </a:p>
          <a:p>
            <a:pPr marL="12700">
              <a:lnSpc>
                <a:spcPts val="1415"/>
              </a:lnSpc>
              <a:spcBef>
                <a:spcPts val="5"/>
              </a:spcBef>
            </a:pPr>
            <a:r>
              <a:rPr dirty="0" sz="1200" spc="-5" b="1">
                <a:latin typeface="Arial"/>
                <a:cs typeface="Arial"/>
              </a:rPr>
              <a:t>5</a:t>
            </a:r>
            <a:r>
              <a:rPr dirty="0" sz="1200" spc="40" b="1">
                <a:latin typeface="Arial"/>
                <a:cs typeface="Arial"/>
              </a:rPr>
              <a:t> </a:t>
            </a:r>
            <a:r>
              <a:rPr dirty="0" sz="1200" spc="5">
                <a:latin typeface="Arial"/>
                <a:cs typeface="Arial"/>
              </a:rPr>
              <a:t>What</a:t>
            </a:r>
            <a:r>
              <a:rPr dirty="0" sz="1200" spc="45">
                <a:latin typeface="Arial"/>
                <a:cs typeface="Arial"/>
              </a:rPr>
              <a:t> </a:t>
            </a:r>
            <a:r>
              <a:rPr dirty="0" sz="1200" spc="-5">
                <a:latin typeface="Arial"/>
                <a:cs typeface="Arial"/>
              </a:rPr>
              <a:t>were</a:t>
            </a:r>
            <a:r>
              <a:rPr dirty="0" sz="1200" spc="55">
                <a:latin typeface="Arial"/>
                <a:cs typeface="Arial"/>
              </a:rPr>
              <a:t> </a:t>
            </a:r>
            <a:r>
              <a:rPr dirty="0" sz="1200">
                <a:latin typeface="Arial"/>
                <a:cs typeface="Arial"/>
              </a:rPr>
              <a:t>the</a:t>
            </a:r>
            <a:r>
              <a:rPr dirty="0" sz="1200" spc="55">
                <a:latin typeface="Arial"/>
                <a:cs typeface="Arial"/>
              </a:rPr>
              <a:t> </a:t>
            </a:r>
            <a:r>
              <a:rPr dirty="0" sz="1200" spc="-5">
                <a:latin typeface="Arial"/>
                <a:cs typeface="Arial"/>
              </a:rPr>
              <a:t>distinctive</a:t>
            </a:r>
            <a:r>
              <a:rPr dirty="0" sz="1200" spc="60">
                <a:latin typeface="Arial"/>
                <a:cs typeface="Arial"/>
              </a:rPr>
              <a:t> </a:t>
            </a:r>
            <a:r>
              <a:rPr dirty="0" sz="1200">
                <a:latin typeface="Arial"/>
                <a:cs typeface="Arial"/>
              </a:rPr>
              <a:t>features</a:t>
            </a:r>
            <a:r>
              <a:rPr dirty="0" sz="1200" spc="70">
                <a:latin typeface="Arial"/>
                <a:cs typeface="Arial"/>
              </a:rPr>
              <a:t> </a:t>
            </a:r>
            <a:r>
              <a:rPr dirty="0" sz="1200" spc="-5">
                <a:latin typeface="Arial"/>
                <a:cs typeface="Arial"/>
              </a:rPr>
              <a:t>of</a:t>
            </a:r>
            <a:r>
              <a:rPr dirty="0" sz="1200" spc="55">
                <a:latin typeface="Arial"/>
                <a:cs typeface="Arial"/>
              </a:rPr>
              <a:t> </a:t>
            </a:r>
            <a:r>
              <a:rPr dirty="0" sz="1200" spc="-5">
                <a:latin typeface="Arial"/>
                <a:cs typeface="Arial"/>
              </a:rPr>
              <a:t>the</a:t>
            </a:r>
            <a:r>
              <a:rPr dirty="0" sz="1200" spc="60">
                <a:latin typeface="Arial"/>
                <a:cs typeface="Arial"/>
              </a:rPr>
              <a:t> </a:t>
            </a:r>
            <a:r>
              <a:rPr dirty="0" sz="1200" spc="-5">
                <a:latin typeface="Arial"/>
                <a:cs typeface="Arial"/>
              </a:rPr>
              <a:t>teachings</a:t>
            </a:r>
            <a:r>
              <a:rPr dirty="0" sz="1200" spc="55">
                <a:latin typeface="Arial"/>
                <a:cs typeface="Arial"/>
              </a:rPr>
              <a:t> </a:t>
            </a:r>
            <a:r>
              <a:rPr dirty="0" sz="1200">
                <a:latin typeface="Arial"/>
                <a:cs typeface="Arial"/>
              </a:rPr>
              <a:t>of</a:t>
            </a:r>
            <a:r>
              <a:rPr dirty="0" sz="1200" spc="70">
                <a:latin typeface="Arial"/>
                <a:cs typeface="Arial"/>
              </a:rPr>
              <a:t> </a:t>
            </a:r>
            <a:r>
              <a:rPr dirty="0" sz="1200" spc="-5">
                <a:latin typeface="Arial"/>
                <a:cs typeface="Arial"/>
              </a:rPr>
              <a:t>the</a:t>
            </a:r>
            <a:r>
              <a:rPr dirty="0" sz="1200" spc="45">
                <a:latin typeface="Arial"/>
                <a:cs typeface="Arial"/>
              </a:rPr>
              <a:t> </a:t>
            </a:r>
            <a:r>
              <a:rPr dirty="0" sz="1200" spc="-5">
                <a:latin typeface="Arial"/>
                <a:cs typeface="Arial"/>
              </a:rPr>
              <a:t>Mu‘tazilah</a:t>
            </a:r>
            <a:r>
              <a:rPr dirty="0" sz="1200" spc="60">
                <a:latin typeface="Arial"/>
                <a:cs typeface="Arial"/>
              </a:rPr>
              <a:t> </a:t>
            </a:r>
            <a:r>
              <a:rPr dirty="0" sz="1200">
                <a:latin typeface="Arial"/>
                <a:cs typeface="Arial"/>
              </a:rPr>
              <a:t>about</a:t>
            </a:r>
            <a:r>
              <a:rPr dirty="0" sz="1200" spc="85">
                <a:latin typeface="Arial"/>
                <a:cs typeface="Arial"/>
              </a:rPr>
              <a:t> </a:t>
            </a:r>
            <a:r>
              <a:rPr dirty="0" sz="1200" spc="-5" i="1">
                <a:latin typeface="Arial"/>
                <a:cs typeface="Arial"/>
              </a:rPr>
              <a:t>Tawhid</a:t>
            </a:r>
            <a:endParaRPr sz="1200">
              <a:latin typeface="Arial"/>
              <a:cs typeface="Arial"/>
            </a:endParaRPr>
          </a:p>
          <a:p>
            <a:pPr marL="12700">
              <a:lnSpc>
                <a:spcPts val="1415"/>
              </a:lnSpc>
            </a:pPr>
            <a:r>
              <a:rPr dirty="0" sz="1200" spc="-5">
                <a:latin typeface="Arial"/>
                <a:cs typeface="Arial"/>
              </a:rPr>
              <a:t>[Oneness of God]? [20]</a:t>
            </a:r>
            <a:r>
              <a:rPr dirty="0" sz="1200" spc="25">
                <a:latin typeface="Arial"/>
                <a:cs typeface="Arial"/>
              </a:rPr>
              <a:t> </a:t>
            </a:r>
            <a:r>
              <a:rPr dirty="0" sz="1200" spc="-5" b="1">
                <a:latin typeface="Arial"/>
                <a:cs typeface="Arial"/>
              </a:rPr>
              <a:t>(2008)</a:t>
            </a:r>
            <a:endParaRPr sz="1200">
              <a:latin typeface="Arial"/>
              <a:cs typeface="Arial"/>
            </a:endParaRPr>
          </a:p>
          <a:p>
            <a:pPr>
              <a:lnSpc>
                <a:spcPct val="100000"/>
              </a:lnSpc>
              <a:spcBef>
                <a:spcPts val="25"/>
              </a:spcBef>
            </a:pPr>
            <a:endParaRPr sz="1200">
              <a:latin typeface="Arial"/>
              <a:cs typeface="Arial"/>
            </a:endParaRPr>
          </a:p>
          <a:p>
            <a:pPr marL="12700" marR="5080">
              <a:lnSpc>
                <a:spcPts val="1380"/>
              </a:lnSpc>
            </a:pPr>
            <a:r>
              <a:rPr dirty="0" sz="1200" spc="-5" b="1">
                <a:latin typeface="Arial"/>
                <a:cs typeface="Arial"/>
              </a:rPr>
              <a:t>4 </a:t>
            </a:r>
            <a:r>
              <a:rPr dirty="0" sz="1200" spc="-5">
                <a:latin typeface="Arial"/>
                <a:cs typeface="Arial"/>
              </a:rPr>
              <a:t>Explain </a:t>
            </a:r>
            <a:r>
              <a:rPr dirty="0" sz="1200">
                <a:latin typeface="Arial"/>
                <a:cs typeface="Arial"/>
              </a:rPr>
              <a:t>why the </a:t>
            </a:r>
            <a:r>
              <a:rPr dirty="0" sz="1200" spc="-5">
                <a:latin typeface="Arial"/>
                <a:cs typeface="Arial"/>
              </a:rPr>
              <a:t>Mu‘tazilah were </a:t>
            </a:r>
            <a:r>
              <a:rPr dirty="0" sz="1200">
                <a:latin typeface="Arial"/>
                <a:cs typeface="Arial"/>
              </a:rPr>
              <a:t>often </a:t>
            </a:r>
            <a:r>
              <a:rPr dirty="0" sz="1200" spc="-5">
                <a:latin typeface="Arial"/>
                <a:cs typeface="Arial"/>
              </a:rPr>
              <a:t>referred </a:t>
            </a:r>
            <a:r>
              <a:rPr dirty="0" sz="1200">
                <a:latin typeface="Arial"/>
                <a:cs typeface="Arial"/>
              </a:rPr>
              <a:t>to as </a:t>
            </a:r>
            <a:r>
              <a:rPr dirty="0" sz="1200" spc="-105">
                <a:latin typeface="Arial"/>
                <a:cs typeface="Arial"/>
              </a:rPr>
              <a:t>‗the </a:t>
            </a:r>
            <a:r>
              <a:rPr dirty="0" sz="1200" spc="-5">
                <a:latin typeface="Arial"/>
                <a:cs typeface="Arial"/>
              </a:rPr>
              <a:t>People </a:t>
            </a:r>
            <a:r>
              <a:rPr dirty="0" sz="1200">
                <a:latin typeface="Arial"/>
                <a:cs typeface="Arial"/>
              </a:rPr>
              <a:t>of </a:t>
            </a:r>
            <a:r>
              <a:rPr dirty="0" sz="1200" spc="-10">
                <a:latin typeface="Arial"/>
                <a:cs typeface="Arial"/>
              </a:rPr>
              <a:t>Divine </a:t>
            </a:r>
            <a:r>
              <a:rPr dirty="0" sz="1200" spc="-5">
                <a:latin typeface="Arial"/>
                <a:cs typeface="Arial"/>
              </a:rPr>
              <a:t>Unity‘ </a:t>
            </a:r>
            <a:r>
              <a:rPr dirty="0" sz="1200" spc="10">
                <a:latin typeface="Arial"/>
                <a:cs typeface="Arial"/>
              </a:rPr>
              <a:t>[</a:t>
            </a:r>
            <a:r>
              <a:rPr dirty="0" sz="1200" spc="10" i="1">
                <a:latin typeface="Arial"/>
                <a:cs typeface="Arial"/>
              </a:rPr>
              <a:t>Ahl </a:t>
            </a:r>
            <a:r>
              <a:rPr dirty="0" sz="1200" spc="-5" i="1">
                <a:latin typeface="Arial"/>
                <a:cs typeface="Arial"/>
              </a:rPr>
              <a:t>al-  </a:t>
            </a:r>
            <a:r>
              <a:rPr dirty="0" sz="1200" spc="-5" i="1">
                <a:latin typeface="Arial"/>
                <a:cs typeface="Arial"/>
              </a:rPr>
              <a:t>Tawhid</a:t>
            </a:r>
            <a:r>
              <a:rPr dirty="0" sz="1200" spc="-5">
                <a:latin typeface="Arial"/>
                <a:cs typeface="Arial"/>
              </a:rPr>
              <a:t>]. [20] </a:t>
            </a:r>
            <a:r>
              <a:rPr dirty="0" sz="1200" spc="-5" b="1">
                <a:latin typeface="Arial"/>
                <a:cs typeface="Arial"/>
              </a:rPr>
              <a:t>(2009)</a:t>
            </a:r>
            <a:endParaRPr sz="1200">
              <a:latin typeface="Arial"/>
              <a:cs typeface="Arial"/>
            </a:endParaRPr>
          </a:p>
          <a:p>
            <a:pPr>
              <a:lnSpc>
                <a:spcPct val="100000"/>
              </a:lnSpc>
              <a:spcBef>
                <a:spcPts val="20"/>
              </a:spcBef>
            </a:pPr>
            <a:endParaRPr sz="1100">
              <a:latin typeface="Arial"/>
              <a:cs typeface="Arial"/>
            </a:endParaRPr>
          </a:p>
          <a:p>
            <a:pPr marL="12700">
              <a:lnSpc>
                <a:spcPts val="1415"/>
              </a:lnSpc>
            </a:pPr>
            <a:r>
              <a:rPr dirty="0" sz="1200" spc="-5" b="1">
                <a:latin typeface="Arial"/>
                <a:cs typeface="Arial"/>
              </a:rPr>
              <a:t>6 (a) </a:t>
            </a:r>
            <a:r>
              <a:rPr dirty="0" sz="1200">
                <a:latin typeface="Arial"/>
                <a:cs typeface="Arial"/>
              </a:rPr>
              <a:t>Write an </a:t>
            </a:r>
            <a:r>
              <a:rPr dirty="0" sz="1200" spc="-5">
                <a:latin typeface="Arial"/>
                <a:cs typeface="Arial"/>
              </a:rPr>
              <a:t>account of the Mu‘tazili principle of divine </a:t>
            </a:r>
            <a:r>
              <a:rPr dirty="0" sz="1200">
                <a:latin typeface="Arial"/>
                <a:cs typeface="Arial"/>
              </a:rPr>
              <a:t>justice </a:t>
            </a:r>
            <a:r>
              <a:rPr dirty="0" sz="1200" spc="-65">
                <a:latin typeface="Arial"/>
                <a:cs typeface="Arial"/>
              </a:rPr>
              <a:t>(</a:t>
            </a:r>
            <a:r>
              <a:rPr dirty="0" sz="1200" spc="-65" i="1">
                <a:latin typeface="Arial"/>
                <a:cs typeface="Arial"/>
              </a:rPr>
              <a:t>‗adl)</a:t>
            </a:r>
            <a:r>
              <a:rPr dirty="0" sz="1200" spc="-65">
                <a:latin typeface="Arial"/>
                <a:cs typeface="Arial"/>
              </a:rPr>
              <a:t>.</a:t>
            </a:r>
            <a:r>
              <a:rPr dirty="0" sz="1200" spc="30">
                <a:latin typeface="Arial"/>
                <a:cs typeface="Arial"/>
              </a:rPr>
              <a:t> </a:t>
            </a:r>
            <a:r>
              <a:rPr dirty="0" sz="1200" spc="-5">
                <a:latin typeface="Arial"/>
                <a:cs typeface="Arial"/>
              </a:rPr>
              <a:t>[12]</a:t>
            </a:r>
            <a:endParaRPr sz="1200">
              <a:latin typeface="Arial"/>
              <a:cs typeface="Arial"/>
            </a:endParaRPr>
          </a:p>
          <a:p>
            <a:pPr marL="140970">
              <a:lnSpc>
                <a:spcPts val="1385"/>
              </a:lnSpc>
            </a:pPr>
            <a:r>
              <a:rPr dirty="0" sz="1200" spc="-5" b="1">
                <a:latin typeface="Arial"/>
                <a:cs typeface="Arial"/>
              </a:rPr>
              <a:t>(b) </a:t>
            </a:r>
            <a:r>
              <a:rPr dirty="0" sz="1200" spc="-5">
                <a:latin typeface="Arial"/>
                <a:cs typeface="Arial"/>
              </a:rPr>
              <a:t>Explain how </a:t>
            </a:r>
            <a:r>
              <a:rPr dirty="0" sz="1200">
                <a:latin typeface="Arial"/>
                <a:cs typeface="Arial"/>
              </a:rPr>
              <a:t>it </a:t>
            </a:r>
            <a:r>
              <a:rPr dirty="0" sz="1200" spc="-5">
                <a:latin typeface="Arial"/>
                <a:cs typeface="Arial"/>
              </a:rPr>
              <a:t>conflicted with earlier </a:t>
            </a:r>
            <a:r>
              <a:rPr dirty="0" sz="1200" spc="-10">
                <a:latin typeface="Arial"/>
                <a:cs typeface="Arial"/>
              </a:rPr>
              <a:t>views </a:t>
            </a:r>
            <a:r>
              <a:rPr dirty="0" sz="1200" spc="-5">
                <a:latin typeface="Arial"/>
                <a:cs typeface="Arial"/>
              </a:rPr>
              <a:t>which </a:t>
            </a:r>
            <a:r>
              <a:rPr dirty="0" sz="1200">
                <a:latin typeface="Arial"/>
                <a:cs typeface="Arial"/>
              </a:rPr>
              <a:t>stressed </a:t>
            </a:r>
            <a:r>
              <a:rPr dirty="0" sz="1200" spc="-5">
                <a:latin typeface="Arial"/>
                <a:cs typeface="Arial"/>
              </a:rPr>
              <a:t>that </a:t>
            </a:r>
            <a:r>
              <a:rPr dirty="0" sz="1200">
                <a:latin typeface="Arial"/>
                <a:cs typeface="Arial"/>
              </a:rPr>
              <a:t>God </a:t>
            </a:r>
            <a:r>
              <a:rPr dirty="0" sz="1200" spc="-10">
                <a:latin typeface="Arial"/>
                <a:cs typeface="Arial"/>
              </a:rPr>
              <a:t>was </a:t>
            </a:r>
            <a:r>
              <a:rPr dirty="0" sz="1200">
                <a:latin typeface="Arial"/>
                <a:cs typeface="Arial"/>
              </a:rPr>
              <a:t>all-powerful.</a:t>
            </a:r>
            <a:r>
              <a:rPr dirty="0" sz="1200" spc="310">
                <a:latin typeface="Arial"/>
                <a:cs typeface="Arial"/>
              </a:rPr>
              <a:t> </a:t>
            </a:r>
            <a:r>
              <a:rPr dirty="0" sz="1200">
                <a:latin typeface="Arial"/>
                <a:cs typeface="Arial"/>
              </a:rPr>
              <a:t>[8]</a:t>
            </a:r>
            <a:endParaRPr sz="1200">
              <a:latin typeface="Arial"/>
              <a:cs typeface="Arial"/>
            </a:endParaRPr>
          </a:p>
          <a:p>
            <a:pPr marL="12700">
              <a:lnSpc>
                <a:spcPts val="1410"/>
              </a:lnSpc>
            </a:pPr>
            <a:r>
              <a:rPr dirty="0" sz="1200" spc="-5" b="1">
                <a:latin typeface="Arial"/>
                <a:cs typeface="Arial"/>
              </a:rPr>
              <a:t>(2010)</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135</a:t>
            </a:r>
            <a:endParaRPr sz="1200">
              <a:latin typeface="Times New Roman"/>
              <a:cs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2384805" y="799592"/>
            <a:ext cx="2608580" cy="559435"/>
          </a:xfrm>
          <a:prstGeom prst="rect">
            <a:avLst/>
          </a:prstGeom>
        </p:spPr>
        <p:txBody>
          <a:bodyPr wrap="square" lIns="0" tIns="12700" rIns="0" bIns="0" rtlCol="0" vert="horz">
            <a:spAutoFit/>
          </a:bodyPr>
          <a:lstStyle/>
          <a:p>
            <a:pPr algn="ctr" marL="1270">
              <a:lnSpc>
                <a:spcPct val="100000"/>
              </a:lnSpc>
              <a:spcBef>
                <a:spcPts val="100"/>
              </a:spcBef>
            </a:pPr>
            <a:r>
              <a:rPr dirty="0" u="heavy" sz="1200" spc="-5" b="1" i="1">
                <a:uFill>
                  <a:solidFill>
                    <a:srgbClr val="000000"/>
                  </a:solidFill>
                </a:uFill>
                <a:latin typeface="Arial"/>
                <a:cs typeface="Arial"/>
              </a:rPr>
              <a:t>Paper</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2</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5" b="1" i="1">
                <a:solidFill>
                  <a:srgbClr val="221F1F"/>
                </a:solidFill>
                <a:uFill>
                  <a:solidFill>
                    <a:srgbClr val="221F1F"/>
                  </a:solidFill>
                </a:uFill>
                <a:latin typeface="Arial"/>
                <a:cs typeface="Arial"/>
              </a:rPr>
              <a:t>Section C: Variety </a:t>
            </a:r>
            <a:r>
              <a:rPr dirty="0" u="heavy" sz="1200" b="1" i="1">
                <a:solidFill>
                  <a:srgbClr val="221F1F"/>
                </a:solidFill>
                <a:uFill>
                  <a:solidFill>
                    <a:srgbClr val="221F1F"/>
                  </a:solidFill>
                </a:uFill>
                <a:latin typeface="Arial"/>
                <a:cs typeface="Arial"/>
              </a:rPr>
              <a:t>in </a:t>
            </a:r>
            <a:r>
              <a:rPr dirty="0" u="heavy" sz="1200" spc="-5" b="1" i="1">
                <a:solidFill>
                  <a:srgbClr val="221F1F"/>
                </a:solidFill>
                <a:uFill>
                  <a:solidFill>
                    <a:srgbClr val="221F1F"/>
                  </a:solidFill>
                </a:uFill>
                <a:latin typeface="Arial"/>
                <a:cs typeface="Arial"/>
              </a:rPr>
              <a:t>Islamic</a:t>
            </a:r>
            <a:r>
              <a:rPr dirty="0" u="heavy" sz="1200" spc="25" b="1" i="1">
                <a:solidFill>
                  <a:srgbClr val="221F1F"/>
                </a:solidFill>
                <a:uFill>
                  <a:solidFill>
                    <a:srgbClr val="221F1F"/>
                  </a:solidFill>
                </a:uFill>
                <a:latin typeface="Arial"/>
                <a:cs typeface="Arial"/>
              </a:rPr>
              <a:t> </a:t>
            </a:r>
            <a:r>
              <a:rPr dirty="0" u="heavy" sz="1200" spc="-5" b="1" i="1">
                <a:solidFill>
                  <a:srgbClr val="221F1F"/>
                </a:solidFill>
                <a:uFill>
                  <a:solidFill>
                    <a:srgbClr val="221F1F"/>
                  </a:solidFill>
                </a:uFill>
                <a:latin typeface="Arial"/>
                <a:cs typeface="Arial"/>
              </a:rPr>
              <a:t>Beliefs</a:t>
            </a:r>
            <a:endParaRPr sz="1200">
              <a:latin typeface="Arial"/>
              <a:cs typeface="Arial"/>
            </a:endParaRP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9" name="object 9"/>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136</a:t>
            </a:r>
            <a:endParaRPr sz="1200">
              <a:latin typeface="Times New Roman"/>
              <a:cs typeface="Times New Roman"/>
            </a:endParaRPr>
          </a:p>
        </p:txBody>
      </p:sp>
      <p:sp>
        <p:nvSpPr>
          <p:cNvPr id="6" name="object 6"/>
          <p:cNvSpPr txBox="1"/>
          <p:nvPr/>
        </p:nvSpPr>
        <p:spPr>
          <a:xfrm>
            <a:off x="478536" y="1528825"/>
            <a:ext cx="6259195" cy="181610"/>
          </a:xfrm>
          <a:prstGeom prst="rect">
            <a:avLst/>
          </a:prstGeom>
          <a:ln w="6096">
            <a:solidFill>
              <a:srgbClr val="000000"/>
            </a:solidFill>
          </a:ln>
        </p:spPr>
        <p:txBody>
          <a:bodyPr wrap="square" lIns="0" tIns="0" rIns="0" bIns="0" rtlCol="0" vert="horz">
            <a:spAutoFit/>
          </a:bodyPr>
          <a:lstStyle/>
          <a:p>
            <a:pPr algn="ctr">
              <a:lnSpc>
                <a:spcPts val="1370"/>
              </a:lnSpc>
            </a:pPr>
            <a:r>
              <a:rPr dirty="0" sz="1200" b="1">
                <a:latin typeface="Arial"/>
                <a:cs typeface="Arial"/>
              </a:rPr>
              <a:t>Sunni </a:t>
            </a:r>
            <a:r>
              <a:rPr dirty="0" sz="1200" spc="-10" b="1">
                <a:latin typeface="Arial"/>
                <a:cs typeface="Arial"/>
              </a:rPr>
              <a:t>And</a:t>
            </a:r>
            <a:r>
              <a:rPr dirty="0" sz="1200" spc="5" b="1">
                <a:latin typeface="Arial"/>
                <a:cs typeface="Arial"/>
              </a:rPr>
              <a:t> </a:t>
            </a:r>
            <a:r>
              <a:rPr dirty="0" sz="1200" spc="-55" b="1">
                <a:latin typeface="Arial"/>
                <a:cs typeface="Arial"/>
              </a:rPr>
              <a:t>Shi‟a</a:t>
            </a:r>
            <a:endParaRPr sz="1200">
              <a:latin typeface="Arial"/>
              <a:cs typeface="Arial"/>
            </a:endParaRPr>
          </a:p>
        </p:txBody>
      </p:sp>
      <p:sp>
        <p:nvSpPr>
          <p:cNvPr id="7" name="object 7"/>
          <p:cNvSpPr txBox="1"/>
          <p:nvPr/>
        </p:nvSpPr>
        <p:spPr>
          <a:xfrm>
            <a:off x="534416" y="1863597"/>
            <a:ext cx="6312535" cy="7677150"/>
          </a:xfrm>
          <a:prstGeom prst="rect">
            <a:avLst/>
          </a:prstGeom>
        </p:spPr>
        <p:txBody>
          <a:bodyPr wrap="square" lIns="0" tIns="24765" rIns="0" bIns="0" rtlCol="0" vert="horz">
            <a:spAutoFit/>
          </a:bodyPr>
          <a:lstStyle/>
          <a:p>
            <a:pPr algn="just" marL="12700" marR="6985">
              <a:lnSpc>
                <a:spcPts val="1380"/>
              </a:lnSpc>
              <a:spcBef>
                <a:spcPts val="195"/>
              </a:spcBef>
            </a:pPr>
            <a:r>
              <a:rPr dirty="0" sz="1200">
                <a:latin typeface="Arial"/>
                <a:cs typeface="Arial"/>
              </a:rPr>
              <a:t>Both </a:t>
            </a:r>
            <a:r>
              <a:rPr dirty="0" sz="1200" spc="-5">
                <a:latin typeface="Arial"/>
                <a:cs typeface="Arial"/>
              </a:rPr>
              <a:t>Sunni and Shia Muslims share the most fundamental </a:t>
            </a:r>
            <a:r>
              <a:rPr dirty="0" sz="1200" spc="-5">
                <a:latin typeface="Arial"/>
                <a:cs typeface="Arial"/>
                <a:hlinkClick r:id="rId2"/>
              </a:rPr>
              <a:t>Islamic beliefs and articles of </a:t>
            </a:r>
            <a:r>
              <a:rPr dirty="0" sz="1200" spc="-5">
                <a:latin typeface="Arial"/>
                <a:cs typeface="Arial"/>
              </a:rPr>
              <a:t> </a:t>
            </a:r>
            <a:r>
              <a:rPr dirty="0" sz="1200">
                <a:latin typeface="Arial"/>
                <a:cs typeface="Arial"/>
                <a:hlinkClick r:id="rId2"/>
              </a:rPr>
              <a:t>faith</a:t>
            </a:r>
            <a:r>
              <a:rPr dirty="0" sz="1200">
                <a:latin typeface="Arial"/>
                <a:cs typeface="Arial"/>
              </a:rPr>
              <a:t>. The </a:t>
            </a:r>
            <a:r>
              <a:rPr dirty="0" sz="1200" spc="-5">
                <a:latin typeface="Arial"/>
                <a:cs typeface="Arial"/>
              </a:rPr>
              <a:t>differences between </a:t>
            </a:r>
            <a:r>
              <a:rPr dirty="0" sz="1200" spc="-10">
                <a:latin typeface="Arial"/>
                <a:cs typeface="Arial"/>
              </a:rPr>
              <a:t>these two </a:t>
            </a:r>
            <a:r>
              <a:rPr dirty="0" sz="1200" spc="-5">
                <a:latin typeface="Arial"/>
                <a:cs typeface="Arial"/>
              </a:rPr>
              <a:t>main </a:t>
            </a:r>
            <a:r>
              <a:rPr dirty="0" sz="1200">
                <a:latin typeface="Arial"/>
                <a:cs typeface="Arial"/>
              </a:rPr>
              <a:t>sub-groups </a:t>
            </a:r>
            <a:r>
              <a:rPr dirty="0" sz="1200" spc="-5">
                <a:latin typeface="Arial"/>
                <a:cs typeface="Arial"/>
              </a:rPr>
              <a:t>within Islam initially stemmed </a:t>
            </a:r>
            <a:r>
              <a:rPr dirty="0" sz="1200" spc="-10">
                <a:latin typeface="Arial"/>
                <a:cs typeface="Arial"/>
              </a:rPr>
              <a:t>not  </a:t>
            </a:r>
            <a:r>
              <a:rPr dirty="0" sz="1200" spc="-5">
                <a:latin typeface="Arial"/>
                <a:cs typeface="Arial"/>
              </a:rPr>
              <a:t>from spiritual differences, but political ones. Over </a:t>
            </a:r>
            <a:r>
              <a:rPr dirty="0" sz="1200">
                <a:latin typeface="Arial"/>
                <a:cs typeface="Arial"/>
              </a:rPr>
              <a:t>the </a:t>
            </a:r>
            <a:r>
              <a:rPr dirty="0" sz="1200" spc="-5">
                <a:latin typeface="Arial"/>
                <a:cs typeface="Arial"/>
              </a:rPr>
              <a:t>centuries, </a:t>
            </a:r>
            <a:r>
              <a:rPr dirty="0" sz="1200">
                <a:latin typeface="Arial"/>
                <a:cs typeface="Arial"/>
              </a:rPr>
              <a:t>however, these </a:t>
            </a:r>
            <a:r>
              <a:rPr dirty="0" sz="1200" spc="-5">
                <a:latin typeface="Arial"/>
                <a:cs typeface="Arial"/>
              </a:rPr>
              <a:t>political  differences </a:t>
            </a:r>
            <a:r>
              <a:rPr dirty="0" sz="1200" spc="-10">
                <a:latin typeface="Arial"/>
                <a:cs typeface="Arial"/>
              </a:rPr>
              <a:t>have </a:t>
            </a:r>
            <a:r>
              <a:rPr dirty="0" sz="1200" spc="-5">
                <a:latin typeface="Arial"/>
                <a:cs typeface="Arial"/>
              </a:rPr>
              <a:t>spawned a number of varying practices and positions which have come </a:t>
            </a:r>
            <a:r>
              <a:rPr dirty="0" sz="1200">
                <a:latin typeface="Arial"/>
                <a:cs typeface="Arial"/>
              </a:rPr>
              <a:t>to  </a:t>
            </a:r>
            <a:r>
              <a:rPr dirty="0" sz="1200" spc="-5">
                <a:latin typeface="Arial"/>
                <a:cs typeface="Arial"/>
              </a:rPr>
              <a:t>carry a spiritual </a:t>
            </a:r>
            <a:r>
              <a:rPr dirty="0" sz="1200">
                <a:latin typeface="Arial"/>
                <a:cs typeface="Arial"/>
              </a:rPr>
              <a:t>significance.</a:t>
            </a:r>
            <a:endParaRPr sz="1200">
              <a:latin typeface="Arial"/>
              <a:cs typeface="Arial"/>
            </a:endParaRPr>
          </a:p>
          <a:p>
            <a:pPr>
              <a:lnSpc>
                <a:spcPct val="100000"/>
              </a:lnSpc>
              <a:spcBef>
                <a:spcPts val="20"/>
              </a:spcBef>
            </a:pPr>
            <a:endParaRPr sz="1150">
              <a:latin typeface="Arial"/>
              <a:cs typeface="Arial"/>
            </a:endParaRPr>
          </a:p>
          <a:p>
            <a:pPr algn="just" marL="12700" marR="10160">
              <a:lnSpc>
                <a:spcPct val="95900"/>
              </a:lnSpc>
            </a:pPr>
            <a:r>
              <a:rPr dirty="0" sz="1200" spc="-5">
                <a:latin typeface="Arial"/>
                <a:cs typeface="Arial"/>
              </a:rPr>
              <a:t>The division between Shia and Sunni dates back </a:t>
            </a:r>
            <a:r>
              <a:rPr dirty="0" sz="1200">
                <a:latin typeface="Arial"/>
                <a:cs typeface="Arial"/>
              </a:rPr>
              <a:t>to the </a:t>
            </a:r>
            <a:r>
              <a:rPr dirty="0" sz="1200" spc="-5">
                <a:latin typeface="Arial"/>
                <a:cs typeface="Arial"/>
              </a:rPr>
              <a:t>death of </a:t>
            </a:r>
            <a:r>
              <a:rPr dirty="0" sz="1200">
                <a:latin typeface="Arial"/>
                <a:cs typeface="Arial"/>
              </a:rPr>
              <a:t>the </a:t>
            </a:r>
            <a:r>
              <a:rPr dirty="0" sz="1200" spc="-5">
                <a:latin typeface="Arial"/>
                <a:cs typeface="Arial"/>
              </a:rPr>
              <a:t>Prophet Muhammad,  and </a:t>
            </a:r>
            <a:r>
              <a:rPr dirty="0" sz="1200">
                <a:latin typeface="Arial"/>
                <a:cs typeface="Arial"/>
              </a:rPr>
              <a:t>the </a:t>
            </a:r>
            <a:r>
              <a:rPr dirty="0" sz="1200" spc="-5">
                <a:latin typeface="Arial"/>
                <a:cs typeface="Arial"/>
              </a:rPr>
              <a:t>question of who </a:t>
            </a:r>
            <a:r>
              <a:rPr dirty="0" sz="1200" spc="-10">
                <a:latin typeface="Arial"/>
                <a:cs typeface="Arial"/>
              </a:rPr>
              <a:t>was </a:t>
            </a:r>
            <a:r>
              <a:rPr dirty="0" sz="1200">
                <a:latin typeface="Arial"/>
                <a:cs typeface="Arial"/>
              </a:rPr>
              <a:t>to take </a:t>
            </a:r>
            <a:r>
              <a:rPr dirty="0" sz="1200" spc="-5">
                <a:latin typeface="Arial"/>
                <a:cs typeface="Arial"/>
              </a:rPr>
              <a:t>over the leadership of </a:t>
            </a:r>
            <a:r>
              <a:rPr dirty="0" sz="1200">
                <a:latin typeface="Arial"/>
                <a:cs typeface="Arial"/>
              </a:rPr>
              <a:t>the </a:t>
            </a:r>
            <a:r>
              <a:rPr dirty="0" sz="1200" spc="-5">
                <a:latin typeface="Arial"/>
                <a:cs typeface="Arial"/>
              </a:rPr>
              <a:t>Muslim nation also existed.  Sunni Muslims agree with </a:t>
            </a:r>
            <a:r>
              <a:rPr dirty="0" sz="1200">
                <a:latin typeface="Arial"/>
                <a:cs typeface="Arial"/>
              </a:rPr>
              <a:t>the </a:t>
            </a:r>
            <a:r>
              <a:rPr dirty="0" sz="1200" spc="-5">
                <a:latin typeface="Arial"/>
                <a:cs typeface="Arial"/>
              </a:rPr>
              <a:t>position taken by </a:t>
            </a:r>
            <a:r>
              <a:rPr dirty="0" sz="1200">
                <a:latin typeface="Arial"/>
                <a:cs typeface="Arial"/>
              </a:rPr>
              <a:t>many </a:t>
            </a:r>
            <a:r>
              <a:rPr dirty="0" sz="1200" spc="-5">
                <a:latin typeface="Arial"/>
                <a:cs typeface="Arial"/>
              </a:rPr>
              <a:t>of the Prophet's companions, that </a:t>
            </a:r>
            <a:r>
              <a:rPr dirty="0" sz="1200" spc="-10">
                <a:latin typeface="Arial"/>
                <a:cs typeface="Arial"/>
              </a:rPr>
              <a:t>the  </a:t>
            </a:r>
            <a:r>
              <a:rPr dirty="0" sz="1200" spc="-5">
                <a:latin typeface="Arial"/>
                <a:cs typeface="Arial"/>
              </a:rPr>
              <a:t>new </a:t>
            </a:r>
            <a:r>
              <a:rPr dirty="0" sz="1200">
                <a:latin typeface="Arial"/>
                <a:cs typeface="Arial"/>
              </a:rPr>
              <a:t>leader </a:t>
            </a:r>
            <a:r>
              <a:rPr dirty="0" sz="1200" spc="-5">
                <a:latin typeface="Arial"/>
                <a:cs typeface="Arial"/>
              </a:rPr>
              <a:t>should </a:t>
            </a:r>
            <a:r>
              <a:rPr dirty="0" sz="1200" spc="-10">
                <a:latin typeface="Arial"/>
                <a:cs typeface="Arial"/>
              </a:rPr>
              <a:t>be </a:t>
            </a:r>
            <a:r>
              <a:rPr dirty="0" sz="1200" spc="-5">
                <a:latin typeface="Arial"/>
                <a:cs typeface="Arial"/>
              </a:rPr>
              <a:t>elected from among </a:t>
            </a:r>
            <a:r>
              <a:rPr dirty="0" sz="1200">
                <a:latin typeface="Arial"/>
                <a:cs typeface="Arial"/>
              </a:rPr>
              <a:t>those </a:t>
            </a:r>
            <a:r>
              <a:rPr dirty="0" sz="1200" spc="-5">
                <a:latin typeface="Arial"/>
                <a:cs typeface="Arial"/>
              </a:rPr>
              <a:t>capable of the job. </a:t>
            </a:r>
            <a:r>
              <a:rPr dirty="0" sz="1200">
                <a:latin typeface="Arial"/>
                <a:cs typeface="Arial"/>
              </a:rPr>
              <a:t>This </a:t>
            </a:r>
            <a:r>
              <a:rPr dirty="0" sz="1200" spc="-5">
                <a:latin typeface="Arial"/>
                <a:cs typeface="Arial"/>
              </a:rPr>
              <a:t>is what </a:t>
            </a:r>
            <a:r>
              <a:rPr dirty="0" sz="1200" spc="-10">
                <a:latin typeface="Arial"/>
                <a:cs typeface="Arial"/>
              </a:rPr>
              <a:t>was </a:t>
            </a:r>
            <a:r>
              <a:rPr dirty="0" sz="1200" spc="-5">
                <a:latin typeface="Arial"/>
                <a:cs typeface="Arial"/>
              </a:rPr>
              <a:t>done,  and the Prophet Muhammad's close friend and advisor, Abu Bakr, became the </a:t>
            </a:r>
            <a:r>
              <a:rPr dirty="0" sz="1200">
                <a:latin typeface="Arial"/>
                <a:cs typeface="Arial"/>
              </a:rPr>
              <a:t>first </a:t>
            </a:r>
            <a:r>
              <a:rPr dirty="0" sz="1200" spc="-5">
                <a:latin typeface="Arial"/>
                <a:cs typeface="Arial"/>
              </a:rPr>
              <a:t>Caliph of  </a:t>
            </a:r>
            <a:r>
              <a:rPr dirty="0" sz="1200">
                <a:latin typeface="Arial"/>
                <a:cs typeface="Arial"/>
              </a:rPr>
              <a:t>the </a:t>
            </a:r>
            <a:r>
              <a:rPr dirty="0" sz="1200" spc="-5">
                <a:latin typeface="Arial"/>
                <a:cs typeface="Arial"/>
              </a:rPr>
              <a:t>Islamic nation. </a:t>
            </a:r>
            <a:r>
              <a:rPr dirty="0" sz="1200">
                <a:latin typeface="Arial"/>
                <a:cs typeface="Arial"/>
              </a:rPr>
              <a:t>The </a:t>
            </a:r>
            <a:r>
              <a:rPr dirty="0" sz="1200" spc="-5">
                <a:latin typeface="Arial"/>
                <a:cs typeface="Arial"/>
              </a:rPr>
              <a:t>word "Sunni" in Arabic </a:t>
            </a:r>
            <a:r>
              <a:rPr dirty="0" sz="1200">
                <a:latin typeface="Arial"/>
                <a:cs typeface="Arial"/>
              </a:rPr>
              <a:t>comes </a:t>
            </a:r>
            <a:r>
              <a:rPr dirty="0" sz="1200" spc="-5">
                <a:latin typeface="Arial"/>
                <a:cs typeface="Arial"/>
              </a:rPr>
              <a:t>from a word meaning "one </a:t>
            </a:r>
            <a:r>
              <a:rPr dirty="0" sz="1200" spc="-10">
                <a:latin typeface="Arial"/>
                <a:cs typeface="Arial"/>
              </a:rPr>
              <a:t>who </a:t>
            </a:r>
            <a:r>
              <a:rPr dirty="0" sz="1200" spc="-5">
                <a:latin typeface="Arial"/>
                <a:cs typeface="Arial"/>
              </a:rPr>
              <a:t>follows  </a:t>
            </a:r>
            <a:r>
              <a:rPr dirty="0" sz="1200">
                <a:latin typeface="Arial"/>
                <a:cs typeface="Arial"/>
              </a:rPr>
              <a:t>the </a:t>
            </a:r>
            <a:r>
              <a:rPr dirty="0" sz="1200" spc="-5">
                <a:latin typeface="Arial"/>
                <a:cs typeface="Arial"/>
              </a:rPr>
              <a:t>traditions of </a:t>
            </a:r>
            <a:r>
              <a:rPr dirty="0" sz="1200">
                <a:latin typeface="Arial"/>
                <a:cs typeface="Arial"/>
              </a:rPr>
              <a:t>the</a:t>
            </a:r>
            <a:r>
              <a:rPr dirty="0" sz="1200" spc="-20">
                <a:latin typeface="Arial"/>
                <a:cs typeface="Arial"/>
              </a:rPr>
              <a:t> </a:t>
            </a:r>
            <a:r>
              <a:rPr dirty="0" sz="1200" spc="-5">
                <a:latin typeface="Arial"/>
                <a:cs typeface="Arial"/>
              </a:rPr>
              <a:t>Prophet."</a:t>
            </a:r>
            <a:endParaRPr sz="1200">
              <a:latin typeface="Arial"/>
              <a:cs typeface="Arial"/>
            </a:endParaRPr>
          </a:p>
          <a:p>
            <a:pPr>
              <a:lnSpc>
                <a:spcPct val="100000"/>
              </a:lnSpc>
              <a:spcBef>
                <a:spcPts val="15"/>
              </a:spcBef>
            </a:pPr>
            <a:endParaRPr sz="1550">
              <a:latin typeface="Arial"/>
              <a:cs typeface="Arial"/>
            </a:endParaRPr>
          </a:p>
          <a:p>
            <a:pPr algn="just" marL="12700" marR="5080">
              <a:lnSpc>
                <a:spcPct val="95800"/>
              </a:lnSpc>
              <a:spcBef>
                <a:spcPts val="5"/>
              </a:spcBef>
            </a:pPr>
            <a:r>
              <a:rPr dirty="0" sz="1200">
                <a:latin typeface="Arial"/>
                <a:cs typeface="Arial"/>
              </a:rPr>
              <a:t>On </a:t>
            </a:r>
            <a:r>
              <a:rPr dirty="0" sz="1200" spc="-5">
                <a:latin typeface="Arial"/>
                <a:cs typeface="Arial"/>
              </a:rPr>
              <a:t>the other hand, some Muslims share the belief that </a:t>
            </a:r>
            <a:r>
              <a:rPr dirty="0" sz="1200">
                <a:latin typeface="Arial"/>
                <a:cs typeface="Arial"/>
              </a:rPr>
              <a:t>leadership </a:t>
            </a:r>
            <a:r>
              <a:rPr dirty="0" sz="1200" spc="-5">
                <a:latin typeface="Arial"/>
                <a:cs typeface="Arial"/>
              </a:rPr>
              <a:t>should have stayed within  </a:t>
            </a:r>
            <a:r>
              <a:rPr dirty="0" sz="1200">
                <a:latin typeface="Arial"/>
                <a:cs typeface="Arial"/>
              </a:rPr>
              <a:t>the </a:t>
            </a:r>
            <a:r>
              <a:rPr dirty="0" sz="1200" spc="-5">
                <a:latin typeface="Arial"/>
                <a:cs typeface="Arial"/>
              </a:rPr>
              <a:t>Prophet's </a:t>
            </a:r>
            <a:r>
              <a:rPr dirty="0" sz="1200" spc="-10">
                <a:latin typeface="Arial"/>
                <a:cs typeface="Arial"/>
              </a:rPr>
              <a:t>own </a:t>
            </a:r>
            <a:r>
              <a:rPr dirty="0" sz="1200" spc="-5">
                <a:latin typeface="Arial"/>
                <a:cs typeface="Arial"/>
              </a:rPr>
              <a:t>family, among those specifically appointed </a:t>
            </a:r>
            <a:r>
              <a:rPr dirty="0" sz="1200" spc="-10">
                <a:latin typeface="Arial"/>
                <a:cs typeface="Arial"/>
              </a:rPr>
              <a:t>by </a:t>
            </a:r>
            <a:r>
              <a:rPr dirty="0" sz="1200">
                <a:latin typeface="Arial"/>
                <a:cs typeface="Arial"/>
              </a:rPr>
              <a:t>him, </a:t>
            </a:r>
            <a:r>
              <a:rPr dirty="0" sz="1200" spc="-5">
                <a:latin typeface="Arial"/>
                <a:cs typeface="Arial"/>
              </a:rPr>
              <a:t>or among Imams  appointed by </a:t>
            </a:r>
            <a:r>
              <a:rPr dirty="0" sz="1200">
                <a:latin typeface="Arial"/>
                <a:cs typeface="Arial"/>
              </a:rPr>
              <a:t>God </a:t>
            </a:r>
            <a:r>
              <a:rPr dirty="0" sz="1200" spc="-5">
                <a:latin typeface="Arial"/>
                <a:cs typeface="Arial"/>
              </a:rPr>
              <a:t>Himself. </a:t>
            </a:r>
            <a:r>
              <a:rPr dirty="0" sz="1200">
                <a:latin typeface="Arial"/>
                <a:cs typeface="Arial"/>
              </a:rPr>
              <a:t>The </a:t>
            </a:r>
            <a:r>
              <a:rPr dirty="0" sz="1200" spc="-5">
                <a:latin typeface="Arial"/>
                <a:cs typeface="Arial"/>
              </a:rPr>
              <a:t>Shia Muslims believe </a:t>
            </a:r>
            <a:r>
              <a:rPr dirty="0" sz="1200">
                <a:latin typeface="Arial"/>
                <a:cs typeface="Arial"/>
              </a:rPr>
              <a:t>that </a:t>
            </a:r>
            <a:r>
              <a:rPr dirty="0" sz="1200" spc="-5">
                <a:latin typeface="Arial"/>
                <a:cs typeface="Arial"/>
              </a:rPr>
              <a:t>following </a:t>
            </a:r>
            <a:r>
              <a:rPr dirty="0" sz="1200">
                <a:latin typeface="Arial"/>
                <a:cs typeface="Arial"/>
              </a:rPr>
              <a:t>the </a:t>
            </a:r>
            <a:r>
              <a:rPr dirty="0" sz="1200" spc="-5">
                <a:latin typeface="Arial"/>
                <a:cs typeface="Arial"/>
              </a:rPr>
              <a:t>Prophet  Muhammad's death, leadership should </a:t>
            </a:r>
            <a:r>
              <a:rPr dirty="0" sz="1200" spc="-10">
                <a:latin typeface="Arial"/>
                <a:cs typeface="Arial"/>
              </a:rPr>
              <a:t>have </a:t>
            </a:r>
            <a:r>
              <a:rPr dirty="0" sz="1200" spc="-5">
                <a:latin typeface="Arial"/>
                <a:cs typeface="Arial"/>
              </a:rPr>
              <a:t>passed directly </a:t>
            </a:r>
            <a:r>
              <a:rPr dirty="0" sz="1200">
                <a:latin typeface="Arial"/>
                <a:cs typeface="Arial"/>
              </a:rPr>
              <a:t>to </a:t>
            </a:r>
            <a:r>
              <a:rPr dirty="0" sz="1200" spc="10">
                <a:latin typeface="Arial"/>
                <a:cs typeface="Arial"/>
              </a:rPr>
              <a:t>his </a:t>
            </a:r>
            <a:r>
              <a:rPr dirty="0" sz="1200" spc="-5">
                <a:latin typeface="Arial"/>
                <a:cs typeface="Arial"/>
              </a:rPr>
              <a:t>cousin/son-in-law, </a:t>
            </a:r>
            <a:r>
              <a:rPr dirty="0" sz="1200" spc="-10">
                <a:latin typeface="Arial"/>
                <a:cs typeface="Arial"/>
              </a:rPr>
              <a:t>Ali.  </a:t>
            </a:r>
            <a:r>
              <a:rPr dirty="0" sz="1200" spc="-5">
                <a:latin typeface="Arial"/>
                <a:cs typeface="Arial"/>
              </a:rPr>
              <a:t>Throughout history, Shia Muslims </a:t>
            </a:r>
            <a:r>
              <a:rPr dirty="0" sz="1200" spc="-10">
                <a:latin typeface="Arial"/>
                <a:cs typeface="Arial"/>
              </a:rPr>
              <a:t>have </a:t>
            </a:r>
            <a:r>
              <a:rPr dirty="0" sz="1200" spc="-5">
                <a:latin typeface="Arial"/>
                <a:cs typeface="Arial"/>
              </a:rPr>
              <a:t>not recognized the authority </a:t>
            </a:r>
            <a:r>
              <a:rPr dirty="0" sz="1200">
                <a:latin typeface="Arial"/>
                <a:cs typeface="Arial"/>
              </a:rPr>
              <a:t>of </a:t>
            </a:r>
            <a:r>
              <a:rPr dirty="0" sz="1200" spc="-5">
                <a:latin typeface="Arial"/>
                <a:cs typeface="Arial"/>
              </a:rPr>
              <a:t>elected Muslim  </a:t>
            </a:r>
            <a:r>
              <a:rPr dirty="0" sz="1200">
                <a:latin typeface="Arial"/>
                <a:cs typeface="Arial"/>
              </a:rPr>
              <a:t>leaders, </a:t>
            </a:r>
            <a:r>
              <a:rPr dirty="0" sz="1200" spc="-5">
                <a:latin typeface="Arial"/>
                <a:cs typeface="Arial"/>
              </a:rPr>
              <a:t>choosing instead </a:t>
            </a:r>
            <a:r>
              <a:rPr dirty="0" sz="1200">
                <a:latin typeface="Arial"/>
                <a:cs typeface="Arial"/>
              </a:rPr>
              <a:t>to </a:t>
            </a:r>
            <a:r>
              <a:rPr dirty="0" sz="1200" spc="-5">
                <a:latin typeface="Arial"/>
                <a:cs typeface="Arial"/>
              </a:rPr>
              <a:t>follow a line of </a:t>
            </a:r>
            <a:r>
              <a:rPr dirty="0" sz="1200">
                <a:latin typeface="Arial"/>
                <a:cs typeface="Arial"/>
              </a:rPr>
              <a:t>Imams </a:t>
            </a:r>
            <a:r>
              <a:rPr dirty="0" sz="1200" spc="-5">
                <a:latin typeface="Arial"/>
                <a:cs typeface="Arial"/>
              </a:rPr>
              <a:t>which they </a:t>
            </a:r>
            <a:r>
              <a:rPr dirty="0" sz="1200" spc="-10">
                <a:latin typeface="Arial"/>
                <a:cs typeface="Arial"/>
              </a:rPr>
              <a:t>believe </a:t>
            </a:r>
            <a:r>
              <a:rPr dirty="0" sz="1200" spc="-5">
                <a:latin typeface="Arial"/>
                <a:cs typeface="Arial"/>
              </a:rPr>
              <a:t>have been appointed  by </a:t>
            </a:r>
            <a:r>
              <a:rPr dirty="0" sz="1200">
                <a:latin typeface="Arial"/>
                <a:cs typeface="Arial"/>
              </a:rPr>
              <a:t>the </a:t>
            </a:r>
            <a:r>
              <a:rPr dirty="0" sz="1200" spc="-5">
                <a:latin typeface="Arial"/>
                <a:cs typeface="Arial"/>
              </a:rPr>
              <a:t>Prophet Muhammad or God Himself. </a:t>
            </a:r>
            <a:r>
              <a:rPr dirty="0" sz="1200">
                <a:latin typeface="Arial"/>
                <a:cs typeface="Arial"/>
              </a:rPr>
              <a:t>The </a:t>
            </a:r>
            <a:r>
              <a:rPr dirty="0" sz="1200" spc="-5">
                <a:latin typeface="Arial"/>
                <a:cs typeface="Arial"/>
              </a:rPr>
              <a:t>word </a:t>
            </a:r>
            <a:r>
              <a:rPr dirty="0" sz="1200">
                <a:latin typeface="Arial"/>
                <a:cs typeface="Arial"/>
              </a:rPr>
              <a:t>"Shia" </a:t>
            </a:r>
            <a:r>
              <a:rPr dirty="0" sz="1200" spc="-10">
                <a:latin typeface="Arial"/>
                <a:cs typeface="Arial"/>
              </a:rPr>
              <a:t>in </a:t>
            </a:r>
            <a:r>
              <a:rPr dirty="0" sz="1200" spc="-5">
                <a:latin typeface="Arial"/>
                <a:cs typeface="Arial"/>
              </a:rPr>
              <a:t>Arabic means a group or  supportive </a:t>
            </a:r>
            <a:r>
              <a:rPr dirty="0" sz="1200">
                <a:latin typeface="Arial"/>
                <a:cs typeface="Arial"/>
              </a:rPr>
              <a:t>party of </a:t>
            </a:r>
            <a:r>
              <a:rPr dirty="0" sz="1200" spc="-5">
                <a:latin typeface="Arial"/>
                <a:cs typeface="Arial"/>
              </a:rPr>
              <a:t>people. </a:t>
            </a:r>
            <a:r>
              <a:rPr dirty="0" sz="1200">
                <a:latin typeface="Arial"/>
                <a:cs typeface="Arial"/>
              </a:rPr>
              <a:t>The </a:t>
            </a:r>
            <a:r>
              <a:rPr dirty="0" sz="1200" spc="-5">
                <a:latin typeface="Arial"/>
                <a:cs typeface="Arial"/>
              </a:rPr>
              <a:t>commonly-known </a:t>
            </a:r>
            <a:r>
              <a:rPr dirty="0" sz="1200">
                <a:latin typeface="Arial"/>
                <a:cs typeface="Arial"/>
              </a:rPr>
              <a:t>term </a:t>
            </a:r>
            <a:r>
              <a:rPr dirty="0" sz="1200" spc="-5">
                <a:latin typeface="Arial"/>
                <a:cs typeface="Arial"/>
              </a:rPr>
              <a:t>is shortened from the historical </a:t>
            </a:r>
            <a:r>
              <a:rPr dirty="0" sz="1200">
                <a:latin typeface="Arial"/>
                <a:cs typeface="Arial"/>
              </a:rPr>
              <a:t>"Shia-  </a:t>
            </a:r>
            <a:r>
              <a:rPr dirty="0" sz="1200" spc="-5">
                <a:latin typeface="Arial"/>
                <a:cs typeface="Arial"/>
              </a:rPr>
              <a:t>t-Ali," or "the </a:t>
            </a:r>
            <a:r>
              <a:rPr dirty="0" sz="1200">
                <a:latin typeface="Arial"/>
                <a:cs typeface="Arial"/>
              </a:rPr>
              <a:t>Party of </a:t>
            </a:r>
            <a:r>
              <a:rPr dirty="0" sz="1200" spc="-5">
                <a:latin typeface="Arial"/>
                <a:cs typeface="Arial"/>
              </a:rPr>
              <a:t>Ali." </a:t>
            </a:r>
            <a:r>
              <a:rPr dirty="0" sz="1200">
                <a:latin typeface="Arial"/>
                <a:cs typeface="Arial"/>
              </a:rPr>
              <a:t>They </a:t>
            </a:r>
            <a:r>
              <a:rPr dirty="0" sz="1200" spc="-5">
                <a:latin typeface="Arial"/>
                <a:cs typeface="Arial"/>
              </a:rPr>
              <a:t>are also </a:t>
            </a:r>
            <a:r>
              <a:rPr dirty="0" sz="1200" spc="-10">
                <a:latin typeface="Arial"/>
                <a:cs typeface="Arial"/>
              </a:rPr>
              <a:t>known </a:t>
            </a:r>
            <a:r>
              <a:rPr dirty="0" sz="1200" spc="-5">
                <a:latin typeface="Arial"/>
                <a:cs typeface="Arial"/>
              </a:rPr>
              <a:t>as followers of "Ahl-al-Bayt" or "People of the  Household" (of </a:t>
            </a:r>
            <a:r>
              <a:rPr dirty="0" sz="1200">
                <a:latin typeface="Arial"/>
                <a:cs typeface="Arial"/>
              </a:rPr>
              <a:t>the </a:t>
            </a:r>
            <a:r>
              <a:rPr dirty="0" sz="1200" spc="-5">
                <a:latin typeface="Arial"/>
                <a:cs typeface="Arial"/>
              </a:rPr>
              <a:t>Prophet). Sunni </a:t>
            </a:r>
            <a:r>
              <a:rPr dirty="0" sz="1200">
                <a:latin typeface="Arial"/>
                <a:cs typeface="Arial"/>
              </a:rPr>
              <a:t>Muslims make </a:t>
            </a:r>
            <a:r>
              <a:rPr dirty="0" sz="1200" spc="-5">
                <a:latin typeface="Arial"/>
                <a:cs typeface="Arial"/>
              </a:rPr>
              <a:t>up the majority (85%) of Muslims all </a:t>
            </a:r>
            <a:r>
              <a:rPr dirty="0" sz="1200" spc="-10">
                <a:latin typeface="Arial"/>
                <a:cs typeface="Arial"/>
              </a:rPr>
              <a:t>over  </a:t>
            </a:r>
            <a:r>
              <a:rPr dirty="0" sz="1200">
                <a:latin typeface="Arial"/>
                <a:cs typeface="Arial"/>
              </a:rPr>
              <a:t>the </a:t>
            </a:r>
            <a:r>
              <a:rPr dirty="0" sz="1200" spc="-5">
                <a:latin typeface="Arial"/>
                <a:cs typeface="Arial"/>
              </a:rPr>
              <a:t>world. Significant populations of Shia Muslims can </a:t>
            </a:r>
            <a:r>
              <a:rPr dirty="0" sz="1200" spc="-10">
                <a:latin typeface="Arial"/>
                <a:cs typeface="Arial"/>
              </a:rPr>
              <a:t>be </a:t>
            </a:r>
            <a:r>
              <a:rPr dirty="0" sz="1200" spc="-5">
                <a:latin typeface="Arial"/>
                <a:cs typeface="Arial"/>
              </a:rPr>
              <a:t>found </a:t>
            </a:r>
            <a:r>
              <a:rPr dirty="0" sz="1200" spc="-10">
                <a:latin typeface="Arial"/>
                <a:cs typeface="Arial"/>
              </a:rPr>
              <a:t>in </a:t>
            </a:r>
            <a:r>
              <a:rPr dirty="0" sz="1200">
                <a:latin typeface="Arial"/>
                <a:cs typeface="Arial"/>
              </a:rPr>
              <a:t>Iran </a:t>
            </a:r>
            <a:r>
              <a:rPr dirty="0" sz="1200" spc="-5">
                <a:latin typeface="Arial"/>
                <a:cs typeface="Arial"/>
              </a:rPr>
              <a:t>and Iraq, and </a:t>
            </a:r>
            <a:r>
              <a:rPr dirty="0" sz="1200" spc="-10">
                <a:latin typeface="Arial"/>
                <a:cs typeface="Arial"/>
              </a:rPr>
              <a:t>large  </a:t>
            </a:r>
            <a:r>
              <a:rPr dirty="0" sz="1200" spc="-5">
                <a:latin typeface="Arial"/>
                <a:cs typeface="Arial"/>
              </a:rPr>
              <a:t>minority communities </a:t>
            </a:r>
            <a:r>
              <a:rPr dirty="0" sz="1200" spc="-10">
                <a:latin typeface="Arial"/>
                <a:cs typeface="Arial"/>
              </a:rPr>
              <a:t>in </a:t>
            </a:r>
            <a:r>
              <a:rPr dirty="0" sz="1200" spc="-5">
                <a:latin typeface="Arial"/>
                <a:cs typeface="Arial"/>
              </a:rPr>
              <a:t>Yemen, Bahrain, Syria, and</a:t>
            </a:r>
            <a:r>
              <a:rPr dirty="0" sz="1200" spc="30">
                <a:latin typeface="Arial"/>
                <a:cs typeface="Arial"/>
              </a:rPr>
              <a:t> </a:t>
            </a:r>
            <a:r>
              <a:rPr dirty="0" sz="1200" spc="-5">
                <a:latin typeface="Arial"/>
                <a:cs typeface="Arial"/>
              </a:rPr>
              <a:t>Lebanon.</a:t>
            </a:r>
            <a:endParaRPr sz="1200">
              <a:latin typeface="Arial"/>
              <a:cs typeface="Arial"/>
            </a:endParaRPr>
          </a:p>
          <a:p>
            <a:pPr>
              <a:lnSpc>
                <a:spcPct val="100000"/>
              </a:lnSpc>
              <a:spcBef>
                <a:spcPts val="15"/>
              </a:spcBef>
            </a:pPr>
            <a:endParaRPr sz="1550">
              <a:latin typeface="Arial"/>
              <a:cs typeface="Arial"/>
            </a:endParaRPr>
          </a:p>
          <a:p>
            <a:pPr algn="just" marL="12700" marR="5080">
              <a:lnSpc>
                <a:spcPct val="95900"/>
              </a:lnSpc>
            </a:pPr>
            <a:r>
              <a:rPr dirty="0" sz="1200" spc="-5">
                <a:latin typeface="Arial"/>
                <a:cs typeface="Arial"/>
              </a:rPr>
              <a:t>Shia Muslims believe that </a:t>
            </a:r>
            <a:r>
              <a:rPr dirty="0" sz="1200">
                <a:latin typeface="Arial"/>
                <a:cs typeface="Arial"/>
              </a:rPr>
              <a:t>the </a:t>
            </a:r>
            <a:r>
              <a:rPr dirty="0" sz="1200" spc="-5">
                <a:latin typeface="Arial"/>
                <a:cs typeface="Arial"/>
              </a:rPr>
              <a:t>Imam is sinless by </a:t>
            </a:r>
            <a:r>
              <a:rPr dirty="0" sz="1200">
                <a:latin typeface="Arial"/>
                <a:cs typeface="Arial"/>
              </a:rPr>
              <a:t>nature, </a:t>
            </a:r>
            <a:r>
              <a:rPr dirty="0" sz="1200" spc="-5">
                <a:latin typeface="Arial"/>
                <a:cs typeface="Arial"/>
              </a:rPr>
              <a:t>and that his authority is infallible as  </a:t>
            </a:r>
            <a:r>
              <a:rPr dirty="0" sz="1200">
                <a:latin typeface="Arial"/>
                <a:cs typeface="Arial"/>
              </a:rPr>
              <a:t>it </a:t>
            </a:r>
            <a:r>
              <a:rPr dirty="0" sz="1200" spc="-5">
                <a:latin typeface="Arial"/>
                <a:cs typeface="Arial"/>
              </a:rPr>
              <a:t>comes directly from </a:t>
            </a:r>
            <a:r>
              <a:rPr dirty="0" sz="1200">
                <a:latin typeface="Arial"/>
                <a:cs typeface="Arial"/>
              </a:rPr>
              <a:t>God. </a:t>
            </a:r>
            <a:r>
              <a:rPr dirty="0" sz="1200" spc="-5">
                <a:latin typeface="Arial"/>
                <a:cs typeface="Arial"/>
              </a:rPr>
              <a:t>Therefore, Shia Muslims often venerate </a:t>
            </a:r>
            <a:r>
              <a:rPr dirty="0" sz="1200">
                <a:latin typeface="Arial"/>
                <a:cs typeface="Arial"/>
              </a:rPr>
              <a:t>the Imams </a:t>
            </a:r>
            <a:r>
              <a:rPr dirty="0" sz="1200" spc="-5">
                <a:latin typeface="Arial"/>
                <a:cs typeface="Arial"/>
              </a:rPr>
              <a:t>as saints and  perform pilgrimages to </a:t>
            </a:r>
            <a:r>
              <a:rPr dirty="0" sz="1200">
                <a:latin typeface="Arial"/>
                <a:cs typeface="Arial"/>
              </a:rPr>
              <a:t>their tombs </a:t>
            </a:r>
            <a:r>
              <a:rPr dirty="0" sz="1200" spc="-5">
                <a:latin typeface="Arial"/>
                <a:cs typeface="Arial"/>
              </a:rPr>
              <a:t>and shrines in </a:t>
            </a:r>
            <a:r>
              <a:rPr dirty="0" sz="1200">
                <a:latin typeface="Arial"/>
                <a:cs typeface="Arial"/>
              </a:rPr>
              <a:t>the </a:t>
            </a:r>
            <a:r>
              <a:rPr dirty="0" sz="1200" spc="-5">
                <a:latin typeface="Arial"/>
                <a:cs typeface="Arial"/>
              </a:rPr>
              <a:t>hopes of divine </a:t>
            </a:r>
            <a:r>
              <a:rPr dirty="0" sz="1200">
                <a:latin typeface="Arial"/>
                <a:cs typeface="Arial"/>
              </a:rPr>
              <a:t>intercession. </a:t>
            </a:r>
            <a:r>
              <a:rPr dirty="0" sz="1200" spc="-5">
                <a:latin typeface="Arial"/>
                <a:cs typeface="Arial"/>
              </a:rPr>
              <a:t>Sunni  Muslims counter that there </a:t>
            </a:r>
            <a:r>
              <a:rPr dirty="0" sz="1200" spc="5">
                <a:latin typeface="Arial"/>
                <a:cs typeface="Arial"/>
              </a:rPr>
              <a:t>is </a:t>
            </a:r>
            <a:r>
              <a:rPr dirty="0" sz="1200" spc="-5">
                <a:latin typeface="Arial"/>
                <a:cs typeface="Arial"/>
              </a:rPr>
              <a:t>no basis in Islam </a:t>
            </a:r>
            <a:r>
              <a:rPr dirty="0" sz="1200">
                <a:latin typeface="Arial"/>
                <a:cs typeface="Arial"/>
              </a:rPr>
              <a:t>for </a:t>
            </a:r>
            <a:r>
              <a:rPr dirty="0" sz="1200" spc="-5">
                <a:latin typeface="Arial"/>
                <a:cs typeface="Arial"/>
              </a:rPr>
              <a:t>a hereditary privileged class of spiritual  </a:t>
            </a:r>
            <a:r>
              <a:rPr dirty="0" sz="1200">
                <a:latin typeface="Arial"/>
                <a:cs typeface="Arial"/>
              </a:rPr>
              <a:t>leaders, </a:t>
            </a:r>
            <a:r>
              <a:rPr dirty="0" sz="1200" spc="-5">
                <a:latin typeface="Arial"/>
                <a:cs typeface="Arial"/>
              </a:rPr>
              <a:t>and certainly no basis </a:t>
            </a:r>
            <a:r>
              <a:rPr dirty="0" sz="1200">
                <a:latin typeface="Arial"/>
                <a:cs typeface="Arial"/>
              </a:rPr>
              <a:t>for </a:t>
            </a:r>
            <a:r>
              <a:rPr dirty="0" sz="1200" spc="-5">
                <a:latin typeface="Arial"/>
                <a:cs typeface="Arial"/>
              </a:rPr>
              <a:t>the veneration or intercession of saints. Sunni Muslims  contend that leadership of the community is not a birth right, but a </a:t>
            </a:r>
            <a:r>
              <a:rPr dirty="0" sz="1200">
                <a:latin typeface="Arial"/>
                <a:cs typeface="Arial"/>
              </a:rPr>
              <a:t>trust </a:t>
            </a:r>
            <a:r>
              <a:rPr dirty="0" sz="1200" spc="-5">
                <a:latin typeface="Arial"/>
                <a:cs typeface="Arial"/>
              </a:rPr>
              <a:t>that is earned and  which </a:t>
            </a:r>
            <a:r>
              <a:rPr dirty="0" sz="1200">
                <a:latin typeface="Arial"/>
                <a:cs typeface="Arial"/>
              </a:rPr>
              <a:t>may be </a:t>
            </a:r>
            <a:r>
              <a:rPr dirty="0" sz="1200" spc="-5">
                <a:latin typeface="Arial"/>
                <a:cs typeface="Arial"/>
              </a:rPr>
              <a:t>given </a:t>
            </a:r>
            <a:r>
              <a:rPr dirty="0" sz="1200">
                <a:latin typeface="Arial"/>
                <a:cs typeface="Arial"/>
              </a:rPr>
              <a:t>or </a:t>
            </a:r>
            <a:r>
              <a:rPr dirty="0" sz="1200" spc="-5">
                <a:latin typeface="Arial"/>
                <a:cs typeface="Arial"/>
              </a:rPr>
              <a:t>taken away </a:t>
            </a:r>
            <a:r>
              <a:rPr dirty="0" sz="1200">
                <a:latin typeface="Arial"/>
                <a:cs typeface="Arial"/>
              </a:rPr>
              <a:t>by </a:t>
            </a:r>
            <a:r>
              <a:rPr dirty="0" sz="1200" spc="-5">
                <a:latin typeface="Arial"/>
                <a:cs typeface="Arial"/>
              </a:rPr>
              <a:t>the people</a:t>
            </a:r>
            <a:r>
              <a:rPr dirty="0" sz="1200" spc="-30">
                <a:latin typeface="Arial"/>
                <a:cs typeface="Arial"/>
              </a:rPr>
              <a:t> </a:t>
            </a:r>
            <a:r>
              <a:rPr dirty="0" sz="1200" spc="-5">
                <a:latin typeface="Arial"/>
                <a:cs typeface="Arial"/>
              </a:rPr>
              <a:t>themselves.</a:t>
            </a:r>
            <a:endParaRPr sz="1200">
              <a:latin typeface="Arial"/>
              <a:cs typeface="Arial"/>
            </a:endParaRPr>
          </a:p>
          <a:p>
            <a:pPr>
              <a:lnSpc>
                <a:spcPct val="100000"/>
              </a:lnSpc>
            </a:pPr>
            <a:endParaRPr sz="1200">
              <a:latin typeface="Arial"/>
              <a:cs typeface="Arial"/>
            </a:endParaRPr>
          </a:p>
          <a:p>
            <a:pPr algn="just" marL="12700" marR="9525">
              <a:lnSpc>
                <a:spcPct val="95800"/>
              </a:lnSpc>
            </a:pPr>
            <a:r>
              <a:rPr dirty="0" sz="1200" spc="-5">
                <a:latin typeface="Arial"/>
                <a:cs typeface="Arial"/>
              </a:rPr>
              <a:t>Shia Muslims also </a:t>
            </a:r>
            <a:r>
              <a:rPr dirty="0" sz="1200">
                <a:latin typeface="Arial"/>
                <a:cs typeface="Arial"/>
              </a:rPr>
              <a:t>feel </a:t>
            </a:r>
            <a:r>
              <a:rPr dirty="0" sz="1200" spc="-5">
                <a:latin typeface="Arial"/>
                <a:cs typeface="Arial"/>
              </a:rPr>
              <a:t>animosity towards some of the companions of the Prophet  Muhammad, based </a:t>
            </a:r>
            <a:r>
              <a:rPr dirty="0" sz="1200" spc="-10">
                <a:latin typeface="Arial"/>
                <a:cs typeface="Arial"/>
              </a:rPr>
              <a:t>on </a:t>
            </a:r>
            <a:r>
              <a:rPr dirty="0" sz="1200">
                <a:latin typeface="Arial"/>
                <a:cs typeface="Arial"/>
              </a:rPr>
              <a:t>their positions </a:t>
            </a:r>
            <a:r>
              <a:rPr dirty="0" sz="1200" spc="-5">
                <a:latin typeface="Arial"/>
                <a:cs typeface="Arial"/>
              </a:rPr>
              <a:t>and actions during </a:t>
            </a:r>
            <a:r>
              <a:rPr dirty="0" sz="1200">
                <a:latin typeface="Arial"/>
                <a:cs typeface="Arial"/>
              </a:rPr>
              <a:t>the </a:t>
            </a:r>
            <a:r>
              <a:rPr dirty="0" sz="1200" spc="-5">
                <a:latin typeface="Arial"/>
                <a:cs typeface="Arial"/>
              </a:rPr>
              <a:t>early years </a:t>
            </a:r>
            <a:r>
              <a:rPr dirty="0" sz="1200">
                <a:latin typeface="Arial"/>
                <a:cs typeface="Arial"/>
              </a:rPr>
              <a:t>of </a:t>
            </a:r>
            <a:r>
              <a:rPr dirty="0" sz="1200" spc="-5">
                <a:latin typeface="Arial"/>
                <a:cs typeface="Arial"/>
              </a:rPr>
              <a:t>discord </a:t>
            </a:r>
            <a:r>
              <a:rPr dirty="0" sz="1200" spc="-10">
                <a:latin typeface="Arial"/>
                <a:cs typeface="Arial"/>
              </a:rPr>
              <a:t>about  </a:t>
            </a:r>
            <a:r>
              <a:rPr dirty="0" sz="1200" spc="-5">
                <a:latin typeface="Arial"/>
                <a:cs typeface="Arial"/>
              </a:rPr>
              <a:t>leadership in the community. Many of these companions (Abu Bakr, </a:t>
            </a:r>
            <a:r>
              <a:rPr dirty="0" sz="1200">
                <a:latin typeface="Arial"/>
                <a:cs typeface="Arial"/>
              </a:rPr>
              <a:t>Umar, </a:t>
            </a:r>
            <a:r>
              <a:rPr dirty="0" sz="1200" spc="-5">
                <a:latin typeface="Arial"/>
                <a:cs typeface="Arial"/>
              </a:rPr>
              <a:t>Aisha, etc.) </a:t>
            </a:r>
            <a:r>
              <a:rPr dirty="0" sz="1200" spc="-10">
                <a:latin typeface="Arial"/>
                <a:cs typeface="Arial"/>
              </a:rPr>
              <a:t>have  </a:t>
            </a:r>
            <a:r>
              <a:rPr dirty="0" sz="1200" spc="-5">
                <a:latin typeface="Arial"/>
                <a:cs typeface="Arial"/>
              </a:rPr>
              <a:t>narrated traditions about the Prophet's </a:t>
            </a:r>
            <a:r>
              <a:rPr dirty="0" sz="1200" spc="-10">
                <a:latin typeface="Arial"/>
                <a:cs typeface="Arial"/>
              </a:rPr>
              <a:t>life </a:t>
            </a:r>
            <a:r>
              <a:rPr dirty="0" sz="1200" spc="-5">
                <a:latin typeface="Arial"/>
                <a:cs typeface="Arial"/>
              </a:rPr>
              <a:t>and spiritual practice. Shia Muslims reject these  </a:t>
            </a:r>
            <a:r>
              <a:rPr dirty="0" sz="1200">
                <a:latin typeface="Arial"/>
                <a:cs typeface="Arial"/>
              </a:rPr>
              <a:t>traditions </a:t>
            </a:r>
            <a:r>
              <a:rPr dirty="0" sz="1200" spc="-5">
                <a:latin typeface="Arial"/>
                <a:cs typeface="Arial"/>
              </a:rPr>
              <a:t>(</a:t>
            </a:r>
            <a:r>
              <a:rPr dirty="0" sz="1200" spc="-5" i="1">
                <a:latin typeface="Arial"/>
                <a:cs typeface="Arial"/>
                <a:hlinkClick r:id="rId3"/>
              </a:rPr>
              <a:t>hadith</a:t>
            </a:r>
            <a:r>
              <a:rPr dirty="0" sz="1200" spc="-5">
                <a:latin typeface="Arial"/>
                <a:cs typeface="Arial"/>
              </a:rPr>
              <a:t>) and do not base any of </a:t>
            </a:r>
            <a:r>
              <a:rPr dirty="0" sz="1200">
                <a:latin typeface="Arial"/>
                <a:cs typeface="Arial"/>
              </a:rPr>
              <a:t>their </a:t>
            </a:r>
            <a:r>
              <a:rPr dirty="0" sz="1200" spc="-5">
                <a:latin typeface="Arial"/>
                <a:cs typeface="Arial"/>
              </a:rPr>
              <a:t>religious practices on the testimony </a:t>
            </a:r>
            <a:r>
              <a:rPr dirty="0" sz="1200">
                <a:latin typeface="Arial"/>
                <a:cs typeface="Arial"/>
              </a:rPr>
              <a:t>of </a:t>
            </a:r>
            <a:r>
              <a:rPr dirty="0" sz="1200" spc="-5">
                <a:latin typeface="Arial"/>
                <a:cs typeface="Arial"/>
              </a:rPr>
              <a:t>these  individuals. </a:t>
            </a:r>
            <a:r>
              <a:rPr dirty="0" sz="1200">
                <a:latin typeface="Arial"/>
                <a:cs typeface="Arial"/>
              </a:rPr>
              <a:t>This </a:t>
            </a:r>
            <a:r>
              <a:rPr dirty="0" sz="1200" spc="-5">
                <a:latin typeface="Arial"/>
                <a:cs typeface="Arial"/>
              </a:rPr>
              <a:t>naturally gives rise </a:t>
            </a:r>
            <a:r>
              <a:rPr dirty="0" sz="1200">
                <a:latin typeface="Arial"/>
                <a:cs typeface="Arial"/>
              </a:rPr>
              <a:t>to some </a:t>
            </a:r>
            <a:r>
              <a:rPr dirty="0" sz="1200" spc="-5">
                <a:latin typeface="Arial"/>
                <a:cs typeface="Arial"/>
              </a:rPr>
              <a:t>differences in religious practice between the </a:t>
            </a:r>
            <a:r>
              <a:rPr dirty="0" sz="1200" spc="-10">
                <a:latin typeface="Arial"/>
                <a:cs typeface="Arial"/>
              </a:rPr>
              <a:t>two  </a:t>
            </a:r>
            <a:r>
              <a:rPr dirty="0" sz="1200" spc="-5">
                <a:latin typeface="Arial"/>
                <a:cs typeface="Arial"/>
              </a:rPr>
              <a:t>groups. </a:t>
            </a:r>
            <a:r>
              <a:rPr dirty="0" sz="1200">
                <a:latin typeface="Arial"/>
                <a:cs typeface="Arial"/>
              </a:rPr>
              <a:t>These </a:t>
            </a:r>
            <a:r>
              <a:rPr dirty="0" sz="1200" spc="-5">
                <a:latin typeface="Arial"/>
                <a:cs typeface="Arial"/>
              </a:rPr>
              <a:t>differences touch all detailed aspects of religious </a:t>
            </a:r>
            <a:r>
              <a:rPr dirty="0" sz="1200">
                <a:latin typeface="Arial"/>
                <a:cs typeface="Arial"/>
              </a:rPr>
              <a:t>life: </a:t>
            </a:r>
            <a:r>
              <a:rPr dirty="0" sz="1200" spc="-5">
                <a:latin typeface="Arial"/>
                <a:cs typeface="Arial"/>
              </a:rPr>
              <a:t>prayer, fasting,  pilgrimage, </a:t>
            </a:r>
            <a:r>
              <a:rPr dirty="0" sz="1200">
                <a:latin typeface="Arial"/>
                <a:cs typeface="Arial"/>
              </a:rPr>
              <a:t>etc.</a:t>
            </a:r>
            <a:endParaRPr sz="1200">
              <a:latin typeface="Arial"/>
              <a:cs typeface="Aria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2535" cy="933831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6350">
              <a:lnSpc>
                <a:spcPct val="95900"/>
              </a:lnSpc>
            </a:pPr>
            <a:r>
              <a:rPr dirty="0" sz="1200" spc="-5">
                <a:latin typeface="Arial"/>
                <a:cs typeface="Arial"/>
              </a:rPr>
              <a:t>All </a:t>
            </a:r>
            <a:r>
              <a:rPr dirty="0" sz="1200">
                <a:latin typeface="Arial"/>
                <a:cs typeface="Arial"/>
              </a:rPr>
              <a:t>the </a:t>
            </a:r>
            <a:r>
              <a:rPr dirty="0" sz="1200" spc="-5">
                <a:latin typeface="Arial"/>
                <a:cs typeface="Arial"/>
              </a:rPr>
              <a:t>Muslims agree </a:t>
            </a:r>
            <a:r>
              <a:rPr dirty="0" sz="1200">
                <a:latin typeface="Arial"/>
                <a:cs typeface="Arial"/>
              </a:rPr>
              <a:t>that </a:t>
            </a:r>
            <a:r>
              <a:rPr dirty="0" sz="1200" spc="-5">
                <a:latin typeface="Arial"/>
                <a:cs typeface="Arial"/>
              </a:rPr>
              <a:t>Allah is One, </a:t>
            </a:r>
            <a:r>
              <a:rPr dirty="0" sz="1200" spc="-10">
                <a:latin typeface="Arial"/>
                <a:cs typeface="Arial"/>
              </a:rPr>
              <a:t>Muhammad </a:t>
            </a:r>
            <a:r>
              <a:rPr dirty="0" sz="1200">
                <a:latin typeface="Arial"/>
                <a:cs typeface="Arial"/>
              </a:rPr>
              <a:t>(s.a.w) </a:t>
            </a:r>
            <a:r>
              <a:rPr dirty="0" sz="1200" spc="-5">
                <a:latin typeface="Arial"/>
                <a:cs typeface="Arial"/>
              </a:rPr>
              <a:t>is His </a:t>
            </a:r>
            <a:r>
              <a:rPr dirty="0" sz="1200">
                <a:latin typeface="Arial"/>
                <a:cs typeface="Arial"/>
              </a:rPr>
              <a:t>last </a:t>
            </a:r>
            <a:r>
              <a:rPr dirty="0" sz="1200" spc="-5">
                <a:latin typeface="Arial"/>
                <a:cs typeface="Arial"/>
              </a:rPr>
              <a:t>Prophet, </a:t>
            </a:r>
            <a:r>
              <a:rPr dirty="0" sz="1200">
                <a:latin typeface="Arial"/>
                <a:cs typeface="Arial"/>
              </a:rPr>
              <a:t>the </a:t>
            </a:r>
            <a:r>
              <a:rPr dirty="0" sz="1200" spc="-5">
                <a:latin typeface="Arial"/>
                <a:cs typeface="Arial"/>
              </a:rPr>
              <a:t>Quran is  His </a:t>
            </a:r>
            <a:r>
              <a:rPr dirty="0" sz="1200">
                <a:latin typeface="Arial"/>
                <a:cs typeface="Arial"/>
              </a:rPr>
              <a:t>last </a:t>
            </a:r>
            <a:r>
              <a:rPr dirty="0" sz="1200" spc="-5">
                <a:latin typeface="Arial"/>
                <a:cs typeface="Arial"/>
              </a:rPr>
              <a:t>Book </a:t>
            </a:r>
            <a:r>
              <a:rPr dirty="0" sz="1200">
                <a:latin typeface="Arial"/>
                <a:cs typeface="Arial"/>
              </a:rPr>
              <a:t>for </a:t>
            </a:r>
            <a:r>
              <a:rPr dirty="0" sz="1200" spc="-5">
                <a:latin typeface="Arial"/>
                <a:cs typeface="Arial"/>
              </a:rPr>
              <a:t>mankind, and that one day Allah </a:t>
            </a:r>
            <a:r>
              <a:rPr dirty="0" sz="1200" spc="-10">
                <a:latin typeface="Arial"/>
                <a:cs typeface="Arial"/>
              </a:rPr>
              <a:t>will </a:t>
            </a:r>
            <a:r>
              <a:rPr dirty="0" sz="1200" spc="-5">
                <a:latin typeface="Arial"/>
                <a:cs typeface="Arial"/>
              </a:rPr>
              <a:t>resurrect all human beings, and they  will be questioned about their beliefs and </a:t>
            </a:r>
            <a:r>
              <a:rPr dirty="0" sz="1200">
                <a:latin typeface="Arial"/>
                <a:cs typeface="Arial"/>
              </a:rPr>
              <a:t>actions. There are, </a:t>
            </a:r>
            <a:r>
              <a:rPr dirty="0" sz="1200" spc="-5">
                <a:latin typeface="Arial"/>
                <a:cs typeface="Arial"/>
              </a:rPr>
              <a:t>however, </a:t>
            </a:r>
            <a:r>
              <a:rPr dirty="0" sz="1200">
                <a:latin typeface="Arial"/>
                <a:cs typeface="Arial"/>
              </a:rPr>
              <a:t>disagreements  </a:t>
            </a:r>
            <a:r>
              <a:rPr dirty="0" sz="1200" spc="-5">
                <a:latin typeface="Arial"/>
                <a:cs typeface="Arial"/>
              </a:rPr>
              <a:t>between the </a:t>
            </a:r>
            <a:r>
              <a:rPr dirty="0" sz="1200" spc="-10">
                <a:latin typeface="Arial"/>
                <a:cs typeface="Arial"/>
              </a:rPr>
              <a:t>two </a:t>
            </a:r>
            <a:r>
              <a:rPr dirty="0" sz="1200" spc="-5">
                <a:latin typeface="Arial"/>
                <a:cs typeface="Arial"/>
              </a:rPr>
              <a:t>schools in </a:t>
            </a:r>
            <a:r>
              <a:rPr dirty="0" sz="1200">
                <a:latin typeface="Arial"/>
                <a:cs typeface="Arial"/>
              </a:rPr>
              <a:t>the </a:t>
            </a:r>
            <a:r>
              <a:rPr dirty="0" sz="1200" spc="-5">
                <a:latin typeface="Arial"/>
                <a:cs typeface="Arial"/>
              </a:rPr>
              <a:t>following </a:t>
            </a:r>
            <a:r>
              <a:rPr dirty="0" sz="1200" spc="-10">
                <a:latin typeface="Arial"/>
                <a:cs typeface="Arial"/>
              </a:rPr>
              <a:t>two</a:t>
            </a:r>
            <a:r>
              <a:rPr dirty="0" sz="1200" spc="20">
                <a:latin typeface="Arial"/>
                <a:cs typeface="Arial"/>
              </a:rPr>
              <a:t> </a:t>
            </a:r>
            <a:r>
              <a:rPr dirty="0" sz="1200" spc="-5">
                <a:latin typeface="Arial"/>
                <a:cs typeface="Arial"/>
              </a:rPr>
              <a:t>areas:</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spc="-5">
                <a:latin typeface="Arial"/>
                <a:cs typeface="Arial"/>
              </a:rPr>
              <a:t>The second issue has </a:t>
            </a:r>
            <a:r>
              <a:rPr dirty="0" sz="1200">
                <a:latin typeface="Arial"/>
                <a:cs typeface="Arial"/>
              </a:rPr>
              <a:t>root </a:t>
            </a:r>
            <a:r>
              <a:rPr dirty="0" sz="1200" spc="-5">
                <a:latin typeface="Arial"/>
                <a:cs typeface="Arial"/>
              </a:rPr>
              <a:t>into the </a:t>
            </a:r>
            <a:r>
              <a:rPr dirty="0" sz="1200">
                <a:latin typeface="Arial"/>
                <a:cs typeface="Arial"/>
              </a:rPr>
              <a:t>first </a:t>
            </a:r>
            <a:r>
              <a:rPr dirty="0" sz="1200" spc="-5">
                <a:latin typeface="Arial"/>
                <a:cs typeface="Arial"/>
              </a:rPr>
              <a:t>one. The Shia bound them </a:t>
            </a:r>
            <a:r>
              <a:rPr dirty="0" sz="1200">
                <a:latin typeface="Arial"/>
                <a:cs typeface="Arial"/>
              </a:rPr>
              <a:t>to </a:t>
            </a:r>
            <a:r>
              <a:rPr dirty="0" sz="1200" spc="-5">
                <a:latin typeface="Arial"/>
                <a:cs typeface="Arial"/>
              </a:rPr>
              <a:t>refer </a:t>
            </a:r>
            <a:r>
              <a:rPr dirty="0" sz="1200">
                <a:latin typeface="Arial"/>
                <a:cs typeface="Arial"/>
              </a:rPr>
              <a:t>to </a:t>
            </a:r>
            <a:r>
              <a:rPr dirty="0" sz="1200" spc="-5">
                <a:latin typeface="Arial"/>
                <a:cs typeface="Arial"/>
              </a:rPr>
              <a:t>Ahlu-Bayt </a:t>
            </a:r>
            <a:r>
              <a:rPr dirty="0" sz="1200">
                <a:latin typeface="Arial"/>
                <a:cs typeface="Arial"/>
              </a:rPr>
              <a:t>for  </a:t>
            </a:r>
            <a:r>
              <a:rPr dirty="0" sz="1200" spc="-5">
                <a:latin typeface="Arial"/>
                <a:cs typeface="Arial"/>
              </a:rPr>
              <a:t>deriving </a:t>
            </a:r>
            <a:r>
              <a:rPr dirty="0" sz="1200">
                <a:latin typeface="Arial"/>
                <a:cs typeface="Arial"/>
              </a:rPr>
              <a:t>the </a:t>
            </a:r>
            <a:r>
              <a:rPr dirty="0" sz="1200" spc="-5">
                <a:latin typeface="Arial"/>
                <a:cs typeface="Arial"/>
              </a:rPr>
              <a:t>Sunnah of Prophet. They do this in conformity with </a:t>
            </a:r>
            <a:r>
              <a:rPr dirty="0" sz="1200">
                <a:latin typeface="Arial"/>
                <a:cs typeface="Arial"/>
              </a:rPr>
              <a:t>the </a:t>
            </a:r>
            <a:r>
              <a:rPr dirty="0" sz="1200" spc="-5">
                <a:latin typeface="Arial"/>
                <a:cs typeface="Arial"/>
              </a:rPr>
              <a:t>order of Prophet reported  in </a:t>
            </a:r>
            <a:r>
              <a:rPr dirty="0" sz="1200">
                <a:latin typeface="Arial"/>
                <a:cs typeface="Arial"/>
              </a:rPr>
              <a:t>the </a:t>
            </a:r>
            <a:r>
              <a:rPr dirty="0" sz="1200" spc="-5">
                <a:latin typeface="Arial"/>
                <a:cs typeface="Arial"/>
              </a:rPr>
              <a:t>authentic Sunni and Shi'i collections of </a:t>
            </a:r>
            <a:r>
              <a:rPr dirty="0" sz="1200">
                <a:latin typeface="Arial"/>
                <a:cs typeface="Arial"/>
              </a:rPr>
              <a:t>traditions </a:t>
            </a:r>
            <a:r>
              <a:rPr dirty="0" sz="1200" spc="-5">
                <a:latin typeface="Arial"/>
                <a:cs typeface="Arial"/>
              </a:rPr>
              <a:t>beside what </a:t>
            </a:r>
            <a:r>
              <a:rPr dirty="0" sz="1200">
                <a:latin typeface="Arial"/>
                <a:cs typeface="Arial"/>
              </a:rPr>
              <a:t>the </a:t>
            </a:r>
            <a:r>
              <a:rPr dirty="0" sz="1200" spc="-5">
                <a:latin typeface="Arial"/>
                <a:cs typeface="Arial"/>
              </a:rPr>
              <a:t>Quran attests </a:t>
            </a:r>
            <a:r>
              <a:rPr dirty="0" sz="1200">
                <a:latin typeface="Arial"/>
                <a:cs typeface="Arial"/>
              </a:rPr>
              <a:t>to </a:t>
            </a:r>
            <a:r>
              <a:rPr dirty="0" sz="1200" spc="-5">
                <a:latin typeface="Arial"/>
                <a:cs typeface="Arial"/>
              </a:rPr>
              <a:t>their  perfect</a:t>
            </a:r>
            <a:r>
              <a:rPr dirty="0" sz="1200" spc="-15">
                <a:latin typeface="Arial"/>
                <a:cs typeface="Arial"/>
              </a:rPr>
              <a:t> </a:t>
            </a:r>
            <a:r>
              <a:rPr dirty="0" sz="1200" spc="-5">
                <a:latin typeface="Arial"/>
                <a:cs typeface="Arial"/>
              </a:rPr>
              <a:t>purity.</a:t>
            </a:r>
            <a:endParaRPr sz="1200">
              <a:latin typeface="Arial"/>
              <a:cs typeface="Arial"/>
            </a:endParaRPr>
          </a:p>
          <a:p>
            <a:pPr>
              <a:lnSpc>
                <a:spcPct val="100000"/>
              </a:lnSpc>
              <a:spcBef>
                <a:spcPts val="20"/>
              </a:spcBef>
            </a:pPr>
            <a:endParaRPr sz="1150">
              <a:latin typeface="Arial"/>
              <a:cs typeface="Arial"/>
            </a:endParaRPr>
          </a:p>
          <a:p>
            <a:pPr algn="just" marL="12700" marR="5080">
              <a:lnSpc>
                <a:spcPct val="95900"/>
              </a:lnSpc>
            </a:pPr>
            <a:r>
              <a:rPr dirty="0" sz="1200" spc="-5">
                <a:latin typeface="Arial"/>
                <a:cs typeface="Arial"/>
              </a:rPr>
              <a:t>The disagreement about the caliphate should not be a source of division between </a:t>
            </a:r>
            <a:r>
              <a:rPr dirty="0" sz="1200">
                <a:latin typeface="Arial"/>
                <a:cs typeface="Arial"/>
              </a:rPr>
              <a:t>the </a:t>
            </a:r>
            <a:r>
              <a:rPr dirty="0" sz="1200" spc="-10">
                <a:latin typeface="Arial"/>
                <a:cs typeface="Arial"/>
              </a:rPr>
              <a:t>two  </a:t>
            </a:r>
            <a:r>
              <a:rPr dirty="0" sz="1200" spc="-5">
                <a:latin typeface="Arial"/>
                <a:cs typeface="Arial"/>
              </a:rPr>
              <a:t>schools. Muslims agree that </a:t>
            </a:r>
            <a:r>
              <a:rPr dirty="0" sz="1200">
                <a:latin typeface="Arial"/>
                <a:cs typeface="Arial"/>
              </a:rPr>
              <a:t>the </a:t>
            </a:r>
            <a:r>
              <a:rPr dirty="0" sz="1200" spc="-5">
                <a:latin typeface="Arial"/>
                <a:cs typeface="Arial"/>
              </a:rPr>
              <a:t>caliphate of Abu Bakr came through election by a </a:t>
            </a:r>
            <a:r>
              <a:rPr dirty="0" sz="1200" spc="-10">
                <a:latin typeface="Arial"/>
                <a:cs typeface="Arial"/>
              </a:rPr>
              <a:t>limited  </a:t>
            </a:r>
            <a:r>
              <a:rPr dirty="0" sz="1200" spc="-5">
                <a:latin typeface="Arial"/>
                <a:cs typeface="Arial"/>
              </a:rPr>
              <a:t>number of people and </a:t>
            </a:r>
            <a:r>
              <a:rPr dirty="0" sz="1200" spc="-10">
                <a:latin typeface="Arial"/>
                <a:cs typeface="Arial"/>
              </a:rPr>
              <a:t>was </a:t>
            </a:r>
            <a:r>
              <a:rPr dirty="0" sz="1200" spc="-5">
                <a:latin typeface="Arial"/>
                <a:cs typeface="Arial"/>
              </a:rPr>
              <a:t>a surprise </a:t>
            </a:r>
            <a:r>
              <a:rPr dirty="0" sz="1200">
                <a:latin typeface="Arial"/>
                <a:cs typeface="Arial"/>
              </a:rPr>
              <a:t>for </a:t>
            </a:r>
            <a:r>
              <a:rPr dirty="0" sz="1200" spc="-5">
                <a:latin typeface="Arial"/>
                <a:cs typeface="Arial"/>
              </a:rPr>
              <a:t>all </a:t>
            </a:r>
            <a:r>
              <a:rPr dirty="0" sz="1200">
                <a:latin typeface="Arial"/>
                <a:cs typeface="Arial"/>
              </a:rPr>
              <a:t>other </a:t>
            </a:r>
            <a:r>
              <a:rPr dirty="0" sz="1200" spc="-5">
                <a:latin typeface="Arial"/>
                <a:cs typeface="Arial"/>
              </a:rPr>
              <a:t>companions. </a:t>
            </a:r>
            <a:r>
              <a:rPr dirty="0" sz="1200">
                <a:latin typeface="Arial"/>
                <a:cs typeface="Arial"/>
              </a:rPr>
              <a:t>By </a:t>
            </a:r>
            <a:r>
              <a:rPr dirty="0" sz="1200" spc="-5">
                <a:latin typeface="Arial"/>
                <a:cs typeface="Arial"/>
              </a:rPr>
              <a:t>limited number, </a:t>
            </a:r>
            <a:r>
              <a:rPr dirty="0" sz="1200">
                <a:latin typeface="Arial"/>
                <a:cs typeface="Arial"/>
              </a:rPr>
              <a:t>I </a:t>
            </a:r>
            <a:r>
              <a:rPr dirty="0" sz="1200" spc="-10">
                <a:latin typeface="Arial"/>
                <a:cs typeface="Arial"/>
              </a:rPr>
              <a:t>mean,  </a:t>
            </a:r>
            <a:r>
              <a:rPr dirty="0" sz="1200">
                <a:latin typeface="Arial"/>
                <a:cs typeface="Arial"/>
              </a:rPr>
              <a:t>the </a:t>
            </a:r>
            <a:r>
              <a:rPr dirty="0" sz="1200" spc="-5">
                <a:latin typeface="Arial"/>
                <a:cs typeface="Arial"/>
              </a:rPr>
              <a:t>majority </a:t>
            </a:r>
            <a:r>
              <a:rPr dirty="0" sz="1200">
                <a:latin typeface="Arial"/>
                <a:cs typeface="Arial"/>
              </a:rPr>
              <a:t>of </a:t>
            </a:r>
            <a:r>
              <a:rPr dirty="0" sz="1200" spc="-5">
                <a:latin typeface="Arial"/>
                <a:cs typeface="Arial"/>
              </a:rPr>
              <a:t>the prominent companions of prophet had </a:t>
            </a:r>
            <a:r>
              <a:rPr dirty="0" sz="1200" spc="-10">
                <a:latin typeface="Arial"/>
                <a:cs typeface="Arial"/>
              </a:rPr>
              <a:t>no </a:t>
            </a:r>
            <a:r>
              <a:rPr dirty="0" sz="1200" spc="-5">
                <a:latin typeface="Arial"/>
                <a:cs typeface="Arial"/>
              </a:rPr>
              <a:t>knowledge of </a:t>
            </a:r>
            <a:r>
              <a:rPr dirty="0" sz="1200">
                <a:latin typeface="Arial"/>
                <a:cs typeface="Arial"/>
              </a:rPr>
              <a:t>this </a:t>
            </a:r>
            <a:r>
              <a:rPr dirty="0" sz="1200" spc="-5">
                <a:latin typeface="Arial"/>
                <a:cs typeface="Arial"/>
              </a:rPr>
              <a:t>election. </a:t>
            </a:r>
            <a:r>
              <a:rPr dirty="0" sz="1200" spc="-10">
                <a:latin typeface="Arial"/>
                <a:cs typeface="Arial"/>
              </a:rPr>
              <a:t>Ali,  </a:t>
            </a:r>
            <a:r>
              <a:rPr dirty="0" sz="1200">
                <a:latin typeface="Arial"/>
                <a:cs typeface="Arial"/>
              </a:rPr>
              <a:t>Ibn </a:t>
            </a:r>
            <a:r>
              <a:rPr dirty="0" sz="1200" spc="-5">
                <a:latin typeface="Arial"/>
                <a:cs typeface="Arial"/>
              </a:rPr>
              <a:t>Abbas, Uthman, Talha, Zubair, Sa'd Ibn </a:t>
            </a:r>
            <a:r>
              <a:rPr dirty="0" sz="1200" spc="5">
                <a:latin typeface="Arial"/>
                <a:cs typeface="Arial"/>
              </a:rPr>
              <a:t>Abi </a:t>
            </a:r>
            <a:r>
              <a:rPr dirty="0" sz="1200">
                <a:latin typeface="Arial"/>
                <a:cs typeface="Arial"/>
              </a:rPr>
              <a:t>Waqqas, </a:t>
            </a:r>
            <a:r>
              <a:rPr dirty="0" sz="1200" spc="-5">
                <a:latin typeface="Arial"/>
                <a:cs typeface="Arial"/>
              </a:rPr>
              <a:t>Salman al-Farsi, Abu Dhar, Ammar  </a:t>
            </a:r>
            <a:r>
              <a:rPr dirty="0" sz="1200">
                <a:latin typeface="Arial"/>
                <a:cs typeface="Arial"/>
              </a:rPr>
              <a:t>Ibn </a:t>
            </a:r>
            <a:r>
              <a:rPr dirty="0" sz="1200" spc="-5">
                <a:latin typeface="Arial"/>
                <a:cs typeface="Arial"/>
              </a:rPr>
              <a:t>Yasir, Miqdad, Abdurrahman </a:t>
            </a:r>
            <a:r>
              <a:rPr dirty="0" sz="1200">
                <a:latin typeface="Arial"/>
                <a:cs typeface="Arial"/>
              </a:rPr>
              <a:t>Ibn </a:t>
            </a:r>
            <a:r>
              <a:rPr dirty="0" sz="1200" spc="-5">
                <a:latin typeface="Arial"/>
                <a:cs typeface="Arial"/>
              </a:rPr>
              <a:t>Owf were among those </a:t>
            </a:r>
            <a:r>
              <a:rPr dirty="0" sz="1200" spc="-10">
                <a:latin typeface="Arial"/>
                <a:cs typeface="Arial"/>
              </a:rPr>
              <a:t>who </a:t>
            </a:r>
            <a:r>
              <a:rPr dirty="0" sz="1200" spc="-5">
                <a:latin typeface="Arial"/>
                <a:cs typeface="Arial"/>
              </a:rPr>
              <a:t>were not consulted nor  even informed of. Even Umar confessed </a:t>
            </a:r>
            <a:r>
              <a:rPr dirty="0" sz="1200">
                <a:latin typeface="Arial"/>
                <a:cs typeface="Arial"/>
              </a:rPr>
              <a:t>to </a:t>
            </a:r>
            <a:r>
              <a:rPr dirty="0" sz="1200" spc="-5">
                <a:latin typeface="Arial"/>
                <a:cs typeface="Arial"/>
              </a:rPr>
              <a:t>the </a:t>
            </a:r>
            <a:r>
              <a:rPr dirty="0" sz="1200">
                <a:latin typeface="Arial"/>
                <a:cs typeface="Arial"/>
              </a:rPr>
              <a:t>fact </a:t>
            </a:r>
            <a:r>
              <a:rPr dirty="0" sz="1200" spc="-5">
                <a:latin typeface="Arial"/>
                <a:cs typeface="Arial"/>
              </a:rPr>
              <a:t>that </a:t>
            </a:r>
            <a:r>
              <a:rPr dirty="0" sz="1200">
                <a:latin typeface="Arial"/>
                <a:cs typeface="Arial"/>
              </a:rPr>
              <a:t>the </a:t>
            </a:r>
            <a:r>
              <a:rPr dirty="0" sz="1200" spc="-5">
                <a:latin typeface="Arial"/>
                <a:cs typeface="Arial"/>
              </a:rPr>
              <a:t>election of Abu </a:t>
            </a:r>
            <a:r>
              <a:rPr dirty="0" sz="1200">
                <a:latin typeface="Arial"/>
                <a:cs typeface="Arial"/>
              </a:rPr>
              <a:t>Bakr </a:t>
            </a:r>
            <a:r>
              <a:rPr dirty="0" sz="1200" spc="-10">
                <a:latin typeface="Arial"/>
                <a:cs typeface="Arial"/>
              </a:rPr>
              <a:t>was </a:t>
            </a:r>
            <a:r>
              <a:rPr dirty="0" sz="1200" spc="-5">
                <a:latin typeface="Arial"/>
                <a:cs typeface="Arial"/>
              </a:rPr>
              <a:t>without  consultation of Muslims. </a:t>
            </a:r>
            <a:r>
              <a:rPr dirty="0" sz="1200">
                <a:latin typeface="Arial"/>
                <a:cs typeface="Arial"/>
              </a:rPr>
              <a:t>(See </a:t>
            </a:r>
            <a:r>
              <a:rPr dirty="0" sz="1200" spc="-5">
                <a:latin typeface="Arial"/>
                <a:cs typeface="Arial"/>
              </a:rPr>
              <a:t>sahih al-Bukhari, Arabic-English, Tradition</a:t>
            </a:r>
            <a:r>
              <a:rPr dirty="0" sz="1200" spc="50">
                <a:latin typeface="Arial"/>
                <a:cs typeface="Arial"/>
              </a:rPr>
              <a:t> </a:t>
            </a:r>
            <a:r>
              <a:rPr dirty="0" sz="1200" spc="-5">
                <a:latin typeface="Arial"/>
                <a:cs typeface="Arial"/>
              </a:rPr>
              <a:t>8.817)</a:t>
            </a:r>
            <a:endParaRPr sz="1200">
              <a:latin typeface="Arial"/>
              <a:cs typeface="Arial"/>
            </a:endParaRPr>
          </a:p>
          <a:p>
            <a:pPr>
              <a:lnSpc>
                <a:spcPct val="100000"/>
              </a:lnSpc>
              <a:spcBef>
                <a:spcPts val="35"/>
              </a:spcBef>
            </a:pPr>
            <a:endParaRPr sz="1200">
              <a:latin typeface="Arial"/>
              <a:cs typeface="Arial"/>
            </a:endParaRPr>
          </a:p>
          <a:p>
            <a:pPr algn="just" marL="12700" marR="7620">
              <a:lnSpc>
                <a:spcPts val="1380"/>
              </a:lnSpc>
              <a:spcBef>
                <a:spcPts val="5"/>
              </a:spcBef>
            </a:pPr>
            <a:r>
              <a:rPr dirty="0" sz="1200">
                <a:latin typeface="Arial"/>
                <a:cs typeface="Arial"/>
              </a:rPr>
              <a:t>On </a:t>
            </a:r>
            <a:r>
              <a:rPr dirty="0" sz="1200" spc="-5">
                <a:latin typeface="Arial"/>
                <a:cs typeface="Arial"/>
              </a:rPr>
              <a:t>the other hand, election implies choice </a:t>
            </a:r>
            <a:r>
              <a:rPr dirty="0" sz="1200" spc="-10">
                <a:latin typeface="Arial"/>
                <a:cs typeface="Arial"/>
              </a:rPr>
              <a:t>and </a:t>
            </a:r>
            <a:r>
              <a:rPr dirty="0" sz="1200" spc="-5">
                <a:latin typeface="Arial"/>
                <a:cs typeface="Arial"/>
              </a:rPr>
              <a:t>freedom, and that every Muslim has the right  </a:t>
            </a:r>
            <a:r>
              <a:rPr dirty="0" sz="1200">
                <a:latin typeface="Arial"/>
                <a:cs typeface="Arial"/>
              </a:rPr>
              <a:t>to </a:t>
            </a:r>
            <a:r>
              <a:rPr dirty="0" sz="1200" spc="-5">
                <a:latin typeface="Arial"/>
                <a:cs typeface="Arial"/>
              </a:rPr>
              <a:t>elect the nominee. Whoever refuses to elect </a:t>
            </a:r>
            <a:r>
              <a:rPr dirty="0" sz="1200" spc="-10">
                <a:latin typeface="Arial"/>
                <a:cs typeface="Arial"/>
              </a:rPr>
              <a:t>him </a:t>
            </a:r>
            <a:r>
              <a:rPr dirty="0" sz="1200" spc="-5">
                <a:latin typeface="Arial"/>
                <a:cs typeface="Arial"/>
              </a:rPr>
              <a:t>does not oppose God or His Messenger  because neither God nor His </a:t>
            </a:r>
            <a:r>
              <a:rPr dirty="0" sz="1200">
                <a:latin typeface="Arial"/>
                <a:cs typeface="Arial"/>
              </a:rPr>
              <a:t>Messenger </a:t>
            </a:r>
            <a:r>
              <a:rPr dirty="0" sz="1200" spc="-5">
                <a:latin typeface="Arial"/>
                <a:cs typeface="Arial"/>
              </a:rPr>
              <a:t>appointed the nominated person </a:t>
            </a:r>
            <a:r>
              <a:rPr dirty="0" sz="1200">
                <a:latin typeface="Arial"/>
                <a:cs typeface="Arial"/>
              </a:rPr>
              <a:t>by</a:t>
            </a:r>
            <a:r>
              <a:rPr dirty="0" sz="1200" spc="55">
                <a:latin typeface="Arial"/>
                <a:cs typeface="Arial"/>
              </a:rPr>
              <a:t> </a:t>
            </a:r>
            <a:r>
              <a:rPr dirty="0" sz="1200" spc="-5">
                <a:latin typeface="Arial"/>
                <a:cs typeface="Arial"/>
              </a:rPr>
              <a:t>people.</a:t>
            </a:r>
            <a:endParaRPr sz="1200">
              <a:latin typeface="Arial"/>
              <a:cs typeface="Arial"/>
            </a:endParaRPr>
          </a:p>
          <a:p>
            <a:pPr>
              <a:lnSpc>
                <a:spcPct val="100000"/>
              </a:lnSpc>
              <a:spcBef>
                <a:spcPts val="15"/>
              </a:spcBef>
            </a:pPr>
            <a:endParaRPr sz="1150">
              <a:latin typeface="Arial"/>
              <a:cs typeface="Arial"/>
            </a:endParaRPr>
          </a:p>
          <a:p>
            <a:pPr algn="just" marL="12700" marR="7620">
              <a:lnSpc>
                <a:spcPct val="95900"/>
              </a:lnSpc>
              <a:spcBef>
                <a:spcPts val="5"/>
              </a:spcBef>
            </a:pPr>
            <a:r>
              <a:rPr dirty="0" sz="1200">
                <a:latin typeface="Arial"/>
                <a:cs typeface="Arial"/>
              </a:rPr>
              <a:t>Election, </a:t>
            </a:r>
            <a:r>
              <a:rPr dirty="0" sz="1200" spc="-5">
                <a:latin typeface="Arial"/>
                <a:cs typeface="Arial"/>
              </a:rPr>
              <a:t>by </a:t>
            </a:r>
            <a:r>
              <a:rPr dirty="0" sz="1200">
                <a:latin typeface="Arial"/>
                <a:cs typeface="Arial"/>
              </a:rPr>
              <a:t>its </a:t>
            </a:r>
            <a:r>
              <a:rPr dirty="0" sz="1200" spc="-5">
                <a:latin typeface="Arial"/>
                <a:cs typeface="Arial"/>
              </a:rPr>
              <a:t>nature, does not compel any Muslim </a:t>
            </a:r>
            <a:r>
              <a:rPr dirty="0" sz="1200">
                <a:latin typeface="Arial"/>
                <a:cs typeface="Arial"/>
              </a:rPr>
              <a:t>to </a:t>
            </a:r>
            <a:r>
              <a:rPr dirty="0" sz="1200" spc="-5">
                <a:latin typeface="Arial"/>
                <a:cs typeface="Arial"/>
              </a:rPr>
              <a:t>elect a specific nominee. Otherwise,  </a:t>
            </a:r>
            <a:r>
              <a:rPr dirty="0" sz="1200">
                <a:latin typeface="Arial"/>
                <a:cs typeface="Arial"/>
              </a:rPr>
              <a:t>the </a:t>
            </a:r>
            <a:r>
              <a:rPr dirty="0" sz="1200" spc="-5">
                <a:latin typeface="Arial"/>
                <a:cs typeface="Arial"/>
              </a:rPr>
              <a:t>election would </a:t>
            </a:r>
            <a:r>
              <a:rPr dirty="0" sz="1200" spc="-10">
                <a:latin typeface="Arial"/>
                <a:cs typeface="Arial"/>
              </a:rPr>
              <a:t>be </a:t>
            </a:r>
            <a:r>
              <a:rPr dirty="0" sz="1200" spc="-5">
                <a:latin typeface="Arial"/>
                <a:cs typeface="Arial"/>
              </a:rPr>
              <a:t>coercion. </a:t>
            </a:r>
            <a:r>
              <a:rPr dirty="0" sz="1200">
                <a:latin typeface="Arial"/>
                <a:cs typeface="Arial"/>
              </a:rPr>
              <a:t>This </a:t>
            </a:r>
            <a:r>
              <a:rPr dirty="0" sz="1200" spc="-5">
                <a:latin typeface="Arial"/>
                <a:cs typeface="Arial"/>
              </a:rPr>
              <a:t>means that the election would lose </a:t>
            </a:r>
            <a:r>
              <a:rPr dirty="0" sz="1200">
                <a:latin typeface="Arial"/>
                <a:cs typeface="Arial"/>
              </a:rPr>
              <a:t>its </a:t>
            </a:r>
            <a:r>
              <a:rPr dirty="0" sz="1200" spc="-10">
                <a:latin typeface="Arial"/>
                <a:cs typeface="Arial"/>
              </a:rPr>
              <a:t>own </a:t>
            </a:r>
            <a:r>
              <a:rPr dirty="0" sz="1200" spc="-5">
                <a:latin typeface="Arial"/>
                <a:cs typeface="Arial"/>
              </a:rPr>
              <a:t>nature and </a:t>
            </a:r>
            <a:r>
              <a:rPr dirty="0" sz="1200">
                <a:latin typeface="Arial"/>
                <a:cs typeface="Arial"/>
              </a:rPr>
              <a:t>it  </a:t>
            </a:r>
            <a:r>
              <a:rPr dirty="0" sz="1200" spc="-5">
                <a:latin typeface="Arial"/>
                <a:cs typeface="Arial"/>
              </a:rPr>
              <a:t>would be a </a:t>
            </a:r>
            <a:r>
              <a:rPr dirty="0" sz="1200">
                <a:latin typeface="Arial"/>
                <a:cs typeface="Arial"/>
              </a:rPr>
              <a:t>dictatorial </a:t>
            </a:r>
            <a:r>
              <a:rPr dirty="0" sz="1200" spc="-5">
                <a:latin typeface="Arial"/>
                <a:cs typeface="Arial"/>
              </a:rPr>
              <a:t>operation. </a:t>
            </a:r>
            <a:r>
              <a:rPr dirty="0" sz="1200">
                <a:latin typeface="Arial"/>
                <a:cs typeface="Arial"/>
              </a:rPr>
              <a:t>It </a:t>
            </a:r>
            <a:r>
              <a:rPr dirty="0" sz="1200" spc="-5">
                <a:latin typeface="Arial"/>
                <a:cs typeface="Arial"/>
              </a:rPr>
              <a:t>is well known </a:t>
            </a:r>
            <a:r>
              <a:rPr dirty="0" sz="1200">
                <a:latin typeface="Arial"/>
                <a:cs typeface="Arial"/>
              </a:rPr>
              <a:t>that the </a:t>
            </a:r>
            <a:r>
              <a:rPr dirty="0" sz="1200" spc="-5">
                <a:latin typeface="Arial"/>
                <a:cs typeface="Arial"/>
              </a:rPr>
              <a:t>Prophet said: "There is no validity  </a:t>
            </a:r>
            <a:r>
              <a:rPr dirty="0" sz="1200">
                <a:latin typeface="Arial"/>
                <a:cs typeface="Arial"/>
              </a:rPr>
              <a:t>for any </a:t>
            </a:r>
            <a:r>
              <a:rPr dirty="0" sz="1200" spc="-5">
                <a:latin typeface="Arial"/>
                <a:cs typeface="Arial"/>
              </a:rPr>
              <a:t>allegiance given </a:t>
            </a:r>
            <a:r>
              <a:rPr dirty="0" sz="1200">
                <a:latin typeface="Arial"/>
                <a:cs typeface="Arial"/>
              </a:rPr>
              <a:t>by</a:t>
            </a:r>
            <a:r>
              <a:rPr dirty="0" sz="1200" spc="-15">
                <a:latin typeface="Arial"/>
                <a:cs typeface="Arial"/>
              </a:rPr>
              <a:t> </a:t>
            </a:r>
            <a:r>
              <a:rPr dirty="0" sz="1200" spc="-5">
                <a:latin typeface="Arial"/>
                <a:cs typeface="Arial"/>
              </a:rPr>
              <a:t>force."</a:t>
            </a:r>
            <a:endParaRPr sz="1200">
              <a:latin typeface="Arial"/>
              <a:cs typeface="Arial"/>
            </a:endParaRPr>
          </a:p>
          <a:p>
            <a:pPr>
              <a:lnSpc>
                <a:spcPct val="100000"/>
              </a:lnSpc>
            </a:pPr>
            <a:endParaRPr sz="1200">
              <a:latin typeface="Arial"/>
              <a:cs typeface="Arial"/>
            </a:endParaRPr>
          </a:p>
          <a:p>
            <a:pPr algn="just" marL="12700" marR="6350">
              <a:lnSpc>
                <a:spcPct val="95700"/>
              </a:lnSpc>
            </a:pPr>
            <a:r>
              <a:rPr dirty="0" sz="1200" spc="-5">
                <a:latin typeface="Arial"/>
                <a:cs typeface="Arial"/>
              </a:rPr>
              <a:t>Imam Ali refused </a:t>
            </a:r>
            <a:r>
              <a:rPr dirty="0" sz="1200">
                <a:latin typeface="Arial"/>
                <a:cs typeface="Arial"/>
              </a:rPr>
              <a:t>to </a:t>
            </a:r>
            <a:r>
              <a:rPr dirty="0" sz="1200" spc="-5">
                <a:latin typeface="Arial"/>
                <a:cs typeface="Arial"/>
              </a:rPr>
              <a:t>give his allegiance to Abu </a:t>
            </a:r>
            <a:r>
              <a:rPr dirty="0" sz="1200">
                <a:latin typeface="Arial"/>
                <a:cs typeface="Arial"/>
              </a:rPr>
              <a:t>Bakr for </a:t>
            </a:r>
            <a:r>
              <a:rPr dirty="0" sz="1200" spc="-5">
                <a:latin typeface="Arial"/>
                <a:cs typeface="Arial"/>
              </a:rPr>
              <a:t>six months. He </a:t>
            </a:r>
            <a:r>
              <a:rPr dirty="0" sz="1200" spc="-10">
                <a:latin typeface="Arial"/>
                <a:cs typeface="Arial"/>
              </a:rPr>
              <a:t>gave </a:t>
            </a:r>
            <a:r>
              <a:rPr dirty="0" sz="1200" spc="-5">
                <a:latin typeface="Arial"/>
                <a:cs typeface="Arial"/>
              </a:rPr>
              <a:t>his allegiance to  Abu Bakr only </a:t>
            </a:r>
            <a:r>
              <a:rPr dirty="0" sz="1200">
                <a:latin typeface="Arial"/>
                <a:cs typeface="Arial"/>
              </a:rPr>
              <a:t>after </a:t>
            </a:r>
            <a:r>
              <a:rPr dirty="0" sz="1200" spc="-5">
                <a:latin typeface="Arial"/>
                <a:cs typeface="Arial"/>
              </a:rPr>
              <a:t>the martyrdom of his wife Fatimah al-Zahra, Daughter of the Holy  Prophet, six </a:t>
            </a:r>
            <a:r>
              <a:rPr dirty="0" sz="1200">
                <a:latin typeface="Arial"/>
                <a:cs typeface="Arial"/>
              </a:rPr>
              <a:t>months </a:t>
            </a:r>
            <a:r>
              <a:rPr dirty="0" sz="1200" spc="-5">
                <a:latin typeface="Arial"/>
                <a:cs typeface="Arial"/>
              </a:rPr>
              <a:t>after </a:t>
            </a:r>
            <a:r>
              <a:rPr dirty="0" sz="1200">
                <a:latin typeface="Arial"/>
                <a:cs typeface="Arial"/>
              </a:rPr>
              <a:t>the </a:t>
            </a:r>
            <a:r>
              <a:rPr dirty="0" sz="1200" spc="-5">
                <a:latin typeface="Arial"/>
                <a:cs typeface="Arial"/>
              </a:rPr>
              <a:t>departure of Prophet. </a:t>
            </a:r>
            <a:r>
              <a:rPr dirty="0" sz="1200">
                <a:latin typeface="Arial"/>
                <a:cs typeface="Arial"/>
              </a:rPr>
              <a:t>(See </a:t>
            </a:r>
            <a:r>
              <a:rPr dirty="0" sz="1200" spc="-5">
                <a:latin typeface="Arial"/>
                <a:cs typeface="Arial"/>
              </a:rPr>
              <a:t>Sahih al-Bukhari, Arabic-English  version, Tradition 5.546). If refusal </a:t>
            </a:r>
            <a:r>
              <a:rPr dirty="0" sz="1200">
                <a:latin typeface="Arial"/>
                <a:cs typeface="Arial"/>
              </a:rPr>
              <a:t>to </a:t>
            </a:r>
            <a:r>
              <a:rPr dirty="0" sz="1200" spc="-10">
                <a:latin typeface="Arial"/>
                <a:cs typeface="Arial"/>
              </a:rPr>
              <a:t>give </a:t>
            </a:r>
            <a:r>
              <a:rPr dirty="0" sz="1200" spc="-5">
                <a:latin typeface="Arial"/>
                <a:cs typeface="Arial"/>
              </a:rPr>
              <a:t>allegiance </a:t>
            </a:r>
            <a:r>
              <a:rPr dirty="0" sz="1200">
                <a:latin typeface="Arial"/>
                <a:cs typeface="Arial"/>
              </a:rPr>
              <a:t>to </a:t>
            </a:r>
            <a:r>
              <a:rPr dirty="0" sz="1200" spc="-5">
                <a:latin typeface="Arial"/>
                <a:cs typeface="Arial"/>
              </a:rPr>
              <a:t>an elected nominee </a:t>
            </a:r>
            <a:r>
              <a:rPr dirty="0" sz="1200" spc="-10">
                <a:latin typeface="Arial"/>
                <a:cs typeface="Arial"/>
              </a:rPr>
              <a:t>was </a:t>
            </a:r>
            <a:r>
              <a:rPr dirty="0" sz="1200" spc="-5">
                <a:latin typeface="Arial"/>
                <a:cs typeface="Arial"/>
              </a:rPr>
              <a:t>prohibited </a:t>
            </a:r>
            <a:r>
              <a:rPr dirty="0" sz="1200" spc="-10">
                <a:latin typeface="Arial"/>
                <a:cs typeface="Arial"/>
              </a:rPr>
              <a:t>in  </a:t>
            </a:r>
            <a:r>
              <a:rPr dirty="0" sz="1200">
                <a:latin typeface="Arial"/>
                <a:cs typeface="Arial"/>
              </a:rPr>
              <a:t>Islam, </a:t>
            </a:r>
            <a:r>
              <a:rPr dirty="0" sz="1200" spc="-5">
                <a:latin typeface="Arial"/>
                <a:cs typeface="Arial"/>
              </a:rPr>
              <a:t>Imam Ali would not </a:t>
            </a:r>
            <a:r>
              <a:rPr dirty="0" sz="1200">
                <a:latin typeface="Arial"/>
                <a:cs typeface="Arial"/>
              </a:rPr>
              <a:t>have </a:t>
            </a:r>
            <a:r>
              <a:rPr dirty="0" sz="1200" spc="-5">
                <a:latin typeface="Arial"/>
                <a:cs typeface="Arial"/>
              </a:rPr>
              <a:t>allowed himself </a:t>
            </a:r>
            <a:r>
              <a:rPr dirty="0" sz="1200">
                <a:latin typeface="Arial"/>
                <a:cs typeface="Arial"/>
              </a:rPr>
              <a:t>to </a:t>
            </a:r>
            <a:r>
              <a:rPr dirty="0" sz="1200" spc="-5">
                <a:latin typeface="Arial"/>
                <a:cs typeface="Arial"/>
              </a:rPr>
              <a:t>delay in giving </a:t>
            </a:r>
            <a:r>
              <a:rPr dirty="0" sz="1200">
                <a:latin typeface="Arial"/>
                <a:cs typeface="Arial"/>
              </a:rPr>
              <a:t>his </a:t>
            </a:r>
            <a:r>
              <a:rPr dirty="0" sz="1200" spc="-5">
                <a:latin typeface="Arial"/>
                <a:cs typeface="Arial"/>
              </a:rPr>
              <a:t>allegiance. </a:t>
            </a:r>
            <a:r>
              <a:rPr dirty="0" sz="1200">
                <a:latin typeface="Arial"/>
                <a:cs typeface="Arial"/>
              </a:rPr>
              <a:t>In </a:t>
            </a:r>
            <a:r>
              <a:rPr dirty="0" sz="1200" spc="-5">
                <a:latin typeface="Arial"/>
                <a:cs typeface="Arial"/>
              </a:rPr>
              <a:t>the </a:t>
            </a:r>
            <a:r>
              <a:rPr dirty="0" sz="1200" spc="-10">
                <a:latin typeface="Arial"/>
                <a:cs typeface="Arial"/>
              </a:rPr>
              <a:t>same  </a:t>
            </a:r>
            <a:r>
              <a:rPr dirty="0" sz="1200">
                <a:latin typeface="Arial"/>
                <a:cs typeface="Arial"/>
              </a:rPr>
              <a:t>tradition </a:t>
            </a:r>
            <a:r>
              <a:rPr dirty="0" sz="1200" spc="-10">
                <a:latin typeface="Arial"/>
                <a:cs typeface="Arial"/>
              </a:rPr>
              <a:t>in </a:t>
            </a:r>
            <a:r>
              <a:rPr dirty="0" sz="1200" spc="-5">
                <a:latin typeface="Arial"/>
                <a:cs typeface="Arial"/>
              </a:rPr>
              <a:t>Sahih al-Bukhari, Imam Ali (ra) said that he had some rights in Caliphate which  </a:t>
            </a:r>
            <a:r>
              <a:rPr dirty="0" sz="1200" spc="-10">
                <a:latin typeface="Arial"/>
                <a:cs typeface="Arial"/>
              </a:rPr>
              <a:t>was </a:t>
            </a:r>
            <a:r>
              <a:rPr dirty="0" sz="1200" spc="-5">
                <a:latin typeface="Arial"/>
                <a:cs typeface="Arial"/>
              </a:rPr>
              <a:t>not honoured, and he complained </a:t>
            </a:r>
            <a:r>
              <a:rPr dirty="0" sz="1200" spc="-10">
                <a:latin typeface="Arial"/>
                <a:cs typeface="Arial"/>
              </a:rPr>
              <a:t>why </a:t>
            </a:r>
            <a:r>
              <a:rPr dirty="0" sz="1200" spc="-5">
                <a:latin typeface="Arial"/>
                <a:cs typeface="Arial"/>
              </a:rPr>
              <a:t>Abu </a:t>
            </a:r>
            <a:r>
              <a:rPr dirty="0" sz="1200">
                <a:latin typeface="Arial"/>
                <a:cs typeface="Arial"/>
              </a:rPr>
              <a:t>Bakr </a:t>
            </a:r>
            <a:r>
              <a:rPr dirty="0" sz="1200" spc="-5">
                <a:latin typeface="Arial"/>
                <a:cs typeface="Arial"/>
              </a:rPr>
              <a:t>should </a:t>
            </a:r>
            <a:r>
              <a:rPr dirty="0" sz="1200" spc="-10">
                <a:latin typeface="Arial"/>
                <a:cs typeface="Arial"/>
              </a:rPr>
              <a:t>have </a:t>
            </a:r>
            <a:r>
              <a:rPr dirty="0" sz="1200" spc="-5">
                <a:latin typeface="Arial"/>
                <a:cs typeface="Arial"/>
              </a:rPr>
              <a:t>not consulted him in  deciding upon the ruler. He later </a:t>
            </a:r>
            <a:r>
              <a:rPr dirty="0" sz="1200" spc="-10">
                <a:latin typeface="Arial"/>
                <a:cs typeface="Arial"/>
              </a:rPr>
              <a:t>gave </a:t>
            </a:r>
            <a:r>
              <a:rPr dirty="0" sz="1200">
                <a:latin typeface="Arial"/>
                <a:cs typeface="Arial"/>
              </a:rPr>
              <a:t>his </a:t>
            </a:r>
            <a:r>
              <a:rPr dirty="0" sz="1200" spc="-5">
                <a:latin typeface="Arial"/>
                <a:cs typeface="Arial"/>
              </a:rPr>
              <a:t>allegiance when </a:t>
            </a:r>
            <a:r>
              <a:rPr dirty="0" sz="1200">
                <a:latin typeface="Arial"/>
                <a:cs typeface="Arial"/>
              </a:rPr>
              <a:t>he </a:t>
            </a:r>
            <a:r>
              <a:rPr dirty="0" sz="1200" spc="-5">
                <a:latin typeface="Arial"/>
                <a:cs typeface="Arial"/>
              </a:rPr>
              <a:t>found </a:t>
            </a:r>
            <a:r>
              <a:rPr dirty="0" sz="1200">
                <a:latin typeface="Arial"/>
                <a:cs typeface="Arial"/>
              </a:rPr>
              <a:t>that </a:t>
            </a:r>
            <a:r>
              <a:rPr dirty="0" sz="1200" spc="-5">
                <a:latin typeface="Arial"/>
                <a:cs typeface="Arial"/>
              </a:rPr>
              <a:t>the </a:t>
            </a:r>
            <a:r>
              <a:rPr dirty="0" sz="1200">
                <a:latin typeface="Arial"/>
                <a:cs typeface="Arial"/>
              </a:rPr>
              <a:t>only </a:t>
            </a:r>
            <a:r>
              <a:rPr dirty="0" sz="1200" spc="-10">
                <a:latin typeface="Arial"/>
                <a:cs typeface="Arial"/>
              </a:rPr>
              <a:t>way </a:t>
            </a:r>
            <a:r>
              <a:rPr dirty="0" sz="1200">
                <a:latin typeface="Arial"/>
                <a:cs typeface="Arial"/>
              </a:rPr>
              <a:t>to </a:t>
            </a:r>
            <a:r>
              <a:rPr dirty="0" sz="1200" spc="-5">
                <a:latin typeface="Arial"/>
                <a:cs typeface="Arial"/>
              </a:rPr>
              <a:t>save  Islam is </a:t>
            </a:r>
            <a:r>
              <a:rPr dirty="0" sz="1200">
                <a:latin typeface="Arial"/>
                <a:cs typeface="Arial"/>
              </a:rPr>
              <a:t>to </a:t>
            </a:r>
            <a:r>
              <a:rPr dirty="0" sz="1200" spc="-5">
                <a:latin typeface="Arial"/>
                <a:cs typeface="Arial"/>
              </a:rPr>
              <a:t>leave the isolation which occurred due </a:t>
            </a:r>
            <a:r>
              <a:rPr dirty="0" sz="1200">
                <a:latin typeface="Arial"/>
                <a:cs typeface="Arial"/>
              </a:rPr>
              <a:t>to </a:t>
            </a:r>
            <a:r>
              <a:rPr dirty="0" sz="1200" spc="-5">
                <a:latin typeface="Arial"/>
                <a:cs typeface="Arial"/>
              </a:rPr>
              <a:t>his refusal of giving </a:t>
            </a:r>
            <a:r>
              <a:rPr dirty="0" sz="1200">
                <a:latin typeface="Arial"/>
                <a:cs typeface="Arial"/>
              </a:rPr>
              <a:t>the </a:t>
            </a:r>
            <a:r>
              <a:rPr dirty="0" sz="1200" spc="-5">
                <a:latin typeface="Arial"/>
                <a:cs typeface="Arial"/>
              </a:rPr>
              <a:t>oath </a:t>
            </a:r>
            <a:r>
              <a:rPr dirty="0" sz="1200">
                <a:latin typeface="Arial"/>
                <a:cs typeface="Arial"/>
              </a:rPr>
              <a:t>of  </a:t>
            </a:r>
            <a:r>
              <a:rPr dirty="0" sz="1200" spc="-5">
                <a:latin typeface="Arial"/>
                <a:cs typeface="Arial"/>
              </a:rPr>
              <a:t>allegiance.</a:t>
            </a:r>
            <a:endParaRPr sz="1200">
              <a:latin typeface="Arial"/>
              <a:cs typeface="Arial"/>
            </a:endParaRPr>
          </a:p>
          <a:p>
            <a:pPr>
              <a:lnSpc>
                <a:spcPct val="100000"/>
              </a:lnSpc>
              <a:spcBef>
                <a:spcPts val="40"/>
              </a:spcBef>
            </a:pPr>
            <a:endParaRPr sz="1200">
              <a:latin typeface="Arial"/>
              <a:cs typeface="Arial"/>
            </a:endParaRPr>
          </a:p>
          <a:p>
            <a:pPr algn="just" marL="12700" marR="5715">
              <a:lnSpc>
                <a:spcPts val="1380"/>
              </a:lnSpc>
            </a:pPr>
            <a:r>
              <a:rPr dirty="0" sz="1200" spc="-5">
                <a:latin typeface="Arial"/>
                <a:cs typeface="Arial"/>
              </a:rPr>
              <a:t>The Shia </a:t>
            </a:r>
            <a:r>
              <a:rPr dirty="0" sz="1200" spc="-10">
                <a:latin typeface="Arial"/>
                <a:cs typeface="Arial"/>
              </a:rPr>
              <a:t>say </a:t>
            </a:r>
            <a:r>
              <a:rPr dirty="0" sz="1200">
                <a:latin typeface="Arial"/>
                <a:cs typeface="Arial"/>
              </a:rPr>
              <a:t>that </a:t>
            </a:r>
            <a:r>
              <a:rPr dirty="0" sz="1200" spc="-5">
                <a:latin typeface="Arial"/>
                <a:cs typeface="Arial"/>
              </a:rPr>
              <a:t>Imam </a:t>
            </a:r>
            <a:r>
              <a:rPr dirty="0" sz="1200">
                <a:latin typeface="Arial"/>
                <a:cs typeface="Arial"/>
              </a:rPr>
              <a:t>must </a:t>
            </a:r>
            <a:r>
              <a:rPr dirty="0" sz="1200" spc="-10">
                <a:latin typeface="Arial"/>
                <a:cs typeface="Arial"/>
              </a:rPr>
              <a:t>be </a:t>
            </a:r>
            <a:r>
              <a:rPr dirty="0" sz="1200" spc="-5">
                <a:latin typeface="Arial"/>
                <a:cs typeface="Arial"/>
              </a:rPr>
              <a:t>appointed by </a:t>
            </a:r>
            <a:r>
              <a:rPr dirty="0" sz="1200">
                <a:latin typeface="Arial"/>
                <a:cs typeface="Arial"/>
              </a:rPr>
              <a:t>God; </a:t>
            </a:r>
            <a:r>
              <a:rPr dirty="0" sz="1200" spc="-5">
                <a:latin typeface="Arial"/>
                <a:cs typeface="Arial"/>
              </a:rPr>
              <a:t>that appointment </a:t>
            </a:r>
            <a:r>
              <a:rPr dirty="0" sz="1200">
                <a:latin typeface="Arial"/>
                <a:cs typeface="Arial"/>
              </a:rPr>
              <a:t>may </a:t>
            </a:r>
            <a:r>
              <a:rPr dirty="0" sz="1200" spc="-10">
                <a:latin typeface="Arial"/>
                <a:cs typeface="Arial"/>
              </a:rPr>
              <a:t>be known </a:t>
            </a:r>
            <a:r>
              <a:rPr dirty="0" sz="1200" spc="-5">
                <a:latin typeface="Arial"/>
                <a:cs typeface="Arial"/>
              </a:rPr>
              <a:t>through  </a:t>
            </a:r>
            <a:r>
              <a:rPr dirty="0" sz="1200">
                <a:latin typeface="Arial"/>
                <a:cs typeface="Arial"/>
              </a:rPr>
              <a:t>the </a:t>
            </a:r>
            <a:r>
              <a:rPr dirty="0" sz="1200" spc="-5">
                <a:latin typeface="Arial"/>
                <a:cs typeface="Arial"/>
              </a:rPr>
              <a:t>declaration of the Prophet or </a:t>
            </a:r>
            <a:r>
              <a:rPr dirty="0" sz="1200">
                <a:latin typeface="Arial"/>
                <a:cs typeface="Arial"/>
              </a:rPr>
              <a:t>the </a:t>
            </a:r>
            <a:r>
              <a:rPr dirty="0" sz="1200" spc="-5">
                <a:latin typeface="Arial"/>
                <a:cs typeface="Arial"/>
              </a:rPr>
              <a:t>preceding </a:t>
            </a:r>
            <a:r>
              <a:rPr dirty="0" sz="1200">
                <a:latin typeface="Arial"/>
                <a:cs typeface="Arial"/>
              </a:rPr>
              <a:t>Imam. The </a:t>
            </a:r>
            <a:r>
              <a:rPr dirty="0" sz="1200" spc="-5">
                <a:latin typeface="Arial"/>
                <a:cs typeface="Arial"/>
              </a:rPr>
              <a:t>Sunni scholars say </a:t>
            </a:r>
            <a:r>
              <a:rPr dirty="0" sz="1200">
                <a:latin typeface="Arial"/>
                <a:cs typeface="Arial"/>
              </a:rPr>
              <a:t>that </a:t>
            </a:r>
            <a:r>
              <a:rPr dirty="0" sz="1200" spc="-5">
                <a:latin typeface="Arial"/>
                <a:cs typeface="Arial"/>
              </a:rPr>
              <a:t>Imam (or  </a:t>
            </a:r>
            <a:r>
              <a:rPr dirty="0" sz="1200">
                <a:latin typeface="Arial"/>
                <a:cs typeface="Arial"/>
              </a:rPr>
              <a:t>Caliph, </a:t>
            </a:r>
            <a:r>
              <a:rPr dirty="0" sz="1200" spc="-5">
                <a:latin typeface="Arial"/>
                <a:cs typeface="Arial"/>
              </a:rPr>
              <a:t>as </a:t>
            </a:r>
            <a:r>
              <a:rPr dirty="0" sz="1200">
                <a:latin typeface="Arial"/>
                <a:cs typeface="Arial"/>
              </a:rPr>
              <a:t>they prefer to </a:t>
            </a:r>
            <a:r>
              <a:rPr dirty="0" sz="1200" spc="-5">
                <a:latin typeface="Arial"/>
                <a:cs typeface="Arial"/>
              </a:rPr>
              <a:t>say) can be either elected, or nominated by </a:t>
            </a:r>
            <a:r>
              <a:rPr dirty="0" sz="1200">
                <a:latin typeface="Arial"/>
                <a:cs typeface="Arial"/>
              </a:rPr>
              <a:t>the </a:t>
            </a:r>
            <a:r>
              <a:rPr dirty="0" sz="1200" spc="-5">
                <a:latin typeface="Arial"/>
                <a:cs typeface="Arial"/>
              </a:rPr>
              <a:t>preceding </a:t>
            </a:r>
            <a:r>
              <a:rPr dirty="0" sz="1200">
                <a:latin typeface="Arial"/>
                <a:cs typeface="Arial"/>
              </a:rPr>
              <a:t>Caliph, </a:t>
            </a:r>
            <a:r>
              <a:rPr dirty="0" sz="1200" spc="-5">
                <a:latin typeface="Arial"/>
                <a:cs typeface="Arial"/>
              </a:rPr>
              <a:t>or  selected </a:t>
            </a:r>
            <a:r>
              <a:rPr dirty="0" sz="1200">
                <a:latin typeface="Arial"/>
                <a:cs typeface="Arial"/>
              </a:rPr>
              <a:t>by </a:t>
            </a:r>
            <a:r>
              <a:rPr dirty="0" sz="1200" spc="-5">
                <a:latin typeface="Arial"/>
                <a:cs typeface="Arial"/>
              </a:rPr>
              <a:t>a </a:t>
            </a:r>
            <a:r>
              <a:rPr dirty="0" sz="1200">
                <a:latin typeface="Arial"/>
                <a:cs typeface="Arial"/>
              </a:rPr>
              <a:t>committee, </a:t>
            </a:r>
            <a:r>
              <a:rPr dirty="0" sz="1200" spc="-5">
                <a:latin typeface="Arial"/>
                <a:cs typeface="Arial"/>
              </a:rPr>
              <a:t>or </a:t>
            </a:r>
            <a:r>
              <a:rPr dirty="0" sz="1200">
                <a:latin typeface="Arial"/>
                <a:cs typeface="Arial"/>
              </a:rPr>
              <a:t>may attempt </a:t>
            </a:r>
            <a:r>
              <a:rPr dirty="0" sz="1200" spc="-5">
                <a:latin typeface="Arial"/>
                <a:cs typeface="Arial"/>
              </a:rPr>
              <a:t>to gain </a:t>
            </a:r>
            <a:r>
              <a:rPr dirty="0" sz="1200">
                <a:latin typeface="Arial"/>
                <a:cs typeface="Arial"/>
              </a:rPr>
              <a:t>the </a:t>
            </a:r>
            <a:r>
              <a:rPr dirty="0" sz="1200" spc="-5">
                <a:latin typeface="Arial"/>
                <a:cs typeface="Arial"/>
              </a:rPr>
              <a:t>power </a:t>
            </a:r>
            <a:r>
              <a:rPr dirty="0" sz="1200">
                <a:latin typeface="Arial"/>
                <a:cs typeface="Arial"/>
              </a:rPr>
              <a:t>through </a:t>
            </a:r>
            <a:r>
              <a:rPr dirty="0" sz="1200" spc="-5">
                <a:latin typeface="Arial"/>
                <a:cs typeface="Arial"/>
              </a:rPr>
              <a:t>a military </a:t>
            </a:r>
            <a:r>
              <a:rPr dirty="0" sz="1200">
                <a:latin typeface="Arial"/>
                <a:cs typeface="Arial"/>
              </a:rPr>
              <a:t>coup </a:t>
            </a:r>
            <a:r>
              <a:rPr dirty="0" sz="1200" spc="-5">
                <a:latin typeface="Arial"/>
                <a:cs typeface="Arial"/>
              </a:rPr>
              <a:t>(as was in  </a:t>
            </a:r>
            <a:r>
              <a:rPr dirty="0" sz="1200">
                <a:latin typeface="Arial"/>
                <a:cs typeface="Arial"/>
              </a:rPr>
              <a:t>the </a:t>
            </a:r>
            <a:r>
              <a:rPr dirty="0" sz="1200" spc="-5">
                <a:latin typeface="Arial"/>
                <a:cs typeface="Arial"/>
              </a:rPr>
              <a:t>case of</a:t>
            </a:r>
            <a:r>
              <a:rPr dirty="0" sz="1200">
                <a:latin typeface="Arial"/>
                <a:cs typeface="Arial"/>
              </a:rPr>
              <a:t> </a:t>
            </a:r>
            <a:r>
              <a:rPr dirty="0" sz="1200" spc="-5">
                <a:latin typeface="Arial"/>
                <a:cs typeface="Arial"/>
              </a:rPr>
              <a:t>Mu‘awiyah).</a:t>
            </a:r>
            <a:endParaRPr sz="1200">
              <a:latin typeface="Arial"/>
              <a:cs typeface="Arial"/>
            </a:endParaRPr>
          </a:p>
          <a:p>
            <a:pPr>
              <a:lnSpc>
                <a:spcPct val="100000"/>
              </a:lnSpc>
            </a:pPr>
            <a:endParaRPr sz="1200">
              <a:latin typeface="Arial"/>
              <a:cs typeface="Arial"/>
            </a:endParaRPr>
          </a:p>
          <a:p>
            <a:pPr algn="just" marL="12700" marR="6350">
              <a:lnSpc>
                <a:spcPts val="1380"/>
              </a:lnSpc>
            </a:pPr>
            <a:r>
              <a:rPr dirty="0" sz="1200" spc="-5">
                <a:latin typeface="Arial"/>
                <a:cs typeface="Arial"/>
              </a:rPr>
              <a:t>The Shi'a scholars </a:t>
            </a:r>
            <a:r>
              <a:rPr dirty="0" sz="1200" spc="-10">
                <a:latin typeface="Arial"/>
                <a:cs typeface="Arial"/>
              </a:rPr>
              <a:t>say </a:t>
            </a:r>
            <a:r>
              <a:rPr dirty="0" sz="1200">
                <a:latin typeface="Arial"/>
                <a:cs typeface="Arial"/>
              </a:rPr>
              <a:t>that </a:t>
            </a:r>
            <a:r>
              <a:rPr dirty="0" sz="1200" spc="-5">
                <a:latin typeface="Arial"/>
                <a:cs typeface="Arial"/>
              </a:rPr>
              <a:t>a divinely appointed Imam is sinless and Allah does not grant  such position </a:t>
            </a:r>
            <a:r>
              <a:rPr dirty="0" sz="1200">
                <a:latin typeface="Arial"/>
                <a:cs typeface="Arial"/>
              </a:rPr>
              <a:t>to </a:t>
            </a:r>
            <a:r>
              <a:rPr dirty="0" sz="1200" spc="-5">
                <a:latin typeface="Arial"/>
                <a:cs typeface="Arial"/>
              </a:rPr>
              <a:t>the sinful. </a:t>
            </a:r>
            <a:r>
              <a:rPr dirty="0" sz="1200">
                <a:latin typeface="Arial"/>
                <a:cs typeface="Arial"/>
              </a:rPr>
              <a:t>The </a:t>
            </a:r>
            <a:r>
              <a:rPr dirty="0" sz="1200" spc="-5">
                <a:latin typeface="Arial"/>
                <a:cs typeface="Arial"/>
              </a:rPr>
              <a:t>Sunni scholars (including Mu'tazilites) say </a:t>
            </a:r>
            <a:r>
              <a:rPr dirty="0" sz="1200">
                <a:latin typeface="Arial"/>
                <a:cs typeface="Arial"/>
              </a:rPr>
              <a:t>that </a:t>
            </a:r>
            <a:r>
              <a:rPr dirty="0" sz="1200" spc="-5">
                <a:latin typeface="Arial"/>
                <a:cs typeface="Arial"/>
              </a:rPr>
              <a:t>Imam </a:t>
            </a:r>
            <a:r>
              <a:rPr dirty="0" sz="1200" spc="-10">
                <a:latin typeface="Arial"/>
                <a:cs typeface="Arial"/>
              </a:rPr>
              <a:t>can </a:t>
            </a:r>
            <a:r>
              <a:rPr dirty="0" sz="1200" spc="-5">
                <a:latin typeface="Arial"/>
                <a:cs typeface="Arial"/>
              </a:rPr>
              <a:t>be  sinful as he is appointed by </a:t>
            </a:r>
            <a:r>
              <a:rPr dirty="0" sz="1200">
                <a:latin typeface="Arial"/>
                <a:cs typeface="Arial"/>
              </a:rPr>
              <a:t>other </a:t>
            </a:r>
            <a:r>
              <a:rPr dirty="0" sz="1200" spc="-5">
                <a:latin typeface="Arial"/>
                <a:cs typeface="Arial"/>
              </a:rPr>
              <a:t>than Allah. Even </a:t>
            </a:r>
            <a:r>
              <a:rPr dirty="0" sz="1200" spc="15">
                <a:latin typeface="Arial"/>
                <a:cs typeface="Arial"/>
              </a:rPr>
              <a:t>if </a:t>
            </a:r>
            <a:r>
              <a:rPr dirty="0" sz="1200" spc="-10">
                <a:latin typeface="Arial"/>
                <a:cs typeface="Arial"/>
              </a:rPr>
              <a:t>he </a:t>
            </a:r>
            <a:r>
              <a:rPr dirty="0" sz="1200" spc="-5">
                <a:latin typeface="Arial"/>
                <a:cs typeface="Arial"/>
              </a:rPr>
              <a:t>is </a:t>
            </a:r>
            <a:r>
              <a:rPr dirty="0" sz="1200">
                <a:latin typeface="Arial"/>
                <a:cs typeface="Arial"/>
              </a:rPr>
              <a:t>tyrant </a:t>
            </a:r>
            <a:r>
              <a:rPr dirty="0" sz="1200" spc="-5">
                <a:latin typeface="Arial"/>
                <a:cs typeface="Arial"/>
              </a:rPr>
              <a:t>and sunk in </a:t>
            </a:r>
            <a:r>
              <a:rPr dirty="0" sz="1200">
                <a:latin typeface="Arial"/>
                <a:cs typeface="Arial"/>
              </a:rPr>
              <a:t>sins, the  </a:t>
            </a:r>
            <a:r>
              <a:rPr dirty="0" sz="1200" spc="-5">
                <a:latin typeface="Arial"/>
                <a:cs typeface="Arial"/>
              </a:rPr>
              <a:t>majority </a:t>
            </a:r>
            <a:r>
              <a:rPr dirty="0" sz="1200">
                <a:latin typeface="Arial"/>
                <a:cs typeface="Arial"/>
              </a:rPr>
              <a:t>of the </a:t>
            </a:r>
            <a:r>
              <a:rPr dirty="0" sz="1200" spc="-5">
                <a:latin typeface="Arial"/>
                <a:cs typeface="Arial"/>
              </a:rPr>
              <a:t>scholars from the schools of Hanbali, Shafi‘I, and Maliki discourage people </a:t>
            </a:r>
            <a:r>
              <a:rPr dirty="0" sz="1200">
                <a:latin typeface="Arial"/>
                <a:cs typeface="Arial"/>
              </a:rPr>
              <a:t>to  </a:t>
            </a:r>
            <a:r>
              <a:rPr dirty="0" sz="1200" spc="-5">
                <a:latin typeface="Arial"/>
                <a:cs typeface="Arial"/>
              </a:rPr>
              <a:t>rise against </a:t>
            </a:r>
            <a:r>
              <a:rPr dirty="0" sz="1200">
                <a:latin typeface="Arial"/>
                <a:cs typeface="Arial"/>
              </a:rPr>
              <a:t>that Caliph. </a:t>
            </a:r>
            <a:r>
              <a:rPr dirty="0" sz="1200" spc="-5">
                <a:latin typeface="Arial"/>
                <a:cs typeface="Arial"/>
              </a:rPr>
              <a:t>They </a:t>
            </a:r>
            <a:r>
              <a:rPr dirty="0" sz="1200">
                <a:latin typeface="Arial"/>
                <a:cs typeface="Arial"/>
              </a:rPr>
              <a:t>think that </a:t>
            </a:r>
            <a:r>
              <a:rPr dirty="0" sz="1200" spc="-5">
                <a:latin typeface="Arial"/>
                <a:cs typeface="Arial"/>
              </a:rPr>
              <a:t>they should be preserved although they </a:t>
            </a:r>
            <a:r>
              <a:rPr dirty="0" sz="1200">
                <a:latin typeface="Arial"/>
                <a:cs typeface="Arial"/>
              </a:rPr>
              <a:t>disagree  </a:t>
            </a:r>
            <a:r>
              <a:rPr dirty="0" sz="1200" spc="-5">
                <a:latin typeface="Arial"/>
                <a:cs typeface="Arial"/>
              </a:rPr>
              <a:t>with the evil</a:t>
            </a:r>
            <a:r>
              <a:rPr dirty="0" sz="1200">
                <a:latin typeface="Arial"/>
                <a:cs typeface="Arial"/>
              </a:rPr>
              <a:t> actions.</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137</a:t>
            </a:r>
            <a:endParaRPr sz="1200">
              <a:latin typeface="Times New Roman"/>
              <a:cs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0630" cy="933831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50">
              <a:latin typeface="Times New Roman"/>
              <a:cs typeface="Times New Roman"/>
            </a:endParaRPr>
          </a:p>
          <a:p>
            <a:pPr marL="12700" marR="5080">
              <a:lnSpc>
                <a:spcPts val="1370"/>
              </a:lnSpc>
            </a:pPr>
            <a:r>
              <a:rPr dirty="0" sz="1200" spc="-5">
                <a:latin typeface="Arial"/>
                <a:cs typeface="Arial"/>
              </a:rPr>
              <a:t>Shi‘a is the shorten of Shi‘atu Ali </a:t>
            </a:r>
            <a:r>
              <a:rPr dirty="0" sz="1200">
                <a:latin typeface="Arial"/>
                <a:cs typeface="Arial"/>
              </a:rPr>
              <a:t>– </a:t>
            </a:r>
            <a:r>
              <a:rPr dirty="0" sz="1200" spc="-105">
                <a:latin typeface="Arial"/>
                <a:cs typeface="Arial"/>
              </a:rPr>
              <a:t>(ًلع </a:t>
            </a:r>
            <a:r>
              <a:rPr dirty="0" sz="1200" spc="-85">
                <a:latin typeface="Arial"/>
                <a:cs typeface="Arial"/>
              </a:rPr>
              <a:t>ةعٌش) </a:t>
            </a:r>
            <a:r>
              <a:rPr dirty="0" sz="1200" spc="-5">
                <a:latin typeface="Arial"/>
                <a:cs typeface="Arial"/>
              </a:rPr>
              <a:t>meaning the Partisan of Hazrat Ali or the Party  of </a:t>
            </a:r>
            <a:r>
              <a:rPr dirty="0" sz="1200" spc="-85">
                <a:latin typeface="Arial"/>
                <a:cs typeface="Arial"/>
              </a:rPr>
              <a:t>‗Ali. </a:t>
            </a:r>
            <a:r>
              <a:rPr dirty="0" sz="1200" spc="-5">
                <a:latin typeface="Arial"/>
                <a:cs typeface="Arial"/>
              </a:rPr>
              <a:t>They </a:t>
            </a:r>
            <a:r>
              <a:rPr dirty="0" sz="1200">
                <a:latin typeface="Arial"/>
                <a:cs typeface="Arial"/>
              </a:rPr>
              <a:t>are also </a:t>
            </a:r>
            <a:r>
              <a:rPr dirty="0" sz="1200" spc="-10">
                <a:latin typeface="Arial"/>
                <a:cs typeface="Arial"/>
              </a:rPr>
              <a:t>known </a:t>
            </a:r>
            <a:r>
              <a:rPr dirty="0" sz="1200" spc="-5">
                <a:latin typeface="Arial"/>
                <a:cs typeface="Arial"/>
              </a:rPr>
              <a:t>as</a:t>
            </a:r>
            <a:r>
              <a:rPr dirty="0" sz="1200" spc="95">
                <a:latin typeface="Arial"/>
                <a:cs typeface="Arial"/>
              </a:rPr>
              <a:t> </a:t>
            </a:r>
            <a:r>
              <a:rPr dirty="0" sz="1200" spc="-5">
                <a:latin typeface="Arial"/>
                <a:cs typeface="Arial"/>
              </a:rPr>
              <a:t>Shite.</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sz="1200" spc="-5">
                <a:latin typeface="Arial"/>
                <a:cs typeface="Arial"/>
              </a:rPr>
              <a:t>The Shia shahadah (declaration of </a:t>
            </a:r>
            <a:r>
              <a:rPr dirty="0" sz="1200">
                <a:latin typeface="Arial"/>
                <a:cs typeface="Arial"/>
              </a:rPr>
              <a:t>faith)</a:t>
            </a:r>
            <a:r>
              <a:rPr dirty="0" sz="1200" spc="10">
                <a:latin typeface="Arial"/>
                <a:cs typeface="Arial"/>
              </a:rPr>
              <a:t> </a:t>
            </a:r>
            <a:r>
              <a:rPr dirty="0" sz="1200" spc="-5">
                <a:latin typeface="Arial"/>
                <a:cs typeface="Arial"/>
              </a:rPr>
              <a:t>states:</a:t>
            </a:r>
            <a:endParaRPr sz="1200">
              <a:latin typeface="Arial"/>
              <a:cs typeface="Arial"/>
            </a:endParaRPr>
          </a:p>
          <a:p>
            <a:pPr>
              <a:lnSpc>
                <a:spcPct val="100000"/>
              </a:lnSpc>
              <a:spcBef>
                <a:spcPts val="35"/>
              </a:spcBef>
            </a:pPr>
            <a:endParaRPr sz="1200">
              <a:latin typeface="Arial"/>
              <a:cs typeface="Arial"/>
            </a:endParaRPr>
          </a:p>
          <a:p>
            <a:pPr marL="12700" marR="7620">
              <a:lnSpc>
                <a:spcPts val="1380"/>
              </a:lnSpc>
            </a:pPr>
            <a:r>
              <a:rPr dirty="0" sz="1200" spc="-5" b="1" i="1">
                <a:latin typeface="Arial"/>
                <a:cs typeface="Arial"/>
              </a:rPr>
              <a:t>"There is </a:t>
            </a:r>
            <a:r>
              <a:rPr dirty="0" sz="1200" b="1" i="1">
                <a:latin typeface="Arial"/>
                <a:cs typeface="Arial"/>
              </a:rPr>
              <a:t>no god but Allah, </a:t>
            </a:r>
            <a:r>
              <a:rPr dirty="0" sz="1200" spc="-5" b="1" i="1">
                <a:latin typeface="Arial"/>
                <a:cs typeface="Arial"/>
              </a:rPr>
              <a:t>Muhammad is the Messenger </a:t>
            </a:r>
            <a:r>
              <a:rPr dirty="0" sz="1200" b="1" i="1">
                <a:latin typeface="Arial"/>
                <a:cs typeface="Arial"/>
              </a:rPr>
              <a:t>of Allah, </a:t>
            </a:r>
            <a:r>
              <a:rPr dirty="0" sz="1200" spc="-5" b="1" i="1">
                <a:latin typeface="Arial"/>
                <a:cs typeface="Arial"/>
              </a:rPr>
              <a:t>Alí is the </a:t>
            </a:r>
            <a:r>
              <a:rPr dirty="0" sz="1200" b="1" i="1">
                <a:latin typeface="Arial"/>
                <a:cs typeface="Arial"/>
              </a:rPr>
              <a:t>Friend of  </a:t>
            </a:r>
            <a:r>
              <a:rPr dirty="0" sz="1200" b="1" i="1">
                <a:latin typeface="Arial"/>
                <a:cs typeface="Arial"/>
              </a:rPr>
              <a:t>Allah. The </a:t>
            </a:r>
            <a:r>
              <a:rPr dirty="0" sz="1200" spc="-5" b="1" i="1">
                <a:latin typeface="Arial"/>
                <a:cs typeface="Arial"/>
              </a:rPr>
              <a:t>Successor </a:t>
            </a:r>
            <a:r>
              <a:rPr dirty="0" sz="1200" b="1" i="1">
                <a:latin typeface="Arial"/>
                <a:cs typeface="Arial"/>
              </a:rPr>
              <a:t>of </a:t>
            </a:r>
            <a:r>
              <a:rPr dirty="0" sz="1200" spc="-5" b="1" i="1">
                <a:latin typeface="Arial"/>
                <a:cs typeface="Arial"/>
              </a:rPr>
              <a:t>the Messenger </a:t>
            </a:r>
            <a:r>
              <a:rPr dirty="0" sz="1200" b="1" i="1">
                <a:latin typeface="Arial"/>
                <a:cs typeface="Arial"/>
              </a:rPr>
              <a:t>of Allah And </a:t>
            </a:r>
            <a:r>
              <a:rPr dirty="0" sz="1200" spc="-5" b="1" i="1">
                <a:latin typeface="Arial"/>
                <a:cs typeface="Arial"/>
              </a:rPr>
              <a:t>his first Caliph."</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The </a:t>
            </a:r>
            <a:r>
              <a:rPr dirty="0" u="heavy" sz="1200" spc="-5" b="1" i="1">
                <a:uFill>
                  <a:solidFill>
                    <a:srgbClr val="000000"/>
                  </a:solidFill>
                </a:uFill>
                <a:latin typeface="Arial"/>
                <a:cs typeface="Arial"/>
              </a:rPr>
              <a:t>fundamentals </a:t>
            </a:r>
            <a:r>
              <a:rPr dirty="0" u="heavy" sz="1200" b="1" i="1">
                <a:uFill>
                  <a:solidFill>
                    <a:srgbClr val="000000"/>
                  </a:solidFill>
                </a:uFill>
                <a:latin typeface="Arial"/>
                <a:cs typeface="Arial"/>
              </a:rPr>
              <a:t>of Islam </a:t>
            </a:r>
            <a:r>
              <a:rPr dirty="0" u="heavy" sz="1200" spc="-5" b="1" i="1">
                <a:uFill>
                  <a:solidFill>
                    <a:srgbClr val="000000"/>
                  </a:solidFill>
                </a:uFill>
                <a:latin typeface="Arial"/>
                <a:cs typeface="Arial"/>
              </a:rPr>
              <a:t>for </a:t>
            </a:r>
            <a:r>
              <a:rPr dirty="0" u="heavy" sz="1200" b="1" i="1">
                <a:uFill>
                  <a:solidFill>
                    <a:srgbClr val="000000"/>
                  </a:solidFill>
                </a:uFill>
                <a:latin typeface="Arial"/>
                <a:cs typeface="Arial"/>
              </a:rPr>
              <a:t>the </a:t>
            </a:r>
            <a:r>
              <a:rPr dirty="0" u="heavy" sz="1200" spc="-60" b="1" i="1">
                <a:uFill>
                  <a:solidFill>
                    <a:srgbClr val="000000"/>
                  </a:solidFill>
                </a:uFill>
                <a:latin typeface="Arial"/>
                <a:cs typeface="Arial"/>
              </a:rPr>
              <a:t>Shi‟a</a:t>
            </a:r>
            <a:r>
              <a:rPr dirty="0" u="heavy" sz="1200" spc="-20" b="1" i="1">
                <a:uFill>
                  <a:solidFill>
                    <a:srgbClr val="000000"/>
                  </a:solidFill>
                </a:uFill>
                <a:latin typeface="Arial"/>
                <a:cs typeface="Arial"/>
              </a:rPr>
              <a:t> </a:t>
            </a:r>
            <a:r>
              <a:rPr dirty="0" u="heavy" sz="1200" b="1" i="1">
                <a:uFill>
                  <a:solidFill>
                    <a:srgbClr val="000000"/>
                  </a:solidFill>
                </a:uFill>
                <a:latin typeface="Arial"/>
                <a:cs typeface="Arial"/>
              </a:rPr>
              <a:t>are:</a:t>
            </a:r>
            <a:endParaRPr sz="1200">
              <a:latin typeface="Arial"/>
              <a:cs typeface="Arial"/>
            </a:endParaRPr>
          </a:p>
          <a:p>
            <a:pPr>
              <a:lnSpc>
                <a:spcPct val="100000"/>
              </a:lnSpc>
              <a:spcBef>
                <a:spcPts val="55"/>
              </a:spcBef>
            </a:pPr>
            <a:endParaRPr sz="1100">
              <a:latin typeface="Arial"/>
              <a:cs typeface="Arial"/>
            </a:endParaRPr>
          </a:p>
          <a:p>
            <a:pPr marL="372110" indent="-229235">
              <a:lnSpc>
                <a:spcPts val="1410"/>
              </a:lnSpc>
              <a:buAutoNum type="arabicParenR"/>
              <a:tabLst>
                <a:tab pos="372745" algn="l"/>
              </a:tabLst>
            </a:pPr>
            <a:r>
              <a:rPr dirty="0" sz="1200" spc="-5">
                <a:latin typeface="Arial"/>
                <a:cs typeface="Arial"/>
              </a:rPr>
              <a:t>Tawhíd (The Oneness of</a:t>
            </a:r>
            <a:r>
              <a:rPr dirty="0" sz="1200" spc="30">
                <a:latin typeface="Arial"/>
                <a:cs typeface="Arial"/>
              </a:rPr>
              <a:t> </a:t>
            </a:r>
            <a:r>
              <a:rPr dirty="0" sz="1200" spc="-5">
                <a:latin typeface="Arial"/>
                <a:cs typeface="Arial"/>
              </a:rPr>
              <a:t>Allah)</a:t>
            </a:r>
            <a:endParaRPr sz="1200">
              <a:latin typeface="Arial"/>
              <a:cs typeface="Arial"/>
            </a:endParaRPr>
          </a:p>
          <a:p>
            <a:pPr marL="372110" indent="-229235">
              <a:lnSpc>
                <a:spcPts val="1380"/>
              </a:lnSpc>
              <a:buAutoNum type="arabicParenR"/>
              <a:tabLst>
                <a:tab pos="372745" algn="l"/>
              </a:tabLst>
            </a:pPr>
            <a:r>
              <a:rPr dirty="0" sz="1200">
                <a:latin typeface="Arial"/>
                <a:cs typeface="Arial"/>
              </a:rPr>
              <a:t>'Adl </a:t>
            </a:r>
            <a:r>
              <a:rPr dirty="0" sz="1200" spc="-5">
                <a:latin typeface="Arial"/>
                <a:cs typeface="Arial"/>
              </a:rPr>
              <a:t>(Divine</a:t>
            </a:r>
            <a:r>
              <a:rPr dirty="0" sz="1200">
                <a:latin typeface="Arial"/>
                <a:cs typeface="Arial"/>
              </a:rPr>
              <a:t> Justice)</a:t>
            </a:r>
            <a:endParaRPr sz="1200">
              <a:latin typeface="Arial"/>
              <a:cs typeface="Arial"/>
            </a:endParaRPr>
          </a:p>
          <a:p>
            <a:pPr marL="372110" indent="-229235">
              <a:lnSpc>
                <a:spcPts val="1380"/>
              </a:lnSpc>
              <a:buAutoNum type="arabicParenR"/>
              <a:tabLst>
                <a:tab pos="372745" algn="l"/>
              </a:tabLst>
            </a:pPr>
            <a:r>
              <a:rPr dirty="0" sz="1200" spc="-5">
                <a:latin typeface="Arial"/>
                <a:cs typeface="Arial"/>
              </a:rPr>
              <a:t>Nubuwwah (The</a:t>
            </a:r>
            <a:r>
              <a:rPr dirty="0" sz="1200">
                <a:latin typeface="Arial"/>
                <a:cs typeface="Arial"/>
              </a:rPr>
              <a:t> </a:t>
            </a:r>
            <a:r>
              <a:rPr dirty="0" sz="1200" spc="-5">
                <a:latin typeface="Arial"/>
                <a:cs typeface="Arial"/>
              </a:rPr>
              <a:t>Prophethood)</a:t>
            </a:r>
            <a:endParaRPr sz="1200">
              <a:latin typeface="Arial"/>
              <a:cs typeface="Arial"/>
            </a:endParaRPr>
          </a:p>
          <a:p>
            <a:pPr marL="372110" indent="-229235">
              <a:lnSpc>
                <a:spcPts val="1380"/>
              </a:lnSpc>
              <a:buAutoNum type="arabicParenR"/>
              <a:tabLst>
                <a:tab pos="372745" algn="l"/>
              </a:tabLst>
            </a:pPr>
            <a:r>
              <a:rPr dirty="0" sz="1200" spc="-5">
                <a:latin typeface="Arial"/>
                <a:cs typeface="Arial"/>
              </a:rPr>
              <a:t>Imámah (The</a:t>
            </a:r>
            <a:r>
              <a:rPr dirty="0" sz="1200" spc="-10">
                <a:latin typeface="Arial"/>
                <a:cs typeface="Arial"/>
              </a:rPr>
              <a:t> </a:t>
            </a:r>
            <a:r>
              <a:rPr dirty="0" sz="1200" spc="-5">
                <a:latin typeface="Arial"/>
                <a:cs typeface="Arial"/>
              </a:rPr>
              <a:t>Imamate)</a:t>
            </a:r>
            <a:endParaRPr sz="1200">
              <a:latin typeface="Arial"/>
              <a:cs typeface="Arial"/>
            </a:endParaRPr>
          </a:p>
          <a:p>
            <a:pPr marL="372110" indent="-229235">
              <a:lnSpc>
                <a:spcPts val="1410"/>
              </a:lnSpc>
              <a:buAutoNum type="arabicParenR"/>
              <a:tabLst>
                <a:tab pos="372745" algn="l"/>
              </a:tabLst>
            </a:pPr>
            <a:r>
              <a:rPr dirty="0" sz="1200" spc="-5">
                <a:latin typeface="Arial"/>
                <a:cs typeface="Arial"/>
              </a:rPr>
              <a:t>Qiyámah (The Day of</a:t>
            </a:r>
            <a:r>
              <a:rPr dirty="0" sz="1200" spc="-15">
                <a:latin typeface="Arial"/>
                <a:cs typeface="Arial"/>
              </a:rPr>
              <a:t> </a:t>
            </a:r>
            <a:r>
              <a:rPr dirty="0" sz="1200" spc="-5">
                <a:latin typeface="Arial"/>
                <a:cs typeface="Arial"/>
              </a:rPr>
              <a:t>Judgement)</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The </a:t>
            </a:r>
            <a:r>
              <a:rPr dirty="0" u="heavy" sz="1200" spc="-5" b="1" i="1">
                <a:uFill>
                  <a:solidFill>
                    <a:srgbClr val="000000"/>
                  </a:solidFill>
                </a:uFill>
                <a:latin typeface="Arial"/>
                <a:cs typeface="Arial"/>
              </a:rPr>
              <a:t>main branches </a:t>
            </a:r>
            <a:r>
              <a:rPr dirty="0" u="heavy" sz="1200" spc="-10" b="1" i="1">
                <a:uFill>
                  <a:solidFill>
                    <a:srgbClr val="000000"/>
                  </a:solidFill>
                </a:uFill>
                <a:latin typeface="Arial"/>
                <a:cs typeface="Arial"/>
              </a:rPr>
              <a:t>of </a:t>
            </a:r>
            <a:r>
              <a:rPr dirty="0" u="heavy" sz="1200" b="1" i="1">
                <a:uFill>
                  <a:solidFill>
                    <a:srgbClr val="000000"/>
                  </a:solidFill>
                </a:uFill>
                <a:latin typeface="Arial"/>
                <a:cs typeface="Arial"/>
              </a:rPr>
              <a:t>Islam </a:t>
            </a:r>
            <a:r>
              <a:rPr dirty="0" u="heavy" sz="1200" spc="-5" b="1" i="1">
                <a:uFill>
                  <a:solidFill>
                    <a:srgbClr val="000000"/>
                  </a:solidFill>
                </a:uFill>
                <a:latin typeface="Arial"/>
                <a:cs typeface="Arial"/>
              </a:rPr>
              <a:t>for </a:t>
            </a:r>
            <a:r>
              <a:rPr dirty="0" u="heavy" sz="1200" b="1" i="1">
                <a:uFill>
                  <a:solidFill>
                    <a:srgbClr val="000000"/>
                  </a:solidFill>
                </a:uFill>
                <a:latin typeface="Arial"/>
                <a:cs typeface="Arial"/>
              </a:rPr>
              <a:t>the </a:t>
            </a:r>
            <a:r>
              <a:rPr dirty="0" u="heavy" sz="1200" spc="-60" b="1" i="1">
                <a:uFill>
                  <a:solidFill>
                    <a:srgbClr val="000000"/>
                  </a:solidFill>
                </a:uFill>
                <a:latin typeface="Arial"/>
                <a:cs typeface="Arial"/>
              </a:rPr>
              <a:t>Shi‟a</a:t>
            </a:r>
            <a:r>
              <a:rPr dirty="0" u="heavy" sz="1200" spc="5" b="1" i="1">
                <a:uFill>
                  <a:solidFill>
                    <a:srgbClr val="000000"/>
                  </a:solidFill>
                </a:uFill>
                <a:latin typeface="Arial"/>
                <a:cs typeface="Arial"/>
              </a:rPr>
              <a:t> </a:t>
            </a:r>
            <a:r>
              <a:rPr dirty="0" u="heavy" sz="1200" b="1" i="1">
                <a:uFill>
                  <a:solidFill>
                    <a:srgbClr val="000000"/>
                  </a:solidFill>
                </a:uFill>
                <a:latin typeface="Arial"/>
                <a:cs typeface="Arial"/>
              </a:rPr>
              <a:t>are:</a:t>
            </a:r>
            <a:endParaRPr sz="1200">
              <a:latin typeface="Arial"/>
              <a:cs typeface="Arial"/>
            </a:endParaRPr>
          </a:p>
          <a:p>
            <a:pPr>
              <a:lnSpc>
                <a:spcPct val="100000"/>
              </a:lnSpc>
              <a:spcBef>
                <a:spcPts val="55"/>
              </a:spcBef>
            </a:pPr>
            <a:endParaRPr sz="1100">
              <a:latin typeface="Arial"/>
              <a:cs typeface="Arial"/>
            </a:endParaRPr>
          </a:p>
          <a:p>
            <a:pPr marL="355600" indent="-229235">
              <a:lnSpc>
                <a:spcPts val="1410"/>
              </a:lnSpc>
              <a:buAutoNum type="arabicParenR"/>
              <a:tabLst>
                <a:tab pos="356235" algn="l"/>
              </a:tabLst>
            </a:pPr>
            <a:r>
              <a:rPr dirty="0" sz="1200" spc="-5">
                <a:latin typeface="Arial"/>
                <a:cs typeface="Arial"/>
              </a:rPr>
              <a:t>Salat (Prayer)</a:t>
            </a:r>
            <a:endParaRPr sz="1200">
              <a:latin typeface="Arial"/>
              <a:cs typeface="Arial"/>
            </a:endParaRPr>
          </a:p>
          <a:p>
            <a:pPr marL="355600" indent="-229235">
              <a:lnSpc>
                <a:spcPts val="1380"/>
              </a:lnSpc>
              <a:buAutoNum type="arabicParenR"/>
              <a:tabLst>
                <a:tab pos="356235" algn="l"/>
              </a:tabLst>
            </a:pPr>
            <a:r>
              <a:rPr dirty="0" sz="1200" spc="-5">
                <a:latin typeface="Arial"/>
                <a:cs typeface="Arial"/>
              </a:rPr>
              <a:t>Sawm</a:t>
            </a:r>
            <a:r>
              <a:rPr dirty="0" sz="1200">
                <a:latin typeface="Arial"/>
                <a:cs typeface="Arial"/>
              </a:rPr>
              <a:t> </a:t>
            </a:r>
            <a:r>
              <a:rPr dirty="0" sz="1200" spc="-5">
                <a:latin typeface="Arial"/>
                <a:cs typeface="Arial"/>
              </a:rPr>
              <a:t>(Fasting)</a:t>
            </a:r>
            <a:endParaRPr sz="1200">
              <a:latin typeface="Arial"/>
              <a:cs typeface="Arial"/>
            </a:endParaRPr>
          </a:p>
          <a:p>
            <a:pPr marL="355600" indent="-229235">
              <a:lnSpc>
                <a:spcPts val="1380"/>
              </a:lnSpc>
              <a:buAutoNum type="arabicParenR"/>
              <a:tabLst>
                <a:tab pos="356235" algn="l"/>
              </a:tabLst>
            </a:pPr>
            <a:r>
              <a:rPr dirty="0" sz="1200">
                <a:latin typeface="Arial"/>
                <a:cs typeface="Arial"/>
              </a:rPr>
              <a:t>Zakát</a:t>
            </a:r>
            <a:endParaRPr sz="1200">
              <a:latin typeface="Arial"/>
              <a:cs typeface="Arial"/>
            </a:endParaRPr>
          </a:p>
          <a:p>
            <a:pPr marL="355600" indent="-229235">
              <a:lnSpc>
                <a:spcPts val="1380"/>
              </a:lnSpc>
              <a:buAutoNum type="arabicParenR"/>
              <a:tabLst>
                <a:tab pos="356235" algn="l"/>
              </a:tabLst>
            </a:pPr>
            <a:r>
              <a:rPr dirty="0" sz="1200" spc="-5">
                <a:latin typeface="Arial"/>
                <a:cs typeface="Arial"/>
              </a:rPr>
              <a:t>(Poor-due of</a:t>
            </a:r>
            <a:r>
              <a:rPr dirty="0" sz="1200" spc="-10">
                <a:latin typeface="Arial"/>
                <a:cs typeface="Arial"/>
              </a:rPr>
              <a:t> </a:t>
            </a:r>
            <a:r>
              <a:rPr dirty="0" sz="1200">
                <a:latin typeface="Arial"/>
                <a:cs typeface="Arial"/>
              </a:rPr>
              <a:t>2.5%)</a:t>
            </a:r>
            <a:endParaRPr sz="1200">
              <a:latin typeface="Arial"/>
              <a:cs typeface="Arial"/>
            </a:endParaRPr>
          </a:p>
          <a:p>
            <a:pPr marL="355600" indent="-229235">
              <a:lnSpc>
                <a:spcPts val="1380"/>
              </a:lnSpc>
              <a:buAutoNum type="arabicParenR"/>
              <a:tabLst>
                <a:tab pos="356235" algn="l"/>
              </a:tabLst>
            </a:pPr>
            <a:r>
              <a:rPr dirty="0" sz="1200" spc="-5">
                <a:latin typeface="Arial"/>
                <a:cs typeface="Arial"/>
              </a:rPr>
              <a:t>Hajj (Pilgrimage </a:t>
            </a:r>
            <a:r>
              <a:rPr dirty="0" sz="1200">
                <a:latin typeface="Arial"/>
                <a:cs typeface="Arial"/>
              </a:rPr>
              <a:t>to</a:t>
            </a:r>
            <a:r>
              <a:rPr dirty="0" sz="1200" spc="5">
                <a:latin typeface="Arial"/>
                <a:cs typeface="Arial"/>
              </a:rPr>
              <a:t> </a:t>
            </a:r>
            <a:r>
              <a:rPr dirty="0" sz="1200" spc="-5">
                <a:latin typeface="Arial"/>
                <a:cs typeface="Arial"/>
              </a:rPr>
              <a:t>Makkah)</a:t>
            </a:r>
            <a:endParaRPr sz="1200">
              <a:latin typeface="Arial"/>
              <a:cs typeface="Arial"/>
            </a:endParaRPr>
          </a:p>
          <a:p>
            <a:pPr marL="355600" indent="-229235">
              <a:lnSpc>
                <a:spcPts val="1380"/>
              </a:lnSpc>
              <a:buAutoNum type="arabicParenR"/>
              <a:tabLst>
                <a:tab pos="356235" algn="l"/>
              </a:tabLst>
            </a:pPr>
            <a:r>
              <a:rPr dirty="0" sz="1200" spc="-5">
                <a:latin typeface="Arial"/>
                <a:cs typeface="Arial"/>
              </a:rPr>
              <a:t>Khums (The Charity of</a:t>
            </a:r>
            <a:r>
              <a:rPr dirty="0" sz="1200" spc="-10">
                <a:latin typeface="Arial"/>
                <a:cs typeface="Arial"/>
              </a:rPr>
              <a:t> </a:t>
            </a:r>
            <a:r>
              <a:rPr dirty="0" sz="1200" spc="-5">
                <a:latin typeface="Arial"/>
                <a:cs typeface="Arial"/>
              </a:rPr>
              <a:t>20%)</a:t>
            </a:r>
            <a:endParaRPr sz="1200">
              <a:latin typeface="Arial"/>
              <a:cs typeface="Arial"/>
            </a:endParaRPr>
          </a:p>
          <a:p>
            <a:pPr marL="355600" indent="-229235">
              <a:lnSpc>
                <a:spcPts val="1380"/>
              </a:lnSpc>
              <a:buAutoNum type="arabicParenR"/>
              <a:tabLst>
                <a:tab pos="356235" algn="l"/>
              </a:tabLst>
            </a:pPr>
            <a:r>
              <a:rPr dirty="0" sz="1200">
                <a:latin typeface="Arial"/>
                <a:cs typeface="Arial"/>
              </a:rPr>
              <a:t>Jihad </a:t>
            </a:r>
            <a:r>
              <a:rPr dirty="0" sz="1200" spc="-5">
                <a:latin typeface="Arial"/>
                <a:cs typeface="Arial"/>
              </a:rPr>
              <a:t>(To Struggle in the Path of</a:t>
            </a:r>
            <a:r>
              <a:rPr dirty="0" sz="1200" spc="5">
                <a:latin typeface="Arial"/>
                <a:cs typeface="Arial"/>
              </a:rPr>
              <a:t> </a:t>
            </a:r>
            <a:r>
              <a:rPr dirty="0" sz="1200" spc="-5">
                <a:latin typeface="Arial"/>
                <a:cs typeface="Arial"/>
              </a:rPr>
              <a:t>Alláh)</a:t>
            </a:r>
            <a:endParaRPr sz="1200">
              <a:latin typeface="Arial"/>
              <a:cs typeface="Arial"/>
            </a:endParaRPr>
          </a:p>
          <a:p>
            <a:pPr marL="355600" indent="-229235">
              <a:lnSpc>
                <a:spcPts val="1380"/>
              </a:lnSpc>
              <a:buAutoNum type="arabicParenR"/>
              <a:tabLst>
                <a:tab pos="356235" algn="l"/>
              </a:tabLst>
            </a:pPr>
            <a:r>
              <a:rPr dirty="0" sz="1200">
                <a:latin typeface="Arial"/>
                <a:cs typeface="Arial"/>
              </a:rPr>
              <a:t>Amr </a:t>
            </a:r>
            <a:r>
              <a:rPr dirty="0" sz="1200" spc="-5">
                <a:latin typeface="Arial"/>
                <a:cs typeface="Arial"/>
              </a:rPr>
              <a:t>bil ma'ruf (To Promote the</a:t>
            </a:r>
            <a:r>
              <a:rPr dirty="0" sz="1200">
                <a:latin typeface="Arial"/>
                <a:cs typeface="Arial"/>
              </a:rPr>
              <a:t> </a:t>
            </a:r>
            <a:r>
              <a:rPr dirty="0" sz="1200" spc="-5">
                <a:latin typeface="Arial"/>
                <a:cs typeface="Arial"/>
              </a:rPr>
              <a:t>Good)</a:t>
            </a:r>
            <a:endParaRPr sz="1200">
              <a:latin typeface="Arial"/>
              <a:cs typeface="Arial"/>
            </a:endParaRPr>
          </a:p>
          <a:p>
            <a:pPr marL="127000" marR="3090545">
              <a:lnSpc>
                <a:spcPts val="1380"/>
              </a:lnSpc>
              <a:spcBef>
                <a:spcPts val="70"/>
              </a:spcBef>
              <a:buAutoNum type="arabicParenR"/>
              <a:tabLst>
                <a:tab pos="356235" algn="l"/>
              </a:tabLst>
            </a:pPr>
            <a:r>
              <a:rPr dirty="0" sz="1200">
                <a:latin typeface="Arial"/>
                <a:cs typeface="Arial"/>
              </a:rPr>
              <a:t>Nahy </a:t>
            </a:r>
            <a:r>
              <a:rPr dirty="0" sz="1200" spc="-5">
                <a:latin typeface="Arial"/>
                <a:cs typeface="Arial"/>
              </a:rPr>
              <a:t>'an al-munkar </a:t>
            </a:r>
            <a:r>
              <a:rPr dirty="0" sz="1200" spc="-10">
                <a:latin typeface="Arial"/>
                <a:cs typeface="Arial"/>
              </a:rPr>
              <a:t>(To </a:t>
            </a:r>
            <a:r>
              <a:rPr dirty="0" sz="1200" spc="-5">
                <a:latin typeface="Arial"/>
                <a:cs typeface="Arial"/>
              </a:rPr>
              <a:t>Forbid </a:t>
            </a:r>
            <a:r>
              <a:rPr dirty="0" sz="1200">
                <a:latin typeface="Arial"/>
                <a:cs typeface="Arial"/>
              </a:rPr>
              <a:t>the </a:t>
            </a:r>
            <a:r>
              <a:rPr dirty="0" sz="1200" spc="-5">
                <a:latin typeface="Arial"/>
                <a:cs typeface="Arial"/>
              </a:rPr>
              <a:t>Wrong)  </a:t>
            </a:r>
            <a:r>
              <a:rPr dirty="0" sz="1200">
                <a:latin typeface="Arial"/>
                <a:cs typeface="Arial"/>
              </a:rPr>
              <a:t>10)Tawalla </a:t>
            </a:r>
            <a:r>
              <a:rPr dirty="0" sz="1200" spc="-5">
                <a:latin typeface="Arial"/>
                <a:cs typeface="Arial"/>
              </a:rPr>
              <a:t>(Loving the Prophet's</a:t>
            </a:r>
            <a:r>
              <a:rPr dirty="0" sz="1200" spc="5">
                <a:latin typeface="Arial"/>
                <a:cs typeface="Arial"/>
              </a:rPr>
              <a:t> </a:t>
            </a:r>
            <a:r>
              <a:rPr dirty="0" sz="1200" spc="-5">
                <a:latin typeface="Arial"/>
                <a:cs typeface="Arial"/>
              </a:rPr>
              <a:t>Family)</a:t>
            </a:r>
            <a:endParaRPr sz="1200">
              <a:latin typeface="Arial"/>
              <a:cs typeface="Arial"/>
            </a:endParaRPr>
          </a:p>
          <a:p>
            <a:pPr marL="127000" marR="2395855">
              <a:lnSpc>
                <a:spcPts val="1380"/>
              </a:lnSpc>
            </a:pPr>
            <a:r>
              <a:rPr dirty="0" sz="1200">
                <a:latin typeface="Arial"/>
                <a:cs typeface="Arial"/>
              </a:rPr>
              <a:t>11)Tabarra </a:t>
            </a:r>
            <a:r>
              <a:rPr dirty="0" sz="1200" spc="-5">
                <a:latin typeface="Arial"/>
                <a:cs typeface="Arial"/>
              </a:rPr>
              <a:t>(Shunning Enemies of the Prophet's Family)  </a:t>
            </a:r>
            <a:r>
              <a:rPr dirty="0" sz="1200">
                <a:latin typeface="Arial"/>
                <a:cs typeface="Arial"/>
              </a:rPr>
              <a:t>12)Takiyyah</a:t>
            </a:r>
            <a:r>
              <a:rPr dirty="0" sz="1200" spc="-5">
                <a:latin typeface="Arial"/>
                <a:cs typeface="Arial"/>
              </a:rPr>
              <a:t> </a:t>
            </a:r>
            <a:r>
              <a:rPr dirty="0" sz="1200">
                <a:latin typeface="Arial"/>
                <a:cs typeface="Arial"/>
              </a:rPr>
              <a:t>(deceit)</a:t>
            </a:r>
            <a:endParaRPr sz="1200">
              <a:latin typeface="Arial"/>
              <a:cs typeface="Arial"/>
            </a:endParaRPr>
          </a:p>
          <a:p>
            <a:pPr>
              <a:lnSpc>
                <a:spcPct val="100000"/>
              </a:lnSpc>
              <a:spcBef>
                <a:spcPts val="1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The five holy ones</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are:</a:t>
            </a:r>
            <a:endParaRPr sz="1200">
              <a:latin typeface="Arial"/>
              <a:cs typeface="Arial"/>
            </a:endParaRPr>
          </a:p>
          <a:p>
            <a:pPr>
              <a:lnSpc>
                <a:spcPct val="100000"/>
              </a:lnSpc>
            </a:pPr>
            <a:endParaRPr sz="1150">
              <a:latin typeface="Arial"/>
              <a:cs typeface="Arial"/>
            </a:endParaRPr>
          </a:p>
          <a:p>
            <a:pPr marL="372110" indent="-270510">
              <a:lnSpc>
                <a:spcPts val="1410"/>
              </a:lnSpc>
              <a:buAutoNum type="arabicParenR"/>
              <a:tabLst>
                <a:tab pos="372110" algn="l"/>
                <a:tab pos="372745" algn="l"/>
              </a:tabLst>
            </a:pPr>
            <a:r>
              <a:rPr dirty="0" sz="1200" spc="-5">
                <a:latin typeface="Arial"/>
                <a:cs typeface="Arial"/>
              </a:rPr>
              <a:t>Muhammad</a:t>
            </a:r>
            <a:endParaRPr sz="1200">
              <a:latin typeface="Arial"/>
              <a:cs typeface="Arial"/>
            </a:endParaRPr>
          </a:p>
          <a:p>
            <a:pPr marL="372110" indent="-270510">
              <a:lnSpc>
                <a:spcPts val="1380"/>
              </a:lnSpc>
              <a:buAutoNum type="arabicParenR"/>
              <a:tabLst>
                <a:tab pos="372110" algn="l"/>
                <a:tab pos="372745" algn="l"/>
              </a:tabLst>
            </a:pPr>
            <a:r>
              <a:rPr dirty="0" sz="1200">
                <a:latin typeface="Arial"/>
                <a:cs typeface="Arial"/>
              </a:rPr>
              <a:t>Fátima</a:t>
            </a:r>
            <a:r>
              <a:rPr dirty="0" sz="1200" spc="-15">
                <a:latin typeface="Arial"/>
                <a:cs typeface="Arial"/>
              </a:rPr>
              <a:t> </a:t>
            </a:r>
            <a:r>
              <a:rPr dirty="0" sz="1200">
                <a:latin typeface="Arial"/>
                <a:cs typeface="Arial"/>
              </a:rPr>
              <a:t>al-Zahra</a:t>
            </a:r>
            <a:endParaRPr sz="1200">
              <a:latin typeface="Arial"/>
              <a:cs typeface="Arial"/>
            </a:endParaRPr>
          </a:p>
          <a:p>
            <a:pPr marL="372110" indent="-270510">
              <a:lnSpc>
                <a:spcPts val="1375"/>
              </a:lnSpc>
              <a:buAutoNum type="arabicParenR"/>
              <a:tabLst>
                <a:tab pos="372110" algn="l"/>
                <a:tab pos="372745" algn="l"/>
              </a:tabLst>
            </a:pPr>
            <a:r>
              <a:rPr dirty="0" sz="1200">
                <a:latin typeface="Arial"/>
                <a:cs typeface="Arial"/>
              </a:rPr>
              <a:t>Alí</a:t>
            </a:r>
            <a:endParaRPr sz="1200">
              <a:latin typeface="Arial"/>
              <a:cs typeface="Arial"/>
            </a:endParaRPr>
          </a:p>
          <a:p>
            <a:pPr marL="372110" indent="-270510">
              <a:lnSpc>
                <a:spcPts val="1375"/>
              </a:lnSpc>
              <a:buAutoNum type="arabicParenR"/>
              <a:tabLst>
                <a:tab pos="372110" algn="l"/>
                <a:tab pos="372745" algn="l"/>
              </a:tabLst>
            </a:pPr>
            <a:r>
              <a:rPr dirty="0" sz="1200">
                <a:latin typeface="Arial"/>
                <a:cs typeface="Arial"/>
              </a:rPr>
              <a:t>Hasan</a:t>
            </a:r>
            <a:endParaRPr sz="1200">
              <a:latin typeface="Arial"/>
              <a:cs typeface="Arial"/>
            </a:endParaRPr>
          </a:p>
          <a:p>
            <a:pPr marL="372110" indent="-270510">
              <a:lnSpc>
                <a:spcPts val="1410"/>
              </a:lnSpc>
              <a:buAutoNum type="arabicParenR"/>
              <a:tabLst>
                <a:tab pos="372110" algn="l"/>
                <a:tab pos="372745" algn="l"/>
              </a:tabLst>
            </a:pPr>
            <a:r>
              <a:rPr dirty="0" sz="1200" spc="-5">
                <a:latin typeface="Arial"/>
                <a:cs typeface="Arial"/>
              </a:rPr>
              <a:t>Husayn</a:t>
            </a:r>
            <a:endParaRPr sz="1200">
              <a:latin typeface="Arial"/>
              <a:cs typeface="Arial"/>
            </a:endParaRPr>
          </a:p>
          <a:p>
            <a:pPr>
              <a:lnSpc>
                <a:spcPct val="100000"/>
              </a:lnSpc>
              <a:buFont typeface="Arial"/>
              <a:buAutoNum type="arabicParenR"/>
            </a:pPr>
            <a:endParaRPr sz="1150">
              <a:latin typeface="Arial"/>
              <a:cs typeface="Arial"/>
            </a:endParaRPr>
          </a:p>
          <a:p>
            <a:pPr marL="12700">
              <a:lnSpc>
                <a:spcPct val="100000"/>
              </a:lnSpc>
            </a:pPr>
            <a:r>
              <a:rPr dirty="0" u="heavy" sz="1200" spc="-5" b="1" i="1">
                <a:uFill>
                  <a:solidFill>
                    <a:srgbClr val="000000"/>
                  </a:solidFill>
                </a:uFill>
                <a:latin typeface="Arial"/>
                <a:cs typeface="Arial"/>
              </a:rPr>
              <a:t>The Twelvers</a:t>
            </a:r>
            <a:endParaRPr sz="1200">
              <a:latin typeface="Arial"/>
              <a:cs typeface="Arial"/>
            </a:endParaRPr>
          </a:p>
          <a:p>
            <a:pPr>
              <a:lnSpc>
                <a:spcPct val="100000"/>
              </a:lnSpc>
              <a:spcBef>
                <a:spcPts val="35"/>
              </a:spcBef>
            </a:pPr>
            <a:endParaRPr sz="1200">
              <a:latin typeface="Arial"/>
              <a:cs typeface="Arial"/>
            </a:endParaRPr>
          </a:p>
          <a:p>
            <a:pPr lvl="1" marL="469900" marR="9525" indent="-229235">
              <a:lnSpc>
                <a:spcPts val="1380"/>
              </a:lnSpc>
              <a:buFont typeface="Wingdings"/>
              <a:buChar char=""/>
              <a:tabLst>
                <a:tab pos="414020" algn="l"/>
              </a:tabLst>
            </a:pPr>
            <a:r>
              <a:rPr dirty="0" sz="1200">
                <a:latin typeface="Arial"/>
                <a:cs typeface="Arial"/>
              </a:rPr>
              <a:t>In </a:t>
            </a:r>
            <a:r>
              <a:rPr dirty="0" sz="1200" spc="-5">
                <a:latin typeface="Arial"/>
                <a:cs typeface="Arial"/>
              </a:rPr>
              <a:t>873 when Shia Imam (Imam Muhammad </a:t>
            </a:r>
            <a:r>
              <a:rPr dirty="0" sz="1200">
                <a:latin typeface="Arial"/>
                <a:cs typeface="Arial"/>
              </a:rPr>
              <a:t>al </a:t>
            </a:r>
            <a:r>
              <a:rPr dirty="0" sz="1200" spc="-5">
                <a:latin typeface="Arial"/>
                <a:cs typeface="Arial"/>
              </a:rPr>
              <a:t>Mahdi) disappeared </a:t>
            </a:r>
            <a:r>
              <a:rPr dirty="0" sz="1200">
                <a:latin typeface="Arial"/>
                <a:cs typeface="Arial"/>
              </a:rPr>
              <a:t>at </a:t>
            </a:r>
            <a:r>
              <a:rPr dirty="0" sz="1200" spc="-5">
                <a:latin typeface="Arial"/>
                <a:cs typeface="Arial"/>
              </a:rPr>
              <a:t>the age of </a:t>
            </a:r>
            <a:r>
              <a:rPr dirty="0" sz="1200">
                <a:latin typeface="Arial"/>
                <a:cs typeface="Arial"/>
              </a:rPr>
              <a:t>4 …  there </a:t>
            </a:r>
            <a:r>
              <a:rPr dirty="0" sz="1200" spc="-10">
                <a:latin typeface="Arial"/>
                <a:cs typeface="Arial"/>
              </a:rPr>
              <a:t>was </a:t>
            </a:r>
            <a:r>
              <a:rPr dirty="0" sz="1200">
                <a:latin typeface="Arial"/>
                <a:cs typeface="Arial"/>
              </a:rPr>
              <a:t>no</a:t>
            </a:r>
            <a:r>
              <a:rPr dirty="0" sz="1200" spc="-5">
                <a:latin typeface="Arial"/>
                <a:cs typeface="Arial"/>
              </a:rPr>
              <a:t> successor</a:t>
            </a:r>
            <a:endParaRPr sz="1200">
              <a:latin typeface="Arial"/>
              <a:cs typeface="Arial"/>
            </a:endParaRPr>
          </a:p>
          <a:p>
            <a:pPr lvl="1" marL="413384" indent="-172720">
              <a:lnSpc>
                <a:spcPts val="1315"/>
              </a:lnSpc>
              <a:buFont typeface="Wingdings"/>
              <a:buChar char=""/>
              <a:tabLst>
                <a:tab pos="414020" algn="l"/>
              </a:tabLst>
            </a:pPr>
            <a:r>
              <a:rPr dirty="0" sz="1200" spc="-5">
                <a:latin typeface="Arial"/>
                <a:cs typeface="Arial"/>
              </a:rPr>
              <a:t>Shia waited </a:t>
            </a:r>
            <a:r>
              <a:rPr dirty="0" sz="1200">
                <a:latin typeface="Arial"/>
                <a:cs typeface="Arial"/>
              </a:rPr>
              <a:t>for </a:t>
            </a:r>
            <a:r>
              <a:rPr dirty="0" sz="1200" spc="-5">
                <a:latin typeface="Arial"/>
                <a:cs typeface="Arial"/>
              </a:rPr>
              <a:t>his return </a:t>
            </a:r>
            <a:r>
              <a:rPr dirty="0" sz="1200">
                <a:latin typeface="Arial"/>
                <a:cs typeface="Arial"/>
              </a:rPr>
              <a:t>but </a:t>
            </a:r>
            <a:r>
              <a:rPr dirty="0" sz="1200" spc="-10">
                <a:latin typeface="Arial"/>
                <a:cs typeface="Arial"/>
              </a:rPr>
              <a:t>in</a:t>
            </a:r>
            <a:r>
              <a:rPr dirty="0" sz="1200" spc="5">
                <a:latin typeface="Arial"/>
                <a:cs typeface="Arial"/>
              </a:rPr>
              <a:t> </a:t>
            </a:r>
            <a:r>
              <a:rPr dirty="0" sz="1200" spc="-5">
                <a:latin typeface="Arial"/>
                <a:cs typeface="Arial"/>
              </a:rPr>
              <a:t>vain</a:t>
            </a:r>
            <a:endParaRPr sz="1200">
              <a:latin typeface="Arial"/>
              <a:cs typeface="Arial"/>
            </a:endParaRPr>
          </a:p>
          <a:p>
            <a:pPr lvl="1" marL="413384" indent="-172720">
              <a:lnSpc>
                <a:spcPts val="1380"/>
              </a:lnSpc>
              <a:buFont typeface="Wingdings"/>
              <a:buChar char=""/>
              <a:tabLst>
                <a:tab pos="414020" algn="l"/>
              </a:tabLst>
            </a:pPr>
            <a:r>
              <a:rPr dirty="0" sz="1200" spc="-5">
                <a:latin typeface="Arial"/>
                <a:cs typeface="Arial"/>
              </a:rPr>
              <a:t>Then Shia choose their Imam </a:t>
            </a:r>
            <a:r>
              <a:rPr dirty="0" sz="1200">
                <a:latin typeface="Arial"/>
                <a:cs typeface="Arial"/>
              </a:rPr>
              <a:t>… </a:t>
            </a:r>
            <a:r>
              <a:rPr dirty="0" sz="1200" spc="-5">
                <a:latin typeface="Arial"/>
                <a:cs typeface="Arial"/>
              </a:rPr>
              <a:t>most popular is Ayatollah</a:t>
            </a:r>
            <a:r>
              <a:rPr dirty="0" sz="1200" spc="20">
                <a:latin typeface="Arial"/>
                <a:cs typeface="Arial"/>
              </a:rPr>
              <a:t> </a:t>
            </a:r>
            <a:r>
              <a:rPr dirty="0" sz="1200" spc="-5">
                <a:latin typeface="Arial"/>
                <a:cs typeface="Arial"/>
              </a:rPr>
              <a:t>Khomeni</a:t>
            </a:r>
            <a:endParaRPr sz="1200">
              <a:latin typeface="Arial"/>
              <a:cs typeface="Arial"/>
            </a:endParaRPr>
          </a:p>
          <a:p>
            <a:pPr lvl="1" marL="413384" indent="-172720">
              <a:lnSpc>
                <a:spcPts val="1380"/>
              </a:lnSpc>
              <a:buFont typeface="Wingdings"/>
              <a:buChar char=""/>
              <a:tabLst>
                <a:tab pos="414020" algn="l"/>
              </a:tabLst>
            </a:pPr>
            <a:r>
              <a:rPr dirty="0" sz="1200" spc="-5">
                <a:latin typeface="Arial"/>
                <a:cs typeface="Arial"/>
              </a:rPr>
              <a:t>Their imam is</a:t>
            </a:r>
            <a:r>
              <a:rPr dirty="0" sz="1200" spc="5">
                <a:latin typeface="Arial"/>
                <a:cs typeface="Arial"/>
              </a:rPr>
              <a:t> </a:t>
            </a:r>
            <a:r>
              <a:rPr dirty="0" sz="1200" spc="-5">
                <a:latin typeface="Arial"/>
                <a:cs typeface="Arial"/>
              </a:rPr>
              <a:t>infallible</a:t>
            </a:r>
            <a:endParaRPr sz="1200">
              <a:latin typeface="Arial"/>
              <a:cs typeface="Arial"/>
            </a:endParaRPr>
          </a:p>
          <a:p>
            <a:pPr lvl="1" marL="413384" indent="-172720">
              <a:lnSpc>
                <a:spcPts val="1380"/>
              </a:lnSpc>
              <a:buFont typeface="Wingdings"/>
              <a:buChar char=""/>
              <a:tabLst>
                <a:tab pos="414020" algn="l"/>
              </a:tabLst>
            </a:pPr>
            <a:r>
              <a:rPr dirty="0" sz="1200" spc="-5">
                <a:latin typeface="Arial"/>
                <a:cs typeface="Arial"/>
              </a:rPr>
              <a:t>He possessed spiritual</a:t>
            </a:r>
            <a:r>
              <a:rPr dirty="0" sz="1200" spc="-10">
                <a:latin typeface="Arial"/>
                <a:cs typeface="Arial"/>
              </a:rPr>
              <a:t> </a:t>
            </a:r>
            <a:r>
              <a:rPr dirty="0" sz="1200" spc="-5">
                <a:latin typeface="Arial"/>
                <a:cs typeface="Arial"/>
              </a:rPr>
              <a:t>power</a:t>
            </a:r>
            <a:endParaRPr sz="1200">
              <a:latin typeface="Arial"/>
              <a:cs typeface="Arial"/>
            </a:endParaRPr>
          </a:p>
          <a:p>
            <a:pPr lvl="1" marL="413384" indent="-172720">
              <a:lnSpc>
                <a:spcPts val="1380"/>
              </a:lnSpc>
              <a:buFont typeface="Wingdings"/>
              <a:buChar char=""/>
              <a:tabLst>
                <a:tab pos="414020" algn="l"/>
              </a:tabLst>
            </a:pPr>
            <a:r>
              <a:rPr dirty="0" sz="1200" spc="-5">
                <a:latin typeface="Arial"/>
                <a:cs typeface="Arial"/>
              </a:rPr>
              <a:t>Inheritance from Holy</a:t>
            </a:r>
            <a:r>
              <a:rPr dirty="0" sz="1200" spc="-25">
                <a:latin typeface="Arial"/>
                <a:cs typeface="Arial"/>
              </a:rPr>
              <a:t> </a:t>
            </a:r>
            <a:r>
              <a:rPr dirty="0" sz="1200" spc="-5">
                <a:latin typeface="Arial"/>
                <a:cs typeface="Arial"/>
              </a:rPr>
              <a:t>Prophet</a:t>
            </a:r>
            <a:endParaRPr sz="1200">
              <a:latin typeface="Arial"/>
              <a:cs typeface="Arial"/>
            </a:endParaRPr>
          </a:p>
          <a:p>
            <a:pPr lvl="1" marL="413384" indent="-172720">
              <a:lnSpc>
                <a:spcPts val="1380"/>
              </a:lnSpc>
              <a:buFont typeface="Wingdings"/>
              <a:buChar char=""/>
              <a:tabLst>
                <a:tab pos="414020" algn="l"/>
              </a:tabLst>
            </a:pPr>
            <a:r>
              <a:rPr dirty="0" sz="1200" spc="-5">
                <a:latin typeface="Arial"/>
                <a:cs typeface="Arial"/>
              </a:rPr>
              <a:t>Received</a:t>
            </a:r>
            <a:r>
              <a:rPr dirty="0" sz="1200" spc="-25">
                <a:latin typeface="Arial"/>
                <a:cs typeface="Arial"/>
              </a:rPr>
              <a:t> </a:t>
            </a:r>
            <a:r>
              <a:rPr dirty="0" sz="1200" spc="5">
                <a:latin typeface="Arial"/>
                <a:cs typeface="Arial"/>
              </a:rPr>
              <a:t>Wahy</a:t>
            </a:r>
            <a:endParaRPr sz="1200">
              <a:latin typeface="Arial"/>
              <a:cs typeface="Arial"/>
            </a:endParaRPr>
          </a:p>
          <a:p>
            <a:pPr lvl="1" marL="413384" indent="-172720">
              <a:lnSpc>
                <a:spcPts val="1380"/>
              </a:lnSpc>
              <a:buFont typeface="Wingdings"/>
              <a:buChar char=""/>
              <a:tabLst>
                <a:tab pos="414020" algn="l"/>
              </a:tabLst>
            </a:pPr>
            <a:r>
              <a:rPr dirty="0" sz="1200" spc="-5">
                <a:latin typeface="Arial"/>
                <a:cs typeface="Arial"/>
              </a:rPr>
              <a:t>Inerrant interpreters of</a:t>
            </a:r>
            <a:r>
              <a:rPr dirty="0" sz="1200" spc="-10">
                <a:latin typeface="Arial"/>
                <a:cs typeface="Arial"/>
              </a:rPr>
              <a:t> </a:t>
            </a:r>
            <a:r>
              <a:rPr dirty="0" sz="1200" spc="-5">
                <a:latin typeface="Arial"/>
                <a:cs typeface="Arial"/>
              </a:rPr>
              <a:t>Shari‘ah</a:t>
            </a:r>
            <a:endParaRPr sz="1200">
              <a:latin typeface="Arial"/>
              <a:cs typeface="Arial"/>
            </a:endParaRPr>
          </a:p>
          <a:p>
            <a:pPr lvl="1" marL="413384" indent="-172720">
              <a:lnSpc>
                <a:spcPts val="1410"/>
              </a:lnSpc>
              <a:buFont typeface="Wingdings"/>
              <a:buChar char=""/>
              <a:tabLst>
                <a:tab pos="414020" algn="l"/>
              </a:tabLst>
            </a:pPr>
            <a:r>
              <a:rPr dirty="0" sz="1200" spc="-5">
                <a:latin typeface="Arial"/>
                <a:cs typeface="Arial"/>
              </a:rPr>
              <a:t>Glorification Of Hazrat Ali </a:t>
            </a:r>
            <a:r>
              <a:rPr dirty="0" sz="1200">
                <a:latin typeface="Arial"/>
                <a:cs typeface="Arial"/>
              </a:rPr>
              <a:t>as </a:t>
            </a:r>
            <a:r>
              <a:rPr dirty="0" sz="1200" spc="-5">
                <a:latin typeface="Arial"/>
                <a:cs typeface="Arial"/>
              </a:rPr>
              <a:t>(as) instead of</a:t>
            </a:r>
            <a:r>
              <a:rPr dirty="0" sz="1200" spc="30">
                <a:latin typeface="Arial"/>
                <a:cs typeface="Arial"/>
              </a:rPr>
              <a:t> </a:t>
            </a:r>
            <a:r>
              <a:rPr dirty="0" sz="1200" spc="-5">
                <a:latin typeface="Arial"/>
                <a:cs typeface="Arial"/>
              </a:rPr>
              <a:t>(ra)</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138</a:t>
            </a:r>
            <a:endParaRPr sz="1200">
              <a:latin typeface="Times New Roman"/>
              <a:cs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6311265" cy="8620760"/>
          </a:xfrm>
          <a:prstGeom prst="rect">
            <a:avLst/>
          </a:prstGeom>
        </p:spPr>
        <p:txBody>
          <a:bodyPr wrap="square" lIns="0" tIns="12700" rIns="0" bIns="0" rtlCol="0" vert="horz">
            <a:spAutoFit/>
          </a:bodyPr>
          <a:lstStyle/>
          <a:p>
            <a:pPr marL="413384" indent="-172720">
              <a:lnSpc>
                <a:spcPts val="1410"/>
              </a:lnSpc>
              <a:spcBef>
                <a:spcPts val="100"/>
              </a:spcBef>
              <a:buFont typeface="Wingdings"/>
              <a:buChar char=""/>
              <a:tabLst>
                <a:tab pos="414020" algn="l"/>
              </a:tabLst>
            </a:pPr>
            <a:r>
              <a:rPr dirty="0" sz="1200" spc="-5">
                <a:latin typeface="Arial"/>
                <a:cs typeface="Arial"/>
              </a:rPr>
              <a:t>Theme of Martyrdom and suffering </a:t>
            </a:r>
            <a:r>
              <a:rPr dirty="0" sz="1200">
                <a:latin typeface="Arial"/>
                <a:cs typeface="Arial"/>
              </a:rPr>
              <a:t>– </a:t>
            </a:r>
            <a:r>
              <a:rPr dirty="0" sz="1200" spc="-5">
                <a:latin typeface="Arial"/>
                <a:cs typeface="Arial"/>
              </a:rPr>
              <a:t>Karbala</a:t>
            </a:r>
            <a:r>
              <a:rPr dirty="0" sz="1200" spc="25">
                <a:latin typeface="Arial"/>
                <a:cs typeface="Arial"/>
              </a:rPr>
              <a:t> </a:t>
            </a:r>
            <a:r>
              <a:rPr dirty="0" sz="1200" spc="-5">
                <a:latin typeface="Arial"/>
                <a:cs typeface="Arial"/>
              </a:rPr>
              <a:t>event</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Different call </a:t>
            </a:r>
            <a:r>
              <a:rPr dirty="0" sz="1200">
                <a:latin typeface="Arial"/>
                <a:cs typeface="Arial"/>
              </a:rPr>
              <a:t>to</a:t>
            </a:r>
            <a:r>
              <a:rPr dirty="0" sz="1200" spc="-10">
                <a:latin typeface="Arial"/>
                <a:cs typeface="Arial"/>
              </a:rPr>
              <a:t> </a:t>
            </a:r>
            <a:r>
              <a:rPr dirty="0" sz="1200" spc="-5">
                <a:latin typeface="Arial"/>
                <a:cs typeface="Arial"/>
              </a:rPr>
              <a:t>prayer</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Different </a:t>
            </a:r>
            <a:r>
              <a:rPr dirty="0" sz="1200" spc="-10">
                <a:latin typeface="Arial"/>
                <a:cs typeface="Arial"/>
              </a:rPr>
              <a:t>wazu</a:t>
            </a:r>
            <a:endParaRPr sz="1200">
              <a:latin typeface="Arial"/>
              <a:cs typeface="Arial"/>
            </a:endParaRPr>
          </a:p>
          <a:p>
            <a:pPr marL="413384" indent="-172720">
              <a:lnSpc>
                <a:spcPts val="1410"/>
              </a:lnSpc>
              <a:buFont typeface="Wingdings"/>
              <a:buChar char=""/>
              <a:tabLst>
                <a:tab pos="414020" algn="l"/>
              </a:tabLst>
            </a:pPr>
            <a:r>
              <a:rPr dirty="0" sz="1200" spc="-5">
                <a:latin typeface="Arial"/>
                <a:cs typeface="Arial"/>
              </a:rPr>
              <a:t>Different namaz (Combined prayers </a:t>
            </a:r>
            <a:r>
              <a:rPr dirty="0" sz="1200">
                <a:latin typeface="Arial"/>
                <a:cs typeface="Arial"/>
              </a:rPr>
              <a:t>– </a:t>
            </a:r>
            <a:r>
              <a:rPr dirty="0" sz="1200" spc="-5">
                <a:latin typeface="Arial"/>
                <a:cs typeface="Arial"/>
              </a:rPr>
              <a:t>3 instead of</a:t>
            </a:r>
            <a:r>
              <a:rPr dirty="0" sz="1200" spc="15">
                <a:latin typeface="Arial"/>
                <a:cs typeface="Arial"/>
              </a:rPr>
              <a:t> </a:t>
            </a:r>
            <a:r>
              <a:rPr dirty="0" sz="1200" spc="-5">
                <a:latin typeface="Arial"/>
                <a:cs typeface="Arial"/>
              </a:rPr>
              <a:t>5)</a:t>
            </a:r>
            <a:endParaRPr sz="1200">
              <a:latin typeface="Arial"/>
              <a:cs typeface="Arial"/>
            </a:endParaRPr>
          </a:p>
          <a:p>
            <a:pPr>
              <a:lnSpc>
                <a:spcPct val="100000"/>
              </a:lnSpc>
              <a:spcBef>
                <a:spcPts val="55"/>
              </a:spcBef>
              <a:buFont typeface="Wingdings"/>
              <a:buChar char=""/>
            </a:pPr>
            <a:endParaRPr sz="1100">
              <a:latin typeface="Arial"/>
              <a:cs typeface="Arial"/>
            </a:endParaRPr>
          </a:p>
          <a:p>
            <a:pPr marL="12700">
              <a:lnSpc>
                <a:spcPct val="100000"/>
              </a:lnSpc>
            </a:pPr>
            <a:r>
              <a:rPr dirty="0" u="heavy" sz="1200" spc="-5" b="1" i="1">
                <a:uFill>
                  <a:solidFill>
                    <a:srgbClr val="000000"/>
                  </a:solidFill>
                </a:uFill>
                <a:latin typeface="Arial"/>
                <a:cs typeface="Arial"/>
              </a:rPr>
              <a:t>The Ismailites </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the</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Seveners</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Font typeface="Wingdings"/>
              <a:buChar char=""/>
              <a:tabLst>
                <a:tab pos="470534" algn="l"/>
              </a:tabLst>
            </a:pPr>
            <a:r>
              <a:rPr dirty="0" sz="1200" spc="-5">
                <a:latin typeface="Arial"/>
                <a:cs typeface="Arial"/>
              </a:rPr>
              <a:t>Muhammad son of Isma'il </a:t>
            </a:r>
            <a:r>
              <a:rPr dirty="0" sz="1200">
                <a:latin typeface="Arial"/>
                <a:cs typeface="Arial"/>
              </a:rPr>
              <a:t>as </a:t>
            </a:r>
            <a:r>
              <a:rPr dirty="0" sz="1200" spc="-5">
                <a:latin typeface="Arial"/>
                <a:cs typeface="Arial"/>
              </a:rPr>
              <a:t>the seventh</a:t>
            </a:r>
            <a:r>
              <a:rPr dirty="0" sz="1200" spc="10">
                <a:latin typeface="Arial"/>
                <a:cs typeface="Arial"/>
              </a:rPr>
              <a:t> </a:t>
            </a:r>
            <a:r>
              <a:rPr dirty="0" sz="1200" spc="-5">
                <a:latin typeface="Arial"/>
                <a:cs typeface="Arial"/>
              </a:rPr>
              <a:t>Imam</a:t>
            </a:r>
            <a:endParaRPr sz="1200">
              <a:latin typeface="Arial"/>
              <a:cs typeface="Arial"/>
            </a:endParaRPr>
          </a:p>
          <a:p>
            <a:pPr marL="469900" marR="5080" indent="-228600">
              <a:lnSpc>
                <a:spcPts val="1380"/>
              </a:lnSpc>
              <a:spcBef>
                <a:spcPts val="65"/>
              </a:spcBef>
              <a:buFont typeface="Wingdings"/>
              <a:buChar char=""/>
              <a:tabLst>
                <a:tab pos="470534" algn="l"/>
              </a:tabLst>
            </a:pPr>
            <a:r>
              <a:rPr dirty="0" sz="1200" spc="-5">
                <a:latin typeface="Arial"/>
                <a:cs typeface="Arial"/>
              </a:rPr>
              <a:t>Isma'ili doctrine considers history </a:t>
            </a:r>
            <a:r>
              <a:rPr dirty="0" sz="1200" spc="10">
                <a:latin typeface="Arial"/>
                <a:cs typeface="Arial"/>
              </a:rPr>
              <a:t>to </a:t>
            </a:r>
            <a:r>
              <a:rPr dirty="0" sz="1200" spc="-5">
                <a:latin typeface="Arial"/>
                <a:cs typeface="Arial"/>
              </a:rPr>
              <a:t>be divided into </a:t>
            </a:r>
            <a:r>
              <a:rPr dirty="0" sz="1200" spc="-10">
                <a:latin typeface="Arial"/>
                <a:cs typeface="Arial"/>
              </a:rPr>
              <a:t>seven </a:t>
            </a:r>
            <a:r>
              <a:rPr dirty="0" sz="1200">
                <a:latin typeface="Arial"/>
                <a:cs typeface="Arial"/>
              </a:rPr>
              <a:t>periods: </a:t>
            </a:r>
            <a:r>
              <a:rPr dirty="0" sz="1200" spc="-5">
                <a:latin typeface="Arial"/>
                <a:cs typeface="Arial"/>
              </a:rPr>
              <a:t>Adam, </a:t>
            </a:r>
            <a:r>
              <a:rPr dirty="0" sz="1200" spc="-10">
                <a:latin typeface="Arial"/>
                <a:cs typeface="Arial"/>
              </a:rPr>
              <a:t>Noah,  </a:t>
            </a:r>
            <a:r>
              <a:rPr dirty="0" sz="1200" spc="-5">
                <a:latin typeface="Arial"/>
                <a:cs typeface="Arial"/>
              </a:rPr>
              <a:t>Abraham, </a:t>
            </a:r>
            <a:r>
              <a:rPr dirty="0" sz="1200">
                <a:latin typeface="Arial"/>
                <a:cs typeface="Arial"/>
              </a:rPr>
              <a:t>Moses, </a:t>
            </a:r>
            <a:r>
              <a:rPr dirty="0" sz="1200" spc="-5">
                <a:latin typeface="Arial"/>
                <a:cs typeface="Arial"/>
              </a:rPr>
              <a:t>Jesus </a:t>
            </a:r>
            <a:r>
              <a:rPr dirty="0" sz="1200">
                <a:latin typeface="Arial"/>
                <a:cs typeface="Arial"/>
              </a:rPr>
              <a:t>and</a:t>
            </a:r>
            <a:r>
              <a:rPr dirty="0" sz="1200" spc="-25">
                <a:latin typeface="Arial"/>
                <a:cs typeface="Arial"/>
              </a:rPr>
              <a:t> </a:t>
            </a:r>
            <a:r>
              <a:rPr dirty="0" sz="1200" spc="-5">
                <a:latin typeface="Arial"/>
                <a:cs typeface="Arial"/>
              </a:rPr>
              <a:t>Muhammad.</a:t>
            </a:r>
            <a:endParaRPr sz="1200">
              <a:latin typeface="Arial"/>
              <a:cs typeface="Arial"/>
            </a:endParaRPr>
          </a:p>
          <a:p>
            <a:pPr marL="469900" indent="-229235">
              <a:lnSpc>
                <a:spcPts val="1315"/>
              </a:lnSpc>
              <a:buFont typeface="Wingdings"/>
              <a:buChar char=""/>
              <a:tabLst>
                <a:tab pos="470534" algn="l"/>
              </a:tabLst>
            </a:pPr>
            <a:r>
              <a:rPr dirty="0" sz="1200" spc="-5">
                <a:latin typeface="Arial"/>
                <a:cs typeface="Arial"/>
              </a:rPr>
              <a:t>Their six </a:t>
            </a:r>
            <a:r>
              <a:rPr dirty="0" sz="1200">
                <a:latin typeface="Arial"/>
                <a:cs typeface="Arial"/>
              </a:rPr>
              <a:t>interpreters </a:t>
            </a:r>
            <a:r>
              <a:rPr dirty="0" sz="1200" spc="-10">
                <a:latin typeface="Arial"/>
                <a:cs typeface="Arial"/>
              </a:rPr>
              <a:t>were </a:t>
            </a:r>
            <a:r>
              <a:rPr dirty="0" sz="1200">
                <a:latin typeface="Arial"/>
                <a:cs typeface="Arial"/>
              </a:rPr>
              <a:t>Seth, </a:t>
            </a:r>
            <a:r>
              <a:rPr dirty="0" sz="1200" spc="-5">
                <a:latin typeface="Arial"/>
                <a:cs typeface="Arial"/>
              </a:rPr>
              <a:t>Shem, Isaac, </a:t>
            </a:r>
            <a:r>
              <a:rPr dirty="0" sz="1200">
                <a:latin typeface="Arial"/>
                <a:cs typeface="Arial"/>
              </a:rPr>
              <a:t>Aaron, </a:t>
            </a:r>
            <a:r>
              <a:rPr dirty="0" sz="1200" spc="-5">
                <a:latin typeface="Arial"/>
                <a:cs typeface="Arial"/>
              </a:rPr>
              <a:t>Simon Peter and Ali</a:t>
            </a:r>
            <a:endParaRPr sz="1200">
              <a:latin typeface="Arial"/>
              <a:cs typeface="Arial"/>
            </a:endParaRPr>
          </a:p>
          <a:p>
            <a:pPr marL="469900" marR="8255" indent="-228600">
              <a:lnSpc>
                <a:spcPts val="1380"/>
              </a:lnSpc>
              <a:spcBef>
                <a:spcPts val="65"/>
              </a:spcBef>
              <a:buFont typeface="Wingdings"/>
              <a:buChar char=""/>
              <a:tabLst>
                <a:tab pos="470534" algn="l"/>
              </a:tabLst>
            </a:pPr>
            <a:r>
              <a:rPr dirty="0" sz="1200" spc="-5">
                <a:latin typeface="Arial"/>
                <a:cs typeface="Arial"/>
              </a:rPr>
              <a:t>The six Shi'a Imams (from </a:t>
            </a:r>
            <a:r>
              <a:rPr dirty="0" sz="1200">
                <a:latin typeface="Arial"/>
                <a:cs typeface="Arial"/>
              </a:rPr>
              <a:t>al-Hasan </a:t>
            </a:r>
            <a:r>
              <a:rPr dirty="0" sz="1200" spc="-5">
                <a:latin typeface="Arial"/>
                <a:cs typeface="Arial"/>
              </a:rPr>
              <a:t>to Isma'il) have followed Muhammad and his  interpreter </a:t>
            </a:r>
            <a:r>
              <a:rPr dirty="0" sz="1200">
                <a:latin typeface="Arial"/>
                <a:cs typeface="Arial"/>
              </a:rPr>
              <a:t>Ali.</a:t>
            </a:r>
            <a:endParaRPr sz="1200">
              <a:latin typeface="Arial"/>
              <a:cs typeface="Arial"/>
            </a:endParaRPr>
          </a:p>
          <a:p>
            <a:pPr marL="469900" marR="11430" indent="-228600">
              <a:lnSpc>
                <a:spcPts val="1380"/>
              </a:lnSpc>
              <a:buFont typeface="Wingdings"/>
              <a:buChar char=""/>
              <a:tabLst>
                <a:tab pos="470534" algn="l"/>
              </a:tabLst>
            </a:pPr>
            <a:r>
              <a:rPr dirty="0" sz="1200" spc="-5">
                <a:latin typeface="Arial"/>
                <a:cs typeface="Arial"/>
              </a:rPr>
              <a:t>The seventh </a:t>
            </a:r>
            <a:r>
              <a:rPr dirty="0" sz="1200">
                <a:latin typeface="Arial"/>
                <a:cs typeface="Arial"/>
              </a:rPr>
              <a:t>Imam, </a:t>
            </a:r>
            <a:r>
              <a:rPr dirty="0" sz="1200" spc="-5">
                <a:latin typeface="Arial"/>
                <a:cs typeface="Arial"/>
              </a:rPr>
              <a:t>Muhammad, did not die but went into hiding, and </a:t>
            </a:r>
            <a:r>
              <a:rPr dirty="0" sz="1200" spc="-10">
                <a:latin typeface="Arial"/>
                <a:cs typeface="Arial"/>
              </a:rPr>
              <a:t>will </a:t>
            </a:r>
            <a:r>
              <a:rPr dirty="0" sz="1200" spc="-5">
                <a:latin typeface="Arial"/>
                <a:cs typeface="Arial"/>
              </a:rPr>
              <a:t>appear </a:t>
            </a:r>
            <a:r>
              <a:rPr dirty="0" sz="1200" spc="-10">
                <a:latin typeface="Arial"/>
                <a:cs typeface="Arial"/>
              </a:rPr>
              <a:t>as  </a:t>
            </a:r>
            <a:r>
              <a:rPr dirty="0" sz="1200">
                <a:latin typeface="Arial"/>
                <a:cs typeface="Arial"/>
              </a:rPr>
              <a:t>the</a:t>
            </a:r>
            <a:r>
              <a:rPr dirty="0" sz="1200" spc="-5">
                <a:latin typeface="Arial"/>
                <a:cs typeface="Arial"/>
              </a:rPr>
              <a:t> Mahdi</a:t>
            </a:r>
            <a:endParaRPr sz="1200">
              <a:latin typeface="Arial"/>
              <a:cs typeface="Arial"/>
            </a:endParaRPr>
          </a:p>
          <a:p>
            <a:pPr>
              <a:lnSpc>
                <a:spcPct val="100000"/>
              </a:lnSpc>
              <a:spcBef>
                <a:spcPts val="20"/>
              </a:spcBef>
              <a:buFont typeface="Wingdings"/>
              <a:buChar char=""/>
            </a:pPr>
            <a:endParaRPr sz="1100">
              <a:latin typeface="Arial"/>
              <a:cs typeface="Arial"/>
            </a:endParaRPr>
          </a:p>
          <a:p>
            <a:pPr marL="12700">
              <a:lnSpc>
                <a:spcPct val="100000"/>
              </a:lnSpc>
              <a:spcBef>
                <a:spcPts val="5"/>
              </a:spcBef>
            </a:pPr>
            <a:r>
              <a:rPr dirty="0" u="heavy" sz="1200" spc="-5" b="1" i="1">
                <a:uFill>
                  <a:solidFill>
                    <a:srgbClr val="000000"/>
                  </a:solidFill>
                </a:uFill>
                <a:latin typeface="Arial"/>
                <a:cs typeface="Arial"/>
              </a:rPr>
              <a:t>The</a:t>
            </a:r>
            <a:r>
              <a:rPr dirty="0" u="heavy" sz="1200" b="1" i="1">
                <a:uFill>
                  <a:solidFill>
                    <a:srgbClr val="000000"/>
                  </a:solidFill>
                </a:uFill>
                <a:latin typeface="Arial"/>
                <a:cs typeface="Arial"/>
              </a:rPr>
              <a:t> </a:t>
            </a:r>
            <a:r>
              <a:rPr dirty="0" u="heavy" sz="1200" spc="-35" b="1" i="1">
                <a:uFill>
                  <a:solidFill>
                    <a:srgbClr val="000000"/>
                  </a:solidFill>
                </a:uFill>
                <a:latin typeface="Arial"/>
                <a:cs typeface="Arial"/>
              </a:rPr>
              <a:t>Sa‟diyyah</a:t>
            </a:r>
            <a:endParaRPr sz="1200">
              <a:latin typeface="Arial"/>
              <a:cs typeface="Arial"/>
            </a:endParaRPr>
          </a:p>
          <a:p>
            <a:pPr>
              <a:lnSpc>
                <a:spcPct val="100000"/>
              </a:lnSpc>
              <a:spcBef>
                <a:spcPts val="50"/>
              </a:spcBef>
            </a:pPr>
            <a:endParaRPr sz="1100">
              <a:latin typeface="Arial"/>
              <a:cs typeface="Arial"/>
            </a:endParaRPr>
          </a:p>
          <a:p>
            <a:pPr marL="469900" indent="-229235">
              <a:lnSpc>
                <a:spcPts val="1410"/>
              </a:lnSpc>
              <a:spcBef>
                <a:spcPts val="5"/>
              </a:spcBef>
              <a:buFont typeface="Wingdings"/>
              <a:buChar char=""/>
              <a:tabLst>
                <a:tab pos="470534" algn="l"/>
              </a:tabLst>
            </a:pPr>
            <a:r>
              <a:rPr dirty="0" sz="1200" spc="-5">
                <a:latin typeface="Arial"/>
                <a:cs typeface="Arial"/>
              </a:rPr>
              <a:t>Zaydis believe </a:t>
            </a:r>
            <a:r>
              <a:rPr dirty="0" sz="1200">
                <a:latin typeface="Arial"/>
                <a:cs typeface="Arial"/>
              </a:rPr>
              <a:t>that </a:t>
            </a:r>
            <a:r>
              <a:rPr dirty="0" sz="1200" spc="-5">
                <a:latin typeface="Arial"/>
                <a:cs typeface="Arial"/>
              </a:rPr>
              <a:t>anyone </a:t>
            </a:r>
            <a:r>
              <a:rPr dirty="0" sz="1200" spc="-10">
                <a:latin typeface="Arial"/>
                <a:cs typeface="Arial"/>
              </a:rPr>
              <a:t>in </a:t>
            </a:r>
            <a:r>
              <a:rPr dirty="0" sz="1200">
                <a:latin typeface="Arial"/>
                <a:cs typeface="Arial"/>
              </a:rPr>
              <a:t>the </a:t>
            </a:r>
            <a:r>
              <a:rPr dirty="0" sz="1200" spc="-5">
                <a:latin typeface="Arial"/>
                <a:cs typeface="Arial"/>
              </a:rPr>
              <a:t>house of Ali is eligible </a:t>
            </a:r>
            <a:r>
              <a:rPr dirty="0" sz="1200" spc="5">
                <a:latin typeface="Arial"/>
                <a:cs typeface="Arial"/>
              </a:rPr>
              <a:t>for </a:t>
            </a:r>
            <a:r>
              <a:rPr dirty="0" sz="1200">
                <a:latin typeface="Arial"/>
                <a:cs typeface="Arial"/>
              </a:rPr>
              <a:t>the </a:t>
            </a:r>
            <a:r>
              <a:rPr dirty="0" sz="1200" spc="-5">
                <a:latin typeface="Arial"/>
                <a:cs typeface="Arial"/>
              </a:rPr>
              <a:t>Imamate</a:t>
            </a:r>
            <a:endParaRPr sz="1200">
              <a:latin typeface="Arial"/>
              <a:cs typeface="Arial"/>
            </a:endParaRPr>
          </a:p>
          <a:p>
            <a:pPr marL="469900" indent="-229235">
              <a:lnSpc>
                <a:spcPts val="1380"/>
              </a:lnSpc>
              <a:buFont typeface="Wingdings"/>
              <a:buChar char=""/>
              <a:tabLst>
                <a:tab pos="470534" algn="l"/>
              </a:tabLst>
            </a:pPr>
            <a:r>
              <a:rPr dirty="0" sz="1200" spc="-5">
                <a:latin typeface="Arial"/>
                <a:cs typeface="Arial"/>
              </a:rPr>
              <a:t>The Zaydis reject the doctrine of the Hidden Imam and </a:t>
            </a:r>
            <a:r>
              <a:rPr dirty="0" sz="1200">
                <a:latin typeface="Arial"/>
                <a:cs typeface="Arial"/>
              </a:rPr>
              <a:t>the </a:t>
            </a:r>
            <a:r>
              <a:rPr dirty="0" sz="1200" spc="-5">
                <a:latin typeface="Arial"/>
                <a:cs typeface="Arial"/>
              </a:rPr>
              <a:t>return of </a:t>
            </a:r>
            <a:r>
              <a:rPr dirty="0" sz="1200">
                <a:latin typeface="Arial"/>
                <a:cs typeface="Arial"/>
              </a:rPr>
              <a:t>the</a:t>
            </a:r>
            <a:r>
              <a:rPr dirty="0" sz="1200" spc="60">
                <a:latin typeface="Arial"/>
                <a:cs typeface="Arial"/>
              </a:rPr>
              <a:t> </a:t>
            </a:r>
            <a:r>
              <a:rPr dirty="0" sz="1200" spc="-5">
                <a:latin typeface="Arial"/>
                <a:cs typeface="Arial"/>
              </a:rPr>
              <a:t>Mahdi</a:t>
            </a:r>
            <a:endParaRPr sz="1200">
              <a:latin typeface="Arial"/>
              <a:cs typeface="Arial"/>
            </a:endParaRPr>
          </a:p>
          <a:p>
            <a:pPr marL="469900" indent="-229235">
              <a:lnSpc>
                <a:spcPts val="1380"/>
              </a:lnSpc>
              <a:buFont typeface="Wingdings"/>
              <a:buChar char=""/>
              <a:tabLst>
                <a:tab pos="470534" algn="l"/>
              </a:tabLst>
            </a:pPr>
            <a:r>
              <a:rPr dirty="0" sz="1200" spc="-5">
                <a:latin typeface="Arial"/>
                <a:cs typeface="Arial"/>
              </a:rPr>
              <a:t>The Imam is regarded as neither infallible nor capable of performing</a:t>
            </a:r>
            <a:r>
              <a:rPr dirty="0" sz="1200" spc="75">
                <a:latin typeface="Arial"/>
                <a:cs typeface="Arial"/>
              </a:rPr>
              <a:t> </a:t>
            </a:r>
            <a:r>
              <a:rPr dirty="0" sz="1200" spc="-5">
                <a:latin typeface="Arial"/>
                <a:cs typeface="Arial"/>
              </a:rPr>
              <a:t>miracles</a:t>
            </a:r>
            <a:endParaRPr sz="1200">
              <a:latin typeface="Arial"/>
              <a:cs typeface="Arial"/>
            </a:endParaRPr>
          </a:p>
          <a:p>
            <a:pPr marL="469900" indent="-229235">
              <a:lnSpc>
                <a:spcPts val="1380"/>
              </a:lnSpc>
              <a:buFont typeface="Wingdings"/>
              <a:buChar char=""/>
              <a:tabLst>
                <a:tab pos="470534" algn="l"/>
              </a:tabLst>
            </a:pPr>
            <a:r>
              <a:rPr dirty="0" sz="1200" spc="-5">
                <a:latin typeface="Arial"/>
                <a:cs typeface="Arial"/>
              </a:rPr>
              <a:t>Personal merit, rather than investiture, governs </a:t>
            </a:r>
            <a:r>
              <a:rPr dirty="0" sz="1200" spc="-10">
                <a:latin typeface="Arial"/>
                <a:cs typeface="Arial"/>
              </a:rPr>
              <a:t>who </a:t>
            </a:r>
            <a:r>
              <a:rPr dirty="0" sz="1200">
                <a:latin typeface="Arial"/>
                <a:cs typeface="Arial"/>
              </a:rPr>
              <a:t>should </a:t>
            </a:r>
            <a:r>
              <a:rPr dirty="0" sz="1200" spc="-5">
                <a:latin typeface="Arial"/>
                <a:cs typeface="Arial"/>
              </a:rPr>
              <a:t>be made</a:t>
            </a:r>
            <a:r>
              <a:rPr dirty="0" sz="1200" spc="50">
                <a:latin typeface="Arial"/>
                <a:cs typeface="Arial"/>
              </a:rPr>
              <a:t> </a:t>
            </a:r>
            <a:r>
              <a:rPr dirty="0" sz="1200">
                <a:latin typeface="Arial"/>
                <a:cs typeface="Arial"/>
              </a:rPr>
              <a:t>Imam.</a:t>
            </a:r>
            <a:endParaRPr sz="1200">
              <a:latin typeface="Arial"/>
              <a:cs typeface="Arial"/>
            </a:endParaRPr>
          </a:p>
          <a:p>
            <a:pPr marL="469900" indent="-229235">
              <a:lnSpc>
                <a:spcPts val="1410"/>
              </a:lnSpc>
              <a:buFont typeface="Wingdings"/>
              <a:buChar char=""/>
              <a:tabLst>
                <a:tab pos="470534" algn="l"/>
              </a:tabLst>
            </a:pPr>
            <a:r>
              <a:rPr dirty="0" sz="1200" spc="-5">
                <a:latin typeface="Arial"/>
                <a:cs typeface="Arial"/>
              </a:rPr>
              <a:t>The Zaydis reject any </a:t>
            </a:r>
            <a:r>
              <a:rPr dirty="0" sz="1200">
                <a:latin typeface="Arial"/>
                <a:cs typeface="Arial"/>
              </a:rPr>
              <a:t>form </a:t>
            </a:r>
            <a:r>
              <a:rPr dirty="0" sz="1200" spc="-5">
                <a:latin typeface="Arial"/>
                <a:cs typeface="Arial"/>
              </a:rPr>
              <a:t>of </a:t>
            </a:r>
            <a:r>
              <a:rPr dirty="0" sz="1200">
                <a:latin typeface="Arial"/>
                <a:cs typeface="Arial"/>
              </a:rPr>
              <a:t>'sufi' </a:t>
            </a:r>
            <a:r>
              <a:rPr dirty="0" sz="1200" spc="-5">
                <a:latin typeface="Arial"/>
                <a:cs typeface="Arial"/>
              </a:rPr>
              <a:t>tradition </a:t>
            </a:r>
            <a:r>
              <a:rPr dirty="0" sz="1200">
                <a:latin typeface="Arial"/>
                <a:cs typeface="Arial"/>
              </a:rPr>
              <a:t>– closest </a:t>
            </a:r>
            <a:r>
              <a:rPr dirty="0" sz="1200" spc="-5">
                <a:latin typeface="Arial"/>
                <a:cs typeface="Arial"/>
              </a:rPr>
              <a:t>to the Mu‘tazilah</a:t>
            </a:r>
            <a:r>
              <a:rPr dirty="0" sz="1200" spc="70">
                <a:latin typeface="Arial"/>
                <a:cs typeface="Arial"/>
              </a:rPr>
              <a:t> </a:t>
            </a:r>
            <a:r>
              <a:rPr dirty="0" sz="1200" spc="-5">
                <a:latin typeface="Arial"/>
                <a:cs typeface="Arial"/>
              </a:rPr>
              <a:t>school.</a:t>
            </a:r>
            <a:endParaRPr sz="1200">
              <a:latin typeface="Arial"/>
              <a:cs typeface="Arial"/>
            </a:endParaRPr>
          </a:p>
          <a:p>
            <a:pPr>
              <a:lnSpc>
                <a:spcPct val="100000"/>
              </a:lnSpc>
            </a:pPr>
            <a:endParaRPr sz="1300">
              <a:latin typeface="Arial"/>
              <a:cs typeface="Arial"/>
            </a:endParaRPr>
          </a:p>
          <a:p>
            <a:pPr>
              <a:lnSpc>
                <a:spcPct val="100000"/>
              </a:lnSpc>
              <a:spcBef>
                <a:spcPts val="50"/>
              </a:spcBef>
            </a:pPr>
            <a:endParaRPr sz="1000">
              <a:latin typeface="Arial"/>
              <a:cs typeface="Arial"/>
            </a:endParaRPr>
          </a:p>
          <a:p>
            <a:pPr marL="12700">
              <a:lnSpc>
                <a:spcPct val="100000"/>
              </a:lnSpc>
              <a:spcBef>
                <a:spcPts val="5"/>
              </a:spcBef>
            </a:pPr>
            <a:r>
              <a:rPr dirty="0" u="heavy" sz="1200" spc="-5" b="1" i="1">
                <a:uFill>
                  <a:solidFill>
                    <a:srgbClr val="000000"/>
                  </a:solidFill>
                </a:uFill>
                <a:latin typeface="Arial"/>
                <a:cs typeface="Arial"/>
              </a:rPr>
              <a:t>Additional Material for Past Papers Questions</a:t>
            </a:r>
            <a:endParaRPr sz="1200">
              <a:latin typeface="Arial"/>
              <a:cs typeface="Arial"/>
            </a:endParaRPr>
          </a:p>
          <a:p>
            <a:pPr>
              <a:lnSpc>
                <a:spcPct val="100000"/>
              </a:lnSpc>
              <a:spcBef>
                <a:spcPts val="35"/>
              </a:spcBef>
            </a:pPr>
            <a:endParaRPr sz="1200">
              <a:latin typeface="Arial"/>
              <a:cs typeface="Arial"/>
            </a:endParaRPr>
          </a:p>
          <a:p>
            <a:pPr marL="12700" marR="5715">
              <a:lnSpc>
                <a:spcPts val="138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The </a:t>
            </a:r>
            <a:r>
              <a:rPr dirty="0" u="heavy" sz="1200" spc="-5" b="1" i="1">
                <a:uFill>
                  <a:solidFill>
                    <a:srgbClr val="000000"/>
                  </a:solidFill>
                </a:uFill>
                <a:latin typeface="Arial"/>
                <a:cs typeface="Arial"/>
              </a:rPr>
              <a:t>main spiritual differences between </a:t>
            </a:r>
            <a:r>
              <a:rPr dirty="0" u="heavy" sz="1200" spc="-10" b="1" i="1">
                <a:uFill>
                  <a:solidFill>
                    <a:srgbClr val="000000"/>
                  </a:solidFill>
                </a:uFill>
                <a:latin typeface="Arial"/>
                <a:cs typeface="Arial"/>
              </a:rPr>
              <a:t>the </a:t>
            </a:r>
            <a:r>
              <a:rPr dirty="0" u="heavy" sz="1200" b="1" i="1">
                <a:uFill>
                  <a:solidFill>
                    <a:srgbClr val="000000"/>
                  </a:solidFill>
                </a:uFill>
                <a:latin typeface="Arial"/>
                <a:cs typeface="Arial"/>
              </a:rPr>
              <a:t>position of </a:t>
            </a:r>
            <a:r>
              <a:rPr dirty="0" u="heavy" sz="1200" spc="-5" b="1" i="1">
                <a:uFill>
                  <a:solidFill>
                    <a:srgbClr val="000000"/>
                  </a:solidFill>
                </a:uFill>
                <a:latin typeface="Arial"/>
                <a:cs typeface="Arial"/>
              </a:rPr>
              <a:t>the Imam </a:t>
            </a:r>
            <a:r>
              <a:rPr dirty="0" u="heavy" sz="1200" b="1" i="1">
                <a:uFill>
                  <a:solidFill>
                    <a:srgbClr val="000000"/>
                  </a:solidFill>
                </a:uFill>
                <a:latin typeface="Arial"/>
                <a:cs typeface="Arial"/>
              </a:rPr>
              <a:t>in </a:t>
            </a:r>
            <a:r>
              <a:rPr dirty="0" u="heavy" sz="1200" spc="-60" b="1" i="1">
                <a:uFill>
                  <a:solidFill>
                    <a:srgbClr val="000000"/>
                  </a:solidFill>
                </a:uFill>
                <a:latin typeface="Arial"/>
                <a:cs typeface="Arial"/>
              </a:rPr>
              <a:t>Shi‟i </a:t>
            </a:r>
            <a:r>
              <a:rPr dirty="0" u="heavy" sz="1200" spc="-5" b="1" i="1">
                <a:uFill>
                  <a:solidFill>
                    <a:srgbClr val="000000"/>
                  </a:solidFill>
                </a:uFill>
                <a:latin typeface="Arial"/>
                <a:cs typeface="Arial"/>
              </a:rPr>
              <a:t>beliefs </a:t>
            </a:r>
            <a:r>
              <a:rPr dirty="0" u="heavy" sz="1200" b="1" i="1">
                <a:uFill>
                  <a:solidFill>
                    <a:srgbClr val="000000"/>
                  </a:solidFill>
                </a:uFill>
                <a:latin typeface="Arial"/>
                <a:cs typeface="Arial"/>
              </a:rPr>
              <a:t>and </a:t>
            </a:r>
            <a:r>
              <a:rPr dirty="0" u="heavy" sz="1200" spc="10" b="1" i="1">
                <a:uFill>
                  <a:solidFill>
                    <a:srgbClr val="000000"/>
                  </a:solidFill>
                </a:uFill>
                <a:latin typeface="Arial"/>
                <a:cs typeface="Arial"/>
              </a:rPr>
              <a:t>of </a:t>
            </a:r>
            <a:r>
              <a:rPr dirty="0" sz="1200" spc="10" b="1" i="1">
                <a:latin typeface="Arial"/>
                <a:cs typeface="Arial"/>
              </a:rPr>
              <a:t> </a:t>
            </a:r>
            <a:r>
              <a:rPr dirty="0" u="heavy" sz="1200" spc="-5" b="1" i="1">
                <a:uFill>
                  <a:solidFill>
                    <a:srgbClr val="000000"/>
                  </a:solidFill>
                </a:uFill>
                <a:latin typeface="Arial"/>
                <a:cs typeface="Arial"/>
              </a:rPr>
              <a:t>the Khalifah </a:t>
            </a:r>
            <a:r>
              <a:rPr dirty="0" u="heavy" sz="1200" b="1" i="1">
                <a:uFill>
                  <a:solidFill>
                    <a:srgbClr val="000000"/>
                  </a:solidFill>
                </a:uFill>
                <a:latin typeface="Arial"/>
                <a:cs typeface="Arial"/>
              </a:rPr>
              <a:t>in Sunni</a:t>
            </a:r>
            <a:r>
              <a:rPr dirty="0" u="heavy" sz="1200" spc="-15" b="1" i="1">
                <a:uFill>
                  <a:solidFill>
                    <a:srgbClr val="000000"/>
                  </a:solidFill>
                </a:uFill>
                <a:latin typeface="Arial"/>
                <a:cs typeface="Arial"/>
              </a:rPr>
              <a:t> </a:t>
            </a:r>
            <a:r>
              <a:rPr dirty="0" u="heavy" sz="1200" b="1" i="1">
                <a:uFill>
                  <a:solidFill>
                    <a:srgbClr val="000000"/>
                  </a:solidFill>
                </a:uFill>
                <a:latin typeface="Arial"/>
                <a:cs typeface="Arial"/>
              </a:rPr>
              <a:t>beliefs</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OR</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Why </a:t>
            </a:r>
            <a:r>
              <a:rPr dirty="0" u="heavy" sz="1200" b="1" i="1">
                <a:uFill>
                  <a:solidFill>
                    <a:srgbClr val="000000"/>
                  </a:solidFill>
                </a:uFill>
                <a:latin typeface="Arial"/>
                <a:cs typeface="Arial"/>
              </a:rPr>
              <a:t>was the position of Imam so </a:t>
            </a:r>
            <a:r>
              <a:rPr dirty="0" u="heavy" sz="1200" spc="-5" b="1" i="1">
                <a:uFill>
                  <a:solidFill>
                    <a:srgbClr val="000000"/>
                  </a:solidFill>
                </a:uFill>
                <a:latin typeface="Arial"/>
                <a:cs typeface="Arial"/>
              </a:rPr>
              <a:t>powerful </a:t>
            </a:r>
            <a:r>
              <a:rPr dirty="0" u="heavy" sz="1200" b="1" i="1">
                <a:uFill>
                  <a:solidFill>
                    <a:srgbClr val="000000"/>
                  </a:solidFill>
                </a:uFill>
                <a:latin typeface="Arial"/>
                <a:cs typeface="Arial"/>
              </a:rPr>
              <a:t>for </a:t>
            </a:r>
            <a:r>
              <a:rPr dirty="0" u="heavy" sz="1200" spc="-5" b="1" i="1">
                <a:uFill>
                  <a:solidFill>
                    <a:srgbClr val="000000"/>
                  </a:solidFill>
                </a:uFill>
                <a:latin typeface="Arial"/>
                <a:cs typeface="Arial"/>
              </a:rPr>
              <a:t>early </a:t>
            </a:r>
            <a:r>
              <a:rPr dirty="0" u="heavy" sz="1200" spc="-60" b="1" i="1">
                <a:uFill>
                  <a:solidFill>
                    <a:srgbClr val="000000"/>
                  </a:solidFill>
                </a:uFill>
                <a:latin typeface="Arial"/>
                <a:cs typeface="Arial"/>
              </a:rPr>
              <a:t>Shi‟i</a:t>
            </a:r>
            <a:r>
              <a:rPr dirty="0" u="heavy" sz="1200" spc="-35" b="1" i="1">
                <a:uFill>
                  <a:solidFill>
                    <a:srgbClr val="000000"/>
                  </a:solidFill>
                </a:uFill>
                <a:latin typeface="Arial"/>
                <a:cs typeface="Arial"/>
              </a:rPr>
              <a:t> </a:t>
            </a:r>
            <a:r>
              <a:rPr dirty="0" u="heavy" sz="1200" b="1" i="1">
                <a:uFill>
                  <a:solidFill>
                    <a:srgbClr val="000000"/>
                  </a:solidFill>
                </a:uFill>
                <a:latin typeface="Arial"/>
                <a:cs typeface="Arial"/>
              </a:rPr>
              <a:t>Muslims?</a:t>
            </a:r>
            <a:endParaRPr sz="1200">
              <a:latin typeface="Arial"/>
              <a:cs typeface="Arial"/>
            </a:endParaRPr>
          </a:p>
          <a:p>
            <a:pPr>
              <a:lnSpc>
                <a:spcPct val="100000"/>
              </a:lnSpc>
              <a:spcBef>
                <a:spcPts val="45"/>
              </a:spcBef>
            </a:pPr>
            <a:endParaRPr sz="1200">
              <a:latin typeface="Arial"/>
              <a:cs typeface="Arial"/>
            </a:endParaRPr>
          </a:p>
          <a:p>
            <a:pPr algn="just" marL="469900" marR="5080" indent="-228600">
              <a:lnSpc>
                <a:spcPts val="1370"/>
              </a:lnSpc>
              <a:buAutoNum type="arabicPeriod"/>
              <a:tabLst>
                <a:tab pos="470534" algn="l"/>
              </a:tabLst>
            </a:pPr>
            <a:r>
              <a:rPr dirty="0" sz="1200">
                <a:latin typeface="Arial"/>
                <a:cs typeface="Arial"/>
              </a:rPr>
              <a:t>Election: </a:t>
            </a:r>
            <a:r>
              <a:rPr dirty="0" sz="1200" spc="-5">
                <a:latin typeface="Arial"/>
                <a:cs typeface="Arial"/>
              </a:rPr>
              <a:t>the </a:t>
            </a:r>
            <a:r>
              <a:rPr dirty="0" sz="1200" spc="-10">
                <a:latin typeface="Arial"/>
                <a:cs typeface="Arial"/>
              </a:rPr>
              <a:t>imam </a:t>
            </a:r>
            <a:r>
              <a:rPr dirty="0" sz="1200" spc="-5">
                <a:latin typeface="Arial"/>
                <a:cs typeface="Arial"/>
              </a:rPr>
              <a:t>is supposed </a:t>
            </a:r>
            <a:r>
              <a:rPr dirty="0" sz="1200">
                <a:latin typeface="Arial"/>
                <a:cs typeface="Arial"/>
              </a:rPr>
              <a:t>to </a:t>
            </a:r>
            <a:r>
              <a:rPr dirty="0" sz="1200" spc="-10">
                <a:latin typeface="Arial"/>
                <a:cs typeface="Arial"/>
              </a:rPr>
              <a:t>be </a:t>
            </a:r>
            <a:r>
              <a:rPr dirty="0" sz="1200" spc="-5">
                <a:latin typeface="Arial"/>
                <a:cs typeface="Arial"/>
              </a:rPr>
              <a:t>nominated directly from God and the caliph must  be elected </a:t>
            </a:r>
            <a:r>
              <a:rPr dirty="0" sz="1200">
                <a:latin typeface="Arial"/>
                <a:cs typeface="Arial"/>
              </a:rPr>
              <a:t>by </a:t>
            </a:r>
            <a:r>
              <a:rPr dirty="0" sz="1200" spc="-5">
                <a:latin typeface="Arial"/>
                <a:cs typeface="Arial"/>
              </a:rPr>
              <a:t>the people and</a:t>
            </a:r>
            <a:r>
              <a:rPr dirty="0" sz="1200" spc="-15">
                <a:latin typeface="Arial"/>
                <a:cs typeface="Arial"/>
              </a:rPr>
              <a:t> </a:t>
            </a:r>
            <a:r>
              <a:rPr dirty="0" sz="1200" spc="-5">
                <a:latin typeface="Arial"/>
                <a:cs typeface="Arial"/>
              </a:rPr>
              <a:t>population.</a:t>
            </a:r>
            <a:endParaRPr sz="1200">
              <a:latin typeface="Arial"/>
              <a:cs typeface="Arial"/>
            </a:endParaRPr>
          </a:p>
          <a:p>
            <a:pPr algn="just" marL="469900" marR="7620" indent="-228600">
              <a:lnSpc>
                <a:spcPts val="1380"/>
              </a:lnSpc>
              <a:buAutoNum type="arabicPeriod"/>
              <a:tabLst>
                <a:tab pos="470534" algn="l"/>
              </a:tabLst>
            </a:pPr>
            <a:r>
              <a:rPr dirty="0" sz="1200" spc="-5">
                <a:latin typeface="Arial"/>
                <a:cs typeface="Arial"/>
              </a:rPr>
              <a:t>Authority: </a:t>
            </a:r>
            <a:r>
              <a:rPr dirty="0" sz="1200">
                <a:latin typeface="Arial"/>
                <a:cs typeface="Arial"/>
              </a:rPr>
              <a:t>the </a:t>
            </a:r>
            <a:r>
              <a:rPr dirty="0" sz="1200" spc="-10">
                <a:latin typeface="Arial"/>
                <a:cs typeface="Arial"/>
              </a:rPr>
              <a:t>imam </a:t>
            </a:r>
            <a:r>
              <a:rPr dirty="0" sz="1200" spc="-5">
                <a:latin typeface="Arial"/>
                <a:cs typeface="Arial"/>
              </a:rPr>
              <a:t>is considered as the </a:t>
            </a:r>
            <a:r>
              <a:rPr dirty="0" sz="1200">
                <a:latin typeface="Arial"/>
                <a:cs typeface="Arial"/>
              </a:rPr>
              <a:t>supreme </a:t>
            </a:r>
            <a:r>
              <a:rPr dirty="0" sz="1200" spc="-5">
                <a:latin typeface="Arial"/>
                <a:cs typeface="Arial"/>
              </a:rPr>
              <a:t>authority and </a:t>
            </a:r>
            <a:r>
              <a:rPr dirty="0" sz="1200" spc="-10">
                <a:latin typeface="Arial"/>
                <a:cs typeface="Arial"/>
              </a:rPr>
              <a:t>no </a:t>
            </a:r>
            <a:r>
              <a:rPr dirty="0" sz="1200" spc="-5">
                <a:latin typeface="Arial"/>
                <a:cs typeface="Arial"/>
              </a:rPr>
              <a:t>one has the right  </a:t>
            </a:r>
            <a:r>
              <a:rPr dirty="0" sz="1200">
                <a:latin typeface="Arial"/>
                <a:cs typeface="Arial"/>
              </a:rPr>
              <a:t>to</a:t>
            </a:r>
            <a:r>
              <a:rPr dirty="0" sz="1200" spc="80">
                <a:latin typeface="Arial"/>
                <a:cs typeface="Arial"/>
              </a:rPr>
              <a:t> </a:t>
            </a:r>
            <a:r>
              <a:rPr dirty="0" sz="1200" spc="-5">
                <a:latin typeface="Arial"/>
                <a:cs typeface="Arial"/>
              </a:rPr>
              <a:t>contradict</a:t>
            </a:r>
            <a:r>
              <a:rPr dirty="0" sz="1200" spc="75">
                <a:latin typeface="Arial"/>
                <a:cs typeface="Arial"/>
              </a:rPr>
              <a:t> </a:t>
            </a:r>
            <a:r>
              <a:rPr dirty="0" sz="1200" spc="-5">
                <a:latin typeface="Arial"/>
                <a:cs typeface="Arial"/>
              </a:rPr>
              <a:t>or</a:t>
            </a:r>
            <a:r>
              <a:rPr dirty="0" sz="1200" spc="75">
                <a:latin typeface="Arial"/>
                <a:cs typeface="Arial"/>
              </a:rPr>
              <a:t> </a:t>
            </a:r>
            <a:r>
              <a:rPr dirty="0" sz="1200" spc="-5">
                <a:latin typeface="Arial"/>
                <a:cs typeface="Arial"/>
              </a:rPr>
              <a:t>disobey</a:t>
            </a:r>
            <a:r>
              <a:rPr dirty="0" sz="1200" spc="65">
                <a:latin typeface="Arial"/>
                <a:cs typeface="Arial"/>
              </a:rPr>
              <a:t> </a:t>
            </a:r>
            <a:r>
              <a:rPr dirty="0" sz="1200" spc="-5">
                <a:latin typeface="Arial"/>
                <a:cs typeface="Arial"/>
              </a:rPr>
              <a:t>his</a:t>
            </a:r>
            <a:r>
              <a:rPr dirty="0" sz="1200" spc="90">
                <a:latin typeface="Arial"/>
                <a:cs typeface="Arial"/>
              </a:rPr>
              <a:t> </a:t>
            </a:r>
            <a:r>
              <a:rPr dirty="0" sz="1200" spc="-5">
                <a:latin typeface="Arial"/>
                <a:cs typeface="Arial"/>
              </a:rPr>
              <a:t>command,</a:t>
            </a:r>
            <a:r>
              <a:rPr dirty="0" sz="1200" spc="80">
                <a:latin typeface="Arial"/>
                <a:cs typeface="Arial"/>
              </a:rPr>
              <a:t> </a:t>
            </a:r>
            <a:r>
              <a:rPr dirty="0" sz="1200" spc="-5">
                <a:latin typeface="Arial"/>
                <a:cs typeface="Arial"/>
              </a:rPr>
              <a:t>but</a:t>
            </a:r>
            <a:r>
              <a:rPr dirty="0" sz="1200" spc="85">
                <a:latin typeface="Arial"/>
                <a:cs typeface="Arial"/>
              </a:rPr>
              <a:t> </a:t>
            </a:r>
            <a:r>
              <a:rPr dirty="0" sz="1200" spc="-5">
                <a:latin typeface="Arial"/>
                <a:cs typeface="Arial"/>
              </a:rPr>
              <a:t>the</a:t>
            </a:r>
            <a:r>
              <a:rPr dirty="0" sz="1200" spc="114">
                <a:latin typeface="Arial"/>
                <a:cs typeface="Arial"/>
              </a:rPr>
              <a:t> </a:t>
            </a:r>
            <a:r>
              <a:rPr dirty="0" sz="1200" spc="-5">
                <a:latin typeface="Arial"/>
                <a:cs typeface="Arial"/>
              </a:rPr>
              <a:t>caliph</a:t>
            </a:r>
            <a:r>
              <a:rPr dirty="0" sz="1200" spc="90">
                <a:latin typeface="Arial"/>
                <a:cs typeface="Arial"/>
              </a:rPr>
              <a:t> </a:t>
            </a:r>
            <a:r>
              <a:rPr dirty="0" sz="1200" spc="-5">
                <a:latin typeface="Arial"/>
                <a:cs typeface="Arial"/>
              </a:rPr>
              <a:t>is</a:t>
            </a:r>
            <a:r>
              <a:rPr dirty="0" sz="1200" spc="75">
                <a:latin typeface="Arial"/>
                <a:cs typeface="Arial"/>
              </a:rPr>
              <a:t> </a:t>
            </a:r>
            <a:r>
              <a:rPr dirty="0" sz="1200">
                <a:latin typeface="Arial"/>
                <a:cs typeface="Arial"/>
              </a:rPr>
              <a:t>considered</a:t>
            </a:r>
            <a:r>
              <a:rPr dirty="0" sz="1200" spc="75">
                <a:latin typeface="Arial"/>
                <a:cs typeface="Arial"/>
              </a:rPr>
              <a:t> </a:t>
            </a:r>
            <a:r>
              <a:rPr dirty="0" sz="1200" spc="-5">
                <a:latin typeface="Arial"/>
                <a:cs typeface="Arial"/>
              </a:rPr>
              <a:t>as</a:t>
            </a:r>
            <a:r>
              <a:rPr dirty="0" sz="1200" spc="75">
                <a:latin typeface="Arial"/>
                <a:cs typeface="Arial"/>
              </a:rPr>
              <a:t> </a:t>
            </a:r>
            <a:r>
              <a:rPr dirty="0" sz="1200" spc="-5">
                <a:latin typeface="Arial"/>
                <a:cs typeface="Arial"/>
              </a:rPr>
              <a:t>a</a:t>
            </a:r>
            <a:r>
              <a:rPr dirty="0" sz="1200" spc="85">
                <a:latin typeface="Arial"/>
                <a:cs typeface="Arial"/>
              </a:rPr>
              <a:t> </a:t>
            </a:r>
            <a:r>
              <a:rPr dirty="0" sz="1200">
                <a:latin typeface="Arial"/>
                <a:cs typeface="Arial"/>
              </a:rPr>
              <a:t>leader</a:t>
            </a:r>
            <a:r>
              <a:rPr dirty="0" sz="1200" spc="70">
                <a:latin typeface="Arial"/>
                <a:cs typeface="Arial"/>
              </a:rPr>
              <a:t> </a:t>
            </a:r>
            <a:r>
              <a:rPr dirty="0" sz="1200" spc="-5">
                <a:latin typeface="Arial"/>
                <a:cs typeface="Arial"/>
              </a:rPr>
              <a:t>and</a:t>
            </a:r>
            <a:r>
              <a:rPr dirty="0" sz="1200" spc="70">
                <a:latin typeface="Arial"/>
                <a:cs typeface="Arial"/>
              </a:rPr>
              <a:t> </a:t>
            </a:r>
            <a:r>
              <a:rPr dirty="0" sz="1200" spc="-5">
                <a:latin typeface="Arial"/>
                <a:cs typeface="Arial"/>
              </a:rPr>
              <a:t>a</a:t>
            </a:r>
            <a:endParaRPr sz="1200">
              <a:latin typeface="Arial"/>
              <a:cs typeface="Arial"/>
            </a:endParaRPr>
          </a:p>
          <a:p>
            <a:pPr algn="just" marL="469900">
              <a:lnSpc>
                <a:spcPts val="1315"/>
              </a:lnSpc>
            </a:pPr>
            <a:r>
              <a:rPr dirty="0" sz="1200" spc="-5">
                <a:latin typeface="Arial"/>
                <a:cs typeface="Arial"/>
              </a:rPr>
              <a:t>guide where his order </a:t>
            </a:r>
            <a:r>
              <a:rPr dirty="0" sz="1200">
                <a:latin typeface="Arial"/>
                <a:cs typeface="Arial"/>
              </a:rPr>
              <a:t>and </a:t>
            </a:r>
            <a:r>
              <a:rPr dirty="0" sz="1200" spc="-5">
                <a:latin typeface="Arial"/>
                <a:cs typeface="Arial"/>
              </a:rPr>
              <a:t>command can be reviewed based on</a:t>
            </a:r>
            <a:r>
              <a:rPr dirty="0" sz="1200" spc="70">
                <a:latin typeface="Arial"/>
                <a:cs typeface="Arial"/>
              </a:rPr>
              <a:t> </a:t>
            </a:r>
            <a:r>
              <a:rPr dirty="0" sz="1200" spc="-5">
                <a:latin typeface="Arial"/>
                <a:cs typeface="Arial"/>
              </a:rPr>
              <a:t>circumstances.</a:t>
            </a:r>
            <a:endParaRPr sz="1200">
              <a:latin typeface="Arial"/>
              <a:cs typeface="Arial"/>
            </a:endParaRPr>
          </a:p>
          <a:p>
            <a:pPr algn="just" marL="469900" marR="5715" indent="-228600">
              <a:lnSpc>
                <a:spcPts val="1380"/>
              </a:lnSpc>
              <a:spcBef>
                <a:spcPts val="65"/>
              </a:spcBef>
              <a:buAutoNum type="arabicPeriod" startAt="3"/>
              <a:tabLst>
                <a:tab pos="470534" algn="l"/>
              </a:tabLst>
            </a:pPr>
            <a:r>
              <a:rPr dirty="0" sz="1200" spc="-5">
                <a:latin typeface="Arial"/>
                <a:cs typeface="Arial"/>
              </a:rPr>
              <a:t>Sayings: </a:t>
            </a:r>
            <a:r>
              <a:rPr dirty="0" sz="1200">
                <a:latin typeface="Arial"/>
                <a:cs typeface="Arial"/>
              </a:rPr>
              <a:t>the </a:t>
            </a:r>
            <a:r>
              <a:rPr dirty="0" sz="1200" spc="-5">
                <a:latin typeface="Arial"/>
                <a:cs typeface="Arial"/>
              </a:rPr>
              <a:t>imam‘s discourse and khutbah </a:t>
            </a:r>
            <a:r>
              <a:rPr dirty="0" sz="1200">
                <a:latin typeface="Arial"/>
                <a:cs typeface="Arial"/>
              </a:rPr>
              <a:t>are </a:t>
            </a:r>
            <a:r>
              <a:rPr dirty="0" sz="1200" spc="-5">
                <a:latin typeface="Arial"/>
                <a:cs typeface="Arial"/>
              </a:rPr>
              <a:t>considered as sacred and divinely  guided and are compiled as source of guidance (shari‘ah), but the caliph‘s discourse  </a:t>
            </a:r>
            <a:r>
              <a:rPr dirty="0" sz="1200">
                <a:latin typeface="Arial"/>
                <a:cs typeface="Arial"/>
              </a:rPr>
              <a:t>and </a:t>
            </a:r>
            <a:r>
              <a:rPr dirty="0" sz="1200" spc="-5">
                <a:latin typeface="Arial"/>
                <a:cs typeface="Arial"/>
              </a:rPr>
              <a:t>sermons </a:t>
            </a:r>
            <a:r>
              <a:rPr dirty="0" sz="1200">
                <a:latin typeface="Arial"/>
                <a:cs typeface="Arial"/>
              </a:rPr>
              <a:t>are </a:t>
            </a:r>
            <a:r>
              <a:rPr dirty="0" sz="1200" spc="-5">
                <a:latin typeface="Arial"/>
                <a:cs typeface="Arial"/>
              </a:rPr>
              <a:t>not sources of Shari‘ah </a:t>
            </a:r>
            <a:r>
              <a:rPr dirty="0" sz="1200">
                <a:latin typeface="Arial"/>
                <a:cs typeface="Arial"/>
              </a:rPr>
              <a:t>but merely </a:t>
            </a:r>
            <a:r>
              <a:rPr dirty="0" sz="1200" spc="-5">
                <a:latin typeface="Arial"/>
                <a:cs typeface="Arial"/>
              </a:rPr>
              <a:t>advices </a:t>
            </a:r>
            <a:r>
              <a:rPr dirty="0" sz="1200">
                <a:latin typeface="Arial"/>
                <a:cs typeface="Arial"/>
              </a:rPr>
              <a:t>and </a:t>
            </a:r>
            <a:r>
              <a:rPr dirty="0" sz="1200" spc="-5">
                <a:latin typeface="Arial"/>
                <a:cs typeface="Arial"/>
              </a:rPr>
              <a:t>words of an ordinary  person</a:t>
            </a:r>
            <a:r>
              <a:rPr dirty="0" sz="1200" spc="5">
                <a:latin typeface="Arial"/>
                <a:cs typeface="Arial"/>
              </a:rPr>
              <a:t> </a:t>
            </a:r>
            <a:r>
              <a:rPr dirty="0" sz="1200" spc="-5">
                <a:latin typeface="Arial"/>
                <a:cs typeface="Arial"/>
              </a:rPr>
              <a:t>(Muslim).</a:t>
            </a:r>
            <a:endParaRPr sz="1200">
              <a:latin typeface="Arial"/>
              <a:cs typeface="Arial"/>
            </a:endParaRPr>
          </a:p>
          <a:p>
            <a:pPr algn="just" marL="469900" marR="8255" indent="-228600">
              <a:lnSpc>
                <a:spcPts val="1380"/>
              </a:lnSpc>
              <a:buAutoNum type="arabicPeriod" startAt="3"/>
              <a:tabLst>
                <a:tab pos="470534" algn="l"/>
              </a:tabLst>
            </a:pPr>
            <a:r>
              <a:rPr dirty="0" sz="1200" spc="-5">
                <a:latin typeface="Arial"/>
                <a:cs typeface="Arial"/>
              </a:rPr>
              <a:t>Wahy: </a:t>
            </a:r>
            <a:r>
              <a:rPr dirty="0" sz="1200">
                <a:latin typeface="Arial"/>
                <a:cs typeface="Arial"/>
              </a:rPr>
              <a:t>for the </a:t>
            </a:r>
            <a:r>
              <a:rPr dirty="0" sz="1200" spc="-5">
                <a:latin typeface="Arial"/>
                <a:cs typeface="Arial"/>
              </a:rPr>
              <a:t>shi‘a imam angel Jibril (as) </a:t>
            </a:r>
            <a:r>
              <a:rPr dirty="0" sz="1200" spc="5">
                <a:latin typeface="Arial"/>
                <a:cs typeface="Arial"/>
              </a:rPr>
              <a:t>made </a:t>
            </a:r>
            <a:r>
              <a:rPr dirty="0" sz="1200" spc="-5">
                <a:latin typeface="Arial"/>
                <a:cs typeface="Arial"/>
              </a:rPr>
              <a:t>the mistake </a:t>
            </a:r>
            <a:r>
              <a:rPr dirty="0" sz="1200">
                <a:latin typeface="Arial"/>
                <a:cs typeface="Arial"/>
              </a:rPr>
              <a:t>by sending </a:t>
            </a:r>
            <a:r>
              <a:rPr dirty="0" sz="1200" spc="-5">
                <a:latin typeface="Arial"/>
                <a:cs typeface="Arial"/>
              </a:rPr>
              <a:t>wahy </a:t>
            </a:r>
            <a:r>
              <a:rPr dirty="0" sz="1200">
                <a:latin typeface="Arial"/>
                <a:cs typeface="Arial"/>
              </a:rPr>
              <a:t>upon </a:t>
            </a:r>
            <a:r>
              <a:rPr dirty="0" sz="1200" spc="-5">
                <a:latin typeface="Arial"/>
                <a:cs typeface="Arial"/>
              </a:rPr>
              <a:t>the  prophet Muhammad (s.a.w) instead of Hazrat Ali but the sunni caliph advocates </a:t>
            </a:r>
            <a:r>
              <a:rPr dirty="0" sz="1200">
                <a:latin typeface="Arial"/>
                <a:cs typeface="Arial"/>
              </a:rPr>
              <a:t>for  the </a:t>
            </a:r>
            <a:r>
              <a:rPr dirty="0" sz="1200" spc="-5">
                <a:latin typeface="Arial"/>
                <a:cs typeface="Arial"/>
              </a:rPr>
              <a:t>angel Jibril is devoid of </a:t>
            </a:r>
            <a:r>
              <a:rPr dirty="0" sz="1200">
                <a:latin typeface="Arial"/>
                <a:cs typeface="Arial"/>
              </a:rPr>
              <a:t>the </a:t>
            </a:r>
            <a:r>
              <a:rPr dirty="0" sz="1200" spc="-5">
                <a:latin typeface="Arial"/>
                <a:cs typeface="Arial"/>
              </a:rPr>
              <a:t>capacity </a:t>
            </a:r>
            <a:r>
              <a:rPr dirty="0" sz="1200">
                <a:latin typeface="Arial"/>
                <a:cs typeface="Arial"/>
              </a:rPr>
              <a:t>to commit </a:t>
            </a:r>
            <a:r>
              <a:rPr dirty="0" sz="1200" spc="-5">
                <a:latin typeface="Arial"/>
                <a:cs typeface="Arial"/>
              </a:rPr>
              <a:t>mistakes and disobey</a:t>
            </a:r>
            <a:r>
              <a:rPr dirty="0" sz="1200">
                <a:latin typeface="Arial"/>
                <a:cs typeface="Arial"/>
              </a:rPr>
              <a:t> </a:t>
            </a:r>
            <a:r>
              <a:rPr dirty="0" sz="1200" spc="-5">
                <a:latin typeface="Arial"/>
                <a:cs typeface="Arial"/>
              </a:rPr>
              <a:t>Allah</a:t>
            </a:r>
            <a:endParaRPr sz="1200">
              <a:latin typeface="Arial"/>
              <a:cs typeface="Arial"/>
            </a:endParaRPr>
          </a:p>
          <a:p>
            <a:pPr algn="just" marL="469900" marR="6985" indent="-228600">
              <a:lnSpc>
                <a:spcPts val="1380"/>
              </a:lnSpc>
              <a:buAutoNum type="arabicPeriod" startAt="3"/>
              <a:tabLst>
                <a:tab pos="470534" algn="l"/>
              </a:tabLst>
            </a:pPr>
            <a:r>
              <a:rPr dirty="0" sz="1200" spc="-5">
                <a:latin typeface="Arial"/>
                <a:cs typeface="Arial"/>
              </a:rPr>
              <a:t>Infallibility: </a:t>
            </a:r>
            <a:r>
              <a:rPr dirty="0" sz="1200">
                <a:latin typeface="Arial"/>
                <a:cs typeface="Arial"/>
              </a:rPr>
              <a:t>the </a:t>
            </a:r>
            <a:r>
              <a:rPr dirty="0" sz="1200" spc="-5">
                <a:latin typeface="Arial"/>
                <a:cs typeface="Arial"/>
              </a:rPr>
              <a:t>shi‘a people consider their imam </a:t>
            </a:r>
            <a:r>
              <a:rPr dirty="0" sz="1200">
                <a:latin typeface="Arial"/>
                <a:cs typeface="Arial"/>
              </a:rPr>
              <a:t>as </a:t>
            </a:r>
            <a:r>
              <a:rPr dirty="0" sz="1200" spc="-5">
                <a:latin typeface="Arial"/>
                <a:cs typeface="Arial"/>
              </a:rPr>
              <a:t>infallible, that is deprived </a:t>
            </a:r>
            <a:r>
              <a:rPr dirty="0" sz="1200">
                <a:latin typeface="Arial"/>
                <a:cs typeface="Arial"/>
              </a:rPr>
              <a:t>of </a:t>
            </a:r>
            <a:r>
              <a:rPr dirty="0" sz="1200" spc="-5">
                <a:latin typeface="Arial"/>
                <a:cs typeface="Arial"/>
              </a:rPr>
              <a:t>sins  and mistakes whereas </a:t>
            </a:r>
            <a:r>
              <a:rPr dirty="0" sz="1200">
                <a:latin typeface="Arial"/>
                <a:cs typeface="Arial"/>
              </a:rPr>
              <a:t>the </a:t>
            </a:r>
            <a:r>
              <a:rPr dirty="0" sz="1200" spc="-5">
                <a:latin typeface="Arial"/>
                <a:cs typeface="Arial"/>
              </a:rPr>
              <a:t>sunni people consider their caliph </a:t>
            </a:r>
            <a:r>
              <a:rPr dirty="0" sz="1200" spc="-10">
                <a:latin typeface="Arial"/>
                <a:cs typeface="Arial"/>
              </a:rPr>
              <a:t>as </a:t>
            </a:r>
            <a:r>
              <a:rPr dirty="0" sz="1200" spc="-5">
                <a:latin typeface="Arial"/>
                <a:cs typeface="Arial"/>
              </a:rPr>
              <a:t>a normal human  being with the weakness of committing errors, mistakes </a:t>
            </a:r>
            <a:r>
              <a:rPr dirty="0" sz="1200">
                <a:latin typeface="Arial"/>
                <a:cs typeface="Arial"/>
              </a:rPr>
              <a:t>or</a:t>
            </a:r>
            <a:r>
              <a:rPr dirty="0" sz="1200" spc="45">
                <a:latin typeface="Arial"/>
                <a:cs typeface="Arial"/>
              </a:rPr>
              <a:t> </a:t>
            </a:r>
            <a:r>
              <a:rPr dirty="0" sz="1200" spc="-5">
                <a:latin typeface="Arial"/>
                <a:cs typeface="Arial"/>
              </a:rPr>
              <a:t>sins.</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139</a:t>
            </a:r>
            <a:endParaRPr sz="1200">
              <a:latin typeface="Times New Roman"/>
              <a:cs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3170" cy="933831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469900" marR="6985" indent="-229235">
              <a:lnSpc>
                <a:spcPts val="1380"/>
              </a:lnSpc>
              <a:buAutoNum type="arabicPeriod" startAt="6"/>
              <a:tabLst>
                <a:tab pos="470534" algn="l"/>
              </a:tabLst>
            </a:pPr>
            <a:r>
              <a:rPr dirty="0" sz="1200" spc="-5">
                <a:latin typeface="Arial"/>
                <a:cs typeface="Arial"/>
              </a:rPr>
              <a:t>Love </a:t>
            </a:r>
            <a:r>
              <a:rPr dirty="0" sz="1200">
                <a:latin typeface="Arial"/>
                <a:cs typeface="Arial"/>
              </a:rPr>
              <a:t>and </a:t>
            </a:r>
            <a:r>
              <a:rPr dirty="0" sz="1200" spc="-10">
                <a:latin typeface="Arial"/>
                <a:cs typeface="Arial"/>
              </a:rPr>
              <a:t>Loyalty: </a:t>
            </a:r>
            <a:r>
              <a:rPr dirty="0" sz="1200">
                <a:latin typeface="Arial"/>
                <a:cs typeface="Arial"/>
              </a:rPr>
              <a:t>the </a:t>
            </a:r>
            <a:r>
              <a:rPr dirty="0" sz="1200" spc="-5">
                <a:latin typeface="Arial"/>
                <a:cs typeface="Arial"/>
              </a:rPr>
              <a:t>shi‘a people love their imam and </a:t>
            </a:r>
            <a:r>
              <a:rPr dirty="0" sz="1200">
                <a:latin typeface="Arial"/>
                <a:cs typeface="Arial"/>
              </a:rPr>
              <a:t>are </a:t>
            </a:r>
            <a:r>
              <a:rPr dirty="0" sz="1200" spc="-5">
                <a:latin typeface="Arial"/>
                <a:cs typeface="Arial"/>
              </a:rPr>
              <a:t>loyal </a:t>
            </a:r>
            <a:r>
              <a:rPr dirty="0" sz="1200">
                <a:latin typeface="Arial"/>
                <a:cs typeface="Arial"/>
              </a:rPr>
              <a:t>to </a:t>
            </a:r>
            <a:r>
              <a:rPr dirty="0" sz="1200" spc="-5">
                <a:latin typeface="Arial"/>
                <a:cs typeface="Arial"/>
              </a:rPr>
              <a:t>him to </a:t>
            </a:r>
            <a:r>
              <a:rPr dirty="0" sz="1200" spc="15">
                <a:latin typeface="Arial"/>
                <a:cs typeface="Arial"/>
              </a:rPr>
              <a:t>such </a:t>
            </a:r>
            <a:r>
              <a:rPr dirty="0" sz="1200" spc="-10">
                <a:latin typeface="Arial"/>
                <a:cs typeface="Arial"/>
              </a:rPr>
              <a:t>an  </a:t>
            </a:r>
            <a:r>
              <a:rPr dirty="0" sz="1200" spc="-5">
                <a:latin typeface="Arial"/>
                <a:cs typeface="Arial"/>
              </a:rPr>
              <a:t>extent that they venerate </a:t>
            </a:r>
            <a:r>
              <a:rPr dirty="0" sz="1200" spc="-10">
                <a:latin typeface="Arial"/>
                <a:cs typeface="Arial"/>
              </a:rPr>
              <a:t>him </a:t>
            </a:r>
            <a:r>
              <a:rPr dirty="0" sz="1200" spc="-5">
                <a:latin typeface="Arial"/>
                <a:cs typeface="Arial"/>
              </a:rPr>
              <a:t>exaggeratedly whereas </a:t>
            </a:r>
            <a:r>
              <a:rPr dirty="0" sz="1200">
                <a:latin typeface="Arial"/>
                <a:cs typeface="Arial"/>
              </a:rPr>
              <a:t>the </a:t>
            </a:r>
            <a:r>
              <a:rPr dirty="0" sz="1200" spc="-5">
                <a:latin typeface="Arial"/>
                <a:cs typeface="Arial"/>
              </a:rPr>
              <a:t>sunni people love their  caliph but in case </a:t>
            </a:r>
            <a:r>
              <a:rPr dirty="0" sz="1200">
                <a:latin typeface="Arial"/>
                <a:cs typeface="Arial"/>
              </a:rPr>
              <a:t>he </a:t>
            </a:r>
            <a:r>
              <a:rPr dirty="0" sz="1200" spc="-5">
                <a:latin typeface="Arial"/>
                <a:cs typeface="Arial"/>
              </a:rPr>
              <a:t>is wrong </a:t>
            </a:r>
            <a:r>
              <a:rPr dirty="0" sz="1200">
                <a:latin typeface="Arial"/>
                <a:cs typeface="Arial"/>
              </a:rPr>
              <a:t>or </a:t>
            </a:r>
            <a:r>
              <a:rPr dirty="0" sz="1200" spc="-5">
                <a:latin typeface="Arial"/>
                <a:cs typeface="Arial"/>
              </a:rPr>
              <a:t>cruel, </a:t>
            </a:r>
            <a:r>
              <a:rPr dirty="0" sz="1200">
                <a:latin typeface="Arial"/>
                <a:cs typeface="Arial"/>
              </a:rPr>
              <a:t>then </a:t>
            </a:r>
            <a:r>
              <a:rPr dirty="0" sz="1200" spc="-5">
                <a:latin typeface="Arial"/>
                <a:cs typeface="Arial"/>
              </a:rPr>
              <a:t>they won‘t </a:t>
            </a:r>
            <a:r>
              <a:rPr dirty="0" sz="1200">
                <a:latin typeface="Arial"/>
                <a:cs typeface="Arial"/>
              </a:rPr>
              <a:t>be </a:t>
            </a:r>
            <a:r>
              <a:rPr dirty="0" sz="1200" spc="-5">
                <a:latin typeface="Arial"/>
                <a:cs typeface="Arial"/>
              </a:rPr>
              <a:t>loyal </a:t>
            </a:r>
            <a:r>
              <a:rPr dirty="0" sz="1200">
                <a:latin typeface="Arial"/>
                <a:cs typeface="Arial"/>
              </a:rPr>
              <a:t>to</a:t>
            </a:r>
            <a:r>
              <a:rPr dirty="0" sz="1200" spc="-10">
                <a:latin typeface="Arial"/>
                <a:cs typeface="Arial"/>
              </a:rPr>
              <a:t> </a:t>
            </a:r>
            <a:r>
              <a:rPr dirty="0" sz="1200" spc="-5">
                <a:latin typeface="Arial"/>
                <a:cs typeface="Arial"/>
              </a:rPr>
              <a:t>him.</a:t>
            </a:r>
            <a:endParaRPr sz="1200">
              <a:latin typeface="Arial"/>
              <a:cs typeface="Arial"/>
            </a:endParaRPr>
          </a:p>
          <a:p>
            <a:pPr algn="just" marL="469900" marR="12700" indent="-229235">
              <a:lnSpc>
                <a:spcPts val="1380"/>
              </a:lnSpc>
              <a:spcBef>
                <a:spcPts val="5"/>
              </a:spcBef>
              <a:buAutoNum type="arabicPeriod" startAt="6"/>
              <a:tabLst>
                <a:tab pos="470534" algn="l"/>
              </a:tabLst>
            </a:pPr>
            <a:r>
              <a:rPr dirty="0" sz="1200" spc="-5">
                <a:latin typeface="Arial"/>
                <a:cs typeface="Arial"/>
              </a:rPr>
              <a:t>Mandate: the </a:t>
            </a:r>
            <a:r>
              <a:rPr dirty="0" sz="1200">
                <a:latin typeface="Arial"/>
                <a:cs typeface="Arial"/>
              </a:rPr>
              <a:t>time </a:t>
            </a:r>
            <a:r>
              <a:rPr dirty="0" sz="1200" spc="-5">
                <a:latin typeface="Arial"/>
                <a:cs typeface="Arial"/>
              </a:rPr>
              <a:t>of reign </a:t>
            </a:r>
            <a:r>
              <a:rPr dirty="0" sz="1200">
                <a:latin typeface="Arial"/>
                <a:cs typeface="Arial"/>
              </a:rPr>
              <a:t>of the </a:t>
            </a:r>
            <a:r>
              <a:rPr dirty="0" sz="1200" spc="-5">
                <a:latin typeface="Arial"/>
                <a:cs typeface="Arial"/>
              </a:rPr>
              <a:t>imam of shi‘a is </a:t>
            </a:r>
            <a:r>
              <a:rPr dirty="0" sz="1200">
                <a:latin typeface="Arial"/>
                <a:cs typeface="Arial"/>
              </a:rPr>
              <a:t>not </a:t>
            </a:r>
            <a:r>
              <a:rPr dirty="0" sz="1200" spc="-5">
                <a:latin typeface="Arial"/>
                <a:cs typeface="Arial"/>
              </a:rPr>
              <a:t>determined, meaning </a:t>
            </a:r>
            <a:r>
              <a:rPr dirty="0" sz="1200">
                <a:latin typeface="Arial"/>
                <a:cs typeface="Arial"/>
              </a:rPr>
              <a:t>that </a:t>
            </a:r>
            <a:r>
              <a:rPr dirty="0" sz="1200" spc="-5">
                <a:latin typeface="Arial"/>
                <a:cs typeface="Arial"/>
              </a:rPr>
              <a:t>as  </a:t>
            </a:r>
            <a:r>
              <a:rPr dirty="0" sz="1200">
                <a:latin typeface="Arial"/>
                <a:cs typeface="Arial"/>
              </a:rPr>
              <a:t>long </a:t>
            </a:r>
            <a:r>
              <a:rPr dirty="0" sz="1200" spc="-5">
                <a:latin typeface="Arial"/>
                <a:cs typeface="Arial"/>
              </a:rPr>
              <a:t>as he is alive he </a:t>
            </a:r>
            <a:r>
              <a:rPr dirty="0" sz="1200" spc="-10">
                <a:latin typeface="Arial"/>
                <a:cs typeface="Arial"/>
              </a:rPr>
              <a:t>will </a:t>
            </a:r>
            <a:r>
              <a:rPr dirty="0" sz="1200" spc="-5">
                <a:latin typeface="Arial"/>
                <a:cs typeface="Arial"/>
              </a:rPr>
              <a:t>be </a:t>
            </a:r>
            <a:r>
              <a:rPr dirty="0" sz="1200">
                <a:latin typeface="Arial"/>
                <a:cs typeface="Arial"/>
              </a:rPr>
              <a:t>the </a:t>
            </a:r>
            <a:r>
              <a:rPr dirty="0" sz="1200" spc="-5">
                <a:latin typeface="Arial"/>
                <a:cs typeface="Arial"/>
              </a:rPr>
              <a:t>imam but </a:t>
            </a:r>
            <a:r>
              <a:rPr dirty="0" sz="1200">
                <a:latin typeface="Arial"/>
                <a:cs typeface="Arial"/>
              </a:rPr>
              <a:t>for </a:t>
            </a:r>
            <a:r>
              <a:rPr dirty="0" sz="1200" spc="-5">
                <a:latin typeface="Arial"/>
                <a:cs typeface="Arial"/>
              </a:rPr>
              <a:t>the sunni caliph once his mandate </a:t>
            </a:r>
            <a:r>
              <a:rPr dirty="0" sz="1200" spc="-10">
                <a:latin typeface="Arial"/>
                <a:cs typeface="Arial"/>
              </a:rPr>
              <a:t>is  </a:t>
            </a:r>
            <a:r>
              <a:rPr dirty="0" sz="1200" spc="-5">
                <a:latin typeface="Arial"/>
                <a:cs typeface="Arial"/>
              </a:rPr>
              <a:t>over, </a:t>
            </a:r>
            <a:r>
              <a:rPr dirty="0" sz="1200">
                <a:latin typeface="Arial"/>
                <a:cs typeface="Arial"/>
              </a:rPr>
              <a:t>there </a:t>
            </a:r>
            <a:r>
              <a:rPr dirty="0" sz="1200" spc="-10">
                <a:latin typeface="Arial"/>
                <a:cs typeface="Arial"/>
              </a:rPr>
              <a:t>will </a:t>
            </a:r>
            <a:r>
              <a:rPr dirty="0" sz="1200" spc="-5">
                <a:latin typeface="Arial"/>
                <a:cs typeface="Arial"/>
              </a:rPr>
              <a:t>be another</a:t>
            </a:r>
            <a:r>
              <a:rPr dirty="0" sz="1200" spc="15">
                <a:latin typeface="Arial"/>
                <a:cs typeface="Arial"/>
              </a:rPr>
              <a:t> </a:t>
            </a:r>
            <a:r>
              <a:rPr dirty="0" sz="1200" spc="-5">
                <a:latin typeface="Arial"/>
                <a:cs typeface="Arial"/>
              </a:rPr>
              <a:t>election.</a:t>
            </a:r>
            <a:endParaRPr sz="1200">
              <a:latin typeface="Arial"/>
              <a:cs typeface="Arial"/>
            </a:endParaRPr>
          </a:p>
          <a:p>
            <a:pPr algn="just" marL="469900" marR="8890" indent="-229235">
              <a:lnSpc>
                <a:spcPts val="1380"/>
              </a:lnSpc>
              <a:buAutoNum type="arabicPeriod" startAt="6"/>
              <a:tabLst>
                <a:tab pos="470534" algn="l"/>
              </a:tabLst>
            </a:pPr>
            <a:r>
              <a:rPr dirty="0" sz="1200">
                <a:latin typeface="Arial"/>
                <a:cs typeface="Arial"/>
              </a:rPr>
              <a:t>Status </a:t>
            </a:r>
            <a:r>
              <a:rPr dirty="0" sz="1200" spc="-5">
                <a:latin typeface="Arial"/>
                <a:cs typeface="Arial"/>
              </a:rPr>
              <a:t>of the State: for </a:t>
            </a:r>
            <a:r>
              <a:rPr dirty="0" sz="1200">
                <a:latin typeface="Arial"/>
                <a:cs typeface="Arial"/>
              </a:rPr>
              <a:t>the </a:t>
            </a:r>
            <a:r>
              <a:rPr dirty="0" sz="1200" spc="-10">
                <a:latin typeface="Arial"/>
                <a:cs typeface="Arial"/>
              </a:rPr>
              <a:t>imam </a:t>
            </a:r>
            <a:r>
              <a:rPr dirty="0" sz="1200">
                <a:latin typeface="Arial"/>
                <a:cs typeface="Arial"/>
              </a:rPr>
              <a:t>it </a:t>
            </a:r>
            <a:r>
              <a:rPr dirty="0" sz="1200" spc="-5">
                <a:latin typeface="Arial"/>
                <a:cs typeface="Arial"/>
              </a:rPr>
              <a:t>is a question of dictatorship where his followers  and </a:t>
            </a:r>
            <a:r>
              <a:rPr dirty="0" sz="1200" spc="-10">
                <a:latin typeface="Arial"/>
                <a:cs typeface="Arial"/>
              </a:rPr>
              <a:t>those </a:t>
            </a:r>
            <a:r>
              <a:rPr dirty="0" sz="1200" spc="-5">
                <a:latin typeface="Arial"/>
                <a:cs typeface="Arial"/>
              </a:rPr>
              <a:t>residing in his country have </a:t>
            </a:r>
            <a:r>
              <a:rPr dirty="0" sz="1200">
                <a:latin typeface="Arial"/>
                <a:cs typeface="Arial"/>
              </a:rPr>
              <a:t>to </a:t>
            </a:r>
            <a:r>
              <a:rPr dirty="0" sz="1200" spc="-5">
                <a:latin typeface="Arial"/>
                <a:cs typeface="Arial"/>
              </a:rPr>
              <a:t>abide and comply by </a:t>
            </a:r>
            <a:r>
              <a:rPr dirty="0" sz="1200">
                <a:latin typeface="Arial"/>
                <a:cs typeface="Arial"/>
              </a:rPr>
              <a:t>his </a:t>
            </a:r>
            <a:r>
              <a:rPr dirty="0" sz="1200" spc="-5">
                <a:latin typeface="Arial"/>
                <a:cs typeface="Arial"/>
              </a:rPr>
              <a:t>rules but </a:t>
            </a:r>
            <a:r>
              <a:rPr dirty="0" sz="1200">
                <a:latin typeface="Arial"/>
                <a:cs typeface="Arial"/>
              </a:rPr>
              <a:t>for </a:t>
            </a:r>
            <a:r>
              <a:rPr dirty="0" sz="1200" spc="-5">
                <a:latin typeface="Arial"/>
                <a:cs typeface="Arial"/>
              </a:rPr>
              <a:t>the  sunni </a:t>
            </a:r>
            <a:r>
              <a:rPr dirty="0" sz="1200">
                <a:latin typeface="Arial"/>
                <a:cs typeface="Arial"/>
              </a:rPr>
              <a:t>it </a:t>
            </a:r>
            <a:r>
              <a:rPr dirty="0" sz="1200" spc="-5">
                <a:latin typeface="Arial"/>
                <a:cs typeface="Arial"/>
              </a:rPr>
              <a:t>is a question of democracy where </a:t>
            </a:r>
            <a:r>
              <a:rPr dirty="0" sz="1200" spc="-10">
                <a:latin typeface="Arial"/>
                <a:cs typeface="Arial"/>
              </a:rPr>
              <a:t>there </a:t>
            </a:r>
            <a:r>
              <a:rPr dirty="0" sz="1200" spc="-5">
                <a:latin typeface="Arial"/>
                <a:cs typeface="Arial"/>
              </a:rPr>
              <a:t>is dialogue among </a:t>
            </a:r>
            <a:r>
              <a:rPr dirty="0" sz="1200" spc="-10">
                <a:latin typeface="Arial"/>
                <a:cs typeface="Arial"/>
              </a:rPr>
              <a:t>the </a:t>
            </a:r>
            <a:r>
              <a:rPr dirty="0" sz="1200" spc="-5">
                <a:latin typeface="Arial"/>
                <a:cs typeface="Arial"/>
              </a:rPr>
              <a:t>different parties  in </a:t>
            </a:r>
            <a:r>
              <a:rPr dirty="0" sz="1200">
                <a:latin typeface="Arial"/>
                <a:cs typeface="Arial"/>
              </a:rPr>
              <a:t>the society </a:t>
            </a:r>
            <a:r>
              <a:rPr dirty="0" sz="1200" spc="-5">
                <a:latin typeface="Arial"/>
                <a:cs typeface="Arial"/>
              </a:rPr>
              <a:t>in the interest of the </a:t>
            </a:r>
            <a:r>
              <a:rPr dirty="0" sz="1200">
                <a:latin typeface="Arial"/>
                <a:cs typeface="Arial"/>
              </a:rPr>
              <a:t>public.</a:t>
            </a:r>
            <a:endParaRPr sz="1200">
              <a:latin typeface="Arial"/>
              <a:cs typeface="Arial"/>
            </a:endParaRPr>
          </a:p>
          <a:p>
            <a:pPr algn="just" marL="469900" marR="13335" indent="-229235">
              <a:lnSpc>
                <a:spcPts val="1380"/>
              </a:lnSpc>
              <a:buAutoNum type="arabicPeriod" startAt="6"/>
              <a:tabLst>
                <a:tab pos="470534" algn="l"/>
              </a:tabLst>
            </a:pPr>
            <a:r>
              <a:rPr dirty="0" sz="1200" spc="-5">
                <a:latin typeface="Arial"/>
                <a:cs typeface="Arial"/>
              </a:rPr>
              <a:t>Leader: </a:t>
            </a:r>
            <a:r>
              <a:rPr dirty="0" sz="1200">
                <a:latin typeface="Arial"/>
                <a:cs typeface="Arial"/>
              </a:rPr>
              <a:t>for </a:t>
            </a:r>
            <a:r>
              <a:rPr dirty="0" sz="1200" spc="-5">
                <a:latin typeface="Arial"/>
                <a:cs typeface="Arial"/>
              </a:rPr>
              <a:t>the shi‘a, the leader must be from the descendant of the prophet and Ahl  </a:t>
            </a:r>
            <a:r>
              <a:rPr dirty="0" sz="1200">
                <a:latin typeface="Arial"/>
                <a:cs typeface="Arial"/>
              </a:rPr>
              <a:t>Bait </a:t>
            </a:r>
            <a:r>
              <a:rPr dirty="0" sz="1200" spc="-5">
                <a:latin typeface="Arial"/>
                <a:cs typeface="Arial"/>
              </a:rPr>
              <a:t>only </a:t>
            </a:r>
            <a:r>
              <a:rPr dirty="0" sz="1200">
                <a:latin typeface="Arial"/>
                <a:cs typeface="Arial"/>
              </a:rPr>
              <a:t>but for </a:t>
            </a:r>
            <a:r>
              <a:rPr dirty="0" sz="1200" spc="-5">
                <a:latin typeface="Arial"/>
                <a:cs typeface="Arial"/>
              </a:rPr>
              <a:t>the sunni he must be someone with </a:t>
            </a:r>
            <a:r>
              <a:rPr dirty="0" sz="1200">
                <a:latin typeface="Arial"/>
                <a:cs typeface="Arial"/>
              </a:rPr>
              <a:t>the </a:t>
            </a:r>
            <a:r>
              <a:rPr dirty="0" sz="1200" spc="-5">
                <a:latin typeface="Arial"/>
                <a:cs typeface="Arial"/>
              </a:rPr>
              <a:t>calibre </a:t>
            </a:r>
            <a:r>
              <a:rPr dirty="0" sz="1200">
                <a:latin typeface="Arial"/>
                <a:cs typeface="Arial"/>
              </a:rPr>
              <a:t>of </a:t>
            </a:r>
            <a:r>
              <a:rPr dirty="0" sz="1200" spc="-5">
                <a:latin typeface="Arial"/>
                <a:cs typeface="Arial"/>
              </a:rPr>
              <a:t>a </a:t>
            </a:r>
            <a:r>
              <a:rPr dirty="0" sz="1200">
                <a:latin typeface="Arial"/>
                <a:cs typeface="Arial"/>
              </a:rPr>
              <a:t>leader </a:t>
            </a:r>
            <a:r>
              <a:rPr dirty="0" sz="1200" spc="-5">
                <a:latin typeface="Arial"/>
                <a:cs typeface="Arial"/>
              </a:rPr>
              <a:t>whether  from the Ahl Bait </a:t>
            </a:r>
            <a:r>
              <a:rPr dirty="0" sz="1200">
                <a:latin typeface="Arial"/>
                <a:cs typeface="Arial"/>
              </a:rPr>
              <a:t>or</a:t>
            </a:r>
            <a:r>
              <a:rPr dirty="0" sz="1200" spc="-5">
                <a:latin typeface="Arial"/>
                <a:cs typeface="Arial"/>
              </a:rPr>
              <a:t> not.</a:t>
            </a:r>
            <a:endParaRPr sz="1200">
              <a:latin typeface="Arial"/>
              <a:cs typeface="Arial"/>
            </a:endParaRPr>
          </a:p>
          <a:p>
            <a:pPr algn="just" marL="469900" indent="-229235">
              <a:lnSpc>
                <a:spcPts val="1315"/>
              </a:lnSpc>
              <a:buAutoNum type="arabicPeriod" startAt="6"/>
              <a:tabLst>
                <a:tab pos="470534" algn="l"/>
              </a:tabLst>
            </a:pPr>
            <a:r>
              <a:rPr dirty="0" sz="1200" spc="-5">
                <a:latin typeface="Arial"/>
                <a:cs typeface="Arial"/>
              </a:rPr>
              <a:t>Shari‘ah: the Islamic law applied </a:t>
            </a:r>
            <a:r>
              <a:rPr dirty="0" sz="1200">
                <a:latin typeface="Arial"/>
                <a:cs typeface="Arial"/>
              </a:rPr>
              <a:t>on the </a:t>
            </a:r>
            <a:r>
              <a:rPr dirty="0" sz="1200" spc="-5">
                <a:latin typeface="Arial"/>
                <a:cs typeface="Arial"/>
              </a:rPr>
              <a:t>population of shi‘a </a:t>
            </a:r>
            <a:r>
              <a:rPr dirty="0" sz="1200">
                <a:latin typeface="Arial"/>
                <a:cs typeface="Arial"/>
              </a:rPr>
              <a:t>by the </a:t>
            </a:r>
            <a:r>
              <a:rPr dirty="0" sz="1200" spc="-5">
                <a:latin typeface="Arial"/>
                <a:cs typeface="Arial"/>
              </a:rPr>
              <a:t>imam is from</a:t>
            </a:r>
            <a:r>
              <a:rPr dirty="0" sz="1200" spc="310">
                <a:latin typeface="Arial"/>
                <a:cs typeface="Arial"/>
              </a:rPr>
              <a:t> </a:t>
            </a:r>
            <a:r>
              <a:rPr dirty="0" sz="1200" spc="-5">
                <a:latin typeface="Arial"/>
                <a:cs typeface="Arial"/>
              </a:rPr>
              <a:t>their</a:t>
            </a:r>
            <a:endParaRPr sz="1200">
              <a:latin typeface="Arial"/>
              <a:cs typeface="Arial"/>
            </a:endParaRPr>
          </a:p>
          <a:p>
            <a:pPr algn="just" marL="469900" marR="7620">
              <a:lnSpc>
                <a:spcPts val="1380"/>
              </a:lnSpc>
              <a:spcBef>
                <a:spcPts val="65"/>
              </a:spcBef>
            </a:pPr>
            <a:r>
              <a:rPr dirty="0" sz="1200" spc="-5">
                <a:latin typeface="Arial"/>
                <a:cs typeface="Arial"/>
              </a:rPr>
              <a:t>(odd) fabricated Qur‘an, </a:t>
            </a:r>
            <a:r>
              <a:rPr dirty="0" sz="1200">
                <a:latin typeface="Arial"/>
                <a:cs typeface="Arial"/>
              </a:rPr>
              <a:t>their </a:t>
            </a:r>
            <a:r>
              <a:rPr dirty="0" sz="1200" spc="-5">
                <a:latin typeface="Arial"/>
                <a:cs typeface="Arial"/>
              </a:rPr>
              <a:t>limited Hadith </a:t>
            </a:r>
            <a:r>
              <a:rPr dirty="0" sz="1200">
                <a:latin typeface="Arial"/>
                <a:cs typeface="Arial"/>
              </a:rPr>
              <a:t>(from </a:t>
            </a:r>
            <a:r>
              <a:rPr dirty="0" sz="1200" spc="-5">
                <a:latin typeface="Arial"/>
                <a:cs typeface="Arial"/>
              </a:rPr>
              <a:t>the prophet, Ali, </a:t>
            </a:r>
            <a:r>
              <a:rPr dirty="0" sz="1200">
                <a:latin typeface="Arial"/>
                <a:cs typeface="Arial"/>
              </a:rPr>
              <a:t>Faatima, </a:t>
            </a:r>
            <a:r>
              <a:rPr dirty="0" sz="1200" spc="-5">
                <a:latin typeface="Arial"/>
                <a:cs typeface="Arial"/>
              </a:rPr>
              <a:t>Hasan,  Hussein and their lineage), </a:t>
            </a:r>
            <a:r>
              <a:rPr dirty="0" sz="1200">
                <a:latin typeface="Arial"/>
                <a:cs typeface="Arial"/>
              </a:rPr>
              <a:t>the </a:t>
            </a:r>
            <a:r>
              <a:rPr dirty="0" sz="1200" spc="-5">
                <a:latin typeface="Arial"/>
                <a:cs typeface="Arial"/>
              </a:rPr>
              <a:t>imam own explanation and his sermons. </a:t>
            </a:r>
            <a:r>
              <a:rPr dirty="0" sz="1200">
                <a:latin typeface="Arial"/>
                <a:cs typeface="Arial"/>
              </a:rPr>
              <a:t>For </a:t>
            </a:r>
            <a:r>
              <a:rPr dirty="0" sz="1200" spc="-5">
                <a:latin typeface="Arial"/>
                <a:cs typeface="Arial"/>
              </a:rPr>
              <a:t>the sunni,  it will </a:t>
            </a:r>
            <a:r>
              <a:rPr dirty="0" sz="1200">
                <a:latin typeface="Arial"/>
                <a:cs typeface="Arial"/>
              </a:rPr>
              <a:t>be </a:t>
            </a:r>
            <a:r>
              <a:rPr dirty="0" sz="1200" spc="-5">
                <a:latin typeface="Arial"/>
                <a:cs typeface="Arial"/>
              </a:rPr>
              <a:t>from the Qur‘an, Hadith, Ijma‘, Qiyas, </a:t>
            </a:r>
            <a:r>
              <a:rPr dirty="0" sz="1200">
                <a:latin typeface="Arial"/>
                <a:cs typeface="Arial"/>
              </a:rPr>
              <a:t>Ijtihad </a:t>
            </a:r>
            <a:r>
              <a:rPr dirty="0" sz="1200" spc="-5">
                <a:latin typeface="Arial"/>
                <a:cs typeface="Arial"/>
              </a:rPr>
              <a:t>and Fatwa of the</a:t>
            </a:r>
            <a:r>
              <a:rPr dirty="0" sz="1200" spc="30">
                <a:latin typeface="Arial"/>
                <a:cs typeface="Arial"/>
              </a:rPr>
              <a:t> </a:t>
            </a:r>
            <a:r>
              <a:rPr dirty="0" sz="1200" spc="-60">
                <a:latin typeface="Arial"/>
                <a:cs typeface="Arial"/>
              </a:rPr>
              <a:t>‗Ulama.</a:t>
            </a:r>
            <a:endParaRPr sz="1200">
              <a:latin typeface="Arial"/>
              <a:cs typeface="Arial"/>
            </a:endParaRPr>
          </a:p>
          <a:p>
            <a:pPr algn="just" marL="469900" marR="6985" indent="-229235">
              <a:lnSpc>
                <a:spcPts val="1380"/>
              </a:lnSpc>
              <a:buAutoNum type="arabicPeriod" startAt="11"/>
              <a:tabLst>
                <a:tab pos="470534" algn="l"/>
              </a:tabLst>
            </a:pPr>
            <a:r>
              <a:rPr dirty="0" sz="1200" spc="-5">
                <a:latin typeface="Arial"/>
                <a:cs typeface="Arial"/>
              </a:rPr>
              <a:t>Spirituality: </a:t>
            </a:r>
            <a:r>
              <a:rPr dirty="0" sz="1200">
                <a:latin typeface="Arial"/>
                <a:cs typeface="Arial"/>
              </a:rPr>
              <a:t>for </a:t>
            </a:r>
            <a:r>
              <a:rPr dirty="0" sz="1200" spc="-5">
                <a:latin typeface="Arial"/>
                <a:cs typeface="Arial"/>
              </a:rPr>
              <a:t>the </a:t>
            </a:r>
            <a:r>
              <a:rPr dirty="0" sz="1200" spc="-10">
                <a:latin typeface="Arial"/>
                <a:cs typeface="Arial"/>
              </a:rPr>
              <a:t>shi‘a </a:t>
            </a:r>
            <a:r>
              <a:rPr dirty="0" sz="1200" spc="-5">
                <a:latin typeface="Arial"/>
                <a:cs typeface="Arial"/>
              </a:rPr>
              <a:t>their imam receives wahy and commands from Allah and  before his death he passes on his spirituality </a:t>
            </a:r>
            <a:r>
              <a:rPr dirty="0" sz="1200">
                <a:latin typeface="Arial"/>
                <a:cs typeface="Arial"/>
              </a:rPr>
              <a:t>to </a:t>
            </a:r>
            <a:r>
              <a:rPr dirty="0" sz="1200" spc="-5">
                <a:latin typeface="Arial"/>
                <a:cs typeface="Arial"/>
              </a:rPr>
              <a:t>his successor but for </a:t>
            </a:r>
            <a:r>
              <a:rPr dirty="0" sz="1200">
                <a:latin typeface="Arial"/>
                <a:cs typeface="Arial"/>
              </a:rPr>
              <a:t>the </a:t>
            </a:r>
            <a:r>
              <a:rPr dirty="0" sz="1200" spc="-5">
                <a:latin typeface="Arial"/>
                <a:cs typeface="Arial"/>
              </a:rPr>
              <a:t>sunni caliph  wahy has stopped at the death of the</a:t>
            </a:r>
            <a:r>
              <a:rPr dirty="0" sz="1200" spc="25">
                <a:latin typeface="Arial"/>
                <a:cs typeface="Arial"/>
              </a:rPr>
              <a:t> </a:t>
            </a:r>
            <a:r>
              <a:rPr dirty="0" sz="1200" spc="-5">
                <a:latin typeface="Arial"/>
                <a:cs typeface="Arial"/>
              </a:rPr>
              <a:t>prophet.</a:t>
            </a:r>
            <a:endParaRPr sz="1200">
              <a:latin typeface="Arial"/>
              <a:cs typeface="Arial"/>
            </a:endParaRPr>
          </a:p>
          <a:p>
            <a:pPr algn="just" marL="469900" marR="12700" indent="-229235">
              <a:lnSpc>
                <a:spcPts val="1380"/>
              </a:lnSpc>
              <a:buAutoNum type="arabicPeriod" startAt="11"/>
              <a:tabLst>
                <a:tab pos="470534" algn="l"/>
              </a:tabLst>
            </a:pPr>
            <a:r>
              <a:rPr dirty="0" sz="1200" spc="-5">
                <a:latin typeface="Arial"/>
                <a:cs typeface="Arial"/>
              </a:rPr>
              <a:t>Pillars of Islam: there is also the </a:t>
            </a:r>
            <a:r>
              <a:rPr dirty="0" sz="1200">
                <a:latin typeface="Arial"/>
                <a:cs typeface="Arial"/>
              </a:rPr>
              <a:t>main </a:t>
            </a:r>
            <a:r>
              <a:rPr dirty="0" sz="1200" spc="-5">
                <a:latin typeface="Arial"/>
                <a:cs typeface="Arial"/>
              </a:rPr>
              <a:t>difference between the shi‘a and the sunni  concerning the 5 pillars of Islam and their </a:t>
            </a:r>
            <a:r>
              <a:rPr dirty="0" sz="1200">
                <a:latin typeface="Arial"/>
                <a:cs typeface="Arial"/>
              </a:rPr>
              <a:t>call to</a:t>
            </a:r>
            <a:r>
              <a:rPr dirty="0" sz="1200" spc="25">
                <a:latin typeface="Arial"/>
                <a:cs typeface="Arial"/>
              </a:rPr>
              <a:t> </a:t>
            </a:r>
            <a:r>
              <a:rPr dirty="0" sz="1200" spc="-5">
                <a:latin typeface="Arial"/>
                <a:cs typeface="Arial"/>
              </a:rPr>
              <a:t>prayer.</a:t>
            </a:r>
            <a:endParaRPr sz="1200">
              <a:latin typeface="Arial"/>
              <a:cs typeface="Arial"/>
            </a:endParaRPr>
          </a:p>
          <a:p>
            <a:pPr algn="just" marL="469900" marR="5080" indent="-229235">
              <a:lnSpc>
                <a:spcPts val="1380"/>
              </a:lnSpc>
              <a:buAutoNum type="arabicPeriod" startAt="11"/>
              <a:tabLst>
                <a:tab pos="470534" algn="l"/>
              </a:tabLst>
            </a:pPr>
            <a:r>
              <a:rPr dirty="0" sz="1200" spc="-5">
                <a:latin typeface="Arial"/>
                <a:cs typeface="Arial"/>
              </a:rPr>
              <a:t>Love </a:t>
            </a:r>
            <a:r>
              <a:rPr dirty="0" sz="1200">
                <a:latin typeface="Arial"/>
                <a:cs typeface="Arial"/>
              </a:rPr>
              <a:t>for the </a:t>
            </a:r>
            <a:r>
              <a:rPr dirty="0" sz="1200" spc="-5">
                <a:latin typeface="Arial"/>
                <a:cs typeface="Arial"/>
              </a:rPr>
              <a:t>Ashab: the shi‘a imam criticises </a:t>
            </a:r>
            <a:r>
              <a:rPr dirty="0" sz="1200">
                <a:latin typeface="Arial"/>
                <a:cs typeface="Arial"/>
              </a:rPr>
              <a:t>and </a:t>
            </a:r>
            <a:r>
              <a:rPr dirty="0" sz="1200" spc="-5">
                <a:latin typeface="Arial"/>
                <a:cs typeface="Arial"/>
              </a:rPr>
              <a:t>curses </a:t>
            </a:r>
            <a:r>
              <a:rPr dirty="0" sz="1200">
                <a:latin typeface="Arial"/>
                <a:cs typeface="Arial"/>
              </a:rPr>
              <a:t>the </a:t>
            </a:r>
            <a:r>
              <a:rPr dirty="0" sz="1200" spc="-5">
                <a:latin typeface="Arial"/>
                <a:cs typeface="Arial"/>
              </a:rPr>
              <a:t>first </a:t>
            </a:r>
            <a:r>
              <a:rPr dirty="0" sz="1200">
                <a:latin typeface="Arial"/>
                <a:cs typeface="Arial"/>
              </a:rPr>
              <a:t>3 </a:t>
            </a:r>
            <a:r>
              <a:rPr dirty="0" sz="1200" spc="-5">
                <a:latin typeface="Arial"/>
                <a:cs typeface="Arial"/>
              </a:rPr>
              <a:t>caliph of Islam </a:t>
            </a:r>
            <a:r>
              <a:rPr dirty="0" sz="1200">
                <a:latin typeface="Arial"/>
                <a:cs typeface="Arial"/>
              </a:rPr>
              <a:t>as  </a:t>
            </a:r>
            <a:r>
              <a:rPr dirty="0" sz="1200" spc="-5">
                <a:latin typeface="Arial"/>
                <a:cs typeface="Arial"/>
              </a:rPr>
              <a:t>usurpers of the place and </a:t>
            </a:r>
            <a:r>
              <a:rPr dirty="0" sz="1200">
                <a:latin typeface="Arial"/>
                <a:cs typeface="Arial"/>
              </a:rPr>
              <a:t>post </a:t>
            </a:r>
            <a:r>
              <a:rPr dirty="0" sz="1200" spc="-5">
                <a:latin typeface="Arial"/>
                <a:cs typeface="Arial"/>
              </a:rPr>
              <a:t>of Ali but </a:t>
            </a:r>
            <a:r>
              <a:rPr dirty="0" sz="1200">
                <a:latin typeface="Arial"/>
                <a:cs typeface="Arial"/>
              </a:rPr>
              <a:t>the </a:t>
            </a:r>
            <a:r>
              <a:rPr dirty="0" sz="1200" spc="-5">
                <a:latin typeface="Arial"/>
                <a:cs typeface="Arial"/>
              </a:rPr>
              <a:t>sunni </a:t>
            </a:r>
            <a:r>
              <a:rPr dirty="0" sz="1200" spc="-10">
                <a:latin typeface="Arial"/>
                <a:cs typeface="Arial"/>
              </a:rPr>
              <a:t>imam </a:t>
            </a:r>
            <a:r>
              <a:rPr dirty="0" sz="1200">
                <a:latin typeface="Arial"/>
                <a:cs typeface="Arial"/>
              </a:rPr>
              <a:t>praises </a:t>
            </a:r>
            <a:r>
              <a:rPr dirty="0" sz="1200" spc="-5">
                <a:latin typeface="Arial"/>
                <a:cs typeface="Arial"/>
              </a:rPr>
              <a:t>them in the Friday  sermon.</a:t>
            </a:r>
            <a:endParaRPr sz="1200">
              <a:latin typeface="Arial"/>
              <a:cs typeface="Arial"/>
            </a:endParaRPr>
          </a:p>
          <a:p>
            <a:pPr algn="just" marL="469900" marR="10795" indent="-229235">
              <a:lnSpc>
                <a:spcPts val="1380"/>
              </a:lnSpc>
              <a:buAutoNum type="arabicPeriod" startAt="11"/>
              <a:tabLst>
                <a:tab pos="470534" algn="l"/>
              </a:tabLst>
            </a:pPr>
            <a:r>
              <a:rPr dirty="0" sz="1200" spc="-5">
                <a:latin typeface="Arial"/>
                <a:cs typeface="Arial"/>
              </a:rPr>
              <a:t>Sincerity: </a:t>
            </a:r>
            <a:r>
              <a:rPr dirty="0" sz="1200">
                <a:latin typeface="Arial"/>
                <a:cs typeface="Arial"/>
              </a:rPr>
              <a:t>the </a:t>
            </a:r>
            <a:r>
              <a:rPr dirty="0" sz="1200" spc="-5">
                <a:latin typeface="Arial"/>
                <a:cs typeface="Arial"/>
              </a:rPr>
              <a:t>shi‘a imam advocates </a:t>
            </a:r>
            <a:r>
              <a:rPr dirty="0" sz="1200">
                <a:latin typeface="Arial"/>
                <a:cs typeface="Arial"/>
              </a:rPr>
              <a:t>for Takiyya </a:t>
            </a:r>
            <a:r>
              <a:rPr dirty="0" sz="1200" spc="-5">
                <a:latin typeface="Arial"/>
                <a:cs typeface="Arial"/>
              </a:rPr>
              <a:t>which is </a:t>
            </a:r>
            <a:r>
              <a:rPr dirty="0" sz="1200">
                <a:latin typeface="Arial"/>
                <a:cs typeface="Arial"/>
              </a:rPr>
              <a:t>the act </a:t>
            </a:r>
            <a:r>
              <a:rPr dirty="0" sz="1200" spc="-5">
                <a:latin typeface="Arial"/>
                <a:cs typeface="Arial"/>
              </a:rPr>
              <a:t>of hiding one‘s </a:t>
            </a:r>
            <a:r>
              <a:rPr dirty="0" sz="1200" spc="-10">
                <a:latin typeface="Arial"/>
                <a:cs typeface="Arial"/>
              </a:rPr>
              <a:t>own  </a:t>
            </a:r>
            <a:r>
              <a:rPr dirty="0" sz="1200" spc="-5">
                <a:latin typeface="Arial"/>
                <a:cs typeface="Arial"/>
              </a:rPr>
              <a:t>Aqeedah</a:t>
            </a:r>
            <a:r>
              <a:rPr dirty="0" sz="1200" spc="125">
                <a:latin typeface="Arial"/>
                <a:cs typeface="Arial"/>
              </a:rPr>
              <a:t> </a:t>
            </a:r>
            <a:r>
              <a:rPr dirty="0" sz="1200" spc="-5">
                <a:latin typeface="Arial"/>
                <a:cs typeface="Arial"/>
              </a:rPr>
              <a:t>when</a:t>
            </a:r>
            <a:r>
              <a:rPr dirty="0" sz="1200" spc="130">
                <a:latin typeface="Arial"/>
                <a:cs typeface="Arial"/>
              </a:rPr>
              <a:t> </a:t>
            </a:r>
            <a:r>
              <a:rPr dirty="0" sz="1200" spc="-5">
                <a:latin typeface="Arial"/>
                <a:cs typeface="Arial"/>
              </a:rPr>
              <a:t>face</a:t>
            </a:r>
            <a:r>
              <a:rPr dirty="0" sz="1200" spc="130">
                <a:latin typeface="Arial"/>
                <a:cs typeface="Arial"/>
              </a:rPr>
              <a:t> </a:t>
            </a:r>
            <a:r>
              <a:rPr dirty="0" sz="1200">
                <a:latin typeface="Arial"/>
                <a:cs typeface="Arial"/>
              </a:rPr>
              <a:t>to</a:t>
            </a:r>
            <a:r>
              <a:rPr dirty="0" sz="1200" spc="125">
                <a:latin typeface="Arial"/>
                <a:cs typeface="Arial"/>
              </a:rPr>
              <a:t> </a:t>
            </a:r>
            <a:r>
              <a:rPr dirty="0" sz="1200" spc="-5">
                <a:latin typeface="Arial"/>
                <a:cs typeface="Arial"/>
              </a:rPr>
              <a:t>someone</a:t>
            </a:r>
            <a:r>
              <a:rPr dirty="0" sz="1200" spc="130">
                <a:latin typeface="Arial"/>
                <a:cs typeface="Arial"/>
              </a:rPr>
              <a:t> </a:t>
            </a:r>
            <a:r>
              <a:rPr dirty="0" sz="1200" spc="-5">
                <a:latin typeface="Arial"/>
                <a:cs typeface="Arial"/>
              </a:rPr>
              <a:t>of</a:t>
            </a:r>
            <a:r>
              <a:rPr dirty="0" sz="1200" spc="135">
                <a:latin typeface="Arial"/>
                <a:cs typeface="Arial"/>
              </a:rPr>
              <a:t> </a:t>
            </a:r>
            <a:r>
              <a:rPr dirty="0" sz="1200" spc="-5">
                <a:latin typeface="Arial"/>
                <a:cs typeface="Arial"/>
              </a:rPr>
              <a:t>different</a:t>
            </a:r>
            <a:r>
              <a:rPr dirty="0" sz="1200" spc="120">
                <a:latin typeface="Arial"/>
                <a:cs typeface="Arial"/>
              </a:rPr>
              <a:t> </a:t>
            </a:r>
            <a:r>
              <a:rPr dirty="0" sz="1200" spc="-5">
                <a:latin typeface="Arial"/>
                <a:cs typeface="Arial"/>
              </a:rPr>
              <a:t>creed</a:t>
            </a:r>
            <a:r>
              <a:rPr dirty="0" sz="1200" spc="130">
                <a:latin typeface="Arial"/>
                <a:cs typeface="Arial"/>
              </a:rPr>
              <a:t> </a:t>
            </a:r>
            <a:r>
              <a:rPr dirty="0" sz="1200" spc="-5">
                <a:latin typeface="Arial"/>
                <a:cs typeface="Arial"/>
              </a:rPr>
              <a:t>and</a:t>
            </a:r>
            <a:r>
              <a:rPr dirty="0" sz="1200" spc="130">
                <a:latin typeface="Arial"/>
                <a:cs typeface="Arial"/>
              </a:rPr>
              <a:t> </a:t>
            </a:r>
            <a:r>
              <a:rPr dirty="0" sz="1200" spc="-5">
                <a:latin typeface="Arial"/>
                <a:cs typeface="Arial"/>
              </a:rPr>
              <a:t>to</a:t>
            </a:r>
            <a:r>
              <a:rPr dirty="0" sz="1200" spc="125">
                <a:latin typeface="Arial"/>
                <a:cs typeface="Arial"/>
              </a:rPr>
              <a:t> </a:t>
            </a:r>
            <a:r>
              <a:rPr dirty="0" sz="1200" spc="-5">
                <a:latin typeface="Arial"/>
                <a:cs typeface="Arial"/>
              </a:rPr>
              <a:t>make</a:t>
            </a:r>
            <a:r>
              <a:rPr dirty="0" sz="1200" spc="130">
                <a:latin typeface="Arial"/>
                <a:cs typeface="Arial"/>
              </a:rPr>
              <a:t> </a:t>
            </a:r>
            <a:r>
              <a:rPr dirty="0" sz="1200">
                <a:latin typeface="Arial"/>
                <a:cs typeface="Arial"/>
              </a:rPr>
              <a:t>the</a:t>
            </a:r>
            <a:r>
              <a:rPr dirty="0" sz="1200" spc="130">
                <a:latin typeface="Arial"/>
                <a:cs typeface="Arial"/>
              </a:rPr>
              <a:t> </a:t>
            </a:r>
            <a:r>
              <a:rPr dirty="0" sz="1200" spc="-5">
                <a:latin typeface="Arial"/>
                <a:cs typeface="Arial"/>
              </a:rPr>
              <a:t>person</a:t>
            </a:r>
            <a:r>
              <a:rPr dirty="0" sz="1200" spc="125">
                <a:latin typeface="Arial"/>
                <a:cs typeface="Arial"/>
              </a:rPr>
              <a:t> </a:t>
            </a:r>
            <a:r>
              <a:rPr dirty="0" sz="1200">
                <a:latin typeface="Arial"/>
                <a:cs typeface="Arial"/>
              </a:rPr>
              <a:t>feel</a:t>
            </a:r>
            <a:r>
              <a:rPr dirty="0" sz="1200" spc="120">
                <a:latin typeface="Arial"/>
                <a:cs typeface="Arial"/>
              </a:rPr>
              <a:t> </a:t>
            </a:r>
            <a:r>
              <a:rPr dirty="0" sz="1200" spc="-10">
                <a:latin typeface="Arial"/>
                <a:cs typeface="Arial"/>
              </a:rPr>
              <a:t>and</a:t>
            </a:r>
            <a:endParaRPr sz="1200">
              <a:latin typeface="Arial"/>
              <a:cs typeface="Arial"/>
            </a:endParaRPr>
          </a:p>
          <a:p>
            <a:pPr algn="just" marL="469900" marR="13970">
              <a:lnSpc>
                <a:spcPts val="1380"/>
              </a:lnSpc>
              <a:spcBef>
                <a:spcPts val="5"/>
              </a:spcBef>
            </a:pPr>
            <a:r>
              <a:rPr dirty="0" sz="1200">
                <a:latin typeface="Arial"/>
                <a:cs typeface="Arial"/>
              </a:rPr>
              <a:t>think </a:t>
            </a:r>
            <a:r>
              <a:rPr dirty="0" sz="1200" spc="-5">
                <a:latin typeface="Arial"/>
                <a:cs typeface="Arial"/>
              </a:rPr>
              <a:t>that they are similar in thought and faith. </a:t>
            </a:r>
            <a:r>
              <a:rPr dirty="0" sz="1200">
                <a:latin typeface="Arial"/>
                <a:cs typeface="Arial"/>
              </a:rPr>
              <a:t>For </a:t>
            </a:r>
            <a:r>
              <a:rPr dirty="0" sz="1200" spc="-5">
                <a:latin typeface="Arial"/>
                <a:cs typeface="Arial"/>
              </a:rPr>
              <a:t>the sunni caliph </a:t>
            </a:r>
            <a:r>
              <a:rPr dirty="0" sz="1200">
                <a:latin typeface="Arial"/>
                <a:cs typeface="Arial"/>
              </a:rPr>
              <a:t>this </a:t>
            </a:r>
            <a:r>
              <a:rPr dirty="0" sz="1200" spc="-5">
                <a:latin typeface="Arial"/>
                <a:cs typeface="Arial"/>
              </a:rPr>
              <a:t>is Haram and  deceitful.</a:t>
            </a:r>
            <a:endParaRPr sz="1200">
              <a:latin typeface="Arial"/>
              <a:cs typeface="Arial"/>
            </a:endParaRPr>
          </a:p>
          <a:p>
            <a:pPr algn="just" marL="469900" marR="10795" indent="-229235">
              <a:lnSpc>
                <a:spcPts val="1380"/>
              </a:lnSpc>
              <a:buAutoNum type="arabicPeriod" startAt="15"/>
              <a:tabLst>
                <a:tab pos="470534" algn="l"/>
              </a:tabLst>
            </a:pPr>
            <a:r>
              <a:rPr dirty="0" sz="1200">
                <a:latin typeface="Arial"/>
                <a:cs typeface="Arial"/>
              </a:rPr>
              <a:t>Mutah: for the </a:t>
            </a:r>
            <a:r>
              <a:rPr dirty="0" sz="1200" spc="-5">
                <a:latin typeface="Arial"/>
                <a:cs typeface="Arial"/>
              </a:rPr>
              <a:t>shi‘a imam temporary marriage is allowed but </a:t>
            </a:r>
            <a:r>
              <a:rPr dirty="0" sz="1200">
                <a:latin typeface="Arial"/>
                <a:cs typeface="Arial"/>
              </a:rPr>
              <a:t>the </a:t>
            </a:r>
            <a:r>
              <a:rPr dirty="0" sz="1200" spc="-5">
                <a:latin typeface="Arial"/>
                <a:cs typeface="Arial"/>
              </a:rPr>
              <a:t>sunni caliph </a:t>
            </a:r>
            <a:r>
              <a:rPr dirty="0" sz="1200">
                <a:latin typeface="Arial"/>
                <a:cs typeface="Arial"/>
              </a:rPr>
              <a:t>this </a:t>
            </a:r>
            <a:r>
              <a:rPr dirty="0" sz="1200" spc="-5">
                <a:latin typeface="Arial"/>
                <a:cs typeface="Arial"/>
              </a:rPr>
              <a:t>is  banned by the prophet </a:t>
            </a:r>
            <a:r>
              <a:rPr dirty="0" sz="1200">
                <a:latin typeface="Arial"/>
                <a:cs typeface="Arial"/>
              </a:rPr>
              <a:t>and </a:t>
            </a:r>
            <a:r>
              <a:rPr dirty="0" sz="1200" spc="-5">
                <a:latin typeface="Arial"/>
                <a:cs typeface="Arial"/>
              </a:rPr>
              <a:t>thus</a:t>
            </a:r>
            <a:r>
              <a:rPr dirty="0" sz="1200" spc="-35">
                <a:latin typeface="Arial"/>
                <a:cs typeface="Arial"/>
              </a:rPr>
              <a:t> </a:t>
            </a:r>
            <a:r>
              <a:rPr dirty="0" sz="1200" spc="-5">
                <a:latin typeface="Arial"/>
                <a:cs typeface="Arial"/>
              </a:rPr>
              <a:t>haram.</a:t>
            </a:r>
            <a:endParaRPr sz="1200">
              <a:latin typeface="Arial"/>
              <a:cs typeface="Arial"/>
            </a:endParaRPr>
          </a:p>
          <a:p>
            <a:pPr algn="just" marL="469900" marR="8890" indent="-229235">
              <a:lnSpc>
                <a:spcPts val="1380"/>
              </a:lnSpc>
              <a:buAutoNum type="arabicPeriod" startAt="15"/>
              <a:tabLst>
                <a:tab pos="470534" algn="l"/>
              </a:tabLst>
            </a:pPr>
            <a:r>
              <a:rPr dirty="0" sz="1200" spc="-5">
                <a:latin typeface="Arial"/>
                <a:cs typeface="Arial"/>
              </a:rPr>
              <a:t>Mahdi: </a:t>
            </a:r>
            <a:r>
              <a:rPr dirty="0" sz="1200">
                <a:latin typeface="Arial"/>
                <a:cs typeface="Arial"/>
              </a:rPr>
              <a:t>for </a:t>
            </a:r>
            <a:r>
              <a:rPr dirty="0" sz="1200" spc="-5">
                <a:latin typeface="Arial"/>
                <a:cs typeface="Arial"/>
              </a:rPr>
              <a:t>the shi‘a, the promised </a:t>
            </a:r>
            <a:r>
              <a:rPr dirty="0" sz="1200" spc="-10">
                <a:latin typeface="Arial"/>
                <a:cs typeface="Arial"/>
              </a:rPr>
              <a:t>imam </a:t>
            </a:r>
            <a:r>
              <a:rPr dirty="0" sz="1200" spc="-5">
                <a:latin typeface="Arial"/>
                <a:cs typeface="Arial"/>
              </a:rPr>
              <a:t>is hidden and </a:t>
            </a:r>
            <a:r>
              <a:rPr dirty="0" sz="1200" spc="-10">
                <a:latin typeface="Arial"/>
                <a:cs typeface="Arial"/>
              </a:rPr>
              <a:t>will </a:t>
            </a:r>
            <a:r>
              <a:rPr dirty="0" sz="1200" spc="-5">
                <a:latin typeface="Arial"/>
                <a:cs typeface="Arial"/>
              </a:rPr>
              <a:t>soon conquer </a:t>
            </a:r>
            <a:r>
              <a:rPr dirty="0" sz="1200">
                <a:latin typeface="Arial"/>
                <a:cs typeface="Arial"/>
              </a:rPr>
              <a:t>the </a:t>
            </a:r>
            <a:r>
              <a:rPr dirty="0" sz="1200" spc="-10">
                <a:latin typeface="Arial"/>
                <a:cs typeface="Arial"/>
              </a:rPr>
              <a:t>world  </a:t>
            </a:r>
            <a:r>
              <a:rPr dirty="0" sz="1200" spc="-5">
                <a:latin typeface="Arial"/>
                <a:cs typeface="Arial"/>
              </a:rPr>
              <a:t>from among their midst but </a:t>
            </a:r>
            <a:r>
              <a:rPr dirty="0" sz="1200">
                <a:latin typeface="Arial"/>
                <a:cs typeface="Arial"/>
              </a:rPr>
              <a:t>for </a:t>
            </a:r>
            <a:r>
              <a:rPr dirty="0" sz="1200" spc="-5">
                <a:latin typeface="Arial"/>
                <a:cs typeface="Arial"/>
              </a:rPr>
              <a:t>the sunni </a:t>
            </a:r>
            <a:r>
              <a:rPr dirty="0" sz="1200" spc="-10">
                <a:latin typeface="Arial"/>
                <a:cs typeface="Arial"/>
              </a:rPr>
              <a:t>he </a:t>
            </a:r>
            <a:r>
              <a:rPr dirty="0" sz="1200" spc="-5">
                <a:latin typeface="Arial"/>
                <a:cs typeface="Arial"/>
              </a:rPr>
              <a:t>has not yet appeared and </a:t>
            </a:r>
            <a:r>
              <a:rPr dirty="0" sz="1200" spc="-10">
                <a:latin typeface="Arial"/>
                <a:cs typeface="Arial"/>
              </a:rPr>
              <a:t>will </a:t>
            </a:r>
            <a:r>
              <a:rPr dirty="0" sz="1200" spc="-5">
                <a:latin typeface="Arial"/>
                <a:cs typeface="Arial"/>
              </a:rPr>
              <a:t>be </a:t>
            </a:r>
            <a:r>
              <a:rPr dirty="0" sz="1200" spc="-10">
                <a:latin typeface="Arial"/>
                <a:cs typeface="Arial"/>
              </a:rPr>
              <a:t>soon  </a:t>
            </a:r>
            <a:r>
              <a:rPr dirty="0" sz="1200" spc="-5">
                <a:latin typeface="Arial"/>
                <a:cs typeface="Arial"/>
              </a:rPr>
              <a:t>revealed.</a:t>
            </a:r>
            <a:endParaRPr sz="1200">
              <a:latin typeface="Arial"/>
              <a:cs typeface="Arial"/>
            </a:endParaRPr>
          </a:p>
          <a:p>
            <a:pPr algn="just" marL="469900" marR="13970" indent="-229235">
              <a:lnSpc>
                <a:spcPts val="1370"/>
              </a:lnSpc>
              <a:spcBef>
                <a:spcPts val="5"/>
              </a:spcBef>
              <a:buAutoNum type="arabicPeriod" startAt="15"/>
              <a:tabLst>
                <a:tab pos="470534" algn="l"/>
              </a:tabLst>
            </a:pPr>
            <a:r>
              <a:rPr dirty="0" sz="1200" spc="-5">
                <a:latin typeface="Arial"/>
                <a:cs typeface="Arial"/>
              </a:rPr>
              <a:t>Architecture: </a:t>
            </a:r>
            <a:r>
              <a:rPr dirty="0" sz="1200">
                <a:latin typeface="Arial"/>
                <a:cs typeface="Arial"/>
              </a:rPr>
              <a:t>for the </a:t>
            </a:r>
            <a:r>
              <a:rPr dirty="0" sz="1200" spc="-5">
                <a:latin typeface="Arial"/>
                <a:cs typeface="Arial"/>
              </a:rPr>
              <a:t>shi‘a it is allowed </a:t>
            </a:r>
            <a:r>
              <a:rPr dirty="0" sz="1200">
                <a:latin typeface="Arial"/>
                <a:cs typeface="Arial"/>
              </a:rPr>
              <a:t>to </a:t>
            </a:r>
            <a:r>
              <a:rPr dirty="0" sz="1200" spc="-5">
                <a:latin typeface="Arial"/>
                <a:cs typeface="Arial"/>
              </a:rPr>
              <a:t>have pictures of their imam </a:t>
            </a:r>
            <a:r>
              <a:rPr dirty="0" sz="1200">
                <a:latin typeface="Arial"/>
                <a:cs typeface="Arial"/>
              </a:rPr>
              <a:t>and the </a:t>
            </a:r>
            <a:r>
              <a:rPr dirty="0" sz="1200" spc="-5">
                <a:latin typeface="Arial"/>
                <a:cs typeface="Arial"/>
              </a:rPr>
              <a:t>symbol of  </a:t>
            </a:r>
            <a:r>
              <a:rPr dirty="0" sz="1200">
                <a:latin typeface="Arial"/>
                <a:cs typeface="Arial"/>
              </a:rPr>
              <a:t>the </a:t>
            </a:r>
            <a:r>
              <a:rPr dirty="0" sz="1200" spc="-5">
                <a:latin typeface="Arial"/>
                <a:cs typeface="Arial"/>
              </a:rPr>
              <a:t>five </a:t>
            </a:r>
            <a:r>
              <a:rPr dirty="0" sz="1200">
                <a:latin typeface="Arial"/>
                <a:cs typeface="Arial"/>
              </a:rPr>
              <a:t>fingers </a:t>
            </a:r>
            <a:r>
              <a:rPr dirty="0" sz="1200" spc="-5">
                <a:latin typeface="Arial"/>
                <a:cs typeface="Arial"/>
              </a:rPr>
              <a:t>of a hand representing </a:t>
            </a:r>
            <a:r>
              <a:rPr dirty="0" sz="1200">
                <a:latin typeface="Arial"/>
                <a:cs typeface="Arial"/>
              </a:rPr>
              <a:t>the </a:t>
            </a:r>
            <a:r>
              <a:rPr dirty="0" sz="1200" spc="-5">
                <a:latin typeface="Arial"/>
                <a:cs typeface="Arial"/>
              </a:rPr>
              <a:t>five holy persons in </a:t>
            </a:r>
            <a:r>
              <a:rPr dirty="0" sz="1200">
                <a:latin typeface="Arial"/>
                <a:cs typeface="Arial"/>
              </a:rPr>
              <a:t>their</a:t>
            </a:r>
            <a:r>
              <a:rPr dirty="0" sz="1200" spc="315">
                <a:latin typeface="Arial"/>
                <a:cs typeface="Arial"/>
              </a:rPr>
              <a:t> </a:t>
            </a:r>
            <a:r>
              <a:rPr dirty="0" sz="1200" spc="-5">
                <a:latin typeface="Arial"/>
                <a:cs typeface="Arial"/>
              </a:rPr>
              <a:t>houses and</a:t>
            </a:r>
            <a:endParaRPr sz="1200">
              <a:latin typeface="Arial"/>
              <a:cs typeface="Arial"/>
            </a:endParaRPr>
          </a:p>
          <a:p>
            <a:pPr algn="just" marL="469900" marR="6985">
              <a:lnSpc>
                <a:spcPts val="1380"/>
              </a:lnSpc>
            </a:pPr>
            <a:r>
              <a:rPr dirty="0" sz="1200" spc="-5">
                <a:latin typeface="Arial"/>
                <a:cs typeface="Arial"/>
              </a:rPr>
              <a:t>mosques but </a:t>
            </a:r>
            <a:r>
              <a:rPr dirty="0" sz="1200">
                <a:latin typeface="Arial"/>
                <a:cs typeface="Arial"/>
              </a:rPr>
              <a:t>for the </a:t>
            </a:r>
            <a:r>
              <a:rPr dirty="0" sz="1200" spc="-5">
                <a:latin typeface="Arial"/>
                <a:cs typeface="Arial"/>
              </a:rPr>
              <a:t>sunni pictures and photos of human beings </a:t>
            </a:r>
            <a:r>
              <a:rPr dirty="0" sz="1200" spc="-10">
                <a:latin typeface="Arial"/>
                <a:cs typeface="Arial"/>
              </a:rPr>
              <a:t>are </a:t>
            </a:r>
            <a:r>
              <a:rPr dirty="0" sz="1200" spc="-5">
                <a:latin typeface="Arial"/>
                <a:cs typeface="Arial"/>
              </a:rPr>
              <a:t>haram </a:t>
            </a:r>
            <a:r>
              <a:rPr dirty="0" sz="1200" spc="5">
                <a:latin typeface="Arial"/>
                <a:cs typeface="Arial"/>
              </a:rPr>
              <a:t>whether </a:t>
            </a:r>
            <a:r>
              <a:rPr dirty="0" sz="1200" spc="-5">
                <a:latin typeface="Arial"/>
                <a:cs typeface="Arial"/>
              </a:rPr>
              <a:t>at  home </a:t>
            </a:r>
            <a:r>
              <a:rPr dirty="0" sz="1200">
                <a:latin typeface="Arial"/>
                <a:cs typeface="Arial"/>
              </a:rPr>
              <a:t>or </a:t>
            </a:r>
            <a:r>
              <a:rPr dirty="0" sz="1200" spc="-15">
                <a:latin typeface="Arial"/>
                <a:cs typeface="Arial"/>
              </a:rPr>
              <a:t>in </a:t>
            </a:r>
            <a:r>
              <a:rPr dirty="0" sz="1200" spc="-5">
                <a:latin typeface="Arial"/>
                <a:cs typeface="Arial"/>
              </a:rPr>
              <a:t>the</a:t>
            </a:r>
            <a:r>
              <a:rPr dirty="0" sz="1200" spc="5">
                <a:latin typeface="Arial"/>
                <a:cs typeface="Arial"/>
              </a:rPr>
              <a:t> </a:t>
            </a:r>
            <a:r>
              <a:rPr dirty="0" sz="1200" spc="-5">
                <a:latin typeface="Arial"/>
                <a:cs typeface="Arial"/>
              </a:rPr>
              <a:t>mosque.</a:t>
            </a:r>
            <a:endParaRPr sz="1200">
              <a:latin typeface="Arial"/>
              <a:cs typeface="Arial"/>
            </a:endParaRPr>
          </a:p>
          <a:p>
            <a:pPr algn="just" marL="469900" marR="13335" indent="-229235">
              <a:lnSpc>
                <a:spcPts val="1380"/>
              </a:lnSpc>
              <a:spcBef>
                <a:spcPts val="5"/>
              </a:spcBef>
              <a:buAutoNum type="arabicPeriod" startAt="18"/>
              <a:tabLst>
                <a:tab pos="470534" algn="l"/>
              </a:tabLst>
            </a:pPr>
            <a:r>
              <a:rPr dirty="0" sz="1200" spc="-5">
                <a:latin typeface="Arial"/>
                <a:cs typeface="Arial"/>
              </a:rPr>
              <a:t>Human mutilation: </a:t>
            </a:r>
            <a:r>
              <a:rPr dirty="0" sz="1200">
                <a:latin typeface="Arial"/>
                <a:cs typeface="Arial"/>
              </a:rPr>
              <a:t>for the </a:t>
            </a:r>
            <a:r>
              <a:rPr dirty="0" sz="1200" spc="-5">
                <a:latin typeface="Arial"/>
                <a:cs typeface="Arial"/>
              </a:rPr>
              <a:t>event of Ashourah </a:t>
            </a:r>
            <a:r>
              <a:rPr dirty="0" sz="1200">
                <a:latin typeface="Arial"/>
                <a:cs typeface="Arial"/>
              </a:rPr>
              <a:t>the </a:t>
            </a:r>
            <a:r>
              <a:rPr dirty="0" sz="1200" spc="-5">
                <a:latin typeface="Arial"/>
                <a:cs typeface="Arial"/>
              </a:rPr>
              <a:t>shi‘a practised the mutilation on that  day and women </a:t>
            </a:r>
            <a:r>
              <a:rPr dirty="0" sz="1200" spc="-10">
                <a:latin typeface="Arial"/>
                <a:cs typeface="Arial"/>
              </a:rPr>
              <a:t>observed </a:t>
            </a:r>
            <a:r>
              <a:rPr dirty="0" sz="1200">
                <a:latin typeface="Arial"/>
                <a:cs typeface="Arial"/>
              </a:rPr>
              <a:t>the </a:t>
            </a:r>
            <a:r>
              <a:rPr dirty="0" sz="1200" spc="-5">
                <a:latin typeface="Arial"/>
                <a:cs typeface="Arial"/>
              </a:rPr>
              <a:t>Maatam (mourning) but </a:t>
            </a:r>
            <a:r>
              <a:rPr dirty="0" sz="1200">
                <a:latin typeface="Arial"/>
                <a:cs typeface="Arial"/>
              </a:rPr>
              <a:t>for </a:t>
            </a:r>
            <a:r>
              <a:rPr dirty="0" sz="1200" spc="-5">
                <a:latin typeface="Arial"/>
                <a:cs typeface="Arial"/>
              </a:rPr>
              <a:t>the sunni is </a:t>
            </a:r>
            <a:r>
              <a:rPr dirty="0" sz="1200">
                <a:latin typeface="Arial"/>
                <a:cs typeface="Arial"/>
              </a:rPr>
              <a:t>it </a:t>
            </a:r>
            <a:r>
              <a:rPr dirty="0" sz="1200" spc="-5">
                <a:latin typeface="Arial"/>
                <a:cs typeface="Arial"/>
              </a:rPr>
              <a:t>only a </a:t>
            </a:r>
            <a:r>
              <a:rPr dirty="0" sz="1200">
                <a:latin typeface="Arial"/>
                <a:cs typeface="Arial"/>
              </a:rPr>
              <a:t>lesson  to </a:t>
            </a:r>
            <a:r>
              <a:rPr dirty="0" sz="1200" spc="-5">
                <a:latin typeface="Arial"/>
                <a:cs typeface="Arial"/>
              </a:rPr>
              <a:t>be taken from the sacrifice of imam Hussein and the </a:t>
            </a:r>
            <a:r>
              <a:rPr dirty="0" sz="1200" spc="5">
                <a:latin typeface="Arial"/>
                <a:cs typeface="Arial"/>
              </a:rPr>
              <a:t>Ahl</a:t>
            </a:r>
            <a:r>
              <a:rPr dirty="0" sz="1200" spc="40">
                <a:latin typeface="Arial"/>
                <a:cs typeface="Arial"/>
              </a:rPr>
              <a:t> </a:t>
            </a:r>
            <a:r>
              <a:rPr dirty="0" sz="1200">
                <a:latin typeface="Arial"/>
                <a:cs typeface="Arial"/>
              </a:rPr>
              <a:t>Bait</a:t>
            </a:r>
            <a:endParaRPr sz="1200">
              <a:latin typeface="Arial"/>
              <a:cs typeface="Arial"/>
            </a:endParaRPr>
          </a:p>
          <a:p>
            <a:pPr algn="just" marL="469900" marR="12700" indent="-229235">
              <a:lnSpc>
                <a:spcPts val="1380"/>
              </a:lnSpc>
              <a:buAutoNum type="arabicPeriod" startAt="18"/>
              <a:tabLst>
                <a:tab pos="470534" algn="l"/>
              </a:tabLst>
            </a:pPr>
            <a:r>
              <a:rPr dirty="0" sz="1200" spc="-5">
                <a:latin typeface="Arial"/>
                <a:cs typeface="Arial"/>
              </a:rPr>
              <a:t>Shrines: venerating </a:t>
            </a:r>
            <a:r>
              <a:rPr dirty="0" sz="1200" spc="-10">
                <a:latin typeface="Arial"/>
                <a:cs typeface="Arial"/>
              </a:rPr>
              <a:t>and </a:t>
            </a:r>
            <a:r>
              <a:rPr dirty="0" sz="1200">
                <a:latin typeface="Arial"/>
                <a:cs typeface="Arial"/>
              </a:rPr>
              <a:t>asking </a:t>
            </a:r>
            <a:r>
              <a:rPr dirty="0" sz="1200" spc="-5">
                <a:latin typeface="Arial"/>
                <a:cs typeface="Arial"/>
              </a:rPr>
              <a:t>du‘a from dead people like the Shu‘adah of Karbala is  allowed </a:t>
            </a:r>
            <a:r>
              <a:rPr dirty="0" sz="1200">
                <a:latin typeface="Arial"/>
                <a:cs typeface="Arial"/>
              </a:rPr>
              <a:t>by the </a:t>
            </a:r>
            <a:r>
              <a:rPr dirty="0" sz="1200" spc="-5">
                <a:latin typeface="Arial"/>
                <a:cs typeface="Arial"/>
              </a:rPr>
              <a:t>shi‘a imam </a:t>
            </a:r>
            <a:r>
              <a:rPr dirty="0" sz="1200">
                <a:latin typeface="Arial"/>
                <a:cs typeface="Arial"/>
              </a:rPr>
              <a:t>but this </a:t>
            </a:r>
            <a:r>
              <a:rPr dirty="0" sz="1200" spc="-5">
                <a:latin typeface="Arial"/>
                <a:cs typeface="Arial"/>
              </a:rPr>
              <a:t>act amount </a:t>
            </a:r>
            <a:r>
              <a:rPr dirty="0" sz="1200">
                <a:latin typeface="Arial"/>
                <a:cs typeface="Arial"/>
              </a:rPr>
              <a:t>to </a:t>
            </a:r>
            <a:r>
              <a:rPr dirty="0" sz="1200" spc="-5">
                <a:latin typeface="Arial"/>
                <a:cs typeface="Arial"/>
              </a:rPr>
              <a:t>shirk </a:t>
            </a:r>
            <a:r>
              <a:rPr dirty="0" sz="1200">
                <a:latin typeface="Arial"/>
                <a:cs typeface="Arial"/>
              </a:rPr>
              <a:t>by </a:t>
            </a:r>
            <a:r>
              <a:rPr dirty="0" sz="1200" spc="-5">
                <a:latin typeface="Arial"/>
                <a:cs typeface="Arial"/>
              </a:rPr>
              <a:t>the</a:t>
            </a:r>
            <a:r>
              <a:rPr dirty="0" sz="1200" spc="-35">
                <a:latin typeface="Arial"/>
                <a:cs typeface="Arial"/>
              </a:rPr>
              <a:t> </a:t>
            </a:r>
            <a:r>
              <a:rPr dirty="0" sz="1200" spc="-5">
                <a:latin typeface="Arial"/>
                <a:cs typeface="Arial"/>
              </a:rPr>
              <a:t>sunni.</a:t>
            </a:r>
            <a:endParaRPr sz="1200">
              <a:latin typeface="Arial"/>
              <a:cs typeface="Arial"/>
            </a:endParaRPr>
          </a:p>
          <a:p>
            <a:pPr algn="just" marL="469900" marR="5080" indent="-229235">
              <a:lnSpc>
                <a:spcPts val="1380"/>
              </a:lnSpc>
              <a:buAutoNum type="arabicPeriod" startAt="18"/>
              <a:tabLst>
                <a:tab pos="470534" algn="l"/>
              </a:tabLst>
            </a:pPr>
            <a:r>
              <a:rPr dirty="0" sz="1200" spc="-5">
                <a:latin typeface="Arial"/>
                <a:cs typeface="Arial"/>
              </a:rPr>
              <a:t>Practical Islam: there </a:t>
            </a:r>
            <a:r>
              <a:rPr dirty="0" sz="1200">
                <a:latin typeface="Arial"/>
                <a:cs typeface="Arial"/>
              </a:rPr>
              <a:t>are </a:t>
            </a:r>
            <a:r>
              <a:rPr dirty="0" sz="1200" spc="-5">
                <a:latin typeface="Arial"/>
                <a:cs typeface="Arial"/>
              </a:rPr>
              <a:t>major differences between the shi‘a and </a:t>
            </a:r>
            <a:r>
              <a:rPr dirty="0" sz="1200">
                <a:latin typeface="Arial"/>
                <a:cs typeface="Arial"/>
              </a:rPr>
              <a:t>the </a:t>
            </a:r>
            <a:r>
              <a:rPr dirty="0" sz="1200" spc="-5">
                <a:latin typeface="Arial"/>
                <a:cs typeface="Arial"/>
              </a:rPr>
              <a:t>sunni </a:t>
            </a:r>
            <a:r>
              <a:rPr dirty="0" sz="1200" spc="-10">
                <a:latin typeface="Arial"/>
                <a:cs typeface="Arial"/>
              </a:rPr>
              <a:t>in </a:t>
            </a:r>
            <a:r>
              <a:rPr dirty="0" sz="1200" spc="10">
                <a:latin typeface="Arial"/>
                <a:cs typeface="Arial"/>
              </a:rPr>
              <a:t>terms  </a:t>
            </a:r>
            <a:r>
              <a:rPr dirty="0" sz="1200" spc="-5">
                <a:latin typeface="Arial"/>
                <a:cs typeface="Arial"/>
              </a:rPr>
              <a:t>of putting Islam into </a:t>
            </a:r>
            <a:r>
              <a:rPr dirty="0" sz="1200">
                <a:latin typeface="Arial"/>
                <a:cs typeface="Arial"/>
              </a:rPr>
              <a:t>practice, </a:t>
            </a:r>
            <a:r>
              <a:rPr dirty="0" sz="1200" spc="-5">
                <a:latin typeface="Arial"/>
                <a:cs typeface="Arial"/>
              </a:rPr>
              <a:t>like the call </a:t>
            </a:r>
            <a:r>
              <a:rPr dirty="0" sz="1200">
                <a:latin typeface="Arial"/>
                <a:cs typeface="Arial"/>
              </a:rPr>
              <a:t>for </a:t>
            </a:r>
            <a:r>
              <a:rPr dirty="0" sz="1200" spc="-5">
                <a:latin typeface="Arial"/>
                <a:cs typeface="Arial"/>
              </a:rPr>
              <a:t>swalaat, </a:t>
            </a:r>
            <a:r>
              <a:rPr dirty="0" sz="1200">
                <a:latin typeface="Arial"/>
                <a:cs typeface="Arial"/>
              </a:rPr>
              <a:t>the </a:t>
            </a:r>
            <a:r>
              <a:rPr dirty="0" sz="1200" spc="-5">
                <a:latin typeface="Arial"/>
                <a:cs typeface="Arial"/>
              </a:rPr>
              <a:t>swalaat itself, Friday  Khutbah, the day of Ashurah, the burial ceremony, the Qafn </a:t>
            </a:r>
            <a:r>
              <a:rPr dirty="0" sz="1200">
                <a:latin typeface="Arial"/>
                <a:cs typeface="Arial"/>
              </a:rPr>
              <a:t>at </a:t>
            </a:r>
            <a:r>
              <a:rPr dirty="0" sz="1200" spc="-5">
                <a:latin typeface="Arial"/>
                <a:cs typeface="Arial"/>
              </a:rPr>
              <a:t>burial, the Umrah and  Hajj.</a:t>
            </a:r>
            <a:endParaRPr sz="1200">
              <a:latin typeface="Arial"/>
              <a:cs typeface="Arial"/>
            </a:endParaRPr>
          </a:p>
          <a:p>
            <a:pPr>
              <a:lnSpc>
                <a:spcPct val="100000"/>
              </a:lnSpc>
              <a:spcBef>
                <a:spcPts val="15"/>
              </a:spcBef>
            </a:pPr>
            <a:endParaRPr sz="1100">
              <a:latin typeface="Arial"/>
              <a:cs typeface="Arial"/>
            </a:endParaRPr>
          </a:p>
          <a:p>
            <a:pPr marL="12700">
              <a:lnSpc>
                <a:spcPct val="100000"/>
              </a:lnSpc>
              <a:spcBef>
                <a:spcPts val="5"/>
              </a:spcBef>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Events leading </a:t>
            </a:r>
            <a:r>
              <a:rPr dirty="0" u="heavy" sz="1200" b="1" i="1">
                <a:uFill>
                  <a:solidFill>
                    <a:srgbClr val="000000"/>
                  </a:solidFill>
                </a:uFill>
                <a:latin typeface="Arial"/>
                <a:cs typeface="Arial"/>
              </a:rPr>
              <a:t>up to </a:t>
            </a:r>
            <a:r>
              <a:rPr dirty="0" u="heavy" sz="1200" spc="-5" b="1" i="1">
                <a:uFill>
                  <a:solidFill>
                    <a:srgbClr val="000000"/>
                  </a:solidFill>
                </a:uFill>
                <a:latin typeface="Arial"/>
                <a:cs typeface="Arial"/>
              </a:rPr>
              <a:t>the emergence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a:t>
            </a:r>
            <a:r>
              <a:rPr dirty="0" u="heavy" sz="1200" spc="-55" b="1" i="1">
                <a:uFill>
                  <a:solidFill>
                    <a:srgbClr val="000000"/>
                  </a:solidFill>
                </a:uFill>
                <a:latin typeface="Arial"/>
                <a:cs typeface="Arial"/>
              </a:rPr>
              <a:t>Shi‟a</a:t>
            </a:r>
            <a:endParaRPr sz="1200">
              <a:latin typeface="Arial"/>
              <a:cs typeface="Arial"/>
            </a:endParaRPr>
          </a:p>
          <a:p>
            <a:pPr>
              <a:lnSpc>
                <a:spcPct val="100000"/>
              </a:lnSpc>
              <a:spcBef>
                <a:spcPts val="50"/>
              </a:spcBef>
            </a:pPr>
            <a:endParaRPr sz="1100">
              <a:latin typeface="Arial"/>
              <a:cs typeface="Arial"/>
            </a:endParaRPr>
          </a:p>
          <a:p>
            <a:pPr marL="241300">
              <a:lnSpc>
                <a:spcPct val="100000"/>
              </a:lnSpc>
              <a:spcBef>
                <a:spcPts val="5"/>
              </a:spcBef>
            </a:pPr>
            <a:r>
              <a:rPr dirty="0" sz="1200">
                <a:latin typeface="Arial"/>
                <a:cs typeface="Arial"/>
              </a:rPr>
              <a:t>1. </a:t>
            </a:r>
            <a:r>
              <a:rPr dirty="0" sz="1200" spc="-5">
                <a:latin typeface="Arial"/>
                <a:cs typeface="Arial"/>
              </a:rPr>
              <a:t>The plot of the Khawarij in instigating revolts </a:t>
            </a:r>
            <a:r>
              <a:rPr dirty="0" sz="1200">
                <a:latin typeface="Arial"/>
                <a:cs typeface="Arial"/>
              </a:rPr>
              <a:t>and </a:t>
            </a:r>
            <a:r>
              <a:rPr dirty="0" sz="1200" spc="-5">
                <a:latin typeface="Arial"/>
                <a:cs typeface="Arial"/>
              </a:rPr>
              <a:t>rebellions against Banu</a:t>
            </a:r>
            <a:r>
              <a:rPr dirty="0" sz="1200" spc="-110">
                <a:latin typeface="Arial"/>
                <a:cs typeface="Arial"/>
              </a:rPr>
              <a:t> </a:t>
            </a:r>
            <a:r>
              <a:rPr dirty="0" sz="1200" spc="-5">
                <a:latin typeface="Arial"/>
                <a:cs typeface="Arial"/>
              </a:rPr>
              <a:t>Umayya</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603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140</a:t>
            </a:r>
            <a:endParaRPr sz="1200">
              <a:latin typeface="Times New Roman"/>
              <a:cs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2535" cy="9338310"/>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469900" indent="-229235">
              <a:lnSpc>
                <a:spcPts val="1410"/>
              </a:lnSpc>
              <a:spcBef>
                <a:spcPts val="5"/>
              </a:spcBef>
              <a:buAutoNum type="arabicPeriod" startAt="2"/>
              <a:tabLst>
                <a:tab pos="470534" algn="l"/>
              </a:tabLst>
            </a:pPr>
            <a:r>
              <a:rPr dirty="0" sz="1200" spc="-5">
                <a:latin typeface="Arial"/>
                <a:cs typeface="Arial"/>
              </a:rPr>
              <a:t>The difference between Banu Hashim and the</a:t>
            </a:r>
            <a:r>
              <a:rPr dirty="0" sz="1200" spc="20">
                <a:latin typeface="Arial"/>
                <a:cs typeface="Arial"/>
              </a:rPr>
              <a:t> </a:t>
            </a:r>
            <a:r>
              <a:rPr dirty="0" sz="1200" spc="-5">
                <a:latin typeface="Arial"/>
                <a:cs typeface="Arial"/>
              </a:rPr>
              <a:t>Umayya</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reviving </a:t>
            </a:r>
            <a:r>
              <a:rPr dirty="0" sz="1200">
                <a:latin typeface="Arial"/>
                <a:cs typeface="Arial"/>
              </a:rPr>
              <a:t>conflict </a:t>
            </a:r>
            <a:r>
              <a:rPr dirty="0" sz="1200" spc="-5">
                <a:latin typeface="Arial"/>
                <a:cs typeface="Arial"/>
              </a:rPr>
              <a:t>between Banu </a:t>
            </a:r>
            <a:r>
              <a:rPr dirty="0" sz="1200" spc="-10">
                <a:latin typeface="Arial"/>
                <a:cs typeface="Arial"/>
              </a:rPr>
              <a:t>Umayya </a:t>
            </a:r>
            <a:r>
              <a:rPr dirty="0" sz="1200">
                <a:latin typeface="Arial"/>
                <a:cs typeface="Arial"/>
              </a:rPr>
              <a:t>and</a:t>
            </a:r>
            <a:r>
              <a:rPr dirty="0" sz="1200" spc="10">
                <a:latin typeface="Arial"/>
                <a:cs typeface="Arial"/>
              </a:rPr>
              <a:t> </a:t>
            </a:r>
            <a:r>
              <a:rPr dirty="0" sz="1200" spc="-5">
                <a:latin typeface="Arial"/>
                <a:cs typeface="Arial"/>
              </a:rPr>
              <a:t>Hashim</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desire </a:t>
            </a:r>
            <a:r>
              <a:rPr dirty="0" sz="1200">
                <a:latin typeface="Arial"/>
                <a:cs typeface="Arial"/>
              </a:rPr>
              <a:t>to see </a:t>
            </a:r>
            <a:r>
              <a:rPr dirty="0" sz="1200" spc="-5">
                <a:latin typeface="Arial"/>
                <a:cs typeface="Arial"/>
              </a:rPr>
              <a:t>only Ahl </a:t>
            </a:r>
            <a:r>
              <a:rPr dirty="0" sz="1200">
                <a:latin typeface="Arial"/>
                <a:cs typeface="Arial"/>
              </a:rPr>
              <a:t>Bait </a:t>
            </a:r>
            <a:r>
              <a:rPr dirty="0" sz="1200" spc="-5">
                <a:latin typeface="Arial"/>
                <a:cs typeface="Arial"/>
              </a:rPr>
              <a:t>ruling over the</a:t>
            </a:r>
            <a:r>
              <a:rPr dirty="0" sz="1200" spc="-35">
                <a:latin typeface="Arial"/>
                <a:cs typeface="Arial"/>
              </a:rPr>
              <a:t> </a:t>
            </a:r>
            <a:r>
              <a:rPr dirty="0" sz="1200" spc="-5">
                <a:latin typeface="Arial"/>
                <a:cs typeface="Arial"/>
              </a:rPr>
              <a:t>country</a:t>
            </a:r>
            <a:endParaRPr sz="1200">
              <a:latin typeface="Arial"/>
              <a:cs typeface="Arial"/>
            </a:endParaRPr>
          </a:p>
          <a:p>
            <a:pPr marL="469900" marR="8255" indent="-228600">
              <a:lnSpc>
                <a:spcPts val="1380"/>
              </a:lnSpc>
              <a:spcBef>
                <a:spcPts val="65"/>
              </a:spcBef>
              <a:buAutoNum type="arabicPeriod" startAt="2"/>
              <a:tabLst>
                <a:tab pos="470534" algn="l"/>
              </a:tabLst>
            </a:pPr>
            <a:r>
              <a:rPr dirty="0" sz="1200" spc="-5">
                <a:latin typeface="Arial"/>
                <a:cs typeface="Arial"/>
              </a:rPr>
              <a:t>The events of battle of camel where Talha, </a:t>
            </a:r>
            <a:r>
              <a:rPr dirty="0" sz="1200">
                <a:latin typeface="Arial"/>
                <a:cs typeface="Arial"/>
              </a:rPr>
              <a:t>Zubair </a:t>
            </a:r>
            <a:r>
              <a:rPr dirty="0" sz="1200" spc="-5">
                <a:latin typeface="Arial"/>
                <a:cs typeface="Arial"/>
              </a:rPr>
              <a:t>and Aisha were against Ali </a:t>
            </a:r>
            <a:r>
              <a:rPr dirty="0" sz="1200">
                <a:latin typeface="Arial"/>
                <a:cs typeface="Arial"/>
              </a:rPr>
              <a:t>(the  </a:t>
            </a:r>
            <a:r>
              <a:rPr dirty="0" sz="1200" spc="-5">
                <a:latin typeface="Arial"/>
                <a:cs typeface="Arial"/>
              </a:rPr>
              <a:t>caliph at that</a:t>
            </a:r>
            <a:r>
              <a:rPr dirty="0" sz="1200" spc="5">
                <a:latin typeface="Arial"/>
                <a:cs typeface="Arial"/>
              </a:rPr>
              <a:t> </a:t>
            </a:r>
            <a:r>
              <a:rPr dirty="0" sz="1200" spc="-5">
                <a:latin typeface="Arial"/>
                <a:cs typeface="Arial"/>
              </a:rPr>
              <a:t>time)</a:t>
            </a:r>
            <a:endParaRPr sz="1200">
              <a:latin typeface="Arial"/>
              <a:cs typeface="Arial"/>
            </a:endParaRPr>
          </a:p>
          <a:p>
            <a:pPr marL="469900" indent="-229235">
              <a:lnSpc>
                <a:spcPts val="1315"/>
              </a:lnSpc>
              <a:buAutoNum type="arabicPeriod" startAt="2"/>
              <a:tabLst>
                <a:tab pos="470534" algn="l"/>
              </a:tabLst>
            </a:pPr>
            <a:r>
              <a:rPr dirty="0" sz="1200" spc="-5">
                <a:latin typeface="Arial"/>
                <a:cs typeface="Arial"/>
              </a:rPr>
              <a:t>The events of battle of Siffin and the rejection from</a:t>
            </a:r>
            <a:r>
              <a:rPr dirty="0" sz="1200" spc="30">
                <a:latin typeface="Arial"/>
                <a:cs typeface="Arial"/>
              </a:rPr>
              <a:t> </a:t>
            </a:r>
            <a:r>
              <a:rPr dirty="0" sz="1200" spc="-5">
                <a:latin typeface="Arial"/>
                <a:cs typeface="Arial"/>
              </a:rPr>
              <a:t>Mu‘awiyah</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challenge of authority </a:t>
            </a:r>
            <a:r>
              <a:rPr dirty="0" sz="1200" spc="5">
                <a:latin typeface="Arial"/>
                <a:cs typeface="Arial"/>
              </a:rPr>
              <a:t>by</a:t>
            </a:r>
            <a:r>
              <a:rPr dirty="0" sz="1200" spc="-10">
                <a:latin typeface="Arial"/>
                <a:cs typeface="Arial"/>
              </a:rPr>
              <a:t> </a:t>
            </a:r>
            <a:r>
              <a:rPr dirty="0" sz="1200" spc="-5">
                <a:latin typeface="Arial"/>
                <a:cs typeface="Arial"/>
              </a:rPr>
              <a:t>Mu‘awiyah</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a:t>
            </a:r>
            <a:r>
              <a:rPr dirty="0" sz="1200">
                <a:latin typeface="Arial"/>
                <a:cs typeface="Arial"/>
              </a:rPr>
              <a:t>lost </a:t>
            </a:r>
            <a:r>
              <a:rPr dirty="0" sz="1200" spc="-5">
                <a:latin typeface="Arial"/>
                <a:cs typeface="Arial"/>
              </a:rPr>
              <a:t>of territories from Ali after the</a:t>
            </a:r>
            <a:r>
              <a:rPr dirty="0" sz="1200" spc="15">
                <a:latin typeface="Arial"/>
                <a:cs typeface="Arial"/>
              </a:rPr>
              <a:t> </a:t>
            </a:r>
            <a:r>
              <a:rPr dirty="0" sz="1200" spc="-5">
                <a:latin typeface="Arial"/>
                <a:cs typeface="Arial"/>
              </a:rPr>
              <a:t>arbitration</a:t>
            </a:r>
            <a:endParaRPr sz="1200">
              <a:latin typeface="Arial"/>
              <a:cs typeface="Arial"/>
            </a:endParaRPr>
          </a:p>
          <a:p>
            <a:pPr marL="469900" marR="8255" indent="-228600">
              <a:lnSpc>
                <a:spcPts val="1380"/>
              </a:lnSpc>
              <a:spcBef>
                <a:spcPts val="65"/>
              </a:spcBef>
              <a:buAutoNum type="arabicPeriod" startAt="2"/>
              <a:tabLst>
                <a:tab pos="470534" algn="l"/>
              </a:tabLst>
            </a:pPr>
            <a:r>
              <a:rPr dirty="0" sz="1200" spc="-5">
                <a:latin typeface="Arial"/>
                <a:cs typeface="Arial"/>
              </a:rPr>
              <a:t>The battle of Nahrawand against </a:t>
            </a:r>
            <a:r>
              <a:rPr dirty="0" sz="1200">
                <a:latin typeface="Arial"/>
                <a:cs typeface="Arial"/>
              </a:rPr>
              <a:t>the </a:t>
            </a:r>
            <a:r>
              <a:rPr dirty="0" sz="1200" spc="-5">
                <a:latin typeface="Arial"/>
                <a:cs typeface="Arial"/>
              </a:rPr>
              <a:t>Khawarij </a:t>
            </a:r>
            <a:r>
              <a:rPr dirty="0" sz="1200">
                <a:latin typeface="Arial"/>
                <a:cs typeface="Arial"/>
              </a:rPr>
              <a:t>where </a:t>
            </a:r>
            <a:r>
              <a:rPr dirty="0" sz="1200" spc="-5">
                <a:latin typeface="Arial"/>
                <a:cs typeface="Arial"/>
              </a:rPr>
              <a:t>instead of peace there were  revolts </a:t>
            </a:r>
            <a:r>
              <a:rPr dirty="0" sz="1200">
                <a:latin typeface="Arial"/>
                <a:cs typeface="Arial"/>
              </a:rPr>
              <a:t>and </a:t>
            </a:r>
            <a:r>
              <a:rPr dirty="0" sz="1200" spc="-5">
                <a:latin typeface="Arial"/>
                <a:cs typeface="Arial"/>
              </a:rPr>
              <a:t>confusions in </a:t>
            </a:r>
            <a:r>
              <a:rPr dirty="0" sz="1200">
                <a:latin typeface="Arial"/>
                <a:cs typeface="Arial"/>
              </a:rPr>
              <a:t>the </a:t>
            </a:r>
            <a:r>
              <a:rPr dirty="0" sz="1200" spc="-5">
                <a:latin typeface="Arial"/>
                <a:cs typeface="Arial"/>
              </a:rPr>
              <a:t>Islamic kingdom</a:t>
            </a:r>
            <a:endParaRPr sz="1200">
              <a:latin typeface="Arial"/>
              <a:cs typeface="Arial"/>
            </a:endParaRPr>
          </a:p>
          <a:p>
            <a:pPr marL="469900" indent="-229235">
              <a:lnSpc>
                <a:spcPts val="1315"/>
              </a:lnSpc>
              <a:buAutoNum type="arabicPeriod" startAt="2"/>
              <a:tabLst>
                <a:tab pos="470534" algn="l"/>
              </a:tabLst>
            </a:pPr>
            <a:r>
              <a:rPr dirty="0" sz="1200" spc="-5">
                <a:latin typeface="Arial"/>
                <a:cs typeface="Arial"/>
              </a:rPr>
              <a:t>The usurpation of power </a:t>
            </a:r>
            <a:r>
              <a:rPr dirty="0" sz="1200">
                <a:latin typeface="Arial"/>
                <a:cs typeface="Arial"/>
              </a:rPr>
              <a:t>from </a:t>
            </a:r>
            <a:r>
              <a:rPr dirty="0" sz="1200" spc="-10">
                <a:latin typeface="Arial"/>
                <a:cs typeface="Arial"/>
              </a:rPr>
              <a:t>Hazrat </a:t>
            </a:r>
            <a:r>
              <a:rPr dirty="0" sz="1200" spc="-5">
                <a:latin typeface="Arial"/>
                <a:cs typeface="Arial"/>
              </a:rPr>
              <a:t>Imam Hassan after </a:t>
            </a:r>
            <a:r>
              <a:rPr dirty="0" sz="1200">
                <a:latin typeface="Arial"/>
                <a:cs typeface="Arial"/>
              </a:rPr>
              <a:t>only </a:t>
            </a:r>
            <a:r>
              <a:rPr dirty="0" sz="1200" spc="-5">
                <a:latin typeface="Arial"/>
                <a:cs typeface="Arial"/>
              </a:rPr>
              <a:t>6 months of</a:t>
            </a:r>
            <a:r>
              <a:rPr dirty="0" sz="1200" spc="90">
                <a:latin typeface="Arial"/>
                <a:cs typeface="Arial"/>
              </a:rPr>
              <a:t> </a:t>
            </a:r>
            <a:r>
              <a:rPr dirty="0" sz="1200" spc="-5">
                <a:latin typeface="Arial"/>
                <a:cs typeface="Arial"/>
              </a:rPr>
              <a:t>reign</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poisoning of Hazrat Imam</a:t>
            </a:r>
            <a:r>
              <a:rPr dirty="0" sz="1200" spc="20">
                <a:latin typeface="Arial"/>
                <a:cs typeface="Arial"/>
              </a:rPr>
              <a:t> </a:t>
            </a:r>
            <a:r>
              <a:rPr dirty="0" sz="1200" spc="-5">
                <a:latin typeface="Arial"/>
                <a:cs typeface="Arial"/>
              </a:rPr>
              <a:t>Hassan</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massacre of</a:t>
            </a:r>
            <a:r>
              <a:rPr dirty="0" sz="1200" spc="-15">
                <a:latin typeface="Arial"/>
                <a:cs typeface="Arial"/>
              </a:rPr>
              <a:t> </a:t>
            </a:r>
            <a:r>
              <a:rPr dirty="0" sz="1200" spc="-5">
                <a:latin typeface="Arial"/>
                <a:cs typeface="Arial"/>
              </a:rPr>
              <a:t>Karbala</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humiliation of the 73 dead</a:t>
            </a:r>
            <a:r>
              <a:rPr dirty="0" sz="1200" spc="5">
                <a:latin typeface="Arial"/>
                <a:cs typeface="Arial"/>
              </a:rPr>
              <a:t> </a:t>
            </a:r>
            <a:r>
              <a:rPr dirty="0" sz="1200" spc="-5">
                <a:latin typeface="Arial"/>
                <a:cs typeface="Arial"/>
              </a:rPr>
              <a:t>bodies</a:t>
            </a:r>
            <a:endParaRPr sz="1200">
              <a:latin typeface="Arial"/>
              <a:cs typeface="Arial"/>
            </a:endParaRPr>
          </a:p>
          <a:p>
            <a:pPr marL="469900" indent="-229235">
              <a:lnSpc>
                <a:spcPts val="1380"/>
              </a:lnSpc>
              <a:buAutoNum type="arabicPeriod" startAt="2"/>
              <a:tabLst>
                <a:tab pos="470534" algn="l"/>
              </a:tabLst>
            </a:pPr>
            <a:r>
              <a:rPr dirty="0" sz="1200" spc="-5">
                <a:latin typeface="Arial"/>
                <a:cs typeface="Arial"/>
              </a:rPr>
              <a:t>The humiliation </a:t>
            </a:r>
            <a:r>
              <a:rPr dirty="0" sz="1200">
                <a:latin typeface="Arial"/>
                <a:cs typeface="Arial"/>
              </a:rPr>
              <a:t>by </a:t>
            </a:r>
            <a:r>
              <a:rPr dirty="0" sz="1200" spc="-5">
                <a:latin typeface="Arial"/>
                <a:cs typeface="Arial"/>
              </a:rPr>
              <a:t>Yazid upon the rest of the </a:t>
            </a:r>
            <a:r>
              <a:rPr dirty="0" sz="1200">
                <a:latin typeface="Arial"/>
                <a:cs typeface="Arial"/>
              </a:rPr>
              <a:t>family of </a:t>
            </a:r>
            <a:r>
              <a:rPr dirty="0" sz="1200" spc="-5">
                <a:latin typeface="Arial"/>
                <a:cs typeface="Arial"/>
              </a:rPr>
              <a:t>Ahl</a:t>
            </a:r>
            <a:r>
              <a:rPr dirty="0" sz="1200" spc="-10">
                <a:latin typeface="Arial"/>
                <a:cs typeface="Arial"/>
              </a:rPr>
              <a:t> </a:t>
            </a:r>
            <a:r>
              <a:rPr dirty="0" sz="1200">
                <a:latin typeface="Arial"/>
                <a:cs typeface="Arial"/>
              </a:rPr>
              <a:t>Bait</a:t>
            </a:r>
            <a:endParaRPr sz="1200">
              <a:latin typeface="Arial"/>
              <a:cs typeface="Arial"/>
            </a:endParaRPr>
          </a:p>
          <a:p>
            <a:pPr marL="469900" indent="-229235">
              <a:lnSpc>
                <a:spcPts val="1380"/>
              </a:lnSpc>
              <a:buAutoNum type="arabicPeriod" startAt="2"/>
              <a:tabLst>
                <a:tab pos="470534" algn="l"/>
              </a:tabLst>
            </a:pPr>
            <a:r>
              <a:rPr dirty="0" sz="1200">
                <a:latin typeface="Arial"/>
                <a:cs typeface="Arial"/>
              </a:rPr>
              <a:t>This </a:t>
            </a:r>
            <a:r>
              <a:rPr dirty="0" sz="1200" spc="-5">
                <a:latin typeface="Arial"/>
                <a:cs typeface="Arial"/>
              </a:rPr>
              <a:t>developed the devotional practices of Ashourah and the feeling </a:t>
            </a:r>
            <a:r>
              <a:rPr dirty="0" sz="1200">
                <a:latin typeface="Arial"/>
                <a:cs typeface="Arial"/>
              </a:rPr>
              <a:t>of</a:t>
            </a:r>
            <a:r>
              <a:rPr dirty="0" sz="1200" spc="30">
                <a:latin typeface="Arial"/>
                <a:cs typeface="Arial"/>
              </a:rPr>
              <a:t> </a:t>
            </a:r>
            <a:r>
              <a:rPr dirty="0" sz="1200" spc="-5">
                <a:latin typeface="Arial"/>
                <a:cs typeface="Arial"/>
              </a:rPr>
              <a:t>sorrow</a:t>
            </a:r>
            <a:endParaRPr sz="1200">
              <a:latin typeface="Arial"/>
              <a:cs typeface="Arial"/>
            </a:endParaRPr>
          </a:p>
          <a:p>
            <a:pPr marL="469900" marR="6350" indent="-228600">
              <a:lnSpc>
                <a:spcPts val="1380"/>
              </a:lnSpc>
              <a:spcBef>
                <a:spcPts val="65"/>
              </a:spcBef>
              <a:buAutoNum type="arabicPeriod" startAt="2"/>
              <a:tabLst>
                <a:tab pos="470534" algn="l"/>
              </a:tabLst>
            </a:pPr>
            <a:r>
              <a:rPr dirty="0" sz="1200" spc="-5">
                <a:latin typeface="Arial"/>
                <a:cs typeface="Arial"/>
              </a:rPr>
              <a:t>The 3 </a:t>
            </a:r>
            <a:r>
              <a:rPr dirty="0" sz="1200">
                <a:latin typeface="Arial"/>
                <a:cs typeface="Arial"/>
              </a:rPr>
              <a:t>black </a:t>
            </a:r>
            <a:r>
              <a:rPr dirty="0" sz="1200" spc="-5">
                <a:latin typeface="Arial"/>
                <a:cs typeface="Arial"/>
              </a:rPr>
              <a:t>days </a:t>
            </a:r>
            <a:r>
              <a:rPr dirty="0" sz="1200">
                <a:latin typeface="Arial"/>
                <a:cs typeface="Arial"/>
              </a:rPr>
              <a:t>of Madina </a:t>
            </a:r>
            <a:r>
              <a:rPr dirty="0" sz="1200" spc="-5">
                <a:latin typeface="Arial"/>
                <a:cs typeface="Arial"/>
              </a:rPr>
              <a:t>where the </a:t>
            </a:r>
            <a:r>
              <a:rPr dirty="0" sz="1200">
                <a:latin typeface="Arial"/>
                <a:cs typeface="Arial"/>
              </a:rPr>
              <a:t>city </a:t>
            </a:r>
            <a:r>
              <a:rPr dirty="0" sz="1200" spc="-5">
                <a:latin typeface="Arial"/>
                <a:cs typeface="Arial"/>
              </a:rPr>
              <a:t>was confined </a:t>
            </a:r>
            <a:r>
              <a:rPr dirty="0" sz="1200">
                <a:latin typeface="Arial"/>
                <a:cs typeface="Arial"/>
              </a:rPr>
              <a:t>by </a:t>
            </a:r>
            <a:r>
              <a:rPr dirty="0" sz="1200" spc="-5">
                <a:latin typeface="Arial"/>
                <a:cs typeface="Arial"/>
              </a:rPr>
              <a:t>the Khawarij with the </a:t>
            </a:r>
            <a:r>
              <a:rPr dirty="0" sz="1200">
                <a:latin typeface="Arial"/>
                <a:cs typeface="Arial"/>
              </a:rPr>
              <a:t>army  </a:t>
            </a:r>
            <a:r>
              <a:rPr dirty="0" sz="1200" spc="-5">
                <a:latin typeface="Arial"/>
                <a:cs typeface="Arial"/>
              </a:rPr>
              <a:t>of</a:t>
            </a:r>
            <a:r>
              <a:rPr dirty="0" sz="1200" spc="5">
                <a:latin typeface="Arial"/>
                <a:cs typeface="Arial"/>
              </a:rPr>
              <a:t> </a:t>
            </a:r>
            <a:r>
              <a:rPr dirty="0" sz="1200" spc="-10">
                <a:latin typeface="Arial"/>
                <a:cs typeface="Arial"/>
              </a:rPr>
              <a:t>Yazid</a:t>
            </a:r>
            <a:endParaRPr sz="1200">
              <a:latin typeface="Arial"/>
              <a:cs typeface="Arial"/>
            </a:endParaRPr>
          </a:p>
          <a:p>
            <a:pPr marL="469900" marR="10795" indent="-228600">
              <a:lnSpc>
                <a:spcPts val="1380"/>
              </a:lnSpc>
              <a:buAutoNum type="arabicPeriod" startAt="2"/>
              <a:tabLst>
                <a:tab pos="470534" algn="l"/>
              </a:tabLst>
            </a:pPr>
            <a:r>
              <a:rPr dirty="0" sz="1200" spc="-5">
                <a:latin typeface="Arial"/>
                <a:cs typeface="Arial"/>
              </a:rPr>
              <a:t>The constant persecutions of the Umayyad caliphs upon the shi‘a due to their false  concepts</a:t>
            </a:r>
            <a:endParaRPr sz="1200">
              <a:latin typeface="Arial"/>
              <a:cs typeface="Arial"/>
            </a:endParaRPr>
          </a:p>
          <a:p>
            <a:pPr marL="469900" indent="-229235">
              <a:lnSpc>
                <a:spcPts val="1315"/>
              </a:lnSpc>
              <a:buAutoNum type="arabicPeriod" startAt="2"/>
              <a:tabLst>
                <a:tab pos="470534" algn="l"/>
              </a:tabLst>
            </a:pPr>
            <a:r>
              <a:rPr dirty="0" sz="1200" spc="-5">
                <a:latin typeface="Arial"/>
                <a:cs typeface="Arial"/>
              </a:rPr>
              <a:t>Inequality towards </a:t>
            </a:r>
            <a:r>
              <a:rPr dirty="0" sz="1200">
                <a:latin typeface="Arial"/>
                <a:cs typeface="Arial"/>
              </a:rPr>
              <a:t>the </a:t>
            </a:r>
            <a:r>
              <a:rPr dirty="0" sz="1200" spc="-5">
                <a:latin typeface="Arial"/>
                <a:cs typeface="Arial"/>
              </a:rPr>
              <a:t>hashimites in </a:t>
            </a:r>
            <a:r>
              <a:rPr dirty="0" sz="1200">
                <a:latin typeface="Arial"/>
                <a:cs typeface="Arial"/>
              </a:rPr>
              <a:t>all </a:t>
            </a:r>
            <a:r>
              <a:rPr dirty="0" sz="1200" spc="-5">
                <a:latin typeface="Arial"/>
                <a:cs typeface="Arial"/>
              </a:rPr>
              <a:t>aspects of</a:t>
            </a:r>
            <a:r>
              <a:rPr dirty="0" sz="1200" spc="5">
                <a:latin typeface="Arial"/>
                <a:cs typeface="Arial"/>
              </a:rPr>
              <a:t> </a:t>
            </a:r>
            <a:r>
              <a:rPr dirty="0" sz="1200" spc="-5">
                <a:latin typeface="Arial"/>
                <a:cs typeface="Arial"/>
              </a:rPr>
              <a:t>life.</a:t>
            </a:r>
            <a:endParaRPr sz="1200">
              <a:latin typeface="Arial"/>
              <a:cs typeface="Arial"/>
            </a:endParaRPr>
          </a:p>
          <a:p>
            <a:pPr algn="just" marL="469900" marR="5080" indent="-228600">
              <a:lnSpc>
                <a:spcPts val="1380"/>
              </a:lnSpc>
              <a:spcBef>
                <a:spcPts val="65"/>
              </a:spcBef>
              <a:buAutoNum type="arabicPeriod" startAt="2"/>
              <a:tabLst>
                <a:tab pos="470534" algn="l"/>
              </a:tabLst>
            </a:pPr>
            <a:r>
              <a:rPr dirty="0" sz="1200" spc="-5">
                <a:latin typeface="Arial"/>
                <a:cs typeface="Arial"/>
              </a:rPr>
              <a:t>Shi`ism attracted other </a:t>
            </a:r>
            <a:r>
              <a:rPr dirty="0" sz="1200">
                <a:latin typeface="Arial"/>
                <a:cs typeface="Arial"/>
              </a:rPr>
              <a:t>dissenting </a:t>
            </a:r>
            <a:r>
              <a:rPr dirty="0" sz="1200" spc="-5">
                <a:latin typeface="Arial"/>
                <a:cs typeface="Arial"/>
              </a:rPr>
              <a:t>groups, especially representatives </a:t>
            </a:r>
            <a:r>
              <a:rPr dirty="0" sz="1200">
                <a:latin typeface="Arial"/>
                <a:cs typeface="Arial"/>
              </a:rPr>
              <a:t>of </a:t>
            </a:r>
            <a:r>
              <a:rPr dirty="0" sz="1200" spc="-5">
                <a:latin typeface="Arial"/>
                <a:cs typeface="Arial"/>
              </a:rPr>
              <a:t>older </a:t>
            </a:r>
            <a:r>
              <a:rPr dirty="0" sz="1200" spc="10">
                <a:latin typeface="Arial"/>
                <a:cs typeface="Arial"/>
              </a:rPr>
              <a:t>non-  </a:t>
            </a:r>
            <a:r>
              <a:rPr dirty="0" sz="1200" spc="-5">
                <a:latin typeface="Arial"/>
                <a:cs typeface="Arial"/>
              </a:rPr>
              <a:t>Arab (Mawali) and civilizations (Persian, Indian, </a:t>
            </a:r>
            <a:r>
              <a:rPr dirty="0" sz="1200">
                <a:latin typeface="Arial"/>
                <a:cs typeface="Arial"/>
              </a:rPr>
              <a:t>etc.) </a:t>
            </a:r>
            <a:r>
              <a:rPr dirty="0" sz="1200" spc="-5">
                <a:latin typeface="Arial"/>
                <a:cs typeface="Arial"/>
              </a:rPr>
              <a:t>that </a:t>
            </a:r>
            <a:r>
              <a:rPr dirty="0" sz="1200">
                <a:latin typeface="Arial"/>
                <a:cs typeface="Arial"/>
              </a:rPr>
              <a:t>felt </a:t>
            </a:r>
            <a:r>
              <a:rPr dirty="0" sz="1200" spc="-5">
                <a:latin typeface="Arial"/>
                <a:cs typeface="Arial"/>
              </a:rPr>
              <a:t>they had not been  treated fairly </a:t>
            </a:r>
            <a:r>
              <a:rPr dirty="0" sz="1200">
                <a:latin typeface="Arial"/>
                <a:cs typeface="Arial"/>
              </a:rPr>
              <a:t>by </a:t>
            </a:r>
            <a:r>
              <a:rPr dirty="0" sz="1200" spc="-5">
                <a:latin typeface="Arial"/>
                <a:cs typeface="Arial"/>
              </a:rPr>
              <a:t>the </a:t>
            </a:r>
            <a:r>
              <a:rPr dirty="0" sz="1200" spc="-10">
                <a:latin typeface="Arial"/>
                <a:cs typeface="Arial"/>
              </a:rPr>
              <a:t>Arab</a:t>
            </a:r>
            <a:r>
              <a:rPr dirty="0" sz="1200" spc="-25">
                <a:latin typeface="Arial"/>
                <a:cs typeface="Arial"/>
              </a:rPr>
              <a:t> </a:t>
            </a:r>
            <a:r>
              <a:rPr dirty="0" sz="1200" spc="-5">
                <a:latin typeface="Arial"/>
                <a:cs typeface="Arial"/>
              </a:rPr>
              <a:t>Muslims</a:t>
            </a:r>
            <a:endParaRPr sz="1200">
              <a:latin typeface="Arial"/>
              <a:cs typeface="Arial"/>
            </a:endParaRPr>
          </a:p>
          <a:p>
            <a:pPr algn="just" marL="469900" indent="-229235">
              <a:lnSpc>
                <a:spcPts val="1345"/>
              </a:lnSpc>
              <a:buAutoNum type="arabicPeriod" startAt="2"/>
              <a:tabLst>
                <a:tab pos="470534" algn="l"/>
              </a:tabLst>
            </a:pPr>
            <a:r>
              <a:rPr dirty="0" sz="1200" spc="-5">
                <a:latin typeface="Arial"/>
                <a:cs typeface="Arial"/>
              </a:rPr>
              <a:t>The personal interest of each of the Abbasid caliph </a:t>
            </a:r>
            <a:r>
              <a:rPr dirty="0" sz="1200" spc="-10">
                <a:latin typeface="Arial"/>
                <a:cs typeface="Arial"/>
              </a:rPr>
              <a:t>with </a:t>
            </a:r>
            <a:r>
              <a:rPr dirty="0" sz="1200">
                <a:latin typeface="Arial"/>
                <a:cs typeface="Arial"/>
              </a:rPr>
              <a:t>the </a:t>
            </a:r>
            <a:r>
              <a:rPr dirty="0" sz="1200" spc="-5">
                <a:latin typeface="Arial"/>
                <a:cs typeface="Arial"/>
              </a:rPr>
              <a:t>support of the</a:t>
            </a:r>
            <a:r>
              <a:rPr dirty="0" sz="1200" spc="85">
                <a:latin typeface="Arial"/>
                <a:cs typeface="Arial"/>
              </a:rPr>
              <a:t> </a:t>
            </a:r>
            <a:r>
              <a:rPr dirty="0" sz="1200">
                <a:latin typeface="Arial"/>
                <a:cs typeface="Arial"/>
              </a:rPr>
              <a:t>Shi‘a.</a:t>
            </a:r>
            <a:endParaRPr sz="1200">
              <a:latin typeface="Arial"/>
              <a:cs typeface="Arial"/>
            </a:endParaRPr>
          </a:p>
          <a:p>
            <a:pPr>
              <a:lnSpc>
                <a:spcPct val="100000"/>
              </a:lnSpc>
            </a:pPr>
            <a:endParaRPr sz="1300">
              <a:latin typeface="Arial"/>
              <a:cs typeface="Arial"/>
            </a:endParaRPr>
          </a:p>
          <a:p>
            <a:pPr>
              <a:lnSpc>
                <a:spcPct val="100000"/>
              </a:lnSpc>
            </a:pPr>
            <a:endParaRPr sz="105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a:lnSpc>
                <a:spcPct val="100000"/>
              </a:lnSpc>
            </a:pPr>
            <a:endParaRPr sz="1150">
              <a:latin typeface="Arial"/>
              <a:cs typeface="Arial"/>
            </a:endParaRPr>
          </a:p>
          <a:p>
            <a:pPr algn="ctr">
              <a:lnSpc>
                <a:spcPct val="10000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55"/>
              </a:spcBef>
            </a:pPr>
            <a:endParaRPr sz="1100">
              <a:latin typeface="Arial"/>
              <a:cs typeface="Arial"/>
            </a:endParaRPr>
          </a:p>
          <a:p>
            <a:pPr marL="12700">
              <a:lnSpc>
                <a:spcPts val="1410"/>
              </a:lnSpc>
            </a:pPr>
            <a:r>
              <a:rPr dirty="0" sz="1200" spc="-5" b="1">
                <a:latin typeface="Arial"/>
                <a:cs typeface="Arial"/>
              </a:rPr>
              <a:t>7 </a:t>
            </a:r>
            <a:r>
              <a:rPr dirty="0" sz="1200" spc="-5">
                <a:latin typeface="Arial"/>
                <a:cs typeface="Arial"/>
              </a:rPr>
              <a:t>Explain the significance</a:t>
            </a:r>
            <a:r>
              <a:rPr dirty="0" sz="1200" spc="15">
                <a:latin typeface="Arial"/>
                <a:cs typeface="Arial"/>
              </a:rPr>
              <a:t> </a:t>
            </a:r>
            <a:r>
              <a:rPr dirty="0" sz="1200" spc="-5">
                <a:latin typeface="Arial"/>
                <a:cs typeface="Arial"/>
              </a:rPr>
              <a:t>of</a:t>
            </a:r>
            <a:endParaRPr sz="1200">
              <a:latin typeface="Arial"/>
              <a:cs typeface="Arial"/>
            </a:endParaRPr>
          </a:p>
          <a:p>
            <a:pPr marL="241300" indent="-229235">
              <a:lnSpc>
                <a:spcPts val="1380"/>
              </a:lnSpc>
              <a:buFont typeface="Arial"/>
              <a:buAutoNum type="alphaLcParenBoth"/>
              <a:tabLst>
                <a:tab pos="241935" algn="l"/>
              </a:tabLst>
            </a:pPr>
            <a:r>
              <a:rPr dirty="0" sz="1200">
                <a:latin typeface="Arial"/>
                <a:cs typeface="Arial"/>
              </a:rPr>
              <a:t>the </a:t>
            </a:r>
            <a:r>
              <a:rPr dirty="0" sz="1200" spc="-5">
                <a:latin typeface="Arial"/>
                <a:cs typeface="Arial"/>
              </a:rPr>
              <a:t>battle of </a:t>
            </a:r>
            <a:r>
              <a:rPr dirty="0" sz="1200">
                <a:latin typeface="Arial"/>
                <a:cs typeface="Arial"/>
              </a:rPr>
              <a:t>Siffin, </a:t>
            </a:r>
            <a:r>
              <a:rPr dirty="0" sz="1200" spc="-5" b="1">
                <a:latin typeface="Arial"/>
                <a:cs typeface="Arial"/>
              </a:rPr>
              <a:t>and</a:t>
            </a:r>
            <a:r>
              <a:rPr dirty="0" sz="1200" spc="-15" b="1">
                <a:latin typeface="Arial"/>
                <a:cs typeface="Arial"/>
              </a:rPr>
              <a:t> </a:t>
            </a:r>
            <a:r>
              <a:rPr dirty="0" sz="1200">
                <a:latin typeface="Arial"/>
                <a:cs typeface="Arial"/>
              </a:rPr>
              <a:t>[8]</a:t>
            </a:r>
            <a:endParaRPr sz="1200">
              <a:latin typeface="Arial"/>
              <a:cs typeface="Arial"/>
            </a:endParaRPr>
          </a:p>
          <a:p>
            <a:pPr marL="248920" indent="-236854">
              <a:lnSpc>
                <a:spcPts val="1380"/>
              </a:lnSpc>
              <a:buFont typeface="Arial"/>
              <a:buAutoNum type="alphaLcParenBoth"/>
              <a:tabLst>
                <a:tab pos="249554" algn="l"/>
              </a:tabLst>
            </a:pPr>
            <a:r>
              <a:rPr dirty="0" sz="1200">
                <a:latin typeface="Arial"/>
                <a:cs typeface="Arial"/>
              </a:rPr>
              <a:t>the </a:t>
            </a:r>
            <a:r>
              <a:rPr dirty="0" sz="1200" spc="-5">
                <a:latin typeface="Arial"/>
                <a:cs typeface="Arial"/>
              </a:rPr>
              <a:t>massacre of Karbala‘</a:t>
            </a:r>
            <a:r>
              <a:rPr dirty="0" sz="1200" spc="-10">
                <a:latin typeface="Arial"/>
                <a:cs typeface="Arial"/>
              </a:rPr>
              <a:t> </a:t>
            </a:r>
            <a:r>
              <a:rPr dirty="0" sz="1200" spc="-5">
                <a:latin typeface="Arial"/>
                <a:cs typeface="Arial"/>
              </a:rPr>
              <a:t>[12]</a:t>
            </a:r>
            <a:endParaRPr sz="1200">
              <a:latin typeface="Arial"/>
              <a:cs typeface="Arial"/>
            </a:endParaRPr>
          </a:p>
          <a:p>
            <a:pPr marL="12700">
              <a:lnSpc>
                <a:spcPts val="1410"/>
              </a:lnSpc>
            </a:pPr>
            <a:r>
              <a:rPr dirty="0" sz="1200" spc="-5">
                <a:latin typeface="Arial"/>
                <a:cs typeface="Arial"/>
              </a:rPr>
              <a:t>in </a:t>
            </a:r>
            <a:r>
              <a:rPr dirty="0" sz="1200">
                <a:latin typeface="Arial"/>
                <a:cs typeface="Arial"/>
              </a:rPr>
              <a:t>the </a:t>
            </a:r>
            <a:r>
              <a:rPr dirty="0" sz="1200" spc="-5">
                <a:latin typeface="Arial"/>
                <a:cs typeface="Arial"/>
              </a:rPr>
              <a:t>development of Shi`i </a:t>
            </a:r>
            <a:r>
              <a:rPr dirty="0" sz="1200">
                <a:latin typeface="Arial"/>
                <a:cs typeface="Arial"/>
              </a:rPr>
              <a:t>Islam.</a:t>
            </a:r>
            <a:r>
              <a:rPr dirty="0" sz="1200" spc="5">
                <a:latin typeface="Arial"/>
                <a:cs typeface="Arial"/>
              </a:rPr>
              <a:t> </a:t>
            </a:r>
            <a:r>
              <a:rPr dirty="0" sz="1200" spc="-5" b="1">
                <a:latin typeface="Arial"/>
                <a:cs typeface="Arial"/>
              </a:rPr>
              <a:t>(2003)</a:t>
            </a:r>
            <a:endParaRPr sz="1200">
              <a:latin typeface="Arial"/>
              <a:cs typeface="Arial"/>
            </a:endParaRPr>
          </a:p>
          <a:p>
            <a:pPr>
              <a:lnSpc>
                <a:spcPct val="100000"/>
              </a:lnSpc>
              <a:spcBef>
                <a:spcPts val="40"/>
              </a:spcBef>
            </a:pPr>
            <a:endParaRPr sz="1100">
              <a:latin typeface="Arial"/>
              <a:cs typeface="Arial"/>
            </a:endParaRPr>
          </a:p>
          <a:p>
            <a:pPr marL="12700">
              <a:lnSpc>
                <a:spcPct val="100000"/>
              </a:lnSpc>
              <a:spcBef>
                <a:spcPts val="5"/>
              </a:spcBef>
            </a:pPr>
            <a:r>
              <a:rPr dirty="0" sz="1200" spc="-5" b="1">
                <a:latin typeface="Arial"/>
                <a:cs typeface="Arial"/>
              </a:rPr>
              <a:t>7 </a:t>
            </a:r>
            <a:r>
              <a:rPr dirty="0" sz="1200" spc="-5">
                <a:latin typeface="Arial"/>
                <a:cs typeface="Arial"/>
              </a:rPr>
              <a:t>Discuss the importance of </a:t>
            </a:r>
            <a:r>
              <a:rPr dirty="0" sz="1200">
                <a:latin typeface="Arial"/>
                <a:cs typeface="Arial"/>
              </a:rPr>
              <a:t>the </a:t>
            </a:r>
            <a:r>
              <a:rPr dirty="0" sz="1200" spc="-5">
                <a:latin typeface="Arial"/>
                <a:cs typeface="Arial"/>
              </a:rPr>
              <a:t>line of Imams in early Shi`i </a:t>
            </a:r>
            <a:r>
              <a:rPr dirty="0" sz="1200">
                <a:latin typeface="Arial"/>
                <a:cs typeface="Arial"/>
              </a:rPr>
              <a:t>Islam. </a:t>
            </a:r>
            <a:r>
              <a:rPr dirty="0" sz="1200" spc="-5">
                <a:latin typeface="Arial"/>
                <a:cs typeface="Arial"/>
              </a:rPr>
              <a:t>[20]</a:t>
            </a:r>
            <a:r>
              <a:rPr dirty="0" sz="1200" spc="75">
                <a:latin typeface="Arial"/>
                <a:cs typeface="Arial"/>
              </a:rPr>
              <a:t> </a:t>
            </a:r>
            <a:r>
              <a:rPr dirty="0" sz="1200" spc="-5" b="1">
                <a:latin typeface="Arial"/>
                <a:cs typeface="Arial"/>
              </a:rPr>
              <a:t>(2004)</a:t>
            </a:r>
            <a:endParaRPr sz="1200">
              <a:latin typeface="Arial"/>
              <a:cs typeface="Arial"/>
            </a:endParaRPr>
          </a:p>
          <a:p>
            <a:pPr>
              <a:lnSpc>
                <a:spcPct val="100000"/>
              </a:lnSpc>
              <a:spcBef>
                <a:spcPts val="35"/>
              </a:spcBef>
            </a:pPr>
            <a:endParaRPr sz="1200">
              <a:latin typeface="Arial"/>
              <a:cs typeface="Arial"/>
            </a:endParaRPr>
          </a:p>
          <a:p>
            <a:pPr marL="12700" marR="12700">
              <a:lnSpc>
                <a:spcPts val="1380"/>
              </a:lnSpc>
            </a:pPr>
            <a:r>
              <a:rPr dirty="0" sz="1200" spc="-5" b="1">
                <a:latin typeface="Arial"/>
                <a:cs typeface="Arial"/>
              </a:rPr>
              <a:t>7 </a:t>
            </a:r>
            <a:r>
              <a:rPr dirty="0" sz="1200">
                <a:latin typeface="Arial"/>
                <a:cs typeface="Arial"/>
              </a:rPr>
              <a:t>The </a:t>
            </a:r>
            <a:r>
              <a:rPr dirty="0" sz="1200" spc="-5">
                <a:latin typeface="Arial"/>
                <a:cs typeface="Arial"/>
              </a:rPr>
              <a:t>events that led </a:t>
            </a:r>
            <a:r>
              <a:rPr dirty="0" sz="1200">
                <a:latin typeface="Arial"/>
                <a:cs typeface="Arial"/>
              </a:rPr>
              <a:t>to </a:t>
            </a:r>
            <a:r>
              <a:rPr dirty="0" sz="1200" spc="-5">
                <a:latin typeface="Arial"/>
                <a:cs typeface="Arial"/>
              </a:rPr>
              <a:t>the emergence of </a:t>
            </a:r>
            <a:r>
              <a:rPr dirty="0" sz="1200">
                <a:latin typeface="Arial"/>
                <a:cs typeface="Arial"/>
              </a:rPr>
              <a:t>the </a:t>
            </a:r>
            <a:r>
              <a:rPr dirty="0" sz="1200" spc="-5">
                <a:latin typeface="Arial"/>
                <a:cs typeface="Arial"/>
              </a:rPr>
              <a:t>Shi`ah are often seen as tragic in Islamic  history. </a:t>
            </a:r>
            <a:r>
              <a:rPr dirty="0" sz="1200">
                <a:latin typeface="Arial"/>
                <a:cs typeface="Arial"/>
              </a:rPr>
              <a:t>Outline </a:t>
            </a:r>
            <a:r>
              <a:rPr dirty="0" sz="1200" spc="-10">
                <a:latin typeface="Arial"/>
                <a:cs typeface="Arial"/>
              </a:rPr>
              <a:t>these </a:t>
            </a:r>
            <a:r>
              <a:rPr dirty="0" sz="1200" spc="-5">
                <a:latin typeface="Arial"/>
                <a:cs typeface="Arial"/>
              </a:rPr>
              <a:t>events and explain their significance in Islam. [20]</a:t>
            </a:r>
            <a:r>
              <a:rPr dirty="0" sz="1200" spc="110">
                <a:latin typeface="Arial"/>
                <a:cs typeface="Arial"/>
              </a:rPr>
              <a:t> </a:t>
            </a:r>
            <a:r>
              <a:rPr dirty="0" sz="1200" spc="-5" b="1">
                <a:latin typeface="Arial"/>
                <a:cs typeface="Arial"/>
              </a:rPr>
              <a:t>(2005)</a:t>
            </a:r>
            <a:endParaRPr sz="1200">
              <a:latin typeface="Arial"/>
              <a:cs typeface="Arial"/>
            </a:endParaRPr>
          </a:p>
          <a:p>
            <a:pPr>
              <a:lnSpc>
                <a:spcPct val="100000"/>
              </a:lnSpc>
            </a:pPr>
            <a:endParaRPr sz="1200">
              <a:latin typeface="Arial"/>
              <a:cs typeface="Arial"/>
            </a:endParaRPr>
          </a:p>
          <a:p>
            <a:pPr marL="12700" marR="13335">
              <a:lnSpc>
                <a:spcPts val="1380"/>
              </a:lnSpc>
            </a:pPr>
            <a:r>
              <a:rPr dirty="0" sz="1200" spc="-5" b="1">
                <a:latin typeface="Arial"/>
                <a:cs typeface="Arial"/>
              </a:rPr>
              <a:t>7 </a:t>
            </a:r>
            <a:r>
              <a:rPr dirty="0" sz="1200" spc="-105">
                <a:latin typeface="Arial"/>
                <a:cs typeface="Arial"/>
              </a:rPr>
              <a:t>‗The </a:t>
            </a:r>
            <a:r>
              <a:rPr dirty="0" sz="1200" spc="-5">
                <a:latin typeface="Arial"/>
                <a:cs typeface="Arial"/>
              </a:rPr>
              <a:t>events </a:t>
            </a:r>
            <a:r>
              <a:rPr dirty="0" sz="1200">
                <a:latin typeface="Arial"/>
                <a:cs typeface="Arial"/>
              </a:rPr>
              <a:t>at </a:t>
            </a:r>
            <a:r>
              <a:rPr dirty="0" sz="1200" spc="-5">
                <a:latin typeface="Arial"/>
                <a:cs typeface="Arial"/>
              </a:rPr>
              <a:t>Siffin </a:t>
            </a:r>
            <a:r>
              <a:rPr dirty="0" sz="1200">
                <a:latin typeface="Arial"/>
                <a:cs typeface="Arial"/>
              </a:rPr>
              <a:t>and </a:t>
            </a:r>
            <a:r>
              <a:rPr dirty="0" sz="1200" spc="-5">
                <a:latin typeface="Arial"/>
                <a:cs typeface="Arial"/>
              </a:rPr>
              <a:t>Karbala had </a:t>
            </a:r>
            <a:r>
              <a:rPr dirty="0" sz="1200">
                <a:latin typeface="Arial"/>
                <a:cs typeface="Arial"/>
              </a:rPr>
              <a:t>a </a:t>
            </a:r>
            <a:r>
              <a:rPr dirty="0" sz="1200" spc="-5">
                <a:latin typeface="Arial"/>
                <a:cs typeface="Arial"/>
              </a:rPr>
              <a:t>direct impact </a:t>
            </a:r>
            <a:r>
              <a:rPr dirty="0" sz="1200">
                <a:latin typeface="Arial"/>
                <a:cs typeface="Arial"/>
              </a:rPr>
              <a:t>on the </a:t>
            </a:r>
            <a:r>
              <a:rPr dirty="0" sz="1200" spc="-5">
                <a:latin typeface="Arial"/>
                <a:cs typeface="Arial"/>
              </a:rPr>
              <a:t>development of early </a:t>
            </a:r>
            <a:r>
              <a:rPr dirty="0" sz="1200" spc="-85">
                <a:latin typeface="Arial"/>
                <a:cs typeface="Arial"/>
              </a:rPr>
              <a:t>Shi‗i  </a:t>
            </a:r>
            <a:r>
              <a:rPr dirty="0" sz="1200">
                <a:latin typeface="Arial"/>
                <a:cs typeface="Arial"/>
              </a:rPr>
              <a:t>Islam‘. </a:t>
            </a:r>
            <a:r>
              <a:rPr dirty="0" sz="1200" spc="-5">
                <a:latin typeface="Arial"/>
                <a:cs typeface="Arial"/>
              </a:rPr>
              <a:t>Give reasons </a:t>
            </a:r>
            <a:r>
              <a:rPr dirty="0" sz="1200" spc="-10">
                <a:latin typeface="Arial"/>
                <a:cs typeface="Arial"/>
              </a:rPr>
              <a:t>why </a:t>
            </a:r>
            <a:r>
              <a:rPr dirty="0" sz="1200" spc="-5">
                <a:latin typeface="Arial"/>
                <a:cs typeface="Arial"/>
              </a:rPr>
              <a:t>you agree </a:t>
            </a:r>
            <a:r>
              <a:rPr dirty="0" sz="1200">
                <a:latin typeface="Arial"/>
                <a:cs typeface="Arial"/>
              </a:rPr>
              <a:t>or </a:t>
            </a:r>
            <a:r>
              <a:rPr dirty="0" sz="1200" spc="-5">
                <a:latin typeface="Arial"/>
                <a:cs typeface="Arial"/>
              </a:rPr>
              <a:t>disagree with this statement. </a:t>
            </a:r>
            <a:r>
              <a:rPr dirty="0" sz="1200">
                <a:latin typeface="Arial"/>
                <a:cs typeface="Arial"/>
              </a:rPr>
              <a:t>[20]</a:t>
            </a:r>
            <a:r>
              <a:rPr dirty="0" sz="1200" spc="90">
                <a:latin typeface="Arial"/>
                <a:cs typeface="Arial"/>
              </a:rPr>
              <a:t> </a:t>
            </a:r>
            <a:r>
              <a:rPr dirty="0" sz="1200" spc="-5" b="1">
                <a:latin typeface="Arial"/>
                <a:cs typeface="Arial"/>
              </a:rPr>
              <a:t>(2006)</a:t>
            </a:r>
            <a:endParaRPr sz="1200">
              <a:latin typeface="Arial"/>
              <a:cs typeface="Arial"/>
            </a:endParaRPr>
          </a:p>
          <a:p>
            <a:pPr>
              <a:lnSpc>
                <a:spcPct val="100000"/>
              </a:lnSpc>
              <a:spcBef>
                <a:spcPts val="20"/>
              </a:spcBef>
            </a:pPr>
            <a:endParaRPr sz="1100">
              <a:latin typeface="Arial"/>
              <a:cs typeface="Arial"/>
            </a:endParaRPr>
          </a:p>
          <a:p>
            <a:pPr marL="12700">
              <a:lnSpc>
                <a:spcPts val="1410"/>
              </a:lnSpc>
            </a:pPr>
            <a:r>
              <a:rPr dirty="0" sz="1200" spc="-5" b="1">
                <a:latin typeface="Arial"/>
                <a:cs typeface="Arial"/>
              </a:rPr>
              <a:t>7</a:t>
            </a:r>
            <a:r>
              <a:rPr dirty="0" sz="1200" spc="165" b="1">
                <a:latin typeface="Arial"/>
                <a:cs typeface="Arial"/>
              </a:rPr>
              <a:t> </a:t>
            </a:r>
            <a:r>
              <a:rPr dirty="0" sz="1200" spc="-5">
                <a:latin typeface="Arial"/>
                <a:cs typeface="Arial"/>
              </a:rPr>
              <a:t>Give</a:t>
            </a:r>
            <a:r>
              <a:rPr dirty="0" sz="1200" spc="165">
                <a:latin typeface="Arial"/>
                <a:cs typeface="Arial"/>
              </a:rPr>
              <a:t> </a:t>
            </a:r>
            <a:r>
              <a:rPr dirty="0" sz="1200">
                <a:latin typeface="Arial"/>
                <a:cs typeface="Arial"/>
              </a:rPr>
              <a:t>reasons</a:t>
            </a:r>
            <a:r>
              <a:rPr dirty="0" sz="1200" spc="160">
                <a:latin typeface="Arial"/>
                <a:cs typeface="Arial"/>
              </a:rPr>
              <a:t> </a:t>
            </a:r>
            <a:r>
              <a:rPr dirty="0" sz="1200">
                <a:latin typeface="Arial"/>
                <a:cs typeface="Arial"/>
              </a:rPr>
              <a:t>why</a:t>
            </a:r>
            <a:r>
              <a:rPr dirty="0" sz="1200" spc="160">
                <a:latin typeface="Arial"/>
                <a:cs typeface="Arial"/>
              </a:rPr>
              <a:t> </a:t>
            </a:r>
            <a:r>
              <a:rPr dirty="0" sz="1200" spc="-5">
                <a:latin typeface="Arial"/>
                <a:cs typeface="Arial"/>
              </a:rPr>
              <a:t>Shi‘ites</a:t>
            </a:r>
            <a:r>
              <a:rPr dirty="0" sz="1200" spc="160">
                <a:latin typeface="Arial"/>
                <a:cs typeface="Arial"/>
              </a:rPr>
              <a:t> </a:t>
            </a:r>
            <a:r>
              <a:rPr dirty="0" sz="1200" spc="-5">
                <a:latin typeface="Arial"/>
                <a:cs typeface="Arial"/>
              </a:rPr>
              <a:t>attach</a:t>
            </a:r>
            <a:r>
              <a:rPr dirty="0" sz="1200" spc="160">
                <a:latin typeface="Arial"/>
                <a:cs typeface="Arial"/>
              </a:rPr>
              <a:t> </a:t>
            </a:r>
            <a:r>
              <a:rPr dirty="0" sz="1200" spc="-5">
                <a:latin typeface="Arial"/>
                <a:cs typeface="Arial"/>
              </a:rPr>
              <a:t>great</a:t>
            </a:r>
            <a:r>
              <a:rPr dirty="0" sz="1200" spc="165">
                <a:latin typeface="Arial"/>
                <a:cs typeface="Arial"/>
              </a:rPr>
              <a:t> </a:t>
            </a:r>
            <a:r>
              <a:rPr dirty="0" sz="1200" spc="-5">
                <a:latin typeface="Arial"/>
                <a:cs typeface="Arial"/>
              </a:rPr>
              <a:t>importance</a:t>
            </a:r>
            <a:r>
              <a:rPr dirty="0" sz="1200" spc="165">
                <a:latin typeface="Arial"/>
                <a:cs typeface="Arial"/>
              </a:rPr>
              <a:t> </a:t>
            </a:r>
            <a:r>
              <a:rPr dirty="0" sz="1200">
                <a:latin typeface="Arial"/>
                <a:cs typeface="Arial"/>
              </a:rPr>
              <a:t>to</a:t>
            </a:r>
            <a:r>
              <a:rPr dirty="0" sz="1200" spc="165">
                <a:latin typeface="Arial"/>
                <a:cs typeface="Arial"/>
              </a:rPr>
              <a:t> </a:t>
            </a:r>
            <a:r>
              <a:rPr dirty="0" sz="1200" spc="-5">
                <a:latin typeface="Arial"/>
                <a:cs typeface="Arial"/>
              </a:rPr>
              <a:t>the</a:t>
            </a:r>
            <a:r>
              <a:rPr dirty="0" sz="1200" spc="165">
                <a:latin typeface="Arial"/>
                <a:cs typeface="Arial"/>
              </a:rPr>
              <a:t> </a:t>
            </a:r>
            <a:r>
              <a:rPr dirty="0" sz="1200" spc="-5">
                <a:latin typeface="Arial"/>
                <a:cs typeface="Arial"/>
              </a:rPr>
              <a:t>succession</a:t>
            </a:r>
            <a:r>
              <a:rPr dirty="0" sz="1200" spc="165">
                <a:latin typeface="Arial"/>
                <a:cs typeface="Arial"/>
              </a:rPr>
              <a:t> </a:t>
            </a:r>
            <a:r>
              <a:rPr dirty="0" sz="1200" spc="-5">
                <a:latin typeface="Arial"/>
                <a:cs typeface="Arial"/>
              </a:rPr>
              <a:t>of</a:t>
            </a:r>
            <a:r>
              <a:rPr dirty="0" sz="1200" spc="170">
                <a:latin typeface="Arial"/>
                <a:cs typeface="Arial"/>
              </a:rPr>
              <a:t> </a:t>
            </a:r>
            <a:r>
              <a:rPr dirty="0" sz="1200" spc="-5">
                <a:latin typeface="Arial"/>
                <a:cs typeface="Arial"/>
              </a:rPr>
              <a:t>the</a:t>
            </a:r>
            <a:r>
              <a:rPr dirty="0" sz="1200" spc="165">
                <a:latin typeface="Arial"/>
                <a:cs typeface="Arial"/>
              </a:rPr>
              <a:t> </a:t>
            </a:r>
            <a:r>
              <a:rPr dirty="0" sz="1200" spc="-5">
                <a:latin typeface="Arial"/>
                <a:cs typeface="Arial"/>
              </a:rPr>
              <a:t>Imams.</a:t>
            </a:r>
            <a:r>
              <a:rPr dirty="0" sz="1200" spc="150">
                <a:latin typeface="Arial"/>
                <a:cs typeface="Arial"/>
              </a:rPr>
              <a:t> </a:t>
            </a:r>
            <a:r>
              <a:rPr dirty="0" sz="1200" spc="-5">
                <a:latin typeface="Arial"/>
                <a:cs typeface="Arial"/>
              </a:rPr>
              <a:t>[20]</a:t>
            </a:r>
            <a:endParaRPr sz="1200">
              <a:latin typeface="Arial"/>
              <a:cs typeface="Arial"/>
            </a:endParaRPr>
          </a:p>
          <a:p>
            <a:pPr marL="12700">
              <a:lnSpc>
                <a:spcPts val="1410"/>
              </a:lnSpc>
            </a:pPr>
            <a:r>
              <a:rPr dirty="0" sz="1200" spc="-5" b="1">
                <a:latin typeface="Arial"/>
                <a:cs typeface="Arial"/>
              </a:rPr>
              <a:t>(2007)</a:t>
            </a:r>
            <a:endParaRPr sz="1200">
              <a:latin typeface="Arial"/>
              <a:cs typeface="Arial"/>
            </a:endParaRPr>
          </a:p>
          <a:p>
            <a:pPr>
              <a:lnSpc>
                <a:spcPct val="100000"/>
              </a:lnSpc>
              <a:spcBef>
                <a:spcPts val="35"/>
              </a:spcBef>
            </a:pPr>
            <a:endParaRPr sz="1200">
              <a:latin typeface="Arial"/>
              <a:cs typeface="Arial"/>
            </a:endParaRPr>
          </a:p>
          <a:p>
            <a:pPr marL="12700" marR="13335">
              <a:lnSpc>
                <a:spcPts val="1380"/>
              </a:lnSpc>
            </a:pPr>
            <a:r>
              <a:rPr dirty="0" sz="1200" spc="-5" b="1">
                <a:latin typeface="Arial"/>
                <a:cs typeface="Arial"/>
              </a:rPr>
              <a:t>7 </a:t>
            </a:r>
            <a:r>
              <a:rPr dirty="0" sz="1200" spc="-5">
                <a:latin typeface="Arial"/>
                <a:cs typeface="Arial"/>
              </a:rPr>
              <a:t>Discuss </a:t>
            </a:r>
            <a:r>
              <a:rPr dirty="0" sz="1200">
                <a:latin typeface="Arial"/>
                <a:cs typeface="Arial"/>
              </a:rPr>
              <a:t>the main </a:t>
            </a:r>
            <a:r>
              <a:rPr dirty="0" sz="1200" spc="-5">
                <a:latin typeface="Arial"/>
                <a:cs typeface="Arial"/>
              </a:rPr>
              <a:t>spiritual differences between the position of </a:t>
            </a:r>
            <a:r>
              <a:rPr dirty="0" sz="1200">
                <a:latin typeface="Arial"/>
                <a:cs typeface="Arial"/>
              </a:rPr>
              <a:t>the </a:t>
            </a:r>
            <a:r>
              <a:rPr dirty="0" sz="1200" spc="-5">
                <a:latin typeface="Arial"/>
                <a:cs typeface="Arial"/>
              </a:rPr>
              <a:t>Imam in Shi‘i </a:t>
            </a:r>
            <a:r>
              <a:rPr dirty="0" sz="1200">
                <a:latin typeface="Arial"/>
                <a:cs typeface="Arial"/>
              </a:rPr>
              <a:t>beliefs </a:t>
            </a:r>
            <a:r>
              <a:rPr dirty="0" sz="1200" spc="-10">
                <a:latin typeface="Arial"/>
                <a:cs typeface="Arial"/>
              </a:rPr>
              <a:t>and  </a:t>
            </a:r>
            <a:r>
              <a:rPr dirty="0" sz="1200" spc="-5">
                <a:latin typeface="Arial"/>
                <a:cs typeface="Arial"/>
              </a:rPr>
              <a:t>of the Khalifah in </a:t>
            </a:r>
            <a:r>
              <a:rPr dirty="0" sz="1200" spc="-10">
                <a:latin typeface="Arial"/>
                <a:cs typeface="Arial"/>
              </a:rPr>
              <a:t>Sunni </a:t>
            </a:r>
            <a:r>
              <a:rPr dirty="0" sz="1200" spc="-5">
                <a:latin typeface="Arial"/>
                <a:cs typeface="Arial"/>
              </a:rPr>
              <a:t>beliefs. [20]</a:t>
            </a:r>
            <a:r>
              <a:rPr dirty="0" sz="1200" spc="60">
                <a:latin typeface="Arial"/>
                <a:cs typeface="Arial"/>
              </a:rPr>
              <a:t> </a:t>
            </a:r>
            <a:r>
              <a:rPr dirty="0" sz="1200" spc="-5" b="1">
                <a:latin typeface="Arial"/>
                <a:cs typeface="Arial"/>
              </a:rPr>
              <a:t>(2008)</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sz="1200" spc="-5" b="1">
                <a:latin typeface="Arial"/>
                <a:cs typeface="Arial"/>
              </a:rPr>
              <a:t>7 </a:t>
            </a:r>
            <a:r>
              <a:rPr dirty="0" sz="1200" spc="-5">
                <a:latin typeface="Arial"/>
                <a:cs typeface="Arial"/>
              </a:rPr>
              <a:t>Give a critical account of the following in the development of early Shi‘i</a:t>
            </a:r>
            <a:r>
              <a:rPr dirty="0" sz="1200" spc="80">
                <a:latin typeface="Arial"/>
                <a:cs typeface="Arial"/>
              </a:rPr>
              <a:t> </a:t>
            </a:r>
            <a:r>
              <a:rPr dirty="0" sz="1200" spc="-5">
                <a:latin typeface="Arial"/>
                <a:cs typeface="Arial"/>
              </a:rPr>
              <a:t>Islam:</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141</a:t>
            </a:r>
            <a:endParaRPr sz="1200">
              <a:latin typeface="Times New Roman"/>
              <a:cs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309995" cy="1260475"/>
          </a:xfrm>
          <a:prstGeom prst="rect">
            <a:avLst/>
          </a:prstGeom>
        </p:spPr>
        <p:txBody>
          <a:bodyPr wrap="square" lIns="0" tIns="12700" rIns="0" bIns="0" rtlCol="0" vert="horz">
            <a:spAutoFit/>
          </a:bodyPr>
          <a:lstStyle/>
          <a:p>
            <a:pPr marL="369570" indent="-229870">
              <a:lnSpc>
                <a:spcPts val="1410"/>
              </a:lnSpc>
              <a:spcBef>
                <a:spcPts val="100"/>
              </a:spcBef>
              <a:buFont typeface="Arial"/>
              <a:buAutoNum type="alphaLcParenBoth"/>
              <a:tabLst>
                <a:tab pos="370205" algn="l"/>
              </a:tabLst>
            </a:pPr>
            <a:r>
              <a:rPr dirty="0" sz="1200" spc="-5">
                <a:latin typeface="Arial"/>
                <a:cs typeface="Arial"/>
              </a:rPr>
              <a:t>the battle of Siffin</a:t>
            </a:r>
            <a:r>
              <a:rPr dirty="0" sz="1200">
                <a:latin typeface="Arial"/>
                <a:cs typeface="Arial"/>
              </a:rPr>
              <a:t> [8]</a:t>
            </a:r>
            <a:endParaRPr sz="1200">
              <a:latin typeface="Arial"/>
              <a:cs typeface="Arial"/>
            </a:endParaRPr>
          </a:p>
          <a:p>
            <a:pPr marL="377190" indent="-237490">
              <a:lnSpc>
                <a:spcPts val="1410"/>
              </a:lnSpc>
              <a:buFont typeface="Arial"/>
              <a:buAutoNum type="alphaLcParenBoth"/>
              <a:tabLst>
                <a:tab pos="377825" algn="l"/>
              </a:tabLst>
            </a:pPr>
            <a:r>
              <a:rPr dirty="0" sz="1200">
                <a:latin typeface="Arial"/>
                <a:cs typeface="Arial"/>
              </a:rPr>
              <a:t>the </a:t>
            </a:r>
            <a:r>
              <a:rPr dirty="0" sz="1200" spc="-5">
                <a:latin typeface="Arial"/>
                <a:cs typeface="Arial"/>
              </a:rPr>
              <a:t>massacre of Karbala.</a:t>
            </a:r>
            <a:r>
              <a:rPr dirty="0" sz="1200" spc="-15">
                <a:latin typeface="Arial"/>
                <a:cs typeface="Arial"/>
              </a:rPr>
              <a:t> </a:t>
            </a:r>
            <a:r>
              <a:rPr dirty="0" sz="1200" spc="-5">
                <a:latin typeface="Arial"/>
                <a:cs typeface="Arial"/>
              </a:rPr>
              <a:t>[12]</a:t>
            </a:r>
            <a:endParaRPr sz="1200">
              <a:latin typeface="Arial"/>
              <a:cs typeface="Arial"/>
            </a:endParaRPr>
          </a:p>
          <a:p>
            <a:pPr>
              <a:lnSpc>
                <a:spcPct val="100000"/>
              </a:lnSpc>
              <a:spcBef>
                <a:spcPts val="35"/>
              </a:spcBef>
            </a:pPr>
            <a:endParaRPr sz="1200">
              <a:latin typeface="Arial"/>
              <a:cs typeface="Arial"/>
            </a:endParaRPr>
          </a:p>
          <a:p>
            <a:pPr marL="12700" marR="5080">
              <a:lnSpc>
                <a:spcPts val="1380"/>
              </a:lnSpc>
            </a:pPr>
            <a:r>
              <a:rPr dirty="0" sz="1200" spc="-5" b="1">
                <a:latin typeface="Arial"/>
                <a:cs typeface="Arial"/>
              </a:rPr>
              <a:t>8 </a:t>
            </a:r>
            <a:r>
              <a:rPr dirty="0" sz="1200">
                <a:latin typeface="Arial"/>
                <a:cs typeface="Arial"/>
              </a:rPr>
              <a:t>Compare </a:t>
            </a:r>
            <a:r>
              <a:rPr dirty="0" sz="1200" spc="-5">
                <a:latin typeface="Arial"/>
                <a:cs typeface="Arial"/>
              </a:rPr>
              <a:t>and contrast the differing understandings of authority in Sunni and Shi‘i Islam.  </a:t>
            </a:r>
            <a:r>
              <a:rPr dirty="0" sz="1200">
                <a:latin typeface="Arial"/>
                <a:cs typeface="Arial"/>
              </a:rPr>
              <a:t>[20] </a:t>
            </a:r>
            <a:r>
              <a:rPr dirty="0" sz="1200" spc="-5" b="1">
                <a:latin typeface="Arial"/>
                <a:cs typeface="Arial"/>
              </a:rPr>
              <a:t>(2009)</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sz="1200" spc="-5" b="1">
                <a:latin typeface="Arial"/>
                <a:cs typeface="Arial"/>
              </a:rPr>
              <a:t>7 </a:t>
            </a:r>
            <a:r>
              <a:rPr dirty="0" sz="1200" spc="10">
                <a:latin typeface="Arial"/>
                <a:cs typeface="Arial"/>
              </a:rPr>
              <a:t>Why </a:t>
            </a:r>
            <a:r>
              <a:rPr dirty="0" sz="1200" spc="-10">
                <a:latin typeface="Arial"/>
                <a:cs typeface="Arial"/>
              </a:rPr>
              <a:t>was </a:t>
            </a:r>
            <a:r>
              <a:rPr dirty="0" sz="1200" spc="-5">
                <a:latin typeface="Arial"/>
                <a:cs typeface="Arial"/>
              </a:rPr>
              <a:t>the position of </a:t>
            </a:r>
            <a:r>
              <a:rPr dirty="0" sz="1200">
                <a:latin typeface="Arial"/>
                <a:cs typeface="Arial"/>
              </a:rPr>
              <a:t>Imam so </a:t>
            </a:r>
            <a:r>
              <a:rPr dirty="0" sz="1200" spc="-5">
                <a:latin typeface="Arial"/>
                <a:cs typeface="Arial"/>
              </a:rPr>
              <a:t>powerful </a:t>
            </a:r>
            <a:r>
              <a:rPr dirty="0" sz="1200">
                <a:latin typeface="Arial"/>
                <a:cs typeface="Arial"/>
              </a:rPr>
              <a:t>for </a:t>
            </a:r>
            <a:r>
              <a:rPr dirty="0" sz="1200" spc="-5">
                <a:latin typeface="Arial"/>
                <a:cs typeface="Arial"/>
              </a:rPr>
              <a:t>early Shi‘i Muslims? [20]</a:t>
            </a:r>
            <a:r>
              <a:rPr dirty="0" sz="1200" spc="15">
                <a:latin typeface="Arial"/>
                <a:cs typeface="Arial"/>
              </a:rPr>
              <a:t> </a:t>
            </a:r>
            <a:r>
              <a:rPr dirty="0" sz="1200" spc="-5" b="1">
                <a:latin typeface="Arial"/>
                <a:cs typeface="Arial"/>
              </a:rPr>
              <a:t>(2010)</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142</a:t>
            </a:r>
            <a:endParaRPr sz="1200">
              <a:latin typeface="Times New Roman"/>
              <a:cs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5971540" cy="208279"/>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662940" y="827531"/>
            <a:ext cx="6259195"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Sufism</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143</a:t>
            </a:r>
            <a:endParaRPr sz="1200">
              <a:latin typeface="Times New Roman"/>
              <a:cs typeface="Times New Roman"/>
            </a:endParaRPr>
          </a:p>
        </p:txBody>
      </p:sp>
      <p:sp>
        <p:nvSpPr>
          <p:cNvPr id="5" name="object 5"/>
          <p:cNvSpPr txBox="1"/>
          <p:nvPr/>
        </p:nvSpPr>
        <p:spPr>
          <a:xfrm>
            <a:off x="655319" y="1226566"/>
            <a:ext cx="6423660" cy="8198484"/>
          </a:xfrm>
          <a:prstGeom prst="rect">
            <a:avLst/>
          </a:prstGeom>
        </p:spPr>
        <p:txBody>
          <a:bodyPr wrap="square" lIns="0" tIns="24765" rIns="0" bIns="0" rtlCol="0" vert="horz">
            <a:spAutoFit/>
          </a:bodyPr>
          <a:lstStyle/>
          <a:p>
            <a:pPr algn="just" marL="76200" marR="57150">
              <a:lnSpc>
                <a:spcPts val="1380"/>
              </a:lnSpc>
              <a:spcBef>
                <a:spcPts val="195"/>
              </a:spcBef>
            </a:pPr>
            <a:r>
              <a:rPr dirty="0" sz="1200">
                <a:latin typeface="Arial"/>
                <a:cs typeface="Arial"/>
              </a:rPr>
              <a:t>According to </a:t>
            </a:r>
            <a:r>
              <a:rPr dirty="0" sz="1200" spc="-5">
                <a:latin typeface="Arial"/>
                <a:cs typeface="Arial"/>
              </a:rPr>
              <a:t>Mawlana Syed Aleem Ashraf Jilani, in his </a:t>
            </a:r>
            <a:r>
              <a:rPr dirty="0" sz="1200">
                <a:latin typeface="Arial"/>
                <a:cs typeface="Arial"/>
              </a:rPr>
              <a:t>book </a:t>
            </a:r>
            <a:r>
              <a:rPr dirty="0" sz="1200" spc="-65">
                <a:latin typeface="Arial"/>
                <a:cs typeface="Arial"/>
              </a:rPr>
              <a:t>―Introduction </a:t>
            </a:r>
            <a:r>
              <a:rPr dirty="0" sz="1200">
                <a:latin typeface="Arial"/>
                <a:cs typeface="Arial"/>
              </a:rPr>
              <a:t>to </a:t>
            </a:r>
            <a:r>
              <a:rPr dirty="0" sz="1200" spc="-15">
                <a:latin typeface="Arial"/>
                <a:cs typeface="Arial"/>
              </a:rPr>
              <a:t>Tasawwuf‖,  </a:t>
            </a:r>
            <a:r>
              <a:rPr dirty="0" sz="1200">
                <a:latin typeface="Arial"/>
                <a:cs typeface="Arial"/>
              </a:rPr>
              <a:t>there </a:t>
            </a:r>
            <a:r>
              <a:rPr dirty="0" sz="1200" spc="-5">
                <a:latin typeface="Arial"/>
                <a:cs typeface="Arial"/>
              </a:rPr>
              <a:t>are approximately 2000 meanings and definitions of Tasawwuf in different and  numerous books. However, </a:t>
            </a:r>
            <a:r>
              <a:rPr dirty="0" sz="1200">
                <a:latin typeface="Arial"/>
                <a:cs typeface="Arial"/>
              </a:rPr>
              <a:t>I </a:t>
            </a:r>
            <a:r>
              <a:rPr dirty="0" sz="1200" spc="-5">
                <a:latin typeface="Arial"/>
                <a:cs typeface="Arial"/>
              </a:rPr>
              <a:t>will </a:t>
            </a:r>
            <a:r>
              <a:rPr dirty="0" sz="1200">
                <a:latin typeface="Arial"/>
                <a:cs typeface="Arial"/>
              </a:rPr>
              <a:t>cite </a:t>
            </a:r>
            <a:r>
              <a:rPr dirty="0" sz="1200" spc="-5">
                <a:latin typeface="Arial"/>
                <a:cs typeface="Arial"/>
              </a:rPr>
              <a:t>some of them </a:t>
            </a:r>
            <a:r>
              <a:rPr dirty="0" sz="1200">
                <a:latin typeface="Arial"/>
                <a:cs typeface="Arial"/>
              </a:rPr>
              <a:t>as</a:t>
            </a:r>
            <a:r>
              <a:rPr dirty="0" sz="1200" spc="10">
                <a:latin typeface="Arial"/>
                <a:cs typeface="Arial"/>
              </a:rPr>
              <a:t> </a:t>
            </a:r>
            <a:r>
              <a:rPr dirty="0" sz="1200" spc="-5">
                <a:latin typeface="Arial"/>
                <a:cs typeface="Arial"/>
              </a:rPr>
              <a:t>follows:</a:t>
            </a:r>
            <a:endParaRPr sz="1200">
              <a:latin typeface="Arial"/>
              <a:cs typeface="Arial"/>
            </a:endParaRPr>
          </a:p>
          <a:p>
            <a:pPr algn="just" marL="762000" marR="52705" indent="-228600">
              <a:lnSpc>
                <a:spcPts val="1380"/>
              </a:lnSpc>
              <a:spcBef>
                <a:spcPts val="994"/>
              </a:spcBef>
              <a:buAutoNum type="arabicPeriod"/>
              <a:tabLst>
                <a:tab pos="762635" algn="l"/>
              </a:tabLst>
            </a:pPr>
            <a:r>
              <a:rPr dirty="0" sz="1200" spc="-105">
                <a:latin typeface="Arial"/>
                <a:cs typeface="Arial"/>
              </a:rPr>
              <a:t>―Sufism, </a:t>
            </a:r>
            <a:r>
              <a:rPr dirty="0" sz="1200" spc="-10">
                <a:latin typeface="Arial"/>
                <a:cs typeface="Arial"/>
              </a:rPr>
              <a:t>an </a:t>
            </a:r>
            <a:r>
              <a:rPr dirty="0" sz="1200" spc="-5">
                <a:latin typeface="Arial"/>
                <a:cs typeface="Arial"/>
              </a:rPr>
              <a:t>umbrella </a:t>
            </a:r>
            <a:r>
              <a:rPr dirty="0" sz="1200">
                <a:latin typeface="Arial"/>
                <a:cs typeface="Arial"/>
              </a:rPr>
              <a:t>term for the </a:t>
            </a:r>
            <a:r>
              <a:rPr dirty="0" sz="1200" spc="-5">
                <a:latin typeface="Arial"/>
                <a:cs typeface="Arial"/>
              </a:rPr>
              <a:t>ascetic and mystical movements within </a:t>
            </a:r>
            <a:r>
              <a:rPr dirty="0" sz="1200" spc="-15">
                <a:latin typeface="Arial"/>
                <a:cs typeface="Arial"/>
                <a:hlinkClick r:id="rId2"/>
              </a:rPr>
              <a:t>Islam</a:t>
            </a:r>
            <a:r>
              <a:rPr dirty="0" sz="1200" spc="-15">
                <a:latin typeface="Arial"/>
                <a:cs typeface="Arial"/>
              </a:rPr>
              <a:t>‖.  </a:t>
            </a:r>
            <a:r>
              <a:rPr dirty="0" sz="1200" spc="-5">
                <a:latin typeface="Arial"/>
                <a:cs typeface="Arial"/>
              </a:rPr>
              <a:t>(</a:t>
            </a:r>
            <a:r>
              <a:rPr dirty="0" sz="1200" spc="-5">
                <a:latin typeface="Arial"/>
                <a:cs typeface="Arial"/>
                <a:hlinkClick r:id="rId3"/>
              </a:rPr>
              <a:t>Columbia</a:t>
            </a:r>
            <a:r>
              <a:rPr dirty="0" sz="1200" spc="-15">
                <a:latin typeface="Arial"/>
                <a:cs typeface="Arial"/>
                <a:hlinkClick r:id="rId3"/>
              </a:rPr>
              <a:t> </a:t>
            </a:r>
            <a:r>
              <a:rPr dirty="0" sz="1200" spc="-5">
                <a:latin typeface="Arial"/>
                <a:cs typeface="Arial"/>
                <a:hlinkClick r:id="rId3"/>
              </a:rPr>
              <a:t>Encyclopedia)</a:t>
            </a:r>
            <a:endParaRPr sz="1200">
              <a:latin typeface="Arial"/>
              <a:cs typeface="Arial"/>
            </a:endParaRPr>
          </a:p>
          <a:p>
            <a:pPr algn="just" marL="762000" indent="-229235">
              <a:lnSpc>
                <a:spcPts val="1310"/>
              </a:lnSpc>
              <a:buAutoNum type="arabicPeriod"/>
              <a:tabLst>
                <a:tab pos="762635" algn="l"/>
              </a:tabLst>
            </a:pPr>
            <a:r>
              <a:rPr dirty="0" sz="1200" spc="-165">
                <a:latin typeface="Arial"/>
                <a:cs typeface="Arial"/>
              </a:rPr>
              <a:t>―From</a:t>
            </a:r>
            <a:r>
              <a:rPr dirty="0" sz="1200">
                <a:latin typeface="Arial"/>
                <a:cs typeface="Arial"/>
              </a:rPr>
              <a:t> </a:t>
            </a:r>
            <a:r>
              <a:rPr dirty="0" sz="1200" spc="-5">
                <a:latin typeface="Arial"/>
                <a:cs typeface="Arial"/>
              </a:rPr>
              <a:t>around</a:t>
            </a:r>
            <a:r>
              <a:rPr dirty="0" sz="1200" spc="165">
                <a:latin typeface="Arial"/>
                <a:cs typeface="Arial"/>
              </a:rPr>
              <a:t> </a:t>
            </a:r>
            <a:r>
              <a:rPr dirty="0" sz="1200" spc="-5">
                <a:latin typeface="Arial"/>
                <a:cs typeface="Arial"/>
              </a:rPr>
              <a:t>800</a:t>
            </a:r>
            <a:r>
              <a:rPr dirty="0" sz="1200" spc="165">
                <a:latin typeface="Arial"/>
                <a:cs typeface="Arial"/>
              </a:rPr>
              <a:t> </a:t>
            </a:r>
            <a:r>
              <a:rPr dirty="0" sz="1200" spc="-5">
                <a:latin typeface="Arial"/>
                <a:cs typeface="Arial"/>
              </a:rPr>
              <a:t>the</a:t>
            </a:r>
            <a:r>
              <a:rPr dirty="0" sz="1200" spc="155">
                <a:latin typeface="Arial"/>
                <a:cs typeface="Arial"/>
              </a:rPr>
              <a:t> </a:t>
            </a:r>
            <a:r>
              <a:rPr dirty="0" sz="1200">
                <a:latin typeface="Arial"/>
                <a:cs typeface="Arial"/>
              </a:rPr>
              <a:t>term</a:t>
            </a:r>
            <a:r>
              <a:rPr dirty="0" sz="1200" spc="185">
                <a:latin typeface="Arial"/>
                <a:cs typeface="Arial"/>
              </a:rPr>
              <a:t> </a:t>
            </a:r>
            <a:r>
              <a:rPr dirty="0" sz="1200" spc="-5" i="1">
                <a:latin typeface="Arial"/>
                <a:cs typeface="Arial"/>
              </a:rPr>
              <a:t>Sufi</a:t>
            </a:r>
            <a:r>
              <a:rPr dirty="0" sz="1200" spc="160" i="1">
                <a:latin typeface="Arial"/>
                <a:cs typeface="Arial"/>
              </a:rPr>
              <a:t> </a:t>
            </a:r>
            <a:r>
              <a:rPr dirty="0" sz="1200" spc="-5">
                <a:latin typeface="Arial"/>
                <a:cs typeface="Arial"/>
              </a:rPr>
              <a:t>(from</a:t>
            </a:r>
            <a:r>
              <a:rPr dirty="0" sz="1200" spc="155">
                <a:latin typeface="Arial"/>
                <a:cs typeface="Arial"/>
              </a:rPr>
              <a:t> </a:t>
            </a:r>
            <a:r>
              <a:rPr dirty="0" sz="1200">
                <a:latin typeface="Arial"/>
                <a:cs typeface="Arial"/>
              </a:rPr>
              <a:t>the</a:t>
            </a:r>
            <a:r>
              <a:rPr dirty="0" sz="1200" spc="150">
                <a:latin typeface="Arial"/>
                <a:cs typeface="Arial"/>
              </a:rPr>
              <a:t> </a:t>
            </a:r>
            <a:r>
              <a:rPr dirty="0" sz="1200" spc="-5">
                <a:latin typeface="Arial"/>
                <a:cs typeface="Arial"/>
              </a:rPr>
              <a:t>Persian</a:t>
            </a:r>
            <a:r>
              <a:rPr dirty="0" sz="1200" spc="150">
                <a:latin typeface="Arial"/>
                <a:cs typeface="Arial"/>
              </a:rPr>
              <a:t> </a:t>
            </a:r>
            <a:r>
              <a:rPr dirty="0" sz="1200">
                <a:latin typeface="Arial"/>
                <a:cs typeface="Arial"/>
              </a:rPr>
              <a:t>for</a:t>
            </a:r>
            <a:r>
              <a:rPr dirty="0" sz="1200" spc="155">
                <a:latin typeface="Arial"/>
                <a:cs typeface="Arial"/>
              </a:rPr>
              <a:t> </a:t>
            </a:r>
            <a:r>
              <a:rPr dirty="0" sz="1200" spc="-5">
                <a:latin typeface="Arial"/>
                <a:cs typeface="Arial"/>
              </a:rPr>
              <a:t>coarse</a:t>
            </a:r>
            <a:r>
              <a:rPr dirty="0" sz="1200" spc="160">
                <a:latin typeface="Arial"/>
                <a:cs typeface="Arial"/>
              </a:rPr>
              <a:t> </a:t>
            </a:r>
            <a:r>
              <a:rPr dirty="0" sz="1200" spc="-5">
                <a:latin typeface="Arial"/>
                <a:cs typeface="Arial"/>
              </a:rPr>
              <a:t>wool,</a:t>
            </a:r>
            <a:r>
              <a:rPr dirty="0" sz="1200" spc="160">
                <a:latin typeface="Arial"/>
                <a:cs typeface="Arial"/>
              </a:rPr>
              <a:t> </a:t>
            </a:r>
            <a:r>
              <a:rPr dirty="0" sz="1200" spc="-5">
                <a:latin typeface="Arial"/>
                <a:cs typeface="Arial"/>
              </a:rPr>
              <a:t>denoting</a:t>
            </a:r>
            <a:r>
              <a:rPr dirty="0" sz="1200" spc="155">
                <a:latin typeface="Arial"/>
                <a:cs typeface="Arial"/>
              </a:rPr>
              <a:t> </a:t>
            </a:r>
            <a:r>
              <a:rPr dirty="0" sz="1200" spc="-5">
                <a:latin typeface="Arial"/>
                <a:cs typeface="Arial"/>
              </a:rPr>
              <a:t>the</a:t>
            </a:r>
            <a:endParaRPr sz="1200">
              <a:latin typeface="Arial"/>
              <a:cs typeface="Arial"/>
            </a:endParaRPr>
          </a:p>
          <a:p>
            <a:pPr algn="just" marL="762000" marR="59055">
              <a:lnSpc>
                <a:spcPts val="1380"/>
              </a:lnSpc>
              <a:spcBef>
                <a:spcPts val="70"/>
              </a:spcBef>
            </a:pPr>
            <a:r>
              <a:rPr dirty="0" sz="1200" spc="-5">
                <a:latin typeface="Arial"/>
                <a:cs typeface="Arial"/>
              </a:rPr>
              <a:t>kind of garment worn) </a:t>
            </a:r>
            <a:r>
              <a:rPr dirty="0" sz="1200" spc="-10">
                <a:latin typeface="Arial"/>
                <a:cs typeface="Arial"/>
              </a:rPr>
              <a:t>was </a:t>
            </a:r>
            <a:r>
              <a:rPr dirty="0" sz="1200" spc="-5">
                <a:latin typeface="Arial"/>
                <a:cs typeface="Arial"/>
              </a:rPr>
              <a:t>applied </a:t>
            </a:r>
            <a:r>
              <a:rPr dirty="0" sz="1200">
                <a:latin typeface="Arial"/>
                <a:cs typeface="Arial"/>
              </a:rPr>
              <a:t>to </a:t>
            </a:r>
            <a:r>
              <a:rPr dirty="0" sz="1200" spc="-5">
                <a:latin typeface="Arial"/>
                <a:cs typeface="Arial"/>
              </a:rPr>
              <a:t>Islamic mystics </a:t>
            </a:r>
            <a:r>
              <a:rPr dirty="0" sz="1200" spc="-10">
                <a:latin typeface="Arial"/>
                <a:cs typeface="Arial"/>
              </a:rPr>
              <a:t>who </a:t>
            </a:r>
            <a:r>
              <a:rPr dirty="0" sz="1200" spc="-5">
                <a:latin typeface="Arial"/>
                <a:cs typeface="Arial"/>
              </a:rPr>
              <a:t>adopted ascetic  practices as a means of achieving union </a:t>
            </a:r>
            <a:r>
              <a:rPr dirty="0" sz="1200" spc="-10">
                <a:latin typeface="Arial"/>
                <a:cs typeface="Arial"/>
              </a:rPr>
              <a:t>with </a:t>
            </a:r>
            <a:r>
              <a:rPr dirty="0" sz="1200" spc="-20">
                <a:latin typeface="Arial"/>
                <a:cs typeface="Arial"/>
              </a:rPr>
              <a:t>God‖. </a:t>
            </a:r>
            <a:r>
              <a:rPr dirty="0" sz="1200" spc="-5">
                <a:latin typeface="Arial"/>
                <a:cs typeface="Arial"/>
              </a:rPr>
              <a:t>(</a:t>
            </a:r>
            <a:r>
              <a:rPr dirty="0" sz="1200" spc="-5">
                <a:latin typeface="Arial"/>
                <a:cs typeface="Arial"/>
                <a:hlinkClick r:id="rId4"/>
              </a:rPr>
              <a:t>Philosophy</a:t>
            </a:r>
            <a:r>
              <a:rPr dirty="0" sz="1200" spc="85">
                <a:latin typeface="Arial"/>
                <a:cs typeface="Arial"/>
                <a:hlinkClick r:id="rId4"/>
              </a:rPr>
              <a:t> </a:t>
            </a:r>
            <a:r>
              <a:rPr dirty="0" sz="1200" spc="-5">
                <a:latin typeface="Arial"/>
                <a:cs typeface="Arial"/>
                <a:hlinkClick r:id="rId4"/>
              </a:rPr>
              <a:t>Dictionary)</a:t>
            </a:r>
            <a:endParaRPr sz="1200">
              <a:latin typeface="Arial"/>
              <a:cs typeface="Arial"/>
            </a:endParaRPr>
          </a:p>
          <a:p>
            <a:pPr algn="just" marL="762000" marR="56515" indent="-228600">
              <a:lnSpc>
                <a:spcPts val="1380"/>
              </a:lnSpc>
              <a:spcBef>
                <a:spcPts val="5"/>
              </a:spcBef>
              <a:buAutoNum type="arabicPeriod" startAt="3"/>
              <a:tabLst>
                <a:tab pos="762635" algn="l"/>
              </a:tabLst>
            </a:pPr>
            <a:r>
              <a:rPr dirty="0" sz="1200" spc="-95">
                <a:latin typeface="Arial"/>
                <a:cs typeface="Arial"/>
              </a:rPr>
              <a:t>―Mystical </a:t>
            </a:r>
            <a:r>
              <a:rPr dirty="0" sz="1200" spc="-5">
                <a:latin typeface="Arial"/>
                <a:cs typeface="Arial"/>
              </a:rPr>
              <a:t>movement within </a:t>
            </a:r>
            <a:r>
              <a:rPr dirty="0" sz="1200">
                <a:latin typeface="Arial"/>
                <a:cs typeface="Arial"/>
                <a:hlinkClick r:id="rId2"/>
              </a:rPr>
              <a:t>Islam</a:t>
            </a:r>
            <a:r>
              <a:rPr dirty="0" sz="1200">
                <a:latin typeface="Arial"/>
                <a:cs typeface="Arial"/>
              </a:rPr>
              <a:t> that </a:t>
            </a:r>
            <a:r>
              <a:rPr dirty="0" sz="1200" spc="-5">
                <a:latin typeface="Arial"/>
                <a:cs typeface="Arial"/>
              </a:rPr>
              <a:t>seeks </a:t>
            </a:r>
            <a:r>
              <a:rPr dirty="0" sz="1200">
                <a:latin typeface="Arial"/>
                <a:cs typeface="Arial"/>
              </a:rPr>
              <a:t>to find </a:t>
            </a:r>
            <a:r>
              <a:rPr dirty="0" sz="1200" spc="-5">
                <a:latin typeface="Arial"/>
                <a:cs typeface="Arial"/>
              </a:rPr>
              <a:t>divine </a:t>
            </a:r>
            <a:r>
              <a:rPr dirty="0" sz="1200">
                <a:latin typeface="Arial"/>
                <a:cs typeface="Arial"/>
              </a:rPr>
              <a:t>love </a:t>
            </a:r>
            <a:r>
              <a:rPr dirty="0" sz="1200" spc="-5">
                <a:latin typeface="Arial"/>
                <a:cs typeface="Arial"/>
              </a:rPr>
              <a:t>and knowledge  through direct personal experience of God. It </a:t>
            </a:r>
            <a:r>
              <a:rPr dirty="0" sz="1200">
                <a:latin typeface="Arial"/>
                <a:cs typeface="Arial"/>
              </a:rPr>
              <a:t>consists </a:t>
            </a:r>
            <a:r>
              <a:rPr dirty="0" sz="1200" spc="-5">
                <a:latin typeface="Arial"/>
                <a:cs typeface="Arial"/>
              </a:rPr>
              <a:t>of a variety </a:t>
            </a:r>
            <a:r>
              <a:rPr dirty="0" sz="1200">
                <a:latin typeface="Arial"/>
                <a:cs typeface="Arial"/>
              </a:rPr>
              <a:t>of </a:t>
            </a:r>
            <a:r>
              <a:rPr dirty="0" sz="1200" spc="-5">
                <a:latin typeface="Arial"/>
                <a:cs typeface="Arial"/>
              </a:rPr>
              <a:t>mystical</a:t>
            </a:r>
            <a:r>
              <a:rPr dirty="0" sz="1200" spc="235">
                <a:latin typeface="Arial"/>
                <a:cs typeface="Arial"/>
              </a:rPr>
              <a:t> </a:t>
            </a:r>
            <a:r>
              <a:rPr dirty="0" sz="1200">
                <a:latin typeface="Arial"/>
                <a:cs typeface="Arial"/>
              </a:rPr>
              <a:t>paths</a:t>
            </a:r>
            <a:endParaRPr sz="1200">
              <a:latin typeface="Arial"/>
              <a:cs typeface="Arial"/>
            </a:endParaRPr>
          </a:p>
          <a:p>
            <a:pPr algn="just" marL="762000" marR="54610">
              <a:lnSpc>
                <a:spcPts val="1380"/>
              </a:lnSpc>
            </a:pPr>
            <a:r>
              <a:rPr dirty="0" sz="1200">
                <a:latin typeface="Arial"/>
                <a:cs typeface="Arial"/>
              </a:rPr>
              <a:t>that </a:t>
            </a:r>
            <a:r>
              <a:rPr dirty="0" sz="1200" spc="-5">
                <a:latin typeface="Arial"/>
                <a:cs typeface="Arial"/>
              </a:rPr>
              <a:t>are designed </a:t>
            </a:r>
            <a:r>
              <a:rPr dirty="0" sz="1200">
                <a:latin typeface="Arial"/>
                <a:cs typeface="Arial"/>
              </a:rPr>
              <a:t>to </a:t>
            </a:r>
            <a:r>
              <a:rPr dirty="0" sz="1200" spc="-5">
                <a:latin typeface="Arial"/>
                <a:cs typeface="Arial"/>
              </a:rPr>
              <a:t>ascertain the nature of mankind and God and </a:t>
            </a:r>
            <a:r>
              <a:rPr dirty="0" sz="1200">
                <a:latin typeface="Arial"/>
                <a:cs typeface="Arial"/>
              </a:rPr>
              <a:t>to </a:t>
            </a:r>
            <a:r>
              <a:rPr dirty="0" sz="1200" spc="-5">
                <a:latin typeface="Arial"/>
                <a:cs typeface="Arial"/>
              </a:rPr>
              <a:t>facilitate </a:t>
            </a:r>
            <a:r>
              <a:rPr dirty="0" sz="1200" spc="-10">
                <a:latin typeface="Arial"/>
                <a:cs typeface="Arial"/>
              </a:rPr>
              <a:t>the  </a:t>
            </a:r>
            <a:r>
              <a:rPr dirty="0" sz="1200" spc="-5">
                <a:latin typeface="Arial"/>
                <a:cs typeface="Arial"/>
              </a:rPr>
              <a:t>experience of divine love </a:t>
            </a:r>
            <a:r>
              <a:rPr dirty="0" sz="1200">
                <a:latin typeface="Arial"/>
                <a:cs typeface="Arial"/>
              </a:rPr>
              <a:t>and </a:t>
            </a:r>
            <a:r>
              <a:rPr dirty="0" sz="1200" spc="-5">
                <a:latin typeface="Arial"/>
                <a:cs typeface="Arial"/>
              </a:rPr>
              <a:t>wisdom in </a:t>
            </a:r>
            <a:r>
              <a:rPr dirty="0" sz="1200">
                <a:latin typeface="Arial"/>
                <a:cs typeface="Arial"/>
              </a:rPr>
              <a:t>the </a:t>
            </a:r>
            <a:r>
              <a:rPr dirty="0" sz="1200" spc="-20">
                <a:latin typeface="Arial"/>
                <a:cs typeface="Arial"/>
              </a:rPr>
              <a:t>world‖.  </a:t>
            </a:r>
            <a:r>
              <a:rPr dirty="0" sz="1200">
                <a:latin typeface="Arial"/>
                <a:cs typeface="Arial"/>
              </a:rPr>
              <a:t>(</a:t>
            </a:r>
            <a:r>
              <a:rPr dirty="0" sz="1200">
                <a:latin typeface="Arial"/>
                <a:cs typeface="Arial"/>
                <a:hlinkClick r:id="rId5"/>
              </a:rPr>
              <a:t>Britannica </a:t>
            </a:r>
            <a:r>
              <a:rPr dirty="0" sz="1200" spc="-5">
                <a:latin typeface="Arial"/>
                <a:cs typeface="Arial"/>
                <a:hlinkClick r:id="rId5"/>
              </a:rPr>
              <a:t>Concise </a:t>
            </a:r>
            <a:r>
              <a:rPr dirty="0" sz="1200" spc="-5">
                <a:latin typeface="Arial"/>
                <a:cs typeface="Arial"/>
              </a:rPr>
              <a:t> </a:t>
            </a:r>
            <a:r>
              <a:rPr dirty="0" sz="1200" spc="-5">
                <a:latin typeface="Arial"/>
                <a:cs typeface="Arial"/>
                <a:hlinkClick r:id="rId5"/>
              </a:rPr>
              <a:t>Encyclopedia)</a:t>
            </a:r>
            <a:endParaRPr sz="1200">
              <a:latin typeface="Arial"/>
              <a:cs typeface="Arial"/>
            </a:endParaRPr>
          </a:p>
          <a:p>
            <a:pPr algn="just" marL="762000" marR="53340" indent="-228600">
              <a:lnSpc>
                <a:spcPts val="1380"/>
              </a:lnSpc>
              <a:buAutoNum type="arabicPeriod" startAt="4"/>
              <a:tabLst>
                <a:tab pos="762635" algn="l"/>
              </a:tabLst>
            </a:pPr>
            <a:r>
              <a:rPr dirty="0" sz="1200" spc="-135">
                <a:latin typeface="Arial"/>
                <a:cs typeface="Arial"/>
              </a:rPr>
              <a:t>―Sufis</a:t>
            </a:r>
            <a:r>
              <a:rPr dirty="0" sz="1200" spc="60">
                <a:latin typeface="Arial"/>
                <a:cs typeface="Arial"/>
              </a:rPr>
              <a:t> </a:t>
            </a:r>
            <a:r>
              <a:rPr dirty="0" sz="1200">
                <a:latin typeface="Arial"/>
                <a:cs typeface="Arial"/>
              </a:rPr>
              <a:t>are </a:t>
            </a:r>
            <a:r>
              <a:rPr dirty="0" sz="1200" spc="-5">
                <a:latin typeface="Arial"/>
                <a:cs typeface="Arial"/>
              </a:rPr>
              <a:t>members of </a:t>
            </a:r>
            <a:r>
              <a:rPr dirty="0" sz="1200">
                <a:latin typeface="Arial"/>
                <a:cs typeface="Arial"/>
              </a:rPr>
              <a:t>a small Islamic </a:t>
            </a:r>
            <a:r>
              <a:rPr dirty="0" sz="1200" spc="-5">
                <a:latin typeface="Arial"/>
                <a:cs typeface="Arial"/>
              </a:rPr>
              <a:t>sect </a:t>
            </a:r>
            <a:r>
              <a:rPr dirty="0" sz="1200">
                <a:latin typeface="Arial"/>
                <a:cs typeface="Arial"/>
              </a:rPr>
              <a:t>that arose as a </a:t>
            </a:r>
            <a:r>
              <a:rPr dirty="0" sz="1200" spc="-5">
                <a:latin typeface="Arial"/>
                <a:cs typeface="Arial"/>
              </a:rPr>
              <a:t>protest against </a:t>
            </a:r>
            <a:r>
              <a:rPr dirty="0" sz="1200" spc="-10">
                <a:latin typeface="Arial"/>
                <a:cs typeface="Arial"/>
              </a:rPr>
              <a:t>the  </a:t>
            </a:r>
            <a:r>
              <a:rPr dirty="0" sz="1200" spc="-5">
                <a:latin typeface="Arial"/>
                <a:cs typeface="Arial"/>
              </a:rPr>
              <a:t>growing worldliness </a:t>
            </a:r>
            <a:r>
              <a:rPr dirty="0" sz="1200">
                <a:latin typeface="Arial"/>
                <a:cs typeface="Arial"/>
              </a:rPr>
              <a:t>of </a:t>
            </a:r>
            <a:r>
              <a:rPr dirty="0" sz="1200" spc="-5">
                <a:latin typeface="Arial"/>
                <a:cs typeface="Arial"/>
              </a:rPr>
              <a:t>Muslims after the time of </a:t>
            </a:r>
            <a:r>
              <a:rPr dirty="0" sz="1200">
                <a:latin typeface="Arial"/>
                <a:cs typeface="Arial"/>
              </a:rPr>
              <a:t>the </a:t>
            </a:r>
            <a:r>
              <a:rPr dirty="0" sz="1200" spc="-5">
                <a:latin typeface="Arial"/>
                <a:cs typeface="Arial"/>
              </a:rPr>
              <a:t>Prophet… </a:t>
            </a:r>
            <a:r>
              <a:rPr dirty="0" sz="1200">
                <a:latin typeface="Arial"/>
                <a:cs typeface="Arial"/>
              </a:rPr>
              <a:t>Although </a:t>
            </a:r>
            <a:r>
              <a:rPr dirty="0" sz="1200" spc="-5">
                <a:latin typeface="Arial"/>
                <a:cs typeface="Arial"/>
              </a:rPr>
              <a:t>Sufism is  </a:t>
            </a:r>
            <a:r>
              <a:rPr dirty="0" sz="1200">
                <a:latin typeface="Arial"/>
                <a:cs typeface="Arial"/>
              </a:rPr>
              <a:t>firmly </a:t>
            </a:r>
            <a:r>
              <a:rPr dirty="0" sz="1200" spc="-5">
                <a:latin typeface="Arial"/>
                <a:cs typeface="Arial"/>
              </a:rPr>
              <a:t>anchored in orthodox </a:t>
            </a:r>
            <a:r>
              <a:rPr dirty="0" sz="1200">
                <a:latin typeface="Arial"/>
                <a:cs typeface="Arial"/>
              </a:rPr>
              <a:t>Islamic </a:t>
            </a:r>
            <a:r>
              <a:rPr dirty="0" sz="1200" spc="-5">
                <a:latin typeface="Arial"/>
                <a:cs typeface="Arial"/>
              </a:rPr>
              <a:t>doctrine, </a:t>
            </a:r>
            <a:r>
              <a:rPr dirty="0" sz="1200">
                <a:latin typeface="Arial"/>
                <a:cs typeface="Arial"/>
              </a:rPr>
              <a:t>it </a:t>
            </a:r>
            <a:r>
              <a:rPr dirty="0" sz="1200" spc="-5">
                <a:latin typeface="Arial"/>
                <a:cs typeface="Arial"/>
              </a:rPr>
              <a:t>emphasizes </a:t>
            </a:r>
            <a:r>
              <a:rPr dirty="0" sz="1200">
                <a:latin typeface="Arial"/>
                <a:cs typeface="Arial"/>
              </a:rPr>
              <a:t>the </a:t>
            </a:r>
            <a:r>
              <a:rPr dirty="0" sz="1200" spc="-5">
                <a:latin typeface="Arial"/>
                <a:cs typeface="Arial"/>
              </a:rPr>
              <a:t>inner pursuit of  love,</a:t>
            </a:r>
            <a:r>
              <a:rPr dirty="0" sz="1200" spc="40">
                <a:latin typeface="Arial"/>
                <a:cs typeface="Arial"/>
              </a:rPr>
              <a:t> </a:t>
            </a:r>
            <a:r>
              <a:rPr dirty="0" sz="1200" spc="-5">
                <a:latin typeface="Arial"/>
                <a:cs typeface="Arial"/>
                <a:hlinkClick r:id="rId6"/>
              </a:rPr>
              <a:t>obedience</a:t>
            </a:r>
            <a:r>
              <a:rPr dirty="0" sz="1200" spc="-5">
                <a:latin typeface="Arial"/>
                <a:cs typeface="Arial"/>
              </a:rPr>
              <a:t>,</a:t>
            </a:r>
            <a:r>
              <a:rPr dirty="0" sz="1200" spc="40">
                <a:latin typeface="Arial"/>
                <a:cs typeface="Arial"/>
              </a:rPr>
              <a:t> </a:t>
            </a:r>
            <a:r>
              <a:rPr dirty="0" sz="1200" spc="-5">
                <a:latin typeface="Arial"/>
                <a:cs typeface="Arial"/>
              </a:rPr>
              <a:t>and</a:t>
            </a:r>
            <a:r>
              <a:rPr dirty="0" sz="1200" spc="30">
                <a:latin typeface="Arial"/>
                <a:cs typeface="Arial"/>
              </a:rPr>
              <a:t> </a:t>
            </a:r>
            <a:r>
              <a:rPr dirty="0" sz="1200" spc="-5">
                <a:latin typeface="Arial"/>
                <a:cs typeface="Arial"/>
              </a:rPr>
              <a:t>devotion</a:t>
            </a:r>
            <a:r>
              <a:rPr dirty="0" sz="1200" spc="40">
                <a:latin typeface="Arial"/>
                <a:cs typeface="Arial"/>
              </a:rPr>
              <a:t> </a:t>
            </a:r>
            <a:r>
              <a:rPr dirty="0" sz="1200" spc="-5">
                <a:latin typeface="Arial"/>
                <a:cs typeface="Arial"/>
              </a:rPr>
              <a:t>to</a:t>
            </a:r>
            <a:r>
              <a:rPr dirty="0" sz="1200" spc="45">
                <a:latin typeface="Arial"/>
                <a:cs typeface="Arial"/>
              </a:rPr>
              <a:t> </a:t>
            </a:r>
            <a:r>
              <a:rPr dirty="0" sz="1200" spc="-5">
                <a:latin typeface="Arial"/>
                <a:cs typeface="Arial"/>
              </a:rPr>
              <a:t>God</a:t>
            </a:r>
            <a:r>
              <a:rPr dirty="0" sz="1200" spc="25">
                <a:latin typeface="Arial"/>
                <a:cs typeface="Arial"/>
              </a:rPr>
              <a:t> </a:t>
            </a:r>
            <a:r>
              <a:rPr dirty="0" sz="1200" spc="-5">
                <a:latin typeface="Arial"/>
                <a:cs typeface="Arial"/>
              </a:rPr>
              <a:t>over</a:t>
            </a:r>
            <a:r>
              <a:rPr dirty="0" sz="1200" spc="30">
                <a:latin typeface="Arial"/>
                <a:cs typeface="Arial"/>
              </a:rPr>
              <a:t> </a:t>
            </a:r>
            <a:r>
              <a:rPr dirty="0" sz="1200" spc="-5">
                <a:latin typeface="Arial"/>
                <a:cs typeface="Arial"/>
              </a:rPr>
              <a:t>concern</a:t>
            </a:r>
            <a:r>
              <a:rPr dirty="0" sz="1200" spc="25">
                <a:latin typeface="Arial"/>
                <a:cs typeface="Arial"/>
              </a:rPr>
              <a:t> </a:t>
            </a:r>
            <a:r>
              <a:rPr dirty="0" sz="1200" spc="-5">
                <a:latin typeface="Arial"/>
                <a:cs typeface="Arial"/>
              </a:rPr>
              <a:t>with</a:t>
            </a:r>
            <a:r>
              <a:rPr dirty="0" sz="1200" spc="40">
                <a:latin typeface="Arial"/>
                <a:cs typeface="Arial"/>
              </a:rPr>
              <a:t> </a:t>
            </a:r>
            <a:r>
              <a:rPr dirty="0" sz="1200">
                <a:latin typeface="Arial"/>
                <a:cs typeface="Arial"/>
              </a:rPr>
              <a:t>the</a:t>
            </a:r>
            <a:r>
              <a:rPr dirty="0" sz="1200" spc="20">
                <a:latin typeface="Arial"/>
                <a:cs typeface="Arial"/>
              </a:rPr>
              <a:t> </a:t>
            </a:r>
            <a:r>
              <a:rPr dirty="0" sz="1200" spc="-5">
                <a:latin typeface="Arial"/>
                <a:cs typeface="Arial"/>
              </a:rPr>
              <a:t>outward</a:t>
            </a:r>
            <a:r>
              <a:rPr dirty="0" sz="1200" spc="40">
                <a:latin typeface="Arial"/>
                <a:cs typeface="Arial"/>
              </a:rPr>
              <a:t> </a:t>
            </a:r>
            <a:r>
              <a:rPr dirty="0" sz="1200" spc="-5">
                <a:latin typeface="Arial"/>
                <a:cs typeface="Arial"/>
              </a:rPr>
              <a:t>law</a:t>
            </a:r>
            <a:r>
              <a:rPr dirty="0" sz="1200" spc="25">
                <a:latin typeface="Arial"/>
                <a:cs typeface="Arial"/>
              </a:rPr>
              <a:t> </a:t>
            </a:r>
            <a:r>
              <a:rPr dirty="0" sz="1200" spc="-5">
                <a:latin typeface="Arial"/>
                <a:cs typeface="Arial"/>
              </a:rPr>
              <a:t>or</a:t>
            </a:r>
            <a:endParaRPr sz="1200">
              <a:latin typeface="Arial"/>
              <a:cs typeface="Arial"/>
            </a:endParaRPr>
          </a:p>
          <a:p>
            <a:pPr marL="762000">
              <a:lnSpc>
                <a:spcPts val="1310"/>
              </a:lnSpc>
            </a:pPr>
            <a:r>
              <a:rPr dirty="0" sz="1200" spc="-5" i="1">
                <a:latin typeface="Arial"/>
                <a:cs typeface="Arial"/>
              </a:rPr>
              <a:t>Shari</a:t>
            </a:r>
            <a:r>
              <a:rPr dirty="0" sz="1200" spc="-5">
                <a:latin typeface="Arial"/>
                <a:cs typeface="Arial"/>
              </a:rPr>
              <a:t>‘</a:t>
            </a:r>
            <a:r>
              <a:rPr dirty="0" sz="1200" spc="-5" i="1">
                <a:latin typeface="Arial"/>
                <a:cs typeface="Arial"/>
              </a:rPr>
              <a:t>ah</a:t>
            </a:r>
            <a:r>
              <a:rPr dirty="0" sz="1200" spc="-5">
                <a:latin typeface="Arial"/>
                <a:cs typeface="Arial"/>
              </a:rPr>
              <a:t>,</a:t>
            </a:r>
            <a:r>
              <a:rPr dirty="0" sz="1200" spc="25">
                <a:latin typeface="Arial"/>
                <a:cs typeface="Arial"/>
              </a:rPr>
              <a:t> </a:t>
            </a:r>
            <a:r>
              <a:rPr dirty="0" sz="1200" spc="-5">
                <a:latin typeface="Arial"/>
                <a:cs typeface="Arial"/>
              </a:rPr>
              <a:t>and</a:t>
            </a:r>
            <a:r>
              <a:rPr dirty="0" sz="1200" spc="45">
                <a:latin typeface="Arial"/>
                <a:cs typeface="Arial"/>
              </a:rPr>
              <a:t> </a:t>
            </a:r>
            <a:r>
              <a:rPr dirty="0" sz="1200" spc="-5">
                <a:latin typeface="Arial"/>
                <a:cs typeface="Arial"/>
              </a:rPr>
              <a:t>is</a:t>
            </a:r>
            <a:r>
              <a:rPr dirty="0" sz="1200" spc="40">
                <a:latin typeface="Arial"/>
                <a:cs typeface="Arial"/>
              </a:rPr>
              <a:t> </a:t>
            </a:r>
            <a:r>
              <a:rPr dirty="0" sz="1200" spc="-5">
                <a:latin typeface="Arial"/>
                <a:cs typeface="Arial"/>
              </a:rPr>
              <a:t>often</a:t>
            </a:r>
            <a:r>
              <a:rPr dirty="0" sz="1200" spc="20">
                <a:latin typeface="Arial"/>
                <a:cs typeface="Arial"/>
              </a:rPr>
              <a:t> </a:t>
            </a:r>
            <a:r>
              <a:rPr dirty="0" sz="1200">
                <a:latin typeface="Arial"/>
                <a:cs typeface="Arial"/>
              </a:rPr>
              <a:t>associated</a:t>
            </a:r>
            <a:r>
              <a:rPr dirty="0" sz="1200" spc="45">
                <a:latin typeface="Arial"/>
                <a:cs typeface="Arial"/>
              </a:rPr>
              <a:t> </a:t>
            </a:r>
            <a:r>
              <a:rPr dirty="0" sz="1200" spc="-10">
                <a:latin typeface="Arial"/>
                <a:cs typeface="Arial"/>
              </a:rPr>
              <a:t>with</a:t>
            </a:r>
            <a:r>
              <a:rPr dirty="0" sz="1200" spc="45">
                <a:latin typeface="Arial"/>
                <a:cs typeface="Arial"/>
              </a:rPr>
              <a:t> </a:t>
            </a:r>
            <a:r>
              <a:rPr dirty="0" sz="1200" spc="-5">
                <a:latin typeface="Arial"/>
                <a:cs typeface="Arial"/>
              </a:rPr>
              <a:t>mysticism</a:t>
            </a:r>
            <a:r>
              <a:rPr dirty="0" sz="1200" spc="45">
                <a:latin typeface="Arial"/>
                <a:cs typeface="Arial"/>
              </a:rPr>
              <a:t> </a:t>
            </a:r>
            <a:r>
              <a:rPr dirty="0" sz="1200" spc="-5">
                <a:latin typeface="Arial"/>
                <a:cs typeface="Arial"/>
              </a:rPr>
              <a:t>and</a:t>
            </a:r>
            <a:r>
              <a:rPr dirty="0" sz="1200" spc="30">
                <a:latin typeface="Arial"/>
                <a:cs typeface="Arial"/>
              </a:rPr>
              <a:t> </a:t>
            </a:r>
            <a:r>
              <a:rPr dirty="0" sz="1200" spc="-10">
                <a:latin typeface="Arial"/>
                <a:cs typeface="Arial"/>
              </a:rPr>
              <a:t>esotericism‖.</a:t>
            </a:r>
            <a:r>
              <a:rPr dirty="0" sz="1200" spc="35">
                <a:latin typeface="Arial"/>
                <a:cs typeface="Arial"/>
              </a:rPr>
              <a:t> </a:t>
            </a:r>
            <a:r>
              <a:rPr dirty="0" sz="1200" spc="5">
                <a:latin typeface="Arial"/>
                <a:cs typeface="Arial"/>
              </a:rPr>
              <a:t>(</a:t>
            </a:r>
            <a:r>
              <a:rPr dirty="0" sz="1200" spc="5">
                <a:latin typeface="Arial"/>
                <a:cs typeface="Arial"/>
                <a:hlinkClick r:id="rId7"/>
              </a:rPr>
              <a:t>Food</a:t>
            </a:r>
            <a:r>
              <a:rPr dirty="0" sz="1200" spc="30">
                <a:latin typeface="Arial"/>
                <a:cs typeface="Arial"/>
                <a:hlinkClick r:id="rId7"/>
              </a:rPr>
              <a:t> </a:t>
            </a:r>
            <a:r>
              <a:rPr dirty="0" sz="1200">
                <a:latin typeface="Arial"/>
                <a:cs typeface="Arial"/>
                <a:hlinkClick r:id="rId7"/>
              </a:rPr>
              <a:t>&amp;</a:t>
            </a:r>
            <a:r>
              <a:rPr dirty="0" sz="1200" spc="40">
                <a:latin typeface="Arial"/>
                <a:cs typeface="Arial"/>
                <a:hlinkClick r:id="rId7"/>
              </a:rPr>
              <a:t> </a:t>
            </a:r>
            <a:r>
              <a:rPr dirty="0" sz="1200" spc="-5">
                <a:latin typeface="Arial"/>
                <a:cs typeface="Arial"/>
                <a:hlinkClick r:id="rId7"/>
              </a:rPr>
              <a:t>Culture</a:t>
            </a:r>
            <a:endParaRPr sz="1200">
              <a:latin typeface="Arial"/>
              <a:cs typeface="Arial"/>
            </a:endParaRPr>
          </a:p>
          <a:p>
            <a:pPr marL="762000">
              <a:lnSpc>
                <a:spcPts val="1380"/>
              </a:lnSpc>
            </a:pPr>
            <a:r>
              <a:rPr dirty="0" sz="1200" spc="-5">
                <a:latin typeface="Arial"/>
                <a:cs typeface="Arial"/>
                <a:hlinkClick r:id="rId7"/>
              </a:rPr>
              <a:t>Encyclopedia)</a:t>
            </a:r>
            <a:endParaRPr sz="1200">
              <a:latin typeface="Arial"/>
              <a:cs typeface="Arial"/>
            </a:endParaRPr>
          </a:p>
          <a:p>
            <a:pPr marL="762000" marR="55244" indent="-228600">
              <a:lnSpc>
                <a:spcPts val="1390"/>
              </a:lnSpc>
              <a:spcBef>
                <a:spcPts val="50"/>
              </a:spcBef>
              <a:buAutoNum type="arabicPeriod" startAt="5"/>
              <a:tabLst>
                <a:tab pos="762635" algn="l"/>
                <a:tab pos="3537585" algn="l"/>
              </a:tabLst>
            </a:pPr>
            <a:r>
              <a:rPr dirty="0" sz="1200" spc="-120">
                <a:latin typeface="Arial"/>
                <a:cs typeface="Arial"/>
              </a:rPr>
              <a:t>―Sufism    </a:t>
            </a:r>
            <a:r>
              <a:rPr dirty="0" sz="1200" spc="-5">
                <a:latin typeface="Arial"/>
                <a:cs typeface="Arial"/>
              </a:rPr>
              <a:t>(</a:t>
            </a:r>
            <a:r>
              <a:rPr dirty="0" sz="1200" spc="-5">
                <a:latin typeface="Arial"/>
                <a:cs typeface="Arial"/>
                <a:hlinkClick r:id="rId8"/>
              </a:rPr>
              <a:t>Arabic</a:t>
            </a:r>
            <a:r>
              <a:rPr dirty="0" sz="1200" spc="-5">
                <a:latin typeface="Arial"/>
                <a:cs typeface="Arial"/>
              </a:rPr>
              <a:t>: </a:t>
            </a:r>
            <a:r>
              <a:rPr dirty="0" sz="1200" spc="140">
                <a:latin typeface="Arial"/>
                <a:cs typeface="Arial"/>
              </a:rPr>
              <a:t> </a:t>
            </a:r>
            <a:r>
              <a:rPr dirty="0" sz="1200" spc="-5" i="1">
                <a:latin typeface="Arial"/>
                <a:cs typeface="Arial"/>
              </a:rPr>
              <a:t>taṣawwuf</a:t>
            </a:r>
            <a:r>
              <a:rPr dirty="0" sz="1200" spc="-5">
                <a:latin typeface="Arial"/>
                <a:cs typeface="Arial"/>
              </a:rPr>
              <a:t>, </a:t>
            </a:r>
            <a:r>
              <a:rPr dirty="0" sz="1200" spc="160">
                <a:latin typeface="Arial"/>
                <a:cs typeface="Arial"/>
              </a:rPr>
              <a:t> </a:t>
            </a:r>
            <a:r>
              <a:rPr dirty="0" sz="1200" spc="-5">
                <a:latin typeface="Arial"/>
                <a:cs typeface="Arial"/>
                <a:hlinkClick r:id="rId9"/>
              </a:rPr>
              <a:t>Persian</a:t>
            </a:r>
            <a:r>
              <a:rPr dirty="0" sz="1200" spc="-5">
                <a:latin typeface="Arial"/>
                <a:cs typeface="Arial"/>
              </a:rPr>
              <a:t>:	</a:t>
            </a:r>
            <a:r>
              <a:rPr dirty="0" sz="1200" spc="-5" i="1">
                <a:latin typeface="Arial"/>
                <a:cs typeface="Arial"/>
              </a:rPr>
              <a:t>sufigari</a:t>
            </a:r>
            <a:r>
              <a:rPr dirty="0" sz="1200" spc="-5">
                <a:latin typeface="Arial"/>
                <a:cs typeface="Arial"/>
              </a:rPr>
              <a:t>, </a:t>
            </a:r>
            <a:r>
              <a:rPr dirty="0" sz="1200">
                <a:latin typeface="Arial"/>
                <a:cs typeface="Arial"/>
                <a:hlinkClick r:id="rId10"/>
              </a:rPr>
              <a:t>Turkish</a:t>
            </a:r>
            <a:r>
              <a:rPr dirty="0" sz="1200">
                <a:latin typeface="Arial"/>
                <a:cs typeface="Arial"/>
              </a:rPr>
              <a:t>: </a:t>
            </a:r>
            <a:r>
              <a:rPr dirty="0" sz="1200" spc="-5" i="1">
                <a:latin typeface="Arial"/>
                <a:cs typeface="Arial"/>
              </a:rPr>
              <a:t>tasavvuf</a:t>
            </a:r>
            <a:r>
              <a:rPr dirty="0" sz="1200" spc="-5">
                <a:latin typeface="Arial"/>
                <a:cs typeface="Arial"/>
              </a:rPr>
              <a:t>) is generally  understood </a:t>
            </a:r>
            <a:r>
              <a:rPr dirty="0" sz="1200">
                <a:latin typeface="Arial"/>
                <a:cs typeface="Arial"/>
              </a:rPr>
              <a:t>to be </a:t>
            </a:r>
            <a:r>
              <a:rPr dirty="0" sz="1200" spc="-5">
                <a:latin typeface="Arial"/>
                <a:cs typeface="Arial"/>
              </a:rPr>
              <a:t>the inner, </a:t>
            </a:r>
            <a:r>
              <a:rPr dirty="0" sz="1200" spc="-5">
                <a:latin typeface="Arial"/>
                <a:cs typeface="Arial"/>
                <a:hlinkClick r:id="rId11"/>
              </a:rPr>
              <a:t>mystical </a:t>
            </a:r>
            <a:r>
              <a:rPr dirty="0" sz="1200" spc="-5">
                <a:latin typeface="Arial"/>
                <a:cs typeface="Arial"/>
              </a:rPr>
              <a:t>dimension of </a:t>
            </a:r>
            <a:r>
              <a:rPr dirty="0" sz="1200" spc="-15">
                <a:latin typeface="Arial"/>
                <a:cs typeface="Arial"/>
                <a:hlinkClick r:id="rId2"/>
              </a:rPr>
              <a:t>Islam</a:t>
            </a:r>
            <a:r>
              <a:rPr dirty="0" sz="1200" spc="-15">
                <a:latin typeface="Arial"/>
                <a:cs typeface="Arial"/>
              </a:rPr>
              <a:t>.‖</a:t>
            </a:r>
            <a:r>
              <a:rPr dirty="0" sz="1200" spc="35">
                <a:latin typeface="Arial"/>
                <a:cs typeface="Arial"/>
              </a:rPr>
              <a:t> </a:t>
            </a:r>
            <a:r>
              <a:rPr dirty="0" sz="1200" spc="-5">
                <a:latin typeface="Arial"/>
                <a:cs typeface="Arial"/>
              </a:rPr>
              <a:t>(</a:t>
            </a:r>
            <a:r>
              <a:rPr dirty="0" sz="1200" spc="-5">
                <a:latin typeface="Arial"/>
                <a:cs typeface="Arial"/>
                <a:hlinkClick r:id="rId12"/>
              </a:rPr>
              <a:t>Wikipedia)</a:t>
            </a:r>
            <a:endParaRPr sz="1200">
              <a:latin typeface="Arial"/>
              <a:cs typeface="Arial"/>
            </a:endParaRPr>
          </a:p>
          <a:p>
            <a:pPr>
              <a:lnSpc>
                <a:spcPct val="100000"/>
              </a:lnSpc>
              <a:spcBef>
                <a:spcPts val="10"/>
              </a:spcBef>
            </a:pPr>
            <a:endParaRPr sz="1550">
              <a:latin typeface="Arial"/>
              <a:cs typeface="Arial"/>
            </a:endParaRPr>
          </a:p>
          <a:p>
            <a:pPr algn="just" marL="76200">
              <a:lnSpc>
                <a:spcPct val="100000"/>
              </a:lnSpc>
            </a:pPr>
            <a:r>
              <a:rPr dirty="0" u="heavy" sz="1200" b="1" i="1">
                <a:uFill>
                  <a:solidFill>
                    <a:srgbClr val="000000"/>
                  </a:solidFill>
                </a:uFill>
                <a:latin typeface="Arial"/>
                <a:cs typeface="Arial"/>
              </a:rPr>
              <a:t>Origin of</a:t>
            </a:r>
            <a:r>
              <a:rPr dirty="0" u="heavy" sz="1200" spc="-5" b="1" i="1">
                <a:uFill>
                  <a:solidFill>
                    <a:srgbClr val="000000"/>
                  </a:solidFill>
                </a:uFill>
                <a:latin typeface="Arial"/>
                <a:cs typeface="Arial"/>
              </a:rPr>
              <a:t> </a:t>
            </a:r>
            <a:r>
              <a:rPr dirty="0" u="heavy" sz="1200" b="1" i="1">
                <a:uFill>
                  <a:solidFill>
                    <a:srgbClr val="000000"/>
                  </a:solidFill>
                </a:uFill>
                <a:latin typeface="Arial"/>
                <a:cs typeface="Arial"/>
              </a:rPr>
              <a:t>Sufism</a:t>
            </a:r>
            <a:endParaRPr sz="1200">
              <a:latin typeface="Arial"/>
              <a:cs typeface="Arial"/>
            </a:endParaRPr>
          </a:p>
          <a:p>
            <a:pPr>
              <a:lnSpc>
                <a:spcPct val="100000"/>
              </a:lnSpc>
              <a:spcBef>
                <a:spcPts val="45"/>
              </a:spcBef>
            </a:pPr>
            <a:endParaRPr sz="1200">
              <a:latin typeface="Arial"/>
              <a:cs typeface="Arial"/>
            </a:endParaRPr>
          </a:p>
          <a:p>
            <a:pPr algn="just" marL="76200" marR="57150">
              <a:lnSpc>
                <a:spcPts val="1380"/>
              </a:lnSpc>
              <a:spcBef>
                <a:spcPts val="5"/>
              </a:spcBef>
            </a:pPr>
            <a:r>
              <a:rPr dirty="0" sz="1200" spc="-5">
                <a:latin typeface="Arial"/>
                <a:cs typeface="Arial"/>
              </a:rPr>
              <a:t>There are </a:t>
            </a:r>
            <a:r>
              <a:rPr dirty="0" sz="1200">
                <a:latin typeface="Arial"/>
                <a:cs typeface="Arial"/>
              </a:rPr>
              <a:t>many </a:t>
            </a:r>
            <a:r>
              <a:rPr dirty="0" sz="1200" spc="-5">
                <a:latin typeface="Arial"/>
                <a:cs typeface="Arial"/>
              </a:rPr>
              <a:t>opinions regarding the origin of this word. </a:t>
            </a:r>
            <a:r>
              <a:rPr dirty="0" sz="1200">
                <a:latin typeface="Arial"/>
                <a:cs typeface="Arial"/>
              </a:rPr>
              <a:t>They may </a:t>
            </a:r>
            <a:r>
              <a:rPr dirty="0" sz="1200" spc="-10">
                <a:latin typeface="Arial"/>
                <a:cs typeface="Arial"/>
              </a:rPr>
              <a:t>be </a:t>
            </a:r>
            <a:r>
              <a:rPr dirty="0" sz="1200" spc="-5">
                <a:latin typeface="Arial"/>
                <a:cs typeface="Arial"/>
              </a:rPr>
              <a:t>summarized </a:t>
            </a:r>
            <a:r>
              <a:rPr dirty="0" sz="1200" spc="-10">
                <a:latin typeface="Arial"/>
                <a:cs typeface="Arial"/>
              </a:rPr>
              <a:t>as  </a:t>
            </a:r>
            <a:r>
              <a:rPr dirty="0" sz="1200" spc="-5">
                <a:latin typeface="Arial"/>
                <a:cs typeface="Arial"/>
              </a:rPr>
              <a:t>follows:</a:t>
            </a:r>
            <a:endParaRPr sz="1200">
              <a:latin typeface="Arial"/>
              <a:cs typeface="Arial"/>
            </a:endParaRPr>
          </a:p>
          <a:p>
            <a:pPr>
              <a:lnSpc>
                <a:spcPct val="100000"/>
              </a:lnSpc>
              <a:spcBef>
                <a:spcPts val="55"/>
              </a:spcBef>
            </a:pPr>
            <a:endParaRPr sz="1150">
              <a:latin typeface="Arial"/>
              <a:cs typeface="Arial"/>
            </a:endParaRPr>
          </a:p>
          <a:p>
            <a:pPr algn="just" marL="533400" marR="55880" indent="-228600">
              <a:lnSpc>
                <a:spcPts val="1380"/>
              </a:lnSpc>
              <a:buAutoNum type="arabicPeriod"/>
              <a:tabLst>
                <a:tab pos="534035" algn="l"/>
              </a:tabLst>
            </a:pPr>
            <a:r>
              <a:rPr dirty="0" sz="1200" spc="-5">
                <a:latin typeface="Arial"/>
                <a:cs typeface="Arial"/>
              </a:rPr>
              <a:t>Some people associate Sufism to the Ahlus-Sufaah (people of As-Sufaah) </a:t>
            </a:r>
            <a:r>
              <a:rPr dirty="0" sz="1200" spc="-10">
                <a:latin typeface="Arial"/>
                <a:cs typeface="Arial"/>
              </a:rPr>
              <a:t>who </a:t>
            </a:r>
            <a:r>
              <a:rPr dirty="0" sz="1200" spc="-5">
                <a:latin typeface="Arial"/>
                <a:cs typeface="Arial"/>
              </a:rPr>
              <a:t>were  </a:t>
            </a:r>
            <a:r>
              <a:rPr dirty="0" sz="1200">
                <a:latin typeface="Arial"/>
                <a:cs typeface="Arial"/>
              </a:rPr>
              <a:t>at the </a:t>
            </a:r>
            <a:r>
              <a:rPr dirty="0" sz="1200" spc="-5">
                <a:latin typeface="Arial"/>
                <a:cs typeface="Arial"/>
              </a:rPr>
              <a:t>time of the Prophet (s.a.w). </a:t>
            </a:r>
            <a:r>
              <a:rPr dirty="0" sz="1200">
                <a:latin typeface="Arial"/>
                <a:cs typeface="Arial"/>
              </a:rPr>
              <a:t>That </a:t>
            </a:r>
            <a:r>
              <a:rPr dirty="0" sz="1200" spc="-5">
                <a:latin typeface="Arial"/>
                <a:cs typeface="Arial"/>
              </a:rPr>
              <a:t>group </a:t>
            </a:r>
            <a:r>
              <a:rPr dirty="0" sz="1200">
                <a:latin typeface="Arial"/>
                <a:cs typeface="Arial"/>
              </a:rPr>
              <a:t>of </a:t>
            </a:r>
            <a:r>
              <a:rPr dirty="0" sz="1200" spc="-5">
                <a:latin typeface="Arial"/>
                <a:cs typeface="Arial"/>
              </a:rPr>
              <a:t>people </a:t>
            </a:r>
            <a:r>
              <a:rPr dirty="0" sz="1200" spc="-10">
                <a:latin typeface="Arial"/>
                <a:cs typeface="Arial"/>
              </a:rPr>
              <a:t>was </a:t>
            </a:r>
            <a:r>
              <a:rPr dirty="0" sz="1200" spc="-5">
                <a:latin typeface="Arial"/>
                <a:cs typeface="Arial"/>
              </a:rPr>
              <a:t>very </a:t>
            </a:r>
            <a:r>
              <a:rPr dirty="0" sz="1200">
                <a:latin typeface="Arial"/>
                <a:cs typeface="Arial"/>
              </a:rPr>
              <a:t>poor and they </a:t>
            </a:r>
            <a:r>
              <a:rPr dirty="0" sz="1200" spc="-5">
                <a:latin typeface="Arial"/>
                <a:cs typeface="Arial"/>
              </a:rPr>
              <a:t>stayed  in </a:t>
            </a:r>
            <a:r>
              <a:rPr dirty="0" sz="1200">
                <a:latin typeface="Arial"/>
                <a:cs typeface="Arial"/>
              </a:rPr>
              <a:t>the </a:t>
            </a:r>
            <a:r>
              <a:rPr dirty="0" sz="1200" spc="-5">
                <a:latin typeface="Arial"/>
                <a:cs typeface="Arial"/>
              </a:rPr>
              <a:t>courtyard </a:t>
            </a:r>
            <a:r>
              <a:rPr dirty="0" sz="1200">
                <a:latin typeface="Arial"/>
                <a:cs typeface="Arial"/>
              </a:rPr>
              <a:t>of </a:t>
            </a:r>
            <a:r>
              <a:rPr dirty="0" sz="1200" spc="-5">
                <a:latin typeface="Arial"/>
                <a:cs typeface="Arial"/>
              </a:rPr>
              <a:t>the mosque of the holy prophet (s.a.w) in devotional</a:t>
            </a:r>
            <a:r>
              <a:rPr dirty="0" sz="1200" spc="35">
                <a:latin typeface="Arial"/>
                <a:cs typeface="Arial"/>
              </a:rPr>
              <a:t> </a:t>
            </a:r>
            <a:r>
              <a:rPr dirty="0" sz="1200" spc="-5">
                <a:latin typeface="Arial"/>
                <a:cs typeface="Arial"/>
              </a:rPr>
              <a:t>acts.</a:t>
            </a:r>
            <a:endParaRPr sz="1200">
              <a:latin typeface="Arial"/>
              <a:cs typeface="Arial"/>
            </a:endParaRPr>
          </a:p>
          <a:p>
            <a:pPr algn="just" marL="533400" marR="55880" indent="-228600">
              <a:lnSpc>
                <a:spcPts val="1380"/>
              </a:lnSpc>
              <a:buAutoNum type="arabicPeriod"/>
              <a:tabLst>
                <a:tab pos="534035" algn="l"/>
              </a:tabLst>
            </a:pPr>
            <a:r>
              <a:rPr dirty="0" sz="1200" spc="-5">
                <a:latin typeface="Arial"/>
                <a:cs typeface="Arial"/>
              </a:rPr>
              <a:t>Some say </a:t>
            </a:r>
            <a:r>
              <a:rPr dirty="0" sz="1200">
                <a:latin typeface="Arial"/>
                <a:cs typeface="Arial"/>
              </a:rPr>
              <a:t>that </a:t>
            </a:r>
            <a:r>
              <a:rPr dirty="0" sz="1200" spc="-5">
                <a:latin typeface="Arial"/>
                <a:cs typeface="Arial"/>
              </a:rPr>
              <a:t>Sufism </a:t>
            </a:r>
            <a:r>
              <a:rPr dirty="0" sz="1200">
                <a:latin typeface="Arial"/>
                <a:cs typeface="Arial"/>
              </a:rPr>
              <a:t>comes </a:t>
            </a:r>
            <a:r>
              <a:rPr dirty="0" sz="1200" spc="-5">
                <a:latin typeface="Arial"/>
                <a:cs typeface="Arial"/>
              </a:rPr>
              <a:t>from </a:t>
            </a:r>
            <a:r>
              <a:rPr dirty="0" sz="1200">
                <a:latin typeface="Arial"/>
                <a:cs typeface="Arial"/>
              </a:rPr>
              <a:t>As-Saff </a:t>
            </a:r>
            <a:r>
              <a:rPr dirty="0" sz="1200" spc="-5">
                <a:latin typeface="Arial"/>
                <a:cs typeface="Arial"/>
              </a:rPr>
              <a:t>al-Awwal (First Row), implying </a:t>
            </a:r>
            <a:r>
              <a:rPr dirty="0" sz="1200">
                <a:latin typeface="Arial"/>
                <a:cs typeface="Arial"/>
              </a:rPr>
              <a:t>that </a:t>
            </a:r>
            <a:r>
              <a:rPr dirty="0" sz="1200" spc="-5">
                <a:latin typeface="Arial"/>
                <a:cs typeface="Arial"/>
              </a:rPr>
              <a:t>some  companions of </a:t>
            </a:r>
            <a:r>
              <a:rPr dirty="0" sz="1200">
                <a:latin typeface="Arial"/>
                <a:cs typeface="Arial"/>
              </a:rPr>
              <a:t>the </a:t>
            </a:r>
            <a:r>
              <a:rPr dirty="0" sz="1200" spc="-5">
                <a:latin typeface="Arial"/>
                <a:cs typeface="Arial"/>
              </a:rPr>
              <a:t>holy prophet (s.a.w) would </a:t>
            </a:r>
            <a:r>
              <a:rPr dirty="0" sz="1200">
                <a:latin typeface="Arial"/>
                <a:cs typeface="Arial"/>
              </a:rPr>
              <a:t>stay </a:t>
            </a:r>
            <a:r>
              <a:rPr dirty="0" sz="1200" spc="-5">
                <a:latin typeface="Arial"/>
                <a:cs typeface="Arial"/>
              </a:rPr>
              <a:t>in </a:t>
            </a:r>
            <a:r>
              <a:rPr dirty="0" sz="1200">
                <a:latin typeface="Arial"/>
                <a:cs typeface="Arial"/>
              </a:rPr>
              <a:t>the first </a:t>
            </a:r>
            <a:r>
              <a:rPr dirty="0" sz="1200" spc="-5">
                <a:latin typeface="Arial"/>
                <a:cs typeface="Arial"/>
              </a:rPr>
              <a:t>row in </a:t>
            </a:r>
            <a:r>
              <a:rPr dirty="0" sz="1200">
                <a:latin typeface="Arial"/>
                <a:cs typeface="Arial"/>
              </a:rPr>
              <a:t>the </a:t>
            </a:r>
            <a:r>
              <a:rPr dirty="0" sz="1200" spc="-5">
                <a:latin typeface="Arial"/>
                <a:cs typeface="Arial"/>
              </a:rPr>
              <a:t>mosque of  Madinah. Their main aim </a:t>
            </a:r>
            <a:r>
              <a:rPr dirty="0" sz="1200" spc="-10">
                <a:latin typeface="Arial"/>
                <a:cs typeface="Arial"/>
              </a:rPr>
              <a:t>was </a:t>
            </a:r>
            <a:r>
              <a:rPr dirty="0" sz="1200">
                <a:latin typeface="Arial"/>
                <a:cs typeface="Arial"/>
              </a:rPr>
              <a:t>to </a:t>
            </a:r>
            <a:r>
              <a:rPr dirty="0" sz="1200" spc="-5">
                <a:latin typeface="Arial"/>
                <a:cs typeface="Arial"/>
              </a:rPr>
              <a:t>study </a:t>
            </a:r>
            <a:r>
              <a:rPr dirty="0" sz="1200">
                <a:latin typeface="Arial"/>
                <a:cs typeface="Arial"/>
              </a:rPr>
              <a:t>Islam </a:t>
            </a:r>
            <a:r>
              <a:rPr dirty="0" sz="1200" spc="-5">
                <a:latin typeface="Arial"/>
                <a:cs typeface="Arial"/>
              </a:rPr>
              <a:t>in</a:t>
            </a:r>
            <a:r>
              <a:rPr dirty="0" sz="1200" spc="30">
                <a:latin typeface="Arial"/>
                <a:cs typeface="Arial"/>
              </a:rPr>
              <a:t> </a:t>
            </a:r>
            <a:r>
              <a:rPr dirty="0" sz="1200" spc="-5">
                <a:latin typeface="Arial"/>
                <a:cs typeface="Arial"/>
              </a:rPr>
              <a:t>depth.</a:t>
            </a:r>
            <a:endParaRPr sz="1200">
              <a:latin typeface="Arial"/>
              <a:cs typeface="Arial"/>
            </a:endParaRPr>
          </a:p>
          <a:p>
            <a:pPr algn="just" marL="533400" marR="56515" indent="-228600">
              <a:lnSpc>
                <a:spcPts val="1380"/>
              </a:lnSpc>
              <a:buAutoNum type="arabicPeriod"/>
              <a:tabLst>
                <a:tab pos="534035" algn="l"/>
              </a:tabLst>
            </a:pPr>
            <a:r>
              <a:rPr dirty="0" sz="1200" spc="-5">
                <a:latin typeface="Arial"/>
                <a:cs typeface="Arial"/>
              </a:rPr>
              <a:t>Some claim that the </a:t>
            </a:r>
            <a:r>
              <a:rPr dirty="0" sz="1200">
                <a:latin typeface="Arial"/>
                <a:cs typeface="Arial"/>
              </a:rPr>
              <a:t>term </a:t>
            </a:r>
            <a:r>
              <a:rPr dirty="0" sz="1200" spc="-5">
                <a:latin typeface="Arial"/>
                <a:cs typeface="Arial"/>
              </a:rPr>
              <a:t>is </a:t>
            </a:r>
            <a:r>
              <a:rPr dirty="0" sz="1200" spc="-10">
                <a:latin typeface="Arial"/>
                <a:cs typeface="Arial"/>
              </a:rPr>
              <a:t>derived </a:t>
            </a:r>
            <a:r>
              <a:rPr dirty="0" sz="1200" spc="-5">
                <a:latin typeface="Arial"/>
                <a:cs typeface="Arial"/>
              </a:rPr>
              <a:t>from </a:t>
            </a:r>
            <a:r>
              <a:rPr dirty="0" sz="1200">
                <a:latin typeface="Arial"/>
                <a:cs typeface="Arial"/>
              </a:rPr>
              <a:t>As-Safaa‘ </a:t>
            </a:r>
            <a:r>
              <a:rPr dirty="0" sz="1200" spc="-5">
                <a:latin typeface="Arial"/>
                <a:cs typeface="Arial"/>
              </a:rPr>
              <a:t>meaning </a:t>
            </a:r>
            <a:r>
              <a:rPr dirty="0" sz="1200">
                <a:latin typeface="Arial"/>
                <a:cs typeface="Arial"/>
              </a:rPr>
              <a:t>clearness, </a:t>
            </a:r>
            <a:r>
              <a:rPr dirty="0" sz="1200" spc="-5">
                <a:latin typeface="Arial"/>
                <a:cs typeface="Arial"/>
              </a:rPr>
              <a:t>purity,  sincerity.</a:t>
            </a:r>
            <a:endParaRPr sz="1200">
              <a:latin typeface="Arial"/>
              <a:cs typeface="Arial"/>
            </a:endParaRPr>
          </a:p>
          <a:p>
            <a:pPr algn="just" marL="533400" marR="55244" indent="-228600">
              <a:lnSpc>
                <a:spcPts val="1380"/>
              </a:lnSpc>
              <a:spcBef>
                <a:spcPts val="5"/>
              </a:spcBef>
              <a:buAutoNum type="arabicPeriod"/>
              <a:tabLst>
                <a:tab pos="534035" algn="l"/>
              </a:tabLst>
            </a:pPr>
            <a:r>
              <a:rPr dirty="0" sz="1200">
                <a:latin typeface="Arial"/>
                <a:cs typeface="Arial"/>
              </a:rPr>
              <a:t>But </a:t>
            </a:r>
            <a:r>
              <a:rPr dirty="0" sz="1200" spc="-5">
                <a:latin typeface="Arial"/>
                <a:cs typeface="Arial"/>
              </a:rPr>
              <a:t>the </a:t>
            </a:r>
            <a:r>
              <a:rPr dirty="0" sz="1200">
                <a:latin typeface="Arial"/>
                <a:cs typeface="Arial"/>
              </a:rPr>
              <a:t>most </a:t>
            </a:r>
            <a:r>
              <a:rPr dirty="0" sz="1200" spc="-5">
                <a:latin typeface="Arial"/>
                <a:cs typeface="Arial"/>
              </a:rPr>
              <a:t>accepted opinion is that </a:t>
            </a:r>
            <a:r>
              <a:rPr dirty="0" sz="1200">
                <a:latin typeface="Arial"/>
                <a:cs typeface="Arial"/>
              </a:rPr>
              <a:t>the </a:t>
            </a:r>
            <a:r>
              <a:rPr dirty="0" sz="1200" spc="-5">
                <a:latin typeface="Arial"/>
                <a:cs typeface="Arial"/>
              </a:rPr>
              <a:t>term Sufism refers </a:t>
            </a:r>
            <a:r>
              <a:rPr dirty="0" sz="1200">
                <a:latin typeface="Arial"/>
                <a:cs typeface="Arial"/>
              </a:rPr>
              <a:t>to </a:t>
            </a:r>
            <a:r>
              <a:rPr dirty="0" sz="1200" spc="-5">
                <a:latin typeface="Arial"/>
                <a:cs typeface="Arial"/>
              </a:rPr>
              <a:t>the wearing </a:t>
            </a:r>
            <a:r>
              <a:rPr dirty="0" sz="1200">
                <a:latin typeface="Arial"/>
                <a:cs typeface="Arial"/>
              </a:rPr>
              <a:t>of </a:t>
            </a:r>
            <a:r>
              <a:rPr dirty="0" sz="1200" spc="-5">
                <a:latin typeface="Arial"/>
                <a:cs typeface="Arial"/>
              </a:rPr>
              <a:t>woollen  clothing </a:t>
            </a:r>
            <a:r>
              <a:rPr dirty="0" sz="1200">
                <a:latin typeface="Arial"/>
                <a:cs typeface="Arial"/>
              </a:rPr>
              <a:t>(Suf). This </a:t>
            </a:r>
            <a:r>
              <a:rPr dirty="0" sz="1200" spc="-5">
                <a:latin typeface="Arial"/>
                <a:cs typeface="Arial"/>
              </a:rPr>
              <a:t>is so because many </a:t>
            </a:r>
            <a:r>
              <a:rPr dirty="0" sz="1200">
                <a:latin typeface="Arial"/>
                <a:cs typeface="Arial"/>
              </a:rPr>
              <a:t>scholars </a:t>
            </a:r>
            <a:r>
              <a:rPr dirty="0" sz="1200" spc="-5">
                <a:latin typeface="Arial"/>
                <a:cs typeface="Arial"/>
              </a:rPr>
              <a:t>known </a:t>
            </a:r>
            <a:r>
              <a:rPr dirty="0" sz="1200" spc="20">
                <a:latin typeface="Arial"/>
                <a:cs typeface="Arial"/>
              </a:rPr>
              <a:t>to </a:t>
            </a:r>
            <a:r>
              <a:rPr dirty="0" sz="1200" spc="-5">
                <a:latin typeface="Arial"/>
                <a:cs typeface="Arial"/>
              </a:rPr>
              <a:t>be Sufis used </a:t>
            </a:r>
            <a:r>
              <a:rPr dirty="0" sz="1200">
                <a:latin typeface="Arial"/>
                <a:cs typeface="Arial"/>
              </a:rPr>
              <a:t>to </a:t>
            </a:r>
            <a:r>
              <a:rPr dirty="0" sz="1200" spc="-5">
                <a:latin typeface="Arial"/>
                <a:cs typeface="Arial"/>
              </a:rPr>
              <a:t>wear  woollen </a:t>
            </a:r>
            <a:r>
              <a:rPr dirty="0" sz="1200">
                <a:latin typeface="Arial"/>
                <a:cs typeface="Arial"/>
              </a:rPr>
              <a:t>cloth.</a:t>
            </a:r>
            <a:endParaRPr sz="1200">
              <a:latin typeface="Arial"/>
              <a:cs typeface="Arial"/>
            </a:endParaRPr>
          </a:p>
          <a:p>
            <a:pPr>
              <a:lnSpc>
                <a:spcPct val="100000"/>
              </a:lnSpc>
              <a:spcBef>
                <a:spcPts val="5"/>
              </a:spcBef>
            </a:pPr>
            <a:endParaRPr sz="1100">
              <a:latin typeface="Arial"/>
              <a:cs typeface="Arial"/>
            </a:endParaRPr>
          </a:p>
          <a:p>
            <a:pPr algn="just" marL="76200">
              <a:lnSpc>
                <a:spcPct val="100000"/>
              </a:lnSpc>
            </a:pPr>
            <a:r>
              <a:rPr dirty="0" sz="1200" spc="-5">
                <a:latin typeface="Arial"/>
                <a:cs typeface="Arial"/>
              </a:rPr>
              <a:t>Allah says in the holy Qur‘an </a:t>
            </a:r>
            <a:r>
              <a:rPr dirty="0" sz="1200">
                <a:latin typeface="Arial"/>
                <a:cs typeface="Arial"/>
              </a:rPr>
              <a:t>(3: </a:t>
            </a:r>
            <a:r>
              <a:rPr dirty="0" sz="1200" spc="-5">
                <a:latin typeface="Arial"/>
                <a:cs typeface="Arial"/>
              </a:rPr>
              <a:t>102):</a:t>
            </a:r>
            <a:endParaRPr sz="1200">
              <a:latin typeface="Arial"/>
              <a:cs typeface="Arial"/>
            </a:endParaRPr>
          </a:p>
          <a:p>
            <a:pPr>
              <a:lnSpc>
                <a:spcPct val="100000"/>
              </a:lnSpc>
            </a:pPr>
            <a:endParaRPr sz="1150">
              <a:latin typeface="Arial"/>
              <a:cs typeface="Arial"/>
            </a:endParaRPr>
          </a:p>
          <a:p>
            <a:pPr marL="1887220">
              <a:lnSpc>
                <a:spcPct val="100000"/>
              </a:lnSpc>
            </a:pPr>
            <a:r>
              <a:rPr dirty="0" baseline="1543" sz="2700" spc="-509">
                <a:latin typeface="Arial"/>
                <a:cs typeface="Arial"/>
              </a:rPr>
              <a:t>ن</a:t>
            </a:r>
            <a:r>
              <a:rPr dirty="0" baseline="-1543" sz="2700" spc="-509">
                <a:latin typeface="Arial"/>
                <a:cs typeface="Arial"/>
              </a:rPr>
              <a:t>َ </a:t>
            </a:r>
            <a:r>
              <a:rPr dirty="0" baseline="1543" sz="2700" spc="-270">
                <a:latin typeface="Arial"/>
                <a:cs typeface="Arial"/>
              </a:rPr>
              <a:t>ومُ </a:t>
            </a:r>
            <a:r>
              <a:rPr dirty="0" sz="1800" spc="-450">
                <a:latin typeface="Arial"/>
                <a:cs typeface="Arial"/>
              </a:rPr>
              <a:t>ِ</a:t>
            </a:r>
            <a:r>
              <a:rPr dirty="0" baseline="1543" sz="2700" spc="-675">
                <a:latin typeface="Arial"/>
                <a:cs typeface="Arial"/>
              </a:rPr>
              <a:t>لسْ </a:t>
            </a:r>
            <a:r>
              <a:rPr dirty="0" baseline="1543" sz="2700" spc="-254">
                <a:latin typeface="Arial"/>
                <a:cs typeface="Arial"/>
              </a:rPr>
              <a:t>م</a:t>
            </a:r>
            <a:r>
              <a:rPr dirty="0" sz="1800" spc="-170">
                <a:latin typeface="Arial"/>
                <a:cs typeface="Arial"/>
              </a:rPr>
              <a:t>ُّ </a:t>
            </a:r>
            <a:r>
              <a:rPr dirty="0" baseline="1543" sz="2700" spc="-359">
                <a:latin typeface="Arial"/>
                <a:cs typeface="Arial"/>
              </a:rPr>
              <a:t>م</a:t>
            </a:r>
            <a:r>
              <a:rPr dirty="0" baseline="-3086" sz="2700" spc="-359">
                <a:latin typeface="Arial"/>
                <a:cs typeface="Arial"/>
              </a:rPr>
              <a:t>ْ </a:t>
            </a:r>
            <a:r>
              <a:rPr dirty="0" baseline="1543" sz="2700" spc="-930">
                <a:latin typeface="Arial"/>
                <a:cs typeface="Arial"/>
              </a:rPr>
              <a:t>ت</a:t>
            </a:r>
            <a:r>
              <a:rPr dirty="0" baseline="9259" sz="2700" spc="-930">
                <a:latin typeface="Arial"/>
                <a:cs typeface="Arial"/>
              </a:rPr>
              <a:t>ُ</a:t>
            </a:r>
            <a:r>
              <a:rPr dirty="0" baseline="9259" sz="2700" spc="-127">
                <a:latin typeface="Arial"/>
                <a:cs typeface="Arial"/>
              </a:rPr>
              <a:t> </a:t>
            </a:r>
            <a:r>
              <a:rPr dirty="0" baseline="1543" sz="2700" spc="-607">
                <a:latin typeface="Arial"/>
                <a:cs typeface="Arial"/>
              </a:rPr>
              <a:t>ن</a:t>
            </a:r>
            <a:r>
              <a:rPr dirty="0" baseline="9259" sz="2700" spc="-607">
                <a:latin typeface="Arial"/>
                <a:cs typeface="Arial"/>
              </a:rPr>
              <a:t>ْ </a:t>
            </a:r>
            <a:r>
              <a:rPr dirty="0" baseline="15432" sz="2700" spc="-165">
                <a:latin typeface="Arial"/>
                <a:cs typeface="Arial"/>
              </a:rPr>
              <a:t>َ</a:t>
            </a:r>
            <a:r>
              <a:rPr dirty="0" baseline="1543" sz="2700" spc="-165">
                <a:latin typeface="Arial"/>
                <a:cs typeface="Arial"/>
              </a:rPr>
              <a:t>أو</a:t>
            </a:r>
            <a:r>
              <a:rPr dirty="0" baseline="-1543" sz="2700" spc="-165">
                <a:latin typeface="Arial"/>
                <a:cs typeface="Arial"/>
              </a:rPr>
              <a:t>َ </a:t>
            </a:r>
            <a:r>
              <a:rPr dirty="0" baseline="9259" sz="2700" spc="-82">
                <a:latin typeface="Arial"/>
                <a:cs typeface="Arial"/>
              </a:rPr>
              <a:t>َّ</a:t>
            </a:r>
            <a:r>
              <a:rPr dirty="0" baseline="1543" sz="2700" spc="-82">
                <a:latin typeface="Arial"/>
                <a:cs typeface="Arial"/>
              </a:rPr>
              <a:t>لا</a:t>
            </a:r>
            <a:r>
              <a:rPr dirty="0" baseline="-12345" sz="2700" spc="-82">
                <a:latin typeface="Arial"/>
                <a:cs typeface="Arial"/>
              </a:rPr>
              <a:t>ِ</a:t>
            </a:r>
            <a:r>
              <a:rPr dirty="0" baseline="1543" sz="2700" spc="-82">
                <a:latin typeface="Arial"/>
                <a:cs typeface="Arial"/>
              </a:rPr>
              <a:t>إ </a:t>
            </a:r>
            <a:r>
              <a:rPr dirty="0" baseline="1543" sz="2700" spc="-345">
                <a:latin typeface="Arial"/>
                <a:cs typeface="Arial"/>
              </a:rPr>
              <a:t>ن</a:t>
            </a:r>
            <a:r>
              <a:rPr dirty="0" sz="1800" spc="-229">
                <a:latin typeface="Arial"/>
                <a:cs typeface="Arial"/>
              </a:rPr>
              <a:t>َّ </a:t>
            </a:r>
            <a:r>
              <a:rPr dirty="0" baseline="1543" sz="2700" spc="-937">
                <a:latin typeface="Arial"/>
                <a:cs typeface="Arial"/>
              </a:rPr>
              <a:t>ت</a:t>
            </a:r>
            <a:r>
              <a:rPr dirty="0" baseline="9259" sz="2700" spc="-937">
                <a:latin typeface="Arial"/>
                <a:cs typeface="Arial"/>
              </a:rPr>
              <a:t>ُ</a:t>
            </a:r>
            <a:r>
              <a:rPr dirty="0" baseline="9259" sz="2700" spc="-120">
                <a:latin typeface="Arial"/>
                <a:cs typeface="Arial"/>
              </a:rPr>
              <a:t> </a:t>
            </a:r>
            <a:r>
              <a:rPr dirty="0" baseline="1543" sz="2700" spc="-270">
                <a:latin typeface="Arial"/>
                <a:cs typeface="Arial"/>
              </a:rPr>
              <a:t>ومُ </a:t>
            </a:r>
            <a:r>
              <a:rPr dirty="0" baseline="1543" sz="2700" spc="-892">
                <a:latin typeface="Arial"/>
                <a:cs typeface="Arial"/>
              </a:rPr>
              <a:t>ت</a:t>
            </a:r>
            <a:r>
              <a:rPr dirty="0" baseline="6172" sz="2700" spc="-892">
                <a:latin typeface="Arial"/>
                <a:cs typeface="Arial"/>
              </a:rPr>
              <a:t>َ</a:t>
            </a:r>
            <a:r>
              <a:rPr dirty="0" baseline="6172" sz="2700" spc="585">
                <a:latin typeface="Arial"/>
                <a:cs typeface="Arial"/>
              </a:rPr>
              <a:t> </a:t>
            </a:r>
            <a:r>
              <a:rPr dirty="0" baseline="7716" sz="2700" spc="-217">
                <a:latin typeface="Arial"/>
                <a:cs typeface="Arial"/>
              </a:rPr>
              <a:t>َ</a:t>
            </a:r>
            <a:r>
              <a:rPr dirty="0" baseline="1543" sz="2700" spc="-217">
                <a:latin typeface="Arial"/>
                <a:cs typeface="Arial"/>
              </a:rPr>
              <a:t>لاو</a:t>
            </a:r>
            <a:r>
              <a:rPr dirty="0" baseline="-1543" sz="2700" spc="-217">
                <a:latin typeface="Arial"/>
                <a:cs typeface="Arial"/>
              </a:rPr>
              <a:t>َ  </a:t>
            </a:r>
            <a:r>
              <a:rPr dirty="0" baseline="1543" sz="2700" spc="-337">
                <a:latin typeface="Arial"/>
                <a:cs typeface="Arial"/>
              </a:rPr>
              <a:t>ه</a:t>
            </a:r>
            <a:r>
              <a:rPr dirty="0" sz="1800" spc="-225">
                <a:latin typeface="Arial"/>
                <a:cs typeface="Arial"/>
              </a:rPr>
              <a:t>ِ </a:t>
            </a:r>
            <a:r>
              <a:rPr dirty="0" baseline="1543" sz="2700" spc="-960">
                <a:latin typeface="Arial"/>
                <a:cs typeface="Arial"/>
              </a:rPr>
              <a:t>ت</a:t>
            </a:r>
            <a:r>
              <a:rPr dirty="0" sz="1800" spc="-640">
                <a:latin typeface="Arial"/>
                <a:cs typeface="Arial"/>
              </a:rPr>
              <a:t>ِ</a:t>
            </a:r>
            <a:r>
              <a:rPr dirty="0" sz="1800" spc="-45">
                <a:latin typeface="Arial"/>
                <a:cs typeface="Arial"/>
              </a:rPr>
              <a:t> </a:t>
            </a:r>
            <a:r>
              <a:rPr dirty="0" baseline="1543" sz="2700" spc="-487">
                <a:latin typeface="Arial"/>
                <a:cs typeface="Arial"/>
              </a:rPr>
              <a:t>اق</a:t>
            </a:r>
            <a:r>
              <a:rPr dirty="0" baseline="6172" sz="2700" spc="-487">
                <a:latin typeface="Arial"/>
                <a:cs typeface="Arial"/>
              </a:rPr>
              <a:t>َ </a:t>
            </a:r>
            <a:r>
              <a:rPr dirty="0" baseline="1543" sz="2700" spc="-930">
                <a:latin typeface="Arial"/>
                <a:cs typeface="Arial"/>
              </a:rPr>
              <a:t>ت</a:t>
            </a:r>
            <a:r>
              <a:rPr dirty="0" baseline="9259" sz="2700" spc="-930">
                <a:latin typeface="Arial"/>
                <a:cs typeface="Arial"/>
              </a:rPr>
              <a:t>ُ</a:t>
            </a:r>
            <a:r>
              <a:rPr dirty="0" baseline="9259" sz="2700" spc="675">
                <a:latin typeface="Arial"/>
                <a:cs typeface="Arial"/>
              </a:rPr>
              <a:t> </a:t>
            </a:r>
            <a:r>
              <a:rPr dirty="0" baseline="1543" sz="2700" spc="-382">
                <a:latin typeface="Arial"/>
                <a:cs typeface="Arial"/>
              </a:rPr>
              <a:t>ق</a:t>
            </a:r>
            <a:r>
              <a:rPr dirty="0" baseline="6172" sz="2700" spc="-382">
                <a:latin typeface="Arial"/>
                <a:cs typeface="Arial"/>
              </a:rPr>
              <a:t>َّ </a:t>
            </a:r>
            <a:r>
              <a:rPr dirty="0" baseline="1543" sz="2700" spc="-592">
                <a:latin typeface="Arial"/>
                <a:cs typeface="Arial"/>
              </a:rPr>
              <a:t>ح</a:t>
            </a:r>
            <a:r>
              <a:rPr dirty="0" baseline="-1543" sz="2700" spc="-592">
                <a:latin typeface="Arial"/>
                <a:cs typeface="Arial"/>
              </a:rPr>
              <a:t>َ </a:t>
            </a:r>
            <a:r>
              <a:rPr dirty="0" baseline="1543" sz="2700" spc="-885">
                <a:latin typeface="Arial"/>
                <a:cs typeface="Arial"/>
              </a:rPr>
              <a:t>للَّ</a:t>
            </a:r>
            <a:r>
              <a:rPr dirty="0" baseline="-9259" sz="2700" spc="-885">
                <a:latin typeface="Arial"/>
                <a:cs typeface="Arial"/>
              </a:rPr>
              <a:t>َ</a:t>
            </a:r>
            <a:r>
              <a:rPr dirty="0" baseline="-9259" sz="2700" spc="-89">
                <a:latin typeface="Arial"/>
                <a:cs typeface="Arial"/>
              </a:rPr>
              <a:t> </a:t>
            </a:r>
            <a:r>
              <a:rPr dirty="0" baseline="13888" sz="2700">
                <a:latin typeface="Arial"/>
                <a:cs typeface="Arial"/>
              </a:rPr>
              <a:t>َّ </a:t>
            </a:r>
            <a:r>
              <a:rPr dirty="0" baseline="1543" sz="2700">
                <a:latin typeface="Arial"/>
                <a:cs typeface="Arial"/>
              </a:rPr>
              <a:t>ٱ </a:t>
            </a:r>
            <a:r>
              <a:rPr dirty="0" baseline="1543" sz="2700" spc="-262">
                <a:latin typeface="Arial"/>
                <a:cs typeface="Arial"/>
              </a:rPr>
              <a:t>ا</a:t>
            </a:r>
            <a:r>
              <a:rPr dirty="0" baseline="9259" sz="2700" spc="-262">
                <a:latin typeface="Arial"/>
                <a:cs typeface="Arial"/>
              </a:rPr>
              <a:t>ْ </a:t>
            </a:r>
            <a:r>
              <a:rPr dirty="0" baseline="1543" sz="2700" spc="-450">
                <a:latin typeface="Arial"/>
                <a:cs typeface="Arial"/>
              </a:rPr>
              <a:t>و</a:t>
            </a:r>
            <a:r>
              <a:rPr dirty="0" baseline="9259" sz="2700" spc="-450">
                <a:latin typeface="Arial"/>
                <a:cs typeface="Arial"/>
              </a:rPr>
              <a:t>ُ</a:t>
            </a:r>
            <a:r>
              <a:rPr dirty="0" baseline="1543" sz="2700" spc="-450">
                <a:latin typeface="Arial"/>
                <a:cs typeface="Arial"/>
              </a:rPr>
              <a:t>قت</a:t>
            </a:r>
            <a:r>
              <a:rPr dirty="0" baseline="9259" sz="2700" spc="-450">
                <a:latin typeface="Arial"/>
                <a:cs typeface="Arial"/>
              </a:rPr>
              <a:t>َّ </a:t>
            </a:r>
            <a:r>
              <a:rPr dirty="0" baseline="1543" sz="2700">
                <a:latin typeface="Arial"/>
                <a:cs typeface="Arial"/>
              </a:rPr>
              <a:t>ٱ </a:t>
            </a:r>
            <a:r>
              <a:rPr dirty="0" baseline="1543" sz="2700" spc="-262">
                <a:latin typeface="Arial"/>
                <a:cs typeface="Arial"/>
              </a:rPr>
              <a:t>ا</a:t>
            </a:r>
            <a:r>
              <a:rPr dirty="0" baseline="9259" sz="2700" spc="-262">
                <a:latin typeface="Arial"/>
                <a:cs typeface="Arial"/>
              </a:rPr>
              <a:t>ْ </a:t>
            </a:r>
            <a:r>
              <a:rPr dirty="0" baseline="1543" sz="2700" spc="-457">
                <a:latin typeface="Arial"/>
                <a:cs typeface="Arial"/>
              </a:rPr>
              <a:t>ون</a:t>
            </a:r>
            <a:r>
              <a:rPr dirty="0" baseline="9259" sz="2700" spc="-457">
                <a:latin typeface="Arial"/>
                <a:cs typeface="Arial"/>
              </a:rPr>
              <a:t>ُ </a:t>
            </a:r>
            <a:r>
              <a:rPr dirty="0" baseline="1543" sz="2700" spc="-367">
                <a:latin typeface="Arial"/>
                <a:cs typeface="Arial"/>
              </a:rPr>
              <a:t>م</a:t>
            </a:r>
            <a:r>
              <a:rPr dirty="0" baseline="-1543" sz="2700" spc="-367">
                <a:latin typeface="Arial"/>
                <a:cs typeface="Arial"/>
              </a:rPr>
              <a:t>َ </a:t>
            </a:r>
            <a:r>
              <a:rPr dirty="0" baseline="1543" sz="2700">
                <a:latin typeface="Arial"/>
                <a:cs typeface="Arial"/>
              </a:rPr>
              <a:t>آ </a:t>
            </a:r>
            <a:r>
              <a:rPr dirty="0" baseline="1543" sz="2700" spc="-494">
                <a:latin typeface="Arial"/>
                <a:cs typeface="Arial"/>
              </a:rPr>
              <a:t>ن</a:t>
            </a:r>
            <a:r>
              <a:rPr dirty="0" baseline="-1543" sz="2700" spc="-494">
                <a:latin typeface="Arial"/>
                <a:cs typeface="Arial"/>
              </a:rPr>
              <a:t>َ </a:t>
            </a:r>
            <a:r>
              <a:rPr dirty="0" baseline="1543" sz="2700" spc="-232">
                <a:latin typeface="Arial"/>
                <a:cs typeface="Arial"/>
              </a:rPr>
              <a:t>ٌذ</a:t>
            </a:r>
            <a:r>
              <a:rPr dirty="0" sz="1800" spc="-155">
                <a:latin typeface="Arial"/>
                <a:cs typeface="Arial"/>
              </a:rPr>
              <a:t>ِ </a:t>
            </a:r>
            <a:r>
              <a:rPr dirty="0" baseline="10802" sz="2700" spc="-209">
                <a:latin typeface="Arial"/>
                <a:cs typeface="Arial"/>
              </a:rPr>
              <a:t>َّ</a:t>
            </a:r>
            <a:r>
              <a:rPr dirty="0" baseline="1543" sz="2700" spc="-209">
                <a:latin typeface="Arial"/>
                <a:cs typeface="Arial"/>
              </a:rPr>
              <a:t>لٱ </a:t>
            </a:r>
            <a:r>
              <a:rPr dirty="0" baseline="1543" sz="2700" spc="-202">
                <a:latin typeface="Arial"/>
                <a:cs typeface="Arial"/>
              </a:rPr>
              <a:t>اه</a:t>
            </a:r>
            <a:r>
              <a:rPr dirty="0" baseline="-1543" sz="2700" spc="-202">
                <a:latin typeface="Arial"/>
                <a:cs typeface="Arial"/>
              </a:rPr>
              <a:t>َ </a:t>
            </a:r>
            <a:r>
              <a:rPr dirty="0" baseline="1543" sz="2700">
                <a:latin typeface="Arial"/>
                <a:cs typeface="Arial"/>
              </a:rPr>
              <a:t>ٌ</a:t>
            </a:r>
            <a:r>
              <a:rPr dirty="0" sz="1800">
                <a:latin typeface="Arial"/>
                <a:cs typeface="Arial"/>
              </a:rPr>
              <a:t>ُّ</a:t>
            </a:r>
            <a:r>
              <a:rPr dirty="0" sz="1800" spc="-275">
                <a:latin typeface="Arial"/>
                <a:cs typeface="Arial"/>
              </a:rPr>
              <a:t> </a:t>
            </a:r>
            <a:r>
              <a:rPr dirty="0" baseline="15432" sz="2700" spc="-187">
                <a:latin typeface="Arial"/>
                <a:cs typeface="Arial"/>
              </a:rPr>
              <a:t>َ</a:t>
            </a:r>
            <a:r>
              <a:rPr dirty="0" baseline="1543" sz="2700" spc="-187">
                <a:latin typeface="Arial"/>
                <a:cs typeface="Arial"/>
              </a:rPr>
              <a:t>ؤٌ</a:t>
            </a:r>
            <a:endParaRPr baseline="1543" sz="2700">
              <a:latin typeface="Arial"/>
              <a:cs typeface="Arial"/>
            </a:endParaRPr>
          </a:p>
          <a:p>
            <a:pPr marL="533400" marR="57785">
              <a:lnSpc>
                <a:spcPts val="1380"/>
              </a:lnSpc>
              <a:spcBef>
                <a:spcPts val="1380"/>
              </a:spcBef>
            </a:pPr>
            <a:r>
              <a:rPr dirty="0" sz="1200" b="1">
                <a:latin typeface="Arial"/>
                <a:cs typeface="Arial"/>
              </a:rPr>
              <a:t>“Oh </a:t>
            </a:r>
            <a:r>
              <a:rPr dirty="0" sz="1200" spc="-5" b="1">
                <a:latin typeface="Arial"/>
                <a:cs typeface="Arial"/>
              </a:rPr>
              <a:t>those </a:t>
            </a:r>
            <a:r>
              <a:rPr dirty="0" sz="1200" spc="5" b="1">
                <a:latin typeface="Arial"/>
                <a:cs typeface="Arial"/>
              </a:rPr>
              <a:t>who </a:t>
            </a:r>
            <a:r>
              <a:rPr dirty="0" sz="1200" spc="-5" b="1">
                <a:latin typeface="Arial"/>
                <a:cs typeface="Arial"/>
              </a:rPr>
              <a:t>believe! </a:t>
            </a:r>
            <a:r>
              <a:rPr dirty="0" sz="1200" b="1">
                <a:latin typeface="Arial"/>
                <a:cs typeface="Arial"/>
              </a:rPr>
              <a:t>Fear </a:t>
            </a:r>
            <a:r>
              <a:rPr dirty="0" sz="1200" spc="-10" b="1">
                <a:latin typeface="Arial"/>
                <a:cs typeface="Arial"/>
              </a:rPr>
              <a:t>Allah </a:t>
            </a:r>
            <a:r>
              <a:rPr dirty="0" sz="1200" spc="-5" b="1">
                <a:latin typeface="Arial"/>
                <a:cs typeface="Arial"/>
              </a:rPr>
              <a:t>as He </a:t>
            </a:r>
            <a:r>
              <a:rPr dirty="0" sz="1200" b="1">
                <a:latin typeface="Arial"/>
                <a:cs typeface="Arial"/>
              </a:rPr>
              <a:t>should </a:t>
            </a:r>
            <a:r>
              <a:rPr dirty="0" sz="1200" spc="-5" b="1">
                <a:latin typeface="Arial"/>
                <a:cs typeface="Arial"/>
              </a:rPr>
              <a:t>be feared and die </a:t>
            </a:r>
            <a:r>
              <a:rPr dirty="0" sz="1200" b="1">
                <a:latin typeface="Arial"/>
                <a:cs typeface="Arial"/>
              </a:rPr>
              <a:t>not </a:t>
            </a:r>
            <a:r>
              <a:rPr dirty="0" sz="1200" spc="-5" b="1">
                <a:latin typeface="Arial"/>
                <a:cs typeface="Arial"/>
              </a:rPr>
              <a:t>except </a:t>
            </a:r>
            <a:r>
              <a:rPr dirty="0" sz="1200" spc="-10" b="1">
                <a:latin typeface="Arial"/>
                <a:cs typeface="Arial"/>
              </a:rPr>
              <a:t>as  </a:t>
            </a:r>
            <a:r>
              <a:rPr dirty="0" sz="1200" b="1">
                <a:latin typeface="Arial"/>
                <a:cs typeface="Arial"/>
              </a:rPr>
              <a:t>Muslims”</a:t>
            </a:r>
            <a:endParaRPr sz="1200">
              <a:latin typeface="Arial"/>
              <a:cs typeface="Aria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2535" cy="881126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5715">
              <a:lnSpc>
                <a:spcPct val="95900"/>
              </a:lnSpc>
            </a:pPr>
            <a:r>
              <a:rPr dirty="0" sz="1200">
                <a:latin typeface="Arial"/>
                <a:cs typeface="Arial"/>
              </a:rPr>
              <a:t>This </a:t>
            </a:r>
            <a:r>
              <a:rPr dirty="0" sz="1200" spc="-5">
                <a:latin typeface="Arial"/>
                <a:cs typeface="Arial"/>
              </a:rPr>
              <a:t>is addressed to Muslims and Mu‘min. </a:t>
            </a:r>
            <a:r>
              <a:rPr dirty="0" sz="1200">
                <a:latin typeface="Arial"/>
                <a:cs typeface="Arial"/>
              </a:rPr>
              <a:t>It </a:t>
            </a:r>
            <a:r>
              <a:rPr dirty="0" sz="1200" spc="-5">
                <a:latin typeface="Arial"/>
                <a:cs typeface="Arial"/>
              </a:rPr>
              <a:t>is incumbent to </a:t>
            </a:r>
            <a:r>
              <a:rPr dirty="0" sz="1200">
                <a:latin typeface="Arial"/>
                <a:cs typeface="Arial"/>
              </a:rPr>
              <a:t>fear </a:t>
            </a:r>
            <a:r>
              <a:rPr dirty="0" sz="1200" spc="-5">
                <a:latin typeface="Arial"/>
                <a:cs typeface="Arial"/>
              </a:rPr>
              <a:t>Allah but </a:t>
            </a:r>
            <a:r>
              <a:rPr dirty="0" sz="1200">
                <a:latin typeface="Arial"/>
                <a:cs typeface="Arial"/>
              </a:rPr>
              <a:t>as </a:t>
            </a:r>
            <a:r>
              <a:rPr dirty="0" sz="1200" spc="-5">
                <a:latin typeface="Arial"/>
                <a:cs typeface="Arial"/>
              </a:rPr>
              <a:t>He </a:t>
            </a:r>
            <a:r>
              <a:rPr dirty="0" sz="1200">
                <a:latin typeface="Arial"/>
                <a:cs typeface="Arial"/>
              </a:rPr>
              <a:t>must be  </a:t>
            </a:r>
            <a:r>
              <a:rPr dirty="0" sz="1200" spc="-5">
                <a:latin typeface="Arial"/>
                <a:cs typeface="Arial"/>
              </a:rPr>
              <a:t>feared. How then to fear Allah? </a:t>
            </a:r>
            <a:r>
              <a:rPr dirty="0" sz="1200">
                <a:latin typeface="Arial"/>
                <a:cs typeface="Arial"/>
              </a:rPr>
              <a:t>It </a:t>
            </a:r>
            <a:r>
              <a:rPr dirty="0" sz="1200" spc="-5">
                <a:latin typeface="Arial"/>
                <a:cs typeface="Arial"/>
              </a:rPr>
              <a:t>is through the purification of the Heart, Rouh, </a:t>
            </a:r>
            <a:r>
              <a:rPr dirty="0" sz="1200">
                <a:latin typeface="Arial"/>
                <a:cs typeface="Arial"/>
              </a:rPr>
              <a:t>Nafs </a:t>
            </a:r>
            <a:r>
              <a:rPr dirty="0" sz="1200" spc="-5">
                <a:latin typeface="Arial"/>
                <a:cs typeface="Arial"/>
              </a:rPr>
              <a:t>and the  whole body through sincere Ibaadah. </a:t>
            </a:r>
            <a:r>
              <a:rPr dirty="0" sz="1200">
                <a:latin typeface="Arial"/>
                <a:cs typeface="Arial"/>
              </a:rPr>
              <a:t>The </a:t>
            </a:r>
            <a:r>
              <a:rPr dirty="0" sz="1200" spc="-5">
                <a:latin typeface="Arial"/>
                <a:cs typeface="Arial"/>
              </a:rPr>
              <a:t>way </a:t>
            </a:r>
            <a:r>
              <a:rPr dirty="0" sz="1200">
                <a:latin typeface="Arial"/>
                <a:cs typeface="Arial"/>
              </a:rPr>
              <a:t>of </a:t>
            </a:r>
            <a:r>
              <a:rPr dirty="0" sz="1200" spc="-5">
                <a:latin typeface="Arial"/>
                <a:cs typeface="Arial"/>
              </a:rPr>
              <a:t>the </a:t>
            </a:r>
            <a:r>
              <a:rPr dirty="0" sz="1200">
                <a:latin typeface="Arial"/>
                <a:cs typeface="Arial"/>
              </a:rPr>
              <a:t>Sufis </a:t>
            </a:r>
            <a:r>
              <a:rPr dirty="0" sz="1200" spc="-5">
                <a:latin typeface="Arial"/>
                <a:cs typeface="Arial"/>
              </a:rPr>
              <a:t>is the way </a:t>
            </a:r>
            <a:r>
              <a:rPr dirty="0" sz="1200">
                <a:latin typeface="Arial"/>
                <a:cs typeface="Arial"/>
              </a:rPr>
              <a:t>of </a:t>
            </a:r>
            <a:r>
              <a:rPr dirty="0" sz="1200" spc="-5">
                <a:latin typeface="Arial"/>
                <a:cs typeface="Arial"/>
              </a:rPr>
              <a:t>the Holy Prophet  (s.a.w), Ashab (r.a), Tabi‘in and Tab‘atut Tabi‘in. </a:t>
            </a:r>
            <a:r>
              <a:rPr dirty="0" sz="1200">
                <a:latin typeface="Arial"/>
                <a:cs typeface="Arial"/>
              </a:rPr>
              <a:t>It </a:t>
            </a:r>
            <a:r>
              <a:rPr dirty="0" sz="1200" spc="-5">
                <a:latin typeface="Arial"/>
                <a:cs typeface="Arial"/>
              </a:rPr>
              <a:t>is </a:t>
            </a:r>
            <a:r>
              <a:rPr dirty="0" sz="1200">
                <a:latin typeface="Arial"/>
                <a:cs typeface="Arial"/>
              </a:rPr>
              <a:t>the sincere </a:t>
            </a:r>
            <a:r>
              <a:rPr dirty="0" sz="1200" spc="-5">
                <a:latin typeface="Arial"/>
                <a:cs typeface="Arial"/>
              </a:rPr>
              <a:t>and devoted every day </a:t>
            </a:r>
            <a:r>
              <a:rPr dirty="0" sz="1200" spc="-15">
                <a:latin typeface="Arial"/>
                <a:cs typeface="Arial"/>
              </a:rPr>
              <a:t>and  </a:t>
            </a:r>
            <a:r>
              <a:rPr dirty="0" sz="1200" spc="-5">
                <a:latin typeface="Arial"/>
                <a:cs typeface="Arial"/>
              </a:rPr>
              <a:t>every </a:t>
            </a:r>
            <a:r>
              <a:rPr dirty="0" sz="1200">
                <a:latin typeface="Arial"/>
                <a:cs typeface="Arial"/>
              </a:rPr>
              <a:t>time </a:t>
            </a:r>
            <a:r>
              <a:rPr dirty="0" sz="1200" spc="-5">
                <a:latin typeface="Arial"/>
                <a:cs typeface="Arial"/>
              </a:rPr>
              <a:t>practice of </a:t>
            </a:r>
            <a:r>
              <a:rPr dirty="0" sz="1200">
                <a:latin typeface="Arial"/>
                <a:cs typeface="Arial"/>
              </a:rPr>
              <a:t>the </a:t>
            </a:r>
            <a:r>
              <a:rPr dirty="0" sz="1200" spc="-5">
                <a:latin typeface="Arial"/>
                <a:cs typeface="Arial"/>
              </a:rPr>
              <a:t>Law </a:t>
            </a:r>
            <a:r>
              <a:rPr dirty="0" sz="1200">
                <a:latin typeface="Arial"/>
                <a:cs typeface="Arial"/>
              </a:rPr>
              <a:t>of </a:t>
            </a:r>
            <a:r>
              <a:rPr dirty="0" sz="1200" spc="-5">
                <a:latin typeface="Arial"/>
                <a:cs typeface="Arial"/>
              </a:rPr>
              <a:t>Allah </a:t>
            </a:r>
            <a:r>
              <a:rPr dirty="0" sz="1200">
                <a:latin typeface="Arial"/>
                <a:cs typeface="Arial"/>
              </a:rPr>
              <a:t>– </a:t>
            </a:r>
            <a:r>
              <a:rPr dirty="0" sz="1200" spc="-5">
                <a:latin typeface="Arial"/>
                <a:cs typeface="Arial"/>
              </a:rPr>
              <a:t>the Shari‘ah. It is done out of </a:t>
            </a:r>
            <a:r>
              <a:rPr dirty="0" sz="1200">
                <a:latin typeface="Arial"/>
                <a:cs typeface="Arial"/>
              </a:rPr>
              <a:t>love for </a:t>
            </a:r>
            <a:r>
              <a:rPr dirty="0" sz="1200" spc="-5">
                <a:latin typeface="Arial"/>
                <a:cs typeface="Arial"/>
              </a:rPr>
              <a:t>Allah, not </a:t>
            </a:r>
            <a:r>
              <a:rPr dirty="0" sz="1200">
                <a:latin typeface="Arial"/>
                <a:cs typeface="Arial"/>
              </a:rPr>
              <a:t>for  </a:t>
            </a:r>
            <a:r>
              <a:rPr dirty="0" sz="1200" spc="-5">
                <a:latin typeface="Arial"/>
                <a:cs typeface="Arial"/>
              </a:rPr>
              <a:t>Jannah </a:t>
            </a:r>
            <a:r>
              <a:rPr dirty="0" sz="1200">
                <a:latin typeface="Arial"/>
                <a:cs typeface="Arial"/>
              </a:rPr>
              <a:t>as </a:t>
            </a:r>
            <a:r>
              <a:rPr dirty="0" sz="1200" spc="-5">
                <a:latin typeface="Arial"/>
                <a:cs typeface="Arial"/>
              </a:rPr>
              <a:t>reward </a:t>
            </a:r>
            <a:r>
              <a:rPr dirty="0" sz="1200">
                <a:latin typeface="Arial"/>
                <a:cs typeface="Arial"/>
              </a:rPr>
              <a:t>and </a:t>
            </a:r>
            <a:r>
              <a:rPr dirty="0" sz="1200" spc="-5">
                <a:latin typeface="Arial"/>
                <a:cs typeface="Arial"/>
              </a:rPr>
              <a:t>protection from</a:t>
            </a:r>
            <a:r>
              <a:rPr dirty="0" sz="1200" spc="-25">
                <a:latin typeface="Arial"/>
                <a:cs typeface="Arial"/>
              </a:rPr>
              <a:t> </a:t>
            </a:r>
            <a:r>
              <a:rPr dirty="0" sz="1200" spc="-5">
                <a:latin typeface="Arial"/>
                <a:cs typeface="Arial"/>
              </a:rPr>
              <a:t>Jahannam.</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sz="1200">
                <a:latin typeface="Arial"/>
                <a:cs typeface="Arial"/>
              </a:rPr>
              <a:t>Ibn </a:t>
            </a:r>
            <a:r>
              <a:rPr dirty="0" sz="1200" spc="-5">
                <a:latin typeface="Arial"/>
                <a:cs typeface="Arial"/>
              </a:rPr>
              <a:t>Khaldun said,</a:t>
            </a:r>
            <a:endParaRPr sz="1200">
              <a:latin typeface="Arial"/>
              <a:cs typeface="Arial"/>
            </a:endParaRPr>
          </a:p>
          <a:p>
            <a:pPr>
              <a:lnSpc>
                <a:spcPct val="100000"/>
              </a:lnSpc>
              <a:spcBef>
                <a:spcPts val="5"/>
              </a:spcBef>
            </a:pPr>
            <a:endParaRPr sz="1200">
              <a:latin typeface="Arial"/>
              <a:cs typeface="Arial"/>
            </a:endParaRPr>
          </a:p>
          <a:p>
            <a:pPr algn="just" marL="12700" marR="5080">
              <a:lnSpc>
                <a:spcPct val="95400"/>
              </a:lnSpc>
            </a:pPr>
            <a:r>
              <a:rPr dirty="0" sz="1200" b="1">
                <a:latin typeface="Arial"/>
                <a:cs typeface="Arial"/>
              </a:rPr>
              <a:t>“The way of </a:t>
            </a:r>
            <a:r>
              <a:rPr dirty="0" sz="1200" spc="-5" b="1">
                <a:latin typeface="Arial"/>
                <a:cs typeface="Arial"/>
              </a:rPr>
              <a:t>the Sufis </a:t>
            </a:r>
            <a:r>
              <a:rPr dirty="0" sz="1200" b="1">
                <a:latin typeface="Arial"/>
                <a:cs typeface="Arial"/>
              </a:rPr>
              <a:t>is </a:t>
            </a:r>
            <a:r>
              <a:rPr dirty="0" sz="1200" spc="-5" b="1">
                <a:latin typeface="Arial"/>
                <a:cs typeface="Arial"/>
              </a:rPr>
              <a:t>the </a:t>
            </a:r>
            <a:r>
              <a:rPr dirty="0" sz="1200" spc="5" b="1">
                <a:latin typeface="Arial"/>
                <a:cs typeface="Arial"/>
              </a:rPr>
              <a:t>way </a:t>
            </a:r>
            <a:r>
              <a:rPr dirty="0" sz="1200" b="1">
                <a:latin typeface="Arial"/>
                <a:cs typeface="Arial"/>
              </a:rPr>
              <a:t>of </a:t>
            </a:r>
            <a:r>
              <a:rPr dirty="0" sz="1200" spc="-5" b="1">
                <a:latin typeface="Arial"/>
                <a:cs typeface="Arial"/>
              </a:rPr>
              <a:t>the Salaf, the Scholars among the Sahaba, </a:t>
            </a:r>
            <a:r>
              <a:rPr dirty="0" sz="1200" spc="5" b="1">
                <a:latin typeface="Arial"/>
                <a:cs typeface="Arial"/>
              </a:rPr>
              <a:t>Tabi'in, </a:t>
            </a:r>
            <a:r>
              <a:rPr dirty="0" sz="1200" spc="340" b="1">
                <a:latin typeface="Arial"/>
                <a:cs typeface="Arial"/>
              </a:rPr>
              <a:t> </a:t>
            </a:r>
            <a:r>
              <a:rPr dirty="0" sz="1200" spc="-5" b="1">
                <a:latin typeface="Arial"/>
                <a:cs typeface="Arial"/>
              </a:rPr>
              <a:t>and </a:t>
            </a:r>
            <a:r>
              <a:rPr dirty="0" sz="1200" b="1">
                <a:latin typeface="Arial"/>
                <a:cs typeface="Arial"/>
              </a:rPr>
              <a:t>Tab'ut Tabii'een. </a:t>
            </a:r>
            <a:r>
              <a:rPr dirty="0" sz="1200" spc="-5" b="1">
                <a:latin typeface="Arial"/>
                <a:cs typeface="Arial"/>
              </a:rPr>
              <a:t>Its </a:t>
            </a:r>
            <a:r>
              <a:rPr dirty="0" sz="1200" b="1">
                <a:latin typeface="Arial"/>
                <a:cs typeface="Arial"/>
              </a:rPr>
              <a:t>origin </a:t>
            </a:r>
            <a:r>
              <a:rPr dirty="0" sz="1200" spc="-10" b="1">
                <a:latin typeface="Arial"/>
                <a:cs typeface="Arial"/>
              </a:rPr>
              <a:t>is </a:t>
            </a:r>
            <a:r>
              <a:rPr dirty="0" sz="1200" b="1">
                <a:latin typeface="Arial"/>
                <a:cs typeface="Arial"/>
              </a:rPr>
              <a:t>to </a:t>
            </a:r>
            <a:r>
              <a:rPr dirty="0" sz="1200" spc="-5" b="1">
                <a:latin typeface="Arial"/>
                <a:cs typeface="Arial"/>
              </a:rPr>
              <a:t>worship </a:t>
            </a:r>
            <a:r>
              <a:rPr dirty="0" sz="1200" spc="-10" b="1">
                <a:latin typeface="Arial"/>
                <a:cs typeface="Arial"/>
              </a:rPr>
              <a:t>Allah </a:t>
            </a:r>
            <a:r>
              <a:rPr dirty="0" sz="1200" spc="-5" b="1">
                <a:latin typeface="Arial"/>
                <a:cs typeface="Arial"/>
              </a:rPr>
              <a:t>and </a:t>
            </a:r>
            <a:r>
              <a:rPr dirty="0" sz="1200" b="1">
                <a:latin typeface="Arial"/>
                <a:cs typeface="Arial"/>
              </a:rPr>
              <a:t>to </a:t>
            </a:r>
            <a:r>
              <a:rPr dirty="0" sz="1200" spc="-5" b="1">
                <a:latin typeface="Arial"/>
                <a:cs typeface="Arial"/>
              </a:rPr>
              <a:t>leave the ornaments </a:t>
            </a:r>
            <a:r>
              <a:rPr dirty="0" sz="1200" b="1">
                <a:latin typeface="Arial"/>
                <a:cs typeface="Arial"/>
              </a:rPr>
              <a:t>of </a:t>
            </a:r>
            <a:r>
              <a:rPr dirty="0" sz="1200" spc="-5" b="1">
                <a:latin typeface="Arial"/>
                <a:cs typeface="Arial"/>
              </a:rPr>
              <a:t>this  </a:t>
            </a:r>
            <a:r>
              <a:rPr dirty="0" sz="1200" b="1">
                <a:latin typeface="Arial"/>
                <a:cs typeface="Arial"/>
              </a:rPr>
              <a:t>world and its </a:t>
            </a:r>
            <a:r>
              <a:rPr dirty="0" sz="1200" spc="-5" b="1">
                <a:latin typeface="Arial"/>
                <a:cs typeface="Arial"/>
              </a:rPr>
              <a:t>pleasures.” </a:t>
            </a:r>
            <a:r>
              <a:rPr dirty="0" sz="1200" spc="-5">
                <a:latin typeface="Arial"/>
                <a:cs typeface="Arial"/>
              </a:rPr>
              <a:t>(</a:t>
            </a:r>
            <a:r>
              <a:rPr dirty="0" sz="1200" spc="-5" i="1">
                <a:latin typeface="Arial"/>
                <a:cs typeface="Arial"/>
              </a:rPr>
              <a:t>Muqaddimat ibn Khaldun</a:t>
            </a:r>
            <a:r>
              <a:rPr dirty="0" sz="1200" spc="-5">
                <a:latin typeface="Arial"/>
                <a:cs typeface="Arial"/>
              </a:rPr>
              <a:t>, </a:t>
            </a:r>
            <a:r>
              <a:rPr dirty="0" sz="1200">
                <a:latin typeface="Arial"/>
                <a:cs typeface="Arial"/>
              </a:rPr>
              <a:t>p.</a:t>
            </a:r>
            <a:r>
              <a:rPr dirty="0" sz="1200" spc="-5">
                <a:latin typeface="Arial"/>
                <a:cs typeface="Arial"/>
              </a:rPr>
              <a:t> 328)</a:t>
            </a:r>
            <a:endParaRPr sz="1200">
              <a:latin typeface="Arial"/>
              <a:cs typeface="Arial"/>
            </a:endParaRPr>
          </a:p>
          <a:p>
            <a:pPr>
              <a:lnSpc>
                <a:spcPct val="100000"/>
              </a:lnSpc>
              <a:spcBef>
                <a:spcPts val="10"/>
              </a:spcBef>
            </a:pPr>
            <a:endParaRPr sz="1150">
              <a:latin typeface="Arial"/>
              <a:cs typeface="Arial"/>
            </a:endParaRPr>
          </a:p>
          <a:p>
            <a:pPr marL="55244">
              <a:lnSpc>
                <a:spcPct val="100000"/>
              </a:lnSpc>
            </a:pPr>
            <a:r>
              <a:rPr dirty="0" sz="1200" spc="-5">
                <a:latin typeface="Arial"/>
                <a:cs typeface="Arial"/>
              </a:rPr>
              <a:t>(Shaykh al-Azhar), </a:t>
            </a:r>
            <a:r>
              <a:rPr dirty="0" sz="1200">
                <a:latin typeface="Arial"/>
                <a:cs typeface="Arial"/>
              </a:rPr>
              <a:t>Imam </a:t>
            </a:r>
            <a:r>
              <a:rPr dirty="0" sz="1200" spc="-105">
                <a:latin typeface="Arial"/>
                <a:cs typeface="Arial"/>
              </a:rPr>
              <a:t>‗Abd </a:t>
            </a:r>
            <a:r>
              <a:rPr dirty="0" sz="1200" spc="-5">
                <a:latin typeface="Arial"/>
                <a:cs typeface="Arial"/>
              </a:rPr>
              <a:t>al-Halim Mahmud</a:t>
            </a:r>
            <a:r>
              <a:rPr dirty="0" sz="1200" spc="-110">
                <a:latin typeface="Arial"/>
                <a:cs typeface="Arial"/>
              </a:rPr>
              <a:t> </a:t>
            </a:r>
            <a:r>
              <a:rPr dirty="0" sz="1200">
                <a:latin typeface="Arial"/>
                <a:cs typeface="Arial"/>
              </a:rPr>
              <a:t>said:</a:t>
            </a:r>
            <a:endParaRPr sz="1200">
              <a:latin typeface="Arial"/>
              <a:cs typeface="Arial"/>
            </a:endParaRPr>
          </a:p>
          <a:p>
            <a:pPr>
              <a:lnSpc>
                <a:spcPct val="100000"/>
              </a:lnSpc>
              <a:spcBef>
                <a:spcPts val="40"/>
              </a:spcBef>
            </a:pPr>
            <a:endParaRPr sz="1200">
              <a:latin typeface="Arial"/>
              <a:cs typeface="Arial"/>
            </a:endParaRPr>
          </a:p>
          <a:p>
            <a:pPr algn="just" marL="12700" marR="5715">
              <a:lnSpc>
                <a:spcPts val="1380"/>
              </a:lnSpc>
            </a:pPr>
            <a:r>
              <a:rPr dirty="0" sz="1200" b="1">
                <a:latin typeface="Arial"/>
                <a:cs typeface="Arial"/>
              </a:rPr>
              <a:t>“The </a:t>
            </a:r>
            <a:r>
              <a:rPr dirty="0" sz="1200" spc="-5" b="1">
                <a:latin typeface="Arial"/>
                <a:cs typeface="Arial"/>
              </a:rPr>
              <a:t>Sufi is both </a:t>
            </a:r>
            <a:r>
              <a:rPr dirty="0" sz="1200" b="1">
                <a:latin typeface="Arial"/>
                <a:cs typeface="Arial"/>
              </a:rPr>
              <a:t>an </a:t>
            </a:r>
            <a:r>
              <a:rPr dirty="0" sz="1200" spc="-5" b="1">
                <a:latin typeface="Arial"/>
                <a:cs typeface="Arial"/>
              </a:rPr>
              <a:t>ascetic </a:t>
            </a:r>
            <a:r>
              <a:rPr dirty="0" sz="1200" b="1">
                <a:latin typeface="Arial"/>
                <a:cs typeface="Arial"/>
              </a:rPr>
              <a:t>and a </a:t>
            </a:r>
            <a:r>
              <a:rPr dirty="0" sz="1200" spc="-5" b="1">
                <a:latin typeface="Arial"/>
                <a:cs typeface="Arial"/>
              </a:rPr>
              <a:t>worshipper. </a:t>
            </a:r>
            <a:r>
              <a:rPr dirty="0" sz="1200" b="1">
                <a:latin typeface="Arial"/>
                <a:cs typeface="Arial"/>
              </a:rPr>
              <a:t>Thus </a:t>
            </a:r>
            <a:r>
              <a:rPr dirty="0" sz="1200" spc="-5" b="1">
                <a:latin typeface="Arial"/>
                <a:cs typeface="Arial"/>
              </a:rPr>
              <a:t>the Sufi abstains from the </a:t>
            </a:r>
            <a:r>
              <a:rPr dirty="0" sz="1200" b="1">
                <a:latin typeface="Arial"/>
                <a:cs typeface="Arial"/>
              </a:rPr>
              <a:t>world,  </a:t>
            </a:r>
            <a:r>
              <a:rPr dirty="0" sz="1200" spc="-5" b="1">
                <a:latin typeface="Arial"/>
                <a:cs typeface="Arial"/>
              </a:rPr>
              <a:t>since he is </a:t>
            </a:r>
            <a:r>
              <a:rPr dirty="0" sz="1200" spc="-10" b="1">
                <a:latin typeface="Arial"/>
                <a:cs typeface="Arial"/>
              </a:rPr>
              <a:t>beyond </a:t>
            </a:r>
            <a:r>
              <a:rPr dirty="0" sz="1200" b="1">
                <a:latin typeface="Arial"/>
                <a:cs typeface="Arial"/>
              </a:rPr>
              <a:t>the point where </a:t>
            </a:r>
            <a:r>
              <a:rPr dirty="0" sz="1200" spc="-5" b="1">
                <a:latin typeface="Arial"/>
                <a:cs typeface="Arial"/>
              </a:rPr>
              <a:t>nothing can </a:t>
            </a:r>
            <a:r>
              <a:rPr dirty="0" sz="1200" b="1">
                <a:latin typeface="Arial"/>
                <a:cs typeface="Arial"/>
              </a:rPr>
              <a:t>distract him </a:t>
            </a:r>
            <a:r>
              <a:rPr dirty="0" sz="1200" spc="-5" b="1">
                <a:latin typeface="Arial"/>
                <a:cs typeface="Arial"/>
              </a:rPr>
              <a:t>from </a:t>
            </a:r>
            <a:r>
              <a:rPr dirty="0" sz="1200" b="1">
                <a:latin typeface="Arial"/>
                <a:cs typeface="Arial"/>
              </a:rPr>
              <a:t>God. </a:t>
            </a:r>
            <a:r>
              <a:rPr dirty="0" sz="1200" spc="-10" b="1">
                <a:latin typeface="Arial"/>
                <a:cs typeface="Arial"/>
              </a:rPr>
              <a:t>Also, </a:t>
            </a:r>
            <a:r>
              <a:rPr dirty="0" sz="1200" spc="-5" b="1">
                <a:latin typeface="Arial"/>
                <a:cs typeface="Arial"/>
              </a:rPr>
              <a:t>the Sufi  is a worshipper because </a:t>
            </a:r>
            <a:r>
              <a:rPr dirty="0" sz="1200" b="1">
                <a:latin typeface="Arial"/>
                <a:cs typeface="Arial"/>
              </a:rPr>
              <a:t>of </a:t>
            </a:r>
            <a:r>
              <a:rPr dirty="0" sz="1200" spc="-5" b="1">
                <a:latin typeface="Arial"/>
                <a:cs typeface="Arial"/>
              </a:rPr>
              <a:t>his </a:t>
            </a:r>
            <a:r>
              <a:rPr dirty="0" sz="1200" b="1">
                <a:latin typeface="Arial"/>
                <a:cs typeface="Arial"/>
              </a:rPr>
              <a:t>constancy </a:t>
            </a:r>
            <a:r>
              <a:rPr dirty="0" sz="1200" spc="5" b="1">
                <a:latin typeface="Arial"/>
                <a:cs typeface="Arial"/>
              </a:rPr>
              <a:t>with </a:t>
            </a:r>
            <a:r>
              <a:rPr dirty="0" sz="1200" b="1">
                <a:latin typeface="Arial"/>
                <a:cs typeface="Arial"/>
              </a:rPr>
              <a:t>God </a:t>
            </a:r>
            <a:r>
              <a:rPr dirty="0" sz="1200" spc="-5" b="1">
                <a:latin typeface="Arial"/>
                <a:cs typeface="Arial"/>
              </a:rPr>
              <a:t>and </a:t>
            </a:r>
            <a:r>
              <a:rPr dirty="0" sz="1200" spc="-10" b="1">
                <a:latin typeface="Arial"/>
                <a:cs typeface="Arial"/>
              </a:rPr>
              <a:t>his </a:t>
            </a:r>
            <a:r>
              <a:rPr dirty="0" sz="1200" spc="-5" b="1">
                <a:latin typeface="Arial"/>
                <a:cs typeface="Arial"/>
              </a:rPr>
              <a:t>link </a:t>
            </a:r>
            <a:r>
              <a:rPr dirty="0" sz="1200" b="1">
                <a:latin typeface="Arial"/>
                <a:cs typeface="Arial"/>
              </a:rPr>
              <a:t>with God </a:t>
            </a:r>
            <a:r>
              <a:rPr dirty="0" sz="1200" spc="10" b="1">
                <a:latin typeface="Arial"/>
                <a:cs typeface="Arial"/>
              </a:rPr>
              <a:t>(May </a:t>
            </a:r>
            <a:r>
              <a:rPr dirty="0" sz="1200" spc="-5" b="1">
                <a:latin typeface="Arial"/>
                <a:cs typeface="Arial"/>
              </a:rPr>
              <a:t>He be  exalted). He worships </a:t>
            </a:r>
            <a:r>
              <a:rPr dirty="0" sz="1200" b="1">
                <a:latin typeface="Arial"/>
                <a:cs typeface="Arial"/>
              </a:rPr>
              <a:t>God </a:t>
            </a:r>
            <a:r>
              <a:rPr dirty="0" sz="1200" spc="-5" b="1">
                <a:latin typeface="Arial"/>
                <a:cs typeface="Arial"/>
              </a:rPr>
              <a:t>because </a:t>
            </a:r>
            <a:r>
              <a:rPr dirty="0" sz="1200" b="1">
                <a:latin typeface="Arial"/>
                <a:cs typeface="Arial"/>
              </a:rPr>
              <a:t>God </a:t>
            </a:r>
            <a:r>
              <a:rPr dirty="0" sz="1200" spc="-5" b="1">
                <a:latin typeface="Arial"/>
                <a:cs typeface="Arial"/>
              </a:rPr>
              <a:t>is suitable for worshipping, </a:t>
            </a:r>
            <a:r>
              <a:rPr dirty="0" sz="1200" b="1">
                <a:latin typeface="Arial"/>
                <a:cs typeface="Arial"/>
              </a:rPr>
              <a:t>not out of desire  or </a:t>
            </a:r>
            <a:r>
              <a:rPr dirty="0" sz="1200" spc="-5" b="1">
                <a:latin typeface="Arial"/>
                <a:cs typeface="Arial"/>
              </a:rPr>
              <a:t>fear.” </a:t>
            </a:r>
            <a:r>
              <a:rPr dirty="0" sz="1200" spc="-5">
                <a:latin typeface="Arial"/>
                <a:cs typeface="Arial"/>
              </a:rPr>
              <a:t>(From the Fatawa of Imam </a:t>
            </a:r>
            <a:r>
              <a:rPr dirty="0" sz="1200" spc="-105">
                <a:latin typeface="Arial"/>
                <a:cs typeface="Arial"/>
              </a:rPr>
              <a:t>‗Abd </a:t>
            </a:r>
            <a:r>
              <a:rPr dirty="0" sz="1200" spc="-5">
                <a:latin typeface="Arial"/>
                <a:cs typeface="Arial"/>
              </a:rPr>
              <a:t>al-Halim Mahmud, p. </a:t>
            </a:r>
            <a:r>
              <a:rPr dirty="0" sz="1200" spc="-10">
                <a:latin typeface="Arial"/>
                <a:cs typeface="Arial"/>
              </a:rPr>
              <a:t>334,</a:t>
            </a:r>
            <a:r>
              <a:rPr dirty="0" sz="1200" spc="-25">
                <a:latin typeface="Arial"/>
                <a:cs typeface="Arial"/>
              </a:rPr>
              <a:t> </a:t>
            </a:r>
            <a:r>
              <a:rPr dirty="0" sz="1200" spc="-5">
                <a:latin typeface="Arial"/>
                <a:cs typeface="Arial"/>
              </a:rPr>
              <a:t>38)</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Early Stage </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Ashab Period </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Developed 4</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disciplines</a:t>
            </a:r>
            <a:endParaRPr sz="1200">
              <a:latin typeface="Arial"/>
              <a:cs typeface="Arial"/>
            </a:endParaRPr>
          </a:p>
          <a:p>
            <a:pPr>
              <a:lnSpc>
                <a:spcPct val="100000"/>
              </a:lnSpc>
              <a:spcBef>
                <a:spcPts val="35"/>
              </a:spcBef>
            </a:pPr>
            <a:endParaRPr sz="1200">
              <a:latin typeface="Arial"/>
              <a:cs typeface="Arial"/>
            </a:endParaRPr>
          </a:p>
          <a:p>
            <a:pPr marL="469900" marR="11430" indent="-229235">
              <a:lnSpc>
                <a:spcPts val="1380"/>
              </a:lnSpc>
              <a:buFont typeface="Wingdings"/>
              <a:buChar char=""/>
              <a:tabLst>
                <a:tab pos="414020" algn="l"/>
              </a:tabLst>
            </a:pPr>
            <a:r>
              <a:rPr dirty="0" u="heavy" sz="1200" spc="-5" b="1">
                <a:uFill>
                  <a:solidFill>
                    <a:srgbClr val="000000"/>
                  </a:solidFill>
                </a:uFill>
                <a:latin typeface="Arial"/>
                <a:cs typeface="Arial"/>
              </a:rPr>
              <a:t>Ihsan</a:t>
            </a:r>
            <a:r>
              <a:rPr dirty="0" sz="1200" spc="-5" b="1">
                <a:latin typeface="Arial"/>
                <a:cs typeface="Arial"/>
              </a:rPr>
              <a:t> </a:t>
            </a:r>
            <a:r>
              <a:rPr dirty="0" sz="1200" spc="-5">
                <a:latin typeface="Arial"/>
                <a:cs typeface="Arial"/>
              </a:rPr>
              <a:t>(State of Perfection </a:t>
            </a:r>
            <a:r>
              <a:rPr dirty="0" sz="1200">
                <a:latin typeface="Arial"/>
                <a:cs typeface="Arial"/>
              </a:rPr>
              <a:t>– </a:t>
            </a:r>
            <a:r>
              <a:rPr dirty="0" sz="1200" spc="-5">
                <a:latin typeface="Arial"/>
                <a:cs typeface="Arial"/>
              </a:rPr>
              <a:t>to perfect each of their </a:t>
            </a:r>
            <a:r>
              <a:rPr dirty="0" sz="1200">
                <a:latin typeface="Arial"/>
                <a:cs typeface="Arial"/>
              </a:rPr>
              <a:t>acts, </a:t>
            </a:r>
            <a:r>
              <a:rPr dirty="0" sz="1200" spc="-5">
                <a:latin typeface="Arial"/>
                <a:cs typeface="Arial"/>
              </a:rPr>
              <a:t>sayings and intentions of  ibaadah)</a:t>
            </a:r>
            <a:endParaRPr sz="1200">
              <a:latin typeface="Arial"/>
              <a:cs typeface="Arial"/>
            </a:endParaRPr>
          </a:p>
          <a:p>
            <a:pPr marL="413384" indent="-172720">
              <a:lnSpc>
                <a:spcPts val="1315"/>
              </a:lnSpc>
              <a:buFont typeface="Wingdings"/>
              <a:buChar char=""/>
              <a:tabLst>
                <a:tab pos="414020" algn="l"/>
              </a:tabLst>
            </a:pPr>
            <a:r>
              <a:rPr dirty="0" u="heavy" sz="1200" spc="-5" b="1">
                <a:uFill>
                  <a:solidFill>
                    <a:srgbClr val="000000"/>
                  </a:solidFill>
                </a:uFill>
                <a:latin typeface="Arial"/>
                <a:cs typeface="Arial"/>
              </a:rPr>
              <a:t>Zuhd</a:t>
            </a:r>
            <a:r>
              <a:rPr dirty="0" sz="1200" spc="-5" b="1">
                <a:latin typeface="Arial"/>
                <a:cs typeface="Arial"/>
              </a:rPr>
              <a:t> </a:t>
            </a:r>
            <a:r>
              <a:rPr dirty="0" sz="1200">
                <a:latin typeface="Arial"/>
                <a:cs typeface="Arial"/>
              </a:rPr>
              <a:t>(State </a:t>
            </a:r>
            <a:r>
              <a:rPr dirty="0" sz="1200" spc="-5">
                <a:latin typeface="Arial"/>
                <a:cs typeface="Arial"/>
              </a:rPr>
              <a:t>of Austerity </a:t>
            </a:r>
            <a:r>
              <a:rPr dirty="0" sz="1200">
                <a:latin typeface="Arial"/>
                <a:cs typeface="Arial"/>
              </a:rPr>
              <a:t>– strictness </a:t>
            </a:r>
            <a:r>
              <a:rPr dirty="0" sz="1200" spc="-5">
                <a:latin typeface="Arial"/>
                <a:cs typeface="Arial"/>
              </a:rPr>
              <a:t>in their ibaadah </a:t>
            </a:r>
            <a:r>
              <a:rPr dirty="0" sz="1200">
                <a:latin typeface="Arial"/>
                <a:cs typeface="Arial"/>
              </a:rPr>
              <a:t>– </a:t>
            </a:r>
            <a:r>
              <a:rPr dirty="0" sz="1200" spc="-5">
                <a:latin typeface="Arial"/>
                <a:cs typeface="Arial"/>
              </a:rPr>
              <a:t>no influence of</a:t>
            </a:r>
            <a:r>
              <a:rPr dirty="0" sz="1200" spc="50">
                <a:latin typeface="Arial"/>
                <a:cs typeface="Arial"/>
              </a:rPr>
              <a:t> </a:t>
            </a:r>
            <a:r>
              <a:rPr dirty="0" sz="1200" spc="-5">
                <a:latin typeface="Arial"/>
                <a:cs typeface="Arial"/>
              </a:rPr>
              <a:t>Shaitaan)</a:t>
            </a:r>
            <a:endParaRPr sz="1200">
              <a:latin typeface="Arial"/>
              <a:cs typeface="Arial"/>
            </a:endParaRPr>
          </a:p>
          <a:p>
            <a:pPr marL="469900" marR="10160" indent="-229235">
              <a:lnSpc>
                <a:spcPts val="1380"/>
              </a:lnSpc>
              <a:spcBef>
                <a:spcPts val="65"/>
              </a:spcBef>
              <a:buFont typeface="Wingdings"/>
              <a:buChar char=""/>
              <a:tabLst>
                <a:tab pos="414020" algn="l"/>
              </a:tabLst>
            </a:pPr>
            <a:r>
              <a:rPr dirty="0" u="heavy" sz="1200" spc="-300">
                <a:uFill>
                  <a:solidFill>
                    <a:srgbClr val="000000"/>
                  </a:solidFill>
                </a:uFill>
                <a:latin typeface="Times New Roman"/>
                <a:cs typeface="Times New Roman"/>
              </a:rPr>
              <a:t> </a:t>
            </a:r>
            <a:r>
              <a:rPr dirty="0" u="heavy" sz="1200" spc="-60" b="1">
                <a:uFill>
                  <a:solidFill>
                    <a:srgbClr val="000000"/>
                  </a:solidFill>
                </a:uFill>
                <a:latin typeface="Arial"/>
                <a:cs typeface="Arial"/>
              </a:rPr>
              <a:t>Wara‟</a:t>
            </a:r>
            <a:r>
              <a:rPr dirty="0" sz="1200" spc="-60" b="1">
                <a:latin typeface="Arial"/>
                <a:cs typeface="Arial"/>
              </a:rPr>
              <a:t> </a:t>
            </a:r>
            <a:r>
              <a:rPr dirty="0" sz="1200" spc="-5">
                <a:latin typeface="Arial"/>
                <a:cs typeface="Arial"/>
              </a:rPr>
              <a:t>(State of piousness </a:t>
            </a:r>
            <a:r>
              <a:rPr dirty="0" sz="1200">
                <a:latin typeface="Arial"/>
                <a:cs typeface="Arial"/>
              </a:rPr>
              <a:t>– </a:t>
            </a:r>
            <a:r>
              <a:rPr dirty="0" sz="1200" spc="-5">
                <a:latin typeface="Arial"/>
                <a:cs typeface="Arial"/>
              </a:rPr>
              <a:t>abstinence of haraam and the doubtful </a:t>
            </a:r>
            <a:r>
              <a:rPr dirty="0" sz="1200">
                <a:latin typeface="Arial"/>
                <a:cs typeface="Arial"/>
              </a:rPr>
              <a:t>to </a:t>
            </a:r>
            <a:r>
              <a:rPr dirty="0" sz="1200" spc="-5">
                <a:latin typeface="Arial"/>
                <a:cs typeface="Arial"/>
              </a:rPr>
              <a:t>reach  piousness)</a:t>
            </a:r>
            <a:endParaRPr sz="1200">
              <a:latin typeface="Arial"/>
              <a:cs typeface="Arial"/>
            </a:endParaRPr>
          </a:p>
          <a:p>
            <a:pPr marL="469900" marR="8890" indent="-229235">
              <a:lnSpc>
                <a:spcPts val="1380"/>
              </a:lnSpc>
              <a:buFont typeface="Wingdings"/>
              <a:buChar char=""/>
              <a:tabLst>
                <a:tab pos="414020" algn="l"/>
              </a:tabLst>
            </a:pPr>
            <a:r>
              <a:rPr dirty="0" u="heavy" sz="1200" b="1">
                <a:uFill>
                  <a:solidFill>
                    <a:srgbClr val="000000"/>
                  </a:solidFill>
                </a:uFill>
                <a:latin typeface="Arial"/>
                <a:cs typeface="Arial"/>
              </a:rPr>
              <a:t>Taqwa</a:t>
            </a:r>
            <a:r>
              <a:rPr dirty="0" sz="1200" b="1">
                <a:latin typeface="Arial"/>
                <a:cs typeface="Arial"/>
              </a:rPr>
              <a:t> </a:t>
            </a:r>
            <a:r>
              <a:rPr dirty="0" sz="1200" spc="-5">
                <a:latin typeface="Arial"/>
                <a:cs typeface="Arial"/>
              </a:rPr>
              <a:t>(State of Godfearingness </a:t>
            </a:r>
            <a:r>
              <a:rPr dirty="0" sz="1200">
                <a:latin typeface="Arial"/>
                <a:cs typeface="Arial"/>
              </a:rPr>
              <a:t>– to fear </a:t>
            </a:r>
            <a:r>
              <a:rPr dirty="0" sz="1200" spc="-5">
                <a:latin typeface="Arial"/>
                <a:cs typeface="Arial"/>
              </a:rPr>
              <a:t>that God doesn‘t consider </a:t>
            </a:r>
            <a:r>
              <a:rPr dirty="0" sz="1200">
                <a:latin typeface="Arial"/>
                <a:cs typeface="Arial"/>
              </a:rPr>
              <a:t>and </a:t>
            </a:r>
            <a:r>
              <a:rPr dirty="0" sz="1200" spc="-5">
                <a:latin typeface="Arial"/>
                <a:cs typeface="Arial"/>
              </a:rPr>
              <a:t>accept their  ibaadah </a:t>
            </a:r>
            <a:r>
              <a:rPr dirty="0" sz="1200">
                <a:latin typeface="Arial"/>
                <a:cs typeface="Arial"/>
              </a:rPr>
              <a:t>and </a:t>
            </a:r>
            <a:r>
              <a:rPr dirty="0" sz="1200" spc="-5">
                <a:latin typeface="Arial"/>
                <a:cs typeface="Arial"/>
              </a:rPr>
              <a:t>doesn‘t </a:t>
            </a:r>
            <a:r>
              <a:rPr dirty="0" sz="1200" spc="-10">
                <a:latin typeface="Arial"/>
                <a:cs typeface="Arial"/>
              </a:rPr>
              <a:t>love </a:t>
            </a:r>
            <a:r>
              <a:rPr dirty="0" sz="1200">
                <a:latin typeface="Arial"/>
                <a:cs typeface="Arial"/>
              </a:rPr>
              <a:t>them, reject </a:t>
            </a:r>
            <a:r>
              <a:rPr dirty="0" sz="1200" spc="-5">
                <a:latin typeface="Arial"/>
                <a:cs typeface="Arial"/>
              </a:rPr>
              <a:t>them and neglect</a:t>
            </a:r>
            <a:r>
              <a:rPr dirty="0" sz="1200" spc="-25">
                <a:latin typeface="Arial"/>
                <a:cs typeface="Arial"/>
              </a:rPr>
              <a:t> </a:t>
            </a:r>
            <a:r>
              <a:rPr dirty="0" sz="1200" spc="-5">
                <a:latin typeface="Arial"/>
                <a:cs typeface="Arial"/>
              </a:rPr>
              <a:t>them)</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sz="1200" spc="-5">
                <a:latin typeface="Arial"/>
                <a:cs typeface="Arial"/>
              </a:rPr>
              <a:t>Hazrat An-Nu‘man </a:t>
            </a:r>
            <a:r>
              <a:rPr dirty="0" sz="1200">
                <a:latin typeface="Arial"/>
                <a:cs typeface="Arial"/>
              </a:rPr>
              <a:t>bin Bashir (r.a) </a:t>
            </a:r>
            <a:r>
              <a:rPr dirty="0" sz="1200" spc="-5">
                <a:latin typeface="Arial"/>
                <a:cs typeface="Arial"/>
              </a:rPr>
              <a:t>said that the </a:t>
            </a:r>
            <a:r>
              <a:rPr dirty="0" sz="1200">
                <a:latin typeface="Arial"/>
                <a:cs typeface="Arial"/>
              </a:rPr>
              <a:t>holy </a:t>
            </a:r>
            <a:r>
              <a:rPr dirty="0" sz="1200" spc="-5">
                <a:latin typeface="Arial"/>
                <a:cs typeface="Arial"/>
              </a:rPr>
              <a:t>Prophet (s.a.w)</a:t>
            </a:r>
            <a:r>
              <a:rPr dirty="0" sz="1200" spc="5">
                <a:latin typeface="Arial"/>
                <a:cs typeface="Arial"/>
              </a:rPr>
              <a:t> </a:t>
            </a:r>
            <a:r>
              <a:rPr dirty="0" sz="1200" spc="-5">
                <a:latin typeface="Arial"/>
                <a:cs typeface="Arial"/>
              </a:rPr>
              <a:t>said:</a:t>
            </a:r>
            <a:endParaRPr sz="1200">
              <a:latin typeface="Arial"/>
              <a:cs typeface="Arial"/>
            </a:endParaRPr>
          </a:p>
          <a:p>
            <a:pPr>
              <a:lnSpc>
                <a:spcPct val="100000"/>
              </a:lnSpc>
              <a:spcBef>
                <a:spcPts val="45"/>
              </a:spcBef>
            </a:pPr>
            <a:endParaRPr sz="1200">
              <a:latin typeface="Arial"/>
              <a:cs typeface="Arial"/>
            </a:endParaRPr>
          </a:p>
          <a:p>
            <a:pPr algn="just" marL="12700" marR="7620">
              <a:lnSpc>
                <a:spcPts val="1370"/>
              </a:lnSpc>
            </a:pPr>
            <a:r>
              <a:rPr dirty="0" sz="1200" b="1">
                <a:latin typeface="Arial"/>
                <a:cs typeface="Arial"/>
              </a:rPr>
              <a:t>“... Surely </a:t>
            </a:r>
            <a:r>
              <a:rPr dirty="0" sz="1200" spc="-5" b="1">
                <a:latin typeface="Arial"/>
                <a:cs typeface="Arial"/>
              </a:rPr>
              <a:t>there </a:t>
            </a:r>
            <a:r>
              <a:rPr dirty="0" sz="1200" b="1">
                <a:latin typeface="Arial"/>
                <a:cs typeface="Arial"/>
              </a:rPr>
              <a:t>is in </a:t>
            </a:r>
            <a:r>
              <a:rPr dirty="0" sz="1200" spc="-5" b="1">
                <a:latin typeface="Arial"/>
                <a:cs typeface="Arial"/>
              </a:rPr>
              <a:t>the </a:t>
            </a:r>
            <a:r>
              <a:rPr dirty="0" sz="1200" b="1">
                <a:latin typeface="Arial"/>
                <a:cs typeface="Arial"/>
              </a:rPr>
              <a:t>body a </a:t>
            </a:r>
            <a:r>
              <a:rPr dirty="0" sz="1200" spc="-5" b="1">
                <a:latin typeface="Arial"/>
                <a:cs typeface="Arial"/>
              </a:rPr>
              <a:t>small </a:t>
            </a:r>
            <a:r>
              <a:rPr dirty="0" sz="1200" b="1">
                <a:latin typeface="Arial"/>
                <a:cs typeface="Arial"/>
              </a:rPr>
              <a:t>piece of </a:t>
            </a:r>
            <a:r>
              <a:rPr dirty="0" sz="1200" spc="-5" b="1">
                <a:latin typeface="Arial"/>
                <a:cs typeface="Arial"/>
              </a:rPr>
              <a:t>meat; </a:t>
            </a:r>
            <a:r>
              <a:rPr dirty="0" sz="1200" b="1">
                <a:latin typeface="Arial"/>
                <a:cs typeface="Arial"/>
              </a:rPr>
              <a:t>if it is good </a:t>
            </a:r>
            <a:r>
              <a:rPr dirty="0" sz="1200" spc="-5" b="1">
                <a:latin typeface="Arial"/>
                <a:cs typeface="Arial"/>
              </a:rPr>
              <a:t>the </a:t>
            </a:r>
            <a:r>
              <a:rPr dirty="0" sz="1200" b="1">
                <a:latin typeface="Arial"/>
                <a:cs typeface="Arial"/>
              </a:rPr>
              <a:t>whole body is  good and if it is </a:t>
            </a:r>
            <a:r>
              <a:rPr dirty="0" sz="1200" spc="-5" b="1">
                <a:latin typeface="Arial"/>
                <a:cs typeface="Arial"/>
              </a:rPr>
              <a:t>corrupted the </a:t>
            </a:r>
            <a:r>
              <a:rPr dirty="0" sz="1200" b="1">
                <a:latin typeface="Arial"/>
                <a:cs typeface="Arial"/>
              </a:rPr>
              <a:t>whole </a:t>
            </a:r>
            <a:r>
              <a:rPr dirty="0" sz="1200" spc="-5" b="1">
                <a:latin typeface="Arial"/>
                <a:cs typeface="Arial"/>
              </a:rPr>
              <a:t>body </a:t>
            </a:r>
            <a:r>
              <a:rPr dirty="0" sz="1200" b="1">
                <a:latin typeface="Arial"/>
                <a:cs typeface="Arial"/>
              </a:rPr>
              <a:t>is </a:t>
            </a:r>
            <a:r>
              <a:rPr dirty="0" sz="1200" spc="-5" b="1">
                <a:latin typeface="Arial"/>
                <a:cs typeface="Arial"/>
              </a:rPr>
              <a:t>corrupted </a:t>
            </a:r>
            <a:r>
              <a:rPr dirty="0" sz="1200" b="1">
                <a:latin typeface="Arial"/>
                <a:cs typeface="Arial"/>
              </a:rPr>
              <a:t>and </a:t>
            </a:r>
            <a:r>
              <a:rPr dirty="0" sz="1200" spc="-5" b="1">
                <a:latin typeface="Arial"/>
                <a:cs typeface="Arial"/>
              </a:rPr>
              <a:t>that </a:t>
            </a:r>
            <a:r>
              <a:rPr dirty="0" sz="1200" b="1">
                <a:latin typeface="Arial"/>
                <a:cs typeface="Arial"/>
              </a:rPr>
              <a:t>is </a:t>
            </a:r>
            <a:r>
              <a:rPr dirty="0" sz="1200" spc="-5" b="1">
                <a:latin typeface="Arial"/>
                <a:cs typeface="Arial"/>
              </a:rPr>
              <a:t>the heart.” </a:t>
            </a:r>
            <a:r>
              <a:rPr dirty="0" sz="1200" spc="-10" i="1">
                <a:latin typeface="Arial"/>
                <a:cs typeface="Arial"/>
              </a:rPr>
              <a:t>(al-  </a:t>
            </a:r>
            <a:r>
              <a:rPr dirty="0" sz="1200" spc="-5" i="1">
                <a:latin typeface="Arial"/>
                <a:cs typeface="Arial"/>
              </a:rPr>
              <a:t>Bukhari: Vol </a:t>
            </a:r>
            <a:r>
              <a:rPr dirty="0" sz="1200" spc="-10" i="1">
                <a:latin typeface="Arial"/>
                <a:cs typeface="Arial"/>
              </a:rPr>
              <a:t>2, </a:t>
            </a:r>
            <a:r>
              <a:rPr dirty="0" sz="1200" spc="-5" i="1">
                <a:latin typeface="Arial"/>
                <a:cs typeface="Arial"/>
              </a:rPr>
              <a:t>Book 1, Hadith </a:t>
            </a:r>
            <a:r>
              <a:rPr dirty="0" sz="1200" spc="5" i="1">
                <a:latin typeface="Arial"/>
                <a:cs typeface="Arial"/>
              </a:rPr>
              <a:t>49) </a:t>
            </a:r>
            <a:r>
              <a:rPr dirty="0" sz="1200" spc="-5" i="1">
                <a:latin typeface="Arial"/>
                <a:cs typeface="Arial"/>
              </a:rPr>
              <a:t>(Muslim: Book 10, Hadith</a:t>
            </a:r>
            <a:r>
              <a:rPr dirty="0" sz="1200" spc="15" i="1">
                <a:latin typeface="Arial"/>
                <a:cs typeface="Arial"/>
              </a:rPr>
              <a:t> </a:t>
            </a:r>
            <a:r>
              <a:rPr dirty="0" sz="1200" spc="-5" i="1">
                <a:latin typeface="Arial"/>
                <a:cs typeface="Arial"/>
              </a:rPr>
              <a:t>3882)</a:t>
            </a:r>
            <a:endParaRPr sz="1200">
              <a:latin typeface="Arial"/>
              <a:cs typeface="Arial"/>
            </a:endParaRPr>
          </a:p>
          <a:p>
            <a:pPr>
              <a:lnSpc>
                <a:spcPct val="100000"/>
              </a:lnSpc>
              <a:spcBef>
                <a:spcPts val="30"/>
              </a:spcBef>
            </a:pPr>
            <a:endParaRPr sz="1100">
              <a:latin typeface="Arial"/>
              <a:cs typeface="Arial"/>
            </a:endParaRPr>
          </a:p>
          <a:p>
            <a:pPr marL="12700">
              <a:lnSpc>
                <a:spcPct val="100000"/>
              </a:lnSpc>
            </a:pPr>
            <a:r>
              <a:rPr dirty="0" sz="1200" spc="-5">
                <a:latin typeface="Arial"/>
                <a:cs typeface="Arial"/>
              </a:rPr>
              <a:t>Hazrat Abu Huraira (r.a) said that </a:t>
            </a:r>
            <a:r>
              <a:rPr dirty="0" sz="1200">
                <a:latin typeface="Arial"/>
                <a:cs typeface="Arial"/>
              </a:rPr>
              <a:t>the holy </a:t>
            </a:r>
            <a:r>
              <a:rPr dirty="0" sz="1200" spc="-5">
                <a:latin typeface="Arial"/>
                <a:cs typeface="Arial"/>
              </a:rPr>
              <a:t>Prophet (s.a.w) said (emphasizing </a:t>
            </a:r>
            <a:r>
              <a:rPr dirty="0" sz="1200">
                <a:latin typeface="Arial"/>
                <a:cs typeface="Arial"/>
              </a:rPr>
              <a:t>on </a:t>
            </a:r>
            <a:r>
              <a:rPr dirty="0" sz="1200" spc="-5">
                <a:latin typeface="Arial"/>
                <a:cs typeface="Arial"/>
              </a:rPr>
              <a:t>the</a:t>
            </a:r>
            <a:r>
              <a:rPr dirty="0" sz="1200" spc="114">
                <a:latin typeface="Arial"/>
                <a:cs typeface="Arial"/>
              </a:rPr>
              <a:t> </a:t>
            </a:r>
            <a:r>
              <a:rPr dirty="0" sz="1200" spc="-5">
                <a:latin typeface="Arial"/>
                <a:cs typeface="Arial"/>
              </a:rPr>
              <a:t>heart):</a:t>
            </a:r>
            <a:endParaRPr sz="1200">
              <a:latin typeface="Arial"/>
              <a:cs typeface="Arial"/>
            </a:endParaRPr>
          </a:p>
          <a:p>
            <a:pPr>
              <a:lnSpc>
                <a:spcPct val="100000"/>
              </a:lnSpc>
              <a:spcBef>
                <a:spcPts val="10"/>
              </a:spcBef>
            </a:pPr>
            <a:endParaRPr sz="1200">
              <a:latin typeface="Arial"/>
              <a:cs typeface="Arial"/>
            </a:endParaRPr>
          </a:p>
          <a:p>
            <a:pPr algn="just" marL="12700" marR="7620">
              <a:lnSpc>
                <a:spcPct val="95400"/>
              </a:lnSpc>
            </a:pPr>
            <a:r>
              <a:rPr dirty="0" sz="1200" spc="-5" b="1">
                <a:latin typeface="Arial"/>
                <a:cs typeface="Arial"/>
              </a:rPr>
              <a:t>“Verily </a:t>
            </a:r>
            <a:r>
              <a:rPr dirty="0" sz="1200" spc="-10" b="1">
                <a:latin typeface="Arial"/>
                <a:cs typeface="Arial"/>
              </a:rPr>
              <a:t>Allah </a:t>
            </a:r>
            <a:r>
              <a:rPr dirty="0" sz="1200" b="1">
                <a:latin typeface="Arial"/>
                <a:cs typeface="Arial"/>
              </a:rPr>
              <a:t>does </a:t>
            </a:r>
            <a:r>
              <a:rPr dirty="0" sz="1200" spc="-5" b="1">
                <a:latin typeface="Arial"/>
                <a:cs typeface="Arial"/>
              </a:rPr>
              <a:t>not </a:t>
            </a:r>
            <a:r>
              <a:rPr dirty="0" sz="1200" b="1">
                <a:latin typeface="Arial"/>
                <a:cs typeface="Arial"/>
              </a:rPr>
              <a:t>look to </a:t>
            </a:r>
            <a:r>
              <a:rPr dirty="0" sz="1200" spc="-10" b="1">
                <a:latin typeface="Arial"/>
                <a:cs typeface="Arial"/>
              </a:rPr>
              <a:t>your </a:t>
            </a:r>
            <a:r>
              <a:rPr dirty="0" sz="1200" b="1">
                <a:latin typeface="Arial"/>
                <a:cs typeface="Arial"/>
              </a:rPr>
              <a:t>bodies nor to </a:t>
            </a:r>
            <a:r>
              <a:rPr dirty="0" sz="1200" spc="-10" b="1">
                <a:latin typeface="Arial"/>
                <a:cs typeface="Arial"/>
              </a:rPr>
              <a:t>your </a:t>
            </a:r>
            <a:r>
              <a:rPr dirty="0" sz="1200" b="1">
                <a:latin typeface="Arial"/>
                <a:cs typeface="Arial"/>
              </a:rPr>
              <a:t>faces but </a:t>
            </a:r>
            <a:r>
              <a:rPr dirty="0" sz="1200" spc="-5" b="1">
                <a:latin typeface="Arial"/>
                <a:cs typeface="Arial"/>
              </a:rPr>
              <a:t>He </a:t>
            </a:r>
            <a:r>
              <a:rPr dirty="0" sz="1200" b="1">
                <a:latin typeface="Arial"/>
                <a:cs typeface="Arial"/>
              </a:rPr>
              <a:t>looks to </a:t>
            </a:r>
            <a:r>
              <a:rPr dirty="0" sz="1200" spc="-5" b="1">
                <a:latin typeface="Arial"/>
                <a:cs typeface="Arial"/>
              </a:rPr>
              <a:t>your  hearts,” </a:t>
            </a:r>
            <a:r>
              <a:rPr dirty="0" sz="1200" b="1">
                <a:latin typeface="Arial"/>
                <a:cs typeface="Arial"/>
              </a:rPr>
              <a:t>and he </a:t>
            </a:r>
            <a:r>
              <a:rPr dirty="0" sz="1200" spc="-5" b="1">
                <a:latin typeface="Arial"/>
                <a:cs typeface="Arial"/>
              </a:rPr>
              <a:t>pointed towards the heart </a:t>
            </a:r>
            <a:r>
              <a:rPr dirty="0" sz="1200" spc="10" b="1">
                <a:latin typeface="Arial"/>
                <a:cs typeface="Arial"/>
              </a:rPr>
              <a:t>with </a:t>
            </a:r>
            <a:r>
              <a:rPr dirty="0" sz="1200" spc="-5" b="1">
                <a:latin typeface="Arial"/>
                <a:cs typeface="Arial"/>
              </a:rPr>
              <a:t>his </a:t>
            </a:r>
            <a:r>
              <a:rPr dirty="0" sz="1200" b="1">
                <a:latin typeface="Arial"/>
                <a:cs typeface="Arial"/>
              </a:rPr>
              <a:t>fingers.” </a:t>
            </a:r>
            <a:r>
              <a:rPr dirty="0" sz="1200" spc="-5" i="1">
                <a:latin typeface="Arial"/>
                <a:cs typeface="Arial"/>
              </a:rPr>
              <a:t>(Swahih Muslim: Book 32,  </a:t>
            </a:r>
            <a:r>
              <a:rPr dirty="0" sz="1200" i="1">
                <a:latin typeface="Arial"/>
                <a:cs typeface="Arial"/>
              </a:rPr>
              <a:t>Hadith</a:t>
            </a:r>
            <a:r>
              <a:rPr dirty="0" sz="1200" spc="-15" i="1">
                <a:latin typeface="Arial"/>
                <a:cs typeface="Arial"/>
              </a:rPr>
              <a:t> </a:t>
            </a:r>
            <a:r>
              <a:rPr dirty="0" sz="1200" spc="-5" i="1">
                <a:latin typeface="Arial"/>
                <a:cs typeface="Arial"/>
              </a:rPr>
              <a:t>6220)</a:t>
            </a:r>
            <a:endParaRPr sz="1200">
              <a:latin typeface="Arial"/>
              <a:cs typeface="Arial"/>
            </a:endParaRPr>
          </a:p>
          <a:p>
            <a:pPr>
              <a:lnSpc>
                <a:spcPct val="100000"/>
              </a:lnSpc>
              <a:spcBef>
                <a:spcPts val="5"/>
              </a:spcBef>
            </a:pPr>
            <a:endParaRPr sz="1150">
              <a:latin typeface="Arial"/>
              <a:cs typeface="Arial"/>
            </a:endParaRPr>
          </a:p>
          <a:p>
            <a:pPr marL="12700">
              <a:lnSpc>
                <a:spcPct val="100000"/>
              </a:lnSpc>
              <a:spcBef>
                <a:spcPts val="5"/>
              </a:spcBef>
            </a:pPr>
            <a:r>
              <a:rPr dirty="0" sz="1200" spc="-5">
                <a:latin typeface="Arial"/>
                <a:cs typeface="Arial"/>
              </a:rPr>
              <a:t>Imam Abu Hanifa (85 </a:t>
            </a:r>
            <a:r>
              <a:rPr dirty="0" sz="1200">
                <a:latin typeface="Arial"/>
                <a:cs typeface="Arial"/>
              </a:rPr>
              <a:t>H. - </a:t>
            </a:r>
            <a:r>
              <a:rPr dirty="0" sz="1200" spc="-5">
                <a:latin typeface="Arial"/>
                <a:cs typeface="Arial"/>
              </a:rPr>
              <a:t>150 H)</a:t>
            </a:r>
            <a:r>
              <a:rPr dirty="0" sz="1200" spc="15">
                <a:latin typeface="Arial"/>
                <a:cs typeface="Arial"/>
              </a:rPr>
              <a:t> </a:t>
            </a:r>
            <a:r>
              <a:rPr dirty="0" sz="1200" spc="-5">
                <a:latin typeface="Arial"/>
                <a:cs typeface="Arial"/>
              </a:rPr>
              <a:t>said:</a:t>
            </a:r>
            <a:endParaRPr sz="1200">
              <a:latin typeface="Arial"/>
              <a:cs typeface="Arial"/>
            </a:endParaRPr>
          </a:p>
          <a:p>
            <a:pPr>
              <a:lnSpc>
                <a:spcPct val="100000"/>
              </a:lnSpc>
              <a:spcBef>
                <a:spcPts val="5"/>
              </a:spcBef>
            </a:pPr>
            <a:endParaRPr sz="1200">
              <a:latin typeface="Arial"/>
              <a:cs typeface="Arial"/>
            </a:endParaRPr>
          </a:p>
          <a:p>
            <a:pPr algn="just" marL="12700" marR="5080">
              <a:lnSpc>
                <a:spcPct val="95400"/>
              </a:lnSpc>
            </a:pPr>
            <a:r>
              <a:rPr dirty="0" sz="1200" b="1">
                <a:latin typeface="Arial"/>
                <a:cs typeface="Arial"/>
              </a:rPr>
              <a:t>“If it were not </a:t>
            </a:r>
            <a:r>
              <a:rPr dirty="0" sz="1200" spc="-5" b="1">
                <a:latin typeface="Arial"/>
                <a:cs typeface="Arial"/>
              </a:rPr>
              <a:t>for </a:t>
            </a:r>
            <a:r>
              <a:rPr dirty="0" sz="1200" spc="5" b="1">
                <a:latin typeface="Arial"/>
                <a:cs typeface="Arial"/>
              </a:rPr>
              <a:t>two </a:t>
            </a:r>
            <a:r>
              <a:rPr dirty="0" sz="1200" spc="-10" b="1">
                <a:latin typeface="Arial"/>
                <a:cs typeface="Arial"/>
              </a:rPr>
              <a:t>years, </a:t>
            </a:r>
            <a:r>
              <a:rPr dirty="0" sz="1200" b="1">
                <a:latin typeface="Arial"/>
                <a:cs typeface="Arial"/>
              </a:rPr>
              <a:t>I </a:t>
            </a:r>
            <a:r>
              <a:rPr dirty="0" sz="1200" spc="5" b="1">
                <a:latin typeface="Arial"/>
                <a:cs typeface="Arial"/>
              </a:rPr>
              <a:t>would </a:t>
            </a:r>
            <a:r>
              <a:rPr dirty="0" sz="1200" spc="-5" b="1">
                <a:latin typeface="Arial"/>
                <a:cs typeface="Arial"/>
              </a:rPr>
              <a:t>have </a:t>
            </a:r>
            <a:r>
              <a:rPr dirty="0" sz="1200" b="1">
                <a:latin typeface="Arial"/>
                <a:cs typeface="Arial"/>
              </a:rPr>
              <a:t>perished.” </a:t>
            </a:r>
            <a:r>
              <a:rPr dirty="0" sz="1200" spc="-5" b="1">
                <a:latin typeface="Arial"/>
                <a:cs typeface="Arial"/>
              </a:rPr>
              <a:t>He </a:t>
            </a:r>
            <a:r>
              <a:rPr dirty="0" sz="1200" b="1">
                <a:latin typeface="Arial"/>
                <a:cs typeface="Arial"/>
              </a:rPr>
              <a:t>said, </a:t>
            </a:r>
            <a:r>
              <a:rPr dirty="0" sz="1200" spc="-5" b="1">
                <a:latin typeface="Arial"/>
                <a:cs typeface="Arial"/>
              </a:rPr>
              <a:t>“for </a:t>
            </a:r>
            <a:r>
              <a:rPr dirty="0" sz="1200" b="1">
                <a:latin typeface="Arial"/>
                <a:cs typeface="Arial"/>
              </a:rPr>
              <a:t>two </a:t>
            </a:r>
            <a:r>
              <a:rPr dirty="0" sz="1200" spc="-5" b="1">
                <a:latin typeface="Arial"/>
                <a:cs typeface="Arial"/>
              </a:rPr>
              <a:t>years </a:t>
            </a:r>
            <a:r>
              <a:rPr dirty="0" sz="1200" b="1">
                <a:latin typeface="Arial"/>
                <a:cs typeface="Arial"/>
              </a:rPr>
              <a:t>I  </a:t>
            </a:r>
            <a:r>
              <a:rPr dirty="0" sz="1200" spc="-5" b="1">
                <a:latin typeface="Arial"/>
                <a:cs typeface="Arial"/>
              </a:rPr>
              <a:t>accompanied Sayyidina </a:t>
            </a:r>
            <a:r>
              <a:rPr dirty="0" sz="1200" spc="-45" b="1">
                <a:latin typeface="Arial"/>
                <a:cs typeface="Arial"/>
              </a:rPr>
              <a:t>Ja‟far </a:t>
            </a:r>
            <a:r>
              <a:rPr dirty="0" sz="1200" b="1">
                <a:latin typeface="Arial"/>
                <a:cs typeface="Arial"/>
              </a:rPr>
              <a:t>as-Sadiq </a:t>
            </a:r>
            <a:r>
              <a:rPr dirty="0" sz="1200" spc="-5" b="1">
                <a:latin typeface="Arial"/>
                <a:cs typeface="Arial"/>
              </a:rPr>
              <a:t>and </a:t>
            </a:r>
            <a:r>
              <a:rPr dirty="0" sz="1200" b="1">
                <a:latin typeface="Arial"/>
                <a:cs typeface="Arial"/>
              </a:rPr>
              <a:t>I </a:t>
            </a:r>
            <a:r>
              <a:rPr dirty="0" sz="1200" spc="-5" b="1">
                <a:latin typeface="Arial"/>
                <a:cs typeface="Arial"/>
              </a:rPr>
              <a:t>acquired the spiritual knowledge </a:t>
            </a:r>
            <a:r>
              <a:rPr dirty="0" sz="1200" spc="5" b="1">
                <a:latin typeface="Arial"/>
                <a:cs typeface="Arial"/>
              </a:rPr>
              <a:t>that  </a:t>
            </a:r>
            <a:r>
              <a:rPr dirty="0" sz="1200" spc="-5" b="1">
                <a:latin typeface="Arial"/>
                <a:cs typeface="Arial"/>
              </a:rPr>
              <a:t>made me </a:t>
            </a:r>
            <a:r>
              <a:rPr dirty="0" sz="1200" b="1">
                <a:latin typeface="Arial"/>
                <a:cs typeface="Arial"/>
              </a:rPr>
              <a:t>a </a:t>
            </a:r>
            <a:r>
              <a:rPr dirty="0" sz="1200" spc="-5" b="1">
                <a:latin typeface="Arial"/>
                <a:cs typeface="Arial"/>
              </a:rPr>
              <a:t>Gnostic in </a:t>
            </a:r>
            <a:r>
              <a:rPr dirty="0" sz="1200" b="1">
                <a:latin typeface="Arial"/>
                <a:cs typeface="Arial"/>
              </a:rPr>
              <a:t>the </a:t>
            </a:r>
            <a:r>
              <a:rPr dirty="0" sz="1200" spc="-10" b="1">
                <a:latin typeface="Arial"/>
                <a:cs typeface="Arial"/>
              </a:rPr>
              <a:t>Way.” </a:t>
            </a:r>
            <a:r>
              <a:rPr dirty="0" sz="1200" spc="-5" i="1">
                <a:latin typeface="Arial"/>
                <a:cs typeface="Arial"/>
              </a:rPr>
              <a:t>(Ad-Durr al-Mukhtar, vol 1. p.</a:t>
            </a:r>
            <a:r>
              <a:rPr dirty="0" sz="1200" spc="70" i="1">
                <a:latin typeface="Arial"/>
                <a:cs typeface="Arial"/>
              </a:rPr>
              <a:t> </a:t>
            </a:r>
            <a:r>
              <a:rPr dirty="0" sz="1200" spc="-10" i="1">
                <a:latin typeface="Arial"/>
                <a:cs typeface="Arial"/>
              </a:rPr>
              <a:t>43)</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144</a:t>
            </a:r>
            <a:endParaRPr sz="1200">
              <a:latin typeface="Times New Roman"/>
              <a:cs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6312535" cy="8620760"/>
          </a:xfrm>
          <a:prstGeom prst="rect">
            <a:avLst/>
          </a:prstGeom>
        </p:spPr>
        <p:txBody>
          <a:bodyPr wrap="square" lIns="0" tIns="12700" rIns="0" bIns="0" rtlCol="0" vert="horz">
            <a:spAutoFit/>
          </a:bodyPr>
          <a:lstStyle/>
          <a:p>
            <a:pPr marL="12700">
              <a:lnSpc>
                <a:spcPct val="100000"/>
              </a:lnSpc>
              <a:spcBef>
                <a:spcPts val="100"/>
              </a:spcBef>
            </a:pPr>
            <a:r>
              <a:rPr dirty="0" sz="1200" spc="-5">
                <a:latin typeface="Arial"/>
                <a:cs typeface="Arial"/>
              </a:rPr>
              <a:t>Imam Malik (95 </a:t>
            </a:r>
            <a:r>
              <a:rPr dirty="0" sz="1200">
                <a:latin typeface="Arial"/>
                <a:cs typeface="Arial"/>
              </a:rPr>
              <a:t>H. - </a:t>
            </a:r>
            <a:r>
              <a:rPr dirty="0" sz="1200" spc="-10">
                <a:latin typeface="Arial"/>
                <a:cs typeface="Arial"/>
              </a:rPr>
              <a:t>179 </a:t>
            </a:r>
            <a:r>
              <a:rPr dirty="0" sz="1200">
                <a:latin typeface="Arial"/>
                <a:cs typeface="Arial"/>
              </a:rPr>
              <a:t>H.)</a:t>
            </a:r>
            <a:r>
              <a:rPr dirty="0" sz="1200" spc="20">
                <a:latin typeface="Arial"/>
                <a:cs typeface="Arial"/>
              </a:rPr>
              <a:t> </a:t>
            </a:r>
            <a:r>
              <a:rPr dirty="0" sz="1200" spc="-5">
                <a:latin typeface="Arial"/>
                <a:cs typeface="Arial"/>
              </a:rPr>
              <a:t>said:</a:t>
            </a:r>
            <a:endParaRPr sz="1200">
              <a:latin typeface="Arial"/>
              <a:cs typeface="Arial"/>
            </a:endParaRPr>
          </a:p>
          <a:p>
            <a:pPr>
              <a:lnSpc>
                <a:spcPct val="100000"/>
              </a:lnSpc>
              <a:spcBef>
                <a:spcPts val="5"/>
              </a:spcBef>
            </a:pPr>
            <a:endParaRPr sz="1200">
              <a:latin typeface="Arial"/>
              <a:cs typeface="Arial"/>
            </a:endParaRPr>
          </a:p>
          <a:p>
            <a:pPr algn="just" marL="12700" marR="5080">
              <a:lnSpc>
                <a:spcPct val="95600"/>
              </a:lnSpc>
            </a:pPr>
            <a:r>
              <a:rPr dirty="0" sz="1200" spc="-5" b="1">
                <a:latin typeface="Arial"/>
                <a:cs typeface="Arial"/>
              </a:rPr>
              <a:t>“Whoever </a:t>
            </a:r>
            <a:r>
              <a:rPr dirty="0" sz="1200" b="1">
                <a:latin typeface="Arial"/>
                <a:cs typeface="Arial"/>
              </a:rPr>
              <a:t>studies </a:t>
            </a:r>
            <a:r>
              <a:rPr dirty="0" sz="1200" spc="-5" b="1">
                <a:latin typeface="Arial"/>
                <a:cs typeface="Arial"/>
              </a:rPr>
              <a:t>Jurisprudence (tafaqaha) </a:t>
            </a:r>
            <a:r>
              <a:rPr dirty="0" sz="1200" b="1">
                <a:latin typeface="Arial"/>
                <a:cs typeface="Arial"/>
              </a:rPr>
              <a:t>and </a:t>
            </a:r>
            <a:r>
              <a:rPr dirty="0" sz="1200" spc="-40" b="1">
                <a:latin typeface="Arial"/>
                <a:cs typeface="Arial"/>
              </a:rPr>
              <a:t>doesn‟t </a:t>
            </a:r>
            <a:r>
              <a:rPr dirty="0" sz="1200" b="1">
                <a:latin typeface="Arial"/>
                <a:cs typeface="Arial"/>
              </a:rPr>
              <a:t>study Sufism </a:t>
            </a:r>
            <a:r>
              <a:rPr dirty="0" sz="1200" spc="-5" b="1">
                <a:latin typeface="Arial"/>
                <a:cs typeface="Arial"/>
              </a:rPr>
              <a:t>[tasawwuf] will  </a:t>
            </a:r>
            <a:r>
              <a:rPr dirty="0" sz="1200" b="1">
                <a:latin typeface="Arial"/>
                <a:cs typeface="Arial"/>
              </a:rPr>
              <a:t>be </a:t>
            </a:r>
            <a:r>
              <a:rPr dirty="0" sz="1200" spc="-5" b="1">
                <a:latin typeface="Arial"/>
                <a:cs typeface="Arial"/>
              </a:rPr>
              <a:t>corrupted; </a:t>
            </a:r>
            <a:r>
              <a:rPr dirty="0" sz="1200" b="1">
                <a:latin typeface="Arial"/>
                <a:cs typeface="Arial"/>
              </a:rPr>
              <a:t>and </a:t>
            </a:r>
            <a:r>
              <a:rPr dirty="0" sz="1200" spc="-5" b="1">
                <a:latin typeface="Arial"/>
                <a:cs typeface="Arial"/>
              </a:rPr>
              <a:t>whoever </a:t>
            </a:r>
            <a:r>
              <a:rPr dirty="0" sz="1200" b="1">
                <a:latin typeface="Arial"/>
                <a:cs typeface="Arial"/>
              </a:rPr>
              <a:t>studies Sufism and </a:t>
            </a:r>
            <a:r>
              <a:rPr dirty="0" sz="1200" spc="-40" b="1">
                <a:latin typeface="Arial"/>
                <a:cs typeface="Arial"/>
              </a:rPr>
              <a:t>doesn‟t </a:t>
            </a:r>
            <a:r>
              <a:rPr dirty="0" sz="1200" b="1">
                <a:latin typeface="Arial"/>
                <a:cs typeface="Arial"/>
              </a:rPr>
              <a:t>study Jurisprudence </a:t>
            </a:r>
            <a:r>
              <a:rPr dirty="0" sz="1200" spc="-5" b="1">
                <a:latin typeface="Arial"/>
                <a:cs typeface="Arial"/>
              </a:rPr>
              <a:t>will  </a:t>
            </a:r>
            <a:r>
              <a:rPr dirty="0" sz="1200" b="1">
                <a:latin typeface="Arial"/>
                <a:cs typeface="Arial"/>
              </a:rPr>
              <a:t>become a </a:t>
            </a:r>
            <a:r>
              <a:rPr dirty="0" sz="1200" spc="-5" b="1">
                <a:latin typeface="Arial"/>
                <a:cs typeface="Arial"/>
              </a:rPr>
              <a:t>heretic; and </a:t>
            </a:r>
            <a:r>
              <a:rPr dirty="0" sz="1200" b="1">
                <a:latin typeface="Arial"/>
                <a:cs typeface="Arial"/>
              </a:rPr>
              <a:t>whoever combined </a:t>
            </a:r>
            <a:r>
              <a:rPr dirty="0" sz="1200" spc="-5" b="1">
                <a:latin typeface="Arial"/>
                <a:cs typeface="Arial"/>
              </a:rPr>
              <a:t>both </a:t>
            </a:r>
            <a:r>
              <a:rPr dirty="0" sz="1200" spc="5" b="1">
                <a:latin typeface="Arial"/>
                <a:cs typeface="Arial"/>
              </a:rPr>
              <a:t>will </a:t>
            </a:r>
            <a:r>
              <a:rPr dirty="0" sz="1200" b="1">
                <a:latin typeface="Arial"/>
                <a:cs typeface="Arial"/>
              </a:rPr>
              <a:t>be </a:t>
            </a:r>
            <a:r>
              <a:rPr dirty="0" sz="1200" spc="-5" b="1">
                <a:latin typeface="Arial"/>
                <a:cs typeface="Arial"/>
              </a:rPr>
              <a:t>reaching the Truth.” </a:t>
            </a:r>
            <a:r>
              <a:rPr dirty="0" sz="1200" spc="-85" i="1">
                <a:latin typeface="Arial"/>
                <a:cs typeface="Arial"/>
              </a:rPr>
              <a:t>(‗Ali </a:t>
            </a:r>
            <a:r>
              <a:rPr dirty="0" sz="1200" i="1">
                <a:latin typeface="Arial"/>
                <a:cs typeface="Arial"/>
              </a:rPr>
              <a:t>al-  </a:t>
            </a:r>
            <a:r>
              <a:rPr dirty="0" sz="1200" spc="-5" i="1">
                <a:latin typeface="Arial"/>
                <a:cs typeface="Arial"/>
              </a:rPr>
              <a:t>Adawi </a:t>
            </a:r>
            <a:r>
              <a:rPr dirty="0" sz="1200" i="1">
                <a:latin typeface="Arial"/>
                <a:cs typeface="Arial"/>
              </a:rPr>
              <a:t>, </a:t>
            </a:r>
            <a:r>
              <a:rPr dirty="0" sz="1200" spc="-5" i="1">
                <a:latin typeface="Arial"/>
                <a:cs typeface="Arial"/>
              </a:rPr>
              <a:t>vol. </a:t>
            </a:r>
            <a:r>
              <a:rPr dirty="0" sz="1200" i="1">
                <a:latin typeface="Arial"/>
                <a:cs typeface="Arial"/>
              </a:rPr>
              <a:t>2, </a:t>
            </a:r>
            <a:r>
              <a:rPr dirty="0" sz="1200" spc="-5" i="1">
                <a:latin typeface="Arial"/>
                <a:cs typeface="Arial"/>
              </a:rPr>
              <a:t>p</a:t>
            </a:r>
            <a:r>
              <a:rPr dirty="0" sz="1200" spc="-10" i="1">
                <a:latin typeface="Arial"/>
                <a:cs typeface="Arial"/>
              </a:rPr>
              <a:t> </a:t>
            </a:r>
            <a:r>
              <a:rPr dirty="0" sz="1200" spc="-5" i="1">
                <a:latin typeface="Arial"/>
                <a:cs typeface="Arial"/>
              </a:rPr>
              <a:t>195.)</a:t>
            </a:r>
            <a:endParaRPr sz="1200">
              <a:latin typeface="Arial"/>
              <a:cs typeface="Arial"/>
            </a:endParaRPr>
          </a:p>
          <a:p>
            <a:pPr>
              <a:lnSpc>
                <a:spcPct val="100000"/>
              </a:lnSpc>
              <a:spcBef>
                <a:spcPts val="10"/>
              </a:spcBef>
            </a:pPr>
            <a:endParaRPr sz="1150">
              <a:latin typeface="Arial"/>
              <a:cs typeface="Arial"/>
            </a:endParaRPr>
          </a:p>
          <a:p>
            <a:pPr marL="12700">
              <a:lnSpc>
                <a:spcPct val="100000"/>
              </a:lnSpc>
            </a:pPr>
            <a:r>
              <a:rPr dirty="0" sz="1200" spc="-5">
                <a:latin typeface="Arial"/>
                <a:cs typeface="Arial"/>
              </a:rPr>
              <a:t>Imam Shafi‘I </a:t>
            </a:r>
            <a:r>
              <a:rPr dirty="0" sz="1200" spc="-10">
                <a:latin typeface="Arial"/>
                <a:cs typeface="Arial"/>
              </a:rPr>
              <a:t>(150 </a:t>
            </a:r>
            <a:r>
              <a:rPr dirty="0" sz="1200">
                <a:latin typeface="Arial"/>
                <a:cs typeface="Arial"/>
              </a:rPr>
              <a:t>- </a:t>
            </a:r>
            <a:r>
              <a:rPr dirty="0" sz="1200" spc="-5">
                <a:latin typeface="Arial"/>
                <a:cs typeface="Arial"/>
              </a:rPr>
              <a:t>205 </a:t>
            </a:r>
            <a:r>
              <a:rPr dirty="0" sz="1200">
                <a:latin typeface="Arial"/>
                <a:cs typeface="Arial"/>
              </a:rPr>
              <a:t>AH.)</a:t>
            </a:r>
            <a:r>
              <a:rPr dirty="0" sz="1200" spc="25">
                <a:latin typeface="Arial"/>
                <a:cs typeface="Arial"/>
              </a:rPr>
              <a:t> </a:t>
            </a:r>
            <a:r>
              <a:rPr dirty="0" sz="1200" spc="-5">
                <a:latin typeface="Arial"/>
                <a:cs typeface="Arial"/>
              </a:rPr>
              <a:t>said:</a:t>
            </a:r>
            <a:endParaRPr sz="1200">
              <a:latin typeface="Arial"/>
              <a:cs typeface="Arial"/>
            </a:endParaRPr>
          </a:p>
          <a:p>
            <a:pPr>
              <a:lnSpc>
                <a:spcPct val="100000"/>
              </a:lnSpc>
              <a:spcBef>
                <a:spcPts val="5"/>
              </a:spcBef>
            </a:pPr>
            <a:endParaRPr sz="1200">
              <a:latin typeface="Arial"/>
              <a:cs typeface="Arial"/>
            </a:endParaRPr>
          </a:p>
          <a:p>
            <a:pPr algn="just" marL="12700" marR="10795">
              <a:lnSpc>
                <a:spcPct val="95400"/>
              </a:lnSpc>
            </a:pPr>
            <a:r>
              <a:rPr dirty="0" sz="1200" b="1">
                <a:latin typeface="Arial"/>
                <a:cs typeface="Arial"/>
              </a:rPr>
              <a:t>“I </a:t>
            </a:r>
            <a:r>
              <a:rPr dirty="0" sz="1200" spc="-5" b="1">
                <a:latin typeface="Arial"/>
                <a:cs typeface="Arial"/>
              </a:rPr>
              <a:t>accompanied the Sufi </a:t>
            </a:r>
            <a:r>
              <a:rPr dirty="0" sz="1200" b="1">
                <a:latin typeface="Arial"/>
                <a:cs typeface="Arial"/>
              </a:rPr>
              <a:t>people and I </a:t>
            </a:r>
            <a:r>
              <a:rPr dirty="0" sz="1200" spc="-10" b="1">
                <a:latin typeface="Arial"/>
                <a:cs typeface="Arial"/>
              </a:rPr>
              <a:t>received </a:t>
            </a:r>
            <a:r>
              <a:rPr dirty="0" sz="1200" b="1">
                <a:latin typeface="Arial"/>
                <a:cs typeface="Arial"/>
              </a:rPr>
              <a:t>from </a:t>
            </a:r>
            <a:r>
              <a:rPr dirty="0" sz="1200" spc="-5" b="1">
                <a:latin typeface="Arial"/>
                <a:cs typeface="Arial"/>
              </a:rPr>
              <a:t>them three knowledges: </a:t>
            </a:r>
            <a:r>
              <a:rPr dirty="0" sz="1200" b="1">
                <a:latin typeface="Arial"/>
                <a:cs typeface="Arial"/>
              </a:rPr>
              <a:t>(1) </a:t>
            </a:r>
            <a:r>
              <a:rPr dirty="0" sz="1200" spc="-5" b="1">
                <a:latin typeface="Arial"/>
                <a:cs typeface="Arial"/>
              </a:rPr>
              <a:t>how </a:t>
            </a:r>
            <a:r>
              <a:rPr dirty="0" sz="1200" b="1">
                <a:latin typeface="Arial"/>
                <a:cs typeface="Arial"/>
              </a:rPr>
              <a:t>to  </a:t>
            </a:r>
            <a:r>
              <a:rPr dirty="0" sz="1200" spc="-5" b="1">
                <a:latin typeface="Arial"/>
                <a:cs typeface="Arial"/>
              </a:rPr>
              <a:t>speak; (2) how </a:t>
            </a:r>
            <a:r>
              <a:rPr dirty="0" sz="1200" b="1">
                <a:latin typeface="Arial"/>
                <a:cs typeface="Arial"/>
              </a:rPr>
              <a:t>to treat people with </a:t>
            </a:r>
            <a:r>
              <a:rPr dirty="0" sz="1200" spc="-5" b="1">
                <a:latin typeface="Arial"/>
                <a:cs typeface="Arial"/>
              </a:rPr>
              <a:t>leniency and a soft </a:t>
            </a:r>
            <a:r>
              <a:rPr dirty="0" sz="1200" b="1">
                <a:latin typeface="Arial"/>
                <a:cs typeface="Arial"/>
              </a:rPr>
              <a:t>heart, </a:t>
            </a:r>
            <a:r>
              <a:rPr dirty="0" sz="1200" spc="-5" b="1">
                <a:latin typeface="Arial"/>
                <a:cs typeface="Arial"/>
              </a:rPr>
              <a:t>(3) and </a:t>
            </a:r>
            <a:r>
              <a:rPr dirty="0" sz="1200" b="1">
                <a:latin typeface="Arial"/>
                <a:cs typeface="Arial"/>
              </a:rPr>
              <a:t>they guided me </a:t>
            </a:r>
            <a:r>
              <a:rPr dirty="0" sz="1200" spc="-5" b="1">
                <a:latin typeface="Arial"/>
                <a:cs typeface="Arial"/>
              </a:rPr>
              <a:t>in  the ways </a:t>
            </a:r>
            <a:r>
              <a:rPr dirty="0" sz="1200" b="1">
                <a:latin typeface="Arial"/>
                <a:cs typeface="Arial"/>
              </a:rPr>
              <a:t>of </a:t>
            </a:r>
            <a:r>
              <a:rPr dirty="0" sz="1200" spc="-5" b="1">
                <a:latin typeface="Arial"/>
                <a:cs typeface="Arial"/>
              </a:rPr>
              <a:t>Sufism.” </a:t>
            </a:r>
            <a:r>
              <a:rPr dirty="0" sz="1200" spc="-5" i="1">
                <a:latin typeface="Arial"/>
                <a:cs typeface="Arial"/>
              </a:rPr>
              <a:t>(Kashf al-Khafa, </a:t>
            </a:r>
            <a:r>
              <a:rPr dirty="0" sz="1200" spc="-55" i="1">
                <a:latin typeface="Arial"/>
                <a:cs typeface="Arial"/>
              </a:rPr>
              <a:t>‗Ajluni, </a:t>
            </a:r>
            <a:r>
              <a:rPr dirty="0" sz="1200" i="1">
                <a:latin typeface="Arial"/>
                <a:cs typeface="Arial"/>
              </a:rPr>
              <a:t>vol. </a:t>
            </a:r>
            <a:r>
              <a:rPr dirty="0" sz="1200" spc="-5" i="1">
                <a:latin typeface="Arial"/>
                <a:cs typeface="Arial"/>
              </a:rPr>
              <a:t>1, </a:t>
            </a:r>
            <a:r>
              <a:rPr dirty="0" sz="1200" i="1">
                <a:latin typeface="Arial"/>
                <a:cs typeface="Arial"/>
              </a:rPr>
              <a:t>p</a:t>
            </a:r>
            <a:r>
              <a:rPr dirty="0" sz="1200" spc="50" i="1">
                <a:latin typeface="Arial"/>
                <a:cs typeface="Arial"/>
              </a:rPr>
              <a:t> </a:t>
            </a:r>
            <a:r>
              <a:rPr dirty="0" sz="1200" spc="-5" i="1">
                <a:latin typeface="Arial"/>
                <a:cs typeface="Arial"/>
              </a:rPr>
              <a:t>341)</a:t>
            </a:r>
            <a:endParaRPr sz="1200">
              <a:latin typeface="Arial"/>
              <a:cs typeface="Arial"/>
            </a:endParaRPr>
          </a:p>
          <a:p>
            <a:pPr>
              <a:lnSpc>
                <a:spcPct val="100000"/>
              </a:lnSpc>
              <a:spcBef>
                <a:spcPts val="10"/>
              </a:spcBef>
            </a:pPr>
            <a:endParaRPr sz="1150">
              <a:latin typeface="Arial"/>
              <a:cs typeface="Arial"/>
            </a:endParaRPr>
          </a:p>
          <a:p>
            <a:pPr marL="12700">
              <a:lnSpc>
                <a:spcPct val="100000"/>
              </a:lnSpc>
            </a:pPr>
            <a:r>
              <a:rPr dirty="0" sz="1200" spc="-5">
                <a:latin typeface="Arial"/>
                <a:cs typeface="Arial"/>
              </a:rPr>
              <a:t>Imam Ahmad </a:t>
            </a:r>
            <a:r>
              <a:rPr dirty="0" sz="1200">
                <a:latin typeface="Arial"/>
                <a:cs typeface="Arial"/>
              </a:rPr>
              <a:t>bin </a:t>
            </a:r>
            <a:r>
              <a:rPr dirty="0" sz="1200" spc="-5">
                <a:latin typeface="Arial"/>
                <a:cs typeface="Arial"/>
              </a:rPr>
              <a:t>Hanbal (164 </a:t>
            </a:r>
            <a:r>
              <a:rPr dirty="0" sz="1200">
                <a:latin typeface="Arial"/>
                <a:cs typeface="Arial"/>
              </a:rPr>
              <a:t>- </a:t>
            </a:r>
            <a:r>
              <a:rPr dirty="0" sz="1200" spc="-5">
                <a:latin typeface="Arial"/>
                <a:cs typeface="Arial"/>
              </a:rPr>
              <a:t>241 </a:t>
            </a:r>
            <a:r>
              <a:rPr dirty="0" sz="1200">
                <a:latin typeface="Arial"/>
                <a:cs typeface="Arial"/>
              </a:rPr>
              <a:t>AH.)</a:t>
            </a:r>
            <a:r>
              <a:rPr dirty="0" sz="1200" spc="10">
                <a:latin typeface="Arial"/>
                <a:cs typeface="Arial"/>
              </a:rPr>
              <a:t> </a:t>
            </a:r>
            <a:r>
              <a:rPr dirty="0" sz="1200" spc="-5">
                <a:latin typeface="Arial"/>
                <a:cs typeface="Arial"/>
              </a:rPr>
              <a:t>said:</a:t>
            </a:r>
            <a:endParaRPr sz="1200">
              <a:latin typeface="Arial"/>
              <a:cs typeface="Arial"/>
            </a:endParaRPr>
          </a:p>
          <a:p>
            <a:pPr>
              <a:lnSpc>
                <a:spcPct val="100000"/>
              </a:lnSpc>
              <a:spcBef>
                <a:spcPts val="10"/>
              </a:spcBef>
            </a:pPr>
            <a:endParaRPr sz="1200">
              <a:latin typeface="Arial"/>
              <a:cs typeface="Arial"/>
            </a:endParaRPr>
          </a:p>
          <a:p>
            <a:pPr algn="just" marL="12700" marR="6350">
              <a:lnSpc>
                <a:spcPct val="95400"/>
              </a:lnSpc>
            </a:pPr>
            <a:r>
              <a:rPr dirty="0" sz="1200" b="1">
                <a:latin typeface="Arial"/>
                <a:cs typeface="Arial"/>
              </a:rPr>
              <a:t>“O </a:t>
            </a:r>
            <a:r>
              <a:rPr dirty="0" sz="1200" spc="5" b="1">
                <a:latin typeface="Arial"/>
                <a:cs typeface="Arial"/>
              </a:rPr>
              <a:t>my </a:t>
            </a:r>
            <a:r>
              <a:rPr dirty="0" sz="1200" b="1">
                <a:latin typeface="Arial"/>
                <a:cs typeface="Arial"/>
              </a:rPr>
              <a:t>son, </a:t>
            </a:r>
            <a:r>
              <a:rPr dirty="0" sz="1200" spc="-10" b="1">
                <a:latin typeface="Arial"/>
                <a:cs typeface="Arial"/>
              </a:rPr>
              <a:t>you </a:t>
            </a:r>
            <a:r>
              <a:rPr dirty="0" sz="1200" spc="-5" b="1">
                <a:latin typeface="Arial"/>
                <a:cs typeface="Arial"/>
              </a:rPr>
              <a:t>have </a:t>
            </a:r>
            <a:r>
              <a:rPr dirty="0" sz="1200" b="1">
                <a:latin typeface="Arial"/>
                <a:cs typeface="Arial"/>
              </a:rPr>
              <a:t>to sit with </a:t>
            </a:r>
            <a:r>
              <a:rPr dirty="0" sz="1200" spc="-5" b="1">
                <a:latin typeface="Arial"/>
                <a:cs typeface="Arial"/>
              </a:rPr>
              <a:t>the People </a:t>
            </a:r>
            <a:r>
              <a:rPr dirty="0" sz="1200" b="1">
                <a:latin typeface="Arial"/>
                <a:cs typeface="Arial"/>
              </a:rPr>
              <a:t>of </a:t>
            </a:r>
            <a:r>
              <a:rPr dirty="0" sz="1200" spc="-5" b="1">
                <a:latin typeface="Arial"/>
                <a:cs typeface="Arial"/>
              </a:rPr>
              <a:t>Sufism, because </a:t>
            </a:r>
            <a:r>
              <a:rPr dirty="0" sz="1200" b="1">
                <a:latin typeface="Arial"/>
                <a:cs typeface="Arial"/>
              </a:rPr>
              <a:t>they </a:t>
            </a:r>
            <a:r>
              <a:rPr dirty="0" sz="1200" spc="-5" b="1">
                <a:latin typeface="Arial"/>
                <a:cs typeface="Arial"/>
              </a:rPr>
              <a:t>are like a fountain  </a:t>
            </a:r>
            <a:r>
              <a:rPr dirty="0" sz="1200" b="1">
                <a:latin typeface="Arial"/>
                <a:cs typeface="Arial"/>
              </a:rPr>
              <a:t>of </a:t>
            </a:r>
            <a:r>
              <a:rPr dirty="0" sz="1200" spc="-5" b="1">
                <a:latin typeface="Arial"/>
                <a:cs typeface="Arial"/>
              </a:rPr>
              <a:t>knowledge and they keep the Remembrance </a:t>
            </a:r>
            <a:r>
              <a:rPr dirty="0" sz="1200" b="1">
                <a:latin typeface="Arial"/>
                <a:cs typeface="Arial"/>
              </a:rPr>
              <a:t>of </a:t>
            </a:r>
            <a:r>
              <a:rPr dirty="0" sz="1200" spc="-10" b="1">
                <a:latin typeface="Arial"/>
                <a:cs typeface="Arial"/>
              </a:rPr>
              <a:t>Allah </a:t>
            </a:r>
            <a:r>
              <a:rPr dirty="0" sz="1200" b="1">
                <a:latin typeface="Arial"/>
                <a:cs typeface="Arial"/>
              </a:rPr>
              <a:t>in </a:t>
            </a:r>
            <a:r>
              <a:rPr dirty="0" sz="1200" spc="-5" b="1">
                <a:latin typeface="Arial"/>
                <a:cs typeface="Arial"/>
              </a:rPr>
              <a:t>their hearts. They are the  ascetics </a:t>
            </a:r>
            <a:r>
              <a:rPr dirty="0" sz="1200" b="1">
                <a:latin typeface="Arial"/>
                <a:cs typeface="Arial"/>
              </a:rPr>
              <a:t>and they </a:t>
            </a:r>
            <a:r>
              <a:rPr dirty="0" sz="1200" spc="-5" b="1">
                <a:latin typeface="Arial"/>
                <a:cs typeface="Arial"/>
              </a:rPr>
              <a:t>have </a:t>
            </a:r>
            <a:r>
              <a:rPr dirty="0" sz="1200" b="1">
                <a:latin typeface="Arial"/>
                <a:cs typeface="Arial"/>
              </a:rPr>
              <a:t>the </a:t>
            </a:r>
            <a:r>
              <a:rPr dirty="0" sz="1200" spc="-5" b="1">
                <a:latin typeface="Arial"/>
                <a:cs typeface="Arial"/>
              </a:rPr>
              <a:t>most spiritual power.” </a:t>
            </a:r>
            <a:r>
              <a:rPr dirty="0" sz="1200" spc="-5" i="1">
                <a:latin typeface="Arial"/>
                <a:cs typeface="Arial"/>
              </a:rPr>
              <a:t>(Tanwir al-Qulub </a:t>
            </a:r>
            <a:r>
              <a:rPr dirty="0" sz="1200" i="1">
                <a:latin typeface="Arial"/>
                <a:cs typeface="Arial"/>
              </a:rPr>
              <a:t>p.</a:t>
            </a:r>
            <a:r>
              <a:rPr dirty="0" sz="1200" spc="25" i="1">
                <a:latin typeface="Arial"/>
                <a:cs typeface="Arial"/>
              </a:rPr>
              <a:t> </a:t>
            </a:r>
            <a:r>
              <a:rPr dirty="0" sz="1200" spc="-5" i="1">
                <a:latin typeface="Arial"/>
                <a:cs typeface="Arial"/>
              </a:rPr>
              <a:t>405)</a:t>
            </a:r>
            <a:endParaRPr sz="1200">
              <a:latin typeface="Arial"/>
              <a:cs typeface="Arial"/>
            </a:endParaRPr>
          </a:p>
          <a:p>
            <a:pPr>
              <a:lnSpc>
                <a:spcPct val="100000"/>
              </a:lnSpc>
              <a:spcBef>
                <a:spcPts val="10"/>
              </a:spcBef>
            </a:pPr>
            <a:endParaRPr sz="1150">
              <a:latin typeface="Arial"/>
              <a:cs typeface="Arial"/>
            </a:endParaRPr>
          </a:p>
          <a:p>
            <a:pPr marL="12700">
              <a:lnSpc>
                <a:spcPct val="100000"/>
              </a:lnSpc>
            </a:pPr>
            <a:r>
              <a:rPr dirty="0" u="heavy" sz="1200" spc="-5" b="1" i="1">
                <a:uFill>
                  <a:solidFill>
                    <a:srgbClr val="000000"/>
                  </a:solidFill>
                </a:uFill>
                <a:latin typeface="Arial"/>
                <a:cs typeface="Arial"/>
              </a:rPr>
              <a:t>The Sufi</a:t>
            </a:r>
            <a:r>
              <a:rPr dirty="0" u="heavy" sz="1200" spc="5" b="1" i="1">
                <a:uFill>
                  <a:solidFill>
                    <a:srgbClr val="000000"/>
                  </a:solidFill>
                </a:uFill>
                <a:latin typeface="Arial"/>
                <a:cs typeface="Arial"/>
              </a:rPr>
              <a:t> </a:t>
            </a:r>
            <a:r>
              <a:rPr dirty="0" u="heavy" sz="1200" b="1" i="1">
                <a:uFill>
                  <a:solidFill>
                    <a:srgbClr val="000000"/>
                  </a:solidFill>
                </a:uFill>
                <a:latin typeface="Arial"/>
                <a:cs typeface="Arial"/>
              </a:rPr>
              <a:t>Path</a:t>
            </a:r>
            <a:endParaRPr sz="1200">
              <a:latin typeface="Arial"/>
              <a:cs typeface="Arial"/>
            </a:endParaRPr>
          </a:p>
          <a:p>
            <a:pPr>
              <a:lnSpc>
                <a:spcPct val="100000"/>
              </a:lnSpc>
              <a:spcBef>
                <a:spcPts val="55"/>
              </a:spcBef>
            </a:pPr>
            <a:endParaRPr sz="1100">
              <a:latin typeface="Arial"/>
              <a:cs typeface="Arial"/>
            </a:endParaRPr>
          </a:p>
          <a:p>
            <a:pPr marL="413384" indent="-172720">
              <a:lnSpc>
                <a:spcPts val="1410"/>
              </a:lnSpc>
              <a:buFont typeface="Wingdings"/>
              <a:buChar char=""/>
              <a:tabLst>
                <a:tab pos="414020" algn="l"/>
              </a:tabLst>
            </a:pPr>
            <a:r>
              <a:rPr dirty="0" u="sng" sz="1200" spc="-300">
                <a:uFill>
                  <a:solidFill>
                    <a:srgbClr val="000000"/>
                  </a:solidFill>
                </a:uFill>
                <a:latin typeface="Times New Roman"/>
                <a:cs typeface="Times New Roman"/>
              </a:rPr>
              <a:t> </a:t>
            </a:r>
            <a:r>
              <a:rPr dirty="0" u="sng" sz="1200" spc="-5">
                <a:uFill>
                  <a:solidFill>
                    <a:srgbClr val="000000"/>
                  </a:solidFill>
                </a:uFill>
                <a:latin typeface="Arial"/>
                <a:cs typeface="Arial"/>
              </a:rPr>
              <a:t>Shari‘ah</a:t>
            </a:r>
            <a:r>
              <a:rPr dirty="0" sz="1200" spc="-5">
                <a:latin typeface="Arial"/>
                <a:cs typeface="Arial"/>
              </a:rPr>
              <a:t> (the whole concept of </a:t>
            </a:r>
            <a:r>
              <a:rPr dirty="0" sz="1200">
                <a:latin typeface="Arial"/>
                <a:cs typeface="Arial"/>
              </a:rPr>
              <a:t>the </a:t>
            </a:r>
            <a:r>
              <a:rPr dirty="0" sz="1200" spc="-5">
                <a:latin typeface="Arial"/>
                <a:cs typeface="Arial"/>
              </a:rPr>
              <a:t>Islamic</a:t>
            </a:r>
            <a:r>
              <a:rPr dirty="0" sz="1200" spc="5">
                <a:latin typeface="Arial"/>
                <a:cs typeface="Arial"/>
              </a:rPr>
              <a:t> </a:t>
            </a:r>
            <a:r>
              <a:rPr dirty="0" sz="1200" spc="-5">
                <a:latin typeface="Arial"/>
                <a:cs typeface="Arial"/>
              </a:rPr>
              <a:t>Law)</a:t>
            </a:r>
            <a:endParaRPr sz="1200">
              <a:latin typeface="Arial"/>
              <a:cs typeface="Arial"/>
            </a:endParaRPr>
          </a:p>
          <a:p>
            <a:pPr marL="413384" indent="-172720">
              <a:lnSpc>
                <a:spcPts val="1380"/>
              </a:lnSpc>
              <a:buFont typeface="Wingdings"/>
              <a:buChar char=""/>
              <a:tabLst>
                <a:tab pos="414020" algn="l"/>
              </a:tabLst>
            </a:pPr>
            <a:r>
              <a:rPr dirty="0" u="sng" sz="1200" spc="-5">
                <a:uFill>
                  <a:solidFill>
                    <a:srgbClr val="000000"/>
                  </a:solidFill>
                </a:uFill>
                <a:latin typeface="Arial"/>
                <a:cs typeface="Arial"/>
              </a:rPr>
              <a:t>Tariqah</a:t>
            </a:r>
            <a:r>
              <a:rPr dirty="0" sz="1200" spc="-5">
                <a:latin typeface="Arial"/>
                <a:cs typeface="Arial"/>
              </a:rPr>
              <a:t> (spiritual </a:t>
            </a:r>
            <a:r>
              <a:rPr dirty="0" sz="1200" spc="-10">
                <a:latin typeface="Arial"/>
                <a:cs typeface="Arial"/>
              </a:rPr>
              <a:t>way </a:t>
            </a:r>
            <a:r>
              <a:rPr dirty="0" sz="1200">
                <a:latin typeface="Arial"/>
                <a:cs typeface="Arial"/>
              </a:rPr>
              <a:t>and </a:t>
            </a:r>
            <a:r>
              <a:rPr dirty="0" sz="1200" spc="-5">
                <a:latin typeface="Arial"/>
                <a:cs typeface="Arial"/>
              </a:rPr>
              <a:t>exercises towards</a:t>
            </a:r>
            <a:r>
              <a:rPr dirty="0" sz="1200" spc="10">
                <a:latin typeface="Arial"/>
                <a:cs typeface="Arial"/>
              </a:rPr>
              <a:t> </a:t>
            </a:r>
            <a:r>
              <a:rPr dirty="0" sz="1200" spc="-5">
                <a:latin typeface="Arial"/>
                <a:cs typeface="Arial"/>
              </a:rPr>
              <a:t>Allah)</a:t>
            </a:r>
            <a:endParaRPr sz="1200">
              <a:latin typeface="Arial"/>
              <a:cs typeface="Arial"/>
            </a:endParaRPr>
          </a:p>
          <a:p>
            <a:pPr marL="413384" indent="-172720">
              <a:lnSpc>
                <a:spcPts val="1380"/>
              </a:lnSpc>
              <a:buFont typeface="Wingdings"/>
              <a:buChar char=""/>
              <a:tabLst>
                <a:tab pos="414020" algn="l"/>
              </a:tabLst>
            </a:pPr>
            <a:r>
              <a:rPr dirty="0" u="sng" sz="1200" spc="-5">
                <a:uFill>
                  <a:solidFill>
                    <a:srgbClr val="000000"/>
                  </a:solidFill>
                </a:uFill>
                <a:latin typeface="Arial"/>
                <a:cs typeface="Arial"/>
              </a:rPr>
              <a:t>Haqiqah</a:t>
            </a:r>
            <a:r>
              <a:rPr dirty="0" sz="1200" spc="-5">
                <a:latin typeface="Arial"/>
                <a:cs typeface="Arial"/>
              </a:rPr>
              <a:t> (spiritual awareness of the real</a:t>
            </a:r>
            <a:r>
              <a:rPr dirty="0" sz="1200" spc="15">
                <a:latin typeface="Arial"/>
                <a:cs typeface="Arial"/>
              </a:rPr>
              <a:t> </a:t>
            </a:r>
            <a:r>
              <a:rPr dirty="0" sz="1200">
                <a:latin typeface="Arial"/>
                <a:cs typeface="Arial"/>
              </a:rPr>
              <a:t>Truth)</a:t>
            </a:r>
            <a:endParaRPr sz="1200">
              <a:latin typeface="Arial"/>
              <a:cs typeface="Arial"/>
            </a:endParaRPr>
          </a:p>
          <a:p>
            <a:pPr marL="413384" indent="-172720">
              <a:lnSpc>
                <a:spcPts val="1410"/>
              </a:lnSpc>
              <a:buFont typeface="Wingdings"/>
              <a:buChar char=""/>
              <a:tabLst>
                <a:tab pos="414020" algn="l"/>
              </a:tabLst>
            </a:pPr>
            <a:r>
              <a:rPr dirty="0" u="sng" sz="1200" spc="-300">
                <a:uFill>
                  <a:solidFill>
                    <a:srgbClr val="000000"/>
                  </a:solidFill>
                </a:uFill>
                <a:latin typeface="Times New Roman"/>
                <a:cs typeface="Times New Roman"/>
              </a:rPr>
              <a:t> </a:t>
            </a:r>
            <a:r>
              <a:rPr dirty="0" u="sng" sz="1200" spc="-5">
                <a:uFill>
                  <a:solidFill>
                    <a:srgbClr val="000000"/>
                  </a:solidFill>
                </a:uFill>
                <a:latin typeface="Arial"/>
                <a:cs typeface="Arial"/>
              </a:rPr>
              <a:t>Ma‘rifah</a:t>
            </a:r>
            <a:r>
              <a:rPr dirty="0" sz="1200" spc="-5">
                <a:latin typeface="Arial"/>
                <a:cs typeface="Arial"/>
              </a:rPr>
              <a:t> (knowledge of </a:t>
            </a:r>
            <a:r>
              <a:rPr dirty="0" sz="1200">
                <a:latin typeface="Arial"/>
                <a:cs typeface="Arial"/>
              </a:rPr>
              <a:t>the </a:t>
            </a:r>
            <a:r>
              <a:rPr dirty="0" sz="1200" spc="-5">
                <a:latin typeface="Arial"/>
                <a:cs typeface="Arial"/>
              </a:rPr>
              <a:t>spiritual</a:t>
            </a:r>
            <a:r>
              <a:rPr dirty="0" sz="1200" spc="15">
                <a:latin typeface="Arial"/>
                <a:cs typeface="Arial"/>
              </a:rPr>
              <a:t> </a:t>
            </a:r>
            <a:r>
              <a:rPr dirty="0" sz="1200" spc="-5">
                <a:latin typeface="Arial"/>
                <a:cs typeface="Arial"/>
              </a:rPr>
              <a:t>realities)</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Daily Internal Concepts </a:t>
            </a:r>
            <a:r>
              <a:rPr dirty="0" u="heavy" sz="1200" b="1" i="1">
                <a:uFill>
                  <a:solidFill>
                    <a:srgbClr val="000000"/>
                  </a:solidFill>
                </a:uFill>
                <a:latin typeface="Arial"/>
                <a:cs typeface="Arial"/>
              </a:rPr>
              <a:t>and</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Practices</a:t>
            </a:r>
            <a:endParaRPr sz="1200">
              <a:latin typeface="Arial"/>
              <a:cs typeface="Arial"/>
            </a:endParaRPr>
          </a:p>
          <a:p>
            <a:pPr>
              <a:lnSpc>
                <a:spcPct val="100000"/>
              </a:lnSpc>
              <a:spcBef>
                <a:spcPts val="55"/>
              </a:spcBef>
            </a:pPr>
            <a:endParaRPr sz="1100">
              <a:latin typeface="Arial"/>
              <a:cs typeface="Arial"/>
            </a:endParaRPr>
          </a:p>
          <a:p>
            <a:pPr marL="413384" indent="-172720">
              <a:lnSpc>
                <a:spcPts val="1410"/>
              </a:lnSpc>
              <a:buAutoNum type="arabicPeriod"/>
              <a:tabLst>
                <a:tab pos="414020" algn="l"/>
              </a:tabLst>
            </a:pPr>
            <a:r>
              <a:rPr dirty="0" u="sng" sz="1200" spc="-5">
                <a:uFill>
                  <a:solidFill>
                    <a:srgbClr val="000000"/>
                  </a:solidFill>
                </a:uFill>
                <a:latin typeface="Arial"/>
                <a:cs typeface="Arial"/>
              </a:rPr>
              <a:t>Tawbah</a:t>
            </a:r>
            <a:r>
              <a:rPr dirty="0" sz="1200" spc="-5">
                <a:latin typeface="Arial"/>
                <a:cs typeface="Arial"/>
              </a:rPr>
              <a:t> (Repentance </a:t>
            </a:r>
            <a:r>
              <a:rPr dirty="0" sz="1200">
                <a:latin typeface="Arial"/>
                <a:cs typeface="Arial"/>
              </a:rPr>
              <a:t>for small </a:t>
            </a:r>
            <a:r>
              <a:rPr dirty="0" sz="1200" spc="-5">
                <a:latin typeface="Arial"/>
                <a:cs typeface="Arial"/>
              </a:rPr>
              <a:t>and big</a:t>
            </a:r>
            <a:r>
              <a:rPr dirty="0" sz="1200" spc="-25">
                <a:latin typeface="Arial"/>
                <a:cs typeface="Arial"/>
              </a:rPr>
              <a:t> </a:t>
            </a:r>
            <a:r>
              <a:rPr dirty="0" sz="1200" spc="-5">
                <a:latin typeface="Arial"/>
                <a:cs typeface="Arial"/>
              </a:rPr>
              <a:t>sins)</a:t>
            </a:r>
            <a:endParaRPr sz="1200">
              <a:latin typeface="Arial"/>
              <a:cs typeface="Arial"/>
            </a:endParaRPr>
          </a:p>
          <a:p>
            <a:pPr marL="413384" indent="-172720">
              <a:lnSpc>
                <a:spcPts val="1380"/>
              </a:lnSpc>
              <a:buAutoNum type="arabicPeriod"/>
              <a:tabLst>
                <a:tab pos="414020" algn="l"/>
              </a:tabLst>
            </a:pPr>
            <a:r>
              <a:rPr dirty="0" u="sng" sz="1200" spc="-5">
                <a:uFill>
                  <a:solidFill>
                    <a:srgbClr val="000000"/>
                  </a:solidFill>
                </a:uFill>
                <a:latin typeface="Arial"/>
                <a:cs typeface="Arial"/>
              </a:rPr>
              <a:t>Muhaasabah</a:t>
            </a:r>
            <a:r>
              <a:rPr dirty="0" sz="1200" spc="-5">
                <a:latin typeface="Arial"/>
                <a:cs typeface="Arial"/>
              </a:rPr>
              <a:t> (Analysing </a:t>
            </a:r>
            <a:r>
              <a:rPr dirty="0" sz="1200">
                <a:latin typeface="Arial"/>
                <a:cs typeface="Arial"/>
              </a:rPr>
              <a:t>our</a:t>
            </a:r>
            <a:r>
              <a:rPr dirty="0" sz="1200" spc="10">
                <a:latin typeface="Arial"/>
                <a:cs typeface="Arial"/>
              </a:rPr>
              <a:t> </a:t>
            </a:r>
            <a:r>
              <a:rPr dirty="0" sz="1200">
                <a:latin typeface="Arial"/>
                <a:cs typeface="Arial"/>
              </a:rPr>
              <a:t>nafs)</a:t>
            </a:r>
            <a:endParaRPr sz="1200">
              <a:latin typeface="Arial"/>
              <a:cs typeface="Arial"/>
            </a:endParaRPr>
          </a:p>
          <a:p>
            <a:pPr marL="413384" indent="-172720">
              <a:lnSpc>
                <a:spcPts val="1380"/>
              </a:lnSpc>
              <a:buAutoNum type="arabicPeriod"/>
              <a:tabLst>
                <a:tab pos="414020" algn="l"/>
              </a:tabLst>
            </a:pPr>
            <a:r>
              <a:rPr dirty="0" u="sng" sz="1200" spc="-5">
                <a:uFill>
                  <a:solidFill>
                    <a:srgbClr val="000000"/>
                  </a:solidFill>
                </a:uFill>
                <a:latin typeface="Arial"/>
                <a:cs typeface="Arial"/>
              </a:rPr>
              <a:t>Khawf</a:t>
            </a:r>
            <a:r>
              <a:rPr dirty="0" sz="1200" spc="-5">
                <a:latin typeface="Arial"/>
                <a:cs typeface="Arial"/>
              </a:rPr>
              <a:t> (fear </a:t>
            </a:r>
            <a:r>
              <a:rPr dirty="0" sz="1200">
                <a:latin typeface="Arial"/>
                <a:cs typeface="Arial"/>
              </a:rPr>
              <a:t>for</a:t>
            </a:r>
            <a:r>
              <a:rPr dirty="0" sz="1200" spc="-5">
                <a:latin typeface="Arial"/>
                <a:cs typeface="Arial"/>
              </a:rPr>
              <a:t> Allah)</a:t>
            </a:r>
            <a:endParaRPr sz="1200">
              <a:latin typeface="Arial"/>
              <a:cs typeface="Arial"/>
            </a:endParaRPr>
          </a:p>
          <a:p>
            <a:pPr marL="413384" indent="-172720">
              <a:lnSpc>
                <a:spcPts val="1380"/>
              </a:lnSpc>
              <a:buAutoNum type="arabicPeriod"/>
              <a:tabLst>
                <a:tab pos="414020" algn="l"/>
              </a:tabLst>
            </a:pPr>
            <a:r>
              <a:rPr dirty="0" u="sng" sz="1200" spc="-5">
                <a:uFill>
                  <a:solidFill>
                    <a:srgbClr val="000000"/>
                  </a:solidFill>
                </a:uFill>
                <a:latin typeface="Arial"/>
                <a:cs typeface="Arial"/>
              </a:rPr>
              <a:t>Rajaa</a:t>
            </a:r>
            <a:r>
              <a:rPr dirty="0" sz="1200" spc="-5">
                <a:latin typeface="Arial"/>
                <a:cs typeface="Arial"/>
              </a:rPr>
              <a:t> (hope </a:t>
            </a:r>
            <a:r>
              <a:rPr dirty="0" sz="1200" spc="-10">
                <a:latin typeface="Arial"/>
                <a:cs typeface="Arial"/>
              </a:rPr>
              <a:t>we </a:t>
            </a:r>
            <a:r>
              <a:rPr dirty="0" sz="1200" spc="-5">
                <a:latin typeface="Arial"/>
                <a:cs typeface="Arial"/>
              </a:rPr>
              <a:t>place </a:t>
            </a:r>
            <a:r>
              <a:rPr dirty="0" sz="1200" spc="-10">
                <a:latin typeface="Arial"/>
                <a:cs typeface="Arial"/>
              </a:rPr>
              <a:t>in</a:t>
            </a:r>
            <a:r>
              <a:rPr dirty="0" sz="1200" spc="25">
                <a:latin typeface="Arial"/>
                <a:cs typeface="Arial"/>
              </a:rPr>
              <a:t> </a:t>
            </a:r>
            <a:r>
              <a:rPr dirty="0" sz="1200" spc="-5">
                <a:latin typeface="Arial"/>
                <a:cs typeface="Arial"/>
              </a:rPr>
              <a:t>Allah)</a:t>
            </a:r>
            <a:endParaRPr sz="1200">
              <a:latin typeface="Arial"/>
              <a:cs typeface="Arial"/>
            </a:endParaRPr>
          </a:p>
          <a:p>
            <a:pPr marL="413384" indent="-172720">
              <a:lnSpc>
                <a:spcPts val="1380"/>
              </a:lnSpc>
              <a:buAutoNum type="arabicPeriod"/>
              <a:tabLst>
                <a:tab pos="414020" algn="l"/>
              </a:tabLst>
            </a:pPr>
            <a:r>
              <a:rPr dirty="0" u="sng" sz="1200" spc="-5">
                <a:uFill>
                  <a:solidFill>
                    <a:srgbClr val="000000"/>
                  </a:solidFill>
                </a:uFill>
                <a:latin typeface="Arial"/>
                <a:cs typeface="Arial"/>
              </a:rPr>
              <a:t>Swidq</a:t>
            </a:r>
            <a:r>
              <a:rPr dirty="0" sz="1200" spc="-5">
                <a:latin typeface="Arial"/>
                <a:cs typeface="Arial"/>
              </a:rPr>
              <a:t> </a:t>
            </a:r>
            <a:r>
              <a:rPr dirty="0" sz="1200">
                <a:latin typeface="Arial"/>
                <a:cs typeface="Arial"/>
              </a:rPr>
              <a:t>(Attestation </a:t>
            </a:r>
            <a:r>
              <a:rPr dirty="0" sz="1200" spc="-5">
                <a:latin typeface="Arial"/>
                <a:cs typeface="Arial"/>
              </a:rPr>
              <a:t>of truth)</a:t>
            </a:r>
            <a:endParaRPr sz="1200">
              <a:latin typeface="Arial"/>
              <a:cs typeface="Arial"/>
            </a:endParaRPr>
          </a:p>
          <a:p>
            <a:pPr marL="413384" indent="-172720">
              <a:lnSpc>
                <a:spcPts val="1380"/>
              </a:lnSpc>
              <a:buAutoNum type="arabicPeriod"/>
              <a:tabLst>
                <a:tab pos="414020" algn="l"/>
              </a:tabLst>
            </a:pPr>
            <a:r>
              <a:rPr dirty="0" u="sng" sz="1200">
                <a:uFill>
                  <a:solidFill>
                    <a:srgbClr val="000000"/>
                  </a:solidFill>
                </a:uFill>
                <a:latin typeface="Arial"/>
                <a:cs typeface="Arial"/>
              </a:rPr>
              <a:t>Ikhlaas</a:t>
            </a:r>
            <a:r>
              <a:rPr dirty="0" sz="1200">
                <a:latin typeface="Arial"/>
                <a:cs typeface="Arial"/>
              </a:rPr>
              <a:t> </a:t>
            </a:r>
            <a:r>
              <a:rPr dirty="0" sz="1200" spc="-5">
                <a:latin typeface="Arial"/>
                <a:cs typeface="Arial"/>
              </a:rPr>
              <a:t>(Sincerity in faith and</a:t>
            </a:r>
            <a:r>
              <a:rPr dirty="0" sz="1200">
                <a:latin typeface="Arial"/>
                <a:cs typeface="Arial"/>
              </a:rPr>
              <a:t> </a:t>
            </a:r>
            <a:r>
              <a:rPr dirty="0" sz="1200" spc="-5">
                <a:latin typeface="Arial"/>
                <a:cs typeface="Arial"/>
              </a:rPr>
              <a:t>action)</a:t>
            </a:r>
            <a:endParaRPr sz="1200">
              <a:latin typeface="Arial"/>
              <a:cs typeface="Arial"/>
            </a:endParaRPr>
          </a:p>
          <a:p>
            <a:pPr marL="413384" indent="-172720">
              <a:lnSpc>
                <a:spcPts val="1375"/>
              </a:lnSpc>
              <a:buAutoNum type="arabicPeriod"/>
              <a:tabLst>
                <a:tab pos="414020" algn="l"/>
              </a:tabLst>
            </a:pPr>
            <a:r>
              <a:rPr dirty="0" u="sng" sz="1200" spc="-5">
                <a:uFill>
                  <a:solidFill>
                    <a:srgbClr val="000000"/>
                  </a:solidFill>
                </a:uFill>
                <a:latin typeface="Arial"/>
                <a:cs typeface="Arial"/>
              </a:rPr>
              <a:t>Swabr</a:t>
            </a:r>
            <a:r>
              <a:rPr dirty="0" sz="1200" spc="-5">
                <a:latin typeface="Arial"/>
                <a:cs typeface="Arial"/>
              </a:rPr>
              <a:t> (Patience </a:t>
            </a:r>
            <a:r>
              <a:rPr dirty="0" sz="1200" spc="-10">
                <a:latin typeface="Arial"/>
                <a:cs typeface="Arial"/>
              </a:rPr>
              <a:t>in </a:t>
            </a:r>
            <a:r>
              <a:rPr dirty="0" sz="1200" spc="-5">
                <a:latin typeface="Arial"/>
                <a:cs typeface="Arial"/>
              </a:rPr>
              <a:t>worldly </a:t>
            </a:r>
            <a:r>
              <a:rPr dirty="0" sz="1200">
                <a:latin typeface="Arial"/>
                <a:cs typeface="Arial"/>
              </a:rPr>
              <a:t>and </a:t>
            </a:r>
            <a:r>
              <a:rPr dirty="0" sz="1200" spc="-5">
                <a:latin typeface="Arial"/>
                <a:cs typeface="Arial"/>
              </a:rPr>
              <a:t>spiritual</a:t>
            </a:r>
            <a:r>
              <a:rPr dirty="0" sz="1200" spc="10">
                <a:latin typeface="Arial"/>
                <a:cs typeface="Arial"/>
              </a:rPr>
              <a:t> </a:t>
            </a:r>
            <a:r>
              <a:rPr dirty="0" sz="1200" spc="-5">
                <a:latin typeface="Arial"/>
                <a:cs typeface="Arial"/>
              </a:rPr>
              <a:t>affairs)</a:t>
            </a:r>
            <a:endParaRPr sz="1200">
              <a:latin typeface="Arial"/>
              <a:cs typeface="Arial"/>
            </a:endParaRPr>
          </a:p>
          <a:p>
            <a:pPr marL="413384" indent="-172720">
              <a:lnSpc>
                <a:spcPts val="1375"/>
              </a:lnSpc>
              <a:buAutoNum type="arabicPeriod"/>
              <a:tabLst>
                <a:tab pos="414020" algn="l"/>
              </a:tabLst>
            </a:pPr>
            <a:r>
              <a:rPr dirty="0" u="sng" sz="1200" spc="-5">
                <a:uFill>
                  <a:solidFill>
                    <a:srgbClr val="000000"/>
                  </a:solidFill>
                </a:uFill>
                <a:latin typeface="Arial"/>
                <a:cs typeface="Arial"/>
              </a:rPr>
              <a:t>Waraa</a:t>
            </a:r>
            <a:r>
              <a:rPr dirty="0" sz="1200" spc="-5">
                <a:latin typeface="Arial"/>
                <a:cs typeface="Arial"/>
              </a:rPr>
              <a:t> (Abstaining from haram and</a:t>
            </a:r>
            <a:r>
              <a:rPr dirty="0" sz="1200">
                <a:latin typeface="Arial"/>
                <a:cs typeface="Arial"/>
              </a:rPr>
              <a:t> </a:t>
            </a:r>
            <a:r>
              <a:rPr dirty="0" sz="1200" spc="-5">
                <a:latin typeface="Arial"/>
                <a:cs typeface="Arial"/>
              </a:rPr>
              <a:t>doubtful)</a:t>
            </a:r>
            <a:endParaRPr sz="1200">
              <a:latin typeface="Arial"/>
              <a:cs typeface="Arial"/>
            </a:endParaRPr>
          </a:p>
          <a:p>
            <a:pPr marL="413384" indent="-172720">
              <a:lnSpc>
                <a:spcPts val="1380"/>
              </a:lnSpc>
              <a:buAutoNum type="arabicPeriod"/>
              <a:tabLst>
                <a:tab pos="414020" algn="l"/>
              </a:tabLst>
            </a:pPr>
            <a:r>
              <a:rPr dirty="0" u="sng" sz="1200">
                <a:uFill>
                  <a:solidFill>
                    <a:srgbClr val="000000"/>
                  </a:solidFill>
                </a:uFill>
                <a:latin typeface="Arial"/>
                <a:cs typeface="Arial"/>
              </a:rPr>
              <a:t>Zuhd</a:t>
            </a:r>
            <a:r>
              <a:rPr dirty="0" sz="1200">
                <a:latin typeface="Arial"/>
                <a:cs typeface="Arial"/>
              </a:rPr>
              <a:t> </a:t>
            </a:r>
            <a:r>
              <a:rPr dirty="0" sz="1200" spc="-5">
                <a:latin typeface="Arial"/>
                <a:cs typeface="Arial"/>
              </a:rPr>
              <a:t>(Abstaining </a:t>
            </a:r>
            <a:r>
              <a:rPr dirty="0" sz="1200">
                <a:latin typeface="Arial"/>
                <a:cs typeface="Arial"/>
              </a:rPr>
              <a:t>from </a:t>
            </a:r>
            <a:r>
              <a:rPr dirty="0" sz="1200" spc="-5">
                <a:latin typeface="Arial"/>
                <a:cs typeface="Arial"/>
              </a:rPr>
              <a:t>love </a:t>
            </a:r>
            <a:r>
              <a:rPr dirty="0" sz="1200">
                <a:latin typeface="Arial"/>
                <a:cs typeface="Arial"/>
              </a:rPr>
              <a:t>of </a:t>
            </a:r>
            <a:r>
              <a:rPr dirty="0" sz="1200" spc="-5">
                <a:latin typeface="Arial"/>
                <a:cs typeface="Arial"/>
              </a:rPr>
              <a:t>worldly</a:t>
            </a:r>
            <a:r>
              <a:rPr dirty="0" sz="1200" spc="-20">
                <a:latin typeface="Arial"/>
                <a:cs typeface="Arial"/>
              </a:rPr>
              <a:t> </a:t>
            </a:r>
            <a:r>
              <a:rPr dirty="0" sz="1200" spc="-5">
                <a:latin typeface="Arial"/>
                <a:cs typeface="Arial"/>
              </a:rPr>
              <a:t>luxuries)</a:t>
            </a:r>
            <a:endParaRPr sz="1200">
              <a:latin typeface="Arial"/>
              <a:cs typeface="Arial"/>
            </a:endParaRPr>
          </a:p>
          <a:p>
            <a:pPr marL="469900" indent="-229235">
              <a:lnSpc>
                <a:spcPts val="1380"/>
              </a:lnSpc>
              <a:buAutoNum type="arabicPeriod"/>
              <a:tabLst>
                <a:tab pos="470534" algn="l"/>
              </a:tabLst>
            </a:pPr>
            <a:r>
              <a:rPr dirty="0" u="sng" sz="1200" spc="-5">
                <a:uFill>
                  <a:solidFill>
                    <a:srgbClr val="000000"/>
                  </a:solidFill>
                </a:uFill>
                <a:latin typeface="Arial"/>
                <a:cs typeface="Arial"/>
              </a:rPr>
              <a:t>Radwaa</a:t>
            </a:r>
            <a:r>
              <a:rPr dirty="0" sz="1200" spc="-5">
                <a:latin typeface="Arial"/>
                <a:cs typeface="Arial"/>
              </a:rPr>
              <a:t> (Satisfaction </a:t>
            </a:r>
            <a:r>
              <a:rPr dirty="0" sz="1200">
                <a:latin typeface="Arial"/>
                <a:cs typeface="Arial"/>
              </a:rPr>
              <a:t>from </a:t>
            </a:r>
            <a:r>
              <a:rPr dirty="0" sz="1200" spc="-5">
                <a:latin typeface="Arial"/>
                <a:cs typeface="Arial"/>
              </a:rPr>
              <a:t>what Allah</a:t>
            </a:r>
            <a:r>
              <a:rPr dirty="0" sz="1200" spc="15">
                <a:latin typeface="Arial"/>
                <a:cs typeface="Arial"/>
              </a:rPr>
              <a:t> </a:t>
            </a:r>
            <a:r>
              <a:rPr dirty="0" sz="1200" spc="-5">
                <a:latin typeface="Arial"/>
                <a:cs typeface="Arial"/>
              </a:rPr>
              <a:t>gives)</a:t>
            </a:r>
            <a:endParaRPr sz="1200">
              <a:latin typeface="Arial"/>
              <a:cs typeface="Arial"/>
            </a:endParaRPr>
          </a:p>
          <a:p>
            <a:pPr marL="469900" indent="-229235">
              <a:lnSpc>
                <a:spcPts val="1380"/>
              </a:lnSpc>
              <a:buAutoNum type="arabicPeriod"/>
              <a:tabLst>
                <a:tab pos="470534" algn="l"/>
              </a:tabLst>
            </a:pPr>
            <a:r>
              <a:rPr dirty="0" u="sng" sz="1200" spc="-5">
                <a:uFill>
                  <a:solidFill>
                    <a:srgbClr val="000000"/>
                  </a:solidFill>
                </a:uFill>
                <a:latin typeface="Arial"/>
                <a:cs typeface="Arial"/>
              </a:rPr>
              <a:t>Tawakkul</a:t>
            </a:r>
            <a:r>
              <a:rPr dirty="0" sz="1200" spc="-5">
                <a:latin typeface="Arial"/>
                <a:cs typeface="Arial"/>
              </a:rPr>
              <a:t> (Complete Trust in Allah in </a:t>
            </a:r>
            <a:r>
              <a:rPr dirty="0" sz="1200">
                <a:latin typeface="Arial"/>
                <a:cs typeface="Arial"/>
              </a:rPr>
              <a:t>all</a:t>
            </a:r>
            <a:r>
              <a:rPr dirty="0" sz="1200" spc="10">
                <a:latin typeface="Arial"/>
                <a:cs typeface="Arial"/>
              </a:rPr>
              <a:t> </a:t>
            </a:r>
            <a:r>
              <a:rPr dirty="0" sz="1200" spc="-5">
                <a:latin typeface="Arial"/>
                <a:cs typeface="Arial"/>
              </a:rPr>
              <a:t>circumstances)</a:t>
            </a:r>
            <a:endParaRPr sz="1200">
              <a:latin typeface="Arial"/>
              <a:cs typeface="Arial"/>
            </a:endParaRPr>
          </a:p>
          <a:p>
            <a:pPr marL="469900" indent="-229235">
              <a:lnSpc>
                <a:spcPts val="1410"/>
              </a:lnSpc>
              <a:buAutoNum type="arabicPeriod"/>
              <a:tabLst>
                <a:tab pos="470534" algn="l"/>
              </a:tabLst>
            </a:pPr>
            <a:r>
              <a:rPr dirty="0" u="sng" sz="1200" spc="-5">
                <a:uFill>
                  <a:solidFill>
                    <a:srgbClr val="000000"/>
                  </a:solidFill>
                </a:uFill>
                <a:latin typeface="Arial"/>
                <a:cs typeface="Arial"/>
              </a:rPr>
              <a:t>Shukr</a:t>
            </a:r>
            <a:r>
              <a:rPr dirty="0" sz="1200" spc="-5">
                <a:latin typeface="Arial"/>
                <a:cs typeface="Arial"/>
              </a:rPr>
              <a:t> (Everyday Thanks </a:t>
            </a:r>
            <a:r>
              <a:rPr dirty="0" sz="1200">
                <a:latin typeface="Arial"/>
                <a:cs typeface="Arial"/>
              </a:rPr>
              <a:t>to </a:t>
            </a:r>
            <a:r>
              <a:rPr dirty="0" sz="1200" spc="-5">
                <a:latin typeface="Arial"/>
                <a:cs typeface="Arial"/>
              </a:rPr>
              <a:t>Allah </a:t>
            </a:r>
            <a:r>
              <a:rPr dirty="0" sz="1200">
                <a:latin typeface="Arial"/>
                <a:cs typeface="Arial"/>
              </a:rPr>
              <a:t>for</a:t>
            </a:r>
            <a:r>
              <a:rPr dirty="0" sz="1200" spc="-20">
                <a:latin typeface="Arial"/>
                <a:cs typeface="Arial"/>
              </a:rPr>
              <a:t> </a:t>
            </a:r>
            <a:r>
              <a:rPr dirty="0" sz="1200" spc="-5">
                <a:latin typeface="Arial"/>
                <a:cs typeface="Arial"/>
              </a:rPr>
              <a:t>everything)</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External Concepts and</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Practices</a:t>
            </a:r>
            <a:endParaRPr sz="1200">
              <a:latin typeface="Arial"/>
              <a:cs typeface="Arial"/>
            </a:endParaRPr>
          </a:p>
          <a:p>
            <a:pPr>
              <a:lnSpc>
                <a:spcPct val="100000"/>
              </a:lnSpc>
              <a:spcBef>
                <a:spcPts val="35"/>
              </a:spcBef>
            </a:pPr>
            <a:endParaRPr sz="1200">
              <a:latin typeface="Arial"/>
              <a:cs typeface="Arial"/>
            </a:endParaRPr>
          </a:p>
          <a:p>
            <a:pPr marL="469900" marR="10160" indent="-228600">
              <a:lnSpc>
                <a:spcPts val="1380"/>
              </a:lnSpc>
              <a:buAutoNum type="arabicPeriod"/>
              <a:tabLst>
                <a:tab pos="414020" algn="l"/>
              </a:tabLst>
            </a:pPr>
            <a:r>
              <a:rPr dirty="0" u="sng" sz="1200" spc="-5">
                <a:uFill>
                  <a:solidFill>
                    <a:srgbClr val="000000"/>
                  </a:solidFill>
                </a:uFill>
                <a:latin typeface="Arial"/>
                <a:cs typeface="Arial"/>
              </a:rPr>
              <a:t>Dhikr</a:t>
            </a:r>
            <a:r>
              <a:rPr dirty="0" sz="1200" spc="-5">
                <a:latin typeface="Arial"/>
                <a:cs typeface="Arial"/>
              </a:rPr>
              <a:t> (Constant Remembrance of Allah through any kind </a:t>
            </a:r>
            <a:r>
              <a:rPr dirty="0" sz="1200">
                <a:latin typeface="Arial"/>
                <a:cs typeface="Arial"/>
              </a:rPr>
              <a:t>of </a:t>
            </a:r>
            <a:r>
              <a:rPr dirty="0" sz="1200" spc="-5">
                <a:latin typeface="Arial"/>
                <a:cs typeface="Arial"/>
              </a:rPr>
              <a:t>Ibaadah especially  Shahadah </a:t>
            </a:r>
            <a:r>
              <a:rPr dirty="0" sz="1200">
                <a:latin typeface="Arial"/>
                <a:cs typeface="Arial"/>
              </a:rPr>
              <a:t>– </a:t>
            </a:r>
            <a:r>
              <a:rPr dirty="0" sz="1200" spc="-5">
                <a:latin typeface="Arial"/>
                <a:cs typeface="Arial"/>
              </a:rPr>
              <a:t>Laa Ilaaha</a:t>
            </a:r>
            <a:r>
              <a:rPr dirty="0" sz="1200" spc="10">
                <a:latin typeface="Arial"/>
                <a:cs typeface="Arial"/>
              </a:rPr>
              <a:t> </a:t>
            </a:r>
            <a:r>
              <a:rPr dirty="0" sz="1200" spc="-5">
                <a:latin typeface="Arial"/>
                <a:cs typeface="Arial"/>
              </a:rPr>
              <a:t>Illallah)</a:t>
            </a:r>
            <a:endParaRPr sz="1200">
              <a:latin typeface="Arial"/>
              <a:cs typeface="Arial"/>
            </a:endParaRPr>
          </a:p>
          <a:p>
            <a:pPr marL="413384" indent="-172720">
              <a:lnSpc>
                <a:spcPts val="1315"/>
              </a:lnSpc>
              <a:buAutoNum type="arabicPeriod"/>
              <a:tabLst>
                <a:tab pos="414020" algn="l"/>
              </a:tabLst>
            </a:pPr>
            <a:r>
              <a:rPr dirty="0" u="sng" sz="1200" spc="-5">
                <a:uFill>
                  <a:solidFill>
                    <a:srgbClr val="000000"/>
                  </a:solidFill>
                </a:uFill>
                <a:latin typeface="Arial"/>
                <a:cs typeface="Arial"/>
              </a:rPr>
              <a:t>Muzaakarah</a:t>
            </a:r>
            <a:r>
              <a:rPr dirty="0" sz="1200" spc="-5">
                <a:latin typeface="Arial"/>
                <a:cs typeface="Arial"/>
              </a:rPr>
              <a:t> (Seeking guidance from Shaikh </a:t>
            </a:r>
            <a:r>
              <a:rPr dirty="0" sz="1200">
                <a:latin typeface="Arial"/>
                <a:cs typeface="Arial"/>
              </a:rPr>
              <a:t>for </a:t>
            </a:r>
            <a:r>
              <a:rPr dirty="0" sz="1200" spc="-5">
                <a:latin typeface="Arial"/>
                <a:cs typeface="Arial"/>
              </a:rPr>
              <a:t>Shari‘ah and</a:t>
            </a:r>
            <a:r>
              <a:rPr dirty="0" sz="1200" spc="20">
                <a:latin typeface="Arial"/>
                <a:cs typeface="Arial"/>
              </a:rPr>
              <a:t> </a:t>
            </a:r>
            <a:r>
              <a:rPr dirty="0" sz="1200" spc="-5">
                <a:latin typeface="Arial"/>
                <a:cs typeface="Arial"/>
              </a:rPr>
              <a:t>spirituality)</a:t>
            </a:r>
            <a:endParaRPr sz="1200">
              <a:latin typeface="Arial"/>
              <a:cs typeface="Arial"/>
            </a:endParaRPr>
          </a:p>
          <a:p>
            <a:pPr marL="469900" marR="10160" indent="-228600">
              <a:lnSpc>
                <a:spcPts val="1380"/>
              </a:lnSpc>
              <a:spcBef>
                <a:spcPts val="70"/>
              </a:spcBef>
              <a:buAutoNum type="arabicPeriod"/>
              <a:tabLst>
                <a:tab pos="414020" algn="l"/>
              </a:tabLst>
            </a:pPr>
            <a:r>
              <a:rPr dirty="0" u="sng" sz="1200" spc="-5">
                <a:uFill>
                  <a:solidFill>
                    <a:srgbClr val="000000"/>
                  </a:solidFill>
                </a:uFill>
                <a:latin typeface="Arial"/>
                <a:cs typeface="Arial"/>
              </a:rPr>
              <a:t>Khalwah</a:t>
            </a:r>
            <a:r>
              <a:rPr dirty="0" sz="1200" spc="-5">
                <a:latin typeface="Arial"/>
                <a:cs typeface="Arial"/>
              </a:rPr>
              <a:t> (Ikhtikaf Ramadhan and retreat </a:t>
            </a:r>
            <a:r>
              <a:rPr dirty="0" sz="1200">
                <a:latin typeface="Arial"/>
                <a:cs typeface="Arial"/>
              </a:rPr>
              <a:t>for </a:t>
            </a:r>
            <a:r>
              <a:rPr dirty="0" sz="1200" spc="-5">
                <a:latin typeface="Arial"/>
                <a:cs typeface="Arial"/>
              </a:rPr>
              <a:t>any length (short </a:t>
            </a:r>
            <a:r>
              <a:rPr dirty="0" sz="1200">
                <a:latin typeface="Arial"/>
                <a:cs typeface="Arial"/>
              </a:rPr>
              <a:t>/ </a:t>
            </a:r>
            <a:r>
              <a:rPr dirty="0" sz="1200" spc="-5">
                <a:latin typeface="Arial"/>
                <a:cs typeface="Arial"/>
              </a:rPr>
              <a:t>long) of </a:t>
            </a:r>
            <a:r>
              <a:rPr dirty="0" sz="1200">
                <a:latin typeface="Arial"/>
                <a:cs typeface="Arial"/>
              </a:rPr>
              <a:t>time for  </a:t>
            </a:r>
            <a:r>
              <a:rPr dirty="0" sz="1200" spc="-5">
                <a:latin typeface="Arial"/>
                <a:cs typeface="Arial"/>
              </a:rPr>
              <a:t>Ibaadah)</a:t>
            </a:r>
            <a:endParaRPr sz="1200">
              <a:latin typeface="Arial"/>
              <a:cs typeface="Arial"/>
            </a:endParaRPr>
          </a:p>
          <a:p>
            <a:pPr marL="413384" indent="-172720">
              <a:lnSpc>
                <a:spcPts val="1345"/>
              </a:lnSpc>
              <a:buAutoNum type="arabicPeriod"/>
              <a:tabLst>
                <a:tab pos="414020" algn="l"/>
              </a:tabLst>
            </a:pPr>
            <a:r>
              <a:rPr dirty="0" u="sng" sz="1200" spc="-5">
                <a:uFill>
                  <a:solidFill>
                    <a:srgbClr val="000000"/>
                  </a:solidFill>
                </a:uFill>
                <a:latin typeface="Arial"/>
                <a:cs typeface="Arial"/>
              </a:rPr>
              <a:t>Muraaqaabah </a:t>
            </a:r>
            <a:r>
              <a:rPr dirty="0" u="sng" sz="1200">
                <a:uFill>
                  <a:solidFill>
                    <a:srgbClr val="000000"/>
                  </a:solidFill>
                </a:uFill>
                <a:latin typeface="Arial"/>
                <a:cs typeface="Arial"/>
              </a:rPr>
              <a:t>/ </a:t>
            </a:r>
            <a:r>
              <a:rPr dirty="0" u="sng" sz="1200" spc="-5">
                <a:uFill>
                  <a:solidFill>
                    <a:srgbClr val="000000"/>
                  </a:solidFill>
                </a:uFill>
                <a:latin typeface="Arial"/>
                <a:cs typeface="Arial"/>
              </a:rPr>
              <a:t>Muraaqibah</a:t>
            </a:r>
            <a:r>
              <a:rPr dirty="0" sz="1200" spc="-5">
                <a:latin typeface="Arial"/>
                <a:cs typeface="Arial"/>
              </a:rPr>
              <a:t> </a:t>
            </a:r>
            <a:r>
              <a:rPr dirty="0" sz="1200">
                <a:latin typeface="Arial"/>
                <a:cs typeface="Arial"/>
              </a:rPr>
              <a:t>(Sincere </a:t>
            </a:r>
            <a:r>
              <a:rPr dirty="0" sz="1200" spc="-5">
                <a:latin typeface="Arial"/>
                <a:cs typeface="Arial"/>
              </a:rPr>
              <a:t>Concentration on Allah in </a:t>
            </a:r>
            <a:r>
              <a:rPr dirty="0" sz="1200">
                <a:latin typeface="Arial"/>
                <a:cs typeface="Arial"/>
              </a:rPr>
              <a:t>all</a:t>
            </a:r>
            <a:r>
              <a:rPr dirty="0" sz="1200" spc="40">
                <a:latin typeface="Arial"/>
                <a:cs typeface="Arial"/>
              </a:rPr>
              <a:t> </a:t>
            </a:r>
            <a:r>
              <a:rPr dirty="0" sz="1200" spc="-5">
                <a:latin typeface="Arial"/>
                <a:cs typeface="Arial"/>
              </a:rPr>
              <a:t>Ibaadah)</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145</a:t>
            </a:r>
            <a:endParaRPr sz="1200">
              <a:latin typeface="Times New Roman"/>
              <a:cs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310630" cy="901700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Concept Behind Silsila</a:t>
            </a:r>
            <a:endParaRPr sz="1200">
              <a:latin typeface="Arial"/>
              <a:cs typeface="Arial"/>
            </a:endParaRPr>
          </a:p>
          <a:p>
            <a:pPr>
              <a:lnSpc>
                <a:spcPct val="100000"/>
              </a:lnSpc>
              <a:spcBef>
                <a:spcPts val="35"/>
              </a:spcBef>
            </a:pPr>
            <a:endParaRPr sz="1200">
              <a:latin typeface="Arial"/>
              <a:cs typeface="Arial"/>
            </a:endParaRPr>
          </a:p>
          <a:p>
            <a:pPr algn="just" marL="469900" marR="5715" indent="-229235">
              <a:lnSpc>
                <a:spcPts val="1380"/>
              </a:lnSpc>
              <a:buAutoNum type="arabicPeriod"/>
              <a:tabLst>
                <a:tab pos="414020" algn="l"/>
              </a:tabLst>
            </a:pPr>
            <a:r>
              <a:rPr dirty="0" sz="1200" spc="-5">
                <a:latin typeface="Arial"/>
                <a:cs typeface="Arial"/>
              </a:rPr>
              <a:t>Silsila </a:t>
            </a:r>
            <a:r>
              <a:rPr dirty="0" sz="1200">
                <a:latin typeface="Arial"/>
                <a:cs typeface="Arial"/>
              </a:rPr>
              <a:t>– </a:t>
            </a:r>
            <a:r>
              <a:rPr dirty="0" sz="1200" spc="-5" b="1">
                <a:latin typeface="Arial"/>
                <a:cs typeface="Arial"/>
              </a:rPr>
              <a:t>Silsila </a:t>
            </a:r>
            <a:r>
              <a:rPr dirty="0" sz="1200" spc="-5">
                <a:latin typeface="Arial"/>
                <a:cs typeface="Arial"/>
              </a:rPr>
              <a:t>(Arabic: سلسلة) is an Arabic word </a:t>
            </a:r>
            <a:r>
              <a:rPr dirty="0" sz="1200">
                <a:latin typeface="Arial"/>
                <a:cs typeface="Arial"/>
              </a:rPr>
              <a:t>meaning </a:t>
            </a:r>
            <a:r>
              <a:rPr dirty="0" sz="1200" spc="-5" i="1">
                <a:latin typeface="Arial"/>
                <a:cs typeface="Arial"/>
              </a:rPr>
              <a:t>chain</a:t>
            </a:r>
            <a:r>
              <a:rPr dirty="0" sz="1200" spc="-5">
                <a:latin typeface="Arial"/>
                <a:cs typeface="Arial"/>
              </a:rPr>
              <a:t>, often used in </a:t>
            </a:r>
            <a:r>
              <a:rPr dirty="0" sz="1200" spc="-10">
                <a:latin typeface="Arial"/>
                <a:cs typeface="Arial"/>
              </a:rPr>
              <a:t>various  </a:t>
            </a:r>
            <a:r>
              <a:rPr dirty="0" sz="1200" spc="-5">
                <a:latin typeface="Arial"/>
                <a:cs typeface="Arial"/>
              </a:rPr>
              <a:t>senses of lineage. In particular, </a:t>
            </a:r>
            <a:r>
              <a:rPr dirty="0" sz="1200">
                <a:latin typeface="Arial"/>
                <a:cs typeface="Arial"/>
              </a:rPr>
              <a:t>it </a:t>
            </a:r>
            <a:r>
              <a:rPr dirty="0" sz="1200" spc="-5">
                <a:latin typeface="Arial"/>
                <a:cs typeface="Arial"/>
              </a:rPr>
              <a:t>may be translated as "(religious) order" </a:t>
            </a:r>
            <a:r>
              <a:rPr dirty="0" sz="1200" spc="-10">
                <a:latin typeface="Arial"/>
                <a:cs typeface="Arial"/>
              </a:rPr>
              <a:t>or  </a:t>
            </a:r>
            <a:r>
              <a:rPr dirty="0" sz="1200" spc="-5">
                <a:latin typeface="Arial"/>
                <a:cs typeface="Arial"/>
              </a:rPr>
              <a:t>"genealogy".</a:t>
            </a:r>
            <a:endParaRPr sz="1200">
              <a:latin typeface="Arial"/>
              <a:cs typeface="Arial"/>
            </a:endParaRPr>
          </a:p>
          <a:p>
            <a:pPr algn="just" marL="469900" marR="8255" indent="-229235">
              <a:lnSpc>
                <a:spcPts val="1380"/>
              </a:lnSpc>
              <a:buAutoNum type="arabicPeriod"/>
              <a:tabLst>
                <a:tab pos="414020" algn="l"/>
              </a:tabLst>
            </a:pPr>
            <a:r>
              <a:rPr dirty="0" sz="1200" spc="-5">
                <a:latin typeface="Arial"/>
                <a:cs typeface="Arial"/>
              </a:rPr>
              <a:t>Centuries ago, Arabia did not have schools </a:t>
            </a:r>
            <a:r>
              <a:rPr dirty="0" sz="1200">
                <a:latin typeface="Arial"/>
                <a:cs typeface="Arial"/>
              </a:rPr>
              <a:t>for </a:t>
            </a:r>
            <a:r>
              <a:rPr dirty="0" sz="1200" spc="-5">
                <a:latin typeface="Arial"/>
                <a:cs typeface="Arial"/>
              </a:rPr>
              <a:t>formal education. Students went to  masters </a:t>
            </a:r>
            <a:r>
              <a:rPr dirty="0" sz="1200" spc="-10">
                <a:latin typeface="Arial"/>
                <a:cs typeface="Arial"/>
              </a:rPr>
              <a:t>who </a:t>
            </a:r>
            <a:r>
              <a:rPr dirty="0" sz="1200" spc="-5">
                <a:latin typeface="Arial"/>
                <a:cs typeface="Arial"/>
              </a:rPr>
              <a:t>taught </a:t>
            </a:r>
            <a:r>
              <a:rPr dirty="0" sz="1200">
                <a:latin typeface="Arial"/>
                <a:cs typeface="Arial"/>
              </a:rPr>
              <a:t>them. </a:t>
            </a:r>
            <a:r>
              <a:rPr dirty="0" sz="1200" spc="-5">
                <a:latin typeface="Arial"/>
                <a:cs typeface="Arial"/>
              </a:rPr>
              <a:t>Upon completion of their study, </a:t>
            </a:r>
            <a:r>
              <a:rPr dirty="0" sz="1200">
                <a:latin typeface="Arial"/>
                <a:cs typeface="Arial"/>
              </a:rPr>
              <a:t>they </a:t>
            </a:r>
            <a:r>
              <a:rPr dirty="0" sz="1200" spc="-5">
                <a:latin typeface="Arial"/>
                <a:cs typeface="Arial"/>
              </a:rPr>
              <a:t>received ijazah  (permission) which acted as the certification of education. </a:t>
            </a:r>
            <a:r>
              <a:rPr dirty="0" sz="1200">
                <a:latin typeface="Arial"/>
                <a:cs typeface="Arial"/>
              </a:rPr>
              <a:t>A </a:t>
            </a:r>
            <a:r>
              <a:rPr dirty="0" sz="1200" spc="-5">
                <a:latin typeface="Arial"/>
                <a:cs typeface="Arial"/>
              </a:rPr>
              <a:t>graduate then acted as a  master having </a:t>
            </a:r>
            <a:r>
              <a:rPr dirty="0" sz="1200">
                <a:latin typeface="Arial"/>
                <a:cs typeface="Arial"/>
              </a:rPr>
              <a:t>his </a:t>
            </a:r>
            <a:r>
              <a:rPr dirty="0" sz="1200" spc="-10">
                <a:latin typeface="Arial"/>
                <a:cs typeface="Arial"/>
              </a:rPr>
              <a:t>own </a:t>
            </a:r>
            <a:r>
              <a:rPr dirty="0" sz="1200" spc="-5">
                <a:latin typeface="Arial"/>
                <a:cs typeface="Arial"/>
              </a:rPr>
              <a:t>students. </a:t>
            </a:r>
            <a:r>
              <a:rPr dirty="0" sz="1200">
                <a:latin typeface="Arial"/>
                <a:cs typeface="Arial"/>
              </a:rPr>
              <a:t>This </a:t>
            </a:r>
            <a:r>
              <a:rPr dirty="0" sz="1200" spc="-5">
                <a:latin typeface="Arial"/>
                <a:cs typeface="Arial"/>
              </a:rPr>
              <a:t>chain of masters </a:t>
            </a:r>
            <a:r>
              <a:rPr dirty="0" sz="1200" spc="-10">
                <a:latin typeface="Arial"/>
                <a:cs typeface="Arial"/>
              </a:rPr>
              <a:t>was </a:t>
            </a:r>
            <a:r>
              <a:rPr dirty="0" sz="1200" spc="-5">
                <a:latin typeface="Arial"/>
                <a:cs typeface="Arial"/>
              </a:rPr>
              <a:t>known as</a:t>
            </a:r>
            <a:r>
              <a:rPr dirty="0" sz="1200" spc="105">
                <a:latin typeface="Arial"/>
                <a:cs typeface="Arial"/>
              </a:rPr>
              <a:t> </a:t>
            </a:r>
            <a:r>
              <a:rPr dirty="0" sz="1200" spc="-5">
                <a:latin typeface="Arial"/>
                <a:cs typeface="Arial"/>
              </a:rPr>
              <a:t>Silsila.</a:t>
            </a:r>
            <a:endParaRPr sz="1200">
              <a:latin typeface="Arial"/>
              <a:cs typeface="Arial"/>
            </a:endParaRPr>
          </a:p>
          <a:p>
            <a:pPr algn="just" marL="469900" marR="5715" indent="-229235">
              <a:lnSpc>
                <a:spcPts val="1380"/>
              </a:lnSpc>
              <a:buAutoNum type="arabicPeriod"/>
              <a:tabLst>
                <a:tab pos="414020" algn="l"/>
              </a:tabLst>
            </a:pPr>
            <a:r>
              <a:rPr dirty="0" sz="1200" spc="-5">
                <a:latin typeface="Arial"/>
                <a:cs typeface="Arial"/>
              </a:rPr>
              <a:t>Theoretically one can only receive instruction in these practices (talqîn) </a:t>
            </a:r>
            <a:r>
              <a:rPr dirty="0" sz="1200">
                <a:latin typeface="Arial"/>
                <a:cs typeface="Arial"/>
              </a:rPr>
              <a:t>from </a:t>
            </a:r>
            <a:r>
              <a:rPr dirty="0" sz="1200" spc="-10">
                <a:latin typeface="Arial"/>
                <a:cs typeface="Arial"/>
              </a:rPr>
              <a:t>an  </a:t>
            </a:r>
            <a:r>
              <a:rPr dirty="0" sz="1200" spc="-5">
                <a:latin typeface="Arial"/>
                <a:cs typeface="Arial"/>
              </a:rPr>
              <a:t>authorised teacher of the tariqa, and only after pledging a vow </a:t>
            </a:r>
            <a:r>
              <a:rPr dirty="0" sz="1200">
                <a:latin typeface="Arial"/>
                <a:cs typeface="Arial"/>
              </a:rPr>
              <a:t>of </a:t>
            </a:r>
            <a:r>
              <a:rPr dirty="0" sz="1200" spc="-5">
                <a:latin typeface="Arial"/>
                <a:cs typeface="Arial"/>
              </a:rPr>
              <a:t>obedience (bay'ah)  </a:t>
            </a:r>
            <a:r>
              <a:rPr dirty="0" sz="1200">
                <a:latin typeface="Arial"/>
                <a:cs typeface="Arial"/>
              </a:rPr>
              <a:t>to this </a:t>
            </a:r>
            <a:r>
              <a:rPr dirty="0" sz="1200" spc="-5">
                <a:latin typeface="Arial"/>
                <a:cs typeface="Arial"/>
              </a:rPr>
              <a:t>shaikh. The shaikh </a:t>
            </a:r>
            <a:r>
              <a:rPr dirty="0" sz="1200" spc="-10">
                <a:latin typeface="Arial"/>
                <a:cs typeface="Arial"/>
              </a:rPr>
              <a:t>gives </a:t>
            </a:r>
            <a:r>
              <a:rPr dirty="0" sz="1200" spc="-5">
                <a:latin typeface="Arial"/>
                <a:cs typeface="Arial"/>
              </a:rPr>
              <a:t>his disciples </a:t>
            </a:r>
            <a:r>
              <a:rPr dirty="0" sz="1200">
                <a:latin typeface="Arial"/>
                <a:cs typeface="Arial"/>
              </a:rPr>
              <a:t>permission </a:t>
            </a:r>
            <a:r>
              <a:rPr dirty="0" sz="1200" spc="-5">
                <a:latin typeface="Arial"/>
                <a:cs typeface="Arial"/>
              </a:rPr>
              <a:t>(ijâza) </a:t>
            </a:r>
            <a:r>
              <a:rPr dirty="0" sz="1200">
                <a:latin typeface="Arial"/>
                <a:cs typeface="Arial"/>
              </a:rPr>
              <a:t>to </a:t>
            </a:r>
            <a:r>
              <a:rPr dirty="0" sz="1200" spc="-5">
                <a:latin typeface="Arial"/>
                <a:cs typeface="Arial"/>
              </a:rPr>
              <a:t>practice the tariqa:  he </a:t>
            </a:r>
            <a:r>
              <a:rPr dirty="0" sz="1200">
                <a:latin typeface="Arial"/>
                <a:cs typeface="Arial"/>
              </a:rPr>
              <a:t>may also </a:t>
            </a:r>
            <a:r>
              <a:rPr dirty="0" sz="1200" spc="-5">
                <a:latin typeface="Arial"/>
                <a:cs typeface="Arial"/>
              </a:rPr>
              <a:t>authorise one or more of them </a:t>
            </a:r>
            <a:r>
              <a:rPr dirty="0" sz="1200">
                <a:latin typeface="Arial"/>
                <a:cs typeface="Arial"/>
              </a:rPr>
              <a:t>to </a:t>
            </a:r>
            <a:r>
              <a:rPr dirty="0" sz="1200" spc="-5">
                <a:latin typeface="Arial"/>
                <a:cs typeface="Arial"/>
              </a:rPr>
              <a:t>teach </a:t>
            </a:r>
            <a:r>
              <a:rPr dirty="0" sz="1200">
                <a:latin typeface="Arial"/>
                <a:cs typeface="Arial"/>
              </a:rPr>
              <a:t>it </a:t>
            </a:r>
            <a:r>
              <a:rPr dirty="0" sz="1200" spc="-5">
                <a:latin typeface="Arial"/>
                <a:cs typeface="Arial"/>
              </a:rPr>
              <a:t>to</a:t>
            </a:r>
            <a:r>
              <a:rPr dirty="0" sz="1200" spc="-15">
                <a:latin typeface="Arial"/>
                <a:cs typeface="Arial"/>
              </a:rPr>
              <a:t> </a:t>
            </a:r>
            <a:r>
              <a:rPr dirty="0" sz="1200" spc="-5">
                <a:latin typeface="Arial"/>
                <a:cs typeface="Arial"/>
              </a:rPr>
              <a:t>others.</a:t>
            </a:r>
            <a:endParaRPr sz="1200">
              <a:latin typeface="Arial"/>
              <a:cs typeface="Arial"/>
            </a:endParaRPr>
          </a:p>
          <a:p>
            <a:pPr algn="just" marL="469900" indent="-229235">
              <a:lnSpc>
                <a:spcPts val="1315"/>
              </a:lnSpc>
              <a:buAutoNum type="arabicPeriod"/>
              <a:tabLst>
                <a:tab pos="414020" algn="l"/>
              </a:tabLst>
            </a:pPr>
            <a:r>
              <a:rPr dirty="0" sz="1200" spc="-5">
                <a:latin typeface="Arial"/>
                <a:cs typeface="Arial"/>
              </a:rPr>
              <a:t>Each</a:t>
            </a:r>
            <a:r>
              <a:rPr dirty="0" sz="1200" spc="130">
                <a:latin typeface="Arial"/>
                <a:cs typeface="Arial"/>
              </a:rPr>
              <a:t> </a:t>
            </a:r>
            <a:r>
              <a:rPr dirty="0" sz="1200" spc="-5">
                <a:latin typeface="Arial"/>
                <a:cs typeface="Arial"/>
              </a:rPr>
              <a:t>shaikh</a:t>
            </a:r>
            <a:r>
              <a:rPr dirty="0" sz="1200" spc="120">
                <a:latin typeface="Arial"/>
                <a:cs typeface="Arial"/>
              </a:rPr>
              <a:t> </a:t>
            </a:r>
            <a:r>
              <a:rPr dirty="0" sz="1200" spc="-5">
                <a:latin typeface="Arial"/>
                <a:cs typeface="Arial"/>
              </a:rPr>
              <a:t>can</a:t>
            </a:r>
            <a:r>
              <a:rPr dirty="0" sz="1200" spc="120">
                <a:latin typeface="Arial"/>
                <a:cs typeface="Arial"/>
              </a:rPr>
              <a:t> </a:t>
            </a:r>
            <a:r>
              <a:rPr dirty="0" sz="1200" spc="-10">
                <a:latin typeface="Arial"/>
                <a:cs typeface="Arial"/>
              </a:rPr>
              <a:t>show</a:t>
            </a:r>
            <a:r>
              <a:rPr dirty="0" sz="1200" spc="114">
                <a:latin typeface="Arial"/>
                <a:cs typeface="Arial"/>
              </a:rPr>
              <a:t> </a:t>
            </a:r>
            <a:r>
              <a:rPr dirty="0" sz="1200" spc="-5">
                <a:latin typeface="Arial"/>
                <a:cs typeface="Arial"/>
              </a:rPr>
              <a:t>a</a:t>
            </a:r>
            <a:r>
              <a:rPr dirty="0" sz="1200" spc="135">
                <a:latin typeface="Arial"/>
                <a:cs typeface="Arial"/>
              </a:rPr>
              <a:t> </a:t>
            </a:r>
            <a:r>
              <a:rPr dirty="0" sz="1200" spc="-5">
                <a:latin typeface="Arial"/>
                <a:cs typeface="Arial"/>
              </a:rPr>
              <a:t>chain</a:t>
            </a:r>
            <a:r>
              <a:rPr dirty="0" sz="1200" spc="114">
                <a:latin typeface="Arial"/>
                <a:cs typeface="Arial"/>
              </a:rPr>
              <a:t> </a:t>
            </a:r>
            <a:r>
              <a:rPr dirty="0" sz="1200" spc="-5">
                <a:latin typeface="Arial"/>
                <a:cs typeface="Arial"/>
              </a:rPr>
              <a:t>of</a:t>
            </a:r>
            <a:r>
              <a:rPr dirty="0" sz="1200" spc="130">
                <a:latin typeface="Arial"/>
                <a:cs typeface="Arial"/>
              </a:rPr>
              <a:t> </a:t>
            </a:r>
            <a:r>
              <a:rPr dirty="0" sz="1200" spc="-5">
                <a:latin typeface="Arial"/>
                <a:cs typeface="Arial"/>
              </a:rPr>
              <a:t>authorities</a:t>
            </a:r>
            <a:r>
              <a:rPr dirty="0" sz="1200" spc="114">
                <a:latin typeface="Arial"/>
                <a:cs typeface="Arial"/>
              </a:rPr>
              <a:t> </a:t>
            </a:r>
            <a:r>
              <a:rPr dirty="0" sz="1200">
                <a:latin typeface="Arial"/>
                <a:cs typeface="Arial"/>
              </a:rPr>
              <a:t>for</a:t>
            </a:r>
            <a:r>
              <a:rPr dirty="0" sz="1200" spc="125">
                <a:latin typeface="Arial"/>
                <a:cs typeface="Arial"/>
              </a:rPr>
              <a:t> </a:t>
            </a:r>
            <a:r>
              <a:rPr dirty="0" sz="1200" spc="-5">
                <a:latin typeface="Arial"/>
                <a:cs typeface="Arial"/>
              </a:rPr>
              <a:t>the</a:t>
            </a:r>
            <a:r>
              <a:rPr dirty="0" sz="1200" spc="120">
                <a:latin typeface="Arial"/>
                <a:cs typeface="Arial"/>
              </a:rPr>
              <a:t> </a:t>
            </a:r>
            <a:r>
              <a:rPr dirty="0" sz="1200" spc="-5">
                <a:latin typeface="Arial"/>
                <a:cs typeface="Arial"/>
              </a:rPr>
              <a:t>Tariqah</a:t>
            </a:r>
            <a:r>
              <a:rPr dirty="0" sz="1200" spc="135">
                <a:latin typeface="Arial"/>
                <a:cs typeface="Arial"/>
              </a:rPr>
              <a:t> </a:t>
            </a:r>
            <a:r>
              <a:rPr dirty="0" sz="1200" spc="-5">
                <a:latin typeface="Arial"/>
                <a:cs typeface="Arial"/>
              </a:rPr>
              <a:t>he</a:t>
            </a:r>
            <a:r>
              <a:rPr dirty="0" sz="1200" spc="114">
                <a:latin typeface="Arial"/>
                <a:cs typeface="Arial"/>
              </a:rPr>
              <a:t> </a:t>
            </a:r>
            <a:r>
              <a:rPr dirty="0" sz="1200" spc="-5">
                <a:latin typeface="Arial"/>
                <a:cs typeface="Arial"/>
              </a:rPr>
              <a:t>teaches,</a:t>
            </a:r>
            <a:r>
              <a:rPr dirty="0" sz="1200" spc="130">
                <a:latin typeface="Arial"/>
                <a:cs typeface="Arial"/>
              </a:rPr>
              <a:t> </a:t>
            </a:r>
            <a:r>
              <a:rPr dirty="0" sz="1200" spc="-5">
                <a:latin typeface="Arial"/>
                <a:cs typeface="Arial"/>
              </a:rPr>
              <a:t>his</a:t>
            </a:r>
            <a:r>
              <a:rPr dirty="0" sz="1200" spc="114">
                <a:latin typeface="Arial"/>
                <a:cs typeface="Arial"/>
              </a:rPr>
              <a:t> </a:t>
            </a:r>
            <a:r>
              <a:rPr dirty="0" sz="1200" spc="-5">
                <a:latin typeface="Arial"/>
                <a:cs typeface="Arial"/>
              </a:rPr>
              <a:t>silsila</a:t>
            </a:r>
            <a:r>
              <a:rPr dirty="0" sz="1200" spc="135">
                <a:latin typeface="Arial"/>
                <a:cs typeface="Arial"/>
              </a:rPr>
              <a:t> </a:t>
            </a:r>
            <a:r>
              <a:rPr dirty="0" sz="1200" spc="-5">
                <a:latin typeface="Arial"/>
                <a:cs typeface="Arial"/>
              </a:rPr>
              <a:t>or</a:t>
            </a:r>
            <a:endParaRPr sz="1200">
              <a:latin typeface="Arial"/>
              <a:cs typeface="Arial"/>
            </a:endParaRPr>
          </a:p>
          <a:p>
            <a:pPr algn="just" marL="469900" marR="5080">
              <a:lnSpc>
                <a:spcPts val="1380"/>
              </a:lnSpc>
              <a:spcBef>
                <a:spcPts val="70"/>
              </a:spcBef>
            </a:pPr>
            <a:r>
              <a:rPr dirty="0" sz="1200" spc="-5">
                <a:latin typeface="Arial"/>
                <a:cs typeface="Arial"/>
              </a:rPr>
              <a:t>spiritual genealogy and </a:t>
            </a:r>
            <a:r>
              <a:rPr dirty="0" sz="1200">
                <a:latin typeface="Arial"/>
                <a:cs typeface="Arial"/>
              </a:rPr>
              <a:t>the </a:t>
            </a:r>
            <a:r>
              <a:rPr dirty="0" sz="1200" spc="-5">
                <a:latin typeface="Arial"/>
                <a:cs typeface="Arial"/>
              </a:rPr>
              <a:t>silsila reaches back from one's </a:t>
            </a:r>
            <a:r>
              <a:rPr dirty="0" sz="1200" spc="-10">
                <a:latin typeface="Arial"/>
                <a:cs typeface="Arial"/>
              </a:rPr>
              <a:t>own </a:t>
            </a:r>
            <a:r>
              <a:rPr dirty="0" sz="1200" spc="5">
                <a:latin typeface="Arial"/>
                <a:cs typeface="Arial"/>
              </a:rPr>
              <a:t>teacher </a:t>
            </a:r>
            <a:r>
              <a:rPr dirty="0" sz="1200" spc="-5">
                <a:latin typeface="Arial"/>
                <a:cs typeface="Arial"/>
              </a:rPr>
              <a:t>up </a:t>
            </a:r>
            <a:r>
              <a:rPr dirty="0" sz="1200">
                <a:latin typeface="Arial"/>
                <a:cs typeface="Arial"/>
              </a:rPr>
              <a:t>to </a:t>
            </a:r>
            <a:r>
              <a:rPr dirty="0" sz="1200" spc="-10">
                <a:latin typeface="Arial"/>
                <a:cs typeface="Arial"/>
              </a:rPr>
              <a:t>the  </a:t>
            </a:r>
            <a:r>
              <a:rPr dirty="0" sz="1200" spc="-5">
                <a:latin typeface="Arial"/>
                <a:cs typeface="Arial"/>
              </a:rPr>
              <a:t>Prophet (s.a.w)</a:t>
            </a:r>
            <a:endParaRPr sz="1200">
              <a:latin typeface="Arial"/>
              <a:cs typeface="Arial"/>
            </a:endParaRPr>
          </a:p>
          <a:p>
            <a:pPr algn="just" marL="469900" marR="7620" indent="-229235">
              <a:lnSpc>
                <a:spcPts val="1370"/>
              </a:lnSpc>
              <a:spcBef>
                <a:spcPts val="5"/>
              </a:spcBef>
              <a:buAutoNum type="arabicPeriod" startAt="5"/>
              <a:tabLst>
                <a:tab pos="414020" algn="l"/>
              </a:tabLst>
            </a:pPr>
            <a:r>
              <a:rPr dirty="0" sz="1200" spc="-5">
                <a:latin typeface="Arial"/>
                <a:cs typeface="Arial"/>
              </a:rPr>
              <a:t>The </a:t>
            </a:r>
            <a:r>
              <a:rPr dirty="0" sz="1200">
                <a:latin typeface="Arial"/>
                <a:cs typeface="Arial"/>
              </a:rPr>
              <a:t>Chain </a:t>
            </a:r>
            <a:r>
              <a:rPr dirty="0" sz="1200" spc="-5">
                <a:latin typeface="Arial"/>
                <a:cs typeface="Arial"/>
              </a:rPr>
              <a:t>of Transmission within a </a:t>
            </a:r>
            <a:r>
              <a:rPr dirty="0" sz="1200">
                <a:latin typeface="Arial"/>
                <a:cs typeface="Arial"/>
              </a:rPr>
              <a:t>Sufi </a:t>
            </a:r>
            <a:r>
              <a:rPr dirty="0" sz="1200" spc="-5">
                <a:latin typeface="Arial"/>
                <a:cs typeface="Arial"/>
              </a:rPr>
              <a:t>order is </a:t>
            </a:r>
            <a:r>
              <a:rPr dirty="0" sz="1200">
                <a:latin typeface="Arial"/>
                <a:cs typeface="Arial"/>
              </a:rPr>
              <a:t>of </a:t>
            </a:r>
            <a:r>
              <a:rPr dirty="0" sz="1200" spc="-5">
                <a:latin typeface="Arial"/>
                <a:cs typeface="Arial"/>
              </a:rPr>
              <a:t>central importance in </a:t>
            </a:r>
            <a:r>
              <a:rPr dirty="0" sz="1200">
                <a:latin typeface="Arial"/>
                <a:cs typeface="Arial"/>
              </a:rPr>
              <a:t>the Sufi </a:t>
            </a:r>
            <a:r>
              <a:rPr dirty="0" sz="1200" spc="-10">
                <a:latin typeface="Arial"/>
                <a:cs typeface="Arial"/>
              </a:rPr>
              <a:t>work.  </a:t>
            </a:r>
            <a:r>
              <a:rPr dirty="0" sz="1200">
                <a:latin typeface="Arial"/>
                <a:cs typeface="Arial"/>
              </a:rPr>
              <a:t>It</a:t>
            </a:r>
            <a:r>
              <a:rPr dirty="0" sz="1200" spc="90">
                <a:latin typeface="Arial"/>
                <a:cs typeface="Arial"/>
              </a:rPr>
              <a:t> </a:t>
            </a:r>
            <a:r>
              <a:rPr dirty="0" sz="1200" spc="-5">
                <a:latin typeface="Arial"/>
                <a:cs typeface="Arial"/>
              </a:rPr>
              <a:t>is</a:t>
            </a:r>
            <a:r>
              <a:rPr dirty="0" sz="1200" spc="85">
                <a:latin typeface="Arial"/>
                <a:cs typeface="Arial"/>
              </a:rPr>
              <a:t> </a:t>
            </a:r>
            <a:r>
              <a:rPr dirty="0" sz="1200" spc="-5">
                <a:latin typeface="Arial"/>
                <a:cs typeface="Arial"/>
              </a:rPr>
              <a:t>a</a:t>
            </a:r>
            <a:r>
              <a:rPr dirty="0" sz="1200" spc="80">
                <a:latin typeface="Arial"/>
                <a:cs typeface="Arial"/>
              </a:rPr>
              <a:t> </a:t>
            </a:r>
            <a:r>
              <a:rPr dirty="0" sz="1200" spc="-5">
                <a:latin typeface="Arial"/>
                <a:cs typeface="Arial"/>
              </a:rPr>
              <a:t>major</a:t>
            </a:r>
            <a:r>
              <a:rPr dirty="0" sz="1200" spc="85">
                <a:latin typeface="Arial"/>
                <a:cs typeface="Arial"/>
              </a:rPr>
              <a:t> </a:t>
            </a:r>
            <a:r>
              <a:rPr dirty="0" sz="1200" spc="-5">
                <a:latin typeface="Arial"/>
                <a:cs typeface="Arial"/>
              </a:rPr>
              <a:t>conduit</a:t>
            </a:r>
            <a:r>
              <a:rPr dirty="0" sz="1200" spc="75">
                <a:latin typeface="Arial"/>
                <a:cs typeface="Arial"/>
              </a:rPr>
              <a:t> </a:t>
            </a:r>
            <a:r>
              <a:rPr dirty="0" sz="1200" spc="-5">
                <a:latin typeface="Arial"/>
                <a:cs typeface="Arial"/>
              </a:rPr>
              <a:t>of</a:t>
            </a:r>
            <a:r>
              <a:rPr dirty="0" sz="1200" spc="90">
                <a:latin typeface="Arial"/>
                <a:cs typeface="Arial"/>
              </a:rPr>
              <a:t> </a:t>
            </a:r>
            <a:r>
              <a:rPr dirty="0" sz="1200">
                <a:latin typeface="Arial"/>
                <a:cs typeface="Arial"/>
              </a:rPr>
              <a:t>the</a:t>
            </a:r>
            <a:r>
              <a:rPr dirty="0" sz="1200" spc="105">
                <a:latin typeface="Arial"/>
                <a:cs typeface="Arial"/>
              </a:rPr>
              <a:t> </a:t>
            </a:r>
            <a:r>
              <a:rPr dirty="0" sz="1200" spc="-5" i="1">
                <a:latin typeface="Arial"/>
                <a:cs typeface="Arial"/>
              </a:rPr>
              <a:t>baraka</a:t>
            </a:r>
            <a:r>
              <a:rPr dirty="0" sz="1200" spc="85" i="1">
                <a:latin typeface="Arial"/>
                <a:cs typeface="Arial"/>
              </a:rPr>
              <a:t> </a:t>
            </a:r>
            <a:r>
              <a:rPr dirty="0" sz="1200" spc="-5">
                <a:latin typeface="Arial"/>
                <a:cs typeface="Arial"/>
              </a:rPr>
              <a:t>of</a:t>
            </a:r>
            <a:r>
              <a:rPr dirty="0" sz="1200" spc="90">
                <a:latin typeface="Arial"/>
                <a:cs typeface="Arial"/>
              </a:rPr>
              <a:t> </a:t>
            </a:r>
            <a:r>
              <a:rPr dirty="0" sz="1200" spc="-5">
                <a:latin typeface="Arial"/>
                <a:cs typeface="Arial"/>
              </a:rPr>
              <a:t>any</a:t>
            </a:r>
            <a:r>
              <a:rPr dirty="0" sz="1200" spc="75">
                <a:latin typeface="Arial"/>
                <a:cs typeface="Arial"/>
              </a:rPr>
              <a:t> </a:t>
            </a:r>
            <a:r>
              <a:rPr dirty="0" sz="1200" spc="-5">
                <a:latin typeface="Arial"/>
                <a:cs typeface="Arial"/>
              </a:rPr>
              <a:t>genuine</a:t>
            </a:r>
            <a:r>
              <a:rPr dirty="0" sz="1200" spc="85">
                <a:latin typeface="Arial"/>
                <a:cs typeface="Arial"/>
              </a:rPr>
              <a:t> </a:t>
            </a:r>
            <a:r>
              <a:rPr dirty="0" sz="1200">
                <a:latin typeface="Arial"/>
                <a:cs typeface="Arial"/>
              </a:rPr>
              <a:t>Sufi</a:t>
            </a:r>
            <a:r>
              <a:rPr dirty="0" sz="1200" spc="75">
                <a:latin typeface="Arial"/>
                <a:cs typeface="Arial"/>
              </a:rPr>
              <a:t> </a:t>
            </a:r>
            <a:r>
              <a:rPr dirty="0" sz="1200" spc="-5">
                <a:latin typeface="Arial"/>
                <a:cs typeface="Arial"/>
              </a:rPr>
              <a:t>school,</a:t>
            </a:r>
            <a:r>
              <a:rPr dirty="0" sz="1200" spc="90">
                <a:latin typeface="Arial"/>
                <a:cs typeface="Arial"/>
              </a:rPr>
              <a:t> </a:t>
            </a:r>
            <a:r>
              <a:rPr dirty="0" sz="1200" spc="-5">
                <a:latin typeface="Arial"/>
                <a:cs typeface="Arial"/>
              </a:rPr>
              <a:t>and</a:t>
            </a:r>
            <a:r>
              <a:rPr dirty="0" sz="1200" spc="85">
                <a:latin typeface="Arial"/>
                <a:cs typeface="Arial"/>
              </a:rPr>
              <a:t> </a:t>
            </a:r>
            <a:r>
              <a:rPr dirty="0" sz="1200" spc="-5">
                <a:latin typeface="Arial"/>
                <a:cs typeface="Arial"/>
              </a:rPr>
              <a:t>links</a:t>
            </a:r>
            <a:r>
              <a:rPr dirty="0" sz="1200" spc="90">
                <a:latin typeface="Arial"/>
                <a:cs typeface="Arial"/>
              </a:rPr>
              <a:t> </a:t>
            </a:r>
            <a:r>
              <a:rPr dirty="0" sz="1200" spc="-5">
                <a:latin typeface="Arial"/>
                <a:cs typeface="Arial"/>
              </a:rPr>
              <a:t>the</a:t>
            </a:r>
            <a:r>
              <a:rPr dirty="0" sz="1200" spc="80">
                <a:latin typeface="Arial"/>
                <a:cs typeface="Arial"/>
              </a:rPr>
              <a:t> </a:t>
            </a:r>
            <a:r>
              <a:rPr dirty="0" sz="1200" spc="-5">
                <a:latin typeface="Arial"/>
                <a:cs typeface="Arial"/>
              </a:rPr>
              <a:t>mureeds</a:t>
            </a:r>
            <a:endParaRPr sz="1200">
              <a:latin typeface="Arial"/>
              <a:cs typeface="Arial"/>
            </a:endParaRPr>
          </a:p>
          <a:p>
            <a:pPr algn="just" marL="469900" marR="6985">
              <a:lnSpc>
                <a:spcPts val="1380"/>
              </a:lnSpc>
              <a:spcBef>
                <a:spcPts val="15"/>
              </a:spcBef>
            </a:pPr>
            <a:r>
              <a:rPr dirty="0" sz="1200" spc="-5">
                <a:latin typeface="Arial"/>
                <a:cs typeface="Arial"/>
              </a:rPr>
              <a:t>of </a:t>
            </a:r>
            <a:r>
              <a:rPr dirty="0" sz="1200">
                <a:latin typeface="Arial"/>
                <a:cs typeface="Arial"/>
              </a:rPr>
              <a:t>that </a:t>
            </a:r>
            <a:r>
              <a:rPr dirty="0" sz="1200" spc="-5">
                <a:latin typeface="Arial"/>
                <a:cs typeface="Arial"/>
              </a:rPr>
              <a:t>order with </a:t>
            </a:r>
            <a:r>
              <a:rPr dirty="0" sz="1200">
                <a:latin typeface="Arial"/>
                <a:cs typeface="Arial"/>
              </a:rPr>
              <a:t>the </a:t>
            </a:r>
            <a:r>
              <a:rPr dirty="0" sz="1200" spc="-5">
                <a:latin typeface="Arial"/>
                <a:cs typeface="Arial"/>
              </a:rPr>
              <a:t>combined spiritual </a:t>
            </a:r>
            <a:r>
              <a:rPr dirty="0" sz="1200" spc="-10">
                <a:latin typeface="Arial"/>
                <a:cs typeface="Arial"/>
              </a:rPr>
              <a:t>power </a:t>
            </a:r>
            <a:r>
              <a:rPr dirty="0" sz="1200">
                <a:latin typeface="Arial"/>
                <a:cs typeface="Arial"/>
              </a:rPr>
              <a:t>of </a:t>
            </a:r>
            <a:r>
              <a:rPr dirty="0" sz="1200" spc="-5">
                <a:latin typeface="Arial"/>
                <a:cs typeface="Arial"/>
              </a:rPr>
              <a:t>their spiritual antecedents and with  </a:t>
            </a:r>
            <a:r>
              <a:rPr dirty="0" sz="1200">
                <a:latin typeface="Arial"/>
                <a:cs typeface="Arial"/>
              </a:rPr>
              <a:t>the </a:t>
            </a:r>
            <a:r>
              <a:rPr dirty="0" sz="1200" spc="-5">
                <a:latin typeface="Arial"/>
                <a:cs typeface="Arial"/>
              </a:rPr>
              <a:t>unseen transformative </a:t>
            </a:r>
            <a:r>
              <a:rPr dirty="0" sz="1200">
                <a:latin typeface="Arial"/>
                <a:cs typeface="Arial"/>
              </a:rPr>
              <a:t>forces </a:t>
            </a:r>
            <a:r>
              <a:rPr dirty="0" sz="1200" spc="-5">
                <a:latin typeface="Arial"/>
                <a:cs typeface="Arial"/>
              </a:rPr>
              <a:t>that transpire behind the outward manifestation of  </a:t>
            </a:r>
            <a:r>
              <a:rPr dirty="0" sz="1200">
                <a:latin typeface="Arial"/>
                <a:cs typeface="Arial"/>
              </a:rPr>
              <a:t>the </a:t>
            </a:r>
            <a:r>
              <a:rPr dirty="0" sz="1200" spc="-5">
                <a:latin typeface="Arial"/>
                <a:cs typeface="Arial"/>
              </a:rPr>
              <a:t>Chain, which is called the Silsila ("chain" or</a:t>
            </a:r>
            <a:r>
              <a:rPr dirty="0" sz="1200" spc="45">
                <a:latin typeface="Arial"/>
                <a:cs typeface="Arial"/>
              </a:rPr>
              <a:t> </a:t>
            </a:r>
            <a:r>
              <a:rPr dirty="0" sz="1200" spc="-5">
                <a:latin typeface="Arial"/>
                <a:cs typeface="Arial"/>
              </a:rPr>
              <a:t>"pedigree").</a:t>
            </a:r>
            <a:endParaRPr sz="1200">
              <a:latin typeface="Arial"/>
              <a:cs typeface="Arial"/>
            </a:endParaRPr>
          </a:p>
          <a:p>
            <a:pPr algn="just" marL="413384" indent="-172720">
              <a:lnSpc>
                <a:spcPts val="1310"/>
              </a:lnSpc>
              <a:buAutoNum type="arabicPeriod" startAt="6"/>
              <a:tabLst>
                <a:tab pos="414020" algn="l"/>
              </a:tabLst>
            </a:pPr>
            <a:r>
              <a:rPr dirty="0" sz="1200" spc="-5">
                <a:latin typeface="Arial"/>
                <a:cs typeface="Arial"/>
              </a:rPr>
              <a:t>The</a:t>
            </a:r>
            <a:r>
              <a:rPr dirty="0" sz="1200" spc="90">
                <a:latin typeface="Arial"/>
                <a:cs typeface="Arial"/>
              </a:rPr>
              <a:t> </a:t>
            </a:r>
            <a:r>
              <a:rPr dirty="0" sz="1200" spc="-5">
                <a:latin typeface="Arial"/>
                <a:cs typeface="Arial"/>
              </a:rPr>
              <a:t>representation</a:t>
            </a:r>
            <a:r>
              <a:rPr dirty="0" sz="1200" spc="90">
                <a:latin typeface="Arial"/>
                <a:cs typeface="Arial"/>
              </a:rPr>
              <a:t> </a:t>
            </a:r>
            <a:r>
              <a:rPr dirty="0" sz="1200" spc="-5">
                <a:latin typeface="Arial"/>
                <a:cs typeface="Arial"/>
              </a:rPr>
              <a:t>of</a:t>
            </a:r>
            <a:r>
              <a:rPr dirty="0" sz="1200" spc="80">
                <a:latin typeface="Arial"/>
                <a:cs typeface="Arial"/>
              </a:rPr>
              <a:t> </a:t>
            </a:r>
            <a:r>
              <a:rPr dirty="0" sz="1200">
                <a:latin typeface="Arial"/>
                <a:cs typeface="Arial"/>
              </a:rPr>
              <a:t>the</a:t>
            </a:r>
            <a:r>
              <a:rPr dirty="0" sz="1200" spc="90">
                <a:latin typeface="Arial"/>
                <a:cs typeface="Arial"/>
              </a:rPr>
              <a:t> </a:t>
            </a:r>
            <a:r>
              <a:rPr dirty="0" sz="1200" spc="-5">
                <a:latin typeface="Arial"/>
                <a:cs typeface="Arial"/>
              </a:rPr>
              <a:t>chain</a:t>
            </a:r>
            <a:r>
              <a:rPr dirty="0" sz="1200" spc="80">
                <a:latin typeface="Arial"/>
                <a:cs typeface="Arial"/>
              </a:rPr>
              <a:t> </a:t>
            </a:r>
            <a:r>
              <a:rPr dirty="0" sz="1200" spc="-5">
                <a:latin typeface="Arial"/>
                <a:cs typeface="Arial"/>
              </a:rPr>
              <a:t>of</a:t>
            </a:r>
            <a:r>
              <a:rPr dirty="0" sz="1200" spc="100">
                <a:latin typeface="Arial"/>
                <a:cs typeface="Arial"/>
              </a:rPr>
              <a:t> </a:t>
            </a:r>
            <a:r>
              <a:rPr dirty="0" sz="1200" spc="-5">
                <a:latin typeface="Arial"/>
                <a:cs typeface="Arial"/>
              </a:rPr>
              <a:t>transmission</a:t>
            </a:r>
            <a:r>
              <a:rPr dirty="0" sz="1200" spc="95">
                <a:latin typeface="Arial"/>
                <a:cs typeface="Arial"/>
              </a:rPr>
              <a:t> </a:t>
            </a:r>
            <a:r>
              <a:rPr dirty="0" sz="1200" spc="-5">
                <a:latin typeface="Arial"/>
                <a:cs typeface="Arial"/>
              </a:rPr>
              <a:t>is</a:t>
            </a:r>
            <a:r>
              <a:rPr dirty="0" sz="1200" spc="85">
                <a:latin typeface="Arial"/>
                <a:cs typeface="Arial"/>
              </a:rPr>
              <a:t> </a:t>
            </a:r>
            <a:r>
              <a:rPr dirty="0" sz="1200" spc="-5">
                <a:latin typeface="Arial"/>
                <a:cs typeface="Arial"/>
              </a:rPr>
              <a:t>called</a:t>
            </a:r>
            <a:r>
              <a:rPr dirty="0" sz="1200" spc="90">
                <a:latin typeface="Arial"/>
                <a:cs typeface="Arial"/>
              </a:rPr>
              <a:t> </a:t>
            </a:r>
            <a:r>
              <a:rPr dirty="0" sz="1200" spc="-5">
                <a:latin typeface="Arial"/>
                <a:cs typeface="Arial"/>
              </a:rPr>
              <a:t>the</a:t>
            </a:r>
            <a:r>
              <a:rPr dirty="0" sz="1200" spc="130">
                <a:latin typeface="Arial"/>
                <a:cs typeface="Arial"/>
              </a:rPr>
              <a:t> </a:t>
            </a:r>
            <a:r>
              <a:rPr dirty="0" sz="1200" spc="-5" i="1">
                <a:latin typeface="Arial"/>
                <a:cs typeface="Arial"/>
              </a:rPr>
              <a:t>Shajara</a:t>
            </a:r>
            <a:r>
              <a:rPr dirty="0" sz="1200" spc="95" i="1">
                <a:latin typeface="Arial"/>
                <a:cs typeface="Arial"/>
              </a:rPr>
              <a:t> </a:t>
            </a:r>
            <a:r>
              <a:rPr dirty="0" sz="1200" spc="-5">
                <a:latin typeface="Arial"/>
                <a:cs typeface="Arial"/>
              </a:rPr>
              <a:t>(tree).</a:t>
            </a:r>
            <a:r>
              <a:rPr dirty="0" sz="1200" spc="85">
                <a:latin typeface="Arial"/>
                <a:cs typeface="Arial"/>
              </a:rPr>
              <a:t> </a:t>
            </a:r>
            <a:r>
              <a:rPr dirty="0" sz="1200" spc="-5">
                <a:latin typeface="Arial"/>
                <a:cs typeface="Arial"/>
              </a:rPr>
              <a:t>It</a:t>
            </a:r>
            <a:r>
              <a:rPr dirty="0" sz="1200" spc="95">
                <a:latin typeface="Arial"/>
                <a:cs typeface="Arial"/>
              </a:rPr>
              <a:t> </a:t>
            </a:r>
            <a:r>
              <a:rPr dirty="0" sz="1200" spc="-5">
                <a:latin typeface="Arial"/>
                <a:cs typeface="Arial"/>
              </a:rPr>
              <a:t>is</a:t>
            </a:r>
            <a:r>
              <a:rPr dirty="0" sz="1200" spc="85">
                <a:latin typeface="Arial"/>
                <a:cs typeface="Arial"/>
              </a:rPr>
              <a:t> </a:t>
            </a:r>
            <a:r>
              <a:rPr dirty="0" sz="1200" spc="-5">
                <a:latin typeface="Arial"/>
                <a:cs typeface="Arial"/>
              </a:rPr>
              <a:t>worth</a:t>
            </a:r>
            <a:endParaRPr sz="1200">
              <a:latin typeface="Arial"/>
              <a:cs typeface="Arial"/>
            </a:endParaRPr>
          </a:p>
          <a:p>
            <a:pPr algn="just" marL="469900" marR="10795">
              <a:lnSpc>
                <a:spcPct val="95400"/>
              </a:lnSpc>
              <a:spcBef>
                <a:spcPts val="40"/>
              </a:spcBef>
            </a:pPr>
            <a:r>
              <a:rPr dirty="0" sz="1200" spc="-5">
                <a:latin typeface="Arial"/>
                <a:cs typeface="Arial"/>
              </a:rPr>
              <a:t>noting that at any </a:t>
            </a:r>
            <a:r>
              <a:rPr dirty="0" sz="1200">
                <a:latin typeface="Arial"/>
                <a:cs typeface="Arial"/>
              </a:rPr>
              <a:t>juncture, </a:t>
            </a:r>
            <a:r>
              <a:rPr dirty="0" sz="1200" spc="-5">
                <a:latin typeface="Arial"/>
                <a:cs typeface="Arial"/>
              </a:rPr>
              <a:t>there </a:t>
            </a:r>
            <a:r>
              <a:rPr dirty="0" sz="1200">
                <a:latin typeface="Arial"/>
                <a:cs typeface="Arial"/>
              </a:rPr>
              <a:t>may </a:t>
            </a:r>
            <a:r>
              <a:rPr dirty="0" sz="1200" spc="-5">
                <a:latin typeface="Arial"/>
                <a:cs typeface="Arial"/>
              </a:rPr>
              <a:t>be several shaykhs authorized </a:t>
            </a:r>
            <a:r>
              <a:rPr dirty="0" sz="1200">
                <a:latin typeface="Arial"/>
                <a:cs typeface="Arial"/>
              </a:rPr>
              <a:t>to </a:t>
            </a:r>
            <a:r>
              <a:rPr dirty="0" sz="1200" spc="-5">
                <a:latin typeface="Arial"/>
                <a:cs typeface="Arial"/>
              </a:rPr>
              <a:t>carry on a  lineage. </a:t>
            </a:r>
            <a:r>
              <a:rPr dirty="0" sz="1200">
                <a:latin typeface="Arial"/>
                <a:cs typeface="Arial"/>
              </a:rPr>
              <a:t>A </a:t>
            </a:r>
            <a:r>
              <a:rPr dirty="0" sz="1200" spc="-5">
                <a:latin typeface="Arial"/>
                <a:cs typeface="Arial"/>
              </a:rPr>
              <a:t>Shajara is a tracing </a:t>
            </a:r>
            <a:r>
              <a:rPr dirty="0" sz="1200">
                <a:latin typeface="Arial"/>
                <a:cs typeface="Arial"/>
              </a:rPr>
              <a:t>of </a:t>
            </a:r>
            <a:r>
              <a:rPr dirty="0" sz="1200" spc="-5">
                <a:latin typeface="Arial"/>
                <a:cs typeface="Arial"/>
              </a:rPr>
              <a:t>initiatic ancestry </a:t>
            </a:r>
            <a:r>
              <a:rPr dirty="0" sz="1200">
                <a:latin typeface="Arial"/>
                <a:cs typeface="Arial"/>
              </a:rPr>
              <a:t>rather than </a:t>
            </a:r>
            <a:r>
              <a:rPr dirty="0" sz="1200" spc="-5">
                <a:latin typeface="Arial"/>
                <a:cs typeface="Arial"/>
              </a:rPr>
              <a:t>a representation of the  </a:t>
            </a:r>
            <a:r>
              <a:rPr dirty="0" sz="1200">
                <a:latin typeface="Arial"/>
                <a:cs typeface="Arial"/>
              </a:rPr>
              <a:t>full flow of </a:t>
            </a:r>
            <a:r>
              <a:rPr dirty="0" sz="1200" spc="-5" i="1">
                <a:latin typeface="Arial"/>
                <a:cs typeface="Arial"/>
              </a:rPr>
              <a:t>baraka </a:t>
            </a:r>
            <a:r>
              <a:rPr dirty="0" sz="1200" spc="-5">
                <a:latin typeface="Arial"/>
                <a:cs typeface="Arial"/>
              </a:rPr>
              <a:t>from the</a:t>
            </a:r>
            <a:r>
              <a:rPr dirty="0" sz="1200" spc="-40">
                <a:latin typeface="Arial"/>
                <a:cs typeface="Arial"/>
              </a:rPr>
              <a:t> </a:t>
            </a:r>
            <a:r>
              <a:rPr dirty="0" sz="1200" spc="-5">
                <a:latin typeface="Arial"/>
                <a:cs typeface="Arial"/>
              </a:rPr>
              <a:t>Source</a:t>
            </a:r>
            <a:endParaRPr sz="1200">
              <a:latin typeface="Arial"/>
              <a:cs typeface="Arial"/>
            </a:endParaRPr>
          </a:p>
          <a:p>
            <a:pPr algn="just" marL="469900" marR="5715" indent="-229235">
              <a:lnSpc>
                <a:spcPts val="1390"/>
              </a:lnSpc>
              <a:spcBef>
                <a:spcPts val="30"/>
              </a:spcBef>
              <a:buAutoNum type="arabicPeriod" startAt="7"/>
              <a:tabLst>
                <a:tab pos="414020" algn="l"/>
              </a:tabLst>
            </a:pPr>
            <a:r>
              <a:rPr dirty="0" sz="1200" spc="-5">
                <a:latin typeface="Arial"/>
                <a:cs typeface="Arial"/>
              </a:rPr>
              <a:t>The Silsila is recited at </a:t>
            </a:r>
            <a:r>
              <a:rPr dirty="0" sz="1200">
                <a:latin typeface="Arial"/>
                <a:cs typeface="Arial"/>
              </a:rPr>
              <a:t>pivotal </a:t>
            </a:r>
            <a:r>
              <a:rPr dirty="0" sz="1200" spc="-5">
                <a:latin typeface="Arial"/>
                <a:cs typeface="Arial"/>
              </a:rPr>
              <a:t>occasions such as the group </a:t>
            </a:r>
            <a:r>
              <a:rPr dirty="0" sz="1200" spc="-5" i="1">
                <a:latin typeface="Arial"/>
                <a:cs typeface="Arial"/>
              </a:rPr>
              <a:t>Dhikr </a:t>
            </a:r>
            <a:r>
              <a:rPr dirty="0" sz="1200" spc="-5">
                <a:latin typeface="Arial"/>
                <a:cs typeface="Arial"/>
              </a:rPr>
              <a:t>of the order, or at  initiations.</a:t>
            </a:r>
            <a:endParaRPr sz="1200">
              <a:latin typeface="Arial"/>
              <a:cs typeface="Arial"/>
            </a:endParaRPr>
          </a:p>
          <a:p>
            <a:pPr>
              <a:lnSpc>
                <a:spcPct val="100000"/>
              </a:lnSpc>
            </a:pPr>
            <a:endParaRPr sz="1200">
              <a:latin typeface="Arial"/>
              <a:cs typeface="Arial"/>
            </a:endParaRPr>
          </a:p>
          <a:p>
            <a:pPr marL="12700" marR="5080">
              <a:lnSpc>
                <a:spcPts val="1380"/>
              </a:lnSpc>
            </a:pPr>
            <a:r>
              <a:rPr dirty="0" u="heavy" sz="1200" spc="-5" b="1" i="1">
                <a:uFill>
                  <a:solidFill>
                    <a:srgbClr val="000000"/>
                  </a:solidFill>
                </a:uFill>
                <a:latin typeface="Arial"/>
                <a:cs typeface="Arial"/>
              </a:rPr>
              <a:t>Relationship between the Mursheed </a:t>
            </a:r>
            <a:r>
              <a:rPr dirty="0" u="heavy" sz="1200" b="1" i="1">
                <a:uFill>
                  <a:solidFill>
                    <a:srgbClr val="000000"/>
                  </a:solidFill>
                </a:uFill>
                <a:latin typeface="Arial"/>
                <a:cs typeface="Arial"/>
              </a:rPr>
              <a:t>(Pir </a:t>
            </a:r>
            <a:r>
              <a:rPr dirty="0" u="heavy" sz="1200" spc="-5" b="1" i="1">
                <a:uFill>
                  <a:solidFill>
                    <a:srgbClr val="000000"/>
                  </a:solidFill>
                </a:uFill>
                <a:latin typeface="Arial"/>
                <a:cs typeface="Arial"/>
              </a:rPr>
              <a:t>or Sufi Master or Shaikh) and the Mureed </a:t>
            </a:r>
            <a:r>
              <a:rPr dirty="0" sz="1200" spc="-5" b="1" i="1">
                <a:latin typeface="Arial"/>
                <a:cs typeface="Arial"/>
              </a:rPr>
              <a:t> </a:t>
            </a:r>
            <a:r>
              <a:rPr dirty="0" u="heavy" sz="1200" spc="-5" b="1" i="1">
                <a:uFill>
                  <a:solidFill>
                    <a:srgbClr val="000000"/>
                  </a:solidFill>
                </a:uFill>
                <a:latin typeface="Arial"/>
                <a:cs typeface="Arial"/>
              </a:rPr>
              <a:t>(student)</a:t>
            </a:r>
            <a:endParaRPr sz="1200">
              <a:latin typeface="Arial"/>
              <a:cs typeface="Arial"/>
            </a:endParaRPr>
          </a:p>
          <a:p>
            <a:pPr>
              <a:lnSpc>
                <a:spcPct val="100000"/>
              </a:lnSpc>
              <a:spcBef>
                <a:spcPts val="55"/>
              </a:spcBef>
            </a:pPr>
            <a:endParaRPr sz="1600">
              <a:latin typeface="Arial"/>
              <a:cs typeface="Arial"/>
            </a:endParaRPr>
          </a:p>
          <a:p>
            <a:pPr marL="12700" marR="11430">
              <a:lnSpc>
                <a:spcPts val="1370"/>
              </a:lnSpc>
            </a:pPr>
            <a:r>
              <a:rPr dirty="0" sz="1200" spc="-5">
                <a:latin typeface="Arial"/>
                <a:cs typeface="Arial"/>
              </a:rPr>
              <a:t>There are </a:t>
            </a:r>
            <a:r>
              <a:rPr dirty="0" sz="1200" spc="-10">
                <a:latin typeface="Arial"/>
                <a:cs typeface="Arial"/>
              </a:rPr>
              <a:t>two </a:t>
            </a:r>
            <a:r>
              <a:rPr dirty="0" sz="1200" spc="-5">
                <a:latin typeface="Arial"/>
                <a:cs typeface="Arial"/>
              </a:rPr>
              <a:t>categories of conduct of </a:t>
            </a:r>
            <a:r>
              <a:rPr dirty="0" sz="1200" spc="-10">
                <a:latin typeface="Arial"/>
                <a:cs typeface="Arial"/>
              </a:rPr>
              <a:t>the </a:t>
            </a:r>
            <a:r>
              <a:rPr dirty="0" sz="1200" spc="-5">
                <a:latin typeface="Arial"/>
                <a:cs typeface="Arial"/>
              </a:rPr>
              <a:t>murid with his shaikh: internal conduct and  external conduct.</a:t>
            </a:r>
            <a:endParaRPr sz="1200">
              <a:latin typeface="Arial"/>
              <a:cs typeface="Arial"/>
            </a:endParaRPr>
          </a:p>
          <a:p>
            <a:pPr marL="12700">
              <a:lnSpc>
                <a:spcPct val="100000"/>
              </a:lnSpc>
              <a:spcBef>
                <a:spcPts val="910"/>
              </a:spcBef>
            </a:pPr>
            <a:r>
              <a:rPr dirty="0" u="heavy" sz="1200" spc="-5" b="1" i="1">
                <a:uFill>
                  <a:solidFill>
                    <a:srgbClr val="000000"/>
                  </a:solidFill>
                </a:uFill>
                <a:latin typeface="Arial"/>
                <a:cs typeface="Arial"/>
              </a:rPr>
              <a:t>Internal Conduct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Murid</a:t>
            </a:r>
            <a:endParaRPr sz="1200">
              <a:latin typeface="Arial"/>
              <a:cs typeface="Arial"/>
            </a:endParaRPr>
          </a:p>
          <a:p>
            <a:pPr algn="just" marL="469900" marR="5080" indent="-229235">
              <a:lnSpc>
                <a:spcPct val="95900"/>
              </a:lnSpc>
              <a:spcBef>
                <a:spcPts val="994"/>
              </a:spcBef>
              <a:buAutoNum type="arabicPeriod"/>
              <a:tabLst>
                <a:tab pos="470534" algn="l"/>
              </a:tabLst>
            </a:pPr>
            <a:r>
              <a:rPr dirty="0" sz="1200" spc="-5">
                <a:latin typeface="Arial"/>
                <a:cs typeface="Arial"/>
              </a:rPr>
              <a:t>The seeker must submit </a:t>
            </a:r>
            <a:r>
              <a:rPr dirty="0" sz="1200">
                <a:latin typeface="Arial"/>
                <a:cs typeface="Arial"/>
              </a:rPr>
              <a:t>to </a:t>
            </a:r>
            <a:r>
              <a:rPr dirty="0" sz="1200" spc="-5">
                <a:latin typeface="Arial"/>
                <a:cs typeface="Arial"/>
              </a:rPr>
              <a:t>the will </a:t>
            </a:r>
            <a:r>
              <a:rPr dirty="0" sz="1200">
                <a:latin typeface="Arial"/>
                <a:cs typeface="Arial"/>
              </a:rPr>
              <a:t>of the </a:t>
            </a:r>
            <a:r>
              <a:rPr dirty="0" sz="1200" spc="-5">
                <a:latin typeface="Arial"/>
                <a:cs typeface="Arial"/>
              </a:rPr>
              <a:t>shaikh and to obey him in all his orders and  advice, because </a:t>
            </a:r>
            <a:r>
              <a:rPr dirty="0" sz="1200">
                <a:latin typeface="Arial"/>
                <a:cs typeface="Arial"/>
              </a:rPr>
              <a:t>the </a:t>
            </a:r>
            <a:r>
              <a:rPr dirty="0" sz="1200" spc="-5">
                <a:latin typeface="Arial"/>
                <a:cs typeface="Arial"/>
              </a:rPr>
              <a:t>shaikh has more experience and </a:t>
            </a:r>
            <a:r>
              <a:rPr dirty="0" sz="1200">
                <a:latin typeface="Arial"/>
                <a:cs typeface="Arial"/>
              </a:rPr>
              <a:t>more </a:t>
            </a:r>
            <a:r>
              <a:rPr dirty="0" sz="1200" spc="-5">
                <a:latin typeface="Arial"/>
                <a:cs typeface="Arial"/>
              </a:rPr>
              <a:t>knowledge in haqiqat, in  tariqat and </a:t>
            </a:r>
            <a:r>
              <a:rPr dirty="0" sz="1200" spc="-10">
                <a:latin typeface="Arial"/>
                <a:cs typeface="Arial"/>
              </a:rPr>
              <a:t>in </a:t>
            </a:r>
            <a:r>
              <a:rPr dirty="0" sz="1200" spc="-5">
                <a:latin typeface="Arial"/>
                <a:cs typeface="Arial"/>
              </a:rPr>
              <a:t>shari'ah. </a:t>
            </a:r>
            <a:r>
              <a:rPr dirty="0" sz="1200">
                <a:latin typeface="Arial"/>
                <a:cs typeface="Arial"/>
              </a:rPr>
              <a:t>As the sick </a:t>
            </a:r>
            <a:r>
              <a:rPr dirty="0" sz="1200" spc="-5">
                <a:latin typeface="Arial"/>
                <a:cs typeface="Arial"/>
              </a:rPr>
              <a:t>person </a:t>
            </a:r>
            <a:r>
              <a:rPr dirty="0" sz="1200" spc="-10">
                <a:latin typeface="Arial"/>
                <a:cs typeface="Arial"/>
              </a:rPr>
              <a:t>gives </a:t>
            </a:r>
            <a:r>
              <a:rPr dirty="0" sz="1200" spc="-5">
                <a:latin typeface="Arial"/>
                <a:cs typeface="Arial"/>
              </a:rPr>
              <a:t>himself </a:t>
            </a:r>
            <a:r>
              <a:rPr dirty="0" sz="1200">
                <a:latin typeface="Arial"/>
                <a:cs typeface="Arial"/>
              </a:rPr>
              <a:t>to </a:t>
            </a:r>
            <a:r>
              <a:rPr dirty="0" sz="1200" spc="-5">
                <a:latin typeface="Arial"/>
                <a:cs typeface="Arial"/>
              </a:rPr>
              <a:t>his doctor </a:t>
            </a:r>
            <a:r>
              <a:rPr dirty="0" sz="1200">
                <a:latin typeface="Arial"/>
                <a:cs typeface="Arial"/>
              </a:rPr>
              <a:t>to </a:t>
            </a:r>
            <a:r>
              <a:rPr dirty="0" sz="1200" spc="-10">
                <a:latin typeface="Arial"/>
                <a:cs typeface="Arial"/>
              </a:rPr>
              <a:t>be </a:t>
            </a:r>
            <a:r>
              <a:rPr dirty="0" sz="1200" spc="-5">
                <a:latin typeface="Arial"/>
                <a:cs typeface="Arial"/>
              </a:rPr>
              <a:t>cured, so  </a:t>
            </a:r>
            <a:r>
              <a:rPr dirty="0" sz="1200">
                <a:latin typeface="Arial"/>
                <a:cs typeface="Arial"/>
              </a:rPr>
              <a:t>too </a:t>
            </a:r>
            <a:r>
              <a:rPr dirty="0" sz="1200" spc="-5">
                <a:latin typeface="Arial"/>
                <a:cs typeface="Arial"/>
              </a:rPr>
              <a:t>does the murid, </a:t>
            </a:r>
            <a:r>
              <a:rPr dirty="0" sz="1200">
                <a:latin typeface="Arial"/>
                <a:cs typeface="Arial"/>
              </a:rPr>
              <a:t>sick </a:t>
            </a:r>
            <a:r>
              <a:rPr dirty="0" sz="1200" spc="-5">
                <a:latin typeface="Arial"/>
                <a:cs typeface="Arial"/>
              </a:rPr>
              <a:t>in his conduct and behaviour, submit </a:t>
            </a:r>
            <a:r>
              <a:rPr dirty="0" sz="1200">
                <a:latin typeface="Arial"/>
                <a:cs typeface="Arial"/>
              </a:rPr>
              <a:t>to the </a:t>
            </a:r>
            <a:r>
              <a:rPr dirty="0" sz="1200" spc="-5">
                <a:latin typeface="Arial"/>
                <a:cs typeface="Arial"/>
              </a:rPr>
              <a:t>shaikh's  experience in order </a:t>
            </a:r>
            <a:r>
              <a:rPr dirty="0" sz="1200" spc="-10">
                <a:latin typeface="Arial"/>
                <a:cs typeface="Arial"/>
              </a:rPr>
              <a:t>to </a:t>
            </a:r>
            <a:r>
              <a:rPr dirty="0" sz="1200" spc="-5">
                <a:latin typeface="Arial"/>
                <a:cs typeface="Arial"/>
              </a:rPr>
              <a:t>be</a:t>
            </a:r>
            <a:r>
              <a:rPr dirty="0" sz="1200">
                <a:latin typeface="Arial"/>
                <a:cs typeface="Arial"/>
              </a:rPr>
              <a:t> </a:t>
            </a:r>
            <a:r>
              <a:rPr dirty="0" sz="1200" spc="-5">
                <a:latin typeface="Arial"/>
                <a:cs typeface="Arial"/>
              </a:rPr>
              <a:t>healed.</a:t>
            </a:r>
            <a:endParaRPr sz="1200">
              <a:latin typeface="Arial"/>
              <a:cs typeface="Arial"/>
            </a:endParaRPr>
          </a:p>
          <a:p>
            <a:pPr algn="just" marL="469900" marR="8255" indent="-229235">
              <a:lnSpc>
                <a:spcPts val="1380"/>
              </a:lnSpc>
              <a:spcBef>
                <a:spcPts val="1035"/>
              </a:spcBef>
              <a:buAutoNum type="arabicPeriod"/>
              <a:tabLst>
                <a:tab pos="470534" algn="l"/>
              </a:tabLst>
            </a:pPr>
            <a:r>
              <a:rPr dirty="0" sz="1200" spc="-5">
                <a:latin typeface="Arial"/>
                <a:cs typeface="Arial"/>
              </a:rPr>
              <a:t>The seeker must not object to the </a:t>
            </a:r>
            <a:r>
              <a:rPr dirty="0" sz="1200" spc="-10">
                <a:latin typeface="Arial"/>
                <a:cs typeface="Arial"/>
              </a:rPr>
              <a:t>way </a:t>
            </a:r>
            <a:r>
              <a:rPr dirty="0" sz="1200">
                <a:latin typeface="Arial"/>
                <a:cs typeface="Arial"/>
              </a:rPr>
              <a:t>the </a:t>
            </a:r>
            <a:r>
              <a:rPr dirty="0" sz="1200" spc="-5">
                <a:latin typeface="Arial"/>
                <a:cs typeface="Arial"/>
              </a:rPr>
              <a:t>shaikh instructs and controls the murids.  Each shaikh </a:t>
            </a:r>
            <a:r>
              <a:rPr dirty="0" sz="1200">
                <a:latin typeface="Arial"/>
                <a:cs typeface="Arial"/>
              </a:rPr>
              <a:t>has </a:t>
            </a:r>
            <a:r>
              <a:rPr dirty="0" sz="1200" spc="-5">
                <a:latin typeface="Arial"/>
                <a:cs typeface="Arial"/>
              </a:rPr>
              <a:t>his </a:t>
            </a:r>
            <a:r>
              <a:rPr dirty="0" sz="1200" spc="-10">
                <a:latin typeface="Arial"/>
                <a:cs typeface="Arial"/>
              </a:rPr>
              <a:t>own </a:t>
            </a:r>
            <a:r>
              <a:rPr dirty="0" sz="1200" spc="-5">
                <a:latin typeface="Arial"/>
                <a:cs typeface="Arial"/>
              </a:rPr>
              <a:t>way, which he has been permitted by his </a:t>
            </a:r>
            <a:r>
              <a:rPr dirty="0" sz="1200" spc="-10">
                <a:latin typeface="Arial"/>
                <a:cs typeface="Arial"/>
              </a:rPr>
              <a:t>own </a:t>
            </a:r>
            <a:r>
              <a:rPr dirty="0" sz="1200" spc="-5">
                <a:latin typeface="Arial"/>
                <a:cs typeface="Arial"/>
              </a:rPr>
              <a:t>shaikh </a:t>
            </a:r>
            <a:r>
              <a:rPr dirty="0" sz="1200">
                <a:latin typeface="Arial"/>
                <a:cs typeface="Arial"/>
              </a:rPr>
              <a:t>to </a:t>
            </a:r>
            <a:r>
              <a:rPr dirty="0" sz="1200" spc="-5">
                <a:latin typeface="Arial"/>
                <a:cs typeface="Arial"/>
              </a:rPr>
              <a:t>use.  Imam Ibn Hajar al-Haythami said, "Whoever opens the door of criticism against  shaikhs and their behaviour with </a:t>
            </a:r>
            <a:r>
              <a:rPr dirty="0" sz="1200">
                <a:latin typeface="Arial"/>
                <a:cs typeface="Arial"/>
              </a:rPr>
              <a:t>their </a:t>
            </a:r>
            <a:r>
              <a:rPr dirty="0" sz="1200" spc="-5">
                <a:latin typeface="Arial"/>
                <a:cs typeface="Arial"/>
              </a:rPr>
              <a:t>murids and their actions will be punished </a:t>
            </a:r>
            <a:r>
              <a:rPr dirty="0" sz="1200" spc="-10">
                <a:latin typeface="Arial"/>
                <a:cs typeface="Arial"/>
              </a:rPr>
              <a:t>and  </a:t>
            </a:r>
            <a:r>
              <a:rPr dirty="0" sz="1200" spc="-5">
                <a:latin typeface="Arial"/>
                <a:cs typeface="Arial"/>
              </a:rPr>
              <a:t>will be </a:t>
            </a:r>
            <a:r>
              <a:rPr dirty="0" sz="1200">
                <a:latin typeface="Arial"/>
                <a:cs typeface="Arial"/>
              </a:rPr>
              <a:t>isolated from </a:t>
            </a:r>
            <a:r>
              <a:rPr dirty="0" sz="1200" spc="-5">
                <a:latin typeface="Arial"/>
                <a:cs typeface="Arial"/>
              </a:rPr>
              <a:t>receiving spiritual knowledge. </a:t>
            </a:r>
            <a:r>
              <a:rPr dirty="0" sz="1200">
                <a:latin typeface="Arial"/>
                <a:cs typeface="Arial"/>
              </a:rPr>
              <a:t>Whoever </a:t>
            </a:r>
            <a:r>
              <a:rPr dirty="0" sz="1200" spc="-5">
                <a:latin typeface="Arial"/>
                <a:cs typeface="Arial"/>
              </a:rPr>
              <a:t>says </a:t>
            </a:r>
            <a:r>
              <a:rPr dirty="0" sz="1200">
                <a:latin typeface="Arial"/>
                <a:cs typeface="Arial"/>
              </a:rPr>
              <a:t>to </a:t>
            </a:r>
            <a:r>
              <a:rPr dirty="0" sz="1200" spc="-5">
                <a:latin typeface="Arial"/>
                <a:cs typeface="Arial"/>
              </a:rPr>
              <a:t>his shaikh, 'Why?'  will never succeed." [al-Fatawa al-Hadithiyya, </a:t>
            </a:r>
            <a:r>
              <a:rPr dirty="0" sz="1200">
                <a:latin typeface="Arial"/>
                <a:cs typeface="Arial"/>
              </a:rPr>
              <a:t>p.</a:t>
            </a:r>
            <a:r>
              <a:rPr dirty="0" sz="1200" spc="40">
                <a:latin typeface="Arial"/>
                <a:cs typeface="Arial"/>
              </a:rPr>
              <a:t> </a:t>
            </a:r>
            <a:r>
              <a:rPr dirty="0" sz="1200" spc="-5">
                <a:latin typeface="Arial"/>
                <a:cs typeface="Arial"/>
              </a:rPr>
              <a:t>55]</a:t>
            </a:r>
            <a:endParaRPr sz="1200">
              <a:latin typeface="Arial"/>
              <a:cs typeface="Arial"/>
            </a:endParaRPr>
          </a:p>
          <a:p>
            <a:pPr algn="just" marL="469900" marR="6985" indent="-229235">
              <a:lnSpc>
                <a:spcPct val="95400"/>
              </a:lnSpc>
              <a:spcBef>
                <a:spcPts val="975"/>
              </a:spcBef>
              <a:buAutoNum type="arabicPeriod"/>
              <a:tabLst>
                <a:tab pos="470534" algn="l"/>
              </a:tabLst>
            </a:pPr>
            <a:r>
              <a:rPr dirty="0" sz="1200" spc="-5">
                <a:latin typeface="Arial"/>
                <a:cs typeface="Arial"/>
              </a:rPr>
              <a:t>The seeker must know </a:t>
            </a:r>
            <a:r>
              <a:rPr dirty="0" sz="1200">
                <a:latin typeface="Arial"/>
                <a:cs typeface="Arial"/>
              </a:rPr>
              <a:t>that the </a:t>
            </a:r>
            <a:r>
              <a:rPr dirty="0" sz="1200" spc="-5">
                <a:latin typeface="Arial"/>
                <a:cs typeface="Arial"/>
              </a:rPr>
              <a:t>shaikh might </a:t>
            </a:r>
            <a:r>
              <a:rPr dirty="0" sz="1200">
                <a:latin typeface="Arial"/>
                <a:cs typeface="Arial"/>
              </a:rPr>
              <a:t>make </a:t>
            </a:r>
            <a:r>
              <a:rPr dirty="0" sz="1200" spc="-5">
                <a:latin typeface="Arial"/>
                <a:cs typeface="Arial"/>
              </a:rPr>
              <a:t>some mistakes, but that these </a:t>
            </a:r>
            <a:r>
              <a:rPr dirty="0" sz="1200" spc="-10">
                <a:latin typeface="Arial"/>
                <a:cs typeface="Arial"/>
              </a:rPr>
              <a:t>will  </a:t>
            </a:r>
            <a:r>
              <a:rPr dirty="0" sz="1200" spc="-5">
                <a:latin typeface="Arial"/>
                <a:cs typeface="Arial"/>
              </a:rPr>
              <a:t>not prevent him from </a:t>
            </a:r>
            <a:r>
              <a:rPr dirty="0" sz="1200">
                <a:latin typeface="Arial"/>
                <a:cs typeface="Arial"/>
              </a:rPr>
              <a:t>lifting the </a:t>
            </a:r>
            <a:r>
              <a:rPr dirty="0" sz="1200" spc="-5">
                <a:latin typeface="Arial"/>
                <a:cs typeface="Arial"/>
              </a:rPr>
              <a:t>murid up </a:t>
            </a:r>
            <a:r>
              <a:rPr dirty="0" sz="1200">
                <a:latin typeface="Arial"/>
                <a:cs typeface="Arial"/>
              </a:rPr>
              <a:t>to </a:t>
            </a:r>
            <a:r>
              <a:rPr dirty="0" sz="1200" spc="-5">
                <a:latin typeface="Arial"/>
                <a:cs typeface="Arial"/>
              </a:rPr>
              <a:t>the </a:t>
            </a:r>
            <a:r>
              <a:rPr dirty="0" sz="1200">
                <a:latin typeface="Arial"/>
                <a:cs typeface="Arial"/>
              </a:rPr>
              <a:t>Divine </a:t>
            </a:r>
            <a:r>
              <a:rPr dirty="0" sz="1200" spc="-5">
                <a:latin typeface="Arial"/>
                <a:cs typeface="Arial"/>
              </a:rPr>
              <a:t>Presence. So </a:t>
            </a:r>
            <a:r>
              <a:rPr dirty="0" sz="1200">
                <a:latin typeface="Arial"/>
                <a:cs typeface="Arial"/>
              </a:rPr>
              <a:t>the </a:t>
            </a:r>
            <a:r>
              <a:rPr dirty="0" sz="1200" spc="-5">
                <a:latin typeface="Arial"/>
                <a:cs typeface="Arial"/>
              </a:rPr>
              <a:t>murid must  excuse</a:t>
            </a:r>
            <a:r>
              <a:rPr dirty="0" sz="1200" spc="50">
                <a:latin typeface="Arial"/>
                <a:cs typeface="Arial"/>
              </a:rPr>
              <a:t> </a:t>
            </a:r>
            <a:r>
              <a:rPr dirty="0" sz="1200">
                <a:latin typeface="Arial"/>
                <a:cs typeface="Arial"/>
              </a:rPr>
              <a:t>the</a:t>
            </a:r>
            <a:r>
              <a:rPr dirty="0" sz="1200" spc="55">
                <a:latin typeface="Arial"/>
                <a:cs typeface="Arial"/>
              </a:rPr>
              <a:t> </a:t>
            </a:r>
            <a:r>
              <a:rPr dirty="0" sz="1200" spc="-5">
                <a:latin typeface="Arial"/>
                <a:cs typeface="Arial"/>
              </a:rPr>
              <a:t>shaikh,</a:t>
            </a:r>
            <a:r>
              <a:rPr dirty="0" sz="1200" spc="45">
                <a:latin typeface="Arial"/>
                <a:cs typeface="Arial"/>
              </a:rPr>
              <a:t> </a:t>
            </a:r>
            <a:r>
              <a:rPr dirty="0" sz="1200" spc="-5">
                <a:latin typeface="Arial"/>
                <a:cs typeface="Arial"/>
              </a:rPr>
              <a:t>as</a:t>
            </a:r>
            <a:r>
              <a:rPr dirty="0" sz="1200" spc="40">
                <a:latin typeface="Arial"/>
                <a:cs typeface="Arial"/>
              </a:rPr>
              <a:t> </a:t>
            </a:r>
            <a:r>
              <a:rPr dirty="0" sz="1200">
                <a:latin typeface="Arial"/>
                <a:cs typeface="Arial"/>
              </a:rPr>
              <a:t>the</a:t>
            </a:r>
            <a:r>
              <a:rPr dirty="0" sz="1200" spc="55">
                <a:latin typeface="Arial"/>
                <a:cs typeface="Arial"/>
              </a:rPr>
              <a:t> </a:t>
            </a:r>
            <a:r>
              <a:rPr dirty="0" sz="1200" spc="-5">
                <a:latin typeface="Arial"/>
                <a:cs typeface="Arial"/>
              </a:rPr>
              <a:t>shaikh</a:t>
            </a:r>
            <a:r>
              <a:rPr dirty="0" sz="1200" spc="55">
                <a:latin typeface="Arial"/>
                <a:cs typeface="Arial"/>
              </a:rPr>
              <a:t> </a:t>
            </a:r>
            <a:r>
              <a:rPr dirty="0" sz="1200" spc="-5">
                <a:latin typeface="Arial"/>
                <a:cs typeface="Arial"/>
              </a:rPr>
              <a:t>is</a:t>
            </a:r>
            <a:r>
              <a:rPr dirty="0" sz="1200" spc="45">
                <a:latin typeface="Arial"/>
                <a:cs typeface="Arial"/>
              </a:rPr>
              <a:t> </a:t>
            </a:r>
            <a:r>
              <a:rPr dirty="0" sz="1200" spc="-5">
                <a:latin typeface="Arial"/>
                <a:cs typeface="Arial"/>
              </a:rPr>
              <a:t>not</a:t>
            </a:r>
            <a:r>
              <a:rPr dirty="0" sz="1200" spc="55">
                <a:latin typeface="Arial"/>
                <a:cs typeface="Arial"/>
              </a:rPr>
              <a:t> </a:t>
            </a:r>
            <a:r>
              <a:rPr dirty="0" sz="1200" spc="-5">
                <a:latin typeface="Arial"/>
                <a:cs typeface="Arial"/>
              </a:rPr>
              <a:t>the</a:t>
            </a:r>
            <a:r>
              <a:rPr dirty="0" sz="1200" spc="55">
                <a:latin typeface="Arial"/>
                <a:cs typeface="Arial"/>
              </a:rPr>
              <a:t> </a:t>
            </a:r>
            <a:r>
              <a:rPr dirty="0" sz="1200" spc="-5">
                <a:latin typeface="Arial"/>
                <a:cs typeface="Arial"/>
              </a:rPr>
              <a:t>Prophet</a:t>
            </a:r>
            <a:r>
              <a:rPr dirty="0" sz="1200" spc="40">
                <a:latin typeface="Arial"/>
                <a:cs typeface="Arial"/>
              </a:rPr>
              <a:t> </a:t>
            </a:r>
            <a:r>
              <a:rPr dirty="0" sz="1200" spc="-5">
                <a:latin typeface="Arial"/>
                <a:cs typeface="Arial"/>
              </a:rPr>
              <a:t>(s).</a:t>
            </a:r>
            <a:r>
              <a:rPr dirty="0" sz="1200" spc="55">
                <a:latin typeface="Arial"/>
                <a:cs typeface="Arial"/>
              </a:rPr>
              <a:t> </a:t>
            </a:r>
            <a:r>
              <a:rPr dirty="0" sz="1200">
                <a:latin typeface="Arial"/>
                <a:cs typeface="Arial"/>
              </a:rPr>
              <a:t>Only</a:t>
            </a:r>
            <a:r>
              <a:rPr dirty="0" sz="1200" spc="40">
                <a:latin typeface="Arial"/>
                <a:cs typeface="Arial"/>
              </a:rPr>
              <a:t> </a:t>
            </a:r>
            <a:r>
              <a:rPr dirty="0" sz="1200">
                <a:latin typeface="Arial"/>
                <a:cs typeface="Arial"/>
              </a:rPr>
              <a:t>the</a:t>
            </a:r>
            <a:r>
              <a:rPr dirty="0" sz="1200" spc="55">
                <a:latin typeface="Arial"/>
                <a:cs typeface="Arial"/>
              </a:rPr>
              <a:t> </a:t>
            </a:r>
            <a:r>
              <a:rPr dirty="0" sz="1200" spc="-5">
                <a:latin typeface="Arial"/>
                <a:cs typeface="Arial"/>
              </a:rPr>
              <a:t>Prophet</a:t>
            </a:r>
            <a:r>
              <a:rPr dirty="0" sz="1200" spc="50">
                <a:latin typeface="Arial"/>
                <a:cs typeface="Arial"/>
              </a:rPr>
              <a:t> </a:t>
            </a:r>
            <a:r>
              <a:rPr dirty="0" sz="1200">
                <a:latin typeface="Arial"/>
                <a:cs typeface="Arial"/>
              </a:rPr>
              <a:t>(s)</a:t>
            </a:r>
            <a:r>
              <a:rPr dirty="0" sz="1200" spc="45">
                <a:latin typeface="Arial"/>
                <a:cs typeface="Arial"/>
              </a:rPr>
              <a:t> </a:t>
            </a:r>
            <a:r>
              <a:rPr dirty="0" sz="1200" spc="-10">
                <a:latin typeface="Arial"/>
                <a:cs typeface="Arial"/>
              </a:rPr>
              <a:t>was</a:t>
            </a:r>
            <a:r>
              <a:rPr dirty="0" sz="1200" spc="50">
                <a:latin typeface="Arial"/>
                <a:cs typeface="Arial"/>
              </a:rPr>
              <a:t> </a:t>
            </a:r>
            <a:r>
              <a:rPr dirty="0" sz="1200" spc="-5">
                <a:latin typeface="Arial"/>
                <a:cs typeface="Arial"/>
              </a:rPr>
              <a:t>free</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146</a:t>
            </a:r>
            <a:endParaRPr sz="1200">
              <a:latin typeface="Times New Roman"/>
              <a:cs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93419" y="432307"/>
            <a:ext cx="6433820" cy="9364345"/>
          </a:xfrm>
          <a:prstGeom prst="rect">
            <a:avLst/>
          </a:prstGeom>
        </p:spPr>
        <p:txBody>
          <a:bodyPr wrap="square" lIns="0" tIns="12700" rIns="0" bIns="0" rtlCol="0" vert="horz">
            <a:spAutoFit/>
          </a:bodyPr>
          <a:lstStyle/>
          <a:p>
            <a:pPr algn="just" marL="38100">
              <a:lnSpc>
                <a:spcPct val="100000"/>
              </a:lnSpc>
              <a:spcBef>
                <a:spcPts val="100"/>
              </a:spcBef>
              <a:tabLst>
                <a:tab pos="50895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495300" marR="103505">
              <a:lnSpc>
                <a:spcPts val="1380"/>
              </a:lnSpc>
            </a:pPr>
            <a:r>
              <a:rPr dirty="0" sz="1200" spc="-5">
                <a:latin typeface="Arial"/>
                <a:cs typeface="Arial"/>
              </a:rPr>
              <a:t>of error. Although </a:t>
            </a:r>
            <a:r>
              <a:rPr dirty="0" sz="1200">
                <a:latin typeface="Arial"/>
                <a:cs typeface="Arial"/>
              </a:rPr>
              <a:t>it </a:t>
            </a:r>
            <a:r>
              <a:rPr dirty="0" sz="1200" spc="-10">
                <a:latin typeface="Arial"/>
                <a:cs typeface="Arial"/>
              </a:rPr>
              <a:t>is </a:t>
            </a:r>
            <a:r>
              <a:rPr dirty="0" sz="1200">
                <a:latin typeface="Arial"/>
                <a:cs typeface="Arial"/>
              </a:rPr>
              <a:t>rare, </a:t>
            </a:r>
            <a:r>
              <a:rPr dirty="0" sz="1200" spc="-5">
                <a:latin typeface="Arial"/>
                <a:cs typeface="Arial"/>
              </a:rPr>
              <a:t>just as the doctor might make a mistake </a:t>
            </a:r>
            <a:r>
              <a:rPr dirty="0" sz="1200" spc="-10">
                <a:latin typeface="Arial"/>
                <a:cs typeface="Arial"/>
              </a:rPr>
              <a:t>in </a:t>
            </a:r>
            <a:r>
              <a:rPr dirty="0" sz="1200" spc="-5">
                <a:latin typeface="Arial"/>
                <a:cs typeface="Arial"/>
              </a:rPr>
              <a:t>treating a  patient, so too might the shaikh </a:t>
            </a:r>
            <a:r>
              <a:rPr dirty="0" sz="1200">
                <a:latin typeface="Arial"/>
                <a:cs typeface="Arial"/>
              </a:rPr>
              <a:t>make </a:t>
            </a:r>
            <a:r>
              <a:rPr dirty="0" sz="1200" spc="-5">
                <a:latin typeface="Arial"/>
                <a:cs typeface="Arial"/>
              </a:rPr>
              <a:t>a mistake in </a:t>
            </a:r>
            <a:r>
              <a:rPr dirty="0" sz="1200">
                <a:latin typeface="Arial"/>
                <a:cs typeface="Arial"/>
              </a:rPr>
              <a:t>treating </a:t>
            </a:r>
            <a:r>
              <a:rPr dirty="0" sz="1200" spc="-5">
                <a:latin typeface="Arial"/>
                <a:cs typeface="Arial"/>
              </a:rPr>
              <a:t>his murid's spiritual illness  and that must be</a:t>
            </a:r>
            <a:r>
              <a:rPr dirty="0" sz="1200" spc="-20">
                <a:latin typeface="Arial"/>
                <a:cs typeface="Arial"/>
              </a:rPr>
              <a:t> </a:t>
            </a:r>
            <a:r>
              <a:rPr dirty="0" sz="1200" spc="-5">
                <a:latin typeface="Arial"/>
                <a:cs typeface="Arial"/>
              </a:rPr>
              <a:t>excused.</a:t>
            </a:r>
            <a:endParaRPr sz="1200">
              <a:latin typeface="Arial"/>
              <a:cs typeface="Arial"/>
            </a:endParaRPr>
          </a:p>
          <a:p>
            <a:pPr algn="just" marL="495300" marR="107314" indent="-228600">
              <a:lnSpc>
                <a:spcPts val="1380"/>
              </a:lnSpc>
              <a:spcBef>
                <a:spcPts val="1000"/>
              </a:spcBef>
              <a:buAutoNum type="arabicPeriod" startAt="4"/>
              <a:tabLst>
                <a:tab pos="495934" algn="l"/>
              </a:tabLst>
            </a:pPr>
            <a:r>
              <a:rPr dirty="0" sz="1200" spc="-5">
                <a:latin typeface="Arial"/>
                <a:cs typeface="Arial"/>
              </a:rPr>
              <a:t>The seeker must respect and honour </a:t>
            </a:r>
            <a:r>
              <a:rPr dirty="0" sz="1200">
                <a:latin typeface="Arial"/>
                <a:cs typeface="Arial"/>
              </a:rPr>
              <a:t>the </a:t>
            </a:r>
            <a:r>
              <a:rPr dirty="0" sz="1200" spc="-5">
                <a:latin typeface="Arial"/>
                <a:cs typeface="Arial"/>
              </a:rPr>
              <a:t>shaikh in his presence and his absence, </a:t>
            </a:r>
            <a:r>
              <a:rPr dirty="0" sz="1200" spc="-10">
                <a:latin typeface="Arial"/>
                <a:cs typeface="Arial"/>
              </a:rPr>
              <a:t>if  </a:t>
            </a:r>
            <a:r>
              <a:rPr dirty="0" sz="1200" spc="-5">
                <a:latin typeface="Arial"/>
                <a:cs typeface="Arial"/>
              </a:rPr>
              <a:t>only because the shaikh can </a:t>
            </a:r>
            <a:r>
              <a:rPr dirty="0" sz="1200" spc="-10">
                <a:latin typeface="Arial"/>
                <a:cs typeface="Arial"/>
              </a:rPr>
              <a:t>see </a:t>
            </a:r>
            <a:r>
              <a:rPr dirty="0" sz="1200" spc="-5">
                <a:latin typeface="Arial"/>
                <a:cs typeface="Arial"/>
              </a:rPr>
              <a:t>with the </a:t>
            </a:r>
            <a:r>
              <a:rPr dirty="0" sz="1200" spc="-10">
                <a:latin typeface="Arial"/>
                <a:cs typeface="Arial"/>
              </a:rPr>
              <a:t>eye </a:t>
            </a:r>
            <a:r>
              <a:rPr dirty="0" sz="1200">
                <a:latin typeface="Arial"/>
                <a:cs typeface="Arial"/>
              </a:rPr>
              <a:t>of </a:t>
            </a:r>
            <a:r>
              <a:rPr dirty="0" sz="1200" spc="-5">
                <a:latin typeface="Arial"/>
                <a:cs typeface="Arial"/>
              </a:rPr>
              <a:t>the heart. </a:t>
            </a:r>
            <a:r>
              <a:rPr dirty="0" sz="1200">
                <a:latin typeface="Arial"/>
                <a:cs typeface="Arial"/>
              </a:rPr>
              <a:t>It </a:t>
            </a:r>
            <a:r>
              <a:rPr dirty="0" sz="1200" spc="-5">
                <a:latin typeface="Arial"/>
                <a:cs typeface="Arial"/>
              </a:rPr>
              <a:t>is said that whoever is  </a:t>
            </a:r>
            <a:r>
              <a:rPr dirty="0" sz="1200">
                <a:latin typeface="Arial"/>
                <a:cs typeface="Arial"/>
              </a:rPr>
              <a:t>not </a:t>
            </a:r>
            <a:r>
              <a:rPr dirty="0" sz="1200" spc="-5">
                <a:latin typeface="Arial"/>
                <a:cs typeface="Arial"/>
              </a:rPr>
              <a:t>happy with </a:t>
            </a:r>
            <a:r>
              <a:rPr dirty="0" sz="1200">
                <a:latin typeface="Arial"/>
                <a:cs typeface="Arial"/>
              </a:rPr>
              <a:t>the </a:t>
            </a:r>
            <a:r>
              <a:rPr dirty="0" sz="1200" spc="-5">
                <a:latin typeface="Arial"/>
                <a:cs typeface="Arial"/>
              </a:rPr>
              <a:t>orders of the shaikh, </a:t>
            </a:r>
            <a:r>
              <a:rPr dirty="0" sz="1200" spc="-10">
                <a:latin typeface="Arial"/>
                <a:cs typeface="Arial"/>
              </a:rPr>
              <a:t>and </a:t>
            </a:r>
            <a:r>
              <a:rPr dirty="0" sz="1200" spc="-5">
                <a:latin typeface="Arial"/>
                <a:cs typeface="Arial"/>
              </a:rPr>
              <a:t>does not keep </a:t>
            </a:r>
            <a:r>
              <a:rPr dirty="0" sz="1200" spc="-10">
                <a:latin typeface="Arial"/>
                <a:cs typeface="Arial"/>
              </a:rPr>
              <a:t>good </a:t>
            </a:r>
            <a:r>
              <a:rPr dirty="0" sz="1200" spc="-5">
                <a:latin typeface="Arial"/>
                <a:cs typeface="Arial"/>
              </a:rPr>
              <a:t>conduct and </a:t>
            </a:r>
            <a:r>
              <a:rPr dirty="0" sz="1200" spc="-10">
                <a:latin typeface="Arial"/>
                <a:cs typeface="Arial"/>
              </a:rPr>
              <a:t>adab  </a:t>
            </a:r>
            <a:r>
              <a:rPr dirty="0" sz="1200" spc="-5">
                <a:latin typeface="Arial"/>
                <a:cs typeface="Arial"/>
              </a:rPr>
              <a:t>with </a:t>
            </a:r>
            <a:r>
              <a:rPr dirty="0" sz="1200">
                <a:latin typeface="Arial"/>
                <a:cs typeface="Arial"/>
              </a:rPr>
              <a:t>him, </a:t>
            </a:r>
            <a:r>
              <a:rPr dirty="0" sz="1200" spc="-10">
                <a:latin typeface="Arial"/>
                <a:cs typeface="Arial"/>
              </a:rPr>
              <a:t>will </a:t>
            </a:r>
            <a:r>
              <a:rPr dirty="0" sz="1200" spc="-5">
                <a:latin typeface="Arial"/>
                <a:cs typeface="Arial"/>
              </a:rPr>
              <a:t>never keep </a:t>
            </a:r>
            <a:r>
              <a:rPr dirty="0" sz="1200" spc="-10">
                <a:latin typeface="Arial"/>
                <a:cs typeface="Arial"/>
              </a:rPr>
              <a:t>good </a:t>
            </a:r>
            <a:r>
              <a:rPr dirty="0" sz="1200" spc="-5">
                <a:latin typeface="Arial"/>
                <a:cs typeface="Arial"/>
              </a:rPr>
              <a:t>conduct with </a:t>
            </a:r>
            <a:r>
              <a:rPr dirty="0" sz="1200">
                <a:latin typeface="Arial"/>
                <a:cs typeface="Arial"/>
              </a:rPr>
              <a:t>the </a:t>
            </a:r>
            <a:r>
              <a:rPr dirty="0" sz="1200" spc="-5">
                <a:latin typeface="Arial"/>
                <a:cs typeface="Arial"/>
              </a:rPr>
              <a:t>Qur'an and with </a:t>
            </a:r>
            <a:r>
              <a:rPr dirty="0" sz="1200">
                <a:latin typeface="Arial"/>
                <a:cs typeface="Arial"/>
              </a:rPr>
              <a:t>the </a:t>
            </a:r>
            <a:r>
              <a:rPr dirty="0" sz="1200" spc="-5">
                <a:latin typeface="Arial"/>
                <a:cs typeface="Arial"/>
              </a:rPr>
              <a:t>Sunnah of </a:t>
            </a:r>
            <a:r>
              <a:rPr dirty="0" sz="1200" spc="-10">
                <a:latin typeface="Arial"/>
                <a:cs typeface="Arial"/>
              </a:rPr>
              <a:t>the  </a:t>
            </a:r>
            <a:r>
              <a:rPr dirty="0" sz="1200" spc="-5">
                <a:latin typeface="Arial"/>
                <a:cs typeface="Arial"/>
              </a:rPr>
              <a:t>Prophet (s). Shaikh Abdul Qadir Jilani said, "Whoever criticised a </a:t>
            </a:r>
            <a:r>
              <a:rPr dirty="0" sz="1200">
                <a:latin typeface="Arial"/>
                <a:cs typeface="Arial"/>
              </a:rPr>
              <a:t>saint, </a:t>
            </a:r>
            <a:r>
              <a:rPr dirty="0" sz="1200" spc="-5">
                <a:latin typeface="Arial"/>
                <a:cs typeface="Arial"/>
              </a:rPr>
              <a:t>Allah </a:t>
            </a:r>
            <a:r>
              <a:rPr dirty="0" sz="1200" spc="-10">
                <a:latin typeface="Arial"/>
                <a:cs typeface="Arial"/>
              </a:rPr>
              <a:t>will  </a:t>
            </a:r>
            <a:r>
              <a:rPr dirty="0" sz="1200" spc="-5">
                <a:latin typeface="Arial"/>
                <a:cs typeface="Arial"/>
              </a:rPr>
              <a:t>cause his heart to</a:t>
            </a:r>
            <a:r>
              <a:rPr dirty="0" sz="1200">
                <a:latin typeface="Arial"/>
                <a:cs typeface="Arial"/>
              </a:rPr>
              <a:t> </a:t>
            </a:r>
            <a:r>
              <a:rPr dirty="0" sz="1200" spc="-5">
                <a:latin typeface="Arial"/>
                <a:cs typeface="Arial"/>
              </a:rPr>
              <a:t>wither."</a:t>
            </a:r>
            <a:endParaRPr sz="1200">
              <a:latin typeface="Arial"/>
              <a:cs typeface="Arial"/>
            </a:endParaRPr>
          </a:p>
          <a:p>
            <a:pPr marL="495300" indent="-229235">
              <a:lnSpc>
                <a:spcPct val="100000"/>
              </a:lnSpc>
              <a:spcBef>
                <a:spcPts val="910"/>
              </a:spcBef>
              <a:buAutoNum type="arabicPeriod" startAt="4"/>
              <a:tabLst>
                <a:tab pos="495934" algn="l"/>
              </a:tabLst>
            </a:pPr>
            <a:r>
              <a:rPr dirty="0" sz="1200" spc="-5">
                <a:latin typeface="Arial"/>
                <a:cs typeface="Arial"/>
              </a:rPr>
              <a:t>The murid </a:t>
            </a:r>
            <a:r>
              <a:rPr dirty="0" sz="1200">
                <a:latin typeface="Arial"/>
                <a:cs typeface="Arial"/>
              </a:rPr>
              <a:t>must be </a:t>
            </a:r>
            <a:r>
              <a:rPr dirty="0" sz="1200" spc="-5">
                <a:latin typeface="Arial"/>
                <a:cs typeface="Arial"/>
              </a:rPr>
              <a:t>sincere and loyal </a:t>
            </a:r>
            <a:r>
              <a:rPr dirty="0" sz="1200">
                <a:latin typeface="Arial"/>
                <a:cs typeface="Arial"/>
              </a:rPr>
              <a:t>to the </a:t>
            </a:r>
            <a:r>
              <a:rPr dirty="0" sz="1200" spc="-5">
                <a:latin typeface="Arial"/>
                <a:cs typeface="Arial"/>
              </a:rPr>
              <a:t>company of his</a:t>
            </a:r>
            <a:r>
              <a:rPr dirty="0" sz="1200" spc="-20">
                <a:latin typeface="Arial"/>
                <a:cs typeface="Arial"/>
              </a:rPr>
              <a:t> </a:t>
            </a:r>
            <a:r>
              <a:rPr dirty="0" sz="1200" spc="-5">
                <a:latin typeface="Arial"/>
                <a:cs typeface="Arial"/>
              </a:rPr>
              <a:t>shaikh.</a:t>
            </a:r>
            <a:endParaRPr sz="1200">
              <a:latin typeface="Arial"/>
              <a:cs typeface="Arial"/>
            </a:endParaRPr>
          </a:p>
          <a:p>
            <a:pPr algn="just" marL="495300" marR="107950" indent="-228600">
              <a:lnSpc>
                <a:spcPct val="95900"/>
              </a:lnSpc>
              <a:spcBef>
                <a:spcPts val="994"/>
              </a:spcBef>
              <a:buAutoNum type="arabicPeriod" startAt="4"/>
              <a:tabLst>
                <a:tab pos="495934" algn="l"/>
              </a:tabLst>
            </a:pPr>
            <a:r>
              <a:rPr dirty="0" sz="1200" spc="-5">
                <a:latin typeface="Arial"/>
                <a:cs typeface="Arial"/>
              </a:rPr>
              <a:t>He </a:t>
            </a:r>
            <a:r>
              <a:rPr dirty="0" sz="1200">
                <a:latin typeface="Arial"/>
                <a:cs typeface="Arial"/>
              </a:rPr>
              <a:t>must </a:t>
            </a:r>
            <a:r>
              <a:rPr dirty="0" sz="1200" spc="-5">
                <a:latin typeface="Arial"/>
                <a:cs typeface="Arial"/>
              </a:rPr>
              <a:t>love his shaikh with an extraordinary love. He </a:t>
            </a:r>
            <a:r>
              <a:rPr dirty="0" sz="1200">
                <a:latin typeface="Arial"/>
                <a:cs typeface="Arial"/>
              </a:rPr>
              <a:t>must </a:t>
            </a:r>
            <a:r>
              <a:rPr dirty="0" sz="1200" spc="-5">
                <a:latin typeface="Arial"/>
                <a:cs typeface="Arial"/>
              </a:rPr>
              <a:t>know </a:t>
            </a:r>
            <a:r>
              <a:rPr dirty="0" sz="1200">
                <a:latin typeface="Arial"/>
                <a:cs typeface="Arial"/>
              </a:rPr>
              <a:t>that </a:t>
            </a:r>
            <a:r>
              <a:rPr dirty="0" sz="1200" spc="-5">
                <a:latin typeface="Arial"/>
                <a:cs typeface="Arial"/>
              </a:rPr>
              <a:t>his shaikh is  going </a:t>
            </a:r>
            <a:r>
              <a:rPr dirty="0" sz="1200">
                <a:latin typeface="Arial"/>
                <a:cs typeface="Arial"/>
              </a:rPr>
              <a:t>to </a:t>
            </a:r>
            <a:r>
              <a:rPr dirty="0" sz="1200" spc="-5">
                <a:latin typeface="Arial"/>
                <a:cs typeface="Arial"/>
              </a:rPr>
              <a:t>take him </a:t>
            </a:r>
            <a:r>
              <a:rPr dirty="0" sz="1200">
                <a:latin typeface="Arial"/>
                <a:cs typeface="Arial"/>
              </a:rPr>
              <a:t>to </a:t>
            </a:r>
            <a:r>
              <a:rPr dirty="0" sz="1200" spc="-5">
                <a:latin typeface="Arial"/>
                <a:cs typeface="Arial"/>
              </a:rPr>
              <a:t>the Presence of Allah, Almighty and Exalted, and </a:t>
            </a:r>
            <a:r>
              <a:rPr dirty="0" sz="1200">
                <a:latin typeface="Arial"/>
                <a:cs typeface="Arial"/>
              </a:rPr>
              <a:t>to </a:t>
            </a:r>
            <a:r>
              <a:rPr dirty="0" sz="1200" spc="-5">
                <a:latin typeface="Arial"/>
                <a:cs typeface="Arial"/>
              </a:rPr>
              <a:t>the Presence  of the Prophet</a:t>
            </a:r>
            <a:r>
              <a:rPr dirty="0" sz="1200" spc="15">
                <a:latin typeface="Arial"/>
                <a:cs typeface="Arial"/>
              </a:rPr>
              <a:t> </a:t>
            </a:r>
            <a:r>
              <a:rPr dirty="0" sz="1200" spc="-5">
                <a:latin typeface="Arial"/>
                <a:cs typeface="Arial"/>
              </a:rPr>
              <a:t>(s).</a:t>
            </a:r>
            <a:endParaRPr sz="1200">
              <a:latin typeface="Arial"/>
              <a:cs typeface="Arial"/>
            </a:endParaRPr>
          </a:p>
          <a:p>
            <a:pPr algn="just" marL="495300" marR="107950" indent="-228600">
              <a:lnSpc>
                <a:spcPts val="1380"/>
              </a:lnSpc>
              <a:spcBef>
                <a:spcPts val="1035"/>
              </a:spcBef>
              <a:buAutoNum type="arabicPeriod" startAt="4"/>
              <a:tabLst>
                <a:tab pos="495934" algn="l"/>
              </a:tabLst>
            </a:pPr>
            <a:r>
              <a:rPr dirty="0" sz="1200" spc="-5">
                <a:latin typeface="Arial"/>
                <a:cs typeface="Arial"/>
              </a:rPr>
              <a:t>He must not </a:t>
            </a:r>
            <a:r>
              <a:rPr dirty="0" sz="1200">
                <a:latin typeface="Arial"/>
                <a:cs typeface="Arial"/>
              </a:rPr>
              <a:t>look to </a:t>
            </a:r>
            <a:r>
              <a:rPr dirty="0" sz="1200" spc="-5">
                <a:latin typeface="Arial"/>
                <a:cs typeface="Arial"/>
              </a:rPr>
              <a:t>any </a:t>
            </a:r>
            <a:r>
              <a:rPr dirty="0" sz="1200">
                <a:latin typeface="Arial"/>
                <a:cs typeface="Arial"/>
              </a:rPr>
              <a:t>other </a:t>
            </a:r>
            <a:r>
              <a:rPr dirty="0" sz="1200" spc="-10">
                <a:latin typeface="Arial"/>
                <a:cs typeface="Arial"/>
              </a:rPr>
              <a:t>than </a:t>
            </a:r>
            <a:r>
              <a:rPr dirty="0" sz="1200" spc="-5">
                <a:latin typeface="Arial"/>
                <a:cs typeface="Arial"/>
              </a:rPr>
              <a:t>his shaikh, though he must keep respect </a:t>
            </a:r>
            <a:r>
              <a:rPr dirty="0" sz="1200">
                <a:latin typeface="Arial"/>
                <a:cs typeface="Arial"/>
              </a:rPr>
              <a:t>for </a:t>
            </a:r>
            <a:r>
              <a:rPr dirty="0" sz="1200" spc="-10">
                <a:latin typeface="Arial"/>
                <a:cs typeface="Arial"/>
              </a:rPr>
              <a:t>all  </a:t>
            </a:r>
            <a:r>
              <a:rPr dirty="0" sz="1200">
                <a:latin typeface="Arial"/>
                <a:cs typeface="Arial"/>
              </a:rPr>
              <a:t>other</a:t>
            </a:r>
            <a:r>
              <a:rPr dirty="0" sz="1200" spc="-5">
                <a:latin typeface="Arial"/>
                <a:cs typeface="Arial"/>
              </a:rPr>
              <a:t> shaikhs.</a:t>
            </a:r>
            <a:endParaRPr sz="1200">
              <a:latin typeface="Arial"/>
              <a:cs typeface="Arial"/>
            </a:endParaRPr>
          </a:p>
          <a:p>
            <a:pPr algn="just" marL="38100">
              <a:lnSpc>
                <a:spcPct val="100000"/>
              </a:lnSpc>
              <a:spcBef>
                <a:spcPts val="910"/>
              </a:spcBef>
            </a:pPr>
            <a:r>
              <a:rPr dirty="0" u="heavy" sz="1200" spc="-5" b="1" i="1">
                <a:uFill>
                  <a:solidFill>
                    <a:srgbClr val="000000"/>
                  </a:solidFill>
                </a:uFill>
                <a:latin typeface="Arial"/>
                <a:cs typeface="Arial"/>
              </a:rPr>
              <a:t>External Conduct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Murid</a:t>
            </a:r>
            <a:endParaRPr sz="1200">
              <a:latin typeface="Arial"/>
              <a:cs typeface="Arial"/>
            </a:endParaRPr>
          </a:p>
          <a:p>
            <a:pPr algn="just" marL="495300" marR="109220" indent="-228600">
              <a:lnSpc>
                <a:spcPts val="1380"/>
              </a:lnSpc>
              <a:spcBef>
                <a:spcPts val="1035"/>
              </a:spcBef>
              <a:buAutoNum type="arabicPeriod"/>
              <a:tabLst>
                <a:tab pos="495934" algn="l"/>
              </a:tabLst>
            </a:pPr>
            <a:r>
              <a:rPr dirty="0" sz="1200" spc="-5">
                <a:latin typeface="Arial"/>
                <a:cs typeface="Arial"/>
              </a:rPr>
              <a:t>He </a:t>
            </a:r>
            <a:r>
              <a:rPr dirty="0" sz="1200">
                <a:latin typeface="Arial"/>
                <a:cs typeface="Arial"/>
              </a:rPr>
              <a:t>must </a:t>
            </a:r>
            <a:r>
              <a:rPr dirty="0" sz="1200" spc="-5">
                <a:latin typeface="Arial"/>
                <a:cs typeface="Arial"/>
              </a:rPr>
              <a:t>agree with </a:t>
            </a:r>
            <a:r>
              <a:rPr dirty="0" sz="1200">
                <a:latin typeface="Arial"/>
                <a:cs typeface="Arial"/>
              </a:rPr>
              <a:t>the </a:t>
            </a:r>
            <a:r>
              <a:rPr dirty="0" sz="1200" spc="-5">
                <a:latin typeface="Arial"/>
                <a:cs typeface="Arial"/>
              </a:rPr>
              <a:t>opinion of his shaikh completely, as </a:t>
            </a:r>
            <a:r>
              <a:rPr dirty="0" sz="1200">
                <a:latin typeface="Arial"/>
                <a:cs typeface="Arial"/>
              </a:rPr>
              <a:t>the </a:t>
            </a:r>
            <a:r>
              <a:rPr dirty="0" sz="1200" spc="-5">
                <a:latin typeface="Arial"/>
                <a:cs typeface="Arial"/>
              </a:rPr>
              <a:t>patient agrees with  </a:t>
            </a:r>
            <a:r>
              <a:rPr dirty="0" sz="1200">
                <a:latin typeface="Arial"/>
                <a:cs typeface="Arial"/>
              </a:rPr>
              <a:t>the</a:t>
            </a:r>
            <a:r>
              <a:rPr dirty="0" sz="1200" spc="-15">
                <a:latin typeface="Arial"/>
                <a:cs typeface="Arial"/>
              </a:rPr>
              <a:t> </a:t>
            </a:r>
            <a:r>
              <a:rPr dirty="0" sz="1200" spc="-5">
                <a:latin typeface="Arial"/>
                <a:cs typeface="Arial"/>
              </a:rPr>
              <a:t>physician.</a:t>
            </a:r>
            <a:endParaRPr sz="1200">
              <a:latin typeface="Arial"/>
              <a:cs typeface="Arial"/>
            </a:endParaRPr>
          </a:p>
          <a:p>
            <a:pPr algn="just" marL="495300" marR="107314" indent="-228600">
              <a:lnSpc>
                <a:spcPts val="1380"/>
              </a:lnSpc>
              <a:spcBef>
                <a:spcPts val="994"/>
              </a:spcBef>
              <a:buAutoNum type="arabicPeriod"/>
              <a:tabLst>
                <a:tab pos="495934" algn="l"/>
              </a:tabLst>
            </a:pPr>
            <a:r>
              <a:rPr dirty="0" sz="1200" spc="-5">
                <a:latin typeface="Arial"/>
                <a:cs typeface="Arial"/>
              </a:rPr>
              <a:t>He </a:t>
            </a:r>
            <a:r>
              <a:rPr dirty="0" sz="1200">
                <a:latin typeface="Arial"/>
                <a:cs typeface="Arial"/>
              </a:rPr>
              <a:t>must </a:t>
            </a:r>
            <a:r>
              <a:rPr dirty="0" sz="1200" spc="-5">
                <a:latin typeface="Arial"/>
                <a:cs typeface="Arial"/>
              </a:rPr>
              <a:t>behave well </a:t>
            </a:r>
            <a:r>
              <a:rPr dirty="0" sz="1200">
                <a:latin typeface="Arial"/>
                <a:cs typeface="Arial"/>
              </a:rPr>
              <a:t>in the association </a:t>
            </a:r>
            <a:r>
              <a:rPr dirty="0" sz="1200" spc="-5">
                <a:latin typeface="Arial"/>
                <a:cs typeface="Arial"/>
              </a:rPr>
              <a:t>of </a:t>
            </a:r>
            <a:r>
              <a:rPr dirty="0" sz="1200" spc="-10">
                <a:latin typeface="Arial"/>
                <a:cs typeface="Arial"/>
              </a:rPr>
              <a:t>the </a:t>
            </a:r>
            <a:r>
              <a:rPr dirty="0" sz="1200" spc="-5">
                <a:latin typeface="Arial"/>
                <a:cs typeface="Arial"/>
              </a:rPr>
              <a:t>shaikh, by avoiding yawning, laughing,  raising </a:t>
            </a:r>
            <a:r>
              <a:rPr dirty="0" sz="1200">
                <a:latin typeface="Arial"/>
                <a:cs typeface="Arial"/>
              </a:rPr>
              <a:t>the </a:t>
            </a:r>
            <a:r>
              <a:rPr dirty="0" sz="1200" spc="-5">
                <a:latin typeface="Arial"/>
                <a:cs typeface="Arial"/>
              </a:rPr>
              <a:t>voice, talking without authorization, extending the </a:t>
            </a:r>
            <a:r>
              <a:rPr dirty="0" sz="1200">
                <a:latin typeface="Arial"/>
                <a:cs typeface="Arial"/>
              </a:rPr>
              <a:t>feet, </a:t>
            </a:r>
            <a:r>
              <a:rPr dirty="0" sz="1200" spc="-5">
                <a:latin typeface="Arial"/>
                <a:cs typeface="Arial"/>
              </a:rPr>
              <a:t>and </a:t>
            </a:r>
            <a:r>
              <a:rPr dirty="0" sz="1200" spc="-10">
                <a:latin typeface="Arial"/>
                <a:cs typeface="Arial"/>
              </a:rPr>
              <a:t>always </a:t>
            </a:r>
            <a:r>
              <a:rPr dirty="0" sz="1200">
                <a:latin typeface="Arial"/>
                <a:cs typeface="Arial"/>
              </a:rPr>
              <a:t>sitting </a:t>
            </a:r>
            <a:r>
              <a:rPr dirty="0" sz="1200" spc="-5">
                <a:latin typeface="Arial"/>
                <a:cs typeface="Arial"/>
              </a:rPr>
              <a:t>in  a respectful</a:t>
            </a:r>
            <a:r>
              <a:rPr dirty="0" sz="1200" spc="-15">
                <a:latin typeface="Arial"/>
                <a:cs typeface="Arial"/>
              </a:rPr>
              <a:t> </a:t>
            </a:r>
            <a:r>
              <a:rPr dirty="0" sz="1200" spc="-5">
                <a:latin typeface="Arial"/>
                <a:cs typeface="Arial"/>
              </a:rPr>
              <a:t>manner.</a:t>
            </a:r>
            <a:endParaRPr sz="1200">
              <a:latin typeface="Arial"/>
              <a:cs typeface="Arial"/>
            </a:endParaRPr>
          </a:p>
          <a:p>
            <a:pPr marL="495300" indent="-229235">
              <a:lnSpc>
                <a:spcPct val="100000"/>
              </a:lnSpc>
              <a:spcBef>
                <a:spcPts val="915"/>
              </a:spcBef>
              <a:buAutoNum type="arabicPeriod"/>
              <a:tabLst>
                <a:tab pos="495934" algn="l"/>
              </a:tabLst>
            </a:pPr>
            <a:r>
              <a:rPr dirty="0" sz="1200" spc="-5">
                <a:latin typeface="Arial"/>
                <a:cs typeface="Arial"/>
              </a:rPr>
              <a:t>He must serve </a:t>
            </a:r>
            <a:r>
              <a:rPr dirty="0" sz="1200">
                <a:latin typeface="Arial"/>
                <a:cs typeface="Arial"/>
              </a:rPr>
              <a:t>his </a:t>
            </a:r>
            <a:r>
              <a:rPr dirty="0" sz="1200" spc="-5">
                <a:latin typeface="Arial"/>
                <a:cs typeface="Arial"/>
              </a:rPr>
              <a:t>shaikh and </a:t>
            </a:r>
            <a:r>
              <a:rPr dirty="0" sz="1200">
                <a:latin typeface="Arial"/>
                <a:cs typeface="Arial"/>
              </a:rPr>
              <a:t>make </a:t>
            </a:r>
            <a:r>
              <a:rPr dirty="0" sz="1200" spc="-5">
                <a:latin typeface="Arial"/>
                <a:cs typeface="Arial"/>
              </a:rPr>
              <a:t>himself as useful as</a:t>
            </a:r>
            <a:r>
              <a:rPr dirty="0" sz="1200" spc="30">
                <a:latin typeface="Arial"/>
                <a:cs typeface="Arial"/>
              </a:rPr>
              <a:t> </a:t>
            </a:r>
            <a:r>
              <a:rPr dirty="0" sz="1200" spc="-5">
                <a:latin typeface="Arial"/>
                <a:cs typeface="Arial"/>
              </a:rPr>
              <a:t>possible.</a:t>
            </a:r>
            <a:endParaRPr sz="1200">
              <a:latin typeface="Arial"/>
              <a:cs typeface="Arial"/>
            </a:endParaRPr>
          </a:p>
          <a:p>
            <a:pPr algn="just" marL="495300" marR="106680" indent="-228600">
              <a:lnSpc>
                <a:spcPts val="1380"/>
              </a:lnSpc>
              <a:spcBef>
                <a:spcPts val="1030"/>
              </a:spcBef>
              <a:buAutoNum type="arabicPeriod"/>
              <a:tabLst>
                <a:tab pos="495934" algn="l"/>
              </a:tabLst>
            </a:pPr>
            <a:r>
              <a:rPr dirty="0" sz="1200" spc="-5">
                <a:latin typeface="Arial"/>
                <a:cs typeface="Arial"/>
              </a:rPr>
              <a:t>He </a:t>
            </a:r>
            <a:r>
              <a:rPr dirty="0" sz="1200">
                <a:latin typeface="Arial"/>
                <a:cs typeface="Arial"/>
              </a:rPr>
              <a:t>must </a:t>
            </a:r>
            <a:r>
              <a:rPr dirty="0" sz="1200" spc="-5">
                <a:latin typeface="Arial"/>
                <a:cs typeface="Arial"/>
              </a:rPr>
              <a:t>not mention from the speeches </a:t>
            </a:r>
            <a:r>
              <a:rPr dirty="0" sz="1200">
                <a:latin typeface="Arial"/>
                <a:cs typeface="Arial"/>
              </a:rPr>
              <a:t>of </a:t>
            </a:r>
            <a:r>
              <a:rPr dirty="0" sz="1200" spc="-5">
                <a:latin typeface="Arial"/>
                <a:cs typeface="Arial"/>
              </a:rPr>
              <a:t>his shaikh </a:t>
            </a:r>
            <a:r>
              <a:rPr dirty="0" sz="1200" spc="-10">
                <a:latin typeface="Arial"/>
                <a:cs typeface="Arial"/>
              </a:rPr>
              <a:t>what </a:t>
            </a:r>
            <a:r>
              <a:rPr dirty="0" sz="1200" spc="-5">
                <a:latin typeface="Arial"/>
                <a:cs typeface="Arial"/>
              </a:rPr>
              <a:t>listeners cannot  understand. </a:t>
            </a:r>
            <a:r>
              <a:rPr dirty="0" sz="1200">
                <a:latin typeface="Arial"/>
                <a:cs typeface="Arial"/>
              </a:rPr>
              <a:t>This </a:t>
            </a:r>
            <a:r>
              <a:rPr dirty="0" sz="1200" spc="-5">
                <a:latin typeface="Arial"/>
                <a:cs typeface="Arial"/>
              </a:rPr>
              <a:t>might </a:t>
            </a:r>
            <a:r>
              <a:rPr dirty="0" sz="1200" spc="-10">
                <a:latin typeface="Arial"/>
                <a:cs typeface="Arial"/>
              </a:rPr>
              <a:t>harm </a:t>
            </a:r>
            <a:r>
              <a:rPr dirty="0" sz="1200">
                <a:latin typeface="Arial"/>
                <a:cs typeface="Arial"/>
              </a:rPr>
              <a:t>the </a:t>
            </a:r>
            <a:r>
              <a:rPr dirty="0" sz="1200" spc="-5">
                <a:latin typeface="Arial"/>
                <a:cs typeface="Arial"/>
              </a:rPr>
              <a:t>shaikh </a:t>
            </a:r>
            <a:r>
              <a:rPr dirty="0" sz="1200" spc="-10">
                <a:latin typeface="Arial"/>
                <a:cs typeface="Arial"/>
              </a:rPr>
              <a:t>in </a:t>
            </a:r>
            <a:r>
              <a:rPr dirty="0" sz="1200" spc="-5">
                <a:latin typeface="Arial"/>
                <a:cs typeface="Arial"/>
              </a:rPr>
              <a:t>a </a:t>
            </a:r>
            <a:r>
              <a:rPr dirty="0" sz="1200" spc="-10">
                <a:latin typeface="Arial"/>
                <a:cs typeface="Arial"/>
              </a:rPr>
              <a:t>way </a:t>
            </a:r>
            <a:r>
              <a:rPr dirty="0" sz="1200">
                <a:latin typeface="Arial"/>
                <a:cs typeface="Arial"/>
              </a:rPr>
              <a:t>that the </a:t>
            </a:r>
            <a:r>
              <a:rPr dirty="0" sz="1200" spc="-10">
                <a:latin typeface="Arial"/>
                <a:cs typeface="Arial"/>
              </a:rPr>
              <a:t>murid </a:t>
            </a:r>
            <a:r>
              <a:rPr dirty="0" sz="1200" spc="-5">
                <a:latin typeface="Arial"/>
                <a:cs typeface="Arial"/>
              </a:rPr>
              <a:t>is unaware </a:t>
            </a:r>
            <a:r>
              <a:rPr dirty="0" sz="1200">
                <a:latin typeface="Arial"/>
                <a:cs typeface="Arial"/>
              </a:rPr>
              <a:t>of.  </a:t>
            </a:r>
            <a:r>
              <a:rPr dirty="0" sz="1200" spc="-5">
                <a:latin typeface="Arial"/>
                <a:cs typeface="Arial"/>
              </a:rPr>
              <a:t>Sayyidina </a:t>
            </a:r>
            <a:r>
              <a:rPr dirty="0" baseline="38194" sz="1200" spc="-7">
                <a:latin typeface="Arial"/>
                <a:cs typeface="Arial"/>
              </a:rPr>
              <a:t>`</a:t>
            </a:r>
            <a:r>
              <a:rPr dirty="0" sz="1200" spc="-5">
                <a:latin typeface="Arial"/>
                <a:cs typeface="Arial"/>
              </a:rPr>
              <a:t>Ali said, in a hadith narrated in Bukhari, "Speak </a:t>
            </a:r>
            <a:r>
              <a:rPr dirty="0" sz="1200">
                <a:latin typeface="Arial"/>
                <a:cs typeface="Arial"/>
              </a:rPr>
              <a:t>to </a:t>
            </a:r>
            <a:r>
              <a:rPr dirty="0" sz="1200" spc="-5">
                <a:latin typeface="Arial"/>
                <a:cs typeface="Arial"/>
              </a:rPr>
              <a:t>people </a:t>
            </a:r>
            <a:r>
              <a:rPr dirty="0" sz="1200">
                <a:latin typeface="Arial"/>
                <a:cs typeface="Arial"/>
              </a:rPr>
              <a:t>at </a:t>
            </a:r>
            <a:r>
              <a:rPr dirty="0" sz="1200" spc="-5">
                <a:latin typeface="Arial"/>
                <a:cs typeface="Arial"/>
              </a:rPr>
              <a:t>a </a:t>
            </a:r>
            <a:r>
              <a:rPr dirty="0" sz="1200" spc="-10">
                <a:latin typeface="Arial"/>
                <a:cs typeface="Arial"/>
              </a:rPr>
              <a:t>level </a:t>
            </a:r>
            <a:r>
              <a:rPr dirty="0" sz="1200">
                <a:latin typeface="Arial"/>
                <a:cs typeface="Arial"/>
              </a:rPr>
              <a:t>they  </a:t>
            </a:r>
            <a:r>
              <a:rPr dirty="0" sz="1200" spc="-5">
                <a:latin typeface="Arial"/>
                <a:cs typeface="Arial"/>
              </a:rPr>
              <a:t>can understand, because you don't </a:t>
            </a:r>
            <a:r>
              <a:rPr dirty="0" sz="1200">
                <a:latin typeface="Arial"/>
                <a:cs typeface="Arial"/>
              </a:rPr>
              <a:t>want </a:t>
            </a:r>
            <a:r>
              <a:rPr dirty="0" sz="1200" spc="-5">
                <a:latin typeface="Arial"/>
                <a:cs typeface="Arial"/>
              </a:rPr>
              <a:t>them to deny Allah and </a:t>
            </a:r>
            <a:r>
              <a:rPr dirty="0" sz="1200" spc="-10">
                <a:latin typeface="Arial"/>
                <a:cs typeface="Arial"/>
              </a:rPr>
              <a:t>His </a:t>
            </a:r>
            <a:r>
              <a:rPr dirty="0" sz="1200" spc="-5">
                <a:latin typeface="Arial"/>
                <a:cs typeface="Arial"/>
              </a:rPr>
              <a:t>Prophet</a:t>
            </a:r>
            <a:r>
              <a:rPr dirty="0" sz="1200" spc="100">
                <a:latin typeface="Arial"/>
                <a:cs typeface="Arial"/>
              </a:rPr>
              <a:t> </a:t>
            </a:r>
            <a:r>
              <a:rPr dirty="0" sz="1200" spc="-5">
                <a:latin typeface="Arial"/>
                <a:cs typeface="Arial"/>
              </a:rPr>
              <a:t>(s)."</a:t>
            </a:r>
            <a:endParaRPr sz="1200">
              <a:latin typeface="Arial"/>
              <a:cs typeface="Arial"/>
            </a:endParaRPr>
          </a:p>
          <a:p>
            <a:pPr algn="just" marL="495300" marR="108585" indent="-228600">
              <a:lnSpc>
                <a:spcPts val="1380"/>
              </a:lnSpc>
              <a:spcBef>
                <a:spcPts val="994"/>
              </a:spcBef>
              <a:buAutoNum type="arabicPeriod"/>
              <a:tabLst>
                <a:tab pos="495934" algn="l"/>
              </a:tabLst>
            </a:pPr>
            <a:r>
              <a:rPr dirty="0" sz="1200" spc="-5">
                <a:latin typeface="Arial"/>
                <a:cs typeface="Arial"/>
              </a:rPr>
              <a:t>He </a:t>
            </a:r>
            <a:r>
              <a:rPr dirty="0" sz="1200">
                <a:latin typeface="Arial"/>
                <a:cs typeface="Arial"/>
              </a:rPr>
              <a:t>must </a:t>
            </a:r>
            <a:r>
              <a:rPr dirty="0" sz="1200" spc="-5">
                <a:latin typeface="Arial"/>
                <a:cs typeface="Arial"/>
              </a:rPr>
              <a:t>attend the association of the shaikh. Even </a:t>
            </a:r>
            <a:r>
              <a:rPr dirty="0" sz="1200">
                <a:latin typeface="Arial"/>
                <a:cs typeface="Arial"/>
              </a:rPr>
              <a:t>if </a:t>
            </a:r>
            <a:r>
              <a:rPr dirty="0" sz="1200" spc="-5">
                <a:latin typeface="Arial"/>
                <a:cs typeface="Arial"/>
              </a:rPr>
              <a:t>living </a:t>
            </a:r>
            <a:r>
              <a:rPr dirty="0" sz="1200" spc="5">
                <a:latin typeface="Arial"/>
                <a:cs typeface="Arial"/>
              </a:rPr>
              <a:t>far </a:t>
            </a:r>
            <a:r>
              <a:rPr dirty="0" sz="1200" spc="-5">
                <a:latin typeface="Arial"/>
                <a:cs typeface="Arial"/>
              </a:rPr>
              <a:t>away, he </a:t>
            </a:r>
            <a:r>
              <a:rPr dirty="0" sz="1200">
                <a:latin typeface="Arial"/>
                <a:cs typeface="Arial"/>
              </a:rPr>
              <a:t>must make </a:t>
            </a:r>
            <a:r>
              <a:rPr dirty="0" sz="1200" spc="-5">
                <a:latin typeface="Arial"/>
                <a:cs typeface="Arial"/>
              </a:rPr>
              <a:t>an  </a:t>
            </a:r>
            <a:r>
              <a:rPr dirty="0" sz="1200">
                <a:latin typeface="Arial"/>
                <a:cs typeface="Arial"/>
              </a:rPr>
              <a:t>effort to </a:t>
            </a:r>
            <a:r>
              <a:rPr dirty="0" sz="1200" spc="-5">
                <a:latin typeface="Arial"/>
                <a:cs typeface="Arial"/>
              </a:rPr>
              <a:t>come </a:t>
            </a:r>
            <a:r>
              <a:rPr dirty="0" sz="1200">
                <a:latin typeface="Arial"/>
                <a:cs typeface="Arial"/>
              </a:rPr>
              <a:t>as </a:t>
            </a:r>
            <a:r>
              <a:rPr dirty="0" sz="1200" spc="-5">
                <a:latin typeface="Arial"/>
                <a:cs typeface="Arial"/>
              </a:rPr>
              <a:t>often as</a:t>
            </a:r>
            <a:r>
              <a:rPr dirty="0" sz="1200" spc="-25">
                <a:latin typeface="Arial"/>
                <a:cs typeface="Arial"/>
              </a:rPr>
              <a:t> </a:t>
            </a:r>
            <a:r>
              <a:rPr dirty="0" sz="1200" spc="-5">
                <a:latin typeface="Arial"/>
                <a:cs typeface="Arial"/>
              </a:rPr>
              <a:t>possible.</a:t>
            </a:r>
            <a:endParaRPr sz="1200">
              <a:latin typeface="Arial"/>
              <a:cs typeface="Arial"/>
            </a:endParaRPr>
          </a:p>
          <a:p>
            <a:pPr algn="just" marL="38100" marR="103505">
              <a:lnSpc>
                <a:spcPct val="95700"/>
              </a:lnSpc>
              <a:spcBef>
                <a:spcPts val="975"/>
              </a:spcBef>
            </a:pPr>
            <a:r>
              <a:rPr dirty="0" sz="1200">
                <a:latin typeface="Arial"/>
                <a:cs typeface="Arial"/>
              </a:rPr>
              <a:t>Ibn </a:t>
            </a:r>
            <a:r>
              <a:rPr dirty="0" sz="1200" spc="-5">
                <a:latin typeface="Arial"/>
                <a:cs typeface="Arial"/>
              </a:rPr>
              <a:t>Hajar al-Haythami said, "Many people, </a:t>
            </a:r>
            <a:r>
              <a:rPr dirty="0" sz="1200">
                <a:latin typeface="Arial"/>
                <a:cs typeface="Arial"/>
              </a:rPr>
              <a:t>when </a:t>
            </a:r>
            <a:r>
              <a:rPr dirty="0" sz="1200" spc="-5">
                <a:latin typeface="Arial"/>
                <a:cs typeface="Arial"/>
              </a:rPr>
              <a:t>they see their guide is </a:t>
            </a:r>
            <a:r>
              <a:rPr dirty="0" sz="1200">
                <a:latin typeface="Arial"/>
                <a:cs typeface="Arial"/>
              </a:rPr>
              <a:t>firm </a:t>
            </a:r>
            <a:r>
              <a:rPr dirty="0" sz="1200" spc="-5">
                <a:latin typeface="Arial"/>
                <a:cs typeface="Arial"/>
              </a:rPr>
              <a:t>on the </a:t>
            </a:r>
            <a:r>
              <a:rPr dirty="0" sz="1200" spc="5">
                <a:latin typeface="Arial"/>
                <a:cs typeface="Arial"/>
              </a:rPr>
              <a:t>matter </a:t>
            </a:r>
            <a:r>
              <a:rPr dirty="0" sz="1200" spc="-5">
                <a:latin typeface="Arial"/>
                <a:cs typeface="Arial"/>
              </a:rPr>
              <a:t>of  obligations and the </a:t>
            </a:r>
            <a:r>
              <a:rPr dirty="0" sz="1200" spc="-10">
                <a:latin typeface="Arial"/>
                <a:cs typeface="Arial"/>
              </a:rPr>
              <a:t>Sunnah </a:t>
            </a:r>
            <a:r>
              <a:rPr dirty="0" sz="1200" spc="-5">
                <a:latin typeface="Arial"/>
                <a:cs typeface="Arial"/>
              </a:rPr>
              <a:t>of the Prophet (s), accuse </a:t>
            </a:r>
            <a:r>
              <a:rPr dirty="0" sz="1200" spc="-10">
                <a:latin typeface="Arial"/>
                <a:cs typeface="Arial"/>
              </a:rPr>
              <a:t>him </a:t>
            </a:r>
            <a:r>
              <a:rPr dirty="0" sz="1200" spc="-5">
                <a:latin typeface="Arial"/>
                <a:cs typeface="Arial"/>
              </a:rPr>
              <a:t>of being strict. </a:t>
            </a:r>
            <a:r>
              <a:rPr dirty="0" sz="1200">
                <a:latin typeface="Arial"/>
                <a:cs typeface="Arial"/>
              </a:rPr>
              <a:t>They </a:t>
            </a:r>
            <a:r>
              <a:rPr dirty="0" sz="1200" spc="-5">
                <a:latin typeface="Arial"/>
                <a:cs typeface="Arial"/>
              </a:rPr>
              <a:t>say </a:t>
            </a:r>
            <a:r>
              <a:rPr dirty="0" sz="1200">
                <a:latin typeface="Arial"/>
                <a:cs typeface="Arial"/>
              </a:rPr>
              <a:t>that </a:t>
            </a:r>
            <a:r>
              <a:rPr dirty="0" sz="1200" spc="-5">
                <a:latin typeface="Arial"/>
                <a:cs typeface="Arial"/>
              </a:rPr>
              <a:t>he is  praying </a:t>
            </a:r>
            <a:r>
              <a:rPr dirty="0" sz="1200">
                <a:latin typeface="Arial"/>
                <a:cs typeface="Arial"/>
              </a:rPr>
              <a:t>too much </a:t>
            </a:r>
            <a:r>
              <a:rPr dirty="0" sz="1200" spc="-5">
                <a:latin typeface="Arial"/>
                <a:cs typeface="Arial"/>
              </a:rPr>
              <a:t>or keeping the Sunnah too firmly. These people </a:t>
            </a:r>
            <a:r>
              <a:rPr dirty="0" sz="1200">
                <a:latin typeface="Arial"/>
                <a:cs typeface="Arial"/>
              </a:rPr>
              <a:t>don't </a:t>
            </a:r>
            <a:r>
              <a:rPr dirty="0" sz="1200" spc="-10">
                <a:latin typeface="Arial"/>
                <a:cs typeface="Arial"/>
              </a:rPr>
              <a:t>realize </a:t>
            </a:r>
            <a:r>
              <a:rPr dirty="0" sz="1200">
                <a:latin typeface="Arial"/>
                <a:cs typeface="Arial"/>
              </a:rPr>
              <a:t>that </a:t>
            </a:r>
            <a:r>
              <a:rPr dirty="0" sz="1200" spc="-5">
                <a:latin typeface="Arial"/>
                <a:cs typeface="Arial"/>
              </a:rPr>
              <a:t>they are  falling </a:t>
            </a:r>
            <a:r>
              <a:rPr dirty="0" sz="1200">
                <a:latin typeface="Arial"/>
                <a:cs typeface="Arial"/>
              </a:rPr>
              <a:t>to their </a:t>
            </a:r>
            <a:r>
              <a:rPr dirty="0" sz="1200" spc="-10">
                <a:latin typeface="Arial"/>
                <a:cs typeface="Arial"/>
              </a:rPr>
              <a:t>own </a:t>
            </a:r>
            <a:r>
              <a:rPr dirty="0" sz="1200" spc="-5">
                <a:latin typeface="Arial"/>
                <a:cs typeface="Arial"/>
              </a:rPr>
              <a:t>destruction. Beware of believing your </a:t>
            </a:r>
            <a:r>
              <a:rPr dirty="0" sz="1200" spc="5">
                <a:latin typeface="Arial"/>
                <a:cs typeface="Arial"/>
              </a:rPr>
              <a:t>ego's </a:t>
            </a:r>
            <a:r>
              <a:rPr dirty="0" sz="1200">
                <a:latin typeface="Arial"/>
                <a:cs typeface="Arial"/>
              </a:rPr>
              <a:t>complaints </a:t>
            </a:r>
            <a:r>
              <a:rPr dirty="0" sz="1200" spc="-5">
                <a:latin typeface="Arial"/>
                <a:cs typeface="Arial"/>
              </a:rPr>
              <a:t>about </a:t>
            </a:r>
            <a:r>
              <a:rPr dirty="0" sz="1200">
                <a:latin typeface="Arial"/>
                <a:cs typeface="Arial"/>
              </a:rPr>
              <a:t>the </a:t>
            </a:r>
            <a:r>
              <a:rPr dirty="0" sz="1200" spc="-5">
                <a:latin typeface="Arial"/>
                <a:cs typeface="Arial"/>
              </a:rPr>
              <a:t>firmness  of the shaikh's adherence to the shari'ah." [al-Fatawa al-Hadithiyya, </a:t>
            </a:r>
            <a:r>
              <a:rPr dirty="0" sz="1200">
                <a:latin typeface="Arial"/>
                <a:cs typeface="Arial"/>
              </a:rPr>
              <a:t>p.</a:t>
            </a:r>
            <a:r>
              <a:rPr dirty="0" sz="1200" spc="90">
                <a:latin typeface="Arial"/>
                <a:cs typeface="Arial"/>
              </a:rPr>
              <a:t> </a:t>
            </a:r>
            <a:r>
              <a:rPr dirty="0" sz="1200" spc="-5">
                <a:latin typeface="Arial"/>
                <a:cs typeface="Arial"/>
              </a:rPr>
              <a:t>55.]</a:t>
            </a:r>
            <a:endParaRPr sz="1200">
              <a:latin typeface="Arial"/>
              <a:cs typeface="Arial"/>
            </a:endParaRPr>
          </a:p>
          <a:p>
            <a:pPr algn="just" marL="38100" marR="102235">
              <a:lnSpc>
                <a:spcPts val="1380"/>
              </a:lnSpc>
              <a:spcBef>
                <a:spcPts val="1030"/>
              </a:spcBef>
            </a:pPr>
            <a:r>
              <a:rPr dirty="0" sz="1200" spc="-5">
                <a:latin typeface="Arial"/>
                <a:cs typeface="Arial"/>
              </a:rPr>
              <a:t>Abu Hafsa an-Nisaburi is quoted in Shaikh </a:t>
            </a:r>
            <a:r>
              <a:rPr dirty="0" sz="1200">
                <a:latin typeface="Arial"/>
                <a:cs typeface="Arial"/>
              </a:rPr>
              <a:t>as-Sulami's </a:t>
            </a:r>
            <a:r>
              <a:rPr dirty="0" sz="1200" spc="-5">
                <a:latin typeface="Arial"/>
                <a:cs typeface="Arial"/>
              </a:rPr>
              <a:t>book </a:t>
            </a:r>
            <a:r>
              <a:rPr dirty="0" sz="1200" spc="-5" i="1">
                <a:latin typeface="Arial"/>
                <a:cs typeface="Arial"/>
              </a:rPr>
              <a:t>Tabaqat as-sufiyya</a:t>
            </a:r>
            <a:r>
              <a:rPr dirty="0" sz="1200" spc="-5">
                <a:latin typeface="Arial"/>
                <a:cs typeface="Arial"/>
              </a:rPr>
              <a:t>, </a:t>
            </a:r>
            <a:r>
              <a:rPr dirty="0" sz="1200">
                <a:latin typeface="Arial"/>
                <a:cs typeface="Arial"/>
              </a:rPr>
              <a:t>p. </a:t>
            </a:r>
            <a:r>
              <a:rPr dirty="0" sz="1200" spc="-5">
                <a:latin typeface="Arial"/>
                <a:cs typeface="Arial"/>
              </a:rPr>
              <a:t>119, as  saying: "Sufism is composed of </a:t>
            </a:r>
            <a:r>
              <a:rPr dirty="0" sz="1200" spc="-5" i="1">
                <a:latin typeface="Arial"/>
                <a:cs typeface="Arial"/>
              </a:rPr>
              <a:t>adab </a:t>
            </a:r>
            <a:r>
              <a:rPr dirty="0" sz="1200" spc="-5">
                <a:latin typeface="Arial"/>
                <a:cs typeface="Arial"/>
              </a:rPr>
              <a:t>[good conduct]. </a:t>
            </a:r>
            <a:r>
              <a:rPr dirty="0" sz="1200">
                <a:latin typeface="Arial"/>
                <a:cs typeface="Arial"/>
              </a:rPr>
              <a:t>For </a:t>
            </a:r>
            <a:r>
              <a:rPr dirty="0" sz="1200" spc="-5">
                <a:latin typeface="Arial"/>
                <a:cs typeface="Arial"/>
              </a:rPr>
              <a:t>every </a:t>
            </a:r>
            <a:r>
              <a:rPr dirty="0" sz="1200">
                <a:latin typeface="Arial"/>
                <a:cs typeface="Arial"/>
              </a:rPr>
              <a:t>state </a:t>
            </a:r>
            <a:r>
              <a:rPr dirty="0" sz="1200" spc="-5">
                <a:latin typeface="Arial"/>
                <a:cs typeface="Arial"/>
              </a:rPr>
              <a:t>and station there is an  appropriate adab. </a:t>
            </a:r>
            <a:r>
              <a:rPr dirty="0" sz="1200">
                <a:latin typeface="Arial"/>
                <a:cs typeface="Arial"/>
              </a:rPr>
              <a:t>For </a:t>
            </a:r>
            <a:r>
              <a:rPr dirty="0" sz="1200" spc="-5">
                <a:latin typeface="Arial"/>
                <a:cs typeface="Arial"/>
              </a:rPr>
              <a:t>every </a:t>
            </a:r>
            <a:r>
              <a:rPr dirty="0" sz="1200">
                <a:latin typeface="Arial"/>
                <a:cs typeface="Arial"/>
              </a:rPr>
              <a:t>time there </a:t>
            </a:r>
            <a:r>
              <a:rPr dirty="0" sz="1200" spc="-5">
                <a:latin typeface="Arial"/>
                <a:cs typeface="Arial"/>
              </a:rPr>
              <a:t>is a proper conduct. Whoever keeps </a:t>
            </a:r>
            <a:r>
              <a:rPr dirty="0" sz="1200">
                <a:latin typeface="Arial"/>
                <a:cs typeface="Arial"/>
              </a:rPr>
              <a:t>the </a:t>
            </a:r>
            <a:r>
              <a:rPr dirty="0" sz="1200" spc="-5">
                <a:latin typeface="Arial"/>
                <a:cs typeface="Arial"/>
              </a:rPr>
              <a:t>adab will  reach the Station of Manhood, and whoever discards adab is very </a:t>
            </a:r>
            <a:r>
              <a:rPr dirty="0" sz="1200">
                <a:latin typeface="Arial"/>
                <a:cs typeface="Arial"/>
              </a:rPr>
              <a:t>far </a:t>
            </a:r>
            <a:r>
              <a:rPr dirty="0" sz="1200" spc="-5">
                <a:latin typeface="Arial"/>
                <a:cs typeface="Arial"/>
              </a:rPr>
              <a:t>from acceptance into  Allah's Divine</a:t>
            </a:r>
            <a:r>
              <a:rPr dirty="0" sz="1200" spc="5">
                <a:latin typeface="Arial"/>
                <a:cs typeface="Arial"/>
              </a:rPr>
              <a:t> </a:t>
            </a:r>
            <a:r>
              <a:rPr dirty="0" sz="1200" spc="-5">
                <a:latin typeface="Arial"/>
                <a:cs typeface="Arial"/>
              </a:rPr>
              <a:t>Presence."</a:t>
            </a:r>
            <a:endParaRPr sz="1200">
              <a:latin typeface="Arial"/>
              <a:cs typeface="Arial"/>
            </a:endParaRPr>
          </a:p>
          <a:p>
            <a:pPr algn="just" marL="38100">
              <a:lnSpc>
                <a:spcPct val="100000"/>
              </a:lnSpc>
              <a:spcBef>
                <a:spcPts val="915"/>
              </a:spcBef>
            </a:pPr>
            <a:r>
              <a:rPr dirty="0" u="heavy" sz="1200" spc="-5" b="1" i="1">
                <a:uFill>
                  <a:solidFill>
                    <a:srgbClr val="000000"/>
                  </a:solidFill>
                </a:uFill>
                <a:latin typeface="Arial"/>
                <a:cs typeface="Arial"/>
              </a:rPr>
              <a:t>The Conduct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Murid </a:t>
            </a:r>
            <a:r>
              <a:rPr dirty="0" u="heavy" sz="1200" b="1" i="1">
                <a:uFill>
                  <a:solidFill>
                    <a:srgbClr val="000000"/>
                  </a:solidFill>
                </a:uFill>
                <a:latin typeface="Arial"/>
                <a:cs typeface="Arial"/>
              </a:rPr>
              <a:t>with </a:t>
            </a:r>
            <a:r>
              <a:rPr dirty="0" u="heavy" sz="1200" spc="-5" b="1" i="1">
                <a:uFill>
                  <a:solidFill>
                    <a:srgbClr val="000000"/>
                  </a:solidFill>
                </a:uFill>
                <a:latin typeface="Arial"/>
                <a:cs typeface="Arial"/>
              </a:rPr>
              <a:t>his</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Brothers</a:t>
            </a:r>
            <a:endParaRPr sz="1200">
              <a:latin typeface="Arial"/>
              <a:cs typeface="Arial"/>
            </a:endParaRPr>
          </a:p>
          <a:p>
            <a:pPr algn="just" marL="495300" marR="107950" indent="-228600">
              <a:lnSpc>
                <a:spcPts val="1380"/>
              </a:lnSpc>
              <a:spcBef>
                <a:spcPts val="1030"/>
              </a:spcBef>
            </a:pPr>
            <a:r>
              <a:rPr dirty="0" sz="1200">
                <a:latin typeface="Arial"/>
                <a:cs typeface="Arial"/>
              </a:rPr>
              <a:t>1. </a:t>
            </a:r>
            <a:r>
              <a:rPr dirty="0" sz="1200" spc="-5">
                <a:latin typeface="Arial"/>
                <a:cs typeface="Arial"/>
              </a:rPr>
              <a:t>He </a:t>
            </a:r>
            <a:r>
              <a:rPr dirty="0" sz="1200">
                <a:latin typeface="Arial"/>
                <a:cs typeface="Arial"/>
              </a:rPr>
              <a:t>must </a:t>
            </a:r>
            <a:r>
              <a:rPr dirty="0" sz="1200" spc="-5">
                <a:latin typeface="Arial"/>
                <a:cs typeface="Arial"/>
              </a:rPr>
              <a:t>keep respect </a:t>
            </a:r>
            <a:r>
              <a:rPr dirty="0" sz="1200">
                <a:latin typeface="Arial"/>
                <a:cs typeface="Arial"/>
              </a:rPr>
              <a:t>for </a:t>
            </a:r>
            <a:r>
              <a:rPr dirty="0" sz="1200" spc="-5">
                <a:latin typeface="Arial"/>
                <a:cs typeface="Arial"/>
              </a:rPr>
              <a:t>them in their presence and in their absence, not backbiting  anyone.</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03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147</a:t>
            </a:r>
            <a:endParaRPr sz="1200">
              <a:latin typeface="Times New Roman"/>
              <a:cs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0630" cy="9288145"/>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469900" marR="7620" indent="-229235">
              <a:lnSpc>
                <a:spcPct val="95900"/>
              </a:lnSpc>
              <a:buAutoNum type="arabicPeriod" startAt="2"/>
              <a:tabLst>
                <a:tab pos="470534" algn="l"/>
              </a:tabLst>
            </a:pPr>
            <a:r>
              <a:rPr dirty="0" sz="1200" spc="-5">
                <a:latin typeface="Arial"/>
                <a:cs typeface="Arial"/>
              </a:rPr>
              <a:t>He should advise </a:t>
            </a:r>
            <a:r>
              <a:rPr dirty="0" sz="1200">
                <a:latin typeface="Arial"/>
                <a:cs typeface="Arial"/>
              </a:rPr>
              <a:t>them </a:t>
            </a:r>
            <a:r>
              <a:rPr dirty="0" sz="1200" spc="-5">
                <a:latin typeface="Arial"/>
                <a:cs typeface="Arial"/>
              </a:rPr>
              <a:t>when </a:t>
            </a:r>
            <a:r>
              <a:rPr dirty="0" sz="1200">
                <a:latin typeface="Arial"/>
                <a:cs typeface="Arial"/>
              </a:rPr>
              <a:t>they </a:t>
            </a:r>
            <a:r>
              <a:rPr dirty="0" sz="1200" spc="-5">
                <a:latin typeface="Arial"/>
                <a:cs typeface="Arial"/>
              </a:rPr>
              <a:t>need </a:t>
            </a:r>
            <a:r>
              <a:rPr dirty="0" sz="1200">
                <a:latin typeface="Arial"/>
                <a:cs typeface="Arial"/>
              </a:rPr>
              <a:t>it </a:t>
            </a:r>
            <a:r>
              <a:rPr dirty="0" sz="1200" spc="-5">
                <a:latin typeface="Arial"/>
                <a:cs typeface="Arial"/>
              </a:rPr>
              <a:t>with </a:t>
            </a:r>
            <a:r>
              <a:rPr dirty="0" sz="1200">
                <a:latin typeface="Arial"/>
                <a:cs typeface="Arial"/>
              </a:rPr>
              <a:t>the </a:t>
            </a:r>
            <a:r>
              <a:rPr dirty="0" sz="1200" spc="-5">
                <a:latin typeface="Arial"/>
                <a:cs typeface="Arial"/>
              </a:rPr>
              <a:t>intention of strengthening </a:t>
            </a:r>
            <a:r>
              <a:rPr dirty="0" sz="1200">
                <a:latin typeface="Arial"/>
                <a:cs typeface="Arial"/>
              </a:rPr>
              <a:t>them. </a:t>
            </a:r>
            <a:r>
              <a:rPr dirty="0" sz="1200" spc="-5">
                <a:latin typeface="Arial"/>
                <a:cs typeface="Arial"/>
              </a:rPr>
              <a:t>His  advice </a:t>
            </a:r>
            <a:r>
              <a:rPr dirty="0" sz="1200">
                <a:latin typeface="Arial"/>
                <a:cs typeface="Arial"/>
              </a:rPr>
              <a:t>to </a:t>
            </a:r>
            <a:r>
              <a:rPr dirty="0" sz="1200" spc="-5">
                <a:latin typeface="Arial"/>
                <a:cs typeface="Arial"/>
              </a:rPr>
              <a:t>them must </a:t>
            </a:r>
            <a:r>
              <a:rPr dirty="0" sz="1200" spc="-10">
                <a:latin typeface="Arial"/>
                <a:cs typeface="Arial"/>
              </a:rPr>
              <a:t>be </a:t>
            </a:r>
            <a:r>
              <a:rPr dirty="0" sz="1200" spc="-5">
                <a:latin typeface="Arial"/>
                <a:cs typeface="Arial"/>
              </a:rPr>
              <a:t>in private and </a:t>
            </a:r>
            <a:r>
              <a:rPr dirty="0" sz="1200">
                <a:latin typeface="Arial"/>
                <a:cs typeface="Arial"/>
              </a:rPr>
              <a:t>it </a:t>
            </a:r>
            <a:r>
              <a:rPr dirty="0" sz="1200" spc="-5">
                <a:latin typeface="Arial"/>
                <a:cs typeface="Arial"/>
              </a:rPr>
              <a:t>must be with </a:t>
            </a:r>
            <a:r>
              <a:rPr dirty="0" sz="1200">
                <a:latin typeface="Arial"/>
                <a:cs typeface="Arial"/>
              </a:rPr>
              <a:t>leniency </a:t>
            </a:r>
            <a:r>
              <a:rPr dirty="0" sz="1200" spc="-5">
                <a:latin typeface="Arial"/>
                <a:cs typeface="Arial"/>
              </a:rPr>
              <a:t>and free of arrogance.  The one advised must accept the advice, </a:t>
            </a:r>
            <a:r>
              <a:rPr dirty="0" sz="1200">
                <a:latin typeface="Arial"/>
                <a:cs typeface="Arial"/>
              </a:rPr>
              <a:t>must </a:t>
            </a:r>
            <a:r>
              <a:rPr dirty="0" sz="1200" spc="-5">
                <a:latin typeface="Arial"/>
                <a:cs typeface="Arial"/>
              </a:rPr>
              <a:t>be thankful, and must practice </a:t>
            </a:r>
            <a:r>
              <a:rPr dirty="0" sz="1200" spc="-10">
                <a:latin typeface="Arial"/>
                <a:cs typeface="Arial"/>
              </a:rPr>
              <a:t>the  </a:t>
            </a:r>
            <a:r>
              <a:rPr dirty="0" sz="1200" spc="-5">
                <a:latin typeface="Arial"/>
                <a:cs typeface="Arial"/>
              </a:rPr>
              <a:t>advice.</a:t>
            </a:r>
            <a:endParaRPr sz="1200">
              <a:latin typeface="Arial"/>
              <a:cs typeface="Arial"/>
            </a:endParaRPr>
          </a:p>
          <a:p>
            <a:pPr marL="469900" indent="-229235">
              <a:lnSpc>
                <a:spcPct val="100000"/>
              </a:lnSpc>
              <a:spcBef>
                <a:spcPts val="935"/>
              </a:spcBef>
              <a:buAutoNum type="arabicPeriod" startAt="2"/>
              <a:tabLst>
                <a:tab pos="470534" algn="l"/>
              </a:tabLst>
            </a:pPr>
            <a:r>
              <a:rPr dirty="0" sz="1200" spc="-5">
                <a:latin typeface="Arial"/>
                <a:cs typeface="Arial"/>
              </a:rPr>
              <a:t>He must think only good about </a:t>
            </a:r>
            <a:r>
              <a:rPr dirty="0" sz="1200">
                <a:latin typeface="Arial"/>
                <a:cs typeface="Arial"/>
              </a:rPr>
              <a:t>his </a:t>
            </a:r>
            <a:r>
              <a:rPr dirty="0" sz="1200" spc="-5">
                <a:latin typeface="Arial"/>
                <a:cs typeface="Arial"/>
              </a:rPr>
              <a:t>brothers and not search out their bad</a:t>
            </a:r>
            <a:r>
              <a:rPr dirty="0" sz="1200" spc="70">
                <a:latin typeface="Arial"/>
                <a:cs typeface="Arial"/>
              </a:rPr>
              <a:t> </a:t>
            </a:r>
            <a:r>
              <a:rPr dirty="0" sz="1200" spc="-5">
                <a:latin typeface="Arial"/>
                <a:cs typeface="Arial"/>
              </a:rPr>
              <a:t>manners.</a:t>
            </a:r>
            <a:endParaRPr sz="1200">
              <a:latin typeface="Arial"/>
              <a:cs typeface="Arial"/>
            </a:endParaRPr>
          </a:p>
          <a:p>
            <a:pPr marL="469900" indent="-229235">
              <a:lnSpc>
                <a:spcPct val="100000"/>
              </a:lnSpc>
              <a:spcBef>
                <a:spcPts val="950"/>
              </a:spcBef>
              <a:buAutoNum type="arabicPeriod" startAt="2"/>
              <a:tabLst>
                <a:tab pos="470534" algn="l"/>
              </a:tabLst>
            </a:pPr>
            <a:r>
              <a:rPr dirty="0" sz="1200" spc="-5">
                <a:latin typeface="Arial"/>
                <a:cs typeface="Arial"/>
              </a:rPr>
              <a:t>He must accept </a:t>
            </a:r>
            <a:r>
              <a:rPr dirty="0" sz="1200">
                <a:latin typeface="Arial"/>
                <a:cs typeface="Arial"/>
              </a:rPr>
              <a:t>their </a:t>
            </a:r>
            <a:r>
              <a:rPr dirty="0" sz="1200" spc="-5">
                <a:latin typeface="Arial"/>
                <a:cs typeface="Arial"/>
              </a:rPr>
              <a:t>apology </a:t>
            </a:r>
            <a:r>
              <a:rPr dirty="0" sz="1200">
                <a:latin typeface="Arial"/>
                <a:cs typeface="Arial"/>
              </a:rPr>
              <a:t>if </a:t>
            </a:r>
            <a:r>
              <a:rPr dirty="0" sz="1200" spc="-5">
                <a:latin typeface="Arial"/>
                <a:cs typeface="Arial"/>
              </a:rPr>
              <a:t>they</a:t>
            </a:r>
            <a:r>
              <a:rPr dirty="0" sz="1200" spc="-20">
                <a:latin typeface="Arial"/>
                <a:cs typeface="Arial"/>
              </a:rPr>
              <a:t> </a:t>
            </a:r>
            <a:r>
              <a:rPr dirty="0" sz="1200" spc="-5">
                <a:latin typeface="Arial"/>
                <a:cs typeface="Arial"/>
              </a:rPr>
              <a:t>apologize.</a:t>
            </a:r>
            <a:endParaRPr sz="1200">
              <a:latin typeface="Arial"/>
              <a:cs typeface="Arial"/>
            </a:endParaRPr>
          </a:p>
          <a:p>
            <a:pPr marL="469900" indent="-229235">
              <a:lnSpc>
                <a:spcPct val="100000"/>
              </a:lnSpc>
              <a:spcBef>
                <a:spcPts val="935"/>
              </a:spcBef>
              <a:buAutoNum type="arabicPeriod" startAt="2"/>
              <a:tabLst>
                <a:tab pos="470534" algn="l"/>
              </a:tabLst>
            </a:pPr>
            <a:r>
              <a:rPr dirty="0" sz="1200" spc="-5">
                <a:latin typeface="Arial"/>
                <a:cs typeface="Arial"/>
              </a:rPr>
              <a:t>He must </a:t>
            </a:r>
            <a:r>
              <a:rPr dirty="0" sz="1200">
                <a:latin typeface="Arial"/>
                <a:cs typeface="Arial"/>
              </a:rPr>
              <a:t>make </a:t>
            </a:r>
            <a:r>
              <a:rPr dirty="0" sz="1200" spc="-5">
                <a:latin typeface="Arial"/>
                <a:cs typeface="Arial"/>
              </a:rPr>
              <a:t>peace between</a:t>
            </a:r>
            <a:r>
              <a:rPr dirty="0" sz="1200" spc="-20">
                <a:latin typeface="Arial"/>
                <a:cs typeface="Arial"/>
              </a:rPr>
              <a:t> </a:t>
            </a:r>
            <a:r>
              <a:rPr dirty="0" sz="1200" spc="-5">
                <a:latin typeface="Arial"/>
                <a:cs typeface="Arial"/>
              </a:rPr>
              <a:t>them.</a:t>
            </a:r>
            <a:endParaRPr sz="1200">
              <a:latin typeface="Arial"/>
              <a:cs typeface="Arial"/>
            </a:endParaRPr>
          </a:p>
          <a:p>
            <a:pPr marL="469900" indent="-229235">
              <a:lnSpc>
                <a:spcPct val="100000"/>
              </a:lnSpc>
              <a:spcBef>
                <a:spcPts val="935"/>
              </a:spcBef>
              <a:buAutoNum type="arabicPeriod" startAt="2"/>
              <a:tabLst>
                <a:tab pos="470534" algn="l"/>
              </a:tabLst>
            </a:pPr>
            <a:r>
              <a:rPr dirty="0" sz="1200" spc="-5">
                <a:latin typeface="Arial"/>
                <a:cs typeface="Arial"/>
              </a:rPr>
              <a:t>He must support them when </a:t>
            </a:r>
            <a:r>
              <a:rPr dirty="0" sz="1200">
                <a:latin typeface="Arial"/>
                <a:cs typeface="Arial"/>
              </a:rPr>
              <a:t>they are</a:t>
            </a:r>
            <a:r>
              <a:rPr dirty="0" sz="1200" spc="-15">
                <a:latin typeface="Arial"/>
                <a:cs typeface="Arial"/>
              </a:rPr>
              <a:t> </a:t>
            </a:r>
            <a:r>
              <a:rPr dirty="0" sz="1200" spc="-5">
                <a:latin typeface="Arial"/>
                <a:cs typeface="Arial"/>
              </a:rPr>
              <a:t>attacked.</a:t>
            </a:r>
            <a:endParaRPr sz="1200">
              <a:latin typeface="Arial"/>
              <a:cs typeface="Arial"/>
            </a:endParaRPr>
          </a:p>
          <a:p>
            <a:pPr marL="469900" indent="-229235">
              <a:lnSpc>
                <a:spcPct val="100000"/>
              </a:lnSpc>
              <a:spcBef>
                <a:spcPts val="950"/>
              </a:spcBef>
              <a:buAutoNum type="arabicPeriod" startAt="2"/>
              <a:tabLst>
                <a:tab pos="470534" algn="l"/>
              </a:tabLst>
            </a:pPr>
            <a:r>
              <a:rPr dirty="0" sz="1200" spc="-5">
                <a:latin typeface="Arial"/>
                <a:cs typeface="Arial"/>
              </a:rPr>
              <a:t>He must not ask </a:t>
            </a:r>
            <a:r>
              <a:rPr dirty="0" sz="1200">
                <a:latin typeface="Arial"/>
                <a:cs typeface="Arial"/>
              </a:rPr>
              <a:t>to </a:t>
            </a:r>
            <a:r>
              <a:rPr dirty="0" sz="1200" spc="-10">
                <a:latin typeface="Arial"/>
                <a:cs typeface="Arial"/>
              </a:rPr>
              <a:t>lead </a:t>
            </a:r>
            <a:r>
              <a:rPr dirty="0" sz="1200" spc="-5">
                <a:latin typeface="Arial"/>
                <a:cs typeface="Arial"/>
              </a:rPr>
              <a:t>them, but </a:t>
            </a:r>
            <a:r>
              <a:rPr dirty="0" sz="1200">
                <a:latin typeface="Arial"/>
                <a:cs typeface="Arial"/>
              </a:rPr>
              <a:t>to be </a:t>
            </a:r>
            <a:r>
              <a:rPr dirty="0" sz="1200" spc="-5">
                <a:latin typeface="Arial"/>
                <a:cs typeface="Arial"/>
              </a:rPr>
              <a:t>brothers </a:t>
            </a:r>
            <a:r>
              <a:rPr dirty="0" sz="1200" spc="-10">
                <a:latin typeface="Arial"/>
                <a:cs typeface="Arial"/>
              </a:rPr>
              <a:t>with</a:t>
            </a:r>
            <a:r>
              <a:rPr dirty="0" sz="1200" spc="15">
                <a:latin typeface="Arial"/>
                <a:cs typeface="Arial"/>
              </a:rPr>
              <a:t> </a:t>
            </a:r>
            <a:r>
              <a:rPr dirty="0" sz="1200" spc="-5">
                <a:latin typeface="Arial"/>
                <a:cs typeface="Arial"/>
              </a:rPr>
              <a:t>them.</a:t>
            </a:r>
            <a:endParaRPr sz="1200">
              <a:latin typeface="Arial"/>
              <a:cs typeface="Arial"/>
            </a:endParaRPr>
          </a:p>
          <a:p>
            <a:pPr marL="469900" marR="10160" indent="-229235">
              <a:lnSpc>
                <a:spcPts val="1380"/>
              </a:lnSpc>
              <a:spcBef>
                <a:spcPts val="1035"/>
              </a:spcBef>
              <a:buAutoNum type="arabicPeriod" startAt="2"/>
              <a:tabLst>
                <a:tab pos="470534" algn="l"/>
              </a:tabLst>
            </a:pPr>
            <a:r>
              <a:rPr dirty="0" sz="1200" spc="-5">
                <a:latin typeface="Arial"/>
                <a:cs typeface="Arial"/>
              </a:rPr>
              <a:t>He </a:t>
            </a:r>
            <a:r>
              <a:rPr dirty="0" sz="1200">
                <a:latin typeface="Arial"/>
                <a:cs typeface="Arial"/>
              </a:rPr>
              <a:t>must </a:t>
            </a:r>
            <a:r>
              <a:rPr dirty="0" sz="1200" spc="-5">
                <a:latin typeface="Arial"/>
                <a:cs typeface="Arial"/>
              </a:rPr>
              <a:t>show humbleness with </a:t>
            </a:r>
            <a:r>
              <a:rPr dirty="0" sz="1200">
                <a:latin typeface="Arial"/>
                <a:cs typeface="Arial"/>
              </a:rPr>
              <a:t>them as </a:t>
            </a:r>
            <a:r>
              <a:rPr dirty="0" sz="1200" spc="-5">
                <a:latin typeface="Arial"/>
                <a:cs typeface="Arial"/>
              </a:rPr>
              <a:t>much </a:t>
            </a:r>
            <a:r>
              <a:rPr dirty="0" sz="1200">
                <a:latin typeface="Arial"/>
                <a:cs typeface="Arial"/>
              </a:rPr>
              <a:t>as possible. </a:t>
            </a:r>
            <a:r>
              <a:rPr dirty="0" sz="1200" spc="-5">
                <a:latin typeface="Arial"/>
                <a:cs typeface="Arial"/>
              </a:rPr>
              <a:t>The Prophet </a:t>
            </a:r>
            <a:r>
              <a:rPr dirty="0" sz="1200">
                <a:latin typeface="Arial"/>
                <a:cs typeface="Arial"/>
              </a:rPr>
              <a:t>(s) said, </a:t>
            </a:r>
            <a:r>
              <a:rPr dirty="0" sz="1200" spc="-5">
                <a:latin typeface="Arial"/>
                <a:cs typeface="Arial"/>
              </a:rPr>
              <a:t>"The  master of a people is the one </a:t>
            </a:r>
            <a:r>
              <a:rPr dirty="0" sz="1200">
                <a:latin typeface="Arial"/>
                <a:cs typeface="Arial"/>
              </a:rPr>
              <a:t>who </a:t>
            </a:r>
            <a:r>
              <a:rPr dirty="0" sz="1200" spc="-5">
                <a:latin typeface="Arial"/>
                <a:cs typeface="Arial"/>
              </a:rPr>
              <a:t>serves</a:t>
            </a:r>
            <a:r>
              <a:rPr dirty="0" sz="1200" spc="35">
                <a:latin typeface="Arial"/>
                <a:cs typeface="Arial"/>
              </a:rPr>
              <a:t> </a:t>
            </a:r>
            <a:r>
              <a:rPr dirty="0" sz="1200" spc="-5">
                <a:latin typeface="Arial"/>
                <a:cs typeface="Arial"/>
              </a:rPr>
              <a:t>them."</a:t>
            </a:r>
            <a:endParaRPr sz="1200">
              <a:latin typeface="Arial"/>
              <a:cs typeface="Arial"/>
            </a:endParaRPr>
          </a:p>
          <a:p>
            <a:pPr marL="12700" marR="3662045">
              <a:lnSpc>
                <a:spcPct val="191700"/>
              </a:lnSpc>
              <a:spcBef>
                <a:spcPts val="455"/>
              </a:spcBef>
            </a:pPr>
            <a:r>
              <a:rPr dirty="0" u="heavy" sz="1200" spc="-5" b="1" i="1">
                <a:uFill>
                  <a:solidFill>
                    <a:srgbClr val="000000"/>
                  </a:solidFill>
                </a:uFill>
                <a:latin typeface="Arial"/>
                <a:cs typeface="Arial"/>
              </a:rPr>
              <a:t>False Sufis &amp; Claims against Sufism </a:t>
            </a:r>
            <a:r>
              <a:rPr dirty="0" sz="1200" spc="-5" b="1" i="1">
                <a:latin typeface="Arial"/>
                <a:cs typeface="Arial"/>
              </a:rPr>
              <a:t> </a:t>
            </a:r>
            <a:r>
              <a:rPr dirty="0" u="heavy" sz="1200" spc="-5" b="1" i="1">
                <a:uFill>
                  <a:solidFill>
                    <a:srgbClr val="000000"/>
                  </a:solidFill>
                </a:uFill>
                <a:latin typeface="Arial"/>
                <a:cs typeface="Arial"/>
              </a:rPr>
              <a:t>OR</a:t>
            </a:r>
            <a:endParaRPr sz="1200">
              <a:latin typeface="Arial"/>
              <a:cs typeface="Arial"/>
            </a:endParaRPr>
          </a:p>
          <a:p>
            <a:pPr marL="12700" marR="415925">
              <a:lnSpc>
                <a:spcPct val="191700"/>
              </a:lnSpc>
            </a:pPr>
            <a:r>
              <a:rPr dirty="0" u="heavy" sz="1200" spc="-5" b="1" i="1">
                <a:uFill>
                  <a:solidFill>
                    <a:srgbClr val="000000"/>
                  </a:solidFill>
                </a:uFill>
                <a:latin typeface="Arial"/>
                <a:cs typeface="Arial"/>
              </a:rPr>
              <a:t>Why Sufi teachers were often regarded </a:t>
            </a:r>
            <a:r>
              <a:rPr dirty="0" u="heavy" sz="1200" spc="-10" b="1" i="1">
                <a:uFill>
                  <a:solidFill>
                    <a:srgbClr val="000000"/>
                  </a:solidFill>
                </a:uFill>
                <a:latin typeface="Arial"/>
                <a:cs typeface="Arial"/>
              </a:rPr>
              <a:t>as </a:t>
            </a:r>
            <a:r>
              <a:rPr dirty="0" u="heavy" sz="1200" spc="-5" b="1" i="1">
                <a:uFill>
                  <a:solidFill>
                    <a:srgbClr val="000000"/>
                  </a:solidFill>
                </a:uFill>
                <a:latin typeface="Arial"/>
                <a:cs typeface="Arial"/>
              </a:rPr>
              <a:t>a threat to orthodox Islamic </a:t>
            </a:r>
            <a:r>
              <a:rPr dirty="0" u="heavy" sz="1200" b="1" i="1">
                <a:uFill>
                  <a:solidFill>
                    <a:srgbClr val="000000"/>
                  </a:solidFill>
                </a:uFill>
                <a:latin typeface="Arial"/>
                <a:cs typeface="Arial"/>
              </a:rPr>
              <a:t>believers? </a:t>
            </a:r>
            <a:r>
              <a:rPr dirty="0" sz="1200" b="1" i="1">
                <a:latin typeface="Arial"/>
                <a:cs typeface="Arial"/>
              </a:rPr>
              <a:t> </a:t>
            </a:r>
            <a:r>
              <a:rPr dirty="0" u="heavy" sz="1200" spc="-5" b="1" i="1">
                <a:uFill>
                  <a:solidFill>
                    <a:srgbClr val="000000"/>
                  </a:solidFill>
                </a:uFill>
                <a:latin typeface="Arial"/>
                <a:cs typeface="Arial"/>
              </a:rPr>
              <a:t>OR</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Why has the orthodoxy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Sufism often been</a:t>
            </a:r>
            <a:r>
              <a:rPr dirty="0" u="heavy" sz="1200" spc="30" b="1" i="1">
                <a:uFill>
                  <a:solidFill>
                    <a:srgbClr val="000000"/>
                  </a:solidFill>
                </a:uFill>
                <a:latin typeface="Arial"/>
                <a:cs typeface="Arial"/>
              </a:rPr>
              <a:t> </a:t>
            </a:r>
            <a:r>
              <a:rPr dirty="0" u="heavy" sz="1200" spc="-5" b="1" i="1">
                <a:uFill>
                  <a:solidFill>
                    <a:srgbClr val="000000"/>
                  </a:solidFill>
                </a:uFill>
                <a:latin typeface="Arial"/>
                <a:cs typeface="Arial"/>
              </a:rPr>
              <a:t>doubted?</a:t>
            </a:r>
            <a:endParaRPr sz="1200">
              <a:latin typeface="Arial"/>
              <a:cs typeface="Arial"/>
            </a:endParaRPr>
          </a:p>
          <a:p>
            <a:pPr>
              <a:lnSpc>
                <a:spcPct val="100000"/>
              </a:lnSpc>
              <a:spcBef>
                <a:spcPts val="55"/>
              </a:spcBef>
            </a:pPr>
            <a:endParaRPr sz="1100">
              <a:latin typeface="Arial"/>
              <a:cs typeface="Arial"/>
            </a:endParaRPr>
          </a:p>
          <a:p>
            <a:pPr marL="413384" indent="-172720">
              <a:lnSpc>
                <a:spcPts val="1410"/>
              </a:lnSpc>
              <a:buAutoNum type="arabicPeriod"/>
              <a:tabLst>
                <a:tab pos="414020" algn="l"/>
              </a:tabLst>
            </a:pPr>
            <a:r>
              <a:rPr dirty="0" sz="1200" spc="-5">
                <a:latin typeface="Arial"/>
                <a:cs typeface="Arial"/>
              </a:rPr>
              <a:t>They steal the words of </a:t>
            </a:r>
            <a:r>
              <a:rPr dirty="0" sz="1200">
                <a:latin typeface="Arial"/>
                <a:cs typeface="Arial"/>
              </a:rPr>
              <a:t>the Sufis </a:t>
            </a:r>
            <a:r>
              <a:rPr dirty="0" sz="1200" spc="-5">
                <a:latin typeface="Arial"/>
                <a:cs typeface="Arial"/>
              </a:rPr>
              <a:t>and present them </a:t>
            </a:r>
            <a:r>
              <a:rPr dirty="0" sz="1200">
                <a:latin typeface="Arial"/>
                <a:cs typeface="Arial"/>
              </a:rPr>
              <a:t>as their</a:t>
            </a:r>
            <a:r>
              <a:rPr dirty="0" sz="1200" spc="-25">
                <a:latin typeface="Arial"/>
                <a:cs typeface="Arial"/>
              </a:rPr>
              <a:t> </a:t>
            </a:r>
            <a:r>
              <a:rPr dirty="0" sz="1200" spc="-5">
                <a:latin typeface="Arial"/>
                <a:cs typeface="Arial"/>
              </a:rPr>
              <a:t>own</a:t>
            </a:r>
            <a:endParaRPr sz="1200">
              <a:latin typeface="Arial"/>
              <a:cs typeface="Arial"/>
            </a:endParaRPr>
          </a:p>
          <a:p>
            <a:pPr marL="469900" marR="5080" indent="-229235">
              <a:lnSpc>
                <a:spcPts val="1380"/>
              </a:lnSpc>
              <a:spcBef>
                <a:spcPts val="65"/>
              </a:spcBef>
              <a:buAutoNum type="arabicPeriod"/>
              <a:tabLst>
                <a:tab pos="414020" algn="l"/>
              </a:tabLst>
            </a:pPr>
            <a:r>
              <a:rPr dirty="0" sz="1200" spc="-5">
                <a:latin typeface="Arial"/>
                <a:cs typeface="Arial"/>
              </a:rPr>
              <a:t>They do not have true knowledge of that which </a:t>
            </a:r>
            <a:r>
              <a:rPr dirty="0" sz="1200">
                <a:latin typeface="Arial"/>
                <a:cs typeface="Arial"/>
              </a:rPr>
              <a:t>they </a:t>
            </a:r>
            <a:r>
              <a:rPr dirty="0" sz="1200" spc="-5">
                <a:latin typeface="Arial"/>
                <a:cs typeface="Arial"/>
              </a:rPr>
              <a:t>are speaking </a:t>
            </a:r>
            <a:r>
              <a:rPr dirty="0" sz="1200">
                <a:latin typeface="Arial"/>
                <a:cs typeface="Arial"/>
              </a:rPr>
              <a:t>– </a:t>
            </a:r>
            <a:r>
              <a:rPr dirty="0" sz="1200" spc="-5">
                <a:latin typeface="Arial"/>
                <a:cs typeface="Arial"/>
              </a:rPr>
              <a:t>only on their lips  but not from their</a:t>
            </a:r>
            <a:r>
              <a:rPr dirty="0" sz="1200" spc="-25">
                <a:latin typeface="Arial"/>
                <a:cs typeface="Arial"/>
              </a:rPr>
              <a:t> </a:t>
            </a:r>
            <a:r>
              <a:rPr dirty="0" sz="1200" spc="-5">
                <a:latin typeface="Arial"/>
                <a:cs typeface="Arial"/>
              </a:rPr>
              <a:t>hearts</a:t>
            </a:r>
            <a:endParaRPr sz="1200">
              <a:latin typeface="Arial"/>
              <a:cs typeface="Arial"/>
            </a:endParaRPr>
          </a:p>
          <a:p>
            <a:pPr marL="469900" marR="11430" indent="-229235">
              <a:lnSpc>
                <a:spcPts val="1380"/>
              </a:lnSpc>
              <a:buAutoNum type="arabicPeriod"/>
              <a:tabLst>
                <a:tab pos="414020" algn="l"/>
              </a:tabLst>
            </a:pPr>
            <a:r>
              <a:rPr dirty="0" sz="1200" spc="-5">
                <a:latin typeface="Arial"/>
                <a:cs typeface="Arial"/>
              </a:rPr>
              <a:t>These people </a:t>
            </a:r>
            <a:r>
              <a:rPr dirty="0" sz="1200">
                <a:latin typeface="Arial"/>
                <a:cs typeface="Arial"/>
              </a:rPr>
              <a:t>take </a:t>
            </a:r>
            <a:r>
              <a:rPr dirty="0" sz="1200" spc="-5">
                <a:latin typeface="Arial"/>
                <a:cs typeface="Arial"/>
              </a:rPr>
              <a:t>the </a:t>
            </a:r>
            <a:r>
              <a:rPr dirty="0" sz="1200">
                <a:latin typeface="Arial"/>
                <a:cs typeface="Arial"/>
              </a:rPr>
              <a:t>title </a:t>
            </a:r>
            <a:r>
              <a:rPr dirty="0" sz="1200" spc="-5">
                <a:latin typeface="Arial"/>
                <a:cs typeface="Arial"/>
              </a:rPr>
              <a:t>of "Sufi" because </a:t>
            </a:r>
            <a:r>
              <a:rPr dirty="0" sz="1200">
                <a:latin typeface="Arial"/>
                <a:cs typeface="Arial"/>
              </a:rPr>
              <a:t>it </a:t>
            </a:r>
            <a:r>
              <a:rPr dirty="0" sz="1200" spc="-5">
                <a:latin typeface="Arial"/>
                <a:cs typeface="Arial"/>
              </a:rPr>
              <a:t>gives them a certain amount of prestige  and power among people in the</a:t>
            </a:r>
            <a:r>
              <a:rPr dirty="0" sz="1200" spc="5">
                <a:latin typeface="Arial"/>
                <a:cs typeface="Arial"/>
              </a:rPr>
              <a:t> </a:t>
            </a:r>
            <a:r>
              <a:rPr dirty="0" sz="1200" spc="-5">
                <a:latin typeface="Arial"/>
                <a:cs typeface="Arial"/>
              </a:rPr>
              <a:t>society</a:t>
            </a:r>
            <a:endParaRPr sz="1200">
              <a:latin typeface="Arial"/>
              <a:cs typeface="Arial"/>
            </a:endParaRPr>
          </a:p>
          <a:p>
            <a:pPr marL="469900" marR="9525" indent="-229235">
              <a:lnSpc>
                <a:spcPts val="1380"/>
              </a:lnSpc>
              <a:buAutoNum type="arabicPeriod"/>
              <a:tabLst>
                <a:tab pos="414020" algn="l"/>
              </a:tabLst>
            </a:pPr>
            <a:r>
              <a:rPr dirty="0" sz="1200" spc="-5">
                <a:latin typeface="Arial"/>
                <a:cs typeface="Arial"/>
              </a:rPr>
              <a:t>They are despicable, weak, incapable, morose, without any exit </a:t>
            </a:r>
            <a:r>
              <a:rPr dirty="0" sz="1200">
                <a:latin typeface="Arial"/>
                <a:cs typeface="Arial"/>
              </a:rPr>
              <a:t>from </a:t>
            </a:r>
            <a:r>
              <a:rPr dirty="0" sz="1200" spc="-5">
                <a:latin typeface="Arial"/>
                <a:cs typeface="Arial"/>
              </a:rPr>
              <a:t>uncertainties, </a:t>
            </a:r>
            <a:r>
              <a:rPr dirty="0" sz="1200" spc="-10">
                <a:latin typeface="Arial"/>
                <a:cs typeface="Arial"/>
              </a:rPr>
              <a:t>and  </a:t>
            </a:r>
            <a:r>
              <a:rPr dirty="0" sz="1200" spc="-5">
                <a:latin typeface="Arial"/>
                <a:cs typeface="Arial"/>
              </a:rPr>
              <a:t>deficient in all their senses</a:t>
            </a:r>
            <a:endParaRPr sz="1200">
              <a:latin typeface="Arial"/>
              <a:cs typeface="Arial"/>
            </a:endParaRPr>
          </a:p>
          <a:p>
            <a:pPr marL="469900" marR="12065" indent="-229235">
              <a:lnSpc>
                <a:spcPts val="1380"/>
              </a:lnSpc>
              <a:buAutoNum type="arabicPeriod"/>
              <a:tabLst>
                <a:tab pos="414020" algn="l"/>
              </a:tabLst>
            </a:pPr>
            <a:r>
              <a:rPr dirty="0" sz="1200" spc="-5">
                <a:latin typeface="Arial"/>
                <a:cs typeface="Arial"/>
              </a:rPr>
              <a:t>They </a:t>
            </a:r>
            <a:r>
              <a:rPr dirty="0" sz="1200">
                <a:latin typeface="Arial"/>
                <a:cs typeface="Arial"/>
              </a:rPr>
              <a:t>steal </a:t>
            </a:r>
            <a:r>
              <a:rPr dirty="0" sz="1200" spc="-5">
                <a:latin typeface="Arial"/>
                <a:cs typeface="Arial"/>
              </a:rPr>
              <a:t>away all your attainments and will not benefit neither </a:t>
            </a:r>
            <a:r>
              <a:rPr dirty="0" sz="1200" spc="-10">
                <a:latin typeface="Arial"/>
                <a:cs typeface="Arial"/>
              </a:rPr>
              <a:t>in </a:t>
            </a:r>
            <a:r>
              <a:rPr dirty="0" sz="1200">
                <a:latin typeface="Arial"/>
                <a:cs typeface="Arial"/>
              </a:rPr>
              <a:t>this </a:t>
            </a:r>
            <a:r>
              <a:rPr dirty="0" sz="1200" spc="-10">
                <a:latin typeface="Arial"/>
                <a:cs typeface="Arial"/>
              </a:rPr>
              <a:t>world </a:t>
            </a:r>
            <a:r>
              <a:rPr dirty="0" sz="1200" spc="-5">
                <a:latin typeface="Arial"/>
                <a:cs typeface="Arial"/>
              </a:rPr>
              <a:t>nor </a:t>
            </a:r>
            <a:r>
              <a:rPr dirty="0" sz="1200">
                <a:latin typeface="Arial"/>
                <a:cs typeface="Arial"/>
              </a:rPr>
              <a:t>the  </a:t>
            </a:r>
            <a:r>
              <a:rPr dirty="0" sz="1200" spc="-5">
                <a:latin typeface="Arial"/>
                <a:cs typeface="Arial"/>
              </a:rPr>
              <a:t>next</a:t>
            </a:r>
            <a:endParaRPr sz="1200">
              <a:latin typeface="Arial"/>
              <a:cs typeface="Arial"/>
            </a:endParaRPr>
          </a:p>
          <a:p>
            <a:pPr marL="413384" indent="-172720">
              <a:lnSpc>
                <a:spcPts val="1315"/>
              </a:lnSpc>
              <a:buAutoNum type="arabicPeriod"/>
              <a:tabLst>
                <a:tab pos="414020" algn="l"/>
              </a:tabLst>
            </a:pPr>
            <a:r>
              <a:rPr dirty="0" sz="1200" spc="-5">
                <a:latin typeface="Arial"/>
                <a:cs typeface="Arial"/>
              </a:rPr>
              <a:t>They </a:t>
            </a:r>
            <a:r>
              <a:rPr dirty="0" sz="1200">
                <a:latin typeface="Arial"/>
                <a:cs typeface="Arial"/>
              </a:rPr>
              <a:t>are </a:t>
            </a:r>
            <a:r>
              <a:rPr dirty="0" sz="1200" spc="-5">
                <a:latin typeface="Arial"/>
                <a:cs typeface="Arial"/>
              </a:rPr>
              <a:t>like blind men </a:t>
            </a:r>
            <a:r>
              <a:rPr dirty="0" sz="1200" spc="-10">
                <a:latin typeface="Arial"/>
                <a:cs typeface="Arial"/>
              </a:rPr>
              <a:t>who </a:t>
            </a:r>
            <a:r>
              <a:rPr dirty="0" sz="1200">
                <a:latin typeface="Arial"/>
                <a:cs typeface="Arial"/>
              </a:rPr>
              <a:t>cure </a:t>
            </a:r>
            <a:r>
              <a:rPr dirty="0" sz="1200" spc="-5">
                <a:latin typeface="Arial"/>
                <a:cs typeface="Arial"/>
              </a:rPr>
              <a:t>eyes but in </a:t>
            </a:r>
            <a:r>
              <a:rPr dirty="0" sz="1200">
                <a:latin typeface="Arial"/>
                <a:cs typeface="Arial"/>
              </a:rPr>
              <a:t>fact </a:t>
            </a:r>
            <a:r>
              <a:rPr dirty="0" sz="1200" spc="-10">
                <a:latin typeface="Arial"/>
                <a:cs typeface="Arial"/>
              </a:rPr>
              <a:t>will </a:t>
            </a:r>
            <a:r>
              <a:rPr dirty="0" sz="1200" spc="-5">
                <a:latin typeface="Arial"/>
                <a:cs typeface="Arial"/>
              </a:rPr>
              <a:t>be</a:t>
            </a:r>
            <a:r>
              <a:rPr dirty="0" sz="1200" spc="60">
                <a:latin typeface="Arial"/>
                <a:cs typeface="Arial"/>
              </a:rPr>
              <a:t> </a:t>
            </a:r>
            <a:r>
              <a:rPr dirty="0" sz="1200" spc="-5">
                <a:latin typeface="Arial"/>
                <a:cs typeface="Arial"/>
              </a:rPr>
              <a:t>worsened</a:t>
            </a:r>
            <a:endParaRPr sz="1200">
              <a:latin typeface="Arial"/>
              <a:cs typeface="Arial"/>
            </a:endParaRPr>
          </a:p>
          <a:p>
            <a:pPr marL="469900" marR="10795" indent="-229235">
              <a:lnSpc>
                <a:spcPts val="1380"/>
              </a:lnSpc>
              <a:spcBef>
                <a:spcPts val="70"/>
              </a:spcBef>
              <a:buAutoNum type="arabicPeriod"/>
              <a:tabLst>
                <a:tab pos="414020" algn="l"/>
              </a:tabLst>
            </a:pPr>
            <a:r>
              <a:rPr dirty="0" sz="1200" spc="-5">
                <a:latin typeface="Arial"/>
                <a:cs typeface="Arial"/>
              </a:rPr>
              <a:t>They have no scent </a:t>
            </a:r>
            <a:r>
              <a:rPr dirty="0" sz="1200" spc="-10">
                <a:latin typeface="Arial"/>
                <a:cs typeface="Arial"/>
              </a:rPr>
              <a:t>or </a:t>
            </a:r>
            <a:r>
              <a:rPr dirty="0" sz="1200">
                <a:latin typeface="Arial"/>
                <a:cs typeface="Arial"/>
              </a:rPr>
              <a:t>trace </a:t>
            </a:r>
            <a:r>
              <a:rPr dirty="0" sz="1200" spc="-5">
                <a:latin typeface="Arial"/>
                <a:cs typeface="Arial"/>
              </a:rPr>
              <a:t>of God, but their </a:t>
            </a:r>
            <a:r>
              <a:rPr dirty="0" sz="1200">
                <a:latin typeface="Arial"/>
                <a:cs typeface="Arial"/>
              </a:rPr>
              <a:t>claims </a:t>
            </a:r>
            <a:r>
              <a:rPr dirty="0" sz="1200" spc="-5">
                <a:latin typeface="Arial"/>
                <a:cs typeface="Arial"/>
              </a:rPr>
              <a:t>are greater </a:t>
            </a:r>
            <a:r>
              <a:rPr dirty="0" sz="1200">
                <a:latin typeface="Arial"/>
                <a:cs typeface="Arial"/>
              </a:rPr>
              <a:t>than </a:t>
            </a:r>
            <a:r>
              <a:rPr dirty="0" sz="1200" spc="-5">
                <a:latin typeface="Arial"/>
                <a:cs typeface="Arial"/>
              </a:rPr>
              <a:t>those of Seth  (Hazrat Shiite </a:t>
            </a:r>
            <a:r>
              <a:rPr dirty="0" sz="1200">
                <a:latin typeface="Arial"/>
                <a:cs typeface="Arial"/>
              </a:rPr>
              <a:t>(as)) or </a:t>
            </a:r>
            <a:r>
              <a:rPr dirty="0" sz="1200" spc="-5">
                <a:latin typeface="Arial"/>
                <a:cs typeface="Arial"/>
              </a:rPr>
              <a:t>Adam</a:t>
            </a:r>
            <a:r>
              <a:rPr dirty="0" sz="1200" spc="15">
                <a:latin typeface="Arial"/>
                <a:cs typeface="Arial"/>
              </a:rPr>
              <a:t> </a:t>
            </a:r>
            <a:r>
              <a:rPr dirty="0" sz="1200">
                <a:latin typeface="Arial"/>
                <a:cs typeface="Arial"/>
              </a:rPr>
              <a:t>(as).</a:t>
            </a:r>
            <a:endParaRPr sz="1200">
              <a:latin typeface="Arial"/>
              <a:cs typeface="Arial"/>
            </a:endParaRPr>
          </a:p>
          <a:p>
            <a:pPr marL="469900" marR="6350" indent="-229235">
              <a:lnSpc>
                <a:spcPts val="1380"/>
              </a:lnSpc>
              <a:buAutoNum type="arabicPeriod"/>
              <a:tabLst>
                <a:tab pos="414020" algn="l"/>
              </a:tabLst>
            </a:pPr>
            <a:r>
              <a:rPr dirty="0" sz="1200" spc="-5">
                <a:latin typeface="Arial"/>
                <a:cs typeface="Arial"/>
              </a:rPr>
              <a:t>The devil himself is embarrassed </a:t>
            </a:r>
            <a:r>
              <a:rPr dirty="0" sz="1200">
                <a:latin typeface="Arial"/>
                <a:cs typeface="Arial"/>
              </a:rPr>
              <a:t>to </a:t>
            </a:r>
            <a:r>
              <a:rPr dirty="0" sz="1200" spc="-5">
                <a:latin typeface="Arial"/>
                <a:cs typeface="Arial"/>
              </a:rPr>
              <a:t>appear before them but </a:t>
            </a:r>
            <a:r>
              <a:rPr dirty="0" sz="1200">
                <a:latin typeface="Arial"/>
                <a:cs typeface="Arial"/>
              </a:rPr>
              <a:t>they </a:t>
            </a:r>
            <a:r>
              <a:rPr dirty="0" sz="1200" spc="-5">
                <a:latin typeface="Arial"/>
                <a:cs typeface="Arial"/>
              </a:rPr>
              <a:t>keep </a:t>
            </a:r>
            <a:r>
              <a:rPr dirty="0" sz="1200" spc="-10">
                <a:latin typeface="Arial"/>
                <a:cs typeface="Arial"/>
              </a:rPr>
              <a:t>on saying, </a:t>
            </a:r>
            <a:r>
              <a:rPr dirty="0" sz="1200" spc="5">
                <a:latin typeface="Arial"/>
                <a:cs typeface="Arial"/>
              </a:rPr>
              <a:t>"We </a:t>
            </a:r>
            <a:r>
              <a:rPr dirty="0" sz="1200" spc="340">
                <a:latin typeface="Arial"/>
                <a:cs typeface="Arial"/>
              </a:rPr>
              <a:t> </a:t>
            </a:r>
            <a:r>
              <a:rPr dirty="0" sz="1200" spc="-5">
                <a:latin typeface="Arial"/>
                <a:cs typeface="Arial"/>
              </a:rPr>
              <a:t>are of </a:t>
            </a:r>
            <a:r>
              <a:rPr dirty="0" sz="1200">
                <a:latin typeface="Arial"/>
                <a:cs typeface="Arial"/>
              </a:rPr>
              <a:t>the saints </a:t>
            </a:r>
            <a:r>
              <a:rPr dirty="0" sz="1200" spc="-5">
                <a:latin typeface="Arial"/>
                <a:cs typeface="Arial"/>
              </a:rPr>
              <a:t>and </a:t>
            </a:r>
            <a:r>
              <a:rPr dirty="0" sz="1200" spc="-10">
                <a:latin typeface="Arial"/>
                <a:cs typeface="Arial"/>
              </a:rPr>
              <a:t>even </a:t>
            </a:r>
            <a:r>
              <a:rPr dirty="0" sz="1200">
                <a:latin typeface="Arial"/>
                <a:cs typeface="Arial"/>
              </a:rPr>
              <a:t>greater. </a:t>
            </a:r>
            <a:r>
              <a:rPr dirty="0" sz="1200" spc="-805">
                <a:latin typeface="Arial"/>
                <a:cs typeface="Arial"/>
              </a:rPr>
              <a:t>―</a:t>
            </a:r>
            <a:r>
              <a:rPr dirty="0" sz="1200" spc="-5">
                <a:latin typeface="Arial"/>
                <a:cs typeface="Arial"/>
              </a:rPr>
              <a:t> </a:t>
            </a:r>
            <a:r>
              <a:rPr dirty="0" sz="1200">
                <a:latin typeface="Arial"/>
                <a:cs typeface="Arial"/>
              </a:rPr>
              <a:t>They are only</a:t>
            </a:r>
            <a:r>
              <a:rPr dirty="0" sz="1200" spc="-40">
                <a:latin typeface="Arial"/>
                <a:cs typeface="Arial"/>
              </a:rPr>
              <a:t> </a:t>
            </a:r>
            <a:r>
              <a:rPr dirty="0" sz="1200" spc="-5">
                <a:latin typeface="Arial"/>
                <a:cs typeface="Arial"/>
              </a:rPr>
              <a:t>liars</a:t>
            </a:r>
            <a:endParaRPr sz="1200">
              <a:latin typeface="Arial"/>
              <a:cs typeface="Arial"/>
            </a:endParaRPr>
          </a:p>
          <a:p>
            <a:pPr marL="469900" marR="11430" indent="-229235">
              <a:lnSpc>
                <a:spcPts val="1380"/>
              </a:lnSpc>
              <a:buAutoNum type="arabicPeriod"/>
              <a:tabLst>
                <a:tab pos="414020" algn="l"/>
              </a:tabLst>
            </a:pPr>
            <a:r>
              <a:rPr dirty="0" sz="1200" spc="-5">
                <a:latin typeface="Arial"/>
                <a:cs typeface="Arial"/>
              </a:rPr>
              <a:t>They </a:t>
            </a:r>
            <a:r>
              <a:rPr dirty="0" sz="1200">
                <a:latin typeface="Arial"/>
                <a:cs typeface="Arial"/>
              </a:rPr>
              <a:t>steal many of </a:t>
            </a:r>
            <a:r>
              <a:rPr dirty="0" sz="1200" spc="-5">
                <a:latin typeface="Arial"/>
                <a:cs typeface="Arial"/>
              </a:rPr>
              <a:t>the words </a:t>
            </a:r>
            <a:r>
              <a:rPr dirty="0" sz="1200">
                <a:latin typeface="Arial"/>
                <a:cs typeface="Arial"/>
              </a:rPr>
              <a:t>of </a:t>
            </a:r>
            <a:r>
              <a:rPr dirty="0" sz="1200" spc="-5">
                <a:latin typeface="Arial"/>
                <a:cs typeface="Arial"/>
              </a:rPr>
              <a:t>the dervishes, so </a:t>
            </a:r>
            <a:r>
              <a:rPr dirty="0" sz="1200">
                <a:latin typeface="Arial"/>
                <a:cs typeface="Arial"/>
              </a:rPr>
              <a:t>that </a:t>
            </a:r>
            <a:r>
              <a:rPr dirty="0" sz="1200" spc="-5">
                <a:latin typeface="Arial"/>
                <a:cs typeface="Arial"/>
              </a:rPr>
              <a:t>people </a:t>
            </a:r>
            <a:r>
              <a:rPr dirty="0" sz="1200">
                <a:latin typeface="Arial"/>
                <a:cs typeface="Arial"/>
              </a:rPr>
              <a:t>may think they </a:t>
            </a:r>
            <a:r>
              <a:rPr dirty="0" sz="1200" spc="-5">
                <a:latin typeface="Arial"/>
                <a:cs typeface="Arial"/>
              </a:rPr>
              <a:t>really are  someone, having knowledge and</a:t>
            </a:r>
            <a:r>
              <a:rPr dirty="0" sz="1200" spc="10">
                <a:latin typeface="Arial"/>
                <a:cs typeface="Arial"/>
              </a:rPr>
              <a:t> </a:t>
            </a:r>
            <a:r>
              <a:rPr dirty="0" sz="1200" spc="-5">
                <a:latin typeface="Arial"/>
                <a:cs typeface="Arial"/>
              </a:rPr>
              <a:t>spirituality</a:t>
            </a:r>
            <a:endParaRPr sz="1200">
              <a:latin typeface="Arial"/>
              <a:cs typeface="Arial"/>
            </a:endParaRPr>
          </a:p>
          <a:p>
            <a:pPr marL="469900" marR="12065" indent="-229235">
              <a:lnSpc>
                <a:spcPts val="1380"/>
              </a:lnSpc>
              <a:buAutoNum type="arabicPeriod"/>
              <a:tabLst>
                <a:tab pos="470534" algn="l"/>
              </a:tabLst>
            </a:pPr>
            <a:r>
              <a:rPr dirty="0" sz="1200" spc="-5">
                <a:latin typeface="Arial"/>
                <a:cs typeface="Arial"/>
              </a:rPr>
              <a:t>They are destitute of the bread and provisions of heaven: </a:t>
            </a:r>
            <a:r>
              <a:rPr dirty="0" sz="1200">
                <a:latin typeface="Arial"/>
                <a:cs typeface="Arial"/>
              </a:rPr>
              <a:t>God </a:t>
            </a:r>
            <a:r>
              <a:rPr dirty="0" sz="1200" spc="-5">
                <a:latin typeface="Arial"/>
                <a:cs typeface="Arial"/>
              </a:rPr>
              <a:t>has not thrown him a  single bone.</a:t>
            </a:r>
            <a:endParaRPr sz="1200">
              <a:latin typeface="Arial"/>
              <a:cs typeface="Arial"/>
            </a:endParaRPr>
          </a:p>
          <a:p>
            <a:pPr marL="469900" marR="5080" indent="-229235">
              <a:lnSpc>
                <a:spcPts val="1380"/>
              </a:lnSpc>
              <a:buAutoNum type="arabicPeriod"/>
              <a:tabLst>
                <a:tab pos="470534" algn="l"/>
              </a:tabLst>
            </a:pPr>
            <a:r>
              <a:rPr dirty="0" sz="1200" spc="-5">
                <a:latin typeface="Arial"/>
                <a:cs typeface="Arial"/>
              </a:rPr>
              <a:t>They are engaged in revealing </a:t>
            </a:r>
            <a:r>
              <a:rPr dirty="0" sz="1200">
                <a:latin typeface="Arial"/>
                <a:cs typeface="Arial"/>
              </a:rPr>
              <a:t>to their </a:t>
            </a:r>
            <a:r>
              <a:rPr dirty="0" sz="1200" spc="-5">
                <a:latin typeface="Arial"/>
                <a:cs typeface="Arial"/>
              </a:rPr>
              <a:t>disciples or any one </a:t>
            </a:r>
            <a:r>
              <a:rPr dirty="0" sz="1200">
                <a:latin typeface="Arial"/>
                <a:cs typeface="Arial"/>
              </a:rPr>
              <a:t>the </a:t>
            </a:r>
            <a:r>
              <a:rPr dirty="0" sz="1200" spc="-5">
                <a:latin typeface="Arial"/>
                <a:cs typeface="Arial"/>
              </a:rPr>
              <a:t>future </a:t>
            </a:r>
            <a:r>
              <a:rPr dirty="0" sz="1200">
                <a:latin typeface="Arial"/>
                <a:cs typeface="Arial"/>
              </a:rPr>
              <a:t>– </a:t>
            </a:r>
            <a:r>
              <a:rPr dirty="0" sz="1200" spc="-5">
                <a:latin typeface="Arial"/>
                <a:cs typeface="Arial"/>
              </a:rPr>
              <a:t>pretending </a:t>
            </a:r>
            <a:r>
              <a:rPr dirty="0" sz="1200">
                <a:latin typeface="Arial"/>
                <a:cs typeface="Arial"/>
              </a:rPr>
              <a:t>to  </a:t>
            </a:r>
            <a:r>
              <a:rPr dirty="0" sz="1200" spc="-5">
                <a:latin typeface="Arial"/>
                <a:cs typeface="Arial"/>
              </a:rPr>
              <a:t>know the</a:t>
            </a:r>
            <a:r>
              <a:rPr dirty="0" sz="1200" spc="-25">
                <a:latin typeface="Arial"/>
                <a:cs typeface="Arial"/>
              </a:rPr>
              <a:t> </a:t>
            </a:r>
            <a:r>
              <a:rPr dirty="0" sz="1200">
                <a:latin typeface="Arial"/>
                <a:cs typeface="Arial"/>
              </a:rPr>
              <a:t>future.</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They </a:t>
            </a:r>
            <a:r>
              <a:rPr dirty="0" sz="1200">
                <a:latin typeface="Arial"/>
                <a:cs typeface="Arial"/>
              </a:rPr>
              <a:t>are </a:t>
            </a:r>
            <a:r>
              <a:rPr dirty="0" sz="1200" spc="-5">
                <a:latin typeface="Arial"/>
                <a:cs typeface="Arial"/>
              </a:rPr>
              <a:t>attached to the </a:t>
            </a:r>
            <a:r>
              <a:rPr dirty="0" sz="1200">
                <a:latin typeface="Arial"/>
                <a:cs typeface="Arial"/>
              </a:rPr>
              <a:t>jinns asking for </a:t>
            </a:r>
            <a:r>
              <a:rPr dirty="0" sz="1200" spc="-10">
                <a:latin typeface="Arial"/>
                <a:cs typeface="Arial"/>
              </a:rPr>
              <a:t>their</a:t>
            </a:r>
            <a:r>
              <a:rPr dirty="0" sz="1200" spc="-30">
                <a:latin typeface="Arial"/>
                <a:cs typeface="Arial"/>
              </a:rPr>
              <a:t> </a:t>
            </a:r>
            <a:r>
              <a:rPr dirty="0" sz="1200">
                <a:latin typeface="Arial"/>
                <a:cs typeface="Arial"/>
              </a:rPr>
              <a:t>help.</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They </a:t>
            </a:r>
            <a:r>
              <a:rPr dirty="0" sz="1200">
                <a:latin typeface="Arial"/>
                <a:cs typeface="Arial"/>
              </a:rPr>
              <a:t>are </a:t>
            </a:r>
            <a:r>
              <a:rPr dirty="0" sz="1200" spc="-5">
                <a:latin typeface="Arial"/>
                <a:cs typeface="Arial"/>
              </a:rPr>
              <a:t>unaware of the reality of Shari‘ah and commit </a:t>
            </a:r>
            <a:r>
              <a:rPr dirty="0" sz="1200">
                <a:latin typeface="Arial"/>
                <a:cs typeface="Arial"/>
              </a:rPr>
              <a:t>much</a:t>
            </a:r>
            <a:r>
              <a:rPr dirty="0" sz="1200" spc="15">
                <a:latin typeface="Arial"/>
                <a:cs typeface="Arial"/>
              </a:rPr>
              <a:t> </a:t>
            </a:r>
            <a:r>
              <a:rPr dirty="0" sz="1200" spc="-5">
                <a:latin typeface="Arial"/>
                <a:cs typeface="Arial"/>
              </a:rPr>
              <a:t>mistake.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Their lives </a:t>
            </a:r>
            <a:r>
              <a:rPr dirty="0" sz="1200">
                <a:latin typeface="Arial"/>
                <a:cs typeface="Arial"/>
              </a:rPr>
              <a:t>are not </a:t>
            </a:r>
            <a:r>
              <a:rPr dirty="0" sz="1200" spc="-5">
                <a:latin typeface="Arial"/>
                <a:cs typeface="Arial"/>
              </a:rPr>
              <a:t>compatible with </a:t>
            </a:r>
            <a:r>
              <a:rPr dirty="0" sz="1200" spc="5">
                <a:latin typeface="Arial"/>
                <a:cs typeface="Arial"/>
              </a:rPr>
              <a:t>the </a:t>
            </a:r>
            <a:r>
              <a:rPr dirty="0" sz="1200" spc="-5">
                <a:latin typeface="Arial"/>
                <a:cs typeface="Arial"/>
              </a:rPr>
              <a:t>teachings </a:t>
            </a:r>
            <a:r>
              <a:rPr dirty="0" sz="1200">
                <a:latin typeface="Arial"/>
                <a:cs typeface="Arial"/>
              </a:rPr>
              <a:t>of the </a:t>
            </a:r>
            <a:r>
              <a:rPr dirty="0" sz="1200" spc="-5">
                <a:latin typeface="Arial"/>
                <a:cs typeface="Arial"/>
              </a:rPr>
              <a:t>Qur‘an and Sunnah</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They </a:t>
            </a:r>
            <a:r>
              <a:rPr dirty="0" sz="1200">
                <a:latin typeface="Arial"/>
                <a:cs typeface="Arial"/>
              </a:rPr>
              <a:t>are </a:t>
            </a:r>
            <a:r>
              <a:rPr dirty="0" sz="1200" spc="-5">
                <a:latin typeface="Arial"/>
                <a:cs typeface="Arial"/>
              </a:rPr>
              <a:t>the mischief-mongers of the</a:t>
            </a:r>
            <a:r>
              <a:rPr dirty="0" sz="1200">
                <a:latin typeface="Arial"/>
                <a:cs typeface="Arial"/>
              </a:rPr>
              <a:t> </a:t>
            </a:r>
            <a:r>
              <a:rPr dirty="0" sz="1200" spc="-5">
                <a:latin typeface="Arial"/>
                <a:cs typeface="Arial"/>
              </a:rPr>
              <a:t>society</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148</a:t>
            </a:r>
            <a:endParaRPr sz="1200">
              <a:latin typeface="Times New Roman"/>
              <a:cs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900" cy="916178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marL="469900" indent="-229235">
              <a:lnSpc>
                <a:spcPts val="1410"/>
              </a:lnSpc>
              <a:spcBef>
                <a:spcPts val="5"/>
              </a:spcBef>
              <a:buAutoNum type="arabicPeriod" startAt="16"/>
              <a:tabLst>
                <a:tab pos="470534" algn="l"/>
              </a:tabLst>
            </a:pPr>
            <a:r>
              <a:rPr dirty="0" sz="1200" spc="-5">
                <a:latin typeface="Arial"/>
                <a:cs typeface="Arial"/>
              </a:rPr>
              <a:t>They </a:t>
            </a:r>
            <a:r>
              <a:rPr dirty="0" sz="1200">
                <a:latin typeface="Arial"/>
                <a:cs typeface="Arial"/>
              </a:rPr>
              <a:t>say that </a:t>
            </a:r>
            <a:r>
              <a:rPr dirty="0" sz="1200" spc="-5">
                <a:latin typeface="Arial"/>
                <a:cs typeface="Arial"/>
              </a:rPr>
              <a:t>they possess supernatural</a:t>
            </a:r>
            <a:r>
              <a:rPr dirty="0" sz="1200" spc="-30">
                <a:latin typeface="Arial"/>
                <a:cs typeface="Arial"/>
              </a:rPr>
              <a:t> </a:t>
            </a:r>
            <a:r>
              <a:rPr dirty="0" sz="1200" spc="-5">
                <a:latin typeface="Arial"/>
                <a:cs typeface="Arial"/>
              </a:rPr>
              <a:t>power</a:t>
            </a:r>
            <a:endParaRPr sz="1200">
              <a:latin typeface="Arial"/>
              <a:cs typeface="Arial"/>
            </a:endParaRPr>
          </a:p>
          <a:p>
            <a:pPr marL="469900" indent="-229235">
              <a:lnSpc>
                <a:spcPts val="1380"/>
              </a:lnSpc>
              <a:buAutoNum type="arabicPeriod" startAt="16"/>
              <a:tabLst>
                <a:tab pos="470534" algn="l"/>
              </a:tabLst>
            </a:pPr>
            <a:r>
              <a:rPr dirty="0" sz="1200" spc="-5">
                <a:latin typeface="Arial"/>
                <a:cs typeface="Arial"/>
              </a:rPr>
              <a:t>They </a:t>
            </a:r>
            <a:r>
              <a:rPr dirty="0" sz="1200">
                <a:latin typeface="Arial"/>
                <a:cs typeface="Arial"/>
              </a:rPr>
              <a:t>say they can </a:t>
            </a:r>
            <a:r>
              <a:rPr dirty="0" sz="1200" spc="-5">
                <a:latin typeface="Arial"/>
                <a:cs typeface="Arial"/>
              </a:rPr>
              <a:t>predict the</a:t>
            </a:r>
            <a:r>
              <a:rPr dirty="0" sz="1200" spc="-50">
                <a:latin typeface="Arial"/>
                <a:cs typeface="Arial"/>
              </a:rPr>
              <a:t> </a:t>
            </a:r>
            <a:r>
              <a:rPr dirty="0" sz="1200">
                <a:latin typeface="Arial"/>
                <a:cs typeface="Arial"/>
              </a:rPr>
              <a:t>future</a:t>
            </a:r>
            <a:endParaRPr sz="1200">
              <a:latin typeface="Arial"/>
              <a:cs typeface="Arial"/>
            </a:endParaRPr>
          </a:p>
          <a:p>
            <a:pPr marL="469900" indent="-229235">
              <a:lnSpc>
                <a:spcPts val="1380"/>
              </a:lnSpc>
              <a:buAutoNum type="arabicPeriod" startAt="16"/>
              <a:tabLst>
                <a:tab pos="470534" algn="l"/>
              </a:tabLst>
            </a:pPr>
            <a:r>
              <a:rPr dirty="0" sz="1200" spc="-5">
                <a:latin typeface="Arial"/>
                <a:cs typeface="Arial"/>
              </a:rPr>
              <a:t>They </a:t>
            </a:r>
            <a:r>
              <a:rPr dirty="0" sz="1200">
                <a:latin typeface="Arial"/>
                <a:cs typeface="Arial"/>
              </a:rPr>
              <a:t>say they can do</a:t>
            </a:r>
            <a:r>
              <a:rPr dirty="0" sz="1200" spc="-65">
                <a:latin typeface="Arial"/>
                <a:cs typeface="Arial"/>
              </a:rPr>
              <a:t> </a:t>
            </a:r>
            <a:r>
              <a:rPr dirty="0" sz="1200" spc="-5">
                <a:latin typeface="Arial"/>
                <a:cs typeface="Arial"/>
              </a:rPr>
              <a:t>miracles</a:t>
            </a:r>
            <a:endParaRPr sz="1200">
              <a:latin typeface="Arial"/>
              <a:cs typeface="Arial"/>
            </a:endParaRPr>
          </a:p>
          <a:p>
            <a:pPr marL="469900" indent="-229235">
              <a:lnSpc>
                <a:spcPts val="1380"/>
              </a:lnSpc>
              <a:buAutoNum type="arabicPeriod" startAt="16"/>
              <a:tabLst>
                <a:tab pos="470534" algn="l"/>
              </a:tabLst>
            </a:pPr>
            <a:r>
              <a:rPr dirty="0" sz="1200" spc="-5">
                <a:latin typeface="Arial"/>
                <a:cs typeface="Arial"/>
              </a:rPr>
              <a:t>They </a:t>
            </a:r>
            <a:r>
              <a:rPr dirty="0" sz="1200">
                <a:latin typeface="Arial"/>
                <a:cs typeface="Arial"/>
              </a:rPr>
              <a:t>say they can </a:t>
            </a:r>
            <a:r>
              <a:rPr dirty="0" sz="1200" spc="-5">
                <a:latin typeface="Arial"/>
                <a:cs typeface="Arial"/>
              </a:rPr>
              <a:t>travel throughout </a:t>
            </a:r>
            <a:r>
              <a:rPr dirty="0" sz="1200">
                <a:latin typeface="Arial"/>
                <a:cs typeface="Arial"/>
              </a:rPr>
              <a:t>time </a:t>
            </a:r>
            <a:r>
              <a:rPr dirty="0" sz="1200" spc="-5">
                <a:latin typeface="Arial"/>
                <a:cs typeface="Arial"/>
              </a:rPr>
              <a:t>and</a:t>
            </a:r>
            <a:r>
              <a:rPr dirty="0" sz="1200" spc="-60">
                <a:latin typeface="Arial"/>
                <a:cs typeface="Arial"/>
              </a:rPr>
              <a:t> </a:t>
            </a:r>
            <a:r>
              <a:rPr dirty="0" sz="1200" spc="-5">
                <a:latin typeface="Arial"/>
                <a:cs typeface="Arial"/>
              </a:rPr>
              <a:t>space</a:t>
            </a:r>
            <a:endParaRPr sz="1200">
              <a:latin typeface="Arial"/>
              <a:cs typeface="Arial"/>
            </a:endParaRPr>
          </a:p>
          <a:p>
            <a:pPr marL="469900" marR="6985" indent="-228600">
              <a:lnSpc>
                <a:spcPts val="1380"/>
              </a:lnSpc>
              <a:spcBef>
                <a:spcPts val="65"/>
              </a:spcBef>
              <a:buAutoNum type="arabicPeriod" startAt="16"/>
              <a:tabLst>
                <a:tab pos="470534" algn="l"/>
              </a:tabLst>
            </a:pPr>
            <a:r>
              <a:rPr dirty="0" sz="1200" spc="-5">
                <a:latin typeface="Arial"/>
                <a:cs typeface="Arial"/>
              </a:rPr>
              <a:t>Some of them advice </a:t>
            </a:r>
            <a:r>
              <a:rPr dirty="0" sz="1200">
                <a:latin typeface="Arial"/>
                <a:cs typeface="Arial"/>
              </a:rPr>
              <a:t>their </a:t>
            </a:r>
            <a:r>
              <a:rPr dirty="0" sz="1200" spc="-5">
                <a:latin typeface="Arial"/>
                <a:cs typeface="Arial"/>
              </a:rPr>
              <a:t>followers not </a:t>
            </a:r>
            <a:r>
              <a:rPr dirty="0" sz="1200">
                <a:latin typeface="Arial"/>
                <a:cs typeface="Arial"/>
              </a:rPr>
              <a:t>to </a:t>
            </a:r>
            <a:r>
              <a:rPr dirty="0" sz="1200" spc="-5">
                <a:latin typeface="Arial"/>
                <a:cs typeface="Arial"/>
              </a:rPr>
              <a:t>perform Swalaat </a:t>
            </a:r>
            <a:r>
              <a:rPr dirty="0" sz="1200">
                <a:latin typeface="Arial"/>
                <a:cs typeface="Arial"/>
              </a:rPr>
              <a:t>– </a:t>
            </a:r>
            <a:r>
              <a:rPr dirty="0" sz="1200" spc="-5">
                <a:latin typeface="Arial"/>
                <a:cs typeface="Arial"/>
              </a:rPr>
              <a:t>they will </a:t>
            </a:r>
            <a:r>
              <a:rPr dirty="0" sz="1200">
                <a:latin typeface="Arial"/>
                <a:cs typeface="Arial"/>
              </a:rPr>
              <a:t>perform </a:t>
            </a:r>
            <a:r>
              <a:rPr dirty="0" sz="1200" spc="-5">
                <a:latin typeface="Arial"/>
                <a:cs typeface="Arial"/>
              </a:rPr>
              <a:t>the  ibaadah </a:t>
            </a:r>
            <a:r>
              <a:rPr dirty="0" sz="1200">
                <a:latin typeface="Arial"/>
                <a:cs typeface="Arial"/>
              </a:rPr>
              <a:t>for </a:t>
            </a:r>
            <a:r>
              <a:rPr dirty="0" sz="1200" spc="-5">
                <a:latin typeface="Arial"/>
                <a:cs typeface="Arial"/>
              </a:rPr>
              <a:t>the</a:t>
            </a:r>
            <a:r>
              <a:rPr dirty="0" sz="1200" spc="-20">
                <a:latin typeface="Arial"/>
                <a:cs typeface="Arial"/>
              </a:rPr>
              <a:t> </a:t>
            </a:r>
            <a:r>
              <a:rPr dirty="0" sz="1200" spc="-5">
                <a:latin typeface="Arial"/>
                <a:cs typeface="Arial"/>
              </a:rPr>
              <a:t>followers</a:t>
            </a:r>
            <a:endParaRPr sz="1200">
              <a:latin typeface="Arial"/>
              <a:cs typeface="Arial"/>
            </a:endParaRPr>
          </a:p>
          <a:p>
            <a:pPr marL="469900" indent="-229235">
              <a:lnSpc>
                <a:spcPts val="1315"/>
              </a:lnSpc>
              <a:buAutoNum type="arabicPeriod" startAt="16"/>
              <a:tabLst>
                <a:tab pos="470534" algn="l"/>
              </a:tabLst>
            </a:pPr>
            <a:r>
              <a:rPr dirty="0" sz="1200" spc="-5">
                <a:latin typeface="Arial"/>
                <a:cs typeface="Arial"/>
              </a:rPr>
              <a:t>Some spend their </a:t>
            </a:r>
            <a:r>
              <a:rPr dirty="0" sz="1200">
                <a:latin typeface="Arial"/>
                <a:cs typeface="Arial"/>
              </a:rPr>
              <a:t>time </a:t>
            </a:r>
            <a:r>
              <a:rPr dirty="0" sz="1200" spc="-5">
                <a:latin typeface="Arial"/>
                <a:cs typeface="Arial"/>
              </a:rPr>
              <a:t>in the ruins </a:t>
            </a:r>
            <a:r>
              <a:rPr dirty="0" sz="1200">
                <a:latin typeface="Arial"/>
                <a:cs typeface="Arial"/>
              </a:rPr>
              <a:t>– </a:t>
            </a:r>
            <a:r>
              <a:rPr dirty="0" sz="1200" spc="-5">
                <a:latin typeface="Arial"/>
                <a:cs typeface="Arial"/>
              </a:rPr>
              <a:t>away </a:t>
            </a:r>
            <a:r>
              <a:rPr dirty="0" sz="1200">
                <a:latin typeface="Arial"/>
                <a:cs typeface="Arial"/>
              </a:rPr>
              <a:t>from </a:t>
            </a:r>
            <a:r>
              <a:rPr dirty="0" sz="1200" spc="-5">
                <a:latin typeface="Arial"/>
                <a:cs typeface="Arial"/>
              </a:rPr>
              <a:t>society </a:t>
            </a:r>
            <a:r>
              <a:rPr dirty="0" sz="1200">
                <a:latin typeface="Arial"/>
                <a:cs typeface="Arial"/>
              </a:rPr>
              <a:t>and </a:t>
            </a:r>
            <a:r>
              <a:rPr dirty="0" sz="1200" spc="-5">
                <a:latin typeface="Arial"/>
                <a:cs typeface="Arial"/>
              </a:rPr>
              <a:t>family</a:t>
            </a:r>
            <a:endParaRPr sz="1200">
              <a:latin typeface="Arial"/>
              <a:cs typeface="Arial"/>
            </a:endParaRPr>
          </a:p>
          <a:p>
            <a:pPr marL="469900" indent="-229235">
              <a:lnSpc>
                <a:spcPts val="1380"/>
              </a:lnSpc>
              <a:buAutoNum type="arabicPeriod" startAt="16"/>
              <a:tabLst>
                <a:tab pos="470534" algn="l"/>
              </a:tabLst>
            </a:pPr>
            <a:r>
              <a:rPr dirty="0" sz="1200" spc="-5">
                <a:latin typeface="Arial"/>
                <a:cs typeface="Arial"/>
              </a:rPr>
              <a:t>They </a:t>
            </a:r>
            <a:r>
              <a:rPr dirty="0" sz="1200">
                <a:latin typeface="Arial"/>
                <a:cs typeface="Arial"/>
              </a:rPr>
              <a:t>order </a:t>
            </a:r>
            <a:r>
              <a:rPr dirty="0" sz="1200" spc="-5">
                <a:latin typeface="Arial"/>
                <a:cs typeface="Arial"/>
              </a:rPr>
              <a:t>their students things against</a:t>
            </a:r>
            <a:r>
              <a:rPr dirty="0" sz="1200" spc="-10">
                <a:latin typeface="Arial"/>
                <a:cs typeface="Arial"/>
              </a:rPr>
              <a:t> </a:t>
            </a:r>
            <a:r>
              <a:rPr dirty="0" sz="1200" spc="-5">
                <a:latin typeface="Arial"/>
                <a:cs typeface="Arial"/>
              </a:rPr>
              <a:t>Shari‘ah</a:t>
            </a:r>
            <a:endParaRPr sz="1200">
              <a:latin typeface="Arial"/>
              <a:cs typeface="Arial"/>
            </a:endParaRPr>
          </a:p>
          <a:p>
            <a:pPr marL="469900" indent="-229235">
              <a:lnSpc>
                <a:spcPts val="1380"/>
              </a:lnSpc>
              <a:buAutoNum type="arabicPeriod" startAt="16"/>
              <a:tabLst>
                <a:tab pos="470534" algn="l"/>
              </a:tabLst>
            </a:pPr>
            <a:r>
              <a:rPr dirty="0" sz="1200" spc="-5">
                <a:latin typeface="Arial"/>
                <a:cs typeface="Arial"/>
              </a:rPr>
              <a:t>Complete submission </a:t>
            </a:r>
            <a:r>
              <a:rPr dirty="0" sz="1200">
                <a:latin typeface="Arial"/>
                <a:cs typeface="Arial"/>
              </a:rPr>
              <a:t>from </a:t>
            </a:r>
            <a:r>
              <a:rPr dirty="0" sz="1200" spc="-5">
                <a:latin typeface="Arial"/>
                <a:cs typeface="Arial"/>
              </a:rPr>
              <a:t>the followers </a:t>
            </a:r>
            <a:r>
              <a:rPr dirty="0" sz="1200" spc="5">
                <a:latin typeface="Arial"/>
                <a:cs typeface="Arial"/>
              </a:rPr>
              <a:t>to </a:t>
            </a:r>
            <a:r>
              <a:rPr dirty="0" sz="1200" spc="-5">
                <a:latin typeface="Arial"/>
                <a:cs typeface="Arial"/>
              </a:rPr>
              <a:t>the </a:t>
            </a:r>
            <a:r>
              <a:rPr dirty="0" sz="1200" spc="-10">
                <a:latin typeface="Arial"/>
                <a:cs typeface="Arial"/>
              </a:rPr>
              <a:t>will </a:t>
            </a:r>
            <a:r>
              <a:rPr dirty="0" sz="1200">
                <a:latin typeface="Arial"/>
                <a:cs typeface="Arial"/>
              </a:rPr>
              <a:t>of </a:t>
            </a:r>
            <a:r>
              <a:rPr dirty="0" sz="1200" spc="-5">
                <a:latin typeface="Arial"/>
                <a:cs typeface="Arial"/>
              </a:rPr>
              <a:t>their</a:t>
            </a:r>
            <a:r>
              <a:rPr dirty="0" sz="1200" spc="35">
                <a:latin typeface="Arial"/>
                <a:cs typeface="Arial"/>
              </a:rPr>
              <a:t> </a:t>
            </a:r>
            <a:r>
              <a:rPr dirty="0" sz="1200" spc="-5">
                <a:latin typeface="Arial"/>
                <a:cs typeface="Arial"/>
              </a:rPr>
              <a:t>leaders</a:t>
            </a:r>
            <a:endParaRPr sz="1200">
              <a:latin typeface="Arial"/>
              <a:cs typeface="Arial"/>
            </a:endParaRPr>
          </a:p>
          <a:p>
            <a:pPr marL="469900" indent="-229235">
              <a:lnSpc>
                <a:spcPts val="1380"/>
              </a:lnSpc>
              <a:buAutoNum type="arabicPeriod" startAt="16"/>
              <a:tabLst>
                <a:tab pos="470534" algn="l"/>
              </a:tabLst>
            </a:pPr>
            <a:r>
              <a:rPr dirty="0" sz="1200" spc="-5">
                <a:latin typeface="Arial"/>
                <a:cs typeface="Arial"/>
              </a:rPr>
              <a:t>Creation of Khanqa </a:t>
            </a:r>
            <a:r>
              <a:rPr dirty="0" sz="1200">
                <a:latin typeface="Arial"/>
                <a:cs typeface="Arial"/>
              </a:rPr>
              <a:t>to stay apart </a:t>
            </a:r>
            <a:r>
              <a:rPr dirty="0" sz="1200" spc="-5">
                <a:latin typeface="Arial"/>
                <a:cs typeface="Arial"/>
              </a:rPr>
              <a:t>from this</a:t>
            </a:r>
            <a:r>
              <a:rPr dirty="0" sz="1200" spc="-25">
                <a:latin typeface="Arial"/>
                <a:cs typeface="Arial"/>
              </a:rPr>
              <a:t> </a:t>
            </a:r>
            <a:r>
              <a:rPr dirty="0" sz="1200" spc="-10">
                <a:latin typeface="Arial"/>
                <a:cs typeface="Arial"/>
              </a:rPr>
              <a:t>world</a:t>
            </a:r>
            <a:endParaRPr sz="1200">
              <a:latin typeface="Arial"/>
              <a:cs typeface="Arial"/>
            </a:endParaRPr>
          </a:p>
          <a:p>
            <a:pPr marL="469900" indent="-229235">
              <a:lnSpc>
                <a:spcPts val="1410"/>
              </a:lnSpc>
              <a:buAutoNum type="arabicPeriod" startAt="16"/>
              <a:tabLst>
                <a:tab pos="470534" algn="l"/>
              </a:tabLst>
            </a:pPr>
            <a:r>
              <a:rPr dirty="0" sz="1200" spc="-5">
                <a:latin typeface="Arial"/>
                <a:cs typeface="Arial"/>
              </a:rPr>
              <a:t>Pretended disgust against </a:t>
            </a:r>
            <a:r>
              <a:rPr dirty="0" sz="1200">
                <a:latin typeface="Arial"/>
                <a:cs typeface="Arial"/>
              </a:rPr>
              <a:t>this </a:t>
            </a:r>
            <a:r>
              <a:rPr dirty="0" sz="1200" spc="-5">
                <a:latin typeface="Arial"/>
                <a:cs typeface="Arial"/>
              </a:rPr>
              <a:t>worldly luxuries and life</a:t>
            </a:r>
            <a:endParaRPr sz="12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u="heavy" sz="1200" spc="-5" b="1" i="1">
                <a:uFill>
                  <a:solidFill>
                    <a:srgbClr val="000000"/>
                  </a:solidFill>
                </a:uFill>
                <a:latin typeface="Arial"/>
                <a:cs typeface="Arial"/>
              </a:rPr>
              <a:t>Contribution of Al </a:t>
            </a:r>
            <a:r>
              <a:rPr dirty="0" u="heavy" sz="1200" b="1" i="1">
                <a:uFill>
                  <a:solidFill>
                    <a:srgbClr val="000000"/>
                  </a:solidFill>
                </a:uFill>
                <a:latin typeface="Arial"/>
                <a:cs typeface="Arial"/>
              </a:rPr>
              <a:t>Ghazzali </a:t>
            </a:r>
            <a:r>
              <a:rPr dirty="0" u="heavy" sz="1200" spc="-5" b="1" i="1">
                <a:uFill>
                  <a:solidFill>
                    <a:srgbClr val="000000"/>
                  </a:solidFill>
                </a:uFill>
                <a:latin typeface="Arial"/>
                <a:cs typeface="Arial"/>
              </a:rPr>
              <a:t>(1058 </a:t>
            </a:r>
            <a:r>
              <a:rPr dirty="0" u="heavy" sz="1200" b="1" i="1">
                <a:uFill>
                  <a:solidFill>
                    <a:srgbClr val="000000"/>
                  </a:solidFill>
                </a:uFill>
                <a:latin typeface="Arial"/>
                <a:cs typeface="Arial"/>
              </a:rPr>
              <a:t>–</a:t>
            </a:r>
            <a:r>
              <a:rPr dirty="0" u="heavy" sz="1200" spc="25" b="1" i="1">
                <a:uFill>
                  <a:solidFill>
                    <a:srgbClr val="000000"/>
                  </a:solidFill>
                </a:uFill>
                <a:latin typeface="Arial"/>
                <a:cs typeface="Arial"/>
              </a:rPr>
              <a:t> </a:t>
            </a:r>
            <a:r>
              <a:rPr dirty="0" u="heavy" sz="1200" spc="-5" b="1" i="1">
                <a:uFill>
                  <a:solidFill>
                    <a:srgbClr val="000000"/>
                  </a:solidFill>
                </a:uFill>
                <a:latin typeface="Arial"/>
                <a:cs typeface="Arial"/>
              </a:rPr>
              <a:t>1111)</a:t>
            </a:r>
            <a:endParaRPr sz="1200">
              <a:latin typeface="Arial"/>
              <a:cs typeface="Arial"/>
            </a:endParaRPr>
          </a:p>
          <a:p>
            <a:pPr>
              <a:lnSpc>
                <a:spcPct val="100000"/>
              </a:lnSpc>
              <a:spcBef>
                <a:spcPts val="25"/>
              </a:spcBef>
            </a:pPr>
            <a:endParaRPr sz="1200">
              <a:latin typeface="Arial"/>
              <a:cs typeface="Arial"/>
            </a:endParaRPr>
          </a:p>
          <a:p>
            <a:pPr algn="just" marL="12700" marR="5080">
              <a:lnSpc>
                <a:spcPts val="1380"/>
              </a:lnSpc>
            </a:pPr>
            <a:r>
              <a:rPr dirty="0" sz="1200" spc="-5" i="1">
                <a:latin typeface="Arial"/>
                <a:cs typeface="Arial"/>
              </a:rPr>
              <a:t>He </a:t>
            </a:r>
            <a:r>
              <a:rPr dirty="0" sz="1200" i="1">
                <a:latin typeface="Arial"/>
                <a:cs typeface="Arial"/>
              </a:rPr>
              <a:t>was </a:t>
            </a:r>
            <a:r>
              <a:rPr dirty="0" sz="1200" spc="-5" i="1">
                <a:latin typeface="Arial"/>
                <a:cs typeface="Arial"/>
              </a:rPr>
              <a:t>also involved </a:t>
            </a:r>
            <a:r>
              <a:rPr dirty="0" sz="1200" spc="-10" i="1">
                <a:latin typeface="Arial"/>
                <a:cs typeface="Arial"/>
              </a:rPr>
              <a:t>in </a:t>
            </a:r>
            <a:r>
              <a:rPr dirty="0" sz="1200" spc="-5" i="1">
                <a:latin typeface="Arial"/>
                <a:cs typeface="Arial"/>
              </a:rPr>
              <a:t>Sufi practices </a:t>
            </a:r>
            <a:r>
              <a:rPr dirty="0" sz="1200" i="1">
                <a:latin typeface="Arial"/>
                <a:cs typeface="Arial"/>
              </a:rPr>
              <a:t>from </a:t>
            </a:r>
            <a:r>
              <a:rPr dirty="0" sz="1200" spc="-5" i="1">
                <a:latin typeface="Arial"/>
                <a:cs typeface="Arial"/>
              </a:rPr>
              <a:t>an early </a:t>
            </a:r>
            <a:r>
              <a:rPr dirty="0" sz="1200" spc="5" i="1">
                <a:latin typeface="Arial"/>
                <a:cs typeface="Arial"/>
              </a:rPr>
              <a:t>age, </a:t>
            </a:r>
            <a:r>
              <a:rPr dirty="0" sz="1200" spc="-10" i="1">
                <a:latin typeface="Arial"/>
                <a:cs typeface="Arial"/>
              </a:rPr>
              <a:t>he </a:t>
            </a:r>
            <a:r>
              <a:rPr dirty="0" sz="1200" i="1">
                <a:latin typeface="Arial"/>
                <a:cs typeface="Arial"/>
              </a:rPr>
              <a:t>was </a:t>
            </a:r>
            <a:r>
              <a:rPr dirty="0" sz="1200" spc="-10" i="1">
                <a:latin typeface="Arial"/>
                <a:cs typeface="Arial"/>
              </a:rPr>
              <a:t>the </a:t>
            </a:r>
            <a:r>
              <a:rPr dirty="0" sz="1200" spc="-5" i="1">
                <a:latin typeface="Arial"/>
                <a:cs typeface="Arial"/>
              </a:rPr>
              <a:t>Intellectual head of the  </a:t>
            </a:r>
            <a:r>
              <a:rPr dirty="0" sz="1200" spc="-5" i="1">
                <a:latin typeface="Arial"/>
                <a:cs typeface="Arial"/>
              </a:rPr>
              <a:t>Islamic community </a:t>
            </a:r>
            <a:r>
              <a:rPr dirty="0" sz="1200" i="1">
                <a:latin typeface="Arial"/>
                <a:cs typeface="Arial"/>
              </a:rPr>
              <a:t>(1091), </a:t>
            </a:r>
            <a:r>
              <a:rPr dirty="0" sz="1200" spc="-10" i="1">
                <a:latin typeface="Arial"/>
                <a:cs typeface="Arial"/>
              </a:rPr>
              <a:t>he </a:t>
            </a:r>
            <a:r>
              <a:rPr dirty="0" sz="1200" i="1">
                <a:latin typeface="Arial"/>
                <a:cs typeface="Arial"/>
              </a:rPr>
              <a:t>was </a:t>
            </a:r>
            <a:r>
              <a:rPr dirty="0" sz="1200" spc="-5" i="1">
                <a:latin typeface="Arial"/>
                <a:cs typeface="Arial"/>
              </a:rPr>
              <a:t>lecturing on Islamic jurisprudence and four years later,  however, al-Ghazzali </a:t>
            </a:r>
            <a:r>
              <a:rPr dirty="0" sz="1200" i="1">
                <a:latin typeface="Arial"/>
                <a:cs typeface="Arial"/>
              </a:rPr>
              <a:t>fell </a:t>
            </a:r>
            <a:r>
              <a:rPr dirty="0" sz="1200" spc="-5" i="1">
                <a:latin typeface="Arial"/>
                <a:cs typeface="Arial"/>
              </a:rPr>
              <a:t>into a serious spiritual crisis and finally left </a:t>
            </a:r>
            <a:r>
              <a:rPr dirty="0" sz="1200" i="1">
                <a:latin typeface="Arial"/>
                <a:cs typeface="Arial"/>
              </a:rPr>
              <a:t>Baghdad. After  </a:t>
            </a:r>
            <a:r>
              <a:rPr dirty="0" sz="1200" spc="-5" i="1">
                <a:latin typeface="Arial"/>
                <a:cs typeface="Arial"/>
              </a:rPr>
              <a:t>wandering in Syria </a:t>
            </a:r>
            <a:r>
              <a:rPr dirty="0" sz="1200" spc="-10" i="1">
                <a:latin typeface="Arial"/>
                <a:cs typeface="Arial"/>
              </a:rPr>
              <a:t>and </a:t>
            </a:r>
            <a:r>
              <a:rPr dirty="0" sz="1200" spc="-5" i="1">
                <a:latin typeface="Arial"/>
                <a:cs typeface="Arial"/>
              </a:rPr>
              <a:t>Palestine </a:t>
            </a:r>
            <a:r>
              <a:rPr dirty="0" sz="1200" i="1">
                <a:latin typeface="Arial"/>
                <a:cs typeface="Arial"/>
              </a:rPr>
              <a:t>for </a:t>
            </a:r>
            <a:r>
              <a:rPr dirty="0" sz="1200" spc="-5" i="1">
                <a:latin typeface="Arial"/>
                <a:cs typeface="Arial"/>
              </a:rPr>
              <a:t>about two years and </a:t>
            </a:r>
            <a:r>
              <a:rPr dirty="0" sz="1200" i="1">
                <a:latin typeface="Arial"/>
                <a:cs typeface="Arial"/>
              </a:rPr>
              <a:t>finishing the </a:t>
            </a:r>
            <a:r>
              <a:rPr dirty="0" sz="1200" spc="-5" i="1">
                <a:latin typeface="Arial"/>
                <a:cs typeface="Arial"/>
              </a:rPr>
              <a:t>pilgrimage to Mecca,  he returned </a:t>
            </a:r>
            <a:r>
              <a:rPr dirty="0" sz="1200" spc="-10" i="1">
                <a:latin typeface="Arial"/>
                <a:cs typeface="Arial"/>
              </a:rPr>
              <a:t>to </a:t>
            </a:r>
            <a:r>
              <a:rPr dirty="0" sz="1200" i="1">
                <a:latin typeface="Arial"/>
                <a:cs typeface="Arial"/>
              </a:rPr>
              <a:t>Tus, </a:t>
            </a:r>
            <a:r>
              <a:rPr dirty="0" sz="1200" spc="-5" i="1">
                <a:latin typeface="Arial"/>
                <a:cs typeface="Arial"/>
              </a:rPr>
              <a:t>where he </a:t>
            </a:r>
            <a:r>
              <a:rPr dirty="0" sz="1200" i="1">
                <a:latin typeface="Arial"/>
                <a:cs typeface="Arial"/>
              </a:rPr>
              <a:t>was </a:t>
            </a:r>
            <a:r>
              <a:rPr dirty="0" sz="1200" spc="-5" i="1">
                <a:latin typeface="Arial"/>
                <a:cs typeface="Arial"/>
              </a:rPr>
              <a:t>engaged in writing, Sufi practices and teaching his  disciples until his death. His realization </a:t>
            </a:r>
            <a:r>
              <a:rPr dirty="0" sz="1200" i="1">
                <a:latin typeface="Arial"/>
                <a:cs typeface="Arial"/>
              </a:rPr>
              <a:t>that there was </a:t>
            </a:r>
            <a:r>
              <a:rPr dirty="0" sz="1200" spc="-5" i="1">
                <a:latin typeface="Arial"/>
                <a:cs typeface="Arial"/>
              </a:rPr>
              <a:t>no </a:t>
            </a:r>
            <a:r>
              <a:rPr dirty="0" sz="1200" i="1">
                <a:latin typeface="Arial"/>
                <a:cs typeface="Arial"/>
              </a:rPr>
              <a:t>way </a:t>
            </a:r>
            <a:r>
              <a:rPr dirty="0" sz="1200" spc="-5" i="1">
                <a:latin typeface="Arial"/>
                <a:cs typeface="Arial"/>
              </a:rPr>
              <a:t>to certain knowledge or the  conviction </a:t>
            </a:r>
            <a:r>
              <a:rPr dirty="0" sz="1200" i="1">
                <a:latin typeface="Arial"/>
                <a:cs typeface="Arial"/>
              </a:rPr>
              <a:t>of </a:t>
            </a:r>
            <a:r>
              <a:rPr dirty="0" sz="1200" spc="-5" i="1">
                <a:latin typeface="Arial"/>
                <a:cs typeface="Arial"/>
              </a:rPr>
              <a:t>revelatory truth except through</a:t>
            </a:r>
            <a:r>
              <a:rPr dirty="0" sz="1200" spc="30" i="1">
                <a:latin typeface="Arial"/>
                <a:cs typeface="Arial"/>
              </a:rPr>
              <a:t> </a:t>
            </a:r>
            <a:r>
              <a:rPr dirty="0" sz="1200" spc="-5" i="1">
                <a:latin typeface="Arial"/>
                <a:cs typeface="Arial"/>
              </a:rPr>
              <a:t>Sufism</a:t>
            </a:r>
            <a:endParaRPr sz="1200">
              <a:latin typeface="Arial"/>
              <a:cs typeface="Arial"/>
            </a:endParaRPr>
          </a:p>
          <a:p>
            <a:pPr>
              <a:lnSpc>
                <a:spcPct val="100000"/>
              </a:lnSpc>
              <a:spcBef>
                <a:spcPts val="30"/>
              </a:spcBef>
            </a:pPr>
            <a:endParaRPr sz="1100">
              <a:latin typeface="Arial"/>
              <a:cs typeface="Arial"/>
            </a:endParaRPr>
          </a:p>
          <a:p>
            <a:pPr algn="just" marL="12700">
              <a:lnSpc>
                <a:spcPct val="100000"/>
              </a:lnSpc>
            </a:pPr>
            <a:r>
              <a:rPr dirty="0" u="heavy" sz="1200" spc="-5" b="1" i="1">
                <a:uFill>
                  <a:solidFill>
                    <a:srgbClr val="000000"/>
                  </a:solidFill>
                </a:uFill>
                <a:latin typeface="Arial"/>
                <a:cs typeface="Arial"/>
              </a:rPr>
              <a:t>Reconciliation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Islam </a:t>
            </a:r>
            <a:r>
              <a:rPr dirty="0" u="heavy" sz="1200" b="1" i="1">
                <a:uFill>
                  <a:solidFill>
                    <a:srgbClr val="000000"/>
                  </a:solidFill>
                </a:uFill>
                <a:latin typeface="Arial"/>
                <a:cs typeface="Arial"/>
              </a:rPr>
              <a:t>with </a:t>
            </a:r>
            <a:r>
              <a:rPr dirty="0" u="heavy" sz="1200" spc="-5" b="1" i="1">
                <a:uFill>
                  <a:solidFill>
                    <a:srgbClr val="000000"/>
                  </a:solidFill>
                </a:uFill>
                <a:latin typeface="Arial"/>
                <a:cs typeface="Arial"/>
              </a:rPr>
              <a:t>Sufism from Al</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Ghazzali</a:t>
            </a:r>
            <a:endParaRPr sz="1200">
              <a:latin typeface="Arial"/>
              <a:cs typeface="Arial"/>
            </a:endParaRPr>
          </a:p>
          <a:p>
            <a:pPr>
              <a:lnSpc>
                <a:spcPct val="100000"/>
              </a:lnSpc>
              <a:spcBef>
                <a:spcPts val="25"/>
              </a:spcBef>
            </a:pPr>
            <a:endParaRPr sz="1200">
              <a:latin typeface="Arial"/>
              <a:cs typeface="Arial"/>
            </a:endParaRPr>
          </a:p>
          <a:p>
            <a:pPr marL="469900" marR="5715" indent="-228600">
              <a:lnSpc>
                <a:spcPts val="1380"/>
              </a:lnSpc>
              <a:buFont typeface="Arial"/>
              <a:buAutoNum type="arabicPeriod"/>
              <a:tabLst>
                <a:tab pos="414020" algn="l"/>
              </a:tabLst>
            </a:pPr>
            <a:r>
              <a:rPr dirty="0" sz="1200" spc="-5" i="1">
                <a:latin typeface="Arial"/>
                <a:cs typeface="Arial"/>
              </a:rPr>
              <a:t>Attained to that truth in </a:t>
            </a:r>
            <a:r>
              <a:rPr dirty="0" sz="1200" i="1">
                <a:latin typeface="Arial"/>
                <a:cs typeface="Arial"/>
              </a:rPr>
              <a:t>the ecstatic </a:t>
            </a:r>
            <a:r>
              <a:rPr dirty="0" sz="1200" spc="-5" i="1">
                <a:latin typeface="Arial"/>
                <a:cs typeface="Arial"/>
              </a:rPr>
              <a:t>state </a:t>
            </a:r>
            <a:r>
              <a:rPr dirty="0" sz="1200" i="1">
                <a:latin typeface="Arial"/>
                <a:cs typeface="Arial"/>
              </a:rPr>
              <a:t>(fana') </a:t>
            </a:r>
            <a:r>
              <a:rPr dirty="0" sz="1200" spc="-5" i="1">
                <a:latin typeface="Arial"/>
                <a:cs typeface="Arial"/>
              </a:rPr>
              <a:t>of </a:t>
            </a:r>
            <a:r>
              <a:rPr dirty="0" sz="1200" i="1">
                <a:latin typeface="Arial"/>
                <a:cs typeface="Arial"/>
              </a:rPr>
              <a:t>the </a:t>
            </a:r>
            <a:r>
              <a:rPr dirty="0" sz="1200" spc="-5" i="1">
                <a:latin typeface="Arial"/>
                <a:cs typeface="Arial"/>
              </a:rPr>
              <a:t>Sufi </a:t>
            </a:r>
            <a:r>
              <a:rPr dirty="0" sz="1200" i="1">
                <a:latin typeface="Arial"/>
                <a:cs typeface="Arial"/>
              </a:rPr>
              <a:t>– the </a:t>
            </a:r>
            <a:r>
              <a:rPr dirty="0" sz="1200" spc="-5" i="1">
                <a:latin typeface="Arial"/>
                <a:cs typeface="Arial"/>
              </a:rPr>
              <a:t>best </a:t>
            </a:r>
            <a:r>
              <a:rPr dirty="0" sz="1200" i="1">
                <a:latin typeface="Arial"/>
                <a:cs typeface="Arial"/>
              </a:rPr>
              <a:t>way </a:t>
            </a:r>
            <a:r>
              <a:rPr dirty="0" sz="1200" spc="-5" i="1">
                <a:latin typeface="Arial"/>
                <a:cs typeface="Arial"/>
              </a:rPr>
              <a:t>for  </a:t>
            </a:r>
            <a:r>
              <a:rPr dirty="0" sz="1200" spc="-5" i="1">
                <a:latin typeface="Arial"/>
                <a:cs typeface="Arial"/>
              </a:rPr>
              <a:t>concentration</a:t>
            </a:r>
            <a:endParaRPr sz="1200">
              <a:latin typeface="Arial"/>
              <a:cs typeface="Arial"/>
            </a:endParaRPr>
          </a:p>
          <a:p>
            <a:pPr marL="413384" indent="-172720">
              <a:lnSpc>
                <a:spcPts val="1315"/>
              </a:lnSpc>
              <a:buFont typeface="Arial"/>
              <a:buAutoNum type="arabicPeriod"/>
              <a:tabLst>
                <a:tab pos="414020" algn="l"/>
              </a:tabLst>
            </a:pPr>
            <a:r>
              <a:rPr dirty="0" sz="1200" spc="-5" i="1">
                <a:latin typeface="Arial"/>
                <a:cs typeface="Arial"/>
              </a:rPr>
              <a:t>The </a:t>
            </a:r>
            <a:r>
              <a:rPr dirty="0" sz="1200" i="1">
                <a:latin typeface="Arial"/>
                <a:cs typeface="Arial"/>
              </a:rPr>
              <a:t>religious </a:t>
            </a:r>
            <a:r>
              <a:rPr dirty="0" sz="1200" spc="-5" i="1">
                <a:latin typeface="Arial"/>
                <a:cs typeface="Arial"/>
              </a:rPr>
              <a:t>sciences upon the basis of Sufism</a:t>
            </a:r>
            <a:endParaRPr sz="1200">
              <a:latin typeface="Arial"/>
              <a:cs typeface="Arial"/>
            </a:endParaRPr>
          </a:p>
          <a:p>
            <a:pPr marL="413384" indent="-172720">
              <a:lnSpc>
                <a:spcPts val="1380"/>
              </a:lnSpc>
              <a:buFont typeface="Arial"/>
              <a:buAutoNum type="arabicPeriod"/>
              <a:tabLst>
                <a:tab pos="414020" algn="l"/>
              </a:tabLst>
            </a:pPr>
            <a:r>
              <a:rPr dirty="0" sz="1200" spc="-5" i="1">
                <a:latin typeface="Arial"/>
                <a:cs typeface="Arial"/>
              </a:rPr>
              <a:t>To search for </a:t>
            </a:r>
            <a:r>
              <a:rPr dirty="0" sz="1200" spc="-10" i="1">
                <a:latin typeface="Arial"/>
                <a:cs typeface="Arial"/>
              </a:rPr>
              <a:t>the true </a:t>
            </a:r>
            <a:r>
              <a:rPr dirty="0" sz="1200" spc="-5" i="1">
                <a:latin typeface="Arial"/>
                <a:cs typeface="Arial"/>
              </a:rPr>
              <a:t>reality of</a:t>
            </a:r>
            <a:r>
              <a:rPr dirty="0" sz="1200" spc="20" i="1">
                <a:latin typeface="Arial"/>
                <a:cs typeface="Arial"/>
              </a:rPr>
              <a:t> </a:t>
            </a:r>
            <a:r>
              <a:rPr dirty="0" sz="1200" spc="-5" i="1">
                <a:latin typeface="Arial"/>
                <a:cs typeface="Arial"/>
              </a:rPr>
              <a:t>things</a:t>
            </a:r>
            <a:endParaRPr sz="1200">
              <a:latin typeface="Arial"/>
              <a:cs typeface="Arial"/>
            </a:endParaRPr>
          </a:p>
          <a:p>
            <a:pPr algn="just" marL="469900" marR="11430" indent="-228600">
              <a:lnSpc>
                <a:spcPts val="1380"/>
              </a:lnSpc>
              <a:spcBef>
                <a:spcPts val="70"/>
              </a:spcBef>
              <a:buFont typeface="Arial"/>
              <a:buAutoNum type="arabicPeriod"/>
              <a:tabLst>
                <a:tab pos="414020" algn="l"/>
              </a:tabLst>
            </a:pPr>
            <a:r>
              <a:rPr dirty="0" sz="1200" spc="-5" i="1">
                <a:latin typeface="Arial"/>
                <a:cs typeface="Arial"/>
              </a:rPr>
              <a:t>To set out </a:t>
            </a:r>
            <a:r>
              <a:rPr dirty="0" sz="1200" spc="-10" i="1">
                <a:latin typeface="Arial"/>
                <a:cs typeface="Arial"/>
              </a:rPr>
              <a:t>to examine </a:t>
            </a:r>
            <a:r>
              <a:rPr dirty="0" sz="1200" i="1">
                <a:latin typeface="Arial"/>
                <a:cs typeface="Arial"/>
              </a:rPr>
              <a:t>the </a:t>
            </a:r>
            <a:r>
              <a:rPr dirty="0" sz="1200" spc="-5" i="1">
                <a:latin typeface="Arial"/>
                <a:cs typeface="Arial"/>
              </a:rPr>
              <a:t>teachings of 'the seekers after truth': the theologians,  </a:t>
            </a:r>
            <a:r>
              <a:rPr dirty="0" sz="1200" spc="-5" i="1">
                <a:latin typeface="Arial"/>
                <a:cs typeface="Arial"/>
              </a:rPr>
              <a:t>philosophers, Isma'ilis and Sufis.</a:t>
            </a:r>
            <a:endParaRPr sz="1200">
              <a:latin typeface="Arial"/>
              <a:cs typeface="Arial"/>
            </a:endParaRPr>
          </a:p>
          <a:p>
            <a:pPr algn="just" marL="469900" marR="6985" indent="-228600">
              <a:lnSpc>
                <a:spcPts val="1380"/>
              </a:lnSpc>
              <a:buFont typeface="Arial"/>
              <a:buAutoNum type="arabicPeriod"/>
              <a:tabLst>
                <a:tab pos="414020" algn="l"/>
              </a:tabLst>
            </a:pPr>
            <a:r>
              <a:rPr dirty="0" sz="1200" spc="-5" i="1">
                <a:latin typeface="Arial"/>
                <a:cs typeface="Arial"/>
              </a:rPr>
              <a:t>In order </a:t>
            </a:r>
            <a:r>
              <a:rPr dirty="0" sz="1200" spc="-10" i="1">
                <a:latin typeface="Arial"/>
                <a:cs typeface="Arial"/>
              </a:rPr>
              <a:t>to </a:t>
            </a:r>
            <a:r>
              <a:rPr dirty="0" sz="1200" spc="-5" i="1">
                <a:latin typeface="Arial"/>
                <a:cs typeface="Arial"/>
              </a:rPr>
              <a:t>reach this ultimate truth </a:t>
            </a:r>
            <a:r>
              <a:rPr dirty="0" sz="1200" spc="-10" i="1">
                <a:latin typeface="Arial"/>
                <a:cs typeface="Arial"/>
              </a:rPr>
              <a:t>of </a:t>
            </a:r>
            <a:r>
              <a:rPr dirty="0" sz="1200" spc="-5" i="1">
                <a:latin typeface="Arial"/>
                <a:cs typeface="Arial"/>
              </a:rPr>
              <a:t>the Sufis, however, it is first necessary </a:t>
            </a:r>
            <a:r>
              <a:rPr dirty="0" sz="1200" spc="-10" i="1">
                <a:latin typeface="Arial"/>
                <a:cs typeface="Arial"/>
              </a:rPr>
              <a:t>to  </a:t>
            </a:r>
            <a:r>
              <a:rPr dirty="0" sz="1200" spc="-5" i="1">
                <a:latin typeface="Arial"/>
                <a:cs typeface="Arial"/>
              </a:rPr>
              <a:t>renounce </a:t>
            </a:r>
            <a:r>
              <a:rPr dirty="0" sz="1200" i="1">
                <a:latin typeface="Arial"/>
                <a:cs typeface="Arial"/>
              </a:rPr>
              <a:t>the </a:t>
            </a:r>
            <a:r>
              <a:rPr dirty="0" sz="1200" spc="-5" i="1">
                <a:latin typeface="Arial"/>
                <a:cs typeface="Arial"/>
              </a:rPr>
              <a:t>race for </a:t>
            </a:r>
            <a:r>
              <a:rPr dirty="0" sz="1200" i="1">
                <a:latin typeface="Arial"/>
                <a:cs typeface="Arial"/>
              </a:rPr>
              <a:t>the </a:t>
            </a:r>
            <a:r>
              <a:rPr dirty="0" sz="1200" spc="-5" i="1">
                <a:latin typeface="Arial"/>
                <a:cs typeface="Arial"/>
              </a:rPr>
              <a:t>world and to devote oneself to </a:t>
            </a:r>
            <a:r>
              <a:rPr dirty="0" sz="1200" i="1">
                <a:latin typeface="Arial"/>
                <a:cs typeface="Arial"/>
              </a:rPr>
              <a:t>mystical </a:t>
            </a:r>
            <a:r>
              <a:rPr dirty="0" sz="1200" spc="-5" i="1">
                <a:latin typeface="Arial"/>
                <a:cs typeface="Arial"/>
              </a:rPr>
              <a:t>and spiritual  practices</a:t>
            </a:r>
            <a:endParaRPr sz="1200">
              <a:latin typeface="Arial"/>
              <a:cs typeface="Arial"/>
            </a:endParaRPr>
          </a:p>
          <a:p>
            <a:pPr algn="just" marL="469900" marR="12700" indent="-228600">
              <a:lnSpc>
                <a:spcPts val="1380"/>
              </a:lnSpc>
              <a:buFont typeface="Arial"/>
              <a:buAutoNum type="arabicPeriod"/>
              <a:tabLst>
                <a:tab pos="414020" algn="l"/>
              </a:tabLst>
            </a:pPr>
            <a:r>
              <a:rPr dirty="0" sz="1200" spc="-5" i="1">
                <a:latin typeface="Arial"/>
                <a:cs typeface="Arial"/>
              </a:rPr>
              <a:t>The mystical experience </a:t>
            </a:r>
            <a:r>
              <a:rPr dirty="0" sz="1200" i="1">
                <a:latin typeface="Arial"/>
                <a:cs typeface="Arial"/>
              </a:rPr>
              <a:t>(fana') </a:t>
            </a:r>
            <a:r>
              <a:rPr dirty="0" sz="1200" spc="-5" i="1">
                <a:latin typeface="Arial"/>
                <a:cs typeface="Arial"/>
              </a:rPr>
              <a:t>of the Sufi is a foretaste of </a:t>
            </a:r>
            <a:r>
              <a:rPr dirty="0" sz="1200" i="1">
                <a:latin typeface="Arial"/>
                <a:cs typeface="Arial"/>
              </a:rPr>
              <a:t>the </a:t>
            </a:r>
            <a:r>
              <a:rPr dirty="0" sz="1200" spc="-5" i="1">
                <a:latin typeface="Arial"/>
                <a:cs typeface="Arial"/>
              </a:rPr>
              <a:t>real vision of God in </a:t>
            </a:r>
            <a:r>
              <a:rPr dirty="0" sz="1200" spc="-10" i="1">
                <a:latin typeface="Arial"/>
                <a:cs typeface="Arial"/>
              </a:rPr>
              <a:t>the  </a:t>
            </a:r>
            <a:r>
              <a:rPr dirty="0" sz="1200" spc="-5" i="1">
                <a:latin typeface="Arial"/>
                <a:cs typeface="Arial"/>
              </a:rPr>
              <a:t>hereafter.</a:t>
            </a:r>
            <a:endParaRPr sz="1200">
              <a:latin typeface="Arial"/>
              <a:cs typeface="Arial"/>
            </a:endParaRPr>
          </a:p>
          <a:p>
            <a:pPr algn="just" marL="413384" indent="-172720">
              <a:lnSpc>
                <a:spcPts val="1300"/>
              </a:lnSpc>
              <a:buFont typeface="Arial"/>
              <a:buAutoNum type="arabicPeriod"/>
              <a:tabLst>
                <a:tab pos="414020" algn="l"/>
              </a:tabLst>
            </a:pPr>
            <a:r>
              <a:rPr dirty="0" sz="1200" spc="-5" i="1">
                <a:latin typeface="Arial"/>
                <a:cs typeface="Arial"/>
              </a:rPr>
              <a:t>Al-Ghazzali</a:t>
            </a:r>
            <a:r>
              <a:rPr dirty="0" sz="1200" spc="60" i="1">
                <a:latin typeface="Arial"/>
                <a:cs typeface="Arial"/>
              </a:rPr>
              <a:t> </a:t>
            </a:r>
            <a:r>
              <a:rPr dirty="0" sz="1200" spc="-5" i="1">
                <a:latin typeface="Arial"/>
                <a:cs typeface="Arial"/>
              </a:rPr>
              <a:t>tells</a:t>
            </a:r>
            <a:r>
              <a:rPr dirty="0" sz="1200" spc="55" i="1">
                <a:latin typeface="Arial"/>
                <a:cs typeface="Arial"/>
              </a:rPr>
              <a:t> </a:t>
            </a:r>
            <a:r>
              <a:rPr dirty="0" sz="1200" spc="-5" i="1">
                <a:latin typeface="Arial"/>
                <a:cs typeface="Arial"/>
              </a:rPr>
              <a:t>us</a:t>
            </a:r>
            <a:r>
              <a:rPr dirty="0" sz="1200" spc="50" i="1">
                <a:latin typeface="Arial"/>
                <a:cs typeface="Arial"/>
              </a:rPr>
              <a:t> </a:t>
            </a:r>
            <a:r>
              <a:rPr dirty="0" sz="1200" i="1">
                <a:latin typeface="Arial"/>
                <a:cs typeface="Arial"/>
              </a:rPr>
              <a:t>that,</a:t>
            </a:r>
            <a:r>
              <a:rPr dirty="0" sz="1200" spc="60" i="1">
                <a:latin typeface="Arial"/>
                <a:cs typeface="Arial"/>
              </a:rPr>
              <a:t> </a:t>
            </a:r>
            <a:r>
              <a:rPr dirty="0" sz="1200" spc="-5" i="1">
                <a:latin typeface="Arial"/>
                <a:cs typeface="Arial"/>
              </a:rPr>
              <a:t>of</a:t>
            </a:r>
            <a:r>
              <a:rPr dirty="0" sz="1200" spc="60" i="1">
                <a:latin typeface="Arial"/>
                <a:cs typeface="Arial"/>
              </a:rPr>
              <a:t> </a:t>
            </a:r>
            <a:r>
              <a:rPr dirty="0" sz="1200" i="1">
                <a:latin typeface="Arial"/>
                <a:cs typeface="Arial"/>
              </a:rPr>
              <a:t>the</a:t>
            </a:r>
            <a:r>
              <a:rPr dirty="0" sz="1200" spc="55" i="1">
                <a:latin typeface="Arial"/>
                <a:cs typeface="Arial"/>
              </a:rPr>
              <a:t> </a:t>
            </a:r>
            <a:r>
              <a:rPr dirty="0" sz="1200" spc="-5" i="1">
                <a:latin typeface="Arial"/>
                <a:cs typeface="Arial"/>
              </a:rPr>
              <a:t>four</a:t>
            </a:r>
            <a:r>
              <a:rPr dirty="0" sz="1200" spc="55" i="1">
                <a:latin typeface="Arial"/>
                <a:cs typeface="Arial"/>
              </a:rPr>
              <a:t> </a:t>
            </a:r>
            <a:r>
              <a:rPr dirty="0" sz="1200" spc="-5" i="1">
                <a:latin typeface="Arial"/>
                <a:cs typeface="Arial"/>
              </a:rPr>
              <a:t>groups</a:t>
            </a:r>
            <a:r>
              <a:rPr dirty="0" sz="1200" spc="50" i="1">
                <a:latin typeface="Arial"/>
                <a:cs typeface="Arial"/>
              </a:rPr>
              <a:t> </a:t>
            </a:r>
            <a:r>
              <a:rPr dirty="0" sz="1200" spc="-5" i="1">
                <a:latin typeface="Arial"/>
                <a:cs typeface="Arial"/>
              </a:rPr>
              <a:t>of</a:t>
            </a:r>
            <a:r>
              <a:rPr dirty="0" sz="1200" spc="60" i="1">
                <a:latin typeface="Arial"/>
                <a:cs typeface="Arial"/>
              </a:rPr>
              <a:t> </a:t>
            </a:r>
            <a:r>
              <a:rPr dirty="0" sz="1200" spc="-5" i="1">
                <a:latin typeface="Arial"/>
                <a:cs typeface="Arial"/>
              </a:rPr>
              <a:t>people</a:t>
            </a:r>
            <a:r>
              <a:rPr dirty="0" sz="1200" spc="55" i="1">
                <a:latin typeface="Arial"/>
                <a:cs typeface="Arial"/>
              </a:rPr>
              <a:t> </a:t>
            </a:r>
            <a:r>
              <a:rPr dirty="0" sz="1200" spc="-5" i="1">
                <a:latin typeface="Arial"/>
                <a:cs typeface="Arial"/>
              </a:rPr>
              <a:t>who</a:t>
            </a:r>
            <a:r>
              <a:rPr dirty="0" sz="1200" spc="65" i="1">
                <a:latin typeface="Arial"/>
                <a:cs typeface="Arial"/>
              </a:rPr>
              <a:t> </a:t>
            </a:r>
            <a:r>
              <a:rPr dirty="0" sz="1200" spc="-5" i="1">
                <a:latin typeface="Arial"/>
                <a:cs typeface="Arial"/>
              </a:rPr>
              <a:t>claimed</a:t>
            </a:r>
            <a:r>
              <a:rPr dirty="0" sz="1200" spc="60" i="1">
                <a:latin typeface="Arial"/>
                <a:cs typeface="Arial"/>
              </a:rPr>
              <a:t> </a:t>
            </a:r>
            <a:r>
              <a:rPr dirty="0" sz="1200" spc="-5" i="1">
                <a:latin typeface="Arial"/>
                <a:cs typeface="Arial"/>
              </a:rPr>
              <a:t>to</a:t>
            </a:r>
            <a:r>
              <a:rPr dirty="0" sz="1200" spc="60" i="1">
                <a:latin typeface="Arial"/>
                <a:cs typeface="Arial"/>
              </a:rPr>
              <a:t> </a:t>
            </a:r>
            <a:r>
              <a:rPr dirty="0" sz="1200" spc="-5" i="1">
                <a:latin typeface="Arial"/>
                <a:cs typeface="Arial"/>
              </a:rPr>
              <a:t>be</a:t>
            </a:r>
            <a:r>
              <a:rPr dirty="0" sz="1200" spc="60" i="1">
                <a:latin typeface="Arial"/>
                <a:cs typeface="Arial"/>
              </a:rPr>
              <a:t> </a:t>
            </a:r>
            <a:r>
              <a:rPr dirty="0" sz="1200" spc="-5" i="1">
                <a:latin typeface="Arial"/>
                <a:cs typeface="Arial"/>
              </a:rPr>
              <a:t>in</a:t>
            </a:r>
            <a:r>
              <a:rPr dirty="0" sz="1200" spc="60" i="1">
                <a:latin typeface="Arial"/>
                <a:cs typeface="Arial"/>
              </a:rPr>
              <a:t> </a:t>
            </a:r>
            <a:r>
              <a:rPr dirty="0" sz="1200" spc="-5" i="1">
                <a:latin typeface="Arial"/>
                <a:cs typeface="Arial"/>
              </a:rPr>
              <a:t>possession</a:t>
            </a:r>
            <a:endParaRPr sz="1200">
              <a:latin typeface="Arial"/>
              <a:cs typeface="Arial"/>
            </a:endParaRPr>
          </a:p>
          <a:p>
            <a:pPr algn="just" marL="469900" marR="9525">
              <a:lnSpc>
                <a:spcPct val="95900"/>
              </a:lnSpc>
              <a:spcBef>
                <a:spcPts val="25"/>
              </a:spcBef>
            </a:pPr>
            <a:r>
              <a:rPr dirty="0" sz="1200" spc="-5" i="1">
                <a:latin typeface="Arial"/>
                <a:cs typeface="Arial"/>
              </a:rPr>
              <a:t>of the truth, only the sufis, </a:t>
            </a:r>
            <a:r>
              <a:rPr dirty="0" sz="1200" i="1">
                <a:latin typeface="Arial"/>
                <a:cs typeface="Arial"/>
              </a:rPr>
              <a:t>who </a:t>
            </a:r>
            <a:r>
              <a:rPr dirty="0" sz="1200" spc="-5" i="1">
                <a:latin typeface="Arial"/>
                <a:cs typeface="Arial"/>
              </a:rPr>
              <a:t>walked the right path, because </a:t>
            </a:r>
            <a:r>
              <a:rPr dirty="0" sz="1200" i="1">
                <a:latin typeface="Arial"/>
                <a:cs typeface="Arial"/>
              </a:rPr>
              <a:t>they </a:t>
            </a:r>
            <a:r>
              <a:rPr dirty="0" sz="1200" spc="-5" i="1">
                <a:latin typeface="Arial"/>
                <a:cs typeface="Arial"/>
              </a:rPr>
              <a:t>combined  </a:t>
            </a:r>
            <a:r>
              <a:rPr dirty="0" sz="1200" spc="-5" i="1">
                <a:latin typeface="Arial"/>
                <a:cs typeface="Arial"/>
              </a:rPr>
              <a:t>knowledge </a:t>
            </a:r>
            <a:r>
              <a:rPr dirty="0" sz="1200" i="1">
                <a:latin typeface="Arial"/>
                <a:cs typeface="Arial"/>
              </a:rPr>
              <a:t>with </a:t>
            </a:r>
            <a:r>
              <a:rPr dirty="0" sz="1200" spc="-5" i="1">
                <a:latin typeface="Arial"/>
                <a:cs typeface="Arial"/>
              </a:rPr>
              <a:t>action, had sincerity of purpose, and actually experienced the serenity  and contentment that </a:t>
            </a:r>
            <a:r>
              <a:rPr dirty="0" sz="1200" spc="-10" i="1">
                <a:latin typeface="Arial"/>
                <a:cs typeface="Arial"/>
              </a:rPr>
              <a:t>comes </a:t>
            </a:r>
            <a:r>
              <a:rPr dirty="0" sz="1200" i="1">
                <a:latin typeface="Arial"/>
                <a:cs typeface="Arial"/>
              </a:rPr>
              <a:t>from </a:t>
            </a:r>
            <a:r>
              <a:rPr dirty="0" sz="1200" spc="-5" i="1">
                <a:latin typeface="Arial"/>
                <a:cs typeface="Arial"/>
              </a:rPr>
              <a:t>direct illumination </a:t>
            </a:r>
            <a:r>
              <a:rPr dirty="0" sz="1200" i="1">
                <a:latin typeface="Arial"/>
                <a:cs typeface="Arial"/>
              </a:rPr>
              <a:t>of </a:t>
            </a:r>
            <a:r>
              <a:rPr dirty="0" sz="1200" spc="-5" i="1">
                <a:latin typeface="Arial"/>
                <a:cs typeface="Arial"/>
              </a:rPr>
              <a:t>the heart by</a:t>
            </a:r>
            <a:r>
              <a:rPr dirty="0" sz="1200" spc="5" i="1">
                <a:latin typeface="Arial"/>
                <a:cs typeface="Arial"/>
              </a:rPr>
              <a:t> </a:t>
            </a:r>
            <a:r>
              <a:rPr dirty="0" sz="1200" i="1">
                <a:latin typeface="Arial"/>
                <a:cs typeface="Arial"/>
              </a:rPr>
              <a:t>God.</a:t>
            </a:r>
            <a:endParaRPr sz="1200">
              <a:latin typeface="Arial"/>
              <a:cs typeface="Arial"/>
            </a:endParaRPr>
          </a:p>
          <a:p>
            <a:pPr algn="just" marL="469900" marR="7620" indent="-228600">
              <a:lnSpc>
                <a:spcPts val="1380"/>
              </a:lnSpc>
              <a:spcBef>
                <a:spcPts val="40"/>
              </a:spcBef>
              <a:buFont typeface="Arial"/>
              <a:buAutoNum type="arabicPeriod" startAt="8"/>
              <a:tabLst>
                <a:tab pos="414020" algn="l"/>
              </a:tabLst>
            </a:pPr>
            <a:r>
              <a:rPr dirty="0" sz="1200" spc="-5" i="1">
                <a:latin typeface="Arial"/>
                <a:cs typeface="Arial"/>
              </a:rPr>
              <a:t>al-Ghazzali seeks to demystify Islam and mentions three fundamental features related  </a:t>
            </a:r>
            <a:r>
              <a:rPr dirty="0" sz="1200" spc="-5" i="1">
                <a:latin typeface="Arial"/>
                <a:cs typeface="Arial"/>
              </a:rPr>
              <a:t>to </a:t>
            </a:r>
            <a:r>
              <a:rPr dirty="0" sz="1200" i="1">
                <a:latin typeface="Arial"/>
                <a:cs typeface="Arial"/>
              </a:rPr>
              <a:t>his </a:t>
            </a:r>
            <a:r>
              <a:rPr dirty="0" sz="1200" spc="-5" i="1">
                <a:latin typeface="Arial"/>
                <a:cs typeface="Arial"/>
              </a:rPr>
              <a:t>mystical</a:t>
            </a:r>
            <a:r>
              <a:rPr dirty="0" sz="1200" spc="5" i="1">
                <a:latin typeface="Arial"/>
                <a:cs typeface="Arial"/>
              </a:rPr>
              <a:t> </a:t>
            </a:r>
            <a:r>
              <a:rPr dirty="0" sz="1200" spc="-5" i="1">
                <a:latin typeface="Arial"/>
                <a:cs typeface="Arial"/>
              </a:rPr>
              <a:t>experience:</a:t>
            </a:r>
            <a:endParaRPr sz="1200">
              <a:latin typeface="Arial"/>
              <a:cs typeface="Arial"/>
            </a:endParaRPr>
          </a:p>
          <a:p>
            <a:pPr algn="just" lvl="1" marL="643255" marR="11430" indent="-228600">
              <a:lnSpc>
                <a:spcPts val="1380"/>
              </a:lnSpc>
              <a:buFont typeface="Arial"/>
              <a:buAutoNum type="alphaLcParenR"/>
              <a:tabLst>
                <a:tab pos="643890" algn="l"/>
              </a:tabLst>
            </a:pPr>
            <a:r>
              <a:rPr dirty="0" sz="1200" i="1">
                <a:latin typeface="Arial"/>
                <a:cs typeface="Arial"/>
              </a:rPr>
              <a:t>the </a:t>
            </a:r>
            <a:r>
              <a:rPr dirty="0" sz="1200" spc="-5" i="1">
                <a:latin typeface="Arial"/>
                <a:cs typeface="Arial"/>
              </a:rPr>
              <a:t>purification </a:t>
            </a:r>
            <a:r>
              <a:rPr dirty="0" sz="1200" spc="-10" i="1">
                <a:latin typeface="Arial"/>
                <a:cs typeface="Arial"/>
              </a:rPr>
              <a:t>of </a:t>
            </a:r>
            <a:r>
              <a:rPr dirty="0" sz="1200" spc="-5" i="1">
                <a:latin typeface="Arial"/>
                <a:cs typeface="Arial"/>
              </a:rPr>
              <a:t>the soul </a:t>
            </a:r>
            <a:r>
              <a:rPr dirty="0" sz="1200" i="1">
                <a:latin typeface="Arial"/>
                <a:cs typeface="Arial"/>
              </a:rPr>
              <a:t>from </a:t>
            </a:r>
            <a:r>
              <a:rPr dirty="0" sz="1200" spc="-5" i="1">
                <a:latin typeface="Arial"/>
                <a:cs typeface="Arial"/>
              </a:rPr>
              <a:t>those evils and worldly desires that hinder </a:t>
            </a:r>
            <a:r>
              <a:rPr dirty="0" sz="1200" spc="-10" i="1">
                <a:latin typeface="Arial"/>
                <a:cs typeface="Arial"/>
              </a:rPr>
              <a:t>moral  </a:t>
            </a:r>
            <a:r>
              <a:rPr dirty="0" sz="1200" spc="-5" i="1">
                <a:latin typeface="Arial"/>
                <a:cs typeface="Arial"/>
              </a:rPr>
              <a:t>perfection;</a:t>
            </a:r>
            <a:endParaRPr sz="1200">
              <a:latin typeface="Arial"/>
              <a:cs typeface="Arial"/>
            </a:endParaRPr>
          </a:p>
          <a:p>
            <a:pPr algn="just" lvl="1" marL="643255" marR="8890" indent="-228600">
              <a:lnSpc>
                <a:spcPts val="1380"/>
              </a:lnSpc>
              <a:buFont typeface="Arial"/>
              <a:buAutoNum type="alphaLcParenR"/>
              <a:tabLst>
                <a:tab pos="643890" algn="l"/>
              </a:tabLst>
            </a:pPr>
            <a:r>
              <a:rPr dirty="0" sz="1200" i="1">
                <a:latin typeface="Arial"/>
                <a:cs typeface="Arial"/>
              </a:rPr>
              <a:t>those </a:t>
            </a:r>
            <a:r>
              <a:rPr dirty="0" sz="1200" spc="-5" i="1">
                <a:latin typeface="Arial"/>
                <a:cs typeface="Arial"/>
              </a:rPr>
              <a:t>spiritual dispositions or explorations that occur after the process </a:t>
            </a:r>
            <a:r>
              <a:rPr dirty="0" sz="1200" spc="-10" i="1">
                <a:latin typeface="Arial"/>
                <a:cs typeface="Arial"/>
              </a:rPr>
              <a:t>of  </a:t>
            </a:r>
            <a:r>
              <a:rPr dirty="0" sz="1200" spc="-5" i="1">
                <a:latin typeface="Arial"/>
                <a:cs typeface="Arial"/>
              </a:rPr>
              <a:t>purification reaches the </a:t>
            </a:r>
            <a:r>
              <a:rPr dirty="0" sz="1200" i="1">
                <a:latin typeface="Arial"/>
                <a:cs typeface="Arial"/>
              </a:rPr>
              <a:t>level </a:t>
            </a:r>
            <a:r>
              <a:rPr dirty="0" sz="1200" spc="-5" i="1">
                <a:latin typeface="Arial"/>
                <a:cs typeface="Arial"/>
              </a:rPr>
              <a:t>of maturity (described as extraordinary intellectual  intuitions);</a:t>
            </a:r>
            <a:r>
              <a:rPr dirty="0" sz="1200" spc="-15" i="1">
                <a:latin typeface="Arial"/>
                <a:cs typeface="Arial"/>
              </a:rPr>
              <a:t> </a:t>
            </a:r>
            <a:r>
              <a:rPr dirty="0" sz="1200" spc="-5" i="1">
                <a:latin typeface="Arial"/>
                <a:cs typeface="Arial"/>
              </a:rPr>
              <a:t>and</a:t>
            </a:r>
            <a:endParaRPr sz="1200">
              <a:latin typeface="Arial"/>
              <a:cs typeface="Arial"/>
            </a:endParaRPr>
          </a:p>
          <a:p>
            <a:pPr algn="just" lvl="1" marL="643890" indent="-228600">
              <a:lnSpc>
                <a:spcPts val="1315"/>
              </a:lnSpc>
              <a:buFont typeface="Arial"/>
              <a:buAutoNum type="alphaLcParenR"/>
              <a:tabLst>
                <a:tab pos="643890" algn="l"/>
              </a:tabLst>
            </a:pPr>
            <a:r>
              <a:rPr dirty="0" sz="1200" i="1">
                <a:latin typeface="Arial"/>
                <a:cs typeface="Arial"/>
              </a:rPr>
              <a:t>that </a:t>
            </a:r>
            <a:r>
              <a:rPr dirty="0" sz="1200" spc="-5" i="1">
                <a:latin typeface="Arial"/>
                <a:cs typeface="Arial"/>
              </a:rPr>
              <a:t>these dispositions are not explicable through</a:t>
            </a:r>
            <a:r>
              <a:rPr dirty="0" sz="1200" spc="-15" i="1">
                <a:latin typeface="Arial"/>
                <a:cs typeface="Arial"/>
              </a:rPr>
              <a:t> </a:t>
            </a:r>
            <a:r>
              <a:rPr dirty="0" sz="1200" spc="-5" i="1">
                <a:latin typeface="Arial"/>
                <a:cs typeface="Arial"/>
              </a:rPr>
              <a:t>reason.</a:t>
            </a:r>
            <a:endParaRPr sz="1200">
              <a:latin typeface="Arial"/>
              <a:cs typeface="Arial"/>
            </a:endParaRPr>
          </a:p>
          <a:p>
            <a:pPr algn="just" marL="469900" marR="8890" indent="-228600">
              <a:lnSpc>
                <a:spcPts val="1380"/>
              </a:lnSpc>
              <a:spcBef>
                <a:spcPts val="65"/>
              </a:spcBef>
              <a:buFont typeface="Arial"/>
              <a:buAutoNum type="arabicPeriod" startAt="8"/>
              <a:tabLst>
                <a:tab pos="414020" algn="l"/>
              </a:tabLst>
            </a:pPr>
            <a:r>
              <a:rPr dirty="0" sz="1200" spc="-5" i="1">
                <a:latin typeface="Arial"/>
                <a:cs typeface="Arial"/>
              </a:rPr>
              <a:t>He also rejected the Sufi claim </a:t>
            </a:r>
            <a:r>
              <a:rPr dirty="0" sz="1200" i="1">
                <a:latin typeface="Arial"/>
                <a:cs typeface="Arial"/>
              </a:rPr>
              <a:t>that </a:t>
            </a:r>
            <a:r>
              <a:rPr dirty="0" sz="1200" spc="-5" i="1">
                <a:latin typeface="Arial"/>
                <a:cs typeface="Arial"/>
              </a:rPr>
              <a:t>in </a:t>
            </a:r>
            <a:r>
              <a:rPr dirty="0" sz="1200" i="1">
                <a:latin typeface="Arial"/>
                <a:cs typeface="Arial"/>
              </a:rPr>
              <a:t>the </a:t>
            </a:r>
            <a:r>
              <a:rPr dirty="0" sz="1200" spc="-5" i="1">
                <a:latin typeface="Arial"/>
                <a:cs typeface="Arial"/>
              </a:rPr>
              <a:t>mystical experience one reaches </a:t>
            </a:r>
            <a:r>
              <a:rPr dirty="0" sz="1200" spc="-10" i="1">
                <a:latin typeface="Arial"/>
                <a:cs typeface="Arial"/>
              </a:rPr>
              <a:t>God  </a:t>
            </a:r>
            <a:r>
              <a:rPr dirty="0" sz="1200" spc="-5" i="1">
                <a:latin typeface="Arial"/>
                <a:cs typeface="Arial"/>
              </a:rPr>
              <a:t>through fusion into or unity </a:t>
            </a:r>
            <a:r>
              <a:rPr dirty="0" sz="1200" i="1">
                <a:latin typeface="Arial"/>
                <a:cs typeface="Arial"/>
              </a:rPr>
              <a:t>with </a:t>
            </a:r>
            <a:r>
              <a:rPr dirty="0" sz="1200" spc="-5" i="1">
                <a:latin typeface="Arial"/>
                <a:cs typeface="Arial"/>
              </a:rPr>
              <a:t>the divine </a:t>
            </a:r>
            <a:r>
              <a:rPr dirty="0" sz="1200" i="1">
                <a:latin typeface="Arial"/>
                <a:cs typeface="Arial"/>
              </a:rPr>
              <a:t>Being. </a:t>
            </a:r>
            <a:r>
              <a:rPr dirty="0" sz="1200" spc="-5" i="1">
                <a:latin typeface="Arial"/>
                <a:cs typeface="Arial"/>
              </a:rPr>
              <a:t>Such a claim he regarded </a:t>
            </a:r>
            <a:r>
              <a:rPr dirty="0" sz="1200" spc="-10" i="1">
                <a:latin typeface="Arial"/>
                <a:cs typeface="Arial"/>
              </a:rPr>
              <a:t>as  </a:t>
            </a:r>
            <a:r>
              <a:rPr dirty="0" sz="1200" spc="-5" i="1">
                <a:latin typeface="Arial"/>
                <a:cs typeface="Arial"/>
              </a:rPr>
              <a:t>blasphemous.</a:t>
            </a:r>
            <a:r>
              <a:rPr dirty="0" sz="1200" spc="55" i="1">
                <a:latin typeface="Arial"/>
                <a:cs typeface="Arial"/>
              </a:rPr>
              <a:t> </a:t>
            </a:r>
            <a:r>
              <a:rPr dirty="0" sz="1200" spc="-5" i="1">
                <a:latin typeface="Arial"/>
                <a:cs typeface="Arial"/>
              </a:rPr>
              <a:t>The</a:t>
            </a:r>
            <a:r>
              <a:rPr dirty="0" sz="1200" spc="65" i="1">
                <a:latin typeface="Arial"/>
                <a:cs typeface="Arial"/>
              </a:rPr>
              <a:t> </a:t>
            </a:r>
            <a:r>
              <a:rPr dirty="0" sz="1200" spc="-5" i="1">
                <a:latin typeface="Arial"/>
                <a:cs typeface="Arial"/>
              </a:rPr>
              <a:t>true</a:t>
            </a:r>
            <a:r>
              <a:rPr dirty="0" sz="1200" spc="60" i="1">
                <a:latin typeface="Arial"/>
                <a:cs typeface="Arial"/>
              </a:rPr>
              <a:t> </a:t>
            </a:r>
            <a:r>
              <a:rPr dirty="0" sz="1200" spc="-5" i="1">
                <a:latin typeface="Arial"/>
                <a:cs typeface="Arial"/>
              </a:rPr>
              <a:t>perception</a:t>
            </a:r>
            <a:r>
              <a:rPr dirty="0" sz="1200" spc="45" i="1">
                <a:latin typeface="Arial"/>
                <a:cs typeface="Arial"/>
              </a:rPr>
              <a:t> </a:t>
            </a:r>
            <a:r>
              <a:rPr dirty="0" sz="1200" spc="-5" i="1">
                <a:latin typeface="Arial"/>
                <a:cs typeface="Arial"/>
              </a:rPr>
              <a:t>of</a:t>
            </a:r>
            <a:r>
              <a:rPr dirty="0" sz="1200" spc="60" i="1">
                <a:latin typeface="Arial"/>
                <a:cs typeface="Arial"/>
              </a:rPr>
              <a:t> </a:t>
            </a:r>
            <a:r>
              <a:rPr dirty="0" sz="1200" spc="-5" i="1">
                <a:latin typeface="Arial"/>
                <a:cs typeface="Arial"/>
              </a:rPr>
              <a:t>God</a:t>
            </a:r>
            <a:r>
              <a:rPr dirty="0" sz="1200" spc="60" i="1">
                <a:latin typeface="Arial"/>
                <a:cs typeface="Arial"/>
              </a:rPr>
              <a:t> </a:t>
            </a:r>
            <a:r>
              <a:rPr dirty="0" sz="1200" spc="-5" i="1">
                <a:latin typeface="Arial"/>
                <a:cs typeface="Arial"/>
              </a:rPr>
              <a:t>is</a:t>
            </a:r>
            <a:r>
              <a:rPr dirty="0" sz="1200" spc="40" i="1">
                <a:latin typeface="Arial"/>
                <a:cs typeface="Arial"/>
              </a:rPr>
              <a:t> </a:t>
            </a:r>
            <a:r>
              <a:rPr dirty="0" sz="1200" i="1">
                <a:latin typeface="Arial"/>
                <a:cs typeface="Arial"/>
              </a:rPr>
              <a:t>always</a:t>
            </a:r>
            <a:r>
              <a:rPr dirty="0" sz="1200" spc="45" i="1">
                <a:latin typeface="Arial"/>
                <a:cs typeface="Arial"/>
              </a:rPr>
              <a:t> </a:t>
            </a:r>
            <a:r>
              <a:rPr dirty="0" sz="1200" spc="-5" i="1">
                <a:latin typeface="Arial"/>
                <a:cs typeface="Arial"/>
              </a:rPr>
              <a:t>perception</a:t>
            </a:r>
            <a:r>
              <a:rPr dirty="0" sz="1200" spc="45" i="1">
                <a:latin typeface="Arial"/>
                <a:cs typeface="Arial"/>
              </a:rPr>
              <a:t> </a:t>
            </a:r>
            <a:r>
              <a:rPr dirty="0" sz="1200" spc="-5" i="1">
                <a:latin typeface="Arial"/>
                <a:cs typeface="Arial"/>
              </a:rPr>
              <a:t>of</a:t>
            </a:r>
            <a:r>
              <a:rPr dirty="0" sz="1200" spc="60" i="1">
                <a:latin typeface="Arial"/>
                <a:cs typeface="Arial"/>
              </a:rPr>
              <a:t> </a:t>
            </a:r>
            <a:r>
              <a:rPr dirty="0" sz="1200" spc="-5" i="1">
                <a:latin typeface="Arial"/>
                <a:cs typeface="Arial"/>
              </a:rPr>
              <a:t>the</a:t>
            </a:r>
            <a:r>
              <a:rPr dirty="0" sz="1200" spc="60" i="1">
                <a:latin typeface="Arial"/>
                <a:cs typeface="Arial"/>
              </a:rPr>
              <a:t> </a:t>
            </a:r>
            <a:r>
              <a:rPr dirty="0" sz="1200" spc="-5" i="1">
                <a:latin typeface="Arial"/>
                <a:cs typeface="Arial"/>
              </a:rPr>
              <a:t>presence</a:t>
            </a:r>
            <a:r>
              <a:rPr dirty="0" sz="1200" spc="45" i="1">
                <a:latin typeface="Arial"/>
                <a:cs typeface="Arial"/>
              </a:rPr>
              <a:t> </a:t>
            </a:r>
            <a:r>
              <a:rPr dirty="0" sz="1200" spc="-5" i="1">
                <a:latin typeface="Arial"/>
                <a:cs typeface="Arial"/>
              </a:rPr>
              <a:t>of</a:t>
            </a:r>
            <a:r>
              <a:rPr dirty="0" sz="1200" spc="60" i="1">
                <a:latin typeface="Arial"/>
                <a:cs typeface="Arial"/>
              </a:rPr>
              <a:t> </a:t>
            </a:r>
            <a:r>
              <a:rPr dirty="0" sz="1200" spc="-10" i="1">
                <a:latin typeface="Arial"/>
                <a:cs typeface="Arial"/>
              </a:rPr>
              <a:t>the</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149</a:t>
            </a:r>
            <a:endParaRPr sz="1200">
              <a:latin typeface="Times New Roman"/>
              <a:cs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900" cy="933831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40"/>
              </a:spcBef>
            </a:pPr>
            <a:endParaRPr sz="1300">
              <a:latin typeface="Times New Roman"/>
              <a:cs typeface="Times New Roman"/>
            </a:endParaRPr>
          </a:p>
          <a:p>
            <a:pPr algn="just" marL="469900" marR="5080">
              <a:lnSpc>
                <a:spcPts val="1380"/>
              </a:lnSpc>
            </a:pPr>
            <a:r>
              <a:rPr dirty="0" sz="1200" spc="-5" i="1">
                <a:latin typeface="Arial"/>
                <a:cs typeface="Arial"/>
              </a:rPr>
              <a:t>transcendent as a commanding </a:t>
            </a:r>
            <a:r>
              <a:rPr dirty="0" sz="1200" i="1">
                <a:latin typeface="Arial"/>
                <a:cs typeface="Arial"/>
              </a:rPr>
              <a:t>being; </a:t>
            </a:r>
            <a:r>
              <a:rPr dirty="0" sz="1200" spc="-5" i="1">
                <a:latin typeface="Arial"/>
                <a:cs typeface="Arial"/>
              </a:rPr>
              <a:t>knowledge of Him is </a:t>
            </a:r>
            <a:r>
              <a:rPr dirty="0" sz="1200" i="1">
                <a:latin typeface="Arial"/>
                <a:cs typeface="Arial"/>
              </a:rPr>
              <a:t>never </a:t>
            </a:r>
            <a:r>
              <a:rPr dirty="0" sz="1200" spc="-5" i="1">
                <a:latin typeface="Arial"/>
                <a:cs typeface="Arial"/>
              </a:rPr>
              <a:t>knowledge of His  </a:t>
            </a:r>
            <a:r>
              <a:rPr dirty="0" sz="1200" spc="-5" i="1">
                <a:latin typeface="Arial"/>
                <a:cs typeface="Arial"/>
              </a:rPr>
              <a:t>self but of His</a:t>
            </a:r>
            <a:r>
              <a:rPr dirty="0" sz="1200" i="1">
                <a:latin typeface="Arial"/>
                <a:cs typeface="Arial"/>
              </a:rPr>
              <a:t> </a:t>
            </a:r>
            <a:r>
              <a:rPr dirty="0" sz="1200" spc="-5" i="1">
                <a:latin typeface="Arial"/>
                <a:cs typeface="Arial"/>
              </a:rPr>
              <a:t>will.</a:t>
            </a:r>
            <a:endParaRPr sz="1200">
              <a:latin typeface="Arial"/>
              <a:cs typeface="Arial"/>
            </a:endParaRPr>
          </a:p>
          <a:p>
            <a:pPr algn="just" marL="469900" marR="6350" indent="-229235">
              <a:lnSpc>
                <a:spcPts val="1380"/>
              </a:lnSpc>
              <a:buFont typeface="Arial"/>
              <a:buAutoNum type="arabicPeriod" startAt="10"/>
              <a:tabLst>
                <a:tab pos="470534" algn="l"/>
              </a:tabLst>
            </a:pPr>
            <a:r>
              <a:rPr dirty="0" sz="1200" i="1">
                <a:latin typeface="Arial"/>
                <a:cs typeface="Arial"/>
              </a:rPr>
              <a:t>By </a:t>
            </a:r>
            <a:r>
              <a:rPr dirty="0" sz="1200" spc="-5" i="1">
                <a:latin typeface="Arial"/>
                <a:cs typeface="Arial"/>
              </a:rPr>
              <a:t>reaffirming </a:t>
            </a:r>
            <a:r>
              <a:rPr dirty="0" sz="1200" i="1">
                <a:latin typeface="Arial"/>
                <a:cs typeface="Arial"/>
              </a:rPr>
              <a:t>that Islam </a:t>
            </a:r>
            <a:r>
              <a:rPr dirty="0" sz="1200" spc="-5" i="1">
                <a:latin typeface="Arial"/>
                <a:cs typeface="Arial"/>
              </a:rPr>
              <a:t>implies action, al-Ghazzali meant to repudiate those </a:t>
            </a:r>
            <a:r>
              <a:rPr dirty="0" sz="1200" spc="-10" i="1">
                <a:latin typeface="Arial"/>
                <a:cs typeface="Arial"/>
              </a:rPr>
              <a:t>sufis  </a:t>
            </a:r>
            <a:r>
              <a:rPr dirty="0" sz="1200" spc="-5" i="1">
                <a:latin typeface="Arial"/>
                <a:cs typeface="Arial"/>
              </a:rPr>
              <a:t>who preached mockery and withdrawal from society, any </a:t>
            </a:r>
            <a:r>
              <a:rPr dirty="0" sz="1200" i="1">
                <a:latin typeface="Arial"/>
                <a:cs typeface="Arial"/>
              </a:rPr>
              <a:t>form </a:t>
            </a:r>
            <a:r>
              <a:rPr dirty="0" sz="1200" spc="-5" i="1">
                <a:latin typeface="Arial"/>
                <a:cs typeface="Arial"/>
              </a:rPr>
              <a:t>of asceticism or  mortification, or non-obligation </a:t>
            </a:r>
            <a:r>
              <a:rPr dirty="0" sz="1200" spc="-10" i="1">
                <a:latin typeface="Arial"/>
                <a:cs typeface="Arial"/>
              </a:rPr>
              <a:t>to </a:t>
            </a:r>
            <a:r>
              <a:rPr dirty="0" sz="1200" spc="-5" i="1">
                <a:latin typeface="Arial"/>
                <a:cs typeface="Arial"/>
              </a:rPr>
              <a:t>observe </a:t>
            </a:r>
            <a:r>
              <a:rPr dirty="0" sz="1200" spc="-10" i="1">
                <a:latin typeface="Arial"/>
                <a:cs typeface="Arial"/>
              </a:rPr>
              <a:t>the </a:t>
            </a:r>
            <a:r>
              <a:rPr dirty="0" sz="1200" spc="-5" i="1">
                <a:latin typeface="Arial"/>
                <a:cs typeface="Arial"/>
              </a:rPr>
              <a:t>rituals and all </a:t>
            </a:r>
            <a:r>
              <a:rPr dirty="0" sz="1200" i="1">
                <a:latin typeface="Arial"/>
                <a:cs typeface="Arial"/>
              </a:rPr>
              <a:t>other laws </a:t>
            </a:r>
            <a:r>
              <a:rPr dirty="0" sz="1200" spc="-5" i="1">
                <a:latin typeface="Arial"/>
                <a:cs typeface="Arial"/>
              </a:rPr>
              <a:t>of the Shari‘ah.  Al-Ghazzali </a:t>
            </a:r>
            <a:r>
              <a:rPr dirty="0" sz="1200" i="1">
                <a:latin typeface="Arial"/>
                <a:cs typeface="Arial"/>
              </a:rPr>
              <a:t>thus </a:t>
            </a:r>
            <a:r>
              <a:rPr dirty="0" sz="1200" spc="-5" i="1">
                <a:latin typeface="Arial"/>
                <a:cs typeface="Arial"/>
              </a:rPr>
              <a:t>made </a:t>
            </a:r>
            <a:r>
              <a:rPr dirty="0" sz="1200" i="1">
                <a:latin typeface="Arial"/>
                <a:cs typeface="Arial"/>
              </a:rPr>
              <a:t>Tasawwuf </a:t>
            </a:r>
            <a:r>
              <a:rPr dirty="0" sz="1200" spc="-5" i="1">
                <a:latin typeface="Arial"/>
                <a:cs typeface="Arial"/>
              </a:rPr>
              <a:t>respectable and conformant with the Shari‘ah </a:t>
            </a:r>
            <a:r>
              <a:rPr dirty="0" sz="1200" spc="-15" i="1">
                <a:latin typeface="Arial"/>
                <a:cs typeface="Arial"/>
              </a:rPr>
              <a:t>and  </a:t>
            </a:r>
            <a:r>
              <a:rPr dirty="0" sz="1200" spc="-5" i="1">
                <a:latin typeface="Arial"/>
                <a:cs typeface="Arial"/>
              </a:rPr>
              <a:t>spirit </a:t>
            </a:r>
            <a:r>
              <a:rPr dirty="0" sz="1200" i="1">
                <a:latin typeface="Arial"/>
                <a:cs typeface="Arial"/>
              </a:rPr>
              <a:t>of </a:t>
            </a:r>
            <a:r>
              <a:rPr dirty="0" sz="1200" spc="-5" i="1">
                <a:latin typeface="Arial"/>
                <a:cs typeface="Arial"/>
              </a:rPr>
              <a:t>Islam.</a:t>
            </a:r>
            <a:endParaRPr sz="1200">
              <a:latin typeface="Arial"/>
              <a:cs typeface="Arial"/>
            </a:endParaRPr>
          </a:p>
          <a:p>
            <a:pPr>
              <a:lnSpc>
                <a:spcPct val="100000"/>
              </a:lnSpc>
              <a:spcBef>
                <a:spcPts val="30"/>
              </a:spcBef>
              <a:buFont typeface="Arial"/>
              <a:buAutoNum type="arabicPeriod" startAt="10"/>
            </a:pPr>
            <a:endParaRPr sz="1100">
              <a:latin typeface="Arial"/>
              <a:cs typeface="Arial"/>
            </a:endParaRPr>
          </a:p>
          <a:p>
            <a:pPr marL="12700">
              <a:lnSpc>
                <a:spcPct val="100000"/>
              </a:lnSpc>
              <a:spcBef>
                <a:spcPts val="5"/>
              </a:spcBef>
            </a:pPr>
            <a:r>
              <a:rPr dirty="0" u="heavy" sz="1200" spc="-5" b="1" i="1">
                <a:uFill>
                  <a:solidFill>
                    <a:srgbClr val="000000"/>
                  </a:solidFill>
                </a:uFill>
                <a:latin typeface="Arial"/>
                <a:cs typeface="Arial"/>
              </a:rPr>
              <a:t>Contribution of</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Sufism</a:t>
            </a:r>
            <a:endParaRPr sz="1200">
              <a:latin typeface="Arial"/>
              <a:cs typeface="Arial"/>
            </a:endParaRPr>
          </a:p>
          <a:p>
            <a:pPr>
              <a:lnSpc>
                <a:spcPct val="100000"/>
              </a:lnSpc>
              <a:spcBef>
                <a:spcPts val="40"/>
              </a:spcBef>
            </a:pPr>
            <a:endParaRPr sz="1100">
              <a:latin typeface="Arial"/>
              <a:cs typeface="Arial"/>
            </a:endParaRPr>
          </a:p>
          <a:p>
            <a:pPr lvl="1" marL="698500" indent="-229235">
              <a:lnSpc>
                <a:spcPts val="1410"/>
              </a:lnSpc>
              <a:buFont typeface="Wingdings"/>
              <a:buChar char=""/>
              <a:tabLst>
                <a:tab pos="699135" algn="l"/>
              </a:tabLst>
            </a:pPr>
            <a:r>
              <a:rPr dirty="0" u="sng" sz="1200" spc="-5" i="1">
                <a:uFill>
                  <a:solidFill>
                    <a:srgbClr val="000000"/>
                  </a:solidFill>
                </a:uFill>
                <a:latin typeface="Arial"/>
                <a:cs typeface="Arial"/>
              </a:rPr>
              <a:t>Social Cohesion:</a:t>
            </a:r>
            <a:r>
              <a:rPr dirty="0" sz="1200" spc="-5" i="1">
                <a:latin typeface="Arial"/>
                <a:cs typeface="Arial"/>
              </a:rPr>
              <a:t> </a:t>
            </a:r>
            <a:r>
              <a:rPr dirty="0" sz="1200" spc="-5">
                <a:latin typeface="Arial"/>
                <a:cs typeface="Arial"/>
              </a:rPr>
              <a:t>(through love, patience, help, charity, </a:t>
            </a:r>
            <a:r>
              <a:rPr dirty="0" sz="1200">
                <a:latin typeface="Arial"/>
                <a:cs typeface="Arial"/>
              </a:rPr>
              <a:t>tolerance,</a:t>
            </a:r>
            <a:r>
              <a:rPr dirty="0" sz="1200" spc="50">
                <a:latin typeface="Arial"/>
                <a:cs typeface="Arial"/>
              </a:rPr>
              <a:t> </a:t>
            </a:r>
            <a:r>
              <a:rPr dirty="0" sz="1200" spc="-5">
                <a:latin typeface="Arial"/>
                <a:cs typeface="Arial"/>
              </a:rPr>
              <a:t>solidarity)</a:t>
            </a:r>
            <a:endParaRPr sz="1200">
              <a:latin typeface="Arial"/>
              <a:cs typeface="Arial"/>
            </a:endParaRPr>
          </a:p>
          <a:p>
            <a:pPr lvl="1" marL="698500" marR="6985" indent="-228600">
              <a:lnSpc>
                <a:spcPts val="1390"/>
              </a:lnSpc>
              <a:spcBef>
                <a:spcPts val="60"/>
              </a:spcBef>
              <a:buFont typeface="Wingdings"/>
              <a:buChar char=""/>
              <a:tabLst>
                <a:tab pos="699135" algn="l"/>
              </a:tabLst>
            </a:pPr>
            <a:r>
              <a:rPr dirty="0" u="sng" sz="1200" spc="-5" i="1">
                <a:uFill>
                  <a:solidFill>
                    <a:srgbClr val="000000"/>
                  </a:solidFill>
                </a:uFill>
                <a:latin typeface="Arial"/>
                <a:cs typeface="Arial"/>
              </a:rPr>
              <a:t>Economic Development:</a:t>
            </a:r>
            <a:r>
              <a:rPr dirty="0" sz="1200" spc="-5" i="1">
                <a:latin typeface="Arial"/>
                <a:cs typeface="Arial"/>
              </a:rPr>
              <a:t> </a:t>
            </a:r>
            <a:r>
              <a:rPr dirty="0" sz="1200" spc="-5">
                <a:latin typeface="Arial"/>
                <a:cs typeface="Arial"/>
              </a:rPr>
              <a:t>economically </a:t>
            </a:r>
            <a:r>
              <a:rPr dirty="0" sz="1200">
                <a:latin typeface="Arial"/>
                <a:cs typeface="Arial"/>
              </a:rPr>
              <a:t>they </a:t>
            </a:r>
            <a:r>
              <a:rPr dirty="0" sz="1200" spc="-10">
                <a:latin typeface="Arial"/>
                <a:cs typeface="Arial"/>
              </a:rPr>
              <a:t>wage war </a:t>
            </a:r>
            <a:r>
              <a:rPr dirty="0" sz="1200" spc="-5">
                <a:latin typeface="Arial"/>
                <a:cs typeface="Arial"/>
              </a:rPr>
              <a:t>against ignorance, poverty  and conflicting</a:t>
            </a:r>
            <a:r>
              <a:rPr dirty="0" sz="1200" spc="-10">
                <a:latin typeface="Arial"/>
                <a:cs typeface="Arial"/>
              </a:rPr>
              <a:t> </a:t>
            </a:r>
            <a:r>
              <a:rPr dirty="0" sz="1200" spc="-5">
                <a:latin typeface="Arial"/>
                <a:cs typeface="Arial"/>
              </a:rPr>
              <a:t>ideas</a:t>
            </a:r>
            <a:endParaRPr sz="1200">
              <a:latin typeface="Arial"/>
              <a:cs typeface="Arial"/>
            </a:endParaRPr>
          </a:p>
          <a:p>
            <a:pPr lvl="1" marL="698500" indent="-229235">
              <a:lnSpc>
                <a:spcPts val="1305"/>
              </a:lnSpc>
              <a:buFont typeface="Wingdings"/>
              <a:buChar char=""/>
              <a:tabLst>
                <a:tab pos="699135" algn="l"/>
              </a:tabLst>
            </a:pPr>
            <a:r>
              <a:rPr dirty="0" u="sng" sz="1200" spc="-5" i="1">
                <a:uFill>
                  <a:solidFill>
                    <a:srgbClr val="000000"/>
                  </a:solidFill>
                </a:uFill>
                <a:latin typeface="Arial"/>
                <a:cs typeface="Arial"/>
              </a:rPr>
              <a:t>Democratic </a:t>
            </a:r>
            <a:r>
              <a:rPr dirty="0" u="sng" sz="1200" i="1">
                <a:uFill>
                  <a:solidFill>
                    <a:srgbClr val="000000"/>
                  </a:solidFill>
                </a:uFill>
                <a:latin typeface="Arial"/>
                <a:cs typeface="Arial"/>
              </a:rPr>
              <a:t>Process:</a:t>
            </a:r>
            <a:r>
              <a:rPr dirty="0" sz="1200" i="1">
                <a:latin typeface="Arial"/>
                <a:cs typeface="Arial"/>
              </a:rPr>
              <a:t> </a:t>
            </a:r>
            <a:r>
              <a:rPr dirty="0" sz="1200" spc="-5">
                <a:latin typeface="Arial"/>
                <a:cs typeface="Arial"/>
              </a:rPr>
              <a:t>Participation in political and social affairs </a:t>
            </a:r>
            <a:r>
              <a:rPr dirty="0" sz="1200">
                <a:latin typeface="Arial"/>
                <a:cs typeface="Arial"/>
              </a:rPr>
              <a:t>for </a:t>
            </a:r>
            <a:r>
              <a:rPr dirty="0" sz="1200" spc="-5">
                <a:latin typeface="Arial"/>
                <a:cs typeface="Arial"/>
              </a:rPr>
              <a:t>better</a:t>
            </a:r>
            <a:r>
              <a:rPr dirty="0" sz="1200" spc="40">
                <a:latin typeface="Arial"/>
                <a:cs typeface="Arial"/>
              </a:rPr>
              <a:t> </a:t>
            </a:r>
            <a:r>
              <a:rPr dirty="0" sz="1200" spc="-5">
                <a:latin typeface="Arial"/>
                <a:cs typeface="Arial"/>
              </a:rPr>
              <a:t>life</a:t>
            </a:r>
            <a:endParaRPr sz="1200">
              <a:latin typeface="Arial"/>
              <a:cs typeface="Arial"/>
            </a:endParaRPr>
          </a:p>
          <a:p>
            <a:pPr lvl="1" marL="698500" indent="-229235">
              <a:lnSpc>
                <a:spcPts val="1380"/>
              </a:lnSpc>
              <a:buFont typeface="Wingdings"/>
              <a:buChar char=""/>
              <a:tabLst>
                <a:tab pos="699135" algn="l"/>
              </a:tabLst>
            </a:pPr>
            <a:r>
              <a:rPr dirty="0" u="sng" sz="1200" spc="-5" i="1">
                <a:uFill>
                  <a:solidFill>
                    <a:srgbClr val="000000"/>
                  </a:solidFill>
                </a:uFill>
                <a:latin typeface="Arial"/>
                <a:cs typeface="Arial"/>
              </a:rPr>
              <a:t>Civil Society:</a:t>
            </a:r>
            <a:r>
              <a:rPr dirty="0" sz="1200" spc="-5" i="1">
                <a:latin typeface="Arial"/>
                <a:cs typeface="Arial"/>
              </a:rPr>
              <a:t> </a:t>
            </a:r>
            <a:r>
              <a:rPr dirty="0" sz="1200" spc="-5">
                <a:latin typeface="Arial"/>
                <a:cs typeface="Arial"/>
              </a:rPr>
              <a:t>Engaged in helping people to accept any kind of</a:t>
            </a:r>
            <a:r>
              <a:rPr dirty="0" sz="1200" spc="60">
                <a:latin typeface="Arial"/>
                <a:cs typeface="Arial"/>
              </a:rPr>
              <a:t> </a:t>
            </a:r>
            <a:r>
              <a:rPr dirty="0" sz="1200" spc="-5">
                <a:latin typeface="Arial"/>
                <a:cs typeface="Arial"/>
              </a:rPr>
              <a:t>differences</a:t>
            </a:r>
            <a:endParaRPr sz="1200">
              <a:latin typeface="Arial"/>
              <a:cs typeface="Arial"/>
            </a:endParaRPr>
          </a:p>
          <a:p>
            <a:pPr lvl="1" marL="698500" indent="-229235">
              <a:lnSpc>
                <a:spcPts val="1380"/>
              </a:lnSpc>
              <a:buFont typeface="Wingdings"/>
              <a:buChar char=""/>
              <a:tabLst>
                <a:tab pos="699135" algn="l"/>
              </a:tabLst>
            </a:pPr>
            <a:r>
              <a:rPr dirty="0" u="sng" sz="1200" spc="-5" i="1">
                <a:uFill>
                  <a:solidFill>
                    <a:srgbClr val="000000"/>
                  </a:solidFill>
                </a:uFill>
                <a:latin typeface="Arial"/>
                <a:cs typeface="Arial"/>
              </a:rPr>
              <a:t>Religious Plurality:</a:t>
            </a:r>
            <a:r>
              <a:rPr dirty="0" sz="1200" spc="-5" i="1">
                <a:latin typeface="Arial"/>
                <a:cs typeface="Arial"/>
              </a:rPr>
              <a:t> </a:t>
            </a:r>
            <a:r>
              <a:rPr dirty="0" sz="1200" spc="-5">
                <a:latin typeface="Arial"/>
                <a:cs typeface="Arial"/>
              </a:rPr>
              <a:t>Respect of other religions </a:t>
            </a:r>
            <a:r>
              <a:rPr dirty="0" sz="1200">
                <a:latin typeface="Arial"/>
                <a:cs typeface="Arial"/>
              </a:rPr>
              <a:t>and </a:t>
            </a:r>
            <a:r>
              <a:rPr dirty="0" sz="1200" spc="-5">
                <a:latin typeface="Arial"/>
                <a:cs typeface="Arial"/>
              </a:rPr>
              <a:t>other groups within</a:t>
            </a:r>
            <a:r>
              <a:rPr dirty="0" sz="1200" spc="80">
                <a:latin typeface="Arial"/>
                <a:cs typeface="Arial"/>
              </a:rPr>
              <a:t> </a:t>
            </a:r>
            <a:r>
              <a:rPr dirty="0" sz="1200" spc="-5">
                <a:latin typeface="Arial"/>
                <a:cs typeface="Arial"/>
              </a:rPr>
              <a:t>Islam.</a:t>
            </a:r>
            <a:endParaRPr sz="1200">
              <a:latin typeface="Arial"/>
              <a:cs typeface="Arial"/>
            </a:endParaRPr>
          </a:p>
          <a:p>
            <a:pPr lvl="1" marL="698500" indent="-229235">
              <a:lnSpc>
                <a:spcPts val="1380"/>
              </a:lnSpc>
              <a:buFont typeface="Wingdings"/>
              <a:buChar char=""/>
              <a:tabLst>
                <a:tab pos="699135" algn="l"/>
              </a:tabLst>
            </a:pPr>
            <a:r>
              <a:rPr dirty="0" u="sng" sz="1200" spc="-5" i="1">
                <a:uFill>
                  <a:solidFill>
                    <a:srgbClr val="000000"/>
                  </a:solidFill>
                </a:uFill>
                <a:latin typeface="Arial"/>
                <a:cs typeface="Arial"/>
              </a:rPr>
              <a:t>Understand Sufism:</a:t>
            </a:r>
            <a:r>
              <a:rPr dirty="0" sz="1200" spc="-5" i="1">
                <a:latin typeface="Arial"/>
                <a:cs typeface="Arial"/>
              </a:rPr>
              <a:t> </a:t>
            </a:r>
            <a:r>
              <a:rPr dirty="0" sz="1200" spc="-5">
                <a:latin typeface="Arial"/>
                <a:cs typeface="Arial"/>
              </a:rPr>
              <a:t>help us to understand the </a:t>
            </a:r>
            <a:r>
              <a:rPr dirty="0" sz="1200">
                <a:latin typeface="Arial"/>
                <a:cs typeface="Arial"/>
              </a:rPr>
              <a:t>real </a:t>
            </a:r>
            <a:r>
              <a:rPr dirty="0" sz="1200" spc="-5">
                <a:latin typeface="Arial"/>
                <a:cs typeface="Arial"/>
              </a:rPr>
              <a:t>concepts of</a:t>
            </a:r>
            <a:r>
              <a:rPr dirty="0" sz="1200" spc="30">
                <a:latin typeface="Arial"/>
                <a:cs typeface="Arial"/>
              </a:rPr>
              <a:t> </a:t>
            </a:r>
            <a:r>
              <a:rPr dirty="0" sz="1200">
                <a:latin typeface="Arial"/>
                <a:cs typeface="Arial"/>
              </a:rPr>
              <a:t>Islam</a:t>
            </a:r>
            <a:endParaRPr sz="1200">
              <a:latin typeface="Arial"/>
              <a:cs typeface="Arial"/>
            </a:endParaRPr>
          </a:p>
          <a:p>
            <a:pPr lvl="1" marL="698500" marR="10160" indent="-228600">
              <a:lnSpc>
                <a:spcPts val="1390"/>
              </a:lnSpc>
              <a:spcBef>
                <a:spcPts val="55"/>
              </a:spcBef>
              <a:buFont typeface="Wingdings"/>
              <a:buChar char=""/>
              <a:tabLst>
                <a:tab pos="699135" algn="l"/>
              </a:tabLst>
            </a:pPr>
            <a:r>
              <a:rPr dirty="0" u="sng" sz="1200" spc="-5" i="1">
                <a:uFill>
                  <a:solidFill>
                    <a:srgbClr val="000000"/>
                  </a:solidFill>
                </a:uFill>
                <a:latin typeface="Arial"/>
                <a:cs typeface="Arial"/>
              </a:rPr>
              <a:t>Erase Misconceptions:</a:t>
            </a:r>
            <a:r>
              <a:rPr dirty="0" sz="1200" spc="-5" i="1">
                <a:latin typeface="Arial"/>
                <a:cs typeface="Arial"/>
              </a:rPr>
              <a:t> </a:t>
            </a:r>
            <a:r>
              <a:rPr dirty="0" sz="1200" spc="-5">
                <a:latin typeface="Arial"/>
                <a:cs typeface="Arial"/>
              </a:rPr>
              <a:t>Help us </a:t>
            </a:r>
            <a:r>
              <a:rPr dirty="0" sz="1200">
                <a:latin typeface="Arial"/>
                <a:cs typeface="Arial"/>
              </a:rPr>
              <a:t>to </a:t>
            </a:r>
            <a:r>
              <a:rPr dirty="0" sz="1200" spc="-5">
                <a:latin typeface="Arial"/>
                <a:cs typeface="Arial"/>
              </a:rPr>
              <a:t>crush all misconceptions and wrong says about  </a:t>
            </a:r>
            <a:r>
              <a:rPr dirty="0" sz="1200">
                <a:latin typeface="Arial"/>
                <a:cs typeface="Arial"/>
              </a:rPr>
              <a:t>Sufism</a:t>
            </a:r>
            <a:endParaRPr sz="1200">
              <a:latin typeface="Arial"/>
              <a:cs typeface="Arial"/>
            </a:endParaRPr>
          </a:p>
          <a:p>
            <a:pPr>
              <a:lnSpc>
                <a:spcPct val="100000"/>
              </a:lnSpc>
              <a:spcBef>
                <a:spcPts val="20"/>
              </a:spcBef>
            </a:pPr>
            <a:endParaRPr sz="1100">
              <a:latin typeface="Arial"/>
              <a:cs typeface="Arial"/>
            </a:endParaRPr>
          </a:p>
          <a:p>
            <a:pPr marL="12700">
              <a:lnSpc>
                <a:spcPts val="1410"/>
              </a:lnSpc>
            </a:pPr>
            <a:r>
              <a:rPr dirty="0" u="heavy" sz="1200" spc="-5" b="1" i="1">
                <a:uFill>
                  <a:solidFill>
                    <a:srgbClr val="000000"/>
                  </a:solidFill>
                </a:uFill>
                <a:latin typeface="Arial"/>
                <a:cs typeface="Arial"/>
              </a:rPr>
              <a:t>What</a:t>
            </a:r>
            <a:r>
              <a:rPr dirty="0" u="heavy" sz="1200" spc="30" b="1" i="1">
                <a:uFill>
                  <a:solidFill>
                    <a:srgbClr val="000000"/>
                  </a:solidFill>
                </a:uFill>
                <a:latin typeface="Arial"/>
                <a:cs typeface="Arial"/>
              </a:rPr>
              <a:t> </a:t>
            </a:r>
            <a:r>
              <a:rPr dirty="0" u="heavy" sz="1200" spc="-5" b="1" i="1">
                <a:uFill>
                  <a:solidFill>
                    <a:srgbClr val="000000"/>
                  </a:solidFill>
                </a:uFill>
                <a:latin typeface="Arial"/>
                <a:cs typeface="Arial"/>
              </a:rPr>
              <a:t>are</a:t>
            </a:r>
            <a:r>
              <a:rPr dirty="0" u="heavy" sz="1200" spc="40" b="1" i="1">
                <a:uFill>
                  <a:solidFill>
                    <a:srgbClr val="000000"/>
                  </a:solidFill>
                </a:uFill>
                <a:latin typeface="Arial"/>
                <a:cs typeface="Arial"/>
              </a:rPr>
              <a:t> </a:t>
            </a:r>
            <a:r>
              <a:rPr dirty="0" u="heavy" sz="1200" spc="-5" b="1" i="1">
                <a:uFill>
                  <a:solidFill>
                    <a:srgbClr val="000000"/>
                  </a:solidFill>
                </a:uFill>
                <a:latin typeface="Arial"/>
                <a:cs typeface="Arial"/>
              </a:rPr>
              <a:t>the</a:t>
            </a:r>
            <a:r>
              <a:rPr dirty="0" u="heavy" sz="1200" spc="35" b="1" i="1">
                <a:uFill>
                  <a:solidFill>
                    <a:srgbClr val="000000"/>
                  </a:solidFill>
                </a:uFill>
                <a:latin typeface="Arial"/>
                <a:cs typeface="Arial"/>
              </a:rPr>
              <a:t> </a:t>
            </a:r>
            <a:r>
              <a:rPr dirty="0" u="heavy" sz="1200" spc="-5" b="1" i="1">
                <a:uFill>
                  <a:solidFill>
                    <a:srgbClr val="000000"/>
                  </a:solidFill>
                </a:uFill>
                <a:latin typeface="Arial"/>
                <a:cs typeface="Arial"/>
              </a:rPr>
              <a:t>main</a:t>
            </a:r>
            <a:r>
              <a:rPr dirty="0" u="heavy" sz="1200" spc="30" b="1" i="1">
                <a:uFill>
                  <a:solidFill>
                    <a:srgbClr val="000000"/>
                  </a:solidFill>
                </a:uFill>
                <a:latin typeface="Arial"/>
                <a:cs typeface="Arial"/>
              </a:rPr>
              <a:t> </a:t>
            </a:r>
            <a:r>
              <a:rPr dirty="0" u="heavy" sz="1200" spc="-5" b="1" i="1">
                <a:uFill>
                  <a:solidFill>
                    <a:srgbClr val="000000"/>
                  </a:solidFill>
                </a:uFill>
                <a:latin typeface="Arial"/>
                <a:cs typeface="Arial"/>
              </a:rPr>
              <a:t>teachings</a:t>
            </a:r>
            <a:r>
              <a:rPr dirty="0" u="heavy" sz="1200" spc="35" b="1" i="1">
                <a:uFill>
                  <a:solidFill>
                    <a:srgbClr val="000000"/>
                  </a:solidFill>
                </a:uFill>
                <a:latin typeface="Arial"/>
                <a:cs typeface="Arial"/>
              </a:rPr>
              <a:t> </a:t>
            </a:r>
            <a:r>
              <a:rPr dirty="0" u="heavy" sz="1200" b="1" i="1">
                <a:uFill>
                  <a:solidFill>
                    <a:srgbClr val="000000"/>
                  </a:solidFill>
                </a:uFill>
                <a:latin typeface="Arial"/>
                <a:cs typeface="Arial"/>
              </a:rPr>
              <a:t>of</a:t>
            </a:r>
            <a:r>
              <a:rPr dirty="0" u="heavy" sz="1200" spc="25" b="1" i="1">
                <a:uFill>
                  <a:solidFill>
                    <a:srgbClr val="000000"/>
                  </a:solidFill>
                </a:uFill>
                <a:latin typeface="Arial"/>
                <a:cs typeface="Arial"/>
              </a:rPr>
              <a:t> </a:t>
            </a:r>
            <a:r>
              <a:rPr dirty="0" u="heavy" sz="1200" b="1" i="1">
                <a:uFill>
                  <a:solidFill>
                    <a:srgbClr val="000000"/>
                  </a:solidFill>
                </a:uFill>
                <a:latin typeface="Arial"/>
                <a:cs typeface="Arial"/>
              </a:rPr>
              <a:t>al-Ghazzali</a:t>
            </a:r>
            <a:r>
              <a:rPr dirty="0" u="heavy" sz="1200" spc="35" b="1" i="1">
                <a:uFill>
                  <a:solidFill>
                    <a:srgbClr val="000000"/>
                  </a:solidFill>
                </a:uFill>
                <a:latin typeface="Arial"/>
                <a:cs typeface="Arial"/>
              </a:rPr>
              <a:t> </a:t>
            </a:r>
            <a:r>
              <a:rPr dirty="0" u="heavy" sz="1200" spc="-55" b="1" i="1">
                <a:uFill>
                  <a:solidFill>
                    <a:srgbClr val="000000"/>
                  </a:solidFill>
                </a:uFill>
                <a:latin typeface="Arial"/>
                <a:cs typeface="Arial"/>
              </a:rPr>
              <a:t>Ihya‟</a:t>
            </a:r>
            <a:r>
              <a:rPr dirty="0" u="heavy" sz="1200" spc="35" b="1" i="1">
                <a:uFill>
                  <a:solidFill>
                    <a:srgbClr val="000000"/>
                  </a:solidFill>
                </a:uFill>
                <a:latin typeface="Arial"/>
                <a:cs typeface="Arial"/>
              </a:rPr>
              <a:t> </a:t>
            </a:r>
            <a:r>
              <a:rPr dirty="0" u="heavy" sz="1200" spc="-60" b="1" i="1">
                <a:uFill>
                  <a:solidFill>
                    <a:srgbClr val="000000"/>
                  </a:solidFill>
                </a:uFill>
                <a:latin typeface="Arial"/>
                <a:cs typeface="Arial"/>
              </a:rPr>
              <a:t>„ulum</a:t>
            </a:r>
            <a:r>
              <a:rPr dirty="0" u="heavy" sz="1200" spc="30" b="1" i="1">
                <a:uFill>
                  <a:solidFill>
                    <a:srgbClr val="000000"/>
                  </a:solidFill>
                </a:uFill>
                <a:latin typeface="Arial"/>
                <a:cs typeface="Arial"/>
              </a:rPr>
              <a:t> </a:t>
            </a:r>
            <a:r>
              <a:rPr dirty="0" u="heavy" sz="1200" b="1" i="1">
                <a:uFill>
                  <a:solidFill>
                    <a:srgbClr val="000000"/>
                  </a:solidFill>
                </a:uFill>
                <a:latin typeface="Arial"/>
                <a:cs typeface="Arial"/>
              </a:rPr>
              <a:t>al-din</a:t>
            </a:r>
            <a:r>
              <a:rPr dirty="0" u="heavy" sz="1200" spc="35" b="1" i="1">
                <a:uFill>
                  <a:solidFill>
                    <a:srgbClr val="000000"/>
                  </a:solidFill>
                </a:uFill>
                <a:latin typeface="Arial"/>
                <a:cs typeface="Arial"/>
              </a:rPr>
              <a:t> </a:t>
            </a:r>
            <a:r>
              <a:rPr dirty="0" u="heavy" sz="1200" spc="-35" b="1" i="1">
                <a:uFill>
                  <a:solidFill>
                    <a:srgbClr val="000000"/>
                  </a:solidFill>
                </a:uFill>
                <a:latin typeface="Arial"/>
                <a:cs typeface="Arial"/>
              </a:rPr>
              <a:t>(„Revival</a:t>
            </a:r>
            <a:r>
              <a:rPr dirty="0" u="heavy" sz="1200" spc="35" b="1" i="1">
                <a:uFill>
                  <a:solidFill>
                    <a:srgbClr val="000000"/>
                  </a:solidFill>
                </a:uFill>
                <a:latin typeface="Arial"/>
                <a:cs typeface="Arial"/>
              </a:rPr>
              <a:t> </a:t>
            </a:r>
            <a:r>
              <a:rPr dirty="0" u="heavy" sz="1200" b="1" i="1">
                <a:uFill>
                  <a:solidFill>
                    <a:srgbClr val="000000"/>
                  </a:solidFill>
                </a:uFill>
                <a:latin typeface="Arial"/>
                <a:cs typeface="Arial"/>
              </a:rPr>
              <a:t>of</a:t>
            </a:r>
            <a:r>
              <a:rPr dirty="0" u="heavy" sz="1200" spc="25" b="1" i="1">
                <a:uFill>
                  <a:solidFill>
                    <a:srgbClr val="000000"/>
                  </a:solidFill>
                </a:uFill>
                <a:latin typeface="Arial"/>
                <a:cs typeface="Arial"/>
              </a:rPr>
              <a:t> </a:t>
            </a:r>
            <a:r>
              <a:rPr dirty="0" u="heavy" sz="1200" spc="-5" b="1" i="1">
                <a:uFill>
                  <a:solidFill>
                    <a:srgbClr val="000000"/>
                  </a:solidFill>
                </a:uFill>
                <a:latin typeface="Arial"/>
                <a:cs typeface="Arial"/>
              </a:rPr>
              <a:t>the</a:t>
            </a:r>
            <a:r>
              <a:rPr dirty="0" u="heavy" sz="1200" spc="35" b="1" i="1">
                <a:uFill>
                  <a:solidFill>
                    <a:srgbClr val="000000"/>
                  </a:solidFill>
                </a:uFill>
                <a:latin typeface="Arial"/>
                <a:cs typeface="Arial"/>
              </a:rPr>
              <a:t> </a:t>
            </a:r>
            <a:r>
              <a:rPr dirty="0" u="heavy" sz="1200" b="1" i="1">
                <a:uFill>
                  <a:solidFill>
                    <a:srgbClr val="000000"/>
                  </a:solidFill>
                </a:uFill>
                <a:latin typeface="Arial"/>
                <a:cs typeface="Arial"/>
              </a:rPr>
              <a:t>Religious</a:t>
            </a:r>
            <a:endParaRPr sz="1200">
              <a:latin typeface="Arial"/>
              <a:cs typeface="Arial"/>
            </a:endParaRPr>
          </a:p>
          <a:p>
            <a:pPr marL="12700">
              <a:lnSpc>
                <a:spcPts val="1410"/>
              </a:lnSpc>
            </a:pPr>
            <a:r>
              <a:rPr dirty="0" u="heavy" sz="1200" spc="-300">
                <a:uFill>
                  <a:solidFill>
                    <a:srgbClr val="000000"/>
                  </a:solidFill>
                </a:uFill>
                <a:latin typeface="Times New Roman"/>
                <a:cs typeface="Times New Roman"/>
              </a:rPr>
              <a:t> </a:t>
            </a:r>
            <a:r>
              <a:rPr dirty="0" u="heavy" sz="1200" spc="-30" b="1" i="1">
                <a:uFill>
                  <a:solidFill>
                    <a:srgbClr val="000000"/>
                  </a:solidFill>
                </a:uFill>
                <a:latin typeface="Arial"/>
                <a:cs typeface="Arial"/>
              </a:rPr>
              <a:t>Sciences‟)?</a:t>
            </a:r>
            <a:endParaRPr sz="1200">
              <a:latin typeface="Arial"/>
              <a:cs typeface="Arial"/>
            </a:endParaRPr>
          </a:p>
          <a:p>
            <a:pPr>
              <a:lnSpc>
                <a:spcPct val="100000"/>
              </a:lnSpc>
              <a:spcBef>
                <a:spcPts val="35"/>
              </a:spcBef>
            </a:pPr>
            <a:endParaRPr sz="1200">
              <a:latin typeface="Arial"/>
              <a:cs typeface="Arial"/>
            </a:endParaRPr>
          </a:p>
          <a:p>
            <a:pPr algn="just" marL="469900" marR="5080" indent="-229235">
              <a:lnSpc>
                <a:spcPts val="1380"/>
              </a:lnSpc>
              <a:buAutoNum type="arabicPeriod"/>
              <a:tabLst>
                <a:tab pos="470534" algn="l"/>
              </a:tabLst>
            </a:pPr>
            <a:r>
              <a:rPr dirty="0" sz="1200" spc="-5">
                <a:latin typeface="Arial"/>
                <a:cs typeface="Arial"/>
              </a:rPr>
              <a:t>Knowledge: </a:t>
            </a:r>
            <a:r>
              <a:rPr dirty="0" sz="1200" spc="-270">
                <a:latin typeface="Arial"/>
                <a:cs typeface="Arial"/>
              </a:rPr>
              <a:t>―It </a:t>
            </a:r>
            <a:r>
              <a:rPr dirty="0" sz="1200" spc="-5">
                <a:latin typeface="Arial"/>
                <a:cs typeface="Arial"/>
              </a:rPr>
              <a:t>is a clear sign in </a:t>
            </a:r>
            <a:r>
              <a:rPr dirty="0" sz="1200">
                <a:latin typeface="Arial"/>
                <a:cs typeface="Arial"/>
              </a:rPr>
              <a:t>the </a:t>
            </a:r>
            <a:r>
              <a:rPr dirty="0" sz="1200" spc="-5">
                <a:latin typeface="Arial"/>
                <a:cs typeface="Arial"/>
              </a:rPr>
              <a:t>hearts of </a:t>
            </a:r>
            <a:r>
              <a:rPr dirty="0" sz="1200">
                <a:latin typeface="Arial"/>
                <a:cs typeface="Arial"/>
              </a:rPr>
              <a:t>those to </a:t>
            </a:r>
            <a:r>
              <a:rPr dirty="0" sz="1200" spc="-5">
                <a:latin typeface="Arial"/>
                <a:cs typeface="Arial"/>
              </a:rPr>
              <a:t>whom knowledge has </a:t>
            </a:r>
            <a:r>
              <a:rPr dirty="0" sz="1200" spc="-10">
                <a:latin typeface="Arial"/>
                <a:cs typeface="Arial"/>
              </a:rPr>
              <a:t>reached‖.  </a:t>
            </a:r>
            <a:r>
              <a:rPr dirty="0" sz="1200">
                <a:latin typeface="Arial"/>
                <a:cs typeface="Arial"/>
              </a:rPr>
              <a:t>It </a:t>
            </a:r>
            <a:r>
              <a:rPr dirty="0" sz="1200" spc="-5">
                <a:latin typeface="Arial"/>
                <a:cs typeface="Arial"/>
              </a:rPr>
              <a:t>is obligatory upon </a:t>
            </a:r>
            <a:r>
              <a:rPr dirty="0" sz="1200">
                <a:latin typeface="Arial"/>
                <a:cs typeface="Arial"/>
              </a:rPr>
              <a:t>Muslims. </a:t>
            </a:r>
            <a:r>
              <a:rPr dirty="0" sz="1200" spc="-5">
                <a:latin typeface="Arial"/>
                <a:cs typeface="Arial"/>
              </a:rPr>
              <a:t>The superiority of the one </a:t>
            </a:r>
            <a:r>
              <a:rPr dirty="0" sz="1200" spc="-10">
                <a:latin typeface="Arial"/>
                <a:cs typeface="Arial"/>
              </a:rPr>
              <a:t>who </a:t>
            </a:r>
            <a:r>
              <a:rPr dirty="0" sz="1200" spc="-5">
                <a:latin typeface="Arial"/>
                <a:cs typeface="Arial"/>
              </a:rPr>
              <a:t>leans and teaches over  </a:t>
            </a:r>
            <a:r>
              <a:rPr dirty="0" sz="1200">
                <a:latin typeface="Arial"/>
                <a:cs typeface="Arial"/>
              </a:rPr>
              <a:t>other</a:t>
            </a:r>
            <a:r>
              <a:rPr dirty="0" sz="1200" spc="-20">
                <a:latin typeface="Arial"/>
                <a:cs typeface="Arial"/>
              </a:rPr>
              <a:t> </a:t>
            </a:r>
            <a:r>
              <a:rPr dirty="0" sz="1200" spc="-5">
                <a:latin typeface="Arial"/>
                <a:cs typeface="Arial"/>
              </a:rPr>
              <a:t>people.</a:t>
            </a:r>
            <a:endParaRPr sz="1200">
              <a:latin typeface="Arial"/>
              <a:cs typeface="Arial"/>
            </a:endParaRPr>
          </a:p>
          <a:p>
            <a:pPr algn="just" marL="469900" indent="-229235">
              <a:lnSpc>
                <a:spcPts val="1315"/>
              </a:lnSpc>
              <a:buAutoNum type="arabicPeriod"/>
              <a:tabLst>
                <a:tab pos="470534" algn="l"/>
              </a:tabLst>
            </a:pPr>
            <a:r>
              <a:rPr dirty="0" sz="1200" spc="-5">
                <a:latin typeface="Arial"/>
                <a:cs typeface="Arial"/>
              </a:rPr>
              <a:t>5 pillars: strict observance of all</a:t>
            </a:r>
            <a:r>
              <a:rPr dirty="0" sz="1200" spc="20">
                <a:latin typeface="Arial"/>
                <a:cs typeface="Arial"/>
              </a:rPr>
              <a:t> </a:t>
            </a:r>
            <a:r>
              <a:rPr dirty="0" sz="1200" spc="-5">
                <a:latin typeface="Arial"/>
                <a:cs typeface="Arial"/>
              </a:rPr>
              <a:t>pillars</a:t>
            </a:r>
            <a:endParaRPr sz="1200">
              <a:latin typeface="Arial"/>
              <a:cs typeface="Arial"/>
            </a:endParaRPr>
          </a:p>
          <a:p>
            <a:pPr algn="just" marL="469900" indent="-229235">
              <a:lnSpc>
                <a:spcPts val="1380"/>
              </a:lnSpc>
              <a:buAutoNum type="arabicPeriod"/>
              <a:tabLst>
                <a:tab pos="470534" algn="l"/>
              </a:tabLst>
            </a:pPr>
            <a:r>
              <a:rPr dirty="0" sz="1200" spc="-5">
                <a:latin typeface="Arial"/>
                <a:cs typeface="Arial"/>
              </a:rPr>
              <a:t>Dhikr </a:t>
            </a:r>
            <a:r>
              <a:rPr dirty="0" sz="1200">
                <a:latin typeface="Arial"/>
                <a:cs typeface="Arial"/>
              </a:rPr>
              <a:t>and </a:t>
            </a:r>
            <a:r>
              <a:rPr dirty="0" sz="1200" spc="-5">
                <a:latin typeface="Arial"/>
                <a:cs typeface="Arial"/>
              </a:rPr>
              <a:t>Du‘a: to be </a:t>
            </a:r>
            <a:r>
              <a:rPr dirty="0" sz="1200">
                <a:latin typeface="Arial"/>
                <a:cs typeface="Arial"/>
              </a:rPr>
              <a:t>constantly </a:t>
            </a:r>
            <a:r>
              <a:rPr dirty="0" sz="1200" spc="-5">
                <a:latin typeface="Arial"/>
                <a:cs typeface="Arial"/>
              </a:rPr>
              <a:t>in the remembrance of Allah and </a:t>
            </a:r>
            <a:r>
              <a:rPr dirty="0" sz="1200">
                <a:latin typeface="Arial"/>
                <a:cs typeface="Arial"/>
              </a:rPr>
              <a:t>to </a:t>
            </a:r>
            <a:r>
              <a:rPr dirty="0" sz="1200" spc="-5">
                <a:latin typeface="Arial"/>
                <a:cs typeface="Arial"/>
              </a:rPr>
              <a:t>ask Allah</a:t>
            </a:r>
            <a:r>
              <a:rPr dirty="0" sz="1200" spc="40">
                <a:latin typeface="Arial"/>
                <a:cs typeface="Arial"/>
              </a:rPr>
              <a:t> </a:t>
            </a:r>
            <a:r>
              <a:rPr dirty="0" sz="1200" spc="-5">
                <a:latin typeface="Arial"/>
                <a:cs typeface="Arial"/>
              </a:rPr>
              <a:t>only</a:t>
            </a:r>
            <a:endParaRPr sz="1200">
              <a:latin typeface="Arial"/>
              <a:cs typeface="Arial"/>
            </a:endParaRPr>
          </a:p>
          <a:p>
            <a:pPr marL="469900" marR="10795" indent="-229235">
              <a:lnSpc>
                <a:spcPts val="1380"/>
              </a:lnSpc>
              <a:spcBef>
                <a:spcPts val="70"/>
              </a:spcBef>
              <a:buAutoNum type="arabicPeriod"/>
              <a:tabLst>
                <a:tab pos="470534" algn="l"/>
              </a:tabLst>
            </a:pPr>
            <a:r>
              <a:rPr dirty="0" sz="1200" spc="-5">
                <a:latin typeface="Arial"/>
                <a:cs typeface="Arial"/>
              </a:rPr>
              <a:t>Rules of eating and drinking: following </a:t>
            </a:r>
            <a:r>
              <a:rPr dirty="0" sz="1200">
                <a:latin typeface="Arial"/>
                <a:cs typeface="Arial"/>
              </a:rPr>
              <a:t>the </a:t>
            </a:r>
            <a:r>
              <a:rPr dirty="0" sz="1200" spc="-10">
                <a:latin typeface="Arial"/>
                <a:cs typeface="Arial"/>
              </a:rPr>
              <a:t>path </a:t>
            </a:r>
            <a:r>
              <a:rPr dirty="0" sz="1200" spc="-5">
                <a:latin typeface="Arial"/>
                <a:cs typeface="Arial"/>
              </a:rPr>
              <a:t>and conduct of </a:t>
            </a:r>
            <a:r>
              <a:rPr dirty="0" sz="1200">
                <a:latin typeface="Arial"/>
                <a:cs typeface="Arial"/>
              </a:rPr>
              <a:t>the </a:t>
            </a:r>
            <a:r>
              <a:rPr dirty="0" sz="1200" spc="-5">
                <a:latin typeface="Arial"/>
                <a:cs typeface="Arial"/>
              </a:rPr>
              <a:t>prophet, that is the  Sunnah</a:t>
            </a:r>
            <a:endParaRPr sz="1200">
              <a:latin typeface="Arial"/>
              <a:cs typeface="Arial"/>
            </a:endParaRPr>
          </a:p>
          <a:p>
            <a:pPr marL="469900" indent="-229235">
              <a:lnSpc>
                <a:spcPts val="1315"/>
              </a:lnSpc>
              <a:buAutoNum type="arabicPeriod"/>
              <a:tabLst>
                <a:tab pos="470534" algn="l"/>
              </a:tabLst>
            </a:pPr>
            <a:r>
              <a:rPr dirty="0" sz="1200" spc="-5">
                <a:latin typeface="Arial"/>
                <a:cs typeface="Arial"/>
              </a:rPr>
              <a:t>Marriage </a:t>
            </a:r>
            <a:r>
              <a:rPr dirty="0" sz="1200">
                <a:latin typeface="Arial"/>
                <a:cs typeface="Arial"/>
              </a:rPr>
              <a:t>and </a:t>
            </a:r>
            <a:r>
              <a:rPr dirty="0" sz="1200" spc="-5">
                <a:latin typeface="Arial"/>
                <a:cs typeface="Arial"/>
              </a:rPr>
              <a:t>divorce and the duties of</a:t>
            </a:r>
            <a:r>
              <a:rPr dirty="0" sz="1200">
                <a:latin typeface="Arial"/>
                <a:cs typeface="Arial"/>
              </a:rPr>
              <a:t> </a:t>
            </a:r>
            <a:r>
              <a:rPr dirty="0" sz="1200" spc="-5">
                <a:latin typeface="Arial"/>
                <a:cs typeface="Arial"/>
              </a:rPr>
              <a:t>partners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Trade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Halal, Haram and</a:t>
            </a:r>
            <a:r>
              <a:rPr dirty="0" sz="1200" spc="5">
                <a:latin typeface="Arial"/>
                <a:cs typeface="Arial"/>
              </a:rPr>
              <a:t> </a:t>
            </a:r>
            <a:r>
              <a:rPr dirty="0" sz="1200" spc="-5">
                <a:latin typeface="Arial"/>
                <a:cs typeface="Arial"/>
              </a:rPr>
              <a:t>doubt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Love </a:t>
            </a:r>
            <a:r>
              <a:rPr dirty="0" sz="1200">
                <a:latin typeface="Arial"/>
                <a:cs typeface="Arial"/>
              </a:rPr>
              <a:t>and</a:t>
            </a:r>
            <a:r>
              <a:rPr dirty="0" sz="1200" spc="-10">
                <a:latin typeface="Arial"/>
                <a:cs typeface="Arial"/>
              </a:rPr>
              <a:t> </a:t>
            </a:r>
            <a:r>
              <a:rPr dirty="0" sz="1200" spc="-5">
                <a:latin typeface="Arial"/>
                <a:cs typeface="Arial"/>
              </a:rPr>
              <a:t>brotherhood</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Music</a:t>
            </a:r>
            <a:endParaRPr sz="1200">
              <a:latin typeface="Arial"/>
              <a:cs typeface="Arial"/>
            </a:endParaRPr>
          </a:p>
          <a:p>
            <a:pPr marL="469900" indent="-229235">
              <a:lnSpc>
                <a:spcPts val="1375"/>
              </a:lnSpc>
              <a:buAutoNum type="arabicPeriod"/>
              <a:tabLst>
                <a:tab pos="470534" algn="l"/>
              </a:tabLst>
            </a:pPr>
            <a:r>
              <a:rPr dirty="0" sz="1200" spc="-5">
                <a:latin typeface="Arial"/>
                <a:cs typeface="Arial"/>
              </a:rPr>
              <a:t>Enjoining good and prohibiting</a:t>
            </a:r>
            <a:r>
              <a:rPr dirty="0" sz="1200" spc="-10">
                <a:latin typeface="Arial"/>
                <a:cs typeface="Arial"/>
              </a:rPr>
              <a:t> </a:t>
            </a:r>
            <a:r>
              <a:rPr dirty="0" sz="1200" spc="-5">
                <a:latin typeface="Arial"/>
                <a:cs typeface="Arial"/>
              </a:rPr>
              <a:t>bad</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Conduct and character of</a:t>
            </a:r>
            <a:r>
              <a:rPr dirty="0" sz="1200" spc="20">
                <a:latin typeface="Arial"/>
                <a:cs typeface="Arial"/>
              </a:rPr>
              <a:t> </a:t>
            </a:r>
            <a:r>
              <a:rPr dirty="0" sz="1200" spc="-5">
                <a:latin typeface="Arial"/>
                <a:cs typeface="Arial"/>
              </a:rPr>
              <a:t>prophet</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Soul</a:t>
            </a:r>
            <a:endParaRPr sz="1200">
              <a:latin typeface="Arial"/>
              <a:cs typeface="Arial"/>
            </a:endParaRPr>
          </a:p>
          <a:p>
            <a:pPr marL="469900" indent="-229235">
              <a:lnSpc>
                <a:spcPts val="1380"/>
              </a:lnSpc>
              <a:buAutoNum type="arabicPeriod"/>
              <a:tabLst>
                <a:tab pos="470534" algn="l"/>
              </a:tabLst>
            </a:pPr>
            <a:r>
              <a:rPr dirty="0" sz="1200">
                <a:latin typeface="Arial"/>
                <a:cs typeface="Arial"/>
              </a:rPr>
              <a:t>Efforts for </a:t>
            </a:r>
            <a:r>
              <a:rPr dirty="0" sz="1200" spc="-5">
                <a:latin typeface="Arial"/>
                <a:cs typeface="Arial"/>
              </a:rPr>
              <a:t>good conduct in the </a:t>
            </a:r>
            <a:r>
              <a:rPr dirty="0" sz="1200" spc="-10">
                <a:latin typeface="Arial"/>
                <a:cs typeface="Arial"/>
              </a:rPr>
              <a:t>way </a:t>
            </a:r>
            <a:r>
              <a:rPr dirty="0" sz="1200">
                <a:latin typeface="Arial"/>
                <a:cs typeface="Arial"/>
              </a:rPr>
              <a:t>of</a:t>
            </a:r>
            <a:r>
              <a:rPr dirty="0" sz="1200" spc="5">
                <a:latin typeface="Arial"/>
                <a:cs typeface="Arial"/>
              </a:rPr>
              <a:t> </a:t>
            </a:r>
            <a:r>
              <a:rPr dirty="0" sz="1200" spc="-5">
                <a:latin typeface="Arial"/>
                <a:cs typeface="Arial"/>
              </a:rPr>
              <a:t>Allah</a:t>
            </a:r>
            <a:endParaRPr sz="1200">
              <a:latin typeface="Arial"/>
              <a:cs typeface="Arial"/>
            </a:endParaRPr>
          </a:p>
          <a:p>
            <a:pPr marL="469900" indent="-229235">
              <a:lnSpc>
                <a:spcPts val="1380"/>
              </a:lnSpc>
              <a:buAutoNum type="arabicPeriod"/>
              <a:tabLst>
                <a:tab pos="470534" algn="l"/>
              </a:tabLst>
            </a:pPr>
            <a:r>
              <a:rPr dirty="0" sz="1200">
                <a:latin typeface="Arial"/>
                <a:cs typeface="Arial"/>
              </a:rPr>
              <a:t>Harms </a:t>
            </a:r>
            <a:r>
              <a:rPr dirty="0" sz="1200" spc="-5">
                <a:latin typeface="Arial"/>
                <a:cs typeface="Arial"/>
              </a:rPr>
              <a:t>of greed</a:t>
            </a:r>
            <a:endParaRPr sz="1200">
              <a:latin typeface="Arial"/>
              <a:cs typeface="Arial"/>
            </a:endParaRPr>
          </a:p>
          <a:p>
            <a:pPr marL="469900" indent="-229235">
              <a:lnSpc>
                <a:spcPts val="1380"/>
              </a:lnSpc>
              <a:buAutoNum type="arabicPeriod"/>
              <a:tabLst>
                <a:tab pos="470534" algn="l"/>
              </a:tabLst>
            </a:pPr>
            <a:r>
              <a:rPr dirty="0" sz="1200">
                <a:latin typeface="Arial"/>
                <a:cs typeface="Arial"/>
              </a:rPr>
              <a:t>Harms </a:t>
            </a:r>
            <a:r>
              <a:rPr dirty="0" sz="1200" spc="-5">
                <a:latin typeface="Arial"/>
                <a:cs typeface="Arial"/>
              </a:rPr>
              <a:t>of tongue</a:t>
            </a:r>
            <a:endParaRPr sz="1200">
              <a:latin typeface="Arial"/>
              <a:cs typeface="Arial"/>
            </a:endParaRPr>
          </a:p>
          <a:p>
            <a:pPr marL="469900" indent="-229235">
              <a:lnSpc>
                <a:spcPts val="1380"/>
              </a:lnSpc>
              <a:buAutoNum type="arabicPeriod"/>
              <a:tabLst>
                <a:tab pos="470534" algn="l"/>
              </a:tabLst>
            </a:pPr>
            <a:r>
              <a:rPr dirty="0" sz="1200">
                <a:latin typeface="Arial"/>
                <a:cs typeface="Arial"/>
              </a:rPr>
              <a:t>Harms </a:t>
            </a:r>
            <a:r>
              <a:rPr dirty="0" sz="1200" spc="-5">
                <a:latin typeface="Arial"/>
                <a:cs typeface="Arial"/>
              </a:rPr>
              <a:t>of anger</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Evils </a:t>
            </a:r>
            <a:r>
              <a:rPr dirty="0" sz="1200">
                <a:latin typeface="Arial"/>
                <a:cs typeface="Arial"/>
              </a:rPr>
              <a:t>of </a:t>
            </a:r>
            <a:r>
              <a:rPr dirty="0" sz="1200" spc="-5">
                <a:latin typeface="Arial"/>
                <a:cs typeface="Arial"/>
              </a:rPr>
              <a:t>the</a:t>
            </a:r>
            <a:r>
              <a:rPr dirty="0" sz="1200" spc="10">
                <a:latin typeface="Arial"/>
                <a:cs typeface="Arial"/>
              </a:rPr>
              <a:t> </a:t>
            </a:r>
            <a:r>
              <a:rPr dirty="0" sz="1200" spc="-10">
                <a:latin typeface="Arial"/>
                <a:cs typeface="Arial"/>
              </a:rPr>
              <a:t>world</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Evils </a:t>
            </a:r>
            <a:r>
              <a:rPr dirty="0" sz="1200">
                <a:latin typeface="Arial"/>
                <a:cs typeface="Arial"/>
              </a:rPr>
              <a:t>of</a:t>
            </a:r>
            <a:r>
              <a:rPr dirty="0" sz="1200" spc="10">
                <a:latin typeface="Arial"/>
                <a:cs typeface="Arial"/>
              </a:rPr>
              <a:t> </a:t>
            </a:r>
            <a:r>
              <a:rPr dirty="0" sz="1200" spc="-5">
                <a:latin typeface="Arial"/>
                <a:cs typeface="Arial"/>
              </a:rPr>
              <a:t>wealth</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Evils </a:t>
            </a:r>
            <a:r>
              <a:rPr dirty="0" sz="1200">
                <a:latin typeface="Arial"/>
                <a:cs typeface="Arial"/>
              </a:rPr>
              <a:t>of</a:t>
            </a:r>
            <a:r>
              <a:rPr dirty="0" sz="1200" spc="10">
                <a:latin typeface="Arial"/>
                <a:cs typeface="Arial"/>
              </a:rPr>
              <a:t> </a:t>
            </a:r>
            <a:r>
              <a:rPr dirty="0" sz="1200" spc="-5">
                <a:latin typeface="Arial"/>
                <a:cs typeface="Arial"/>
              </a:rPr>
              <a:t>power</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Evils </a:t>
            </a:r>
            <a:r>
              <a:rPr dirty="0" sz="1200">
                <a:latin typeface="Arial"/>
                <a:cs typeface="Arial"/>
              </a:rPr>
              <a:t>of</a:t>
            </a:r>
            <a:r>
              <a:rPr dirty="0" sz="1200" spc="10">
                <a:latin typeface="Arial"/>
                <a:cs typeface="Arial"/>
              </a:rPr>
              <a:t> </a:t>
            </a:r>
            <a:r>
              <a:rPr dirty="0" sz="1200" spc="-5">
                <a:latin typeface="Arial"/>
                <a:cs typeface="Arial"/>
              </a:rPr>
              <a:t>pride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Evils </a:t>
            </a:r>
            <a:r>
              <a:rPr dirty="0" sz="1200">
                <a:latin typeface="Arial"/>
                <a:cs typeface="Arial"/>
              </a:rPr>
              <a:t>of </a:t>
            </a:r>
            <a:r>
              <a:rPr dirty="0" sz="1200" spc="-5">
                <a:latin typeface="Arial"/>
                <a:cs typeface="Arial"/>
              </a:rPr>
              <a:t>erroneous</a:t>
            </a:r>
            <a:r>
              <a:rPr dirty="0" sz="1200" spc="10">
                <a:latin typeface="Arial"/>
                <a:cs typeface="Arial"/>
              </a:rPr>
              <a:t> </a:t>
            </a:r>
            <a:r>
              <a:rPr dirty="0" sz="1200" spc="-5">
                <a:latin typeface="Arial"/>
                <a:cs typeface="Arial"/>
              </a:rPr>
              <a:t>beliefs</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Tawba</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Patience and</a:t>
            </a:r>
            <a:r>
              <a:rPr dirty="0" sz="1200" spc="-10">
                <a:latin typeface="Arial"/>
                <a:cs typeface="Arial"/>
              </a:rPr>
              <a:t> </a:t>
            </a:r>
            <a:r>
              <a:rPr dirty="0" sz="1200" spc="-5">
                <a:latin typeface="Arial"/>
                <a:cs typeface="Arial"/>
              </a:rPr>
              <a:t>Gratefulness</a:t>
            </a:r>
            <a:endParaRPr sz="1200">
              <a:latin typeface="Arial"/>
              <a:cs typeface="Arial"/>
            </a:endParaRPr>
          </a:p>
          <a:p>
            <a:pPr marL="469900" indent="-229235">
              <a:lnSpc>
                <a:spcPts val="1380"/>
              </a:lnSpc>
              <a:buAutoNum type="arabicPeriod"/>
              <a:tabLst>
                <a:tab pos="470534" algn="l"/>
              </a:tabLst>
            </a:pPr>
            <a:r>
              <a:rPr dirty="0" sz="1200">
                <a:latin typeface="Arial"/>
                <a:cs typeface="Arial"/>
              </a:rPr>
              <a:t>Fear </a:t>
            </a:r>
            <a:r>
              <a:rPr dirty="0" sz="1200" spc="-5">
                <a:latin typeface="Arial"/>
                <a:cs typeface="Arial"/>
              </a:rPr>
              <a:t>and Hope</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Poverty </a:t>
            </a:r>
            <a:r>
              <a:rPr dirty="0" sz="1200">
                <a:latin typeface="Arial"/>
                <a:cs typeface="Arial"/>
              </a:rPr>
              <a:t>and</a:t>
            </a:r>
            <a:r>
              <a:rPr dirty="0" sz="1200" spc="-15">
                <a:latin typeface="Arial"/>
                <a:cs typeface="Arial"/>
              </a:rPr>
              <a:t> </a:t>
            </a:r>
            <a:r>
              <a:rPr dirty="0" sz="1200" spc="-5">
                <a:latin typeface="Arial"/>
                <a:cs typeface="Arial"/>
              </a:rPr>
              <a:t>Renunciation</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150</a:t>
            </a:r>
            <a:endParaRPr sz="1200">
              <a:latin typeface="Times New Roman"/>
              <a:cs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718819" y="799592"/>
            <a:ext cx="6311265" cy="6341745"/>
          </a:xfrm>
          <a:prstGeom prst="rect">
            <a:avLst/>
          </a:prstGeom>
        </p:spPr>
        <p:txBody>
          <a:bodyPr wrap="square" lIns="0" tIns="12700" rIns="0" bIns="0" rtlCol="0" vert="horz">
            <a:spAutoFit/>
          </a:bodyPr>
          <a:lstStyle/>
          <a:p>
            <a:pPr marL="469900" indent="-229235">
              <a:lnSpc>
                <a:spcPts val="1410"/>
              </a:lnSpc>
              <a:spcBef>
                <a:spcPts val="100"/>
              </a:spcBef>
              <a:buAutoNum type="arabicPeriod" startAt="26"/>
              <a:tabLst>
                <a:tab pos="470534" algn="l"/>
              </a:tabLst>
            </a:pPr>
            <a:r>
              <a:rPr dirty="0" sz="1200" spc="-5">
                <a:latin typeface="Arial"/>
                <a:cs typeface="Arial"/>
              </a:rPr>
              <a:t>Tawheed and</a:t>
            </a:r>
            <a:r>
              <a:rPr dirty="0" sz="1200" spc="-10">
                <a:latin typeface="Arial"/>
                <a:cs typeface="Arial"/>
              </a:rPr>
              <a:t> </a:t>
            </a:r>
            <a:r>
              <a:rPr dirty="0" sz="1200" spc="-5">
                <a:latin typeface="Arial"/>
                <a:cs typeface="Arial"/>
              </a:rPr>
              <a:t>Tawakkul</a:t>
            </a:r>
            <a:endParaRPr sz="1200">
              <a:latin typeface="Arial"/>
              <a:cs typeface="Arial"/>
            </a:endParaRPr>
          </a:p>
          <a:p>
            <a:pPr marL="469900" indent="-229235">
              <a:lnSpc>
                <a:spcPts val="1380"/>
              </a:lnSpc>
              <a:buAutoNum type="arabicPeriod" startAt="26"/>
              <a:tabLst>
                <a:tab pos="470534" algn="l"/>
              </a:tabLst>
            </a:pPr>
            <a:r>
              <a:rPr dirty="0" sz="1200" spc="-5">
                <a:latin typeface="Arial"/>
                <a:cs typeface="Arial"/>
              </a:rPr>
              <a:t>Love </a:t>
            </a:r>
            <a:r>
              <a:rPr dirty="0" sz="1200">
                <a:latin typeface="Arial"/>
                <a:cs typeface="Arial"/>
              </a:rPr>
              <a:t>and</a:t>
            </a:r>
            <a:r>
              <a:rPr dirty="0" sz="1200" spc="-10">
                <a:latin typeface="Arial"/>
                <a:cs typeface="Arial"/>
              </a:rPr>
              <a:t> </a:t>
            </a:r>
            <a:r>
              <a:rPr dirty="0" sz="1200" spc="-5">
                <a:latin typeface="Arial"/>
                <a:cs typeface="Arial"/>
              </a:rPr>
              <a:t>Attachment</a:t>
            </a:r>
            <a:endParaRPr sz="1200">
              <a:latin typeface="Arial"/>
              <a:cs typeface="Arial"/>
            </a:endParaRPr>
          </a:p>
          <a:p>
            <a:pPr marL="469900" indent="-229235">
              <a:lnSpc>
                <a:spcPts val="1380"/>
              </a:lnSpc>
              <a:buAutoNum type="arabicPeriod" startAt="26"/>
              <a:tabLst>
                <a:tab pos="470534" algn="l"/>
              </a:tabLst>
            </a:pPr>
            <a:r>
              <a:rPr dirty="0" sz="1200">
                <a:latin typeface="Arial"/>
                <a:cs typeface="Arial"/>
              </a:rPr>
              <a:t>Will /</a:t>
            </a:r>
            <a:r>
              <a:rPr dirty="0" sz="1200" spc="-20">
                <a:latin typeface="Arial"/>
                <a:cs typeface="Arial"/>
              </a:rPr>
              <a:t> </a:t>
            </a:r>
            <a:r>
              <a:rPr dirty="0" sz="1200" spc="-5">
                <a:latin typeface="Arial"/>
                <a:cs typeface="Arial"/>
              </a:rPr>
              <a:t>Intention</a:t>
            </a:r>
            <a:endParaRPr sz="1200">
              <a:latin typeface="Arial"/>
              <a:cs typeface="Arial"/>
            </a:endParaRPr>
          </a:p>
          <a:p>
            <a:pPr marL="469900" indent="-229235">
              <a:lnSpc>
                <a:spcPts val="1380"/>
              </a:lnSpc>
              <a:buAutoNum type="arabicPeriod" startAt="26"/>
              <a:tabLst>
                <a:tab pos="470534" algn="l"/>
              </a:tabLst>
            </a:pPr>
            <a:r>
              <a:rPr dirty="0" sz="1200" spc="-5">
                <a:latin typeface="Arial"/>
                <a:cs typeface="Arial"/>
              </a:rPr>
              <a:t>Meditation and</a:t>
            </a:r>
            <a:r>
              <a:rPr dirty="0" sz="1200">
                <a:latin typeface="Arial"/>
                <a:cs typeface="Arial"/>
              </a:rPr>
              <a:t> </a:t>
            </a:r>
            <a:r>
              <a:rPr dirty="0" sz="1200" spc="-5">
                <a:latin typeface="Arial"/>
                <a:cs typeface="Arial"/>
              </a:rPr>
              <a:t>Introspection</a:t>
            </a:r>
            <a:endParaRPr sz="1200">
              <a:latin typeface="Arial"/>
              <a:cs typeface="Arial"/>
            </a:endParaRPr>
          </a:p>
          <a:p>
            <a:pPr marL="469900" indent="-229235">
              <a:lnSpc>
                <a:spcPts val="1380"/>
              </a:lnSpc>
              <a:buAutoNum type="arabicPeriod" startAt="26"/>
              <a:tabLst>
                <a:tab pos="470534" algn="l"/>
              </a:tabLst>
            </a:pPr>
            <a:r>
              <a:rPr dirty="0" sz="1200" spc="-5">
                <a:latin typeface="Arial"/>
                <a:cs typeface="Arial"/>
              </a:rPr>
              <a:t>Pondering over</a:t>
            </a:r>
            <a:r>
              <a:rPr dirty="0" sz="1200" spc="-10">
                <a:latin typeface="Arial"/>
                <a:cs typeface="Arial"/>
              </a:rPr>
              <a:t> </a:t>
            </a:r>
            <a:r>
              <a:rPr dirty="0" sz="1200" spc="-5">
                <a:latin typeface="Arial"/>
                <a:cs typeface="Arial"/>
              </a:rPr>
              <a:t>good</a:t>
            </a:r>
            <a:endParaRPr sz="1200">
              <a:latin typeface="Arial"/>
              <a:cs typeface="Arial"/>
            </a:endParaRPr>
          </a:p>
          <a:p>
            <a:pPr marL="469900" indent="-229235">
              <a:lnSpc>
                <a:spcPts val="1410"/>
              </a:lnSpc>
              <a:buAutoNum type="arabicPeriod" startAt="26"/>
              <a:tabLst>
                <a:tab pos="470534" algn="l"/>
              </a:tabLst>
            </a:pPr>
            <a:r>
              <a:rPr dirty="0" sz="1200">
                <a:latin typeface="Arial"/>
                <a:cs typeface="Arial"/>
              </a:rPr>
              <a:t>Death </a:t>
            </a:r>
            <a:r>
              <a:rPr dirty="0" sz="1200" spc="-5">
                <a:latin typeface="Arial"/>
                <a:cs typeface="Arial"/>
              </a:rPr>
              <a:t>and subsequent</a:t>
            </a:r>
            <a:r>
              <a:rPr dirty="0" sz="1200" spc="-25">
                <a:latin typeface="Arial"/>
                <a:cs typeface="Arial"/>
              </a:rPr>
              <a:t> </a:t>
            </a:r>
            <a:r>
              <a:rPr dirty="0" sz="1200" spc="-5">
                <a:latin typeface="Arial"/>
                <a:cs typeface="Arial"/>
              </a:rPr>
              <a:t>events</a:t>
            </a:r>
            <a:endParaRPr sz="1200">
              <a:latin typeface="Arial"/>
              <a:cs typeface="Arial"/>
            </a:endParaRPr>
          </a:p>
          <a:p>
            <a:pPr>
              <a:lnSpc>
                <a:spcPct val="100000"/>
              </a:lnSpc>
            </a:pPr>
            <a:endParaRPr sz="1300">
              <a:latin typeface="Arial"/>
              <a:cs typeface="Arial"/>
            </a:endParaRPr>
          </a:p>
          <a:p>
            <a:pPr>
              <a:lnSpc>
                <a:spcPct val="100000"/>
              </a:lnSpc>
              <a:spcBef>
                <a:spcPts val="55"/>
              </a:spcBef>
            </a:pPr>
            <a:endParaRPr sz="1000">
              <a:latin typeface="Arial"/>
              <a:cs typeface="Arial"/>
            </a:endParaRPr>
          </a:p>
          <a:p>
            <a:pPr marL="12700">
              <a:lnSpc>
                <a:spcPts val="141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marL="2649855">
              <a:lnSpc>
                <a:spcPts val="141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35"/>
              </a:spcBef>
            </a:pPr>
            <a:endParaRPr sz="1200">
              <a:latin typeface="Arial"/>
              <a:cs typeface="Arial"/>
            </a:endParaRPr>
          </a:p>
          <a:p>
            <a:pPr marL="12700" marR="7620">
              <a:lnSpc>
                <a:spcPts val="1380"/>
              </a:lnSpc>
            </a:pPr>
            <a:r>
              <a:rPr dirty="0" sz="1200" spc="-5" b="1">
                <a:latin typeface="Arial"/>
                <a:cs typeface="Arial"/>
              </a:rPr>
              <a:t>8 </a:t>
            </a:r>
            <a:r>
              <a:rPr dirty="0" sz="1200" spc="-5">
                <a:latin typeface="Arial"/>
                <a:cs typeface="Arial"/>
              </a:rPr>
              <a:t>How </a:t>
            </a:r>
            <a:r>
              <a:rPr dirty="0" sz="1200">
                <a:latin typeface="Arial"/>
                <a:cs typeface="Arial"/>
              </a:rPr>
              <a:t>far </a:t>
            </a:r>
            <a:r>
              <a:rPr dirty="0" sz="1200" spc="-5">
                <a:latin typeface="Arial"/>
                <a:cs typeface="Arial"/>
              </a:rPr>
              <a:t>did al-Ghazzali succeed in reconciling </a:t>
            </a:r>
            <a:r>
              <a:rPr dirty="0" sz="1200">
                <a:latin typeface="Arial"/>
                <a:cs typeface="Arial"/>
              </a:rPr>
              <a:t>Sufi </a:t>
            </a:r>
            <a:r>
              <a:rPr dirty="0" sz="1200" spc="-5">
                <a:latin typeface="Arial"/>
                <a:cs typeface="Arial"/>
              </a:rPr>
              <a:t>beliefs with </a:t>
            </a:r>
            <a:r>
              <a:rPr dirty="0" sz="1200">
                <a:latin typeface="Arial"/>
                <a:cs typeface="Arial"/>
              </a:rPr>
              <a:t>the </a:t>
            </a:r>
            <a:r>
              <a:rPr dirty="0" sz="1200" spc="-5">
                <a:latin typeface="Arial"/>
                <a:cs typeface="Arial"/>
              </a:rPr>
              <a:t>beliefs of the majority of  Muslims of his day? [20]</a:t>
            </a:r>
            <a:r>
              <a:rPr dirty="0" sz="1200" spc="30">
                <a:latin typeface="Arial"/>
                <a:cs typeface="Arial"/>
              </a:rPr>
              <a:t> </a:t>
            </a:r>
            <a:r>
              <a:rPr dirty="0" sz="1200" spc="-5" b="1">
                <a:latin typeface="Arial"/>
                <a:cs typeface="Arial"/>
              </a:rPr>
              <a:t>(2003)</a:t>
            </a:r>
            <a:endParaRPr sz="1200">
              <a:latin typeface="Arial"/>
              <a:cs typeface="Arial"/>
            </a:endParaRPr>
          </a:p>
          <a:p>
            <a:pPr>
              <a:lnSpc>
                <a:spcPct val="100000"/>
              </a:lnSpc>
            </a:pPr>
            <a:endParaRPr sz="1200">
              <a:latin typeface="Arial"/>
              <a:cs typeface="Arial"/>
            </a:endParaRPr>
          </a:p>
          <a:p>
            <a:pPr marL="12700" marR="6350">
              <a:lnSpc>
                <a:spcPts val="1380"/>
              </a:lnSpc>
              <a:spcBef>
                <a:spcPts val="5"/>
              </a:spcBef>
            </a:pPr>
            <a:r>
              <a:rPr dirty="0" sz="1200" spc="-5" b="1">
                <a:latin typeface="Arial"/>
                <a:cs typeface="Arial"/>
              </a:rPr>
              <a:t>8 </a:t>
            </a:r>
            <a:r>
              <a:rPr dirty="0" sz="1200" spc="-5">
                <a:latin typeface="Arial"/>
                <a:cs typeface="Arial"/>
              </a:rPr>
              <a:t>Explain </a:t>
            </a:r>
            <a:r>
              <a:rPr dirty="0" sz="1200" spc="-10">
                <a:latin typeface="Arial"/>
                <a:cs typeface="Arial"/>
              </a:rPr>
              <a:t>why </a:t>
            </a:r>
            <a:r>
              <a:rPr dirty="0" sz="1200">
                <a:latin typeface="Arial"/>
                <a:cs typeface="Arial"/>
              </a:rPr>
              <a:t>Sufi </a:t>
            </a:r>
            <a:r>
              <a:rPr dirty="0" sz="1200" spc="-5">
                <a:latin typeface="Arial"/>
                <a:cs typeface="Arial"/>
              </a:rPr>
              <a:t>teachers were </a:t>
            </a:r>
            <a:r>
              <a:rPr dirty="0" sz="1200">
                <a:latin typeface="Arial"/>
                <a:cs typeface="Arial"/>
              </a:rPr>
              <a:t>often </a:t>
            </a:r>
            <a:r>
              <a:rPr dirty="0" sz="1200" spc="-5">
                <a:latin typeface="Arial"/>
                <a:cs typeface="Arial"/>
              </a:rPr>
              <a:t>regarded as a threat </a:t>
            </a:r>
            <a:r>
              <a:rPr dirty="0" sz="1200">
                <a:latin typeface="Arial"/>
                <a:cs typeface="Arial"/>
              </a:rPr>
              <a:t>to </a:t>
            </a:r>
            <a:r>
              <a:rPr dirty="0" sz="1200" spc="-5">
                <a:latin typeface="Arial"/>
                <a:cs typeface="Arial"/>
              </a:rPr>
              <a:t>orthodox </a:t>
            </a:r>
            <a:r>
              <a:rPr dirty="0" sz="1200">
                <a:latin typeface="Arial"/>
                <a:cs typeface="Arial"/>
              </a:rPr>
              <a:t>Islamic </a:t>
            </a:r>
            <a:r>
              <a:rPr dirty="0" sz="1200" spc="-5">
                <a:latin typeface="Arial"/>
                <a:cs typeface="Arial"/>
              </a:rPr>
              <a:t>believers.  </a:t>
            </a:r>
            <a:r>
              <a:rPr dirty="0" sz="1200">
                <a:latin typeface="Arial"/>
                <a:cs typeface="Arial"/>
              </a:rPr>
              <a:t>[20] </a:t>
            </a:r>
            <a:r>
              <a:rPr dirty="0" sz="1200" spc="-5" b="1">
                <a:latin typeface="Arial"/>
                <a:cs typeface="Arial"/>
              </a:rPr>
              <a:t>(2004)</a:t>
            </a:r>
            <a:endParaRPr sz="1200">
              <a:latin typeface="Arial"/>
              <a:cs typeface="Arial"/>
            </a:endParaRPr>
          </a:p>
          <a:p>
            <a:pPr>
              <a:lnSpc>
                <a:spcPct val="100000"/>
              </a:lnSpc>
              <a:spcBef>
                <a:spcPts val="15"/>
              </a:spcBef>
            </a:pPr>
            <a:endParaRPr sz="1100">
              <a:latin typeface="Arial"/>
              <a:cs typeface="Arial"/>
            </a:endParaRPr>
          </a:p>
          <a:p>
            <a:pPr marL="12700">
              <a:lnSpc>
                <a:spcPts val="1410"/>
              </a:lnSpc>
            </a:pPr>
            <a:r>
              <a:rPr dirty="0" sz="1200" spc="-5" b="1">
                <a:latin typeface="Arial"/>
                <a:cs typeface="Arial"/>
              </a:rPr>
              <a:t>8 (a) </a:t>
            </a:r>
            <a:r>
              <a:rPr dirty="0" sz="1200" spc="-5">
                <a:latin typeface="Arial"/>
                <a:cs typeface="Arial"/>
              </a:rPr>
              <a:t>Discuss the principal </a:t>
            </a:r>
            <a:r>
              <a:rPr dirty="0" sz="1200">
                <a:latin typeface="Arial"/>
                <a:cs typeface="Arial"/>
              </a:rPr>
              <a:t>features </a:t>
            </a:r>
            <a:r>
              <a:rPr dirty="0" sz="1200" spc="-5">
                <a:latin typeface="Arial"/>
                <a:cs typeface="Arial"/>
              </a:rPr>
              <a:t>of </a:t>
            </a:r>
            <a:r>
              <a:rPr dirty="0" sz="1200">
                <a:latin typeface="Arial"/>
                <a:cs typeface="Arial"/>
              </a:rPr>
              <a:t>the </a:t>
            </a:r>
            <a:r>
              <a:rPr dirty="0" sz="1200" spc="-5">
                <a:latin typeface="Arial"/>
                <a:cs typeface="Arial"/>
              </a:rPr>
              <a:t>teachings of Sufism.</a:t>
            </a:r>
            <a:r>
              <a:rPr dirty="0" sz="1200" spc="25">
                <a:latin typeface="Arial"/>
                <a:cs typeface="Arial"/>
              </a:rPr>
              <a:t> </a:t>
            </a:r>
            <a:r>
              <a:rPr dirty="0" sz="1200" spc="-5">
                <a:latin typeface="Arial"/>
                <a:cs typeface="Arial"/>
              </a:rPr>
              <a:t>[12]</a:t>
            </a:r>
            <a:endParaRPr sz="1200">
              <a:latin typeface="Arial"/>
              <a:cs typeface="Arial"/>
            </a:endParaRPr>
          </a:p>
          <a:p>
            <a:pPr marL="140970">
              <a:lnSpc>
                <a:spcPts val="1410"/>
              </a:lnSpc>
            </a:pPr>
            <a:r>
              <a:rPr dirty="0" sz="1200" spc="-5" b="1">
                <a:latin typeface="Arial"/>
                <a:cs typeface="Arial"/>
              </a:rPr>
              <a:t>(b) </a:t>
            </a:r>
            <a:r>
              <a:rPr dirty="0" sz="1200" spc="10">
                <a:latin typeface="Arial"/>
                <a:cs typeface="Arial"/>
              </a:rPr>
              <a:t>Why </a:t>
            </a:r>
            <a:r>
              <a:rPr dirty="0" sz="1200" spc="-5">
                <a:latin typeface="Arial"/>
                <a:cs typeface="Arial"/>
              </a:rPr>
              <a:t>has </a:t>
            </a:r>
            <a:r>
              <a:rPr dirty="0" sz="1200">
                <a:latin typeface="Arial"/>
                <a:cs typeface="Arial"/>
              </a:rPr>
              <a:t>the </a:t>
            </a:r>
            <a:r>
              <a:rPr dirty="0" sz="1200" spc="-5">
                <a:latin typeface="Arial"/>
                <a:cs typeface="Arial"/>
              </a:rPr>
              <a:t>orthodoxy </a:t>
            </a:r>
            <a:r>
              <a:rPr dirty="0" sz="1200">
                <a:latin typeface="Arial"/>
                <a:cs typeface="Arial"/>
              </a:rPr>
              <a:t>of </a:t>
            </a:r>
            <a:r>
              <a:rPr dirty="0" sz="1200" spc="-5">
                <a:latin typeface="Arial"/>
                <a:cs typeface="Arial"/>
              </a:rPr>
              <a:t>Sufism often been doubted? [8]</a:t>
            </a:r>
            <a:r>
              <a:rPr dirty="0" sz="1200" spc="-25">
                <a:latin typeface="Arial"/>
                <a:cs typeface="Arial"/>
              </a:rPr>
              <a:t> </a:t>
            </a:r>
            <a:r>
              <a:rPr dirty="0" sz="1200" spc="-5" b="1">
                <a:latin typeface="Arial"/>
                <a:cs typeface="Arial"/>
              </a:rPr>
              <a:t>(2005)</a:t>
            </a:r>
            <a:endParaRPr sz="1200">
              <a:latin typeface="Arial"/>
              <a:cs typeface="Arial"/>
            </a:endParaRPr>
          </a:p>
          <a:p>
            <a:pPr>
              <a:lnSpc>
                <a:spcPct val="100000"/>
              </a:lnSpc>
              <a:spcBef>
                <a:spcPts val="35"/>
              </a:spcBef>
            </a:pPr>
            <a:endParaRPr sz="1200">
              <a:latin typeface="Arial"/>
              <a:cs typeface="Arial"/>
            </a:endParaRPr>
          </a:p>
          <a:p>
            <a:pPr marL="12700" marR="5080">
              <a:lnSpc>
                <a:spcPts val="1380"/>
              </a:lnSpc>
              <a:spcBef>
                <a:spcPts val="5"/>
              </a:spcBef>
              <a:buFont typeface="Arial"/>
              <a:buAutoNum type="arabicPlain" startAt="8"/>
              <a:tabLst>
                <a:tab pos="162560" algn="l"/>
              </a:tabLst>
            </a:pPr>
            <a:r>
              <a:rPr dirty="0" sz="1200" spc="5">
                <a:latin typeface="Arial"/>
                <a:cs typeface="Arial"/>
              </a:rPr>
              <a:t>What </a:t>
            </a:r>
            <a:r>
              <a:rPr dirty="0" sz="1200" spc="-5">
                <a:latin typeface="Arial"/>
                <a:cs typeface="Arial"/>
              </a:rPr>
              <a:t>would </a:t>
            </a:r>
            <a:r>
              <a:rPr dirty="0" sz="1200" spc="-10">
                <a:latin typeface="Arial"/>
                <a:cs typeface="Arial"/>
              </a:rPr>
              <a:t>you </a:t>
            </a:r>
            <a:r>
              <a:rPr dirty="0" sz="1200" spc="-5">
                <a:latin typeface="Arial"/>
                <a:cs typeface="Arial"/>
              </a:rPr>
              <a:t>say are </a:t>
            </a:r>
            <a:r>
              <a:rPr dirty="0" sz="1200">
                <a:latin typeface="Arial"/>
                <a:cs typeface="Arial"/>
              </a:rPr>
              <a:t>the main </a:t>
            </a:r>
            <a:r>
              <a:rPr dirty="0" sz="1200" spc="-5">
                <a:latin typeface="Arial"/>
                <a:cs typeface="Arial"/>
              </a:rPr>
              <a:t>contributions of </a:t>
            </a:r>
            <a:r>
              <a:rPr dirty="0" sz="1200" spc="5">
                <a:latin typeface="Arial"/>
                <a:cs typeface="Arial"/>
              </a:rPr>
              <a:t>Imam </a:t>
            </a:r>
            <a:r>
              <a:rPr dirty="0" sz="1200" spc="-5">
                <a:latin typeface="Arial"/>
                <a:cs typeface="Arial"/>
              </a:rPr>
              <a:t>Abu </a:t>
            </a:r>
            <a:r>
              <a:rPr dirty="0" sz="1200">
                <a:latin typeface="Arial"/>
                <a:cs typeface="Arial"/>
              </a:rPr>
              <a:t>Hamid </a:t>
            </a:r>
            <a:r>
              <a:rPr dirty="0" sz="1200" spc="-5">
                <a:latin typeface="Arial"/>
                <a:cs typeface="Arial"/>
              </a:rPr>
              <a:t>al-Ghazzali </a:t>
            </a:r>
            <a:r>
              <a:rPr dirty="0" sz="1200">
                <a:latin typeface="Arial"/>
                <a:cs typeface="Arial"/>
              </a:rPr>
              <a:t>to </a:t>
            </a:r>
            <a:r>
              <a:rPr dirty="0" sz="1200" spc="-5">
                <a:latin typeface="Arial"/>
                <a:cs typeface="Arial"/>
              </a:rPr>
              <a:t>the  relationship between Muslim belief and practice? [20]</a:t>
            </a:r>
            <a:r>
              <a:rPr dirty="0" sz="1200" spc="65">
                <a:latin typeface="Arial"/>
                <a:cs typeface="Arial"/>
              </a:rPr>
              <a:t> </a:t>
            </a:r>
            <a:r>
              <a:rPr dirty="0" sz="1200" spc="-5" b="1">
                <a:latin typeface="Arial"/>
                <a:cs typeface="Arial"/>
              </a:rPr>
              <a:t>(2006)</a:t>
            </a:r>
            <a:endParaRPr sz="1200">
              <a:latin typeface="Arial"/>
              <a:cs typeface="Arial"/>
            </a:endParaRPr>
          </a:p>
          <a:p>
            <a:pPr>
              <a:lnSpc>
                <a:spcPct val="100000"/>
              </a:lnSpc>
              <a:spcBef>
                <a:spcPts val="15"/>
              </a:spcBef>
              <a:buFont typeface="Arial"/>
              <a:buAutoNum type="arabicPlain" startAt="8"/>
            </a:pPr>
            <a:endParaRPr sz="1100">
              <a:latin typeface="Arial"/>
              <a:cs typeface="Arial"/>
            </a:endParaRPr>
          </a:p>
          <a:p>
            <a:pPr marL="140970" indent="-128905">
              <a:lnSpc>
                <a:spcPts val="1410"/>
              </a:lnSpc>
              <a:buAutoNum type="arabicPlain" startAt="8"/>
              <a:tabLst>
                <a:tab pos="141605" algn="l"/>
              </a:tabLst>
            </a:pPr>
            <a:r>
              <a:rPr dirty="0" sz="1200" spc="-5" b="1">
                <a:latin typeface="Arial"/>
                <a:cs typeface="Arial"/>
              </a:rPr>
              <a:t>(a) </a:t>
            </a:r>
            <a:r>
              <a:rPr dirty="0" sz="1200" spc="-5">
                <a:latin typeface="Arial"/>
                <a:cs typeface="Arial"/>
              </a:rPr>
              <a:t>Describe the relationship between Sufism and Islam.</a:t>
            </a:r>
            <a:r>
              <a:rPr dirty="0" sz="1200" spc="30">
                <a:latin typeface="Arial"/>
                <a:cs typeface="Arial"/>
              </a:rPr>
              <a:t> </a:t>
            </a:r>
            <a:r>
              <a:rPr dirty="0" sz="1200" spc="-5">
                <a:latin typeface="Arial"/>
                <a:cs typeface="Arial"/>
              </a:rPr>
              <a:t>[8]</a:t>
            </a:r>
            <a:endParaRPr sz="1200">
              <a:latin typeface="Arial"/>
              <a:cs typeface="Arial"/>
            </a:endParaRPr>
          </a:p>
          <a:p>
            <a:pPr marL="140970">
              <a:lnSpc>
                <a:spcPts val="1410"/>
              </a:lnSpc>
            </a:pPr>
            <a:r>
              <a:rPr dirty="0" sz="1200" spc="-5" b="1">
                <a:latin typeface="Arial"/>
                <a:cs typeface="Arial"/>
              </a:rPr>
              <a:t>(b) </a:t>
            </a:r>
            <a:r>
              <a:rPr dirty="0" sz="1200" spc="-5">
                <a:latin typeface="Arial"/>
                <a:cs typeface="Arial"/>
              </a:rPr>
              <a:t>How </a:t>
            </a:r>
            <a:r>
              <a:rPr dirty="0" sz="1200" spc="5">
                <a:latin typeface="Arial"/>
                <a:cs typeface="Arial"/>
              </a:rPr>
              <a:t>far </a:t>
            </a:r>
            <a:r>
              <a:rPr dirty="0" sz="1200" spc="-5">
                <a:latin typeface="Arial"/>
                <a:cs typeface="Arial"/>
              </a:rPr>
              <a:t>did al-Ghazzali succeed in </a:t>
            </a:r>
            <a:r>
              <a:rPr dirty="0" sz="1200">
                <a:latin typeface="Arial"/>
                <a:cs typeface="Arial"/>
              </a:rPr>
              <a:t>his </a:t>
            </a:r>
            <a:r>
              <a:rPr dirty="0" sz="1200" spc="-5">
                <a:latin typeface="Arial"/>
                <a:cs typeface="Arial"/>
              </a:rPr>
              <a:t>attempt </a:t>
            </a:r>
            <a:r>
              <a:rPr dirty="0" sz="1200">
                <a:latin typeface="Arial"/>
                <a:cs typeface="Arial"/>
              </a:rPr>
              <a:t>to </a:t>
            </a:r>
            <a:r>
              <a:rPr dirty="0" sz="1200" spc="-5">
                <a:latin typeface="Arial"/>
                <a:cs typeface="Arial"/>
              </a:rPr>
              <a:t>reform </a:t>
            </a:r>
            <a:r>
              <a:rPr dirty="0" sz="1200">
                <a:latin typeface="Arial"/>
                <a:cs typeface="Arial"/>
              </a:rPr>
              <a:t>Sufi </a:t>
            </a:r>
            <a:r>
              <a:rPr dirty="0" sz="1200" spc="-5">
                <a:latin typeface="Arial"/>
                <a:cs typeface="Arial"/>
              </a:rPr>
              <a:t>beliefs? [12]</a:t>
            </a:r>
            <a:r>
              <a:rPr dirty="0" sz="1200" spc="45">
                <a:latin typeface="Arial"/>
                <a:cs typeface="Arial"/>
              </a:rPr>
              <a:t> </a:t>
            </a:r>
            <a:r>
              <a:rPr dirty="0" sz="1200" spc="-5" b="1">
                <a:latin typeface="Arial"/>
                <a:cs typeface="Arial"/>
              </a:rPr>
              <a:t>(2007)</a:t>
            </a:r>
            <a:endParaRPr sz="1200">
              <a:latin typeface="Arial"/>
              <a:cs typeface="Arial"/>
            </a:endParaRPr>
          </a:p>
          <a:p>
            <a:pPr>
              <a:lnSpc>
                <a:spcPct val="100000"/>
              </a:lnSpc>
            </a:pPr>
            <a:endParaRPr sz="1150">
              <a:latin typeface="Arial"/>
              <a:cs typeface="Arial"/>
            </a:endParaRPr>
          </a:p>
          <a:p>
            <a:pPr marL="12700">
              <a:lnSpc>
                <a:spcPts val="1405"/>
              </a:lnSpc>
            </a:pPr>
            <a:r>
              <a:rPr dirty="0" sz="1200" spc="-5" b="1">
                <a:latin typeface="Arial"/>
                <a:cs typeface="Arial"/>
              </a:rPr>
              <a:t>9 </a:t>
            </a:r>
            <a:r>
              <a:rPr dirty="0" sz="1200" spc="-5">
                <a:latin typeface="Arial"/>
                <a:cs typeface="Arial"/>
              </a:rPr>
              <a:t>Discuss </a:t>
            </a:r>
            <a:r>
              <a:rPr dirty="0" sz="1200">
                <a:latin typeface="Arial"/>
                <a:cs typeface="Arial"/>
              </a:rPr>
              <a:t>how </a:t>
            </a:r>
            <a:r>
              <a:rPr dirty="0" sz="1200" spc="-5">
                <a:latin typeface="Arial"/>
                <a:cs typeface="Arial"/>
              </a:rPr>
              <a:t>the following </a:t>
            </a:r>
            <a:r>
              <a:rPr dirty="0" sz="1200">
                <a:latin typeface="Arial"/>
                <a:cs typeface="Arial"/>
              </a:rPr>
              <a:t>terms are </a:t>
            </a:r>
            <a:r>
              <a:rPr dirty="0" sz="1200" spc="-5">
                <a:latin typeface="Arial"/>
                <a:cs typeface="Arial"/>
              </a:rPr>
              <a:t>used by</a:t>
            </a:r>
            <a:r>
              <a:rPr dirty="0" sz="1200" spc="-40">
                <a:latin typeface="Arial"/>
                <a:cs typeface="Arial"/>
              </a:rPr>
              <a:t> </a:t>
            </a:r>
            <a:r>
              <a:rPr dirty="0" sz="1200">
                <a:latin typeface="Arial"/>
                <a:cs typeface="Arial"/>
              </a:rPr>
              <a:t>Sufis:</a:t>
            </a:r>
            <a:endParaRPr sz="1200">
              <a:latin typeface="Arial"/>
              <a:cs typeface="Arial"/>
            </a:endParaRPr>
          </a:p>
          <a:p>
            <a:pPr marL="241300" indent="-229235">
              <a:lnSpc>
                <a:spcPts val="1375"/>
              </a:lnSpc>
              <a:buFont typeface="Arial"/>
              <a:buAutoNum type="alphaLcParenBoth"/>
              <a:tabLst>
                <a:tab pos="241935" algn="l"/>
              </a:tabLst>
            </a:pPr>
            <a:r>
              <a:rPr dirty="0" sz="1200" spc="-5" i="1">
                <a:latin typeface="Arial"/>
                <a:cs typeface="Arial"/>
              </a:rPr>
              <a:t>Dhikr</a:t>
            </a:r>
            <a:r>
              <a:rPr dirty="0" sz="1200" spc="-80" i="1">
                <a:latin typeface="Arial"/>
                <a:cs typeface="Arial"/>
              </a:rPr>
              <a:t> </a:t>
            </a:r>
            <a:r>
              <a:rPr dirty="0" sz="1200">
                <a:latin typeface="Arial"/>
                <a:cs typeface="Arial"/>
              </a:rPr>
              <a:t>[5]</a:t>
            </a:r>
            <a:endParaRPr sz="1200">
              <a:latin typeface="Arial"/>
              <a:cs typeface="Arial"/>
            </a:endParaRPr>
          </a:p>
          <a:p>
            <a:pPr marL="248920" indent="-236854">
              <a:lnSpc>
                <a:spcPts val="1380"/>
              </a:lnSpc>
              <a:buFont typeface="Arial"/>
              <a:buAutoNum type="alphaLcParenBoth"/>
              <a:tabLst>
                <a:tab pos="249554" algn="l"/>
              </a:tabLst>
            </a:pPr>
            <a:r>
              <a:rPr dirty="0" sz="1200" i="1">
                <a:latin typeface="Arial"/>
                <a:cs typeface="Arial"/>
              </a:rPr>
              <a:t>Zuhd</a:t>
            </a:r>
            <a:r>
              <a:rPr dirty="0" sz="1200" spc="-85" i="1">
                <a:latin typeface="Arial"/>
                <a:cs typeface="Arial"/>
              </a:rPr>
              <a:t> </a:t>
            </a:r>
            <a:r>
              <a:rPr dirty="0" sz="1200" spc="-5">
                <a:latin typeface="Arial"/>
                <a:cs typeface="Arial"/>
              </a:rPr>
              <a:t>[5]</a:t>
            </a:r>
            <a:endParaRPr sz="1200">
              <a:latin typeface="Arial"/>
              <a:cs typeface="Arial"/>
            </a:endParaRPr>
          </a:p>
          <a:p>
            <a:pPr marL="241300" indent="-229235">
              <a:lnSpc>
                <a:spcPts val="1380"/>
              </a:lnSpc>
              <a:buFont typeface="Arial"/>
              <a:buAutoNum type="alphaLcParenBoth"/>
              <a:tabLst>
                <a:tab pos="241935" algn="l"/>
              </a:tabLst>
            </a:pPr>
            <a:r>
              <a:rPr dirty="0" sz="1200" spc="-5" i="1">
                <a:latin typeface="Arial"/>
                <a:cs typeface="Arial"/>
              </a:rPr>
              <a:t>Silsila</a:t>
            </a:r>
            <a:r>
              <a:rPr dirty="0" sz="1200" i="1">
                <a:latin typeface="Arial"/>
                <a:cs typeface="Arial"/>
              </a:rPr>
              <a:t> </a:t>
            </a:r>
            <a:r>
              <a:rPr dirty="0" sz="1200">
                <a:latin typeface="Arial"/>
                <a:cs typeface="Arial"/>
              </a:rPr>
              <a:t>[5]</a:t>
            </a:r>
            <a:endParaRPr sz="1200">
              <a:latin typeface="Arial"/>
              <a:cs typeface="Arial"/>
            </a:endParaRPr>
          </a:p>
          <a:p>
            <a:pPr marL="12700">
              <a:lnSpc>
                <a:spcPts val="1410"/>
              </a:lnSpc>
            </a:pPr>
            <a:r>
              <a:rPr dirty="0" sz="1200" spc="-5" b="1">
                <a:latin typeface="Arial"/>
                <a:cs typeface="Arial"/>
              </a:rPr>
              <a:t>(d) </a:t>
            </a:r>
            <a:r>
              <a:rPr dirty="0" sz="1200" spc="-5" i="1">
                <a:latin typeface="Arial"/>
                <a:cs typeface="Arial"/>
              </a:rPr>
              <a:t>murid</a:t>
            </a:r>
            <a:r>
              <a:rPr dirty="0" sz="1200" spc="-5">
                <a:latin typeface="Arial"/>
                <a:cs typeface="Arial"/>
              </a:rPr>
              <a:t>. </a:t>
            </a:r>
            <a:r>
              <a:rPr dirty="0" sz="1200">
                <a:latin typeface="Arial"/>
                <a:cs typeface="Arial"/>
              </a:rPr>
              <a:t>[5]</a:t>
            </a:r>
            <a:r>
              <a:rPr dirty="0" sz="1200" spc="20">
                <a:latin typeface="Arial"/>
                <a:cs typeface="Arial"/>
              </a:rPr>
              <a:t> </a:t>
            </a:r>
            <a:r>
              <a:rPr dirty="0" sz="1200" spc="-5" b="1">
                <a:latin typeface="Arial"/>
                <a:cs typeface="Arial"/>
              </a:rPr>
              <a:t>(2008)</a:t>
            </a:r>
            <a:endParaRPr sz="1200">
              <a:latin typeface="Arial"/>
              <a:cs typeface="Arial"/>
            </a:endParaRPr>
          </a:p>
          <a:p>
            <a:pPr>
              <a:lnSpc>
                <a:spcPct val="100000"/>
              </a:lnSpc>
              <a:spcBef>
                <a:spcPts val="50"/>
              </a:spcBef>
            </a:pPr>
            <a:endParaRPr sz="1200">
              <a:latin typeface="Arial"/>
              <a:cs typeface="Arial"/>
            </a:endParaRPr>
          </a:p>
          <a:p>
            <a:pPr marL="12700" marR="113664">
              <a:lnSpc>
                <a:spcPts val="1380"/>
              </a:lnSpc>
            </a:pPr>
            <a:r>
              <a:rPr dirty="0" sz="1200" spc="-5">
                <a:latin typeface="Arial"/>
                <a:cs typeface="Arial"/>
              </a:rPr>
              <a:t>8 (a) </a:t>
            </a:r>
            <a:r>
              <a:rPr dirty="0" sz="1200" spc="5">
                <a:latin typeface="Arial"/>
                <a:cs typeface="Arial"/>
              </a:rPr>
              <a:t>What </a:t>
            </a:r>
            <a:r>
              <a:rPr dirty="0" sz="1200" spc="-5">
                <a:latin typeface="Arial"/>
                <a:cs typeface="Arial"/>
              </a:rPr>
              <a:t>are the main teachings of al-Ghazzali Ihya‘ </a:t>
            </a:r>
            <a:r>
              <a:rPr dirty="0" sz="1200" spc="-85">
                <a:latin typeface="Arial"/>
                <a:cs typeface="Arial"/>
              </a:rPr>
              <a:t>‗ulum </a:t>
            </a:r>
            <a:r>
              <a:rPr dirty="0" sz="1200">
                <a:latin typeface="Arial"/>
                <a:cs typeface="Arial"/>
              </a:rPr>
              <a:t>al-din </a:t>
            </a:r>
            <a:r>
              <a:rPr dirty="0" sz="1200" spc="-50">
                <a:latin typeface="Arial"/>
                <a:cs typeface="Arial"/>
              </a:rPr>
              <a:t>(‗Revival </a:t>
            </a:r>
            <a:r>
              <a:rPr dirty="0" sz="1200">
                <a:latin typeface="Arial"/>
                <a:cs typeface="Arial"/>
              </a:rPr>
              <a:t>of </a:t>
            </a:r>
            <a:r>
              <a:rPr dirty="0" sz="1200" spc="-5">
                <a:latin typeface="Arial"/>
                <a:cs typeface="Arial"/>
              </a:rPr>
              <a:t>the Religious  Sciences‘)? [12]</a:t>
            </a:r>
            <a:endParaRPr sz="1200">
              <a:latin typeface="Arial"/>
              <a:cs typeface="Arial"/>
            </a:endParaRPr>
          </a:p>
          <a:p>
            <a:pPr marL="12700" marR="11430" indent="85090">
              <a:lnSpc>
                <a:spcPts val="1370"/>
              </a:lnSpc>
              <a:spcBef>
                <a:spcPts val="10"/>
              </a:spcBef>
            </a:pPr>
            <a:r>
              <a:rPr dirty="0" sz="1200" spc="-5">
                <a:latin typeface="Arial"/>
                <a:cs typeface="Arial"/>
              </a:rPr>
              <a:t>(b) How would </a:t>
            </a:r>
            <a:r>
              <a:rPr dirty="0" sz="1200" spc="-10">
                <a:latin typeface="Arial"/>
                <a:cs typeface="Arial"/>
              </a:rPr>
              <a:t>you </a:t>
            </a:r>
            <a:r>
              <a:rPr dirty="0" sz="1200" spc="-5">
                <a:latin typeface="Arial"/>
                <a:cs typeface="Arial"/>
              </a:rPr>
              <a:t>defend or reject the view </a:t>
            </a:r>
            <a:r>
              <a:rPr dirty="0" sz="1200">
                <a:latin typeface="Arial"/>
                <a:cs typeface="Arial"/>
              </a:rPr>
              <a:t>that this </a:t>
            </a:r>
            <a:r>
              <a:rPr dirty="0" sz="1200" spc="-5">
                <a:latin typeface="Arial"/>
                <a:cs typeface="Arial"/>
              </a:rPr>
              <a:t>book is one of </a:t>
            </a:r>
            <a:r>
              <a:rPr dirty="0" sz="1200">
                <a:latin typeface="Arial"/>
                <a:cs typeface="Arial"/>
              </a:rPr>
              <a:t>the </a:t>
            </a:r>
            <a:r>
              <a:rPr dirty="0" sz="1200" spc="-5">
                <a:latin typeface="Arial"/>
                <a:cs typeface="Arial"/>
              </a:rPr>
              <a:t>most important  </a:t>
            </a:r>
            <a:r>
              <a:rPr dirty="0" sz="1200">
                <a:latin typeface="Arial"/>
                <a:cs typeface="Arial"/>
              </a:rPr>
              <a:t>Islamic </a:t>
            </a:r>
            <a:r>
              <a:rPr dirty="0" sz="1200" spc="-5">
                <a:latin typeface="Arial"/>
                <a:cs typeface="Arial"/>
              </a:rPr>
              <a:t>religious texts ever written? </a:t>
            </a:r>
            <a:r>
              <a:rPr dirty="0" sz="1200">
                <a:latin typeface="Arial"/>
                <a:cs typeface="Arial"/>
              </a:rPr>
              <a:t>[8]</a:t>
            </a:r>
            <a:r>
              <a:rPr dirty="0" sz="1200" spc="20">
                <a:latin typeface="Arial"/>
                <a:cs typeface="Arial"/>
              </a:rPr>
              <a:t> </a:t>
            </a:r>
            <a:r>
              <a:rPr dirty="0" sz="1200" spc="-5" b="1">
                <a:latin typeface="Arial"/>
                <a:cs typeface="Arial"/>
              </a:rPr>
              <a:t>(2010)</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151</a:t>
            </a:r>
            <a:endParaRPr sz="1200">
              <a:latin typeface="Times New Roman"/>
              <a:cs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5970905" cy="208279"/>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478536" y="827531"/>
            <a:ext cx="6259195" cy="181610"/>
          </a:xfrm>
          <a:prstGeom prst="rect">
            <a:avLst/>
          </a:prstGeom>
          <a:ln w="6096">
            <a:solidFill>
              <a:srgbClr val="000000"/>
            </a:solidFill>
          </a:ln>
        </p:spPr>
        <p:txBody>
          <a:bodyPr wrap="square" lIns="0" tIns="0" rIns="0" bIns="0" rtlCol="0" vert="horz">
            <a:spAutoFit/>
          </a:bodyPr>
          <a:lstStyle/>
          <a:p>
            <a:pPr algn="ctr" marL="1270">
              <a:lnSpc>
                <a:spcPts val="1370"/>
              </a:lnSpc>
            </a:pPr>
            <a:r>
              <a:rPr dirty="0" sz="1200" spc="-5" b="1">
                <a:latin typeface="Arial"/>
                <a:cs typeface="Arial"/>
              </a:rPr>
              <a:t>Islamic Philosophy</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p:nvPr/>
        </p:nvSpPr>
        <p:spPr>
          <a:xfrm>
            <a:off x="2988691" y="9905322"/>
            <a:ext cx="603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152</a:t>
            </a:r>
            <a:endParaRPr sz="1200">
              <a:latin typeface="Times New Roman"/>
              <a:cs typeface="Times New Roman"/>
            </a:endParaRPr>
          </a:p>
        </p:txBody>
      </p:sp>
      <p:sp>
        <p:nvSpPr>
          <p:cNvPr id="5" name="object 5"/>
          <p:cNvSpPr txBox="1"/>
          <p:nvPr/>
        </p:nvSpPr>
        <p:spPr>
          <a:xfrm>
            <a:off x="534416" y="1226566"/>
            <a:ext cx="6311265" cy="8573135"/>
          </a:xfrm>
          <a:prstGeom prst="rect">
            <a:avLst/>
          </a:prstGeom>
        </p:spPr>
        <p:txBody>
          <a:bodyPr wrap="square" lIns="0" tIns="20320" rIns="0" bIns="0" rtlCol="0" vert="horz">
            <a:spAutoFit/>
          </a:bodyPr>
          <a:lstStyle/>
          <a:p>
            <a:pPr algn="just" marL="12700" marR="5080">
              <a:lnSpc>
                <a:spcPct val="95900"/>
              </a:lnSpc>
              <a:spcBef>
                <a:spcPts val="160"/>
              </a:spcBef>
            </a:pPr>
            <a:r>
              <a:rPr dirty="0" sz="1200" spc="-5">
                <a:latin typeface="Arial"/>
                <a:cs typeface="Arial"/>
              </a:rPr>
              <a:t>There is no generally accepted definition of what </a:t>
            </a:r>
            <a:r>
              <a:rPr dirty="0" sz="1200">
                <a:latin typeface="Arial"/>
                <a:cs typeface="Arial"/>
              </a:rPr>
              <a:t>Islamic </a:t>
            </a:r>
            <a:r>
              <a:rPr dirty="0" sz="1200" spc="-5">
                <a:latin typeface="Arial"/>
                <a:cs typeface="Arial"/>
              </a:rPr>
              <a:t>philosophy </a:t>
            </a:r>
            <a:r>
              <a:rPr dirty="0" sz="1200">
                <a:latin typeface="Arial"/>
                <a:cs typeface="Arial"/>
              </a:rPr>
              <a:t>is, </a:t>
            </a:r>
            <a:r>
              <a:rPr dirty="0" sz="1200" spc="-5">
                <a:latin typeface="Arial"/>
                <a:cs typeface="Arial"/>
              </a:rPr>
              <a:t>and </a:t>
            </a:r>
            <a:r>
              <a:rPr dirty="0" sz="1200">
                <a:latin typeface="Arial"/>
                <a:cs typeface="Arial"/>
              </a:rPr>
              <a:t>the </a:t>
            </a:r>
            <a:r>
              <a:rPr dirty="0" sz="1200" spc="-5">
                <a:latin typeface="Arial"/>
                <a:cs typeface="Arial"/>
              </a:rPr>
              <a:t>term </a:t>
            </a:r>
            <a:r>
              <a:rPr dirty="0" sz="1200" spc="-10">
                <a:latin typeface="Arial"/>
                <a:cs typeface="Arial"/>
              </a:rPr>
              <a:t>will be  </a:t>
            </a:r>
            <a:r>
              <a:rPr dirty="0" sz="1200" spc="-5">
                <a:latin typeface="Arial"/>
                <a:cs typeface="Arial"/>
              </a:rPr>
              <a:t>used here </a:t>
            </a:r>
            <a:r>
              <a:rPr dirty="0" sz="1200">
                <a:latin typeface="Arial"/>
                <a:cs typeface="Arial"/>
              </a:rPr>
              <a:t>to </a:t>
            </a:r>
            <a:r>
              <a:rPr dirty="0" sz="1200" spc="-5">
                <a:latin typeface="Arial"/>
                <a:cs typeface="Arial"/>
              </a:rPr>
              <a:t>mean </a:t>
            </a:r>
            <a:r>
              <a:rPr dirty="0" sz="1200" spc="-10">
                <a:latin typeface="Arial"/>
                <a:cs typeface="Arial"/>
              </a:rPr>
              <a:t>the </a:t>
            </a:r>
            <a:r>
              <a:rPr dirty="0" sz="1200">
                <a:latin typeface="Arial"/>
                <a:cs typeface="Arial"/>
              </a:rPr>
              <a:t>sort </a:t>
            </a:r>
            <a:r>
              <a:rPr dirty="0" sz="1200" spc="-5">
                <a:latin typeface="Arial"/>
                <a:cs typeface="Arial"/>
              </a:rPr>
              <a:t>of philosophy which arose within </a:t>
            </a:r>
            <a:r>
              <a:rPr dirty="0" sz="1200">
                <a:latin typeface="Arial"/>
                <a:cs typeface="Arial"/>
              </a:rPr>
              <a:t>the </a:t>
            </a:r>
            <a:r>
              <a:rPr dirty="0" sz="1200" spc="-5">
                <a:latin typeface="Arial"/>
                <a:cs typeface="Arial"/>
              </a:rPr>
              <a:t>culture of Islam. There are  several </a:t>
            </a:r>
            <a:r>
              <a:rPr dirty="0" sz="1200">
                <a:latin typeface="Arial"/>
                <a:cs typeface="Arial"/>
              </a:rPr>
              <a:t>main </a:t>
            </a:r>
            <a:r>
              <a:rPr dirty="0" sz="1200" spc="-5">
                <a:latin typeface="Arial"/>
                <a:cs typeface="Arial"/>
              </a:rPr>
              <a:t>strands to Islamic philosophy. Peripatetic philosophy follows broadly </a:t>
            </a:r>
            <a:r>
              <a:rPr dirty="0" sz="1200">
                <a:latin typeface="Arial"/>
                <a:cs typeface="Arial"/>
              </a:rPr>
              <a:t>the </a:t>
            </a:r>
            <a:r>
              <a:rPr dirty="0" sz="1200" spc="-5">
                <a:latin typeface="Arial"/>
                <a:cs typeface="Arial"/>
              </a:rPr>
              <a:t>Greek  </a:t>
            </a:r>
            <a:r>
              <a:rPr dirty="0" sz="1200">
                <a:latin typeface="Arial"/>
                <a:cs typeface="Arial"/>
              </a:rPr>
              <a:t>tradition, </a:t>
            </a:r>
            <a:r>
              <a:rPr dirty="0" sz="1200" spc="-5">
                <a:latin typeface="Arial"/>
                <a:cs typeface="Arial"/>
              </a:rPr>
              <a:t>while Sufism uses </a:t>
            </a:r>
            <a:r>
              <a:rPr dirty="0" sz="1200">
                <a:latin typeface="Arial"/>
                <a:cs typeface="Arial"/>
              </a:rPr>
              <a:t>the </a:t>
            </a:r>
            <a:r>
              <a:rPr dirty="0" sz="1200" spc="-5">
                <a:latin typeface="Arial"/>
                <a:cs typeface="Arial"/>
              </a:rPr>
              <a:t>principle of mystical knowledge </a:t>
            </a:r>
            <a:r>
              <a:rPr dirty="0" sz="1200" spc="-10">
                <a:latin typeface="Arial"/>
                <a:cs typeface="Arial"/>
              </a:rPr>
              <a:t>as </a:t>
            </a:r>
            <a:r>
              <a:rPr dirty="0" sz="1200">
                <a:latin typeface="Arial"/>
                <a:cs typeface="Arial"/>
              </a:rPr>
              <a:t>its </a:t>
            </a:r>
            <a:r>
              <a:rPr dirty="0" sz="1200" spc="-5">
                <a:latin typeface="Arial"/>
                <a:cs typeface="Arial"/>
              </a:rPr>
              <a:t>leading idea. Some  would argue </a:t>
            </a:r>
            <a:r>
              <a:rPr dirty="0" sz="1200">
                <a:latin typeface="Arial"/>
                <a:cs typeface="Arial"/>
              </a:rPr>
              <a:t>that </a:t>
            </a:r>
            <a:r>
              <a:rPr dirty="0" sz="1200" spc="-5">
                <a:latin typeface="Arial"/>
                <a:cs typeface="Arial"/>
              </a:rPr>
              <a:t>Islamic philosophy has never </a:t>
            </a:r>
            <a:r>
              <a:rPr dirty="0" sz="1200">
                <a:latin typeface="Arial"/>
                <a:cs typeface="Arial"/>
              </a:rPr>
              <a:t>lost its </a:t>
            </a:r>
            <a:r>
              <a:rPr dirty="0" sz="1200" spc="-5">
                <a:latin typeface="Arial"/>
                <a:cs typeface="Arial"/>
              </a:rPr>
              <a:t>concentration on </a:t>
            </a:r>
            <a:r>
              <a:rPr dirty="0" sz="1200">
                <a:latin typeface="Arial"/>
                <a:cs typeface="Arial"/>
              </a:rPr>
              <a:t>the </a:t>
            </a:r>
            <a:r>
              <a:rPr dirty="0" sz="1200" spc="-5">
                <a:latin typeface="Arial"/>
                <a:cs typeface="Arial"/>
              </a:rPr>
              <a:t>Qur'an and other  </a:t>
            </a:r>
            <a:r>
              <a:rPr dirty="0" sz="1200">
                <a:latin typeface="Arial"/>
                <a:cs typeface="Arial"/>
              </a:rPr>
              <a:t>significant </a:t>
            </a:r>
            <a:r>
              <a:rPr dirty="0" sz="1200" spc="-5">
                <a:latin typeface="Arial"/>
                <a:cs typeface="Arial"/>
              </a:rPr>
              <a:t>Muslim texts, and that throughout </a:t>
            </a:r>
            <a:r>
              <a:rPr dirty="0" sz="1200">
                <a:latin typeface="Arial"/>
                <a:cs typeface="Arial"/>
              </a:rPr>
              <a:t>its </a:t>
            </a:r>
            <a:r>
              <a:rPr dirty="0" sz="1200" spc="-5">
                <a:latin typeface="Arial"/>
                <a:cs typeface="Arial"/>
              </a:rPr>
              <a:t>history </a:t>
            </a:r>
            <a:r>
              <a:rPr dirty="0" sz="1200">
                <a:latin typeface="Arial"/>
                <a:cs typeface="Arial"/>
              </a:rPr>
              <a:t>it </a:t>
            </a:r>
            <a:r>
              <a:rPr dirty="0" sz="1200" spc="-5">
                <a:latin typeface="Arial"/>
                <a:cs typeface="Arial"/>
              </a:rPr>
              <a:t>has sought </a:t>
            </a:r>
            <a:r>
              <a:rPr dirty="0" sz="1200">
                <a:latin typeface="Arial"/>
                <a:cs typeface="Arial"/>
              </a:rPr>
              <a:t>to </a:t>
            </a:r>
            <a:r>
              <a:rPr dirty="0" sz="1200" spc="-5">
                <a:latin typeface="Arial"/>
                <a:cs typeface="Arial"/>
              </a:rPr>
              <a:t>understand </a:t>
            </a:r>
            <a:r>
              <a:rPr dirty="0" sz="1200" spc="-10">
                <a:latin typeface="Arial"/>
                <a:cs typeface="Arial"/>
              </a:rPr>
              <a:t>the  </a:t>
            </a:r>
            <a:r>
              <a:rPr dirty="0" sz="1200" spc="-5">
                <a:latin typeface="Arial"/>
                <a:cs typeface="Arial"/>
              </a:rPr>
              <a:t>essence of the realities both of the Sacred Book and of the created world. </a:t>
            </a:r>
            <a:r>
              <a:rPr dirty="0" sz="1200">
                <a:latin typeface="Arial"/>
                <a:cs typeface="Arial"/>
              </a:rPr>
              <a:t>The </a:t>
            </a:r>
            <a:r>
              <a:rPr dirty="0" sz="1200" spc="-5">
                <a:latin typeface="Arial"/>
                <a:cs typeface="Arial"/>
              </a:rPr>
              <a:t>decline of  Peripatetic philosophy in </a:t>
            </a:r>
            <a:r>
              <a:rPr dirty="0" sz="1200">
                <a:latin typeface="Arial"/>
                <a:cs typeface="Arial"/>
              </a:rPr>
              <a:t>the </a:t>
            </a:r>
            <a:r>
              <a:rPr dirty="0" sz="1200" spc="-5">
                <a:latin typeface="Arial"/>
                <a:cs typeface="Arial"/>
              </a:rPr>
              <a:t>Islamic </a:t>
            </a:r>
            <a:r>
              <a:rPr dirty="0" sz="1200" spc="-10">
                <a:latin typeface="Arial"/>
                <a:cs typeface="Arial"/>
              </a:rPr>
              <a:t>world </a:t>
            </a:r>
            <a:r>
              <a:rPr dirty="0" sz="1200">
                <a:latin typeface="Arial"/>
                <a:cs typeface="Arial"/>
              </a:rPr>
              <a:t>did </a:t>
            </a:r>
            <a:r>
              <a:rPr dirty="0" sz="1200" spc="-5">
                <a:latin typeface="Arial"/>
                <a:cs typeface="Arial"/>
              </a:rPr>
              <a:t>not mean </a:t>
            </a:r>
            <a:r>
              <a:rPr dirty="0" sz="1200">
                <a:latin typeface="Arial"/>
                <a:cs typeface="Arial"/>
              </a:rPr>
              <a:t>the </a:t>
            </a:r>
            <a:r>
              <a:rPr dirty="0" sz="1200" spc="-5">
                <a:latin typeface="Arial"/>
                <a:cs typeface="Arial"/>
              </a:rPr>
              <a:t>decline of </a:t>
            </a:r>
            <a:r>
              <a:rPr dirty="0" sz="1200">
                <a:latin typeface="Arial"/>
                <a:cs typeface="Arial"/>
              </a:rPr>
              <a:t>philosophy </a:t>
            </a:r>
            <a:r>
              <a:rPr dirty="0" sz="1200" spc="-5">
                <a:latin typeface="Arial"/>
                <a:cs typeface="Arial"/>
              </a:rPr>
              <a:t>as such,  which continued </a:t>
            </a:r>
            <a:r>
              <a:rPr dirty="0" sz="1200">
                <a:latin typeface="Arial"/>
                <a:cs typeface="Arial"/>
              </a:rPr>
              <a:t>to </a:t>
            </a:r>
            <a:r>
              <a:rPr dirty="0" sz="1200" spc="-5">
                <a:latin typeface="Arial"/>
                <a:cs typeface="Arial"/>
              </a:rPr>
              <a:t>flourish and develop in other forms. Although </a:t>
            </a:r>
            <a:r>
              <a:rPr dirty="0" sz="1200">
                <a:latin typeface="Arial"/>
                <a:cs typeface="Arial"/>
              </a:rPr>
              <a:t>it </a:t>
            </a:r>
            <a:r>
              <a:rPr dirty="0" sz="1200" spc="-5">
                <a:latin typeface="Arial"/>
                <a:cs typeface="Arial"/>
              </a:rPr>
              <a:t>is sometimes argued that  philosophy is not a proper activity </a:t>
            </a:r>
            <a:r>
              <a:rPr dirty="0" sz="1200">
                <a:latin typeface="Arial"/>
                <a:cs typeface="Arial"/>
              </a:rPr>
              <a:t>for </a:t>
            </a:r>
            <a:r>
              <a:rPr dirty="0" sz="1200" spc="-5">
                <a:latin typeface="Arial"/>
                <a:cs typeface="Arial"/>
              </a:rPr>
              <a:t>Muslims, since </a:t>
            </a:r>
            <a:r>
              <a:rPr dirty="0" sz="1200">
                <a:latin typeface="Arial"/>
                <a:cs typeface="Arial"/>
              </a:rPr>
              <a:t>they </a:t>
            </a:r>
            <a:r>
              <a:rPr dirty="0" sz="1200" spc="-5">
                <a:latin typeface="Arial"/>
                <a:cs typeface="Arial"/>
              </a:rPr>
              <a:t>already have a perfect guide to  action and knowledge in the Qur'an, there are good reasons </a:t>
            </a:r>
            <a:r>
              <a:rPr dirty="0" sz="1200">
                <a:latin typeface="Arial"/>
                <a:cs typeface="Arial"/>
              </a:rPr>
              <a:t>for thinking </a:t>
            </a:r>
            <a:r>
              <a:rPr dirty="0" sz="1200" spc="-5">
                <a:latin typeface="Arial"/>
                <a:cs typeface="Arial"/>
              </a:rPr>
              <a:t>that Islamic  philosophy is </a:t>
            </a:r>
            <a:r>
              <a:rPr dirty="0" sz="1200">
                <a:latin typeface="Arial"/>
                <a:cs typeface="Arial"/>
              </a:rPr>
              <a:t>not </a:t>
            </a:r>
            <a:r>
              <a:rPr dirty="0" sz="1200" spc="-5">
                <a:latin typeface="Arial"/>
                <a:cs typeface="Arial"/>
              </a:rPr>
              <a:t>intrinsically objectionable on religious</a:t>
            </a:r>
            <a:r>
              <a:rPr dirty="0" sz="1200" spc="10">
                <a:latin typeface="Arial"/>
                <a:cs typeface="Arial"/>
              </a:rPr>
              <a:t> </a:t>
            </a:r>
            <a:r>
              <a:rPr dirty="0" sz="1200" spc="-5">
                <a:latin typeface="Arial"/>
                <a:cs typeface="Arial"/>
              </a:rPr>
              <a:t>grounds.</a:t>
            </a:r>
            <a:endParaRPr sz="1200">
              <a:latin typeface="Arial"/>
              <a:cs typeface="Arial"/>
            </a:endParaRPr>
          </a:p>
          <a:p>
            <a:pPr>
              <a:lnSpc>
                <a:spcPct val="100000"/>
              </a:lnSpc>
              <a:spcBef>
                <a:spcPts val="5"/>
              </a:spcBef>
            </a:pPr>
            <a:endParaRPr sz="1650">
              <a:latin typeface="Arial"/>
              <a:cs typeface="Arial"/>
            </a:endParaRPr>
          </a:p>
          <a:p>
            <a:pPr algn="just" marL="12700" marR="5080">
              <a:lnSpc>
                <a:spcPts val="1380"/>
              </a:lnSpc>
              <a:spcBef>
                <a:spcPts val="5"/>
              </a:spcBef>
            </a:pPr>
            <a:r>
              <a:rPr dirty="0" sz="1200" spc="-5">
                <a:latin typeface="Arial"/>
                <a:cs typeface="Arial"/>
              </a:rPr>
              <a:t>Philosophy is a </a:t>
            </a:r>
            <a:r>
              <a:rPr dirty="0" sz="1200" spc="10">
                <a:latin typeface="Arial"/>
                <a:cs typeface="Arial"/>
              </a:rPr>
              <a:t>Way </a:t>
            </a:r>
            <a:r>
              <a:rPr dirty="0" sz="1200">
                <a:latin typeface="Arial"/>
                <a:cs typeface="Arial"/>
              </a:rPr>
              <a:t>of </a:t>
            </a:r>
            <a:r>
              <a:rPr dirty="0" sz="1200" spc="-5">
                <a:latin typeface="Arial"/>
                <a:cs typeface="Arial"/>
              </a:rPr>
              <a:t>thinking, a </a:t>
            </a:r>
            <a:r>
              <a:rPr dirty="0" sz="1200">
                <a:latin typeface="Arial"/>
                <a:cs typeface="Arial"/>
              </a:rPr>
              <a:t>set </a:t>
            </a:r>
            <a:r>
              <a:rPr dirty="0" sz="1200" spc="-5">
                <a:latin typeface="Arial"/>
                <a:cs typeface="Arial"/>
              </a:rPr>
              <a:t>of Concepts and </a:t>
            </a:r>
            <a:r>
              <a:rPr dirty="0" sz="1200" spc="-10">
                <a:latin typeface="Arial"/>
                <a:cs typeface="Arial"/>
              </a:rPr>
              <a:t>Ideology, </a:t>
            </a:r>
            <a:r>
              <a:rPr dirty="0" sz="1200" spc="-5">
                <a:latin typeface="Arial"/>
                <a:cs typeface="Arial"/>
              </a:rPr>
              <a:t>a </a:t>
            </a:r>
            <a:r>
              <a:rPr dirty="0" sz="1200" spc="10">
                <a:latin typeface="Arial"/>
                <a:cs typeface="Arial"/>
              </a:rPr>
              <a:t>Way </a:t>
            </a:r>
            <a:r>
              <a:rPr dirty="0" sz="1200" spc="-5">
                <a:latin typeface="Arial"/>
                <a:cs typeface="Arial"/>
              </a:rPr>
              <a:t>of seeing </a:t>
            </a:r>
            <a:r>
              <a:rPr dirty="0" sz="1200">
                <a:latin typeface="Arial"/>
                <a:cs typeface="Arial"/>
              </a:rPr>
              <a:t>things, </a:t>
            </a:r>
            <a:r>
              <a:rPr dirty="0" sz="1200" spc="-5">
                <a:latin typeface="Arial"/>
                <a:cs typeface="Arial"/>
              </a:rPr>
              <a:t>a  mean of Assumptions whether proven or </a:t>
            </a:r>
            <a:r>
              <a:rPr dirty="0" sz="1200">
                <a:latin typeface="Arial"/>
                <a:cs typeface="Arial"/>
              </a:rPr>
              <a:t>not etc… It </a:t>
            </a:r>
            <a:r>
              <a:rPr dirty="0" sz="1200" spc="-5">
                <a:latin typeface="Arial"/>
                <a:cs typeface="Arial"/>
              </a:rPr>
              <a:t>generates way back since Hazrat </a:t>
            </a:r>
            <a:r>
              <a:rPr dirty="0" sz="1200" spc="-10">
                <a:latin typeface="Arial"/>
                <a:cs typeface="Arial"/>
              </a:rPr>
              <a:t>Adam  </a:t>
            </a:r>
            <a:r>
              <a:rPr dirty="0" sz="1200">
                <a:latin typeface="Arial"/>
                <a:cs typeface="Arial"/>
              </a:rPr>
              <a:t>(as) </a:t>
            </a:r>
            <a:r>
              <a:rPr dirty="0" sz="1200" spc="-5">
                <a:latin typeface="Arial"/>
                <a:cs typeface="Arial"/>
              </a:rPr>
              <a:t>in </a:t>
            </a:r>
            <a:r>
              <a:rPr dirty="0" sz="1200">
                <a:latin typeface="Arial"/>
                <a:cs typeface="Arial"/>
              </a:rPr>
              <a:t>the </a:t>
            </a:r>
            <a:r>
              <a:rPr dirty="0" sz="1200" spc="-5">
                <a:latin typeface="Arial"/>
                <a:cs typeface="Arial"/>
              </a:rPr>
              <a:t>use of Islam with human reasoning and </a:t>
            </a:r>
            <a:r>
              <a:rPr dirty="0" sz="1200">
                <a:latin typeface="Arial"/>
                <a:cs typeface="Arial"/>
              </a:rPr>
              <a:t>the </a:t>
            </a:r>
            <a:r>
              <a:rPr dirty="0" sz="1200" spc="-10">
                <a:latin typeface="Arial"/>
                <a:cs typeface="Arial"/>
              </a:rPr>
              <a:t>way </a:t>
            </a:r>
            <a:r>
              <a:rPr dirty="0" sz="1200">
                <a:latin typeface="Arial"/>
                <a:cs typeface="Arial"/>
              </a:rPr>
              <a:t>of </a:t>
            </a:r>
            <a:r>
              <a:rPr dirty="0" sz="1200" spc="-5">
                <a:latin typeface="Arial"/>
                <a:cs typeface="Arial"/>
              </a:rPr>
              <a:t>doing things. </a:t>
            </a:r>
            <a:r>
              <a:rPr dirty="0" sz="1200">
                <a:latin typeface="Arial"/>
                <a:cs typeface="Arial"/>
              </a:rPr>
              <a:t>It </a:t>
            </a:r>
            <a:r>
              <a:rPr dirty="0" sz="1200" spc="-10">
                <a:latin typeface="Arial"/>
                <a:cs typeface="Arial"/>
              </a:rPr>
              <a:t>was </a:t>
            </a:r>
            <a:r>
              <a:rPr dirty="0" sz="1200" spc="-5">
                <a:latin typeface="Arial"/>
                <a:cs typeface="Arial"/>
              </a:rPr>
              <a:t>since the  Existence of </a:t>
            </a:r>
            <a:r>
              <a:rPr dirty="0" sz="1200">
                <a:latin typeface="Arial"/>
                <a:cs typeface="Arial"/>
              </a:rPr>
              <a:t>Man. </a:t>
            </a:r>
            <a:r>
              <a:rPr dirty="0" sz="1200" spc="-5">
                <a:latin typeface="Arial"/>
                <a:cs typeface="Arial"/>
              </a:rPr>
              <a:t>However, </a:t>
            </a:r>
            <a:r>
              <a:rPr dirty="0" sz="1200">
                <a:latin typeface="Arial"/>
                <a:cs typeface="Arial"/>
              </a:rPr>
              <a:t>there </a:t>
            </a:r>
            <a:r>
              <a:rPr dirty="0" sz="1200" spc="-5">
                <a:latin typeface="Arial"/>
                <a:cs typeface="Arial"/>
              </a:rPr>
              <a:t>are different philosophies like </a:t>
            </a:r>
            <a:r>
              <a:rPr dirty="0" sz="1200">
                <a:latin typeface="Arial"/>
                <a:cs typeface="Arial"/>
              </a:rPr>
              <a:t>for the Greek </a:t>
            </a:r>
            <a:r>
              <a:rPr dirty="0" sz="1200" spc="-5">
                <a:latin typeface="Arial"/>
                <a:cs typeface="Arial"/>
              </a:rPr>
              <a:t>philosophy,  Persian Philosophy and Arabic</a:t>
            </a:r>
            <a:r>
              <a:rPr dirty="0" sz="1200" spc="5">
                <a:latin typeface="Arial"/>
                <a:cs typeface="Arial"/>
              </a:rPr>
              <a:t> </a:t>
            </a:r>
            <a:r>
              <a:rPr dirty="0" sz="1200" spc="-5">
                <a:latin typeface="Arial"/>
                <a:cs typeface="Arial"/>
              </a:rPr>
              <a:t>Philosophy.</a:t>
            </a:r>
            <a:endParaRPr sz="1200">
              <a:latin typeface="Arial"/>
              <a:cs typeface="Arial"/>
            </a:endParaRPr>
          </a:p>
          <a:p>
            <a:pPr>
              <a:lnSpc>
                <a:spcPct val="100000"/>
              </a:lnSpc>
              <a:spcBef>
                <a:spcPts val="15"/>
              </a:spcBef>
            </a:pPr>
            <a:endParaRPr sz="1100">
              <a:latin typeface="Arial"/>
              <a:cs typeface="Arial"/>
            </a:endParaRPr>
          </a:p>
          <a:p>
            <a:pPr algn="just" marL="12700">
              <a:lnSpc>
                <a:spcPct val="100000"/>
              </a:lnSpc>
            </a:pPr>
            <a:r>
              <a:rPr dirty="0" u="heavy" sz="1200" b="1" i="1">
                <a:uFill>
                  <a:solidFill>
                    <a:srgbClr val="000000"/>
                  </a:solidFill>
                </a:uFill>
                <a:latin typeface="Arial"/>
                <a:cs typeface="Arial"/>
              </a:rPr>
              <a:t>Types of</a:t>
            </a:r>
            <a:r>
              <a:rPr dirty="0" u="heavy" sz="1200" spc="-5" b="1" i="1">
                <a:uFill>
                  <a:solidFill>
                    <a:srgbClr val="000000"/>
                  </a:solidFill>
                </a:uFill>
                <a:latin typeface="Arial"/>
                <a:cs typeface="Arial"/>
              </a:rPr>
              <a:t> Philosophy</a:t>
            </a:r>
            <a:endParaRPr sz="1200">
              <a:latin typeface="Arial"/>
              <a:cs typeface="Arial"/>
            </a:endParaRPr>
          </a:p>
          <a:p>
            <a:pPr>
              <a:lnSpc>
                <a:spcPct val="100000"/>
              </a:lnSpc>
            </a:pPr>
            <a:endParaRPr sz="1150">
              <a:latin typeface="Arial"/>
              <a:cs typeface="Arial"/>
            </a:endParaRPr>
          </a:p>
          <a:p>
            <a:pPr marL="469900" indent="-229235">
              <a:lnSpc>
                <a:spcPct val="100000"/>
              </a:lnSpc>
              <a:buAutoNum type="arabicPeriod"/>
              <a:tabLst>
                <a:tab pos="470534" algn="l"/>
              </a:tabLst>
            </a:pPr>
            <a:r>
              <a:rPr dirty="0" u="sng" sz="1200">
                <a:uFill>
                  <a:solidFill>
                    <a:srgbClr val="000000"/>
                  </a:solidFill>
                </a:uFill>
                <a:latin typeface="Arial"/>
                <a:cs typeface="Arial"/>
              </a:rPr>
              <a:t>Islamic</a:t>
            </a:r>
            <a:r>
              <a:rPr dirty="0" u="sng" sz="1200" spc="-5">
                <a:uFill>
                  <a:solidFill>
                    <a:srgbClr val="000000"/>
                  </a:solidFill>
                </a:uFill>
                <a:latin typeface="Arial"/>
                <a:cs typeface="Arial"/>
              </a:rPr>
              <a:t> Philosophy</a:t>
            </a:r>
            <a:endParaRPr sz="1200">
              <a:latin typeface="Arial"/>
              <a:cs typeface="Arial"/>
            </a:endParaRPr>
          </a:p>
          <a:p>
            <a:pPr>
              <a:lnSpc>
                <a:spcPct val="100000"/>
              </a:lnSpc>
              <a:spcBef>
                <a:spcPts val="35"/>
              </a:spcBef>
              <a:buFont typeface="Arial"/>
              <a:buAutoNum type="arabicPeriod"/>
            </a:pPr>
            <a:endParaRPr sz="1200">
              <a:latin typeface="Arial"/>
              <a:cs typeface="Arial"/>
            </a:endParaRPr>
          </a:p>
          <a:p>
            <a:pPr algn="just" marL="12700" marR="5080">
              <a:lnSpc>
                <a:spcPts val="1380"/>
              </a:lnSpc>
              <a:spcBef>
                <a:spcPts val="5"/>
              </a:spcBef>
            </a:pPr>
            <a:r>
              <a:rPr dirty="0" sz="1200" spc="-5">
                <a:latin typeface="Arial"/>
                <a:cs typeface="Arial"/>
              </a:rPr>
              <a:t>The Islamic philosophy can be divided into the </a:t>
            </a:r>
            <a:r>
              <a:rPr dirty="0" sz="1200">
                <a:latin typeface="Arial"/>
                <a:cs typeface="Arial"/>
              </a:rPr>
              <a:t>True </a:t>
            </a:r>
            <a:r>
              <a:rPr dirty="0" sz="1200" spc="-5">
                <a:latin typeface="Arial"/>
                <a:cs typeface="Arial"/>
              </a:rPr>
              <a:t>and the False </a:t>
            </a:r>
            <a:r>
              <a:rPr dirty="0" sz="1200">
                <a:latin typeface="Arial"/>
                <a:cs typeface="Arial"/>
              </a:rPr>
              <a:t>Islamic </a:t>
            </a:r>
            <a:r>
              <a:rPr dirty="0" sz="1200" spc="-5">
                <a:latin typeface="Arial"/>
                <a:cs typeface="Arial"/>
              </a:rPr>
              <a:t>Philosophy. The  </a:t>
            </a:r>
            <a:r>
              <a:rPr dirty="0" sz="1200">
                <a:latin typeface="Arial"/>
                <a:cs typeface="Arial"/>
              </a:rPr>
              <a:t>true </a:t>
            </a:r>
            <a:r>
              <a:rPr dirty="0" sz="1200" spc="-5">
                <a:latin typeface="Arial"/>
                <a:cs typeface="Arial"/>
              </a:rPr>
              <a:t>philosophy is </a:t>
            </a:r>
            <a:r>
              <a:rPr dirty="0" sz="1200">
                <a:latin typeface="Arial"/>
                <a:cs typeface="Arial"/>
              </a:rPr>
              <a:t>the one from </a:t>
            </a:r>
            <a:r>
              <a:rPr dirty="0" sz="1200" spc="-5">
                <a:latin typeface="Arial"/>
                <a:cs typeface="Arial"/>
              </a:rPr>
              <a:t>the source of </a:t>
            </a:r>
            <a:r>
              <a:rPr dirty="0" sz="1200">
                <a:latin typeface="Arial"/>
                <a:cs typeface="Arial"/>
              </a:rPr>
              <a:t>the </a:t>
            </a:r>
            <a:r>
              <a:rPr dirty="0" sz="1200" spc="-5">
                <a:latin typeface="Arial"/>
                <a:cs typeface="Arial"/>
              </a:rPr>
              <a:t>Shari‘ah, that is </a:t>
            </a:r>
            <a:r>
              <a:rPr dirty="0" sz="1200" spc="-10">
                <a:latin typeface="Arial"/>
                <a:cs typeface="Arial"/>
              </a:rPr>
              <a:t>the </a:t>
            </a:r>
            <a:r>
              <a:rPr dirty="0" sz="1200" spc="-5">
                <a:latin typeface="Arial"/>
                <a:cs typeface="Arial"/>
              </a:rPr>
              <a:t>Qur‘an, the Hadith, the  </a:t>
            </a:r>
            <a:r>
              <a:rPr dirty="0" sz="1200">
                <a:latin typeface="Arial"/>
                <a:cs typeface="Arial"/>
              </a:rPr>
              <a:t>Ijma‘, </a:t>
            </a:r>
            <a:r>
              <a:rPr dirty="0" sz="1200" spc="-5">
                <a:latin typeface="Arial"/>
                <a:cs typeface="Arial"/>
              </a:rPr>
              <a:t>the Qiyas </a:t>
            </a:r>
            <a:r>
              <a:rPr dirty="0" sz="1200">
                <a:latin typeface="Arial"/>
                <a:cs typeface="Arial"/>
              </a:rPr>
              <a:t>and the </a:t>
            </a:r>
            <a:r>
              <a:rPr dirty="0" sz="1200" spc="-5">
                <a:latin typeface="Arial"/>
                <a:cs typeface="Arial"/>
              </a:rPr>
              <a:t>Ijtihad. Nothing is changed and a code </a:t>
            </a:r>
            <a:r>
              <a:rPr dirty="0" sz="1200">
                <a:latin typeface="Arial"/>
                <a:cs typeface="Arial"/>
              </a:rPr>
              <a:t>of </a:t>
            </a:r>
            <a:r>
              <a:rPr dirty="0" sz="1200" spc="-5">
                <a:latin typeface="Arial"/>
                <a:cs typeface="Arial"/>
              </a:rPr>
              <a:t>conduct and </a:t>
            </a:r>
            <a:r>
              <a:rPr dirty="0" sz="1200" spc="-10">
                <a:latin typeface="Arial"/>
                <a:cs typeface="Arial"/>
              </a:rPr>
              <a:t>way </a:t>
            </a:r>
            <a:r>
              <a:rPr dirty="0" sz="1200">
                <a:latin typeface="Arial"/>
                <a:cs typeface="Arial"/>
              </a:rPr>
              <a:t>of  thinking </a:t>
            </a:r>
            <a:r>
              <a:rPr dirty="0" sz="1200" spc="-5">
                <a:latin typeface="Arial"/>
                <a:cs typeface="Arial"/>
              </a:rPr>
              <a:t>are derived </a:t>
            </a:r>
            <a:r>
              <a:rPr dirty="0" sz="1200">
                <a:latin typeface="Arial"/>
                <a:cs typeface="Arial"/>
              </a:rPr>
              <a:t>from it. The false </a:t>
            </a:r>
            <a:r>
              <a:rPr dirty="0" sz="1200" spc="-5">
                <a:latin typeface="Arial"/>
                <a:cs typeface="Arial"/>
              </a:rPr>
              <a:t>philosophy or </a:t>
            </a:r>
            <a:r>
              <a:rPr dirty="0" sz="1200">
                <a:latin typeface="Arial"/>
                <a:cs typeface="Arial"/>
              </a:rPr>
              <a:t>the </a:t>
            </a:r>
            <a:r>
              <a:rPr dirty="0" sz="1200" spc="-5">
                <a:latin typeface="Arial"/>
                <a:cs typeface="Arial"/>
              </a:rPr>
              <a:t>altered philosophy is </a:t>
            </a:r>
            <a:r>
              <a:rPr dirty="0" sz="1200">
                <a:latin typeface="Arial"/>
                <a:cs typeface="Arial"/>
              </a:rPr>
              <a:t>the </a:t>
            </a:r>
            <a:r>
              <a:rPr dirty="0" sz="1200" spc="-5">
                <a:latin typeface="Arial"/>
                <a:cs typeface="Arial"/>
              </a:rPr>
              <a:t>one taken  from the </a:t>
            </a:r>
            <a:r>
              <a:rPr dirty="0" sz="1200">
                <a:latin typeface="Arial"/>
                <a:cs typeface="Arial"/>
              </a:rPr>
              <a:t>true </a:t>
            </a:r>
            <a:r>
              <a:rPr dirty="0" sz="1200" spc="-5">
                <a:latin typeface="Arial"/>
                <a:cs typeface="Arial"/>
              </a:rPr>
              <a:t>philosophy and </a:t>
            </a:r>
            <a:r>
              <a:rPr dirty="0" sz="1200">
                <a:latin typeface="Arial"/>
                <a:cs typeface="Arial"/>
              </a:rPr>
              <a:t>then </a:t>
            </a:r>
            <a:r>
              <a:rPr dirty="0" sz="1200" spc="-5">
                <a:latin typeface="Arial"/>
                <a:cs typeface="Arial"/>
              </a:rPr>
              <a:t>changes are made therein. Either concepts are erased or  added to </a:t>
            </a:r>
            <a:r>
              <a:rPr dirty="0" sz="1200">
                <a:latin typeface="Arial"/>
                <a:cs typeface="Arial"/>
              </a:rPr>
              <a:t>suit </a:t>
            </a:r>
            <a:r>
              <a:rPr dirty="0" sz="1200" spc="-5">
                <a:latin typeface="Arial"/>
                <a:cs typeface="Arial"/>
              </a:rPr>
              <a:t>the concepts of the</a:t>
            </a:r>
            <a:r>
              <a:rPr dirty="0" sz="1200">
                <a:latin typeface="Arial"/>
                <a:cs typeface="Arial"/>
              </a:rPr>
              <a:t> </a:t>
            </a:r>
            <a:r>
              <a:rPr dirty="0" sz="1200" spc="-5">
                <a:latin typeface="Arial"/>
                <a:cs typeface="Arial"/>
              </a:rPr>
              <a:t>philosophers.</a:t>
            </a:r>
            <a:endParaRPr sz="1200">
              <a:latin typeface="Arial"/>
              <a:cs typeface="Arial"/>
            </a:endParaRPr>
          </a:p>
          <a:p>
            <a:pPr>
              <a:lnSpc>
                <a:spcPct val="100000"/>
              </a:lnSpc>
              <a:spcBef>
                <a:spcPts val="15"/>
              </a:spcBef>
            </a:pPr>
            <a:endParaRPr sz="1100">
              <a:latin typeface="Arial"/>
              <a:cs typeface="Arial"/>
            </a:endParaRPr>
          </a:p>
          <a:p>
            <a:pPr marL="469900" indent="-229235">
              <a:lnSpc>
                <a:spcPct val="100000"/>
              </a:lnSpc>
              <a:buAutoNum type="arabicPeriod" startAt="2"/>
              <a:tabLst>
                <a:tab pos="470534" algn="l"/>
              </a:tabLst>
            </a:pPr>
            <a:r>
              <a:rPr dirty="0" u="sng" sz="1200" spc="-5">
                <a:uFill>
                  <a:solidFill>
                    <a:srgbClr val="000000"/>
                  </a:solidFill>
                </a:uFill>
                <a:latin typeface="Arial"/>
                <a:cs typeface="Arial"/>
              </a:rPr>
              <a:t>Non Islamic</a:t>
            </a:r>
            <a:r>
              <a:rPr dirty="0" u="sng" sz="1200" spc="5">
                <a:uFill>
                  <a:solidFill>
                    <a:srgbClr val="000000"/>
                  </a:solidFill>
                </a:uFill>
                <a:latin typeface="Arial"/>
                <a:cs typeface="Arial"/>
              </a:rPr>
              <a:t> </a:t>
            </a:r>
            <a:r>
              <a:rPr dirty="0" u="sng" sz="1200" spc="-5">
                <a:uFill>
                  <a:solidFill>
                    <a:srgbClr val="000000"/>
                  </a:solidFill>
                </a:uFill>
                <a:latin typeface="Arial"/>
                <a:cs typeface="Arial"/>
              </a:rPr>
              <a:t>Philosophy</a:t>
            </a:r>
            <a:endParaRPr sz="1200">
              <a:latin typeface="Arial"/>
              <a:cs typeface="Arial"/>
            </a:endParaRPr>
          </a:p>
          <a:p>
            <a:pPr>
              <a:lnSpc>
                <a:spcPct val="100000"/>
              </a:lnSpc>
            </a:pPr>
            <a:endParaRPr sz="1200">
              <a:latin typeface="Arial"/>
              <a:cs typeface="Arial"/>
            </a:endParaRPr>
          </a:p>
          <a:p>
            <a:pPr algn="just" marL="12700" marR="6985">
              <a:lnSpc>
                <a:spcPct val="95900"/>
              </a:lnSpc>
            </a:pPr>
            <a:r>
              <a:rPr dirty="0" sz="1200">
                <a:latin typeface="Arial"/>
                <a:cs typeface="Arial"/>
              </a:rPr>
              <a:t>This </a:t>
            </a:r>
            <a:r>
              <a:rPr dirty="0" sz="1200" spc="-10">
                <a:latin typeface="Arial"/>
                <a:cs typeface="Arial"/>
              </a:rPr>
              <a:t>can </a:t>
            </a:r>
            <a:r>
              <a:rPr dirty="0" sz="1200" spc="-5">
                <a:latin typeface="Arial"/>
                <a:cs typeface="Arial"/>
              </a:rPr>
              <a:t>be divided into the philosophy of the Ahl Kitab and the philosophy </a:t>
            </a:r>
            <a:r>
              <a:rPr dirty="0" sz="1200">
                <a:latin typeface="Arial"/>
                <a:cs typeface="Arial"/>
              </a:rPr>
              <a:t>of </a:t>
            </a:r>
            <a:r>
              <a:rPr dirty="0" sz="1200" spc="-5">
                <a:latin typeface="Arial"/>
                <a:cs typeface="Arial"/>
              </a:rPr>
              <a:t>the Kaafir. The  philosophy </a:t>
            </a:r>
            <a:r>
              <a:rPr dirty="0" sz="1200">
                <a:latin typeface="Arial"/>
                <a:cs typeface="Arial"/>
              </a:rPr>
              <a:t>of </a:t>
            </a:r>
            <a:r>
              <a:rPr dirty="0" sz="1200" spc="-5">
                <a:latin typeface="Arial"/>
                <a:cs typeface="Arial"/>
              </a:rPr>
              <a:t>the Ahl Kitab can be either true or </a:t>
            </a:r>
            <a:r>
              <a:rPr dirty="0" sz="1200">
                <a:latin typeface="Arial"/>
                <a:cs typeface="Arial"/>
              </a:rPr>
              <a:t>false. It </a:t>
            </a:r>
            <a:r>
              <a:rPr dirty="0" sz="1200" spc="-5">
                <a:latin typeface="Arial"/>
                <a:cs typeface="Arial"/>
              </a:rPr>
              <a:t>is </a:t>
            </a:r>
            <a:r>
              <a:rPr dirty="0" sz="1200">
                <a:latin typeface="Arial"/>
                <a:cs typeface="Arial"/>
              </a:rPr>
              <a:t>true </a:t>
            </a:r>
            <a:r>
              <a:rPr dirty="0" sz="1200" spc="-5">
                <a:latin typeface="Arial"/>
                <a:cs typeface="Arial"/>
              </a:rPr>
              <a:t>as </a:t>
            </a:r>
            <a:r>
              <a:rPr dirty="0" sz="1200">
                <a:latin typeface="Arial"/>
                <a:cs typeface="Arial"/>
              </a:rPr>
              <a:t>long </a:t>
            </a:r>
            <a:r>
              <a:rPr dirty="0" sz="1200" spc="-5">
                <a:latin typeface="Arial"/>
                <a:cs typeface="Arial"/>
              </a:rPr>
              <a:t>as </a:t>
            </a:r>
            <a:r>
              <a:rPr dirty="0" sz="1200">
                <a:latin typeface="Arial"/>
                <a:cs typeface="Arial"/>
              </a:rPr>
              <a:t>the </a:t>
            </a:r>
            <a:r>
              <a:rPr dirty="0" sz="1200" spc="-5">
                <a:latin typeface="Arial"/>
                <a:cs typeface="Arial"/>
              </a:rPr>
              <a:t>books of  Tawraat, Zabour and </a:t>
            </a:r>
            <a:r>
              <a:rPr dirty="0" sz="1200">
                <a:latin typeface="Arial"/>
                <a:cs typeface="Arial"/>
              </a:rPr>
              <a:t>Injeel </a:t>
            </a:r>
            <a:r>
              <a:rPr dirty="0" sz="1200" spc="-5">
                <a:latin typeface="Arial"/>
                <a:cs typeface="Arial"/>
              </a:rPr>
              <a:t>are not falsified. </a:t>
            </a:r>
            <a:r>
              <a:rPr dirty="0" sz="1200">
                <a:latin typeface="Arial"/>
                <a:cs typeface="Arial"/>
              </a:rPr>
              <a:t>When </a:t>
            </a:r>
            <a:r>
              <a:rPr dirty="0" sz="1200" spc="-5">
                <a:latin typeface="Arial"/>
                <a:cs typeface="Arial"/>
              </a:rPr>
              <a:t>there is falsification, then </a:t>
            </a:r>
            <a:r>
              <a:rPr dirty="0" sz="1200">
                <a:latin typeface="Arial"/>
                <a:cs typeface="Arial"/>
              </a:rPr>
              <a:t>it </a:t>
            </a:r>
            <a:r>
              <a:rPr dirty="0" sz="1200" spc="-5">
                <a:latin typeface="Arial"/>
                <a:cs typeface="Arial"/>
              </a:rPr>
              <a:t>is a false  philosophical approach. Secondly, </a:t>
            </a:r>
            <a:r>
              <a:rPr dirty="0" sz="1200" spc="-10">
                <a:latin typeface="Arial"/>
                <a:cs typeface="Arial"/>
              </a:rPr>
              <a:t>we </a:t>
            </a:r>
            <a:r>
              <a:rPr dirty="0" sz="1200" spc="-5">
                <a:latin typeface="Arial"/>
                <a:cs typeface="Arial"/>
              </a:rPr>
              <a:t>have </a:t>
            </a:r>
            <a:r>
              <a:rPr dirty="0" sz="1200">
                <a:latin typeface="Arial"/>
                <a:cs typeface="Arial"/>
              </a:rPr>
              <a:t>the </a:t>
            </a:r>
            <a:r>
              <a:rPr dirty="0" sz="1200" spc="-5">
                <a:latin typeface="Arial"/>
                <a:cs typeface="Arial"/>
              </a:rPr>
              <a:t>philosophy of the kaafir divided into the  philosophy </a:t>
            </a:r>
            <a:r>
              <a:rPr dirty="0" sz="1200">
                <a:latin typeface="Arial"/>
                <a:cs typeface="Arial"/>
              </a:rPr>
              <a:t>of </a:t>
            </a:r>
            <a:r>
              <a:rPr dirty="0" sz="1200" spc="-5">
                <a:latin typeface="Arial"/>
                <a:cs typeface="Arial"/>
              </a:rPr>
              <a:t>Individual </a:t>
            </a:r>
            <a:r>
              <a:rPr dirty="0" sz="1200">
                <a:latin typeface="Arial"/>
                <a:cs typeface="Arial"/>
              </a:rPr>
              <a:t>Atheist, </a:t>
            </a:r>
            <a:r>
              <a:rPr dirty="0" sz="1200" spc="-5">
                <a:latin typeface="Arial"/>
                <a:cs typeface="Arial"/>
              </a:rPr>
              <a:t>philosophy </a:t>
            </a:r>
            <a:r>
              <a:rPr dirty="0" sz="1200">
                <a:latin typeface="Arial"/>
                <a:cs typeface="Arial"/>
              </a:rPr>
              <a:t>of </a:t>
            </a:r>
            <a:r>
              <a:rPr dirty="0" sz="1200" spc="-5">
                <a:latin typeface="Arial"/>
                <a:cs typeface="Arial"/>
              </a:rPr>
              <a:t>any religious creed and the </a:t>
            </a:r>
            <a:r>
              <a:rPr dirty="0" sz="1200">
                <a:latin typeface="Arial"/>
                <a:cs typeface="Arial"/>
              </a:rPr>
              <a:t>philosophy of  </a:t>
            </a:r>
            <a:r>
              <a:rPr dirty="0" sz="1200" spc="-5">
                <a:latin typeface="Arial"/>
                <a:cs typeface="Arial"/>
              </a:rPr>
              <a:t>Organisation or </a:t>
            </a:r>
            <a:r>
              <a:rPr dirty="0" sz="1200">
                <a:latin typeface="Arial"/>
                <a:cs typeface="Arial"/>
              </a:rPr>
              <a:t>sects.</a:t>
            </a:r>
            <a:endParaRPr sz="1200">
              <a:latin typeface="Arial"/>
              <a:cs typeface="Arial"/>
            </a:endParaRPr>
          </a:p>
          <a:p>
            <a:pPr>
              <a:lnSpc>
                <a:spcPct val="100000"/>
              </a:lnSpc>
            </a:pPr>
            <a:endParaRPr sz="1150">
              <a:latin typeface="Arial"/>
              <a:cs typeface="Arial"/>
            </a:endParaRPr>
          </a:p>
          <a:p>
            <a:pPr algn="just" marL="12700">
              <a:lnSpc>
                <a:spcPct val="100000"/>
              </a:lnSpc>
            </a:pPr>
            <a:r>
              <a:rPr dirty="0" u="heavy" sz="1200" spc="-5" b="1" i="1">
                <a:uFill>
                  <a:solidFill>
                    <a:srgbClr val="000000"/>
                  </a:solidFill>
                </a:uFill>
                <a:latin typeface="Arial"/>
                <a:cs typeface="Arial"/>
              </a:rPr>
              <a:t>Some Arab</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Philosophers</a:t>
            </a:r>
            <a:endParaRPr sz="1200">
              <a:latin typeface="Arial"/>
              <a:cs typeface="Arial"/>
            </a:endParaRPr>
          </a:p>
          <a:p>
            <a:pPr>
              <a:lnSpc>
                <a:spcPct val="100000"/>
              </a:lnSpc>
              <a:spcBef>
                <a:spcPts val="55"/>
              </a:spcBef>
            </a:pPr>
            <a:endParaRPr sz="1100">
              <a:latin typeface="Arial"/>
              <a:cs typeface="Arial"/>
            </a:endParaRPr>
          </a:p>
          <a:p>
            <a:pPr marL="241300">
              <a:lnSpc>
                <a:spcPct val="100000"/>
              </a:lnSpc>
            </a:pPr>
            <a:r>
              <a:rPr dirty="0" sz="1200" b="1" i="1">
                <a:latin typeface="Arial"/>
                <a:cs typeface="Arial"/>
              </a:rPr>
              <a:t>1. </a:t>
            </a:r>
            <a:r>
              <a:rPr dirty="0" u="heavy" sz="1200" spc="-5" b="1" i="1">
                <a:uFill>
                  <a:solidFill>
                    <a:srgbClr val="000000"/>
                  </a:solidFill>
                </a:uFill>
                <a:latin typeface="Arial"/>
                <a:cs typeface="Arial"/>
              </a:rPr>
              <a:t>Al</a:t>
            </a:r>
            <a:r>
              <a:rPr dirty="0" u="heavy" sz="1200" spc="-215" b="1" i="1">
                <a:uFill>
                  <a:solidFill>
                    <a:srgbClr val="000000"/>
                  </a:solidFill>
                </a:uFill>
                <a:latin typeface="Arial"/>
                <a:cs typeface="Arial"/>
              </a:rPr>
              <a:t> </a:t>
            </a:r>
            <a:r>
              <a:rPr dirty="0" u="heavy" sz="1200" b="1" i="1">
                <a:uFill>
                  <a:solidFill>
                    <a:srgbClr val="000000"/>
                  </a:solidFill>
                </a:uFill>
                <a:latin typeface="Arial"/>
                <a:cs typeface="Arial"/>
              </a:rPr>
              <a:t>Kindi</a:t>
            </a:r>
            <a:endParaRPr sz="1200">
              <a:latin typeface="Arial"/>
              <a:cs typeface="Arial"/>
            </a:endParaRPr>
          </a:p>
          <a:p>
            <a:pPr>
              <a:lnSpc>
                <a:spcPct val="100000"/>
              </a:lnSpc>
              <a:spcBef>
                <a:spcPts val="20"/>
              </a:spcBef>
            </a:pPr>
            <a:endParaRPr sz="1650">
              <a:latin typeface="Arial"/>
              <a:cs typeface="Arial"/>
            </a:endParaRPr>
          </a:p>
          <a:p>
            <a:pPr algn="just" marL="12700" marR="5715">
              <a:lnSpc>
                <a:spcPts val="1380"/>
              </a:lnSpc>
            </a:pPr>
            <a:r>
              <a:rPr dirty="0" sz="1200" spc="-5">
                <a:latin typeface="Arial"/>
                <a:cs typeface="Arial"/>
              </a:rPr>
              <a:t>Yaʻqūb ibn </a:t>
            </a:r>
            <a:r>
              <a:rPr dirty="0" sz="1200">
                <a:latin typeface="Arial"/>
                <a:cs typeface="Arial"/>
              </a:rPr>
              <a:t>Isḥāq al-Kindī (c. </a:t>
            </a:r>
            <a:r>
              <a:rPr dirty="0" sz="1200" spc="-5">
                <a:latin typeface="Arial"/>
                <a:cs typeface="Arial"/>
              </a:rPr>
              <a:t>801–873 </a:t>
            </a:r>
            <a:r>
              <a:rPr dirty="0" sz="1200">
                <a:latin typeface="Arial"/>
                <a:cs typeface="Arial"/>
              </a:rPr>
              <a:t>CE), </a:t>
            </a:r>
            <a:r>
              <a:rPr dirty="0" sz="1200" spc="-5">
                <a:latin typeface="Arial"/>
                <a:cs typeface="Arial"/>
              </a:rPr>
              <a:t>known as </a:t>
            </a:r>
            <a:r>
              <a:rPr dirty="0" sz="1200">
                <a:latin typeface="Arial"/>
                <a:cs typeface="Arial"/>
              </a:rPr>
              <a:t>"the </a:t>
            </a:r>
            <a:r>
              <a:rPr dirty="0" sz="1200" spc="-5">
                <a:latin typeface="Arial"/>
                <a:cs typeface="Arial"/>
              </a:rPr>
              <a:t>Philosopher of </a:t>
            </a:r>
            <a:r>
              <a:rPr dirty="0" sz="1200">
                <a:latin typeface="Arial"/>
                <a:cs typeface="Arial"/>
              </a:rPr>
              <a:t>the </a:t>
            </a:r>
            <a:r>
              <a:rPr dirty="0" sz="1200" spc="-5">
                <a:latin typeface="Arial"/>
                <a:cs typeface="Arial"/>
              </a:rPr>
              <a:t>Arabs", </a:t>
            </a:r>
            <a:r>
              <a:rPr dirty="0" sz="1200" spc="-10">
                <a:latin typeface="Arial"/>
                <a:cs typeface="Arial"/>
              </a:rPr>
              <a:t>was </a:t>
            </a:r>
            <a:r>
              <a:rPr dirty="0" sz="1200" spc="-5">
                <a:latin typeface="Arial"/>
                <a:cs typeface="Arial"/>
              </a:rPr>
              <a:t>a  </a:t>
            </a:r>
            <a:r>
              <a:rPr dirty="0" sz="1200" spc="-5">
                <a:latin typeface="Arial"/>
                <a:cs typeface="Arial"/>
                <a:hlinkClick r:id="rId2"/>
              </a:rPr>
              <a:t>Muslim </a:t>
            </a:r>
            <a:r>
              <a:rPr dirty="0" sz="1200" spc="-5">
                <a:latin typeface="Arial"/>
                <a:cs typeface="Arial"/>
                <a:hlinkClick r:id="rId3"/>
              </a:rPr>
              <a:t>Arab </a:t>
            </a:r>
            <a:r>
              <a:rPr dirty="0" sz="1200" spc="-5">
                <a:latin typeface="Arial"/>
                <a:cs typeface="Arial"/>
                <a:hlinkClick r:id="rId4"/>
              </a:rPr>
              <a:t>scientist</a:t>
            </a:r>
            <a:r>
              <a:rPr dirty="0" sz="1200" spc="-5">
                <a:latin typeface="Arial"/>
                <a:cs typeface="Arial"/>
              </a:rPr>
              <a:t>, </a:t>
            </a:r>
            <a:r>
              <a:rPr dirty="0" sz="1200" spc="-5">
                <a:latin typeface="Arial"/>
                <a:cs typeface="Arial"/>
                <a:hlinkClick r:id="rId5"/>
              </a:rPr>
              <a:t>philosopher</a:t>
            </a:r>
            <a:r>
              <a:rPr dirty="0" sz="1200" spc="-5">
                <a:latin typeface="Arial"/>
                <a:cs typeface="Arial"/>
              </a:rPr>
              <a:t>, </a:t>
            </a:r>
            <a:r>
              <a:rPr dirty="0" sz="1200" spc="-5">
                <a:latin typeface="Arial"/>
                <a:cs typeface="Arial"/>
                <a:hlinkClick r:id="rId6"/>
              </a:rPr>
              <a:t>mathematician</a:t>
            </a:r>
            <a:r>
              <a:rPr dirty="0" sz="1200" spc="-5">
                <a:latin typeface="Arial"/>
                <a:cs typeface="Arial"/>
              </a:rPr>
              <a:t>, </a:t>
            </a:r>
            <a:r>
              <a:rPr dirty="0" sz="1200" spc="-5">
                <a:latin typeface="Arial"/>
                <a:cs typeface="Arial"/>
                <a:hlinkClick r:id="rId7"/>
              </a:rPr>
              <a:t>physician</a:t>
            </a:r>
            <a:r>
              <a:rPr dirty="0" sz="1200" spc="-5">
                <a:latin typeface="Arial"/>
                <a:cs typeface="Arial"/>
              </a:rPr>
              <a:t>, and </a:t>
            </a:r>
            <a:r>
              <a:rPr dirty="0" sz="1200" spc="-5">
                <a:latin typeface="Arial"/>
                <a:cs typeface="Arial"/>
                <a:hlinkClick r:id="rId8"/>
              </a:rPr>
              <a:t>musician</a:t>
            </a:r>
            <a:r>
              <a:rPr dirty="0" sz="1200" spc="-5">
                <a:latin typeface="Arial"/>
                <a:cs typeface="Arial"/>
              </a:rPr>
              <a:t>. Al-Kindi </a:t>
            </a:r>
            <a:r>
              <a:rPr dirty="0" sz="1200" spc="-10">
                <a:latin typeface="Arial"/>
                <a:cs typeface="Arial"/>
              </a:rPr>
              <a:t>was </a:t>
            </a:r>
            <a:r>
              <a:rPr dirty="0" sz="1200">
                <a:latin typeface="Arial"/>
                <a:cs typeface="Arial"/>
              </a:rPr>
              <a:t>the  first </a:t>
            </a:r>
            <a:r>
              <a:rPr dirty="0" sz="1200" spc="-5">
                <a:latin typeface="Arial"/>
                <a:cs typeface="Arial"/>
              </a:rPr>
              <a:t>of the Muslim </a:t>
            </a:r>
            <a:r>
              <a:rPr dirty="0" sz="1200" spc="-5">
                <a:latin typeface="Arial"/>
                <a:cs typeface="Arial"/>
                <a:hlinkClick r:id="rId9"/>
              </a:rPr>
              <a:t>peripatetic</a:t>
            </a:r>
            <a:r>
              <a:rPr dirty="0" sz="1200" spc="-5">
                <a:latin typeface="Arial"/>
                <a:cs typeface="Arial"/>
              </a:rPr>
              <a:t> philosophers, and is unanimously hailed as the </a:t>
            </a:r>
            <a:r>
              <a:rPr dirty="0" sz="1200">
                <a:latin typeface="Arial"/>
                <a:cs typeface="Arial"/>
              </a:rPr>
              <a:t>"father </a:t>
            </a:r>
            <a:r>
              <a:rPr dirty="0" sz="1200" spc="-5">
                <a:latin typeface="Arial"/>
                <a:cs typeface="Arial"/>
              </a:rPr>
              <a:t>of  </a:t>
            </a:r>
            <a:r>
              <a:rPr dirty="0" sz="1200">
                <a:latin typeface="Arial"/>
                <a:cs typeface="Arial"/>
                <a:hlinkClick r:id="rId10"/>
              </a:rPr>
              <a:t>Islamic </a:t>
            </a:r>
            <a:r>
              <a:rPr dirty="0" sz="1200" spc="-5">
                <a:latin typeface="Arial"/>
                <a:cs typeface="Arial"/>
                <a:hlinkClick r:id="rId10"/>
              </a:rPr>
              <a:t>or Arabic philosophy</a:t>
            </a:r>
            <a:r>
              <a:rPr dirty="0" sz="1200" spc="-5">
                <a:latin typeface="Arial"/>
                <a:cs typeface="Arial"/>
              </a:rPr>
              <a:t>" </a:t>
            </a:r>
            <a:r>
              <a:rPr dirty="0" sz="1200">
                <a:latin typeface="Arial"/>
                <a:cs typeface="Arial"/>
              </a:rPr>
              <a:t>for </a:t>
            </a:r>
            <a:r>
              <a:rPr dirty="0" sz="1200" spc="-5">
                <a:latin typeface="Arial"/>
                <a:cs typeface="Arial"/>
              </a:rPr>
              <a:t>his synthesis, adaptation and promotion of </a:t>
            </a:r>
            <a:r>
              <a:rPr dirty="0" sz="1200" spc="-5">
                <a:latin typeface="Arial"/>
                <a:cs typeface="Arial"/>
                <a:hlinkClick r:id="rId11"/>
              </a:rPr>
              <a:t>Greek</a:t>
            </a:r>
            <a:r>
              <a:rPr dirty="0" sz="1200" spc="-5">
                <a:latin typeface="Arial"/>
                <a:cs typeface="Arial"/>
              </a:rPr>
              <a:t> </a:t>
            </a:r>
            <a:r>
              <a:rPr dirty="0" sz="1200" spc="-15">
                <a:latin typeface="Arial"/>
                <a:cs typeface="Arial"/>
              </a:rPr>
              <a:t>and  </a:t>
            </a:r>
            <a:r>
              <a:rPr dirty="0" sz="1200">
                <a:latin typeface="Arial"/>
                <a:cs typeface="Arial"/>
                <a:hlinkClick r:id="rId12"/>
              </a:rPr>
              <a:t>Hellenistic </a:t>
            </a:r>
            <a:r>
              <a:rPr dirty="0" sz="1200" spc="-5">
                <a:latin typeface="Arial"/>
                <a:cs typeface="Arial"/>
                <a:hlinkClick r:id="rId12"/>
              </a:rPr>
              <a:t>philosophy </a:t>
            </a:r>
            <a:r>
              <a:rPr dirty="0" sz="1200" spc="-5">
                <a:latin typeface="Arial"/>
                <a:cs typeface="Arial"/>
              </a:rPr>
              <a:t>in the </a:t>
            </a:r>
            <a:r>
              <a:rPr dirty="0" sz="1200" spc="-5">
                <a:latin typeface="Arial"/>
                <a:cs typeface="Arial"/>
                <a:hlinkClick r:id="rId13"/>
              </a:rPr>
              <a:t>Muslim</a:t>
            </a:r>
            <a:r>
              <a:rPr dirty="0" sz="1200" spc="25">
                <a:latin typeface="Arial"/>
                <a:cs typeface="Arial"/>
                <a:hlinkClick r:id="rId13"/>
              </a:rPr>
              <a:t> </a:t>
            </a:r>
            <a:r>
              <a:rPr dirty="0" sz="1200" spc="-5">
                <a:latin typeface="Arial"/>
                <a:cs typeface="Arial"/>
                <a:hlinkClick r:id="rId13"/>
              </a:rPr>
              <a:t>world</a:t>
            </a:r>
            <a:r>
              <a:rPr dirty="0" sz="1200" spc="-5">
                <a:latin typeface="Arial"/>
                <a:cs typeface="Arial"/>
              </a:rPr>
              <a:t>.</a:t>
            </a:r>
            <a:endParaRPr sz="1200">
              <a:latin typeface="Arial"/>
              <a:cs typeface="Aria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0719" y="432307"/>
            <a:ext cx="6405245" cy="9291320"/>
          </a:xfrm>
          <a:prstGeom prst="rect">
            <a:avLst/>
          </a:prstGeom>
        </p:spPr>
        <p:txBody>
          <a:bodyPr wrap="square" lIns="0" tIns="12700" rIns="0" bIns="0" rtlCol="0" vert="horz">
            <a:spAutoFit/>
          </a:bodyPr>
          <a:lstStyle/>
          <a:p>
            <a:pPr algn="just" marL="50800">
              <a:lnSpc>
                <a:spcPct val="100000"/>
              </a:lnSpc>
              <a:spcBef>
                <a:spcPts val="100"/>
              </a:spcBef>
              <a:tabLst>
                <a:tab pos="51022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50800" marR="60960">
              <a:lnSpc>
                <a:spcPct val="95900"/>
              </a:lnSpc>
            </a:pPr>
            <a:r>
              <a:rPr dirty="0" sz="1200" spc="-5">
                <a:latin typeface="Arial"/>
                <a:cs typeface="Arial"/>
              </a:rPr>
              <a:t>Al-Kindi </a:t>
            </a:r>
            <a:r>
              <a:rPr dirty="0" sz="1200" spc="-10">
                <a:latin typeface="Arial"/>
                <a:cs typeface="Arial"/>
              </a:rPr>
              <a:t>was </a:t>
            </a:r>
            <a:r>
              <a:rPr dirty="0" sz="1200" spc="-5">
                <a:latin typeface="Arial"/>
                <a:cs typeface="Arial"/>
              </a:rPr>
              <a:t>a descendant of the </a:t>
            </a:r>
            <a:r>
              <a:rPr dirty="0" sz="1200" spc="-5">
                <a:latin typeface="Arial"/>
                <a:cs typeface="Arial"/>
                <a:hlinkClick r:id="rId2"/>
              </a:rPr>
              <a:t>Kinda</a:t>
            </a:r>
            <a:r>
              <a:rPr dirty="0" sz="1200" spc="-5">
                <a:latin typeface="Arial"/>
                <a:cs typeface="Arial"/>
              </a:rPr>
              <a:t> </a:t>
            </a:r>
            <a:r>
              <a:rPr dirty="0" sz="1200">
                <a:latin typeface="Arial"/>
                <a:cs typeface="Arial"/>
              </a:rPr>
              <a:t>tribe. </a:t>
            </a:r>
            <a:r>
              <a:rPr dirty="0" sz="1200" spc="-5">
                <a:latin typeface="Arial"/>
                <a:cs typeface="Arial"/>
              </a:rPr>
              <a:t>He </a:t>
            </a:r>
            <a:r>
              <a:rPr dirty="0" sz="1200" spc="-10">
                <a:latin typeface="Arial"/>
                <a:cs typeface="Arial"/>
              </a:rPr>
              <a:t>was </a:t>
            </a:r>
            <a:r>
              <a:rPr dirty="0" sz="1200" spc="-5">
                <a:latin typeface="Arial"/>
                <a:cs typeface="Arial"/>
              </a:rPr>
              <a:t>born and educated in </a:t>
            </a:r>
            <a:r>
              <a:rPr dirty="0" sz="1200" spc="-5">
                <a:latin typeface="Arial"/>
                <a:cs typeface="Arial"/>
                <a:hlinkClick r:id="rId3"/>
              </a:rPr>
              <a:t>Kufa</a:t>
            </a:r>
            <a:r>
              <a:rPr dirty="0" sz="1200" spc="-5">
                <a:latin typeface="Arial"/>
                <a:cs typeface="Arial"/>
              </a:rPr>
              <a:t>, before  going </a:t>
            </a:r>
            <a:r>
              <a:rPr dirty="0" sz="1200">
                <a:latin typeface="Arial"/>
                <a:cs typeface="Arial"/>
              </a:rPr>
              <a:t>to </a:t>
            </a:r>
            <a:r>
              <a:rPr dirty="0" sz="1200" spc="-5">
                <a:latin typeface="Arial"/>
                <a:cs typeface="Arial"/>
              </a:rPr>
              <a:t>pursue further </a:t>
            </a:r>
            <a:r>
              <a:rPr dirty="0" sz="1200">
                <a:latin typeface="Arial"/>
                <a:cs typeface="Arial"/>
              </a:rPr>
              <a:t>studies </a:t>
            </a:r>
            <a:r>
              <a:rPr dirty="0" sz="1200" spc="-5">
                <a:latin typeface="Arial"/>
                <a:cs typeface="Arial"/>
              </a:rPr>
              <a:t>in </a:t>
            </a:r>
            <a:r>
              <a:rPr dirty="0" sz="1200" spc="-5">
                <a:latin typeface="Arial"/>
                <a:cs typeface="Arial"/>
                <a:hlinkClick r:id="rId4"/>
              </a:rPr>
              <a:t>Baghdad</a:t>
            </a:r>
            <a:r>
              <a:rPr dirty="0" sz="1200" spc="-5">
                <a:latin typeface="Arial"/>
                <a:cs typeface="Arial"/>
              </a:rPr>
              <a:t>. Al-Kindi became a prominent figure in the </a:t>
            </a:r>
            <a:r>
              <a:rPr dirty="0" sz="1200" spc="-5">
                <a:latin typeface="Arial"/>
                <a:cs typeface="Arial"/>
                <a:hlinkClick r:id="rId5"/>
              </a:rPr>
              <a:t>House </a:t>
            </a:r>
            <a:r>
              <a:rPr dirty="0" sz="1200" spc="-5">
                <a:latin typeface="Arial"/>
                <a:cs typeface="Arial"/>
              </a:rPr>
              <a:t> </a:t>
            </a:r>
            <a:r>
              <a:rPr dirty="0" sz="1200" spc="-5">
                <a:latin typeface="Arial"/>
                <a:cs typeface="Arial"/>
                <a:hlinkClick r:id="rId5"/>
              </a:rPr>
              <a:t>of </a:t>
            </a:r>
            <a:r>
              <a:rPr dirty="0" sz="1200">
                <a:latin typeface="Arial"/>
                <a:cs typeface="Arial"/>
                <a:hlinkClick r:id="rId5"/>
              </a:rPr>
              <a:t>Wisdom</a:t>
            </a:r>
            <a:r>
              <a:rPr dirty="0" sz="1200">
                <a:latin typeface="Arial"/>
                <a:cs typeface="Arial"/>
              </a:rPr>
              <a:t>, </a:t>
            </a:r>
            <a:r>
              <a:rPr dirty="0" sz="1200" spc="-5">
                <a:latin typeface="Arial"/>
                <a:cs typeface="Arial"/>
              </a:rPr>
              <a:t>and a </a:t>
            </a:r>
            <a:r>
              <a:rPr dirty="0" sz="1200">
                <a:latin typeface="Arial"/>
                <a:cs typeface="Arial"/>
              </a:rPr>
              <a:t>number </a:t>
            </a:r>
            <a:r>
              <a:rPr dirty="0" sz="1200" spc="-5">
                <a:latin typeface="Arial"/>
                <a:cs typeface="Arial"/>
              </a:rPr>
              <a:t>of </a:t>
            </a:r>
            <a:r>
              <a:rPr dirty="0" sz="1200" spc="-5">
                <a:latin typeface="Arial"/>
                <a:cs typeface="Arial"/>
                <a:hlinkClick r:id="rId6"/>
              </a:rPr>
              <a:t>Abbasid</a:t>
            </a:r>
            <a:r>
              <a:rPr dirty="0" sz="1200" spc="-5">
                <a:latin typeface="Arial"/>
                <a:cs typeface="Arial"/>
              </a:rPr>
              <a:t> Caliphs appointed him </a:t>
            </a:r>
            <a:r>
              <a:rPr dirty="0" sz="1200">
                <a:latin typeface="Arial"/>
                <a:cs typeface="Arial"/>
              </a:rPr>
              <a:t>to </a:t>
            </a:r>
            <a:r>
              <a:rPr dirty="0" sz="1200" spc="-5">
                <a:latin typeface="Arial"/>
                <a:cs typeface="Arial"/>
              </a:rPr>
              <a:t>oversee </a:t>
            </a:r>
            <a:r>
              <a:rPr dirty="0" sz="1200">
                <a:latin typeface="Arial"/>
                <a:cs typeface="Arial"/>
              </a:rPr>
              <a:t>the </a:t>
            </a:r>
            <a:r>
              <a:rPr dirty="0" sz="1200" spc="-5">
                <a:latin typeface="Arial"/>
                <a:cs typeface="Arial"/>
              </a:rPr>
              <a:t>translation of  </a:t>
            </a:r>
            <a:r>
              <a:rPr dirty="0" sz="1200">
                <a:latin typeface="Arial"/>
                <a:cs typeface="Arial"/>
                <a:hlinkClick r:id="rId7"/>
              </a:rPr>
              <a:t>Greek </a:t>
            </a:r>
            <a:r>
              <a:rPr dirty="0" sz="1200" spc="-5">
                <a:latin typeface="Arial"/>
                <a:cs typeface="Arial"/>
              </a:rPr>
              <a:t>scientific and philosophical texts into </a:t>
            </a:r>
            <a:r>
              <a:rPr dirty="0" sz="1200" spc="-10">
                <a:latin typeface="Arial"/>
                <a:cs typeface="Arial"/>
              </a:rPr>
              <a:t>the </a:t>
            </a:r>
            <a:r>
              <a:rPr dirty="0" sz="1200" spc="-5">
                <a:latin typeface="Arial"/>
                <a:cs typeface="Arial"/>
                <a:hlinkClick r:id="rId8"/>
              </a:rPr>
              <a:t>Arabic</a:t>
            </a:r>
            <a:r>
              <a:rPr dirty="0" sz="1200" spc="70">
                <a:latin typeface="Arial"/>
                <a:cs typeface="Arial"/>
                <a:hlinkClick r:id="rId8"/>
              </a:rPr>
              <a:t> </a:t>
            </a:r>
            <a:r>
              <a:rPr dirty="0" sz="1200" spc="-5">
                <a:latin typeface="Arial"/>
                <a:cs typeface="Arial"/>
                <a:hlinkClick r:id="rId8"/>
              </a:rPr>
              <a:t>language</a:t>
            </a:r>
            <a:r>
              <a:rPr dirty="0" sz="1200" spc="-5">
                <a:latin typeface="Arial"/>
                <a:cs typeface="Arial"/>
              </a:rPr>
              <a:t>.</a:t>
            </a:r>
            <a:endParaRPr sz="1200">
              <a:latin typeface="Arial"/>
              <a:cs typeface="Arial"/>
            </a:endParaRPr>
          </a:p>
          <a:p>
            <a:pPr algn="just" marL="50800">
              <a:lnSpc>
                <a:spcPct val="100000"/>
              </a:lnSpc>
              <a:spcBef>
                <a:spcPts val="430"/>
              </a:spcBef>
            </a:pPr>
            <a:r>
              <a:rPr dirty="0" u="heavy" sz="1200" spc="-5" b="1" i="1">
                <a:uFill>
                  <a:solidFill>
                    <a:srgbClr val="000000"/>
                  </a:solidFill>
                </a:uFill>
                <a:latin typeface="Arial"/>
                <a:cs typeface="Arial"/>
              </a:rPr>
              <a:t>Concepts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Al</a:t>
            </a:r>
            <a:r>
              <a:rPr dirty="0" u="heavy" sz="1200" b="1" i="1">
                <a:uFill>
                  <a:solidFill>
                    <a:srgbClr val="000000"/>
                  </a:solidFill>
                </a:uFill>
                <a:latin typeface="Arial"/>
                <a:cs typeface="Arial"/>
              </a:rPr>
              <a:t> Kindi</a:t>
            </a:r>
            <a:endParaRPr sz="1200">
              <a:latin typeface="Arial"/>
              <a:cs typeface="Arial"/>
            </a:endParaRPr>
          </a:p>
          <a:p>
            <a:pPr>
              <a:lnSpc>
                <a:spcPct val="100000"/>
              </a:lnSpc>
            </a:pPr>
            <a:endParaRPr sz="1150">
              <a:latin typeface="Arial"/>
              <a:cs typeface="Arial"/>
            </a:endParaRPr>
          </a:p>
          <a:p>
            <a:pPr marL="451484" indent="-172720">
              <a:lnSpc>
                <a:spcPts val="1410"/>
              </a:lnSpc>
              <a:buFont typeface="Wingdings"/>
              <a:buChar char=""/>
              <a:tabLst>
                <a:tab pos="452120" algn="l"/>
              </a:tabLst>
            </a:pPr>
            <a:r>
              <a:rPr dirty="0" sz="1200">
                <a:latin typeface="Arial"/>
                <a:cs typeface="Arial"/>
              </a:rPr>
              <a:t>On Greek </a:t>
            </a:r>
            <a:r>
              <a:rPr dirty="0" sz="1200" spc="-5">
                <a:latin typeface="Arial"/>
                <a:cs typeface="Arial"/>
              </a:rPr>
              <a:t>philosophy </a:t>
            </a:r>
            <a:r>
              <a:rPr dirty="0" sz="1200">
                <a:latin typeface="Arial"/>
                <a:cs typeface="Arial"/>
              </a:rPr>
              <a:t>as</a:t>
            </a:r>
            <a:r>
              <a:rPr dirty="0" sz="1200" spc="-25">
                <a:latin typeface="Arial"/>
                <a:cs typeface="Arial"/>
              </a:rPr>
              <a:t> </a:t>
            </a:r>
            <a:r>
              <a:rPr dirty="0" sz="1200" spc="-5">
                <a:latin typeface="Arial"/>
                <a:cs typeface="Arial"/>
              </a:rPr>
              <a:t>important</a:t>
            </a:r>
            <a:endParaRPr sz="1200">
              <a:latin typeface="Arial"/>
              <a:cs typeface="Arial"/>
            </a:endParaRPr>
          </a:p>
          <a:p>
            <a:pPr marL="451484" indent="-172720">
              <a:lnSpc>
                <a:spcPts val="1380"/>
              </a:lnSpc>
              <a:buFont typeface="Wingdings"/>
              <a:buChar char=""/>
              <a:tabLst>
                <a:tab pos="452120" algn="l"/>
              </a:tabLst>
            </a:pPr>
            <a:r>
              <a:rPr dirty="0" sz="1200">
                <a:latin typeface="Arial"/>
                <a:cs typeface="Arial"/>
              </a:rPr>
              <a:t>Greek </a:t>
            </a:r>
            <a:r>
              <a:rPr dirty="0" sz="1200" spc="-5">
                <a:latin typeface="Arial"/>
                <a:cs typeface="Arial"/>
              </a:rPr>
              <a:t>philosophy possesses some</a:t>
            </a:r>
            <a:r>
              <a:rPr dirty="0" sz="1200" spc="-15">
                <a:latin typeface="Arial"/>
                <a:cs typeface="Arial"/>
              </a:rPr>
              <a:t> </a:t>
            </a:r>
            <a:r>
              <a:rPr dirty="0" sz="1200" spc="-5">
                <a:latin typeface="Arial"/>
                <a:cs typeface="Arial"/>
              </a:rPr>
              <a:t>truths</a:t>
            </a:r>
            <a:endParaRPr sz="1200">
              <a:latin typeface="Arial"/>
              <a:cs typeface="Arial"/>
            </a:endParaRPr>
          </a:p>
          <a:p>
            <a:pPr marL="451484" indent="-172720">
              <a:lnSpc>
                <a:spcPts val="1380"/>
              </a:lnSpc>
              <a:buFont typeface="Wingdings"/>
              <a:buChar char=""/>
              <a:tabLst>
                <a:tab pos="452120" algn="l"/>
              </a:tabLst>
            </a:pPr>
            <a:r>
              <a:rPr dirty="0" sz="1200">
                <a:latin typeface="Arial"/>
                <a:cs typeface="Arial"/>
              </a:rPr>
              <a:t>Reason as </a:t>
            </a:r>
            <a:r>
              <a:rPr dirty="0" sz="1200" spc="-5">
                <a:latin typeface="Arial"/>
                <a:cs typeface="Arial"/>
              </a:rPr>
              <a:t>source of all </a:t>
            </a:r>
            <a:r>
              <a:rPr dirty="0" sz="1200">
                <a:latin typeface="Arial"/>
                <a:cs typeface="Arial"/>
              </a:rPr>
              <a:t>true</a:t>
            </a:r>
            <a:r>
              <a:rPr dirty="0" sz="1200" spc="5">
                <a:latin typeface="Arial"/>
                <a:cs typeface="Arial"/>
              </a:rPr>
              <a:t> </a:t>
            </a:r>
            <a:r>
              <a:rPr dirty="0" sz="1200" spc="-5">
                <a:latin typeface="Arial"/>
                <a:cs typeface="Arial"/>
              </a:rPr>
              <a:t>knowledge</a:t>
            </a:r>
            <a:endParaRPr sz="1200">
              <a:latin typeface="Arial"/>
              <a:cs typeface="Arial"/>
            </a:endParaRPr>
          </a:p>
          <a:p>
            <a:pPr marL="451484" indent="-172720">
              <a:lnSpc>
                <a:spcPts val="1380"/>
              </a:lnSpc>
              <a:buFont typeface="Wingdings"/>
              <a:buChar char=""/>
              <a:tabLst>
                <a:tab pos="452120" algn="l"/>
              </a:tabLst>
            </a:pPr>
            <a:r>
              <a:rPr dirty="0" sz="1200" spc="-5">
                <a:latin typeface="Arial"/>
                <a:cs typeface="Arial"/>
              </a:rPr>
              <a:t>Revelation (Wahy) guides Mankind towards</a:t>
            </a:r>
            <a:r>
              <a:rPr dirty="0" sz="1200" spc="25">
                <a:latin typeface="Arial"/>
                <a:cs typeface="Arial"/>
              </a:rPr>
              <a:t> </a:t>
            </a:r>
            <a:r>
              <a:rPr dirty="0" sz="1200" spc="-5">
                <a:latin typeface="Arial"/>
                <a:cs typeface="Arial"/>
              </a:rPr>
              <a:t>success</a:t>
            </a:r>
            <a:endParaRPr sz="1200">
              <a:latin typeface="Arial"/>
              <a:cs typeface="Arial"/>
            </a:endParaRPr>
          </a:p>
          <a:p>
            <a:pPr marL="451484" indent="-172720">
              <a:lnSpc>
                <a:spcPts val="1380"/>
              </a:lnSpc>
              <a:buFont typeface="Wingdings"/>
              <a:buChar char=""/>
              <a:tabLst>
                <a:tab pos="452120" algn="l"/>
              </a:tabLst>
            </a:pPr>
            <a:r>
              <a:rPr dirty="0" sz="1200" spc="-5">
                <a:latin typeface="Arial"/>
                <a:cs typeface="Arial"/>
              </a:rPr>
              <a:t>Soul into 4</a:t>
            </a:r>
            <a:r>
              <a:rPr dirty="0" sz="1200">
                <a:latin typeface="Arial"/>
                <a:cs typeface="Arial"/>
              </a:rPr>
              <a:t> </a:t>
            </a:r>
            <a:r>
              <a:rPr dirty="0" sz="1200" spc="-5">
                <a:latin typeface="Arial"/>
                <a:cs typeface="Arial"/>
              </a:rPr>
              <a:t>categories:</a:t>
            </a:r>
            <a:endParaRPr sz="1200">
              <a:latin typeface="Arial"/>
              <a:cs typeface="Arial"/>
            </a:endParaRPr>
          </a:p>
          <a:p>
            <a:pPr marL="451484" indent="-172720">
              <a:lnSpc>
                <a:spcPts val="1380"/>
              </a:lnSpc>
              <a:buFont typeface="Wingdings"/>
              <a:buChar char=""/>
              <a:tabLst>
                <a:tab pos="452120" algn="l"/>
              </a:tabLst>
            </a:pPr>
            <a:r>
              <a:rPr dirty="0" sz="1200">
                <a:latin typeface="Arial"/>
                <a:cs typeface="Arial"/>
              </a:rPr>
              <a:t>1. </a:t>
            </a:r>
            <a:r>
              <a:rPr dirty="0" sz="1200" spc="-5">
                <a:latin typeface="Arial"/>
                <a:cs typeface="Arial"/>
              </a:rPr>
              <a:t>Agent intellect: From</a:t>
            </a:r>
            <a:r>
              <a:rPr dirty="0" sz="1200">
                <a:latin typeface="Arial"/>
                <a:cs typeface="Arial"/>
              </a:rPr>
              <a:t> </a:t>
            </a:r>
            <a:r>
              <a:rPr dirty="0" sz="1200" spc="-5">
                <a:latin typeface="Arial"/>
                <a:cs typeface="Arial"/>
              </a:rPr>
              <a:t>Allah</a:t>
            </a:r>
            <a:endParaRPr sz="1200">
              <a:latin typeface="Arial"/>
              <a:cs typeface="Arial"/>
            </a:endParaRPr>
          </a:p>
          <a:p>
            <a:pPr marL="451484" indent="-172720">
              <a:lnSpc>
                <a:spcPts val="1380"/>
              </a:lnSpc>
              <a:buFont typeface="Wingdings"/>
              <a:buChar char=""/>
              <a:tabLst>
                <a:tab pos="452120" algn="l"/>
              </a:tabLst>
            </a:pPr>
            <a:r>
              <a:rPr dirty="0" sz="1200">
                <a:latin typeface="Arial"/>
                <a:cs typeface="Arial"/>
              </a:rPr>
              <a:t>2. </a:t>
            </a:r>
            <a:r>
              <a:rPr dirty="0" sz="1200" spc="-5">
                <a:latin typeface="Arial"/>
                <a:cs typeface="Arial"/>
              </a:rPr>
              <a:t>Rational Faculty: Distinguish Man from</a:t>
            </a:r>
            <a:r>
              <a:rPr dirty="0" sz="1200" spc="5">
                <a:latin typeface="Arial"/>
                <a:cs typeface="Arial"/>
              </a:rPr>
              <a:t> </a:t>
            </a:r>
            <a:r>
              <a:rPr dirty="0" sz="1200" spc="-5">
                <a:latin typeface="Arial"/>
                <a:cs typeface="Arial"/>
              </a:rPr>
              <a:t>Animal</a:t>
            </a:r>
            <a:endParaRPr sz="1200">
              <a:latin typeface="Arial"/>
              <a:cs typeface="Arial"/>
            </a:endParaRPr>
          </a:p>
          <a:p>
            <a:pPr marL="451484" indent="-172720">
              <a:lnSpc>
                <a:spcPts val="1380"/>
              </a:lnSpc>
              <a:buFont typeface="Wingdings"/>
              <a:buChar char=""/>
              <a:tabLst>
                <a:tab pos="452120" algn="l"/>
              </a:tabLst>
            </a:pPr>
            <a:r>
              <a:rPr dirty="0" sz="1200">
                <a:latin typeface="Arial"/>
                <a:cs typeface="Arial"/>
              </a:rPr>
              <a:t>3. </a:t>
            </a:r>
            <a:r>
              <a:rPr dirty="0" sz="1200" spc="-5">
                <a:latin typeface="Arial"/>
                <a:cs typeface="Arial"/>
              </a:rPr>
              <a:t>Acquired Intellect: Acquired through Rational</a:t>
            </a:r>
            <a:r>
              <a:rPr dirty="0" sz="1200" spc="10">
                <a:latin typeface="Arial"/>
                <a:cs typeface="Arial"/>
              </a:rPr>
              <a:t> </a:t>
            </a:r>
            <a:r>
              <a:rPr dirty="0" sz="1200">
                <a:latin typeface="Arial"/>
                <a:cs typeface="Arial"/>
              </a:rPr>
              <a:t>Faculty</a:t>
            </a:r>
            <a:endParaRPr sz="1200">
              <a:latin typeface="Arial"/>
              <a:cs typeface="Arial"/>
            </a:endParaRPr>
          </a:p>
          <a:p>
            <a:pPr marL="451484" indent="-172720">
              <a:lnSpc>
                <a:spcPts val="1410"/>
              </a:lnSpc>
              <a:buFont typeface="Wingdings"/>
              <a:buChar char=""/>
              <a:tabLst>
                <a:tab pos="452120" algn="l"/>
              </a:tabLst>
            </a:pPr>
            <a:r>
              <a:rPr dirty="0" sz="1200">
                <a:latin typeface="Arial"/>
                <a:cs typeface="Arial"/>
              </a:rPr>
              <a:t>4. </a:t>
            </a:r>
            <a:r>
              <a:rPr dirty="0" sz="1200" spc="-5">
                <a:latin typeface="Arial"/>
                <a:cs typeface="Arial"/>
              </a:rPr>
              <a:t>Intellect </a:t>
            </a:r>
            <a:r>
              <a:rPr dirty="0" sz="1200" spc="-10">
                <a:latin typeface="Arial"/>
                <a:cs typeface="Arial"/>
              </a:rPr>
              <a:t>in</a:t>
            </a:r>
            <a:r>
              <a:rPr dirty="0" sz="1200">
                <a:latin typeface="Arial"/>
                <a:cs typeface="Arial"/>
              </a:rPr>
              <a:t> </a:t>
            </a:r>
            <a:r>
              <a:rPr dirty="0" sz="1200" spc="-5">
                <a:latin typeface="Arial"/>
                <a:cs typeface="Arial"/>
              </a:rPr>
              <a:t>Action</a:t>
            </a:r>
            <a:endParaRPr sz="1200">
              <a:latin typeface="Arial"/>
              <a:cs typeface="Arial"/>
            </a:endParaRPr>
          </a:p>
          <a:p>
            <a:pPr>
              <a:lnSpc>
                <a:spcPct val="100000"/>
              </a:lnSpc>
              <a:spcBef>
                <a:spcPts val="55"/>
              </a:spcBef>
            </a:pPr>
            <a:endParaRPr sz="1100">
              <a:latin typeface="Arial"/>
              <a:cs typeface="Arial"/>
            </a:endParaRPr>
          </a:p>
          <a:p>
            <a:pPr marL="279400">
              <a:lnSpc>
                <a:spcPct val="100000"/>
              </a:lnSpc>
            </a:pPr>
            <a:r>
              <a:rPr dirty="0" sz="1200" spc="-5" b="1" i="1">
                <a:latin typeface="Arial"/>
                <a:cs typeface="Arial"/>
              </a:rPr>
              <a:t>2. </a:t>
            </a:r>
            <a:r>
              <a:rPr dirty="0" u="heavy" sz="1200" spc="-5" b="1" i="1">
                <a:uFill>
                  <a:solidFill>
                    <a:srgbClr val="000000"/>
                  </a:solidFill>
                </a:uFill>
                <a:latin typeface="Arial"/>
                <a:cs typeface="Arial"/>
              </a:rPr>
              <a:t>Al</a:t>
            </a:r>
            <a:r>
              <a:rPr dirty="0" u="heavy" sz="1200" spc="-195" b="1" i="1">
                <a:uFill>
                  <a:solidFill>
                    <a:srgbClr val="000000"/>
                  </a:solidFill>
                </a:uFill>
                <a:latin typeface="Arial"/>
                <a:cs typeface="Arial"/>
              </a:rPr>
              <a:t> </a:t>
            </a:r>
            <a:r>
              <a:rPr dirty="0" u="heavy" sz="1200" spc="-5" b="1" i="1">
                <a:uFill>
                  <a:solidFill>
                    <a:srgbClr val="000000"/>
                  </a:solidFill>
                </a:uFill>
                <a:latin typeface="Arial"/>
                <a:cs typeface="Arial"/>
              </a:rPr>
              <a:t>Farabi</a:t>
            </a:r>
            <a:endParaRPr sz="1200">
              <a:latin typeface="Arial"/>
              <a:cs typeface="Arial"/>
            </a:endParaRPr>
          </a:p>
          <a:p>
            <a:pPr>
              <a:lnSpc>
                <a:spcPct val="100000"/>
              </a:lnSpc>
              <a:spcBef>
                <a:spcPts val="10"/>
              </a:spcBef>
            </a:pPr>
            <a:endParaRPr sz="1200">
              <a:latin typeface="Arial"/>
              <a:cs typeface="Arial"/>
            </a:endParaRPr>
          </a:p>
          <a:p>
            <a:pPr algn="just" marL="50800" marR="60325">
              <a:lnSpc>
                <a:spcPct val="95800"/>
              </a:lnSpc>
            </a:pPr>
            <a:r>
              <a:rPr dirty="0" sz="1200">
                <a:latin typeface="Arial"/>
                <a:cs typeface="Arial"/>
              </a:rPr>
              <a:t>Abū </a:t>
            </a:r>
            <a:r>
              <a:rPr dirty="0" sz="1200" spc="-5">
                <a:latin typeface="Arial"/>
                <a:cs typeface="Arial"/>
              </a:rPr>
              <a:t>Naṣr Muḥammad al-Fārābī </a:t>
            </a:r>
            <a:r>
              <a:rPr dirty="0" sz="1200">
                <a:latin typeface="Arial"/>
                <a:cs typeface="Arial"/>
              </a:rPr>
              <a:t>(c. </a:t>
            </a:r>
            <a:r>
              <a:rPr dirty="0" sz="1200" spc="-5">
                <a:latin typeface="Arial"/>
                <a:cs typeface="Arial"/>
              </a:rPr>
              <a:t>872 </a:t>
            </a:r>
            <a:r>
              <a:rPr dirty="0" sz="1200">
                <a:latin typeface="Arial"/>
                <a:cs typeface="Arial"/>
              </a:rPr>
              <a:t>– </a:t>
            </a:r>
            <a:r>
              <a:rPr dirty="0" sz="1200" spc="-5">
                <a:latin typeface="Arial"/>
                <a:cs typeface="Arial"/>
              </a:rPr>
              <a:t>between 14 December, 950 and 12 January, 951),  </a:t>
            </a:r>
            <a:r>
              <a:rPr dirty="0" sz="1200" spc="-10">
                <a:latin typeface="Arial"/>
                <a:cs typeface="Arial"/>
              </a:rPr>
              <a:t>was </a:t>
            </a:r>
            <a:r>
              <a:rPr dirty="0" sz="1200" spc="-5">
                <a:latin typeface="Arial"/>
                <a:cs typeface="Arial"/>
              </a:rPr>
              <a:t>a </a:t>
            </a:r>
            <a:r>
              <a:rPr dirty="0" sz="1200" spc="-5">
                <a:latin typeface="Arial"/>
                <a:cs typeface="Arial"/>
                <a:hlinkClick r:id="rId9"/>
              </a:rPr>
              <a:t>Muslim</a:t>
            </a:r>
            <a:r>
              <a:rPr dirty="0" sz="1200" spc="-5">
                <a:latin typeface="Arial"/>
                <a:cs typeface="Arial"/>
              </a:rPr>
              <a:t> </a:t>
            </a:r>
            <a:r>
              <a:rPr dirty="0" sz="1200" spc="-5">
                <a:latin typeface="Arial"/>
                <a:cs typeface="Arial"/>
                <a:hlinkClick r:id="rId10"/>
              </a:rPr>
              <a:t>scientist</a:t>
            </a:r>
            <a:r>
              <a:rPr dirty="0" sz="1200" spc="-5">
                <a:latin typeface="Arial"/>
                <a:cs typeface="Arial"/>
              </a:rPr>
              <a:t> and </a:t>
            </a:r>
            <a:r>
              <a:rPr dirty="0" sz="1200" spc="-5">
                <a:latin typeface="Arial"/>
                <a:cs typeface="Arial"/>
                <a:hlinkClick r:id="rId11"/>
              </a:rPr>
              <a:t>philosopher</a:t>
            </a:r>
            <a:r>
              <a:rPr dirty="0" sz="1200" spc="-5">
                <a:latin typeface="Arial"/>
                <a:cs typeface="Arial"/>
              </a:rPr>
              <a:t> of the </a:t>
            </a:r>
            <a:r>
              <a:rPr dirty="0" sz="1200" spc="-5">
                <a:latin typeface="Arial"/>
                <a:cs typeface="Arial"/>
                <a:hlinkClick r:id="rId12"/>
              </a:rPr>
              <a:t>Islamic world</a:t>
            </a:r>
            <a:r>
              <a:rPr dirty="0" sz="1200" spc="-5">
                <a:latin typeface="Arial"/>
                <a:cs typeface="Arial"/>
              </a:rPr>
              <a:t>. He </a:t>
            </a:r>
            <a:r>
              <a:rPr dirty="0" sz="1200" spc="-10">
                <a:latin typeface="Arial"/>
                <a:cs typeface="Arial"/>
              </a:rPr>
              <a:t>was </a:t>
            </a:r>
            <a:r>
              <a:rPr dirty="0" sz="1200" spc="-5">
                <a:latin typeface="Arial"/>
                <a:cs typeface="Arial"/>
              </a:rPr>
              <a:t>also a </a:t>
            </a:r>
            <a:r>
              <a:rPr dirty="0" sz="1200" spc="-5">
                <a:latin typeface="Arial"/>
                <a:cs typeface="Arial"/>
                <a:hlinkClick r:id="rId13"/>
              </a:rPr>
              <a:t>cosmologist</a:t>
            </a:r>
            <a:r>
              <a:rPr dirty="0" sz="1200" spc="-5">
                <a:latin typeface="Arial"/>
                <a:cs typeface="Arial"/>
              </a:rPr>
              <a:t>,  </a:t>
            </a:r>
            <a:r>
              <a:rPr dirty="0" sz="1200" spc="-5">
                <a:latin typeface="Arial"/>
                <a:cs typeface="Arial"/>
                <a:hlinkClick r:id="rId14"/>
              </a:rPr>
              <a:t>logician</a:t>
            </a:r>
            <a:r>
              <a:rPr dirty="0" sz="1200" spc="-5">
                <a:latin typeface="Arial"/>
                <a:cs typeface="Arial"/>
              </a:rPr>
              <a:t>, </a:t>
            </a:r>
            <a:r>
              <a:rPr dirty="0" sz="1200" spc="-5">
                <a:latin typeface="Arial"/>
                <a:cs typeface="Arial"/>
                <a:hlinkClick r:id="rId15"/>
              </a:rPr>
              <a:t>musician </a:t>
            </a:r>
            <a:r>
              <a:rPr dirty="0" sz="1200" spc="-5">
                <a:latin typeface="Arial"/>
                <a:cs typeface="Arial"/>
              </a:rPr>
              <a:t>and </a:t>
            </a:r>
            <a:r>
              <a:rPr dirty="0" sz="1200" spc="-5">
                <a:latin typeface="Arial"/>
                <a:cs typeface="Arial"/>
                <a:hlinkClick r:id="rId16"/>
              </a:rPr>
              <a:t>psychologist </a:t>
            </a:r>
            <a:r>
              <a:rPr dirty="0" sz="1200" spc="-5">
                <a:latin typeface="Arial"/>
                <a:cs typeface="Arial"/>
              </a:rPr>
              <a:t>born in </a:t>
            </a:r>
            <a:r>
              <a:rPr dirty="0" sz="1200">
                <a:latin typeface="Arial"/>
                <a:cs typeface="Arial"/>
              </a:rPr>
              <a:t>Iran. As </a:t>
            </a:r>
            <a:r>
              <a:rPr dirty="0" sz="1200" spc="-5">
                <a:latin typeface="Arial"/>
                <a:cs typeface="Arial"/>
              </a:rPr>
              <a:t>a philosopher, </a:t>
            </a:r>
            <a:r>
              <a:rPr dirty="0" sz="1200">
                <a:latin typeface="Arial"/>
                <a:cs typeface="Arial"/>
              </a:rPr>
              <a:t>Al-Farabi </a:t>
            </a:r>
            <a:r>
              <a:rPr dirty="0" sz="1200" spc="-10">
                <a:latin typeface="Arial"/>
                <a:cs typeface="Arial"/>
              </a:rPr>
              <a:t>was </a:t>
            </a:r>
            <a:r>
              <a:rPr dirty="0" sz="1200" spc="-5">
                <a:latin typeface="Arial"/>
                <a:cs typeface="Arial"/>
              </a:rPr>
              <a:t>a founder  of his </a:t>
            </a:r>
            <a:r>
              <a:rPr dirty="0" sz="1200" spc="-10">
                <a:latin typeface="Arial"/>
                <a:cs typeface="Arial"/>
              </a:rPr>
              <a:t>own </a:t>
            </a:r>
            <a:r>
              <a:rPr dirty="0" sz="1200" spc="-5">
                <a:latin typeface="Arial"/>
                <a:cs typeface="Arial"/>
              </a:rPr>
              <a:t>school of </a:t>
            </a:r>
            <a:r>
              <a:rPr dirty="0" sz="1200" spc="-5">
                <a:latin typeface="Arial"/>
                <a:cs typeface="Arial"/>
                <a:hlinkClick r:id="rId11"/>
              </a:rPr>
              <a:t>early </a:t>
            </a:r>
            <a:r>
              <a:rPr dirty="0" sz="1200">
                <a:latin typeface="Arial"/>
                <a:cs typeface="Arial"/>
                <a:hlinkClick r:id="rId11"/>
              </a:rPr>
              <a:t>Islamic </a:t>
            </a:r>
            <a:r>
              <a:rPr dirty="0" sz="1200" spc="-5">
                <a:latin typeface="Arial"/>
                <a:cs typeface="Arial"/>
                <a:hlinkClick r:id="rId11"/>
              </a:rPr>
              <a:t>philosophy</a:t>
            </a:r>
            <a:r>
              <a:rPr dirty="0" sz="1200" spc="-5">
                <a:latin typeface="Arial"/>
                <a:cs typeface="Arial"/>
              </a:rPr>
              <a:t> known as "Farabism" or </a:t>
            </a:r>
            <a:r>
              <a:rPr dirty="0" sz="1200">
                <a:latin typeface="Arial"/>
                <a:cs typeface="Arial"/>
              </a:rPr>
              <a:t>"Alfarabism". </a:t>
            </a:r>
            <a:r>
              <a:rPr dirty="0" sz="1200" spc="-5">
                <a:latin typeface="Arial"/>
                <a:cs typeface="Arial"/>
              </a:rPr>
              <a:t>Al-  </a:t>
            </a:r>
            <a:r>
              <a:rPr dirty="0" sz="1200">
                <a:latin typeface="Arial"/>
                <a:cs typeface="Arial"/>
              </a:rPr>
              <a:t>Farabi's </a:t>
            </a:r>
            <a:r>
              <a:rPr dirty="0" sz="1200" spc="-5">
                <a:latin typeface="Arial"/>
                <a:cs typeface="Arial"/>
              </a:rPr>
              <a:t>school of philosophy "breaks with </a:t>
            </a:r>
            <a:r>
              <a:rPr dirty="0" sz="1200">
                <a:latin typeface="Arial"/>
                <a:cs typeface="Arial"/>
              </a:rPr>
              <a:t>the </a:t>
            </a:r>
            <a:r>
              <a:rPr dirty="0" sz="1200" spc="-5">
                <a:latin typeface="Arial"/>
                <a:cs typeface="Arial"/>
              </a:rPr>
              <a:t>philosophy of </a:t>
            </a:r>
            <a:r>
              <a:rPr dirty="0" sz="1200" spc="-5">
                <a:latin typeface="Arial"/>
                <a:cs typeface="Arial"/>
                <a:hlinkClick r:id="rId17"/>
              </a:rPr>
              <a:t>Plato </a:t>
            </a:r>
            <a:r>
              <a:rPr dirty="0" sz="1200" spc="-5">
                <a:latin typeface="Arial"/>
                <a:cs typeface="Arial"/>
              </a:rPr>
              <a:t>and </a:t>
            </a:r>
            <a:r>
              <a:rPr dirty="0" sz="1200" spc="-5">
                <a:latin typeface="Arial"/>
                <a:cs typeface="Arial"/>
                <a:hlinkClick r:id="rId18"/>
              </a:rPr>
              <a:t>Aristotle </a:t>
            </a:r>
            <a:r>
              <a:rPr dirty="0" sz="1200" spc="-5">
                <a:latin typeface="Arial"/>
                <a:cs typeface="Arial"/>
              </a:rPr>
              <a:t>and </a:t>
            </a:r>
            <a:r>
              <a:rPr dirty="0" sz="1200" spc="-10">
                <a:latin typeface="Arial"/>
                <a:cs typeface="Arial"/>
              </a:rPr>
              <a:t>moves  </a:t>
            </a:r>
            <a:r>
              <a:rPr dirty="0" sz="1200" spc="-5">
                <a:latin typeface="Arial"/>
                <a:cs typeface="Arial"/>
              </a:rPr>
              <a:t>from </a:t>
            </a:r>
            <a:r>
              <a:rPr dirty="0" sz="1200" spc="-5">
                <a:latin typeface="Arial"/>
                <a:cs typeface="Arial"/>
                <a:hlinkClick r:id="rId19"/>
              </a:rPr>
              <a:t>metaphysics </a:t>
            </a:r>
            <a:r>
              <a:rPr dirty="0" sz="1200">
                <a:latin typeface="Arial"/>
                <a:cs typeface="Arial"/>
              </a:rPr>
              <a:t>to </a:t>
            </a:r>
            <a:r>
              <a:rPr dirty="0" sz="1200" spc="-5">
                <a:latin typeface="Arial"/>
                <a:cs typeface="Arial"/>
                <a:hlinkClick r:id="rId20"/>
              </a:rPr>
              <a:t>methodology</a:t>
            </a:r>
            <a:r>
              <a:rPr dirty="0" sz="1200" spc="-5">
                <a:latin typeface="Arial"/>
                <a:cs typeface="Arial"/>
              </a:rPr>
              <a:t>, a move </a:t>
            </a:r>
            <a:r>
              <a:rPr dirty="0" sz="1200">
                <a:latin typeface="Arial"/>
                <a:cs typeface="Arial"/>
              </a:rPr>
              <a:t>that </a:t>
            </a:r>
            <a:r>
              <a:rPr dirty="0" sz="1200" spc="-5">
                <a:latin typeface="Arial"/>
                <a:cs typeface="Arial"/>
              </a:rPr>
              <a:t>anticipates </a:t>
            </a:r>
            <a:r>
              <a:rPr dirty="0" sz="1200" spc="-5">
                <a:latin typeface="Arial"/>
                <a:cs typeface="Arial"/>
                <a:hlinkClick r:id="rId21"/>
              </a:rPr>
              <a:t>modernity</a:t>
            </a:r>
            <a:r>
              <a:rPr dirty="0" sz="1200" spc="-5">
                <a:latin typeface="Arial"/>
                <a:cs typeface="Arial"/>
              </a:rPr>
              <a:t>", and "at the level of  philosophy, Alfarabi unites theory and practice and in </a:t>
            </a:r>
            <a:r>
              <a:rPr dirty="0" sz="1200">
                <a:latin typeface="Arial"/>
                <a:cs typeface="Arial"/>
              </a:rPr>
              <a:t>the </a:t>
            </a:r>
            <a:r>
              <a:rPr dirty="0" sz="1200" spc="-5">
                <a:latin typeface="Arial"/>
                <a:cs typeface="Arial"/>
              </a:rPr>
              <a:t>sphere of the </a:t>
            </a:r>
            <a:r>
              <a:rPr dirty="0" sz="1200" spc="-5">
                <a:latin typeface="Arial"/>
                <a:cs typeface="Arial"/>
                <a:hlinkClick r:id="rId22"/>
              </a:rPr>
              <a:t>political </a:t>
            </a:r>
            <a:r>
              <a:rPr dirty="0" sz="1200" spc="-5">
                <a:latin typeface="Arial"/>
                <a:cs typeface="Arial"/>
              </a:rPr>
              <a:t>he liberates  practice from theory". </a:t>
            </a:r>
            <a:r>
              <a:rPr dirty="0" sz="1200">
                <a:latin typeface="Arial"/>
                <a:cs typeface="Arial"/>
              </a:rPr>
              <a:t>In </a:t>
            </a:r>
            <a:r>
              <a:rPr dirty="0" sz="1200" spc="-5">
                <a:latin typeface="Arial"/>
                <a:cs typeface="Arial"/>
              </a:rPr>
              <a:t>his attempt </a:t>
            </a:r>
            <a:r>
              <a:rPr dirty="0" sz="1200">
                <a:latin typeface="Arial"/>
                <a:cs typeface="Arial"/>
              </a:rPr>
              <a:t>to think </a:t>
            </a:r>
            <a:r>
              <a:rPr dirty="0" sz="1200" spc="-5">
                <a:latin typeface="Arial"/>
                <a:cs typeface="Arial"/>
              </a:rPr>
              <a:t>through the nature of a </a:t>
            </a:r>
            <a:r>
              <a:rPr dirty="0" sz="1200" spc="-5">
                <a:latin typeface="Arial"/>
                <a:cs typeface="Arial"/>
                <a:hlinkClick r:id="rId23"/>
              </a:rPr>
              <a:t>First Cause</a:t>
            </a:r>
            <a:r>
              <a:rPr dirty="0" sz="1200" spc="-5">
                <a:latin typeface="Arial"/>
                <a:cs typeface="Arial"/>
              </a:rPr>
              <a:t>, Alfarabi  discovers </a:t>
            </a:r>
            <a:r>
              <a:rPr dirty="0" sz="1200">
                <a:latin typeface="Arial"/>
                <a:cs typeface="Arial"/>
              </a:rPr>
              <a:t>the </a:t>
            </a:r>
            <a:r>
              <a:rPr dirty="0" sz="1200" spc="-5">
                <a:latin typeface="Arial"/>
                <a:cs typeface="Arial"/>
              </a:rPr>
              <a:t>limits of human </a:t>
            </a:r>
            <a:r>
              <a:rPr dirty="0" sz="1200" spc="-5">
                <a:latin typeface="Arial"/>
                <a:cs typeface="Arial"/>
                <a:hlinkClick r:id="rId24"/>
              </a:rPr>
              <a:t>knowledge</a:t>
            </a:r>
            <a:r>
              <a:rPr dirty="0" sz="1200" spc="-5">
                <a:latin typeface="Arial"/>
                <a:cs typeface="Arial"/>
              </a:rPr>
              <a:t>". Al-Farabi had great influence on science and  philosophy </a:t>
            </a:r>
            <a:r>
              <a:rPr dirty="0" sz="1200">
                <a:latin typeface="Arial"/>
                <a:cs typeface="Arial"/>
              </a:rPr>
              <a:t>for </a:t>
            </a:r>
            <a:r>
              <a:rPr dirty="0" sz="1200" spc="-5">
                <a:latin typeface="Arial"/>
                <a:cs typeface="Arial"/>
              </a:rPr>
              <a:t>several centuries, and </a:t>
            </a:r>
            <a:r>
              <a:rPr dirty="0" sz="1200" spc="-10">
                <a:latin typeface="Arial"/>
                <a:cs typeface="Arial"/>
              </a:rPr>
              <a:t>was </a:t>
            </a:r>
            <a:r>
              <a:rPr dirty="0" sz="1200" spc="-5">
                <a:latin typeface="Arial"/>
                <a:cs typeface="Arial"/>
              </a:rPr>
              <a:t>widely regarded to </a:t>
            </a:r>
            <a:r>
              <a:rPr dirty="0" sz="1200" spc="-10">
                <a:latin typeface="Arial"/>
                <a:cs typeface="Arial"/>
              </a:rPr>
              <a:t>be </a:t>
            </a:r>
            <a:r>
              <a:rPr dirty="0" sz="1200" spc="-5">
                <a:latin typeface="Arial"/>
                <a:cs typeface="Arial"/>
              </a:rPr>
              <a:t>second only </a:t>
            </a:r>
            <a:r>
              <a:rPr dirty="0" sz="1200">
                <a:latin typeface="Arial"/>
                <a:cs typeface="Arial"/>
              </a:rPr>
              <a:t>to </a:t>
            </a:r>
            <a:r>
              <a:rPr dirty="0" sz="1200" spc="-5">
                <a:latin typeface="Arial"/>
                <a:cs typeface="Arial"/>
              </a:rPr>
              <a:t>Aristotle in  knowledge (alluded to by his </a:t>
            </a:r>
            <a:r>
              <a:rPr dirty="0" sz="1200">
                <a:latin typeface="Arial"/>
                <a:cs typeface="Arial"/>
              </a:rPr>
              <a:t>title </a:t>
            </a:r>
            <a:r>
              <a:rPr dirty="0" sz="1200" spc="-5">
                <a:latin typeface="Arial"/>
                <a:cs typeface="Arial"/>
              </a:rPr>
              <a:t>of "the </a:t>
            </a:r>
            <a:r>
              <a:rPr dirty="0" sz="1200">
                <a:latin typeface="Arial"/>
                <a:cs typeface="Arial"/>
              </a:rPr>
              <a:t>Second </a:t>
            </a:r>
            <a:r>
              <a:rPr dirty="0" sz="1200" spc="-5">
                <a:latin typeface="Arial"/>
                <a:cs typeface="Arial"/>
              </a:rPr>
              <a:t>Teacher") in his </a:t>
            </a:r>
            <a:r>
              <a:rPr dirty="0" sz="1200">
                <a:latin typeface="Arial"/>
                <a:cs typeface="Arial"/>
              </a:rPr>
              <a:t>time. </a:t>
            </a:r>
            <a:r>
              <a:rPr dirty="0" sz="1200" spc="-5">
                <a:latin typeface="Arial"/>
                <a:cs typeface="Arial"/>
              </a:rPr>
              <a:t>His work, aimed </a:t>
            </a:r>
            <a:r>
              <a:rPr dirty="0" sz="1200">
                <a:latin typeface="Arial"/>
                <a:cs typeface="Arial"/>
              </a:rPr>
              <a:t>at  </a:t>
            </a:r>
            <a:r>
              <a:rPr dirty="0" sz="1200" spc="-5">
                <a:latin typeface="Arial"/>
                <a:cs typeface="Arial"/>
              </a:rPr>
              <a:t>synthesis of philosophy </a:t>
            </a:r>
            <a:r>
              <a:rPr dirty="0" sz="1200">
                <a:latin typeface="Arial"/>
                <a:cs typeface="Arial"/>
              </a:rPr>
              <a:t>and </a:t>
            </a:r>
            <a:r>
              <a:rPr dirty="0" sz="1200" spc="-5">
                <a:latin typeface="Arial"/>
                <a:cs typeface="Arial"/>
                <a:hlinkClick r:id="rId25"/>
              </a:rPr>
              <a:t>Sufism</a:t>
            </a:r>
            <a:r>
              <a:rPr dirty="0" sz="1200" spc="-5">
                <a:latin typeface="Arial"/>
                <a:cs typeface="Arial"/>
              </a:rPr>
              <a:t>, paved </a:t>
            </a:r>
            <a:r>
              <a:rPr dirty="0" sz="1200" spc="-10">
                <a:latin typeface="Arial"/>
                <a:cs typeface="Arial"/>
              </a:rPr>
              <a:t>the way </a:t>
            </a:r>
            <a:r>
              <a:rPr dirty="0" sz="1200" spc="5">
                <a:latin typeface="Arial"/>
                <a:cs typeface="Arial"/>
              </a:rPr>
              <a:t>for </a:t>
            </a:r>
            <a:r>
              <a:rPr dirty="0" sz="1200" spc="-5">
                <a:latin typeface="Arial"/>
                <a:cs typeface="Arial"/>
              </a:rPr>
              <a:t>the work </a:t>
            </a:r>
            <a:r>
              <a:rPr dirty="0" sz="1200">
                <a:latin typeface="Arial"/>
                <a:cs typeface="Arial"/>
              </a:rPr>
              <a:t>of </a:t>
            </a:r>
            <a:r>
              <a:rPr dirty="0" sz="1200" spc="-5">
                <a:latin typeface="Arial"/>
                <a:cs typeface="Arial"/>
                <a:hlinkClick r:id="rId26"/>
              </a:rPr>
              <a:t>Ibn Sina</a:t>
            </a:r>
            <a:r>
              <a:rPr dirty="0" sz="1200" spc="110">
                <a:latin typeface="Arial"/>
                <a:cs typeface="Arial"/>
                <a:hlinkClick r:id="rId26"/>
              </a:rPr>
              <a:t> </a:t>
            </a:r>
            <a:r>
              <a:rPr dirty="0" sz="1200" spc="-5">
                <a:latin typeface="Arial"/>
                <a:cs typeface="Arial"/>
              </a:rPr>
              <a:t>(Avicenna).</a:t>
            </a:r>
            <a:endParaRPr sz="1200">
              <a:latin typeface="Arial"/>
              <a:cs typeface="Arial"/>
            </a:endParaRPr>
          </a:p>
          <a:p>
            <a:pPr>
              <a:lnSpc>
                <a:spcPct val="100000"/>
              </a:lnSpc>
            </a:pPr>
            <a:endParaRPr sz="1150">
              <a:latin typeface="Arial"/>
              <a:cs typeface="Arial"/>
            </a:endParaRPr>
          </a:p>
          <a:p>
            <a:pPr algn="just" marL="50800">
              <a:lnSpc>
                <a:spcPct val="100000"/>
              </a:lnSpc>
            </a:pPr>
            <a:r>
              <a:rPr dirty="0" u="heavy" sz="1200" spc="-5" b="1" i="1">
                <a:uFill>
                  <a:solidFill>
                    <a:srgbClr val="000000"/>
                  </a:solidFill>
                </a:uFill>
                <a:latin typeface="Arial"/>
                <a:cs typeface="Arial"/>
              </a:rPr>
              <a:t>Concepts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Al</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Farabi</a:t>
            </a:r>
            <a:endParaRPr sz="1200">
              <a:latin typeface="Arial"/>
              <a:cs typeface="Arial"/>
            </a:endParaRPr>
          </a:p>
          <a:p>
            <a:pPr>
              <a:lnSpc>
                <a:spcPct val="100000"/>
              </a:lnSpc>
              <a:spcBef>
                <a:spcPts val="35"/>
              </a:spcBef>
            </a:pPr>
            <a:endParaRPr sz="1200">
              <a:latin typeface="Arial"/>
              <a:cs typeface="Arial"/>
            </a:endParaRPr>
          </a:p>
          <a:p>
            <a:pPr marL="508000" marR="68580" indent="-228600">
              <a:lnSpc>
                <a:spcPts val="1380"/>
              </a:lnSpc>
              <a:buFont typeface="Wingdings"/>
              <a:buChar char=""/>
              <a:tabLst>
                <a:tab pos="452120" algn="l"/>
              </a:tabLst>
            </a:pPr>
            <a:r>
              <a:rPr dirty="0" sz="1200">
                <a:latin typeface="Arial"/>
                <a:cs typeface="Arial"/>
              </a:rPr>
              <a:t>Try to </a:t>
            </a:r>
            <a:r>
              <a:rPr dirty="0" sz="1200" spc="-5">
                <a:latin typeface="Arial"/>
                <a:cs typeface="Arial"/>
              </a:rPr>
              <a:t>reconcile philosophy of Plato and Aristotle </a:t>
            </a:r>
            <a:r>
              <a:rPr dirty="0" sz="1200" spc="-10">
                <a:latin typeface="Arial"/>
                <a:cs typeface="Arial"/>
              </a:rPr>
              <a:t>with </a:t>
            </a:r>
            <a:r>
              <a:rPr dirty="0" sz="1200">
                <a:latin typeface="Arial"/>
                <a:cs typeface="Arial"/>
              </a:rPr>
              <a:t>the </a:t>
            </a:r>
            <a:r>
              <a:rPr dirty="0" sz="1200" spc="-5">
                <a:latin typeface="Arial"/>
                <a:cs typeface="Arial"/>
              </a:rPr>
              <a:t>Qur‘an </a:t>
            </a:r>
            <a:r>
              <a:rPr dirty="0" sz="1200">
                <a:latin typeface="Arial"/>
                <a:cs typeface="Arial"/>
              </a:rPr>
              <a:t>(both </a:t>
            </a:r>
            <a:r>
              <a:rPr dirty="0" sz="1200" spc="-5">
                <a:latin typeface="Arial"/>
                <a:cs typeface="Arial"/>
              </a:rPr>
              <a:t>sources of  knowledge) </a:t>
            </a:r>
            <a:r>
              <a:rPr dirty="0" sz="1200">
                <a:latin typeface="Arial"/>
                <a:cs typeface="Arial"/>
              </a:rPr>
              <a:t>– </a:t>
            </a:r>
            <a:r>
              <a:rPr dirty="0" sz="1200" spc="-5">
                <a:latin typeface="Arial"/>
                <a:cs typeface="Arial"/>
              </a:rPr>
              <a:t>2</a:t>
            </a:r>
            <a:r>
              <a:rPr dirty="0" baseline="38194" sz="1200" spc="-7">
                <a:latin typeface="Arial"/>
                <a:cs typeface="Arial"/>
              </a:rPr>
              <a:t>nd</a:t>
            </a:r>
            <a:r>
              <a:rPr dirty="0" baseline="38194" sz="1200" spc="172">
                <a:latin typeface="Arial"/>
                <a:cs typeface="Arial"/>
              </a:rPr>
              <a:t> </a:t>
            </a:r>
            <a:r>
              <a:rPr dirty="0" sz="1200" spc="-5">
                <a:latin typeface="Arial"/>
                <a:cs typeface="Arial"/>
              </a:rPr>
              <a:t>teacher</a:t>
            </a:r>
            <a:endParaRPr sz="1200">
              <a:latin typeface="Arial"/>
              <a:cs typeface="Arial"/>
            </a:endParaRPr>
          </a:p>
          <a:p>
            <a:pPr marL="451484" indent="-172720">
              <a:lnSpc>
                <a:spcPts val="1315"/>
              </a:lnSpc>
              <a:buFont typeface="Wingdings"/>
              <a:buChar char=""/>
              <a:tabLst>
                <a:tab pos="452120" algn="l"/>
              </a:tabLst>
            </a:pPr>
            <a:r>
              <a:rPr dirty="0" sz="1200">
                <a:latin typeface="Arial"/>
                <a:cs typeface="Arial"/>
              </a:rPr>
              <a:t>Dealt </a:t>
            </a:r>
            <a:r>
              <a:rPr dirty="0" sz="1200" spc="-5">
                <a:latin typeface="Arial"/>
                <a:cs typeface="Arial"/>
              </a:rPr>
              <a:t>with prophecy, angels, resurrection, </a:t>
            </a:r>
            <a:r>
              <a:rPr dirty="0" sz="1200" spc="-10">
                <a:latin typeface="Arial"/>
                <a:cs typeface="Arial"/>
              </a:rPr>
              <a:t>pen,</a:t>
            </a:r>
            <a:r>
              <a:rPr dirty="0" sz="1200" spc="20">
                <a:latin typeface="Arial"/>
                <a:cs typeface="Arial"/>
              </a:rPr>
              <a:t> </a:t>
            </a:r>
            <a:r>
              <a:rPr dirty="0" sz="1200" spc="-5">
                <a:latin typeface="Arial"/>
                <a:cs typeface="Arial"/>
              </a:rPr>
              <a:t>tablet</a:t>
            </a:r>
            <a:endParaRPr sz="1200">
              <a:latin typeface="Arial"/>
              <a:cs typeface="Arial"/>
            </a:endParaRPr>
          </a:p>
          <a:p>
            <a:pPr marL="451484" indent="-172720">
              <a:lnSpc>
                <a:spcPts val="1380"/>
              </a:lnSpc>
              <a:buFont typeface="Wingdings"/>
              <a:buChar char=""/>
              <a:tabLst>
                <a:tab pos="452120" algn="l"/>
              </a:tabLst>
            </a:pPr>
            <a:r>
              <a:rPr dirty="0" sz="1200" spc="-5">
                <a:latin typeface="Arial"/>
                <a:cs typeface="Arial"/>
              </a:rPr>
              <a:t>World from God</a:t>
            </a:r>
            <a:endParaRPr sz="1200">
              <a:latin typeface="Arial"/>
              <a:cs typeface="Arial"/>
            </a:endParaRPr>
          </a:p>
          <a:p>
            <a:pPr marL="451484" indent="-172720">
              <a:lnSpc>
                <a:spcPts val="1380"/>
              </a:lnSpc>
              <a:buFont typeface="Wingdings"/>
              <a:buChar char=""/>
              <a:tabLst>
                <a:tab pos="452120" algn="l"/>
              </a:tabLst>
            </a:pPr>
            <a:r>
              <a:rPr dirty="0" sz="1200">
                <a:latin typeface="Arial"/>
                <a:cs typeface="Arial"/>
              </a:rPr>
              <a:t>Denied eternity </a:t>
            </a:r>
            <a:r>
              <a:rPr dirty="0" sz="1200" spc="-5">
                <a:latin typeface="Arial"/>
                <a:cs typeface="Arial"/>
              </a:rPr>
              <a:t>of</a:t>
            </a:r>
            <a:r>
              <a:rPr dirty="0" sz="1200" spc="-25">
                <a:latin typeface="Arial"/>
                <a:cs typeface="Arial"/>
              </a:rPr>
              <a:t> </a:t>
            </a:r>
            <a:r>
              <a:rPr dirty="0" sz="1200" spc="-5">
                <a:latin typeface="Arial"/>
                <a:cs typeface="Arial"/>
              </a:rPr>
              <a:t>matter</a:t>
            </a:r>
            <a:endParaRPr sz="1200">
              <a:latin typeface="Arial"/>
              <a:cs typeface="Arial"/>
            </a:endParaRPr>
          </a:p>
          <a:p>
            <a:pPr marL="451484" indent="-172720">
              <a:lnSpc>
                <a:spcPts val="1410"/>
              </a:lnSpc>
              <a:buFont typeface="Wingdings"/>
              <a:buChar char=""/>
              <a:tabLst>
                <a:tab pos="452120" algn="l"/>
              </a:tabLst>
            </a:pPr>
            <a:r>
              <a:rPr dirty="0" sz="1200" spc="-5">
                <a:latin typeface="Arial"/>
                <a:cs typeface="Arial"/>
              </a:rPr>
              <a:t>Ikhwan </a:t>
            </a:r>
            <a:r>
              <a:rPr dirty="0" sz="1200">
                <a:latin typeface="Arial"/>
                <a:cs typeface="Arial"/>
              </a:rPr>
              <a:t>As </a:t>
            </a:r>
            <a:r>
              <a:rPr dirty="0" sz="1200" spc="-5">
                <a:latin typeface="Arial"/>
                <a:cs typeface="Arial"/>
              </a:rPr>
              <a:t>Safa</a:t>
            </a:r>
            <a:r>
              <a:rPr dirty="0" sz="1200" spc="10">
                <a:latin typeface="Arial"/>
                <a:cs typeface="Arial"/>
              </a:rPr>
              <a:t> </a:t>
            </a:r>
            <a:r>
              <a:rPr dirty="0" sz="1200" spc="-5">
                <a:latin typeface="Arial"/>
                <a:cs typeface="Arial"/>
              </a:rPr>
              <a:t>(Risalah)</a:t>
            </a:r>
            <a:endParaRPr sz="1200">
              <a:latin typeface="Arial"/>
              <a:cs typeface="Arial"/>
            </a:endParaRPr>
          </a:p>
          <a:p>
            <a:pPr>
              <a:lnSpc>
                <a:spcPct val="100000"/>
              </a:lnSpc>
              <a:spcBef>
                <a:spcPts val="55"/>
              </a:spcBef>
            </a:pPr>
            <a:endParaRPr sz="1100">
              <a:latin typeface="Arial"/>
              <a:cs typeface="Arial"/>
            </a:endParaRPr>
          </a:p>
          <a:p>
            <a:pPr marL="279400">
              <a:lnSpc>
                <a:spcPct val="100000"/>
              </a:lnSpc>
            </a:pPr>
            <a:r>
              <a:rPr dirty="0" sz="1200" spc="-5" b="1" i="1">
                <a:latin typeface="Arial"/>
                <a:cs typeface="Arial"/>
              </a:rPr>
              <a:t>3. </a:t>
            </a:r>
            <a:r>
              <a:rPr dirty="0" u="heavy" sz="1200" b="1" i="1">
                <a:uFill>
                  <a:solidFill>
                    <a:srgbClr val="000000"/>
                  </a:solidFill>
                </a:uFill>
                <a:latin typeface="Arial"/>
                <a:cs typeface="Arial"/>
              </a:rPr>
              <a:t>Ibn</a:t>
            </a:r>
            <a:r>
              <a:rPr dirty="0" u="heavy" sz="1200" spc="-200" b="1" i="1">
                <a:uFill>
                  <a:solidFill>
                    <a:srgbClr val="000000"/>
                  </a:solidFill>
                </a:uFill>
                <a:latin typeface="Arial"/>
                <a:cs typeface="Arial"/>
              </a:rPr>
              <a:t> </a:t>
            </a:r>
            <a:r>
              <a:rPr dirty="0" u="heavy" sz="1200" b="1" i="1">
                <a:uFill>
                  <a:solidFill>
                    <a:srgbClr val="000000"/>
                  </a:solidFill>
                </a:uFill>
                <a:latin typeface="Arial"/>
                <a:cs typeface="Arial"/>
              </a:rPr>
              <a:t>Sina</a:t>
            </a:r>
            <a:endParaRPr sz="1200">
              <a:latin typeface="Arial"/>
              <a:cs typeface="Arial"/>
            </a:endParaRPr>
          </a:p>
          <a:p>
            <a:pPr>
              <a:lnSpc>
                <a:spcPct val="100000"/>
              </a:lnSpc>
              <a:spcBef>
                <a:spcPts val="45"/>
              </a:spcBef>
            </a:pPr>
            <a:endParaRPr sz="1600">
              <a:latin typeface="Arial"/>
              <a:cs typeface="Arial"/>
            </a:endParaRPr>
          </a:p>
          <a:p>
            <a:pPr algn="just" marL="50800" marR="60325">
              <a:lnSpc>
                <a:spcPct val="95800"/>
              </a:lnSpc>
            </a:pPr>
            <a:r>
              <a:rPr dirty="0" sz="1200">
                <a:latin typeface="Arial"/>
                <a:cs typeface="Arial"/>
              </a:rPr>
              <a:t>Abū ʿAlī </a:t>
            </a:r>
            <a:r>
              <a:rPr dirty="0" sz="1200" spc="-5">
                <a:latin typeface="Arial"/>
                <a:cs typeface="Arial"/>
              </a:rPr>
              <a:t>al-Ḥusayn ibn </a:t>
            </a:r>
            <a:r>
              <a:rPr dirty="0" sz="1200">
                <a:latin typeface="Arial"/>
                <a:cs typeface="Arial"/>
              </a:rPr>
              <a:t>ʿAbd </a:t>
            </a:r>
            <a:r>
              <a:rPr dirty="0" sz="1200" spc="-5">
                <a:latin typeface="Arial"/>
                <a:cs typeface="Arial"/>
              </a:rPr>
              <a:t>Allāh ibn Sīna </a:t>
            </a:r>
            <a:r>
              <a:rPr dirty="0" sz="1200">
                <a:latin typeface="Arial"/>
                <a:cs typeface="Arial"/>
              </a:rPr>
              <a:t>(c. </a:t>
            </a:r>
            <a:r>
              <a:rPr dirty="0" sz="1200" spc="-5">
                <a:latin typeface="Arial"/>
                <a:cs typeface="Arial"/>
              </a:rPr>
              <a:t>980, Afshana near </a:t>
            </a:r>
            <a:r>
              <a:rPr dirty="0" sz="1200" spc="-5">
                <a:latin typeface="Arial"/>
                <a:cs typeface="Arial"/>
                <a:hlinkClick r:id="rId27"/>
              </a:rPr>
              <a:t>Bukhara</a:t>
            </a:r>
            <a:r>
              <a:rPr dirty="0" sz="1200" spc="-5">
                <a:latin typeface="Arial"/>
                <a:cs typeface="Arial"/>
              </a:rPr>
              <a:t>– 1037, </a:t>
            </a:r>
            <a:r>
              <a:rPr dirty="0" sz="1200" spc="-5">
                <a:latin typeface="Arial"/>
                <a:cs typeface="Arial"/>
                <a:hlinkClick r:id="rId28"/>
              </a:rPr>
              <a:t>Hamadan</a:t>
            </a:r>
            <a:r>
              <a:rPr dirty="0" sz="1200" spc="-5">
                <a:latin typeface="Arial"/>
                <a:cs typeface="Arial"/>
              </a:rPr>
              <a:t>,  </a:t>
            </a:r>
            <a:r>
              <a:rPr dirty="0" sz="1200">
                <a:latin typeface="Arial"/>
                <a:cs typeface="Arial"/>
                <a:hlinkClick r:id="rId29"/>
              </a:rPr>
              <a:t>Iran</a:t>
            </a:r>
            <a:r>
              <a:rPr dirty="0" sz="1200">
                <a:latin typeface="Arial"/>
                <a:cs typeface="Arial"/>
              </a:rPr>
              <a:t>), </a:t>
            </a:r>
            <a:r>
              <a:rPr dirty="0" sz="1200" spc="-5">
                <a:latin typeface="Arial"/>
                <a:cs typeface="Arial"/>
              </a:rPr>
              <a:t>commonly known as </a:t>
            </a:r>
            <a:r>
              <a:rPr dirty="0" sz="1200">
                <a:latin typeface="Arial"/>
                <a:cs typeface="Arial"/>
              </a:rPr>
              <a:t>Ibn </a:t>
            </a:r>
            <a:r>
              <a:rPr dirty="0" sz="1200" spc="-5">
                <a:latin typeface="Arial"/>
                <a:cs typeface="Arial"/>
              </a:rPr>
              <a:t>Sīnā </a:t>
            </a:r>
            <a:r>
              <a:rPr dirty="0" sz="1200" spc="-10">
                <a:latin typeface="Arial"/>
                <a:cs typeface="Arial"/>
              </a:rPr>
              <a:t>was </a:t>
            </a:r>
            <a:r>
              <a:rPr dirty="0" sz="1200" spc="-5">
                <a:latin typeface="Arial"/>
                <a:cs typeface="Arial"/>
              </a:rPr>
              <a:t>a </a:t>
            </a:r>
            <a:r>
              <a:rPr dirty="0" sz="1200">
                <a:latin typeface="Arial"/>
                <a:cs typeface="Arial"/>
                <a:hlinkClick r:id="rId30"/>
              </a:rPr>
              <a:t>Persian</a:t>
            </a:r>
            <a:r>
              <a:rPr dirty="0" baseline="38194" sz="1200">
                <a:latin typeface="Arial"/>
                <a:cs typeface="Arial"/>
                <a:hlinkClick r:id="rId30"/>
              </a:rPr>
              <a:t>.</a:t>
            </a:r>
            <a:r>
              <a:rPr dirty="0" baseline="38194" sz="1200">
                <a:latin typeface="Arial"/>
                <a:cs typeface="Arial"/>
              </a:rPr>
              <a:t> </a:t>
            </a:r>
            <a:r>
              <a:rPr dirty="0" sz="1200" spc="-5">
                <a:latin typeface="Arial"/>
                <a:cs typeface="Arial"/>
              </a:rPr>
              <a:t>Ibn Sīnā studied medicine under </a:t>
            </a:r>
            <a:r>
              <a:rPr dirty="0" sz="1200">
                <a:latin typeface="Arial"/>
                <a:cs typeface="Arial"/>
              </a:rPr>
              <a:t>a  </a:t>
            </a:r>
            <a:r>
              <a:rPr dirty="0" sz="1200" spc="-5">
                <a:latin typeface="Arial"/>
                <a:cs typeface="Arial"/>
              </a:rPr>
              <a:t>physician named </a:t>
            </a:r>
            <a:r>
              <a:rPr dirty="0" sz="1200" spc="-5">
                <a:latin typeface="Arial"/>
                <a:cs typeface="Arial"/>
                <a:hlinkClick r:id="rId31"/>
              </a:rPr>
              <a:t>Koushyar</a:t>
            </a:r>
            <a:r>
              <a:rPr dirty="0" sz="1200" spc="-5">
                <a:latin typeface="Arial"/>
                <a:cs typeface="Arial"/>
              </a:rPr>
              <a:t>. He wrote almost 450 treatises on a wide range </a:t>
            </a:r>
            <a:r>
              <a:rPr dirty="0" sz="1200">
                <a:latin typeface="Arial"/>
                <a:cs typeface="Arial"/>
              </a:rPr>
              <a:t>of </a:t>
            </a:r>
            <a:r>
              <a:rPr dirty="0" sz="1200" spc="-5">
                <a:latin typeface="Arial"/>
                <a:cs typeface="Arial"/>
              </a:rPr>
              <a:t>subjects, of  which around 240 have survived. </a:t>
            </a:r>
            <a:r>
              <a:rPr dirty="0" sz="1200">
                <a:latin typeface="Arial"/>
                <a:cs typeface="Arial"/>
              </a:rPr>
              <a:t>In </a:t>
            </a:r>
            <a:r>
              <a:rPr dirty="0" sz="1200" spc="-5">
                <a:latin typeface="Arial"/>
                <a:cs typeface="Arial"/>
              </a:rPr>
              <a:t>particular, 150 of his surviving </a:t>
            </a:r>
            <a:r>
              <a:rPr dirty="0" sz="1200">
                <a:latin typeface="Arial"/>
                <a:cs typeface="Arial"/>
              </a:rPr>
              <a:t>treatises </a:t>
            </a:r>
            <a:r>
              <a:rPr dirty="0" sz="1200" spc="-5">
                <a:latin typeface="Arial"/>
                <a:cs typeface="Arial"/>
              </a:rPr>
              <a:t>concentrate </a:t>
            </a:r>
            <a:r>
              <a:rPr dirty="0" sz="1200" spc="-10">
                <a:latin typeface="Arial"/>
                <a:cs typeface="Arial"/>
              </a:rPr>
              <a:t>on  </a:t>
            </a:r>
            <a:r>
              <a:rPr dirty="0" sz="1200" spc="-5">
                <a:latin typeface="Arial"/>
                <a:cs typeface="Arial"/>
              </a:rPr>
              <a:t>philosophy </a:t>
            </a:r>
            <a:r>
              <a:rPr dirty="0" sz="1200">
                <a:latin typeface="Arial"/>
                <a:cs typeface="Arial"/>
              </a:rPr>
              <a:t>and </a:t>
            </a:r>
            <a:r>
              <a:rPr dirty="0" sz="1200" spc="-5">
                <a:latin typeface="Arial"/>
                <a:cs typeface="Arial"/>
              </a:rPr>
              <a:t>40 of them concentrate </a:t>
            </a:r>
            <a:r>
              <a:rPr dirty="0" sz="1200">
                <a:latin typeface="Arial"/>
                <a:cs typeface="Arial"/>
              </a:rPr>
              <a:t>on </a:t>
            </a:r>
            <a:r>
              <a:rPr dirty="0" sz="1200" spc="-5">
                <a:latin typeface="Arial"/>
                <a:cs typeface="Arial"/>
              </a:rPr>
              <a:t>medicine. His </a:t>
            </a:r>
            <a:r>
              <a:rPr dirty="0" sz="1200">
                <a:latin typeface="Arial"/>
                <a:cs typeface="Arial"/>
              </a:rPr>
              <a:t>most </a:t>
            </a:r>
            <a:r>
              <a:rPr dirty="0" sz="1200" spc="-5">
                <a:latin typeface="Arial"/>
                <a:cs typeface="Arial"/>
              </a:rPr>
              <a:t>famous works are </a:t>
            </a:r>
            <a:r>
              <a:rPr dirty="0" sz="1200" spc="-5" i="1">
                <a:latin typeface="Arial"/>
                <a:cs typeface="Arial"/>
                <a:hlinkClick r:id="rId32"/>
              </a:rPr>
              <a:t>The Book </a:t>
            </a:r>
            <a:r>
              <a:rPr dirty="0" sz="1200" i="1">
                <a:latin typeface="Arial"/>
                <a:cs typeface="Arial"/>
                <a:hlinkClick r:id="rId32"/>
              </a:rPr>
              <a:t>of </a:t>
            </a:r>
            <a:r>
              <a:rPr dirty="0" sz="1200" i="1">
                <a:latin typeface="Arial"/>
                <a:cs typeface="Arial"/>
              </a:rPr>
              <a:t> </a:t>
            </a:r>
            <a:r>
              <a:rPr dirty="0" sz="1200" i="1">
                <a:latin typeface="Arial"/>
                <a:cs typeface="Arial"/>
                <a:hlinkClick r:id="rId32"/>
              </a:rPr>
              <a:t>Healing</a:t>
            </a:r>
            <a:r>
              <a:rPr dirty="0" sz="1200">
                <a:latin typeface="Arial"/>
                <a:cs typeface="Arial"/>
              </a:rPr>
              <a:t>, </a:t>
            </a:r>
            <a:r>
              <a:rPr dirty="0" sz="1200" spc="-5">
                <a:latin typeface="Arial"/>
                <a:cs typeface="Arial"/>
              </a:rPr>
              <a:t>a vast philosophical and scientific </a:t>
            </a:r>
            <a:r>
              <a:rPr dirty="0" sz="1200" spc="-5">
                <a:latin typeface="Arial"/>
                <a:cs typeface="Arial"/>
                <a:hlinkClick r:id="rId33"/>
              </a:rPr>
              <a:t>encyclopedia</a:t>
            </a:r>
            <a:r>
              <a:rPr dirty="0" sz="1200" spc="-5">
                <a:latin typeface="Arial"/>
                <a:cs typeface="Arial"/>
              </a:rPr>
              <a:t>, and </a:t>
            </a:r>
            <a:r>
              <a:rPr dirty="0" sz="1200" spc="-5" i="1">
                <a:latin typeface="Arial"/>
                <a:cs typeface="Arial"/>
                <a:hlinkClick r:id="rId34"/>
              </a:rPr>
              <a:t>The Canon of </a:t>
            </a:r>
            <a:r>
              <a:rPr dirty="0" sz="1200" i="1">
                <a:latin typeface="Arial"/>
                <a:cs typeface="Arial"/>
                <a:hlinkClick r:id="rId34"/>
              </a:rPr>
              <a:t>Medicine</a:t>
            </a:r>
            <a:r>
              <a:rPr dirty="0" sz="1200">
                <a:latin typeface="Arial"/>
                <a:cs typeface="Arial"/>
              </a:rPr>
              <a:t>, </a:t>
            </a:r>
            <a:r>
              <a:rPr dirty="0" sz="1200" spc="-5">
                <a:latin typeface="Arial"/>
                <a:cs typeface="Arial"/>
              </a:rPr>
              <a:t>which  </a:t>
            </a:r>
            <a:r>
              <a:rPr dirty="0" sz="1200" spc="-10">
                <a:latin typeface="Arial"/>
                <a:cs typeface="Arial"/>
              </a:rPr>
              <a:t>was </a:t>
            </a:r>
            <a:r>
              <a:rPr dirty="0" sz="1200" spc="-5">
                <a:latin typeface="Arial"/>
                <a:cs typeface="Arial"/>
              </a:rPr>
              <a:t>a standard medical text </a:t>
            </a:r>
            <a:r>
              <a:rPr dirty="0" sz="1200">
                <a:latin typeface="Arial"/>
                <a:cs typeface="Arial"/>
              </a:rPr>
              <a:t>at many </a:t>
            </a:r>
            <a:r>
              <a:rPr dirty="0" sz="1200" spc="-5">
                <a:latin typeface="Arial"/>
                <a:cs typeface="Arial"/>
              </a:rPr>
              <a:t>medieval universities. He </a:t>
            </a:r>
            <a:r>
              <a:rPr dirty="0" sz="1200" spc="-10">
                <a:latin typeface="Arial"/>
                <a:cs typeface="Arial"/>
              </a:rPr>
              <a:t>was </a:t>
            </a:r>
            <a:r>
              <a:rPr dirty="0" sz="1200" spc="-5">
                <a:latin typeface="Arial"/>
                <a:cs typeface="Arial"/>
              </a:rPr>
              <a:t>also an </a:t>
            </a:r>
            <a:r>
              <a:rPr dirty="0" sz="1200" spc="-5">
                <a:latin typeface="Arial"/>
                <a:cs typeface="Arial"/>
                <a:hlinkClick r:id="rId35"/>
              </a:rPr>
              <a:t>astronomer</a:t>
            </a:r>
            <a:r>
              <a:rPr dirty="0" sz="1200" spc="-5">
                <a:latin typeface="Arial"/>
                <a:cs typeface="Arial"/>
              </a:rPr>
              <a:t>,  </a:t>
            </a:r>
            <a:r>
              <a:rPr dirty="0" sz="1200" spc="-5">
                <a:latin typeface="Arial"/>
                <a:cs typeface="Arial"/>
                <a:hlinkClick r:id="rId36"/>
              </a:rPr>
              <a:t>chemist</a:t>
            </a:r>
            <a:r>
              <a:rPr dirty="0" sz="1200" spc="-5">
                <a:latin typeface="Arial"/>
                <a:cs typeface="Arial"/>
              </a:rPr>
              <a:t>,</a:t>
            </a:r>
            <a:r>
              <a:rPr dirty="0" sz="1200" spc="150">
                <a:latin typeface="Arial"/>
                <a:cs typeface="Arial"/>
              </a:rPr>
              <a:t> </a:t>
            </a:r>
            <a:r>
              <a:rPr dirty="0" sz="1200" spc="-5">
                <a:latin typeface="Arial"/>
                <a:cs typeface="Arial"/>
                <a:hlinkClick r:id="rId37"/>
              </a:rPr>
              <a:t>geologist</a:t>
            </a:r>
            <a:r>
              <a:rPr dirty="0" sz="1200" spc="-5">
                <a:latin typeface="Arial"/>
                <a:cs typeface="Arial"/>
              </a:rPr>
              <a:t>,</a:t>
            </a:r>
            <a:r>
              <a:rPr dirty="0" sz="1200" spc="155">
                <a:latin typeface="Arial"/>
                <a:cs typeface="Arial"/>
              </a:rPr>
              <a:t> </a:t>
            </a:r>
            <a:r>
              <a:rPr dirty="0" sz="1200" spc="-5">
                <a:latin typeface="Arial"/>
                <a:cs typeface="Arial"/>
                <a:hlinkClick r:id="rId38"/>
              </a:rPr>
              <a:t>Hafiz</a:t>
            </a:r>
            <a:r>
              <a:rPr dirty="0" sz="1200" spc="-5">
                <a:latin typeface="Arial"/>
                <a:cs typeface="Arial"/>
              </a:rPr>
              <a:t>,</a:t>
            </a:r>
            <a:r>
              <a:rPr dirty="0" sz="1200" spc="165">
                <a:latin typeface="Arial"/>
                <a:cs typeface="Arial"/>
              </a:rPr>
              <a:t> </a:t>
            </a:r>
            <a:r>
              <a:rPr dirty="0" sz="1200">
                <a:latin typeface="Arial"/>
                <a:cs typeface="Arial"/>
                <a:hlinkClick r:id="rId39"/>
              </a:rPr>
              <a:t>Islamic</a:t>
            </a:r>
            <a:r>
              <a:rPr dirty="0" sz="1200" spc="135">
                <a:latin typeface="Arial"/>
                <a:cs typeface="Arial"/>
                <a:hlinkClick r:id="rId39"/>
              </a:rPr>
              <a:t> </a:t>
            </a:r>
            <a:r>
              <a:rPr dirty="0" sz="1200" spc="-5">
                <a:latin typeface="Arial"/>
                <a:cs typeface="Arial"/>
                <a:hlinkClick r:id="rId39"/>
              </a:rPr>
              <a:t>psychologist</a:t>
            </a:r>
            <a:r>
              <a:rPr dirty="0" sz="1200" spc="-5">
                <a:latin typeface="Arial"/>
                <a:cs typeface="Arial"/>
              </a:rPr>
              <a:t>,</a:t>
            </a:r>
            <a:r>
              <a:rPr dirty="0" sz="1200" spc="155">
                <a:latin typeface="Arial"/>
                <a:cs typeface="Arial"/>
              </a:rPr>
              <a:t> </a:t>
            </a:r>
            <a:r>
              <a:rPr dirty="0" sz="1200" spc="-5">
                <a:latin typeface="Arial"/>
                <a:cs typeface="Arial"/>
                <a:hlinkClick r:id="rId40"/>
              </a:rPr>
              <a:t>Islamic</a:t>
            </a:r>
            <a:r>
              <a:rPr dirty="0" sz="1200" spc="150">
                <a:latin typeface="Arial"/>
                <a:cs typeface="Arial"/>
                <a:hlinkClick r:id="rId40"/>
              </a:rPr>
              <a:t> </a:t>
            </a:r>
            <a:r>
              <a:rPr dirty="0" sz="1200" spc="-5">
                <a:latin typeface="Arial"/>
                <a:cs typeface="Arial"/>
                <a:hlinkClick r:id="rId40"/>
              </a:rPr>
              <a:t>scholar</a:t>
            </a:r>
            <a:r>
              <a:rPr dirty="0" sz="1200" spc="-5">
                <a:latin typeface="Arial"/>
                <a:cs typeface="Arial"/>
              </a:rPr>
              <a:t>,</a:t>
            </a:r>
            <a:r>
              <a:rPr dirty="0" sz="1200" spc="155">
                <a:latin typeface="Arial"/>
                <a:cs typeface="Arial"/>
              </a:rPr>
              <a:t> </a:t>
            </a:r>
            <a:r>
              <a:rPr dirty="0" sz="1200" spc="-5">
                <a:latin typeface="Arial"/>
                <a:cs typeface="Arial"/>
                <a:hlinkClick r:id="rId41"/>
              </a:rPr>
              <a:t>Islamic</a:t>
            </a:r>
            <a:r>
              <a:rPr dirty="0" sz="1200" spc="150">
                <a:latin typeface="Arial"/>
                <a:cs typeface="Arial"/>
                <a:hlinkClick r:id="rId41"/>
              </a:rPr>
              <a:t> </a:t>
            </a:r>
            <a:r>
              <a:rPr dirty="0" sz="1200" spc="-5">
                <a:latin typeface="Arial"/>
                <a:cs typeface="Arial"/>
                <a:hlinkClick r:id="rId41"/>
              </a:rPr>
              <a:t>theologian</a:t>
            </a:r>
            <a:r>
              <a:rPr dirty="0" sz="1200" spc="-5">
                <a:latin typeface="Arial"/>
                <a:cs typeface="Arial"/>
              </a:rPr>
              <a:t>,</a:t>
            </a:r>
            <a:r>
              <a:rPr dirty="0" sz="1200" spc="155">
                <a:latin typeface="Arial"/>
                <a:cs typeface="Arial"/>
              </a:rPr>
              <a:t> </a:t>
            </a:r>
            <a:r>
              <a:rPr dirty="0" sz="1200" spc="-5">
                <a:latin typeface="Arial"/>
                <a:cs typeface="Arial"/>
                <a:hlinkClick r:id="rId14"/>
              </a:rPr>
              <a:t>logician</a:t>
            </a:r>
            <a:r>
              <a:rPr dirty="0" sz="1200" spc="-5">
                <a:latin typeface="Arial"/>
                <a:cs typeface="Arial"/>
              </a:rPr>
              <a:t>,</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153</a:t>
            </a:r>
            <a:endParaRPr sz="1200">
              <a:latin typeface="Times New Roman"/>
              <a:cs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900" cy="913130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marL="12700" marR="6985">
              <a:lnSpc>
                <a:spcPts val="1380"/>
              </a:lnSpc>
            </a:pPr>
            <a:r>
              <a:rPr dirty="0" sz="1200" spc="-5">
                <a:latin typeface="Arial"/>
                <a:cs typeface="Arial"/>
                <a:hlinkClick r:id="rId2"/>
              </a:rPr>
              <a:t>mathematician</a:t>
            </a:r>
            <a:r>
              <a:rPr dirty="0" sz="1200" spc="-5">
                <a:latin typeface="Arial"/>
                <a:cs typeface="Arial"/>
              </a:rPr>
              <a:t>, </a:t>
            </a:r>
            <a:r>
              <a:rPr dirty="0" sz="1200" spc="-5">
                <a:latin typeface="Arial"/>
                <a:cs typeface="Arial"/>
                <a:hlinkClick r:id="rId3"/>
              </a:rPr>
              <a:t>Maktab</a:t>
            </a:r>
            <a:r>
              <a:rPr dirty="0" sz="1200" spc="-5">
                <a:latin typeface="Arial"/>
                <a:cs typeface="Arial"/>
              </a:rPr>
              <a:t> teacher, </a:t>
            </a:r>
            <a:r>
              <a:rPr dirty="0" sz="1200" spc="-5">
                <a:latin typeface="Arial"/>
                <a:cs typeface="Arial"/>
                <a:hlinkClick r:id="rId4"/>
              </a:rPr>
              <a:t>physicist</a:t>
            </a:r>
            <a:r>
              <a:rPr dirty="0" sz="1200" spc="-5">
                <a:latin typeface="Arial"/>
                <a:cs typeface="Arial"/>
              </a:rPr>
              <a:t>, </a:t>
            </a:r>
            <a:r>
              <a:rPr dirty="0" sz="1200">
                <a:latin typeface="Arial"/>
                <a:cs typeface="Arial"/>
                <a:hlinkClick r:id="rId5"/>
              </a:rPr>
              <a:t>poet</a:t>
            </a:r>
            <a:r>
              <a:rPr dirty="0" sz="1200">
                <a:latin typeface="Arial"/>
                <a:cs typeface="Arial"/>
              </a:rPr>
              <a:t>, </a:t>
            </a:r>
            <a:r>
              <a:rPr dirty="0" sz="1200" spc="-5">
                <a:latin typeface="Arial"/>
                <a:cs typeface="Arial"/>
              </a:rPr>
              <a:t>and </a:t>
            </a:r>
            <a:r>
              <a:rPr dirty="0" sz="1200" spc="-5">
                <a:latin typeface="Arial"/>
                <a:cs typeface="Arial"/>
                <a:hlinkClick r:id="rId6"/>
              </a:rPr>
              <a:t>scientist</a:t>
            </a:r>
            <a:r>
              <a:rPr dirty="0" sz="1200" spc="-5">
                <a:latin typeface="Arial"/>
                <a:cs typeface="Arial"/>
              </a:rPr>
              <a:t>. He is regarded as the most  famous and influential polymath of the </a:t>
            </a:r>
            <a:r>
              <a:rPr dirty="0" sz="1200">
                <a:latin typeface="Arial"/>
                <a:cs typeface="Arial"/>
                <a:hlinkClick r:id="rId7"/>
              </a:rPr>
              <a:t>Islamic </a:t>
            </a:r>
            <a:r>
              <a:rPr dirty="0" sz="1200" spc="-5">
                <a:latin typeface="Arial"/>
                <a:cs typeface="Arial"/>
                <a:hlinkClick r:id="rId7"/>
              </a:rPr>
              <a:t>Golden</a:t>
            </a:r>
            <a:r>
              <a:rPr dirty="0" sz="1200" spc="5">
                <a:latin typeface="Arial"/>
                <a:cs typeface="Arial"/>
                <a:hlinkClick r:id="rId7"/>
              </a:rPr>
              <a:t> </a:t>
            </a:r>
            <a:r>
              <a:rPr dirty="0" sz="1200">
                <a:latin typeface="Arial"/>
                <a:cs typeface="Arial"/>
                <a:hlinkClick r:id="rId7"/>
              </a:rPr>
              <a:t>Age</a:t>
            </a:r>
            <a:r>
              <a:rPr dirty="0" sz="1200">
                <a:latin typeface="Arial"/>
                <a:cs typeface="Arial"/>
              </a:rPr>
              <a:t>.</a:t>
            </a:r>
            <a:endParaRPr sz="1200">
              <a:latin typeface="Arial"/>
              <a:cs typeface="Arial"/>
            </a:endParaRPr>
          </a:p>
          <a:p>
            <a:pPr>
              <a:lnSpc>
                <a:spcPct val="100000"/>
              </a:lnSpc>
              <a:spcBef>
                <a:spcPts val="55"/>
              </a:spcBef>
            </a:pPr>
            <a:endParaRPr sz="1500">
              <a:latin typeface="Arial"/>
              <a:cs typeface="Arial"/>
            </a:endParaRPr>
          </a:p>
          <a:p>
            <a:pPr marL="12700">
              <a:lnSpc>
                <a:spcPct val="100000"/>
              </a:lnSpc>
            </a:pPr>
            <a:r>
              <a:rPr dirty="0" u="heavy" sz="1200" spc="-5" b="1" i="1">
                <a:uFill>
                  <a:solidFill>
                    <a:srgbClr val="000000"/>
                  </a:solidFill>
                </a:uFill>
                <a:latin typeface="Arial"/>
                <a:cs typeface="Arial"/>
              </a:rPr>
              <a:t>Concepts </a:t>
            </a:r>
            <a:r>
              <a:rPr dirty="0" u="heavy" sz="1200" b="1" i="1">
                <a:uFill>
                  <a:solidFill>
                    <a:srgbClr val="000000"/>
                  </a:solidFill>
                </a:uFill>
                <a:latin typeface="Arial"/>
                <a:cs typeface="Arial"/>
              </a:rPr>
              <a:t>of Ibn Sina</a:t>
            </a:r>
            <a:endParaRPr sz="1200">
              <a:latin typeface="Arial"/>
              <a:cs typeface="Arial"/>
            </a:endParaRPr>
          </a:p>
          <a:p>
            <a:pPr>
              <a:lnSpc>
                <a:spcPct val="100000"/>
              </a:lnSpc>
              <a:spcBef>
                <a:spcPts val="55"/>
              </a:spcBef>
            </a:pPr>
            <a:endParaRPr sz="1100">
              <a:latin typeface="Arial"/>
              <a:cs typeface="Arial"/>
            </a:endParaRPr>
          </a:p>
          <a:p>
            <a:pPr marL="413384" indent="-172720">
              <a:lnSpc>
                <a:spcPts val="1410"/>
              </a:lnSpc>
              <a:buFont typeface="Wingdings"/>
              <a:buChar char=""/>
              <a:tabLst>
                <a:tab pos="414020" algn="l"/>
              </a:tabLst>
            </a:pPr>
            <a:r>
              <a:rPr dirty="0" sz="1200" spc="-5">
                <a:latin typeface="Arial"/>
                <a:cs typeface="Arial"/>
              </a:rPr>
              <a:t>Separation between theology </a:t>
            </a:r>
            <a:r>
              <a:rPr dirty="0" sz="1200">
                <a:latin typeface="Arial"/>
                <a:cs typeface="Arial"/>
              </a:rPr>
              <a:t>and</a:t>
            </a:r>
            <a:r>
              <a:rPr dirty="0" sz="1200" spc="-20">
                <a:latin typeface="Arial"/>
                <a:cs typeface="Arial"/>
              </a:rPr>
              <a:t> </a:t>
            </a:r>
            <a:r>
              <a:rPr dirty="0" sz="1200" spc="-5">
                <a:latin typeface="Arial"/>
                <a:cs typeface="Arial"/>
              </a:rPr>
              <a:t>philosophy</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Philosophy </a:t>
            </a:r>
            <a:r>
              <a:rPr dirty="0" sz="1200">
                <a:latin typeface="Arial"/>
                <a:cs typeface="Arial"/>
              </a:rPr>
              <a:t>and </a:t>
            </a:r>
            <a:r>
              <a:rPr dirty="0" sz="1200" spc="-5">
                <a:latin typeface="Arial"/>
                <a:cs typeface="Arial"/>
              </a:rPr>
              <a:t>Religion</a:t>
            </a:r>
            <a:r>
              <a:rPr dirty="0" sz="1200" spc="-15">
                <a:latin typeface="Arial"/>
                <a:cs typeface="Arial"/>
              </a:rPr>
              <a:t> </a:t>
            </a:r>
            <a:r>
              <a:rPr dirty="0" sz="1200" spc="-5">
                <a:latin typeface="Arial"/>
                <a:cs typeface="Arial"/>
              </a:rPr>
              <a:t>Separately</a:t>
            </a:r>
            <a:endParaRPr sz="1200">
              <a:latin typeface="Arial"/>
              <a:cs typeface="Arial"/>
            </a:endParaRPr>
          </a:p>
          <a:p>
            <a:pPr marL="413384" indent="-172720">
              <a:lnSpc>
                <a:spcPts val="1410"/>
              </a:lnSpc>
              <a:buFont typeface="Wingdings"/>
              <a:buChar char=""/>
              <a:tabLst>
                <a:tab pos="414020" algn="l"/>
              </a:tabLst>
            </a:pPr>
            <a:r>
              <a:rPr dirty="0" sz="1200" spc="-5">
                <a:latin typeface="Arial"/>
                <a:cs typeface="Arial"/>
              </a:rPr>
              <a:t>Proved religious problems (good and evil) through</a:t>
            </a:r>
            <a:r>
              <a:rPr dirty="0" sz="1200" spc="20">
                <a:latin typeface="Arial"/>
                <a:cs typeface="Arial"/>
              </a:rPr>
              <a:t> </a:t>
            </a:r>
            <a:r>
              <a:rPr dirty="0" sz="1200" spc="-5">
                <a:latin typeface="Arial"/>
                <a:cs typeface="Arial"/>
              </a:rPr>
              <a:t>philosophy</a:t>
            </a:r>
            <a:endParaRPr sz="1200">
              <a:latin typeface="Arial"/>
              <a:cs typeface="Arial"/>
            </a:endParaRPr>
          </a:p>
          <a:p>
            <a:pPr>
              <a:lnSpc>
                <a:spcPct val="100000"/>
              </a:lnSpc>
              <a:spcBef>
                <a:spcPts val="55"/>
              </a:spcBef>
            </a:pPr>
            <a:endParaRPr sz="1100">
              <a:latin typeface="Arial"/>
              <a:cs typeface="Arial"/>
            </a:endParaRPr>
          </a:p>
          <a:p>
            <a:pPr marL="241300">
              <a:lnSpc>
                <a:spcPct val="100000"/>
              </a:lnSpc>
            </a:pPr>
            <a:r>
              <a:rPr dirty="0" sz="1200" b="1" i="1">
                <a:latin typeface="Arial"/>
                <a:cs typeface="Arial"/>
              </a:rPr>
              <a:t>4. </a:t>
            </a:r>
            <a:r>
              <a:rPr dirty="0" u="heavy" sz="1200" spc="-5" b="1" i="1">
                <a:uFill>
                  <a:solidFill>
                    <a:srgbClr val="000000"/>
                  </a:solidFill>
                </a:uFill>
                <a:latin typeface="Arial"/>
                <a:cs typeface="Arial"/>
              </a:rPr>
              <a:t>Al</a:t>
            </a:r>
            <a:r>
              <a:rPr dirty="0" u="heavy" sz="1200" spc="-210" b="1" i="1">
                <a:uFill>
                  <a:solidFill>
                    <a:srgbClr val="000000"/>
                  </a:solidFill>
                </a:uFill>
                <a:latin typeface="Arial"/>
                <a:cs typeface="Arial"/>
              </a:rPr>
              <a:t> </a:t>
            </a:r>
            <a:r>
              <a:rPr dirty="0" u="heavy" sz="1200" spc="-5" b="1" i="1">
                <a:uFill>
                  <a:solidFill>
                    <a:srgbClr val="000000"/>
                  </a:solidFill>
                </a:uFill>
                <a:latin typeface="Arial"/>
                <a:cs typeface="Arial"/>
              </a:rPr>
              <a:t>Ghazzali</a:t>
            </a:r>
            <a:endParaRPr sz="1200">
              <a:latin typeface="Arial"/>
              <a:cs typeface="Arial"/>
            </a:endParaRPr>
          </a:p>
          <a:p>
            <a:pPr>
              <a:lnSpc>
                <a:spcPct val="100000"/>
              </a:lnSpc>
              <a:spcBef>
                <a:spcPts val="40"/>
              </a:spcBef>
            </a:pPr>
            <a:endParaRPr sz="1600">
              <a:latin typeface="Arial"/>
              <a:cs typeface="Arial"/>
            </a:endParaRPr>
          </a:p>
          <a:p>
            <a:pPr algn="just" marL="12700" marR="5080">
              <a:lnSpc>
                <a:spcPct val="95900"/>
              </a:lnSpc>
              <a:spcBef>
                <a:spcPts val="5"/>
              </a:spcBef>
            </a:pPr>
            <a:r>
              <a:rPr dirty="0" sz="1200" spc="-5">
                <a:latin typeface="Arial"/>
                <a:cs typeface="Arial"/>
              </a:rPr>
              <a:t>Abu Hāmed Mohammad ibn Mohammad al-Ghazzālī (</a:t>
            </a:r>
            <a:r>
              <a:rPr dirty="0" sz="1200" spc="-5">
                <a:latin typeface="Arial"/>
                <a:cs typeface="Arial"/>
                <a:hlinkClick r:id="rId8"/>
              </a:rPr>
              <a:t>1058</a:t>
            </a:r>
            <a:r>
              <a:rPr dirty="0" sz="1200" spc="-5">
                <a:latin typeface="Arial"/>
                <a:cs typeface="Arial"/>
              </a:rPr>
              <a:t>-</a:t>
            </a:r>
            <a:r>
              <a:rPr dirty="0" sz="1200" spc="-5">
                <a:latin typeface="Arial"/>
                <a:cs typeface="Arial"/>
                <a:hlinkClick r:id="rId9"/>
              </a:rPr>
              <a:t>1111</a:t>
            </a:r>
            <a:r>
              <a:rPr dirty="0" sz="1200" spc="-5">
                <a:latin typeface="Arial"/>
                <a:cs typeface="Arial"/>
              </a:rPr>
              <a:t>) known as Algazel </a:t>
            </a:r>
            <a:r>
              <a:rPr dirty="0" sz="1200">
                <a:latin typeface="Arial"/>
                <a:cs typeface="Arial"/>
              </a:rPr>
              <a:t>to </a:t>
            </a:r>
            <a:r>
              <a:rPr dirty="0" sz="1200" spc="-5">
                <a:latin typeface="Arial"/>
                <a:cs typeface="Arial"/>
              </a:rPr>
              <a:t>the  western medieval world, born and died in </a:t>
            </a:r>
            <a:r>
              <a:rPr dirty="0" sz="1200" spc="-5">
                <a:latin typeface="Arial"/>
                <a:cs typeface="Arial"/>
                <a:hlinkClick r:id="rId10"/>
              </a:rPr>
              <a:t>Tus</a:t>
            </a:r>
            <a:r>
              <a:rPr dirty="0" sz="1200" spc="-5">
                <a:latin typeface="Arial"/>
                <a:cs typeface="Arial"/>
              </a:rPr>
              <a:t>, in the </a:t>
            </a:r>
            <a:r>
              <a:rPr dirty="0" sz="1200" spc="-5">
                <a:latin typeface="Arial"/>
                <a:cs typeface="Arial"/>
                <a:hlinkClick r:id="rId11"/>
              </a:rPr>
              <a:t>Khorasan </a:t>
            </a:r>
            <a:r>
              <a:rPr dirty="0" sz="1200" spc="-5">
                <a:latin typeface="Arial"/>
                <a:cs typeface="Arial"/>
              </a:rPr>
              <a:t>province </a:t>
            </a:r>
            <a:r>
              <a:rPr dirty="0" sz="1200">
                <a:latin typeface="Arial"/>
                <a:cs typeface="Arial"/>
              </a:rPr>
              <a:t>of </a:t>
            </a:r>
            <a:r>
              <a:rPr dirty="0" sz="1200" spc="-5">
                <a:latin typeface="Arial"/>
                <a:cs typeface="Arial"/>
                <a:hlinkClick r:id="rId12"/>
              </a:rPr>
              <a:t>Persia </a:t>
            </a:r>
            <a:r>
              <a:rPr dirty="0" sz="1200" spc="-10">
                <a:latin typeface="Arial"/>
                <a:cs typeface="Arial"/>
              </a:rPr>
              <a:t>(modern  </a:t>
            </a:r>
            <a:r>
              <a:rPr dirty="0" sz="1200" spc="-5">
                <a:latin typeface="Arial"/>
                <a:cs typeface="Arial"/>
              </a:rPr>
              <a:t>day </a:t>
            </a:r>
            <a:r>
              <a:rPr dirty="0" sz="1200">
                <a:latin typeface="Arial"/>
                <a:cs typeface="Arial"/>
                <a:hlinkClick r:id="rId13"/>
              </a:rPr>
              <a:t>Iran</a:t>
            </a:r>
            <a:r>
              <a:rPr dirty="0" sz="1200">
                <a:latin typeface="Arial"/>
                <a:cs typeface="Arial"/>
              </a:rPr>
              <a:t>) </a:t>
            </a:r>
            <a:r>
              <a:rPr dirty="0" sz="1200" spc="-10">
                <a:latin typeface="Arial"/>
                <a:cs typeface="Arial"/>
              </a:rPr>
              <a:t>was </a:t>
            </a:r>
            <a:r>
              <a:rPr dirty="0" sz="1200" spc="-5">
                <a:latin typeface="Arial"/>
                <a:cs typeface="Arial"/>
              </a:rPr>
              <a:t>a </a:t>
            </a:r>
            <a:r>
              <a:rPr dirty="0" sz="1200" spc="-5">
                <a:latin typeface="Arial"/>
                <a:cs typeface="Arial"/>
                <a:hlinkClick r:id="rId14"/>
              </a:rPr>
              <a:t>Persian</a:t>
            </a:r>
            <a:r>
              <a:rPr dirty="0" sz="1200" spc="-5">
                <a:latin typeface="Arial"/>
                <a:cs typeface="Arial"/>
              </a:rPr>
              <a:t> </a:t>
            </a:r>
            <a:r>
              <a:rPr dirty="0" sz="1200" spc="-5">
                <a:latin typeface="Arial"/>
                <a:cs typeface="Arial"/>
                <a:hlinkClick r:id="rId15"/>
              </a:rPr>
              <a:t>Muslim</a:t>
            </a:r>
            <a:r>
              <a:rPr dirty="0" sz="1200" spc="-5">
                <a:latin typeface="Arial"/>
                <a:cs typeface="Arial"/>
              </a:rPr>
              <a:t> </a:t>
            </a:r>
            <a:r>
              <a:rPr dirty="0" sz="1200" spc="-5">
                <a:latin typeface="Arial"/>
                <a:cs typeface="Arial"/>
                <a:hlinkClick r:id="rId16"/>
              </a:rPr>
              <a:t>theologian</a:t>
            </a:r>
            <a:r>
              <a:rPr dirty="0" sz="1200" spc="-5">
                <a:latin typeface="Arial"/>
                <a:cs typeface="Arial"/>
              </a:rPr>
              <a:t>, </a:t>
            </a:r>
            <a:r>
              <a:rPr dirty="0" sz="1200" spc="-5">
                <a:latin typeface="Arial"/>
                <a:cs typeface="Arial"/>
                <a:hlinkClick r:id="rId17"/>
              </a:rPr>
              <a:t>jurist</a:t>
            </a:r>
            <a:r>
              <a:rPr dirty="0" sz="1200" spc="-5">
                <a:latin typeface="Arial"/>
                <a:cs typeface="Arial"/>
              </a:rPr>
              <a:t>, </a:t>
            </a:r>
            <a:r>
              <a:rPr dirty="0" sz="1200" spc="-5">
                <a:latin typeface="Arial"/>
                <a:cs typeface="Arial"/>
                <a:hlinkClick r:id="rId18"/>
              </a:rPr>
              <a:t>philosopher</a:t>
            </a:r>
            <a:r>
              <a:rPr dirty="0" sz="1200" spc="-5">
                <a:latin typeface="Arial"/>
                <a:cs typeface="Arial"/>
              </a:rPr>
              <a:t>, and </a:t>
            </a:r>
            <a:r>
              <a:rPr dirty="0" sz="1200" spc="-5">
                <a:latin typeface="Arial"/>
                <a:cs typeface="Arial"/>
                <a:hlinkClick r:id="rId19"/>
              </a:rPr>
              <a:t>mystic</a:t>
            </a:r>
            <a:r>
              <a:rPr dirty="0" sz="1200" spc="-5">
                <a:latin typeface="Arial"/>
                <a:cs typeface="Arial"/>
              </a:rPr>
              <a:t>. Ghazali has  sometimes been referred </a:t>
            </a:r>
            <a:r>
              <a:rPr dirty="0" sz="1200">
                <a:latin typeface="Arial"/>
                <a:cs typeface="Arial"/>
              </a:rPr>
              <a:t>to </a:t>
            </a:r>
            <a:r>
              <a:rPr dirty="0" sz="1200" spc="-5">
                <a:latin typeface="Arial"/>
                <a:cs typeface="Arial"/>
              </a:rPr>
              <a:t>by historians </a:t>
            </a:r>
            <a:r>
              <a:rPr dirty="0" sz="1200" spc="-10">
                <a:latin typeface="Arial"/>
                <a:cs typeface="Arial"/>
              </a:rPr>
              <a:t>as </a:t>
            </a:r>
            <a:r>
              <a:rPr dirty="0" sz="1200">
                <a:latin typeface="Arial"/>
                <a:cs typeface="Arial"/>
              </a:rPr>
              <a:t>the </a:t>
            </a:r>
            <a:r>
              <a:rPr dirty="0" sz="1200" spc="-5">
                <a:latin typeface="Arial"/>
                <a:cs typeface="Arial"/>
              </a:rPr>
              <a:t>single most influential </a:t>
            </a:r>
            <a:r>
              <a:rPr dirty="0" sz="1200" spc="-5">
                <a:latin typeface="Arial"/>
                <a:cs typeface="Arial"/>
                <a:hlinkClick r:id="rId15"/>
              </a:rPr>
              <a:t>Muslim</a:t>
            </a:r>
            <a:r>
              <a:rPr dirty="0" sz="1200" spc="-5">
                <a:latin typeface="Arial"/>
                <a:cs typeface="Arial"/>
              </a:rPr>
              <a:t> after </a:t>
            </a:r>
            <a:r>
              <a:rPr dirty="0" sz="1200" spc="-10">
                <a:latin typeface="Arial"/>
                <a:cs typeface="Arial"/>
              </a:rPr>
              <a:t>the  </a:t>
            </a:r>
            <a:r>
              <a:rPr dirty="0" sz="1200">
                <a:latin typeface="Arial"/>
                <a:cs typeface="Arial"/>
              </a:rPr>
              <a:t>Islamic </a:t>
            </a:r>
            <a:r>
              <a:rPr dirty="0" sz="1200" spc="-5">
                <a:latin typeface="Arial"/>
                <a:cs typeface="Arial"/>
              </a:rPr>
              <a:t>prophet </a:t>
            </a:r>
            <a:r>
              <a:rPr dirty="0" sz="1200" spc="-5">
                <a:latin typeface="Arial"/>
                <a:cs typeface="Arial"/>
                <a:hlinkClick r:id="rId20"/>
              </a:rPr>
              <a:t>Muhammad</a:t>
            </a:r>
            <a:r>
              <a:rPr dirty="0" sz="1200" spc="-5">
                <a:latin typeface="Arial"/>
                <a:cs typeface="Arial"/>
              </a:rPr>
              <a:t>. Besides his work </a:t>
            </a:r>
            <a:r>
              <a:rPr dirty="0" sz="1200">
                <a:latin typeface="Arial"/>
                <a:cs typeface="Arial"/>
              </a:rPr>
              <a:t>that </a:t>
            </a:r>
            <a:r>
              <a:rPr dirty="0" sz="1200" spc="-5">
                <a:latin typeface="Arial"/>
                <a:cs typeface="Arial"/>
              </a:rPr>
              <a:t>successfully changed </a:t>
            </a:r>
            <a:r>
              <a:rPr dirty="0" sz="1200">
                <a:latin typeface="Arial"/>
                <a:cs typeface="Arial"/>
              </a:rPr>
              <a:t>the </a:t>
            </a:r>
            <a:r>
              <a:rPr dirty="0" sz="1200" spc="-5">
                <a:latin typeface="Arial"/>
                <a:cs typeface="Arial"/>
              </a:rPr>
              <a:t>course of  </a:t>
            </a:r>
            <a:r>
              <a:rPr dirty="0" sz="1200">
                <a:latin typeface="Arial"/>
                <a:cs typeface="Arial"/>
              </a:rPr>
              <a:t>Islamic </a:t>
            </a:r>
            <a:r>
              <a:rPr dirty="0" sz="1200" spc="-5">
                <a:latin typeface="Arial"/>
                <a:cs typeface="Arial"/>
              </a:rPr>
              <a:t>philosophy—the early </a:t>
            </a:r>
            <a:r>
              <a:rPr dirty="0" sz="1200">
                <a:latin typeface="Arial"/>
                <a:cs typeface="Arial"/>
              </a:rPr>
              <a:t>Islamic </a:t>
            </a:r>
            <a:r>
              <a:rPr dirty="0" sz="1200">
                <a:latin typeface="Arial"/>
                <a:cs typeface="Arial"/>
                <a:hlinkClick r:id="rId21"/>
              </a:rPr>
              <a:t>Neoplatonism </a:t>
            </a:r>
            <a:r>
              <a:rPr dirty="0" sz="1200" spc="-5">
                <a:latin typeface="Arial"/>
                <a:cs typeface="Arial"/>
              </a:rPr>
              <a:t>developed on the grounds of </a:t>
            </a:r>
            <a:r>
              <a:rPr dirty="0" sz="1200" spc="-5">
                <a:latin typeface="Arial"/>
                <a:cs typeface="Arial"/>
                <a:hlinkClick r:id="rId22"/>
              </a:rPr>
              <a:t>Hellenistic </a:t>
            </a:r>
            <a:r>
              <a:rPr dirty="0" sz="1200" spc="-5">
                <a:latin typeface="Arial"/>
                <a:cs typeface="Arial"/>
              </a:rPr>
              <a:t> </a:t>
            </a:r>
            <a:r>
              <a:rPr dirty="0" sz="1200" spc="-5">
                <a:latin typeface="Arial"/>
                <a:cs typeface="Arial"/>
                <a:hlinkClick r:id="rId22"/>
              </a:rPr>
              <a:t>philosophy</a:t>
            </a:r>
            <a:r>
              <a:rPr dirty="0" sz="1200" spc="-5">
                <a:latin typeface="Arial"/>
                <a:cs typeface="Arial"/>
              </a:rPr>
              <a:t>, </a:t>
            </a:r>
            <a:r>
              <a:rPr dirty="0" sz="1200">
                <a:latin typeface="Arial"/>
                <a:cs typeface="Arial"/>
              </a:rPr>
              <a:t>for </a:t>
            </a:r>
            <a:r>
              <a:rPr dirty="0" sz="1200" spc="-5">
                <a:latin typeface="Arial"/>
                <a:cs typeface="Arial"/>
              </a:rPr>
              <a:t>example, </a:t>
            </a:r>
            <a:r>
              <a:rPr dirty="0" sz="1200" spc="-10">
                <a:latin typeface="Arial"/>
                <a:cs typeface="Arial"/>
              </a:rPr>
              <a:t>was </a:t>
            </a:r>
            <a:r>
              <a:rPr dirty="0" sz="1200" spc="-5">
                <a:latin typeface="Arial"/>
                <a:cs typeface="Arial"/>
              </a:rPr>
              <a:t>so successfully </a:t>
            </a:r>
            <a:r>
              <a:rPr dirty="0" sz="1200">
                <a:latin typeface="Arial"/>
                <a:cs typeface="Arial"/>
              </a:rPr>
              <a:t>refuted </a:t>
            </a:r>
            <a:r>
              <a:rPr dirty="0" sz="1200" spc="-5">
                <a:latin typeface="Arial"/>
                <a:cs typeface="Arial"/>
              </a:rPr>
              <a:t>by Ghazali </a:t>
            </a:r>
            <a:r>
              <a:rPr dirty="0" sz="1200">
                <a:latin typeface="Arial"/>
                <a:cs typeface="Arial"/>
              </a:rPr>
              <a:t>that it </a:t>
            </a:r>
            <a:r>
              <a:rPr dirty="0" sz="1200" spc="-10">
                <a:latin typeface="Arial"/>
                <a:cs typeface="Arial"/>
              </a:rPr>
              <a:t>never </a:t>
            </a:r>
            <a:r>
              <a:rPr dirty="0" sz="1200">
                <a:latin typeface="Arial"/>
                <a:cs typeface="Arial"/>
              </a:rPr>
              <a:t>recovered—he  </a:t>
            </a:r>
            <a:r>
              <a:rPr dirty="0" sz="1200" spc="-5">
                <a:latin typeface="Arial"/>
                <a:cs typeface="Arial"/>
              </a:rPr>
              <a:t>also brought </a:t>
            </a:r>
            <a:r>
              <a:rPr dirty="0" sz="1200">
                <a:latin typeface="Arial"/>
                <a:cs typeface="Arial"/>
              </a:rPr>
              <a:t>the </a:t>
            </a:r>
            <a:r>
              <a:rPr dirty="0" sz="1200" spc="-5">
                <a:latin typeface="Arial"/>
                <a:cs typeface="Arial"/>
                <a:hlinkClick r:id="rId23"/>
              </a:rPr>
              <a:t>orthodox</a:t>
            </a:r>
            <a:r>
              <a:rPr dirty="0" sz="1200" spc="-5">
                <a:latin typeface="Arial"/>
                <a:cs typeface="Arial"/>
              </a:rPr>
              <a:t> </a:t>
            </a:r>
            <a:r>
              <a:rPr dirty="0" sz="1200">
                <a:latin typeface="Arial"/>
                <a:cs typeface="Arial"/>
              </a:rPr>
              <a:t>Islam </a:t>
            </a:r>
            <a:r>
              <a:rPr dirty="0" sz="1200" spc="-5">
                <a:latin typeface="Arial"/>
                <a:cs typeface="Arial"/>
              </a:rPr>
              <a:t>of his time in close contact with </a:t>
            </a:r>
            <a:r>
              <a:rPr dirty="0" sz="1200" spc="-5">
                <a:latin typeface="Arial"/>
                <a:cs typeface="Arial"/>
                <a:hlinkClick r:id="rId24"/>
              </a:rPr>
              <a:t>Sufism</a:t>
            </a:r>
            <a:r>
              <a:rPr dirty="0" sz="1200" spc="-5">
                <a:latin typeface="Arial"/>
                <a:cs typeface="Arial"/>
              </a:rPr>
              <a:t>. The orthodox  theologians still went </a:t>
            </a:r>
            <a:r>
              <a:rPr dirty="0" sz="1200">
                <a:latin typeface="Arial"/>
                <a:cs typeface="Arial"/>
              </a:rPr>
              <a:t>their </a:t>
            </a:r>
            <a:r>
              <a:rPr dirty="0" sz="1200" spc="-10">
                <a:latin typeface="Arial"/>
                <a:cs typeface="Arial"/>
              </a:rPr>
              <a:t>own </a:t>
            </a:r>
            <a:r>
              <a:rPr dirty="0" sz="1200" spc="-5">
                <a:latin typeface="Arial"/>
                <a:cs typeface="Arial"/>
              </a:rPr>
              <a:t>way, and so did </a:t>
            </a:r>
            <a:r>
              <a:rPr dirty="0" sz="1200">
                <a:latin typeface="Arial"/>
                <a:cs typeface="Arial"/>
              </a:rPr>
              <a:t>the </a:t>
            </a:r>
            <a:r>
              <a:rPr dirty="0" sz="1200" spc="-5">
                <a:latin typeface="Arial"/>
                <a:cs typeface="Arial"/>
              </a:rPr>
              <a:t>mystics, but both developed a </a:t>
            </a:r>
            <a:r>
              <a:rPr dirty="0" sz="1200" spc="-10">
                <a:latin typeface="Arial"/>
                <a:cs typeface="Arial"/>
              </a:rPr>
              <a:t>sense </a:t>
            </a:r>
            <a:r>
              <a:rPr dirty="0" sz="1200" spc="-5">
                <a:latin typeface="Arial"/>
                <a:cs typeface="Arial"/>
              </a:rPr>
              <a:t>of  mutual appreciation which ensured that no sweeping condemnation could </a:t>
            </a:r>
            <a:r>
              <a:rPr dirty="0" sz="1200" spc="-10">
                <a:latin typeface="Arial"/>
                <a:cs typeface="Arial"/>
              </a:rPr>
              <a:t>be </a:t>
            </a:r>
            <a:r>
              <a:rPr dirty="0" sz="1200" spc="-5">
                <a:latin typeface="Arial"/>
                <a:cs typeface="Arial"/>
              </a:rPr>
              <a:t>made by one  </a:t>
            </a:r>
            <a:r>
              <a:rPr dirty="0" sz="1200">
                <a:latin typeface="Arial"/>
                <a:cs typeface="Arial"/>
              </a:rPr>
              <a:t>for </a:t>
            </a:r>
            <a:r>
              <a:rPr dirty="0" sz="1200" spc="-5">
                <a:latin typeface="Arial"/>
                <a:cs typeface="Arial"/>
              </a:rPr>
              <a:t>the practices of the</a:t>
            </a:r>
            <a:r>
              <a:rPr dirty="0" sz="1200" spc="-10">
                <a:latin typeface="Arial"/>
                <a:cs typeface="Arial"/>
              </a:rPr>
              <a:t> </a:t>
            </a:r>
            <a:r>
              <a:rPr dirty="0" sz="1200">
                <a:latin typeface="Arial"/>
                <a:cs typeface="Arial"/>
              </a:rPr>
              <a:t>other.</a:t>
            </a:r>
            <a:endParaRPr sz="1200">
              <a:latin typeface="Arial"/>
              <a:cs typeface="Arial"/>
            </a:endParaRPr>
          </a:p>
          <a:p>
            <a:pPr>
              <a:lnSpc>
                <a:spcPct val="100000"/>
              </a:lnSpc>
              <a:spcBef>
                <a:spcPts val="40"/>
              </a:spcBef>
            </a:pPr>
            <a:endParaRPr sz="1550">
              <a:latin typeface="Arial"/>
              <a:cs typeface="Arial"/>
            </a:endParaRPr>
          </a:p>
          <a:p>
            <a:pPr marL="12700">
              <a:lnSpc>
                <a:spcPct val="100000"/>
              </a:lnSpc>
            </a:pPr>
            <a:r>
              <a:rPr dirty="0" u="heavy" sz="1200" spc="-5" b="1" i="1">
                <a:uFill>
                  <a:solidFill>
                    <a:srgbClr val="000000"/>
                  </a:solidFill>
                </a:uFill>
                <a:latin typeface="Arial"/>
                <a:cs typeface="Arial"/>
              </a:rPr>
              <a:t>Concepts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Al</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Ghazzali</a:t>
            </a:r>
            <a:endParaRPr sz="1200">
              <a:latin typeface="Arial"/>
              <a:cs typeface="Arial"/>
            </a:endParaRPr>
          </a:p>
          <a:p>
            <a:pPr>
              <a:lnSpc>
                <a:spcPct val="100000"/>
              </a:lnSpc>
            </a:pPr>
            <a:endParaRPr sz="1150">
              <a:latin typeface="Arial"/>
              <a:cs typeface="Arial"/>
            </a:endParaRPr>
          </a:p>
          <a:p>
            <a:pPr marL="413384" indent="-172720">
              <a:lnSpc>
                <a:spcPts val="1410"/>
              </a:lnSpc>
              <a:buFont typeface="Wingdings"/>
              <a:buChar char=""/>
              <a:tabLst>
                <a:tab pos="414020" algn="l"/>
              </a:tabLst>
            </a:pPr>
            <a:r>
              <a:rPr dirty="0" sz="1200" spc="-5">
                <a:latin typeface="Arial"/>
                <a:cs typeface="Arial"/>
              </a:rPr>
              <a:t>Separation between theology </a:t>
            </a:r>
            <a:r>
              <a:rPr dirty="0" sz="1200">
                <a:latin typeface="Arial"/>
                <a:cs typeface="Arial"/>
              </a:rPr>
              <a:t>and</a:t>
            </a:r>
            <a:r>
              <a:rPr dirty="0" sz="1200" spc="-20">
                <a:latin typeface="Arial"/>
                <a:cs typeface="Arial"/>
              </a:rPr>
              <a:t> </a:t>
            </a:r>
            <a:r>
              <a:rPr dirty="0" sz="1200" spc="-5">
                <a:latin typeface="Arial"/>
                <a:cs typeface="Arial"/>
              </a:rPr>
              <a:t>philosophy</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Philosophy </a:t>
            </a:r>
            <a:r>
              <a:rPr dirty="0" sz="1200">
                <a:latin typeface="Arial"/>
                <a:cs typeface="Arial"/>
              </a:rPr>
              <a:t>and </a:t>
            </a:r>
            <a:r>
              <a:rPr dirty="0" sz="1200" spc="-5">
                <a:latin typeface="Arial"/>
                <a:cs typeface="Arial"/>
              </a:rPr>
              <a:t>Religion</a:t>
            </a:r>
            <a:r>
              <a:rPr dirty="0" sz="1200" spc="-15">
                <a:latin typeface="Arial"/>
                <a:cs typeface="Arial"/>
              </a:rPr>
              <a:t> </a:t>
            </a:r>
            <a:r>
              <a:rPr dirty="0" sz="1200" spc="-5">
                <a:latin typeface="Arial"/>
                <a:cs typeface="Arial"/>
              </a:rPr>
              <a:t>Separately</a:t>
            </a:r>
            <a:endParaRPr sz="1200">
              <a:latin typeface="Arial"/>
              <a:cs typeface="Arial"/>
            </a:endParaRPr>
          </a:p>
          <a:p>
            <a:pPr marL="413384" indent="-172720">
              <a:lnSpc>
                <a:spcPts val="1410"/>
              </a:lnSpc>
              <a:buFont typeface="Wingdings"/>
              <a:buChar char=""/>
              <a:tabLst>
                <a:tab pos="414020" algn="l"/>
              </a:tabLst>
            </a:pPr>
            <a:r>
              <a:rPr dirty="0" sz="1200" spc="-5">
                <a:latin typeface="Arial"/>
                <a:cs typeface="Arial"/>
              </a:rPr>
              <a:t>Proved religious problems (good </a:t>
            </a:r>
            <a:r>
              <a:rPr dirty="0" sz="1200" spc="5">
                <a:latin typeface="Arial"/>
                <a:cs typeface="Arial"/>
              </a:rPr>
              <a:t>and </a:t>
            </a:r>
            <a:r>
              <a:rPr dirty="0" sz="1200" spc="-5">
                <a:latin typeface="Arial"/>
                <a:cs typeface="Arial"/>
              </a:rPr>
              <a:t>evil) through</a:t>
            </a:r>
            <a:r>
              <a:rPr dirty="0" sz="1200" spc="10">
                <a:latin typeface="Arial"/>
                <a:cs typeface="Arial"/>
              </a:rPr>
              <a:t> </a:t>
            </a:r>
            <a:r>
              <a:rPr dirty="0" sz="1200" spc="-5">
                <a:latin typeface="Arial"/>
                <a:cs typeface="Arial"/>
              </a:rPr>
              <a:t>philosophy</a:t>
            </a:r>
            <a:endParaRPr sz="1200">
              <a:latin typeface="Arial"/>
              <a:cs typeface="Arial"/>
            </a:endParaRPr>
          </a:p>
          <a:p>
            <a:pPr>
              <a:lnSpc>
                <a:spcPct val="100000"/>
              </a:lnSpc>
              <a:spcBef>
                <a:spcPts val="55"/>
              </a:spcBef>
            </a:pPr>
            <a:endParaRPr sz="1100">
              <a:latin typeface="Arial"/>
              <a:cs typeface="Arial"/>
            </a:endParaRPr>
          </a:p>
          <a:p>
            <a:pPr marL="241300">
              <a:lnSpc>
                <a:spcPct val="100000"/>
              </a:lnSpc>
            </a:pPr>
            <a:r>
              <a:rPr dirty="0" sz="1200" b="1" i="1">
                <a:latin typeface="Arial"/>
                <a:cs typeface="Arial"/>
              </a:rPr>
              <a:t>5. </a:t>
            </a:r>
            <a:r>
              <a:rPr dirty="0" u="heavy" sz="1200" b="1" i="1">
                <a:uFill>
                  <a:solidFill>
                    <a:srgbClr val="000000"/>
                  </a:solidFill>
                </a:uFill>
                <a:latin typeface="Arial"/>
                <a:cs typeface="Arial"/>
              </a:rPr>
              <a:t>Ibn</a:t>
            </a:r>
            <a:r>
              <a:rPr dirty="0" u="heavy" sz="1200" spc="-215" b="1" i="1">
                <a:uFill>
                  <a:solidFill>
                    <a:srgbClr val="000000"/>
                  </a:solidFill>
                </a:uFill>
                <a:latin typeface="Arial"/>
                <a:cs typeface="Arial"/>
              </a:rPr>
              <a:t> </a:t>
            </a:r>
            <a:r>
              <a:rPr dirty="0" u="heavy" sz="1200" spc="-5" b="1" i="1">
                <a:uFill>
                  <a:solidFill>
                    <a:srgbClr val="000000"/>
                  </a:solidFill>
                </a:uFill>
                <a:latin typeface="Arial"/>
                <a:cs typeface="Arial"/>
              </a:rPr>
              <a:t>Rushd</a:t>
            </a:r>
            <a:endParaRPr sz="1200">
              <a:latin typeface="Arial"/>
              <a:cs typeface="Arial"/>
            </a:endParaRPr>
          </a:p>
          <a:p>
            <a:pPr>
              <a:lnSpc>
                <a:spcPct val="100000"/>
              </a:lnSpc>
              <a:spcBef>
                <a:spcPts val="45"/>
              </a:spcBef>
            </a:pPr>
            <a:endParaRPr sz="1600">
              <a:latin typeface="Arial"/>
              <a:cs typeface="Arial"/>
            </a:endParaRPr>
          </a:p>
          <a:p>
            <a:pPr algn="just" marL="12700" marR="5080">
              <a:lnSpc>
                <a:spcPct val="95800"/>
              </a:lnSpc>
            </a:pPr>
            <a:r>
              <a:rPr dirty="0" sz="1200" spc="-5">
                <a:latin typeface="Arial"/>
                <a:cs typeface="Arial"/>
              </a:rPr>
              <a:t>ʾAbū l-Walīd </a:t>
            </a:r>
            <a:r>
              <a:rPr dirty="0" sz="1200">
                <a:latin typeface="Arial"/>
                <a:cs typeface="Arial"/>
              </a:rPr>
              <a:t>Muḥammad </a:t>
            </a:r>
            <a:r>
              <a:rPr dirty="0" sz="1200" spc="-5">
                <a:latin typeface="Arial"/>
                <a:cs typeface="Arial"/>
              </a:rPr>
              <a:t>bin </a:t>
            </a:r>
            <a:r>
              <a:rPr dirty="0" sz="1200">
                <a:latin typeface="Arial"/>
                <a:cs typeface="Arial"/>
              </a:rPr>
              <a:t>ʾAḥmad </a:t>
            </a:r>
            <a:r>
              <a:rPr dirty="0" sz="1200" spc="-5">
                <a:latin typeface="Arial"/>
                <a:cs typeface="Arial"/>
              </a:rPr>
              <a:t>bin Rušd, better known </a:t>
            </a:r>
            <a:r>
              <a:rPr dirty="0" sz="1200">
                <a:latin typeface="Arial"/>
                <a:cs typeface="Arial"/>
              </a:rPr>
              <a:t>just </a:t>
            </a:r>
            <a:r>
              <a:rPr dirty="0" sz="1200" spc="-5">
                <a:latin typeface="Arial"/>
                <a:cs typeface="Arial"/>
              </a:rPr>
              <a:t>as </a:t>
            </a:r>
            <a:r>
              <a:rPr dirty="0" sz="1200">
                <a:latin typeface="Arial"/>
                <a:cs typeface="Arial"/>
              </a:rPr>
              <a:t>Ibn Rushd </a:t>
            </a:r>
            <a:r>
              <a:rPr dirty="0" sz="1200" spc="-5">
                <a:latin typeface="Arial"/>
                <a:cs typeface="Arial"/>
              </a:rPr>
              <a:t>(1126 </a:t>
            </a:r>
            <a:r>
              <a:rPr dirty="0" sz="1200">
                <a:latin typeface="Arial"/>
                <a:cs typeface="Arial"/>
              </a:rPr>
              <a:t>–  </a:t>
            </a:r>
            <a:r>
              <a:rPr dirty="0" sz="1200" spc="-5">
                <a:latin typeface="Arial"/>
                <a:cs typeface="Arial"/>
              </a:rPr>
              <a:t>December 10, 1198) </a:t>
            </a:r>
            <a:r>
              <a:rPr dirty="0" sz="1200" spc="-10">
                <a:latin typeface="Arial"/>
                <a:cs typeface="Arial"/>
              </a:rPr>
              <a:t>was </a:t>
            </a:r>
            <a:r>
              <a:rPr dirty="0" sz="1200" spc="-5">
                <a:latin typeface="Arial"/>
                <a:cs typeface="Arial"/>
              </a:rPr>
              <a:t>a </a:t>
            </a:r>
            <a:r>
              <a:rPr dirty="0" sz="1200" spc="-5">
                <a:latin typeface="Arial"/>
                <a:cs typeface="Arial"/>
                <a:hlinkClick r:id="rId15"/>
              </a:rPr>
              <a:t>Muslim </a:t>
            </a:r>
            <a:r>
              <a:rPr dirty="0" sz="1200" spc="-5">
                <a:latin typeface="Arial"/>
                <a:cs typeface="Arial"/>
              </a:rPr>
              <a:t>polymath (sage and specialist); a </a:t>
            </a:r>
            <a:r>
              <a:rPr dirty="0" sz="1200">
                <a:latin typeface="Arial"/>
                <a:cs typeface="Arial"/>
              </a:rPr>
              <a:t>master </a:t>
            </a:r>
            <a:r>
              <a:rPr dirty="0" sz="1200" spc="-5">
                <a:latin typeface="Arial"/>
                <a:cs typeface="Arial"/>
              </a:rPr>
              <a:t>of Aristotelian  philosophy, </a:t>
            </a:r>
            <a:r>
              <a:rPr dirty="0" sz="1200">
                <a:latin typeface="Arial"/>
                <a:cs typeface="Arial"/>
                <a:hlinkClick r:id="rId25"/>
              </a:rPr>
              <a:t>Islamic </a:t>
            </a:r>
            <a:r>
              <a:rPr dirty="0" sz="1200" spc="-5">
                <a:latin typeface="Arial"/>
                <a:cs typeface="Arial"/>
                <a:hlinkClick r:id="rId25"/>
              </a:rPr>
              <a:t>philosophy</a:t>
            </a:r>
            <a:r>
              <a:rPr dirty="0" sz="1200" spc="-5">
                <a:latin typeface="Arial"/>
                <a:cs typeface="Arial"/>
              </a:rPr>
              <a:t>, </a:t>
            </a:r>
            <a:r>
              <a:rPr dirty="0" sz="1200" spc="-5">
                <a:latin typeface="Arial"/>
                <a:cs typeface="Arial"/>
                <a:hlinkClick r:id="rId26"/>
              </a:rPr>
              <a:t>Islamic theology</a:t>
            </a:r>
            <a:r>
              <a:rPr dirty="0" sz="1200" spc="-5">
                <a:latin typeface="Arial"/>
                <a:cs typeface="Arial"/>
              </a:rPr>
              <a:t>, </a:t>
            </a:r>
            <a:r>
              <a:rPr dirty="0" sz="1200" spc="-5">
                <a:latin typeface="Arial"/>
                <a:cs typeface="Arial"/>
                <a:hlinkClick r:id="rId27"/>
              </a:rPr>
              <a:t>Maliki</a:t>
            </a:r>
            <a:r>
              <a:rPr dirty="0" sz="1200" spc="-5">
                <a:latin typeface="Arial"/>
                <a:cs typeface="Arial"/>
              </a:rPr>
              <a:t> </a:t>
            </a:r>
            <a:r>
              <a:rPr dirty="0" sz="1200" spc="-5">
                <a:latin typeface="Arial"/>
                <a:cs typeface="Arial"/>
                <a:hlinkClick r:id="rId28"/>
              </a:rPr>
              <a:t>law</a:t>
            </a:r>
            <a:r>
              <a:rPr dirty="0" sz="1200" spc="-5">
                <a:latin typeface="Arial"/>
                <a:cs typeface="Arial"/>
              </a:rPr>
              <a:t> and </a:t>
            </a:r>
            <a:r>
              <a:rPr dirty="0" sz="1200" spc="-5">
                <a:latin typeface="Arial"/>
                <a:cs typeface="Arial"/>
                <a:hlinkClick r:id="rId29"/>
              </a:rPr>
              <a:t>jurisprudence</a:t>
            </a:r>
            <a:r>
              <a:rPr dirty="0" sz="1200" spc="-5">
                <a:latin typeface="Arial"/>
                <a:cs typeface="Arial"/>
              </a:rPr>
              <a:t>, </a:t>
            </a:r>
            <a:r>
              <a:rPr dirty="0" sz="1200" spc="-5">
                <a:latin typeface="Arial"/>
                <a:cs typeface="Arial"/>
                <a:hlinkClick r:id="rId30"/>
              </a:rPr>
              <a:t>logic</a:t>
            </a:r>
            <a:r>
              <a:rPr dirty="0" sz="1200" spc="-5">
                <a:latin typeface="Arial"/>
                <a:cs typeface="Arial"/>
              </a:rPr>
              <a:t>,  </a:t>
            </a:r>
            <a:r>
              <a:rPr dirty="0" sz="1200" spc="-5">
                <a:latin typeface="Arial"/>
                <a:cs typeface="Arial"/>
                <a:hlinkClick r:id="rId31"/>
              </a:rPr>
              <a:t>psychology</a:t>
            </a:r>
            <a:r>
              <a:rPr dirty="0" sz="1200" spc="-5">
                <a:latin typeface="Arial"/>
                <a:cs typeface="Arial"/>
              </a:rPr>
              <a:t>, </a:t>
            </a:r>
            <a:r>
              <a:rPr dirty="0" sz="1200" spc="-5">
                <a:latin typeface="Arial"/>
                <a:cs typeface="Arial"/>
                <a:hlinkClick r:id="rId32"/>
              </a:rPr>
              <a:t>politics</a:t>
            </a:r>
            <a:r>
              <a:rPr dirty="0" sz="1200" spc="-5">
                <a:latin typeface="Arial"/>
                <a:cs typeface="Arial"/>
              </a:rPr>
              <a:t>, </a:t>
            </a:r>
            <a:r>
              <a:rPr dirty="0" sz="1200">
                <a:latin typeface="Arial"/>
                <a:cs typeface="Arial"/>
                <a:hlinkClick r:id="rId33"/>
              </a:rPr>
              <a:t>Arabic </a:t>
            </a:r>
            <a:r>
              <a:rPr dirty="0" sz="1200" spc="-5">
                <a:latin typeface="Arial"/>
                <a:cs typeface="Arial"/>
                <a:hlinkClick r:id="rId33"/>
              </a:rPr>
              <a:t>music</a:t>
            </a:r>
            <a:r>
              <a:rPr dirty="0" sz="1200" spc="-5">
                <a:latin typeface="Arial"/>
                <a:cs typeface="Arial"/>
              </a:rPr>
              <a:t> theory, and the sciences of </a:t>
            </a:r>
            <a:r>
              <a:rPr dirty="0" sz="1200" spc="-5">
                <a:latin typeface="Arial"/>
                <a:cs typeface="Arial"/>
                <a:hlinkClick r:id="rId34"/>
              </a:rPr>
              <a:t>medicine</a:t>
            </a:r>
            <a:r>
              <a:rPr dirty="0" sz="1200" spc="-5">
                <a:latin typeface="Arial"/>
                <a:cs typeface="Arial"/>
              </a:rPr>
              <a:t>, </a:t>
            </a:r>
            <a:r>
              <a:rPr dirty="0" sz="1200" spc="-5">
                <a:latin typeface="Arial"/>
                <a:cs typeface="Arial"/>
                <a:hlinkClick r:id="rId35"/>
              </a:rPr>
              <a:t>astronomy</a:t>
            </a:r>
            <a:r>
              <a:rPr dirty="0" sz="1200" spc="-5">
                <a:latin typeface="Arial"/>
                <a:cs typeface="Arial"/>
              </a:rPr>
              <a:t>,  </a:t>
            </a:r>
            <a:r>
              <a:rPr dirty="0" sz="1200" spc="-5">
                <a:latin typeface="Arial"/>
                <a:cs typeface="Arial"/>
                <a:hlinkClick r:id="rId36"/>
              </a:rPr>
              <a:t>geography</a:t>
            </a:r>
            <a:r>
              <a:rPr dirty="0" sz="1200" spc="-5">
                <a:latin typeface="Arial"/>
                <a:cs typeface="Arial"/>
              </a:rPr>
              <a:t>, </a:t>
            </a:r>
            <a:r>
              <a:rPr dirty="0" sz="1200" spc="-5">
                <a:latin typeface="Arial"/>
                <a:cs typeface="Arial"/>
                <a:hlinkClick r:id="rId37"/>
              </a:rPr>
              <a:t>mathematics</a:t>
            </a:r>
            <a:r>
              <a:rPr dirty="0" sz="1200" spc="-5">
                <a:latin typeface="Arial"/>
                <a:cs typeface="Arial"/>
              </a:rPr>
              <a:t>, </a:t>
            </a:r>
            <a:r>
              <a:rPr dirty="0" sz="1200" spc="-5">
                <a:latin typeface="Arial"/>
                <a:cs typeface="Arial"/>
                <a:hlinkClick r:id="rId38"/>
              </a:rPr>
              <a:t>physics</a:t>
            </a:r>
            <a:r>
              <a:rPr dirty="0" sz="1200" spc="-5">
                <a:latin typeface="Arial"/>
                <a:cs typeface="Arial"/>
              </a:rPr>
              <a:t> and </a:t>
            </a:r>
            <a:r>
              <a:rPr dirty="0" sz="1200" spc="-5">
                <a:latin typeface="Arial"/>
                <a:cs typeface="Arial"/>
                <a:hlinkClick r:id="rId39"/>
              </a:rPr>
              <a:t>celestial mechanics</a:t>
            </a:r>
            <a:r>
              <a:rPr dirty="0" sz="1200" spc="-5">
                <a:latin typeface="Arial"/>
                <a:cs typeface="Arial"/>
              </a:rPr>
              <a:t>. He was born in </a:t>
            </a:r>
            <a:r>
              <a:rPr dirty="0" sz="1200" spc="-5">
                <a:latin typeface="Arial"/>
                <a:cs typeface="Arial"/>
                <a:hlinkClick r:id="rId40"/>
              </a:rPr>
              <a:t>Córdoba</a:t>
            </a:r>
            <a:r>
              <a:rPr dirty="0" sz="1200" spc="-5">
                <a:latin typeface="Arial"/>
                <a:cs typeface="Arial"/>
              </a:rPr>
              <a:t>, </a:t>
            </a:r>
            <a:r>
              <a:rPr dirty="0" sz="1200" spc="-5">
                <a:latin typeface="Arial"/>
                <a:cs typeface="Arial"/>
                <a:hlinkClick r:id="rId41"/>
              </a:rPr>
              <a:t>Al </a:t>
            </a:r>
            <a:r>
              <a:rPr dirty="0" sz="1200" spc="-5">
                <a:latin typeface="Arial"/>
                <a:cs typeface="Arial"/>
              </a:rPr>
              <a:t> </a:t>
            </a:r>
            <a:r>
              <a:rPr dirty="0" sz="1200" spc="-5">
                <a:latin typeface="Arial"/>
                <a:cs typeface="Arial"/>
                <a:hlinkClick r:id="rId41"/>
              </a:rPr>
              <a:t>Andalus</a:t>
            </a:r>
            <a:r>
              <a:rPr dirty="0" sz="1200" spc="-5">
                <a:latin typeface="Arial"/>
                <a:cs typeface="Arial"/>
              </a:rPr>
              <a:t>, modern-day </a:t>
            </a:r>
            <a:r>
              <a:rPr dirty="0" sz="1200">
                <a:latin typeface="Arial"/>
                <a:cs typeface="Arial"/>
                <a:hlinkClick r:id="rId42"/>
              </a:rPr>
              <a:t>Spain</a:t>
            </a:r>
            <a:r>
              <a:rPr dirty="0" sz="1200">
                <a:latin typeface="Arial"/>
                <a:cs typeface="Arial"/>
              </a:rPr>
              <a:t>, </a:t>
            </a:r>
            <a:r>
              <a:rPr dirty="0" sz="1200" spc="-5">
                <a:latin typeface="Arial"/>
                <a:cs typeface="Arial"/>
              </a:rPr>
              <a:t>and died in </a:t>
            </a:r>
            <a:r>
              <a:rPr dirty="0" sz="1200" spc="-5">
                <a:latin typeface="Arial"/>
                <a:cs typeface="Arial"/>
                <a:hlinkClick r:id="rId43"/>
              </a:rPr>
              <a:t>Marrakesh</a:t>
            </a:r>
            <a:r>
              <a:rPr dirty="0" sz="1200" spc="-5">
                <a:latin typeface="Arial"/>
                <a:cs typeface="Arial"/>
              </a:rPr>
              <a:t>, </a:t>
            </a:r>
            <a:r>
              <a:rPr dirty="0" sz="1200" spc="-5">
                <a:latin typeface="Arial"/>
                <a:cs typeface="Arial"/>
                <a:hlinkClick r:id="rId44"/>
              </a:rPr>
              <a:t>Morocco</a:t>
            </a:r>
            <a:r>
              <a:rPr dirty="0" sz="1200" spc="-5">
                <a:latin typeface="Arial"/>
                <a:cs typeface="Arial"/>
              </a:rPr>
              <a:t>. His school of philosophy is  known as </a:t>
            </a:r>
            <a:r>
              <a:rPr dirty="0" sz="1200" spc="-5">
                <a:latin typeface="Arial"/>
                <a:cs typeface="Arial"/>
                <a:hlinkClick r:id="rId45"/>
              </a:rPr>
              <a:t>Averroism</a:t>
            </a:r>
            <a:r>
              <a:rPr dirty="0" sz="1200" spc="-5">
                <a:latin typeface="Arial"/>
                <a:cs typeface="Arial"/>
              </a:rPr>
              <a:t>. </a:t>
            </a:r>
            <a:r>
              <a:rPr dirty="0" sz="1200">
                <a:latin typeface="Arial"/>
                <a:cs typeface="Arial"/>
              </a:rPr>
              <a:t>Ibn </a:t>
            </a:r>
            <a:r>
              <a:rPr dirty="0" sz="1200" spc="-5">
                <a:latin typeface="Arial"/>
                <a:cs typeface="Arial"/>
              </a:rPr>
              <a:t>Rushd </a:t>
            </a:r>
            <a:r>
              <a:rPr dirty="0" sz="1200" spc="-10">
                <a:latin typeface="Arial"/>
                <a:cs typeface="Arial"/>
              </a:rPr>
              <a:t>was </a:t>
            </a:r>
            <a:r>
              <a:rPr dirty="0" sz="1200" spc="-5">
                <a:latin typeface="Arial"/>
                <a:cs typeface="Arial"/>
              </a:rPr>
              <a:t>a defender </a:t>
            </a:r>
            <a:r>
              <a:rPr dirty="0" sz="1200">
                <a:latin typeface="Arial"/>
                <a:cs typeface="Arial"/>
              </a:rPr>
              <a:t>of </a:t>
            </a:r>
            <a:r>
              <a:rPr dirty="0" sz="1200" spc="-5">
                <a:latin typeface="Arial"/>
                <a:cs typeface="Arial"/>
                <a:hlinkClick r:id="rId46"/>
              </a:rPr>
              <a:t>Aristotelian</a:t>
            </a:r>
            <a:r>
              <a:rPr dirty="0" sz="1200" spc="-5">
                <a:latin typeface="Arial"/>
                <a:cs typeface="Arial"/>
              </a:rPr>
              <a:t> philosophy against claims  from Islamic theologians such as </a:t>
            </a:r>
            <a:r>
              <a:rPr dirty="0" sz="1200" spc="-5">
                <a:latin typeface="Arial"/>
                <a:cs typeface="Arial"/>
                <a:hlinkClick r:id="rId47"/>
              </a:rPr>
              <a:t>Ghazali </a:t>
            </a:r>
            <a:r>
              <a:rPr dirty="0" sz="1200" spc="-5">
                <a:latin typeface="Arial"/>
                <a:cs typeface="Arial"/>
              </a:rPr>
              <a:t>who feared that such teachings would become an  </a:t>
            </a:r>
            <a:r>
              <a:rPr dirty="0" sz="1200">
                <a:latin typeface="Arial"/>
                <a:cs typeface="Arial"/>
              </a:rPr>
              <a:t>affront to </a:t>
            </a:r>
            <a:r>
              <a:rPr dirty="0" sz="1200" spc="-5">
                <a:latin typeface="Arial"/>
                <a:cs typeface="Arial"/>
              </a:rPr>
              <a:t>the teachings of</a:t>
            </a:r>
            <a:r>
              <a:rPr dirty="0" sz="1200" spc="-30">
                <a:latin typeface="Arial"/>
                <a:cs typeface="Arial"/>
              </a:rPr>
              <a:t> </a:t>
            </a:r>
            <a:r>
              <a:rPr dirty="0" sz="1200" spc="-5">
                <a:latin typeface="Arial"/>
                <a:cs typeface="Arial"/>
              </a:rPr>
              <a:t>Islam.</a:t>
            </a:r>
            <a:endParaRPr sz="1200">
              <a:latin typeface="Arial"/>
              <a:cs typeface="Arial"/>
            </a:endParaRPr>
          </a:p>
          <a:p>
            <a:pPr>
              <a:lnSpc>
                <a:spcPct val="100000"/>
              </a:lnSpc>
              <a:spcBef>
                <a:spcPts val="40"/>
              </a:spcBef>
            </a:pPr>
            <a:endParaRPr sz="1550">
              <a:latin typeface="Arial"/>
              <a:cs typeface="Arial"/>
            </a:endParaRPr>
          </a:p>
          <a:p>
            <a:pPr marL="12700">
              <a:lnSpc>
                <a:spcPct val="100000"/>
              </a:lnSpc>
            </a:pPr>
            <a:r>
              <a:rPr dirty="0" u="heavy" sz="1200" spc="-5" b="1" i="1">
                <a:uFill>
                  <a:solidFill>
                    <a:srgbClr val="000000"/>
                  </a:solidFill>
                </a:uFill>
                <a:latin typeface="Arial"/>
                <a:cs typeface="Arial"/>
              </a:rPr>
              <a:t>Concepts </a:t>
            </a:r>
            <a:r>
              <a:rPr dirty="0" u="heavy" sz="1200" b="1" i="1">
                <a:uFill>
                  <a:solidFill>
                    <a:srgbClr val="000000"/>
                  </a:solidFill>
                </a:uFill>
                <a:latin typeface="Arial"/>
                <a:cs typeface="Arial"/>
              </a:rPr>
              <a:t>of Ibn </a:t>
            </a:r>
            <a:r>
              <a:rPr dirty="0" u="heavy" sz="1200" spc="-5" b="1" i="1">
                <a:uFill>
                  <a:solidFill>
                    <a:srgbClr val="000000"/>
                  </a:solidFill>
                </a:uFill>
                <a:latin typeface="Arial"/>
                <a:cs typeface="Arial"/>
              </a:rPr>
              <a:t>Rushd</a:t>
            </a:r>
            <a:endParaRPr sz="1200">
              <a:latin typeface="Arial"/>
              <a:cs typeface="Arial"/>
            </a:endParaRPr>
          </a:p>
          <a:p>
            <a:pPr>
              <a:lnSpc>
                <a:spcPct val="100000"/>
              </a:lnSpc>
              <a:spcBef>
                <a:spcPts val="55"/>
              </a:spcBef>
            </a:pPr>
            <a:endParaRPr sz="1100">
              <a:latin typeface="Arial"/>
              <a:cs typeface="Arial"/>
            </a:endParaRPr>
          </a:p>
          <a:p>
            <a:pPr marL="413384" indent="-172720">
              <a:lnSpc>
                <a:spcPts val="1410"/>
              </a:lnSpc>
              <a:buFont typeface="Wingdings"/>
              <a:buChar char=""/>
              <a:tabLst>
                <a:tab pos="414020" algn="l"/>
              </a:tabLst>
            </a:pPr>
            <a:r>
              <a:rPr dirty="0" sz="1200" spc="-5">
                <a:latin typeface="Arial"/>
                <a:cs typeface="Arial"/>
              </a:rPr>
              <a:t>Religion </a:t>
            </a:r>
            <a:r>
              <a:rPr dirty="0" sz="1200">
                <a:latin typeface="Arial"/>
                <a:cs typeface="Arial"/>
              </a:rPr>
              <a:t>has to </a:t>
            </a:r>
            <a:r>
              <a:rPr dirty="0" sz="1200" spc="-5">
                <a:latin typeface="Arial"/>
                <a:cs typeface="Arial"/>
              </a:rPr>
              <a:t>agree with</a:t>
            </a:r>
            <a:r>
              <a:rPr dirty="0" sz="1200">
                <a:latin typeface="Arial"/>
                <a:cs typeface="Arial"/>
              </a:rPr>
              <a:t> </a:t>
            </a:r>
            <a:r>
              <a:rPr dirty="0" sz="1200" spc="-5">
                <a:latin typeface="Arial"/>
                <a:cs typeface="Arial"/>
              </a:rPr>
              <a:t>philosophy</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Religious people into 3</a:t>
            </a:r>
            <a:r>
              <a:rPr dirty="0" sz="1200" spc="-15">
                <a:latin typeface="Arial"/>
                <a:cs typeface="Arial"/>
              </a:rPr>
              <a:t> </a:t>
            </a:r>
            <a:r>
              <a:rPr dirty="0" sz="1200">
                <a:latin typeface="Arial"/>
                <a:cs typeface="Arial"/>
              </a:rPr>
              <a:t>categories:</a:t>
            </a:r>
            <a:endParaRPr sz="1200">
              <a:latin typeface="Arial"/>
              <a:cs typeface="Arial"/>
            </a:endParaRPr>
          </a:p>
          <a:p>
            <a:pPr marL="413384" indent="-172720">
              <a:lnSpc>
                <a:spcPts val="1380"/>
              </a:lnSpc>
              <a:buFont typeface="Wingdings"/>
              <a:buChar char=""/>
              <a:tabLst>
                <a:tab pos="414020" algn="l"/>
              </a:tabLst>
            </a:pPr>
            <a:r>
              <a:rPr dirty="0" sz="1200">
                <a:latin typeface="Arial"/>
                <a:cs typeface="Arial"/>
              </a:rPr>
              <a:t>1. </a:t>
            </a:r>
            <a:r>
              <a:rPr dirty="0" sz="1200" spc="-5">
                <a:latin typeface="Arial"/>
                <a:cs typeface="Arial"/>
              </a:rPr>
              <a:t>Unsophisticated orthodox</a:t>
            </a:r>
            <a:r>
              <a:rPr dirty="0" sz="1200" spc="-15">
                <a:latin typeface="Arial"/>
                <a:cs typeface="Arial"/>
              </a:rPr>
              <a:t> </a:t>
            </a:r>
            <a:r>
              <a:rPr dirty="0" sz="1200" spc="-5">
                <a:latin typeface="Arial"/>
                <a:cs typeface="Arial"/>
              </a:rPr>
              <a:t>group</a:t>
            </a:r>
            <a:endParaRPr sz="1200">
              <a:latin typeface="Arial"/>
              <a:cs typeface="Arial"/>
            </a:endParaRPr>
          </a:p>
          <a:p>
            <a:pPr marL="413384" indent="-172720">
              <a:lnSpc>
                <a:spcPts val="1380"/>
              </a:lnSpc>
              <a:buFont typeface="Wingdings"/>
              <a:buChar char=""/>
              <a:tabLst>
                <a:tab pos="414020" algn="l"/>
              </a:tabLst>
            </a:pPr>
            <a:r>
              <a:rPr dirty="0" sz="1200">
                <a:latin typeface="Arial"/>
                <a:cs typeface="Arial"/>
              </a:rPr>
              <a:t>2. </a:t>
            </a:r>
            <a:r>
              <a:rPr dirty="0" sz="1200" spc="-5">
                <a:latin typeface="Arial"/>
                <a:cs typeface="Arial"/>
              </a:rPr>
              <a:t>Scholastics and</a:t>
            </a:r>
            <a:r>
              <a:rPr dirty="0" sz="1200" spc="-20">
                <a:latin typeface="Arial"/>
                <a:cs typeface="Arial"/>
              </a:rPr>
              <a:t> </a:t>
            </a:r>
            <a:r>
              <a:rPr dirty="0" sz="1200" spc="-5">
                <a:latin typeface="Arial"/>
                <a:cs typeface="Arial"/>
              </a:rPr>
              <a:t>Theologians</a:t>
            </a:r>
            <a:endParaRPr sz="1200">
              <a:latin typeface="Arial"/>
              <a:cs typeface="Arial"/>
            </a:endParaRPr>
          </a:p>
          <a:p>
            <a:pPr marL="413384" indent="-172720">
              <a:lnSpc>
                <a:spcPts val="1410"/>
              </a:lnSpc>
              <a:buFont typeface="Wingdings"/>
              <a:buChar char=""/>
              <a:tabLst>
                <a:tab pos="414020" algn="l"/>
              </a:tabLst>
            </a:pPr>
            <a:r>
              <a:rPr dirty="0" sz="1200">
                <a:latin typeface="Arial"/>
                <a:cs typeface="Arial"/>
              </a:rPr>
              <a:t>3.</a:t>
            </a:r>
            <a:r>
              <a:rPr dirty="0" sz="1200" spc="-5">
                <a:latin typeface="Arial"/>
                <a:cs typeface="Arial"/>
              </a:rPr>
              <a:t> Philosophers</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154</a:t>
            </a:r>
            <a:endParaRPr sz="1200">
              <a:latin typeface="Times New Roman"/>
              <a:cs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p:nvPr/>
        </p:nvSpPr>
        <p:spPr>
          <a:xfrm>
            <a:off x="6984238" y="7703565"/>
            <a:ext cx="32384" cy="10795"/>
          </a:xfrm>
          <a:custGeom>
            <a:avLst/>
            <a:gdLst/>
            <a:ahLst/>
            <a:cxnLst/>
            <a:rect l="l" t="t" r="r" b="b"/>
            <a:pathLst>
              <a:path w="32384" h="10795">
                <a:moveTo>
                  <a:pt x="32003" y="0"/>
                </a:moveTo>
                <a:lnTo>
                  <a:pt x="0" y="0"/>
                </a:lnTo>
                <a:lnTo>
                  <a:pt x="0" y="10668"/>
                </a:lnTo>
                <a:lnTo>
                  <a:pt x="32003" y="10668"/>
                </a:lnTo>
                <a:lnTo>
                  <a:pt x="32003" y="0"/>
                </a:lnTo>
                <a:close/>
              </a:path>
            </a:pathLst>
          </a:custGeom>
          <a:solidFill>
            <a:srgbClr val="000000"/>
          </a:solidFill>
        </p:spPr>
        <p:txBody>
          <a:bodyPr wrap="square" lIns="0" tIns="0" rIns="0" bIns="0" rtlCol="0"/>
          <a:lstStyle/>
          <a:p/>
        </p:txBody>
      </p:sp>
      <p:sp>
        <p:nvSpPr>
          <p:cNvPr id="6" name="object 6"/>
          <p:cNvSpPr/>
          <p:nvPr/>
        </p:nvSpPr>
        <p:spPr>
          <a:xfrm>
            <a:off x="4254372" y="9104122"/>
            <a:ext cx="33655" cy="10795"/>
          </a:xfrm>
          <a:custGeom>
            <a:avLst/>
            <a:gdLst/>
            <a:ahLst/>
            <a:cxnLst/>
            <a:rect l="l" t="t" r="r" b="b"/>
            <a:pathLst>
              <a:path w="33654" h="10795">
                <a:moveTo>
                  <a:pt x="33527" y="0"/>
                </a:moveTo>
                <a:lnTo>
                  <a:pt x="0" y="0"/>
                </a:lnTo>
                <a:lnTo>
                  <a:pt x="0" y="10667"/>
                </a:lnTo>
                <a:lnTo>
                  <a:pt x="33527" y="10667"/>
                </a:lnTo>
                <a:lnTo>
                  <a:pt x="33527" y="0"/>
                </a:lnTo>
                <a:close/>
              </a:path>
            </a:pathLst>
          </a:custGeom>
          <a:solidFill>
            <a:srgbClr val="000000"/>
          </a:solidFill>
        </p:spPr>
        <p:txBody>
          <a:bodyPr wrap="square" lIns="0" tIns="0" rIns="0" bIns="0" rtlCol="0"/>
          <a:lstStyle/>
          <a:p/>
        </p:txBody>
      </p:sp>
      <p:sp>
        <p:nvSpPr>
          <p:cNvPr id="7" name="object 7"/>
          <p:cNvSpPr txBox="1"/>
          <p:nvPr/>
        </p:nvSpPr>
        <p:spPr>
          <a:xfrm>
            <a:off x="718819" y="799592"/>
            <a:ext cx="6312535" cy="903224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Additional Material </a:t>
            </a:r>
            <a:r>
              <a:rPr dirty="0" u="heavy" sz="1200" spc="-10" b="1" i="1">
                <a:uFill>
                  <a:solidFill>
                    <a:srgbClr val="000000"/>
                  </a:solidFill>
                </a:uFill>
                <a:latin typeface="Arial"/>
                <a:cs typeface="Arial"/>
              </a:rPr>
              <a:t>For </a:t>
            </a:r>
            <a:r>
              <a:rPr dirty="0" u="heavy" sz="1200" spc="-5" b="1" i="1">
                <a:uFill>
                  <a:solidFill>
                    <a:srgbClr val="000000"/>
                  </a:solidFill>
                </a:uFill>
                <a:latin typeface="Arial"/>
                <a:cs typeface="Arial"/>
              </a:rPr>
              <a:t>Past Papers</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Questions</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Concepts </a:t>
            </a:r>
            <a:r>
              <a:rPr dirty="0" u="heavy" sz="1200" b="1" i="1">
                <a:uFill>
                  <a:solidFill>
                    <a:srgbClr val="000000"/>
                  </a:solidFill>
                </a:uFill>
                <a:latin typeface="Arial"/>
                <a:cs typeface="Arial"/>
              </a:rPr>
              <a:t>and </a:t>
            </a:r>
            <a:r>
              <a:rPr dirty="0" u="heavy" sz="1200" spc="-5" b="1" i="1">
                <a:uFill>
                  <a:solidFill>
                    <a:srgbClr val="000000"/>
                  </a:solidFill>
                </a:uFill>
                <a:latin typeface="Arial"/>
                <a:cs typeface="Arial"/>
              </a:rPr>
              <a:t>Contributions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some</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philosophers</a:t>
            </a:r>
            <a:endParaRPr sz="1200">
              <a:latin typeface="Arial"/>
              <a:cs typeface="Arial"/>
            </a:endParaRPr>
          </a:p>
          <a:p>
            <a:pPr>
              <a:lnSpc>
                <a:spcPct val="100000"/>
              </a:lnSpc>
              <a:spcBef>
                <a:spcPts val="40"/>
              </a:spcBef>
            </a:pPr>
            <a:endParaRPr sz="1550">
              <a:latin typeface="Arial"/>
              <a:cs typeface="Arial"/>
            </a:endParaRPr>
          </a:p>
          <a:p>
            <a:pPr marL="12700">
              <a:lnSpc>
                <a:spcPct val="100000"/>
              </a:lnSpc>
            </a:pPr>
            <a:r>
              <a:rPr dirty="0" sz="1200" b="1">
                <a:latin typeface="Arial"/>
                <a:cs typeface="Arial"/>
              </a:rPr>
              <a:t>i) </a:t>
            </a:r>
            <a:r>
              <a:rPr dirty="0" sz="1200" spc="-5" b="1">
                <a:latin typeface="Arial"/>
                <a:cs typeface="Arial"/>
              </a:rPr>
              <a:t>Background and scope of philosophical interest </a:t>
            </a:r>
            <a:r>
              <a:rPr dirty="0" sz="1200" b="1">
                <a:latin typeface="Arial"/>
                <a:cs typeface="Arial"/>
              </a:rPr>
              <a:t>in Isl</a:t>
            </a:r>
            <a:r>
              <a:rPr dirty="0" u="heavy" sz="1200" b="1">
                <a:uFill>
                  <a:solidFill>
                    <a:srgbClr val="000000"/>
                  </a:solidFill>
                </a:uFill>
                <a:latin typeface="Arial"/>
                <a:cs typeface="Arial"/>
              </a:rPr>
              <a:t>a</a:t>
            </a:r>
            <a:r>
              <a:rPr dirty="0" sz="1200" b="1">
                <a:latin typeface="Arial"/>
                <a:cs typeface="Arial"/>
              </a:rPr>
              <a:t>m.</a:t>
            </a:r>
            <a:endParaRPr sz="1200">
              <a:latin typeface="Arial"/>
              <a:cs typeface="Arial"/>
            </a:endParaRPr>
          </a:p>
          <a:p>
            <a:pPr algn="just" marL="12700" marR="5715">
              <a:lnSpc>
                <a:spcPts val="1380"/>
              </a:lnSpc>
              <a:spcBef>
                <a:spcPts val="1035"/>
              </a:spcBef>
            </a:pPr>
            <a:r>
              <a:rPr dirty="0" sz="1200" spc="-5">
                <a:latin typeface="Arial"/>
                <a:cs typeface="Arial"/>
              </a:rPr>
              <a:t>The background of philosophic </a:t>
            </a:r>
            <a:r>
              <a:rPr dirty="0" sz="1200">
                <a:latin typeface="Arial"/>
                <a:cs typeface="Arial"/>
              </a:rPr>
              <a:t>interest </a:t>
            </a:r>
            <a:r>
              <a:rPr dirty="0" sz="1200" spc="-5">
                <a:latin typeface="Arial"/>
                <a:cs typeface="Arial"/>
              </a:rPr>
              <a:t>in </a:t>
            </a:r>
            <a:r>
              <a:rPr dirty="0" sz="1200">
                <a:latin typeface="Arial"/>
                <a:cs typeface="Arial"/>
              </a:rPr>
              <a:t>Isl</a:t>
            </a:r>
            <a:r>
              <a:rPr dirty="0" u="sng" sz="1200">
                <a:uFill>
                  <a:solidFill>
                    <a:srgbClr val="000000"/>
                  </a:solidFill>
                </a:uFill>
                <a:latin typeface="Arial"/>
                <a:cs typeface="Arial"/>
              </a:rPr>
              <a:t>a</a:t>
            </a:r>
            <a:r>
              <a:rPr dirty="0" sz="1200">
                <a:latin typeface="Arial"/>
                <a:cs typeface="Arial"/>
              </a:rPr>
              <a:t>m </a:t>
            </a:r>
            <a:r>
              <a:rPr dirty="0" sz="1200" spc="-5">
                <a:latin typeface="Arial"/>
                <a:cs typeface="Arial"/>
              </a:rPr>
              <a:t>is found in the earlier phases of theology. </a:t>
            </a:r>
            <a:r>
              <a:rPr dirty="0" sz="1200">
                <a:latin typeface="Arial"/>
                <a:cs typeface="Arial"/>
              </a:rPr>
              <a:t>But  its </a:t>
            </a:r>
            <a:r>
              <a:rPr dirty="0" sz="1200" spc="-5">
                <a:latin typeface="Arial"/>
                <a:cs typeface="Arial"/>
              </a:rPr>
              <a:t>origin is found in the translation of Greek philosophic works. </a:t>
            </a:r>
            <a:r>
              <a:rPr dirty="0" sz="1200">
                <a:latin typeface="Arial"/>
                <a:cs typeface="Arial"/>
              </a:rPr>
              <a:t>By the middle </a:t>
            </a:r>
            <a:r>
              <a:rPr dirty="0" sz="1200" spc="-5">
                <a:latin typeface="Arial"/>
                <a:cs typeface="Arial"/>
              </a:rPr>
              <a:t>of the 9th  century, </a:t>
            </a:r>
            <a:r>
              <a:rPr dirty="0" sz="1200">
                <a:latin typeface="Arial"/>
                <a:cs typeface="Arial"/>
              </a:rPr>
              <a:t>there </a:t>
            </a:r>
            <a:r>
              <a:rPr dirty="0" sz="1200" spc="-5">
                <a:latin typeface="Arial"/>
                <a:cs typeface="Arial"/>
              </a:rPr>
              <a:t>were enough translations of scientific and philosophic works </a:t>
            </a:r>
            <a:r>
              <a:rPr dirty="0" sz="1200" spc="10">
                <a:latin typeface="Arial"/>
                <a:cs typeface="Arial"/>
              </a:rPr>
              <a:t>from </a:t>
            </a:r>
            <a:r>
              <a:rPr dirty="0" sz="1200" spc="-5">
                <a:latin typeface="Arial"/>
                <a:cs typeface="Arial"/>
              </a:rPr>
              <a:t>Greek,  Pahlavi, and Sanskrit to show </a:t>
            </a:r>
            <a:r>
              <a:rPr dirty="0" sz="1200">
                <a:latin typeface="Arial"/>
                <a:cs typeface="Arial"/>
              </a:rPr>
              <a:t>those </a:t>
            </a:r>
            <a:r>
              <a:rPr dirty="0" sz="1200" spc="-10">
                <a:latin typeface="Arial"/>
                <a:cs typeface="Arial"/>
              </a:rPr>
              <a:t>who </a:t>
            </a:r>
            <a:r>
              <a:rPr dirty="0" sz="1200">
                <a:latin typeface="Arial"/>
                <a:cs typeface="Arial"/>
              </a:rPr>
              <a:t>read </a:t>
            </a:r>
            <a:r>
              <a:rPr dirty="0" sz="1200" spc="-5">
                <a:latin typeface="Arial"/>
                <a:cs typeface="Arial"/>
              </a:rPr>
              <a:t>them with care </a:t>
            </a:r>
            <a:r>
              <a:rPr dirty="0" sz="1200">
                <a:latin typeface="Arial"/>
                <a:cs typeface="Arial"/>
              </a:rPr>
              <a:t>that </a:t>
            </a:r>
            <a:r>
              <a:rPr dirty="0" sz="1200" spc="-5">
                <a:latin typeface="Arial"/>
                <a:cs typeface="Arial"/>
              </a:rPr>
              <a:t>scientific and philosophic  inquiry </a:t>
            </a:r>
            <a:r>
              <a:rPr dirty="0" sz="1200" spc="-10">
                <a:latin typeface="Arial"/>
                <a:cs typeface="Arial"/>
              </a:rPr>
              <a:t>was </a:t>
            </a:r>
            <a:r>
              <a:rPr dirty="0" sz="1200">
                <a:latin typeface="Arial"/>
                <a:cs typeface="Arial"/>
              </a:rPr>
              <a:t>something more </a:t>
            </a:r>
            <a:r>
              <a:rPr dirty="0" sz="1200" spc="-5">
                <a:latin typeface="Arial"/>
                <a:cs typeface="Arial"/>
              </a:rPr>
              <a:t>than a series of disputations based on what </a:t>
            </a:r>
            <a:r>
              <a:rPr dirty="0" sz="1200">
                <a:latin typeface="Arial"/>
                <a:cs typeface="Arial"/>
              </a:rPr>
              <a:t>the theologians </a:t>
            </a:r>
            <a:r>
              <a:rPr dirty="0" sz="1200" spc="-5">
                <a:latin typeface="Arial"/>
                <a:cs typeface="Arial"/>
              </a:rPr>
              <a:t>had  called sound reason. Moreover, </a:t>
            </a:r>
            <a:r>
              <a:rPr dirty="0" sz="1200">
                <a:latin typeface="Arial"/>
                <a:cs typeface="Arial"/>
              </a:rPr>
              <a:t>it </a:t>
            </a:r>
            <a:r>
              <a:rPr dirty="0" sz="1200" spc="-5">
                <a:latin typeface="Arial"/>
                <a:cs typeface="Arial"/>
              </a:rPr>
              <a:t>became evident that there </a:t>
            </a:r>
            <a:r>
              <a:rPr dirty="0" sz="1200">
                <a:latin typeface="Arial"/>
                <a:cs typeface="Arial"/>
              </a:rPr>
              <a:t>existed </a:t>
            </a:r>
            <a:r>
              <a:rPr dirty="0" sz="1200" spc="-5">
                <a:latin typeface="Arial"/>
                <a:cs typeface="Arial"/>
              </a:rPr>
              <a:t>a tradition of  observation, calculation, and theoretical reflection that had been pursued systematically,  refined, and modified </a:t>
            </a:r>
            <a:r>
              <a:rPr dirty="0" sz="1200">
                <a:latin typeface="Arial"/>
                <a:cs typeface="Arial"/>
              </a:rPr>
              <a:t>for </a:t>
            </a:r>
            <a:r>
              <a:rPr dirty="0" sz="1200" spc="-5">
                <a:latin typeface="Arial"/>
                <a:cs typeface="Arial"/>
              </a:rPr>
              <a:t>over a millennium.</a:t>
            </a:r>
            <a:endParaRPr sz="1200">
              <a:latin typeface="Arial"/>
              <a:cs typeface="Arial"/>
            </a:endParaRPr>
          </a:p>
          <a:p>
            <a:pPr algn="just" marL="12700" marR="5715">
              <a:lnSpc>
                <a:spcPts val="1380"/>
              </a:lnSpc>
              <a:spcBef>
                <a:spcPts val="1000"/>
              </a:spcBef>
            </a:pPr>
            <a:r>
              <a:rPr dirty="0" sz="1200" spc="-5">
                <a:latin typeface="Arial"/>
                <a:cs typeface="Arial"/>
              </a:rPr>
              <a:t>The scope of this tradition </a:t>
            </a:r>
            <a:r>
              <a:rPr dirty="0" sz="1200" spc="-10">
                <a:latin typeface="Arial"/>
                <a:cs typeface="Arial"/>
              </a:rPr>
              <a:t>was </a:t>
            </a:r>
            <a:r>
              <a:rPr dirty="0" sz="1200" spc="-5">
                <a:latin typeface="Arial"/>
                <a:cs typeface="Arial"/>
              </a:rPr>
              <a:t>broad: </a:t>
            </a:r>
            <a:r>
              <a:rPr dirty="0" sz="1200">
                <a:latin typeface="Arial"/>
                <a:cs typeface="Arial"/>
              </a:rPr>
              <a:t>it </a:t>
            </a:r>
            <a:r>
              <a:rPr dirty="0" sz="1200" spc="-5">
                <a:latin typeface="Arial"/>
                <a:cs typeface="Arial"/>
              </a:rPr>
              <a:t>included </a:t>
            </a:r>
            <a:r>
              <a:rPr dirty="0" sz="1200">
                <a:latin typeface="Arial"/>
                <a:cs typeface="Arial"/>
              </a:rPr>
              <a:t>the </a:t>
            </a:r>
            <a:r>
              <a:rPr dirty="0" sz="1200" spc="-5">
                <a:latin typeface="Arial"/>
                <a:cs typeface="Arial"/>
              </a:rPr>
              <a:t>study </a:t>
            </a:r>
            <a:r>
              <a:rPr dirty="0" sz="1200">
                <a:latin typeface="Arial"/>
                <a:cs typeface="Arial"/>
              </a:rPr>
              <a:t>of </a:t>
            </a:r>
            <a:r>
              <a:rPr dirty="0" sz="1200" spc="-5">
                <a:latin typeface="Arial"/>
                <a:cs typeface="Arial"/>
              </a:rPr>
              <a:t>logic, </a:t>
            </a:r>
            <a:r>
              <a:rPr dirty="0" sz="1200">
                <a:latin typeface="Arial"/>
                <a:cs typeface="Arial"/>
              </a:rPr>
              <a:t>the sciences </a:t>
            </a:r>
            <a:r>
              <a:rPr dirty="0" sz="1200" spc="-5">
                <a:latin typeface="Arial"/>
                <a:cs typeface="Arial"/>
              </a:rPr>
              <a:t>of nature  (including psychology and biology), </a:t>
            </a:r>
            <a:r>
              <a:rPr dirty="0" sz="1200">
                <a:latin typeface="Arial"/>
                <a:cs typeface="Arial"/>
              </a:rPr>
              <a:t>the </a:t>
            </a:r>
            <a:r>
              <a:rPr dirty="0" sz="1200" spc="-5">
                <a:latin typeface="Arial"/>
                <a:cs typeface="Arial"/>
              </a:rPr>
              <a:t>mathematical sciences (including music and  astronomy), metaphysics, </a:t>
            </a:r>
            <a:r>
              <a:rPr dirty="0" sz="1200">
                <a:latin typeface="Arial"/>
                <a:cs typeface="Arial"/>
              </a:rPr>
              <a:t>ethics, </a:t>
            </a:r>
            <a:r>
              <a:rPr dirty="0" sz="1200" spc="-5">
                <a:latin typeface="Arial"/>
                <a:cs typeface="Arial"/>
              </a:rPr>
              <a:t>and politics. Each of </a:t>
            </a:r>
            <a:r>
              <a:rPr dirty="0" sz="1200" spc="-10">
                <a:latin typeface="Arial"/>
                <a:cs typeface="Arial"/>
              </a:rPr>
              <a:t>these </a:t>
            </a:r>
            <a:r>
              <a:rPr dirty="0" sz="1200" spc="-5">
                <a:latin typeface="Arial"/>
                <a:cs typeface="Arial"/>
              </a:rPr>
              <a:t>disciplines had a body of  </a:t>
            </a:r>
            <a:r>
              <a:rPr dirty="0" sz="1200">
                <a:latin typeface="Arial"/>
                <a:cs typeface="Arial"/>
              </a:rPr>
              <a:t>literature </a:t>
            </a:r>
            <a:r>
              <a:rPr dirty="0" sz="1200" spc="-5">
                <a:latin typeface="Arial"/>
                <a:cs typeface="Arial"/>
              </a:rPr>
              <a:t>in which </a:t>
            </a:r>
            <a:r>
              <a:rPr dirty="0" sz="1200">
                <a:latin typeface="Arial"/>
                <a:cs typeface="Arial"/>
              </a:rPr>
              <a:t>its </a:t>
            </a:r>
            <a:r>
              <a:rPr dirty="0" sz="1200" spc="-5">
                <a:latin typeface="Arial"/>
                <a:cs typeface="Arial"/>
              </a:rPr>
              <a:t>principles and problems had </a:t>
            </a:r>
            <a:r>
              <a:rPr dirty="0" sz="1200" spc="-10">
                <a:latin typeface="Arial"/>
                <a:cs typeface="Arial"/>
              </a:rPr>
              <a:t>been </a:t>
            </a:r>
            <a:r>
              <a:rPr dirty="0" sz="1200" spc="-5">
                <a:latin typeface="Arial"/>
                <a:cs typeface="Arial"/>
              </a:rPr>
              <a:t>investigated by classical authors,  whose </a:t>
            </a:r>
            <a:r>
              <a:rPr dirty="0" sz="1200">
                <a:latin typeface="Arial"/>
                <a:cs typeface="Arial"/>
              </a:rPr>
              <a:t>positions </a:t>
            </a:r>
            <a:r>
              <a:rPr dirty="0" sz="1200" spc="-5">
                <a:latin typeface="Arial"/>
                <a:cs typeface="Arial"/>
              </a:rPr>
              <a:t>had been, in turn, stated, discussed, criticized, or developed by various  commentators. Isl</a:t>
            </a:r>
            <a:r>
              <a:rPr dirty="0" u="sng" sz="1200" spc="-5">
                <a:uFill>
                  <a:solidFill>
                    <a:srgbClr val="000000"/>
                  </a:solidFill>
                </a:uFill>
                <a:latin typeface="Arial"/>
                <a:cs typeface="Arial"/>
              </a:rPr>
              <a:t>a</a:t>
            </a:r>
            <a:r>
              <a:rPr dirty="0" sz="1200" spc="-5">
                <a:latin typeface="Arial"/>
                <a:cs typeface="Arial"/>
              </a:rPr>
              <a:t>mic philosophy emerged from </a:t>
            </a:r>
            <a:r>
              <a:rPr dirty="0" sz="1200">
                <a:latin typeface="Arial"/>
                <a:cs typeface="Arial"/>
              </a:rPr>
              <a:t>its </a:t>
            </a:r>
            <a:r>
              <a:rPr dirty="0" sz="1200" spc="-5">
                <a:latin typeface="Arial"/>
                <a:cs typeface="Arial"/>
              </a:rPr>
              <a:t>theological background when Muslim  </a:t>
            </a:r>
            <a:r>
              <a:rPr dirty="0" sz="1200">
                <a:latin typeface="Arial"/>
                <a:cs typeface="Arial"/>
              </a:rPr>
              <a:t>thinkers </a:t>
            </a:r>
            <a:r>
              <a:rPr dirty="0" sz="1200" spc="-5">
                <a:latin typeface="Arial"/>
                <a:cs typeface="Arial"/>
              </a:rPr>
              <a:t>began </a:t>
            </a:r>
            <a:r>
              <a:rPr dirty="0" sz="1200">
                <a:latin typeface="Arial"/>
                <a:cs typeface="Arial"/>
              </a:rPr>
              <a:t>to </a:t>
            </a:r>
            <a:r>
              <a:rPr dirty="0" sz="1200" spc="-5">
                <a:latin typeface="Arial"/>
                <a:cs typeface="Arial"/>
              </a:rPr>
              <a:t>study </a:t>
            </a:r>
            <a:r>
              <a:rPr dirty="0" sz="1200">
                <a:latin typeface="Arial"/>
                <a:cs typeface="Arial"/>
              </a:rPr>
              <a:t>this </a:t>
            </a:r>
            <a:r>
              <a:rPr dirty="0" sz="1200" spc="-5">
                <a:latin typeface="Arial"/>
                <a:cs typeface="Arial"/>
              </a:rPr>
              <a:t>foreign tradition, became competent students of the </a:t>
            </a:r>
            <a:r>
              <a:rPr dirty="0" sz="1200">
                <a:latin typeface="Arial"/>
                <a:cs typeface="Arial"/>
              </a:rPr>
              <a:t>ancient  </a:t>
            </a:r>
            <a:r>
              <a:rPr dirty="0" sz="1200" spc="-5">
                <a:latin typeface="Arial"/>
                <a:cs typeface="Arial"/>
              </a:rPr>
              <a:t>philosophers and scientists, criticized and developed their doctrines, </a:t>
            </a:r>
            <a:r>
              <a:rPr dirty="0" sz="1200">
                <a:latin typeface="Arial"/>
                <a:cs typeface="Arial"/>
              </a:rPr>
              <a:t>clarified </a:t>
            </a:r>
            <a:r>
              <a:rPr dirty="0" sz="1200" spc="-5">
                <a:latin typeface="Arial"/>
                <a:cs typeface="Arial"/>
              </a:rPr>
              <a:t>their relevance  </a:t>
            </a:r>
            <a:r>
              <a:rPr dirty="0" sz="1200">
                <a:latin typeface="Arial"/>
                <a:cs typeface="Arial"/>
              </a:rPr>
              <a:t>for </a:t>
            </a:r>
            <a:r>
              <a:rPr dirty="0" sz="1200" spc="-5">
                <a:latin typeface="Arial"/>
                <a:cs typeface="Arial"/>
              </a:rPr>
              <a:t>the questions raised by the theologians, and showed what light </a:t>
            </a:r>
            <a:r>
              <a:rPr dirty="0" sz="1200">
                <a:latin typeface="Arial"/>
                <a:cs typeface="Arial"/>
              </a:rPr>
              <a:t>they threw </a:t>
            </a:r>
            <a:r>
              <a:rPr dirty="0" sz="1200" spc="-5">
                <a:latin typeface="Arial"/>
                <a:cs typeface="Arial"/>
              </a:rPr>
              <a:t>on the  fundamental </a:t>
            </a:r>
            <a:r>
              <a:rPr dirty="0" sz="1200">
                <a:latin typeface="Arial"/>
                <a:cs typeface="Arial"/>
              </a:rPr>
              <a:t>issues </a:t>
            </a:r>
            <a:r>
              <a:rPr dirty="0" sz="1200" spc="-5">
                <a:latin typeface="Arial"/>
                <a:cs typeface="Arial"/>
              </a:rPr>
              <a:t>of revelation, prophecy, and the divine</a:t>
            </a:r>
            <a:r>
              <a:rPr dirty="0" sz="1200" spc="10">
                <a:latin typeface="Arial"/>
                <a:cs typeface="Arial"/>
              </a:rPr>
              <a:t> </a:t>
            </a:r>
            <a:r>
              <a:rPr dirty="0" sz="1200" spc="-5">
                <a:latin typeface="Arial"/>
                <a:cs typeface="Arial"/>
              </a:rPr>
              <a:t>law.</a:t>
            </a:r>
            <a:endParaRPr sz="1200">
              <a:latin typeface="Arial"/>
              <a:cs typeface="Arial"/>
            </a:endParaRPr>
          </a:p>
          <a:p>
            <a:pPr>
              <a:lnSpc>
                <a:spcPct val="100000"/>
              </a:lnSpc>
              <a:spcBef>
                <a:spcPts val="55"/>
              </a:spcBef>
            </a:pPr>
            <a:endParaRPr sz="1350">
              <a:latin typeface="Arial"/>
              <a:cs typeface="Arial"/>
            </a:endParaRPr>
          </a:p>
          <a:p>
            <a:pPr marL="12700">
              <a:lnSpc>
                <a:spcPct val="100000"/>
              </a:lnSpc>
            </a:pPr>
            <a:r>
              <a:rPr dirty="0" u="heavy" sz="1200" spc="-5" b="1" i="1">
                <a:uFill>
                  <a:solidFill>
                    <a:srgbClr val="000000"/>
                  </a:solidFill>
                </a:uFill>
                <a:latin typeface="Arial"/>
                <a:cs typeface="Arial"/>
              </a:rPr>
              <a:t>The teachings </a:t>
            </a:r>
            <a:r>
              <a:rPr dirty="0" u="heavy" sz="1200" b="1" i="1">
                <a:uFill>
                  <a:solidFill>
                    <a:srgbClr val="000000"/>
                  </a:solidFill>
                </a:uFill>
                <a:latin typeface="Arial"/>
                <a:cs typeface="Arial"/>
              </a:rPr>
              <a:t>of</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al-Kindi.</a:t>
            </a:r>
            <a:endParaRPr sz="1200">
              <a:latin typeface="Arial"/>
              <a:cs typeface="Arial"/>
            </a:endParaRPr>
          </a:p>
          <a:p>
            <a:pPr algn="just" marL="12700" marR="8255">
              <a:lnSpc>
                <a:spcPct val="95700"/>
              </a:lnSpc>
              <a:spcBef>
                <a:spcPts val="805"/>
              </a:spcBef>
            </a:pPr>
            <a:r>
              <a:rPr dirty="0" sz="1200" spc="-5">
                <a:latin typeface="Arial"/>
                <a:cs typeface="Arial"/>
              </a:rPr>
              <a:t>Although </a:t>
            </a:r>
            <a:r>
              <a:rPr dirty="0" sz="1200">
                <a:latin typeface="Arial"/>
                <a:cs typeface="Arial"/>
              </a:rPr>
              <a:t>the first </a:t>
            </a:r>
            <a:r>
              <a:rPr dirty="0" sz="1200" spc="-10">
                <a:latin typeface="Arial"/>
                <a:cs typeface="Arial"/>
              </a:rPr>
              <a:t>Muslim </a:t>
            </a:r>
            <a:r>
              <a:rPr dirty="0" sz="1200" spc="-5">
                <a:latin typeface="Arial"/>
                <a:cs typeface="Arial"/>
              </a:rPr>
              <a:t>philosopher, </a:t>
            </a:r>
            <a:r>
              <a:rPr dirty="0" sz="1200" spc="5">
                <a:latin typeface="Arial"/>
                <a:cs typeface="Arial"/>
              </a:rPr>
              <a:t>al- </a:t>
            </a:r>
            <a:r>
              <a:rPr dirty="0" sz="1200" spc="-5">
                <a:latin typeface="Arial"/>
                <a:cs typeface="Arial"/>
              </a:rPr>
              <a:t>Kindi, </a:t>
            </a:r>
            <a:r>
              <a:rPr dirty="0" sz="1200" spc="-10">
                <a:latin typeface="Arial"/>
                <a:cs typeface="Arial"/>
              </a:rPr>
              <a:t>who </a:t>
            </a:r>
            <a:r>
              <a:rPr dirty="0" sz="1200" spc="-5">
                <a:latin typeface="Arial"/>
                <a:cs typeface="Arial"/>
              </a:rPr>
              <a:t>flourished in </a:t>
            </a:r>
            <a:r>
              <a:rPr dirty="0" sz="1200">
                <a:latin typeface="Arial"/>
                <a:cs typeface="Arial"/>
              </a:rPr>
              <a:t>the first </a:t>
            </a:r>
            <a:r>
              <a:rPr dirty="0" sz="1200" spc="-5">
                <a:latin typeface="Arial"/>
                <a:cs typeface="Arial"/>
              </a:rPr>
              <a:t>half of the 9th  century, lived during </a:t>
            </a:r>
            <a:r>
              <a:rPr dirty="0" sz="1200">
                <a:latin typeface="Arial"/>
                <a:cs typeface="Arial"/>
              </a:rPr>
              <a:t>the </a:t>
            </a:r>
            <a:r>
              <a:rPr dirty="0" sz="1200" spc="-5">
                <a:latin typeface="Arial"/>
                <a:cs typeface="Arial"/>
              </a:rPr>
              <a:t>triumph of the Mu'tazilah </a:t>
            </a:r>
            <a:r>
              <a:rPr dirty="0" sz="1200">
                <a:latin typeface="Arial"/>
                <a:cs typeface="Arial"/>
              </a:rPr>
              <a:t>of </a:t>
            </a:r>
            <a:r>
              <a:rPr dirty="0" sz="1200" spc="-5">
                <a:latin typeface="Arial"/>
                <a:cs typeface="Arial"/>
              </a:rPr>
              <a:t>Baghdad and </a:t>
            </a:r>
            <a:r>
              <a:rPr dirty="0" sz="1200" spc="-10">
                <a:latin typeface="Arial"/>
                <a:cs typeface="Arial"/>
              </a:rPr>
              <a:t>was </a:t>
            </a:r>
            <a:r>
              <a:rPr dirty="0" sz="1200" spc="-5">
                <a:latin typeface="Arial"/>
                <a:cs typeface="Arial"/>
              </a:rPr>
              <a:t>connected with the  'Abb</a:t>
            </a:r>
            <a:r>
              <a:rPr dirty="0" u="sng" sz="1200" spc="-5">
                <a:uFill>
                  <a:solidFill>
                    <a:srgbClr val="000000"/>
                  </a:solidFill>
                </a:uFill>
                <a:latin typeface="Arial"/>
                <a:cs typeface="Arial"/>
              </a:rPr>
              <a:t>a</a:t>
            </a:r>
            <a:r>
              <a:rPr dirty="0" sz="1200" spc="-5">
                <a:latin typeface="Arial"/>
                <a:cs typeface="Arial"/>
              </a:rPr>
              <a:t>sid caliphs </a:t>
            </a:r>
            <a:r>
              <a:rPr dirty="0" sz="1200" spc="-10">
                <a:latin typeface="Arial"/>
                <a:cs typeface="Arial"/>
              </a:rPr>
              <a:t>who </a:t>
            </a:r>
            <a:r>
              <a:rPr dirty="0" sz="1200" spc="-5">
                <a:latin typeface="Arial"/>
                <a:cs typeface="Arial"/>
              </a:rPr>
              <a:t>championed the Mu'tazilah </a:t>
            </a:r>
            <a:r>
              <a:rPr dirty="0" sz="1200" spc="10">
                <a:latin typeface="Arial"/>
                <a:cs typeface="Arial"/>
              </a:rPr>
              <a:t>and </a:t>
            </a:r>
            <a:r>
              <a:rPr dirty="0" sz="1200" spc="-5">
                <a:latin typeface="Arial"/>
                <a:cs typeface="Arial"/>
              </a:rPr>
              <a:t>patronized </a:t>
            </a:r>
            <a:r>
              <a:rPr dirty="0" sz="1200">
                <a:latin typeface="Arial"/>
                <a:cs typeface="Arial"/>
              </a:rPr>
              <a:t>the Hellenistic </a:t>
            </a:r>
            <a:r>
              <a:rPr dirty="0" sz="1200" spc="-5">
                <a:latin typeface="Arial"/>
                <a:cs typeface="Arial"/>
              </a:rPr>
              <a:t>sciences,  </a:t>
            </a:r>
            <a:r>
              <a:rPr dirty="0" sz="1200">
                <a:latin typeface="Arial"/>
                <a:cs typeface="Arial"/>
              </a:rPr>
              <a:t>there </a:t>
            </a:r>
            <a:r>
              <a:rPr dirty="0" sz="1200" spc="-5">
                <a:latin typeface="Arial"/>
                <a:cs typeface="Arial"/>
              </a:rPr>
              <a:t>is </a:t>
            </a:r>
            <a:r>
              <a:rPr dirty="0" sz="1200" spc="-10">
                <a:latin typeface="Arial"/>
                <a:cs typeface="Arial"/>
              </a:rPr>
              <a:t>no </a:t>
            </a:r>
            <a:r>
              <a:rPr dirty="0" sz="1200">
                <a:latin typeface="Arial"/>
                <a:cs typeface="Arial"/>
              </a:rPr>
              <a:t>clear </a:t>
            </a:r>
            <a:r>
              <a:rPr dirty="0" sz="1200" spc="-5">
                <a:latin typeface="Arial"/>
                <a:cs typeface="Arial"/>
              </a:rPr>
              <a:t>evidence that he belonged to a theological school. His writings </a:t>
            </a:r>
            <a:r>
              <a:rPr dirty="0" sz="1200">
                <a:latin typeface="Arial"/>
                <a:cs typeface="Arial"/>
              </a:rPr>
              <a:t>show </a:t>
            </a:r>
            <a:r>
              <a:rPr dirty="0" sz="1200" spc="-5">
                <a:latin typeface="Arial"/>
                <a:cs typeface="Arial"/>
              </a:rPr>
              <a:t>him to  have been a diligent student of Greek and Hellenistic authors </a:t>
            </a:r>
            <a:r>
              <a:rPr dirty="0" sz="1200" spc="-10">
                <a:latin typeface="Arial"/>
                <a:cs typeface="Arial"/>
              </a:rPr>
              <a:t>in </a:t>
            </a:r>
            <a:r>
              <a:rPr dirty="0" sz="1200" spc="-5">
                <a:latin typeface="Arial"/>
                <a:cs typeface="Arial"/>
              </a:rPr>
              <a:t>philosophy and point to his  familiarity with Indian </a:t>
            </a:r>
            <a:r>
              <a:rPr dirty="0" sz="1200">
                <a:latin typeface="Arial"/>
                <a:cs typeface="Arial"/>
              </a:rPr>
              <a:t>arithmetic. </a:t>
            </a:r>
            <a:r>
              <a:rPr dirty="0" sz="1200" spc="-5">
                <a:latin typeface="Arial"/>
                <a:cs typeface="Arial"/>
              </a:rPr>
              <a:t>His conscious, open, and unashamed acknowledgment of  earlier contributions </a:t>
            </a:r>
            <a:r>
              <a:rPr dirty="0" sz="1200">
                <a:latin typeface="Arial"/>
                <a:cs typeface="Arial"/>
              </a:rPr>
              <a:t>to </a:t>
            </a:r>
            <a:r>
              <a:rPr dirty="0" sz="1200" spc="-5">
                <a:latin typeface="Arial"/>
                <a:cs typeface="Arial"/>
              </a:rPr>
              <a:t>scientific inquiry </a:t>
            </a:r>
            <a:r>
              <a:rPr dirty="0" sz="1200" spc="-10">
                <a:latin typeface="Arial"/>
                <a:cs typeface="Arial"/>
              </a:rPr>
              <a:t>was </a:t>
            </a:r>
            <a:r>
              <a:rPr dirty="0" sz="1200" spc="-5">
                <a:latin typeface="Arial"/>
                <a:cs typeface="Arial"/>
              </a:rPr>
              <a:t>foreign </a:t>
            </a:r>
            <a:r>
              <a:rPr dirty="0" sz="1200">
                <a:latin typeface="Arial"/>
                <a:cs typeface="Arial"/>
              </a:rPr>
              <a:t>to </a:t>
            </a:r>
            <a:r>
              <a:rPr dirty="0" sz="1200" spc="-5">
                <a:latin typeface="Arial"/>
                <a:cs typeface="Arial"/>
              </a:rPr>
              <a:t>the spirit, method, and purpose of the  theologians of the time. His acquaintance with </a:t>
            </a:r>
            <a:r>
              <a:rPr dirty="0" sz="1200">
                <a:latin typeface="Arial"/>
                <a:cs typeface="Arial"/>
              </a:rPr>
              <a:t>the </a:t>
            </a:r>
            <a:r>
              <a:rPr dirty="0" sz="1200" spc="-5">
                <a:latin typeface="Arial"/>
                <a:cs typeface="Arial"/>
              </a:rPr>
              <a:t>writings </a:t>
            </a:r>
            <a:r>
              <a:rPr dirty="0" sz="1200">
                <a:latin typeface="Arial"/>
                <a:cs typeface="Arial"/>
              </a:rPr>
              <a:t>of </a:t>
            </a:r>
            <a:r>
              <a:rPr dirty="0" sz="1200" spc="-5">
                <a:latin typeface="Arial"/>
                <a:cs typeface="Arial"/>
              </a:rPr>
              <a:t>Plato and Aristotle </a:t>
            </a:r>
            <a:r>
              <a:rPr dirty="0" sz="1200" spc="-10">
                <a:latin typeface="Arial"/>
                <a:cs typeface="Arial"/>
              </a:rPr>
              <a:t>was </a:t>
            </a:r>
            <a:r>
              <a:rPr dirty="0" sz="1200" spc="-5">
                <a:latin typeface="Arial"/>
                <a:cs typeface="Arial"/>
              </a:rPr>
              <a:t>still  </a:t>
            </a:r>
            <a:r>
              <a:rPr dirty="0" sz="1200">
                <a:latin typeface="Arial"/>
                <a:cs typeface="Arial"/>
              </a:rPr>
              <a:t>incomplete </a:t>
            </a:r>
            <a:r>
              <a:rPr dirty="0" sz="1200" spc="-5">
                <a:latin typeface="Arial"/>
                <a:cs typeface="Arial"/>
              </a:rPr>
              <a:t>and technically inadequate. He improved </a:t>
            </a:r>
            <a:r>
              <a:rPr dirty="0" sz="1200">
                <a:latin typeface="Arial"/>
                <a:cs typeface="Arial"/>
              </a:rPr>
              <a:t>the </a:t>
            </a:r>
            <a:r>
              <a:rPr dirty="0" sz="1200" spc="-5">
                <a:latin typeface="Arial"/>
                <a:cs typeface="Arial"/>
              </a:rPr>
              <a:t>Arabic translation of the "Theology  of Aristotle" but made only a selective and circumspect use of</a:t>
            </a:r>
            <a:r>
              <a:rPr dirty="0" sz="1200" spc="20">
                <a:latin typeface="Arial"/>
                <a:cs typeface="Arial"/>
              </a:rPr>
              <a:t> </a:t>
            </a:r>
            <a:r>
              <a:rPr dirty="0" sz="1200">
                <a:latin typeface="Arial"/>
                <a:cs typeface="Arial"/>
              </a:rPr>
              <a:t>it.</a:t>
            </a:r>
            <a:endParaRPr sz="1200">
              <a:latin typeface="Arial"/>
              <a:cs typeface="Arial"/>
            </a:endParaRPr>
          </a:p>
          <a:p>
            <a:pPr algn="just" marL="12700" marR="5080">
              <a:lnSpc>
                <a:spcPct val="95800"/>
              </a:lnSpc>
              <a:spcBef>
                <a:spcPts val="1015"/>
              </a:spcBef>
            </a:pPr>
            <a:r>
              <a:rPr dirty="0" sz="1200" spc="-5">
                <a:latin typeface="Arial"/>
                <a:cs typeface="Arial"/>
              </a:rPr>
              <a:t>Devoting </a:t>
            </a:r>
            <a:r>
              <a:rPr dirty="0" sz="1200">
                <a:latin typeface="Arial"/>
                <a:cs typeface="Arial"/>
              </a:rPr>
              <a:t>most </a:t>
            </a:r>
            <a:r>
              <a:rPr dirty="0" sz="1200" spc="-5">
                <a:latin typeface="Arial"/>
                <a:cs typeface="Arial"/>
              </a:rPr>
              <a:t>of his writings </a:t>
            </a:r>
            <a:r>
              <a:rPr dirty="0" sz="1200">
                <a:latin typeface="Arial"/>
                <a:cs typeface="Arial"/>
              </a:rPr>
              <a:t>to </a:t>
            </a:r>
            <a:r>
              <a:rPr dirty="0" sz="1200" spc="-5">
                <a:latin typeface="Arial"/>
                <a:cs typeface="Arial"/>
              </a:rPr>
              <a:t>questions of natural philosophy and mathematics, </a:t>
            </a:r>
            <a:r>
              <a:rPr dirty="0" sz="1200" spc="5">
                <a:latin typeface="Arial"/>
                <a:cs typeface="Arial"/>
              </a:rPr>
              <a:t>al-Kindi  </a:t>
            </a:r>
            <a:r>
              <a:rPr dirty="0" sz="1200" spc="-10">
                <a:latin typeface="Arial"/>
                <a:cs typeface="Arial"/>
              </a:rPr>
              <a:t>was </a:t>
            </a:r>
            <a:r>
              <a:rPr dirty="0" sz="1200" spc="-5">
                <a:latin typeface="Arial"/>
                <a:cs typeface="Arial"/>
              </a:rPr>
              <a:t>particularly concerned with the relation between corporeal things, which are changeable,  in constant </a:t>
            </a:r>
            <a:r>
              <a:rPr dirty="0" sz="1200">
                <a:latin typeface="Arial"/>
                <a:cs typeface="Arial"/>
              </a:rPr>
              <a:t>flux, </a:t>
            </a:r>
            <a:r>
              <a:rPr dirty="0" sz="1200" spc="-5">
                <a:latin typeface="Arial"/>
                <a:cs typeface="Arial"/>
              </a:rPr>
              <a:t>infinite, and as such unknowable, </a:t>
            </a:r>
            <a:r>
              <a:rPr dirty="0" sz="1200">
                <a:latin typeface="Arial"/>
                <a:cs typeface="Arial"/>
              </a:rPr>
              <a:t>on </a:t>
            </a:r>
            <a:r>
              <a:rPr dirty="0" sz="1200" spc="-5">
                <a:latin typeface="Arial"/>
                <a:cs typeface="Arial"/>
              </a:rPr>
              <a:t>the one hand, and the permanent </a:t>
            </a:r>
            <a:r>
              <a:rPr dirty="0" sz="1200" spc="-10">
                <a:latin typeface="Arial"/>
                <a:cs typeface="Arial"/>
              </a:rPr>
              <a:t>world  </a:t>
            </a:r>
            <a:r>
              <a:rPr dirty="0" sz="1200" spc="-5">
                <a:latin typeface="Arial"/>
                <a:cs typeface="Arial"/>
              </a:rPr>
              <a:t>of </a:t>
            </a:r>
            <a:r>
              <a:rPr dirty="0" sz="1200">
                <a:latin typeface="Arial"/>
                <a:cs typeface="Arial"/>
              </a:rPr>
              <a:t>forms </a:t>
            </a:r>
            <a:r>
              <a:rPr dirty="0" sz="1200" spc="-5">
                <a:latin typeface="Arial"/>
                <a:cs typeface="Arial"/>
              </a:rPr>
              <a:t>(spiritual or secondary substances), which are not subject </a:t>
            </a:r>
            <a:r>
              <a:rPr dirty="0" sz="1200">
                <a:latin typeface="Arial"/>
                <a:cs typeface="Arial"/>
              </a:rPr>
              <a:t>to flux </a:t>
            </a:r>
            <a:r>
              <a:rPr dirty="0" sz="1200" spc="-5">
                <a:latin typeface="Arial"/>
                <a:cs typeface="Arial"/>
              </a:rPr>
              <a:t>yet </a:t>
            </a:r>
            <a:r>
              <a:rPr dirty="0" sz="1200">
                <a:latin typeface="Arial"/>
                <a:cs typeface="Arial"/>
              </a:rPr>
              <a:t>to </a:t>
            </a:r>
            <a:r>
              <a:rPr dirty="0" sz="1200" spc="-5">
                <a:latin typeface="Arial"/>
                <a:cs typeface="Arial"/>
              </a:rPr>
              <a:t>which man  has no access except through things </a:t>
            </a:r>
            <a:r>
              <a:rPr dirty="0" sz="1200">
                <a:latin typeface="Arial"/>
                <a:cs typeface="Arial"/>
              </a:rPr>
              <a:t>of </a:t>
            </a:r>
            <a:r>
              <a:rPr dirty="0" sz="1200" spc="-5">
                <a:latin typeface="Arial"/>
                <a:cs typeface="Arial"/>
              </a:rPr>
              <a:t>the senses. He </a:t>
            </a:r>
            <a:r>
              <a:rPr dirty="0" sz="1200">
                <a:latin typeface="Arial"/>
                <a:cs typeface="Arial"/>
              </a:rPr>
              <a:t>insisted that </a:t>
            </a:r>
            <a:r>
              <a:rPr dirty="0" sz="1200" spc="-5">
                <a:latin typeface="Arial"/>
                <a:cs typeface="Arial"/>
              </a:rPr>
              <a:t>a purely human  knowledge </a:t>
            </a:r>
            <a:r>
              <a:rPr dirty="0" sz="1200">
                <a:latin typeface="Arial"/>
                <a:cs typeface="Arial"/>
              </a:rPr>
              <a:t>of </a:t>
            </a:r>
            <a:r>
              <a:rPr dirty="0" sz="1200" spc="-5">
                <a:latin typeface="Arial"/>
                <a:cs typeface="Arial"/>
              </a:rPr>
              <a:t>all things is possible, through </a:t>
            </a:r>
            <a:r>
              <a:rPr dirty="0" sz="1200">
                <a:latin typeface="Arial"/>
                <a:cs typeface="Arial"/>
              </a:rPr>
              <a:t>the </a:t>
            </a:r>
            <a:r>
              <a:rPr dirty="0" sz="1200" spc="-5">
                <a:latin typeface="Arial"/>
                <a:cs typeface="Arial"/>
              </a:rPr>
              <a:t>use of various scientific devices, learning  such things as mathematics and logic, and assimilating the </a:t>
            </a:r>
            <a:r>
              <a:rPr dirty="0" sz="1200">
                <a:latin typeface="Arial"/>
                <a:cs typeface="Arial"/>
              </a:rPr>
              <a:t>contributions </a:t>
            </a:r>
            <a:r>
              <a:rPr dirty="0" sz="1200" spc="-5">
                <a:latin typeface="Arial"/>
                <a:cs typeface="Arial"/>
              </a:rPr>
              <a:t>of earlier thinkers.  The existence of a "supernatural" </a:t>
            </a:r>
            <a:r>
              <a:rPr dirty="0" sz="1200" spc="-10">
                <a:latin typeface="Arial"/>
                <a:cs typeface="Arial"/>
              </a:rPr>
              <a:t>way </a:t>
            </a:r>
            <a:r>
              <a:rPr dirty="0" sz="1200">
                <a:latin typeface="Arial"/>
                <a:cs typeface="Arial"/>
              </a:rPr>
              <a:t>to this </a:t>
            </a:r>
            <a:r>
              <a:rPr dirty="0" sz="1200" spc="-5">
                <a:latin typeface="Arial"/>
                <a:cs typeface="Arial"/>
              </a:rPr>
              <a:t>knowledge in which all </a:t>
            </a:r>
            <a:r>
              <a:rPr dirty="0" sz="1200">
                <a:latin typeface="Arial"/>
                <a:cs typeface="Arial"/>
              </a:rPr>
              <a:t>these </a:t>
            </a:r>
            <a:r>
              <a:rPr dirty="0" sz="1200" spc="-5">
                <a:latin typeface="Arial"/>
                <a:cs typeface="Arial"/>
              </a:rPr>
              <a:t>requirements </a:t>
            </a:r>
            <a:r>
              <a:rPr dirty="0" sz="1200" spc="-10">
                <a:latin typeface="Arial"/>
                <a:cs typeface="Arial"/>
              </a:rPr>
              <a:t>can  </a:t>
            </a:r>
            <a:r>
              <a:rPr dirty="0" sz="1200" spc="-5">
                <a:latin typeface="Arial"/>
                <a:cs typeface="Arial"/>
              </a:rPr>
              <a:t>be dispensed with was acknowledged by </a:t>
            </a:r>
            <a:r>
              <a:rPr dirty="0" sz="1200">
                <a:latin typeface="Arial"/>
                <a:cs typeface="Arial"/>
              </a:rPr>
              <a:t>al-Kindi: </a:t>
            </a:r>
            <a:r>
              <a:rPr dirty="0" sz="1200" spc="-5">
                <a:latin typeface="Arial"/>
                <a:cs typeface="Arial"/>
              </a:rPr>
              <a:t>God may choose to impart </a:t>
            </a:r>
            <a:r>
              <a:rPr dirty="0" sz="1200">
                <a:latin typeface="Arial"/>
                <a:cs typeface="Arial"/>
              </a:rPr>
              <a:t>it to </a:t>
            </a:r>
            <a:r>
              <a:rPr dirty="0" sz="1200" spc="-5">
                <a:latin typeface="Arial"/>
                <a:cs typeface="Arial"/>
              </a:rPr>
              <a:t>his  prophets by </a:t>
            </a:r>
            <a:r>
              <a:rPr dirty="0" sz="1200">
                <a:latin typeface="Arial"/>
                <a:cs typeface="Arial"/>
              </a:rPr>
              <a:t>cleansing </a:t>
            </a:r>
            <a:r>
              <a:rPr dirty="0" sz="1200" spc="-5">
                <a:latin typeface="Arial"/>
                <a:cs typeface="Arial"/>
              </a:rPr>
              <a:t>and illuminating </a:t>
            </a:r>
            <a:r>
              <a:rPr dirty="0" sz="1200">
                <a:latin typeface="Arial"/>
                <a:cs typeface="Arial"/>
              </a:rPr>
              <a:t>their </a:t>
            </a:r>
            <a:r>
              <a:rPr dirty="0" sz="1200" spc="-5">
                <a:latin typeface="Arial"/>
                <a:cs typeface="Arial"/>
              </a:rPr>
              <a:t>souls and </a:t>
            </a:r>
            <a:r>
              <a:rPr dirty="0" sz="1200" spc="15">
                <a:latin typeface="Arial"/>
                <a:cs typeface="Arial"/>
              </a:rPr>
              <a:t>by </a:t>
            </a:r>
            <a:r>
              <a:rPr dirty="0" sz="1200" spc="-5">
                <a:latin typeface="Arial"/>
                <a:cs typeface="Arial"/>
              </a:rPr>
              <a:t>giving </a:t>
            </a:r>
            <a:r>
              <a:rPr dirty="0" sz="1200">
                <a:latin typeface="Arial"/>
                <a:cs typeface="Arial"/>
              </a:rPr>
              <a:t>them </a:t>
            </a:r>
            <a:r>
              <a:rPr dirty="0" sz="1200" spc="-5">
                <a:latin typeface="Arial"/>
                <a:cs typeface="Arial"/>
              </a:rPr>
              <a:t>his aid, right guidance,  and inspiration; and they, in </a:t>
            </a:r>
            <a:r>
              <a:rPr dirty="0" sz="1200">
                <a:latin typeface="Arial"/>
                <a:cs typeface="Arial"/>
              </a:rPr>
              <a:t>turn, </a:t>
            </a:r>
            <a:r>
              <a:rPr dirty="0" sz="1200" spc="-5">
                <a:latin typeface="Arial"/>
                <a:cs typeface="Arial"/>
              </a:rPr>
              <a:t>communicate </a:t>
            </a:r>
            <a:r>
              <a:rPr dirty="0" sz="1200">
                <a:latin typeface="Arial"/>
                <a:cs typeface="Arial"/>
              </a:rPr>
              <a:t>it to </a:t>
            </a:r>
            <a:r>
              <a:rPr dirty="0" sz="1200" spc="-5">
                <a:latin typeface="Arial"/>
                <a:cs typeface="Arial"/>
              </a:rPr>
              <a:t>ordinary men in an admirably </a:t>
            </a:r>
            <a:r>
              <a:rPr dirty="0" sz="1200">
                <a:latin typeface="Arial"/>
                <a:cs typeface="Arial"/>
              </a:rPr>
              <a:t>clear,  </a:t>
            </a:r>
            <a:r>
              <a:rPr dirty="0" sz="1200" spc="-5">
                <a:latin typeface="Arial"/>
                <a:cs typeface="Arial"/>
              </a:rPr>
              <a:t>concise, and comprehensible style. </a:t>
            </a:r>
            <a:r>
              <a:rPr dirty="0" sz="1200">
                <a:latin typeface="Arial"/>
                <a:cs typeface="Arial"/>
              </a:rPr>
              <a:t>This </a:t>
            </a:r>
            <a:r>
              <a:rPr dirty="0" sz="1200" spc="-5">
                <a:latin typeface="Arial"/>
                <a:cs typeface="Arial"/>
              </a:rPr>
              <a:t>is </a:t>
            </a:r>
            <a:r>
              <a:rPr dirty="0" sz="1200">
                <a:latin typeface="Arial"/>
                <a:cs typeface="Arial"/>
              </a:rPr>
              <a:t>the </a:t>
            </a:r>
            <a:r>
              <a:rPr dirty="0" sz="1200" spc="-5">
                <a:latin typeface="Arial"/>
                <a:cs typeface="Arial"/>
              </a:rPr>
              <a:t>prophets' "divine" knowledge, characterized  by</a:t>
            </a:r>
            <a:r>
              <a:rPr dirty="0" sz="1200" spc="135">
                <a:latin typeface="Arial"/>
                <a:cs typeface="Arial"/>
              </a:rPr>
              <a:t> </a:t>
            </a:r>
            <a:r>
              <a:rPr dirty="0" sz="1200" spc="-5">
                <a:latin typeface="Arial"/>
                <a:cs typeface="Arial"/>
              </a:rPr>
              <a:t>a</a:t>
            </a:r>
            <a:r>
              <a:rPr dirty="0" sz="1200" spc="150">
                <a:latin typeface="Arial"/>
                <a:cs typeface="Arial"/>
              </a:rPr>
              <a:t> </a:t>
            </a:r>
            <a:r>
              <a:rPr dirty="0" sz="1200" spc="-5">
                <a:latin typeface="Arial"/>
                <a:cs typeface="Arial"/>
              </a:rPr>
              <a:t>special</a:t>
            </a:r>
            <a:r>
              <a:rPr dirty="0" sz="1200" spc="145">
                <a:latin typeface="Arial"/>
                <a:cs typeface="Arial"/>
              </a:rPr>
              <a:t> </a:t>
            </a:r>
            <a:r>
              <a:rPr dirty="0" sz="1200" spc="-5">
                <a:latin typeface="Arial"/>
                <a:cs typeface="Arial"/>
              </a:rPr>
              <a:t>mode</a:t>
            </a:r>
            <a:r>
              <a:rPr dirty="0" sz="1200" spc="150">
                <a:latin typeface="Arial"/>
                <a:cs typeface="Arial"/>
              </a:rPr>
              <a:t> </a:t>
            </a:r>
            <a:r>
              <a:rPr dirty="0" sz="1200" spc="-5">
                <a:latin typeface="Arial"/>
                <a:cs typeface="Arial"/>
              </a:rPr>
              <a:t>of</a:t>
            </a:r>
            <a:r>
              <a:rPr dirty="0" sz="1200" spc="140">
                <a:latin typeface="Arial"/>
                <a:cs typeface="Arial"/>
              </a:rPr>
              <a:t> </a:t>
            </a:r>
            <a:r>
              <a:rPr dirty="0" sz="1200" spc="-5">
                <a:latin typeface="Arial"/>
                <a:cs typeface="Arial"/>
              </a:rPr>
              <a:t>access</a:t>
            </a:r>
            <a:r>
              <a:rPr dirty="0" sz="1200" spc="135">
                <a:latin typeface="Arial"/>
                <a:cs typeface="Arial"/>
              </a:rPr>
              <a:t> </a:t>
            </a:r>
            <a:r>
              <a:rPr dirty="0" sz="1200" spc="-5">
                <a:latin typeface="Arial"/>
                <a:cs typeface="Arial"/>
              </a:rPr>
              <a:t>and</a:t>
            </a:r>
            <a:r>
              <a:rPr dirty="0" sz="1200" spc="140">
                <a:latin typeface="Arial"/>
                <a:cs typeface="Arial"/>
              </a:rPr>
              <a:t> </a:t>
            </a:r>
            <a:r>
              <a:rPr dirty="0" sz="1200">
                <a:latin typeface="Arial"/>
                <a:cs typeface="Arial"/>
              </a:rPr>
              <a:t>style</a:t>
            </a:r>
            <a:r>
              <a:rPr dirty="0" sz="1200" spc="150">
                <a:latin typeface="Arial"/>
                <a:cs typeface="Arial"/>
              </a:rPr>
              <a:t> </a:t>
            </a:r>
            <a:r>
              <a:rPr dirty="0" sz="1200" spc="-5">
                <a:latin typeface="Arial"/>
                <a:cs typeface="Arial"/>
              </a:rPr>
              <a:t>of</a:t>
            </a:r>
            <a:r>
              <a:rPr dirty="0" sz="1200" spc="150">
                <a:latin typeface="Arial"/>
                <a:cs typeface="Arial"/>
              </a:rPr>
              <a:t> </a:t>
            </a:r>
            <a:r>
              <a:rPr dirty="0" sz="1200" spc="-5">
                <a:latin typeface="Arial"/>
                <a:cs typeface="Arial"/>
              </a:rPr>
              <a:t>exposition.</a:t>
            </a:r>
            <a:r>
              <a:rPr dirty="0" sz="1200" spc="150">
                <a:latin typeface="Arial"/>
                <a:cs typeface="Arial"/>
              </a:rPr>
              <a:t> </a:t>
            </a:r>
            <a:r>
              <a:rPr dirty="0" sz="1200" spc="-5">
                <a:latin typeface="Arial"/>
                <a:cs typeface="Arial"/>
              </a:rPr>
              <a:t>In</a:t>
            </a:r>
            <a:r>
              <a:rPr dirty="0" sz="1200" spc="150">
                <a:latin typeface="Arial"/>
                <a:cs typeface="Arial"/>
              </a:rPr>
              <a:t> </a:t>
            </a:r>
            <a:r>
              <a:rPr dirty="0" sz="1200" spc="-5">
                <a:latin typeface="Arial"/>
                <a:cs typeface="Arial"/>
              </a:rPr>
              <a:t>principle,</a:t>
            </a:r>
            <a:r>
              <a:rPr dirty="0" sz="1200" spc="140">
                <a:latin typeface="Arial"/>
                <a:cs typeface="Arial"/>
              </a:rPr>
              <a:t> </a:t>
            </a:r>
            <a:r>
              <a:rPr dirty="0" sz="1200" spc="-5">
                <a:latin typeface="Arial"/>
                <a:cs typeface="Arial"/>
              </a:rPr>
              <a:t>however,</a:t>
            </a:r>
            <a:r>
              <a:rPr dirty="0" sz="1200" spc="145">
                <a:latin typeface="Arial"/>
                <a:cs typeface="Arial"/>
              </a:rPr>
              <a:t> </a:t>
            </a:r>
            <a:r>
              <a:rPr dirty="0" sz="1200">
                <a:latin typeface="Arial"/>
                <a:cs typeface="Arial"/>
              </a:rPr>
              <a:t>this</a:t>
            </a:r>
            <a:r>
              <a:rPr dirty="0" sz="1200" spc="145">
                <a:latin typeface="Arial"/>
                <a:cs typeface="Arial"/>
              </a:rPr>
              <a:t> </a:t>
            </a:r>
            <a:r>
              <a:rPr dirty="0" sz="1200" spc="-5">
                <a:latin typeface="Arial"/>
                <a:cs typeface="Arial"/>
              </a:rPr>
              <a:t>very</a:t>
            </a:r>
            <a:r>
              <a:rPr dirty="0" sz="1200" spc="130">
                <a:latin typeface="Arial"/>
                <a:cs typeface="Arial"/>
              </a:rPr>
              <a:t> </a:t>
            </a:r>
            <a:r>
              <a:rPr dirty="0" sz="1200">
                <a:latin typeface="Arial"/>
                <a:cs typeface="Arial"/>
              </a:rPr>
              <a:t>same</a:t>
            </a:r>
            <a:endParaRPr sz="1200">
              <a:latin typeface="Arial"/>
              <a:cs typeface="Arial"/>
            </a:endParaRPr>
          </a:p>
        </p:txBody>
      </p:sp>
      <p:sp>
        <p:nvSpPr>
          <p:cNvPr id="8" name="object 8"/>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9" name="object 9"/>
          <p:cNvSpPr txBox="1"/>
          <p:nvPr/>
        </p:nvSpPr>
        <p:spPr>
          <a:xfrm>
            <a:off x="3173095" y="9905322"/>
            <a:ext cx="603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155</a:t>
            </a:r>
            <a:endParaRPr sz="1200">
              <a:latin typeface="Times New Roman"/>
              <a:cs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3" name="object 3"/>
          <p:cNvSpPr/>
          <p:nvPr/>
        </p:nvSpPr>
        <p:spPr>
          <a:xfrm>
            <a:off x="5229733" y="1809241"/>
            <a:ext cx="33655" cy="10795"/>
          </a:xfrm>
          <a:custGeom>
            <a:avLst/>
            <a:gdLst/>
            <a:ahLst/>
            <a:cxnLst/>
            <a:rect l="l" t="t" r="r" b="b"/>
            <a:pathLst>
              <a:path w="33654" h="10794">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4" name="object 4"/>
          <p:cNvSpPr/>
          <p:nvPr/>
        </p:nvSpPr>
        <p:spPr>
          <a:xfrm>
            <a:off x="1993645" y="2159761"/>
            <a:ext cx="33655" cy="10795"/>
          </a:xfrm>
          <a:custGeom>
            <a:avLst/>
            <a:gdLst/>
            <a:ahLst/>
            <a:cxnLst/>
            <a:rect l="l" t="t" r="r" b="b"/>
            <a:pathLst>
              <a:path w="33655" h="10794">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5" name="object 5"/>
          <p:cNvSpPr/>
          <p:nvPr/>
        </p:nvSpPr>
        <p:spPr>
          <a:xfrm>
            <a:off x="5305933" y="3353434"/>
            <a:ext cx="33655" cy="10795"/>
          </a:xfrm>
          <a:custGeom>
            <a:avLst/>
            <a:gdLst/>
            <a:ahLst/>
            <a:cxnLst/>
            <a:rect l="l" t="t" r="r" b="b"/>
            <a:pathLst>
              <a:path w="33654" h="10795">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6" name="object 6"/>
          <p:cNvSpPr/>
          <p:nvPr/>
        </p:nvSpPr>
        <p:spPr>
          <a:xfrm>
            <a:off x="1726945" y="5106034"/>
            <a:ext cx="33655" cy="10795"/>
          </a:xfrm>
          <a:custGeom>
            <a:avLst/>
            <a:gdLst/>
            <a:ahLst/>
            <a:cxnLst/>
            <a:rect l="l" t="t" r="r" b="b"/>
            <a:pathLst>
              <a:path w="33655" h="10795">
                <a:moveTo>
                  <a:pt x="33527" y="0"/>
                </a:moveTo>
                <a:lnTo>
                  <a:pt x="0" y="0"/>
                </a:lnTo>
                <a:lnTo>
                  <a:pt x="0" y="10667"/>
                </a:lnTo>
                <a:lnTo>
                  <a:pt x="33527" y="10667"/>
                </a:lnTo>
                <a:lnTo>
                  <a:pt x="33527" y="0"/>
                </a:lnTo>
                <a:close/>
              </a:path>
            </a:pathLst>
          </a:custGeom>
          <a:solidFill>
            <a:srgbClr val="000000"/>
          </a:solidFill>
        </p:spPr>
        <p:txBody>
          <a:bodyPr wrap="square" lIns="0" tIns="0" rIns="0" bIns="0" rtlCol="0"/>
          <a:lstStyle/>
          <a:p/>
        </p:txBody>
      </p:sp>
      <p:sp>
        <p:nvSpPr>
          <p:cNvPr id="7" name="object 7"/>
          <p:cNvSpPr/>
          <p:nvPr/>
        </p:nvSpPr>
        <p:spPr>
          <a:xfrm>
            <a:off x="3687190" y="7639558"/>
            <a:ext cx="33655" cy="10795"/>
          </a:xfrm>
          <a:custGeom>
            <a:avLst/>
            <a:gdLst/>
            <a:ahLst/>
            <a:cxnLst/>
            <a:rect l="l" t="t" r="r" b="b"/>
            <a:pathLst>
              <a:path w="33654" h="10795">
                <a:moveTo>
                  <a:pt x="33527" y="0"/>
                </a:moveTo>
                <a:lnTo>
                  <a:pt x="0" y="0"/>
                </a:lnTo>
                <a:lnTo>
                  <a:pt x="0" y="10667"/>
                </a:lnTo>
                <a:lnTo>
                  <a:pt x="33527" y="10667"/>
                </a:lnTo>
                <a:lnTo>
                  <a:pt x="33527" y="0"/>
                </a:lnTo>
                <a:close/>
              </a:path>
            </a:pathLst>
          </a:custGeom>
          <a:solidFill>
            <a:srgbClr val="000000"/>
          </a:solidFill>
        </p:spPr>
        <p:txBody>
          <a:bodyPr wrap="square" lIns="0" tIns="0" rIns="0" bIns="0" rtlCol="0"/>
          <a:lstStyle/>
          <a:p/>
        </p:txBody>
      </p:sp>
      <p:sp>
        <p:nvSpPr>
          <p:cNvPr id="8" name="object 8"/>
          <p:cNvSpPr/>
          <p:nvPr/>
        </p:nvSpPr>
        <p:spPr>
          <a:xfrm>
            <a:off x="4647565" y="7639558"/>
            <a:ext cx="33655" cy="10795"/>
          </a:xfrm>
          <a:custGeom>
            <a:avLst/>
            <a:gdLst/>
            <a:ahLst/>
            <a:cxnLst/>
            <a:rect l="l" t="t" r="r" b="b"/>
            <a:pathLst>
              <a:path w="33654" h="10795">
                <a:moveTo>
                  <a:pt x="33527" y="0"/>
                </a:moveTo>
                <a:lnTo>
                  <a:pt x="0" y="0"/>
                </a:lnTo>
                <a:lnTo>
                  <a:pt x="0" y="10667"/>
                </a:lnTo>
                <a:lnTo>
                  <a:pt x="33527" y="10667"/>
                </a:lnTo>
                <a:lnTo>
                  <a:pt x="33527" y="0"/>
                </a:lnTo>
                <a:close/>
              </a:path>
            </a:pathLst>
          </a:custGeom>
          <a:solidFill>
            <a:srgbClr val="000000"/>
          </a:solidFill>
        </p:spPr>
        <p:txBody>
          <a:bodyPr wrap="square" lIns="0" tIns="0" rIns="0" bIns="0" rtlCol="0"/>
          <a:lstStyle/>
          <a:p/>
        </p:txBody>
      </p:sp>
      <p:sp>
        <p:nvSpPr>
          <p:cNvPr id="9" name="object 9"/>
          <p:cNvSpPr/>
          <p:nvPr/>
        </p:nvSpPr>
        <p:spPr>
          <a:xfrm>
            <a:off x="4441825" y="9486595"/>
            <a:ext cx="33655" cy="10795"/>
          </a:xfrm>
          <a:custGeom>
            <a:avLst/>
            <a:gdLst/>
            <a:ahLst/>
            <a:cxnLst/>
            <a:rect l="l" t="t" r="r" b="b"/>
            <a:pathLst>
              <a:path w="33654" h="10795">
                <a:moveTo>
                  <a:pt x="33527" y="0"/>
                </a:moveTo>
                <a:lnTo>
                  <a:pt x="0" y="0"/>
                </a:lnTo>
                <a:lnTo>
                  <a:pt x="0" y="10667"/>
                </a:lnTo>
                <a:lnTo>
                  <a:pt x="33527" y="10667"/>
                </a:lnTo>
                <a:lnTo>
                  <a:pt x="33527" y="0"/>
                </a:lnTo>
                <a:close/>
              </a:path>
            </a:pathLst>
          </a:custGeom>
          <a:solidFill>
            <a:srgbClr val="000000"/>
          </a:solidFill>
        </p:spPr>
        <p:txBody>
          <a:bodyPr wrap="square" lIns="0" tIns="0" rIns="0" bIns="0" rtlCol="0"/>
          <a:lstStyle/>
          <a:p/>
        </p:txBody>
      </p:sp>
      <p:sp>
        <p:nvSpPr>
          <p:cNvPr id="10" name="object 10"/>
          <p:cNvSpPr txBox="1"/>
          <p:nvPr/>
        </p:nvSpPr>
        <p:spPr>
          <a:xfrm>
            <a:off x="534416" y="432307"/>
            <a:ext cx="6311265" cy="925449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20"/>
              </a:spcBef>
            </a:pPr>
            <a:endParaRPr sz="1300">
              <a:latin typeface="Times New Roman"/>
              <a:cs typeface="Times New Roman"/>
            </a:endParaRPr>
          </a:p>
          <a:p>
            <a:pPr algn="just" marL="12700" marR="10160">
              <a:lnSpc>
                <a:spcPct val="95500"/>
              </a:lnSpc>
            </a:pPr>
            <a:r>
              <a:rPr dirty="0" sz="1200" spc="-5">
                <a:latin typeface="Arial"/>
                <a:cs typeface="Arial"/>
              </a:rPr>
              <a:t>knowledge is accessible to man without </a:t>
            </a:r>
            <a:r>
              <a:rPr dirty="0" sz="1200" spc="-10">
                <a:latin typeface="Arial"/>
                <a:cs typeface="Arial"/>
              </a:rPr>
              <a:t>divine </a:t>
            </a:r>
            <a:r>
              <a:rPr dirty="0" sz="1200" spc="-5">
                <a:latin typeface="Arial"/>
                <a:cs typeface="Arial"/>
              </a:rPr>
              <a:t>aid, even though "human" knowledge </a:t>
            </a:r>
            <a:r>
              <a:rPr dirty="0" sz="1200">
                <a:latin typeface="Arial"/>
                <a:cs typeface="Arial"/>
              </a:rPr>
              <a:t>may  </a:t>
            </a:r>
            <a:r>
              <a:rPr dirty="0" sz="1200" spc="-5">
                <a:latin typeface="Arial"/>
                <a:cs typeface="Arial"/>
              </a:rPr>
              <a:t>lack </a:t>
            </a:r>
            <a:r>
              <a:rPr dirty="0" sz="1200">
                <a:latin typeface="Arial"/>
                <a:cs typeface="Arial"/>
              </a:rPr>
              <a:t>the </a:t>
            </a:r>
            <a:r>
              <a:rPr dirty="0" sz="1200" spc="-5">
                <a:latin typeface="Arial"/>
                <a:cs typeface="Arial"/>
              </a:rPr>
              <a:t>completeness and consummate </a:t>
            </a:r>
            <a:r>
              <a:rPr dirty="0" sz="1200" spc="-10">
                <a:latin typeface="Arial"/>
                <a:cs typeface="Arial"/>
              </a:rPr>
              <a:t>logic </a:t>
            </a:r>
            <a:r>
              <a:rPr dirty="0" sz="1200">
                <a:latin typeface="Arial"/>
                <a:cs typeface="Arial"/>
              </a:rPr>
              <a:t>of </a:t>
            </a:r>
            <a:r>
              <a:rPr dirty="0" sz="1200" spc="-5">
                <a:latin typeface="Arial"/>
                <a:cs typeface="Arial"/>
              </a:rPr>
              <a:t>the prophets' </a:t>
            </a:r>
            <a:r>
              <a:rPr dirty="0" sz="1200" spc="-10">
                <a:latin typeface="Arial"/>
                <a:cs typeface="Arial"/>
              </a:rPr>
              <a:t>divine </a:t>
            </a:r>
            <a:r>
              <a:rPr dirty="0" sz="1200" spc="-5">
                <a:latin typeface="Arial"/>
                <a:cs typeface="Arial"/>
              </a:rPr>
              <a:t>message. (see also  </a:t>
            </a:r>
            <a:r>
              <a:rPr dirty="0" sz="1200" spc="-5" i="1">
                <a:latin typeface="Arial"/>
                <a:cs typeface="Arial"/>
              </a:rPr>
              <a:t>Index</a:t>
            </a:r>
            <a:r>
              <a:rPr dirty="0" sz="1200" spc="-5">
                <a:latin typeface="Arial"/>
                <a:cs typeface="Arial"/>
              </a:rPr>
              <a:t>: matter)</a:t>
            </a:r>
            <a:endParaRPr sz="1200">
              <a:latin typeface="Arial"/>
              <a:cs typeface="Arial"/>
            </a:endParaRPr>
          </a:p>
          <a:p>
            <a:pPr algn="just" marL="12700" marR="6985">
              <a:lnSpc>
                <a:spcPts val="1380"/>
              </a:lnSpc>
              <a:spcBef>
                <a:spcPts val="1045"/>
              </a:spcBef>
            </a:pPr>
            <a:r>
              <a:rPr dirty="0" sz="1200" spc="-5">
                <a:latin typeface="Arial"/>
                <a:cs typeface="Arial"/>
              </a:rPr>
              <a:t>Reflection on the </a:t>
            </a:r>
            <a:r>
              <a:rPr dirty="0" sz="1200" spc="-10">
                <a:latin typeface="Arial"/>
                <a:cs typeface="Arial"/>
              </a:rPr>
              <a:t>two </a:t>
            </a:r>
            <a:r>
              <a:rPr dirty="0" sz="1200">
                <a:latin typeface="Arial"/>
                <a:cs typeface="Arial"/>
              </a:rPr>
              <a:t>kinds </a:t>
            </a:r>
            <a:r>
              <a:rPr dirty="0" sz="1200" spc="-5">
                <a:latin typeface="Arial"/>
                <a:cs typeface="Arial"/>
              </a:rPr>
              <a:t>of knowledge--the human knowledge bequeathed </a:t>
            </a:r>
            <a:r>
              <a:rPr dirty="0" sz="1200">
                <a:latin typeface="Arial"/>
                <a:cs typeface="Arial"/>
              </a:rPr>
              <a:t>by the </a:t>
            </a:r>
            <a:r>
              <a:rPr dirty="0" sz="1200" spc="-5">
                <a:latin typeface="Arial"/>
                <a:cs typeface="Arial"/>
              </a:rPr>
              <a:t>ancients  and the revealed knowledge expressed in </a:t>
            </a:r>
            <a:r>
              <a:rPr dirty="0" sz="1200">
                <a:latin typeface="Arial"/>
                <a:cs typeface="Arial"/>
              </a:rPr>
              <a:t>the Qur`</a:t>
            </a:r>
            <a:r>
              <a:rPr dirty="0" u="sng" sz="1200">
                <a:uFill>
                  <a:solidFill>
                    <a:srgbClr val="000000"/>
                  </a:solidFill>
                </a:uFill>
                <a:latin typeface="Arial"/>
                <a:cs typeface="Arial"/>
              </a:rPr>
              <a:t>a</a:t>
            </a:r>
            <a:r>
              <a:rPr dirty="0" sz="1200">
                <a:latin typeface="Arial"/>
                <a:cs typeface="Arial"/>
              </a:rPr>
              <a:t>n--led </a:t>
            </a:r>
            <a:r>
              <a:rPr dirty="0" sz="1200" spc="-5">
                <a:latin typeface="Arial"/>
                <a:cs typeface="Arial"/>
              </a:rPr>
              <a:t>al-Kindi </a:t>
            </a:r>
            <a:r>
              <a:rPr dirty="0" sz="1200">
                <a:latin typeface="Arial"/>
                <a:cs typeface="Arial"/>
              </a:rPr>
              <a:t>to </a:t>
            </a:r>
            <a:r>
              <a:rPr dirty="0" sz="1200" spc="-5">
                <a:latin typeface="Arial"/>
                <a:cs typeface="Arial"/>
              </a:rPr>
              <a:t>pose a number of  themes that became central in </a:t>
            </a:r>
            <a:r>
              <a:rPr dirty="0" sz="1200">
                <a:latin typeface="Arial"/>
                <a:cs typeface="Arial"/>
              </a:rPr>
              <a:t>Isl</a:t>
            </a:r>
            <a:r>
              <a:rPr dirty="0" u="sng" sz="1200">
                <a:uFill>
                  <a:solidFill>
                    <a:srgbClr val="000000"/>
                  </a:solidFill>
                </a:uFill>
                <a:latin typeface="Arial"/>
                <a:cs typeface="Arial"/>
              </a:rPr>
              <a:t>a</a:t>
            </a:r>
            <a:r>
              <a:rPr dirty="0" sz="1200">
                <a:latin typeface="Arial"/>
                <a:cs typeface="Arial"/>
              </a:rPr>
              <a:t>mic </a:t>
            </a:r>
            <a:r>
              <a:rPr dirty="0" sz="1200" spc="-5">
                <a:latin typeface="Arial"/>
                <a:cs typeface="Arial"/>
              </a:rPr>
              <a:t>philosophy: </a:t>
            </a:r>
            <a:r>
              <a:rPr dirty="0" sz="1200">
                <a:latin typeface="Arial"/>
                <a:cs typeface="Arial"/>
              </a:rPr>
              <a:t>the </a:t>
            </a:r>
            <a:r>
              <a:rPr dirty="0" sz="1200" spc="-5">
                <a:latin typeface="Arial"/>
                <a:cs typeface="Arial"/>
              </a:rPr>
              <a:t>rational-metaphorical exegesis </a:t>
            </a:r>
            <a:r>
              <a:rPr dirty="0" sz="1200">
                <a:latin typeface="Arial"/>
                <a:cs typeface="Arial"/>
              </a:rPr>
              <a:t>of the  </a:t>
            </a:r>
            <a:r>
              <a:rPr dirty="0" sz="1200" spc="-5">
                <a:latin typeface="Arial"/>
                <a:cs typeface="Arial"/>
              </a:rPr>
              <a:t>Qur`</a:t>
            </a:r>
            <a:r>
              <a:rPr dirty="0" u="sng" sz="1200" spc="-5">
                <a:uFill>
                  <a:solidFill>
                    <a:srgbClr val="000000"/>
                  </a:solidFill>
                </a:uFill>
                <a:latin typeface="Arial"/>
                <a:cs typeface="Arial"/>
              </a:rPr>
              <a:t>a</a:t>
            </a:r>
            <a:r>
              <a:rPr dirty="0" sz="1200" spc="-5">
                <a:latin typeface="Arial"/>
                <a:cs typeface="Arial"/>
              </a:rPr>
              <a:t>n and </a:t>
            </a:r>
            <a:r>
              <a:rPr dirty="0" sz="1200">
                <a:latin typeface="Arial"/>
                <a:cs typeface="Arial"/>
              </a:rPr>
              <a:t>the </a:t>
            </a:r>
            <a:r>
              <a:rPr dirty="0" u="sng" sz="1200" spc="-5">
                <a:uFill>
                  <a:solidFill>
                    <a:srgbClr val="000000"/>
                  </a:solidFill>
                </a:uFill>
                <a:latin typeface="Arial"/>
                <a:cs typeface="Arial"/>
              </a:rPr>
              <a:t>H</a:t>
            </a:r>
            <a:r>
              <a:rPr dirty="0" sz="1200" spc="-5">
                <a:latin typeface="Arial"/>
                <a:cs typeface="Arial"/>
              </a:rPr>
              <a:t>adith; </a:t>
            </a:r>
            <a:r>
              <a:rPr dirty="0" sz="1200">
                <a:latin typeface="Arial"/>
                <a:cs typeface="Arial"/>
              </a:rPr>
              <a:t>the </a:t>
            </a:r>
            <a:r>
              <a:rPr dirty="0" sz="1200" spc="-5">
                <a:latin typeface="Arial"/>
                <a:cs typeface="Arial"/>
              </a:rPr>
              <a:t>identification of </a:t>
            </a:r>
            <a:r>
              <a:rPr dirty="0" sz="1200">
                <a:latin typeface="Arial"/>
                <a:cs typeface="Arial"/>
              </a:rPr>
              <a:t>God </a:t>
            </a:r>
            <a:r>
              <a:rPr dirty="0" sz="1200" spc="-5">
                <a:latin typeface="Arial"/>
                <a:cs typeface="Arial"/>
              </a:rPr>
              <a:t>with </a:t>
            </a:r>
            <a:r>
              <a:rPr dirty="0" sz="1200">
                <a:latin typeface="Arial"/>
                <a:cs typeface="Arial"/>
              </a:rPr>
              <a:t>the first </a:t>
            </a:r>
            <a:r>
              <a:rPr dirty="0" sz="1200" spc="-5">
                <a:latin typeface="Arial"/>
                <a:cs typeface="Arial"/>
              </a:rPr>
              <a:t>being and the </a:t>
            </a:r>
            <a:r>
              <a:rPr dirty="0" sz="1200">
                <a:latin typeface="Arial"/>
                <a:cs typeface="Arial"/>
              </a:rPr>
              <a:t>first </a:t>
            </a:r>
            <a:r>
              <a:rPr dirty="0" sz="1200" spc="-5">
                <a:latin typeface="Arial"/>
                <a:cs typeface="Arial"/>
              </a:rPr>
              <a:t>cause;  creation as the giving of being and as a kind </a:t>
            </a:r>
            <a:r>
              <a:rPr dirty="0" sz="1200">
                <a:latin typeface="Arial"/>
                <a:cs typeface="Arial"/>
              </a:rPr>
              <a:t>of </a:t>
            </a:r>
            <a:r>
              <a:rPr dirty="0" sz="1200" spc="-5">
                <a:latin typeface="Arial"/>
                <a:cs typeface="Arial"/>
              </a:rPr>
              <a:t>causation distinct </a:t>
            </a:r>
            <a:r>
              <a:rPr dirty="0" sz="1200">
                <a:latin typeface="Arial"/>
                <a:cs typeface="Arial"/>
              </a:rPr>
              <a:t>from </a:t>
            </a:r>
            <a:r>
              <a:rPr dirty="0" sz="1200" spc="-5">
                <a:latin typeface="Arial"/>
                <a:cs typeface="Arial"/>
              </a:rPr>
              <a:t>natural causation </a:t>
            </a:r>
            <a:r>
              <a:rPr dirty="0" sz="1200" spc="-10">
                <a:latin typeface="Arial"/>
                <a:cs typeface="Arial"/>
              </a:rPr>
              <a:t>and  </a:t>
            </a:r>
            <a:r>
              <a:rPr dirty="0" sz="1200" spc="-5">
                <a:latin typeface="Arial"/>
                <a:cs typeface="Arial"/>
              </a:rPr>
              <a:t>Neoplatonic emanation; and the immortality </a:t>
            </a:r>
            <a:r>
              <a:rPr dirty="0" sz="1200">
                <a:latin typeface="Arial"/>
                <a:cs typeface="Arial"/>
              </a:rPr>
              <a:t>of the </a:t>
            </a:r>
            <a:r>
              <a:rPr dirty="0" sz="1200" spc="-5">
                <a:latin typeface="Arial"/>
                <a:cs typeface="Arial"/>
              </a:rPr>
              <a:t>individual</a:t>
            </a:r>
            <a:r>
              <a:rPr dirty="0" sz="1200" spc="20">
                <a:latin typeface="Arial"/>
                <a:cs typeface="Arial"/>
              </a:rPr>
              <a:t> </a:t>
            </a:r>
            <a:r>
              <a:rPr dirty="0" sz="1200" spc="-5">
                <a:latin typeface="Arial"/>
                <a:cs typeface="Arial"/>
              </a:rPr>
              <a:t>soul.</a:t>
            </a:r>
            <a:endParaRPr sz="1200">
              <a:latin typeface="Arial"/>
              <a:cs typeface="Arial"/>
            </a:endParaRPr>
          </a:p>
          <a:p>
            <a:pPr>
              <a:lnSpc>
                <a:spcPct val="100000"/>
              </a:lnSpc>
              <a:spcBef>
                <a:spcPts val="55"/>
              </a:spcBef>
            </a:pPr>
            <a:endParaRPr sz="1350">
              <a:latin typeface="Arial"/>
              <a:cs typeface="Arial"/>
            </a:endParaRPr>
          </a:p>
          <a:p>
            <a:pPr algn="just" marL="12700">
              <a:lnSpc>
                <a:spcPct val="100000"/>
              </a:lnSpc>
            </a:pPr>
            <a:r>
              <a:rPr dirty="0" u="heavy" sz="1200" spc="-5" b="1" i="1">
                <a:uFill>
                  <a:solidFill>
                    <a:srgbClr val="000000"/>
                  </a:solidFill>
                </a:uFill>
                <a:latin typeface="Arial"/>
                <a:cs typeface="Arial"/>
              </a:rPr>
              <a:t>The teachings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Abu Bakr</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ar-Razi.</a:t>
            </a:r>
            <a:endParaRPr sz="1200">
              <a:latin typeface="Arial"/>
              <a:cs typeface="Arial"/>
            </a:endParaRPr>
          </a:p>
          <a:p>
            <a:pPr algn="just" marL="12700" marR="5080">
              <a:lnSpc>
                <a:spcPct val="95800"/>
              </a:lnSpc>
              <a:spcBef>
                <a:spcPts val="805"/>
              </a:spcBef>
            </a:pPr>
            <a:r>
              <a:rPr dirty="0" sz="1200" spc="-5">
                <a:latin typeface="Arial"/>
                <a:cs typeface="Arial"/>
              </a:rPr>
              <a:t>The philosopher whose principal concerns, method, and opposition </a:t>
            </a:r>
            <a:r>
              <a:rPr dirty="0" sz="1200">
                <a:latin typeface="Arial"/>
                <a:cs typeface="Arial"/>
              </a:rPr>
              <a:t>to </a:t>
            </a:r>
            <a:r>
              <a:rPr dirty="0" sz="1200" spc="-5">
                <a:latin typeface="Arial"/>
                <a:cs typeface="Arial"/>
              </a:rPr>
              <a:t>authority were inspired  by </a:t>
            </a:r>
            <a:r>
              <a:rPr dirty="0" sz="1200">
                <a:latin typeface="Arial"/>
                <a:cs typeface="Arial"/>
              </a:rPr>
              <a:t>the </a:t>
            </a:r>
            <a:r>
              <a:rPr dirty="0" sz="1200" spc="-5">
                <a:latin typeface="Arial"/>
                <a:cs typeface="Arial"/>
              </a:rPr>
              <a:t>extreme Mu'tazilah </a:t>
            </a:r>
            <a:r>
              <a:rPr dirty="0" sz="1200" spc="-10">
                <a:latin typeface="Arial"/>
                <a:cs typeface="Arial"/>
              </a:rPr>
              <a:t>was </a:t>
            </a:r>
            <a:r>
              <a:rPr dirty="0" sz="1200">
                <a:latin typeface="Arial"/>
                <a:cs typeface="Arial"/>
              </a:rPr>
              <a:t>the </a:t>
            </a:r>
            <a:r>
              <a:rPr dirty="0" sz="1200" spc="-5">
                <a:latin typeface="Arial"/>
                <a:cs typeface="Arial"/>
              </a:rPr>
              <a:t>physician </a:t>
            </a:r>
            <a:r>
              <a:rPr dirty="0" sz="1200" spc="10">
                <a:latin typeface="Arial"/>
                <a:cs typeface="Arial"/>
              </a:rPr>
              <a:t>Ab</a:t>
            </a:r>
            <a:r>
              <a:rPr dirty="0" u="sng" sz="1200" spc="10">
                <a:uFill>
                  <a:solidFill>
                    <a:srgbClr val="000000"/>
                  </a:solidFill>
                </a:uFill>
                <a:latin typeface="Arial"/>
                <a:cs typeface="Arial"/>
              </a:rPr>
              <a:t>u</a:t>
            </a:r>
            <a:r>
              <a:rPr dirty="0" sz="1200" spc="10">
                <a:latin typeface="Arial"/>
                <a:cs typeface="Arial"/>
              </a:rPr>
              <a:t> </a:t>
            </a:r>
            <a:r>
              <a:rPr dirty="0" sz="1200">
                <a:latin typeface="Arial"/>
                <a:cs typeface="Arial"/>
              </a:rPr>
              <a:t>Bakr </a:t>
            </a:r>
            <a:r>
              <a:rPr dirty="0" sz="1200" spc="-5">
                <a:latin typeface="Arial"/>
                <a:cs typeface="Arial"/>
              </a:rPr>
              <a:t>ar-R</a:t>
            </a:r>
            <a:r>
              <a:rPr dirty="0" u="sng" sz="1200" spc="-5">
                <a:uFill>
                  <a:solidFill>
                    <a:srgbClr val="000000"/>
                  </a:solidFill>
                </a:uFill>
                <a:latin typeface="Arial"/>
                <a:cs typeface="Arial"/>
              </a:rPr>
              <a:t>a</a:t>
            </a:r>
            <a:r>
              <a:rPr dirty="0" sz="1200" spc="-5">
                <a:latin typeface="Arial"/>
                <a:cs typeface="Arial"/>
              </a:rPr>
              <a:t>zi (flourished 9th-10th  centuries). He adopted </a:t>
            </a:r>
            <a:r>
              <a:rPr dirty="0" sz="1200">
                <a:latin typeface="Arial"/>
                <a:cs typeface="Arial"/>
              </a:rPr>
              <a:t>the </a:t>
            </a:r>
            <a:r>
              <a:rPr dirty="0" sz="1200" spc="-5">
                <a:latin typeface="Arial"/>
                <a:cs typeface="Arial"/>
              </a:rPr>
              <a:t>Mu'tazilah's </a:t>
            </a:r>
            <a:r>
              <a:rPr dirty="0" sz="1200">
                <a:latin typeface="Arial"/>
                <a:cs typeface="Arial"/>
              </a:rPr>
              <a:t>atomism </a:t>
            </a:r>
            <a:r>
              <a:rPr dirty="0" sz="1200" spc="-5">
                <a:latin typeface="Arial"/>
                <a:cs typeface="Arial"/>
              </a:rPr>
              <a:t>and </a:t>
            </a:r>
            <a:r>
              <a:rPr dirty="0" sz="1200" spc="-10">
                <a:latin typeface="Arial"/>
                <a:cs typeface="Arial"/>
              </a:rPr>
              <a:t>was </a:t>
            </a:r>
            <a:r>
              <a:rPr dirty="0" sz="1200" spc="-5">
                <a:latin typeface="Arial"/>
                <a:cs typeface="Arial"/>
              </a:rPr>
              <a:t>intent on developing a rationally  defensible theory </a:t>
            </a:r>
            <a:r>
              <a:rPr dirty="0" sz="1200">
                <a:latin typeface="Arial"/>
                <a:cs typeface="Arial"/>
              </a:rPr>
              <a:t>of </a:t>
            </a:r>
            <a:r>
              <a:rPr dirty="0" sz="1200" spc="-5">
                <a:latin typeface="Arial"/>
                <a:cs typeface="Arial"/>
              </a:rPr>
              <a:t>creation that would not require any change in </a:t>
            </a:r>
            <a:r>
              <a:rPr dirty="0" sz="1200">
                <a:latin typeface="Arial"/>
                <a:cs typeface="Arial"/>
              </a:rPr>
              <a:t>God </a:t>
            </a:r>
            <a:r>
              <a:rPr dirty="0" sz="1200" spc="-5">
                <a:latin typeface="Arial"/>
                <a:cs typeface="Arial"/>
              </a:rPr>
              <a:t>or attribute </a:t>
            </a:r>
            <a:r>
              <a:rPr dirty="0" sz="1200">
                <a:latin typeface="Arial"/>
                <a:cs typeface="Arial"/>
              </a:rPr>
              <a:t>to </a:t>
            </a:r>
            <a:r>
              <a:rPr dirty="0" sz="1200" spc="-5">
                <a:latin typeface="Arial"/>
                <a:cs typeface="Arial"/>
              </a:rPr>
              <a:t>him  responsibility </a:t>
            </a:r>
            <a:r>
              <a:rPr dirty="0" sz="1200">
                <a:latin typeface="Arial"/>
                <a:cs typeface="Arial"/>
              </a:rPr>
              <a:t>for the </a:t>
            </a:r>
            <a:r>
              <a:rPr dirty="0" sz="1200" spc="-5">
                <a:latin typeface="Arial"/>
                <a:cs typeface="Arial"/>
              </a:rPr>
              <a:t>imperfection and evil prevalent in </a:t>
            </a:r>
            <a:r>
              <a:rPr dirty="0" sz="1200">
                <a:latin typeface="Arial"/>
                <a:cs typeface="Arial"/>
              </a:rPr>
              <a:t>the </a:t>
            </a:r>
            <a:r>
              <a:rPr dirty="0" sz="1200" spc="-5">
                <a:latin typeface="Arial"/>
                <a:cs typeface="Arial"/>
              </a:rPr>
              <a:t>created world. </a:t>
            </a:r>
            <a:r>
              <a:rPr dirty="0" sz="1200">
                <a:latin typeface="Arial"/>
                <a:cs typeface="Arial"/>
              </a:rPr>
              <a:t>To this </a:t>
            </a:r>
            <a:r>
              <a:rPr dirty="0" sz="1200" spc="-5">
                <a:latin typeface="Arial"/>
                <a:cs typeface="Arial"/>
              </a:rPr>
              <a:t>end, </a:t>
            </a:r>
            <a:r>
              <a:rPr dirty="0" sz="1200" spc="-10">
                <a:latin typeface="Arial"/>
                <a:cs typeface="Arial"/>
              </a:rPr>
              <a:t>he  </a:t>
            </a:r>
            <a:r>
              <a:rPr dirty="0" sz="1200" spc="-5">
                <a:latin typeface="Arial"/>
                <a:cs typeface="Arial"/>
              </a:rPr>
              <a:t>expounded the view </a:t>
            </a:r>
            <a:r>
              <a:rPr dirty="0" sz="1200">
                <a:latin typeface="Arial"/>
                <a:cs typeface="Arial"/>
              </a:rPr>
              <a:t>that </a:t>
            </a:r>
            <a:r>
              <a:rPr dirty="0" sz="1200" spc="-5">
                <a:latin typeface="Arial"/>
                <a:cs typeface="Arial"/>
              </a:rPr>
              <a:t>there are </a:t>
            </a:r>
            <a:r>
              <a:rPr dirty="0" sz="1200" spc="5">
                <a:latin typeface="Arial"/>
                <a:cs typeface="Arial"/>
              </a:rPr>
              <a:t>five </a:t>
            </a:r>
            <a:r>
              <a:rPr dirty="0" sz="1200" spc="-5">
                <a:latin typeface="Arial"/>
                <a:cs typeface="Arial"/>
              </a:rPr>
              <a:t>eternal principles--God, Soul, prime matter, infinite, or  absolute, space, and unlimited, or absolute, </a:t>
            </a:r>
            <a:r>
              <a:rPr dirty="0" sz="1200">
                <a:latin typeface="Arial"/>
                <a:cs typeface="Arial"/>
              </a:rPr>
              <a:t>time--and </a:t>
            </a:r>
            <a:r>
              <a:rPr dirty="0" sz="1200" spc="-5">
                <a:latin typeface="Arial"/>
                <a:cs typeface="Arial"/>
              </a:rPr>
              <a:t>explained creation as the result of the  unexpected and sudden </a:t>
            </a:r>
            <a:r>
              <a:rPr dirty="0" sz="1200">
                <a:latin typeface="Arial"/>
                <a:cs typeface="Arial"/>
              </a:rPr>
              <a:t>turn </a:t>
            </a:r>
            <a:r>
              <a:rPr dirty="0" sz="1200" spc="-5">
                <a:latin typeface="Arial"/>
                <a:cs typeface="Arial"/>
              </a:rPr>
              <a:t>of events </a:t>
            </a:r>
            <a:r>
              <a:rPr dirty="0" sz="1200">
                <a:latin typeface="Arial"/>
                <a:cs typeface="Arial"/>
              </a:rPr>
              <a:t>(</a:t>
            </a:r>
            <a:r>
              <a:rPr dirty="0" sz="1200" i="1">
                <a:latin typeface="Arial"/>
                <a:cs typeface="Arial"/>
              </a:rPr>
              <a:t>faltah</a:t>
            </a:r>
            <a:r>
              <a:rPr dirty="0" sz="1200">
                <a:latin typeface="Arial"/>
                <a:cs typeface="Arial"/>
              </a:rPr>
              <a:t>). </a:t>
            </a:r>
            <a:r>
              <a:rPr dirty="0" sz="1200" i="1">
                <a:latin typeface="Arial"/>
                <a:cs typeface="Arial"/>
              </a:rPr>
              <a:t>Faltah </a:t>
            </a:r>
            <a:r>
              <a:rPr dirty="0" sz="1200" spc="-5">
                <a:latin typeface="Arial"/>
                <a:cs typeface="Arial"/>
              </a:rPr>
              <a:t>occurred when Soul, in her </a:t>
            </a:r>
            <a:r>
              <a:rPr dirty="0" sz="1200" spc="-10">
                <a:latin typeface="Arial"/>
                <a:cs typeface="Arial"/>
              </a:rPr>
              <a:t>ignorance,  </a:t>
            </a:r>
            <a:r>
              <a:rPr dirty="0" sz="1200" spc="-5">
                <a:latin typeface="Arial"/>
                <a:cs typeface="Arial"/>
              </a:rPr>
              <a:t>desired </a:t>
            </a:r>
            <a:r>
              <a:rPr dirty="0" sz="1200">
                <a:latin typeface="Arial"/>
                <a:cs typeface="Arial"/>
              </a:rPr>
              <a:t>matter </a:t>
            </a:r>
            <a:r>
              <a:rPr dirty="0" sz="1200" spc="-5">
                <a:latin typeface="Arial"/>
                <a:cs typeface="Arial"/>
              </a:rPr>
              <a:t>and the good </a:t>
            </a:r>
            <a:r>
              <a:rPr dirty="0" sz="1200">
                <a:latin typeface="Arial"/>
                <a:cs typeface="Arial"/>
              </a:rPr>
              <a:t>God </a:t>
            </a:r>
            <a:r>
              <a:rPr dirty="0" sz="1200" spc="-5">
                <a:latin typeface="Arial"/>
                <a:cs typeface="Arial"/>
              </a:rPr>
              <a:t>eased her </a:t>
            </a:r>
            <a:r>
              <a:rPr dirty="0" sz="1200">
                <a:latin typeface="Arial"/>
                <a:cs typeface="Arial"/>
              </a:rPr>
              <a:t>misery </a:t>
            </a:r>
            <a:r>
              <a:rPr dirty="0" sz="1200" spc="-5">
                <a:latin typeface="Arial"/>
                <a:cs typeface="Arial"/>
              </a:rPr>
              <a:t>by allowing her </a:t>
            </a:r>
            <a:r>
              <a:rPr dirty="0" sz="1200">
                <a:latin typeface="Arial"/>
                <a:cs typeface="Arial"/>
              </a:rPr>
              <a:t>to </a:t>
            </a:r>
            <a:r>
              <a:rPr dirty="0" sz="1200" spc="-5">
                <a:latin typeface="Arial"/>
                <a:cs typeface="Arial"/>
              </a:rPr>
              <a:t>satisfy her desire and  </a:t>
            </a:r>
            <a:r>
              <a:rPr dirty="0" sz="1200">
                <a:latin typeface="Arial"/>
                <a:cs typeface="Arial"/>
              </a:rPr>
              <a:t>to </a:t>
            </a:r>
            <a:r>
              <a:rPr dirty="0" sz="1200" spc="-5">
                <a:latin typeface="Arial"/>
                <a:cs typeface="Arial"/>
              </a:rPr>
              <a:t>experience </a:t>
            </a:r>
            <a:r>
              <a:rPr dirty="0" sz="1200">
                <a:latin typeface="Arial"/>
                <a:cs typeface="Arial"/>
              </a:rPr>
              <a:t>the </a:t>
            </a:r>
            <a:r>
              <a:rPr dirty="0" sz="1200" spc="-5">
                <a:latin typeface="Arial"/>
                <a:cs typeface="Arial"/>
              </a:rPr>
              <a:t>suffering </a:t>
            </a:r>
            <a:r>
              <a:rPr dirty="0" sz="1200">
                <a:latin typeface="Arial"/>
                <a:cs typeface="Arial"/>
              </a:rPr>
              <a:t>of the </a:t>
            </a:r>
            <a:r>
              <a:rPr dirty="0" sz="1200" spc="-5">
                <a:latin typeface="Arial"/>
                <a:cs typeface="Arial"/>
              </a:rPr>
              <a:t>material world, and </a:t>
            </a:r>
            <a:r>
              <a:rPr dirty="0" sz="1200">
                <a:latin typeface="Arial"/>
                <a:cs typeface="Arial"/>
              </a:rPr>
              <a:t>then </a:t>
            </a:r>
            <a:r>
              <a:rPr dirty="0" sz="1200" spc="-10">
                <a:latin typeface="Arial"/>
                <a:cs typeface="Arial"/>
              </a:rPr>
              <a:t>gave </a:t>
            </a:r>
            <a:r>
              <a:rPr dirty="0" sz="1200" spc="-5">
                <a:latin typeface="Arial"/>
                <a:cs typeface="Arial"/>
              </a:rPr>
              <a:t>her reason </a:t>
            </a:r>
            <a:r>
              <a:rPr dirty="0" sz="1200">
                <a:latin typeface="Arial"/>
                <a:cs typeface="Arial"/>
              </a:rPr>
              <a:t>to </a:t>
            </a:r>
            <a:r>
              <a:rPr dirty="0" sz="1200" spc="-5">
                <a:latin typeface="Arial"/>
                <a:cs typeface="Arial"/>
              </a:rPr>
              <a:t>make her  realize her </a:t>
            </a:r>
            <a:r>
              <a:rPr dirty="0" sz="1200">
                <a:latin typeface="Arial"/>
                <a:cs typeface="Arial"/>
              </a:rPr>
              <a:t>mistake </a:t>
            </a:r>
            <a:r>
              <a:rPr dirty="0" sz="1200" spc="-5">
                <a:latin typeface="Arial"/>
                <a:cs typeface="Arial"/>
              </a:rPr>
              <a:t>and deliver her </a:t>
            </a:r>
            <a:r>
              <a:rPr dirty="0" sz="1200">
                <a:latin typeface="Arial"/>
                <a:cs typeface="Arial"/>
              </a:rPr>
              <a:t>from </a:t>
            </a:r>
            <a:r>
              <a:rPr dirty="0" sz="1200" spc="-5">
                <a:latin typeface="Arial"/>
                <a:cs typeface="Arial"/>
              </a:rPr>
              <a:t>her union with </a:t>
            </a:r>
            <a:r>
              <a:rPr dirty="0" sz="1200">
                <a:latin typeface="Arial"/>
                <a:cs typeface="Arial"/>
              </a:rPr>
              <a:t>matter, </a:t>
            </a:r>
            <a:r>
              <a:rPr dirty="0" sz="1200" spc="-5">
                <a:latin typeface="Arial"/>
                <a:cs typeface="Arial"/>
              </a:rPr>
              <a:t>the cause of her </a:t>
            </a:r>
            <a:r>
              <a:rPr dirty="0" sz="1200" spc="5">
                <a:latin typeface="Arial"/>
                <a:cs typeface="Arial"/>
              </a:rPr>
              <a:t>suffering </a:t>
            </a:r>
            <a:r>
              <a:rPr dirty="0" sz="1200" spc="-5">
                <a:latin typeface="Arial"/>
                <a:cs typeface="Arial"/>
              </a:rPr>
              <a:t>and  of all evil. Ar-R</a:t>
            </a:r>
            <a:r>
              <a:rPr dirty="0" u="sng" sz="1200" spc="-5">
                <a:uFill>
                  <a:solidFill>
                    <a:srgbClr val="000000"/>
                  </a:solidFill>
                </a:uFill>
                <a:latin typeface="Arial"/>
                <a:cs typeface="Arial"/>
              </a:rPr>
              <a:t>a</a:t>
            </a:r>
            <a:r>
              <a:rPr dirty="0" sz="1200" spc="-5">
                <a:latin typeface="Arial"/>
                <a:cs typeface="Arial"/>
              </a:rPr>
              <a:t>zi </a:t>
            </a:r>
            <a:r>
              <a:rPr dirty="0" sz="1200">
                <a:latin typeface="Arial"/>
                <a:cs typeface="Arial"/>
              </a:rPr>
              <a:t>claimed </a:t>
            </a:r>
            <a:r>
              <a:rPr dirty="0" sz="1200" spc="-5">
                <a:latin typeface="Arial"/>
                <a:cs typeface="Arial"/>
              </a:rPr>
              <a:t>that he </a:t>
            </a:r>
            <a:r>
              <a:rPr dirty="0" sz="1200" spc="-10">
                <a:latin typeface="Arial"/>
                <a:cs typeface="Arial"/>
              </a:rPr>
              <a:t>was </a:t>
            </a:r>
            <a:r>
              <a:rPr dirty="0" sz="1200" spc="-5">
                <a:latin typeface="Arial"/>
                <a:cs typeface="Arial"/>
              </a:rPr>
              <a:t>a Platonist, that he disagreed with Aristotle, and that  his views were those of </a:t>
            </a:r>
            <a:r>
              <a:rPr dirty="0" sz="1200">
                <a:latin typeface="Arial"/>
                <a:cs typeface="Arial"/>
              </a:rPr>
              <a:t>the </a:t>
            </a:r>
            <a:r>
              <a:rPr dirty="0" sz="1200" spc="-5">
                <a:latin typeface="Arial"/>
                <a:cs typeface="Arial"/>
              </a:rPr>
              <a:t>Sabians of Harran and the Brahmins (Hindu</a:t>
            </a:r>
            <a:r>
              <a:rPr dirty="0" sz="1200" spc="65">
                <a:latin typeface="Arial"/>
                <a:cs typeface="Arial"/>
              </a:rPr>
              <a:t> </a:t>
            </a:r>
            <a:r>
              <a:rPr dirty="0" sz="1200" spc="-5">
                <a:latin typeface="Arial"/>
                <a:cs typeface="Arial"/>
              </a:rPr>
              <a:t>teachers).</a:t>
            </a:r>
            <a:endParaRPr sz="1200">
              <a:latin typeface="Arial"/>
              <a:cs typeface="Arial"/>
            </a:endParaRPr>
          </a:p>
          <a:p>
            <a:pPr algn="just" marL="12700" marR="5715">
              <a:lnSpc>
                <a:spcPts val="1380"/>
              </a:lnSpc>
              <a:spcBef>
                <a:spcPts val="1045"/>
              </a:spcBef>
            </a:pPr>
            <a:r>
              <a:rPr dirty="0" sz="1200" spc="-5">
                <a:latin typeface="Arial"/>
                <a:cs typeface="Arial"/>
              </a:rPr>
              <a:t>Ism</a:t>
            </a:r>
            <a:r>
              <a:rPr dirty="0" u="sng" sz="1200" spc="-5">
                <a:uFill>
                  <a:solidFill>
                    <a:srgbClr val="000000"/>
                  </a:solidFill>
                </a:uFill>
                <a:latin typeface="Arial"/>
                <a:cs typeface="Arial"/>
              </a:rPr>
              <a:t>a'ili</a:t>
            </a:r>
            <a:r>
              <a:rPr dirty="0" sz="1200" spc="-5">
                <a:latin typeface="Arial"/>
                <a:cs typeface="Arial"/>
              </a:rPr>
              <a:t> theologians became aware </a:t>
            </a:r>
            <a:r>
              <a:rPr dirty="0" sz="1200">
                <a:latin typeface="Arial"/>
                <a:cs typeface="Arial"/>
              </a:rPr>
              <a:t>of </a:t>
            </a:r>
            <a:r>
              <a:rPr dirty="0" sz="1200" spc="-5">
                <a:latin typeface="Arial"/>
                <a:cs typeface="Arial"/>
              </a:rPr>
              <a:t>the kinship between certain </a:t>
            </a:r>
            <a:r>
              <a:rPr dirty="0" sz="1200">
                <a:latin typeface="Arial"/>
                <a:cs typeface="Arial"/>
              </a:rPr>
              <a:t>elements </a:t>
            </a:r>
            <a:r>
              <a:rPr dirty="0" sz="1200" spc="-5">
                <a:latin typeface="Arial"/>
                <a:cs typeface="Arial"/>
              </a:rPr>
              <a:t>of his cosmology  and their own. </a:t>
            </a:r>
            <a:r>
              <a:rPr dirty="0" sz="1200">
                <a:latin typeface="Arial"/>
                <a:cs typeface="Arial"/>
              </a:rPr>
              <a:t>They </a:t>
            </a:r>
            <a:r>
              <a:rPr dirty="0" sz="1200" spc="-5">
                <a:latin typeface="Arial"/>
                <a:cs typeface="Arial"/>
              </a:rPr>
              <a:t>disputed with him during his </a:t>
            </a:r>
            <a:r>
              <a:rPr dirty="0" sz="1200">
                <a:latin typeface="Arial"/>
                <a:cs typeface="Arial"/>
              </a:rPr>
              <a:t>lifetime </a:t>
            </a:r>
            <a:r>
              <a:rPr dirty="0" sz="1200" spc="-5">
                <a:latin typeface="Arial"/>
                <a:cs typeface="Arial"/>
              </a:rPr>
              <a:t>and continued afterward </a:t>
            </a:r>
            <a:r>
              <a:rPr dirty="0" sz="1200">
                <a:latin typeface="Arial"/>
                <a:cs typeface="Arial"/>
              </a:rPr>
              <a:t>to </a:t>
            </a:r>
            <a:r>
              <a:rPr dirty="0" sz="1200" spc="-5">
                <a:latin typeface="Arial"/>
                <a:cs typeface="Arial"/>
              </a:rPr>
              <a:t>refute  his doctrines in their writings. According </a:t>
            </a:r>
            <a:r>
              <a:rPr dirty="0" sz="1200">
                <a:latin typeface="Arial"/>
                <a:cs typeface="Arial"/>
              </a:rPr>
              <a:t>to their </a:t>
            </a:r>
            <a:r>
              <a:rPr dirty="0" sz="1200" spc="-5">
                <a:latin typeface="Arial"/>
                <a:cs typeface="Arial"/>
              </a:rPr>
              <a:t>account of his doctrines, he </a:t>
            </a:r>
            <a:r>
              <a:rPr dirty="0" sz="1200" spc="-10">
                <a:latin typeface="Arial"/>
                <a:cs typeface="Arial"/>
              </a:rPr>
              <a:t>was </a:t>
            </a:r>
            <a:r>
              <a:rPr dirty="0" sz="1200" spc="-5">
                <a:latin typeface="Arial"/>
                <a:cs typeface="Arial"/>
              </a:rPr>
              <a:t>totally  opposed </a:t>
            </a:r>
            <a:r>
              <a:rPr dirty="0" sz="1200">
                <a:latin typeface="Arial"/>
                <a:cs typeface="Arial"/>
              </a:rPr>
              <a:t>to </a:t>
            </a:r>
            <a:r>
              <a:rPr dirty="0" sz="1200" spc="-5">
                <a:latin typeface="Arial"/>
                <a:cs typeface="Arial"/>
              </a:rPr>
              <a:t>authority in matters of knowledge, </a:t>
            </a:r>
            <a:r>
              <a:rPr dirty="0" sz="1200">
                <a:latin typeface="Arial"/>
                <a:cs typeface="Arial"/>
              </a:rPr>
              <a:t>believed </a:t>
            </a:r>
            <a:r>
              <a:rPr dirty="0" sz="1200" spc="-5">
                <a:latin typeface="Arial"/>
                <a:cs typeface="Arial"/>
              </a:rPr>
              <a:t>in </a:t>
            </a:r>
            <a:r>
              <a:rPr dirty="0" sz="1200">
                <a:latin typeface="Arial"/>
                <a:cs typeface="Arial"/>
              </a:rPr>
              <a:t>the </a:t>
            </a:r>
            <a:r>
              <a:rPr dirty="0" sz="1200" spc="-5">
                <a:latin typeface="Arial"/>
                <a:cs typeface="Arial"/>
              </a:rPr>
              <a:t>progress </a:t>
            </a:r>
            <a:r>
              <a:rPr dirty="0" sz="1200">
                <a:latin typeface="Arial"/>
                <a:cs typeface="Arial"/>
              </a:rPr>
              <a:t>of </a:t>
            </a:r>
            <a:r>
              <a:rPr dirty="0" sz="1200" spc="-5">
                <a:latin typeface="Arial"/>
                <a:cs typeface="Arial"/>
              </a:rPr>
              <a:t>the </a:t>
            </a:r>
            <a:r>
              <a:rPr dirty="0" sz="1200">
                <a:latin typeface="Arial"/>
                <a:cs typeface="Arial"/>
              </a:rPr>
              <a:t>arts </a:t>
            </a:r>
            <a:r>
              <a:rPr dirty="0" sz="1200" spc="-10">
                <a:latin typeface="Arial"/>
                <a:cs typeface="Arial"/>
              </a:rPr>
              <a:t>and  </a:t>
            </a:r>
            <a:r>
              <a:rPr dirty="0" sz="1200">
                <a:latin typeface="Arial"/>
                <a:cs typeface="Arial"/>
              </a:rPr>
              <a:t>sciences, </a:t>
            </a:r>
            <a:r>
              <a:rPr dirty="0" sz="1200" spc="-5">
                <a:latin typeface="Arial"/>
                <a:cs typeface="Arial"/>
              </a:rPr>
              <a:t>and held that all reasonable </a:t>
            </a:r>
            <a:r>
              <a:rPr dirty="0" sz="1200">
                <a:latin typeface="Arial"/>
                <a:cs typeface="Arial"/>
              </a:rPr>
              <a:t>men </a:t>
            </a:r>
            <a:r>
              <a:rPr dirty="0" sz="1200" spc="-5">
                <a:latin typeface="Arial"/>
                <a:cs typeface="Arial"/>
              </a:rPr>
              <a:t>are equally able </a:t>
            </a:r>
            <a:r>
              <a:rPr dirty="0" sz="1200">
                <a:latin typeface="Arial"/>
                <a:cs typeface="Arial"/>
              </a:rPr>
              <a:t>to </a:t>
            </a:r>
            <a:r>
              <a:rPr dirty="0" sz="1200" spc="-10">
                <a:latin typeface="Arial"/>
                <a:cs typeface="Arial"/>
              </a:rPr>
              <a:t>look </a:t>
            </a:r>
            <a:r>
              <a:rPr dirty="0" sz="1200" spc="-5">
                <a:latin typeface="Arial"/>
                <a:cs typeface="Arial"/>
              </a:rPr>
              <a:t>after </a:t>
            </a:r>
            <a:r>
              <a:rPr dirty="0" sz="1200">
                <a:latin typeface="Arial"/>
                <a:cs typeface="Arial"/>
              </a:rPr>
              <a:t>their </a:t>
            </a:r>
            <a:r>
              <a:rPr dirty="0" sz="1200" spc="-10">
                <a:latin typeface="Arial"/>
                <a:cs typeface="Arial"/>
              </a:rPr>
              <a:t>own </a:t>
            </a:r>
            <a:r>
              <a:rPr dirty="0" sz="1200" spc="-5">
                <a:latin typeface="Arial"/>
                <a:cs typeface="Arial"/>
              </a:rPr>
              <a:t>affairs,  equally inspired and able </a:t>
            </a:r>
            <a:r>
              <a:rPr dirty="0" sz="1200">
                <a:latin typeface="Arial"/>
                <a:cs typeface="Arial"/>
              </a:rPr>
              <a:t>to </a:t>
            </a:r>
            <a:r>
              <a:rPr dirty="0" sz="1200" spc="-5">
                <a:latin typeface="Arial"/>
                <a:cs typeface="Arial"/>
              </a:rPr>
              <a:t>know </a:t>
            </a:r>
            <a:r>
              <a:rPr dirty="0" sz="1200">
                <a:latin typeface="Arial"/>
                <a:cs typeface="Arial"/>
              </a:rPr>
              <a:t>the </a:t>
            </a:r>
            <a:r>
              <a:rPr dirty="0" sz="1200" spc="-5">
                <a:latin typeface="Arial"/>
                <a:cs typeface="Arial"/>
              </a:rPr>
              <a:t>truth of what earlier men had taught, and equally able  </a:t>
            </a:r>
            <a:r>
              <a:rPr dirty="0" sz="1200">
                <a:latin typeface="Arial"/>
                <a:cs typeface="Arial"/>
              </a:rPr>
              <a:t>to </a:t>
            </a:r>
            <a:r>
              <a:rPr dirty="0" sz="1200" spc="-5">
                <a:latin typeface="Arial"/>
                <a:cs typeface="Arial"/>
              </a:rPr>
              <a:t>improve upon </a:t>
            </a:r>
            <a:r>
              <a:rPr dirty="0" sz="1200">
                <a:latin typeface="Arial"/>
                <a:cs typeface="Arial"/>
              </a:rPr>
              <a:t>it. </a:t>
            </a:r>
            <a:r>
              <a:rPr dirty="0" sz="1200" spc="-5">
                <a:latin typeface="Arial"/>
                <a:cs typeface="Arial"/>
              </a:rPr>
              <a:t>Ism</a:t>
            </a:r>
            <a:r>
              <a:rPr dirty="0" u="sng" sz="1200" spc="-5">
                <a:uFill>
                  <a:solidFill>
                    <a:srgbClr val="000000"/>
                  </a:solidFill>
                </a:uFill>
                <a:latin typeface="Arial"/>
                <a:cs typeface="Arial"/>
              </a:rPr>
              <a:t>a'ili</a:t>
            </a:r>
            <a:r>
              <a:rPr dirty="0" sz="1200" spc="-5">
                <a:latin typeface="Arial"/>
                <a:cs typeface="Arial"/>
              </a:rPr>
              <a:t> theologians were incensed, in particular, by his wholesale  rejection of prophecy, particular revelation, and divine laws. </a:t>
            </a:r>
            <a:r>
              <a:rPr dirty="0" sz="1200">
                <a:latin typeface="Arial"/>
                <a:cs typeface="Arial"/>
              </a:rPr>
              <a:t>They </a:t>
            </a:r>
            <a:r>
              <a:rPr dirty="0" sz="1200" spc="-5">
                <a:latin typeface="Arial"/>
                <a:cs typeface="Arial"/>
              </a:rPr>
              <a:t>were likewise opposed </a:t>
            </a:r>
            <a:r>
              <a:rPr dirty="0" sz="1200">
                <a:latin typeface="Arial"/>
                <a:cs typeface="Arial"/>
              </a:rPr>
              <a:t>to  </a:t>
            </a:r>
            <a:r>
              <a:rPr dirty="0" sz="1200" spc="-5">
                <a:latin typeface="Arial"/>
                <a:cs typeface="Arial"/>
              </a:rPr>
              <a:t>his criticisms </a:t>
            </a:r>
            <a:r>
              <a:rPr dirty="0" sz="1200">
                <a:latin typeface="Arial"/>
                <a:cs typeface="Arial"/>
              </a:rPr>
              <a:t>of </a:t>
            </a:r>
            <a:r>
              <a:rPr dirty="0" sz="1200" spc="-5">
                <a:latin typeface="Arial"/>
                <a:cs typeface="Arial"/>
              </a:rPr>
              <a:t>religion in general as a device employed by evil </a:t>
            </a:r>
            <a:r>
              <a:rPr dirty="0" sz="1200">
                <a:latin typeface="Arial"/>
                <a:cs typeface="Arial"/>
              </a:rPr>
              <a:t>men </a:t>
            </a:r>
            <a:r>
              <a:rPr dirty="0" sz="1200" spc="-5">
                <a:latin typeface="Arial"/>
                <a:cs typeface="Arial"/>
              </a:rPr>
              <a:t>and a kind of tyranny  over </a:t>
            </a:r>
            <a:r>
              <a:rPr dirty="0" sz="1200">
                <a:latin typeface="Arial"/>
                <a:cs typeface="Arial"/>
              </a:rPr>
              <a:t>men </a:t>
            </a:r>
            <a:r>
              <a:rPr dirty="0" sz="1200" spc="-5">
                <a:latin typeface="Arial"/>
                <a:cs typeface="Arial"/>
              </a:rPr>
              <a:t>that exploits </a:t>
            </a:r>
            <a:r>
              <a:rPr dirty="0" sz="1200">
                <a:latin typeface="Arial"/>
                <a:cs typeface="Arial"/>
              </a:rPr>
              <a:t>their </a:t>
            </a:r>
            <a:r>
              <a:rPr dirty="0" sz="1200" spc="-5">
                <a:latin typeface="Arial"/>
                <a:cs typeface="Arial"/>
              </a:rPr>
              <a:t>innocence and credulity, perpetuates ignorance, and leads to  conflicts and</a:t>
            </a:r>
            <a:r>
              <a:rPr dirty="0" sz="1200">
                <a:latin typeface="Arial"/>
                <a:cs typeface="Arial"/>
              </a:rPr>
              <a:t> </a:t>
            </a:r>
            <a:r>
              <a:rPr dirty="0" sz="1200" spc="-5">
                <a:latin typeface="Arial"/>
                <a:cs typeface="Arial"/>
              </a:rPr>
              <a:t>wars.</a:t>
            </a:r>
            <a:endParaRPr sz="1200">
              <a:latin typeface="Arial"/>
              <a:cs typeface="Arial"/>
            </a:endParaRPr>
          </a:p>
          <a:p>
            <a:pPr algn="just" marL="12700" marR="6350">
              <a:lnSpc>
                <a:spcPts val="1380"/>
              </a:lnSpc>
              <a:spcBef>
                <a:spcPts val="1000"/>
              </a:spcBef>
            </a:pPr>
            <a:r>
              <a:rPr dirty="0" sz="1200" spc="-5">
                <a:latin typeface="Arial"/>
                <a:cs typeface="Arial"/>
              </a:rPr>
              <a:t>Although the fragmentary character of </a:t>
            </a:r>
            <a:r>
              <a:rPr dirty="0" sz="1200">
                <a:latin typeface="Arial"/>
                <a:cs typeface="Arial"/>
              </a:rPr>
              <a:t>al-Kindi's </a:t>
            </a:r>
            <a:r>
              <a:rPr dirty="0" sz="1200" spc="-5">
                <a:latin typeface="Arial"/>
                <a:cs typeface="Arial"/>
              </a:rPr>
              <a:t>and ar-R</a:t>
            </a:r>
            <a:r>
              <a:rPr dirty="0" u="sng" sz="1200" spc="-5">
                <a:uFill>
                  <a:solidFill>
                    <a:srgbClr val="000000"/>
                  </a:solidFill>
                </a:uFill>
                <a:latin typeface="Arial"/>
                <a:cs typeface="Arial"/>
              </a:rPr>
              <a:t>a</a:t>
            </a:r>
            <a:r>
              <a:rPr dirty="0" sz="1200" spc="-5">
                <a:latin typeface="Arial"/>
                <a:cs typeface="Arial"/>
              </a:rPr>
              <a:t>zi's surviving philosophic writings  does not permit passing </a:t>
            </a:r>
            <a:r>
              <a:rPr dirty="0" sz="1200">
                <a:latin typeface="Arial"/>
                <a:cs typeface="Arial"/>
              </a:rPr>
              <a:t>firm </a:t>
            </a:r>
            <a:r>
              <a:rPr dirty="0" sz="1200" spc="-5">
                <a:latin typeface="Arial"/>
                <a:cs typeface="Arial"/>
              </a:rPr>
              <a:t>and independent judgment </a:t>
            </a:r>
            <a:r>
              <a:rPr dirty="0" sz="1200" spc="-10">
                <a:latin typeface="Arial"/>
                <a:cs typeface="Arial"/>
              </a:rPr>
              <a:t>on </a:t>
            </a:r>
            <a:r>
              <a:rPr dirty="0" sz="1200" spc="-5">
                <a:latin typeface="Arial"/>
                <a:cs typeface="Arial"/>
              </a:rPr>
              <a:t>their </a:t>
            </a:r>
            <a:r>
              <a:rPr dirty="0" sz="1200">
                <a:latin typeface="Arial"/>
                <a:cs typeface="Arial"/>
              </a:rPr>
              <a:t>accomplishments, </a:t>
            </a:r>
            <a:r>
              <a:rPr dirty="0" sz="1200" spc="-5">
                <a:latin typeface="Arial"/>
                <a:cs typeface="Arial"/>
              </a:rPr>
              <a:t>they tend  </a:t>
            </a:r>
            <a:r>
              <a:rPr dirty="0" sz="1200">
                <a:latin typeface="Arial"/>
                <a:cs typeface="Arial"/>
              </a:rPr>
              <a:t>to </a:t>
            </a:r>
            <a:r>
              <a:rPr dirty="0" sz="1200" spc="-5">
                <a:latin typeface="Arial"/>
                <a:cs typeface="Arial"/>
              </a:rPr>
              <a:t>bear out </a:t>
            </a:r>
            <a:r>
              <a:rPr dirty="0" sz="1200">
                <a:latin typeface="Arial"/>
                <a:cs typeface="Arial"/>
              </a:rPr>
              <a:t>the </a:t>
            </a:r>
            <a:r>
              <a:rPr dirty="0" sz="1200" spc="-5">
                <a:latin typeface="Arial"/>
                <a:cs typeface="Arial"/>
              </a:rPr>
              <a:t>view </a:t>
            </a:r>
            <a:r>
              <a:rPr dirty="0" sz="1200">
                <a:latin typeface="Arial"/>
                <a:cs typeface="Arial"/>
              </a:rPr>
              <a:t>of </a:t>
            </a:r>
            <a:r>
              <a:rPr dirty="0" sz="1200" spc="-5">
                <a:latin typeface="Arial"/>
                <a:cs typeface="Arial"/>
              </a:rPr>
              <a:t>later Muslim students of philosophy that both lacked competence in  </a:t>
            </a:r>
            <a:r>
              <a:rPr dirty="0" sz="1200">
                <a:latin typeface="Arial"/>
                <a:cs typeface="Arial"/>
              </a:rPr>
              <a:t>the </a:t>
            </a:r>
            <a:r>
              <a:rPr dirty="0" sz="1200" spc="-5">
                <a:latin typeface="Arial"/>
                <a:cs typeface="Arial"/>
              </a:rPr>
              <a:t>logical foundation of philosophy, were knowledgeable in </a:t>
            </a:r>
            <a:r>
              <a:rPr dirty="0" sz="1200">
                <a:latin typeface="Arial"/>
                <a:cs typeface="Arial"/>
              </a:rPr>
              <a:t>some </a:t>
            </a:r>
            <a:r>
              <a:rPr dirty="0" sz="1200" spc="-5">
                <a:latin typeface="Arial"/>
                <a:cs typeface="Arial"/>
              </a:rPr>
              <a:t>of </a:t>
            </a:r>
            <a:r>
              <a:rPr dirty="0" sz="1200">
                <a:latin typeface="Arial"/>
                <a:cs typeface="Arial"/>
              </a:rPr>
              <a:t>the </a:t>
            </a:r>
            <a:r>
              <a:rPr dirty="0" sz="1200" spc="-5">
                <a:latin typeface="Arial"/>
                <a:cs typeface="Arial"/>
              </a:rPr>
              <a:t>natural sciences but  not in metaphysics, and were unable </a:t>
            </a:r>
            <a:r>
              <a:rPr dirty="0" sz="1200">
                <a:latin typeface="Arial"/>
                <a:cs typeface="Arial"/>
              </a:rPr>
              <a:t>to </a:t>
            </a:r>
            <a:r>
              <a:rPr dirty="0" sz="1200" spc="-5">
                <a:latin typeface="Arial"/>
                <a:cs typeface="Arial"/>
              </a:rPr>
              <a:t>narrow </a:t>
            </a:r>
            <a:r>
              <a:rPr dirty="0" sz="1200" spc="10">
                <a:latin typeface="Arial"/>
                <a:cs typeface="Arial"/>
              </a:rPr>
              <a:t>the </a:t>
            </a:r>
            <a:r>
              <a:rPr dirty="0" sz="1200" spc="-5">
                <a:latin typeface="Arial"/>
                <a:cs typeface="Arial"/>
              </a:rPr>
              <a:t>gap that separated philosophy from the  new religion,</a:t>
            </a:r>
            <a:r>
              <a:rPr dirty="0" sz="1200" spc="-15">
                <a:latin typeface="Arial"/>
                <a:cs typeface="Arial"/>
              </a:rPr>
              <a:t> </a:t>
            </a:r>
            <a:r>
              <a:rPr dirty="0" sz="1200">
                <a:latin typeface="Arial"/>
                <a:cs typeface="Arial"/>
              </a:rPr>
              <a:t>Isl</a:t>
            </a:r>
            <a:r>
              <a:rPr dirty="0" u="sng" sz="1200">
                <a:uFill>
                  <a:solidFill>
                    <a:srgbClr val="000000"/>
                  </a:solidFill>
                </a:uFill>
                <a:latin typeface="Arial"/>
                <a:cs typeface="Arial"/>
              </a:rPr>
              <a:t>a</a:t>
            </a:r>
            <a:r>
              <a:rPr dirty="0" sz="1200">
                <a:latin typeface="Arial"/>
                <a:cs typeface="Arial"/>
              </a:rPr>
              <a:t>m.</a:t>
            </a:r>
            <a:endParaRPr sz="1200">
              <a:latin typeface="Arial"/>
              <a:cs typeface="Arial"/>
            </a:endParaRPr>
          </a:p>
          <a:p>
            <a:pPr algn="just" marL="12700">
              <a:lnSpc>
                <a:spcPct val="100000"/>
              </a:lnSpc>
              <a:spcBef>
                <a:spcPts val="900"/>
              </a:spcBef>
            </a:pPr>
            <a:r>
              <a:rPr dirty="0" u="heavy" sz="1200" spc="-5" b="1" i="1">
                <a:uFill>
                  <a:solidFill>
                    <a:srgbClr val="000000"/>
                  </a:solidFill>
                </a:uFill>
                <a:latin typeface="Arial"/>
                <a:cs typeface="Arial"/>
              </a:rPr>
              <a:t>The teachings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al-Farabi.</a:t>
            </a:r>
            <a:endParaRPr sz="1200">
              <a:latin typeface="Arial"/>
              <a:cs typeface="Arial"/>
            </a:endParaRPr>
          </a:p>
          <a:p>
            <a:pPr>
              <a:lnSpc>
                <a:spcPct val="100000"/>
              </a:lnSpc>
              <a:spcBef>
                <a:spcPts val="35"/>
              </a:spcBef>
            </a:pPr>
            <a:endParaRPr sz="1400">
              <a:latin typeface="Arial"/>
              <a:cs typeface="Arial"/>
            </a:endParaRPr>
          </a:p>
          <a:p>
            <a:pPr marL="12700">
              <a:lnSpc>
                <a:spcPct val="100000"/>
              </a:lnSpc>
            </a:pPr>
            <a:r>
              <a:rPr dirty="0" sz="1200" spc="-5" b="1" i="1">
                <a:latin typeface="Arial"/>
                <a:cs typeface="Arial"/>
              </a:rPr>
              <a:t>1. </a:t>
            </a:r>
            <a:r>
              <a:rPr dirty="0" sz="1200" spc="-5" b="1">
                <a:latin typeface="Arial"/>
                <a:cs typeface="Arial"/>
              </a:rPr>
              <a:t>Political philosophy </a:t>
            </a:r>
            <a:r>
              <a:rPr dirty="0" sz="1200" b="1">
                <a:latin typeface="Arial"/>
                <a:cs typeface="Arial"/>
              </a:rPr>
              <a:t>and </a:t>
            </a:r>
            <a:r>
              <a:rPr dirty="0" sz="1200" spc="-5" b="1">
                <a:latin typeface="Arial"/>
                <a:cs typeface="Arial"/>
              </a:rPr>
              <a:t>the </a:t>
            </a:r>
            <a:r>
              <a:rPr dirty="0" sz="1200" b="1">
                <a:latin typeface="Arial"/>
                <a:cs typeface="Arial"/>
              </a:rPr>
              <a:t>study </a:t>
            </a:r>
            <a:r>
              <a:rPr dirty="0" sz="1200" spc="5" b="1">
                <a:latin typeface="Arial"/>
                <a:cs typeface="Arial"/>
              </a:rPr>
              <a:t>of</a:t>
            </a:r>
            <a:r>
              <a:rPr dirty="0" sz="1200" spc="-40" b="1">
                <a:latin typeface="Arial"/>
                <a:cs typeface="Arial"/>
              </a:rPr>
              <a:t> </a:t>
            </a:r>
            <a:r>
              <a:rPr dirty="0" sz="1200" b="1">
                <a:latin typeface="Arial"/>
                <a:cs typeface="Arial"/>
              </a:rPr>
              <a:t>religion.</a:t>
            </a:r>
            <a:endParaRPr sz="1200">
              <a:latin typeface="Arial"/>
              <a:cs typeface="Arial"/>
            </a:endParaRPr>
          </a:p>
          <a:p>
            <a:pPr algn="just" marL="12700" marR="5715">
              <a:lnSpc>
                <a:spcPts val="1370"/>
              </a:lnSpc>
              <a:spcBef>
                <a:spcPts val="844"/>
              </a:spcBef>
            </a:pPr>
            <a:r>
              <a:rPr dirty="0" sz="1200" spc="-5">
                <a:latin typeface="Arial"/>
                <a:cs typeface="Arial"/>
              </a:rPr>
              <a:t>The </a:t>
            </a:r>
            <a:r>
              <a:rPr dirty="0" sz="1200">
                <a:latin typeface="Arial"/>
                <a:cs typeface="Arial"/>
              </a:rPr>
              <a:t>first </a:t>
            </a:r>
            <a:r>
              <a:rPr dirty="0" sz="1200" spc="-5">
                <a:latin typeface="Arial"/>
                <a:cs typeface="Arial"/>
              </a:rPr>
              <a:t>philosopher </a:t>
            </a:r>
            <a:r>
              <a:rPr dirty="0" sz="1200">
                <a:latin typeface="Arial"/>
                <a:cs typeface="Arial"/>
              </a:rPr>
              <a:t>to meet this </a:t>
            </a:r>
            <a:r>
              <a:rPr dirty="0" sz="1200" spc="-5">
                <a:latin typeface="Arial"/>
                <a:cs typeface="Arial"/>
              </a:rPr>
              <a:t>challenge was </a:t>
            </a:r>
            <a:r>
              <a:rPr dirty="0" sz="1200" spc="5">
                <a:latin typeface="Arial"/>
                <a:cs typeface="Arial"/>
              </a:rPr>
              <a:t>al- </a:t>
            </a:r>
            <a:r>
              <a:rPr dirty="0" sz="1200" spc="-5">
                <a:latin typeface="Arial"/>
                <a:cs typeface="Arial"/>
              </a:rPr>
              <a:t>F</a:t>
            </a:r>
            <a:r>
              <a:rPr dirty="0" u="sng" sz="1200" spc="-5">
                <a:uFill>
                  <a:solidFill>
                    <a:srgbClr val="000000"/>
                  </a:solidFill>
                </a:uFill>
                <a:latin typeface="Arial"/>
                <a:cs typeface="Arial"/>
              </a:rPr>
              <a:t>a</a:t>
            </a:r>
            <a:r>
              <a:rPr dirty="0" sz="1200" spc="-5">
                <a:latin typeface="Arial"/>
                <a:cs typeface="Arial"/>
              </a:rPr>
              <a:t>r</a:t>
            </a:r>
            <a:r>
              <a:rPr dirty="0" u="sng" sz="1200" spc="-5">
                <a:uFill>
                  <a:solidFill>
                    <a:srgbClr val="000000"/>
                  </a:solidFill>
                </a:uFill>
                <a:latin typeface="Arial"/>
                <a:cs typeface="Arial"/>
              </a:rPr>
              <a:t>a</a:t>
            </a:r>
            <a:r>
              <a:rPr dirty="0" sz="1200" spc="-5">
                <a:latin typeface="Arial"/>
                <a:cs typeface="Arial"/>
              </a:rPr>
              <a:t>bi (flourished 9th-10th centuries). He  saw</a:t>
            </a:r>
            <a:r>
              <a:rPr dirty="0" sz="1200" spc="40">
                <a:latin typeface="Arial"/>
                <a:cs typeface="Arial"/>
              </a:rPr>
              <a:t> </a:t>
            </a:r>
            <a:r>
              <a:rPr dirty="0" sz="1200">
                <a:latin typeface="Arial"/>
                <a:cs typeface="Arial"/>
              </a:rPr>
              <a:t>that</a:t>
            </a:r>
            <a:r>
              <a:rPr dirty="0" sz="1200" spc="60">
                <a:latin typeface="Arial"/>
                <a:cs typeface="Arial"/>
              </a:rPr>
              <a:t> </a:t>
            </a:r>
            <a:r>
              <a:rPr dirty="0" sz="1200" spc="-5">
                <a:latin typeface="Arial"/>
                <a:cs typeface="Arial"/>
              </a:rPr>
              <a:t>theology</a:t>
            </a:r>
            <a:r>
              <a:rPr dirty="0" sz="1200" spc="40">
                <a:latin typeface="Arial"/>
                <a:cs typeface="Arial"/>
              </a:rPr>
              <a:t> </a:t>
            </a:r>
            <a:r>
              <a:rPr dirty="0" sz="1200">
                <a:latin typeface="Arial"/>
                <a:cs typeface="Arial"/>
              </a:rPr>
              <a:t>and</a:t>
            </a:r>
            <a:r>
              <a:rPr dirty="0" sz="1200" spc="60">
                <a:latin typeface="Arial"/>
                <a:cs typeface="Arial"/>
              </a:rPr>
              <a:t> </a:t>
            </a:r>
            <a:r>
              <a:rPr dirty="0" sz="1200">
                <a:latin typeface="Arial"/>
                <a:cs typeface="Arial"/>
              </a:rPr>
              <a:t>the</a:t>
            </a:r>
            <a:r>
              <a:rPr dirty="0" sz="1200" spc="60">
                <a:latin typeface="Arial"/>
                <a:cs typeface="Arial"/>
              </a:rPr>
              <a:t> </a:t>
            </a:r>
            <a:r>
              <a:rPr dirty="0" sz="1200" spc="-5">
                <a:latin typeface="Arial"/>
                <a:cs typeface="Arial"/>
              </a:rPr>
              <a:t>juridical</a:t>
            </a:r>
            <a:r>
              <a:rPr dirty="0" sz="1200" spc="55">
                <a:latin typeface="Arial"/>
                <a:cs typeface="Arial"/>
              </a:rPr>
              <a:t> </a:t>
            </a:r>
            <a:r>
              <a:rPr dirty="0" sz="1200">
                <a:latin typeface="Arial"/>
                <a:cs typeface="Arial"/>
              </a:rPr>
              <a:t>study</a:t>
            </a:r>
            <a:r>
              <a:rPr dirty="0" sz="1200" spc="40">
                <a:latin typeface="Arial"/>
                <a:cs typeface="Arial"/>
              </a:rPr>
              <a:t> </a:t>
            </a:r>
            <a:r>
              <a:rPr dirty="0" sz="1200">
                <a:latin typeface="Arial"/>
                <a:cs typeface="Arial"/>
              </a:rPr>
              <a:t>of</a:t>
            </a:r>
            <a:r>
              <a:rPr dirty="0" sz="1200" spc="70">
                <a:latin typeface="Arial"/>
                <a:cs typeface="Arial"/>
              </a:rPr>
              <a:t> </a:t>
            </a:r>
            <a:r>
              <a:rPr dirty="0" sz="1200" spc="-5">
                <a:latin typeface="Arial"/>
                <a:cs typeface="Arial"/>
              </a:rPr>
              <a:t>the</a:t>
            </a:r>
            <a:r>
              <a:rPr dirty="0" sz="1200" spc="60">
                <a:latin typeface="Arial"/>
                <a:cs typeface="Arial"/>
              </a:rPr>
              <a:t> </a:t>
            </a:r>
            <a:r>
              <a:rPr dirty="0" sz="1200" spc="-5">
                <a:latin typeface="Arial"/>
                <a:cs typeface="Arial"/>
              </a:rPr>
              <a:t>law</a:t>
            </a:r>
            <a:r>
              <a:rPr dirty="0" sz="1200" spc="65">
                <a:latin typeface="Arial"/>
                <a:cs typeface="Arial"/>
              </a:rPr>
              <a:t> </a:t>
            </a:r>
            <a:r>
              <a:rPr dirty="0" sz="1200" spc="-5">
                <a:latin typeface="Arial"/>
                <a:cs typeface="Arial"/>
              </a:rPr>
              <a:t>were</a:t>
            </a:r>
            <a:r>
              <a:rPr dirty="0" sz="1200" spc="60">
                <a:latin typeface="Arial"/>
                <a:cs typeface="Arial"/>
              </a:rPr>
              <a:t> </a:t>
            </a:r>
            <a:r>
              <a:rPr dirty="0" sz="1200" spc="-5">
                <a:latin typeface="Arial"/>
                <a:cs typeface="Arial"/>
              </a:rPr>
              <a:t>derivative</a:t>
            </a:r>
            <a:r>
              <a:rPr dirty="0" sz="1200" spc="75">
                <a:latin typeface="Arial"/>
                <a:cs typeface="Arial"/>
              </a:rPr>
              <a:t> </a:t>
            </a:r>
            <a:r>
              <a:rPr dirty="0" sz="1200" spc="-5">
                <a:latin typeface="Arial"/>
                <a:cs typeface="Arial"/>
              </a:rPr>
              <a:t>phenomena</a:t>
            </a:r>
            <a:r>
              <a:rPr dirty="0" sz="1200" spc="55">
                <a:latin typeface="Arial"/>
                <a:cs typeface="Arial"/>
              </a:rPr>
              <a:t> </a:t>
            </a:r>
            <a:r>
              <a:rPr dirty="0" sz="1200">
                <a:latin typeface="Arial"/>
                <a:cs typeface="Arial"/>
              </a:rPr>
              <a:t>that</a:t>
            </a:r>
            <a:r>
              <a:rPr dirty="0" sz="1200" spc="45">
                <a:latin typeface="Arial"/>
                <a:cs typeface="Arial"/>
              </a:rPr>
              <a:t> </a:t>
            </a:r>
            <a:r>
              <a:rPr dirty="0" sz="1200" spc="-5">
                <a:latin typeface="Arial"/>
                <a:cs typeface="Arial"/>
              </a:rPr>
              <a:t>function</a:t>
            </a:r>
            <a:endParaRPr sz="1200">
              <a:latin typeface="Arial"/>
              <a:cs typeface="Arial"/>
            </a:endParaRPr>
          </a:p>
        </p:txBody>
      </p:sp>
      <p:sp>
        <p:nvSpPr>
          <p:cNvPr id="11" name="object 11"/>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12" name="object 12"/>
          <p:cNvSpPr txBox="1"/>
          <p:nvPr/>
        </p:nvSpPr>
        <p:spPr>
          <a:xfrm>
            <a:off x="2988691"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156</a:t>
            </a:r>
            <a:endParaRPr sz="1200">
              <a:latin typeface="Times New Roman"/>
              <a:cs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3" name="object 3"/>
          <p:cNvSpPr/>
          <p:nvPr/>
        </p:nvSpPr>
        <p:spPr>
          <a:xfrm>
            <a:off x="2316733" y="2159761"/>
            <a:ext cx="33655" cy="10795"/>
          </a:xfrm>
          <a:custGeom>
            <a:avLst/>
            <a:gdLst/>
            <a:ahLst/>
            <a:cxnLst/>
            <a:rect l="l" t="t" r="r" b="b"/>
            <a:pathLst>
              <a:path w="33655" h="10794">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4" name="object 4"/>
          <p:cNvSpPr/>
          <p:nvPr/>
        </p:nvSpPr>
        <p:spPr>
          <a:xfrm>
            <a:off x="3269615" y="2159761"/>
            <a:ext cx="33655" cy="10795"/>
          </a:xfrm>
          <a:custGeom>
            <a:avLst/>
            <a:gdLst/>
            <a:ahLst/>
            <a:cxnLst/>
            <a:rect l="l" t="t" r="r" b="b"/>
            <a:pathLst>
              <a:path w="33654" h="10794">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5" name="object 5"/>
          <p:cNvSpPr/>
          <p:nvPr/>
        </p:nvSpPr>
        <p:spPr>
          <a:xfrm>
            <a:off x="4019422" y="2159761"/>
            <a:ext cx="33655" cy="10795"/>
          </a:xfrm>
          <a:custGeom>
            <a:avLst/>
            <a:gdLst/>
            <a:ahLst/>
            <a:cxnLst/>
            <a:rect l="l" t="t" r="r" b="b"/>
            <a:pathLst>
              <a:path w="33654" h="10794">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6" name="object 6"/>
          <p:cNvSpPr/>
          <p:nvPr/>
        </p:nvSpPr>
        <p:spPr>
          <a:xfrm>
            <a:off x="5975350" y="4613782"/>
            <a:ext cx="33655" cy="10795"/>
          </a:xfrm>
          <a:custGeom>
            <a:avLst/>
            <a:gdLst/>
            <a:ahLst/>
            <a:cxnLst/>
            <a:rect l="l" t="t" r="r" b="b"/>
            <a:pathLst>
              <a:path w="33654" h="10795">
                <a:moveTo>
                  <a:pt x="33527" y="0"/>
                </a:moveTo>
                <a:lnTo>
                  <a:pt x="0" y="0"/>
                </a:lnTo>
                <a:lnTo>
                  <a:pt x="0" y="10667"/>
                </a:lnTo>
                <a:lnTo>
                  <a:pt x="33527" y="10667"/>
                </a:lnTo>
                <a:lnTo>
                  <a:pt x="33527" y="0"/>
                </a:lnTo>
                <a:close/>
              </a:path>
            </a:pathLst>
          </a:custGeom>
          <a:solidFill>
            <a:srgbClr val="000000"/>
          </a:solidFill>
        </p:spPr>
        <p:txBody>
          <a:bodyPr wrap="square" lIns="0" tIns="0" rIns="0" bIns="0" rtlCol="0"/>
          <a:lstStyle/>
          <a:p/>
        </p:txBody>
      </p:sp>
      <p:sp>
        <p:nvSpPr>
          <p:cNvPr id="7" name="object 7"/>
          <p:cNvSpPr/>
          <p:nvPr/>
        </p:nvSpPr>
        <p:spPr>
          <a:xfrm>
            <a:off x="4237609" y="5808852"/>
            <a:ext cx="33655" cy="10795"/>
          </a:xfrm>
          <a:custGeom>
            <a:avLst/>
            <a:gdLst/>
            <a:ahLst/>
            <a:cxnLst/>
            <a:rect l="l" t="t" r="r" b="b"/>
            <a:pathLst>
              <a:path w="33654" h="10795">
                <a:moveTo>
                  <a:pt x="33527" y="0"/>
                </a:moveTo>
                <a:lnTo>
                  <a:pt x="0" y="0"/>
                </a:lnTo>
                <a:lnTo>
                  <a:pt x="0" y="10667"/>
                </a:lnTo>
                <a:lnTo>
                  <a:pt x="33527" y="10667"/>
                </a:lnTo>
                <a:lnTo>
                  <a:pt x="33527" y="0"/>
                </a:lnTo>
                <a:close/>
              </a:path>
            </a:pathLst>
          </a:custGeom>
          <a:solidFill>
            <a:srgbClr val="000000"/>
          </a:solidFill>
        </p:spPr>
        <p:txBody>
          <a:bodyPr wrap="square" lIns="0" tIns="0" rIns="0" bIns="0" rtlCol="0"/>
          <a:lstStyle/>
          <a:p/>
        </p:txBody>
      </p:sp>
      <p:sp>
        <p:nvSpPr>
          <p:cNvPr id="8" name="object 8"/>
          <p:cNvSpPr/>
          <p:nvPr/>
        </p:nvSpPr>
        <p:spPr>
          <a:xfrm>
            <a:off x="6982714" y="6858889"/>
            <a:ext cx="33655" cy="10795"/>
          </a:xfrm>
          <a:custGeom>
            <a:avLst/>
            <a:gdLst/>
            <a:ahLst/>
            <a:cxnLst/>
            <a:rect l="l" t="t" r="r" b="b"/>
            <a:pathLst>
              <a:path w="33654" h="10795">
                <a:moveTo>
                  <a:pt x="33527" y="0"/>
                </a:moveTo>
                <a:lnTo>
                  <a:pt x="0" y="0"/>
                </a:lnTo>
                <a:lnTo>
                  <a:pt x="0" y="10667"/>
                </a:lnTo>
                <a:lnTo>
                  <a:pt x="33527" y="10667"/>
                </a:lnTo>
                <a:lnTo>
                  <a:pt x="33527" y="0"/>
                </a:lnTo>
                <a:close/>
              </a:path>
            </a:pathLst>
          </a:custGeom>
          <a:solidFill>
            <a:srgbClr val="000000"/>
          </a:solidFill>
        </p:spPr>
        <p:txBody>
          <a:bodyPr wrap="square" lIns="0" tIns="0" rIns="0" bIns="0" rtlCol="0"/>
          <a:lstStyle/>
          <a:p/>
        </p:txBody>
      </p:sp>
      <p:sp>
        <p:nvSpPr>
          <p:cNvPr id="9" name="object 9"/>
          <p:cNvSpPr/>
          <p:nvPr/>
        </p:nvSpPr>
        <p:spPr>
          <a:xfrm>
            <a:off x="1316989" y="8755125"/>
            <a:ext cx="33655" cy="10795"/>
          </a:xfrm>
          <a:custGeom>
            <a:avLst/>
            <a:gdLst/>
            <a:ahLst/>
            <a:cxnLst/>
            <a:rect l="l" t="t" r="r" b="b"/>
            <a:pathLst>
              <a:path w="33655" h="10795">
                <a:moveTo>
                  <a:pt x="33528" y="0"/>
                </a:moveTo>
                <a:lnTo>
                  <a:pt x="0" y="0"/>
                </a:lnTo>
                <a:lnTo>
                  <a:pt x="0" y="10668"/>
                </a:lnTo>
                <a:lnTo>
                  <a:pt x="33528" y="10668"/>
                </a:lnTo>
                <a:lnTo>
                  <a:pt x="33528" y="0"/>
                </a:lnTo>
                <a:close/>
              </a:path>
            </a:pathLst>
          </a:custGeom>
          <a:solidFill>
            <a:srgbClr val="000000"/>
          </a:solidFill>
        </p:spPr>
        <p:txBody>
          <a:bodyPr wrap="square" lIns="0" tIns="0" rIns="0" bIns="0" rtlCol="0"/>
          <a:lstStyle/>
          <a:p/>
        </p:txBody>
      </p:sp>
      <p:sp>
        <p:nvSpPr>
          <p:cNvPr id="10" name="object 10"/>
          <p:cNvSpPr/>
          <p:nvPr/>
        </p:nvSpPr>
        <p:spPr>
          <a:xfrm>
            <a:off x="1300225" y="9454590"/>
            <a:ext cx="33655" cy="10795"/>
          </a:xfrm>
          <a:custGeom>
            <a:avLst/>
            <a:gdLst/>
            <a:ahLst/>
            <a:cxnLst/>
            <a:rect l="l" t="t" r="r" b="b"/>
            <a:pathLst>
              <a:path w="33655" h="10795">
                <a:moveTo>
                  <a:pt x="33528" y="0"/>
                </a:moveTo>
                <a:lnTo>
                  <a:pt x="0" y="0"/>
                </a:lnTo>
                <a:lnTo>
                  <a:pt x="0" y="10668"/>
                </a:lnTo>
                <a:lnTo>
                  <a:pt x="33528" y="10668"/>
                </a:lnTo>
                <a:lnTo>
                  <a:pt x="33528" y="0"/>
                </a:lnTo>
                <a:close/>
              </a:path>
            </a:pathLst>
          </a:custGeom>
          <a:solidFill>
            <a:srgbClr val="000000"/>
          </a:solidFill>
        </p:spPr>
        <p:txBody>
          <a:bodyPr wrap="square" lIns="0" tIns="0" rIns="0" bIns="0" rtlCol="0"/>
          <a:lstStyle/>
          <a:p/>
        </p:txBody>
      </p:sp>
      <p:sp>
        <p:nvSpPr>
          <p:cNvPr id="11" name="object 11"/>
          <p:cNvSpPr/>
          <p:nvPr/>
        </p:nvSpPr>
        <p:spPr>
          <a:xfrm>
            <a:off x="5092572" y="9629850"/>
            <a:ext cx="33655" cy="10795"/>
          </a:xfrm>
          <a:custGeom>
            <a:avLst/>
            <a:gdLst/>
            <a:ahLst/>
            <a:cxnLst/>
            <a:rect l="l" t="t" r="r" b="b"/>
            <a:pathLst>
              <a:path w="33654" h="10795">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12" name="object 12"/>
          <p:cNvSpPr txBox="1"/>
          <p:nvPr/>
        </p:nvSpPr>
        <p:spPr>
          <a:xfrm>
            <a:off x="718819" y="432307"/>
            <a:ext cx="6311265" cy="9399905"/>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6350">
              <a:lnSpc>
                <a:spcPct val="95900"/>
              </a:lnSpc>
            </a:pPr>
            <a:r>
              <a:rPr dirty="0" sz="1200" spc="-5">
                <a:latin typeface="Arial"/>
                <a:cs typeface="Arial"/>
              </a:rPr>
              <a:t>within a </a:t>
            </a:r>
            <a:r>
              <a:rPr dirty="0" sz="1200">
                <a:latin typeface="Arial"/>
                <a:cs typeface="Arial"/>
              </a:rPr>
              <a:t>framework set </a:t>
            </a:r>
            <a:r>
              <a:rPr dirty="0" sz="1200" spc="-5">
                <a:latin typeface="Arial"/>
                <a:cs typeface="Arial"/>
              </a:rPr>
              <a:t>by the </a:t>
            </a:r>
            <a:r>
              <a:rPr dirty="0" sz="1200">
                <a:latin typeface="Arial"/>
                <a:cs typeface="Arial"/>
              </a:rPr>
              <a:t>prophet </a:t>
            </a:r>
            <a:r>
              <a:rPr dirty="0" sz="1200" spc="-5">
                <a:latin typeface="Arial"/>
                <a:cs typeface="Arial"/>
              </a:rPr>
              <a:t>as lawgiver </a:t>
            </a:r>
            <a:r>
              <a:rPr dirty="0" sz="1200">
                <a:latin typeface="Arial"/>
                <a:cs typeface="Arial"/>
              </a:rPr>
              <a:t>and </a:t>
            </a:r>
            <a:r>
              <a:rPr dirty="0" sz="1200" spc="-5">
                <a:latin typeface="Arial"/>
                <a:cs typeface="Arial"/>
              </a:rPr>
              <a:t>founder of a human community. </a:t>
            </a:r>
            <a:r>
              <a:rPr dirty="0" sz="1200">
                <a:latin typeface="Arial"/>
                <a:cs typeface="Arial"/>
              </a:rPr>
              <a:t>In </a:t>
            </a:r>
            <a:r>
              <a:rPr dirty="0" sz="1200" spc="-5">
                <a:latin typeface="Arial"/>
                <a:cs typeface="Arial"/>
              </a:rPr>
              <a:t>this  community, revelation defines the opinions </a:t>
            </a:r>
            <a:r>
              <a:rPr dirty="0" sz="1200" spc="-10">
                <a:latin typeface="Arial"/>
                <a:cs typeface="Arial"/>
              </a:rPr>
              <a:t>the </a:t>
            </a:r>
            <a:r>
              <a:rPr dirty="0" sz="1200" spc="-5">
                <a:latin typeface="Arial"/>
                <a:cs typeface="Arial"/>
              </a:rPr>
              <a:t>members of </a:t>
            </a:r>
            <a:r>
              <a:rPr dirty="0" sz="1200">
                <a:latin typeface="Arial"/>
                <a:cs typeface="Arial"/>
              </a:rPr>
              <a:t>the </a:t>
            </a:r>
            <a:r>
              <a:rPr dirty="0" sz="1200" spc="-5">
                <a:latin typeface="Arial"/>
                <a:cs typeface="Arial"/>
              </a:rPr>
              <a:t>community </a:t>
            </a:r>
            <a:r>
              <a:rPr dirty="0" sz="1200">
                <a:latin typeface="Arial"/>
                <a:cs typeface="Arial"/>
              </a:rPr>
              <a:t>must </a:t>
            </a:r>
            <a:r>
              <a:rPr dirty="0" sz="1200" spc="-5">
                <a:latin typeface="Arial"/>
                <a:cs typeface="Arial"/>
              </a:rPr>
              <a:t>hold and the  actions </a:t>
            </a:r>
            <a:r>
              <a:rPr dirty="0" sz="1200">
                <a:latin typeface="Arial"/>
                <a:cs typeface="Arial"/>
              </a:rPr>
              <a:t>they must </a:t>
            </a:r>
            <a:r>
              <a:rPr dirty="0" sz="1200" spc="-5">
                <a:latin typeface="Arial"/>
                <a:cs typeface="Arial"/>
              </a:rPr>
              <a:t>perform </a:t>
            </a:r>
            <a:r>
              <a:rPr dirty="0" sz="1200" spc="-10">
                <a:latin typeface="Arial"/>
                <a:cs typeface="Arial"/>
              </a:rPr>
              <a:t>if </a:t>
            </a:r>
            <a:r>
              <a:rPr dirty="0" sz="1200" spc="-5">
                <a:latin typeface="Arial"/>
                <a:cs typeface="Arial"/>
              </a:rPr>
              <a:t>they are </a:t>
            </a:r>
            <a:r>
              <a:rPr dirty="0" sz="1200">
                <a:latin typeface="Arial"/>
                <a:cs typeface="Arial"/>
              </a:rPr>
              <a:t>to </a:t>
            </a:r>
            <a:r>
              <a:rPr dirty="0" sz="1200" spc="-5">
                <a:latin typeface="Arial"/>
                <a:cs typeface="Arial"/>
              </a:rPr>
              <a:t>attain the earthly happiness of </a:t>
            </a:r>
            <a:r>
              <a:rPr dirty="0" sz="1200">
                <a:latin typeface="Arial"/>
                <a:cs typeface="Arial"/>
              </a:rPr>
              <a:t>this </a:t>
            </a:r>
            <a:r>
              <a:rPr dirty="0" sz="1200" spc="-10">
                <a:latin typeface="Arial"/>
                <a:cs typeface="Arial"/>
              </a:rPr>
              <a:t>world </a:t>
            </a:r>
            <a:r>
              <a:rPr dirty="0" sz="1200" spc="-5">
                <a:latin typeface="Arial"/>
                <a:cs typeface="Arial"/>
              </a:rPr>
              <a:t>and </a:t>
            </a:r>
            <a:r>
              <a:rPr dirty="0" sz="1200" spc="-10">
                <a:latin typeface="Arial"/>
                <a:cs typeface="Arial"/>
              </a:rPr>
              <a:t>the  </a:t>
            </a:r>
            <a:r>
              <a:rPr dirty="0" sz="1200" spc="-5">
                <a:latin typeface="Arial"/>
                <a:cs typeface="Arial"/>
              </a:rPr>
              <a:t>supreme happiness of </a:t>
            </a:r>
            <a:r>
              <a:rPr dirty="0" sz="1200">
                <a:latin typeface="Arial"/>
                <a:cs typeface="Arial"/>
              </a:rPr>
              <a:t>the </a:t>
            </a:r>
            <a:r>
              <a:rPr dirty="0" sz="1200" spc="-5">
                <a:latin typeface="Arial"/>
                <a:cs typeface="Arial"/>
              </a:rPr>
              <a:t>other world. Philosophy could not understand </a:t>
            </a:r>
            <a:r>
              <a:rPr dirty="0" sz="1200">
                <a:latin typeface="Arial"/>
                <a:cs typeface="Arial"/>
              </a:rPr>
              <a:t>this </a:t>
            </a:r>
            <a:r>
              <a:rPr dirty="0" sz="1200" spc="-5">
                <a:latin typeface="Arial"/>
                <a:cs typeface="Arial"/>
              </a:rPr>
              <a:t>framework of  religion as </a:t>
            </a:r>
            <a:r>
              <a:rPr dirty="0" sz="1200">
                <a:latin typeface="Arial"/>
                <a:cs typeface="Arial"/>
              </a:rPr>
              <a:t>long </a:t>
            </a:r>
            <a:r>
              <a:rPr dirty="0" sz="1200" spc="-5">
                <a:latin typeface="Arial"/>
                <a:cs typeface="Arial"/>
              </a:rPr>
              <a:t>as </a:t>
            </a:r>
            <a:r>
              <a:rPr dirty="0" sz="1200">
                <a:latin typeface="Arial"/>
                <a:cs typeface="Arial"/>
              </a:rPr>
              <a:t>it </a:t>
            </a:r>
            <a:r>
              <a:rPr dirty="0" sz="1200" spc="-5">
                <a:latin typeface="Arial"/>
                <a:cs typeface="Arial"/>
              </a:rPr>
              <a:t>concerned itself almost exclusively with </a:t>
            </a:r>
            <a:r>
              <a:rPr dirty="0" sz="1200">
                <a:latin typeface="Arial"/>
                <a:cs typeface="Arial"/>
              </a:rPr>
              <a:t>its truth </a:t>
            </a:r>
            <a:r>
              <a:rPr dirty="0" sz="1200" spc="5">
                <a:latin typeface="Arial"/>
                <a:cs typeface="Arial"/>
              </a:rPr>
              <a:t>content </a:t>
            </a:r>
            <a:r>
              <a:rPr dirty="0" sz="1200" spc="-5">
                <a:latin typeface="Arial"/>
                <a:cs typeface="Arial"/>
              </a:rPr>
              <a:t>and confined  </a:t>
            </a:r>
            <a:r>
              <a:rPr dirty="0" sz="1200">
                <a:latin typeface="Arial"/>
                <a:cs typeface="Arial"/>
              </a:rPr>
              <a:t>the </a:t>
            </a:r>
            <a:r>
              <a:rPr dirty="0" sz="1200" spc="-5">
                <a:latin typeface="Arial"/>
                <a:cs typeface="Arial"/>
              </a:rPr>
              <a:t>study of practical science to individualistic </a:t>
            </a:r>
            <a:r>
              <a:rPr dirty="0" sz="1200">
                <a:latin typeface="Arial"/>
                <a:cs typeface="Arial"/>
              </a:rPr>
              <a:t>ethics </a:t>
            </a:r>
            <a:r>
              <a:rPr dirty="0" sz="1200" spc="-5">
                <a:latin typeface="Arial"/>
                <a:cs typeface="Arial"/>
              </a:rPr>
              <a:t>and personal</a:t>
            </a:r>
            <a:r>
              <a:rPr dirty="0" sz="1200" spc="10">
                <a:latin typeface="Arial"/>
                <a:cs typeface="Arial"/>
              </a:rPr>
              <a:t> </a:t>
            </a:r>
            <a:r>
              <a:rPr dirty="0" sz="1200" spc="-5">
                <a:latin typeface="Arial"/>
                <a:cs typeface="Arial"/>
              </a:rPr>
              <a:t>salvation.</a:t>
            </a:r>
            <a:endParaRPr sz="1200">
              <a:latin typeface="Arial"/>
              <a:cs typeface="Arial"/>
            </a:endParaRPr>
          </a:p>
          <a:p>
            <a:pPr algn="just" marL="12700" marR="5080">
              <a:lnSpc>
                <a:spcPct val="95800"/>
              </a:lnSpc>
              <a:spcBef>
                <a:spcPts val="994"/>
              </a:spcBef>
            </a:pPr>
            <a:r>
              <a:rPr dirty="0" sz="1200">
                <a:latin typeface="Arial"/>
                <a:cs typeface="Arial"/>
              </a:rPr>
              <a:t>In contrast to </a:t>
            </a:r>
            <a:r>
              <a:rPr dirty="0" sz="1200" spc="-5">
                <a:latin typeface="Arial"/>
                <a:cs typeface="Arial"/>
              </a:rPr>
              <a:t>al-Kindi and ar-R</a:t>
            </a:r>
            <a:r>
              <a:rPr dirty="0" u="sng" sz="1200" spc="-5">
                <a:uFill>
                  <a:solidFill>
                    <a:srgbClr val="000000"/>
                  </a:solidFill>
                </a:uFill>
                <a:latin typeface="Arial"/>
                <a:cs typeface="Arial"/>
              </a:rPr>
              <a:t>a</a:t>
            </a:r>
            <a:r>
              <a:rPr dirty="0" sz="1200" spc="-5">
                <a:latin typeface="Arial"/>
                <a:cs typeface="Arial"/>
              </a:rPr>
              <a:t>zi, al-F</a:t>
            </a:r>
            <a:r>
              <a:rPr dirty="0" u="sng" sz="1200" spc="-5">
                <a:uFill>
                  <a:solidFill>
                    <a:srgbClr val="000000"/>
                  </a:solidFill>
                </a:uFill>
                <a:latin typeface="Arial"/>
                <a:cs typeface="Arial"/>
              </a:rPr>
              <a:t>a</a:t>
            </a:r>
            <a:r>
              <a:rPr dirty="0" sz="1200" spc="-5">
                <a:latin typeface="Arial"/>
                <a:cs typeface="Arial"/>
              </a:rPr>
              <a:t>r</a:t>
            </a:r>
            <a:r>
              <a:rPr dirty="0" u="sng" sz="1200" spc="-5">
                <a:uFill>
                  <a:solidFill>
                    <a:srgbClr val="000000"/>
                  </a:solidFill>
                </a:uFill>
                <a:latin typeface="Arial"/>
                <a:cs typeface="Arial"/>
              </a:rPr>
              <a:t>a</a:t>
            </a:r>
            <a:r>
              <a:rPr dirty="0" sz="1200" spc="-5">
                <a:latin typeface="Arial"/>
                <a:cs typeface="Arial"/>
              </a:rPr>
              <a:t>bi </a:t>
            </a:r>
            <a:r>
              <a:rPr dirty="0" sz="1200">
                <a:latin typeface="Arial"/>
                <a:cs typeface="Arial"/>
              </a:rPr>
              <a:t>recast </a:t>
            </a:r>
            <a:r>
              <a:rPr dirty="0" sz="1200" spc="-5">
                <a:latin typeface="Arial"/>
                <a:cs typeface="Arial"/>
              </a:rPr>
              <a:t>philosophy in a new framework  analogous </a:t>
            </a:r>
            <a:r>
              <a:rPr dirty="0" sz="1200">
                <a:latin typeface="Arial"/>
                <a:cs typeface="Arial"/>
              </a:rPr>
              <a:t>to </a:t>
            </a:r>
            <a:r>
              <a:rPr dirty="0" sz="1200" spc="-5">
                <a:latin typeface="Arial"/>
                <a:cs typeface="Arial"/>
              </a:rPr>
              <a:t>that of </a:t>
            </a:r>
            <a:r>
              <a:rPr dirty="0" sz="1200" spc="-10">
                <a:latin typeface="Arial"/>
                <a:cs typeface="Arial"/>
              </a:rPr>
              <a:t>the </a:t>
            </a:r>
            <a:r>
              <a:rPr dirty="0" sz="1200">
                <a:latin typeface="Arial"/>
                <a:cs typeface="Arial"/>
              </a:rPr>
              <a:t>Isl</a:t>
            </a:r>
            <a:r>
              <a:rPr dirty="0" u="sng" sz="1200">
                <a:uFill>
                  <a:solidFill>
                    <a:srgbClr val="000000"/>
                  </a:solidFill>
                </a:uFill>
                <a:latin typeface="Arial"/>
                <a:cs typeface="Arial"/>
              </a:rPr>
              <a:t>a</a:t>
            </a:r>
            <a:r>
              <a:rPr dirty="0" sz="1200">
                <a:latin typeface="Arial"/>
                <a:cs typeface="Arial"/>
              </a:rPr>
              <a:t>mic </a:t>
            </a:r>
            <a:r>
              <a:rPr dirty="0" sz="1200" spc="-5">
                <a:latin typeface="Arial"/>
                <a:cs typeface="Arial"/>
              </a:rPr>
              <a:t>religion. The </a:t>
            </a:r>
            <a:r>
              <a:rPr dirty="0" sz="1200">
                <a:latin typeface="Arial"/>
                <a:cs typeface="Arial"/>
              </a:rPr>
              <a:t>sciences </a:t>
            </a:r>
            <a:r>
              <a:rPr dirty="0" sz="1200" spc="-5">
                <a:latin typeface="Arial"/>
                <a:cs typeface="Arial"/>
              </a:rPr>
              <a:t>were organized </a:t>
            </a:r>
            <a:r>
              <a:rPr dirty="0" sz="1200">
                <a:latin typeface="Arial"/>
                <a:cs typeface="Arial"/>
              </a:rPr>
              <a:t>within this </a:t>
            </a:r>
            <a:r>
              <a:rPr dirty="0" sz="1200" spc="-5">
                <a:latin typeface="Arial"/>
                <a:cs typeface="Arial"/>
              </a:rPr>
              <a:t>philosophic  framework so </a:t>
            </a:r>
            <a:r>
              <a:rPr dirty="0" sz="1200">
                <a:latin typeface="Arial"/>
                <a:cs typeface="Arial"/>
              </a:rPr>
              <a:t>that </a:t>
            </a:r>
            <a:r>
              <a:rPr dirty="0" sz="1200" spc="-5">
                <a:latin typeface="Arial"/>
                <a:cs typeface="Arial"/>
              </a:rPr>
              <a:t>logic, physics, mathematics, and metaphysics culminated in a political  </a:t>
            </a:r>
            <a:r>
              <a:rPr dirty="0" sz="1200">
                <a:latin typeface="Arial"/>
                <a:cs typeface="Arial"/>
              </a:rPr>
              <a:t>science </a:t>
            </a:r>
            <a:r>
              <a:rPr dirty="0" sz="1200" spc="-5">
                <a:latin typeface="Arial"/>
                <a:cs typeface="Arial"/>
              </a:rPr>
              <a:t>whose subject matter is the investigation of happiness and how </a:t>
            </a:r>
            <a:r>
              <a:rPr dirty="0" sz="1200">
                <a:latin typeface="Arial"/>
                <a:cs typeface="Arial"/>
              </a:rPr>
              <a:t>it </a:t>
            </a:r>
            <a:r>
              <a:rPr dirty="0" sz="1200" spc="-5">
                <a:latin typeface="Arial"/>
                <a:cs typeface="Arial"/>
              </a:rPr>
              <a:t>can be realized in  cities and nations. The central theme of </a:t>
            </a:r>
            <a:r>
              <a:rPr dirty="0" sz="1200">
                <a:latin typeface="Arial"/>
                <a:cs typeface="Arial"/>
              </a:rPr>
              <a:t>this political </a:t>
            </a:r>
            <a:r>
              <a:rPr dirty="0" sz="1200" spc="-5">
                <a:latin typeface="Arial"/>
                <a:cs typeface="Arial"/>
              </a:rPr>
              <a:t>science is </a:t>
            </a:r>
            <a:r>
              <a:rPr dirty="0" sz="1200" spc="-10">
                <a:latin typeface="Arial"/>
                <a:cs typeface="Arial"/>
              </a:rPr>
              <a:t>the </a:t>
            </a:r>
            <a:r>
              <a:rPr dirty="0" sz="1200" spc="-5">
                <a:latin typeface="Arial"/>
                <a:cs typeface="Arial"/>
              </a:rPr>
              <a:t>founder of a virtuous or  excellent community. Included in </a:t>
            </a:r>
            <a:r>
              <a:rPr dirty="0" sz="1200">
                <a:latin typeface="Arial"/>
                <a:cs typeface="Arial"/>
              </a:rPr>
              <a:t>this </a:t>
            </a:r>
            <a:r>
              <a:rPr dirty="0" sz="1200" spc="-5">
                <a:latin typeface="Arial"/>
                <a:cs typeface="Arial"/>
              </a:rPr>
              <a:t>theme are views concerning </a:t>
            </a:r>
            <a:r>
              <a:rPr dirty="0" sz="1200">
                <a:latin typeface="Arial"/>
                <a:cs typeface="Arial"/>
              </a:rPr>
              <a:t>the </a:t>
            </a:r>
            <a:r>
              <a:rPr dirty="0" sz="1200" spc="-5">
                <a:latin typeface="Arial"/>
                <a:cs typeface="Arial"/>
              </a:rPr>
              <a:t>supreme rulers who  follow </a:t>
            </a:r>
            <a:r>
              <a:rPr dirty="0" sz="1200">
                <a:latin typeface="Arial"/>
                <a:cs typeface="Arial"/>
              </a:rPr>
              <a:t>the </a:t>
            </a:r>
            <a:r>
              <a:rPr dirty="0" sz="1200" spc="-5">
                <a:latin typeface="Arial"/>
                <a:cs typeface="Arial"/>
              </a:rPr>
              <a:t>founder, their qualifications, and how </a:t>
            </a:r>
            <a:r>
              <a:rPr dirty="0" sz="1200">
                <a:latin typeface="Arial"/>
                <a:cs typeface="Arial"/>
              </a:rPr>
              <a:t>the </a:t>
            </a:r>
            <a:r>
              <a:rPr dirty="0" sz="1200" spc="-5">
                <a:latin typeface="Arial"/>
                <a:cs typeface="Arial"/>
              </a:rPr>
              <a:t>community must be ordered so that </a:t>
            </a:r>
            <a:r>
              <a:rPr dirty="0" sz="1200">
                <a:latin typeface="Arial"/>
                <a:cs typeface="Arial"/>
              </a:rPr>
              <a:t>its  </a:t>
            </a:r>
            <a:r>
              <a:rPr dirty="0" sz="1200" spc="-5">
                <a:latin typeface="Arial"/>
                <a:cs typeface="Arial"/>
              </a:rPr>
              <a:t>members attain happiness as </a:t>
            </a:r>
            <a:r>
              <a:rPr dirty="0" sz="1200">
                <a:latin typeface="Arial"/>
                <a:cs typeface="Arial"/>
              </a:rPr>
              <a:t>citizens </a:t>
            </a:r>
            <a:r>
              <a:rPr dirty="0" sz="1200" spc="-5">
                <a:latin typeface="Arial"/>
                <a:cs typeface="Arial"/>
              </a:rPr>
              <a:t>rather </a:t>
            </a:r>
            <a:r>
              <a:rPr dirty="0" sz="1200">
                <a:latin typeface="Arial"/>
                <a:cs typeface="Arial"/>
              </a:rPr>
              <a:t>than </a:t>
            </a:r>
            <a:r>
              <a:rPr dirty="0" sz="1200" spc="-5">
                <a:latin typeface="Arial"/>
                <a:cs typeface="Arial"/>
              </a:rPr>
              <a:t>isolated human beings. Once </a:t>
            </a:r>
            <a:r>
              <a:rPr dirty="0" sz="1200">
                <a:latin typeface="Arial"/>
                <a:cs typeface="Arial"/>
              </a:rPr>
              <a:t>this </a:t>
            </a:r>
            <a:r>
              <a:rPr dirty="0" sz="1200" spc="-5">
                <a:latin typeface="Arial"/>
                <a:cs typeface="Arial"/>
              </a:rPr>
              <a:t>new  philosophical framework </a:t>
            </a:r>
            <a:r>
              <a:rPr dirty="0" sz="1200" spc="-10">
                <a:latin typeface="Arial"/>
                <a:cs typeface="Arial"/>
              </a:rPr>
              <a:t>was </a:t>
            </a:r>
            <a:r>
              <a:rPr dirty="0" sz="1200" spc="-5">
                <a:latin typeface="Arial"/>
                <a:cs typeface="Arial"/>
              </a:rPr>
              <a:t>established, </a:t>
            </a:r>
            <a:r>
              <a:rPr dirty="0" sz="1200">
                <a:latin typeface="Arial"/>
                <a:cs typeface="Arial"/>
              </a:rPr>
              <a:t>it </a:t>
            </a:r>
            <a:r>
              <a:rPr dirty="0" sz="1200" spc="-5">
                <a:latin typeface="Arial"/>
                <a:cs typeface="Arial"/>
              </a:rPr>
              <a:t>became possible to conduct a philosophical  investigation </a:t>
            </a:r>
            <a:r>
              <a:rPr dirty="0" sz="1200">
                <a:latin typeface="Arial"/>
                <a:cs typeface="Arial"/>
              </a:rPr>
              <a:t>of all the elements </a:t>
            </a:r>
            <a:r>
              <a:rPr dirty="0" sz="1200" spc="-5">
                <a:latin typeface="Arial"/>
                <a:cs typeface="Arial"/>
              </a:rPr>
              <a:t>that constituted the </a:t>
            </a:r>
            <a:r>
              <a:rPr dirty="0" sz="1200" spc="5">
                <a:latin typeface="Arial"/>
                <a:cs typeface="Arial"/>
              </a:rPr>
              <a:t>Isl</a:t>
            </a:r>
            <a:r>
              <a:rPr dirty="0" u="sng" sz="1200" spc="5">
                <a:uFill>
                  <a:solidFill>
                    <a:srgbClr val="000000"/>
                  </a:solidFill>
                </a:uFill>
                <a:latin typeface="Arial"/>
                <a:cs typeface="Arial"/>
              </a:rPr>
              <a:t>a</a:t>
            </a:r>
            <a:r>
              <a:rPr dirty="0" sz="1200" spc="5">
                <a:latin typeface="Arial"/>
                <a:cs typeface="Arial"/>
              </a:rPr>
              <a:t>mic </a:t>
            </a:r>
            <a:r>
              <a:rPr dirty="0" sz="1200" spc="-5">
                <a:latin typeface="Arial"/>
                <a:cs typeface="Arial"/>
              </a:rPr>
              <a:t>community: </a:t>
            </a:r>
            <a:r>
              <a:rPr dirty="0" sz="1200">
                <a:latin typeface="Arial"/>
                <a:cs typeface="Arial"/>
              </a:rPr>
              <a:t>the </a:t>
            </a:r>
            <a:r>
              <a:rPr dirty="0" sz="1200" spc="-5">
                <a:latin typeface="Arial"/>
                <a:cs typeface="Arial"/>
              </a:rPr>
              <a:t>prophet-lawgiver,  </a:t>
            </a:r>
            <a:r>
              <a:rPr dirty="0" sz="1200">
                <a:latin typeface="Arial"/>
                <a:cs typeface="Arial"/>
              </a:rPr>
              <a:t>the </a:t>
            </a:r>
            <a:r>
              <a:rPr dirty="0" sz="1200" spc="-5">
                <a:latin typeface="Arial"/>
                <a:cs typeface="Arial"/>
              </a:rPr>
              <a:t>aims of the divine laws, </a:t>
            </a:r>
            <a:r>
              <a:rPr dirty="0" sz="1200">
                <a:latin typeface="Arial"/>
                <a:cs typeface="Arial"/>
              </a:rPr>
              <a:t>the </a:t>
            </a:r>
            <a:r>
              <a:rPr dirty="0" sz="1200" spc="-5">
                <a:latin typeface="Arial"/>
                <a:cs typeface="Arial"/>
              </a:rPr>
              <a:t>legislation of beliefs as well as </a:t>
            </a:r>
            <a:r>
              <a:rPr dirty="0" sz="1200">
                <a:latin typeface="Arial"/>
                <a:cs typeface="Arial"/>
              </a:rPr>
              <a:t>actions, the </a:t>
            </a:r>
            <a:r>
              <a:rPr dirty="0" sz="1200" spc="-10">
                <a:latin typeface="Arial"/>
                <a:cs typeface="Arial"/>
              </a:rPr>
              <a:t>role </a:t>
            </a:r>
            <a:r>
              <a:rPr dirty="0" sz="1200" spc="-5">
                <a:latin typeface="Arial"/>
                <a:cs typeface="Arial"/>
              </a:rPr>
              <a:t>of the  succeessors </a:t>
            </a:r>
            <a:r>
              <a:rPr dirty="0" sz="1200">
                <a:latin typeface="Arial"/>
                <a:cs typeface="Arial"/>
              </a:rPr>
              <a:t>to </a:t>
            </a:r>
            <a:r>
              <a:rPr dirty="0" sz="1200" spc="-5">
                <a:latin typeface="Arial"/>
                <a:cs typeface="Arial"/>
              </a:rPr>
              <a:t>the founding legislator, </a:t>
            </a:r>
            <a:r>
              <a:rPr dirty="0" sz="1200">
                <a:latin typeface="Arial"/>
                <a:cs typeface="Arial"/>
              </a:rPr>
              <a:t>the </a:t>
            </a:r>
            <a:r>
              <a:rPr dirty="0" sz="1200" spc="-5">
                <a:latin typeface="Arial"/>
                <a:cs typeface="Arial"/>
              </a:rPr>
              <a:t>grounds of the interpretation or reform of the </a:t>
            </a:r>
            <a:r>
              <a:rPr dirty="0" sz="1200" spc="-10">
                <a:latin typeface="Arial"/>
                <a:cs typeface="Arial"/>
              </a:rPr>
              <a:t>law,  </a:t>
            </a:r>
            <a:r>
              <a:rPr dirty="0" sz="1200">
                <a:latin typeface="Arial"/>
                <a:cs typeface="Arial"/>
              </a:rPr>
              <a:t>the </a:t>
            </a:r>
            <a:r>
              <a:rPr dirty="0" sz="1200" spc="-5">
                <a:latin typeface="Arial"/>
                <a:cs typeface="Arial"/>
              </a:rPr>
              <a:t>classification of human communities according </a:t>
            </a:r>
            <a:r>
              <a:rPr dirty="0" sz="1200">
                <a:latin typeface="Arial"/>
                <a:cs typeface="Arial"/>
              </a:rPr>
              <a:t>to </a:t>
            </a:r>
            <a:r>
              <a:rPr dirty="0" sz="1200" spc="-5">
                <a:latin typeface="Arial"/>
                <a:cs typeface="Arial"/>
              </a:rPr>
              <a:t>their doctrines in addition </a:t>
            </a:r>
            <a:r>
              <a:rPr dirty="0" sz="1200">
                <a:latin typeface="Arial"/>
                <a:cs typeface="Arial"/>
              </a:rPr>
              <a:t>to </a:t>
            </a:r>
            <a:r>
              <a:rPr dirty="0" sz="1200" spc="5">
                <a:latin typeface="Arial"/>
                <a:cs typeface="Arial"/>
              </a:rPr>
              <a:t>their </a:t>
            </a:r>
            <a:r>
              <a:rPr dirty="0" sz="1200" spc="-5">
                <a:latin typeface="Arial"/>
                <a:cs typeface="Arial"/>
              </a:rPr>
              <a:t>size,  and </a:t>
            </a:r>
            <a:r>
              <a:rPr dirty="0" sz="1200">
                <a:latin typeface="Arial"/>
                <a:cs typeface="Arial"/>
              </a:rPr>
              <a:t>the </a:t>
            </a:r>
            <a:r>
              <a:rPr dirty="0" sz="1200" spc="-5">
                <a:latin typeface="Arial"/>
                <a:cs typeface="Arial"/>
              </a:rPr>
              <a:t>critique of "ignorant" (pagan), "transgressing," "falsifying," and "erring" communities.  Philosophical </a:t>
            </a:r>
            <a:r>
              <a:rPr dirty="0" sz="1200" spc="-10">
                <a:latin typeface="Arial"/>
                <a:cs typeface="Arial"/>
              </a:rPr>
              <a:t>cosmology, </a:t>
            </a:r>
            <a:r>
              <a:rPr dirty="0" sz="1200" spc="-5">
                <a:latin typeface="Arial"/>
                <a:cs typeface="Arial"/>
              </a:rPr>
              <a:t>psychology, and politics were blended </a:t>
            </a:r>
            <a:r>
              <a:rPr dirty="0" sz="1200" spc="-10">
                <a:latin typeface="Arial"/>
                <a:cs typeface="Arial"/>
              </a:rPr>
              <a:t>by </a:t>
            </a:r>
            <a:r>
              <a:rPr dirty="0" sz="1200">
                <a:latin typeface="Arial"/>
                <a:cs typeface="Arial"/>
              </a:rPr>
              <a:t>al-F</a:t>
            </a:r>
            <a:r>
              <a:rPr dirty="0" u="sng" sz="1200">
                <a:uFill>
                  <a:solidFill>
                    <a:srgbClr val="000000"/>
                  </a:solidFill>
                </a:uFill>
                <a:latin typeface="Arial"/>
                <a:cs typeface="Arial"/>
              </a:rPr>
              <a:t>a</a:t>
            </a:r>
            <a:r>
              <a:rPr dirty="0" sz="1200">
                <a:latin typeface="Arial"/>
                <a:cs typeface="Arial"/>
              </a:rPr>
              <a:t>r</a:t>
            </a:r>
            <a:r>
              <a:rPr dirty="0" u="sng" sz="1200">
                <a:uFill>
                  <a:solidFill>
                    <a:srgbClr val="000000"/>
                  </a:solidFill>
                </a:uFill>
                <a:latin typeface="Arial"/>
                <a:cs typeface="Arial"/>
              </a:rPr>
              <a:t>a</a:t>
            </a:r>
            <a:r>
              <a:rPr dirty="0" sz="1200">
                <a:latin typeface="Arial"/>
                <a:cs typeface="Arial"/>
              </a:rPr>
              <a:t>bi </a:t>
            </a:r>
            <a:r>
              <a:rPr dirty="0" sz="1200" spc="-5">
                <a:latin typeface="Arial"/>
                <a:cs typeface="Arial"/>
              </a:rPr>
              <a:t>into a political  theology whose aim </a:t>
            </a:r>
            <a:r>
              <a:rPr dirty="0" sz="1200" spc="-10">
                <a:latin typeface="Arial"/>
                <a:cs typeface="Arial"/>
              </a:rPr>
              <a:t>was </a:t>
            </a:r>
            <a:r>
              <a:rPr dirty="0" sz="1200">
                <a:latin typeface="Arial"/>
                <a:cs typeface="Arial"/>
              </a:rPr>
              <a:t>to </a:t>
            </a:r>
            <a:r>
              <a:rPr dirty="0" sz="1200" spc="-5">
                <a:latin typeface="Arial"/>
                <a:cs typeface="Arial"/>
              </a:rPr>
              <a:t>clarify </a:t>
            </a:r>
            <a:r>
              <a:rPr dirty="0" sz="1200">
                <a:latin typeface="Arial"/>
                <a:cs typeface="Arial"/>
              </a:rPr>
              <a:t>the </a:t>
            </a:r>
            <a:r>
              <a:rPr dirty="0" sz="1200" spc="-5">
                <a:latin typeface="Arial"/>
                <a:cs typeface="Arial"/>
              </a:rPr>
              <a:t>foundations of </a:t>
            </a:r>
            <a:r>
              <a:rPr dirty="0" sz="1200">
                <a:latin typeface="Arial"/>
                <a:cs typeface="Arial"/>
              </a:rPr>
              <a:t>the </a:t>
            </a:r>
            <a:r>
              <a:rPr dirty="0" sz="1200" spc="-5">
                <a:latin typeface="Arial"/>
                <a:cs typeface="Arial"/>
              </a:rPr>
              <a:t>Isl</a:t>
            </a:r>
            <a:r>
              <a:rPr dirty="0" u="sng" sz="1200" spc="-5">
                <a:uFill>
                  <a:solidFill>
                    <a:srgbClr val="000000"/>
                  </a:solidFill>
                </a:uFill>
                <a:latin typeface="Arial"/>
                <a:cs typeface="Arial"/>
              </a:rPr>
              <a:t>a</a:t>
            </a:r>
            <a:r>
              <a:rPr dirty="0" sz="1200" spc="-5">
                <a:latin typeface="Arial"/>
                <a:cs typeface="Arial"/>
              </a:rPr>
              <a:t>mic community and defend </a:t>
            </a:r>
            <a:r>
              <a:rPr dirty="0" sz="1200">
                <a:latin typeface="Arial"/>
                <a:cs typeface="Arial"/>
              </a:rPr>
              <a:t>its  reform </a:t>
            </a:r>
            <a:r>
              <a:rPr dirty="0" sz="1200" spc="-5">
                <a:latin typeface="Arial"/>
                <a:cs typeface="Arial"/>
              </a:rPr>
              <a:t>in a direction that would promote scientific inquiry and encourage philosophers to </a:t>
            </a:r>
            <a:r>
              <a:rPr dirty="0" sz="1200">
                <a:latin typeface="Arial"/>
                <a:cs typeface="Arial"/>
              </a:rPr>
              <a:t>play  </a:t>
            </a:r>
            <a:r>
              <a:rPr dirty="0" sz="1200" spc="-5">
                <a:latin typeface="Arial"/>
                <a:cs typeface="Arial"/>
              </a:rPr>
              <a:t>an active role in practical affairs. (see also </a:t>
            </a:r>
            <a:r>
              <a:rPr dirty="0" sz="1200" spc="-5" i="1">
                <a:latin typeface="Arial"/>
                <a:cs typeface="Arial"/>
              </a:rPr>
              <a:t>Index</a:t>
            </a:r>
            <a:r>
              <a:rPr dirty="0" sz="1200" spc="-5">
                <a:latin typeface="Arial"/>
                <a:cs typeface="Arial"/>
              </a:rPr>
              <a:t>: political</a:t>
            </a:r>
            <a:r>
              <a:rPr dirty="0" sz="1200" spc="90">
                <a:latin typeface="Arial"/>
                <a:cs typeface="Arial"/>
              </a:rPr>
              <a:t> </a:t>
            </a:r>
            <a:r>
              <a:rPr dirty="0" sz="1200" spc="-5">
                <a:latin typeface="Arial"/>
                <a:cs typeface="Arial"/>
              </a:rPr>
              <a:t>philosophy)</a:t>
            </a:r>
            <a:endParaRPr sz="1200">
              <a:latin typeface="Arial"/>
              <a:cs typeface="Arial"/>
            </a:endParaRPr>
          </a:p>
          <a:p>
            <a:pPr>
              <a:lnSpc>
                <a:spcPct val="100000"/>
              </a:lnSpc>
              <a:spcBef>
                <a:spcPts val="50"/>
              </a:spcBef>
            </a:pPr>
            <a:endParaRPr sz="1400">
              <a:latin typeface="Arial"/>
              <a:cs typeface="Arial"/>
            </a:endParaRPr>
          </a:p>
          <a:p>
            <a:pPr marL="183515" indent="-171450">
              <a:lnSpc>
                <a:spcPct val="100000"/>
              </a:lnSpc>
              <a:buFont typeface="Arial"/>
              <a:buAutoNum type="arabicPeriod" startAt="2"/>
              <a:tabLst>
                <a:tab pos="184150" algn="l"/>
              </a:tabLst>
            </a:pPr>
            <a:r>
              <a:rPr dirty="0" sz="1200" spc="-5" b="1">
                <a:latin typeface="Arial"/>
                <a:cs typeface="Arial"/>
              </a:rPr>
              <a:t>Interpretation </a:t>
            </a:r>
            <a:r>
              <a:rPr dirty="0" sz="1200" b="1">
                <a:latin typeface="Arial"/>
                <a:cs typeface="Arial"/>
              </a:rPr>
              <a:t>of </a:t>
            </a:r>
            <a:r>
              <a:rPr dirty="0" sz="1200" spc="-5" b="1">
                <a:latin typeface="Arial"/>
                <a:cs typeface="Arial"/>
              </a:rPr>
              <a:t>Plato </a:t>
            </a:r>
            <a:r>
              <a:rPr dirty="0" sz="1200" b="1">
                <a:latin typeface="Arial"/>
                <a:cs typeface="Arial"/>
              </a:rPr>
              <a:t>and </a:t>
            </a:r>
            <a:r>
              <a:rPr dirty="0" sz="1200" spc="-5" b="1">
                <a:latin typeface="Arial"/>
                <a:cs typeface="Arial"/>
              </a:rPr>
              <a:t>Aristotle.</a:t>
            </a:r>
            <a:endParaRPr sz="1200">
              <a:latin typeface="Arial"/>
              <a:cs typeface="Arial"/>
            </a:endParaRPr>
          </a:p>
          <a:p>
            <a:pPr algn="just" marL="12700" marR="5080">
              <a:lnSpc>
                <a:spcPct val="95800"/>
              </a:lnSpc>
              <a:spcBef>
                <a:spcPts val="805"/>
              </a:spcBef>
            </a:pPr>
            <a:r>
              <a:rPr dirty="0" sz="1200" spc="-5">
                <a:latin typeface="Arial"/>
                <a:cs typeface="Arial"/>
              </a:rPr>
              <a:t>Behind this public, or exoteric, aspect of al-F</a:t>
            </a:r>
            <a:r>
              <a:rPr dirty="0" u="sng" sz="1200" spc="-5">
                <a:uFill>
                  <a:solidFill>
                    <a:srgbClr val="000000"/>
                  </a:solidFill>
                </a:uFill>
                <a:latin typeface="Arial"/>
                <a:cs typeface="Arial"/>
              </a:rPr>
              <a:t>a</a:t>
            </a:r>
            <a:r>
              <a:rPr dirty="0" sz="1200" spc="-5">
                <a:latin typeface="Arial"/>
                <a:cs typeface="Arial"/>
              </a:rPr>
              <a:t>r</a:t>
            </a:r>
            <a:r>
              <a:rPr dirty="0" u="sng" sz="1200" spc="-5">
                <a:uFill>
                  <a:solidFill>
                    <a:srgbClr val="000000"/>
                  </a:solidFill>
                </a:uFill>
                <a:latin typeface="Arial"/>
                <a:cs typeface="Arial"/>
              </a:rPr>
              <a:t>a</a:t>
            </a:r>
            <a:r>
              <a:rPr dirty="0" sz="1200" spc="-5">
                <a:latin typeface="Arial"/>
                <a:cs typeface="Arial"/>
              </a:rPr>
              <a:t>bi's work </a:t>
            </a:r>
            <a:r>
              <a:rPr dirty="0" sz="1200">
                <a:latin typeface="Arial"/>
                <a:cs typeface="Arial"/>
              </a:rPr>
              <a:t>stood </a:t>
            </a:r>
            <a:r>
              <a:rPr dirty="0" sz="1200" spc="-5">
                <a:latin typeface="Arial"/>
                <a:cs typeface="Arial"/>
              </a:rPr>
              <a:t>a massive body </a:t>
            </a:r>
            <a:r>
              <a:rPr dirty="0" sz="1200">
                <a:latin typeface="Arial"/>
                <a:cs typeface="Arial"/>
              </a:rPr>
              <a:t>of </a:t>
            </a:r>
            <a:r>
              <a:rPr dirty="0" sz="1200" spc="-5">
                <a:latin typeface="Arial"/>
                <a:cs typeface="Arial"/>
              </a:rPr>
              <a:t>more  properly philosophic </a:t>
            </a:r>
            <a:r>
              <a:rPr dirty="0" sz="1200" spc="-10">
                <a:latin typeface="Arial"/>
                <a:cs typeface="Arial"/>
              </a:rPr>
              <a:t>or </a:t>
            </a:r>
            <a:r>
              <a:rPr dirty="0" sz="1200">
                <a:latin typeface="Arial"/>
                <a:cs typeface="Arial"/>
              </a:rPr>
              <a:t>scientific </a:t>
            </a:r>
            <a:r>
              <a:rPr dirty="0" sz="1200" spc="-5">
                <a:latin typeface="Arial"/>
                <a:cs typeface="Arial"/>
              </a:rPr>
              <a:t>inquiries, which established his reputation among Muslims  as </a:t>
            </a:r>
            <a:r>
              <a:rPr dirty="0" sz="1200">
                <a:latin typeface="Arial"/>
                <a:cs typeface="Arial"/>
              </a:rPr>
              <a:t>the </a:t>
            </a:r>
            <a:r>
              <a:rPr dirty="0" sz="1200" spc="-5">
                <a:latin typeface="Arial"/>
                <a:cs typeface="Arial"/>
              </a:rPr>
              <a:t>greatest philosophical authority </a:t>
            </a:r>
            <a:r>
              <a:rPr dirty="0" sz="1200">
                <a:latin typeface="Arial"/>
                <a:cs typeface="Arial"/>
              </a:rPr>
              <a:t>after </a:t>
            </a:r>
            <a:r>
              <a:rPr dirty="0" sz="1200" spc="-5">
                <a:latin typeface="Arial"/>
                <a:cs typeface="Arial"/>
              </a:rPr>
              <a:t>Aristotle, a great interpreter of the thought of  Plato and Aristotle and </a:t>
            </a:r>
            <a:r>
              <a:rPr dirty="0" sz="1200">
                <a:latin typeface="Arial"/>
                <a:cs typeface="Arial"/>
              </a:rPr>
              <a:t>their </a:t>
            </a:r>
            <a:r>
              <a:rPr dirty="0" sz="1200" spc="-5">
                <a:latin typeface="Arial"/>
                <a:cs typeface="Arial"/>
              </a:rPr>
              <a:t>commentators, and a master </a:t>
            </a:r>
            <a:r>
              <a:rPr dirty="0" sz="1200">
                <a:latin typeface="Arial"/>
                <a:cs typeface="Arial"/>
              </a:rPr>
              <a:t>to </a:t>
            </a:r>
            <a:r>
              <a:rPr dirty="0" sz="1200" spc="-5">
                <a:latin typeface="Arial"/>
                <a:cs typeface="Arial"/>
              </a:rPr>
              <a:t>whom almost all </a:t>
            </a:r>
            <a:r>
              <a:rPr dirty="0" sz="1200">
                <a:latin typeface="Arial"/>
                <a:cs typeface="Arial"/>
              </a:rPr>
              <a:t>major </a:t>
            </a:r>
            <a:r>
              <a:rPr dirty="0" sz="1200" spc="-10">
                <a:latin typeface="Arial"/>
                <a:cs typeface="Arial"/>
              </a:rPr>
              <a:t>Muslim  </a:t>
            </a:r>
            <a:r>
              <a:rPr dirty="0" sz="1200" spc="-5">
                <a:latin typeface="Arial"/>
                <a:cs typeface="Arial"/>
              </a:rPr>
              <a:t>as well as a </a:t>
            </a:r>
            <a:r>
              <a:rPr dirty="0" sz="1200">
                <a:latin typeface="Arial"/>
                <a:cs typeface="Arial"/>
              </a:rPr>
              <a:t>number </a:t>
            </a:r>
            <a:r>
              <a:rPr dirty="0" sz="1200" spc="-5">
                <a:latin typeface="Arial"/>
                <a:cs typeface="Arial"/>
              </a:rPr>
              <a:t>of Jewish and Christian philosophers turned for a </a:t>
            </a:r>
            <a:r>
              <a:rPr dirty="0" sz="1200">
                <a:latin typeface="Arial"/>
                <a:cs typeface="Arial"/>
              </a:rPr>
              <a:t>fuller </a:t>
            </a:r>
            <a:r>
              <a:rPr dirty="0" sz="1200" spc="-5">
                <a:latin typeface="Arial"/>
                <a:cs typeface="Arial"/>
              </a:rPr>
              <a:t>understanding of  </a:t>
            </a:r>
            <a:r>
              <a:rPr dirty="0" sz="1200">
                <a:latin typeface="Arial"/>
                <a:cs typeface="Arial"/>
              </a:rPr>
              <a:t>the </a:t>
            </a:r>
            <a:r>
              <a:rPr dirty="0" sz="1200" spc="-5">
                <a:latin typeface="Arial"/>
                <a:cs typeface="Arial"/>
              </a:rPr>
              <a:t>controversial, </a:t>
            </a:r>
            <a:r>
              <a:rPr dirty="0" sz="1200">
                <a:latin typeface="Arial"/>
                <a:cs typeface="Arial"/>
              </a:rPr>
              <a:t>troublesome, </a:t>
            </a:r>
            <a:r>
              <a:rPr dirty="0" sz="1200" spc="-5">
                <a:latin typeface="Arial"/>
                <a:cs typeface="Arial"/>
              </a:rPr>
              <a:t>and intricate questions of </a:t>
            </a:r>
            <a:r>
              <a:rPr dirty="0" sz="1200">
                <a:latin typeface="Arial"/>
                <a:cs typeface="Arial"/>
              </a:rPr>
              <a:t>philosophy. Continuing the </a:t>
            </a:r>
            <a:r>
              <a:rPr dirty="0" sz="1200" spc="-5">
                <a:latin typeface="Arial"/>
                <a:cs typeface="Arial"/>
              </a:rPr>
              <a:t>tradition  of the </a:t>
            </a:r>
            <a:r>
              <a:rPr dirty="0" sz="1200">
                <a:latin typeface="Arial"/>
                <a:cs typeface="Arial"/>
              </a:rPr>
              <a:t>Hellenistic </a:t>
            </a:r>
            <a:r>
              <a:rPr dirty="0" sz="1200" spc="-5">
                <a:latin typeface="Arial"/>
                <a:cs typeface="Arial"/>
              </a:rPr>
              <a:t>masters of the Athenian and Alexandrian philosophical schools, </a:t>
            </a:r>
            <a:r>
              <a:rPr dirty="0" sz="1200">
                <a:latin typeface="Arial"/>
                <a:cs typeface="Arial"/>
              </a:rPr>
              <a:t>al-F</a:t>
            </a:r>
            <a:r>
              <a:rPr dirty="0" u="sng" sz="1200">
                <a:uFill>
                  <a:solidFill>
                    <a:srgbClr val="000000"/>
                  </a:solidFill>
                </a:uFill>
                <a:latin typeface="Arial"/>
                <a:cs typeface="Arial"/>
              </a:rPr>
              <a:t>a</a:t>
            </a:r>
            <a:r>
              <a:rPr dirty="0" sz="1200">
                <a:latin typeface="Arial"/>
                <a:cs typeface="Arial"/>
              </a:rPr>
              <a:t>r</a:t>
            </a:r>
            <a:r>
              <a:rPr dirty="0" u="sng" sz="1200">
                <a:uFill>
                  <a:solidFill>
                    <a:srgbClr val="000000"/>
                  </a:solidFill>
                </a:uFill>
                <a:latin typeface="Arial"/>
                <a:cs typeface="Arial"/>
              </a:rPr>
              <a:t>a</a:t>
            </a:r>
            <a:r>
              <a:rPr dirty="0" sz="1200">
                <a:latin typeface="Arial"/>
                <a:cs typeface="Arial"/>
              </a:rPr>
              <a:t>bi  </a:t>
            </a:r>
            <a:r>
              <a:rPr dirty="0" sz="1200" spc="-5">
                <a:latin typeface="Arial"/>
                <a:cs typeface="Arial"/>
              </a:rPr>
              <a:t>broadened </a:t>
            </a:r>
            <a:r>
              <a:rPr dirty="0" sz="1200">
                <a:latin typeface="Arial"/>
                <a:cs typeface="Arial"/>
              </a:rPr>
              <a:t>the </a:t>
            </a:r>
            <a:r>
              <a:rPr dirty="0" sz="1200" spc="-10">
                <a:latin typeface="Arial"/>
                <a:cs typeface="Arial"/>
              </a:rPr>
              <a:t>range </a:t>
            </a:r>
            <a:r>
              <a:rPr dirty="0" sz="1200" spc="-5">
                <a:latin typeface="Arial"/>
                <a:cs typeface="Arial"/>
              </a:rPr>
              <a:t>of philosophical inquiry and fixed </a:t>
            </a:r>
            <a:r>
              <a:rPr dirty="0" sz="1200">
                <a:latin typeface="Arial"/>
                <a:cs typeface="Arial"/>
              </a:rPr>
              <a:t>its form. </a:t>
            </a:r>
            <a:r>
              <a:rPr dirty="0" sz="1200" spc="-10">
                <a:latin typeface="Arial"/>
                <a:cs typeface="Arial"/>
              </a:rPr>
              <a:t>He </a:t>
            </a:r>
            <a:r>
              <a:rPr dirty="0" sz="1200" spc="-5">
                <a:latin typeface="Arial"/>
                <a:cs typeface="Arial"/>
              </a:rPr>
              <a:t>paid special attention to  </a:t>
            </a:r>
            <a:r>
              <a:rPr dirty="0" sz="1200">
                <a:latin typeface="Arial"/>
                <a:cs typeface="Arial"/>
              </a:rPr>
              <a:t>the </a:t>
            </a:r>
            <a:r>
              <a:rPr dirty="0" sz="1200" spc="-5">
                <a:latin typeface="Arial"/>
                <a:cs typeface="Arial"/>
              </a:rPr>
              <a:t>study of language and </a:t>
            </a:r>
            <a:r>
              <a:rPr dirty="0" sz="1200">
                <a:latin typeface="Arial"/>
                <a:cs typeface="Arial"/>
              </a:rPr>
              <a:t>its relation </a:t>
            </a:r>
            <a:r>
              <a:rPr dirty="0" sz="1200" spc="-5">
                <a:latin typeface="Arial"/>
                <a:cs typeface="Arial"/>
              </a:rPr>
              <a:t>to logic. </a:t>
            </a:r>
            <a:r>
              <a:rPr dirty="0" sz="1200">
                <a:latin typeface="Arial"/>
                <a:cs typeface="Arial"/>
              </a:rPr>
              <a:t>In </a:t>
            </a:r>
            <a:r>
              <a:rPr dirty="0" sz="1200" spc="-5">
                <a:latin typeface="Arial"/>
                <a:cs typeface="Arial"/>
              </a:rPr>
              <a:t>his numerous commentaries </a:t>
            </a:r>
            <a:r>
              <a:rPr dirty="0" sz="1200" spc="-10">
                <a:latin typeface="Arial"/>
                <a:cs typeface="Arial"/>
              </a:rPr>
              <a:t>on </a:t>
            </a:r>
            <a:r>
              <a:rPr dirty="0" sz="1200" spc="-5">
                <a:latin typeface="Arial"/>
                <a:cs typeface="Arial"/>
              </a:rPr>
              <a:t>Aristotle's  logical works, he expounded </a:t>
            </a:r>
            <a:r>
              <a:rPr dirty="0" sz="1200">
                <a:latin typeface="Arial"/>
                <a:cs typeface="Arial"/>
              </a:rPr>
              <a:t>for </a:t>
            </a:r>
            <a:r>
              <a:rPr dirty="0" sz="1200" spc="-5">
                <a:latin typeface="Arial"/>
                <a:cs typeface="Arial"/>
              </a:rPr>
              <a:t>the </a:t>
            </a:r>
            <a:r>
              <a:rPr dirty="0" sz="1200">
                <a:latin typeface="Arial"/>
                <a:cs typeface="Arial"/>
              </a:rPr>
              <a:t>first </a:t>
            </a:r>
            <a:r>
              <a:rPr dirty="0" sz="1200" spc="-5">
                <a:latin typeface="Arial"/>
                <a:cs typeface="Arial"/>
              </a:rPr>
              <a:t>time in Arabic the entire </a:t>
            </a:r>
            <a:r>
              <a:rPr dirty="0" sz="1200" spc="-10">
                <a:latin typeface="Arial"/>
                <a:cs typeface="Arial"/>
              </a:rPr>
              <a:t>range </a:t>
            </a:r>
            <a:r>
              <a:rPr dirty="0" sz="1200" spc="-5">
                <a:latin typeface="Arial"/>
                <a:cs typeface="Arial"/>
              </a:rPr>
              <a:t>of the scientific and  nonscientific forms of argument and established the place of logic as an indispensable  prerequisite </a:t>
            </a:r>
            <a:r>
              <a:rPr dirty="0" sz="1200" spc="5">
                <a:latin typeface="Arial"/>
                <a:cs typeface="Arial"/>
              </a:rPr>
              <a:t>for </a:t>
            </a:r>
            <a:r>
              <a:rPr dirty="0" sz="1200" spc="-5">
                <a:latin typeface="Arial"/>
                <a:cs typeface="Arial"/>
              </a:rPr>
              <a:t>philosophic inquiry. His writings on natural science exposed the foundation  and assumptions of Aristotle's physics and dealt with the arguments of Aristotle's opponents,  both philosophers and </a:t>
            </a:r>
            <a:r>
              <a:rPr dirty="0" sz="1200">
                <a:latin typeface="Arial"/>
                <a:cs typeface="Arial"/>
              </a:rPr>
              <a:t>scientists, </a:t>
            </a:r>
            <a:r>
              <a:rPr dirty="0" sz="1200" spc="-5">
                <a:latin typeface="Arial"/>
                <a:cs typeface="Arial"/>
              </a:rPr>
              <a:t>pagan, Christian, and</a:t>
            </a:r>
            <a:r>
              <a:rPr dirty="0" sz="1200" spc="-20">
                <a:latin typeface="Arial"/>
                <a:cs typeface="Arial"/>
              </a:rPr>
              <a:t> </a:t>
            </a:r>
            <a:r>
              <a:rPr dirty="0" sz="1200">
                <a:latin typeface="Arial"/>
                <a:cs typeface="Arial"/>
              </a:rPr>
              <a:t>Muslim.</a:t>
            </a:r>
            <a:endParaRPr sz="1200">
              <a:latin typeface="Arial"/>
              <a:cs typeface="Arial"/>
            </a:endParaRPr>
          </a:p>
          <a:p>
            <a:pPr>
              <a:lnSpc>
                <a:spcPct val="100000"/>
              </a:lnSpc>
              <a:spcBef>
                <a:spcPts val="30"/>
              </a:spcBef>
            </a:pPr>
            <a:endParaRPr sz="1400">
              <a:latin typeface="Arial"/>
              <a:cs typeface="Arial"/>
            </a:endParaRPr>
          </a:p>
          <a:p>
            <a:pPr marL="183515" indent="-171450">
              <a:lnSpc>
                <a:spcPct val="100000"/>
              </a:lnSpc>
              <a:spcBef>
                <a:spcPts val="5"/>
              </a:spcBef>
              <a:buFont typeface="Arial"/>
              <a:buAutoNum type="arabicPeriod" startAt="3"/>
              <a:tabLst>
                <a:tab pos="184150" algn="l"/>
              </a:tabLst>
            </a:pPr>
            <a:r>
              <a:rPr dirty="0" sz="1200" b="1">
                <a:latin typeface="Arial"/>
                <a:cs typeface="Arial"/>
              </a:rPr>
              <a:t>The analogy of religion </a:t>
            </a:r>
            <a:r>
              <a:rPr dirty="0" sz="1200" spc="-5" b="1">
                <a:latin typeface="Arial"/>
                <a:cs typeface="Arial"/>
              </a:rPr>
              <a:t>and</a:t>
            </a:r>
            <a:r>
              <a:rPr dirty="0" sz="1200" spc="-50" b="1">
                <a:latin typeface="Arial"/>
                <a:cs typeface="Arial"/>
              </a:rPr>
              <a:t> </a:t>
            </a:r>
            <a:r>
              <a:rPr dirty="0" sz="1200" spc="-5" b="1">
                <a:latin typeface="Arial"/>
                <a:cs typeface="Arial"/>
              </a:rPr>
              <a:t>philosophy.</a:t>
            </a:r>
            <a:endParaRPr sz="1200">
              <a:latin typeface="Arial"/>
              <a:cs typeface="Arial"/>
            </a:endParaRPr>
          </a:p>
          <a:p>
            <a:pPr algn="just" marL="12700" marR="7620">
              <a:lnSpc>
                <a:spcPct val="95700"/>
              </a:lnSpc>
              <a:spcBef>
                <a:spcPts val="805"/>
              </a:spcBef>
            </a:pPr>
            <a:r>
              <a:rPr dirty="0" sz="1200" spc="-5">
                <a:latin typeface="Arial"/>
                <a:cs typeface="Arial"/>
              </a:rPr>
              <a:t>Al-F</a:t>
            </a:r>
            <a:r>
              <a:rPr dirty="0" u="sng" sz="1200" spc="-5">
                <a:uFill>
                  <a:solidFill>
                    <a:srgbClr val="000000"/>
                  </a:solidFill>
                </a:uFill>
                <a:latin typeface="Arial"/>
                <a:cs typeface="Arial"/>
              </a:rPr>
              <a:t>a</a:t>
            </a:r>
            <a:r>
              <a:rPr dirty="0" sz="1200" spc="-5">
                <a:latin typeface="Arial"/>
                <a:cs typeface="Arial"/>
              </a:rPr>
              <a:t>r</a:t>
            </a:r>
            <a:r>
              <a:rPr dirty="0" u="sng" sz="1200" spc="-5">
                <a:uFill>
                  <a:solidFill>
                    <a:srgbClr val="000000"/>
                  </a:solidFill>
                </a:uFill>
                <a:latin typeface="Arial"/>
                <a:cs typeface="Arial"/>
              </a:rPr>
              <a:t>a</a:t>
            </a:r>
            <a:r>
              <a:rPr dirty="0" sz="1200" spc="-5">
                <a:latin typeface="Arial"/>
                <a:cs typeface="Arial"/>
              </a:rPr>
              <a:t>bi's theological and political writings showed later Muslim philosophers the way </a:t>
            </a:r>
            <a:r>
              <a:rPr dirty="0" sz="1200">
                <a:latin typeface="Arial"/>
                <a:cs typeface="Arial"/>
              </a:rPr>
              <a:t>to  </a:t>
            </a:r>
            <a:r>
              <a:rPr dirty="0" sz="1200" spc="-5">
                <a:latin typeface="Arial"/>
                <a:cs typeface="Arial"/>
              </a:rPr>
              <a:t>deal with </a:t>
            </a:r>
            <a:r>
              <a:rPr dirty="0" sz="1200">
                <a:latin typeface="Arial"/>
                <a:cs typeface="Arial"/>
              </a:rPr>
              <a:t>the </a:t>
            </a:r>
            <a:r>
              <a:rPr dirty="0" sz="1200" spc="-5">
                <a:latin typeface="Arial"/>
                <a:cs typeface="Arial"/>
              </a:rPr>
              <a:t>question </a:t>
            </a:r>
            <a:r>
              <a:rPr dirty="0" sz="1200">
                <a:latin typeface="Arial"/>
                <a:cs typeface="Arial"/>
              </a:rPr>
              <a:t>of </a:t>
            </a:r>
            <a:r>
              <a:rPr dirty="0" sz="1200" spc="-5">
                <a:latin typeface="Arial"/>
                <a:cs typeface="Arial"/>
              </a:rPr>
              <a:t>the relation between philosophy and religion and presented them  with a complex </a:t>
            </a:r>
            <a:r>
              <a:rPr dirty="0" sz="1200">
                <a:latin typeface="Arial"/>
                <a:cs typeface="Arial"/>
              </a:rPr>
              <a:t>set </a:t>
            </a:r>
            <a:r>
              <a:rPr dirty="0" sz="1200" spc="-5">
                <a:latin typeface="Arial"/>
                <a:cs typeface="Arial"/>
              </a:rPr>
              <a:t>of problems that they continued </a:t>
            </a:r>
            <a:r>
              <a:rPr dirty="0" sz="1200" spc="20">
                <a:latin typeface="Arial"/>
                <a:cs typeface="Arial"/>
              </a:rPr>
              <a:t>to </a:t>
            </a:r>
            <a:r>
              <a:rPr dirty="0" sz="1200" spc="-5">
                <a:latin typeface="Arial"/>
                <a:cs typeface="Arial"/>
              </a:rPr>
              <a:t>elaborate, modify, and develop in  different directions. Starting with </a:t>
            </a:r>
            <a:r>
              <a:rPr dirty="0" sz="1200">
                <a:latin typeface="Arial"/>
                <a:cs typeface="Arial"/>
              </a:rPr>
              <a:t>the </a:t>
            </a:r>
            <a:r>
              <a:rPr dirty="0" sz="1200" spc="-5">
                <a:latin typeface="Arial"/>
                <a:cs typeface="Arial"/>
              </a:rPr>
              <a:t>view </a:t>
            </a:r>
            <a:r>
              <a:rPr dirty="0" sz="1200">
                <a:latin typeface="Arial"/>
                <a:cs typeface="Arial"/>
              </a:rPr>
              <a:t>that </a:t>
            </a:r>
            <a:r>
              <a:rPr dirty="0" sz="1200" spc="-5">
                <a:latin typeface="Arial"/>
                <a:cs typeface="Arial"/>
              </a:rPr>
              <a:t>religion is analogous or similar </a:t>
            </a:r>
            <a:r>
              <a:rPr dirty="0" sz="1200">
                <a:latin typeface="Arial"/>
                <a:cs typeface="Arial"/>
              </a:rPr>
              <a:t>to </a:t>
            </a:r>
            <a:r>
              <a:rPr dirty="0" sz="1200" spc="-5">
                <a:latin typeface="Arial"/>
                <a:cs typeface="Arial"/>
              </a:rPr>
              <a:t>philosophy,  al-F</a:t>
            </a:r>
            <a:r>
              <a:rPr dirty="0" u="sng" sz="1200" spc="-5">
                <a:uFill>
                  <a:solidFill>
                    <a:srgbClr val="000000"/>
                  </a:solidFill>
                </a:uFill>
                <a:latin typeface="Arial"/>
                <a:cs typeface="Arial"/>
              </a:rPr>
              <a:t>a</a:t>
            </a:r>
            <a:r>
              <a:rPr dirty="0" sz="1200" spc="-5">
                <a:latin typeface="Arial"/>
                <a:cs typeface="Arial"/>
              </a:rPr>
              <a:t>r</a:t>
            </a:r>
            <a:r>
              <a:rPr dirty="0" u="sng" sz="1200" spc="-5">
                <a:uFill>
                  <a:solidFill>
                    <a:srgbClr val="000000"/>
                  </a:solidFill>
                </a:uFill>
                <a:latin typeface="Arial"/>
                <a:cs typeface="Arial"/>
              </a:rPr>
              <a:t>a</a:t>
            </a:r>
            <a:r>
              <a:rPr dirty="0" sz="1200" spc="-5">
                <a:latin typeface="Arial"/>
                <a:cs typeface="Arial"/>
              </a:rPr>
              <a:t>bi argued that the idea of the true prophet-lawgiver ought </a:t>
            </a:r>
            <a:r>
              <a:rPr dirty="0" sz="1200">
                <a:latin typeface="Arial"/>
                <a:cs typeface="Arial"/>
              </a:rPr>
              <a:t>to </a:t>
            </a:r>
            <a:r>
              <a:rPr dirty="0" sz="1200" spc="-5">
                <a:latin typeface="Arial"/>
                <a:cs typeface="Arial"/>
              </a:rPr>
              <a:t>be the same as that of  </a:t>
            </a:r>
            <a:r>
              <a:rPr dirty="0" sz="1200">
                <a:latin typeface="Arial"/>
                <a:cs typeface="Arial"/>
              </a:rPr>
              <a:t>the true </a:t>
            </a:r>
            <a:r>
              <a:rPr dirty="0" sz="1200" spc="-5">
                <a:latin typeface="Arial"/>
                <a:cs typeface="Arial"/>
              </a:rPr>
              <a:t>philosopher-king. </a:t>
            </a:r>
            <a:r>
              <a:rPr dirty="0" sz="1200">
                <a:latin typeface="Arial"/>
                <a:cs typeface="Arial"/>
              </a:rPr>
              <a:t>Thus, </a:t>
            </a:r>
            <a:r>
              <a:rPr dirty="0" sz="1200" spc="-10">
                <a:latin typeface="Arial"/>
                <a:cs typeface="Arial"/>
              </a:rPr>
              <a:t>he </a:t>
            </a:r>
            <a:r>
              <a:rPr dirty="0" sz="1200" spc="-5">
                <a:latin typeface="Arial"/>
                <a:cs typeface="Arial"/>
              </a:rPr>
              <a:t>challenged both </a:t>
            </a:r>
            <a:r>
              <a:rPr dirty="0" sz="1200">
                <a:latin typeface="Arial"/>
                <a:cs typeface="Arial"/>
              </a:rPr>
              <a:t>al-Kindi's </a:t>
            </a:r>
            <a:r>
              <a:rPr dirty="0" sz="1200" spc="-5">
                <a:latin typeface="Arial"/>
                <a:cs typeface="Arial"/>
              </a:rPr>
              <a:t>view </a:t>
            </a:r>
            <a:r>
              <a:rPr dirty="0" sz="1200">
                <a:latin typeface="Arial"/>
                <a:cs typeface="Arial"/>
              </a:rPr>
              <a:t>that </a:t>
            </a:r>
            <a:r>
              <a:rPr dirty="0" sz="1200" spc="-5">
                <a:latin typeface="Arial"/>
                <a:cs typeface="Arial"/>
              </a:rPr>
              <a:t>prophets </a:t>
            </a:r>
            <a:r>
              <a:rPr dirty="0" sz="1200" spc="-10">
                <a:latin typeface="Arial"/>
                <a:cs typeface="Arial"/>
              </a:rPr>
              <a:t>and  </a:t>
            </a:r>
            <a:r>
              <a:rPr dirty="0" sz="1200" spc="-5">
                <a:latin typeface="Arial"/>
                <a:cs typeface="Arial"/>
              </a:rPr>
              <a:t>philosophers</a:t>
            </a:r>
            <a:r>
              <a:rPr dirty="0" sz="1200" spc="70">
                <a:latin typeface="Arial"/>
                <a:cs typeface="Arial"/>
              </a:rPr>
              <a:t> </a:t>
            </a:r>
            <a:r>
              <a:rPr dirty="0" sz="1200" spc="-5">
                <a:latin typeface="Arial"/>
                <a:cs typeface="Arial"/>
              </a:rPr>
              <a:t>have</a:t>
            </a:r>
            <a:r>
              <a:rPr dirty="0" sz="1200" spc="80">
                <a:latin typeface="Arial"/>
                <a:cs typeface="Arial"/>
              </a:rPr>
              <a:t> </a:t>
            </a:r>
            <a:r>
              <a:rPr dirty="0" sz="1200" spc="-5">
                <a:latin typeface="Arial"/>
                <a:cs typeface="Arial"/>
              </a:rPr>
              <a:t>different</a:t>
            </a:r>
            <a:r>
              <a:rPr dirty="0" sz="1200" spc="85">
                <a:latin typeface="Arial"/>
                <a:cs typeface="Arial"/>
              </a:rPr>
              <a:t> </a:t>
            </a:r>
            <a:r>
              <a:rPr dirty="0" sz="1200" spc="-5">
                <a:latin typeface="Arial"/>
                <a:cs typeface="Arial"/>
              </a:rPr>
              <a:t>and</a:t>
            </a:r>
            <a:r>
              <a:rPr dirty="0" sz="1200" spc="80">
                <a:latin typeface="Arial"/>
                <a:cs typeface="Arial"/>
              </a:rPr>
              <a:t> </a:t>
            </a:r>
            <a:r>
              <a:rPr dirty="0" sz="1200" spc="-5">
                <a:latin typeface="Arial"/>
                <a:cs typeface="Arial"/>
              </a:rPr>
              <a:t>independent</a:t>
            </a:r>
            <a:r>
              <a:rPr dirty="0" sz="1200" spc="80">
                <a:latin typeface="Arial"/>
                <a:cs typeface="Arial"/>
              </a:rPr>
              <a:t> </a:t>
            </a:r>
            <a:r>
              <a:rPr dirty="0" sz="1200" spc="-10">
                <a:latin typeface="Arial"/>
                <a:cs typeface="Arial"/>
              </a:rPr>
              <a:t>ways</a:t>
            </a:r>
            <a:r>
              <a:rPr dirty="0" sz="1200" spc="90">
                <a:latin typeface="Arial"/>
                <a:cs typeface="Arial"/>
              </a:rPr>
              <a:t> </a:t>
            </a:r>
            <a:r>
              <a:rPr dirty="0" sz="1200">
                <a:latin typeface="Arial"/>
                <a:cs typeface="Arial"/>
              </a:rPr>
              <a:t>to</a:t>
            </a:r>
            <a:r>
              <a:rPr dirty="0" sz="1200" spc="80">
                <a:latin typeface="Arial"/>
                <a:cs typeface="Arial"/>
              </a:rPr>
              <a:t> </a:t>
            </a:r>
            <a:r>
              <a:rPr dirty="0" sz="1200">
                <a:latin typeface="Arial"/>
                <a:cs typeface="Arial"/>
              </a:rPr>
              <a:t>the</a:t>
            </a:r>
            <a:r>
              <a:rPr dirty="0" sz="1200" spc="80">
                <a:latin typeface="Arial"/>
                <a:cs typeface="Arial"/>
              </a:rPr>
              <a:t> </a:t>
            </a:r>
            <a:r>
              <a:rPr dirty="0" sz="1200" spc="-5">
                <a:latin typeface="Arial"/>
                <a:cs typeface="Arial"/>
              </a:rPr>
              <a:t>highest</a:t>
            </a:r>
            <a:r>
              <a:rPr dirty="0" sz="1200" spc="85">
                <a:latin typeface="Arial"/>
                <a:cs typeface="Arial"/>
              </a:rPr>
              <a:t> </a:t>
            </a:r>
            <a:r>
              <a:rPr dirty="0" sz="1200">
                <a:latin typeface="Arial"/>
                <a:cs typeface="Arial"/>
              </a:rPr>
              <a:t>truth</a:t>
            </a:r>
            <a:r>
              <a:rPr dirty="0" sz="1200" spc="80">
                <a:latin typeface="Arial"/>
                <a:cs typeface="Arial"/>
              </a:rPr>
              <a:t> </a:t>
            </a:r>
            <a:r>
              <a:rPr dirty="0" sz="1200" spc="-5">
                <a:latin typeface="Arial"/>
                <a:cs typeface="Arial"/>
              </a:rPr>
              <a:t>available</a:t>
            </a:r>
            <a:r>
              <a:rPr dirty="0" sz="1200" spc="80">
                <a:latin typeface="Arial"/>
                <a:cs typeface="Arial"/>
              </a:rPr>
              <a:t> </a:t>
            </a:r>
            <a:r>
              <a:rPr dirty="0" sz="1200">
                <a:latin typeface="Arial"/>
                <a:cs typeface="Arial"/>
              </a:rPr>
              <a:t>to</a:t>
            </a:r>
            <a:r>
              <a:rPr dirty="0" sz="1200" spc="85">
                <a:latin typeface="Arial"/>
                <a:cs typeface="Arial"/>
              </a:rPr>
              <a:t> </a:t>
            </a:r>
            <a:r>
              <a:rPr dirty="0" sz="1200" spc="-5">
                <a:latin typeface="Arial"/>
                <a:cs typeface="Arial"/>
              </a:rPr>
              <a:t>man</a:t>
            </a:r>
            <a:r>
              <a:rPr dirty="0" sz="1200" spc="80">
                <a:latin typeface="Arial"/>
                <a:cs typeface="Arial"/>
              </a:rPr>
              <a:t> </a:t>
            </a:r>
            <a:r>
              <a:rPr dirty="0" sz="1200" spc="-5">
                <a:latin typeface="Arial"/>
                <a:cs typeface="Arial"/>
              </a:rPr>
              <a:t>and</a:t>
            </a:r>
            <a:endParaRPr sz="1200">
              <a:latin typeface="Arial"/>
              <a:cs typeface="Arial"/>
            </a:endParaRPr>
          </a:p>
        </p:txBody>
      </p:sp>
      <p:sp>
        <p:nvSpPr>
          <p:cNvPr id="13" name="object 13"/>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14" name="object 14"/>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157</a:t>
            </a:r>
            <a:endParaRPr sz="1200">
              <a:latin typeface="Times New Roman"/>
              <a:cs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3" name="object 3"/>
          <p:cNvSpPr/>
          <p:nvPr/>
        </p:nvSpPr>
        <p:spPr>
          <a:xfrm>
            <a:off x="1003096" y="981455"/>
            <a:ext cx="33655" cy="10795"/>
          </a:xfrm>
          <a:custGeom>
            <a:avLst/>
            <a:gdLst/>
            <a:ahLst/>
            <a:cxnLst/>
            <a:rect l="l" t="t" r="r" b="b"/>
            <a:pathLst>
              <a:path w="33655" h="10794">
                <a:moveTo>
                  <a:pt x="33528" y="0"/>
                </a:moveTo>
                <a:lnTo>
                  <a:pt x="0" y="0"/>
                </a:lnTo>
                <a:lnTo>
                  <a:pt x="0" y="10668"/>
                </a:lnTo>
                <a:lnTo>
                  <a:pt x="33528" y="10668"/>
                </a:lnTo>
                <a:lnTo>
                  <a:pt x="33528" y="0"/>
                </a:lnTo>
                <a:close/>
              </a:path>
            </a:pathLst>
          </a:custGeom>
          <a:solidFill>
            <a:srgbClr val="000000"/>
          </a:solidFill>
        </p:spPr>
        <p:txBody>
          <a:bodyPr wrap="square" lIns="0" tIns="0" rIns="0" bIns="0" rtlCol="0"/>
          <a:lstStyle/>
          <a:p/>
        </p:txBody>
      </p:sp>
      <p:sp>
        <p:nvSpPr>
          <p:cNvPr id="4" name="object 4"/>
          <p:cNvSpPr/>
          <p:nvPr/>
        </p:nvSpPr>
        <p:spPr>
          <a:xfrm>
            <a:off x="3975227" y="2559050"/>
            <a:ext cx="33655" cy="10795"/>
          </a:xfrm>
          <a:custGeom>
            <a:avLst/>
            <a:gdLst/>
            <a:ahLst/>
            <a:cxnLst/>
            <a:rect l="l" t="t" r="r" b="b"/>
            <a:pathLst>
              <a:path w="33654" h="10794">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5" name="object 5"/>
          <p:cNvSpPr/>
          <p:nvPr/>
        </p:nvSpPr>
        <p:spPr>
          <a:xfrm>
            <a:off x="3821303" y="4389754"/>
            <a:ext cx="33655" cy="10795"/>
          </a:xfrm>
          <a:custGeom>
            <a:avLst/>
            <a:gdLst/>
            <a:ahLst/>
            <a:cxnLst/>
            <a:rect l="l" t="t" r="r" b="b"/>
            <a:pathLst>
              <a:path w="33654" h="10795">
                <a:moveTo>
                  <a:pt x="33527" y="0"/>
                </a:moveTo>
                <a:lnTo>
                  <a:pt x="0" y="0"/>
                </a:lnTo>
                <a:lnTo>
                  <a:pt x="0" y="10667"/>
                </a:lnTo>
                <a:lnTo>
                  <a:pt x="33527" y="10667"/>
                </a:lnTo>
                <a:lnTo>
                  <a:pt x="33527" y="0"/>
                </a:lnTo>
                <a:close/>
              </a:path>
            </a:pathLst>
          </a:custGeom>
          <a:solidFill>
            <a:srgbClr val="000000"/>
          </a:solidFill>
        </p:spPr>
        <p:txBody>
          <a:bodyPr wrap="square" lIns="0" tIns="0" rIns="0" bIns="0" rtlCol="0"/>
          <a:lstStyle/>
          <a:p/>
        </p:txBody>
      </p:sp>
      <p:sp>
        <p:nvSpPr>
          <p:cNvPr id="6" name="object 6"/>
          <p:cNvSpPr/>
          <p:nvPr/>
        </p:nvSpPr>
        <p:spPr>
          <a:xfrm>
            <a:off x="6757161" y="4565014"/>
            <a:ext cx="33655" cy="10795"/>
          </a:xfrm>
          <a:custGeom>
            <a:avLst/>
            <a:gdLst/>
            <a:ahLst/>
            <a:cxnLst/>
            <a:rect l="l" t="t" r="r" b="b"/>
            <a:pathLst>
              <a:path w="33654" h="10795">
                <a:moveTo>
                  <a:pt x="33527" y="0"/>
                </a:moveTo>
                <a:lnTo>
                  <a:pt x="0" y="0"/>
                </a:lnTo>
                <a:lnTo>
                  <a:pt x="0" y="10667"/>
                </a:lnTo>
                <a:lnTo>
                  <a:pt x="33527" y="10667"/>
                </a:lnTo>
                <a:lnTo>
                  <a:pt x="33527" y="0"/>
                </a:lnTo>
                <a:close/>
              </a:path>
            </a:pathLst>
          </a:custGeom>
          <a:solidFill>
            <a:srgbClr val="000000"/>
          </a:solidFill>
        </p:spPr>
        <p:txBody>
          <a:bodyPr wrap="square" lIns="0" tIns="0" rIns="0" bIns="0" rtlCol="0"/>
          <a:lstStyle/>
          <a:p/>
        </p:txBody>
      </p:sp>
      <p:sp>
        <p:nvSpPr>
          <p:cNvPr id="7" name="object 7"/>
          <p:cNvSpPr/>
          <p:nvPr/>
        </p:nvSpPr>
        <p:spPr>
          <a:xfrm>
            <a:off x="4211701" y="6221857"/>
            <a:ext cx="33655" cy="10795"/>
          </a:xfrm>
          <a:custGeom>
            <a:avLst/>
            <a:gdLst/>
            <a:ahLst/>
            <a:cxnLst/>
            <a:rect l="l" t="t" r="r" b="b"/>
            <a:pathLst>
              <a:path w="33654" h="10795">
                <a:moveTo>
                  <a:pt x="33527" y="0"/>
                </a:moveTo>
                <a:lnTo>
                  <a:pt x="0" y="0"/>
                </a:lnTo>
                <a:lnTo>
                  <a:pt x="0" y="10667"/>
                </a:lnTo>
                <a:lnTo>
                  <a:pt x="33527" y="10667"/>
                </a:lnTo>
                <a:lnTo>
                  <a:pt x="33527" y="0"/>
                </a:lnTo>
                <a:close/>
              </a:path>
            </a:pathLst>
          </a:custGeom>
          <a:solidFill>
            <a:srgbClr val="000000"/>
          </a:solidFill>
        </p:spPr>
        <p:txBody>
          <a:bodyPr wrap="square" lIns="0" tIns="0" rIns="0" bIns="0" rtlCol="0"/>
          <a:lstStyle/>
          <a:p/>
        </p:txBody>
      </p:sp>
      <p:sp>
        <p:nvSpPr>
          <p:cNvPr id="8" name="object 8"/>
          <p:cNvSpPr/>
          <p:nvPr/>
        </p:nvSpPr>
        <p:spPr>
          <a:xfrm>
            <a:off x="2624963" y="6397116"/>
            <a:ext cx="35560" cy="10795"/>
          </a:xfrm>
          <a:custGeom>
            <a:avLst/>
            <a:gdLst/>
            <a:ahLst/>
            <a:cxnLst/>
            <a:rect l="l" t="t" r="r" b="b"/>
            <a:pathLst>
              <a:path w="35560" h="10795">
                <a:moveTo>
                  <a:pt x="35051" y="0"/>
                </a:moveTo>
                <a:lnTo>
                  <a:pt x="0" y="0"/>
                </a:lnTo>
                <a:lnTo>
                  <a:pt x="0" y="10667"/>
                </a:lnTo>
                <a:lnTo>
                  <a:pt x="35051" y="10667"/>
                </a:lnTo>
                <a:lnTo>
                  <a:pt x="35051" y="0"/>
                </a:lnTo>
                <a:close/>
              </a:path>
            </a:pathLst>
          </a:custGeom>
          <a:solidFill>
            <a:srgbClr val="000000"/>
          </a:solidFill>
        </p:spPr>
        <p:txBody>
          <a:bodyPr wrap="square" lIns="0" tIns="0" rIns="0" bIns="0" rtlCol="0"/>
          <a:lstStyle/>
          <a:p/>
        </p:txBody>
      </p:sp>
      <p:sp>
        <p:nvSpPr>
          <p:cNvPr id="9" name="object 9"/>
          <p:cNvSpPr/>
          <p:nvPr/>
        </p:nvSpPr>
        <p:spPr>
          <a:xfrm>
            <a:off x="3466210" y="7273416"/>
            <a:ext cx="33655" cy="10795"/>
          </a:xfrm>
          <a:custGeom>
            <a:avLst/>
            <a:gdLst/>
            <a:ahLst/>
            <a:cxnLst/>
            <a:rect l="l" t="t" r="r" b="b"/>
            <a:pathLst>
              <a:path w="33654" h="10795">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10" name="object 10"/>
          <p:cNvSpPr/>
          <p:nvPr/>
        </p:nvSpPr>
        <p:spPr>
          <a:xfrm>
            <a:off x="6414261" y="7624317"/>
            <a:ext cx="33655" cy="10795"/>
          </a:xfrm>
          <a:custGeom>
            <a:avLst/>
            <a:gdLst/>
            <a:ahLst/>
            <a:cxnLst/>
            <a:rect l="l" t="t" r="r" b="b"/>
            <a:pathLst>
              <a:path w="33654" h="10795">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11" name="object 11"/>
          <p:cNvSpPr/>
          <p:nvPr/>
        </p:nvSpPr>
        <p:spPr>
          <a:xfrm>
            <a:off x="2229866" y="7798053"/>
            <a:ext cx="33655" cy="10795"/>
          </a:xfrm>
          <a:custGeom>
            <a:avLst/>
            <a:gdLst/>
            <a:ahLst/>
            <a:cxnLst/>
            <a:rect l="l" t="t" r="r" b="b"/>
            <a:pathLst>
              <a:path w="33655" h="10795">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12" name="object 12"/>
          <p:cNvSpPr/>
          <p:nvPr/>
        </p:nvSpPr>
        <p:spPr>
          <a:xfrm>
            <a:off x="2856610" y="7798053"/>
            <a:ext cx="33655" cy="10795"/>
          </a:xfrm>
          <a:custGeom>
            <a:avLst/>
            <a:gdLst/>
            <a:ahLst/>
            <a:cxnLst/>
            <a:rect l="l" t="t" r="r" b="b"/>
            <a:pathLst>
              <a:path w="33655" h="10795">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13" name="object 13"/>
          <p:cNvSpPr txBox="1"/>
          <p:nvPr/>
        </p:nvSpPr>
        <p:spPr>
          <a:xfrm>
            <a:off x="534416" y="432307"/>
            <a:ext cx="6311900" cy="879602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5715">
              <a:lnSpc>
                <a:spcPct val="95800"/>
              </a:lnSpc>
            </a:pPr>
            <a:r>
              <a:rPr dirty="0" sz="1200" spc="-5">
                <a:latin typeface="Arial"/>
                <a:cs typeface="Arial"/>
              </a:rPr>
              <a:t>ar-R</a:t>
            </a:r>
            <a:r>
              <a:rPr dirty="0" u="sng" sz="1200" spc="-5">
                <a:uFill>
                  <a:solidFill>
                    <a:srgbClr val="000000"/>
                  </a:solidFill>
                </a:uFill>
                <a:latin typeface="Arial"/>
                <a:cs typeface="Arial"/>
              </a:rPr>
              <a:t>a</a:t>
            </a:r>
            <a:r>
              <a:rPr dirty="0" sz="1200" spc="-5">
                <a:latin typeface="Arial"/>
                <a:cs typeface="Arial"/>
              </a:rPr>
              <a:t>zi's view </a:t>
            </a:r>
            <a:r>
              <a:rPr dirty="0" sz="1200">
                <a:latin typeface="Arial"/>
                <a:cs typeface="Arial"/>
              </a:rPr>
              <a:t>that </a:t>
            </a:r>
            <a:r>
              <a:rPr dirty="0" sz="1200" spc="-5">
                <a:latin typeface="Arial"/>
                <a:cs typeface="Arial"/>
              </a:rPr>
              <a:t>philosophy is </a:t>
            </a:r>
            <a:r>
              <a:rPr dirty="0" sz="1200">
                <a:latin typeface="Arial"/>
                <a:cs typeface="Arial"/>
              </a:rPr>
              <a:t>the </a:t>
            </a:r>
            <a:r>
              <a:rPr dirty="0" sz="1200" spc="-5">
                <a:latin typeface="Arial"/>
                <a:cs typeface="Arial"/>
              </a:rPr>
              <a:t>only way </a:t>
            </a:r>
            <a:r>
              <a:rPr dirty="0" sz="1200">
                <a:latin typeface="Arial"/>
                <a:cs typeface="Arial"/>
              </a:rPr>
              <a:t>to that </a:t>
            </a:r>
            <a:r>
              <a:rPr dirty="0" sz="1200" spc="-5">
                <a:latin typeface="Arial"/>
                <a:cs typeface="Arial"/>
              </a:rPr>
              <a:t>knowledge. </a:t>
            </a:r>
            <a:r>
              <a:rPr dirty="0" sz="1200">
                <a:latin typeface="Arial"/>
                <a:cs typeface="Arial"/>
              </a:rPr>
              <a:t>That </a:t>
            </a:r>
            <a:r>
              <a:rPr dirty="0" sz="1200" spc="-5">
                <a:latin typeface="Arial"/>
                <a:cs typeface="Arial"/>
              </a:rPr>
              <a:t>a </a:t>
            </a:r>
            <a:r>
              <a:rPr dirty="0" sz="1200">
                <a:latin typeface="Arial"/>
                <a:cs typeface="Arial"/>
              </a:rPr>
              <a:t>man </a:t>
            </a:r>
            <a:r>
              <a:rPr dirty="0" sz="1200" spc="-5">
                <a:latin typeface="Arial"/>
                <a:cs typeface="Arial"/>
              </a:rPr>
              <a:t>could combine  </a:t>
            </a:r>
            <a:r>
              <a:rPr dirty="0" sz="1200">
                <a:latin typeface="Arial"/>
                <a:cs typeface="Arial"/>
              </a:rPr>
              <a:t>the </a:t>
            </a:r>
            <a:r>
              <a:rPr dirty="0" sz="1200" spc="-5">
                <a:latin typeface="Arial"/>
                <a:cs typeface="Arial"/>
              </a:rPr>
              <a:t>functions of prophecy, lawgiving, philosophy, and kingship did not necessarily </a:t>
            </a:r>
            <a:r>
              <a:rPr dirty="0" sz="1200">
                <a:latin typeface="Arial"/>
                <a:cs typeface="Arial"/>
              </a:rPr>
              <a:t>mean </a:t>
            </a:r>
            <a:r>
              <a:rPr dirty="0" sz="1200" spc="-5">
                <a:latin typeface="Arial"/>
                <a:cs typeface="Arial"/>
              </a:rPr>
              <a:t>that  </a:t>
            </a:r>
            <a:r>
              <a:rPr dirty="0" sz="1200">
                <a:latin typeface="Arial"/>
                <a:cs typeface="Arial"/>
              </a:rPr>
              <a:t>these </a:t>
            </a:r>
            <a:r>
              <a:rPr dirty="0" sz="1200" spc="-5">
                <a:latin typeface="Arial"/>
                <a:cs typeface="Arial"/>
              </a:rPr>
              <a:t>functions were identical; </a:t>
            </a:r>
            <a:r>
              <a:rPr dirty="0" sz="1200">
                <a:latin typeface="Arial"/>
                <a:cs typeface="Arial"/>
              </a:rPr>
              <a:t>it </a:t>
            </a:r>
            <a:r>
              <a:rPr dirty="0" sz="1200" spc="-5">
                <a:latin typeface="Arial"/>
                <a:cs typeface="Arial"/>
              </a:rPr>
              <a:t>did mean, however, </a:t>
            </a:r>
            <a:r>
              <a:rPr dirty="0" sz="1200">
                <a:latin typeface="Arial"/>
                <a:cs typeface="Arial"/>
              </a:rPr>
              <a:t>that they </a:t>
            </a:r>
            <a:r>
              <a:rPr dirty="0" sz="1200" spc="-5">
                <a:latin typeface="Arial"/>
                <a:cs typeface="Arial"/>
              </a:rPr>
              <a:t>all are legitimate subjects of  philosophic inquiry. Philosophy </a:t>
            </a:r>
            <a:r>
              <a:rPr dirty="0" sz="1200">
                <a:latin typeface="Arial"/>
                <a:cs typeface="Arial"/>
              </a:rPr>
              <a:t>must </a:t>
            </a:r>
            <a:r>
              <a:rPr dirty="0" sz="1200" spc="-5">
                <a:latin typeface="Arial"/>
                <a:cs typeface="Arial"/>
              </a:rPr>
              <a:t>account </a:t>
            </a:r>
            <a:r>
              <a:rPr dirty="0" sz="1200">
                <a:latin typeface="Arial"/>
                <a:cs typeface="Arial"/>
              </a:rPr>
              <a:t>for the </a:t>
            </a:r>
            <a:r>
              <a:rPr dirty="0" sz="1200" spc="-5">
                <a:latin typeface="Arial"/>
                <a:cs typeface="Arial"/>
              </a:rPr>
              <a:t>powers, knowledge, and activities of the  prophet, lawgiver, and king, which </a:t>
            </a:r>
            <a:r>
              <a:rPr dirty="0" sz="1200">
                <a:latin typeface="Arial"/>
                <a:cs typeface="Arial"/>
              </a:rPr>
              <a:t>it </a:t>
            </a:r>
            <a:r>
              <a:rPr dirty="0" sz="1200" spc="-5">
                <a:latin typeface="Arial"/>
                <a:cs typeface="Arial"/>
              </a:rPr>
              <a:t>must distinguish from and relate </a:t>
            </a:r>
            <a:r>
              <a:rPr dirty="0" sz="1200">
                <a:latin typeface="Arial"/>
                <a:cs typeface="Arial"/>
              </a:rPr>
              <a:t>to </a:t>
            </a:r>
            <a:r>
              <a:rPr dirty="0" sz="1200" spc="-5">
                <a:latin typeface="Arial"/>
                <a:cs typeface="Arial"/>
              </a:rPr>
              <a:t>those of the  philosopher. The public, or political, function of philosophy </a:t>
            </a:r>
            <a:r>
              <a:rPr dirty="0" sz="1200" spc="-10">
                <a:latin typeface="Arial"/>
                <a:cs typeface="Arial"/>
              </a:rPr>
              <a:t>was </a:t>
            </a:r>
            <a:r>
              <a:rPr dirty="0" sz="1200" spc="-5">
                <a:latin typeface="Arial"/>
                <a:cs typeface="Arial"/>
              </a:rPr>
              <a:t>emphasized. Unlike  Neoplatonism, which had </a:t>
            </a:r>
            <a:r>
              <a:rPr dirty="0" sz="1200">
                <a:latin typeface="Arial"/>
                <a:cs typeface="Arial"/>
              </a:rPr>
              <a:t>for long </a:t>
            </a:r>
            <a:r>
              <a:rPr dirty="0" sz="1200" spc="-5">
                <a:latin typeface="Arial"/>
                <a:cs typeface="Arial"/>
              </a:rPr>
              <a:t>limited itself to </a:t>
            </a:r>
            <a:r>
              <a:rPr dirty="0" sz="1200">
                <a:latin typeface="Arial"/>
                <a:cs typeface="Arial"/>
              </a:rPr>
              <a:t>the </a:t>
            </a:r>
            <a:r>
              <a:rPr dirty="0" sz="1200" spc="-5">
                <a:latin typeface="Arial"/>
                <a:cs typeface="Arial"/>
              </a:rPr>
              <a:t>Platonic teaching </a:t>
            </a:r>
            <a:r>
              <a:rPr dirty="0" sz="1200" spc="15">
                <a:latin typeface="Arial"/>
                <a:cs typeface="Arial"/>
              </a:rPr>
              <a:t>that </a:t>
            </a:r>
            <a:r>
              <a:rPr dirty="0" sz="1200">
                <a:latin typeface="Arial"/>
                <a:cs typeface="Arial"/>
              </a:rPr>
              <a:t>the </a:t>
            </a:r>
            <a:r>
              <a:rPr dirty="0" sz="1200" spc="-5">
                <a:latin typeface="Arial"/>
                <a:cs typeface="Arial"/>
              </a:rPr>
              <a:t>function </a:t>
            </a:r>
            <a:r>
              <a:rPr dirty="0" sz="1200">
                <a:latin typeface="Arial"/>
                <a:cs typeface="Arial"/>
              </a:rPr>
              <a:t>of  </a:t>
            </a:r>
            <a:r>
              <a:rPr dirty="0" sz="1200" spc="-5">
                <a:latin typeface="Arial"/>
                <a:cs typeface="Arial"/>
              </a:rPr>
              <a:t>philosophy is </a:t>
            </a:r>
            <a:r>
              <a:rPr dirty="0" sz="1200">
                <a:latin typeface="Arial"/>
                <a:cs typeface="Arial"/>
              </a:rPr>
              <a:t>to </a:t>
            </a:r>
            <a:r>
              <a:rPr dirty="0" sz="1200" spc="-5">
                <a:latin typeface="Arial"/>
                <a:cs typeface="Arial"/>
              </a:rPr>
              <a:t>liberate the soul </a:t>
            </a:r>
            <a:r>
              <a:rPr dirty="0" sz="1200">
                <a:latin typeface="Arial"/>
                <a:cs typeface="Arial"/>
              </a:rPr>
              <a:t>from </a:t>
            </a:r>
            <a:r>
              <a:rPr dirty="0" sz="1200" spc="-10">
                <a:latin typeface="Arial"/>
                <a:cs typeface="Arial"/>
              </a:rPr>
              <a:t>the </a:t>
            </a:r>
            <a:r>
              <a:rPr dirty="0" sz="1200" spc="-5">
                <a:latin typeface="Arial"/>
                <a:cs typeface="Arial"/>
              </a:rPr>
              <a:t>shadowy existence </a:t>
            </a:r>
            <a:r>
              <a:rPr dirty="0" sz="1200">
                <a:latin typeface="Arial"/>
                <a:cs typeface="Arial"/>
              </a:rPr>
              <a:t>of </a:t>
            </a:r>
            <a:r>
              <a:rPr dirty="0" sz="1200" spc="-5">
                <a:latin typeface="Arial"/>
                <a:cs typeface="Arial"/>
              </a:rPr>
              <a:t>the </a:t>
            </a:r>
            <a:r>
              <a:rPr dirty="0" sz="1200">
                <a:latin typeface="Arial"/>
                <a:cs typeface="Arial"/>
              </a:rPr>
              <a:t>cave--in </a:t>
            </a:r>
            <a:r>
              <a:rPr dirty="0" sz="1200" spc="-5">
                <a:latin typeface="Arial"/>
                <a:cs typeface="Arial"/>
              </a:rPr>
              <a:t>which  knowledge can only be imperfectly comprehended as shadows reflecting </a:t>
            </a:r>
            <a:r>
              <a:rPr dirty="0" sz="1200">
                <a:latin typeface="Arial"/>
                <a:cs typeface="Arial"/>
              </a:rPr>
              <a:t>the </a:t>
            </a:r>
            <a:r>
              <a:rPr dirty="0" sz="1200" spc="-5">
                <a:latin typeface="Arial"/>
                <a:cs typeface="Arial"/>
              </a:rPr>
              <a:t>light of the truth  beyond the cave </a:t>
            </a:r>
            <a:r>
              <a:rPr dirty="0" sz="1200">
                <a:latin typeface="Arial"/>
                <a:cs typeface="Arial"/>
              </a:rPr>
              <a:t>(the </a:t>
            </a:r>
            <a:r>
              <a:rPr dirty="0" sz="1200" spc="-10">
                <a:latin typeface="Arial"/>
                <a:cs typeface="Arial"/>
              </a:rPr>
              <a:t>world </a:t>
            </a:r>
            <a:r>
              <a:rPr dirty="0" sz="1200">
                <a:latin typeface="Arial"/>
                <a:cs typeface="Arial"/>
              </a:rPr>
              <a:t>of </a:t>
            </a:r>
            <a:r>
              <a:rPr dirty="0" sz="1200" spc="-5">
                <a:latin typeface="Arial"/>
                <a:cs typeface="Arial"/>
              </a:rPr>
              <a:t>senses)--al-F</a:t>
            </a:r>
            <a:r>
              <a:rPr dirty="0" u="sng" sz="1200" spc="-5">
                <a:uFill>
                  <a:solidFill>
                    <a:srgbClr val="000000"/>
                  </a:solidFill>
                </a:uFill>
                <a:latin typeface="Arial"/>
                <a:cs typeface="Arial"/>
              </a:rPr>
              <a:t>a</a:t>
            </a:r>
            <a:r>
              <a:rPr dirty="0" sz="1200" spc="-5">
                <a:latin typeface="Arial"/>
                <a:cs typeface="Arial"/>
              </a:rPr>
              <a:t>r</a:t>
            </a:r>
            <a:r>
              <a:rPr dirty="0" u="sng" sz="1200" spc="-5">
                <a:uFill>
                  <a:solidFill>
                    <a:srgbClr val="000000"/>
                  </a:solidFill>
                </a:uFill>
                <a:latin typeface="Arial"/>
                <a:cs typeface="Arial"/>
              </a:rPr>
              <a:t>a</a:t>
            </a:r>
            <a:r>
              <a:rPr dirty="0" sz="1200" spc="-5">
                <a:latin typeface="Arial"/>
                <a:cs typeface="Arial"/>
              </a:rPr>
              <a:t>bi insisted with Plato that the philosopher  </a:t>
            </a:r>
            <a:r>
              <a:rPr dirty="0" sz="1200">
                <a:latin typeface="Arial"/>
                <a:cs typeface="Arial"/>
              </a:rPr>
              <a:t>must </a:t>
            </a:r>
            <a:r>
              <a:rPr dirty="0" sz="1200" spc="-10">
                <a:latin typeface="Arial"/>
                <a:cs typeface="Arial"/>
              </a:rPr>
              <a:t>be </a:t>
            </a:r>
            <a:r>
              <a:rPr dirty="0" sz="1200" spc="-5">
                <a:latin typeface="Arial"/>
                <a:cs typeface="Arial"/>
              </a:rPr>
              <a:t>forced </a:t>
            </a:r>
            <a:r>
              <a:rPr dirty="0" sz="1200">
                <a:latin typeface="Arial"/>
                <a:cs typeface="Arial"/>
              </a:rPr>
              <a:t>to </a:t>
            </a:r>
            <a:r>
              <a:rPr dirty="0" sz="1200" spc="-5">
                <a:latin typeface="Arial"/>
                <a:cs typeface="Arial"/>
              </a:rPr>
              <a:t>return </a:t>
            </a:r>
            <a:r>
              <a:rPr dirty="0" sz="1200">
                <a:latin typeface="Arial"/>
                <a:cs typeface="Arial"/>
              </a:rPr>
              <a:t>to </a:t>
            </a:r>
            <a:r>
              <a:rPr dirty="0" sz="1200" spc="-5">
                <a:latin typeface="Arial"/>
                <a:cs typeface="Arial"/>
              </a:rPr>
              <a:t>the cave, </a:t>
            </a:r>
            <a:r>
              <a:rPr dirty="0" sz="1200">
                <a:latin typeface="Arial"/>
                <a:cs typeface="Arial"/>
              </a:rPr>
              <a:t>learn to talk to its </a:t>
            </a:r>
            <a:r>
              <a:rPr dirty="0" sz="1200" spc="-5">
                <a:latin typeface="Arial"/>
                <a:cs typeface="Arial"/>
              </a:rPr>
              <a:t>inhabitants in a manner </a:t>
            </a:r>
            <a:r>
              <a:rPr dirty="0" sz="1200">
                <a:latin typeface="Arial"/>
                <a:cs typeface="Arial"/>
              </a:rPr>
              <a:t>they </a:t>
            </a:r>
            <a:r>
              <a:rPr dirty="0" sz="1200" spc="-5">
                <a:latin typeface="Arial"/>
                <a:cs typeface="Arial"/>
              </a:rPr>
              <a:t>can  comprehend, and engage in actions that </a:t>
            </a:r>
            <a:r>
              <a:rPr dirty="0" sz="1200" spc="-10">
                <a:latin typeface="Arial"/>
                <a:cs typeface="Arial"/>
              </a:rPr>
              <a:t>may </a:t>
            </a:r>
            <a:r>
              <a:rPr dirty="0" sz="1200" spc="-5">
                <a:latin typeface="Arial"/>
                <a:cs typeface="Arial"/>
              </a:rPr>
              <a:t>improve their</a:t>
            </a:r>
            <a:r>
              <a:rPr dirty="0" sz="1200" spc="5">
                <a:latin typeface="Arial"/>
                <a:cs typeface="Arial"/>
              </a:rPr>
              <a:t> </a:t>
            </a:r>
            <a:r>
              <a:rPr dirty="0" sz="1200">
                <a:latin typeface="Arial"/>
                <a:cs typeface="Arial"/>
              </a:rPr>
              <a:t>lot.</a:t>
            </a:r>
            <a:endParaRPr sz="1200">
              <a:latin typeface="Arial"/>
              <a:cs typeface="Arial"/>
            </a:endParaRPr>
          </a:p>
          <a:p>
            <a:pPr algn="just" marL="12700">
              <a:lnSpc>
                <a:spcPct val="100000"/>
              </a:lnSpc>
              <a:spcBef>
                <a:spcPts val="935"/>
              </a:spcBef>
            </a:pPr>
            <a:r>
              <a:rPr dirty="0" u="heavy" sz="1200" spc="-5" b="1" i="1">
                <a:uFill>
                  <a:solidFill>
                    <a:srgbClr val="000000"/>
                  </a:solidFill>
                </a:uFill>
                <a:latin typeface="Arial"/>
                <a:cs typeface="Arial"/>
              </a:rPr>
              <a:t>Background and characteristics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the western Muslim philosophical</a:t>
            </a:r>
            <a:r>
              <a:rPr dirty="0" u="heavy" sz="1200" spc="50" b="1" i="1">
                <a:uFill>
                  <a:solidFill>
                    <a:srgbClr val="000000"/>
                  </a:solidFill>
                </a:uFill>
                <a:latin typeface="Arial"/>
                <a:cs typeface="Arial"/>
              </a:rPr>
              <a:t> </a:t>
            </a:r>
            <a:r>
              <a:rPr dirty="0" u="heavy" sz="1200" b="1" i="1">
                <a:uFill>
                  <a:solidFill>
                    <a:srgbClr val="000000"/>
                  </a:solidFill>
                </a:uFill>
                <a:latin typeface="Arial"/>
                <a:cs typeface="Arial"/>
              </a:rPr>
              <a:t>tradition.</a:t>
            </a:r>
            <a:endParaRPr sz="1200">
              <a:latin typeface="Arial"/>
              <a:cs typeface="Arial"/>
            </a:endParaRPr>
          </a:p>
          <a:p>
            <a:pPr algn="just" marL="12700" marR="5080">
              <a:lnSpc>
                <a:spcPct val="95800"/>
              </a:lnSpc>
              <a:spcBef>
                <a:spcPts val="1015"/>
              </a:spcBef>
            </a:pPr>
            <a:r>
              <a:rPr dirty="0" sz="1200" spc="-5">
                <a:latin typeface="Arial"/>
                <a:cs typeface="Arial"/>
              </a:rPr>
              <a:t>Andalusia (in Spain) and western North Africa contributed little of substance </a:t>
            </a:r>
            <a:r>
              <a:rPr dirty="0" sz="1200">
                <a:latin typeface="Arial"/>
                <a:cs typeface="Arial"/>
              </a:rPr>
              <a:t>to Isl</a:t>
            </a:r>
            <a:r>
              <a:rPr dirty="0" u="sng" sz="1200">
                <a:uFill>
                  <a:solidFill>
                    <a:srgbClr val="000000"/>
                  </a:solidFill>
                </a:uFill>
                <a:latin typeface="Arial"/>
                <a:cs typeface="Arial"/>
              </a:rPr>
              <a:t>a</a:t>
            </a:r>
            <a:r>
              <a:rPr dirty="0" sz="1200">
                <a:latin typeface="Arial"/>
                <a:cs typeface="Arial"/>
              </a:rPr>
              <a:t>mic  </a:t>
            </a:r>
            <a:r>
              <a:rPr dirty="0" sz="1200" spc="-5">
                <a:latin typeface="Arial"/>
                <a:cs typeface="Arial"/>
              </a:rPr>
              <a:t>theology and philosophy until </a:t>
            </a:r>
            <a:r>
              <a:rPr dirty="0" sz="1200">
                <a:latin typeface="Arial"/>
                <a:cs typeface="Arial"/>
              </a:rPr>
              <a:t>the </a:t>
            </a:r>
            <a:r>
              <a:rPr dirty="0" sz="1200" spc="-5">
                <a:latin typeface="Arial"/>
                <a:cs typeface="Arial"/>
              </a:rPr>
              <a:t>12th century. Legal </a:t>
            </a:r>
            <a:r>
              <a:rPr dirty="0" sz="1200">
                <a:latin typeface="Arial"/>
                <a:cs typeface="Arial"/>
              </a:rPr>
              <a:t>strictures </a:t>
            </a:r>
            <a:r>
              <a:rPr dirty="0" sz="1200" spc="-5">
                <a:latin typeface="Arial"/>
                <a:cs typeface="Arial"/>
              </a:rPr>
              <a:t>against the </a:t>
            </a:r>
            <a:r>
              <a:rPr dirty="0" sz="1200">
                <a:latin typeface="Arial"/>
                <a:cs typeface="Arial"/>
              </a:rPr>
              <a:t>study </a:t>
            </a:r>
            <a:r>
              <a:rPr dirty="0" sz="1200" spc="-5">
                <a:latin typeface="Arial"/>
                <a:cs typeface="Arial"/>
              </a:rPr>
              <a:t>of  philosophy were </a:t>
            </a:r>
            <a:r>
              <a:rPr dirty="0" sz="1200">
                <a:latin typeface="Arial"/>
                <a:cs typeface="Arial"/>
              </a:rPr>
              <a:t>more </a:t>
            </a:r>
            <a:r>
              <a:rPr dirty="0" sz="1200" spc="-5">
                <a:latin typeface="Arial"/>
                <a:cs typeface="Arial"/>
              </a:rPr>
              <a:t>effective </a:t>
            </a:r>
            <a:r>
              <a:rPr dirty="0" sz="1200">
                <a:latin typeface="Arial"/>
                <a:cs typeface="Arial"/>
              </a:rPr>
              <a:t>than </a:t>
            </a:r>
            <a:r>
              <a:rPr dirty="0" sz="1200" spc="-5">
                <a:latin typeface="Arial"/>
                <a:cs typeface="Arial"/>
              </a:rPr>
              <a:t>in </a:t>
            </a:r>
            <a:r>
              <a:rPr dirty="0" sz="1200" spc="-10">
                <a:latin typeface="Arial"/>
                <a:cs typeface="Arial"/>
              </a:rPr>
              <a:t>the </a:t>
            </a:r>
            <a:r>
              <a:rPr dirty="0" sz="1200">
                <a:latin typeface="Arial"/>
                <a:cs typeface="Arial"/>
              </a:rPr>
              <a:t>east. </a:t>
            </a:r>
            <a:r>
              <a:rPr dirty="0" sz="1200" spc="-5">
                <a:latin typeface="Arial"/>
                <a:cs typeface="Arial"/>
              </a:rPr>
              <a:t>Scientific interest </a:t>
            </a:r>
            <a:r>
              <a:rPr dirty="0" sz="1200" spc="-10">
                <a:latin typeface="Arial"/>
                <a:cs typeface="Arial"/>
              </a:rPr>
              <a:t>was </a:t>
            </a:r>
            <a:r>
              <a:rPr dirty="0" sz="1200">
                <a:latin typeface="Arial"/>
                <a:cs typeface="Arial"/>
              </a:rPr>
              <a:t>channelled </a:t>
            </a:r>
            <a:r>
              <a:rPr dirty="0" sz="1200" spc="-5">
                <a:latin typeface="Arial"/>
                <a:cs typeface="Arial"/>
              </a:rPr>
              <a:t>into  medicine, pharmacology, mathematics, astronomy, and logic. More general questions of  physics and metaphysics were </a:t>
            </a:r>
            <a:r>
              <a:rPr dirty="0" sz="1200">
                <a:latin typeface="Arial"/>
                <a:cs typeface="Arial"/>
              </a:rPr>
              <a:t>treated </a:t>
            </a:r>
            <a:r>
              <a:rPr dirty="0" sz="1200" spc="-5">
                <a:latin typeface="Arial"/>
                <a:cs typeface="Arial"/>
              </a:rPr>
              <a:t>sparingly and in </a:t>
            </a:r>
            <a:r>
              <a:rPr dirty="0" sz="1200">
                <a:latin typeface="Arial"/>
                <a:cs typeface="Arial"/>
              </a:rPr>
              <a:t>symbols, </a:t>
            </a:r>
            <a:r>
              <a:rPr dirty="0" sz="1200" spc="-5">
                <a:latin typeface="Arial"/>
                <a:cs typeface="Arial"/>
              </a:rPr>
              <a:t>hints, and allegories. </a:t>
            </a:r>
            <a:r>
              <a:rPr dirty="0" sz="1200">
                <a:latin typeface="Arial"/>
                <a:cs typeface="Arial"/>
              </a:rPr>
              <a:t>By the  </a:t>
            </a:r>
            <a:r>
              <a:rPr dirty="0" sz="1200" spc="-5">
                <a:latin typeface="Arial"/>
                <a:cs typeface="Arial"/>
              </a:rPr>
              <a:t>12th </a:t>
            </a:r>
            <a:r>
              <a:rPr dirty="0" sz="1200" spc="-10">
                <a:latin typeface="Arial"/>
                <a:cs typeface="Arial"/>
              </a:rPr>
              <a:t>century, </a:t>
            </a:r>
            <a:r>
              <a:rPr dirty="0" sz="1200" spc="-5">
                <a:latin typeface="Arial"/>
                <a:cs typeface="Arial"/>
              </a:rPr>
              <a:t>however, </a:t>
            </a:r>
            <a:r>
              <a:rPr dirty="0" sz="1200">
                <a:latin typeface="Arial"/>
                <a:cs typeface="Arial"/>
              </a:rPr>
              <a:t>the </a:t>
            </a:r>
            <a:r>
              <a:rPr dirty="0" sz="1200" spc="-5">
                <a:latin typeface="Arial"/>
                <a:cs typeface="Arial"/>
              </a:rPr>
              <a:t>writings </a:t>
            </a:r>
            <a:r>
              <a:rPr dirty="0" sz="1200">
                <a:latin typeface="Arial"/>
                <a:cs typeface="Arial"/>
              </a:rPr>
              <a:t>of </a:t>
            </a:r>
            <a:r>
              <a:rPr dirty="0" sz="1200" spc="-5">
                <a:latin typeface="Arial"/>
                <a:cs typeface="Arial"/>
              </a:rPr>
              <a:t>al-F</a:t>
            </a:r>
            <a:r>
              <a:rPr dirty="0" u="sng" sz="1200" spc="-5">
                <a:uFill>
                  <a:solidFill>
                    <a:srgbClr val="000000"/>
                  </a:solidFill>
                </a:uFill>
                <a:latin typeface="Arial"/>
                <a:cs typeface="Arial"/>
              </a:rPr>
              <a:t>a</a:t>
            </a:r>
            <a:r>
              <a:rPr dirty="0" sz="1200" spc="-5">
                <a:latin typeface="Arial"/>
                <a:cs typeface="Arial"/>
              </a:rPr>
              <a:t>r</a:t>
            </a:r>
            <a:r>
              <a:rPr dirty="0" u="sng" sz="1200" spc="-5">
                <a:uFill>
                  <a:solidFill>
                    <a:srgbClr val="000000"/>
                  </a:solidFill>
                </a:uFill>
                <a:latin typeface="Arial"/>
                <a:cs typeface="Arial"/>
              </a:rPr>
              <a:t>a</a:t>
            </a:r>
            <a:r>
              <a:rPr dirty="0" sz="1200" spc="-5">
                <a:latin typeface="Arial"/>
                <a:cs typeface="Arial"/>
              </a:rPr>
              <a:t>bi, Avicenna, and al-Ghaz</a:t>
            </a:r>
            <a:r>
              <a:rPr dirty="0" u="sng" sz="1200" spc="-5">
                <a:uFill>
                  <a:solidFill>
                    <a:srgbClr val="000000"/>
                  </a:solidFill>
                </a:uFill>
                <a:latin typeface="Arial"/>
                <a:cs typeface="Arial"/>
              </a:rPr>
              <a:t>ali</a:t>
            </a:r>
            <a:r>
              <a:rPr dirty="0" sz="1200" spc="-5">
                <a:latin typeface="Arial"/>
                <a:cs typeface="Arial"/>
              </a:rPr>
              <a:t> had found their  way </a:t>
            </a:r>
            <a:r>
              <a:rPr dirty="0" sz="1200">
                <a:latin typeface="Arial"/>
                <a:cs typeface="Arial"/>
              </a:rPr>
              <a:t>to the </a:t>
            </a:r>
            <a:r>
              <a:rPr dirty="0" sz="1200" spc="-5">
                <a:latin typeface="Arial"/>
                <a:cs typeface="Arial"/>
              </a:rPr>
              <a:t>west. </a:t>
            </a:r>
            <a:r>
              <a:rPr dirty="0" sz="1200">
                <a:latin typeface="Arial"/>
                <a:cs typeface="Arial"/>
              </a:rPr>
              <a:t>A </a:t>
            </a:r>
            <a:r>
              <a:rPr dirty="0" sz="1200" spc="-5">
                <a:latin typeface="Arial"/>
                <a:cs typeface="Arial"/>
              </a:rPr>
              <a:t>philosophical tradition emerged, based primarily on the </a:t>
            </a:r>
            <a:r>
              <a:rPr dirty="0" sz="1200">
                <a:latin typeface="Arial"/>
                <a:cs typeface="Arial"/>
              </a:rPr>
              <a:t>study </a:t>
            </a:r>
            <a:r>
              <a:rPr dirty="0" sz="1200" spc="-5">
                <a:latin typeface="Arial"/>
                <a:cs typeface="Arial"/>
              </a:rPr>
              <a:t>of </a:t>
            </a:r>
            <a:r>
              <a:rPr dirty="0" sz="1200">
                <a:latin typeface="Arial"/>
                <a:cs typeface="Arial"/>
              </a:rPr>
              <a:t>al-F</a:t>
            </a:r>
            <a:r>
              <a:rPr dirty="0" u="sng" sz="1200">
                <a:uFill>
                  <a:solidFill>
                    <a:srgbClr val="000000"/>
                  </a:solidFill>
                </a:uFill>
                <a:latin typeface="Arial"/>
                <a:cs typeface="Arial"/>
              </a:rPr>
              <a:t>a</a:t>
            </a:r>
            <a:r>
              <a:rPr dirty="0" sz="1200">
                <a:latin typeface="Arial"/>
                <a:cs typeface="Arial"/>
              </a:rPr>
              <a:t>r</a:t>
            </a:r>
            <a:r>
              <a:rPr dirty="0" u="sng" sz="1200">
                <a:uFill>
                  <a:solidFill>
                    <a:srgbClr val="000000"/>
                  </a:solidFill>
                </a:uFill>
                <a:latin typeface="Arial"/>
                <a:cs typeface="Arial"/>
              </a:rPr>
              <a:t>a</a:t>
            </a:r>
            <a:r>
              <a:rPr dirty="0" sz="1200">
                <a:latin typeface="Arial"/>
                <a:cs typeface="Arial"/>
              </a:rPr>
              <a:t>bi.  It </a:t>
            </a:r>
            <a:r>
              <a:rPr dirty="0" sz="1200" spc="-10">
                <a:latin typeface="Arial"/>
                <a:cs typeface="Arial"/>
              </a:rPr>
              <a:t>was </a:t>
            </a:r>
            <a:r>
              <a:rPr dirty="0" sz="1200" spc="-5">
                <a:latin typeface="Arial"/>
                <a:cs typeface="Arial"/>
              </a:rPr>
              <a:t>critical </a:t>
            </a:r>
            <a:r>
              <a:rPr dirty="0" sz="1200">
                <a:latin typeface="Arial"/>
                <a:cs typeface="Arial"/>
              </a:rPr>
              <a:t>of </a:t>
            </a:r>
            <a:r>
              <a:rPr dirty="0" sz="1200" spc="-5">
                <a:latin typeface="Arial"/>
                <a:cs typeface="Arial"/>
              </a:rPr>
              <a:t>Avicenna's philosophic innovations and not convinced </a:t>
            </a:r>
            <a:r>
              <a:rPr dirty="0" sz="1200">
                <a:latin typeface="Arial"/>
                <a:cs typeface="Arial"/>
              </a:rPr>
              <a:t>that al-Ghaz</a:t>
            </a:r>
            <a:r>
              <a:rPr dirty="0" u="sng" sz="1200">
                <a:uFill>
                  <a:solidFill>
                    <a:srgbClr val="000000"/>
                  </a:solidFill>
                </a:uFill>
                <a:latin typeface="Arial"/>
                <a:cs typeface="Arial"/>
              </a:rPr>
              <a:t>ali</a:t>
            </a:r>
            <a:r>
              <a:rPr dirty="0" sz="1200">
                <a:latin typeface="Arial"/>
                <a:cs typeface="Arial"/>
              </a:rPr>
              <a:t>'s  </a:t>
            </a:r>
            <a:r>
              <a:rPr dirty="0" sz="1200" spc="-5">
                <a:latin typeface="Arial"/>
                <a:cs typeface="Arial"/>
              </a:rPr>
              <a:t>critique </a:t>
            </a:r>
            <a:r>
              <a:rPr dirty="0" sz="1200">
                <a:latin typeface="Arial"/>
                <a:cs typeface="Arial"/>
              </a:rPr>
              <a:t>of </a:t>
            </a:r>
            <a:r>
              <a:rPr dirty="0" sz="1200" spc="-5">
                <a:latin typeface="Arial"/>
                <a:cs typeface="Arial"/>
              </a:rPr>
              <a:t>Avicenna touched philosophy as </a:t>
            </a:r>
            <a:r>
              <a:rPr dirty="0" sz="1200" spc="5">
                <a:latin typeface="Arial"/>
                <a:cs typeface="Arial"/>
              </a:rPr>
              <a:t>such, </a:t>
            </a:r>
            <a:r>
              <a:rPr dirty="0" sz="1200" spc="-5">
                <a:latin typeface="Arial"/>
                <a:cs typeface="Arial"/>
              </a:rPr>
              <a:t>and </a:t>
            </a:r>
            <a:r>
              <a:rPr dirty="0" sz="1200">
                <a:latin typeface="Arial"/>
                <a:cs typeface="Arial"/>
              </a:rPr>
              <a:t>it </a:t>
            </a:r>
            <a:r>
              <a:rPr dirty="0" sz="1200" spc="-5">
                <a:latin typeface="Arial"/>
                <a:cs typeface="Arial"/>
              </a:rPr>
              <a:t>refused </a:t>
            </a:r>
            <a:r>
              <a:rPr dirty="0" sz="1200">
                <a:latin typeface="Arial"/>
                <a:cs typeface="Arial"/>
              </a:rPr>
              <a:t>to </a:t>
            </a:r>
            <a:r>
              <a:rPr dirty="0" sz="1200" spc="-5">
                <a:latin typeface="Arial"/>
                <a:cs typeface="Arial"/>
              </a:rPr>
              <a:t>acknowledge </a:t>
            </a:r>
            <a:r>
              <a:rPr dirty="0" sz="1200">
                <a:latin typeface="Arial"/>
                <a:cs typeface="Arial"/>
              </a:rPr>
              <a:t>the </a:t>
            </a:r>
            <a:r>
              <a:rPr dirty="0" sz="1200" spc="-5">
                <a:latin typeface="Arial"/>
                <a:cs typeface="Arial"/>
              </a:rPr>
              <a:t>position  assigned by both </a:t>
            </a:r>
            <a:r>
              <a:rPr dirty="0" sz="1200">
                <a:latin typeface="Arial"/>
                <a:cs typeface="Arial"/>
              </a:rPr>
              <a:t>to </a:t>
            </a:r>
            <a:r>
              <a:rPr dirty="0" sz="1200" spc="-5">
                <a:latin typeface="Arial"/>
                <a:cs typeface="Arial"/>
              </a:rPr>
              <a:t>mysticism. </a:t>
            </a:r>
            <a:r>
              <a:rPr dirty="0" sz="1200">
                <a:latin typeface="Arial"/>
                <a:cs typeface="Arial"/>
              </a:rPr>
              <a:t>The </a:t>
            </a:r>
            <a:r>
              <a:rPr dirty="0" sz="1200" spc="-5">
                <a:latin typeface="Arial"/>
                <a:cs typeface="Arial"/>
              </a:rPr>
              <a:t>survival of philosophy in the west required extreme  prudence, emphasis on </a:t>
            </a:r>
            <a:r>
              <a:rPr dirty="0" sz="1200">
                <a:latin typeface="Arial"/>
                <a:cs typeface="Arial"/>
              </a:rPr>
              <a:t>its </a:t>
            </a:r>
            <a:r>
              <a:rPr dirty="0" sz="1200" spc="-5">
                <a:latin typeface="Arial"/>
                <a:cs typeface="Arial"/>
              </a:rPr>
              <a:t>scientific character, abstention from meddling in political or  religious </a:t>
            </a:r>
            <a:r>
              <a:rPr dirty="0" sz="1200">
                <a:latin typeface="Arial"/>
                <a:cs typeface="Arial"/>
              </a:rPr>
              <a:t>matters, </a:t>
            </a:r>
            <a:r>
              <a:rPr dirty="0" sz="1200" spc="-10">
                <a:latin typeface="Arial"/>
                <a:cs typeface="Arial"/>
              </a:rPr>
              <a:t>and </a:t>
            </a:r>
            <a:r>
              <a:rPr dirty="0" sz="1200" spc="-5">
                <a:latin typeface="Arial"/>
                <a:cs typeface="Arial"/>
              </a:rPr>
              <a:t>abandonment of the hope of effecting extensive doctrinal or  institutional reform.</a:t>
            </a:r>
            <a:endParaRPr sz="1200">
              <a:latin typeface="Arial"/>
              <a:cs typeface="Arial"/>
            </a:endParaRPr>
          </a:p>
          <a:p>
            <a:pPr algn="just" marL="12700">
              <a:lnSpc>
                <a:spcPct val="100000"/>
              </a:lnSpc>
              <a:spcBef>
                <a:spcPts val="944"/>
              </a:spcBef>
            </a:pPr>
            <a:r>
              <a:rPr dirty="0" u="heavy" sz="1200" spc="-5" b="1" i="1">
                <a:uFill>
                  <a:solidFill>
                    <a:srgbClr val="000000"/>
                  </a:solidFill>
                </a:uFill>
                <a:latin typeface="Arial"/>
                <a:cs typeface="Arial"/>
              </a:rPr>
              <a:t>Critiques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Aristotle </a:t>
            </a:r>
            <a:r>
              <a:rPr dirty="0" u="heavy" sz="1200" b="1" i="1">
                <a:uFill>
                  <a:solidFill>
                    <a:srgbClr val="000000"/>
                  </a:solidFill>
                </a:uFill>
                <a:latin typeface="Arial"/>
                <a:cs typeface="Arial"/>
              </a:rPr>
              <a:t>in </a:t>
            </a:r>
            <a:r>
              <a:rPr dirty="0" u="heavy" sz="1200" spc="-5" b="1" i="1">
                <a:uFill>
                  <a:solidFill>
                    <a:srgbClr val="000000"/>
                  </a:solidFill>
                </a:uFill>
                <a:latin typeface="Arial"/>
                <a:cs typeface="Arial"/>
              </a:rPr>
              <a:t>Islamic</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theology.</a:t>
            </a:r>
            <a:endParaRPr sz="1200">
              <a:latin typeface="Arial"/>
              <a:cs typeface="Arial"/>
            </a:endParaRPr>
          </a:p>
          <a:p>
            <a:pPr algn="just" marL="12700" marR="5715">
              <a:lnSpc>
                <a:spcPct val="95800"/>
              </a:lnSpc>
              <a:spcBef>
                <a:spcPts val="1000"/>
              </a:spcBef>
            </a:pPr>
            <a:r>
              <a:rPr dirty="0" sz="1200" spc="-5">
                <a:latin typeface="Arial"/>
                <a:cs typeface="Arial"/>
              </a:rPr>
              <a:t>The critique of Aristotle that had begun in </a:t>
            </a:r>
            <a:r>
              <a:rPr dirty="0" sz="1200">
                <a:latin typeface="Arial"/>
                <a:cs typeface="Arial"/>
              </a:rPr>
              <a:t>Mu'tazili </a:t>
            </a:r>
            <a:r>
              <a:rPr dirty="0" sz="1200" spc="-5">
                <a:latin typeface="Arial"/>
                <a:cs typeface="Arial"/>
              </a:rPr>
              <a:t>circles and had found a prominent  champion in </a:t>
            </a:r>
            <a:r>
              <a:rPr dirty="0" sz="1200">
                <a:latin typeface="Arial"/>
                <a:cs typeface="Arial"/>
              </a:rPr>
              <a:t>Ab</a:t>
            </a:r>
            <a:r>
              <a:rPr dirty="0" u="sng" sz="1200">
                <a:uFill>
                  <a:solidFill>
                    <a:srgbClr val="000000"/>
                  </a:solidFill>
                </a:uFill>
                <a:latin typeface="Arial"/>
                <a:cs typeface="Arial"/>
              </a:rPr>
              <a:t>u</a:t>
            </a:r>
            <a:r>
              <a:rPr dirty="0" sz="1200">
                <a:latin typeface="Arial"/>
                <a:cs typeface="Arial"/>
              </a:rPr>
              <a:t> </a:t>
            </a:r>
            <a:r>
              <a:rPr dirty="0" sz="1200" spc="-5">
                <a:latin typeface="Arial"/>
                <a:cs typeface="Arial"/>
              </a:rPr>
              <a:t>Bakr ar-R</a:t>
            </a:r>
            <a:r>
              <a:rPr dirty="0" u="sng" sz="1200" spc="-5">
                <a:uFill>
                  <a:solidFill>
                    <a:srgbClr val="000000"/>
                  </a:solidFill>
                </a:uFill>
                <a:latin typeface="Arial"/>
                <a:cs typeface="Arial"/>
              </a:rPr>
              <a:t>a</a:t>
            </a:r>
            <a:r>
              <a:rPr dirty="0" sz="1200" spc="-5">
                <a:latin typeface="Arial"/>
                <a:cs typeface="Arial"/>
              </a:rPr>
              <a:t>zi </a:t>
            </a:r>
            <a:r>
              <a:rPr dirty="0" sz="1200" spc="-10">
                <a:latin typeface="Arial"/>
                <a:cs typeface="Arial"/>
              </a:rPr>
              <a:t>was </a:t>
            </a:r>
            <a:r>
              <a:rPr dirty="0" sz="1200" spc="-5">
                <a:latin typeface="Arial"/>
                <a:cs typeface="Arial"/>
              </a:rPr>
              <a:t>provided with a </a:t>
            </a:r>
            <a:r>
              <a:rPr dirty="0" sz="1200">
                <a:latin typeface="Arial"/>
                <a:cs typeface="Arial"/>
              </a:rPr>
              <a:t>more </a:t>
            </a:r>
            <a:r>
              <a:rPr dirty="0" sz="1200" spc="-5">
                <a:latin typeface="Arial"/>
                <a:cs typeface="Arial"/>
              </a:rPr>
              <a:t>solid foundation in the 10th </a:t>
            </a:r>
            <a:r>
              <a:rPr dirty="0" sz="1200" spc="-10">
                <a:latin typeface="Arial"/>
                <a:cs typeface="Arial"/>
              </a:rPr>
              <a:t>and  </a:t>
            </a:r>
            <a:r>
              <a:rPr dirty="0" sz="1200" spc="-5">
                <a:latin typeface="Arial"/>
                <a:cs typeface="Arial"/>
              </a:rPr>
              <a:t>11th centuries by </a:t>
            </a:r>
            <a:r>
              <a:rPr dirty="0" sz="1200">
                <a:latin typeface="Arial"/>
                <a:cs typeface="Arial"/>
              </a:rPr>
              <a:t>the </a:t>
            </a:r>
            <a:r>
              <a:rPr dirty="0" sz="1200" spc="-5">
                <a:latin typeface="Arial"/>
                <a:cs typeface="Arial"/>
              </a:rPr>
              <a:t>Christian </a:t>
            </a:r>
            <a:r>
              <a:rPr dirty="0" sz="1200">
                <a:latin typeface="Arial"/>
                <a:cs typeface="Arial"/>
              </a:rPr>
              <a:t>theologians </a:t>
            </a:r>
            <a:r>
              <a:rPr dirty="0" sz="1200" spc="-5">
                <a:latin typeface="Arial"/>
                <a:cs typeface="Arial"/>
              </a:rPr>
              <a:t>and philosophers </a:t>
            </a:r>
            <a:r>
              <a:rPr dirty="0" sz="1200">
                <a:latin typeface="Arial"/>
                <a:cs typeface="Arial"/>
              </a:rPr>
              <a:t>of </a:t>
            </a:r>
            <a:r>
              <a:rPr dirty="0" sz="1200" spc="-5">
                <a:latin typeface="Arial"/>
                <a:cs typeface="Arial"/>
              </a:rPr>
              <a:t>Baghdad, </a:t>
            </a:r>
            <a:r>
              <a:rPr dirty="0" sz="1200" spc="-10">
                <a:latin typeface="Arial"/>
                <a:cs typeface="Arial"/>
              </a:rPr>
              <a:t>who </a:t>
            </a:r>
            <a:r>
              <a:rPr dirty="0" sz="1200" spc="-5">
                <a:latin typeface="Arial"/>
                <a:cs typeface="Arial"/>
              </a:rPr>
              <a:t>translated the  writings </a:t>
            </a:r>
            <a:r>
              <a:rPr dirty="0" sz="1200">
                <a:latin typeface="Arial"/>
                <a:cs typeface="Arial"/>
              </a:rPr>
              <a:t>of the </a:t>
            </a:r>
            <a:r>
              <a:rPr dirty="0" sz="1200" spc="-5">
                <a:latin typeface="Arial"/>
                <a:cs typeface="Arial"/>
              </a:rPr>
              <a:t>Hellenistic critics </a:t>
            </a:r>
            <a:r>
              <a:rPr dirty="0" sz="1200">
                <a:latin typeface="Arial"/>
                <a:cs typeface="Arial"/>
              </a:rPr>
              <a:t>of </a:t>
            </a:r>
            <a:r>
              <a:rPr dirty="0" sz="1200" spc="-5">
                <a:latin typeface="Arial"/>
                <a:cs typeface="Arial"/>
              </a:rPr>
              <a:t>Aristotle </a:t>
            </a:r>
            <a:r>
              <a:rPr dirty="0" sz="1200">
                <a:latin typeface="Arial"/>
                <a:cs typeface="Arial"/>
              </a:rPr>
              <a:t>(</a:t>
            </a:r>
            <a:r>
              <a:rPr dirty="0" sz="1200" i="1">
                <a:latin typeface="Arial"/>
                <a:cs typeface="Arial"/>
              </a:rPr>
              <a:t>e.g., </a:t>
            </a:r>
            <a:r>
              <a:rPr dirty="0" sz="1200" spc="-5">
                <a:latin typeface="Arial"/>
                <a:cs typeface="Arial"/>
              </a:rPr>
              <a:t>John Philoponus) and made </a:t>
            </a:r>
            <a:r>
              <a:rPr dirty="0" sz="1200" spc="-10">
                <a:latin typeface="Arial"/>
                <a:cs typeface="Arial"/>
              </a:rPr>
              <a:t>use </a:t>
            </a:r>
            <a:r>
              <a:rPr dirty="0" sz="1200" spc="-5">
                <a:latin typeface="Arial"/>
                <a:cs typeface="Arial"/>
              </a:rPr>
              <a:t>of their  arguments in commenting on </a:t>
            </a:r>
            <a:r>
              <a:rPr dirty="0" sz="1200">
                <a:latin typeface="Arial"/>
                <a:cs typeface="Arial"/>
              </a:rPr>
              <a:t>Aristotle </a:t>
            </a:r>
            <a:r>
              <a:rPr dirty="0" sz="1200" spc="-5">
                <a:latin typeface="Arial"/>
                <a:cs typeface="Arial"/>
              </a:rPr>
              <a:t>and </a:t>
            </a:r>
            <a:r>
              <a:rPr dirty="0" sz="1200" spc="-10">
                <a:latin typeface="Arial"/>
                <a:cs typeface="Arial"/>
              </a:rPr>
              <a:t>in </a:t>
            </a:r>
            <a:r>
              <a:rPr dirty="0" sz="1200" spc="-5">
                <a:latin typeface="Arial"/>
                <a:cs typeface="Arial"/>
              </a:rPr>
              <a:t>independent theological and philosophic works.  Avicenna's </a:t>
            </a:r>
            <a:r>
              <a:rPr dirty="0" sz="1200">
                <a:latin typeface="Arial"/>
                <a:cs typeface="Arial"/>
              </a:rPr>
              <a:t>attack </a:t>
            </a:r>
            <a:r>
              <a:rPr dirty="0" sz="1200" spc="-10">
                <a:latin typeface="Arial"/>
                <a:cs typeface="Arial"/>
              </a:rPr>
              <a:t>on </a:t>
            </a:r>
            <a:r>
              <a:rPr dirty="0" sz="1200">
                <a:latin typeface="Arial"/>
                <a:cs typeface="Arial"/>
              </a:rPr>
              <a:t>these so-called </a:t>
            </a:r>
            <a:r>
              <a:rPr dirty="0" sz="1200" spc="-5">
                <a:latin typeface="Arial"/>
                <a:cs typeface="Arial"/>
              </a:rPr>
              <a:t>Aristotelians and </a:t>
            </a:r>
            <a:r>
              <a:rPr dirty="0" sz="1200">
                <a:latin typeface="Arial"/>
                <a:cs typeface="Arial"/>
              </a:rPr>
              <a:t>their Hellenistic </a:t>
            </a:r>
            <a:r>
              <a:rPr dirty="0" sz="1200" spc="-5">
                <a:latin typeface="Arial"/>
                <a:cs typeface="Arial"/>
              </a:rPr>
              <a:t>predecessors </a:t>
            </a:r>
            <a:r>
              <a:rPr dirty="0" sz="1200" spc="-10">
                <a:latin typeface="Arial"/>
                <a:cs typeface="Arial"/>
              </a:rPr>
              <a:t>(an  </a:t>
            </a:r>
            <a:r>
              <a:rPr dirty="0" sz="1200">
                <a:latin typeface="Arial"/>
                <a:cs typeface="Arial"/>
              </a:rPr>
              <a:t>attack </a:t>
            </a:r>
            <a:r>
              <a:rPr dirty="0" sz="1200" spc="-5">
                <a:latin typeface="Arial"/>
                <a:cs typeface="Arial"/>
              </a:rPr>
              <a:t>that had been </a:t>
            </a:r>
            <a:r>
              <a:rPr dirty="0" sz="1200">
                <a:latin typeface="Arial"/>
                <a:cs typeface="Arial"/>
              </a:rPr>
              <a:t>initiated </a:t>
            </a:r>
            <a:r>
              <a:rPr dirty="0" sz="1200" spc="-5">
                <a:latin typeface="Arial"/>
                <a:cs typeface="Arial"/>
              </a:rPr>
              <a:t>by </a:t>
            </a:r>
            <a:r>
              <a:rPr dirty="0" sz="1200">
                <a:latin typeface="Arial"/>
                <a:cs typeface="Arial"/>
              </a:rPr>
              <a:t>al-F</a:t>
            </a:r>
            <a:r>
              <a:rPr dirty="0" u="sng" sz="1200">
                <a:uFill>
                  <a:solidFill>
                    <a:srgbClr val="000000"/>
                  </a:solidFill>
                </a:uFill>
                <a:latin typeface="Arial"/>
                <a:cs typeface="Arial"/>
              </a:rPr>
              <a:t>a</a:t>
            </a:r>
            <a:r>
              <a:rPr dirty="0" sz="1200">
                <a:latin typeface="Arial"/>
                <a:cs typeface="Arial"/>
              </a:rPr>
              <a:t>r</a:t>
            </a:r>
            <a:r>
              <a:rPr dirty="0" u="sng" sz="1200">
                <a:uFill>
                  <a:solidFill>
                    <a:srgbClr val="000000"/>
                  </a:solidFill>
                </a:uFill>
                <a:latin typeface="Arial"/>
                <a:cs typeface="Arial"/>
              </a:rPr>
              <a:t>a</a:t>
            </a:r>
            <a:r>
              <a:rPr dirty="0" sz="1200">
                <a:latin typeface="Arial"/>
                <a:cs typeface="Arial"/>
              </a:rPr>
              <a:t>bi </a:t>
            </a:r>
            <a:r>
              <a:rPr dirty="0" sz="1200" spc="-5">
                <a:latin typeface="Arial"/>
                <a:cs typeface="Arial"/>
              </a:rPr>
              <a:t>and </a:t>
            </a:r>
            <a:r>
              <a:rPr dirty="0" sz="1200" spc="-10">
                <a:latin typeface="Arial"/>
                <a:cs typeface="Arial"/>
              </a:rPr>
              <a:t>was </a:t>
            </a:r>
            <a:r>
              <a:rPr dirty="0" sz="1200">
                <a:latin typeface="Arial"/>
                <a:cs typeface="Arial"/>
              </a:rPr>
              <a:t>to </a:t>
            </a:r>
            <a:r>
              <a:rPr dirty="0" sz="1200" spc="-5">
                <a:latin typeface="Arial"/>
                <a:cs typeface="Arial"/>
              </a:rPr>
              <a:t>be continued by Averroës) did not  prevent </a:t>
            </a:r>
            <a:r>
              <a:rPr dirty="0" sz="1200">
                <a:latin typeface="Arial"/>
                <a:cs typeface="Arial"/>
              </a:rPr>
              <a:t>the </a:t>
            </a:r>
            <a:r>
              <a:rPr dirty="0" sz="1200" spc="-5">
                <a:latin typeface="Arial"/>
                <a:cs typeface="Arial"/>
              </a:rPr>
              <a:t>spread of their theologically </a:t>
            </a:r>
            <a:r>
              <a:rPr dirty="0" sz="1200">
                <a:latin typeface="Arial"/>
                <a:cs typeface="Arial"/>
              </a:rPr>
              <a:t>based </a:t>
            </a:r>
            <a:r>
              <a:rPr dirty="0" sz="1200" spc="-5">
                <a:latin typeface="Arial"/>
                <a:cs typeface="Arial"/>
              </a:rPr>
              <a:t>anti-Aristotelianism among Jewish and  Muslim</a:t>
            </a:r>
            <a:r>
              <a:rPr dirty="0" sz="1200" spc="40">
                <a:latin typeface="Arial"/>
                <a:cs typeface="Arial"/>
              </a:rPr>
              <a:t> </a:t>
            </a:r>
            <a:r>
              <a:rPr dirty="0" sz="1200" spc="-5">
                <a:latin typeface="Arial"/>
                <a:cs typeface="Arial"/>
              </a:rPr>
              <a:t>students</a:t>
            </a:r>
            <a:r>
              <a:rPr dirty="0" sz="1200" spc="35">
                <a:latin typeface="Arial"/>
                <a:cs typeface="Arial"/>
              </a:rPr>
              <a:t> </a:t>
            </a:r>
            <a:r>
              <a:rPr dirty="0" sz="1200" spc="-5">
                <a:latin typeface="Arial"/>
                <a:cs typeface="Arial"/>
              </a:rPr>
              <a:t>of</a:t>
            </a:r>
            <a:r>
              <a:rPr dirty="0" sz="1200" spc="45">
                <a:latin typeface="Arial"/>
                <a:cs typeface="Arial"/>
              </a:rPr>
              <a:t> </a:t>
            </a:r>
            <a:r>
              <a:rPr dirty="0" sz="1200" spc="-5">
                <a:latin typeface="Arial"/>
                <a:cs typeface="Arial"/>
              </a:rPr>
              <a:t>philosophy</a:t>
            </a:r>
            <a:r>
              <a:rPr dirty="0" sz="1200" spc="20">
                <a:latin typeface="Arial"/>
                <a:cs typeface="Arial"/>
              </a:rPr>
              <a:t> </a:t>
            </a:r>
            <a:r>
              <a:rPr dirty="0" sz="1200" spc="-5">
                <a:latin typeface="Arial"/>
                <a:cs typeface="Arial"/>
              </a:rPr>
              <a:t>in</a:t>
            </a:r>
            <a:r>
              <a:rPr dirty="0" sz="1200" spc="35">
                <a:latin typeface="Arial"/>
                <a:cs typeface="Arial"/>
              </a:rPr>
              <a:t> </a:t>
            </a:r>
            <a:r>
              <a:rPr dirty="0" sz="1200">
                <a:latin typeface="Arial"/>
                <a:cs typeface="Arial"/>
              </a:rPr>
              <a:t>the</a:t>
            </a:r>
            <a:r>
              <a:rPr dirty="0" sz="1200" spc="35">
                <a:latin typeface="Arial"/>
                <a:cs typeface="Arial"/>
              </a:rPr>
              <a:t> </a:t>
            </a:r>
            <a:r>
              <a:rPr dirty="0" sz="1200" spc="-5">
                <a:latin typeface="Arial"/>
                <a:cs typeface="Arial"/>
              </a:rPr>
              <a:t>12th</a:t>
            </a:r>
            <a:r>
              <a:rPr dirty="0" sz="1200" spc="40">
                <a:latin typeface="Arial"/>
                <a:cs typeface="Arial"/>
              </a:rPr>
              <a:t> </a:t>
            </a:r>
            <a:r>
              <a:rPr dirty="0" sz="1200" spc="-5">
                <a:latin typeface="Arial"/>
                <a:cs typeface="Arial"/>
              </a:rPr>
              <a:t>century,</a:t>
            </a:r>
            <a:r>
              <a:rPr dirty="0" sz="1200" spc="35">
                <a:latin typeface="Arial"/>
                <a:cs typeface="Arial"/>
              </a:rPr>
              <a:t> </a:t>
            </a:r>
            <a:r>
              <a:rPr dirty="0" sz="1200" spc="-5">
                <a:latin typeface="Arial"/>
                <a:cs typeface="Arial"/>
              </a:rPr>
              <a:t>such</a:t>
            </a:r>
            <a:r>
              <a:rPr dirty="0" sz="1200" spc="40">
                <a:latin typeface="Arial"/>
                <a:cs typeface="Arial"/>
              </a:rPr>
              <a:t> </a:t>
            </a:r>
            <a:r>
              <a:rPr dirty="0" sz="1200" spc="-5">
                <a:latin typeface="Arial"/>
                <a:cs typeface="Arial"/>
              </a:rPr>
              <a:t>as</a:t>
            </a:r>
            <a:r>
              <a:rPr dirty="0" sz="1200" spc="35">
                <a:latin typeface="Arial"/>
                <a:cs typeface="Arial"/>
              </a:rPr>
              <a:t> </a:t>
            </a:r>
            <a:r>
              <a:rPr dirty="0" sz="1200" spc="10">
                <a:latin typeface="Arial"/>
                <a:cs typeface="Arial"/>
              </a:rPr>
              <a:t>Ab</a:t>
            </a:r>
            <a:r>
              <a:rPr dirty="0" u="sng" sz="1200" spc="10">
                <a:uFill>
                  <a:solidFill>
                    <a:srgbClr val="000000"/>
                  </a:solidFill>
                </a:uFill>
                <a:latin typeface="Arial"/>
                <a:cs typeface="Arial"/>
              </a:rPr>
              <a:t>u</a:t>
            </a:r>
            <a:r>
              <a:rPr dirty="0" sz="1200" spc="40">
                <a:latin typeface="Arial"/>
                <a:cs typeface="Arial"/>
              </a:rPr>
              <a:t> </a:t>
            </a:r>
            <a:r>
              <a:rPr dirty="0" sz="1200" spc="-5">
                <a:latin typeface="Arial"/>
                <a:cs typeface="Arial"/>
              </a:rPr>
              <a:t>al-Barak</a:t>
            </a:r>
            <a:r>
              <a:rPr dirty="0" u="sng" sz="1200" spc="-5">
                <a:uFill>
                  <a:solidFill>
                    <a:srgbClr val="000000"/>
                  </a:solidFill>
                </a:uFill>
                <a:latin typeface="Arial"/>
                <a:cs typeface="Arial"/>
              </a:rPr>
              <a:t>a</a:t>
            </a:r>
            <a:r>
              <a:rPr dirty="0" sz="1200" spc="-5">
                <a:latin typeface="Arial"/>
                <a:cs typeface="Arial"/>
              </a:rPr>
              <a:t>t</a:t>
            </a:r>
            <a:r>
              <a:rPr dirty="0" sz="1200" spc="35">
                <a:latin typeface="Arial"/>
                <a:cs typeface="Arial"/>
              </a:rPr>
              <a:t> </a:t>
            </a:r>
            <a:r>
              <a:rPr dirty="0" sz="1200" spc="-5">
                <a:latin typeface="Arial"/>
                <a:cs typeface="Arial"/>
              </a:rPr>
              <a:t>al-Baghd</a:t>
            </a:r>
            <a:r>
              <a:rPr dirty="0" u="sng" sz="1200" spc="-5">
                <a:uFill>
                  <a:solidFill>
                    <a:srgbClr val="000000"/>
                  </a:solidFill>
                </a:uFill>
                <a:latin typeface="Arial"/>
                <a:cs typeface="Arial"/>
              </a:rPr>
              <a:t>a</a:t>
            </a:r>
            <a:r>
              <a:rPr dirty="0" sz="1200" spc="-5">
                <a:latin typeface="Arial"/>
                <a:cs typeface="Arial"/>
              </a:rPr>
              <a:t>di</a:t>
            </a:r>
            <a:r>
              <a:rPr dirty="0" sz="1200" spc="30">
                <a:latin typeface="Arial"/>
                <a:cs typeface="Arial"/>
              </a:rPr>
              <a:t> </a:t>
            </a:r>
            <a:r>
              <a:rPr dirty="0" sz="1200" spc="-5">
                <a:latin typeface="Arial"/>
                <a:cs typeface="Arial"/>
              </a:rPr>
              <a:t>(died</a:t>
            </a:r>
            <a:endParaRPr sz="1200">
              <a:latin typeface="Arial"/>
              <a:cs typeface="Arial"/>
            </a:endParaRPr>
          </a:p>
          <a:p>
            <a:pPr algn="just" marL="12700">
              <a:lnSpc>
                <a:spcPts val="1345"/>
              </a:lnSpc>
            </a:pPr>
            <a:r>
              <a:rPr dirty="0" sz="1200" i="1">
                <a:latin typeface="Arial"/>
                <a:cs typeface="Arial"/>
              </a:rPr>
              <a:t>c.</a:t>
            </a:r>
            <a:r>
              <a:rPr dirty="0" sz="1200" spc="70" i="1">
                <a:latin typeface="Arial"/>
                <a:cs typeface="Arial"/>
              </a:rPr>
              <a:t> </a:t>
            </a:r>
            <a:r>
              <a:rPr dirty="0" sz="1200" spc="-5">
                <a:latin typeface="Arial"/>
                <a:cs typeface="Arial"/>
              </a:rPr>
              <a:t>1175)</a:t>
            </a:r>
            <a:r>
              <a:rPr dirty="0" sz="1200" spc="65">
                <a:latin typeface="Arial"/>
                <a:cs typeface="Arial"/>
              </a:rPr>
              <a:t> </a:t>
            </a:r>
            <a:r>
              <a:rPr dirty="0" sz="1200" spc="-5">
                <a:latin typeface="Arial"/>
                <a:cs typeface="Arial"/>
              </a:rPr>
              <a:t>and</a:t>
            </a:r>
            <a:r>
              <a:rPr dirty="0" sz="1200" spc="75">
                <a:latin typeface="Arial"/>
                <a:cs typeface="Arial"/>
              </a:rPr>
              <a:t> </a:t>
            </a:r>
            <a:r>
              <a:rPr dirty="0" sz="1200">
                <a:latin typeface="Arial"/>
                <a:cs typeface="Arial"/>
              </a:rPr>
              <a:t>Fakhr</a:t>
            </a:r>
            <a:r>
              <a:rPr dirty="0" sz="1200" spc="65">
                <a:latin typeface="Arial"/>
                <a:cs typeface="Arial"/>
              </a:rPr>
              <a:t> </a:t>
            </a:r>
            <a:r>
              <a:rPr dirty="0" sz="1200" spc="-5">
                <a:latin typeface="Arial"/>
                <a:cs typeface="Arial"/>
              </a:rPr>
              <a:t>ad-Din</a:t>
            </a:r>
            <a:r>
              <a:rPr dirty="0" sz="1200" spc="70">
                <a:latin typeface="Arial"/>
                <a:cs typeface="Arial"/>
              </a:rPr>
              <a:t> </a:t>
            </a:r>
            <a:r>
              <a:rPr dirty="0" sz="1200" spc="-5">
                <a:latin typeface="Arial"/>
                <a:cs typeface="Arial"/>
              </a:rPr>
              <a:t>ar-R</a:t>
            </a:r>
            <a:r>
              <a:rPr dirty="0" u="sng" sz="1200" spc="-5">
                <a:uFill>
                  <a:solidFill>
                    <a:srgbClr val="000000"/>
                  </a:solidFill>
                </a:uFill>
                <a:latin typeface="Arial"/>
                <a:cs typeface="Arial"/>
              </a:rPr>
              <a:t>a</a:t>
            </a:r>
            <a:r>
              <a:rPr dirty="0" sz="1200" spc="-5">
                <a:latin typeface="Arial"/>
                <a:cs typeface="Arial"/>
              </a:rPr>
              <a:t>zi.</a:t>
            </a:r>
            <a:r>
              <a:rPr dirty="0" sz="1200" spc="70">
                <a:latin typeface="Arial"/>
                <a:cs typeface="Arial"/>
              </a:rPr>
              <a:t> </a:t>
            </a:r>
            <a:r>
              <a:rPr dirty="0" sz="1200" spc="-5">
                <a:latin typeface="Arial"/>
                <a:cs typeface="Arial"/>
              </a:rPr>
              <a:t>These</a:t>
            </a:r>
            <a:r>
              <a:rPr dirty="0" sz="1200" spc="75">
                <a:latin typeface="Arial"/>
                <a:cs typeface="Arial"/>
              </a:rPr>
              <a:t> </a:t>
            </a:r>
            <a:r>
              <a:rPr dirty="0" sz="1200" spc="-5">
                <a:latin typeface="Arial"/>
                <a:cs typeface="Arial"/>
              </a:rPr>
              <a:t>theologians</a:t>
            </a:r>
            <a:r>
              <a:rPr dirty="0" sz="1200" spc="70">
                <a:latin typeface="Arial"/>
                <a:cs typeface="Arial"/>
              </a:rPr>
              <a:t> </a:t>
            </a:r>
            <a:r>
              <a:rPr dirty="0" sz="1200" spc="-5">
                <a:latin typeface="Arial"/>
                <a:cs typeface="Arial"/>
              </a:rPr>
              <a:t>continued</a:t>
            </a:r>
            <a:r>
              <a:rPr dirty="0" sz="1200" spc="70">
                <a:latin typeface="Arial"/>
                <a:cs typeface="Arial"/>
              </a:rPr>
              <a:t> </a:t>
            </a:r>
            <a:r>
              <a:rPr dirty="0" sz="1200" spc="-5">
                <a:latin typeface="Arial"/>
                <a:cs typeface="Arial"/>
              </a:rPr>
              <a:t>and</a:t>
            </a:r>
            <a:r>
              <a:rPr dirty="0" sz="1200" spc="75">
                <a:latin typeface="Arial"/>
                <a:cs typeface="Arial"/>
              </a:rPr>
              <a:t> </a:t>
            </a:r>
            <a:r>
              <a:rPr dirty="0" sz="1200" spc="-5">
                <a:latin typeface="Arial"/>
                <a:cs typeface="Arial"/>
              </a:rPr>
              <a:t>intensified</a:t>
            </a:r>
            <a:r>
              <a:rPr dirty="0" sz="1200" spc="65">
                <a:latin typeface="Arial"/>
                <a:cs typeface="Arial"/>
              </a:rPr>
              <a:t> </a:t>
            </a:r>
            <a:r>
              <a:rPr dirty="0" sz="1200">
                <a:latin typeface="Arial"/>
                <a:cs typeface="Arial"/>
              </a:rPr>
              <a:t>al-Ghaz</a:t>
            </a:r>
            <a:r>
              <a:rPr dirty="0" u="sng" sz="1200">
                <a:uFill>
                  <a:solidFill>
                    <a:srgbClr val="000000"/>
                  </a:solidFill>
                </a:uFill>
                <a:latin typeface="Arial"/>
                <a:cs typeface="Arial"/>
              </a:rPr>
              <a:t>ali</a:t>
            </a:r>
            <a:r>
              <a:rPr dirty="0" sz="1200">
                <a:latin typeface="Arial"/>
                <a:cs typeface="Arial"/>
              </a:rPr>
              <a:t>'s</a:t>
            </a:r>
            <a:endParaRPr sz="1200">
              <a:latin typeface="Arial"/>
              <a:cs typeface="Arial"/>
            </a:endParaRPr>
          </a:p>
          <a:p>
            <a:pPr algn="just" marL="12700" marR="6350">
              <a:lnSpc>
                <a:spcPts val="1380"/>
              </a:lnSpc>
              <a:spcBef>
                <a:spcPts val="70"/>
              </a:spcBef>
            </a:pPr>
            <a:r>
              <a:rPr dirty="0" sz="1200">
                <a:latin typeface="Arial"/>
                <a:cs typeface="Arial"/>
              </a:rPr>
              <a:t>attacks </a:t>
            </a:r>
            <a:r>
              <a:rPr dirty="0" sz="1200" spc="-5">
                <a:latin typeface="Arial"/>
                <a:cs typeface="Arial"/>
              </a:rPr>
              <a:t>on Avicenna and Aristotle (especially </a:t>
            </a:r>
            <a:r>
              <a:rPr dirty="0" sz="1200">
                <a:latin typeface="Arial"/>
                <a:cs typeface="Arial"/>
              </a:rPr>
              <a:t>their </a:t>
            </a:r>
            <a:r>
              <a:rPr dirty="0" sz="1200" spc="-5">
                <a:latin typeface="Arial"/>
                <a:cs typeface="Arial"/>
              </a:rPr>
              <a:t>views on time, movement, matter, and  </a:t>
            </a:r>
            <a:r>
              <a:rPr dirty="0" sz="1200">
                <a:latin typeface="Arial"/>
                <a:cs typeface="Arial"/>
              </a:rPr>
              <a:t>form, the </a:t>
            </a:r>
            <a:r>
              <a:rPr dirty="0" sz="1200" spc="-5">
                <a:latin typeface="Arial"/>
                <a:cs typeface="Arial"/>
              </a:rPr>
              <a:t>nature of the heavenly bodies, and the relation between </a:t>
            </a:r>
            <a:r>
              <a:rPr dirty="0" sz="1200" spc="-10">
                <a:latin typeface="Arial"/>
                <a:cs typeface="Arial"/>
              </a:rPr>
              <a:t>the </a:t>
            </a:r>
            <a:r>
              <a:rPr dirty="0" sz="1200" spc="-5">
                <a:latin typeface="Arial"/>
                <a:cs typeface="Arial"/>
              </a:rPr>
              <a:t>intelligible and sensible  worlds). </a:t>
            </a:r>
            <a:r>
              <a:rPr dirty="0" sz="1200">
                <a:latin typeface="Arial"/>
                <a:cs typeface="Arial"/>
              </a:rPr>
              <a:t>They </a:t>
            </a:r>
            <a:r>
              <a:rPr dirty="0" sz="1200" spc="-5">
                <a:latin typeface="Arial"/>
                <a:cs typeface="Arial"/>
              </a:rPr>
              <a:t>suggested that a thorough examination of Aristotle had revealed </a:t>
            </a:r>
            <a:r>
              <a:rPr dirty="0" sz="1200">
                <a:latin typeface="Arial"/>
                <a:cs typeface="Arial"/>
              </a:rPr>
              <a:t>to </a:t>
            </a:r>
            <a:r>
              <a:rPr dirty="0" sz="1200" spc="-5">
                <a:latin typeface="Arial"/>
                <a:cs typeface="Arial"/>
              </a:rPr>
              <a:t>them, </a:t>
            </a:r>
            <a:r>
              <a:rPr dirty="0" sz="1200" spc="-10">
                <a:latin typeface="Arial"/>
                <a:cs typeface="Arial"/>
              </a:rPr>
              <a:t>on  </a:t>
            </a:r>
            <a:r>
              <a:rPr dirty="0" sz="1200" spc="-5">
                <a:latin typeface="Arial"/>
                <a:cs typeface="Arial"/>
              </a:rPr>
              <a:t>philosophic grounds, that the fundamental disagreements between him and the theologies  based </a:t>
            </a:r>
            <a:r>
              <a:rPr dirty="0" sz="1200" spc="-10">
                <a:latin typeface="Arial"/>
                <a:cs typeface="Arial"/>
              </a:rPr>
              <a:t>on </a:t>
            </a:r>
            <a:r>
              <a:rPr dirty="0" sz="1200" spc="-5">
                <a:latin typeface="Arial"/>
                <a:cs typeface="Arial"/>
              </a:rPr>
              <a:t>the revealed religions represented open options and that Aristotle's view </a:t>
            </a:r>
            <a:r>
              <a:rPr dirty="0" sz="1200">
                <a:latin typeface="Arial"/>
                <a:cs typeface="Arial"/>
              </a:rPr>
              <a:t>of </a:t>
            </a:r>
            <a:r>
              <a:rPr dirty="0" sz="1200" spc="-10">
                <a:latin typeface="Arial"/>
                <a:cs typeface="Arial"/>
              </a:rPr>
              <a:t>the  </a:t>
            </a:r>
            <a:r>
              <a:rPr dirty="0" sz="1200" spc="-5">
                <a:latin typeface="Arial"/>
                <a:cs typeface="Arial"/>
              </a:rPr>
              <a:t>universe </a:t>
            </a:r>
            <a:r>
              <a:rPr dirty="0" sz="1200" spc="-10">
                <a:latin typeface="Arial"/>
                <a:cs typeface="Arial"/>
              </a:rPr>
              <a:t>was </a:t>
            </a:r>
            <a:r>
              <a:rPr dirty="0" sz="1200" spc="-5">
                <a:latin typeface="Arial"/>
                <a:cs typeface="Arial"/>
              </a:rPr>
              <a:t>in need of explanatory principles </a:t>
            </a:r>
            <a:r>
              <a:rPr dirty="0" sz="1200">
                <a:latin typeface="Arial"/>
                <a:cs typeface="Arial"/>
              </a:rPr>
              <a:t>that </a:t>
            </a:r>
            <a:r>
              <a:rPr dirty="0" sz="1200" spc="-5">
                <a:latin typeface="Arial"/>
                <a:cs typeface="Arial"/>
              </a:rPr>
              <a:t>could very well be supplied by theology.  </a:t>
            </a:r>
            <a:r>
              <a:rPr dirty="0" sz="1200">
                <a:latin typeface="Arial"/>
                <a:cs typeface="Arial"/>
              </a:rPr>
              <a:t>This </a:t>
            </a:r>
            <a:r>
              <a:rPr dirty="0" sz="1200" spc="-5">
                <a:latin typeface="Arial"/>
                <a:cs typeface="Arial"/>
              </a:rPr>
              <a:t>critique provided </a:t>
            </a:r>
            <a:r>
              <a:rPr dirty="0" sz="1200">
                <a:latin typeface="Arial"/>
                <a:cs typeface="Arial"/>
              </a:rPr>
              <a:t>the </a:t>
            </a:r>
            <a:r>
              <a:rPr dirty="0" sz="1200" spc="-5">
                <a:latin typeface="Arial"/>
                <a:cs typeface="Arial"/>
              </a:rPr>
              <a:t>framework </a:t>
            </a:r>
            <a:r>
              <a:rPr dirty="0" sz="1200">
                <a:latin typeface="Arial"/>
                <a:cs typeface="Arial"/>
              </a:rPr>
              <a:t>for the </a:t>
            </a:r>
            <a:r>
              <a:rPr dirty="0" sz="1200" spc="-5">
                <a:latin typeface="Arial"/>
                <a:cs typeface="Arial"/>
              </a:rPr>
              <a:t>integration of philosophy into theology </a:t>
            </a:r>
            <a:r>
              <a:rPr dirty="0" sz="1200">
                <a:latin typeface="Arial"/>
                <a:cs typeface="Arial"/>
              </a:rPr>
              <a:t>from </a:t>
            </a:r>
            <a:r>
              <a:rPr dirty="0" sz="1200" spc="-5">
                <a:latin typeface="Arial"/>
                <a:cs typeface="Arial"/>
              </a:rPr>
              <a:t>the  13th </a:t>
            </a:r>
            <a:r>
              <a:rPr dirty="0" sz="1200">
                <a:latin typeface="Arial"/>
                <a:cs typeface="Arial"/>
              </a:rPr>
              <a:t>century</a:t>
            </a:r>
            <a:r>
              <a:rPr dirty="0" sz="1200" spc="-25">
                <a:latin typeface="Arial"/>
                <a:cs typeface="Arial"/>
              </a:rPr>
              <a:t> </a:t>
            </a:r>
            <a:r>
              <a:rPr dirty="0" sz="1200" spc="-5">
                <a:latin typeface="Arial"/>
                <a:cs typeface="Arial"/>
              </a:rPr>
              <a:t>onward.</a:t>
            </a:r>
            <a:endParaRPr sz="1200">
              <a:latin typeface="Arial"/>
              <a:cs typeface="Arial"/>
            </a:endParaRPr>
          </a:p>
        </p:txBody>
      </p:sp>
      <p:sp>
        <p:nvSpPr>
          <p:cNvPr id="14" name="object 1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15" name="object 1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158</a:t>
            </a:r>
            <a:endParaRPr sz="1200">
              <a:latin typeface="Times New Roman"/>
              <a:cs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3" name="object 3"/>
          <p:cNvSpPr/>
          <p:nvPr/>
        </p:nvSpPr>
        <p:spPr>
          <a:xfrm>
            <a:off x="3803015" y="1283461"/>
            <a:ext cx="33655" cy="10795"/>
          </a:xfrm>
          <a:custGeom>
            <a:avLst/>
            <a:gdLst/>
            <a:ahLst/>
            <a:cxnLst/>
            <a:rect l="l" t="t" r="r" b="b"/>
            <a:pathLst>
              <a:path w="33654" h="10794">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4" name="object 4"/>
          <p:cNvSpPr/>
          <p:nvPr/>
        </p:nvSpPr>
        <p:spPr>
          <a:xfrm>
            <a:off x="5426328" y="1633981"/>
            <a:ext cx="33655" cy="10795"/>
          </a:xfrm>
          <a:custGeom>
            <a:avLst/>
            <a:gdLst/>
            <a:ahLst/>
            <a:cxnLst/>
            <a:rect l="l" t="t" r="r" b="b"/>
            <a:pathLst>
              <a:path w="33654" h="10794">
                <a:moveTo>
                  <a:pt x="33527" y="0"/>
                </a:moveTo>
                <a:lnTo>
                  <a:pt x="0" y="0"/>
                </a:lnTo>
                <a:lnTo>
                  <a:pt x="0" y="10668"/>
                </a:lnTo>
                <a:lnTo>
                  <a:pt x="33527" y="10668"/>
                </a:lnTo>
                <a:lnTo>
                  <a:pt x="33527" y="0"/>
                </a:lnTo>
                <a:close/>
              </a:path>
            </a:pathLst>
          </a:custGeom>
          <a:solidFill>
            <a:srgbClr val="000000"/>
          </a:solidFill>
        </p:spPr>
        <p:txBody>
          <a:bodyPr wrap="square" lIns="0" tIns="0" rIns="0" bIns="0" rtlCol="0"/>
          <a:lstStyle/>
          <a:p/>
        </p:txBody>
      </p:sp>
      <p:sp>
        <p:nvSpPr>
          <p:cNvPr id="5" name="object 5"/>
          <p:cNvSpPr/>
          <p:nvPr/>
        </p:nvSpPr>
        <p:spPr>
          <a:xfrm>
            <a:off x="1550161" y="4040758"/>
            <a:ext cx="33655" cy="10795"/>
          </a:xfrm>
          <a:custGeom>
            <a:avLst/>
            <a:gdLst/>
            <a:ahLst/>
            <a:cxnLst/>
            <a:rect l="l" t="t" r="r" b="b"/>
            <a:pathLst>
              <a:path w="33655" h="10795">
                <a:moveTo>
                  <a:pt x="33528" y="0"/>
                </a:moveTo>
                <a:lnTo>
                  <a:pt x="0" y="0"/>
                </a:lnTo>
                <a:lnTo>
                  <a:pt x="0" y="10668"/>
                </a:lnTo>
                <a:lnTo>
                  <a:pt x="33528" y="10668"/>
                </a:lnTo>
                <a:lnTo>
                  <a:pt x="33528" y="0"/>
                </a:lnTo>
                <a:close/>
              </a:path>
            </a:pathLst>
          </a:custGeom>
          <a:solidFill>
            <a:srgbClr val="000000"/>
          </a:solidFill>
        </p:spPr>
        <p:txBody>
          <a:bodyPr wrap="square" lIns="0" tIns="0" rIns="0" bIns="0" rtlCol="0"/>
          <a:lstStyle/>
          <a:p/>
        </p:txBody>
      </p:sp>
      <p:sp>
        <p:nvSpPr>
          <p:cNvPr id="6" name="object 6"/>
          <p:cNvSpPr/>
          <p:nvPr/>
        </p:nvSpPr>
        <p:spPr>
          <a:xfrm>
            <a:off x="1253032" y="4738750"/>
            <a:ext cx="33655" cy="10795"/>
          </a:xfrm>
          <a:custGeom>
            <a:avLst/>
            <a:gdLst/>
            <a:ahLst/>
            <a:cxnLst/>
            <a:rect l="l" t="t" r="r" b="b"/>
            <a:pathLst>
              <a:path w="33655" h="10795">
                <a:moveTo>
                  <a:pt x="33528" y="0"/>
                </a:moveTo>
                <a:lnTo>
                  <a:pt x="0" y="0"/>
                </a:lnTo>
                <a:lnTo>
                  <a:pt x="0" y="10668"/>
                </a:lnTo>
                <a:lnTo>
                  <a:pt x="33528" y="10668"/>
                </a:lnTo>
                <a:lnTo>
                  <a:pt x="33528" y="0"/>
                </a:lnTo>
                <a:close/>
              </a:path>
            </a:pathLst>
          </a:custGeom>
          <a:solidFill>
            <a:srgbClr val="000000"/>
          </a:solidFill>
        </p:spPr>
        <p:txBody>
          <a:bodyPr wrap="square" lIns="0" tIns="0" rIns="0" bIns="0" rtlCol="0"/>
          <a:lstStyle/>
          <a:p/>
        </p:txBody>
      </p:sp>
      <p:sp>
        <p:nvSpPr>
          <p:cNvPr id="7" name="object 7"/>
          <p:cNvSpPr/>
          <p:nvPr/>
        </p:nvSpPr>
        <p:spPr>
          <a:xfrm>
            <a:off x="4982845" y="6142608"/>
            <a:ext cx="33655" cy="10795"/>
          </a:xfrm>
          <a:custGeom>
            <a:avLst/>
            <a:gdLst/>
            <a:ahLst/>
            <a:cxnLst/>
            <a:rect l="l" t="t" r="r" b="b"/>
            <a:pathLst>
              <a:path w="33654" h="10795">
                <a:moveTo>
                  <a:pt x="33527" y="0"/>
                </a:moveTo>
                <a:lnTo>
                  <a:pt x="0" y="0"/>
                </a:lnTo>
                <a:lnTo>
                  <a:pt x="0" y="10667"/>
                </a:lnTo>
                <a:lnTo>
                  <a:pt x="33527" y="10667"/>
                </a:lnTo>
                <a:lnTo>
                  <a:pt x="33527" y="0"/>
                </a:lnTo>
                <a:close/>
              </a:path>
            </a:pathLst>
          </a:custGeom>
          <a:solidFill>
            <a:srgbClr val="000000"/>
          </a:solidFill>
        </p:spPr>
        <p:txBody>
          <a:bodyPr wrap="square" lIns="0" tIns="0" rIns="0" bIns="0" rtlCol="0"/>
          <a:lstStyle/>
          <a:p/>
        </p:txBody>
      </p:sp>
      <p:sp>
        <p:nvSpPr>
          <p:cNvPr id="8" name="object 8"/>
          <p:cNvSpPr txBox="1"/>
          <p:nvPr/>
        </p:nvSpPr>
        <p:spPr>
          <a:xfrm>
            <a:off x="718819" y="432307"/>
            <a:ext cx="6311900" cy="913130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0"/>
              </a:spcBef>
            </a:pPr>
            <a:endParaRPr sz="1250">
              <a:latin typeface="Times New Roman"/>
              <a:cs typeface="Times New Roman"/>
            </a:endParaRPr>
          </a:p>
          <a:p>
            <a:pPr algn="just" marL="12700">
              <a:lnSpc>
                <a:spcPct val="100000"/>
              </a:lnSpc>
              <a:spcBef>
                <a:spcPts val="5"/>
              </a:spcBef>
            </a:pPr>
            <a:r>
              <a:rPr dirty="0" u="heavy" sz="1200" spc="-5" b="1" i="1">
                <a:uFill>
                  <a:solidFill>
                    <a:srgbClr val="000000"/>
                  </a:solidFill>
                </a:uFill>
                <a:latin typeface="Arial"/>
                <a:cs typeface="Arial"/>
              </a:rPr>
              <a:t>The teachings </a:t>
            </a:r>
            <a:r>
              <a:rPr dirty="0" u="heavy" sz="1200" b="1" i="1">
                <a:uFill>
                  <a:solidFill>
                    <a:srgbClr val="000000"/>
                  </a:solidFill>
                </a:uFill>
                <a:latin typeface="Arial"/>
                <a:cs typeface="Arial"/>
              </a:rPr>
              <a:t>of Ibn</a:t>
            </a:r>
            <a:r>
              <a:rPr dirty="0" u="heavy" sz="1200" spc="-5" b="1" i="1">
                <a:uFill>
                  <a:solidFill>
                    <a:srgbClr val="000000"/>
                  </a:solidFill>
                </a:uFill>
                <a:latin typeface="Arial"/>
                <a:cs typeface="Arial"/>
              </a:rPr>
              <a:t> al-'Arabi.</a:t>
            </a:r>
            <a:endParaRPr sz="1200">
              <a:latin typeface="Arial"/>
              <a:cs typeface="Arial"/>
            </a:endParaRPr>
          </a:p>
          <a:p>
            <a:pPr algn="just" marL="12700" marR="5715">
              <a:lnSpc>
                <a:spcPct val="95800"/>
              </a:lnSpc>
              <a:spcBef>
                <a:spcPts val="994"/>
              </a:spcBef>
            </a:pPr>
            <a:r>
              <a:rPr dirty="0" sz="1200" spc="-5">
                <a:latin typeface="Arial"/>
                <a:cs typeface="Arial"/>
              </a:rPr>
              <a:t>The account of </a:t>
            </a:r>
            <a:r>
              <a:rPr dirty="0" sz="1200">
                <a:latin typeface="Arial"/>
                <a:cs typeface="Arial"/>
              </a:rPr>
              <a:t>the </a:t>
            </a:r>
            <a:r>
              <a:rPr dirty="0" sz="1200" spc="-5">
                <a:latin typeface="Arial"/>
                <a:cs typeface="Arial"/>
              </a:rPr>
              <a:t>doctrines of Ibn </a:t>
            </a:r>
            <a:r>
              <a:rPr dirty="0" sz="1200">
                <a:latin typeface="Arial"/>
                <a:cs typeface="Arial"/>
              </a:rPr>
              <a:t>al-'Arabi </a:t>
            </a:r>
            <a:r>
              <a:rPr dirty="0" sz="1200" spc="-5">
                <a:latin typeface="Arial"/>
                <a:cs typeface="Arial"/>
              </a:rPr>
              <a:t>(12th-13th centuries) belongs properly </a:t>
            </a:r>
            <a:r>
              <a:rPr dirty="0" sz="1200">
                <a:latin typeface="Arial"/>
                <a:cs typeface="Arial"/>
              </a:rPr>
              <a:t>to the  </a:t>
            </a:r>
            <a:r>
              <a:rPr dirty="0" sz="1200" spc="-5">
                <a:latin typeface="Arial"/>
                <a:cs typeface="Arial"/>
              </a:rPr>
              <a:t>history </a:t>
            </a:r>
            <a:r>
              <a:rPr dirty="0" sz="1200">
                <a:latin typeface="Arial"/>
                <a:cs typeface="Arial"/>
              </a:rPr>
              <a:t>of </a:t>
            </a:r>
            <a:r>
              <a:rPr dirty="0" sz="1200" spc="-5">
                <a:latin typeface="Arial"/>
                <a:cs typeface="Arial"/>
              </a:rPr>
              <a:t>Isl</a:t>
            </a:r>
            <a:r>
              <a:rPr dirty="0" u="sng" sz="1200" spc="-5">
                <a:uFill>
                  <a:solidFill>
                    <a:srgbClr val="000000"/>
                  </a:solidFill>
                </a:uFill>
                <a:latin typeface="Arial"/>
                <a:cs typeface="Arial"/>
              </a:rPr>
              <a:t>a</a:t>
            </a:r>
            <a:r>
              <a:rPr dirty="0" sz="1200" spc="-5">
                <a:latin typeface="Arial"/>
                <a:cs typeface="Arial"/>
              </a:rPr>
              <a:t>mic mysticism. Yet his impact on the subsequent development of the new  wisdom </a:t>
            </a:r>
            <a:r>
              <a:rPr dirty="0" sz="1200" spc="-10">
                <a:latin typeface="Arial"/>
                <a:cs typeface="Arial"/>
              </a:rPr>
              <a:t>was </a:t>
            </a:r>
            <a:r>
              <a:rPr dirty="0" sz="1200" spc="-5">
                <a:latin typeface="Arial"/>
                <a:cs typeface="Arial"/>
              </a:rPr>
              <a:t>in </a:t>
            </a:r>
            <a:r>
              <a:rPr dirty="0" sz="1200">
                <a:latin typeface="Arial"/>
                <a:cs typeface="Arial"/>
              </a:rPr>
              <a:t>many </a:t>
            </a:r>
            <a:r>
              <a:rPr dirty="0" sz="1200" spc="-5">
                <a:latin typeface="Arial"/>
                <a:cs typeface="Arial"/>
              </a:rPr>
              <a:t>ways </a:t>
            </a:r>
            <a:r>
              <a:rPr dirty="0" sz="1200">
                <a:latin typeface="Arial"/>
                <a:cs typeface="Arial"/>
              </a:rPr>
              <a:t>far </a:t>
            </a:r>
            <a:r>
              <a:rPr dirty="0" sz="1200" spc="-5">
                <a:latin typeface="Arial"/>
                <a:cs typeface="Arial"/>
              </a:rPr>
              <a:t>greater </a:t>
            </a:r>
            <a:r>
              <a:rPr dirty="0" sz="1200">
                <a:latin typeface="Arial"/>
                <a:cs typeface="Arial"/>
              </a:rPr>
              <a:t>than </a:t>
            </a:r>
            <a:r>
              <a:rPr dirty="0" sz="1200" spc="-10">
                <a:latin typeface="Arial"/>
                <a:cs typeface="Arial"/>
              </a:rPr>
              <a:t>was </a:t>
            </a:r>
            <a:r>
              <a:rPr dirty="0" sz="1200">
                <a:latin typeface="Arial"/>
                <a:cs typeface="Arial"/>
              </a:rPr>
              <a:t>that of as-Suhrawardi. This </a:t>
            </a:r>
            <a:r>
              <a:rPr dirty="0" sz="1200" spc="-5">
                <a:latin typeface="Arial"/>
                <a:cs typeface="Arial"/>
              </a:rPr>
              <a:t>is </a:t>
            </a:r>
            <a:r>
              <a:rPr dirty="0" sz="1200">
                <a:latin typeface="Arial"/>
                <a:cs typeface="Arial"/>
              </a:rPr>
              <a:t>true </a:t>
            </a:r>
            <a:r>
              <a:rPr dirty="0" sz="1200" spc="-5">
                <a:latin typeface="Arial"/>
                <a:cs typeface="Arial"/>
              </a:rPr>
              <a:t>especially  of his central doctrine of the "unity of being" and his sharp </a:t>
            </a:r>
            <a:r>
              <a:rPr dirty="0" sz="1200">
                <a:latin typeface="Arial"/>
                <a:cs typeface="Arial"/>
              </a:rPr>
              <a:t>distinction </a:t>
            </a:r>
            <a:r>
              <a:rPr dirty="0" sz="1200" spc="-5">
                <a:latin typeface="Arial"/>
                <a:cs typeface="Arial"/>
              </a:rPr>
              <a:t>between the absolute  </a:t>
            </a:r>
            <a:r>
              <a:rPr dirty="0" sz="1200">
                <a:latin typeface="Arial"/>
                <a:cs typeface="Arial"/>
              </a:rPr>
              <a:t>One, </a:t>
            </a:r>
            <a:r>
              <a:rPr dirty="0" sz="1200" spc="-5">
                <a:latin typeface="Arial"/>
                <a:cs typeface="Arial"/>
              </a:rPr>
              <a:t>which is undefinable </a:t>
            </a:r>
            <a:r>
              <a:rPr dirty="0" sz="1200">
                <a:latin typeface="Arial"/>
                <a:cs typeface="Arial"/>
              </a:rPr>
              <a:t>Truth (</a:t>
            </a:r>
            <a:r>
              <a:rPr dirty="0" sz="1200" i="1">
                <a:latin typeface="Arial"/>
                <a:cs typeface="Arial"/>
              </a:rPr>
              <a:t>haqq</a:t>
            </a:r>
            <a:r>
              <a:rPr dirty="0" sz="1200">
                <a:latin typeface="Arial"/>
                <a:cs typeface="Arial"/>
              </a:rPr>
              <a:t>), </a:t>
            </a:r>
            <a:r>
              <a:rPr dirty="0" sz="1200" spc="-5">
                <a:latin typeface="Arial"/>
                <a:cs typeface="Arial"/>
              </a:rPr>
              <a:t>and his self-manifestation (</a:t>
            </a:r>
            <a:r>
              <a:rPr dirty="0" sz="1200" spc="-5" i="1">
                <a:latin typeface="Arial"/>
                <a:cs typeface="Arial"/>
              </a:rPr>
              <a:t>zuhur</a:t>
            </a:r>
            <a:r>
              <a:rPr dirty="0" sz="1200" spc="-5">
                <a:latin typeface="Arial"/>
                <a:cs typeface="Arial"/>
              </a:rPr>
              <a:t>), or creation  (</a:t>
            </a:r>
            <a:r>
              <a:rPr dirty="0" sz="1200" spc="-5" i="1">
                <a:latin typeface="Arial"/>
                <a:cs typeface="Arial"/>
              </a:rPr>
              <a:t>khalq</a:t>
            </a:r>
            <a:r>
              <a:rPr dirty="0" sz="1200" spc="-5">
                <a:latin typeface="Arial"/>
                <a:cs typeface="Arial"/>
              </a:rPr>
              <a:t>), which is ever new </a:t>
            </a:r>
            <a:r>
              <a:rPr dirty="0" sz="1200">
                <a:latin typeface="Arial"/>
                <a:cs typeface="Arial"/>
              </a:rPr>
              <a:t>(</a:t>
            </a:r>
            <a:r>
              <a:rPr dirty="0" sz="1200" i="1">
                <a:latin typeface="Arial"/>
                <a:cs typeface="Arial"/>
              </a:rPr>
              <a:t>jadid</a:t>
            </a:r>
            <a:r>
              <a:rPr dirty="0" sz="1200">
                <a:latin typeface="Arial"/>
                <a:cs typeface="Arial"/>
              </a:rPr>
              <a:t>) </a:t>
            </a:r>
            <a:r>
              <a:rPr dirty="0" sz="1200" spc="-5">
                <a:latin typeface="Arial"/>
                <a:cs typeface="Arial"/>
              </a:rPr>
              <a:t>and in perpetual movement, a movement that unites </a:t>
            </a:r>
            <a:r>
              <a:rPr dirty="0" sz="1200">
                <a:latin typeface="Arial"/>
                <a:cs typeface="Arial"/>
              </a:rPr>
              <a:t>the  </a:t>
            </a:r>
            <a:r>
              <a:rPr dirty="0" sz="1200" spc="-5">
                <a:latin typeface="Arial"/>
                <a:cs typeface="Arial"/>
              </a:rPr>
              <a:t>whole </a:t>
            </a:r>
            <a:r>
              <a:rPr dirty="0" sz="1200">
                <a:latin typeface="Arial"/>
                <a:cs typeface="Arial"/>
              </a:rPr>
              <a:t>of </a:t>
            </a:r>
            <a:r>
              <a:rPr dirty="0" sz="1200" spc="-5">
                <a:latin typeface="Arial"/>
                <a:cs typeface="Arial"/>
              </a:rPr>
              <a:t>creation in a process of constant renewal. </a:t>
            </a:r>
            <a:r>
              <a:rPr dirty="0" sz="1200">
                <a:latin typeface="Arial"/>
                <a:cs typeface="Arial"/>
              </a:rPr>
              <a:t>At the </a:t>
            </a:r>
            <a:r>
              <a:rPr dirty="0" sz="1200" spc="-5">
                <a:latin typeface="Arial"/>
                <a:cs typeface="Arial"/>
              </a:rPr>
              <a:t>very </a:t>
            </a:r>
            <a:r>
              <a:rPr dirty="0" sz="1200">
                <a:latin typeface="Arial"/>
                <a:cs typeface="Arial"/>
              </a:rPr>
              <a:t>core </a:t>
            </a:r>
            <a:r>
              <a:rPr dirty="0" sz="1200" spc="-5">
                <a:latin typeface="Arial"/>
                <a:cs typeface="Arial"/>
              </a:rPr>
              <a:t>of </a:t>
            </a:r>
            <a:r>
              <a:rPr dirty="0" sz="1200">
                <a:latin typeface="Arial"/>
                <a:cs typeface="Arial"/>
              </a:rPr>
              <a:t>this </a:t>
            </a:r>
            <a:r>
              <a:rPr dirty="0" sz="1200" spc="-5">
                <a:latin typeface="Arial"/>
                <a:cs typeface="Arial"/>
              </a:rPr>
              <a:t>dynamic edifice  </a:t>
            </a:r>
            <a:r>
              <a:rPr dirty="0" sz="1200">
                <a:latin typeface="Arial"/>
                <a:cs typeface="Arial"/>
              </a:rPr>
              <a:t>stands </a:t>
            </a:r>
            <a:r>
              <a:rPr dirty="0" sz="1200" spc="-5">
                <a:latin typeface="Arial"/>
                <a:cs typeface="Arial"/>
              </a:rPr>
              <a:t>nature, the "dark </a:t>
            </a:r>
            <a:r>
              <a:rPr dirty="0" sz="1200">
                <a:latin typeface="Arial"/>
                <a:cs typeface="Arial"/>
              </a:rPr>
              <a:t>cloud" ('</a:t>
            </a:r>
            <a:r>
              <a:rPr dirty="0" sz="1200" i="1">
                <a:latin typeface="Arial"/>
                <a:cs typeface="Arial"/>
              </a:rPr>
              <a:t>ama</a:t>
            </a:r>
            <a:r>
              <a:rPr dirty="0" sz="1200">
                <a:latin typeface="Arial"/>
                <a:cs typeface="Arial"/>
              </a:rPr>
              <a:t>`) </a:t>
            </a:r>
            <a:r>
              <a:rPr dirty="0" sz="1200" spc="-5">
                <a:latin typeface="Arial"/>
                <a:cs typeface="Arial"/>
              </a:rPr>
              <a:t>or "mist" (</a:t>
            </a:r>
            <a:r>
              <a:rPr dirty="0" sz="1200" spc="-5" i="1">
                <a:latin typeface="Arial"/>
                <a:cs typeface="Arial"/>
              </a:rPr>
              <a:t>bukhar</a:t>
            </a:r>
            <a:r>
              <a:rPr dirty="0" sz="1200" spc="-5">
                <a:latin typeface="Arial"/>
                <a:cs typeface="Arial"/>
              </a:rPr>
              <a:t>), as the ultimate principle of </a:t>
            </a:r>
            <a:r>
              <a:rPr dirty="0" sz="1200" spc="-10">
                <a:latin typeface="Arial"/>
                <a:cs typeface="Arial"/>
              </a:rPr>
              <a:t>things  </a:t>
            </a:r>
            <a:r>
              <a:rPr dirty="0" sz="1200" spc="-5">
                <a:latin typeface="Arial"/>
                <a:cs typeface="Arial"/>
              </a:rPr>
              <a:t>and </a:t>
            </a:r>
            <a:r>
              <a:rPr dirty="0" sz="1200">
                <a:latin typeface="Arial"/>
                <a:cs typeface="Arial"/>
              </a:rPr>
              <a:t>forms: </a:t>
            </a:r>
            <a:r>
              <a:rPr dirty="0" sz="1200" spc="-5">
                <a:latin typeface="Arial"/>
                <a:cs typeface="Arial"/>
              </a:rPr>
              <a:t>intelligence, heavenly bodies, and elements and their mixtures </a:t>
            </a:r>
            <a:r>
              <a:rPr dirty="0" sz="1200">
                <a:latin typeface="Arial"/>
                <a:cs typeface="Arial"/>
              </a:rPr>
              <a:t>that </a:t>
            </a:r>
            <a:r>
              <a:rPr dirty="0" sz="1200" spc="-5">
                <a:latin typeface="Arial"/>
                <a:cs typeface="Arial"/>
              </a:rPr>
              <a:t>culminate </a:t>
            </a:r>
            <a:r>
              <a:rPr dirty="0" sz="1200" spc="-10">
                <a:latin typeface="Arial"/>
                <a:cs typeface="Arial"/>
              </a:rPr>
              <a:t>in  </a:t>
            </a:r>
            <a:r>
              <a:rPr dirty="0" sz="1200">
                <a:latin typeface="Arial"/>
                <a:cs typeface="Arial"/>
              </a:rPr>
              <a:t>the </a:t>
            </a:r>
            <a:r>
              <a:rPr dirty="0" sz="1200" spc="-5">
                <a:latin typeface="Arial"/>
                <a:cs typeface="Arial"/>
              </a:rPr>
              <a:t>"perfect man." This </a:t>
            </a:r>
            <a:r>
              <a:rPr dirty="0" sz="1200">
                <a:latin typeface="Arial"/>
                <a:cs typeface="Arial"/>
              </a:rPr>
              <a:t>primordial </a:t>
            </a:r>
            <a:r>
              <a:rPr dirty="0" sz="1200" spc="-5">
                <a:latin typeface="Arial"/>
                <a:cs typeface="Arial"/>
              </a:rPr>
              <a:t>nature is the "breath" of </a:t>
            </a:r>
            <a:r>
              <a:rPr dirty="0" sz="1200">
                <a:latin typeface="Arial"/>
                <a:cs typeface="Arial"/>
              </a:rPr>
              <a:t>the </a:t>
            </a:r>
            <a:r>
              <a:rPr dirty="0" sz="1200" spc="-5">
                <a:latin typeface="Arial"/>
                <a:cs typeface="Arial"/>
              </a:rPr>
              <a:t>Merciful </a:t>
            </a:r>
            <a:r>
              <a:rPr dirty="0" sz="1200">
                <a:latin typeface="Arial"/>
                <a:cs typeface="Arial"/>
              </a:rPr>
              <a:t>God </a:t>
            </a:r>
            <a:r>
              <a:rPr dirty="0" sz="1200" spc="-5">
                <a:latin typeface="Arial"/>
                <a:cs typeface="Arial"/>
              </a:rPr>
              <a:t>in his aspect as  Lord. </a:t>
            </a:r>
            <a:r>
              <a:rPr dirty="0" sz="1200">
                <a:latin typeface="Arial"/>
                <a:cs typeface="Arial"/>
              </a:rPr>
              <a:t>It </a:t>
            </a:r>
            <a:r>
              <a:rPr dirty="0" sz="1200" spc="-5">
                <a:latin typeface="Arial"/>
                <a:cs typeface="Arial"/>
              </a:rPr>
              <a:t>"flows" throughout the universe and manifests </a:t>
            </a:r>
            <a:r>
              <a:rPr dirty="0" sz="1200">
                <a:latin typeface="Arial"/>
                <a:cs typeface="Arial"/>
              </a:rPr>
              <a:t>Truth </a:t>
            </a:r>
            <a:r>
              <a:rPr dirty="0" sz="1200" spc="-5">
                <a:latin typeface="Arial"/>
                <a:cs typeface="Arial"/>
              </a:rPr>
              <a:t>in all </a:t>
            </a:r>
            <a:r>
              <a:rPr dirty="0" sz="1200">
                <a:latin typeface="Arial"/>
                <a:cs typeface="Arial"/>
              </a:rPr>
              <a:t>its parts. It </a:t>
            </a:r>
            <a:r>
              <a:rPr dirty="0" sz="1200" spc="-5">
                <a:latin typeface="Arial"/>
                <a:cs typeface="Arial"/>
              </a:rPr>
              <a:t>is the first  mother through which Truth manifests itself to itself and generates </a:t>
            </a:r>
            <a:r>
              <a:rPr dirty="0" sz="1200">
                <a:latin typeface="Arial"/>
                <a:cs typeface="Arial"/>
              </a:rPr>
              <a:t>the </a:t>
            </a:r>
            <a:r>
              <a:rPr dirty="0" sz="1200" spc="-5">
                <a:latin typeface="Arial"/>
                <a:cs typeface="Arial"/>
              </a:rPr>
              <a:t>universe. And </a:t>
            </a:r>
            <a:r>
              <a:rPr dirty="0" sz="1200">
                <a:latin typeface="Arial"/>
                <a:cs typeface="Arial"/>
              </a:rPr>
              <a:t>it </a:t>
            </a:r>
            <a:r>
              <a:rPr dirty="0" sz="1200" spc="-5">
                <a:latin typeface="Arial"/>
                <a:cs typeface="Arial"/>
              </a:rPr>
              <a:t>is </a:t>
            </a:r>
            <a:r>
              <a:rPr dirty="0" sz="1200">
                <a:latin typeface="Arial"/>
                <a:cs typeface="Arial"/>
              </a:rPr>
              <a:t>the  </a:t>
            </a:r>
            <a:r>
              <a:rPr dirty="0" sz="1200" spc="-5">
                <a:latin typeface="Arial"/>
                <a:cs typeface="Arial"/>
              </a:rPr>
              <a:t>universal </a:t>
            </a:r>
            <a:r>
              <a:rPr dirty="0" sz="1200">
                <a:latin typeface="Arial"/>
                <a:cs typeface="Arial"/>
              </a:rPr>
              <a:t>natural </a:t>
            </a:r>
            <a:r>
              <a:rPr dirty="0" sz="1200" spc="-10">
                <a:latin typeface="Arial"/>
                <a:cs typeface="Arial"/>
              </a:rPr>
              <a:t>body </a:t>
            </a:r>
            <a:r>
              <a:rPr dirty="0" sz="1200">
                <a:latin typeface="Arial"/>
                <a:cs typeface="Arial"/>
              </a:rPr>
              <a:t>that </a:t>
            </a:r>
            <a:r>
              <a:rPr dirty="0" sz="1200" spc="-5">
                <a:latin typeface="Arial"/>
                <a:cs typeface="Arial"/>
              </a:rPr>
              <a:t>gives birth </a:t>
            </a:r>
            <a:r>
              <a:rPr dirty="0" sz="1200">
                <a:latin typeface="Arial"/>
                <a:cs typeface="Arial"/>
              </a:rPr>
              <a:t>to the </a:t>
            </a:r>
            <a:r>
              <a:rPr dirty="0" sz="1200" spc="-5">
                <a:latin typeface="Arial"/>
                <a:cs typeface="Arial"/>
              </a:rPr>
              <a:t>translucent bodies of </a:t>
            </a:r>
            <a:r>
              <a:rPr dirty="0" sz="1200">
                <a:latin typeface="Arial"/>
                <a:cs typeface="Arial"/>
              </a:rPr>
              <a:t>the </a:t>
            </a:r>
            <a:r>
              <a:rPr dirty="0" sz="1200" spc="-5">
                <a:latin typeface="Arial"/>
                <a:cs typeface="Arial"/>
              </a:rPr>
              <a:t>spheres, </a:t>
            </a:r>
            <a:r>
              <a:rPr dirty="0" sz="1200">
                <a:latin typeface="Arial"/>
                <a:cs typeface="Arial"/>
              </a:rPr>
              <a:t>to </a:t>
            </a:r>
            <a:r>
              <a:rPr dirty="0" sz="1200" spc="-5">
                <a:latin typeface="Arial"/>
                <a:cs typeface="Arial"/>
              </a:rPr>
              <a:t>the  elements, and </a:t>
            </a:r>
            <a:r>
              <a:rPr dirty="0" sz="1200">
                <a:latin typeface="Arial"/>
                <a:cs typeface="Arial"/>
              </a:rPr>
              <a:t>to </a:t>
            </a:r>
            <a:r>
              <a:rPr dirty="0" sz="1200" spc="-5">
                <a:latin typeface="Arial"/>
                <a:cs typeface="Arial"/>
              </a:rPr>
              <a:t>their mixtures, all </a:t>
            </a:r>
            <a:r>
              <a:rPr dirty="0" sz="1200">
                <a:latin typeface="Arial"/>
                <a:cs typeface="Arial"/>
              </a:rPr>
              <a:t>of </a:t>
            </a:r>
            <a:r>
              <a:rPr dirty="0" sz="1200" spc="-5">
                <a:latin typeface="Arial"/>
                <a:cs typeface="Arial"/>
              </a:rPr>
              <a:t>which are related </a:t>
            </a:r>
            <a:r>
              <a:rPr dirty="0" sz="1200">
                <a:latin typeface="Arial"/>
                <a:cs typeface="Arial"/>
              </a:rPr>
              <a:t>to </a:t>
            </a:r>
            <a:r>
              <a:rPr dirty="0" sz="1200" spc="-5">
                <a:latin typeface="Arial"/>
                <a:cs typeface="Arial"/>
              </a:rPr>
              <a:t>that primary source as daughters  </a:t>
            </a:r>
            <a:r>
              <a:rPr dirty="0" sz="1200">
                <a:latin typeface="Arial"/>
                <a:cs typeface="Arial"/>
              </a:rPr>
              <a:t>to </a:t>
            </a:r>
            <a:r>
              <a:rPr dirty="0" sz="1200" spc="-5">
                <a:latin typeface="Arial"/>
                <a:cs typeface="Arial"/>
              </a:rPr>
              <a:t>their</a:t>
            </a:r>
            <a:r>
              <a:rPr dirty="0" sz="1200" spc="-10">
                <a:latin typeface="Arial"/>
                <a:cs typeface="Arial"/>
              </a:rPr>
              <a:t> </a:t>
            </a:r>
            <a:r>
              <a:rPr dirty="0" sz="1200" spc="-5">
                <a:latin typeface="Arial"/>
                <a:cs typeface="Arial"/>
              </a:rPr>
              <a:t>mother.</a:t>
            </a:r>
            <a:endParaRPr sz="1200">
              <a:latin typeface="Arial"/>
              <a:cs typeface="Arial"/>
            </a:endParaRPr>
          </a:p>
          <a:p>
            <a:pPr algn="just" marL="12700" marR="5715">
              <a:lnSpc>
                <a:spcPct val="95800"/>
              </a:lnSpc>
              <a:spcBef>
                <a:spcPts val="1010"/>
              </a:spcBef>
            </a:pPr>
            <a:r>
              <a:rPr dirty="0" sz="1200">
                <a:latin typeface="Arial"/>
                <a:cs typeface="Arial"/>
              </a:rPr>
              <a:t>Ibn </a:t>
            </a:r>
            <a:r>
              <a:rPr dirty="0" sz="1200" spc="-5">
                <a:latin typeface="Arial"/>
                <a:cs typeface="Arial"/>
              </a:rPr>
              <a:t>al-'Arabi attempted </a:t>
            </a:r>
            <a:r>
              <a:rPr dirty="0" sz="1200">
                <a:latin typeface="Arial"/>
                <a:cs typeface="Arial"/>
              </a:rPr>
              <a:t>to </a:t>
            </a:r>
            <a:r>
              <a:rPr dirty="0" sz="1200" spc="-5">
                <a:latin typeface="Arial"/>
                <a:cs typeface="Arial"/>
              </a:rPr>
              <a:t>explain how Intelligence proceeds </a:t>
            </a:r>
            <a:r>
              <a:rPr dirty="0" sz="1200">
                <a:latin typeface="Arial"/>
                <a:cs typeface="Arial"/>
              </a:rPr>
              <a:t>from </a:t>
            </a:r>
            <a:r>
              <a:rPr dirty="0" sz="1200" spc="-5">
                <a:latin typeface="Arial"/>
                <a:cs typeface="Arial"/>
              </a:rPr>
              <a:t>the absolute One by  </a:t>
            </a:r>
            <a:r>
              <a:rPr dirty="0" sz="1200">
                <a:latin typeface="Arial"/>
                <a:cs typeface="Arial"/>
              </a:rPr>
              <a:t>inserting </a:t>
            </a:r>
            <a:r>
              <a:rPr dirty="0" sz="1200" spc="-5">
                <a:latin typeface="Arial"/>
                <a:cs typeface="Arial"/>
              </a:rPr>
              <a:t>between them a primordial feminine principle, which is all things in potentiality but  which also possesses </a:t>
            </a:r>
            <a:r>
              <a:rPr dirty="0" sz="1200">
                <a:latin typeface="Arial"/>
                <a:cs typeface="Arial"/>
              </a:rPr>
              <a:t>the </a:t>
            </a:r>
            <a:r>
              <a:rPr dirty="0" sz="1200" spc="-5">
                <a:latin typeface="Arial"/>
                <a:cs typeface="Arial"/>
              </a:rPr>
              <a:t>capacity, readiness, and desire </a:t>
            </a:r>
            <a:r>
              <a:rPr dirty="0" sz="1200">
                <a:latin typeface="Arial"/>
                <a:cs typeface="Arial"/>
              </a:rPr>
              <a:t>to </a:t>
            </a:r>
            <a:r>
              <a:rPr dirty="0" sz="1200" spc="-5">
                <a:latin typeface="Arial"/>
                <a:cs typeface="Arial"/>
              </a:rPr>
              <a:t>manifest or generate them first  as archetypes in Intelligence and then as actually existing things in </a:t>
            </a:r>
            <a:r>
              <a:rPr dirty="0" sz="1200">
                <a:latin typeface="Arial"/>
                <a:cs typeface="Arial"/>
              </a:rPr>
              <a:t>the </a:t>
            </a:r>
            <a:r>
              <a:rPr dirty="0" sz="1200" spc="-5">
                <a:latin typeface="Arial"/>
                <a:cs typeface="Arial"/>
              </a:rPr>
              <a:t>universe below. Ibn  al-'Arabi </a:t>
            </a:r>
            <a:r>
              <a:rPr dirty="0" sz="1200" spc="-10">
                <a:latin typeface="Arial"/>
                <a:cs typeface="Arial"/>
              </a:rPr>
              <a:t>gave </a:t>
            </a:r>
            <a:r>
              <a:rPr dirty="0" sz="1200">
                <a:latin typeface="Arial"/>
                <a:cs typeface="Arial"/>
              </a:rPr>
              <a:t>this principle </a:t>
            </a:r>
            <a:r>
              <a:rPr dirty="0" sz="1200" spc="-5">
                <a:latin typeface="Arial"/>
                <a:cs typeface="Arial"/>
              </a:rPr>
              <a:t>numerous names, including prime "matter" </a:t>
            </a:r>
            <a:r>
              <a:rPr dirty="0" sz="1200">
                <a:latin typeface="Arial"/>
                <a:cs typeface="Arial"/>
              </a:rPr>
              <a:t>('</a:t>
            </a:r>
            <a:r>
              <a:rPr dirty="0" sz="1200" i="1">
                <a:latin typeface="Arial"/>
                <a:cs typeface="Arial"/>
              </a:rPr>
              <a:t>unsur</a:t>
            </a:r>
            <a:r>
              <a:rPr dirty="0" sz="1200">
                <a:latin typeface="Arial"/>
                <a:cs typeface="Arial"/>
              </a:rPr>
              <a:t>), </a:t>
            </a:r>
            <a:r>
              <a:rPr dirty="0" sz="1200" spc="-5">
                <a:latin typeface="Arial"/>
                <a:cs typeface="Arial"/>
              </a:rPr>
              <a:t>and  characterized </a:t>
            </a:r>
            <a:r>
              <a:rPr dirty="0" sz="1200">
                <a:latin typeface="Arial"/>
                <a:cs typeface="Arial"/>
              </a:rPr>
              <a:t>it </a:t>
            </a:r>
            <a:r>
              <a:rPr dirty="0" sz="1200" spc="-5">
                <a:latin typeface="Arial"/>
                <a:cs typeface="Arial"/>
              </a:rPr>
              <a:t>as </a:t>
            </a:r>
            <a:r>
              <a:rPr dirty="0" sz="1200">
                <a:latin typeface="Arial"/>
                <a:cs typeface="Arial"/>
              </a:rPr>
              <a:t>the </a:t>
            </a:r>
            <a:r>
              <a:rPr dirty="0" sz="1200" spc="-5">
                <a:latin typeface="Arial"/>
                <a:cs typeface="Arial"/>
              </a:rPr>
              <a:t>principle "whose existence makes manifest </a:t>
            </a:r>
            <a:r>
              <a:rPr dirty="0" sz="1200">
                <a:latin typeface="Arial"/>
                <a:cs typeface="Arial"/>
              </a:rPr>
              <a:t>the </a:t>
            </a:r>
            <a:r>
              <a:rPr dirty="0" sz="1200" spc="-5">
                <a:latin typeface="Arial"/>
                <a:cs typeface="Arial"/>
              </a:rPr>
              <a:t>essences of the  potential worlds." </a:t>
            </a:r>
            <a:r>
              <a:rPr dirty="0" sz="1200">
                <a:latin typeface="Arial"/>
                <a:cs typeface="Arial"/>
              </a:rPr>
              <a:t>The doctrine </a:t>
            </a:r>
            <a:r>
              <a:rPr dirty="0" sz="1200" spc="-5">
                <a:latin typeface="Arial"/>
                <a:cs typeface="Arial"/>
              </a:rPr>
              <a:t>that the </a:t>
            </a:r>
            <a:r>
              <a:rPr dirty="0" sz="1200">
                <a:latin typeface="Arial"/>
                <a:cs typeface="Arial"/>
              </a:rPr>
              <a:t>first </a:t>
            </a:r>
            <a:r>
              <a:rPr dirty="0" sz="1200" spc="-5">
                <a:latin typeface="Arial"/>
                <a:cs typeface="Arial"/>
              </a:rPr>
              <a:t>simple originated thing is not Intelligence but  "indefinite matter" and </a:t>
            </a:r>
            <a:r>
              <a:rPr dirty="0" sz="1200">
                <a:latin typeface="Arial"/>
                <a:cs typeface="Arial"/>
              </a:rPr>
              <a:t>that </a:t>
            </a:r>
            <a:r>
              <a:rPr dirty="0" sz="1200" spc="-5">
                <a:latin typeface="Arial"/>
                <a:cs typeface="Arial"/>
              </a:rPr>
              <a:t>Intelligence </a:t>
            </a:r>
            <a:r>
              <a:rPr dirty="0" sz="1200" spc="-10">
                <a:latin typeface="Arial"/>
                <a:cs typeface="Arial"/>
              </a:rPr>
              <a:t>was </a:t>
            </a:r>
            <a:r>
              <a:rPr dirty="0" sz="1200" spc="-5">
                <a:latin typeface="Arial"/>
                <a:cs typeface="Arial"/>
              </a:rPr>
              <a:t>originated through the mediation of </a:t>
            </a:r>
            <a:r>
              <a:rPr dirty="0" sz="1200">
                <a:latin typeface="Arial"/>
                <a:cs typeface="Arial"/>
              </a:rPr>
              <a:t>this matter  </a:t>
            </a:r>
            <a:r>
              <a:rPr dirty="0" sz="1200" spc="-10">
                <a:latin typeface="Arial"/>
                <a:cs typeface="Arial"/>
              </a:rPr>
              <a:t>was </a:t>
            </a:r>
            <a:r>
              <a:rPr dirty="0" sz="1200" spc="-5">
                <a:latin typeface="Arial"/>
                <a:cs typeface="Arial"/>
              </a:rPr>
              <a:t>attributed to Empedocles, a 5th-century-BC </a:t>
            </a:r>
            <a:r>
              <a:rPr dirty="0" sz="1200">
                <a:latin typeface="Arial"/>
                <a:cs typeface="Arial"/>
              </a:rPr>
              <a:t>Greek </a:t>
            </a:r>
            <a:r>
              <a:rPr dirty="0" sz="1200" spc="-5">
                <a:latin typeface="Arial"/>
                <a:cs typeface="Arial"/>
              </a:rPr>
              <a:t>philosopher, in doxographies  (compilations of extracts from the </a:t>
            </a:r>
            <a:r>
              <a:rPr dirty="0" sz="1200">
                <a:latin typeface="Arial"/>
                <a:cs typeface="Arial"/>
              </a:rPr>
              <a:t>Greek </a:t>
            </a:r>
            <a:r>
              <a:rPr dirty="0" sz="1200" spc="-5">
                <a:latin typeface="Arial"/>
                <a:cs typeface="Arial"/>
              </a:rPr>
              <a:t>philosophers) translated into Arabic. It represented  an attempt </a:t>
            </a:r>
            <a:r>
              <a:rPr dirty="0" sz="1200">
                <a:latin typeface="Arial"/>
                <a:cs typeface="Arial"/>
              </a:rPr>
              <a:t>to </a:t>
            </a:r>
            <a:r>
              <a:rPr dirty="0" sz="1200" spc="-5">
                <a:latin typeface="Arial"/>
                <a:cs typeface="Arial"/>
              </a:rPr>
              <a:t>bridge </a:t>
            </a:r>
            <a:r>
              <a:rPr dirty="0" sz="1200">
                <a:latin typeface="Arial"/>
                <a:cs typeface="Arial"/>
              </a:rPr>
              <a:t>the </a:t>
            </a:r>
            <a:r>
              <a:rPr dirty="0" sz="1200" spc="-5">
                <a:latin typeface="Arial"/>
                <a:cs typeface="Arial"/>
              </a:rPr>
              <a:t>gulf between the absolute One and </a:t>
            </a:r>
            <a:r>
              <a:rPr dirty="0" sz="1200" spc="-10">
                <a:latin typeface="Arial"/>
                <a:cs typeface="Arial"/>
              </a:rPr>
              <a:t>the </a:t>
            </a:r>
            <a:r>
              <a:rPr dirty="0" sz="1200" spc="-5">
                <a:latin typeface="Arial"/>
                <a:cs typeface="Arial"/>
              </a:rPr>
              <a:t>multiplicity </a:t>
            </a:r>
            <a:r>
              <a:rPr dirty="0" sz="1200">
                <a:latin typeface="Arial"/>
                <a:cs typeface="Arial"/>
              </a:rPr>
              <a:t>of </a:t>
            </a:r>
            <a:r>
              <a:rPr dirty="0" sz="1200" spc="-5">
                <a:latin typeface="Arial"/>
                <a:cs typeface="Arial"/>
              </a:rPr>
              <a:t>forms in  Intelligence. </a:t>
            </a:r>
            <a:r>
              <a:rPr dirty="0" sz="1200">
                <a:latin typeface="Arial"/>
                <a:cs typeface="Arial"/>
              </a:rPr>
              <a:t>The </a:t>
            </a:r>
            <a:r>
              <a:rPr dirty="0" sz="1200" spc="-5">
                <a:latin typeface="Arial"/>
                <a:cs typeface="Arial"/>
              </a:rPr>
              <a:t>Andalusian mystic </a:t>
            </a:r>
            <a:r>
              <a:rPr dirty="0" sz="1200">
                <a:latin typeface="Arial"/>
                <a:cs typeface="Arial"/>
              </a:rPr>
              <a:t>Ibn </a:t>
            </a:r>
            <a:r>
              <a:rPr dirty="0" sz="1200" spc="-5">
                <a:latin typeface="Arial"/>
                <a:cs typeface="Arial"/>
              </a:rPr>
              <a:t>Masarrah </a:t>
            </a:r>
            <a:r>
              <a:rPr dirty="0" sz="1200">
                <a:latin typeface="Arial"/>
                <a:cs typeface="Arial"/>
              </a:rPr>
              <a:t>(9th-10th </a:t>
            </a:r>
            <a:r>
              <a:rPr dirty="0" sz="1200" spc="-5">
                <a:latin typeface="Arial"/>
                <a:cs typeface="Arial"/>
              </a:rPr>
              <a:t>centuries) is reported to </a:t>
            </a:r>
            <a:r>
              <a:rPr dirty="0" sz="1200" spc="-10">
                <a:latin typeface="Arial"/>
                <a:cs typeface="Arial"/>
              </a:rPr>
              <a:t>have  </a:t>
            </a:r>
            <a:r>
              <a:rPr dirty="0" sz="1200" spc="-5">
                <a:latin typeface="Arial"/>
                <a:cs typeface="Arial"/>
              </a:rPr>
              <a:t>championed pseudo-Empedoclean doctrines, and Ibn </a:t>
            </a:r>
            <a:r>
              <a:rPr dirty="0" sz="1200">
                <a:latin typeface="Arial"/>
                <a:cs typeface="Arial"/>
              </a:rPr>
              <a:t>al-'Arabi </a:t>
            </a:r>
            <a:r>
              <a:rPr dirty="0" sz="1200" spc="-5">
                <a:latin typeface="Arial"/>
                <a:cs typeface="Arial"/>
              </a:rPr>
              <a:t>(who studied under </a:t>
            </a:r>
            <a:r>
              <a:rPr dirty="0" sz="1200" spc="-10">
                <a:latin typeface="Arial"/>
                <a:cs typeface="Arial"/>
              </a:rPr>
              <a:t>some </a:t>
            </a:r>
            <a:r>
              <a:rPr dirty="0" sz="1200" spc="-5">
                <a:latin typeface="Arial"/>
                <a:cs typeface="Arial"/>
              </a:rPr>
              <a:t>of  his followers) quotes Ibn Masarrah on a number of occasions. This philosophic tradition is  </a:t>
            </a:r>
            <a:r>
              <a:rPr dirty="0" sz="1200">
                <a:latin typeface="Arial"/>
                <a:cs typeface="Arial"/>
              </a:rPr>
              <a:t>distinct </a:t>
            </a:r>
            <a:r>
              <a:rPr dirty="0" sz="1200" spc="-5">
                <a:latin typeface="Arial"/>
                <a:cs typeface="Arial"/>
              </a:rPr>
              <a:t>from the one followed by </a:t>
            </a:r>
            <a:r>
              <a:rPr dirty="0" sz="1200">
                <a:latin typeface="Arial"/>
                <a:cs typeface="Arial"/>
              </a:rPr>
              <a:t>the Ism</a:t>
            </a:r>
            <a:r>
              <a:rPr dirty="0" u="sng" sz="1200">
                <a:uFill>
                  <a:solidFill>
                    <a:srgbClr val="000000"/>
                  </a:solidFill>
                </a:uFill>
                <a:latin typeface="Arial"/>
                <a:cs typeface="Arial"/>
              </a:rPr>
              <a:t>a'ili</a:t>
            </a:r>
            <a:r>
              <a:rPr dirty="0" sz="1200">
                <a:latin typeface="Arial"/>
                <a:cs typeface="Arial"/>
              </a:rPr>
              <a:t> </a:t>
            </a:r>
            <a:r>
              <a:rPr dirty="0" sz="1200" spc="-5">
                <a:latin typeface="Arial"/>
                <a:cs typeface="Arial"/>
              </a:rPr>
              <a:t>theologians, </a:t>
            </a:r>
            <a:r>
              <a:rPr dirty="0" sz="1200" spc="-10">
                <a:latin typeface="Arial"/>
                <a:cs typeface="Arial"/>
              </a:rPr>
              <a:t>who </a:t>
            </a:r>
            <a:r>
              <a:rPr dirty="0" sz="1200" spc="-5">
                <a:latin typeface="Arial"/>
                <a:cs typeface="Arial"/>
              </a:rPr>
              <a:t>explained the origination of  Intelligence by the mediation of </a:t>
            </a:r>
            <a:r>
              <a:rPr dirty="0" sz="1200">
                <a:latin typeface="Arial"/>
                <a:cs typeface="Arial"/>
              </a:rPr>
              <a:t>God's</a:t>
            </a:r>
            <a:r>
              <a:rPr dirty="0" sz="1200" spc="-15">
                <a:latin typeface="Arial"/>
                <a:cs typeface="Arial"/>
              </a:rPr>
              <a:t> </a:t>
            </a:r>
            <a:r>
              <a:rPr dirty="0" sz="1200" spc="-5">
                <a:latin typeface="Arial"/>
                <a:cs typeface="Arial"/>
              </a:rPr>
              <a:t>will.</a:t>
            </a:r>
            <a:endParaRPr sz="1200">
              <a:latin typeface="Arial"/>
              <a:cs typeface="Arial"/>
            </a:endParaRPr>
          </a:p>
          <a:p>
            <a:pPr>
              <a:lnSpc>
                <a:spcPct val="100000"/>
              </a:lnSpc>
              <a:spcBef>
                <a:spcPts val="20"/>
              </a:spcBef>
            </a:pPr>
            <a:endParaRPr sz="1650">
              <a:latin typeface="Arial"/>
              <a:cs typeface="Arial"/>
            </a:endParaRPr>
          </a:p>
          <a:p>
            <a:pPr algn="just" marL="12700" marR="6985">
              <a:lnSpc>
                <a:spcPts val="1380"/>
              </a:lnSpc>
              <a:spcBef>
                <a:spcPts val="5"/>
              </a:spcBef>
            </a:pPr>
            <a:r>
              <a:rPr dirty="0" u="heavy" sz="1200" b="1" i="1">
                <a:uFill>
                  <a:solidFill>
                    <a:srgbClr val="000000"/>
                  </a:solidFill>
                </a:uFill>
                <a:latin typeface="Arial"/>
                <a:cs typeface="Arial"/>
              </a:rPr>
              <a:t>Teachings of </a:t>
            </a:r>
            <a:r>
              <a:rPr dirty="0" u="heavy" sz="1200" spc="-5" b="1" i="1">
                <a:uFill>
                  <a:solidFill>
                    <a:srgbClr val="000000"/>
                  </a:solidFill>
                </a:uFill>
                <a:latin typeface="Arial"/>
                <a:cs typeface="Arial"/>
              </a:rPr>
              <a:t>Philosophers leading </a:t>
            </a:r>
            <a:r>
              <a:rPr dirty="0" u="heavy" sz="1200" b="1" i="1">
                <a:uFill>
                  <a:solidFill>
                    <a:srgbClr val="000000"/>
                  </a:solidFill>
                </a:uFill>
                <a:latin typeface="Arial"/>
                <a:cs typeface="Arial"/>
              </a:rPr>
              <a:t>to disagreement </a:t>
            </a:r>
            <a:r>
              <a:rPr dirty="0" u="heavy" sz="1200" spc="-5" b="1" i="1">
                <a:uFill>
                  <a:solidFill>
                    <a:srgbClr val="000000"/>
                  </a:solidFill>
                </a:uFill>
                <a:latin typeface="Arial"/>
                <a:cs typeface="Arial"/>
              </a:rPr>
              <a:t>with theological or orthodox </a:t>
            </a:r>
            <a:r>
              <a:rPr dirty="0" sz="1200" spc="-5" b="1" i="1">
                <a:latin typeface="Arial"/>
                <a:cs typeface="Arial"/>
              </a:rPr>
              <a:t> </a:t>
            </a:r>
            <a:r>
              <a:rPr dirty="0" u="heavy" sz="1200" spc="-5" b="1" i="1">
                <a:uFill>
                  <a:solidFill>
                    <a:srgbClr val="000000"/>
                  </a:solidFill>
                </a:uFill>
                <a:latin typeface="Arial"/>
                <a:cs typeface="Arial"/>
              </a:rPr>
              <a:t>thinkers (Hostility against the</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philosophers)</a:t>
            </a:r>
            <a:endParaRPr sz="1200">
              <a:latin typeface="Arial"/>
              <a:cs typeface="Arial"/>
            </a:endParaRPr>
          </a:p>
          <a:p>
            <a:pPr>
              <a:lnSpc>
                <a:spcPct val="100000"/>
              </a:lnSpc>
              <a:spcBef>
                <a:spcPts val="15"/>
              </a:spcBef>
            </a:pPr>
            <a:endParaRPr sz="1150">
              <a:latin typeface="Arial"/>
              <a:cs typeface="Arial"/>
            </a:endParaRPr>
          </a:p>
          <a:p>
            <a:pPr algn="just" marL="469900" marR="6985" indent="-228600">
              <a:lnSpc>
                <a:spcPct val="95900"/>
              </a:lnSpc>
              <a:spcBef>
                <a:spcPts val="5"/>
              </a:spcBef>
              <a:buAutoNum type="arabicPeriod"/>
              <a:tabLst>
                <a:tab pos="470534" algn="l"/>
              </a:tabLst>
            </a:pPr>
            <a:r>
              <a:rPr dirty="0" sz="1200" spc="-5">
                <a:latin typeface="Arial"/>
                <a:cs typeface="Arial"/>
              </a:rPr>
              <a:t>Supremacy of reason over </a:t>
            </a:r>
            <a:r>
              <a:rPr dirty="0" sz="1200">
                <a:latin typeface="Arial"/>
                <a:cs typeface="Arial"/>
              </a:rPr>
              <a:t>revelation: to the </a:t>
            </a:r>
            <a:r>
              <a:rPr dirty="0" sz="1200" spc="-5">
                <a:latin typeface="Arial"/>
                <a:cs typeface="Arial"/>
              </a:rPr>
              <a:t>philosophers </a:t>
            </a:r>
            <a:r>
              <a:rPr dirty="0" sz="1200">
                <a:latin typeface="Arial"/>
                <a:cs typeface="Arial"/>
              </a:rPr>
              <a:t>intellectual </a:t>
            </a:r>
            <a:r>
              <a:rPr dirty="0" sz="1200" spc="-5">
                <a:latin typeface="Arial"/>
                <a:cs typeface="Arial"/>
              </a:rPr>
              <a:t>progress can </a:t>
            </a:r>
            <a:r>
              <a:rPr dirty="0" sz="1200" spc="-10">
                <a:latin typeface="Arial"/>
                <a:cs typeface="Arial"/>
              </a:rPr>
              <a:t>be  </a:t>
            </a:r>
            <a:r>
              <a:rPr dirty="0" sz="1200" spc="-5">
                <a:latin typeface="Arial"/>
                <a:cs typeface="Arial"/>
              </a:rPr>
              <a:t>attained through reason. </a:t>
            </a:r>
            <a:r>
              <a:rPr dirty="0" sz="1200">
                <a:latin typeface="Arial"/>
                <a:cs typeface="Arial"/>
              </a:rPr>
              <a:t>In </a:t>
            </a:r>
            <a:r>
              <a:rPr dirty="0" sz="1200" spc="-10">
                <a:latin typeface="Arial"/>
                <a:cs typeface="Arial"/>
              </a:rPr>
              <a:t>some </a:t>
            </a:r>
            <a:r>
              <a:rPr dirty="0" sz="1200" spc="-5">
                <a:latin typeface="Arial"/>
                <a:cs typeface="Arial"/>
              </a:rPr>
              <a:t>cases </a:t>
            </a:r>
            <a:r>
              <a:rPr dirty="0" sz="1200">
                <a:latin typeface="Arial"/>
                <a:cs typeface="Arial"/>
              </a:rPr>
              <a:t>there </a:t>
            </a:r>
            <a:r>
              <a:rPr dirty="0" sz="1200" spc="-5">
                <a:latin typeface="Arial"/>
                <a:cs typeface="Arial"/>
              </a:rPr>
              <a:t>things like miracles cannot </a:t>
            </a:r>
            <a:r>
              <a:rPr dirty="0" sz="1200" spc="-10">
                <a:latin typeface="Arial"/>
                <a:cs typeface="Arial"/>
              </a:rPr>
              <a:t>be  </a:t>
            </a:r>
            <a:r>
              <a:rPr dirty="0" sz="1200" spc="-5">
                <a:latin typeface="Arial"/>
                <a:cs typeface="Arial"/>
              </a:rPr>
              <a:t>explained.</a:t>
            </a:r>
            <a:endParaRPr sz="1200">
              <a:latin typeface="Arial"/>
              <a:cs typeface="Arial"/>
            </a:endParaRPr>
          </a:p>
          <a:p>
            <a:pPr algn="just" marL="469900" marR="5715" indent="-228600">
              <a:lnSpc>
                <a:spcPts val="1380"/>
              </a:lnSpc>
              <a:spcBef>
                <a:spcPts val="35"/>
              </a:spcBef>
              <a:buAutoNum type="arabicPeriod"/>
              <a:tabLst>
                <a:tab pos="470534" algn="l"/>
              </a:tabLst>
            </a:pPr>
            <a:r>
              <a:rPr dirty="0" sz="1200" spc="-5">
                <a:latin typeface="Arial"/>
                <a:cs typeface="Arial"/>
              </a:rPr>
              <a:t>The use of </a:t>
            </a:r>
            <a:r>
              <a:rPr dirty="0" sz="1200">
                <a:latin typeface="Arial"/>
                <a:cs typeface="Arial"/>
              </a:rPr>
              <a:t>Greek, </a:t>
            </a:r>
            <a:r>
              <a:rPr dirty="0" sz="1200" spc="-5">
                <a:latin typeface="Arial"/>
                <a:cs typeface="Arial"/>
              </a:rPr>
              <a:t>Persian, Indian, </a:t>
            </a:r>
            <a:r>
              <a:rPr dirty="0" sz="1200">
                <a:latin typeface="Arial"/>
                <a:cs typeface="Arial"/>
              </a:rPr>
              <a:t>Roman, </a:t>
            </a:r>
            <a:r>
              <a:rPr dirty="0" sz="1200" spc="-5">
                <a:latin typeface="Arial"/>
                <a:cs typeface="Arial"/>
              </a:rPr>
              <a:t>Arabic and </a:t>
            </a:r>
            <a:r>
              <a:rPr dirty="0" sz="1200">
                <a:latin typeface="Arial"/>
                <a:cs typeface="Arial"/>
              </a:rPr>
              <a:t>Westernised </a:t>
            </a:r>
            <a:r>
              <a:rPr dirty="0" sz="1200" spc="-5">
                <a:latin typeface="Arial"/>
                <a:cs typeface="Arial"/>
              </a:rPr>
              <a:t>learning: some  philosophers </a:t>
            </a:r>
            <a:r>
              <a:rPr dirty="0" sz="1200">
                <a:latin typeface="Arial"/>
                <a:cs typeface="Arial"/>
              </a:rPr>
              <a:t>stick </a:t>
            </a:r>
            <a:r>
              <a:rPr dirty="0" sz="1200" spc="-5">
                <a:latin typeface="Arial"/>
                <a:cs typeface="Arial"/>
              </a:rPr>
              <a:t>themselves </a:t>
            </a:r>
            <a:r>
              <a:rPr dirty="0" sz="1200">
                <a:latin typeface="Arial"/>
                <a:cs typeface="Arial"/>
              </a:rPr>
              <a:t>to </a:t>
            </a:r>
            <a:r>
              <a:rPr dirty="0" sz="1200" spc="-10">
                <a:latin typeface="Arial"/>
                <a:cs typeface="Arial"/>
              </a:rPr>
              <a:t>these </a:t>
            </a:r>
            <a:r>
              <a:rPr dirty="0" sz="1200" spc="-5">
                <a:latin typeface="Arial"/>
                <a:cs typeface="Arial"/>
              </a:rPr>
              <a:t>texts </a:t>
            </a:r>
            <a:r>
              <a:rPr dirty="0" sz="1200">
                <a:latin typeface="Arial"/>
                <a:cs typeface="Arial"/>
              </a:rPr>
              <a:t>to </a:t>
            </a:r>
            <a:r>
              <a:rPr dirty="0" sz="1200" spc="-10">
                <a:latin typeface="Arial"/>
                <a:cs typeface="Arial"/>
              </a:rPr>
              <a:t>derive </a:t>
            </a:r>
            <a:r>
              <a:rPr dirty="0" sz="1200" spc="-5">
                <a:latin typeface="Arial"/>
                <a:cs typeface="Arial"/>
              </a:rPr>
              <a:t>their philosophical</a:t>
            </a:r>
            <a:r>
              <a:rPr dirty="0" sz="1200" spc="130">
                <a:latin typeface="Arial"/>
                <a:cs typeface="Arial"/>
              </a:rPr>
              <a:t> </a:t>
            </a:r>
            <a:r>
              <a:rPr dirty="0" sz="1200" spc="-5">
                <a:latin typeface="Arial"/>
                <a:cs typeface="Arial"/>
              </a:rPr>
              <a:t>thoughts.</a:t>
            </a:r>
            <a:endParaRPr sz="1200">
              <a:latin typeface="Arial"/>
              <a:cs typeface="Arial"/>
            </a:endParaRPr>
          </a:p>
          <a:p>
            <a:pPr algn="just" marL="469900" marR="10795" indent="-228600">
              <a:lnSpc>
                <a:spcPts val="1380"/>
              </a:lnSpc>
              <a:buAutoNum type="arabicPeriod"/>
              <a:tabLst>
                <a:tab pos="470534" algn="l"/>
              </a:tabLst>
            </a:pPr>
            <a:r>
              <a:rPr dirty="0" sz="1200" spc="-5">
                <a:latin typeface="Arial"/>
                <a:cs typeface="Arial"/>
              </a:rPr>
              <a:t>The </a:t>
            </a:r>
            <a:r>
              <a:rPr dirty="0" sz="1200">
                <a:latin typeface="Arial"/>
                <a:cs typeface="Arial"/>
              </a:rPr>
              <a:t>eternity </a:t>
            </a:r>
            <a:r>
              <a:rPr dirty="0" sz="1200" spc="-5">
                <a:latin typeface="Arial"/>
                <a:cs typeface="Arial"/>
              </a:rPr>
              <a:t>of </a:t>
            </a:r>
            <a:r>
              <a:rPr dirty="0" sz="1200">
                <a:latin typeface="Arial"/>
                <a:cs typeface="Arial"/>
              </a:rPr>
              <a:t>the </a:t>
            </a:r>
            <a:r>
              <a:rPr dirty="0" sz="1200" spc="-5">
                <a:latin typeface="Arial"/>
                <a:cs typeface="Arial"/>
              </a:rPr>
              <a:t>world: whether </a:t>
            </a:r>
            <a:r>
              <a:rPr dirty="0" sz="1200">
                <a:latin typeface="Arial"/>
                <a:cs typeface="Arial"/>
              </a:rPr>
              <a:t>it </a:t>
            </a:r>
            <a:r>
              <a:rPr dirty="0" sz="1200" spc="-5">
                <a:latin typeface="Arial"/>
                <a:cs typeface="Arial"/>
              </a:rPr>
              <a:t>has been created or </a:t>
            </a:r>
            <a:r>
              <a:rPr dirty="0" sz="1200">
                <a:latin typeface="Arial"/>
                <a:cs typeface="Arial"/>
              </a:rPr>
              <a:t>not, </a:t>
            </a:r>
            <a:r>
              <a:rPr dirty="0" sz="1200" spc="-5">
                <a:latin typeface="Arial"/>
                <a:cs typeface="Arial"/>
              </a:rPr>
              <a:t>whether </a:t>
            </a:r>
            <a:r>
              <a:rPr dirty="0" sz="1200">
                <a:latin typeface="Arial"/>
                <a:cs typeface="Arial"/>
              </a:rPr>
              <a:t>it </a:t>
            </a:r>
            <a:r>
              <a:rPr dirty="0" sz="1200" spc="-5">
                <a:latin typeface="Arial"/>
                <a:cs typeface="Arial"/>
              </a:rPr>
              <a:t>will be  destroyed </a:t>
            </a:r>
            <a:r>
              <a:rPr dirty="0" sz="1200">
                <a:latin typeface="Arial"/>
                <a:cs typeface="Arial"/>
              </a:rPr>
              <a:t>or</a:t>
            </a:r>
            <a:r>
              <a:rPr dirty="0" sz="1200" spc="-15">
                <a:latin typeface="Arial"/>
                <a:cs typeface="Arial"/>
              </a:rPr>
              <a:t> </a:t>
            </a:r>
            <a:r>
              <a:rPr dirty="0" sz="1200" spc="-5">
                <a:latin typeface="Arial"/>
                <a:cs typeface="Arial"/>
              </a:rPr>
              <a:t>not</a:t>
            </a:r>
            <a:endParaRPr sz="1200">
              <a:latin typeface="Arial"/>
              <a:cs typeface="Arial"/>
            </a:endParaRPr>
          </a:p>
          <a:p>
            <a:pPr algn="just" marL="469900" marR="5080" indent="-228600">
              <a:lnSpc>
                <a:spcPts val="1380"/>
              </a:lnSpc>
              <a:buAutoNum type="arabicPeriod"/>
              <a:tabLst>
                <a:tab pos="470534" algn="l"/>
              </a:tabLst>
            </a:pPr>
            <a:r>
              <a:rPr dirty="0" sz="1200" spc="-5">
                <a:latin typeface="Arial"/>
                <a:cs typeface="Arial"/>
              </a:rPr>
              <a:t>The eternity </a:t>
            </a:r>
            <a:r>
              <a:rPr dirty="0" sz="1200">
                <a:latin typeface="Arial"/>
                <a:cs typeface="Arial"/>
              </a:rPr>
              <a:t>of the Qur‘an: for </a:t>
            </a:r>
            <a:r>
              <a:rPr dirty="0" sz="1200" spc="-5">
                <a:latin typeface="Arial"/>
                <a:cs typeface="Arial"/>
              </a:rPr>
              <a:t>the philosophers the Qur‘an is created and either  preserved or not in </a:t>
            </a:r>
            <a:r>
              <a:rPr dirty="0" sz="1200">
                <a:latin typeface="Arial"/>
                <a:cs typeface="Arial"/>
              </a:rPr>
              <a:t>its </a:t>
            </a:r>
            <a:r>
              <a:rPr dirty="0" sz="1200" spc="-5">
                <a:latin typeface="Arial"/>
                <a:cs typeface="Arial"/>
              </a:rPr>
              <a:t>original </a:t>
            </a:r>
            <a:r>
              <a:rPr dirty="0" sz="1200">
                <a:latin typeface="Arial"/>
                <a:cs typeface="Arial"/>
              </a:rPr>
              <a:t>form </a:t>
            </a:r>
            <a:r>
              <a:rPr dirty="0" sz="1200" spc="-5">
                <a:latin typeface="Arial"/>
                <a:cs typeface="Arial"/>
              </a:rPr>
              <a:t>but disapprove of </a:t>
            </a:r>
            <a:r>
              <a:rPr dirty="0" sz="1200">
                <a:latin typeface="Arial"/>
                <a:cs typeface="Arial"/>
              </a:rPr>
              <a:t>its </a:t>
            </a:r>
            <a:r>
              <a:rPr dirty="0" sz="1200" spc="-5">
                <a:latin typeface="Arial"/>
                <a:cs typeface="Arial"/>
              </a:rPr>
              <a:t>importance </a:t>
            </a:r>
            <a:r>
              <a:rPr dirty="0" sz="1200">
                <a:latin typeface="Arial"/>
                <a:cs typeface="Arial"/>
              </a:rPr>
              <a:t>for </a:t>
            </a:r>
            <a:r>
              <a:rPr dirty="0" sz="1200" spc="-5">
                <a:latin typeface="Arial"/>
                <a:cs typeface="Arial"/>
              </a:rPr>
              <a:t>all  generations.</a:t>
            </a:r>
            <a:endParaRPr sz="1200">
              <a:latin typeface="Arial"/>
              <a:cs typeface="Arial"/>
            </a:endParaRPr>
          </a:p>
          <a:p>
            <a:pPr algn="just" marL="469900" marR="9525" indent="-228600">
              <a:lnSpc>
                <a:spcPts val="1380"/>
              </a:lnSpc>
              <a:buAutoNum type="arabicPeriod"/>
              <a:tabLst>
                <a:tab pos="470534" algn="l"/>
              </a:tabLst>
            </a:pPr>
            <a:r>
              <a:rPr dirty="0" sz="1200" spc="-5">
                <a:latin typeface="Arial"/>
                <a:cs typeface="Arial"/>
              </a:rPr>
              <a:t>Anthropomorphism: the attributing of a </a:t>
            </a:r>
            <a:r>
              <a:rPr dirty="0" sz="1200" spc="-10">
                <a:latin typeface="Arial"/>
                <a:cs typeface="Arial"/>
              </a:rPr>
              <a:t>bodily </a:t>
            </a:r>
            <a:r>
              <a:rPr dirty="0" sz="1200" spc="-5">
                <a:latin typeface="Arial"/>
                <a:cs typeface="Arial"/>
              </a:rPr>
              <a:t>shape </a:t>
            </a:r>
            <a:r>
              <a:rPr dirty="0" sz="1200">
                <a:latin typeface="Arial"/>
                <a:cs typeface="Arial"/>
              </a:rPr>
              <a:t>to </a:t>
            </a:r>
            <a:r>
              <a:rPr dirty="0" sz="1200" spc="-5">
                <a:latin typeface="Arial"/>
                <a:cs typeface="Arial"/>
              </a:rPr>
              <a:t>Allah like hands, </a:t>
            </a:r>
            <a:r>
              <a:rPr dirty="0" sz="1200">
                <a:latin typeface="Arial"/>
                <a:cs typeface="Arial"/>
              </a:rPr>
              <a:t>face, </a:t>
            </a:r>
            <a:r>
              <a:rPr dirty="0" sz="1200" spc="-5">
                <a:latin typeface="Arial"/>
                <a:cs typeface="Arial"/>
              </a:rPr>
              <a:t>chair  </a:t>
            </a:r>
            <a:r>
              <a:rPr dirty="0" sz="1200">
                <a:latin typeface="Arial"/>
                <a:cs typeface="Arial"/>
              </a:rPr>
              <a:t>etc..</a:t>
            </a:r>
            <a:endParaRPr sz="1200">
              <a:latin typeface="Arial"/>
              <a:cs typeface="Arial"/>
            </a:endParaRPr>
          </a:p>
        </p:txBody>
      </p:sp>
      <p:sp>
        <p:nvSpPr>
          <p:cNvPr id="9" name="object 9"/>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10" name="object 10"/>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159</a:t>
            </a:r>
            <a:endParaRPr sz="1200">
              <a:latin typeface="Times New Roman"/>
              <a:cs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0630" cy="793623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469900" marR="8255" indent="-229235">
              <a:lnSpc>
                <a:spcPct val="95900"/>
              </a:lnSpc>
            </a:pPr>
            <a:r>
              <a:rPr dirty="0" sz="1200">
                <a:latin typeface="Arial"/>
                <a:cs typeface="Arial"/>
              </a:rPr>
              <a:t>6. Any </a:t>
            </a:r>
            <a:r>
              <a:rPr dirty="0" sz="1200" spc="-5">
                <a:latin typeface="Arial"/>
                <a:cs typeface="Arial"/>
              </a:rPr>
              <a:t>idea contrasting </a:t>
            </a:r>
            <a:r>
              <a:rPr dirty="0" sz="1200" spc="-10">
                <a:latin typeface="Arial"/>
                <a:cs typeface="Arial"/>
              </a:rPr>
              <a:t>with </a:t>
            </a:r>
            <a:r>
              <a:rPr dirty="0" sz="1200" spc="-5">
                <a:latin typeface="Arial"/>
                <a:cs typeface="Arial"/>
              </a:rPr>
              <a:t>Orthodoxy: </a:t>
            </a:r>
            <a:r>
              <a:rPr dirty="0" sz="1200">
                <a:latin typeface="Arial"/>
                <a:cs typeface="Arial"/>
              </a:rPr>
              <a:t>man </a:t>
            </a:r>
            <a:r>
              <a:rPr dirty="0" sz="1200" spc="-10">
                <a:latin typeface="Arial"/>
                <a:cs typeface="Arial"/>
              </a:rPr>
              <a:t>is </a:t>
            </a:r>
            <a:r>
              <a:rPr dirty="0" sz="1200" spc="-5">
                <a:latin typeface="Arial"/>
                <a:cs typeface="Arial"/>
              </a:rPr>
              <a:t>from apes, life in Aakhirat doesn‘t </a:t>
            </a:r>
            <a:r>
              <a:rPr dirty="0" sz="1200" spc="-10">
                <a:latin typeface="Arial"/>
                <a:cs typeface="Arial"/>
              </a:rPr>
              <a:t>exist,  </a:t>
            </a:r>
            <a:r>
              <a:rPr dirty="0" sz="1200">
                <a:latin typeface="Arial"/>
                <a:cs typeface="Arial"/>
              </a:rPr>
              <a:t>there </a:t>
            </a:r>
            <a:r>
              <a:rPr dirty="0" sz="1200" spc="-5">
                <a:latin typeface="Arial"/>
                <a:cs typeface="Arial"/>
              </a:rPr>
              <a:t>is </a:t>
            </a:r>
            <a:r>
              <a:rPr dirty="0" sz="1200" spc="-10">
                <a:latin typeface="Arial"/>
                <a:cs typeface="Arial"/>
              </a:rPr>
              <a:t>no </a:t>
            </a:r>
            <a:r>
              <a:rPr dirty="0" sz="1200" spc="-5">
                <a:latin typeface="Arial"/>
                <a:cs typeface="Arial"/>
              </a:rPr>
              <a:t>Divinity who created the Earth and human beings but </a:t>
            </a:r>
            <a:r>
              <a:rPr dirty="0" sz="1200">
                <a:latin typeface="Arial"/>
                <a:cs typeface="Arial"/>
              </a:rPr>
              <a:t>it </a:t>
            </a:r>
            <a:r>
              <a:rPr dirty="0" sz="1200" spc="-10">
                <a:latin typeface="Arial"/>
                <a:cs typeface="Arial"/>
              </a:rPr>
              <a:t>was </a:t>
            </a:r>
            <a:r>
              <a:rPr dirty="0" sz="1200" spc="-5">
                <a:latin typeface="Arial"/>
                <a:cs typeface="Arial"/>
              </a:rPr>
              <a:t>through  evolution, the purification of the heart of </a:t>
            </a:r>
            <a:r>
              <a:rPr dirty="0" sz="1200" spc="-10">
                <a:latin typeface="Arial"/>
                <a:cs typeface="Arial"/>
              </a:rPr>
              <a:t>the </a:t>
            </a:r>
            <a:r>
              <a:rPr dirty="0" sz="1200" spc="-5">
                <a:latin typeface="Arial"/>
                <a:cs typeface="Arial"/>
              </a:rPr>
              <a:t>prophet by Jibril, </a:t>
            </a:r>
            <a:r>
              <a:rPr dirty="0" sz="1200">
                <a:latin typeface="Arial"/>
                <a:cs typeface="Arial"/>
              </a:rPr>
              <a:t>the </a:t>
            </a:r>
            <a:r>
              <a:rPr dirty="0" sz="1200" spc="-5">
                <a:latin typeface="Arial"/>
                <a:cs typeface="Arial"/>
              </a:rPr>
              <a:t>miracles of </a:t>
            </a:r>
            <a:r>
              <a:rPr dirty="0" sz="1200" spc="-10">
                <a:latin typeface="Arial"/>
                <a:cs typeface="Arial"/>
              </a:rPr>
              <a:t>the  </a:t>
            </a:r>
            <a:r>
              <a:rPr dirty="0" sz="1200" spc="-5">
                <a:latin typeface="Arial"/>
                <a:cs typeface="Arial"/>
              </a:rPr>
              <a:t>prophet, Mi‘raj of </a:t>
            </a:r>
            <a:r>
              <a:rPr dirty="0" sz="1200">
                <a:latin typeface="Arial"/>
                <a:cs typeface="Arial"/>
              </a:rPr>
              <a:t>the</a:t>
            </a:r>
            <a:r>
              <a:rPr dirty="0" sz="1200" spc="-5">
                <a:latin typeface="Arial"/>
                <a:cs typeface="Arial"/>
              </a:rPr>
              <a:t> prophet.</a:t>
            </a:r>
            <a:endParaRPr sz="1200">
              <a:latin typeface="Arial"/>
              <a:cs typeface="Arial"/>
            </a:endParaRPr>
          </a:p>
          <a:p>
            <a:pPr>
              <a:lnSpc>
                <a:spcPct val="100000"/>
              </a:lnSpc>
              <a:spcBef>
                <a:spcPts val="55"/>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Main characteristics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Islamic philosophy </a:t>
            </a:r>
            <a:r>
              <a:rPr dirty="0" u="heavy" sz="1200" b="1" i="1">
                <a:uFill>
                  <a:solidFill>
                    <a:srgbClr val="000000"/>
                  </a:solidFill>
                </a:uFill>
                <a:latin typeface="Arial"/>
                <a:cs typeface="Arial"/>
              </a:rPr>
              <a:t>(falsafah) in </a:t>
            </a:r>
            <a:r>
              <a:rPr dirty="0" u="heavy" sz="1200" spc="-5" b="1" i="1">
                <a:uFill>
                  <a:solidFill>
                    <a:srgbClr val="000000"/>
                  </a:solidFill>
                </a:uFill>
                <a:latin typeface="Arial"/>
                <a:cs typeface="Arial"/>
              </a:rPr>
              <a:t>the classical Islamic</a:t>
            </a:r>
            <a:r>
              <a:rPr dirty="0" u="heavy" sz="1200" spc="135" b="1" i="1">
                <a:uFill>
                  <a:solidFill>
                    <a:srgbClr val="000000"/>
                  </a:solidFill>
                </a:uFill>
                <a:latin typeface="Arial"/>
                <a:cs typeface="Arial"/>
              </a:rPr>
              <a:t> </a:t>
            </a:r>
            <a:r>
              <a:rPr dirty="0" u="heavy" sz="1200" spc="-5" b="1" i="1">
                <a:uFill>
                  <a:solidFill>
                    <a:srgbClr val="000000"/>
                  </a:solidFill>
                </a:uFill>
                <a:latin typeface="Arial"/>
                <a:cs typeface="Arial"/>
              </a:rPr>
              <a:t>period</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The authority </a:t>
            </a:r>
            <a:r>
              <a:rPr dirty="0" sz="1200">
                <a:latin typeface="Arial"/>
                <a:cs typeface="Arial"/>
              </a:rPr>
              <a:t>of Greek </a:t>
            </a:r>
            <a:r>
              <a:rPr dirty="0" sz="1200" spc="-5">
                <a:latin typeface="Arial"/>
                <a:cs typeface="Arial"/>
              </a:rPr>
              <a:t>philosophers </a:t>
            </a:r>
            <a:r>
              <a:rPr dirty="0" sz="1200">
                <a:latin typeface="Arial"/>
                <a:cs typeface="Arial"/>
              </a:rPr>
              <a:t>– </a:t>
            </a:r>
            <a:r>
              <a:rPr dirty="0" sz="1200" spc="-5">
                <a:latin typeface="Arial"/>
                <a:cs typeface="Arial"/>
              </a:rPr>
              <a:t>translation of </a:t>
            </a:r>
            <a:r>
              <a:rPr dirty="0" sz="1200">
                <a:latin typeface="Arial"/>
                <a:cs typeface="Arial"/>
              </a:rPr>
              <a:t>Greek </a:t>
            </a:r>
            <a:r>
              <a:rPr dirty="0" sz="1200" spc="-5">
                <a:latin typeface="Arial"/>
                <a:cs typeface="Arial"/>
              </a:rPr>
              <a:t>books </a:t>
            </a:r>
            <a:r>
              <a:rPr dirty="0" sz="1200">
                <a:latin typeface="Arial"/>
                <a:cs typeface="Arial"/>
              </a:rPr>
              <a:t>to</a:t>
            </a:r>
            <a:r>
              <a:rPr dirty="0" sz="1200" spc="70">
                <a:latin typeface="Arial"/>
                <a:cs typeface="Arial"/>
              </a:rPr>
              <a:t> </a:t>
            </a:r>
            <a:r>
              <a:rPr dirty="0" sz="1200" spc="-5">
                <a:latin typeface="Arial"/>
                <a:cs typeface="Arial"/>
              </a:rPr>
              <a:t>Arabic.</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place of</a:t>
            </a:r>
            <a:r>
              <a:rPr dirty="0" sz="1200" spc="5">
                <a:latin typeface="Arial"/>
                <a:cs typeface="Arial"/>
              </a:rPr>
              <a:t> </a:t>
            </a:r>
            <a:r>
              <a:rPr dirty="0" sz="1200" spc="-5">
                <a:latin typeface="Arial"/>
                <a:cs typeface="Arial"/>
              </a:rPr>
              <a:t>Aristotle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The place of</a:t>
            </a:r>
            <a:r>
              <a:rPr dirty="0" sz="1200" spc="5">
                <a:latin typeface="Arial"/>
                <a:cs typeface="Arial"/>
              </a:rPr>
              <a:t> </a:t>
            </a:r>
            <a:r>
              <a:rPr dirty="0" sz="1200" spc="-5">
                <a:latin typeface="Arial"/>
                <a:cs typeface="Arial"/>
              </a:rPr>
              <a:t>Plato</a:t>
            </a:r>
            <a:endParaRPr sz="1200">
              <a:latin typeface="Arial"/>
              <a:cs typeface="Arial"/>
            </a:endParaRPr>
          </a:p>
          <a:p>
            <a:pPr marL="469900" indent="-229235">
              <a:lnSpc>
                <a:spcPts val="1380"/>
              </a:lnSpc>
              <a:buAutoNum type="arabicPeriod"/>
              <a:tabLst>
                <a:tab pos="470534" algn="l"/>
              </a:tabLst>
            </a:pPr>
            <a:r>
              <a:rPr dirty="0" sz="1200">
                <a:latin typeface="Arial"/>
                <a:cs typeface="Arial"/>
              </a:rPr>
              <a:t>Great </a:t>
            </a:r>
            <a:r>
              <a:rPr dirty="0" sz="1200" spc="-5">
                <a:latin typeface="Arial"/>
                <a:cs typeface="Arial"/>
              </a:rPr>
              <a:t>value attached to human reason and less emphasis on</a:t>
            </a:r>
            <a:r>
              <a:rPr dirty="0" sz="1200" spc="50">
                <a:latin typeface="Arial"/>
                <a:cs typeface="Arial"/>
              </a:rPr>
              <a:t> </a:t>
            </a:r>
            <a:r>
              <a:rPr dirty="0" sz="1200" spc="-5">
                <a:latin typeface="Arial"/>
                <a:cs typeface="Arial"/>
              </a:rPr>
              <a:t>revelation.</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Al-Arabi</a:t>
            </a:r>
            <a:endParaRPr sz="1200">
              <a:latin typeface="Arial"/>
              <a:cs typeface="Arial"/>
            </a:endParaRPr>
          </a:p>
          <a:p>
            <a:pPr marL="469900" indent="-229235">
              <a:lnSpc>
                <a:spcPts val="1380"/>
              </a:lnSpc>
              <a:buAutoNum type="arabicPeriod"/>
              <a:tabLst>
                <a:tab pos="470534" algn="l"/>
              </a:tabLst>
            </a:pPr>
            <a:r>
              <a:rPr dirty="0" sz="1200">
                <a:latin typeface="Arial"/>
                <a:cs typeface="Arial"/>
              </a:rPr>
              <a:t>Ibn</a:t>
            </a:r>
            <a:r>
              <a:rPr dirty="0" sz="1200" spc="-95">
                <a:latin typeface="Arial"/>
                <a:cs typeface="Arial"/>
              </a:rPr>
              <a:t> </a:t>
            </a:r>
            <a:r>
              <a:rPr dirty="0" sz="1200" spc="-5">
                <a:latin typeface="Arial"/>
                <a:cs typeface="Arial"/>
              </a:rPr>
              <a:t>Sina</a:t>
            </a:r>
            <a:endParaRPr sz="1200">
              <a:latin typeface="Arial"/>
              <a:cs typeface="Arial"/>
            </a:endParaRPr>
          </a:p>
          <a:p>
            <a:pPr marL="469900" indent="-229235">
              <a:lnSpc>
                <a:spcPts val="1410"/>
              </a:lnSpc>
              <a:buAutoNum type="arabicPeriod"/>
              <a:tabLst>
                <a:tab pos="470534" algn="l"/>
              </a:tabLst>
            </a:pPr>
            <a:r>
              <a:rPr dirty="0" sz="1200">
                <a:latin typeface="Arial"/>
                <a:cs typeface="Arial"/>
              </a:rPr>
              <a:t>Other </a:t>
            </a:r>
            <a:r>
              <a:rPr dirty="0" sz="1200" spc="-5">
                <a:latin typeface="Arial"/>
                <a:cs typeface="Arial"/>
              </a:rPr>
              <a:t>philosophers and their critique of the existing </a:t>
            </a:r>
            <a:r>
              <a:rPr dirty="0" sz="1200">
                <a:latin typeface="Arial"/>
                <a:cs typeface="Arial"/>
              </a:rPr>
              <a:t>philosophical</a:t>
            </a:r>
            <a:r>
              <a:rPr dirty="0" sz="1200" spc="25">
                <a:latin typeface="Arial"/>
                <a:cs typeface="Arial"/>
              </a:rPr>
              <a:t> </a:t>
            </a:r>
            <a:r>
              <a:rPr dirty="0" sz="1200" spc="-5">
                <a:latin typeface="Arial"/>
                <a:cs typeface="Arial"/>
              </a:rPr>
              <a:t>ideas</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5" b="1">
                <a:uFill>
                  <a:solidFill>
                    <a:srgbClr val="000000"/>
                  </a:solidFill>
                </a:uFill>
                <a:latin typeface="Arial"/>
                <a:cs typeface="Arial"/>
              </a:rPr>
              <a:t>Syllabus 9013</a:t>
            </a:r>
            <a:endParaRPr sz="1200">
              <a:latin typeface="Arial"/>
              <a:cs typeface="Arial"/>
            </a:endParaRPr>
          </a:p>
          <a:p>
            <a:pPr>
              <a:lnSpc>
                <a:spcPct val="100000"/>
              </a:lnSpc>
              <a:spcBef>
                <a:spcPts val="35"/>
              </a:spcBef>
            </a:pPr>
            <a:endParaRPr sz="1200">
              <a:latin typeface="Arial"/>
              <a:cs typeface="Arial"/>
            </a:endParaRPr>
          </a:p>
          <a:p>
            <a:pPr algn="just" marL="12700" marR="8890">
              <a:lnSpc>
                <a:spcPts val="1380"/>
              </a:lnSpc>
            </a:pPr>
            <a:r>
              <a:rPr dirty="0" sz="1200" spc="-5" b="1">
                <a:latin typeface="Arial"/>
                <a:cs typeface="Arial"/>
              </a:rPr>
              <a:t>9 </a:t>
            </a:r>
            <a:r>
              <a:rPr dirty="0" sz="1200" spc="-5">
                <a:latin typeface="Arial"/>
                <a:cs typeface="Arial"/>
              </a:rPr>
              <a:t>Identify and explain </a:t>
            </a:r>
            <a:r>
              <a:rPr dirty="0" sz="1200">
                <a:latin typeface="Arial"/>
                <a:cs typeface="Arial"/>
              </a:rPr>
              <a:t>the </a:t>
            </a:r>
            <a:r>
              <a:rPr dirty="0" sz="1200" spc="-5">
                <a:latin typeface="Arial"/>
                <a:cs typeface="Arial"/>
              </a:rPr>
              <a:t>significance of </a:t>
            </a:r>
            <a:r>
              <a:rPr dirty="0" sz="1200" spc="-5" b="1">
                <a:latin typeface="Arial"/>
                <a:cs typeface="Arial"/>
              </a:rPr>
              <a:t>two </a:t>
            </a:r>
            <a:r>
              <a:rPr dirty="0" sz="1200">
                <a:latin typeface="Arial"/>
                <a:cs typeface="Arial"/>
              </a:rPr>
              <a:t>main </a:t>
            </a:r>
            <a:r>
              <a:rPr dirty="0" sz="1200" spc="-5">
                <a:latin typeface="Arial"/>
                <a:cs typeface="Arial"/>
              </a:rPr>
              <a:t>teachings </a:t>
            </a:r>
            <a:r>
              <a:rPr dirty="0" sz="1200">
                <a:latin typeface="Arial"/>
                <a:cs typeface="Arial"/>
              </a:rPr>
              <a:t>of the </a:t>
            </a:r>
            <a:r>
              <a:rPr dirty="0" sz="1200" spc="-5">
                <a:latin typeface="Arial"/>
                <a:cs typeface="Arial"/>
              </a:rPr>
              <a:t>philosophers that led </a:t>
            </a:r>
            <a:r>
              <a:rPr dirty="0" sz="1200">
                <a:latin typeface="Arial"/>
                <a:cs typeface="Arial"/>
              </a:rPr>
              <a:t>to  </a:t>
            </a:r>
            <a:r>
              <a:rPr dirty="0" sz="1200" spc="-5">
                <a:latin typeface="Arial"/>
                <a:cs typeface="Arial"/>
              </a:rPr>
              <a:t>disagreement with theological </a:t>
            </a:r>
            <a:r>
              <a:rPr dirty="0" sz="1200">
                <a:latin typeface="Arial"/>
                <a:cs typeface="Arial"/>
              </a:rPr>
              <a:t>thinkers </a:t>
            </a:r>
            <a:r>
              <a:rPr dirty="0" sz="1200" spc="-5">
                <a:latin typeface="Arial"/>
                <a:cs typeface="Arial"/>
              </a:rPr>
              <a:t>in early </a:t>
            </a:r>
            <a:r>
              <a:rPr dirty="0" sz="1200">
                <a:latin typeface="Arial"/>
                <a:cs typeface="Arial"/>
              </a:rPr>
              <a:t>Islam. </a:t>
            </a:r>
            <a:r>
              <a:rPr dirty="0" sz="1200" spc="-5">
                <a:latin typeface="Arial"/>
                <a:cs typeface="Arial"/>
              </a:rPr>
              <a:t>[20]</a:t>
            </a:r>
            <a:r>
              <a:rPr dirty="0" sz="1200" spc="30">
                <a:latin typeface="Arial"/>
                <a:cs typeface="Arial"/>
              </a:rPr>
              <a:t> </a:t>
            </a:r>
            <a:r>
              <a:rPr dirty="0" sz="1200" spc="-5" b="1">
                <a:latin typeface="Arial"/>
                <a:cs typeface="Arial"/>
              </a:rPr>
              <a:t>(2003)</a:t>
            </a:r>
            <a:endParaRPr sz="1200">
              <a:latin typeface="Arial"/>
              <a:cs typeface="Arial"/>
            </a:endParaRPr>
          </a:p>
          <a:p>
            <a:pPr>
              <a:lnSpc>
                <a:spcPct val="100000"/>
              </a:lnSpc>
            </a:pPr>
            <a:endParaRPr sz="1200">
              <a:latin typeface="Arial"/>
              <a:cs typeface="Arial"/>
            </a:endParaRPr>
          </a:p>
          <a:p>
            <a:pPr algn="just" marL="12700" marR="8255">
              <a:lnSpc>
                <a:spcPts val="1380"/>
              </a:lnSpc>
            </a:pPr>
            <a:r>
              <a:rPr dirty="0" sz="1200" spc="-5" b="1">
                <a:latin typeface="Arial"/>
                <a:cs typeface="Arial"/>
              </a:rPr>
              <a:t>9 </a:t>
            </a:r>
            <a:r>
              <a:rPr dirty="0" sz="1200" spc="-5">
                <a:latin typeface="Arial"/>
                <a:cs typeface="Arial"/>
              </a:rPr>
              <a:t>Some of the great </a:t>
            </a:r>
            <a:r>
              <a:rPr dirty="0" sz="1200">
                <a:latin typeface="Arial"/>
                <a:cs typeface="Arial"/>
              </a:rPr>
              <a:t>theologians </a:t>
            </a:r>
            <a:r>
              <a:rPr dirty="0" sz="1200" spc="-5">
                <a:latin typeface="Arial"/>
                <a:cs typeface="Arial"/>
              </a:rPr>
              <a:t>of </a:t>
            </a:r>
            <a:r>
              <a:rPr dirty="0" sz="1200">
                <a:latin typeface="Arial"/>
                <a:cs typeface="Arial"/>
              </a:rPr>
              <a:t>Islam </a:t>
            </a:r>
            <a:r>
              <a:rPr dirty="0" sz="1200" spc="-5">
                <a:latin typeface="Arial"/>
                <a:cs typeface="Arial"/>
              </a:rPr>
              <a:t>condemned the thinking </a:t>
            </a:r>
            <a:r>
              <a:rPr dirty="0" sz="1200">
                <a:latin typeface="Arial"/>
                <a:cs typeface="Arial"/>
              </a:rPr>
              <a:t>of the </a:t>
            </a:r>
            <a:r>
              <a:rPr dirty="0" sz="1200" spc="-5">
                <a:latin typeface="Arial"/>
                <a:cs typeface="Arial"/>
              </a:rPr>
              <a:t>philosophers as  inconsistent. Explain why </a:t>
            </a:r>
            <a:r>
              <a:rPr dirty="0" sz="1200">
                <a:latin typeface="Arial"/>
                <a:cs typeface="Arial"/>
              </a:rPr>
              <a:t>Islamic </a:t>
            </a:r>
            <a:r>
              <a:rPr dirty="0" sz="1200" spc="-5">
                <a:latin typeface="Arial"/>
                <a:cs typeface="Arial"/>
              </a:rPr>
              <a:t>theologians were usually very hostile towards philosophy.  </a:t>
            </a:r>
            <a:r>
              <a:rPr dirty="0" sz="1200">
                <a:latin typeface="Arial"/>
                <a:cs typeface="Arial"/>
              </a:rPr>
              <a:t>[20] </a:t>
            </a:r>
            <a:r>
              <a:rPr dirty="0" sz="1200" spc="-5" b="1">
                <a:latin typeface="Arial"/>
                <a:cs typeface="Arial"/>
              </a:rPr>
              <a:t>(2004)</a:t>
            </a:r>
            <a:endParaRPr sz="1200">
              <a:latin typeface="Arial"/>
              <a:cs typeface="Arial"/>
            </a:endParaRPr>
          </a:p>
          <a:p>
            <a:pPr>
              <a:lnSpc>
                <a:spcPct val="100000"/>
              </a:lnSpc>
              <a:spcBef>
                <a:spcPts val="40"/>
              </a:spcBef>
            </a:pPr>
            <a:endParaRPr sz="1150">
              <a:latin typeface="Arial"/>
              <a:cs typeface="Arial"/>
            </a:endParaRPr>
          </a:p>
          <a:p>
            <a:pPr algn="just" marL="12700" marR="5080">
              <a:lnSpc>
                <a:spcPts val="1390"/>
              </a:lnSpc>
            </a:pPr>
            <a:r>
              <a:rPr dirty="0" sz="1200" spc="-5" b="1">
                <a:latin typeface="Arial"/>
                <a:cs typeface="Arial"/>
              </a:rPr>
              <a:t>9 </a:t>
            </a:r>
            <a:r>
              <a:rPr dirty="0" sz="1200" spc="-5">
                <a:latin typeface="Arial"/>
                <a:cs typeface="Arial"/>
              </a:rPr>
              <a:t>Explain the </a:t>
            </a:r>
            <a:r>
              <a:rPr dirty="0" sz="1200">
                <a:latin typeface="Arial"/>
                <a:cs typeface="Arial"/>
              </a:rPr>
              <a:t>main </a:t>
            </a:r>
            <a:r>
              <a:rPr dirty="0" sz="1200" spc="-5">
                <a:latin typeface="Arial"/>
                <a:cs typeface="Arial"/>
              </a:rPr>
              <a:t>characteristics of Islamic philosophy </a:t>
            </a:r>
            <a:r>
              <a:rPr dirty="0" sz="1200">
                <a:latin typeface="Arial"/>
                <a:cs typeface="Arial"/>
              </a:rPr>
              <a:t>(</a:t>
            </a:r>
            <a:r>
              <a:rPr dirty="0" sz="1200" i="1">
                <a:latin typeface="Arial"/>
                <a:cs typeface="Arial"/>
              </a:rPr>
              <a:t>falsafah</a:t>
            </a:r>
            <a:r>
              <a:rPr dirty="0" sz="1200">
                <a:latin typeface="Arial"/>
                <a:cs typeface="Arial"/>
              </a:rPr>
              <a:t>) </a:t>
            </a:r>
            <a:r>
              <a:rPr dirty="0" sz="1200" spc="-5">
                <a:latin typeface="Arial"/>
                <a:cs typeface="Arial"/>
              </a:rPr>
              <a:t>in the classical Islamic  period. [20]</a:t>
            </a:r>
            <a:r>
              <a:rPr dirty="0" sz="1200">
                <a:latin typeface="Arial"/>
                <a:cs typeface="Arial"/>
              </a:rPr>
              <a:t> </a:t>
            </a:r>
            <a:r>
              <a:rPr dirty="0" sz="1200" spc="-5" b="1">
                <a:latin typeface="Arial"/>
                <a:cs typeface="Arial"/>
              </a:rPr>
              <a:t>(2005)</a:t>
            </a:r>
            <a:endParaRPr sz="1200">
              <a:latin typeface="Arial"/>
              <a:cs typeface="Arial"/>
            </a:endParaRPr>
          </a:p>
          <a:p>
            <a:pPr>
              <a:lnSpc>
                <a:spcPct val="100000"/>
              </a:lnSpc>
              <a:spcBef>
                <a:spcPts val="20"/>
              </a:spcBef>
            </a:pPr>
            <a:endParaRPr sz="1100">
              <a:latin typeface="Arial"/>
              <a:cs typeface="Arial"/>
            </a:endParaRPr>
          </a:p>
          <a:p>
            <a:pPr marL="12700">
              <a:lnSpc>
                <a:spcPts val="1410"/>
              </a:lnSpc>
            </a:pPr>
            <a:r>
              <a:rPr dirty="0" sz="1200" spc="-5" b="1">
                <a:latin typeface="Arial"/>
                <a:cs typeface="Arial"/>
              </a:rPr>
              <a:t>9 </a:t>
            </a:r>
            <a:r>
              <a:rPr dirty="0" sz="1200" spc="-5">
                <a:latin typeface="Arial"/>
                <a:cs typeface="Arial"/>
              </a:rPr>
              <a:t>Explain </a:t>
            </a:r>
            <a:r>
              <a:rPr dirty="0" sz="1200" spc="-10">
                <a:latin typeface="Arial"/>
                <a:cs typeface="Arial"/>
              </a:rPr>
              <a:t>why </a:t>
            </a:r>
            <a:r>
              <a:rPr dirty="0" sz="1200">
                <a:latin typeface="Arial"/>
                <a:cs typeface="Arial"/>
              </a:rPr>
              <a:t>Islamic </a:t>
            </a:r>
            <a:r>
              <a:rPr dirty="0" sz="1200" spc="-5">
                <a:latin typeface="Arial"/>
                <a:cs typeface="Arial"/>
              </a:rPr>
              <a:t>theologians </a:t>
            </a:r>
            <a:r>
              <a:rPr dirty="0" sz="1200" spc="-10">
                <a:latin typeface="Arial"/>
                <a:cs typeface="Arial"/>
              </a:rPr>
              <a:t>have </a:t>
            </a:r>
            <a:r>
              <a:rPr dirty="0" sz="1200">
                <a:latin typeface="Arial"/>
                <a:cs typeface="Arial"/>
              </a:rPr>
              <a:t>traditionally </a:t>
            </a:r>
            <a:r>
              <a:rPr dirty="0" sz="1200" spc="-5">
                <a:latin typeface="Arial"/>
                <a:cs typeface="Arial"/>
              </a:rPr>
              <a:t>been hostile towards philosophy.</a:t>
            </a:r>
            <a:r>
              <a:rPr dirty="0" sz="1200" spc="260">
                <a:latin typeface="Arial"/>
                <a:cs typeface="Arial"/>
              </a:rPr>
              <a:t> </a:t>
            </a:r>
            <a:r>
              <a:rPr dirty="0" sz="1200" spc="-5">
                <a:latin typeface="Arial"/>
                <a:cs typeface="Arial"/>
              </a:rPr>
              <a:t>[20]</a:t>
            </a:r>
            <a:endParaRPr sz="1200">
              <a:latin typeface="Arial"/>
              <a:cs typeface="Arial"/>
            </a:endParaRPr>
          </a:p>
          <a:p>
            <a:pPr marL="12700">
              <a:lnSpc>
                <a:spcPts val="1410"/>
              </a:lnSpc>
            </a:pPr>
            <a:r>
              <a:rPr dirty="0" sz="1200" spc="-5" b="1">
                <a:latin typeface="Arial"/>
                <a:cs typeface="Arial"/>
              </a:rPr>
              <a:t>(2006)</a:t>
            </a:r>
            <a:endParaRPr sz="1200">
              <a:latin typeface="Arial"/>
              <a:cs typeface="Arial"/>
            </a:endParaRPr>
          </a:p>
          <a:p>
            <a:pPr>
              <a:lnSpc>
                <a:spcPct val="100000"/>
              </a:lnSpc>
              <a:spcBef>
                <a:spcPts val="35"/>
              </a:spcBef>
            </a:pPr>
            <a:endParaRPr sz="1200">
              <a:latin typeface="Arial"/>
              <a:cs typeface="Arial"/>
            </a:endParaRPr>
          </a:p>
          <a:p>
            <a:pPr marL="12700" marR="8890">
              <a:lnSpc>
                <a:spcPts val="1380"/>
              </a:lnSpc>
            </a:pPr>
            <a:r>
              <a:rPr dirty="0" sz="1200" spc="-5" b="1">
                <a:latin typeface="Arial"/>
                <a:cs typeface="Arial"/>
              </a:rPr>
              <a:t>8 </a:t>
            </a:r>
            <a:r>
              <a:rPr dirty="0" sz="1200" spc="-5">
                <a:latin typeface="Arial"/>
                <a:cs typeface="Arial"/>
              </a:rPr>
              <a:t>Identify and explain </a:t>
            </a:r>
            <a:r>
              <a:rPr dirty="0" sz="1200">
                <a:latin typeface="Arial"/>
                <a:cs typeface="Arial"/>
              </a:rPr>
              <a:t>the </a:t>
            </a:r>
            <a:r>
              <a:rPr dirty="0" sz="1200" spc="-5">
                <a:latin typeface="Arial"/>
                <a:cs typeface="Arial"/>
              </a:rPr>
              <a:t>significance of </a:t>
            </a:r>
            <a:r>
              <a:rPr dirty="0" sz="1200" spc="-5" b="1">
                <a:latin typeface="Arial"/>
                <a:cs typeface="Arial"/>
              </a:rPr>
              <a:t>two </a:t>
            </a:r>
            <a:r>
              <a:rPr dirty="0" sz="1200">
                <a:latin typeface="Arial"/>
                <a:cs typeface="Arial"/>
              </a:rPr>
              <a:t>main </a:t>
            </a:r>
            <a:r>
              <a:rPr dirty="0" sz="1200" spc="-5">
                <a:latin typeface="Arial"/>
                <a:cs typeface="Arial"/>
              </a:rPr>
              <a:t>teachings </a:t>
            </a:r>
            <a:r>
              <a:rPr dirty="0" sz="1200">
                <a:latin typeface="Arial"/>
                <a:cs typeface="Arial"/>
              </a:rPr>
              <a:t>of the </a:t>
            </a:r>
            <a:r>
              <a:rPr dirty="0" sz="1200" spc="-5">
                <a:latin typeface="Arial"/>
                <a:cs typeface="Arial"/>
              </a:rPr>
              <a:t>philosophers that led </a:t>
            </a:r>
            <a:r>
              <a:rPr dirty="0" sz="1200">
                <a:latin typeface="Arial"/>
                <a:cs typeface="Arial"/>
              </a:rPr>
              <a:t>to  </a:t>
            </a:r>
            <a:r>
              <a:rPr dirty="0" sz="1200" spc="-5">
                <a:latin typeface="Arial"/>
                <a:cs typeface="Arial"/>
              </a:rPr>
              <a:t>disagreement with theological </a:t>
            </a:r>
            <a:r>
              <a:rPr dirty="0" sz="1200">
                <a:latin typeface="Arial"/>
                <a:cs typeface="Arial"/>
              </a:rPr>
              <a:t>thinkers </a:t>
            </a:r>
            <a:r>
              <a:rPr dirty="0" sz="1200" spc="-5">
                <a:latin typeface="Arial"/>
                <a:cs typeface="Arial"/>
              </a:rPr>
              <a:t>in early </a:t>
            </a:r>
            <a:r>
              <a:rPr dirty="0" sz="1200" spc="5">
                <a:latin typeface="Arial"/>
                <a:cs typeface="Arial"/>
              </a:rPr>
              <a:t>Islam. </a:t>
            </a:r>
            <a:r>
              <a:rPr dirty="0" sz="1200" spc="-5">
                <a:latin typeface="Arial"/>
                <a:cs typeface="Arial"/>
              </a:rPr>
              <a:t>[20]</a:t>
            </a:r>
            <a:r>
              <a:rPr dirty="0" sz="1200" spc="5">
                <a:latin typeface="Arial"/>
                <a:cs typeface="Arial"/>
              </a:rPr>
              <a:t> </a:t>
            </a:r>
            <a:r>
              <a:rPr dirty="0" sz="1200" spc="-5" b="1">
                <a:latin typeface="Arial"/>
                <a:cs typeface="Arial"/>
              </a:rPr>
              <a:t>(2007)</a:t>
            </a:r>
            <a:endParaRPr sz="1200">
              <a:latin typeface="Arial"/>
              <a:cs typeface="Arial"/>
            </a:endParaRPr>
          </a:p>
          <a:p>
            <a:pPr>
              <a:lnSpc>
                <a:spcPct val="100000"/>
              </a:lnSpc>
              <a:spcBef>
                <a:spcPts val="25"/>
              </a:spcBef>
            </a:pPr>
            <a:endParaRPr sz="1150">
              <a:latin typeface="Arial"/>
              <a:cs typeface="Arial"/>
            </a:endParaRPr>
          </a:p>
          <a:p>
            <a:pPr marL="12700" marR="5080">
              <a:lnSpc>
                <a:spcPts val="1390"/>
              </a:lnSpc>
              <a:buFont typeface="Arial"/>
              <a:buAutoNum type="arabicPlain" startAt="8"/>
              <a:tabLst>
                <a:tab pos="170180" algn="l"/>
              </a:tabLst>
            </a:pPr>
            <a:r>
              <a:rPr dirty="0" sz="1200" spc="-5">
                <a:latin typeface="Arial"/>
                <a:cs typeface="Arial"/>
              </a:rPr>
              <a:t>Explain the </a:t>
            </a:r>
            <a:r>
              <a:rPr dirty="0" sz="1200">
                <a:latin typeface="Arial"/>
                <a:cs typeface="Arial"/>
              </a:rPr>
              <a:t>main </a:t>
            </a:r>
            <a:r>
              <a:rPr dirty="0" sz="1200" spc="-5">
                <a:latin typeface="Arial"/>
                <a:cs typeface="Arial"/>
              </a:rPr>
              <a:t>characteristics of Islamic philosophy </a:t>
            </a:r>
            <a:r>
              <a:rPr dirty="0" sz="1200">
                <a:latin typeface="Arial"/>
                <a:cs typeface="Arial"/>
              </a:rPr>
              <a:t>[</a:t>
            </a:r>
            <a:r>
              <a:rPr dirty="0" sz="1200" i="1">
                <a:latin typeface="Arial"/>
                <a:cs typeface="Arial"/>
              </a:rPr>
              <a:t>falsafah</a:t>
            </a:r>
            <a:r>
              <a:rPr dirty="0" sz="1200">
                <a:latin typeface="Arial"/>
                <a:cs typeface="Arial"/>
              </a:rPr>
              <a:t>] </a:t>
            </a:r>
            <a:r>
              <a:rPr dirty="0" sz="1200" spc="-5">
                <a:latin typeface="Arial"/>
                <a:cs typeface="Arial"/>
              </a:rPr>
              <a:t>in the classical Islamic  period. [20]</a:t>
            </a:r>
            <a:r>
              <a:rPr dirty="0" sz="1200">
                <a:latin typeface="Arial"/>
                <a:cs typeface="Arial"/>
              </a:rPr>
              <a:t> </a:t>
            </a:r>
            <a:r>
              <a:rPr dirty="0" sz="1200" spc="-5" b="1">
                <a:latin typeface="Arial"/>
                <a:cs typeface="Arial"/>
              </a:rPr>
              <a:t>(2008)</a:t>
            </a:r>
            <a:endParaRPr sz="1200">
              <a:latin typeface="Arial"/>
              <a:cs typeface="Arial"/>
            </a:endParaRPr>
          </a:p>
          <a:p>
            <a:pPr>
              <a:lnSpc>
                <a:spcPct val="100000"/>
              </a:lnSpc>
              <a:spcBef>
                <a:spcPts val="5"/>
              </a:spcBef>
              <a:buFont typeface="Arial"/>
              <a:buAutoNum type="arabicPlain" startAt="8"/>
            </a:pPr>
            <a:endParaRPr sz="1200">
              <a:latin typeface="Arial"/>
              <a:cs typeface="Arial"/>
            </a:endParaRPr>
          </a:p>
          <a:p>
            <a:pPr marL="12700" marR="12065">
              <a:lnSpc>
                <a:spcPts val="1380"/>
              </a:lnSpc>
              <a:buFont typeface="Arial"/>
              <a:buAutoNum type="arabicPlain" startAt="8"/>
              <a:tabLst>
                <a:tab pos="151765" algn="l"/>
              </a:tabLst>
            </a:pPr>
            <a:r>
              <a:rPr dirty="0" sz="1200" spc="-5">
                <a:latin typeface="Arial"/>
                <a:cs typeface="Arial"/>
              </a:rPr>
              <a:t>Explain </a:t>
            </a:r>
            <a:r>
              <a:rPr dirty="0" sz="1200" spc="-10">
                <a:latin typeface="Arial"/>
                <a:cs typeface="Arial"/>
              </a:rPr>
              <a:t>why </a:t>
            </a:r>
            <a:r>
              <a:rPr dirty="0" sz="1200">
                <a:latin typeface="Arial"/>
                <a:cs typeface="Arial"/>
              </a:rPr>
              <a:t>many </a:t>
            </a:r>
            <a:r>
              <a:rPr dirty="0" sz="1200" spc="-5">
                <a:latin typeface="Arial"/>
                <a:cs typeface="Arial"/>
              </a:rPr>
              <a:t>great theologians of Islam condemned the thinking </a:t>
            </a:r>
            <a:r>
              <a:rPr dirty="0" sz="1200">
                <a:latin typeface="Arial"/>
                <a:cs typeface="Arial"/>
              </a:rPr>
              <a:t>of </a:t>
            </a:r>
            <a:r>
              <a:rPr dirty="0" sz="1200" spc="-5">
                <a:latin typeface="Arial"/>
                <a:cs typeface="Arial"/>
              </a:rPr>
              <a:t>the philosophers  as inconsistent with </a:t>
            </a:r>
            <a:r>
              <a:rPr dirty="0" sz="1200">
                <a:latin typeface="Arial"/>
                <a:cs typeface="Arial"/>
              </a:rPr>
              <a:t>Islamic </a:t>
            </a:r>
            <a:r>
              <a:rPr dirty="0" sz="1200" spc="-5">
                <a:latin typeface="Arial"/>
                <a:cs typeface="Arial"/>
              </a:rPr>
              <a:t>teachings. [20]</a:t>
            </a:r>
            <a:r>
              <a:rPr dirty="0" sz="1200" spc="15">
                <a:latin typeface="Arial"/>
                <a:cs typeface="Arial"/>
              </a:rPr>
              <a:t> </a:t>
            </a:r>
            <a:r>
              <a:rPr dirty="0" sz="1200" spc="-5" b="1">
                <a:latin typeface="Arial"/>
                <a:cs typeface="Arial"/>
              </a:rPr>
              <a:t>(2009)</a:t>
            </a:r>
            <a:endParaRPr sz="1200">
              <a:latin typeface="Arial"/>
              <a:cs typeface="Arial"/>
            </a:endParaRPr>
          </a:p>
          <a:p>
            <a:pPr>
              <a:lnSpc>
                <a:spcPct val="100000"/>
              </a:lnSpc>
            </a:pPr>
            <a:endParaRPr sz="1200">
              <a:latin typeface="Arial"/>
              <a:cs typeface="Arial"/>
            </a:endParaRPr>
          </a:p>
          <a:p>
            <a:pPr marL="12700" marR="12065">
              <a:lnSpc>
                <a:spcPts val="1380"/>
              </a:lnSpc>
            </a:pPr>
            <a:r>
              <a:rPr dirty="0" sz="1200" spc="-5" b="1">
                <a:latin typeface="Arial"/>
                <a:cs typeface="Arial"/>
              </a:rPr>
              <a:t>9 </a:t>
            </a:r>
            <a:r>
              <a:rPr dirty="0" sz="1200" spc="-5">
                <a:latin typeface="Arial"/>
                <a:cs typeface="Arial"/>
              </a:rPr>
              <a:t>How </a:t>
            </a:r>
            <a:r>
              <a:rPr dirty="0" sz="1200">
                <a:latin typeface="Arial"/>
                <a:cs typeface="Arial"/>
              </a:rPr>
              <a:t>far </a:t>
            </a:r>
            <a:r>
              <a:rPr dirty="0" sz="1200" spc="-10">
                <a:latin typeface="Arial"/>
                <a:cs typeface="Arial"/>
              </a:rPr>
              <a:t>can </a:t>
            </a:r>
            <a:r>
              <a:rPr dirty="0" sz="1200" spc="-5">
                <a:latin typeface="Arial"/>
                <a:cs typeface="Arial"/>
              </a:rPr>
              <a:t>Islamic philosophy be accepted by Muslims as a means of explaining the truth  about God and </a:t>
            </a:r>
            <a:r>
              <a:rPr dirty="0" sz="1200">
                <a:latin typeface="Arial"/>
                <a:cs typeface="Arial"/>
              </a:rPr>
              <a:t>the </a:t>
            </a:r>
            <a:r>
              <a:rPr dirty="0" sz="1200" spc="-5">
                <a:latin typeface="Arial"/>
                <a:cs typeface="Arial"/>
              </a:rPr>
              <a:t>world? [20]</a:t>
            </a:r>
            <a:r>
              <a:rPr dirty="0" sz="1200" spc="15">
                <a:latin typeface="Arial"/>
                <a:cs typeface="Arial"/>
              </a:rPr>
              <a:t> </a:t>
            </a:r>
            <a:r>
              <a:rPr dirty="0" sz="1200" spc="-5" b="1">
                <a:latin typeface="Arial"/>
                <a:cs typeface="Arial"/>
              </a:rPr>
              <a:t>(2010)</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160</a:t>
            </a:r>
            <a:endParaRPr sz="1200">
              <a:latin typeface="Times New Roman"/>
              <a:cs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2560447" y="799592"/>
            <a:ext cx="2625090" cy="559435"/>
          </a:xfrm>
          <a:prstGeom prst="rect">
            <a:avLst/>
          </a:prstGeom>
        </p:spPr>
        <p:txBody>
          <a:bodyPr wrap="square" lIns="0" tIns="12700" rIns="0" bIns="0" rtlCol="0" vert="horz">
            <a:spAutoFit/>
          </a:bodyPr>
          <a:lstStyle/>
          <a:p>
            <a:pPr algn="ctr" marL="1905">
              <a:lnSpc>
                <a:spcPct val="100000"/>
              </a:lnSpc>
              <a:spcBef>
                <a:spcPts val="100"/>
              </a:spcBef>
            </a:pPr>
            <a:r>
              <a:rPr dirty="0" u="heavy" sz="1200" spc="-5" b="1" i="1">
                <a:uFill>
                  <a:solidFill>
                    <a:srgbClr val="000000"/>
                  </a:solidFill>
                </a:uFill>
                <a:latin typeface="Arial"/>
                <a:cs typeface="Arial"/>
              </a:rPr>
              <a:t>Paper</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2</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5" b="1" i="1">
                <a:uFill>
                  <a:solidFill>
                    <a:srgbClr val="000000"/>
                  </a:solidFill>
                </a:uFill>
                <a:latin typeface="Arial"/>
                <a:cs typeface="Arial"/>
              </a:rPr>
              <a:t>Section D: Islam </a:t>
            </a:r>
            <a:r>
              <a:rPr dirty="0" u="heavy" sz="1200" b="1" i="1">
                <a:uFill>
                  <a:solidFill>
                    <a:srgbClr val="000000"/>
                  </a:solidFill>
                </a:uFill>
                <a:latin typeface="Arial"/>
                <a:cs typeface="Arial"/>
              </a:rPr>
              <a:t>in </a:t>
            </a:r>
            <a:r>
              <a:rPr dirty="0" u="heavy" sz="1200" spc="-5" b="1" i="1">
                <a:uFill>
                  <a:solidFill>
                    <a:srgbClr val="000000"/>
                  </a:solidFill>
                </a:uFill>
                <a:latin typeface="Arial"/>
                <a:cs typeface="Arial"/>
              </a:rPr>
              <a:t>the World</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Today</a:t>
            </a:r>
            <a:endParaRPr sz="1200">
              <a:latin typeface="Arial"/>
              <a:cs typeface="Arial"/>
            </a:endParaRPr>
          </a:p>
        </p:txBody>
      </p:sp>
      <p:sp>
        <p:nvSpPr>
          <p:cNvPr id="8" name="object 8"/>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9" name="object 9"/>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161</a:t>
            </a:r>
            <a:endParaRPr sz="1200">
              <a:latin typeface="Times New Roman"/>
              <a:cs typeface="Times New Roman"/>
            </a:endParaRPr>
          </a:p>
        </p:txBody>
      </p:sp>
      <p:sp>
        <p:nvSpPr>
          <p:cNvPr id="6" name="object 6"/>
          <p:cNvSpPr txBox="1"/>
          <p:nvPr/>
        </p:nvSpPr>
        <p:spPr>
          <a:xfrm>
            <a:off x="662940" y="1704085"/>
            <a:ext cx="6259195"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Intellectual Movement</a:t>
            </a:r>
            <a:endParaRPr sz="1200">
              <a:latin typeface="Arial"/>
              <a:cs typeface="Arial"/>
            </a:endParaRPr>
          </a:p>
        </p:txBody>
      </p:sp>
      <p:sp>
        <p:nvSpPr>
          <p:cNvPr id="7" name="object 7"/>
          <p:cNvSpPr txBox="1"/>
          <p:nvPr/>
        </p:nvSpPr>
        <p:spPr>
          <a:xfrm>
            <a:off x="670051" y="2038857"/>
            <a:ext cx="6359525" cy="7744459"/>
          </a:xfrm>
          <a:prstGeom prst="rect">
            <a:avLst/>
          </a:prstGeom>
        </p:spPr>
        <p:txBody>
          <a:bodyPr wrap="square" lIns="0" tIns="24765" rIns="0" bIns="0" rtlCol="0" vert="horz">
            <a:spAutoFit/>
          </a:bodyPr>
          <a:lstStyle/>
          <a:p>
            <a:pPr algn="just" marL="60960" marR="9525">
              <a:lnSpc>
                <a:spcPts val="1380"/>
              </a:lnSpc>
              <a:spcBef>
                <a:spcPts val="195"/>
              </a:spcBef>
            </a:pPr>
            <a:r>
              <a:rPr dirty="0" sz="1200">
                <a:latin typeface="Arial"/>
                <a:cs typeface="Arial"/>
              </a:rPr>
              <a:t>With the </a:t>
            </a:r>
            <a:r>
              <a:rPr dirty="0" sz="1200" spc="-5">
                <a:latin typeface="Arial"/>
                <a:cs typeface="Arial"/>
              </a:rPr>
              <a:t>ability </a:t>
            </a:r>
            <a:r>
              <a:rPr dirty="0" sz="1200">
                <a:latin typeface="Arial"/>
                <a:cs typeface="Arial"/>
              </a:rPr>
              <a:t>to </a:t>
            </a:r>
            <a:r>
              <a:rPr dirty="0" sz="1200" spc="-5">
                <a:latin typeface="Arial"/>
                <a:cs typeface="Arial"/>
              </a:rPr>
              <a:t>think and </a:t>
            </a:r>
            <a:r>
              <a:rPr dirty="0" sz="1200">
                <a:latin typeface="Arial"/>
                <a:cs typeface="Arial"/>
              </a:rPr>
              <a:t>reflect </a:t>
            </a:r>
            <a:r>
              <a:rPr dirty="0" sz="1200" spc="-5">
                <a:latin typeface="Arial"/>
                <a:cs typeface="Arial"/>
              </a:rPr>
              <a:t>there has been the emergence of many groups and  thoughts in the course of Islamic history. The following will enlighten us </a:t>
            </a:r>
            <a:r>
              <a:rPr dirty="0" sz="1200" spc="-10">
                <a:latin typeface="Arial"/>
                <a:cs typeface="Arial"/>
              </a:rPr>
              <a:t>on </a:t>
            </a:r>
            <a:r>
              <a:rPr dirty="0" sz="1200" spc="-5">
                <a:latin typeface="Arial"/>
                <a:cs typeface="Arial"/>
              </a:rPr>
              <a:t>some of these  intellectual thoughts.</a:t>
            </a:r>
            <a:endParaRPr sz="1200">
              <a:latin typeface="Arial"/>
              <a:cs typeface="Arial"/>
            </a:endParaRPr>
          </a:p>
          <a:p>
            <a:pPr>
              <a:lnSpc>
                <a:spcPct val="100000"/>
              </a:lnSpc>
              <a:spcBef>
                <a:spcPts val="20"/>
              </a:spcBef>
            </a:pPr>
            <a:endParaRPr sz="1100">
              <a:latin typeface="Arial"/>
              <a:cs typeface="Arial"/>
            </a:endParaRPr>
          </a:p>
          <a:p>
            <a:pPr marL="290195">
              <a:lnSpc>
                <a:spcPct val="100000"/>
              </a:lnSpc>
            </a:pPr>
            <a:r>
              <a:rPr dirty="0" sz="1200" spc="-5" b="1" i="1">
                <a:latin typeface="Arial"/>
                <a:cs typeface="Arial"/>
              </a:rPr>
              <a:t>1.</a:t>
            </a:r>
            <a:r>
              <a:rPr dirty="0" sz="1200" spc="125" b="1" i="1">
                <a:latin typeface="Arial"/>
                <a:cs typeface="Arial"/>
              </a:rPr>
              <a:t> </a:t>
            </a:r>
            <a:r>
              <a:rPr dirty="0" u="heavy" sz="1200" spc="-5" b="1" i="1">
                <a:uFill>
                  <a:solidFill>
                    <a:srgbClr val="000000"/>
                  </a:solidFill>
                </a:uFill>
                <a:latin typeface="Arial"/>
                <a:cs typeface="Arial"/>
              </a:rPr>
              <a:t>Salafis</a:t>
            </a:r>
            <a:endParaRPr sz="1200">
              <a:latin typeface="Arial"/>
              <a:cs typeface="Arial"/>
            </a:endParaRPr>
          </a:p>
          <a:p>
            <a:pPr>
              <a:lnSpc>
                <a:spcPct val="100000"/>
              </a:lnSpc>
              <a:spcBef>
                <a:spcPts val="55"/>
              </a:spcBef>
            </a:pPr>
            <a:endParaRPr sz="1150">
              <a:latin typeface="Arial"/>
              <a:cs typeface="Arial"/>
            </a:endParaRPr>
          </a:p>
          <a:p>
            <a:pPr algn="just" marL="60960" marR="5715">
              <a:lnSpc>
                <a:spcPct val="95900"/>
              </a:lnSpc>
            </a:pPr>
            <a:r>
              <a:rPr dirty="0" sz="1200" spc="-5">
                <a:latin typeface="Arial"/>
                <a:cs typeface="Arial"/>
              </a:rPr>
              <a:t>The word </a:t>
            </a:r>
            <a:r>
              <a:rPr dirty="0" sz="1200">
                <a:latin typeface="Arial"/>
                <a:cs typeface="Arial"/>
              </a:rPr>
              <a:t>salafi </a:t>
            </a:r>
            <a:r>
              <a:rPr dirty="0" sz="1200" spc="-5">
                <a:latin typeface="Arial"/>
                <a:cs typeface="Arial"/>
              </a:rPr>
              <a:t>or "early Muslim" in traditional </a:t>
            </a:r>
            <a:r>
              <a:rPr dirty="0" sz="1200">
                <a:latin typeface="Arial"/>
                <a:cs typeface="Arial"/>
              </a:rPr>
              <a:t>Islamic </a:t>
            </a:r>
            <a:r>
              <a:rPr dirty="0" sz="1200" spc="-5">
                <a:latin typeface="Arial"/>
                <a:cs typeface="Arial"/>
              </a:rPr>
              <a:t>scholarship means </a:t>
            </a:r>
            <a:r>
              <a:rPr dirty="0" sz="1200">
                <a:latin typeface="Arial"/>
                <a:cs typeface="Arial"/>
              </a:rPr>
              <a:t>someone </a:t>
            </a:r>
            <a:r>
              <a:rPr dirty="0" sz="1200" spc="-10">
                <a:latin typeface="Arial"/>
                <a:cs typeface="Arial"/>
              </a:rPr>
              <a:t>who </a:t>
            </a:r>
            <a:r>
              <a:rPr dirty="0" sz="1200" spc="-5">
                <a:latin typeface="Arial"/>
                <a:cs typeface="Arial"/>
              </a:rPr>
              <a:t>died  within </a:t>
            </a:r>
            <a:r>
              <a:rPr dirty="0" sz="1200">
                <a:latin typeface="Arial"/>
                <a:cs typeface="Arial"/>
              </a:rPr>
              <a:t>the first four </a:t>
            </a:r>
            <a:r>
              <a:rPr dirty="0" sz="1200" spc="-5">
                <a:latin typeface="Arial"/>
                <a:cs typeface="Arial"/>
              </a:rPr>
              <a:t>hundred years after the Prophet (Allah bless him and </a:t>
            </a:r>
            <a:r>
              <a:rPr dirty="0" sz="1200" spc="-10">
                <a:latin typeface="Arial"/>
                <a:cs typeface="Arial"/>
              </a:rPr>
              <a:t>give </a:t>
            </a:r>
            <a:r>
              <a:rPr dirty="0" sz="1200" spc="-5">
                <a:latin typeface="Arial"/>
                <a:cs typeface="Arial"/>
              </a:rPr>
              <a:t>him peace),  including scholars such as Abu Hanifa, Malik, Shafi‘I, and Ahmad ibn Hanbal. Anyone </a:t>
            </a:r>
            <a:r>
              <a:rPr dirty="0" sz="1200" spc="-10">
                <a:latin typeface="Arial"/>
                <a:cs typeface="Arial"/>
              </a:rPr>
              <a:t>who  </a:t>
            </a:r>
            <a:r>
              <a:rPr dirty="0" sz="1200" spc="-5">
                <a:latin typeface="Arial"/>
                <a:cs typeface="Arial"/>
              </a:rPr>
              <a:t>died after this is one of </a:t>
            </a:r>
            <a:r>
              <a:rPr dirty="0" sz="1200">
                <a:latin typeface="Arial"/>
                <a:cs typeface="Arial"/>
              </a:rPr>
              <a:t>the </a:t>
            </a:r>
            <a:r>
              <a:rPr dirty="0" sz="1200" spc="-5" i="1">
                <a:latin typeface="Arial"/>
                <a:cs typeface="Arial"/>
              </a:rPr>
              <a:t>khalaf </a:t>
            </a:r>
            <a:r>
              <a:rPr dirty="0" sz="1200" spc="-5">
                <a:latin typeface="Arial"/>
                <a:cs typeface="Arial"/>
              </a:rPr>
              <a:t>or "latter-day Muslims". </a:t>
            </a:r>
            <a:r>
              <a:rPr dirty="0" sz="1200">
                <a:latin typeface="Arial"/>
                <a:cs typeface="Arial"/>
              </a:rPr>
              <a:t>The </a:t>
            </a:r>
            <a:r>
              <a:rPr dirty="0" sz="1200" spc="-5">
                <a:latin typeface="Arial"/>
                <a:cs typeface="Arial"/>
              </a:rPr>
              <a:t>term "Salafi" </a:t>
            </a:r>
            <a:r>
              <a:rPr dirty="0" sz="1200" spc="-10">
                <a:latin typeface="Arial"/>
                <a:cs typeface="Arial"/>
              </a:rPr>
              <a:t>was </a:t>
            </a:r>
            <a:r>
              <a:rPr dirty="0" sz="1200" spc="-5">
                <a:latin typeface="Arial"/>
                <a:cs typeface="Arial"/>
              </a:rPr>
              <a:t>revived as a  slogan </a:t>
            </a:r>
            <a:r>
              <a:rPr dirty="0" sz="1200">
                <a:latin typeface="Arial"/>
                <a:cs typeface="Arial"/>
              </a:rPr>
              <a:t>and </a:t>
            </a:r>
            <a:r>
              <a:rPr dirty="0" sz="1200" spc="-5">
                <a:latin typeface="Arial"/>
                <a:cs typeface="Arial"/>
              </a:rPr>
              <a:t>movement, among </a:t>
            </a:r>
            <a:r>
              <a:rPr dirty="0" sz="1200">
                <a:latin typeface="Arial"/>
                <a:cs typeface="Arial"/>
              </a:rPr>
              <a:t>latter-day Muslims, </a:t>
            </a:r>
            <a:r>
              <a:rPr dirty="0" sz="1200" spc="-5">
                <a:latin typeface="Arial"/>
                <a:cs typeface="Arial"/>
              </a:rPr>
              <a:t>by the followers </a:t>
            </a:r>
            <a:r>
              <a:rPr dirty="0" sz="1200">
                <a:latin typeface="Arial"/>
                <a:cs typeface="Arial"/>
              </a:rPr>
              <a:t>of </a:t>
            </a:r>
            <a:r>
              <a:rPr dirty="0" sz="1200" spc="-5">
                <a:latin typeface="Arial"/>
                <a:cs typeface="Arial"/>
              </a:rPr>
              <a:t>Muhammad Abduh </a:t>
            </a:r>
            <a:r>
              <a:rPr dirty="0" sz="1200" spc="-10">
                <a:latin typeface="Arial"/>
                <a:cs typeface="Arial"/>
              </a:rPr>
              <a:t>(the  </a:t>
            </a:r>
            <a:r>
              <a:rPr dirty="0" sz="1200" spc="-5">
                <a:latin typeface="Arial"/>
                <a:cs typeface="Arial"/>
              </a:rPr>
              <a:t>student of Jamal al-Din al-Afghani) some thirteen centuries after the Prophet (Allah </a:t>
            </a:r>
            <a:r>
              <a:rPr dirty="0" sz="1200">
                <a:latin typeface="Arial"/>
                <a:cs typeface="Arial"/>
              </a:rPr>
              <a:t>bless </a:t>
            </a:r>
            <a:r>
              <a:rPr dirty="0" sz="1200" spc="-10">
                <a:latin typeface="Arial"/>
                <a:cs typeface="Arial"/>
              </a:rPr>
              <a:t>him  </a:t>
            </a:r>
            <a:r>
              <a:rPr dirty="0" sz="1200" spc="-5">
                <a:latin typeface="Arial"/>
                <a:cs typeface="Arial"/>
              </a:rPr>
              <a:t>and </a:t>
            </a:r>
            <a:r>
              <a:rPr dirty="0" sz="1200" spc="-10">
                <a:latin typeface="Arial"/>
                <a:cs typeface="Arial"/>
              </a:rPr>
              <a:t>give </a:t>
            </a:r>
            <a:r>
              <a:rPr dirty="0" sz="1200">
                <a:latin typeface="Arial"/>
                <a:cs typeface="Arial"/>
              </a:rPr>
              <a:t>him </a:t>
            </a:r>
            <a:r>
              <a:rPr dirty="0" sz="1200" spc="-5">
                <a:latin typeface="Arial"/>
                <a:cs typeface="Arial"/>
              </a:rPr>
              <a:t>peace), approximately a </a:t>
            </a:r>
            <a:r>
              <a:rPr dirty="0" sz="1200">
                <a:latin typeface="Arial"/>
                <a:cs typeface="Arial"/>
              </a:rPr>
              <a:t>hundred </a:t>
            </a:r>
            <a:r>
              <a:rPr dirty="0" sz="1200" spc="-5">
                <a:latin typeface="Arial"/>
                <a:cs typeface="Arial"/>
              </a:rPr>
              <a:t>years</a:t>
            </a:r>
            <a:r>
              <a:rPr dirty="0" sz="1200" spc="15">
                <a:latin typeface="Arial"/>
                <a:cs typeface="Arial"/>
              </a:rPr>
              <a:t> </a:t>
            </a:r>
            <a:r>
              <a:rPr dirty="0" sz="1200">
                <a:latin typeface="Arial"/>
                <a:cs typeface="Arial"/>
              </a:rPr>
              <a:t>ago.</a:t>
            </a:r>
            <a:endParaRPr sz="1200">
              <a:latin typeface="Arial"/>
              <a:cs typeface="Arial"/>
            </a:endParaRPr>
          </a:p>
          <a:p>
            <a:pPr>
              <a:lnSpc>
                <a:spcPct val="100000"/>
              </a:lnSpc>
              <a:spcBef>
                <a:spcPts val="35"/>
              </a:spcBef>
            </a:pPr>
            <a:endParaRPr sz="1200">
              <a:latin typeface="Arial"/>
              <a:cs typeface="Arial"/>
            </a:endParaRPr>
          </a:p>
          <a:p>
            <a:pPr algn="just" marL="60960" marR="5715">
              <a:lnSpc>
                <a:spcPts val="1380"/>
              </a:lnSpc>
            </a:pPr>
            <a:r>
              <a:rPr dirty="0" sz="1200" spc="-5">
                <a:latin typeface="Arial"/>
                <a:cs typeface="Arial"/>
              </a:rPr>
              <a:t>The </a:t>
            </a:r>
            <a:r>
              <a:rPr dirty="0" sz="1200">
                <a:latin typeface="Arial"/>
                <a:cs typeface="Arial"/>
              </a:rPr>
              <a:t>term </a:t>
            </a:r>
            <a:r>
              <a:rPr dirty="0" sz="1200" spc="-5">
                <a:latin typeface="Arial"/>
                <a:cs typeface="Arial"/>
              </a:rPr>
              <a:t>"Salafi" </a:t>
            </a:r>
            <a:r>
              <a:rPr dirty="0" sz="1200" spc="-10">
                <a:latin typeface="Arial"/>
                <a:cs typeface="Arial"/>
              </a:rPr>
              <a:t>was </a:t>
            </a:r>
            <a:r>
              <a:rPr dirty="0" sz="1200" spc="-5">
                <a:latin typeface="Arial"/>
                <a:cs typeface="Arial"/>
              </a:rPr>
              <a:t>revived as a slogan and movement, among </a:t>
            </a:r>
            <a:r>
              <a:rPr dirty="0" sz="1200">
                <a:latin typeface="Arial"/>
                <a:cs typeface="Arial"/>
              </a:rPr>
              <a:t>latter-day </a:t>
            </a:r>
            <a:r>
              <a:rPr dirty="0" sz="1200" spc="-5">
                <a:latin typeface="Arial"/>
                <a:cs typeface="Arial"/>
              </a:rPr>
              <a:t>Muslims, by </a:t>
            </a:r>
            <a:r>
              <a:rPr dirty="0" sz="1200">
                <a:latin typeface="Arial"/>
                <a:cs typeface="Arial"/>
              </a:rPr>
              <a:t>the  </a:t>
            </a:r>
            <a:r>
              <a:rPr dirty="0" sz="1200" spc="-5">
                <a:latin typeface="Arial"/>
                <a:cs typeface="Arial"/>
              </a:rPr>
              <a:t>followers </a:t>
            </a:r>
            <a:r>
              <a:rPr dirty="0" sz="1200">
                <a:latin typeface="Arial"/>
                <a:cs typeface="Arial"/>
              </a:rPr>
              <a:t>of </a:t>
            </a:r>
            <a:r>
              <a:rPr dirty="0" sz="1200" spc="-5">
                <a:latin typeface="Arial"/>
                <a:cs typeface="Arial"/>
              </a:rPr>
              <a:t>Muhammad Abduh (the student of Jamal </a:t>
            </a:r>
            <a:r>
              <a:rPr dirty="0" sz="1200">
                <a:latin typeface="Arial"/>
                <a:cs typeface="Arial"/>
              </a:rPr>
              <a:t>al-Din </a:t>
            </a:r>
            <a:r>
              <a:rPr dirty="0" sz="1200" spc="-5">
                <a:latin typeface="Arial"/>
                <a:cs typeface="Arial"/>
              </a:rPr>
              <a:t>al-Afghani) some thirteen  centuries after the Prophet (Allah bless him and </a:t>
            </a:r>
            <a:r>
              <a:rPr dirty="0" sz="1200" spc="-10">
                <a:latin typeface="Arial"/>
                <a:cs typeface="Arial"/>
              </a:rPr>
              <a:t>give </a:t>
            </a:r>
            <a:r>
              <a:rPr dirty="0" sz="1200" spc="-5">
                <a:latin typeface="Arial"/>
                <a:cs typeface="Arial"/>
              </a:rPr>
              <a:t>him peace), approximately a hundred  years ago</a:t>
            </a:r>
            <a:endParaRPr sz="1200">
              <a:latin typeface="Arial"/>
              <a:cs typeface="Arial"/>
            </a:endParaRPr>
          </a:p>
          <a:p>
            <a:pPr>
              <a:lnSpc>
                <a:spcPct val="100000"/>
              </a:lnSpc>
              <a:spcBef>
                <a:spcPts val="20"/>
              </a:spcBef>
            </a:pPr>
            <a:endParaRPr sz="1100">
              <a:latin typeface="Arial"/>
              <a:cs typeface="Arial"/>
            </a:endParaRPr>
          </a:p>
          <a:p>
            <a:pPr marL="241300" indent="-229235">
              <a:lnSpc>
                <a:spcPct val="100000"/>
              </a:lnSpc>
              <a:buFont typeface="Wingdings"/>
              <a:buChar char=""/>
              <a:tabLst>
                <a:tab pos="241935" algn="l"/>
              </a:tabLst>
            </a:pPr>
            <a:r>
              <a:rPr dirty="0" u="heavy" sz="1200" spc="-5" b="1" i="1">
                <a:uFill>
                  <a:solidFill>
                    <a:srgbClr val="000000"/>
                  </a:solidFill>
                </a:uFill>
                <a:latin typeface="Arial"/>
                <a:cs typeface="Arial"/>
              </a:rPr>
              <a:t>Present-day</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Salafi</a:t>
            </a:r>
            <a:endParaRPr sz="1200">
              <a:latin typeface="Arial"/>
              <a:cs typeface="Arial"/>
            </a:endParaRPr>
          </a:p>
          <a:p>
            <a:pPr>
              <a:lnSpc>
                <a:spcPct val="100000"/>
              </a:lnSpc>
              <a:buFont typeface="Wingdings"/>
              <a:buChar char=""/>
            </a:pPr>
            <a:endParaRPr sz="1150">
              <a:latin typeface="Arial"/>
              <a:cs typeface="Arial"/>
            </a:endParaRPr>
          </a:p>
          <a:p>
            <a:pPr lvl="1" marL="518795" indent="-229235">
              <a:lnSpc>
                <a:spcPts val="1410"/>
              </a:lnSpc>
              <a:buAutoNum type="alphaLcPeriod"/>
              <a:tabLst>
                <a:tab pos="519430" algn="l"/>
              </a:tabLst>
            </a:pPr>
            <a:r>
              <a:rPr dirty="0" sz="1200">
                <a:latin typeface="Arial"/>
                <a:cs typeface="Arial"/>
              </a:rPr>
              <a:t>- Ibn </a:t>
            </a:r>
            <a:r>
              <a:rPr dirty="0" sz="1200" spc="-5">
                <a:latin typeface="Arial"/>
                <a:cs typeface="Arial"/>
              </a:rPr>
              <a:t>Taymiyya </a:t>
            </a:r>
            <a:r>
              <a:rPr dirty="0" sz="1200">
                <a:latin typeface="Arial"/>
                <a:cs typeface="Arial"/>
              </a:rPr>
              <a:t>and his </a:t>
            </a:r>
            <a:r>
              <a:rPr dirty="0" sz="1200" spc="-5">
                <a:latin typeface="Arial"/>
                <a:cs typeface="Arial"/>
              </a:rPr>
              <a:t>student </a:t>
            </a:r>
            <a:r>
              <a:rPr dirty="0" sz="1200">
                <a:latin typeface="Arial"/>
                <a:cs typeface="Arial"/>
              </a:rPr>
              <a:t>Ibn</a:t>
            </a:r>
            <a:r>
              <a:rPr dirty="0" sz="1200" spc="-60">
                <a:latin typeface="Arial"/>
                <a:cs typeface="Arial"/>
              </a:rPr>
              <a:t> </a:t>
            </a:r>
            <a:r>
              <a:rPr dirty="0" sz="1200" spc="-5">
                <a:latin typeface="Arial"/>
                <a:cs typeface="Arial"/>
              </a:rPr>
              <a:t>al-Qayyim</a:t>
            </a:r>
            <a:endParaRPr sz="1200">
              <a:latin typeface="Arial"/>
              <a:cs typeface="Arial"/>
            </a:endParaRPr>
          </a:p>
          <a:p>
            <a:pPr lvl="1" marL="518795" indent="-229235">
              <a:lnSpc>
                <a:spcPts val="1380"/>
              </a:lnSpc>
              <a:buAutoNum type="alphaLcPeriod"/>
              <a:tabLst>
                <a:tab pos="519430" algn="l"/>
              </a:tabLst>
            </a:pPr>
            <a:r>
              <a:rPr dirty="0" sz="1200">
                <a:latin typeface="Arial"/>
                <a:cs typeface="Arial"/>
              </a:rPr>
              <a:t>- Ibn </a:t>
            </a:r>
            <a:r>
              <a:rPr dirty="0" sz="1200" spc="-5">
                <a:latin typeface="Arial"/>
                <a:cs typeface="Arial"/>
              </a:rPr>
              <a:t>`Abd al-Wahhab and his Najdi</a:t>
            </a:r>
            <a:r>
              <a:rPr dirty="0" sz="1200" spc="5">
                <a:latin typeface="Arial"/>
                <a:cs typeface="Arial"/>
              </a:rPr>
              <a:t> </a:t>
            </a:r>
            <a:r>
              <a:rPr dirty="0" sz="1200" spc="-5">
                <a:latin typeface="Arial"/>
                <a:cs typeface="Arial"/>
              </a:rPr>
              <a:t>epigones</a:t>
            </a:r>
            <a:endParaRPr sz="1200">
              <a:latin typeface="Arial"/>
              <a:cs typeface="Arial"/>
            </a:endParaRPr>
          </a:p>
          <a:p>
            <a:pPr lvl="1" marL="518795" indent="-229235">
              <a:lnSpc>
                <a:spcPts val="1410"/>
              </a:lnSpc>
              <a:buAutoNum type="alphaLcPeriod"/>
              <a:tabLst>
                <a:tab pos="519430" algn="l"/>
              </a:tabLst>
            </a:pPr>
            <a:r>
              <a:rPr dirty="0" sz="1200">
                <a:latin typeface="Arial"/>
                <a:cs typeface="Arial"/>
              </a:rPr>
              <a:t>- </a:t>
            </a:r>
            <a:r>
              <a:rPr dirty="0" sz="1200" spc="-5">
                <a:latin typeface="Arial"/>
                <a:cs typeface="Arial"/>
              </a:rPr>
              <a:t>Bin Baz, Uthaymin, Albani, and </a:t>
            </a:r>
            <a:r>
              <a:rPr dirty="0" sz="1200">
                <a:latin typeface="Arial"/>
                <a:cs typeface="Arial"/>
              </a:rPr>
              <a:t>their</a:t>
            </a:r>
            <a:r>
              <a:rPr dirty="0" sz="1200" spc="-20">
                <a:latin typeface="Arial"/>
                <a:cs typeface="Arial"/>
              </a:rPr>
              <a:t> </a:t>
            </a:r>
            <a:r>
              <a:rPr dirty="0" sz="1200" spc="-5">
                <a:latin typeface="Arial"/>
                <a:cs typeface="Arial"/>
              </a:rPr>
              <a:t>propagandists</a:t>
            </a:r>
            <a:endParaRPr sz="1200">
              <a:latin typeface="Arial"/>
              <a:cs typeface="Arial"/>
            </a:endParaRPr>
          </a:p>
          <a:p>
            <a:pPr>
              <a:lnSpc>
                <a:spcPct val="100000"/>
              </a:lnSpc>
              <a:spcBef>
                <a:spcPts val="40"/>
              </a:spcBef>
            </a:pPr>
            <a:endParaRPr sz="1150">
              <a:latin typeface="Arial"/>
              <a:cs typeface="Arial"/>
            </a:endParaRPr>
          </a:p>
          <a:p>
            <a:pPr algn="just" marL="60960" marR="5080">
              <a:lnSpc>
                <a:spcPct val="96000"/>
              </a:lnSpc>
              <a:spcBef>
                <a:spcPts val="5"/>
              </a:spcBef>
            </a:pPr>
            <a:r>
              <a:rPr dirty="0" sz="1200" spc="-5">
                <a:latin typeface="Arial"/>
                <a:cs typeface="Arial"/>
              </a:rPr>
              <a:t>The Sunnis disagree with </a:t>
            </a:r>
            <a:r>
              <a:rPr dirty="0" sz="1200">
                <a:latin typeface="Arial"/>
                <a:cs typeface="Arial"/>
              </a:rPr>
              <a:t>them </a:t>
            </a:r>
            <a:r>
              <a:rPr dirty="0" sz="1200" spc="-5">
                <a:latin typeface="Arial"/>
                <a:cs typeface="Arial"/>
              </a:rPr>
              <a:t>because neither do these </a:t>
            </a:r>
            <a:r>
              <a:rPr dirty="0" sz="1200" spc="5">
                <a:latin typeface="Arial"/>
                <a:cs typeface="Arial"/>
              </a:rPr>
              <a:t>belong </a:t>
            </a:r>
            <a:r>
              <a:rPr dirty="0" sz="1200">
                <a:latin typeface="Arial"/>
                <a:cs typeface="Arial"/>
              </a:rPr>
              <a:t>to the time </a:t>
            </a:r>
            <a:r>
              <a:rPr dirty="0" sz="1200" spc="-5">
                <a:latin typeface="Arial"/>
                <a:cs typeface="Arial"/>
              </a:rPr>
              <a:t>of the </a:t>
            </a:r>
            <a:r>
              <a:rPr dirty="0" sz="1200" spc="-5" i="1">
                <a:latin typeface="Arial"/>
                <a:cs typeface="Arial"/>
              </a:rPr>
              <a:t>Salaf</a:t>
            </a:r>
            <a:r>
              <a:rPr dirty="0" sz="1200" spc="-5">
                <a:latin typeface="Arial"/>
                <a:cs typeface="Arial"/>
              </a:rPr>
              <a:t>, nor  are </a:t>
            </a:r>
            <a:r>
              <a:rPr dirty="0" sz="1200">
                <a:latin typeface="Arial"/>
                <a:cs typeface="Arial"/>
              </a:rPr>
              <a:t>they </a:t>
            </a:r>
            <a:r>
              <a:rPr dirty="0" sz="1200" spc="-5">
                <a:latin typeface="Arial"/>
                <a:cs typeface="Arial"/>
              </a:rPr>
              <a:t>considered representative of the belief and practice of </a:t>
            </a:r>
            <a:r>
              <a:rPr dirty="0" sz="1200">
                <a:latin typeface="Arial"/>
                <a:cs typeface="Arial"/>
              </a:rPr>
              <a:t>the </a:t>
            </a:r>
            <a:r>
              <a:rPr dirty="0" sz="1200" spc="-5" i="1">
                <a:latin typeface="Arial"/>
                <a:cs typeface="Arial"/>
              </a:rPr>
              <a:t>Salaf</a:t>
            </a:r>
            <a:r>
              <a:rPr dirty="0" sz="1200" spc="-5">
                <a:latin typeface="Arial"/>
                <a:cs typeface="Arial"/>
              </a:rPr>
              <a:t>, nor are they  considered foremost authorities by </a:t>
            </a:r>
            <a:r>
              <a:rPr dirty="0" sz="1200" spc="-5" i="1">
                <a:latin typeface="Arial"/>
                <a:cs typeface="Arial"/>
              </a:rPr>
              <a:t>Ahl al-Sunna</a:t>
            </a:r>
            <a:r>
              <a:rPr dirty="0" sz="1200" spc="-5">
                <a:latin typeface="Arial"/>
                <a:cs typeface="Arial"/>
              </a:rPr>
              <a:t>. In fact </a:t>
            </a:r>
            <a:r>
              <a:rPr dirty="0" sz="1200">
                <a:latin typeface="Arial"/>
                <a:cs typeface="Arial"/>
              </a:rPr>
              <a:t>the </a:t>
            </a:r>
            <a:r>
              <a:rPr dirty="0" sz="1200" spc="-5">
                <a:latin typeface="Arial"/>
                <a:cs typeface="Arial"/>
              </a:rPr>
              <a:t>condemnation of the </a:t>
            </a:r>
            <a:r>
              <a:rPr dirty="0" sz="1200">
                <a:latin typeface="Arial"/>
                <a:cs typeface="Arial"/>
              </a:rPr>
              <a:t>first </a:t>
            </a:r>
            <a:r>
              <a:rPr dirty="0" sz="1200" spc="-5">
                <a:latin typeface="Arial"/>
                <a:cs typeface="Arial"/>
              </a:rPr>
              <a:t>three  by </a:t>
            </a:r>
            <a:r>
              <a:rPr dirty="0" sz="1200">
                <a:latin typeface="Arial"/>
                <a:cs typeface="Arial"/>
              </a:rPr>
              <a:t>many </a:t>
            </a:r>
            <a:r>
              <a:rPr dirty="0" sz="1200" spc="-5">
                <a:latin typeface="Arial"/>
                <a:cs typeface="Arial"/>
              </a:rPr>
              <a:t>scholars is well-known, as are the innovations and blunders of the latter. </a:t>
            </a:r>
            <a:r>
              <a:rPr dirty="0" sz="1200">
                <a:latin typeface="Arial"/>
                <a:cs typeface="Arial"/>
              </a:rPr>
              <a:t>It </a:t>
            </a:r>
            <a:r>
              <a:rPr dirty="0" sz="1200" spc="-5">
                <a:latin typeface="Arial"/>
                <a:cs typeface="Arial"/>
              </a:rPr>
              <a:t>is  interesting </a:t>
            </a:r>
            <a:r>
              <a:rPr dirty="0" sz="1200">
                <a:latin typeface="Arial"/>
                <a:cs typeface="Arial"/>
              </a:rPr>
              <a:t>to </a:t>
            </a:r>
            <a:r>
              <a:rPr dirty="0" sz="1200" spc="-5">
                <a:latin typeface="Arial"/>
                <a:cs typeface="Arial"/>
              </a:rPr>
              <a:t>note that al-Dhahabi, </a:t>
            </a:r>
            <a:r>
              <a:rPr dirty="0" sz="1200" spc="-10">
                <a:latin typeface="Arial"/>
                <a:cs typeface="Arial"/>
              </a:rPr>
              <a:t>who </a:t>
            </a:r>
            <a:r>
              <a:rPr dirty="0" sz="1200" spc="-5">
                <a:latin typeface="Arial"/>
                <a:cs typeface="Arial"/>
              </a:rPr>
              <a:t>is listed by the "Salafis" alongside Ibn Taymiyya has  himself characterized Ibn Taymiyya </a:t>
            </a:r>
            <a:r>
              <a:rPr dirty="0" sz="1200">
                <a:latin typeface="Arial"/>
                <a:cs typeface="Arial"/>
              </a:rPr>
              <a:t>as an </a:t>
            </a:r>
            <a:r>
              <a:rPr dirty="0" sz="1200" spc="-5">
                <a:latin typeface="Arial"/>
                <a:cs typeface="Arial"/>
              </a:rPr>
              <a:t>innovator. His </a:t>
            </a:r>
            <a:r>
              <a:rPr dirty="0" sz="1200">
                <a:latin typeface="Arial"/>
                <a:cs typeface="Arial"/>
              </a:rPr>
              <a:t>precise </a:t>
            </a:r>
            <a:r>
              <a:rPr dirty="0" sz="1200" spc="-5">
                <a:latin typeface="Arial"/>
                <a:cs typeface="Arial"/>
              </a:rPr>
              <a:t>words</a:t>
            </a:r>
            <a:r>
              <a:rPr dirty="0" sz="1200" spc="35">
                <a:latin typeface="Arial"/>
                <a:cs typeface="Arial"/>
              </a:rPr>
              <a:t> </a:t>
            </a:r>
            <a:r>
              <a:rPr dirty="0" sz="1200" spc="-5">
                <a:latin typeface="Arial"/>
                <a:cs typeface="Arial"/>
              </a:rPr>
              <a:t>were:</a:t>
            </a:r>
            <a:endParaRPr sz="1200">
              <a:latin typeface="Arial"/>
              <a:cs typeface="Arial"/>
            </a:endParaRPr>
          </a:p>
          <a:p>
            <a:pPr>
              <a:lnSpc>
                <a:spcPct val="100000"/>
              </a:lnSpc>
              <a:spcBef>
                <a:spcPts val="45"/>
              </a:spcBef>
            </a:pPr>
            <a:endParaRPr sz="1200">
              <a:latin typeface="Arial"/>
              <a:cs typeface="Arial"/>
            </a:endParaRPr>
          </a:p>
          <a:p>
            <a:pPr algn="just" marL="60960" marR="8255">
              <a:lnSpc>
                <a:spcPts val="1370"/>
              </a:lnSpc>
            </a:pPr>
            <a:r>
              <a:rPr dirty="0" sz="1200" spc="-275">
                <a:latin typeface="Arial"/>
                <a:cs typeface="Arial"/>
              </a:rPr>
              <a:t>―He </a:t>
            </a:r>
            <a:r>
              <a:rPr dirty="0" sz="1200">
                <a:latin typeface="Arial"/>
                <a:cs typeface="Arial"/>
              </a:rPr>
              <a:t>[Ibn </a:t>
            </a:r>
            <a:r>
              <a:rPr dirty="0" sz="1200" spc="-5">
                <a:latin typeface="Arial"/>
                <a:cs typeface="Arial"/>
              </a:rPr>
              <a:t>Taymiyya] </a:t>
            </a:r>
            <a:r>
              <a:rPr dirty="0" sz="1200">
                <a:latin typeface="Arial"/>
                <a:cs typeface="Arial"/>
              </a:rPr>
              <a:t>was a virtuous </a:t>
            </a:r>
            <a:r>
              <a:rPr dirty="0" sz="1200" spc="-5">
                <a:latin typeface="Arial"/>
                <a:cs typeface="Arial"/>
              </a:rPr>
              <a:t>and outstanding scholar, very </a:t>
            </a:r>
            <a:r>
              <a:rPr dirty="0" sz="1200">
                <a:latin typeface="Arial"/>
                <a:cs typeface="Arial"/>
              </a:rPr>
              <a:t>accurate </a:t>
            </a:r>
            <a:r>
              <a:rPr dirty="0" sz="1200" spc="-5">
                <a:latin typeface="Arial"/>
                <a:cs typeface="Arial"/>
              </a:rPr>
              <a:t>and meticulous </a:t>
            </a:r>
            <a:r>
              <a:rPr dirty="0" sz="1200" spc="-10">
                <a:latin typeface="Arial"/>
                <a:cs typeface="Arial"/>
              </a:rPr>
              <a:t>in  </a:t>
            </a:r>
            <a:r>
              <a:rPr dirty="0" sz="1200" spc="-5">
                <a:latin typeface="Arial"/>
                <a:cs typeface="Arial"/>
              </a:rPr>
              <a:t>his intellectual examinations, but guilty </a:t>
            </a:r>
            <a:r>
              <a:rPr dirty="0" sz="1200">
                <a:latin typeface="Arial"/>
                <a:cs typeface="Arial"/>
              </a:rPr>
              <a:t>of </a:t>
            </a:r>
            <a:r>
              <a:rPr dirty="0" sz="1200" spc="-5">
                <a:latin typeface="Arial"/>
                <a:cs typeface="Arial"/>
              </a:rPr>
              <a:t>introducing innovations in </a:t>
            </a:r>
            <a:r>
              <a:rPr dirty="0" sz="1200">
                <a:latin typeface="Arial"/>
                <a:cs typeface="Arial"/>
              </a:rPr>
              <a:t>the </a:t>
            </a:r>
            <a:r>
              <a:rPr dirty="0" sz="1200" spc="-5">
                <a:latin typeface="Arial"/>
                <a:cs typeface="Arial"/>
              </a:rPr>
              <a:t>Religion</a:t>
            </a:r>
            <a:r>
              <a:rPr dirty="0" sz="1200" spc="170">
                <a:latin typeface="Arial"/>
                <a:cs typeface="Arial"/>
              </a:rPr>
              <a:t> </a:t>
            </a:r>
            <a:r>
              <a:rPr dirty="0" sz="1200" spc="-15" i="1">
                <a:latin typeface="Arial"/>
                <a:cs typeface="Arial"/>
              </a:rPr>
              <a:t>(mubtadi')‖</a:t>
            </a:r>
            <a:endParaRPr sz="1200">
              <a:latin typeface="Arial"/>
              <a:cs typeface="Arial"/>
            </a:endParaRPr>
          </a:p>
          <a:p>
            <a:pPr>
              <a:lnSpc>
                <a:spcPct val="100000"/>
              </a:lnSpc>
              <a:spcBef>
                <a:spcPts val="30"/>
              </a:spcBef>
            </a:pPr>
            <a:endParaRPr sz="1100">
              <a:latin typeface="Arial"/>
              <a:cs typeface="Arial"/>
            </a:endParaRPr>
          </a:p>
          <a:p>
            <a:pPr algn="just" marL="60960">
              <a:lnSpc>
                <a:spcPct val="100000"/>
              </a:lnSpc>
            </a:pPr>
            <a:r>
              <a:rPr dirty="0" u="heavy" sz="1200" b="1" i="1">
                <a:uFill>
                  <a:solidFill>
                    <a:srgbClr val="000000"/>
                  </a:solidFill>
                </a:uFill>
                <a:latin typeface="Arial"/>
                <a:cs typeface="Arial"/>
              </a:rPr>
              <a:t>Criticism against the</a:t>
            </a:r>
            <a:r>
              <a:rPr dirty="0" u="heavy" sz="1200" spc="-30" b="1" i="1">
                <a:uFill>
                  <a:solidFill>
                    <a:srgbClr val="000000"/>
                  </a:solidFill>
                </a:uFill>
                <a:latin typeface="Arial"/>
                <a:cs typeface="Arial"/>
              </a:rPr>
              <a:t> </a:t>
            </a:r>
            <a:r>
              <a:rPr dirty="0" u="heavy" sz="1200" b="1" i="1">
                <a:uFill>
                  <a:solidFill>
                    <a:srgbClr val="000000"/>
                  </a:solidFill>
                </a:uFill>
                <a:latin typeface="Arial"/>
                <a:cs typeface="Arial"/>
              </a:rPr>
              <a:t>“Salafis”</a:t>
            </a:r>
            <a:endParaRPr sz="1200">
              <a:latin typeface="Arial"/>
              <a:cs typeface="Arial"/>
            </a:endParaRPr>
          </a:p>
          <a:p>
            <a:pPr>
              <a:lnSpc>
                <a:spcPct val="100000"/>
              </a:lnSpc>
              <a:spcBef>
                <a:spcPts val="35"/>
              </a:spcBef>
            </a:pPr>
            <a:endParaRPr sz="1200">
              <a:latin typeface="Arial"/>
              <a:cs typeface="Arial"/>
            </a:endParaRPr>
          </a:p>
          <a:p>
            <a:pPr marL="518795" marR="5080" indent="-228600">
              <a:lnSpc>
                <a:spcPts val="1380"/>
              </a:lnSpc>
              <a:spcBef>
                <a:spcPts val="5"/>
              </a:spcBef>
              <a:buAutoNum type="arabicPeriod"/>
              <a:tabLst>
                <a:tab pos="462915" algn="l"/>
              </a:tabLst>
            </a:pPr>
            <a:r>
              <a:rPr dirty="0" sz="1200" spc="-5">
                <a:latin typeface="Arial"/>
                <a:cs typeface="Arial"/>
              </a:rPr>
              <a:t>Anthropomorphism of Allah's attributes: affirming a </a:t>
            </a:r>
            <a:r>
              <a:rPr dirty="0" sz="1200">
                <a:latin typeface="Arial"/>
                <a:cs typeface="Arial"/>
              </a:rPr>
              <a:t>place, direction, </a:t>
            </a:r>
            <a:r>
              <a:rPr dirty="0" sz="1200" spc="-5">
                <a:latin typeface="Arial"/>
                <a:cs typeface="Arial"/>
              </a:rPr>
              <a:t>and corporeal  limbs </a:t>
            </a:r>
            <a:r>
              <a:rPr dirty="0" sz="1200">
                <a:latin typeface="Arial"/>
                <a:cs typeface="Arial"/>
              </a:rPr>
              <a:t>for </a:t>
            </a:r>
            <a:r>
              <a:rPr dirty="0" sz="1200" spc="-5">
                <a:latin typeface="Arial"/>
                <a:cs typeface="Arial"/>
              </a:rPr>
              <a:t>Allah Almighty </a:t>
            </a:r>
            <a:r>
              <a:rPr dirty="0" sz="1200" spc="5">
                <a:latin typeface="Arial"/>
                <a:cs typeface="Arial"/>
              </a:rPr>
              <a:t>Who </a:t>
            </a:r>
            <a:r>
              <a:rPr dirty="0" sz="1200" spc="-5">
                <a:latin typeface="Arial"/>
                <a:cs typeface="Arial"/>
              </a:rPr>
              <a:t>is </a:t>
            </a:r>
            <a:r>
              <a:rPr dirty="0" sz="1200">
                <a:latin typeface="Arial"/>
                <a:cs typeface="Arial"/>
              </a:rPr>
              <a:t>far </a:t>
            </a:r>
            <a:r>
              <a:rPr dirty="0" sz="1200" spc="-5">
                <a:latin typeface="Arial"/>
                <a:cs typeface="Arial"/>
              </a:rPr>
              <a:t>exalted </a:t>
            </a:r>
            <a:r>
              <a:rPr dirty="0" sz="1200" spc="-10">
                <a:latin typeface="Arial"/>
                <a:cs typeface="Arial"/>
              </a:rPr>
              <a:t>above </a:t>
            </a:r>
            <a:r>
              <a:rPr dirty="0" sz="1200">
                <a:latin typeface="Arial"/>
                <a:cs typeface="Arial"/>
              </a:rPr>
              <a:t>all </a:t>
            </a:r>
            <a:r>
              <a:rPr dirty="0" sz="1200" spc="-5">
                <a:latin typeface="Arial"/>
                <a:cs typeface="Arial"/>
              </a:rPr>
              <a:t>of</a:t>
            </a:r>
            <a:r>
              <a:rPr dirty="0" sz="1200" spc="-40">
                <a:latin typeface="Arial"/>
                <a:cs typeface="Arial"/>
              </a:rPr>
              <a:t> </a:t>
            </a:r>
            <a:r>
              <a:rPr dirty="0" sz="1200" spc="-5">
                <a:latin typeface="Arial"/>
                <a:cs typeface="Arial"/>
              </a:rPr>
              <a:t>those;</a:t>
            </a:r>
            <a:endParaRPr sz="1200">
              <a:latin typeface="Arial"/>
              <a:cs typeface="Arial"/>
            </a:endParaRPr>
          </a:p>
          <a:p>
            <a:pPr marL="462280" indent="-172720">
              <a:lnSpc>
                <a:spcPts val="1315"/>
              </a:lnSpc>
              <a:buAutoNum type="arabicPeriod"/>
              <a:tabLst>
                <a:tab pos="462915" algn="l"/>
              </a:tabLst>
            </a:pPr>
            <a:r>
              <a:rPr dirty="0" sz="1200" spc="-5">
                <a:latin typeface="Arial"/>
                <a:cs typeface="Arial"/>
              </a:rPr>
              <a:t>Disrespect of the Prophet, blessings and peace upon</a:t>
            </a:r>
            <a:r>
              <a:rPr dirty="0" sz="1200" spc="15">
                <a:latin typeface="Arial"/>
                <a:cs typeface="Arial"/>
              </a:rPr>
              <a:t> </a:t>
            </a:r>
            <a:r>
              <a:rPr dirty="0" sz="1200">
                <a:latin typeface="Arial"/>
                <a:cs typeface="Arial"/>
              </a:rPr>
              <a:t>him;</a:t>
            </a:r>
            <a:endParaRPr sz="1200">
              <a:latin typeface="Arial"/>
              <a:cs typeface="Arial"/>
            </a:endParaRPr>
          </a:p>
          <a:p>
            <a:pPr marL="518795" marR="10795" indent="-228600">
              <a:lnSpc>
                <a:spcPts val="1370"/>
              </a:lnSpc>
              <a:spcBef>
                <a:spcPts val="70"/>
              </a:spcBef>
              <a:buAutoNum type="arabicPeriod"/>
              <a:tabLst>
                <a:tab pos="462915" algn="l"/>
              </a:tabLst>
            </a:pPr>
            <a:r>
              <a:rPr dirty="0" sz="1200" spc="-5">
                <a:latin typeface="Arial"/>
                <a:cs typeface="Arial"/>
              </a:rPr>
              <a:t>An amateurish, egalitarian approach </a:t>
            </a:r>
            <a:r>
              <a:rPr dirty="0" sz="1200">
                <a:latin typeface="Arial"/>
                <a:cs typeface="Arial"/>
              </a:rPr>
              <a:t>to </a:t>
            </a:r>
            <a:r>
              <a:rPr dirty="0" sz="1200" spc="-5">
                <a:latin typeface="Arial"/>
                <a:cs typeface="Arial"/>
              </a:rPr>
              <a:t>Qur'an and hadith (no need </a:t>
            </a:r>
            <a:r>
              <a:rPr dirty="0" sz="1200">
                <a:latin typeface="Arial"/>
                <a:cs typeface="Arial"/>
              </a:rPr>
              <a:t>for scholars, </a:t>
            </a:r>
            <a:r>
              <a:rPr dirty="0" sz="1200" spc="-10">
                <a:latin typeface="Arial"/>
                <a:cs typeface="Arial"/>
              </a:rPr>
              <a:t>or  </a:t>
            </a:r>
            <a:r>
              <a:rPr dirty="0" sz="1200" spc="-5">
                <a:latin typeface="Arial"/>
                <a:cs typeface="Arial"/>
              </a:rPr>
              <a:t>mastery </a:t>
            </a:r>
            <a:r>
              <a:rPr dirty="0" sz="1200">
                <a:latin typeface="Arial"/>
                <a:cs typeface="Arial"/>
              </a:rPr>
              <a:t>of </a:t>
            </a:r>
            <a:r>
              <a:rPr dirty="0" sz="1200" spc="-5">
                <a:latin typeface="Arial"/>
                <a:cs typeface="Arial"/>
              </a:rPr>
              <a:t>Arabic, or </a:t>
            </a:r>
            <a:r>
              <a:rPr dirty="0" sz="1200" spc="-10" i="1">
                <a:latin typeface="Arial"/>
                <a:cs typeface="Arial"/>
              </a:rPr>
              <a:t>ijaza </a:t>
            </a:r>
            <a:r>
              <a:rPr dirty="0" sz="1200">
                <a:latin typeface="Arial"/>
                <a:cs typeface="Arial"/>
              </a:rPr>
              <a:t>-- traditional </a:t>
            </a:r>
            <a:r>
              <a:rPr dirty="0" sz="1200" spc="-5">
                <a:latin typeface="Arial"/>
                <a:cs typeface="Arial"/>
              </a:rPr>
              <a:t>accreditation, or </a:t>
            </a:r>
            <a:r>
              <a:rPr dirty="0" sz="1200" spc="-10">
                <a:latin typeface="Arial"/>
                <a:cs typeface="Arial"/>
              </a:rPr>
              <a:t>the </a:t>
            </a:r>
            <a:r>
              <a:rPr dirty="0" sz="1200">
                <a:latin typeface="Arial"/>
                <a:cs typeface="Arial"/>
              </a:rPr>
              <a:t>Islamic</a:t>
            </a:r>
            <a:r>
              <a:rPr dirty="0" sz="1200" spc="40">
                <a:latin typeface="Arial"/>
                <a:cs typeface="Arial"/>
              </a:rPr>
              <a:t> </a:t>
            </a:r>
            <a:r>
              <a:rPr dirty="0" sz="1200" spc="-5">
                <a:latin typeface="Arial"/>
                <a:cs typeface="Arial"/>
              </a:rPr>
              <a:t>sciences);</a:t>
            </a:r>
            <a:endParaRPr sz="1200">
              <a:latin typeface="Arial"/>
              <a:cs typeface="Arial"/>
            </a:endParaRPr>
          </a:p>
          <a:p>
            <a:pPr marL="518795" marR="7620" indent="-228600">
              <a:lnSpc>
                <a:spcPts val="1380"/>
              </a:lnSpc>
              <a:buAutoNum type="arabicPeriod"/>
              <a:tabLst>
                <a:tab pos="462915" algn="l"/>
              </a:tabLst>
            </a:pPr>
            <a:r>
              <a:rPr dirty="0" sz="1200" spc="-5">
                <a:latin typeface="Arial"/>
                <a:cs typeface="Arial"/>
              </a:rPr>
              <a:t>Hatred of the Four Sunni schools of Law </a:t>
            </a:r>
            <a:r>
              <a:rPr dirty="0" sz="1200">
                <a:latin typeface="Arial"/>
                <a:cs typeface="Arial"/>
              </a:rPr>
              <a:t>(the </a:t>
            </a:r>
            <a:r>
              <a:rPr dirty="0" sz="1200" spc="-5">
                <a:latin typeface="Arial"/>
                <a:cs typeface="Arial"/>
              </a:rPr>
              <a:t>Four </a:t>
            </a:r>
            <a:r>
              <a:rPr dirty="0" sz="1200" spc="-5" i="1">
                <a:latin typeface="Arial"/>
                <a:cs typeface="Arial"/>
              </a:rPr>
              <a:t>madhahib</a:t>
            </a:r>
            <a:r>
              <a:rPr dirty="0" sz="1200" spc="-5">
                <a:latin typeface="Arial"/>
                <a:cs typeface="Arial"/>
              </a:rPr>
              <a:t>), the Two Schools of  doctrine (Ash`aris and Maturidis), and </a:t>
            </a:r>
            <a:r>
              <a:rPr dirty="0" sz="1200">
                <a:latin typeface="Arial"/>
                <a:cs typeface="Arial"/>
              </a:rPr>
              <a:t>all </a:t>
            </a:r>
            <a:r>
              <a:rPr dirty="0" sz="1200" spc="-5">
                <a:latin typeface="Arial"/>
                <a:cs typeface="Arial"/>
              </a:rPr>
              <a:t>the schools of self-purification</a:t>
            </a:r>
            <a:r>
              <a:rPr dirty="0" sz="1200" spc="105">
                <a:latin typeface="Arial"/>
                <a:cs typeface="Arial"/>
              </a:rPr>
              <a:t> </a:t>
            </a:r>
            <a:r>
              <a:rPr dirty="0" sz="1200">
                <a:latin typeface="Arial"/>
                <a:cs typeface="Arial"/>
              </a:rPr>
              <a:t>(</a:t>
            </a:r>
            <a:r>
              <a:rPr dirty="0" sz="1200" i="1">
                <a:latin typeface="Arial"/>
                <a:cs typeface="Arial"/>
              </a:rPr>
              <a:t>Tasawwuf</a:t>
            </a:r>
            <a:r>
              <a:rPr dirty="0" sz="1200">
                <a:latin typeface="Arial"/>
                <a:cs typeface="Arial"/>
              </a:rPr>
              <a:t>);</a:t>
            </a:r>
            <a:endParaRPr sz="1200">
              <a:latin typeface="Arial"/>
              <a:cs typeface="Arial"/>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8067"/>
            <a:ext cx="6311900" cy="8622030"/>
          </a:xfrm>
          <a:prstGeom prst="rect">
            <a:avLst/>
          </a:prstGeom>
        </p:spPr>
        <p:txBody>
          <a:bodyPr wrap="square" lIns="0" tIns="12700" rIns="0" bIns="0" rtlCol="0" vert="horz">
            <a:spAutoFit/>
          </a:bodyPr>
          <a:lstStyle/>
          <a:p>
            <a:pPr marL="241300">
              <a:lnSpc>
                <a:spcPct val="100000"/>
              </a:lnSpc>
              <a:spcBef>
                <a:spcPts val="100"/>
              </a:spcBef>
            </a:pPr>
            <a:r>
              <a:rPr dirty="0" sz="1200">
                <a:latin typeface="Arial"/>
                <a:cs typeface="Arial"/>
              </a:rPr>
              <a:t>5. </a:t>
            </a:r>
            <a:r>
              <a:rPr dirty="0" sz="1200" spc="-5">
                <a:latin typeface="Arial"/>
                <a:cs typeface="Arial"/>
              </a:rPr>
              <a:t>The practice of </a:t>
            </a:r>
            <a:r>
              <a:rPr dirty="0" sz="1200" spc="-5" i="1">
                <a:latin typeface="Arial"/>
                <a:cs typeface="Arial"/>
              </a:rPr>
              <a:t>takfir</a:t>
            </a:r>
            <a:r>
              <a:rPr dirty="0" sz="1200" spc="-5">
                <a:latin typeface="Arial"/>
                <a:cs typeface="Arial"/>
              </a:rPr>
              <a:t>: declaring </a:t>
            </a:r>
            <a:r>
              <a:rPr dirty="0" sz="1200">
                <a:latin typeface="Arial"/>
                <a:cs typeface="Arial"/>
              </a:rPr>
              <a:t>other </a:t>
            </a:r>
            <a:r>
              <a:rPr dirty="0" sz="1200" spc="-5">
                <a:latin typeface="Arial"/>
                <a:cs typeface="Arial"/>
              </a:rPr>
              <a:t>Muslims</a:t>
            </a:r>
            <a:r>
              <a:rPr dirty="0" sz="1200" spc="25">
                <a:latin typeface="Arial"/>
                <a:cs typeface="Arial"/>
              </a:rPr>
              <a:t> </a:t>
            </a:r>
            <a:r>
              <a:rPr dirty="0" sz="1200" spc="-5">
                <a:latin typeface="Arial"/>
                <a:cs typeface="Arial"/>
              </a:rPr>
              <a:t>unbelievers.</a:t>
            </a:r>
            <a:endParaRPr sz="1200">
              <a:latin typeface="Arial"/>
              <a:cs typeface="Arial"/>
            </a:endParaRPr>
          </a:p>
          <a:p>
            <a:pPr>
              <a:lnSpc>
                <a:spcPct val="100000"/>
              </a:lnSpc>
              <a:spcBef>
                <a:spcPts val="10"/>
              </a:spcBef>
            </a:pPr>
            <a:endParaRPr sz="1150">
              <a:latin typeface="Arial"/>
              <a:cs typeface="Arial"/>
            </a:endParaRPr>
          </a:p>
          <a:p>
            <a:pPr marL="12700">
              <a:lnSpc>
                <a:spcPct val="100000"/>
              </a:lnSpc>
            </a:pPr>
            <a:r>
              <a:rPr dirty="0" u="heavy" sz="1200" spc="-5" b="1" i="1">
                <a:uFill>
                  <a:solidFill>
                    <a:srgbClr val="000000"/>
                  </a:solidFill>
                </a:uFill>
                <a:latin typeface="Arial"/>
                <a:cs typeface="Arial"/>
              </a:rPr>
              <a:t>Doctrines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Present-day</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Salafi</a:t>
            </a:r>
            <a:endParaRPr sz="1200">
              <a:latin typeface="Arial"/>
              <a:cs typeface="Arial"/>
            </a:endParaRPr>
          </a:p>
          <a:p>
            <a:pPr>
              <a:lnSpc>
                <a:spcPct val="100000"/>
              </a:lnSpc>
              <a:spcBef>
                <a:spcPts val="35"/>
              </a:spcBef>
            </a:pPr>
            <a:endParaRPr sz="1200">
              <a:latin typeface="Arial"/>
              <a:cs typeface="Arial"/>
            </a:endParaRPr>
          </a:p>
          <a:p>
            <a:pPr marL="469900" marR="12700" indent="-229235">
              <a:lnSpc>
                <a:spcPts val="1380"/>
              </a:lnSpc>
              <a:buAutoNum type="arabicPeriod"/>
              <a:tabLst>
                <a:tab pos="470534" algn="l"/>
              </a:tabLst>
            </a:pPr>
            <a:r>
              <a:rPr dirty="0" sz="1200">
                <a:latin typeface="Arial"/>
                <a:cs typeface="Arial"/>
              </a:rPr>
              <a:t>Affirming the </a:t>
            </a:r>
            <a:r>
              <a:rPr dirty="0" sz="1200" spc="-5">
                <a:latin typeface="Arial"/>
                <a:cs typeface="Arial"/>
              </a:rPr>
              <a:t>face, hand, and spatial direction </a:t>
            </a:r>
            <a:r>
              <a:rPr dirty="0" sz="1200">
                <a:latin typeface="Arial"/>
                <a:cs typeface="Arial"/>
              </a:rPr>
              <a:t>of </a:t>
            </a:r>
            <a:r>
              <a:rPr dirty="0" sz="1200" spc="-5">
                <a:latin typeface="Arial"/>
                <a:cs typeface="Arial"/>
              </a:rPr>
              <a:t>the Creator and making Him a body  </a:t>
            </a:r>
            <a:r>
              <a:rPr dirty="0" sz="1200">
                <a:latin typeface="Arial"/>
                <a:cs typeface="Arial"/>
              </a:rPr>
              <a:t>that </a:t>
            </a:r>
            <a:r>
              <a:rPr dirty="0" sz="1200" spc="-5">
                <a:latin typeface="Arial"/>
                <a:cs typeface="Arial"/>
              </a:rPr>
              <a:t>descends and</a:t>
            </a:r>
            <a:r>
              <a:rPr dirty="0" sz="1200" spc="-25">
                <a:latin typeface="Arial"/>
                <a:cs typeface="Arial"/>
              </a:rPr>
              <a:t> </a:t>
            </a:r>
            <a:r>
              <a:rPr dirty="0" sz="1200" spc="-5">
                <a:latin typeface="Arial"/>
                <a:cs typeface="Arial"/>
              </a:rPr>
              <a:t>ascends;</a:t>
            </a:r>
            <a:endParaRPr sz="1200">
              <a:latin typeface="Arial"/>
              <a:cs typeface="Arial"/>
            </a:endParaRPr>
          </a:p>
          <a:p>
            <a:pPr marL="469900" indent="-229235">
              <a:lnSpc>
                <a:spcPts val="1300"/>
              </a:lnSpc>
              <a:buAutoNum type="arabicPeriod"/>
              <a:tabLst>
                <a:tab pos="470534" algn="l"/>
              </a:tabLst>
            </a:pPr>
            <a:r>
              <a:rPr dirty="0" sz="1200" spc="-5">
                <a:latin typeface="Arial"/>
                <a:cs typeface="Arial"/>
              </a:rPr>
              <a:t>Making</a:t>
            </a:r>
            <a:r>
              <a:rPr dirty="0" sz="1200" spc="254">
                <a:latin typeface="Arial"/>
                <a:cs typeface="Arial"/>
              </a:rPr>
              <a:t> </a:t>
            </a:r>
            <a:r>
              <a:rPr dirty="0" sz="1200" spc="-5">
                <a:latin typeface="Arial"/>
                <a:cs typeface="Arial"/>
              </a:rPr>
              <a:t>principles</a:t>
            </a:r>
            <a:r>
              <a:rPr dirty="0" sz="1200" spc="265">
                <a:latin typeface="Arial"/>
                <a:cs typeface="Arial"/>
              </a:rPr>
              <a:t> </a:t>
            </a:r>
            <a:r>
              <a:rPr dirty="0" sz="1200" spc="-10">
                <a:latin typeface="Arial"/>
                <a:cs typeface="Arial"/>
              </a:rPr>
              <a:t>derived</a:t>
            </a:r>
            <a:r>
              <a:rPr dirty="0" sz="1200" spc="265">
                <a:latin typeface="Arial"/>
                <a:cs typeface="Arial"/>
              </a:rPr>
              <a:t> </a:t>
            </a:r>
            <a:r>
              <a:rPr dirty="0" sz="1200" spc="-5">
                <a:latin typeface="Arial"/>
                <a:cs typeface="Arial"/>
              </a:rPr>
              <a:t>from</a:t>
            </a:r>
            <a:r>
              <a:rPr dirty="0" sz="1200" spc="265">
                <a:latin typeface="Arial"/>
                <a:cs typeface="Arial"/>
              </a:rPr>
              <a:t> </a:t>
            </a:r>
            <a:r>
              <a:rPr dirty="0" sz="1200" spc="-5">
                <a:latin typeface="Arial"/>
                <a:cs typeface="Arial"/>
              </a:rPr>
              <a:t>narration</a:t>
            </a:r>
            <a:r>
              <a:rPr dirty="0" sz="1200" spc="290">
                <a:latin typeface="Arial"/>
                <a:cs typeface="Arial"/>
              </a:rPr>
              <a:t> </a:t>
            </a:r>
            <a:r>
              <a:rPr dirty="0" sz="1200" spc="-5" i="1">
                <a:latin typeface="Arial"/>
                <a:cs typeface="Arial"/>
              </a:rPr>
              <a:t>(naql)</a:t>
            </a:r>
            <a:r>
              <a:rPr dirty="0" sz="1200" spc="260" i="1">
                <a:latin typeface="Arial"/>
                <a:cs typeface="Arial"/>
              </a:rPr>
              <a:t> </a:t>
            </a:r>
            <a:r>
              <a:rPr dirty="0" sz="1200" spc="-5">
                <a:latin typeface="Arial"/>
                <a:cs typeface="Arial"/>
              </a:rPr>
              <a:t>prior</a:t>
            </a:r>
            <a:r>
              <a:rPr dirty="0" sz="1200" spc="260">
                <a:latin typeface="Arial"/>
                <a:cs typeface="Arial"/>
              </a:rPr>
              <a:t> </a:t>
            </a:r>
            <a:r>
              <a:rPr dirty="0" sz="1200">
                <a:latin typeface="Arial"/>
                <a:cs typeface="Arial"/>
              </a:rPr>
              <a:t>to</a:t>
            </a:r>
            <a:r>
              <a:rPr dirty="0" sz="1200" spc="265">
                <a:latin typeface="Arial"/>
                <a:cs typeface="Arial"/>
              </a:rPr>
              <a:t> </a:t>
            </a:r>
            <a:r>
              <a:rPr dirty="0" sz="1200" spc="-5">
                <a:latin typeface="Arial"/>
                <a:cs typeface="Arial"/>
              </a:rPr>
              <a:t>those</a:t>
            </a:r>
            <a:r>
              <a:rPr dirty="0" sz="1200" spc="254">
                <a:latin typeface="Arial"/>
                <a:cs typeface="Arial"/>
              </a:rPr>
              <a:t> </a:t>
            </a:r>
            <a:r>
              <a:rPr dirty="0" sz="1200" spc="-5">
                <a:latin typeface="Arial"/>
                <a:cs typeface="Arial"/>
              </a:rPr>
              <a:t>derived</a:t>
            </a:r>
            <a:r>
              <a:rPr dirty="0" sz="1200" spc="265">
                <a:latin typeface="Arial"/>
                <a:cs typeface="Arial"/>
              </a:rPr>
              <a:t> </a:t>
            </a:r>
            <a:r>
              <a:rPr dirty="0" sz="1200" spc="-5">
                <a:latin typeface="Arial"/>
                <a:cs typeface="Arial"/>
              </a:rPr>
              <a:t>from</a:t>
            </a:r>
            <a:r>
              <a:rPr dirty="0" sz="1200" spc="270">
                <a:latin typeface="Arial"/>
                <a:cs typeface="Arial"/>
              </a:rPr>
              <a:t> </a:t>
            </a:r>
            <a:r>
              <a:rPr dirty="0" sz="1200" spc="-5">
                <a:latin typeface="Arial"/>
                <a:cs typeface="Arial"/>
              </a:rPr>
              <a:t>reason</a:t>
            </a:r>
            <a:endParaRPr sz="1200">
              <a:latin typeface="Arial"/>
              <a:cs typeface="Arial"/>
            </a:endParaRPr>
          </a:p>
          <a:p>
            <a:pPr marL="469900">
              <a:lnSpc>
                <a:spcPts val="1380"/>
              </a:lnSpc>
            </a:pPr>
            <a:r>
              <a:rPr dirty="0" sz="1200" spc="-5" i="1">
                <a:latin typeface="Arial"/>
                <a:cs typeface="Arial"/>
              </a:rPr>
              <a:t>(`aql)</a:t>
            </a:r>
            <a:r>
              <a:rPr dirty="0" sz="1200" spc="-5">
                <a:latin typeface="Arial"/>
                <a:cs typeface="Arial"/>
              </a:rPr>
              <a:t>;</a:t>
            </a:r>
            <a:endParaRPr sz="1200">
              <a:latin typeface="Arial"/>
              <a:cs typeface="Arial"/>
            </a:endParaRPr>
          </a:p>
          <a:p>
            <a:pPr marL="469900" indent="-229235">
              <a:lnSpc>
                <a:spcPts val="1380"/>
              </a:lnSpc>
              <a:buAutoNum type="arabicPeriod" startAt="3"/>
              <a:tabLst>
                <a:tab pos="470534" algn="l"/>
              </a:tabLst>
            </a:pPr>
            <a:r>
              <a:rPr dirty="0" sz="1200">
                <a:latin typeface="Arial"/>
                <a:cs typeface="Arial"/>
              </a:rPr>
              <a:t>Denial </a:t>
            </a:r>
            <a:r>
              <a:rPr dirty="0" sz="1200" spc="-5">
                <a:latin typeface="Arial"/>
                <a:cs typeface="Arial"/>
              </a:rPr>
              <a:t>and rejection of consensus </a:t>
            </a:r>
            <a:r>
              <a:rPr dirty="0" sz="1200">
                <a:latin typeface="Arial"/>
                <a:cs typeface="Arial"/>
              </a:rPr>
              <a:t>as </a:t>
            </a:r>
            <a:r>
              <a:rPr dirty="0" sz="1200" spc="-5">
                <a:latin typeface="Arial"/>
                <a:cs typeface="Arial"/>
              </a:rPr>
              <a:t>a principle </a:t>
            </a:r>
            <a:r>
              <a:rPr dirty="0" sz="1200" spc="-5" i="1">
                <a:latin typeface="Arial"/>
                <a:cs typeface="Arial"/>
              </a:rPr>
              <a:t>(asl) </a:t>
            </a:r>
            <a:r>
              <a:rPr dirty="0" sz="1200" spc="-5">
                <a:latin typeface="Arial"/>
                <a:cs typeface="Arial"/>
              </a:rPr>
              <a:t>of Shari`a</a:t>
            </a:r>
            <a:r>
              <a:rPr dirty="0" sz="1200" spc="70">
                <a:latin typeface="Arial"/>
                <a:cs typeface="Arial"/>
              </a:rPr>
              <a:t> </a:t>
            </a:r>
            <a:r>
              <a:rPr dirty="0" sz="1200" spc="-5">
                <a:latin typeface="Arial"/>
                <a:cs typeface="Arial"/>
              </a:rPr>
              <a:t>legislation;</a:t>
            </a:r>
            <a:endParaRPr sz="1200">
              <a:latin typeface="Arial"/>
              <a:cs typeface="Arial"/>
            </a:endParaRPr>
          </a:p>
          <a:p>
            <a:pPr marL="469900" indent="-229235">
              <a:lnSpc>
                <a:spcPts val="1385"/>
              </a:lnSpc>
              <a:buAutoNum type="arabicPeriod" startAt="3"/>
              <a:tabLst>
                <a:tab pos="470534" algn="l"/>
              </a:tabLst>
            </a:pPr>
            <a:r>
              <a:rPr dirty="0" sz="1200" spc="-5">
                <a:latin typeface="Arial"/>
                <a:cs typeface="Arial"/>
              </a:rPr>
              <a:t>Similar denial and rejection of analogy</a:t>
            </a:r>
            <a:r>
              <a:rPr dirty="0" sz="1200" spc="30">
                <a:latin typeface="Arial"/>
                <a:cs typeface="Arial"/>
              </a:rPr>
              <a:t> </a:t>
            </a:r>
            <a:r>
              <a:rPr dirty="0" sz="1200" spc="-5" i="1">
                <a:latin typeface="Arial"/>
                <a:cs typeface="Arial"/>
              </a:rPr>
              <a:t>(qiyas)</a:t>
            </a:r>
            <a:r>
              <a:rPr dirty="0" sz="1200" spc="-5">
                <a:latin typeface="Arial"/>
                <a:cs typeface="Arial"/>
              </a:rPr>
              <a:t>;</a:t>
            </a:r>
            <a:endParaRPr sz="1200">
              <a:latin typeface="Arial"/>
              <a:cs typeface="Arial"/>
            </a:endParaRPr>
          </a:p>
          <a:p>
            <a:pPr marL="469900" marR="12700" indent="-229235">
              <a:lnSpc>
                <a:spcPts val="1380"/>
              </a:lnSpc>
              <a:spcBef>
                <a:spcPts val="75"/>
              </a:spcBef>
              <a:buAutoNum type="arabicPeriod" startAt="3"/>
              <a:tabLst>
                <a:tab pos="470534" algn="l"/>
              </a:tabLst>
            </a:pPr>
            <a:r>
              <a:rPr dirty="0" sz="1200">
                <a:latin typeface="Arial"/>
                <a:cs typeface="Arial"/>
              </a:rPr>
              <a:t>Not </a:t>
            </a:r>
            <a:r>
              <a:rPr dirty="0" sz="1200" spc="-5">
                <a:latin typeface="Arial"/>
                <a:cs typeface="Arial"/>
              </a:rPr>
              <a:t>permitting copying and emulating </a:t>
            </a:r>
            <a:r>
              <a:rPr dirty="0" sz="1200">
                <a:latin typeface="Arial"/>
                <a:cs typeface="Arial"/>
              </a:rPr>
              <a:t>the </a:t>
            </a:r>
            <a:r>
              <a:rPr dirty="0" sz="1200" spc="-5">
                <a:latin typeface="Arial"/>
                <a:cs typeface="Arial"/>
              </a:rPr>
              <a:t>judgments of </a:t>
            </a:r>
            <a:r>
              <a:rPr dirty="0" sz="1200">
                <a:latin typeface="Arial"/>
                <a:cs typeface="Arial"/>
              </a:rPr>
              <a:t>the </a:t>
            </a:r>
            <a:r>
              <a:rPr dirty="0" sz="1200" spc="-5">
                <a:latin typeface="Arial"/>
                <a:cs typeface="Arial"/>
              </a:rPr>
              <a:t>Imams </a:t>
            </a:r>
            <a:r>
              <a:rPr dirty="0" sz="1200" spc="-10">
                <a:latin typeface="Arial"/>
                <a:cs typeface="Arial"/>
              </a:rPr>
              <a:t>who </a:t>
            </a:r>
            <a:r>
              <a:rPr dirty="0" sz="1200" spc="-5">
                <a:latin typeface="Arial"/>
                <a:cs typeface="Arial"/>
              </a:rPr>
              <a:t>have in Islam  </a:t>
            </a:r>
            <a:r>
              <a:rPr dirty="0" sz="1200">
                <a:latin typeface="Arial"/>
                <a:cs typeface="Arial"/>
              </a:rPr>
              <a:t>the </a:t>
            </a:r>
            <a:r>
              <a:rPr dirty="0" sz="1200" spc="-5">
                <a:latin typeface="Arial"/>
                <a:cs typeface="Arial"/>
              </a:rPr>
              <a:t>status of those capable of exercising independent reasoning in </a:t>
            </a:r>
            <a:r>
              <a:rPr dirty="0" sz="1200">
                <a:latin typeface="Arial"/>
                <a:cs typeface="Arial"/>
              </a:rPr>
              <a:t>matters </a:t>
            </a:r>
            <a:r>
              <a:rPr dirty="0" sz="1200" spc="-5">
                <a:latin typeface="Arial"/>
                <a:cs typeface="Arial"/>
              </a:rPr>
              <a:t>of</a:t>
            </a:r>
            <a:r>
              <a:rPr dirty="0" sz="1200" spc="95">
                <a:latin typeface="Arial"/>
                <a:cs typeface="Arial"/>
              </a:rPr>
              <a:t> </a:t>
            </a:r>
            <a:r>
              <a:rPr dirty="0" sz="1200" spc="-5">
                <a:latin typeface="Arial"/>
                <a:cs typeface="Arial"/>
              </a:rPr>
              <a:t>Shari`a;</a:t>
            </a:r>
            <a:endParaRPr sz="1200">
              <a:latin typeface="Arial"/>
              <a:cs typeface="Arial"/>
            </a:endParaRPr>
          </a:p>
          <a:p>
            <a:pPr marL="469900" indent="-229235">
              <a:lnSpc>
                <a:spcPts val="1315"/>
              </a:lnSpc>
              <a:buAutoNum type="arabicPeriod" startAt="3"/>
              <a:tabLst>
                <a:tab pos="470534" algn="l"/>
              </a:tabLst>
            </a:pPr>
            <a:r>
              <a:rPr dirty="0" sz="1200" spc="-5">
                <a:latin typeface="Arial"/>
                <a:cs typeface="Arial"/>
              </a:rPr>
              <a:t>Declaring Muslims who contradict them</a:t>
            </a:r>
            <a:r>
              <a:rPr dirty="0" sz="1200" spc="15">
                <a:latin typeface="Arial"/>
                <a:cs typeface="Arial"/>
              </a:rPr>
              <a:t> </a:t>
            </a:r>
            <a:r>
              <a:rPr dirty="0" sz="1200" spc="-5">
                <a:latin typeface="Arial"/>
                <a:cs typeface="Arial"/>
              </a:rPr>
              <a:t>disbelievers;</a:t>
            </a:r>
            <a:endParaRPr sz="1200">
              <a:latin typeface="Arial"/>
              <a:cs typeface="Arial"/>
            </a:endParaRPr>
          </a:p>
          <a:p>
            <a:pPr marL="469900" marR="13335" indent="-229235">
              <a:lnSpc>
                <a:spcPts val="1380"/>
              </a:lnSpc>
              <a:spcBef>
                <a:spcPts val="65"/>
              </a:spcBef>
              <a:buAutoNum type="arabicPeriod" startAt="3"/>
              <a:tabLst>
                <a:tab pos="470534" algn="l"/>
              </a:tabLst>
            </a:pPr>
            <a:r>
              <a:rPr dirty="0" sz="1200" spc="-5">
                <a:latin typeface="Arial"/>
                <a:cs typeface="Arial"/>
              </a:rPr>
              <a:t>Prohibition of using the name of the Messenger in petitions to God or the name of  someone </a:t>
            </a:r>
            <a:r>
              <a:rPr dirty="0" sz="1200">
                <a:latin typeface="Arial"/>
                <a:cs typeface="Arial"/>
              </a:rPr>
              <a:t>else </a:t>
            </a:r>
            <a:r>
              <a:rPr dirty="0" sz="1200" spc="-5">
                <a:latin typeface="Arial"/>
                <a:cs typeface="Arial"/>
              </a:rPr>
              <a:t>among the friends of God and the pious;</a:t>
            </a:r>
            <a:endParaRPr sz="1200">
              <a:latin typeface="Arial"/>
              <a:cs typeface="Arial"/>
            </a:endParaRPr>
          </a:p>
          <a:p>
            <a:pPr marL="469900" indent="-229235">
              <a:lnSpc>
                <a:spcPts val="1315"/>
              </a:lnSpc>
              <a:buAutoNum type="arabicPeriod" startAt="3"/>
              <a:tabLst>
                <a:tab pos="470534" algn="l"/>
              </a:tabLst>
            </a:pPr>
            <a:r>
              <a:rPr dirty="0" sz="1200" spc="-5">
                <a:latin typeface="Arial"/>
                <a:cs typeface="Arial"/>
              </a:rPr>
              <a:t>Making the visiting </a:t>
            </a:r>
            <a:r>
              <a:rPr dirty="0" sz="1200">
                <a:latin typeface="Arial"/>
                <a:cs typeface="Arial"/>
              </a:rPr>
              <a:t>of </a:t>
            </a:r>
            <a:r>
              <a:rPr dirty="0" sz="1200" spc="-5">
                <a:latin typeface="Arial"/>
                <a:cs typeface="Arial"/>
              </a:rPr>
              <a:t>the tombs of prophets and of pious people</a:t>
            </a:r>
            <a:r>
              <a:rPr dirty="0" sz="1200" spc="55">
                <a:latin typeface="Arial"/>
                <a:cs typeface="Arial"/>
              </a:rPr>
              <a:t> </a:t>
            </a:r>
            <a:r>
              <a:rPr dirty="0" sz="1200" spc="-5">
                <a:latin typeface="Arial"/>
                <a:cs typeface="Arial"/>
              </a:rPr>
              <a:t>illicit;</a:t>
            </a:r>
            <a:endParaRPr sz="1200">
              <a:latin typeface="Arial"/>
              <a:cs typeface="Arial"/>
            </a:endParaRPr>
          </a:p>
          <a:p>
            <a:pPr marL="469900" marR="13335" indent="-229235">
              <a:lnSpc>
                <a:spcPts val="1380"/>
              </a:lnSpc>
              <a:spcBef>
                <a:spcPts val="65"/>
              </a:spcBef>
              <a:buAutoNum type="arabicPeriod" startAt="3"/>
              <a:tabLst>
                <a:tab pos="470534" algn="l"/>
              </a:tabLst>
            </a:pPr>
            <a:r>
              <a:rPr dirty="0" sz="1200" spc="-5">
                <a:latin typeface="Arial"/>
                <a:cs typeface="Arial"/>
              </a:rPr>
              <a:t>Declaring a Muslim a disbeliever </a:t>
            </a:r>
            <a:r>
              <a:rPr dirty="0" sz="1200" spc="-10">
                <a:latin typeface="Arial"/>
                <a:cs typeface="Arial"/>
              </a:rPr>
              <a:t>who </a:t>
            </a:r>
            <a:r>
              <a:rPr dirty="0" sz="1200" spc="-5">
                <a:latin typeface="Arial"/>
                <a:cs typeface="Arial"/>
              </a:rPr>
              <a:t>makes a vow </a:t>
            </a:r>
            <a:r>
              <a:rPr dirty="0" sz="1200">
                <a:latin typeface="Arial"/>
                <a:cs typeface="Arial"/>
              </a:rPr>
              <a:t>to </a:t>
            </a:r>
            <a:r>
              <a:rPr dirty="0" sz="1200" spc="-5">
                <a:latin typeface="Arial"/>
                <a:cs typeface="Arial"/>
              </a:rPr>
              <a:t>someone </a:t>
            </a:r>
            <a:r>
              <a:rPr dirty="0" sz="1200">
                <a:latin typeface="Arial"/>
                <a:cs typeface="Arial"/>
              </a:rPr>
              <a:t>other </a:t>
            </a:r>
            <a:r>
              <a:rPr dirty="0" sz="1200" spc="-5">
                <a:latin typeface="Arial"/>
                <a:cs typeface="Arial"/>
              </a:rPr>
              <a:t>than </a:t>
            </a:r>
            <a:r>
              <a:rPr dirty="0" sz="1200">
                <a:latin typeface="Arial"/>
                <a:cs typeface="Arial"/>
              </a:rPr>
              <a:t>God </a:t>
            </a:r>
            <a:r>
              <a:rPr dirty="0" sz="1200" spc="-5">
                <a:latin typeface="Arial"/>
                <a:cs typeface="Arial"/>
              </a:rPr>
              <a:t>or  </a:t>
            </a:r>
            <a:r>
              <a:rPr dirty="0" sz="1200">
                <a:latin typeface="Arial"/>
                <a:cs typeface="Arial"/>
              </a:rPr>
              <a:t>sacrifices at </a:t>
            </a:r>
            <a:r>
              <a:rPr dirty="0" sz="1200" spc="-5">
                <a:latin typeface="Arial"/>
                <a:cs typeface="Arial"/>
              </a:rPr>
              <a:t>the grave </a:t>
            </a:r>
            <a:r>
              <a:rPr dirty="0" sz="1200">
                <a:latin typeface="Arial"/>
                <a:cs typeface="Arial"/>
              </a:rPr>
              <a:t>or final </a:t>
            </a:r>
            <a:r>
              <a:rPr dirty="0" sz="1200" spc="-5">
                <a:latin typeface="Arial"/>
                <a:cs typeface="Arial"/>
              </a:rPr>
              <a:t>resting place of awliya </a:t>
            </a:r>
            <a:r>
              <a:rPr dirty="0" sz="1200">
                <a:latin typeface="Arial"/>
                <a:cs typeface="Arial"/>
              </a:rPr>
              <a:t>or </a:t>
            </a:r>
            <a:r>
              <a:rPr dirty="0" sz="1200" spc="-5">
                <a:latin typeface="Arial"/>
                <a:cs typeface="Arial"/>
              </a:rPr>
              <a:t>the</a:t>
            </a:r>
            <a:r>
              <a:rPr dirty="0" sz="1200" spc="-10">
                <a:latin typeface="Arial"/>
                <a:cs typeface="Arial"/>
              </a:rPr>
              <a:t> </a:t>
            </a:r>
            <a:r>
              <a:rPr dirty="0" sz="1200" spc="-5">
                <a:latin typeface="Arial"/>
                <a:cs typeface="Arial"/>
              </a:rPr>
              <a:t>pious.</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Present-day Salafi</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Methodology</a:t>
            </a:r>
            <a:endParaRPr sz="1200">
              <a:latin typeface="Arial"/>
              <a:cs typeface="Arial"/>
            </a:endParaRPr>
          </a:p>
          <a:p>
            <a:pPr>
              <a:lnSpc>
                <a:spcPct val="100000"/>
              </a:lnSpc>
              <a:spcBef>
                <a:spcPts val="35"/>
              </a:spcBef>
            </a:pPr>
            <a:endParaRPr sz="1200">
              <a:latin typeface="Arial"/>
              <a:cs typeface="Arial"/>
            </a:endParaRPr>
          </a:p>
          <a:p>
            <a:pPr algn="just" marL="469900" marR="12065" indent="-229235">
              <a:lnSpc>
                <a:spcPts val="1380"/>
              </a:lnSpc>
              <a:buAutoNum type="arabicPeriod"/>
              <a:tabLst>
                <a:tab pos="414020" algn="l"/>
              </a:tabLst>
            </a:pPr>
            <a:r>
              <a:rPr dirty="0" sz="1200" spc="-5">
                <a:latin typeface="Arial"/>
                <a:cs typeface="Arial"/>
              </a:rPr>
              <a:t>The source and foundation of all beliefs must be </a:t>
            </a:r>
            <a:r>
              <a:rPr dirty="0" sz="1200">
                <a:latin typeface="Arial"/>
                <a:cs typeface="Arial"/>
              </a:rPr>
              <a:t>the </a:t>
            </a:r>
            <a:r>
              <a:rPr dirty="0" sz="1200" spc="-5">
                <a:latin typeface="Arial"/>
                <a:cs typeface="Arial"/>
              </a:rPr>
              <a:t>revelation that has come from  Allah as found in </a:t>
            </a:r>
            <a:r>
              <a:rPr dirty="0" sz="1200">
                <a:latin typeface="Arial"/>
                <a:cs typeface="Arial"/>
              </a:rPr>
              <a:t>the Quran </a:t>
            </a:r>
            <a:r>
              <a:rPr dirty="0" sz="1200" spc="-5">
                <a:latin typeface="Arial"/>
                <a:cs typeface="Arial"/>
              </a:rPr>
              <a:t>and </a:t>
            </a:r>
            <a:r>
              <a:rPr dirty="0" sz="1200">
                <a:latin typeface="Arial"/>
                <a:cs typeface="Arial"/>
              </a:rPr>
              <a:t>the </a:t>
            </a:r>
            <a:r>
              <a:rPr dirty="0" sz="1200" spc="-5">
                <a:latin typeface="Arial"/>
                <a:cs typeface="Arial"/>
              </a:rPr>
              <a:t>Sunnah: </a:t>
            </a:r>
            <a:r>
              <a:rPr dirty="0" sz="1200">
                <a:latin typeface="Arial"/>
                <a:cs typeface="Arial"/>
              </a:rPr>
              <a:t>The </a:t>
            </a:r>
            <a:r>
              <a:rPr dirty="0" sz="1200" spc="-5">
                <a:latin typeface="Arial"/>
                <a:cs typeface="Arial"/>
              </a:rPr>
              <a:t>Quran and Sunnah are sufficient </a:t>
            </a:r>
            <a:r>
              <a:rPr dirty="0" sz="1200" spc="-10">
                <a:latin typeface="Arial"/>
                <a:cs typeface="Arial"/>
              </a:rPr>
              <a:t>in  </a:t>
            </a:r>
            <a:r>
              <a:rPr dirty="0" sz="1200" spc="-5">
                <a:latin typeface="Arial"/>
                <a:cs typeface="Arial"/>
              </a:rPr>
              <a:t>guiding mankind </a:t>
            </a:r>
            <a:r>
              <a:rPr dirty="0" sz="1200">
                <a:latin typeface="Arial"/>
                <a:cs typeface="Arial"/>
              </a:rPr>
              <a:t>to all </a:t>
            </a:r>
            <a:r>
              <a:rPr dirty="0" sz="1200" spc="-5">
                <a:latin typeface="Arial"/>
                <a:cs typeface="Arial"/>
              </a:rPr>
              <a:t>of the essentials of </a:t>
            </a:r>
            <a:r>
              <a:rPr dirty="0" sz="1200">
                <a:latin typeface="Arial"/>
                <a:cs typeface="Arial"/>
              </a:rPr>
              <a:t>the</a:t>
            </a:r>
            <a:r>
              <a:rPr dirty="0" sz="1200" spc="-10">
                <a:latin typeface="Arial"/>
                <a:cs typeface="Arial"/>
              </a:rPr>
              <a:t> </a:t>
            </a:r>
            <a:r>
              <a:rPr dirty="0" sz="1200">
                <a:latin typeface="Arial"/>
                <a:cs typeface="Arial"/>
              </a:rPr>
              <a:t>faith.</a:t>
            </a:r>
            <a:endParaRPr sz="1200">
              <a:latin typeface="Arial"/>
              <a:cs typeface="Arial"/>
            </a:endParaRPr>
          </a:p>
          <a:p>
            <a:pPr algn="just" marL="413384" indent="-172720">
              <a:lnSpc>
                <a:spcPts val="1310"/>
              </a:lnSpc>
              <a:buAutoNum type="arabicPeriod"/>
              <a:tabLst>
                <a:tab pos="414020" algn="l"/>
              </a:tabLst>
            </a:pPr>
            <a:r>
              <a:rPr dirty="0" sz="1200" spc="-5">
                <a:latin typeface="Arial"/>
                <a:cs typeface="Arial"/>
              </a:rPr>
              <a:t>Affirmation</a:t>
            </a:r>
            <a:r>
              <a:rPr dirty="0" sz="1200" spc="220">
                <a:latin typeface="Arial"/>
                <a:cs typeface="Arial"/>
              </a:rPr>
              <a:t> </a:t>
            </a:r>
            <a:r>
              <a:rPr dirty="0" sz="1200" spc="-5">
                <a:latin typeface="Arial"/>
                <a:cs typeface="Arial"/>
              </a:rPr>
              <a:t>of</a:t>
            </a:r>
            <a:r>
              <a:rPr dirty="0" sz="1200" spc="220">
                <a:latin typeface="Arial"/>
                <a:cs typeface="Arial"/>
              </a:rPr>
              <a:t> </a:t>
            </a:r>
            <a:r>
              <a:rPr dirty="0" sz="1200" spc="-5">
                <a:latin typeface="Arial"/>
                <a:cs typeface="Arial"/>
              </a:rPr>
              <a:t>the</a:t>
            </a:r>
            <a:r>
              <a:rPr dirty="0" sz="1200" spc="220">
                <a:latin typeface="Arial"/>
                <a:cs typeface="Arial"/>
              </a:rPr>
              <a:t> </a:t>
            </a:r>
            <a:r>
              <a:rPr dirty="0" sz="1200" spc="-5">
                <a:latin typeface="Arial"/>
                <a:cs typeface="Arial"/>
              </a:rPr>
              <a:t>place</a:t>
            </a:r>
            <a:r>
              <a:rPr dirty="0" sz="1200" spc="220">
                <a:latin typeface="Arial"/>
                <a:cs typeface="Arial"/>
              </a:rPr>
              <a:t> </a:t>
            </a:r>
            <a:r>
              <a:rPr dirty="0" sz="1200" spc="-5">
                <a:latin typeface="Arial"/>
                <a:cs typeface="Arial"/>
              </a:rPr>
              <a:t>of</a:t>
            </a:r>
            <a:r>
              <a:rPr dirty="0" sz="1200" spc="229">
                <a:latin typeface="Arial"/>
                <a:cs typeface="Arial"/>
              </a:rPr>
              <a:t> </a:t>
            </a:r>
            <a:r>
              <a:rPr dirty="0" sz="1200" spc="-5">
                <a:latin typeface="Arial"/>
                <a:cs typeface="Arial"/>
              </a:rPr>
              <a:t>the</a:t>
            </a:r>
            <a:r>
              <a:rPr dirty="0" sz="1200" spc="225">
                <a:latin typeface="Arial"/>
                <a:cs typeface="Arial"/>
              </a:rPr>
              <a:t> </a:t>
            </a:r>
            <a:r>
              <a:rPr dirty="0" sz="1200" spc="-5">
                <a:latin typeface="Arial"/>
                <a:cs typeface="Arial"/>
              </a:rPr>
              <a:t>Sunnah</a:t>
            </a:r>
            <a:r>
              <a:rPr dirty="0" sz="1200" spc="220">
                <a:latin typeface="Arial"/>
                <a:cs typeface="Arial"/>
              </a:rPr>
              <a:t> </a:t>
            </a:r>
            <a:r>
              <a:rPr dirty="0" sz="1200" spc="-5">
                <a:latin typeface="Arial"/>
                <a:cs typeface="Arial"/>
              </a:rPr>
              <a:t>in</a:t>
            </a:r>
            <a:r>
              <a:rPr dirty="0" sz="1200" spc="204">
                <a:latin typeface="Arial"/>
                <a:cs typeface="Arial"/>
              </a:rPr>
              <a:t> </a:t>
            </a:r>
            <a:r>
              <a:rPr dirty="0" sz="1200" spc="5">
                <a:latin typeface="Arial"/>
                <a:cs typeface="Arial"/>
              </a:rPr>
              <a:t>matters</a:t>
            </a:r>
            <a:r>
              <a:rPr dirty="0" sz="1200" spc="215">
                <a:latin typeface="Arial"/>
                <a:cs typeface="Arial"/>
              </a:rPr>
              <a:t> </a:t>
            </a:r>
            <a:r>
              <a:rPr dirty="0" sz="1200" spc="-5">
                <a:latin typeface="Arial"/>
                <a:cs typeface="Arial"/>
              </a:rPr>
              <a:t>of</a:t>
            </a:r>
            <a:r>
              <a:rPr dirty="0" sz="1200" spc="225">
                <a:latin typeface="Arial"/>
                <a:cs typeface="Arial"/>
              </a:rPr>
              <a:t> </a:t>
            </a:r>
            <a:r>
              <a:rPr dirty="0" sz="1200" spc="-5" i="1">
                <a:latin typeface="Arial"/>
                <a:cs typeface="Arial"/>
              </a:rPr>
              <a:t>aqeedah:</a:t>
            </a:r>
            <a:r>
              <a:rPr dirty="0" sz="1200" spc="220" i="1">
                <a:latin typeface="Arial"/>
                <a:cs typeface="Arial"/>
              </a:rPr>
              <a:t> </a:t>
            </a:r>
            <a:r>
              <a:rPr dirty="0" sz="1200" spc="-5">
                <a:latin typeface="Arial"/>
                <a:cs typeface="Arial"/>
              </a:rPr>
              <a:t>based</a:t>
            </a:r>
            <a:r>
              <a:rPr dirty="0" sz="1200" spc="220">
                <a:latin typeface="Arial"/>
                <a:cs typeface="Arial"/>
              </a:rPr>
              <a:t> </a:t>
            </a:r>
            <a:r>
              <a:rPr dirty="0" sz="1200" spc="-5">
                <a:latin typeface="Arial"/>
                <a:cs typeface="Arial"/>
              </a:rPr>
              <a:t>on</a:t>
            </a:r>
            <a:r>
              <a:rPr dirty="0" sz="1200" spc="220">
                <a:latin typeface="Arial"/>
                <a:cs typeface="Arial"/>
              </a:rPr>
              <a:t> </a:t>
            </a:r>
            <a:r>
              <a:rPr dirty="0" sz="1200" spc="-80">
                <a:latin typeface="Arial"/>
                <a:cs typeface="Arial"/>
              </a:rPr>
              <a:t>―definitive‖</a:t>
            </a:r>
            <a:endParaRPr sz="1200">
              <a:latin typeface="Arial"/>
              <a:cs typeface="Arial"/>
            </a:endParaRPr>
          </a:p>
          <a:p>
            <a:pPr algn="just" marL="469900">
              <a:lnSpc>
                <a:spcPts val="1385"/>
              </a:lnSpc>
            </a:pPr>
            <a:r>
              <a:rPr dirty="0" sz="1200" spc="-5">
                <a:latin typeface="Arial"/>
                <a:cs typeface="Arial"/>
              </a:rPr>
              <a:t>evidence. </a:t>
            </a:r>
            <a:r>
              <a:rPr dirty="0" sz="1200">
                <a:latin typeface="Arial"/>
                <a:cs typeface="Arial"/>
              </a:rPr>
              <a:t>This </a:t>
            </a:r>
            <a:r>
              <a:rPr dirty="0" sz="1200" spc="-10">
                <a:latin typeface="Arial"/>
                <a:cs typeface="Arial"/>
              </a:rPr>
              <a:t>led </a:t>
            </a:r>
            <a:r>
              <a:rPr dirty="0" sz="1200" spc="-5">
                <a:latin typeface="Arial"/>
                <a:cs typeface="Arial"/>
              </a:rPr>
              <a:t>to a rejection of certain authentic hadith of the</a:t>
            </a:r>
            <a:r>
              <a:rPr dirty="0" sz="1200" spc="55">
                <a:latin typeface="Arial"/>
                <a:cs typeface="Arial"/>
              </a:rPr>
              <a:t> </a:t>
            </a:r>
            <a:r>
              <a:rPr dirty="0" sz="1200" spc="-5">
                <a:latin typeface="Arial"/>
                <a:cs typeface="Arial"/>
              </a:rPr>
              <a:t>Prophet</a:t>
            </a:r>
            <a:endParaRPr sz="1200">
              <a:latin typeface="Arial"/>
              <a:cs typeface="Arial"/>
            </a:endParaRPr>
          </a:p>
          <a:p>
            <a:pPr algn="just" marL="469900" marR="5715" indent="-229235">
              <a:lnSpc>
                <a:spcPts val="1380"/>
              </a:lnSpc>
              <a:spcBef>
                <a:spcPts val="65"/>
              </a:spcBef>
              <a:buAutoNum type="arabicPeriod" startAt="3"/>
              <a:tabLst>
                <a:tab pos="414020" algn="l"/>
              </a:tabLst>
            </a:pPr>
            <a:r>
              <a:rPr dirty="0" sz="1200" spc="-5">
                <a:latin typeface="Arial"/>
                <a:cs typeface="Arial"/>
              </a:rPr>
              <a:t>Using </a:t>
            </a:r>
            <a:r>
              <a:rPr dirty="0" sz="1200">
                <a:latin typeface="Arial"/>
                <a:cs typeface="Arial"/>
              </a:rPr>
              <a:t>the </a:t>
            </a:r>
            <a:r>
              <a:rPr dirty="0" sz="1200" spc="-5">
                <a:latin typeface="Arial"/>
                <a:cs typeface="Arial"/>
              </a:rPr>
              <a:t>statements of </a:t>
            </a:r>
            <a:r>
              <a:rPr dirty="0" sz="1200">
                <a:latin typeface="Arial"/>
                <a:cs typeface="Arial"/>
              </a:rPr>
              <a:t>the </a:t>
            </a:r>
            <a:r>
              <a:rPr dirty="0" sz="1200" spc="-5">
                <a:latin typeface="Arial"/>
                <a:cs typeface="Arial"/>
              </a:rPr>
              <a:t>Companions and </a:t>
            </a:r>
            <a:r>
              <a:rPr dirty="0" sz="1200">
                <a:latin typeface="Arial"/>
                <a:cs typeface="Arial"/>
              </a:rPr>
              <a:t>the </a:t>
            </a:r>
            <a:r>
              <a:rPr dirty="0" sz="1200" spc="-5">
                <a:latin typeface="Arial"/>
                <a:cs typeface="Arial"/>
              </a:rPr>
              <a:t>consensus and explanations of the  early scholars as supportive evidence. There is no question that their understanding  and devotion </a:t>
            </a:r>
            <a:r>
              <a:rPr dirty="0" sz="1200">
                <a:latin typeface="Arial"/>
                <a:cs typeface="Arial"/>
              </a:rPr>
              <a:t>to </a:t>
            </a:r>
            <a:r>
              <a:rPr dirty="0" sz="1200" spc="-5">
                <a:latin typeface="Arial"/>
                <a:cs typeface="Arial"/>
              </a:rPr>
              <a:t>the faith is greater than </a:t>
            </a:r>
            <a:r>
              <a:rPr dirty="0" sz="1200">
                <a:latin typeface="Arial"/>
                <a:cs typeface="Arial"/>
              </a:rPr>
              <a:t>any </a:t>
            </a:r>
            <a:r>
              <a:rPr dirty="0" sz="1200" spc="-5">
                <a:latin typeface="Arial"/>
                <a:cs typeface="Arial"/>
              </a:rPr>
              <a:t>generation that came</a:t>
            </a:r>
            <a:r>
              <a:rPr dirty="0" sz="1200" spc="10">
                <a:latin typeface="Arial"/>
                <a:cs typeface="Arial"/>
              </a:rPr>
              <a:t> </a:t>
            </a:r>
            <a:r>
              <a:rPr dirty="0" sz="1200" spc="-5">
                <a:latin typeface="Arial"/>
                <a:cs typeface="Arial"/>
              </a:rPr>
              <a:t>later.</a:t>
            </a:r>
            <a:endParaRPr sz="1200">
              <a:latin typeface="Arial"/>
              <a:cs typeface="Arial"/>
            </a:endParaRPr>
          </a:p>
          <a:p>
            <a:pPr algn="just" marL="469900" marR="9525" indent="-229235">
              <a:lnSpc>
                <a:spcPts val="1380"/>
              </a:lnSpc>
              <a:buAutoNum type="arabicPeriod" startAt="3"/>
              <a:tabLst>
                <a:tab pos="414020" algn="l"/>
              </a:tabLst>
            </a:pPr>
            <a:r>
              <a:rPr dirty="0" sz="1200" spc="-5">
                <a:latin typeface="Arial"/>
                <a:cs typeface="Arial"/>
              </a:rPr>
              <a:t>Adhering </a:t>
            </a:r>
            <a:r>
              <a:rPr dirty="0" sz="1200">
                <a:latin typeface="Arial"/>
                <a:cs typeface="Arial"/>
              </a:rPr>
              <a:t>to </a:t>
            </a:r>
            <a:r>
              <a:rPr dirty="0" sz="1200" spc="-5">
                <a:latin typeface="Arial"/>
                <a:cs typeface="Arial"/>
              </a:rPr>
              <a:t>all of </a:t>
            </a:r>
            <a:r>
              <a:rPr dirty="0" sz="1200" spc="-10">
                <a:latin typeface="Arial"/>
                <a:cs typeface="Arial"/>
              </a:rPr>
              <a:t>the </a:t>
            </a:r>
            <a:r>
              <a:rPr dirty="0" sz="1200" spc="-5">
                <a:latin typeface="Arial"/>
                <a:cs typeface="Arial"/>
              </a:rPr>
              <a:t>relevant texts concerning an issue, seeking </a:t>
            </a:r>
            <a:r>
              <a:rPr dirty="0" sz="1200">
                <a:latin typeface="Arial"/>
                <a:cs typeface="Arial"/>
              </a:rPr>
              <a:t>to </a:t>
            </a:r>
            <a:r>
              <a:rPr dirty="0" sz="1200" spc="-5">
                <a:latin typeface="Arial"/>
                <a:cs typeface="Arial"/>
              </a:rPr>
              <a:t>resolve any  apparent contradiction between them without discarding </a:t>
            </a:r>
            <a:r>
              <a:rPr dirty="0" sz="1200">
                <a:latin typeface="Arial"/>
                <a:cs typeface="Arial"/>
              </a:rPr>
              <a:t>any </a:t>
            </a:r>
            <a:r>
              <a:rPr dirty="0" sz="1200" spc="-5">
                <a:latin typeface="Arial"/>
                <a:cs typeface="Arial"/>
              </a:rPr>
              <a:t>of</a:t>
            </a:r>
            <a:r>
              <a:rPr dirty="0" sz="1200" spc="5">
                <a:latin typeface="Arial"/>
                <a:cs typeface="Arial"/>
              </a:rPr>
              <a:t> </a:t>
            </a:r>
            <a:r>
              <a:rPr dirty="0" sz="1200" spc="-5">
                <a:latin typeface="Arial"/>
                <a:cs typeface="Arial"/>
              </a:rPr>
              <a:t>them:</a:t>
            </a:r>
            <a:endParaRPr sz="1200">
              <a:latin typeface="Arial"/>
              <a:cs typeface="Arial"/>
            </a:endParaRPr>
          </a:p>
          <a:p>
            <a:pPr algn="just" marL="469900" marR="12065" indent="-229235">
              <a:lnSpc>
                <a:spcPts val="1380"/>
              </a:lnSpc>
              <a:buAutoNum type="arabicPeriod" startAt="3"/>
              <a:tabLst>
                <a:tab pos="414020" algn="l"/>
              </a:tabLst>
            </a:pPr>
            <a:r>
              <a:rPr dirty="0" sz="1200" spc="-5">
                <a:latin typeface="Arial"/>
                <a:cs typeface="Arial"/>
              </a:rPr>
              <a:t>There is no complete allegiance and submission </a:t>
            </a:r>
            <a:r>
              <a:rPr dirty="0" sz="1200">
                <a:latin typeface="Arial"/>
                <a:cs typeface="Arial"/>
              </a:rPr>
              <a:t>to </a:t>
            </a:r>
            <a:r>
              <a:rPr dirty="0" sz="1200" spc="-5">
                <a:latin typeface="Arial"/>
                <a:cs typeface="Arial"/>
              </a:rPr>
              <a:t>the teachings of any human save  </a:t>
            </a:r>
            <a:r>
              <a:rPr dirty="0" sz="1200">
                <a:latin typeface="Arial"/>
                <a:cs typeface="Arial"/>
              </a:rPr>
              <a:t>the </a:t>
            </a:r>
            <a:r>
              <a:rPr dirty="0" sz="1200" spc="-5">
                <a:latin typeface="Arial"/>
                <a:cs typeface="Arial"/>
              </a:rPr>
              <a:t>Messenger of Allah (peace and blessings of Allah be upon</a:t>
            </a:r>
            <a:r>
              <a:rPr dirty="0" sz="1200" spc="45">
                <a:latin typeface="Arial"/>
                <a:cs typeface="Arial"/>
              </a:rPr>
              <a:t> </a:t>
            </a:r>
            <a:r>
              <a:rPr dirty="0" sz="1200" spc="-5">
                <a:latin typeface="Arial"/>
                <a:cs typeface="Arial"/>
              </a:rPr>
              <a:t>him):</a:t>
            </a:r>
            <a:endParaRPr sz="1200">
              <a:latin typeface="Arial"/>
              <a:cs typeface="Arial"/>
            </a:endParaRPr>
          </a:p>
          <a:p>
            <a:pPr algn="just" marL="413384" indent="-172720">
              <a:lnSpc>
                <a:spcPts val="1315"/>
              </a:lnSpc>
              <a:buAutoNum type="arabicPeriod" startAt="3"/>
              <a:tabLst>
                <a:tab pos="414020" algn="l"/>
              </a:tabLst>
            </a:pPr>
            <a:r>
              <a:rPr dirty="0" sz="1200" spc="-5">
                <a:latin typeface="Arial"/>
                <a:cs typeface="Arial"/>
              </a:rPr>
              <a:t>Avoidance of any </a:t>
            </a:r>
            <a:r>
              <a:rPr dirty="0" sz="1200">
                <a:latin typeface="Arial"/>
                <a:cs typeface="Arial"/>
              </a:rPr>
              <a:t>and </a:t>
            </a:r>
            <a:r>
              <a:rPr dirty="0" sz="1200" spc="-5">
                <a:latin typeface="Arial"/>
                <a:cs typeface="Arial"/>
              </a:rPr>
              <a:t>all </a:t>
            </a:r>
            <a:r>
              <a:rPr dirty="0" sz="1200">
                <a:latin typeface="Arial"/>
                <a:cs typeface="Arial"/>
              </a:rPr>
              <a:t>heresies </a:t>
            </a:r>
            <a:r>
              <a:rPr dirty="0" sz="1200" spc="-10">
                <a:latin typeface="Arial"/>
                <a:cs typeface="Arial"/>
              </a:rPr>
              <a:t>in </a:t>
            </a:r>
            <a:r>
              <a:rPr dirty="0" sz="1200" spc="-5">
                <a:latin typeface="Arial"/>
                <a:cs typeface="Arial"/>
              </a:rPr>
              <a:t>the</a:t>
            </a:r>
            <a:r>
              <a:rPr dirty="0" sz="1200">
                <a:latin typeface="Arial"/>
                <a:cs typeface="Arial"/>
              </a:rPr>
              <a:t> </a:t>
            </a:r>
            <a:r>
              <a:rPr dirty="0" sz="1200" spc="-5">
                <a:latin typeface="Arial"/>
                <a:cs typeface="Arial"/>
              </a:rPr>
              <a:t>religion</a:t>
            </a:r>
            <a:endParaRPr sz="1200">
              <a:latin typeface="Arial"/>
              <a:cs typeface="Arial"/>
            </a:endParaRPr>
          </a:p>
          <a:p>
            <a:pPr algn="just" marL="469900" marR="6985" indent="-229235">
              <a:lnSpc>
                <a:spcPts val="1360"/>
              </a:lnSpc>
              <a:spcBef>
                <a:spcPts val="85"/>
              </a:spcBef>
              <a:buAutoNum type="arabicPeriod" startAt="3"/>
              <a:tabLst>
                <a:tab pos="414020" algn="l"/>
              </a:tabLst>
            </a:pPr>
            <a:r>
              <a:rPr dirty="0" sz="1200" spc="-5">
                <a:latin typeface="Arial"/>
                <a:cs typeface="Arial"/>
              </a:rPr>
              <a:t>Avoidance of the discussions of the philosophers and </a:t>
            </a:r>
            <a:r>
              <a:rPr dirty="0" sz="1200">
                <a:latin typeface="Arial"/>
                <a:cs typeface="Arial"/>
              </a:rPr>
              <a:t>dialecticians </a:t>
            </a:r>
            <a:r>
              <a:rPr dirty="0" sz="1200" spc="-5">
                <a:latin typeface="Arial"/>
                <a:cs typeface="Arial"/>
              </a:rPr>
              <a:t>in matters of faith  (</a:t>
            </a:r>
            <a:r>
              <a:rPr dirty="0" sz="1200" spc="-5" i="1">
                <a:latin typeface="Arial"/>
                <a:cs typeface="Arial"/>
              </a:rPr>
              <a:t>aqeedah)—again, relying </a:t>
            </a:r>
            <a:r>
              <a:rPr dirty="0" sz="1200" i="1">
                <a:latin typeface="Arial"/>
                <a:cs typeface="Arial"/>
              </a:rPr>
              <a:t>solely </a:t>
            </a:r>
            <a:r>
              <a:rPr dirty="0" sz="1200" spc="-5" i="1">
                <a:latin typeface="Arial"/>
                <a:cs typeface="Arial"/>
              </a:rPr>
              <a:t>on </a:t>
            </a:r>
            <a:r>
              <a:rPr dirty="0" sz="1200" spc="-5">
                <a:latin typeface="Arial"/>
                <a:cs typeface="Arial"/>
              </a:rPr>
              <a:t>the clear teachings of the Quran and</a:t>
            </a:r>
            <a:r>
              <a:rPr dirty="0" sz="1200" spc="70">
                <a:latin typeface="Arial"/>
                <a:cs typeface="Arial"/>
              </a:rPr>
              <a:t> </a:t>
            </a:r>
            <a:r>
              <a:rPr dirty="0" sz="1200" spc="-5">
                <a:latin typeface="Arial"/>
                <a:cs typeface="Arial"/>
              </a:rPr>
              <a:t>Sunnah.</a:t>
            </a:r>
            <a:endParaRPr sz="1200">
              <a:latin typeface="Arial"/>
              <a:cs typeface="Arial"/>
            </a:endParaRPr>
          </a:p>
          <a:p>
            <a:pPr>
              <a:lnSpc>
                <a:spcPct val="100000"/>
              </a:lnSpc>
            </a:pPr>
            <a:endParaRPr sz="1300">
              <a:latin typeface="Arial"/>
              <a:cs typeface="Arial"/>
            </a:endParaRPr>
          </a:p>
          <a:p>
            <a:pPr>
              <a:lnSpc>
                <a:spcPct val="100000"/>
              </a:lnSpc>
              <a:spcBef>
                <a:spcPts val="35"/>
              </a:spcBef>
            </a:pPr>
            <a:endParaRPr sz="1000">
              <a:latin typeface="Arial"/>
              <a:cs typeface="Arial"/>
            </a:endParaRPr>
          </a:p>
          <a:p>
            <a:pPr algn="just" marL="241300">
              <a:lnSpc>
                <a:spcPct val="100000"/>
              </a:lnSpc>
            </a:pPr>
            <a:r>
              <a:rPr dirty="0" sz="1200" b="1" i="1">
                <a:latin typeface="Arial"/>
                <a:cs typeface="Arial"/>
              </a:rPr>
              <a:t>2.</a:t>
            </a:r>
            <a:r>
              <a:rPr dirty="0" u="heavy" sz="1200" b="1" i="1">
                <a:uFill>
                  <a:solidFill>
                    <a:srgbClr val="000000"/>
                  </a:solidFill>
                </a:uFill>
                <a:latin typeface="Arial"/>
                <a:cs typeface="Arial"/>
              </a:rPr>
              <a:t> </a:t>
            </a:r>
            <a:r>
              <a:rPr dirty="0" u="heavy" sz="1200" spc="-5" b="1" i="1">
                <a:uFill>
                  <a:solidFill>
                    <a:srgbClr val="000000"/>
                  </a:solidFill>
                </a:uFill>
                <a:latin typeface="Arial"/>
                <a:cs typeface="Arial"/>
              </a:rPr>
              <a:t>Muhammad</a:t>
            </a:r>
            <a:r>
              <a:rPr dirty="0" u="heavy" sz="1200" spc="-210" b="1" i="1">
                <a:uFill>
                  <a:solidFill>
                    <a:srgbClr val="000000"/>
                  </a:solidFill>
                </a:uFill>
                <a:latin typeface="Arial"/>
                <a:cs typeface="Arial"/>
              </a:rPr>
              <a:t> </a:t>
            </a:r>
            <a:r>
              <a:rPr dirty="0" u="heavy" sz="1200" spc="-50" b="1" i="1">
                <a:uFill>
                  <a:solidFill>
                    <a:srgbClr val="000000"/>
                  </a:solidFill>
                </a:uFill>
                <a:latin typeface="Arial"/>
                <a:cs typeface="Arial"/>
              </a:rPr>
              <a:t>„Abduh</a:t>
            </a:r>
            <a:endParaRPr sz="1200">
              <a:latin typeface="Arial"/>
              <a:cs typeface="Arial"/>
            </a:endParaRPr>
          </a:p>
          <a:p>
            <a:pPr>
              <a:lnSpc>
                <a:spcPct val="100000"/>
              </a:lnSpc>
            </a:pPr>
            <a:endParaRPr sz="1200">
              <a:latin typeface="Arial"/>
              <a:cs typeface="Arial"/>
            </a:endParaRPr>
          </a:p>
          <a:p>
            <a:pPr algn="just" marL="12700" marR="5080">
              <a:lnSpc>
                <a:spcPct val="95800"/>
              </a:lnSpc>
            </a:pPr>
            <a:r>
              <a:rPr dirty="0" sz="1200" spc="-5">
                <a:latin typeface="Arial"/>
                <a:cs typeface="Arial"/>
              </a:rPr>
              <a:t>Muhammad </a:t>
            </a:r>
            <a:r>
              <a:rPr dirty="0" sz="1200" spc="-75">
                <a:latin typeface="Arial"/>
                <a:cs typeface="Arial"/>
              </a:rPr>
              <a:t>‗Abduh </a:t>
            </a:r>
            <a:r>
              <a:rPr dirty="0" sz="1200" spc="-5">
                <a:latin typeface="Arial"/>
                <a:cs typeface="Arial"/>
              </a:rPr>
              <a:t>was </a:t>
            </a:r>
            <a:r>
              <a:rPr dirty="0" sz="1200">
                <a:latin typeface="Arial"/>
                <a:cs typeface="Arial"/>
              </a:rPr>
              <a:t>an </a:t>
            </a:r>
            <a:r>
              <a:rPr dirty="0" sz="1200" spc="-5">
                <a:latin typeface="Arial"/>
                <a:cs typeface="Arial"/>
              </a:rPr>
              <a:t>Egyptian reformer and pioneer of Islamic modernism and  nationalism. He </a:t>
            </a:r>
            <a:r>
              <a:rPr dirty="0" sz="1200" spc="-10">
                <a:latin typeface="Arial"/>
                <a:cs typeface="Arial"/>
              </a:rPr>
              <a:t>was </a:t>
            </a:r>
            <a:r>
              <a:rPr dirty="0" sz="1200" spc="-5">
                <a:latin typeface="Arial"/>
                <a:cs typeface="Arial"/>
              </a:rPr>
              <a:t>born in Lower Egypt (1849-1905) and studied </a:t>
            </a:r>
            <a:r>
              <a:rPr dirty="0" sz="1200">
                <a:latin typeface="Arial"/>
                <a:cs typeface="Arial"/>
              </a:rPr>
              <a:t>at </a:t>
            </a:r>
            <a:r>
              <a:rPr dirty="0" sz="1200" spc="-5">
                <a:latin typeface="Arial"/>
                <a:cs typeface="Arial"/>
              </a:rPr>
              <a:t>the village </a:t>
            </a:r>
            <a:r>
              <a:rPr dirty="0" sz="1200">
                <a:latin typeface="Arial"/>
                <a:cs typeface="Arial"/>
              </a:rPr>
              <a:t>Qur'an  </a:t>
            </a:r>
            <a:r>
              <a:rPr dirty="0" sz="1200" spc="-5">
                <a:latin typeface="Arial"/>
                <a:cs typeface="Arial"/>
              </a:rPr>
              <a:t>school, </a:t>
            </a:r>
            <a:r>
              <a:rPr dirty="0" sz="1200">
                <a:latin typeface="Arial"/>
                <a:cs typeface="Arial"/>
              </a:rPr>
              <a:t>the </a:t>
            </a:r>
            <a:r>
              <a:rPr dirty="0" sz="1200" spc="-5">
                <a:latin typeface="Arial"/>
                <a:cs typeface="Arial"/>
              </a:rPr>
              <a:t>Ahmadi mosque in Tanta, and the great mosque-university </a:t>
            </a:r>
            <a:r>
              <a:rPr dirty="0" sz="1200">
                <a:latin typeface="Arial"/>
                <a:cs typeface="Arial"/>
              </a:rPr>
              <a:t>of </a:t>
            </a:r>
            <a:r>
              <a:rPr dirty="0" sz="1200" spc="-5">
                <a:latin typeface="Arial"/>
                <a:cs typeface="Arial"/>
              </a:rPr>
              <a:t>al-Azhar in Cairo.  He </a:t>
            </a:r>
            <a:r>
              <a:rPr dirty="0" sz="1200" spc="-10">
                <a:latin typeface="Arial"/>
                <a:cs typeface="Arial"/>
              </a:rPr>
              <a:t>was </a:t>
            </a:r>
            <a:r>
              <a:rPr dirty="0" sz="1200" spc="-5">
                <a:latin typeface="Arial"/>
                <a:cs typeface="Arial"/>
              </a:rPr>
              <a:t>influenced by </a:t>
            </a:r>
            <a:r>
              <a:rPr dirty="0" sz="1200">
                <a:latin typeface="Arial"/>
                <a:cs typeface="Arial"/>
              </a:rPr>
              <a:t>Jamal </a:t>
            </a:r>
            <a:r>
              <a:rPr dirty="0" sz="1200" spc="-10">
                <a:latin typeface="Arial"/>
                <a:cs typeface="Arial"/>
              </a:rPr>
              <a:t>ad </a:t>
            </a:r>
            <a:r>
              <a:rPr dirty="0" sz="1200" spc="-5">
                <a:latin typeface="Arial"/>
                <a:cs typeface="Arial"/>
              </a:rPr>
              <a:t>Din al Afghani </a:t>
            </a:r>
            <a:r>
              <a:rPr dirty="0" sz="1200">
                <a:latin typeface="Arial"/>
                <a:cs typeface="Arial"/>
              </a:rPr>
              <a:t>(1839-1897). When </a:t>
            </a:r>
            <a:r>
              <a:rPr dirty="0" sz="1200" spc="-5">
                <a:latin typeface="Arial"/>
                <a:cs typeface="Arial"/>
              </a:rPr>
              <a:t>Afghani </a:t>
            </a:r>
            <a:r>
              <a:rPr dirty="0" sz="1200" spc="-10">
                <a:latin typeface="Arial"/>
                <a:cs typeface="Arial"/>
              </a:rPr>
              <a:t>was </a:t>
            </a:r>
            <a:r>
              <a:rPr dirty="0" sz="1200" spc="-5">
                <a:latin typeface="Arial"/>
                <a:cs typeface="Arial"/>
              </a:rPr>
              <a:t>expelled  from Egypt in 1879, </a:t>
            </a:r>
            <a:r>
              <a:rPr dirty="0" sz="1200" spc="-10">
                <a:latin typeface="Arial"/>
                <a:cs typeface="Arial"/>
              </a:rPr>
              <a:t>his </a:t>
            </a:r>
            <a:r>
              <a:rPr dirty="0" sz="1200" spc="-5">
                <a:latin typeface="Arial"/>
                <a:cs typeface="Arial"/>
              </a:rPr>
              <a:t>disciple Abduh </a:t>
            </a:r>
            <a:r>
              <a:rPr dirty="0" sz="1200" spc="-10">
                <a:latin typeface="Arial"/>
                <a:cs typeface="Arial"/>
              </a:rPr>
              <a:t>was </a:t>
            </a:r>
            <a:r>
              <a:rPr dirty="0" sz="1200">
                <a:latin typeface="Arial"/>
                <a:cs typeface="Arial"/>
              </a:rPr>
              <a:t>dismissed </a:t>
            </a:r>
            <a:r>
              <a:rPr dirty="0" sz="1200" spc="-5">
                <a:latin typeface="Arial"/>
                <a:cs typeface="Arial"/>
              </a:rPr>
              <a:t>from teaching duties </a:t>
            </a:r>
            <a:r>
              <a:rPr dirty="0" sz="1200">
                <a:latin typeface="Arial"/>
                <a:cs typeface="Arial"/>
              </a:rPr>
              <a:t>at </a:t>
            </a:r>
            <a:r>
              <a:rPr dirty="0" sz="1200" spc="-5">
                <a:latin typeface="Arial"/>
                <a:cs typeface="Arial"/>
              </a:rPr>
              <a:t>al-Azhar and  returned </a:t>
            </a:r>
            <a:r>
              <a:rPr dirty="0" sz="1200">
                <a:latin typeface="Arial"/>
                <a:cs typeface="Arial"/>
              </a:rPr>
              <a:t>to </a:t>
            </a:r>
            <a:r>
              <a:rPr dirty="0" sz="1200" spc="-5">
                <a:latin typeface="Arial"/>
                <a:cs typeface="Arial"/>
              </a:rPr>
              <a:t>his village. Abduh came back to Cairo in 1880 as editor of the government's  </a:t>
            </a:r>
            <a:r>
              <a:rPr dirty="0" sz="1200" spc="-5" i="1">
                <a:latin typeface="Arial"/>
                <a:cs typeface="Arial"/>
              </a:rPr>
              <a:t>Official Journal. </a:t>
            </a:r>
            <a:r>
              <a:rPr dirty="0" sz="1200" spc="-5">
                <a:latin typeface="Arial"/>
                <a:cs typeface="Arial"/>
              </a:rPr>
              <a:t>He supported a revolt against Egypt's domination by </a:t>
            </a:r>
            <a:r>
              <a:rPr dirty="0" sz="1200">
                <a:latin typeface="Arial"/>
                <a:cs typeface="Arial"/>
              </a:rPr>
              <a:t>Europeans. In </a:t>
            </a:r>
            <a:r>
              <a:rPr dirty="0" sz="1200" spc="-10">
                <a:latin typeface="Arial"/>
                <a:cs typeface="Arial"/>
              </a:rPr>
              <a:t>1884  </a:t>
            </a:r>
            <a:r>
              <a:rPr dirty="0" sz="1200" spc="-5">
                <a:latin typeface="Arial"/>
                <a:cs typeface="Arial"/>
              </a:rPr>
              <a:t>Abduh joined Afghani </a:t>
            </a:r>
            <a:r>
              <a:rPr dirty="0" sz="1200" spc="-10">
                <a:latin typeface="Arial"/>
                <a:cs typeface="Arial"/>
              </a:rPr>
              <a:t>in </a:t>
            </a:r>
            <a:r>
              <a:rPr dirty="0" sz="1200" spc="-5">
                <a:latin typeface="Arial"/>
                <a:cs typeface="Arial"/>
              </a:rPr>
              <a:t>Paris </a:t>
            </a:r>
            <a:r>
              <a:rPr dirty="0" sz="1200">
                <a:latin typeface="Arial"/>
                <a:cs typeface="Arial"/>
              </a:rPr>
              <a:t>to publish </a:t>
            </a:r>
            <a:r>
              <a:rPr dirty="0" sz="1200" spc="-5">
                <a:latin typeface="Arial"/>
                <a:cs typeface="Arial"/>
              </a:rPr>
              <a:t>a short-lived </a:t>
            </a:r>
            <a:r>
              <a:rPr dirty="0" sz="1200">
                <a:latin typeface="Arial"/>
                <a:cs typeface="Arial"/>
              </a:rPr>
              <a:t>journal, </a:t>
            </a:r>
            <a:r>
              <a:rPr dirty="0" sz="1200" spc="-5" i="1">
                <a:latin typeface="Arial"/>
                <a:cs typeface="Arial"/>
              </a:rPr>
              <a:t>The Indissoluble </a:t>
            </a:r>
            <a:r>
              <a:rPr dirty="0" sz="1200" i="1">
                <a:latin typeface="Arial"/>
                <a:cs typeface="Arial"/>
              </a:rPr>
              <a:t>Bond. </a:t>
            </a:r>
            <a:r>
              <a:rPr dirty="0" sz="1200">
                <a:latin typeface="Arial"/>
                <a:cs typeface="Arial"/>
              </a:rPr>
              <a:t>In </a:t>
            </a:r>
            <a:r>
              <a:rPr dirty="0" sz="1200" spc="-10">
                <a:latin typeface="Arial"/>
                <a:cs typeface="Arial"/>
              </a:rPr>
              <a:t>1888  </a:t>
            </a:r>
            <a:r>
              <a:rPr dirty="0" sz="1200" spc="-5">
                <a:latin typeface="Arial"/>
                <a:cs typeface="Arial"/>
              </a:rPr>
              <a:t>he returned </a:t>
            </a:r>
            <a:r>
              <a:rPr dirty="0" sz="1200">
                <a:latin typeface="Arial"/>
                <a:cs typeface="Arial"/>
              </a:rPr>
              <a:t>to </a:t>
            </a:r>
            <a:r>
              <a:rPr dirty="0" sz="1200" spc="-5">
                <a:latin typeface="Arial"/>
                <a:cs typeface="Arial"/>
              </a:rPr>
              <a:t>Egypt and became a judge </a:t>
            </a:r>
            <a:r>
              <a:rPr dirty="0" sz="1200">
                <a:latin typeface="Arial"/>
                <a:cs typeface="Arial"/>
              </a:rPr>
              <a:t>on the </a:t>
            </a:r>
            <a:r>
              <a:rPr dirty="0" sz="1200" spc="-5">
                <a:latin typeface="Arial"/>
                <a:cs typeface="Arial"/>
              </a:rPr>
              <a:t>National</a:t>
            </a:r>
            <a:r>
              <a:rPr dirty="0" sz="1200">
                <a:latin typeface="Arial"/>
                <a:cs typeface="Arial"/>
              </a:rPr>
              <a:t> Courts.</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162</a:t>
            </a:r>
            <a:endParaRPr sz="1200">
              <a:latin typeface="Times New Roman"/>
              <a:cs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642619" y="799592"/>
            <a:ext cx="6464935" cy="8971280"/>
          </a:xfrm>
          <a:prstGeom prst="rect">
            <a:avLst/>
          </a:prstGeom>
        </p:spPr>
        <p:txBody>
          <a:bodyPr wrap="square" lIns="0" tIns="12700" rIns="0" bIns="0" rtlCol="0" vert="horz">
            <a:spAutoFit/>
          </a:bodyPr>
          <a:lstStyle/>
          <a:p>
            <a:pPr algn="just" marL="88900">
              <a:lnSpc>
                <a:spcPct val="100000"/>
              </a:lnSpc>
              <a:spcBef>
                <a:spcPts val="100"/>
              </a:spcBef>
            </a:pPr>
            <a:r>
              <a:rPr dirty="0" u="heavy" sz="1200" spc="-5" b="1" i="1">
                <a:uFill>
                  <a:solidFill>
                    <a:srgbClr val="000000"/>
                  </a:solidFill>
                </a:uFill>
                <a:latin typeface="Arial"/>
                <a:cs typeface="Arial"/>
              </a:rPr>
              <a:t>Concepts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Muhammad</a:t>
            </a:r>
            <a:r>
              <a:rPr dirty="0" u="heavy" sz="1200" spc="5" b="1" i="1">
                <a:uFill>
                  <a:solidFill>
                    <a:srgbClr val="000000"/>
                  </a:solidFill>
                </a:uFill>
                <a:latin typeface="Arial"/>
                <a:cs typeface="Arial"/>
              </a:rPr>
              <a:t> </a:t>
            </a:r>
            <a:r>
              <a:rPr dirty="0" u="heavy" sz="1200" spc="-50" b="1" i="1">
                <a:uFill>
                  <a:solidFill>
                    <a:srgbClr val="000000"/>
                  </a:solidFill>
                </a:uFill>
                <a:latin typeface="Arial"/>
                <a:cs typeface="Arial"/>
              </a:rPr>
              <a:t>„Abduh</a:t>
            </a:r>
            <a:endParaRPr sz="1200">
              <a:latin typeface="Arial"/>
              <a:cs typeface="Arial"/>
            </a:endParaRPr>
          </a:p>
          <a:p>
            <a:pPr>
              <a:lnSpc>
                <a:spcPct val="100000"/>
              </a:lnSpc>
              <a:spcBef>
                <a:spcPts val="35"/>
              </a:spcBef>
            </a:pPr>
            <a:endParaRPr sz="1200">
              <a:latin typeface="Arial"/>
              <a:cs typeface="Arial"/>
            </a:endParaRPr>
          </a:p>
          <a:p>
            <a:pPr algn="just" marL="546100" marR="88265" indent="-228600">
              <a:lnSpc>
                <a:spcPts val="1380"/>
              </a:lnSpc>
              <a:buAutoNum type="arabicPeriod"/>
              <a:tabLst>
                <a:tab pos="490220" algn="l"/>
              </a:tabLst>
            </a:pPr>
            <a:r>
              <a:rPr dirty="0" sz="1200" spc="-5">
                <a:latin typeface="Arial"/>
                <a:cs typeface="Arial"/>
              </a:rPr>
              <a:t>Believed that Muslims everywhere </a:t>
            </a:r>
            <a:r>
              <a:rPr dirty="0" sz="1200">
                <a:latin typeface="Arial"/>
                <a:cs typeface="Arial"/>
              </a:rPr>
              <a:t>must </a:t>
            </a:r>
            <a:r>
              <a:rPr dirty="0" sz="1200" spc="-5">
                <a:latin typeface="Arial"/>
                <a:cs typeface="Arial"/>
              </a:rPr>
              <a:t>cooperate </a:t>
            </a:r>
            <a:r>
              <a:rPr dirty="0" sz="1200">
                <a:latin typeface="Arial"/>
                <a:cs typeface="Arial"/>
              </a:rPr>
              <a:t>to </a:t>
            </a:r>
            <a:r>
              <a:rPr dirty="0" sz="1200" spc="-5">
                <a:latin typeface="Arial"/>
                <a:cs typeface="Arial"/>
              </a:rPr>
              <a:t>reverse internal decline </a:t>
            </a:r>
            <a:r>
              <a:rPr dirty="0" sz="1200" spc="-10">
                <a:latin typeface="Arial"/>
                <a:cs typeface="Arial"/>
              </a:rPr>
              <a:t>and  </a:t>
            </a:r>
            <a:r>
              <a:rPr dirty="0" sz="1200" spc="-5">
                <a:latin typeface="Arial"/>
                <a:cs typeface="Arial"/>
              </a:rPr>
              <a:t>counter European</a:t>
            </a:r>
            <a:r>
              <a:rPr dirty="0" sz="1200">
                <a:latin typeface="Arial"/>
                <a:cs typeface="Arial"/>
              </a:rPr>
              <a:t> </a:t>
            </a:r>
            <a:r>
              <a:rPr dirty="0" sz="1200" spc="-5">
                <a:latin typeface="Arial"/>
                <a:cs typeface="Arial"/>
              </a:rPr>
              <a:t>imperialism</a:t>
            </a:r>
            <a:endParaRPr sz="1200">
              <a:latin typeface="Arial"/>
              <a:cs typeface="Arial"/>
            </a:endParaRPr>
          </a:p>
          <a:p>
            <a:pPr algn="just" marL="489584" indent="-172720">
              <a:lnSpc>
                <a:spcPts val="1310"/>
              </a:lnSpc>
              <a:buAutoNum type="arabicPeriod"/>
              <a:tabLst>
                <a:tab pos="490220" algn="l"/>
              </a:tabLst>
            </a:pPr>
            <a:r>
              <a:rPr dirty="0" sz="1200">
                <a:latin typeface="Arial"/>
                <a:cs typeface="Arial"/>
              </a:rPr>
              <a:t>return </a:t>
            </a:r>
            <a:r>
              <a:rPr dirty="0" sz="1200" spc="-5">
                <a:latin typeface="Arial"/>
                <a:cs typeface="Arial"/>
              </a:rPr>
              <a:t>to the spirit of early</a:t>
            </a:r>
            <a:r>
              <a:rPr dirty="0" sz="1200">
                <a:latin typeface="Arial"/>
                <a:cs typeface="Arial"/>
              </a:rPr>
              <a:t> Islam</a:t>
            </a:r>
            <a:endParaRPr sz="1200">
              <a:latin typeface="Arial"/>
              <a:cs typeface="Arial"/>
            </a:endParaRPr>
          </a:p>
          <a:p>
            <a:pPr algn="just" marL="546100" marR="85090" indent="-228600">
              <a:lnSpc>
                <a:spcPts val="1390"/>
              </a:lnSpc>
              <a:spcBef>
                <a:spcPts val="55"/>
              </a:spcBef>
              <a:buAutoNum type="arabicPeriod"/>
              <a:tabLst>
                <a:tab pos="490220" algn="l"/>
              </a:tabLst>
            </a:pPr>
            <a:r>
              <a:rPr dirty="0" sz="1200" spc="-5">
                <a:latin typeface="Arial"/>
                <a:cs typeface="Arial"/>
              </a:rPr>
              <a:t>reinterpretation of the </a:t>
            </a:r>
            <a:r>
              <a:rPr dirty="0" sz="1200">
                <a:latin typeface="Arial"/>
                <a:cs typeface="Arial"/>
              </a:rPr>
              <a:t>Quran </a:t>
            </a:r>
            <a:r>
              <a:rPr dirty="0" sz="1200" spc="-5">
                <a:latin typeface="Arial"/>
                <a:cs typeface="Arial"/>
              </a:rPr>
              <a:t>and </a:t>
            </a:r>
            <a:r>
              <a:rPr dirty="0" sz="1200">
                <a:latin typeface="Arial"/>
                <a:cs typeface="Arial"/>
              </a:rPr>
              <a:t>the </a:t>
            </a:r>
            <a:r>
              <a:rPr dirty="0" sz="1200" spc="-10" i="1">
                <a:latin typeface="Arial"/>
                <a:cs typeface="Arial"/>
              </a:rPr>
              <a:t>sunna </a:t>
            </a:r>
            <a:r>
              <a:rPr dirty="0" sz="1200" spc="-5">
                <a:latin typeface="Arial"/>
                <a:cs typeface="Arial"/>
              </a:rPr>
              <a:t>(precedent) of </a:t>
            </a:r>
            <a:r>
              <a:rPr dirty="0" sz="1200">
                <a:latin typeface="Arial"/>
                <a:cs typeface="Arial"/>
              </a:rPr>
              <a:t>the </a:t>
            </a:r>
            <a:r>
              <a:rPr dirty="0" sz="1200" spc="-5">
                <a:latin typeface="Arial"/>
                <a:cs typeface="Arial"/>
              </a:rPr>
              <a:t>prophet Muhammad </a:t>
            </a:r>
            <a:r>
              <a:rPr dirty="0" sz="1200" spc="-10">
                <a:latin typeface="Arial"/>
                <a:cs typeface="Arial"/>
              </a:rPr>
              <a:t>in  </a:t>
            </a:r>
            <a:r>
              <a:rPr dirty="0" sz="1200" spc="-5">
                <a:latin typeface="Arial"/>
                <a:cs typeface="Arial"/>
              </a:rPr>
              <a:t>light </a:t>
            </a:r>
            <a:r>
              <a:rPr dirty="0" sz="1200">
                <a:latin typeface="Arial"/>
                <a:cs typeface="Arial"/>
              </a:rPr>
              <a:t>of </a:t>
            </a:r>
            <a:r>
              <a:rPr dirty="0" sz="1200" spc="-5">
                <a:latin typeface="Arial"/>
                <a:cs typeface="Arial"/>
              </a:rPr>
              <a:t>modern</a:t>
            </a:r>
            <a:r>
              <a:rPr dirty="0" sz="1200" spc="-15">
                <a:latin typeface="Arial"/>
                <a:cs typeface="Arial"/>
              </a:rPr>
              <a:t> </a:t>
            </a:r>
            <a:r>
              <a:rPr dirty="0" sz="1200" spc="-5">
                <a:latin typeface="Arial"/>
                <a:cs typeface="Arial"/>
              </a:rPr>
              <a:t>times</a:t>
            </a:r>
            <a:endParaRPr sz="1200">
              <a:latin typeface="Arial"/>
              <a:cs typeface="Arial"/>
            </a:endParaRPr>
          </a:p>
          <a:p>
            <a:pPr algn="just" marL="546100" marR="86360" indent="-228600">
              <a:lnSpc>
                <a:spcPts val="1380"/>
              </a:lnSpc>
              <a:buAutoNum type="arabicPeriod"/>
              <a:tabLst>
                <a:tab pos="490220" algn="l"/>
              </a:tabLst>
            </a:pPr>
            <a:r>
              <a:rPr dirty="0" sz="1200" spc="-5">
                <a:latin typeface="Arial"/>
                <a:cs typeface="Arial"/>
              </a:rPr>
              <a:t>He </a:t>
            </a:r>
            <a:r>
              <a:rPr dirty="0" sz="1200">
                <a:latin typeface="Arial"/>
                <a:cs typeface="Arial"/>
              </a:rPr>
              <a:t>interprets </a:t>
            </a:r>
            <a:r>
              <a:rPr dirty="0" sz="1200" spc="-5">
                <a:latin typeface="Arial"/>
                <a:cs typeface="Arial"/>
              </a:rPr>
              <a:t>the </a:t>
            </a:r>
            <a:r>
              <a:rPr dirty="0" sz="1200">
                <a:latin typeface="Arial"/>
                <a:cs typeface="Arial"/>
              </a:rPr>
              <a:t>Islamic </a:t>
            </a:r>
            <a:r>
              <a:rPr dirty="0" sz="1200" spc="-5">
                <a:latin typeface="Arial"/>
                <a:cs typeface="Arial"/>
              </a:rPr>
              <a:t>law in such a </a:t>
            </a:r>
            <a:r>
              <a:rPr dirty="0" sz="1200" spc="-10">
                <a:latin typeface="Arial"/>
                <a:cs typeface="Arial"/>
              </a:rPr>
              <a:t>way </a:t>
            </a:r>
            <a:r>
              <a:rPr dirty="0" sz="1200" spc="-5">
                <a:latin typeface="Arial"/>
                <a:cs typeface="Arial"/>
              </a:rPr>
              <a:t>as </a:t>
            </a:r>
            <a:r>
              <a:rPr dirty="0" sz="1200">
                <a:latin typeface="Arial"/>
                <a:cs typeface="Arial"/>
              </a:rPr>
              <a:t>to free it from the </a:t>
            </a:r>
            <a:r>
              <a:rPr dirty="0" sz="1200" spc="-5">
                <a:latin typeface="Arial"/>
                <a:cs typeface="Arial"/>
              </a:rPr>
              <a:t>traditional  interpretations and </a:t>
            </a:r>
            <a:r>
              <a:rPr dirty="0" sz="1200" spc="-10">
                <a:latin typeface="Arial"/>
                <a:cs typeface="Arial"/>
              </a:rPr>
              <a:t>prove </a:t>
            </a:r>
            <a:r>
              <a:rPr dirty="0" sz="1200">
                <a:latin typeface="Arial"/>
                <a:cs typeface="Arial"/>
              </a:rPr>
              <a:t>that </a:t>
            </a:r>
            <a:r>
              <a:rPr dirty="0" sz="1200" spc="-5">
                <a:latin typeface="Arial"/>
                <a:cs typeface="Arial"/>
              </a:rPr>
              <a:t>Islam and modern </a:t>
            </a:r>
            <a:r>
              <a:rPr dirty="0" sz="1200">
                <a:latin typeface="Arial"/>
                <a:cs typeface="Arial"/>
              </a:rPr>
              <a:t>Western </a:t>
            </a:r>
            <a:r>
              <a:rPr dirty="0" sz="1200" spc="-5">
                <a:latin typeface="Arial"/>
                <a:cs typeface="Arial"/>
              </a:rPr>
              <a:t>civilization were</a:t>
            </a:r>
            <a:r>
              <a:rPr dirty="0" sz="1200" spc="135">
                <a:latin typeface="Arial"/>
                <a:cs typeface="Arial"/>
              </a:rPr>
              <a:t> </a:t>
            </a:r>
            <a:r>
              <a:rPr dirty="0" sz="1200" spc="-5">
                <a:latin typeface="Arial"/>
                <a:cs typeface="Arial"/>
              </a:rPr>
              <a:t>compatible.</a:t>
            </a:r>
            <a:endParaRPr sz="1200">
              <a:latin typeface="Arial"/>
              <a:cs typeface="Arial"/>
            </a:endParaRPr>
          </a:p>
          <a:p>
            <a:pPr algn="just" marL="546100" marR="81915" indent="-228600">
              <a:lnSpc>
                <a:spcPts val="1380"/>
              </a:lnSpc>
              <a:buAutoNum type="arabicPeriod"/>
              <a:tabLst>
                <a:tab pos="490220" algn="l"/>
              </a:tabLst>
            </a:pPr>
            <a:r>
              <a:rPr dirty="0" sz="1200" spc="-5">
                <a:latin typeface="Arial"/>
                <a:cs typeface="Arial"/>
              </a:rPr>
              <a:t>Abduh </a:t>
            </a:r>
            <a:r>
              <a:rPr dirty="0" sz="1200" spc="-10">
                <a:latin typeface="Arial"/>
                <a:cs typeface="Arial"/>
              </a:rPr>
              <a:t>was </a:t>
            </a:r>
            <a:r>
              <a:rPr dirty="0" sz="1200">
                <a:latin typeface="Arial"/>
                <a:cs typeface="Arial"/>
              </a:rPr>
              <a:t>thus </a:t>
            </a:r>
            <a:r>
              <a:rPr dirty="0" sz="1200" spc="-5">
                <a:latin typeface="Arial"/>
                <a:cs typeface="Arial"/>
              </a:rPr>
              <a:t>the </a:t>
            </a:r>
            <a:r>
              <a:rPr dirty="0" sz="1200">
                <a:latin typeface="Arial"/>
                <a:cs typeface="Arial"/>
              </a:rPr>
              <a:t>chief </a:t>
            </a:r>
            <a:r>
              <a:rPr dirty="0" sz="1200" spc="-5">
                <a:latin typeface="Arial"/>
                <a:cs typeface="Arial"/>
              </a:rPr>
              <a:t>exponent of what has </a:t>
            </a:r>
            <a:r>
              <a:rPr dirty="0" sz="1200">
                <a:latin typeface="Arial"/>
                <a:cs typeface="Arial"/>
              </a:rPr>
              <a:t>been </a:t>
            </a:r>
            <a:r>
              <a:rPr dirty="0" sz="1200" spc="-5">
                <a:latin typeface="Arial"/>
                <a:cs typeface="Arial"/>
              </a:rPr>
              <a:t>termed </a:t>
            </a:r>
            <a:r>
              <a:rPr dirty="0" sz="1200">
                <a:latin typeface="Arial"/>
                <a:cs typeface="Arial"/>
              </a:rPr>
              <a:t>as </a:t>
            </a:r>
            <a:r>
              <a:rPr dirty="0" sz="1200" spc="-5">
                <a:latin typeface="Arial"/>
                <a:cs typeface="Arial"/>
              </a:rPr>
              <a:t>the </a:t>
            </a:r>
            <a:r>
              <a:rPr dirty="0" sz="1200">
                <a:latin typeface="Arial"/>
                <a:cs typeface="Arial"/>
              </a:rPr>
              <a:t>"Two-Book" </a:t>
            </a:r>
            <a:r>
              <a:rPr dirty="0" sz="1200" spc="-5">
                <a:latin typeface="Arial"/>
                <a:cs typeface="Arial"/>
              </a:rPr>
              <a:t>school  of thought which, though </a:t>
            </a:r>
            <a:r>
              <a:rPr dirty="0" sz="1200">
                <a:latin typeface="Arial"/>
                <a:cs typeface="Arial"/>
              </a:rPr>
              <a:t>it basically </a:t>
            </a:r>
            <a:r>
              <a:rPr dirty="0" sz="1200" spc="-5">
                <a:latin typeface="Arial"/>
                <a:cs typeface="Arial"/>
              </a:rPr>
              <a:t>holds </a:t>
            </a:r>
            <a:r>
              <a:rPr dirty="0" sz="1200">
                <a:latin typeface="Arial"/>
                <a:cs typeface="Arial"/>
              </a:rPr>
              <a:t>the </a:t>
            </a:r>
            <a:r>
              <a:rPr dirty="0" sz="1200" spc="-5">
                <a:latin typeface="Arial"/>
                <a:cs typeface="Arial"/>
              </a:rPr>
              <a:t>unity </a:t>
            </a:r>
            <a:r>
              <a:rPr dirty="0" sz="1200">
                <a:latin typeface="Arial"/>
                <a:cs typeface="Arial"/>
              </a:rPr>
              <a:t>of God </a:t>
            </a:r>
            <a:r>
              <a:rPr dirty="0" sz="1200" spc="-5">
                <a:latin typeface="Arial"/>
                <a:cs typeface="Arial"/>
              </a:rPr>
              <a:t>inseparable </a:t>
            </a:r>
            <a:r>
              <a:rPr dirty="0" sz="1200">
                <a:latin typeface="Arial"/>
                <a:cs typeface="Arial"/>
              </a:rPr>
              <a:t>from </a:t>
            </a:r>
            <a:r>
              <a:rPr dirty="0" sz="1200" spc="-5">
                <a:latin typeface="Arial"/>
                <a:cs typeface="Arial"/>
              </a:rPr>
              <a:t>the unity  of truth, recognizes </a:t>
            </a:r>
            <a:r>
              <a:rPr dirty="0" sz="1200" spc="-10">
                <a:latin typeface="Arial"/>
                <a:cs typeface="Arial"/>
              </a:rPr>
              <a:t>two </a:t>
            </a:r>
            <a:r>
              <a:rPr dirty="0" sz="1200" spc="-5">
                <a:latin typeface="Arial"/>
                <a:cs typeface="Arial"/>
              </a:rPr>
              <a:t>open </a:t>
            </a:r>
            <a:r>
              <a:rPr dirty="0" sz="1200" spc="-10">
                <a:latin typeface="Arial"/>
                <a:cs typeface="Arial"/>
              </a:rPr>
              <a:t>ways </a:t>
            </a:r>
            <a:r>
              <a:rPr dirty="0" sz="1200">
                <a:latin typeface="Arial"/>
                <a:cs typeface="Arial"/>
              </a:rPr>
              <a:t>to it: the </a:t>
            </a:r>
            <a:r>
              <a:rPr dirty="0" sz="1200" spc="-10">
                <a:latin typeface="Arial"/>
                <a:cs typeface="Arial"/>
              </a:rPr>
              <a:t>way </a:t>
            </a:r>
            <a:r>
              <a:rPr dirty="0" sz="1200">
                <a:latin typeface="Arial"/>
                <a:cs typeface="Arial"/>
              </a:rPr>
              <a:t>of </a:t>
            </a:r>
            <a:r>
              <a:rPr dirty="0" sz="1200" spc="-5">
                <a:latin typeface="Arial"/>
                <a:cs typeface="Arial"/>
              </a:rPr>
              <a:t>revelation and that of natural  </a:t>
            </a:r>
            <a:r>
              <a:rPr dirty="0" sz="1200">
                <a:latin typeface="Arial"/>
                <a:cs typeface="Arial"/>
              </a:rPr>
              <a:t>science.</a:t>
            </a:r>
            <a:endParaRPr sz="1200">
              <a:latin typeface="Arial"/>
              <a:cs typeface="Arial"/>
            </a:endParaRPr>
          </a:p>
          <a:p>
            <a:pPr algn="just" marL="546100" indent="-228600">
              <a:lnSpc>
                <a:spcPts val="1315"/>
              </a:lnSpc>
              <a:buAutoNum type="arabicPeriod"/>
              <a:tabLst>
                <a:tab pos="490220" algn="l"/>
              </a:tabLst>
            </a:pPr>
            <a:r>
              <a:rPr dirty="0" sz="1200" spc="-5">
                <a:latin typeface="Arial"/>
                <a:cs typeface="Arial"/>
              </a:rPr>
              <a:t>Abduh</a:t>
            </a:r>
            <a:r>
              <a:rPr dirty="0" sz="1200" spc="150">
                <a:latin typeface="Arial"/>
                <a:cs typeface="Arial"/>
              </a:rPr>
              <a:t> </a:t>
            </a:r>
            <a:r>
              <a:rPr dirty="0" sz="1200" spc="-5">
                <a:latin typeface="Arial"/>
                <a:cs typeface="Arial"/>
              </a:rPr>
              <a:t>tried</a:t>
            </a:r>
            <a:r>
              <a:rPr dirty="0" sz="1200" spc="155">
                <a:latin typeface="Arial"/>
                <a:cs typeface="Arial"/>
              </a:rPr>
              <a:t> </a:t>
            </a:r>
            <a:r>
              <a:rPr dirty="0" sz="1200" spc="-5">
                <a:latin typeface="Arial"/>
                <a:cs typeface="Arial"/>
              </a:rPr>
              <a:t>to</a:t>
            </a:r>
            <a:r>
              <a:rPr dirty="0" sz="1200" spc="150">
                <a:latin typeface="Arial"/>
                <a:cs typeface="Arial"/>
              </a:rPr>
              <a:t> </a:t>
            </a:r>
            <a:r>
              <a:rPr dirty="0" sz="1200" spc="-5">
                <a:latin typeface="Arial"/>
                <a:cs typeface="Arial"/>
              </a:rPr>
              <a:t>break</a:t>
            </a:r>
            <a:r>
              <a:rPr dirty="0" sz="1200" spc="155">
                <a:latin typeface="Arial"/>
                <a:cs typeface="Arial"/>
              </a:rPr>
              <a:t> </a:t>
            </a:r>
            <a:r>
              <a:rPr dirty="0" sz="1200" spc="-5">
                <a:latin typeface="Arial"/>
                <a:cs typeface="Arial"/>
              </a:rPr>
              <a:t>through</a:t>
            </a:r>
            <a:r>
              <a:rPr dirty="0" sz="1200" spc="150">
                <a:latin typeface="Arial"/>
                <a:cs typeface="Arial"/>
              </a:rPr>
              <a:t> </a:t>
            </a:r>
            <a:r>
              <a:rPr dirty="0" sz="1200" spc="-5">
                <a:latin typeface="Arial"/>
                <a:cs typeface="Arial"/>
              </a:rPr>
              <a:t>the</a:t>
            </a:r>
            <a:r>
              <a:rPr dirty="0" sz="1200" spc="155">
                <a:latin typeface="Arial"/>
                <a:cs typeface="Arial"/>
              </a:rPr>
              <a:t> </a:t>
            </a:r>
            <a:r>
              <a:rPr dirty="0" sz="1200" spc="-5">
                <a:latin typeface="Arial"/>
                <a:cs typeface="Arial"/>
              </a:rPr>
              <a:t>rigidities</a:t>
            </a:r>
            <a:r>
              <a:rPr dirty="0" sz="1200" spc="150">
                <a:latin typeface="Arial"/>
                <a:cs typeface="Arial"/>
              </a:rPr>
              <a:t> </a:t>
            </a:r>
            <a:r>
              <a:rPr dirty="0" sz="1200" spc="-5">
                <a:latin typeface="Arial"/>
                <a:cs typeface="Arial"/>
              </a:rPr>
              <a:t>of</a:t>
            </a:r>
            <a:r>
              <a:rPr dirty="0" sz="1200" spc="155">
                <a:latin typeface="Arial"/>
                <a:cs typeface="Arial"/>
              </a:rPr>
              <a:t> </a:t>
            </a:r>
            <a:r>
              <a:rPr dirty="0" sz="1200" spc="-5">
                <a:latin typeface="Arial"/>
                <a:cs typeface="Arial"/>
              </a:rPr>
              <a:t>scholastic</a:t>
            </a:r>
            <a:r>
              <a:rPr dirty="0" sz="1200" spc="155">
                <a:latin typeface="Arial"/>
                <a:cs typeface="Arial"/>
              </a:rPr>
              <a:t> </a:t>
            </a:r>
            <a:r>
              <a:rPr dirty="0" sz="1200" spc="-5">
                <a:latin typeface="Arial"/>
                <a:cs typeface="Arial"/>
              </a:rPr>
              <a:t>interpretation</a:t>
            </a:r>
            <a:r>
              <a:rPr dirty="0" sz="1200" spc="140">
                <a:latin typeface="Arial"/>
                <a:cs typeface="Arial"/>
              </a:rPr>
              <a:t> </a:t>
            </a:r>
            <a:r>
              <a:rPr dirty="0" sz="1200" spc="-5">
                <a:latin typeface="Arial"/>
                <a:cs typeface="Arial"/>
              </a:rPr>
              <a:t>and</a:t>
            </a:r>
            <a:r>
              <a:rPr dirty="0" sz="1200" spc="145">
                <a:latin typeface="Arial"/>
                <a:cs typeface="Arial"/>
              </a:rPr>
              <a:t> </a:t>
            </a:r>
            <a:r>
              <a:rPr dirty="0" sz="1200">
                <a:latin typeface="Arial"/>
                <a:cs typeface="Arial"/>
              </a:rPr>
              <a:t>to</a:t>
            </a:r>
            <a:r>
              <a:rPr dirty="0" sz="1200" spc="145">
                <a:latin typeface="Arial"/>
                <a:cs typeface="Arial"/>
              </a:rPr>
              <a:t> </a:t>
            </a:r>
            <a:r>
              <a:rPr dirty="0" sz="1200" spc="-10">
                <a:latin typeface="Arial"/>
                <a:cs typeface="Arial"/>
              </a:rPr>
              <a:t>promote</a:t>
            </a:r>
            <a:endParaRPr sz="1200">
              <a:latin typeface="Arial"/>
              <a:cs typeface="Arial"/>
            </a:endParaRPr>
          </a:p>
          <a:p>
            <a:pPr algn="just" marL="546100" marR="88900">
              <a:lnSpc>
                <a:spcPts val="1380"/>
              </a:lnSpc>
              <a:spcBef>
                <a:spcPts val="65"/>
              </a:spcBef>
            </a:pPr>
            <a:r>
              <a:rPr dirty="0" sz="1200" spc="-5">
                <a:latin typeface="Arial"/>
                <a:cs typeface="Arial"/>
              </a:rPr>
              <a:t>considerations of equity, welfare, and common sense, even </a:t>
            </a:r>
            <a:r>
              <a:rPr dirty="0" sz="1200" spc="-10">
                <a:latin typeface="Arial"/>
                <a:cs typeface="Arial"/>
              </a:rPr>
              <a:t>if </a:t>
            </a:r>
            <a:r>
              <a:rPr dirty="0" sz="1200">
                <a:latin typeface="Arial"/>
                <a:cs typeface="Arial"/>
              </a:rPr>
              <a:t>this </a:t>
            </a:r>
            <a:r>
              <a:rPr dirty="0" sz="1200" spc="-5">
                <a:latin typeface="Arial"/>
                <a:cs typeface="Arial"/>
              </a:rPr>
              <a:t>occasionally meant  disregarding the </a:t>
            </a:r>
            <a:r>
              <a:rPr dirty="0" sz="1200">
                <a:latin typeface="Arial"/>
                <a:cs typeface="Arial"/>
              </a:rPr>
              <a:t>literal </a:t>
            </a:r>
            <a:r>
              <a:rPr dirty="0" sz="1200" spc="-5">
                <a:latin typeface="Arial"/>
                <a:cs typeface="Arial"/>
              </a:rPr>
              <a:t>texts of the</a:t>
            </a:r>
            <a:r>
              <a:rPr dirty="0" sz="1200" spc="5">
                <a:latin typeface="Arial"/>
                <a:cs typeface="Arial"/>
              </a:rPr>
              <a:t> </a:t>
            </a:r>
            <a:r>
              <a:rPr dirty="0" sz="1200" spc="-5">
                <a:latin typeface="Arial"/>
                <a:cs typeface="Arial"/>
              </a:rPr>
              <a:t>Quran.</a:t>
            </a:r>
            <a:endParaRPr sz="1200">
              <a:latin typeface="Arial"/>
              <a:cs typeface="Arial"/>
            </a:endParaRPr>
          </a:p>
          <a:p>
            <a:pPr algn="just" marL="546100" marR="83820" indent="-228600">
              <a:lnSpc>
                <a:spcPts val="1380"/>
              </a:lnSpc>
              <a:buAutoNum type="arabicPeriod" startAt="7"/>
              <a:tabLst>
                <a:tab pos="490220" algn="l"/>
              </a:tabLst>
            </a:pPr>
            <a:r>
              <a:rPr dirty="0" sz="1200" spc="-5">
                <a:latin typeface="Arial"/>
                <a:cs typeface="Arial"/>
              </a:rPr>
              <a:t>Abduh's theology </a:t>
            </a:r>
            <a:r>
              <a:rPr dirty="0" sz="1200" spc="-10">
                <a:latin typeface="Arial"/>
                <a:cs typeface="Arial"/>
              </a:rPr>
              <a:t>was </a:t>
            </a:r>
            <a:r>
              <a:rPr dirty="0" sz="1200" spc="-5">
                <a:latin typeface="Arial"/>
                <a:cs typeface="Arial"/>
              </a:rPr>
              <a:t>innovative. He believed that the gates of Ijtihad (innovation)  were not </a:t>
            </a:r>
            <a:r>
              <a:rPr dirty="0" sz="1200">
                <a:latin typeface="Arial"/>
                <a:cs typeface="Arial"/>
              </a:rPr>
              <a:t>closed, </a:t>
            </a:r>
            <a:r>
              <a:rPr dirty="0" sz="1200" spc="-5">
                <a:latin typeface="Arial"/>
                <a:cs typeface="Arial"/>
              </a:rPr>
              <a:t>Abduh rejected </a:t>
            </a:r>
            <a:r>
              <a:rPr dirty="0" sz="1200">
                <a:latin typeface="Arial"/>
                <a:cs typeface="Arial"/>
              </a:rPr>
              <a:t>the </a:t>
            </a:r>
            <a:r>
              <a:rPr dirty="0" sz="1200" spc="-5">
                <a:latin typeface="Arial"/>
                <a:cs typeface="Arial"/>
              </a:rPr>
              <a:t>divine origin </a:t>
            </a:r>
            <a:r>
              <a:rPr dirty="0" sz="1200">
                <a:latin typeface="Arial"/>
                <a:cs typeface="Arial"/>
              </a:rPr>
              <a:t>of </a:t>
            </a:r>
            <a:r>
              <a:rPr dirty="0" sz="1200" spc="-5">
                <a:latin typeface="Arial"/>
                <a:cs typeface="Arial"/>
              </a:rPr>
              <a:t>much of </a:t>
            </a:r>
            <a:r>
              <a:rPr dirty="0" sz="1200">
                <a:latin typeface="Arial"/>
                <a:cs typeface="Arial"/>
              </a:rPr>
              <a:t>the </a:t>
            </a:r>
            <a:r>
              <a:rPr dirty="0" sz="1200" spc="-5">
                <a:latin typeface="Arial"/>
                <a:cs typeface="Arial"/>
              </a:rPr>
              <a:t>Quran. He believed  </a:t>
            </a:r>
            <a:r>
              <a:rPr dirty="0" sz="1200">
                <a:latin typeface="Arial"/>
                <a:cs typeface="Arial"/>
              </a:rPr>
              <a:t>part </a:t>
            </a:r>
            <a:r>
              <a:rPr dirty="0" sz="1200" spc="-5">
                <a:latin typeface="Arial"/>
                <a:cs typeface="Arial"/>
              </a:rPr>
              <a:t>of </a:t>
            </a:r>
            <a:r>
              <a:rPr dirty="0" sz="1200">
                <a:latin typeface="Arial"/>
                <a:cs typeface="Arial"/>
              </a:rPr>
              <a:t>it </a:t>
            </a:r>
            <a:r>
              <a:rPr dirty="0" sz="1200" spc="-5">
                <a:latin typeface="Arial"/>
                <a:cs typeface="Arial"/>
              </a:rPr>
              <a:t>reflected </a:t>
            </a:r>
            <a:r>
              <a:rPr dirty="0" sz="1200">
                <a:latin typeface="Arial"/>
                <a:cs typeface="Arial"/>
              </a:rPr>
              <a:t>the </a:t>
            </a:r>
            <a:r>
              <a:rPr dirty="0" sz="1200" spc="-5">
                <a:latin typeface="Arial"/>
                <a:cs typeface="Arial"/>
              </a:rPr>
              <a:t>ideas of Muhammad, and he advocated reasoned interpretation  of the</a:t>
            </a:r>
            <a:r>
              <a:rPr dirty="0" sz="1200" spc="25">
                <a:latin typeface="Arial"/>
                <a:cs typeface="Arial"/>
              </a:rPr>
              <a:t> </a:t>
            </a:r>
            <a:r>
              <a:rPr dirty="0" sz="1200" spc="-5">
                <a:latin typeface="Arial"/>
                <a:cs typeface="Arial"/>
              </a:rPr>
              <a:t>Quran</a:t>
            </a:r>
            <a:endParaRPr sz="1200">
              <a:latin typeface="Arial"/>
              <a:cs typeface="Arial"/>
            </a:endParaRPr>
          </a:p>
          <a:p>
            <a:pPr algn="just" marL="546100" marR="85725" indent="-228600">
              <a:lnSpc>
                <a:spcPts val="1380"/>
              </a:lnSpc>
              <a:buAutoNum type="arabicPeriod" startAt="7"/>
              <a:tabLst>
                <a:tab pos="490220" algn="l"/>
              </a:tabLst>
            </a:pPr>
            <a:r>
              <a:rPr dirty="0" sz="1200" spc="-5">
                <a:latin typeface="Arial"/>
                <a:cs typeface="Arial"/>
              </a:rPr>
              <a:t>Abduh deplored the blind acceptance of traditional doctrines and </a:t>
            </a:r>
            <a:r>
              <a:rPr dirty="0" sz="1200">
                <a:latin typeface="Arial"/>
                <a:cs typeface="Arial"/>
              </a:rPr>
              <a:t>customs </a:t>
            </a:r>
            <a:r>
              <a:rPr dirty="0" sz="1200" spc="-5">
                <a:latin typeface="Arial"/>
                <a:cs typeface="Arial"/>
              </a:rPr>
              <a:t>and </a:t>
            </a:r>
            <a:r>
              <a:rPr dirty="0" sz="1200" spc="-10">
                <a:latin typeface="Arial"/>
                <a:cs typeface="Arial"/>
              </a:rPr>
              <a:t>asserted  </a:t>
            </a:r>
            <a:r>
              <a:rPr dirty="0" sz="1200">
                <a:latin typeface="Arial"/>
                <a:cs typeface="Arial"/>
              </a:rPr>
              <a:t>that </a:t>
            </a:r>
            <a:r>
              <a:rPr dirty="0" sz="1200" spc="-5">
                <a:latin typeface="Arial"/>
                <a:cs typeface="Arial"/>
              </a:rPr>
              <a:t>a return </a:t>
            </a:r>
            <a:r>
              <a:rPr dirty="0" sz="1200">
                <a:latin typeface="Arial"/>
                <a:cs typeface="Arial"/>
              </a:rPr>
              <a:t>to the </a:t>
            </a:r>
            <a:r>
              <a:rPr dirty="0" sz="1200" spc="-5">
                <a:latin typeface="Arial"/>
                <a:cs typeface="Arial"/>
              </a:rPr>
              <a:t>pristine </a:t>
            </a:r>
            <a:r>
              <a:rPr dirty="0" sz="1200">
                <a:latin typeface="Arial"/>
                <a:cs typeface="Arial"/>
              </a:rPr>
              <a:t>faith </a:t>
            </a:r>
            <a:r>
              <a:rPr dirty="0" sz="1200" spc="-5">
                <a:latin typeface="Arial"/>
                <a:cs typeface="Arial"/>
              </a:rPr>
              <a:t>of </a:t>
            </a:r>
            <a:r>
              <a:rPr dirty="0" sz="1200">
                <a:latin typeface="Arial"/>
                <a:cs typeface="Arial"/>
              </a:rPr>
              <a:t>the </a:t>
            </a:r>
            <a:r>
              <a:rPr dirty="0" sz="1200" spc="-5">
                <a:latin typeface="Arial"/>
                <a:cs typeface="Arial"/>
              </a:rPr>
              <a:t>earliest age of Islam not only would restore the  Muslims' spiritual vitality but would provide an enlightened criterion </a:t>
            </a:r>
            <a:r>
              <a:rPr dirty="0" sz="1200">
                <a:latin typeface="Arial"/>
                <a:cs typeface="Arial"/>
              </a:rPr>
              <a:t>for </a:t>
            </a:r>
            <a:r>
              <a:rPr dirty="0" sz="1200" spc="-5">
                <a:latin typeface="Arial"/>
                <a:cs typeface="Arial"/>
              </a:rPr>
              <a:t>the assimilation  of modern scientific</a:t>
            </a:r>
            <a:r>
              <a:rPr dirty="0" sz="1200" spc="5">
                <a:latin typeface="Arial"/>
                <a:cs typeface="Arial"/>
              </a:rPr>
              <a:t> </a:t>
            </a:r>
            <a:r>
              <a:rPr dirty="0" sz="1200" spc="-5">
                <a:latin typeface="Arial"/>
                <a:cs typeface="Arial"/>
              </a:rPr>
              <a:t>culture.</a:t>
            </a:r>
            <a:endParaRPr sz="1200">
              <a:latin typeface="Arial"/>
              <a:cs typeface="Arial"/>
            </a:endParaRPr>
          </a:p>
          <a:p>
            <a:pPr algn="just" marL="546100" marR="88900" indent="-228600">
              <a:lnSpc>
                <a:spcPts val="1380"/>
              </a:lnSpc>
              <a:buAutoNum type="arabicPeriod" startAt="7"/>
              <a:tabLst>
                <a:tab pos="490220" algn="l"/>
              </a:tabLst>
            </a:pPr>
            <a:r>
              <a:rPr dirty="0" sz="1200" spc="-5">
                <a:latin typeface="Arial"/>
                <a:cs typeface="Arial"/>
              </a:rPr>
              <a:t>Abduh nonetheless believed </a:t>
            </a:r>
            <a:r>
              <a:rPr dirty="0" sz="1200">
                <a:latin typeface="Arial"/>
                <a:cs typeface="Arial"/>
              </a:rPr>
              <a:t>that </a:t>
            </a:r>
            <a:r>
              <a:rPr dirty="0" sz="1200" spc="-5">
                <a:latin typeface="Arial"/>
                <a:cs typeface="Arial"/>
              </a:rPr>
              <a:t>the Quran was </a:t>
            </a:r>
            <a:r>
              <a:rPr dirty="0" sz="1200">
                <a:latin typeface="Arial"/>
                <a:cs typeface="Arial"/>
              </a:rPr>
              <a:t>the </a:t>
            </a:r>
            <a:r>
              <a:rPr dirty="0" sz="1200" spc="-5">
                <a:latin typeface="Arial"/>
                <a:cs typeface="Arial"/>
              </a:rPr>
              <a:t>only </a:t>
            </a:r>
            <a:r>
              <a:rPr dirty="0" sz="1200">
                <a:latin typeface="Arial"/>
                <a:cs typeface="Arial"/>
              </a:rPr>
              <a:t>true ethical </a:t>
            </a:r>
            <a:r>
              <a:rPr dirty="0" sz="1200" spc="-5">
                <a:latin typeface="Arial"/>
                <a:cs typeface="Arial"/>
              </a:rPr>
              <a:t>and logical guide,  implying </a:t>
            </a:r>
            <a:r>
              <a:rPr dirty="0" sz="1200">
                <a:latin typeface="Arial"/>
                <a:cs typeface="Arial"/>
              </a:rPr>
              <a:t>that </a:t>
            </a:r>
            <a:r>
              <a:rPr dirty="0" sz="1200" spc="-5">
                <a:latin typeface="Arial"/>
                <a:cs typeface="Arial"/>
              </a:rPr>
              <a:t>the Madhhab (schools of Jurisprudence) might be</a:t>
            </a:r>
            <a:r>
              <a:rPr dirty="0" sz="1200" spc="25">
                <a:latin typeface="Arial"/>
                <a:cs typeface="Arial"/>
              </a:rPr>
              <a:t> </a:t>
            </a:r>
            <a:r>
              <a:rPr dirty="0" sz="1200" spc="-10">
                <a:latin typeface="Arial"/>
                <a:cs typeface="Arial"/>
              </a:rPr>
              <a:t>wrong</a:t>
            </a:r>
            <a:endParaRPr sz="1200">
              <a:latin typeface="Arial"/>
              <a:cs typeface="Arial"/>
            </a:endParaRPr>
          </a:p>
          <a:p>
            <a:pPr algn="just" marL="546100" marR="86995" indent="-228600">
              <a:lnSpc>
                <a:spcPts val="1380"/>
              </a:lnSpc>
              <a:spcBef>
                <a:spcPts val="5"/>
              </a:spcBef>
              <a:buAutoNum type="arabicPeriod" startAt="7"/>
              <a:tabLst>
                <a:tab pos="546735" algn="l"/>
              </a:tabLst>
            </a:pPr>
            <a:r>
              <a:rPr dirty="0" sz="1200" spc="-5">
                <a:latin typeface="Arial"/>
                <a:cs typeface="Arial"/>
              </a:rPr>
              <a:t>Abduh </a:t>
            </a:r>
            <a:r>
              <a:rPr dirty="0" sz="1200" spc="-10">
                <a:latin typeface="Arial"/>
                <a:cs typeface="Arial"/>
              </a:rPr>
              <a:t>was </a:t>
            </a:r>
            <a:r>
              <a:rPr dirty="0" sz="1200" spc="-5">
                <a:latin typeface="Arial"/>
                <a:cs typeface="Arial"/>
              </a:rPr>
              <a:t>an innovative and controversial jurisprudent. He ruled that meat from  animals slaughtered </a:t>
            </a:r>
            <a:r>
              <a:rPr dirty="0" sz="1200" spc="-10">
                <a:latin typeface="Arial"/>
                <a:cs typeface="Arial"/>
              </a:rPr>
              <a:t>by </a:t>
            </a:r>
            <a:r>
              <a:rPr dirty="0" sz="1200" spc="-5">
                <a:latin typeface="Arial"/>
                <a:cs typeface="Arial"/>
              </a:rPr>
              <a:t>Christians </a:t>
            </a:r>
            <a:r>
              <a:rPr dirty="0" sz="1200">
                <a:latin typeface="Arial"/>
                <a:cs typeface="Arial"/>
              </a:rPr>
              <a:t>or </a:t>
            </a:r>
            <a:r>
              <a:rPr dirty="0" sz="1200" spc="-5">
                <a:latin typeface="Arial"/>
                <a:cs typeface="Arial"/>
              </a:rPr>
              <a:t>Jews was Halal, permitted </a:t>
            </a:r>
            <a:r>
              <a:rPr dirty="0" sz="1200">
                <a:latin typeface="Arial"/>
                <a:cs typeface="Arial"/>
              </a:rPr>
              <a:t>to</a:t>
            </a:r>
            <a:r>
              <a:rPr dirty="0" sz="1200" spc="50">
                <a:latin typeface="Arial"/>
                <a:cs typeface="Arial"/>
              </a:rPr>
              <a:t> </a:t>
            </a:r>
            <a:r>
              <a:rPr dirty="0" sz="1200" spc="-5">
                <a:latin typeface="Arial"/>
                <a:cs typeface="Arial"/>
              </a:rPr>
              <a:t>Muslims</a:t>
            </a:r>
            <a:endParaRPr sz="1200">
              <a:latin typeface="Arial"/>
              <a:cs typeface="Arial"/>
            </a:endParaRPr>
          </a:p>
          <a:p>
            <a:pPr algn="just" marL="546100" indent="-229235">
              <a:lnSpc>
                <a:spcPts val="1330"/>
              </a:lnSpc>
              <a:buAutoNum type="arabicPeriod" startAt="7"/>
              <a:tabLst>
                <a:tab pos="546735" algn="l"/>
              </a:tabLst>
            </a:pPr>
            <a:r>
              <a:rPr dirty="0" sz="1200" spc="-5">
                <a:latin typeface="Arial"/>
                <a:cs typeface="Arial"/>
              </a:rPr>
              <a:t>He reformed </a:t>
            </a:r>
            <a:r>
              <a:rPr dirty="0" sz="1200">
                <a:latin typeface="Arial"/>
                <a:cs typeface="Arial"/>
              </a:rPr>
              <a:t>the </a:t>
            </a:r>
            <a:r>
              <a:rPr dirty="0" sz="1200" spc="-5">
                <a:latin typeface="Arial"/>
                <a:cs typeface="Arial"/>
              </a:rPr>
              <a:t>provisions of the </a:t>
            </a:r>
            <a:r>
              <a:rPr dirty="0" sz="1200" i="1">
                <a:latin typeface="Arial"/>
                <a:cs typeface="Arial"/>
              </a:rPr>
              <a:t>Waqf </a:t>
            </a:r>
            <a:r>
              <a:rPr dirty="0" sz="1200" spc="-5">
                <a:latin typeface="Arial"/>
                <a:cs typeface="Arial"/>
              </a:rPr>
              <a:t>law </a:t>
            </a:r>
            <a:r>
              <a:rPr dirty="0" sz="1200">
                <a:latin typeface="Arial"/>
                <a:cs typeface="Arial"/>
              </a:rPr>
              <a:t>and </a:t>
            </a:r>
            <a:r>
              <a:rPr dirty="0" sz="1200" spc="-5">
                <a:latin typeface="Arial"/>
                <a:cs typeface="Arial"/>
              </a:rPr>
              <a:t>allowed interest on</a:t>
            </a:r>
            <a:r>
              <a:rPr dirty="0" sz="1200" spc="25">
                <a:latin typeface="Arial"/>
                <a:cs typeface="Arial"/>
              </a:rPr>
              <a:t> </a:t>
            </a:r>
            <a:r>
              <a:rPr dirty="0" sz="1200" spc="-5">
                <a:latin typeface="Arial"/>
                <a:cs typeface="Arial"/>
              </a:rPr>
              <a:t>loans.</a:t>
            </a:r>
            <a:endParaRPr sz="1200">
              <a:latin typeface="Arial"/>
              <a:cs typeface="Arial"/>
            </a:endParaRPr>
          </a:p>
          <a:p>
            <a:pPr>
              <a:lnSpc>
                <a:spcPct val="100000"/>
              </a:lnSpc>
            </a:pPr>
            <a:endParaRPr sz="1300">
              <a:latin typeface="Arial"/>
              <a:cs typeface="Arial"/>
            </a:endParaRPr>
          </a:p>
          <a:p>
            <a:pPr>
              <a:lnSpc>
                <a:spcPct val="100000"/>
              </a:lnSpc>
              <a:spcBef>
                <a:spcPts val="5"/>
              </a:spcBef>
            </a:pPr>
            <a:endParaRPr sz="1050">
              <a:latin typeface="Arial"/>
              <a:cs typeface="Arial"/>
            </a:endParaRPr>
          </a:p>
          <a:p>
            <a:pPr algn="just" marL="317500">
              <a:lnSpc>
                <a:spcPct val="100000"/>
              </a:lnSpc>
              <a:spcBef>
                <a:spcPts val="5"/>
              </a:spcBef>
            </a:pPr>
            <a:r>
              <a:rPr dirty="0" sz="1200" spc="-5" b="1" i="1">
                <a:latin typeface="Arial"/>
                <a:cs typeface="Arial"/>
              </a:rPr>
              <a:t>3. </a:t>
            </a:r>
            <a:r>
              <a:rPr dirty="0" u="heavy" sz="1200" b="1" i="1">
                <a:uFill>
                  <a:solidFill>
                    <a:srgbClr val="000000"/>
                  </a:solidFill>
                </a:uFill>
                <a:latin typeface="Arial"/>
                <a:cs typeface="Arial"/>
              </a:rPr>
              <a:t>Hassan </a:t>
            </a:r>
            <a:r>
              <a:rPr dirty="0" u="heavy" sz="1200" spc="-5" b="1" i="1">
                <a:uFill>
                  <a:solidFill>
                    <a:srgbClr val="000000"/>
                  </a:solidFill>
                </a:uFill>
                <a:latin typeface="Arial"/>
                <a:cs typeface="Arial"/>
              </a:rPr>
              <a:t>Al</a:t>
            </a:r>
            <a:r>
              <a:rPr dirty="0" u="heavy" sz="1200" spc="-215" b="1" i="1">
                <a:uFill>
                  <a:solidFill>
                    <a:srgbClr val="000000"/>
                  </a:solidFill>
                </a:uFill>
                <a:latin typeface="Arial"/>
                <a:cs typeface="Arial"/>
              </a:rPr>
              <a:t> </a:t>
            </a:r>
            <a:r>
              <a:rPr dirty="0" u="heavy" sz="1200" spc="-5" b="1" i="1">
                <a:uFill>
                  <a:solidFill>
                    <a:srgbClr val="000000"/>
                  </a:solidFill>
                </a:uFill>
                <a:latin typeface="Arial"/>
                <a:cs typeface="Arial"/>
              </a:rPr>
              <a:t>Banna</a:t>
            </a:r>
            <a:endParaRPr sz="1200">
              <a:latin typeface="Arial"/>
              <a:cs typeface="Arial"/>
            </a:endParaRPr>
          </a:p>
          <a:p>
            <a:pPr>
              <a:lnSpc>
                <a:spcPct val="100000"/>
              </a:lnSpc>
              <a:spcBef>
                <a:spcPts val="5"/>
              </a:spcBef>
            </a:pPr>
            <a:endParaRPr sz="1200">
              <a:latin typeface="Arial"/>
              <a:cs typeface="Arial"/>
            </a:endParaRPr>
          </a:p>
          <a:p>
            <a:pPr algn="just" marL="88900" marR="81280">
              <a:lnSpc>
                <a:spcPct val="95400"/>
              </a:lnSpc>
            </a:pPr>
            <a:r>
              <a:rPr dirty="0" sz="1200">
                <a:latin typeface="Arial"/>
                <a:cs typeface="Arial"/>
              </a:rPr>
              <a:t>Hassan </a:t>
            </a:r>
            <a:r>
              <a:rPr dirty="0" sz="1200" spc="-5">
                <a:latin typeface="Arial"/>
                <a:cs typeface="Arial"/>
              </a:rPr>
              <a:t>Al Banna </a:t>
            </a:r>
            <a:r>
              <a:rPr dirty="0" sz="1200" spc="-10">
                <a:latin typeface="Arial"/>
                <a:cs typeface="Arial"/>
              </a:rPr>
              <a:t>was </a:t>
            </a:r>
            <a:r>
              <a:rPr dirty="0" sz="1200" spc="-5">
                <a:latin typeface="Arial"/>
                <a:cs typeface="Arial"/>
              </a:rPr>
              <a:t>an Egyptian reformer. He </a:t>
            </a:r>
            <a:r>
              <a:rPr dirty="0" sz="1200" spc="-10">
                <a:latin typeface="Arial"/>
                <a:cs typeface="Arial"/>
              </a:rPr>
              <a:t>was </a:t>
            </a:r>
            <a:r>
              <a:rPr dirty="0" sz="1200" spc="-5">
                <a:latin typeface="Arial"/>
                <a:cs typeface="Arial"/>
              </a:rPr>
              <a:t>born in Mahmudiyya in Egypt </a:t>
            </a:r>
            <a:r>
              <a:rPr dirty="0" sz="1200">
                <a:latin typeface="Arial"/>
                <a:cs typeface="Arial"/>
              </a:rPr>
              <a:t>(1906-  </a:t>
            </a:r>
            <a:r>
              <a:rPr dirty="0" sz="1200" spc="-5">
                <a:latin typeface="Arial"/>
                <a:cs typeface="Arial"/>
              </a:rPr>
              <a:t>1949). He </a:t>
            </a:r>
            <a:r>
              <a:rPr dirty="0" sz="1200" spc="-10">
                <a:latin typeface="Arial"/>
                <a:cs typeface="Arial"/>
              </a:rPr>
              <a:t>was </a:t>
            </a:r>
            <a:r>
              <a:rPr dirty="0" sz="1200">
                <a:latin typeface="Arial"/>
                <a:cs typeface="Arial"/>
              </a:rPr>
              <a:t>the </a:t>
            </a:r>
            <a:r>
              <a:rPr dirty="0" sz="1200" spc="-5">
                <a:latin typeface="Arial"/>
                <a:cs typeface="Arial"/>
              </a:rPr>
              <a:t>Founder of Muslim Brethren (Brotherhood) </a:t>
            </a:r>
            <a:r>
              <a:rPr dirty="0" sz="1200">
                <a:latin typeface="Arial"/>
                <a:cs typeface="Arial"/>
              </a:rPr>
              <a:t>– </a:t>
            </a:r>
            <a:r>
              <a:rPr dirty="0" sz="1200" spc="-5">
                <a:latin typeface="Arial"/>
                <a:cs typeface="Arial"/>
              </a:rPr>
              <a:t>Ikhwan Al </a:t>
            </a:r>
            <a:r>
              <a:rPr dirty="0" sz="1200">
                <a:latin typeface="Arial"/>
                <a:cs typeface="Arial"/>
              </a:rPr>
              <a:t>Muslimoun. </a:t>
            </a:r>
            <a:r>
              <a:rPr dirty="0" sz="1200" spc="-5">
                <a:latin typeface="Arial"/>
                <a:cs typeface="Arial"/>
              </a:rPr>
              <a:t>He  had</a:t>
            </a:r>
            <a:r>
              <a:rPr dirty="0" sz="1200" spc="50">
                <a:latin typeface="Arial"/>
                <a:cs typeface="Arial"/>
              </a:rPr>
              <a:t> </a:t>
            </a:r>
            <a:r>
              <a:rPr dirty="0" sz="1200" spc="-5">
                <a:latin typeface="Arial"/>
                <a:cs typeface="Arial"/>
              </a:rPr>
              <a:t>a</a:t>
            </a:r>
            <a:r>
              <a:rPr dirty="0" sz="1200" spc="45">
                <a:latin typeface="Arial"/>
                <a:cs typeface="Arial"/>
              </a:rPr>
              <a:t> </a:t>
            </a:r>
            <a:r>
              <a:rPr dirty="0" sz="1200" spc="-5">
                <a:latin typeface="Arial"/>
                <a:cs typeface="Arial"/>
              </a:rPr>
              <a:t>Traditional</a:t>
            </a:r>
            <a:r>
              <a:rPr dirty="0" sz="1200" spc="45">
                <a:latin typeface="Arial"/>
                <a:cs typeface="Arial"/>
              </a:rPr>
              <a:t> </a:t>
            </a:r>
            <a:r>
              <a:rPr dirty="0" sz="1200" spc="-5">
                <a:latin typeface="Arial"/>
                <a:cs typeface="Arial"/>
              </a:rPr>
              <a:t>education.</a:t>
            </a:r>
            <a:r>
              <a:rPr dirty="0" sz="1200" spc="50">
                <a:latin typeface="Arial"/>
                <a:cs typeface="Arial"/>
              </a:rPr>
              <a:t> </a:t>
            </a:r>
            <a:r>
              <a:rPr dirty="0" sz="1200" spc="-5">
                <a:latin typeface="Arial"/>
                <a:cs typeface="Arial"/>
              </a:rPr>
              <a:t>He</a:t>
            </a:r>
            <a:r>
              <a:rPr dirty="0" sz="1200" spc="45">
                <a:latin typeface="Arial"/>
                <a:cs typeface="Arial"/>
              </a:rPr>
              <a:t> </a:t>
            </a:r>
            <a:r>
              <a:rPr dirty="0" sz="1200" spc="-5">
                <a:latin typeface="Arial"/>
                <a:cs typeface="Arial"/>
              </a:rPr>
              <a:t>created</a:t>
            </a:r>
            <a:r>
              <a:rPr dirty="0" sz="1200" spc="50">
                <a:latin typeface="Arial"/>
                <a:cs typeface="Arial"/>
              </a:rPr>
              <a:t> </a:t>
            </a:r>
            <a:r>
              <a:rPr dirty="0" sz="1200" spc="-5">
                <a:latin typeface="Arial"/>
                <a:cs typeface="Arial"/>
              </a:rPr>
              <a:t>his</a:t>
            </a:r>
            <a:r>
              <a:rPr dirty="0" sz="1200" spc="40">
                <a:latin typeface="Arial"/>
                <a:cs typeface="Arial"/>
              </a:rPr>
              <a:t> </a:t>
            </a:r>
            <a:r>
              <a:rPr dirty="0" sz="1200" spc="-5">
                <a:latin typeface="Arial"/>
                <a:cs typeface="Arial"/>
              </a:rPr>
              <a:t>Organisation</a:t>
            </a:r>
            <a:r>
              <a:rPr dirty="0" sz="1200" spc="55">
                <a:latin typeface="Arial"/>
                <a:cs typeface="Arial"/>
              </a:rPr>
              <a:t> </a:t>
            </a:r>
            <a:r>
              <a:rPr dirty="0" sz="1200" spc="-5">
                <a:latin typeface="Arial"/>
                <a:cs typeface="Arial"/>
              </a:rPr>
              <a:t>in</a:t>
            </a:r>
            <a:r>
              <a:rPr dirty="0" sz="1200" spc="45">
                <a:latin typeface="Arial"/>
                <a:cs typeface="Arial"/>
              </a:rPr>
              <a:t> </a:t>
            </a:r>
            <a:r>
              <a:rPr dirty="0" sz="1200">
                <a:latin typeface="Arial"/>
                <a:cs typeface="Arial"/>
              </a:rPr>
              <a:t>the</a:t>
            </a:r>
            <a:r>
              <a:rPr dirty="0" sz="1200" spc="50">
                <a:latin typeface="Arial"/>
                <a:cs typeface="Arial"/>
              </a:rPr>
              <a:t> </a:t>
            </a:r>
            <a:r>
              <a:rPr dirty="0" sz="1200" spc="-5">
                <a:latin typeface="Arial"/>
                <a:cs typeface="Arial"/>
              </a:rPr>
              <a:t>20</a:t>
            </a:r>
            <a:r>
              <a:rPr dirty="0" baseline="38194" sz="1200" spc="-7">
                <a:latin typeface="Arial"/>
                <a:cs typeface="Arial"/>
              </a:rPr>
              <a:t>th</a:t>
            </a:r>
            <a:r>
              <a:rPr dirty="0" baseline="38194" sz="1200" spc="232">
                <a:latin typeface="Arial"/>
                <a:cs typeface="Arial"/>
              </a:rPr>
              <a:t> </a:t>
            </a:r>
            <a:r>
              <a:rPr dirty="0" sz="1200">
                <a:latin typeface="Arial"/>
                <a:cs typeface="Arial"/>
              </a:rPr>
              <a:t>century</a:t>
            </a:r>
            <a:r>
              <a:rPr dirty="0" sz="1200" spc="30">
                <a:latin typeface="Arial"/>
                <a:cs typeface="Arial"/>
              </a:rPr>
              <a:t> </a:t>
            </a:r>
            <a:r>
              <a:rPr dirty="0" sz="1200" spc="-5">
                <a:latin typeface="Arial"/>
                <a:cs typeface="Arial"/>
              </a:rPr>
              <a:t>in</a:t>
            </a:r>
            <a:r>
              <a:rPr dirty="0" sz="1200" spc="50">
                <a:latin typeface="Arial"/>
                <a:cs typeface="Arial"/>
              </a:rPr>
              <a:t> </a:t>
            </a:r>
            <a:r>
              <a:rPr dirty="0" sz="1200">
                <a:latin typeface="Arial"/>
                <a:cs typeface="Arial"/>
              </a:rPr>
              <a:t>the</a:t>
            </a:r>
            <a:r>
              <a:rPr dirty="0" sz="1200" spc="50">
                <a:latin typeface="Arial"/>
                <a:cs typeface="Arial"/>
              </a:rPr>
              <a:t> </a:t>
            </a:r>
            <a:r>
              <a:rPr dirty="0" sz="1200" spc="-5">
                <a:latin typeface="Arial"/>
                <a:cs typeface="Arial"/>
              </a:rPr>
              <a:t>year</a:t>
            </a:r>
            <a:r>
              <a:rPr dirty="0" sz="1200" spc="40">
                <a:latin typeface="Arial"/>
                <a:cs typeface="Arial"/>
              </a:rPr>
              <a:t> </a:t>
            </a:r>
            <a:r>
              <a:rPr dirty="0" sz="1200">
                <a:latin typeface="Arial"/>
                <a:cs typeface="Arial"/>
              </a:rPr>
              <a:t>1928</a:t>
            </a:r>
            <a:endParaRPr sz="1200">
              <a:latin typeface="Arial"/>
              <a:cs typeface="Arial"/>
            </a:endParaRPr>
          </a:p>
          <a:p>
            <a:pPr algn="just" marL="88900" marR="81915">
              <a:lnSpc>
                <a:spcPct val="95800"/>
              </a:lnSpc>
            </a:pPr>
            <a:r>
              <a:rPr dirty="0" sz="1200">
                <a:latin typeface="Arial"/>
                <a:cs typeface="Arial"/>
              </a:rPr>
              <a:t>– </a:t>
            </a:r>
            <a:r>
              <a:rPr dirty="0" sz="1200" spc="-5">
                <a:latin typeface="Arial"/>
                <a:cs typeface="Arial"/>
              </a:rPr>
              <a:t>politically geared against the </a:t>
            </a:r>
            <a:r>
              <a:rPr dirty="0" sz="1200" spc="5">
                <a:latin typeface="Arial"/>
                <a:cs typeface="Arial"/>
              </a:rPr>
              <a:t>West. </a:t>
            </a:r>
            <a:r>
              <a:rPr dirty="0" sz="1200" spc="-5">
                <a:latin typeface="Arial"/>
                <a:cs typeface="Arial"/>
              </a:rPr>
              <a:t>At the age of 16 (year 1923), he entered Al Azhar darul  </a:t>
            </a:r>
            <a:r>
              <a:rPr dirty="0" sz="1200">
                <a:latin typeface="Arial"/>
                <a:cs typeface="Arial"/>
              </a:rPr>
              <a:t>uloom. </a:t>
            </a:r>
            <a:r>
              <a:rPr dirty="0" sz="1200" spc="-5">
                <a:latin typeface="Arial"/>
                <a:cs typeface="Arial"/>
              </a:rPr>
              <a:t>He </a:t>
            </a:r>
            <a:r>
              <a:rPr dirty="0" sz="1200" spc="-10">
                <a:latin typeface="Arial"/>
                <a:cs typeface="Arial"/>
              </a:rPr>
              <a:t>was </a:t>
            </a:r>
            <a:r>
              <a:rPr dirty="0" sz="1200" spc="-5">
                <a:latin typeface="Arial"/>
                <a:cs typeface="Arial"/>
              </a:rPr>
              <a:t>influenced by </a:t>
            </a:r>
            <a:r>
              <a:rPr dirty="0" sz="1200">
                <a:latin typeface="Arial"/>
                <a:cs typeface="Arial"/>
              </a:rPr>
              <a:t>the </a:t>
            </a:r>
            <a:r>
              <a:rPr dirty="0" sz="1200" spc="-5">
                <a:latin typeface="Arial"/>
                <a:cs typeface="Arial"/>
              </a:rPr>
              <a:t>works of Salafiyya </a:t>
            </a:r>
            <a:r>
              <a:rPr dirty="0" sz="1200">
                <a:latin typeface="Arial"/>
                <a:cs typeface="Arial"/>
              </a:rPr>
              <a:t>movement, </a:t>
            </a:r>
            <a:r>
              <a:rPr dirty="0" sz="1200" spc="-5">
                <a:latin typeface="Arial"/>
                <a:cs typeface="Arial"/>
              </a:rPr>
              <a:t>especially </a:t>
            </a:r>
            <a:r>
              <a:rPr dirty="0" sz="1200">
                <a:latin typeface="Arial"/>
                <a:cs typeface="Arial"/>
              </a:rPr>
              <a:t>those </a:t>
            </a:r>
            <a:r>
              <a:rPr dirty="0" sz="1200" spc="-5">
                <a:latin typeface="Arial"/>
                <a:cs typeface="Arial"/>
              </a:rPr>
              <a:t>of Rashid  Reedah (1865 </a:t>
            </a:r>
            <a:r>
              <a:rPr dirty="0" sz="1200">
                <a:latin typeface="Arial"/>
                <a:cs typeface="Arial"/>
              </a:rPr>
              <a:t>– </a:t>
            </a:r>
            <a:r>
              <a:rPr dirty="0" sz="1200" spc="-5">
                <a:latin typeface="Arial"/>
                <a:cs typeface="Arial"/>
              </a:rPr>
              <a:t>1935). He </a:t>
            </a:r>
            <a:r>
              <a:rPr dirty="0" sz="1200" spc="-10">
                <a:latin typeface="Arial"/>
                <a:cs typeface="Arial"/>
              </a:rPr>
              <a:t>was </a:t>
            </a:r>
            <a:r>
              <a:rPr dirty="0" sz="1200">
                <a:latin typeface="Arial"/>
                <a:cs typeface="Arial"/>
              </a:rPr>
              <a:t>influenced </a:t>
            </a:r>
            <a:r>
              <a:rPr dirty="0" sz="1200" spc="-5">
                <a:latin typeface="Arial"/>
                <a:cs typeface="Arial"/>
              </a:rPr>
              <a:t>by </a:t>
            </a:r>
            <a:r>
              <a:rPr dirty="0" sz="1200">
                <a:latin typeface="Arial"/>
                <a:cs typeface="Arial"/>
              </a:rPr>
              <a:t>the </a:t>
            </a:r>
            <a:r>
              <a:rPr dirty="0" sz="1200" spc="-5">
                <a:latin typeface="Arial"/>
                <a:cs typeface="Arial"/>
              </a:rPr>
              <a:t>Magazine Al Manar of </a:t>
            </a:r>
            <a:r>
              <a:rPr dirty="0" sz="1200">
                <a:latin typeface="Arial"/>
                <a:cs typeface="Arial"/>
              </a:rPr>
              <a:t>Rashid Reedah. </a:t>
            </a:r>
            <a:r>
              <a:rPr dirty="0" sz="1200" spc="-5">
                <a:latin typeface="Arial"/>
                <a:cs typeface="Arial"/>
              </a:rPr>
              <a:t>He  launched the Muslim Society </a:t>
            </a:r>
            <a:r>
              <a:rPr dirty="0" sz="1200">
                <a:latin typeface="Arial"/>
                <a:cs typeface="Arial"/>
              </a:rPr>
              <a:t>(Brethren) </a:t>
            </a:r>
            <a:r>
              <a:rPr dirty="0" sz="1200" spc="-5">
                <a:latin typeface="Arial"/>
                <a:cs typeface="Arial"/>
              </a:rPr>
              <a:t>by 1928. </a:t>
            </a:r>
            <a:r>
              <a:rPr dirty="0" sz="1200">
                <a:latin typeface="Arial"/>
                <a:cs typeface="Arial"/>
              </a:rPr>
              <a:t>. In </a:t>
            </a:r>
            <a:r>
              <a:rPr dirty="0" sz="1200" spc="-5">
                <a:latin typeface="Arial"/>
                <a:cs typeface="Arial"/>
              </a:rPr>
              <a:t>1932, headquarters shifted </a:t>
            </a:r>
            <a:r>
              <a:rPr dirty="0" sz="1200">
                <a:latin typeface="Arial"/>
                <a:cs typeface="Arial"/>
              </a:rPr>
              <a:t>to </a:t>
            </a:r>
            <a:r>
              <a:rPr dirty="0" sz="1200" spc="-10">
                <a:latin typeface="Arial"/>
                <a:cs typeface="Arial"/>
              </a:rPr>
              <a:t>Cairo.  </a:t>
            </a:r>
            <a:r>
              <a:rPr dirty="0" sz="1200" spc="-5">
                <a:latin typeface="Arial"/>
                <a:cs typeface="Arial"/>
              </a:rPr>
              <a:t>There </a:t>
            </a:r>
            <a:r>
              <a:rPr dirty="0" sz="1200" spc="-10">
                <a:latin typeface="Arial"/>
                <a:cs typeface="Arial"/>
              </a:rPr>
              <a:t>was </a:t>
            </a:r>
            <a:r>
              <a:rPr dirty="0" sz="1200">
                <a:latin typeface="Arial"/>
                <a:cs typeface="Arial"/>
              </a:rPr>
              <a:t>the </a:t>
            </a:r>
            <a:r>
              <a:rPr dirty="0" sz="1200" spc="-5">
                <a:latin typeface="Arial"/>
                <a:cs typeface="Arial"/>
              </a:rPr>
              <a:t>growth of the brotherhood during </a:t>
            </a:r>
            <a:r>
              <a:rPr dirty="0" sz="1200">
                <a:latin typeface="Arial"/>
                <a:cs typeface="Arial"/>
              </a:rPr>
              <a:t>the </a:t>
            </a:r>
            <a:r>
              <a:rPr dirty="0" sz="1200" spc="-5">
                <a:latin typeface="Arial"/>
                <a:cs typeface="Arial"/>
              </a:rPr>
              <a:t>1930s and </a:t>
            </a:r>
            <a:r>
              <a:rPr dirty="0" sz="1200">
                <a:latin typeface="Arial"/>
                <a:cs typeface="Arial"/>
              </a:rPr>
              <a:t>1940s. By the </a:t>
            </a:r>
            <a:r>
              <a:rPr dirty="0" sz="1200" spc="-5">
                <a:latin typeface="Arial"/>
                <a:cs typeface="Arial"/>
              </a:rPr>
              <a:t>early 1950s,  branches had been established in Syria, Sudan, Jordan, </a:t>
            </a:r>
            <a:r>
              <a:rPr dirty="0" sz="1200">
                <a:latin typeface="Arial"/>
                <a:cs typeface="Arial"/>
              </a:rPr>
              <a:t>Iran, </a:t>
            </a:r>
            <a:r>
              <a:rPr dirty="0" sz="1200" spc="-5">
                <a:latin typeface="Arial"/>
                <a:cs typeface="Arial"/>
              </a:rPr>
              <a:t>Pakistan, Indonesia, </a:t>
            </a:r>
            <a:r>
              <a:rPr dirty="0" sz="1200" spc="15">
                <a:latin typeface="Arial"/>
                <a:cs typeface="Arial"/>
              </a:rPr>
              <a:t>and  </a:t>
            </a:r>
            <a:r>
              <a:rPr dirty="0" sz="1200" spc="-5">
                <a:latin typeface="Arial"/>
                <a:cs typeface="Arial"/>
              </a:rPr>
              <a:t>Malaysia. He gave </a:t>
            </a:r>
            <a:r>
              <a:rPr dirty="0" sz="1200">
                <a:latin typeface="Arial"/>
                <a:cs typeface="Arial"/>
              </a:rPr>
              <a:t>lectures at </a:t>
            </a:r>
            <a:r>
              <a:rPr dirty="0" sz="1200" spc="-5">
                <a:latin typeface="Arial"/>
                <a:cs typeface="Arial"/>
              </a:rPr>
              <a:t>night </a:t>
            </a:r>
            <a:r>
              <a:rPr dirty="0" sz="1200">
                <a:latin typeface="Arial"/>
                <a:cs typeface="Arial"/>
              </a:rPr>
              <a:t>for </a:t>
            </a:r>
            <a:r>
              <a:rPr dirty="0" sz="1200" spc="-5">
                <a:latin typeface="Arial"/>
                <a:cs typeface="Arial"/>
              </a:rPr>
              <a:t>parents </a:t>
            </a:r>
            <a:r>
              <a:rPr dirty="0" sz="1200">
                <a:latin typeface="Arial"/>
                <a:cs typeface="Arial"/>
              </a:rPr>
              <a:t>at </a:t>
            </a:r>
            <a:r>
              <a:rPr dirty="0" sz="1200" spc="-5">
                <a:latin typeface="Arial"/>
                <a:cs typeface="Arial"/>
              </a:rPr>
              <a:t>Isma‘iliyyah </a:t>
            </a:r>
            <a:r>
              <a:rPr dirty="0" sz="1200">
                <a:latin typeface="Arial"/>
                <a:cs typeface="Arial"/>
              </a:rPr>
              <a:t>institute. </a:t>
            </a:r>
            <a:r>
              <a:rPr dirty="0" sz="1200" spc="-10">
                <a:latin typeface="Arial"/>
                <a:cs typeface="Arial"/>
              </a:rPr>
              <a:t>He </a:t>
            </a:r>
            <a:r>
              <a:rPr dirty="0" sz="1200" spc="-5">
                <a:latin typeface="Arial"/>
                <a:cs typeface="Arial"/>
              </a:rPr>
              <a:t>wanted </a:t>
            </a:r>
            <a:r>
              <a:rPr dirty="0" sz="1200">
                <a:latin typeface="Arial"/>
                <a:cs typeface="Arial"/>
              </a:rPr>
              <a:t>to </a:t>
            </a:r>
            <a:r>
              <a:rPr dirty="0" sz="1200" spc="-5">
                <a:latin typeface="Arial"/>
                <a:cs typeface="Arial"/>
              </a:rPr>
              <a:t>make  changes through </a:t>
            </a:r>
            <a:r>
              <a:rPr dirty="0" sz="1200">
                <a:latin typeface="Arial"/>
                <a:cs typeface="Arial"/>
              </a:rPr>
              <a:t>institutions </a:t>
            </a:r>
            <a:r>
              <a:rPr dirty="0" sz="1200" spc="-5">
                <a:latin typeface="Arial"/>
                <a:cs typeface="Arial"/>
              </a:rPr>
              <a:t>around mosque, </a:t>
            </a:r>
            <a:r>
              <a:rPr dirty="0" sz="1200">
                <a:latin typeface="Arial"/>
                <a:cs typeface="Arial"/>
              </a:rPr>
              <a:t>Islamic </a:t>
            </a:r>
            <a:r>
              <a:rPr dirty="0" sz="1200" spc="-5">
                <a:latin typeface="Arial"/>
                <a:cs typeface="Arial"/>
              </a:rPr>
              <a:t>welfare associations, activism, and  </a:t>
            </a:r>
            <a:r>
              <a:rPr dirty="0" sz="1200">
                <a:latin typeface="Arial"/>
                <a:cs typeface="Arial"/>
              </a:rPr>
              <a:t>mass </a:t>
            </a:r>
            <a:r>
              <a:rPr dirty="0" sz="1200" spc="-5">
                <a:latin typeface="Arial"/>
                <a:cs typeface="Arial"/>
              </a:rPr>
              <a:t>communication. He </a:t>
            </a:r>
            <a:r>
              <a:rPr dirty="0" sz="1200">
                <a:latin typeface="Arial"/>
                <a:cs typeface="Arial"/>
              </a:rPr>
              <a:t>placed </a:t>
            </a:r>
            <a:r>
              <a:rPr dirty="0" sz="1200" spc="-5">
                <a:latin typeface="Arial"/>
                <a:cs typeface="Arial"/>
              </a:rPr>
              <a:t>his </a:t>
            </a:r>
            <a:r>
              <a:rPr dirty="0" sz="1200">
                <a:latin typeface="Arial"/>
                <a:cs typeface="Arial"/>
              </a:rPr>
              <a:t>members </a:t>
            </a:r>
            <a:r>
              <a:rPr dirty="0" sz="1200" spc="-5">
                <a:latin typeface="Arial"/>
                <a:cs typeface="Arial"/>
              </a:rPr>
              <a:t>in all </a:t>
            </a:r>
            <a:r>
              <a:rPr dirty="0" sz="1200">
                <a:latin typeface="Arial"/>
                <a:cs typeface="Arial"/>
              </a:rPr>
              <a:t>sectors. </a:t>
            </a:r>
            <a:r>
              <a:rPr dirty="0" sz="1200" spc="-5">
                <a:latin typeface="Arial"/>
                <a:cs typeface="Arial"/>
              </a:rPr>
              <a:t>Al-Banna's message tackled  </a:t>
            </a:r>
            <a:r>
              <a:rPr dirty="0" sz="1200">
                <a:latin typeface="Arial"/>
                <a:cs typeface="Arial"/>
              </a:rPr>
              <a:t>issues </a:t>
            </a:r>
            <a:r>
              <a:rPr dirty="0" sz="1200" spc="-5">
                <a:latin typeface="Arial"/>
                <a:cs typeface="Arial"/>
              </a:rPr>
              <a:t>including colonialism, public health, educational </a:t>
            </a:r>
            <a:r>
              <a:rPr dirty="0" sz="1200" spc="-10">
                <a:latin typeface="Arial"/>
                <a:cs typeface="Arial"/>
              </a:rPr>
              <a:t>policy, </a:t>
            </a:r>
            <a:r>
              <a:rPr dirty="0" sz="1200">
                <a:latin typeface="Arial"/>
                <a:cs typeface="Arial"/>
              </a:rPr>
              <a:t>natural </a:t>
            </a:r>
            <a:r>
              <a:rPr dirty="0" sz="1200" spc="-5">
                <a:latin typeface="Arial"/>
                <a:cs typeface="Arial"/>
              </a:rPr>
              <a:t>resources  management, Marxism, social inequalities, Arab nationalism, the weakness of the Islamic  </a:t>
            </a:r>
            <a:r>
              <a:rPr dirty="0" sz="1200" spc="-10">
                <a:latin typeface="Arial"/>
                <a:cs typeface="Arial"/>
              </a:rPr>
              <a:t>world </a:t>
            </a:r>
            <a:r>
              <a:rPr dirty="0" sz="1200" spc="-5">
                <a:latin typeface="Arial"/>
                <a:cs typeface="Arial"/>
              </a:rPr>
              <a:t>on </a:t>
            </a:r>
            <a:r>
              <a:rPr dirty="0" sz="1200">
                <a:latin typeface="Arial"/>
                <a:cs typeface="Arial"/>
              </a:rPr>
              <a:t>the </a:t>
            </a:r>
            <a:r>
              <a:rPr dirty="0" sz="1200" spc="-5">
                <a:latin typeface="Arial"/>
                <a:cs typeface="Arial"/>
              </a:rPr>
              <a:t>international scene, and the growing </a:t>
            </a:r>
            <a:r>
              <a:rPr dirty="0" sz="1200">
                <a:latin typeface="Arial"/>
                <a:cs typeface="Arial"/>
              </a:rPr>
              <a:t>conflict </a:t>
            </a:r>
            <a:r>
              <a:rPr dirty="0" sz="1200" spc="-5">
                <a:latin typeface="Arial"/>
                <a:cs typeface="Arial"/>
              </a:rPr>
              <a:t>in </a:t>
            </a:r>
            <a:r>
              <a:rPr dirty="0" sz="1200">
                <a:latin typeface="Arial"/>
                <a:cs typeface="Arial"/>
              </a:rPr>
              <a:t>Palestine. </a:t>
            </a:r>
            <a:r>
              <a:rPr dirty="0" sz="1200" spc="-5">
                <a:latin typeface="Arial"/>
                <a:cs typeface="Arial"/>
              </a:rPr>
              <a:t>Due </a:t>
            </a:r>
            <a:r>
              <a:rPr dirty="0" sz="1200">
                <a:latin typeface="Arial"/>
                <a:cs typeface="Arial"/>
              </a:rPr>
              <a:t>to its </a:t>
            </a:r>
            <a:r>
              <a:rPr dirty="0" sz="1200" spc="-5">
                <a:latin typeface="Arial"/>
                <a:cs typeface="Arial"/>
              </a:rPr>
              <a:t>illicit  activities in killings, </a:t>
            </a:r>
            <a:r>
              <a:rPr dirty="0" sz="1200">
                <a:latin typeface="Arial"/>
                <a:cs typeface="Arial"/>
              </a:rPr>
              <a:t>the </a:t>
            </a:r>
            <a:r>
              <a:rPr dirty="0" sz="1200" spc="-5">
                <a:latin typeface="Arial"/>
                <a:cs typeface="Arial"/>
              </a:rPr>
              <a:t>Prime Minister Nuqrashi Pasha disbanded </a:t>
            </a:r>
            <a:r>
              <a:rPr dirty="0" sz="1200">
                <a:latin typeface="Arial"/>
                <a:cs typeface="Arial"/>
              </a:rPr>
              <a:t>it </a:t>
            </a:r>
            <a:r>
              <a:rPr dirty="0" sz="1200" spc="-5">
                <a:latin typeface="Arial"/>
                <a:cs typeface="Arial"/>
              </a:rPr>
              <a:t>in December </a:t>
            </a:r>
            <a:r>
              <a:rPr dirty="0" sz="1200">
                <a:latin typeface="Arial"/>
                <a:cs typeface="Arial"/>
              </a:rPr>
              <a:t>1948. </a:t>
            </a:r>
            <a:r>
              <a:rPr dirty="0" sz="1200" spc="-5">
                <a:latin typeface="Arial"/>
                <a:cs typeface="Arial"/>
              </a:rPr>
              <a:t>The  organization's </a:t>
            </a:r>
            <a:r>
              <a:rPr dirty="0" sz="1200">
                <a:latin typeface="Arial"/>
                <a:cs typeface="Arial"/>
              </a:rPr>
              <a:t>assets </a:t>
            </a:r>
            <a:r>
              <a:rPr dirty="0" sz="1200" spc="-5">
                <a:latin typeface="Arial"/>
                <a:cs typeface="Arial"/>
              </a:rPr>
              <a:t>were impounded and </a:t>
            </a:r>
            <a:r>
              <a:rPr dirty="0" sz="1200">
                <a:latin typeface="Arial"/>
                <a:cs typeface="Arial"/>
              </a:rPr>
              <a:t>scores </a:t>
            </a:r>
            <a:r>
              <a:rPr dirty="0" sz="1200" spc="-5">
                <a:latin typeface="Arial"/>
                <a:cs typeface="Arial"/>
              </a:rPr>
              <a:t>of </a:t>
            </a:r>
            <a:r>
              <a:rPr dirty="0" sz="1200">
                <a:latin typeface="Arial"/>
                <a:cs typeface="Arial"/>
              </a:rPr>
              <a:t>its </a:t>
            </a:r>
            <a:r>
              <a:rPr dirty="0" sz="1200" spc="-5">
                <a:latin typeface="Arial"/>
                <a:cs typeface="Arial"/>
              </a:rPr>
              <a:t>members </a:t>
            </a:r>
            <a:r>
              <a:rPr dirty="0" sz="1200">
                <a:latin typeface="Arial"/>
                <a:cs typeface="Arial"/>
              </a:rPr>
              <a:t>sent to </a:t>
            </a:r>
            <a:r>
              <a:rPr dirty="0" sz="1200" spc="-5">
                <a:latin typeface="Arial"/>
                <a:cs typeface="Arial"/>
              </a:rPr>
              <a:t>jail. 3 weeks later,  </a:t>
            </a:r>
            <a:r>
              <a:rPr dirty="0" sz="1200">
                <a:latin typeface="Arial"/>
                <a:cs typeface="Arial"/>
              </a:rPr>
              <a:t>the</a:t>
            </a:r>
            <a:r>
              <a:rPr dirty="0" sz="1200" spc="45">
                <a:latin typeface="Arial"/>
                <a:cs typeface="Arial"/>
              </a:rPr>
              <a:t> </a:t>
            </a:r>
            <a:r>
              <a:rPr dirty="0" sz="1200" spc="-5">
                <a:latin typeface="Arial"/>
                <a:cs typeface="Arial"/>
              </a:rPr>
              <a:t>prime</a:t>
            </a:r>
            <a:r>
              <a:rPr dirty="0" sz="1200" spc="50">
                <a:latin typeface="Arial"/>
                <a:cs typeface="Arial"/>
              </a:rPr>
              <a:t> </a:t>
            </a:r>
            <a:r>
              <a:rPr dirty="0" sz="1200" spc="-5">
                <a:latin typeface="Arial"/>
                <a:cs typeface="Arial"/>
              </a:rPr>
              <a:t>minister</a:t>
            </a:r>
            <a:r>
              <a:rPr dirty="0" sz="1200" spc="55">
                <a:latin typeface="Arial"/>
                <a:cs typeface="Arial"/>
              </a:rPr>
              <a:t> </a:t>
            </a:r>
            <a:r>
              <a:rPr dirty="0" sz="1200" spc="-10">
                <a:latin typeface="Arial"/>
                <a:cs typeface="Arial"/>
              </a:rPr>
              <a:t>was</a:t>
            </a:r>
            <a:r>
              <a:rPr dirty="0" sz="1200" spc="55">
                <a:latin typeface="Arial"/>
                <a:cs typeface="Arial"/>
              </a:rPr>
              <a:t> </a:t>
            </a:r>
            <a:r>
              <a:rPr dirty="0" sz="1200" spc="-5">
                <a:latin typeface="Arial"/>
                <a:cs typeface="Arial"/>
              </a:rPr>
              <a:t>assassinated</a:t>
            </a:r>
            <a:r>
              <a:rPr dirty="0" sz="1200" spc="60">
                <a:latin typeface="Arial"/>
                <a:cs typeface="Arial"/>
              </a:rPr>
              <a:t> </a:t>
            </a:r>
            <a:r>
              <a:rPr dirty="0" sz="1200" spc="-5">
                <a:latin typeface="Arial"/>
                <a:cs typeface="Arial"/>
              </a:rPr>
              <a:t>by</a:t>
            </a:r>
            <a:r>
              <a:rPr dirty="0" sz="1200" spc="45">
                <a:latin typeface="Arial"/>
                <a:cs typeface="Arial"/>
              </a:rPr>
              <a:t> </a:t>
            </a:r>
            <a:r>
              <a:rPr dirty="0" sz="1200" spc="-5">
                <a:latin typeface="Arial"/>
                <a:cs typeface="Arial"/>
              </a:rPr>
              <a:t>a</a:t>
            </a:r>
            <a:r>
              <a:rPr dirty="0" sz="1200" spc="45">
                <a:latin typeface="Arial"/>
                <a:cs typeface="Arial"/>
              </a:rPr>
              <a:t> </a:t>
            </a:r>
            <a:r>
              <a:rPr dirty="0" sz="1200" spc="-5">
                <a:latin typeface="Arial"/>
                <a:cs typeface="Arial"/>
              </a:rPr>
              <a:t>member</a:t>
            </a:r>
            <a:r>
              <a:rPr dirty="0" sz="1200" spc="40">
                <a:latin typeface="Arial"/>
                <a:cs typeface="Arial"/>
              </a:rPr>
              <a:t> </a:t>
            </a:r>
            <a:r>
              <a:rPr dirty="0" sz="1200" spc="-5">
                <a:latin typeface="Arial"/>
                <a:cs typeface="Arial"/>
              </a:rPr>
              <a:t>of</a:t>
            </a:r>
            <a:r>
              <a:rPr dirty="0" sz="1200" spc="60">
                <a:latin typeface="Arial"/>
                <a:cs typeface="Arial"/>
              </a:rPr>
              <a:t> </a:t>
            </a:r>
            <a:r>
              <a:rPr dirty="0" sz="1200" spc="10">
                <a:latin typeface="Arial"/>
                <a:cs typeface="Arial"/>
              </a:rPr>
              <a:t>the</a:t>
            </a:r>
            <a:r>
              <a:rPr dirty="0" sz="1200" spc="50">
                <a:latin typeface="Arial"/>
                <a:cs typeface="Arial"/>
              </a:rPr>
              <a:t> </a:t>
            </a:r>
            <a:r>
              <a:rPr dirty="0" sz="1200" spc="-5">
                <a:latin typeface="Arial"/>
                <a:cs typeface="Arial"/>
              </a:rPr>
              <a:t>brotherhood.</a:t>
            </a:r>
            <a:r>
              <a:rPr dirty="0" sz="1200" spc="50">
                <a:latin typeface="Arial"/>
                <a:cs typeface="Arial"/>
              </a:rPr>
              <a:t> </a:t>
            </a:r>
            <a:r>
              <a:rPr dirty="0" sz="1200">
                <a:latin typeface="Arial"/>
                <a:cs typeface="Arial"/>
              </a:rPr>
              <a:t>This</a:t>
            </a:r>
            <a:r>
              <a:rPr dirty="0" sz="1200" spc="60">
                <a:latin typeface="Arial"/>
                <a:cs typeface="Arial"/>
              </a:rPr>
              <a:t> </a:t>
            </a:r>
            <a:r>
              <a:rPr dirty="0" sz="1200" spc="-5">
                <a:latin typeface="Arial"/>
                <a:cs typeface="Arial"/>
              </a:rPr>
              <a:t>in</a:t>
            </a:r>
            <a:r>
              <a:rPr dirty="0" sz="1200" spc="55">
                <a:latin typeface="Arial"/>
                <a:cs typeface="Arial"/>
              </a:rPr>
              <a:t> </a:t>
            </a:r>
            <a:r>
              <a:rPr dirty="0" sz="1200" spc="-5">
                <a:latin typeface="Arial"/>
                <a:cs typeface="Arial"/>
              </a:rPr>
              <a:t>turn</a:t>
            </a:r>
            <a:r>
              <a:rPr dirty="0" sz="1200" spc="60">
                <a:latin typeface="Arial"/>
                <a:cs typeface="Arial"/>
              </a:rPr>
              <a:t> </a:t>
            </a:r>
            <a:r>
              <a:rPr dirty="0" sz="1200" spc="-5">
                <a:latin typeface="Arial"/>
                <a:cs typeface="Arial"/>
              </a:rPr>
              <a:t>prompted</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03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163</a:t>
            </a:r>
            <a:endParaRPr sz="1200">
              <a:latin typeface="Times New Roman"/>
              <a:cs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2535" cy="933831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6350">
              <a:lnSpc>
                <a:spcPts val="1380"/>
              </a:lnSpc>
            </a:pPr>
            <a:r>
              <a:rPr dirty="0" sz="1200">
                <a:latin typeface="Arial"/>
                <a:cs typeface="Arial"/>
              </a:rPr>
              <a:t>the </a:t>
            </a:r>
            <a:r>
              <a:rPr dirty="0" sz="1200" spc="-5">
                <a:latin typeface="Arial"/>
                <a:cs typeface="Arial"/>
              </a:rPr>
              <a:t>murder of Al-Banna, presumably by a government agent, in </a:t>
            </a:r>
            <a:r>
              <a:rPr dirty="0" sz="1200">
                <a:latin typeface="Arial"/>
                <a:cs typeface="Arial"/>
              </a:rPr>
              <a:t>February </a:t>
            </a:r>
            <a:r>
              <a:rPr dirty="0" sz="1200" spc="-5">
                <a:latin typeface="Arial"/>
                <a:cs typeface="Arial"/>
              </a:rPr>
              <a:t>1949, when </a:t>
            </a:r>
            <a:r>
              <a:rPr dirty="0" sz="1200" spc="10">
                <a:latin typeface="Arial"/>
                <a:cs typeface="Arial"/>
              </a:rPr>
              <a:t>Al-  </a:t>
            </a:r>
            <a:r>
              <a:rPr dirty="0" sz="1200" spc="-5">
                <a:latin typeface="Arial"/>
                <a:cs typeface="Arial"/>
              </a:rPr>
              <a:t>Banna </a:t>
            </a:r>
            <a:r>
              <a:rPr dirty="0" sz="1200" spc="-10">
                <a:latin typeface="Arial"/>
                <a:cs typeface="Arial"/>
              </a:rPr>
              <a:t>was </a:t>
            </a:r>
            <a:r>
              <a:rPr dirty="0" sz="1200" spc="-5">
                <a:latin typeface="Arial"/>
                <a:cs typeface="Arial"/>
              </a:rPr>
              <a:t>still only </a:t>
            </a:r>
            <a:r>
              <a:rPr dirty="0" sz="1200">
                <a:latin typeface="Arial"/>
                <a:cs typeface="Arial"/>
              </a:rPr>
              <a:t>43 and at the </a:t>
            </a:r>
            <a:r>
              <a:rPr dirty="0" sz="1200" spc="-5">
                <a:latin typeface="Arial"/>
                <a:cs typeface="Arial"/>
              </a:rPr>
              <a:t>height of his</a:t>
            </a:r>
            <a:r>
              <a:rPr dirty="0" sz="1200" spc="-20">
                <a:latin typeface="Arial"/>
                <a:cs typeface="Arial"/>
              </a:rPr>
              <a:t> </a:t>
            </a:r>
            <a:r>
              <a:rPr dirty="0" sz="1200">
                <a:latin typeface="Arial"/>
                <a:cs typeface="Arial"/>
              </a:rPr>
              <a:t>career.</a:t>
            </a:r>
            <a:endParaRPr sz="1200">
              <a:latin typeface="Arial"/>
              <a:cs typeface="Arial"/>
            </a:endParaRPr>
          </a:p>
          <a:p>
            <a:pPr>
              <a:lnSpc>
                <a:spcPct val="100000"/>
              </a:lnSpc>
              <a:spcBef>
                <a:spcPts val="20"/>
              </a:spcBef>
            </a:pPr>
            <a:endParaRPr sz="1100">
              <a:latin typeface="Arial"/>
              <a:cs typeface="Arial"/>
            </a:endParaRPr>
          </a:p>
          <a:p>
            <a:pPr algn="just" marL="12700">
              <a:lnSpc>
                <a:spcPct val="100000"/>
              </a:lnSpc>
              <a:spcBef>
                <a:spcPts val="5"/>
              </a:spcBef>
            </a:pPr>
            <a:r>
              <a:rPr dirty="0" u="heavy" sz="1200" spc="-5" b="1" i="1">
                <a:uFill>
                  <a:solidFill>
                    <a:srgbClr val="000000"/>
                  </a:solidFill>
                </a:uFill>
                <a:latin typeface="Arial"/>
                <a:cs typeface="Arial"/>
              </a:rPr>
              <a:t>Concepts </a:t>
            </a:r>
            <a:r>
              <a:rPr dirty="0" u="heavy" sz="1200" b="1" i="1">
                <a:uFill>
                  <a:solidFill>
                    <a:srgbClr val="000000"/>
                  </a:solidFill>
                </a:uFill>
                <a:latin typeface="Arial"/>
                <a:cs typeface="Arial"/>
              </a:rPr>
              <a:t>of al</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Banna</a:t>
            </a:r>
            <a:endParaRPr sz="1200">
              <a:latin typeface="Arial"/>
              <a:cs typeface="Arial"/>
            </a:endParaRPr>
          </a:p>
          <a:p>
            <a:pPr>
              <a:lnSpc>
                <a:spcPct val="100000"/>
              </a:lnSpc>
              <a:spcBef>
                <a:spcPts val="35"/>
              </a:spcBef>
            </a:pPr>
            <a:endParaRPr sz="1200">
              <a:latin typeface="Arial"/>
              <a:cs typeface="Arial"/>
            </a:endParaRPr>
          </a:p>
          <a:p>
            <a:pPr algn="just" marL="469900" marR="5080" indent="-229235">
              <a:lnSpc>
                <a:spcPts val="1380"/>
              </a:lnSpc>
              <a:buFont typeface="Arial"/>
              <a:buAutoNum type="arabicPeriod"/>
              <a:tabLst>
                <a:tab pos="414020" algn="l"/>
              </a:tabLst>
            </a:pPr>
            <a:r>
              <a:rPr dirty="0" sz="1200" spc="-5" b="1">
                <a:latin typeface="Arial"/>
                <a:cs typeface="Arial"/>
              </a:rPr>
              <a:t>Central importance </a:t>
            </a:r>
            <a:r>
              <a:rPr dirty="0" sz="1200" b="1">
                <a:latin typeface="Arial"/>
                <a:cs typeface="Arial"/>
              </a:rPr>
              <a:t>of </a:t>
            </a:r>
            <a:r>
              <a:rPr dirty="0" sz="1200" spc="-5" b="1">
                <a:latin typeface="Arial"/>
                <a:cs typeface="Arial"/>
              </a:rPr>
              <a:t>violent Jihad </a:t>
            </a:r>
            <a:r>
              <a:rPr dirty="0" sz="1200">
                <a:latin typeface="Arial"/>
                <a:cs typeface="Arial"/>
              </a:rPr>
              <a:t>- In </a:t>
            </a:r>
            <a:r>
              <a:rPr dirty="0" sz="1200" spc="-5">
                <a:latin typeface="Arial"/>
                <a:cs typeface="Arial"/>
              </a:rPr>
              <a:t>traditional </a:t>
            </a:r>
            <a:r>
              <a:rPr dirty="0" sz="1200">
                <a:latin typeface="Arial"/>
                <a:cs typeface="Arial"/>
              </a:rPr>
              <a:t>Islam, </a:t>
            </a:r>
            <a:r>
              <a:rPr dirty="0" sz="1200" spc="-5">
                <a:latin typeface="Arial"/>
                <a:cs typeface="Arial"/>
              </a:rPr>
              <a:t>Jihad, which </a:t>
            </a:r>
            <a:r>
              <a:rPr dirty="0" sz="1200" spc="-10">
                <a:latin typeface="Arial"/>
                <a:cs typeface="Arial"/>
              </a:rPr>
              <a:t>means  </a:t>
            </a:r>
            <a:r>
              <a:rPr dirty="0" sz="1200" spc="-15">
                <a:latin typeface="Arial"/>
                <a:cs typeface="Arial"/>
              </a:rPr>
              <a:t>"struggle‖, </a:t>
            </a:r>
            <a:r>
              <a:rPr dirty="0" sz="1200" spc="-10">
                <a:latin typeface="Arial"/>
                <a:cs typeface="Arial"/>
              </a:rPr>
              <a:t>was </a:t>
            </a:r>
            <a:r>
              <a:rPr dirty="0" sz="1200" spc="-5">
                <a:latin typeface="Arial"/>
                <a:cs typeface="Arial"/>
              </a:rPr>
              <a:t>divided into "Greater Jihad," an inner struggle </a:t>
            </a:r>
            <a:r>
              <a:rPr dirty="0" sz="1200">
                <a:latin typeface="Arial"/>
                <a:cs typeface="Arial"/>
              </a:rPr>
              <a:t>to </a:t>
            </a:r>
            <a:r>
              <a:rPr dirty="0" sz="1200" spc="-5">
                <a:latin typeface="Arial"/>
                <a:cs typeface="Arial"/>
              </a:rPr>
              <a:t>achieve </a:t>
            </a:r>
            <a:r>
              <a:rPr dirty="0" sz="1200">
                <a:latin typeface="Arial"/>
                <a:cs typeface="Arial"/>
              </a:rPr>
              <a:t>sanctity </a:t>
            </a:r>
            <a:r>
              <a:rPr dirty="0" sz="1200" spc="-5">
                <a:latin typeface="Arial"/>
                <a:cs typeface="Arial"/>
              </a:rPr>
              <a:t>and  religious </a:t>
            </a:r>
            <a:r>
              <a:rPr dirty="0" sz="1200">
                <a:latin typeface="Arial"/>
                <a:cs typeface="Arial"/>
              </a:rPr>
              <a:t>truth </a:t>
            </a:r>
            <a:r>
              <a:rPr dirty="0" sz="1200" spc="-5">
                <a:latin typeface="Arial"/>
                <a:cs typeface="Arial"/>
              </a:rPr>
              <a:t>and a "Lesser Jihad" </a:t>
            </a:r>
            <a:r>
              <a:rPr dirty="0" sz="1200">
                <a:latin typeface="Arial"/>
                <a:cs typeface="Arial"/>
              </a:rPr>
              <a:t>- </a:t>
            </a:r>
            <a:r>
              <a:rPr dirty="0" sz="1200" spc="-10">
                <a:latin typeface="Arial"/>
                <a:cs typeface="Arial"/>
              </a:rPr>
              <a:t>war </a:t>
            </a:r>
            <a:r>
              <a:rPr dirty="0" sz="1200" spc="-5">
                <a:latin typeface="Arial"/>
                <a:cs typeface="Arial"/>
              </a:rPr>
              <a:t>against enemies of Islam or </a:t>
            </a:r>
            <a:r>
              <a:rPr dirty="0" sz="1200">
                <a:latin typeface="Arial"/>
                <a:cs typeface="Arial"/>
              </a:rPr>
              <a:t>Jihad </a:t>
            </a:r>
            <a:r>
              <a:rPr dirty="0" sz="1200" spc="-5">
                <a:latin typeface="Arial"/>
                <a:cs typeface="Arial"/>
              </a:rPr>
              <a:t>Masala.  Al-Banna reversed </a:t>
            </a:r>
            <a:r>
              <a:rPr dirty="0" sz="1200">
                <a:latin typeface="Arial"/>
                <a:cs typeface="Arial"/>
              </a:rPr>
              <a:t>the </a:t>
            </a:r>
            <a:r>
              <a:rPr dirty="0" sz="1200" spc="-5">
                <a:latin typeface="Arial"/>
                <a:cs typeface="Arial"/>
              </a:rPr>
              <a:t>priorities. He </a:t>
            </a:r>
            <a:r>
              <a:rPr dirty="0" sz="1200">
                <a:latin typeface="Arial"/>
                <a:cs typeface="Arial"/>
              </a:rPr>
              <a:t>relegated </a:t>
            </a:r>
            <a:r>
              <a:rPr dirty="0" sz="1200" spc="-5">
                <a:latin typeface="Arial"/>
                <a:cs typeface="Arial"/>
              </a:rPr>
              <a:t>inner </a:t>
            </a:r>
            <a:r>
              <a:rPr dirty="0" sz="1200">
                <a:latin typeface="Arial"/>
                <a:cs typeface="Arial"/>
              </a:rPr>
              <a:t>spiritual </a:t>
            </a:r>
            <a:r>
              <a:rPr dirty="0" sz="1200" spc="-5">
                <a:latin typeface="Arial"/>
                <a:cs typeface="Arial"/>
              </a:rPr>
              <a:t>struggle </a:t>
            </a:r>
            <a:r>
              <a:rPr dirty="0" sz="1200">
                <a:latin typeface="Arial"/>
                <a:cs typeface="Arial"/>
              </a:rPr>
              <a:t>to Jihad al-  </a:t>
            </a:r>
            <a:r>
              <a:rPr dirty="0" sz="1200" spc="-5">
                <a:latin typeface="Arial"/>
                <a:cs typeface="Arial"/>
              </a:rPr>
              <a:t>asghar, the lesser Jihad, and elevated violent </a:t>
            </a:r>
            <a:r>
              <a:rPr dirty="0" sz="1200" spc="-10">
                <a:latin typeface="Arial"/>
                <a:cs typeface="Arial"/>
              </a:rPr>
              <a:t>war </a:t>
            </a:r>
            <a:r>
              <a:rPr dirty="0" sz="1200" spc="-5">
                <a:latin typeface="Arial"/>
                <a:cs typeface="Arial"/>
              </a:rPr>
              <a:t>against enemies of Islam </a:t>
            </a:r>
            <a:r>
              <a:rPr dirty="0" sz="1200">
                <a:latin typeface="Arial"/>
                <a:cs typeface="Arial"/>
              </a:rPr>
              <a:t>to </a:t>
            </a:r>
            <a:r>
              <a:rPr dirty="0" sz="1200" spc="-5">
                <a:latin typeface="Arial"/>
                <a:cs typeface="Arial"/>
              </a:rPr>
              <a:t>Jihad </a:t>
            </a:r>
            <a:r>
              <a:rPr dirty="0" sz="1200">
                <a:latin typeface="Arial"/>
                <a:cs typeface="Arial"/>
              </a:rPr>
              <a:t>al  </a:t>
            </a:r>
            <a:r>
              <a:rPr dirty="0" sz="1200" spc="-5">
                <a:latin typeface="Arial"/>
                <a:cs typeface="Arial"/>
              </a:rPr>
              <a:t>akbar, the great Jihad. His stance </a:t>
            </a:r>
            <a:r>
              <a:rPr dirty="0" sz="1200">
                <a:latin typeface="Arial"/>
                <a:cs typeface="Arial"/>
              </a:rPr>
              <a:t>on </a:t>
            </a:r>
            <a:r>
              <a:rPr dirty="0" sz="1200" spc="-5">
                <a:latin typeface="Arial"/>
                <a:cs typeface="Arial"/>
              </a:rPr>
              <a:t>this </a:t>
            </a:r>
            <a:r>
              <a:rPr dirty="0" sz="1200" spc="-10">
                <a:latin typeface="Arial"/>
                <a:cs typeface="Arial"/>
              </a:rPr>
              <a:t>point </a:t>
            </a:r>
            <a:r>
              <a:rPr dirty="0" sz="1200" spc="-5">
                <a:latin typeface="Arial"/>
                <a:cs typeface="Arial"/>
              </a:rPr>
              <a:t>is</a:t>
            </a:r>
            <a:r>
              <a:rPr dirty="0" sz="1200" spc="50">
                <a:latin typeface="Arial"/>
                <a:cs typeface="Arial"/>
              </a:rPr>
              <a:t> </a:t>
            </a:r>
            <a:r>
              <a:rPr dirty="0" sz="1200" spc="-5">
                <a:latin typeface="Arial"/>
                <a:cs typeface="Arial"/>
              </a:rPr>
              <a:t>explicit.</a:t>
            </a:r>
            <a:endParaRPr sz="1200">
              <a:latin typeface="Arial"/>
              <a:cs typeface="Arial"/>
            </a:endParaRPr>
          </a:p>
          <a:p>
            <a:pPr algn="just" marL="469900" marR="5080" indent="-229235">
              <a:lnSpc>
                <a:spcPts val="1380"/>
              </a:lnSpc>
              <a:buFont typeface="Arial"/>
              <a:buAutoNum type="arabicPeriod"/>
              <a:tabLst>
                <a:tab pos="414020" algn="l"/>
              </a:tabLst>
            </a:pPr>
            <a:r>
              <a:rPr dirty="0" sz="1200" b="1">
                <a:latin typeface="Arial"/>
                <a:cs typeface="Arial"/>
              </a:rPr>
              <a:t>The cult of </a:t>
            </a:r>
            <a:r>
              <a:rPr dirty="0" sz="1200" spc="-5" b="1">
                <a:latin typeface="Arial"/>
                <a:cs typeface="Arial"/>
              </a:rPr>
              <a:t>martyrdom </a:t>
            </a:r>
            <a:r>
              <a:rPr dirty="0" sz="1200">
                <a:latin typeface="Arial"/>
                <a:cs typeface="Arial"/>
              </a:rPr>
              <a:t>- </a:t>
            </a:r>
            <a:r>
              <a:rPr dirty="0" sz="1200" spc="-5">
                <a:latin typeface="Arial"/>
                <a:cs typeface="Arial"/>
              </a:rPr>
              <a:t>Al-Banna wrote: </a:t>
            </a:r>
            <a:r>
              <a:rPr dirty="0" sz="1200" spc="-280">
                <a:latin typeface="Arial"/>
                <a:cs typeface="Arial"/>
              </a:rPr>
              <a:t>―My </a:t>
            </a:r>
            <a:r>
              <a:rPr dirty="0" sz="1200">
                <a:latin typeface="Arial"/>
                <a:cs typeface="Arial"/>
              </a:rPr>
              <a:t>brother, </a:t>
            </a:r>
            <a:r>
              <a:rPr dirty="0" sz="1200" spc="-5">
                <a:latin typeface="Arial"/>
                <a:cs typeface="Arial"/>
              </a:rPr>
              <a:t>you should </a:t>
            </a:r>
            <a:r>
              <a:rPr dirty="0" sz="1200">
                <a:latin typeface="Arial"/>
                <a:cs typeface="Arial"/>
              </a:rPr>
              <a:t>know that </a:t>
            </a:r>
            <a:r>
              <a:rPr dirty="0" sz="1200" spc="-5">
                <a:latin typeface="Arial"/>
                <a:cs typeface="Arial"/>
              </a:rPr>
              <a:t>one </a:t>
            </a:r>
            <a:r>
              <a:rPr dirty="0" sz="1200" spc="10">
                <a:latin typeface="Arial"/>
                <a:cs typeface="Arial"/>
              </a:rPr>
              <a:t>day  </a:t>
            </a:r>
            <a:r>
              <a:rPr dirty="0" sz="1200" spc="-10">
                <a:latin typeface="Arial"/>
                <a:cs typeface="Arial"/>
              </a:rPr>
              <a:t>you </a:t>
            </a:r>
            <a:r>
              <a:rPr dirty="0" sz="1200" spc="-5">
                <a:latin typeface="Arial"/>
                <a:cs typeface="Arial"/>
              </a:rPr>
              <a:t>will </a:t>
            </a:r>
            <a:r>
              <a:rPr dirty="0" sz="1200">
                <a:latin typeface="Arial"/>
                <a:cs typeface="Arial"/>
              </a:rPr>
              <a:t>face </a:t>
            </a:r>
            <a:r>
              <a:rPr dirty="0" sz="1200" spc="-5">
                <a:latin typeface="Arial"/>
                <a:cs typeface="Arial"/>
              </a:rPr>
              <a:t>death and </a:t>
            </a:r>
            <a:r>
              <a:rPr dirty="0" sz="1200">
                <a:latin typeface="Arial"/>
                <a:cs typeface="Arial"/>
              </a:rPr>
              <a:t>this </a:t>
            </a:r>
            <a:r>
              <a:rPr dirty="0" sz="1200" spc="-5">
                <a:latin typeface="Arial"/>
                <a:cs typeface="Arial"/>
              </a:rPr>
              <a:t>ominous event can only occur once. If </a:t>
            </a:r>
            <a:r>
              <a:rPr dirty="0" sz="1200" spc="-10">
                <a:latin typeface="Arial"/>
                <a:cs typeface="Arial"/>
              </a:rPr>
              <a:t>you </a:t>
            </a:r>
            <a:r>
              <a:rPr dirty="0" sz="1200" spc="-5">
                <a:latin typeface="Arial"/>
                <a:cs typeface="Arial"/>
              </a:rPr>
              <a:t>suffer on </a:t>
            </a:r>
            <a:r>
              <a:rPr dirty="0" sz="1200" spc="-10">
                <a:latin typeface="Arial"/>
                <a:cs typeface="Arial"/>
              </a:rPr>
              <a:t>this  </a:t>
            </a:r>
            <a:r>
              <a:rPr dirty="0" sz="1200" spc="-5">
                <a:latin typeface="Arial"/>
                <a:cs typeface="Arial"/>
              </a:rPr>
              <a:t>occasion</a:t>
            </a:r>
            <a:r>
              <a:rPr dirty="0" sz="1200" spc="70">
                <a:latin typeface="Arial"/>
                <a:cs typeface="Arial"/>
              </a:rPr>
              <a:t> </a:t>
            </a:r>
            <a:r>
              <a:rPr dirty="0" sz="1200" spc="-5">
                <a:latin typeface="Arial"/>
                <a:cs typeface="Arial"/>
              </a:rPr>
              <a:t>in</a:t>
            </a:r>
            <a:r>
              <a:rPr dirty="0" sz="1200" spc="80">
                <a:latin typeface="Arial"/>
                <a:cs typeface="Arial"/>
              </a:rPr>
              <a:t> </a:t>
            </a:r>
            <a:r>
              <a:rPr dirty="0" sz="1200" spc="-5">
                <a:latin typeface="Arial"/>
                <a:cs typeface="Arial"/>
              </a:rPr>
              <a:t>the</a:t>
            </a:r>
            <a:r>
              <a:rPr dirty="0" sz="1200" spc="75">
                <a:latin typeface="Arial"/>
                <a:cs typeface="Arial"/>
              </a:rPr>
              <a:t> </a:t>
            </a:r>
            <a:r>
              <a:rPr dirty="0" sz="1200" spc="-10">
                <a:latin typeface="Arial"/>
                <a:cs typeface="Arial"/>
              </a:rPr>
              <a:t>way</a:t>
            </a:r>
            <a:r>
              <a:rPr dirty="0" sz="1200" spc="65">
                <a:latin typeface="Arial"/>
                <a:cs typeface="Arial"/>
              </a:rPr>
              <a:t> </a:t>
            </a:r>
            <a:r>
              <a:rPr dirty="0" sz="1200">
                <a:latin typeface="Arial"/>
                <a:cs typeface="Arial"/>
              </a:rPr>
              <a:t>of</a:t>
            </a:r>
            <a:r>
              <a:rPr dirty="0" sz="1200" spc="85">
                <a:latin typeface="Arial"/>
                <a:cs typeface="Arial"/>
              </a:rPr>
              <a:t> </a:t>
            </a:r>
            <a:r>
              <a:rPr dirty="0" sz="1200" spc="-5">
                <a:latin typeface="Arial"/>
                <a:cs typeface="Arial"/>
              </a:rPr>
              <a:t>Allah,</a:t>
            </a:r>
            <a:r>
              <a:rPr dirty="0" sz="1200" spc="65">
                <a:latin typeface="Arial"/>
                <a:cs typeface="Arial"/>
              </a:rPr>
              <a:t> </a:t>
            </a:r>
            <a:r>
              <a:rPr dirty="0" sz="1200">
                <a:latin typeface="Arial"/>
                <a:cs typeface="Arial"/>
              </a:rPr>
              <a:t>it</a:t>
            </a:r>
            <a:r>
              <a:rPr dirty="0" sz="1200" spc="80">
                <a:latin typeface="Arial"/>
                <a:cs typeface="Arial"/>
              </a:rPr>
              <a:t> </a:t>
            </a:r>
            <a:r>
              <a:rPr dirty="0" sz="1200" spc="-10">
                <a:latin typeface="Arial"/>
                <a:cs typeface="Arial"/>
              </a:rPr>
              <a:t>will</a:t>
            </a:r>
            <a:r>
              <a:rPr dirty="0" sz="1200" spc="75">
                <a:latin typeface="Arial"/>
                <a:cs typeface="Arial"/>
              </a:rPr>
              <a:t> </a:t>
            </a:r>
            <a:r>
              <a:rPr dirty="0" sz="1200" spc="-5">
                <a:latin typeface="Arial"/>
                <a:cs typeface="Arial"/>
              </a:rPr>
              <a:t>be</a:t>
            </a:r>
            <a:r>
              <a:rPr dirty="0" sz="1200" spc="80">
                <a:latin typeface="Arial"/>
                <a:cs typeface="Arial"/>
              </a:rPr>
              <a:t> </a:t>
            </a:r>
            <a:r>
              <a:rPr dirty="0" sz="1200">
                <a:latin typeface="Arial"/>
                <a:cs typeface="Arial"/>
              </a:rPr>
              <a:t>to</a:t>
            </a:r>
            <a:r>
              <a:rPr dirty="0" sz="1200" spc="75">
                <a:latin typeface="Arial"/>
                <a:cs typeface="Arial"/>
              </a:rPr>
              <a:t> </a:t>
            </a:r>
            <a:r>
              <a:rPr dirty="0" sz="1200" spc="-5">
                <a:latin typeface="Arial"/>
                <a:cs typeface="Arial"/>
              </a:rPr>
              <a:t>your</a:t>
            </a:r>
            <a:r>
              <a:rPr dirty="0" sz="1200" spc="70">
                <a:latin typeface="Arial"/>
                <a:cs typeface="Arial"/>
              </a:rPr>
              <a:t> </a:t>
            </a:r>
            <a:r>
              <a:rPr dirty="0" sz="1200" spc="-5">
                <a:latin typeface="Arial"/>
                <a:cs typeface="Arial"/>
              </a:rPr>
              <a:t>benefit</a:t>
            </a:r>
            <a:r>
              <a:rPr dirty="0" sz="1200" spc="80">
                <a:latin typeface="Arial"/>
                <a:cs typeface="Arial"/>
              </a:rPr>
              <a:t> </a:t>
            </a:r>
            <a:r>
              <a:rPr dirty="0" sz="1200" spc="-5">
                <a:latin typeface="Arial"/>
                <a:cs typeface="Arial"/>
              </a:rPr>
              <a:t>in</a:t>
            </a:r>
            <a:r>
              <a:rPr dirty="0" sz="1200" spc="65">
                <a:latin typeface="Arial"/>
                <a:cs typeface="Arial"/>
              </a:rPr>
              <a:t> </a:t>
            </a:r>
            <a:r>
              <a:rPr dirty="0" sz="1200">
                <a:latin typeface="Arial"/>
                <a:cs typeface="Arial"/>
              </a:rPr>
              <a:t>this</a:t>
            </a:r>
            <a:r>
              <a:rPr dirty="0" sz="1200" spc="60">
                <a:latin typeface="Arial"/>
                <a:cs typeface="Arial"/>
              </a:rPr>
              <a:t> </a:t>
            </a:r>
            <a:r>
              <a:rPr dirty="0" sz="1200" spc="-10">
                <a:latin typeface="Arial"/>
                <a:cs typeface="Arial"/>
              </a:rPr>
              <a:t>world</a:t>
            </a:r>
            <a:r>
              <a:rPr dirty="0" sz="1200" spc="85">
                <a:latin typeface="Arial"/>
                <a:cs typeface="Arial"/>
              </a:rPr>
              <a:t> </a:t>
            </a:r>
            <a:r>
              <a:rPr dirty="0" sz="1200" spc="-5">
                <a:latin typeface="Arial"/>
                <a:cs typeface="Arial"/>
              </a:rPr>
              <a:t>and</a:t>
            </a:r>
            <a:r>
              <a:rPr dirty="0" sz="1200" spc="70">
                <a:latin typeface="Arial"/>
                <a:cs typeface="Arial"/>
              </a:rPr>
              <a:t> </a:t>
            </a:r>
            <a:r>
              <a:rPr dirty="0" sz="1200" spc="-5">
                <a:latin typeface="Arial"/>
                <a:cs typeface="Arial"/>
              </a:rPr>
              <a:t>your</a:t>
            </a:r>
            <a:r>
              <a:rPr dirty="0" sz="1200" spc="75">
                <a:latin typeface="Arial"/>
                <a:cs typeface="Arial"/>
              </a:rPr>
              <a:t> </a:t>
            </a:r>
            <a:r>
              <a:rPr dirty="0" sz="1200" spc="-5">
                <a:latin typeface="Arial"/>
                <a:cs typeface="Arial"/>
              </a:rPr>
              <a:t>reward</a:t>
            </a:r>
            <a:r>
              <a:rPr dirty="0" sz="1200" spc="75">
                <a:latin typeface="Arial"/>
                <a:cs typeface="Arial"/>
              </a:rPr>
              <a:t> </a:t>
            </a:r>
            <a:r>
              <a:rPr dirty="0" sz="1200" spc="-5">
                <a:latin typeface="Arial"/>
                <a:cs typeface="Arial"/>
              </a:rPr>
              <a:t>in</a:t>
            </a:r>
            <a:endParaRPr sz="1200">
              <a:latin typeface="Arial"/>
              <a:cs typeface="Arial"/>
            </a:endParaRPr>
          </a:p>
          <a:p>
            <a:pPr algn="just" marL="469900">
              <a:lnSpc>
                <a:spcPts val="1315"/>
              </a:lnSpc>
            </a:pPr>
            <a:r>
              <a:rPr dirty="0" sz="1200">
                <a:latin typeface="Arial"/>
                <a:cs typeface="Arial"/>
              </a:rPr>
              <a:t>the</a:t>
            </a:r>
            <a:r>
              <a:rPr dirty="0" sz="1200" spc="-15">
                <a:latin typeface="Arial"/>
                <a:cs typeface="Arial"/>
              </a:rPr>
              <a:t> </a:t>
            </a:r>
            <a:r>
              <a:rPr dirty="0" sz="1200" spc="-20">
                <a:latin typeface="Arial"/>
                <a:cs typeface="Arial"/>
              </a:rPr>
              <a:t>next.‖</a:t>
            </a:r>
            <a:endParaRPr sz="1200">
              <a:latin typeface="Arial"/>
              <a:cs typeface="Arial"/>
            </a:endParaRPr>
          </a:p>
          <a:p>
            <a:pPr algn="just" marL="413384" indent="-172720">
              <a:lnSpc>
                <a:spcPts val="1375"/>
              </a:lnSpc>
              <a:buFont typeface="Arial"/>
              <a:buAutoNum type="arabicPeriod" startAt="3"/>
              <a:tabLst>
                <a:tab pos="414020" algn="l"/>
              </a:tabLst>
            </a:pPr>
            <a:r>
              <a:rPr dirty="0" sz="1200" b="1">
                <a:latin typeface="Arial"/>
                <a:cs typeface="Arial"/>
              </a:rPr>
              <a:t>The </a:t>
            </a:r>
            <a:r>
              <a:rPr dirty="0" sz="1200" spc="-5" b="1">
                <a:latin typeface="Arial"/>
                <a:cs typeface="Arial"/>
              </a:rPr>
              <a:t>supremacy </a:t>
            </a:r>
            <a:r>
              <a:rPr dirty="0" sz="1200" b="1">
                <a:latin typeface="Arial"/>
                <a:cs typeface="Arial"/>
              </a:rPr>
              <a:t>of Islam </a:t>
            </a:r>
            <a:r>
              <a:rPr dirty="0" sz="1200">
                <a:latin typeface="Arial"/>
                <a:cs typeface="Arial"/>
              </a:rPr>
              <a:t>- </a:t>
            </a:r>
            <a:r>
              <a:rPr dirty="0" sz="1200" spc="-5">
                <a:latin typeface="Arial"/>
                <a:cs typeface="Arial"/>
              </a:rPr>
              <a:t>"Islam must dominate and is not to be </a:t>
            </a:r>
            <a:r>
              <a:rPr dirty="0" sz="1200">
                <a:latin typeface="Arial"/>
                <a:cs typeface="Arial"/>
              </a:rPr>
              <a:t>dominated.</a:t>
            </a:r>
            <a:r>
              <a:rPr dirty="0" sz="1200" spc="30">
                <a:latin typeface="Arial"/>
                <a:cs typeface="Arial"/>
              </a:rPr>
              <a:t> </a:t>
            </a:r>
            <a:r>
              <a:rPr dirty="0" sz="1200" spc="-805">
                <a:latin typeface="Arial"/>
                <a:cs typeface="Arial"/>
              </a:rPr>
              <a:t>―</a:t>
            </a:r>
            <a:endParaRPr sz="1200">
              <a:latin typeface="Arial"/>
              <a:cs typeface="Arial"/>
            </a:endParaRPr>
          </a:p>
          <a:p>
            <a:pPr algn="just" marL="469900" marR="7620" indent="-229235">
              <a:lnSpc>
                <a:spcPts val="1390"/>
              </a:lnSpc>
              <a:spcBef>
                <a:spcPts val="50"/>
              </a:spcBef>
              <a:buFont typeface="Arial"/>
              <a:buAutoNum type="arabicPeriod" startAt="3"/>
              <a:tabLst>
                <a:tab pos="414020" algn="l"/>
              </a:tabLst>
            </a:pPr>
            <a:r>
              <a:rPr dirty="0" sz="1200" spc="-5" b="1">
                <a:latin typeface="Arial"/>
                <a:cs typeface="Arial"/>
              </a:rPr>
              <a:t>Restoration </a:t>
            </a:r>
            <a:r>
              <a:rPr dirty="0" sz="1200" b="1">
                <a:latin typeface="Arial"/>
                <a:cs typeface="Arial"/>
              </a:rPr>
              <a:t>of </a:t>
            </a:r>
            <a:r>
              <a:rPr dirty="0" sz="1200" spc="-5" b="1">
                <a:latin typeface="Arial"/>
                <a:cs typeface="Arial"/>
              </a:rPr>
              <a:t>the </a:t>
            </a:r>
            <a:r>
              <a:rPr dirty="0" sz="1200" b="1">
                <a:latin typeface="Arial"/>
                <a:cs typeface="Arial"/>
              </a:rPr>
              <a:t>lost </a:t>
            </a:r>
            <a:r>
              <a:rPr dirty="0" sz="1200" spc="-5" b="1">
                <a:latin typeface="Arial"/>
                <a:cs typeface="Arial"/>
              </a:rPr>
              <a:t>caliphate </a:t>
            </a:r>
            <a:r>
              <a:rPr dirty="0" sz="1200">
                <a:latin typeface="Arial"/>
                <a:cs typeface="Arial"/>
              </a:rPr>
              <a:t>- </a:t>
            </a:r>
            <a:r>
              <a:rPr dirty="0" sz="1200" spc="-5" i="1">
                <a:latin typeface="Arial"/>
                <a:cs typeface="Arial"/>
              </a:rPr>
              <a:t>i'adat al Khalifa al Mafqudah </a:t>
            </a:r>
            <a:r>
              <a:rPr dirty="0" sz="1200">
                <a:latin typeface="Arial"/>
                <a:cs typeface="Arial"/>
              </a:rPr>
              <a:t>- </a:t>
            </a:r>
            <a:r>
              <a:rPr dirty="0" sz="1200" spc="-5">
                <a:latin typeface="Arial"/>
                <a:cs typeface="Arial"/>
              </a:rPr>
              <a:t>is </a:t>
            </a:r>
            <a:r>
              <a:rPr dirty="0" sz="1200">
                <a:latin typeface="Arial"/>
                <a:cs typeface="Arial"/>
              </a:rPr>
              <a:t>the </a:t>
            </a:r>
            <a:r>
              <a:rPr dirty="0" sz="1200" spc="-5">
                <a:latin typeface="Arial"/>
                <a:cs typeface="Arial"/>
              </a:rPr>
              <a:t>chief  immediate political </a:t>
            </a:r>
            <a:r>
              <a:rPr dirty="0" sz="1200" spc="-10">
                <a:latin typeface="Arial"/>
                <a:cs typeface="Arial"/>
              </a:rPr>
              <a:t>goal </a:t>
            </a:r>
            <a:r>
              <a:rPr dirty="0" sz="1200" spc="-5">
                <a:latin typeface="Arial"/>
                <a:cs typeface="Arial"/>
              </a:rPr>
              <a:t>of the Islamist</a:t>
            </a:r>
            <a:r>
              <a:rPr dirty="0" sz="1200" spc="30">
                <a:latin typeface="Arial"/>
                <a:cs typeface="Arial"/>
              </a:rPr>
              <a:t> </a:t>
            </a:r>
            <a:r>
              <a:rPr dirty="0" sz="1200" spc="-5">
                <a:latin typeface="Arial"/>
                <a:cs typeface="Arial"/>
              </a:rPr>
              <a:t>movement.</a:t>
            </a:r>
            <a:endParaRPr sz="1200">
              <a:latin typeface="Arial"/>
              <a:cs typeface="Arial"/>
            </a:endParaRPr>
          </a:p>
          <a:p>
            <a:pPr algn="just" marL="469900" marR="8255" indent="-229235">
              <a:lnSpc>
                <a:spcPts val="1380"/>
              </a:lnSpc>
              <a:buFont typeface="Arial"/>
              <a:buAutoNum type="arabicPeriod" startAt="3"/>
              <a:tabLst>
                <a:tab pos="414020" algn="l"/>
              </a:tabLst>
            </a:pPr>
            <a:r>
              <a:rPr dirty="0" sz="1200" b="1">
                <a:latin typeface="Arial"/>
                <a:cs typeface="Arial"/>
              </a:rPr>
              <a:t>The </a:t>
            </a:r>
            <a:r>
              <a:rPr dirty="0" sz="1200" spc="-5" b="1">
                <a:latin typeface="Arial"/>
                <a:cs typeface="Arial"/>
              </a:rPr>
              <a:t>decadence and imminent demise </a:t>
            </a:r>
            <a:r>
              <a:rPr dirty="0" sz="1200" b="1">
                <a:latin typeface="Arial"/>
                <a:cs typeface="Arial"/>
              </a:rPr>
              <a:t>of </a:t>
            </a:r>
            <a:r>
              <a:rPr dirty="0" sz="1200" spc="-5" b="1">
                <a:latin typeface="Arial"/>
                <a:cs typeface="Arial"/>
              </a:rPr>
              <a:t>the </a:t>
            </a:r>
            <a:r>
              <a:rPr dirty="0" sz="1200" b="1">
                <a:latin typeface="Arial"/>
                <a:cs typeface="Arial"/>
              </a:rPr>
              <a:t>west </a:t>
            </a:r>
            <a:r>
              <a:rPr dirty="0" sz="1200">
                <a:latin typeface="Arial"/>
                <a:cs typeface="Arial"/>
              </a:rPr>
              <a:t>- </a:t>
            </a:r>
            <a:r>
              <a:rPr dirty="0" sz="1200" spc="-5">
                <a:latin typeface="Arial"/>
                <a:cs typeface="Arial"/>
              </a:rPr>
              <a:t>"The civilization of the </a:t>
            </a:r>
            <a:r>
              <a:rPr dirty="0" sz="1200">
                <a:latin typeface="Arial"/>
                <a:cs typeface="Arial"/>
              </a:rPr>
              <a:t>West,  </a:t>
            </a:r>
            <a:r>
              <a:rPr dirty="0" sz="1200" spc="-5">
                <a:latin typeface="Arial"/>
                <a:cs typeface="Arial"/>
              </a:rPr>
              <a:t>which </a:t>
            </a:r>
            <a:r>
              <a:rPr dirty="0" sz="1200" spc="-10">
                <a:latin typeface="Arial"/>
                <a:cs typeface="Arial"/>
              </a:rPr>
              <a:t>was </a:t>
            </a:r>
            <a:r>
              <a:rPr dirty="0" sz="1200" spc="-5">
                <a:latin typeface="Arial"/>
                <a:cs typeface="Arial"/>
              </a:rPr>
              <a:t>brilliant by virtue of </a:t>
            </a:r>
            <a:r>
              <a:rPr dirty="0" sz="1200">
                <a:latin typeface="Arial"/>
                <a:cs typeface="Arial"/>
              </a:rPr>
              <a:t>its </a:t>
            </a:r>
            <a:r>
              <a:rPr dirty="0" sz="1200" spc="-5">
                <a:latin typeface="Arial"/>
                <a:cs typeface="Arial"/>
              </a:rPr>
              <a:t>scientific perfection </a:t>
            </a:r>
            <a:r>
              <a:rPr dirty="0" sz="1200">
                <a:latin typeface="Arial"/>
                <a:cs typeface="Arial"/>
              </a:rPr>
              <a:t>for </a:t>
            </a:r>
            <a:r>
              <a:rPr dirty="0" sz="1200" spc="-5">
                <a:latin typeface="Arial"/>
                <a:cs typeface="Arial"/>
              </a:rPr>
              <a:t>a </a:t>
            </a:r>
            <a:r>
              <a:rPr dirty="0" sz="1200">
                <a:latin typeface="Arial"/>
                <a:cs typeface="Arial"/>
              </a:rPr>
              <a:t>long time, </a:t>
            </a:r>
            <a:r>
              <a:rPr dirty="0" sz="1200" spc="-5">
                <a:latin typeface="Arial"/>
                <a:cs typeface="Arial"/>
              </a:rPr>
              <a:t>and which  subjugated the whole </a:t>
            </a:r>
            <a:r>
              <a:rPr dirty="0" sz="1200" spc="-10">
                <a:latin typeface="Arial"/>
                <a:cs typeface="Arial"/>
              </a:rPr>
              <a:t>world </a:t>
            </a:r>
            <a:r>
              <a:rPr dirty="0" sz="1200" spc="-5">
                <a:latin typeface="Arial"/>
                <a:cs typeface="Arial"/>
              </a:rPr>
              <a:t>with </a:t>
            </a:r>
            <a:r>
              <a:rPr dirty="0" sz="1200">
                <a:latin typeface="Arial"/>
                <a:cs typeface="Arial"/>
              </a:rPr>
              <a:t>the </a:t>
            </a:r>
            <a:r>
              <a:rPr dirty="0" sz="1200" spc="-5">
                <a:latin typeface="Arial"/>
                <a:cs typeface="Arial"/>
              </a:rPr>
              <a:t>products of </a:t>
            </a:r>
            <a:r>
              <a:rPr dirty="0" sz="1200">
                <a:latin typeface="Arial"/>
                <a:cs typeface="Arial"/>
              </a:rPr>
              <a:t>this </a:t>
            </a:r>
            <a:r>
              <a:rPr dirty="0" sz="1200" spc="-5">
                <a:latin typeface="Arial"/>
                <a:cs typeface="Arial"/>
              </a:rPr>
              <a:t>science </a:t>
            </a:r>
            <a:r>
              <a:rPr dirty="0" sz="1200">
                <a:latin typeface="Arial"/>
                <a:cs typeface="Arial"/>
              </a:rPr>
              <a:t>to its states </a:t>
            </a:r>
            <a:r>
              <a:rPr dirty="0" sz="1200" spc="-5">
                <a:latin typeface="Arial"/>
                <a:cs typeface="Arial"/>
              </a:rPr>
              <a:t>and nations,  is now bankrupt and in decline. </a:t>
            </a:r>
            <a:r>
              <a:rPr dirty="0" sz="1200">
                <a:latin typeface="Arial"/>
                <a:cs typeface="Arial"/>
              </a:rPr>
              <a:t>"</a:t>
            </a:r>
            <a:endParaRPr sz="1200">
              <a:latin typeface="Arial"/>
              <a:cs typeface="Arial"/>
            </a:endParaRPr>
          </a:p>
          <a:p>
            <a:pPr algn="just" marL="469900" marR="10160" indent="-229235">
              <a:lnSpc>
                <a:spcPts val="1380"/>
              </a:lnSpc>
              <a:buFont typeface="Arial"/>
              <a:buAutoNum type="arabicPeriod" startAt="3"/>
              <a:tabLst>
                <a:tab pos="414020" algn="l"/>
              </a:tabLst>
            </a:pPr>
            <a:r>
              <a:rPr dirty="0" sz="1200" spc="-5" b="1">
                <a:latin typeface="Arial"/>
                <a:cs typeface="Arial"/>
              </a:rPr>
              <a:t>Anti-Semitism and </a:t>
            </a:r>
            <a:r>
              <a:rPr dirty="0" sz="1200" b="1">
                <a:latin typeface="Arial"/>
                <a:cs typeface="Arial"/>
              </a:rPr>
              <a:t>anti-Zionism </a:t>
            </a:r>
            <a:r>
              <a:rPr dirty="0" sz="1200">
                <a:latin typeface="Arial"/>
                <a:cs typeface="Arial"/>
              </a:rPr>
              <a:t>– The </a:t>
            </a:r>
            <a:r>
              <a:rPr dirty="0" sz="1200" spc="-5">
                <a:latin typeface="Arial"/>
                <a:cs typeface="Arial"/>
              </a:rPr>
              <a:t>Jews are the agents of change </a:t>
            </a:r>
            <a:r>
              <a:rPr dirty="0" sz="1200" spc="-10">
                <a:latin typeface="Arial"/>
                <a:cs typeface="Arial"/>
              </a:rPr>
              <a:t>and  </a:t>
            </a:r>
            <a:r>
              <a:rPr dirty="0" sz="1200" spc="-5">
                <a:latin typeface="Arial"/>
                <a:cs typeface="Arial"/>
              </a:rPr>
              <a:t>westernization, and responsible </a:t>
            </a:r>
            <a:r>
              <a:rPr dirty="0" sz="1200">
                <a:latin typeface="Arial"/>
                <a:cs typeface="Arial"/>
              </a:rPr>
              <a:t>for </a:t>
            </a:r>
            <a:r>
              <a:rPr dirty="0" sz="1200" spc="-5">
                <a:latin typeface="Arial"/>
                <a:cs typeface="Arial"/>
              </a:rPr>
              <a:t>the decline of the west as well as Islam. </a:t>
            </a:r>
            <a:r>
              <a:rPr dirty="0" sz="1200">
                <a:latin typeface="Arial"/>
                <a:cs typeface="Arial"/>
              </a:rPr>
              <a:t>This </a:t>
            </a:r>
            <a:r>
              <a:rPr dirty="0" sz="1200" spc="-10">
                <a:latin typeface="Arial"/>
                <a:cs typeface="Arial"/>
              </a:rPr>
              <a:t>was  </a:t>
            </a:r>
            <a:r>
              <a:rPr dirty="0" sz="1200" spc="-5">
                <a:latin typeface="Arial"/>
                <a:cs typeface="Arial"/>
              </a:rPr>
              <a:t>not a new theme in the Muslim and Arab</a:t>
            </a:r>
            <a:r>
              <a:rPr dirty="0" sz="1200" spc="10">
                <a:latin typeface="Arial"/>
                <a:cs typeface="Arial"/>
              </a:rPr>
              <a:t> </a:t>
            </a:r>
            <a:r>
              <a:rPr dirty="0" sz="1200" spc="-5">
                <a:latin typeface="Arial"/>
                <a:cs typeface="Arial"/>
              </a:rPr>
              <a:t>world.</a:t>
            </a:r>
            <a:endParaRPr sz="1200">
              <a:latin typeface="Arial"/>
              <a:cs typeface="Arial"/>
            </a:endParaRPr>
          </a:p>
          <a:p>
            <a:pPr algn="just" marL="469900" marR="10160" indent="-229235">
              <a:lnSpc>
                <a:spcPts val="1380"/>
              </a:lnSpc>
              <a:buFont typeface="Arial"/>
              <a:buAutoNum type="arabicPeriod" startAt="3"/>
              <a:tabLst>
                <a:tab pos="414020" algn="l"/>
              </a:tabLst>
            </a:pPr>
            <a:r>
              <a:rPr dirty="0" sz="1200" spc="-5" b="1">
                <a:latin typeface="Arial"/>
                <a:cs typeface="Arial"/>
              </a:rPr>
              <a:t>Al-Banna and Nazism </a:t>
            </a:r>
            <a:r>
              <a:rPr dirty="0" sz="1200">
                <a:latin typeface="Arial"/>
                <a:cs typeface="Arial"/>
              </a:rPr>
              <a:t>– </a:t>
            </a:r>
            <a:r>
              <a:rPr dirty="0" sz="1200" spc="-5">
                <a:latin typeface="Arial"/>
                <a:cs typeface="Arial"/>
              </a:rPr>
              <a:t>the growth </a:t>
            </a:r>
            <a:r>
              <a:rPr dirty="0" sz="1200">
                <a:latin typeface="Arial"/>
                <a:cs typeface="Arial"/>
              </a:rPr>
              <a:t>of the </a:t>
            </a:r>
            <a:r>
              <a:rPr dirty="0" sz="1200" spc="-5">
                <a:latin typeface="Arial"/>
                <a:cs typeface="Arial"/>
              </a:rPr>
              <a:t>Muslim Brotherhood </a:t>
            </a:r>
            <a:r>
              <a:rPr dirty="0" sz="1200" spc="-10">
                <a:latin typeface="Arial"/>
                <a:cs typeface="Arial"/>
              </a:rPr>
              <a:t>was </a:t>
            </a:r>
            <a:r>
              <a:rPr dirty="0" sz="1200" spc="-5">
                <a:latin typeface="Arial"/>
                <a:cs typeface="Arial"/>
              </a:rPr>
              <a:t>accompanied </a:t>
            </a:r>
            <a:r>
              <a:rPr dirty="0" sz="1200" spc="-10">
                <a:latin typeface="Arial"/>
                <a:cs typeface="Arial"/>
              </a:rPr>
              <a:t>or  </a:t>
            </a:r>
            <a:r>
              <a:rPr dirty="0" sz="1200" spc="-5">
                <a:latin typeface="Arial"/>
                <a:cs typeface="Arial"/>
              </a:rPr>
              <a:t>caused</a:t>
            </a:r>
            <a:r>
              <a:rPr dirty="0" sz="1200" spc="45">
                <a:latin typeface="Arial"/>
                <a:cs typeface="Arial"/>
              </a:rPr>
              <a:t> </a:t>
            </a:r>
            <a:r>
              <a:rPr dirty="0" sz="1200" spc="-5">
                <a:latin typeface="Arial"/>
                <a:cs typeface="Arial"/>
              </a:rPr>
              <a:t>in</a:t>
            </a:r>
            <a:r>
              <a:rPr dirty="0" sz="1200" spc="40">
                <a:latin typeface="Arial"/>
                <a:cs typeface="Arial"/>
              </a:rPr>
              <a:t> </a:t>
            </a:r>
            <a:r>
              <a:rPr dirty="0" sz="1200">
                <a:latin typeface="Arial"/>
                <a:cs typeface="Arial"/>
              </a:rPr>
              <a:t>part</a:t>
            </a:r>
            <a:r>
              <a:rPr dirty="0" sz="1200" spc="40">
                <a:latin typeface="Arial"/>
                <a:cs typeface="Arial"/>
              </a:rPr>
              <a:t> </a:t>
            </a:r>
            <a:r>
              <a:rPr dirty="0" sz="1200" spc="-5">
                <a:latin typeface="Arial"/>
                <a:cs typeface="Arial"/>
              </a:rPr>
              <a:t>by</a:t>
            </a:r>
            <a:r>
              <a:rPr dirty="0" sz="1200" spc="30">
                <a:latin typeface="Arial"/>
                <a:cs typeface="Arial"/>
              </a:rPr>
              <a:t> </a:t>
            </a:r>
            <a:r>
              <a:rPr dirty="0" sz="1200">
                <a:latin typeface="Arial"/>
                <a:cs typeface="Arial"/>
              </a:rPr>
              <a:t>the</a:t>
            </a:r>
            <a:r>
              <a:rPr dirty="0" sz="1200" spc="45">
                <a:latin typeface="Arial"/>
                <a:cs typeface="Arial"/>
              </a:rPr>
              <a:t> </a:t>
            </a:r>
            <a:r>
              <a:rPr dirty="0" sz="1200">
                <a:latin typeface="Arial"/>
                <a:cs typeface="Arial"/>
              </a:rPr>
              <a:t>fact</a:t>
            </a:r>
            <a:r>
              <a:rPr dirty="0" sz="1200" spc="40">
                <a:latin typeface="Arial"/>
                <a:cs typeface="Arial"/>
              </a:rPr>
              <a:t> </a:t>
            </a:r>
            <a:r>
              <a:rPr dirty="0" sz="1200">
                <a:latin typeface="Arial"/>
                <a:cs typeface="Arial"/>
              </a:rPr>
              <a:t>that</a:t>
            </a:r>
            <a:r>
              <a:rPr dirty="0" sz="1200" spc="40">
                <a:latin typeface="Arial"/>
                <a:cs typeface="Arial"/>
              </a:rPr>
              <a:t> </a:t>
            </a:r>
            <a:r>
              <a:rPr dirty="0" sz="1200" spc="-5">
                <a:latin typeface="Arial"/>
                <a:cs typeface="Arial"/>
              </a:rPr>
              <a:t>Al-Banna</a:t>
            </a:r>
            <a:r>
              <a:rPr dirty="0" sz="1200" spc="45">
                <a:latin typeface="Arial"/>
                <a:cs typeface="Arial"/>
              </a:rPr>
              <a:t> </a:t>
            </a:r>
            <a:r>
              <a:rPr dirty="0" sz="1200" spc="-5">
                <a:latin typeface="Arial"/>
                <a:cs typeface="Arial"/>
              </a:rPr>
              <a:t>associated</a:t>
            </a:r>
            <a:r>
              <a:rPr dirty="0" sz="1200" spc="55">
                <a:latin typeface="Arial"/>
                <a:cs typeface="Arial"/>
              </a:rPr>
              <a:t> </a:t>
            </a:r>
            <a:r>
              <a:rPr dirty="0" sz="1200">
                <a:latin typeface="Arial"/>
                <a:cs typeface="Arial"/>
              </a:rPr>
              <a:t>it</a:t>
            </a:r>
            <a:r>
              <a:rPr dirty="0" sz="1200" spc="45">
                <a:latin typeface="Arial"/>
                <a:cs typeface="Arial"/>
              </a:rPr>
              <a:t> </a:t>
            </a:r>
            <a:r>
              <a:rPr dirty="0" sz="1200" spc="-5">
                <a:latin typeface="Arial"/>
                <a:cs typeface="Arial"/>
              </a:rPr>
              <a:t>with</a:t>
            </a:r>
            <a:r>
              <a:rPr dirty="0" sz="1200" spc="45">
                <a:latin typeface="Arial"/>
                <a:cs typeface="Arial"/>
              </a:rPr>
              <a:t> </a:t>
            </a:r>
            <a:r>
              <a:rPr dirty="0" sz="1200">
                <a:latin typeface="Arial"/>
                <a:cs typeface="Arial"/>
              </a:rPr>
              <a:t>the</a:t>
            </a:r>
            <a:r>
              <a:rPr dirty="0" sz="1200" spc="45">
                <a:latin typeface="Arial"/>
                <a:cs typeface="Arial"/>
              </a:rPr>
              <a:t> </a:t>
            </a:r>
            <a:r>
              <a:rPr dirty="0" sz="1200" spc="-5">
                <a:latin typeface="Arial"/>
                <a:cs typeface="Arial"/>
              </a:rPr>
              <a:t>German</a:t>
            </a:r>
            <a:r>
              <a:rPr dirty="0" sz="1200" spc="45">
                <a:latin typeface="Arial"/>
                <a:cs typeface="Arial"/>
              </a:rPr>
              <a:t> </a:t>
            </a:r>
            <a:r>
              <a:rPr dirty="0" sz="1200" spc="-5">
                <a:latin typeface="Arial"/>
                <a:cs typeface="Arial"/>
              </a:rPr>
              <a:t>Nazi</a:t>
            </a:r>
            <a:r>
              <a:rPr dirty="0" sz="1200" spc="40">
                <a:latin typeface="Arial"/>
                <a:cs typeface="Arial"/>
              </a:rPr>
              <a:t> </a:t>
            </a:r>
            <a:r>
              <a:rPr dirty="0" sz="1200">
                <a:latin typeface="Arial"/>
                <a:cs typeface="Arial"/>
              </a:rPr>
              <a:t>party</a:t>
            </a:r>
            <a:r>
              <a:rPr dirty="0" sz="1200" spc="40">
                <a:latin typeface="Arial"/>
                <a:cs typeface="Arial"/>
              </a:rPr>
              <a:t> </a:t>
            </a:r>
            <a:r>
              <a:rPr dirty="0" sz="1200" spc="-5">
                <a:latin typeface="Arial"/>
                <a:cs typeface="Arial"/>
              </a:rPr>
              <a:t>and</a:t>
            </a:r>
            <a:endParaRPr sz="1200">
              <a:latin typeface="Arial"/>
              <a:cs typeface="Arial"/>
            </a:endParaRPr>
          </a:p>
          <a:p>
            <a:pPr algn="just" marL="469900" marR="12065">
              <a:lnSpc>
                <a:spcPts val="1380"/>
              </a:lnSpc>
              <a:spcBef>
                <a:spcPts val="5"/>
              </a:spcBef>
            </a:pPr>
            <a:r>
              <a:rPr dirty="0" sz="1200">
                <a:latin typeface="Arial"/>
                <a:cs typeface="Arial"/>
              </a:rPr>
              <a:t>the </a:t>
            </a:r>
            <a:r>
              <a:rPr dirty="0" sz="1200" spc="-5">
                <a:latin typeface="Arial"/>
                <a:cs typeface="Arial"/>
              </a:rPr>
              <a:t>Third Reich. From </a:t>
            </a:r>
            <a:r>
              <a:rPr dirty="0" sz="1200">
                <a:latin typeface="Arial"/>
                <a:cs typeface="Arial"/>
              </a:rPr>
              <a:t>the </a:t>
            </a:r>
            <a:r>
              <a:rPr dirty="0" sz="1200" spc="-5">
                <a:latin typeface="Arial"/>
                <a:cs typeface="Arial"/>
              </a:rPr>
              <a:t>ideological point of view, </a:t>
            </a:r>
            <a:r>
              <a:rPr dirty="0" sz="1200">
                <a:latin typeface="Arial"/>
                <a:cs typeface="Arial"/>
              </a:rPr>
              <a:t>the </a:t>
            </a:r>
            <a:r>
              <a:rPr dirty="0" sz="1200" spc="-5">
                <a:latin typeface="Arial"/>
                <a:cs typeface="Arial"/>
              </a:rPr>
              <a:t>Jew hatred, authoritarianism,  addiction </a:t>
            </a:r>
            <a:r>
              <a:rPr dirty="0" sz="1200">
                <a:latin typeface="Arial"/>
                <a:cs typeface="Arial"/>
              </a:rPr>
              <a:t>to </a:t>
            </a:r>
            <a:r>
              <a:rPr dirty="0" sz="1200" spc="-5">
                <a:latin typeface="Arial"/>
                <a:cs typeface="Arial"/>
              </a:rPr>
              <a:t>violence and desire to defeat the British of both the Muslim Brothers and  </a:t>
            </a:r>
            <a:r>
              <a:rPr dirty="0" sz="1200">
                <a:latin typeface="Arial"/>
                <a:cs typeface="Arial"/>
              </a:rPr>
              <a:t>the </a:t>
            </a:r>
            <a:r>
              <a:rPr dirty="0" sz="1200" spc="-5">
                <a:latin typeface="Arial"/>
                <a:cs typeface="Arial"/>
              </a:rPr>
              <a:t>Nazis were quite enough to </a:t>
            </a:r>
            <a:r>
              <a:rPr dirty="0" sz="1200">
                <a:latin typeface="Arial"/>
                <a:cs typeface="Arial"/>
              </a:rPr>
              <a:t>make </a:t>
            </a:r>
            <a:r>
              <a:rPr dirty="0" sz="1200" spc="-5">
                <a:latin typeface="Arial"/>
                <a:cs typeface="Arial"/>
              </a:rPr>
              <a:t>the </a:t>
            </a:r>
            <a:r>
              <a:rPr dirty="0" sz="1200" spc="-10">
                <a:latin typeface="Arial"/>
                <a:cs typeface="Arial"/>
              </a:rPr>
              <a:t>two </a:t>
            </a:r>
            <a:r>
              <a:rPr dirty="0" sz="1200">
                <a:latin typeface="Arial"/>
                <a:cs typeface="Arial"/>
              </a:rPr>
              <a:t>movements find </a:t>
            </a:r>
            <a:r>
              <a:rPr dirty="0" sz="1200" spc="-5">
                <a:latin typeface="Arial"/>
                <a:cs typeface="Arial"/>
              </a:rPr>
              <a:t>common</a:t>
            </a:r>
            <a:r>
              <a:rPr dirty="0" sz="1200" spc="5">
                <a:latin typeface="Arial"/>
                <a:cs typeface="Arial"/>
              </a:rPr>
              <a:t> </a:t>
            </a:r>
            <a:r>
              <a:rPr dirty="0" sz="1200" spc="-5">
                <a:latin typeface="Arial"/>
                <a:cs typeface="Arial"/>
              </a:rPr>
              <a:t>cause.</a:t>
            </a:r>
            <a:endParaRPr sz="1200">
              <a:latin typeface="Arial"/>
              <a:cs typeface="Arial"/>
            </a:endParaRPr>
          </a:p>
          <a:p>
            <a:pPr>
              <a:lnSpc>
                <a:spcPct val="100000"/>
              </a:lnSpc>
              <a:spcBef>
                <a:spcPts val="15"/>
              </a:spcBef>
            </a:pPr>
            <a:endParaRPr sz="1100">
              <a:latin typeface="Arial"/>
              <a:cs typeface="Arial"/>
            </a:endParaRPr>
          </a:p>
          <a:p>
            <a:pPr algn="just" marL="241300">
              <a:lnSpc>
                <a:spcPct val="100000"/>
              </a:lnSpc>
            </a:pPr>
            <a:r>
              <a:rPr dirty="0" sz="1200" b="1" i="1">
                <a:latin typeface="Arial"/>
                <a:cs typeface="Arial"/>
              </a:rPr>
              <a:t>4. </a:t>
            </a:r>
            <a:r>
              <a:rPr dirty="0" u="heavy" sz="1200" spc="-5" b="1" i="1">
                <a:uFill>
                  <a:solidFill>
                    <a:srgbClr val="000000"/>
                  </a:solidFill>
                </a:uFill>
                <a:latin typeface="Arial"/>
                <a:cs typeface="Arial"/>
              </a:rPr>
              <a:t>Sayyid Ahmad</a:t>
            </a:r>
            <a:r>
              <a:rPr dirty="0" u="heavy" sz="1200" spc="-200" b="1" i="1">
                <a:uFill>
                  <a:solidFill>
                    <a:srgbClr val="000000"/>
                  </a:solidFill>
                </a:uFill>
                <a:latin typeface="Arial"/>
                <a:cs typeface="Arial"/>
              </a:rPr>
              <a:t> </a:t>
            </a:r>
            <a:r>
              <a:rPr dirty="0" u="heavy" sz="1200" spc="-5" b="1" i="1">
                <a:uFill>
                  <a:solidFill>
                    <a:srgbClr val="000000"/>
                  </a:solidFill>
                </a:uFill>
                <a:latin typeface="Arial"/>
                <a:cs typeface="Arial"/>
              </a:rPr>
              <a:t>Khan</a:t>
            </a:r>
            <a:endParaRPr sz="1200">
              <a:latin typeface="Arial"/>
              <a:cs typeface="Arial"/>
            </a:endParaRPr>
          </a:p>
          <a:p>
            <a:pPr>
              <a:lnSpc>
                <a:spcPct val="100000"/>
              </a:lnSpc>
            </a:pPr>
            <a:endParaRPr sz="1200">
              <a:latin typeface="Arial"/>
              <a:cs typeface="Arial"/>
            </a:endParaRPr>
          </a:p>
          <a:p>
            <a:pPr algn="just" marL="12700" marR="5715">
              <a:lnSpc>
                <a:spcPct val="95800"/>
              </a:lnSpc>
              <a:spcBef>
                <a:spcPts val="5"/>
              </a:spcBef>
            </a:pPr>
            <a:r>
              <a:rPr dirty="0" sz="1200" spc="-5">
                <a:latin typeface="Arial"/>
                <a:cs typeface="Arial"/>
              </a:rPr>
              <a:t>Syed Ahmad Khan </a:t>
            </a:r>
            <a:r>
              <a:rPr dirty="0" sz="1200" spc="-10">
                <a:latin typeface="Arial"/>
                <a:cs typeface="Arial"/>
              </a:rPr>
              <a:t>was </a:t>
            </a:r>
            <a:r>
              <a:rPr dirty="0" sz="1200">
                <a:latin typeface="Arial"/>
                <a:cs typeface="Arial"/>
              </a:rPr>
              <a:t>born </a:t>
            </a:r>
            <a:r>
              <a:rPr dirty="0" sz="1200" spc="-5">
                <a:latin typeface="Arial"/>
                <a:cs typeface="Arial"/>
              </a:rPr>
              <a:t>in the year </a:t>
            </a:r>
            <a:r>
              <a:rPr dirty="0" sz="1200" spc="-10">
                <a:latin typeface="Arial"/>
                <a:cs typeface="Arial"/>
              </a:rPr>
              <a:t>1817 </a:t>
            </a:r>
            <a:r>
              <a:rPr dirty="0" sz="1200" spc="-5">
                <a:latin typeface="Arial"/>
                <a:cs typeface="Arial"/>
              </a:rPr>
              <a:t>and died in the year 1898 in Shahjahân Abâd,  new </a:t>
            </a:r>
            <a:r>
              <a:rPr dirty="0" sz="1200">
                <a:latin typeface="Arial"/>
                <a:cs typeface="Arial"/>
              </a:rPr>
              <a:t>Dehli. </a:t>
            </a:r>
            <a:r>
              <a:rPr dirty="0" sz="1200" spc="-5">
                <a:latin typeface="Arial"/>
                <a:cs typeface="Arial"/>
              </a:rPr>
              <a:t>He </a:t>
            </a:r>
            <a:r>
              <a:rPr dirty="0" sz="1200" spc="-10">
                <a:latin typeface="Arial"/>
                <a:cs typeface="Arial"/>
              </a:rPr>
              <a:t>was </a:t>
            </a:r>
            <a:r>
              <a:rPr dirty="0" sz="1200">
                <a:latin typeface="Arial"/>
                <a:cs typeface="Arial"/>
              </a:rPr>
              <a:t>influenced </a:t>
            </a:r>
            <a:r>
              <a:rPr dirty="0" sz="1200" spc="-5">
                <a:latin typeface="Arial"/>
                <a:cs typeface="Arial"/>
              </a:rPr>
              <a:t>by his grandfather Khwaja Farid </a:t>
            </a:r>
            <a:r>
              <a:rPr dirty="0" sz="1200">
                <a:latin typeface="Arial"/>
                <a:cs typeface="Arial"/>
              </a:rPr>
              <a:t>for </a:t>
            </a:r>
            <a:r>
              <a:rPr dirty="0" sz="1200" spc="-5">
                <a:latin typeface="Arial"/>
                <a:cs typeface="Arial"/>
              </a:rPr>
              <a:t>his diplomatic skills with  </a:t>
            </a:r>
            <a:r>
              <a:rPr dirty="0" sz="1200">
                <a:latin typeface="Arial"/>
                <a:cs typeface="Arial"/>
              </a:rPr>
              <a:t>the </a:t>
            </a:r>
            <a:r>
              <a:rPr dirty="0" sz="1200" spc="-5">
                <a:latin typeface="Arial"/>
                <a:cs typeface="Arial"/>
              </a:rPr>
              <a:t>British and by </a:t>
            </a:r>
            <a:r>
              <a:rPr dirty="0" sz="1200">
                <a:latin typeface="Arial"/>
                <a:cs typeface="Arial"/>
              </a:rPr>
              <a:t>his </a:t>
            </a:r>
            <a:r>
              <a:rPr dirty="0" sz="1200" spc="-5">
                <a:latin typeface="Arial"/>
                <a:cs typeface="Arial"/>
              </a:rPr>
              <a:t>mother </a:t>
            </a:r>
            <a:r>
              <a:rPr dirty="0" sz="1200" spc="5">
                <a:latin typeface="Arial"/>
                <a:cs typeface="Arial"/>
              </a:rPr>
              <a:t>for </a:t>
            </a:r>
            <a:r>
              <a:rPr dirty="0" sz="1200">
                <a:latin typeface="Arial"/>
                <a:cs typeface="Arial"/>
              </a:rPr>
              <a:t>her </a:t>
            </a:r>
            <a:r>
              <a:rPr dirty="0" sz="1200" spc="-5">
                <a:latin typeface="Arial"/>
                <a:cs typeface="Arial"/>
              </a:rPr>
              <a:t>generosity </a:t>
            </a:r>
            <a:r>
              <a:rPr dirty="0" sz="1200">
                <a:latin typeface="Arial"/>
                <a:cs typeface="Arial"/>
              </a:rPr>
              <a:t>and piety. In </a:t>
            </a:r>
            <a:r>
              <a:rPr dirty="0" sz="1200" spc="-5">
                <a:latin typeface="Arial"/>
                <a:cs typeface="Arial"/>
              </a:rPr>
              <a:t>the Indian sub-continent, he </a:t>
            </a:r>
            <a:r>
              <a:rPr dirty="0" sz="1200" spc="-10">
                <a:latin typeface="Arial"/>
                <a:cs typeface="Arial"/>
              </a:rPr>
              <a:t>was  </a:t>
            </a:r>
            <a:r>
              <a:rPr dirty="0" sz="1200" spc="-5">
                <a:latin typeface="Arial"/>
                <a:cs typeface="Arial"/>
              </a:rPr>
              <a:t>among </a:t>
            </a:r>
            <a:r>
              <a:rPr dirty="0" sz="1200">
                <a:latin typeface="Arial"/>
                <a:cs typeface="Arial"/>
              </a:rPr>
              <a:t>the first for </a:t>
            </a:r>
            <a:r>
              <a:rPr dirty="0" sz="1200" spc="-5">
                <a:latin typeface="Arial"/>
                <a:cs typeface="Arial"/>
              </a:rPr>
              <a:t>this kind of </a:t>
            </a:r>
            <a:r>
              <a:rPr dirty="0" sz="1200">
                <a:latin typeface="Arial"/>
                <a:cs typeface="Arial"/>
              </a:rPr>
              <a:t>reform. </a:t>
            </a:r>
            <a:r>
              <a:rPr dirty="0" sz="1200" spc="-5">
                <a:latin typeface="Arial"/>
                <a:cs typeface="Arial"/>
              </a:rPr>
              <a:t>He wanted a </a:t>
            </a:r>
            <a:r>
              <a:rPr dirty="0" sz="1200">
                <a:latin typeface="Arial"/>
                <a:cs typeface="Arial"/>
              </a:rPr>
              <a:t>return </a:t>
            </a:r>
            <a:r>
              <a:rPr dirty="0" sz="1200" spc="-5">
                <a:latin typeface="Arial"/>
                <a:cs typeface="Arial"/>
              </a:rPr>
              <a:t>to Islam. He advocated </a:t>
            </a:r>
            <a:r>
              <a:rPr dirty="0" sz="1200">
                <a:latin typeface="Arial"/>
                <a:cs typeface="Arial"/>
              </a:rPr>
              <a:t>for </a:t>
            </a:r>
            <a:r>
              <a:rPr dirty="0" sz="1200" spc="5">
                <a:latin typeface="Arial"/>
                <a:cs typeface="Arial"/>
              </a:rPr>
              <a:t>not  </a:t>
            </a:r>
            <a:r>
              <a:rPr dirty="0" sz="1200" spc="-5">
                <a:latin typeface="Arial"/>
                <a:cs typeface="Arial"/>
              </a:rPr>
              <a:t>following </a:t>
            </a:r>
            <a:r>
              <a:rPr dirty="0" sz="1200">
                <a:latin typeface="Arial"/>
                <a:cs typeface="Arial"/>
              </a:rPr>
              <a:t>the </a:t>
            </a:r>
            <a:r>
              <a:rPr dirty="0" sz="1200" spc="-5">
                <a:latin typeface="Arial"/>
                <a:cs typeface="Arial"/>
              </a:rPr>
              <a:t>British and </a:t>
            </a:r>
            <a:r>
              <a:rPr dirty="0" sz="1200">
                <a:latin typeface="Arial"/>
                <a:cs typeface="Arial"/>
              </a:rPr>
              <a:t>the </a:t>
            </a:r>
            <a:r>
              <a:rPr dirty="0" sz="1200" spc="-5">
                <a:latin typeface="Arial"/>
                <a:cs typeface="Arial"/>
              </a:rPr>
              <a:t>west. He devoted in many </a:t>
            </a:r>
            <a:r>
              <a:rPr dirty="0" sz="1200">
                <a:latin typeface="Arial"/>
                <a:cs typeface="Arial"/>
              </a:rPr>
              <a:t>activities </a:t>
            </a:r>
            <a:r>
              <a:rPr dirty="0" sz="1200" spc="-5">
                <a:latin typeface="Arial"/>
                <a:cs typeface="Arial"/>
              </a:rPr>
              <a:t>in education and </a:t>
            </a:r>
            <a:r>
              <a:rPr dirty="0" sz="1200">
                <a:latin typeface="Arial"/>
                <a:cs typeface="Arial"/>
              </a:rPr>
              <a:t>politics. </a:t>
            </a:r>
            <a:r>
              <a:rPr dirty="0" sz="1200" spc="-5">
                <a:latin typeface="Arial"/>
                <a:cs typeface="Arial"/>
              </a:rPr>
              <a:t>In  1960, he developed a concept of new and modern Islam. He wrote articles on </a:t>
            </a:r>
            <a:r>
              <a:rPr dirty="0" sz="1200">
                <a:latin typeface="Arial"/>
                <a:cs typeface="Arial"/>
              </a:rPr>
              <a:t>the </a:t>
            </a:r>
            <a:r>
              <a:rPr dirty="0" sz="1200" spc="-5">
                <a:latin typeface="Arial"/>
                <a:cs typeface="Arial"/>
              </a:rPr>
              <a:t>state </a:t>
            </a:r>
            <a:r>
              <a:rPr dirty="0" sz="1200">
                <a:latin typeface="Arial"/>
                <a:cs typeface="Arial"/>
              </a:rPr>
              <a:t>of  </a:t>
            </a:r>
            <a:r>
              <a:rPr dirty="0" sz="1200" spc="-5">
                <a:latin typeface="Arial"/>
                <a:cs typeface="Arial"/>
              </a:rPr>
              <a:t>Indian and Indian </a:t>
            </a:r>
            <a:r>
              <a:rPr dirty="0" sz="1200">
                <a:latin typeface="Arial"/>
                <a:cs typeface="Arial"/>
              </a:rPr>
              <a:t>Muslims. </a:t>
            </a:r>
            <a:r>
              <a:rPr dirty="0" sz="1200" spc="-5">
                <a:latin typeface="Arial"/>
                <a:cs typeface="Arial"/>
              </a:rPr>
              <a:t>He criticised their loyalty </a:t>
            </a:r>
            <a:r>
              <a:rPr dirty="0" sz="1200">
                <a:latin typeface="Arial"/>
                <a:cs typeface="Arial"/>
              </a:rPr>
              <a:t>to the </a:t>
            </a:r>
            <a:r>
              <a:rPr dirty="0" sz="1200" spc="-5">
                <a:latin typeface="Arial"/>
                <a:cs typeface="Arial"/>
              </a:rPr>
              <a:t>British. He assumed </a:t>
            </a:r>
            <a:r>
              <a:rPr dirty="0" sz="1200">
                <a:latin typeface="Arial"/>
                <a:cs typeface="Arial"/>
              </a:rPr>
              <a:t>that </a:t>
            </a:r>
            <a:r>
              <a:rPr dirty="0" sz="1200" spc="-5">
                <a:latin typeface="Arial"/>
                <a:cs typeface="Arial"/>
              </a:rPr>
              <a:t>India  </a:t>
            </a:r>
            <a:r>
              <a:rPr dirty="0" sz="1200" spc="-10">
                <a:latin typeface="Arial"/>
                <a:cs typeface="Arial"/>
              </a:rPr>
              <a:t>was </a:t>
            </a:r>
            <a:r>
              <a:rPr dirty="0" sz="1200" spc="-5">
                <a:latin typeface="Arial"/>
                <a:cs typeface="Arial"/>
              </a:rPr>
              <a:t>a Dar ul </a:t>
            </a:r>
            <a:r>
              <a:rPr dirty="0" sz="1200">
                <a:latin typeface="Arial"/>
                <a:cs typeface="Arial"/>
              </a:rPr>
              <a:t>Islam </a:t>
            </a:r>
            <a:r>
              <a:rPr dirty="0" sz="1200" spc="-5">
                <a:latin typeface="Arial"/>
                <a:cs typeface="Arial"/>
              </a:rPr>
              <a:t>when all Ulama of India said that </a:t>
            </a:r>
            <a:r>
              <a:rPr dirty="0" sz="1200">
                <a:latin typeface="Arial"/>
                <a:cs typeface="Arial"/>
              </a:rPr>
              <a:t>it </a:t>
            </a:r>
            <a:r>
              <a:rPr dirty="0" sz="1200" spc="-10">
                <a:latin typeface="Arial"/>
                <a:cs typeface="Arial"/>
              </a:rPr>
              <a:t>was </a:t>
            </a:r>
            <a:r>
              <a:rPr dirty="0" sz="1200" spc="-5">
                <a:latin typeface="Arial"/>
                <a:cs typeface="Arial"/>
              </a:rPr>
              <a:t>Dar ul </a:t>
            </a:r>
            <a:r>
              <a:rPr dirty="0" sz="1200" spc="5">
                <a:latin typeface="Arial"/>
                <a:cs typeface="Arial"/>
              </a:rPr>
              <a:t>Harb. </a:t>
            </a:r>
            <a:r>
              <a:rPr dirty="0" sz="1200" spc="-5">
                <a:latin typeface="Arial"/>
                <a:cs typeface="Arial"/>
              </a:rPr>
              <a:t>He perceived Indian  Muslims as backward and need education. </a:t>
            </a:r>
            <a:r>
              <a:rPr dirty="0" sz="1200">
                <a:latin typeface="Arial"/>
                <a:cs typeface="Arial"/>
              </a:rPr>
              <a:t>On </a:t>
            </a:r>
            <a:r>
              <a:rPr dirty="0" sz="1200" spc="-5">
                <a:latin typeface="Arial"/>
                <a:cs typeface="Arial"/>
              </a:rPr>
              <a:t>January </a:t>
            </a:r>
            <a:r>
              <a:rPr dirty="0" sz="1200">
                <a:latin typeface="Arial"/>
                <a:cs typeface="Arial"/>
              </a:rPr>
              <a:t>9, </a:t>
            </a:r>
            <a:r>
              <a:rPr dirty="0" sz="1200" spc="-5">
                <a:latin typeface="Arial"/>
                <a:cs typeface="Arial"/>
              </a:rPr>
              <a:t>1864, he convened the </a:t>
            </a:r>
            <a:r>
              <a:rPr dirty="0" sz="1200">
                <a:latin typeface="Arial"/>
                <a:cs typeface="Arial"/>
              </a:rPr>
              <a:t>first  </a:t>
            </a:r>
            <a:r>
              <a:rPr dirty="0" sz="1200" spc="-5">
                <a:latin typeface="Arial"/>
                <a:cs typeface="Arial"/>
              </a:rPr>
              <a:t>meeting of </a:t>
            </a:r>
            <a:r>
              <a:rPr dirty="0" sz="1200">
                <a:latin typeface="Arial"/>
                <a:cs typeface="Arial"/>
              </a:rPr>
              <a:t>the </a:t>
            </a:r>
            <a:r>
              <a:rPr dirty="0" sz="1200" spc="-5">
                <a:latin typeface="Arial"/>
                <a:cs typeface="Arial"/>
              </a:rPr>
              <a:t>Scientific Society </a:t>
            </a:r>
            <a:r>
              <a:rPr dirty="0" sz="1200">
                <a:latin typeface="Arial"/>
                <a:cs typeface="Arial"/>
              </a:rPr>
              <a:t>at </a:t>
            </a:r>
            <a:r>
              <a:rPr dirty="0" sz="1200" spc="-5">
                <a:latin typeface="Arial"/>
                <a:cs typeface="Arial"/>
              </a:rPr>
              <a:t>Ghazipur with </a:t>
            </a:r>
            <a:r>
              <a:rPr dirty="0" sz="1200">
                <a:latin typeface="Arial"/>
                <a:cs typeface="Arial"/>
              </a:rPr>
              <a:t>the </a:t>
            </a:r>
            <a:r>
              <a:rPr dirty="0" sz="1200" spc="-5">
                <a:latin typeface="Arial"/>
                <a:cs typeface="Arial"/>
              </a:rPr>
              <a:t>British. Ahmad Khan and the Society  moved to Aligarh in 1867 where </a:t>
            </a:r>
            <a:r>
              <a:rPr dirty="0" sz="1200" spc="-10">
                <a:latin typeface="Arial"/>
                <a:cs typeface="Arial"/>
              </a:rPr>
              <a:t>he was </a:t>
            </a:r>
            <a:r>
              <a:rPr dirty="0" sz="1200" spc="-5">
                <a:latin typeface="Arial"/>
                <a:cs typeface="Arial"/>
              </a:rPr>
              <a:t>able </a:t>
            </a:r>
            <a:r>
              <a:rPr dirty="0" sz="1200">
                <a:latin typeface="Arial"/>
                <a:cs typeface="Arial"/>
              </a:rPr>
              <a:t>to </a:t>
            </a:r>
            <a:r>
              <a:rPr dirty="0" sz="1200" spc="-5">
                <a:latin typeface="Arial"/>
                <a:cs typeface="Arial"/>
              </a:rPr>
              <a:t>procure a piece of land from the government  </a:t>
            </a:r>
            <a:r>
              <a:rPr dirty="0" sz="1200">
                <a:latin typeface="Arial"/>
                <a:cs typeface="Arial"/>
              </a:rPr>
              <a:t>for </a:t>
            </a:r>
            <a:r>
              <a:rPr dirty="0" sz="1200" spc="-5">
                <a:latin typeface="Arial"/>
                <a:cs typeface="Arial"/>
              </a:rPr>
              <a:t>experimental</a:t>
            </a:r>
            <a:r>
              <a:rPr dirty="0" sz="1200" spc="-20">
                <a:latin typeface="Arial"/>
                <a:cs typeface="Arial"/>
              </a:rPr>
              <a:t> </a:t>
            </a:r>
            <a:r>
              <a:rPr dirty="0" sz="1200" spc="-5">
                <a:latin typeface="Arial"/>
                <a:cs typeface="Arial"/>
              </a:rPr>
              <a:t>farming.</a:t>
            </a:r>
            <a:endParaRPr sz="1200">
              <a:latin typeface="Arial"/>
              <a:cs typeface="Arial"/>
            </a:endParaRPr>
          </a:p>
          <a:p>
            <a:pPr>
              <a:lnSpc>
                <a:spcPct val="100000"/>
              </a:lnSpc>
              <a:spcBef>
                <a:spcPts val="35"/>
              </a:spcBef>
            </a:pPr>
            <a:endParaRPr sz="1200">
              <a:latin typeface="Arial"/>
              <a:cs typeface="Arial"/>
            </a:endParaRPr>
          </a:p>
          <a:p>
            <a:pPr algn="just" marL="12700" marR="10795">
              <a:lnSpc>
                <a:spcPts val="1380"/>
              </a:lnSpc>
            </a:pPr>
            <a:r>
              <a:rPr dirty="0" sz="1200">
                <a:latin typeface="Arial"/>
                <a:cs typeface="Arial"/>
              </a:rPr>
              <a:t>On </a:t>
            </a:r>
            <a:r>
              <a:rPr dirty="0" sz="1200" spc="-5">
                <a:latin typeface="Arial"/>
                <a:cs typeface="Arial"/>
              </a:rPr>
              <a:t>April </a:t>
            </a:r>
            <a:r>
              <a:rPr dirty="0" sz="1200">
                <a:latin typeface="Arial"/>
                <a:cs typeface="Arial"/>
              </a:rPr>
              <a:t>1, </a:t>
            </a:r>
            <a:r>
              <a:rPr dirty="0" sz="1200" spc="-5">
                <a:latin typeface="Arial"/>
                <a:cs typeface="Arial"/>
              </a:rPr>
              <a:t>1869, Ahmad Khan, his </a:t>
            </a:r>
            <a:r>
              <a:rPr dirty="0" sz="1200" spc="-10">
                <a:latin typeface="Arial"/>
                <a:cs typeface="Arial"/>
              </a:rPr>
              <a:t>two </a:t>
            </a:r>
            <a:r>
              <a:rPr dirty="0" sz="1200">
                <a:latin typeface="Arial"/>
                <a:cs typeface="Arial"/>
              </a:rPr>
              <a:t>sons, </a:t>
            </a:r>
            <a:r>
              <a:rPr dirty="0" sz="1200" spc="-5">
                <a:latin typeface="Arial"/>
                <a:cs typeface="Arial"/>
              </a:rPr>
              <a:t>Sayyid </a:t>
            </a:r>
            <a:r>
              <a:rPr dirty="0" sz="1200">
                <a:latin typeface="Arial"/>
                <a:cs typeface="Arial"/>
              </a:rPr>
              <a:t>Hamid </a:t>
            </a:r>
            <a:r>
              <a:rPr dirty="0" sz="1200" spc="-5">
                <a:latin typeface="Arial"/>
                <a:cs typeface="Arial"/>
              </a:rPr>
              <a:t>and Sayyid Mahmud, a younger  friend, </a:t>
            </a:r>
            <a:r>
              <a:rPr dirty="0" sz="1200" spc="-10">
                <a:latin typeface="Arial"/>
                <a:cs typeface="Arial"/>
              </a:rPr>
              <a:t>Mirza </a:t>
            </a:r>
            <a:r>
              <a:rPr dirty="0" sz="1200" spc="-5">
                <a:latin typeface="Arial"/>
                <a:cs typeface="Arial"/>
              </a:rPr>
              <a:t>Khuda </a:t>
            </a:r>
            <a:r>
              <a:rPr dirty="0" sz="1200" spc="-10">
                <a:latin typeface="Arial"/>
                <a:cs typeface="Arial"/>
              </a:rPr>
              <a:t>Dad </a:t>
            </a:r>
            <a:r>
              <a:rPr dirty="0" sz="1200" spc="-5">
                <a:latin typeface="Arial"/>
                <a:cs typeface="Arial"/>
              </a:rPr>
              <a:t>Beg, and a servant known only by </a:t>
            </a:r>
            <a:r>
              <a:rPr dirty="0" sz="1200">
                <a:latin typeface="Arial"/>
                <a:cs typeface="Arial"/>
              </a:rPr>
              <a:t>the </a:t>
            </a:r>
            <a:r>
              <a:rPr dirty="0" sz="1200" spc="-5">
                <a:latin typeface="Arial"/>
                <a:cs typeface="Arial"/>
              </a:rPr>
              <a:t>affectionate name of </a:t>
            </a:r>
            <a:r>
              <a:rPr dirty="0" sz="1200" spc="-10">
                <a:latin typeface="Arial"/>
                <a:cs typeface="Arial"/>
              </a:rPr>
              <a:t>Chachu  </a:t>
            </a:r>
            <a:r>
              <a:rPr dirty="0" sz="1200">
                <a:latin typeface="Arial"/>
                <a:cs typeface="Arial"/>
              </a:rPr>
              <a:t>left </a:t>
            </a:r>
            <a:r>
              <a:rPr dirty="0" sz="1200" spc="-5">
                <a:latin typeface="Arial"/>
                <a:cs typeface="Arial"/>
              </a:rPr>
              <a:t>Benaras and arrived in </a:t>
            </a:r>
            <a:r>
              <a:rPr dirty="0" sz="1200">
                <a:latin typeface="Arial"/>
                <a:cs typeface="Arial"/>
              </a:rPr>
              <a:t>London </a:t>
            </a:r>
            <a:r>
              <a:rPr dirty="0" sz="1200" spc="-5">
                <a:latin typeface="Arial"/>
                <a:cs typeface="Arial"/>
              </a:rPr>
              <a:t>on May </a:t>
            </a:r>
            <a:r>
              <a:rPr dirty="0" sz="1200">
                <a:latin typeface="Arial"/>
                <a:cs typeface="Arial"/>
              </a:rPr>
              <a:t>4, </a:t>
            </a:r>
            <a:r>
              <a:rPr dirty="0" sz="1200" spc="-5">
                <a:latin typeface="Arial"/>
                <a:cs typeface="Arial"/>
              </a:rPr>
              <a:t>1869 after spending five days in Marseilles and  Paris.  He  was  </a:t>
            </a:r>
            <a:r>
              <a:rPr dirty="0" sz="1200" spc="-275">
                <a:latin typeface="Arial"/>
                <a:cs typeface="Arial"/>
              </a:rPr>
              <a:t>―in         </a:t>
            </a:r>
            <a:r>
              <a:rPr dirty="0" sz="1200">
                <a:latin typeface="Arial"/>
                <a:cs typeface="Arial"/>
              </a:rPr>
              <a:t>the  society of  </a:t>
            </a:r>
            <a:r>
              <a:rPr dirty="0" sz="1200" spc="-5">
                <a:latin typeface="Arial"/>
                <a:cs typeface="Arial"/>
              </a:rPr>
              <a:t>lords  and </a:t>
            </a:r>
            <a:r>
              <a:rPr dirty="0" sz="1200">
                <a:latin typeface="Arial"/>
                <a:cs typeface="Arial"/>
              </a:rPr>
              <a:t>dukes at  </a:t>
            </a:r>
            <a:r>
              <a:rPr dirty="0" sz="1200" spc="-5">
                <a:latin typeface="Arial"/>
                <a:cs typeface="Arial"/>
              </a:rPr>
              <a:t>dinners and evening </a:t>
            </a:r>
            <a:r>
              <a:rPr dirty="0" sz="1200" spc="-15">
                <a:latin typeface="Arial"/>
                <a:cs typeface="Arial"/>
              </a:rPr>
              <a:t>parties‖,  </a:t>
            </a:r>
            <a:r>
              <a:rPr dirty="0" sz="1200">
                <a:latin typeface="Arial"/>
                <a:cs typeface="Arial"/>
              </a:rPr>
              <a:t>he</a:t>
            </a:r>
            <a:r>
              <a:rPr dirty="0" sz="1200" spc="100">
                <a:latin typeface="Arial"/>
                <a:cs typeface="Arial"/>
              </a:rPr>
              <a:t> </a:t>
            </a:r>
            <a:r>
              <a:rPr dirty="0" sz="1200" spc="-5">
                <a:latin typeface="Arial"/>
                <a:cs typeface="Arial"/>
              </a:rPr>
              <a:t>saw</a:t>
            </a:r>
            <a:endParaRPr sz="1200">
              <a:latin typeface="Arial"/>
              <a:cs typeface="Arial"/>
            </a:endParaRPr>
          </a:p>
          <a:p>
            <a:pPr algn="just" marL="12700">
              <a:lnSpc>
                <a:spcPts val="1345"/>
              </a:lnSpc>
            </a:pPr>
            <a:r>
              <a:rPr dirty="0" sz="1200" spc="-90">
                <a:latin typeface="Arial"/>
                <a:cs typeface="Arial"/>
              </a:rPr>
              <a:t>―artisans</a:t>
            </a:r>
            <a:r>
              <a:rPr dirty="0" sz="1200" spc="100">
                <a:latin typeface="Arial"/>
                <a:cs typeface="Arial"/>
              </a:rPr>
              <a:t> </a:t>
            </a:r>
            <a:r>
              <a:rPr dirty="0" sz="1200" spc="-5">
                <a:latin typeface="Arial"/>
                <a:cs typeface="Arial"/>
              </a:rPr>
              <a:t>and</a:t>
            </a:r>
            <a:r>
              <a:rPr dirty="0" sz="1200" spc="105">
                <a:latin typeface="Arial"/>
                <a:cs typeface="Arial"/>
              </a:rPr>
              <a:t> </a:t>
            </a:r>
            <a:r>
              <a:rPr dirty="0" sz="1200" spc="-5">
                <a:latin typeface="Arial"/>
                <a:cs typeface="Arial"/>
              </a:rPr>
              <a:t>the</a:t>
            </a:r>
            <a:r>
              <a:rPr dirty="0" sz="1200" spc="105">
                <a:latin typeface="Arial"/>
                <a:cs typeface="Arial"/>
              </a:rPr>
              <a:t> </a:t>
            </a:r>
            <a:r>
              <a:rPr dirty="0" sz="1200" spc="-5">
                <a:latin typeface="Arial"/>
                <a:cs typeface="Arial"/>
              </a:rPr>
              <a:t>common</a:t>
            </a:r>
            <a:r>
              <a:rPr dirty="0" sz="1200" spc="110">
                <a:latin typeface="Arial"/>
                <a:cs typeface="Arial"/>
              </a:rPr>
              <a:t> </a:t>
            </a:r>
            <a:r>
              <a:rPr dirty="0" sz="1200" spc="-5">
                <a:latin typeface="Arial"/>
                <a:cs typeface="Arial"/>
              </a:rPr>
              <a:t>working-man</a:t>
            </a:r>
            <a:r>
              <a:rPr dirty="0" sz="1200" spc="105">
                <a:latin typeface="Arial"/>
                <a:cs typeface="Arial"/>
              </a:rPr>
              <a:t> </a:t>
            </a:r>
            <a:r>
              <a:rPr dirty="0" sz="1200" spc="-5">
                <a:latin typeface="Arial"/>
                <a:cs typeface="Arial"/>
              </a:rPr>
              <a:t>in</a:t>
            </a:r>
            <a:r>
              <a:rPr dirty="0" sz="1200" spc="100">
                <a:latin typeface="Arial"/>
                <a:cs typeface="Arial"/>
              </a:rPr>
              <a:t> </a:t>
            </a:r>
            <a:r>
              <a:rPr dirty="0" sz="1200" spc="-5">
                <a:latin typeface="Arial"/>
                <a:cs typeface="Arial"/>
              </a:rPr>
              <a:t>great</a:t>
            </a:r>
            <a:r>
              <a:rPr dirty="0" sz="1200" spc="110">
                <a:latin typeface="Arial"/>
                <a:cs typeface="Arial"/>
              </a:rPr>
              <a:t> </a:t>
            </a:r>
            <a:r>
              <a:rPr dirty="0" sz="1200" spc="-15">
                <a:latin typeface="Arial"/>
                <a:cs typeface="Arial"/>
              </a:rPr>
              <a:t>numbers‖,</a:t>
            </a:r>
            <a:r>
              <a:rPr dirty="0" sz="1200" spc="120">
                <a:latin typeface="Arial"/>
                <a:cs typeface="Arial"/>
              </a:rPr>
              <a:t> </a:t>
            </a:r>
            <a:r>
              <a:rPr dirty="0" sz="1200" spc="-5">
                <a:latin typeface="Arial"/>
                <a:cs typeface="Arial"/>
              </a:rPr>
              <a:t>and</a:t>
            </a:r>
            <a:r>
              <a:rPr dirty="0" sz="1200" spc="105">
                <a:latin typeface="Arial"/>
                <a:cs typeface="Arial"/>
              </a:rPr>
              <a:t> </a:t>
            </a:r>
            <a:r>
              <a:rPr dirty="0" sz="1200" spc="-5">
                <a:latin typeface="Arial"/>
                <a:cs typeface="Arial"/>
              </a:rPr>
              <a:t>he</a:t>
            </a:r>
            <a:r>
              <a:rPr dirty="0" sz="1200" spc="105">
                <a:latin typeface="Arial"/>
                <a:cs typeface="Arial"/>
              </a:rPr>
              <a:t> </a:t>
            </a:r>
            <a:r>
              <a:rPr dirty="0" sz="1200" spc="-10">
                <a:latin typeface="Arial"/>
                <a:cs typeface="Arial"/>
              </a:rPr>
              <a:t>was</a:t>
            </a:r>
            <a:r>
              <a:rPr dirty="0" sz="1200" spc="100">
                <a:latin typeface="Arial"/>
                <a:cs typeface="Arial"/>
              </a:rPr>
              <a:t> </a:t>
            </a:r>
            <a:r>
              <a:rPr dirty="0" sz="1200" spc="-5">
                <a:latin typeface="Arial"/>
                <a:cs typeface="Arial"/>
              </a:rPr>
              <a:t>awarded</a:t>
            </a:r>
            <a:r>
              <a:rPr dirty="0" sz="1200" spc="105">
                <a:latin typeface="Arial"/>
                <a:cs typeface="Arial"/>
              </a:rPr>
              <a:t> </a:t>
            </a:r>
            <a:r>
              <a:rPr dirty="0" sz="1200">
                <a:latin typeface="Arial"/>
                <a:cs typeface="Arial"/>
              </a:rPr>
              <a:t>the</a:t>
            </a:r>
            <a:r>
              <a:rPr dirty="0" sz="1200" spc="90">
                <a:latin typeface="Arial"/>
                <a:cs typeface="Arial"/>
              </a:rPr>
              <a:t> </a:t>
            </a:r>
            <a:r>
              <a:rPr dirty="0" sz="1200">
                <a:latin typeface="Arial"/>
                <a:cs typeface="Arial"/>
              </a:rPr>
              <a:t>title</a:t>
            </a:r>
            <a:r>
              <a:rPr dirty="0" sz="1200" spc="100">
                <a:latin typeface="Arial"/>
                <a:cs typeface="Arial"/>
              </a:rPr>
              <a:t> </a:t>
            </a:r>
            <a:r>
              <a:rPr dirty="0" sz="1200" spc="-5">
                <a:latin typeface="Arial"/>
                <a:cs typeface="Arial"/>
              </a:rPr>
              <a:t>of</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164</a:t>
            </a:r>
            <a:endParaRPr sz="1200">
              <a:latin typeface="Times New Roman"/>
              <a:cs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2535" cy="898779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5715">
              <a:lnSpc>
                <a:spcPct val="95900"/>
              </a:lnSpc>
            </a:pPr>
            <a:r>
              <a:rPr dirty="0" sz="1200">
                <a:latin typeface="Arial"/>
                <a:cs typeface="Arial"/>
              </a:rPr>
              <a:t>the </a:t>
            </a:r>
            <a:r>
              <a:rPr dirty="0" sz="1200" spc="-5">
                <a:latin typeface="Arial"/>
                <a:cs typeface="Arial"/>
              </a:rPr>
              <a:t>Companion of the </a:t>
            </a:r>
            <a:r>
              <a:rPr dirty="0" sz="1200">
                <a:latin typeface="Arial"/>
                <a:cs typeface="Arial"/>
              </a:rPr>
              <a:t>Star </a:t>
            </a:r>
            <a:r>
              <a:rPr dirty="0" sz="1200" spc="-5">
                <a:latin typeface="Arial"/>
                <a:cs typeface="Arial"/>
              </a:rPr>
              <a:t>of India by none </a:t>
            </a:r>
            <a:r>
              <a:rPr dirty="0" sz="1200">
                <a:latin typeface="Arial"/>
                <a:cs typeface="Arial"/>
              </a:rPr>
              <a:t>other </a:t>
            </a:r>
            <a:r>
              <a:rPr dirty="0" sz="1200" spc="-5">
                <a:latin typeface="Arial"/>
                <a:cs typeface="Arial"/>
              </a:rPr>
              <a:t>than the Queen </a:t>
            </a:r>
            <a:r>
              <a:rPr dirty="0" sz="1200" spc="5">
                <a:latin typeface="Arial"/>
                <a:cs typeface="Arial"/>
              </a:rPr>
              <a:t>herself. </a:t>
            </a:r>
            <a:r>
              <a:rPr dirty="0" sz="1200" spc="-5">
                <a:latin typeface="Arial"/>
                <a:cs typeface="Arial"/>
              </a:rPr>
              <a:t>He obtained </a:t>
            </a:r>
            <a:r>
              <a:rPr dirty="0" sz="1200" spc="-10">
                <a:latin typeface="Arial"/>
                <a:cs typeface="Arial"/>
              </a:rPr>
              <a:t>the  </a:t>
            </a:r>
            <a:r>
              <a:rPr dirty="0" sz="1200">
                <a:latin typeface="Arial"/>
                <a:cs typeface="Arial"/>
              </a:rPr>
              <a:t>title </a:t>
            </a:r>
            <a:r>
              <a:rPr dirty="0" sz="1200" spc="-5">
                <a:latin typeface="Arial"/>
                <a:cs typeface="Arial"/>
              </a:rPr>
              <a:t>of Sir Syed </a:t>
            </a:r>
            <a:r>
              <a:rPr dirty="0" sz="1200" spc="-10">
                <a:latin typeface="Arial"/>
                <a:cs typeface="Arial"/>
              </a:rPr>
              <a:t>Ahmad </a:t>
            </a:r>
            <a:r>
              <a:rPr dirty="0" sz="1200">
                <a:latin typeface="Arial"/>
                <a:cs typeface="Arial"/>
              </a:rPr>
              <a:t>Khan. </a:t>
            </a:r>
            <a:r>
              <a:rPr dirty="0" sz="1200" spc="-105">
                <a:latin typeface="Arial"/>
                <a:cs typeface="Arial"/>
              </a:rPr>
              <a:t>―Without </a:t>
            </a:r>
            <a:r>
              <a:rPr dirty="0" sz="1200" spc="-5">
                <a:latin typeface="Arial"/>
                <a:cs typeface="Arial"/>
              </a:rPr>
              <a:t>flattering </a:t>
            </a:r>
            <a:r>
              <a:rPr dirty="0" sz="1200">
                <a:latin typeface="Arial"/>
                <a:cs typeface="Arial"/>
              </a:rPr>
              <a:t>the </a:t>
            </a:r>
            <a:r>
              <a:rPr dirty="0" sz="1200" spc="-15">
                <a:latin typeface="Arial"/>
                <a:cs typeface="Arial"/>
              </a:rPr>
              <a:t>English,‖ </a:t>
            </a:r>
            <a:r>
              <a:rPr dirty="0" sz="1200">
                <a:latin typeface="Arial"/>
                <a:cs typeface="Arial"/>
              </a:rPr>
              <a:t>he </a:t>
            </a:r>
            <a:r>
              <a:rPr dirty="0" sz="1200" spc="-5">
                <a:latin typeface="Arial"/>
                <a:cs typeface="Arial"/>
              </a:rPr>
              <a:t>wrote, </a:t>
            </a:r>
            <a:r>
              <a:rPr dirty="0" sz="1200" spc="-405">
                <a:latin typeface="Arial"/>
                <a:cs typeface="Arial"/>
              </a:rPr>
              <a:t>―I</a:t>
            </a:r>
            <a:r>
              <a:rPr dirty="0" sz="1200" spc="80">
                <a:latin typeface="Arial"/>
                <a:cs typeface="Arial"/>
              </a:rPr>
              <a:t> </a:t>
            </a:r>
            <a:r>
              <a:rPr dirty="0" sz="1200" spc="-5">
                <a:latin typeface="Arial"/>
                <a:cs typeface="Arial"/>
              </a:rPr>
              <a:t>can </a:t>
            </a:r>
            <a:r>
              <a:rPr dirty="0" sz="1200">
                <a:latin typeface="Arial"/>
                <a:cs typeface="Arial"/>
              </a:rPr>
              <a:t>truly say that  the </a:t>
            </a:r>
            <a:r>
              <a:rPr dirty="0" sz="1200" spc="-5">
                <a:latin typeface="Arial"/>
                <a:cs typeface="Arial"/>
              </a:rPr>
              <a:t>natives of India, </a:t>
            </a:r>
            <a:r>
              <a:rPr dirty="0" sz="1200" spc="-10">
                <a:latin typeface="Arial"/>
                <a:cs typeface="Arial"/>
              </a:rPr>
              <a:t>high </a:t>
            </a:r>
            <a:r>
              <a:rPr dirty="0" sz="1200" spc="-5">
                <a:latin typeface="Arial"/>
                <a:cs typeface="Arial"/>
              </a:rPr>
              <a:t>and low, merchants and petty shopkeepers, educated and </a:t>
            </a:r>
            <a:r>
              <a:rPr dirty="0" sz="1200">
                <a:latin typeface="Arial"/>
                <a:cs typeface="Arial"/>
              </a:rPr>
              <a:t>illiterate,  </a:t>
            </a:r>
            <a:r>
              <a:rPr dirty="0" sz="1200" spc="-5">
                <a:latin typeface="Arial"/>
                <a:cs typeface="Arial"/>
              </a:rPr>
              <a:t>when contrasted with </a:t>
            </a:r>
            <a:r>
              <a:rPr dirty="0" sz="1200">
                <a:latin typeface="Arial"/>
                <a:cs typeface="Arial"/>
              </a:rPr>
              <a:t>the </a:t>
            </a:r>
            <a:r>
              <a:rPr dirty="0" sz="1200" spc="-5">
                <a:latin typeface="Arial"/>
                <a:cs typeface="Arial"/>
              </a:rPr>
              <a:t>English in education, manners, and uprightness, are like a dirty  animal is </a:t>
            </a:r>
            <a:r>
              <a:rPr dirty="0" sz="1200">
                <a:latin typeface="Arial"/>
                <a:cs typeface="Arial"/>
              </a:rPr>
              <a:t>to an </a:t>
            </a:r>
            <a:r>
              <a:rPr dirty="0" sz="1200" spc="-5">
                <a:latin typeface="Arial"/>
                <a:cs typeface="Arial"/>
              </a:rPr>
              <a:t>able </a:t>
            </a:r>
            <a:r>
              <a:rPr dirty="0" sz="1200" spc="-10">
                <a:latin typeface="Arial"/>
                <a:cs typeface="Arial"/>
              </a:rPr>
              <a:t>and </a:t>
            </a:r>
            <a:r>
              <a:rPr dirty="0" sz="1200" spc="-5">
                <a:latin typeface="Arial"/>
                <a:cs typeface="Arial"/>
              </a:rPr>
              <a:t>handsome </a:t>
            </a:r>
            <a:r>
              <a:rPr dirty="0" sz="1200" spc="-25">
                <a:latin typeface="Arial"/>
                <a:cs typeface="Arial"/>
              </a:rPr>
              <a:t>man.‖ </a:t>
            </a:r>
            <a:r>
              <a:rPr dirty="0" sz="1200" spc="-5">
                <a:latin typeface="Arial"/>
                <a:cs typeface="Arial"/>
              </a:rPr>
              <a:t>In Aligarh he established the Muhammadan </a:t>
            </a:r>
            <a:r>
              <a:rPr dirty="0" sz="1200">
                <a:latin typeface="Arial"/>
                <a:cs typeface="Arial"/>
              </a:rPr>
              <a:t>Anglo-  </a:t>
            </a:r>
            <a:r>
              <a:rPr dirty="0" sz="1200" spc="-5">
                <a:latin typeface="Arial"/>
                <a:cs typeface="Arial"/>
              </a:rPr>
              <a:t>Oriental College in 1877. </a:t>
            </a:r>
            <a:r>
              <a:rPr dirty="0" sz="1200">
                <a:latin typeface="Arial"/>
                <a:cs typeface="Arial"/>
              </a:rPr>
              <a:t>In </a:t>
            </a:r>
            <a:r>
              <a:rPr dirty="0" sz="1200" spc="-5">
                <a:latin typeface="Arial"/>
                <a:cs typeface="Arial"/>
              </a:rPr>
              <a:t>1920, the College would become Aligarh Muslim</a:t>
            </a:r>
            <a:r>
              <a:rPr dirty="0" sz="1200" spc="114">
                <a:latin typeface="Arial"/>
                <a:cs typeface="Arial"/>
              </a:rPr>
              <a:t> </a:t>
            </a:r>
            <a:r>
              <a:rPr dirty="0" sz="1200" spc="-5">
                <a:latin typeface="Arial"/>
                <a:cs typeface="Arial"/>
              </a:rPr>
              <a:t>University.</a:t>
            </a:r>
            <a:endParaRPr sz="12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u="heavy" sz="1200" spc="-5" b="1" i="1">
                <a:uFill>
                  <a:solidFill>
                    <a:srgbClr val="000000"/>
                  </a:solidFill>
                </a:uFill>
                <a:latin typeface="Arial"/>
                <a:cs typeface="Arial"/>
              </a:rPr>
              <a:t>Concepts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Syed Ahmad Khan</a:t>
            </a:r>
            <a:endParaRPr sz="1200">
              <a:latin typeface="Arial"/>
              <a:cs typeface="Arial"/>
            </a:endParaRPr>
          </a:p>
          <a:p>
            <a:pPr>
              <a:lnSpc>
                <a:spcPct val="100000"/>
              </a:lnSpc>
            </a:pPr>
            <a:endParaRPr sz="1200">
              <a:latin typeface="Arial"/>
              <a:cs typeface="Arial"/>
            </a:endParaRPr>
          </a:p>
          <a:p>
            <a:pPr algn="just" marL="283845" marR="6985" indent="-229235">
              <a:lnSpc>
                <a:spcPct val="95800"/>
              </a:lnSpc>
              <a:buAutoNum type="arabicPeriod"/>
              <a:tabLst>
                <a:tab pos="284480" algn="l"/>
              </a:tabLst>
            </a:pPr>
            <a:r>
              <a:rPr dirty="0" sz="1200">
                <a:latin typeface="Arial"/>
                <a:cs typeface="Arial"/>
              </a:rPr>
              <a:t>In </a:t>
            </a:r>
            <a:r>
              <a:rPr dirty="0" sz="1200" spc="-5">
                <a:latin typeface="Arial"/>
                <a:cs typeface="Arial"/>
              </a:rPr>
              <a:t>his </a:t>
            </a:r>
            <a:r>
              <a:rPr dirty="0" sz="1200" spc="-10">
                <a:latin typeface="Arial"/>
                <a:cs typeface="Arial"/>
              </a:rPr>
              <a:t>drive </a:t>
            </a:r>
            <a:r>
              <a:rPr dirty="0" sz="1200">
                <a:latin typeface="Arial"/>
                <a:cs typeface="Arial"/>
              </a:rPr>
              <a:t>for </a:t>
            </a:r>
            <a:r>
              <a:rPr dirty="0" sz="1200" spc="-5">
                <a:latin typeface="Arial"/>
                <a:cs typeface="Arial"/>
              </a:rPr>
              <a:t>modernization, Ahmad Khan wanted </a:t>
            </a:r>
            <a:r>
              <a:rPr dirty="0" sz="1200">
                <a:latin typeface="Arial"/>
                <a:cs typeface="Arial"/>
              </a:rPr>
              <a:t>to re-interpret </a:t>
            </a:r>
            <a:r>
              <a:rPr dirty="0" sz="1200" spc="-5">
                <a:latin typeface="Arial"/>
                <a:cs typeface="Arial"/>
              </a:rPr>
              <a:t>Islam. </a:t>
            </a:r>
            <a:r>
              <a:rPr dirty="0" sz="1200" spc="-265">
                <a:latin typeface="Arial"/>
                <a:cs typeface="Arial"/>
              </a:rPr>
              <a:t>―We </a:t>
            </a:r>
            <a:r>
              <a:rPr dirty="0" sz="1200" spc="-5">
                <a:latin typeface="Arial"/>
                <a:cs typeface="Arial"/>
              </a:rPr>
              <a:t>need </a:t>
            </a:r>
            <a:r>
              <a:rPr dirty="0" sz="1200">
                <a:latin typeface="Arial"/>
                <a:cs typeface="Arial"/>
              </a:rPr>
              <a:t>a  </a:t>
            </a:r>
            <a:r>
              <a:rPr dirty="0" sz="1200" spc="-5">
                <a:latin typeface="Arial"/>
                <a:cs typeface="Arial"/>
              </a:rPr>
              <a:t>modern </a:t>
            </a:r>
            <a:r>
              <a:rPr dirty="0" sz="1200" spc="-105" i="1">
                <a:latin typeface="Arial"/>
                <a:cs typeface="Arial"/>
              </a:rPr>
              <a:t>‗ilm </a:t>
            </a:r>
            <a:r>
              <a:rPr dirty="0" sz="1200" spc="-15" i="1">
                <a:latin typeface="Arial"/>
                <a:cs typeface="Arial"/>
              </a:rPr>
              <a:t>al-Kalâm,‖ </a:t>
            </a:r>
            <a:r>
              <a:rPr dirty="0" sz="1200">
                <a:latin typeface="Arial"/>
                <a:cs typeface="Arial"/>
              </a:rPr>
              <a:t>he </a:t>
            </a:r>
            <a:r>
              <a:rPr dirty="0" sz="1200" spc="-5">
                <a:latin typeface="Arial"/>
                <a:cs typeface="Arial"/>
              </a:rPr>
              <a:t>said in </a:t>
            </a:r>
            <a:r>
              <a:rPr dirty="0" sz="1200">
                <a:latin typeface="Arial"/>
                <a:cs typeface="Arial"/>
              </a:rPr>
              <a:t>a </a:t>
            </a:r>
            <a:r>
              <a:rPr dirty="0" sz="1200" spc="-5">
                <a:latin typeface="Arial"/>
                <a:cs typeface="Arial"/>
              </a:rPr>
              <a:t>speech delivered </a:t>
            </a:r>
            <a:r>
              <a:rPr dirty="0" sz="1200">
                <a:latin typeface="Arial"/>
                <a:cs typeface="Arial"/>
              </a:rPr>
              <a:t>at </a:t>
            </a:r>
            <a:r>
              <a:rPr dirty="0" sz="1200" spc="-5">
                <a:latin typeface="Arial"/>
                <a:cs typeface="Arial"/>
              </a:rPr>
              <a:t>Lahore </a:t>
            </a:r>
            <a:r>
              <a:rPr dirty="0" sz="1200" spc="-10">
                <a:latin typeface="Arial"/>
                <a:cs typeface="Arial"/>
              </a:rPr>
              <a:t>in </a:t>
            </a:r>
            <a:r>
              <a:rPr dirty="0" sz="1200" spc="-5">
                <a:latin typeface="Arial"/>
                <a:cs typeface="Arial"/>
              </a:rPr>
              <a:t>1884, </a:t>
            </a:r>
            <a:r>
              <a:rPr dirty="0" sz="1200" spc="-270">
                <a:latin typeface="Arial"/>
                <a:cs typeface="Arial"/>
              </a:rPr>
              <a:t>―by </a:t>
            </a:r>
            <a:r>
              <a:rPr dirty="0" sz="1200" spc="-5">
                <a:latin typeface="Arial"/>
                <a:cs typeface="Arial"/>
              </a:rPr>
              <a:t>which </a:t>
            </a:r>
            <a:r>
              <a:rPr dirty="0" sz="1200" spc="-10">
                <a:latin typeface="Arial"/>
                <a:cs typeface="Arial"/>
              </a:rPr>
              <a:t>we  </a:t>
            </a:r>
            <a:r>
              <a:rPr dirty="0" sz="1200" spc="-5">
                <a:latin typeface="Arial"/>
                <a:cs typeface="Arial"/>
              </a:rPr>
              <a:t>should either refute the doctrines of modern </a:t>
            </a:r>
            <a:r>
              <a:rPr dirty="0" sz="1200">
                <a:latin typeface="Arial"/>
                <a:cs typeface="Arial"/>
              </a:rPr>
              <a:t>sciences </a:t>
            </a:r>
            <a:r>
              <a:rPr dirty="0" sz="1200" spc="-5">
                <a:latin typeface="Arial"/>
                <a:cs typeface="Arial"/>
              </a:rPr>
              <a:t>or show </a:t>
            </a:r>
            <a:r>
              <a:rPr dirty="0" sz="1200">
                <a:latin typeface="Arial"/>
                <a:cs typeface="Arial"/>
              </a:rPr>
              <a:t>that they </a:t>
            </a:r>
            <a:r>
              <a:rPr dirty="0" sz="1200" spc="-5">
                <a:latin typeface="Arial"/>
                <a:cs typeface="Arial"/>
              </a:rPr>
              <a:t>are </a:t>
            </a:r>
            <a:r>
              <a:rPr dirty="0" sz="1200" spc="-10">
                <a:latin typeface="Arial"/>
                <a:cs typeface="Arial"/>
              </a:rPr>
              <a:t>in </a:t>
            </a:r>
            <a:r>
              <a:rPr dirty="0" sz="1200" spc="-5">
                <a:latin typeface="Arial"/>
                <a:cs typeface="Arial"/>
              </a:rPr>
              <a:t>conformity  </a:t>
            </a:r>
            <a:r>
              <a:rPr dirty="0" sz="1200" spc="-10">
                <a:latin typeface="Arial"/>
                <a:cs typeface="Arial"/>
              </a:rPr>
              <a:t>with </a:t>
            </a:r>
            <a:r>
              <a:rPr dirty="0" sz="1200">
                <a:latin typeface="Arial"/>
                <a:cs typeface="Arial"/>
              </a:rPr>
              <a:t>the </a:t>
            </a:r>
            <a:r>
              <a:rPr dirty="0" sz="1200" spc="-5">
                <a:latin typeface="Arial"/>
                <a:cs typeface="Arial"/>
              </a:rPr>
              <a:t>articles of Islamic </a:t>
            </a:r>
            <a:r>
              <a:rPr dirty="0" sz="1200" spc="-20">
                <a:latin typeface="Arial"/>
                <a:cs typeface="Arial"/>
              </a:rPr>
              <a:t>faith.‖ </a:t>
            </a:r>
            <a:r>
              <a:rPr dirty="0" sz="1200">
                <a:latin typeface="Arial"/>
                <a:cs typeface="Arial"/>
              </a:rPr>
              <a:t>But </a:t>
            </a:r>
            <a:r>
              <a:rPr dirty="0" sz="1200" spc="-5">
                <a:latin typeface="Arial"/>
                <a:cs typeface="Arial"/>
              </a:rPr>
              <a:t>what became apparent in the subsequent writings  </a:t>
            </a:r>
            <a:r>
              <a:rPr dirty="0" sz="1200" spc="-10">
                <a:latin typeface="Arial"/>
                <a:cs typeface="Arial"/>
              </a:rPr>
              <a:t>was </a:t>
            </a:r>
            <a:r>
              <a:rPr dirty="0" sz="1200">
                <a:latin typeface="Arial"/>
                <a:cs typeface="Arial"/>
              </a:rPr>
              <a:t>the fact </a:t>
            </a:r>
            <a:r>
              <a:rPr dirty="0" sz="1200" spc="-5">
                <a:latin typeface="Arial"/>
                <a:cs typeface="Arial"/>
              </a:rPr>
              <a:t>that Ahmad Khan </a:t>
            </a:r>
            <a:r>
              <a:rPr dirty="0" sz="1200" spc="-10">
                <a:latin typeface="Arial"/>
                <a:cs typeface="Arial"/>
              </a:rPr>
              <a:t>was </a:t>
            </a:r>
            <a:r>
              <a:rPr dirty="0" sz="1200" spc="-5">
                <a:latin typeface="Arial"/>
                <a:cs typeface="Arial"/>
              </a:rPr>
              <a:t>not really interested (or qualified) </a:t>
            </a:r>
            <a:r>
              <a:rPr dirty="0" sz="1200">
                <a:latin typeface="Arial"/>
                <a:cs typeface="Arial"/>
              </a:rPr>
              <a:t>to </a:t>
            </a:r>
            <a:r>
              <a:rPr dirty="0" sz="1200" spc="-5">
                <a:latin typeface="Arial"/>
                <a:cs typeface="Arial"/>
              </a:rPr>
              <a:t>refute any  modern scientific doctrine; all </a:t>
            </a:r>
            <a:r>
              <a:rPr dirty="0" sz="1200">
                <a:latin typeface="Arial"/>
                <a:cs typeface="Arial"/>
              </a:rPr>
              <a:t>he could </a:t>
            </a:r>
            <a:r>
              <a:rPr dirty="0" sz="1200" spc="-10">
                <a:latin typeface="Arial"/>
                <a:cs typeface="Arial"/>
              </a:rPr>
              <a:t>do was </a:t>
            </a:r>
            <a:r>
              <a:rPr dirty="0" sz="1200">
                <a:latin typeface="Arial"/>
                <a:cs typeface="Arial"/>
              </a:rPr>
              <a:t>to </a:t>
            </a:r>
            <a:r>
              <a:rPr dirty="0" sz="1200" spc="-5">
                <a:latin typeface="Arial"/>
                <a:cs typeface="Arial"/>
              </a:rPr>
              <a:t>re-interpret Islam to </a:t>
            </a:r>
            <a:r>
              <a:rPr dirty="0" sz="1200">
                <a:latin typeface="Arial"/>
                <a:cs typeface="Arial"/>
              </a:rPr>
              <a:t>show that the </a:t>
            </a:r>
            <a:r>
              <a:rPr dirty="0" sz="1200" spc="-165">
                <a:latin typeface="Arial"/>
                <a:cs typeface="Arial"/>
              </a:rPr>
              <a:t>―work  </a:t>
            </a:r>
            <a:r>
              <a:rPr dirty="0" sz="1200" spc="-5">
                <a:latin typeface="Arial"/>
                <a:cs typeface="Arial"/>
              </a:rPr>
              <a:t>of God (nature and its laws) was in conformity </a:t>
            </a:r>
            <a:r>
              <a:rPr dirty="0" sz="1200" spc="-10">
                <a:latin typeface="Arial"/>
                <a:cs typeface="Arial"/>
              </a:rPr>
              <a:t>with </a:t>
            </a:r>
            <a:r>
              <a:rPr dirty="0" sz="1200">
                <a:latin typeface="Arial"/>
                <a:cs typeface="Arial"/>
              </a:rPr>
              <a:t>the </a:t>
            </a:r>
            <a:r>
              <a:rPr dirty="0" sz="1200" spc="5">
                <a:latin typeface="Arial"/>
                <a:cs typeface="Arial"/>
              </a:rPr>
              <a:t>Word </a:t>
            </a:r>
            <a:r>
              <a:rPr dirty="0" sz="1200" spc="-5">
                <a:latin typeface="Arial"/>
                <a:cs typeface="Arial"/>
              </a:rPr>
              <a:t>of God (the </a:t>
            </a:r>
            <a:r>
              <a:rPr dirty="0" sz="1200" spc="-15">
                <a:latin typeface="Arial"/>
                <a:cs typeface="Arial"/>
              </a:rPr>
              <a:t>Qur‘ân)‖, </a:t>
            </a:r>
            <a:r>
              <a:rPr dirty="0" sz="1200" spc="-5">
                <a:latin typeface="Arial"/>
                <a:cs typeface="Arial"/>
              </a:rPr>
              <a:t>an  adage that earned him </a:t>
            </a:r>
            <a:r>
              <a:rPr dirty="0" sz="1200">
                <a:latin typeface="Arial"/>
                <a:cs typeface="Arial"/>
              </a:rPr>
              <a:t>the title </a:t>
            </a:r>
            <a:r>
              <a:rPr dirty="0" sz="1200" spc="-5">
                <a:latin typeface="Arial"/>
                <a:cs typeface="Arial"/>
              </a:rPr>
              <a:t>of </a:t>
            </a:r>
            <a:r>
              <a:rPr dirty="0" sz="1200" spc="-5" i="1">
                <a:latin typeface="Arial"/>
                <a:cs typeface="Arial"/>
              </a:rPr>
              <a:t>Naturî. </a:t>
            </a:r>
            <a:r>
              <a:rPr dirty="0" sz="1200">
                <a:latin typeface="Arial"/>
                <a:cs typeface="Arial"/>
              </a:rPr>
              <a:t>In </a:t>
            </a:r>
            <a:r>
              <a:rPr dirty="0" sz="1200" spc="-5">
                <a:latin typeface="Arial"/>
                <a:cs typeface="Arial"/>
              </a:rPr>
              <a:t>his attempts </a:t>
            </a:r>
            <a:r>
              <a:rPr dirty="0" sz="1200">
                <a:latin typeface="Arial"/>
                <a:cs typeface="Arial"/>
              </a:rPr>
              <a:t>to re-interpret </a:t>
            </a:r>
            <a:r>
              <a:rPr dirty="0" sz="1200" spc="-5">
                <a:latin typeface="Arial"/>
                <a:cs typeface="Arial"/>
              </a:rPr>
              <a:t>Islam to  accommodate modern </a:t>
            </a:r>
            <a:r>
              <a:rPr dirty="0" sz="1200">
                <a:latin typeface="Arial"/>
                <a:cs typeface="Arial"/>
              </a:rPr>
              <a:t>Western science, </a:t>
            </a:r>
            <a:r>
              <a:rPr dirty="0" sz="1200" spc="-5">
                <a:latin typeface="Arial"/>
                <a:cs typeface="Arial"/>
              </a:rPr>
              <a:t>Ahmad Khan exposed </a:t>
            </a:r>
            <a:r>
              <a:rPr dirty="0" sz="1200" spc="-10">
                <a:latin typeface="Arial"/>
                <a:cs typeface="Arial"/>
              </a:rPr>
              <a:t>his </a:t>
            </a:r>
            <a:r>
              <a:rPr dirty="0" sz="1200" spc="-5">
                <a:latin typeface="Arial"/>
                <a:cs typeface="Arial"/>
              </a:rPr>
              <a:t>weaknesses in </a:t>
            </a:r>
            <a:r>
              <a:rPr dirty="0" sz="1200" spc="-10">
                <a:latin typeface="Arial"/>
                <a:cs typeface="Arial"/>
              </a:rPr>
              <a:t>both  </a:t>
            </a:r>
            <a:r>
              <a:rPr dirty="0" sz="1200" spc="-5">
                <a:latin typeface="Arial"/>
                <a:cs typeface="Arial"/>
              </a:rPr>
              <a:t>domains of knowledge. He was severely criticized </a:t>
            </a:r>
            <a:r>
              <a:rPr dirty="0" sz="1200">
                <a:latin typeface="Arial"/>
                <a:cs typeface="Arial"/>
              </a:rPr>
              <a:t>by the </a:t>
            </a:r>
            <a:r>
              <a:rPr dirty="0" sz="1200" spc="-55">
                <a:latin typeface="Arial"/>
                <a:cs typeface="Arial"/>
              </a:rPr>
              <a:t>‗ulama‘ </a:t>
            </a:r>
            <a:r>
              <a:rPr dirty="0" sz="1200">
                <a:latin typeface="Arial"/>
                <a:cs typeface="Arial"/>
              </a:rPr>
              <a:t>for </a:t>
            </a:r>
            <a:r>
              <a:rPr dirty="0" sz="1200" spc="-5">
                <a:latin typeface="Arial"/>
                <a:cs typeface="Arial"/>
              </a:rPr>
              <a:t>the lack of  qualifications to interpret the Qur‘ân </a:t>
            </a:r>
            <a:r>
              <a:rPr dirty="0" sz="1200">
                <a:latin typeface="Arial"/>
                <a:cs typeface="Arial"/>
              </a:rPr>
              <a:t>and </a:t>
            </a:r>
            <a:r>
              <a:rPr dirty="0" sz="1200" spc="-5">
                <a:latin typeface="Arial"/>
                <a:cs typeface="Arial"/>
              </a:rPr>
              <a:t>Hadith and </a:t>
            </a:r>
            <a:r>
              <a:rPr dirty="0" sz="1200">
                <a:latin typeface="Arial"/>
                <a:cs typeface="Arial"/>
              </a:rPr>
              <a:t>the </a:t>
            </a:r>
            <a:r>
              <a:rPr dirty="0" sz="1200" spc="-5">
                <a:latin typeface="Arial"/>
                <a:cs typeface="Arial"/>
              </a:rPr>
              <a:t>shallowness of his knowledge of  Western </a:t>
            </a:r>
            <a:r>
              <a:rPr dirty="0" sz="1200">
                <a:latin typeface="Arial"/>
                <a:cs typeface="Arial"/>
              </a:rPr>
              <a:t>science </a:t>
            </a:r>
            <a:r>
              <a:rPr dirty="0" sz="1200" spc="-5">
                <a:latin typeface="Arial"/>
                <a:cs typeface="Arial"/>
              </a:rPr>
              <a:t>and its philosophical underpinnings </a:t>
            </a:r>
            <a:r>
              <a:rPr dirty="0" sz="1200" spc="-10">
                <a:latin typeface="Arial"/>
                <a:cs typeface="Arial"/>
              </a:rPr>
              <a:t>was </a:t>
            </a:r>
            <a:r>
              <a:rPr dirty="0" sz="1200">
                <a:latin typeface="Arial"/>
                <a:cs typeface="Arial"/>
              </a:rPr>
              <a:t>apparent </a:t>
            </a:r>
            <a:r>
              <a:rPr dirty="0" sz="1200" spc="-5">
                <a:latin typeface="Arial"/>
                <a:cs typeface="Arial"/>
              </a:rPr>
              <a:t>from </a:t>
            </a:r>
            <a:r>
              <a:rPr dirty="0" sz="1200">
                <a:latin typeface="Arial"/>
                <a:cs typeface="Arial"/>
              </a:rPr>
              <a:t>his </a:t>
            </a:r>
            <a:r>
              <a:rPr dirty="0" sz="1200" spc="-10">
                <a:latin typeface="Arial"/>
                <a:cs typeface="Arial"/>
              </a:rPr>
              <a:t>own </a:t>
            </a:r>
            <a:r>
              <a:rPr dirty="0" sz="1200" spc="-5">
                <a:latin typeface="Arial"/>
                <a:cs typeface="Arial"/>
              </a:rPr>
              <a:t>writings.  He had no training in any </a:t>
            </a:r>
            <a:r>
              <a:rPr dirty="0" sz="1200">
                <a:latin typeface="Arial"/>
                <a:cs typeface="Arial"/>
              </a:rPr>
              <a:t>natural science </a:t>
            </a:r>
            <a:r>
              <a:rPr dirty="0" sz="1200" spc="-5">
                <a:latin typeface="Arial"/>
                <a:cs typeface="Arial"/>
              </a:rPr>
              <a:t>or in philosophy of science and </a:t>
            </a:r>
            <a:r>
              <a:rPr dirty="0" sz="1200" spc="-10">
                <a:latin typeface="Arial"/>
                <a:cs typeface="Arial"/>
              </a:rPr>
              <a:t>he </a:t>
            </a:r>
            <a:r>
              <a:rPr dirty="0" sz="1200" spc="-5">
                <a:latin typeface="Arial"/>
                <a:cs typeface="Arial"/>
              </a:rPr>
              <a:t>had </a:t>
            </a:r>
            <a:r>
              <a:rPr dirty="0" sz="1200" spc="-10">
                <a:latin typeface="Arial"/>
                <a:cs typeface="Arial"/>
              </a:rPr>
              <a:t>never  </a:t>
            </a:r>
            <a:r>
              <a:rPr dirty="0" sz="1200" spc="-5">
                <a:latin typeface="Arial"/>
                <a:cs typeface="Arial"/>
              </a:rPr>
              <a:t>finished </a:t>
            </a:r>
            <a:r>
              <a:rPr dirty="0" sz="1200">
                <a:latin typeface="Arial"/>
                <a:cs typeface="Arial"/>
              </a:rPr>
              <a:t>his </a:t>
            </a:r>
            <a:r>
              <a:rPr dirty="0" sz="1200" spc="-5">
                <a:latin typeface="Arial"/>
                <a:cs typeface="Arial"/>
              </a:rPr>
              <a:t>traditional</a:t>
            </a:r>
            <a:r>
              <a:rPr dirty="0" sz="1200" spc="-20">
                <a:latin typeface="Arial"/>
                <a:cs typeface="Arial"/>
              </a:rPr>
              <a:t> </a:t>
            </a:r>
            <a:r>
              <a:rPr dirty="0" sz="1200" spc="-5">
                <a:latin typeface="Arial"/>
                <a:cs typeface="Arial"/>
              </a:rPr>
              <a:t>education.</a:t>
            </a:r>
            <a:endParaRPr sz="1200">
              <a:latin typeface="Arial"/>
              <a:cs typeface="Arial"/>
            </a:endParaRPr>
          </a:p>
          <a:p>
            <a:pPr>
              <a:lnSpc>
                <a:spcPct val="100000"/>
              </a:lnSpc>
              <a:spcBef>
                <a:spcPts val="45"/>
              </a:spcBef>
              <a:buFont typeface="Arial"/>
              <a:buAutoNum type="arabicPeriod"/>
            </a:pPr>
            <a:endParaRPr sz="1150">
              <a:latin typeface="Arial"/>
              <a:cs typeface="Arial"/>
            </a:endParaRPr>
          </a:p>
          <a:p>
            <a:pPr algn="just" marL="283845" marR="5080" indent="-229235">
              <a:lnSpc>
                <a:spcPct val="95800"/>
              </a:lnSpc>
              <a:buAutoNum type="arabicPeriod"/>
              <a:tabLst>
                <a:tab pos="284480" algn="l"/>
              </a:tabLst>
            </a:pPr>
            <a:r>
              <a:rPr dirty="0" sz="1200" spc="-5">
                <a:latin typeface="Arial"/>
                <a:cs typeface="Arial"/>
              </a:rPr>
              <a:t>Ahmad Khan decided </a:t>
            </a:r>
            <a:r>
              <a:rPr dirty="0" sz="1200">
                <a:latin typeface="Arial"/>
                <a:cs typeface="Arial"/>
              </a:rPr>
              <a:t>to </a:t>
            </a:r>
            <a:r>
              <a:rPr dirty="0" sz="1200" spc="-10">
                <a:latin typeface="Arial"/>
                <a:cs typeface="Arial"/>
              </a:rPr>
              <a:t>write </a:t>
            </a:r>
            <a:r>
              <a:rPr dirty="0" sz="1200" spc="-5">
                <a:latin typeface="Arial"/>
                <a:cs typeface="Arial"/>
              </a:rPr>
              <a:t>a </a:t>
            </a:r>
            <a:r>
              <a:rPr dirty="0" sz="1200" i="1">
                <a:latin typeface="Arial"/>
                <a:cs typeface="Arial"/>
              </a:rPr>
              <a:t>tafsir </a:t>
            </a:r>
            <a:r>
              <a:rPr dirty="0" sz="1200" spc="-5">
                <a:latin typeface="Arial"/>
                <a:cs typeface="Arial"/>
              </a:rPr>
              <a:t>and </a:t>
            </a:r>
            <a:r>
              <a:rPr dirty="0" sz="1200" spc="-10">
                <a:latin typeface="Arial"/>
                <a:cs typeface="Arial"/>
              </a:rPr>
              <a:t>he </a:t>
            </a:r>
            <a:r>
              <a:rPr dirty="0" sz="1200" spc="-5">
                <a:latin typeface="Arial"/>
                <a:cs typeface="Arial"/>
              </a:rPr>
              <a:t>said: </a:t>
            </a:r>
            <a:r>
              <a:rPr dirty="0" sz="1200">
                <a:latin typeface="Arial"/>
                <a:cs typeface="Arial"/>
              </a:rPr>
              <a:t>When I </a:t>
            </a:r>
            <a:r>
              <a:rPr dirty="0" sz="1200" spc="-5">
                <a:latin typeface="Arial"/>
                <a:cs typeface="Arial"/>
              </a:rPr>
              <a:t>tried to educate Muslims </a:t>
            </a:r>
            <a:r>
              <a:rPr dirty="0" sz="1200" spc="-10">
                <a:latin typeface="Arial"/>
                <a:cs typeface="Arial"/>
              </a:rPr>
              <a:t>in  </a:t>
            </a:r>
            <a:r>
              <a:rPr dirty="0" sz="1200" spc="-5">
                <a:latin typeface="Arial"/>
                <a:cs typeface="Arial"/>
              </a:rPr>
              <a:t>modern sciences and English, </a:t>
            </a:r>
            <a:r>
              <a:rPr dirty="0" sz="1200">
                <a:latin typeface="Arial"/>
                <a:cs typeface="Arial"/>
              </a:rPr>
              <a:t>I </a:t>
            </a:r>
            <a:r>
              <a:rPr dirty="0" sz="1200" spc="-5">
                <a:latin typeface="Arial"/>
                <a:cs typeface="Arial"/>
              </a:rPr>
              <a:t>wondered whether these </a:t>
            </a:r>
            <a:r>
              <a:rPr dirty="0" sz="1200">
                <a:latin typeface="Arial"/>
                <a:cs typeface="Arial"/>
              </a:rPr>
              <a:t>are, </a:t>
            </a:r>
            <a:r>
              <a:rPr dirty="0" sz="1200" spc="-10">
                <a:latin typeface="Arial"/>
                <a:cs typeface="Arial"/>
              </a:rPr>
              <a:t>in </a:t>
            </a:r>
            <a:r>
              <a:rPr dirty="0" sz="1200">
                <a:latin typeface="Arial"/>
                <a:cs typeface="Arial"/>
              </a:rPr>
              <a:t>fact, </a:t>
            </a:r>
            <a:r>
              <a:rPr dirty="0" sz="1200" spc="-5">
                <a:latin typeface="Arial"/>
                <a:cs typeface="Arial"/>
              </a:rPr>
              <a:t>against Islam as </a:t>
            </a:r>
            <a:r>
              <a:rPr dirty="0" sz="1200" spc="-10">
                <a:latin typeface="Arial"/>
                <a:cs typeface="Arial"/>
              </a:rPr>
              <a:t>it  </a:t>
            </a:r>
            <a:r>
              <a:rPr dirty="0" sz="1200" spc="-5">
                <a:latin typeface="Arial"/>
                <a:cs typeface="Arial"/>
              </a:rPr>
              <a:t>is often claimed. </a:t>
            </a:r>
            <a:r>
              <a:rPr dirty="0" sz="1200">
                <a:latin typeface="Arial"/>
                <a:cs typeface="Arial"/>
              </a:rPr>
              <a:t>I </a:t>
            </a:r>
            <a:r>
              <a:rPr dirty="0" sz="1200" spc="-5">
                <a:latin typeface="Arial"/>
                <a:cs typeface="Arial"/>
              </a:rPr>
              <a:t>studied </a:t>
            </a:r>
            <a:r>
              <a:rPr dirty="0" sz="1200" spc="-5" i="1">
                <a:latin typeface="Arial"/>
                <a:cs typeface="Arial"/>
              </a:rPr>
              <a:t>tafsir</a:t>
            </a:r>
            <a:r>
              <a:rPr dirty="0" sz="1200" spc="-5">
                <a:latin typeface="Arial"/>
                <a:cs typeface="Arial"/>
              </a:rPr>
              <a:t>, according </a:t>
            </a:r>
            <a:r>
              <a:rPr dirty="0" sz="1200">
                <a:latin typeface="Arial"/>
                <a:cs typeface="Arial"/>
              </a:rPr>
              <a:t>to my </a:t>
            </a:r>
            <a:r>
              <a:rPr dirty="0" sz="1200" spc="-5">
                <a:latin typeface="Arial"/>
                <a:cs typeface="Arial"/>
              </a:rPr>
              <a:t>abilities, and except </a:t>
            </a:r>
            <a:r>
              <a:rPr dirty="0" sz="1200">
                <a:latin typeface="Arial"/>
                <a:cs typeface="Arial"/>
              </a:rPr>
              <a:t>for </a:t>
            </a:r>
            <a:r>
              <a:rPr dirty="0" sz="1200" spc="-5">
                <a:latin typeface="Arial"/>
                <a:cs typeface="Arial"/>
              </a:rPr>
              <a:t>the literary  </a:t>
            </a:r>
            <a:r>
              <a:rPr dirty="0" sz="1200">
                <a:latin typeface="Arial"/>
                <a:cs typeface="Arial"/>
              </a:rPr>
              <a:t>matters, </a:t>
            </a:r>
            <a:r>
              <a:rPr dirty="0" sz="1200" spc="-5">
                <a:latin typeface="Arial"/>
                <a:cs typeface="Arial"/>
              </a:rPr>
              <a:t>found in them nothing but rubbish and worthless </a:t>
            </a:r>
            <a:r>
              <a:rPr dirty="0" sz="1200">
                <a:latin typeface="Arial"/>
                <a:cs typeface="Arial"/>
              </a:rPr>
              <a:t>(</a:t>
            </a:r>
            <a:r>
              <a:rPr dirty="0" sz="1200" i="1">
                <a:latin typeface="Arial"/>
                <a:cs typeface="Arial"/>
              </a:rPr>
              <a:t>fadûl</a:t>
            </a:r>
            <a:r>
              <a:rPr dirty="0" sz="1200">
                <a:latin typeface="Arial"/>
                <a:cs typeface="Arial"/>
              </a:rPr>
              <a:t>) discussions, mostly  </a:t>
            </a:r>
            <a:r>
              <a:rPr dirty="0" sz="1200" spc="-5">
                <a:latin typeface="Arial"/>
                <a:cs typeface="Arial"/>
              </a:rPr>
              <a:t>based on baseless </a:t>
            </a:r>
            <a:r>
              <a:rPr dirty="0" sz="1200" spc="-10">
                <a:latin typeface="Arial"/>
                <a:cs typeface="Arial"/>
              </a:rPr>
              <a:t>and </a:t>
            </a:r>
            <a:r>
              <a:rPr dirty="0" sz="1200" spc="-5">
                <a:latin typeface="Arial"/>
                <a:cs typeface="Arial"/>
              </a:rPr>
              <a:t>unauthentic traditions and fables </a:t>
            </a:r>
            <a:r>
              <a:rPr dirty="0" sz="1200">
                <a:latin typeface="Arial"/>
                <a:cs typeface="Arial"/>
              </a:rPr>
              <a:t>(</a:t>
            </a:r>
            <a:r>
              <a:rPr dirty="0" sz="1200" i="1">
                <a:latin typeface="Arial"/>
                <a:cs typeface="Arial"/>
              </a:rPr>
              <a:t>mamlu </a:t>
            </a:r>
            <a:r>
              <a:rPr dirty="0" sz="1200" spc="-5" i="1">
                <a:latin typeface="Arial"/>
                <a:cs typeface="Arial"/>
              </a:rPr>
              <a:t>barrawâyât </a:t>
            </a:r>
            <a:r>
              <a:rPr dirty="0" sz="1200" i="1">
                <a:latin typeface="Arial"/>
                <a:cs typeface="Arial"/>
              </a:rPr>
              <a:t>da</a:t>
            </a:r>
            <a:r>
              <a:rPr dirty="0" sz="1200">
                <a:latin typeface="Arial"/>
                <a:cs typeface="Arial"/>
              </a:rPr>
              <a:t>c</a:t>
            </a:r>
            <a:r>
              <a:rPr dirty="0" sz="1200" i="1">
                <a:latin typeface="Arial"/>
                <a:cs typeface="Arial"/>
              </a:rPr>
              <a:t>îf </a:t>
            </a:r>
            <a:r>
              <a:rPr dirty="0" sz="1200" spc="-5" i="1">
                <a:latin typeface="Arial"/>
                <a:cs typeface="Arial"/>
              </a:rPr>
              <a:t>wa  </a:t>
            </a:r>
            <a:r>
              <a:rPr dirty="0" sz="1200" spc="-5" i="1">
                <a:latin typeface="Arial"/>
                <a:cs typeface="Arial"/>
              </a:rPr>
              <a:t>modû</a:t>
            </a:r>
            <a:r>
              <a:rPr dirty="0" sz="1200" spc="-5">
                <a:latin typeface="Arial"/>
                <a:cs typeface="Arial"/>
              </a:rPr>
              <a:t>c </a:t>
            </a:r>
            <a:r>
              <a:rPr dirty="0" sz="1200" spc="-5" i="1">
                <a:latin typeface="Arial"/>
                <a:cs typeface="Arial"/>
              </a:rPr>
              <a:t>aur qasas bey </a:t>
            </a:r>
            <a:r>
              <a:rPr dirty="0" sz="1200" i="1">
                <a:latin typeface="Arial"/>
                <a:cs typeface="Arial"/>
              </a:rPr>
              <a:t>saropa</a:t>
            </a:r>
            <a:r>
              <a:rPr dirty="0" sz="1200">
                <a:latin typeface="Arial"/>
                <a:cs typeface="Arial"/>
              </a:rPr>
              <a:t>) </a:t>
            </a:r>
            <a:r>
              <a:rPr dirty="0" sz="1200" spc="-5">
                <a:latin typeface="Arial"/>
                <a:cs typeface="Arial"/>
              </a:rPr>
              <a:t>which were </a:t>
            </a:r>
            <a:r>
              <a:rPr dirty="0" sz="1200">
                <a:latin typeface="Arial"/>
                <a:cs typeface="Arial"/>
              </a:rPr>
              <a:t>often </a:t>
            </a:r>
            <a:r>
              <a:rPr dirty="0" sz="1200" spc="-5">
                <a:latin typeface="Arial"/>
                <a:cs typeface="Arial"/>
              </a:rPr>
              <a:t>taken from the Jewish </a:t>
            </a:r>
            <a:r>
              <a:rPr dirty="0" sz="1200">
                <a:latin typeface="Arial"/>
                <a:cs typeface="Arial"/>
              </a:rPr>
              <a:t>sources. Then I  </a:t>
            </a:r>
            <a:r>
              <a:rPr dirty="0" sz="1200" spc="-5">
                <a:latin typeface="Arial"/>
                <a:cs typeface="Arial"/>
              </a:rPr>
              <a:t>studied books of the principles of </a:t>
            </a:r>
            <a:r>
              <a:rPr dirty="0" sz="1200" spc="-5" i="1">
                <a:latin typeface="Arial"/>
                <a:cs typeface="Arial"/>
              </a:rPr>
              <a:t>tafsir </a:t>
            </a:r>
            <a:r>
              <a:rPr dirty="0" sz="1200" spc="-5">
                <a:latin typeface="Arial"/>
                <a:cs typeface="Arial"/>
              </a:rPr>
              <a:t>according </a:t>
            </a:r>
            <a:r>
              <a:rPr dirty="0" sz="1200">
                <a:latin typeface="Arial"/>
                <a:cs typeface="Arial"/>
              </a:rPr>
              <a:t>to my </a:t>
            </a:r>
            <a:r>
              <a:rPr dirty="0" sz="1200" spc="-5">
                <a:latin typeface="Arial"/>
                <a:cs typeface="Arial"/>
              </a:rPr>
              <a:t>ability </a:t>
            </a:r>
            <a:r>
              <a:rPr dirty="0" sz="1200">
                <a:latin typeface="Arial"/>
                <a:cs typeface="Arial"/>
              </a:rPr>
              <a:t>with </a:t>
            </a:r>
            <a:r>
              <a:rPr dirty="0" sz="1200" spc="-5">
                <a:latin typeface="Arial"/>
                <a:cs typeface="Arial"/>
              </a:rPr>
              <a:t>the </a:t>
            </a:r>
            <a:r>
              <a:rPr dirty="0" sz="1200">
                <a:latin typeface="Arial"/>
                <a:cs typeface="Arial"/>
              </a:rPr>
              <a:t>hope </a:t>
            </a:r>
            <a:r>
              <a:rPr dirty="0" sz="1200" spc="-5">
                <a:latin typeface="Arial"/>
                <a:cs typeface="Arial"/>
              </a:rPr>
              <a:t>that they  would definitely </a:t>
            </a:r>
            <a:r>
              <a:rPr dirty="0" sz="1200">
                <a:latin typeface="Arial"/>
                <a:cs typeface="Arial"/>
              </a:rPr>
              <a:t>provide clues to the </a:t>
            </a:r>
            <a:r>
              <a:rPr dirty="0" sz="1200" spc="-5">
                <a:latin typeface="Arial"/>
                <a:cs typeface="Arial"/>
              </a:rPr>
              <a:t>principles </a:t>
            </a:r>
            <a:r>
              <a:rPr dirty="0" sz="1200">
                <a:latin typeface="Arial"/>
                <a:cs typeface="Arial"/>
              </a:rPr>
              <a:t>of </a:t>
            </a:r>
            <a:r>
              <a:rPr dirty="0" sz="1200" spc="-5">
                <a:latin typeface="Arial"/>
                <a:cs typeface="Arial"/>
              </a:rPr>
              <a:t>the Qur‘ânic interpretation based </a:t>
            </a:r>
            <a:r>
              <a:rPr dirty="0" sz="1200">
                <a:latin typeface="Arial"/>
                <a:cs typeface="Arial"/>
              </a:rPr>
              <a:t>on </a:t>
            </a:r>
            <a:r>
              <a:rPr dirty="0" sz="1200" spc="-10">
                <a:latin typeface="Arial"/>
                <a:cs typeface="Arial"/>
              </a:rPr>
              <a:t>the  </a:t>
            </a:r>
            <a:r>
              <a:rPr dirty="0" sz="1200" spc="-5">
                <a:latin typeface="Arial"/>
                <a:cs typeface="Arial"/>
              </a:rPr>
              <a:t>Qur‘ân </a:t>
            </a:r>
            <a:r>
              <a:rPr dirty="0" sz="1200" spc="-10">
                <a:latin typeface="Arial"/>
                <a:cs typeface="Arial"/>
              </a:rPr>
              <a:t>itself </a:t>
            </a:r>
            <a:r>
              <a:rPr dirty="0" sz="1200">
                <a:latin typeface="Arial"/>
                <a:cs typeface="Arial"/>
              </a:rPr>
              <a:t>or </a:t>
            </a:r>
            <a:r>
              <a:rPr dirty="0" sz="1200" spc="-5">
                <a:latin typeface="Arial"/>
                <a:cs typeface="Arial"/>
              </a:rPr>
              <a:t>which would </a:t>
            </a:r>
            <a:r>
              <a:rPr dirty="0" sz="1200">
                <a:latin typeface="Arial"/>
                <a:cs typeface="Arial"/>
              </a:rPr>
              <a:t>be </a:t>
            </a:r>
            <a:r>
              <a:rPr dirty="0" sz="1200" spc="-5">
                <a:latin typeface="Arial"/>
                <a:cs typeface="Arial"/>
              </a:rPr>
              <a:t>otherwise </a:t>
            </a:r>
            <a:r>
              <a:rPr dirty="0" sz="1200">
                <a:latin typeface="Arial"/>
                <a:cs typeface="Arial"/>
              </a:rPr>
              <a:t>so </a:t>
            </a:r>
            <a:r>
              <a:rPr dirty="0" sz="1200" spc="-5">
                <a:latin typeface="Arial"/>
                <a:cs typeface="Arial"/>
              </a:rPr>
              <a:t>sound that no one could object </a:t>
            </a:r>
            <a:r>
              <a:rPr dirty="0" sz="1200">
                <a:latin typeface="Arial"/>
                <a:cs typeface="Arial"/>
              </a:rPr>
              <a:t>to </a:t>
            </a:r>
            <a:r>
              <a:rPr dirty="0" sz="1200" spc="-5">
                <a:latin typeface="Arial"/>
                <a:cs typeface="Arial"/>
              </a:rPr>
              <a:t>them </a:t>
            </a:r>
            <a:r>
              <a:rPr dirty="0" sz="1200" spc="-10">
                <a:latin typeface="Arial"/>
                <a:cs typeface="Arial"/>
              </a:rPr>
              <a:t>but  </a:t>
            </a:r>
            <a:r>
              <a:rPr dirty="0" sz="1200" spc="-5">
                <a:latin typeface="Arial"/>
                <a:cs typeface="Arial"/>
              </a:rPr>
              <a:t>in them </a:t>
            </a:r>
            <a:r>
              <a:rPr dirty="0" sz="1200">
                <a:latin typeface="Arial"/>
                <a:cs typeface="Arial"/>
              </a:rPr>
              <a:t>I found </a:t>
            </a:r>
            <a:r>
              <a:rPr dirty="0" sz="1200" spc="-5">
                <a:latin typeface="Arial"/>
                <a:cs typeface="Arial"/>
              </a:rPr>
              <a:t>nothing </a:t>
            </a:r>
            <a:r>
              <a:rPr dirty="0" sz="1200">
                <a:latin typeface="Arial"/>
                <a:cs typeface="Arial"/>
              </a:rPr>
              <a:t>but </a:t>
            </a:r>
            <a:r>
              <a:rPr dirty="0" sz="1200" spc="-5">
                <a:latin typeface="Arial"/>
                <a:cs typeface="Arial"/>
              </a:rPr>
              <a:t>statements that the Qur‘ân contains knowledge </a:t>
            </a:r>
            <a:r>
              <a:rPr dirty="0" sz="1200">
                <a:latin typeface="Arial"/>
                <a:cs typeface="Arial"/>
              </a:rPr>
              <a:t>of </a:t>
            </a:r>
            <a:r>
              <a:rPr dirty="0" sz="1200" spc="-5">
                <a:latin typeface="Arial"/>
                <a:cs typeface="Arial"/>
              </a:rPr>
              <a:t>such </a:t>
            </a:r>
            <a:r>
              <a:rPr dirty="0" sz="1200" spc="-10">
                <a:latin typeface="Arial"/>
                <a:cs typeface="Arial"/>
              </a:rPr>
              <a:t>and  </a:t>
            </a:r>
            <a:r>
              <a:rPr dirty="0" sz="1200">
                <a:latin typeface="Arial"/>
                <a:cs typeface="Arial"/>
              </a:rPr>
              <a:t>such </a:t>
            </a:r>
            <a:r>
              <a:rPr dirty="0" sz="1200" spc="-5">
                <a:latin typeface="Arial"/>
                <a:cs typeface="Arial"/>
              </a:rPr>
              <a:t>nature… Then </a:t>
            </a:r>
            <a:r>
              <a:rPr dirty="0" sz="1200">
                <a:latin typeface="Arial"/>
                <a:cs typeface="Arial"/>
              </a:rPr>
              <a:t>I </a:t>
            </a:r>
            <a:r>
              <a:rPr dirty="0" sz="1200" spc="-5">
                <a:latin typeface="Arial"/>
                <a:cs typeface="Arial"/>
              </a:rPr>
              <a:t>pondered over </a:t>
            </a:r>
            <a:r>
              <a:rPr dirty="0" sz="1200">
                <a:latin typeface="Arial"/>
                <a:cs typeface="Arial"/>
              </a:rPr>
              <a:t>the </a:t>
            </a:r>
            <a:r>
              <a:rPr dirty="0" sz="1200" spc="-5">
                <a:latin typeface="Arial"/>
                <a:cs typeface="Arial"/>
              </a:rPr>
              <a:t>Qur‘ân itself </a:t>
            </a:r>
            <a:r>
              <a:rPr dirty="0" sz="1200">
                <a:latin typeface="Arial"/>
                <a:cs typeface="Arial"/>
              </a:rPr>
              <a:t>to </a:t>
            </a:r>
            <a:r>
              <a:rPr dirty="0" sz="1200" spc="-5">
                <a:latin typeface="Arial"/>
                <a:cs typeface="Arial"/>
              </a:rPr>
              <a:t>understand the foundational  principles of </a:t>
            </a:r>
            <a:r>
              <a:rPr dirty="0" sz="1200">
                <a:latin typeface="Arial"/>
                <a:cs typeface="Arial"/>
              </a:rPr>
              <a:t>its </a:t>
            </a:r>
            <a:r>
              <a:rPr dirty="0" sz="1200" spc="-5">
                <a:latin typeface="Arial"/>
                <a:cs typeface="Arial"/>
              </a:rPr>
              <a:t>composition and as </a:t>
            </a:r>
            <a:r>
              <a:rPr dirty="0" sz="1200" spc="5">
                <a:latin typeface="Arial"/>
                <a:cs typeface="Arial"/>
              </a:rPr>
              <a:t>far </a:t>
            </a:r>
            <a:r>
              <a:rPr dirty="0" sz="1200" spc="-5">
                <a:latin typeface="Arial"/>
                <a:cs typeface="Arial"/>
              </a:rPr>
              <a:t>as </a:t>
            </a:r>
            <a:r>
              <a:rPr dirty="0" sz="1200">
                <a:latin typeface="Arial"/>
                <a:cs typeface="Arial"/>
              </a:rPr>
              <a:t>I </a:t>
            </a:r>
            <a:r>
              <a:rPr dirty="0" sz="1200" spc="-5">
                <a:latin typeface="Arial"/>
                <a:cs typeface="Arial"/>
              </a:rPr>
              <a:t>could grasp, </a:t>
            </a:r>
            <a:r>
              <a:rPr dirty="0" sz="1200">
                <a:latin typeface="Arial"/>
                <a:cs typeface="Arial"/>
              </a:rPr>
              <a:t>I </a:t>
            </a:r>
            <a:r>
              <a:rPr dirty="0" sz="1200" spc="-5">
                <a:latin typeface="Arial"/>
                <a:cs typeface="Arial"/>
              </a:rPr>
              <a:t>found no contradiction between  </a:t>
            </a:r>
            <a:r>
              <a:rPr dirty="0" sz="1200">
                <a:latin typeface="Arial"/>
                <a:cs typeface="Arial"/>
              </a:rPr>
              <a:t>these </a:t>
            </a:r>
            <a:r>
              <a:rPr dirty="0" sz="1200" spc="-5">
                <a:latin typeface="Arial"/>
                <a:cs typeface="Arial"/>
              </a:rPr>
              <a:t>principles and the modern knowledge… then </a:t>
            </a:r>
            <a:r>
              <a:rPr dirty="0" sz="1200">
                <a:latin typeface="Arial"/>
                <a:cs typeface="Arial"/>
              </a:rPr>
              <a:t>I </a:t>
            </a:r>
            <a:r>
              <a:rPr dirty="0" sz="1200" spc="-5">
                <a:latin typeface="Arial"/>
                <a:cs typeface="Arial"/>
              </a:rPr>
              <a:t>decided </a:t>
            </a:r>
            <a:r>
              <a:rPr dirty="0" sz="1200">
                <a:latin typeface="Arial"/>
                <a:cs typeface="Arial"/>
              </a:rPr>
              <a:t>to </a:t>
            </a:r>
            <a:r>
              <a:rPr dirty="0" sz="1200" spc="-10">
                <a:latin typeface="Arial"/>
                <a:cs typeface="Arial"/>
              </a:rPr>
              <a:t>write </a:t>
            </a:r>
            <a:r>
              <a:rPr dirty="0" sz="1200" spc="-5">
                <a:latin typeface="Arial"/>
                <a:cs typeface="Arial"/>
              </a:rPr>
              <a:t>a </a:t>
            </a:r>
            <a:r>
              <a:rPr dirty="0" sz="1200" i="1">
                <a:latin typeface="Arial"/>
                <a:cs typeface="Arial"/>
              </a:rPr>
              <a:t>tafsir </a:t>
            </a:r>
            <a:r>
              <a:rPr dirty="0" sz="1200" spc="-5">
                <a:latin typeface="Arial"/>
                <a:cs typeface="Arial"/>
              </a:rPr>
              <a:t>of the  Qur‘ân which is </a:t>
            </a:r>
            <a:r>
              <a:rPr dirty="0" sz="1200">
                <a:latin typeface="Arial"/>
                <a:cs typeface="Arial"/>
              </a:rPr>
              <a:t>now </a:t>
            </a:r>
            <a:r>
              <a:rPr dirty="0" sz="1200" spc="-5">
                <a:latin typeface="Arial"/>
                <a:cs typeface="Arial"/>
              </a:rPr>
              <a:t>complete </a:t>
            </a:r>
            <a:r>
              <a:rPr dirty="0" sz="1200">
                <a:latin typeface="Arial"/>
                <a:cs typeface="Arial"/>
              </a:rPr>
              <a:t>up to </a:t>
            </a:r>
            <a:r>
              <a:rPr dirty="0" sz="1200" spc="-5" i="1">
                <a:latin typeface="Arial"/>
                <a:cs typeface="Arial"/>
              </a:rPr>
              <a:t>Suratul</a:t>
            </a:r>
            <a:r>
              <a:rPr dirty="0" sz="1200" spc="-15" i="1">
                <a:latin typeface="Arial"/>
                <a:cs typeface="Arial"/>
              </a:rPr>
              <a:t> </a:t>
            </a:r>
            <a:r>
              <a:rPr dirty="0" sz="1200" spc="-20" i="1">
                <a:latin typeface="Arial"/>
                <a:cs typeface="Arial"/>
              </a:rPr>
              <a:t>Nahl</a:t>
            </a:r>
            <a:r>
              <a:rPr dirty="0" sz="1200" spc="-20">
                <a:latin typeface="Arial"/>
                <a:cs typeface="Arial"/>
              </a:rPr>
              <a:t>.‖</a:t>
            </a:r>
            <a:endParaRPr sz="1200">
              <a:latin typeface="Arial"/>
              <a:cs typeface="Arial"/>
            </a:endParaRPr>
          </a:p>
          <a:p>
            <a:pPr>
              <a:lnSpc>
                <a:spcPct val="100000"/>
              </a:lnSpc>
              <a:spcBef>
                <a:spcPts val="5"/>
              </a:spcBef>
              <a:buFont typeface="Arial"/>
              <a:buAutoNum type="arabicPeriod"/>
            </a:pPr>
            <a:endParaRPr sz="1200">
              <a:latin typeface="Arial"/>
              <a:cs typeface="Arial"/>
            </a:endParaRPr>
          </a:p>
          <a:p>
            <a:pPr algn="just" marL="283845" marR="5715" indent="-229235">
              <a:lnSpc>
                <a:spcPct val="95900"/>
              </a:lnSpc>
              <a:buAutoNum type="arabicPeriod"/>
              <a:tabLst>
                <a:tab pos="284480" algn="l"/>
              </a:tabLst>
            </a:pPr>
            <a:r>
              <a:rPr dirty="0" sz="1200" spc="-5">
                <a:latin typeface="Arial"/>
                <a:cs typeface="Arial"/>
              </a:rPr>
              <a:t>Ahmad Khan denied all miracles. In the Ninth Principle of his </a:t>
            </a:r>
            <a:r>
              <a:rPr dirty="0" sz="1200" spc="-5" i="1">
                <a:latin typeface="Arial"/>
                <a:cs typeface="Arial"/>
              </a:rPr>
              <a:t>tafsir</a:t>
            </a:r>
            <a:r>
              <a:rPr dirty="0" sz="1200" spc="-5">
                <a:latin typeface="Arial"/>
                <a:cs typeface="Arial"/>
              </a:rPr>
              <a:t>, he stated: </a:t>
            </a:r>
            <a:r>
              <a:rPr dirty="0" sz="1200" spc="-140">
                <a:latin typeface="Arial"/>
                <a:cs typeface="Arial"/>
              </a:rPr>
              <a:t>―there  </a:t>
            </a:r>
            <a:r>
              <a:rPr dirty="0" sz="1200" spc="-5">
                <a:latin typeface="Arial"/>
                <a:cs typeface="Arial"/>
              </a:rPr>
              <a:t>could be nothing in the Qur‘ân that is against </a:t>
            </a:r>
            <a:r>
              <a:rPr dirty="0" sz="1200">
                <a:latin typeface="Arial"/>
                <a:cs typeface="Arial"/>
              </a:rPr>
              <a:t>the </a:t>
            </a:r>
            <a:r>
              <a:rPr dirty="0" sz="1200" spc="-5">
                <a:latin typeface="Arial"/>
                <a:cs typeface="Arial"/>
              </a:rPr>
              <a:t>principles </a:t>
            </a:r>
            <a:r>
              <a:rPr dirty="0" sz="1200">
                <a:latin typeface="Arial"/>
                <a:cs typeface="Arial"/>
              </a:rPr>
              <a:t>on </a:t>
            </a:r>
            <a:r>
              <a:rPr dirty="0" sz="1200" spc="-10">
                <a:latin typeface="Arial"/>
                <a:cs typeface="Arial"/>
              </a:rPr>
              <a:t>which </a:t>
            </a:r>
            <a:r>
              <a:rPr dirty="0" sz="1200" spc="-5">
                <a:latin typeface="Arial"/>
                <a:cs typeface="Arial"/>
              </a:rPr>
              <a:t>nature works… </a:t>
            </a:r>
            <a:r>
              <a:rPr dirty="0" sz="1200">
                <a:latin typeface="Arial"/>
                <a:cs typeface="Arial"/>
              </a:rPr>
              <a:t>as  far </a:t>
            </a:r>
            <a:r>
              <a:rPr dirty="0" sz="1200" spc="-5">
                <a:latin typeface="Arial"/>
                <a:cs typeface="Arial"/>
              </a:rPr>
              <a:t>as </a:t>
            </a:r>
            <a:r>
              <a:rPr dirty="0" sz="1200">
                <a:latin typeface="Arial"/>
                <a:cs typeface="Arial"/>
              </a:rPr>
              <a:t>the </a:t>
            </a:r>
            <a:r>
              <a:rPr dirty="0" sz="1200" spc="-5">
                <a:latin typeface="Arial"/>
                <a:cs typeface="Arial"/>
              </a:rPr>
              <a:t>supernatural is concerned, </a:t>
            </a:r>
            <a:r>
              <a:rPr dirty="0" sz="1200">
                <a:latin typeface="Arial"/>
                <a:cs typeface="Arial"/>
              </a:rPr>
              <a:t>I </a:t>
            </a:r>
            <a:r>
              <a:rPr dirty="0" sz="1200" spc="-5">
                <a:latin typeface="Arial"/>
                <a:cs typeface="Arial"/>
              </a:rPr>
              <a:t>state </a:t>
            </a:r>
            <a:r>
              <a:rPr dirty="0" sz="1200" spc="-10">
                <a:latin typeface="Arial"/>
                <a:cs typeface="Arial"/>
              </a:rPr>
              <a:t>it </a:t>
            </a:r>
            <a:r>
              <a:rPr dirty="0" sz="1200" spc="-5">
                <a:latin typeface="Arial"/>
                <a:cs typeface="Arial"/>
              </a:rPr>
              <a:t>clearly </a:t>
            </a:r>
            <a:r>
              <a:rPr dirty="0" sz="1200">
                <a:latin typeface="Arial"/>
                <a:cs typeface="Arial"/>
              </a:rPr>
              <a:t>that </a:t>
            </a:r>
            <a:r>
              <a:rPr dirty="0" sz="1200" spc="-5">
                <a:latin typeface="Arial"/>
                <a:cs typeface="Arial"/>
              </a:rPr>
              <a:t>they are impossible, just like </a:t>
            </a:r>
            <a:r>
              <a:rPr dirty="0" sz="1200" spc="-10">
                <a:latin typeface="Arial"/>
                <a:cs typeface="Arial"/>
              </a:rPr>
              <a:t>it  </a:t>
            </a:r>
            <a:r>
              <a:rPr dirty="0" sz="1200" spc="-5">
                <a:latin typeface="Arial"/>
                <a:cs typeface="Arial"/>
              </a:rPr>
              <a:t>is impossible </a:t>
            </a:r>
            <a:r>
              <a:rPr dirty="0" sz="1200">
                <a:latin typeface="Arial"/>
                <a:cs typeface="Arial"/>
              </a:rPr>
              <a:t>for </a:t>
            </a:r>
            <a:r>
              <a:rPr dirty="0" sz="1200" spc="-5">
                <a:latin typeface="Arial"/>
                <a:cs typeface="Arial"/>
              </a:rPr>
              <a:t>the </a:t>
            </a:r>
            <a:r>
              <a:rPr dirty="0" sz="1200">
                <a:latin typeface="Arial"/>
                <a:cs typeface="Arial"/>
              </a:rPr>
              <a:t>Word </a:t>
            </a:r>
            <a:r>
              <a:rPr dirty="0" sz="1200" spc="-5">
                <a:latin typeface="Arial"/>
                <a:cs typeface="Arial"/>
              </a:rPr>
              <a:t>of God </a:t>
            </a:r>
            <a:r>
              <a:rPr dirty="0" sz="1200">
                <a:latin typeface="Arial"/>
                <a:cs typeface="Arial"/>
              </a:rPr>
              <a:t>to be </a:t>
            </a:r>
            <a:r>
              <a:rPr dirty="0" sz="1200" spc="-5">
                <a:latin typeface="Arial"/>
                <a:cs typeface="Arial"/>
              </a:rPr>
              <a:t>false… </a:t>
            </a:r>
            <a:r>
              <a:rPr dirty="0" sz="1200">
                <a:latin typeface="Arial"/>
                <a:cs typeface="Arial"/>
              </a:rPr>
              <a:t>I know that </a:t>
            </a:r>
            <a:r>
              <a:rPr dirty="0" sz="1200" spc="-5">
                <a:latin typeface="Arial"/>
                <a:cs typeface="Arial"/>
              </a:rPr>
              <a:t>some of </a:t>
            </a:r>
            <a:r>
              <a:rPr dirty="0" sz="1200">
                <a:latin typeface="Arial"/>
                <a:cs typeface="Arial"/>
              </a:rPr>
              <a:t>my </a:t>
            </a:r>
            <a:r>
              <a:rPr dirty="0" sz="1200" spc="-5">
                <a:latin typeface="Arial"/>
                <a:cs typeface="Arial"/>
              </a:rPr>
              <a:t>brothers would  </a:t>
            </a:r>
            <a:r>
              <a:rPr dirty="0" sz="1200">
                <a:latin typeface="Arial"/>
                <a:cs typeface="Arial"/>
              </a:rPr>
              <a:t>be </a:t>
            </a:r>
            <a:r>
              <a:rPr dirty="0" sz="1200" spc="-5">
                <a:latin typeface="Arial"/>
                <a:cs typeface="Arial"/>
              </a:rPr>
              <a:t>angry </a:t>
            </a:r>
            <a:r>
              <a:rPr dirty="0" sz="1200">
                <a:latin typeface="Arial"/>
                <a:cs typeface="Arial"/>
              </a:rPr>
              <a:t>to [read </a:t>
            </a:r>
            <a:r>
              <a:rPr dirty="0" sz="1200" spc="-5">
                <a:latin typeface="Arial"/>
                <a:cs typeface="Arial"/>
              </a:rPr>
              <a:t>this] </a:t>
            </a:r>
            <a:r>
              <a:rPr dirty="0" sz="1200">
                <a:latin typeface="Arial"/>
                <a:cs typeface="Arial"/>
              </a:rPr>
              <a:t>and </a:t>
            </a:r>
            <a:r>
              <a:rPr dirty="0" sz="1200" spc="-5">
                <a:latin typeface="Arial"/>
                <a:cs typeface="Arial"/>
              </a:rPr>
              <a:t>they would present verses </a:t>
            </a:r>
            <a:r>
              <a:rPr dirty="0" sz="1200">
                <a:latin typeface="Arial"/>
                <a:cs typeface="Arial"/>
              </a:rPr>
              <a:t>of the </a:t>
            </a:r>
            <a:r>
              <a:rPr dirty="0" sz="1200" spc="-5">
                <a:latin typeface="Arial"/>
                <a:cs typeface="Arial"/>
              </a:rPr>
              <a:t>Qur‘ân that </a:t>
            </a:r>
            <a:r>
              <a:rPr dirty="0" sz="1200" spc="5">
                <a:latin typeface="Arial"/>
                <a:cs typeface="Arial"/>
              </a:rPr>
              <a:t>mention </a:t>
            </a:r>
            <a:r>
              <a:rPr dirty="0" sz="1200" spc="-5">
                <a:latin typeface="Arial"/>
                <a:cs typeface="Arial"/>
              </a:rPr>
              <a:t>miracles  and supernatural events but </a:t>
            </a:r>
            <a:r>
              <a:rPr dirty="0" sz="1200" spc="-10">
                <a:latin typeface="Arial"/>
                <a:cs typeface="Arial"/>
              </a:rPr>
              <a:t>we </a:t>
            </a:r>
            <a:r>
              <a:rPr dirty="0" sz="1200" spc="-5">
                <a:latin typeface="Arial"/>
                <a:cs typeface="Arial"/>
              </a:rPr>
              <a:t>will </a:t>
            </a:r>
            <a:r>
              <a:rPr dirty="0" sz="1200">
                <a:latin typeface="Arial"/>
                <a:cs typeface="Arial"/>
              </a:rPr>
              <a:t>listen to </a:t>
            </a:r>
            <a:r>
              <a:rPr dirty="0" sz="1200" spc="-5">
                <a:latin typeface="Arial"/>
                <a:cs typeface="Arial"/>
              </a:rPr>
              <a:t>them without annoyance and </a:t>
            </a:r>
            <a:r>
              <a:rPr dirty="0" sz="1200">
                <a:latin typeface="Arial"/>
                <a:cs typeface="Arial"/>
              </a:rPr>
              <a:t>ask: </a:t>
            </a:r>
            <a:r>
              <a:rPr dirty="0" sz="1200" spc="-10">
                <a:latin typeface="Arial"/>
                <a:cs typeface="Arial"/>
              </a:rPr>
              <a:t>could  </a:t>
            </a:r>
            <a:r>
              <a:rPr dirty="0" sz="1200">
                <a:latin typeface="Arial"/>
                <a:cs typeface="Arial"/>
              </a:rPr>
              <a:t>there </a:t>
            </a:r>
            <a:r>
              <a:rPr dirty="0" sz="1200" spc="-5">
                <a:latin typeface="Arial"/>
                <a:cs typeface="Arial"/>
              </a:rPr>
              <a:t>could not be another meaning of these verses </a:t>
            </a:r>
            <a:r>
              <a:rPr dirty="0" sz="1200">
                <a:latin typeface="Arial"/>
                <a:cs typeface="Arial"/>
              </a:rPr>
              <a:t>that </a:t>
            </a:r>
            <a:r>
              <a:rPr dirty="0" sz="1200" spc="-5">
                <a:latin typeface="Arial"/>
                <a:cs typeface="Arial"/>
              </a:rPr>
              <a:t>is consonant with Arabic idiom  </a:t>
            </a:r>
            <a:r>
              <a:rPr dirty="0" sz="1200">
                <a:latin typeface="Arial"/>
                <a:cs typeface="Arial"/>
              </a:rPr>
              <a:t>and the </a:t>
            </a:r>
            <a:r>
              <a:rPr dirty="0" sz="1200" spc="-5">
                <a:latin typeface="Arial"/>
                <a:cs typeface="Arial"/>
              </a:rPr>
              <a:t>Qur‘ânic usage? </a:t>
            </a:r>
            <a:r>
              <a:rPr dirty="0" sz="1200">
                <a:latin typeface="Arial"/>
                <a:cs typeface="Arial"/>
              </a:rPr>
              <a:t>And </a:t>
            </a:r>
            <a:r>
              <a:rPr dirty="0" sz="1200" spc="-10">
                <a:latin typeface="Arial"/>
                <a:cs typeface="Arial"/>
              </a:rPr>
              <a:t>if </a:t>
            </a:r>
            <a:r>
              <a:rPr dirty="0" sz="1200" spc="-5">
                <a:latin typeface="Arial"/>
                <a:cs typeface="Arial"/>
              </a:rPr>
              <a:t>they could prove </a:t>
            </a:r>
            <a:r>
              <a:rPr dirty="0" sz="1200">
                <a:latin typeface="Arial"/>
                <a:cs typeface="Arial"/>
              </a:rPr>
              <a:t>that </a:t>
            </a:r>
            <a:r>
              <a:rPr dirty="0" sz="1200" spc="-5">
                <a:latin typeface="Arial"/>
                <a:cs typeface="Arial"/>
              </a:rPr>
              <a:t>it is not possible, </a:t>
            </a:r>
            <a:r>
              <a:rPr dirty="0" sz="1200" spc="5">
                <a:latin typeface="Arial"/>
                <a:cs typeface="Arial"/>
              </a:rPr>
              <a:t>then </a:t>
            </a:r>
            <a:r>
              <a:rPr dirty="0" sz="1200" spc="-10">
                <a:latin typeface="Arial"/>
                <a:cs typeface="Arial"/>
              </a:rPr>
              <a:t>we </a:t>
            </a:r>
            <a:r>
              <a:rPr dirty="0" sz="1200" spc="-5">
                <a:latin typeface="Arial"/>
                <a:cs typeface="Arial"/>
              </a:rPr>
              <a:t>will  </a:t>
            </a:r>
            <a:r>
              <a:rPr dirty="0" sz="1200">
                <a:latin typeface="Arial"/>
                <a:cs typeface="Arial"/>
              </a:rPr>
              <a:t>accept </a:t>
            </a:r>
            <a:r>
              <a:rPr dirty="0" sz="1200" spc="-5">
                <a:latin typeface="Arial"/>
                <a:cs typeface="Arial"/>
              </a:rPr>
              <a:t>that </a:t>
            </a:r>
            <a:r>
              <a:rPr dirty="0" sz="1200">
                <a:latin typeface="Arial"/>
                <a:cs typeface="Arial"/>
              </a:rPr>
              <a:t>our </a:t>
            </a:r>
            <a:r>
              <a:rPr dirty="0" sz="1200" spc="-5">
                <a:latin typeface="Arial"/>
                <a:cs typeface="Arial"/>
              </a:rPr>
              <a:t>principle is wrong… </a:t>
            </a:r>
            <a:r>
              <a:rPr dirty="0" sz="1200">
                <a:latin typeface="Arial"/>
                <a:cs typeface="Arial"/>
              </a:rPr>
              <a:t>but until </a:t>
            </a:r>
            <a:r>
              <a:rPr dirty="0" sz="1200" spc="-5">
                <a:latin typeface="Arial"/>
                <a:cs typeface="Arial"/>
              </a:rPr>
              <a:t>they </a:t>
            </a:r>
            <a:r>
              <a:rPr dirty="0" sz="1200">
                <a:latin typeface="Arial"/>
                <a:cs typeface="Arial"/>
              </a:rPr>
              <a:t>do so, </a:t>
            </a:r>
            <a:r>
              <a:rPr dirty="0" sz="1200" spc="-10">
                <a:latin typeface="Arial"/>
                <a:cs typeface="Arial"/>
              </a:rPr>
              <a:t>we </a:t>
            </a:r>
            <a:r>
              <a:rPr dirty="0" sz="1200" spc="-5">
                <a:latin typeface="Arial"/>
                <a:cs typeface="Arial"/>
              </a:rPr>
              <a:t>will insist </a:t>
            </a:r>
            <a:r>
              <a:rPr dirty="0" sz="1200">
                <a:latin typeface="Arial"/>
                <a:cs typeface="Arial"/>
              </a:rPr>
              <a:t>that God </a:t>
            </a:r>
            <a:r>
              <a:rPr dirty="0" sz="1200" spc="-5">
                <a:latin typeface="Arial"/>
                <a:cs typeface="Arial"/>
              </a:rPr>
              <a:t>does </a:t>
            </a:r>
            <a:r>
              <a:rPr dirty="0" sz="1200" spc="-10">
                <a:latin typeface="Arial"/>
                <a:cs typeface="Arial"/>
              </a:rPr>
              <a:t>not  </a:t>
            </a:r>
            <a:r>
              <a:rPr dirty="0" sz="1200">
                <a:latin typeface="Arial"/>
                <a:cs typeface="Arial"/>
              </a:rPr>
              <a:t>do </a:t>
            </a:r>
            <a:r>
              <a:rPr dirty="0" sz="1200" spc="-5">
                <a:latin typeface="Arial"/>
                <a:cs typeface="Arial"/>
              </a:rPr>
              <a:t>anything </a:t>
            </a:r>
            <a:r>
              <a:rPr dirty="0" sz="1200">
                <a:latin typeface="Arial"/>
                <a:cs typeface="Arial"/>
              </a:rPr>
              <a:t>that </a:t>
            </a:r>
            <a:r>
              <a:rPr dirty="0" sz="1200" spc="-5">
                <a:latin typeface="Arial"/>
                <a:cs typeface="Arial"/>
              </a:rPr>
              <a:t>is against the principles of nature that He </a:t>
            </a:r>
            <a:r>
              <a:rPr dirty="0" sz="1200">
                <a:latin typeface="Arial"/>
                <a:cs typeface="Arial"/>
              </a:rPr>
              <a:t>has </a:t>
            </a:r>
            <a:r>
              <a:rPr dirty="0" sz="1200" spc="-5">
                <a:latin typeface="Arial"/>
                <a:cs typeface="Arial"/>
              </a:rPr>
              <a:t>Himself</a:t>
            </a:r>
            <a:r>
              <a:rPr dirty="0" sz="1200" spc="15">
                <a:latin typeface="Arial"/>
                <a:cs typeface="Arial"/>
              </a:rPr>
              <a:t> </a:t>
            </a:r>
            <a:r>
              <a:rPr dirty="0" sz="1200" spc="-10">
                <a:latin typeface="Arial"/>
                <a:cs typeface="Arial"/>
              </a:rPr>
              <a:t>established.‖</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165</a:t>
            </a:r>
            <a:endParaRPr sz="1200">
              <a:latin typeface="Times New Roman"/>
              <a:cs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311900" cy="8796020"/>
          </a:xfrm>
          <a:prstGeom prst="rect">
            <a:avLst/>
          </a:prstGeom>
        </p:spPr>
        <p:txBody>
          <a:bodyPr wrap="square" lIns="0" tIns="12700" rIns="0" bIns="0" rtlCol="0" vert="horz">
            <a:spAutoFit/>
          </a:bodyPr>
          <a:lstStyle/>
          <a:p>
            <a:pPr marL="469900" indent="-229235">
              <a:lnSpc>
                <a:spcPct val="100000"/>
              </a:lnSpc>
              <a:spcBef>
                <a:spcPts val="100"/>
              </a:spcBef>
              <a:buAutoNum type="arabicPeriod" startAt="5"/>
              <a:tabLst>
                <a:tab pos="470534" algn="l"/>
              </a:tabLst>
            </a:pPr>
            <a:r>
              <a:rPr dirty="0" u="heavy" sz="1200" spc="-5" b="1" i="1">
                <a:uFill>
                  <a:solidFill>
                    <a:srgbClr val="000000"/>
                  </a:solidFill>
                </a:uFill>
                <a:latin typeface="Arial"/>
                <a:cs typeface="Arial"/>
              </a:rPr>
              <a:t>Muhammad </a:t>
            </a:r>
            <a:r>
              <a:rPr dirty="0" u="heavy" sz="1200" b="1" i="1">
                <a:uFill>
                  <a:solidFill>
                    <a:srgbClr val="000000"/>
                  </a:solidFill>
                </a:uFill>
                <a:latin typeface="Arial"/>
                <a:cs typeface="Arial"/>
              </a:rPr>
              <a:t>Iqbal</a:t>
            </a:r>
            <a:endParaRPr sz="1200">
              <a:latin typeface="Arial"/>
              <a:cs typeface="Arial"/>
            </a:endParaRPr>
          </a:p>
          <a:p>
            <a:pPr>
              <a:lnSpc>
                <a:spcPct val="100000"/>
              </a:lnSpc>
              <a:spcBef>
                <a:spcPts val="35"/>
              </a:spcBef>
              <a:buFont typeface="Arial"/>
              <a:buAutoNum type="arabicPeriod" startAt="5"/>
            </a:pPr>
            <a:endParaRPr sz="1200">
              <a:latin typeface="Arial"/>
              <a:cs typeface="Arial"/>
            </a:endParaRPr>
          </a:p>
          <a:p>
            <a:pPr algn="just" marL="12700" marR="5080">
              <a:lnSpc>
                <a:spcPts val="1380"/>
              </a:lnSpc>
            </a:pPr>
            <a:r>
              <a:rPr dirty="0" sz="1200" spc="-5">
                <a:latin typeface="Arial"/>
                <a:cs typeface="Arial"/>
              </a:rPr>
              <a:t>Muhammad Iqbal </a:t>
            </a:r>
            <a:r>
              <a:rPr dirty="0" sz="1200" spc="-10">
                <a:latin typeface="Arial"/>
                <a:cs typeface="Arial"/>
              </a:rPr>
              <a:t>was </a:t>
            </a:r>
            <a:r>
              <a:rPr dirty="0" sz="1200">
                <a:latin typeface="Arial"/>
                <a:cs typeface="Arial"/>
              </a:rPr>
              <a:t>born </a:t>
            </a:r>
            <a:r>
              <a:rPr dirty="0" sz="1200" spc="-5">
                <a:latin typeface="Arial"/>
                <a:cs typeface="Arial"/>
              </a:rPr>
              <a:t>in </a:t>
            </a:r>
            <a:r>
              <a:rPr dirty="0" sz="1200">
                <a:latin typeface="Arial"/>
                <a:cs typeface="Arial"/>
              </a:rPr>
              <a:t>Sialkot, Punjab </a:t>
            </a:r>
            <a:r>
              <a:rPr dirty="0" sz="1200" spc="-5">
                <a:latin typeface="Arial"/>
                <a:cs typeface="Arial"/>
              </a:rPr>
              <a:t>(now Pakistan) (1877 </a:t>
            </a:r>
            <a:r>
              <a:rPr dirty="0" sz="1200">
                <a:latin typeface="Arial"/>
                <a:cs typeface="Arial"/>
              </a:rPr>
              <a:t>- </a:t>
            </a:r>
            <a:r>
              <a:rPr dirty="0" sz="1200" spc="-5">
                <a:latin typeface="Arial"/>
                <a:cs typeface="Arial"/>
              </a:rPr>
              <a:t>1937). He was  proficient in Arabic and Persian </a:t>
            </a:r>
            <a:r>
              <a:rPr dirty="0" sz="1200">
                <a:latin typeface="Arial"/>
                <a:cs typeface="Arial"/>
              </a:rPr>
              <a:t>languages. </a:t>
            </a:r>
            <a:r>
              <a:rPr dirty="0" sz="1200" spc="-5">
                <a:latin typeface="Arial"/>
                <a:cs typeface="Arial"/>
              </a:rPr>
              <a:t>He </a:t>
            </a:r>
            <a:r>
              <a:rPr dirty="0" sz="1200">
                <a:latin typeface="Arial"/>
                <a:cs typeface="Arial"/>
              </a:rPr>
              <a:t>graduated </a:t>
            </a:r>
            <a:r>
              <a:rPr dirty="0" sz="1200" spc="-5">
                <a:latin typeface="Arial"/>
                <a:cs typeface="Arial"/>
              </a:rPr>
              <a:t>in philosophy, college teacher in  Lahore. He moved </a:t>
            </a:r>
            <a:r>
              <a:rPr dirty="0" sz="1200">
                <a:latin typeface="Arial"/>
                <a:cs typeface="Arial"/>
              </a:rPr>
              <a:t>to </a:t>
            </a:r>
            <a:r>
              <a:rPr dirty="0" sz="1200" spc="-5">
                <a:latin typeface="Arial"/>
                <a:cs typeface="Arial"/>
              </a:rPr>
              <a:t>Cambridge </a:t>
            </a:r>
            <a:r>
              <a:rPr dirty="0" sz="1200">
                <a:latin typeface="Arial"/>
                <a:cs typeface="Arial"/>
              </a:rPr>
              <a:t>for </a:t>
            </a:r>
            <a:r>
              <a:rPr dirty="0" sz="1200" spc="-5">
                <a:latin typeface="Arial"/>
                <a:cs typeface="Arial"/>
              </a:rPr>
              <a:t>higher studies and PhD </a:t>
            </a:r>
            <a:r>
              <a:rPr dirty="0" sz="1200">
                <a:latin typeface="Arial"/>
                <a:cs typeface="Arial"/>
              </a:rPr>
              <a:t>at </a:t>
            </a:r>
            <a:r>
              <a:rPr dirty="0" sz="1200" spc="-5">
                <a:latin typeface="Arial"/>
                <a:cs typeface="Arial"/>
              </a:rPr>
              <a:t>Munich. He </a:t>
            </a:r>
            <a:r>
              <a:rPr dirty="0" sz="1200" spc="-10">
                <a:latin typeface="Arial"/>
                <a:cs typeface="Arial"/>
              </a:rPr>
              <a:t>was </a:t>
            </a:r>
            <a:r>
              <a:rPr dirty="0" sz="1200" spc="-5">
                <a:latin typeface="Arial"/>
                <a:cs typeface="Arial"/>
              </a:rPr>
              <a:t>a </a:t>
            </a:r>
            <a:r>
              <a:rPr dirty="0" sz="1200">
                <a:latin typeface="Arial"/>
                <a:cs typeface="Arial"/>
              </a:rPr>
              <a:t>Barrister at  </a:t>
            </a:r>
            <a:r>
              <a:rPr dirty="0" sz="1200" spc="-5">
                <a:latin typeface="Arial"/>
                <a:cs typeface="Arial"/>
              </a:rPr>
              <a:t>law in 1908 and returned </a:t>
            </a:r>
            <a:r>
              <a:rPr dirty="0" sz="1200">
                <a:latin typeface="Arial"/>
                <a:cs typeface="Arial"/>
              </a:rPr>
              <a:t>to Lahore. A </a:t>
            </a:r>
            <a:r>
              <a:rPr dirty="0" sz="1200" spc="-5">
                <a:latin typeface="Arial"/>
                <a:cs typeface="Arial"/>
              </a:rPr>
              <a:t>collection of his six </a:t>
            </a:r>
            <a:r>
              <a:rPr dirty="0" sz="1200">
                <a:latin typeface="Arial"/>
                <a:cs typeface="Arial"/>
              </a:rPr>
              <a:t>(later </a:t>
            </a:r>
            <a:r>
              <a:rPr dirty="0" sz="1200" spc="-5">
                <a:latin typeface="Arial"/>
                <a:cs typeface="Arial"/>
              </a:rPr>
              <a:t>seven) addresses </a:t>
            </a:r>
            <a:r>
              <a:rPr dirty="0" sz="1200" spc="-10">
                <a:latin typeface="Arial"/>
                <a:cs typeface="Arial"/>
              </a:rPr>
              <a:t>was </a:t>
            </a:r>
            <a:r>
              <a:rPr dirty="0" sz="1200">
                <a:latin typeface="Arial"/>
                <a:cs typeface="Arial"/>
              </a:rPr>
              <a:t>first  </a:t>
            </a:r>
            <a:r>
              <a:rPr dirty="0" sz="1200" spc="-5">
                <a:latin typeface="Arial"/>
                <a:cs typeface="Arial"/>
              </a:rPr>
              <a:t>published in 1930 titled Reconstruction of Religious Thought in </a:t>
            </a:r>
            <a:r>
              <a:rPr dirty="0" sz="1200" spc="5">
                <a:latin typeface="Arial"/>
                <a:cs typeface="Arial"/>
              </a:rPr>
              <a:t>Islam. </a:t>
            </a:r>
            <a:r>
              <a:rPr dirty="0" sz="1200" spc="-5">
                <a:latin typeface="Arial"/>
                <a:cs typeface="Arial"/>
              </a:rPr>
              <a:t>He said in this country  </a:t>
            </a:r>
            <a:r>
              <a:rPr dirty="0" sz="1200">
                <a:latin typeface="Arial"/>
                <a:cs typeface="Arial"/>
              </a:rPr>
              <a:t>Islam </a:t>
            </a:r>
            <a:r>
              <a:rPr dirty="0" sz="1200" spc="-5">
                <a:latin typeface="Arial"/>
                <a:cs typeface="Arial"/>
              </a:rPr>
              <a:t>would have an opportunity </a:t>
            </a:r>
            <a:r>
              <a:rPr dirty="0" sz="1200">
                <a:latin typeface="Arial"/>
                <a:cs typeface="Arial"/>
              </a:rPr>
              <a:t>to </a:t>
            </a:r>
            <a:r>
              <a:rPr dirty="0" sz="1200" spc="-50">
                <a:latin typeface="Arial"/>
                <a:cs typeface="Arial"/>
              </a:rPr>
              <a:t>‗mobilize </a:t>
            </a:r>
            <a:r>
              <a:rPr dirty="0" sz="1200" spc="-5">
                <a:latin typeface="Arial"/>
                <a:cs typeface="Arial"/>
              </a:rPr>
              <a:t>its </a:t>
            </a:r>
            <a:r>
              <a:rPr dirty="0" sz="1200" spc="-10">
                <a:latin typeface="Arial"/>
                <a:cs typeface="Arial"/>
              </a:rPr>
              <a:t>law, </a:t>
            </a:r>
            <a:r>
              <a:rPr dirty="0" sz="1200" spc="-5">
                <a:latin typeface="Arial"/>
                <a:cs typeface="Arial"/>
              </a:rPr>
              <a:t>its education, its culture, and </a:t>
            </a:r>
            <a:r>
              <a:rPr dirty="0" sz="1200">
                <a:latin typeface="Arial"/>
                <a:cs typeface="Arial"/>
              </a:rPr>
              <a:t>to </a:t>
            </a:r>
            <a:r>
              <a:rPr dirty="0" sz="1200" spc="-5">
                <a:latin typeface="Arial"/>
                <a:cs typeface="Arial"/>
              </a:rPr>
              <a:t>being  them into </a:t>
            </a:r>
            <a:r>
              <a:rPr dirty="0" sz="1200">
                <a:latin typeface="Arial"/>
                <a:cs typeface="Arial"/>
              </a:rPr>
              <a:t>closer </a:t>
            </a:r>
            <a:r>
              <a:rPr dirty="0" sz="1200" spc="-5">
                <a:latin typeface="Arial"/>
                <a:cs typeface="Arial"/>
              </a:rPr>
              <a:t>contact with </a:t>
            </a:r>
            <a:r>
              <a:rPr dirty="0" sz="1200">
                <a:latin typeface="Arial"/>
                <a:cs typeface="Arial"/>
              </a:rPr>
              <a:t>its </a:t>
            </a:r>
            <a:r>
              <a:rPr dirty="0" sz="1200" spc="-10">
                <a:latin typeface="Arial"/>
                <a:cs typeface="Arial"/>
              </a:rPr>
              <a:t>own </a:t>
            </a:r>
            <a:r>
              <a:rPr dirty="0" sz="1200" spc="-5">
                <a:latin typeface="Arial"/>
                <a:cs typeface="Arial"/>
              </a:rPr>
              <a:t>original spirit </a:t>
            </a:r>
            <a:r>
              <a:rPr dirty="0" sz="1200">
                <a:latin typeface="Arial"/>
                <a:cs typeface="Arial"/>
              </a:rPr>
              <a:t>and </a:t>
            </a:r>
            <a:r>
              <a:rPr dirty="0" sz="1200" spc="-5">
                <a:latin typeface="Arial"/>
                <a:cs typeface="Arial"/>
              </a:rPr>
              <a:t>with the spirit of modern</a:t>
            </a:r>
            <a:r>
              <a:rPr dirty="0" sz="1200" spc="95">
                <a:latin typeface="Arial"/>
                <a:cs typeface="Arial"/>
              </a:rPr>
              <a:t> </a:t>
            </a:r>
            <a:r>
              <a:rPr dirty="0" sz="1200">
                <a:latin typeface="Arial"/>
                <a:cs typeface="Arial"/>
              </a:rPr>
              <a:t>times.</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Concepts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Muhammad</a:t>
            </a:r>
            <a:r>
              <a:rPr dirty="0" u="heavy" sz="1200" b="1" i="1">
                <a:uFill>
                  <a:solidFill>
                    <a:srgbClr val="000000"/>
                  </a:solidFill>
                </a:uFill>
                <a:latin typeface="Arial"/>
                <a:cs typeface="Arial"/>
              </a:rPr>
              <a:t> Iqbal</a:t>
            </a:r>
            <a:endParaRPr sz="1200">
              <a:latin typeface="Arial"/>
              <a:cs typeface="Arial"/>
            </a:endParaRPr>
          </a:p>
          <a:p>
            <a:pPr>
              <a:lnSpc>
                <a:spcPct val="100000"/>
              </a:lnSpc>
              <a:spcBef>
                <a:spcPts val="55"/>
              </a:spcBef>
            </a:pPr>
            <a:endParaRPr sz="1100">
              <a:latin typeface="Arial"/>
              <a:cs typeface="Arial"/>
            </a:endParaRPr>
          </a:p>
          <a:p>
            <a:pPr algn="just" lvl="1" marL="698500" indent="-229235">
              <a:lnSpc>
                <a:spcPts val="1410"/>
              </a:lnSpc>
              <a:buAutoNum type="arabicPeriod"/>
              <a:tabLst>
                <a:tab pos="699135" algn="l"/>
              </a:tabLst>
            </a:pPr>
            <a:r>
              <a:rPr dirty="0" sz="1200">
                <a:latin typeface="Arial"/>
                <a:cs typeface="Arial"/>
              </a:rPr>
              <a:t>man‘s </a:t>
            </a:r>
            <a:r>
              <a:rPr dirty="0" sz="1200" spc="-5">
                <a:latin typeface="Arial"/>
                <a:cs typeface="Arial"/>
              </a:rPr>
              <a:t>achieving full</a:t>
            </a:r>
            <a:r>
              <a:rPr dirty="0" sz="1200" spc="-25">
                <a:latin typeface="Arial"/>
                <a:cs typeface="Arial"/>
              </a:rPr>
              <a:t> </a:t>
            </a:r>
            <a:r>
              <a:rPr dirty="0" sz="1200" spc="-5">
                <a:latin typeface="Arial"/>
                <a:cs typeface="Arial"/>
              </a:rPr>
              <a:t>self-consciousness</a:t>
            </a:r>
            <a:endParaRPr sz="1200">
              <a:latin typeface="Arial"/>
              <a:cs typeface="Arial"/>
            </a:endParaRPr>
          </a:p>
          <a:p>
            <a:pPr algn="just" lvl="1" marL="698500" marR="12065" indent="-228600">
              <a:lnSpc>
                <a:spcPts val="1380"/>
              </a:lnSpc>
              <a:spcBef>
                <a:spcPts val="65"/>
              </a:spcBef>
              <a:buAutoNum type="arabicPeriod"/>
              <a:tabLst>
                <a:tab pos="699135" algn="l"/>
              </a:tabLst>
            </a:pPr>
            <a:r>
              <a:rPr dirty="0" sz="1200" spc="-5">
                <a:latin typeface="Arial"/>
                <a:cs typeface="Arial"/>
              </a:rPr>
              <a:t>Iqbal assumes this idea of the finality </a:t>
            </a:r>
            <a:r>
              <a:rPr dirty="0" sz="1200">
                <a:latin typeface="Arial"/>
                <a:cs typeface="Arial"/>
              </a:rPr>
              <a:t>of </a:t>
            </a:r>
            <a:r>
              <a:rPr dirty="0" sz="1200" spc="-5">
                <a:latin typeface="Arial"/>
                <a:cs typeface="Arial"/>
              </a:rPr>
              <a:t>prophethood to </a:t>
            </a:r>
            <a:r>
              <a:rPr dirty="0" sz="1200">
                <a:latin typeface="Arial"/>
                <a:cs typeface="Arial"/>
              </a:rPr>
              <a:t>be </a:t>
            </a:r>
            <a:r>
              <a:rPr dirty="0" sz="1200" spc="-210">
                <a:latin typeface="Arial"/>
                <a:cs typeface="Arial"/>
              </a:rPr>
              <a:t>‗a </a:t>
            </a:r>
            <a:r>
              <a:rPr dirty="0" sz="1200" spc="-5">
                <a:latin typeface="Arial"/>
                <a:cs typeface="Arial"/>
              </a:rPr>
              <a:t>psychological </a:t>
            </a:r>
            <a:r>
              <a:rPr dirty="0" sz="1200">
                <a:latin typeface="Arial"/>
                <a:cs typeface="Arial"/>
              </a:rPr>
              <a:t>cure  for </a:t>
            </a:r>
            <a:r>
              <a:rPr dirty="0" sz="1200" spc="-5">
                <a:latin typeface="Arial"/>
                <a:cs typeface="Arial"/>
              </a:rPr>
              <a:t>the Magian attitude of constant</a:t>
            </a:r>
            <a:r>
              <a:rPr dirty="0" sz="1200" spc="15">
                <a:latin typeface="Arial"/>
                <a:cs typeface="Arial"/>
              </a:rPr>
              <a:t> </a:t>
            </a:r>
            <a:r>
              <a:rPr dirty="0" sz="1200" spc="-5">
                <a:latin typeface="Arial"/>
                <a:cs typeface="Arial"/>
              </a:rPr>
              <a:t>expectation.</a:t>
            </a:r>
            <a:endParaRPr sz="1200">
              <a:latin typeface="Arial"/>
              <a:cs typeface="Arial"/>
            </a:endParaRPr>
          </a:p>
          <a:p>
            <a:pPr algn="just" lvl="1" marL="698500" marR="10795" indent="-228600">
              <a:lnSpc>
                <a:spcPts val="1380"/>
              </a:lnSpc>
              <a:spcBef>
                <a:spcPts val="5"/>
              </a:spcBef>
              <a:buAutoNum type="arabicPeriod"/>
              <a:tabLst>
                <a:tab pos="699135" algn="l"/>
              </a:tabLst>
            </a:pPr>
            <a:r>
              <a:rPr dirty="0" sz="1200" spc="-5">
                <a:latin typeface="Arial"/>
                <a:cs typeface="Arial"/>
              </a:rPr>
              <a:t>all personal authority </a:t>
            </a:r>
            <a:r>
              <a:rPr dirty="0" sz="1200">
                <a:latin typeface="Arial"/>
                <a:cs typeface="Arial"/>
              </a:rPr>
              <a:t>claiming </a:t>
            </a:r>
            <a:r>
              <a:rPr dirty="0" sz="1200" spc="-5">
                <a:latin typeface="Arial"/>
                <a:cs typeface="Arial"/>
              </a:rPr>
              <a:t>a supernatural origin came to an end in this history  of </a:t>
            </a:r>
            <a:r>
              <a:rPr dirty="0" sz="1200">
                <a:latin typeface="Arial"/>
                <a:cs typeface="Arial"/>
              </a:rPr>
              <a:t>man.</a:t>
            </a:r>
            <a:endParaRPr sz="1200">
              <a:latin typeface="Arial"/>
              <a:cs typeface="Arial"/>
            </a:endParaRPr>
          </a:p>
          <a:p>
            <a:pPr algn="just" lvl="1" marL="698500" marR="5715" indent="-228600">
              <a:lnSpc>
                <a:spcPts val="1380"/>
              </a:lnSpc>
              <a:buAutoNum type="arabicPeriod"/>
              <a:tabLst>
                <a:tab pos="699135" algn="l"/>
              </a:tabLst>
            </a:pPr>
            <a:r>
              <a:rPr dirty="0" sz="1200">
                <a:latin typeface="Arial"/>
                <a:cs typeface="Arial"/>
              </a:rPr>
              <a:t>the </a:t>
            </a:r>
            <a:r>
              <a:rPr dirty="0" sz="1200" spc="-5">
                <a:latin typeface="Arial"/>
                <a:cs typeface="Arial"/>
              </a:rPr>
              <a:t>constant appeal </a:t>
            </a:r>
            <a:r>
              <a:rPr dirty="0" sz="1200">
                <a:latin typeface="Arial"/>
                <a:cs typeface="Arial"/>
              </a:rPr>
              <a:t>to reason </a:t>
            </a:r>
            <a:r>
              <a:rPr dirty="0" sz="1200" spc="-5">
                <a:latin typeface="Arial"/>
                <a:cs typeface="Arial"/>
              </a:rPr>
              <a:t>and experience in </a:t>
            </a:r>
            <a:r>
              <a:rPr dirty="0" sz="1200">
                <a:latin typeface="Arial"/>
                <a:cs typeface="Arial"/>
              </a:rPr>
              <a:t>the </a:t>
            </a:r>
            <a:r>
              <a:rPr dirty="0" sz="1200" spc="-5">
                <a:latin typeface="Arial"/>
                <a:cs typeface="Arial"/>
              </a:rPr>
              <a:t>Qur‘an and the emphasis that  </a:t>
            </a:r>
            <a:r>
              <a:rPr dirty="0" sz="1200">
                <a:latin typeface="Arial"/>
                <a:cs typeface="Arial"/>
              </a:rPr>
              <a:t>it </a:t>
            </a:r>
            <a:r>
              <a:rPr dirty="0" sz="1200" spc="-5">
                <a:latin typeface="Arial"/>
                <a:cs typeface="Arial"/>
              </a:rPr>
              <a:t>lays on nature and history as sources of human knowledges </a:t>
            </a:r>
            <a:r>
              <a:rPr dirty="0" sz="1200">
                <a:latin typeface="Arial"/>
                <a:cs typeface="Arial"/>
              </a:rPr>
              <a:t>are… </a:t>
            </a:r>
            <a:r>
              <a:rPr dirty="0" sz="1200" spc="-5">
                <a:latin typeface="Arial"/>
                <a:cs typeface="Arial"/>
              </a:rPr>
              <a:t>different  </a:t>
            </a:r>
            <a:r>
              <a:rPr dirty="0" sz="1200">
                <a:latin typeface="Arial"/>
                <a:cs typeface="Arial"/>
              </a:rPr>
              <a:t>aspects </a:t>
            </a:r>
            <a:r>
              <a:rPr dirty="0" sz="1200" spc="-5">
                <a:latin typeface="Arial"/>
                <a:cs typeface="Arial"/>
              </a:rPr>
              <a:t>of </a:t>
            </a:r>
            <a:r>
              <a:rPr dirty="0" sz="1200">
                <a:latin typeface="Arial"/>
                <a:cs typeface="Arial"/>
              </a:rPr>
              <a:t>the </a:t>
            </a:r>
            <a:r>
              <a:rPr dirty="0" sz="1200" spc="-5">
                <a:latin typeface="Arial"/>
                <a:cs typeface="Arial"/>
              </a:rPr>
              <a:t>same idea of</a:t>
            </a:r>
            <a:r>
              <a:rPr dirty="0" sz="1200" spc="-20">
                <a:latin typeface="Arial"/>
                <a:cs typeface="Arial"/>
              </a:rPr>
              <a:t> </a:t>
            </a:r>
            <a:r>
              <a:rPr dirty="0" sz="1200" spc="-5">
                <a:latin typeface="Arial"/>
                <a:cs typeface="Arial"/>
              </a:rPr>
              <a:t>finality</a:t>
            </a:r>
            <a:endParaRPr sz="1200">
              <a:latin typeface="Arial"/>
              <a:cs typeface="Arial"/>
            </a:endParaRPr>
          </a:p>
          <a:p>
            <a:pPr algn="just" lvl="1" marL="698500" indent="-229235">
              <a:lnSpc>
                <a:spcPts val="1315"/>
              </a:lnSpc>
              <a:buAutoNum type="arabicPeriod"/>
              <a:tabLst>
                <a:tab pos="699135" algn="l"/>
              </a:tabLst>
            </a:pPr>
            <a:r>
              <a:rPr dirty="0" sz="1200" spc="-5">
                <a:latin typeface="Arial"/>
                <a:cs typeface="Arial"/>
              </a:rPr>
              <a:t>birth of Islam is the birth of </a:t>
            </a:r>
            <a:r>
              <a:rPr dirty="0" sz="1200" spc="-10">
                <a:latin typeface="Arial"/>
                <a:cs typeface="Arial"/>
              </a:rPr>
              <a:t>inductive</a:t>
            </a:r>
            <a:r>
              <a:rPr dirty="0" sz="1200" spc="60">
                <a:latin typeface="Arial"/>
                <a:cs typeface="Arial"/>
              </a:rPr>
              <a:t> </a:t>
            </a:r>
            <a:r>
              <a:rPr dirty="0" sz="1200" spc="-5">
                <a:latin typeface="Arial"/>
                <a:cs typeface="Arial"/>
              </a:rPr>
              <a:t>intellect</a:t>
            </a:r>
            <a:endParaRPr sz="1200">
              <a:latin typeface="Arial"/>
              <a:cs typeface="Arial"/>
            </a:endParaRPr>
          </a:p>
          <a:p>
            <a:pPr algn="just" lvl="1" marL="698500" indent="-229235">
              <a:lnSpc>
                <a:spcPts val="1380"/>
              </a:lnSpc>
              <a:buAutoNum type="arabicPeriod"/>
              <a:tabLst>
                <a:tab pos="699135" algn="l"/>
              </a:tabLst>
            </a:pPr>
            <a:r>
              <a:rPr dirty="0" sz="1200" spc="-5">
                <a:latin typeface="Arial"/>
                <a:cs typeface="Arial"/>
              </a:rPr>
              <a:t>Albeit Qur‘an and sunnah </a:t>
            </a:r>
            <a:r>
              <a:rPr dirty="0" sz="1200" spc="-10">
                <a:latin typeface="Arial"/>
                <a:cs typeface="Arial"/>
              </a:rPr>
              <a:t>we </a:t>
            </a:r>
            <a:r>
              <a:rPr dirty="0" sz="1200" spc="-5">
                <a:latin typeface="Arial"/>
                <a:cs typeface="Arial"/>
              </a:rPr>
              <a:t>must use</a:t>
            </a:r>
            <a:r>
              <a:rPr dirty="0" sz="1200" spc="25">
                <a:latin typeface="Arial"/>
                <a:cs typeface="Arial"/>
              </a:rPr>
              <a:t> </a:t>
            </a:r>
            <a:r>
              <a:rPr dirty="0" sz="1200" spc="-5">
                <a:latin typeface="Arial"/>
                <a:cs typeface="Arial"/>
              </a:rPr>
              <a:t>reasoning</a:t>
            </a:r>
            <a:endParaRPr sz="1200">
              <a:latin typeface="Arial"/>
              <a:cs typeface="Arial"/>
            </a:endParaRPr>
          </a:p>
          <a:p>
            <a:pPr algn="just" lvl="1" marL="698500" indent="-229235">
              <a:lnSpc>
                <a:spcPts val="1380"/>
              </a:lnSpc>
              <a:buAutoNum type="arabicPeriod"/>
              <a:tabLst>
                <a:tab pos="699135" algn="l"/>
              </a:tabLst>
            </a:pPr>
            <a:r>
              <a:rPr dirty="0" sz="1200">
                <a:latin typeface="Arial"/>
                <a:cs typeface="Arial"/>
              </a:rPr>
              <a:t>Accept </a:t>
            </a:r>
            <a:r>
              <a:rPr dirty="0" sz="1200" spc="-5">
                <a:latin typeface="Arial"/>
                <a:cs typeface="Arial"/>
              </a:rPr>
              <a:t>modern knowledge </a:t>
            </a:r>
            <a:r>
              <a:rPr dirty="0" sz="1200">
                <a:latin typeface="Arial"/>
                <a:cs typeface="Arial"/>
              </a:rPr>
              <a:t>but </a:t>
            </a:r>
            <a:r>
              <a:rPr dirty="0" sz="1200" spc="-5">
                <a:latin typeface="Arial"/>
                <a:cs typeface="Arial"/>
              </a:rPr>
              <a:t>with</a:t>
            </a:r>
            <a:r>
              <a:rPr dirty="0" sz="1200" spc="-30">
                <a:latin typeface="Arial"/>
                <a:cs typeface="Arial"/>
              </a:rPr>
              <a:t> </a:t>
            </a:r>
            <a:r>
              <a:rPr dirty="0" sz="1200">
                <a:latin typeface="Arial"/>
                <a:cs typeface="Arial"/>
              </a:rPr>
              <a:t>cautious</a:t>
            </a:r>
            <a:endParaRPr sz="1200">
              <a:latin typeface="Arial"/>
              <a:cs typeface="Arial"/>
            </a:endParaRPr>
          </a:p>
          <a:p>
            <a:pPr algn="just" lvl="1" marL="698500" indent="-229235">
              <a:lnSpc>
                <a:spcPts val="1380"/>
              </a:lnSpc>
              <a:buAutoNum type="arabicPeriod"/>
              <a:tabLst>
                <a:tab pos="699135" algn="l"/>
              </a:tabLst>
            </a:pPr>
            <a:r>
              <a:rPr dirty="0" sz="1200" spc="-5">
                <a:latin typeface="Arial"/>
                <a:cs typeface="Arial"/>
              </a:rPr>
              <a:t>Don‘t </a:t>
            </a:r>
            <a:r>
              <a:rPr dirty="0" sz="1200">
                <a:latin typeface="Arial"/>
                <a:cs typeface="Arial"/>
              </a:rPr>
              <a:t>reject </a:t>
            </a:r>
            <a:r>
              <a:rPr dirty="0" sz="1200" spc="-5">
                <a:latin typeface="Arial"/>
                <a:cs typeface="Arial"/>
              </a:rPr>
              <a:t>what benefit </a:t>
            </a:r>
            <a:r>
              <a:rPr dirty="0" sz="1200" spc="5">
                <a:latin typeface="Arial"/>
                <a:cs typeface="Arial"/>
              </a:rPr>
              <a:t>West </a:t>
            </a:r>
            <a:r>
              <a:rPr dirty="0" sz="1200">
                <a:latin typeface="Arial"/>
                <a:cs typeface="Arial"/>
              </a:rPr>
              <a:t>can</a:t>
            </a:r>
            <a:r>
              <a:rPr dirty="0" sz="1200" spc="-50">
                <a:latin typeface="Arial"/>
                <a:cs typeface="Arial"/>
              </a:rPr>
              <a:t> </a:t>
            </a:r>
            <a:r>
              <a:rPr dirty="0" sz="1200" spc="-5">
                <a:latin typeface="Arial"/>
                <a:cs typeface="Arial"/>
              </a:rPr>
              <a:t>bring</a:t>
            </a:r>
            <a:endParaRPr sz="1200">
              <a:latin typeface="Arial"/>
              <a:cs typeface="Arial"/>
            </a:endParaRPr>
          </a:p>
          <a:p>
            <a:pPr algn="just" lvl="1" marL="698500" indent="-229235">
              <a:lnSpc>
                <a:spcPts val="1380"/>
              </a:lnSpc>
              <a:buAutoNum type="arabicPeriod"/>
              <a:tabLst>
                <a:tab pos="699135" algn="l"/>
              </a:tabLst>
            </a:pPr>
            <a:r>
              <a:rPr dirty="0" sz="1200" spc="-5">
                <a:latin typeface="Arial"/>
                <a:cs typeface="Arial"/>
              </a:rPr>
              <a:t>Contributed to the understanding of the contribution of sufism in</a:t>
            </a:r>
            <a:r>
              <a:rPr dirty="0" sz="1200" spc="65">
                <a:latin typeface="Arial"/>
                <a:cs typeface="Arial"/>
              </a:rPr>
              <a:t> </a:t>
            </a:r>
            <a:r>
              <a:rPr dirty="0" sz="1200" spc="-5">
                <a:latin typeface="Arial"/>
                <a:cs typeface="Arial"/>
              </a:rPr>
              <a:t>Ibaadah</a:t>
            </a:r>
            <a:endParaRPr sz="1200">
              <a:latin typeface="Arial"/>
              <a:cs typeface="Arial"/>
            </a:endParaRPr>
          </a:p>
          <a:p>
            <a:pPr algn="just" lvl="1" marL="698500" indent="-229235">
              <a:lnSpc>
                <a:spcPts val="1380"/>
              </a:lnSpc>
              <a:buAutoNum type="arabicPeriod"/>
              <a:tabLst>
                <a:tab pos="699135" algn="l"/>
              </a:tabLst>
            </a:pPr>
            <a:r>
              <a:rPr dirty="0" sz="1200" spc="-5">
                <a:latin typeface="Arial"/>
                <a:cs typeface="Arial"/>
              </a:rPr>
              <a:t>Observance of</a:t>
            </a:r>
            <a:r>
              <a:rPr dirty="0" sz="1200">
                <a:latin typeface="Arial"/>
                <a:cs typeface="Arial"/>
              </a:rPr>
              <a:t> </a:t>
            </a:r>
            <a:r>
              <a:rPr dirty="0" sz="1200" spc="-5">
                <a:latin typeface="Arial"/>
                <a:cs typeface="Arial"/>
              </a:rPr>
              <a:t>nature</a:t>
            </a:r>
            <a:endParaRPr sz="1200">
              <a:latin typeface="Arial"/>
              <a:cs typeface="Arial"/>
            </a:endParaRPr>
          </a:p>
          <a:p>
            <a:pPr algn="just" lvl="1" marL="698500" indent="-229235">
              <a:lnSpc>
                <a:spcPts val="1410"/>
              </a:lnSpc>
              <a:buAutoNum type="arabicPeriod"/>
              <a:tabLst>
                <a:tab pos="699135" algn="l"/>
              </a:tabLst>
            </a:pPr>
            <a:r>
              <a:rPr dirty="0" sz="1200" spc="-5">
                <a:latin typeface="Arial"/>
                <a:cs typeface="Arial"/>
              </a:rPr>
              <a:t>Advancement is made through prayer</a:t>
            </a:r>
            <a:endParaRPr sz="1200">
              <a:latin typeface="Arial"/>
              <a:cs typeface="Arial"/>
            </a:endParaRPr>
          </a:p>
          <a:p>
            <a:pPr lvl="1">
              <a:lnSpc>
                <a:spcPct val="100000"/>
              </a:lnSpc>
              <a:buFont typeface="Arial"/>
              <a:buAutoNum type="arabicPeriod"/>
            </a:pPr>
            <a:endParaRPr sz="1300">
              <a:latin typeface="Arial"/>
              <a:cs typeface="Arial"/>
            </a:endParaRPr>
          </a:p>
          <a:p>
            <a:pPr lvl="1">
              <a:lnSpc>
                <a:spcPct val="100000"/>
              </a:lnSpc>
              <a:spcBef>
                <a:spcPts val="55"/>
              </a:spcBef>
              <a:buFont typeface="Arial"/>
              <a:buAutoNum type="arabicPeriod"/>
            </a:pPr>
            <a:endParaRPr sz="1000">
              <a:latin typeface="Arial"/>
              <a:cs typeface="Arial"/>
            </a:endParaRPr>
          </a:p>
          <a:p>
            <a:pPr marL="469900" indent="-229235">
              <a:lnSpc>
                <a:spcPct val="100000"/>
              </a:lnSpc>
              <a:buFont typeface="Arial"/>
              <a:buAutoNum type="arabicPeriod" startAt="6"/>
              <a:tabLst>
                <a:tab pos="470534" algn="l"/>
              </a:tabLst>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Abu </a:t>
            </a:r>
            <a:r>
              <a:rPr dirty="0" u="heavy" sz="1200" spc="-75" b="1" i="1">
                <a:uFill>
                  <a:solidFill>
                    <a:srgbClr val="000000"/>
                  </a:solidFill>
                </a:uFill>
                <a:latin typeface="Arial"/>
                <a:cs typeface="Arial"/>
              </a:rPr>
              <a:t>„Ala </a:t>
            </a:r>
            <a:r>
              <a:rPr dirty="0" u="heavy" sz="1200" spc="-5" b="1" i="1">
                <a:uFill>
                  <a:solidFill>
                    <a:srgbClr val="000000"/>
                  </a:solidFill>
                </a:uFill>
                <a:latin typeface="Arial"/>
                <a:cs typeface="Arial"/>
              </a:rPr>
              <a:t>Al</a:t>
            </a:r>
            <a:r>
              <a:rPr dirty="0" u="heavy" sz="1200" spc="70" b="1" i="1">
                <a:uFill>
                  <a:solidFill>
                    <a:srgbClr val="000000"/>
                  </a:solidFill>
                </a:uFill>
                <a:latin typeface="Arial"/>
                <a:cs typeface="Arial"/>
              </a:rPr>
              <a:t> </a:t>
            </a:r>
            <a:r>
              <a:rPr dirty="0" u="heavy" sz="1200" b="1" i="1">
                <a:uFill>
                  <a:solidFill>
                    <a:srgbClr val="000000"/>
                  </a:solidFill>
                </a:uFill>
                <a:latin typeface="Arial"/>
                <a:cs typeface="Arial"/>
              </a:rPr>
              <a:t>Mawdudi</a:t>
            </a:r>
            <a:endParaRPr sz="1200">
              <a:latin typeface="Arial"/>
              <a:cs typeface="Arial"/>
            </a:endParaRPr>
          </a:p>
          <a:p>
            <a:pPr>
              <a:lnSpc>
                <a:spcPct val="100000"/>
              </a:lnSpc>
              <a:buFont typeface="Arial"/>
              <a:buAutoNum type="arabicPeriod" startAt="6"/>
            </a:pPr>
            <a:endParaRPr sz="1200">
              <a:latin typeface="Arial"/>
              <a:cs typeface="Arial"/>
            </a:endParaRPr>
          </a:p>
          <a:p>
            <a:pPr algn="just" marL="12700" marR="5080">
              <a:lnSpc>
                <a:spcPct val="95700"/>
              </a:lnSpc>
            </a:pPr>
            <a:r>
              <a:rPr dirty="0" sz="1200">
                <a:latin typeface="Arial"/>
                <a:cs typeface="Arial"/>
              </a:rPr>
              <a:t>Abu </a:t>
            </a:r>
            <a:r>
              <a:rPr dirty="0" sz="1200" spc="-85">
                <a:latin typeface="Arial"/>
                <a:cs typeface="Arial"/>
              </a:rPr>
              <a:t>‗Alaa </a:t>
            </a:r>
            <a:r>
              <a:rPr dirty="0" sz="1200" spc="-5">
                <a:latin typeface="Arial"/>
                <a:cs typeface="Arial"/>
              </a:rPr>
              <a:t>Mawdudi </a:t>
            </a:r>
            <a:r>
              <a:rPr dirty="0" sz="1200" spc="-10">
                <a:latin typeface="Arial"/>
                <a:cs typeface="Arial"/>
              </a:rPr>
              <a:t>was </a:t>
            </a:r>
            <a:r>
              <a:rPr dirty="0" sz="1200">
                <a:latin typeface="Arial"/>
                <a:cs typeface="Arial"/>
              </a:rPr>
              <a:t>born </a:t>
            </a:r>
            <a:r>
              <a:rPr dirty="0" sz="1200" spc="-5">
                <a:latin typeface="Arial"/>
                <a:cs typeface="Arial"/>
              </a:rPr>
              <a:t>in </a:t>
            </a:r>
            <a:r>
              <a:rPr dirty="0" sz="1200">
                <a:latin typeface="Arial"/>
                <a:cs typeface="Arial"/>
              </a:rPr>
              <a:t>the </a:t>
            </a:r>
            <a:r>
              <a:rPr dirty="0" sz="1200" spc="-5">
                <a:latin typeface="Arial"/>
                <a:cs typeface="Arial"/>
              </a:rPr>
              <a:t>year 1903 and died in the year 1979. He </a:t>
            </a:r>
            <a:r>
              <a:rPr dirty="0" sz="1200" spc="-10">
                <a:latin typeface="Arial"/>
                <a:cs typeface="Arial"/>
              </a:rPr>
              <a:t>was </a:t>
            </a:r>
            <a:r>
              <a:rPr dirty="0" sz="1200" spc="-5">
                <a:latin typeface="Arial"/>
                <a:cs typeface="Arial"/>
              </a:rPr>
              <a:t>the </a:t>
            </a:r>
            <a:r>
              <a:rPr dirty="0" sz="1200">
                <a:latin typeface="Arial"/>
                <a:cs typeface="Arial"/>
              </a:rPr>
              <a:t>founder  </a:t>
            </a:r>
            <a:r>
              <a:rPr dirty="0" sz="1200" spc="-5">
                <a:latin typeface="Arial"/>
                <a:cs typeface="Arial"/>
              </a:rPr>
              <a:t>of Jami‘ah Islami of </a:t>
            </a:r>
            <a:r>
              <a:rPr dirty="0" sz="1200">
                <a:latin typeface="Arial"/>
                <a:cs typeface="Arial"/>
              </a:rPr>
              <a:t>Pakistan. </a:t>
            </a:r>
            <a:r>
              <a:rPr dirty="0" sz="1200" spc="-10">
                <a:latin typeface="Arial"/>
                <a:cs typeface="Arial"/>
              </a:rPr>
              <a:t>He </a:t>
            </a:r>
            <a:r>
              <a:rPr dirty="0" sz="1200" spc="-5">
                <a:latin typeface="Arial"/>
                <a:cs typeface="Arial"/>
              </a:rPr>
              <a:t>was a Contemporary </a:t>
            </a:r>
            <a:r>
              <a:rPr dirty="0" sz="1200">
                <a:latin typeface="Arial"/>
                <a:cs typeface="Arial"/>
              </a:rPr>
              <a:t>thinker </a:t>
            </a:r>
            <a:r>
              <a:rPr dirty="0" sz="1200" spc="-5">
                <a:latin typeface="Arial"/>
                <a:cs typeface="Arial"/>
              </a:rPr>
              <a:t>and wrote </a:t>
            </a:r>
            <a:r>
              <a:rPr dirty="0" sz="1200">
                <a:latin typeface="Arial"/>
                <a:cs typeface="Arial"/>
              </a:rPr>
              <a:t>much </a:t>
            </a:r>
            <a:r>
              <a:rPr dirty="0" sz="1200" spc="-5">
                <a:latin typeface="Arial"/>
                <a:cs typeface="Arial"/>
              </a:rPr>
              <a:t>about society,  economy and politics. He introduced the ideology </a:t>
            </a:r>
            <a:r>
              <a:rPr dirty="0" sz="1200">
                <a:latin typeface="Arial"/>
                <a:cs typeface="Arial"/>
              </a:rPr>
              <a:t>of </a:t>
            </a:r>
            <a:r>
              <a:rPr dirty="0" sz="1200" spc="-5">
                <a:latin typeface="Arial"/>
                <a:cs typeface="Arial"/>
              </a:rPr>
              <a:t>Hizbiyyah (strict loyalty </a:t>
            </a:r>
            <a:r>
              <a:rPr dirty="0" sz="1200">
                <a:latin typeface="Arial"/>
                <a:cs typeface="Arial"/>
              </a:rPr>
              <a:t>to </a:t>
            </a:r>
            <a:r>
              <a:rPr dirty="0" sz="1200" spc="-5">
                <a:latin typeface="Arial"/>
                <a:cs typeface="Arial"/>
              </a:rPr>
              <a:t>a particular  group or party). Though </a:t>
            </a:r>
            <a:r>
              <a:rPr dirty="0" sz="1200">
                <a:latin typeface="Arial"/>
                <a:cs typeface="Arial"/>
              </a:rPr>
              <a:t>many </a:t>
            </a:r>
            <a:r>
              <a:rPr dirty="0" sz="1200" spc="-5">
                <a:latin typeface="Arial"/>
                <a:cs typeface="Arial"/>
              </a:rPr>
              <a:t>sayings against, </a:t>
            </a:r>
            <a:r>
              <a:rPr dirty="0" sz="1200" spc="-10">
                <a:latin typeface="Arial"/>
                <a:cs typeface="Arial"/>
              </a:rPr>
              <a:t>he </a:t>
            </a:r>
            <a:r>
              <a:rPr dirty="0" sz="1200" spc="-5">
                <a:latin typeface="Arial"/>
                <a:cs typeface="Arial"/>
              </a:rPr>
              <a:t>is renowned. He is </a:t>
            </a:r>
            <a:r>
              <a:rPr dirty="0" sz="1200">
                <a:latin typeface="Arial"/>
                <a:cs typeface="Arial"/>
              </a:rPr>
              <a:t>the </a:t>
            </a:r>
            <a:r>
              <a:rPr dirty="0" sz="1200" spc="-5">
                <a:latin typeface="Arial"/>
                <a:cs typeface="Arial"/>
              </a:rPr>
              <a:t>leader of many  Muslims today. He is </a:t>
            </a:r>
            <a:r>
              <a:rPr dirty="0" sz="1200">
                <a:latin typeface="Arial"/>
                <a:cs typeface="Arial"/>
              </a:rPr>
              <a:t>the </a:t>
            </a:r>
            <a:r>
              <a:rPr dirty="0" sz="1200" spc="-5">
                <a:latin typeface="Arial"/>
                <a:cs typeface="Arial"/>
              </a:rPr>
              <a:t>writer and philosopher of many books. He had great influence on  youngsters who don‘t want </a:t>
            </a:r>
            <a:r>
              <a:rPr dirty="0" sz="1200">
                <a:latin typeface="Arial"/>
                <a:cs typeface="Arial"/>
              </a:rPr>
              <a:t>to </a:t>
            </a:r>
            <a:r>
              <a:rPr dirty="0" sz="1200" spc="-5">
                <a:latin typeface="Arial"/>
                <a:cs typeface="Arial"/>
              </a:rPr>
              <a:t>complicate Islam. </a:t>
            </a:r>
            <a:r>
              <a:rPr dirty="0" sz="1200">
                <a:latin typeface="Arial"/>
                <a:cs typeface="Arial"/>
              </a:rPr>
              <a:t>There are </a:t>
            </a:r>
            <a:r>
              <a:rPr dirty="0" sz="1200" spc="-5">
                <a:latin typeface="Arial"/>
                <a:cs typeface="Arial"/>
              </a:rPr>
              <a:t>many critics against him </a:t>
            </a:r>
            <a:r>
              <a:rPr dirty="0" sz="1200">
                <a:latin typeface="Arial"/>
                <a:cs typeface="Arial"/>
              </a:rPr>
              <a:t>for </a:t>
            </a:r>
            <a:r>
              <a:rPr dirty="0" sz="1200" spc="-5">
                <a:latin typeface="Arial"/>
                <a:cs typeface="Arial"/>
              </a:rPr>
              <a:t>his  thoughts </a:t>
            </a:r>
            <a:r>
              <a:rPr dirty="0" sz="1200" spc="-10">
                <a:latin typeface="Arial"/>
                <a:cs typeface="Arial"/>
              </a:rPr>
              <a:t>on </a:t>
            </a:r>
            <a:r>
              <a:rPr dirty="0" sz="1200" spc="-5">
                <a:latin typeface="Arial"/>
                <a:cs typeface="Arial"/>
              </a:rPr>
              <a:t>other people. He had his positive and negative ways </a:t>
            </a:r>
            <a:r>
              <a:rPr dirty="0" sz="1200" spc="5">
                <a:latin typeface="Arial"/>
                <a:cs typeface="Arial"/>
              </a:rPr>
              <a:t>of </a:t>
            </a:r>
            <a:r>
              <a:rPr dirty="0" sz="1200" spc="-5">
                <a:latin typeface="Arial"/>
                <a:cs typeface="Arial"/>
              </a:rPr>
              <a:t>thinking which have </a:t>
            </a:r>
            <a:r>
              <a:rPr dirty="0" sz="1200" spc="-10">
                <a:latin typeface="Arial"/>
                <a:cs typeface="Arial"/>
              </a:rPr>
              <a:t>and  </a:t>
            </a:r>
            <a:r>
              <a:rPr dirty="0" sz="1200" spc="-5">
                <a:latin typeface="Arial"/>
                <a:cs typeface="Arial"/>
              </a:rPr>
              <a:t>still are </a:t>
            </a:r>
            <a:r>
              <a:rPr dirty="0" sz="1200">
                <a:latin typeface="Arial"/>
                <a:cs typeface="Arial"/>
              </a:rPr>
              <a:t>causing </a:t>
            </a:r>
            <a:r>
              <a:rPr dirty="0" sz="1200" spc="-5">
                <a:latin typeface="Arial"/>
                <a:cs typeface="Arial"/>
              </a:rPr>
              <a:t>harm to some and welfare </a:t>
            </a:r>
            <a:r>
              <a:rPr dirty="0" sz="1200">
                <a:latin typeface="Arial"/>
                <a:cs typeface="Arial"/>
              </a:rPr>
              <a:t>to</a:t>
            </a:r>
            <a:r>
              <a:rPr dirty="0" sz="1200" spc="-20">
                <a:latin typeface="Arial"/>
                <a:cs typeface="Arial"/>
              </a:rPr>
              <a:t> </a:t>
            </a:r>
            <a:r>
              <a:rPr dirty="0" sz="1200">
                <a:latin typeface="Arial"/>
                <a:cs typeface="Arial"/>
              </a:rPr>
              <a:t>others</a:t>
            </a:r>
            <a:endParaRPr sz="1200">
              <a:latin typeface="Arial"/>
              <a:cs typeface="Arial"/>
            </a:endParaRPr>
          </a:p>
          <a:p>
            <a:pPr>
              <a:lnSpc>
                <a:spcPct val="100000"/>
              </a:lnSpc>
            </a:pPr>
            <a:endParaRPr sz="115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5" b="1" i="1">
                <a:uFill>
                  <a:solidFill>
                    <a:srgbClr val="000000"/>
                  </a:solidFill>
                </a:uFill>
                <a:latin typeface="Arial"/>
                <a:cs typeface="Arial"/>
              </a:rPr>
              <a:t>Concepts </a:t>
            </a:r>
            <a:r>
              <a:rPr dirty="0" u="heavy" sz="1200" b="1" i="1">
                <a:uFill>
                  <a:solidFill>
                    <a:srgbClr val="000000"/>
                  </a:solidFill>
                </a:uFill>
                <a:latin typeface="Arial"/>
                <a:cs typeface="Arial"/>
              </a:rPr>
              <a:t>of </a:t>
            </a:r>
            <a:r>
              <a:rPr dirty="0" u="heavy" sz="1200" spc="-5" b="1" i="1">
                <a:uFill>
                  <a:solidFill>
                    <a:srgbClr val="000000"/>
                  </a:solidFill>
                </a:uFill>
                <a:latin typeface="Arial"/>
                <a:cs typeface="Arial"/>
              </a:rPr>
              <a:t>Abu </a:t>
            </a:r>
            <a:r>
              <a:rPr dirty="0" u="heavy" sz="1200" spc="-75" b="1" i="1">
                <a:uFill>
                  <a:solidFill>
                    <a:srgbClr val="000000"/>
                  </a:solidFill>
                </a:uFill>
                <a:latin typeface="Arial"/>
                <a:cs typeface="Arial"/>
              </a:rPr>
              <a:t>„Ala </a:t>
            </a:r>
            <a:r>
              <a:rPr dirty="0" u="heavy" sz="1200" spc="-5" b="1" i="1">
                <a:uFill>
                  <a:solidFill>
                    <a:srgbClr val="000000"/>
                  </a:solidFill>
                </a:uFill>
                <a:latin typeface="Arial"/>
                <a:cs typeface="Arial"/>
              </a:rPr>
              <a:t>Al</a:t>
            </a:r>
            <a:r>
              <a:rPr dirty="0" u="heavy" sz="1200" spc="80" b="1" i="1">
                <a:uFill>
                  <a:solidFill>
                    <a:srgbClr val="000000"/>
                  </a:solidFill>
                </a:uFill>
                <a:latin typeface="Arial"/>
                <a:cs typeface="Arial"/>
              </a:rPr>
              <a:t> </a:t>
            </a:r>
            <a:r>
              <a:rPr dirty="0" u="heavy" sz="1200" spc="-5" b="1" i="1">
                <a:uFill>
                  <a:solidFill>
                    <a:srgbClr val="000000"/>
                  </a:solidFill>
                </a:uFill>
                <a:latin typeface="Arial"/>
                <a:cs typeface="Arial"/>
              </a:rPr>
              <a:t>Mawdudi</a:t>
            </a:r>
            <a:endParaRPr sz="1200">
              <a:latin typeface="Arial"/>
              <a:cs typeface="Arial"/>
            </a:endParaRPr>
          </a:p>
          <a:p>
            <a:pPr>
              <a:lnSpc>
                <a:spcPct val="100000"/>
              </a:lnSpc>
              <a:spcBef>
                <a:spcPts val="55"/>
              </a:spcBef>
            </a:pPr>
            <a:endParaRPr sz="1100">
              <a:latin typeface="Arial"/>
              <a:cs typeface="Arial"/>
            </a:endParaRPr>
          </a:p>
          <a:p>
            <a:pPr algn="just" lvl="1" marL="698500" indent="-229235">
              <a:lnSpc>
                <a:spcPts val="1410"/>
              </a:lnSpc>
              <a:buAutoNum type="arabicPeriod"/>
              <a:tabLst>
                <a:tab pos="699135" algn="l"/>
              </a:tabLst>
            </a:pPr>
            <a:r>
              <a:rPr dirty="0" sz="1200">
                <a:latin typeface="Arial"/>
                <a:cs typeface="Arial"/>
              </a:rPr>
              <a:t>Distorted </a:t>
            </a:r>
            <a:r>
              <a:rPr dirty="0" sz="1200" spc="-5">
                <a:latin typeface="Arial"/>
                <a:cs typeface="Arial"/>
              </a:rPr>
              <a:t>view </a:t>
            </a:r>
            <a:r>
              <a:rPr dirty="0" sz="1200">
                <a:latin typeface="Arial"/>
                <a:cs typeface="Arial"/>
              </a:rPr>
              <a:t>of </a:t>
            </a:r>
            <a:r>
              <a:rPr dirty="0" sz="1200" spc="-5">
                <a:latin typeface="Arial"/>
                <a:cs typeface="Arial"/>
              </a:rPr>
              <a:t>Islam </a:t>
            </a:r>
            <a:r>
              <a:rPr dirty="0" sz="1200">
                <a:latin typeface="Arial"/>
                <a:cs typeface="Arial"/>
              </a:rPr>
              <a:t>as </a:t>
            </a:r>
            <a:r>
              <a:rPr dirty="0" sz="1200" spc="-5">
                <a:latin typeface="Arial"/>
                <a:cs typeface="Arial"/>
              </a:rPr>
              <a:t>being primarily a political</a:t>
            </a:r>
            <a:r>
              <a:rPr dirty="0" sz="1200" spc="10">
                <a:latin typeface="Arial"/>
                <a:cs typeface="Arial"/>
              </a:rPr>
              <a:t> </a:t>
            </a:r>
            <a:r>
              <a:rPr dirty="0" sz="1200" spc="-5">
                <a:latin typeface="Arial"/>
                <a:cs typeface="Arial"/>
              </a:rPr>
              <a:t>system</a:t>
            </a:r>
            <a:endParaRPr sz="1200">
              <a:latin typeface="Arial"/>
              <a:cs typeface="Arial"/>
            </a:endParaRPr>
          </a:p>
          <a:p>
            <a:pPr algn="just" lvl="1" marL="698500" marR="10160" indent="-228600">
              <a:lnSpc>
                <a:spcPts val="1380"/>
              </a:lnSpc>
              <a:spcBef>
                <a:spcPts val="65"/>
              </a:spcBef>
              <a:buAutoNum type="arabicPeriod"/>
              <a:tabLst>
                <a:tab pos="699135" algn="l"/>
              </a:tabLst>
            </a:pPr>
            <a:r>
              <a:rPr dirty="0" sz="1200" spc="-5">
                <a:latin typeface="Arial"/>
                <a:cs typeface="Arial"/>
              </a:rPr>
              <a:t>Speaking about desiring authority in </a:t>
            </a:r>
            <a:r>
              <a:rPr dirty="0" sz="1200">
                <a:latin typeface="Arial"/>
                <a:cs typeface="Arial"/>
              </a:rPr>
              <a:t>the </a:t>
            </a:r>
            <a:r>
              <a:rPr dirty="0" sz="1200" spc="-5">
                <a:latin typeface="Arial"/>
                <a:cs typeface="Arial"/>
              </a:rPr>
              <a:t>land, Maududi said, "So without the desire  </a:t>
            </a:r>
            <a:r>
              <a:rPr dirty="0" sz="1200">
                <a:latin typeface="Arial"/>
                <a:cs typeface="Arial"/>
              </a:rPr>
              <a:t>for </a:t>
            </a:r>
            <a:r>
              <a:rPr dirty="0" sz="1200" spc="-5">
                <a:latin typeface="Arial"/>
                <a:cs typeface="Arial"/>
              </a:rPr>
              <a:t>authority, </a:t>
            </a:r>
            <a:r>
              <a:rPr dirty="0" sz="1200">
                <a:latin typeface="Arial"/>
                <a:cs typeface="Arial"/>
              </a:rPr>
              <a:t>there </a:t>
            </a:r>
            <a:r>
              <a:rPr dirty="0" sz="1200" spc="-5">
                <a:latin typeface="Arial"/>
                <a:cs typeface="Arial"/>
              </a:rPr>
              <a:t>is </a:t>
            </a:r>
            <a:r>
              <a:rPr dirty="0" sz="1200" spc="5">
                <a:latin typeface="Arial"/>
                <a:cs typeface="Arial"/>
              </a:rPr>
              <a:t>no </a:t>
            </a:r>
            <a:r>
              <a:rPr dirty="0" sz="1200">
                <a:latin typeface="Arial"/>
                <a:cs typeface="Arial"/>
              </a:rPr>
              <a:t>meaning for </a:t>
            </a:r>
            <a:r>
              <a:rPr dirty="0" sz="1200" spc="-5">
                <a:latin typeface="Arial"/>
                <a:cs typeface="Arial"/>
              </a:rPr>
              <a:t>calling </a:t>
            </a:r>
            <a:r>
              <a:rPr dirty="0" sz="1200">
                <a:latin typeface="Arial"/>
                <a:cs typeface="Arial"/>
              </a:rPr>
              <a:t>to </a:t>
            </a:r>
            <a:r>
              <a:rPr dirty="0" sz="1200" spc="-5">
                <a:latin typeface="Arial"/>
                <a:cs typeface="Arial"/>
              </a:rPr>
              <a:t>a particular philosophy, and </a:t>
            </a:r>
            <a:r>
              <a:rPr dirty="0" sz="1200">
                <a:latin typeface="Arial"/>
                <a:cs typeface="Arial"/>
              </a:rPr>
              <a:t>there </a:t>
            </a:r>
            <a:r>
              <a:rPr dirty="0" sz="1200" spc="-5">
                <a:latin typeface="Arial"/>
                <a:cs typeface="Arial"/>
              </a:rPr>
              <a:t>is  no meaning </a:t>
            </a:r>
            <a:r>
              <a:rPr dirty="0" sz="1200">
                <a:latin typeface="Arial"/>
                <a:cs typeface="Arial"/>
              </a:rPr>
              <a:t>for </a:t>
            </a:r>
            <a:r>
              <a:rPr dirty="0" sz="1200" spc="-10">
                <a:latin typeface="Arial"/>
                <a:cs typeface="Arial"/>
              </a:rPr>
              <a:t>what </a:t>
            </a:r>
            <a:r>
              <a:rPr dirty="0" sz="1200" spc="-5">
                <a:latin typeface="Arial"/>
                <a:cs typeface="Arial"/>
              </a:rPr>
              <a:t>is lawful and what is forbidden, nor </a:t>
            </a:r>
            <a:r>
              <a:rPr dirty="0" sz="1200">
                <a:latin typeface="Arial"/>
                <a:cs typeface="Arial"/>
              </a:rPr>
              <a:t>for </a:t>
            </a:r>
            <a:r>
              <a:rPr dirty="0" sz="1200" spc="-10">
                <a:latin typeface="Arial"/>
                <a:cs typeface="Arial"/>
              </a:rPr>
              <a:t>the </a:t>
            </a:r>
            <a:r>
              <a:rPr dirty="0" sz="1200" spc="-5">
                <a:latin typeface="Arial"/>
                <a:cs typeface="Arial"/>
              </a:rPr>
              <a:t>prescribed</a:t>
            </a:r>
            <a:r>
              <a:rPr dirty="0" sz="1200" spc="85">
                <a:latin typeface="Arial"/>
                <a:cs typeface="Arial"/>
              </a:rPr>
              <a:t> </a:t>
            </a:r>
            <a:r>
              <a:rPr dirty="0" sz="1200" spc="-5">
                <a:latin typeface="Arial"/>
                <a:cs typeface="Arial"/>
              </a:rPr>
              <a:t>laws."</a:t>
            </a:r>
            <a:endParaRPr sz="1200">
              <a:latin typeface="Arial"/>
              <a:cs typeface="Arial"/>
            </a:endParaRPr>
          </a:p>
          <a:p>
            <a:pPr algn="just" lvl="1" marL="698500" marR="8890" indent="-228600">
              <a:lnSpc>
                <a:spcPts val="1380"/>
              </a:lnSpc>
              <a:buAutoNum type="arabicPeriod"/>
              <a:tabLst>
                <a:tab pos="699135" algn="l"/>
              </a:tabLst>
            </a:pPr>
            <a:r>
              <a:rPr dirty="0" sz="1200" spc="-5">
                <a:latin typeface="Arial"/>
                <a:cs typeface="Arial"/>
              </a:rPr>
              <a:t>Maududi even went a </a:t>
            </a:r>
            <a:r>
              <a:rPr dirty="0" sz="1200">
                <a:latin typeface="Arial"/>
                <a:cs typeface="Arial"/>
              </a:rPr>
              <a:t>step further </a:t>
            </a:r>
            <a:r>
              <a:rPr dirty="0" sz="1200" spc="-5">
                <a:latin typeface="Arial"/>
                <a:cs typeface="Arial"/>
              </a:rPr>
              <a:t>by claiming </a:t>
            </a:r>
            <a:r>
              <a:rPr dirty="0" sz="1200">
                <a:latin typeface="Arial"/>
                <a:cs typeface="Arial"/>
              </a:rPr>
              <a:t>that </a:t>
            </a:r>
            <a:r>
              <a:rPr dirty="0" sz="1200" spc="-5">
                <a:latin typeface="Arial"/>
                <a:cs typeface="Arial"/>
              </a:rPr>
              <a:t>the principal </a:t>
            </a:r>
            <a:r>
              <a:rPr dirty="0" sz="1200" spc="-10">
                <a:latin typeface="Arial"/>
                <a:cs typeface="Arial"/>
              </a:rPr>
              <a:t>goal </a:t>
            </a:r>
            <a:r>
              <a:rPr dirty="0" sz="1200" spc="-5">
                <a:latin typeface="Arial"/>
                <a:cs typeface="Arial"/>
              </a:rPr>
              <a:t>of all of the  Prophets </a:t>
            </a:r>
            <a:r>
              <a:rPr dirty="0" sz="1200" spc="-10">
                <a:latin typeface="Arial"/>
                <a:cs typeface="Arial"/>
              </a:rPr>
              <a:t>was </a:t>
            </a:r>
            <a:r>
              <a:rPr dirty="0" sz="1200">
                <a:latin typeface="Arial"/>
                <a:cs typeface="Arial"/>
              </a:rPr>
              <a:t>to </a:t>
            </a:r>
            <a:r>
              <a:rPr dirty="0" sz="1200" spc="-5">
                <a:latin typeface="Arial"/>
                <a:cs typeface="Arial"/>
              </a:rPr>
              <a:t>establish a </a:t>
            </a:r>
            <a:r>
              <a:rPr dirty="0" sz="1200">
                <a:latin typeface="Arial"/>
                <a:cs typeface="Arial"/>
              </a:rPr>
              <a:t>state: </a:t>
            </a:r>
            <a:r>
              <a:rPr dirty="0" sz="1200" spc="-5">
                <a:latin typeface="Arial"/>
                <a:cs typeface="Arial"/>
              </a:rPr>
              <a:t>"Therefore </a:t>
            </a:r>
            <a:r>
              <a:rPr dirty="0" sz="1200">
                <a:latin typeface="Arial"/>
                <a:cs typeface="Arial"/>
              </a:rPr>
              <a:t>the </a:t>
            </a:r>
            <a:r>
              <a:rPr dirty="0" sz="1200" spc="-5">
                <a:latin typeface="Arial"/>
                <a:cs typeface="Arial"/>
              </a:rPr>
              <a:t>goal aspired </a:t>
            </a:r>
            <a:r>
              <a:rPr dirty="0" sz="1200">
                <a:latin typeface="Arial"/>
                <a:cs typeface="Arial"/>
              </a:rPr>
              <a:t>for </a:t>
            </a:r>
            <a:r>
              <a:rPr dirty="0" sz="1200" spc="-5">
                <a:latin typeface="Arial"/>
                <a:cs typeface="Arial"/>
              </a:rPr>
              <a:t>in the  messengership of </a:t>
            </a:r>
            <a:r>
              <a:rPr dirty="0" sz="1200">
                <a:latin typeface="Arial"/>
                <a:cs typeface="Arial"/>
              </a:rPr>
              <a:t>the </a:t>
            </a:r>
            <a:r>
              <a:rPr dirty="0" sz="1200" spc="-5">
                <a:latin typeface="Arial"/>
                <a:cs typeface="Arial"/>
              </a:rPr>
              <a:t>Prophets in </a:t>
            </a:r>
            <a:r>
              <a:rPr dirty="0" sz="1200">
                <a:latin typeface="Arial"/>
                <a:cs typeface="Arial"/>
              </a:rPr>
              <a:t>this </a:t>
            </a:r>
            <a:r>
              <a:rPr dirty="0" sz="1200" spc="-10">
                <a:latin typeface="Arial"/>
                <a:cs typeface="Arial"/>
              </a:rPr>
              <a:t>world </a:t>
            </a:r>
            <a:r>
              <a:rPr dirty="0" sz="1200" spc="-5">
                <a:latin typeface="Arial"/>
                <a:cs typeface="Arial"/>
              </a:rPr>
              <a:t>did not </a:t>
            </a:r>
            <a:r>
              <a:rPr dirty="0" sz="1200" spc="-10">
                <a:latin typeface="Arial"/>
                <a:cs typeface="Arial"/>
              </a:rPr>
              <a:t>cease </a:t>
            </a:r>
            <a:r>
              <a:rPr dirty="0" sz="1200" spc="-5">
                <a:latin typeface="Arial"/>
                <a:cs typeface="Arial"/>
              </a:rPr>
              <a:t>to </a:t>
            </a:r>
            <a:r>
              <a:rPr dirty="0" sz="1200" spc="-10">
                <a:latin typeface="Arial"/>
                <a:cs typeface="Arial"/>
              </a:rPr>
              <a:t>be the </a:t>
            </a:r>
            <a:r>
              <a:rPr dirty="0" sz="1200" spc="-5">
                <a:latin typeface="Arial"/>
                <a:cs typeface="Arial"/>
              </a:rPr>
              <a:t>establishment  of the Islamic government upon the</a:t>
            </a:r>
            <a:r>
              <a:rPr dirty="0" sz="1200" spc="20">
                <a:latin typeface="Arial"/>
                <a:cs typeface="Arial"/>
              </a:rPr>
              <a:t> </a:t>
            </a:r>
            <a:r>
              <a:rPr dirty="0" sz="1200" spc="-5">
                <a:latin typeface="Arial"/>
                <a:cs typeface="Arial"/>
              </a:rPr>
              <a:t>earth."</a:t>
            </a:r>
            <a:endParaRPr sz="1200">
              <a:latin typeface="Arial"/>
              <a:cs typeface="Arial"/>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7" name="object 7"/>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166</a:t>
            </a:r>
            <a:endParaRPr sz="1200">
              <a:latin typeface="Times New Roman"/>
              <a:cs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0630" cy="776097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698500" marR="10160" indent="-228600">
              <a:lnSpc>
                <a:spcPts val="1380"/>
              </a:lnSpc>
              <a:buAutoNum type="arabicPeriod" startAt="4"/>
              <a:tabLst>
                <a:tab pos="699135" algn="l"/>
              </a:tabLst>
            </a:pPr>
            <a:r>
              <a:rPr dirty="0" sz="1200" spc="-5">
                <a:latin typeface="Arial"/>
                <a:cs typeface="Arial"/>
              </a:rPr>
              <a:t>Maududi used to base his conclusions upon intellectual and political analogies </a:t>
            </a:r>
            <a:r>
              <a:rPr dirty="0" sz="1200" spc="-10">
                <a:latin typeface="Arial"/>
                <a:cs typeface="Arial"/>
              </a:rPr>
              <a:t>and  </a:t>
            </a:r>
            <a:r>
              <a:rPr dirty="0" sz="1200" spc="-5">
                <a:latin typeface="Arial"/>
                <a:cs typeface="Arial"/>
              </a:rPr>
              <a:t>deductions as opposed to returning </a:t>
            </a:r>
            <a:r>
              <a:rPr dirty="0" sz="1200">
                <a:latin typeface="Arial"/>
                <a:cs typeface="Arial"/>
              </a:rPr>
              <a:t>to </a:t>
            </a:r>
            <a:r>
              <a:rPr dirty="0" sz="1200" spc="-5">
                <a:latin typeface="Arial"/>
                <a:cs typeface="Arial"/>
              </a:rPr>
              <a:t>the textual sources of the religion  understood </a:t>
            </a:r>
            <a:r>
              <a:rPr dirty="0" sz="1200">
                <a:latin typeface="Arial"/>
                <a:cs typeface="Arial"/>
              </a:rPr>
              <a:t>by </a:t>
            </a:r>
            <a:r>
              <a:rPr dirty="0" sz="1200" spc="-5">
                <a:latin typeface="Arial"/>
                <a:cs typeface="Arial"/>
              </a:rPr>
              <a:t>the early Muslims </a:t>
            </a:r>
            <a:r>
              <a:rPr dirty="0" sz="1200">
                <a:latin typeface="Arial"/>
                <a:cs typeface="Arial"/>
              </a:rPr>
              <a:t>as </a:t>
            </a:r>
            <a:r>
              <a:rPr dirty="0" sz="1200" spc="-5">
                <a:latin typeface="Arial"/>
                <a:cs typeface="Arial"/>
              </a:rPr>
              <a:t>a source of</a:t>
            </a:r>
            <a:r>
              <a:rPr dirty="0" sz="1200">
                <a:latin typeface="Arial"/>
                <a:cs typeface="Arial"/>
              </a:rPr>
              <a:t> </a:t>
            </a:r>
            <a:r>
              <a:rPr dirty="0" sz="1200" spc="-5">
                <a:latin typeface="Arial"/>
                <a:cs typeface="Arial"/>
              </a:rPr>
              <a:t>guidance</a:t>
            </a:r>
            <a:endParaRPr sz="1200">
              <a:latin typeface="Arial"/>
              <a:cs typeface="Arial"/>
            </a:endParaRPr>
          </a:p>
          <a:p>
            <a:pPr algn="just" marL="698500" indent="-229235">
              <a:lnSpc>
                <a:spcPts val="1315"/>
              </a:lnSpc>
              <a:buAutoNum type="arabicPeriod" startAt="4"/>
              <a:tabLst>
                <a:tab pos="699135" algn="l"/>
              </a:tabLst>
            </a:pPr>
            <a:r>
              <a:rPr dirty="0" sz="1200" spc="-5">
                <a:latin typeface="Arial"/>
                <a:cs typeface="Arial"/>
              </a:rPr>
              <a:t>reviling </a:t>
            </a:r>
            <a:r>
              <a:rPr dirty="0" sz="1200">
                <a:latin typeface="Arial"/>
                <a:cs typeface="Arial"/>
              </a:rPr>
              <a:t>some </a:t>
            </a:r>
            <a:r>
              <a:rPr dirty="0" sz="1200" spc="-5">
                <a:latin typeface="Arial"/>
                <a:cs typeface="Arial"/>
              </a:rPr>
              <a:t>of the Prophets and </a:t>
            </a:r>
            <a:r>
              <a:rPr dirty="0" sz="1200">
                <a:latin typeface="Arial"/>
                <a:cs typeface="Arial"/>
              </a:rPr>
              <a:t>the </a:t>
            </a:r>
            <a:r>
              <a:rPr dirty="0" sz="1200" spc="-5">
                <a:latin typeface="Arial"/>
                <a:cs typeface="Arial"/>
              </a:rPr>
              <a:t>righteous companions of </a:t>
            </a:r>
            <a:r>
              <a:rPr dirty="0" sz="1200">
                <a:latin typeface="Arial"/>
                <a:cs typeface="Arial"/>
              </a:rPr>
              <a:t>the last</a:t>
            </a:r>
            <a:r>
              <a:rPr dirty="0" sz="1200" spc="30">
                <a:latin typeface="Arial"/>
                <a:cs typeface="Arial"/>
              </a:rPr>
              <a:t> </a:t>
            </a:r>
            <a:r>
              <a:rPr dirty="0" sz="1200" spc="-5">
                <a:latin typeface="Arial"/>
                <a:cs typeface="Arial"/>
              </a:rPr>
              <a:t>Prophet</a:t>
            </a:r>
            <a:endParaRPr sz="1200">
              <a:latin typeface="Arial"/>
              <a:cs typeface="Arial"/>
            </a:endParaRPr>
          </a:p>
          <a:p>
            <a:pPr algn="just" marL="698500" indent="-229235">
              <a:lnSpc>
                <a:spcPts val="1410"/>
              </a:lnSpc>
              <a:buAutoNum type="arabicPeriod" startAt="4"/>
              <a:tabLst>
                <a:tab pos="699135" algn="l"/>
              </a:tabLst>
            </a:pPr>
            <a:r>
              <a:rPr dirty="0" sz="1200" spc="-5">
                <a:latin typeface="Arial"/>
                <a:cs typeface="Arial"/>
              </a:rPr>
              <a:t>Maududi said </a:t>
            </a:r>
            <a:r>
              <a:rPr dirty="0" sz="1200">
                <a:latin typeface="Arial"/>
                <a:cs typeface="Arial"/>
              </a:rPr>
              <a:t>the </a:t>
            </a:r>
            <a:r>
              <a:rPr dirty="0" sz="1200" spc="-5">
                <a:latin typeface="Arial"/>
                <a:cs typeface="Arial"/>
              </a:rPr>
              <a:t>following </a:t>
            </a:r>
            <a:r>
              <a:rPr dirty="0" sz="1200">
                <a:latin typeface="Arial"/>
                <a:cs typeface="Arial"/>
              </a:rPr>
              <a:t>about </a:t>
            </a:r>
            <a:r>
              <a:rPr dirty="0" sz="1200" spc="-5">
                <a:latin typeface="Arial"/>
                <a:cs typeface="Arial"/>
              </a:rPr>
              <a:t>Joseph (Yusuf</a:t>
            </a:r>
            <a:r>
              <a:rPr dirty="0" sz="1200" spc="-10">
                <a:latin typeface="Arial"/>
                <a:cs typeface="Arial"/>
              </a:rPr>
              <a:t> </a:t>
            </a:r>
            <a:r>
              <a:rPr dirty="0" sz="1200">
                <a:latin typeface="Arial"/>
                <a:cs typeface="Arial"/>
              </a:rPr>
              <a:t>(as)):</a:t>
            </a:r>
            <a:endParaRPr sz="1200">
              <a:latin typeface="Arial"/>
              <a:cs typeface="Arial"/>
            </a:endParaRPr>
          </a:p>
          <a:p>
            <a:pPr>
              <a:lnSpc>
                <a:spcPct val="100000"/>
              </a:lnSpc>
              <a:spcBef>
                <a:spcPts val="35"/>
              </a:spcBef>
            </a:pPr>
            <a:endParaRPr sz="1200">
              <a:latin typeface="Arial"/>
              <a:cs typeface="Arial"/>
            </a:endParaRPr>
          </a:p>
          <a:p>
            <a:pPr algn="just" marL="12700" marR="6985">
              <a:lnSpc>
                <a:spcPts val="1380"/>
              </a:lnSpc>
              <a:spcBef>
                <a:spcPts val="5"/>
              </a:spcBef>
            </a:pPr>
            <a:r>
              <a:rPr dirty="0" sz="1200">
                <a:latin typeface="Arial"/>
                <a:cs typeface="Arial"/>
              </a:rPr>
              <a:t>"This </a:t>
            </a:r>
            <a:r>
              <a:rPr dirty="0" sz="1200" spc="-5">
                <a:latin typeface="Arial"/>
                <a:cs typeface="Arial"/>
              </a:rPr>
              <a:t>(his request to become the custodian of Egypt) </a:t>
            </a:r>
            <a:r>
              <a:rPr dirty="0" sz="1200" spc="-10">
                <a:latin typeface="Arial"/>
                <a:cs typeface="Arial"/>
              </a:rPr>
              <a:t>was </a:t>
            </a:r>
            <a:r>
              <a:rPr dirty="0" sz="1200" spc="-5">
                <a:latin typeface="Arial"/>
                <a:cs typeface="Arial"/>
              </a:rPr>
              <a:t>not a demand to be the Minister of  Finance only, as some people understand, this </a:t>
            </a:r>
            <a:r>
              <a:rPr dirty="0" sz="1200" spc="-10">
                <a:latin typeface="Arial"/>
                <a:cs typeface="Arial"/>
              </a:rPr>
              <a:t>was </a:t>
            </a:r>
            <a:r>
              <a:rPr dirty="0" sz="1200" spc="-5">
                <a:latin typeface="Arial"/>
                <a:cs typeface="Arial"/>
              </a:rPr>
              <a:t>not a demand of the ministerial office of  finance only, but a demand </a:t>
            </a:r>
            <a:r>
              <a:rPr dirty="0" sz="1200">
                <a:latin typeface="Arial"/>
                <a:cs typeface="Arial"/>
              </a:rPr>
              <a:t>for </a:t>
            </a:r>
            <a:r>
              <a:rPr dirty="0" sz="1200" spc="-5">
                <a:latin typeface="Arial"/>
                <a:cs typeface="Arial"/>
              </a:rPr>
              <a:t>dictatorship. </a:t>
            </a:r>
            <a:r>
              <a:rPr dirty="0" sz="1200">
                <a:latin typeface="Arial"/>
                <a:cs typeface="Arial"/>
              </a:rPr>
              <a:t>As </a:t>
            </a:r>
            <a:r>
              <a:rPr dirty="0" sz="1200" spc="-5">
                <a:latin typeface="Arial"/>
                <a:cs typeface="Arial"/>
              </a:rPr>
              <a:t>a result, </a:t>
            </a:r>
            <a:r>
              <a:rPr dirty="0" sz="1200">
                <a:latin typeface="Arial"/>
                <a:cs typeface="Arial"/>
              </a:rPr>
              <a:t>this position </a:t>
            </a:r>
            <a:r>
              <a:rPr dirty="0" sz="1200" spc="-5">
                <a:latin typeface="Arial"/>
                <a:cs typeface="Arial"/>
              </a:rPr>
              <a:t>which Sayyidinaa </a:t>
            </a:r>
            <a:r>
              <a:rPr dirty="0" sz="1200" spc="-10">
                <a:latin typeface="Arial"/>
                <a:cs typeface="Arial"/>
              </a:rPr>
              <a:t>Yusuf  </a:t>
            </a:r>
            <a:r>
              <a:rPr dirty="0" sz="1200" spc="-5">
                <a:latin typeface="Arial"/>
                <a:cs typeface="Arial"/>
              </a:rPr>
              <a:t>(Joseph) got is almost </a:t>
            </a:r>
            <a:r>
              <a:rPr dirty="0" sz="1200">
                <a:latin typeface="Arial"/>
                <a:cs typeface="Arial"/>
              </a:rPr>
              <a:t>the </a:t>
            </a:r>
            <a:r>
              <a:rPr dirty="0" sz="1200" spc="-5">
                <a:latin typeface="Arial"/>
                <a:cs typeface="Arial"/>
              </a:rPr>
              <a:t>same which Mussolini enjoyed in Italy in these</a:t>
            </a:r>
            <a:r>
              <a:rPr dirty="0" sz="1200" spc="40">
                <a:latin typeface="Arial"/>
                <a:cs typeface="Arial"/>
              </a:rPr>
              <a:t> </a:t>
            </a:r>
            <a:r>
              <a:rPr dirty="0" sz="1200" spc="-5">
                <a:latin typeface="Arial"/>
                <a:cs typeface="Arial"/>
              </a:rPr>
              <a:t>days."</a:t>
            </a:r>
            <a:endParaRPr sz="1200">
              <a:latin typeface="Arial"/>
              <a:cs typeface="Arial"/>
            </a:endParaRPr>
          </a:p>
          <a:p>
            <a:pPr>
              <a:lnSpc>
                <a:spcPct val="100000"/>
              </a:lnSpc>
            </a:pPr>
            <a:endParaRPr sz="1300">
              <a:latin typeface="Arial"/>
              <a:cs typeface="Arial"/>
            </a:endParaRPr>
          </a:p>
          <a:p>
            <a:pPr marL="12700">
              <a:lnSpc>
                <a:spcPct val="100000"/>
              </a:lnSpc>
              <a:spcBef>
                <a:spcPts val="1165"/>
              </a:spcBef>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a:lnSpc>
                <a:spcPct val="100000"/>
              </a:lnSpc>
            </a:pPr>
            <a:endParaRPr sz="1150">
              <a:latin typeface="Arial"/>
              <a:cs typeface="Arial"/>
            </a:endParaRPr>
          </a:p>
          <a:p>
            <a:pPr algn="ctr">
              <a:lnSpc>
                <a:spcPct val="100000"/>
              </a:lnSpc>
            </a:pPr>
            <a:r>
              <a:rPr dirty="0" u="heavy" sz="1200" spc="-5" b="1" i="1">
                <a:uFill>
                  <a:solidFill>
                    <a:srgbClr val="000000"/>
                  </a:solidFill>
                </a:uFill>
                <a:latin typeface="Arial"/>
                <a:cs typeface="Arial"/>
              </a:rPr>
              <a:t>Syllabus 9013</a:t>
            </a:r>
            <a:endParaRPr sz="1200">
              <a:latin typeface="Arial"/>
              <a:cs typeface="Arial"/>
            </a:endParaRPr>
          </a:p>
          <a:p>
            <a:pPr>
              <a:lnSpc>
                <a:spcPct val="100000"/>
              </a:lnSpc>
              <a:spcBef>
                <a:spcPts val="40"/>
              </a:spcBef>
            </a:pPr>
            <a:endParaRPr sz="1200">
              <a:latin typeface="Arial"/>
              <a:cs typeface="Arial"/>
            </a:endParaRPr>
          </a:p>
          <a:p>
            <a:pPr marL="12700" marR="1394460">
              <a:lnSpc>
                <a:spcPts val="1380"/>
              </a:lnSpc>
            </a:pPr>
            <a:r>
              <a:rPr dirty="0" sz="1200" spc="-5" b="1">
                <a:latin typeface="Arial"/>
                <a:cs typeface="Arial"/>
              </a:rPr>
              <a:t>10 </a:t>
            </a:r>
            <a:r>
              <a:rPr dirty="0" sz="1200" spc="-5">
                <a:latin typeface="Arial"/>
                <a:cs typeface="Arial"/>
              </a:rPr>
              <a:t>Outline </a:t>
            </a:r>
            <a:r>
              <a:rPr dirty="0" sz="1200">
                <a:latin typeface="Arial"/>
                <a:cs typeface="Arial"/>
              </a:rPr>
              <a:t>the </a:t>
            </a:r>
            <a:r>
              <a:rPr dirty="0" sz="1200" spc="-5">
                <a:latin typeface="Arial"/>
                <a:cs typeface="Arial"/>
              </a:rPr>
              <a:t>main </a:t>
            </a:r>
            <a:r>
              <a:rPr dirty="0" sz="1200">
                <a:latin typeface="Arial"/>
                <a:cs typeface="Arial"/>
              </a:rPr>
              <a:t>features </a:t>
            </a:r>
            <a:r>
              <a:rPr dirty="0" sz="1200" spc="-5">
                <a:latin typeface="Arial"/>
                <a:cs typeface="Arial"/>
              </a:rPr>
              <a:t>of the teachings of any </a:t>
            </a:r>
            <a:r>
              <a:rPr dirty="0" sz="1200" b="1">
                <a:latin typeface="Arial"/>
                <a:cs typeface="Arial"/>
              </a:rPr>
              <a:t>two </a:t>
            </a:r>
            <a:r>
              <a:rPr dirty="0" sz="1200" spc="-5">
                <a:latin typeface="Arial"/>
                <a:cs typeface="Arial"/>
              </a:rPr>
              <a:t>of the following:  Muhammad `Abduh, Hasan al-Banna‘, Muhammad Iqbal. [20]</a:t>
            </a:r>
            <a:r>
              <a:rPr dirty="0" sz="1200" spc="45">
                <a:latin typeface="Arial"/>
                <a:cs typeface="Arial"/>
              </a:rPr>
              <a:t> </a:t>
            </a:r>
            <a:r>
              <a:rPr dirty="0" sz="1200" spc="-5" b="1">
                <a:latin typeface="Arial"/>
                <a:cs typeface="Arial"/>
              </a:rPr>
              <a:t>(2003)</a:t>
            </a:r>
            <a:endParaRPr sz="1200">
              <a:latin typeface="Arial"/>
              <a:cs typeface="Arial"/>
            </a:endParaRPr>
          </a:p>
          <a:p>
            <a:pPr>
              <a:lnSpc>
                <a:spcPct val="100000"/>
              </a:lnSpc>
            </a:pPr>
            <a:endParaRPr sz="1200">
              <a:latin typeface="Arial"/>
              <a:cs typeface="Arial"/>
            </a:endParaRPr>
          </a:p>
          <a:p>
            <a:pPr marL="12700" marR="8890">
              <a:lnSpc>
                <a:spcPts val="1380"/>
              </a:lnSpc>
            </a:pPr>
            <a:r>
              <a:rPr dirty="0" sz="1200" spc="-5" b="1">
                <a:latin typeface="Arial"/>
                <a:cs typeface="Arial"/>
              </a:rPr>
              <a:t>10 </a:t>
            </a:r>
            <a:r>
              <a:rPr dirty="0" sz="1200" spc="-5">
                <a:latin typeface="Arial"/>
                <a:cs typeface="Arial"/>
              </a:rPr>
              <a:t>Explain </a:t>
            </a:r>
            <a:r>
              <a:rPr dirty="0" sz="1200">
                <a:latin typeface="Arial"/>
                <a:cs typeface="Arial"/>
              </a:rPr>
              <a:t>the main </a:t>
            </a:r>
            <a:r>
              <a:rPr dirty="0" sz="1200" spc="-5">
                <a:latin typeface="Arial"/>
                <a:cs typeface="Arial"/>
              </a:rPr>
              <a:t>differences between the thought of the </a:t>
            </a:r>
            <a:r>
              <a:rPr dirty="0" sz="1200">
                <a:latin typeface="Arial"/>
                <a:cs typeface="Arial"/>
              </a:rPr>
              <a:t>modernist Islamic </a:t>
            </a:r>
            <a:r>
              <a:rPr dirty="0" sz="1200" spc="-5">
                <a:latin typeface="Arial"/>
                <a:cs typeface="Arial"/>
              </a:rPr>
              <a:t>scholar </a:t>
            </a:r>
            <a:r>
              <a:rPr dirty="0" sz="1200" spc="-10">
                <a:latin typeface="Arial"/>
                <a:cs typeface="Arial"/>
              </a:rPr>
              <a:t>Sayyid  </a:t>
            </a:r>
            <a:r>
              <a:rPr dirty="0" sz="1200" spc="-5">
                <a:latin typeface="Arial"/>
                <a:cs typeface="Arial"/>
              </a:rPr>
              <a:t>Ahmad Khan, and the thought of traditionalist scholars of the Salafi movement. [20]</a:t>
            </a:r>
            <a:r>
              <a:rPr dirty="0" sz="1200" spc="140">
                <a:latin typeface="Arial"/>
                <a:cs typeface="Arial"/>
              </a:rPr>
              <a:t> </a:t>
            </a:r>
            <a:r>
              <a:rPr dirty="0" sz="1200" spc="-5" b="1">
                <a:latin typeface="Arial"/>
                <a:cs typeface="Arial"/>
              </a:rPr>
              <a:t>(2004)</a:t>
            </a:r>
            <a:endParaRPr sz="1200">
              <a:latin typeface="Arial"/>
              <a:cs typeface="Arial"/>
            </a:endParaRPr>
          </a:p>
          <a:p>
            <a:pPr>
              <a:lnSpc>
                <a:spcPct val="100000"/>
              </a:lnSpc>
            </a:pPr>
            <a:endParaRPr sz="1200">
              <a:latin typeface="Arial"/>
              <a:cs typeface="Arial"/>
            </a:endParaRPr>
          </a:p>
          <a:p>
            <a:pPr marL="12700" marR="7620">
              <a:lnSpc>
                <a:spcPts val="1380"/>
              </a:lnSpc>
            </a:pPr>
            <a:r>
              <a:rPr dirty="0" sz="1200" spc="-5" b="1">
                <a:latin typeface="Arial"/>
                <a:cs typeface="Arial"/>
              </a:rPr>
              <a:t>10 </a:t>
            </a:r>
            <a:r>
              <a:rPr dirty="0" sz="1200" spc="-5">
                <a:latin typeface="Arial"/>
                <a:cs typeface="Arial"/>
              </a:rPr>
              <a:t>Compare and contrast the main </a:t>
            </a:r>
            <a:r>
              <a:rPr dirty="0" sz="1200">
                <a:latin typeface="Arial"/>
                <a:cs typeface="Arial"/>
              </a:rPr>
              <a:t>features </a:t>
            </a:r>
            <a:r>
              <a:rPr dirty="0" sz="1200" spc="-5">
                <a:latin typeface="Arial"/>
                <a:cs typeface="Arial"/>
              </a:rPr>
              <a:t>of the teachings of Sir Sayyid Ahmad Khan </a:t>
            </a:r>
            <a:r>
              <a:rPr dirty="0" sz="1200" spc="-10">
                <a:latin typeface="Arial"/>
                <a:cs typeface="Arial"/>
              </a:rPr>
              <a:t>and  </a:t>
            </a:r>
            <a:r>
              <a:rPr dirty="0" sz="1200">
                <a:latin typeface="Arial"/>
                <a:cs typeface="Arial"/>
              </a:rPr>
              <a:t>Hasan </a:t>
            </a:r>
            <a:r>
              <a:rPr dirty="0" sz="1200" spc="-5">
                <a:latin typeface="Arial"/>
                <a:cs typeface="Arial"/>
              </a:rPr>
              <a:t>al-Banna‘. [20]</a:t>
            </a:r>
            <a:r>
              <a:rPr dirty="0" sz="1200">
                <a:latin typeface="Arial"/>
                <a:cs typeface="Arial"/>
              </a:rPr>
              <a:t> </a:t>
            </a:r>
            <a:r>
              <a:rPr dirty="0" sz="1200" spc="-10" b="1">
                <a:latin typeface="Arial"/>
                <a:cs typeface="Arial"/>
              </a:rPr>
              <a:t>(2005)</a:t>
            </a:r>
            <a:endParaRPr sz="1200">
              <a:latin typeface="Arial"/>
              <a:cs typeface="Arial"/>
            </a:endParaRPr>
          </a:p>
          <a:p>
            <a:pPr>
              <a:lnSpc>
                <a:spcPct val="100000"/>
              </a:lnSpc>
              <a:spcBef>
                <a:spcPts val="15"/>
              </a:spcBef>
            </a:pPr>
            <a:endParaRPr sz="1100">
              <a:latin typeface="Arial"/>
              <a:cs typeface="Arial"/>
            </a:endParaRPr>
          </a:p>
          <a:p>
            <a:pPr marL="12700">
              <a:lnSpc>
                <a:spcPts val="1410"/>
              </a:lnSpc>
              <a:spcBef>
                <a:spcPts val="5"/>
              </a:spcBef>
            </a:pPr>
            <a:r>
              <a:rPr dirty="0" sz="1200" spc="-5" b="1">
                <a:latin typeface="Arial"/>
                <a:cs typeface="Arial"/>
              </a:rPr>
              <a:t>10 </a:t>
            </a:r>
            <a:r>
              <a:rPr dirty="0" sz="1200" spc="-5">
                <a:latin typeface="Arial"/>
                <a:cs typeface="Arial"/>
              </a:rPr>
              <a:t>Give </a:t>
            </a:r>
            <a:r>
              <a:rPr dirty="0" sz="1200">
                <a:latin typeface="Arial"/>
                <a:cs typeface="Arial"/>
              </a:rPr>
              <a:t>an </a:t>
            </a:r>
            <a:r>
              <a:rPr dirty="0" sz="1200" spc="-5">
                <a:latin typeface="Arial"/>
                <a:cs typeface="Arial"/>
              </a:rPr>
              <a:t>account of </a:t>
            </a:r>
            <a:r>
              <a:rPr dirty="0" sz="1200">
                <a:latin typeface="Arial"/>
                <a:cs typeface="Arial"/>
              </a:rPr>
              <a:t>the main </a:t>
            </a:r>
            <a:r>
              <a:rPr dirty="0" sz="1200" spc="-5">
                <a:latin typeface="Arial"/>
                <a:cs typeface="Arial"/>
              </a:rPr>
              <a:t>teachings of any </a:t>
            </a:r>
            <a:r>
              <a:rPr dirty="0" sz="1200" b="1">
                <a:latin typeface="Arial"/>
                <a:cs typeface="Arial"/>
              </a:rPr>
              <a:t>two </a:t>
            </a:r>
            <a:r>
              <a:rPr dirty="0" sz="1200" spc="-5">
                <a:latin typeface="Arial"/>
                <a:cs typeface="Arial"/>
              </a:rPr>
              <a:t>of the</a:t>
            </a:r>
            <a:r>
              <a:rPr dirty="0" sz="1200" spc="5">
                <a:latin typeface="Arial"/>
                <a:cs typeface="Arial"/>
              </a:rPr>
              <a:t> </a:t>
            </a:r>
            <a:r>
              <a:rPr dirty="0" sz="1200" spc="-5">
                <a:latin typeface="Arial"/>
                <a:cs typeface="Arial"/>
              </a:rPr>
              <a:t>following:</a:t>
            </a:r>
            <a:endParaRPr sz="1200">
              <a:latin typeface="Arial"/>
              <a:cs typeface="Arial"/>
            </a:endParaRPr>
          </a:p>
          <a:p>
            <a:pPr marL="241300" indent="-229235">
              <a:lnSpc>
                <a:spcPts val="1380"/>
              </a:lnSpc>
              <a:buFont typeface="Arial"/>
              <a:buAutoNum type="alphaLcParenBoth"/>
              <a:tabLst>
                <a:tab pos="241935" algn="l"/>
              </a:tabLst>
            </a:pPr>
            <a:r>
              <a:rPr dirty="0" sz="1200" spc="-5">
                <a:latin typeface="Arial"/>
                <a:cs typeface="Arial"/>
              </a:rPr>
              <a:t>Muhammad </a:t>
            </a:r>
            <a:r>
              <a:rPr dirty="0" sz="1200" spc="-75">
                <a:latin typeface="Arial"/>
                <a:cs typeface="Arial"/>
              </a:rPr>
              <a:t>‗Abduh</a:t>
            </a:r>
            <a:endParaRPr sz="1200">
              <a:latin typeface="Arial"/>
              <a:cs typeface="Arial"/>
            </a:endParaRPr>
          </a:p>
          <a:p>
            <a:pPr marL="248920" indent="-236854">
              <a:lnSpc>
                <a:spcPts val="1380"/>
              </a:lnSpc>
              <a:buFont typeface="Arial"/>
              <a:buAutoNum type="alphaLcParenBoth"/>
              <a:tabLst>
                <a:tab pos="249554" algn="l"/>
              </a:tabLst>
            </a:pPr>
            <a:r>
              <a:rPr dirty="0" sz="1200" spc="-5">
                <a:latin typeface="Arial"/>
                <a:cs typeface="Arial"/>
              </a:rPr>
              <a:t>Muhammad</a:t>
            </a:r>
            <a:r>
              <a:rPr dirty="0" sz="1200" spc="-15">
                <a:latin typeface="Arial"/>
                <a:cs typeface="Arial"/>
              </a:rPr>
              <a:t> </a:t>
            </a:r>
            <a:r>
              <a:rPr dirty="0" sz="1200" spc="-5">
                <a:latin typeface="Arial"/>
                <a:cs typeface="Arial"/>
              </a:rPr>
              <a:t>Iqbal</a:t>
            </a:r>
            <a:endParaRPr sz="1200">
              <a:latin typeface="Arial"/>
              <a:cs typeface="Arial"/>
            </a:endParaRPr>
          </a:p>
          <a:p>
            <a:pPr marL="241300" indent="-229235">
              <a:lnSpc>
                <a:spcPts val="1410"/>
              </a:lnSpc>
              <a:buFont typeface="Arial"/>
              <a:buAutoNum type="alphaLcParenBoth"/>
              <a:tabLst>
                <a:tab pos="241935" algn="l"/>
              </a:tabLst>
            </a:pPr>
            <a:r>
              <a:rPr dirty="0" sz="1200">
                <a:latin typeface="Arial"/>
                <a:cs typeface="Arial"/>
              </a:rPr>
              <a:t>Abu </a:t>
            </a:r>
            <a:r>
              <a:rPr dirty="0" sz="1200" spc="-105">
                <a:latin typeface="Arial"/>
                <a:cs typeface="Arial"/>
              </a:rPr>
              <a:t>A‗la </a:t>
            </a:r>
            <a:r>
              <a:rPr dirty="0" sz="1200" spc="-5">
                <a:latin typeface="Arial"/>
                <a:cs typeface="Arial"/>
              </a:rPr>
              <a:t>al-Mawdudi. [20]</a:t>
            </a:r>
            <a:r>
              <a:rPr dirty="0" sz="1200" spc="-114">
                <a:latin typeface="Arial"/>
                <a:cs typeface="Arial"/>
              </a:rPr>
              <a:t> </a:t>
            </a:r>
            <a:r>
              <a:rPr dirty="0" sz="1200" spc="-5" b="1">
                <a:latin typeface="Arial"/>
                <a:cs typeface="Arial"/>
              </a:rPr>
              <a:t>(2006)</a:t>
            </a:r>
            <a:endParaRPr sz="1200">
              <a:latin typeface="Arial"/>
              <a:cs typeface="Arial"/>
            </a:endParaRPr>
          </a:p>
          <a:p>
            <a:pPr>
              <a:lnSpc>
                <a:spcPct val="100000"/>
              </a:lnSpc>
              <a:spcBef>
                <a:spcPts val="35"/>
              </a:spcBef>
            </a:pPr>
            <a:endParaRPr sz="1200">
              <a:latin typeface="Arial"/>
              <a:cs typeface="Arial"/>
            </a:endParaRPr>
          </a:p>
          <a:p>
            <a:pPr marL="12700" marR="8890">
              <a:lnSpc>
                <a:spcPts val="1380"/>
              </a:lnSpc>
            </a:pPr>
            <a:r>
              <a:rPr dirty="0" sz="1200" spc="-5" b="1">
                <a:latin typeface="Arial"/>
                <a:cs typeface="Arial"/>
              </a:rPr>
              <a:t>12 (a) </a:t>
            </a:r>
            <a:r>
              <a:rPr dirty="0" sz="1200" spc="-5">
                <a:latin typeface="Arial"/>
                <a:cs typeface="Arial"/>
              </a:rPr>
              <a:t>Trace the early </a:t>
            </a:r>
            <a:r>
              <a:rPr dirty="0" sz="1200">
                <a:latin typeface="Arial"/>
                <a:cs typeface="Arial"/>
              </a:rPr>
              <a:t>historical </a:t>
            </a:r>
            <a:r>
              <a:rPr dirty="0" sz="1200" spc="-5">
                <a:latin typeface="Arial"/>
                <a:cs typeface="Arial"/>
              </a:rPr>
              <a:t>development of the Muslim Brotherhood of Egypt founded by  </a:t>
            </a:r>
            <a:r>
              <a:rPr dirty="0" sz="1200">
                <a:latin typeface="Arial"/>
                <a:cs typeface="Arial"/>
              </a:rPr>
              <a:t>Hasan </a:t>
            </a:r>
            <a:r>
              <a:rPr dirty="0" sz="1200" spc="-5">
                <a:latin typeface="Arial"/>
                <a:cs typeface="Arial"/>
              </a:rPr>
              <a:t>al-Banna.</a:t>
            </a:r>
            <a:r>
              <a:rPr dirty="0" sz="1200" spc="-10">
                <a:latin typeface="Arial"/>
                <a:cs typeface="Arial"/>
              </a:rPr>
              <a:t> </a:t>
            </a:r>
            <a:r>
              <a:rPr dirty="0" sz="1200" spc="-5">
                <a:latin typeface="Arial"/>
                <a:cs typeface="Arial"/>
              </a:rPr>
              <a:t>[12]</a:t>
            </a:r>
            <a:endParaRPr sz="1200">
              <a:latin typeface="Arial"/>
              <a:cs typeface="Arial"/>
            </a:endParaRPr>
          </a:p>
          <a:p>
            <a:pPr marL="226060">
              <a:lnSpc>
                <a:spcPts val="1345"/>
              </a:lnSpc>
            </a:pPr>
            <a:r>
              <a:rPr dirty="0" sz="1200" spc="-5" b="1">
                <a:latin typeface="Arial"/>
                <a:cs typeface="Arial"/>
              </a:rPr>
              <a:t>(b) </a:t>
            </a:r>
            <a:r>
              <a:rPr dirty="0" sz="1200" spc="-5">
                <a:latin typeface="Arial"/>
                <a:cs typeface="Arial"/>
              </a:rPr>
              <a:t>Discuss the significance of </a:t>
            </a:r>
            <a:r>
              <a:rPr dirty="0" sz="1200">
                <a:latin typeface="Arial"/>
                <a:cs typeface="Arial"/>
              </a:rPr>
              <a:t>its main </a:t>
            </a:r>
            <a:r>
              <a:rPr dirty="0" sz="1200" spc="-5">
                <a:latin typeface="Arial"/>
                <a:cs typeface="Arial"/>
              </a:rPr>
              <a:t>ideas today. </a:t>
            </a:r>
            <a:r>
              <a:rPr dirty="0" sz="1200">
                <a:latin typeface="Arial"/>
                <a:cs typeface="Arial"/>
              </a:rPr>
              <a:t>[8]</a:t>
            </a:r>
            <a:r>
              <a:rPr dirty="0" sz="1200" spc="40">
                <a:latin typeface="Arial"/>
                <a:cs typeface="Arial"/>
              </a:rPr>
              <a:t> </a:t>
            </a:r>
            <a:r>
              <a:rPr dirty="0" sz="1200" spc="-5" b="1">
                <a:latin typeface="Arial"/>
                <a:cs typeface="Arial"/>
              </a:rPr>
              <a:t>(2007)</a:t>
            </a:r>
            <a:endParaRPr sz="1200">
              <a:latin typeface="Arial"/>
              <a:cs typeface="Arial"/>
            </a:endParaRPr>
          </a:p>
          <a:p>
            <a:pPr>
              <a:lnSpc>
                <a:spcPct val="100000"/>
              </a:lnSpc>
              <a:spcBef>
                <a:spcPts val="40"/>
              </a:spcBef>
            </a:pPr>
            <a:endParaRPr sz="1200">
              <a:latin typeface="Arial"/>
              <a:cs typeface="Arial"/>
            </a:endParaRPr>
          </a:p>
          <a:p>
            <a:pPr marL="12700" marR="10795">
              <a:lnSpc>
                <a:spcPts val="1370"/>
              </a:lnSpc>
              <a:spcBef>
                <a:spcPts val="5"/>
              </a:spcBef>
            </a:pPr>
            <a:r>
              <a:rPr dirty="0" sz="1200" spc="-5" b="1">
                <a:latin typeface="Arial"/>
                <a:cs typeface="Arial"/>
              </a:rPr>
              <a:t>10 </a:t>
            </a:r>
            <a:r>
              <a:rPr dirty="0" sz="1200" spc="-5">
                <a:latin typeface="Arial"/>
                <a:cs typeface="Arial"/>
              </a:rPr>
              <a:t>Compare and contrast the main features of the teachings of Sir Sayyid Ahmad Khan </a:t>
            </a:r>
            <a:r>
              <a:rPr dirty="0" sz="1200" spc="-10">
                <a:latin typeface="Arial"/>
                <a:cs typeface="Arial"/>
              </a:rPr>
              <a:t>and  </a:t>
            </a:r>
            <a:r>
              <a:rPr dirty="0" sz="1200">
                <a:latin typeface="Arial"/>
                <a:cs typeface="Arial"/>
              </a:rPr>
              <a:t>Hasan </a:t>
            </a:r>
            <a:r>
              <a:rPr dirty="0" sz="1200" spc="-5">
                <a:latin typeface="Arial"/>
                <a:cs typeface="Arial"/>
              </a:rPr>
              <a:t>al-Banna‘. [20] </a:t>
            </a:r>
            <a:r>
              <a:rPr dirty="0" sz="1200" spc="-10" b="1">
                <a:latin typeface="Arial"/>
                <a:cs typeface="Arial"/>
              </a:rPr>
              <a:t>(2008)</a:t>
            </a:r>
            <a:endParaRPr sz="1200">
              <a:latin typeface="Arial"/>
              <a:cs typeface="Arial"/>
            </a:endParaRPr>
          </a:p>
          <a:p>
            <a:pPr>
              <a:lnSpc>
                <a:spcPct val="100000"/>
              </a:lnSpc>
              <a:spcBef>
                <a:spcPts val="55"/>
              </a:spcBef>
            </a:pPr>
            <a:endParaRPr sz="1150">
              <a:latin typeface="Arial"/>
              <a:cs typeface="Arial"/>
            </a:endParaRPr>
          </a:p>
          <a:p>
            <a:pPr marL="12700" marR="5080">
              <a:lnSpc>
                <a:spcPts val="1380"/>
              </a:lnSpc>
            </a:pPr>
            <a:r>
              <a:rPr dirty="0" sz="1200" spc="-5" b="1">
                <a:latin typeface="Arial"/>
                <a:cs typeface="Arial"/>
              </a:rPr>
              <a:t>10 </a:t>
            </a:r>
            <a:r>
              <a:rPr dirty="0" sz="1200">
                <a:latin typeface="Arial"/>
                <a:cs typeface="Arial"/>
              </a:rPr>
              <a:t>Outline </a:t>
            </a:r>
            <a:r>
              <a:rPr dirty="0" sz="1200" spc="-5">
                <a:latin typeface="Arial"/>
                <a:cs typeface="Arial"/>
              </a:rPr>
              <a:t>the main differences between the religious thought of </a:t>
            </a:r>
            <a:r>
              <a:rPr dirty="0" sz="1200">
                <a:latin typeface="Arial"/>
                <a:cs typeface="Arial"/>
              </a:rPr>
              <a:t>Hasan al-Banna‘ </a:t>
            </a:r>
            <a:r>
              <a:rPr dirty="0" sz="1200" spc="-10">
                <a:latin typeface="Arial"/>
                <a:cs typeface="Arial"/>
              </a:rPr>
              <a:t>and  </a:t>
            </a:r>
            <a:r>
              <a:rPr dirty="0" sz="1200" spc="-5">
                <a:latin typeface="Arial"/>
                <a:cs typeface="Arial"/>
              </a:rPr>
              <a:t>Muhammad Iqbal. [20]</a:t>
            </a:r>
            <a:r>
              <a:rPr dirty="0" sz="1200" spc="10">
                <a:latin typeface="Arial"/>
                <a:cs typeface="Arial"/>
              </a:rPr>
              <a:t> </a:t>
            </a:r>
            <a:r>
              <a:rPr dirty="0" sz="1200" spc="-5" b="1">
                <a:latin typeface="Arial"/>
                <a:cs typeface="Arial"/>
              </a:rPr>
              <a:t>(2009)</a:t>
            </a:r>
            <a:endParaRPr sz="1200">
              <a:latin typeface="Arial"/>
              <a:cs typeface="Arial"/>
            </a:endParaRPr>
          </a:p>
          <a:p>
            <a:pPr>
              <a:lnSpc>
                <a:spcPct val="100000"/>
              </a:lnSpc>
              <a:spcBef>
                <a:spcPts val="5"/>
              </a:spcBef>
            </a:pPr>
            <a:endParaRPr sz="1200">
              <a:latin typeface="Arial"/>
              <a:cs typeface="Arial"/>
            </a:endParaRPr>
          </a:p>
          <a:p>
            <a:pPr marL="12700" marR="11430">
              <a:lnSpc>
                <a:spcPts val="1380"/>
              </a:lnSpc>
            </a:pPr>
            <a:r>
              <a:rPr dirty="0" sz="1200" spc="-5" b="1">
                <a:latin typeface="Arial"/>
                <a:cs typeface="Arial"/>
              </a:rPr>
              <a:t>10 </a:t>
            </a:r>
            <a:r>
              <a:rPr dirty="0" sz="1200" spc="-10">
                <a:latin typeface="Arial"/>
                <a:cs typeface="Arial"/>
              </a:rPr>
              <a:t>Sayyid </a:t>
            </a:r>
            <a:r>
              <a:rPr dirty="0" sz="1200">
                <a:latin typeface="Arial"/>
                <a:cs typeface="Arial"/>
              </a:rPr>
              <a:t>Ahmad </a:t>
            </a:r>
            <a:r>
              <a:rPr dirty="0" sz="1200" spc="-5">
                <a:latin typeface="Arial"/>
                <a:cs typeface="Arial"/>
              </a:rPr>
              <a:t>Khan and Muhammad Iqbal were both of Indian origin, but </a:t>
            </a:r>
            <a:r>
              <a:rPr dirty="0" sz="1200">
                <a:latin typeface="Arial"/>
                <a:cs typeface="Arial"/>
              </a:rPr>
              <a:t>their </a:t>
            </a:r>
            <a:r>
              <a:rPr dirty="0" sz="1200" spc="-5">
                <a:latin typeface="Arial"/>
                <a:cs typeface="Arial"/>
              </a:rPr>
              <a:t>Islamic  thought contains major differences. </a:t>
            </a:r>
            <a:r>
              <a:rPr dirty="0" sz="1200">
                <a:latin typeface="Arial"/>
                <a:cs typeface="Arial"/>
              </a:rPr>
              <a:t>Examine </a:t>
            </a:r>
            <a:r>
              <a:rPr dirty="0" sz="1200" spc="-5">
                <a:latin typeface="Arial"/>
                <a:cs typeface="Arial"/>
              </a:rPr>
              <a:t>these differences. [20]</a:t>
            </a:r>
            <a:r>
              <a:rPr dirty="0" sz="1200" spc="25">
                <a:latin typeface="Arial"/>
                <a:cs typeface="Arial"/>
              </a:rPr>
              <a:t> </a:t>
            </a:r>
            <a:r>
              <a:rPr dirty="0" sz="1200" spc="-10" b="1">
                <a:latin typeface="Arial"/>
                <a:cs typeface="Arial"/>
              </a:rPr>
              <a:t>(2010)</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167</a:t>
            </a:r>
            <a:endParaRPr sz="1200">
              <a:latin typeface="Times New Roman"/>
              <a:cs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5970905" cy="208279"/>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478536" y="827531"/>
            <a:ext cx="6420485"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b="1">
                <a:latin typeface="Arial"/>
                <a:cs typeface="Arial"/>
              </a:rPr>
              <a:t>Islam, </a:t>
            </a:r>
            <a:r>
              <a:rPr dirty="0" sz="1200" spc="-5" b="1">
                <a:latin typeface="Arial"/>
                <a:cs typeface="Arial"/>
              </a:rPr>
              <a:t>Judaism </a:t>
            </a:r>
            <a:r>
              <a:rPr dirty="0" sz="1200" spc="-15" b="1">
                <a:latin typeface="Arial"/>
                <a:cs typeface="Arial"/>
              </a:rPr>
              <a:t>And</a:t>
            </a:r>
            <a:r>
              <a:rPr dirty="0" sz="1200" spc="10" b="1">
                <a:latin typeface="Arial"/>
                <a:cs typeface="Arial"/>
              </a:rPr>
              <a:t> </a:t>
            </a:r>
            <a:r>
              <a:rPr dirty="0" sz="1200" b="1">
                <a:latin typeface="Arial"/>
                <a:cs typeface="Arial"/>
              </a:rPr>
              <a:t>Christianity</a:t>
            </a:r>
            <a:endParaRPr sz="12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8" name="object 8"/>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168</a:t>
            </a:r>
            <a:endParaRPr sz="1200">
              <a:latin typeface="Times New Roman"/>
              <a:cs typeface="Times New Roman"/>
            </a:endParaRPr>
          </a:p>
        </p:txBody>
      </p:sp>
      <p:sp>
        <p:nvSpPr>
          <p:cNvPr id="5" name="object 5"/>
          <p:cNvSpPr txBox="1"/>
          <p:nvPr/>
        </p:nvSpPr>
        <p:spPr>
          <a:xfrm>
            <a:off x="534416" y="1401826"/>
            <a:ext cx="6311265" cy="5401310"/>
          </a:xfrm>
          <a:prstGeom prst="rect">
            <a:avLst/>
          </a:prstGeom>
        </p:spPr>
        <p:txBody>
          <a:bodyPr wrap="square" lIns="0" tIns="20320" rIns="0" bIns="0" rtlCol="0" vert="horz">
            <a:spAutoFit/>
          </a:bodyPr>
          <a:lstStyle/>
          <a:p>
            <a:pPr algn="just" marL="12700" marR="5080">
              <a:lnSpc>
                <a:spcPct val="95900"/>
              </a:lnSpc>
              <a:spcBef>
                <a:spcPts val="160"/>
              </a:spcBef>
            </a:pPr>
            <a:r>
              <a:rPr dirty="0" sz="1200" spc="-5">
                <a:latin typeface="Arial"/>
                <a:cs typeface="Arial"/>
              </a:rPr>
              <a:t>Islam is </a:t>
            </a:r>
            <a:r>
              <a:rPr dirty="0" sz="1200">
                <a:latin typeface="Arial"/>
                <a:cs typeface="Arial"/>
              </a:rPr>
              <a:t>the </a:t>
            </a:r>
            <a:r>
              <a:rPr dirty="0" sz="1200" spc="-5">
                <a:latin typeface="Arial"/>
                <a:cs typeface="Arial"/>
              </a:rPr>
              <a:t>second largest religion in the </a:t>
            </a:r>
            <a:r>
              <a:rPr dirty="0" sz="1200" spc="-10">
                <a:latin typeface="Arial"/>
                <a:cs typeface="Arial"/>
              </a:rPr>
              <a:t>world </a:t>
            </a:r>
            <a:r>
              <a:rPr dirty="0" sz="1200" spc="-5">
                <a:latin typeface="Arial"/>
                <a:cs typeface="Arial"/>
              </a:rPr>
              <a:t>after Christianity. </a:t>
            </a:r>
            <a:r>
              <a:rPr dirty="0" sz="1200">
                <a:latin typeface="Arial"/>
                <a:cs typeface="Arial"/>
              </a:rPr>
              <a:t>As </a:t>
            </a:r>
            <a:r>
              <a:rPr dirty="0" sz="1200" spc="-5">
                <a:latin typeface="Arial"/>
                <a:cs typeface="Arial"/>
              </a:rPr>
              <a:t>a monotheistic faith that  originated in the Middle East, Islam holds many </a:t>
            </a:r>
            <a:r>
              <a:rPr dirty="0" sz="1200">
                <a:latin typeface="Arial"/>
                <a:cs typeface="Arial"/>
              </a:rPr>
              <a:t>beliefs </a:t>
            </a:r>
            <a:r>
              <a:rPr dirty="0" sz="1200" spc="-5">
                <a:latin typeface="Arial"/>
                <a:cs typeface="Arial"/>
              </a:rPr>
              <a:t>and practices in </a:t>
            </a:r>
            <a:r>
              <a:rPr dirty="0" sz="1200">
                <a:latin typeface="Arial"/>
                <a:cs typeface="Arial"/>
              </a:rPr>
              <a:t>common </a:t>
            </a:r>
            <a:r>
              <a:rPr dirty="0" sz="1200" spc="-5">
                <a:latin typeface="Arial"/>
                <a:cs typeface="Arial"/>
              </a:rPr>
              <a:t>with  Judaism and Christianity. Judaism, Islam and Christianity are collectively known as  "Abrahamic religions" because they </a:t>
            </a:r>
            <a:r>
              <a:rPr dirty="0" sz="1200">
                <a:latin typeface="Arial"/>
                <a:cs typeface="Arial"/>
              </a:rPr>
              <a:t>trace their </a:t>
            </a:r>
            <a:r>
              <a:rPr dirty="0" sz="1200" spc="-5">
                <a:latin typeface="Arial"/>
                <a:cs typeface="Arial"/>
              </a:rPr>
              <a:t>history </a:t>
            </a:r>
            <a:r>
              <a:rPr dirty="0" sz="1200">
                <a:latin typeface="Arial"/>
                <a:cs typeface="Arial"/>
              </a:rPr>
              <a:t>to </a:t>
            </a:r>
            <a:r>
              <a:rPr dirty="0" sz="1200" spc="-5">
                <a:latin typeface="Arial"/>
                <a:cs typeface="Arial"/>
              </a:rPr>
              <a:t>the covenant God made with  Abraham in </a:t>
            </a:r>
            <a:r>
              <a:rPr dirty="0" sz="1200">
                <a:latin typeface="Arial"/>
                <a:cs typeface="Arial"/>
              </a:rPr>
              <a:t>the </a:t>
            </a:r>
            <a:r>
              <a:rPr dirty="0" sz="1200" spc="-10">
                <a:latin typeface="Arial"/>
                <a:cs typeface="Arial"/>
              </a:rPr>
              <a:t>Hebrew </a:t>
            </a:r>
            <a:r>
              <a:rPr dirty="0" sz="1200" spc="-5">
                <a:latin typeface="Arial"/>
                <a:cs typeface="Arial"/>
              </a:rPr>
              <a:t>Bible. </a:t>
            </a:r>
            <a:r>
              <a:rPr dirty="0" sz="1200">
                <a:latin typeface="Arial"/>
                <a:cs typeface="Arial"/>
              </a:rPr>
              <a:t>The </a:t>
            </a:r>
            <a:r>
              <a:rPr dirty="0" sz="1200" spc="-5">
                <a:latin typeface="Arial"/>
                <a:cs typeface="Arial"/>
              </a:rPr>
              <a:t>Prophet Muhammad </a:t>
            </a:r>
            <a:r>
              <a:rPr dirty="0" sz="1200">
                <a:latin typeface="Arial"/>
                <a:cs typeface="Arial"/>
              </a:rPr>
              <a:t>met </a:t>
            </a:r>
            <a:r>
              <a:rPr dirty="0" sz="1200" spc="-5">
                <a:latin typeface="Arial"/>
                <a:cs typeface="Arial"/>
              </a:rPr>
              <a:t>both Jews and Christians during  his lifetime, and Islam has come into frequent contact with both of </a:t>
            </a:r>
            <a:r>
              <a:rPr dirty="0" sz="1200">
                <a:latin typeface="Arial"/>
                <a:cs typeface="Arial"/>
              </a:rPr>
              <a:t>its fellow </a:t>
            </a:r>
            <a:r>
              <a:rPr dirty="0" sz="1200" spc="-5">
                <a:latin typeface="Arial"/>
                <a:cs typeface="Arial"/>
              </a:rPr>
              <a:t>monotheistic  </a:t>
            </a:r>
            <a:r>
              <a:rPr dirty="0" sz="1200">
                <a:latin typeface="Arial"/>
                <a:cs typeface="Arial"/>
              </a:rPr>
              <a:t>faiths </a:t>
            </a:r>
            <a:r>
              <a:rPr dirty="0" sz="1200" spc="-5">
                <a:latin typeface="Arial"/>
                <a:cs typeface="Arial"/>
              </a:rPr>
              <a:t>throughout most of </a:t>
            </a:r>
            <a:r>
              <a:rPr dirty="0" sz="1200">
                <a:latin typeface="Arial"/>
                <a:cs typeface="Arial"/>
              </a:rPr>
              <a:t>its </a:t>
            </a:r>
            <a:r>
              <a:rPr dirty="0" sz="1200" spc="-5">
                <a:latin typeface="Arial"/>
                <a:cs typeface="Arial"/>
              </a:rPr>
              <a:t>history. The three prophets are directly descended </a:t>
            </a:r>
            <a:r>
              <a:rPr dirty="0" sz="1200">
                <a:latin typeface="Arial"/>
                <a:cs typeface="Arial"/>
              </a:rPr>
              <a:t>from the </a:t>
            </a:r>
            <a:r>
              <a:rPr dirty="0" sz="1200" spc="-10">
                <a:latin typeface="Arial"/>
                <a:cs typeface="Arial"/>
              </a:rPr>
              <a:t>two  </a:t>
            </a:r>
            <a:r>
              <a:rPr dirty="0" sz="1200" spc="-5">
                <a:latin typeface="Arial"/>
                <a:cs typeface="Arial"/>
              </a:rPr>
              <a:t>sons of Abraham, Ishmael and Isaac. Muhammad is a descendant of the eldest son,  </a:t>
            </a:r>
            <a:r>
              <a:rPr dirty="0" sz="1200">
                <a:latin typeface="Arial"/>
                <a:cs typeface="Arial"/>
              </a:rPr>
              <a:t>Ishmael. </a:t>
            </a:r>
            <a:r>
              <a:rPr dirty="0" sz="1200" spc="-5">
                <a:latin typeface="Arial"/>
                <a:cs typeface="Arial"/>
              </a:rPr>
              <a:t>Moses and Jesus descended from </a:t>
            </a:r>
            <a:r>
              <a:rPr dirty="0" sz="1200">
                <a:latin typeface="Arial"/>
                <a:cs typeface="Arial"/>
              </a:rPr>
              <a:t>Isaac. </a:t>
            </a:r>
            <a:r>
              <a:rPr dirty="0" sz="1200" spc="-5">
                <a:latin typeface="Arial"/>
                <a:cs typeface="Arial"/>
              </a:rPr>
              <a:t>Abraham established a settlement, which  </a:t>
            </a:r>
            <a:r>
              <a:rPr dirty="0" sz="1200">
                <a:latin typeface="Arial"/>
                <a:cs typeface="Arial"/>
              </a:rPr>
              <a:t>today </a:t>
            </a:r>
            <a:r>
              <a:rPr dirty="0" sz="1200" spc="-5">
                <a:latin typeface="Arial"/>
                <a:cs typeface="Arial"/>
              </a:rPr>
              <a:t>is </a:t>
            </a:r>
            <a:r>
              <a:rPr dirty="0" sz="1200">
                <a:latin typeface="Arial"/>
                <a:cs typeface="Arial"/>
              </a:rPr>
              <a:t>the city of </a:t>
            </a:r>
            <a:r>
              <a:rPr dirty="0" sz="1200" spc="-5">
                <a:latin typeface="Arial"/>
                <a:cs typeface="Arial"/>
              </a:rPr>
              <a:t>Makkah and built the Ka‘bah towards which all Muslims </a:t>
            </a:r>
            <a:r>
              <a:rPr dirty="0" sz="1200">
                <a:latin typeface="Arial"/>
                <a:cs typeface="Arial"/>
              </a:rPr>
              <a:t>turn </a:t>
            </a:r>
            <a:r>
              <a:rPr dirty="0" sz="1200" spc="-5">
                <a:latin typeface="Arial"/>
                <a:cs typeface="Arial"/>
              </a:rPr>
              <a:t>when they  pray. Furthermore, throughout the Muslim holy book, the </a:t>
            </a:r>
            <a:r>
              <a:rPr dirty="0" sz="1200">
                <a:latin typeface="Arial"/>
                <a:cs typeface="Arial"/>
              </a:rPr>
              <a:t>Qur'an, the </a:t>
            </a:r>
            <a:r>
              <a:rPr dirty="0" sz="1200" spc="-5">
                <a:latin typeface="Arial"/>
                <a:cs typeface="Arial"/>
              </a:rPr>
              <a:t>links between these  religions </a:t>
            </a:r>
            <a:r>
              <a:rPr dirty="0" sz="1200">
                <a:latin typeface="Arial"/>
                <a:cs typeface="Arial"/>
              </a:rPr>
              <a:t>are </a:t>
            </a:r>
            <a:r>
              <a:rPr dirty="0" sz="1200" spc="-5">
                <a:latin typeface="Arial"/>
                <a:cs typeface="Arial"/>
              </a:rPr>
              <a:t>affirmed:</a:t>
            </a:r>
            <a:endParaRPr sz="1200">
              <a:latin typeface="Arial"/>
              <a:cs typeface="Arial"/>
            </a:endParaRPr>
          </a:p>
          <a:p>
            <a:pPr algn="just" marL="12700" marR="5080">
              <a:lnSpc>
                <a:spcPts val="1380"/>
              </a:lnSpc>
              <a:spcBef>
                <a:spcPts val="1030"/>
              </a:spcBef>
            </a:pPr>
            <a:r>
              <a:rPr dirty="0" sz="1200" spc="-165">
                <a:latin typeface="Arial"/>
                <a:cs typeface="Arial"/>
              </a:rPr>
              <a:t>―Say: </a:t>
            </a:r>
            <a:r>
              <a:rPr dirty="0" sz="1200" spc="20">
                <a:latin typeface="Arial"/>
                <a:cs typeface="Arial"/>
              </a:rPr>
              <a:t>We </a:t>
            </a:r>
            <a:r>
              <a:rPr dirty="0" sz="1200" spc="-5">
                <a:latin typeface="Arial"/>
                <a:cs typeface="Arial"/>
              </a:rPr>
              <a:t>believe in </a:t>
            </a:r>
            <a:r>
              <a:rPr dirty="0" sz="1200">
                <a:latin typeface="Arial"/>
                <a:cs typeface="Arial"/>
              </a:rPr>
              <a:t>God, </a:t>
            </a:r>
            <a:r>
              <a:rPr dirty="0" sz="1200" spc="-5">
                <a:latin typeface="Arial"/>
                <a:cs typeface="Arial"/>
              </a:rPr>
              <a:t>and in </a:t>
            </a:r>
            <a:r>
              <a:rPr dirty="0" sz="1200">
                <a:latin typeface="Arial"/>
                <a:cs typeface="Arial"/>
              </a:rPr>
              <a:t>that </a:t>
            </a:r>
            <a:r>
              <a:rPr dirty="0" sz="1200" spc="-5">
                <a:latin typeface="Arial"/>
                <a:cs typeface="Arial"/>
              </a:rPr>
              <a:t>which has been sent down on us and that </a:t>
            </a:r>
            <a:r>
              <a:rPr dirty="0" sz="1200">
                <a:latin typeface="Arial"/>
                <a:cs typeface="Arial"/>
              </a:rPr>
              <a:t>sent </a:t>
            </a:r>
            <a:r>
              <a:rPr dirty="0" sz="1200" spc="-10">
                <a:latin typeface="Arial"/>
                <a:cs typeface="Arial"/>
              </a:rPr>
              <a:t>down on  </a:t>
            </a:r>
            <a:r>
              <a:rPr dirty="0" sz="1200" spc="-5">
                <a:latin typeface="Arial"/>
                <a:cs typeface="Arial"/>
              </a:rPr>
              <a:t>Abraham, Ishmael, Isaac, Jacob, and </a:t>
            </a:r>
            <a:r>
              <a:rPr dirty="0" sz="1200">
                <a:latin typeface="Arial"/>
                <a:cs typeface="Arial"/>
              </a:rPr>
              <a:t>their </a:t>
            </a:r>
            <a:r>
              <a:rPr dirty="0" sz="1200" spc="-5">
                <a:latin typeface="Arial"/>
                <a:cs typeface="Arial"/>
              </a:rPr>
              <a:t>descendants, and that which </a:t>
            </a:r>
            <a:r>
              <a:rPr dirty="0" sz="1200" spc="-10">
                <a:latin typeface="Arial"/>
                <a:cs typeface="Arial"/>
              </a:rPr>
              <a:t>was </a:t>
            </a:r>
            <a:r>
              <a:rPr dirty="0" sz="1200" spc="-5">
                <a:latin typeface="Arial"/>
                <a:cs typeface="Arial"/>
              </a:rPr>
              <a:t>given </a:t>
            </a:r>
            <a:r>
              <a:rPr dirty="0" sz="1200">
                <a:latin typeface="Arial"/>
                <a:cs typeface="Arial"/>
              </a:rPr>
              <a:t>to </a:t>
            </a:r>
            <a:r>
              <a:rPr dirty="0" sz="1200" spc="-5">
                <a:latin typeface="Arial"/>
                <a:cs typeface="Arial"/>
              </a:rPr>
              <a:t>Moses  and Jesus, and </a:t>
            </a:r>
            <a:r>
              <a:rPr dirty="0" sz="1200" spc="-10">
                <a:latin typeface="Arial"/>
                <a:cs typeface="Arial"/>
              </a:rPr>
              <a:t>was </a:t>
            </a:r>
            <a:r>
              <a:rPr dirty="0" sz="1200" spc="-5">
                <a:latin typeface="Arial"/>
                <a:cs typeface="Arial"/>
              </a:rPr>
              <a:t>given </a:t>
            </a:r>
            <a:r>
              <a:rPr dirty="0" sz="1200">
                <a:latin typeface="Arial"/>
                <a:cs typeface="Arial"/>
              </a:rPr>
              <a:t>to </a:t>
            </a:r>
            <a:r>
              <a:rPr dirty="0" sz="1200" spc="-5">
                <a:latin typeface="Arial"/>
                <a:cs typeface="Arial"/>
              </a:rPr>
              <a:t>all the prophets, from </a:t>
            </a:r>
            <a:r>
              <a:rPr dirty="0" sz="1200">
                <a:latin typeface="Arial"/>
                <a:cs typeface="Arial"/>
              </a:rPr>
              <a:t>their </a:t>
            </a:r>
            <a:r>
              <a:rPr dirty="0" sz="1200" spc="-5">
                <a:latin typeface="Arial"/>
                <a:cs typeface="Arial"/>
              </a:rPr>
              <a:t>Lord; </a:t>
            </a:r>
            <a:r>
              <a:rPr dirty="0" sz="1200" spc="-10">
                <a:latin typeface="Arial"/>
                <a:cs typeface="Arial"/>
              </a:rPr>
              <a:t>we </a:t>
            </a:r>
            <a:r>
              <a:rPr dirty="0" sz="1200">
                <a:latin typeface="Arial"/>
                <a:cs typeface="Arial"/>
              </a:rPr>
              <a:t>make </a:t>
            </a:r>
            <a:r>
              <a:rPr dirty="0" sz="1200" spc="-10">
                <a:latin typeface="Arial"/>
                <a:cs typeface="Arial"/>
              </a:rPr>
              <a:t>no </a:t>
            </a:r>
            <a:r>
              <a:rPr dirty="0" sz="1200" spc="-5">
                <a:latin typeface="Arial"/>
                <a:cs typeface="Arial"/>
              </a:rPr>
              <a:t>distinction  between any of them; and </a:t>
            </a:r>
            <a:r>
              <a:rPr dirty="0" sz="1200" spc="-10">
                <a:latin typeface="Arial"/>
                <a:cs typeface="Arial"/>
              </a:rPr>
              <a:t>we </a:t>
            </a:r>
            <a:r>
              <a:rPr dirty="0" sz="1200" spc="-5">
                <a:latin typeface="Arial"/>
                <a:cs typeface="Arial"/>
              </a:rPr>
              <a:t>surrender ourselves </a:t>
            </a:r>
            <a:r>
              <a:rPr dirty="0" sz="1200">
                <a:latin typeface="Arial"/>
                <a:cs typeface="Arial"/>
              </a:rPr>
              <a:t>to </a:t>
            </a:r>
            <a:r>
              <a:rPr dirty="0" sz="1200" spc="-5">
                <a:latin typeface="Arial"/>
                <a:cs typeface="Arial"/>
              </a:rPr>
              <a:t>God </a:t>
            </a:r>
            <a:r>
              <a:rPr dirty="0" sz="1200" spc="-15">
                <a:latin typeface="Arial"/>
                <a:cs typeface="Arial"/>
              </a:rPr>
              <a:t>alone.‖ </a:t>
            </a:r>
            <a:r>
              <a:rPr dirty="0" sz="1200" spc="-5">
                <a:latin typeface="Arial"/>
                <a:cs typeface="Arial"/>
              </a:rPr>
              <a:t>(Qur'an</a:t>
            </a:r>
            <a:r>
              <a:rPr dirty="0" sz="1200" spc="80">
                <a:latin typeface="Arial"/>
                <a:cs typeface="Arial"/>
              </a:rPr>
              <a:t> </a:t>
            </a:r>
            <a:r>
              <a:rPr dirty="0" sz="1200" spc="-5">
                <a:latin typeface="Arial"/>
                <a:cs typeface="Arial"/>
              </a:rPr>
              <a:t>2:136)</a:t>
            </a:r>
            <a:endParaRPr sz="1200">
              <a:latin typeface="Arial"/>
              <a:cs typeface="Arial"/>
            </a:endParaRPr>
          </a:p>
          <a:p>
            <a:pPr algn="just" marL="12700" marR="7620">
              <a:lnSpc>
                <a:spcPct val="95600"/>
              </a:lnSpc>
              <a:spcBef>
                <a:spcPts val="975"/>
              </a:spcBef>
            </a:pPr>
            <a:r>
              <a:rPr dirty="0" sz="1200" spc="-5">
                <a:latin typeface="Arial"/>
                <a:cs typeface="Arial"/>
              </a:rPr>
              <a:t>Christians and Jews hold a special place in </a:t>
            </a:r>
            <a:r>
              <a:rPr dirty="0" sz="1200">
                <a:latin typeface="Arial"/>
                <a:cs typeface="Arial"/>
              </a:rPr>
              <a:t>Islam. They </a:t>
            </a:r>
            <a:r>
              <a:rPr dirty="0" sz="1200" spc="-5">
                <a:latin typeface="Arial"/>
                <a:cs typeface="Arial"/>
              </a:rPr>
              <a:t>are called </a:t>
            </a:r>
            <a:r>
              <a:rPr dirty="0" sz="1200">
                <a:latin typeface="Arial"/>
                <a:cs typeface="Arial"/>
              </a:rPr>
              <a:t>the </a:t>
            </a:r>
            <a:r>
              <a:rPr dirty="0" sz="1200" spc="-5">
                <a:latin typeface="Arial"/>
                <a:cs typeface="Arial"/>
              </a:rPr>
              <a:t>People of </a:t>
            </a:r>
            <a:r>
              <a:rPr dirty="0" sz="1200">
                <a:latin typeface="Arial"/>
                <a:cs typeface="Arial"/>
              </a:rPr>
              <a:t>the </a:t>
            </a:r>
            <a:r>
              <a:rPr dirty="0" sz="1200" spc="-5">
                <a:latin typeface="Arial"/>
                <a:cs typeface="Arial"/>
              </a:rPr>
              <a:t>Book  (Ahl al-Kitab), since the original Torah and Gospel were also divinely revealed and they  shared in the prophetic </a:t>
            </a:r>
            <a:r>
              <a:rPr dirty="0" sz="1200">
                <a:latin typeface="Arial"/>
                <a:cs typeface="Arial"/>
              </a:rPr>
              <a:t>tradition. True </a:t>
            </a:r>
            <a:r>
              <a:rPr dirty="0" sz="1200" spc="-5">
                <a:latin typeface="Arial"/>
                <a:cs typeface="Arial"/>
              </a:rPr>
              <a:t>Islamic </a:t>
            </a:r>
            <a:r>
              <a:rPr dirty="0" sz="1200">
                <a:latin typeface="Arial"/>
                <a:cs typeface="Arial"/>
              </a:rPr>
              <a:t>states </a:t>
            </a:r>
            <a:r>
              <a:rPr dirty="0" sz="1200" spc="-5">
                <a:latin typeface="Arial"/>
                <a:cs typeface="Arial"/>
              </a:rPr>
              <a:t>have </a:t>
            </a:r>
            <a:r>
              <a:rPr dirty="0" sz="1200" spc="-10">
                <a:latin typeface="Arial"/>
                <a:cs typeface="Arial"/>
              </a:rPr>
              <a:t>always </a:t>
            </a:r>
            <a:r>
              <a:rPr dirty="0" sz="1200" spc="-5">
                <a:latin typeface="Arial"/>
                <a:cs typeface="Arial"/>
              </a:rPr>
              <a:t>shown </a:t>
            </a:r>
            <a:r>
              <a:rPr dirty="0" sz="1200">
                <a:latin typeface="Arial"/>
                <a:cs typeface="Arial"/>
              </a:rPr>
              <a:t>their </a:t>
            </a:r>
            <a:r>
              <a:rPr dirty="0" sz="1200" spc="-5">
                <a:latin typeface="Arial"/>
                <a:cs typeface="Arial"/>
              </a:rPr>
              <a:t>religious  minorities tolerance and </a:t>
            </a:r>
            <a:r>
              <a:rPr dirty="0" sz="1200">
                <a:latin typeface="Arial"/>
                <a:cs typeface="Arial"/>
              </a:rPr>
              <a:t>respect </a:t>
            </a:r>
            <a:r>
              <a:rPr dirty="0" sz="1200" spc="-5">
                <a:latin typeface="Arial"/>
                <a:cs typeface="Arial"/>
              </a:rPr>
              <a:t>and those communities flourished under </a:t>
            </a:r>
            <a:r>
              <a:rPr dirty="0" sz="1200">
                <a:latin typeface="Arial"/>
                <a:cs typeface="Arial"/>
              </a:rPr>
              <a:t>Islamic </a:t>
            </a:r>
            <a:r>
              <a:rPr dirty="0" sz="1200" spc="-5">
                <a:latin typeface="Arial"/>
                <a:cs typeface="Arial"/>
              </a:rPr>
              <a:t>rule. God  says:</a:t>
            </a:r>
            <a:endParaRPr sz="1200">
              <a:latin typeface="Arial"/>
              <a:cs typeface="Arial"/>
            </a:endParaRPr>
          </a:p>
          <a:p>
            <a:pPr algn="just" marL="12700" marR="5080">
              <a:lnSpc>
                <a:spcPts val="1380"/>
              </a:lnSpc>
              <a:spcBef>
                <a:spcPts val="1045"/>
              </a:spcBef>
            </a:pPr>
            <a:r>
              <a:rPr dirty="0" sz="1200" spc="-5">
                <a:latin typeface="Arial"/>
                <a:cs typeface="Arial"/>
              </a:rPr>
              <a:t>"...Those who believe (in </a:t>
            </a:r>
            <a:r>
              <a:rPr dirty="0" sz="1200">
                <a:latin typeface="Arial"/>
                <a:cs typeface="Arial"/>
              </a:rPr>
              <a:t>the </a:t>
            </a:r>
            <a:r>
              <a:rPr dirty="0" sz="1200" spc="-5">
                <a:latin typeface="Arial"/>
                <a:cs typeface="Arial"/>
              </a:rPr>
              <a:t>message of Islam), and the Jews, </a:t>
            </a:r>
            <a:r>
              <a:rPr dirty="0" sz="1200">
                <a:latin typeface="Arial"/>
                <a:cs typeface="Arial"/>
              </a:rPr>
              <a:t>the </a:t>
            </a:r>
            <a:r>
              <a:rPr dirty="0" sz="1200" spc="-5">
                <a:latin typeface="Arial"/>
                <a:cs typeface="Arial"/>
              </a:rPr>
              <a:t>Sabaeans, and </a:t>
            </a:r>
            <a:r>
              <a:rPr dirty="0" sz="1200" spc="-10">
                <a:latin typeface="Arial"/>
                <a:cs typeface="Arial"/>
              </a:rPr>
              <a:t>the  </a:t>
            </a:r>
            <a:r>
              <a:rPr dirty="0" sz="1200" spc="-5">
                <a:latin typeface="Arial"/>
                <a:cs typeface="Arial"/>
              </a:rPr>
              <a:t>Christians </a:t>
            </a:r>
            <a:r>
              <a:rPr dirty="0" sz="1200">
                <a:latin typeface="Arial"/>
                <a:cs typeface="Arial"/>
              </a:rPr>
              <a:t>- </a:t>
            </a:r>
            <a:r>
              <a:rPr dirty="0" sz="1200" spc="-5">
                <a:latin typeface="Arial"/>
                <a:cs typeface="Arial"/>
              </a:rPr>
              <a:t>all </a:t>
            </a:r>
            <a:r>
              <a:rPr dirty="0" sz="1200">
                <a:latin typeface="Arial"/>
                <a:cs typeface="Arial"/>
              </a:rPr>
              <a:t>those </a:t>
            </a:r>
            <a:r>
              <a:rPr dirty="0" sz="1200" spc="-10">
                <a:latin typeface="Arial"/>
                <a:cs typeface="Arial"/>
              </a:rPr>
              <a:t>who </a:t>
            </a:r>
            <a:r>
              <a:rPr dirty="0" sz="1200" spc="-5">
                <a:latin typeface="Arial"/>
                <a:cs typeface="Arial"/>
              </a:rPr>
              <a:t>believe in Allah and </a:t>
            </a:r>
            <a:r>
              <a:rPr dirty="0" sz="1200">
                <a:latin typeface="Arial"/>
                <a:cs typeface="Arial"/>
              </a:rPr>
              <a:t>the </a:t>
            </a:r>
            <a:r>
              <a:rPr dirty="0" sz="1200" spc="-5">
                <a:latin typeface="Arial"/>
                <a:cs typeface="Arial"/>
              </a:rPr>
              <a:t>Last Day, and </a:t>
            </a:r>
            <a:r>
              <a:rPr dirty="0" sz="1200">
                <a:latin typeface="Arial"/>
                <a:cs typeface="Arial"/>
              </a:rPr>
              <a:t>act </a:t>
            </a:r>
            <a:r>
              <a:rPr dirty="0" sz="1200" spc="-5">
                <a:latin typeface="Arial"/>
                <a:cs typeface="Arial"/>
              </a:rPr>
              <a:t>righteously </a:t>
            </a:r>
            <a:r>
              <a:rPr dirty="0" sz="1200">
                <a:latin typeface="Arial"/>
                <a:cs typeface="Arial"/>
              </a:rPr>
              <a:t>- </a:t>
            </a:r>
            <a:r>
              <a:rPr dirty="0" sz="1200" spc="-5">
                <a:latin typeface="Arial"/>
                <a:cs typeface="Arial"/>
              </a:rPr>
              <a:t>no  </a:t>
            </a:r>
            <a:r>
              <a:rPr dirty="0" sz="1200">
                <a:latin typeface="Arial"/>
                <a:cs typeface="Arial"/>
              </a:rPr>
              <a:t>fear </a:t>
            </a:r>
            <a:r>
              <a:rPr dirty="0" sz="1200" spc="-5">
                <a:latin typeface="Arial"/>
                <a:cs typeface="Arial"/>
              </a:rPr>
              <a:t>shall come upon them..." </a:t>
            </a:r>
            <a:r>
              <a:rPr dirty="0" sz="1200">
                <a:latin typeface="Arial"/>
                <a:cs typeface="Arial"/>
              </a:rPr>
              <a:t>(Qur'an</a:t>
            </a:r>
            <a:r>
              <a:rPr dirty="0" sz="1200" spc="25">
                <a:latin typeface="Arial"/>
                <a:cs typeface="Arial"/>
              </a:rPr>
              <a:t> </a:t>
            </a:r>
            <a:r>
              <a:rPr dirty="0" sz="1200" spc="-5">
                <a:latin typeface="Arial"/>
                <a:cs typeface="Arial"/>
              </a:rPr>
              <a:t>5:69)</a:t>
            </a:r>
            <a:endParaRPr sz="1200">
              <a:latin typeface="Arial"/>
              <a:cs typeface="Arial"/>
            </a:endParaRPr>
          </a:p>
          <a:p>
            <a:pPr algn="just" marL="12700" marR="6985">
              <a:lnSpc>
                <a:spcPts val="1380"/>
              </a:lnSpc>
              <a:spcBef>
                <a:spcPts val="994"/>
              </a:spcBef>
            </a:pPr>
            <a:r>
              <a:rPr dirty="0" sz="1200" spc="-5">
                <a:latin typeface="Arial"/>
                <a:cs typeface="Arial"/>
              </a:rPr>
              <a:t>The following </a:t>
            </a:r>
            <a:r>
              <a:rPr dirty="0" sz="1200">
                <a:latin typeface="Arial"/>
                <a:cs typeface="Arial"/>
              </a:rPr>
              <a:t>charts </a:t>
            </a:r>
            <a:r>
              <a:rPr dirty="0" sz="1200" spc="-5">
                <a:latin typeface="Arial"/>
                <a:cs typeface="Arial"/>
              </a:rPr>
              <a:t>will enlighten us </a:t>
            </a:r>
            <a:r>
              <a:rPr dirty="0" sz="1200">
                <a:latin typeface="Arial"/>
                <a:cs typeface="Arial"/>
              </a:rPr>
              <a:t>more </a:t>
            </a:r>
            <a:r>
              <a:rPr dirty="0" sz="1200" spc="-5">
                <a:latin typeface="Arial"/>
                <a:cs typeface="Arial"/>
              </a:rPr>
              <a:t>in </a:t>
            </a:r>
            <a:r>
              <a:rPr dirty="0" sz="1200">
                <a:latin typeface="Arial"/>
                <a:cs typeface="Arial"/>
              </a:rPr>
              <a:t>detail the </a:t>
            </a:r>
            <a:r>
              <a:rPr dirty="0" sz="1200" spc="-5">
                <a:latin typeface="Arial"/>
                <a:cs typeface="Arial"/>
              </a:rPr>
              <a:t>differences and similarities among  </a:t>
            </a:r>
            <a:r>
              <a:rPr dirty="0" sz="1200">
                <a:latin typeface="Arial"/>
                <a:cs typeface="Arial"/>
              </a:rPr>
              <a:t>the </a:t>
            </a:r>
            <a:r>
              <a:rPr dirty="0" sz="1200" spc="-5">
                <a:latin typeface="Arial"/>
                <a:cs typeface="Arial"/>
              </a:rPr>
              <a:t>three religions known </a:t>
            </a:r>
            <a:r>
              <a:rPr dirty="0" sz="1200">
                <a:latin typeface="Arial"/>
                <a:cs typeface="Arial"/>
              </a:rPr>
              <a:t>as </a:t>
            </a:r>
            <a:r>
              <a:rPr dirty="0" sz="1200" spc="-5">
                <a:latin typeface="Arial"/>
                <a:cs typeface="Arial"/>
              </a:rPr>
              <a:t>the three universal</a:t>
            </a:r>
            <a:r>
              <a:rPr dirty="0" sz="1200" spc="30">
                <a:latin typeface="Arial"/>
                <a:cs typeface="Arial"/>
              </a:rPr>
              <a:t> </a:t>
            </a:r>
            <a:r>
              <a:rPr dirty="0" sz="1200" spc="-5">
                <a:latin typeface="Arial"/>
                <a:cs typeface="Arial"/>
              </a:rPr>
              <a:t>religions.</a:t>
            </a:r>
            <a:endParaRPr sz="1200">
              <a:latin typeface="Arial"/>
              <a:cs typeface="Arial"/>
            </a:endParaRPr>
          </a:p>
          <a:p>
            <a:pPr algn="ctr">
              <a:lnSpc>
                <a:spcPct val="100000"/>
              </a:lnSpc>
              <a:spcBef>
                <a:spcPts val="915"/>
              </a:spcBef>
            </a:pPr>
            <a:r>
              <a:rPr dirty="0" sz="1200" spc="-5" b="1">
                <a:latin typeface="Arial"/>
                <a:cs typeface="Arial"/>
              </a:rPr>
              <a:t>Comparison </a:t>
            </a:r>
            <a:r>
              <a:rPr dirty="0" sz="1200" b="1">
                <a:latin typeface="Arial"/>
                <a:cs typeface="Arial"/>
              </a:rPr>
              <a:t>of </a:t>
            </a:r>
            <a:r>
              <a:rPr dirty="0" sz="1200" spc="-5" b="1">
                <a:latin typeface="Arial"/>
                <a:cs typeface="Arial"/>
              </a:rPr>
              <a:t>Origins and</a:t>
            </a:r>
            <a:r>
              <a:rPr dirty="0" sz="1200" spc="5" b="1">
                <a:latin typeface="Arial"/>
                <a:cs typeface="Arial"/>
              </a:rPr>
              <a:t> </a:t>
            </a:r>
            <a:r>
              <a:rPr dirty="0" sz="1200" b="1">
                <a:latin typeface="Arial"/>
                <a:cs typeface="Arial"/>
              </a:rPr>
              <a:t>History</a:t>
            </a:r>
            <a:endParaRPr sz="1200">
              <a:latin typeface="Arial"/>
              <a:cs typeface="Arial"/>
            </a:endParaRPr>
          </a:p>
        </p:txBody>
      </p:sp>
      <p:graphicFrame>
        <p:nvGraphicFramePr>
          <p:cNvPr id="6" name="object 6"/>
          <p:cNvGraphicFramePr>
            <a:graphicFrameLocks noGrp="1"/>
          </p:cNvGraphicFramePr>
          <p:nvPr/>
        </p:nvGraphicFramePr>
        <p:xfrm>
          <a:off x="484631" y="6862698"/>
          <a:ext cx="6417310" cy="2911475"/>
        </p:xfrm>
        <a:graphic>
          <a:graphicData uri="http://schemas.openxmlformats.org/drawingml/2006/table">
            <a:tbl>
              <a:tblPr firstRow="1" bandRow="1">
                <a:tableStyleId>{2D5ABB26-0587-4C30-8999-92F81FD0307C}</a:tableStyleId>
              </a:tblPr>
              <a:tblGrid>
                <a:gridCol w="1468755"/>
                <a:gridCol w="1664970"/>
                <a:gridCol w="1409064"/>
                <a:gridCol w="1853564"/>
              </a:tblGrid>
              <a:tr h="282702">
                <a:tc>
                  <a:txBody>
                    <a:bodyPr/>
                    <a:lstStyle/>
                    <a:p>
                      <a:pPr>
                        <a:lnSpc>
                          <a:spcPct val="100000"/>
                        </a:lnSpc>
                      </a:pPr>
                      <a:endParaRPr sz="1200">
                        <a:latin typeface="Times New Roman"/>
                        <a:cs typeface="Times New Roman"/>
                      </a:endParaRPr>
                    </a:p>
                  </a:txBody>
                  <a:tcPr marL="0" marR="0" marB="0" marT="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solidFill>
                      <a:srgbClr val="CCCCCC"/>
                    </a:solidFill>
                  </a:tcPr>
                </a:tc>
                <a:tc>
                  <a:txBody>
                    <a:bodyPr/>
                    <a:lstStyle/>
                    <a:p>
                      <a:pPr marL="53975">
                        <a:lnSpc>
                          <a:spcPct val="100000"/>
                        </a:lnSpc>
                        <a:spcBef>
                          <a:spcPts val="350"/>
                        </a:spcBef>
                      </a:pPr>
                      <a:r>
                        <a:rPr dirty="0" sz="1200" b="1">
                          <a:latin typeface="Arial"/>
                          <a:cs typeface="Arial"/>
                        </a:rPr>
                        <a:t>Islam</a:t>
                      </a:r>
                      <a:endParaRPr sz="1200">
                        <a:latin typeface="Arial"/>
                        <a:cs typeface="Arial"/>
                      </a:endParaRPr>
                    </a:p>
                  </a:txBody>
                  <a:tcPr marL="0" marR="0" marB="0" marT="4445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solidFill>
                      <a:srgbClr val="CCCCCC"/>
                    </a:solidFill>
                  </a:tcPr>
                </a:tc>
                <a:tc>
                  <a:txBody>
                    <a:bodyPr/>
                    <a:lstStyle/>
                    <a:p>
                      <a:pPr marL="52069">
                        <a:lnSpc>
                          <a:spcPct val="100000"/>
                        </a:lnSpc>
                        <a:spcBef>
                          <a:spcPts val="350"/>
                        </a:spcBef>
                      </a:pPr>
                      <a:r>
                        <a:rPr dirty="0" sz="1200" spc="-5" b="1">
                          <a:latin typeface="Arial"/>
                          <a:cs typeface="Arial"/>
                        </a:rPr>
                        <a:t>Judaism</a:t>
                      </a:r>
                      <a:endParaRPr sz="1200">
                        <a:latin typeface="Arial"/>
                        <a:cs typeface="Arial"/>
                      </a:endParaRPr>
                    </a:p>
                  </a:txBody>
                  <a:tcPr marL="0" marR="0" marB="0" marT="4445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solidFill>
                      <a:srgbClr val="CCCCCC"/>
                    </a:solidFill>
                  </a:tcPr>
                </a:tc>
                <a:tc>
                  <a:txBody>
                    <a:bodyPr/>
                    <a:lstStyle/>
                    <a:p>
                      <a:pPr marL="52069">
                        <a:lnSpc>
                          <a:spcPct val="100000"/>
                        </a:lnSpc>
                        <a:spcBef>
                          <a:spcPts val="350"/>
                        </a:spcBef>
                      </a:pPr>
                      <a:r>
                        <a:rPr dirty="0" sz="1200" b="1">
                          <a:latin typeface="Arial"/>
                          <a:cs typeface="Arial"/>
                        </a:rPr>
                        <a:t>Christianity</a:t>
                      </a:r>
                      <a:endParaRPr sz="1200">
                        <a:latin typeface="Arial"/>
                        <a:cs typeface="Arial"/>
                      </a:endParaRPr>
                    </a:p>
                  </a:txBody>
                  <a:tcPr marL="0" marR="0" marB="0" marT="44450">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solidFill>
                      <a:srgbClr val="CCCCCC"/>
                    </a:solidFill>
                  </a:tcPr>
                </a:tc>
              </a:tr>
              <a:tr h="295655">
                <a:tc>
                  <a:txBody>
                    <a:bodyPr/>
                    <a:lstStyle/>
                    <a:p>
                      <a:pPr marL="50165">
                        <a:lnSpc>
                          <a:spcPct val="100000"/>
                        </a:lnSpc>
                        <a:spcBef>
                          <a:spcPts val="405"/>
                        </a:spcBef>
                      </a:pPr>
                      <a:r>
                        <a:rPr dirty="0" sz="1200" spc="-5">
                          <a:latin typeface="Arial"/>
                          <a:cs typeface="Arial"/>
                        </a:rPr>
                        <a:t>date</a:t>
                      </a:r>
                      <a:r>
                        <a:rPr dirty="0" sz="1200" spc="-20">
                          <a:latin typeface="Arial"/>
                          <a:cs typeface="Arial"/>
                        </a:rPr>
                        <a:t> </a:t>
                      </a:r>
                      <a:r>
                        <a:rPr dirty="0" sz="1200" spc="-5">
                          <a:latin typeface="Arial"/>
                          <a:cs typeface="Arial"/>
                        </a:rPr>
                        <a:t>founded</a:t>
                      </a:r>
                      <a:endParaRPr sz="1200">
                        <a:latin typeface="Arial"/>
                        <a:cs typeface="Arial"/>
                      </a:endParaRPr>
                    </a:p>
                  </a:txBody>
                  <a:tcPr marL="0" marR="0" marB="0" marT="5143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3975">
                        <a:lnSpc>
                          <a:spcPct val="100000"/>
                        </a:lnSpc>
                        <a:spcBef>
                          <a:spcPts val="405"/>
                        </a:spcBef>
                      </a:pPr>
                      <a:r>
                        <a:rPr dirty="0" sz="1200" spc="-5">
                          <a:latin typeface="Arial"/>
                          <a:cs typeface="Arial"/>
                        </a:rPr>
                        <a:t>622 CE</a:t>
                      </a:r>
                      <a:endParaRPr sz="1200">
                        <a:latin typeface="Arial"/>
                        <a:cs typeface="Arial"/>
                      </a:endParaRPr>
                    </a:p>
                  </a:txBody>
                  <a:tcPr marL="0" marR="0" marB="0" marT="5143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405"/>
                        </a:spcBef>
                      </a:pPr>
                      <a:r>
                        <a:rPr dirty="0" sz="1200" spc="-5">
                          <a:latin typeface="Arial"/>
                          <a:cs typeface="Arial"/>
                        </a:rPr>
                        <a:t>unknown</a:t>
                      </a:r>
                      <a:endParaRPr sz="1200">
                        <a:latin typeface="Arial"/>
                        <a:cs typeface="Arial"/>
                      </a:endParaRPr>
                    </a:p>
                  </a:txBody>
                  <a:tcPr marL="0" marR="0" marB="0" marT="5143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405"/>
                        </a:spcBef>
                      </a:pPr>
                      <a:r>
                        <a:rPr dirty="0" sz="1200">
                          <a:latin typeface="Arial"/>
                          <a:cs typeface="Arial"/>
                        </a:rPr>
                        <a:t>c. </a:t>
                      </a:r>
                      <a:r>
                        <a:rPr dirty="0" sz="1200" spc="-5">
                          <a:latin typeface="Arial"/>
                          <a:cs typeface="Arial"/>
                        </a:rPr>
                        <a:t>33</a:t>
                      </a:r>
                      <a:r>
                        <a:rPr dirty="0" sz="1200" spc="-10">
                          <a:latin typeface="Arial"/>
                          <a:cs typeface="Arial"/>
                        </a:rPr>
                        <a:t> </a:t>
                      </a:r>
                      <a:r>
                        <a:rPr dirty="0" sz="1200" spc="-5">
                          <a:latin typeface="Arial"/>
                          <a:cs typeface="Arial"/>
                        </a:rPr>
                        <a:t>CE</a:t>
                      </a:r>
                      <a:endParaRPr sz="1200">
                        <a:latin typeface="Arial"/>
                        <a:cs typeface="Arial"/>
                      </a:endParaRPr>
                    </a:p>
                  </a:txBody>
                  <a:tcPr marL="0" marR="0" marB="0" marT="5143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289940">
                <a:tc>
                  <a:txBody>
                    <a:bodyPr/>
                    <a:lstStyle/>
                    <a:p>
                      <a:pPr marL="50165">
                        <a:lnSpc>
                          <a:spcPct val="100000"/>
                        </a:lnSpc>
                        <a:spcBef>
                          <a:spcPts val="360"/>
                        </a:spcBef>
                      </a:pPr>
                      <a:r>
                        <a:rPr dirty="0" sz="1200" spc="-5">
                          <a:latin typeface="Arial"/>
                          <a:cs typeface="Arial"/>
                        </a:rPr>
                        <a:t>place</a:t>
                      </a:r>
                      <a:r>
                        <a:rPr dirty="0" sz="1200" spc="-10">
                          <a:latin typeface="Arial"/>
                          <a:cs typeface="Arial"/>
                        </a:rPr>
                        <a:t> </a:t>
                      </a:r>
                      <a:r>
                        <a:rPr dirty="0" sz="1200" spc="-5">
                          <a:latin typeface="Arial"/>
                          <a:cs typeface="Arial"/>
                        </a:rPr>
                        <a:t>founded</a:t>
                      </a:r>
                      <a:endParaRPr sz="1200">
                        <a:latin typeface="Arial"/>
                        <a:cs typeface="Arial"/>
                      </a:endParaRPr>
                    </a:p>
                  </a:txBody>
                  <a:tcPr marL="0" marR="0" marB="0" marT="4572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3975">
                        <a:lnSpc>
                          <a:spcPct val="100000"/>
                        </a:lnSpc>
                        <a:spcBef>
                          <a:spcPts val="360"/>
                        </a:spcBef>
                      </a:pPr>
                      <a:r>
                        <a:rPr dirty="0" sz="1200" spc="-5">
                          <a:latin typeface="Arial"/>
                          <a:cs typeface="Arial"/>
                        </a:rPr>
                        <a:t>Saudi</a:t>
                      </a:r>
                      <a:r>
                        <a:rPr dirty="0" sz="1200" spc="-20">
                          <a:latin typeface="Arial"/>
                          <a:cs typeface="Arial"/>
                        </a:rPr>
                        <a:t> </a:t>
                      </a:r>
                      <a:r>
                        <a:rPr dirty="0" sz="1200" spc="-5">
                          <a:latin typeface="Arial"/>
                          <a:cs typeface="Arial"/>
                        </a:rPr>
                        <a:t>Arabia</a:t>
                      </a:r>
                      <a:endParaRPr sz="1200">
                        <a:latin typeface="Arial"/>
                        <a:cs typeface="Arial"/>
                      </a:endParaRPr>
                    </a:p>
                  </a:txBody>
                  <a:tcPr marL="0" marR="0" marB="0" marT="4572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60"/>
                        </a:spcBef>
                      </a:pPr>
                      <a:r>
                        <a:rPr dirty="0" sz="1200" spc="-5">
                          <a:latin typeface="Arial"/>
                          <a:cs typeface="Arial"/>
                        </a:rPr>
                        <a:t>Palestine</a:t>
                      </a:r>
                      <a:endParaRPr sz="1200">
                        <a:latin typeface="Arial"/>
                        <a:cs typeface="Arial"/>
                      </a:endParaRPr>
                    </a:p>
                  </a:txBody>
                  <a:tcPr marL="0" marR="0" marB="0" marT="4572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60"/>
                        </a:spcBef>
                      </a:pPr>
                      <a:r>
                        <a:rPr dirty="0" sz="1200" spc="-5">
                          <a:latin typeface="Arial"/>
                          <a:cs typeface="Arial"/>
                        </a:rPr>
                        <a:t>Palestine</a:t>
                      </a:r>
                      <a:endParaRPr sz="1200">
                        <a:latin typeface="Arial"/>
                        <a:cs typeface="Arial"/>
                      </a:endParaRPr>
                    </a:p>
                  </a:txBody>
                  <a:tcPr marL="0" marR="0" marB="0" marT="45720">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289560">
                <a:tc>
                  <a:txBody>
                    <a:bodyPr/>
                    <a:lstStyle/>
                    <a:p>
                      <a:pPr marL="50165">
                        <a:lnSpc>
                          <a:spcPct val="100000"/>
                        </a:lnSpc>
                        <a:spcBef>
                          <a:spcPts val="360"/>
                        </a:spcBef>
                      </a:pPr>
                      <a:r>
                        <a:rPr dirty="0" sz="1200" spc="-5">
                          <a:latin typeface="Arial"/>
                          <a:cs typeface="Arial"/>
                        </a:rPr>
                        <a:t>founder</a:t>
                      </a:r>
                      <a:endParaRPr sz="1200">
                        <a:latin typeface="Arial"/>
                        <a:cs typeface="Arial"/>
                      </a:endParaRPr>
                    </a:p>
                  </a:txBody>
                  <a:tcPr marL="0" marR="0" marB="0" marT="4572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3975">
                        <a:lnSpc>
                          <a:spcPct val="100000"/>
                        </a:lnSpc>
                        <a:spcBef>
                          <a:spcPts val="360"/>
                        </a:spcBef>
                      </a:pPr>
                      <a:r>
                        <a:rPr dirty="0" sz="1200" spc="-5">
                          <a:latin typeface="Arial"/>
                          <a:cs typeface="Arial"/>
                        </a:rPr>
                        <a:t>Muhammad</a:t>
                      </a:r>
                      <a:endParaRPr sz="1200">
                        <a:latin typeface="Arial"/>
                        <a:cs typeface="Arial"/>
                      </a:endParaRPr>
                    </a:p>
                  </a:txBody>
                  <a:tcPr marL="0" marR="0" marB="0" marT="4572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60"/>
                        </a:spcBef>
                      </a:pPr>
                      <a:r>
                        <a:rPr dirty="0" sz="1200" spc="-5">
                          <a:latin typeface="Arial"/>
                          <a:cs typeface="Arial"/>
                        </a:rPr>
                        <a:t>Moses </a:t>
                      </a:r>
                      <a:r>
                        <a:rPr dirty="0" sz="1200">
                          <a:latin typeface="Arial"/>
                          <a:cs typeface="Arial"/>
                        </a:rPr>
                        <a:t>or</a:t>
                      </a:r>
                      <a:r>
                        <a:rPr dirty="0" sz="1200" spc="-30">
                          <a:latin typeface="Arial"/>
                          <a:cs typeface="Arial"/>
                        </a:rPr>
                        <a:t> </a:t>
                      </a:r>
                      <a:r>
                        <a:rPr dirty="0" sz="1200" spc="-5">
                          <a:latin typeface="Arial"/>
                          <a:cs typeface="Arial"/>
                        </a:rPr>
                        <a:t>Abraham</a:t>
                      </a:r>
                      <a:endParaRPr sz="1200">
                        <a:latin typeface="Arial"/>
                        <a:cs typeface="Arial"/>
                      </a:endParaRPr>
                    </a:p>
                  </a:txBody>
                  <a:tcPr marL="0" marR="0" marB="0" marT="4572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60"/>
                        </a:spcBef>
                      </a:pPr>
                      <a:r>
                        <a:rPr dirty="0" sz="1200" spc="-5">
                          <a:latin typeface="Arial"/>
                          <a:cs typeface="Arial"/>
                        </a:rPr>
                        <a:t>Jesus</a:t>
                      </a:r>
                      <a:endParaRPr sz="1200">
                        <a:latin typeface="Arial"/>
                        <a:cs typeface="Arial"/>
                      </a:endParaRPr>
                    </a:p>
                  </a:txBody>
                  <a:tcPr marL="0" marR="0" marB="0" marT="45720">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289560">
                <a:tc>
                  <a:txBody>
                    <a:bodyPr/>
                    <a:lstStyle/>
                    <a:p>
                      <a:pPr marL="50165">
                        <a:lnSpc>
                          <a:spcPct val="100000"/>
                        </a:lnSpc>
                        <a:spcBef>
                          <a:spcPts val="359"/>
                        </a:spcBef>
                      </a:pPr>
                      <a:r>
                        <a:rPr dirty="0" sz="1200" spc="-5">
                          <a:latin typeface="Arial"/>
                          <a:cs typeface="Arial"/>
                        </a:rPr>
                        <a:t>original</a:t>
                      </a:r>
                      <a:r>
                        <a:rPr dirty="0" sz="1200" spc="-15">
                          <a:latin typeface="Arial"/>
                          <a:cs typeface="Arial"/>
                        </a:rPr>
                        <a:t> </a:t>
                      </a:r>
                      <a:r>
                        <a:rPr dirty="0" sz="1200" spc="-5">
                          <a:latin typeface="Arial"/>
                          <a:cs typeface="Arial"/>
                        </a:rPr>
                        <a:t>language(s)</a:t>
                      </a:r>
                      <a:endParaRPr sz="1200">
                        <a:latin typeface="Arial"/>
                        <a:cs typeface="Arial"/>
                      </a:endParaRPr>
                    </a:p>
                  </a:txBody>
                  <a:tcPr marL="0" marR="0" marB="0" marT="45719">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3975">
                        <a:lnSpc>
                          <a:spcPct val="100000"/>
                        </a:lnSpc>
                        <a:spcBef>
                          <a:spcPts val="359"/>
                        </a:spcBef>
                      </a:pPr>
                      <a:r>
                        <a:rPr dirty="0" sz="1200" spc="-5">
                          <a:latin typeface="Arial"/>
                          <a:cs typeface="Arial"/>
                        </a:rPr>
                        <a:t>Arabic</a:t>
                      </a:r>
                      <a:endParaRPr sz="1200">
                        <a:latin typeface="Arial"/>
                        <a:cs typeface="Arial"/>
                      </a:endParaRPr>
                    </a:p>
                  </a:txBody>
                  <a:tcPr marL="0" marR="0" marB="0" marT="45719">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59"/>
                        </a:spcBef>
                      </a:pPr>
                      <a:r>
                        <a:rPr dirty="0" sz="1200">
                          <a:latin typeface="Arial"/>
                          <a:cs typeface="Arial"/>
                        </a:rPr>
                        <a:t>Hebrew</a:t>
                      </a:r>
                      <a:endParaRPr sz="1200">
                        <a:latin typeface="Arial"/>
                        <a:cs typeface="Arial"/>
                      </a:endParaRPr>
                    </a:p>
                  </a:txBody>
                  <a:tcPr marL="0" marR="0" marB="0" marT="45719">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59"/>
                        </a:spcBef>
                      </a:pPr>
                      <a:r>
                        <a:rPr dirty="0" sz="1200">
                          <a:latin typeface="Arial"/>
                          <a:cs typeface="Arial"/>
                        </a:rPr>
                        <a:t>Aramaic,</a:t>
                      </a:r>
                      <a:r>
                        <a:rPr dirty="0" sz="1200" spc="-20">
                          <a:latin typeface="Arial"/>
                          <a:cs typeface="Arial"/>
                        </a:rPr>
                        <a:t> </a:t>
                      </a:r>
                      <a:r>
                        <a:rPr dirty="0" sz="1200">
                          <a:latin typeface="Arial"/>
                          <a:cs typeface="Arial"/>
                        </a:rPr>
                        <a:t>Greek</a:t>
                      </a:r>
                      <a:endParaRPr sz="1200">
                        <a:latin typeface="Arial"/>
                        <a:cs typeface="Arial"/>
                      </a:endParaRPr>
                    </a:p>
                  </a:txBody>
                  <a:tcPr marL="0" marR="0" marB="0" marT="45719">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815340">
                <a:tc>
                  <a:txBody>
                    <a:bodyPr/>
                    <a:lstStyle/>
                    <a:p>
                      <a:pPr>
                        <a:lnSpc>
                          <a:spcPct val="100000"/>
                        </a:lnSpc>
                      </a:pPr>
                      <a:endParaRPr sz="1300">
                        <a:latin typeface="Times New Roman"/>
                        <a:cs typeface="Times New Roman"/>
                      </a:endParaRPr>
                    </a:p>
                    <a:p>
                      <a:pPr marL="50165">
                        <a:lnSpc>
                          <a:spcPct val="100000"/>
                        </a:lnSpc>
                        <a:spcBef>
                          <a:spcPts val="930"/>
                        </a:spcBef>
                      </a:pPr>
                      <a:r>
                        <a:rPr dirty="0" sz="1200" spc="-5">
                          <a:latin typeface="Arial"/>
                          <a:cs typeface="Arial"/>
                        </a:rPr>
                        <a:t>early</a:t>
                      </a:r>
                      <a:r>
                        <a:rPr dirty="0" sz="1200" spc="-25">
                          <a:latin typeface="Arial"/>
                          <a:cs typeface="Arial"/>
                        </a:rPr>
                        <a:t> </a:t>
                      </a:r>
                      <a:r>
                        <a:rPr dirty="0" sz="1200" spc="-5">
                          <a:latin typeface="Arial"/>
                          <a:cs typeface="Arial"/>
                        </a:rPr>
                        <a:t>expansion</a:t>
                      </a:r>
                      <a:endParaRPr sz="1200">
                        <a:latin typeface="Arial"/>
                        <a:cs typeface="Arial"/>
                      </a:endParaRPr>
                    </a:p>
                  </a:txBody>
                  <a:tcPr marL="0" marR="0" marB="0" marT="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3975" marR="52069">
                        <a:lnSpc>
                          <a:spcPts val="1380"/>
                        </a:lnSpc>
                        <a:spcBef>
                          <a:spcPts val="455"/>
                        </a:spcBef>
                      </a:pPr>
                      <a:r>
                        <a:rPr dirty="0" sz="1200" spc="-5">
                          <a:latin typeface="Arial"/>
                          <a:cs typeface="Arial"/>
                        </a:rPr>
                        <a:t>within 12 years, entire  Arabia; within 100  years, </a:t>
                      </a:r>
                      <a:r>
                        <a:rPr dirty="0" sz="1200">
                          <a:latin typeface="Arial"/>
                          <a:cs typeface="Arial"/>
                        </a:rPr>
                        <a:t>the </a:t>
                      </a:r>
                      <a:r>
                        <a:rPr dirty="0" sz="1200" spc="-5">
                          <a:latin typeface="Arial"/>
                          <a:cs typeface="Arial"/>
                        </a:rPr>
                        <a:t>Atlantic </a:t>
                      </a:r>
                      <a:r>
                        <a:rPr dirty="0" sz="1200">
                          <a:latin typeface="Arial"/>
                          <a:cs typeface="Arial"/>
                        </a:rPr>
                        <a:t>to  </a:t>
                      </a:r>
                      <a:r>
                        <a:rPr dirty="0" sz="1200" spc="-5">
                          <a:latin typeface="Arial"/>
                          <a:cs typeface="Arial"/>
                        </a:rPr>
                        <a:t>China</a:t>
                      </a:r>
                      <a:endParaRPr sz="1200">
                        <a:latin typeface="Arial"/>
                        <a:cs typeface="Arial"/>
                      </a:endParaRPr>
                    </a:p>
                  </a:txBody>
                  <a:tcPr marL="0" marR="0" marB="0" marT="5778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2069" marR="53975">
                        <a:lnSpc>
                          <a:spcPts val="1380"/>
                        </a:lnSpc>
                        <a:spcBef>
                          <a:spcPts val="1140"/>
                        </a:spcBef>
                      </a:pPr>
                      <a:r>
                        <a:rPr dirty="0" sz="1200" spc="-5">
                          <a:latin typeface="Arial"/>
                          <a:cs typeface="Arial"/>
                        </a:rPr>
                        <a:t>little expansion;  </a:t>
                      </a:r>
                      <a:r>
                        <a:rPr dirty="0" sz="1200">
                          <a:latin typeface="Arial"/>
                          <a:cs typeface="Arial"/>
                        </a:rPr>
                        <a:t>mostly </a:t>
                      </a:r>
                      <a:r>
                        <a:rPr dirty="0" sz="1200" spc="-5">
                          <a:latin typeface="Arial"/>
                          <a:cs typeface="Arial"/>
                        </a:rPr>
                        <a:t>confined </a:t>
                      </a:r>
                      <a:r>
                        <a:rPr dirty="0" sz="1200">
                          <a:latin typeface="Arial"/>
                          <a:cs typeface="Arial"/>
                        </a:rPr>
                        <a:t>to  </a:t>
                      </a:r>
                      <a:r>
                        <a:rPr dirty="0" sz="1200" spc="-5">
                          <a:latin typeface="Arial"/>
                          <a:cs typeface="Arial"/>
                        </a:rPr>
                        <a:t>Palestine</a:t>
                      </a:r>
                      <a:endParaRPr sz="1200">
                        <a:latin typeface="Arial"/>
                        <a:cs typeface="Arial"/>
                      </a:endParaRPr>
                    </a:p>
                  </a:txBody>
                  <a:tcPr marL="0" marR="0" marB="0" marT="1447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2069" marR="48895">
                        <a:lnSpc>
                          <a:spcPts val="1380"/>
                        </a:lnSpc>
                        <a:spcBef>
                          <a:spcPts val="455"/>
                        </a:spcBef>
                      </a:pPr>
                      <a:r>
                        <a:rPr dirty="0" sz="1200">
                          <a:latin typeface="Arial"/>
                          <a:cs typeface="Arial"/>
                        </a:rPr>
                        <a:t>Within </a:t>
                      </a:r>
                      <a:r>
                        <a:rPr dirty="0" sz="1200" spc="-5">
                          <a:latin typeface="Arial"/>
                          <a:cs typeface="Arial"/>
                        </a:rPr>
                        <a:t>60 years,  churches in Palestine,  Turkey, </a:t>
                      </a:r>
                      <a:r>
                        <a:rPr dirty="0" sz="1200">
                          <a:latin typeface="Arial"/>
                          <a:cs typeface="Arial"/>
                        </a:rPr>
                        <a:t>Greece </a:t>
                      </a:r>
                      <a:r>
                        <a:rPr dirty="0" sz="1200" spc="-5">
                          <a:latin typeface="Arial"/>
                          <a:cs typeface="Arial"/>
                        </a:rPr>
                        <a:t>and  </a:t>
                      </a:r>
                      <a:r>
                        <a:rPr dirty="0" sz="1200">
                          <a:latin typeface="Arial"/>
                          <a:cs typeface="Arial"/>
                        </a:rPr>
                        <a:t>Rome</a:t>
                      </a:r>
                      <a:endParaRPr sz="1200">
                        <a:latin typeface="Arial"/>
                        <a:cs typeface="Arial"/>
                      </a:endParaRPr>
                    </a:p>
                  </a:txBody>
                  <a:tcPr marL="0" marR="0" marB="0" marT="5778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639266">
                <a:tc>
                  <a:txBody>
                    <a:bodyPr/>
                    <a:lstStyle/>
                    <a:p>
                      <a:pPr>
                        <a:lnSpc>
                          <a:spcPct val="100000"/>
                        </a:lnSpc>
                        <a:spcBef>
                          <a:spcPts val="10"/>
                        </a:spcBef>
                      </a:pPr>
                      <a:endParaRPr sz="1500">
                        <a:latin typeface="Times New Roman"/>
                        <a:cs typeface="Times New Roman"/>
                      </a:endParaRPr>
                    </a:p>
                    <a:p>
                      <a:pPr marL="50165">
                        <a:lnSpc>
                          <a:spcPct val="100000"/>
                        </a:lnSpc>
                        <a:spcBef>
                          <a:spcPts val="5"/>
                        </a:spcBef>
                      </a:pPr>
                      <a:r>
                        <a:rPr dirty="0" sz="1200">
                          <a:latin typeface="Arial"/>
                          <a:cs typeface="Arial"/>
                        </a:rPr>
                        <a:t>major</a:t>
                      </a:r>
                      <a:r>
                        <a:rPr dirty="0" sz="1200" spc="-10">
                          <a:latin typeface="Arial"/>
                          <a:cs typeface="Arial"/>
                        </a:rPr>
                        <a:t> </a:t>
                      </a:r>
                      <a:r>
                        <a:rPr dirty="0" sz="1200" spc="-5">
                          <a:latin typeface="Arial"/>
                          <a:cs typeface="Arial"/>
                        </a:rPr>
                        <a:t>splits</a:t>
                      </a:r>
                      <a:endParaRPr sz="1200">
                        <a:latin typeface="Arial"/>
                        <a:cs typeface="Arial"/>
                      </a:endParaRPr>
                    </a:p>
                  </a:txBody>
                  <a:tcPr marL="0" marR="0" marB="0" marT="127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nSpc>
                          <a:spcPct val="100000"/>
                        </a:lnSpc>
                        <a:spcBef>
                          <a:spcPts val="10"/>
                        </a:spcBef>
                      </a:pPr>
                      <a:endParaRPr sz="1500">
                        <a:latin typeface="Times New Roman"/>
                        <a:cs typeface="Times New Roman"/>
                      </a:endParaRPr>
                    </a:p>
                    <a:p>
                      <a:pPr marL="53975">
                        <a:lnSpc>
                          <a:spcPct val="100000"/>
                        </a:lnSpc>
                        <a:spcBef>
                          <a:spcPts val="5"/>
                        </a:spcBef>
                      </a:pPr>
                      <a:r>
                        <a:rPr dirty="0" sz="1200" spc="-5">
                          <a:latin typeface="Arial"/>
                          <a:cs typeface="Arial"/>
                        </a:rPr>
                        <a:t>Shia/Sunni, </a:t>
                      </a:r>
                      <a:r>
                        <a:rPr dirty="0" sz="1200">
                          <a:latin typeface="Arial"/>
                          <a:cs typeface="Arial"/>
                        </a:rPr>
                        <a:t>c. </a:t>
                      </a:r>
                      <a:r>
                        <a:rPr dirty="0" sz="1200" spc="-5">
                          <a:latin typeface="Arial"/>
                          <a:cs typeface="Arial"/>
                        </a:rPr>
                        <a:t>650</a:t>
                      </a:r>
                      <a:r>
                        <a:rPr dirty="0" sz="1200" spc="-40">
                          <a:latin typeface="Arial"/>
                          <a:cs typeface="Arial"/>
                        </a:rPr>
                        <a:t> </a:t>
                      </a:r>
                      <a:r>
                        <a:rPr dirty="0" sz="1200" spc="-10">
                          <a:latin typeface="Arial"/>
                          <a:cs typeface="Arial"/>
                        </a:rPr>
                        <a:t>CE</a:t>
                      </a:r>
                      <a:endParaRPr sz="1200">
                        <a:latin typeface="Arial"/>
                        <a:cs typeface="Arial"/>
                      </a:endParaRPr>
                    </a:p>
                  </a:txBody>
                  <a:tcPr marL="0" marR="0" marB="0" marT="127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marR="137795">
                        <a:lnSpc>
                          <a:spcPts val="1380"/>
                        </a:lnSpc>
                        <a:spcBef>
                          <a:spcPts val="1140"/>
                        </a:spcBef>
                      </a:pPr>
                      <a:r>
                        <a:rPr dirty="0" sz="1200">
                          <a:latin typeface="Arial"/>
                          <a:cs typeface="Arial"/>
                        </a:rPr>
                        <a:t>Ref</a:t>
                      </a:r>
                      <a:r>
                        <a:rPr dirty="0" sz="1200">
                          <a:latin typeface="Arial"/>
                          <a:cs typeface="Arial"/>
                        </a:rPr>
                        <a:t>o</a:t>
                      </a:r>
                      <a:r>
                        <a:rPr dirty="0" sz="1200">
                          <a:latin typeface="Arial"/>
                          <a:cs typeface="Arial"/>
                        </a:rPr>
                        <a:t>rm</a:t>
                      </a:r>
                      <a:r>
                        <a:rPr dirty="0" sz="1200" spc="-10">
                          <a:latin typeface="Arial"/>
                          <a:cs typeface="Arial"/>
                        </a:rPr>
                        <a:t>/</a:t>
                      </a:r>
                      <a:r>
                        <a:rPr dirty="0" sz="1200">
                          <a:latin typeface="Arial"/>
                          <a:cs typeface="Arial"/>
                        </a:rPr>
                        <a:t>Orth</a:t>
                      </a:r>
                      <a:r>
                        <a:rPr dirty="0" sz="1200" spc="-10">
                          <a:latin typeface="Arial"/>
                          <a:cs typeface="Arial"/>
                        </a:rPr>
                        <a:t>o</a:t>
                      </a:r>
                      <a:r>
                        <a:rPr dirty="0" sz="1200">
                          <a:latin typeface="Arial"/>
                          <a:cs typeface="Arial"/>
                        </a:rPr>
                        <a:t>do</a:t>
                      </a:r>
                      <a:r>
                        <a:rPr dirty="0" sz="1200" spc="-15">
                          <a:latin typeface="Arial"/>
                          <a:cs typeface="Arial"/>
                        </a:rPr>
                        <a:t>x</a:t>
                      </a:r>
                      <a:r>
                        <a:rPr dirty="0" sz="1200">
                          <a:latin typeface="Arial"/>
                          <a:cs typeface="Arial"/>
                        </a:rPr>
                        <a:t>,  </a:t>
                      </a:r>
                      <a:r>
                        <a:rPr dirty="0" sz="1200" spc="-5">
                          <a:latin typeface="Arial"/>
                          <a:cs typeface="Arial"/>
                        </a:rPr>
                        <a:t>1800s</a:t>
                      </a:r>
                      <a:r>
                        <a:rPr dirty="0" sz="1200" spc="-10">
                          <a:latin typeface="Arial"/>
                          <a:cs typeface="Arial"/>
                        </a:rPr>
                        <a:t> </a:t>
                      </a:r>
                      <a:r>
                        <a:rPr dirty="0" sz="1200" spc="-5">
                          <a:latin typeface="Arial"/>
                          <a:cs typeface="Arial"/>
                        </a:rPr>
                        <a:t>CE</a:t>
                      </a:r>
                      <a:endParaRPr sz="1200">
                        <a:latin typeface="Arial"/>
                        <a:cs typeface="Arial"/>
                      </a:endParaRPr>
                    </a:p>
                  </a:txBody>
                  <a:tcPr marL="0" marR="0" marB="0" marT="1447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2069" marR="50800">
                        <a:lnSpc>
                          <a:spcPts val="1380"/>
                        </a:lnSpc>
                        <a:spcBef>
                          <a:spcPts val="455"/>
                        </a:spcBef>
                      </a:pPr>
                      <a:r>
                        <a:rPr dirty="0" sz="1200" spc="-5">
                          <a:latin typeface="Arial"/>
                          <a:cs typeface="Arial"/>
                        </a:rPr>
                        <a:t>Catholic/Orthodox, 1054  </a:t>
                      </a:r>
                      <a:r>
                        <a:rPr dirty="0" sz="1200">
                          <a:latin typeface="Arial"/>
                          <a:cs typeface="Arial"/>
                        </a:rPr>
                        <a:t>CE; </a:t>
                      </a:r>
                      <a:r>
                        <a:rPr dirty="0" sz="1200" spc="-5">
                          <a:latin typeface="Arial"/>
                          <a:cs typeface="Arial"/>
                        </a:rPr>
                        <a:t>Catholic/Protestant,  1500s CE</a:t>
                      </a:r>
                      <a:endParaRPr sz="1200">
                        <a:latin typeface="Arial"/>
                        <a:cs typeface="Arial"/>
                      </a:endParaRPr>
                    </a:p>
                  </a:txBody>
                  <a:tcPr marL="0" marR="0" marB="0" marT="5778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bl>
          </a:graphicData>
        </a:graphic>
      </p:graphicFrame>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770626"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2539110" y="799592"/>
            <a:ext cx="266827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Arial"/>
                <a:cs typeface="Arial"/>
              </a:rPr>
              <a:t>Comparison </a:t>
            </a:r>
            <a:r>
              <a:rPr dirty="0" sz="1200" b="1">
                <a:latin typeface="Arial"/>
                <a:cs typeface="Arial"/>
              </a:rPr>
              <a:t>of </a:t>
            </a:r>
            <a:r>
              <a:rPr dirty="0" sz="1200" spc="-5" b="1">
                <a:latin typeface="Arial"/>
                <a:cs typeface="Arial"/>
              </a:rPr>
              <a:t>Statistics </a:t>
            </a:r>
            <a:r>
              <a:rPr dirty="0" sz="1200" b="1">
                <a:latin typeface="Arial"/>
                <a:cs typeface="Arial"/>
              </a:rPr>
              <a:t>and</a:t>
            </a:r>
            <a:r>
              <a:rPr dirty="0" sz="1200" spc="15" b="1">
                <a:latin typeface="Arial"/>
                <a:cs typeface="Arial"/>
              </a:rPr>
              <a:t> </a:t>
            </a:r>
            <a:r>
              <a:rPr dirty="0" sz="1200" spc="-5" b="1">
                <a:latin typeface="Arial"/>
                <a:cs typeface="Arial"/>
              </a:rPr>
              <a:t>Basics</a:t>
            </a:r>
            <a:endParaRPr sz="1200">
              <a:latin typeface="Arial"/>
              <a:cs typeface="Arial"/>
            </a:endParaRP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10" name="object 10"/>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169</a:t>
            </a:r>
            <a:endParaRPr sz="1200">
              <a:latin typeface="Times New Roman"/>
              <a:cs typeface="Times New Roman"/>
            </a:endParaRPr>
          </a:p>
        </p:txBody>
      </p:sp>
      <p:graphicFrame>
        <p:nvGraphicFramePr>
          <p:cNvPr id="6" name="object 6"/>
          <p:cNvGraphicFramePr>
            <a:graphicFrameLocks noGrp="1"/>
          </p:cNvGraphicFramePr>
          <p:nvPr/>
        </p:nvGraphicFramePr>
        <p:xfrm>
          <a:off x="669036" y="1067561"/>
          <a:ext cx="6417310" cy="4536440"/>
        </p:xfrm>
        <a:graphic>
          <a:graphicData uri="http://schemas.openxmlformats.org/drawingml/2006/table">
            <a:tbl>
              <a:tblPr firstRow="1" bandRow="1">
                <a:tableStyleId>{2D5ABB26-0587-4C30-8999-92F81FD0307C}</a:tableStyleId>
              </a:tblPr>
              <a:tblGrid>
                <a:gridCol w="1468755"/>
                <a:gridCol w="1664970"/>
                <a:gridCol w="1409064"/>
                <a:gridCol w="1853564"/>
              </a:tblGrid>
              <a:tr h="284480">
                <a:tc>
                  <a:txBody>
                    <a:bodyPr/>
                    <a:lstStyle/>
                    <a:p>
                      <a:pPr>
                        <a:lnSpc>
                          <a:spcPct val="100000"/>
                        </a:lnSpc>
                      </a:pPr>
                      <a:endParaRPr sz="1200">
                        <a:latin typeface="Times New Roman"/>
                        <a:cs typeface="Times New Roman"/>
                      </a:endParaRPr>
                    </a:p>
                  </a:txBody>
                  <a:tcPr marL="0" marR="0" marB="0" marT="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solidFill>
                      <a:srgbClr val="CCCCCC"/>
                    </a:solidFill>
                  </a:tcPr>
                </a:tc>
                <a:tc>
                  <a:txBody>
                    <a:bodyPr/>
                    <a:lstStyle/>
                    <a:p>
                      <a:pPr marL="52069">
                        <a:lnSpc>
                          <a:spcPct val="100000"/>
                        </a:lnSpc>
                        <a:spcBef>
                          <a:spcPts val="355"/>
                        </a:spcBef>
                      </a:pPr>
                      <a:r>
                        <a:rPr dirty="0" sz="1200" b="1">
                          <a:latin typeface="Arial"/>
                          <a:cs typeface="Arial"/>
                        </a:rPr>
                        <a:t>Islam</a:t>
                      </a:r>
                      <a:endParaRPr sz="1200">
                        <a:latin typeface="Arial"/>
                        <a:cs typeface="Arial"/>
                      </a:endParaRPr>
                    </a:p>
                  </a:txBody>
                  <a:tcPr marL="0" marR="0" marB="0" marT="4508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solidFill>
                      <a:srgbClr val="CCCCCC"/>
                    </a:solidFill>
                  </a:tcPr>
                </a:tc>
                <a:tc>
                  <a:txBody>
                    <a:bodyPr/>
                    <a:lstStyle/>
                    <a:p>
                      <a:pPr marL="52069">
                        <a:lnSpc>
                          <a:spcPct val="100000"/>
                        </a:lnSpc>
                        <a:spcBef>
                          <a:spcPts val="355"/>
                        </a:spcBef>
                      </a:pPr>
                      <a:r>
                        <a:rPr dirty="0" sz="1200" spc="-5" b="1">
                          <a:latin typeface="Arial"/>
                          <a:cs typeface="Arial"/>
                        </a:rPr>
                        <a:t>Judaism</a:t>
                      </a:r>
                      <a:endParaRPr sz="1200">
                        <a:latin typeface="Arial"/>
                        <a:cs typeface="Arial"/>
                      </a:endParaRPr>
                    </a:p>
                  </a:txBody>
                  <a:tcPr marL="0" marR="0" marB="0" marT="4508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solidFill>
                      <a:srgbClr val="CCCCCC"/>
                    </a:solidFill>
                  </a:tcPr>
                </a:tc>
                <a:tc>
                  <a:txBody>
                    <a:bodyPr/>
                    <a:lstStyle/>
                    <a:p>
                      <a:pPr marL="50800">
                        <a:lnSpc>
                          <a:spcPct val="100000"/>
                        </a:lnSpc>
                        <a:spcBef>
                          <a:spcPts val="355"/>
                        </a:spcBef>
                      </a:pPr>
                      <a:r>
                        <a:rPr dirty="0" sz="1200" b="1">
                          <a:latin typeface="Arial"/>
                          <a:cs typeface="Arial"/>
                        </a:rPr>
                        <a:t>Christianity</a:t>
                      </a:r>
                      <a:endParaRPr sz="1200">
                        <a:latin typeface="Arial"/>
                        <a:cs typeface="Arial"/>
                      </a:endParaRPr>
                    </a:p>
                  </a:txBody>
                  <a:tcPr marL="0" marR="0" marB="0" marT="4508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solidFill>
                      <a:srgbClr val="CCCCCC"/>
                    </a:solidFill>
                  </a:tcPr>
                </a:tc>
              </a:tr>
              <a:tr h="295655">
                <a:tc>
                  <a:txBody>
                    <a:bodyPr/>
                    <a:lstStyle/>
                    <a:p>
                      <a:pPr marL="50165">
                        <a:lnSpc>
                          <a:spcPct val="100000"/>
                        </a:lnSpc>
                        <a:spcBef>
                          <a:spcPts val="395"/>
                        </a:spcBef>
                      </a:pPr>
                      <a:r>
                        <a:rPr dirty="0" sz="1200" spc="-5">
                          <a:latin typeface="Arial"/>
                          <a:cs typeface="Arial"/>
                        </a:rPr>
                        <a:t>adherents</a:t>
                      </a:r>
                      <a:r>
                        <a:rPr dirty="0" sz="1200" spc="-10">
                          <a:latin typeface="Arial"/>
                          <a:cs typeface="Arial"/>
                        </a:rPr>
                        <a:t> </a:t>
                      </a:r>
                      <a:r>
                        <a:rPr dirty="0" sz="1200" spc="-5">
                          <a:latin typeface="Arial"/>
                          <a:cs typeface="Arial"/>
                        </a:rPr>
                        <a:t>called</a:t>
                      </a:r>
                      <a:endParaRPr sz="1200">
                        <a:latin typeface="Arial"/>
                        <a:cs typeface="Arial"/>
                      </a:endParaRPr>
                    </a:p>
                  </a:txBody>
                  <a:tcPr marL="0" marR="0" marB="0" marT="5016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95"/>
                        </a:spcBef>
                      </a:pPr>
                      <a:r>
                        <a:rPr dirty="0" sz="1200" spc="-5">
                          <a:latin typeface="Arial"/>
                          <a:cs typeface="Arial"/>
                        </a:rPr>
                        <a:t>Muslims</a:t>
                      </a:r>
                      <a:endParaRPr sz="1200">
                        <a:latin typeface="Arial"/>
                        <a:cs typeface="Arial"/>
                      </a:endParaRPr>
                    </a:p>
                  </a:txBody>
                  <a:tcPr marL="0" marR="0" marB="0" marT="5016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95"/>
                        </a:spcBef>
                      </a:pPr>
                      <a:r>
                        <a:rPr dirty="0" sz="1200" spc="-5">
                          <a:latin typeface="Arial"/>
                          <a:cs typeface="Arial"/>
                        </a:rPr>
                        <a:t>Jews</a:t>
                      </a:r>
                      <a:endParaRPr sz="1200">
                        <a:latin typeface="Arial"/>
                        <a:cs typeface="Arial"/>
                      </a:endParaRPr>
                    </a:p>
                  </a:txBody>
                  <a:tcPr marL="0" marR="0" marB="0" marT="5016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395"/>
                        </a:spcBef>
                      </a:pPr>
                      <a:r>
                        <a:rPr dirty="0" sz="1200" spc="-5">
                          <a:latin typeface="Arial"/>
                          <a:cs typeface="Arial"/>
                        </a:rPr>
                        <a:t>Christians</a:t>
                      </a:r>
                      <a:endParaRPr sz="1200">
                        <a:latin typeface="Arial"/>
                        <a:cs typeface="Arial"/>
                      </a:endParaRPr>
                    </a:p>
                  </a:txBody>
                  <a:tcPr marL="0" marR="0" marB="0" marT="5016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289559">
                <a:tc>
                  <a:txBody>
                    <a:bodyPr/>
                    <a:lstStyle/>
                    <a:p>
                      <a:pPr marL="50165">
                        <a:lnSpc>
                          <a:spcPct val="100000"/>
                        </a:lnSpc>
                        <a:spcBef>
                          <a:spcPts val="345"/>
                        </a:spcBef>
                      </a:pPr>
                      <a:r>
                        <a:rPr dirty="0" sz="1200" spc="-5">
                          <a:latin typeface="Arial"/>
                          <a:cs typeface="Arial"/>
                        </a:rPr>
                        <a:t>current</a:t>
                      </a:r>
                      <a:r>
                        <a:rPr dirty="0" sz="1200" spc="-10">
                          <a:latin typeface="Arial"/>
                          <a:cs typeface="Arial"/>
                        </a:rPr>
                        <a:t> </a:t>
                      </a:r>
                      <a:r>
                        <a:rPr dirty="0" sz="1200" spc="-5">
                          <a:latin typeface="Arial"/>
                          <a:cs typeface="Arial"/>
                        </a:rPr>
                        <a:t>adherents</a:t>
                      </a:r>
                      <a:endParaRPr sz="1200">
                        <a:latin typeface="Arial"/>
                        <a:cs typeface="Arial"/>
                      </a:endParaRPr>
                    </a:p>
                  </a:txBody>
                  <a:tcPr marL="0" marR="0" marB="0" marT="4381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45"/>
                        </a:spcBef>
                      </a:pPr>
                      <a:r>
                        <a:rPr dirty="0" sz="1200" spc="-5">
                          <a:latin typeface="Arial"/>
                          <a:cs typeface="Arial"/>
                        </a:rPr>
                        <a:t>1.3</a:t>
                      </a:r>
                      <a:r>
                        <a:rPr dirty="0" sz="1200" spc="-10">
                          <a:latin typeface="Arial"/>
                          <a:cs typeface="Arial"/>
                        </a:rPr>
                        <a:t> </a:t>
                      </a:r>
                      <a:r>
                        <a:rPr dirty="0" sz="1200" spc="-5">
                          <a:latin typeface="Arial"/>
                          <a:cs typeface="Arial"/>
                        </a:rPr>
                        <a:t>billion</a:t>
                      </a:r>
                      <a:endParaRPr sz="1200">
                        <a:latin typeface="Arial"/>
                        <a:cs typeface="Arial"/>
                      </a:endParaRPr>
                    </a:p>
                  </a:txBody>
                  <a:tcPr marL="0" marR="0" marB="0" marT="438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45"/>
                        </a:spcBef>
                      </a:pPr>
                      <a:r>
                        <a:rPr dirty="0" sz="1200" spc="-5">
                          <a:latin typeface="Arial"/>
                          <a:cs typeface="Arial"/>
                        </a:rPr>
                        <a:t>14</a:t>
                      </a:r>
                      <a:r>
                        <a:rPr dirty="0" sz="1200" spc="-15">
                          <a:latin typeface="Arial"/>
                          <a:cs typeface="Arial"/>
                        </a:rPr>
                        <a:t> </a:t>
                      </a:r>
                      <a:r>
                        <a:rPr dirty="0" sz="1200" spc="-5">
                          <a:latin typeface="Arial"/>
                          <a:cs typeface="Arial"/>
                        </a:rPr>
                        <a:t>million</a:t>
                      </a:r>
                      <a:endParaRPr sz="1200">
                        <a:latin typeface="Arial"/>
                        <a:cs typeface="Arial"/>
                      </a:endParaRPr>
                    </a:p>
                  </a:txBody>
                  <a:tcPr marL="0" marR="0" marB="0" marT="438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345"/>
                        </a:spcBef>
                      </a:pPr>
                      <a:r>
                        <a:rPr dirty="0" sz="1200" spc="-5">
                          <a:latin typeface="Arial"/>
                          <a:cs typeface="Arial"/>
                        </a:rPr>
                        <a:t>2 billion</a:t>
                      </a:r>
                      <a:endParaRPr sz="1200">
                        <a:latin typeface="Arial"/>
                        <a:cs typeface="Arial"/>
                      </a:endParaRPr>
                    </a:p>
                  </a:txBody>
                  <a:tcPr marL="0" marR="0" marB="0" marT="4381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289559">
                <a:tc>
                  <a:txBody>
                    <a:bodyPr/>
                    <a:lstStyle/>
                    <a:p>
                      <a:pPr marL="50165">
                        <a:lnSpc>
                          <a:spcPct val="100000"/>
                        </a:lnSpc>
                        <a:spcBef>
                          <a:spcPts val="345"/>
                        </a:spcBef>
                      </a:pPr>
                      <a:r>
                        <a:rPr dirty="0" sz="1200" spc="-5">
                          <a:latin typeface="Arial"/>
                          <a:cs typeface="Arial"/>
                        </a:rPr>
                        <a:t>current size</a:t>
                      </a:r>
                      <a:r>
                        <a:rPr dirty="0" sz="1200" spc="-10">
                          <a:latin typeface="Arial"/>
                          <a:cs typeface="Arial"/>
                        </a:rPr>
                        <a:t> </a:t>
                      </a:r>
                      <a:r>
                        <a:rPr dirty="0" sz="1200">
                          <a:latin typeface="Arial"/>
                          <a:cs typeface="Arial"/>
                        </a:rPr>
                        <a:t>rank</a:t>
                      </a:r>
                      <a:endParaRPr sz="1200">
                        <a:latin typeface="Arial"/>
                        <a:cs typeface="Arial"/>
                      </a:endParaRPr>
                    </a:p>
                  </a:txBody>
                  <a:tcPr marL="0" marR="0" marB="0" marT="4381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45"/>
                        </a:spcBef>
                      </a:pPr>
                      <a:r>
                        <a:rPr dirty="0" sz="1200" spc="-5">
                          <a:latin typeface="Arial"/>
                          <a:cs typeface="Arial"/>
                        </a:rPr>
                        <a:t>2nd largest</a:t>
                      </a:r>
                      <a:endParaRPr sz="1200">
                        <a:latin typeface="Arial"/>
                        <a:cs typeface="Arial"/>
                      </a:endParaRPr>
                    </a:p>
                  </a:txBody>
                  <a:tcPr marL="0" marR="0" marB="0" marT="438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45"/>
                        </a:spcBef>
                      </a:pPr>
                      <a:r>
                        <a:rPr dirty="0" sz="1200" spc="-5">
                          <a:latin typeface="Arial"/>
                          <a:cs typeface="Arial"/>
                        </a:rPr>
                        <a:t>12th</a:t>
                      </a:r>
                      <a:r>
                        <a:rPr dirty="0" sz="1200" spc="-10">
                          <a:latin typeface="Arial"/>
                          <a:cs typeface="Arial"/>
                        </a:rPr>
                        <a:t> </a:t>
                      </a:r>
                      <a:r>
                        <a:rPr dirty="0" sz="1200" spc="-5">
                          <a:latin typeface="Arial"/>
                          <a:cs typeface="Arial"/>
                        </a:rPr>
                        <a:t>largest</a:t>
                      </a:r>
                      <a:endParaRPr sz="1200">
                        <a:latin typeface="Arial"/>
                        <a:cs typeface="Arial"/>
                      </a:endParaRPr>
                    </a:p>
                  </a:txBody>
                  <a:tcPr marL="0" marR="0" marB="0" marT="438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345"/>
                        </a:spcBef>
                      </a:pPr>
                      <a:r>
                        <a:rPr dirty="0" sz="1200" spc="-5">
                          <a:latin typeface="Arial"/>
                          <a:cs typeface="Arial"/>
                        </a:rPr>
                        <a:t>largest</a:t>
                      </a:r>
                      <a:endParaRPr sz="1200">
                        <a:latin typeface="Arial"/>
                        <a:cs typeface="Arial"/>
                      </a:endParaRPr>
                    </a:p>
                  </a:txBody>
                  <a:tcPr marL="0" marR="0" marB="0" marT="4381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640079">
                <a:tc>
                  <a:txBody>
                    <a:bodyPr/>
                    <a:lstStyle/>
                    <a:p>
                      <a:pPr>
                        <a:lnSpc>
                          <a:spcPct val="100000"/>
                        </a:lnSpc>
                      </a:pPr>
                      <a:endParaRPr sz="1500">
                        <a:latin typeface="Times New Roman"/>
                        <a:cs typeface="Times New Roman"/>
                      </a:endParaRPr>
                    </a:p>
                    <a:p>
                      <a:pPr marL="50165">
                        <a:lnSpc>
                          <a:spcPct val="100000"/>
                        </a:lnSpc>
                      </a:pPr>
                      <a:r>
                        <a:rPr dirty="0" sz="1200">
                          <a:latin typeface="Arial"/>
                          <a:cs typeface="Arial"/>
                        </a:rPr>
                        <a:t>major</a:t>
                      </a:r>
                      <a:r>
                        <a:rPr dirty="0" sz="1200" spc="-25">
                          <a:latin typeface="Arial"/>
                          <a:cs typeface="Arial"/>
                        </a:rPr>
                        <a:t> </a:t>
                      </a:r>
                      <a:r>
                        <a:rPr dirty="0" sz="1200" spc="-5">
                          <a:latin typeface="Arial"/>
                          <a:cs typeface="Arial"/>
                        </a:rPr>
                        <a:t>concentration</a:t>
                      </a:r>
                      <a:endParaRPr sz="1200">
                        <a:latin typeface="Arial"/>
                        <a:cs typeface="Arial"/>
                      </a:endParaRPr>
                    </a:p>
                  </a:txBody>
                  <a:tcPr marL="0" marR="0" marB="0" marT="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marR="53975">
                        <a:lnSpc>
                          <a:spcPts val="1380"/>
                        </a:lnSpc>
                        <a:spcBef>
                          <a:spcPts val="1140"/>
                        </a:spcBef>
                        <a:tabLst>
                          <a:tab pos="1254125" algn="l"/>
                        </a:tabLst>
                      </a:pPr>
                      <a:r>
                        <a:rPr dirty="0" sz="1200" spc="-5">
                          <a:latin typeface="Arial"/>
                          <a:cs typeface="Arial"/>
                        </a:rPr>
                        <a:t>M</a:t>
                      </a:r>
                      <a:r>
                        <a:rPr dirty="0" sz="1200">
                          <a:latin typeface="Arial"/>
                          <a:cs typeface="Arial"/>
                        </a:rPr>
                        <a:t>id</a:t>
                      </a:r>
                      <a:r>
                        <a:rPr dirty="0" sz="1200" spc="5">
                          <a:latin typeface="Arial"/>
                          <a:cs typeface="Arial"/>
                        </a:rPr>
                        <a:t>d</a:t>
                      </a:r>
                      <a:r>
                        <a:rPr dirty="0" sz="1200">
                          <a:latin typeface="Arial"/>
                          <a:cs typeface="Arial"/>
                        </a:rPr>
                        <a:t>le</a:t>
                      </a:r>
                      <a:r>
                        <a:rPr dirty="0" sz="1200">
                          <a:latin typeface="Arial"/>
                          <a:cs typeface="Arial"/>
                        </a:rPr>
                        <a:t>	E</a:t>
                      </a:r>
                      <a:r>
                        <a:rPr dirty="0" sz="1200">
                          <a:latin typeface="Arial"/>
                          <a:cs typeface="Arial"/>
                        </a:rPr>
                        <a:t>a</a:t>
                      </a:r>
                      <a:r>
                        <a:rPr dirty="0" sz="1200">
                          <a:latin typeface="Arial"/>
                          <a:cs typeface="Arial"/>
                        </a:rPr>
                        <a:t>st,  </a:t>
                      </a:r>
                      <a:r>
                        <a:rPr dirty="0" sz="1200" spc="-5">
                          <a:latin typeface="Arial"/>
                          <a:cs typeface="Arial"/>
                        </a:rPr>
                        <a:t>Southeast Asia</a:t>
                      </a:r>
                      <a:endParaRPr sz="1200">
                        <a:latin typeface="Arial"/>
                        <a:cs typeface="Arial"/>
                      </a:endParaRPr>
                    </a:p>
                  </a:txBody>
                  <a:tcPr marL="0" marR="0" marB="0" marT="1447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marR="53975">
                        <a:lnSpc>
                          <a:spcPts val="1380"/>
                        </a:lnSpc>
                        <a:spcBef>
                          <a:spcPts val="1140"/>
                        </a:spcBef>
                        <a:tabLst>
                          <a:tab pos="812165" algn="l"/>
                        </a:tabLst>
                      </a:pPr>
                      <a:r>
                        <a:rPr dirty="0" sz="1200">
                          <a:latin typeface="Arial"/>
                          <a:cs typeface="Arial"/>
                        </a:rPr>
                        <a:t>Isra</a:t>
                      </a:r>
                      <a:r>
                        <a:rPr dirty="0" sz="1200" spc="5">
                          <a:latin typeface="Arial"/>
                          <a:cs typeface="Arial"/>
                        </a:rPr>
                        <a:t>e</a:t>
                      </a:r>
                      <a:r>
                        <a:rPr dirty="0" sz="1200">
                          <a:latin typeface="Arial"/>
                          <a:cs typeface="Arial"/>
                        </a:rPr>
                        <a:t>l,	E</a:t>
                      </a:r>
                      <a:r>
                        <a:rPr dirty="0" sz="1200">
                          <a:latin typeface="Arial"/>
                          <a:cs typeface="Arial"/>
                        </a:rPr>
                        <a:t>ur</a:t>
                      </a:r>
                      <a:r>
                        <a:rPr dirty="0" sz="1200" spc="-15">
                          <a:latin typeface="Arial"/>
                          <a:cs typeface="Arial"/>
                        </a:rPr>
                        <a:t>o</a:t>
                      </a:r>
                      <a:r>
                        <a:rPr dirty="0" sz="1200">
                          <a:latin typeface="Arial"/>
                          <a:cs typeface="Arial"/>
                        </a:rPr>
                        <a:t>pe</a:t>
                      </a:r>
                      <a:r>
                        <a:rPr dirty="0" sz="1200">
                          <a:latin typeface="Arial"/>
                          <a:cs typeface="Arial"/>
                        </a:rPr>
                        <a:t>,  </a:t>
                      </a:r>
                      <a:r>
                        <a:rPr dirty="0" sz="1200" spc="-5">
                          <a:latin typeface="Arial"/>
                          <a:cs typeface="Arial"/>
                        </a:rPr>
                        <a:t>USA</a:t>
                      </a:r>
                      <a:endParaRPr sz="1200">
                        <a:latin typeface="Arial"/>
                        <a:cs typeface="Arial"/>
                      </a:endParaRPr>
                    </a:p>
                  </a:txBody>
                  <a:tcPr marL="0" marR="0" marB="0" marT="1447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0800" marR="52705">
                        <a:lnSpc>
                          <a:spcPts val="1380"/>
                        </a:lnSpc>
                        <a:spcBef>
                          <a:spcPts val="445"/>
                        </a:spcBef>
                      </a:pPr>
                      <a:r>
                        <a:rPr dirty="0" sz="1200" spc="-5">
                          <a:latin typeface="Arial"/>
                          <a:cs typeface="Arial"/>
                        </a:rPr>
                        <a:t>Europe, North and South  America, rapid growth in  Africa</a:t>
                      </a:r>
                      <a:endParaRPr sz="1200">
                        <a:latin typeface="Arial"/>
                        <a:cs typeface="Arial"/>
                      </a:endParaRPr>
                    </a:p>
                  </a:txBody>
                  <a:tcPr marL="0" marR="0" marB="0" marT="5651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465200">
                <a:tc>
                  <a:txBody>
                    <a:bodyPr/>
                    <a:lstStyle/>
                    <a:p>
                      <a:pPr marL="50165">
                        <a:lnSpc>
                          <a:spcPct val="100000"/>
                        </a:lnSpc>
                        <a:spcBef>
                          <a:spcPts val="1040"/>
                        </a:spcBef>
                      </a:pPr>
                      <a:r>
                        <a:rPr dirty="0" sz="1200" spc="-5">
                          <a:latin typeface="Arial"/>
                          <a:cs typeface="Arial"/>
                        </a:rPr>
                        <a:t>sacred </a:t>
                      </a:r>
                      <a:r>
                        <a:rPr dirty="0" sz="1200" spc="-10">
                          <a:latin typeface="Arial"/>
                          <a:cs typeface="Arial"/>
                        </a:rPr>
                        <a:t>text</a:t>
                      </a:r>
                      <a:endParaRPr sz="1200">
                        <a:latin typeface="Arial"/>
                        <a:cs typeface="Arial"/>
                      </a:endParaRPr>
                    </a:p>
                  </a:txBody>
                  <a:tcPr marL="0" marR="0" marB="0" marT="13208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1040"/>
                        </a:spcBef>
                      </a:pPr>
                      <a:r>
                        <a:rPr dirty="0" sz="1200">
                          <a:latin typeface="Arial"/>
                          <a:cs typeface="Arial"/>
                        </a:rPr>
                        <a:t>Qur'an</a:t>
                      </a:r>
                      <a:endParaRPr sz="1200">
                        <a:latin typeface="Arial"/>
                        <a:cs typeface="Arial"/>
                      </a:endParaRPr>
                    </a:p>
                  </a:txBody>
                  <a:tcPr marL="0" marR="0" marB="0" marT="1320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1040"/>
                        </a:spcBef>
                      </a:pPr>
                      <a:r>
                        <a:rPr dirty="0" sz="1200" spc="-5">
                          <a:latin typeface="Arial"/>
                          <a:cs typeface="Arial"/>
                        </a:rPr>
                        <a:t>Tawraat</a:t>
                      </a:r>
                      <a:endParaRPr sz="1200">
                        <a:latin typeface="Arial"/>
                        <a:cs typeface="Arial"/>
                      </a:endParaRPr>
                    </a:p>
                  </a:txBody>
                  <a:tcPr marL="0" marR="0" marB="0" marT="1320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marR="51435">
                        <a:lnSpc>
                          <a:spcPts val="1380"/>
                        </a:lnSpc>
                        <a:spcBef>
                          <a:spcPts val="445"/>
                        </a:spcBef>
                        <a:tabLst>
                          <a:tab pos="561340" algn="l"/>
                          <a:tab pos="1221105" algn="l"/>
                          <a:tab pos="1704339" algn="l"/>
                        </a:tabLst>
                      </a:pPr>
                      <a:r>
                        <a:rPr dirty="0" sz="1200">
                          <a:latin typeface="Arial"/>
                          <a:cs typeface="Arial"/>
                        </a:rPr>
                        <a:t>I</a:t>
                      </a:r>
                      <a:r>
                        <a:rPr dirty="0" sz="1200" spc="5">
                          <a:latin typeface="Arial"/>
                          <a:cs typeface="Arial"/>
                        </a:rPr>
                        <a:t>n</a:t>
                      </a:r>
                      <a:r>
                        <a:rPr dirty="0" sz="1200">
                          <a:latin typeface="Arial"/>
                          <a:cs typeface="Arial"/>
                        </a:rPr>
                        <a:t>je</a:t>
                      </a:r>
                      <a:r>
                        <a:rPr dirty="0" sz="1200" spc="5">
                          <a:latin typeface="Arial"/>
                          <a:cs typeface="Arial"/>
                        </a:rPr>
                        <a:t>e</a:t>
                      </a:r>
                      <a:r>
                        <a:rPr dirty="0" sz="1200">
                          <a:latin typeface="Arial"/>
                          <a:cs typeface="Arial"/>
                        </a:rPr>
                        <a:t>l</a:t>
                      </a:r>
                      <a:r>
                        <a:rPr dirty="0" sz="1200">
                          <a:latin typeface="Arial"/>
                          <a:cs typeface="Arial"/>
                        </a:rPr>
                        <a:t>	</a:t>
                      </a:r>
                      <a:r>
                        <a:rPr dirty="0" sz="1200">
                          <a:latin typeface="Arial"/>
                          <a:cs typeface="Arial"/>
                        </a:rPr>
                        <a:t>(Je</a:t>
                      </a:r>
                      <a:r>
                        <a:rPr dirty="0" sz="1200" spc="-15">
                          <a:latin typeface="Arial"/>
                          <a:cs typeface="Arial"/>
                        </a:rPr>
                        <a:t>w</a:t>
                      </a:r>
                      <a:r>
                        <a:rPr dirty="0" sz="1200">
                          <a:latin typeface="Arial"/>
                          <a:cs typeface="Arial"/>
                        </a:rPr>
                        <a:t>ish</a:t>
                      </a:r>
                      <a:r>
                        <a:rPr dirty="0" sz="1200">
                          <a:latin typeface="Arial"/>
                          <a:cs typeface="Arial"/>
                        </a:rPr>
                        <a:t>	B</a:t>
                      </a:r>
                      <a:r>
                        <a:rPr dirty="0" sz="1200">
                          <a:latin typeface="Arial"/>
                          <a:cs typeface="Arial"/>
                        </a:rPr>
                        <a:t>ible</a:t>
                      </a:r>
                      <a:r>
                        <a:rPr dirty="0" sz="1200">
                          <a:latin typeface="Arial"/>
                          <a:cs typeface="Arial"/>
                        </a:rPr>
                        <a:t>	+  </a:t>
                      </a:r>
                      <a:r>
                        <a:rPr dirty="0" sz="1200" spc="-5">
                          <a:latin typeface="Arial"/>
                          <a:cs typeface="Arial"/>
                        </a:rPr>
                        <a:t>New</a:t>
                      </a:r>
                      <a:r>
                        <a:rPr dirty="0" sz="1200" spc="-25">
                          <a:latin typeface="Arial"/>
                          <a:cs typeface="Arial"/>
                        </a:rPr>
                        <a:t> </a:t>
                      </a:r>
                      <a:r>
                        <a:rPr dirty="0" sz="1200">
                          <a:latin typeface="Arial"/>
                          <a:cs typeface="Arial"/>
                        </a:rPr>
                        <a:t>Testament)</a:t>
                      </a:r>
                      <a:endParaRPr sz="1200">
                        <a:latin typeface="Arial"/>
                        <a:cs typeface="Arial"/>
                      </a:endParaRPr>
                    </a:p>
                  </a:txBody>
                  <a:tcPr marL="0" marR="0" marB="0" marT="5651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640080">
                <a:tc>
                  <a:txBody>
                    <a:bodyPr/>
                    <a:lstStyle/>
                    <a:p>
                      <a:pPr marL="50165" marR="53975">
                        <a:lnSpc>
                          <a:spcPts val="1380"/>
                        </a:lnSpc>
                        <a:spcBef>
                          <a:spcPts val="1140"/>
                        </a:spcBef>
                        <a:tabLst>
                          <a:tab pos="958850" algn="l"/>
                        </a:tabLst>
                      </a:pPr>
                      <a:r>
                        <a:rPr dirty="0" sz="1200">
                          <a:latin typeface="Arial"/>
                          <a:cs typeface="Arial"/>
                        </a:rPr>
                        <a:t>o</a:t>
                      </a:r>
                      <a:r>
                        <a:rPr dirty="0" sz="1200">
                          <a:latin typeface="Arial"/>
                          <a:cs typeface="Arial"/>
                        </a:rPr>
                        <a:t>t</a:t>
                      </a:r>
                      <a:r>
                        <a:rPr dirty="0" sz="1200" spc="5">
                          <a:latin typeface="Arial"/>
                          <a:cs typeface="Arial"/>
                        </a:rPr>
                        <a:t>h</a:t>
                      </a:r>
                      <a:r>
                        <a:rPr dirty="0" sz="1200">
                          <a:latin typeface="Arial"/>
                          <a:cs typeface="Arial"/>
                        </a:rPr>
                        <a:t>e</a:t>
                      </a:r>
                      <a:r>
                        <a:rPr dirty="0" sz="1200">
                          <a:latin typeface="Arial"/>
                          <a:cs typeface="Arial"/>
                        </a:rPr>
                        <a:t>r	</a:t>
                      </a:r>
                      <a:r>
                        <a:rPr dirty="0" sz="1200" spc="-15">
                          <a:latin typeface="Arial"/>
                          <a:cs typeface="Arial"/>
                        </a:rPr>
                        <a:t>w</a:t>
                      </a:r>
                      <a:r>
                        <a:rPr dirty="0" sz="1200">
                          <a:latin typeface="Arial"/>
                          <a:cs typeface="Arial"/>
                        </a:rPr>
                        <a:t>r</a:t>
                      </a:r>
                      <a:r>
                        <a:rPr dirty="0" sz="1200" spc="-10">
                          <a:latin typeface="Arial"/>
                          <a:cs typeface="Arial"/>
                        </a:rPr>
                        <a:t>i</a:t>
                      </a:r>
                      <a:r>
                        <a:rPr dirty="0" sz="1200">
                          <a:latin typeface="Arial"/>
                          <a:cs typeface="Arial"/>
                        </a:rPr>
                        <a:t>tt</a:t>
                      </a:r>
                      <a:r>
                        <a:rPr dirty="0" sz="1200">
                          <a:latin typeface="Arial"/>
                          <a:cs typeface="Arial"/>
                        </a:rPr>
                        <a:t>en  </a:t>
                      </a:r>
                      <a:r>
                        <a:rPr dirty="0" sz="1200" spc="-5">
                          <a:latin typeface="Arial"/>
                          <a:cs typeface="Arial"/>
                        </a:rPr>
                        <a:t>authority</a:t>
                      </a:r>
                      <a:endParaRPr sz="1200">
                        <a:latin typeface="Arial"/>
                        <a:cs typeface="Arial"/>
                      </a:endParaRPr>
                    </a:p>
                  </a:txBody>
                  <a:tcPr marL="0" marR="0" marB="0" marT="14478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nSpc>
                          <a:spcPct val="100000"/>
                        </a:lnSpc>
                      </a:pPr>
                      <a:endParaRPr sz="1500">
                        <a:latin typeface="Times New Roman"/>
                        <a:cs typeface="Times New Roman"/>
                      </a:endParaRPr>
                    </a:p>
                    <a:p>
                      <a:pPr marL="52069">
                        <a:lnSpc>
                          <a:spcPct val="100000"/>
                        </a:lnSpc>
                      </a:pPr>
                      <a:r>
                        <a:rPr dirty="0" sz="1200">
                          <a:latin typeface="Arial"/>
                          <a:cs typeface="Arial"/>
                        </a:rPr>
                        <a:t>Hadith</a:t>
                      </a:r>
                      <a:endParaRPr sz="1200">
                        <a:latin typeface="Arial"/>
                        <a:cs typeface="Arial"/>
                      </a:endParaRPr>
                    </a:p>
                  </a:txBody>
                  <a:tcPr marL="0" marR="0" marB="0" marT="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marR="55244">
                        <a:lnSpc>
                          <a:spcPts val="1380"/>
                        </a:lnSpc>
                        <a:spcBef>
                          <a:spcPts val="1140"/>
                        </a:spcBef>
                        <a:tabLst>
                          <a:tab pos="699135" algn="l"/>
                          <a:tab pos="1218565" algn="l"/>
                        </a:tabLst>
                      </a:pPr>
                      <a:r>
                        <a:rPr dirty="0" sz="1200" spc="5">
                          <a:latin typeface="Arial"/>
                          <a:cs typeface="Arial"/>
                        </a:rPr>
                        <a:t>T</a:t>
                      </a:r>
                      <a:r>
                        <a:rPr dirty="0" sz="1200">
                          <a:latin typeface="Arial"/>
                          <a:cs typeface="Arial"/>
                        </a:rPr>
                        <a:t>a</a:t>
                      </a:r>
                      <a:r>
                        <a:rPr dirty="0" sz="1200" spc="-15">
                          <a:latin typeface="Arial"/>
                          <a:cs typeface="Arial"/>
                        </a:rPr>
                        <a:t>l</a:t>
                      </a:r>
                      <a:r>
                        <a:rPr dirty="0" sz="1200" spc="5">
                          <a:latin typeface="Arial"/>
                          <a:cs typeface="Arial"/>
                        </a:rPr>
                        <a:t>m</a:t>
                      </a:r>
                      <a:r>
                        <a:rPr dirty="0" sz="1200" spc="-10">
                          <a:latin typeface="Arial"/>
                          <a:cs typeface="Arial"/>
                        </a:rPr>
                        <a:t>u</a:t>
                      </a:r>
                      <a:r>
                        <a:rPr dirty="0" sz="1200">
                          <a:latin typeface="Arial"/>
                          <a:cs typeface="Arial"/>
                        </a:rPr>
                        <a:t>d</a:t>
                      </a:r>
                      <a:r>
                        <a:rPr dirty="0" sz="1200">
                          <a:latin typeface="Arial"/>
                          <a:cs typeface="Arial"/>
                        </a:rPr>
                        <a:t>	(t</a:t>
                      </a:r>
                      <a:r>
                        <a:rPr dirty="0" sz="1200" spc="-10">
                          <a:latin typeface="Arial"/>
                          <a:cs typeface="Arial"/>
                        </a:rPr>
                        <a:t>a</a:t>
                      </a:r>
                      <a:r>
                        <a:rPr dirty="0" sz="1200" spc="10">
                          <a:latin typeface="Arial"/>
                          <a:cs typeface="Arial"/>
                        </a:rPr>
                        <a:t>f</a:t>
                      </a:r>
                      <a:r>
                        <a:rPr dirty="0" sz="1200">
                          <a:latin typeface="Arial"/>
                          <a:cs typeface="Arial"/>
                        </a:rPr>
                        <a:t>sir</a:t>
                      </a:r>
                      <a:r>
                        <a:rPr dirty="0" sz="1200">
                          <a:latin typeface="Arial"/>
                          <a:cs typeface="Arial"/>
                        </a:rPr>
                        <a:t>	</a:t>
                      </a:r>
                      <a:r>
                        <a:rPr dirty="0" sz="1200" spc="-10">
                          <a:latin typeface="Arial"/>
                          <a:cs typeface="Arial"/>
                        </a:rPr>
                        <a:t>o</a:t>
                      </a:r>
                      <a:r>
                        <a:rPr dirty="0" sz="1200">
                          <a:latin typeface="Arial"/>
                          <a:cs typeface="Arial"/>
                        </a:rPr>
                        <a:t>f  </a:t>
                      </a:r>
                      <a:r>
                        <a:rPr dirty="0" sz="1200">
                          <a:latin typeface="Arial"/>
                          <a:cs typeface="Arial"/>
                        </a:rPr>
                        <a:t>the</a:t>
                      </a:r>
                      <a:r>
                        <a:rPr dirty="0" sz="1200" spc="-20">
                          <a:latin typeface="Arial"/>
                          <a:cs typeface="Arial"/>
                        </a:rPr>
                        <a:t> </a:t>
                      </a:r>
                      <a:r>
                        <a:rPr dirty="0" sz="1200" spc="-5">
                          <a:latin typeface="Arial"/>
                          <a:cs typeface="Arial"/>
                        </a:rPr>
                        <a:t>Tawraat)</a:t>
                      </a:r>
                      <a:endParaRPr sz="1200">
                        <a:latin typeface="Arial"/>
                        <a:cs typeface="Arial"/>
                      </a:endParaRPr>
                    </a:p>
                  </a:txBody>
                  <a:tcPr marL="0" marR="0" marB="0" marT="1447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0800" marR="53340">
                        <a:lnSpc>
                          <a:spcPts val="1380"/>
                        </a:lnSpc>
                        <a:spcBef>
                          <a:spcPts val="445"/>
                        </a:spcBef>
                      </a:pPr>
                      <a:r>
                        <a:rPr dirty="0" sz="1200" spc="-5">
                          <a:latin typeface="Arial"/>
                          <a:cs typeface="Arial"/>
                        </a:rPr>
                        <a:t>church </a:t>
                      </a:r>
                      <a:r>
                        <a:rPr dirty="0" sz="1200">
                          <a:latin typeface="Arial"/>
                          <a:cs typeface="Arial"/>
                        </a:rPr>
                        <a:t>fathers, </a:t>
                      </a:r>
                      <a:r>
                        <a:rPr dirty="0" sz="1200" spc="-5">
                          <a:latin typeface="Arial"/>
                          <a:cs typeface="Arial"/>
                        </a:rPr>
                        <a:t>church  councils, papal decrees  (Catholic only)</a:t>
                      </a:r>
                      <a:endParaRPr sz="1200">
                        <a:latin typeface="Arial"/>
                        <a:cs typeface="Arial"/>
                      </a:endParaRPr>
                    </a:p>
                  </a:txBody>
                  <a:tcPr marL="0" marR="0" marB="0" marT="5651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289559">
                <a:tc>
                  <a:txBody>
                    <a:bodyPr/>
                    <a:lstStyle/>
                    <a:p>
                      <a:pPr marL="50165">
                        <a:lnSpc>
                          <a:spcPct val="100000"/>
                        </a:lnSpc>
                        <a:spcBef>
                          <a:spcPts val="345"/>
                        </a:spcBef>
                      </a:pPr>
                      <a:r>
                        <a:rPr dirty="0" sz="1200" spc="-5">
                          <a:latin typeface="Arial"/>
                          <a:cs typeface="Arial"/>
                        </a:rPr>
                        <a:t>religious law</a:t>
                      </a:r>
                      <a:endParaRPr sz="1200">
                        <a:latin typeface="Arial"/>
                        <a:cs typeface="Arial"/>
                      </a:endParaRPr>
                    </a:p>
                  </a:txBody>
                  <a:tcPr marL="0" marR="0" marB="0" marT="4381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45"/>
                        </a:spcBef>
                      </a:pPr>
                      <a:r>
                        <a:rPr dirty="0" sz="1200" spc="-5">
                          <a:latin typeface="Arial"/>
                          <a:cs typeface="Arial"/>
                        </a:rPr>
                        <a:t>Sharia</a:t>
                      </a:r>
                      <a:endParaRPr sz="1200">
                        <a:latin typeface="Arial"/>
                        <a:cs typeface="Arial"/>
                      </a:endParaRPr>
                    </a:p>
                  </a:txBody>
                  <a:tcPr marL="0" marR="0" marB="0" marT="438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45"/>
                        </a:spcBef>
                      </a:pPr>
                      <a:r>
                        <a:rPr dirty="0" sz="1200" spc="-5">
                          <a:latin typeface="Arial"/>
                          <a:cs typeface="Arial"/>
                        </a:rPr>
                        <a:t>Halakhah</a:t>
                      </a:r>
                      <a:endParaRPr sz="1200">
                        <a:latin typeface="Arial"/>
                        <a:cs typeface="Arial"/>
                      </a:endParaRPr>
                    </a:p>
                  </a:txBody>
                  <a:tcPr marL="0" marR="0" marB="0" marT="438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345"/>
                        </a:spcBef>
                      </a:pPr>
                      <a:r>
                        <a:rPr dirty="0" sz="1200">
                          <a:latin typeface="Arial"/>
                          <a:cs typeface="Arial"/>
                        </a:rPr>
                        <a:t>Canon</a:t>
                      </a:r>
                      <a:r>
                        <a:rPr dirty="0" sz="1200" spc="-15">
                          <a:latin typeface="Arial"/>
                          <a:cs typeface="Arial"/>
                        </a:rPr>
                        <a:t> </a:t>
                      </a:r>
                      <a:r>
                        <a:rPr dirty="0" sz="1200">
                          <a:latin typeface="Arial"/>
                          <a:cs typeface="Arial"/>
                        </a:rPr>
                        <a:t>Law</a:t>
                      </a:r>
                      <a:endParaRPr sz="1200">
                        <a:latin typeface="Arial"/>
                        <a:cs typeface="Arial"/>
                      </a:endParaRPr>
                    </a:p>
                  </a:txBody>
                  <a:tcPr marL="0" marR="0" marB="0" marT="4381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464820">
                <a:tc>
                  <a:txBody>
                    <a:bodyPr/>
                    <a:lstStyle/>
                    <a:p>
                      <a:pPr marL="50165">
                        <a:lnSpc>
                          <a:spcPct val="100000"/>
                        </a:lnSpc>
                        <a:spcBef>
                          <a:spcPts val="1045"/>
                        </a:spcBef>
                      </a:pPr>
                      <a:r>
                        <a:rPr dirty="0" sz="1200" spc="-5">
                          <a:latin typeface="Arial"/>
                          <a:cs typeface="Arial"/>
                        </a:rPr>
                        <a:t>clergy</a:t>
                      </a:r>
                      <a:endParaRPr sz="1200">
                        <a:latin typeface="Arial"/>
                        <a:cs typeface="Arial"/>
                      </a:endParaRPr>
                    </a:p>
                  </a:txBody>
                  <a:tcPr marL="0" marR="0" marB="0" marT="13271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1045"/>
                        </a:spcBef>
                      </a:pPr>
                      <a:r>
                        <a:rPr dirty="0" sz="1200" spc="-5">
                          <a:latin typeface="Arial"/>
                          <a:cs typeface="Arial"/>
                        </a:rPr>
                        <a:t>imams</a:t>
                      </a:r>
                      <a:endParaRPr sz="1200">
                        <a:latin typeface="Arial"/>
                        <a:cs typeface="Arial"/>
                      </a:endParaRPr>
                    </a:p>
                  </a:txBody>
                  <a:tcPr marL="0" marR="0" marB="0" marT="1327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1045"/>
                        </a:spcBef>
                      </a:pPr>
                      <a:r>
                        <a:rPr dirty="0" sz="1200" spc="-5">
                          <a:latin typeface="Arial"/>
                          <a:cs typeface="Arial"/>
                        </a:rPr>
                        <a:t>rabbis</a:t>
                      </a:r>
                      <a:endParaRPr sz="1200">
                        <a:latin typeface="Arial"/>
                        <a:cs typeface="Arial"/>
                      </a:endParaRPr>
                    </a:p>
                  </a:txBody>
                  <a:tcPr marL="0" marR="0" marB="0" marT="1327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marR="52705">
                        <a:lnSpc>
                          <a:spcPts val="1380"/>
                        </a:lnSpc>
                        <a:spcBef>
                          <a:spcPts val="445"/>
                        </a:spcBef>
                        <a:tabLst>
                          <a:tab pos="1139825" algn="l"/>
                        </a:tabLst>
                      </a:pPr>
                      <a:r>
                        <a:rPr dirty="0" sz="1200">
                          <a:latin typeface="Arial"/>
                          <a:cs typeface="Arial"/>
                        </a:rPr>
                        <a:t>pr</a:t>
                      </a:r>
                      <a:r>
                        <a:rPr dirty="0" sz="1200" spc="-10">
                          <a:latin typeface="Arial"/>
                          <a:cs typeface="Arial"/>
                        </a:rPr>
                        <a:t>i</a:t>
                      </a:r>
                      <a:r>
                        <a:rPr dirty="0" sz="1200">
                          <a:latin typeface="Arial"/>
                          <a:cs typeface="Arial"/>
                        </a:rPr>
                        <a:t>e</a:t>
                      </a:r>
                      <a:r>
                        <a:rPr dirty="0" sz="1200">
                          <a:latin typeface="Arial"/>
                          <a:cs typeface="Arial"/>
                        </a:rPr>
                        <a:t>sts,</a:t>
                      </a:r>
                      <a:r>
                        <a:rPr dirty="0" sz="1200">
                          <a:latin typeface="Arial"/>
                          <a:cs typeface="Arial"/>
                        </a:rPr>
                        <a:t>	</a:t>
                      </a:r>
                      <a:r>
                        <a:rPr dirty="0" sz="1200" spc="5">
                          <a:latin typeface="Arial"/>
                          <a:cs typeface="Arial"/>
                        </a:rPr>
                        <a:t>m</a:t>
                      </a:r>
                      <a:r>
                        <a:rPr dirty="0" sz="1200">
                          <a:latin typeface="Arial"/>
                          <a:cs typeface="Arial"/>
                        </a:rPr>
                        <a:t>inis</a:t>
                      </a:r>
                      <a:r>
                        <a:rPr dirty="0" sz="1200" spc="-10">
                          <a:latin typeface="Arial"/>
                          <a:cs typeface="Arial"/>
                        </a:rPr>
                        <a:t>t</a:t>
                      </a:r>
                      <a:r>
                        <a:rPr dirty="0" sz="1200">
                          <a:latin typeface="Arial"/>
                          <a:cs typeface="Arial"/>
                        </a:rPr>
                        <a:t>e</a:t>
                      </a:r>
                      <a:r>
                        <a:rPr dirty="0" sz="1200">
                          <a:latin typeface="Arial"/>
                          <a:cs typeface="Arial"/>
                        </a:rPr>
                        <a:t>rs,  </a:t>
                      </a:r>
                      <a:r>
                        <a:rPr dirty="0" sz="1200">
                          <a:latin typeface="Arial"/>
                          <a:cs typeface="Arial"/>
                        </a:rPr>
                        <a:t>pastors,</a:t>
                      </a:r>
                      <a:r>
                        <a:rPr dirty="0" sz="1200" spc="-15">
                          <a:latin typeface="Arial"/>
                          <a:cs typeface="Arial"/>
                        </a:rPr>
                        <a:t> </a:t>
                      </a:r>
                      <a:r>
                        <a:rPr dirty="0" sz="1200" spc="-5">
                          <a:latin typeface="Arial"/>
                          <a:cs typeface="Arial"/>
                        </a:rPr>
                        <a:t>bishops</a:t>
                      </a:r>
                      <a:endParaRPr sz="1200">
                        <a:latin typeface="Arial"/>
                        <a:cs typeface="Arial"/>
                      </a:endParaRPr>
                    </a:p>
                  </a:txBody>
                  <a:tcPr marL="0" marR="0" marB="0" marT="5651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289559">
                <a:tc>
                  <a:txBody>
                    <a:bodyPr/>
                    <a:lstStyle/>
                    <a:p>
                      <a:pPr marL="50165">
                        <a:lnSpc>
                          <a:spcPct val="100000"/>
                        </a:lnSpc>
                        <a:spcBef>
                          <a:spcPts val="345"/>
                        </a:spcBef>
                      </a:pPr>
                      <a:r>
                        <a:rPr dirty="0" sz="1200" spc="-5">
                          <a:latin typeface="Arial"/>
                          <a:cs typeface="Arial"/>
                        </a:rPr>
                        <a:t>house of</a:t>
                      </a:r>
                      <a:r>
                        <a:rPr dirty="0" sz="1200" spc="-15">
                          <a:latin typeface="Arial"/>
                          <a:cs typeface="Arial"/>
                        </a:rPr>
                        <a:t> </a:t>
                      </a:r>
                      <a:r>
                        <a:rPr dirty="0" sz="1200" spc="-5">
                          <a:latin typeface="Arial"/>
                          <a:cs typeface="Arial"/>
                        </a:rPr>
                        <a:t>worship</a:t>
                      </a:r>
                      <a:endParaRPr sz="1200">
                        <a:latin typeface="Arial"/>
                        <a:cs typeface="Arial"/>
                      </a:endParaRPr>
                    </a:p>
                  </a:txBody>
                  <a:tcPr marL="0" marR="0" marB="0" marT="4381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45"/>
                        </a:spcBef>
                      </a:pPr>
                      <a:r>
                        <a:rPr dirty="0" sz="1200" spc="-5">
                          <a:latin typeface="Arial"/>
                          <a:cs typeface="Arial"/>
                        </a:rPr>
                        <a:t>mosque</a:t>
                      </a:r>
                      <a:endParaRPr sz="1200">
                        <a:latin typeface="Arial"/>
                        <a:cs typeface="Arial"/>
                      </a:endParaRPr>
                    </a:p>
                  </a:txBody>
                  <a:tcPr marL="0" marR="0" marB="0" marT="438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45"/>
                        </a:spcBef>
                      </a:pPr>
                      <a:r>
                        <a:rPr dirty="0" sz="1200" spc="-5">
                          <a:latin typeface="Arial"/>
                          <a:cs typeface="Arial"/>
                        </a:rPr>
                        <a:t>synagogue</a:t>
                      </a:r>
                      <a:endParaRPr sz="1200">
                        <a:latin typeface="Arial"/>
                        <a:cs typeface="Arial"/>
                      </a:endParaRPr>
                    </a:p>
                  </a:txBody>
                  <a:tcPr marL="0" marR="0" marB="0" marT="438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345"/>
                        </a:spcBef>
                      </a:pPr>
                      <a:r>
                        <a:rPr dirty="0" sz="1200" spc="-5">
                          <a:latin typeface="Arial"/>
                          <a:cs typeface="Arial"/>
                        </a:rPr>
                        <a:t>church, chapel,</a:t>
                      </a:r>
                      <a:r>
                        <a:rPr dirty="0" sz="1200" spc="-10">
                          <a:latin typeface="Arial"/>
                          <a:cs typeface="Arial"/>
                        </a:rPr>
                        <a:t> </a:t>
                      </a:r>
                      <a:r>
                        <a:rPr dirty="0" sz="1200" spc="-5">
                          <a:latin typeface="Arial"/>
                          <a:cs typeface="Arial"/>
                        </a:rPr>
                        <a:t>cathedral</a:t>
                      </a:r>
                      <a:endParaRPr sz="1200">
                        <a:latin typeface="Arial"/>
                        <a:cs typeface="Arial"/>
                      </a:endParaRPr>
                    </a:p>
                  </a:txBody>
                  <a:tcPr marL="0" marR="0" marB="0" marT="4381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289560">
                <a:tc>
                  <a:txBody>
                    <a:bodyPr/>
                    <a:lstStyle/>
                    <a:p>
                      <a:pPr marL="50165">
                        <a:lnSpc>
                          <a:spcPct val="100000"/>
                        </a:lnSpc>
                        <a:spcBef>
                          <a:spcPts val="345"/>
                        </a:spcBef>
                      </a:pPr>
                      <a:r>
                        <a:rPr dirty="0" sz="1200">
                          <a:latin typeface="Arial"/>
                          <a:cs typeface="Arial"/>
                        </a:rPr>
                        <a:t>main </a:t>
                      </a:r>
                      <a:r>
                        <a:rPr dirty="0" sz="1200" spc="-5">
                          <a:latin typeface="Arial"/>
                          <a:cs typeface="Arial"/>
                        </a:rPr>
                        <a:t>day of</a:t>
                      </a:r>
                      <a:r>
                        <a:rPr dirty="0" sz="1200" spc="-50">
                          <a:latin typeface="Arial"/>
                          <a:cs typeface="Arial"/>
                        </a:rPr>
                        <a:t> </a:t>
                      </a:r>
                      <a:r>
                        <a:rPr dirty="0" sz="1200" spc="-5">
                          <a:latin typeface="Arial"/>
                          <a:cs typeface="Arial"/>
                        </a:rPr>
                        <a:t>worship</a:t>
                      </a:r>
                      <a:endParaRPr sz="1200">
                        <a:latin typeface="Arial"/>
                        <a:cs typeface="Arial"/>
                      </a:endParaRPr>
                    </a:p>
                  </a:txBody>
                  <a:tcPr marL="0" marR="0" marB="0" marT="4381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45"/>
                        </a:spcBef>
                      </a:pPr>
                      <a:r>
                        <a:rPr dirty="0" sz="1200" spc="-5">
                          <a:latin typeface="Arial"/>
                          <a:cs typeface="Arial"/>
                        </a:rPr>
                        <a:t>Friday</a:t>
                      </a:r>
                      <a:endParaRPr sz="1200">
                        <a:latin typeface="Arial"/>
                        <a:cs typeface="Arial"/>
                      </a:endParaRPr>
                    </a:p>
                  </a:txBody>
                  <a:tcPr marL="0" marR="0" marB="0" marT="438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45"/>
                        </a:spcBef>
                      </a:pPr>
                      <a:r>
                        <a:rPr dirty="0" sz="1200" spc="-5">
                          <a:latin typeface="Arial"/>
                          <a:cs typeface="Arial"/>
                        </a:rPr>
                        <a:t>Saturday</a:t>
                      </a:r>
                      <a:endParaRPr sz="1200">
                        <a:latin typeface="Arial"/>
                        <a:cs typeface="Arial"/>
                      </a:endParaRPr>
                    </a:p>
                  </a:txBody>
                  <a:tcPr marL="0" marR="0" marB="0" marT="438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345"/>
                        </a:spcBef>
                      </a:pPr>
                      <a:r>
                        <a:rPr dirty="0" sz="1200" spc="-5">
                          <a:latin typeface="Arial"/>
                          <a:cs typeface="Arial"/>
                        </a:rPr>
                        <a:t>Sunday</a:t>
                      </a:r>
                      <a:endParaRPr sz="1200">
                        <a:latin typeface="Arial"/>
                        <a:cs typeface="Arial"/>
                      </a:endParaRPr>
                    </a:p>
                  </a:txBody>
                  <a:tcPr marL="0" marR="0" marB="0" marT="4381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289051">
                <a:tc>
                  <a:txBody>
                    <a:bodyPr/>
                    <a:lstStyle/>
                    <a:p>
                      <a:pPr marL="50165">
                        <a:lnSpc>
                          <a:spcPct val="100000"/>
                        </a:lnSpc>
                        <a:spcBef>
                          <a:spcPts val="350"/>
                        </a:spcBef>
                      </a:pPr>
                      <a:r>
                        <a:rPr dirty="0" sz="1200" spc="-5">
                          <a:latin typeface="Arial"/>
                          <a:cs typeface="Arial"/>
                        </a:rPr>
                        <a:t>church and</a:t>
                      </a:r>
                      <a:r>
                        <a:rPr dirty="0" sz="1200" spc="-10">
                          <a:latin typeface="Arial"/>
                          <a:cs typeface="Arial"/>
                        </a:rPr>
                        <a:t> </a:t>
                      </a:r>
                      <a:r>
                        <a:rPr dirty="0" sz="1200" spc="-5">
                          <a:latin typeface="Arial"/>
                          <a:cs typeface="Arial"/>
                        </a:rPr>
                        <a:t>state</a:t>
                      </a:r>
                      <a:endParaRPr sz="1200">
                        <a:latin typeface="Arial"/>
                        <a:cs typeface="Arial"/>
                      </a:endParaRPr>
                    </a:p>
                  </a:txBody>
                  <a:tcPr marL="0" marR="0" marB="0" marT="4445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50"/>
                        </a:spcBef>
                      </a:pPr>
                      <a:r>
                        <a:rPr dirty="0" sz="1200" spc="-5">
                          <a:latin typeface="Arial"/>
                          <a:cs typeface="Arial"/>
                        </a:rPr>
                        <a:t>integrated</a:t>
                      </a:r>
                      <a:endParaRPr sz="1200">
                        <a:latin typeface="Arial"/>
                        <a:cs typeface="Arial"/>
                      </a:endParaRPr>
                    </a:p>
                  </a:txBody>
                  <a:tcPr marL="0" marR="0" marB="0" marT="4445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50"/>
                        </a:spcBef>
                      </a:pPr>
                      <a:r>
                        <a:rPr dirty="0" sz="1200" spc="-5">
                          <a:latin typeface="Arial"/>
                          <a:cs typeface="Arial"/>
                        </a:rPr>
                        <a:t>separate</a:t>
                      </a:r>
                      <a:endParaRPr sz="1200">
                        <a:latin typeface="Arial"/>
                        <a:cs typeface="Arial"/>
                      </a:endParaRPr>
                    </a:p>
                  </a:txBody>
                  <a:tcPr marL="0" marR="0" marB="0" marT="4445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350"/>
                        </a:spcBef>
                      </a:pPr>
                      <a:r>
                        <a:rPr dirty="0" sz="1200" spc="-5">
                          <a:latin typeface="Arial"/>
                          <a:cs typeface="Arial"/>
                        </a:rPr>
                        <a:t>separate</a:t>
                      </a:r>
                      <a:endParaRPr sz="1200">
                        <a:latin typeface="Arial"/>
                        <a:cs typeface="Arial"/>
                      </a:endParaRPr>
                    </a:p>
                  </a:txBody>
                  <a:tcPr marL="0" marR="0" marB="0" marT="44450">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bl>
          </a:graphicData>
        </a:graphic>
      </p:graphicFrame>
      <p:sp>
        <p:nvSpPr>
          <p:cNvPr id="7" name="object 7"/>
          <p:cNvSpPr txBox="1"/>
          <p:nvPr/>
        </p:nvSpPr>
        <p:spPr>
          <a:xfrm>
            <a:off x="2686939" y="5998845"/>
            <a:ext cx="237299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Arial"/>
                <a:cs typeface="Arial"/>
              </a:rPr>
              <a:t>Comparison </a:t>
            </a:r>
            <a:r>
              <a:rPr dirty="0" sz="1200" b="1">
                <a:latin typeface="Arial"/>
                <a:cs typeface="Arial"/>
              </a:rPr>
              <a:t>of </a:t>
            </a:r>
            <a:r>
              <a:rPr dirty="0" sz="1200" spc="-5" b="1">
                <a:latin typeface="Arial"/>
                <a:cs typeface="Arial"/>
              </a:rPr>
              <a:t>Religious</a:t>
            </a:r>
            <a:r>
              <a:rPr dirty="0" sz="1200" spc="-20" b="1">
                <a:latin typeface="Arial"/>
                <a:cs typeface="Arial"/>
              </a:rPr>
              <a:t> </a:t>
            </a:r>
            <a:r>
              <a:rPr dirty="0" sz="1200" b="1">
                <a:latin typeface="Arial"/>
                <a:cs typeface="Arial"/>
              </a:rPr>
              <a:t>Beliefs</a:t>
            </a:r>
            <a:endParaRPr sz="1200">
              <a:latin typeface="Arial"/>
              <a:cs typeface="Arial"/>
            </a:endParaRPr>
          </a:p>
        </p:txBody>
      </p:sp>
      <p:graphicFrame>
        <p:nvGraphicFramePr>
          <p:cNvPr id="8" name="object 8"/>
          <p:cNvGraphicFramePr>
            <a:graphicFrameLocks noGrp="1"/>
          </p:cNvGraphicFramePr>
          <p:nvPr/>
        </p:nvGraphicFramePr>
        <p:xfrm>
          <a:off x="669036" y="6266814"/>
          <a:ext cx="6417310" cy="3490595"/>
        </p:xfrm>
        <a:graphic>
          <a:graphicData uri="http://schemas.openxmlformats.org/drawingml/2006/table">
            <a:tbl>
              <a:tblPr firstRow="1" bandRow="1">
                <a:tableStyleId>{2D5ABB26-0587-4C30-8999-92F81FD0307C}</a:tableStyleId>
              </a:tblPr>
              <a:tblGrid>
                <a:gridCol w="1468755"/>
                <a:gridCol w="1664970"/>
                <a:gridCol w="1409064"/>
                <a:gridCol w="1853564"/>
              </a:tblGrid>
              <a:tr h="282701">
                <a:tc>
                  <a:txBody>
                    <a:bodyPr/>
                    <a:lstStyle/>
                    <a:p>
                      <a:pPr>
                        <a:lnSpc>
                          <a:spcPct val="100000"/>
                        </a:lnSpc>
                      </a:pPr>
                      <a:endParaRPr sz="1200">
                        <a:latin typeface="Times New Roman"/>
                        <a:cs typeface="Times New Roman"/>
                      </a:endParaRPr>
                    </a:p>
                  </a:txBody>
                  <a:tcPr marL="0" marR="0" marB="0" marT="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solidFill>
                      <a:srgbClr val="CCCCCC"/>
                    </a:solidFill>
                  </a:tcPr>
                </a:tc>
                <a:tc>
                  <a:txBody>
                    <a:bodyPr/>
                    <a:lstStyle/>
                    <a:p>
                      <a:pPr marL="52069">
                        <a:lnSpc>
                          <a:spcPct val="100000"/>
                        </a:lnSpc>
                        <a:spcBef>
                          <a:spcPts val="355"/>
                        </a:spcBef>
                      </a:pPr>
                      <a:r>
                        <a:rPr dirty="0" sz="1200" b="1">
                          <a:latin typeface="Arial"/>
                          <a:cs typeface="Arial"/>
                        </a:rPr>
                        <a:t>Islam</a:t>
                      </a:r>
                      <a:endParaRPr sz="1200">
                        <a:latin typeface="Arial"/>
                        <a:cs typeface="Arial"/>
                      </a:endParaRPr>
                    </a:p>
                  </a:txBody>
                  <a:tcPr marL="0" marR="0" marB="0" marT="4508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solidFill>
                      <a:srgbClr val="CCCCCC"/>
                    </a:solidFill>
                  </a:tcPr>
                </a:tc>
                <a:tc>
                  <a:txBody>
                    <a:bodyPr/>
                    <a:lstStyle/>
                    <a:p>
                      <a:pPr marL="52069">
                        <a:lnSpc>
                          <a:spcPct val="100000"/>
                        </a:lnSpc>
                        <a:spcBef>
                          <a:spcPts val="355"/>
                        </a:spcBef>
                      </a:pPr>
                      <a:r>
                        <a:rPr dirty="0" sz="1200" spc="-5" b="1">
                          <a:latin typeface="Arial"/>
                          <a:cs typeface="Arial"/>
                        </a:rPr>
                        <a:t>Judaism</a:t>
                      </a:r>
                      <a:endParaRPr sz="1200">
                        <a:latin typeface="Arial"/>
                        <a:cs typeface="Arial"/>
                      </a:endParaRPr>
                    </a:p>
                  </a:txBody>
                  <a:tcPr marL="0" marR="0" marB="0" marT="4508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solidFill>
                      <a:srgbClr val="CCCCCC"/>
                    </a:solidFill>
                  </a:tcPr>
                </a:tc>
                <a:tc>
                  <a:txBody>
                    <a:bodyPr/>
                    <a:lstStyle/>
                    <a:p>
                      <a:pPr marL="50800">
                        <a:lnSpc>
                          <a:spcPct val="100000"/>
                        </a:lnSpc>
                        <a:spcBef>
                          <a:spcPts val="355"/>
                        </a:spcBef>
                      </a:pPr>
                      <a:r>
                        <a:rPr dirty="0" sz="1200" b="1">
                          <a:latin typeface="Arial"/>
                          <a:cs typeface="Arial"/>
                        </a:rPr>
                        <a:t>Christianity</a:t>
                      </a:r>
                      <a:endParaRPr sz="1200">
                        <a:latin typeface="Arial"/>
                        <a:cs typeface="Arial"/>
                      </a:endParaRPr>
                    </a:p>
                  </a:txBody>
                  <a:tcPr marL="0" marR="0" marB="0" marT="4508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solidFill>
                      <a:srgbClr val="CCCCCC"/>
                    </a:solidFill>
                  </a:tcPr>
                </a:tc>
              </a:tr>
              <a:tr h="295656">
                <a:tc>
                  <a:txBody>
                    <a:bodyPr/>
                    <a:lstStyle/>
                    <a:p>
                      <a:pPr marL="50165">
                        <a:lnSpc>
                          <a:spcPct val="100000"/>
                        </a:lnSpc>
                        <a:spcBef>
                          <a:spcPts val="405"/>
                        </a:spcBef>
                      </a:pPr>
                      <a:r>
                        <a:rPr dirty="0" sz="1200" spc="-5">
                          <a:latin typeface="Arial"/>
                          <a:cs typeface="Arial"/>
                        </a:rPr>
                        <a:t>type of</a:t>
                      </a:r>
                      <a:r>
                        <a:rPr dirty="0" sz="1200">
                          <a:latin typeface="Arial"/>
                          <a:cs typeface="Arial"/>
                        </a:rPr>
                        <a:t> </a:t>
                      </a:r>
                      <a:r>
                        <a:rPr dirty="0" sz="1200" spc="-5">
                          <a:latin typeface="Arial"/>
                          <a:cs typeface="Arial"/>
                        </a:rPr>
                        <a:t>theism</a:t>
                      </a:r>
                      <a:endParaRPr sz="1200">
                        <a:latin typeface="Arial"/>
                        <a:cs typeface="Arial"/>
                      </a:endParaRPr>
                    </a:p>
                  </a:txBody>
                  <a:tcPr marL="0" marR="0" marB="0" marT="5143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405"/>
                        </a:spcBef>
                      </a:pPr>
                      <a:r>
                        <a:rPr dirty="0" sz="1200" spc="-5">
                          <a:latin typeface="Arial"/>
                          <a:cs typeface="Arial"/>
                        </a:rPr>
                        <a:t>strict monotheism</a:t>
                      </a:r>
                      <a:endParaRPr sz="1200">
                        <a:latin typeface="Arial"/>
                        <a:cs typeface="Arial"/>
                      </a:endParaRPr>
                    </a:p>
                  </a:txBody>
                  <a:tcPr marL="0" marR="0" marB="0" marT="5143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405"/>
                        </a:spcBef>
                      </a:pPr>
                      <a:r>
                        <a:rPr dirty="0" sz="1200" spc="-5">
                          <a:latin typeface="Arial"/>
                          <a:cs typeface="Arial"/>
                        </a:rPr>
                        <a:t>strict</a:t>
                      </a:r>
                      <a:r>
                        <a:rPr dirty="0" sz="1200" spc="-10">
                          <a:latin typeface="Arial"/>
                          <a:cs typeface="Arial"/>
                        </a:rPr>
                        <a:t> </a:t>
                      </a:r>
                      <a:r>
                        <a:rPr dirty="0" sz="1200" spc="-5">
                          <a:latin typeface="Arial"/>
                          <a:cs typeface="Arial"/>
                        </a:rPr>
                        <a:t>monotheism</a:t>
                      </a:r>
                      <a:endParaRPr sz="1200">
                        <a:latin typeface="Arial"/>
                        <a:cs typeface="Arial"/>
                      </a:endParaRPr>
                    </a:p>
                  </a:txBody>
                  <a:tcPr marL="0" marR="0" marB="0" marT="5143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405"/>
                        </a:spcBef>
                      </a:pPr>
                      <a:r>
                        <a:rPr dirty="0" sz="1200" spc="-5">
                          <a:latin typeface="Arial"/>
                          <a:cs typeface="Arial"/>
                        </a:rPr>
                        <a:t>Trinitarian</a:t>
                      </a:r>
                      <a:r>
                        <a:rPr dirty="0" sz="1200" spc="-15">
                          <a:latin typeface="Arial"/>
                          <a:cs typeface="Arial"/>
                        </a:rPr>
                        <a:t> </a:t>
                      </a:r>
                      <a:r>
                        <a:rPr dirty="0" sz="1200" spc="-5">
                          <a:latin typeface="Arial"/>
                          <a:cs typeface="Arial"/>
                        </a:rPr>
                        <a:t>monotheism</a:t>
                      </a:r>
                      <a:endParaRPr sz="1200">
                        <a:latin typeface="Arial"/>
                        <a:cs typeface="Arial"/>
                      </a:endParaRPr>
                    </a:p>
                  </a:txBody>
                  <a:tcPr marL="0" marR="0" marB="0" marT="5143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289559">
                <a:tc>
                  <a:txBody>
                    <a:bodyPr/>
                    <a:lstStyle/>
                    <a:p>
                      <a:pPr marL="50165">
                        <a:lnSpc>
                          <a:spcPct val="100000"/>
                        </a:lnSpc>
                        <a:spcBef>
                          <a:spcPts val="359"/>
                        </a:spcBef>
                      </a:pPr>
                      <a:r>
                        <a:rPr dirty="0" sz="1200" spc="-5">
                          <a:latin typeface="Arial"/>
                          <a:cs typeface="Arial"/>
                        </a:rPr>
                        <a:t>ultimate reality</a:t>
                      </a:r>
                      <a:endParaRPr sz="1200">
                        <a:latin typeface="Arial"/>
                        <a:cs typeface="Arial"/>
                      </a:endParaRPr>
                    </a:p>
                  </a:txBody>
                  <a:tcPr marL="0" marR="0" marB="0" marT="45719">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59"/>
                        </a:spcBef>
                      </a:pPr>
                      <a:r>
                        <a:rPr dirty="0" sz="1200" spc="-5">
                          <a:latin typeface="Arial"/>
                          <a:cs typeface="Arial"/>
                        </a:rPr>
                        <a:t>one</a:t>
                      </a:r>
                      <a:r>
                        <a:rPr dirty="0" sz="1200" spc="-15">
                          <a:latin typeface="Arial"/>
                          <a:cs typeface="Arial"/>
                        </a:rPr>
                        <a:t> </a:t>
                      </a:r>
                      <a:r>
                        <a:rPr dirty="0" sz="1200">
                          <a:latin typeface="Arial"/>
                          <a:cs typeface="Arial"/>
                        </a:rPr>
                        <a:t>God</a:t>
                      </a:r>
                      <a:endParaRPr sz="1200">
                        <a:latin typeface="Arial"/>
                        <a:cs typeface="Arial"/>
                      </a:endParaRPr>
                    </a:p>
                  </a:txBody>
                  <a:tcPr marL="0" marR="0" marB="0" marT="45719">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59"/>
                        </a:spcBef>
                      </a:pPr>
                      <a:r>
                        <a:rPr dirty="0" sz="1200" spc="-5">
                          <a:latin typeface="Arial"/>
                          <a:cs typeface="Arial"/>
                        </a:rPr>
                        <a:t>one</a:t>
                      </a:r>
                      <a:r>
                        <a:rPr dirty="0" sz="1200" spc="-15">
                          <a:latin typeface="Arial"/>
                          <a:cs typeface="Arial"/>
                        </a:rPr>
                        <a:t> </a:t>
                      </a:r>
                      <a:r>
                        <a:rPr dirty="0" sz="1200">
                          <a:latin typeface="Arial"/>
                          <a:cs typeface="Arial"/>
                        </a:rPr>
                        <a:t>God</a:t>
                      </a:r>
                      <a:endParaRPr sz="1200">
                        <a:latin typeface="Arial"/>
                        <a:cs typeface="Arial"/>
                      </a:endParaRPr>
                    </a:p>
                  </a:txBody>
                  <a:tcPr marL="0" marR="0" marB="0" marT="45719">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359"/>
                        </a:spcBef>
                      </a:pPr>
                      <a:r>
                        <a:rPr dirty="0" sz="1200" spc="-5">
                          <a:latin typeface="Arial"/>
                          <a:cs typeface="Arial"/>
                        </a:rPr>
                        <a:t>one</a:t>
                      </a:r>
                      <a:r>
                        <a:rPr dirty="0" sz="1200" spc="-15">
                          <a:latin typeface="Arial"/>
                          <a:cs typeface="Arial"/>
                        </a:rPr>
                        <a:t> </a:t>
                      </a:r>
                      <a:r>
                        <a:rPr dirty="0" sz="1200">
                          <a:latin typeface="Arial"/>
                          <a:cs typeface="Arial"/>
                        </a:rPr>
                        <a:t>God</a:t>
                      </a:r>
                      <a:endParaRPr sz="1200">
                        <a:latin typeface="Arial"/>
                        <a:cs typeface="Arial"/>
                      </a:endParaRPr>
                    </a:p>
                  </a:txBody>
                  <a:tcPr marL="0" marR="0" marB="0" marT="45719">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289559">
                <a:tc>
                  <a:txBody>
                    <a:bodyPr/>
                    <a:lstStyle/>
                    <a:p>
                      <a:pPr marL="50165">
                        <a:lnSpc>
                          <a:spcPct val="100000"/>
                        </a:lnSpc>
                        <a:spcBef>
                          <a:spcPts val="359"/>
                        </a:spcBef>
                      </a:pPr>
                      <a:r>
                        <a:rPr dirty="0" sz="1200" spc="-5">
                          <a:latin typeface="Arial"/>
                          <a:cs typeface="Arial"/>
                        </a:rPr>
                        <a:t>names of</a:t>
                      </a:r>
                      <a:r>
                        <a:rPr dirty="0" sz="1200" spc="-10">
                          <a:latin typeface="Arial"/>
                          <a:cs typeface="Arial"/>
                        </a:rPr>
                        <a:t> </a:t>
                      </a:r>
                      <a:r>
                        <a:rPr dirty="0" sz="1200" spc="-5">
                          <a:latin typeface="Arial"/>
                          <a:cs typeface="Arial"/>
                        </a:rPr>
                        <a:t>God</a:t>
                      </a:r>
                      <a:endParaRPr sz="1200">
                        <a:latin typeface="Arial"/>
                        <a:cs typeface="Arial"/>
                      </a:endParaRPr>
                    </a:p>
                  </a:txBody>
                  <a:tcPr marL="0" marR="0" marB="0" marT="45719">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59"/>
                        </a:spcBef>
                      </a:pPr>
                      <a:r>
                        <a:rPr dirty="0" sz="1200" spc="-5">
                          <a:latin typeface="Arial"/>
                          <a:cs typeface="Arial"/>
                        </a:rPr>
                        <a:t>Allah (Arabic </a:t>
                      </a:r>
                      <a:r>
                        <a:rPr dirty="0" sz="1200">
                          <a:latin typeface="Arial"/>
                          <a:cs typeface="Arial"/>
                        </a:rPr>
                        <a:t>for</a:t>
                      </a:r>
                      <a:r>
                        <a:rPr dirty="0" sz="1200" spc="-20">
                          <a:latin typeface="Arial"/>
                          <a:cs typeface="Arial"/>
                        </a:rPr>
                        <a:t> </a:t>
                      </a:r>
                      <a:r>
                        <a:rPr dirty="0" sz="1200" spc="-5">
                          <a:latin typeface="Arial"/>
                          <a:cs typeface="Arial"/>
                        </a:rPr>
                        <a:t>God)</a:t>
                      </a:r>
                      <a:endParaRPr sz="1200">
                        <a:latin typeface="Arial"/>
                        <a:cs typeface="Arial"/>
                      </a:endParaRPr>
                    </a:p>
                  </a:txBody>
                  <a:tcPr marL="0" marR="0" marB="0" marT="45719">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59"/>
                        </a:spcBef>
                      </a:pPr>
                      <a:r>
                        <a:rPr dirty="0" sz="1200" spc="-5">
                          <a:latin typeface="Arial"/>
                          <a:cs typeface="Arial"/>
                        </a:rPr>
                        <a:t>Yahweh,</a:t>
                      </a:r>
                      <a:r>
                        <a:rPr dirty="0" sz="1200" spc="-15">
                          <a:latin typeface="Arial"/>
                          <a:cs typeface="Arial"/>
                        </a:rPr>
                        <a:t> </a:t>
                      </a:r>
                      <a:r>
                        <a:rPr dirty="0" sz="1200">
                          <a:latin typeface="Arial"/>
                          <a:cs typeface="Arial"/>
                        </a:rPr>
                        <a:t>Elohim</a:t>
                      </a:r>
                      <a:endParaRPr sz="1200">
                        <a:latin typeface="Arial"/>
                        <a:cs typeface="Arial"/>
                      </a:endParaRPr>
                    </a:p>
                  </a:txBody>
                  <a:tcPr marL="0" marR="0" marB="0" marT="45719">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359"/>
                        </a:spcBef>
                      </a:pPr>
                      <a:r>
                        <a:rPr dirty="0" sz="1200" spc="-5">
                          <a:latin typeface="Arial"/>
                          <a:cs typeface="Arial"/>
                        </a:rPr>
                        <a:t>Yahweh, </a:t>
                      </a:r>
                      <a:r>
                        <a:rPr dirty="0" sz="1200">
                          <a:latin typeface="Arial"/>
                          <a:cs typeface="Arial"/>
                        </a:rPr>
                        <a:t>the </a:t>
                      </a:r>
                      <a:r>
                        <a:rPr dirty="0" sz="1200" spc="-5">
                          <a:latin typeface="Arial"/>
                          <a:cs typeface="Arial"/>
                        </a:rPr>
                        <a:t>Holy</a:t>
                      </a:r>
                      <a:r>
                        <a:rPr dirty="0" sz="1200" spc="-35">
                          <a:latin typeface="Arial"/>
                          <a:cs typeface="Arial"/>
                        </a:rPr>
                        <a:t> </a:t>
                      </a:r>
                      <a:r>
                        <a:rPr dirty="0" sz="1200" spc="-5">
                          <a:latin typeface="Arial"/>
                          <a:cs typeface="Arial"/>
                        </a:rPr>
                        <a:t>Trinity</a:t>
                      </a:r>
                      <a:endParaRPr sz="1200">
                        <a:latin typeface="Arial"/>
                        <a:cs typeface="Arial"/>
                      </a:endParaRPr>
                    </a:p>
                  </a:txBody>
                  <a:tcPr marL="0" marR="0" marB="0" marT="45719">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465201">
                <a:tc>
                  <a:txBody>
                    <a:bodyPr/>
                    <a:lstStyle/>
                    <a:p>
                      <a:pPr marL="50165" marR="53340">
                        <a:lnSpc>
                          <a:spcPts val="1380"/>
                        </a:lnSpc>
                        <a:spcBef>
                          <a:spcPts val="459"/>
                        </a:spcBef>
                        <a:tabLst>
                          <a:tab pos="882650" algn="l"/>
                        </a:tabLst>
                      </a:pPr>
                      <a:r>
                        <a:rPr dirty="0" sz="1200">
                          <a:latin typeface="Arial"/>
                          <a:cs typeface="Arial"/>
                        </a:rPr>
                        <a:t>o</a:t>
                      </a:r>
                      <a:r>
                        <a:rPr dirty="0" sz="1200">
                          <a:latin typeface="Arial"/>
                          <a:cs typeface="Arial"/>
                        </a:rPr>
                        <a:t>t</a:t>
                      </a:r>
                      <a:r>
                        <a:rPr dirty="0" sz="1200" spc="5">
                          <a:latin typeface="Arial"/>
                          <a:cs typeface="Arial"/>
                        </a:rPr>
                        <a:t>h</a:t>
                      </a:r>
                      <a:r>
                        <a:rPr dirty="0" sz="1200">
                          <a:latin typeface="Arial"/>
                          <a:cs typeface="Arial"/>
                        </a:rPr>
                        <a:t>e</a:t>
                      </a:r>
                      <a:r>
                        <a:rPr dirty="0" sz="1200">
                          <a:latin typeface="Arial"/>
                          <a:cs typeface="Arial"/>
                        </a:rPr>
                        <a:t>r	</a:t>
                      </a:r>
                      <a:r>
                        <a:rPr dirty="0" sz="1200">
                          <a:latin typeface="Arial"/>
                          <a:cs typeface="Arial"/>
                        </a:rPr>
                        <a:t>sp</a:t>
                      </a:r>
                      <a:r>
                        <a:rPr dirty="0" sz="1200">
                          <a:latin typeface="Arial"/>
                          <a:cs typeface="Arial"/>
                        </a:rPr>
                        <a:t>i</a:t>
                      </a:r>
                      <a:r>
                        <a:rPr dirty="0" sz="1200" spc="-10">
                          <a:latin typeface="Arial"/>
                          <a:cs typeface="Arial"/>
                        </a:rPr>
                        <a:t>r</a:t>
                      </a:r>
                      <a:r>
                        <a:rPr dirty="0" sz="1200">
                          <a:latin typeface="Arial"/>
                          <a:cs typeface="Arial"/>
                        </a:rPr>
                        <a:t>it</a:t>
                      </a:r>
                      <a:r>
                        <a:rPr dirty="0" sz="1200" spc="-10">
                          <a:latin typeface="Arial"/>
                          <a:cs typeface="Arial"/>
                        </a:rPr>
                        <a:t>u</a:t>
                      </a:r>
                      <a:r>
                        <a:rPr dirty="0" sz="1200">
                          <a:latin typeface="Arial"/>
                          <a:cs typeface="Arial"/>
                        </a:rPr>
                        <a:t>a</a:t>
                      </a:r>
                      <a:r>
                        <a:rPr dirty="0" sz="1200">
                          <a:latin typeface="Arial"/>
                          <a:cs typeface="Arial"/>
                        </a:rPr>
                        <a:t>l  </a:t>
                      </a:r>
                      <a:r>
                        <a:rPr dirty="0" sz="1200" spc="-5">
                          <a:latin typeface="Arial"/>
                          <a:cs typeface="Arial"/>
                        </a:rPr>
                        <a:t>beings</a:t>
                      </a:r>
                      <a:endParaRPr sz="1200">
                        <a:latin typeface="Arial"/>
                        <a:cs typeface="Arial"/>
                      </a:endParaRPr>
                    </a:p>
                  </a:txBody>
                  <a:tcPr marL="0" marR="0" marB="0" marT="58419">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1045"/>
                        </a:spcBef>
                      </a:pPr>
                      <a:r>
                        <a:rPr dirty="0" sz="1200" spc="-5">
                          <a:latin typeface="Arial"/>
                          <a:cs typeface="Arial"/>
                        </a:rPr>
                        <a:t>angels, demons,</a:t>
                      </a:r>
                      <a:r>
                        <a:rPr dirty="0" sz="1200" spc="-10">
                          <a:latin typeface="Arial"/>
                          <a:cs typeface="Arial"/>
                        </a:rPr>
                        <a:t> </a:t>
                      </a:r>
                      <a:r>
                        <a:rPr dirty="0" sz="1200" spc="-5">
                          <a:latin typeface="Arial"/>
                          <a:cs typeface="Arial"/>
                        </a:rPr>
                        <a:t>jinn</a:t>
                      </a:r>
                      <a:endParaRPr sz="1200">
                        <a:latin typeface="Arial"/>
                        <a:cs typeface="Arial"/>
                      </a:endParaRPr>
                    </a:p>
                  </a:txBody>
                  <a:tcPr marL="0" marR="0" marB="0" marT="1327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marR="53975">
                        <a:lnSpc>
                          <a:spcPts val="1380"/>
                        </a:lnSpc>
                        <a:spcBef>
                          <a:spcPts val="459"/>
                        </a:spcBef>
                        <a:tabLst>
                          <a:tab pos="1090930" algn="l"/>
                        </a:tabLst>
                      </a:pPr>
                      <a:r>
                        <a:rPr dirty="0" sz="1200">
                          <a:latin typeface="Arial"/>
                          <a:cs typeface="Arial"/>
                        </a:rPr>
                        <a:t>an</a:t>
                      </a:r>
                      <a:r>
                        <a:rPr dirty="0" sz="1200" spc="-10">
                          <a:latin typeface="Arial"/>
                          <a:cs typeface="Arial"/>
                        </a:rPr>
                        <a:t>g</a:t>
                      </a:r>
                      <a:r>
                        <a:rPr dirty="0" sz="1200">
                          <a:latin typeface="Arial"/>
                          <a:cs typeface="Arial"/>
                        </a:rPr>
                        <a:t>els</a:t>
                      </a:r>
                      <a:r>
                        <a:rPr dirty="0" sz="1200">
                          <a:latin typeface="Arial"/>
                          <a:cs typeface="Arial"/>
                        </a:rPr>
                        <a:t>	</a:t>
                      </a:r>
                      <a:r>
                        <a:rPr dirty="0" sz="1200">
                          <a:latin typeface="Arial"/>
                          <a:cs typeface="Arial"/>
                        </a:rPr>
                        <a:t>and  </a:t>
                      </a:r>
                      <a:r>
                        <a:rPr dirty="0" sz="1200" spc="-5">
                          <a:latin typeface="Arial"/>
                          <a:cs typeface="Arial"/>
                        </a:rPr>
                        <a:t>demons</a:t>
                      </a:r>
                      <a:endParaRPr sz="1200">
                        <a:latin typeface="Arial"/>
                        <a:cs typeface="Arial"/>
                      </a:endParaRPr>
                    </a:p>
                  </a:txBody>
                  <a:tcPr marL="0" marR="0" marB="0" marT="58419">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1045"/>
                        </a:spcBef>
                      </a:pPr>
                      <a:r>
                        <a:rPr dirty="0" sz="1200" spc="-5">
                          <a:latin typeface="Arial"/>
                          <a:cs typeface="Arial"/>
                        </a:rPr>
                        <a:t>angels and demons</a:t>
                      </a:r>
                      <a:endParaRPr sz="1200">
                        <a:latin typeface="Arial"/>
                        <a:cs typeface="Arial"/>
                      </a:endParaRPr>
                    </a:p>
                  </a:txBody>
                  <a:tcPr marL="0" marR="0" marB="0" marT="13271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464819">
                <a:tc>
                  <a:txBody>
                    <a:bodyPr/>
                    <a:lstStyle/>
                    <a:p>
                      <a:pPr marL="50165">
                        <a:lnSpc>
                          <a:spcPct val="100000"/>
                        </a:lnSpc>
                        <a:spcBef>
                          <a:spcPts val="1040"/>
                        </a:spcBef>
                      </a:pPr>
                      <a:r>
                        <a:rPr dirty="0" sz="1200" spc="-5">
                          <a:latin typeface="Arial"/>
                          <a:cs typeface="Arial"/>
                        </a:rPr>
                        <a:t>revered </a:t>
                      </a:r>
                      <a:r>
                        <a:rPr dirty="0" sz="1200">
                          <a:latin typeface="Arial"/>
                          <a:cs typeface="Arial"/>
                        </a:rPr>
                        <a:t>humans</a:t>
                      </a:r>
                      <a:endParaRPr sz="1200">
                        <a:latin typeface="Arial"/>
                        <a:cs typeface="Arial"/>
                      </a:endParaRPr>
                    </a:p>
                  </a:txBody>
                  <a:tcPr marL="0" marR="0" marB="0" marT="13208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marR="53975">
                        <a:lnSpc>
                          <a:spcPts val="1380"/>
                        </a:lnSpc>
                        <a:spcBef>
                          <a:spcPts val="455"/>
                        </a:spcBef>
                        <a:tabLst>
                          <a:tab pos="1153160" algn="l"/>
                        </a:tabLst>
                      </a:pPr>
                      <a:r>
                        <a:rPr dirty="0" sz="1200">
                          <a:latin typeface="Arial"/>
                          <a:cs typeface="Arial"/>
                        </a:rPr>
                        <a:t>prop</a:t>
                      </a:r>
                      <a:r>
                        <a:rPr dirty="0" sz="1200" spc="-10">
                          <a:latin typeface="Arial"/>
                          <a:cs typeface="Arial"/>
                        </a:rPr>
                        <a:t>h</a:t>
                      </a:r>
                      <a:r>
                        <a:rPr dirty="0" sz="1200">
                          <a:latin typeface="Arial"/>
                          <a:cs typeface="Arial"/>
                        </a:rPr>
                        <a:t>e</a:t>
                      </a:r>
                      <a:r>
                        <a:rPr dirty="0" sz="1200">
                          <a:latin typeface="Arial"/>
                          <a:cs typeface="Arial"/>
                        </a:rPr>
                        <a:t>ts,</a:t>
                      </a:r>
                      <a:r>
                        <a:rPr dirty="0" sz="1200">
                          <a:latin typeface="Arial"/>
                          <a:cs typeface="Arial"/>
                        </a:rPr>
                        <a:t>	</a:t>
                      </a:r>
                      <a:r>
                        <a:rPr dirty="0" sz="1200">
                          <a:latin typeface="Arial"/>
                          <a:cs typeface="Arial"/>
                        </a:rPr>
                        <a:t>i</a:t>
                      </a:r>
                      <a:r>
                        <a:rPr dirty="0" sz="1200" spc="-10">
                          <a:latin typeface="Arial"/>
                          <a:cs typeface="Arial"/>
                        </a:rPr>
                        <a:t>m</a:t>
                      </a:r>
                      <a:r>
                        <a:rPr dirty="0" sz="1200">
                          <a:latin typeface="Arial"/>
                          <a:cs typeface="Arial"/>
                        </a:rPr>
                        <a:t>a</a:t>
                      </a:r>
                      <a:r>
                        <a:rPr dirty="0" sz="1200" spc="5">
                          <a:latin typeface="Arial"/>
                          <a:cs typeface="Arial"/>
                        </a:rPr>
                        <a:t>m</a:t>
                      </a:r>
                      <a:r>
                        <a:rPr dirty="0" sz="1200">
                          <a:latin typeface="Arial"/>
                          <a:cs typeface="Arial"/>
                        </a:rPr>
                        <a:t>s  </a:t>
                      </a:r>
                      <a:r>
                        <a:rPr dirty="0" sz="1200" spc="-5">
                          <a:latin typeface="Arial"/>
                          <a:cs typeface="Arial"/>
                        </a:rPr>
                        <a:t>(especially in</a:t>
                      </a:r>
                      <a:r>
                        <a:rPr dirty="0" sz="1200" spc="-15">
                          <a:latin typeface="Arial"/>
                          <a:cs typeface="Arial"/>
                        </a:rPr>
                        <a:t> </a:t>
                      </a:r>
                      <a:r>
                        <a:rPr dirty="0" sz="1200" spc="-5">
                          <a:latin typeface="Arial"/>
                          <a:cs typeface="Arial"/>
                        </a:rPr>
                        <a:t>Shia)</a:t>
                      </a:r>
                      <a:endParaRPr sz="1200">
                        <a:latin typeface="Arial"/>
                        <a:cs typeface="Arial"/>
                      </a:endParaRPr>
                    </a:p>
                  </a:txBody>
                  <a:tcPr marL="0" marR="0" marB="0" marT="5778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1040"/>
                        </a:spcBef>
                      </a:pPr>
                      <a:r>
                        <a:rPr dirty="0" sz="1200" spc="-5">
                          <a:latin typeface="Arial"/>
                          <a:cs typeface="Arial"/>
                        </a:rPr>
                        <a:t>prophets</a:t>
                      </a:r>
                      <a:endParaRPr sz="1200">
                        <a:latin typeface="Arial"/>
                        <a:cs typeface="Arial"/>
                      </a:endParaRPr>
                    </a:p>
                  </a:txBody>
                  <a:tcPr marL="0" marR="0" marB="0" marT="1320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1040"/>
                        </a:spcBef>
                      </a:pPr>
                      <a:r>
                        <a:rPr dirty="0" sz="1200">
                          <a:latin typeface="Arial"/>
                          <a:cs typeface="Arial"/>
                        </a:rPr>
                        <a:t>saints, </a:t>
                      </a:r>
                      <a:r>
                        <a:rPr dirty="0" sz="1200" spc="-5">
                          <a:latin typeface="Arial"/>
                          <a:cs typeface="Arial"/>
                        </a:rPr>
                        <a:t>church</a:t>
                      </a:r>
                      <a:r>
                        <a:rPr dirty="0" sz="1200" spc="-30">
                          <a:latin typeface="Arial"/>
                          <a:cs typeface="Arial"/>
                        </a:rPr>
                        <a:t> </a:t>
                      </a:r>
                      <a:r>
                        <a:rPr dirty="0" sz="1200">
                          <a:latin typeface="Arial"/>
                          <a:cs typeface="Arial"/>
                        </a:rPr>
                        <a:t>fathers</a:t>
                      </a:r>
                      <a:endParaRPr sz="1200">
                        <a:latin typeface="Arial"/>
                        <a:cs typeface="Arial"/>
                      </a:endParaRPr>
                    </a:p>
                  </a:txBody>
                  <a:tcPr marL="0" marR="0" marB="0" marT="132080">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640080">
                <a:tc>
                  <a:txBody>
                    <a:bodyPr/>
                    <a:lstStyle/>
                    <a:p>
                      <a:pPr>
                        <a:lnSpc>
                          <a:spcPct val="100000"/>
                        </a:lnSpc>
                        <a:spcBef>
                          <a:spcPts val="15"/>
                        </a:spcBef>
                      </a:pPr>
                      <a:endParaRPr sz="1500">
                        <a:latin typeface="Times New Roman"/>
                        <a:cs typeface="Times New Roman"/>
                      </a:endParaRPr>
                    </a:p>
                    <a:p>
                      <a:pPr marL="50165">
                        <a:lnSpc>
                          <a:spcPct val="100000"/>
                        </a:lnSpc>
                      </a:pPr>
                      <a:r>
                        <a:rPr dirty="0" sz="1200">
                          <a:latin typeface="Arial"/>
                          <a:cs typeface="Arial"/>
                        </a:rPr>
                        <a:t>identity </a:t>
                      </a:r>
                      <a:r>
                        <a:rPr dirty="0" sz="1200" spc="-5">
                          <a:latin typeface="Arial"/>
                          <a:cs typeface="Arial"/>
                        </a:rPr>
                        <a:t>of</a:t>
                      </a:r>
                      <a:r>
                        <a:rPr dirty="0" sz="1200" spc="-20">
                          <a:latin typeface="Arial"/>
                          <a:cs typeface="Arial"/>
                        </a:rPr>
                        <a:t> </a:t>
                      </a:r>
                      <a:r>
                        <a:rPr dirty="0" sz="1200" spc="-5">
                          <a:latin typeface="Arial"/>
                          <a:cs typeface="Arial"/>
                        </a:rPr>
                        <a:t>Jesus</a:t>
                      </a:r>
                      <a:endParaRPr sz="1200">
                        <a:latin typeface="Arial"/>
                        <a:cs typeface="Arial"/>
                      </a:endParaRPr>
                    </a:p>
                  </a:txBody>
                  <a:tcPr marL="0" marR="0" marB="0" marT="190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2069" marR="54610">
                        <a:lnSpc>
                          <a:spcPts val="1380"/>
                        </a:lnSpc>
                        <a:spcBef>
                          <a:spcPts val="455"/>
                        </a:spcBef>
                      </a:pPr>
                      <a:r>
                        <a:rPr dirty="0" sz="1200">
                          <a:latin typeface="Arial"/>
                          <a:cs typeface="Arial"/>
                        </a:rPr>
                        <a:t>true </a:t>
                      </a:r>
                      <a:r>
                        <a:rPr dirty="0" sz="1200" spc="-5">
                          <a:latin typeface="Arial"/>
                          <a:cs typeface="Arial"/>
                        </a:rPr>
                        <a:t>prophet of God,  whose message has  been corrupted</a:t>
                      </a:r>
                      <a:endParaRPr sz="1200">
                        <a:latin typeface="Arial"/>
                        <a:cs typeface="Arial"/>
                      </a:endParaRPr>
                    </a:p>
                  </a:txBody>
                  <a:tcPr marL="0" marR="0" marB="0" marT="5778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nSpc>
                          <a:spcPct val="100000"/>
                        </a:lnSpc>
                        <a:spcBef>
                          <a:spcPts val="15"/>
                        </a:spcBef>
                      </a:pPr>
                      <a:endParaRPr sz="1500">
                        <a:latin typeface="Times New Roman"/>
                        <a:cs typeface="Times New Roman"/>
                      </a:endParaRPr>
                    </a:p>
                    <a:p>
                      <a:pPr marL="52069">
                        <a:lnSpc>
                          <a:spcPct val="100000"/>
                        </a:lnSpc>
                      </a:pPr>
                      <a:r>
                        <a:rPr dirty="0" sz="1200">
                          <a:latin typeface="Arial"/>
                          <a:cs typeface="Arial"/>
                        </a:rPr>
                        <a:t>false</a:t>
                      </a:r>
                      <a:r>
                        <a:rPr dirty="0" sz="1200" spc="-10">
                          <a:latin typeface="Arial"/>
                          <a:cs typeface="Arial"/>
                        </a:rPr>
                        <a:t> </a:t>
                      </a:r>
                      <a:r>
                        <a:rPr dirty="0" sz="1200" spc="-5">
                          <a:latin typeface="Arial"/>
                          <a:cs typeface="Arial"/>
                        </a:rPr>
                        <a:t>prophet</a:t>
                      </a:r>
                      <a:endParaRPr sz="1200">
                        <a:latin typeface="Arial"/>
                        <a:cs typeface="Arial"/>
                      </a:endParaRPr>
                    </a:p>
                  </a:txBody>
                  <a:tcPr marL="0" marR="0" marB="0" marT="190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0800" marR="50800">
                        <a:lnSpc>
                          <a:spcPts val="1380"/>
                        </a:lnSpc>
                        <a:spcBef>
                          <a:spcPts val="455"/>
                        </a:spcBef>
                      </a:pPr>
                      <a:r>
                        <a:rPr dirty="0" sz="1200" spc="-5">
                          <a:latin typeface="Arial"/>
                          <a:cs typeface="Arial"/>
                        </a:rPr>
                        <a:t>Son of God, </a:t>
                      </a:r>
                      <a:r>
                        <a:rPr dirty="0" sz="1200">
                          <a:latin typeface="Arial"/>
                          <a:cs typeface="Arial"/>
                        </a:rPr>
                        <a:t>God  </a:t>
                      </a:r>
                      <a:r>
                        <a:rPr dirty="0" sz="1200" spc="-5">
                          <a:latin typeface="Arial"/>
                          <a:cs typeface="Arial"/>
                        </a:rPr>
                        <a:t>incarnate, saviour of </a:t>
                      </a:r>
                      <a:r>
                        <a:rPr dirty="0" sz="1200">
                          <a:latin typeface="Arial"/>
                          <a:cs typeface="Arial"/>
                        </a:rPr>
                        <a:t>the  </a:t>
                      </a:r>
                      <a:r>
                        <a:rPr dirty="0" sz="1200" spc="-10">
                          <a:latin typeface="Arial"/>
                          <a:cs typeface="Arial"/>
                        </a:rPr>
                        <a:t>world</a:t>
                      </a:r>
                      <a:endParaRPr sz="1200">
                        <a:latin typeface="Arial"/>
                        <a:cs typeface="Arial"/>
                      </a:endParaRPr>
                    </a:p>
                  </a:txBody>
                  <a:tcPr marL="0" marR="0" marB="0" marT="5778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289559">
                <a:tc>
                  <a:txBody>
                    <a:bodyPr/>
                    <a:lstStyle/>
                    <a:p>
                      <a:pPr marL="50165">
                        <a:lnSpc>
                          <a:spcPct val="100000"/>
                        </a:lnSpc>
                        <a:spcBef>
                          <a:spcPts val="359"/>
                        </a:spcBef>
                      </a:pPr>
                      <a:r>
                        <a:rPr dirty="0" sz="1200" spc="-5">
                          <a:latin typeface="Arial"/>
                          <a:cs typeface="Arial"/>
                        </a:rPr>
                        <a:t>birth of</a:t>
                      </a:r>
                      <a:r>
                        <a:rPr dirty="0" sz="1200" spc="10">
                          <a:latin typeface="Arial"/>
                          <a:cs typeface="Arial"/>
                        </a:rPr>
                        <a:t> </a:t>
                      </a:r>
                      <a:r>
                        <a:rPr dirty="0" sz="1200" spc="-5">
                          <a:latin typeface="Arial"/>
                          <a:cs typeface="Arial"/>
                        </a:rPr>
                        <a:t>Jesus</a:t>
                      </a:r>
                      <a:endParaRPr sz="1200">
                        <a:latin typeface="Arial"/>
                        <a:cs typeface="Arial"/>
                      </a:endParaRPr>
                    </a:p>
                  </a:txBody>
                  <a:tcPr marL="0" marR="0" marB="0" marT="45719">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59"/>
                        </a:spcBef>
                      </a:pPr>
                      <a:r>
                        <a:rPr dirty="0" sz="1200" spc="-5">
                          <a:latin typeface="Arial"/>
                          <a:cs typeface="Arial"/>
                        </a:rPr>
                        <a:t>virgin birth</a:t>
                      </a:r>
                      <a:endParaRPr sz="1200">
                        <a:latin typeface="Arial"/>
                        <a:cs typeface="Arial"/>
                      </a:endParaRPr>
                    </a:p>
                  </a:txBody>
                  <a:tcPr marL="0" marR="0" marB="0" marT="45719">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359"/>
                        </a:spcBef>
                      </a:pPr>
                      <a:r>
                        <a:rPr dirty="0" sz="1200" spc="-5">
                          <a:latin typeface="Arial"/>
                          <a:cs typeface="Arial"/>
                        </a:rPr>
                        <a:t>normal birth</a:t>
                      </a:r>
                      <a:endParaRPr sz="1200">
                        <a:latin typeface="Arial"/>
                        <a:cs typeface="Arial"/>
                      </a:endParaRPr>
                    </a:p>
                  </a:txBody>
                  <a:tcPr marL="0" marR="0" marB="0" marT="45719">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359"/>
                        </a:spcBef>
                      </a:pPr>
                      <a:r>
                        <a:rPr dirty="0" sz="1200" spc="-10">
                          <a:latin typeface="Arial"/>
                          <a:cs typeface="Arial"/>
                        </a:rPr>
                        <a:t>virgin</a:t>
                      </a:r>
                      <a:r>
                        <a:rPr dirty="0" sz="1200" spc="-5">
                          <a:latin typeface="Arial"/>
                          <a:cs typeface="Arial"/>
                        </a:rPr>
                        <a:t> birth</a:t>
                      </a:r>
                      <a:endParaRPr sz="1200">
                        <a:latin typeface="Arial"/>
                        <a:cs typeface="Arial"/>
                      </a:endParaRPr>
                    </a:p>
                  </a:txBody>
                  <a:tcPr marL="0" marR="0" marB="0" marT="45719">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464006">
                <a:tc>
                  <a:txBody>
                    <a:bodyPr/>
                    <a:lstStyle/>
                    <a:p>
                      <a:pPr marL="50165">
                        <a:lnSpc>
                          <a:spcPct val="100000"/>
                        </a:lnSpc>
                        <a:spcBef>
                          <a:spcPts val="1040"/>
                        </a:spcBef>
                      </a:pPr>
                      <a:r>
                        <a:rPr dirty="0" sz="1200" spc="-5">
                          <a:latin typeface="Arial"/>
                          <a:cs typeface="Arial"/>
                        </a:rPr>
                        <a:t>death of</a:t>
                      </a:r>
                      <a:r>
                        <a:rPr dirty="0" sz="1200" spc="-10">
                          <a:latin typeface="Arial"/>
                          <a:cs typeface="Arial"/>
                        </a:rPr>
                        <a:t> </a:t>
                      </a:r>
                      <a:r>
                        <a:rPr dirty="0" sz="1200" spc="-5">
                          <a:latin typeface="Arial"/>
                          <a:cs typeface="Arial"/>
                        </a:rPr>
                        <a:t>Jesus</a:t>
                      </a:r>
                      <a:endParaRPr sz="1200">
                        <a:latin typeface="Arial"/>
                        <a:cs typeface="Arial"/>
                      </a:endParaRPr>
                    </a:p>
                  </a:txBody>
                  <a:tcPr marL="0" marR="0" marB="0" marT="13208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marR="54610">
                        <a:lnSpc>
                          <a:spcPts val="1380"/>
                        </a:lnSpc>
                        <a:spcBef>
                          <a:spcPts val="455"/>
                        </a:spcBef>
                        <a:tabLst>
                          <a:tab pos="481965" algn="l"/>
                          <a:tab pos="918844" algn="l"/>
                          <a:tab pos="1389380" algn="l"/>
                        </a:tabLst>
                      </a:pPr>
                      <a:r>
                        <a:rPr dirty="0" sz="1200">
                          <a:latin typeface="Arial"/>
                          <a:cs typeface="Arial"/>
                        </a:rPr>
                        <a:t>d</a:t>
                      </a:r>
                      <a:r>
                        <a:rPr dirty="0" sz="1200">
                          <a:latin typeface="Arial"/>
                          <a:cs typeface="Arial"/>
                        </a:rPr>
                        <a:t>id</a:t>
                      </a:r>
                      <a:r>
                        <a:rPr dirty="0" sz="1200">
                          <a:latin typeface="Arial"/>
                          <a:cs typeface="Arial"/>
                        </a:rPr>
                        <a:t>	</a:t>
                      </a:r>
                      <a:r>
                        <a:rPr dirty="0" sz="1200">
                          <a:latin typeface="Arial"/>
                          <a:cs typeface="Arial"/>
                        </a:rPr>
                        <a:t>n</a:t>
                      </a:r>
                      <a:r>
                        <a:rPr dirty="0" sz="1200" spc="-10">
                          <a:latin typeface="Arial"/>
                          <a:cs typeface="Arial"/>
                        </a:rPr>
                        <a:t>o</a:t>
                      </a:r>
                      <a:r>
                        <a:rPr dirty="0" sz="1200">
                          <a:latin typeface="Arial"/>
                          <a:cs typeface="Arial"/>
                        </a:rPr>
                        <a:t>t</a:t>
                      </a:r>
                      <a:r>
                        <a:rPr dirty="0" sz="1200">
                          <a:latin typeface="Arial"/>
                          <a:cs typeface="Arial"/>
                        </a:rPr>
                        <a:t>	</a:t>
                      </a:r>
                      <a:r>
                        <a:rPr dirty="0" sz="1200">
                          <a:latin typeface="Arial"/>
                          <a:cs typeface="Arial"/>
                        </a:rPr>
                        <a:t>d</a:t>
                      </a:r>
                      <a:r>
                        <a:rPr dirty="0" sz="1200">
                          <a:latin typeface="Arial"/>
                          <a:cs typeface="Arial"/>
                        </a:rPr>
                        <a:t>ie,</a:t>
                      </a:r>
                      <a:r>
                        <a:rPr dirty="0" sz="1200">
                          <a:latin typeface="Arial"/>
                          <a:cs typeface="Arial"/>
                        </a:rPr>
                        <a:t>	</a:t>
                      </a:r>
                      <a:r>
                        <a:rPr dirty="0" sz="1200">
                          <a:latin typeface="Arial"/>
                          <a:cs typeface="Arial"/>
                        </a:rPr>
                        <a:t>bu</a:t>
                      </a:r>
                      <a:r>
                        <a:rPr dirty="0" sz="1200">
                          <a:latin typeface="Arial"/>
                          <a:cs typeface="Arial"/>
                        </a:rPr>
                        <a:t>t  </a:t>
                      </a:r>
                      <a:r>
                        <a:rPr dirty="0" sz="1200" spc="-5">
                          <a:latin typeface="Arial"/>
                          <a:cs typeface="Arial"/>
                        </a:rPr>
                        <a:t>ascended into</a:t>
                      </a:r>
                      <a:r>
                        <a:rPr dirty="0" sz="1200" spc="-35">
                          <a:latin typeface="Arial"/>
                          <a:cs typeface="Arial"/>
                        </a:rPr>
                        <a:t> </a:t>
                      </a:r>
                      <a:r>
                        <a:rPr dirty="0" sz="1200" spc="-5">
                          <a:latin typeface="Arial"/>
                          <a:cs typeface="Arial"/>
                        </a:rPr>
                        <a:t>heaven</a:t>
                      </a:r>
                      <a:endParaRPr sz="1200">
                        <a:latin typeface="Arial"/>
                        <a:cs typeface="Arial"/>
                      </a:endParaRPr>
                    </a:p>
                  </a:txBody>
                  <a:tcPr marL="0" marR="0" marB="0" marT="5778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ts val="1410"/>
                        </a:lnSpc>
                        <a:spcBef>
                          <a:spcPts val="359"/>
                        </a:spcBef>
                        <a:tabLst>
                          <a:tab pos="1185545" algn="l"/>
                        </a:tabLst>
                      </a:pPr>
                      <a:r>
                        <a:rPr dirty="0" sz="1200" spc="-5">
                          <a:latin typeface="Arial"/>
                          <a:cs typeface="Arial"/>
                        </a:rPr>
                        <a:t>death	by</a:t>
                      </a:r>
                      <a:endParaRPr sz="1200">
                        <a:latin typeface="Arial"/>
                        <a:cs typeface="Arial"/>
                      </a:endParaRPr>
                    </a:p>
                    <a:p>
                      <a:pPr marL="52069">
                        <a:lnSpc>
                          <a:spcPts val="1410"/>
                        </a:lnSpc>
                      </a:pPr>
                      <a:r>
                        <a:rPr dirty="0" sz="1200" spc="-5">
                          <a:latin typeface="Arial"/>
                          <a:cs typeface="Arial"/>
                        </a:rPr>
                        <a:t>crucifixion</a:t>
                      </a:r>
                      <a:endParaRPr sz="1200">
                        <a:latin typeface="Arial"/>
                        <a:cs typeface="Arial"/>
                      </a:endParaRPr>
                    </a:p>
                  </a:txBody>
                  <a:tcPr marL="0" marR="0" marB="0" marT="45719">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0800">
                        <a:lnSpc>
                          <a:spcPct val="100000"/>
                        </a:lnSpc>
                        <a:spcBef>
                          <a:spcPts val="1040"/>
                        </a:spcBef>
                      </a:pPr>
                      <a:r>
                        <a:rPr dirty="0" sz="1200" spc="-5">
                          <a:latin typeface="Arial"/>
                          <a:cs typeface="Arial"/>
                        </a:rPr>
                        <a:t>death </a:t>
                      </a:r>
                      <a:r>
                        <a:rPr dirty="0" sz="1200">
                          <a:latin typeface="Arial"/>
                          <a:cs typeface="Arial"/>
                        </a:rPr>
                        <a:t>by</a:t>
                      </a:r>
                      <a:r>
                        <a:rPr dirty="0" sz="1200" spc="-20">
                          <a:latin typeface="Arial"/>
                          <a:cs typeface="Arial"/>
                        </a:rPr>
                        <a:t> </a:t>
                      </a:r>
                      <a:r>
                        <a:rPr dirty="0" sz="1200" spc="-5">
                          <a:latin typeface="Arial"/>
                          <a:cs typeface="Arial"/>
                        </a:rPr>
                        <a:t>crucifixion</a:t>
                      </a:r>
                      <a:endParaRPr sz="1200">
                        <a:latin typeface="Arial"/>
                        <a:cs typeface="Arial"/>
                      </a:endParaRPr>
                    </a:p>
                  </a:txBody>
                  <a:tcPr marL="0" marR="0" marB="0" marT="132080">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bl>
          </a:graphicData>
        </a:graphic>
      </p:graphicFrame>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graphicFrame>
        <p:nvGraphicFramePr>
          <p:cNvPr id="5" name="object 5"/>
          <p:cNvGraphicFramePr>
            <a:graphicFrameLocks noGrp="1"/>
          </p:cNvGraphicFramePr>
          <p:nvPr/>
        </p:nvGraphicFramePr>
        <p:xfrm>
          <a:off x="484631" y="829817"/>
          <a:ext cx="6417310" cy="6760209"/>
        </p:xfrm>
        <a:graphic>
          <a:graphicData uri="http://schemas.openxmlformats.org/drawingml/2006/table">
            <a:tbl>
              <a:tblPr firstRow="1" bandRow="1">
                <a:tableStyleId>{2D5ABB26-0587-4C30-8999-92F81FD0307C}</a:tableStyleId>
              </a:tblPr>
              <a:tblGrid>
                <a:gridCol w="1468755"/>
                <a:gridCol w="1664970"/>
                <a:gridCol w="1409064"/>
                <a:gridCol w="1853564"/>
              </a:tblGrid>
              <a:tr h="464312">
                <a:tc>
                  <a:txBody>
                    <a:bodyPr/>
                    <a:lstStyle/>
                    <a:p>
                      <a:pPr marL="50165" marR="55244">
                        <a:lnSpc>
                          <a:spcPts val="1380"/>
                        </a:lnSpc>
                        <a:spcBef>
                          <a:spcPts val="450"/>
                        </a:spcBef>
                        <a:tabLst>
                          <a:tab pos="1278890" algn="l"/>
                        </a:tabLst>
                      </a:pPr>
                      <a:r>
                        <a:rPr dirty="0" sz="1200">
                          <a:latin typeface="Arial"/>
                          <a:cs typeface="Arial"/>
                        </a:rPr>
                        <a:t>resu</a:t>
                      </a:r>
                      <a:r>
                        <a:rPr dirty="0" sz="1200">
                          <a:latin typeface="Arial"/>
                          <a:cs typeface="Arial"/>
                        </a:rPr>
                        <a:t>r</a:t>
                      </a:r>
                      <a:r>
                        <a:rPr dirty="0" sz="1200" spc="-10">
                          <a:latin typeface="Arial"/>
                          <a:cs typeface="Arial"/>
                        </a:rPr>
                        <a:t>r</a:t>
                      </a:r>
                      <a:r>
                        <a:rPr dirty="0" sz="1200">
                          <a:latin typeface="Arial"/>
                          <a:cs typeface="Arial"/>
                        </a:rPr>
                        <a:t>e</a:t>
                      </a:r>
                      <a:r>
                        <a:rPr dirty="0" sz="1200">
                          <a:latin typeface="Arial"/>
                          <a:cs typeface="Arial"/>
                        </a:rPr>
                        <a:t>ctio</a:t>
                      </a:r>
                      <a:r>
                        <a:rPr dirty="0" sz="1200">
                          <a:latin typeface="Arial"/>
                          <a:cs typeface="Arial"/>
                        </a:rPr>
                        <a:t>n</a:t>
                      </a:r>
                      <a:r>
                        <a:rPr dirty="0" sz="1200">
                          <a:latin typeface="Arial"/>
                          <a:cs typeface="Arial"/>
                        </a:rPr>
                        <a:t>	</a:t>
                      </a:r>
                      <a:r>
                        <a:rPr dirty="0" sz="1200" spc="-10">
                          <a:latin typeface="Arial"/>
                          <a:cs typeface="Arial"/>
                        </a:rPr>
                        <a:t>o</a:t>
                      </a:r>
                      <a:r>
                        <a:rPr dirty="0" sz="1200">
                          <a:latin typeface="Arial"/>
                          <a:cs typeface="Arial"/>
                        </a:rPr>
                        <a:t>f  </a:t>
                      </a:r>
                      <a:r>
                        <a:rPr dirty="0" sz="1200" spc="-5">
                          <a:latin typeface="Arial"/>
                          <a:cs typeface="Arial"/>
                        </a:rPr>
                        <a:t>Jesus</a:t>
                      </a:r>
                      <a:endParaRPr sz="1200">
                        <a:latin typeface="Arial"/>
                        <a:cs typeface="Arial"/>
                      </a:endParaRPr>
                    </a:p>
                  </a:txBody>
                  <a:tcPr marL="0" marR="0" marB="0" marT="5715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3975">
                        <a:lnSpc>
                          <a:spcPct val="100000"/>
                        </a:lnSpc>
                        <a:spcBef>
                          <a:spcPts val="1040"/>
                        </a:spcBef>
                      </a:pPr>
                      <a:r>
                        <a:rPr dirty="0" sz="1200" spc="-5">
                          <a:latin typeface="Arial"/>
                          <a:cs typeface="Arial"/>
                        </a:rPr>
                        <a:t>Denied</a:t>
                      </a:r>
                      <a:endParaRPr sz="1200">
                        <a:latin typeface="Arial"/>
                        <a:cs typeface="Arial"/>
                      </a:endParaRPr>
                    </a:p>
                  </a:txBody>
                  <a:tcPr marL="0" marR="0" marB="0" marT="1320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1040"/>
                        </a:spcBef>
                      </a:pPr>
                      <a:r>
                        <a:rPr dirty="0" sz="1200" spc="-5">
                          <a:latin typeface="Arial"/>
                          <a:cs typeface="Arial"/>
                        </a:rPr>
                        <a:t>denied</a:t>
                      </a:r>
                      <a:endParaRPr sz="1200">
                        <a:latin typeface="Arial"/>
                        <a:cs typeface="Arial"/>
                      </a:endParaRPr>
                    </a:p>
                  </a:txBody>
                  <a:tcPr marL="0" marR="0" marB="0" marT="1320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1040"/>
                        </a:spcBef>
                      </a:pPr>
                      <a:r>
                        <a:rPr dirty="0" sz="1200" spc="-5">
                          <a:latin typeface="Arial"/>
                          <a:cs typeface="Arial"/>
                        </a:rPr>
                        <a:t>affirmed</a:t>
                      </a:r>
                      <a:endParaRPr sz="1200">
                        <a:latin typeface="Arial"/>
                        <a:cs typeface="Arial"/>
                      </a:endParaRPr>
                    </a:p>
                  </a:txBody>
                  <a:tcPr marL="0" marR="0" marB="0" marT="132080">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464819">
                <a:tc>
                  <a:txBody>
                    <a:bodyPr/>
                    <a:lstStyle/>
                    <a:p>
                      <a:pPr marL="50165" marR="56515">
                        <a:lnSpc>
                          <a:spcPts val="1380"/>
                        </a:lnSpc>
                        <a:spcBef>
                          <a:spcPts val="455"/>
                        </a:spcBef>
                      </a:pPr>
                      <a:r>
                        <a:rPr dirty="0" sz="1200" spc="-5">
                          <a:latin typeface="Arial"/>
                          <a:cs typeface="Arial"/>
                        </a:rPr>
                        <a:t>second coming of  Jesus</a:t>
                      </a:r>
                      <a:endParaRPr sz="1200">
                        <a:latin typeface="Arial"/>
                        <a:cs typeface="Arial"/>
                      </a:endParaRPr>
                    </a:p>
                  </a:txBody>
                  <a:tcPr marL="0" marR="0" marB="0" marT="5778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3975">
                        <a:lnSpc>
                          <a:spcPct val="100000"/>
                        </a:lnSpc>
                        <a:spcBef>
                          <a:spcPts val="1045"/>
                        </a:spcBef>
                      </a:pPr>
                      <a:r>
                        <a:rPr dirty="0" sz="1200" spc="-5">
                          <a:latin typeface="Arial"/>
                          <a:cs typeface="Arial"/>
                        </a:rPr>
                        <a:t>Affirmed</a:t>
                      </a:r>
                      <a:endParaRPr sz="1200">
                        <a:latin typeface="Arial"/>
                        <a:cs typeface="Arial"/>
                      </a:endParaRPr>
                    </a:p>
                  </a:txBody>
                  <a:tcPr marL="0" marR="0" marB="0" marT="1327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1045"/>
                        </a:spcBef>
                      </a:pPr>
                      <a:r>
                        <a:rPr dirty="0" sz="1200" spc="-5">
                          <a:latin typeface="Arial"/>
                          <a:cs typeface="Arial"/>
                        </a:rPr>
                        <a:t>denied</a:t>
                      </a:r>
                      <a:endParaRPr sz="1200">
                        <a:latin typeface="Arial"/>
                        <a:cs typeface="Arial"/>
                      </a:endParaRPr>
                    </a:p>
                  </a:txBody>
                  <a:tcPr marL="0" marR="0" marB="0" marT="1327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ct val="100000"/>
                        </a:lnSpc>
                        <a:spcBef>
                          <a:spcPts val="1045"/>
                        </a:spcBef>
                      </a:pPr>
                      <a:r>
                        <a:rPr dirty="0" sz="1200" spc="-5">
                          <a:latin typeface="Arial"/>
                          <a:cs typeface="Arial"/>
                        </a:rPr>
                        <a:t>affirmed</a:t>
                      </a:r>
                      <a:endParaRPr sz="1200">
                        <a:latin typeface="Arial"/>
                        <a:cs typeface="Arial"/>
                      </a:endParaRPr>
                    </a:p>
                  </a:txBody>
                  <a:tcPr marL="0" marR="0" marB="0" marT="13271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640079">
                <a:tc>
                  <a:txBody>
                    <a:bodyPr/>
                    <a:lstStyle/>
                    <a:p>
                      <a:pPr>
                        <a:lnSpc>
                          <a:spcPct val="100000"/>
                        </a:lnSpc>
                        <a:spcBef>
                          <a:spcPts val="15"/>
                        </a:spcBef>
                      </a:pPr>
                      <a:endParaRPr sz="1500">
                        <a:latin typeface="Times New Roman"/>
                        <a:cs typeface="Times New Roman"/>
                      </a:endParaRPr>
                    </a:p>
                    <a:p>
                      <a:pPr marL="50165">
                        <a:lnSpc>
                          <a:spcPct val="100000"/>
                        </a:lnSpc>
                      </a:pPr>
                      <a:r>
                        <a:rPr dirty="0" sz="1200" spc="-5">
                          <a:latin typeface="Arial"/>
                          <a:cs typeface="Arial"/>
                        </a:rPr>
                        <a:t>divine revelation</a:t>
                      </a:r>
                      <a:endParaRPr sz="1200">
                        <a:latin typeface="Arial"/>
                        <a:cs typeface="Arial"/>
                      </a:endParaRPr>
                    </a:p>
                  </a:txBody>
                  <a:tcPr marL="0" marR="0" marB="0" marT="190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3975" marR="52705">
                        <a:lnSpc>
                          <a:spcPts val="1380"/>
                        </a:lnSpc>
                        <a:spcBef>
                          <a:spcPts val="1140"/>
                        </a:spcBef>
                        <a:tabLst>
                          <a:tab pos="756920" algn="l"/>
                        </a:tabLst>
                      </a:pPr>
                      <a:r>
                        <a:rPr dirty="0" sz="1200">
                          <a:latin typeface="Arial"/>
                          <a:cs typeface="Arial"/>
                        </a:rPr>
                        <a:t>t</a:t>
                      </a:r>
                      <a:r>
                        <a:rPr dirty="0" sz="1200" spc="5">
                          <a:latin typeface="Arial"/>
                          <a:cs typeface="Arial"/>
                        </a:rPr>
                        <a:t>h</a:t>
                      </a:r>
                      <a:r>
                        <a:rPr dirty="0" sz="1200">
                          <a:latin typeface="Arial"/>
                          <a:cs typeface="Arial"/>
                        </a:rPr>
                        <a:t>rou</a:t>
                      </a:r>
                      <a:r>
                        <a:rPr dirty="0" sz="1200" spc="-10">
                          <a:latin typeface="Arial"/>
                          <a:cs typeface="Arial"/>
                        </a:rPr>
                        <a:t>g</a:t>
                      </a:r>
                      <a:r>
                        <a:rPr dirty="0" sz="1200">
                          <a:latin typeface="Arial"/>
                          <a:cs typeface="Arial"/>
                        </a:rPr>
                        <a:t>h</a:t>
                      </a:r>
                      <a:r>
                        <a:rPr dirty="0" sz="1200">
                          <a:latin typeface="Arial"/>
                          <a:cs typeface="Arial"/>
                        </a:rPr>
                        <a:t>	</a:t>
                      </a:r>
                      <a:r>
                        <a:rPr dirty="0" sz="1200" spc="-5">
                          <a:latin typeface="Arial"/>
                          <a:cs typeface="Arial"/>
                        </a:rPr>
                        <a:t>M</a:t>
                      </a:r>
                      <a:r>
                        <a:rPr dirty="0" sz="1200" spc="-10">
                          <a:latin typeface="Arial"/>
                          <a:cs typeface="Arial"/>
                        </a:rPr>
                        <a:t>u</a:t>
                      </a:r>
                      <a:r>
                        <a:rPr dirty="0" sz="1200">
                          <a:latin typeface="Arial"/>
                          <a:cs typeface="Arial"/>
                        </a:rPr>
                        <a:t>h</a:t>
                      </a:r>
                      <a:r>
                        <a:rPr dirty="0" sz="1200" spc="-10">
                          <a:latin typeface="Arial"/>
                          <a:cs typeface="Arial"/>
                        </a:rPr>
                        <a:t>a</a:t>
                      </a:r>
                      <a:r>
                        <a:rPr dirty="0" sz="1200" spc="5">
                          <a:latin typeface="Arial"/>
                          <a:cs typeface="Arial"/>
                        </a:rPr>
                        <a:t>m</a:t>
                      </a:r>
                      <a:r>
                        <a:rPr dirty="0" sz="1200" spc="-5">
                          <a:latin typeface="Arial"/>
                          <a:cs typeface="Arial"/>
                        </a:rPr>
                        <a:t>m</a:t>
                      </a:r>
                      <a:r>
                        <a:rPr dirty="0" sz="1200">
                          <a:latin typeface="Arial"/>
                          <a:cs typeface="Arial"/>
                        </a:rPr>
                        <a:t>ad</a:t>
                      </a:r>
                      <a:r>
                        <a:rPr dirty="0" sz="1200">
                          <a:latin typeface="Arial"/>
                          <a:cs typeface="Arial"/>
                        </a:rPr>
                        <a:t>,  </a:t>
                      </a:r>
                      <a:r>
                        <a:rPr dirty="0" sz="1200" spc="-5">
                          <a:latin typeface="Arial"/>
                          <a:cs typeface="Arial"/>
                        </a:rPr>
                        <a:t>recorded in</a:t>
                      </a:r>
                      <a:r>
                        <a:rPr dirty="0" sz="1200" spc="-15">
                          <a:latin typeface="Arial"/>
                          <a:cs typeface="Arial"/>
                        </a:rPr>
                        <a:t> </a:t>
                      </a:r>
                      <a:r>
                        <a:rPr dirty="0" sz="1200" spc="-5">
                          <a:latin typeface="Arial"/>
                          <a:cs typeface="Arial"/>
                        </a:rPr>
                        <a:t>Qur'an</a:t>
                      </a:r>
                      <a:endParaRPr sz="1200">
                        <a:latin typeface="Arial"/>
                        <a:cs typeface="Arial"/>
                      </a:endParaRPr>
                    </a:p>
                  </a:txBody>
                  <a:tcPr marL="0" marR="0" marB="0" marT="1447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2069" marR="53340">
                        <a:lnSpc>
                          <a:spcPts val="1380"/>
                        </a:lnSpc>
                        <a:spcBef>
                          <a:spcPts val="455"/>
                        </a:spcBef>
                        <a:tabLst>
                          <a:tab pos="1228090" algn="l"/>
                        </a:tabLst>
                      </a:pPr>
                      <a:r>
                        <a:rPr dirty="0" sz="1200" spc="-5">
                          <a:latin typeface="Arial"/>
                          <a:cs typeface="Arial"/>
                        </a:rPr>
                        <a:t>through Prophets,  </a:t>
                      </a:r>
                      <a:r>
                        <a:rPr dirty="0" sz="1200">
                          <a:latin typeface="Arial"/>
                          <a:cs typeface="Arial"/>
                        </a:rPr>
                        <a:t>recorde</a:t>
                      </a:r>
                      <a:r>
                        <a:rPr dirty="0" sz="1200">
                          <a:latin typeface="Arial"/>
                          <a:cs typeface="Arial"/>
                        </a:rPr>
                        <a:t>d</a:t>
                      </a:r>
                      <a:r>
                        <a:rPr dirty="0" sz="1200">
                          <a:latin typeface="Arial"/>
                          <a:cs typeface="Arial"/>
                        </a:rPr>
                        <a:t>	</a:t>
                      </a:r>
                      <a:r>
                        <a:rPr dirty="0" sz="1200">
                          <a:latin typeface="Arial"/>
                          <a:cs typeface="Arial"/>
                        </a:rPr>
                        <a:t>in  </a:t>
                      </a:r>
                      <a:r>
                        <a:rPr dirty="0" sz="1200" spc="-5">
                          <a:latin typeface="Arial"/>
                          <a:cs typeface="Arial"/>
                        </a:rPr>
                        <a:t>Tawraat</a:t>
                      </a:r>
                      <a:endParaRPr sz="1200">
                        <a:latin typeface="Arial"/>
                        <a:cs typeface="Arial"/>
                      </a:endParaRPr>
                    </a:p>
                  </a:txBody>
                  <a:tcPr marL="0" marR="0" marB="0" marT="5778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2069" marR="50165">
                        <a:lnSpc>
                          <a:spcPts val="1380"/>
                        </a:lnSpc>
                        <a:spcBef>
                          <a:spcPts val="455"/>
                        </a:spcBef>
                      </a:pPr>
                      <a:r>
                        <a:rPr dirty="0" sz="1200" spc="-5">
                          <a:latin typeface="Arial"/>
                          <a:cs typeface="Arial"/>
                        </a:rPr>
                        <a:t>through Prophets and  Jesus (as God Himself),  recorded in</a:t>
                      </a:r>
                      <a:r>
                        <a:rPr dirty="0" sz="1200" spc="-15">
                          <a:latin typeface="Arial"/>
                          <a:cs typeface="Arial"/>
                        </a:rPr>
                        <a:t> </a:t>
                      </a:r>
                      <a:r>
                        <a:rPr dirty="0" sz="1200" spc="-5">
                          <a:latin typeface="Arial"/>
                          <a:cs typeface="Arial"/>
                        </a:rPr>
                        <a:t>Bible</a:t>
                      </a:r>
                      <a:endParaRPr sz="1200">
                        <a:latin typeface="Arial"/>
                        <a:cs typeface="Arial"/>
                      </a:endParaRPr>
                    </a:p>
                  </a:txBody>
                  <a:tcPr marL="0" marR="0" marB="0" marT="5778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640080">
                <a:tc>
                  <a:txBody>
                    <a:bodyPr/>
                    <a:lstStyle/>
                    <a:p>
                      <a:pPr>
                        <a:lnSpc>
                          <a:spcPct val="100000"/>
                        </a:lnSpc>
                        <a:spcBef>
                          <a:spcPts val="15"/>
                        </a:spcBef>
                      </a:pPr>
                      <a:endParaRPr sz="1500">
                        <a:latin typeface="Times New Roman"/>
                        <a:cs typeface="Times New Roman"/>
                      </a:endParaRPr>
                    </a:p>
                    <a:p>
                      <a:pPr marL="50165">
                        <a:lnSpc>
                          <a:spcPct val="100000"/>
                        </a:lnSpc>
                      </a:pPr>
                      <a:r>
                        <a:rPr dirty="0" sz="1200" spc="-5">
                          <a:latin typeface="Arial"/>
                          <a:cs typeface="Arial"/>
                        </a:rPr>
                        <a:t>view </a:t>
                      </a:r>
                      <a:r>
                        <a:rPr dirty="0" sz="1200">
                          <a:latin typeface="Arial"/>
                          <a:cs typeface="Arial"/>
                        </a:rPr>
                        <a:t>of </a:t>
                      </a:r>
                      <a:r>
                        <a:rPr dirty="0" sz="1200" spc="-5">
                          <a:latin typeface="Arial"/>
                          <a:cs typeface="Arial"/>
                        </a:rPr>
                        <a:t>sacred</a:t>
                      </a:r>
                      <a:r>
                        <a:rPr dirty="0" sz="1200" spc="-25">
                          <a:latin typeface="Arial"/>
                          <a:cs typeface="Arial"/>
                        </a:rPr>
                        <a:t> </a:t>
                      </a:r>
                      <a:r>
                        <a:rPr dirty="0" sz="1200" spc="-10">
                          <a:latin typeface="Arial"/>
                          <a:cs typeface="Arial"/>
                        </a:rPr>
                        <a:t>text</a:t>
                      </a:r>
                      <a:endParaRPr sz="1200">
                        <a:latin typeface="Arial"/>
                        <a:cs typeface="Arial"/>
                      </a:endParaRPr>
                    </a:p>
                  </a:txBody>
                  <a:tcPr marL="0" marR="0" marB="0" marT="190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3975" marR="52069">
                        <a:lnSpc>
                          <a:spcPct val="95400"/>
                        </a:lnSpc>
                        <a:spcBef>
                          <a:spcPts val="425"/>
                        </a:spcBef>
                      </a:pPr>
                      <a:r>
                        <a:rPr dirty="0" sz="1200" spc="-5">
                          <a:latin typeface="Arial"/>
                          <a:cs typeface="Arial"/>
                        </a:rPr>
                        <a:t>inspired, literal word </a:t>
                      </a:r>
                      <a:r>
                        <a:rPr dirty="0" sz="1200">
                          <a:latin typeface="Arial"/>
                          <a:cs typeface="Arial"/>
                        </a:rPr>
                        <a:t>of  God, </a:t>
                      </a:r>
                      <a:r>
                        <a:rPr dirty="0" sz="1200" spc="-5">
                          <a:latin typeface="Arial"/>
                          <a:cs typeface="Arial"/>
                        </a:rPr>
                        <a:t>inerrant in  original</a:t>
                      </a:r>
                      <a:r>
                        <a:rPr dirty="0" sz="1200" spc="-10">
                          <a:latin typeface="Arial"/>
                          <a:cs typeface="Arial"/>
                        </a:rPr>
                        <a:t> </a:t>
                      </a:r>
                      <a:r>
                        <a:rPr dirty="0" sz="1200" spc="-5">
                          <a:latin typeface="Arial"/>
                          <a:cs typeface="Arial"/>
                        </a:rPr>
                        <a:t>languages</a:t>
                      </a:r>
                      <a:endParaRPr sz="1200">
                        <a:latin typeface="Arial"/>
                        <a:cs typeface="Arial"/>
                      </a:endParaRPr>
                    </a:p>
                  </a:txBody>
                  <a:tcPr marL="0" marR="0" marB="0" marT="5397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nSpc>
                          <a:spcPct val="100000"/>
                        </a:lnSpc>
                        <a:spcBef>
                          <a:spcPts val="15"/>
                        </a:spcBef>
                      </a:pPr>
                      <a:endParaRPr sz="1500">
                        <a:latin typeface="Times New Roman"/>
                        <a:cs typeface="Times New Roman"/>
                      </a:endParaRPr>
                    </a:p>
                    <a:p>
                      <a:pPr marL="52069">
                        <a:lnSpc>
                          <a:spcPct val="100000"/>
                        </a:lnSpc>
                      </a:pPr>
                      <a:r>
                        <a:rPr dirty="0" sz="1200" spc="-5">
                          <a:latin typeface="Arial"/>
                          <a:cs typeface="Arial"/>
                        </a:rPr>
                        <a:t>views</a:t>
                      </a:r>
                      <a:r>
                        <a:rPr dirty="0" sz="1200">
                          <a:latin typeface="Arial"/>
                          <a:cs typeface="Arial"/>
                        </a:rPr>
                        <a:t> </a:t>
                      </a:r>
                      <a:r>
                        <a:rPr dirty="0" sz="1200" spc="-5">
                          <a:latin typeface="Arial"/>
                          <a:cs typeface="Arial"/>
                        </a:rPr>
                        <a:t>vary</a:t>
                      </a:r>
                      <a:endParaRPr sz="1200">
                        <a:latin typeface="Arial"/>
                        <a:cs typeface="Arial"/>
                      </a:endParaRPr>
                    </a:p>
                  </a:txBody>
                  <a:tcPr marL="0" marR="0" marB="0" marT="190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2069" marR="51435">
                        <a:lnSpc>
                          <a:spcPct val="95400"/>
                        </a:lnSpc>
                        <a:spcBef>
                          <a:spcPts val="425"/>
                        </a:spcBef>
                      </a:pPr>
                      <a:r>
                        <a:rPr dirty="0" sz="1200" spc="-5">
                          <a:latin typeface="Arial"/>
                          <a:cs typeface="Arial"/>
                        </a:rPr>
                        <a:t>inspired, </a:t>
                      </a:r>
                      <a:r>
                        <a:rPr dirty="0" sz="1200" spc="-10">
                          <a:latin typeface="Arial"/>
                          <a:cs typeface="Arial"/>
                        </a:rPr>
                        <a:t>some believe  </a:t>
                      </a:r>
                      <a:r>
                        <a:rPr dirty="0" sz="1200" spc="-5">
                          <a:latin typeface="Arial"/>
                          <a:cs typeface="Arial"/>
                        </a:rPr>
                        <a:t>inerrant in original  languages</a:t>
                      </a:r>
                      <a:endParaRPr sz="1200">
                        <a:latin typeface="Arial"/>
                        <a:cs typeface="Arial"/>
                      </a:endParaRPr>
                    </a:p>
                  </a:txBody>
                  <a:tcPr marL="0" marR="0" marB="0" marT="5397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640460">
                <a:tc>
                  <a:txBody>
                    <a:bodyPr/>
                    <a:lstStyle/>
                    <a:p>
                      <a:pPr>
                        <a:lnSpc>
                          <a:spcPct val="100000"/>
                        </a:lnSpc>
                        <a:spcBef>
                          <a:spcPts val="5"/>
                        </a:spcBef>
                      </a:pPr>
                      <a:endParaRPr sz="1500">
                        <a:latin typeface="Times New Roman"/>
                        <a:cs typeface="Times New Roman"/>
                      </a:endParaRPr>
                    </a:p>
                    <a:p>
                      <a:pPr marL="50165">
                        <a:lnSpc>
                          <a:spcPct val="100000"/>
                        </a:lnSpc>
                      </a:pPr>
                      <a:r>
                        <a:rPr dirty="0" sz="1200" spc="-5">
                          <a:latin typeface="Arial"/>
                          <a:cs typeface="Arial"/>
                        </a:rPr>
                        <a:t>human nature</a:t>
                      </a:r>
                      <a:endParaRPr sz="1200">
                        <a:latin typeface="Arial"/>
                        <a:cs typeface="Arial"/>
                      </a:endParaRPr>
                    </a:p>
                  </a:txBody>
                  <a:tcPr marL="0" marR="0" marB="0" marT="635">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3975" marR="54610">
                        <a:lnSpc>
                          <a:spcPts val="1380"/>
                        </a:lnSpc>
                        <a:spcBef>
                          <a:spcPts val="1140"/>
                        </a:spcBef>
                        <a:tabLst>
                          <a:tab pos="589280" algn="l"/>
                          <a:tab pos="1141095" algn="l"/>
                          <a:tab pos="1431290" algn="l"/>
                        </a:tabLst>
                      </a:pPr>
                      <a:r>
                        <a:rPr dirty="0" sz="1200">
                          <a:latin typeface="Arial"/>
                          <a:cs typeface="Arial"/>
                        </a:rPr>
                        <a:t>e</a:t>
                      </a:r>
                      <a:r>
                        <a:rPr dirty="0" sz="1200" spc="-10">
                          <a:latin typeface="Arial"/>
                          <a:cs typeface="Arial"/>
                        </a:rPr>
                        <a:t>q</a:t>
                      </a:r>
                      <a:r>
                        <a:rPr dirty="0" sz="1200">
                          <a:latin typeface="Arial"/>
                          <a:cs typeface="Arial"/>
                        </a:rPr>
                        <a:t>ua</a:t>
                      </a:r>
                      <a:r>
                        <a:rPr dirty="0" sz="1200">
                          <a:latin typeface="Arial"/>
                          <a:cs typeface="Arial"/>
                        </a:rPr>
                        <a:t>l</a:t>
                      </a:r>
                      <a:r>
                        <a:rPr dirty="0" sz="1200">
                          <a:latin typeface="Arial"/>
                          <a:cs typeface="Arial"/>
                        </a:rPr>
                        <a:t>	</a:t>
                      </a:r>
                      <a:r>
                        <a:rPr dirty="0" sz="1200">
                          <a:latin typeface="Arial"/>
                          <a:cs typeface="Arial"/>
                        </a:rPr>
                        <a:t>ab</a:t>
                      </a:r>
                      <a:r>
                        <a:rPr dirty="0" sz="1200">
                          <a:latin typeface="Arial"/>
                          <a:cs typeface="Arial"/>
                        </a:rPr>
                        <a:t>i</a:t>
                      </a:r>
                      <a:r>
                        <a:rPr dirty="0" sz="1200" spc="-5">
                          <a:latin typeface="Arial"/>
                          <a:cs typeface="Arial"/>
                        </a:rPr>
                        <a:t>l</a:t>
                      </a:r>
                      <a:r>
                        <a:rPr dirty="0" sz="1200">
                          <a:latin typeface="Arial"/>
                          <a:cs typeface="Arial"/>
                        </a:rPr>
                        <a:t>ity	to	</a:t>
                      </a:r>
                      <a:r>
                        <a:rPr dirty="0" sz="1200">
                          <a:latin typeface="Arial"/>
                          <a:cs typeface="Arial"/>
                        </a:rPr>
                        <a:t>do  </a:t>
                      </a:r>
                      <a:r>
                        <a:rPr dirty="0" sz="1200" spc="-5">
                          <a:latin typeface="Arial"/>
                          <a:cs typeface="Arial"/>
                        </a:rPr>
                        <a:t>good </a:t>
                      </a:r>
                      <a:r>
                        <a:rPr dirty="0" sz="1200">
                          <a:latin typeface="Arial"/>
                          <a:cs typeface="Arial"/>
                        </a:rPr>
                        <a:t>or</a:t>
                      </a:r>
                      <a:r>
                        <a:rPr dirty="0" sz="1200" spc="-5">
                          <a:latin typeface="Arial"/>
                          <a:cs typeface="Arial"/>
                        </a:rPr>
                        <a:t> evil</a:t>
                      </a:r>
                      <a:endParaRPr sz="1200">
                        <a:latin typeface="Arial"/>
                        <a:cs typeface="Arial"/>
                      </a:endParaRPr>
                    </a:p>
                  </a:txBody>
                  <a:tcPr marL="0" marR="0" marB="0" marT="1447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ts val="1410"/>
                        </a:lnSpc>
                        <a:spcBef>
                          <a:spcPts val="345"/>
                        </a:spcBef>
                        <a:tabLst>
                          <a:tab pos="970915" algn="l"/>
                        </a:tabLst>
                      </a:pPr>
                      <a:r>
                        <a:rPr dirty="0" sz="1200" spc="-10">
                          <a:latin typeface="Arial"/>
                          <a:cs typeface="Arial"/>
                        </a:rPr>
                        <a:t>two	</a:t>
                      </a:r>
                      <a:r>
                        <a:rPr dirty="0" sz="1200" spc="-5">
                          <a:latin typeface="Arial"/>
                          <a:cs typeface="Arial"/>
                        </a:rPr>
                        <a:t>equal</a:t>
                      </a:r>
                      <a:endParaRPr sz="1200">
                        <a:latin typeface="Arial"/>
                        <a:cs typeface="Arial"/>
                      </a:endParaRPr>
                    </a:p>
                    <a:p>
                      <a:pPr marL="52069" marR="53975">
                        <a:lnSpc>
                          <a:spcPts val="1380"/>
                        </a:lnSpc>
                        <a:spcBef>
                          <a:spcPts val="70"/>
                        </a:spcBef>
                        <a:tabLst>
                          <a:tab pos="1092200" algn="l"/>
                        </a:tabLst>
                      </a:pPr>
                      <a:r>
                        <a:rPr dirty="0" sz="1200">
                          <a:latin typeface="Arial"/>
                          <a:cs typeface="Arial"/>
                        </a:rPr>
                        <a:t>im</a:t>
                      </a:r>
                      <a:r>
                        <a:rPr dirty="0" sz="1200">
                          <a:latin typeface="Arial"/>
                          <a:cs typeface="Arial"/>
                        </a:rPr>
                        <a:t>pulse</a:t>
                      </a:r>
                      <a:r>
                        <a:rPr dirty="0" sz="1200" spc="-10">
                          <a:latin typeface="Arial"/>
                          <a:cs typeface="Arial"/>
                        </a:rPr>
                        <a:t>s</a:t>
                      </a:r>
                      <a:r>
                        <a:rPr dirty="0" sz="1200">
                          <a:latin typeface="Arial"/>
                          <a:cs typeface="Arial"/>
                        </a:rPr>
                        <a:t>,</a:t>
                      </a:r>
                      <a:r>
                        <a:rPr dirty="0" sz="1200">
                          <a:latin typeface="Arial"/>
                          <a:cs typeface="Arial"/>
                        </a:rPr>
                        <a:t>	</a:t>
                      </a:r>
                      <a:r>
                        <a:rPr dirty="0" sz="1200" spc="-10">
                          <a:latin typeface="Arial"/>
                          <a:cs typeface="Arial"/>
                        </a:rPr>
                        <a:t>o</a:t>
                      </a:r>
                      <a:r>
                        <a:rPr dirty="0" sz="1200">
                          <a:latin typeface="Arial"/>
                          <a:cs typeface="Arial"/>
                        </a:rPr>
                        <a:t>ne  </a:t>
                      </a:r>
                      <a:r>
                        <a:rPr dirty="0" sz="1200" spc="-5">
                          <a:latin typeface="Arial"/>
                          <a:cs typeface="Arial"/>
                        </a:rPr>
                        <a:t>good and one</a:t>
                      </a:r>
                      <a:r>
                        <a:rPr dirty="0" sz="1200" spc="-45">
                          <a:latin typeface="Arial"/>
                          <a:cs typeface="Arial"/>
                        </a:rPr>
                        <a:t> </a:t>
                      </a:r>
                      <a:r>
                        <a:rPr dirty="0" sz="1200" spc="-5">
                          <a:latin typeface="Arial"/>
                          <a:cs typeface="Arial"/>
                        </a:rPr>
                        <a:t>bad</a:t>
                      </a:r>
                      <a:endParaRPr sz="1200">
                        <a:latin typeface="Arial"/>
                        <a:cs typeface="Arial"/>
                      </a:endParaRPr>
                    </a:p>
                  </a:txBody>
                  <a:tcPr marL="0" marR="0" marB="0" marT="438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2069" marR="50165">
                        <a:lnSpc>
                          <a:spcPct val="95900"/>
                        </a:lnSpc>
                        <a:spcBef>
                          <a:spcPts val="405"/>
                        </a:spcBef>
                      </a:pPr>
                      <a:r>
                        <a:rPr dirty="0" sz="1200" spc="-5">
                          <a:latin typeface="Arial"/>
                          <a:cs typeface="Arial"/>
                        </a:rPr>
                        <a:t>"original sin" inherited  from Adam </a:t>
                      </a:r>
                      <a:r>
                        <a:rPr dirty="0" sz="1200">
                          <a:latin typeface="Arial"/>
                          <a:cs typeface="Arial"/>
                        </a:rPr>
                        <a:t>- </a:t>
                      </a:r>
                      <a:r>
                        <a:rPr dirty="0" sz="1200" spc="-5">
                          <a:latin typeface="Arial"/>
                          <a:cs typeface="Arial"/>
                        </a:rPr>
                        <a:t>tendency  towards evil</a:t>
                      </a:r>
                      <a:endParaRPr sz="1200">
                        <a:latin typeface="Arial"/>
                        <a:cs typeface="Arial"/>
                      </a:endParaRPr>
                    </a:p>
                  </a:txBody>
                  <a:tcPr marL="0" marR="0" marB="0" marT="5143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815340">
                <a:tc>
                  <a:txBody>
                    <a:bodyPr/>
                    <a:lstStyle/>
                    <a:p>
                      <a:pPr>
                        <a:lnSpc>
                          <a:spcPct val="100000"/>
                        </a:lnSpc>
                      </a:pPr>
                      <a:endParaRPr sz="1300">
                        <a:latin typeface="Times New Roman"/>
                        <a:cs typeface="Times New Roman"/>
                      </a:endParaRPr>
                    </a:p>
                    <a:p>
                      <a:pPr marL="50165">
                        <a:lnSpc>
                          <a:spcPct val="100000"/>
                        </a:lnSpc>
                        <a:spcBef>
                          <a:spcPts val="930"/>
                        </a:spcBef>
                      </a:pPr>
                      <a:r>
                        <a:rPr dirty="0" sz="1200" spc="-5">
                          <a:latin typeface="Arial"/>
                          <a:cs typeface="Arial"/>
                        </a:rPr>
                        <a:t>means of</a:t>
                      </a:r>
                      <a:r>
                        <a:rPr dirty="0" sz="1200" spc="-15">
                          <a:latin typeface="Arial"/>
                          <a:cs typeface="Arial"/>
                        </a:rPr>
                        <a:t> </a:t>
                      </a:r>
                      <a:r>
                        <a:rPr dirty="0" sz="1200" spc="-5">
                          <a:latin typeface="Arial"/>
                          <a:cs typeface="Arial"/>
                        </a:rPr>
                        <a:t>salvation</a:t>
                      </a:r>
                      <a:endParaRPr sz="1200">
                        <a:latin typeface="Arial"/>
                        <a:cs typeface="Arial"/>
                      </a:endParaRPr>
                    </a:p>
                  </a:txBody>
                  <a:tcPr marL="0" marR="0" marB="0" marT="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nSpc>
                          <a:spcPct val="100000"/>
                        </a:lnSpc>
                        <a:spcBef>
                          <a:spcPts val="40"/>
                        </a:spcBef>
                      </a:pPr>
                      <a:endParaRPr sz="1550">
                        <a:latin typeface="Times New Roman"/>
                        <a:cs typeface="Times New Roman"/>
                      </a:endParaRPr>
                    </a:p>
                    <a:p>
                      <a:pPr marL="53975" marR="53340">
                        <a:lnSpc>
                          <a:spcPts val="1380"/>
                        </a:lnSpc>
                        <a:tabLst>
                          <a:tab pos="688975" algn="l"/>
                          <a:tab pos="1264285" algn="l"/>
                        </a:tabLst>
                      </a:pPr>
                      <a:r>
                        <a:rPr dirty="0" sz="1200">
                          <a:latin typeface="Arial"/>
                          <a:cs typeface="Arial"/>
                        </a:rPr>
                        <a:t>co</a:t>
                      </a:r>
                      <a:r>
                        <a:rPr dirty="0" sz="1200">
                          <a:latin typeface="Arial"/>
                          <a:cs typeface="Arial"/>
                        </a:rPr>
                        <a:t>r</a:t>
                      </a:r>
                      <a:r>
                        <a:rPr dirty="0" sz="1200" spc="-10">
                          <a:latin typeface="Arial"/>
                          <a:cs typeface="Arial"/>
                        </a:rPr>
                        <a:t>r</a:t>
                      </a:r>
                      <a:r>
                        <a:rPr dirty="0" sz="1200">
                          <a:latin typeface="Arial"/>
                          <a:cs typeface="Arial"/>
                        </a:rPr>
                        <a:t>e</a:t>
                      </a:r>
                      <a:r>
                        <a:rPr dirty="0" sz="1200">
                          <a:latin typeface="Arial"/>
                          <a:cs typeface="Arial"/>
                        </a:rPr>
                        <a:t>ct</a:t>
                      </a:r>
                      <a:r>
                        <a:rPr dirty="0" sz="1200">
                          <a:latin typeface="Arial"/>
                          <a:cs typeface="Arial"/>
                        </a:rPr>
                        <a:t>	</a:t>
                      </a:r>
                      <a:r>
                        <a:rPr dirty="0" sz="1200">
                          <a:latin typeface="Arial"/>
                          <a:cs typeface="Arial"/>
                        </a:rPr>
                        <a:t>be</a:t>
                      </a:r>
                      <a:r>
                        <a:rPr dirty="0" sz="1200">
                          <a:latin typeface="Arial"/>
                          <a:cs typeface="Arial"/>
                        </a:rPr>
                        <a:t>l</a:t>
                      </a:r>
                      <a:r>
                        <a:rPr dirty="0" sz="1200" spc="-5">
                          <a:latin typeface="Arial"/>
                          <a:cs typeface="Arial"/>
                        </a:rPr>
                        <a:t>i</a:t>
                      </a:r>
                      <a:r>
                        <a:rPr dirty="0" sz="1200" spc="-10">
                          <a:latin typeface="Arial"/>
                          <a:cs typeface="Arial"/>
                        </a:rPr>
                        <a:t>e</a:t>
                      </a:r>
                      <a:r>
                        <a:rPr dirty="0" sz="1200">
                          <a:latin typeface="Arial"/>
                          <a:cs typeface="Arial"/>
                        </a:rPr>
                        <a:t>f,</a:t>
                      </a:r>
                      <a:r>
                        <a:rPr dirty="0" sz="1200">
                          <a:latin typeface="Arial"/>
                          <a:cs typeface="Arial"/>
                        </a:rPr>
                        <a:t>	</a:t>
                      </a:r>
                      <a:r>
                        <a:rPr dirty="0" sz="1200" spc="-10">
                          <a:latin typeface="Arial"/>
                          <a:cs typeface="Arial"/>
                        </a:rPr>
                        <a:t>g</a:t>
                      </a:r>
                      <a:r>
                        <a:rPr dirty="0" sz="1200">
                          <a:latin typeface="Arial"/>
                          <a:cs typeface="Arial"/>
                        </a:rPr>
                        <a:t>ood  </a:t>
                      </a:r>
                      <a:r>
                        <a:rPr dirty="0" sz="1200" spc="-5">
                          <a:latin typeface="Arial"/>
                          <a:cs typeface="Arial"/>
                        </a:rPr>
                        <a:t>deeds, Five</a:t>
                      </a:r>
                      <a:r>
                        <a:rPr dirty="0" sz="1200" spc="-10">
                          <a:latin typeface="Arial"/>
                          <a:cs typeface="Arial"/>
                        </a:rPr>
                        <a:t> </a:t>
                      </a:r>
                      <a:r>
                        <a:rPr dirty="0" sz="1200" spc="-5">
                          <a:latin typeface="Arial"/>
                          <a:cs typeface="Arial"/>
                        </a:rPr>
                        <a:t>Pillars</a:t>
                      </a:r>
                      <a:endParaRPr sz="1200">
                        <a:latin typeface="Arial"/>
                        <a:cs typeface="Arial"/>
                      </a:endParaRPr>
                    </a:p>
                  </a:txBody>
                  <a:tcPr marL="0" marR="0" marB="0" marT="50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nSpc>
                          <a:spcPct val="100000"/>
                        </a:lnSpc>
                        <a:spcBef>
                          <a:spcPts val="40"/>
                        </a:spcBef>
                      </a:pPr>
                      <a:endParaRPr sz="1550">
                        <a:latin typeface="Times New Roman"/>
                        <a:cs typeface="Times New Roman"/>
                      </a:endParaRPr>
                    </a:p>
                    <a:p>
                      <a:pPr marL="52069" marR="54610">
                        <a:lnSpc>
                          <a:spcPts val="1380"/>
                        </a:lnSpc>
                      </a:pPr>
                      <a:r>
                        <a:rPr dirty="0" sz="1200" spc="-5">
                          <a:latin typeface="Arial"/>
                          <a:cs typeface="Arial"/>
                        </a:rPr>
                        <a:t>belief in God, good  deeds</a:t>
                      </a:r>
                      <a:endParaRPr sz="1200">
                        <a:latin typeface="Arial"/>
                        <a:cs typeface="Arial"/>
                      </a:endParaRPr>
                    </a:p>
                  </a:txBody>
                  <a:tcPr marL="0" marR="0" marB="0" marT="50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marR="51435">
                        <a:lnSpc>
                          <a:spcPts val="1380"/>
                        </a:lnSpc>
                        <a:spcBef>
                          <a:spcPts val="445"/>
                        </a:spcBef>
                        <a:tabLst>
                          <a:tab pos="1005840" algn="l"/>
                        </a:tabLst>
                      </a:pPr>
                      <a:r>
                        <a:rPr dirty="0" sz="1200" spc="-5">
                          <a:latin typeface="Arial"/>
                          <a:cs typeface="Arial"/>
                        </a:rPr>
                        <a:t>correct belief, </a:t>
                      </a:r>
                      <a:r>
                        <a:rPr dirty="0" sz="1200">
                          <a:latin typeface="Arial"/>
                          <a:cs typeface="Arial"/>
                        </a:rPr>
                        <a:t>faith, </a:t>
                      </a:r>
                      <a:r>
                        <a:rPr dirty="0" sz="1200" spc="-5">
                          <a:latin typeface="Arial"/>
                          <a:cs typeface="Arial"/>
                        </a:rPr>
                        <a:t>good  </a:t>
                      </a:r>
                      <a:r>
                        <a:rPr dirty="0" sz="1200">
                          <a:latin typeface="Arial"/>
                          <a:cs typeface="Arial"/>
                        </a:rPr>
                        <a:t>de</a:t>
                      </a:r>
                      <a:r>
                        <a:rPr dirty="0" sz="1200" spc="-10">
                          <a:latin typeface="Arial"/>
                          <a:cs typeface="Arial"/>
                        </a:rPr>
                        <a:t>e</a:t>
                      </a:r>
                      <a:r>
                        <a:rPr dirty="0" sz="1200">
                          <a:latin typeface="Arial"/>
                          <a:cs typeface="Arial"/>
                        </a:rPr>
                        <a:t>d</a:t>
                      </a:r>
                      <a:r>
                        <a:rPr dirty="0" sz="1200">
                          <a:latin typeface="Arial"/>
                          <a:cs typeface="Arial"/>
                        </a:rPr>
                        <a:t>s,</a:t>
                      </a:r>
                      <a:r>
                        <a:rPr dirty="0" sz="1200">
                          <a:latin typeface="Arial"/>
                          <a:cs typeface="Arial"/>
                        </a:rPr>
                        <a:t>	</a:t>
                      </a:r>
                      <a:r>
                        <a:rPr dirty="0" sz="1200">
                          <a:latin typeface="Arial"/>
                          <a:cs typeface="Arial"/>
                        </a:rPr>
                        <a:t>sa</a:t>
                      </a:r>
                      <a:r>
                        <a:rPr dirty="0" sz="1200">
                          <a:latin typeface="Arial"/>
                          <a:cs typeface="Arial"/>
                        </a:rPr>
                        <a:t>c</a:t>
                      </a:r>
                      <a:r>
                        <a:rPr dirty="0" sz="1200" spc="-5">
                          <a:latin typeface="Arial"/>
                          <a:cs typeface="Arial"/>
                        </a:rPr>
                        <a:t>r</a:t>
                      </a:r>
                      <a:r>
                        <a:rPr dirty="0" sz="1200">
                          <a:latin typeface="Arial"/>
                          <a:cs typeface="Arial"/>
                        </a:rPr>
                        <a:t>a</a:t>
                      </a:r>
                      <a:r>
                        <a:rPr dirty="0" sz="1200" spc="-5">
                          <a:latin typeface="Arial"/>
                          <a:cs typeface="Arial"/>
                        </a:rPr>
                        <a:t>m</a:t>
                      </a:r>
                      <a:r>
                        <a:rPr dirty="0" sz="1200" spc="-10">
                          <a:latin typeface="Arial"/>
                          <a:cs typeface="Arial"/>
                        </a:rPr>
                        <a:t>e</a:t>
                      </a:r>
                      <a:r>
                        <a:rPr dirty="0" sz="1200">
                          <a:latin typeface="Arial"/>
                          <a:cs typeface="Arial"/>
                        </a:rPr>
                        <a:t>n</a:t>
                      </a:r>
                      <a:r>
                        <a:rPr dirty="0" sz="1200">
                          <a:latin typeface="Arial"/>
                          <a:cs typeface="Arial"/>
                        </a:rPr>
                        <a:t>ts</a:t>
                      </a:r>
                      <a:endParaRPr sz="1200">
                        <a:latin typeface="Arial"/>
                        <a:cs typeface="Arial"/>
                      </a:endParaRPr>
                    </a:p>
                    <a:p>
                      <a:pPr marL="52069" marR="51435">
                        <a:lnSpc>
                          <a:spcPts val="1380"/>
                        </a:lnSpc>
                        <a:tabLst>
                          <a:tab pos="1022350" algn="l"/>
                        </a:tabLst>
                      </a:pPr>
                      <a:r>
                        <a:rPr dirty="0" sz="1200">
                          <a:latin typeface="Arial"/>
                          <a:cs typeface="Arial"/>
                        </a:rPr>
                        <a:t>(so</a:t>
                      </a:r>
                      <a:r>
                        <a:rPr dirty="0" sz="1200" spc="5">
                          <a:latin typeface="Arial"/>
                          <a:cs typeface="Arial"/>
                        </a:rPr>
                        <a:t>m</a:t>
                      </a:r>
                      <a:r>
                        <a:rPr dirty="0" sz="1200">
                          <a:latin typeface="Arial"/>
                          <a:cs typeface="Arial"/>
                        </a:rPr>
                        <a:t>e</a:t>
                      </a:r>
                      <a:r>
                        <a:rPr dirty="0" sz="1200">
                          <a:latin typeface="Arial"/>
                          <a:cs typeface="Arial"/>
                        </a:rPr>
                        <a:t>	Prot</a:t>
                      </a:r>
                      <a:r>
                        <a:rPr dirty="0" sz="1200" spc="5">
                          <a:latin typeface="Arial"/>
                          <a:cs typeface="Arial"/>
                        </a:rPr>
                        <a:t>e</a:t>
                      </a:r>
                      <a:r>
                        <a:rPr dirty="0" sz="1200">
                          <a:latin typeface="Arial"/>
                          <a:cs typeface="Arial"/>
                        </a:rPr>
                        <a:t>s</a:t>
                      </a:r>
                      <a:r>
                        <a:rPr dirty="0" sz="1200" spc="-10">
                          <a:latin typeface="Arial"/>
                          <a:cs typeface="Arial"/>
                        </a:rPr>
                        <a:t>t</a:t>
                      </a:r>
                      <a:r>
                        <a:rPr dirty="0" sz="1200" spc="-10">
                          <a:latin typeface="Arial"/>
                          <a:cs typeface="Arial"/>
                        </a:rPr>
                        <a:t>a</a:t>
                      </a:r>
                      <a:r>
                        <a:rPr dirty="0" sz="1200">
                          <a:latin typeface="Arial"/>
                          <a:cs typeface="Arial"/>
                        </a:rPr>
                        <a:t>n</a:t>
                      </a:r>
                      <a:r>
                        <a:rPr dirty="0" sz="1200">
                          <a:latin typeface="Arial"/>
                          <a:cs typeface="Arial"/>
                        </a:rPr>
                        <a:t>ts  </a:t>
                      </a:r>
                      <a:r>
                        <a:rPr dirty="0" sz="1200" spc="-5">
                          <a:latin typeface="Arial"/>
                          <a:cs typeface="Arial"/>
                        </a:rPr>
                        <a:t>emphasize faith</a:t>
                      </a:r>
                      <a:r>
                        <a:rPr dirty="0" sz="1200" spc="-15">
                          <a:latin typeface="Arial"/>
                          <a:cs typeface="Arial"/>
                        </a:rPr>
                        <a:t> </a:t>
                      </a:r>
                      <a:r>
                        <a:rPr dirty="0" sz="1200" spc="-5">
                          <a:latin typeface="Arial"/>
                          <a:cs typeface="Arial"/>
                        </a:rPr>
                        <a:t>alone)</a:t>
                      </a:r>
                      <a:endParaRPr sz="1200">
                        <a:latin typeface="Arial"/>
                        <a:cs typeface="Arial"/>
                      </a:endParaRPr>
                    </a:p>
                  </a:txBody>
                  <a:tcPr marL="0" marR="0" marB="0" marT="56515">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464819">
                <a:tc>
                  <a:txBody>
                    <a:bodyPr/>
                    <a:lstStyle/>
                    <a:p>
                      <a:pPr marL="50165" marR="53975">
                        <a:lnSpc>
                          <a:spcPts val="1380"/>
                        </a:lnSpc>
                        <a:spcBef>
                          <a:spcPts val="440"/>
                        </a:spcBef>
                        <a:tabLst>
                          <a:tab pos="739775" algn="l"/>
                          <a:tab pos="1289685" algn="l"/>
                        </a:tabLst>
                      </a:pPr>
                      <a:r>
                        <a:rPr dirty="0" sz="1200">
                          <a:latin typeface="Arial"/>
                          <a:cs typeface="Arial"/>
                        </a:rPr>
                        <a:t>G</a:t>
                      </a:r>
                      <a:r>
                        <a:rPr dirty="0" sz="1200" spc="5">
                          <a:latin typeface="Arial"/>
                          <a:cs typeface="Arial"/>
                        </a:rPr>
                        <a:t>o</a:t>
                      </a:r>
                      <a:r>
                        <a:rPr dirty="0" sz="1200">
                          <a:latin typeface="Arial"/>
                          <a:cs typeface="Arial"/>
                        </a:rPr>
                        <a:t>d</a:t>
                      </a:r>
                      <a:r>
                        <a:rPr dirty="0" sz="1200">
                          <a:latin typeface="Arial"/>
                          <a:cs typeface="Arial"/>
                        </a:rPr>
                        <a:t>'s</a:t>
                      </a:r>
                      <a:r>
                        <a:rPr dirty="0" sz="1200">
                          <a:latin typeface="Arial"/>
                          <a:cs typeface="Arial"/>
                        </a:rPr>
                        <a:t>	</a:t>
                      </a:r>
                      <a:r>
                        <a:rPr dirty="0" sz="1200">
                          <a:latin typeface="Arial"/>
                          <a:cs typeface="Arial"/>
                        </a:rPr>
                        <a:t>role</a:t>
                      </a:r>
                      <a:r>
                        <a:rPr dirty="0" sz="1200">
                          <a:latin typeface="Arial"/>
                          <a:cs typeface="Arial"/>
                        </a:rPr>
                        <a:t>	</a:t>
                      </a:r>
                      <a:r>
                        <a:rPr dirty="0" sz="1200" spc="-15">
                          <a:latin typeface="Arial"/>
                          <a:cs typeface="Arial"/>
                        </a:rPr>
                        <a:t>i</a:t>
                      </a:r>
                      <a:r>
                        <a:rPr dirty="0" sz="1200">
                          <a:latin typeface="Arial"/>
                          <a:cs typeface="Arial"/>
                        </a:rPr>
                        <a:t>n  </a:t>
                      </a:r>
                      <a:r>
                        <a:rPr dirty="0" sz="1200" spc="-5">
                          <a:latin typeface="Arial"/>
                          <a:cs typeface="Arial"/>
                        </a:rPr>
                        <a:t>salvation</a:t>
                      </a:r>
                      <a:endParaRPr sz="1200">
                        <a:latin typeface="Arial"/>
                        <a:cs typeface="Arial"/>
                      </a:endParaRPr>
                    </a:p>
                  </a:txBody>
                  <a:tcPr marL="0" marR="0" marB="0" marT="5588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3975" marR="51435">
                        <a:lnSpc>
                          <a:spcPts val="1380"/>
                        </a:lnSpc>
                        <a:spcBef>
                          <a:spcPts val="440"/>
                        </a:spcBef>
                        <a:tabLst>
                          <a:tab pos="1351280" algn="l"/>
                        </a:tabLst>
                      </a:pPr>
                      <a:r>
                        <a:rPr dirty="0" sz="1200">
                          <a:latin typeface="Arial"/>
                          <a:cs typeface="Arial"/>
                        </a:rPr>
                        <a:t>P</a:t>
                      </a:r>
                      <a:r>
                        <a:rPr dirty="0" sz="1200">
                          <a:latin typeface="Arial"/>
                          <a:cs typeface="Arial"/>
                        </a:rPr>
                        <a:t>rede</a:t>
                      </a:r>
                      <a:r>
                        <a:rPr dirty="0" sz="1200">
                          <a:latin typeface="Arial"/>
                          <a:cs typeface="Arial"/>
                        </a:rPr>
                        <a:t>st</a:t>
                      </a:r>
                      <a:r>
                        <a:rPr dirty="0" sz="1200" spc="-15">
                          <a:latin typeface="Arial"/>
                          <a:cs typeface="Arial"/>
                        </a:rPr>
                        <a:t>i</a:t>
                      </a:r>
                      <a:r>
                        <a:rPr dirty="0" sz="1200">
                          <a:latin typeface="Arial"/>
                          <a:cs typeface="Arial"/>
                        </a:rPr>
                        <a:t>na</a:t>
                      </a:r>
                      <a:r>
                        <a:rPr dirty="0" sz="1200">
                          <a:latin typeface="Arial"/>
                          <a:cs typeface="Arial"/>
                        </a:rPr>
                        <a:t>ti</a:t>
                      </a:r>
                      <a:r>
                        <a:rPr dirty="0" sz="1200" spc="-10">
                          <a:latin typeface="Arial"/>
                          <a:cs typeface="Arial"/>
                        </a:rPr>
                        <a:t>o</a:t>
                      </a:r>
                      <a:r>
                        <a:rPr dirty="0" sz="1200">
                          <a:latin typeface="Arial"/>
                          <a:cs typeface="Arial"/>
                        </a:rPr>
                        <a:t>n</a:t>
                      </a:r>
                      <a:r>
                        <a:rPr dirty="0" sz="1200">
                          <a:latin typeface="Arial"/>
                          <a:cs typeface="Arial"/>
                        </a:rPr>
                        <a:t>	</a:t>
                      </a:r>
                      <a:r>
                        <a:rPr dirty="0" sz="1200" spc="-10">
                          <a:latin typeface="Arial"/>
                          <a:cs typeface="Arial"/>
                        </a:rPr>
                        <a:t>a</a:t>
                      </a:r>
                      <a:r>
                        <a:rPr dirty="0" sz="1200">
                          <a:latin typeface="Arial"/>
                          <a:cs typeface="Arial"/>
                        </a:rPr>
                        <a:t>nd  </a:t>
                      </a:r>
                      <a:r>
                        <a:rPr dirty="0" sz="1200" spc="-5">
                          <a:latin typeface="Arial"/>
                          <a:cs typeface="Arial"/>
                        </a:rPr>
                        <a:t>forgiveness</a:t>
                      </a:r>
                      <a:endParaRPr sz="1200">
                        <a:latin typeface="Arial"/>
                        <a:cs typeface="Arial"/>
                      </a:endParaRPr>
                    </a:p>
                  </a:txBody>
                  <a:tcPr marL="0" marR="0" marB="0" marT="558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marR="55880">
                        <a:lnSpc>
                          <a:spcPts val="1380"/>
                        </a:lnSpc>
                        <a:spcBef>
                          <a:spcPts val="440"/>
                        </a:spcBef>
                        <a:tabLst>
                          <a:tab pos="683895" algn="l"/>
                        </a:tabLst>
                      </a:pPr>
                      <a:r>
                        <a:rPr dirty="0" sz="1200">
                          <a:latin typeface="Arial"/>
                          <a:cs typeface="Arial"/>
                        </a:rPr>
                        <a:t>di</a:t>
                      </a:r>
                      <a:r>
                        <a:rPr dirty="0" sz="1200" spc="-15">
                          <a:latin typeface="Arial"/>
                          <a:cs typeface="Arial"/>
                        </a:rPr>
                        <a:t>v</a:t>
                      </a:r>
                      <a:r>
                        <a:rPr dirty="0" sz="1200">
                          <a:latin typeface="Arial"/>
                          <a:cs typeface="Arial"/>
                        </a:rPr>
                        <a:t>ine</a:t>
                      </a:r>
                      <a:r>
                        <a:rPr dirty="0" sz="1200">
                          <a:latin typeface="Arial"/>
                          <a:cs typeface="Arial"/>
                        </a:rPr>
                        <a:t>	</a:t>
                      </a:r>
                      <a:r>
                        <a:rPr dirty="0" sz="1200">
                          <a:latin typeface="Arial"/>
                          <a:cs typeface="Arial"/>
                        </a:rPr>
                        <a:t>re</a:t>
                      </a:r>
                      <a:r>
                        <a:rPr dirty="0" sz="1200" spc="-15">
                          <a:latin typeface="Arial"/>
                          <a:cs typeface="Arial"/>
                        </a:rPr>
                        <a:t>v</a:t>
                      </a:r>
                      <a:r>
                        <a:rPr dirty="0" sz="1200">
                          <a:latin typeface="Arial"/>
                          <a:cs typeface="Arial"/>
                        </a:rPr>
                        <a:t>e</a:t>
                      </a:r>
                      <a:r>
                        <a:rPr dirty="0" sz="1200">
                          <a:latin typeface="Arial"/>
                          <a:cs typeface="Arial"/>
                        </a:rPr>
                        <a:t>lat</a:t>
                      </a:r>
                      <a:r>
                        <a:rPr dirty="0" sz="1200">
                          <a:latin typeface="Arial"/>
                          <a:cs typeface="Arial"/>
                        </a:rPr>
                        <a:t>ion  </a:t>
                      </a:r>
                      <a:r>
                        <a:rPr dirty="0" sz="1200" spc="-5">
                          <a:latin typeface="Arial"/>
                          <a:cs typeface="Arial"/>
                        </a:rPr>
                        <a:t>and</a:t>
                      </a:r>
                      <a:r>
                        <a:rPr dirty="0" sz="1200" spc="-20">
                          <a:latin typeface="Arial"/>
                          <a:cs typeface="Arial"/>
                        </a:rPr>
                        <a:t> </a:t>
                      </a:r>
                      <a:r>
                        <a:rPr dirty="0" sz="1200" spc="-5">
                          <a:latin typeface="Arial"/>
                          <a:cs typeface="Arial"/>
                        </a:rPr>
                        <a:t>forgiveness</a:t>
                      </a:r>
                      <a:endParaRPr sz="1200">
                        <a:latin typeface="Arial"/>
                        <a:cs typeface="Arial"/>
                      </a:endParaRPr>
                    </a:p>
                  </a:txBody>
                  <a:tcPr marL="0" marR="0" marB="0" marT="558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marR="52069">
                        <a:lnSpc>
                          <a:spcPts val="1380"/>
                        </a:lnSpc>
                        <a:spcBef>
                          <a:spcPts val="440"/>
                        </a:spcBef>
                        <a:tabLst>
                          <a:tab pos="1302385" algn="l"/>
                        </a:tabLst>
                      </a:pPr>
                      <a:r>
                        <a:rPr dirty="0" sz="1200">
                          <a:latin typeface="Arial"/>
                          <a:cs typeface="Arial"/>
                        </a:rPr>
                        <a:t>prede</a:t>
                      </a:r>
                      <a:r>
                        <a:rPr dirty="0" sz="1200">
                          <a:latin typeface="Arial"/>
                          <a:cs typeface="Arial"/>
                        </a:rPr>
                        <a:t>st</a:t>
                      </a:r>
                      <a:r>
                        <a:rPr dirty="0" sz="1200" spc="-15">
                          <a:latin typeface="Arial"/>
                          <a:cs typeface="Arial"/>
                        </a:rPr>
                        <a:t>i</a:t>
                      </a:r>
                      <a:r>
                        <a:rPr dirty="0" sz="1200">
                          <a:latin typeface="Arial"/>
                          <a:cs typeface="Arial"/>
                        </a:rPr>
                        <a:t>na</a:t>
                      </a:r>
                      <a:r>
                        <a:rPr dirty="0" sz="1200">
                          <a:latin typeface="Arial"/>
                          <a:cs typeface="Arial"/>
                        </a:rPr>
                        <a:t>ti</a:t>
                      </a:r>
                      <a:r>
                        <a:rPr dirty="0" sz="1200" spc="-10">
                          <a:latin typeface="Arial"/>
                          <a:cs typeface="Arial"/>
                        </a:rPr>
                        <a:t>o</a:t>
                      </a:r>
                      <a:r>
                        <a:rPr dirty="0" sz="1200">
                          <a:latin typeface="Arial"/>
                          <a:cs typeface="Arial"/>
                        </a:rPr>
                        <a:t>n</a:t>
                      </a:r>
                      <a:r>
                        <a:rPr dirty="0" sz="1200">
                          <a:latin typeface="Arial"/>
                          <a:cs typeface="Arial"/>
                        </a:rPr>
                        <a:t>,</a:t>
                      </a:r>
                      <a:r>
                        <a:rPr dirty="0" sz="1200">
                          <a:latin typeface="Arial"/>
                          <a:cs typeface="Arial"/>
                        </a:rPr>
                        <a:t>	</a:t>
                      </a:r>
                      <a:r>
                        <a:rPr dirty="0" sz="1200" spc="-15">
                          <a:latin typeface="Arial"/>
                          <a:cs typeface="Arial"/>
                        </a:rPr>
                        <a:t>v</a:t>
                      </a:r>
                      <a:r>
                        <a:rPr dirty="0" sz="1200">
                          <a:latin typeface="Arial"/>
                          <a:cs typeface="Arial"/>
                        </a:rPr>
                        <a:t>ar</a:t>
                      </a:r>
                      <a:r>
                        <a:rPr dirty="0" sz="1200" spc="-10">
                          <a:latin typeface="Arial"/>
                          <a:cs typeface="Arial"/>
                        </a:rPr>
                        <a:t>i</a:t>
                      </a:r>
                      <a:r>
                        <a:rPr dirty="0" sz="1200">
                          <a:latin typeface="Arial"/>
                          <a:cs typeface="Arial"/>
                        </a:rPr>
                        <a:t>ou</a:t>
                      </a:r>
                      <a:r>
                        <a:rPr dirty="0" sz="1200">
                          <a:latin typeface="Arial"/>
                          <a:cs typeface="Arial"/>
                        </a:rPr>
                        <a:t>s  forms </a:t>
                      </a:r>
                      <a:r>
                        <a:rPr dirty="0" sz="1200" spc="-5">
                          <a:latin typeface="Arial"/>
                          <a:cs typeface="Arial"/>
                        </a:rPr>
                        <a:t>of</a:t>
                      </a:r>
                      <a:r>
                        <a:rPr dirty="0" sz="1200" spc="-10">
                          <a:latin typeface="Arial"/>
                          <a:cs typeface="Arial"/>
                        </a:rPr>
                        <a:t> </a:t>
                      </a:r>
                      <a:r>
                        <a:rPr dirty="0" sz="1200" spc="-5">
                          <a:latin typeface="Arial"/>
                          <a:cs typeface="Arial"/>
                        </a:rPr>
                        <a:t>grace</a:t>
                      </a:r>
                      <a:endParaRPr sz="1200">
                        <a:latin typeface="Arial"/>
                        <a:cs typeface="Arial"/>
                      </a:endParaRPr>
                    </a:p>
                  </a:txBody>
                  <a:tcPr marL="0" marR="0" marB="0" marT="55880">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640334">
                <a:tc>
                  <a:txBody>
                    <a:bodyPr/>
                    <a:lstStyle/>
                    <a:p>
                      <a:pPr>
                        <a:lnSpc>
                          <a:spcPct val="100000"/>
                        </a:lnSpc>
                      </a:pPr>
                      <a:endParaRPr sz="1500">
                        <a:latin typeface="Times New Roman"/>
                        <a:cs typeface="Times New Roman"/>
                      </a:endParaRPr>
                    </a:p>
                    <a:p>
                      <a:pPr marL="50165">
                        <a:lnSpc>
                          <a:spcPct val="100000"/>
                        </a:lnSpc>
                      </a:pPr>
                      <a:r>
                        <a:rPr dirty="0" sz="1200" spc="-5">
                          <a:latin typeface="Arial"/>
                          <a:cs typeface="Arial"/>
                        </a:rPr>
                        <a:t>good afterlife</a:t>
                      </a:r>
                      <a:endParaRPr sz="1200">
                        <a:latin typeface="Arial"/>
                        <a:cs typeface="Arial"/>
                      </a:endParaRPr>
                    </a:p>
                  </a:txBody>
                  <a:tcPr marL="0" marR="0" marB="0" marT="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nSpc>
                          <a:spcPct val="100000"/>
                        </a:lnSpc>
                      </a:pPr>
                      <a:endParaRPr sz="1500">
                        <a:latin typeface="Times New Roman"/>
                        <a:cs typeface="Times New Roman"/>
                      </a:endParaRPr>
                    </a:p>
                    <a:p>
                      <a:pPr marL="53975">
                        <a:lnSpc>
                          <a:spcPct val="100000"/>
                        </a:lnSpc>
                      </a:pPr>
                      <a:r>
                        <a:rPr dirty="0" sz="1200">
                          <a:latin typeface="Arial"/>
                          <a:cs typeface="Arial"/>
                        </a:rPr>
                        <a:t>eternal</a:t>
                      </a:r>
                      <a:r>
                        <a:rPr dirty="0" sz="1200" spc="-25">
                          <a:latin typeface="Arial"/>
                          <a:cs typeface="Arial"/>
                        </a:rPr>
                        <a:t> </a:t>
                      </a:r>
                      <a:r>
                        <a:rPr dirty="0" sz="1200" spc="-5">
                          <a:latin typeface="Arial"/>
                          <a:cs typeface="Arial"/>
                        </a:rPr>
                        <a:t>paradise</a:t>
                      </a:r>
                      <a:endParaRPr sz="1200">
                        <a:latin typeface="Arial"/>
                        <a:cs typeface="Arial"/>
                      </a:endParaRPr>
                    </a:p>
                  </a:txBody>
                  <a:tcPr marL="0" marR="0" marB="0" marT="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2069" marR="54610">
                        <a:lnSpc>
                          <a:spcPct val="95900"/>
                        </a:lnSpc>
                        <a:spcBef>
                          <a:spcPts val="405"/>
                        </a:spcBef>
                      </a:pPr>
                      <a:r>
                        <a:rPr dirty="0" sz="1200" spc="-5">
                          <a:latin typeface="Arial"/>
                          <a:cs typeface="Arial"/>
                        </a:rPr>
                        <a:t>views vary: either  heaven or no  afterlife</a:t>
                      </a:r>
                      <a:endParaRPr sz="1200">
                        <a:latin typeface="Arial"/>
                        <a:cs typeface="Arial"/>
                      </a:endParaRPr>
                    </a:p>
                  </a:txBody>
                  <a:tcPr marL="0" marR="0" marB="0" marT="5143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nSpc>
                          <a:spcPct val="100000"/>
                        </a:lnSpc>
                      </a:pPr>
                      <a:endParaRPr sz="1500">
                        <a:latin typeface="Times New Roman"/>
                        <a:cs typeface="Times New Roman"/>
                      </a:endParaRPr>
                    </a:p>
                    <a:p>
                      <a:pPr marL="52069">
                        <a:lnSpc>
                          <a:spcPct val="100000"/>
                        </a:lnSpc>
                      </a:pPr>
                      <a:r>
                        <a:rPr dirty="0" sz="1200">
                          <a:latin typeface="Arial"/>
                          <a:cs typeface="Arial"/>
                        </a:rPr>
                        <a:t>eternal</a:t>
                      </a:r>
                      <a:r>
                        <a:rPr dirty="0" sz="1200" spc="-20">
                          <a:latin typeface="Arial"/>
                          <a:cs typeface="Arial"/>
                        </a:rPr>
                        <a:t> </a:t>
                      </a:r>
                      <a:r>
                        <a:rPr dirty="0" sz="1200" spc="-5">
                          <a:latin typeface="Arial"/>
                          <a:cs typeface="Arial"/>
                        </a:rPr>
                        <a:t>heaven</a:t>
                      </a:r>
                      <a:endParaRPr sz="1200">
                        <a:latin typeface="Arial"/>
                        <a:cs typeface="Arial"/>
                      </a:endParaRPr>
                    </a:p>
                  </a:txBody>
                  <a:tcPr marL="0" marR="0" marB="0" marT="0">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815339">
                <a:tc>
                  <a:txBody>
                    <a:bodyPr/>
                    <a:lstStyle/>
                    <a:p>
                      <a:pPr>
                        <a:lnSpc>
                          <a:spcPct val="100000"/>
                        </a:lnSpc>
                      </a:pPr>
                      <a:endParaRPr sz="1300">
                        <a:latin typeface="Times New Roman"/>
                        <a:cs typeface="Times New Roman"/>
                      </a:endParaRPr>
                    </a:p>
                    <a:p>
                      <a:pPr marL="50165">
                        <a:lnSpc>
                          <a:spcPct val="100000"/>
                        </a:lnSpc>
                        <a:spcBef>
                          <a:spcPts val="930"/>
                        </a:spcBef>
                      </a:pPr>
                      <a:r>
                        <a:rPr dirty="0" sz="1200" spc="-5">
                          <a:latin typeface="Arial"/>
                          <a:cs typeface="Arial"/>
                        </a:rPr>
                        <a:t>bad</a:t>
                      </a:r>
                      <a:r>
                        <a:rPr dirty="0" sz="1200" spc="-15">
                          <a:latin typeface="Arial"/>
                          <a:cs typeface="Arial"/>
                        </a:rPr>
                        <a:t> </a:t>
                      </a:r>
                      <a:r>
                        <a:rPr dirty="0" sz="1200" spc="-5">
                          <a:latin typeface="Arial"/>
                          <a:cs typeface="Arial"/>
                        </a:rPr>
                        <a:t>afterlife</a:t>
                      </a:r>
                      <a:endParaRPr sz="1200">
                        <a:latin typeface="Arial"/>
                        <a:cs typeface="Arial"/>
                      </a:endParaRPr>
                    </a:p>
                  </a:txBody>
                  <a:tcPr marL="0" marR="0" marB="0" marT="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nSpc>
                          <a:spcPct val="100000"/>
                        </a:lnSpc>
                      </a:pPr>
                      <a:endParaRPr sz="1300">
                        <a:latin typeface="Times New Roman"/>
                        <a:cs typeface="Times New Roman"/>
                      </a:endParaRPr>
                    </a:p>
                    <a:p>
                      <a:pPr marL="53975">
                        <a:lnSpc>
                          <a:spcPct val="100000"/>
                        </a:lnSpc>
                        <a:spcBef>
                          <a:spcPts val="930"/>
                        </a:spcBef>
                      </a:pPr>
                      <a:r>
                        <a:rPr dirty="0" sz="1200">
                          <a:latin typeface="Arial"/>
                          <a:cs typeface="Arial"/>
                        </a:rPr>
                        <a:t>eternal</a:t>
                      </a:r>
                      <a:r>
                        <a:rPr dirty="0" sz="1200" spc="-20">
                          <a:latin typeface="Arial"/>
                          <a:cs typeface="Arial"/>
                        </a:rPr>
                        <a:t> </a:t>
                      </a:r>
                      <a:r>
                        <a:rPr dirty="0" sz="1200" spc="-5">
                          <a:latin typeface="Arial"/>
                          <a:cs typeface="Arial"/>
                        </a:rPr>
                        <a:t>hell</a:t>
                      </a:r>
                      <a:endParaRPr sz="1200">
                        <a:latin typeface="Arial"/>
                        <a:cs typeface="Arial"/>
                      </a:endParaRPr>
                    </a:p>
                  </a:txBody>
                  <a:tcPr marL="0" marR="0" marB="0" marT="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2069" marR="52705">
                        <a:lnSpc>
                          <a:spcPts val="1380"/>
                        </a:lnSpc>
                        <a:spcBef>
                          <a:spcPts val="440"/>
                        </a:spcBef>
                        <a:tabLst>
                          <a:tab pos="1043305" algn="l"/>
                        </a:tabLst>
                      </a:pPr>
                      <a:r>
                        <a:rPr dirty="0" sz="1200" spc="-5">
                          <a:latin typeface="Arial"/>
                          <a:cs typeface="Arial"/>
                        </a:rPr>
                        <a:t>views vary: either  </a:t>
                      </a:r>
                      <a:r>
                        <a:rPr dirty="0" sz="1200">
                          <a:latin typeface="Arial"/>
                          <a:cs typeface="Arial"/>
                        </a:rPr>
                        <a:t>e</a:t>
                      </a:r>
                      <a:r>
                        <a:rPr dirty="0" sz="1200">
                          <a:latin typeface="Arial"/>
                          <a:cs typeface="Arial"/>
                        </a:rPr>
                        <a:t>t</a:t>
                      </a:r>
                      <a:r>
                        <a:rPr dirty="0" sz="1200" spc="5">
                          <a:latin typeface="Arial"/>
                          <a:cs typeface="Arial"/>
                        </a:rPr>
                        <a:t>e</a:t>
                      </a:r>
                      <a:r>
                        <a:rPr dirty="0" sz="1200">
                          <a:latin typeface="Arial"/>
                          <a:cs typeface="Arial"/>
                        </a:rPr>
                        <a:t>rna</a:t>
                      </a:r>
                      <a:r>
                        <a:rPr dirty="0" sz="1200">
                          <a:latin typeface="Arial"/>
                          <a:cs typeface="Arial"/>
                        </a:rPr>
                        <a:t>l</a:t>
                      </a:r>
                      <a:r>
                        <a:rPr dirty="0" sz="1200">
                          <a:latin typeface="Arial"/>
                          <a:cs typeface="Arial"/>
                        </a:rPr>
                        <a:t>	</a:t>
                      </a:r>
                      <a:r>
                        <a:rPr dirty="0" sz="1200">
                          <a:latin typeface="Arial"/>
                          <a:cs typeface="Arial"/>
                        </a:rPr>
                        <a:t>Hel</a:t>
                      </a:r>
                      <a:r>
                        <a:rPr dirty="0" sz="1200" spc="-5">
                          <a:latin typeface="Arial"/>
                          <a:cs typeface="Arial"/>
                        </a:rPr>
                        <a:t>l</a:t>
                      </a:r>
                      <a:r>
                        <a:rPr dirty="0" sz="1200">
                          <a:latin typeface="Arial"/>
                          <a:cs typeface="Arial"/>
                        </a:rPr>
                        <a:t>,  </a:t>
                      </a:r>
                      <a:r>
                        <a:rPr dirty="0" sz="1200" spc="-5">
                          <a:latin typeface="Arial"/>
                          <a:cs typeface="Arial"/>
                        </a:rPr>
                        <a:t>reincarnation, or  no afterlife</a:t>
                      </a:r>
                      <a:endParaRPr sz="1200">
                        <a:latin typeface="Arial"/>
                        <a:cs typeface="Arial"/>
                      </a:endParaRPr>
                    </a:p>
                  </a:txBody>
                  <a:tcPr marL="0" marR="0" marB="0" marT="558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nSpc>
                          <a:spcPct val="100000"/>
                        </a:lnSpc>
                        <a:spcBef>
                          <a:spcPts val="40"/>
                        </a:spcBef>
                      </a:pPr>
                      <a:endParaRPr sz="1550">
                        <a:latin typeface="Times New Roman"/>
                        <a:cs typeface="Times New Roman"/>
                      </a:endParaRPr>
                    </a:p>
                    <a:p>
                      <a:pPr marL="52069" marR="51435">
                        <a:lnSpc>
                          <a:spcPts val="1380"/>
                        </a:lnSpc>
                        <a:tabLst>
                          <a:tab pos="673100" algn="l"/>
                          <a:tab pos="1107440" algn="l"/>
                        </a:tabLst>
                      </a:pPr>
                      <a:r>
                        <a:rPr dirty="0" sz="1200">
                          <a:latin typeface="Arial"/>
                          <a:cs typeface="Arial"/>
                        </a:rPr>
                        <a:t>e</a:t>
                      </a:r>
                      <a:r>
                        <a:rPr dirty="0" sz="1200">
                          <a:latin typeface="Arial"/>
                          <a:cs typeface="Arial"/>
                        </a:rPr>
                        <a:t>t</a:t>
                      </a:r>
                      <a:r>
                        <a:rPr dirty="0" sz="1200" spc="5">
                          <a:latin typeface="Arial"/>
                          <a:cs typeface="Arial"/>
                        </a:rPr>
                        <a:t>e</a:t>
                      </a:r>
                      <a:r>
                        <a:rPr dirty="0" sz="1200">
                          <a:latin typeface="Arial"/>
                          <a:cs typeface="Arial"/>
                        </a:rPr>
                        <a:t>rna</a:t>
                      </a:r>
                      <a:r>
                        <a:rPr dirty="0" sz="1200">
                          <a:latin typeface="Arial"/>
                          <a:cs typeface="Arial"/>
                        </a:rPr>
                        <a:t>l</a:t>
                      </a:r>
                      <a:r>
                        <a:rPr dirty="0" sz="1200">
                          <a:latin typeface="Arial"/>
                          <a:cs typeface="Arial"/>
                        </a:rPr>
                        <a:t>	</a:t>
                      </a:r>
                      <a:r>
                        <a:rPr dirty="0" sz="1200">
                          <a:latin typeface="Arial"/>
                          <a:cs typeface="Arial"/>
                        </a:rPr>
                        <a:t>he</a:t>
                      </a:r>
                      <a:r>
                        <a:rPr dirty="0" sz="1200">
                          <a:latin typeface="Arial"/>
                          <a:cs typeface="Arial"/>
                        </a:rPr>
                        <a:t>l</a:t>
                      </a:r>
                      <a:r>
                        <a:rPr dirty="0" sz="1200" spc="-5">
                          <a:latin typeface="Arial"/>
                          <a:cs typeface="Arial"/>
                        </a:rPr>
                        <a:t>l</a:t>
                      </a:r>
                      <a:r>
                        <a:rPr dirty="0" sz="1200">
                          <a:latin typeface="Arial"/>
                          <a:cs typeface="Arial"/>
                        </a:rPr>
                        <a:t>,</a:t>
                      </a:r>
                      <a:r>
                        <a:rPr dirty="0" sz="1200">
                          <a:latin typeface="Arial"/>
                          <a:cs typeface="Arial"/>
                        </a:rPr>
                        <a:t>	t</a:t>
                      </a:r>
                      <a:r>
                        <a:rPr dirty="0" sz="1200" spc="-5">
                          <a:latin typeface="Arial"/>
                          <a:cs typeface="Arial"/>
                        </a:rPr>
                        <a:t>e</a:t>
                      </a:r>
                      <a:r>
                        <a:rPr dirty="0" sz="1200" spc="5">
                          <a:latin typeface="Arial"/>
                          <a:cs typeface="Arial"/>
                        </a:rPr>
                        <a:t>m</a:t>
                      </a:r>
                      <a:r>
                        <a:rPr dirty="0" sz="1200" spc="-10">
                          <a:latin typeface="Arial"/>
                          <a:cs typeface="Arial"/>
                        </a:rPr>
                        <a:t>p</a:t>
                      </a:r>
                      <a:r>
                        <a:rPr dirty="0" sz="1200">
                          <a:latin typeface="Arial"/>
                          <a:cs typeface="Arial"/>
                        </a:rPr>
                        <a:t>o</a:t>
                      </a:r>
                      <a:r>
                        <a:rPr dirty="0" sz="1200">
                          <a:latin typeface="Arial"/>
                          <a:cs typeface="Arial"/>
                        </a:rPr>
                        <a:t>rary  </a:t>
                      </a:r>
                      <a:r>
                        <a:rPr dirty="0" sz="1200" spc="-5">
                          <a:latin typeface="Arial"/>
                          <a:cs typeface="Arial"/>
                        </a:rPr>
                        <a:t>purgatory</a:t>
                      </a:r>
                      <a:r>
                        <a:rPr dirty="0" sz="1200" spc="-25">
                          <a:latin typeface="Arial"/>
                          <a:cs typeface="Arial"/>
                        </a:rPr>
                        <a:t> </a:t>
                      </a:r>
                      <a:r>
                        <a:rPr dirty="0" sz="1200" spc="-5">
                          <a:latin typeface="Arial"/>
                          <a:cs typeface="Arial"/>
                        </a:rPr>
                        <a:t>(Catholicism)</a:t>
                      </a:r>
                      <a:endParaRPr sz="1200">
                        <a:latin typeface="Arial"/>
                        <a:cs typeface="Arial"/>
                      </a:endParaRPr>
                    </a:p>
                  </a:txBody>
                  <a:tcPr marL="0" marR="0" marB="0" marT="5080">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r h="1165097">
                <a:tc>
                  <a:txBody>
                    <a:bodyPr/>
                    <a:lstStyle/>
                    <a:p>
                      <a:pPr>
                        <a:lnSpc>
                          <a:spcPct val="100000"/>
                        </a:lnSpc>
                      </a:pPr>
                      <a:endParaRPr sz="1300">
                        <a:latin typeface="Times New Roman"/>
                        <a:cs typeface="Times New Roman"/>
                      </a:endParaRPr>
                    </a:p>
                    <a:p>
                      <a:pPr>
                        <a:lnSpc>
                          <a:spcPct val="100000"/>
                        </a:lnSpc>
                        <a:spcBef>
                          <a:spcPts val="40"/>
                        </a:spcBef>
                      </a:pPr>
                      <a:endParaRPr sz="1450">
                        <a:latin typeface="Times New Roman"/>
                        <a:cs typeface="Times New Roman"/>
                      </a:endParaRPr>
                    </a:p>
                    <a:p>
                      <a:pPr marL="50165" marR="53340">
                        <a:lnSpc>
                          <a:spcPts val="1380"/>
                        </a:lnSpc>
                        <a:tabLst>
                          <a:tab pos="621030" algn="l"/>
                          <a:tab pos="1016635" algn="l"/>
                        </a:tabLst>
                      </a:pPr>
                      <a:r>
                        <a:rPr dirty="0" sz="1200" spc="-15">
                          <a:latin typeface="Arial"/>
                          <a:cs typeface="Arial"/>
                        </a:rPr>
                        <a:t>v</a:t>
                      </a:r>
                      <a:r>
                        <a:rPr dirty="0" sz="1200">
                          <a:latin typeface="Arial"/>
                          <a:cs typeface="Arial"/>
                        </a:rPr>
                        <a:t>i</a:t>
                      </a:r>
                      <a:r>
                        <a:rPr dirty="0" sz="1200" spc="10">
                          <a:latin typeface="Arial"/>
                          <a:cs typeface="Arial"/>
                        </a:rPr>
                        <a:t>e</a:t>
                      </a:r>
                      <a:r>
                        <a:rPr dirty="0" sz="1200">
                          <a:latin typeface="Arial"/>
                          <a:cs typeface="Arial"/>
                        </a:rPr>
                        <a:t>w</a:t>
                      </a:r>
                      <a:r>
                        <a:rPr dirty="0" sz="1200">
                          <a:latin typeface="Arial"/>
                          <a:cs typeface="Arial"/>
                        </a:rPr>
                        <a:t>	</a:t>
                      </a:r>
                      <a:r>
                        <a:rPr dirty="0" sz="1200">
                          <a:latin typeface="Arial"/>
                          <a:cs typeface="Arial"/>
                        </a:rPr>
                        <a:t>o</a:t>
                      </a:r>
                      <a:r>
                        <a:rPr dirty="0" sz="1200">
                          <a:latin typeface="Arial"/>
                          <a:cs typeface="Arial"/>
                        </a:rPr>
                        <a:t>f</a:t>
                      </a:r>
                      <a:r>
                        <a:rPr dirty="0" sz="1200">
                          <a:latin typeface="Arial"/>
                          <a:cs typeface="Arial"/>
                        </a:rPr>
                        <a:t>	f</a:t>
                      </a:r>
                      <a:r>
                        <a:rPr dirty="0" sz="1200" spc="5">
                          <a:latin typeface="Arial"/>
                          <a:cs typeface="Arial"/>
                        </a:rPr>
                        <a:t>e</a:t>
                      </a:r>
                      <a:r>
                        <a:rPr dirty="0" sz="1200">
                          <a:latin typeface="Arial"/>
                          <a:cs typeface="Arial"/>
                        </a:rPr>
                        <a:t>l</a:t>
                      </a:r>
                      <a:r>
                        <a:rPr dirty="0" sz="1200" spc="-5">
                          <a:latin typeface="Arial"/>
                          <a:cs typeface="Arial"/>
                        </a:rPr>
                        <a:t>l</a:t>
                      </a:r>
                      <a:r>
                        <a:rPr dirty="0" sz="1200">
                          <a:latin typeface="Arial"/>
                          <a:cs typeface="Arial"/>
                        </a:rPr>
                        <a:t>ow  </a:t>
                      </a:r>
                      <a:r>
                        <a:rPr dirty="0" sz="1200" spc="-5">
                          <a:latin typeface="Arial"/>
                          <a:cs typeface="Arial"/>
                        </a:rPr>
                        <a:t>Abrahamic</a:t>
                      </a:r>
                      <a:r>
                        <a:rPr dirty="0" sz="1200" spc="-20">
                          <a:latin typeface="Arial"/>
                          <a:cs typeface="Arial"/>
                        </a:rPr>
                        <a:t> </a:t>
                      </a:r>
                      <a:r>
                        <a:rPr dirty="0" sz="1200" spc="-5">
                          <a:latin typeface="Arial"/>
                          <a:cs typeface="Arial"/>
                        </a:rPr>
                        <a:t>religions</a:t>
                      </a:r>
                      <a:endParaRPr sz="1200">
                        <a:latin typeface="Arial"/>
                        <a:cs typeface="Arial"/>
                      </a:endParaRPr>
                    </a:p>
                  </a:txBody>
                  <a:tcPr marL="0" marR="0" marB="0" marT="0">
                    <a:lnL w="19050">
                      <a:solidFill>
                        <a:srgbClr val="EFEFE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gn="just" marL="53975" marR="52069">
                        <a:lnSpc>
                          <a:spcPts val="1380"/>
                        </a:lnSpc>
                        <a:spcBef>
                          <a:spcPts val="440"/>
                        </a:spcBef>
                      </a:pPr>
                      <a:r>
                        <a:rPr dirty="0" sz="1200" spc="-5">
                          <a:latin typeface="Arial"/>
                          <a:cs typeface="Arial"/>
                        </a:rPr>
                        <a:t>Jews and Christians  are respected as  "People of the Book,"  but </a:t>
                      </a:r>
                      <a:r>
                        <a:rPr dirty="0" sz="1200">
                          <a:latin typeface="Arial"/>
                          <a:cs typeface="Arial"/>
                        </a:rPr>
                        <a:t>they </a:t>
                      </a:r>
                      <a:r>
                        <a:rPr dirty="0" sz="1200" spc="-5">
                          <a:latin typeface="Arial"/>
                          <a:cs typeface="Arial"/>
                        </a:rPr>
                        <a:t>have wrong  beliefs and only partial  revelation.</a:t>
                      </a:r>
                      <a:endParaRPr sz="1200">
                        <a:latin typeface="Arial"/>
                        <a:cs typeface="Arial"/>
                      </a:endParaRPr>
                    </a:p>
                  </a:txBody>
                  <a:tcPr marL="0" marR="0" marB="0" marT="55880">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marL="52069">
                        <a:lnSpc>
                          <a:spcPts val="1410"/>
                        </a:lnSpc>
                        <a:spcBef>
                          <a:spcPts val="345"/>
                        </a:spcBef>
                        <a:tabLst>
                          <a:tab pos="1092835" algn="l"/>
                        </a:tabLst>
                      </a:pPr>
                      <a:r>
                        <a:rPr dirty="0" sz="1200" spc="-5">
                          <a:latin typeface="Arial"/>
                          <a:cs typeface="Arial"/>
                        </a:rPr>
                        <a:t>Islam	and</a:t>
                      </a:r>
                      <a:endParaRPr sz="1200">
                        <a:latin typeface="Arial"/>
                        <a:cs typeface="Arial"/>
                      </a:endParaRPr>
                    </a:p>
                    <a:p>
                      <a:pPr marL="52069" marR="53975">
                        <a:lnSpc>
                          <a:spcPts val="1380"/>
                        </a:lnSpc>
                        <a:spcBef>
                          <a:spcPts val="65"/>
                        </a:spcBef>
                        <a:tabLst>
                          <a:tab pos="1124585" algn="l"/>
                          <a:tab pos="1218565" algn="l"/>
                        </a:tabLst>
                      </a:pPr>
                      <a:r>
                        <a:rPr dirty="0" sz="1200">
                          <a:latin typeface="Arial"/>
                          <a:cs typeface="Arial"/>
                        </a:rPr>
                        <a:t>Chr</a:t>
                      </a:r>
                      <a:r>
                        <a:rPr dirty="0" sz="1200" spc="-5">
                          <a:latin typeface="Arial"/>
                          <a:cs typeface="Arial"/>
                        </a:rPr>
                        <a:t>i</a:t>
                      </a:r>
                      <a:r>
                        <a:rPr dirty="0" sz="1200">
                          <a:latin typeface="Arial"/>
                          <a:cs typeface="Arial"/>
                        </a:rPr>
                        <a:t>stia</a:t>
                      </a:r>
                      <a:r>
                        <a:rPr dirty="0" sz="1200">
                          <a:latin typeface="Arial"/>
                          <a:cs typeface="Arial"/>
                        </a:rPr>
                        <a:t>n</a:t>
                      </a:r>
                      <a:r>
                        <a:rPr dirty="0" sz="1200">
                          <a:latin typeface="Arial"/>
                          <a:cs typeface="Arial"/>
                        </a:rPr>
                        <a:t>ity	</a:t>
                      </a:r>
                      <a:r>
                        <a:rPr dirty="0" sz="1200">
                          <a:latin typeface="Arial"/>
                          <a:cs typeface="Arial"/>
                        </a:rPr>
                        <a:t>are  </a:t>
                      </a:r>
                      <a:r>
                        <a:rPr dirty="0" sz="1200">
                          <a:latin typeface="Arial"/>
                          <a:cs typeface="Arial"/>
                        </a:rPr>
                        <a:t>false  </a:t>
                      </a:r>
                      <a:r>
                        <a:rPr dirty="0" sz="1200" spc="-5">
                          <a:latin typeface="Arial"/>
                          <a:cs typeface="Arial"/>
                        </a:rPr>
                        <a:t>interpretations and  </a:t>
                      </a:r>
                      <a:r>
                        <a:rPr dirty="0" sz="1200">
                          <a:latin typeface="Arial"/>
                          <a:cs typeface="Arial"/>
                        </a:rPr>
                        <a:t>e</a:t>
                      </a:r>
                      <a:r>
                        <a:rPr dirty="0" sz="1200" spc="-15">
                          <a:latin typeface="Arial"/>
                          <a:cs typeface="Arial"/>
                        </a:rPr>
                        <a:t>x</a:t>
                      </a:r>
                      <a:r>
                        <a:rPr dirty="0" sz="1200">
                          <a:latin typeface="Arial"/>
                          <a:cs typeface="Arial"/>
                        </a:rPr>
                        <a:t>t</a:t>
                      </a:r>
                      <a:r>
                        <a:rPr dirty="0" sz="1200" spc="5">
                          <a:latin typeface="Arial"/>
                          <a:cs typeface="Arial"/>
                        </a:rPr>
                        <a:t>e</a:t>
                      </a:r>
                      <a:r>
                        <a:rPr dirty="0" sz="1200">
                          <a:latin typeface="Arial"/>
                          <a:cs typeface="Arial"/>
                        </a:rPr>
                        <a:t>nsio</a:t>
                      </a:r>
                      <a:r>
                        <a:rPr dirty="0" sz="1200" spc="5">
                          <a:latin typeface="Arial"/>
                          <a:cs typeface="Arial"/>
                        </a:rPr>
                        <a:t>n</a:t>
                      </a:r>
                      <a:r>
                        <a:rPr dirty="0" sz="1200">
                          <a:latin typeface="Arial"/>
                          <a:cs typeface="Arial"/>
                        </a:rPr>
                        <a:t>s		</a:t>
                      </a:r>
                      <a:r>
                        <a:rPr dirty="0" sz="1200" spc="-10">
                          <a:latin typeface="Arial"/>
                          <a:cs typeface="Arial"/>
                        </a:rPr>
                        <a:t>o</a:t>
                      </a:r>
                      <a:r>
                        <a:rPr dirty="0" sz="1200">
                          <a:latin typeface="Arial"/>
                          <a:cs typeface="Arial"/>
                        </a:rPr>
                        <a:t>f  </a:t>
                      </a:r>
                      <a:r>
                        <a:rPr dirty="0" sz="1200" spc="-5">
                          <a:latin typeface="Arial"/>
                          <a:cs typeface="Arial"/>
                        </a:rPr>
                        <a:t>Judaism.</a:t>
                      </a:r>
                      <a:endParaRPr sz="1200">
                        <a:latin typeface="Arial"/>
                        <a:cs typeface="Arial"/>
                      </a:endParaRPr>
                    </a:p>
                  </a:txBody>
                  <a:tcPr marL="0" marR="0" marB="0" marT="43815">
                    <a:lnL w="9525">
                      <a:solidFill>
                        <a:srgbClr val="9F9F9F"/>
                      </a:solidFill>
                      <a:prstDash val="solid"/>
                    </a:lnL>
                    <a:lnR w="9525">
                      <a:solidFill>
                        <a:srgbClr val="9F9F9F"/>
                      </a:solidFill>
                      <a:prstDash val="solid"/>
                    </a:lnR>
                    <a:lnT w="9525">
                      <a:solidFill>
                        <a:srgbClr val="9F9F9F"/>
                      </a:solidFill>
                      <a:prstDash val="solid"/>
                    </a:lnT>
                    <a:lnB w="9525">
                      <a:solidFill>
                        <a:srgbClr val="9F9F9F"/>
                      </a:solidFill>
                      <a:prstDash val="solid"/>
                    </a:lnB>
                  </a:tcPr>
                </a:tc>
                <a:tc>
                  <a:txBody>
                    <a:bodyPr/>
                    <a:lstStyle/>
                    <a:p>
                      <a:pPr>
                        <a:lnSpc>
                          <a:spcPct val="100000"/>
                        </a:lnSpc>
                        <a:spcBef>
                          <a:spcPts val="40"/>
                        </a:spcBef>
                      </a:pPr>
                      <a:endParaRPr sz="1550">
                        <a:latin typeface="Times New Roman"/>
                        <a:cs typeface="Times New Roman"/>
                      </a:endParaRPr>
                    </a:p>
                    <a:p>
                      <a:pPr algn="just" marL="52069" marR="50800">
                        <a:lnSpc>
                          <a:spcPts val="1380"/>
                        </a:lnSpc>
                      </a:pPr>
                      <a:r>
                        <a:rPr dirty="0" sz="1200" spc="-5">
                          <a:latin typeface="Arial"/>
                          <a:cs typeface="Arial"/>
                        </a:rPr>
                        <a:t>Judaism is a true religion,  but with incomplete  revelation. Islam is a  </a:t>
                      </a:r>
                      <a:r>
                        <a:rPr dirty="0" sz="1200">
                          <a:latin typeface="Arial"/>
                          <a:cs typeface="Arial"/>
                        </a:rPr>
                        <a:t>false</a:t>
                      </a:r>
                      <a:r>
                        <a:rPr dirty="0" sz="1200" spc="-5">
                          <a:latin typeface="Arial"/>
                          <a:cs typeface="Arial"/>
                        </a:rPr>
                        <a:t> religion.</a:t>
                      </a:r>
                      <a:endParaRPr sz="1200">
                        <a:latin typeface="Arial"/>
                        <a:cs typeface="Arial"/>
                      </a:endParaRPr>
                    </a:p>
                  </a:txBody>
                  <a:tcPr marL="0" marR="0" marB="0" marT="5080">
                    <a:lnL w="9525">
                      <a:solidFill>
                        <a:srgbClr val="9F9F9F"/>
                      </a:solidFill>
                      <a:prstDash val="solid"/>
                    </a:lnL>
                    <a:lnR w="19050">
                      <a:solidFill>
                        <a:srgbClr val="9F9F9F"/>
                      </a:solidFill>
                      <a:prstDash val="solid"/>
                    </a:lnR>
                    <a:lnT w="9525">
                      <a:solidFill>
                        <a:srgbClr val="9F9F9F"/>
                      </a:solidFill>
                      <a:prstDash val="solid"/>
                    </a:lnT>
                    <a:lnB w="9525">
                      <a:solidFill>
                        <a:srgbClr val="9F9F9F"/>
                      </a:solidFill>
                      <a:prstDash val="solid"/>
                    </a:lnB>
                  </a:tcPr>
                </a:tc>
              </a:tr>
            </a:tbl>
          </a:graphicData>
        </a:graphic>
      </p:graphicFrame>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8" name="object 8"/>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170</a:t>
            </a:r>
            <a:endParaRPr sz="1200">
              <a:latin typeface="Times New Roman"/>
              <a:cs typeface="Times New Roman"/>
            </a:endParaRPr>
          </a:p>
        </p:txBody>
      </p:sp>
      <p:sp>
        <p:nvSpPr>
          <p:cNvPr id="6" name="object 6"/>
          <p:cNvSpPr txBox="1"/>
          <p:nvPr/>
        </p:nvSpPr>
        <p:spPr>
          <a:xfrm>
            <a:off x="534416" y="7920990"/>
            <a:ext cx="6305550" cy="1689735"/>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Additional Material </a:t>
            </a:r>
            <a:r>
              <a:rPr dirty="0" u="heavy" sz="1200" spc="-10" b="1" i="1">
                <a:uFill>
                  <a:solidFill>
                    <a:srgbClr val="000000"/>
                  </a:solidFill>
                </a:uFill>
                <a:latin typeface="Arial"/>
                <a:cs typeface="Arial"/>
              </a:rPr>
              <a:t>For </a:t>
            </a:r>
            <a:r>
              <a:rPr dirty="0" u="heavy" sz="1200" spc="-5" b="1" i="1">
                <a:uFill>
                  <a:solidFill>
                    <a:srgbClr val="000000"/>
                  </a:solidFill>
                </a:uFill>
                <a:latin typeface="Arial"/>
                <a:cs typeface="Arial"/>
              </a:rPr>
              <a:t>Past</a:t>
            </a:r>
            <a:r>
              <a:rPr dirty="0" u="heavy" sz="1200" spc="10" b="1" i="1">
                <a:uFill>
                  <a:solidFill>
                    <a:srgbClr val="000000"/>
                  </a:solidFill>
                </a:uFill>
                <a:latin typeface="Arial"/>
                <a:cs typeface="Arial"/>
              </a:rPr>
              <a:t> </a:t>
            </a:r>
            <a:r>
              <a:rPr dirty="0" u="heavy" sz="1200" b="1" i="1">
                <a:uFill>
                  <a:solidFill>
                    <a:srgbClr val="000000"/>
                  </a:solidFill>
                </a:uFill>
                <a:latin typeface="Arial"/>
                <a:cs typeface="Arial"/>
              </a:rPr>
              <a:t>Questions</a:t>
            </a:r>
            <a:endParaRPr sz="1200">
              <a:latin typeface="Arial"/>
              <a:cs typeface="Arial"/>
            </a:endParaRPr>
          </a:p>
          <a:p>
            <a:pPr marL="12700">
              <a:lnSpc>
                <a:spcPct val="100000"/>
              </a:lnSpc>
              <a:spcBef>
                <a:spcPts val="1140"/>
              </a:spcBef>
            </a:pPr>
            <a:r>
              <a:rPr dirty="0" u="heavy" sz="1200" spc="-5" b="1" i="1">
                <a:uFill>
                  <a:solidFill>
                    <a:srgbClr val="000000"/>
                  </a:solidFill>
                </a:uFill>
                <a:latin typeface="Arial"/>
                <a:cs typeface="Arial"/>
              </a:rPr>
              <a:t>Comparing Judaism, </a:t>
            </a:r>
            <a:r>
              <a:rPr dirty="0" u="heavy" sz="1200" b="1" i="1">
                <a:uFill>
                  <a:solidFill>
                    <a:srgbClr val="000000"/>
                  </a:solidFill>
                </a:uFill>
                <a:latin typeface="Arial"/>
                <a:cs typeface="Arial"/>
              </a:rPr>
              <a:t>Islam, and</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Christianity</a:t>
            </a:r>
            <a:endParaRPr sz="1200">
              <a:latin typeface="Arial"/>
              <a:cs typeface="Arial"/>
            </a:endParaRPr>
          </a:p>
          <a:p>
            <a:pPr algn="just" marL="12700" marR="5080">
              <a:lnSpc>
                <a:spcPts val="1380"/>
              </a:lnSpc>
              <a:spcBef>
                <a:spcPts val="840"/>
              </a:spcBef>
            </a:pPr>
            <a:r>
              <a:rPr dirty="0" sz="1200" spc="-5">
                <a:latin typeface="Arial"/>
                <a:cs typeface="Arial"/>
              </a:rPr>
              <a:t>Judaism, Islam, and Christianity </a:t>
            </a:r>
            <a:r>
              <a:rPr dirty="0" sz="1200">
                <a:latin typeface="Arial"/>
                <a:cs typeface="Arial"/>
              </a:rPr>
              <a:t>make </a:t>
            </a:r>
            <a:r>
              <a:rPr dirty="0" sz="1200" spc="-5">
                <a:latin typeface="Arial"/>
                <a:cs typeface="Arial"/>
              </a:rPr>
              <a:t>up the three largest religions in the world. These </a:t>
            </a:r>
            <a:r>
              <a:rPr dirty="0" sz="1200" spc="-10">
                <a:latin typeface="Arial"/>
                <a:cs typeface="Arial"/>
              </a:rPr>
              <a:t>top  </a:t>
            </a:r>
            <a:r>
              <a:rPr dirty="0" sz="1200">
                <a:latin typeface="Arial"/>
                <a:cs typeface="Arial"/>
              </a:rPr>
              <a:t>three </a:t>
            </a:r>
            <a:r>
              <a:rPr dirty="0" sz="1200" spc="-5">
                <a:latin typeface="Arial"/>
                <a:cs typeface="Arial"/>
              </a:rPr>
              <a:t>religions have many similarities and differences. Among </a:t>
            </a:r>
            <a:r>
              <a:rPr dirty="0" sz="1200">
                <a:latin typeface="Arial"/>
                <a:cs typeface="Arial"/>
              </a:rPr>
              <a:t>their </a:t>
            </a:r>
            <a:r>
              <a:rPr dirty="0" sz="1200" spc="-5">
                <a:latin typeface="Arial"/>
                <a:cs typeface="Arial"/>
              </a:rPr>
              <a:t>major similarities is their  common regard </a:t>
            </a:r>
            <a:r>
              <a:rPr dirty="0" sz="1200">
                <a:latin typeface="Arial"/>
                <a:cs typeface="Arial"/>
              </a:rPr>
              <a:t>for </a:t>
            </a:r>
            <a:r>
              <a:rPr dirty="0" sz="1200" spc="-5">
                <a:latin typeface="Arial"/>
                <a:cs typeface="Arial"/>
              </a:rPr>
              <a:t>historical and religious figure named Abraham. Two other major  similarities are </a:t>
            </a:r>
            <a:r>
              <a:rPr dirty="0" sz="1200">
                <a:latin typeface="Arial"/>
                <a:cs typeface="Arial"/>
              </a:rPr>
              <a:t>their </a:t>
            </a:r>
            <a:r>
              <a:rPr dirty="0" sz="1200" spc="-5">
                <a:latin typeface="Arial"/>
                <a:cs typeface="Arial"/>
              </a:rPr>
              <a:t>belief in monotheism and Jerusalem as a holy city. </a:t>
            </a:r>
            <a:r>
              <a:rPr dirty="0" sz="1200" spc="5">
                <a:latin typeface="Arial"/>
                <a:cs typeface="Arial"/>
              </a:rPr>
              <a:t>While </a:t>
            </a:r>
            <a:r>
              <a:rPr dirty="0" sz="1200" spc="-5">
                <a:latin typeface="Arial"/>
                <a:cs typeface="Arial"/>
              </a:rPr>
              <a:t>these  similarities are </a:t>
            </a:r>
            <a:r>
              <a:rPr dirty="0" sz="1200">
                <a:latin typeface="Arial"/>
                <a:cs typeface="Arial"/>
              </a:rPr>
              <a:t>significant, </a:t>
            </a:r>
            <a:r>
              <a:rPr dirty="0" sz="1200" spc="-5">
                <a:latin typeface="Arial"/>
                <a:cs typeface="Arial"/>
              </a:rPr>
              <a:t>they also have </a:t>
            </a:r>
            <a:r>
              <a:rPr dirty="0" sz="1200">
                <a:latin typeface="Arial"/>
                <a:cs typeface="Arial"/>
              </a:rPr>
              <a:t>many </a:t>
            </a:r>
            <a:r>
              <a:rPr dirty="0" sz="1200" spc="-5">
                <a:latin typeface="Arial"/>
                <a:cs typeface="Arial"/>
              </a:rPr>
              <a:t>differences. Their </a:t>
            </a:r>
            <a:r>
              <a:rPr dirty="0" sz="1200">
                <a:latin typeface="Arial"/>
                <a:cs typeface="Arial"/>
              </a:rPr>
              <a:t>differences </a:t>
            </a:r>
            <a:r>
              <a:rPr dirty="0" sz="1200" spc="-5">
                <a:latin typeface="Arial"/>
                <a:cs typeface="Arial"/>
              </a:rPr>
              <a:t>include: </a:t>
            </a:r>
            <a:r>
              <a:rPr dirty="0" sz="1200" spc="-10">
                <a:latin typeface="Arial"/>
                <a:cs typeface="Arial"/>
              </a:rPr>
              <a:t>their  </a:t>
            </a:r>
            <a:r>
              <a:rPr dirty="0" sz="1200" spc="-5">
                <a:latin typeface="Arial"/>
                <a:cs typeface="Arial"/>
              </a:rPr>
              <a:t>view </a:t>
            </a:r>
            <a:r>
              <a:rPr dirty="0" sz="1200">
                <a:latin typeface="Arial"/>
                <a:cs typeface="Arial"/>
              </a:rPr>
              <a:t>of </a:t>
            </a:r>
            <a:r>
              <a:rPr dirty="0" sz="1200" spc="-5">
                <a:latin typeface="Arial"/>
                <a:cs typeface="Arial"/>
              </a:rPr>
              <a:t>Jesus Christ, religious texts, and how </a:t>
            </a:r>
            <a:r>
              <a:rPr dirty="0" sz="1200">
                <a:latin typeface="Arial"/>
                <a:cs typeface="Arial"/>
              </a:rPr>
              <a:t>they </a:t>
            </a:r>
            <a:r>
              <a:rPr dirty="0" sz="1200" spc="-5">
                <a:latin typeface="Arial"/>
                <a:cs typeface="Arial"/>
              </a:rPr>
              <a:t>approach God in prayer. If all</a:t>
            </a:r>
            <a:r>
              <a:rPr dirty="0" sz="1200" spc="300">
                <a:latin typeface="Arial"/>
                <a:cs typeface="Arial"/>
              </a:rPr>
              <a:t> </a:t>
            </a:r>
            <a:r>
              <a:rPr dirty="0" sz="1200" spc="-5">
                <a:latin typeface="Arial"/>
                <a:cs typeface="Arial"/>
              </a:rPr>
              <a:t>three</a:t>
            </a:r>
            <a:endParaRPr sz="1200">
              <a:latin typeface="Arial"/>
              <a:cs typeface="Arial"/>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900" cy="936879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10795">
              <a:lnSpc>
                <a:spcPts val="1380"/>
              </a:lnSpc>
            </a:pPr>
            <a:r>
              <a:rPr dirty="0" sz="1200" spc="-5">
                <a:latin typeface="Arial"/>
                <a:cs typeface="Arial"/>
              </a:rPr>
              <a:t>religions hold steadfast </a:t>
            </a:r>
            <a:r>
              <a:rPr dirty="0" sz="1200">
                <a:latin typeface="Arial"/>
                <a:cs typeface="Arial"/>
              </a:rPr>
              <a:t>to their </a:t>
            </a:r>
            <a:r>
              <a:rPr dirty="0" sz="1200" spc="-5">
                <a:latin typeface="Arial"/>
                <a:cs typeface="Arial"/>
              </a:rPr>
              <a:t>core religious beliefs, then reconciliation and unity </a:t>
            </a:r>
            <a:r>
              <a:rPr dirty="0" sz="1200">
                <a:latin typeface="Arial"/>
                <a:cs typeface="Arial"/>
              </a:rPr>
              <a:t>among  </a:t>
            </a:r>
            <a:r>
              <a:rPr dirty="0" sz="1200" spc="-5">
                <a:latin typeface="Arial"/>
                <a:cs typeface="Arial"/>
              </a:rPr>
              <a:t>them </a:t>
            </a:r>
            <a:r>
              <a:rPr dirty="0" sz="1200" spc="-10">
                <a:latin typeface="Arial"/>
                <a:cs typeface="Arial"/>
              </a:rPr>
              <a:t>will </a:t>
            </a:r>
            <a:r>
              <a:rPr dirty="0" sz="1200" spc="-5">
                <a:latin typeface="Arial"/>
                <a:cs typeface="Arial"/>
              </a:rPr>
              <a:t>never </a:t>
            </a:r>
            <a:r>
              <a:rPr dirty="0" sz="1200">
                <a:latin typeface="Arial"/>
                <a:cs typeface="Arial"/>
              </a:rPr>
              <a:t>take </a:t>
            </a:r>
            <a:r>
              <a:rPr dirty="0" sz="1200" spc="-5">
                <a:latin typeface="Arial"/>
                <a:cs typeface="Arial"/>
              </a:rPr>
              <a:t>place. However even in their disagreements, they </a:t>
            </a:r>
            <a:r>
              <a:rPr dirty="0" sz="1200">
                <a:latin typeface="Arial"/>
                <a:cs typeface="Arial"/>
              </a:rPr>
              <a:t>do </a:t>
            </a:r>
            <a:r>
              <a:rPr dirty="0" sz="1200" spc="-5">
                <a:latin typeface="Arial"/>
                <a:cs typeface="Arial"/>
              </a:rPr>
              <a:t>have</a:t>
            </a:r>
            <a:r>
              <a:rPr dirty="0" sz="1200" spc="120">
                <a:latin typeface="Arial"/>
                <a:cs typeface="Arial"/>
              </a:rPr>
              <a:t> </a:t>
            </a:r>
            <a:r>
              <a:rPr dirty="0" sz="1200">
                <a:latin typeface="Arial"/>
                <a:cs typeface="Arial"/>
              </a:rPr>
              <a:t>similarities.</a:t>
            </a:r>
            <a:endParaRPr sz="1200">
              <a:latin typeface="Arial"/>
              <a:cs typeface="Arial"/>
            </a:endParaRPr>
          </a:p>
          <a:p>
            <a:pPr algn="just" marL="12700" marR="5080">
              <a:lnSpc>
                <a:spcPct val="95800"/>
              </a:lnSpc>
              <a:spcBef>
                <a:spcPts val="965"/>
              </a:spcBef>
            </a:pPr>
            <a:r>
              <a:rPr dirty="0" sz="1200">
                <a:latin typeface="Arial"/>
                <a:cs typeface="Arial"/>
              </a:rPr>
              <a:t>One </a:t>
            </a:r>
            <a:r>
              <a:rPr dirty="0" sz="1200" spc="-5">
                <a:latin typeface="Arial"/>
                <a:cs typeface="Arial"/>
              </a:rPr>
              <a:t>important similarity </a:t>
            </a:r>
            <a:r>
              <a:rPr dirty="0" sz="1200">
                <a:latin typeface="Arial"/>
                <a:cs typeface="Arial"/>
              </a:rPr>
              <a:t>among all </a:t>
            </a:r>
            <a:r>
              <a:rPr dirty="0" sz="1200" spc="-5">
                <a:latin typeface="Arial"/>
                <a:cs typeface="Arial"/>
              </a:rPr>
              <a:t>three religions is </a:t>
            </a:r>
            <a:r>
              <a:rPr dirty="0" sz="1200">
                <a:latin typeface="Arial"/>
                <a:cs typeface="Arial"/>
              </a:rPr>
              <a:t>the </a:t>
            </a:r>
            <a:r>
              <a:rPr dirty="0" sz="1200" spc="-5">
                <a:latin typeface="Arial"/>
                <a:cs typeface="Arial"/>
              </a:rPr>
              <a:t>importance </a:t>
            </a:r>
            <a:r>
              <a:rPr dirty="0" sz="1200">
                <a:latin typeface="Arial"/>
                <a:cs typeface="Arial"/>
              </a:rPr>
              <a:t>they </a:t>
            </a:r>
            <a:r>
              <a:rPr dirty="0" sz="1200" spc="-5">
                <a:latin typeface="Arial"/>
                <a:cs typeface="Arial"/>
              </a:rPr>
              <a:t>place on the  historical figure Abraham. </a:t>
            </a:r>
            <a:r>
              <a:rPr dirty="0" sz="1200">
                <a:latin typeface="Arial"/>
                <a:cs typeface="Arial"/>
              </a:rPr>
              <a:t>In </a:t>
            </a:r>
            <a:r>
              <a:rPr dirty="0" sz="1200" spc="-5">
                <a:latin typeface="Arial"/>
                <a:cs typeface="Arial"/>
              </a:rPr>
              <a:t>Islam the life and faithfulness of Abraham is celebrated in a  variety </a:t>
            </a:r>
            <a:r>
              <a:rPr dirty="0" sz="1200">
                <a:latin typeface="Arial"/>
                <a:cs typeface="Arial"/>
              </a:rPr>
              <a:t>of </a:t>
            </a:r>
            <a:r>
              <a:rPr dirty="0" sz="1200" spc="-5">
                <a:latin typeface="Arial"/>
                <a:cs typeface="Arial"/>
              </a:rPr>
              <a:t>ways. </a:t>
            </a:r>
            <a:r>
              <a:rPr dirty="0" sz="1200">
                <a:latin typeface="Arial"/>
                <a:cs typeface="Arial"/>
              </a:rPr>
              <a:t>In the </a:t>
            </a:r>
            <a:r>
              <a:rPr dirty="0" sz="1200" spc="-5">
                <a:latin typeface="Arial"/>
                <a:cs typeface="Arial"/>
              </a:rPr>
              <a:t>five pillars </a:t>
            </a:r>
            <a:r>
              <a:rPr dirty="0" sz="1200">
                <a:latin typeface="Arial"/>
                <a:cs typeface="Arial"/>
              </a:rPr>
              <a:t>of </a:t>
            </a:r>
            <a:r>
              <a:rPr dirty="0" sz="1200" spc="-5">
                <a:latin typeface="Arial"/>
                <a:cs typeface="Arial"/>
              </a:rPr>
              <a:t>Islam, the fifth one called pilgrimage or hajj is used as a  remembrance of Abraham‘s willingness </a:t>
            </a:r>
            <a:r>
              <a:rPr dirty="0" sz="1200">
                <a:latin typeface="Arial"/>
                <a:cs typeface="Arial"/>
              </a:rPr>
              <a:t>to </a:t>
            </a:r>
            <a:r>
              <a:rPr dirty="0" sz="1200" spc="-5">
                <a:latin typeface="Arial"/>
                <a:cs typeface="Arial"/>
              </a:rPr>
              <a:t>sacrifice his own </a:t>
            </a:r>
            <a:r>
              <a:rPr dirty="0" sz="1200">
                <a:latin typeface="Arial"/>
                <a:cs typeface="Arial"/>
              </a:rPr>
              <a:t>son </a:t>
            </a:r>
            <a:r>
              <a:rPr dirty="0" sz="1200" spc="-5">
                <a:latin typeface="Arial"/>
                <a:cs typeface="Arial"/>
              </a:rPr>
              <a:t>to obey </a:t>
            </a:r>
            <a:r>
              <a:rPr dirty="0" sz="1200">
                <a:latin typeface="Arial"/>
                <a:cs typeface="Arial"/>
              </a:rPr>
              <a:t>God. </a:t>
            </a:r>
            <a:r>
              <a:rPr dirty="0" sz="1200" spc="-5">
                <a:latin typeface="Arial"/>
                <a:cs typeface="Arial"/>
              </a:rPr>
              <a:t>Another </a:t>
            </a:r>
            <a:r>
              <a:rPr dirty="0" sz="1200">
                <a:latin typeface="Arial"/>
                <a:cs typeface="Arial"/>
              </a:rPr>
              <a:t>way  that </a:t>
            </a:r>
            <a:r>
              <a:rPr dirty="0" sz="1200" spc="-5">
                <a:latin typeface="Arial"/>
                <a:cs typeface="Arial"/>
              </a:rPr>
              <a:t>Islam recognizes his importance is through </a:t>
            </a:r>
            <a:r>
              <a:rPr dirty="0" sz="1200">
                <a:latin typeface="Arial"/>
                <a:cs typeface="Arial"/>
              </a:rPr>
              <a:t>the Feast </a:t>
            </a:r>
            <a:r>
              <a:rPr dirty="0" sz="1200" spc="-5">
                <a:latin typeface="Arial"/>
                <a:cs typeface="Arial"/>
              </a:rPr>
              <a:t>of Sacrifice. </a:t>
            </a:r>
            <a:r>
              <a:rPr dirty="0" sz="1200">
                <a:latin typeface="Arial"/>
                <a:cs typeface="Arial"/>
              </a:rPr>
              <a:t>On the </a:t>
            </a:r>
            <a:r>
              <a:rPr dirty="0" sz="1200" spc="-5">
                <a:latin typeface="Arial"/>
                <a:cs typeface="Arial"/>
              </a:rPr>
              <a:t>tenth day of  pilgrimage month the head of each Islamic </a:t>
            </a:r>
            <a:r>
              <a:rPr dirty="0" sz="1200">
                <a:latin typeface="Arial"/>
                <a:cs typeface="Arial"/>
              </a:rPr>
              <a:t>household </a:t>
            </a:r>
            <a:r>
              <a:rPr dirty="0" sz="1200" spc="-5">
                <a:latin typeface="Arial"/>
                <a:cs typeface="Arial"/>
              </a:rPr>
              <a:t>is </a:t>
            </a:r>
            <a:r>
              <a:rPr dirty="0" sz="1200">
                <a:latin typeface="Arial"/>
                <a:cs typeface="Arial"/>
              </a:rPr>
              <a:t>to </a:t>
            </a:r>
            <a:r>
              <a:rPr dirty="0" sz="1200" spc="-5">
                <a:latin typeface="Arial"/>
                <a:cs typeface="Arial"/>
              </a:rPr>
              <a:t>kill an animal </a:t>
            </a:r>
            <a:r>
              <a:rPr dirty="0" sz="1200">
                <a:latin typeface="Arial"/>
                <a:cs typeface="Arial"/>
              </a:rPr>
              <a:t>and </a:t>
            </a:r>
            <a:r>
              <a:rPr dirty="0" sz="1200" spc="-5">
                <a:latin typeface="Arial"/>
                <a:cs typeface="Arial"/>
              </a:rPr>
              <a:t>provide a feast.  </a:t>
            </a:r>
            <a:r>
              <a:rPr dirty="0" sz="1200">
                <a:latin typeface="Arial"/>
                <a:cs typeface="Arial"/>
              </a:rPr>
              <a:t>As </a:t>
            </a:r>
            <a:r>
              <a:rPr dirty="0" sz="1200" spc="-5">
                <a:latin typeface="Arial"/>
                <a:cs typeface="Arial"/>
              </a:rPr>
              <a:t>Abraham </a:t>
            </a:r>
            <a:r>
              <a:rPr dirty="0" sz="1200" spc="-10">
                <a:latin typeface="Arial"/>
                <a:cs typeface="Arial"/>
              </a:rPr>
              <a:t>plays </a:t>
            </a:r>
            <a:r>
              <a:rPr dirty="0" sz="1200" spc="-5">
                <a:latin typeface="Arial"/>
                <a:cs typeface="Arial"/>
              </a:rPr>
              <a:t>an important role in the </a:t>
            </a:r>
            <a:r>
              <a:rPr dirty="0" sz="1200">
                <a:latin typeface="Arial"/>
                <a:cs typeface="Arial"/>
              </a:rPr>
              <a:t>faith </a:t>
            </a:r>
            <a:r>
              <a:rPr dirty="0" sz="1200" spc="-5">
                <a:latin typeface="Arial"/>
                <a:cs typeface="Arial"/>
              </a:rPr>
              <a:t>of the Islamic people, </a:t>
            </a:r>
            <a:r>
              <a:rPr dirty="0" sz="1200" spc="-10">
                <a:latin typeface="Arial"/>
                <a:cs typeface="Arial"/>
              </a:rPr>
              <a:t>he </a:t>
            </a:r>
            <a:r>
              <a:rPr dirty="0" sz="1200" spc="-5">
                <a:latin typeface="Arial"/>
                <a:cs typeface="Arial"/>
              </a:rPr>
              <a:t>is equally revered in  Judaism. He is seen as </a:t>
            </a:r>
            <a:r>
              <a:rPr dirty="0" sz="1200">
                <a:latin typeface="Arial"/>
                <a:cs typeface="Arial"/>
              </a:rPr>
              <a:t>the </a:t>
            </a:r>
            <a:r>
              <a:rPr dirty="0" sz="1200" spc="-5">
                <a:latin typeface="Arial"/>
                <a:cs typeface="Arial"/>
              </a:rPr>
              <a:t>father of the Jewish </a:t>
            </a:r>
            <a:r>
              <a:rPr dirty="0" sz="1200">
                <a:latin typeface="Arial"/>
                <a:cs typeface="Arial"/>
              </a:rPr>
              <a:t>faith, </a:t>
            </a:r>
            <a:r>
              <a:rPr dirty="0" sz="1200" spc="-10">
                <a:latin typeface="Arial"/>
                <a:cs typeface="Arial"/>
              </a:rPr>
              <a:t>he </a:t>
            </a:r>
            <a:r>
              <a:rPr dirty="0" sz="1200" spc="-5">
                <a:latin typeface="Arial"/>
                <a:cs typeface="Arial"/>
              </a:rPr>
              <a:t>is also </a:t>
            </a:r>
            <a:r>
              <a:rPr dirty="0" sz="1200" spc="-10">
                <a:latin typeface="Arial"/>
                <a:cs typeface="Arial"/>
              </a:rPr>
              <a:t>known </a:t>
            </a:r>
            <a:r>
              <a:rPr dirty="0" sz="1200" spc="-5">
                <a:latin typeface="Arial"/>
                <a:cs typeface="Arial"/>
              </a:rPr>
              <a:t>as </a:t>
            </a:r>
            <a:r>
              <a:rPr dirty="0" sz="1200">
                <a:latin typeface="Arial"/>
                <a:cs typeface="Arial"/>
              </a:rPr>
              <a:t>the </a:t>
            </a:r>
            <a:r>
              <a:rPr dirty="0" sz="1200" spc="-5">
                <a:latin typeface="Arial"/>
                <a:cs typeface="Arial"/>
              </a:rPr>
              <a:t>patriarch of the  Jewish people. It is believed </a:t>
            </a:r>
            <a:r>
              <a:rPr dirty="0" sz="1200">
                <a:latin typeface="Arial"/>
                <a:cs typeface="Arial"/>
              </a:rPr>
              <a:t>that </a:t>
            </a:r>
            <a:r>
              <a:rPr dirty="0" sz="1200" spc="-5">
                <a:latin typeface="Arial"/>
                <a:cs typeface="Arial"/>
              </a:rPr>
              <a:t>Abraham established a covenant with </a:t>
            </a:r>
            <a:r>
              <a:rPr dirty="0" sz="1200">
                <a:latin typeface="Arial"/>
                <a:cs typeface="Arial"/>
              </a:rPr>
              <a:t>God </a:t>
            </a:r>
            <a:r>
              <a:rPr dirty="0" sz="1200" spc="-5">
                <a:latin typeface="Arial"/>
                <a:cs typeface="Arial"/>
              </a:rPr>
              <a:t>after being  obedient in his willingness </a:t>
            </a:r>
            <a:r>
              <a:rPr dirty="0" sz="1200">
                <a:latin typeface="Arial"/>
                <a:cs typeface="Arial"/>
              </a:rPr>
              <a:t>to </a:t>
            </a:r>
            <a:r>
              <a:rPr dirty="0" sz="1200" spc="-5">
                <a:latin typeface="Arial"/>
                <a:cs typeface="Arial"/>
              </a:rPr>
              <a:t>sacrifice his </a:t>
            </a:r>
            <a:r>
              <a:rPr dirty="0" sz="1200">
                <a:latin typeface="Arial"/>
                <a:cs typeface="Arial"/>
              </a:rPr>
              <a:t>son. The </a:t>
            </a:r>
            <a:r>
              <a:rPr dirty="0" sz="1200" spc="-5">
                <a:latin typeface="Arial"/>
                <a:cs typeface="Arial"/>
              </a:rPr>
              <a:t>importance of Abraham is also seen in  </a:t>
            </a:r>
            <a:r>
              <a:rPr dirty="0" sz="1200">
                <a:latin typeface="Arial"/>
                <a:cs typeface="Arial"/>
              </a:rPr>
              <a:t>the </a:t>
            </a:r>
            <a:r>
              <a:rPr dirty="0" sz="1200" spc="-5">
                <a:latin typeface="Arial"/>
                <a:cs typeface="Arial"/>
              </a:rPr>
              <a:t>tradition of circumcision. </a:t>
            </a:r>
            <a:r>
              <a:rPr dirty="0" sz="1200" spc="-105">
                <a:latin typeface="Arial"/>
                <a:cs typeface="Arial"/>
              </a:rPr>
              <a:t>―Genesis </a:t>
            </a:r>
            <a:r>
              <a:rPr dirty="0" sz="1200" spc="-5">
                <a:latin typeface="Arial"/>
                <a:cs typeface="Arial"/>
              </a:rPr>
              <a:t>traces </a:t>
            </a:r>
            <a:r>
              <a:rPr dirty="0" sz="1200">
                <a:latin typeface="Arial"/>
                <a:cs typeface="Arial"/>
              </a:rPr>
              <a:t>the </a:t>
            </a:r>
            <a:r>
              <a:rPr dirty="0" sz="1200" spc="-5">
                <a:latin typeface="Arial"/>
                <a:cs typeface="Arial"/>
              </a:rPr>
              <a:t>ritual </a:t>
            </a:r>
            <a:r>
              <a:rPr dirty="0" sz="1200">
                <a:latin typeface="Arial"/>
                <a:cs typeface="Arial"/>
              </a:rPr>
              <a:t>back to a </a:t>
            </a:r>
            <a:r>
              <a:rPr dirty="0" sz="1200" spc="-5">
                <a:latin typeface="Arial"/>
                <a:cs typeface="Arial"/>
              </a:rPr>
              <a:t>commandment of </a:t>
            </a:r>
            <a:r>
              <a:rPr dirty="0" sz="1200">
                <a:latin typeface="Arial"/>
                <a:cs typeface="Arial"/>
              </a:rPr>
              <a:t>God </a:t>
            </a:r>
            <a:r>
              <a:rPr dirty="0" sz="1200" spc="-5">
                <a:latin typeface="Arial"/>
                <a:cs typeface="Arial"/>
              </a:rPr>
              <a:t>to  Abraham (Genesis 17:10, </a:t>
            </a:r>
            <a:r>
              <a:rPr dirty="0" sz="1200" spc="-30">
                <a:latin typeface="Arial"/>
                <a:cs typeface="Arial"/>
              </a:rPr>
              <a:t>11)‖ </a:t>
            </a:r>
            <a:r>
              <a:rPr dirty="0" sz="1200">
                <a:latin typeface="Arial"/>
                <a:cs typeface="Arial"/>
              </a:rPr>
              <a:t>In </a:t>
            </a:r>
            <a:r>
              <a:rPr dirty="0" sz="1200" spc="-5">
                <a:latin typeface="Arial"/>
                <a:cs typeface="Arial"/>
              </a:rPr>
              <a:t>the </a:t>
            </a:r>
            <a:r>
              <a:rPr dirty="0" sz="1200">
                <a:latin typeface="Arial"/>
                <a:cs typeface="Arial"/>
              </a:rPr>
              <a:t>Old </a:t>
            </a:r>
            <a:r>
              <a:rPr dirty="0" sz="1200" spc="-5">
                <a:latin typeface="Arial"/>
                <a:cs typeface="Arial"/>
              </a:rPr>
              <a:t>Testament God told Abraham that </a:t>
            </a:r>
            <a:r>
              <a:rPr dirty="0" sz="1200">
                <a:latin typeface="Arial"/>
                <a:cs typeface="Arial"/>
              </a:rPr>
              <a:t>he </a:t>
            </a:r>
            <a:r>
              <a:rPr dirty="0" sz="1200" spc="-5">
                <a:latin typeface="Arial"/>
                <a:cs typeface="Arial"/>
              </a:rPr>
              <a:t>would </a:t>
            </a:r>
            <a:r>
              <a:rPr dirty="0" sz="1200">
                <a:latin typeface="Arial"/>
                <a:cs typeface="Arial"/>
              </a:rPr>
              <a:t>be </a:t>
            </a:r>
            <a:r>
              <a:rPr dirty="0" sz="1200" spc="-5">
                <a:latin typeface="Arial"/>
                <a:cs typeface="Arial"/>
              </a:rPr>
              <a:t>the  </a:t>
            </a:r>
            <a:r>
              <a:rPr dirty="0" sz="1200">
                <a:latin typeface="Arial"/>
                <a:cs typeface="Arial"/>
              </a:rPr>
              <a:t>father </a:t>
            </a:r>
            <a:r>
              <a:rPr dirty="0" sz="1200" spc="-5">
                <a:latin typeface="Arial"/>
                <a:cs typeface="Arial"/>
              </a:rPr>
              <a:t>of a great nation, which Judaism considers </a:t>
            </a:r>
            <a:r>
              <a:rPr dirty="0" sz="1200">
                <a:latin typeface="Arial"/>
                <a:cs typeface="Arial"/>
              </a:rPr>
              <a:t>to </a:t>
            </a:r>
            <a:r>
              <a:rPr dirty="0" sz="1200" spc="-5">
                <a:latin typeface="Arial"/>
                <a:cs typeface="Arial"/>
              </a:rPr>
              <a:t>be Israel. Christianity also has a </a:t>
            </a:r>
            <a:r>
              <a:rPr dirty="0" sz="1200" spc="-10">
                <a:latin typeface="Arial"/>
                <a:cs typeface="Arial"/>
              </a:rPr>
              <a:t>high  </a:t>
            </a:r>
            <a:r>
              <a:rPr dirty="0" sz="1200" spc="-5">
                <a:latin typeface="Arial"/>
                <a:cs typeface="Arial"/>
              </a:rPr>
              <a:t>regard </a:t>
            </a:r>
            <a:r>
              <a:rPr dirty="0" sz="1200">
                <a:latin typeface="Arial"/>
                <a:cs typeface="Arial"/>
              </a:rPr>
              <a:t>for </a:t>
            </a:r>
            <a:r>
              <a:rPr dirty="0" sz="1200" spc="-5">
                <a:latin typeface="Arial"/>
                <a:cs typeface="Arial"/>
              </a:rPr>
              <a:t>Abraham. He is spoken highly </a:t>
            </a:r>
            <a:r>
              <a:rPr dirty="0" sz="1200">
                <a:latin typeface="Arial"/>
                <a:cs typeface="Arial"/>
              </a:rPr>
              <a:t>in </a:t>
            </a:r>
            <a:r>
              <a:rPr dirty="0" sz="1200" spc="-5">
                <a:latin typeface="Arial"/>
                <a:cs typeface="Arial"/>
              </a:rPr>
              <a:t>both the </a:t>
            </a:r>
            <a:r>
              <a:rPr dirty="0" sz="1200">
                <a:latin typeface="Arial"/>
                <a:cs typeface="Arial"/>
              </a:rPr>
              <a:t>Old </a:t>
            </a:r>
            <a:r>
              <a:rPr dirty="0" sz="1200" spc="-5">
                <a:latin typeface="Arial"/>
                <a:cs typeface="Arial"/>
              </a:rPr>
              <a:t>and New Testaments. </a:t>
            </a:r>
            <a:r>
              <a:rPr dirty="0" sz="1200" spc="5">
                <a:latin typeface="Arial"/>
                <a:cs typeface="Arial"/>
              </a:rPr>
              <a:t>The </a:t>
            </a:r>
            <a:r>
              <a:rPr dirty="0" sz="1200" spc="-5">
                <a:latin typeface="Arial"/>
                <a:cs typeface="Arial"/>
              </a:rPr>
              <a:t>New  Testament evangelists and early church of Christianity recognized Abraham </a:t>
            </a:r>
            <a:r>
              <a:rPr dirty="0" sz="1200">
                <a:latin typeface="Arial"/>
                <a:cs typeface="Arial"/>
              </a:rPr>
              <a:t>for </a:t>
            </a:r>
            <a:r>
              <a:rPr dirty="0" sz="1200" spc="-5">
                <a:latin typeface="Arial"/>
                <a:cs typeface="Arial"/>
              </a:rPr>
              <a:t>his covenant  with </a:t>
            </a:r>
            <a:r>
              <a:rPr dirty="0" sz="1200">
                <a:latin typeface="Arial"/>
                <a:cs typeface="Arial"/>
              </a:rPr>
              <a:t>God. </a:t>
            </a:r>
            <a:r>
              <a:rPr dirty="0" sz="1200" spc="-5">
                <a:latin typeface="Arial"/>
                <a:cs typeface="Arial"/>
              </a:rPr>
              <a:t>Jesus Christ, </a:t>
            </a:r>
            <a:r>
              <a:rPr dirty="0" sz="1200">
                <a:latin typeface="Arial"/>
                <a:cs typeface="Arial"/>
              </a:rPr>
              <a:t>the </a:t>
            </a:r>
            <a:r>
              <a:rPr dirty="0" sz="1200" spc="-5">
                <a:latin typeface="Arial"/>
                <a:cs typeface="Arial"/>
              </a:rPr>
              <a:t>founder of Christianity, speaks of Abraham </a:t>
            </a:r>
            <a:r>
              <a:rPr dirty="0" sz="1200">
                <a:latin typeface="Arial"/>
                <a:cs typeface="Arial"/>
              </a:rPr>
              <a:t>and </a:t>
            </a:r>
            <a:r>
              <a:rPr dirty="0" sz="1200" spc="-5">
                <a:latin typeface="Arial"/>
                <a:cs typeface="Arial"/>
              </a:rPr>
              <a:t>the importance of  his early covenant. </a:t>
            </a:r>
            <a:r>
              <a:rPr dirty="0" sz="1200">
                <a:latin typeface="Arial"/>
                <a:cs typeface="Arial"/>
              </a:rPr>
              <a:t>With </a:t>
            </a:r>
            <a:r>
              <a:rPr dirty="0" sz="1200" spc="-5">
                <a:latin typeface="Arial"/>
                <a:cs typeface="Arial"/>
              </a:rPr>
              <a:t>Christianity recognizing </a:t>
            </a:r>
            <a:r>
              <a:rPr dirty="0" sz="1200">
                <a:latin typeface="Arial"/>
                <a:cs typeface="Arial"/>
              </a:rPr>
              <a:t>the Old Testament, </a:t>
            </a:r>
            <a:r>
              <a:rPr dirty="0" sz="1200" spc="-5">
                <a:latin typeface="Arial"/>
                <a:cs typeface="Arial"/>
              </a:rPr>
              <a:t>Abraham and his  importance </a:t>
            </a:r>
            <a:r>
              <a:rPr dirty="0" sz="1200">
                <a:latin typeface="Arial"/>
                <a:cs typeface="Arial"/>
              </a:rPr>
              <a:t>to </a:t>
            </a:r>
            <a:r>
              <a:rPr dirty="0" sz="1200" spc="-5">
                <a:latin typeface="Arial"/>
                <a:cs typeface="Arial"/>
              </a:rPr>
              <a:t>the establishment of the Jewish people and </a:t>
            </a:r>
            <a:r>
              <a:rPr dirty="0" sz="1200">
                <a:latin typeface="Arial"/>
                <a:cs typeface="Arial"/>
              </a:rPr>
              <a:t>the </a:t>
            </a:r>
            <a:r>
              <a:rPr dirty="0" sz="1200" spc="-5">
                <a:latin typeface="Arial"/>
                <a:cs typeface="Arial"/>
              </a:rPr>
              <a:t>coming of Jesus, sets </a:t>
            </a:r>
            <a:r>
              <a:rPr dirty="0" sz="1200" spc="-10">
                <a:latin typeface="Arial"/>
                <a:cs typeface="Arial"/>
              </a:rPr>
              <a:t>the  </a:t>
            </a:r>
            <a:r>
              <a:rPr dirty="0" sz="1200" spc="-5">
                <a:latin typeface="Arial"/>
                <a:cs typeface="Arial"/>
              </a:rPr>
              <a:t>basis </a:t>
            </a:r>
            <a:r>
              <a:rPr dirty="0" sz="1200">
                <a:latin typeface="Arial"/>
                <a:cs typeface="Arial"/>
              </a:rPr>
              <a:t>for </a:t>
            </a:r>
            <a:r>
              <a:rPr dirty="0" sz="1200" spc="-5">
                <a:latin typeface="Arial"/>
                <a:cs typeface="Arial"/>
              </a:rPr>
              <a:t>his acceptance and high regard with in Christianity </a:t>
            </a:r>
            <a:r>
              <a:rPr dirty="0" sz="1200">
                <a:latin typeface="Arial"/>
                <a:cs typeface="Arial"/>
              </a:rPr>
              <a:t>itself. The </a:t>
            </a:r>
            <a:r>
              <a:rPr dirty="0" sz="1200" spc="-5">
                <a:latin typeface="Arial"/>
                <a:cs typeface="Arial"/>
              </a:rPr>
              <a:t>importance of  Abraham in all three religions </a:t>
            </a:r>
            <a:r>
              <a:rPr dirty="0" sz="1200">
                <a:latin typeface="Arial"/>
                <a:cs typeface="Arial"/>
              </a:rPr>
              <a:t>steams </a:t>
            </a:r>
            <a:r>
              <a:rPr dirty="0" sz="1200" spc="-5">
                <a:latin typeface="Arial"/>
                <a:cs typeface="Arial"/>
              </a:rPr>
              <a:t>from a common thread of Abraham‘s obedience </a:t>
            </a:r>
            <a:r>
              <a:rPr dirty="0" sz="1200">
                <a:latin typeface="Arial"/>
                <a:cs typeface="Arial"/>
              </a:rPr>
              <a:t>to  God. </a:t>
            </a:r>
            <a:r>
              <a:rPr dirty="0" sz="1200" spc="-5">
                <a:latin typeface="Arial"/>
                <a:cs typeface="Arial"/>
              </a:rPr>
              <a:t>All three religions share sacred religious texts of Abraham. </a:t>
            </a:r>
            <a:r>
              <a:rPr dirty="0" sz="1200">
                <a:latin typeface="Arial"/>
                <a:cs typeface="Arial"/>
              </a:rPr>
              <a:t>While it </a:t>
            </a:r>
            <a:r>
              <a:rPr dirty="0" sz="1200" spc="-5">
                <a:latin typeface="Arial"/>
                <a:cs typeface="Arial"/>
              </a:rPr>
              <a:t>seems </a:t>
            </a:r>
            <a:r>
              <a:rPr dirty="0" sz="1200">
                <a:latin typeface="Arial"/>
                <a:cs typeface="Arial"/>
              </a:rPr>
              <a:t>that </a:t>
            </a:r>
            <a:r>
              <a:rPr dirty="0" sz="1200" spc="-5">
                <a:latin typeface="Arial"/>
                <a:cs typeface="Arial"/>
              </a:rPr>
              <a:t>their  foundations </a:t>
            </a:r>
            <a:r>
              <a:rPr dirty="0" sz="1200" spc="-10">
                <a:latin typeface="Arial"/>
                <a:cs typeface="Arial"/>
              </a:rPr>
              <a:t>are </a:t>
            </a:r>
            <a:r>
              <a:rPr dirty="0" sz="1200" spc="-5">
                <a:latin typeface="Arial"/>
                <a:cs typeface="Arial"/>
              </a:rPr>
              <a:t>very </a:t>
            </a:r>
            <a:r>
              <a:rPr dirty="0" sz="1200">
                <a:latin typeface="Arial"/>
                <a:cs typeface="Arial"/>
              </a:rPr>
              <a:t>similar, </a:t>
            </a:r>
            <a:r>
              <a:rPr dirty="0" sz="1200" spc="-5">
                <a:latin typeface="Arial"/>
                <a:cs typeface="Arial"/>
              </a:rPr>
              <a:t>their views </a:t>
            </a:r>
            <a:r>
              <a:rPr dirty="0" sz="1200">
                <a:latin typeface="Arial"/>
                <a:cs typeface="Arial"/>
              </a:rPr>
              <a:t>on </a:t>
            </a:r>
            <a:r>
              <a:rPr dirty="0" sz="1200" spc="-5">
                <a:latin typeface="Arial"/>
                <a:cs typeface="Arial"/>
              </a:rPr>
              <a:t>Jesus Christ are</a:t>
            </a:r>
            <a:r>
              <a:rPr dirty="0" sz="1200" spc="10">
                <a:latin typeface="Arial"/>
                <a:cs typeface="Arial"/>
              </a:rPr>
              <a:t> </a:t>
            </a:r>
            <a:r>
              <a:rPr dirty="0" sz="1200" spc="-5">
                <a:latin typeface="Arial"/>
                <a:cs typeface="Arial"/>
              </a:rPr>
              <a:t>not.</a:t>
            </a:r>
            <a:endParaRPr sz="1200">
              <a:latin typeface="Arial"/>
              <a:cs typeface="Arial"/>
            </a:endParaRPr>
          </a:p>
          <a:p>
            <a:pPr algn="just" marL="12700" marR="5080">
              <a:lnSpc>
                <a:spcPct val="95800"/>
              </a:lnSpc>
              <a:spcBef>
                <a:spcPts val="1010"/>
              </a:spcBef>
            </a:pPr>
            <a:r>
              <a:rPr dirty="0" sz="1200" spc="-5">
                <a:latin typeface="Arial"/>
                <a:cs typeface="Arial"/>
              </a:rPr>
              <a:t>All </a:t>
            </a:r>
            <a:r>
              <a:rPr dirty="0" sz="1200">
                <a:latin typeface="Arial"/>
                <a:cs typeface="Arial"/>
              </a:rPr>
              <a:t>three </a:t>
            </a:r>
            <a:r>
              <a:rPr dirty="0" sz="1200" spc="-5">
                <a:latin typeface="Arial"/>
                <a:cs typeface="Arial"/>
              </a:rPr>
              <a:t>religions have a different view </a:t>
            </a:r>
            <a:r>
              <a:rPr dirty="0" sz="1200">
                <a:latin typeface="Arial"/>
                <a:cs typeface="Arial"/>
              </a:rPr>
              <a:t>of </a:t>
            </a:r>
            <a:r>
              <a:rPr dirty="0" sz="1200" spc="-5">
                <a:latin typeface="Arial"/>
                <a:cs typeface="Arial"/>
              </a:rPr>
              <a:t>who Jesus Christ was. </a:t>
            </a:r>
            <a:r>
              <a:rPr dirty="0" sz="1200">
                <a:latin typeface="Arial"/>
                <a:cs typeface="Arial"/>
              </a:rPr>
              <a:t>In Christianity </a:t>
            </a:r>
            <a:r>
              <a:rPr dirty="0" sz="1200" spc="-5">
                <a:latin typeface="Arial"/>
                <a:cs typeface="Arial"/>
              </a:rPr>
              <a:t>Jesus is the  messiah </a:t>
            </a:r>
            <a:r>
              <a:rPr dirty="0" sz="1200">
                <a:latin typeface="Arial"/>
                <a:cs typeface="Arial"/>
              </a:rPr>
              <a:t>that </a:t>
            </a:r>
            <a:r>
              <a:rPr dirty="0" sz="1200" spc="-5">
                <a:latin typeface="Arial"/>
                <a:cs typeface="Arial"/>
              </a:rPr>
              <a:t>is </a:t>
            </a:r>
            <a:r>
              <a:rPr dirty="0" sz="1200">
                <a:latin typeface="Arial"/>
                <a:cs typeface="Arial"/>
              </a:rPr>
              <a:t>talked </a:t>
            </a:r>
            <a:r>
              <a:rPr dirty="0" sz="1200" spc="-5">
                <a:latin typeface="Arial"/>
                <a:cs typeface="Arial"/>
              </a:rPr>
              <a:t>about in </a:t>
            </a:r>
            <a:r>
              <a:rPr dirty="0" sz="1200">
                <a:latin typeface="Arial"/>
                <a:cs typeface="Arial"/>
              </a:rPr>
              <a:t>the Old </a:t>
            </a:r>
            <a:r>
              <a:rPr dirty="0" sz="1200" spc="-5">
                <a:latin typeface="Arial"/>
                <a:cs typeface="Arial"/>
              </a:rPr>
              <a:t>Testament. Christians believe </a:t>
            </a:r>
            <a:r>
              <a:rPr dirty="0" sz="1200">
                <a:latin typeface="Arial"/>
                <a:cs typeface="Arial"/>
              </a:rPr>
              <a:t>that </a:t>
            </a:r>
            <a:r>
              <a:rPr dirty="0" sz="1200" spc="-5">
                <a:latin typeface="Arial"/>
                <a:cs typeface="Arial"/>
              </a:rPr>
              <a:t>Jesus fulfilled the  requirements and prophecies that the prophets spoke about. One of their key reasons </a:t>
            </a:r>
            <a:r>
              <a:rPr dirty="0" sz="1200">
                <a:latin typeface="Arial"/>
                <a:cs typeface="Arial"/>
              </a:rPr>
              <a:t>for  </a:t>
            </a:r>
            <a:r>
              <a:rPr dirty="0" sz="1200" spc="-5">
                <a:latin typeface="Arial"/>
                <a:cs typeface="Arial"/>
              </a:rPr>
              <a:t>believing </a:t>
            </a:r>
            <a:r>
              <a:rPr dirty="0" sz="1200">
                <a:latin typeface="Arial"/>
                <a:cs typeface="Arial"/>
              </a:rPr>
              <a:t>this </a:t>
            </a:r>
            <a:r>
              <a:rPr dirty="0" sz="1200" spc="-5">
                <a:latin typeface="Arial"/>
                <a:cs typeface="Arial"/>
              </a:rPr>
              <a:t>is </a:t>
            </a:r>
            <a:r>
              <a:rPr dirty="0" sz="1200">
                <a:latin typeface="Arial"/>
                <a:cs typeface="Arial"/>
              </a:rPr>
              <a:t>their </a:t>
            </a:r>
            <a:r>
              <a:rPr dirty="0" sz="1200" spc="-5">
                <a:latin typeface="Arial"/>
                <a:cs typeface="Arial"/>
              </a:rPr>
              <a:t>belief in his </a:t>
            </a:r>
            <a:r>
              <a:rPr dirty="0" sz="1200">
                <a:latin typeface="Arial"/>
                <a:cs typeface="Arial"/>
              </a:rPr>
              <a:t>resurrection </a:t>
            </a:r>
            <a:r>
              <a:rPr dirty="0" sz="1200" spc="-5">
                <a:latin typeface="Arial"/>
                <a:cs typeface="Arial"/>
              </a:rPr>
              <a:t>from </a:t>
            </a:r>
            <a:r>
              <a:rPr dirty="0" sz="1200">
                <a:latin typeface="Arial"/>
                <a:cs typeface="Arial"/>
              </a:rPr>
              <a:t>the </a:t>
            </a:r>
            <a:r>
              <a:rPr dirty="0" sz="1200" spc="-5">
                <a:latin typeface="Arial"/>
                <a:cs typeface="Arial"/>
              </a:rPr>
              <a:t>dead. Jesus played a significant role  in establishing Christianity and training his followers </a:t>
            </a:r>
            <a:r>
              <a:rPr dirty="0" sz="1200">
                <a:latin typeface="Arial"/>
                <a:cs typeface="Arial"/>
              </a:rPr>
              <a:t>to </a:t>
            </a:r>
            <a:r>
              <a:rPr dirty="0" sz="1200" spc="-5">
                <a:latin typeface="Arial"/>
                <a:cs typeface="Arial"/>
              </a:rPr>
              <a:t>share his message. </a:t>
            </a:r>
            <a:r>
              <a:rPr dirty="0" sz="1200">
                <a:latin typeface="Arial"/>
                <a:cs typeface="Arial"/>
              </a:rPr>
              <a:t>This </a:t>
            </a:r>
            <a:r>
              <a:rPr dirty="0" sz="1200" spc="-5">
                <a:latin typeface="Arial"/>
                <a:cs typeface="Arial"/>
              </a:rPr>
              <a:t>led </a:t>
            </a:r>
            <a:r>
              <a:rPr dirty="0" sz="1200">
                <a:latin typeface="Arial"/>
                <a:cs typeface="Arial"/>
              </a:rPr>
              <a:t>to the  </a:t>
            </a:r>
            <a:r>
              <a:rPr dirty="0" sz="1200" spc="-5">
                <a:latin typeface="Arial"/>
                <a:cs typeface="Arial"/>
              </a:rPr>
              <a:t>writing </a:t>
            </a:r>
            <a:r>
              <a:rPr dirty="0" sz="1200">
                <a:latin typeface="Arial"/>
                <a:cs typeface="Arial"/>
              </a:rPr>
              <a:t>of </a:t>
            </a:r>
            <a:r>
              <a:rPr dirty="0" sz="1200" spc="-5">
                <a:latin typeface="Arial"/>
                <a:cs typeface="Arial"/>
              </a:rPr>
              <a:t>the New Testament and </a:t>
            </a:r>
            <a:r>
              <a:rPr dirty="0" sz="1200">
                <a:latin typeface="Arial"/>
                <a:cs typeface="Arial"/>
              </a:rPr>
              <a:t>its </a:t>
            </a:r>
            <a:r>
              <a:rPr dirty="0" sz="1200" spc="-5">
                <a:latin typeface="Arial"/>
                <a:cs typeface="Arial"/>
              </a:rPr>
              <a:t>importance in </a:t>
            </a:r>
            <a:r>
              <a:rPr dirty="0" sz="1200">
                <a:latin typeface="Arial"/>
                <a:cs typeface="Arial"/>
              </a:rPr>
              <a:t>the </a:t>
            </a:r>
            <a:r>
              <a:rPr dirty="0" sz="1200" spc="-5">
                <a:latin typeface="Arial"/>
                <a:cs typeface="Arial"/>
              </a:rPr>
              <a:t>Christian </a:t>
            </a:r>
            <a:r>
              <a:rPr dirty="0" sz="1200">
                <a:latin typeface="Arial"/>
                <a:cs typeface="Arial"/>
              </a:rPr>
              <a:t>faith. </a:t>
            </a:r>
            <a:r>
              <a:rPr dirty="0" sz="1200" spc="-5">
                <a:latin typeface="Arial"/>
                <a:cs typeface="Arial"/>
              </a:rPr>
              <a:t>Tensions between  Christianity and Judaism arose over their differing views </a:t>
            </a:r>
            <a:r>
              <a:rPr dirty="0" sz="1200">
                <a:latin typeface="Arial"/>
                <a:cs typeface="Arial"/>
              </a:rPr>
              <a:t>of </a:t>
            </a:r>
            <a:r>
              <a:rPr dirty="0" sz="1200" spc="-10">
                <a:latin typeface="Arial"/>
                <a:cs typeface="Arial"/>
              </a:rPr>
              <a:t>who </a:t>
            </a:r>
            <a:r>
              <a:rPr dirty="0" sz="1200" spc="-5">
                <a:latin typeface="Arial"/>
                <a:cs typeface="Arial"/>
              </a:rPr>
              <a:t>Jesus Christ was. Judaism  didn‘t accept </a:t>
            </a:r>
            <a:r>
              <a:rPr dirty="0" sz="1200">
                <a:latin typeface="Arial"/>
                <a:cs typeface="Arial"/>
              </a:rPr>
              <a:t>Jesus as the </a:t>
            </a:r>
            <a:r>
              <a:rPr dirty="0" sz="1200" spc="-5">
                <a:latin typeface="Arial"/>
                <a:cs typeface="Arial"/>
              </a:rPr>
              <a:t>messiah they‘d </a:t>
            </a:r>
            <a:r>
              <a:rPr dirty="0" sz="1200">
                <a:latin typeface="Arial"/>
                <a:cs typeface="Arial"/>
              </a:rPr>
              <a:t>been </a:t>
            </a:r>
            <a:r>
              <a:rPr dirty="0" sz="1200" spc="-5">
                <a:latin typeface="Arial"/>
                <a:cs typeface="Arial"/>
              </a:rPr>
              <a:t>waiting </a:t>
            </a:r>
            <a:r>
              <a:rPr dirty="0" sz="1200">
                <a:latin typeface="Arial"/>
                <a:cs typeface="Arial"/>
              </a:rPr>
              <a:t>for. They </a:t>
            </a:r>
            <a:r>
              <a:rPr dirty="0" sz="1200" spc="-5">
                <a:latin typeface="Arial"/>
                <a:cs typeface="Arial"/>
              </a:rPr>
              <a:t>believe </a:t>
            </a:r>
            <a:r>
              <a:rPr dirty="0" sz="1200">
                <a:latin typeface="Arial"/>
                <a:cs typeface="Arial"/>
              </a:rPr>
              <a:t>that a </a:t>
            </a:r>
            <a:r>
              <a:rPr dirty="0" sz="1200" spc="-5">
                <a:latin typeface="Arial"/>
                <a:cs typeface="Arial"/>
              </a:rPr>
              <a:t>messiah is  still </a:t>
            </a:r>
            <a:r>
              <a:rPr dirty="0" sz="1200">
                <a:latin typeface="Arial"/>
                <a:cs typeface="Arial"/>
              </a:rPr>
              <a:t>to </a:t>
            </a:r>
            <a:r>
              <a:rPr dirty="0" sz="1200" spc="-5">
                <a:latin typeface="Arial"/>
                <a:cs typeface="Arial"/>
              </a:rPr>
              <a:t>come and that Jesus </a:t>
            </a:r>
            <a:r>
              <a:rPr dirty="0" sz="1200" spc="-10">
                <a:latin typeface="Arial"/>
                <a:cs typeface="Arial"/>
              </a:rPr>
              <a:t>was </a:t>
            </a:r>
            <a:r>
              <a:rPr dirty="0" sz="1200" spc="-5">
                <a:latin typeface="Arial"/>
                <a:cs typeface="Arial"/>
              </a:rPr>
              <a:t>simply an educated Jewish rabbi. </a:t>
            </a:r>
            <a:r>
              <a:rPr dirty="0" sz="1200">
                <a:latin typeface="Arial"/>
                <a:cs typeface="Arial"/>
              </a:rPr>
              <a:t>While </a:t>
            </a:r>
            <a:r>
              <a:rPr dirty="0" sz="1200" spc="-5">
                <a:latin typeface="Arial"/>
                <a:cs typeface="Arial"/>
              </a:rPr>
              <a:t>Judaism rejects  anything </a:t>
            </a:r>
            <a:r>
              <a:rPr dirty="0" sz="1200">
                <a:latin typeface="Arial"/>
                <a:cs typeface="Arial"/>
              </a:rPr>
              <a:t>divine </a:t>
            </a:r>
            <a:r>
              <a:rPr dirty="0" sz="1200" spc="-5">
                <a:latin typeface="Arial"/>
                <a:cs typeface="Arial"/>
              </a:rPr>
              <a:t>about </a:t>
            </a:r>
            <a:r>
              <a:rPr dirty="0" sz="1200">
                <a:latin typeface="Arial"/>
                <a:cs typeface="Arial"/>
              </a:rPr>
              <a:t>Jesus, </a:t>
            </a:r>
            <a:r>
              <a:rPr dirty="0" sz="1200" spc="-5">
                <a:latin typeface="Arial"/>
                <a:cs typeface="Arial"/>
              </a:rPr>
              <a:t>Islam sees </a:t>
            </a:r>
            <a:r>
              <a:rPr dirty="0" sz="1200" spc="-10">
                <a:latin typeface="Arial"/>
                <a:cs typeface="Arial"/>
              </a:rPr>
              <a:t>him </a:t>
            </a:r>
            <a:r>
              <a:rPr dirty="0" sz="1200" spc="-5">
                <a:latin typeface="Arial"/>
                <a:cs typeface="Arial"/>
              </a:rPr>
              <a:t>as a prophet. He is seen as a great teacher, </a:t>
            </a:r>
            <a:r>
              <a:rPr dirty="0" sz="1200" spc="-10">
                <a:latin typeface="Arial"/>
                <a:cs typeface="Arial"/>
              </a:rPr>
              <a:t>but  </a:t>
            </a:r>
            <a:r>
              <a:rPr dirty="0" sz="1200" spc="-5">
                <a:latin typeface="Arial"/>
                <a:cs typeface="Arial"/>
              </a:rPr>
              <a:t>not the </a:t>
            </a:r>
            <a:r>
              <a:rPr dirty="0" sz="1200" spc="-10">
                <a:latin typeface="Arial"/>
                <a:cs typeface="Arial"/>
              </a:rPr>
              <a:t>son </a:t>
            </a:r>
            <a:r>
              <a:rPr dirty="0" sz="1200" spc="-5">
                <a:latin typeface="Arial"/>
                <a:cs typeface="Arial"/>
              </a:rPr>
              <a:t>of God as Christians see him. </a:t>
            </a:r>
            <a:r>
              <a:rPr dirty="0" sz="1200" spc="-10">
                <a:latin typeface="Arial"/>
                <a:cs typeface="Arial"/>
              </a:rPr>
              <a:t>However, </a:t>
            </a:r>
            <a:r>
              <a:rPr dirty="0" sz="1200" spc="-5">
                <a:latin typeface="Arial"/>
                <a:cs typeface="Arial"/>
              </a:rPr>
              <a:t>according </a:t>
            </a:r>
            <a:r>
              <a:rPr dirty="0" sz="1200">
                <a:latin typeface="Arial"/>
                <a:cs typeface="Arial"/>
              </a:rPr>
              <a:t>to Islamic </a:t>
            </a:r>
            <a:r>
              <a:rPr dirty="0" sz="1200" spc="-5">
                <a:latin typeface="Arial"/>
                <a:cs typeface="Arial"/>
              </a:rPr>
              <a:t>belief Jesus </a:t>
            </a:r>
            <a:r>
              <a:rPr dirty="0" sz="1200" spc="-10">
                <a:latin typeface="Arial"/>
                <a:cs typeface="Arial"/>
              </a:rPr>
              <a:t>was  </a:t>
            </a:r>
            <a:r>
              <a:rPr dirty="0" sz="1200" spc="-5">
                <a:latin typeface="Arial"/>
                <a:cs typeface="Arial"/>
              </a:rPr>
              <a:t>born of a Virgin and preformed great miracles. Islam </a:t>
            </a:r>
            <a:r>
              <a:rPr dirty="0" sz="1200">
                <a:latin typeface="Arial"/>
                <a:cs typeface="Arial"/>
              </a:rPr>
              <a:t>teaches </a:t>
            </a:r>
            <a:r>
              <a:rPr dirty="0" sz="1200" spc="-5">
                <a:latin typeface="Arial"/>
                <a:cs typeface="Arial"/>
              </a:rPr>
              <a:t>that Allah sent Jesus </a:t>
            </a:r>
            <a:r>
              <a:rPr dirty="0" sz="1200" spc="5">
                <a:latin typeface="Arial"/>
                <a:cs typeface="Arial"/>
              </a:rPr>
              <a:t>to </a:t>
            </a:r>
            <a:r>
              <a:rPr dirty="0" sz="1200" spc="-10">
                <a:latin typeface="Arial"/>
                <a:cs typeface="Arial"/>
              </a:rPr>
              <a:t>the  </a:t>
            </a:r>
            <a:r>
              <a:rPr dirty="0" sz="1200" spc="-5">
                <a:latin typeface="Arial"/>
                <a:cs typeface="Arial"/>
              </a:rPr>
              <a:t>earth </a:t>
            </a:r>
            <a:r>
              <a:rPr dirty="0" sz="1200">
                <a:latin typeface="Arial"/>
                <a:cs typeface="Arial"/>
              </a:rPr>
              <a:t>to </a:t>
            </a:r>
            <a:r>
              <a:rPr dirty="0" sz="1200" spc="-5">
                <a:latin typeface="Arial"/>
                <a:cs typeface="Arial"/>
              </a:rPr>
              <a:t>reveal </a:t>
            </a:r>
            <a:r>
              <a:rPr dirty="0" sz="1200">
                <a:latin typeface="Arial"/>
                <a:cs typeface="Arial"/>
              </a:rPr>
              <a:t>to </a:t>
            </a:r>
            <a:r>
              <a:rPr dirty="0" sz="1200" spc="-5">
                <a:latin typeface="Arial"/>
                <a:cs typeface="Arial"/>
              </a:rPr>
              <a:t>them new scriptures. They </a:t>
            </a:r>
            <a:r>
              <a:rPr dirty="0" sz="1200">
                <a:latin typeface="Arial"/>
                <a:cs typeface="Arial"/>
              </a:rPr>
              <a:t>now </a:t>
            </a:r>
            <a:r>
              <a:rPr dirty="0" sz="1200" spc="-5">
                <a:latin typeface="Arial"/>
                <a:cs typeface="Arial"/>
              </a:rPr>
              <a:t>believe </a:t>
            </a:r>
            <a:r>
              <a:rPr dirty="0" sz="1200">
                <a:latin typeface="Arial"/>
                <a:cs typeface="Arial"/>
              </a:rPr>
              <a:t>that </a:t>
            </a:r>
            <a:r>
              <a:rPr dirty="0" sz="1200" spc="-5">
                <a:latin typeface="Arial"/>
                <a:cs typeface="Arial"/>
              </a:rPr>
              <a:t>through human error some of  </a:t>
            </a:r>
            <a:r>
              <a:rPr dirty="0" sz="1200">
                <a:latin typeface="Arial"/>
                <a:cs typeface="Arial"/>
              </a:rPr>
              <a:t>this </a:t>
            </a:r>
            <a:r>
              <a:rPr dirty="0" sz="1200" spc="-5">
                <a:latin typeface="Arial"/>
                <a:cs typeface="Arial"/>
              </a:rPr>
              <a:t>scripture has been tainted by human error. One such error is how he died. While  Christians maintain that he died on a cross for </a:t>
            </a:r>
            <a:r>
              <a:rPr dirty="0" sz="1200">
                <a:latin typeface="Arial"/>
                <a:cs typeface="Arial"/>
              </a:rPr>
              <a:t>their sins, </a:t>
            </a:r>
            <a:r>
              <a:rPr dirty="0" sz="1200" spc="-5">
                <a:latin typeface="Arial"/>
                <a:cs typeface="Arial"/>
              </a:rPr>
              <a:t>Muslims believe he </a:t>
            </a:r>
            <a:r>
              <a:rPr dirty="0" sz="1200" spc="-10">
                <a:latin typeface="Arial"/>
                <a:cs typeface="Arial"/>
              </a:rPr>
              <a:t>was </a:t>
            </a:r>
            <a:r>
              <a:rPr dirty="0" sz="1200" spc="-5">
                <a:latin typeface="Arial"/>
                <a:cs typeface="Arial"/>
              </a:rPr>
              <a:t>alive when  </a:t>
            </a:r>
            <a:r>
              <a:rPr dirty="0" sz="1200">
                <a:latin typeface="Arial"/>
                <a:cs typeface="Arial"/>
              </a:rPr>
              <a:t>God </a:t>
            </a:r>
            <a:r>
              <a:rPr dirty="0" sz="1200" spc="-5">
                <a:latin typeface="Arial"/>
                <a:cs typeface="Arial"/>
              </a:rPr>
              <a:t>called </a:t>
            </a:r>
            <a:r>
              <a:rPr dirty="0" sz="1200" spc="-10">
                <a:latin typeface="Arial"/>
                <a:cs typeface="Arial"/>
              </a:rPr>
              <a:t>him </a:t>
            </a:r>
            <a:r>
              <a:rPr dirty="0" sz="1200">
                <a:latin typeface="Arial"/>
                <a:cs typeface="Arial"/>
              </a:rPr>
              <a:t>to </a:t>
            </a:r>
            <a:r>
              <a:rPr dirty="0" sz="1200" spc="-10">
                <a:latin typeface="Arial"/>
                <a:cs typeface="Arial"/>
              </a:rPr>
              <a:t>heaven. </a:t>
            </a:r>
            <a:r>
              <a:rPr dirty="0" sz="1200">
                <a:latin typeface="Arial"/>
                <a:cs typeface="Arial"/>
              </a:rPr>
              <a:t>The </a:t>
            </a:r>
            <a:r>
              <a:rPr dirty="0" sz="1200" spc="-5">
                <a:latin typeface="Arial"/>
                <a:cs typeface="Arial"/>
              </a:rPr>
              <a:t>life and death of Jesus remains a differing point among the  </a:t>
            </a:r>
            <a:r>
              <a:rPr dirty="0" sz="1200">
                <a:latin typeface="Arial"/>
                <a:cs typeface="Arial"/>
              </a:rPr>
              <a:t>three </a:t>
            </a:r>
            <a:r>
              <a:rPr dirty="0" sz="1200" spc="-5">
                <a:latin typeface="Arial"/>
                <a:cs typeface="Arial"/>
              </a:rPr>
              <a:t>religions. Christians believe that Jesus came as the </a:t>
            </a:r>
            <a:r>
              <a:rPr dirty="0" sz="1200" spc="-10">
                <a:latin typeface="Arial"/>
                <a:cs typeface="Arial"/>
              </a:rPr>
              <a:t>son </a:t>
            </a:r>
            <a:r>
              <a:rPr dirty="0" sz="1200" spc="-5">
                <a:latin typeface="Arial"/>
                <a:cs typeface="Arial"/>
              </a:rPr>
              <a:t>of God and died </a:t>
            </a:r>
            <a:r>
              <a:rPr dirty="0" sz="1200" spc="-10">
                <a:latin typeface="Arial"/>
                <a:cs typeface="Arial"/>
              </a:rPr>
              <a:t>on </a:t>
            </a:r>
            <a:r>
              <a:rPr dirty="0" sz="1200" spc="-5">
                <a:latin typeface="Arial"/>
                <a:cs typeface="Arial"/>
              </a:rPr>
              <a:t>the cross  and rose again </a:t>
            </a:r>
            <a:r>
              <a:rPr dirty="0" sz="1200">
                <a:latin typeface="Arial"/>
                <a:cs typeface="Arial"/>
              </a:rPr>
              <a:t>for </a:t>
            </a:r>
            <a:r>
              <a:rPr dirty="0" sz="1200" spc="-5">
                <a:latin typeface="Arial"/>
                <a:cs typeface="Arial"/>
              </a:rPr>
              <a:t>their </a:t>
            </a:r>
            <a:r>
              <a:rPr dirty="0" sz="1200">
                <a:latin typeface="Arial"/>
                <a:cs typeface="Arial"/>
              </a:rPr>
              <a:t>sins. </a:t>
            </a:r>
            <a:r>
              <a:rPr dirty="0" sz="1200" spc="-5">
                <a:latin typeface="Arial"/>
                <a:cs typeface="Arial"/>
              </a:rPr>
              <a:t>Jews believe </a:t>
            </a:r>
            <a:r>
              <a:rPr dirty="0" sz="1200">
                <a:latin typeface="Arial"/>
                <a:cs typeface="Arial"/>
              </a:rPr>
              <a:t>that </a:t>
            </a:r>
            <a:r>
              <a:rPr dirty="0" sz="1200" spc="-5">
                <a:latin typeface="Arial"/>
                <a:cs typeface="Arial"/>
              </a:rPr>
              <a:t>Jesus </a:t>
            </a:r>
            <a:r>
              <a:rPr dirty="0" sz="1200" spc="-10">
                <a:latin typeface="Arial"/>
                <a:cs typeface="Arial"/>
              </a:rPr>
              <a:t>was </a:t>
            </a:r>
            <a:r>
              <a:rPr dirty="0" sz="1200" spc="-5">
                <a:latin typeface="Arial"/>
                <a:cs typeface="Arial"/>
              </a:rPr>
              <a:t>a great rabbi, but nothing more.  </a:t>
            </a:r>
            <a:r>
              <a:rPr dirty="0" sz="1200">
                <a:latin typeface="Arial"/>
                <a:cs typeface="Arial"/>
              </a:rPr>
              <a:t>While Islam </a:t>
            </a:r>
            <a:r>
              <a:rPr dirty="0" sz="1200" spc="-5">
                <a:latin typeface="Arial"/>
                <a:cs typeface="Arial"/>
              </a:rPr>
              <a:t>agrees with Christianity in </a:t>
            </a:r>
            <a:r>
              <a:rPr dirty="0" sz="1200">
                <a:latin typeface="Arial"/>
                <a:cs typeface="Arial"/>
              </a:rPr>
              <a:t>the </a:t>
            </a:r>
            <a:r>
              <a:rPr dirty="0" sz="1200" spc="-10">
                <a:latin typeface="Arial"/>
                <a:cs typeface="Arial"/>
              </a:rPr>
              <a:t>virgin </a:t>
            </a:r>
            <a:r>
              <a:rPr dirty="0" sz="1200" spc="-5">
                <a:latin typeface="Arial"/>
                <a:cs typeface="Arial"/>
              </a:rPr>
              <a:t>birth and miracles, they only see him as  prophet. Even with this disagreement all three religions </a:t>
            </a:r>
            <a:r>
              <a:rPr dirty="0" sz="1200">
                <a:latin typeface="Arial"/>
                <a:cs typeface="Arial"/>
              </a:rPr>
              <a:t>are</a:t>
            </a:r>
            <a:r>
              <a:rPr dirty="0" sz="1200" spc="30">
                <a:latin typeface="Arial"/>
                <a:cs typeface="Arial"/>
              </a:rPr>
              <a:t> </a:t>
            </a:r>
            <a:r>
              <a:rPr dirty="0" sz="1200" spc="-5">
                <a:latin typeface="Arial"/>
                <a:cs typeface="Arial"/>
              </a:rPr>
              <a:t>monotheistic.</a:t>
            </a:r>
            <a:endParaRPr sz="1200">
              <a:latin typeface="Arial"/>
              <a:cs typeface="Arial"/>
            </a:endParaRPr>
          </a:p>
          <a:p>
            <a:pPr algn="just" marL="12700" marR="7620">
              <a:lnSpc>
                <a:spcPct val="95600"/>
              </a:lnSpc>
              <a:spcBef>
                <a:spcPts val="1010"/>
              </a:spcBef>
            </a:pPr>
            <a:r>
              <a:rPr dirty="0" sz="1200">
                <a:latin typeface="Arial"/>
                <a:cs typeface="Arial"/>
              </a:rPr>
              <a:t>Islam, </a:t>
            </a:r>
            <a:r>
              <a:rPr dirty="0" sz="1200" spc="-5">
                <a:latin typeface="Arial"/>
                <a:cs typeface="Arial"/>
              </a:rPr>
              <a:t>Christianity, and Judaism are all </a:t>
            </a:r>
            <a:r>
              <a:rPr dirty="0" sz="1200">
                <a:latin typeface="Arial"/>
                <a:cs typeface="Arial"/>
              </a:rPr>
              <a:t>monotheistic </a:t>
            </a:r>
            <a:r>
              <a:rPr dirty="0" sz="1200" spc="-5">
                <a:latin typeface="Arial"/>
                <a:cs typeface="Arial"/>
              </a:rPr>
              <a:t>religions that believe in a single God.  </a:t>
            </a:r>
            <a:r>
              <a:rPr dirty="0" sz="1200">
                <a:latin typeface="Arial"/>
                <a:cs typeface="Arial"/>
              </a:rPr>
              <a:t>While </a:t>
            </a:r>
            <a:r>
              <a:rPr dirty="0" sz="1200" spc="-5">
                <a:latin typeface="Arial"/>
                <a:cs typeface="Arial"/>
              </a:rPr>
              <a:t>Christianity is actually a </a:t>
            </a:r>
            <a:r>
              <a:rPr dirty="0" sz="1200">
                <a:latin typeface="Arial"/>
                <a:cs typeface="Arial"/>
              </a:rPr>
              <a:t>form </a:t>
            </a:r>
            <a:r>
              <a:rPr dirty="0" sz="1200" spc="-5">
                <a:latin typeface="Arial"/>
                <a:cs typeface="Arial"/>
              </a:rPr>
              <a:t>of Trinitarian Monotheism, </a:t>
            </a:r>
            <a:r>
              <a:rPr dirty="0" sz="1200">
                <a:latin typeface="Arial"/>
                <a:cs typeface="Arial"/>
              </a:rPr>
              <a:t>it </a:t>
            </a:r>
            <a:r>
              <a:rPr dirty="0" sz="1200" spc="-5">
                <a:latin typeface="Arial"/>
                <a:cs typeface="Arial"/>
              </a:rPr>
              <a:t>can still be considered  monotheistic. Some would argue that Christians believe in </a:t>
            </a:r>
            <a:r>
              <a:rPr dirty="0" sz="1200">
                <a:latin typeface="Arial"/>
                <a:cs typeface="Arial"/>
              </a:rPr>
              <a:t>three </a:t>
            </a:r>
            <a:r>
              <a:rPr dirty="0" sz="1200" spc="-5">
                <a:latin typeface="Arial"/>
                <a:cs typeface="Arial"/>
              </a:rPr>
              <a:t>separate Gods; however  Christians would rebuttal with an established belief that all </a:t>
            </a:r>
            <a:r>
              <a:rPr dirty="0" sz="1200">
                <a:latin typeface="Arial"/>
                <a:cs typeface="Arial"/>
              </a:rPr>
              <a:t>three </a:t>
            </a:r>
            <a:r>
              <a:rPr dirty="0" sz="1200" spc="-5">
                <a:latin typeface="Arial"/>
                <a:cs typeface="Arial"/>
              </a:rPr>
              <a:t>members of the </a:t>
            </a:r>
            <a:r>
              <a:rPr dirty="0" sz="1200">
                <a:latin typeface="Arial"/>
                <a:cs typeface="Arial"/>
              </a:rPr>
              <a:t>trinity </a:t>
            </a:r>
            <a:r>
              <a:rPr dirty="0" sz="1200" spc="-5">
                <a:latin typeface="Arial"/>
                <a:cs typeface="Arial"/>
              </a:rPr>
              <a:t>make  </a:t>
            </a:r>
            <a:r>
              <a:rPr dirty="0" sz="1200">
                <a:latin typeface="Arial"/>
                <a:cs typeface="Arial"/>
              </a:rPr>
              <a:t>up</a:t>
            </a:r>
            <a:r>
              <a:rPr dirty="0" sz="1200" spc="120">
                <a:latin typeface="Arial"/>
                <a:cs typeface="Arial"/>
              </a:rPr>
              <a:t> </a:t>
            </a:r>
            <a:r>
              <a:rPr dirty="0" sz="1200">
                <a:latin typeface="Arial"/>
                <a:cs typeface="Arial"/>
              </a:rPr>
              <a:t>a</a:t>
            </a:r>
            <a:r>
              <a:rPr dirty="0" sz="1200" spc="120">
                <a:latin typeface="Arial"/>
                <a:cs typeface="Arial"/>
              </a:rPr>
              <a:t> </a:t>
            </a:r>
            <a:r>
              <a:rPr dirty="0" sz="1200" spc="-5">
                <a:latin typeface="Arial"/>
                <a:cs typeface="Arial"/>
              </a:rPr>
              <a:t>single</a:t>
            </a:r>
            <a:r>
              <a:rPr dirty="0" sz="1200" spc="125">
                <a:latin typeface="Arial"/>
                <a:cs typeface="Arial"/>
              </a:rPr>
              <a:t> </a:t>
            </a:r>
            <a:r>
              <a:rPr dirty="0" sz="1200">
                <a:latin typeface="Arial"/>
                <a:cs typeface="Arial"/>
              </a:rPr>
              <a:t>God.</a:t>
            </a:r>
            <a:r>
              <a:rPr dirty="0" sz="1200" spc="120">
                <a:latin typeface="Arial"/>
                <a:cs typeface="Arial"/>
              </a:rPr>
              <a:t> </a:t>
            </a:r>
            <a:r>
              <a:rPr dirty="0" sz="1200" spc="-70">
                <a:latin typeface="Arial"/>
                <a:cs typeface="Arial"/>
              </a:rPr>
              <a:t>―Trinitarian</a:t>
            </a:r>
            <a:r>
              <a:rPr dirty="0" sz="1200" spc="125">
                <a:latin typeface="Arial"/>
                <a:cs typeface="Arial"/>
              </a:rPr>
              <a:t> </a:t>
            </a:r>
            <a:r>
              <a:rPr dirty="0" sz="1200" spc="-5">
                <a:latin typeface="Arial"/>
                <a:cs typeface="Arial"/>
              </a:rPr>
              <a:t>Monotheism</a:t>
            </a:r>
            <a:r>
              <a:rPr dirty="0" sz="1200" spc="125">
                <a:latin typeface="Arial"/>
                <a:cs typeface="Arial"/>
              </a:rPr>
              <a:t> </a:t>
            </a:r>
            <a:r>
              <a:rPr dirty="0" sz="1200" spc="-5">
                <a:latin typeface="Arial"/>
                <a:cs typeface="Arial"/>
              </a:rPr>
              <a:t>is</a:t>
            </a:r>
            <a:r>
              <a:rPr dirty="0" sz="1200" spc="114">
                <a:latin typeface="Arial"/>
                <a:cs typeface="Arial"/>
              </a:rPr>
              <a:t> </a:t>
            </a:r>
            <a:r>
              <a:rPr dirty="0" sz="1200">
                <a:latin typeface="Arial"/>
                <a:cs typeface="Arial"/>
              </a:rPr>
              <a:t>the</a:t>
            </a:r>
            <a:r>
              <a:rPr dirty="0" sz="1200" spc="125">
                <a:latin typeface="Arial"/>
                <a:cs typeface="Arial"/>
              </a:rPr>
              <a:t> </a:t>
            </a:r>
            <a:r>
              <a:rPr dirty="0" sz="1200" spc="-5">
                <a:latin typeface="Arial"/>
                <a:cs typeface="Arial"/>
              </a:rPr>
              <a:t>view</a:t>
            </a:r>
            <a:r>
              <a:rPr dirty="0" sz="1200" spc="105">
                <a:latin typeface="Arial"/>
                <a:cs typeface="Arial"/>
              </a:rPr>
              <a:t> </a:t>
            </a:r>
            <a:r>
              <a:rPr dirty="0" sz="1200">
                <a:latin typeface="Arial"/>
                <a:cs typeface="Arial"/>
              </a:rPr>
              <a:t>that</a:t>
            </a:r>
            <a:r>
              <a:rPr dirty="0" sz="1200" spc="125">
                <a:latin typeface="Arial"/>
                <a:cs typeface="Arial"/>
              </a:rPr>
              <a:t> </a:t>
            </a:r>
            <a:r>
              <a:rPr dirty="0" sz="1200">
                <a:latin typeface="Arial"/>
                <a:cs typeface="Arial"/>
              </a:rPr>
              <a:t>there</a:t>
            </a:r>
            <a:r>
              <a:rPr dirty="0" sz="1200" spc="120">
                <a:latin typeface="Arial"/>
                <a:cs typeface="Arial"/>
              </a:rPr>
              <a:t> </a:t>
            </a:r>
            <a:r>
              <a:rPr dirty="0" sz="1200" spc="-5">
                <a:latin typeface="Arial"/>
                <a:cs typeface="Arial"/>
              </a:rPr>
              <a:t>is</a:t>
            </a:r>
            <a:r>
              <a:rPr dirty="0" sz="1200" spc="135">
                <a:latin typeface="Arial"/>
                <a:cs typeface="Arial"/>
              </a:rPr>
              <a:t> </a:t>
            </a:r>
            <a:r>
              <a:rPr dirty="0" sz="1200" spc="-5">
                <a:latin typeface="Arial"/>
                <a:cs typeface="Arial"/>
              </a:rPr>
              <a:t>only</a:t>
            </a:r>
            <a:r>
              <a:rPr dirty="0" sz="1200" spc="105">
                <a:latin typeface="Arial"/>
                <a:cs typeface="Arial"/>
              </a:rPr>
              <a:t> </a:t>
            </a:r>
            <a:r>
              <a:rPr dirty="0" sz="1200">
                <a:latin typeface="Arial"/>
                <a:cs typeface="Arial"/>
              </a:rPr>
              <a:t>one</a:t>
            </a:r>
            <a:r>
              <a:rPr dirty="0" sz="1200" spc="120">
                <a:latin typeface="Arial"/>
                <a:cs typeface="Arial"/>
              </a:rPr>
              <a:t> </a:t>
            </a:r>
            <a:r>
              <a:rPr dirty="0" sz="1200">
                <a:latin typeface="Arial"/>
                <a:cs typeface="Arial"/>
              </a:rPr>
              <a:t>God,</a:t>
            </a:r>
            <a:r>
              <a:rPr dirty="0" sz="1200" spc="125">
                <a:latin typeface="Arial"/>
                <a:cs typeface="Arial"/>
              </a:rPr>
              <a:t> </a:t>
            </a:r>
            <a:r>
              <a:rPr dirty="0" sz="1200">
                <a:latin typeface="Arial"/>
                <a:cs typeface="Arial"/>
              </a:rPr>
              <a:t>but</a:t>
            </a:r>
            <a:r>
              <a:rPr dirty="0" sz="1200" spc="120">
                <a:latin typeface="Arial"/>
                <a:cs typeface="Arial"/>
              </a:rPr>
              <a:t> </a:t>
            </a:r>
            <a:r>
              <a:rPr dirty="0" sz="1200" spc="-10">
                <a:latin typeface="Arial"/>
                <a:cs typeface="Arial"/>
              </a:rPr>
              <a:t>within</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81280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20" b="1">
                <a:latin typeface="Times New Roman"/>
                <a:cs typeface="Times New Roman"/>
              </a:rPr>
              <a:t> </a:t>
            </a:r>
            <a:r>
              <a:rPr dirty="0" sz="1200" b="1">
                <a:latin typeface="Times New Roman"/>
                <a:cs typeface="Times New Roman"/>
              </a:rPr>
              <a:t>171</a:t>
            </a:r>
            <a:endParaRPr sz="1200">
              <a:latin typeface="Times New Roman"/>
              <a:cs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265" cy="9368790"/>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5080">
              <a:lnSpc>
                <a:spcPct val="95900"/>
              </a:lnSpc>
            </a:pPr>
            <a:r>
              <a:rPr dirty="0" sz="1200">
                <a:latin typeface="Arial"/>
                <a:cs typeface="Arial"/>
              </a:rPr>
              <a:t>this </a:t>
            </a:r>
            <a:r>
              <a:rPr dirty="0" sz="1200" spc="-5">
                <a:latin typeface="Arial"/>
                <a:cs typeface="Arial"/>
              </a:rPr>
              <a:t>one God are three </a:t>
            </a:r>
            <a:r>
              <a:rPr dirty="0" sz="1200">
                <a:latin typeface="Arial"/>
                <a:cs typeface="Arial"/>
              </a:rPr>
              <a:t>distinct </a:t>
            </a:r>
            <a:r>
              <a:rPr dirty="0" sz="1200" spc="-5">
                <a:latin typeface="Arial"/>
                <a:cs typeface="Arial"/>
              </a:rPr>
              <a:t>yet equal </a:t>
            </a:r>
            <a:r>
              <a:rPr dirty="0" sz="1200">
                <a:latin typeface="Arial"/>
                <a:cs typeface="Arial"/>
              </a:rPr>
              <a:t>persons—God </a:t>
            </a:r>
            <a:r>
              <a:rPr dirty="0" sz="1200" spc="-5">
                <a:latin typeface="Arial"/>
                <a:cs typeface="Arial"/>
              </a:rPr>
              <a:t>the Father, </a:t>
            </a:r>
            <a:r>
              <a:rPr dirty="0" sz="1200">
                <a:latin typeface="Arial"/>
                <a:cs typeface="Arial"/>
              </a:rPr>
              <a:t>God the </a:t>
            </a:r>
            <a:r>
              <a:rPr dirty="0" sz="1200" spc="-5">
                <a:latin typeface="Arial"/>
                <a:cs typeface="Arial"/>
              </a:rPr>
              <a:t>Son, and God  </a:t>
            </a:r>
            <a:r>
              <a:rPr dirty="0" sz="1200">
                <a:latin typeface="Arial"/>
                <a:cs typeface="Arial"/>
              </a:rPr>
              <a:t>the </a:t>
            </a:r>
            <a:r>
              <a:rPr dirty="0" sz="1200" spc="-5">
                <a:latin typeface="Arial"/>
                <a:cs typeface="Arial"/>
              </a:rPr>
              <a:t>Holy Spirit. </a:t>
            </a:r>
            <a:r>
              <a:rPr dirty="0" sz="1200">
                <a:latin typeface="Arial"/>
                <a:cs typeface="Arial"/>
              </a:rPr>
              <a:t>Only </a:t>
            </a:r>
            <a:r>
              <a:rPr dirty="0" sz="1200" spc="-5">
                <a:latin typeface="Arial"/>
                <a:cs typeface="Arial"/>
              </a:rPr>
              <a:t>biblical Christianity </a:t>
            </a:r>
            <a:r>
              <a:rPr dirty="0" sz="1200">
                <a:latin typeface="Arial"/>
                <a:cs typeface="Arial"/>
              </a:rPr>
              <a:t>affirms </a:t>
            </a:r>
            <a:r>
              <a:rPr dirty="0" sz="1200" spc="-5">
                <a:latin typeface="Arial"/>
                <a:cs typeface="Arial"/>
              </a:rPr>
              <a:t>Trinitarian </a:t>
            </a:r>
            <a:r>
              <a:rPr dirty="0" sz="1200" spc="-15">
                <a:latin typeface="Arial"/>
                <a:cs typeface="Arial"/>
              </a:rPr>
              <a:t>Monotheism.‖ </a:t>
            </a:r>
            <a:r>
              <a:rPr dirty="0" sz="1200" spc="-5">
                <a:latin typeface="Arial"/>
                <a:cs typeface="Arial"/>
              </a:rPr>
              <a:t>Islam believes in  </a:t>
            </a:r>
            <a:r>
              <a:rPr dirty="0" sz="1200">
                <a:latin typeface="Arial"/>
                <a:cs typeface="Arial"/>
              </a:rPr>
              <a:t>one </a:t>
            </a:r>
            <a:r>
              <a:rPr dirty="0" sz="1200" spc="-5">
                <a:latin typeface="Arial"/>
                <a:cs typeface="Arial"/>
              </a:rPr>
              <a:t>God without regard </a:t>
            </a:r>
            <a:r>
              <a:rPr dirty="0" sz="1200">
                <a:latin typeface="Arial"/>
                <a:cs typeface="Arial"/>
              </a:rPr>
              <a:t>for the </a:t>
            </a:r>
            <a:r>
              <a:rPr dirty="0" sz="1200" spc="-5">
                <a:latin typeface="Arial"/>
                <a:cs typeface="Arial"/>
              </a:rPr>
              <a:t>trinity. </a:t>
            </a:r>
            <a:r>
              <a:rPr dirty="0" sz="1200" spc="-204">
                <a:latin typeface="Arial"/>
                <a:cs typeface="Arial"/>
              </a:rPr>
              <a:t>―The </a:t>
            </a:r>
            <a:r>
              <a:rPr dirty="0" sz="1200" spc="-5">
                <a:latin typeface="Arial"/>
                <a:cs typeface="Arial"/>
              </a:rPr>
              <a:t>most basic belief of Islam is </a:t>
            </a:r>
            <a:r>
              <a:rPr dirty="0" sz="1200">
                <a:latin typeface="Arial"/>
                <a:cs typeface="Arial"/>
              </a:rPr>
              <a:t>that </a:t>
            </a:r>
            <a:r>
              <a:rPr dirty="0" sz="1200" spc="-5">
                <a:latin typeface="Arial"/>
                <a:cs typeface="Arial"/>
              </a:rPr>
              <a:t>there is only </a:t>
            </a:r>
            <a:r>
              <a:rPr dirty="0" sz="1200">
                <a:latin typeface="Arial"/>
                <a:cs typeface="Arial"/>
              </a:rPr>
              <a:t>one  God, </a:t>
            </a:r>
            <a:r>
              <a:rPr dirty="0" sz="1200" spc="-5">
                <a:latin typeface="Arial"/>
                <a:cs typeface="Arial"/>
              </a:rPr>
              <a:t>who is called </a:t>
            </a:r>
            <a:r>
              <a:rPr dirty="0" sz="1200" spc="-20">
                <a:latin typeface="Arial"/>
                <a:cs typeface="Arial"/>
              </a:rPr>
              <a:t>Allah…‖ </a:t>
            </a:r>
            <a:r>
              <a:rPr dirty="0" sz="1200" spc="-5">
                <a:latin typeface="Arial"/>
                <a:cs typeface="Arial"/>
              </a:rPr>
              <a:t>Judaism also holds </a:t>
            </a:r>
            <a:r>
              <a:rPr dirty="0" sz="1200">
                <a:latin typeface="Arial"/>
                <a:cs typeface="Arial"/>
              </a:rPr>
              <a:t>the </a:t>
            </a:r>
            <a:r>
              <a:rPr dirty="0" sz="1200" spc="-5">
                <a:latin typeface="Arial"/>
                <a:cs typeface="Arial"/>
              </a:rPr>
              <a:t>belief of one </a:t>
            </a:r>
            <a:r>
              <a:rPr dirty="0" sz="1200">
                <a:latin typeface="Arial"/>
                <a:cs typeface="Arial"/>
              </a:rPr>
              <a:t>God </a:t>
            </a:r>
            <a:r>
              <a:rPr dirty="0" sz="1200" spc="-10">
                <a:latin typeface="Arial"/>
                <a:cs typeface="Arial"/>
              </a:rPr>
              <a:t>who </a:t>
            </a:r>
            <a:r>
              <a:rPr dirty="0" sz="1200" spc="-5">
                <a:latin typeface="Arial"/>
                <a:cs typeface="Arial"/>
              </a:rPr>
              <a:t>is </a:t>
            </a:r>
            <a:r>
              <a:rPr dirty="0" sz="1200">
                <a:latin typeface="Arial"/>
                <a:cs typeface="Arial"/>
              </a:rPr>
              <a:t>almighty </a:t>
            </a:r>
            <a:r>
              <a:rPr dirty="0" sz="1200" spc="-10">
                <a:latin typeface="Arial"/>
                <a:cs typeface="Arial"/>
              </a:rPr>
              <a:t>and  </a:t>
            </a:r>
            <a:r>
              <a:rPr dirty="0" sz="1200" spc="-5">
                <a:latin typeface="Arial"/>
                <a:cs typeface="Arial"/>
              </a:rPr>
              <a:t>everlasting. </a:t>
            </a:r>
            <a:r>
              <a:rPr dirty="0" sz="1200">
                <a:latin typeface="Arial"/>
                <a:cs typeface="Arial"/>
              </a:rPr>
              <a:t>Islam </a:t>
            </a:r>
            <a:r>
              <a:rPr dirty="0" sz="1200" spc="-5">
                <a:latin typeface="Arial"/>
                <a:cs typeface="Arial"/>
              </a:rPr>
              <a:t>goes a bit farther and proclaims that </a:t>
            </a:r>
            <a:r>
              <a:rPr dirty="0" sz="1200">
                <a:latin typeface="Arial"/>
                <a:cs typeface="Arial"/>
              </a:rPr>
              <a:t>the God </a:t>
            </a:r>
            <a:r>
              <a:rPr dirty="0" sz="1200" spc="-5">
                <a:latin typeface="Arial"/>
                <a:cs typeface="Arial"/>
              </a:rPr>
              <a:t>of the Christians and Jews is  Allah, </a:t>
            </a:r>
            <a:r>
              <a:rPr dirty="0" sz="1200" spc="-120">
                <a:latin typeface="Arial"/>
                <a:cs typeface="Arial"/>
              </a:rPr>
              <a:t>―…there </a:t>
            </a:r>
            <a:r>
              <a:rPr dirty="0" sz="1200" spc="-5">
                <a:latin typeface="Arial"/>
                <a:cs typeface="Arial"/>
              </a:rPr>
              <a:t>is only </a:t>
            </a:r>
            <a:r>
              <a:rPr dirty="0" sz="1200">
                <a:latin typeface="Arial"/>
                <a:cs typeface="Arial"/>
              </a:rPr>
              <a:t>one </a:t>
            </a:r>
            <a:r>
              <a:rPr dirty="0" sz="1200" spc="-5">
                <a:latin typeface="Arial"/>
                <a:cs typeface="Arial"/>
              </a:rPr>
              <a:t>God, who is called Allah, the same </a:t>
            </a:r>
            <a:r>
              <a:rPr dirty="0" sz="1200">
                <a:latin typeface="Arial"/>
                <a:cs typeface="Arial"/>
              </a:rPr>
              <a:t>God </a:t>
            </a:r>
            <a:r>
              <a:rPr dirty="0" sz="1200" spc="-5">
                <a:latin typeface="Arial"/>
                <a:cs typeface="Arial"/>
              </a:rPr>
              <a:t>worshiped </a:t>
            </a:r>
            <a:r>
              <a:rPr dirty="0" sz="1200">
                <a:latin typeface="Arial"/>
                <a:cs typeface="Arial"/>
              </a:rPr>
              <a:t>by </a:t>
            </a:r>
            <a:r>
              <a:rPr dirty="0" sz="1200" spc="-5">
                <a:latin typeface="Arial"/>
                <a:cs typeface="Arial"/>
              </a:rPr>
              <a:t>Jews </a:t>
            </a:r>
            <a:r>
              <a:rPr dirty="0" sz="1200">
                <a:latin typeface="Arial"/>
                <a:cs typeface="Arial"/>
              </a:rPr>
              <a:t>and  </a:t>
            </a:r>
            <a:r>
              <a:rPr dirty="0" sz="1200" spc="-10">
                <a:latin typeface="Arial"/>
                <a:cs typeface="Arial"/>
              </a:rPr>
              <a:t>Christians.‖ </a:t>
            </a:r>
            <a:r>
              <a:rPr dirty="0" sz="1200">
                <a:latin typeface="Arial"/>
                <a:cs typeface="Arial"/>
              </a:rPr>
              <a:t>While </a:t>
            </a:r>
            <a:r>
              <a:rPr dirty="0" sz="1200" spc="-5">
                <a:latin typeface="Arial"/>
                <a:cs typeface="Arial"/>
              </a:rPr>
              <a:t>Judaism and Christianity would disagree with </a:t>
            </a:r>
            <a:r>
              <a:rPr dirty="0" sz="1200">
                <a:latin typeface="Arial"/>
                <a:cs typeface="Arial"/>
              </a:rPr>
              <a:t>this </a:t>
            </a:r>
            <a:r>
              <a:rPr dirty="0" sz="1200" spc="-5">
                <a:latin typeface="Arial"/>
                <a:cs typeface="Arial"/>
              </a:rPr>
              <a:t>statement, they would  also disagree on </a:t>
            </a:r>
            <a:r>
              <a:rPr dirty="0" sz="1200">
                <a:latin typeface="Arial"/>
                <a:cs typeface="Arial"/>
              </a:rPr>
              <a:t>the </a:t>
            </a:r>
            <a:r>
              <a:rPr dirty="0" sz="1200" spc="-5">
                <a:latin typeface="Arial"/>
                <a:cs typeface="Arial"/>
              </a:rPr>
              <a:t>importance of different religious</a:t>
            </a:r>
            <a:r>
              <a:rPr dirty="0" sz="1200">
                <a:latin typeface="Arial"/>
                <a:cs typeface="Arial"/>
              </a:rPr>
              <a:t> </a:t>
            </a:r>
            <a:r>
              <a:rPr dirty="0" sz="1200" spc="-5">
                <a:latin typeface="Arial"/>
                <a:cs typeface="Arial"/>
              </a:rPr>
              <a:t>texts.</a:t>
            </a:r>
            <a:endParaRPr sz="1200">
              <a:latin typeface="Arial"/>
              <a:cs typeface="Arial"/>
            </a:endParaRPr>
          </a:p>
          <a:p>
            <a:pPr algn="just" marL="12700" marR="5080">
              <a:lnSpc>
                <a:spcPct val="95800"/>
              </a:lnSpc>
              <a:spcBef>
                <a:spcPts val="994"/>
              </a:spcBef>
            </a:pPr>
            <a:r>
              <a:rPr dirty="0" sz="1200">
                <a:latin typeface="Arial"/>
                <a:cs typeface="Arial"/>
              </a:rPr>
              <a:t>While </a:t>
            </a:r>
            <a:r>
              <a:rPr dirty="0" sz="1200" spc="-5">
                <a:latin typeface="Arial"/>
                <a:cs typeface="Arial"/>
              </a:rPr>
              <a:t>there are some common religious </a:t>
            </a:r>
            <a:r>
              <a:rPr dirty="0" sz="1200">
                <a:latin typeface="Arial"/>
                <a:cs typeface="Arial"/>
              </a:rPr>
              <a:t>texts </a:t>
            </a:r>
            <a:r>
              <a:rPr dirty="0" sz="1200" spc="-5">
                <a:latin typeface="Arial"/>
                <a:cs typeface="Arial"/>
              </a:rPr>
              <a:t>between </a:t>
            </a:r>
            <a:r>
              <a:rPr dirty="0" sz="1200">
                <a:latin typeface="Arial"/>
                <a:cs typeface="Arial"/>
              </a:rPr>
              <a:t>the </a:t>
            </a:r>
            <a:r>
              <a:rPr dirty="0" sz="1200" spc="-5">
                <a:latin typeface="Arial"/>
                <a:cs typeface="Arial"/>
              </a:rPr>
              <a:t>three religions, </a:t>
            </a:r>
            <a:r>
              <a:rPr dirty="0" sz="1200">
                <a:latin typeface="Arial"/>
                <a:cs typeface="Arial"/>
              </a:rPr>
              <a:t>they </a:t>
            </a:r>
            <a:r>
              <a:rPr dirty="0" sz="1200" spc="-5">
                <a:latin typeface="Arial"/>
                <a:cs typeface="Arial"/>
              </a:rPr>
              <a:t>disagree on  divine inspiration and importance. Christians believe </a:t>
            </a:r>
            <a:r>
              <a:rPr dirty="0" sz="1200">
                <a:latin typeface="Arial"/>
                <a:cs typeface="Arial"/>
              </a:rPr>
              <a:t>that </a:t>
            </a:r>
            <a:r>
              <a:rPr dirty="0" sz="1200" spc="-5">
                <a:latin typeface="Arial"/>
                <a:cs typeface="Arial"/>
              </a:rPr>
              <a:t>the Bible </a:t>
            </a:r>
            <a:r>
              <a:rPr dirty="0" sz="1200" spc="-10">
                <a:latin typeface="Arial"/>
                <a:cs typeface="Arial"/>
              </a:rPr>
              <a:t>is </a:t>
            </a:r>
            <a:r>
              <a:rPr dirty="0" sz="1200">
                <a:latin typeface="Arial"/>
                <a:cs typeface="Arial"/>
              </a:rPr>
              <a:t>the </a:t>
            </a:r>
            <a:r>
              <a:rPr dirty="0" sz="1200" spc="-5">
                <a:latin typeface="Arial"/>
                <a:cs typeface="Arial"/>
              </a:rPr>
              <a:t>word </a:t>
            </a:r>
            <a:r>
              <a:rPr dirty="0" sz="1200">
                <a:latin typeface="Arial"/>
                <a:cs typeface="Arial"/>
              </a:rPr>
              <a:t>of </a:t>
            </a:r>
            <a:r>
              <a:rPr dirty="0" sz="1200" spc="-5">
                <a:latin typeface="Arial"/>
                <a:cs typeface="Arial"/>
              </a:rPr>
              <a:t>God. There  is common belief within Christianity in </a:t>
            </a:r>
            <a:r>
              <a:rPr dirty="0" sz="1200">
                <a:latin typeface="Arial"/>
                <a:cs typeface="Arial"/>
              </a:rPr>
              <a:t>the </a:t>
            </a:r>
            <a:r>
              <a:rPr dirty="0" sz="1200" spc="-5">
                <a:latin typeface="Arial"/>
                <a:cs typeface="Arial"/>
              </a:rPr>
              <a:t>inerrancy </a:t>
            </a:r>
            <a:r>
              <a:rPr dirty="0" sz="1200">
                <a:latin typeface="Arial"/>
                <a:cs typeface="Arial"/>
              </a:rPr>
              <a:t>of </a:t>
            </a:r>
            <a:r>
              <a:rPr dirty="0" sz="1200" spc="-5">
                <a:latin typeface="Arial"/>
                <a:cs typeface="Arial"/>
              </a:rPr>
              <a:t>both </a:t>
            </a:r>
            <a:r>
              <a:rPr dirty="0" sz="1200">
                <a:latin typeface="Arial"/>
                <a:cs typeface="Arial"/>
              </a:rPr>
              <a:t>the Old </a:t>
            </a:r>
            <a:r>
              <a:rPr dirty="0" sz="1200" spc="-5">
                <a:latin typeface="Arial"/>
                <a:cs typeface="Arial"/>
              </a:rPr>
              <a:t>and </a:t>
            </a:r>
            <a:r>
              <a:rPr dirty="0" sz="1200" spc="-10">
                <a:latin typeface="Arial"/>
                <a:cs typeface="Arial"/>
              </a:rPr>
              <a:t>New </a:t>
            </a:r>
            <a:r>
              <a:rPr dirty="0" sz="1200" spc="-5">
                <a:latin typeface="Arial"/>
                <a:cs typeface="Arial"/>
              </a:rPr>
              <a:t>Testaments.  The holy </a:t>
            </a:r>
            <a:r>
              <a:rPr dirty="0" sz="1200">
                <a:latin typeface="Arial"/>
                <a:cs typeface="Arial"/>
              </a:rPr>
              <a:t>book </a:t>
            </a:r>
            <a:r>
              <a:rPr dirty="0" sz="1200" spc="-5">
                <a:latin typeface="Arial"/>
                <a:cs typeface="Arial"/>
              </a:rPr>
              <a:t>of Islam is </a:t>
            </a:r>
            <a:r>
              <a:rPr dirty="0" sz="1200">
                <a:latin typeface="Arial"/>
                <a:cs typeface="Arial"/>
              </a:rPr>
              <a:t>the </a:t>
            </a:r>
            <a:r>
              <a:rPr dirty="0" sz="1200" spc="-5">
                <a:latin typeface="Arial"/>
                <a:cs typeface="Arial"/>
              </a:rPr>
              <a:t>Qur‘an. The Qur‘an is believed </a:t>
            </a:r>
            <a:r>
              <a:rPr dirty="0" sz="1200">
                <a:latin typeface="Arial"/>
                <a:cs typeface="Arial"/>
              </a:rPr>
              <a:t>to be </a:t>
            </a:r>
            <a:r>
              <a:rPr dirty="0" sz="1200" spc="-5">
                <a:latin typeface="Arial"/>
                <a:cs typeface="Arial"/>
              </a:rPr>
              <a:t>the very word </a:t>
            </a:r>
            <a:r>
              <a:rPr dirty="0" sz="1200">
                <a:latin typeface="Arial"/>
                <a:cs typeface="Arial"/>
              </a:rPr>
              <a:t>of </a:t>
            </a:r>
            <a:r>
              <a:rPr dirty="0" sz="1200" spc="-5">
                <a:latin typeface="Arial"/>
                <a:cs typeface="Arial"/>
              </a:rPr>
              <a:t>God and  was </a:t>
            </a:r>
            <a:r>
              <a:rPr dirty="0" sz="1200">
                <a:latin typeface="Arial"/>
                <a:cs typeface="Arial"/>
              </a:rPr>
              <a:t>not </a:t>
            </a:r>
            <a:r>
              <a:rPr dirty="0" sz="1200" spc="-5">
                <a:latin typeface="Arial"/>
                <a:cs typeface="Arial"/>
              </a:rPr>
              <a:t>subject to human interpretation errors. </a:t>
            </a:r>
            <a:r>
              <a:rPr dirty="0" sz="1200" spc="-110">
                <a:latin typeface="Arial"/>
                <a:cs typeface="Arial"/>
              </a:rPr>
              <a:t>―Qur‘an </a:t>
            </a:r>
            <a:r>
              <a:rPr dirty="0" sz="1200" spc="-5">
                <a:latin typeface="Arial"/>
                <a:cs typeface="Arial"/>
              </a:rPr>
              <a:t>is the word of God: It is eternal,  absolute, and </a:t>
            </a:r>
            <a:r>
              <a:rPr dirty="0" sz="1200" spc="-15">
                <a:latin typeface="Arial"/>
                <a:cs typeface="Arial"/>
              </a:rPr>
              <a:t>irrevocable.‖ </a:t>
            </a:r>
            <a:r>
              <a:rPr dirty="0" sz="1200">
                <a:latin typeface="Arial"/>
                <a:cs typeface="Arial"/>
              </a:rPr>
              <a:t>While the </a:t>
            </a:r>
            <a:r>
              <a:rPr dirty="0" sz="1200" spc="-5">
                <a:latin typeface="Arial"/>
                <a:cs typeface="Arial"/>
              </a:rPr>
              <a:t>Christians admit that </a:t>
            </a:r>
            <a:r>
              <a:rPr dirty="0" sz="1200">
                <a:latin typeface="Arial"/>
                <a:cs typeface="Arial"/>
              </a:rPr>
              <a:t>they </a:t>
            </a:r>
            <a:r>
              <a:rPr dirty="0" sz="1200" spc="-5">
                <a:latin typeface="Arial"/>
                <a:cs typeface="Arial"/>
              </a:rPr>
              <a:t>believe </a:t>
            </a:r>
            <a:r>
              <a:rPr dirty="0" sz="1200">
                <a:latin typeface="Arial"/>
                <a:cs typeface="Arial"/>
              </a:rPr>
              <a:t>the </a:t>
            </a:r>
            <a:r>
              <a:rPr dirty="0" sz="1200" spc="-5">
                <a:latin typeface="Arial"/>
                <a:cs typeface="Arial"/>
              </a:rPr>
              <a:t>Bible </a:t>
            </a:r>
            <a:r>
              <a:rPr dirty="0" sz="1200">
                <a:latin typeface="Arial"/>
                <a:cs typeface="Arial"/>
              </a:rPr>
              <a:t>to </a:t>
            </a:r>
            <a:r>
              <a:rPr dirty="0" sz="1200" spc="-5">
                <a:latin typeface="Arial"/>
                <a:cs typeface="Arial"/>
              </a:rPr>
              <a:t>be written  </a:t>
            </a:r>
            <a:r>
              <a:rPr dirty="0" sz="1200">
                <a:latin typeface="Arial"/>
                <a:cs typeface="Arial"/>
              </a:rPr>
              <a:t>by humans </a:t>
            </a:r>
            <a:r>
              <a:rPr dirty="0" sz="1200" spc="-10">
                <a:latin typeface="Arial"/>
                <a:cs typeface="Arial"/>
              </a:rPr>
              <a:t>with </a:t>
            </a:r>
            <a:r>
              <a:rPr dirty="0" sz="1200" spc="-5">
                <a:latin typeface="Arial"/>
                <a:cs typeface="Arial"/>
              </a:rPr>
              <a:t>inspiration of </a:t>
            </a:r>
            <a:r>
              <a:rPr dirty="0" sz="1200">
                <a:latin typeface="Arial"/>
                <a:cs typeface="Arial"/>
              </a:rPr>
              <a:t>the </a:t>
            </a:r>
            <a:r>
              <a:rPr dirty="0" sz="1200" spc="-5">
                <a:latin typeface="Arial"/>
                <a:cs typeface="Arial"/>
              </a:rPr>
              <a:t>Holy Spirit. Since Muslims believe </a:t>
            </a:r>
            <a:r>
              <a:rPr dirty="0" sz="1200">
                <a:latin typeface="Arial"/>
                <a:cs typeface="Arial"/>
              </a:rPr>
              <a:t>so </a:t>
            </a:r>
            <a:r>
              <a:rPr dirty="0" sz="1200" spc="-5">
                <a:latin typeface="Arial"/>
                <a:cs typeface="Arial"/>
              </a:rPr>
              <a:t>firmly in </a:t>
            </a:r>
            <a:r>
              <a:rPr dirty="0" sz="1200">
                <a:latin typeface="Arial"/>
                <a:cs typeface="Arial"/>
              </a:rPr>
              <a:t>the </a:t>
            </a:r>
            <a:r>
              <a:rPr dirty="0" sz="1200" spc="-5">
                <a:latin typeface="Arial"/>
                <a:cs typeface="Arial"/>
              </a:rPr>
              <a:t>Qur‘an,  </a:t>
            </a:r>
            <a:r>
              <a:rPr dirty="0" sz="1200">
                <a:latin typeface="Arial"/>
                <a:cs typeface="Arial"/>
              </a:rPr>
              <a:t>they take </a:t>
            </a:r>
            <a:r>
              <a:rPr dirty="0" sz="1200" spc="-5">
                <a:latin typeface="Arial"/>
                <a:cs typeface="Arial"/>
              </a:rPr>
              <a:t>great efforts </a:t>
            </a:r>
            <a:r>
              <a:rPr dirty="0" sz="1200">
                <a:latin typeface="Arial"/>
                <a:cs typeface="Arial"/>
              </a:rPr>
              <a:t>to </a:t>
            </a:r>
            <a:r>
              <a:rPr dirty="0" sz="1200" spc="-5">
                <a:latin typeface="Arial"/>
                <a:cs typeface="Arial"/>
              </a:rPr>
              <a:t>memorizes as much of </a:t>
            </a:r>
            <a:r>
              <a:rPr dirty="0" sz="1200">
                <a:latin typeface="Arial"/>
                <a:cs typeface="Arial"/>
              </a:rPr>
              <a:t>the </a:t>
            </a:r>
            <a:r>
              <a:rPr dirty="0" sz="1200" spc="-10">
                <a:latin typeface="Arial"/>
                <a:cs typeface="Arial"/>
              </a:rPr>
              <a:t>text </a:t>
            </a:r>
            <a:r>
              <a:rPr dirty="0" sz="1200" spc="-5">
                <a:latin typeface="Arial"/>
                <a:cs typeface="Arial"/>
              </a:rPr>
              <a:t>as possible. Christians also believe  in Bible memorization, however not to the extent of Muslims. </a:t>
            </a:r>
            <a:r>
              <a:rPr dirty="0" sz="1200">
                <a:latin typeface="Arial"/>
                <a:cs typeface="Arial"/>
              </a:rPr>
              <a:t>The </a:t>
            </a:r>
            <a:r>
              <a:rPr dirty="0" sz="1200" spc="-5">
                <a:latin typeface="Arial"/>
                <a:cs typeface="Arial"/>
              </a:rPr>
              <a:t>holy text </a:t>
            </a:r>
            <a:r>
              <a:rPr dirty="0" sz="1200">
                <a:latin typeface="Arial"/>
                <a:cs typeface="Arial"/>
              </a:rPr>
              <a:t>for </a:t>
            </a:r>
            <a:r>
              <a:rPr dirty="0" sz="1200" spc="-5">
                <a:latin typeface="Arial"/>
                <a:cs typeface="Arial"/>
              </a:rPr>
              <a:t>Judaism is </a:t>
            </a:r>
            <a:r>
              <a:rPr dirty="0" sz="1200" spc="-10">
                <a:latin typeface="Arial"/>
                <a:cs typeface="Arial"/>
              </a:rPr>
              <a:t>the  </a:t>
            </a:r>
            <a:r>
              <a:rPr dirty="0" sz="1200" spc="-5">
                <a:latin typeface="Arial"/>
                <a:cs typeface="Arial"/>
              </a:rPr>
              <a:t>Torah. Like Muslims, Jews </a:t>
            </a:r>
            <a:r>
              <a:rPr dirty="0" sz="1200" spc="-10">
                <a:latin typeface="Arial"/>
                <a:cs typeface="Arial"/>
              </a:rPr>
              <a:t>go </a:t>
            </a:r>
            <a:r>
              <a:rPr dirty="0" sz="1200">
                <a:latin typeface="Arial"/>
                <a:cs typeface="Arial"/>
              </a:rPr>
              <a:t>to </a:t>
            </a:r>
            <a:r>
              <a:rPr dirty="0" sz="1200" spc="-5">
                <a:latin typeface="Arial"/>
                <a:cs typeface="Arial"/>
              </a:rPr>
              <a:t>great efforts </a:t>
            </a:r>
            <a:r>
              <a:rPr dirty="0" sz="1200">
                <a:latin typeface="Arial"/>
                <a:cs typeface="Arial"/>
              </a:rPr>
              <a:t>to </a:t>
            </a:r>
            <a:r>
              <a:rPr dirty="0" sz="1200" spc="-5">
                <a:latin typeface="Arial"/>
                <a:cs typeface="Arial"/>
              </a:rPr>
              <a:t>memorize as much of </a:t>
            </a:r>
            <a:r>
              <a:rPr dirty="0" sz="1200">
                <a:latin typeface="Arial"/>
                <a:cs typeface="Arial"/>
              </a:rPr>
              <a:t>their </a:t>
            </a:r>
            <a:r>
              <a:rPr dirty="0" sz="1200" spc="-5">
                <a:latin typeface="Arial"/>
                <a:cs typeface="Arial"/>
              </a:rPr>
              <a:t>holy texts as  possible. </a:t>
            </a:r>
            <a:r>
              <a:rPr dirty="0" sz="1200">
                <a:latin typeface="Arial"/>
                <a:cs typeface="Arial"/>
              </a:rPr>
              <a:t>The </a:t>
            </a:r>
            <a:r>
              <a:rPr dirty="0" sz="1200" spc="-5">
                <a:latin typeface="Arial"/>
                <a:cs typeface="Arial"/>
              </a:rPr>
              <a:t>high emphasis </a:t>
            </a:r>
            <a:r>
              <a:rPr dirty="0" sz="1200" spc="-10">
                <a:latin typeface="Arial"/>
                <a:cs typeface="Arial"/>
              </a:rPr>
              <a:t>on </a:t>
            </a:r>
            <a:r>
              <a:rPr dirty="0" sz="1200" spc="-5">
                <a:latin typeface="Arial"/>
                <a:cs typeface="Arial"/>
              </a:rPr>
              <a:t>memorization shows not only </a:t>
            </a:r>
            <a:r>
              <a:rPr dirty="0" sz="1200">
                <a:latin typeface="Arial"/>
                <a:cs typeface="Arial"/>
              </a:rPr>
              <a:t>their </a:t>
            </a:r>
            <a:r>
              <a:rPr dirty="0" sz="1200" spc="-5">
                <a:latin typeface="Arial"/>
                <a:cs typeface="Arial"/>
              </a:rPr>
              <a:t>dedication, but also their  reverence </a:t>
            </a:r>
            <a:r>
              <a:rPr dirty="0" sz="1200">
                <a:latin typeface="Arial"/>
                <a:cs typeface="Arial"/>
              </a:rPr>
              <a:t>for the </a:t>
            </a:r>
            <a:r>
              <a:rPr dirty="0" sz="1200" spc="-10">
                <a:latin typeface="Arial"/>
                <a:cs typeface="Arial"/>
              </a:rPr>
              <a:t>text </a:t>
            </a:r>
            <a:r>
              <a:rPr dirty="0" sz="1200" spc="-5">
                <a:latin typeface="Arial"/>
                <a:cs typeface="Arial"/>
              </a:rPr>
              <a:t>itself. Even with some common religious texts, the </a:t>
            </a:r>
            <a:r>
              <a:rPr dirty="0" sz="1200">
                <a:latin typeface="Arial"/>
                <a:cs typeface="Arial"/>
              </a:rPr>
              <a:t>three </a:t>
            </a:r>
            <a:r>
              <a:rPr dirty="0" sz="1200" spc="-5">
                <a:latin typeface="Arial"/>
                <a:cs typeface="Arial"/>
              </a:rPr>
              <a:t>religions  </a:t>
            </a:r>
            <a:r>
              <a:rPr dirty="0" sz="1200">
                <a:latin typeface="Arial"/>
                <a:cs typeface="Arial"/>
              </a:rPr>
              <a:t>remain </a:t>
            </a:r>
            <a:r>
              <a:rPr dirty="0" sz="1200" spc="-5">
                <a:latin typeface="Arial"/>
                <a:cs typeface="Arial"/>
              </a:rPr>
              <a:t>divided in their agreement </a:t>
            </a:r>
            <a:r>
              <a:rPr dirty="0" sz="1200" spc="-10">
                <a:latin typeface="Arial"/>
                <a:cs typeface="Arial"/>
              </a:rPr>
              <a:t>on each </a:t>
            </a:r>
            <a:r>
              <a:rPr dirty="0" sz="1200" spc="-5">
                <a:latin typeface="Arial"/>
                <a:cs typeface="Arial"/>
              </a:rPr>
              <a:t>text‘s validity. However, </a:t>
            </a:r>
            <a:r>
              <a:rPr dirty="0" sz="1200">
                <a:latin typeface="Arial"/>
                <a:cs typeface="Arial"/>
              </a:rPr>
              <a:t>they </a:t>
            </a:r>
            <a:r>
              <a:rPr dirty="0" sz="1200" spc="-5">
                <a:latin typeface="Arial"/>
                <a:cs typeface="Arial"/>
              </a:rPr>
              <a:t>all </a:t>
            </a:r>
            <a:r>
              <a:rPr dirty="0" sz="1200">
                <a:latin typeface="Arial"/>
                <a:cs typeface="Arial"/>
              </a:rPr>
              <a:t>agree </a:t>
            </a:r>
            <a:r>
              <a:rPr dirty="0" sz="1200" spc="-5">
                <a:latin typeface="Arial"/>
                <a:cs typeface="Arial"/>
              </a:rPr>
              <a:t>on  Jerusalem </a:t>
            </a:r>
            <a:r>
              <a:rPr dirty="0" sz="1200">
                <a:latin typeface="Arial"/>
                <a:cs typeface="Arial"/>
              </a:rPr>
              <a:t>as </a:t>
            </a:r>
            <a:r>
              <a:rPr dirty="0" sz="1200" spc="-5">
                <a:latin typeface="Arial"/>
                <a:cs typeface="Arial"/>
              </a:rPr>
              <a:t>being a historical and religious </a:t>
            </a:r>
            <a:r>
              <a:rPr dirty="0" sz="1200">
                <a:latin typeface="Arial"/>
                <a:cs typeface="Arial"/>
              </a:rPr>
              <a:t>site for </a:t>
            </a:r>
            <a:r>
              <a:rPr dirty="0" sz="1200" spc="-5">
                <a:latin typeface="Arial"/>
                <a:cs typeface="Arial"/>
              </a:rPr>
              <a:t>each of their</a:t>
            </a:r>
            <a:r>
              <a:rPr dirty="0" sz="1200" spc="15">
                <a:latin typeface="Arial"/>
                <a:cs typeface="Arial"/>
              </a:rPr>
              <a:t> </a:t>
            </a:r>
            <a:r>
              <a:rPr dirty="0" sz="1200" spc="-5">
                <a:latin typeface="Arial"/>
                <a:cs typeface="Arial"/>
              </a:rPr>
              <a:t>religions.</a:t>
            </a:r>
            <a:endParaRPr sz="1200">
              <a:latin typeface="Arial"/>
              <a:cs typeface="Arial"/>
            </a:endParaRPr>
          </a:p>
          <a:p>
            <a:pPr algn="just" marL="12700" marR="5080">
              <a:lnSpc>
                <a:spcPct val="95600"/>
              </a:lnSpc>
              <a:spcBef>
                <a:spcPts val="1015"/>
              </a:spcBef>
            </a:pPr>
            <a:r>
              <a:rPr dirty="0" sz="1200" spc="-5">
                <a:latin typeface="Arial"/>
                <a:cs typeface="Arial"/>
              </a:rPr>
              <a:t>Jerusalem has a rich religious and historical background </a:t>
            </a:r>
            <a:r>
              <a:rPr dirty="0" sz="1200">
                <a:latin typeface="Arial"/>
                <a:cs typeface="Arial"/>
              </a:rPr>
              <a:t>that </a:t>
            </a:r>
            <a:r>
              <a:rPr dirty="0" sz="1200" spc="-5">
                <a:latin typeface="Arial"/>
                <a:cs typeface="Arial"/>
              </a:rPr>
              <a:t>is </a:t>
            </a:r>
            <a:r>
              <a:rPr dirty="0" sz="1200">
                <a:latin typeface="Arial"/>
                <a:cs typeface="Arial"/>
              </a:rPr>
              <a:t>important to </a:t>
            </a:r>
            <a:r>
              <a:rPr dirty="0" sz="1200" spc="-5">
                <a:latin typeface="Arial"/>
                <a:cs typeface="Arial"/>
              </a:rPr>
              <a:t>Islam,  Christianity, and Judaism. </a:t>
            </a:r>
            <a:r>
              <a:rPr dirty="0" sz="1200">
                <a:latin typeface="Arial"/>
                <a:cs typeface="Arial"/>
              </a:rPr>
              <a:t>For </a:t>
            </a:r>
            <a:r>
              <a:rPr dirty="0" sz="1200" spc="-5">
                <a:latin typeface="Arial"/>
                <a:cs typeface="Arial"/>
              </a:rPr>
              <a:t>Muslims, Jerusalem </a:t>
            </a:r>
            <a:r>
              <a:rPr dirty="0" sz="1200" spc="-10">
                <a:latin typeface="Arial"/>
                <a:cs typeface="Arial"/>
              </a:rPr>
              <a:t>was </a:t>
            </a:r>
            <a:r>
              <a:rPr dirty="0" sz="1200" spc="-5">
                <a:latin typeface="Arial"/>
                <a:cs typeface="Arial"/>
              </a:rPr>
              <a:t>the </a:t>
            </a:r>
            <a:r>
              <a:rPr dirty="0" sz="1200">
                <a:latin typeface="Arial"/>
                <a:cs typeface="Arial"/>
              </a:rPr>
              <a:t>first </a:t>
            </a:r>
            <a:r>
              <a:rPr dirty="0" sz="1200" spc="-5">
                <a:latin typeface="Arial"/>
                <a:cs typeface="Arial"/>
              </a:rPr>
              <a:t>place </a:t>
            </a:r>
            <a:r>
              <a:rPr dirty="0" sz="1200">
                <a:latin typeface="Arial"/>
                <a:cs typeface="Arial"/>
              </a:rPr>
              <a:t>they </a:t>
            </a:r>
            <a:r>
              <a:rPr dirty="0" sz="1200" spc="-5">
                <a:latin typeface="Arial"/>
                <a:cs typeface="Arial"/>
              </a:rPr>
              <a:t>were </a:t>
            </a:r>
            <a:r>
              <a:rPr dirty="0" sz="1200">
                <a:latin typeface="Arial"/>
                <a:cs typeface="Arial"/>
              </a:rPr>
              <a:t>instructed </a:t>
            </a:r>
            <a:r>
              <a:rPr dirty="0" sz="1200" spc="-5">
                <a:latin typeface="Arial"/>
                <a:cs typeface="Arial"/>
              </a:rPr>
              <a:t>to  pray toward, </a:t>
            </a:r>
            <a:r>
              <a:rPr dirty="0" sz="1200">
                <a:latin typeface="Arial"/>
                <a:cs typeface="Arial"/>
              </a:rPr>
              <a:t>it </a:t>
            </a:r>
            <a:r>
              <a:rPr dirty="0" sz="1200" spc="-10">
                <a:latin typeface="Arial"/>
                <a:cs typeface="Arial"/>
              </a:rPr>
              <a:t>was </a:t>
            </a:r>
            <a:r>
              <a:rPr dirty="0" sz="1200" spc="-5">
                <a:latin typeface="Arial"/>
                <a:cs typeface="Arial"/>
              </a:rPr>
              <a:t>later changed </a:t>
            </a:r>
            <a:r>
              <a:rPr dirty="0" sz="1200">
                <a:latin typeface="Arial"/>
                <a:cs typeface="Arial"/>
              </a:rPr>
              <a:t>to </a:t>
            </a:r>
            <a:r>
              <a:rPr dirty="0" sz="1200" spc="-5">
                <a:latin typeface="Arial"/>
                <a:cs typeface="Arial"/>
              </a:rPr>
              <a:t>Mecca. The Prophet Muhammad instructed followers of  Islam</a:t>
            </a:r>
            <a:r>
              <a:rPr dirty="0" sz="1200" spc="60">
                <a:latin typeface="Arial"/>
                <a:cs typeface="Arial"/>
              </a:rPr>
              <a:t> </a:t>
            </a:r>
            <a:r>
              <a:rPr dirty="0" sz="1200">
                <a:latin typeface="Arial"/>
                <a:cs typeface="Arial"/>
              </a:rPr>
              <a:t>to</a:t>
            </a:r>
            <a:r>
              <a:rPr dirty="0" sz="1200" spc="45">
                <a:latin typeface="Arial"/>
                <a:cs typeface="Arial"/>
              </a:rPr>
              <a:t> </a:t>
            </a:r>
            <a:r>
              <a:rPr dirty="0" sz="1200" spc="-5">
                <a:latin typeface="Arial"/>
                <a:cs typeface="Arial"/>
              </a:rPr>
              <a:t>embark</a:t>
            </a:r>
            <a:r>
              <a:rPr dirty="0" sz="1200" spc="50">
                <a:latin typeface="Arial"/>
                <a:cs typeface="Arial"/>
              </a:rPr>
              <a:t> </a:t>
            </a:r>
            <a:r>
              <a:rPr dirty="0" sz="1200" spc="-5">
                <a:latin typeface="Arial"/>
                <a:cs typeface="Arial"/>
              </a:rPr>
              <a:t>on</a:t>
            </a:r>
            <a:r>
              <a:rPr dirty="0" sz="1200" spc="60">
                <a:latin typeface="Arial"/>
                <a:cs typeface="Arial"/>
              </a:rPr>
              <a:t> </a:t>
            </a:r>
            <a:r>
              <a:rPr dirty="0" sz="1200" spc="-5">
                <a:latin typeface="Arial"/>
                <a:cs typeface="Arial"/>
              </a:rPr>
              <a:t>journeys</a:t>
            </a:r>
            <a:r>
              <a:rPr dirty="0" sz="1200" spc="50">
                <a:latin typeface="Arial"/>
                <a:cs typeface="Arial"/>
              </a:rPr>
              <a:t> </a:t>
            </a:r>
            <a:r>
              <a:rPr dirty="0" sz="1200">
                <a:latin typeface="Arial"/>
                <a:cs typeface="Arial"/>
              </a:rPr>
              <a:t>to</a:t>
            </a:r>
            <a:r>
              <a:rPr dirty="0" sz="1200" spc="60">
                <a:latin typeface="Arial"/>
                <a:cs typeface="Arial"/>
              </a:rPr>
              <a:t> </a:t>
            </a:r>
            <a:r>
              <a:rPr dirty="0" sz="1200">
                <a:latin typeface="Arial"/>
                <a:cs typeface="Arial"/>
              </a:rPr>
              <a:t>three</a:t>
            </a:r>
            <a:r>
              <a:rPr dirty="0" sz="1200" spc="60">
                <a:latin typeface="Arial"/>
                <a:cs typeface="Arial"/>
              </a:rPr>
              <a:t> </a:t>
            </a:r>
            <a:r>
              <a:rPr dirty="0" sz="1200" spc="-5">
                <a:latin typeface="Arial"/>
                <a:cs typeface="Arial"/>
              </a:rPr>
              <a:t>temples,</a:t>
            </a:r>
            <a:r>
              <a:rPr dirty="0" sz="1200" spc="55">
                <a:latin typeface="Arial"/>
                <a:cs typeface="Arial"/>
              </a:rPr>
              <a:t> </a:t>
            </a:r>
            <a:r>
              <a:rPr dirty="0" sz="1200" spc="-5">
                <a:latin typeface="Arial"/>
                <a:cs typeface="Arial"/>
              </a:rPr>
              <a:t>one</a:t>
            </a:r>
            <a:r>
              <a:rPr dirty="0" sz="1200" spc="55">
                <a:latin typeface="Arial"/>
                <a:cs typeface="Arial"/>
              </a:rPr>
              <a:t> </a:t>
            </a:r>
            <a:r>
              <a:rPr dirty="0" sz="1200" spc="-5">
                <a:latin typeface="Arial"/>
                <a:cs typeface="Arial"/>
              </a:rPr>
              <a:t>of</a:t>
            </a:r>
            <a:r>
              <a:rPr dirty="0" sz="1200" spc="70">
                <a:latin typeface="Arial"/>
                <a:cs typeface="Arial"/>
              </a:rPr>
              <a:t> </a:t>
            </a:r>
            <a:r>
              <a:rPr dirty="0" sz="1200" spc="-5">
                <a:latin typeface="Arial"/>
                <a:cs typeface="Arial"/>
              </a:rPr>
              <a:t>which</a:t>
            </a:r>
            <a:r>
              <a:rPr dirty="0" sz="1200" spc="55">
                <a:latin typeface="Arial"/>
                <a:cs typeface="Arial"/>
              </a:rPr>
              <a:t> </a:t>
            </a:r>
            <a:r>
              <a:rPr dirty="0" sz="1200" spc="-5">
                <a:latin typeface="Arial"/>
                <a:cs typeface="Arial"/>
              </a:rPr>
              <a:t>is</a:t>
            </a:r>
            <a:r>
              <a:rPr dirty="0" sz="1200" spc="50">
                <a:latin typeface="Arial"/>
                <a:cs typeface="Arial"/>
              </a:rPr>
              <a:t> </a:t>
            </a:r>
            <a:r>
              <a:rPr dirty="0" sz="1200">
                <a:latin typeface="Arial"/>
                <a:cs typeface="Arial"/>
              </a:rPr>
              <a:t>the</a:t>
            </a:r>
            <a:r>
              <a:rPr dirty="0" sz="1200" spc="45">
                <a:latin typeface="Arial"/>
                <a:cs typeface="Arial"/>
              </a:rPr>
              <a:t> </a:t>
            </a:r>
            <a:r>
              <a:rPr dirty="0" sz="1200" spc="-5">
                <a:latin typeface="Arial"/>
                <a:cs typeface="Arial"/>
              </a:rPr>
              <a:t>one</a:t>
            </a:r>
            <a:r>
              <a:rPr dirty="0" sz="1200" spc="60">
                <a:latin typeface="Arial"/>
                <a:cs typeface="Arial"/>
              </a:rPr>
              <a:t> </a:t>
            </a:r>
            <a:r>
              <a:rPr dirty="0" sz="1200" spc="-5">
                <a:latin typeface="Arial"/>
                <a:cs typeface="Arial"/>
              </a:rPr>
              <a:t>located</a:t>
            </a:r>
            <a:r>
              <a:rPr dirty="0" sz="1200" spc="55">
                <a:latin typeface="Arial"/>
                <a:cs typeface="Arial"/>
              </a:rPr>
              <a:t> </a:t>
            </a:r>
            <a:r>
              <a:rPr dirty="0" sz="1200" spc="-5">
                <a:latin typeface="Arial"/>
                <a:cs typeface="Arial"/>
              </a:rPr>
              <a:t>in</a:t>
            </a:r>
            <a:r>
              <a:rPr dirty="0" sz="1200" spc="55">
                <a:latin typeface="Arial"/>
                <a:cs typeface="Arial"/>
              </a:rPr>
              <a:t> </a:t>
            </a:r>
            <a:r>
              <a:rPr dirty="0" sz="1200" spc="-5">
                <a:latin typeface="Arial"/>
                <a:cs typeface="Arial"/>
              </a:rPr>
              <a:t>Jerusalem.</a:t>
            </a:r>
            <a:endParaRPr sz="1200">
              <a:latin typeface="Arial"/>
              <a:cs typeface="Arial"/>
            </a:endParaRPr>
          </a:p>
          <a:p>
            <a:pPr algn="just" marL="12700" marR="6350">
              <a:lnSpc>
                <a:spcPct val="95900"/>
              </a:lnSpc>
            </a:pPr>
            <a:r>
              <a:rPr dirty="0" sz="1200" spc="-270">
                <a:latin typeface="Arial"/>
                <a:cs typeface="Arial"/>
              </a:rPr>
              <a:t>―It </a:t>
            </a:r>
            <a:r>
              <a:rPr dirty="0" sz="1200" spc="-5">
                <a:latin typeface="Arial"/>
                <a:cs typeface="Arial"/>
              </a:rPr>
              <a:t>is </a:t>
            </a:r>
            <a:r>
              <a:rPr dirty="0" sz="1200">
                <a:latin typeface="Arial"/>
                <a:cs typeface="Arial"/>
              </a:rPr>
              <a:t>reported </a:t>
            </a:r>
            <a:r>
              <a:rPr dirty="0" sz="1200" spc="-5">
                <a:latin typeface="Arial"/>
                <a:cs typeface="Arial"/>
              </a:rPr>
              <a:t>that </a:t>
            </a:r>
            <a:r>
              <a:rPr dirty="0" sz="1200">
                <a:latin typeface="Arial"/>
                <a:cs typeface="Arial"/>
              </a:rPr>
              <a:t>the </a:t>
            </a:r>
            <a:r>
              <a:rPr dirty="0" sz="1200" spc="-5">
                <a:latin typeface="Arial"/>
                <a:cs typeface="Arial"/>
              </a:rPr>
              <a:t>Prophet Muhammad said, "There </a:t>
            </a:r>
            <a:r>
              <a:rPr dirty="0" sz="1200">
                <a:latin typeface="Arial"/>
                <a:cs typeface="Arial"/>
              </a:rPr>
              <a:t>are only </a:t>
            </a:r>
            <a:r>
              <a:rPr dirty="0" sz="1200" spc="5">
                <a:latin typeface="Arial"/>
                <a:cs typeface="Arial"/>
              </a:rPr>
              <a:t>three </a:t>
            </a:r>
            <a:r>
              <a:rPr dirty="0" sz="1200" spc="-5">
                <a:latin typeface="Arial"/>
                <a:cs typeface="Arial"/>
              </a:rPr>
              <a:t>mosques </a:t>
            </a:r>
            <a:r>
              <a:rPr dirty="0" sz="1200">
                <a:latin typeface="Arial"/>
                <a:cs typeface="Arial"/>
              </a:rPr>
              <a:t>to </a:t>
            </a:r>
            <a:r>
              <a:rPr dirty="0" sz="1200" spc="-5">
                <a:latin typeface="Arial"/>
                <a:cs typeface="Arial"/>
              </a:rPr>
              <a:t>which </a:t>
            </a:r>
            <a:r>
              <a:rPr dirty="0" sz="1200" spc="-10">
                <a:latin typeface="Arial"/>
                <a:cs typeface="Arial"/>
              </a:rPr>
              <a:t>you  </a:t>
            </a:r>
            <a:r>
              <a:rPr dirty="0" sz="1200" spc="-5">
                <a:latin typeface="Arial"/>
                <a:cs typeface="Arial"/>
              </a:rPr>
              <a:t>should embark </a:t>
            </a:r>
            <a:r>
              <a:rPr dirty="0" sz="1200" spc="-10">
                <a:latin typeface="Arial"/>
                <a:cs typeface="Arial"/>
              </a:rPr>
              <a:t>on </a:t>
            </a:r>
            <a:r>
              <a:rPr dirty="0" sz="1200" spc="-5">
                <a:latin typeface="Arial"/>
                <a:cs typeface="Arial"/>
              </a:rPr>
              <a:t>a </a:t>
            </a:r>
            <a:r>
              <a:rPr dirty="0" sz="1200" spc="-10">
                <a:latin typeface="Arial"/>
                <a:cs typeface="Arial"/>
              </a:rPr>
              <a:t>journey: </a:t>
            </a:r>
            <a:r>
              <a:rPr dirty="0" sz="1200">
                <a:latin typeface="Arial"/>
                <a:cs typeface="Arial"/>
              </a:rPr>
              <a:t>the </a:t>
            </a:r>
            <a:r>
              <a:rPr dirty="0" sz="1200" spc="-5">
                <a:latin typeface="Arial"/>
                <a:cs typeface="Arial"/>
              </a:rPr>
              <a:t>sacred mosque (Mecca, Saudi Arabia), </a:t>
            </a:r>
            <a:r>
              <a:rPr dirty="0" sz="1200">
                <a:latin typeface="Arial"/>
                <a:cs typeface="Arial"/>
              </a:rPr>
              <a:t>this </a:t>
            </a:r>
            <a:r>
              <a:rPr dirty="0" sz="1200" spc="-5">
                <a:latin typeface="Arial"/>
                <a:cs typeface="Arial"/>
              </a:rPr>
              <a:t>mosque of mine  (Madinah, Saudi Arabia), and the mosque of </a:t>
            </a:r>
            <a:r>
              <a:rPr dirty="0" sz="1200">
                <a:latin typeface="Arial"/>
                <a:cs typeface="Arial"/>
              </a:rPr>
              <a:t>Al-Aqsa (Jerusalem)." </a:t>
            </a:r>
            <a:r>
              <a:rPr dirty="0" sz="1200" spc="-5">
                <a:latin typeface="Arial"/>
                <a:cs typeface="Arial"/>
              </a:rPr>
              <a:t>Jerusalem is also  </a:t>
            </a:r>
            <a:r>
              <a:rPr dirty="0" sz="1200">
                <a:latin typeface="Arial"/>
                <a:cs typeface="Arial"/>
              </a:rPr>
              <a:t>significant </a:t>
            </a:r>
            <a:r>
              <a:rPr dirty="0" sz="1200" spc="-5">
                <a:latin typeface="Arial"/>
                <a:cs typeface="Arial"/>
              </a:rPr>
              <a:t>to Muslims because </a:t>
            </a:r>
            <a:r>
              <a:rPr dirty="0" sz="1200">
                <a:latin typeface="Arial"/>
                <a:cs typeface="Arial"/>
              </a:rPr>
              <a:t>it </a:t>
            </a:r>
            <a:r>
              <a:rPr dirty="0" sz="1200" spc="-5">
                <a:latin typeface="Arial"/>
                <a:cs typeface="Arial"/>
              </a:rPr>
              <a:t>is believed </a:t>
            </a:r>
            <a:r>
              <a:rPr dirty="0" sz="1200">
                <a:latin typeface="Arial"/>
                <a:cs typeface="Arial"/>
              </a:rPr>
              <a:t>to </a:t>
            </a:r>
            <a:r>
              <a:rPr dirty="0" sz="1200" spc="-5">
                <a:latin typeface="Arial"/>
                <a:cs typeface="Arial"/>
              </a:rPr>
              <a:t>be the </a:t>
            </a:r>
            <a:r>
              <a:rPr dirty="0" sz="1200" spc="5">
                <a:latin typeface="Arial"/>
                <a:cs typeface="Arial"/>
              </a:rPr>
              <a:t>place </a:t>
            </a:r>
            <a:r>
              <a:rPr dirty="0" sz="1200" spc="-5">
                <a:latin typeface="Arial"/>
                <a:cs typeface="Arial"/>
              </a:rPr>
              <a:t>where </a:t>
            </a:r>
            <a:r>
              <a:rPr dirty="0" sz="1200">
                <a:latin typeface="Arial"/>
                <a:cs typeface="Arial"/>
              </a:rPr>
              <a:t>the </a:t>
            </a:r>
            <a:r>
              <a:rPr dirty="0" sz="1200" spc="-5">
                <a:latin typeface="Arial"/>
                <a:cs typeface="Arial"/>
              </a:rPr>
              <a:t>Prophet Muhammad  acceded into the heavens. </a:t>
            </a:r>
            <a:r>
              <a:rPr dirty="0" sz="1200">
                <a:latin typeface="Arial"/>
                <a:cs typeface="Arial"/>
              </a:rPr>
              <a:t>For </a:t>
            </a:r>
            <a:r>
              <a:rPr dirty="0" sz="1200" spc="-5">
                <a:latin typeface="Arial"/>
                <a:cs typeface="Arial"/>
              </a:rPr>
              <a:t>Christians Jerusalem is also </a:t>
            </a:r>
            <a:r>
              <a:rPr dirty="0" sz="1200" spc="-10">
                <a:latin typeface="Arial"/>
                <a:cs typeface="Arial"/>
              </a:rPr>
              <a:t>an </a:t>
            </a:r>
            <a:r>
              <a:rPr dirty="0" sz="1200" spc="-5">
                <a:latin typeface="Arial"/>
                <a:cs typeface="Arial"/>
              </a:rPr>
              <a:t>important religious place.  They believe that </a:t>
            </a:r>
            <a:r>
              <a:rPr dirty="0" sz="1200">
                <a:latin typeface="Arial"/>
                <a:cs typeface="Arial"/>
              </a:rPr>
              <a:t>it </a:t>
            </a:r>
            <a:r>
              <a:rPr dirty="0" sz="1200" spc="-10">
                <a:latin typeface="Arial"/>
                <a:cs typeface="Arial"/>
              </a:rPr>
              <a:t>is </a:t>
            </a:r>
            <a:r>
              <a:rPr dirty="0" sz="1200">
                <a:latin typeface="Arial"/>
                <a:cs typeface="Arial"/>
              </a:rPr>
              <a:t>the </a:t>
            </a:r>
            <a:r>
              <a:rPr dirty="0" sz="1200" spc="-5">
                <a:latin typeface="Arial"/>
                <a:cs typeface="Arial"/>
              </a:rPr>
              <a:t>place where Jesus completed his earthly </a:t>
            </a:r>
            <a:r>
              <a:rPr dirty="0" sz="1200">
                <a:latin typeface="Arial"/>
                <a:cs typeface="Arial"/>
              </a:rPr>
              <a:t>ministry </a:t>
            </a:r>
            <a:r>
              <a:rPr dirty="0" sz="1200" spc="-5">
                <a:latin typeface="Arial"/>
                <a:cs typeface="Arial"/>
              </a:rPr>
              <a:t>and </a:t>
            </a:r>
            <a:r>
              <a:rPr dirty="0" sz="1200" spc="-10">
                <a:latin typeface="Arial"/>
                <a:cs typeface="Arial"/>
              </a:rPr>
              <a:t>was  </a:t>
            </a:r>
            <a:r>
              <a:rPr dirty="0" sz="1200" spc="-5">
                <a:latin typeface="Arial"/>
                <a:cs typeface="Arial"/>
              </a:rPr>
              <a:t>crucified. </a:t>
            </a:r>
            <a:r>
              <a:rPr dirty="0" sz="1200" spc="-170">
                <a:latin typeface="Arial"/>
                <a:cs typeface="Arial"/>
              </a:rPr>
              <a:t>―Thus </a:t>
            </a:r>
            <a:r>
              <a:rPr dirty="0" sz="1200" spc="-5">
                <a:latin typeface="Arial"/>
                <a:cs typeface="Arial"/>
              </a:rPr>
              <a:t>Jerusalem is </a:t>
            </a:r>
            <a:r>
              <a:rPr dirty="0" sz="1200">
                <a:latin typeface="Arial"/>
                <a:cs typeface="Arial"/>
              </a:rPr>
              <a:t>the </a:t>
            </a:r>
            <a:r>
              <a:rPr dirty="0" sz="1200" spc="-5">
                <a:latin typeface="Arial"/>
                <a:cs typeface="Arial"/>
              </a:rPr>
              <a:t>stage </a:t>
            </a:r>
            <a:r>
              <a:rPr dirty="0" sz="1200">
                <a:latin typeface="Arial"/>
                <a:cs typeface="Arial"/>
              </a:rPr>
              <a:t>on </a:t>
            </a:r>
            <a:r>
              <a:rPr dirty="0" sz="1200" spc="-5">
                <a:latin typeface="Arial"/>
                <a:cs typeface="Arial"/>
              </a:rPr>
              <a:t>which </a:t>
            </a:r>
            <a:r>
              <a:rPr dirty="0" sz="1200" spc="5">
                <a:latin typeface="Arial"/>
                <a:cs typeface="Arial"/>
              </a:rPr>
              <a:t>God's </a:t>
            </a:r>
            <a:r>
              <a:rPr dirty="0" sz="1200" spc="-5">
                <a:latin typeface="Arial"/>
                <a:cs typeface="Arial"/>
              </a:rPr>
              <a:t>plan of salvation was put into </a:t>
            </a:r>
            <a:r>
              <a:rPr dirty="0" sz="1200" spc="-15">
                <a:latin typeface="Arial"/>
                <a:cs typeface="Arial"/>
              </a:rPr>
              <a:t>effect.‖  </a:t>
            </a:r>
            <a:r>
              <a:rPr dirty="0" sz="1200" spc="-5">
                <a:latin typeface="Arial"/>
                <a:cs typeface="Arial"/>
              </a:rPr>
              <a:t>Jerusalem‘s significance goes </a:t>
            </a:r>
            <a:r>
              <a:rPr dirty="0" sz="1200">
                <a:latin typeface="Arial"/>
                <a:cs typeface="Arial"/>
              </a:rPr>
              <a:t>back to the </a:t>
            </a:r>
            <a:r>
              <a:rPr dirty="0" sz="1200" spc="-5">
                <a:latin typeface="Arial"/>
                <a:cs typeface="Arial"/>
              </a:rPr>
              <a:t>foundations of Judaism. Judaism considers  Jerusalem </a:t>
            </a:r>
            <a:r>
              <a:rPr dirty="0" sz="1200">
                <a:latin typeface="Arial"/>
                <a:cs typeface="Arial"/>
              </a:rPr>
              <a:t>to </a:t>
            </a:r>
            <a:r>
              <a:rPr dirty="0" sz="1200" spc="-5">
                <a:latin typeface="Arial"/>
                <a:cs typeface="Arial"/>
              </a:rPr>
              <a:t>be a holy and sacred land. Jews believe in praying toward </a:t>
            </a:r>
            <a:r>
              <a:rPr dirty="0" sz="1200">
                <a:latin typeface="Arial"/>
                <a:cs typeface="Arial"/>
              </a:rPr>
              <a:t>the city </a:t>
            </a:r>
            <a:r>
              <a:rPr dirty="0" sz="1200" spc="-5">
                <a:latin typeface="Arial"/>
                <a:cs typeface="Arial"/>
              </a:rPr>
              <a:t>and  mentioning </a:t>
            </a:r>
            <a:r>
              <a:rPr dirty="0" sz="1200">
                <a:latin typeface="Arial"/>
                <a:cs typeface="Arial"/>
              </a:rPr>
              <a:t>the city often </a:t>
            </a:r>
            <a:r>
              <a:rPr dirty="0" sz="1200" spc="-5">
                <a:latin typeface="Arial"/>
                <a:cs typeface="Arial"/>
              </a:rPr>
              <a:t>in </a:t>
            </a:r>
            <a:r>
              <a:rPr dirty="0" sz="1200">
                <a:latin typeface="Arial"/>
                <a:cs typeface="Arial"/>
              </a:rPr>
              <a:t>their </a:t>
            </a:r>
            <a:r>
              <a:rPr dirty="0" sz="1200" spc="-5">
                <a:latin typeface="Arial"/>
                <a:cs typeface="Arial"/>
              </a:rPr>
              <a:t>prayers. </a:t>
            </a:r>
            <a:r>
              <a:rPr dirty="0" sz="1200">
                <a:latin typeface="Arial"/>
                <a:cs typeface="Arial"/>
              </a:rPr>
              <a:t>Jerusalem </a:t>
            </a:r>
            <a:r>
              <a:rPr dirty="0" sz="1200" spc="-10">
                <a:latin typeface="Arial"/>
                <a:cs typeface="Arial"/>
              </a:rPr>
              <a:t>was </a:t>
            </a:r>
            <a:r>
              <a:rPr dirty="0" sz="1200" spc="-5">
                <a:latin typeface="Arial"/>
                <a:cs typeface="Arial"/>
              </a:rPr>
              <a:t>proclaimed a religious capital by  King Solomon and </a:t>
            </a:r>
            <a:r>
              <a:rPr dirty="0" sz="1200" spc="-10">
                <a:latin typeface="Arial"/>
                <a:cs typeface="Arial"/>
              </a:rPr>
              <a:t>was </a:t>
            </a:r>
            <a:r>
              <a:rPr dirty="0" sz="1200">
                <a:latin typeface="Arial"/>
                <a:cs typeface="Arial"/>
              </a:rPr>
              <a:t>the </a:t>
            </a:r>
            <a:r>
              <a:rPr dirty="0" sz="1200" spc="-5">
                <a:latin typeface="Arial"/>
                <a:cs typeface="Arial"/>
              </a:rPr>
              <a:t>location of the </a:t>
            </a:r>
            <a:r>
              <a:rPr dirty="0" sz="1200">
                <a:latin typeface="Arial"/>
                <a:cs typeface="Arial"/>
              </a:rPr>
              <a:t>main </a:t>
            </a:r>
            <a:r>
              <a:rPr dirty="0" sz="1200" spc="-10">
                <a:latin typeface="Arial"/>
                <a:cs typeface="Arial"/>
              </a:rPr>
              <a:t>Jewish </a:t>
            </a:r>
            <a:r>
              <a:rPr dirty="0" sz="1200" spc="-5">
                <a:latin typeface="Arial"/>
                <a:cs typeface="Arial"/>
              </a:rPr>
              <a:t>temple. Jerusalem remains equally  important </a:t>
            </a:r>
            <a:r>
              <a:rPr dirty="0" sz="1200">
                <a:latin typeface="Arial"/>
                <a:cs typeface="Arial"/>
              </a:rPr>
              <a:t>to </a:t>
            </a:r>
            <a:r>
              <a:rPr dirty="0" sz="1200" spc="-5">
                <a:latin typeface="Arial"/>
                <a:cs typeface="Arial"/>
              </a:rPr>
              <a:t>all </a:t>
            </a:r>
            <a:r>
              <a:rPr dirty="0" sz="1200">
                <a:latin typeface="Arial"/>
                <a:cs typeface="Arial"/>
              </a:rPr>
              <a:t>three </a:t>
            </a:r>
            <a:r>
              <a:rPr dirty="0" sz="1200" spc="-5">
                <a:latin typeface="Arial"/>
                <a:cs typeface="Arial"/>
              </a:rPr>
              <a:t>religions </a:t>
            </a:r>
            <a:r>
              <a:rPr dirty="0" sz="1200">
                <a:latin typeface="Arial"/>
                <a:cs typeface="Arial"/>
              </a:rPr>
              <a:t>to this </a:t>
            </a:r>
            <a:r>
              <a:rPr dirty="0" sz="1200" spc="-5">
                <a:latin typeface="Arial"/>
                <a:cs typeface="Arial"/>
              </a:rPr>
              <a:t>day. Prayer is also very </a:t>
            </a:r>
            <a:r>
              <a:rPr dirty="0" sz="1200">
                <a:latin typeface="Arial"/>
                <a:cs typeface="Arial"/>
              </a:rPr>
              <a:t>important, </a:t>
            </a:r>
            <a:r>
              <a:rPr dirty="0" sz="1200" spc="-5">
                <a:latin typeface="Arial"/>
                <a:cs typeface="Arial"/>
              </a:rPr>
              <a:t>but different in each  of the three</a:t>
            </a:r>
            <a:r>
              <a:rPr dirty="0" sz="1200" spc="20">
                <a:latin typeface="Arial"/>
                <a:cs typeface="Arial"/>
              </a:rPr>
              <a:t> </a:t>
            </a:r>
            <a:r>
              <a:rPr dirty="0" sz="1200" spc="-5">
                <a:latin typeface="Arial"/>
                <a:cs typeface="Arial"/>
              </a:rPr>
              <a:t>religions.</a:t>
            </a:r>
            <a:endParaRPr sz="1200">
              <a:latin typeface="Arial"/>
              <a:cs typeface="Arial"/>
            </a:endParaRPr>
          </a:p>
          <a:p>
            <a:pPr algn="just" marL="12700" marR="6985">
              <a:lnSpc>
                <a:spcPct val="95700"/>
              </a:lnSpc>
              <a:spcBef>
                <a:spcPts val="1005"/>
              </a:spcBef>
            </a:pPr>
            <a:r>
              <a:rPr dirty="0" sz="1200" spc="-5">
                <a:latin typeface="Arial"/>
                <a:cs typeface="Arial"/>
              </a:rPr>
              <a:t>All three religions believe in prayer as a way </a:t>
            </a:r>
            <a:r>
              <a:rPr dirty="0" sz="1200">
                <a:latin typeface="Arial"/>
                <a:cs typeface="Arial"/>
              </a:rPr>
              <a:t>to </a:t>
            </a:r>
            <a:r>
              <a:rPr dirty="0" sz="1200" spc="-5">
                <a:latin typeface="Arial"/>
                <a:cs typeface="Arial"/>
              </a:rPr>
              <a:t>communicate with </a:t>
            </a:r>
            <a:r>
              <a:rPr dirty="0" sz="1200">
                <a:latin typeface="Arial"/>
                <a:cs typeface="Arial"/>
              </a:rPr>
              <a:t>God; </a:t>
            </a:r>
            <a:r>
              <a:rPr dirty="0" sz="1200" spc="-5">
                <a:latin typeface="Arial"/>
                <a:cs typeface="Arial"/>
              </a:rPr>
              <a:t>however they </a:t>
            </a:r>
            <a:r>
              <a:rPr dirty="0" sz="1200">
                <a:latin typeface="Arial"/>
                <a:cs typeface="Arial"/>
              </a:rPr>
              <a:t>differ </a:t>
            </a:r>
            <a:r>
              <a:rPr dirty="0" sz="1200" spc="-5">
                <a:latin typeface="Arial"/>
                <a:cs typeface="Arial"/>
              </a:rPr>
              <a:t>in  how </a:t>
            </a:r>
            <a:r>
              <a:rPr dirty="0" sz="1200">
                <a:latin typeface="Arial"/>
                <a:cs typeface="Arial"/>
              </a:rPr>
              <a:t>they </a:t>
            </a:r>
            <a:r>
              <a:rPr dirty="0" sz="1200" spc="-5">
                <a:latin typeface="Arial"/>
                <a:cs typeface="Arial"/>
              </a:rPr>
              <a:t>should approach Him in prayer. </a:t>
            </a:r>
            <a:r>
              <a:rPr dirty="0" sz="1200">
                <a:latin typeface="Arial"/>
                <a:cs typeface="Arial"/>
              </a:rPr>
              <a:t>In Islam, </a:t>
            </a:r>
            <a:r>
              <a:rPr dirty="0" sz="1200" spc="-5">
                <a:latin typeface="Arial"/>
                <a:cs typeface="Arial"/>
              </a:rPr>
              <a:t>prayer is one of </a:t>
            </a:r>
            <a:r>
              <a:rPr dirty="0" sz="1200">
                <a:latin typeface="Arial"/>
                <a:cs typeface="Arial"/>
              </a:rPr>
              <a:t>the </a:t>
            </a:r>
            <a:r>
              <a:rPr dirty="0" sz="1200" spc="-5">
                <a:latin typeface="Arial"/>
                <a:cs typeface="Arial"/>
              </a:rPr>
              <a:t>Five Pillars </a:t>
            </a:r>
            <a:r>
              <a:rPr dirty="0" sz="1200">
                <a:latin typeface="Arial"/>
                <a:cs typeface="Arial"/>
              </a:rPr>
              <a:t>of faith.  </a:t>
            </a:r>
            <a:r>
              <a:rPr dirty="0" sz="1200" spc="-5">
                <a:latin typeface="Arial"/>
                <a:cs typeface="Arial"/>
              </a:rPr>
              <a:t>Muslims are </a:t>
            </a:r>
            <a:r>
              <a:rPr dirty="0" sz="1200">
                <a:latin typeface="Arial"/>
                <a:cs typeface="Arial"/>
              </a:rPr>
              <a:t>told to </a:t>
            </a:r>
            <a:r>
              <a:rPr dirty="0" sz="1200" spc="-10">
                <a:latin typeface="Arial"/>
                <a:cs typeface="Arial"/>
              </a:rPr>
              <a:t>pray </a:t>
            </a:r>
            <a:r>
              <a:rPr dirty="0" sz="1200" spc="-5">
                <a:latin typeface="Arial"/>
                <a:cs typeface="Arial"/>
              </a:rPr>
              <a:t>five </a:t>
            </a:r>
            <a:r>
              <a:rPr dirty="0" sz="1200">
                <a:latin typeface="Arial"/>
                <a:cs typeface="Arial"/>
              </a:rPr>
              <a:t>times </a:t>
            </a:r>
            <a:r>
              <a:rPr dirty="0" sz="1200" spc="-5">
                <a:latin typeface="Arial"/>
                <a:cs typeface="Arial"/>
              </a:rPr>
              <a:t>a day toward Mecca. </a:t>
            </a:r>
            <a:r>
              <a:rPr dirty="0" sz="1200">
                <a:latin typeface="Arial"/>
                <a:cs typeface="Arial"/>
              </a:rPr>
              <a:t>During </a:t>
            </a:r>
            <a:r>
              <a:rPr dirty="0" sz="1200" spc="5">
                <a:latin typeface="Arial"/>
                <a:cs typeface="Arial"/>
              </a:rPr>
              <a:t>their </a:t>
            </a:r>
            <a:r>
              <a:rPr dirty="0" sz="1200" spc="-5">
                <a:latin typeface="Arial"/>
                <a:cs typeface="Arial"/>
              </a:rPr>
              <a:t>prayer </a:t>
            </a:r>
            <a:r>
              <a:rPr dirty="0" sz="1200">
                <a:latin typeface="Arial"/>
                <a:cs typeface="Arial"/>
              </a:rPr>
              <a:t>time, male </a:t>
            </a:r>
            <a:r>
              <a:rPr dirty="0" sz="1200" spc="-5">
                <a:latin typeface="Arial"/>
                <a:cs typeface="Arial"/>
              </a:rPr>
              <a:t>and  females are separated and each person must wash themselves </a:t>
            </a:r>
            <a:r>
              <a:rPr dirty="0" sz="1200">
                <a:latin typeface="Arial"/>
                <a:cs typeface="Arial"/>
              </a:rPr>
              <a:t>to cleanse </a:t>
            </a:r>
            <a:r>
              <a:rPr dirty="0" sz="1200" spc="-5">
                <a:latin typeface="Arial"/>
                <a:cs typeface="Arial"/>
              </a:rPr>
              <a:t>themselves of  </a:t>
            </a:r>
            <a:r>
              <a:rPr dirty="0" sz="1200">
                <a:latin typeface="Arial"/>
                <a:cs typeface="Arial"/>
              </a:rPr>
              <a:t>any </a:t>
            </a:r>
            <a:r>
              <a:rPr dirty="0" sz="1200" spc="-5">
                <a:latin typeface="Arial"/>
                <a:cs typeface="Arial"/>
              </a:rPr>
              <a:t>impurities. Prayer plays </a:t>
            </a:r>
            <a:r>
              <a:rPr dirty="0" sz="1200">
                <a:latin typeface="Arial"/>
                <a:cs typeface="Arial"/>
              </a:rPr>
              <a:t>an </a:t>
            </a:r>
            <a:r>
              <a:rPr dirty="0" sz="1200" spc="-5">
                <a:latin typeface="Arial"/>
                <a:cs typeface="Arial"/>
              </a:rPr>
              <a:t>import </a:t>
            </a:r>
            <a:r>
              <a:rPr dirty="0" sz="1200">
                <a:latin typeface="Arial"/>
                <a:cs typeface="Arial"/>
              </a:rPr>
              <a:t>role </a:t>
            </a:r>
            <a:r>
              <a:rPr dirty="0" sz="1200" spc="-10">
                <a:latin typeface="Arial"/>
                <a:cs typeface="Arial"/>
              </a:rPr>
              <a:t>in </a:t>
            </a:r>
            <a:r>
              <a:rPr dirty="0" sz="1200" spc="-5">
                <a:latin typeface="Arial"/>
                <a:cs typeface="Arial"/>
              </a:rPr>
              <a:t>the life of Jews also. </a:t>
            </a:r>
            <a:r>
              <a:rPr dirty="0" sz="1200" spc="-165">
                <a:latin typeface="Arial"/>
                <a:cs typeface="Arial"/>
              </a:rPr>
              <a:t>―Jews </a:t>
            </a:r>
            <a:r>
              <a:rPr dirty="0" sz="1200">
                <a:latin typeface="Arial"/>
                <a:cs typeface="Arial"/>
              </a:rPr>
              <a:t>are </a:t>
            </a:r>
            <a:r>
              <a:rPr dirty="0" sz="1200" spc="-5">
                <a:latin typeface="Arial"/>
                <a:cs typeface="Arial"/>
              </a:rPr>
              <a:t>supposed to  pray </a:t>
            </a:r>
            <a:r>
              <a:rPr dirty="0" sz="1200">
                <a:latin typeface="Arial"/>
                <a:cs typeface="Arial"/>
              </a:rPr>
              <a:t>three times </a:t>
            </a:r>
            <a:r>
              <a:rPr dirty="0" sz="1200" spc="-5">
                <a:latin typeface="Arial"/>
                <a:cs typeface="Arial"/>
              </a:rPr>
              <a:t>a </a:t>
            </a:r>
            <a:r>
              <a:rPr dirty="0" sz="1200" spc="-10">
                <a:latin typeface="Arial"/>
                <a:cs typeface="Arial"/>
              </a:rPr>
              <a:t>day; </a:t>
            </a:r>
            <a:r>
              <a:rPr dirty="0" sz="1200" spc="-5">
                <a:latin typeface="Arial"/>
                <a:cs typeface="Arial"/>
              </a:rPr>
              <a:t>morning, afternoon, and </a:t>
            </a:r>
            <a:r>
              <a:rPr dirty="0" sz="1200" spc="-10">
                <a:latin typeface="Arial"/>
                <a:cs typeface="Arial"/>
              </a:rPr>
              <a:t>evening.‖ </a:t>
            </a:r>
            <a:r>
              <a:rPr dirty="0" sz="1200">
                <a:latin typeface="Arial"/>
                <a:cs typeface="Arial"/>
              </a:rPr>
              <a:t>They </a:t>
            </a:r>
            <a:r>
              <a:rPr dirty="0" sz="1200" spc="-5">
                <a:latin typeface="Arial"/>
                <a:cs typeface="Arial"/>
              </a:rPr>
              <a:t>believe </a:t>
            </a:r>
            <a:r>
              <a:rPr dirty="0" sz="1200">
                <a:latin typeface="Arial"/>
                <a:cs typeface="Arial"/>
              </a:rPr>
              <a:t>that the </a:t>
            </a:r>
            <a:r>
              <a:rPr dirty="0" sz="1200" spc="-5">
                <a:latin typeface="Arial"/>
                <a:cs typeface="Arial"/>
              </a:rPr>
              <a:t>more they  pray, </a:t>
            </a:r>
            <a:r>
              <a:rPr dirty="0" sz="1200">
                <a:latin typeface="Arial"/>
                <a:cs typeface="Arial"/>
              </a:rPr>
              <a:t>the </a:t>
            </a:r>
            <a:r>
              <a:rPr dirty="0" sz="1200" spc="-5">
                <a:latin typeface="Arial"/>
                <a:cs typeface="Arial"/>
              </a:rPr>
              <a:t>closer they get to God. Some Jews use prayer books or prewritten prayers, while  </a:t>
            </a:r>
            <a:r>
              <a:rPr dirty="0" sz="1200">
                <a:latin typeface="Arial"/>
                <a:cs typeface="Arial"/>
              </a:rPr>
              <a:t>others </a:t>
            </a:r>
            <a:r>
              <a:rPr dirty="0" sz="1200" spc="-5">
                <a:latin typeface="Arial"/>
                <a:cs typeface="Arial"/>
              </a:rPr>
              <a:t>simply speak </a:t>
            </a:r>
            <a:r>
              <a:rPr dirty="0" sz="1200">
                <a:latin typeface="Arial"/>
                <a:cs typeface="Arial"/>
              </a:rPr>
              <a:t>to God </a:t>
            </a:r>
            <a:r>
              <a:rPr dirty="0" sz="1200" spc="-5">
                <a:latin typeface="Arial"/>
                <a:cs typeface="Arial"/>
              </a:rPr>
              <a:t>from </a:t>
            </a:r>
            <a:r>
              <a:rPr dirty="0" sz="1200">
                <a:latin typeface="Arial"/>
                <a:cs typeface="Arial"/>
              </a:rPr>
              <a:t>their </a:t>
            </a:r>
            <a:r>
              <a:rPr dirty="0" sz="1200" spc="-5">
                <a:latin typeface="Arial"/>
                <a:cs typeface="Arial"/>
              </a:rPr>
              <a:t>heart. </a:t>
            </a:r>
            <a:r>
              <a:rPr dirty="0" sz="1200">
                <a:latin typeface="Arial"/>
                <a:cs typeface="Arial"/>
              </a:rPr>
              <a:t>This </a:t>
            </a:r>
            <a:r>
              <a:rPr dirty="0" sz="1200" spc="-5">
                <a:latin typeface="Arial"/>
                <a:cs typeface="Arial"/>
              </a:rPr>
              <a:t>is a similarity with Christianity. </a:t>
            </a:r>
            <a:r>
              <a:rPr dirty="0" sz="1200">
                <a:latin typeface="Arial"/>
                <a:cs typeface="Arial"/>
              </a:rPr>
              <a:t>Some  </a:t>
            </a:r>
            <a:r>
              <a:rPr dirty="0" sz="1200" spc="-5">
                <a:latin typeface="Arial"/>
                <a:cs typeface="Arial"/>
              </a:rPr>
              <a:t>Christians have prewritten prayers while others believe they should simply </a:t>
            </a:r>
            <a:r>
              <a:rPr dirty="0" sz="1200">
                <a:latin typeface="Arial"/>
                <a:cs typeface="Arial"/>
              </a:rPr>
              <a:t>pray </a:t>
            </a:r>
            <a:r>
              <a:rPr dirty="0" sz="1200" spc="-5">
                <a:latin typeface="Arial"/>
                <a:cs typeface="Arial"/>
              </a:rPr>
              <a:t>what is </a:t>
            </a:r>
            <a:r>
              <a:rPr dirty="0" sz="1200" spc="-270">
                <a:latin typeface="Arial"/>
                <a:cs typeface="Arial"/>
              </a:rPr>
              <a:t>―on  </a:t>
            </a:r>
            <a:r>
              <a:rPr dirty="0" sz="1200">
                <a:latin typeface="Arial"/>
                <a:cs typeface="Arial"/>
              </a:rPr>
              <a:t>their</a:t>
            </a:r>
            <a:r>
              <a:rPr dirty="0" sz="1200" spc="114">
                <a:latin typeface="Arial"/>
                <a:cs typeface="Arial"/>
              </a:rPr>
              <a:t> </a:t>
            </a:r>
            <a:r>
              <a:rPr dirty="0" sz="1200" spc="-20">
                <a:latin typeface="Arial"/>
                <a:cs typeface="Arial"/>
              </a:rPr>
              <a:t>heart‖.</a:t>
            </a:r>
            <a:r>
              <a:rPr dirty="0" sz="1200" spc="120">
                <a:latin typeface="Arial"/>
                <a:cs typeface="Arial"/>
              </a:rPr>
              <a:t> </a:t>
            </a:r>
            <a:r>
              <a:rPr dirty="0" sz="1200" spc="-5">
                <a:latin typeface="Arial"/>
                <a:cs typeface="Arial"/>
              </a:rPr>
              <a:t>Most</a:t>
            </a:r>
            <a:r>
              <a:rPr dirty="0" sz="1200" spc="120">
                <a:latin typeface="Arial"/>
                <a:cs typeface="Arial"/>
              </a:rPr>
              <a:t> </a:t>
            </a:r>
            <a:r>
              <a:rPr dirty="0" sz="1200" spc="-5">
                <a:latin typeface="Arial"/>
                <a:cs typeface="Arial"/>
              </a:rPr>
              <a:t>Christians</a:t>
            </a:r>
            <a:r>
              <a:rPr dirty="0" sz="1200" spc="105">
                <a:latin typeface="Arial"/>
                <a:cs typeface="Arial"/>
              </a:rPr>
              <a:t> </a:t>
            </a:r>
            <a:r>
              <a:rPr dirty="0" sz="1200">
                <a:latin typeface="Arial"/>
                <a:cs typeface="Arial"/>
              </a:rPr>
              <a:t>do</a:t>
            </a:r>
            <a:r>
              <a:rPr dirty="0" sz="1200" spc="114">
                <a:latin typeface="Arial"/>
                <a:cs typeface="Arial"/>
              </a:rPr>
              <a:t> </a:t>
            </a:r>
            <a:r>
              <a:rPr dirty="0" sz="1200">
                <a:latin typeface="Arial"/>
                <a:cs typeface="Arial"/>
              </a:rPr>
              <a:t>not</a:t>
            </a:r>
            <a:r>
              <a:rPr dirty="0" sz="1200" spc="110">
                <a:latin typeface="Arial"/>
                <a:cs typeface="Arial"/>
              </a:rPr>
              <a:t> </a:t>
            </a:r>
            <a:r>
              <a:rPr dirty="0" sz="1200" spc="-10">
                <a:latin typeface="Arial"/>
                <a:cs typeface="Arial"/>
              </a:rPr>
              <a:t>have</a:t>
            </a:r>
            <a:r>
              <a:rPr dirty="0" sz="1200" spc="120">
                <a:latin typeface="Arial"/>
                <a:cs typeface="Arial"/>
              </a:rPr>
              <a:t> </a:t>
            </a:r>
            <a:r>
              <a:rPr dirty="0" sz="1200">
                <a:latin typeface="Arial"/>
                <a:cs typeface="Arial"/>
              </a:rPr>
              <a:t>a</a:t>
            </a:r>
            <a:r>
              <a:rPr dirty="0" sz="1200" spc="120">
                <a:latin typeface="Arial"/>
                <a:cs typeface="Arial"/>
              </a:rPr>
              <a:t> </a:t>
            </a:r>
            <a:r>
              <a:rPr dirty="0" sz="1200" spc="-5">
                <a:latin typeface="Arial"/>
                <a:cs typeface="Arial"/>
              </a:rPr>
              <a:t>set</a:t>
            </a:r>
            <a:r>
              <a:rPr dirty="0" sz="1200" spc="120">
                <a:latin typeface="Arial"/>
                <a:cs typeface="Arial"/>
              </a:rPr>
              <a:t> </a:t>
            </a:r>
            <a:r>
              <a:rPr dirty="0" sz="1200" spc="-5">
                <a:latin typeface="Arial"/>
                <a:cs typeface="Arial"/>
              </a:rPr>
              <a:t>number</a:t>
            </a:r>
            <a:r>
              <a:rPr dirty="0" sz="1200" spc="110">
                <a:latin typeface="Arial"/>
                <a:cs typeface="Arial"/>
              </a:rPr>
              <a:t> </a:t>
            </a:r>
            <a:r>
              <a:rPr dirty="0" sz="1200" spc="-5">
                <a:latin typeface="Arial"/>
                <a:cs typeface="Arial"/>
              </a:rPr>
              <a:t>of</a:t>
            </a:r>
            <a:r>
              <a:rPr dirty="0" sz="1200" spc="120">
                <a:latin typeface="Arial"/>
                <a:cs typeface="Arial"/>
              </a:rPr>
              <a:t> </a:t>
            </a:r>
            <a:r>
              <a:rPr dirty="0" sz="1200">
                <a:latin typeface="Arial"/>
                <a:cs typeface="Arial"/>
              </a:rPr>
              <a:t>times</a:t>
            </a:r>
            <a:r>
              <a:rPr dirty="0" sz="1200" spc="120">
                <a:latin typeface="Arial"/>
                <a:cs typeface="Arial"/>
              </a:rPr>
              <a:t> </a:t>
            </a:r>
            <a:r>
              <a:rPr dirty="0" sz="1200" spc="-5">
                <a:latin typeface="Arial"/>
                <a:cs typeface="Arial"/>
              </a:rPr>
              <a:t>to</a:t>
            </a:r>
            <a:r>
              <a:rPr dirty="0" sz="1200" spc="110">
                <a:latin typeface="Arial"/>
                <a:cs typeface="Arial"/>
              </a:rPr>
              <a:t> </a:t>
            </a:r>
            <a:r>
              <a:rPr dirty="0" sz="1200">
                <a:latin typeface="Arial"/>
                <a:cs typeface="Arial"/>
              </a:rPr>
              <a:t>pray</a:t>
            </a:r>
            <a:r>
              <a:rPr dirty="0" sz="1200" spc="114">
                <a:latin typeface="Arial"/>
                <a:cs typeface="Arial"/>
              </a:rPr>
              <a:t> </a:t>
            </a:r>
            <a:r>
              <a:rPr dirty="0" sz="1200" spc="-5">
                <a:latin typeface="Arial"/>
                <a:cs typeface="Arial"/>
              </a:rPr>
              <a:t>during</a:t>
            </a:r>
            <a:r>
              <a:rPr dirty="0" sz="1200" spc="110">
                <a:latin typeface="Arial"/>
                <a:cs typeface="Arial"/>
              </a:rPr>
              <a:t> </a:t>
            </a:r>
            <a:r>
              <a:rPr dirty="0" sz="1200">
                <a:latin typeface="Arial"/>
                <a:cs typeface="Arial"/>
              </a:rPr>
              <a:t>the</a:t>
            </a:r>
            <a:r>
              <a:rPr dirty="0" sz="1200" spc="110">
                <a:latin typeface="Arial"/>
                <a:cs typeface="Arial"/>
              </a:rPr>
              <a:t> </a:t>
            </a:r>
            <a:r>
              <a:rPr dirty="0" sz="1200" spc="-10">
                <a:latin typeface="Arial"/>
                <a:cs typeface="Arial"/>
              </a:rPr>
              <a:t>day,</a:t>
            </a:r>
            <a:r>
              <a:rPr dirty="0" sz="1200" spc="120">
                <a:latin typeface="Arial"/>
                <a:cs typeface="Arial"/>
              </a:rPr>
              <a:t> </a:t>
            </a:r>
            <a:r>
              <a:rPr dirty="0" sz="1200" spc="-5">
                <a:latin typeface="Arial"/>
                <a:cs typeface="Arial"/>
              </a:rPr>
              <a:t>but</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410"/>
              </a:lnSpc>
            </a:pPr>
            <a:r>
              <a:rPr dirty="0" spc="-5"/>
              <a:t>Mr</a:t>
            </a:r>
            <a:r>
              <a:rPr dirty="0" spc="-60"/>
              <a:t> </a:t>
            </a:r>
            <a:r>
              <a:rPr dirty="0" spc="-5"/>
              <a:t>Pahary</a:t>
            </a:r>
          </a:p>
        </p:txBody>
      </p:sp>
      <p:sp>
        <p:nvSpPr>
          <p:cNvPr id="5" name="object 5"/>
          <p:cNvSpPr txBox="1"/>
          <p:nvPr/>
        </p:nvSpPr>
        <p:spPr>
          <a:xfrm>
            <a:off x="2988691" y="9905322"/>
            <a:ext cx="6032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80" b="1">
                <a:latin typeface="Times New Roman"/>
                <a:cs typeface="Times New Roman"/>
              </a:rPr>
              <a:t> </a:t>
            </a:r>
            <a:r>
              <a:rPr dirty="0" sz="1200" b="1">
                <a:latin typeface="Times New Roman"/>
                <a:cs typeface="Times New Roman"/>
              </a:rPr>
              <a:t>172</a:t>
            </a:r>
            <a:endParaRPr sz="1200">
              <a:latin typeface="Times New Roman"/>
              <a:cs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9257665"/>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11430">
              <a:lnSpc>
                <a:spcPct val="95900"/>
              </a:lnSpc>
            </a:pPr>
            <a:r>
              <a:rPr dirty="0" sz="1200">
                <a:latin typeface="Arial"/>
                <a:cs typeface="Arial"/>
              </a:rPr>
              <a:t>they </a:t>
            </a:r>
            <a:r>
              <a:rPr dirty="0" sz="1200" spc="-5">
                <a:latin typeface="Arial"/>
                <a:cs typeface="Arial"/>
              </a:rPr>
              <a:t>also believe that prayer draws </a:t>
            </a:r>
            <a:r>
              <a:rPr dirty="0" sz="1200">
                <a:latin typeface="Arial"/>
                <a:cs typeface="Arial"/>
              </a:rPr>
              <a:t>them </a:t>
            </a:r>
            <a:r>
              <a:rPr dirty="0" sz="1200" spc="-5">
                <a:latin typeface="Arial"/>
                <a:cs typeface="Arial"/>
              </a:rPr>
              <a:t>closer </a:t>
            </a:r>
            <a:r>
              <a:rPr dirty="0" sz="1200">
                <a:latin typeface="Arial"/>
                <a:cs typeface="Arial"/>
              </a:rPr>
              <a:t>to </a:t>
            </a:r>
            <a:r>
              <a:rPr dirty="0" sz="1200" spc="-5">
                <a:latin typeface="Arial"/>
                <a:cs typeface="Arial"/>
              </a:rPr>
              <a:t>God. </a:t>
            </a:r>
            <a:r>
              <a:rPr dirty="0" sz="1200">
                <a:latin typeface="Arial"/>
                <a:cs typeface="Arial"/>
              </a:rPr>
              <a:t>While </a:t>
            </a:r>
            <a:r>
              <a:rPr dirty="0" sz="1200" spc="-5">
                <a:latin typeface="Arial"/>
                <a:cs typeface="Arial"/>
              </a:rPr>
              <a:t>all religions believe that God  will hear </a:t>
            </a:r>
            <a:r>
              <a:rPr dirty="0" sz="1200">
                <a:latin typeface="Arial"/>
                <a:cs typeface="Arial"/>
              </a:rPr>
              <a:t>their </a:t>
            </a:r>
            <a:r>
              <a:rPr dirty="0" sz="1200" spc="-5">
                <a:latin typeface="Arial"/>
                <a:cs typeface="Arial"/>
              </a:rPr>
              <a:t>prayers, each one has different </a:t>
            </a:r>
            <a:r>
              <a:rPr dirty="0" sz="1200" spc="-10">
                <a:latin typeface="Arial"/>
                <a:cs typeface="Arial"/>
              </a:rPr>
              <a:t>way </a:t>
            </a:r>
            <a:r>
              <a:rPr dirty="0" sz="1200">
                <a:latin typeface="Arial"/>
                <a:cs typeface="Arial"/>
              </a:rPr>
              <a:t>that they teach </a:t>
            </a:r>
            <a:r>
              <a:rPr dirty="0" sz="1200" spc="-5">
                <a:latin typeface="Arial"/>
                <a:cs typeface="Arial"/>
              </a:rPr>
              <a:t>their followers </a:t>
            </a:r>
            <a:r>
              <a:rPr dirty="0" sz="1200">
                <a:latin typeface="Arial"/>
                <a:cs typeface="Arial"/>
              </a:rPr>
              <a:t>to </a:t>
            </a:r>
            <a:r>
              <a:rPr dirty="0" sz="1200" spc="-5">
                <a:latin typeface="Arial"/>
                <a:cs typeface="Arial"/>
              </a:rPr>
              <a:t>approach  </a:t>
            </a:r>
            <a:r>
              <a:rPr dirty="0" sz="1200">
                <a:latin typeface="Arial"/>
                <a:cs typeface="Arial"/>
              </a:rPr>
              <a:t>God. </a:t>
            </a:r>
            <a:r>
              <a:rPr dirty="0" sz="1200" spc="-5">
                <a:latin typeface="Arial"/>
                <a:cs typeface="Arial"/>
              </a:rPr>
              <a:t>Even with </a:t>
            </a:r>
            <a:r>
              <a:rPr dirty="0" sz="1200">
                <a:latin typeface="Arial"/>
                <a:cs typeface="Arial"/>
              </a:rPr>
              <a:t>the </a:t>
            </a:r>
            <a:r>
              <a:rPr dirty="0" sz="1200" spc="-5">
                <a:latin typeface="Arial"/>
                <a:cs typeface="Arial"/>
              </a:rPr>
              <a:t>different </a:t>
            </a:r>
            <a:r>
              <a:rPr dirty="0" sz="1200" spc="-10">
                <a:latin typeface="Arial"/>
                <a:cs typeface="Arial"/>
              </a:rPr>
              <a:t>ways </a:t>
            </a:r>
            <a:r>
              <a:rPr dirty="0" sz="1200">
                <a:latin typeface="Arial"/>
                <a:cs typeface="Arial"/>
              </a:rPr>
              <a:t>of </a:t>
            </a:r>
            <a:r>
              <a:rPr dirty="0" sz="1200" spc="-5">
                <a:latin typeface="Arial"/>
                <a:cs typeface="Arial"/>
              </a:rPr>
              <a:t>approaching God, the ritual of prayer remains  established in </a:t>
            </a:r>
            <a:r>
              <a:rPr dirty="0" sz="1200">
                <a:latin typeface="Arial"/>
                <a:cs typeface="Arial"/>
              </a:rPr>
              <a:t>all </a:t>
            </a:r>
            <a:r>
              <a:rPr dirty="0" sz="1200" spc="-5">
                <a:latin typeface="Arial"/>
                <a:cs typeface="Arial"/>
              </a:rPr>
              <a:t>three</a:t>
            </a:r>
            <a:r>
              <a:rPr dirty="0" sz="1200" spc="-15">
                <a:latin typeface="Arial"/>
                <a:cs typeface="Arial"/>
              </a:rPr>
              <a:t> </a:t>
            </a:r>
            <a:r>
              <a:rPr dirty="0" sz="1200" spc="-5">
                <a:latin typeface="Arial"/>
                <a:cs typeface="Arial"/>
              </a:rPr>
              <a:t>religions.</a:t>
            </a:r>
            <a:endParaRPr sz="1200">
              <a:latin typeface="Arial"/>
              <a:cs typeface="Arial"/>
            </a:endParaRPr>
          </a:p>
          <a:p>
            <a:pPr algn="just" marL="12700" marR="6985">
              <a:lnSpc>
                <a:spcPct val="95900"/>
              </a:lnSpc>
              <a:spcBef>
                <a:spcPts val="994"/>
              </a:spcBef>
            </a:pPr>
            <a:r>
              <a:rPr dirty="0" sz="1200" spc="-5">
                <a:latin typeface="Arial"/>
                <a:cs typeface="Arial"/>
              </a:rPr>
              <a:t>The three religions </a:t>
            </a:r>
            <a:r>
              <a:rPr dirty="0" sz="1200" spc="-10">
                <a:latin typeface="Arial"/>
                <a:cs typeface="Arial"/>
              </a:rPr>
              <a:t>have </a:t>
            </a:r>
            <a:r>
              <a:rPr dirty="0" sz="1200">
                <a:latin typeface="Arial"/>
                <a:cs typeface="Arial"/>
              </a:rPr>
              <a:t>some </a:t>
            </a:r>
            <a:r>
              <a:rPr dirty="0" sz="1200" spc="-5">
                <a:latin typeface="Arial"/>
                <a:cs typeface="Arial"/>
              </a:rPr>
              <a:t>universal themes that are </a:t>
            </a:r>
            <a:r>
              <a:rPr dirty="0" sz="1200">
                <a:latin typeface="Arial"/>
                <a:cs typeface="Arial"/>
              </a:rPr>
              <a:t>shared </a:t>
            </a:r>
            <a:r>
              <a:rPr dirty="0" sz="1200" spc="-5">
                <a:latin typeface="Arial"/>
                <a:cs typeface="Arial"/>
              </a:rPr>
              <a:t>among them. </a:t>
            </a:r>
            <a:r>
              <a:rPr dirty="0" sz="1200">
                <a:latin typeface="Arial"/>
                <a:cs typeface="Arial"/>
              </a:rPr>
              <a:t>One </a:t>
            </a:r>
            <a:r>
              <a:rPr dirty="0" sz="1200" spc="-5">
                <a:latin typeface="Arial"/>
                <a:cs typeface="Arial"/>
              </a:rPr>
              <a:t>of these  is </a:t>
            </a:r>
            <a:r>
              <a:rPr dirty="0" sz="1200">
                <a:latin typeface="Arial"/>
                <a:cs typeface="Arial"/>
              </a:rPr>
              <a:t>the </a:t>
            </a:r>
            <a:r>
              <a:rPr dirty="0" sz="1200" spc="-5">
                <a:latin typeface="Arial"/>
                <a:cs typeface="Arial"/>
              </a:rPr>
              <a:t>belief of an afterlife. Each religion believes </a:t>
            </a:r>
            <a:r>
              <a:rPr dirty="0" sz="1200">
                <a:latin typeface="Arial"/>
                <a:cs typeface="Arial"/>
              </a:rPr>
              <a:t>that </a:t>
            </a:r>
            <a:r>
              <a:rPr dirty="0" sz="1200" spc="-5">
                <a:latin typeface="Arial"/>
                <a:cs typeface="Arial"/>
              </a:rPr>
              <a:t>a person dies once and then enters a  spiritual </a:t>
            </a:r>
            <a:r>
              <a:rPr dirty="0" sz="1200">
                <a:latin typeface="Arial"/>
                <a:cs typeface="Arial"/>
              </a:rPr>
              <a:t>place. </a:t>
            </a:r>
            <a:r>
              <a:rPr dirty="0" sz="1200" spc="-5">
                <a:latin typeface="Arial"/>
                <a:cs typeface="Arial"/>
              </a:rPr>
              <a:t>Although </a:t>
            </a:r>
            <a:r>
              <a:rPr dirty="0" sz="1200">
                <a:latin typeface="Arial"/>
                <a:cs typeface="Arial"/>
              </a:rPr>
              <a:t>they differ </a:t>
            </a:r>
            <a:r>
              <a:rPr dirty="0" sz="1200" spc="-5">
                <a:latin typeface="Arial"/>
                <a:cs typeface="Arial"/>
              </a:rPr>
              <a:t>on where people </a:t>
            </a:r>
            <a:r>
              <a:rPr dirty="0" sz="1200" spc="-10">
                <a:latin typeface="Arial"/>
                <a:cs typeface="Arial"/>
              </a:rPr>
              <a:t>go </a:t>
            </a:r>
            <a:r>
              <a:rPr dirty="0" sz="1200">
                <a:latin typeface="Arial"/>
                <a:cs typeface="Arial"/>
              </a:rPr>
              <a:t>after </a:t>
            </a:r>
            <a:r>
              <a:rPr dirty="0" sz="1200" spc="-5">
                <a:latin typeface="Arial"/>
                <a:cs typeface="Arial"/>
              </a:rPr>
              <a:t>death, </a:t>
            </a:r>
            <a:r>
              <a:rPr dirty="0" sz="1200">
                <a:latin typeface="Arial"/>
                <a:cs typeface="Arial"/>
              </a:rPr>
              <a:t>the </a:t>
            </a:r>
            <a:r>
              <a:rPr dirty="0" sz="1200" spc="-5">
                <a:latin typeface="Arial"/>
                <a:cs typeface="Arial"/>
              </a:rPr>
              <a:t>belief of eternity is a  common thread between </a:t>
            </a:r>
            <a:r>
              <a:rPr dirty="0" sz="1200">
                <a:latin typeface="Arial"/>
                <a:cs typeface="Arial"/>
              </a:rPr>
              <a:t>them. </a:t>
            </a:r>
            <a:r>
              <a:rPr dirty="0" sz="1200" spc="-5">
                <a:latin typeface="Arial"/>
                <a:cs typeface="Arial"/>
              </a:rPr>
              <a:t>They also believe </a:t>
            </a:r>
            <a:r>
              <a:rPr dirty="0" sz="1200">
                <a:latin typeface="Arial"/>
                <a:cs typeface="Arial"/>
              </a:rPr>
              <a:t>that God </a:t>
            </a:r>
            <a:r>
              <a:rPr dirty="0" sz="1200" spc="-5">
                <a:latin typeface="Arial"/>
                <a:cs typeface="Arial"/>
              </a:rPr>
              <a:t>is all powerful. In each religion  </a:t>
            </a:r>
            <a:r>
              <a:rPr dirty="0" sz="1200">
                <a:latin typeface="Arial"/>
                <a:cs typeface="Arial"/>
              </a:rPr>
              <a:t>they </a:t>
            </a:r>
            <a:r>
              <a:rPr dirty="0" sz="1200" spc="-5">
                <a:latin typeface="Arial"/>
                <a:cs typeface="Arial"/>
              </a:rPr>
              <a:t>consider </a:t>
            </a:r>
            <a:r>
              <a:rPr dirty="0" sz="1200">
                <a:latin typeface="Arial"/>
                <a:cs typeface="Arial"/>
              </a:rPr>
              <a:t>God to </a:t>
            </a:r>
            <a:r>
              <a:rPr dirty="0" sz="1200" spc="-5">
                <a:latin typeface="Arial"/>
                <a:cs typeface="Arial"/>
              </a:rPr>
              <a:t>be omnipresent, in other words, all knowing and all seeing, present </a:t>
            </a:r>
            <a:r>
              <a:rPr dirty="0" sz="1200">
                <a:latin typeface="Arial"/>
                <a:cs typeface="Arial"/>
              </a:rPr>
              <a:t>at  </a:t>
            </a:r>
            <a:r>
              <a:rPr dirty="0" sz="1200" spc="-5">
                <a:latin typeface="Arial"/>
                <a:cs typeface="Arial"/>
              </a:rPr>
              <a:t>every place all </a:t>
            </a:r>
            <a:r>
              <a:rPr dirty="0" sz="1200">
                <a:latin typeface="Arial"/>
                <a:cs typeface="Arial"/>
              </a:rPr>
              <a:t>at </a:t>
            </a:r>
            <a:r>
              <a:rPr dirty="0" sz="1200" spc="-5">
                <a:latin typeface="Arial"/>
                <a:cs typeface="Arial"/>
              </a:rPr>
              <a:t>once. All </a:t>
            </a:r>
            <a:r>
              <a:rPr dirty="0" sz="1200">
                <a:latin typeface="Arial"/>
                <a:cs typeface="Arial"/>
              </a:rPr>
              <a:t>three </a:t>
            </a:r>
            <a:r>
              <a:rPr dirty="0" sz="1200" spc="-5">
                <a:latin typeface="Arial"/>
                <a:cs typeface="Arial"/>
              </a:rPr>
              <a:t>also have </a:t>
            </a:r>
            <a:r>
              <a:rPr dirty="0" sz="1200">
                <a:latin typeface="Arial"/>
                <a:cs typeface="Arial"/>
              </a:rPr>
              <a:t>meeting places set </a:t>
            </a:r>
            <a:r>
              <a:rPr dirty="0" sz="1200" spc="-5">
                <a:latin typeface="Arial"/>
                <a:cs typeface="Arial"/>
              </a:rPr>
              <a:t>aside in </a:t>
            </a:r>
            <a:r>
              <a:rPr dirty="0" sz="1200">
                <a:latin typeface="Arial"/>
                <a:cs typeface="Arial"/>
              </a:rPr>
              <a:t>their </a:t>
            </a:r>
            <a:r>
              <a:rPr dirty="0" sz="1200" spc="-5">
                <a:latin typeface="Arial"/>
                <a:cs typeface="Arial"/>
              </a:rPr>
              <a:t>communities  where </a:t>
            </a:r>
            <a:r>
              <a:rPr dirty="0" sz="1200">
                <a:latin typeface="Arial"/>
                <a:cs typeface="Arial"/>
              </a:rPr>
              <a:t>they </a:t>
            </a:r>
            <a:r>
              <a:rPr dirty="0" sz="1200" spc="-5">
                <a:latin typeface="Arial"/>
                <a:cs typeface="Arial"/>
              </a:rPr>
              <a:t>can </a:t>
            </a:r>
            <a:r>
              <a:rPr dirty="0" sz="1200" spc="-10">
                <a:latin typeface="Arial"/>
                <a:cs typeface="Arial"/>
              </a:rPr>
              <a:t>go </a:t>
            </a:r>
            <a:r>
              <a:rPr dirty="0" sz="1200">
                <a:latin typeface="Arial"/>
                <a:cs typeface="Arial"/>
              </a:rPr>
              <a:t>to </a:t>
            </a:r>
            <a:r>
              <a:rPr dirty="0" sz="1200" spc="-5">
                <a:latin typeface="Arial"/>
                <a:cs typeface="Arial"/>
              </a:rPr>
              <a:t>worship and pray, </a:t>
            </a:r>
            <a:r>
              <a:rPr dirty="0" sz="1200">
                <a:latin typeface="Arial"/>
                <a:cs typeface="Arial"/>
              </a:rPr>
              <a:t>for </a:t>
            </a:r>
            <a:r>
              <a:rPr dirty="0" sz="1200" spc="-5">
                <a:latin typeface="Arial"/>
                <a:cs typeface="Arial"/>
              </a:rPr>
              <a:t>Muslim </a:t>
            </a:r>
            <a:r>
              <a:rPr dirty="0" sz="1200">
                <a:latin typeface="Arial"/>
                <a:cs typeface="Arial"/>
              </a:rPr>
              <a:t>they </a:t>
            </a:r>
            <a:r>
              <a:rPr dirty="0" sz="1200" spc="-10">
                <a:latin typeface="Arial"/>
                <a:cs typeface="Arial"/>
              </a:rPr>
              <a:t>go </a:t>
            </a:r>
            <a:r>
              <a:rPr dirty="0" sz="1200">
                <a:latin typeface="Arial"/>
                <a:cs typeface="Arial"/>
              </a:rPr>
              <a:t>to </a:t>
            </a:r>
            <a:r>
              <a:rPr dirty="0" sz="1200" spc="-5">
                <a:latin typeface="Arial"/>
                <a:cs typeface="Arial"/>
              </a:rPr>
              <a:t>a mosque, Christians </a:t>
            </a:r>
            <a:r>
              <a:rPr dirty="0" sz="1200">
                <a:latin typeface="Arial"/>
                <a:cs typeface="Arial"/>
              </a:rPr>
              <a:t>to </a:t>
            </a:r>
            <a:r>
              <a:rPr dirty="0" sz="1200" spc="-5">
                <a:latin typeface="Arial"/>
                <a:cs typeface="Arial"/>
              </a:rPr>
              <a:t>a  church, and Jews </a:t>
            </a:r>
            <a:r>
              <a:rPr dirty="0" sz="1200">
                <a:latin typeface="Arial"/>
                <a:cs typeface="Arial"/>
              </a:rPr>
              <a:t>to </a:t>
            </a:r>
            <a:r>
              <a:rPr dirty="0" sz="1200" spc="-5">
                <a:latin typeface="Arial"/>
                <a:cs typeface="Arial"/>
              </a:rPr>
              <a:t>a synagogue. </a:t>
            </a:r>
            <a:r>
              <a:rPr dirty="0" sz="1200">
                <a:latin typeface="Arial"/>
                <a:cs typeface="Arial"/>
              </a:rPr>
              <a:t>They </a:t>
            </a:r>
            <a:r>
              <a:rPr dirty="0" sz="1200" spc="-10">
                <a:latin typeface="Arial"/>
                <a:cs typeface="Arial"/>
              </a:rPr>
              <a:t>believe </a:t>
            </a:r>
            <a:r>
              <a:rPr dirty="0" sz="1200" spc="-5">
                <a:latin typeface="Arial"/>
                <a:cs typeface="Arial"/>
              </a:rPr>
              <a:t>in fellowshipping together and have close  ties with </a:t>
            </a:r>
            <a:r>
              <a:rPr dirty="0" sz="1200">
                <a:latin typeface="Arial"/>
                <a:cs typeface="Arial"/>
              </a:rPr>
              <a:t>other </a:t>
            </a:r>
            <a:r>
              <a:rPr dirty="0" sz="1200" spc="-5">
                <a:latin typeface="Arial"/>
                <a:cs typeface="Arial"/>
              </a:rPr>
              <a:t>members of their religion. This and other similarities </a:t>
            </a:r>
            <a:r>
              <a:rPr dirty="0" sz="1200">
                <a:latin typeface="Arial"/>
                <a:cs typeface="Arial"/>
              </a:rPr>
              <a:t>may </a:t>
            </a:r>
            <a:r>
              <a:rPr dirty="0" sz="1200" spc="-5">
                <a:latin typeface="Arial"/>
                <a:cs typeface="Arial"/>
              </a:rPr>
              <a:t>not </a:t>
            </a:r>
            <a:r>
              <a:rPr dirty="0" sz="1200" spc="-10">
                <a:latin typeface="Arial"/>
                <a:cs typeface="Arial"/>
              </a:rPr>
              <a:t>be enough </a:t>
            </a:r>
            <a:r>
              <a:rPr dirty="0" sz="1200" spc="-5">
                <a:latin typeface="Arial"/>
                <a:cs typeface="Arial"/>
              </a:rPr>
              <a:t>to  bring </a:t>
            </a:r>
            <a:r>
              <a:rPr dirty="0" sz="1200">
                <a:latin typeface="Arial"/>
                <a:cs typeface="Arial"/>
              </a:rPr>
              <a:t>the </a:t>
            </a:r>
            <a:r>
              <a:rPr dirty="0" sz="1200" spc="-5">
                <a:latin typeface="Arial"/>
                <a:cs typeface="Arial"/>
              </a:rPr>
              <a:t>three religions</a:t>
            </a:r>
            <a:r>
              <a:rPr dirty="0" sz="1200" spc="10">
                <a:latin typeface="Arial"/>
                <a:cs typeface="Arial"/>
              </a:rPr>
              <a:t> </a:t>
            </a:r>
            <a:r>
              <a:rPr dirty="0" sz="1200" spc="-5">
                <a:latin typeface="Arial"/>
                <a:cs typeface="Arial"/>
              </a:rPr>
              <a:t>together.</a:t>
            </a:r>
            <a:endParaRPr sz="1200">
              <a:latin typeface="Arial"/>
              <a:cs typeface="Arial"/>
            </a:endParaRPr>
          </a:p>
          <a:p>
            <a:pPr algn="just" marL="12700" marR="6350">
              <a:lnSpc>
                <a:spcPct val="95700"/>
              </a:lnSpc>
              <a:spcBef>
                <a:spcPts val="1010"/>
              </a:spcBef>
            </a:pPr>
            <a:r>
              <a:rPr dirty="0" sz="1200" spc="-5">
                <a:latin typeface="Arial"/>
                <a:cs typeface="Arial"/>
              </a:rPr>
              <a:t>There are </a:t>
            </a:r>
            <a:r>
              <a:rPr dirty="0" sz="1200" spc="-10">
                <a:latin typeface="Arial"/>
                <a:cs typeface="Arial"/>
              </a:rPr>
              <a:t>ways </a:t>
            </a:r>
            <a:r>
              <a:rPr dirty="0" sz="1200">
                <a:latin typeface="Arial"/>
                <a:cs typeface="Arial"/>
              </a:rPr>
              <a:t>that </a:t>
            </a:r>
            <a:r>
              <a:rPr dirty="0" sz="1200" spc="-5">
                <a:latin typeface="Arial"/>
                <a:cs typeface="Arial"/>
              </a:rPr>
              <a:t>the three </a:t>
            </a:r>
            <a:r>
              <a:rPr dirty="0" sz="1200">
                <a:latin typeface="Arial"/>
                <a:cs typeface="Arial"/>
              </a:rPr>
              <a:t>major </a:t>
            </a:r>
            <a:r>
              <a:rPr dirty="0" sz="1200" spc="-5">
                <a:latin typeface="Arial"/>
                <a:cs typeface="Arial"/>
              </a:rPr>
              <a:t>religions of the </a:t>
            </a:r>
            <a:r>
              <a:rPr dirty="0" sz="1200" spc="-10">
                <a:latin typeface="Arial"/>
                <a:cs typeface="Arial"/>
              </a:rPr>
              <a:t>world </a:t>
            </a:r>
            <a:r>
              <a:rPr dirty="0" sz="1200" spc="-5">
                <a:latin typeface="Arial"/>
                <a:cs typeface="Arial"/>
              </a:rPr>
              <a:t>can </a:t>
            </a:r>
            <a:r>
              <a:rPr dirty="0" sz="1200" spc="-10">
                <a:latin typeface="Arial"/>
                <a:cs typeface="Arial"/>
              </a:rPr>
              <a:t>be </a:t>
            </a:r>
            <a:r>
              <a:rPr dirty="0" sz="1200" spc="-5">
                <a:latin typeface="Arial"/>
                <a:cs typeface="Arial"/>
              </a:rPr>
              <a:t>reconciled, </a:t>
            </a:r>
            <a:r>
              <a:rPr dirty="0" sz="1200" spc="-10">
                <a:latin typeface="Arial"/>
                <a:cs typeface="Arial"/>
              </a:rPr>
              <a:t>however </a:t>
            </a:r>
            <a:r>
              <a:rPr dirty="0" sz="1200" spc="-5">
                <a:latin typeface="Arial"/>
                <a:cs typeface="Arial"/>
              </a:rPr>
              <a:t>the  possibility is unlikely. </a:t>
            </a:r>
            <a:r>
              <a:rPr dirty="0" sz="1200">
                <a:latin typeface="Arial"/>
                <a:cs typeface="Arial"/>
              </a:rPr>
              <a:t>In </a:t>
            </a:r>
            <a:r>
              <a:rPr dirty="0" sz="1200" spc="-5">
                <a:latin typeface="Arial"/>
                <a:cs typeface="Arial"/>
              </a:rPr>
              <a:t>order </a:t>
            </a:r>
            <a:r>
              <a:rPr dirty="0" sz="1200">
                <a:latin typeface="Arial"/>
                <a:cs typeface="Arial"/>
              </a:rPr>
              <a:t>for </a:t>
            </a:r>
            <a:r>
              <a:rPr dirty="0" sz="1200" spc="-5">
                <a:latin typeface="Arial"/>
                <a:cs typeface="Arial"/>
              </a:rPr>
              <a:t>Islam, Christianity, and Judaism </a:t>
            </a:r>
            <a:r>
              <a:rPr dirty="0" sz="1200">
                <a:latin typeface="Arial"/>
                <a:cs typeface="Arial"/>
              </a:rPr>
              <a:t>to </a:t>
            </a:r>
            <a:r>
              <a:rPr dirty="0" sz="1200" spc="-5">
                <a:latin typeface="Arial"/>
                <a:cs typeface="Arial"/>
              </a:rPr>
              <a:t>come together, they  would each have </a:t>
            </a:r>
            <a:r>
              <a:rPr dirty="0" sz="1200">
                <a:latin typeface="Arial"/>
                <a:cs typeface="Arial"/>
              </a:rPr>
              <a:t>to </a:t>
            </a:r>
            <a:r>
              <a:rPr dirty="0" sz="1200" spc="-5">
                <a:latin typeface="Arial"/>
                <a:cs typeface="Arial"/>
              </a:rPr>
              <a:t>give up </a:t>
            </a:r>
            <a:r>
              <a:rPr dirty="0" sz="1200" spc="-10">
                <a:latin typeface="Arial"/>
                <a:cs typeface="Arial"/>
              </a:rPr>
              <a:t>some </a:t>
            </a:r>
            <a:r>
              <a:rPr dirty="0" sz="1200" spc="-5">
                <a:latin typeface="Arial"/>
                <a:cs typeface="Arial"/>
              </a:rPr>
              <a:t>of their </a:t>
            </a:r>
            <a:r>
              <a:rPr dirty="0" sz="1200" spc="-10">
                <a:latin typeface="Arial"/>
                <a:cs typeface="Arial"/>
              </a:rPr>
              <a:t>core </a:t>
            </a:r>
            <a:r>
              <a:rPr dirty="0" sz="1200" spc="-5">
                <a:latin typeface="Arial"/>
                <a:cs typeface="Arial"/>
              </a:rPr>
              <a:t>beliefs. </a:t>
            </a:r>
            <a:r>
              <a:rPr dirty="0" sz="1200">
                <a:latin typeface="Arial"/>
                <a:cs typeface="Arial"/>
              </a:rPr>
              <a:t>For </a:t>
            </a:r>
            <a:r>
              <a:rPr dirty="0" sz="1200" spc="-5">
                <a:latin typeface="Arial"/>
                <a:cs typeface="Arial"/>
              </a:rPr>
              <a:t>instance, Judaism and Christianity  could not come together unless they resolve </a:t>
            </a:r>
            <a:r>
              <a:rPr dirty="0" sz="1200" spc="-10">
                <a:latin typeface="Arial"/>
                <a:cs typeface="Arial"/>
              </a:rPr>
              <a:t>who </a:t>
            </a:r>
            <a:r>
              <a:rPr dirty="0" sz="1200" spc="-5">
                <a:latin typeface="Arial"/>
                <a:cs typeface="Arial"/>
              </a:rPr>
              <a:t>Jesus Christ was. </a:t>
            </a:r>
            <a:r>
              <a:rPr dirty="0" sz="1200">
                <a:latin typeface="Arial"/>
                <a:cs typeface="Arial"/>
              </a:rPr>
              <a:t>This </a:t>
            </a:r>
            <a:r>
              <a:rPr dirty="0" sz="1200" spc="-5">
                <a:latin typeface="Arial"/>
                <a:cs typeface="Arial"/>
              </a:rPr>
              <a:t>would require </a:t>
            </a:r>
            <a:r>
              <a:rPr dirty="0" sz="1200" spc="-10">
                <a:latin typeface="Arial"/>
                <a:cs typeface="Arial"/>
              </a:rPr>
              <a:t>Jews  </a:t>
            </a:r>
            <a:r>
              <a:rPr dirty="0" sz="1200">
                <a:latin typeface="Arial"/>
                <a:cs typeface="Arial"/>
              </a:rPr>
              <a:t>to </a:t>
            </a:r>
            <a:r>
              <a:rPr dirty="0" sz="1200" spc="-5">
                <a:latin typeface="Arial"/>
                <a:cs typeface="Arial"/>
              </a:rPr>
              <a:t>accept him as the messiah, or Christians </a:t>
            </a:r>
            <a:r>
              <a:rPr dirty="0" sz="1200">
                <a:latin typeface="Arial"/>
                <a:cs typeface="Arial"/>
              </a:rPr>
              <a:t>to </a:t>
            </a:r>
            <a:r>
              <a:rPr dirty="0" sz="1200" spc="-5">
                <a:latin typeface="Arial"/>
                <a:cs typeface="Arial"/>
              </a:rPr>
              <a:t>deny him as </a:t>
            </a:r>
            <a:r>
              <a:rPr dirty="0" sz="1200">
                <a:latin typeface="Arial"/>
                <a:cs typeface="Arial"/>
              </a:rPr>
              <a:t>the </a:t>
            </a:r>
            <a:r>
              <a:rPr dirty="0" sz="1200" spc="-5">
                <a:latin typeface="Arial"/>
                <a:cs typeface="Arial"/>
              </a:rPr>
              <a:t>messiah. </a:t>
            </a:r>
            <a:r>
              <a:rPr dirty="0" sz="1200">
                <a:latin typeface="Arial"/>
                <a:cs typeface="Arial"/>
              </a:rPr>
              <a:t>For Islam </a:t>
            </a:r>
            <a:r>
              <a:rPr dirty="0" sz="1200" spc="-5">
                <a:latin typeface="Arial"/>
                <a:cs typeface="Arial"/>
              </a:rPr>
              <a:t>and  Christianity </a:t>
            </a:r>
            <a:r>
              <a:rPr dirty="0" sz="1200">
                <a:latin typeface="Arial"/>
                <a:cs typeface="Arial"/>
              </a:rPr>
              <a:t>to </a:t>
            </a:r>
            <a:r>
              <a:rPr dirty="0" sz="1200" spc="-5">
                <a:latin typeface="Arial"/>
                <a:cs typeface="Arial"/>
              </a:rPr>
              <a:t>unite </a:t>
            </a:r>
            <a:r>
              <a:rPr dirty="0" sz="1200">
                <a:latin typeface="Arial"/>
                <a:cs typeface="Arial"/>
              </a:rPr>
              <a:t>they </a:t>
            </a:r>
            <a:r>
              <a:rPr dirty="0" sz="1200" spc="-5">
                <a:latin typeface="Arial"/>
                <a:cs typeface="Arial"/>
              </a:rPr>
              <a:t>would have </a:t>
            </a:r>
            <a:r>
              <a:rPr dirty="0" sz="1200">
                <a:latin typeface="Arial"/>
                <a:cs typeface="Arial"/>
              </a:rPr>
              <a:t>to </a:t>
            </a:r>
            <a:r>
              <a:rPr dirty="0" sz="1200" spc="-5">
                <a:latin typeface="Arial"/>
                <a:cs typeface="Arial"/>
              </a:rPr>
              <a:t>address both Jesus Christ and </a:t>
            </a:r>
            <a:r>
              <a:rPr dirty="0" sz="1200">
                <a:latin typeface="Arial"/>
                <a:cs typeface="Arial"/>
              </a:rPr>
              <a:t>the </a:t>
            </a:r>
            <a:r>
              <a:rPr dirty="0" sz="1200" spc="-10">
                <a:latin typeface="Arial"/>
                <a:cs typeface="Arial"/>
              </a:rPr>
              <a:t>Prophet  </a:t>
            </a:r>
            <a:r>
              <a:rPr dirty="0" sz="1200" spc="-5">
                <a:latin typeface="Arial"/>
                <a:cs typeface="Arial"/>
              </a:rPr>
              <a:t>Muhammad and their place in religious unity. </a:t>
            </a:r>
            <a:r>
              <a:rPr dirty="0" sz="1200">
                <a:latin typeface="Arial"/>
                <a:cs typeface="Arial"/>
              </a:rPr>
              <a:t>The </a:t>
            </a:r>
            <a:r>
              <a:rPr dirty="0" sz="1200" spc="-5">
                <a:latin typeface="Arial"/>
                <a:cs typeface="Arial"/>
              </a:rPr>
              <a:t>very core of each religion would have to  compromise their beliefs to accept that another group is correct. This does not seem </a:t>
            </a:r>
            <a:r>
              <a:rPr dirty="0" sz="1200">
                <a:latin typeface="Arial"/>
                <a:cs typeface="Arial"/>
              </a:rPr>
              <a:t>to </a:t>
            </a:r>
            <a:r>
              <a:rPr dirty="0" sz="1200" spc="-5">
                <a:latin typeface="Arial"/>
                <a:cs typeface="Arial"/>
              </a:rPr>
              <a:t>ever  happen because of </a:t>
            </a:r>
            <a:r>
              <a:rPr dirty="0" sz="1200" spc="-10">
                <a:latin typeface="Arial"/>
                <a:cs typeface="Arial"/>
              </a:rPr>
              <a:t>the </a:t>
            </a:r>
            <a:r>
              <a:rPr dirty="0" sz="1200" spc="-5">
                <a:latin typeface="Arial"/>
                <a:cs typeface="Arial"/>
              </a:rPr>
              <a:t>intense belief that each religion believes theirs is the only correct  one. </a:t>
            </a:r>
            <a:r>
              <a:rPr dirty="0" sz="1200">
                <a:latin typeface="Arial"/>
                <a:cs typeface="Arial"/>
              </a:rPr>
              <a:t>It </a:t>
            </a:r>
            <a:r>
              <a:rPr dirty="0" sz="1200" spc="-5">
                <a:latin typeface="Arial"/>
                <a:cs typeface="Arial"/>
              </a:rPr>
              <a:t>seems that their significant differences will forever outweigh any </a:t>
            </a:r>
            <a:r>
              <a:rPr dirty="0" sz="1200">
                <a:latin typeface="Arial"/>
                <a:cs typeface="Arial"/>
              </a:rPr>
              <a:t>of their</a:t>
            </a:r>
            <a:r>
              <a:rPr dirty="0" sz="1200" spc="75">
                <a:latin typeface="Arial"/>
                <a:cs typeface="Arial"/>
              </a:rPr>
              <a:t> </a:t>
            </a:r>
            <a:r>
              <a:rPr dirty="0" sz="1200" spc="-5">
                <a:latin typeface="Arial"/>
                <a:cs typeface="Arial"/>
              </a:rPr>
              <a:t>similarities.</a:t>
            </a:r>
            <a:endParaRPr sz="1200">
              <a:latin typeface="Arial"/>
              <a:cs typeface="Arial"/>
            </a:endParaRPr>
          </a:p>
          <a:p>
            <a:pPr algn="just" marL="12700" marR="6985">
              <a:lnSpc>
                <a:spcPts val="1380"/>
              </a:lnSpc>
              <a:spcBef>
                <a:spcPts val="1045"/>
              </a:spcBef>
            </a:pPr>
            <a:r>
              <a:rPr dirty="0" sz="1200">
                <a:latin typeface="Arial"/>
                <a:cs typeface="Arial"/>
              </a:rPr>
              <a:t>Islam, </a:t>
            </a:r>
            <a:r>
              <a:rPr dirty="0" sz="1200" spc="-5">
                <a:latin typeface="Arial"/>
                <a:cs typeface="Arial"/>
              </a:rPr>
              <a:t>Christianity, and Judaism remain the world </a:t>
            </a:r>
            <a:r>
              <a:rPr dirty="0" sz="1200">
                <a:latin typeface="Arial"/>
                <a:cs typeface="Arial"/>
              </a:rPr>
              <a:t>three </a:t>
            </a:r>
            <a:r>
              <a:rPr dirty="0" sz="1200" spc="-5">
                <a:latin typeface="Arial"/>
                <a:cs typeface="Arial"/>
              </a:rPr>
              <a:t>most popular religions. </a:t>
            </a:r>
            <a:r>
              <a:rPr dirty="0" sz="1200" spc="10">
                <a:latin typeface="Arial"/>
                <a:cs typeface="Arial"/>
              </a:rPr>
              <a:t>They </a:t>
            </a:r>
            <a:r>
              <a:rPr dirty="0" sz="1200" spc="-10">
                <a:latin typeface="Arial"/>
                <a:cs typeface="Arial"/>
              </a:rPr>
              <a:t>have  </a:t>
            </a:r>
            <a:r>
              <a:rPr dirty="0" sz="1200">
                <a:latin typeface="Arial"/>
                <a:cs typeface="Arial"/>
              </a:rPr>
              <a:t>many </a:t>
            </a:r>
            <a:r>
              <a:rPr dirty="0" sz="1200" spc="-5">
                <a:latin typeface="Arial"/>
                <a:cs typeface="Arial"/>
              </a:rPr>
              <a:t>similarities and differences among </a:t>
            </a:r>
            <a:r>
              <a:rPr dirty="0" sz="1200">
                <a:latin typeface="Arial"/>
                <a:cs typeface="Arial"/>
              </a:rPr>
              <a:t>their </a:t>
            </a:r>
            <a:r>
              <a:rPr dirty="0" sz="1200" spc="-5">
                <a:latin typeface="Arial"/>
                <a:cs typeface="Arial"/>
              </a:rPr>
              <a:t>beliefs and practices. All </a:t>
            </a:r>
            <a:r>
              <a:rPr dirty="0" sz="1200">
                <a:latin typeface="Arial"/>
                <a:cs typeface="Arial"/>
              </a:rPr>
              <a:t>three </a:t>
            </a:r>
            <a:r>
              <a:rPr dirty="0" sz="1200" spc="-5">
                <a:latin typeface="Arial"/>
                <a:cs typeface="Arial"/>
              </a:rPr>
              <a:t>religions started  with </a:t>
            </a:r>
            <a:r>
              <a:rPr dirty="0" sz="1200">
                <a:latin typeface="Arial"/>
                <a:cs typeface="Arial"/>
              </a:rPr>
              <a:t>the same </a:t>
            </a:r>
            <a:r>
              <a:rPr dirty="0" sz="1200" spc="-5">
                <a:latin typeface="Arial"/>
                <a:cs typeface="Arial"/>
              </a:rPr>
              <a:t>historical figure of Abraham, but later branched off into varying </a:t>
            </a:r>
            <a:r>
              <a:rPr dirty="0" sz="1200">
                <a:latin typeface="Arial"/>
                <a:cs typeface="Arial"/>
              </a:rPr>
              <a:t>beliefs </a:t>
            </a:r>
            <a:r>
              <a:rPr dirty="0" sz="1200" spc="-5">
                <a:latin typeface="Arial"/>
                <a:cs typeface="Arial"/>
              </a:rPr>
              <a:t>of </a:t>
            </a:r>
            <a:r>
              <a:rPr dirty="0" sz="1200" spc="-10">
                <a:latin typeface="Arial"/>
                <a:cs typeface="Arial"/>
              </a:rPr>
              <a:t>who  </a:t>
            </a:r>
            <a:r>
              <a:rPr dirty="0" sz="1200">
                <a:latin typeface="Arial"/>
                <a:cs typeface="Arial"/>
              </a:rPr>
              <a:t>God </a:t>
            </a:r>
            <a:r>
              <a:rPr dirty="0" sz="1200" spc="-5">
                <a:latin typeface="Arial"/>
                <a:cs typeface="Arial"/>
              </a:rPr>
              <a:t>is and how he has communicated with humanity. </a:t>
            </a:r>
            <a:r>
              <a:rPr dirty="0" sz="1200">
                <a:latin typeface="Arial"/>
                <a:cs typeface="Arial"/>
              </a:rPr>
              <a:t>While </a:t>
            </a:r>
            <a:r>
              <a:rPr dirty="0" sz="1200" spc="-5">
                <a:latin typeface="Arial"/>
                <a:cs typeface="Arial"/>
              </a:rPr>
              <a:t>all three religions believe in the  power </a:t>
            </a:r>
            <a:r>
              <a:rPr dirty="0" sz="1200">
                <a:latin typeface="Arial"/>
                <a:cs typeface="Arial"/>
              </a:rPr>
              <a:t>of </a:t>
            </a:r>
            <a:r>
              <a:rPr dirty="0" sz="1200" spc="-5">
                <a:latin typeface="Arial"/>
                <a:cs typeface="Arial"/>
              </a:rPr>
              <a:t>prayer, </a:t>
            </a:r>
            <a:r>
              <a:rPr dirty="0" sz="1200">
                <a:latin typeface="Arial"/>
                <a:cs typeface="Arial"/>
              </a:rPr>
              <a:t>they differ </a:t>
            </a:r>
            <a:r>
              <a:rPr dirty="0" sz="1200" spc="-5">
                <a:latin typeface="Arial"/>
                <a:cs typeface="Arial"/>
              </a:rPr>
              <a:t>in how </a:t>
            </a:r>
            <a:r>
              <a:rPr dirty="0" sz="1200">
                <a:latin typeface="Arial"/>
                <a:cs typeface="Arial"/>
              </a:rPr>
              <a:t>to </a:t>
            </a:r>
            <a:r>
              <a:rPr dirty="0" sz="1200" spc="-5">
                <a:latin typeface="Arial"/>
                <a:cs typeface="Arial"/>
              </a:rPr>
              <a:t>approach </a:t>
            </a:r>
            <a:r>
              <a:rPr dirty="0" sz="1200">
                <a:latin typeface="Arial"/>
                <a:cs typeface="Arial"/>
              </a:rPr>
              <a:t>God. </a:t>
            </a:r>
            <a:r>
              <a:rPr dirty="0" sz="1200" spc="-5">
                <a:latin typeface="Arial"/>
                <a:cs typeface="Arial"/>
              </a:rPr>
              <a:t>Christians believe </a:t>
            </a:r>
            <a:r>
              <a:rPr dirty="0" sz="1200">
                <a:latin typeface="Arial"/>
                <a:cs typeface="Arial"/>
              </a:rPr>
              <a:t>they need </a:t>
            </a:r>
            <a:r>
              <a:rPr dirty="0" sz="1200" spc="-5">
                <a:latin typeface="Arial"/>
                <a:cs typeface="Arial"/>
              </a:rPr>
              <a:t>a mediator,  Jesus Christ, while Jews and Muslims approach prayer in a more </a:t>
            </a:r>
            <a:r>
              <a:rPr dirty="0" sz="1200">
                <a:latin typeface="Arial"/>
                <a:cs typeface="Arial"/>
              </a:rPr>
              <a:t>structured </a:t>
            </a:r>
            <a:r>
              <a:rPr dirty="0" sz="1200" spc="-10">
                <a:latin typeface="Arial"/>
                <a:cs typeface="Arial"/>
              </a:rPr>
              <a:t>way. </a:t>
            </a:r>
            <a:r>
              <a:rPr dirty="0" sz="1200" spc="-5">
                <a:latin typeface="Arial"/>
                <a:cs typeface="Arial"/>
              </a:rPr>
              <a:t>There  </a:t>
            </a:r>
            <a:r>
              <a:rPr dirty="0" sz="1200">
                <a:latin typeface="Arial"/>
                <a:cs typeface="Arial"/>
              </a:rPr>
              <a:t>major </a:t>
            </a:r>
            <a:r>
              <a:rPr dirty="0" sz="1200" spc="-5">
                <a:latin typeface="Arial"/>
                <a:cs typeface="Arial"/>
              </a:rPr>
              <a:t>differences </a:t>
            </a:r>
            <a:r>
              <a:rPr dirty="0" sz="1200" spc="-10">
                <a:latin typeface="Arial"/>
                <a:cs typeface="Arial"/>
              </a:rPr>
              <a:t>on </a:t>
            </a:r>
            <a:r>
              <a:rPr dirty="0" sz="1200" spc="-5">
                <a:latin typeface="Arial"/>
                <a:cs typeface="Arial"/>
              </a:rPr>
              <a:t>the importance </a:t>
            </a:r>
            <a:r>
              <a:rPr dirty="0" sz="1200">
                <a:latin typeface="Arial"/>
                <a:cs typeface="Arial"/>
              </a:rPr>
              <a:t>religious </a:t>
            </a:r>
            <a:r>
              <a:rPr dirty="0" sz="1200" spc="-5">
                <a:latin typeface="Arial"/>
                <a:cs typeface="Arial"/>
              </a:rPr>
              <a:t>texts entrenches their separation to a point that  </a:t>
            </a:r>
            <a:r>
              <a:rPr dirty="0" sz="1200">
                <a:latin typeface="Arial"/>
                <a:cs typeface="Arial"/>
              </a:rPr>
              <a:t>may </a:t>
            </a:r>
            <a:r>
              <a:rPr dirty="0" sz="1200" spc="-5">
                <a:latin typeface="Arial"/>
                <a:cs typeface="Arial"/>
              </a:rPr>
              <a:t>be unbridgeable. They can never reconcile </a:t>
            </a:r>
            <a:r>
              <a:rPr dirty="0" sz="1200">
                <a:latin typeface="Arial"/>
                <a:cs typeface="Arial"/>
              </a:rPr>
              <a:t>their faiths </a:t>
            </a:r>
            <a:r>
              <a:rPr dirty="0" sz="1200" spc="-5">
                <a:latin typeface="Arial"/>
                <a:cs typeface="Arial"/>
              </a:rPr>
              <a:t>among each other </a:t>
            </a:r>
            <a:r>
              <a:rPr dirty="0" sz="1200" spc="-10">
                <a:latin typeface="Arial"/>
                <a:cs typeface="Arial"/>
              </a:rPr>
              <a:t>if </a:t>
            </a:r>
            <a:r>
              <a:rPr dirty="0" sz="1200" spc="-5">
                <a:latin typeface="Arial"/>
                <a:cs typeface="Arial"/>
              </a:rPr>
              <a:t>they hold </a:t>
            </a:r>
            <a:r>
              <a:rPr dirty="0" sz="1200">
                <a:latin typeface="Arial"/>
                <a:cs typeface="Arial"/>
              </a:rPr>
              <a:t>to  their core </a:t>
            </a:r>
            <a:r>
              <a:rPr dirty="0" sz="1200" spc="-5">
                <a:latin typeface="Arial"/>
                <a:cs typeface="Arial"/>
              </a:rPr>
              <a:t>beliefs outlined in </a:t>
            </a:r>
            <a:r>
              <a:rPr dirty="0" sz="1200">
                <a:latin typeface="Arial"/>
                <a:cs typeface="Arial"/>
              </a:rPr>
              <a:t>their </a:t>
            </a:r>
            <a:r>
              <a:rPr dirty="0" sz="1200" spc="-5">
                <a:latin typeface="Arial"/>
                <a:cs typeface="Arial"/>
              </a:rPr>
              <a:t>individual religious</a:t>
            </a:r>
            <a:r>
              <a:rPr dirty="0" sz="1200" spc="-25">
                <a:latin typeface="Arial"/>
                <a:cs typeface="Arial"/>
              </a:rPr>
              <a:t> </a:t>
            </a:r>
            <a:r>
              <a:rPr dirty="0" sz="1200" spc="-5">
                <a:latin typeface="Arial"/>
                <a:cs typeface="Arial"/>
              </a:rPr>
              <a:t>texts.</a:t>
            </a:r>
            <a:endParaRPr sz="1200">
              <a:latin typeface="Arial"/>
              <a:cs typeface="Arial"/>
            </a:endParaRPr>
          </a:p>
          <a:p>
            <a:pPr>
              <a:lnSpc>
                <a:spcPct val="100000"/>
              </a:lnSpc>
              <a:spcBef>
                <a:spcPts val="50"/>
              </a:spcBef>
            </a:pPr>
            <a:endParaRPr sz="1500">
              <a:latin typeface="Arial"/>
              <a:cs typeface="Arial"/>
            </a:endParaRPr>
          </a:p>
          <a:p>
            <a:pPr marL="12700">
              <a:lnSpc>
                <a:spcPct val="100000"/>
              </a:lnSpc>
            </a:pPr>
            <a:r>
              <a:rPr dirty="0" u="heavy" sz="1200" spc="-300">
                <a:uFill>
                  <a:solidFill>
                    <a:srgbClr val="000000"/>
                  </a:solidFill>
                </a:uFill>
                <a:latin typeface="Times New Roman"/>
                <a:cs typeface="Times New Roman"/>
              </a:rPr>
              <a:t> </a:t>
            </a:r>
            <a:r>
              <a:rPr dirty="0" u="heavy" sz="1200" spc="-35" b="1" i="1">
                <a:uFill>
                  <a:solidFill>
                    <a:srgbClr val="000000"/>
                  </a:solidFill>
                </a:uFill>
                <a:latin typeface="Arial"/>
                <a:cs typeface="Arial"/>
              </a:rPr>
              <a:t>Qur‟anic </a:t>
            </a:r>
            <a:r>
              <a:rPr dirty="0" u="heavy" sz="1200" spc="-5" b="1" i="1">
                <a:uFill>
                  <a:solidFill>
                    <a:srgbClr val="000000"/>
                  </a:solidFill>
                </a:uFill>
                <a:latin typeface="Arial"/>
                <a:cs typeface="Arial"/>
              </a:rPr>
              <a:t>teachings </a:t>
            </a:r>
            <a:r>
              <a:rPr dirty="0" u="heavy" sz="1200" spc="-10" b="1" i="1">
                <a:uFill>
                  <a:solidFill>
                    <a:srgbClr val="000000"/>
                  </a:solidFill>
                </a:uFill>
                <a:latin typeface="Arial"/>
                <a:cs typeface="Arial"/>
              </a:rPr>
              <a:t>on </a:t>
            </a:r>
            <a:r>
              <a:rPr dirty="0" u="heavy" sz="1200" spc="-5" b="1" i="1">
                <a:uFill>
                  <a:solidFill>
                    <a:srgbClr val="000000"/>
                  </a:solidFill>
                </a:uFill>
                <a:latin typeface="Arial"/>
                <a:cs typeface="Arial"/>
              </a:rPr>
              <a:t>faiths </a:t>
            </a:r>
            <a:r>
              <a:rPr dirty="0" u="heavy" sz="1200" b="1" i="1">
                <a:uFill>
                  <a:solidFill>
                    <a:srgbClr val="000000"/>
                  </a:solidFill>
                </a:uFill>
                <a:latin typeface="Arial"/>
                <a:cs typeface="Arial"/>
              </a:rPr>
              <a:t>other </a:t>
            </a:r>
            <a:r>
              <a:rPr dirty="0" u="heavy" sz="1200" spc="-5" b="1" i="1">
                <a:uFill>
                  <a:solidFill>
                    <a:srgbClr val="000000"/>
                  </a:solidFill>
                </a:uFill>
                <a:latin typeface="Arial"/>
                <a:cs typeface="Arial"/>
              </a:rPr>
              <a:t>than</a:t>
            </a:r>
            <a:r>
              <a:rPr dirty="0" u="heavy" sz="1200" spc="45" b="1" i="1">
                <a:uFill>
                  <a:solidFill>
                    <a:srgbClr val="000000"/>
                  </a:solidFill>
                </a:uFill>
                <a:latin typeface="Arial"/>
                <a:cs typeface="Arial"/>
              </a:rPr>
              <a:t> </a:t>
            </a:r>
            <a:r>
              <a:rPr dirty="0" u="heavy" sz="1200" spc="-5" b="1" i="1">
                <a:uFill>
                  <a:solidFill>
                    <a:srgbClr val="000000"/>
                  </a:solidFill>
                </a:uFill>
                <a:latin typeface="Arial"/>
                <a:cs typeface="Arial"/>
              </a:rPr>
              <a:t>Islam</a:t>
            </a:r>
            <a:endParaRPr sz="1200">
              <a:latin typeface="Arial"/>
              <a:cs typeface="Arial"/>
            </a:endParaRPr>
          </a:p>
          <a:p>
            <a:pPr>
              <a:lnSpc>
                <a:spcPct val="100000"/>
              </a:lnSpc>
              <a:spcBef>
                <a:spcPts val="40"/>
              </a:spcBef>
            </a:pPr>
            <a:endParaRPr sz="1200">
              <a:latin typeface="Arial"/>
              <a:cs typeface="Arial"/>
            </a:endParaRPr>
          </a:p>
          <a:p>
            <a:pPr algn="just" marL="469900" marR="8890" indent="-228600">
              <a:lnSpc>
                <a:spcPts val="1380"/>
              </a:lnSpc>
              <a:buAutoNum type="arabicPeriod"/>
              <a:tabLst>
                <a:tab pos="470534" algn="l"/>
              </a:tabLst>
            </a:pPr>
            <a:r>
              <a:rPr dirty="0" sz="1200" spc="-5">
                <a:latin typeface="Arial"/>
                <a:cs typeface="Arial"/>
              </a:rPr>
              <a:t>People of the book concealed </a:t>
            </a:r>
            <a:r>
              <a:rPr dirty="0" sz="1200">
                <a:latin typeface="Arial"/>
                <a:cs typeface="Arial"/>
              </a:rPr>
              <a:t>the </a:t>
            </a:r>
            <a:r>
              <a:rPr dirty="0" sz="1200" spc="-5">
                <a:latin typeface="Arial"/>
                <a:cs typeface="Arial"/>
              </a:rPr>
              <a:t>truth: </a:t>
            </a:r>
            <a:r>
              <a:rPr dirty="0" sz="1200">
                <a:latin typeface="Arial"/>
                <a:cs typeface="Arial"/>
              </a:rPr>
              <a:t>O </a:t>
            </a:r>
            <a:r>
              <a:rPr dirty="0" sz="1200" spc="-5">
                <a:latin typeface="Arial"/>
                <a:cs typeface="Arial"/>
              </a:rPr>
              <a:t>People of </a:t>
            </a:r>
            <a:r>
              <a:rPr dirty="0" sz="1200">
                <a:latin typeface="Arial"/>
                <a:cs typeface="Arial"/>
              </a:rPr>
              <a:t>the </a:t>
            </a:r>
            <a:r>
              <a:rPr dirty="0" sz="1200" spc="-5">
                <a:latin typeface="Arial"/>
                <a:cs typeface="Arial"/>
              </a:rPr>
              <a:t>Scripture! </a:t>
            </a:r>
            <a:r>
              <a:rPr dirty="0" sz="1200" spc="10">
                <a:latin typeface="Arial"/>
                <a:cs typeface="Arial"/>
              </a:rPr>
              <a:t>Why </a:t>
            </a:r>
            <a:r>
              <a:rPr dirty="0" sz="1200" spc="-5">
                <a:latin typeface="Arial"/>
                <a:cs typeface="Arial"/>
              </a:rPr>
              <a:t>confound </a:t>
            </a:r>
            <a:r>
              <a:rPr dirty="0" sz="1200" spc="-10">
                <a:latin typeface="Arial"/>
                <a:cs typeface="Arial"/>
              </a:rPr>
              <a:t>ye  </a:t>
            </a:r>
            <a:r>
              <a:rPr dirty="0" sz="1200">
                <a:latin typeface="Arial"/>
                <a:cs typeface="Arial"/>
              </a:rPr>
              <a:t>truth </a:t>
            </a:r>
            <a:r>
              <a:rPr dirty="0" sz="1200" spc="-5">
                <a:latin typeface="Arial"/>
                <a:cs typeface="Arial"/>
              </a:rPr>
              <a:t>with falsehood </a:t>
            </a:r>
            <a:r>
              <a:rPr dirty="0" sz="1200" spc="-10">
                <a:latin typeface="Arial"/>
                <a:cs typeface="Arial"/>
              </a:rPr>
              <a:t>and </a:t>
            </a:r>
            <a:r>
              <a:rPr dirty="0" sz="1200" spc="-5">
                <a:latin typeface="Arial"/>
                <a:cs typeface="Arial"/>
              </a:rPr>
              <a:t>knowingly </a:t>
            </a:r>
            <a:r>
              <a:rPr dirty="0" sz="1200">
                <a:latin typeface="Arial"/>
                <a:cs typeface="Arial"/>
              </a:rPr>
              <a:t>conceal </a:t>
            </a:r>
            <a:r>
              <a:rPr dirty="0" sz="1200" spc="-10">
                <a:latin typeface="Arial"/>
                <a:cs typeface="Arial"/>
              </a:rPr>
              <a:t>the</a:t>
            </a:r>
            <a:r>
              <a:rPr dirty="0" sz="1200">
                <a:latin typeface="Arial"/>
                <a:cs typeface="Arial"/>
              </a:rPr>
              <a:t> truth?</a:t>
            </a:r>
            <a:endParaRPr sz="1200">
              <a:latin typeface="Arial"/>
              <a:cs typeface="Arial"/>
            </a:endParaRPr>
          </a:p>
          <a:p>
            <a:pPr algn="just" marL="469900" marR="8255" indent="-228600">
              <a:lnSpc>
                <a:spcPts val="1380"/>
              </a:lnSpc>
              <a:buAutoNum type="arabicPeriod"/>
              <a:tabLst>
                <a:tab pos="470534" algn="l"/>
              </a:tabLst>
            </a:pPr>
            <a:r>
              <a:rPr dirty="0" sz="1200" spc="-5">
                <a:latin typeface="Arial"/>
                <a:cs typeface="Arial"/>
              </a:rPr>
              <a:t>Knowledge of Allah: And </a:t>
            </a:r>
            <a:r>
              <a:rPr dirty="0" sz="1200" spc="-10">
                <a:latin typeface="Arial"/>
                <a:cs typeface="Arial"/>
              </a:rPr>
              <a:t>if </a:t>
            </a:r>
            <a:r>
              <a:rPr dirty="0" sz="1200" spc="-5">
                <a:latin typeface="Arial"/>
                <a:cs typeface="Arial"/>
              </a:rPr>
              <a:t>thou were </a:t>
            </a:r>
            <a:r>
              <a:rPr dirty="0" sz="1200">
                <a:latin typeface="Arial"/>
                <a:cs typeface="Arial"/>
              </a:rPr>
              <a:t>to </a:t>
            </a:r>
            <a:r>
              <a:rPr dirty="0" sz="1200" spc="-5">
                <a:latin typeface="Arial"/>
                <a:cs typeface="Arial"/>
              </a:rPr>
              <a:t>ask </a:t>
            </a:r>
            <a:r>
              <a:rPr dirty="0" sz="1200">
                <a:latin typeface="Arial"/>
                <a:cs typeface="Arial"/>
              </a:rPr>
              <a:t>them: </a:t>
            </a:r>
            <a:r>
              <a:rPr dirty="0" sz="1200" spc="5">
                <a:latin typeface="Arial"/>
                <a:cs typeface="Arial"/>
              </a:rPr>
              <a:t>Who </a:t>
            </a:r>
            <a:r>
              <a:rPr dirty="0" sz="1200" spc="-5">
                <a:latin typeface="Arial"/>
                <a:cs typeface="Arial"/>
              </a:rPr>
              <a:t>created the heavens and the  </a:t>
            </a:r>
            <a:r>
              <a:rPr dirty="0" sz="1200">
                <a:latin typeface="Arial"/>
                <a:cs typeface="Arial"/>
              </a:rPr>
              <a:t>earth, </a:t>
            </a:r>
            <a:r>
              <a:rPr dirty="0" sz="1200" spc="-5">
                <a:latin typeface="Arial"/>
                <a:cs typeface="Arial"/>
              </a:rPr>
              <a:t>and constrained </a:t>
            </a:r>
            <a:r>
              <a:rPr dirty="0" sz="1200">
                <a:latin typeface="Arial"/>
                <a:cs typeface="Arial"/>
              </a:rPr>
              <a:t>the </a:t>
            </a:r>
            <a:r>
              <a:rPr dirty="0" sz="1200" spc="-5">
                <a:latin typeface="Arial"/>
                <a:cs typeface="Arial"/>
              </a:rPr>
              <a:t>sun </a:t>
            </a:r>
            <a:r>
              <a:rPr dirty="0" sz="1200" spc="5">
                <a:latin typeface="Arial"/>
                <a:cs typeface="Arial"/>
              </a:rPr>
              <a:t>and </a:t>
            </a:r>
            <a:r>
              <a:rPr dirty="0" sz="1200" spc="-5">
                <a:latin typeface="Arial"/>
                <a:cs typeface="Arial"/>
              </a:rPr>
              <a:t>the moon </a:t>
            </a:r>
            <a:r>
              <a:rPr dirty="0" sz="1200">
                <a:latin typeface="Arial"/>
                <a:cs typeface="Arial"/>
              </a:rPr>
              <a:t>(to </a:t>
            </a:r>
            <a:r>
              <a:rPr dirty="0" sz="1200" spc="-5">
                <a:latin typeface="Arial"/>
                <a:cs typeface="Arial"/>
              </a:rPr>
              <a:t>their appointed work)? </a:t>
            </a:r>
            <a:r>
              <a:rPr dirty="0" sz="1200">
                <a:latin typeface="Arial"/>
                <a:cs typeface="Arial"/>
              </a:rPr>
              <a:t>they </a:t>
            </a:r>
            <a:r>
              <a:rPr dirty="0" sz="1200" spc="-5">
                <a:latin typeface="Arial"/>
                <a:cs typeface="Arial"/>
              </a:rPr>
              <a:t>would  say: Allah. How then are </a:t>
            </a:r>
            <a:r>
              <a:rPr dirty="0" sz="1200">
                <a:latin typeface="Arial"/>
                <a:cs typeface="Arial"/>
              </a:rPr>
              <a:t>they </a:t>
            </a:r>
            <a:r>
              <a:rPr dirty="0" sz="1200" spc="-5">
                <a:latin typeface="Arial"/>
                <a:cs typeface="Arial"/>
              </a:rPr>
              <a:t>turned </a:t>
            </a:r>
            <a:r>
              <a:rPr dirty="0" sz="1200" spc="-10">
                <a:latin typeface="Arial"/>
                <a:cs typeface="Arial"/>
              </a:rPr>
              <a:t>away? </a:t>
            </a:r>
            <a:r>
              <a:rPr dirty="0" sz="1200">
                <a:latin typeface="Arial"/>
                <a:cs typeface="Arial"/>
              </a:rPr>
              <a:t>(29:</a:t>
            </a:r>
            <a:r>
              <a:rPr dirty="0" sz="1200" spc="10">
                <a:latin typeface="Arial"/>
                <a:cs typeface="Arial"/>
              </a:rPr>
              <a:t> </a:t>
            </a:r>
            <a:r>
              <a:rPr dirty="0" sz="1200" spc="-5">
                <a:latin typeface="Arial"/>
                <a:cs typeface="Arial"/>
              </a:rPr>
              <a:t>61)</a:t>
            </a:r>
            <a:endParaRPr sz="1200">
              <a:latin typeface="Arial"/>
              <a:cs typeface="Arial"/>
            </a:endParaRPr>
          </a:p>
          <a:p>
            <a:pPr algn="just" marL="469900" marR="7620" indent="-228600">
              <a:lnSpc>
                <a:spcPts val="1380"/>
              </a:lnSpc>
              <a:buAutoNum type="arabicPeriod"/>
              <a:tabLst>
                <a:tab pos="470534" algn="l"/>
              </a:tabLst>
            </a:pPr>
            <a:r>
              <a:rPr dirty="0" sz="1200" spc="-5">
                <a:latin typeface="Arial"/>
                <a:cs typeface="Arial"/>
              </a:rPr>
              <a:t>Sabi‘oun: 17. Lo! those </a:t>
            </a:r>
            <a:r>
              <a:rPr dirty="0" sz="1200" spc="-10">
                <a:latin typeface="Arial"/>
                <a:cs typeface="Arial"/>
              </a:rPr>
              <a:t>who </a:t>
            </a:r>
            <a:r>
              <a:rPr dirty="0" sz="1200" spc="-5">
                <a:latin typeface="Arial"/>
                <a:cs typeface="Arial"/>
              </a:rPr>
              <a:t>believe </a:t>
            </a:r>
            <a:r>
              <a:rPr dirty="0" sz="1200">
                <a:latin typeface="Arial"/>
                <a:cs typeface="Arial"/>
              </a:rPr>
              <a:t>(this </a:t>
            </a:r>
            <a:r>
              <a:rPr dirty="0" sz="1200" spc="-5">
                <a:latin typeface="Arial"/>
                <a:cs typeface="Arial"/>
              </a:rPr>
              <a:t>Revelation), and those </a:t>
            </a:r>
            <a:r>
              <a:rPr dirty="0" sz="1200" spc="-10">
                <a:latin typeface="Arial"/>
                <a:cs typeface="Arial"/>
              </a:rPr>
              <a:t>who </a:t>
            </a:r>
            <a:r>
              <a:rPr dirty="0" sz="1200" spc="-5">
                <a:latin typeface="Arial"/>
                <a:cs typeface="Arial"/>
              </a:rPr>
              <a:t>are </a:t>
            </a:r>
            <a:r>
              <a:rPr dirty="0" sz="1200">
                <a:latin typeface="Arial"/>
                <a:cs typeface="Arial"/>
              </a:rPr>
              <a:t>Jews, </a:t>
            </a:r>
            <a:r>
              <a:rPr dirty="0" sz="1200" spc="-5">
                <a:latin typeface="Arial"/>
                <a:cs typeface="Arial"/>
              </a:rPr>
              <a:t>and  </a:t>
            </a:r>
            <a:r>
              <a:rPr dirty="0" sz="1200">
                <a:latin typeface="Arial"/>
                <a:cs typeface="Arial"/>
              </a:rPr>
              <a:t>the </a:t>
            </a:r>
            <a:r>
              <a:rPr dirty="0" sz="1200" spc="-5">
                <a:latin typeface="Arial"/>
                <a:cs typeface="Arial"/>
              </a:rPr>
              <a:t>Sabaeans and </a:t>
            </a:r>
            <a:r>
              <a:rPr dirty="0" sz="1200" spc="-10">
                <a:latin typeface="Arial"/>
                <a:cs typeface="Arial"/>
              </a:rPr>
              <a:t>the </a:t>
            </a:r>
            <a:r>
              <a:rPr dirty="0" sz="1200" spc="-5">
                <a:latin typeface="Arial"/>
                <a:cs typeface="Arial"/>
              </a:rPr>
              <a:t>Christians and the Magians and the idolaters. Lo! Allah </a:t>
            </a:r>
            <a:r>
              <a:rPr dirty="0" sz="1200" spc="-10">
                <a:latin typeface="Arial"/>
                <a:cs typeface="Arial"/>
              </a:rPr>
              <a:t>will  </a:t>
            </a:r>
            <a:r>
              <a:rPr dirty="0" sz="1200" spc="-5">
                <a:latin typeface="Arial"/>
                <a:cs typeface="Arial"/>
              </a:rPr>
              <a:t>decide between them on the </a:t>
            </a:r>
            <a:r>
              <a:rPr dirty="0" sz="1200" spc="-10">
                <a:latin typeface="Arial"/>
                <a:cs typeface="Arial"/>
              </a:rPr>
              <a:t>Day </a:t>
            </a:r>
            <a:r>
              <a:rPr dirty="0" sz="1200">
                <a:latin typeface="Arial"/>
                <a:cs typeface="Arial"/>
              </a:rPr>
              <a:t>of </a:t>
            </a:r>
            <a:r>
              <a:rPr dirty="0" sz="1200" spc="-5">
                <a:latin typeface="Arial"/>
                <a:cs typeface="Arial"/>
              </a:rPr>
              <a:t>Resurrection. Lo! Allah is </a:t>
            </a:r>
            <a:r>
              <a:rPr dirty="0" sz="1200">
                <a:latin typeface="Arial"/>
                <a:cs typeface="Arial"/>
              </a:rPr>
              <a:t>Witness </a:t>
            </a:r>
            <a:r>
              <a:rPr dirty="0" sz="1200" spc="-5">
                <a:latin typeface="Arial"/>
                <a:cs typeface="Arial"/>
              </a:rPr>
              <a:t>over all things.  </a:t>
            </a:r>
            <a:r>
              <a:rPr dirty="0" sz="1200">
                <a:latin typeface="Arial"/>
                <a:cs typeface="Arial"/>
              </a:rPr>
              <a:t>(22:</a:t>
            </a:r>
            <a:r>
              <a:rPr dirty="0" sz="1200" spc="-5">
                <a:latin typeface="Arial"/>
                <a:cs typeface="Arial"/>
              </a:rPr>
              <a:t> 17)</a:t>
            </a:r>
            <a:endParaRPr sz="1200">
              <a:latin typeface="Arial"/>
              <a:cs typeface="Arial"/>
            </a:endParaRPr>
          </a:p>
          <a:p>
            <a:pPr algn="just" marL="469900" marR="5080" indent="-228600">
              <a:lnSpc>
                <a:spcPts val="1380"/>
              </a:lnSpc>
              <a:buAutoNum type="arabicPeriod"/>
              <a:tabLst>
                <a:tab pos="470534" algn="l"/>
              </a:tabLst>
            </a:pPr>
            <a:r>
              <a:rPr dirty="0" sz="1200" spc="-5">
                <a:latin typeface="Arial"/>
                <a:cs typeface="Arial"/>
              </a:rPr>
              <a:t>Polytheism: 109. So </a:t>
            </a:r>
            <a:r>
              <a:rPr dirty="0" sz="1200" spc="-10">
                <a:latin typeface="Arial"/>
                <a:cs typeface="Arial"/>
              </a:rPr>
              <a:t>be </a:t>
            </a:r>
            <a:r>
              <a:rPr dirty="0" sz="1200" spc="-5">
                <a:latin typeface="Arial"/>
                <a:cs typeface="Arial"/>
              </a:rPr>
              <a:t>not thou in doubt concerning that which these (folk) worship.  They worship only as </a:t>
            </a:r>
            <a:r>
              <a:rPr dirty="0" sz="1200">
                <a:latin typeface="Arial"/>
                <a:cs typeface="Arial"/>
              </a:rPr>
              <a:t>their fathers </a:t>
            </a:r>
            <a:r>
              <a:rPr dirty="0" sz="1200" spc="-5">
                <a:latin typeface="Arial"/>
                <a:cs typeface="Arial"/>
              </a:rPr>
              <a:t>worshipped aforetime. Lo! </a:t>
            </a:r>
            <a:r>
              <a:rPr dirty="0" sz="1200" spc="15">
                <a:latin typeface="Arial"/>
                <a:cs typeface="Arial"/>
              </a:rPr>
              <a:t>We </a:t>
            </a:r>
            <a:r>
              <a:rPr dirty="0" sz="1200" spc="5">
                <a:latin typeface="Arial"/>
                <a:cs typeface="Arial"/>
              </a:rPr>
              <a:t>shall </a:t>
            </a:r>
            <a:r>
              <a:rPr dirty="0" sz="1200" spc="-5">
                <a:latin typeface="Arial"/>
                <a:cs typeface="Arial"/>
              </a:rPr>
              <a:t>pay them their  whole due unabated.(11: 109)</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173</a:t>
            </a:r>
            <a:endParaRPr sz="1200">
              <a:latin typeface="Times New Roman"/>
              <a:cs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265" cy="793623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469900" marR="12065" indent="-229235">
              <a:lnSpc>
                <a:spcPts val="1380"/>
              </a:lnSpc>
              <a:buAutoNum type="arabicPeriod" startAt="5"/>
              <a:tabLst>
                <a:tab pos="470534" algn="l"/>
              </a:tabLst>
            </a:pPr>
            <a:r>
              <a:rPr dirty="0" sz="1200">
                <a:latin typeface="Arial"/>
                <a:cs typeface="Arial"/>
              </a:rPr>
              <a:t>Idol </a:t>
            </a:r>
            <a:r>
              <a:rPr dirty="0" sz="1200" spc="-5">
                <a:latin typeface="Arial"/>
                <a:cs typeface="Arial"/>
              </a:rPr>
              <a:t>worshipping: And </a:t>
            </a:r>
            <a:r>
              <a:rPr dirty="0" sz="1200">
                <a:latin typeface="Arial"/>
                <a:cs typeface="Arial"/>
              </a:rPr>
              <a:t>they </a:t>
            </a:r>
            <a:r>
              <a:rPr dirty="0" sz="1200" spc="-5">
                <a:latin typeface="Arial"/>
                <a:cs typeface="Arial"/>
              </a:rPr>
              <a:t>have chosen (other) gods beside Allah </a:t>
            </a:r>
            <a:r>
              <a:rPr dirty="0" sz="1200">
                <a:latin typeface="Arial"/>
                <a:cs typeface="Arial"/>
              </a:rPr>
              <a:t>that they may </a:t>
            </a:r>
            <a:r>
              <a:rPr dirty="0" sz="1200" spc="-5">
                <a:latin typeface="Arial"/>
                <a:cs typeface="Arial"/>
              </a:rPr>
              <a:t>be a  power </a:t>
            </a:r>
            <a:r>
              <a:rPr dirty="0" sz="1200">
                <a:latin typeface="Arial"/>
                <a:cs typeface="Arial"/>
              </a:rPr>
              <a:t>for </a:t>
            </a:r>
            <a:r>
              <a:rPr dirty="0" sz="1200" spc="-5">
                <a:latin typeface="Arial"/>
                <a:cs typeface="Arial"/>
              </a:rPr>
              <a:t>them. Nay, but they will deny </a:t>
            </a:r>
            <a:r>
              <a:rPr dirty="0" sz="1200">
                <a:latin typeface="Arial"/>
                <a:cs typeface="Arial"/>
              </a:rPr>
              <a:t>their </a:t>
            </a:r>
            <a:r>
              <a:rPr dirty="0" sz="1200" spc="-5">
                <a:latin typeface="Arial"/>
                <a:cs typeface="Arial"/>
              </a:rPr>
              <a:t>worship </a:t>
            </a:r>
            <a:r>
              <a:rPr dirty="0" sz="1200">
                <a:latin typeface="Arial"/>
                <a:cs typeface="Arial"/>
              </a:rPr>
              <a:t>of them, </a:t>
            </a:r>
            <a:r>
              <a:rPr dirty="0" sz="1200" spc="-5">
                <a:latin typeface="Arial"/>
                <a:cs typeface="Arial"/>
              </a:rPr>
              <a:t>and become opponents  unto them.</a:t>
            </a:r>
            <a:r>
              <a:rPr dirty="0" sz="1200" spc="-15">
                <a:latin typeface="Arial"/>
                <a:cs typeface="Arial"/>
              </a:rPr>
              <a:t> </a:t>
            </a:r>
            <a:r>
              <a:rPr dirty="0" sz="1200" spc="-5">
                <a:latin typeface="Arial"/>
                <a:cs typeface="Arial"/>
              </a:rPr>
              <a:t>(19:81-82)</a:t>
            </a:r>
            <a:endParaRPr sz="1200">
              <a:latin typeface="Arial"/>
              <a:cs typeface="Arial"/>
            </a:endParaRPr>
          </a:p>
          <a:p>
            <a:pPr algn="just" marL="469900" marR="10795" indent="-229235">
              <a:lnSpc>
                <a:spcPts val="1380"/>
              </a:lnSpc>
              <a:spcBef>
                <a:spcPts val="5"/>
              </a:spcBef>
              <a:buAutoNum type="arabicPeriod" startAt="5"/>
              <a:tabLst>
                <a:tab pos="470534" algn="l"/>
              </a:tabLst>
            </a:pPr>
            <a:r>
              <a:rPr dirty="0" sz="1200" spc="-5">
                <a:latin typeface="Arial"/>
                <a:cs typeface="Arial"/>
              </a:rPr>
              <a:t>Hanif: </a:t>
            </a:r>
            <a:r>
              <a:rPr dirty="0" sz="1200" spc="-10">
                <a:latin typeface="Arial"/>
                <a:cs typeface="Arial"/>
              </a:rPr>
              <a:t>Say: </a:t>
            </a:r>
            <a:r>
              <a:rPr dirty="0" sz="1200" spc="-5">
                <a:latin typeface="Arial"/>
                <a:cs typeface="Arial"/>
              </a:rPr>
              <a:t>Allah speaks </a:t>
            </a:r>
            <a:r>
              <a:rPr dirty="0" sz="1200">
                <a:latin typeface="Arial"/>
                <a:cs typeface="Arial"/>
              </a:rPr>
              <a:t>truth. </a:t>
            </a:r>
            <a:r>
              <a:rPr dirty="0" sz="1200" spc="-5">
                <a:latin typeface="Arial"/>
                <a:cs typeface="Arial"/>
              </a:rPr>
              <a:t>So follow </a:t>
            </a:r>
            <a:r>
              <a:rPr dirty="0" sz="1200">
                <a:latin typeface="Arial"/>
                <a:cs typeface="Arial"/>
              </a:rPr>
              <a:t>the </a:t>
            </a:r>
            <a:r>
              <a:rPr dirty="0" sz="1200" spc="-5">
                <a:latin typeface="Arial"/>
                <a:cs typeface="Arial"/>
              </a:rPr>
              <a:t>religion </a:t>
            </a:r>
            <a:r>
              <a:rPr dirty="0" sz="1200">
                <a:latin typeface="Arial"/>
                <a:cs typeface="Arial"/>
              </a:rPr>
              <a:t>of </a:t>
            </a:r>
            <a:r>
              <a:rPr dirty="0" sz="1200" spc="-5">
                <a:latin typeface="Arial"/>
                <a:cs typeface="Arial"/>
              </a:rPr>
              <a:t>Abraham, </a:t>
            </a:r>
            <a:r>
              <a:rPr dirty="0" sz="1200" spc="-10">
                <a:latin typeface="Arial"/>
                <a:cs typeface="Arial"/>
              </a:rPr>
              <a:t>the </a:t>
            </a:r>
            <a:r>
              <a:rPr dirty="0" sz="1200" spc="-5">
                <a:latin typeface="Arial"/>
                <a:cs typeface="Arial"/>
              </a:rPr>
              <a:t>upright. He </a:t>
            </a:r>
            <a:r>
              <a:rPr dirty="0" sz="1200" spc="-10">
                <a:latin typeface="Arial"/>
                <a:cs typeface="Arial"/>
              </a:rPr>
              <a:t>was  </a:t>
            </a:r>
            <a:r>
              <a:rPr dirty="0" sz="1200" spc="-5">
                <a:latin typeface="Arial"/>
                <a:cs typeface="Arial"/>
              </a:rPr>
              <a:t>not of the idolaters.</a:t>
            </a:r>
            <a:r>
              <a:rPr dirty="0" sz="1200" spc="5">
                <a:latin typeface="Arial"/>
                <a:cs typeface="Arial"/>
              </a:rPr>
              <a:t> </a:t>
            </a:r>
            <a:r>
              <a:rPr dirty="0" sz="1200" spc="-5">
                <a:latin typeface="Arial"/>
                <a:cs typeface="Arial"/>
              </a:rPr>
              <a:t>(3:95)</a:t>
            </a:r>
            <a:endParaRPr sz="1200">
              <a:latin typeface="Arial"/>
              <a:cs typeface="Arial"/>
            </a:endParaRPr>
          </a:p>
          <a:p>
            <a:pPr algn="just" marL="469900" marR="6985" indent="-229235">
              <a:lnSpc>
                <a:spcPts val="1380"/>
              </a:lnSpc>
              <a:buAutoNum type="arabicPeriod" startAt="5"/>
              <a:tabLst>
                <a:tab pos="470534" algn="l"/>
              </a:tabLst>
            </a:pPr>
            <a:r>
              <a:rPr dirty="0" sz="1200" spc="-5">
                <a:latin typeface="Arial"/>
                <a:cs typeface="Arial"/>
              </a:rPr>
              <a:t>Allah </a:t>
            </a:r>
            <a:r>
              <a:rPr dirty="0" sz="1200" spc="-10">
                <a:latin typeface="Arial"/>
                <a:cs typeface="Arial"/>
              </a:rPr>
              <a:t>will </a:t>
            </a:r>
            <a:r>
              <a:rPr dirty="0" sz="1200" spc="-5">
                <a:latin typeface="Arial"/>
                <a:cs typeface="Arial"/>
              </a:rPr>
              <a:t>judge between them: 113. And </a:t>
            </a:r>
            <a:r>
              <a:rPr dirty="0" sz="1200" spc="-10">
                <a:latin typeface="Arial"/>
                <a:cs typeface="Arial"/>
              </a:rPr>
              <a:t>the </a:t>
            </a:r>
            <a:r>
              <a:rPr dirty="0" sz="1200" spc="-5">
                <a:latin typeface="Arial"/>
                <a:cs typeface="Arial"/>
              </a:rPr>
              <a:t>Jews say </a:t>
            </a:r>
            <a:r>
              <a:rPr dirty="0" sz="1200">
                <a:latin typeface="Arial"/>
                <a:cs typeface="Arial"/>
              </a:rPr>
              <a:t>the </a:t>
            </a:r>
            <a:r>
              <a:rPr dirty="0" sz="1200" spc="-5">
                <a:latin typeface="Arial"/>
                <a:cs typeface="Arial"/>
              </a:rPr>
              <a:t>Christians follow </a:t>
            </a:r>
            <a:r>
              <a:rPr dirty="0" sz="1200">
                <a:latin typeface="Arial"/>
                <a:cs typeface="Arial"/>
              </a:rPr>
              <a:t>nothing  </a:t>
            </a:r>
            <a:r>
              <a:rPr dirty="0" sz="1200" spc="-5">
                <a:latin typeface="Arial"/>
                <a:cs typeface="Arial"/>
              </a:rPr>
              <a:t>(true), and </a:t>
            </a:r>
            <a:r>
              <a:rPr dirty="0" sz="1200">
                <a:latin typeface="Arial"/>
                <a:cs typeface="Arial"/>
              </a:rPr>
              <a:t>the </a:t>
            </a:r>
            <a:r>
              <a:rPr dirty="0" sz="1200" spc="-5">
                <a:latin typeface="Arial"/>
                <a:cs typeface="Arial"/>
              </a:rPr>
              <a:t>Christians say </a:t>
            </a:r>
            <a:r>
              <a:rPr dirty="0" sz="1200">
                <a:latin typeface="Arial"/>
                <a:cs typeface="Arial"/>
              </a:rPr>
              <a:t>the </a:t>
            </a:r>
            <a:r>
              <a:rPr dirty="0" sz="1200" spc="-5">
                <a:latin typeface="Arial"/>
                <a:cs typeface="Arial"/>
              </a:rPr>
              <a:t>Jews follow </a:t>
            </a:r>
            <a:r>
              <a:rPr dirty="0" sz="1200">
                <a:latin typeface="Arial"/>
                <a:cs typeface="Arial"/>
              </a:rPr>
              <a:t>nothing </a:t>
            </a:r>
            <a:r>
              <a:rPr dirty="0" sz="1200" spc="-5">
                <a:latin typeface="Arial"/>
                <a:cs typeface="Arial"/>
              </a:rPr>
              <a:t>(true); yet </a:t>
            </a:r>
            <a:r>
              <a:rPr dirty="0" sz="1200">
                <a:latin typeface="Arial"/>
                <a:cs typeface="Arial"/>
              </a:rPr>
              <a:t>both </a:t>
            </a:r>
            <a:r>
              <a:rPr dirty="0" sz="1200" spc="10">
                <a:latin typeface="Arial"/>
                <a:cs typeface="Arial"/>
              </a:rPr>
              <a:t>are </a:t>
            </a:r>
            <a:r>
              <a:rPr dirty="0" sz="1200" spc="-5">
                <a:latin typeface="Arial"/>
                <a:cs typeface="Arial"/>
              </a:rPr>
              <a:t>readers of  </a:t>
            </a:r>
            <a:r>
              <a:rPr dirty="0" sz="1200">
                <a:latin typeface="Arial"/>
                <a:cs typeface="Arial"/>
              </a:rPr>
              <a:t>the </a:t>
            </a:r>
            <a:r>
              <a:rPr dirty="0" sz="1200" spc="-5">
                <a:latin typeface="Arial"/>
                <a:cs typeface="Arial"/>
              </a:rPr>
              <a:t>Scripture. Even </a:t>
            </a:r>
            <a:r>
              <a:rPr dirty="0" sz="1200">
                <a:latin typeface="Arial"/>
                <a:cs typeface="Arial"/>
              </a:rPr>
              <a:t>thus </a:t>
            </a:r>
            <a:r>
              <a:rPr dirty="0" sz="1200" spc="-5">
                <a:latin typeface="Arial"/>
                <a:cs typeface="Arial"/>
              </a:rPr>
              <a:t>speak those </a:t>
            </a:r>
            <a:r>
              <a:rPr dirty="0" sz="1200" spc="-10">
                <a:latin typeface="Arial"/>
                <a:cs typeface="Arial"/>
              </a:rPr>
              <a:t>who </a:t>
            </a:r>
            <a:r>
              <a:rPr dirty="0" sz="1200">
                <a:latin typeface="Arial"/>
                <a:cs typeface="Arial"/>
              </a:rPr>
              <a:t>know not. </a:t>
            </a:r>
            <a:r>
              <a:rPr dirty="0" sz="1200" spc="-5">
                <a:latin typeface="Arial"/>
                <a:cs typeface="Arial"/>
              </a:rPr>
              <a:t>Allah will </a:t>
            </a:r>
            <a:r>
              <a:rPr dirty="0" sz="1200">
                <a:latin typeface="Arial"/>
                <a:cs typeface="Arial"/>
              </a:rPr>
              <a:t>judge </a:t>
            </a:r>
            <a:r>
              <a:rPr dirty="0" sz="1200" spc="-5">
                <a:latin typeface="Arial"/>
                <a:cs typeface="Arial"/>
              </a:rPr>
              <a:t>between them </a:t>
            </a:r>
            <a:r>
              <a:rPr dirty="0" sz="1200" spc="-10">
                <a:latin typeface="Arial"/>
                <a:cs typeface="Arial"/>
              </a:rPr>
              <a:t>on  </a:t>
            </a:r>
            <a:r>
              <a:rPr dirty="0" sz="1200">
                <a:latin typeface="Arial"/>
                <a:cs typeface="Arial"/>
              </a:rPr>
              <a:t>the </a:t>
            </a:r>
            <a:r>
              <a:rPr dirty="0" sz="1200" spc="-5">
                <a:latin typeface="Arial"/>
                <a:cs typeface="Arial"/>
              </a:rPr>
              <a:t>Day of Resurrection concerning that wherein they</a:t>
            </a:r>
            <a:r>
              <a:rPr dirty="0" sz="1200" spc="15">
                <a:latin typeface="Arial"/>
                <a:cs typeface="Arial"/>
              </a:rPr>
              <a:t> </a:t>
            </a:r>
            <a:r>
              <a:rPr dirty="0" sz="1200">
                <a:latin typeface="Arial"/>
                <a:cs typeface="Arial"/>
              </a:rPr>
              <a:t>differ</a:t>
            </a:r>
            <a:endParaRPr sz="1200">
              <a:latin typeface="Arial"/>
              <a:cs typeface="Arial"/>
            </a:endParaRPr>
          </a:p>
          <a:p>
            <a:pPr algn="just" marL="469900" marR="10160" indent="-229235">
              <a:lnSpc>
                <a:spcPts val="1380"/>
              </a:lnSpc>
              <a:buAutoNum type="arabicPeriod" startAt="5"/>
              <a:tabLst>
                <a:tab pos="470534" algn="l"/>
              </a:tabLst>
            </a:pPr>
            <a:r>
              <a:rPr dirty="0" sz="1200" spc="-5">
                <a:latin typeface="Arial"/>
                <a:cs typeface="Arial"/>
              </a:rPr>
              <a:t>Falsification: The Holy </a:t>
            </a:r>
            <a:r>
              <a:rPr dirty="0" sz="1200">
                <a:latin typeface="Arial"/>
                <a:cs typeface="Arial"/>
              </a:rPr>
              <a:t>Quran </a:t>
            </a:r>
            <a:r>
              <a:rPr dirty="0" sz="1200" spc="-5">
                <a:latin typeface="Arial"/>
                <a:cs typeface="Arial"/>
              </a:rPr>
              <a:t>informs us that </a:t>
            </a:r>
            <a:r>
              <a:rPr dirty="0" sz="1200">
                <a:latin typeface="Arial"/>
                <a:cs typeface="Arial"/>
              </a:rPr>
              <a:t>the </a:t>
            </a:r>
            <a:r>
              <a:rPr dirty="0" sz="1200" spc="-5">
                <a:latin typeface="Arial"/>
                <a:cs typeface="Arial"/>
              </a:rPr>
              <a:t>Jews and Christians have corrupted  </a:t>
            </a:r>
            <a:r>
              <a:rPr dirty="0" sz="1200">
                <a:latin typeface="Arial"/>
                <a:cs typeface="Arial"/>
              </a:rPr>
              <a:t>their </a:t>
            </a:r>
            <a:r>
              <a:rPr dirty="0" sz="1200" spc="-5">
                <a:latin typeface="Arial"/>
                <a:cs typeface="Arial"/>
              </a:rPr>
              <a:t>scriptures by mixing </a:t>
            </a:r>
            <a:r>
              <a:rPr dirty="0" sz="1200">
                <a:latin typeface="Arial"/>
                <a:cs typeface="Arial"/>
              </a:rPr>
              <a:t>the </a:t>
            </a:r>
            <a:r>
              <a:rPr dirty="0" sz="1200" spc="-5">
                <a:latin typeface="Arial"/>
                <a:cs typeface="Arial"/>
              </a:rPr>
              <a:t>original revelation with human interpolations and  interpretations until the former </a:t>
            </a:r>
            <a:r>
              <a:rPr dirty="0" sz="1200">
                <a:latin typeface="Arial"/>
                <a:cs typeface="Arial"/>
              </a:rPr>
              <a:t>could </a:t>
            </a:r>
            <a:r>
              <a:rPr dirty="0" sz="1200" spc="-5">
                <a:latin typeface="Arial"/>
                <a:cs typeface="Arial"/>
              </a:rPr>
              <a:t>not </a:t>
            </a:r>
            <a:r>
              <a:rPr dirty="0" sz="1200" spc="-10">
                <a:latin typeface="Arial"/>
                <a:cs typeface="Arial"/>
              </a:rPr>
              <a:t>be </a:t>
            </a:r>
            <a:r>
              <a:rPr dirty="0" sz="1200" spc="-5">
                <a:latin typeface="Arial"/>
                <a:cs typeface="Arial"/>
              </a:rPr>
              <a:t>distinguished from </a:t>
            </a:r>
            <a:r>
              <a:rPr dirty="0" sz="1200">
                <a:latin typeface="Arial"/>
                <a:cs typeface="Arial"/>
              </a:rPr>
              <a:t>the</a:t>
            </a:r>
            <a:r>
              <a:rPr dirty="0" sz="1200" spc="25">
                <a:latin typeface="Arial"/>
                <a:cs typeface="Arial"/>
              </a:rPr>
              <a:t> </a:t>
            </a:r>
            <a:r>
              <a:rPr dirty="0" sz="1200" spc="-5">
                <a:latin typeface="Arial"/>
                <a:cs typeface="Arial"/>
              </a:rPr>
              <a:t>latter.</a:t>
            </a:r>
            <a:endParaRPr sz="1200">
              <a:latin typeface="Arial"/>
              <a:cs typeface="Arial"/>
            </a:endParaRPr>
          </a:p>
          <a:p>
            <a:pPr algn="just" marL="469900" marR="6985" indent="-229235">
              <a:lnSpc>
                <a:spcPts val="1380"/>
              </a:lnSpc>
              <a:buAutoNum type="arabicPeriod" startAt="5"/>
              <a:tabLst>
                <a:tab pos="470534" algn="l"/>
              </a:tabLst>
            </a:pPr>
            <a:r>
              <a:rPr dirty="0" sz="1200" spc="-5">
                <a:latin typeface="Arial"/>
                <a:cs typeface="Arial"/>
              </a:rPr>
              <a:t>Followers and Hypocrites towards Jesus: </a:t>
            </a:r>
            <a:r>
              <a:rPr dirty="0" sz="1200">
                <a:latin typeface="Arial"/>
                <a:cs typeface="Arial"/>
              </a:rPr>
              <a:t>Then </a:t>
            </a:r>
            <a:r>
              <a:rPr dirty="0" sz="1200" spc="-5">
                <a:latin typeface="Arial"/>
                <a:cs typeface="Arial"/>
              </a:rPr>
              <a:t>when Jesus </a:t>
            </a:r>
            <a:r>
              <a:rPr dirty="0" sz="1200" spc="-10">
                <a:latin typeface="Arial"/>
                <a:cs typeface="Arial"/>
              </a:rPr>
              <a:t>came </a:t>
            </a:r>
            <a:r>
              <a:rPr dirty="0" sz="1200">
                <a:latin typeface="Arial"/>
                <a:cs typeface="Arial"/>
              </a:rPr>
              <a:t>to </a:t>
            </a:r>
            <a:r>
              <a:rPr dirty="0" sz="1200" spc="-5">
                <a:latin typeface="Arial"/>
                <a:cs typeface="Arial"/>
              </a:rPr>
              <a:t>know of their  disbelief,</a:t>
            </a:r>
            <a:r>
              <a:rPr dirty="0" sz="1200" spc="60">
                <a:latin typeface="Arial"/>
                <a:cs typeface="Arial"/>
              </a:rPr>
              <a:t> </a:t>
            </a:r>
            <a:r>
              <a:rPr dirty="0" sz="1200" spc="-10">
                <a:latin typeface="Arial"/>
                <a:cs typeface="Arial"/>
              </a:rPr>
              <a:t>he</a:t>
            </a:r>
            <a:r>
              <a:rPr dirty="0" sz="1200" spc="60">
                <a:latin typeface="Arial"/>
                <a:cs typeface="Arial"/>
              </a:rPr>
              <a:t> </a:t>
            </a:r>
            <a:r>
              <a:rPr dirty="0" sz="1200" spc="-5">
                <a:latin typeface="Arial"/>
                <a:cs typeface="Arial"/>
              </a:rPr>
              <a:t>said:</a:t>
            </a:r>
            <a:r>
              <a:rPr dirty="0" sz="1200" spc="50">
                <a:latin typeface="Arial"/>
                <a:cs typeface="Arial"/>
              </a:rPr>
              <a:t> </a:t>
            </a:r>
            <a:r>
              <a:rPr dirty="0" sz="1200">
                <a:latin typeface="Arial"/>
                <a:cs typeface="Arial"/>
              </a:rPr>
              <a:t>"Who</a:t>
            </a:r>
            <a:r>
              <a:rPr dirty="0" sz="1200" spc="65">
                <a:latin typeface="Arial"/>
                <a:cs typeface="Arial"/>
              </a:rPr>
              <a:t> </a:t>
            </a:r>
            <a:r>
              <a:rPr dirty="0" sz="1200" spc="-5">
                <a:latin typeface="Arial"/>
                <a:cs typeface="Arial"/>
              </a:rPr>
              <a:t>will</a:t>
            </a:r>
            <a:r>
              <a:rPr dirty="0" sz="1200" spc="50">
                <a:latin typeface="Arial"/>
                <a:cs typeface="Arial"/>
              </a:rPr>
              <a:t> </a:t>
            </a:r>
            <a:r>
              <a:rPr dirty="0" sz="1200" spc="-5">
                <a:latin typeface="Arial"/>
                <a:cs typeface="Arial"/>
              </a:rPr>
              <a:t>be</a:t>
            </a:r>
            <a:r>
              <a:rPr dirty="0" sz="1200" spc="60">
                <a:latin typeface="Arial"/>
                <a:cs typeface="Arial"/>
              </a:rPr>
              <a:t> </a:t>
            </a:r>
            <a:r>
              <a:rPr dirty="0" sz="1200" spc="15">
                <a:latin typeface="Arial"/>
                <a:cs typeface="Arial"/>
              </a:rPr>
              <a:t>my</a:t>
            </a:r>
            <a:r>
              <a:rPr dirty="0" sz="1200" spc="45">
                <a:latin typeface="Arial"/>
                <a:cs typeface="Arial"/>
              </a:rPr>
              <a:t> </a:t>
            </a:r>
            <a:r>
              <a:rPr dirty="0" sz="1200">
                <a:latin typeface="Arial"/>
                <a:cs typeface="Arial"/>
              </a:rPr>
              <a:t>helpers</a:t>
            </a:r>
            <a:r>
              <a:rPr dirty="0" sz="1200" spc="60">
                <a:latin typeface="Arial"/>
                <a:cs typeface="Arial"/>
              </a:rPr>
              <a:t> </a:t>
            </a:r>
            <a:r>
              <a:rPr dirty="0" sz="1200" spc="-5">
                <a:latin typeface="Arial"/>
                <a:cs typeface="Arial"/>
              </a:rPr>
              <a:t>in</a:t>
            </a:r>
            <a:r>
              <a:rPr dirty="0" sz="1200" spc="60">
                <a:latin typeface="Arial"/>
                <a:cs typeface="Arial"/>
              </a:rPr>
              <a:t> </a:t>
            </a:r>
            <a:r>
              <a:rPr dirty="0" sz="1200" spc="-5">
                <a:latin typeface="Arial"/>
                <a:cs typeface="Arial"/>
              </a:rPr>
              <a:t>Allah's</a:t>
            </a:r>
            <a:r>
              <a:rPr dirty="0" sz="1200" spc="70">
                <a:latin typeface="Arial"/>
                <a:cs typeface="Arial"/>
              </a:rPr>
              <a:t> </a:t>
            </a:r>
            <a:r>
              <a:rPr dirty="0" sz="1200" spc="-5">
                <a:latin typeface="Arial"/>
                <a:cs typeface="Arial"/>
              </a:rPr>
              <a:t>Cause?"</a:t>
            </a:r>
            <a:r>
              <a:rPr dirty="0" sz="1200" spc="65">
                <a:latin typeface="Arial"/>
                <a:cs typeface="Arial"/>
              </a:rPr>
              <a:t> </a:t>
            </a:r>
            <a:r>
              <a:rPr dirty="0" sz="1200" spc="-5">
                <a:latin typeface="Arial"/>
                <a:cs typeface="Arial"/>
              </a:rPr>
              <a:t>The</a:t>
            </a:r>
            <a:r>
              <a:rPr dirty="0" sz="1200" spc="50">
                <a:latin typeface="Arial"/>
                <a:cs typeface="Arial"/>
              </a:rPr>
              <a:t> </a:t>
            </a:r>
            <a:r>
              <a:rPr dirty="0" sz="1200" spc="-5">
                <a:latin typeface="Arial"/>
                <a:cs typeface="Arial"/>
              </a:rPr>
              <a:t>disciples</a:t>
            </a:r>
            <a:r>
              <a:rPr dirty="0" sz="1200" spc="60">
                <a:latin typeface="Arial"/>
                <a:cs typeface="Arial"/>
              </a:rPr>
              <a:t> </a:t>
            </a:r>
            <a:r>
              <a:rPr dirty="0" sz="1200" spc="-5">
                <a:latin typeface="Arial"/>
                <a:cs typeface="Arial"/>
              </a:rPr>
              <a:t>said:</a:t>
            </a:r>
            <a:r>
              <a:rPr dirty="0" sz="1200" spc="40">
                <a:latin typeface="Arial"/>
                <a:cs typeface="Arial"/>
              </a:rPr>
              <a:t> </a:t>
            </a:r>
            <a:r>
              <a:rPr dirty="0" sz="1200">
                <a:latin typeface="Arial"/>
                <a:cs typeface="Arial"/>
              </a:rPr>
              <a:t>"We</a:t>
            </a:r>
            <a:endParaRPr sz="1200">
              <a:latin typeface="Arial"/>
              <a:cs typeface="Arial"/>
            </a:endParaRPr>
          </a:p>
          <a:p>
            <a:pPr algn="just" marL="469900" marR="5715">
              <a:lnSpc>
                <a:spcPts val="1380"/>
              </a:lnSpc>
            </a:pPr>
            <a:r>
              <a:rPr dirty="0" sz="1200" spc="-5">
                <a:latin typeface="Arial"/>
                <a:cs typeface="Arial"/>
              </a:rPr>
              <a:t>are </a:t>
            </a:r>
            <a:r>
              <a:rPr dirty="0" sz="1200">
                <a:latin typeface="Arial"/>
                <a:cs typeface="Arial"/>
              </a:rPr>
              <a:t>the </a:t>
            </a:r>
            <a:r>
              <a:rPr dirty="0" sz="1200" spc="-5">
                <a:latin typeface="Arial"/>
                <a:cs typeface="Arial"/>
              </a:rPr>
              <a:t>helpers of Allah; </a:t>
            </a:r>
            <a:r>
              <a:rPr dirty="0" sz="1200" spc="-10">
                <a:latin typeface="Arial"/>
                <a:cs typeface="Arial"/>
              </a:rPr>
              <a:t>we </a:t>
            </a:r>
            <a:r>
              <a:rPr dirty="0" sz="1200" spc="-5">
                <a:latin typeface="Arial"/>
                <a:cs typeface="Arial"/>
              </a:rPr>
              <a:t>believe in Allah, and bear witness that </a:t>
            </a:r>
            <a:r>
              <a:rPr dirty="0" sz="1200" spc="-10">
                <a:latin typeface="Arial"/>
                <a:cs typeface="Arial"/>
              </a:rPr>
              <a:t>we </a:t>
            </a:r>
            <a:r>
              <a:rPr dirty="0" sz="1200" spc="-5">
                <a:latin typeface="Arial"/>
                <a:cs typeface="Arial"/>
              </a:rPr>
              <a:t>are Muslims  (we </a:t>
            </a:r>
            <a:r>
              <a:rPr dirty="0" sz="1200">
                <a:latin typeface="Arial"/>
                <a:cs typeface="Arial"/>
              </a:rPr>
              <a:t>submit to </a:t>
            </a:r>
            <a:r>
              <a:rPr dirty="0" sz="1200" spc="-5">
                <a:latin typeface="Arial"/>
                <a:cs typeface="Arial"/>
              </a:rPr>
              <a:t>Allah)."Our Lord! </a:t>
            </a:r>
            <a:r>
              <a:rPr dirty="0" sz="1200" spc="15">
                <a:latin typeface="Arial"/>
                <a:cs typeface="Arial"/>
              </a:rPr>
              <a:t>We </a:t>
            </a:r>
            <a:r>
              <a:rPr dirty="0" sz="1200" spc="-5">
                <a:latin typeface="Arial"/>
                <a:cs typeface="Arial"/>
              </a:rPr>
              <a:t>believe in what You have sent down, and </a:t>
            </a:r>
            <a:r>
              <a:rPr dirty="0" sz="1200" spc="-10">
                <a:latin typeface="Arial"/>
                <a:cs typeface="Arial"/>
              </a:rPr>
              <a:t>we  </a:t>
            </a:r>
            <a:r>
              <a:rPr dirty="0" sz="1200" spc="-5">
                <a:latin typeface="Arial"/>
                <a:cs typeface="Arial"/>
              </a:rPr>
              <a:t>follow the Messenger (Jesus); so </a:t>
            </a:r>
            <a:r>
              <a:rPr dirty="0" sz="1200" spc="-10">
                <a:latin typeface="Arial"/>
                <a:cs typeface="Arial"/>
              </a:rPr>
              <a:t>write </a:t>
            </a:r>
            <a:r>
              <a:rPr dirty="0" sz="1200">
                <a:latin typeface="Arial"/>
                <a:cs typeface="Arial"/>
              </a:rPr>
              <a:t>us </a:t>
            </a:r>
            <a:r>
              <a:rPr dirty="0" sz="1200" spc="-5">
                <a:latin typeface="Arial"/>
                <a:cs typeface="Arial"/>
              </a:rPr>
              <a:t>down </a:t>
            </a:r>
            <a:r>
              <a:rPr dirty="0" sz="1200">
                <a:latin typeface="Arial"/>
                <a:cs typeface="Arial"/>
              </a:rPr>
              <a:t>among </a:t>
            </a:r>
            <a:r>
              <a:rPr dirty="0" sz="1200" spc="-5">
                <a:latin typeface="Arial"/>
                <a:cs typeface="Arial"/>
              </a:rPr>
              <a:t>those </a:t>
            </a:r>
            <a:r>
              <a:rPr dirty="0" sz="1200" spc="-10">
                <a:latin typeface="Arial"/>
                <a:cs typeface="Arial"/>
              </a:rPr>
              <a:t>who </a:t>
            </a:r>
            <a:r>
              <a:rPr dirty="0" sz="1200" spc="-5">
                <a:latin typeface="Arial"/>
                <a:cs typeface="Arial"/>
              </a:rPr>
              <a:t>bear witness </a:t>
            </a:r>
            <a:r>
              <a:rPr dirty="0" sz="1200">
                <a:latin typeface="Arial"/>
                <a:cs typeface="Arial"/>
              </a:rPr>
              <a:t>(to </a:t>
            </a:r>
            <a:r>
              <a:rPr dirty="0" sz="1200" spc="-5">
                <a:latin typeface="Arial"/>
                <a:cs typeface="Arial"/>
              </a:rPr>
              <a:t>the  </a:t>
            </a:r>
            <a:r>
              <a:rPr dirty="0" sz="1200">
                <a:latin typeface="Arial"/>
                <a:cs typeface="Arial"/>
              </a:rPr>
              <a:t>truth, </a:t>
            </a:r>
            <a:r>
              <a:rPr dirty="0" sz="1200" spc="-10">
                <a:latin typeface="Arial"/>
                <a:cs typeface="Arial"/>
              </a:rPr>
              <a:t>La </a:t>
            </a:r>
            <a:r>
              <a:rPr dirty="0" sz="1200" spc="-5">
                <a:latin typeface="Arial"/>
                <a:cs typeface="Arial"/>
              </a:rPr>
              <a:t>ilaha ill Allah </a:t>
            </a:r>
            <a:r>
              <a:rPr dirty="0" sz="1200">
                <a:latin typeface="Arial"/>
                <a:cs typeface="Arial"/>
              </a:rPr>
              <a:t>- </a:t>
            </a:r>
            <a:r>
              <a:rPr dirty="0" sz="1200" spc="-5">
                <a:latin typeface="Arial"/>
                <a:cs typeface="Arial"/>
              </a:rPr>
              <a:t>none has the right </a:t>
            </a:r>
            <a:r>
              <a:rPr dirty="0" sz="1200">
                <a:latin typeface="Arial"/>
                <a:cs typeface="Arial"/>
              </a:rPr>
              <a:t>to </a:t>
            </a:r>
            <a:r>
              <a:rPr dirty="0" sz="1200" spc="-5">
                <a:latin typeface="Arial"/>
                <a:cs typeface="Arial"/>
              </a:rPr>
              <a:t>be worshipped but Allah). And they  (disbelievers) </a:t>
            </a:r>
            <a:r>
              <a:rPr dirty="0" sz="1200">
                <a:latin typeface="Arial"/>
                <a:cs typeface="Arial"/>
              </a:rPr>
              <a:t>plotted (to </a:t>
            </a:r>
            <a:r>
              <a:rPr dirty="0" sz="1200" spc="-5">
                <a:latin typeface="Arial"/>
                <a:cs typeface="Arial"/>
              </a:rPr>
              <a:t>kill </a:t>
            </a:r>
            <a:r>
              <a:rPr dirty="0" sz="1200">
                <a:latin typeface="Arial"/>
                <a:cs typeface="Arial"/>
              </a:rPr>
              <a:t>Jesus), </a:t>
            </a:r>
            <a:r>
              <a:rPr dirty="0" sz="1200" spc="-5">
                <a:latin typeface="Arial"/>
                <a:cs typeface="Arial"/>
              </a:rPr>
              <a:t>and Allah planned </a:t>
            </a:r>
            <a:r>
              <a:rPr dirty="0" sz="1200">
                <a:latin typeface="Arial"/>
                <a:cs typeface="Arial"/>
              </a:rPr>
              <a:t>too. </a:t>
            </a:r>
            <a:r>
              <a:rPr dirty="0" sz="1200" spc="-5">
                <a:latin typeface="Arial"/>
                <a:cs typeface="Arial"/>
              </a:rPr>
              <a:t>And Allah is the </a:t>
            </a:r>
            <a:r>
              <a:rPr dirty="0" sz="1200">
                <a:latin typeface="Arial"/>
                <a:cs typeface="Arial"/>
              </a:rPr>
              <a:t>Best </a:t>
            </a:r>
            <a:r>
              <a:rPr dirty="0" sz="1200" spc="-5">
                <a:latin typeface="Arial"/>
                <a:cs typeface="Arial"/>
              </a:rPr>
              <a:t>of the  planners. (3:52-54)</a:t>
            </a:r>
            <a:endParaRPr sz="1200">
              <a:latin typeface="Arial"/>
              <a:cs typeface="Arial"/>
            </a:endParaRPr>
          </a:p>
          <a:p>
            <a:pPr algn="just" marL="469900" marR="5080" indent="-229235">
              <a:lnSpc>
                <a:spcPts val="1380"/>
              </a:lnSpc>
              <a:buAutoNum type="arabicPeriod" startAt="10"/>
              <a:tabLst>
                <a:tab pos="470534" algn="l"/>
              </a:tabLst>
            </a:pPr>
            <a:r>
              <a:rPr dirty="0" sz="1200" spc="-5">
                <a:latin typeface="Arial"/>
                <a:cs typeface="Arial"/>
              </a:rPr>
              <a:t>Followers and Hypocrites towards Musah: "And </a:t>
            </a:r>
            <a:r>
              <a:rPr dirty="0" sz="1200" spc="20">
                <a:latin typeface="Arial"/>
                <a:cs typeface="Arial"/>
              </a:rPr>
              <a:t>We </a:t>
            </a:r>
            <a:r>
              <a:rPr dirty="0" sz="1200" spc="-5">
                <a:latin typeface="Arial"/>
                <a:cs typeface="Arial"/>
              </a:rPr>
              <a:t>brought the Children of Israel  (with safety) across the sea, and they </a:t>
            </a:r>
            <a:r>
              <a:rPr dirty="0" sz="1200">
                <a:latin typeface="Arial"/>
                <a:cs typeface="Arial"/>
              </a:rPr>
              <a:t>came </a:t>
            </a:r>
            <a:r>
              <a:rPr dirty="0" sz="1200" spc="-5">
                <a:latin typeface="Arial"/>
                <a:cs typeface="Arial"/>
              </a:rPr>
              <a:t>upon a people devoted to </a:t>
            </a:r>
            <a:r>
              <a:rPr dirty="0" sz="1200" spc="-10">
                <a:latin typeface="Arial"/>
                <a:cs typeface="Arial"/>
              </a:rPr>
              <a:t>some </a:t>
            </a:r>
            <a:r>
              <a:rPr dirty="0" sz="1200" spc="-5">
                <a:latin typeface="Arial"/>
                <a:cs typeface="Arial"/>
              </a:rPr>
              <a:t>of their  </a:t>
            </a:r>
            <a:r>
              <a:rPr dirty="0" sz="1200">
                <a:latin typeface="Arial"/>
                <a:cs typeface="Arial"/>
              </a:rPr>
              <a:t>idols </a:t>
            </a:r>
            <a:r>
              <a:rPr dirty="0" sz="1200" spc="-5">
                <a:latin typeface="Arial"/>
                <a:cs typeface="Arial"/>
              </a:rPr>
              <a:t>(in worship). They said: </a:t>
            </a:r>
            <a:r>
              <a:rPr dirty="0" sz="1200">
                <a:latin typeface="Arial"/>
                <a:cs typeface="Arial"/>
              </a:rPr>
              <a:t>"O </a:t>
            </a:r>
            <a:r>
              <a:rPr dirty="0" sz="1200" spc="-10">
                <a:latin typeface="Arial"/>
                <a:cs typeface="Arial"/>
              </a:rPr>
              <a:t>Mûsa </a:t>
            </a:r>
            <a:r>
              <a:rPr dirty="0" sz="1200" spc="-5">
                <a:latin typeface="Arial"/>
                <a:cs typeface="Arial"/>
              </a:rPr>
              <a:t>(Moses)! Make </a:t>
            </a:r>
            <a:r>
              <a:rPr dirty="0" sz="1200">
                <a:latin typeface="Arial"/>
                <a:cs typeface="Arial"/>
              </a:rPr>
              <a:t>for </a:t>
            </a:r>
            <a:r>
              <a:rPr dirty="0" sz="1200" spc="-5">
                <a:latin typeface="Arial"/>
                <a:cs typeface="Arial"/>
              </a:rPr>
              <a:t>us </a:t>
            </a:r>
            <a:r>
              <a:rPr dirty="0" sz="1200" spc="-10">
                <a:latin typeface="Arial"/>
                <a:cs typeface="Arial"/>
              </a:rPr>
              <a:t>an </a:t>
            </a:r>
            <a:r>
              <a:rPr dirty="0" sz="1200" spc="-5">
                <a:latin typeface="Arial"/>
                <a:cs typeface="Arial"/>
              </a:rPr>
              <a:t>ilâhan (a god) as they  have âliha (gods)." He </a:t>
            </a:r>
            <a:r>
              <a:rPr dirty="0" sz="1200">
                <a:latin typeface="Arial"/>
                <a:cs typeface="Arial"/>
              </a:rPr>
              <a:t>said: </a:t>
            </a:r>
            <a:r>
              <a:rPr dirty="0" sz="1200" spc="-5">
                <a:latin typeface="Arial"/>
                <a:cs typeface="Arial"/>
              </a:rPr>
              <a:t>"Verily, </a:t>
            </a:r>
            <a:r>
              <a:rPr dirty="0" sz="1200" spc="-10">
                <a:latin typeface="Arial"/>
                <a:cs typeface="Arial"/>
              </a:rPr>
              <a:t>you </a:t>
            </a:r>
            <a:r>
              <a:rPr dirty="0" sz="1200">
                <a:latin typeface="Arial"/>
                <a:cs typeface="Arial"/>
              </a:rPr>
              <a:t>are </a:t>
            </a:r>
            <a:r>
              <a:rPr dirty="0" sz="1200" spc="-5">
                <a:latin typeface="Arial"/>
                <a:cs typeface="Arial"/>
              </a:rPr>
              <a:t>a people </a:t>
            </a:r>
            <a:r>
              <a:rPr dirty="0" sz="1200" spc="-10">
                <a:latin typeface="Arial"/>
                <a:cs typeface="Arial"/>
              </a:rPr>
              <a:t>who </a:t>
            </a:r>
            <a:r>
              <a:rPr dirty="0" sz="1200" spc="-5">
                <a:latin typeface="Arial"/>
                <a:cs typeface="Arial"/>
              </a:rPr>
              <a:t>know </a:t>
            </a:r>
            <a:r>
              <a:rPr dirty="0" sz="1200" spc="-20">
                <a:latin typeface="Arial"/>
                <a:cs typeface="Arial"/>
              </a:rPr>
              <a:t>not.‖ </a:t>
            </a:r>
            <a:r>
              <a:rPr dirty="0" sz="1200" spc="-5">
                <a:latin typeface="Arial"/>
                <a:cs typeface="Arial"/>
              </a:rPr>
              <a:t>(7:</a:t>
            </a:r>
            <a:r>
              <a:rPr dirty="0" sz="1200" spc="95">
                <a:latin typeface="Arial"/>
                <a:cs typeface="Arial"/>
              </a:rPr>
              <a:t> </a:t>
            </a:r>
            <a:r>
              <a:rPr dirty="0" sz="1200" spc="-5">
                <a:latin typeface="Arial"/>
                <a:cs typeface="Arial"/>
              </a:rPr>
              <a:t>138)</a:t>
            </a:r>
            <a:endParaRPr sz="1200">
              <a:latin typeface="Arial"/>
              <a:cs typeface="Arial"/>
            </a:endParaRPr>
          </a:p>
          <a:p>
            <a:pPr>
              <a:lnSpc>
                <a:spcPct val="100000"/>
              </a:lnSpc>
              <a:spcBef>
                <a:spcPts val="20"/>
              </a:spcBef>
            </a:pPr>
            <a:endParaRPr sz="1100">
              <a:latin typeface="Arial"/>
              <a:cs typeface="Arial"/>
            </a:endParaRPr>
          </a:p>
          <a:p>
            <a:pPr marL="12700">
              <a:lnSpc>
                <a:spcPts val="1410"/>
              </a:lnSpc>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marL="2649220">
              <a:lnSpc>
                <a:spcPts val="1410"/>
              </a:lnSpc>
            </a:pPr>
            <a:r>
              <a:rPr dirty="0" u="heavy" sz="1200" spc="-5" b="1" i="1">
                <a:uFill>
                  <a:solidFill>
                    <a:srgbClr val="000000"/>
                  </a:solidFill>
                </a:uFill>
                <a:latin typeface="Arial"/>
                <a:cs typeface="Arial"/>
              </a:rPr>
              <a:t>Syllabus 9013</a:t>
            </a:r>
            <a:endParaRPr sz="1200">
              <a:latin typeface="Arial"/>
              <a:cs typeface="Arial"/>
            </a:endParaRPr>
          </a:p>
          <a:p>
            <a:pPr>
              <a:lnSpc>
                <a:spcPct val="100000"/>
              </a:lnSpc>
              <a:spcBef>
                <a:spcPts val="45"/>
              </a:spcBef>
            </a:pPr>
            <a:endParaRPr sz="1100">
              <a:latin typeface="Arial"/>
              <a:cs typeface="Arial"/>
            </a:endParaRPr>
          </a:p>
          <a:p>
            <a:pPr marL="12700">
              <a:lnSpc>
                <a:spcPts val="1415"/>
              </a:lnSpc>
            </a:pPr>
            <a:r>
              <a:rPr dirty="0" sz="1200" spc="-5" b="1">
                <a:latin typeface="Arial"/>
                <a:cs typeface="Arial"/>
              </a:rPr>
              <a:t>11 </a:t>
            </a:r>
            <a:r>
              <a:rPr dirty="0" sz="1200" spc="-85">
                <a:latin typeface="Arial"/>
                <a:cs typeface="Arial"/>
              </a:rPr>
              <a:t>‗Unto </a:t>
            </a:r>
            <a:r>
              <a:rPr dirty="0" sz="1200" spc="-5">
                <a:latin typeface="Arial"/>
                <a:cs typeface="Arial"/>
              </a:rPr>
              <a:t>you your religion, </a:t>
            </a:r>
            <a:r>
              <a:rPr dirty="0" sz="1200">
                <a:latin typeface="Arial"/>
                <a:cs typeface="Arial"/>
              </a:rPr>
              <a:t>and </a:t>
            </a:r>
            <a:r>
              <a:rPr dirty="0" sz="1200" spc="-5">
                <a:latin typeface="Arial"/>
                <a:cs typeface="Arial"/>
              </a:rPr>
              <a:t>unto </a:t>
            </a:r>
            <a:r>
              <a:rPr dirty="0" sz="1200">
                <a:latin typeface="Arial"/>
                <a:cs typeface="Arial"/>
              </a:rPr>
              <a:t>me my </a:t>
            </a:r>
            <a:r>
              <a:rPr dirty="0" sz="1200" spc="-5">
                <a:latin typeface="Arial"/>
                <a:cs typeface="Arial"/>
              </a:rPr>
              <a:t>religion‘ </a:t>
            </a:r>
            <a:r>
              <a:rPr dirty="0" sz="1200">
                <a:latin typeface="Arial"/>
                <a:cs typeface="Arial"/>
              </a:rPr>
              <a:t>(</a:t>
            </a:r>
            <a:r>
              <a:rPr dirty="0" sz="1200" i="1">
                <a:latin typeface="Arial"/>
                <a:cs typeface="Arial"/>
              </a:rPr>
              <a:t>Surah</a:t>
            </a:r>
            <a:r>
              <a:rPr dirty="0" sz="1200" spc="-165" i="1">
                <a:latin typeface="Arial"/>
                <a:cs typeface="Arial"/>
              </a:rPr>
              <a:t> </a:t>
            </a:r>
            <a:r>
              <a:rPr dirty="0" sz="1200" spc="-5">
                <a:latin typeface="Arial"/>
                <a:cs typeface="Arial"/>
              </a:rPr>
              <a:t>109.6)</a:t>
            </a:r>
            <a:endParaRPr sz="1200">
              <a:latin typeface="Arial"/>
              <a:cs typeface="Arial"/>
            </a:endParaRPr>
          </a:p>
          <a:p>
            <a:pPr marL="12700">
              <a:lnSpc>
                <a:spcPts val="1415"/>
              </a:lnSpc>
            </a:pPr>
            <a:r>
              <a:rPr dirty="0" sz="1200">
                <a:latin typeface="Arial"/>
                <a:cs typeface="Arial"/>
              </a:rPr>
              <a:t>To </a:t>
            </a:r>
            <a:r>
              <a:rPr dirty="0" sz="1200" spc="-5">
                <a:latin typeface="Arial"/>
                <a:cs typeface="Arial"/>
              </a:rPr>
              <a:t>what extent </a:t>
            </a:r>
            <a:r>
              <a:rPr dirty="0" sz="1200">
                <a:latin typeface="Arial"/>
                <a:cs typeface="Arial"/>
              </a:rPr>
              <a:t>does </a:t>
            </a:r>
            <a:r>
              <a:rPr dirty="0" sz="1200" spc="-5">
                <a:latin typeface="Arial"/>
                <a:cs typeface="Arial"/>
              </a:rPr>
              <a:t>the Qur‘an accept the </a:t>
            </a:r>
            <a:r>
              <a:rPr dirty="0" sz="1200" spc="-10">
                <a:latin typeface="Arial"/>
                <a:cs typeface="Arial"/>
              </a:rPr>
              <a:t>value </a:t>
            </a:r>
            <a:r>
              <a:rPr dirty="0" sz="1200" spc="-5">
                <a:latin typeface="Arial"/>
                <a:cs typeface="Arial"/>
              </a:rPr>
              <a:t>of faiths other than </a:t>
            </a:r>
            <a:r>
              <a:rPr dirty="0" sz="1200">
                <a:latin typeface="Arial"/>
                <a:cs typeface="Arial"/>
              </a:rPr>
              <a:t>Islam? </a:t>
            </a:r>
            <a:r>
              <a:rPr dirty="0" sz="1200" spc="-5">
                <a:latin typeface="Arial"/>
                <a:cs typeface="Arial"/>
              </a:rPr>
              <a:t>[20]</a:t>
            </a:r>
            <a:r>
              <a:rPr dirty="0" sz="1200" spc="75">
                <a:latin typeface="Arial"/>
                <a:cs typeface="Arial"/>
              </a:rPr>
              <a:t> </a:t>
            </a:r>
            <a:r>
              <a:rPr dirty="0" sz="1200" spc="-5" b="1">
                <a:latin typeface="Arial"/>
                <a:cs typeface="Arial"/>
              </a:rPr>
              <a:t>(2004)</a:t>
            </a:r>
            <a:endParaRPr sz="1200">
              <a:latin typeface="Arial"/>
              <a:cs typeface="Arial"/>
            </a:endParaRPr>
          </a:p>
          <a:p>
            <a:pPr>
              <a:lnSpc>
                <a:spcPct val="100000"/>
              </a:lnSpc>
              <a:spcBef>
                <a:spcPts val="35"/>
              </a:spcBef>
            </a:pPr>
            <a:endParaRPr sz="1200">
              <a:latin typeface="Arial"/>
              <a:cs typeface="Arial"/>
            </a:endParaRPr>
          </a:p>
          <a:p>
            <a:pPr marL="12700" marR="10160">
              <a:lnSpc>
                <a:spcPts val="1380"/>
              </a:lnSpc>
              <a:buFont typeface="Arial"/>
              <a:buAutoNum type="arabicPlain" startAt="11"/>
              <a:tabLst>
                <a:tab pos="240029" algn="l"/>
              </a:tabLst>
            </a:pPr>
            <a:r>
              <a:rPr dirty="0" sz="1200" spc="5">
                <a:latin typeface="Arial"/>
                <a:cs typeface="Arial"/>
              </a:rPr>
              <a:t>What </a:t>
            </a:r>
            <a:r>
              <a:rPr dirty="0" sz="1200">
                <a:latin typeface="Arial"/>
                <a:cs typeface="Arial"/>
              </a:rPr>
              <a:t>are </a:t>
            </a:r>
            <a:r>
              <a:rPr dirty="0" sz="1200" spc="-5">
                <a:latin typeface="Arial"/>
                <a:cs typeface="Arial"/>
              </a:rPr>
              <a:t>the main teachings of the Qur‘an regarding </a:t>
            </a:r>
            <a:r>
              <a:rPr dirty="0" sz="1200">
                <a:latin typeface="Arial"/>
                <a:cs typeface="Arial"/>
              </a:rPr>
              <a:t>the </a:t>
            </a:r>
            <a:r>
              <a:rPr dirty="0" sz="1200" spc="-5">
                <a:latin typeface="Arial"/>
                <a:cs typeface="Arial"/>
              </a:rPr>
              <a:t>relationship between Muslims  and </a:t>
            </a:r>
            <a:r>
              <a:rPr dirty="0" sz="1200">
                <a:latin typeface="Arial"/>
                <a:cs typeface="Arial"/>
              </a:rPr>
              <a:t>the </a:t>
            </a:r>
            <a:r>
              <a:rPr dirty="0" sz="1200" spc="-5">
                <a:latin typeface="Arial"/>
                <a:cs typeface="Arial"/>
              </a:rPr>
              <a:t>People of the Book? [20]</a:t>
            </a:r>
            <a:r>
              <a:rPr dirty="0" sz="1200" spc="10">
                <a:latin typeface="Arial"/>
                <a:cs typeface="Arial"/>
              </a:rPr>
              <a:t> </a:t>
            </a:r>
            <a:r>
              <a:rPr dirty="0" sz="1200" spc="-5" b="1">
                <a:latin typeface="Arial"/>
                <a:cs typeface="Arial"/>
              </a:rPr>
              <a:t>(2005)</a:t>
            </a:r>
            <a:endParaRPr sz="1200">
              <a:latin typeface="Arial"/>
              <a:cs typeface="Arial"/>
            </a:endParaRPr>
          </a:p>
          <a:p>
            <a:pPr>
              <a:lnSpc>
                <a:spcPct val="100000"/>
              </a:lnSpc>
              <a:spcBef>
                <a:spcPts val="5"/>
              </a:spcBef>
              <a:buFont typeface="Arial"/>
              <a:buAutoNum type="arabicPlain" startAt="11"/>
            </a:pPr>
            <a:endParaRPr sz="1200">
              <a:latin typeface="Arial"/>
              <a:cs typeface="Arial"/>
            </a:endParaRPr>
          </a:p>
          <a:p>
            <a:pPr marL="12700" marR="10795">
              <a:lnSpc>
                <a:spcPts val="1370"/>
              </a:lnSpc>
              <a:spcBef>
                <a:spcPts val="5"/>
              </a:spcBef>
              <a:buFont typeface="Arial"/>
              <a:buAutoNum type="arabicPlain" startAt="11"/>
              <a:tabLst>
                <a:tab pos="232410" algn="l"/>
              </a:tabLst>
            </a:pPr>
            <a:r>
              <a:rPr dirty="0" sz="1200" spc="5">
                <a:latin typeface="Arial"/>
                <a:cs typeface="Arial"/>
              </a:rPr>
              <a:t>With </a:t>
            </a:r>
            <a:r>
              <a:rPr dirty="0" sz="1200" spc="-5">
                <a:latin typeface="Arial"/>
                <a:cs typeface="Arial"/>
              </a:rPr>
              <a:t>specific references, discuss </a:t>
            </a:r>
            <a:r>
              <a:rPr dirty="0" sz="1200">
                <a:latin typeface="Arial"/>
                <a:cs typeface="Arial"/>
              </a:rPr>
              <a:t>the </a:t>
            </a:r>
            <a:r>
              <a:rPr dirty="0" sz="1200" spc="-5">
                <a:latin typeface="Arial"/>
                <a:cs typeface="Arial"/>
              </a:rPr>
              <a:t>main Qur‘anic teachings on faiths other than Islam.  </a:t>
            </a:r>
            <a:r>
              <a:rPr dirty="0" sz="1200">
                <a:latin typeface="Arial"/>
                <a:cs typeface="Arial"/>
              </a:rPr>
              <a:t>[20] </a:t>
            </a:r>
            <a:r>
              <a:rPr dirty="0" sz="1200" spc="-5" b="1">
                <a:latin typeface="Arial"/>
                <a:cs typeface="Arial"/>
              </a:rPr>
              <a:t>(2006)</a:t>
            </a:r>
            <a:endParaRPr sz="1200">
              <a:latin typeface="Arial"/>
              <a:cs typeface="Arial"/>
            </a:endParaRPr>
          </a:p>
          <a:p>
            <a:pPr>
              <a:lnSpc>
                <a:spcPct val="100000"/>
              </a:lnSpc>
              <a:spcBef>
                <a:spcPts val="55"/>
              </a:spcBef>
            </a:pPr>
            <a:endParaRPr sz="1150">
              <a:latin typeface="Arial"/>
              <a:cs typeface="Arial"/>
            </a:endParaRPr>
          </a:p>
          <a:p>
            <a:pPr marL="12700" marR="10160">
              <a:lnSpc>
                <a:spcPts val="1380"/>
              </a:lnSpc>
            </a:pPr>
            <a:r>
              <a:rPr dirty="0" sz="1200" spc="-5" b="1">
                <a:latin typeface="Arial"/>
                <a:cs typeface="Arial"/>
              </a:rPr>
              <a:t>11 (a) </a:t>
            </a:r>
            <a:r>
              <a:rPr dirty="0" sz="1200" spc="5">
                <a:latin typeface="Arial"/>
                <a:cs typeface="Arial"/>
              </a:rPr>
              <a:t>With </a:t>
            </a:r>
            <a:r>
              <a:rPr dirty="0" sz="1200" spc="-5">
                <a:latin typeface="Arial"/>
                <a:cs typeface="Arial"/>
              </a:rPr>
              <a:t>reference to any country </a:t>
            </a:r>
            <a:r>
              <a:rPr dirty="0" sz="1200" spc="-10">
                <a:latin typeface="Arial"/>
                <a:cs typeface="Arial"/>
              </a:rPr>
              <a:t>you know, </a:t>
            </a:r>
            <a:r>
              <a:rPr dirty="0" sz="1200" spc="-5">
                <a:latin typeface="Arial"/>
                <a:cs typeface="Arial"/>
              </a:rPr>
              <a:t>describe the relationships between Muslims  and people of other faiths. [12]</a:t>
            </a:r>
            <a:endParaRPr sz="1200">
              <a:latin typeface="Arial"/>
              <a:cs typeface="Arial"/>
            </a:endParaRPr>
          </a:p>
          <a:p>
            <a:pPr marL="12700">
              <a:lnSpc>
                <a:spcPts val="1345"/>
              </a:lnSpc>
            </a:pPr>
            <a:r>
              <a:rPr dirty="0" sz="1200" spc="-5" b="1">
                <a:latin typeface="Arial"/>
                <a:cs typeface="Arial"/>
              </a:rPr>
              <a:t>(b) </a:t>
            </a:r>
            <a:r>
              <a:rPr dirty="0" sz="1200">
                <a:latin typeface="Arial"/>
                <a:cs typeface="Arial"/>
              </a:rPr>
              <a:t>How </a:t>
            </a:r>
            <a:r>
              <a:rPr dirty="0" sz="1200" spc="5">
                <a:latin typeface="Arial"/>
                <a:cs typeface="Arial"/>
              </a:rPr>
              <a:t>far </a:t>
            </a:r>
            <a:r>
              <a:rPr dirty="0" sz="1200">
                <a:latin typeface="Arial"/>
                <a:cs typeface="Arial"/>
              </a:rPr>
              <a:t>do </a:t>
            </a:r>
            <a:r>
              <a:rPr dirty="0" sz="1200" spc="-5">
                <a:latin typeface="Arial"/>
                <a:cs typeface="Arial"/>
              </a:rPr>
              <a:t>these relationships reflect the teachings of the Qur‘an and Sunnah? [8]</a:t>
            </a:r>
            <a:r>
              <a:rPr dirty="0" sz="1200" spc="105">
                <a:latin typeface="Arial"/>
                <a:cs typeface="Arial"/>
              </a:rPr>
              <a:t> </a:t>
            </a:r>
            <a:r>
              <a:rPr dirty="0" sz="1200" spc="-5" b="1">
                <a:latin typeface="Arial"/>
                <a:cs typeface="Arial"/>
              </a:rPr>
              <a:t>(2008)</a:t>
            </a:r>
            <a:endParaRPr sz="1200">
              <a:latin typeface="Arial"/>
              <a:cs typeface="Arial"/>
            </a:endParaRPr>
          </a:p>
          <a:p>
            <a:pPr>
              <a:lnSpc>
                <a:spcPct val="100000"/>
              </a:lnSpc>
              <a:spcBef>
                <a:spcPts val="55"/>
              </a:spcBef>
            </a:pPr>
            <a:endParaRPr sz="1100">
              <a:latin typeface="Arial"/>
              <a:cs typeface="Arial"/>
            </a:endParaRPr>
          </a:p>
          <a:p>
            <a:pPr marL="12700">
              <a:lnSpc>
                <a:spcPts val="1410"/>
              </a:lnSpc>
            </a:pPr>
            <a:r>
              <a:rPr dirty="0" sz="1200" spc="-5" b="1">
                <a:latin typeface="Arial"/>
                <a:cs typeface="Arial"/>
              </a:rPr>
              <a:t>11 </a:t>
            </a:r>
            <a:r>
              <a:rPr dirty="0" sz="1200" spc="-85">
                <a:latin typeface="Arial"/>
                <a:cs typeface="Arial"/>
              </a:rPr>
              <a:t>‗Unto </a:t>
            </a:r>
            <a:r>
              <a:rPr dirty="0" sz="1200" spc="-5">
                <a:latin typeface="Arial"/>
                <a:cs typeface="Arial"/>
              </a:rPr>
              <a:t>you is your religion, </a:t>
            </a:r>
            <a:r>
              <a:rPr dirty="0" sz="1200">
                <a:latin typeface="Arial"/>
                <a:cs typeface="Arial"/>
              </a:rPr>
              <a:t>and </a:t>
            </a:r>
            <a:r>
              <a:rPr dirty="0" sz="1200" spc="-5">
                <a:latin typeface="Arial"/>
                <a:cs typeface="Arial"/>
              </a:rPr>
              <a:t>unto </a:t>
            </a:r>
            <a:r>
              <a:rPr dirty="0" sz="1200">
                <a:latin typeface="Arial"/>
                <a:cs typeface="Arial"/>
              </a:rPr>
              <a:t>me my </a:t>
            </a:r>
            <a:r>
              <a:rPr dirty="0" sz="1200" spc="-5">
                <a:latin typeface="Arial"/>
                <a:cs typeface="Arial"/>
              </a:rPr>
              <a:t>religion.‘ </a:t>
            </a:r>
            <a:r>
              <a:rPr dirty="0" sz="1200">
                <a:latin typeface="Arial"/>
                <a:cs typeface="Arial"/>
              </a:rPr>
              <a:t>(Surah</a:t>
            </a:r>
            <a:r>
              <a:rPr dirty="0" sz="1200" spc="-165">
                <a:latin typeface="Arial"/>
                <a:cs typeface="Arial"/>
              </a:rPr>
              <a:t> </a:t>
            </a:r>
            <a:r>
              <a:rPr dirty="0" sz="1200">
                <a:latin typeface="Arial"/>
                <a:cs typeface="Arial"/>
              </a:rPr>
              <a:t>109:6)</a:t>
            </a:r>
            <a:endParaRPr sz="1200">
              <a:latin typeface="Arial"/>
              <a:cs typeface="Arial"/>
            </a:endParaRPr>
          </a:p>
          <a:p>
            <a:pPr marL="12700">
              <a:lnSpc>
                <a:spcPts val="1410"/>
              </a:lnSpc>
            </a:pPr>
            <a:r>
              <a:rPr dirty="0" sz="1200" spc="-5">
                <a:latin typeface="Arial"/>
                <a:cs typeface="Arial"/>
              </a:rPr>
              <a:t>Explain this statement, showing </a:t>
            </a:r>
            <a:r>
              <a:rPr dirty="0" sz="1200">
                <a:latin typeface="Arial"/>
                <a:cs typeface="Arial"/>
              </a:rPr>
              <a:t>how the </a:t>
            </a:r>
            <a:r>
              <a:rPr dirty="0" sz="1200" spc="-5">
                <a:latin typeface="Arial"/>
                <a:cs typeface="Arial"/>
              </a:rPr>
              <a:t>Qur‘an treats Jews and Christians. [20]</a:t>
            </a:r>
            <a:r>
              <a:rPr dirty="0" sz="1200" spc="90">
                <a:latin typeface="Arial"/>
                <a:cs typeface="Arial"/>
              </a:rPr>
              <a:t> </a:t>
            </a:r>
            <a:r>
              <a:rPr dirty="0" sz="1200" spc="-5" b="1">
                <a:latin typeface="Arial"/>
                <a:cs typeface="Arial"/>
              </a:rPr>
              <a:t>(2009)</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174</a:t>
            </a:r>
            <a:endParaRPr sz="1200">
              <a:latin typeface="Times New Roman"/>
              <a:cs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5971540" cy="208279"/>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662940" y="827531"/>
            <a:ext cx="6420485"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b="1">
                <a:latin typeface="Arial"/>
                <a:cs typeface="Arial"/>
              </a:rPr>
              <a:t>Women In</a:t>
            </a:r>
            <a:r>
              <a:rPr dirty="0" sz="1200" spc="-15" b="1">
                <a:latin typeface="Arial"/>
                <a:cs typeface="Arial"/>
              </a:rPr>
              <a:t> </a:t>
            </a:r>
            <a:r>
              <a:rPr dirty="0" sz="1200" spc="-5" b="1">
                <a:latin typeface="Arial"/>
                <a:cs typeface="Arial"/>
              </a:rPr>
              <a:t>Islam</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175</a:t>
            </a:r>
            <a:endParaRPr sz="1200">
              <a:latin typeface="Times New Roman"/>
              <a:cs typeface="Times New Roman"/>
            </a:endParaRPr>
          </a:p>
        </p:txBody>
      </p:sp>
      <p:sp>
        <p:nvSpPr>
          <p:cNvPr id="5" name="object 5"/>
          <p:cNvSpPr txBox="1"/>
          <p:nvPr/>
        </p:nvSpPr>
        <p:spPr>
          <a:xfrm>
            <a:off x="718819" y="1162557"/>
            <a:ext cx="6311265" cy="7920990"/>
          </a:xfrm>
          <a:prstGeom prst="rect">
            <a:avLst/>
          </a:prstGeom>
        </p:spPr>
        <p:txBody>
          <a:bodyPr wrap="square" lIns="0" tIns="24765" rIns="0" bIns="0" rtlCol="0" vert="horz">
            <a:spAutoFit/>
          </a:bodyPr>
          <a:lstStyle/>
          <a:p>
            <a:pPr algn="just" marL="12700" marR="8255">
              <a:lnSpc>
                <a:spcPts val="1380"/>
              </a:lnSpc>
              <a:spcBef>
                <a:spcPts val="195"/>
              </a:spcBef>
            </a:pPr>
            <a:r>
              <a:rPr dirty="0" sz="1200" spc="-5">
                <a:latin typeface="Arial"/>
                <a:cs typeface="Arial"/>
              </a:rPr>
              <a:t>The </a:t>
            </a:r>
            <a:r>
              <a:rPr dirty="0" sz="1200">
                <a:latin typeface="Arial"/>
                <a:cs typeface="Arial"/>
              </a:rPr>
              <a:t>status </a:t>
            </a:r>
            <a:r>
              <a:rPr dirty="0" sz="1200" spc="-5">
                <a:latin typeface="Arial"/>
                <a:cs typeface="Arial"/>
              </a:rPr>
              <a:t>of woman in </a:t>
            </a:r>
            <a:r>
              <a:rPr dirty="0" sz="1200">
                <a:latin typeface="Arial"/>
                <a:cs typeface="Arial"/>
              </a:rPr>
              <a:t>Islam </a:t>
            </a:r>
            <a:r>
              <a:rPr dirty="0" sz="1200" spc="-5">
                <a:latin typeface="Arial"/>
                <a:cs typeface="Arial"/>
              </a:rPr>
              <a:t>constitutes </a:t>
            </a:r>
            <a:r>
              <a:rPr dirty="0" sz="1200" spc="-10">
                <a:latin typeface="Arial"/>
                <a:cs typeface="Arial"/>
              </a:rPr>
              <a:t>no </a:t>
            </a:r>
            <a:r>
              <a:rPr dirty="0" sz="1200" spc="-5">
                <a:latin typeface="Arial"/>
                <a:cs typeface="Arial"/>
              </a:rPr>
              <a:t>problem. </a:t>
            </a:r>
            <a:r>
              <a:rPr dirty="0" sz="1200">
                <a:latin typeface="Arial"/>
                <a:cs typeface="Arial"/>
              </a:rPr>
              <a:t>The </a:t>
            </a:r>
            <a:r>
              <a:rPr dirty="0" sz="1200" spc="-5">
                <a:latin typeface="Arial"/>
                <a:cs typeface="Arial"/>
              </a:rPr>
              <a:t>attitude of the </a:t>
            </a:r>
            <a:r>
              <a:rPr dirty="0" sz="1200">
                <a:latin typeface="Arial"/>
                <a:cs typeface="Arial"/>
              </a:rPr>
              <a:t>Qur'an </a:t>
            </a:r>
            <a:r>
              <a:rPr dirty="0" sz="1200" spc="-5">
                <a:latin typeface="Arial"/>
                <a:cs typeface="Arial"/>
              </a:rPr>
              <a:t>and the  early Muslims bear witness to the </a:t>
            </a:r>
            <a:r>
              <a:rPr dirty="0" sz="1200">
                <a:latin typeface="Arial"/>
                <a:cs typeface="Arial"/>
              </a:rPr>
              <a:t>fact </a:t>
            </a:r>
            <a:r>
              <a:rPr dirty="0" sz="1200" spc="-5">
                <a:latin typeface="Arial"/>
                <a:cs typeface="Arial"/>
              </a:rPr>
              <a:t>that woman </a:t>
            </a:r>
            <a:r>
              <a:rPr dirty="0" sz="1200">
                <a:latin typeface="Arial"/>
                <a:cs typeface="Arial"/>
              </a:rPr>
              <a:t>is, at </a:t>
            </a:r>
            <a:r>
              <a:rPr dirty="0" sz="1200" spc="-5">
                <a:latin typeface="Arial"/>
                <a:cs typeface="Arial"/>
              </a:rPr>
              <a:t>least, as vital </a:t>
            </a:r>
            <a:r>
              <a:rPr dirty="0" sz="1200">
                <a:latin typeface="Arial"/>
                <a:cs typeface="Arial"/>
              </a:rPr>
              <a:t>to </a:t>
            </a:r>
            <a:r>
              <a:rPr dirty="0" sz="1200" spc="-10">
                <a:latin typeface="Arial"/>
                <a:cs typeface="Arial"/>
              </a:rPr>
              <a:t>life </a:t>
            </a:r>
            <a:r>
              <a:rPr dirty="0" sz="1200" spc="-5">
                <a:latin typeface="Arial"/>
                <a:cs typeface="Arial"/>
              </a:rPr>
              <a:t>as man himself,  and that </a:t>
            </a:r>
            <a:r>
              <a:rPr dirty="0" sz="1200" spc="-10">
                <a:latin typeface="Arial"/>
                <a:cs typeface="Arial"/>
              </a:rPr>
              <a:t>she </a:t>
            </a:r>
            <a:r>
              <a:rPr dirty="0" sz="1200" spc="-5">
                <a:latin typeface="Arial"/>
                <a:cs typeface="Arial"/>
              </a:rPr>
              <a:t>is not inferior </a:t>
            </a:r>
            <a:r>
              <a:rPr dirty="0" sz="1200">
                <a:latin typeface="Arial"/>
                <a:cs typeface="Arial"/>
              </a:rPr>
              <a:t>to him </a:t>
            </a:r>
            <a:r>
              <a:rPr dirty="0" sz="1200" spc="-5">
                <a:latin typeface="Arial"/>
                <a:cs typeface="Arial"/>
              </a:rPr>
              <a:t>nor is she one of </a:t>
            </a:r>
            <a:r>
              <a:rPr dirty="0" sz="1200">
                <a:latin typeface="Arial"/>
                <a:cs typeface="Arial"/>
              </a:rPr>
              <a:t>the </a:t>
            </a:r>
            <a:r>
              <a:rPr dirty="0" sz="1200" spc="-5">
                <a:latin typeface="Arial"/>
                <a:cs typeface="Arial"/>
              </a:rPr>
              <a:t>lower species. </a:t>
            </a:r>
            <a:r>
              <a:rPr dirty="0" sz="1200">
                <a:latin typeface="Arial"/>
                <a:cs typeface="Arial"/>
              </a:rPr>
              <a:t>Islam </a:t>
            </a:r>
            <a:r>
              <a:rPr dirty="0" sz="1200" spc="-5">
                <a:latin typeface="Arial"/>
                <a:cs typeface="Arial"/>
              </a:rPr>
              <a:t>has given woman  rights and privileges which she has never enjoyed under other religious or constitutional  systems. </a:t>
            </a:r>
            <a:r>
              <a:rPr dirty="0" sz="1200">
                <a:latin typeface="Arial"/>
                <a:cs typeface="Arial"/>
              </a:rPr>
              <a:t>The </a:t>
            </a:r>
            <a:r>
              <a:rPr dirty="0" sz="1200" spc="-5">
                <a:latin typeface="Arial"/>
                <a:cs typeface="Arial"/>
              </a:rPr>
              <a:t>rights and responsibilities of a woman are equal </a:t>
            </a:r>
            <a:r>
              <a:rPr dirty="0" sz="1200">
                <a:latin typeface="Arial"/>
                <a:cs typeface="Arial"/>
              </a:rPr>
              <a:t>to </a:t>
            </a:r>
            <a:r>
              <a:rPr dirty="0" sz="1200" spc="-5">
                <a:latin typeface="Arial"/>
                <a:cs typeface="Arial"/>
              </a:rPr>
              <a:t>those of a man but they are  not necessarily </a:t>
            </a:r>
            <a:r>
              <a:rPr dirty="0" sz="1200">
                <a:latin typeface="Arial"/>
                <a:cs typeface="Arial"/>
              </a:rPr>
              <a:t>identical </a:t>
            </a:r>
            <a:r>
              <a:rPr dirty="0" sz="1200" spc="-5">
                <a:latin typeface="Arial"/>
                <a:cs typeface="Arial"/>
              </a:rPr>
              <a:t>with </a:t>
            </a:r>
            <a:r>
              <a:rPr dirty="0" sz="1200">
                <a:latin typeface="Arial"/>
                <a:cs typeface="Arial"/>
              </a:rPr>
              <a:t>them. </a:t>
            </a:r>
            <a:r>
              <a:rPr dirty="0" sz="1200" spc="-5">
                <a:latin typeface="Arial"/>
                <a:cs typeface="Arial"/>
              </a:rPr>
              <a:t>Equality and sameness are </a:t>
            </a:r>
            <a:r>
              <a:rPr dirty="0" sz="1200" spc="-10">
                <a:latin typeface="Arial"/>
                <a:cs typeface="Arial"/>
              </a:rPr>
              <a:t>two </a:t>
            </a:r>
            <a:r>
              <a:rPr dirty="0" sz="1200" spc="-5">
                <a:latin typeface="Arial"/>
                <a:cs typeface="Arial"/>
              </a:rPr>
              <a:t>quite </a:t>
            </a:r>
            <a:r>
              <a:rPr dirty="0" sz="1200">
                <a:latin typeface="Arial"/>
                <a:cs typeface="Arial"/>
              </a:rPr>
              <a:t>different </a:t>
            </a:r>
            <a:r>
              <a:rPr dirty="0" sz="1200" spc="-5">
                <a:latin typeface="Arial"/>
                <a:cs typeface="Arial"/>
              </a:rPr>
              <a:t>things.  </a:t>
            </a:r>
            <a:r>
              <a:rPr dirty="0" sz="1200">
                <a:latin typeface="Arial"/>
                <a:cs typeface="Arial"/>
              </a:rPr>
              <a:t>This </a:t>
            </a:r>
            <a:r>
              <a:rPr dirty="0" sz="1200" spc="-5">
                <a:latin typeface="Arial"/>
                <a:cs typeface="Arial"/>
              </a:rPr>
              <a:t>difference is understandable because </a:t>
            </a:r>
            <a:r>
              <a:rPr dirty="0" sz="1200">
                <a:latin typeface="Arial"/>
                <a:cs typeface="Arial"/>
              </a:rPr>
              <a:t>man </a:t>
            </a:r>
            <a:r>
              <a:rPr dirty="0" sz="1200" spc="-5">
                <a:latin typeface="Arial"/>
                <a:cs typeface="Arial"/>
              </a:rPr>
              <a:t>and woman are not identical but </a:t>
            </a:r>
            <a:r>
              <a:rPr dirty="0" sz="1200">
                <a:latin typeface="Arial"/>
                <a:cs typeface="Arial"/>
              </a:rPr>
              <a:t>they </a:t>
            </a:r>
            <a:r>
              <a:rPr dirty="0" sz="1200" spc="-5">
                <a:latin typeface="Arial"/>
                <a:cs typeface="Arial"/>
              </a:rPr>
              <a:t>are  created equals. </a:t>
            </a:r>
            <a:r>
              <a:rPr dirty="0" sz="1200" spc="5">
                <a:latin typeface="Arial"/>
                <a:cs typeface="Arial"/>
              </a:rPr>
              <a:t>With </a:t>
            </a:r>
            <a:r>
              <a:rPr dirty="0" sz="1200" spc="-5">
                <a:latin typeface="Arial"/>
                <a:cs typeface="Arial"/>
              </a:rPr>
              <a:t>this distinction in mind, </a:t>
            </a:r>
            <a:r>
              <a:rPr dirty="0" sz="1200">
                <a:latin typeface="Arial"/>
                <a:cs typeface="Arial"/>
              </a:rPr>
              <a:t>there </a:t>
            </a:r>
            <a:r>
              <a:rPr dirty="0" sz="1200" spc="-5">
                <a:latin typeface="Arial"/>
                <a:cs typeface="Arial"/>
              </a:rPr>
              <a:t>is no problem. It is almost impossible </a:t>
            </a:r>
            <a:r>
              <a:rPr dirty="0" sz="1200">
                <a:latin typeface="Arial"/>
                <a:cs typeface="Arial"/>
              </a:rPr>
              <a:t>to  </a:t>
            </a:r>
            <a:r>
              <a:rPr dirty="0" sz="1200" spc="-5">
                <a:latin typeface="Arial"/>
                <a:cs typeface="Arial"/>
              </a:rPr>
              <a:t>find even </a:t>
            </a:r>
            <a:r>
              <a:rPr dirty="0" sz="1200" spc="-10">
                <a:latin typeface="Arial"/>
                <a:cs typeface="Arial"/>
              </a:rPr>
              <a:t>two </a:t>
            </a:r>
            <a:r>
              <a:rPr dirty="0" sz="1200" spc="-5">
                <a:latin typeface="Arial"/>
                <a:cs typeface="Arial"/>
              </a:rPr>
              <a:t>identical </a:t>
            </a:r>
            <a:r>
              <a:rPr dirty="0" sz="1200">
                <a:latin typeface="Arial"/>
                <a:cs typeface="Arial"/>
              </a:rPr>
              <a:t>men or</a:t>
            </a:r>
            <a:r>
              <a:rPr dirty="0" sz="1200" spc="-10">
                <a:latin typeface="Arial"/>
                <a:cs typeface="Arial"/>
              </a:rPr>
              <a:t> </a:t>
            </a:r>
            <a:r>
              <a:rPr dirty="0" sz="1200" spc="-5">
                <a:latin typeface="Arial"/>
                <a:cs typeface="Arial"/>
              </a:rPr>
              <a:t>women.</a:t>
            </a:r>
            <a:endParaRPr sz="1200">
              <a:latin typeface="Arial"/>
              <a:cs typeface="Arial"/>
            </a:endParaRPr>
          </a:p>
          <a:p>
            <a:pPr>
              <a:lnSpc>
                <a:spcPct val="100000"/>
              </a:lnSpc>
              <a:spcBef>
                <a:spcPts val="20"/>
              </a:spcBef>
            </a:pPr>
            <a:endParaRPr sz="1150">
              <a:latin typeface="Arial"/>
              <a:cs typeface="Arial"/>
            </a:endParaRPr>
          </a:p>
          <a:p>
            <a:pPr algn="just" marL="12700" marR="5080">
              <a:lnSpc>
                <a:spcPct val="95900"/>
              </a:lnSpc>
            </a:pPr>
            <a:r>
              <a:rPr dirty="0" sz="1200" spc="-5">
                <a:latin typeface="Arial"/>
                <a:cs typeface="Arial"/>
              </a:rPr>
              <a:t>The status of woman </a:t>
            </a:r>
            <a:r>
              <a:rPr dirty="0" sz="1200" spc="-10">
                <a:latin typeface="Arial"/>
                <a:cs typeface="Arial"/>
              </a:rPr>
              <a:t>in </a:t>
            </a:r>
            <a:r>
              <a:rPr dirty="0" sz="1200" spc="-5">
                <a:latin typeface="Arial"/>
                <a:cs typeface="Arial"/>
              </a:rPr>
              <a:t>Islam is something unique, something novel, and something that has  no similarity in any </a:t>
            </a:r>
            <a:r>
              <a:rPr dirty="0" sz="1200">
                <a:latin typeface="Arial"/>
                <a:cs typeface="Arial"/>
              </a:rPr>
              <a:t>other </a:t>
            </a:r>
            <a:r>
              <a:rPr dirty="0" sz="1200" spc="-5">
                <a:latin typeface="Arial"/>
                <a:cs typeface="Arial"/>
              </a:rPr>
              <a:t>system. If </a:t>
            </a:r>
            <a:r>
              <a:rPr dirty="0" sz="1200" spc="-10">
                <a:latin typeface="Arial"/>
                <a:cs typeface="Arial"/>
              </a:rPr>
              <a:t>we </a:t>
            </a:r>
            <a:r>
              <a:rPr dirty="0" sz="1200">
                <a:latin typeface="Arial"/>
                <a:cs typeface="Arial"/>
              </a:rPr>
              <a:t>look to the </a:t>
            </a:r>
            <a:r>
              <a:rPr dirty="0" sz="1200" spc="-5">
                <a:latin typeface="Arial"/>
                <a:cs typeface="Arial"/>
              </a:rPr>
              <a:t>Eastern Communist </a:t>
            </a:r>
            <a:r>
              <a:rPr dirty="0" sz="1200" spc="-10">
                <a:latin typeface="Arial"/>
                <a:cs typeface="Arial"/>
              </a:rPr>
              <a:t>world </a:t>
            </a:r>
            <a:r>
              <a:rPr dirty="0" sz="1200" spc="-5">
                <a:latin typeface="Arial"/>
                <a:cs typeface="Arial"/>
              </a:rPr>
              <a:t>or </a:t>
            </a:r>
            <a:r>
              <a:rPr dirty="0" sz="1200">
                <a:latin typeface="Arial"/>
                <a:cs typeface="Arial"/>
              </a:rPr>
              <a:t>to the  </a:t>
            </a:r>
            <a:r>
              <a:rPr dirty="0" sz="1200" spc="-5">
                <a:latin typeface="Arial"/>
                <a:cs typeface="Arial"/>
              </a:rPr>
              <a:t>democratic nations, </a:t>
            </a:r>
            <a:r>
              <a:rPr dirty="0" sz="1200" spc="-10">
                <a:latin typeface="Arial"/>
                <a:cs typeface="Arial"/>
              </a:rPr>
              <a:t>we </a:t>
            </a:r>
            <a:r>
              <a:rPr dirty="0" sz="1200">
                <a:latin typeface="Arial"/>
                <a:cs typeface="Arial"/>
              </a:rPr>
              <a:t>find </a:t>
            </a:r>
            <a:r>
              <a:rPr dirty="0" sz="1200" spc="-5">
                <a:latin typeface="Arial"/>
                <a:cs typeface="Arial"/>
              </a:rPr>
              <a:t>that woman is not really in a happy position. Her status is not  enviable. She has to work so hard </a:t>
            </a:r>
            <a:r>
              <a:rPr dirty="0" sz="1200">
                <a:latin typeface="Arial"/>
                <a:cs typeface="Arial"/>
              </a:rPr>
              <a:t>to </a:t>
            </a:r>
            <a:r>
              <a:rPr dirty="0" sz="1200" spc="-5">
                <a:latin typeface="Arial"/>
                <a:cs typeface="Arial"/>
              </a:rPr>
              <a:t>live, and sometimes </a:t>
            </a:r>
            <a:r>
              <a:rPr dirty="0" sz="1200" spc="-10">
                <a:latin typeface="Arial"/>
                <a:cs typeface="Arial"/>
              </a:rPr>
              <a:t>she </a:t>
            </a:r>
            <a:r>
              <a:rPr dirty="0" sz="1200" spc="-5">
                <a:latin typeface="Arial"/>
                <a:cs typeface="Arial"/>
              </a:rPr>
              <a:t>may be doing </a:t>
            </a:r>
            <a:r>
              <a:rPr dirty="0" sz="1200">
                <a:latin typeface="Arial"/>
                <a:cs typeface="Arial"/>
              </a:rPr>
              <a:t>the </a:t>
            </a:r>
            <a:r>
              <a:rPr dirty="0" sz="1200" spc="-5">
                <a:latin typeface="Arial"/>
                <a:cs typeface="Arial"/>
              </a:rPr>
              <a:t>same job  </a:t>
            </a:r>
            <a:r>
              <a:rPr dirty="0" sz="1200">
                <a:latin typeface="Arial"/>
                <a:cs typeface="Arial"/>
              </a:rPr>
              <a:t>that </a:t>
            </a:r>
            <a:r>
              <a:rPr dirty="0" sz="1200" spc="-5">
                <a:latin typeface="Arial"/>
                <a:cs typeface="Arial"/>
              </a:rPr>
              <a:t>a man does but her </a:t>
            </a:r>
            <a:r>
              <a:rPr dirty="0" sz="1200" spc="-10">
                <a:latin typeface="Arial"/>
                <a:cs typeface="Arial"/>
              </a:rPr>
              <a:t>wage </a:t>
            </a:r>
            <a:r>
              <a:rPr dirty="0" sz="1200" spc="-5">
                <a:latin typeface="Arial"/>
                <a:cs typeface="Arial"/>
              </a:rPr>
              <a:t>is less than his. She enjoys a kind of liberty which in some  cases amounts </a:t>
            </a:r>
            <a:r>
              <a:rPr dirty="0" sz="1200">
                <a:latin typeface="Arial"/>
                <a:cs typeface="Arial"/>
              </a:rPr>
              <a:t>to </a:t>
            </a:r>
            <a:r>
              <a:rPr dirty="0" sz="1200" spc="-5">
                <a:latin typeface="Arial"/>
                <a:cs typeface="Arial"/>
              </a:rPr>
              <a:t>libertinism. </a:t>
            </a:r>
            <a:r>
              <a:rPr dirty="0" sz="1200">
                <a:latin typeface="Arial"/>
                <a:cs typeface="Arial"/>
              </a:rPr>
              <a:t>To </a:t>
            </a:r>
            <a:r>
              <a:rPr dirty="0" sz="1200" spc="-5">
                <a:latin typeface="Arial"/>
                <a:cs typeface="Arial"/>
              </a:rPr>
              <a:t>get </a:t>
            </a:r>
            <a:r>
              <a:rPr dirty="0" sz="1200">
                <a:latin typeface="Arial"/>
                <a:cs typeface="Arial"/>
              </a:rPr>
              <a:t>to </a:t>
            </a:r>
            <a:r>
              <a:rPr dirty="0" sz="1200" spc="-10">
                <a:latin typeface="Arial"/>
                <a:cs typeface="Arial"/>
              </a:rPr>
              <a:t>where </a:t>
            </a:r>
            <a:r>
              <a:rPr dirty="0" sz="1200" spc="-5">
                <a:latin typeface="Arial"/>
                <a:cs typeface="Arial"/>
              </a:rPr>
              <a:t>she is nowadays, woman struggled hard </a:t>
            </a:r>
            <a:r>
              <a:rPr dirty="0" sz="1200">
                <a:latin typeface="Arial"/>
                <a:cs typeface="Arial"/>
              </a:rPr>
              <a:t>for  </a:t>
            </a:r>
            <a:r>
              <a:rPr dirty="0" sz="1200" spc="-5">
                <a:latin typeface="Arial"/>
                <a:cs typeface="Arial"/>
              </a:rPr>
              <a:t>decades and centuries. </a:t>
            </a:r>
            <a:r>
              <a:rPr dirty="0" sz="1200">
                <a:latin typeface="Arial"/>
                <a:cs typeface="Arial"/>
              </a:rPr>
              <a:t>To </a:t>
            </a:r>
            <a:r>
              <a:rPr dirty="0" sz="1200" spc="-5">
                <a:latin typeface="Arial"/>
                <a:cs typeface="Arial"/>
              </a:rPr>
              <a:t>gain the right of </a:t>
            </a:r>
            <a:r>
              <a:rPr dirty="0" sz="1200">
                <a:latin typeface="Arial"/>
                <a:cs typeface="Arial"/>
              </a:rPr>
              <a:t>learning </a:t>
            </a:r>
            <a:r>
              <a:rPr dirty="0" sz="1200" spc="-5">
                <a:latin typeface="Arial"/>
                <a:cs typeface="Arial"/>
              </a:rPr>
              <a:t>and the freedom of work and earning,  she had </a:t>
            </a:r>
            <a:r>
              <a:rPr dirty="0" sz="1200">
                <a:latin typeface="Arial"/>
                <a:cs typeface="Arial"/>
              </a:rPr>
              <a:t>to </a:t>
            </a:r>
            <a:r>
              <a:rPr dirty="0" sz="1200" spc="-5">
                <a:latin typeface="Arial"/>
                <a:cs typeface="Arial"/>
              </a:rPr>
              <a:t>offer </a:t>
            </a:r>
            <a:r>
              <a:rPr dirty="0" sz="1200">
                <a:latin typeface="Arial"/>
                <a:cs typeface="Arial"/>
              </a:rPr>
              <a:t>painful </a:t>
            </a:r>
            <a:r>
              <a:rPr dirty="0" sz="1200" spc="-5">
                <a:latin typeface="Arial"/>
                <a:cs typeface="Arial"/>
              </a:rPr>
              <a:t>sacrifices and </a:t>
            </a:r>
            <a:r>
              <a:rPr dirty="0" sz="1200" spc="-10">
                <a:latin typeface="Arial"/>
                <a:cs typeface="Arial"/>
              </a:rPr>
              <a:t>give </a:t>
            </a:r>
            <a:r>
              <a:rPr dirty="0" sz="1200" spc="-5">
                <a:latin typeface="Arial"/>
                <a:cs typeface="Arial"/>
              </a:rPr>
              <a:t>up many of her natural rights. </a:t>
            </a:r>
            <a:r>
              <a:rPr dirty="0" sz="1200">
                <a:latin typeface="Arial"/>
                <a:cs typeface="Arial"/>
              </a:rPr>
              <a:t>To </a:t>
            </a:r>
            <a:r>
              <a:rPr dirty="0" sz="1200" spc="-5">
                <a:latin typeface="Arial"/>
                <a:cs typeface="Arial"/>
              </a:rPr>
              <a:t>establish her  </a:t>
            </a:r>
            <a:r>
              <a:rPr dirty="0" sz="1200">
                <a:latin typeface="Arial"/>
                <a:cs typeface="Arial"/>
              </a:rPr>
              <a:t>status </a:t>
            </a:r>
            <a:r>
              <a:rPr dirty="0" sz="1200" spc="-5">
                <a:latin typeface="Arial"/>
                <a:cs typeface="Arial"/>
              </a:rPr>
              <a:t>as a human possessing a soul, </a:t>
            </a:r>
            <a:r>
              <a:rPr dirty="0" sz="1200" spc="-10">
                <a:latin typeface="Arial"/>
                <a:cs typeface="Arial"/>
              </a:rPr>
              <a:t>she </a:t>
            </a:r>
            <a:r>
              <a:rPr dirty="0" sz="1200" spc="-5">
                <a:latin typeface="Arial"/>
                <a:cs typeface="Arial"/>
              </a:rPr>
              <a:t>paid </a:t>
            </a:r>
            <a:r>
              <a:rPr dirty="0" sz="1200" spc="-10">
                <a:latin typeface="Arial"/>
                <a:cs typeface="Arial"/>
              </a:rPr>
              <a:t>heavily. </a:t>
            </a:r>
            <a:r>
              <a:rPr dirty="0" sz="1200" spc="-5">
                <a:latin typeface="Arial"/>
                <a:cs typeface="Arial"/>
              </a:rPr>
              <a:t>Yet in spite of all these costly  </a:t>
            </a:r>
            <a:r>
              <a:rPr dirty="0" sz="1200">
                <a:latin typeface="Arial"/>
                <a:cs typeface="Arial"/>
              </a:rPr>
              <a:t>sacrifices </a:t>
            </a:r>
            <a:r>
              <a:rPr dirty="0" sz="1200" spc="-5">
                <a:latin typeface="Arial"/>
                <a:cs typeface="Arial"/>
              </a:rPr>
              <a:t>and painful struggles, she has not acquired what </a:t>
            </a:r>
            <a:r>
              <a:rPr dirty="0" sz="1200">
                <a:latin typeface="Arial"/>
                <a:cs typeface="Arial"/>
              </a:rPr>
              <a:t>Islam </a:t>
            </a:r>
            <a:r>
              <a:rPr dirty="0" sz="1200" spc="-10">
                <a:latin typeface="Arial"/>
                <a:cs typeface="Arial"/>
              </a:rPr>
              <a:t>has </a:t>
            </a:r>
            <a:r>
              <a:rPr dirty="0" sz="1200" spc="-5">
                <a:latin typeface="Arial"/>
                <a:cs typeface="Arial"/>
              </a:rPr>
              <a:t>established by a Divine  decree </a:t>
            </a:r>
            <a:r>
              <a:rPr dirty="0" sz="1200">
                <a:latin typeface="Arial"/>
                <a:cs typeface="Arial"/>
              </a:rPr>
              <a:t>for </a:t>
            </a:r>
            <a:r>
              <a:rPr dirty="0" sz="1200" spc="-10">
                <a:latin typeface="Arial"/>
                <a:cs typeface="Arial"/>
              </a:rPr>
              <a:t>the </a:t>
            </a:r>
            <a:r>
              <a:rPr dirty="0" sz="1200" spc="-5">
                <a:latin typeface="Arial"/>
                <a:cs typeface="Arial"/>
              </a:rPr>
              <a:t>Muslim</a:t>
            </a:r>
            <a:r>
              <a:rPr dirty="0" sz="1200" spc="-15">
                <a:latin typeface="Arial"/>
                <a:cs typeface="Arial"/>
              </a:rPr>
              <a:t> </a:t>
            </a:r>
            <a:r>
              <a:rPr dirty="0" sz="1200" spc="-5">
                <a:latin typeface="Arial"/>
                <a:cs typeface="Arial"/>
              </a:rPr>
              <a:t>woman.</a:t>
            </a:r>
            <a:endParaRPr sz="12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u="heavy" sz="1200" spc="-5" b="1" i="1">
                <a:uFill>
                  <a:solidFill>
                    <a:srgbClr val="000000"/>
                  </a:solidFill>
                </a:uFill>
                <a:latin typeface="Arial"/>
                <a:cs typeface="Arial"/>
              </a:rPr>
              <a:t>Women </a:t>
            </a:r>
            <a:r>
              <a:rPr dirty="0" u="heavy" sz="1200" b="1" i="1">
                <a:uFill>
                  <a:solidFill>
                    <a:srgbClr val="000000"/>
                  </a:solidFill>
                </a:uFill>
                <a:latin typeface="Arial"/>
                <a:cs typeface="Arial"/>
              </a:rPr>
              <a:t>during </a:t>
            </a:r>
            <a:r>
              <a:rPr dirty="0" u="heavy" sz="1200" spc="-5" b="1" i="1">
                <a:uFill>
                  <a:solidFill>
                    <a:srgbClr val="000000"/>
                  </a:solidFill>
                </a:uFill>
                <a:latin typeface="Arial"/>
                <a:cs typeface="Arial"/>
              </a:rPr>
              <a:t>Pre Islamic</a:t>
            </a:r>
            <a:r>
              <a:rPr dirty="0" u="heavy" sz="1200" spc="15" b="1" i="1">
                <a:uFill>
                  <a:solidFill>
                    <a:srgbClr val="000000"/>
                  </a:solidFill>
                </a:uFill>
                <a:latin typeface="Arial"/>
                <a:cs typeface="Arial"/>
              </a:rPr>
              <a:t> </a:t>
            </a:r>
            <a:r>
              <a:rPr dirty="0" u="heavy" sz="1200" spc="-5" b="1" i="1">
                <a:uFill>
                  <a:solidFill>
                    <a:srgbClr val="000000"/>
                  </a:solidFill>
                </a:uFill>
                <a:latin typeface="Arial"/>
                <a:cs typeface="Arial"/>
              </a:rPr>
              <a:t>Arabia</a:t>
            </a:r>
            <a:endParaRPr sz="1200">
              <a:latin typeface="Arial"/>
              <a:cs typeface="Arial"/>
            </a:endParaRPr>
          </a:p>
          <a:p>
            <a:pPr>
              <a:lnSpc>
                <a:spcPct val="100000"/>
              </a:lnSpc>
            </a:pPr>
            <a:endParaRPr sz="1150">
              <a:latin typeface="Arial"/>
              <a:cs typeface="Arial"/>
            </a:endParaRPr>
          </a:p>
          <a:p>
            <a:pPr marL="413384" indent="-172720">
              <a:lnSpc>
                <a:spcPts val="1410"/>
              </a:lnSpc>
              <a:buFont typeface="Wingdings"/>
              <a:buChar char=""/>
              <a:tabLst>
                <a:tab pos="414020" algn="l"/>
              </a:tabLst>
            </a:pPr>
            <a:r>
              <a:rPr dirty="0" sz="1200">
                <a:latin typeface="Arial"/>
                <a:cs typeface="Arial"/>
              </a:rPr>
              <a:t>Women </a:t>
            </a:r>
            <a:r>
              <a:rPr dirty="0" sz="1200" spc="-5">
                <a:latin typeface="Arial"/>
                <a:cs typeface="Arial"/>
              </a:rPr>
              <a:t>had no</a:t>
            </a:r>
            <a:r>
              <a:rPr dirty="0" sz="1200" spc="-10">
                <a:latin typeface="Arial"/>
                <a:cs typeface="Arial"/>
              </a:rPr>
              <a:t> </a:t>
            </a:r>
            <a:r>
              <a:rPr dirty="0" sz="1200" spc="-5">
                <a:latin typeface="Arial"/>
                <a:cs typeface="Arial"/>
              </a:rPr>
              <a:t>right</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No dignity</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No say in the</a:t>
            </a:r>
            <a:r>
              <a:rPr dirty="0" sz="1200" spc="-25">
                <a:latin typeface="Arial"/>
                <a:cs typeface="Arial"/>
              </a:rPr>
              <a:t> </a:t>
            </a:r>
            <a:r>
              <a:rPr dirty="0" sz="1200" spc="-5">
                <a:latin typeface="Arial"/>
                <a:cs typeface="Arial"/>
              </a:rPr>
              <a:t>family</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They were </a:t>
            </a:r>
            <a:r>
              <a:rPr dirty="0" sz="1200">
                <a:latin typeface="Arial"/>
                <a:cs typeface="Arial"/>
              </a:rPr>
              <a:t>sacrificed </a:t>
            </a:r>
            <a:r>
              <a:rPr dirty="0" sz="1200" spc="-5">
                <a:latin typeface="Arial"/>
                <a:cs typeface="Arial"/>
              </a:rPr>
              <a:t>in the name of Arabs</a:t>
            </a:r>
            <a:r>
              <a:rPr dirty="0" sz="1200" spc="-15">
                <a:latin typeface="Arial"/>
                <a:cs typeface="Arial"/>
              </a:rPr>
              <a:t> </a:t>
            </a:r>
            <a:r>
              <a:rPr dirty="0" sz="1200" spc="-5">
                <a:latin typeface="Arial"/>
                <a:cs typeface="Arial"/>
              </a:rPr>
              <a:t>gods</a:t>
            </a:r>
            <a:endParaRPr sz="1200">
              <a:latin typeface="Arial"/>
              <a:cs typeface="Arial"/>
            </a:endParaRPr>
          </a:p>
          <a:p>
            <a:pPr marL="413384" indent="-172720">
              <a:lnSpc>
                <a:spcPts val="1380"/>
              </a:lnSpc>
              <a:buFont typeface="Wingdings"/>
              <a:buChar char=""/>
              <a:tabLst>
                <a:tab pos="414020" algn="l"/>
              </a:tabLst>
            </a:pPr>
            <a:r>
              <a:rPr dirty="0" sz="1200">
                <a:latin typeface="Arial"/>
                <a:cs typeface="Arial"/>
              </a:rPr>
              <a:t>Only </a:t>
            </a:r>
            <a:r>
              <a:rPr dirty="0" sz="1200" spc="-5">
                <a:latin typeface="Arial"/>
                <a:cs typeface="Arial"/>
              </a:rPr>
              <a:t>the rich had</a:t>
            </a:r>
            <a:r>
              <a:rPr dirty="0" sz="1200" spc="-20">
                <a:latin typeface="Arial"/>
                <a:cs typeface="Arial"/>
              </a:rPr>
              <a:t> </a:t>
            </a:r>
            <a:r>
              <a:rPr dirty="0" sz="1200" spc="-5">
                <a:latin typeface="Arial"/>
                <a:cs typeface="Arial"/>
              </a:rPr>
              <a:t>power</a:t>
            </a:r>
            <a:endParaRPr sz="1200">
              <a:latin typeface="Arial"/>
              <a:cs typeface="Arial"/>
            </a:endParaRPr>
          </a:p>
          <a:p>
            <a:pPr marL="413384" indent="-172720">
              <a:lnSpc>
                <a:spcPts val="1380"/>
              </a:lnSpc>
              <a:buFont typeface="Wingdings"/>
              <a:buChar char=""/>
              <a:tabLst>
                <a:tab pos="414020" algn="l"/>
              </a:tabLst>
            </a:pPr>
            <a:r>
              <a:rPr dirty="0" sz="1200">
                <a:latin typeface="Arial"/>
                <a:cs typeface="Arial"/>
              </a:rPr>
              <a:t>Only </a:t>
            </a:r>
            <a:r>
              <a:rPr dirty="0" sz="1200" spc="-5">
                <a:latin typeface="Arial"/>
                <a:cs typeface="Arial"/>
              </a:rPr>
              <a:t>These rich </a:t>
            </a:r>
            <a:r>
              <a:rPr dirty="0" sz="1200">
                <a:latin typeface="Arial"/>
                <a:cs typeface="Arial"/>
              </a:rPr>
              <a:t>Women </a:t>
            </a:r>
            <a:r>
              <a:rPr dirty="0" sz="1200" spc="-5">
                <a:latin typeface="Arial"/>
                <a:cs typeface="Arial"/>
              </a:rPr>
              <a:t>had</a:t>
            </a:r>
            <a:r>
              <a:rPr dirty="0" sz="1200" spc="-15">
                <a:latin typeface="Arial"/>
                <a:cs typeface="Arial"/>
              </a:rPr>
              <a:t> </a:t>
            </a:r>
            <a:r>
              <a:rPr dirty="0" sz="1200" spc="-5">
                <a:latin typeface="Arial"/>
                <a:cs typeface="Arial"/>
              </a:rPr>
              <a:t>status</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They had rights and duties though during</a:t>
            </a:r>
            <a:r>
              <a:rPr dirty="0" sz="1200" spc="20">
                <a:latin typeface="Arial"/>
                <a:cs typeface="Arial"/>
              </a:rPr>
              <a:t> </a:t>
            </a:r>
            <a:r>
              <a:rPr dirty="0" sz="1200">
                <a:latin typeface="Arial"/>
                <a:cs typeface="Arial"/>
              </a:rPr>
              <a:t>PIA</a:t>
            </a:r>
            <a:endParaRPr sz="1200">
              <a:latin typeface="Arial"/>
              <a:cs typeface="Arial"/>
            </a:endParaRPr>
          </a:p>
          <a:p>
            <a:pPr marL="413384" indent="-172720">
              <a:lnSpc>
                <a:spcPts val="1380"/>
              </a:lnSpc>
              <a:buFont typeface="Wingdings"/>
              <a:buChar char=""/>
              <a:tabLst>
                <a:tab pos="414020" algn="l"/>
              </a:tabLst>
            </a:pPr>
            <a:r>
              <a:rPr dirty="0" sz="1200">
                <a:latin typeface="Arial"/>
                <a:cs typeface="Arial"/>
              </a:rPr>
              <a:t>But </a:t>
            </a:r>
            <a:r>
              <a:rPr dirty="0" sz="1200" spc="-5">
                <a:latin typeface="Arial"/>
                <a:cs typeface="Arial"/>
              </a:rPr>
              <a:t>when the prophet (s.a.w) </a:t>
            </a:r>
            <a:r>
              <a:rPr dirty="0" sz="1200">
                <a:latin typeface="Arial"/>
                <a:cs typeface="Arial"/>
              </a:rPr>
              <a:t>came, </a:t>
            </a:r>
            <a:r>
              <a:rPr dirty="0" sz="1200" spc="-5">
                <a:latin typeface="Arial"/>
                <a:cs typeface="Arial"/>
              </a:rPr>
              <a:t>everyone had the same rights in the sight of</a:t>
            </a:r>
            <a:r>
              <a:rPr dirty="0" sz="1200" spc="100">
                <a:latin typeface="Arial"/>
                <a:cs typeface="Arial"/>
              </a:rPr>
              <a:t> </a:t>
            </a:r>
            <a:r>
              <a:rPr dirty="0" sz="1200" spc="-5">
                <a:latin typeface="Arial"/>
                <a:cs typeface="Arial"/>
              </a:rPr>
              <a:t>Allah</a:t>
            </a:r>
            <a:endParaRPr sz="1200">
              <a:latin typeface="Arial"/>
              <a:cs typeface="Arial"/>
            </a:endParaRPr>
          </a:p>
          <a:p>
            <a:pPr marL="413384" indent="-172720">
              <a:lnSpc>
                <a:spcPts val="1380"/>
              </a:lnSpc>
              <a:buFont typeface="Wingdings"/>
              <a:buChar char=""/>
              <a:tabLst>
                <a:tab pos="414020" algn="l"/>
              </a:tabLst>
            </a:pPr>
            <a:r>
              <a:rPr dirty="0" sz="1200" spc="-5">
                <a:latin typeface="Arial"/>
                <a:cs typeface="Arial"/>
              </a:rPr>
              <a:t>They </a:t>
            </a:r>
            <a:r>
              <a:rPr dirty="0" sz="1200">
                <a:latin typeface="Arial"/>
                <a:cs typeface="Arial"/>
              </a:rPr>
              <a:t>are </a:t>
            </a:r>
            <a:r>
              <a:rPr dirty="0" sz="1200" spc="-5">
                <a:latin typeface="Arial"/>
                <a:cs typeface="Arial"/>
              </a:rPr>
              <a:t>upraised in</a:t>
            </a:r>
            <a:r>
              <a:rPr dirty="0" sz="1200" spc="-20">
                <a:latin typeface="Arial"/>
                <a:cs typeface="Arial"/>
              </a:rPr>
              <a:t> </a:t>
            </a:r>
            <a:r>
              <a:rPr dirty="0" sz="1200" spc="-5">
                <a:latin typeface="Arial"/>
                <a:cs typeface="Arial"/>
              </a:rPr>
              <a:t>Islam</a:t>
            </a:r>
            <a:endParaRPr sz="1200">
              <a:latin typeface="Arial"/>
              <a:cs typeface="Arial"/>
            </a:endParaRPr>
          </a:p>
          <a:p>
            <a:pPr marL="413384" indent="-172720">
              <a:lnSpc>
                <a:spcPts val="1410"/>
              </a:lnSpc>
              <a:buFont typeface="Wingdings"/>
              <a:buChar char=""/>
              <a:tabLst>
                <a:tab pos="414020" algn="l"/>
              </a:tabLst>
            </a:pPr>
            <a:r>
              <a:rPr dirty="0" sz="1200" spc="-5">
                <a:latin typeface="Arial"/>
                <a:cs typeface="Arial"/>
              </a:rPr>
              <a:t>They </a:t>
            </a:r>
            <a:r>
              <a:rPr dirty="0" sz="1200">
                <a:latin typeface="Arial"/>
                <a:cs typeface="Arial"/>
              </a:rPr>
              <a:t>can </a:t>
            </a:r>
            <a:r>
              <a:rPr dirty="0" sz="1200" spc="-5">
                <a:latin typeface="Arial"/>
                <a:cs typeface="Arial"/>
              </a:rPr>
              <a:t>merge </a:t>
            </a:r>
            <a:r>
              <a:rPr dirty="0" sz="1200">
                <a:latin typeface="Arial"/>
                <a:cs typeface="Arial"/>
              </a:rPr>
              <a:t>as </a:t>
            </a:r>
            <a:r>
              <a:rPr dirty="0" sz="1200" spc="-10">
                <a:latin typeface="Arial"/>
                <a:cs typeface="Arial"/>
              </a:rPr>
              <a:t>long </a:t>
            </a:r>
            <a:r>
              <a:rPr dirty="0" sz="1200">
                <a:latin typeface="Arial"/>
                <a:cs typeface="Arial"/>
              </a:rPr>
              <a:t>as they are </a:t>
            </a:r>
            <a:r>
              <a:rPr dirty="0" sz="1200" spc="-5">
                <a:latin typeface="Arial"/>
                <a:cs typeface="Arial"/>
              </a:rPr>
              <a:t>following </a:t>
            </a:r>
            <a:r>
              <a:rPr dirty="0" sz="1200">
                <a:latin typeface="Arial"/>
                <a:cs typeface="Arial"/>
              </a:rPr>
              <a:t>the</a:t>
            </a:r>
            <a:r>
              <a:rPr dirty="0" sz="1200" spc="-35">
                <a:latin typeface="Arial"/>
                <a:cs typeface="Arial"/>
              </a:rPr>
              <a:t> </a:t>
            </a:r>
            <a:r>
              <a:rPr dirty="0" sz="1200" spc="-5">
                <a:latin typeface="Arial"/>
                <a:cs typeface="Arial"/>
              </a:rPr>
              <a:t>Shari‘ah</a:t>
            </a:r>
            <a:endParaRPr sz="1200">
              <a:latin typeface="Arial"/>
              <a:cs typeface="Arial"/>
            </a:endParaRPr>
          </a:p>
          <a:p>
            <a:pPr>
              <a:lnSpc>
                <a:spcPct val="100000"/>
              </a:lnSpc>
              <a:spcBef>
                <a:spcPts val="55"/>
              </a:spcBef>
              <a:buFont typeface="Wingdings"/>
              <a:buChar char=""/>
            </a:pPr>
            <a:endParaRPr sz="1100">
              <a:latin typeface="Arial"/>
              <a:cs typeface="Arial"/>
            </a:endParaRPr>
          </a:p>
          <a:p>
            <a:pPr algn="just" marL="12700">
              <a:lnSpc>
                <a:spcPct val="100000"/>
              </a:lnSpc>
            </a:pPr>
            <a:r>
              <a:rPr dirty="0" u="heavy" sz="1200" spc="-5" b="1" i="1">
                <a:uFill>
                  <a:solidFill>
                    <a:srgbClr val="000000"/>
                  </a:solidFill>
                </a:uFill>
                <a:latin typeface="Arial"/>
                <a:cs typeface="Arial"/>
              </a:rPr>
              <a:t>Daughters </a:t>
            </a:r>
            <a:r>
              <a:rPr dirty="0" u="heavy" sz="1200" b="1" i="1">
                <a:uFill>
                  <a:solidFill>
                    <a:srgbClr val="000000"/>
                  </a:solidFill>
                </a:uFill>
                <a:latin typeface="Arial"/>
                <a:cs typeface="Arial"/>
              </a:rPr>
              <a:t>in</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Islam</a:t>
            </a:r>
            <a:endParaRPr sz="1200">
              <a:latin typeface="Arial"/>
              <a:cs typeface="Arial"/>
            </a:endParaRPr>
          </a:p>
          <a:p>
            <a:pPr>
              <a:lnSpc>
                <a:spcPct val="100000"/>
              </a:lnSpc>
            </a:pPr>
            <a:endParaRPr sz="1150">
              <a:latin typeface="Arial"/>
              <a:cs typeface="Arial"/>
            </a:endParaRPr>
          </a:p>
          <a:p>
            <a:pPr marL="469900" indent="-229235">
              <a:lnSpc>
                <a:spcPts val="1405"/>
              </a:lnSpc>
              <a:buFont typeface="Wingdings"/>
              <a:buChar char=""/>
              <a:tabLst>
                <a:tab pos="470534" algn="l"/>
              </a:tabLst>
            </a:pPr>
            <a:r>
              <a:rPr dirty="0" sz="1200">
                <a:latin typeface="Arial"/>
                <a:cs typeface="Arial"/>
              </a:rPr>
              <a:t>In pre </a:t>
            </a:r>
            <a:r>
              <a:rPr dirty="0" sz="1200" spc="-5">
                <a:latin typeface="Arial"/>
                <a:cs typeface="Arial"/>
              </a:rPr>
              <a:t>Islamic Arabia they were</a:t>
            </a:r>
            <a:r>
              <a:rPr dirty="0" sz="1200">
                <a:latin typeface="Arial"/>
                <a:cs typeface="Arial"/>
              </a:rPr>
              <a:t> </a:t>
            </a:r>
            <a:r>
              <a:rPr dirty="0" sz="1200" spc="-5">
                <a:latin typeface="Arial"/>
                <a:cs typeface="Arial"/>
              </a:rPr>
              <a:t>killed</a:t>
            </a:r>
            <a:endParaRPr sz="1200">
              <a:latin typeface="Arial"/>
              <a:cs typeface="Arial"/>
            </a:endParaRPr>
          </a:p>
          <a:p>
            <a:pPr marL="469900" indent="-229235">
              <a:lnSpc>
                <a:spcPts val="1375"/>
              </a:lnSpc>
              <a:buFont typeface="Wingdings"/>
              <a:buChar char=""/>
              <a:tabLst>
                <a:tab pos="470534" algn="l"/>
              </a:tabLst>
            </a:pPr>
            <a:r>
              <a:rPr dirty="0" sz="1200">
                <a:latin typeface="Arial"/>
                <a:cs typeface="Arial"/>
              </a:rPr>
              <a:t>"</a:t>
            </a:r>
            <a:r>
              <a:rPr dirty="0" sz="1200" i="1">
                <a:latin typeface="Arial"/>
                <a:cs typeface="Arial"/>
              </a:rPr>
              <a:t>For </a:t>
            </a:r>
            <a:r>
              <a:rPr dirty="0" sz="1200" spc="-5" i="1">
                <a:latin typeface="Arial"/>
                <a:cs typeface="Arial"/>
              </a:rPr>
              <a:t>what </a:t>
            </a:r>
            <a:r>
              <a:rPr dirty="0" sz="1200" spc="-10" i="1">
                <a:latin typeface="Arial"/>
                <a:cs typeface="Arial"/>
              </a:rPr>
              <a:t>crime </a:t>
            </a:r>
            <a:r>
              <a:rPr dirty="0" sz="1200" i="1">
                <a:latin typeface="Arial"/>
                <a:cs typeface="Arial"/>
              </a:rPr>
              <a:t>was </a:t>
            </a:r>
            <a:r>
              <a:rPr dirty="0" sz="1200" spc="-5" i="1">
                <a:latin typeface="Arial"/>
                <a:cs typeface="Arial"/>
              </a:rPr>
              <a:t>thou murdered?" [Qur'an</a:t>
            </a:r>
            <a:r>
              <a:rPr dirty="0" sz="1200" spc="25" i="1">
                <a:latin typeface="Arial"/>
                <a:cs typeface="Arial"/>
              </a:rPr>
              <a:t> </a:t>
            </a:r>
            <a:r>
              <a:rPr dirty="0" sz="1200" spc="-5" i="1">
                <a:latin typeface="Arial"/>
                <a:cs typeface="Arial"/>
              </a:rPr>
              <a:t>81:8,9]</a:t>
            </a:r>
            <a:endParaRPr sz="1200">
              <a:latin typeface="Arial"/>
              <a:cs typeface="Arial"/>
            </a:endParaRPr>
          </a:p>
          <a:p>
            <a:pPr marL="469900" marR="11430" indent="-228600">
              <a:lnSpc>
                <a:spcPts val="1380"/>
              </a:lnSpc>
              <a:spcBef>
                <a:spcPts val="65"/>
              </a:spcBef>
              <a:buFont typeface="Wingdings"/>
              <a:buChar char=""/>
              <a:tabLst>
                <a:tab pos="414020" algn="l"/>
              </a:tabLst>
            </a:pPr>
            <a:r>
              <a:rPr dirty="0" sz="1200" spc="-5">
                <a:latin typeface="Arial"/>
                <a:cs typeface="Arial"/>
              </a:rPr>
              <a:t>"</a:t>
            </a:r>
            <a:r>
              <a:rPr dirty="0" sz="1200" spc="-5" i="1">
                <a:latin typeface="Arial"/>
                <a:cs typeface="Arial"/>
              </a:rPr>
              <a:t>Kill not your children for </a:t>
            </a:r>
            <a:r>
              <a:rPr dirty="0" sz="1200" i="1">
                <a:latin typeface="Arial"/>
                <a:cs typeface="Arial"/>
              </a:rPr>
              <a:t>fear </a:t>
            </a:r>
            <a:r>
              <a:rPr dirty="0" sz="1200" spc="-5" i="1">
                <a:latin typeface="Arial"/>
                <a:cs typeface="Arial"/>
              </a:rPr>
              <a:t>of </a:t>
            </a:r>
            <a:r>
              <a:rPr dirty="0" sz="1200" i="1">
                <a:latin typeface="Arial"/>
                <a:cs typeface="Arial"/>
              </a:rPr>
              <a:t>want. </a:t>
            </a:r>
            <a:r>
              <a:rPr dirty="0" sz="1200" spc="5" i="1">
                <a:latin typeface="Arial"/>
                <a:cs typeface="Arial"/>
              </a:rPr>
              <a:t>We </a:t>
            </a:r>
            <a:r>
              <a:rPr dirty="0" sz="1200" spc="-5" i="1">
                <a:latin typeface="Arial"/>
                <a:cs typeface="Arial"/>
              </a:rPr>
              <a:t>shall provide sustenance </a:t>
            </a:r>
            <a:r>
              <a:rPr dirty="0" sz="1200" i="1">
                <a:latin typeface="Arial"/>
                <a:cs typeface="Arial"/>
              </a:rPr>
              <a:t>for them </a:t>
            </a:r>
            <a:r>
              <a:rPr dirty="0" sz="1200" spc="-5" i="1">
                <a:latin typeface="Arial"/>
                <a:cs typeface="Arial"/>
              </a:rPr>
              <a:t>as well as  </a:t>
            </a:r>
            <a:r>
              <a:rPr dirty="0" sz="1200" i="1">
                <a:latin typeface="Arial"/>
                <a:cs typeface="Arial"/>
              </a:rPr>
              <a:t>for you. </a:t>
            </a:r>
            <a:r>
              <a:rPr dirty="0" sz="1200" spc="-5" i="1">
                <a:latin typeface="Arial"/>
                <a:cs typeface="Arial"/>
              </a:rPr>
              <a:t>Verily, </a:t>
            </a:r>
            <a:r>
              <a:rPr dirty="0" sz="1200" spc="-10" i="1">
                <a:latin typeface="Arial"/>
                <a:cs typeface="Arial"/>
              </a:rPr>
              <a:t>to </a:t>
            </a:r>
            <a:r>
              <a:rPr dirty="0" sz="1200" spc="-5" i="1">
                <a:latin typeface="Arial"/>
                <a:cs typeface="Arial"/>
              </a:rPr>
              <a:t>kill them is a </a:t>
            </a:r>
            <a:r>
              <a:rPr dirty="0" sz="1200" i="1">
                <a:latin typeface="Arial"/>
                <a:cs typeface="Arial"/>
              </a:rPr>
              <a:t>great </a:t>
            </a:r>
            <a:r>
              <a:rPr dirty="0" sz="1200" spc="-5" i="1">
                <a:latin typeface="Arial"/>
                <a:cs typeface="Arial"/>
              </a:rPr>
              <a:t>sin. [Qur'an</a:t>
            </a:r>
            <a:r>
              <a:rPr dirty="0" sz="1200" spc="15" i="1">
                <a:latin typeface="Arial"/>
                <a:cs typeface="Arial"/>
              </a:rPr>
              <a:t> </a:t>
            </a:r>
            <a:r>
              <a:rPr dirty="0" sz="1200" spc="-5" i="1">
                <a:latin typeface="Arial"/>
                <a:cs typeface="Arial"/>
              </a:rPr>
              <a:t>17:31]</a:t>
            </a:r>
            <a:endParaRPr sz="1200">
              <a:latin typeface="Arial"/>
              <a:cs typeface="Arial"/>
            </a:endParaRPr>
          </a:p>
          <a:p>
            <a:pPr marL="469900" marR="5715" indent="-228600">
              <a:lnSpc>
                <a:spcPts val="1380"/>
              </a:lnSpc>
              <a:spcBef>
                <a:spcPts val="15"/>
              </a:spcBef>
              <a:buFont typeface="Wingdings"/>
              <a:buChar char=""/>
              <a:tabLst>
                <a:tab pos="414020" algn="l"/>
              </a:tabLst>
            </a:pPr>
            <a:r>
              <a:rPr dirty="0" sz="1200" spc="-5">
                <a:latin typeface="Arial"/>
                <a:cs typeface="Arial"/>
              </a:rPr>
              <a:t>"Fatimah," </a:t>
            </a:r>
            <a:r>
              <a:rPr dirty="0" sz="1200" spc="-10">
                <a:latin typeface="Arial"/>
                <a:cs typeface="Arial"/>
              </a:rPr>
              <a:t>he </a:t>
            </a:r>
            <a:r>
              <a:rPr dirty="0" sz="1200" spc="-5">
                <a:latin typeface="Arial"/>
                <a:cs typeface="Arial"/>
              </a:rPr>
              <a:t>would </a:t>
            </a:r>
            <a:r>
              <a:rPr dirty="0" sz="1200" spc="-10">
                <a:latin typeface="Arial"/>
                <a:cs typeface="Arial"/>
              </a:rPr>
              <a:t>say, </a:t>
            </a:r>
            <a:r>
              <a:rPr dirty="0" sz="1200" spc="-5">
                <a:latin typeface="Arial"/>
                <a:cs typeface="Arial"/>
              </a:rPr>
              <a:t>"is a </a:t>
            </a:r>
            <a:r>
              <a:rPr dirty="0" sz="1200">
                <a:latin typeface="Arial"/>
                <a:cs typeface="Arial"/>
              </a:rPr>
              <a:t>part </a:t>
            </a:r>
            <a:r>
              <a:rPr dirty="0" sz="1200" spc="-5">
                <a:latin typeface="Arial"/>
                <a:cs typeface="Arial"/>
              </a:rPr>
              <a:t>of </a:t>
            </a:r>
            <a:r>
              <a:rPr dirty="0" sz="1200">
                <a:latin typeface="Arial"/>
                <a:cs typeface="Arial"/>
              </a:rPr>
              <a:t>my </a:t>
            </a:r>
            <a:r>
              <a:rPr dirty="0" sz="1200" spc="-5">
                <a:latin typeface="Arial"/>
                <a:cs typeface="Arial"/>
              </a:rPr>
              <a:t>being; whosoever annoys her annoys </a:t>
            </a:r>
            <a:r>
              <a:rPr dirty="0" sz="1200" spc="-10">
                <a:latin typeface="Arial"/>
                <a:cs typeface="Arial"/>
              </a:rPr>
              <a:t>me"  </a:t>
            </a:r>
            <a:r>
              <a:rPr dirty="0" sz="1200" spc="-5">
                <a:latin typeface="Arial"/>
                <a:cs typeface="Arial"/>
              </a:rPr>
              <a:t>(hadith)</a:t>
            </a:r>
            <a:endParaRPr sz="1200">
              <a:latin typeface="Arial"/>
              <a:cs typeface="Arial"/>
            </a:endParaRPr>
          </a:p>
          <a:p>
            <a:pPr marL="469900" marR="11430" indent="-228600">
              <a:lnSpc>
                <a:spcPts val="1380"/>
              </a:lnSpc>
              <a:buFont typeface="Wingdings"/>
              <a:buChar char=""/>
              <a:tabLst>
                <a:tab pos="470534" algn="l"/>
              </a:tabLst>
            </a:pPr>
            <a:r>
              <a:rPr dirty="0" sz="1200" spc="-5">
                <a:latin typeface="Arial"/>
                <a:cs typeface="Arial"/>
              </a:rPr>
              <a:t>"When </a:t>
            </a:r>
            <a:r>
              <a:rPr dirty="0" sz="1200" spc="-10">
                <a:latin typeface="Arial"/>
                <a:cs typeface="Arial"/>
              </a:rPr>
              <a:t>you </a:t>
            </a:r>
            <a:r>
              <a:rPr dirty="0" sz="1200" spc="-5">
                <a:latin typeface="Arial"/>
                <a:cs typeface="Arial"/>
              </a:rPr>
              <a:t>bring anything </a:t>
            </a:r>
            <a:r>
              <a:rPr dirty="0" sz="1200">
                <a:latin typeface="Arial"/>
                <a:cs typeface="Arial"/>
              </a:rPr>
              <a:t>for </a:t>
            </a:r>
            <a:r>
              <a:rPr dirty="0" sz="1200" spc="-5">
                <a:latin typeface="Arial"/>
                <a:cs typeface="Arial"/>
              </a:rPr>
              <a:t>your children </a:t>
            </a:r>
            <a:r>
              <a:rPr dirty="0" sz="1200">
                <a:latin typeface="Arial"/>
                <a:cs typeface="Arial"/>
              </a:rPr>
              <a:t>for </a:t>
            </a:r>
            <a:r>
              <a:rPr dirty="0" sz="1200" spc="-5">
                <a:latin typeface="Arial"/>
                <a:cs typeface="Arial"/>
              </a:rPr>
              <a:t>distribution, begin with </a:t>
            </a:r>
            <a:r>
              <a:rPr dirty="0" sz="1200">
                <a:latin typeface="Arial"/>
                <a:cs typeface="Arial"/>
              </a:rPr>
              <a:t>the </a:t>
            </a:r>
            <a:r>
              <a:rPr dirty="0" sz="1200" spc="-5">
                <a:latin typeface="Arial"/>
                <a:cs typeface="Arial"/>
              </a:rPr>
              <a:t>girls </a:t>
            </a:r>
            <a:r>
              <a:rPr dirty="0" sz="1200">
                <a:latin typeface="Arial"/>
                <a:cs typeface="Arial"/>
              </a:rPr>
              <a:t>first  </a:t>
            </a:r>
            <a:r>
              <a:rPr dirty="0" sz="1200" spc="-5">
                <a:latin typeface="Arial"/>
                <a:cs typeface="Arial"/>
              </a:rPr>
              <a:t>because the girls love their parents </a:t>
            </a:r>
            <a:r>
              <a:rPr dirty="0" sz="1200">
                <a:latin typeface="Arial"/>
                <a:cs typeface="Arial"/>
              </a:rPr>
              <a:t>more </a:t>
            </a:r>
            <a:r>
              <a:rPr dirty="0" sz="1200" spc="-5">
                <a:latin typeface="Arial"/>
                <a:cs typeface="Arial"/>
              </a:rPr>
              <a:t>than the boys."</a:t>
            </a:r>
            <a:r>
              <a:rPr dirty="0" sz="1200" spc="45">
                <a:latin typeface="Arial"/>
                <a:cs typeface="Arial"/>
              </a:rPr>
              <a:t> </a:t>
            </a:r>
            <a:r>
              <a:rPr dirty="0" sz="1200" spc="-5">
                <a:latin typeface="Arial"/>
                <a:cs typeface="Arial"/>
              </a:rPr>
              <a:t>(hadith)</a:t>
            </a:r>
            <a:endParaRPr sz="1200">
              <a:latin typeface="Arial"/>
              <a:cs typeface="Arial"/>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313805" cy="8794750"/>
          </a:xfrm>
          <a:prstGeom prst="rect">
            <a:avLst/>
          </a:prstGeom>
        </p:spPr>
        <p:txBody>
          <a:bodyPr wrap="square" lIns="0" tIns="12700" rIns="0" bIns="0" rtlCol="0" vert="horz">
            <a:spAutoFit/>
          </a:bodyPr>
          <a:lstStyle/>
          <a:p>
            <a:pPr marL="12700">
              <a:lnSpc>
                <a:spcPct val="100000"/>
              </a:lnSpc>
              <a:spcBef>
                <a:spcPts val="100"/>
              </a:spcBef>
            </a:pPr>
            <a:r>
              <a:rPr dirty="0" u="heavy" sz="1200" spc="-5" b="1" i="1">
                <a:uFill>
                  <a:solidFill>
                    <a:srgbClr val="000000"/>
                  </a:solidFill>
                </a:uFill>
                <a:latin typeface="Arial"/>
                <a:cs typeface="Arial"/>
              </a:rPr>
              <a:t>Wife </a:t>
            </a:r>
            <a:r>
              <a:rPr dirty="0" u="heavy" sz="1200" b="1" i="1">
                <a:uFill>
                  <a:solidFill>
                    <a:srgbClr val="000000"/>
                  </a:solidFill>
                </a:uFill>
                <a:latin typeface="Arial"/>
                <a:cs typeface="Arial"/>
              </a:rPr>
              <a:t>in</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Islam</a:t>
            </a:r>
            <a:endParaRPr sz="1200">
              <a:latin typeface="Arial"/>
              <a:cs typeface="Arial"/>
            </a:endParaRPr>
          </a:p>
          <a:p>
            <a:pPr>
              <a:lnSpc>
                <a:spcPct val="100000"/>
              </a:lnSpc>
              <a:spcBef>
                <a:spcPts val="25"/>
              </a:spcBef>
            </a:pPr>
            <a:endParaRPr sz="1200">
              <a:latin typeface="Arial"/>
              <a:cs typeface="Arial"/>
            </a:endParaRPr>
          </a:p>
          <a:p>
            <a:pPr algn="just" marL="469900" marR="7620" indent="-229235">
              <a:lnSpc>
                <a:spcPts val="1380"/>
              </a:lnSpc>
              <a:buFont typeface="Wingdings"/>
              <a:buChar char=""/>
              <a:tabLst>
                <a:tab pos="470534" algn="l"/>
              </a:tabLst>
            </a:pPr>
            <a:r>
              <a:rPr dirty="0" sz="1200">
                <a:latin typeface="Arial"/>
                <a:cs typeface="Arial"/>
              </a:rPr>
              <a:t>"</a:t>
            </a:r>
            <a:r>
              <a:rPr dirty="0" sz="1200" i="1">
                <a:latin typeface="Arial"/>
                <a:cs typeface="Arial"/>
              </a:rPr>
              <a:t>The </a:t>
            </a:r>
            <a:r>
              <a:rPr dirty="0" sz="1200" spc="-5" i="1">
                <a:latin typeface="Arial"/>
                <a:cs typeface="Arial"/>
              </a:rPr>
              <a:t>women have rights similar to </a:t>
            </a:r>
            <a:r>
              <a:rPr dirty="0" sz="1200" i="1">
                <a:latin typeface="Arial"/>
                <a:cs typeface="Arial"/>
              </a:rPr>
              <a:t>the </a:t>
            </a:r>
            <a:r>
              <a:rPr dirty="0" sz="1200" spc="-5" i="1">
                <a:latin typeface="Arial"/>
                <a:cs typeface="Arial"/>
              </a:rPr>
              <a:t>rights against </a:t>
            </a:r>
            <a:r>
              <a:rPr dirty="0" sz="1200" spc="-10" i="1">
                <a:latin typeface="Arial"/>
                <a:cs typeface="Arial"/>
              </a:rPr>
              <a:t>them, </a:t>
            </a:r>
            <a:r>
              <a:rPr dirty="0" sz="1200" i="1">
                <a:latin typeface="Arial"/>
                <a:cs typeface="Arial"/>
              </a:rPr>
              <a:t>according </a:t>
            </a:r>
            <a:r>
              <a:rPr dirty="0" sz="1200" spc="-10" i="1">
                <a:latin typeface="Arial"/>
                <a:cs typeface="Arial"/>
              </a:rPr>
              <a:t>to </a:t>
            </a:r>
            <a:r>
              <a:rPr dirty="0" sz="1200" i="1">
                <a:latin typeface="Arial"/>
                <a:cs typeface="Arial"/>
              </a:rPr>
              <a:t>what </a:t>
            </a:r>
            <a:r>
              <a:rPr dirty="0" sz="1200" spc="-5" i="1">
                <a:latin typeface="Arial"/>
                <a:cs typeface="Arial"/>
              </a:rPr>
              <a:t>is  </a:t>
            </a:r>
            <a:r>
              <a:rPr dirty="0" sz="1200" spc="-5" i="1">
                <a:latin typeface="Arial"/>
                <a:cs typeface="Arial"/>
              </a:rPr>
              <a:t>equitable." [Qur'an 2:228]</a:t>
            </a:r>
            <a:endParaRPr sz="1200">
              <a:latin typeface="Arial"/>
              <a:cs typeface="Arial"/>
            </a:endParaRPr>
          </a:p>
          <a:p>
            <a:pPr algn="just" marL="413384" indent="-172720">
              <a:lnSpc>
                <a:spcPts val="1320"/>
              </a:lnSpc>
              <a:buFont typeface="Wingdings"/>
              <a:buChar char=""/>
              <a:tabLst>
                <a:tab pos="414020" algn="l"/>
              </a:tabLst>
            </a:pPr>
            <a:r>
              <a:rPr dirty="0" sz="1200" spc="-5">
                <a:latin typeface="Arial"/>
                <a:cs typeface="Arial"/>
              </a:rPr>
              <a:t>The Holy Prophet is reported </a:t>
            </a:r>
            <a:r>
              <a:rPr dirty="0" sz="1200">
                <a:latin typeface="Arial"/>
                <a:cs typeface="Arial"/>
              </a:rPr>
              <a:t>to </a:t>
            </a:r>
            <a:r>
              <a:rPr dirty="0" sz="1200" spc="-5">
                <a:latin typeface="Arial"/>
                <a:cs typeface="Arial"/>
              </a:rPr>
              <a:t>have said: "A woman is the queen of her house.</a:t>
            </a:r>
            <a:r>
              <a:rPr dirty="0" sz="1200" spc="114">
                <a:latin typeface="Arial"/>
                <a:cs typeface="Arial"/>
              </a:rPr>
              <a:t> </a:t>
            </a:r>
            <a:r>
              <a:rPr dirty="0" sz="1200" spc="-805">
                <a:latin typeface="Arial"/>
                <a:cs typeface="Arial"/>
              </a:rPr>
              <a:t>―</a:t>
            </a:r>
            <a:endParaRPr sz="1200">
              <a:latin typeface="Arial"/>
              <a:cs typeface="Arial"/>
            </a:endParaRPr>
          </a:p>
          <a:p>
            <a:pPr algn="just" marL="469900" marR="13335" indent="-229235">
              <a:lnSpc>
                <a:spcPts val="1380"/>
              </a:lnSpc>
              <a:spcBef>
                <a:spcPts val="60"/>
              </a:spcBef>
              <a:buFont typeface="Wingdings"/>
              <a:buChar char=""/>
              <a:tabLst>
                <a:tab pos="470534" algn="l"/>
              </a:tabLst>
            </a:pPr>
            <a:r>
              <a:rPr dirty="0" sz="1200">
                <a:latin typeface="Arial"/>
                <a:cs typeface="Arial"/>
              </a:rPr>
              <a:t>"</a:t>
            </a:r>
            <a:r>
              <a:rPr dirty="0" sz="1200" i="1">
                <a:latin typeface="Arial"/>
                <a:cs typeface="Arial"/>
              </a:rPr>
              <a:t>He </a:t>
            </a:r>
            <a:r>
              <a:rPr dirty="0" sz="1200" spc="-5" i="1">
                <a:latin typeface="Arial"/>
                <a:cs typeface="Arial"/>
              </a:rPr>
              <a:t>created for you mates </a:t>
            </a:r>
            <a:r>
              <a:rPr dirty="0" sz="1200" i="1">
                <a:latin typeface="Arial"/>
                <a:cs typeface="Arial"/>
              </a:rPr>
              <a:t>from </a:t>
            </a:r>
            <a:r>
              <a:rPr dirty="0" sz="1200" spc="-5" i="1">
                <a:latin typeface="Arial"/>
                <a:cs typeface="Arial"/>
              </a:rPr>
              <a:t>among yourselves that you might find solace </a:t>
            </a:r>
            <a:r>
              <a:rPr dirty="0" sz="1200" spc="-10" i="1">
                <a:latin typeface="Arial"/>
                <a:cs typeface="Arial"/>
              </a:rPr>
              <a:t>in </a:t>
            </a:r>
            <a:r>
              <a:rPr dirty="0" sz="1200" spc="-5" i="1">
                <a:latin typeface="Arial"/>
                <a:cs typeface="Arial"/>
              </a:rPr>
              <a:t>them  </a:t>
            </a:r>
            <a:r>
              <a:rPr dirty="0" sz="1200" spc="-5" i="1">
                <a:latin typeface="Arial"/>
                <a:cs typeface="Arial"/>
              </a:rPr>
              <a:t>and he ordained between you love and mercy," </a:t>
            </a:r>
            <a:r>
              <a:rPr dirty="0" sz="1200" i="1">
                <a:latin typeface="Arial"/>
                <a:cs typeface="Arial"/>
              </a:rPr>
              <a:t>[Qur'an </a:t>
            </a:r>
            <a:r>
              <a:rPr dirty="0" sz="1200" spc="-5" i="1">
                <a:latin typeface="Arial"/>
                <a:cs typeface="Arial"/>
              </a:rPr>
              <a:t>30:21]</a:t>
            </a:r>
            <a:endParaRPr sz="1200">
              <a:latin typeface="Arial"/>
              <a:cs typeface="Arial"/>
            </a:endParaRPr>
          </a:p>
          <a:p>
            <a:pPr algn="just" marL="469900" marR="12700" indent="-229235">
              <a:lnSpc>
                <a:spcPts val="1380"/>
              </a:lnSpc>
              <a:spcBef>
                <a:spcPts val="10"/>
              </a:spcBef>
              <a:buFont typeface="Wingdings"/>
              <a:buChar char=""/>
              <a:tabLst>
                <a:tab pos="470534" algn="l"/>
              </a:tabLst>
            </a:pPr>
            <a:r>
              <a:rPr dirty="0" sz="1200" spc="-5">
                <a:latin typeface="Arial"/>
                <a:cs typeface="Arial"/>
              </a:rPr>
              <a:t>The Prophet said: "The most perfect of believers in faith is the best of them in morals  and </a:t>
            </a:r>
            <a:r>
              <a:rPr dirty="0" sz="1200">
                <a:latin typeface="Arial"/>
                <a:cs typeface="Arial"/>
              </a:rPr>
              <a:t>the </a:t>
            </a:r>
            <a:r>
              <a:rPr dirty="0" sz="1200" spc="-5">
                <a:latin typeface="Arial"/>
                <a:cs typeface="Arial"/>
              </a:rPr>
              <a:t>best of </a:t>
            </a:r>
            <a:r>
              <a:rPr dirty="0" sz="1200" spc="-10">
                <a:latin typeface="Arial"/>
                <a:cs typeface="Arial"/>
              </a:rPr>
              <a:t>you </a:t>
            </a:r>
            <a:r>
              <a:rPr dirty="0" sz="1200">
                <a:latin typeface="Arial"/>
                <a:cs typeface="Arial"/>
              </a:rPr>
              <a:t>are </a:t>
            </a:r>
            <a:r>
              <a:rPr dirty="0" sz="1200" spc="-5">
                <a:latin typeface="Arial"/>
                <a:cs typeface="Arial"/>
              </a:rPr>
              <a:t>those </a:t>
            </a:r>
            <a:r>
              <a:rPr dirty="0" sz="1200" spc="-10">
                <a:latin typeface="Arial"/>
                <a:cs typeface="Arial"/>
              </a:rPr>
              <a:t>who </a:t>
            </a:r>
            <a:r>
              <a:rPr dirty="0" sz="1200">
                <a:latin typeface="Arial"/>
                <a:cs typeface="Arial"/>
              </a:rPr>
              <a:t>are </a:t>
            </a:r>
            <a:r>
              <a:rPr dirty="0" sz="1200" spc="-5">
                <a:latin typeface="Arial"/>
                <a:cs typeface="Arial"/>
              </a:rPr>
              <a:t>kindest </a:t>
            </a:r>
            <a:r>
              <a:rPr dirty="0" sz="1200">
                <a:latin typeface="Arial"/>
                <a:cs typeface="Arial"/>
              </a:rPr>
              <a:t>to </a:t>
            </a:r>
            <a:r>
              <a:rPr dirty="0" sz="1200" spc="-5">
                <a:latin typeface="Arial"/>
                <a:cs typeface="Arial"/>
              </a:rPr>
              <a:t>your</a:t>
            </a:r>
            <a:r>
              <a:rPr dirty="0" sz="1200">
                <a:latin typeface="Arial"/>
                <a:cs typeface="Arial"/>
              </a:rPr>
              <a:t> </a:t>
            </a:r>
            <a:r>
              <a:rPr dirty="0" sz="1200" spc="-5">
                <a:latin typeface="Arial"/>
                <a:cs typeface="Arial"/>
              </a:rPr>
              <a:t>wives."</a:t>
            </a:r>
            <a:endParaRPr sz="1200">
              <a:latin typeface="Arial"/>
              <a:cs typeface="Arial"/>
            </a:endParaRPr>
          </a:p>
          <a:p>
            <a:pPr algn="just" marL="469900" marR="11430" indent="-229235">
              <a:lnSpc>
                <a:spcPts val="1380"/>
              </a:lnSpc>
              <a:buFont typeface="Wingdings"/>
              <a:buChar char=""/>
              <a:tabLst>
                <a:tab pos="470534" algn="l"/>
              </a:tabLst>
            </a:pPr>
            <a:r>
              <a:rPr dirty="0" sz="1200" spc="-5">
                <a:latin typeface="Arial"/>
                <a:cs typeface="Arial"/>
              </a:rPr>
              <a:t>He said: </a:t>
            </a:r>
            <a:r>
              <a:rPr dirty="0" sz="1200">
                <a:latin typeface="Arial"/>
                <a:cs typeface="Arial"/>
              </a:rPr>
              <a:t>"O my </a:t>
            </a:r>
            <a:r>
              <a:rPr dirty="0" sz="1200" spc="-5">
                <a:latin typeface="Arial"/>
                <a:cs typeface="Arial"/>
              </a:rPr>
              <a:t>people, </a:t>
            </a:r>
            <a:r>
              <a:rPr dirty="0" sz="1200" spc="-10">
                <a:latin typeface="Arial"/>
                <a:cs typeface="Arial"/>
              </a:rPr>
              <a:t>you </a:t>
            </a:r>
            <a:r>
              <a:rPr dirty="0" sz="1200" spc="-5">
                <a:latin typeface="Arial"/>
                <a:cs typeface="Arial"/>
              </a:rPr>
              <a:t>have certain rights over your </a:t>
            </a:r>
            <a:r>
              <a:rPr dirty="0" sz="1200" spc="-10">
                <a:latin typeface="Arial"/>
                <a:cs typeface="Arial"/>
              </a:rPr>
              <a:t>wives </a:t>
            </a:r>
            <a:r>
              <a:rPr dirty="0" sz="1200" spc="-5">
                <a:latin typeface="Arial"/>
                <a:cs typeface="Arial"/>
              </a:rPr>
              <a:t>and so </a:t>
            </a:r>
            <a:r>
              <a:rPr dirty="0" sz="1200" spc="-10">
                <a:latin typeface="Arial"/>
                <a:cs typeface="Arial"/>
              </a:rPr>
              <a:t>have </a:t>
            </a:r>
            <a:r>
              <a:rPr dirty="0" sz="1200" spc="-5">
                <a:latin typeface="Arial"/>
                <a:cs typeface="Arial"/>
              </a:rPr>
              <a:t>your  </a:t>
            </a:r>
            <a:r>
              <a:rPr dirty="0" sz="1200" spc="-10">
                <a:latin typeface="Arial"/>
                <a:cs typeface="Arial"/>
              </a:rPr>
              <a:t>wives </a:t>
            </a:r>
            <a:r>
              <a:rPr dirty="0" sz="1200" spc="-5">
                <a:latin typeface="Arial"/>
                <a:cs typeface="Arial"/>
              </a:rPr>
              <a:t>over you </a:t>
            </a:r>
            <a:r>
              <a:rPr dirty="0" sz="1200">
                <a:latin typeface="Arial"/>
                <a:cs typeface="Arial"/>
              </a:rPr>
              <a:t>.... </a:t>
            </a:r>
            <a:r>
              <a:rPr dirty="0" sz="1200" spc="-5">
                <a:latin typeface="Arial"/>
                <a:cs typeface="Arial"/>
              </a:rPr>
              <a:t>They are Allah's </a:t>
            </a:r>
            <a:r>
              <a:rPr dirty="0" sz="1200">
                <a:latin typeface="Arial"/>
                <a:cs typeface="Arial"/>
              </a:rPr>
              <a:t>trust </a:t>
            </a:r>
            <a:r>
              <a:rPr dirty="0" sz="1200" spc="-5">
                <a:latin typeface="Arial"/>
                <a:cs typeface="Arial"/>
              </a:rPr>
              <a:t>in </a:t>
            </a:r>
            <a:r>
              <a:rPr dirty="0" sz="1200" spc="-10">
                <a:latin typeface="Arial"/>
                <a:cs typeface="Arial"/>
              </a:rPr>
              <a:t>your </a:t>
            </a:r>
            <a:r>
              <a:rPr dirty="0" sz="1200" spc="-5">
                <a:latin typeface="Arial"/>
                <a:cs typeface="Arial"/>
              </a:rPr>
              <a:t>hand. See that </a:t>
            </a:r>
            <a:r>
              <a:rPr dirty="0" sz="1200" spc="-10">
                <a:latin typeface="Arial"/>
                <a:cs typeface="Arial"/>
              </a:rPr>
              <a:t>you </a:t>
            </a:r>
            <a:r>
              <a:rPr dirty="0" sz="1200">
                <a:latin typeface="Arial"/>
                <a:cs typeface="Arial"/>
              </a:rPr>
              <a:t>treat </a:t>
            </a:r>
            <a:r>
              <a:rPr dirty="0" sz="1200" spc="-5">
                <a:latin typeface="Arial"/>
                <a:cs typeface="Arial"/>
              </a:rPr>
              <a:t>them with all  kindness."</a:t>
            </a:r>
            <a:endParaRPr sz="1200">
              <a:latin typeface="Arial"/>
              <a:cs typeface="Arial"/>
            </a:endParaRPr>
          </a:p>
          <a:p>
            <a:pPr algn="just" marL="469900" indent="-229235">
              <a:lnSpc>
                <a:spcPts val="1300"/>
              </a:lnSpc>
              <a:buFont typeface="Wingdings"/>
              <a:buChar char=""/>
              <a:tabLst>
                <a:tab pos="470534" algn="l"/>
              </a:tabLst>
            </a:pPr>
            <a:r>
              <a:rPr dirty="0" sz="1200" spc="-5" i="1">
                <a:latin typeface="Arial"/>
                <a:cs typeface="Arial"/>
              </a:rPr>
              <a:t>"And</a:t>
            </a:r>
            <a:r>
              <a:rPr dirty="0" sz="1200" spc="80" i="1">
                <a:latin typeface="Arial"/>
                <a:cs typeface="Arial"/>
              </a:rPr>
              <a:t> </a:t>
            </a:r>
            <a:r>
              <a:rPr dirty="0" sz="1200" spc="-5" i="1">
                <a:latin typeface="Arial"/>
                <a:cs typeface="Arial"/>
              </a:rPr>
              <a:t>if</a:t>
            </a:r>
            <a:r>
              <a:rPr dirty="0" sz="1200" spc="75" i="1">
                <a:latin typeface="Arial"/>
                <a:cs typeface="Arial"/>
              </a:rPr>
              <a:t> </a:t>
            </a:r>
            <a:r>
              <a:rPr dirty="0" sz="1200" spc="-5" i="1">
                <a:latin typeface="Arial"/>
                <a:cs typeface="Arial"/>
              </a:rPr>
              <a:t>you</a:t>
            </a:r>
            <a:r>
              <a:rPr dirty="0" sz="1200" spc="85" i="1">
                <a:latin typeface="Arial"/>
                <a:cs typeface="Arial"/>
              </a:rPr>
              <a:t> </a:t>
            </a:r>
            <a:r>
              <a:rPr dirty="0" sz="1200" spc="-5" i="1">
                <a:latin typeface="Arial"/>
                <a:cs typeface="Arial"/>
              </a:rPr>
              <a:t>fear</a:t>
            </a:r>
            <a:r>
              <a:rPr dirty="0" sz="1200" spc="70" i="1">
                <a:latin typeface="Arial"/>
                <a:cs typeface="Arial"/>
              </a:rPr>
              <a:t> </a:t>
            </a:r>
            <a:r>
              <a:rPr dirty="0" sz="1200" spc="-5" i="1">
                <a:latin typeface="Arial"/>
                <a:cs typeface="Arial"/>
              </a:rPr>
              <a:t>that</a:t>
            </a:r>
            <a:r>
              <a:rPr dirty="0" sz="1200" spc="85" i="1">
                <a:latin typeface="Arial"/>
                <a:cs typeface="Arial"/>
              </a:rPr>
              <a:t> </a:t>
            </a:r>
            <a:r>
              <a:rPr dirty="0" sz="1200" spc="-10" i="1">
                <a:latin typeface="Arial"/>
                <a:cs typeface="Arial"/>
              </a:rPr>
              <a:t>you</a:t>
            </a:r>
            <a:r>
              <a:rPr dirty="0" sz="1200" spc="70" i="1">
                <a:latin typeface="Arial"/>
                <a:cs typeface="Arial"/>
              </a:rPr>
              <a:t> </a:t>
            </a:r>
            <a:r>
              <a:rPr dirty="0" sz="1200" spc="-5" i="1">
                <a:latin typeface="Arial"/>
                <a:cs typeface="Arial"/>
              </a:rPr>
              <a:t>will</a:t>
            </a:r>
            <a:r>
              <a:rPr dirty="0" sz="1200" spc="80" i="1">
                <a:latin typeface="Arial"/>
                <a:cs typeface="Arial"/>
              </a:rPr>
              <a:t> </a:t>
            </a:r>
            <a:r>
              <a:rPr dirty="0" sz="1200" spc="-5" i="1">
                <a:latin typeface="Arial"/>
                <a:cs typeface="Arial"/>
              </a:rPr>
              <a:t>not</a:t>
            </a:r>
            <a:r>
              <a:rPr dirty="0" sz="1200" spc="65" i="1">
                <a:latin typeface="Arial"/>
                <a:cs typeface="Arial"/>
              </a:rPr>
              <a:t> </a:t>
            </a:r>
            <a:r>
              <a:rPr dirty="0" sz="1200" spc="-5" i="1">
                <a:latin typeface="Arial"/>
                <a:cs typeface="Arial"/>
              </a:rPr>
              <a:t>deal</a:t>
            </a:r>
            <a:r>
              <a:rPr dirty="0" sz="1200" spc="65" i="1">
                <a:latin typeface="Arial"/>
                <a:cs typeface="Arial"/>
              </a:rPr>
              <a:t> </a:t>
            </a:r>
            <a:r>
              <a:rPr dirty="0" sz="1200" spc="-5" i="1">
                <a:latin typeface="Arial"/>
                <a:cs typeface="Arial"/>
              </a:rPr>
              <a:t>fairly</a:t>
            </a:r>
            <a:r>
              <a:rPr dirty="0" sz="1200" spc="75" i="1">
                <a:latin typeface="Arial"/>
                <a:cs typeface="Arial"/>
              </a:rPr>
              <a:t> </a:t>
            </a:r>
            <a:r>
              <a:rPr dirty="0" sz="1200" spc="-5" i="1">
                <a:latin typeface="Arial"/>
                <a:cs typeface="Arial"/>
              </a:rPr>
              <a:t>towards</a:t>
            </a:r>
            <a:r>
              <a:rPr dirty="0" sz="1200" spc="75" i="1">
                <a:latin typeface="Arial"/>
                <a:cs typeface="Arial"/>
              </a:rPr>
              <a:t> </a:t>
            </a:r>
            <a:r>
              <a:rPr dirty="0" sz="1200" spc="-5" i="1">
                <a:latin typeface="Arial"/>
                <a:cs typeface="Arial"/>
              </a:rPr>
              <a:t>the</a:t>
            </a:r>
            <a:r>
              <a:rPr dirty="0" sz="1200" spc="85" i="1">
                <a:latin typeface="Arial"/>
                <a:cs typeface="Arial"/>
              </a:rPr>
              <a:t> </a:t>
            </a:r>
            <a:r>
              <a:rPr dirty="0" sz="1200" spc="-5" i="1">
                <a:latin typeface="Arial"/>
                <a:cs typeface="Arial"/>
              </a:rPr>
              <a:t>orphans,</a:t>
            </a:r>
            <a:r>
              <a:rPr dirty="0" sz="1200" spc="65" i="1">
                <a:latin typeface="Arial"/>
                <a:cs typeface="Arial"/>
              </a:rPr>
              <a:t> </a:t>
            </a:r>
            <a:r>
              <a:rPr dirty="0" sz="1200" spc="-5" i="1">
                <a:latin typeface="Arial"/>
                <a:cs typeface="Arial"/>
              </a:rPr>
              <a:t>marry</a:t>
            </a:r>
            <a:r>
              <a:rPr dirty="0" sz="1200" spc="75" i="1">
                <a:latin typeface="Arial"/>
                <a:cs typeface="Arial"/>
              </a:rPr>
              <a:t> </a:t>
            </a:r>
            <a:r>
              <a:rPr dirty="0" sz="1200" spc="-5" i="1">
                <a:latin typeface="Arial"/>
                <a:cs typeface="Arial"/>
              </a:rPr>
              <a:t>of</a:t>
            </a:r>
            <a:r>
              <a:rPr dirty="0" sz="1200" spc="80" i="1">
                <a:latin typeface="Arial"/>
                <a:cs typeface="Arial"/>
              </a:rPr>
              <a:t> </a:t>
            </a:r>
            <a:r>
              <a:rPr dirty="0" sz="1200" i="1">
                <a:latin typeface="Arial"/>
                <a:cs typeface="Arial"/>
              </a:rPr>
              <a:t>the</a:t>
            </a:r>
            <a:r>
              <a:rPr dirty="0" sz="1200" spc="75" i="1">
                <a:latin typeface="Arial"/>
                <a:cs typeface="Arial"/>
              </a:rPr>
              <a:t> </a:t>
            </a:r>
            <a:r>
              <a:rPr dirty="0" sz="1200" spc="-5" i="1">
                <a:latin typeface="Arial"/>
                <a:cs typeface="Arial"/>
              </a:rPr>
              <a:t>women</a:t>
            </a:r>
            <a:endParaRPr sz="1200">
              <a:latin typeface="Arial"/>
              <a:cs typeface="Arial"/>
            </a:endParaRPr>
          </a:p>
          <a:p>
            <a:pPr algn="just" marL="469900" marR="7620">
              <a:lnSpc>
                <a:spcPct val="95900"/>
              </a:lnSpc>
              <a:spcBef>
                <a:spcPts val="30"/>
              </a:spcBef>
            </a:pPr>
            <a:r>
              <a:rPr dirty="0" sz="1200" spc="-5" i="1">
                <a:latin typeface="Arial"/>
                <a:cs typeface="Arial"/>
              </a:rPr>
              <a:t>who seem good to you, </a:t>
            </a:r>
            <a:r>
              <a:rPr dirty="0" sz="1200" i="1">
                <a:latin typeface="Arial"/>
                <a:cs typeface="Arial"/>
              </a:rPr>
              <a:t>two </a:t>
            </a:r>
            <a:r>
              <a:rPr dirty="0" sz="1200" spc="-5" i="1">
                <a:latin typeface="Arial"/>
                <a:cs typeface="Arial"/>
              </a:rPr>
              <a:t>or </a:t>
            </a:r>
            <a:r>
              <a:rPr dirty="0" sz="1200" i="1">
                <a:latin typeface="Arial"/>
                <a:cs typeface="Arial"/>
              </a:rPr>
              <a:t>three </a:t>
            </a:r>
            <a:r>
              <a:rPr dirty="0" sz="1200" spc="-5" i="1">
                <a:latin typeface="Arial"/>
                <a:cs typeface="Arial"/>
              </a:rPr>
              <a:t>or four, and if you fear </a:t>
            </a:r>
            <a:r>
              <a:rPr dirty="0" sz="1200" i="1">
                <a:latin typeface="Arial"/>
                <a:cs typeface="Arial"/>
              </a:rPr>
              <a:t>that </a:t>
            </a:r>
            <a:r>
              <a:rPr dirty="0" sz="1200" spc="-5" i="1">
                <a:latin typeface="Arial"/>
                <a:cs typeface="Arial"/>
              </a:rPr>
              <a:t>you cannot do justice  </a:t>
            </a:r>
            <a:r>
              <a:rPr dirty="0" sz="1200" spc="-5" i="1">
                <a:latin typeface="Arial"/>
                <a:cs typeface="Arial"/>
              </a:rPr>
              <a:t>between them, </a:t>
            </a:r>
            <a:r>
              <a:rPr dirty="0" sz="1200" i="1">
                <a:latin typeface="Arial"/>
                <a:cs typeface="Arial"/>
              </a:rPr>
              <a:t>then </a:t>
            </a:r>
            <a:r>
              <a:rPr dirty="0" sz="1200" spc="-5" i="1">
                <a:latin typeface="Arial"/>
                <a:cs typeface="Arial"/>
              </a:rPr>
              <a:t>(marry) </a:t>
            </a:r>
            <a:r>
              <a:rPr dirty="0" sz="1200" i="1">
                <a:latin typeface="Arial"/>
                <a:cs typeface="Arial"/>
              </a:rPr>
              <a:t>only </a:t>
            </a:r>
            <a:r>
              <a:rPr dirty="0" sz="1200" spc="-5" i="1">
                <a:latin typeface="Arial"/>
                <a:cs typeface="Arial"/>
              </a:rPr>
              <a:t>one. Thus it </a:t>
            </a:r>
            <a:r>
              <a:rPr dirty="0" sz="1200" spc="-10" i="1">
                <a:latin typeface="Arial"/>
                <a:cs typeface="Arial"/>
              </a:rPr>
              <a:t>is </a:t>
            </a:r>
            <a:r>
              <a:rPr dirty="0" sz="1200" spc="-5" i="1">
                <a:latin typeface="Arial"/>
                <a:cs typeface="Arial"/>
              </a:rPr>
              <a:t>more likely </a:t>
            </a:r>
            <a:r>
              <a:rPr dirty="0" sz="1200" i="1">
                <a:latin typeface="Arial"/>
                <a:cs typeface="Arial"/>
              </a:rPr>
              <a:t>that </a:t>
            </a:r>
            <a:r>
              <a:rPr dirty="0" sz="1200" spc="-5" i="1">
                <a:latin typeface="Arial"/>
                <a:cs typeface="Arial"/>
              </a:rPr>
              <a:t>ye will </a:t>
            </a:r>
            <a:r>
              <a:rPr dirty="0" sz="1200" i="1">
                <a:latin typeface="Arial"/>
                <a:cs typeface="Arial"/>
              </a:rPr>
              <a:t>not </a:t>
            </a:r>
            <a:r>
              <a:rPr dirty="0" sz="1200" spc="-5" i="1">
                <a:latin typeface="Arial"/>
                <a:cs typeface="Arial"/>
              </a:rPr>
              <a:t>do injustice"  [Qur'an</a:t>
            </a:r>
            <a:r>
              <a:rPr dirty="0" sz="1200" spc="-15" i="1">
                <a:latin typeface="Arial"/>
                <a:cs typeface="Arial"/>
              </a:rPr>
              <a:t> </a:t>
            </a:r>
            <a:r>
              <a:rPr dirty="0" sz="1200" spc="-5" i="1">
                <a:latin typeface="Arial"/>
                <a:cs typeface="Arial"/>
              </a:rPr>
              <a:t>4:3]</a:t>
            </a:r>
            <a:endParaRPr sz="1200">
              <a:latin typeface="Arial"/>
              <a:cs typeface="Arial"/>
            </a:endParaRPr>
          </a:p>
          <a:p>
            <a:pPr>
              <a:lnSpc>
                <a:spcPct val="100000"/>
              </a:lnSpc>
              <a:spcBef>
                <a:spcPts val="10"/>
              </a:spcBef>
            </a:pPr>
            <a:endParaRPr sz="1150">
              <a:latin typeface="Arial"/>
              <a:cs typeface="Arial"/>
            </a:endParaRPr>
          </a:p>
          <a:p>
            <a:pPr marL="12700">
              <a:lnSpc>
                <a:spcPct val="100000"/>
              </a:lnSpc>
            </a:pPr>
            <a:r>
              <a:rPr dirty="0" u="heavy" sz="1200" spc="-5" b="1" i="1">
                <a:uFill>
                  <a:solidFill>
                    <a:srgbClr val="000000"/>
                  </a:solidFill>
                </a:uFill>
                <a:latin typeface="Arial"/>
                <a:cs typeface="Arial"/>
              </a:rPr>
              <a:t>Mother </a:t>
            </a:r>
            <a:r>
              <a:rPr dirty="0" u="heavy" sz="1200" b="1" i="1">
                <a:uFill>
                  <a:solidFill>
                    <a:srgbClr val="000000"/>
                  </a:solidFill>
                </a:uFill>
                <a:latin typeface="Arial"/>
                <a:cs typeface="Arial"/>
              </a:rPr>
              <a:t>in</a:t>
            </a:r>
            <a:r>
              <a:rPr dirty="0" u="heavy" sz="1200" spc="5" b="1" i="1">
                <a:uFill>
                  <a:solidFill>
                    <a:srgbClr val="000000"/>
                  </a:solidFill>
                </a:uFill>
                <a:latin typeface="Arial"/>
                <a:cs typeface="Arial"/>
              </a:rPr>
              <a:t> </a:t>
            </a:r>
            <a:r>
              <a:rPr dirty="0" u="heavy" sz="1200" b="1" i="1">
                <a:uFill>
                  <a:solidFill>
                    <a:srgbClr val="000000"/>
                  </a:solidFill>
                </a:uFill>
                <a:latin typeface="Arial"/>
                <a:cs typeface="Arial"/>
              </a:rPr>
              <a:t>Islam</a:t>
            </a:r>
            <a:endParaRPr sz="1200">
              <a:latin typeface="Arial"/>
              <a:cs typeface="Arial"/>
            </a:endParaRPr>
          </a:p>
          <a:p>
            <a:pPr>
              <a:lnSpc>
                <a:spcPct val="100000"/>
              </a:lnSpc>
              <a:spcBef>
                <a:spcPts val="25"/>
              </a:spcBef>
            </a:pPr>
            <a:endParaRPr sz="1200">
              <a:latin typeface="Arial"/>
              <a:cs typeface="Arial"/>
            </a:endParaRPr>
          </a:p>
          <a:p>
            <a:pPr algn="just" lvl="1" marL="698500" marR="5080" indent="-228600">
              <a:lnSpc>
                <a:spcPts val="1380"/>
              </a:lnSpc>
              <a:buFont typeface="Wingdings"/>
              <a:buChar char=""/>
              <a:tabLst>
                <a:tab pos="699135" algn="l"/>
              </a:tabLst>
            </a:pPr>
            <a:r>
              <a:rPr dirty="0" sz="1200" spc="-5">
                <a:latin typeface="Arial"/>
                <a:cs typeface="Arial"/>
              </a:rPr>
              <a:t>"</a:t>
            </a:r>
            <a:r>
              <a:rPr dirty="0" sz="1200" spc="-5" i="1">
                <a:latin typeface="Arial"/>
                <a:cs typeface="Arial"/>
              </a:rPr>
              <a:t>Your Lord has commanded that </a:t>
            </a:r>
            <a:r>
              <a:rPr dirty="0" sz="1200" spc="-10" i="1">
                <a:latin typeface="Arial"/>
                <a:cs typeface="Arial"/>
              </a:rPr>
              <a:t>you </a:t>
            </a:r>
            <a:r>
              <a:rPr dirty="0" sz="1200" spc="-5" i="1">
                <a:latin typeface="Arial"/>
                <a:cs typeface="Arial"/>
              </a:rPr>
              <a:t>shall worship none but Him </a:t>
            </a:r>
            <a:r>
              <a:rPr dirty="0" sz="1200" i="1">
                <a:latin typeface="Arial"/>
                <a:cs typeface="Arial"/>
              </a:rPr>
              <a:t>and </a:t>
            </a:r>
            <a:r>
              <a:rPr dirty="0" sz="1200" spc="-5" i="1">
                <a:latin typeface="Arial"/>
                <a:cs typeface="Arial"/>
              </a:rPr>
              <a:t>goodness </a:t>
            </a:r>
            <a:r>
              <a:rPr dirty="0" sz="1200" spc="-10" i="1">
                <a:latin typeface="Arial"/>
                <a:cs typeface="Arial"/>
              </a:rPr>
              <a:t>to  </a:t>
            </a:r>
            <a:r>
              <a:rPr dirty="0" sz="1200" spc="-5" i="1">
                <a:latin typeface="Arial"/>
                <a:cs typeface="Arial"/>
              </a:rPr>
              <a:t>your parents. </a:t>
            </a:r>
            <a:r>
              <a:rPr dirty="0" sz="1200" i="1">
                <a:latin typeface="Arial"/>
                <a:cs typeface="Arial"/>
              </a:rPr>
              <a:t>If </a:t>
            </a:r>
            <a:r>
              <a:rPr dirty="0" sz="1200" spc="-5" i="1">
                <a:latin typeface="Arial"/>
                <a:cs typeface="Arial"/>
              </a:rPr>
              <a:t>either or both </a:t>
            </a:r>
            <a:r>
              <a:rPr dirty="0" sz="1200" spc="-10" i="1">
                <a:latin typeface="Arial"/>
                <a:cs typeface="Arial"/>
              </a:rPr>
              <a:t>of </a:t>
            </a:r>
            <a:r>
              <a:rPr dirty="0" sz="1200" spc="-5" i="1">
                <a:latin typeface="Arial"/>
                <a:cs typeface="Arial"/>
              </a:rPr>
              <a:t>them reach old </a:t>
            </a:r>
            <a:r>
              <a:rPr dirty="0" sz="1200" spc="5" i="1">
                <a:latin typeface="Arial"/>
                <a:cs typeface="Arial"/>
              </a:rPr>
              <a:t>age </a:t>
            </a:r>
            <a:r>
              <a:rPr dirty="0" sz="1200" spc="-5" i="1">
                <a:latin typeface="Arial"/>
                <a:cs typeface="Arial"/>
              </a:rPr>
              <a:t>in your life, </a:t>
            </a:r>
            <a:r>
              <a:rPr dirty="0" sz="1200" spc="-10" i="1">
                <a:latin typeface="Arial"/>
                <a:cs typeface="Arial"/>
              </a:rPr>
              <a:t>say </a:t>
            </a:r>
            <a:r>
              <a:rPr dirty="0" sz="1200" spc="-5" i="1">
                <a:latin typeface="Arial"/>
                <a:cs typeface="Arial"/>
              </a:rPr>
              <a:t>not to them a  </a:t>
            </a:r>
            <a:r>
              <a:rPr dirty="0" sz="1200" i="1">
                <a:latin typeface="Arial"/>
                <a:cs typeface="Arial"/>
              </a:rPr>
              <a:t>word </a:t>
            </a:r>
            <a:r>
              <a:rPr dirty="0" sz="1200" spc="-5" i="1">
                <a:latin typeface="Arial"/>
                <a:cs typeface="Arial"/>
              </a:rPr>
              <a:t>of contempt, nor repel </a:t>
            </a:r>
            <a:r>
              <a:rPr dirty="0" sz="1200" spc="-10" i="1">
                <a:latin typeface="Arial"/>
                <a:cs typeface="Arial"/>
              </a:rPr>
              <a:t>them, </a:t>
            </a:r>
            <a:r>
              <a:rPr dirty="0" sz="1200" spc="-5" i="1">
                <a:latin typeface="Arial"/>
                <a:cs typeface="Arial"/>
              </a:rPr>
              <a:t>but address </a:t>
            </a:r>
            <a:r>
              <a:rPr dirty="0" sz="1200" i="1">
                <a:latin typeface="Arial"/>
                <a:cs typeface="Arial"/>
              </a:rPr>
              <a:t>them </a:t>
            </a:r>
            <a:r>
              <a:rPr dirty="0" sz="1200" spc="-5" i="1">
                <a:latin typeface="Arial"/>
                <a:cs typeface="Arial"/>
              </a:rPr>
              <a:t>in terms of honour. And </a:t>
            </a:r>
            <a:r>
              <a:rPr dirty="0" sz="1200" spc="-10" i="1">
                <a:latin typeface="Arial"/>
                <a:cs typeface="Arial"/>
              </a:rPr>
              <a:t>make  </a:t>
            </a:r>
            <a:r>
              <a:rPr dirty="0" sz="1200" spc="-5" i="1">
                <a:latin typeface="Arial"/>
                <a:cs typeface="Arial"/>
              </a:rPr>
              <a:t>yourself submissively gentle to </a:t>
            </a:r>
            <a:r>
              <a:rPr dirty="0" sz="1200" i="1">
                <a:latin typeface="Arial"/>
                <a:cs typeface="Arial"/>
              </a:rPr>
              <a:t>them with </a:t>
            </a:r>
            <a:r>
              <a:rPr dirty="0" sz="1200" spc="-5" i="1">
                <a:latin typeface="Arial"/>
                <a:cs typeface="Arial"/>
              </a:rPr>
              <a:t>compassion and </a:t>
            </a:r>
            <a:r>
              <a:rPr dirty="0" sz="1200" i="1">
                <a:latin typeface="Arial"/>
                <a:cs typeface="Arial"/>
              </a:rPr>
              <a:t>say: O </a:t>
            </a:r>
            <a:r>
              <a:rPr dirty="0" sz="1200" spc="-10" i="1">
                <a:latin typeface="Arial"/>
                <a:cs typeface="Arial"/>
              </a:rPr>
              <a:t>my </a:t>
            </a:r>
            <a:r>
              <a:rPr dirty="0" sz="1200" spc="-5" i="1">
                <a:latin typeface="Arial"/>
                <a:cs typeface="Arial"/>
              </a:rPr>
              <a:t>Lord bestow  on them compassion even as they cherished </a:t>
            </a:r>
            <a:r>
              <a:rPr dirty="0" sz="1200" spc="-15" i="1">
                <a:latin typeface="Arial"/>
                <a:cs typeface="Arial"/>
              </a:rPr>
              <a:t>me </a:t>
            </a:r>
            <a:r>
              <a:rPr dirty="0" sz="1200" spc="-5" i="1">
                <a:latin typeface="Arial"/>
                <a:cs typeface="Arial"/>
              </a:rPr>
              <a:t>in </a:t>
            </a:r>
            <a:r>
              <a:rPr dirty="0" sz="1200" spc="-10" i="1">
                <a:latin typeface="Arial"/>
                <a:cs typeface="Arial"/>
              </a:rPr>
              <a:t>my </a:t>
            </a:r>
            <a:r>
              <a:rPr dirty="0" sz="1200" spc="-5" i="1">
                <a:latin typeface="Arial"/>
                <a:cs typeface="Arial"/>
              </a:rPr>
              <a:t>childhood." [Qur'an </a:t>
            </a:r>
            <a:r>
              <a:rPr dirty="0" sz="1200" spc="-10" i="1">
                <a:latin typeface="Arial"/>
                <a:cs typeface="Arial"/>
              </a:rPr>
              <a:t>17 </a:t>
            </a:r>
            <a:r>
              <a:rPr dirty="0" sz="1200" spc="-5" i="1">
                <a:latin typeface="Arial"/>
                <a:cs typeface="Arial"/>
              </a:rPr>
              <a:t>23-  24]</a:t>
            </a:r>
            <a:endParaRPr sz="1200">
              <a:latin typeface="Arial"/>
              <a:cs typeface="Arial"/>
            </a:endParaRPr>
          </a:p>
          <a:p>
            <a:pPr algn="just" lvl="1" marL="698500" marR="12700" indent="-228600">
              <a:lnSpc>
                <a:spcPts val="1380"/>
              </a:lnSpc>
              <a:spcBef>
                <a:spcPts val="10"/>
              </a:spcBef>
              <a:buFont typeface="Wingdings"/>
              <a:buChar char=""/>
              <a:tabLst>
                <a:tab pos="699135" algn="l"/>
              </a:tabLst>
            </a:pPr>
            <a:r>
              <a:rPr dirty="0" sz="1200" spc="-5">
                <a:latin typeface="Arial"/>
                <a:cs typeface="Arial"/>
              </a:rPr>
              <a:t>The Prophet replied: </a:t>
            </a:r>
            <a:r>
              <a:rPr dirty="0" sz="1200">
                <a:latin typeface="Arial"/>
                <a:cs typeface="Arial"/>
              </a:rPr>
              <a:t>"No, </a:t>
            </a:r>
            <a:r>
              <a:rPr dirty="0" sz="1200" spc="-5">
                <a:latin typeface="Arial"/>
                <a:cs typeface="Arial"/>
              </a:rPr>
              <a:t>not even a fraction of </a:t>
            </a:r>
            <a:r>
              <a:rPr dirty="0" sz="1200">
                <a:latin typeface="Arial"/>
                <a:cs typeface="Arial"/>
              </a:rPr>
              <a:t>the </a:t>
            </a:r>
            <a:r>
              <a:rPr dirty="0" sz="1200" spc="-5">
                <a:latin typeface="Arial"/>
                <a:cs typeface="Arial"/>
              </a:rPr>
              <a:t>pain she suffered </a:t>
            </a:r>
            <a:r>
              <a:rPr dirty="0" sz="1200">
                <a:latin typeface="Arial"/>
                <a:cs typeface="Arial"/>
              </a:rPr>
              <a:t>at the </a:t>
            </a:r>
            <a:r>
              <a:rPr dirty="0" sz="1200" spc="-5">
                <a:latin typeface="Arial"/>
                <a:cs typeface="Arial"/>
              </a:rPr>
              <a:t>time  </a:t>
            </a:r>
            <a:r>
              <a:rPr dirty="0" sz="1200" spc="-10">
                <a:latin typeface="Arial"/>
                <a:cs typeface="Arial"/>
              </a:rPr>
              <a:t>you </a:t>
            </a:r>
            <a:r>
              <a:rPr dirty="0" sz="1200" spc="-5">
                <a:latin typeface="Arial"/>
                <a:cs typeface="Arial"/>
              </a:rPr>
              <a:t>were </a:t>
            </a:r>
            <a:r>
              <a:rPr dirty="0" sz="1200">
                <a:latin typeface="Arial"/>
                <a:cs typeface="Arial"/>
              </a:rPr>
              <a:t>born.</a:t>
            </a:r>
            <a:r>
              <a:rPr dirty="0" sz="1200" spc="15">
                <a:latin typeface="Arial"/>
                <a:cs typeface="Arial"/>
              </a:rPr>
              <a:t> </a:t>
            </a:r>
            <a:r>
              <a:rPr dirty="0" sz="1200" spc="-805">
                <a:latin typeface="Arial"/>
                <a:cs typeface="Arial"/>
              </a:rPr>
              <a:t>―</a:t>
            </a:r>
            <a:endParaRPr sz="1200">
              <a:latin typeface="Arial"/>
              <a:cs typeface="Arial"/>
            </a:endParaRPr>
          </a:p>
          <a:p>
            <a:pPr algn="just" lvl="1" marL="698500" marR="9525" indent="-228600">
              <a:lnSpc>
                <a:spcPts val="1380"/>
              </a:lnSpc>
              <a:spcBef>
                <a:spcPts val="5"/>
              </a:spcBef>
              <a:buFont typeface="Wingdings"/>
              <a:buChar char=""/>
              <a:tabLst>
                <a:tab pos="699135" algn="l"/>
              </a:tabLst>
            </a:pPr>
            <a:r>
              <a:rPr dirty="0" sz="1200" spc="-5">
                <a:latin typeface="Arial"/>
                <a:cs typeface="Arial"/>
              </a:rPr>
              <a:t>Holy Prophet said: "One </a:t>
            </a:r>
            <a:r>
              <a:rPr dirty="0" sz="1200" spc="-10">
                <a:latin typeface="Arial"/>
                <a:cs typeface="Arial"/>
              </a:rPr>
              <a:t>who </a:t>
            </a:r>
            <a:r>
              <a:rPr dirty="0" sz="1200">
                <a:latin typeface="Arial"/>
                <a:cs typeface="Arial"/>
              </a:rPr>
              <a:t>looks at the face </a:t>
            </a:r>
            <a:r>
              <a:rPr dirty="0" sz="1200" spc="-5">
                <a:latin typeface="Arial"/>
                <a:cs typeface="Arial"/>
              </a:rPr>
              <a:t>of his mother with sentiments of  reverence and love once, is rewarded as </a:t>
            </a:r>
            <a:r>
              <a:rPr dirty="0" sz="1200" spc="-10">
                <a:latin typeface="Arial"/>
                <a:cs typeface="Arial"/>
              </a:rPr>
              <a:t>if he </a:t>
            </a:r>
            <a:r>
              <a:rPr dirty="0" sz="1200" spc="-5">
                <a:latin typeface="Arial"/>
                <a:cs typeface="Arial"/>
              </a:rPr>
              <a:t>has </a:t>
            </a:r>
            <a:r>
              <a:rPr dirty="0" sz="1200">
                <a:latin typeface="Arial"/>
                <a:cs typeface="Arial"/>
              </a:rPr>
              <a:t>performed </a:t>
            </a:r>
            <a:r>
              <a:rPr dirty="0" sz="1200" spc="-5">
                <a:latin typeface="Arial"/>
                <a:cs typeface="Arial"/>
              </a:rPr>
              <a:t>the Pilgrimage." The  people asked him, what </a:t>
            </a:r>
            <a:r>
              <a:rPr dirty="0" sz="1200">
                <a:latin typeface="Arial"/>
                <a:cs typeface="Arial"/>
              </a:rPr>
              <a:t>if </a:t>
            </a:r>
            <a:r>
              <a:rPr dirty="0" sz="1200" spc="-5">
                <a:latin typeface="Arial"/>
                <a:cs typeface="Arial"/>
              </a:rPr>
              <a:t>he looked twice, </a:t>
            </a:r>
            <a:r>
              <a:rPr dirty="0" sz="1200">
                <a:latin typeface="Arial"/>
                <a:cs typeface="Arial"/>
              </a:rPr>
              <a:t>to </a:t>
            </a:r>
            <a:r>
              <a:rPr dirty="0" sz="1200" spc="-5">
                <a:latin typeface="Arial"/>
                <a:cs typeface="Arial"/>
              </a:rPr>
              <a:t>which he replied: </a:t>
            </a:r>
            <a:r>
              <a:rPr dirty="0" sz="1200">
                <a:latin typeface="Arial"/>
                <a:cs typeface="Arial"/>
              </a:rPr>
              <a:t>"It </a:t>
            </a:r>
            <a:r>
              <a:rPr dirty="0" sz="1200" spc="-5">
                <a:latin typeface="Arial"/>
                <a:cs typeface="Arial"/>
              </a:rPr>
              <a:t>is as </a:t>
            </a:r>
            <a:r>
              <a:rPr dirty="0" sz="1200">
                <a:latin typeface="Arial"/>
                <a:cs typeface="Arial"/>
              </a:rPr>
              <a:t>if </a:t>
            </a:r>
            <a:r>
              <a:rPr dirty="0" sz="1200" spc="-5">
                <a:latin typeface="Arial"/>
                <a:cs typeface="Arial"/>
              </a:rPr>
              <a:t>he had  performed </a:t>
            </a:r>
            <a:r>
              <a:rPr dirty="0" sz="1200" spc="-10">
                <a:latin typeface="Arial"/>
                <a:cs typeface="Arial"/>
              </a:rPr>
              <a:t>two </a:t>
            </a:r>
            <a:r>
              <a:rPr dirty="0" sz="1200" spc="-5">
                <a:latin typeface="Arial"/>
                <a:cs typeface="Arial"/>
              </a:rPr>
              <a:t>Pilgrimages, and thrice, as </a:t>
            </a:r>
            <a:r>
              <a:rPr dirty="0" sz="1200" spc="-10">
                <a:latin typeface="Arial"/>
                <a:cs typeface="Arial"/>
              </a:rPr>
              <a:t>if </a:t>
            </a:r>
            <a:r>
              <a:rPr dirty="0" sz="1200" spc="-5">
                <a:latin typeface="Arial"/>
                <a:cs typeface="Arial"/>
              </a:rPr>
              <a:t>he had performed three Pilgrimages  and </a:t>
            </a:r>
            <a:r>
              <a:rPr dirty="0" sz="1200" spc="-10">
                <a:latin typeface="Arial"/>
                <a:cs typeface="Arial"/>
              </a:rPr>
              <a:t>so</a:t>
            </a:r>
            <a:r>
              <a:rPr dirty="0" sz="1200">
                <a:latin typeface="Arial"/>
                <a:cs typeface="Arial"/>
              </a:rPr>
              <a:t> </a:t>
            </a:r>
            <a:r>
              <a:rPr dirty="0" sz="1200" spc="-5">
                <a:latin typeface="Arial"/>
                <a:cs typeface="Arial"/>
              </a:rPr>
              <a:t>on.</a:t>
            </a:r>
            <a:endParaRPr sz="1200">
              <a:latin typeface="Arial"/>
              <a:cs typeface="Arial"/>
            </a:endParaRPr>
          </a:p>
          <a:p>
            <a:pPr algn="just" lvl="1" marL="698500" indent="-229235">
              <a:lnSpc>
                <a:spcPts val="1300"/>
              </a:lnSpc>
              <a:buFont typeface="Wingdings"/>
              <a:buChar char=""/>
              <a:tabLst>
                <a:tab pos="699135" algn="l"/>
              </a:tabLst>
            </a:pPr>
            <a:r>
              <a:rPr dirty="0" sz="1200" spc="-5" i="1">
                <a:latin typeface="Arial"/>
                <a:cs typeface="Arial"/>
              </a:rPr>
              <a:t>"And</a:t>
            </a:r>
            <a:r>
              <a:rPr dirty="0" sz="1200" spc="55" i="1">
                <a:latin typeface="Arial"/>
                <a:cs typeface="Arial"/>
              </a:rPr>
              <a:t> </a:t>
            </a:r>
            <a:r>
              <a:rPr dirty="0" sz="1200" spc="-5" i="1">
                <a:latin typeface="Arial"/>
                <a:cs typeface="Arial"/>
              </a:rPr>
              <a:t>say</a:t>
            </a:r>
            <a:r>
              <a:rPr dirty="0" sz="1200" spc="55" i="1">
                <a:latin typeface="Arial"/>
                <a:cs typeface="Arial"/>
              </a:rPr>
              <a:t> </a:t>
            </a:r>
            <a:r>
              <a:rPr dirty="0" sz="1200" spc="-10" i="1">
                <a:latin typeface="Arial"/>
                <a:cs typeface="Arial"/>
              </a:rPr>
              <a:t>to</a:t>
            </a:r>
            <a:r>
              <a:rPr dirty="0" sz="1200" spc="60" i="1">
                <a:latin typeface="Arial"/>
                <a:cs typeface="Arial"/>
              </a:rPr>
              <a:t> </a:t>
            </a:r>
            <a:r>
              <a:rPr dirty="0" sz="1200" spc="-5" i="1">
                <a:latin typeface="Arial"/>
                <a:cs typeface="Arial"/>
              </a:rPr>
              <a:t>the</a:t>
            </a:r>
            <a:r>
              <a:rPr dirty="0" sz="1200" spc="55" i="1">
                <a:latin typeface="Arial"/>
                <a:cs typeface="Arial"/>
              </a:rPr>
              <a:t> </a:t>
            </a:r>
            <a:r>
              <a:rPr dirty="0" sz="1200" spc="-5" i="1">
                <a:latin typeface="Arial"/>
                <a:cs typeface="Arial"/>
              </a:rPr>
              <a:t>believing</a:t>
            </a:r>
            <a:r>
              <a:rPr dirty="0" sz="1200" spc="50" i="1">
                <a:latin typeface="Arial"/>
                <a:cs typeface="Arial"/>
              </a:rPr>
              <a:t> </a:t>
            </a:r>
            <a:r>
              <a:rPr dirty="0" sz="1200" spc="-5" i="1">
                <a:latin typeface="Arial"/>
                <a:cs typeface="Arial"/>
              </a:rPr>
              <a:t>women</a:t>
            </a:r>
            <a:r>
              <a:rPr dirty="0" sz="1200" spc="60" i="1">
                <a:latin typeface="Arial"/>
                <a:cs typeface="Arial"/>
              </a:rPr>
              <a:t> </a:t>
            </a:r>
            <a:r>
              <a:rPr dirty="0" sz="1200" spc="-5" i="1">
                <a:latin typeface="Arial"/>
                <a:cs typeface="Arial"/>
              </a:rPr>
              <a:t>that</a:t>
            </a:r>
            <a:r>
              <a:rPr dirty="0" sz="1200" spc="60" i="1">
                <a:latin typeface="Arial"/>
                <a:cs typeface="Arial"/>
              </a:rPr>
              <a:t> </a:t>
            </a:r>
            <a:r>
              <a:rPr dirty="0" sz="1200" spc="-5" i="1">
                <a:latin typeface="Arial"/>
                <a:cs typeface="Arial"/>
              </a:rPr>
              <a:t>they</a:t>
            </a:r>
            <a:r>
              <a:rPr dirty="0" sz="1200" spc="50" i="1">
                <a:latin typeface="Arial"/>
                <a:cs typeface="Arial"/>
              </a:rPr>
              <a:t> </a:t>
            </a:r>
            <a:r>
              <a:rPr dirty="0" sz="1200" spc="-5" i="1">
                <a:latin typeface="Arial"/>
                <a:cs typeface="Arial"/>
              </a:rPr>
              <a:t>should</a:t>
            </a:r>
            <a:r>
              <a:rPr dirty="0" sz="1200" spc="60" i="1">
                <a:latin typeface="Arial"/>
                <a:cs typeface="Arial"/>
              </a:rPr>
              <a:t> </a:t>
            </a:r>
            <a:r>
              <a:rPr dirty="0" sz="1200" spc="-5" i="1">
                <a:latin typeface="Arial"/>
                <a:cs typeface="Arial"/>
              </a:rPr>
              <a:t>lower</a:t>
            </a:r>
            <a:r>
              <a:rPr dirty="0" sz="1200" spc="55" i="1">
                <a:latin typeface="Arial"/>
                <a:cs typeface="Arial"/>
              </a:rPr>
              <a:t> </a:t>
            </a:r>
            <a:r>
              <a:rPr dirty="0" sz="1200" spc="5" i="1">
                <a:latin typeface="Arial"/>
                <a:cs typeface="Arial"/>
              </a:rPr>
              <a:t>their</a:t>
            </a:r>
            <a:r>
              <a:rPr dirty="0" sz="1200" spc="45" i="1">
                <a:latin typeface="Arial"/>
                <a:cs typeface="Arial"/>
              </a:rPr>
              <a:t> </a:t>
            </a:r>
            <a:r>
              <a:rPr dirty="0" sz="1200" spc="-10" i="1">
                <a:latin typeface="Arial"/>
                <a:cs typeface="Arial"/>
              </a:rPr>
              <a:t>gaze</a:t>
            </a:r>
            <a:r>
              <a:rPr dirty="0" sz="1200" spc="60" i="1">
                <a:latin typeface="Arial"/>
                <a:cs typeface="Arial"/>
              </a:rPr>
              <a:t> </a:t>
            </a:r>
            <a:r>
              <a:rPr dirty="0" sz="1200" spc="-5" i="1">
                <a:latin typeface="Arial"/>
                <a:cs typeface="Arial"/>
              </a:rPr>
              <a:t>and</a:t>
            </a:r>
            <a:r>
              <a:rPr dirty="0" sz="1200" spc="60" i="1">
                <a:latin typeface="Arial"/>
                <a:cs typeface="Arial"/>
              </a:rPr>
              <a:t> </a:t>
            </a:r>
            <a:r>
              <a:rPr dirty="0" sz="1200" spc="-5" i="1">
                <a:latin typeface="Arial"/>
                <a:cs typeface="Arial"/>
              </a:rPr>
              <a:t>guard</a:t>
            </a:r>
            <a:r>
              <a:rPr dirty="0" sz="1200" spc="60" i="1">
                <a:latin typeface="Arial"/>
                <a:cs typeface="Arial"/>
              </a:rPr>
              <a:t> </a:t>
            </a:r>
            <a:r>
              <a:rPr dirty="0" sz="1200" spc="-10" i="1">
                <a:latin typeface="Arial"/>
                <a:cs typeface="Arial"/>
              </a:rPr>
              <a:t>their</a:t>
            </a:r>
            <a:endParaRPr sz="1200">
              <a:latin typeface="Arial"/>
              <a:cs typeface="Arial"/>
            </a:endParaRPr>
          </a:p>
          <a:p>
            <a:pPr algn="just" marL="698500" marR="8255">
              <a:lnSpc>
                <a:spcPct val="95700"/>
              </a:lnSpc>
              <a:spcBef>
                <a:spcPts val="30"/>
              </a:spcBef>
            </a:pPr>
            <a:r>
              <a:rPr dirty="0" sz="1200" spc="-5" i="1">
                <a:latin typeface="Arial"/>
                <a:cs typeface="Arial"/>
              </a:rPr>
              <a:t>modesty; </a:t>
            </a:r>
            <a:r>
              <a:rPr dirty="0" sz="1200" i="1">
                <a:latin typeface="Arial"/>
                <a:cs typeface="Arial"/>
              </a:rPr>
              <a:t>that </a:t>
            </a:r>
            <a:r>
              <a:rPr dirty="0" sz="1200" spc="-5" i="1">
                <a:latin typeface="Arial"/>
                <a:cs typeface="Arial"/>
              </a:rPr>
              <a:t>they should not display </a:t>
            </a:r>
            <a:r>
              <a:rPr dirty="0" sz="1200" i="1">
                <a:latin typeface="Arial"/>
                <a:cs typeface="Arial"/>
              </a:rPr>
              <a:t>their </a:t>
            </a:r>
            <a:r>
              <a:rPr dirty="0" sz="1200" spc="-5" i="1">
                <a:latin typeface="Arial"/>
                <a:cs typeface="Arial"/>
              </a:rPr>
              <a:t>beauty and their ornaments except  </a:t>
            </a:r>
            <a:r>
              <a:rPr dirty="0" sz="1200" spc="-5" i="1">
                <a:latin typeface="Arial"/>
                <a:cs typeface="Arial"/>
              </a:rPr>
              <a:t>what (must </a:t>
            </a:r>
            <a:r>
              <a:rPr dirty="0" sz="1200" i="1">
                <a:latin typeface="Arial"/>
                <a:cs typeface="Arial"/>
              </a:rPr>
              <a:t>ordinary) </a:t>
            </a:r>
            <a:r>
              <a:rPr dirty="0" sz="1200" spc="-5" i="1">
                <a:latin typeface="Arial"/>
                <a:cs typeface="Arial"/>
              </a:rPr>
              <a:t>appear thereof, that they should draw their veils over </a:t>
            </a:r>
            <a:r>
              <a:rPr dirty="0" sz="1200" i="1">
                <a:latin typeface="Arial"/>
                <a:cs typeface="Arial"/>
              </a:rPr>
              <a:t>their  </a:t>
            </a:r>
            <a:r>
              <a:rPr dirty="0" sz="1200" spc="-5" i="1">
                <a:latin typeface="Arial"/>
                <a:cs typeface="Arial"/>
              </a:rPr>
              <a:t>bosoms and not display </a:t>
            </a:r>
            <a:r>
              <a:rPr dirty="0" sz="1200" i="1">
                <a:latin typeface="Arial"/>
                <a:cs typeface="Arial"/>
              </a:rPr>
              <a:t>their </a:t>
            </a:r>
            <a:r>
              <a:rPr dirty="0" sz="1200" spc="-5" i="1">
                <a:latin typeface="Arial"/>
                <a:cs typeface="Arial"/>
              </a:rPr>
              <a:t>beauty except to their husbands, their </a:t>
            </a:r>
            <a:r>
              <a:rPr dirty="0" sz="1200" spc="5" i="1">
                <a:latin typeface="Arial"/>
                <a:cs typeface="Arial"/>
              </a:rPr>
              <a:t>fathers, </a:t>
            </a:r>
            <a:r>
              <a:rPr dirty="0" sz="1200" spc="-5" i="1">
                <a:latin typeface="Arial"/>
                <a:cs typeface="Arial"/>
              </a:rPr>
              <a:t>their  husbands' fathers, their sons, </a:t>
            </a:r>
            <a:r>
              <a:rPr dirty="0" sz="1200" i="1">
                <a:latin typeface="Arial"/>
                <a:cs typeface="Arial"/>
              </a:rPr>
              <a:t>their </a:t>
            </a:r>
            <a:r>
              <a:rPr dirty="0" sz="1200" spc="-5" i="1">
                <a:latin typeface="Arial"/>
                <a:cs typeface="Arial"/>
              </a:rPr>
              <a:t>husbands' sons, their brothers or </a:t>
            </a:r>
            <a:r>
              <a:rPr dirty="0" sz="1200" i="1">
                <a:latin typeface="Arial"/>
                <a:cs typeface="Arial"/>
              </a:rPr>
              <a:t>their </a:t>
            </a:r>
            <a:r>
              <a:rPr dirty="0" sz="1200" spc="-5" i="1">
                <a:latin typeface="Arial"/>
                <a:cs typeface="Arial"/>
              </a:rPr>
              <a:t>brothers'  sons, or their sisters' sons, or their women, or those </a:t>
            </a:r>
            <a:r>
              <a:rPr dirty="0" sz="1200" i="1">
                <a:latin typeface="Arial"/>
                <a:cs typeface="Arial"/>
              </a:rPr>
              <a:t>whom their </a:t>
            </a:r>
            <a:r>
              <a:rPr dirty="0" sz="1200" spc="-5" i="1">
                <a:latin typeface="Arial"/>
                <a:cs typeface="Arial"/>
              </a:rPr>
              <a:t>right hands  possess, or </a:t>
            </a:r>
            <a:r>
              <a:rPr dirty="0" sz="1200" i="1">
                <a:latin typeface="Arial"/>
                <a:cs typeface="Arial"/>
              </a:rPr>
              <a:t>the </a:t>
            </a:r>
            <a:r>
              <a:rPr dirty="0" sz="1200" spc="-10" i="1">
                <a:latin typeface="Arial"/>
                <a:cs typeface="Arial"/>
              </a:rPr>
              <a:t>male </a:t>
            </a:r>
            <a:r>
              <a:rPr dirty="0" sz="1200" spc="-5" i="1">
                <a:latin typeface="Arial"/>
                <a:cs typeface="Arial"/>
              </a:rPr>
              <a:t>servants not having need (of women), or small children who  have not attained knowledge of what is </a:t>
            </a:r>
            <a:r>
              <a:rPr dirty="0" sz="1200" i="1">
                <a:latin typeface="Arial"/>
                <a:cs typeface="Arial"/>
              </a:rPr>
              <a:t>hidden </a:t>
            </a:r>
            <a:r>
              <a:rPr dirty="0" sz="1200" spc="-5" i="1">
                <a:latin typeface="Arial"/>
                <a:cs typeface="Arial"/>
              </a:rPr>
              <a:t>of women; and let </a:t>
            </a:r>
            <a:r>
              <a:rPr dirty="0" sz="1200" i="1">
                <a:latin typeface="Arial"/>
                <a:cs typeface="Arial"/>
              </a:rPr>
              <a:t>them </a:t>
            </a:r>
            <a:r>
              <a:rPr dirty="0" sz="1200" spc="-5" i="1">
                <a:latin typeface="Arial"/>
                <a:cs typeface="Arial"/>
              </a:rPr>
              <a:t>not strike  </a:t>
            </a:r>
            <a:r>
              <a:rPr dirty="0" sz="1200" i="1">
                <a:latin typeface="Arial"/>
                <a:cs typeface="Arial"/>
              </a:rPr>
              <a:t>their </a:t>
            </a:r>
            <a:r>
              <a:rPr dirty="0" sz="1200" spc="-5" i="1">
                <a:latin typeface="Arial"/>
                <a:cs typeface="Arial"/>
              </a:rPr>
              <a:t>feet in order </a:t>
            </a:r>
            <a:r>
              <a:rPr dirty="0" sz="1200" spc="-10" i="1">
                <a:latin typeface="Arial"/>
                <a:cs typeface="Arial"/>
              </a:rPr>
              <a:t>to </a:t>
            </a:r>
            <a:r>
              <a:rPr dirty="0" sz="1200" spc="-5" i="1">
                <a:latin typeface="Arial"/>
                <a:cs typeface="Arial"/>
              </a:rPr>
              <a:t>draw attention </a:t>
            </a:r>
            <a:r>
              <a:rPr dirty="0" sz="1200" spc="-10" i="1">
                <a:latin typeface="Arial"/>
                <a:cs typeface="Arial"/>
              </a:rPr>
              <a:t>to </a:t>
            </a:r>
            <a:r>
              <a:rPr dirty="0" sz="1200" spc="-5" i="1">
                <a:latin typeface="Arial"/>
                <a:cs typeface="Arial"/>
              </a:rPr>
              <a:t>their hidden embellishment." [Qur'an</a:t>
            </a:r>
            <a:r>
              <a:rPr dirty="0" sz="1200" spc="90" i="1">
                <a:latin typeface="Arial"/>
                <a:cs typeface="Arial"/>
              </a:rPr>
              <a:t> </a:t>
            </a:r>
            <a:r>
              <a:rPr dirty="0" sz="1200" spc="-5" i="1">
                <a:latin typeface="Arial"/>
                <a:cs typeface="Arial"/>
              </a:rPr>
              <a:t>24:31]</a:t>
            </a:r>
            <a:endParaRPr sz="1200">
              <a:latin typeface="Arial"/>
              <a:cs typeface="Arial"/>
            </a:endParaRPr>
          </a:p>
          <a:p>
            <a:pPr algn="just" lvl="1" marL="698500" marR="12700" indent="-228600">
              <a:lnSpc>
                <a:spcPts val="1380"/>
              </a:lnSpc>
              <a:spcBef>
                <a:spcPts val="35"/>
              </a:spcBef>
              <a:buFont typeface="Wingdings"/>
              <a:buChar char=""/>
              <a:tabLst>
                <a:tab pos="699135" algn="l"/>
              </a:tabLst>
            </a:pPr>
            <a:r>
              <a:rPr dirty="0" sz="1200" i="1">
                <a:latin typeface="Arial"/>
                <a:cs typeface="Arial"/>
              </a:rPr>
              <a:t>"O wives </a:t>
            </a:r>
            <a:r>
              <a:rPr dirty="0" sz="1200" spc="-5" i="1">
                <a:latin typeface="Arial"/>
                <a:cs typeface="Arial"/>
              </a:rPr>
              <a:t>of </a:t>
            </a:r>
            <a:r>
              <a:rPr dirty="0" sz="1200" i="1">
                <a:latin typeface="Arial"/>
                <a:cs typeface="Arial"/>
              </a:rPr>
              <a:t>the </a:t>
            </a:r>
            <a:r>
              <a:rPr dirty="0" sz="1200" spc="-5" i="1">
                <a:latin typeface="Arial"/>
                <a:cs typeface="Arial"/>
              </a:rPr>
              <a:t>Prophet, you are </a:t>
            </a:r>
            <a:r>
              <a:rPr dirty="0" sz="1200" i="1">
                <a:latin typeface="Arial"/>
                <a:cs typeface="Arial"/>
              </a:rPr>
              <a:t>not </a:t>
            </a:r>
            <a:r>
              <a:rPr dirty="0" sz="1200" spc="-5" i="1">
                <a:latin typeface="Arial"/>
                <a:cs typeface="Arial"/>
              </a:rPr>
              <a:t>like </a:t>
            </a:r>
            <a:r>
              <a:rPr dirty="0" sz="1200" i="1">
                <a:latin typeface="Arial"/>
                <a:cs typeface="Arial"/>
              </a:rPr>
              <a:t>any other </a:t>
            </a:r>
            <a:r>
              <a:rPr dirty="0" sz="1200" spc="-5" i="1">
                <a:latin typeface="Arial"/>
                <a:cs typeface="Arial"/>
              </a:rPr>
              <a:t>women; if </a:t>
            </a:r>
            <a:r>
              <a:rPr dirty="0" sz="1200" spc="-10" i="1">
                <a:latin typeface="Arial"/>
                <a:cs typeface="Arial"/>
              </a:rPr>
              <a:t>you fear </a:t>
            </a:r>
            <a:r>
              <a:rPr dirty="0" sz="1200" spc="-5" i="1">
                <a:latin typeface="Arial"/>
                <a:cs typeface="Arial"/>
              </a:rPr>
              <a:t>Allah, </a:t>
            </a:r>
            <a:r>
              <a:rPr dirty="0" sz="1200" spc="-10" i="1">
                <a:latin typeface="Arial"/>
                <a:cs typeface="Arial"/>
              </a:rPr>
              <a:t>be </a:t>
            </a:r>
            <a:r>
              <a:rPr dirty="0" sz="1200" spc="-5" i="1">
                <a:latin typeface="Arial"/>
                <a:cs typeface="Arial"/>
              </a:rPr>
              <a:t>not  </a:t>
            </a:r>
            <a:r>
              <a:rPr dirty="0" sz="1200" i="1">
                <a:latin typeface="Arial"/>
                <a:cs typeface="Arial"/>
              </a:rPr>
              <a:t>soft </a:t>
            </a:r>
            <a:r>
              <a:rPr dirty="0" sz="1200" spc="-5" i="1">
                <a:latin typeface="Arial"/>
                <a:cs typeface="Arial"/>
              </a:rPr>
              <a:t>in speech lest he in whose heart is a disease </a:t>
            </a:r>
            <a:r>
              <a:rPr dirty="0" sz="1200" spc="-10" i="1">
                <a:latin typeface="Arial"/>
                <a:cs typeface="Arial"/>
              </a:rPr>
              <a:t>should be </a:t>
            </a:r>
            <a:r>
              <a:rPr dirty="0" sz="1200" spc="-5" i="1">
                <a:latin typeface="Arial"/>
                <a:cs typeface="Arial"/>
              </a:rPr>
              <a:t>moved </a:t>
            </a:r>
            <a:r>
              <a:rPr dirty="0" sz="1200" i="1">
                <a:latin typeface="Arial"/>
                <a:cs typeface="Arial"/>
              </a:rPr>
              <a:t>with </a:t>
            </a:r>
            <a:r>
              <a:rPr dirty="0" sz="1200" spc="-5" i="1">
                <a:latin typeface="Arial"/>
                <a:cs typeface="Arial"/>
              </a:rPr>
              <a:t>desire;  and speak a speech </a:t>
            </a:r>
            <a:r>
              <a:rPr dirty="0" sz="1200" spc="-10" i="1">
                <a:latin typeface="Arial"/>
                <a:cs typeface="Arial"/>
              </a:rPr>
              <a:t>that </a:t>
            </a:r>
            <a:r>
              <a:rPr dirty="0" sz="1200" spc="-5" i="1">
                <a:latin typeface="Arial"/>
                <a:cs typeface="Arial"/>
              </a:rPr>
              <a:t>is just. And </a:t>
            </a:r>
            <a:r>
              <a:rPr dirty="0" sz="1200" i="1">
                <a:latin typeface="Arial"/>
                <a:cs typeface="Arial"/>
              </a:rPr>
              <a:t>stay </a:t>
            </a:r>
            <a:r>
              <a:rPr dirty="0" sz="1200" spc="-5" i="1">
                <a:latin typeface="Arial"/>
                <a:cs typeface="Arial"/>
              </a:rPr>
              <a:t>quietly in </a:t>
            </a:r>
            <a:r>
              <a:rPr dirty="0" sz="1200" i="1">
                <a:latin typeface="Arial"/>
                <a:cs typeface="Arial"/>
              </a:rPr>
              <a:t>your </a:t>
            </a:r>
            <a:r>
              <a:rPr dirty="0" sz="1200" spc="-5" i="1">
                <a:latin typeface="Arial"/>
                <a:cs typeface="Arial"/>
              </a:rPr>
              <a:t>houses and </a:t>
            </a:r>
            <a:r>
              <a:rPr dirty="0" sz="1200" i="1">
                <a:latin typeface="Arial"/>
                <a:cs typeface="Arial"/>
              </a:rPr>
              <a:t>do </a:t>
            </a:r>
            <a:r>
              <a:rPr dirty="0" sz="1200" spc="-5" i="1">
                <a:latin typeface="Arial"/>
                <a:cs typeface="Arial"/>
              </a:rPr>
              <a:t>not </a:t>
            </a:r>
            <a:r>
              <a:rPr dirty="0" sz="1200" spc="-10" i="1">
                <a:latin typeface="Arial"/>
                <a:cs typeface="Arial"/>
              </a:rPr>
              <a:t>make </a:t>
            </a:r>
            <a:r>
              <a:rPr dirty="0" sz="1200" spc="-5" i="1">
                <a:latin typeface="Arial"/>
                <a:cs typeface="Arial"/>
              </a:rPr>
              <a:t>a  dazzling display like that of </a:t>
            </a:r>
            <a:r>
              <a:rPr dirty="0" sz="1200" i="1">
                <a:latin typeface="Arial"/>
                <a:cs typeface="Arial"/>
              </a:rPr>
              <a:t>the </a:t>
            </a:r>
            <a:r>
              <a:rPr dirty="0" sz="1200" spc="-5" i="1">
                <a:latin typeface="Arial"/>
                <a:cs typeface="Arial"/>
              </a:rPr>
              <a:t>former </a:t>
            </a:r>
            <a:r>
              <a:rPr dirty="0" sz="1200" i="1">
                <a:latin typeface="Arial"/>
                <a:cs typeface="Arial"/>
              </a:rPr>
              <a:t>times </a:t>
            </a:r>
            <a:r>
              <a:rPr dirty="0" sz="1200" spc="-5" i="1">
                <a:latin typeface="Arial"/>
                <a:cs typeface="Arial"/>
              </a:rPr>
              <a:t>of ignorance; and establish regular  prayer, and give regular charity and obey Allah and His Apostle. Allah only desires  to remove </a:t>
            </a:r>
            <a:r>
              <a:rPr dirty="0" sz="1200" i="1">
                <a:latin typeface="Arial"/>
                <a:cs typeface="Arial"/>
              </a:rPr>
              <a:t>all </a:t>
            </a:r>
            <a:r>
              <a:rPr dirty="0" sz="1200" spc="-5" i="1">
                <a:latin typeface="Arial"/>
                <a:cs typeface="Arial"/>
              </a:rPr>
              <a:t>abomination </a:t>
            </a:r>
            <a:r>
              <a:rPr dirty="0" sz="1200" i="1">
                <a:latin typeface="Arial"/>
                <a:cs typeface="Arial"/>
              </a:rPr>
              <a:t>from you, O </a:t>
            </a:r>
            <a:r>
              <a:rPr dirty="0" sz="1200" spc="-5" i="1">
                <a:latin typeface="Arial"/>
                <a:cs typeface="Arial"/>
              </a:rPr>
              <a:t>people </a:t>
            </a:r>
            <a:r>
              <a:rPr dirty="0" sz="1200" i="1">
                <a:latin typeface="Arial"/>
                <a:cs typeface="Arial"/>
              </a:rPr>
              <a:t>of the </a:t>
            </a:r>
            <a:r>
              <a:rPr dirty="0" sz="1200" spc="-5" i="1">
                <a:latin typeface="Arial"/>
                <a:cs typeface="Arial"/>
              </a:rPr>
              <a:t>household, and to purify you a  (thorough) purifying." [Qur'an</a:t>
            </a:r>
            <a:r>
              <a:rPr dirty="0" sz="1200" spc="5" i="1">
                <a:latin typeface="Arial"/>
                <a:cs typeface="Arial"/>
              </a:rPr>
              <a:t> </a:t>
            </a:r>
            <a:r>
              <a:rPr dirty="0" sz="1200" spc="-5" i="1">
                <a:latin typeface="Arial"/>
                <a:cs typeface="Arial"/>
              </a:rPr>
              <a:t>33:32,33]</a:t>
            </a:r>
            <a:endParaRPr sz="1200">
              <a:latin typeface="Arial"/>
              <a:cs typeface="Arial"/>
            </a:endParaRPr>
          </a:p>
          <a:p>
            <a:pPr algn="just" lvl="1" marL="698500" marR="6985" indent="-228600">
              <a:lnSpc>
                <a:spcPts val="1380"/>
              </a:lnSpc>
              <a:buFont typeface="Wingdings"/>
              <a:buChar char=""/>
              <a:tabLst>
                <a:tab pos="699135" algn="l"/>
              </a:tabLst>
            </a:pPr>
            <a:r>
              <a:rPr dirty="0" sz="1200" i="1">
                <a:latin typeface="Arial"/>
                <a:cs typeface="Arial"/>
              </a:rPr>
              <a:t>"There </a:t>
            </a:r>
            <a:r>
              <a:rPr dirty="0" sz="1200" spc="-5" i="1">
                <a:latin typeface="Arial"/>
                <a:cs typeface="Arial"/>
              </a:rPr>
              <a:t>is </a:t>
            </a:r>
            <a:r>
              <a:rPr dirty="0" sz="1200" spc="-10" i="1">
                <a:latin typeface="Arial"/>
                <a:cs typeface="Arial"/>
              </a:rPr>
              <a:t>no </a:t>
            </a:r>
            <a:r>
              <a:rPr dirty="0" sz="1200" spc="-5" i="1">
                <a:latin typeface="Arial"/>
                <a:cs typeface="Arial"/>
              </a:rPr>
              <a:t>blame </a:t>
            </a:r>
            <a:r>
              <a:rPr dirty="0" sz="1200" spc="-10" i="1">
                <a:latin typeface="Arial"/>
                <a:cs typeface="Arial"/>
              </a:rPr>
              <a:t>on </a:t>
            </a:r>
            <a:r>
              <a:rPr dirty="0" sz="1200" spc="-5" i="1">
                <a:latin typeface="Arial"/>
                <a:cs typeface="Arial"/>
              </a:rPr>
              <a:t>them (the women) </a:t>
            </a:r>
            <a:r>
              <a:rPr dirty="0" sz="1200" spc="-10" i="1">
                <a:latin typeface="Arial"/>
                <a:cs typeface="Arial"/>
              </a:rPr>
              <a:t>(if </a:t>
            </a:r>
            <a:r>
              <a:rPr dirty="0" sz="1200" i="1">
                <a:latin typeface="Arial"/>
                <a:cs typeface="Arial"/>
              </a:rPr>
              <a:t>they </a:t>
            </a:r>
            <a:r>
              <a:rPr dirty="0" sz="1200" spc="-5" i="1">
                <a:latin typeface="Arial"/>
                <a:cs typeface="Arial"/>
              </a:rPr>
              <a:t>appear unveiled) before </a:t>
            </a:r>
            <a:r>
              <a:rPr dirty="0" sz="1200" i="1">
                <a:latin typeface="Arial"/>
                <a:cs typeface="Arial"/>
              </a:rPr>
              <a:t>their  </a:t>
            </a:r>
            <a:r>
              <a:rPr dirty="0" sz="1200" spc="-5" i="1">
                <a:latin typeface="Arial"/>
                <a:cs typeface="Arial"/>
              </a:rPr>
              <a:t>fathers,</a:t>
            </a:r>
            <a:r>
              <a:rPr dirty="0" sz="1200" spc="55" i="1">
                <a:latin typeface="Arial"/>
                <a:cs typeface="Arial"/>
              </a:rPr>
              <a:t> </a:t>
            </a:r>
            <a:r>
              <a:rPr dirty="0" sz="1200" spc="-5" i="1">
                <a:latin typeface="Arial"/>
                <a:cs typeface="Arial"/>
              </a:rPr>
              <a:t>nor</a:t>
            </a:r>
            <a:r>
              <a:rPr dirty="0" sz="1200" spc="60" i="1">
                <a:latin typeface="Arial"/>
                <a:cs typeface="Arial"/>
              </a:rPr>
              <a:t> </a:t>
            </a:r>
            <a:r>
              <a:rPr dirty="0" sz="1200" spc="-5" i="1">
                <a:latin typeface="Arial"/>
                <a:cs typeface="Arial"/>
              </a:rPr>
              <a:t>their</a:t>
            </a:r>
            <a:r>
              <a:rPr dirty="0" sz="1200" spc="50" i="1">
                <a:latin typeface="Arial"/>
                <a:cs typeface="Arial"/>
              </a:rPr>
              <a:t> </a:t>
            </a:r>
            <a:r>
              <a:rPr dirty="0" sz="1200" spc="-5" i="1">
                <a:latin typeface="Arial"/>
                <a:cs typeface="Arial"/>
              </a:rPr>
              <a:t>sons,</a:t>
            </a:r>
            <a:r>
              <a:rPr dirty="0" sz="1200" spc="50" i="1">
                <a:latin typeface="Arial"/>
                <a:cs typeface="Arial"/>
              </a:rPr>
              <a:t> </a:t>
            </a:r>
            <a:r>
              <a:rPr dirty="0" sz="1200" spc="-5" i="1">
                <a:latin typeface="Arial"/>
                <a:cs typeface="Arial"/>
              </a:rPr>
              <a:t>nor</a:t>
            </a:r>
            <a:r>
              <a:rPr dirty="0" sz="1200" spc="55" i="1">
                <a:latin typeface="Arial"/>
                <a:cs typeface="Arial"/>
              </a:rPr>
              <a:t> </a:t>
            </a:r>
            <a:r>
              <a:rPr dirty="0" sz="1200" i="1">
                <a:latin typeface="Arial"/>
                <a:cs typeface="Arial"/>
              </a:rPr>
              <a:t>their</a:t>
            </a:r>
            <a:r>
              <a:rPr dirty="0" sz="1200" spc="55" i="1">
                <a:latin typeface="Arial"/>
                <a:cs typeface="Arial"/>
              </a:rPr>
              <a:t> </a:t>
            </a:r>
            <a:r>
              <a:rPr dirty="0" sz="1200" spc="-5" i="1">
                <a:latin typeface="Arial"/>
                <a:cs typeface="Arial"/>
              </a:rPr>
              <a:t>brothers,</a:t>
            </a:r>
            <a:r>
              <a:rPr dirty="0" sz="1200" spc="55" i="1">
                <a:latin typeface="Arial"/>
                <a:cs typeface="Arial"/>
              </a:rPr>
              <a:t> </a:t>
            </a:r>
            <a:r>
              <a:rPr dirty="0" sz="1200" spc="-5" i="1">
                <a:latin typeface="Arial"/>
                <a:cs typeface="Arial"/>
              </a:rPr>
              <a:t>nor</a:t>
            </a:r>
            <a:r>
              <a:rPr dirty="0" sz="1200" spc="60" i="1">
                <a:latin typeface="Arial"/>
                <a:cs typeface="Arial"/>
              </a:rPr>
              <a:t> </a:t>
            </a:r>
            <a:r>
              <a:rPr dirty="0" sz="1200" i="1">
                <a:latin typeface="Arial"/>
                <a:cs typeface="Arial"/>
              </a:rPr>
              <a:t>their</a:t>
            </a:r>
            <a:r>
              <a:rPr dirty="0" sz="1200" spc="55" i="1">
                <a:latin typeface="Arial"/>
                <a:cs typeface="Arial"/>
              </a:rPr>
              <a:t> </a:t>
            </a:r>
            <a:r>
              <a:rPr dirty="0" sz="1200" spc="-5" i="1">
                <a:latin typeface="Arial"/>
                <a:cs typeface="Arial"/>
              </a:rPr>
              <a:t>brothers'</a:t>
            </a:r>
            <a:r>
              <a:rPr dirty="0" sz="1200" spc="50" i="1">
                <a:latin typeface="Arial"/>
                <a:cs typeface="Arial"/>
              </a:rPr>
              <a:t> </a:t>
            </a:r>
            <a:r>
              <a:rPr dirty="0" sz="1200" spc="-5" i="1">
                <a:latin typeface="Arial"/>
                <a:cs typeface="Arial"/>
              </a:rPr>
              <a:t>sons,</a:t>
            </a:r>
            <a:r>
              <a:rPr dirty="0" sz="1200" spc="50" i="1">
                <a:latin typeface="Arial"/>
                <a:cs typeface="Arial"/>
              </a:rPr>
              <a:t> </a:t>
            </a:r>
            <a:r>
              <a:rPr dirty="0" sz="1200" spc="-5" i="1">
                <a:latin typeface="Arial"/>
                <a:cs typeface="Arial"/>
              </a:rPr>
              <a:t>nor</a:t>
            </a:r>
            <a:r>
              <a:rPr dirty="0" sz="1200" spc="55" i="1">
                <a:latin typeface="Arial"/>
                <a:cs typeface="Arial"/>
              </a:rPr>
              <a:t> </a:t>
            </a:r>
            <a:r>
              <a:rPr dirty="0" sz="1200" i="1">
                <a:latin typeface="Arial"/>
                <a:cs typeface="Arial"/>
              </a:rPr>
              <a:t>their</a:t>
            </a:r>
            <a:r>
              <a:rPr dirty="0" sz="1200" spc="55" i="1">
                <a:latin typeface="Arial"/>
                <a:cs typeface="Arial"/>
              </a:rPr>
              <a:t> </a:t>
            </a:r>
            <a:r>
              <a:rPr dirty="0" sz="1200" spc="-5" i="1">
                <a:latin typeface="Arial"/>
                <a:cs typeface="Arial"/>
              </a:rPr>
              <a:t>sisters'</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176</a:t>
            </a:r>
            <a:endParaRPr sz="1200">
              <a:latin typeface="Times New Roman"/>
              <a:cs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2535" cy="9338310"/>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40"/>
              </a:spcBef>
            </a:pPr>
            <a:endParaRPr sz="1300">
              <a:latin typeface="Times New Roman"/>
              <a:cs typeface="Times New Roman"/>
            </a:endParaRPr>
          </a:p>
          <a:p>
            <a:pPr algn="just" marL="698500" marR="12700">
              <a:lnSpc>
                <a:spcPts val="1380"/>
              </a:lnSpc>
            </a:pPr>
            <a:r>
              <a:rPr dirty="0" sz="1200" spc="-5" i="1">
                <a:latin typeface="Arial"/>
                <a:cs typeface="Arial"/>
              </a:rPr>
              <a:t>sons, nor their own women, nor of what their right hand's possess. And fear Allah;  </a:t>
            </a:r>
            <a:r>
              <a:rPr dirty="0" sz="1200" spc="-5" i="1">
                <a:latin typeface="Arial"/>
                <a:cs typeface="Arial"/>
              </a:rPr>
              <a:t>surely Allah is a witness </a:t>
            </a:r>
            <a:r>
              <a:rPr dirty="0" sz="1200" i="1">
                <a:latin typeface="Arial"/>
                <a:cs typeface="Arial"/>
              </a:rPr>
              <a:t>of </a:t>
            </a:r>
            <a:r>
              <a:rPr dirty="0" sz="1200" spc="-5" i="1">
                <a:latin typeface="Arial"/>
                <a:cs typeface="Arial"/>
              </a:rPr>
              <a:t>all things," [Qur'an </a:t>
            </a:r>
            <a:r>
              <a:rPr dirty="0" sz="1200" spc="-5">
                <a:latin typeface="Arial"/>
                <a:cs typeface="Arial"/>
              </a:rPr>
              <a:t>33:55]</a:t>
            </a:r>
            <a:r>
              <a:rPr dirty="0" sz="1200" spc="45">
                <a:latin typeface="Arial"/>
                <a:cs typeface="Arial"/>
              </a:rPr>
              <a:t> </a:t>
            </a:r>
            <a:r>
              <a:rPr dirty="0" sz="1200" i="1">
                <a:latin typeface="Arial"/>
                <a:cs typeface="Arial"/>
              </a:rPr>
              <a:t>"</a:t>
            </a:r>
            <a:endParaRPr sz="1200">
              <a:latin typeface="Arial"/>
              <a:cs typeface="Arial"/>
            </a:endParaRPr>
          </a:p>
          <a:p>
            <a:pPr algn="just" marL="698500" marR="5080" indent="-228600">
              <a:lnSpc>
                <a:spcPts val="1380"/>
              </a:lnSpc>
              <a:buFont typeface="Wingdings"/>
              <a:buChar char=""/>
              <a:tabLst>
                <a:tab pos="699135" algn="l"/>
              </a:tabLst>
            </a:pPr>
            <a:r>
              <a:rPr dirty="0" sz="1200" i="1">
                <a:latin typeface="Arial"/>
                <a:cs typeface="Arial"/>
              </a:rPr>
              <a:t>"O </a:t>
            </a:r>
            <a:r>
              <a:rPr dirty="0" sz="1200" spc="-5" i="1">
                <a:latin typeface="Arial"/>
                <a:cs typeface="Arial"/>
              </a:rPr>
              <a:t>Prophet </a:t>
            </a:r>
            <a:r>
              <a:rPr dirty="0" sz="1200" i="1">
                <a:latin typeface="Arial"/>
                <a:cs typeface="Arial"/>
              </a:rPr>
              <a:t>tell </a:t>
            </a:r>
            <a:r>
              <a:rPr dirty="0" sz="1200" spc="-5" i="1">
                <a:latin typeface="Arial"/>
                <a:cs typeface="Arial"/>
              </a:rPr>
              <a:t>your </a:t>
            </a:r>
            <a:r>
              <a:rPr dirty="0" sz="1200" i="1">
                <a:latin typeface="Arial"/>
                <a:cs typeface="Arial"/>
              </a:rPr>
              <a:t>wives </a:t>
            </a:r>
            <a:r>
              <a:rPr dirty="0" sz="1200" spc="-5" i="1">
                <a:latin typeface="Arial"/>
                <a:cs typeface="Arial"/>
              </a:rPr>
              <a:t>and your daughters and </a:t>
            </a:r>
            <a:r>
              <a:rPr dirty="0" sz="1200" i="1">
                <a:latin typeface="Arial"/>
                <a:cs typeface="Arial"/>
              </a:rPr>
              <a:t>the </a:t>
            </a:r>
            <a:r>
              <a:rPr dirty="0" sz="1200" spc="-5" i="1">
                <a:latin typeface="Arial"/>
                <a:cs typeface="Arial"/>
              </a:rPr>
              <a:t>believing </a:t>
            </a:r>
            <a:r>
              <a:rPr dirty="0" sz="1200" spc="-10" i="1">
                <a:latin typeface="Arial"/>
                <a:cs typeface="Arial"/>
              </a:rPr>
              <a:t>women </a:t>
            </a:r>
            <a:r>
              <a:rPr dirty="0" sz="1200" i="1">
                <a:latin typeface="Arial"/>
                <a:cs typeface="Arial"/>
              </a:rPr>
              <a:t>that </a:t>
            </a:r>
            <a:r>
              <a:rPr dirty="0" sz="1200" spc="-10" i="1">
                <a:latin typeface="Arial"/>
                <a:cs typeface="Arial"/>
              </a:rPr>
              <a:t>they  </a:t>
            </a:r>
            <a:r>
              <a:rPr dirty="0" sz="1200" i="1">
                <a:latin typeface="Arial"/>
                <a:cs typeface="Arial"/>
              </a:rPr>
              <a:t>cast </a:t>
            </a:r>
            <a:r>
              <a:rPr dirty="0" sz="1200" spc="-5" i="1">
                <a:latin typeface="Arial"/>
                <a:cs typeface="Arial"/>
              </a:rPr>
              <a:t>their outer garments over </a:t>
            </a:r>
            <a:r>
              <a:rPr dirty="0" sz="1200" i="1">
                <a:latin typeface="Arial"/>
                <a:cs typeface="Arial"/>
              </a:rPr>
              <a:t>their </a:t>
            </a:r>
            <a:r>
              <a:rPr dirty="0" sz="1200" spc="-5" i="1">
                <a:latin typeface="Arial"/>
                <a:cs typeface="Arial"/>
              </a:rPr>
              <a:t>persons (when abroad). This will </a:t>
            </a:r>
            <a:r>
              <a:rPr dirty="0" sz="1200" spc="-10" i="1">
                <a:latin typeface="Arial"/>
                <a:cs typeface="Arial"/>
              </a:rPr>
              <a:t>be more  </a:t>
            </a:r>
            <a:r>
              <a:rPr dirty="0" sz="1200" spc="-5" i="1">
                <a:latin typeface="Arial"/>
                <a:cs typeface="Arial"/>
              </a:rPr>
              <a:t>proper, that they should be known as such and not molested. And Allah is </a:t>
            </a:r>
            <a:r>
              <a:rPr dirty="0" sz="1200" spc="10" i="1">
                <a:latin typeface="Arial"/>
                <a:cs typeface="Arial"/>
              </a:rPr>
              <a:t>oft-  </a:t>
            </a:r>
            <a:r>
              <a:rPr dirty="0" sz="1200" spc="-5" i="1">
                <a:latin typeface="Arial"/>
                <a:cs typeface="Arial"/>
              </a:rPr>
              <a:t>Forgiving and most-Merciful." [Qur'an</a:t>
            </a:r>
            <a:r>
              <a:rPr dirty="0" sz="1200" spc="10" i="1">
                <a:latin typeface="Arial"/>
                <a:cs typeface="Arial"/>
              </a:rPr>
              <a:t> </a:t>
            </a:r>
            <a:r>
              <a:rPr dirty="0" sz="1200" spc="-5" i="1">
                <a:latin typeface="Arial"/>
                <a:cs typeface="Arial"/>
              </a:rPr>
              <a:t>33:59]</a:t>
            </a:r>
            <a:endParaRPr sz="1200">
              <a:latin typeface="Arial"/>
              <a:cs typeface="Arial"/>
            </a:endParaRPr>
          </a:p>
          <a:p>
            <a:pPr>
              <a:lnSpc>
                <a:spcPct val="100000"/>
              </a:lnSpc>
              <a:spcBef>
                <a:spcPts val="30"/>
              </a:spcBef>
            </a:pPr>
            <a:endParaRPr sz="1100">
              <a:latin typeface="Arial"/>
              <a:cs typeface="Arial"/>
            </a:endParaRPr>
          </a:p>
          <a:p>
            <a:pPr marL="12700">
              <a:lnSpc>
                <a:spcPct val="100000"/>
              </a:lnSpc>
              <a:spcBef>
                <a:spcPts val="5"/>
              </a:spcBef>
            </a:pPr>
            <a:r>
              <a:rPr dirty="0" u="heavy" sz="1200" b="1" i="1">
                <a:uFill>
                  <a:solidFill>
                    <a:srgbClr val="000000"/>
                  </a:solidFill>
                </a:uFill>
                <a:latin typeface="Arial"/>
                <a:cs typeface="Arial"/>
              </a:rPr>
              <a:t>Status of </a:t>
            </a:r>
            <a:r>
              <a:rPr dirty="0" u="heavy" sz="1200" spc="-5" b="1" i="1">
                <a:uFill>
                  <a:solidFill>
                    <a:srgbClr val="000000"/>
                  </a:solidFill>
                </a:uFill>
                <a:latin typeface="Arial"/>
                <a:cs typeface="Arial"/>
              </a:rPr>
              <a:t>Women </a:t>
            </a:r>
            <a:r>
              <a:rPr dirty="0" u="heavy" sz="1200" b="1" i="1">
                <a:uFill>
                  <a:solidFill>
                    <a:srgbClr val="000000"/>
                  </a:solidFill>
                </a:uFill>
                <a:latin typeface="Arial"/>
                <a:cs typeface="Arial"/>
              </a:rPr>
              <a:t>in </a:t>
            </a:r>
            <a:r>
              <a:rPr dirty="0" u="heavy" sz="1200" spc="-5" b="1" i="1">
                <a:uFill>
                  <a:solidFill>
                    <a:srgbClr val="000000"/>
                  </a:solidFill>
                </a:uFill>
                <a:latin typeface="Arial"/>
                <a:cs typeface="Arial"/>
              </a:rPr>
              <a:t>Islam</a:t>
            </a:r>
            <a:endParaRPr sz="1200">
              <a:latin typeface="Arial"/>
              <a:cs typeface="Arial"/>
            </a:endParaRPr>
          </a:p>
          <a:p>
            <a:pPr>
              <a:lnSpc>
                <a:spcPct val="100000"/>
              </a:lnSpc>
              <a:spcBef>
                <a:spcPts val="35"/>
              </a:spcBef>
            </a:pPr>
            <a:endParaRPr sz="1200">
              <a:latin typeface="Arial"/>
              <a:cs typeface="Arial"/>
            </a:endParaRPr>
          </a:p>
          <a:p>
            <a:pPr algn="just" marL="469900" marR="14604" indent="-228600">
              <a:lnSpc>
                <a:spcPts val="1380"/>
              </a:lnSpc>
              <a:buAutoNum type="arabicPeriod"/>
              <a:tabLst>
                <a:tab pos="470534" algn="l"/>
              </a:tabLst>
            </a:pPr>
            <a:r>
              <a:rPr dirty="0" sz="1200">
                <a:latin typeface="Arial"/>
                <a:cs typeface="Arial"/>
              </a:rPr>
              <a:t>Woman </a:t>
            </a:r>
            <a:r>
              <a:rPr dirty="0" sz="1200" spc="-5">
                <a:latin typeface="Arial"/>
                <a:cs typeface="Arial"/>
              </a:rPr>
              <a:t>is recognized by </a:t>
            </a:r>
            <a:r>
              <a:rPr dirty="0" sz="1200">
                <a:latin typeface="Arial"/>
                <a:cs typeface="Arial"/>
              </a:rPr>
              <a:t>Islam </a:t>
            </a:r>
            <a:r>
              <a:rPr dirty="0" sz="1200" spc="-5">
                <a:latin typeface="Arial"/>
                <a:cs typeface="Arial"/>
              </a:rPr>
              <a:t>as a </a:t>
            </a:r>
            <a:r>
              <a:rPr dirty="0" sz="1200">
                <a:latin typeface="Arial"/>
                <a:cs typeface="Arial"/>
              </a:rPr>
              <a:t>full </a:t>
            </a:r>
            <a:r>
              <a:rPr dirty="0" sz="1200" spc="-5">
                <a:latin typeface="Arial"/>
                <a:cs typeface="Arial"/>
              </a:rPr>
              <a:t>and equal partner of man </a:t>
            </a:r>
            <a:r>
              <a:rPr dirty="0" sz="1200" spc="-10">
                <a:latin typeface="Arial"/>
                <a:cs typeface="Arial"/>
              </a:rPr>
              <a:t>in </a:t>
            </a:r>
            <a:r>
              <a:rPr dirty="0" sz="1200" spc="-5">
                <a:latin typeface="Arial"/>
                <a:cs typeface="Arial"/>
              </a:rPr>
              <a:t>the procreation of  humankind. He is the </a:t>
            </a:r>
            <a:r>
              <a:rPr dirty="0" sz="1200">
                <a:latin typeface="Arial"/>
                <a:cs typeface="Arial"/>
              </a:rPr>
              <a:t>father; </a:t>
            </a:r>
            <a:r>
              <a:rPr dirty="0" sz="1200" spc="-10">
                <a:latin typeface="Arial"/>
                <a:cs typeface="Arial"/>
              </a:rPr>
              <a:t>she </a:t>
            </a:r>
            <a:r>
              <a:rPr dirty="0" sz="1200" spc="-5">
                <a:latin typeface="Arial"/>
                <a:cs typeface="Arial"/>
              </a:rPr>
              <a:t>is </a:t>
            </a:r>
            <a:r>
              <a:rPr dirty="0" sz="1200">
                <a:latin typeface="Arial"/>
                <a:cs typeface="Arial"/>
              </a:rPr>
              <a:t>the </a:t>
            </a:r>
            <a:r>
              <a:rPr dirty="0" sz="1200" spc="-5">
                <a:latin typeface="Arial"/>
                <a:cs typeface="Arial"/>
              </a:rPr>
              <a:t>mother, and both </a:t>
            </a:r>
            <a:r>
              <a:rPr dirty="0" sz="1200" spc="-10">
                <a:latin typeface="Arial"/>
                <a:cs typeface="Arial"/>
              </a:rPr>
              <a:t>are </a:t>
            </a:r>
            <a:r>
              <a:rPr dirty="0" sz="1200" spc="-5">
                <a:latin typeface="Arial"/>
                <a:cs typeface="Arial"/>
              </a:rPr>
              <a:t>essential </a:t>
            </a:r>
            <a:r>
              <a:rPr dirty="0" sz="1200">
                <a:latin typeface="Arial"/>
                <a:cs typeface="Arial"/>
              </a:rPr>
              <a:t>for</a:t>
            </a:r>
            <a:r>
              <a:rPr dirty="0" sz="1200" spc="45">
                <a:latin typeface="Arial"/>
                <a:cs typeface="Arial"/>
              </a:rPr>
              <a:t> </a:t>
            </a:r>
            <a:r>
              <a:rPr dirty="0" sz="1200" spc="-5">
                <a:latin typeface="Arial"/>
                <a:cs typeface="Arial"/>
              </a:rPr>
              <a:t>life.</a:t>
            </a:r>
            <a:endParaRPr sz="1200">
              <a:latin typeface="Arial"/>
              <a:cs typeface="Arial"/>
            </a:endParaRPr>
          </a:p>
          <a:p>
            <a:pPr algn="just" marL="469900" marR="6985" indent="-228600">
              <a:lnSpc>
                <a:spcPts val="1380"/>
              </a:lnSpc>
              <a:buAutoNum type="arabicPeriod"/>
              <a:tabLst>
                <a:tab pos="470534" algn="l"/>
              </a:tabLst>
            </a:pPr>
            <a:r>
              <a:rPr dirty="0" sz="1200" spc="-5">
                <a:latin typeface="Arial"/>
                <a:cs typeface="Arial"/>
              </a:rPr>
              <a:t>She is equal </a:t>
            </a:r>
            <a:r>
              <a:rPr dirty="0" sz="1200">
                <a:latin typeface="Arial"/>
                <a:cs typeface="Arial"/>
              </a:rPr>
              <a:t>to </a:t>
            </a:r>
            <a:r>
              <a:rPr dirty="0" sz="1200" spc="-5">
                <a:latin typeface="Arial"/>
                <a:cs typeface="Arial"/>
              </a:rPr>
              <a:t>man in bearing personal and </a:t>
            </a:r>
            <a:r>
              <a:rPr dirty="0" sz="1200">
                <a:latin typeface="Arial"/>
                <a:cs typeface="Arial"/>
              </a:rPr>
              <a:t>common </a:t>
            </a:r>
            <a:r>
              <a:rPr dirty="0" sz="1200" spc="-5">
                <a:latin typeface="Arial"/>
                <a:cs typeface="Arial"/>
              </a:rPr>
              <a:t>responsibilities and in receiving  rewards </a:t>
            </a:r>
            <a:r>
              <a:rPr dirty="0" sz="1200">
                <a:latin typeface="Arial"/>
                <a:cs typeface="Arial"/>
              </a:rPr>
              <a:t>for </a:t>
            </a:r>
            <a:r>
              <a:rPr dirty="0" sz="1200" spc="-5">
                <a:latin typeface="Arial"/>
                <a:cs typeface="Arial"/>
              </a:rPr>
              <a:t>her </a:t>
            </a:r>
            <a:r>
              <a:rPr dirty="0" sz="1200" spc="-10">
                <a:latin typeface="Arial"/>
                <a:cs typeface="Arial"/>
              </a:rPr>
              <a:t>deeds. </a:t>
            </a:r>
            <a:r>
              <a:rPr dirty="0" sz="1200" spc="-5">
                <a:latin typeface="Arial"/>
                <a:cs typeface="Arial"/>
              </a:rPr>
              <a:t>She is acknowledged as an independent personality, in  possession of human qualities </a:t>
            </a:r>
            <a:r>
              <a:rPr dirty="0" sz="1200">
                <a:latin typeface="Arial"/>
                <a:cs typeface="Arial"/>
              </a:rPr>
              <a:t>and </a:t>
            </a:r>
            <a:r>
              <a:rPr dirty="0" sz="1200" spc="-5">
                <a:latin typeface="Arial"/>
                <a:cs typeface="Arial"/>
              </a:rPr>
              <a:t>worthy </a:t>
            </a:r>
            <a:r>
              <a:rPr dirty="0" sz="1200">
                <a:latin typeface="Arial"/>
                <a:cs typeface="Arial"/>
              </a:rPr>
              <a:t>of </a:t>
            </a:r>
            <a:r>
              <a:rPr dirty="0" sz="1200" spc="-5">
                <a:latin typeface="Arial"/>
                <a:cs typeface="Arial"/>
              </a:rPr>
              <a:t>spiritual</a:t>
            </a:r>
            <a:r>
              <a:rPr dirty="0" sz="1200" spc="5">
                <a:latin typeface="Arial"/>
                <a:cs typeface="Arial"/>
              </a:rPr>
              <a:t> </a:t>
            </a:r>
            <a:r>
              <a:rPr dirty="0" sz="1200" spc="-5">
                <a:latin typeface="Arial"/>
                <a:cs typeface="Arial"/>
              </a:rPr>
              <a:t>aspirations.</a:t>
            </a:r>
            <a:endParaRPr sz="1200">
              <a:latin typeface="Arial"/>
              <a:cs typeface="Arial"/>
            </a:endParaRPr>
          </a:p>
          <a:p>
            <a:pPr algn="just" marL="469900" marR="5715" indent="-228600">
              <a:lnSpc>
                <a:spcPts val="1380"/>
              </a:lnSpc>
              <a:buAutoNum type="arabicPeriod"/>
              <a:tabLst>
                <a:tab pos="470534" algn="l"/>
              </a:tabLst>
            </a:pPr>
            <a:r>
              <a:rPr dirty="0" sz="1200" spc="-5">
                <a:latin typeface="Arial"/>
                <a:cs typeface="Arial"/>
              </a:rPr>
              <a:t>She is equal to man </a:t>
            </a:r>
            <a:r>
              <a:rPr dirty="0" sz="1200" spc="-10">
                <a:latin typeface="Arial"/>
                <a:cs typeface="Arial"/>
              </a:rPr>
              <a:t>in </a:t>
            </a:r>
            <a:r>
              <a:rPr dirty="0" sz="1200" spc="-5">
                <a:latin typeface="Arial"/>
                <a:cs typeface="Arial"/>
              </a:rPr>
              <a:t>the pursuit of education and knowledge. </a:t>
            </a:r>
            <a:r>
              <a:rPr dirty="0" sz="1200">
                <a:latin typeface="Arial"/>
                <a:cs typeface="Arial"/>
              </a:rPr>
              <a:t>When </a:t>
            </a:r>
            <a:r>
              <a:rPr dirty="0" sz="1200" spc="-5">
                <a:latin typeface="Arial"/>
                <a:cs typeface="Arial"/>
              </a:rPr>
              <a:t>Islam </a:t>
            </a:r>
            <a:r>
              <a:rPr dirty="0" sz="1200" spc="5">
                <a:latin typeface="Arial"/>
                <a:cs typeface="Arial"/>
              </a:rPr>
              <a:t>enjoins  </a:t>
            </a:r>
            <a:r>
              <a:rPr dirty="0" sz="1200">
                <a:latin typeface="Arial"/>
                <a:cs typeface="Arial"/>
              </a:rPr>
              <a:t>the </a:t>
            </a:r>
            <a:r>
              <a:rPr dirty="0" sz="1200" spc="-5">
                <a:latin typeface="Arial"/>
                <a:cs typeface="Arial"/>
              </a:rPr>
              <a:t>seeking of knowledge upon Muslims, </a:t>
            </a:r>
            <a:r>
              <a:rPr dirty="0" sz="1200">
                <a:latin typeface="Arial"/>
                <a:cs typeface="Arial"/>
              </a:rPr>
              <a:t>it makes </a:t>
            </a:r>
            <a:r>
              <a:rPr dirty="0" sz="1200" spc="-10">
                <a:latin typeface="Arial"/>
                <a:cs typeface="Arial"/>
              </a:rPr>
              <a:t>no </a:t>
            </a:r>
            <a:r>
              <a:rPr dirty="0" sz="1200" spc="-5">
                <a:latin typeface="Arial"/>
                <a:cs typeface="Arial"/>
              </a:rPr>
              <a:t>distinction between man </a:t>
            </a:r>
            <a:r>
              <a:rPr dirty="0" sz="1200" spc="-10">
                <a:latin typeface="Arial"/>
                <a:cs typeface="Arial"/>
              </a:rPr>
              <a:t>and  </a:t>
            </a:r>
            <a:r>
              <a:rPr dirty="0" sz="1200" spc="-5">
                <a:latin typeface="Arial"/>
                <a:cs typeface="Arial"/>
              </a:rPr>
              <a:t>woman.</a:t>
            </a:r>
            <a:endParaRPr sz="1200">
              <a:latin typeface="Arial"/>
              <a:cs typeface="Arial"/>
            </a:endParaRPr>
          </a:p>
          <a:p>
            <a:pPr algn="just" marL="469900" marR="12065" indent="-228600">
              <a:lnSpc>
                <a:spcPts val="1380"/>
              </a:lnSpc>
              <a:buAutoNum type="arabicPeriod"/>
              <a:tabLst>
                <a:tab pos="470534" algn="l"/>
              </a:tabLst>
            </a:pPr>
            <a:r>
              <a:rPr dirty="0" sz="1200" spc="-5">
                <a:latin typeface="Arial"/>
                <a:cs typeface="Arial"/>
              </a:rPr>
              <a:t>She is entitled </a:t>
            </a:r>
            <a:r>
              <a:rPr dirty="0" sz="1200">
                <a:latin typeface="Arial"/>
                <a:cs typeface="Arial"/>
              </a:rPr>
              <a:t>to </a:t>
            </a:r>
            <a:r>
              <a:rPr dirty="0" sz="1200" spc="-5">
                <a:latin typeface="Arial"/>
                <a:cs typeface="Arial"/>
              </a:rPr>
              <a:t>freedom of expression as </a:t>
            </a:r>
            <a:r>
              <a:rPr dirty="0" sz="1200">
                <a:latin typeface="Arial"/>
                <a:cs typeface="Arial"/>
              </a:rPr>
              <a:t>much </a:t>
            </a:r>
            <a:r>
              <a:rPr dirty="0" sz="1200" spc="-5">
                <a:latin typeface="Arial"/>
                <a:cs typeface="Arial"/>
              </a:rPr>
              <a:t>as </a:t>
            </a:r>
            <a:r>
              <a:rPr dirty="0" sz="1200">
                <a:latin typeface="Arial"/>
                <a:cs typeface="Arial"/>
              </a:rPr>
              <a:t>man is. </a:t>
            </a:r>
            <a:r>
              <a:rPr dirty="0" sz="1200" spc="-5">
                <a:latin typeface="Arial"/>
                <a:cs typeface="Arial"/>
              </a:rPr>
              <a:t>Her sound opinions are  </a:t>
            </a:r>
            <a:r>
              <a:rPr dirty="0" sz="1200">
                <a:latin typeface="Arial"/>
                <a:cs typeface="Arial"/>
              </a:rPr>
              <a:t>taken </a:t>
            </a:r>
            <a:r>
              <a:rPr dirty="0" sz="1200" spc="-5">
                <a:latin typeface="Arial"/>
                <a:cs typeface="Arial"/>
              </a:rPr>
              <a:t>into consideration and cannot </a:t>
            </a:r>
            <a:r>
              <a:rPr dirty="0" sz="1200" spc="-10">
                <a:latin typeface="Arial"/>
                <a:cs typeface="Arial"/>
              </a:rPr>
              <a:t>be </a:t>
            </a:r>
            <a:r>
              <a:rPr dirty="0" sz="1200" spc="-5">
                <a:latin typeface="Arial"/>
                <a:cs typeface="Arial"/>
              </a:rPr>
              <a:t>disregarded </a:t>
            </a:r>
            <a:r>
              <a:rPr dirty="0" sz="1200">
                <a:latin typeface="Arial"/>
                <a:cs typeface="Arial"/>
              </a:rPr>
              <a:t>just </a:t>
            </a:r>
            <a:r>
              <a:rPr dirty="0" sz="1200" spc="-5">
                <a:latin typeface="Arial"/>
                <a:cs typeface="Arial"/>
              </a:rPr>
              <a:t>because she happen </a:t>
            </a:r>
            <a:r>
              <a:rPr dirty="0" sz="1200">
                <a:latin typeface="Arial"/>
                <a:cs typeface="Arial"/>
              </a:rPr>
              <a:t>to  belong to </a:t>
            </a:r>
            <a:r>
              <a:rPr dirty="0" sz="1200" spc="-5">
                <a:latin typeface="Arial"/>
                <a:cs typeface="Arial"/>
              </a:rPr>
              <a:t>the female</a:t>
            </a:r>
            <a:r>
              <a:rPr dirty="0" sz="1200" spc="-30">
                <a:latin typeface="Arial"/>
                <a:cs typeface="Arial"/>
              </a:rPr>
              <a:t> </a:t>
            </a:r>
            <a:r>
              <a:rPr dirty="0" sz="1200" spc="-10">
                <a:latin typeface="Arial"/>
                <a:cs typeface="Arial"/>
              </a:rPr>
              <a:t>sex.</a:t>
            </a:r>
            <a:endParaRPr sz="1200">
              <a:latin typeface="Arial"/>
              <a:cs typeface="Arial"/>
            </a:endParaRPr>
          </a:p>
          <a:p>
            <a:pPr algn="just" marL="469900" marR="7620" indent="-228600">
              <a:lnSpc>
                <a:spcPts val="1380"/>
              </a:lnSpc>
              <a:buAutoNum type="arabicPeriod"/>
              <a:tabLst>
                <a:tab pos="470534" algn="l"/>
              </a:tabLst>
            </a:pPr>
            <a:r>
              <a:rPr dirty="0" sz="1200" spc="-5">
                <a:latin typeface="Arial"/>
                <a:cs typeface="Arial"/>
              </a:rPr>
              <a:t>Historical records show </a:t>
            </a:r>
            <a:r>
              <a:rPr dirty="0" sz="1200">
                <a:latin typeface="Arial"/>
                <a:cs typeface="Arial"/>
              </a:rPr>
              <a:t>that </a:t>
            </a:r>
            <a:r>
              <a:rPr dirty="0" sz="1200" spc="-5">
                <a:latin typeface="Arial"/>
                <a:cs typeface="Arial"/>
              </a:rPr>
              <a:t>women participated </a:t>
            </a:r>
            <a:r>
              <a:rPr dirty="0" sz="1200" spc="-10">
                <a:latin typeface="Arial"/>
                <a:cs typeface="Arial"/>
              </a:rPr>
              <a:t>in </a:t>
            </a:r>
            <a:r>
              <a:rPr dirty="0" sz="1200" spc="-5">
                <a:latin typeface="Arial"/>
                <a:cs typeface="Arial"/>
              </a:rPr>
              <a:t>public </a:t>
            </a:r>
            <a:r>
              <a:rPr dirty="0" sz="1200">
                <a:latin typeface="Arial"/>
                <a:cs typeface="Arial"/>
              </a:rPr>
              <a:t>life </a:t>
            </a:r>
            <a:r>
              <a:rPr dirty="0" sz="1200" spc="-5">
                <a:latin typeface="Arial"/>
                <a:cs typeface="Arial"/>
              </a:rPr>
              <a:t>with </a:t>
            </a:r>
            <a:r>
              <a:rPr dirty="0" sz="1200">
                <a:latin typeface="Arial"/>
                <a:cs typeface="Arial"/>
              </a:rPr>
              <a:t>the </a:t>
            </a:r>
            <a:r>
              <a:rPr dirty="0" sz="1200" spc="-5">
                <a:latin typeface="Arial"/>
                <a:cs typeface="Arial"/>
              </a:rPr>
              <a:t>early Muslims,  especially in </a:t>
            </a:r>
            <a:r>
              <a:rPr dirty="0" sz="1200">
                <a:latin typeface="Arial"/>
                <a:cs typeface="Arial"/>
              </a:rPr>
              <a:t>times </a:t>
            </a:r>
            <a:r>
              <a:rPr dirty="0" sz="1200" spc="-5">
                <a:latin typeface="Arial"/>
                <a:cs typeface="Arial"/>
              </a:rPr>
              <a:t>of emergencies. </a:t>
            </a:r>
            <a:r>
              <a:rPr dirty="0" sz="1200">
                <a:latin typeface="Arial"/>
                <a:cs typeface="Arial"/>
              </a:rPr>
              <a:t>Women </a:t>
            </a:r>
            <a:r>
              <a:rPr dirty="0" sz="1200" spc="-5">
                <a:latin typeface="Arial"/>
                <a:cs typeface="Arial"/>
              </a:rPr>
              <a:t>used </a:t>
            </a:r>
            <a:r>
              <a:rPr dirty="0" sz="1200">
                <a:latin typeface="Arial"/>
                <a:cs typeface="Arial"/>
              </a:rPr>
              <a:t>to </a:t>
            </a:r>
            <a:r>
              <a:rPr dirty="0" sz="1200" spc="-5">
                <a:latin typeface="Arial"/>
                <a:cs typeface="Arial"/>
              </a:rPr>
              <a:t>accompany </a:t>
            </a:r>
            <a:r>
              <a:rPr dirty="0" sz="1200">
                <a:latin typeface="Arial"/>
                <a:cs typeface="Arial"/>
              </a:rPr>
              <a:t>the </a:t>
            </a:r>
            <a:r>
              <a:rPr dirty="0" sz="1200" spc="-5">
                <a:latin typeface="Arial"/>
                <a:cs typeface="Arial"/>
              </a:rPr>
              <a:t>Muslim armies  engaged in battles </a:t>
            </a:r>
            <a:r>
              <a:rPr dirty="0" sz="1200">
                <a:latin typeface="Arial"/>
                <a:cs typeface="Arial"/>
              </a:rPr>
              <a:t>to </a:t>
            </a:r>
            <a:r>
              <a:rPr dirty="0" sz="1200" spc="-5">
                <a:latin typeface="Arial"/>
                <a:cs typeface="Arial"/>
              </a:rPr>
              <a:t>nurse the wounded, prepare supplies, and </a:t>
            </a:r>
            <a:r>
              <a:rPr dirty="0" sz="1200" spc="-10">
                <a:latin typeface="Arial"/>
                <a:cs typeface="Arial"/>
              </a:rPr>
              <a:t>serve </a:t>
            </a:r>
            <a:r>
              <a:rPr dirty="0" sz="1200">
                <a:latin typeface="Arial"/>
                <a:cs typeface="Arial"/>
              </a:rPr>
              <a:t>the </a:t>
            </a:r>
            <a:r>
              <a:rPr dirty="0" sz="1200" spc="-5">
                <a:latin typeface="Arial"/>
                <a:cs typeface="Arial"/>
              </a:rPr>
              <a:t>warriors,  and so on. </a:t>
            </a:r>
            <a:r>
              <a:rPr dirty="0" sz="1200">
                <a:latin typeface="Arial"/>
                <a:cs typeface="Arial"/>
              </a:rPr>
              <a:t>They </a:t>
            </a:r>
            <a:r>
              <a:rPr dirty="0" sz="1200" spc="-5">
                <a:latin typeface="Arial"/>
                <a:cs typeface="Arial"/>
              </a:rPr>
              <a:t>were not shut behind iron </a:t>
            </a:r>
            <a:r>
              <a:rPr dirty="0" sz="1200" spc="-10">
                <a:latin typeface="Arial"/>
                <a:cs typeface="Arial"/>
              </a:rPr>
              <a:t>bars </a:t>
            </a:r>
            <a:r>
              <a:rPr dirty="0" sz="1200" spc="-5">
                <a:latin typeface="Arial"/>
                <a:cs typeface="Arial"/>
              </a:rPr>
              <a:t>or considered worthless creatures and  deprived of</a:t>
            </a:r>
            <a:r>
              <a:rPr dirty="0" sz="1200" spc="10">
                <a:latin typeface="Arial"/>
                <a:cs typeface="Arial"/>
              </a:rPr>
              <a:t> </a:t>
            </a:r>
            <a:r>
              <a:rPr dirty="0" sz="1200" spc="-5">
                <a:latin typeface="Arial"/>
                <a:cs typeface="Arial"/>
              </a:rPr>
              <a:t>souls.</a:t>
            </a:r>
            <a:endParaRPr sz="1200">
              <a:latin typeface="Arial"/>
              <a:cs typeface="Arial"/>
            </a:endParaRPr>
          </a:p>
          <a:p>
            <a:pPr algn="just" marL="469900" marR="8255" indent="-228600">
              <a:lnSpc>
                <a:spcPts val="1380"/>
              </a:lnSpc>
              <a:buAutoNum type="arabicPeriod"/>
              <a:tabLst>
                <a:tab pos="470534" algn="l"/>
              </a:tabLst>
            </a:pPr>
            <a:r>
              <a:rPr dirty="0" sz="1200">
                <a:latin typeface="Arial"/>
                <a:cs typeface="Arial"/>
              </a:rPr>
              <a:t>Islam </a:t>
            </a:r>
            <a:r>
              <a:rPr dirty="0" sz="1200" spc="-5">
                <a:latin typeface="Arial"/>
                <a:cs typeface="Arial"/>
              </a:rPr>
              <a:t>grants woman equal rights </a:t>
            </a:r>
            <a:r>
              <a:rPr dirty="0" sz="1200">
                <a:latin typeface="Arial"/>
                <a:cs typeface="Arial"/>
              </a:rPr>
              <a:t>to </a:t>
            </a:r>
            <a:r>
              <a:rPr dirty="0" sz="1200" spc="-5">
                <a:latin typeface="Arial"/>
                <a:cs typeface="Arial"/>
              </a:rPr>
              <a:t>contract, </a:t>
            </a:r>
            <a:r>
              <a:rPr dirty="0" sz="1200">
                <a:latin typeface="Arial"/>
                <a:cs typeface="Arial"/>
              </a:rPr>
              <a:t>to </a:t>
            </a:r>
            <a:r>
              <a:rPr dirty="0" sz="1200" spc="-5">
                <a:latin typeface="Arial"/>
                <a:cs typeface="Arial"/>
              </a:rPr>
              <a:t>enterprise, </a:t>
            </a:r>
            <a:r>
              <a:rPr dirty="0" sz="1200">
                <a:latin typeface="Arial"/>
                <a:cs typeface="Arial"/>
              </a:rPr>
              <a:t>to </a:t>
            </a:r>
            <a:r>
              <a:rPr dirty="0" sz="1200" spc="-5">
                <a:latin typeface="Arial"/>
                <a:cs typeface="Arial"/>
              </a:rPr>
              <a:t>earn and possess  independently. Her life, her property, her honour are as sacred as those of man. If she  </a:t>
            </a:r>
            <a:r>
              <a:rPr dirty="0" sz="1200">
                <a:latin typeface="Arial"/>
                <a:cs typeface="Arial"/>
              </a:rPr>
              <a:t>commits </a:t>
            </a:r>
            <a:r>
              <a:rPr dirty="0" sz="1200" spc="-5">
                <a:latin typeface="Arial"/>
                <a:cs typeface="Arial"/>
              </a:rPr>
              <a:t>any </a:t>
            </a:r>
            <a:r>
              <a:rPr dirty="0" sz="1200">
                <a:latin typeface="Arial"/>
                <a:cs typeface="Arial"/>
              </a:rPr>
              <a:t>offense, </a:t>
            </a:r>
            <a:r>
              <a:rPr dirty="0" sz="1200" spc="-5">
                <a:latin typeface="Arial"/>
                <a:cs typeface="Arial"/>
              </a:rPr>
              <a:t>her penalty is </a:t>
            </a:r>
            <a:r>
              <a:rPr dirty="0" sz="1200">
                <a:latin typeface="Arial"/>
                <a:cs typeface="Arial"/>
              </a:rPr>
              <a:t>no </a:t>
            </a:r>
            <a:r>
              <a:rPr dirty="0" sz="1200" spc="-5">
                <a:latin typeface="Arial"/>
                <a:cs typeface="Arial"/>
              </a:rPr>
              <a:t>less or </a:t>
            </a:r>
            <a:r>
              <a:rPr dirty="0" sz="1200">
                <a:latin typeface="Arial"/>
                <a:cs typeface="Arial"/>
              </a:rPr>
              <a:t>more </a:t>
            </a:r>
            <a:r>
              <a:rPr dirty="0" sz="1200" spc="-10">
                <a:latin typeface="Arial"/>
                <a:cs typeface="Arial"/>
              </a:rPr>
              <a:t>than </a:t>
            </a:r>
            <a:r>
              <a:rPr dirty="0" sz="1200" spc="-5">
                <a:latin typeface="Arial"/>
                <a:cs typeface="Arial"/>
              </a:rPr>
              <a:t>of man's in a similar</a:t>
            </a:r>
            <a:r>
              <a:rPr dirty="0" sz="1200" spc="75">
                <a:latin typeface="Arial"/>
                <a:cs typeface="Arial"/>
              </a:rPr>
              <a:t> </a:t>
            </a:r>
            <a:r>
              <a:rPr dirty="0" sz="1200" spc="-5">
                <a:latin typeface="Arial"/>
                <a:cs typeface="Arial"/>
              </a:rPr>
              <a:t>case.</a:t>
            </a:r>
            <a:endParaRPr sz="1200">
              <a:latin typeface="Arial"/>
              <a:cs typeface="Arial"/>
            </a:endParaRPr>
          </a:p>
          <a:p>
            <a:pPr algn="just" marL="469900" marR="8255" indent="-228600">
              <a:lnSpc>
                <a:spcPts val="1380"/>
              </a:lnSpc>
              <a:spcBef>
                <a:spcPts val="5"/>
              </a:spcBef>
              <a:buAutoNum type="arabicPeriod"/>
              <a:tabLst>
                <a:tab pos="470534" algn="l"/>
              </a:tabLst>
            </a:pPr>
            <a:r>
              <a:rPr dirty="0" sz="1200">
                <a:latin typeface="Arial"/>
                <a:cs typeface="Arial"/>
              </a:rPr>
              <a:t>Islam </a:t>
            </a:r>
            <a:r>
              <a:rPr dirty="0" sz="1200" spc="-5">
                <a:latin typeface="Arial"/>
                <a:cs typeface="Arial"/>
              </a:rPr>
              <a:t>does not state these rights in a statistical form and then </a:t>
            </a:r>
            <a:r>
              <a:rPr dirty="0" sz="1200" spc="-10">
                <a:latin typeface="Arial"/>
                <a:cs typeface="Arial"/>
              </a:rPr>
              <a:t>relax. </a:t>
            </a:r>
            <a:r>
              <a:rPr dirty="0" sz="1200">
                <a:latin typeface="Arial"/>
                <a:cs typeface="Arial"/>
              </a:rPr>
              <a:t>It </a:t>
            </a:r>
            <a:r>
              <a:rPr dirty="0" sz="1200" spc="-5">
                <a:latin typeface="Arial"/>
                <a:cs typeface="Arial"/>
              </a:rPr>
              <a:t>has taken all  measures </a:t>
            </a:r>
            <a:r>
              <a:rPr dirty="0" sz="1200">
                <a:latin typeface="Arial"/>
                <a:cs typeface="Arial"/>
              </a:rPr>
              <a:t>to </a:t>
            </a:r>
            <a:r>
              <a:rPr dirty="0" sz="1200" spc="-5">
                <a:latin typeface="Arial"/>
                <a:cs typeface="Arial"/>
              </a:rPr>
              <a:t>safeguard them and put them into </a:t>
            </a:r>
            <a:r>
              <a:rPr dirty="0" sz="1200">
                <a:latin typeface="Arial"/>
                <a:cs typeface="Arial"/>
              </a:rPr>
              <a:t>practice </a:t>
            </a:r>
            <a:r>
              <a:rPr dirty="0" sz="1200" spc="-5">
                <a:latin typeface="Arial"/>
                <a:cs typeface="Arial"/>
              </a:rPr>
              <a:t>as integral articles </a:t>
            </a:r>
            <a:r>
              <a:rPr dirty="0" sz="1200">
                <a:latin typeface="Arial"/>
                <a:cs typeface="Arial"/>
              </a:rPr>
              <a:t>of Faith. </a:t>
            </a:r>
            <a:r>
              <a:rPr dirty="0" sz="1200" spc="-5">
                <a:latin typeface="Arial"/>
                <a:cs typeface="Arial"/>
              </a:rPr>
              <a:t>It  never </a:t>
            </a:r>
            <a:r>
              <a:rPr dirty="0" sz="1200">
                <a:latin typeface="Arial"/>
                <a:cs typeface="Arial"/>
              </a:rPr>
              <a:t>tolerates </a:t>
            </a:r>
            <a:r>
              <a:rPr dirty="0" sz="1200" spc="-5">
                <a:latin typeface="Arial"/>
                <a:cs typeface="Arial"/>
              </a:rPr>
              <a:t>those </a:t>
            </a:r>
            <a:r>
              <a:rPr dirty="0" sz="1200" spc="-10">
                <a:latin typeface="Arial"/>
                <a:cs typeface="Arial"/>
              </a:rPr>
              <a:t>who </a:t>
            </a:r>
            <a:r>
              <a:rPr dirty="0" sz="1200" spc="-5">
                <a:latin typeface="Arial"/>
                <a:cs typeface="Arial"/>
              </a:rPr>
              <a:t>are </a:t>
            </a:r>
            <a:r>
              <a:rPr dirty="0" sz="1200">
                <a:latin typeface="Arial"/>
                <a:cs typeface="Arial"/>
              </a:rPr>
              <a:t>inclined to prejudice </a:t>
            </a:r>
            <a:r>
              <a:rPr dirty="0" sz="1200" spc="-5">
                <a:latin typeface="Arial"/>
                <a:cs typeface="Arial"/>
              </a:rPr>
              <a:t>against woman or discrimination  between man and woman.</a:t>
            </a:r>
            <a:endParaRPr sz="1200">
              <a:latin typeface="Arial"/>
              <a:cs typeface="Arial"/>
            </a:endParaRPr>
          </a:p>
          <a:p>
            <a:pPr algn="just" marL="469900" marR="11430" indent="-228600">
              <a:lnSpc>
                <a:spcPts val="1380"/>
              </a:lnSpc>
              <a:buAutoNum type="arabicPeriod"/>
              <a:tabLst>
                <a:tab pos="470534" algn="l"/>
              </a:tabLst>
            </a:pPr>
            <a:r>
              <a:rPr dirty="0" sz="1200">
                <a:latin typeface="Arial"/>
                <a:cs typeface="Arial"/>
              </a:rPr>
              <a:t>Apart </a:t>
            </a:r>
            <a:r>
              <a:rPr dirty="0" sz="1200" spc="-5">
                <a:latin typeface="Arial"/>
                <a:cs typeface="Arial"/>
              </a:rPr>
              <a:t>from recognition of woman as an independent human being acknowledged </a:t>
            </a:r>
            <a:r>
              <a:rPr dirty="0" sz="1200" spc="-10">
                <a:latin typeface="Arial"/>
                <a:cs typeface="Arial"/>
              </a:rPr>
              <a:t>as  </a:t>
            </a:r>
            <a:r>
              <a:rPr dirty="0" sz="1200" spc="-5">
                <a:latin typeface="Arial"/>
                <a:cs typeface="Arial"/>
              </a:rPr>
              <a:t>equally essential </a:t>
            </a:r>
            <a:r>
              <a:rPr dirty="0" sz="1200">
                <a:latin typeface="Arial"/>
                <a:cs typeface="Arial"/>
              </a:rPr>
              <a:t>for the </a:t>
            </a:r>
            <a:r>
              <a:rPr dirty="0" sz="1200" spc="-5">
                <a:latin typeface="Arial"/>
                <a:cs typeface="Arial"/>
              </a:rPr>
              <a:t>survival </a:t>
            </a:r>
            <a:r>
              <a:rPr dirty="0" sz="1200">
                <a:latin typeface="Arial"/>
                <a:cs typeface="Arial"/>
              </a:rPr>
              <a:t>of </a:t>
            </a:r>
            <a:r>
              <a:rPr dirty="0" sz="1200" spc="-5">
                <a:latin typeface="Arial"/>
                <a:cs typeface="Arial"/>
              </a:rPr>
              <a:t>humanity, </a:t>
            </a:r>
            <a:r>
              <a:rPr dirty="0" sz="1200">
                <a:latin typeface="Arial"/>
                <a:cs typeface="Arial"/>
              </a:rPr>
              <a:t>Islam </a:t>
            </a:r>
            <a:r>
              <a:rPr dirty="0" sz="1200" spc="-5">
                <a:latin typeface="Arial"/>
                <a:cs typeface="Arial"/>
              </a:rPr>
              <a:t>has </a:t>
            </a:r>
            <a:r>
              <a:rPr dirty="0" sz="1200" spc="-10">
                <a:latin typeface="Arial"/>
                <a:cs typeface="Arial"/>
              </a:rPr>
              <a:t>given </a:t>
            </a:r>
            <a:r>
              <a:rPr dirty="0" sz="1200" spc="-5">
                <a:latin typeface="Arial"/>
                <a:cs typeface="Arial"/>
              </a:rPr>
              <a:t>her a share of  inheritance.</a:t>
            </a:r>
            <a:endParaRPr sz="1200">
              <a:latin typeface="Arial"/>
              <a:cs typeface="Arial"/>
            </a:endParaRPr>
          </a:p>
          <a:p>
            <a:pPr algn="just" marL="469900" indent="-229235">
              <a:lnSpc>
                <a:spcPts val="1300"/>
              </a:lnSpc>
              <a:buAutoNum type="arabicPeriod"/>
              <a:tabLst>
                <a:tab pos="470534" algn="l"/>
              </a:tabLst>
            </a:pPr>
            <a:r>
              <a:rPr dirty="0" sz="1200">
                <a:latin typeface="Arial"/>
                <a:cs typeface="Arial"/>
              </a:rPr>
              <a:t>In</a:t>
            </a:r>
            <a:r>
              <a:rPr dirty="0" sz="1200" spc="120">
                <a:latin typeface="Arial"/>
                <a:cs typeface="Arial"/>
              </a:rPr>
              <a:t> </a:t>
            </a:r>
            <a:r>
              <a:rPr dirty="0" sz="1200" spc="-5">
                <a:latin typeface="Arial"/>
                <a:cs typeface="Arial"/>
              </a:rPr>
              <a:t>some</a:t>
            </a:r>
            <a:r>
              <a:rPr dirty="0" sz="1200" spc="105">
                <a:latin typeface="Arial"/>
                <a:cs typeface="Arial"/>
              </a:rPr>
              <a:t> </a:t>
            </a:r>
            <a:r>
              <a:rPr dirty="0" sz="1200" spc="-5">
                <a:latin typeface="Arial"/>
                <a:cs typeface="Arial"/>
              </a:rPr>
              <a:t>instances</a:t>
            </a:r>
            <a:r>
              <a:rPr dirty="0" sz="1200" spc="100">
                <a:latin typeface="Arial"/>
                <a:cs typeface="Arial"/>
              </a:rPr>
              <a:t> </a:t>
            </a:r>
            <a:r>
              <a:rPr dirty="0" sz="1200" spc="-5">
                <a:latin typeface="Arial"/>
                <a:cs typeface="Arial"/>
              </a:rPr>
              <a:t>of</a:t>
            </a:r>
            <a:r>
              <a:rPr dirty="0" sz="1200" spc="114">
                <a:latin typeface="Arial"/>
                <a:cs typeface="Arial"/>
              </a:rPr>
              <a:t> </a:t>
            </a:r>
            <a:r>
              <a:rPr dirty="0" sz="1200" spc="-5">
                <a:latin typeface="Arial"/>
                <a:cs typeface="Arial"/>
              </a:rPr>
              <a:t>bearing</a:t>
            </a:r>
            <a:r>
              <a:rPr dirty="0" sz="1200" spc="110">
                <a:latin typeface="Arial"/>
                <a:cs typeface="Arial"/>
              </a:rPr>
              <a:t> </a:t>
            </a:r>
            <a:r>
              <a:rPr dirty="0" sz="1200" spc="-5">
                <a:latin typeface="Arial"/>
                <a:cs typeface="Arial"/>
              </a:rPr>
              <a:t>witness</a:t>
            </a:r>
            <a:r>
              <a:rPr dirty="0" sz="1200" spc="110">
                <a:latin typeface="Arial"/>
                <a:cs typeface="Arial"/>
              </a:rPr>
              <a:t> </a:t>
            </a:r>
            <a:r>
              <a:rPr dirty="0" sz="1200">
                <a:latin typeface="Arial"/>
                <a:cs typeface="Arial"/>
              </a:rPr>
              <a:t>to</a:t>
            </a:r>
            <a:r>
              <a:rPr dirty="0" sz="1200" spc="120">
                <a:latin typeface="Arial"/>
                <a:cs typeface="Arial"/>
              </a:rPr>
              <a:t> </a:t>
            </a:r>
            <a:r>
              <a:rPr dirty="0" sz="1200" spc="-5">
                <a:latin typeface="Arial"/>
                <a:cs typeface="Arial"/>
              </a:rPr>
              <a:t>certain</a:t>
            </a:r>
            <a:r>
              <a:rPr dirty="0" sz="1200" spc="114">
                <a:latin typeface="Arial"/>
                <a:cs typeface="Arial"/>
              </a:rPr>
              <a:t> </a:t>
            </a:r>
            <a:r>
              <a:rPr dirty="0" sz="1200" spc="-5">
                <a:latin typeface="Arial"/>
                <a:cs typeface="Arial"/>
              </a:rPr>
              <a:t>civil</a:t>
            </a:r>
            <a:r>
              <a:rPr dirty="0" sz="1200" spc="110">
                <a:latin typeface="Arial"/>
                <a:cs typeface="Arial"/>
              </a:rPr>
              <a:t> </a:t>
            </a:r>
            <a:r>
              <a:rPr dirty="0" sz="1200">
                <a:latin typeface="Arial"/>
                <a:cs typeface="Arial"/>
              </a:rPr>
              <a:t>contracts,</a:t>
            </a:r>
            <a:r>
              <a:rPr dirty="0" sz="1200" spc="100">
                <a:latin typeface="Arial"/>
                <a:cs typeface="Arial"/>
              </a:rPr>
              <a:t> </a:t>
            </a:r>
            <a:r>
              <a:rPr dirty="0" sz="1200">
                <a:latin typeface="Arial"/>
                <a:cs typeface="Arial"/>
              </a:rPr>
              <a:t>two</a:t>
            </a:r>
            <a:r>
              <a:rPr dirty="0" sz="1200" spc="114">
                <a:latin typeface="Arial"/>
                <a:cs typeface="Arial"/>
              </a:rPr>
              <a:t> </a:t>
            </a:r>
            <a:r>
              <a:rPr dirty="0" sz="1200" spc="-5">
                <a:latin typeface="Arial"/>
                <a:cs typeface="Arial"/>
              </a:rPr>
              <a:t>men</a:t>
            </a:r>
            <a:r>
              <a:rPr dirty="0" sz="1200" spc="105">
                <a:latin typeface="Arial"/>
                <a:cs typeface="Arial"/>
              </a:rPr>
              <a:t> </a:t>
            </a:r>
            <a:r>
              <a:rPr dirty="0" sz="1200" spc="-5">
                <a:latin typeface="Arial"/>
                <a:cs typeface="Arial"/>
              </a:rPr>
              <a:t>are</a:t>
            </a:r>
            <a:r>
              <a:rPr dirty="0" sz="1200" spc="120">
                <a:latin typeface="Arial"/>
                <a:cs typeface="Arial"/>
              </a:rPr>
              <a:t> </a:t>
            </a:r>
            <a:r>
              <a:rPr dirty="0" sz="1200" spc="-10">
                <a:latin typeface="Arial"/>
                <a:cs typeface="Arial"/>
              </a:rPr>
              <a:t>required</a:t>
            </a:r>
            <a:endParaRPr sz="1200">
              <a:latin typeface="Arial"/>
              <a:cs typeface="Arial"/>
            </a:endParaRPr>
          </a:p>
          <a:p>
            <a:pPr algn="just" marL="469900" marR="8255">
              <a:lnSpc>
                <a:spcPct val="95900"/>
              </a:lnSpc>
              <a:spcBef>
                <a:spcPts val="30"/>
              </a:spcBef>
            </a:pPr>
            <a:r>
              <a:rPr dirty="0" sz="1200" spc="-5">
                <a:latin typeface="Arial"/>
                <a:cs typeface="Arial"/>
              </a:rPr>
              <a:t>or one man and </a:t>
            </a:r>
            <a:r>
              <a:rPr dirty="0" sz="1200" spc="-10">
                <a:latin typeface="Arial"/>
                <a:cs typeface="Arial"/>
              </a:rPr>
              <a:t>two </a:t>
            </a:r>
            <a:r>
              <a:rPr dirty="0" sz="1200" spc="-5">
                <a:latin typeface="Arial"/>
                <a:cs typeface="Arial"/>
              </a:rPr>
              <a:t>women. Again, </a:t>
            </a:r>
            <a:r>
              <a:rPr dirty="0" sz="1200">
                <a:latin typeface="Arial"/>
                <a:cs typeface="Arial"/>
              </a:rPr>
              <a:t>this </a:t>
            </a:r>
            <a:r>
              <a:rPr dirty="0" sz="1200" spc="-5">
                <a:latin typeface="Arial"/>
                <a:cs typeface="Arial"/>
              </a:rPr>
              <a:t>is no indication of the woman being inferior to  man. </a:t>
            </a:r>
            <a:r>
              <a:rPr dirty="0" sz="1200">
                <a:latin typeface="Arial"/>
                <a:cs typeface="Arial"/>
              </a:rPr>
              <a:t>It </a:t>
            </a:r>
            <a:r>
              <a:rPr dirty="0" sz="1200" spc="-5">
                <a:latin typeface="Arial"/>
                <a:cs typeface="Arial"/>
              </a:rPr>
              <a:t>is a measure of </a:t>
            </a:r>
            <a:r>
              <a:rPr dirty="0" sz="1200">
                <a:latin typeface="Arial"/>
                <a:cs typeface="Arial"/>
              </a:rPr>
              <a:t>securing </a:t>
            </a:r>
            <a:r>
              <a:rPr dirty="0" sz="1200" spc="-5">
                <a:latin typeface="Arial"/>
                <a:cs typeface="Arial"/>
              </a:rPr>
              <a:t>the rights of </a:t>
            </a:r>
            <a:r>
              <a:rPr dirty="0" sz="1200">
                <a:latin typeface="Arial"/>
                <a:cs typeface="Arial"/>
              </a:rPr>
              <a:t>the </a:t>
            </a:r>
            <a:r>
              <a:rPr dirty="0" sz="1200" spc="-5">
                <a:latin typeface="Arial"/>
                <a:cs typeface="Arial"/>
              </a:rPr>
              <a:t>contracting parties, because woman  as a rule is not as experienced in practical </a:t>
            </a:r>
            <a:r>
              <a:rPr dirty="0" sz="1200">
                <a:latin typeface="Arial"/>
                <a:cs typeface="Arial"/>
              </a:rPr>
              <a:t>life </a:t>
            </a:r>
            <a:r>
              <a:rPr dirty="0" sz="1200" spc="-5">
                <a:latin typeface="Arial"/>
                <a:cs typeface="Arial"/>
              </a:rPr>
              <a:t>as man. </a:t>
            </a:r>
            <a:r>
              <a:rPr dirty="0" sz="1200">
                <a:latin typeface="Arial"/>
                <a:cs typeface="Arial"/>
              </a:rPr>
              <a:t>This </a:t>
            </a:r>
            <a:r>
              <a:rPr dirty="0" sz="1200" spc="-5">
                <a:latin typeface="Arial"/>
                <a:cs typeface="Arial"/>
              </a:rPr>
              <a:t>lack of experience </a:t>
            </a:r>
            <a:r>
              <a:rPr dirty="0" sz="1200">
                <a:latin typeface="Arial"/>
                <a:cs typeface="Arial"/>
              </a:rPr>
              <a:t>may  </a:t>
            </a:r>
            <a:r>
              <a:rPr dirty="0" sz="1200" spc="-5">
                <a:latin typeface="Arial"/>
                <a:cs typeface="Arial"/>
              </a:rPr>
              <a:t>cause a loss to any </a:t>
            </a:r>
            <a:r>
              <a:rPr dirty="0" sz="1200">
                <a:latin typeface="Arial"/>
                <a:cs typeface="Arial"/>
              </a:rPr>
              <a:t>party </a:t>
            </a:r>
            <a:r>
              <a:rPr dirty="0" sz="1200" spc="-5">
                <a:latin typeface="Arial"/>
                <a:cs typeface="Arial"/>
              </a:rPr>
              <a:t>in a </a:t>
            </a:r>
            <a:r>
              <a:rPr dirty="0" sz="1200" spc="-10">
                <a:latin typeface="Arial"/>
                <a:cs typeface="Arial"/>
              </a:rPr>
              <a:t>given </a:t>
            </a:r>
            <a:r>
              <a:rPr dirty="0" sz="1200">
                <a:latin typeface="Arial"/>
                <a:cs typeface="Arial"/>
              </a:rPr>
              <a:t>contract. </a:t>
            </a:r>
            <a:r>
              <a:rPr dirty="0" sz="1200" spc="-5">
                <a:latin typeface="Arial"/>
                <a:cs typeface="Arial"/>
              </a:rPr>
              <a:t>So </a:t>
            </a:r>
            <a:r>
              <a:rPr dirty="0" sz="1200">
                <a:latin typeface="Arial"/>
                <a:cs typeface="Arial"/>
              </a:rPr>
              <a:t>the </a:t>
            </a:r>
            <a:r>
              <a:rPr dirty="0" sz="1200" spc="-5">
                <a:latin typeface="Arial"/>
                <a:cs typeface="Arial"/>
              </a:rPr>
              <a:t>Law requires </a:t>
            </a:r>
            <a:r>
              <a:rPr dirty="0" sz="1200">
                <a:latin typeface="Arial"/>
                <a:cs typeface="Arial"/>
              </a:rPr>
              <a:t>that at </a:t>
            </a:r>
            <a:r>
              <a:rPr dirty="0" sz="1200" spc="-5">
                <a:latin typeface="Arial"/>
                <a:cs typeface="Arial"/>
              </a:rPr>
              <a:t>least </a:t>
            </a:r>
            <a:r>
              <a:rPr dirty="0" sz="1200" spc="-10">
                <a:latin typeface="Arial"/>
                <a:cs typeface="Arial"/>
              </a:rPr>
              <a:t>two  </a:t>
            </a:r>
            <a:r>
              <a:rPr dirty="0" sz="1200" spc="-5">
                <a:latin typeface="Arial"/>
                <a:cs typeface="Arial"/>
              </a:rPr>
              <a:t>women should bear </a:t>
            </a:r>
            <a:r>
              <a:rPr dirty="0" sz="1200">
                <a:latin typeface="Arial"/>
                <a:cs typeface="Arial"/>
              </a:rPr>
              <a:t>witness </a:t>
            </a:r>
            <a:r>
              <a:rPr dirty="0" sz="1200" spc="-5">
                <a:latin typeface="Arial"/>
                <a:cs typeface="Arial"/>
              </a:rPr>
              <a:t>with one man. If a woman of the witness forgets  something, </a:t>
            </a:r>
            <a:r>
              <a:rPr dirty="0" sz="1200">
                <a:latin typeface="Arial"/>
                <a:cs typeface="Arial"/>
              </a:rPr>
              <a:t>the </a:t>
            </a:r>
            <a:r>
              <a:rPr dirty="0" sz="1200" spc="-5">
                <a:latin typeface="Arial"/>
                <a:cs typeface="Arial"/>
              </a:rPr>
              <a:t>other one would </a:t>
            </a:r>
            <a:r>
              <a:rPr dirty="0" sz="1200">
                <a:latin typeface="Arial"/>
                <a:cs typeface="Arial"/>
              </a:rPr>
              <a:t>remind her. Or if </a:t>
            </a:r>
            <a:r>
              <a:rPr dirty="0" sz="1200" spc="-5">
                <a:latin typeface="Arial"/>
                <a:cs typeface="Arial"/>
              </a:rPr>
              <a:t>she makes an error, due </a:t>
            </a:r>
            <a:r>
              <a:rPr dirty="0" sz="1200">
                <a:latin typeface="Arial"/>
                <a:cs typeface="Arial"/>
              </a:rPr>
              <a:t>to </a:t>
            </a:r>
            <a:r>
              <a:rPr dirty="0" sz="1200" spc="-5">
                <a:latin typeface="Arial"/>
                <a:cs typeface="Arial"/>
              </a:rPr>
              <a:t>lack of  experience, the other would help </a:t>
            </a:r>
            <a:r>
              <a:rPr dirty="0" sz="1200">
                <a:latin typeface="Arial"/>
                <a:cs typeface="Arial"/>
              </a:rPr>
              <a:t>to </a:t>
            </a:r>
            <a:r>
              <a:rPr dirty="0" sz="1200" spc="-5">
                <a:latin typeface="Arial"/>
                <a:cs typeface="Arial"/>
              </a:rPr>
              <a:t>correct </a:t>
            </a:r>
            <a:r>
              <a:rPr dirty="0" sz="1200">
                <a:latin typeface="Arial"/>
                <a:cs typeface="Arial"/>
              </a:rPr>
              <a:t>her. This </a:t>
            </a:r>
            <a:r>
              <a:rPr dirty="0" sz="1200" spc="-5">
                <a:latin typeface="Arial"/>
                <a:cs typeface="Arial"/>
              </a:rPr>
              <a:t>is a precautionary measure to  guarantee honest transactions and </a:t>
            </a:r>
            <a:r>
              <a:rPr dirty="0" sz="1200">
                <a:latin typeface="Arial"/>
                <a:cs typeface="Arial"/>
              </a:rPr>
              <a:t>proper </a:t>
            </a:r>
            <a:r>
              <a:rPr dirty="0" sz="1200" spc="-5">
                <a:latin typeface="Arial"/>
                <a:cs typeface="Arial"/>
              </a:rPr>
              <a:t>dealings between people. </a:t>
            </a:r>
            <a:r>
              <a:rPr dirty="0" sz="1200">
                <a:latin typeface="Arial"/>
                <a:cs typeface="Arial"/>
              </a:rPr>
              <a:t>In fact, it </a:t>
            </a:r>
            <a:r>
              <a:rPr dirty="0" sz="1200" spc="-5">
                <a:latin typeface="Arial"/>
                <a:cs typeface="Arial"/>
              </a:rPr>
              <a:t>gives  woman a role </a:t>
            </a:r>
            <a:r>
              <a:rPr dirty="0" sz="1200">
                <a:latin typeface="Arial"/>
                <a:cs typeface="Arial"/>
              </a:rPr>
              <a:t>to play </a:t>
            </a:r>
            <a:r>
              <a:rPr dirty="0" sz="1200" spc="-5">
                <a:latin typeface="Arial"/>
                <a:cs typeface="Arial"/>
              </a:rPr>
              <a:t>in civil </a:t>
            </a:r>
            <a:r>
              <a:rPr dirty="0" sz="1200">
                <a:latin typeface="Arial"/>
                <a:cs typeface="Arial"/>
              </a:rPr>
              <a:t>life </a:t>
            </a:r>
            <a:r>
              <a:rPr dirty="0" sz="1200" spc="-5">
                <a:latin typeface="Arial"/>
                <a:cs typeface="Arial"/>
              </a:rPr>
              <a:t>and helps to establish</a:t>
            </a:r>
            <a:r>
              <a:rPr dirty="0" sz="1200" spc="5">
                <a:latin typeface="Arial"/>
                <a:cs typeface="Arial"/>
              </a:rPr>
              <a:t> </a:t>
            </a:r>
            <a:r>
              <a:rPr dirty="0" sz="1200">
                <a:latin typeface="Arial"/>
                <a:cs typeface="Arial"/>
              </a:rPr>
              <a:t>justice.</a:t>
            </a:r>
            <a:endParaRPr sz="1200">
              <a:latin typeface="Arial"/>
              <a:cs typeface="Arial"/>
            </a:endParaRPr>
          </a:p>
          <a:p>
            <a:pPr algn="just" marL="469900" marR="9525" indent="-228600">
              <a:lnSpc>
                <a:spcPts val="1380"/>
              </a:lnSpc>
              <a:spcBef>
                <a:spcPts val="35"/>
              </a:spcBef>
              <a:buAutoNum type="arabicPeriod" startAt="10"/>
              <a:tabLst>
                <a:tab pos="470534" algn="l"/>
              </a:tabLst>
            </a:pPr>
            <a:r>
              <a:rPr dirty="0" sz="1200">
                <a:latin typeface="Arial"/>
                <a:cs typeface="Arial"/>
              </a:rPr>
              <a:t>Woman </a:t>
            </a:r>
            <a:r>
              <a:rPr dirty="0" sz="1200" spc="-5">
                <a:latin typeface="Arial"/>
                <a:cs typeface="Arial"/>
              </a:rPr>
              <a:t>enjoys certain privileges </a:t>
            </a:r>
            <a:r>
              <a:rPr dirty="0" sz="1200">
                <a:latin typeface="Arial"/>
                <a:cs typeface="Arial"/>
              </a:rPr>
              <a:t>of </a:t>
            </a:r>
            <a:r>
              <a:rPr dirty="0" sz="1200" spc="-5">
                <a:latin typeface="Arial"/>
                <a:cs typeface="Arial"/>
              </a:rPr>
              <a:t>which man is deprived. She is exempt from </a:t>
            </a:r>
            <a:r>
              <a:rPr dirty="0" sz="1200" spc="-10">
                <a:latin typeface="Arial"/>
                <a:cs typeface="Arial"/>
              </a:rPr>
              <a:t>some  </a:t>
            </a:r>
            <a:r>
              <a:rPr dirty="0" sz="1200" spc="-5">
                <a:latin typeface="Arial"/>
                <a:cs typeface="Arial"/>
              </a:rPr>
              <a:t>religious </a:t>
            </a:r>
            <a:r>
              <a:rPr dirty="0" sz="1200">
                <a:latin typeface="Arial"/>
                <a:cs typeface="Arial"/>
              </a:rPr>
              <a:t>duties, </a:t>
            </a:r>
            <a:r>
              <a:rPr dirty="0" sz="1200" spc="-5">
                <a:latin typeface="Arial"/>
                <a:cs typeface="Arial"/>
              </a:rPr>
              <a:t>i.e., prayers and fasting, </a:t>
            </a:r>
            <a:r>
              <a:rPr dirty="0" sz="1200" spc="-10">
                <a:latin typeface="Arial"/>
                <a:cs typeface="Arial"/>
              </a:rPr>
              <a:t>in </a:t>
            </a:r>
            <a:r>
              <a:rPr dirty="0" sz="1200" spc="-5">
                <a:latin typeface="Arial"/>
                <a:cs typeface="Arial"/>
              </a:rPr>
              <a:t>her regular </a:t>
            </a:r>
            <a:r>
              <a:rPr dirty="0" sz="1200">
                <a:latin typeface="Arial"/>
                <a:cs typeface="Arial"/>
              </a:rPr>
              <a:t>periods </a:t>
            </a:r>
            <a:r>
              <a:rPr dirty="0" sz="1200" spc="-5">
                <a:latin typeface="Arial"/>
                <a:cs typeface="Arial"/>
              </a:rPr>
              <a:t>and </a:t>
            </a:r>
            <a:r>
              <a:rPr dirty="0" sz="1200">
                <a:latin typeface="Arial"/>
                <a:cs typeface="Arial"/>
              </a:rPr>
              <a:t>at times </a:t>
            </a:r>
            <a:r>
              <a:rPr dirty="0" sz="1200" spc="-5">
                <a:latin typeface="Arial"/>
                <a:cs typeface="Arial"/>
              </a:rPr>
              <a:t>of  confinement. She is exempt from </a:t>
            </a:r>
            <a:r>
              <a:rPr dirty="0" sz="1200">
                <a:latin typeface="Arial"/>
                <a:cs typeface="Arial"/>
              </a:rPr>
              <a:t>all </a:t>
            </a:r>
            <a:r>
              <a:rPr dirty="0" sz="1200" spc="-5">
                <a:latin typeface="Arial"/>
                <a:cs typeface="Arial"/>
              </a:rPr>
              <a:t>financial</a:t>
            </a:r>
            <a:r>
              <a:rPr dirty="0" sz="1200">
                <a:latin typeface="Arial"/>
                <a:cs typeface="Arial"/>
              </a:rPr>
              <a:t> </a:t>
            </a:r>
            <a:r>
              <a:rPr dirty="0" sz="1200" spc="-5">
                <a:latin typeface="Arial"/>
                <a:cs typeface="Arial"/>
              </a:rPr>
              <a:t>liabilities.</a:t>
            </a:r>
            <a:endParaRPr sz="1200">
              <a:latin typeface="Arial"/>
              <a:cs typeface="Arial"/>
            </a:endParaRPr>
          </a:p>
          <a:p>
            <a:pPr algn="just" marL="469900" marR="11430" indent="-228600">
              <a:lnSpc>
                <a:spcPts val="1380"/>
              </a:lnSpc>
              <a:buAutoNum type="arabicPeriod" startAt="10"/>
              <a:tabLst>
                <a:tab pos="470534" algn="l"/>
              </a:tabLst>
            </a:pPr>
            <a:r>
              <a:rPr dirty="0" sz="1200" spc="-5">
                <a:latin typeface="Arial"/>
                <a:cs typeface="Arial"/>
              </a:rPr>
              <a:t>The standing </a:t>
            </a:r>
            <a:r>
              <a:rPr dirty="0" sz="1200">
                <a:latin typeface="Arial"/>
                <a:cs typeface="Arial"/>
              </a:rPr>
              <a:t>of </a:t>
            </a:r>
            <a:r>
              <a:rPr dirty="0" sz="1200" spc="-5">
                <a:latin typeface="Arial"/>
                <a:cs typeface="Arial"/>
              </a:rPr>
              <a:t>woman in prayers </a:t>
            </a:r>
            <a:r>
              <a:rPr dirty="0" sz="1200">
                <a:latin typeface="Arial"/>
                <a:cs typeface="Arial"/>
              </a:rPr>
              <a:t>behind </a:t>
            </a:r>
            <a:r>
              <a:rPr dirty="0" sz="1200" spc="-5">
                <a:latin typeface="Arial"/>
                <a:cs typeface="Arial"/>
              </a:rPr>
              <a:t>man </a:t>
            </a:r>
            <a:r>
              <a:rPr dirty="0" sz="1200">
                <a:latin typeface="Arial"/>
                <a:cs typeface="Arial"/>
              </a:rPr>
              <a:t>does </a:t>
            </a:r>
            <a:r>
              <a:rPr dirty="0" sz="1200" spc="-5">
                <a:latin typeface="Arial"/>
                <a:cs typeface="Arial"/>
              </a:rPr>
              <a:t>not </a:t>
            </a:r>
            <a:r>
              <a:rPr dirty="0" sz="1200">
                <a:latin typeface="Arial"/>
                <a:cs typeface="Arial"/>
              </a:rPr>
              <a:t>indicate </a:t>
            </a:r>
            <a:r>
              <a:rPr dirty="0" sz="1200" spc="-5">
                <a:latin typeface="Arial"/>
                <a:cs typeface="Arial"/>
              </a:rPr>
              <a:t>in any </a:t>
            </a:r>
            <a:r>
              <a:rPr dirty="0" sz="1200">
                <a:latin typeface="Arial"/>
                <a:cs typeface="Arial"/>
              </a:rPr>
              <a:t>sense that </a:t>
            </a:r>
            <a:r>
              <a:rPr dirty="0" sz="1200" spc="-5">
                <a:latin typeface="Arial"/>
                <a:cs typeface="Arial"/>
              </a:rPr>
              <a:t>she  is </a:t>
            </a:r>
            <a:r>
              <a:rPr dirty="0" sz="1200">
                <a:latin typeface="Arial"/>
                <a:cs typeface="Arial"/>
              </a:rPr>
              <a:t>inferior to </a:t>
            </a:r>
            <a:r>
              <a:rPr dirty="0" sz="1200" spc="-5">
                <a:latin typeface="Arial"/>
                <a:cs typeface="Arial"/>
              </a:rPr>
              <a:t>him. Woman, as already mentioned, is exempt from attending  congregational prayers which are obligatory on </a:t>
            </a:r>
            <a:r>
              <a:rPr dirty="0" sz="1200">
                <a:latin typeface="Arial"/>
                <a:cs typeface="Arial"/>
              </a:rPr>
              <a:t>man. </a:t>
            </a:r>
            <a:r>
              <a:rPr dirty="0" sz="1200" spc="-5">
                <a:latin typeface="Arial"/>
                <a:cs typeface="Arial"/>
              </a:rPr>
              <a:t>But </a:t>
            </a:r>
            <a:r>
              <a:rPr dirty="0" sz="1200" spc="-10">
                <a:latin typeface="Arial"/>
                <a:cs typeface="Arial"/>
              </a:rPr>
              <a:t>if </a:t>
            </a:r>
            <a:r>
              <a:rPr dirty="0" sz="1200" spc="-5">
                <a:latin typeface="Arial"/>
                <a:cs typeface="Arial"/>
              </a:rPr>
              <a:t>she does attend</a:t>
            </a:r>
            <a:r>
              <a:rPr dirty="0" sz="1200" spc="270">
                <a:latin typeface="Arial"/>
                <a:cs typeface="Arial"/>
              </a:rPr>
              <a:t> </a:t>
            </a:r>
            <a:r>
              <a:rPr dirty="0" sz="1200" spc="-5">
                <a:latin typeface="Arial"/>
                <a:cs typeface="Arial"/>
              </a:rPr>
              <a:t>she</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177</a:t>
            </a:r>
            <a:endParaRPr sz="1200">
              <a:latin typeface="Times New Roman"/>
              <a:cs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09995" cy="6884670"/>
          </a:xfrm>
          <a:prstGeom prst="rect">
            <a:avLst/>
          </a:prstGeom>
        </p:spPr>
        <p:txBody>
          <a:bodyPr wrap="square" lIns="0" tIns="12700" rIns="0" bIns="0" rtlCol="0" vert="horz">
            <a:spAutoFit/>
          </a:bodyPr>
          <a:lstStyle/>
          <a:p>
            <a:pPr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469900" marR="7620">
              <a:lnSpc>
                <a:spcPts val="1380"/>
              </a:lnSpc>
            </a:pPr>
            <a:r>
              <a:rPr dirty="0" sz="1200">
                <a:latin typeface="Arial"/>
                <a:cs typeface="Arial"/>
              </a:rPr>
              <a:t>stands </a:t>
            </a:r>
            <a:r>
              <a:rPr dirty="0" sz="1200" spc="-5">
                <a:latin typeface="Arial"/>
                <a:cs typeface="Arial"/>
              </a:rPr>
              <a:t>in separate </a:t>
            </a:r>
            <a:r>
              <a:rPr dirty="0" sz="1200">
                <a:latin typeface="Arial"/>
                <a:cs typeface="Arial"/>
              </a:rPr>
              <a:t>lines </a:t>
            </a:r>
            <a:r>
              <a:rPr dirty="0" sz="1200" spc="-5">
                <a:latin typeface="Arial"/>
                <a:cs typeface="Arial"/>
              </a:rPr>
              <a:t>made </a:t>
            </a:r>
            <a:r>
              <a:rPr dirty="0" sz="1200" spc="-10">
                <a:latin typeface="Arial"/>
                <a:cs typeface="Arial"/>
              </a:rPr>
              <a:t>up </a:t>
            </a:r>
            <a:r>
              <a:rPr dirty="0" sz="1200" spc="-5">
                <a:latin typeface="Arial"/>
                <a:cs typeface="Arial"/>
              </a:rPr>
              <a:t>of women exclusively. </a:t>
            </a:r>
            <a:r>
              <a:rPr dirty="0" sz="1200">
                <a:latin typeface="Arial"/>
                <a:cs typeface="Arial"/>
              </a:rPr>
              <a:t>This </a:t>
            </a:r>
            <a:r>
              <a:rPr dirty="0" sz="1200" spc="-5">
                <a:latin typeface="Arial"/>
                <a:cs typeface="Arial"/>
              </a:rPr>
              <a:t>is a regulation of  discipline in prayers, and not a classification of</a:t>
            </a:r>
            <a:r>
              <a:rPr dirty="0" sz="1200" spc="25">
                <a:latin typeface="Arial"/>
                <a:cs typeface="Arial"/>
              </a:rPr>
              <a:t> </a:t>
            </a:r>
            <a:r>
              <a:rPr dirty="0" sz="1200" spc="-5">
                <a:latin typeface="Arial"/>
                <a:cs typeface="Arial"/>
              </a:rPr>
              <a:t>importance.</a:t>
            </a:r>
            <a:endParaRPr sz="1200">
              <a:latin typeface="Arial"/>
              <a:cs typeface="Arial"/>
            </a:endParaRPr>
          </a:p>
          <a:p>
            <a:pPr algn="just" marL="469900" marR="5715" indent="-229235">
              <a:lnSpc>
                <a:spcPts val="1380"/>
              </a:lnSpc>
              <a:spcBef>
                <a:spcPts val="5"/>
              </a:spcBef>
            </a:pPr>
            <a:r>
              <a:rPr dirty="0" sz="1200">
                <a:latin typeface="Arial"/>
                <a:cs typeface="Arial"/>
              </a:rPr>
              <a:t>12. </a:t>
            </a:r>
            <a:r>
              <a:rPr dirty="0" sz="1200" spc="-5">
                <a:latin typeface="Arial"/>
                <a:cs typeface="Arial"/>
              </a:rPr>
              <a:t>The Muslim woman is always associated with an old </a:t>
            </a:r>
            <a:r>
              <a:rPr dirty="0" sz="1200">
                <a:latin typeface="Arial"/>
                <a:cs typeface="Arial"/>
              </a:rPr>
              <a:t>tradition </a:t>
            </a:r>
            <a:r>
              <a:rPr dirty="0" sz="1200" spc="-10">
                <a:latin typeface="Arial"/>
                <a:cs typeface="Arial"/>
              </a:rPr>
              <a:t>known </a:t>
            </a:r>
            <a:r>
              <a:rPr dirty="0" sz="1200" spc="-5">
                <a:latin typeface="Arial"/>
                <a:cs typeface="Arial"/>
              </a:rPr>
              <a:t>as </a:t>
            </a:r>
            <a:r>
              <a:rPr dirty="0" sz="1200">
                <a:latin typeface="Arial"/>
                <a:cs typeface="Arial"/>
              </a:rPr>
              <a:t>the </a:t>
            </a:r>
            <a:r>
              <a:rPr dirty="0" sz="1200" spc="-5">
                <a:latin typeface="Arial"/>
                <a:cs typeface="Arial"/>
              </a:rPr>
              <a:t>"veil". </a:t>
            </a:r>
            <a:r>
              <a:rPr dirty="0" sz="1200">
                <a:latin typeface="Arial"/>
                <a:cs typeface="Arial"/>
              </a:rPr>
              <a:t>It </a:t>
            </a:r>
            <a:r>
              <a:rPr dirty="0" sz="1200" spc="-5">
                <a:latin typeface="Arial"/>
                <a:cs typeface="Arial"/>
              </a:rPr>
              <a:t>is  </a:t>
            </a:r>
            <a:r>
              <a:rPr dirty="0" sz="1200">
                <a:latin typeface="Arial"/>
                <a:cs typeface="Arial"/>
              </a:rPr>
              <a:t>Islamic </a:t>
            </a:r>
            <a:r>
              <a:rPr dirty="0" sz="1200" spc="-5">
                <a:latin typeface="Arial"/>
                <a:cs typeface="Arial"/>
              </a:rPr>
              <a:t>that the woman should beautify </a:t>
            </a:r>
            <a:r>
              <a:rPr dirty="0" sz="1200">
                <a:latin typeface="Arial"/>
                <a:cs typeface="Arial"/>
              </a:rPr>
              <a:t>herself </a:t>
            </a:r>
            <a:r>
              <a:rPr dirty="0" sz="1200" spc="-5">
                <a:latin typeface="Arial"/>
                <a:cs typeface="Arial"/>
              </a:rPr>
              <a:t>with the veil </a:t>
            </a:r>
            <a:r>
              <a:rPr dirty="0" sz="1200">
                <a:latin typeface="Arial"/>
                <a:cs typeface="Arial"/>
              </a:rPr>
              <a:t>of </a:t>
            </a:r>
            <a:r>
              <a:rPr dirty="0" sz="1200" spc="-5">
                <a:latin typeface="Arial"/>
                <a:cs typeface="Arial"/>
              </a:rPr>
              <a:t>honour, dignity, chastity,  purity and integrity. She should refrain from all deeds and gestures that might </a:t>
            </a:r>
            <a:r>
              <a:rPr dirty="0" sz="1200">
                <a:latin typeface="Arial"/>
                <a:cs typeface="Arial"/>
              </a:rPr>
              <a:t>stir </a:t>
            </a:r>
            <a:r>
              <a:rPr dirty="0" sz="1200" spc="-10">
                <a:latin typeface="Arial"/>
                <a:cs typeface="Arial"/>
              </a:rPr>
              <a:t>the  </a:t>
            </a:r>
            <a:r>
              <a:rPr dirty="0" sz="1200">
                <a:latin typeface="Arial"/>
                <a:cs typeface="Arial"/>
              </a:rPr>
              <a:t>passions </a:t>
            </a:r>
            <a:r>
              <a:rPr dirty="0" sz="1200" spc="-5">
                <a:latin typeface="Arial"/>
                <a:cs typeface="Arial"/>
              </a:rPr>
              <a:t>of people other than her legitimate husband or cause </a:t>
            </a:r>
            <a:r>
              <a:rPr dirty="0" sz="1200" spc="-10">
                <a:latin typeface="Arial"/>
                <a:cs typeface="Arial"/>
              </a:rPr>
              <a:t>evil </a:t>
            </a:r>
            <a:r>
              <a:rPr dirty="0" sz="1200" spc="-5">
                <a:latin typeface="Arial"/>
                <a:cs typeface="Arial"/>
              </a:rPr>
              <a:t>suspicion of her  morality.</a:t>
            </a:r>
            <a:endParaRPr sz="1200">
              <a:latin typeface="Arial"/>
              <a:cs typeface="Arial"/>
            </a:endParaRPr>
          </a:p>
          <a:p>
            <a:pPr>
              <a:lnSpc>
                <a:spcPct val="100000"/>
              </a:lnSpc>
            </a:pPr>
            <a:endParaRPr sz="1300">
              <a:latin typeface="Arial"/>
              <a:cs typeface="Arial"/>
            </a:endParaRPr>
          </a:p>
          <a:p>
            <a:pPr marL="12700">
              <a:lnSpc>
                <a:spcPct val="100000"/>
              </a:lnSpc>
              <a:spcBef>
                <a:spcPts val="1170"/>
              </a:spcBef>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a:lnSpc>
                <a:spcPct val="100000"/>
              </a:lnSpc>
              <a:spcBef>
                <a:spcPts val="50"/>
              </a:spcBef>
            </a:pPr>
            <a:endParaRPr sz="1100">
              <a:latin typeface="Arial"/>
              <a:cs typeface="Arial"/>
            </a:endParaRPr>
          </a:p>
          <a:p>
            <a:pPr algn="ctr">
              <a:lnSpc>
                <a:spcPct val="100000"/>
              </a:lnSpc>
              <a:spcBef>
                <a:spcPts val="5"/>
              </a:spcBef>
            </a:pPr>
            <a:r>
              <a:rPr dirty="0" u="heavy" sz="1200" spc="-5" b="1" i="1">
                <a:uFill>
                  <a:solidFill>
                    <a:srgbClr val="000000"/>
                  </a:solidFill>
                </a:uFill>
                <a:latin typeface="Arial"/>
                <a:cs typeface="Arial"/>
              </a:rPr>
              <a:t>Syllabus 9013</a:t>
            </a:r>
            <a:endParaRPr sz="1200">
              <a:latin typeface="Arial"/>
              <a:cs typeface="Arial"/>
            </a:endParaRPr>
          </a:p>
          <a:p>
            <a:pPr>
              <a:lnSpc>
                <a:spcPct val="100000"/>
              </a:lnSpc>
              <a:spcBef>
                <a:spcPts val="55"/>
              </a:spcBef>
            </a:pPr>
            <a:endParaRPr sz="1150">
              <a:latin typeface="Arial"/>
              <a:cs typeface="Arial"/>
            </a:endParaRPr>
          </a:p>
          <a:p>
            <a:pPr algn="just" marL="12700" marR="5080">
              <a:lnSpc>
                <a:spcPct val="95900"/>
              </a:lnSpc>
              <a:buFont typeface="Arial"/>
              <a:buAutoNum type="arabicPlain" startAt="11"/>
              <a:tabLst>
                <a:tab pos="233679" algn="l"/>
              </a:tabLst>
            </a:pPr>
            <a:r>
              <a:rPr dirty="0" sz="1200" spc="-5">
                <a:latin typeface="Arial"/>
                <a:cs typeface="Arial"/>
              </a:rPr>
              <a:t>Some people </a:t>
            </a:r>
            <a:r>
              <a:rPr dirty="0" sz="1200">
                <a:latin typeface="Arial"/>
                <a:cs typeface="Arial"/>
              </a:rPr>
              <a:t>say </a:t>
            </a:r>
            <a:r>
              <a:rPr dirty="0" sz="1200" spc="-5">
                <a:latin typeface="Arial"/>
                <a:cs typeface="Arial"/>
              </a:rPr>
              <a:t>that </a:t>
            </a:r>
            <a:r>
              <a:rPr dirty="0" sz="1200">
                <a:latin typeface="Arial"/>
                <a:cs typeface="Arial"/>
              </a:rPr>
              <a:t>the </a:t>
            </a:r>
            <a:r>
              <a:rPr dirty="0" sz="1200" spc="-5">
                <a:latin typeface="Arial"/>
                <a:cs typeface="Arial"/>
              </a:rPr>
              <a:t>teachings of </a:t>
            </a:r>
            <a:r>
              <a:rPr dirty="0" sz="1200" spc="-10">
                <a:latin typeface="Arial"/>
                <a:cs typeface="Arial"/>
              </a:rPr>
              <a:t>the </a:t>
            </a:r>
            <a:r>
              <a:rPr dirty="0" sz="1200" spc="-5">
                <a:latin typeface="Arial"/>
                <a:cs typeface="Arial"/>
              </a:rPr>
              <a:t>Qur‘an about </a:t>
            </a:r>
            <a:r>
              <a:rPr dirty="0" sz="1200" spc="-10">
                <a:latin typeface="Arial"/>
                <a:cs typeface="Arial"/>
              </a:rPr>
              <a:t>women </a:t>
            </a:r>
            <a:r>
              <a:rPr dirty="0" sz="1200">
                <a:latin typeface="Arial"/>
                <a:cs typeface="Arial"/>
              </a:rPr>
              <a:t>are </a:t>
            </a:r>
            <a:r>
              <a:rPr dirty="0" sz="1200" spc="-5">
                <a:latin typeface="Arial"/>
                <a:cs typeface="Arial"/>
              </a:rPr>
              <a:t>not properly </a:t>
            </a:r>
            <a:r>
              <a:rPr dirty="0" sz="1200">
                <a:latin typeface="Arial"/>
                <a:cs typeface="Arial"/>
              </a:rPr>
              <a:t>put </a:t>
            </a:r>
            <a:r>
              <a:rPr dirty="0" sz="1200" spc="-5">
                <a:latin typeface="Arial"/>
                <a:cs typeface="Arial"/>
              </a:rPr>
              <a:t>into  practice in </a:t>
            </a:r>
            <a:r>
              <a:rPr dirty="0" sz="1200">
                <a:latin typeface="Arial"/>
                <a:cs typeface="Arial"/>
              </a:rPr>
              <a:t>many </a:t>
            </a:r>
            <a:r>
              <a:rPr dirty="0" sz="1200" spc="-5">
                <a:latin typeface="Arial"/>
                <a:cs typeface="Arial"/>
              </a:rPr>
              <a:t>places today. How </a:t>
            </a:r>
            <a:r>
              <a:rPr dirty="0" sz="1200">
                <a:latin typeface="Arial"/>
                <a:cs typeface="Arial"/>
              </a:rPr>
              <a:t>far </a:t>
            </a:r>
            <a:r>
              <a:rPr dirty="0" sz="1200" spc="-10">
                <a:latin typeface="Arial"/>
                <a:cs typeface="Arial"/>
              </a:rPr>
              <a:t>do you </a:t>
            </a:r>
            <a:r>
              <a:rPr dirty="0" sz="1200" spc="-5">
                <a:latin typeface="Arial"/>
                <a:cs typeface="Arial"/>
              </a:rPr>
              <a:t>agree or disagree with </a:t>
            </a:r>
            <a:r>
              <a:rPr dirty="0" sz="1200" spc="5">
                <a:latin typeface="Arial"/>
                <a:cs typeface="Arial"/>
              </a:rPr>
              <a:t>what </a:t>
            </a:r>
            <a:r>
              <a:rPr dirty="0" sz="1200" spc="-5">
                <a:latin typeface="Arial"/>
                <a:cs typeface="Arial"/>
              </a:rPr>
              <a:t>these people  say? </a:t>
            </a:r>
            <a:r>
              <a:rPr dirty="0" sz="1200">
                <a:latin typeface="Arial"/>
                <a:cs typeface="Arial"/>
              </a:rPr>
              <a:t>[20]</a:t>
            </a:r>
            <a:r>
              <a:rPr dirty="0" sz="1200" spc="10">
                <a:latin typeface="Arial"/>
                <a:cs typeface="Arial"/>
              </a:rPr>
              <a:t> </a:t>
            </a:r>
            <a:r>
              <a:rPr dirty="0" sz="1200" spc="-5" b="1">
                <a:latin typeface="Arial"/>
                <a:cs typeface="Arial"/>
              </a:rPr>
              <a:t>(2003)</a:t>
            </a:r>
            <a:endParaRPr sz="1200">
              <a:latin typeface="Arial"/>
              <a:cs typeface="Arial"/>
            </a:endParaRPr>
          </a:p>
          <a:p>
            <a:pPr>
              <a:lnSpc>
                <a:spcPct val="100000"/>
              </a:lnSpc>
              <a:spcBef>
                <a:spcPts val="55"/>
              </a:spcBef>
              <a:buFont typeface="Arial"/>
              <a:buAutoNum type="arabicPlain" startAt="11"/>
            </a:pPr>
            <a:endParaRPr sz="1100">
              <a:latin typeface="Arial"/>
              <a:cs typeface="Arial"/>
            </a:endParaRPr>
          </a:p>
          <a:p>
            <a:pPr marL="225425" indent="-213360">
              <a:lnSpc>
                <a:spcPts val="1410"/>
              </a:lnSpc>
              <a:buAutoNum type="arabicPlain" startAt="11"/>
              <a:tabLst>
                <a:tab pos="226060" algn="l"/>
              </a:tabLst>
            </a:pPr>
            <a:r>
              <a:rPr dirty="0" sz="1200" spc="-5" b="1">
                <a:latin typeface="Arial"/>
                <a:cs typeface="Arial"/>
              </a:rPr>
              <a:t>(a) </a:t>
            </a:r>
            <a:r>
              <a:rPr dirty="0" sz="1200" spc="-5">
                <a:latin typeface="Arial"/>
                <a:cs typeface="Arial"/>
              </a:rPr>
              <a:t>Outline </a:t>
            </a:r>
            <a:r>
              <a:rPr dirty="0" sz="1200">
                <a:latin typeface="Arial"/>
                <a:cs typeface="Arial"/>
              </a:rPr>
              <a:t>the </a:t>
            </a:r>
            <a:r>
              <a:rPr dirty="0" sz="1200" spc="-5">
                <a:latin typeface="Arial"/>
                <a:cs typeface="Arial"/>
              </a:rPr>
              <a:t>teachings of Islam about </a:t>
            </a:r>
            <a:r>
              <a:rPr dirty="0" sz="1200" spc="-10">
                <a:latin typeface="Arial"/>
                <a:cs typeface="Arial"/>
              </a:rPr>
              <a:t>the </a:t>
            </a:r>
            <a:r>
              <a:rPr dirty="0" sz="1200" spc="-5">
                <a:latin typeface="Arial"/>
                <a:cs typeface="Arial"/>
              </a:rPr>
              <a:t>place of women,</a:t>
            </a:r>
            <a:r>
              <a:rPr dirty="0" sz="1200" spc="50">
                <a:latin typeface="Arial"/>
                <a:cs typeface="Arial"/>
              </a:rPr>
              <a:t> </a:t>
            </a:r>
            <a:r>
              <a:rPr dirty="0" sz="1200" spc="-5">
                <a:latin typeface="Arial"/>
                <a:cs typeface="Arial"/>
              </a:rPr>
              <a:t>[12]</a:t>
            </a:r>
            <a:endParaRPr sz="1200">
              <a:latin typeface="Arial"/>
              <a:cs typeface="Arial"/>
            </a:endParaRPr>
          </a:p>
          <a:p>
            <a:pPr marL="12700" marR="10160">
              <a:lnSpc>
                <a:spcPts val="1380"/>
              </a:lnSpc>
              <a:spcBef>
                <a:spcPts val="65"/>
              </a:spcBef>
            </a:pPr>
            <a:r>
              <a:rPr dirty="0" sz="1200" spc="-10" b="1">
                <a:latin typeface="Arial"/>
                <a:cs typeface="Arial"/>
              </a:rPr>
              <a:t>And </a:t>
            </a:r>
            <a:r>
              <a:rPr dirty="0" sz="1200" b="1">
                <a:latin typeface="Arial"/>
                <a:cs typeface="Arial"/>
              </a:rPr>
              <a:t>(b) </a:t>
            </a:r>
            <a:r>
              <a:rPr dirty="0" sz="1200" spc="-5">
                <a:latin typeface="Arial"/>
                <a:cs typeface="Arial"/>
              </a:rPr>
              <a:t>show how </a:t>
            </a:r>
            <a:r>
              <a:rPr dirty="0" sz="1200">
                <a:latin typeface="Arial"/>
                <a:cs typeface="Arial"/>
              </a:rPr>
              <a:t>this </a:t>
            </a:r>
            <a:r>
              <a:rPr dirty="0" sz="1200" spc="-5">
                <a:latin typeface="Arial"/>
                <a:cs typeface="Arial"/>
              </a:rPr>
              <a:t>teaching is put into practice among Muslims in a country </a:t>
            </a:r>
            <a:r>
              <a:rPr dirty="0" sz="1200" spc="-10">
                <a:latin typeface="Arial"/>
                <a:cs typeface="Arial"/>
              </a:rPr>
              <a:t>you </a:t>
            </a:r>
            <a:r>
              <a:rPr dirty="0" sz="1200" spc="-5">
                <a:latin typeface="Arial"/>
                <a:cs typeface="Arial"/>
              </a:rPr>
              <a:t>know.  </a:t>
            </a:r>
            <a:r>
              <a:rPr dirty="0" sz="1200">
                <a:latin typeface="Arial"/>
                <a:cs typeface="Arial"/>
              </a:rPr>
              <a:t>[8] </a:t>
            </a:r>
            <a:r>
              <a:rPr dirty="0" sz="1200" spc="-5" b="1">
                <a:latin typeface="Arial"/>
                <a:cs typeface="Arial"/>
              </a:rPr>
              <a:t>(2004)</a:t>
            </a:r>
            <a:endParaRPr sz="1200">
              <a:latin typeface="Arial"/>
              <a:cs typeface="Arial"/>
            </a:endParaRPr>
          </a:p>
          <a:p>
            <a:pPr>
              <a:lnSpc>
                <a:spcPct val="100000"/>
              </a:lnSpc>
            </a:pPr>
            <a:endParaRPr sz="1200">
              <a:latin typeface="Arial"/>
              <a:cs typeface="Arial"/>
            </a:endParaRPr>
          </a:p>
          <a:p>
            <a:pPr marL="12700" marR="6350">
              <a:lnSpc>
                <a:spcPts val="1380"/>
              </a:lnSpc>
            </a:pPr>
            <a:r>
              <a:rPr dirty="0" sz="1200" spc="-5" b="1">
                <a:latin typeface="Arial"/>
                <a:cs typeface="Arial"/>
              </a:rPr>
              <a:t>11 </a:t>
            </a:r>
            <a:r>
              <a:rPr dirty="0" sz="1200" spc="-5">
                <a:latin typeface="Arial"/>
                <a:cs typeface="Arial"/>
              </a:rPr>
              <a:t>Give </a:t>
            </a:r>
            <a:r>
              <a:rPr dirty="0" sz="1200">
                <a:latin typeface="Arial"/>
                <a:cs typeface="Arial"/>
              </a:rPr>
              <a:t>reasons </a:t>
            </a:r>
            <a:r>
              <a:rPr dirty="0" sz="1200" spc="-5">
                <a:latin typeface="Arial"/>
                <a:cs typeface="Arial"/>
              </a:rPr>
              <a:t>to agree </a:t>
            </a:r>
            <a:r>
              <a:rPr dirty="0" sz="1200">
                <a:latin typeface="Arial"/>
                <a:cs typeface="Arial"/>
              </a:rPr>
              <a:t>or </a:t>
            </a:r>
            <a:r>
              <a:rPr dirty="0" sz="1200" spc="-5">
                <a:latin typeface="Arial"/>
                <a:cs typeface="Arial"/>
              </a:rPr>
              <a:t>disagree with the view </a:t>
            </a:r>
            <a:r>
              <a:rPr dirty="0" sz="1200" spc="5">
                <a:latin typeface="Arial"/>
                <a:cs typeface="Arial"/>
              </a:rPr>
              <a:t>that </a:t>
            </a:r>
            <a:r>
              <a:rPr dirty="0" sz="1200">
                <a:latin typeface="Arial"/>
                <a:cs typeface="Arial"/>
              </a:rPr>
              <a:t>the </a:t>
            </a:r>
            <a:r>
              <a:rPr dirty="0" sz="1200" spc="-5">
                <a:latin typeface="Arial"/>
                <a:cs typeface="Arial"/>
              </a:rPr>
              <a:t>proper place </a:t>
            </a:r>
            <a:r>
              <a:rPr dirty="0" sz="1200">
                <a:latin typeface="Arial"/>
                <a:cs typeface="Arial"/>
              </a:rPr>
              <a:t>for </a:t>
            </a:r>
            <a:r>
              <a:rPr dirty="0" sz="1200" spc="-5">
                <a:latin typeface="Arial"/>
                <a:cs typeface="Arial"/>
              </a:rPr>
              <a:t>a Muslim woman  is in </a:t>
            </a:r>
            <a:r>
              <a:rPr dirty="0" sz="1200">
                <a:latin typeface="Arial"/>
                <a:cs typeface="Arial"/>
              </a:rPr>
              <a:t>the </a:t>
            </a:r>
            <a:r>
              <a:rPr dirty="0" sz="1200" spc="-5">
                <a:latin typeface="Arial"/>
                <a:cs typeface="Arial"/>
              </a:rPr>
              <a:t>home. [20]</a:t>
            </a:r>
            <a:r>
              <a:rPr dirty="0" sz="1200" spc="15">
                <a:latin typeface="Arial"/>
                <a:cs typeface="Arial"/>
              </a:rPr>
              <a:t> </a:t>
            </a:r>
            <a:r>
              <a:rPr dirty="0" sz="1200" spc="-5" b="1">
                <a:latin typeface="Arial"/>
                <a:cs typeface="Arial"/>
              </a:rPr>
              <a:t>(2006)</a:t>
            </a:r>
            <a:endParaRPr sz="1200">
              <a:latin typeface="Arial"/>
              <a:cs typeface="Arial"/>
            </a:endParaRPr>
          </a:p>
          <a:p>
            <a:pPr>
              <a:lnSpc>
                <a:spcPct val="100000"/>
              </a:lnSpc>
            </a:pPr>
            <a:endParaRPr sz="1200">
              <a:latin typeface="Arial"/>
              <a:cs typeface="Arial"/>
            </a:endParaRPr>
          </a:p>
          <a:p>
            <a:pPr marL="12700" marR="10160">
              <a:lnSpc>
                <a:spcPts val="1380"/>
              </a:lnSpc>
              <a:buFont typeface="Arial"/>
              <a:buAutoNum type="arabicPlain" startAt="11"/>
              <a:tabLst>
                <a:tab pos="233679" algn="l"/>
              </a:tabLst>
            </a:pPr>
            <a:r>
              <a:rPr dirty="0" sz="1200" spc="-5">
                <a:latin typeface="Arial"/>
                <a:cs typeface="Arial"/>
              </a:rPr>
              <a:t>Outline the teachings </a:t>
            </a:r>
            <a:r>
              <a:rPr dirty="0" sz="1200">
                <a:latin typeface="Arial"/>
                <a:cs typeface="Arial"/>
              </a:rPr>
              <a:t>of </a:t>
            </a:r>
            <a:r>
              <a:rPr dirty="0" sz="1200" spc="-5">
                <a:latin typeface="Arial"/>
                <a:cs typeface="Arial"/>
              </a:rPr>
              <a:t>Islam about the place of women, and show how </a:t>
            </a:r>
            <a:r>
              <a:rPr dirty="0" sz="1200">
                <a:latin typeface="Arial"/>
                <a:cs typeface="Arial"/>
              </a:rPr>
              <a:t>these </a:t>
            </a:r>
            <a:r>
              <a:rPr dirty="0" sz="1200" spc="-5">
                <a:latin typeface="Arial"/>
                <a:cs typeface="Arial"/>
              </a:rPr>
              <a:t>teachings  are put into practice among Muslims in a country </a:t>
            </a:r>
            <a:r>
              <a:rPr dirty="0" sz="1200" spc="-10">
                <a:latin typeface="Arial"/>
                <a:cs typeface="Arial"/>
              </a:rPr>
              <a:t>you </a:t>
            </a:r>
            <a:r>
              <a:rPr dirty="0" sz="1200" spc="-5">
                <a:latin typeface="Arial"/>
                <a:cs typeface="Arial"/>
              </a:rPr>
              <a:t>know. [20]</a:t>
            </a:r>
            <a:r>
              <a:rPr dirty="0" sz="1200" spc="95">
                <a:latin typeface="Arial"/>
                <a:cs typeface="Arial"/>
              </a:rPr>
              <a:t> </a:t>
            </a:r>
            <a:r>
              <a:rPr dirty="0" sz="1200" spc="-5" b="1">
                <a:latin typeface="Arial"/>
                <a:cs typeface="Arial"/>
              </a:rPr>
              <a:t>(2007)</a:t>
            </a:r>
            <a:endParaRPr sz="1200">
              <a:latin typeface="Arial"/>
              <a:cs typeface="Arial"/>
            </a:endParaRPr>
          </a:p>
          <a:p>
            <a:pPr>
              <a:lnSpc>
                <a:spcPct val="100000"/>
              </a:lnSpc>
              <a:spcBef>
                <a:spcPts val="20"/>
              </a:spcBef>
              <a:buFont typeface="Arial"/>
              <a:buAutoNum type="arabicPlain" startAt="11"/>
            </a:pPr>
            <a:endParaRPr sz="1100">
              <a:latin typeface="Arial"/>
              <a:cs typeface="Arial"/>
            </a:endParaRPr>
          </a:p>
          <a:p>
            <a:pPr marL="226060" indent="-213360">
              <a:lnSpc>
                <a:spcPts val="1410"/>
              </a:lnSpc>
              <a:buFont typeface="Arial"/>
              <a:buAutoNum type="arabicPlain" startAt="11"/>
              <a:tabLst>
                <a:tab pos="226060" algn="l"/>
              </a:tabLst>
            </a:pPr>
            <a:r>
              <a:rPr dirty="0" sz="1200" spc="-5">
                <a:latin typeface="Arial"/>
                <a:cs typeface="Arial"/>
              </a:rPr>
              <a:t>According </a:t>
            </a:r>
            <a:r>
              <a:rPr dirty="0" sz="1200">
                <a:latin typeface="Arial"/>
                <a:cs typeface="Arial"/>
              </a:rPr>
              <a:t>to the Prophet: </a:t>
            </a:r>
            <a:r>
              <a:rPr dirty="0" sz="1200" spc="-50">
                <a:latin typeface="Arial"/>
                <a:cs typeface="Arial"/>
              </a:rPr>
              <a:t>‗Paradise </a:t>
            </a:r>
            <a:r>
              <a:rPr dirty="0" sz="1200" spc="-5">
                <a:latin typeface="Arial"/>
                <a:cs typeface="Arial"/>
              </a:rPr>
              <a:t>lies </a:t>
            </a:r>
            <a:r>
              <a:rPr dirty="0" sz="1200">
                <a:latin typeface="Arial"/>
                <a:cs typeface="Arial"/>
              </a:rPr>
              <a:t>at the </a:t>
            </a:r>
            <a:r>
              <a:rPr dirty="0" sz="1200" spc="-5">
                <a:latin typeface="Arial"/>
                <a:cs typeface="Arial"/>
              </a:rPr>
              <a:t>feet of</a:t>
            </a:r>
            <a:r>
              <a:rPr dirty="0" sz="1200" spc="10">
                <a:latin typeface="Arial"/>
                <a:cs typeface="Arial"/>
              </a:rPr>
              <a:t> </a:t>
            </a:r>
            <a:r>
              <a:rPr dirty="0" sz="1200" spc="-5">
                <a:latin typeface="Arial"/>
                <a:cs typeface="Arial"/>
              </a:rPr>
              <a:t>mothers‘.</a:t>
            </a:r>
            <a:endParaRPr sz="1200">
              <a:latin typeface="Arial"/>
              <a:cs typeface="Arial"/>
            </a:endParaRPr>
          </a:p>
          <a:p>
            <a:pPr marL="12700" marR="11430">
              <a:lnSpc>
                <a:spcPts val="1380"/>
              </a:lnSpc>
              <a:spcBef>
                <a:spcPts val="70"/>
              </a:spcBef>
            </a:pPr>
            <a:r>
              <a:rPr dirty="0" sz="1200" spc="-5">
                <a:latin typeface="Arial"/>
                <a:cs typeface="Arial"/>
              </a:rPr>
              <a:t>Explain </a:t>
            </a:r>
            <a:r>
              <a:rPr dirty="0" sz="1200">
                <a:latin typeface="Arial"/>
                <a:cs typeface="Arial"/>
              </a:rPr>
              <a:t>the </a:t>
            </a:r>
            <a:r>
              <a:rPr dirty="0" sz="1200" spc="-5">
                <a:latin typeface="Arial"/>
                <a:cs typeface="Arial"/>
              </a:rPr>
              <a:t>importance of this statement in </a:t>
            </a:r>
            <a:r>
              <a:rPr dirty="0" sz="1200">
                <a:latin typeface="Arial"/>
                <a:cs typeface="Arial"/>
              </a:rPr>
              <a:t>a </a:t>
            </a:r>
            <a:r>
              <a:rPr dirty="0" sz="1200" spc="-5">
                <a:latin typeface="Arial"/>
                <a:cs typeface="Arial"/>
              </a:rPr>
              <a:t>Muslim‘s understanding </a:t>
            </a:r>
            <a:r>
              <a:rPr dirty="0" sz="1200">
                <a:latin typeface="Arial"/>
                <a:cs typeface="Arial"/>
              </a:rPr>
              <a:t>of the </a:t>
            </a:r>
            <a:r>
              <a:rPr dirty="0" sz="1200" spc="-5">
                <a:latin typeface="Arial"/>
                <a:cs typeface="Arial"/>
              </a:rPr>
              <a:t>place of </a:t>
            </a:r>
            <a:r>
              <a:rPr dirty="0" sz="1200" spc="-10">
                <a:latin typeface="Arial"/>
                <a:cs typeface="Arial"/>
              </a:rPr>
              <a:t>women  </a:t>
            </a:r>
            <a:r>
              <a:rPr dirty="0" sz="1200" spc="-5">
                <a:latin typeface="Arial"/>
                <a:cs typeface="Arial"/>
              </a:rPr>
              <a:t>in society. [20]</a:t>
            </a:r>
            <a:r>
              <a:rPr dirty="0" sz="1200" spc="20">
                <a:latin typeface="Arial"/>
                <a:cs typeface="Arial"/>
              </a:rPr>
              <a:t> </a:t>
            </a:r>
            <a:r>
              <a:rPr dirty="0" sz="1200" spc="-5" b="1">
                <a:latin typeface="Arial"/>
                <a:cs typeface="Arial"/>
              </a:rPr>
              <a:t>(2008)</a:t>
            </a:r>
            <a:endParaRPr sz="1200">
              <a:latin typeface="Arial"/>
              <a:cs typeface="Arial"/>
            </a:endParaRPr>
          </a:p>
          <a:p>
            <a:pPr>
              <a:lnSpc>
                <a:spcPct val="100000"/>
              </a:lnSpc>
              <a:spcBef>
                <a:spcPts val="55"/>
              </a:spcBef>
            </a:pPr>
            <a:endParaRPr sz="1150">
              <a:latin typeface="Arial"/>
              <a:cs typeface="Arial"/>
            </a:endParaRPr>
          </a:p>
          <a:p>
            <a:pPr marL="12700" marR="10795">
              <a:lnSpc>
                <a:spcPts val="1380"/>
              </a:lnSpc>
            </a:pPr>
            <a:r>
              <a:rPr dirty="0" sz="1200" spc="-5" b="1">
                <a:latin typeface="Arial"/>
                <a:cs typeface="Arial"/>
              </a:rPr>
              <a:t>12 </a:t>
            </a:r>
            <a:r>
              <a:rPr dirty="0" sz="1200" spc="-85">
                <a:latin typeface="Arial"/>
                <a:cs typeface="Arial"/>
              </a:rPr>
              <a:t>‗When </a:t>
            </a:r>
            <a:r>
              <a:rPr dirty="0" sz="1200" spc="-5">
                <a:latin typeface="Arial"/>
                <a:cs typeface="Arial"/>
              </a:rPr>
              <a:t>it comes </a:t>
            </a:r>
            <a:r>
              <a:rPr dirty="0" sz="1200">
                <a:latin typeface="Arial"/>
                <a:cs typeface="Arial"/>
              </a:rPr>
              <a:t>to </a:t>
            </a:r>
            <a:r>
              <a:rPr dirty="0" sz="1200" spc="-5">
                <a:latin typeface="Arial"/>
                <a:cs typeface="Arial"/>
              </a:rPr>
              <a:t>women, Muslims </a:t>
            </a:r>
            <a:r>
              <a:rPr dirty="0" sz="1200">
                <a:latin typeface="Arial"/>
                <a:cs typeface="Arial"/>
              </a:rPr>
              <a:t>only pay lip-service to </a:t>
            </a:r>
            <a:r>
              <a:rPr dirty="0" sz="1200" spc="-5">
                <a:latin typeface="Arial"/>
                <a:cs typeface="Arial"/>
              </a:rPr>
              <a:t>the teachings of the Qur‘an </a:t>
            </a:r>
            <a:r>
              <a:rPr dirty="0" sz="1200">
                <a:latin typeface="Arial"/>
                <a:cs typeface="Arial"/>
              </a:rPr>
              <a:t>and  </a:t>
            </a:r>
            <a:r>
              <a:rPr dirty="0" sz="1200" spc="-5">
                <a:latin typeface="Arial"/>
                <a:cs typeface="Arial"/>
              </a:rPr>
              <a:t>Sunnah.‘ Discuss, giving </a:t>
            </a:r>
            <a:r>
              <a:rPr dirty="0" sz="1200">
                <a:latin typeface="Arial"/>
                <a:cs typeface="Arial"/>
              </a:rPr>
              <a:t>reasons </a:t>
            </a:r>
            <a:r>
              <a:rPr dirty="0" sz="1200" spc="-5">
                <a:latin typeface="Arial"/>
                <a:cs typeface="Arial"/>
              </a:rPr>
              <a:t>as to </a:t>
            </a:r>
            <a:r>
              <a:rPr dirty="0" sz="1200" spc="-10">
                <a:latin typeface="Arial"/>
                <a:cs typeface="Arial"/>
              </a:rPr>
              <a:t>why </a:t>
            </a:r>
            <a:r>
              <a:rPr dirty="0" sz="1200" spc="-5">
                <a:latin typeface="Arial"/>
                <a:cs typeface="Arial"/>
              </a:rPr>
              <a:t>you agree or disagree with this claim. [20]</a:t>
            </a:r>
            <a:r>
              <a:rPr dirty="0" sz="1200" spc="215">
                <a:latin typeface="Arial"/>
                <a:cs typeface="Arial"/>
              </a:rPr>
              <a:t> </a:t>
            </a:r>
            <a:r>
              <a:rPr dirty="0" sz="1200" spc="-5" b="1">
                <a:latin typeface="Arial"/>
                <a:cs typeface="Arial"/>
              </a:rPr>
              <a:t>(2009)</a:t>
            </a:r>
            <a:endParaRPr sz="1200">
              <a:latin typeface="Arial"/>
              <a:cs typeface="Arial"/>
            </a:endParaRPr>
          </a:p>
          <a:p>
            <a:pPr>
              <a:lnSpc>
                <a:spcPct val="100000"/>
              </a:lnSpc>
              <a:spcBef>
                <a:spcPts val="20"/>
              </a:spcBef>
            </a:pPr>
            <a:endParaRPr sz="1100">
              <a:latin typeface="Arial"/>
              <a:cs typeface="Arial"/>
            </a:endParaRPr>
          </a:p>
          <a:p>
            <a:pPr marL="12700">
              <a:lnSpc>
                <a:spcPts val="1405"/>
              </a:lnSpc>
            </a:pPr>
            <a:r>
              <a:rPr dirty="0" sz="1200" spc="-5" b="1">
                <a:latin typeface="Arial"/>
                <a:cs typeface="Arial"/>
              </a:rPr>
              <a:t>11 (a) </a:t>
            </a:r>
            <a:r>
              <a:rPr dirty="0" sz="1200" spc="-5">
                <a:latin typeface="Arial"/>
                <a:cs typeface="Arial"/>
              </a:rPr>
              <a:t>Outline </a:t>
            </a:r>
            <a:r>
              <a:rPr dirty="0" sz="1200">
                <a:latin typeface="Arial"/>
                <a:cs typeface="Arial"/>
              </a:rPr>
              <a:t>the </a:t>
            </a:r>
            <a:r>
              <a:rPr dirty="0" sz="1200" spc="-5">
                <a:latin typeface="Arial"/>
                <a:cs typeface="Arial"/>
              </a:rPr>
              <a:t>main teachings of the Qur‘an about women.</a:t>
            </a:r>
            <a:r>
              <a:rPr dirty="0" sz="1200" spc="15">
                <a:latin typeface="Arial"/>
                <a:cs typeface="Arial"/>
              </a:rPr>
              <a:t> </a:t>
            </a:r>
            <a:r>
              <a:rPr dirty="0" sz="1200" spc="-5">
                <a:latin typeface="Arial"/>
                <a:cs typeface="Arial"/>
              </a:rPr>
              <a:t>[10]</a:t>
            </a:r>
            <a:endParaRPr sz="1200">
              <a:latin typeface="Arial"/>
              <a:cs typeface="Arial"/>
            </a:endParaRPr>
          </a:p>
          <a:p>
            <a:pPr marL="12700" marR="133985" indent="213360">
              <a:lnSpc>
                <a:spcPts val="1380"/>
              </a:lnSpc>
              <a:spcBef>
                <a:spcPts val="60"/>
              </a:spcBef>
            </a:pPr>
            <a:r>
              <a:rPr dirty="0" sz="1200" spc="-5" b="1">
                <a:latin typeface="Arial"/>
                <a:cs typeface="Arial"/>
              </a:rPr>
              <a:t>(b) </a:t>
            </a:r>
            <a:r>
              <a:rPr dirty="0" sz="1200" spc="-5">
                <a:latin typeface="Arial"/>
                <a:cs typeface="Arial"/>
              </a:rPr>
              <a:t>How </a:t>
            </a:r>
            <a:r>
              <a:rPr dirty="0" sz="1200" spc="5">
                <a:latin typeface="Arial"/>
                <a:cs typeface="Arial"/>
              </a:rPr>
              <a:t>far </a:t>
            </a:r>
            <a:r>
              <a:rPr dirty="0" sz="1200" spc="-10">
                <a:latin typeface="Arial"/>
                <a:cs typeface="Arial"/>
              </a:rPr>
              <a:t>can </a:t>
            </a:r>
            <a:r>
              <a:rPr dirty="0" sz="1200" spc="-5">
                <a:latin typeface="Arial"/>
                <a:cs typeface="Arial"/>
              </a:rPr>
              <a:t>these teachings </a:t>
            </a:r>
            <a:r>
              <a:rPr dirty="0" sz="1200">
                <a:latin typeface="Arial"/>
                <a:cs typeface="Arial"/>
              </a:rPr>
              <a:t>be </a:t>
            </a:r>
            <a:r>
              <a:rPr dirty="0" sz="1200" spc="-5">
                <a:latin typeface="Arial"/>
                <a:cs typeface="Arial"/>
              </a:rPr>
              <a:t>reconciled with the position of women in present day  societies? [10] </a:t>
            </a:r>
            <a:r>
              <a:rPr dirty="0" sz="1200" spc="-5" b="1">
                <a:latin typeface="Arial"/>
                <a:cs typeface="Arial"/>
              </a:rPr>
              <a:t>(2010)</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178</a:t>
            </a:r>
            <a:endParaRPr sz="1200">
              <a:latin typeface="Times New Roman"/>
              <a:cs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5971540" cy="208279"/>
          </a:xfrm>
          <a:prstGeom prst="rect">
            <a:avLst/>
          </a:prstGeom>
        </p:spPr>
        <p:txBody>
          <a:bodyPr wrap="square" lIns="0" tIns="12700" rIns="0" bIns="0" rtlCol="0" vert="horz">
            <a:spAutoFit/>
          </a:bodyPr>
          <a:lstStyle/>
          <a:p>
            <a:pPr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a:t>
            </a:r>
            <a:r>
              <a:rPr dirty="0" sz="1200" spc="-50"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662940" y="827531"/>
            <a:ext cx="6420485" cy="181610"/>
          </a:xfrm>
          <a:prstGeom prst="rect">
            <a:avLst/>
          </a:prstGeom>
          <a:ln w="6095">
            <a:solidFill>
              <a:srgbClr val="000000"/>
            </a:solidFill>
          </a:ln>
        </p:spPr>
        <p:txBody>
          <a:bodyPr wrap="square" lIns="0" tIns="0" rIns="0" bIns="0" rtlCol="0" vert="horz">
            <a:spAutoFit/>
          </a:bodyPr>
          <a:lstStyle/>
          <a:p>
            <a:pPr algn="ctr">
              <a:lnSpc>
                <a:spcPts val="1370"/>
              </a:lnSpc>
            </a:pPr>
            <a:r>
              <a:rPr dirty="0" sz="1200" spc="-5" b="1">
                <a:latin typeface="Arial"/>
                <a:cs typeface="Arial"/>
              </a:rPr>
              <a:t>Muslim </a:t>
            </a:r>
            <a:r>
              <a:rPr dirty="0" sz="1200" b="1">
                <a:latin typeface="Arial"/>
                <a:cs typeface="Arial"/>
              </a:rPr>
              <a:t>Minorities</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179</a:t>
            </a:r>
            <a:endParaRPr sz="1200">
              <a:latin typeface="Times New Roman"/>
              <a:cs typeface="Times New Roman"/>
            </a:endParaRPr>
          </a:p>
        </p:txBody>
      </p:sp>
      <p:sp>
        <p:nvSpPr>
          <p:cNvPr id="5" name="object 5"/>
          <p:cNvSpPr txBox="1"/>
          <p:nvPr/>
        </p:nvSpPr>
        <p:spPr>
          <a:xfrm>
            <a:off x="718819" y="1162557"/>
            <a:ext cx="6311265" cy="8298815"/>
          </a:xfrm>
          <a:prstGeom prst="rect">
            <a:avLst/>
          </a:prstGeom>
        </p:spPr>
        <p:txBody>
          <a:bodyPr wrap="square" lIns="0" tIns="24765" rIns="0" bIns="0" rtlCol="0" vert="horz">
            <a:spAutoFit/>
          </a:bodyPr>
          <a:lstStyle/>
          <a:p>
            <a:pPr algn="just" marL="12700" marR="5080">
              <a:lnSpc>
                <a:spcPts val="1380"/>
              </a:lnSpc>
              <a:spcBef>
                <a:spcPts val="195"/>
              </a:spcBef>
            </a:pPr>
            <a:r>
              <a:rPr dirty="0" sz="1200" spc="-5">
                <a:latin typeface="Arial"/>
                <a:cs typeface="Arial"/>
              </a:rPr>
              <a:t>Minorities are sometimes considered as those </a:t>
            </a:r>
            <a:r>
              <a:rPr dirty="0" sz="1200">
                <a:latin typeface="Arial"/>
                <a:cs typeface="Arial"/>
              </a:rPr>
              <a:t>left </a:t>
            </a:r>
            <a:r>
              <a:rPr dirty="0" sz="1200" spc="-5">
                <a:latin typeface="Arial"/>
                <a:cs typeface="Arial"/>
              </a:rPr>
              <a:t>behind after the </a:t>
            </a:r>
            <a:r>
              <a:rPr dirty="0" sz="1200">
                <a:latin typeface="Arial"/>
                <a:cs typeface="Arial"/>
              </a:rPr>
              <a:t>non-Muslim </a:t>
            </a:r>
            <a:r>
              <a:rPr dirty="0" sz="1200" spc="-5">
                <a:latin typeface="Arial"/>
                <a:cs typeface="Arial"/>
              </a:rPr>
              <a:t>occupation of  Muslim lands. These modern jurists presume that eventually minority Muslims </a:t>
            </a:r>
            <a:r>
              <a:rPr dirty="0" sz="1200" spc="-10">
                <a:latin typeface="Arial"/>
                <a:cs typeface="Arial"/>
              </a:rPr>
              <a:t>will </a:t>
            </a:r>
            <a:r>
              <a:rPr dirty="0" sz="1200" spc="-5">
                <a:latin typeface="Arial"/>
                <a:cs typeface="Arial"/>
              </a:rPr>
              <a:t>have </a:t>
            </a:r>
            <a:r>
              <a:rPr dirty="0" sz="1200">
                <a:latin typeface="Arial"/>
                <a:cs typeface="Arial"/>
              </a:rPr>
              <a:t>to  </a:t>
            </a:r>
            <a:r>
              <a:rPr dirty="0" sz="1200" spc="-5">
                <a:latin typeface="Arial"/>
                <a:cs typeface="Arial"/>
              </a:rPr>
              <a:t>migrate back </a:t>
            </a:r>
            <a:r>
              <a:rPr dirty="0" sz="1200">
                <a:latin typeface="Arial"/>
                <a:cs typeface="Arial"/>
              </a:rPr>
              <a:t>to </a:t>
            </a:r>
            <a:r>
              <a:rPr dirty="0" sz="1200" spc="-5">
                <a:latin typeface="Arial"/>
                <a:cs typeface="Arial"/>
              </a:rPr>
              <a:t>Muslim </a:t>
            </a:r>
            <a:r>
              <a:rPr dirty="0" sz="1200">
                <a:latin typeface="Arial"/>
                <a:cs typeface="Arial"/>
              </a:rPr>
              <a:t>countries. </a:t>
            </a:r>
            <a:r>
              <a:rPr dirty="0" sz="1200" spc="-5">
                <a:latin typeface="Arial"/>
                <a:cs typeface="Arial"/>
              </a:rPr>
              <a:t>In the meantime, </a:t>
            </a:r>
            <a:r>
              <a:rPr dirty="0" sz="1200">
                <a:latin typeface="Arial"/>
                <a:cs typeface="Arial"/>
              </a:rPr>
              <a:t>they </a:t>
            </a:r>
            <a:r>
              <a:rPr dirty="0" sz="1200" spc="-5">
                <a:latin typeface="Arial"/>
                <a:cs typeface="Arial"/>
              </a:rPr>
              <a:t>must protect their religious and  cultural identity by </a:t>
            </a:r>
            <a:r>
              <a:rPr dirty="0" sz="1200">
                <a:latin typeface="Arial"/>
                <a:cs typeface="Arial"/>
              </a:rPr>
              <a:t>isolating </a:t>
            </a:r>
            <a:r>
              <a:rPr dirty="0" sz="1200" spc="-5">
                <a:latin typeface="Arial"/>
                <a:cs typeface="Arial"/>
              </a:rPr>
              <a:t>themselves from </a:t>
            </a:r>
            <a:r>
              <a:rPr dirty="0" sz="1200">
                <a:latin typeface="Arial"/>
                <a:cs typeface="Arial"/>
              </a:rPr>
              <a:t>their host </a:t>
            </a:r>
            <a:r>
              <a:rPr dirty="0" sz="1200" spc="-5">
                <a:latin typeface="Arial"/>
                <a:cs typeface="Arial"/>
              </a:rPr>
              <a:t>societies. Preservation of </a:t>
            </a:r>
            <a:r>
              <a:rPr dirty="0" sz="1200">
                <a:latin typeface="Arial"/>
                <a:cs typeface="Arial"/>
              </a:rPr>
              <a:t>faith </a:t>
            </a:r>
            <a:r>
              <a:rPr dirty="0" sz="1200" spc="-10">
                <a:latin typeface="Arial"/>
                <a:cs typeface="Arial"/>
              </a:rPr>
              <a:t>and  </a:t>
            </a:r>
            <a:r>
              <a:rPr dirty="0" sz="1200" spc="-5">
                <a:latin typeface="Arial"/>
                <a:cs typeface="Arial"/>
              </a:rPr>
              <a:t>strict obedience to the laws </a:t>
            </a:r>
            <a:r>
              <a:rPr dirty="0" sz="1200">
                <a:latin typeface="Arial"/>
                <a:cs typeface="Arial"/>
              </a:rPr>
              <a:t>of </a:t>
            </a:r>
            <a:r>
              <a:rPr dirty="0" sz="1200" spc="-5">
                <a:latin typeface="Arial"/>
                <a:cs typeface="Arial"/>
              </a:rPr>
              <a:t>Islam </a:t>
            </a:r>
            <a:r>
              <a:rPr dirty="0" sz="1200" spc="-10">
                <a:latin typeface="Arial"/>
                <a:cs typeface="Arial"/>
              </a:rPr>
              <a:t>are </a:t>
            </a:r>
            <a:r>
              <a:rPr dirty="0" sz="1200" spc="-5">
                <a:latin typeface="Arial"/>
                <a:cs typeface="Arial"/>
              </a:rPr>
              <a:t>the </a:t>
            </a:r>
            <a:r>
              <a:rPr dirty="0" sz="1200">
                <a:latin typeface="Arial"/>
                <a:cs typeface="Arial"/>
              </a:rPr>
              <a:t>foremost </a:t>
            </a:r>
            <a:r>
              <a:rPr dirty="0" sz="1200" spc="-5">
                <a:latin typeface="Arial"/>
                <a:cs typeface="Arial"/>
              </a:rPr>
              <a:t>duties of all Muslims, including those  living as minorities. </a:t>
            </a:r>
            <a:r>
              <a:rPr dirty="0" sz="1200">
                <a:latin typeface="Arial"/>
                <a:cs typeface="Arial"/>
              </a:rPr>
              <a:t>It </a:t>
            </a:r>
            <a:r>
              <a:rPr dirty="0" sz="1200" spc="-5">
                <a:latin typeface="Arial"/>
                <a:cs typeface="Arial"/>
              </a:rPr>
              <a:t>is </a:t>
            </a:r>
            <a:r>
              <a:rPr dirty="0" sz="1200">
                <a:latin typeface="Arial"/>
                <a:cs typeface="Arial"/>
              </a:rPr>
              <a:t>thus </a:t>
            </a:r>
            <a:r>
              <a:rPr dirty="0" sz="1200" spc="-5">
                <a:latin typeface="Arial"/>
                <a:cs typeface="Arial"/>
              </a:rPr>
              <a:t>our duty </a:t>
            </a:r>
            <a:r>
              <a:rPr dirty="0" sz="1200">
                <a:latin typeface="Arial"/>
                <a:cs typeface="Arial"/>
              </a:rPr>
              <a:t>to </a:t>
            </a:r>
            <a:r>
              <a:rPr dirty="0" sz="1200" spc="-5">
                <a:latin typeface="Arial"/>
                <a:cs typeface="Arial"/>
              </a:rPr>
              <a:t>help Muslim </a:t>
            </a:r>
            <a:r>
              <a:rPr dirty="0" sz="1200">
                <a:latin typeface="Arial"/>
                <a:cs typeface="Arial"/>
              </a:rPr>
              <a:t>minorities. </a:t>
            </a:r>
            <a:r>
              <a:rPr dirty="0" sz="1200" spc="-5">
                <a:latin typeface="Arial"/>
                <a:cs typeface="Arial"/>
              </a:rPr>
              <a:t>It is our responsibility </a:t>
            </a:r>
            <a:r>
              <a:rPr dirty="0" sz="1200" spc="5">
                <a:latin typeface="Arial"/>
                <a:cs typeface="Arial"/>
              </a:rPr>
              <a:t>to  </a:t>
            </a:r>
            <a:r>
              <a:rPr dirty="0" sz="1200">
                <a:latin typeface="Arial"/>
                <a:cs typeface="Arial"/>
              </a:rPr>
              <a:t>come to their </a:t>
            </a:r>
            <a:r>
              <a:rPr dirty="0" sz="1200" spc="-5">
                <a:latin typeface="Arial"/>
                <a:cs typeface="Arial"/>
              </a:rPr>
              <a:t>help and demand and to </a:t>
            </a:r>
            <a:r>
              <a:rPr dirty="0" sz="1200" spc="10">
                <a:latin typeface="Arial"/>
                <a:cs typeface="Arial"/>
              </a:rPr>
              <a:t>try </a:t>
            </a:r>
            <a:r>
              <a:rPr dirty="0" sz="1200">
                <a:latin typeface="Arial"/>
                <a:cs typeface="Arial"/>
              </a:rPr>
              <a:t>to </a:t>
            </a:r>
            <a:r>
              <a:rPr dirty="0" sz="1200" spc="-5">
                <a:latin typeface="Arial"/>
                <a:cs typeface="Arial"/>
              </a:rPr>
              <a:t>put the Shari‘ah into</a:t>
            </a:r>
            <a:r>
              <a:rPr dirty="0" sz="1200" spc="-55">
                <a:latin typeface="Arial"/>
                <a:cs typeface="Arial"/>
              </a:rPr>
              <a:t> </a:t>
            </a:r>
            <a:r>
              <a:rPr dirty="0" sz="1200" spc="-5">
                <a:latin typeface="Arial"/>
                <a:cs typeface="Arial"/>
              </a:rPr>
              <a:t>practice</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Problems facing</a:t>
            </a:r>
            <a:r>
              <a:rPr dirty="0" u="heavy" sz="1200" spc="10" b="1" i="1">
                <a:uFill>
                  <a:solidFill>
                    <a:srgbClr val="000000"/>
                  </a:solidFill>
                </a:uFill>
                <a:latin typeface="Arial"/>
                <a:cs typeface="Arial"/>
              </a:rPr>
              <a:t> </a:t>
            </a:r>
            <a:r>
              <a:rPr dirty="0" u="heavy" sz="1200" spc="-5" b="1" i="1">
                <a:uFill>
                  <a:solidFill>
                    <a:srgbClr val="000000"/>
                  </a:solidFill>
                </a:uFill>
                <a:latin typeface="Arial"/>
                <a:cs typeface="Arial"/>
              </a:rPr>
              <a:t>Muslims</a:t>
            </a:r>
            <a:endParaRPr sz="1200">
              <a:latin typeface="Arial"/>
              <a:cs typeface="Arial"/>
            </a:endParaRPr>
          </a:p>
          <a:p>
            <a:pPr>
              <a:lnSpc>
                <a:spcPct val="100000"/>
              </a:lnSpc>
              <a:spcBef>
                <a:spcPts val="55"/>
              </a:spcBef>
            </a:pPr>
            <a:endParaRPr sz="1100">
              <a:latin typeface="Arial"/>
              <a:cs typeface="Arial"/>
            </a:endParaRPr>
          </a:p>
          <a:p>
            <a:pPr marL="413384" indent="-172720">
              <a:lnSpc>
                <a:spcPts val="1410"/>
              </a:lnSpc>
              <a:buAutoNum type="arabicPeriod"/>
              <a:tabLst>
                <a:tab pos="414020" algn="l"/>
              </a:tabLst>
            </a:pPr>
            <a:r>
              <a:rPr dirty="0" sz="1200" spc="-5">
                <a:latin typeface="Arial"/>
                <a:cs typeface="Arial"/>
              </a:rPr>
              <a:t>Problems of discrimination (due to </a:t>
            </a:r>
            <a:r>
              <a:rPr dirty="0" sz="1200">
                <a:latin typeface="Arial"/>
                <a:cs typeface="Arial"/>
              </a:rPr>
              <a:t>media – </a:t>
            </a:r>
            <a:r>
              <a:rPr dirty="0" sz="1200" spc="-5">
                <a:latin typeface="Arial"/>
                <a:cs typeface="Arial"/>
              </a:rPr>
              <a:t>Muslims </a:t>
            </a:r>
            <a:r>
              <a:rPr dirty="0" sz="1200">
                <a:latin typeface="Arial"/>
                <a:cs typeface="Arial"/>
              </a:rPr>
              <a:t>as </a:t>
            </a:r>
            <a:r>
              <a:rPr dirty="0" sz="1200" spc="-5">
                <a:latin typeface="Arial"/>
                <a:cs typeface="Arial"/>
              </a:rPr>
              <a:t>terrorists and</a:t>
            </a:r>
            <a:r>
              <a:rPr dirty="0" sz="1200" spc="70">
                <a:latin typeface="Arial"/>
                <a:cs typeface="Arial"/>
              </a:rPr>
              <a:t> </a:t>
            </a:r>
            <a:r>
              <a:rPr dirty="0" sz="1200" spc="-5">
                <a:latin typeface="Arial"/>
                <a:cs typeface="Arial"/>
              </a:rPr>
              <a:t>violent)</a:t>
            </a:r>
            <a:endParaRPr sz="1200">
              <a:latin typeface="Arial"/>
              <a:cs typeface="Arial"/>
            </a:endParaRPr>
          </a:p>
          <a:p>
            <a:pPr marL="413384" indent="-172720">
              <a:lnSpc>
                <a:spcPts val="1380"/>
              </a:lnSpc>
              <a:buAutoNum type="arabicPeriod"/>
              <a:tabLst>
                <a:tab pos="414020" algn="l"/>
              </a:tabLst>
            </a:pPr>
            <a:r>
              <a:rPr dirty="0" sz="1200">
                <a:latin typeface="Arial"/>
                <a:cs typeface="Arial"/>
              </a:rPr>
              <a:t>Islam </a:t>
            </a:r>
            <a:r>
              <a:rPr dirty="0" sz="1200" spc="-5">
                <a:latin typeface="Arial"/>
                <a:cs typeface="Arial"/>
              </a:rPr>
              <a:t>considered as stagnant religion (western </a:t>
            </a:r>
            <a:r>
              <a:rPr dirty="0" sz="1200">
                <a:latin typeface="Arial"/>
                <a:cs typeface="Arial"/>
              </a:rPr>
              <a:t>as</a:t>
            </a:r>
            <a:r>
              <a:rPr dirty="0" sz="1200" spc="25">
                <a:latin typeface="Arial"/>
                <a:cs typeface="Arial"/>
              </a:rPr>
              <a:t> </a:t>
            </a:r>
            <a:r>
              <a:rPr dirty="0" sz="1200" spc="-5">
                <a:latin typeface="Arial"/>
                <a:cs typeface="Arial"/>
              </a:rPr>
              <a:t>modern)</a:t>
            </a:r>
            <a:endParaRPr sz="1200">
              <a:latin typeface="Arial"/>
              <a:cs typeface="Arial"/>
            </a:endParaRPr>
          </a:p>
          <a:p>
            <a:pPr marL="413384" indent="-172720">
              <a:lnSpc>
                <a:spcPts val="1380"/>
              </a:lnSpc>
              <a:buAutoNum type="arabicPeriod"/>
              <a:tabLst>
                <a:tab pos="414020" algn="l"/>
              </a:tabLst>
            </a:pPr>
            <a:r>
              <a:rPr dirty="0" sz="1200" spc="-5">
                <a:latin typeface="Arial"/>
                <a:cs typeface="Arial"/>
              </a:rPr>
              <a:t>Problems </a:t>
            </a:r>
            <a:r>
              <a:rPr dirty="0" sz="1200">
                <a:latin typeface="Arial"/>
                <a:cs typeface="Arial"/>
              </a:rPr>
              <a:t>to </a:t>
            </a:r>
            <a:r>
              <a:rPr dirty="0" sz="1200" spc="-5">
                <a:latin typeface="Arial"/>
                <a:cs typeface="Arial"/>
              </a:rPr>
              <a:t>put Shari‘ah into</a:t>
            </a:r>
            <a:r>
              <a:rPr dirty="0" sz="1200" spc="20">
                <a:latin typeface="Arial"/>
                <a:cs typeface="Arial"/>
              </a:rPr>
              <a:t> </a:t>
            </a:r>
            <a:r>
              <a:rPr dirty="0" sz="1200" spc="-5">
                <a:latin typeface="Arial"/>
                <a:cs typeface="Arial"/>
              </a:rPr>
              <a:t>practice</a:t>
            </a:r>
            <a:endParaRPr sz="1200">
              <a:latin typeface="Arial"/>
              <a:cs typeface="Arial"/>
            </a:endParaRPr>
          </a:p>
          <a:p>
            <a:pPr marL="413384" indent="-172720">
              <a:lnSpc>
                <a:spcPts val="1380"/>
              </a:lnSpc>
              <a:buAutoNum type="arabicPeriod"/>
              <a:tabLst>
                <a:tab pos="414020" algn="l"/>
              </a:tabLst>
            </a:pPr>
            <a:r>
              <a:rPr dirty="0" sz="1200">
                <a:latin typeface="Arial"/>
                <a:cs typeface="Arial"/>
              </a:rPr>
              <a:t>Prejudice </a:t>
            </a:r>
            <a:r>
              <a:rPr dirty="0" sz="1200" spc="-5">
                <a:latin typeface="Arial"/>
                <a:cs typeface="Arial"/>
              </a:rPr>
              <a:t>against</a:t>
            </a:r>
            <a:r>
              <a:rPr dirty="0" sz="1200" spc="-15">
                <a:latin typeface="Arial"/>
                <a:cs typeface="Arial"/>
              </a:rPr>
              <a:t> </a:t>
            </a:r>
            <a:r>
              <a:rPr dirty="0" sz="1200" spc="-5">
                <a:latin typeface="Arial"/>
                <a:cs typeface="Arial"/>
              </a:rPr>
              <a:t>Islam</a:t>
            </a:r>
            <a:endParaRPr sz="1200">
              <a:latin typeface="Arial"/>
              <a:cs typeface="Arial"/>
            </a:endParaRPr>
          </a:p>
          <a:p>
            <a:pPr marL="413384" indent="-172720">
              <a:lnSpc>
                <a:spcPts val="1380"/>
              </a:lnSpc>
              <a:buAutoNum type="arabicPeriod"/>
              <a:tabLst>
                <a:tab pos="414020" algn="l"/>
              </a:tabLst>
            </a:pPr>
            <a:r>
              <a:rPr dirty="0" sz="1200" spc="-5">
                <a:latin typeface="Arial"/>
                <a:cs typeface="Arial"/>
              </a:rPr>
              <a:t>Violence against</a:t>
            </a:r>
            <a:r>
              <a:rPr dirty="0" sz="1200" spc="-10">
                <a:latin typeface="Arial"/>
                <a:cs typeface="Arial"/>
              </a:rPr>
              <a:t> </a:t>
            </a:r>
            <a:r>
              <a:rPr dirty="0" sz="1200" spc="-5">
                <a:latin typeface="Arial"/>
                <a:cs typeface="Arial"/>
              </a:rPr>
              <a:t>Muslims</a:t>
            </a:r>
            <a:endParaRPr sz="1200">
              <a:latin typeface="Arial"/>
              <a:cs typeface="Arial"/>
            </a:endParaRPr>
          </a:p>
          <a:p>
            <a:pPr marL="413384" indent="-172720">
              <a:lnSpc>
                <a:spcPts val="1380"/>
              </a:lnSpc>
              <a:buAutoNum type="arabicPeriod"/>
              <a:tabLst>
                <a:tab pos="414020" algn="l"/>
              </a:tabLst>
            </a:pPr>
            <a:r>
              <a:rPr dirty="0" sz="1200" spc="-5">
                <a:latin typeface="Arial"/>
                <a:cs typeface="Arial"/>
              </a:rPr>
              <a:t>Physical </a:t>
            </a:r>
            <a:r>
              <a:rPr dirty="0" sz="1200">
                <a:latin typeface="Arial"/>
                <a:cs typeface="Arial"/>
              </a:rPr>
              <a:t>and </a:t>
            </a:r>
            <a:r>
              <a:rPr dirty="0" sz="1200" spc="-5">
                <a:latin typeface="Arial"/>
                <a:cs typeface="Arial"/>
              </a:rPr>
              <a:t>Psychological</a:t>
            </a:r>
            <a:r>
              <a:rPr dirty="0" sz="1200">
                <a:latin typeface="Arial"/>
                <a:cs typeface="Arial"/>
              </a:rPr>
              <a:t> Problems</a:t>
            </a:r>
            <a:endParaRPr sz="1200">
              <a:latin typeface="Arial"/>
              <a:cs typeface="Arial"/>
            </a:endParaRPr>
          </a:p>
          <a:p>
            <a:pPr marL="413384" indent="-172720">
              <a:lnSpc>
                <a:spcPts val="1380"/>
              </a:lnSpc>
              <a:buAutoNum type="arabicPeriod"/>
              <a:tabLst>
                <a:tab pos="414020" algn="l"/>
              </a:tabLst>
            </a:pPr>
            <a:r>
              <a:rPr dirty="0" sz="1200" spc="-5">
                <a:latin typeface="Arial"/>
                <a:cs typeface="Arial"/>
              </a:rPr>
              <a:t>Dress</a:t>
            </a:r>
            <a:endParaRPr sz="1200">
              <a:latin typeface="Arial"/>
              <a:cs typeface="Arial"/>
            </a:endParaRPr>
          </a:p>
          <a:p>
            <a:pPr marL="413384" indent="-172720">
              <a:lnSpc>
                <a:spcPts val="1380"/>
              </a:lnSpc>
              <a:buAutoNum type="arabicPeriod"/>
              <a:tabLst>
                <a:tab pos="414020" algn="l"/>
              </a:tabLst>
            </a:pPr>
            <a:r>
              <a:rPr dirty="0" sz="1200" spc="-5">
                <a:latin typeface="Arial"/>
                <a:cs typeface="Arial"/>
              </a:rPr>
              <a:t>Education</a:t>
            </a:r>
            <a:endParaRPr sz="1200">
              <a:latin typeface="Arial"/>
              <a:cs typeface="Arial"/>
            </a:endParaRPr>
          </a:p>
          <a:p>
            <a:pPr marL="413384" indent="-172720">
              <a:lnSpc>
                <a:spcPts val="1380"/>
              </a:lnSpc>
              <a:buAutoNum type="arabicPeriod"/>
              <a:tabLst>
                <a:tab pos="414020" algn="l"/>
              </a:tabLst>
            </a:pPr>
            <a:r>
              <a:rPr dirty="0" sz="1200" spc="-5">
                <a:latin typeface="Arial"/>
                <a:cs typeface="Arial"/>
              </a:rPr>
              <a:t>Marriage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Divorce</a:t>
            </a:r>
            <a:endParaRPr sz="1200">
              <a:latin typeface="Arial"/>
              <a:cs typeface="Arial"/>
            </a:endParaRPr>
          </a:p>
          <a:p>
            <a:pPr marL="469900" indent="-229235">
              <a:lnSpc>
                <a:spcPts val="1380"/>
              </a:lnSpc>
              <a:buAutoNum type="arabicPeriod"/>
              <a:tabLst>
                <a:tab pos="470534" algn="l"/>
              </a:tabLst>
            </a:pPr>
            <a:r>
              <a:rPr dirty="0" sz="1200">
                <a:latin typeface="Arial"/>
                <a:cs typeface="Arial"/>
              </a:rPr>
              <a:t>Will </a:t>
            </a:r>
            <a:r>
              <a:rPr dirty="0" sz="1200" spc="-5">
                <a:latin typeface="Arial"/>
                <a:cs typeface="Arial"/>
              </a:rPr>
              <a:t>and</a:t>
            </a:r>
            <a:r>
              <a:rPr dirty="0" sz="1200" spc="-30">
                <a:latin typeface="Arial"/>
                <a:cs typeface="Arial"/>
              </a:rPr>
              <a:t> </a:t>
            </a:r>
            <a:r>
              <a:rPr dirty="0" sz="1200" spc="-5">
                <a:latin typeface="Arial"/>
                <a:cs typeface="Arial"/>
              </a:rPr>
              <a:t>Inheritance</a:t>
            </a:r>
            <a:endParaRPr sz="1200">
              <a:latin typeface="Arial"/>
              <a:cs typeface="Arial"/>
            </a:endParaRPr>
          </a:p>
          <a:p>
            <a:pPr marL="469900" indent="-229235">
              <a:lnSpc>
                <a:spcPts val="1380"/>
              </a:lnSpc>
              <a:buAutoNum type="arabicPeriod"/>
              <a:tabLst>
                <a:tab pos="470534" algn="l"/>
              </a:tabLst>
            </a:pPr>
            <a:r>
              <a:rPr dirty="0" sz="1200" spc="-5">
                <a:latin typeface="Arial"/>
                <a:cs typeface="Arial"/>
              </a:rPr>
              <a:t>Place of</a:t>
            </a:r>
            <a:r>
              <a:rPr dirty="0" sz="1200">
                <a:latin typeface="Arial"/>
                <a:cs typeface="Arial"/>
              </a:rPr>
              <a:t> cult</a:t>
            </a:r>
            <a:endParaRPr sz="1200">
              <a:latin typeface="Arial"/>
              <a:cs typeface="Arial"/>
            </a:endParaRPr>
          </a:p>
          <a:p>
            <a:pPr marL="469900" indent="-229235">
              <a:lnSpc>
                <a:spcPts val="1380"/>
              </a:lnSpc>
              <a:buAutoNum type="arabicPeriod"/>
              <a:tabLst>
                <a:tab pos="470534" algn="l"/>
              </a:tabLst>
            </a:pPr>
            <a:r>
              <a:rPr dirty="0" sz="1200">
                <a:latin typeface="Arial"/>
                <a:cs typeface="Arial"/>
              </a:rPr>
              <a:t>Food</a:t>
            </a:r>
            <a:endParaRPr sz="1200">
              <a:latin typeface="Arial"/>
              <a:cs typeface="Arial"/>
            </a:endParaRPr>
          </a:p>
          <a:p>
            <a:pPr marL="469900" indent="-229235">
              <a:lnSpc>
                <a:spcPts val="1410"/>
              </a:lnSpc>
              <a:buAutoNum type="arabicPeriod"/>
              <a:tabLst>
                <a:tab pos="470534" algn="l"/>
              </a:tabLst>
            </a:pPr>
            <a:r>
              <a:rPr dirty="0" sz="1200" spc="-5">
                <a:latin typeface="Arial"/>
                <a:cs typeface="Arial"/>
              </a:rPr>
              <a:t>Abortion legalised in</a:t>
            </a:r>
            <a:r>
              <a:rPr dirty="0" sz="1200">
                <a:latin typeface="Arial"/>
                <a:cs typeface="Arial"/>
              </a:rPr>
              <a:t> </a:t>
            </a:r>
            <a:r>
              <a:rPr dirty="0" sz="1200" spc="-5">
                <a:latin typeface="Arial"/>
                <a:cs typeface="Arial"/>
              </a:rPr>
              <a:t>Mauritius</a:t>
            </a:r>
            <a:endParaRPr sz="1200">
              <a:latin typeface="Arial"/>
              <a:cs typeface="Arial"/>
            </a:endParaRPr>
          </a:p>
          <a:p>
            <a:pPr marL="12700" marR="5231765">
              <a:lnSpc>
                <a:spcPct val="165000"/>
              </a:lnSpc>
              <a:spcBef>
                <a:spcPts val="890"/>
              </a:spcBef>
            </a:pPr>
            <a:r>
              <a:rPr dirty="0" u="heavy" sz="1200" spc="-5" b="1">
                <a:uFill>
                  <a:solidFill>
                    <a:srgbClr val="000000"/>
                  </a:solidFill>
                </a:uFill>
                <a:latin typeface="Arial"/>
                <a:cs typeface="Arial"/>
              </a:rPr>
              <a:t>Discrim</a:t>
            </a:r>
            <a:r>
              <a:rPr dirty="0" u="heavy" sz="1200" spc="-5" b="1">
                <a:uFill>
                  <a:solidFill>
                    <a:srgbClr val="000000"/>
                  </a:solidFill>
                </a:uFill>
                <a:latin typeface="Arial"/>
                <a:cs typeface="Arial"/>
              </a:rPr>
              <a:t>i</a:t>
            </a:r>
            <a:r>
              <a:rPr dirty="0" u="heavy" sz="1200" spc="-15" b="1">
                <a:uFill>
                  <a:solidFill>
                    <a:srgbClr val="000000"/>
                  </a:solidFill>
                </a:uFill>
                <a:latin typeface="Arial"/>
                <a:cs typeface="Arial"/>
              </a:rPr>
              <a:t>n</a:t>
            </a:r>
            <a:r>
              <a:rPr dirty="0" u="heavy" sz="1200" spc="-5" b="1">
                <a:uFill>
                  <a:solidFill>
                    <a:srgbClr val="000000"/>
                  </a:solidFill>
                </a:uFill>
                <a:latin typeface="Arial"/>
                <a:cs typeface="Arial"/>
              </a:rPr>
              <a:t>a</a:t>
            </a:r>
            <a:r>
              <a:rPr dirty="0" u="heavy" sz="1200" b="1">
                <a:uFill>
                  <a:solidFill>
                    <a:srgbClr val="000000"/>
                  </a:solidFill>
                </a:uFill>
                <a:latin typeface="Arial"/>
                <a:cs typeface="Arial"/>
              </a:rPr>
              <a:t>tion </a:t>
            </a:r>
            <a:r>
              <a:rPr dirty="0" sz="1200" b="1">
                <a:latin typeface="Arial"/>
                <a:cs typeface="Arial"/>
              </a:rPr>
              <a:t> </a:t>
            </a:r>
            <a:r>
              <a:rPr dirty="0" sz="1200" spc="-5" b="1">
                <a:latin typeface="Arial"/>
                <a:cs typeface="Arial"/>
              </a:rPr>
              <a:t>Citizenship</a:t>
            </a:r>
            <a:endParaRPr sz="1200">
              <a:latin typeface="Arial"/>
              <a:cs typeface="Arial"/>
            </a:endParaRPr>
          </a:p>
          <a:p>
            <a:pPr marL="12700" marR="12065">
              <a:lnSpc>
                <a:spcPts val="1370"/>
              </a:lnSpc>
              <a:spcBef>
                <a:spcPts val="1050"/>
              </a:spcBef>
            </a:pPr>
            <a:r>
              <a:rPr dirty="0" sz="1200">
                <a:latin typeface="Arial"/>
                <a:cs typeface="Arial"/>
              </a:rPr>
              <a:t>In </a:t>
            </a:r>
            <a:r>
              <a:rPr dirty="0" sz="1200" spc="-5">
                <a:latin typeface="Arial"/>
                <a:cs typeface="Arial"/>
              </a:rPr>
              <a:t>many countries throughout Europe, Muslims encounter difficulties in obtaining citizenship.  </a:t>
            </a:r>
            <a:r>
              <a:rPr dirty="0" sz="1200">
                <a:latin typeface="Arial"/>
                <a:cs typeface="Arial"/>
              </a:rPr>
              <a:t>This </a:t>
            </a:r>
            <a:r>
              <a:rPr dirty="0" sz="1200" spc="-5">
                <a:latin typeface="Arial"/>
                <a:cs typeface="Arial"/>
              </a:rPr>
              <a:t>is especially problematic in Germany, the United Kingdom</a:t>
            </a:r>
            <a:r>
              <a:rPr dirty="0" sz="1200" spc="10">
                <a:latin typeface="Arial"/>
                <a:cs typeface="Arial"/>
              </a:rPr>
              <a:t> </a:t>
            </a:r>
            <a:r>
              <a:rPr dirty="0" sz="1200" spc="-5">
                <a:latin typeface="Arial"/>
                <a:cs typeface="Arial"/>
              </a:rPr>
              <a:t>and</a:t>
            </a:r>
            <a:endParaRPr sz="1200">
              <a:latin typeface="Arial"/>
              <a:cs typeface="Arial"/>
            </a:endParaRPr>
          </a:p>
          <a:p>
            <a:pPr marL="12700">
              <a:lnSpc>
                <a:spcPct val="100000"/>
              </a:lnSpc>
              <a:spcBef>
                <a:spcPts val="915"/>
              </a:spcBef>
            </a:pPr>
            <a:r>
              <a:rPr dirty="0" sz="1200" spc="-5" b="1">
                <a:latin typeface="Arial"/>
                <a:cs typeface="Arial"/>
              </a:rPr>
              <a:t>Employment</a:t>
            </a:r>
            <a:endParaRPr sz="1200">
              <a:latin typeface="Arial"/>
              <a:cs typeface="Arial"/>
            </a:endParaRPr>
          </a:p>
          <a:p>
            <a:pPr algn="just" marL="12700" marR="11430">
              <a:lnSpc>
                <a:spcPts val="1380"/>
              </a:lnSpc>
              <a:spcBef>
                <a:spcPts val="1030"/>
              </a:spcBef>
            </a:pPr>
            <a:r>
              <a:rPr dirty="0" sz="1200">
                <a:latin typeface="Arial"/>
                <a:cs typeface="Arial"/>
              </a:rPr>
              <a:t>In Greece, </a:t>
            </a:r>
            <a:r>
              <a:rPr dirty="0" sz="1200" spc="-5">
                <a:latin typeface="Arial"/>
                <a:cs typeface="Arial"/>
              </a:rPr>
              <a:t>members of the Muslim minority from </a:t>
            </a:r>
            <a:r>
              <a:rPr dirty="0" sz="1200">
                <a:latin typeface="Arial"/>
                <a:cs typeface="Arial"/>
              </a:rPr>
              <a:t>Thrace </a:t>
            </a:r>
            <a:r>
              <a:rPr dirty="0" sz="1200" spc="-5">
                <a:latin typeface="Arial"/>
                <a:cs typeface="Arial"/>
              </a:rPr>
              <a:t>are commonly discriminated against  as they are confined </a:t>
            </a:r>
            <a:r>
              <a:rPr dirty="0" sz="1200">
                <a:latin typeface="Arial"/>
                <a:cs typeface="Arial"/>
              </a:rPr>
              <a:t>to </a:t>
            </a:r>
            <a:r>
              <a:rPr dirty="0" sz="1200" spc="-5">
                <a:latin typeface="Arial"/>
                <a:cs typeface="Arial"/>
              </a:rPr>
              <a:t>low level, low paying </a:t>
            </a:r>
            <a:r>
              <a:rPr dirty="0" sz="1200">
                <a:latin typeface="Arial"/>
                <a:cs typeface="Arial"/>
              </a:rPr>
              <a:t>jobs. </a:t>
            </a:r>
            <a:r>
              <a:rPr dirty="0" sz="1200" spc="-5">
                <a:latin typeface="Arial"/>
                <a:cs typeface="Arial"/>
              </a:rPr>
              <a:t>They encounter difficulties obtaining  licenses to operate</a:t>
            </a:r>
            <a:r>
              <a:rPr dirty="0" sz="1200" spc="5">
                <a:latin typeface="Arial"/>
                <a:cs typeface="Arial"/>
              </a:rPr>
              <a:t> </a:t>
            </a:r>
            <a:r>
              <a:rPr dirty="0" sz="1200" spc="-5">
                <a:latin typeface="Arial"/>
                <a:cs typeface="Arial"/>
              </a:rPr>
              <a:t>businesses.</a:t>
            </a:r>
            <a:endParaRPr sz="1200">
              <a:latin typeface="Arial"/>
              <a:cs typeface="Arial"/>
            </a:endParaRPr>
          </a:p>
          <a:p>
            <a:pPr algn="just" marL="12700" marR="6985">
              <a:lnSpc>
                <a:spcPts val="1380"/>
              </a:lnSpc>
              <a:spcBef>
                <a:spcPts val="1000"/>
              </a:spcBef>
            </a:pPr>
            <a:r>
              <a:rPr dirty="0" sz="1200">
                <a:latin typeface="Arial"/>
                <a:cs typeface="Arial"/>
              </a:rPr>
              <a:t>In </a:t>
            </a:r>
            <a:r>
              <a:rPr dirty="0" sz="1200" spc="-5">
                <a:latin typeface="Arial"/>
                <a:cs typeface="Arial"/>
              </a:rPr>
              <a:t>Serbia and Montenegro, Muslims and ethnic Albanians are frequently fired from their </a:t>
            </a:r>
            <a:r>
              <a:rPr dirty="0" sz="1200">
                <a:latin typeface="Arial"/>
                <a:cs typeface="Arial"/>
              </a:rPr>
              <a:t>jobs  </a:t>
            </a:r>
            <a:r>
              <a:rPr dirty="0" sz="1200" spc="-5">
                <a:latin typeface="Arial"/>
                <a:cs typeface="Arial"/>
              </a:rPr>
              <a:t>based on religion and ethnicity. Similar difficulties are encountered by </a:t>
            </a:r>
            <a:r>
              <a:rPr dirty="0" sz="1200">
                <a:latin typeface="Arial"/>
                <a:cs typeface="Arial"/>
              </a:rPr>
              <a:t>Chechens </a:t>
            </a:r>
            <a:r>
              <a:rPr dirty="0" sz="1200" spc="-5">
                <a:latin typeface="Arial"/>
                <a:cs typeface="Arial"/>
              </a:rPr>
              <a:t>and other  Muslim minorities in</a:t>
            </a:r>
            <a:r>
              <a:rPr dirty="0" sz="1200" spc="10">
                <a:latin typeface="Arial"/>
                <a:cs typeface="Arial"/>
              </a:rPr>
              <a:t> </a:t>
            </a:r>
            <a:r>
              <a:rPr dirty="0" sz="1200" spc="-5">
                <a:latin typeface="Arial"/>
                <a:cs typeface="Arial"/>
              </a:rPr>
              <a:t>Russia.</a:t>
            </a:r>
            <a:endParaRPr sz="1200">
              <a:latin typeface="Arial"/>
              <a:cs typeface="Arial"/>
            </a:endParaRPr>
          </a:p>
          <a:p>
            <a:pPr marL="12700">
              <a:lnSpc>
                <a:spcPct val="100000"/>
              </a:lnSpc>
              <a:spcBef>
                <a:spcPts val="910"/>
              </a:spcBef>
            </a:pPr>
            <a:r>
              <a:rPr dirty="0" sz="1200" b="1">
                <a:latin typeface="Arial"/>
                <a:cs typeface="Arial"/>
              </a:rPr>
              <a:t>Military</a:t>
            </a:r>
            <a:endParaRPr sz="1200">
              <a:latin typeface="Arial"/>
              <a:cs typeface="Arial"/>
            </a:endParaRPr>
          </a:p>
          <a:p>
            <a:pPr algn="just" marL="12700" marR="5080">
              <a:lnSpc>
                <a:spcPts val="1380"/>
              </a:lnSpc>
              <a:spcBef>
                <a:spcPts val="1035"/>
              </a:spcBef>
            </a:pPr>
            <a:r>
              <a:rPr dirty="0" sz="1200">
                <a:latin typeface="Arial"/>
                <a:cs typeface="Arial"/>
              </a:rPr>
              <a:t>In </a:t>
            </a:r>
            <a:r>
              <a:rPr dirty="0" sz="1200" spc="-5">
                <a:latin typeface="Arial"/>
                <a:cs typeface="Arial"/>
              </a:rPr>
              <a:t>Bulgaria, Mulims are not allowed </a:t>
            </a:r>
            <a:r>
              <a:rPr dirty="0" sz="1200">
                <a:latin typeface="Arial"/>
                <a:cs typeface="Arial"/>
              </a:rPr>
              <a:t>to </a:t>
            </a:r>
            <a:r>
              <a:rPr dirty="0" sz="1200" spc="-5">
                <a:latin typeface="Arial"/>
                <a:cs typeface="Arial"/>
              </a:rPr>
              <a:t>participate in regular military </a:t>
            </a:r>
            <a:r>
              <a:rPr dirty="0" sz="1200">
                <a:latin typeface="Arial"/>
                <a:cs typeface="Arial"/>
              </a:rPr>
              <a:t>units; rather, </a:t>
            </a:r>
            <a:r>
              <a:rPr dirty="0" sz="1200" spc="15">
                <a:latin typeface="Arial"/>
                <a:cs typeface="Arial"/>
              </a:rPr>
              <a:t>they </a:t>
            </a:r>
            <a:r>
              <a:rPr dirty="0" sz="1200" spc="-5">
                <a:latin typeface="Arial"/>
                <a:cs typeface="Arial"/>
              </a:rPr>
              <a:t>are  assigned </a:t>
            </a:r>
            <a:r>
              <a:rPr dirty="0" sz="1200">
                <a:latin typeface="Arial"/>
                <a:cs typeface="Arial"/>
              </a:rPr>
              <a:t>to </a:t>
            </a:r>
            <a:r>
              <a:rPr dirty="0" sz="1200" spc="-5">
                <a:latin typeface="Arial"/>
                <a:cs typeface="Arial"/>
              </a:rPr>
              <a:t>maintenance and construction. </a:t>
            </a:r>
            <a:r>
              <a:rPr dirty="0" sz="1200">
                <a:latin typeface="Arial"/>
                <a:cs typeface="Arial"/>
              </a:rPr>
              <a:t>In </a:t>
            </a:r>
            <a:r>
              <a:rPr dirty="0" sz="1200" spc="-5">
                <a:latin typeface="Arial"/>
                <a:cs typeface="Arial"/>
              </a:rPr>
              <a:t>Greece, Muslims are prevented from  advancing in </a:t>
            </a:r>
            <a:r>
              <a:rPr dirty="0" sz="1200">
                <a:latin typeface="Arial"/>
                <a:cs typeface="Arial"/>
              </a:rPr>
              <a:t>rank </a:t>
            </a:r>
            <a:r>
              <a:rPr dirty="0" sz="1200" spc="-5">
                <a:latin typeface="Arial"/>
                <a:cs typeface="Arial"/>
              </a:rPr>
              <a:t>in the military.</a:t>
            </a:r>
            <a:endParaRPr sz="1200">
              <a:latin typeface="Arial"/>
              <a:cs typeface="Arial"/>
            </a:endParaRPr>
          </a:p>
          <a:p>
            <a:pPr marL="12700">
              <a:lnSpc>
                <a:spcPct val="100000"/>
              </a:lnSpc>
              <a:spcBef>
                <a:spcPts val="900"/>
              </a:spcBef>
            </a:pPr>
            <a:r>
              <a:rPr dirty="0" sz="1200" spc="-5" b="1">
                <a:latin typeface="Arial"/>
                <a:cs typeface="Arial"/>
              </a:rPr>
              <a:t>Repression </a:t>
            </a:r>
            <a:r>
              <a:rPr dirty="0" sz="1200" b="1">
                <a:latin typeface="Arial"/>
                <a:cs typeface="Arial"/>
              </a:rPr>
              <a:t>due to </a:t>
            </a:r>
            <a:r>
              <a:rPr dirty="0" sz="1200" spc="-5" b="1">
                <a:latin typeface="Arial"/>
                <a:cs typeface="Arial"/>
              </a:rPr>
              <a:t>fears </a:t>
            </a:r>
            <a:r>
              <a:rPr dirty="0" sz="1200" b="1">
                <a:latin typeface="Arial"/>
                <a:cs typeface="Arial"/>
              </a:rPr>
              <a:t>of </a:t>
            </a:r>
            <a:r>
              <a:rPr dirty="0" sz="1200" spc="-5" b="1">
                <a:latin typeface="Arial"/>
                <a:cs typeface="Arial"/>
              </a:rPr>
              <a:t>Islamic extremism or political</a:t>
            </a:r>
            <a:r>
              <a:rPr dirty="0" sz="1200" spc="40" b="1">
                <a:latin typeface="Arial"/>
                <a:cs typeface="Arial"/>
              </a:rPr>
              <a:t> </a:t>
            </a:r>
            <a:r>
              <a:rPr dirty="0" sz="1200" spc="-5" b="1">
                <a:latin typeface="Arial"/>
                <a:cs typeface="Arial"/>
              </a:rPr>
              <a:t>Islam</a:t>
            </a:r>
            <a:endParaRPr sz="1200">
              <a:latin typeface="Arial"/>
              <a:cs typeface="Arial"/>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6311900" cy="9399905"/>
          </a:xfrm>
          <a:prstGeom prst="rect">
            <a:avLst/>
          </a:prstGeom>
        </p:spPr>
        <p:txBody>
          <a:bodyPr wrap="square" lIns="0" tIns="12700" rIns="0" bIns="0" rtlCol="0" vert="horz">
            <a:spAutoFit/>
          </a:bodyPr>
          <a:lstStyle/>
          <a:p>
            <a:pPr algn="just" marL="12700">
              <a:lnSpc>
                <a:spcPct val="100000"/>
              </a:lnSpc>
              <a:spcBef>
                <a:spcPts val="100"/>
              </a:spcBef>
              <a:tabLst>
                <a:tab pos="5063490"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6350">
              <a:lnSpc>
                <a:spcPts val="1380"/>
              </a:lnSpc>
            </a:pPr>
            <a:r>
              <a:rPr dirty="0" sz="1200">
                <a:latin typeface="Arial"/>
                <a:cs typeface="Arial"/>
              </a:rPr>
              <a:t>In </a:t>
            </a:r>
            <a:r>
              <a:rPr dirty="0" sz="1200" spc="-5">
                <a:latin typeface="Arial"/>
                <a:cs typeface="Arial"/>
              </a:rPr>
              <a:t>France, mass arrests and deportation of thousands of illegal </a:t>
            </a:r>
            <a:r>
              <a:rPr dirty="0" sz="1200">
                <a:latin typeface="Arial"/>
                <a:cs typeface="Arial"/>
              </a:rPr>
              <a:t>immigrants </a:t>
            </a:r>
            <a:r>
              <a:rPr dirty="0" sz="1200" spc="-5">
                <a:latin typeface="Arial"/>
                <a:cs typeface="Arial"/>
              </a:rPr>
              <a:t>from Northern  Africa are justified based on </a:t>
            </a:r>
            <a:r>
              <a:rPr dirty="0" sz="1200">
                <a:latin typeface="Arial"/>
                <a:cs typeface="Arial"/>
              </a:rPr>
              <a:t>fears </a:t>
            </a:r>
            <a:r>
              <a:rPr dirty="0" sz="1200" spc="-5">
                <a:latin typeface="Arial"/>
                <a:cs typeface="Arial"/>
              </a:rPr>
              <a:t>of terrorist </a:t>
            </a:r>
            <a:r>
              <a:rPr dirty="0" sz="1200">
                <a:latin typeface="Arial"/>
                <a:cs typeface="Arial"/>
              </a:rPr>
              <a:t>attacks, </a:t>
            </a:r>
            <a:r>
              <a:rPr dirty="0" sz="1200" spc="-5">
                <a:latin typeface="Arial"/>
                <a:cs typeface="Arial"/>
              </a:rPr>
              <a:t>similar </a:t>
            </a:r>
            <a:r>
              <a:rPr dirty="0" sz="1200">
                <a:latin typeface="Arial"/>
                <a:cs typeface="Arial"/>
              </a:rPr>
              <a:t>to </a:t>
            </a:r>
            <a:r>
              <a:rPr dirty="0" sz="1200" spc="-5">
                <a:latin typeface="Arial"/>
                <a:cs typeface="Arial"/>
              </a:rPr>
              <a:t>those which have already  occurred in Paris over </a:t>
            </a:r>
            <a:r>
              <a:rPr dirty="0" sz="1200">
                <a:latin typeface="Arial"/>
                <a:cs typeface="Arial"/>
              </a:rPr>
              <a:t>the past </a:t>
            </a:r>
            <a:r>
              <a:rPr dirty="0" sz="1200" spc="-5">
                <a:latin typeface="Arial"/>
                <a:cs typeface="Arial"/>
              </a:rPr>
              <a:t>several</a:t>
            </a:r>
            <a:r>
              <a:rPr dirty="0" sz="1200" spc="-20">
                <a:latin typeface="Arial"/>
                <a:cs typeface="Arial"/>
              </a:rPr>
              <a:t> </a:t>
            </a:r>
            <a:r>
              <a:rPr dirty="0" sz="1200" spc="-5">
                <a:latin typeface="Arial"/>
                <a:cs typeface="Arial"/>
              </a:rPr>
              <a:t>years.</a:t>
            </a:r>
            <a:endParaRPr sz="1200">
              <a:latin typeface="Arial"/>
              <a:cs typeface="Arial"/>
            </a:endParaRPr>
          </a:p>
          <a:p>
            <a:pPr>
              <a:lnSpc>
                <a:spcPct val="100000"/>
              </a:lnSpc>
            </a:pPr>
            <a:endParaRPr sz="1300">
              <a:latin typeface="Arial"/>
              <a:cs typeface="Arial"/>
            </a:endParaRPr>
          </a:p>
          <a:p>
            <a:pPr algn="just" marL="12700" marR="12700">
              <a:lnSpc>
                <a:spcPts val="1380"/>
              </a:lnSpc>
              <a:spcBef>
                <a:spcPts val="885"/>
              </a:spcBef>
            </a:pPr>
            <a:r>
              <a:rPr dirty="0" sz="1200">
                <a:latin typeface="Arial"/>
                <a:cs typeface="Arial"/>
              </a:rPr>
              <a:t>In </a:t>
            </a:r>
            <a:r>
              <a:rPr dirty="0" sz="1200" spc="-5">
                <a:latin typeface="Arial"/>
                <a:cs typeface="Arial"/>
              </a:rPr>
              <a:t>the Czech Republic, a town </a:t>
            </a:r>
            <a:r>
              <a:rPr dirty="0" sz="1200">
                <a:latin typeface="Arial"/>
                <a:cs typeface="Arial"/>
              </a:rPr>
              <a:t>council </a:t>
            </a:r>
            <a:r>
              <a:rPr dirty="0" sz="1200" spc="-5">
                <a:latin typeface="Arial"/>
                <a:cs typeface="Arial"/>
              </a:rPr>
              <a:t>denied </a:t>
            </a:r>
            <a:r>
              <a:rPr dirty="0" sz="1200">
                <a:latin typeface="Arial"/>
                <a:cs typeface="Arial"/>
              </a:rPr>
              <a:t>the </a:t>
            </a:r>
            <a:r>
              <a:rPr dirty="0" sz="1200" spc="-5">
                <a:latin typeface="Arial"/>
                <a:cs typeface="Arial"/>
              </a:rPr>
              <a:t>permit </a:t>
            </a:r>
            <a:r>
              <a:rPr dirty="0" sz="1200">
                <a:latin typeface="Arial"/>
                <a:cs typeface="Arial"/>
              </a:rPr>
              <a:t>for </a:t>
            </a:r>
            <a:r>
              <a:rPr dirty="0" sz="1200" spc="-5">
                <a:latin typeface="Arial"/>
                <a:cs typeface="Arial"/>
              </a:rPr>
              <a:t>the building </a:t>
            </a:r>
            <a:r>
              <a:rPr dirty="0" sz="1200">
                <a:latin typeface="Arial"/>
                <a:cs typeface="Arial"/>
              </a:rPr>
              <a:t>of </a:t>
            </a:r>
            <a:r>
              <a:rPr dirty="0" sz="1200" spc="-5">
                <a:latin typeface="Arial"/>
                <a:cs typeface="Arial"/>
              </a:rPr>
              <a:t>a mosque, arguing  </a:t>
            </a:r>
            <a:r>
              <a:rPr dirty="0" sz="1200">
                <a:latin typeface="Arial"/>
                <a:cs typeface="Arial"/>
              </a:rPr>
              <a:t>that it </a:t>
            </a:r>
            <a:r>
              <a:rPr dirty="0" sz="1200" spc="-5">
                <a:latin typeface="Arial"/>
                <a:cs typeface="Arial"/>
              </a:rPr>
              <a:t>would become a center </a:t>
            </a:r>
            <a:r>
              <a:rPr dirty="0" sz="1200">
                <a:latin typeface="Arial"/>
                <a:cs typeface="Arial"/>
              </a:rPr>
              <a:t>for</a:t>
            </a:r>
            <a:r>
              <a:rPr dirty="0" sz="1200" spc="-20">
                <a:latin typeface="Arial"/>
                <a:cs typeface="Arial"/>
              </a:rPr>
              <a:t> </a:t>
            </a:r>
            <a:r>
              <a:rPr dirty="0" sz="1200" spc="-5">
                <a:latin typeface="Arial"/>
                <a:cs typeface="Arial"/>
              </a:rPr>
              <a:t>terrorism.</a:t>
            </a:r>
            <a:endParaRPr sz="1200">
              <a:latin typeface="Arial"/>
              <a:cs typeface="Arial"/>
            </a:endParaRPr>
          </a:p>
          <a:p>
            <a:pPr algn="just" marL="12700" marR="10160">
              <a:lnSpc>
                <a:spcPct val="95600"/>
              </a:lnSpc>
              <a:spcBef>
                <a:spcPts val="975"/>
              </a:spcBef>
            </a:pPr>
            <a:r>
              <a:rPr dirty="0" sz="1200">
                <a:latin typeface="Arial"/>
                <a:cs typeface="Arial"/>
              </a:rPr>
              <a:t>In </a:t>
            </a:r>
            <a:r>
              <a:rPr dirty="0" sz="1200" spc="-5">
                <a:latin typeface="Arial"/>
                <a:cs typeface="Arial"/>
              </a:rPr>
              <a:t>Uzbekistan, where </a:t>
            </a:r>
            <a:r>
              <a:rPr dirty="0" sz="1200">
                <a:latin typeface="Arial"/>
                <a:cs typeface="Arial"/>
              </a:rPr>
              <a:t>the </a:t>
            </a:r>
            <a:r>
              <a:rPr dirty="0" sz="1200" spc="-5">
                <a:latin typeface="Arial"/>
                <a:cs typeface="Arial"/>
              </a:rPr>
              <a:t>majority </a:t>
            </a:r>
            <a:r>
              <a:rPr dirty="0" sz="1200">
                <a:latin typeface="Arial"/>
                <a:cs typeface="Arial"/>
              </a:rPr>
              <a:t>of </a:t>
            </a:r>
            <a:r>
              <a:rPr dirty="0" sz="1200" spc="-5">
                <a:latin typeface="Arial"/>
                <a:cs typeface="Arial"/>
              </a:rPr>
              <a:t>inhabitants are Muslim, the government suppresses  groups that oppose state appointed religious authorities. Muslim leaders have been detained  and harassed </a:t>
            </a:r>
            <a:r>
              <a:rPr dirty="0" sz="1200">
                <a:latin typeface="Arial"/>
                <a:cs typeface="Arial"/>
              </a:rPr>
              <a:t>for </a:t>
            </a:r>
            <a:r>
              <a:rPr dirty="0" sz="1200" spc="-5">
                <a:latin typeface="Arial"/>
                <a:cs typeface="Arial"/>
              </a:rPr>
              <a:t>acts perceived </a:t>
            </a:r>
            <a:r>
              <a:rPr dirty="0" sz="1200" spc="10">
                <a:latin typeface="Arial"/>
                <a:cs typeface="Arial"/>
              </a:rPr>
              <a:t>as </a:t>
            </a:r>
            <a:r>
              <a:rPr dirty="0" sz="1200" spc="-5">
                <a:latin typeface="Arial"/>
                <a:cs typeface="Arial"/>
              </a:rPr>
              <a:t>insubordination. </a:t>
            </a:r>
            <a:r>
              <a:rPr dirty="0" sz="1200">
                <a:latin typeface="Arial"/>
                <a:cs typeface="Arial"/>
              </a:rPr>
              <a:t>As </a:t>
            </a:r>
            <a:r>
              <a:rPr dirty="0" sz="1200" spc="-5">
                <a:latin typeface="Arial"/>
                <a:cs typeface="Arial"/>
              </a:rPr>
              <a:t>a result of such allegations, three  mosques have been </a:t>
            </a:r>
            <a:r>
              <a:rPr dirty="0" sz="1200">
                <a:latin typeface="Arial"/>
                <a:cs typeface="Arial"/>
              </a:rPr>
              <a:t>closed </a:t>
            </a:r>
            <a:r>
              <a:rPr dirty="0" sz="1200" spc="-5">
                <a:latin typeface="Arial"/>
                <a:cs typeface="Arial"/>
              </a:rPr>
              <a:t>and the "disappearance" of several Muslim leaders has </a:t>
            </a:r>
            <a:r>
              <a:rPr dirty="0" sz="1200" spc="-10">
                <a:latin typeface="Arial"/>
                <a:cs typeface="Arial"/>
              </a:rPr>
              <a:t>been  </a:t>
            </a:r>
            <a:r>
              <a:rPr dirty="0" sz="1200" spc="-5">
                <a:latin typeface="Arial"/>
                <a:cs typeface="Arial"/>
              </a:rPr>
              <a:t>reported.</a:t>
            </a:r>
            <a:endParaRPr sz="1200">
              <a:latin typeface="Arial"/>
              <a:cs typeface="Arial"/>
            </a:endParaRPr>
          </a:p>
          <a:p>
            <a:pPr>
              <a:lnSpc>
                <a:spcPct val="100000"/>
              </a:lnSpc>
              <a:spcBef>
                <a:spcPts val="40"/>
              </a:spcBef>
            </a:pPr>
            <a:endParaRPr sz="1200">
              <a:latin typeface="Arial"/>
              <a:cs typeface="Arial"/>
            </a:endParaRPr>
          </a:p>
          <a:p>
            <a:pPr algn="just" marL="12700" marR="5080">
              <a:lnSpc>
                <a:spcPts val="1380"/>
              </a:lnSpc>
            </a:pPr>
            <a:r>
              <a:rPr dirty="0" sz="1200">
                <a:latin typeface="Arial"/>
                <a:cs typeface="Arial"/>
              </a:rPr>
              <a:t>Recent </a:t>
            </a:r>
            <a:r>
              <a:rPr dirty="0" sz="1200" spc="-5">
                <a:latin typeface="Arial"/>
                <a:cs typeface="Arial"/>
              </a:rPr>
              <a:t>political events in </a:t>
            </a:r>
            <a:r>
              <a:rPr dirty="0" sz="1200">
                <a:latin typeface="Arial"/>
                <a:cs typeface="Arial"/>
              </a:rPr>
              <a:t>Turkey </a:t>
            </a:r>
            <a:r>
              <a:rPr dirty="0" sz="1200" spc="-5">
                <a:latin typeface="Arial"/>
                <a:cs typeface="Arial"/>
              </a:rPr>
              <a:t>highlight </a:t>
            </a:r>
            <a:r>
              <a:rPr dirty="0" sz="1200">
                <a:latin typeface="Arial"/>
                <a:cs typeface="Arial"/>
              </a:rPr>
              <a:t>the </a:t>
            </a:r>
            <a:r>
              <a:rPr dirty="0" sz="1200" spc="-5">
                <a:latin typeface="Arial"/>
                <a:cs typeface="Arial"/>
              </a:rPr>
              <a:t>conflict between popular support </a:t>
            </a:r>
            <a:r>
              <a:rPr dirty="0" sz="1200">
                <a:latin typeface="Arial"/>
                <a:cs typeface="Arial"/>
              </a:rPr>
              <a:t>for </a:t>
            </a:r>
            <a:r>
              <a:rPr dirty="0" sz="1200" spc="-5">
                <a:latin typeface="Arial"/>
                <a:cs typeface="Arial"/>
              </a:rPr>
              <a:t>the  political involvement of Islamic political parties (namely Refah) </a:t>
            </a:r>
            <a:r>
              <a:rPr dirty="0" sz="1200">
                <a:latin typeface="Arial"/>
                <a:cs typeface="Arial"/>
              </a:rPr>
              <a:t>and </a:t>
            </a:r>
            <a:r>
              <a:rPr dirty="0" sz="1200" spc="-5">
                <a:latin typeface="Arial"/>
                <a:cs typeface="Arial"/>
              </a:rPr>
              <a:t>the military‘s </a:t>
            </a:r>
            <a:r>
              <a:rPr dirty="0" sz="1200">
                <a:latin typeface="Arial"/>
                <a:cs typeface="Arial"/>
              </a:rPr>
              <a:t>fanatic  commitment to </a:t>
            </a:r>
            <a:r>
              <a:rPr dirty="0" sz="1200" spc="-5">
                <a:latin typeface="Arial"/>
                <a:cs typeface="Arial"/>
              </a:rPr>
              <a:t>maintaining </a:t>
            </a:r>
            <a:r>
              <a:rPr dirty="0" sz="1200">
                <a:latin typeface="Arial"/>
                <a:cs typeface="Arial"/>
              </a:rPr>
              <a:t>the </a:t>
            </a:r>
            <a:r>
              <a:rPr dirty="0" sz="1200" spc="-5">
                <a:latin typeface="Arial"/>
                <a:cs typeface="Arial"/>
              </a:rPr>
              <a:t>secular nature of the </a:t>
            </a:r>
            <a:r>
              <a:rPr dirty="0" sz="1200">
                <a:latin typeface="Arial"/>
                <a:cs typeface="Arial"/>
              </a:rPr>
              <a:t>state. The </a:t>
            </a:r>
            <a:r>
              <a:rPr dirty="0" sz="1200" spc="-5">
                <a:latin typeface="Arial"/>
                <a:cs typeface="Arial"/>
              </a:rPr>
              <a:t>government, in addition </a:t>
            </a:r>
            <a:r>
              <a:rPr dirty="0" sz="1200">
                <a:latin typeface="Arial"/>
                <a:cs typeface="Arial"/>
              </a:rPr>
              <a:t>to  </a:t>
            </a:r>
            <a:r>
              <a:rPr dirty="0" sz="1200" spc="-5">
                <a:latin typeface="Arial"/>
                <a:cs typeface="Arial"/>
              </a:rPr>
              <a:t>having a known record of human rights violations against dissidents of all types, </a:t>
            </a:r>
            <a:r>
              <a:rPr dirty="0" sz="1200">
                <a:latin typeface="Arial"/>
                <a:cs typeface="Arial"/>
              </a:rPr>
              <a:t>interferes  </a:t>
            </a:r>
            <a:r>
              <a:rPr dirty="0" sz="1200" spc="-5">
                <a:latin typeface="Arial"/>
                <a:cs typeface="Arial"/>
              </a:rPr>
              <a:t>with proselytizing and activism </a:t>
            </a:r>
            <a:r>
              <a:rPr dirty="0" sz="1200">
                <a:latin typeface="Arial"/>
                <a:cs typeface="Arial"/>
              </a:rPr>
              <a:t>if there </a:t>
            </a:r>
            <a:r>
              <a:rPr dirty="0" sz="1200" spc="-5">
                <a:latin typeface="Arial"/>
                <a:cs typeface="Arial"/>
              </a:rPr>
              <a:t>are political overtones. The crackdown on Islamic  education in secondary schools </a:t>
            </a:r>
            <a:r>
              <a:rPr dirty="0" sz="1200">
                <a:latin typeface="Arial"/>
                <a:cs typeface="Arial"/>
              </a:rPr>
              <a:t>further </a:t>
            </a:r>
            <a:r>
              <a:rPr dirty="0" sz="1200" spc="-5">
                <a:latin typeface="Arial"/>
                <a:cs typeface="Arial"/>
              </a:rPr>
              <a:t>reflects government control over </a:t>
            </a:r>
            <a:r>
              <a:rPr dirty="0" sz="1200">
                <a:latin typeface="Arial"/>
                <a:cs typeface="Arial"/>
              </a:rPr>
              <a:t>the </a:t>
            </a:r>
            <a:r>
              <a:rPr dirty="0" sz="1200" spc="-5">
                <a:latin typeface="Arial"/>
                <a:cs typeface="Arial"/>
              </a:rPr>
              <a:t>ability of  individuals </a:t>
            </a:r>
            <a:r>
              <a:rPr dirty="0" sz="1200">
                <a:latin typeface="Arial"/>
                <a:cs typeface="Arial"/>
              </a:rPr>
              <a:t>to study their </a:t>
            </a:r>
            <a:r>
              <a:rPr dirty="0" sz="1200" spc="-5">
                <a:latin typeface="Arial"/>
                <a:cs typeface="Arial"/>
              </a:rPr>
              <a:t>religion; </a:t>
            </a:r>
            <a:r>
              <a:rPr dirty="0" sz="1200">
                <a:latin typeface="Arial"/>
                <a:cs typeface="Arial"/>
              </a:rPr>
              <a:t>the </a:t>
            </a:r>
            <a:r>
              <a:rPr dirty="0" sz="1200" spc="-5">
                <a:latin typeface="Arial"/>
                <a:cs typeface="Arial"/>
              </a:rPr>
              <a:t>hope is </a:t>
            </a:r>
            <a:r>
              <a:rPr dirty="0" sz="1200">
                <a:latin typeface="Arial"/>
                <a:cs typeface="Arial"/>
              </a:rPr>
              <a:t>that </a:t>
            </a:r>
            <a:r>
              <a:rPr dirty="0" sz="1200" spc="-5">
                <a:latin typeface="Arial"/>
                <a:cs typeface="Arial"/>
              </a:rPr>
              <a:t>by reducing </a:t>
            </a:r>
            <a:r>
              <a:rPr dirty="0" sz="1200">
                <a:latin typeface="Arial"/>
                <a:cs typeface="Arial"/>
              </a:rPr>
              <a:t>the </a:t>
            </a:r>
            <a:r>
              <a:rPr dirty="0" sz="1200" spc="5">
                <a:latin typeface="Arial"/>
                <a:cs typeface="Arial"/>
              </a:rPr>
              <a:t>amount </a:t>
            </a:r>
            <a:r>
              <a:rPr dirty="0" sz="1200" spc="-5">
                <a:latin typeface="Arial"/>
                <a:cs typeface="Arial"/>
              </a:rPr>
              <a:t>of </a:t>
            </a:r>
            <a:r>
              <a:rPr dirty="0" sz="1200">
                <a:latin typeface="Arial"/>
                <a:cs typeface="Arial"/>
              </a:rPr>
              <a:t>time </a:t>
            </a:r>
            <a:r>
              <a:rPr dirty="0" sz="1200" spc="-5">
                <a:latin typeface="Arial"/>
                <a:cs typeface="Arial"/>
              </a:rPr>
              <a:t>students  spend </a:t>
            </a:r>
            <a:r>
              <a:rPr dirty="0" sz="1200">
                <a:latin typeface="Arial"/>
                <a:cs typeface="Arial"/>
              </a:rPr>
              <a:t>learning </a:t>
            </a:r>
            <a:r>
              <a:rPr dirty="0" sz="1200" spc="-5">
                <a:latin typeface="Arial"/>
                <a:cs typeface="Arial"/>
              </a:rPr>
              <a:t>about Islam, they will decrease </a:t>
            </a:r>
            <a:r>
              <a:rPr dirty="0" sz="1200">
                <a:latin typeface="Arial"/>
                <a:cs typeface="Arial"/>
              </a:rPr>
              <a:t>the </a:t>
            </a:r>
            <a:r>
              <a:rPr dirty="0" sz="1200" spc="-5">
                <a:latin typeface="Arial"/>
                <a:cs typeface="Arial"/>
              </a:rPr>
              <a:t>popularity </a:t>
            </a:r>
            <a:r>
              <a:rPr dirty="0" sz="1200">
                <a:latin typeface="Arial"/>
                <a:cs typeface="Arial"/>
              </a:rPr>
              <a:t>of </a:t>
            </a:r>
            <a:r>
              <a:rPr dirty="0" sz="1200" spc="-5">
                <a:latin typeface="Arial"/>
                <a:cs typeface="Arial"/>
              </a:rPr>
              <a:t>and enthusiasm </a:t>
            </a:r>
            <a:r>
              <a:rPr dirty="0" sz="1200">
                <a:latin typeface="Arial"/>
                <a:cs typeface="Arial"/>
              </a:rPr>
              <a:t>for </a:t>
            </a:r>
            <a:r>
              <a:rPr dirty="0" sz="1200" spc="-5">
                <a:latin typeface="Arial"/>
                <a:cs typeface="Arial"/>
              </a:rPr>
              <a:t>religious  activism. </a:t>
            </a:r>
            <a:r>
              <a:rPr dirty="0" sz="1200">
                <a:latin typeface="Arial"/>
                <a:cs typeface="Arial"/>
              </a:rPr>
              <a:t>The </a:t>
            </a:r>
            <a:r>
              <a:rPr dirty="0" sz="1200" spc="-5">
                <a:latin typeface="Arial"/>
                <a:cs typeface="Arial"/>
              </a:rPr>
              <a:t>Ministry of Defense forced a </a:t>
            </a:r>
            <a:r>
              <a:rPr dirty="0" sz="1200">
                <a:latin typeface="Arial"/>
                <a:cs typeface="Arial"/>
              </a:rPr>
              <a:t>Turkish </a:t>
            </a:r>
            <a:r>
              <a:rPr dirty="0" sz="1200" spc="-5">
                <a:latin typeface="Arial"/>
                <a:cs typeface="Arial"/>
              </a:rPr>
              <a:t>judge into retirement due </a:t>
            </a:r>
            <a:r>
              <a:rPr dirty="0" sz="1200">
                <a:latin typeface="Arial"/>
                <a:cs typeface="Arial"/>
              </a:rPr>
              <a:t>to </a:t>
            </a:r>
            <a:r>
              <a:rPr dirty="0" sz="1200" spc="-5">
                <a:latin typeface="Arial"/>
                <a:cs typeface="Arial"/>
              </a:rPr>
              <a:t>his religious  convictions, claiming </a:t>
            </a:r>
            <a:r>
              <a:rPr dirty="0" sz="1200">
                <a:latin typeface="Arial"/>
                <a:cs typeface="Arial"/>
              </a:rPr>
              <a:t>that </a:t>
            </a:r>
            <a:r>
              <a:rPr dirty="0" sz="1200" spc="-5">
                <a:latin typeface="Arial"/>
                <a:cs typeface="Arial"/>
              </a:rPr>
              <a:t>he demonstrated </a:t>
            </a:r>
            <a:r>
              <a:rPr dirty="0" sz="1200">
                <a:latin typeface="Arial"/>
                <a:cs typeface="Arial"/>
              </a:rPr>
              <a:t>"unlawful </a:t>
            </a:r>
            <a:r>
              <a:rPr dirty="0" sz="1200" spc="-5">
                <a:latin typeface="Arial"/>
                <a:cs typeface="Arial"/>
              </a:rPr>
              <a:t>fundamentalist opinions."</a:t>
            </a:r>
            <a:endParaRPr sz="1200">
              <a:latin typeface="Arial"/>
              <a:cs typeface="Arial"/>
            </a:endParaRPr>
          </a:p>
          <a:p>
            <a:pPr algn="just" marL="12700">
              <a:lnSpc>
                <a:spcPct val="100000"/>
              </a:lnSpc>
              <a:spcBef>
                <a:spcPts val="910"/>
              </a:spcBef>
            </a:pPr>
            <a:r>
              <a:rPr dirty="0" sz="1200" b="1">
                <a:latin typeface="Arial"/>
                <a:cs typeface="Arial"/>
              </a:rPr>
              <a:t>Women </a:t>
            </a:r>
            <a:r>
              <a:rPr dirty="0" sz="1200" spc="-10" b="1">
                <a:latin typeface="Arial"/>
                <a:cs typeface="Arial"/>
              </a:rPr>
              <a:t>as </a:t>
            </a:r>
            <a:r>
              <a:rPr dirty="0" sz="1200" spc="-5" b="1">
                <a:latin typeface="Arial"/>
                <a:cs typeface="Arial"/>
              </a:rPr>
              <a:t>specific</a:t>
            </a:r>
            <a:r>
              <a:rPr dirty="0" sz="1200" spc="5" b="1">
                <a:latin typeface="Arial"/>
                <a:cs typeface="Arial"/>
              </a:rPr>
              <a:t> </a:t>
            </a:r>
            <a:r>
              <a:rPr dirty="0" sz="1200" spc="-5" b="1">
                <a:latin typeface="Arial"/>
                <a:cs typeface="Arial"/>
              </a:rPr>
              <a:t>targets</a:t>
            </a:r>
            <a:endParaRPr sz="1200">
              <a:latin typeface="Arial"/>
              <a:cs typeface="Arial"/>
            </a:endParaRPr>
          </a:p>
          <a:p>
            <a:pPr algn="just" marL="12700" marR="5080">
              <a:lnSpc>
                <a:spcPts val="1380"/>
              </a:lnSpc>
              <a:spcBef>
                <a:spcPts val="1035"/>
              </a:spcBef>
            </a:pPr>
            <a:r>
              <a:rPr dirty="0" sz="1200" spc="-5">
                <a:latin typeface="Arial"/>
                <a:cs typeface="Arial"/>
              </a:rPr>
              <a:t>Muslim women </a:t>
            </a:r>
            <a:r>
              <a:rPr dirty="0" sz="1200" spc="-10">
                <a:latin typeface="Arial"/>
                <a:cs typeface="Arial"/>
              </a:rPr>
              <a:t>who </a:t>
            </a:r>
            <a:r>
              <a:rPr dirty="0" sz="1200" spc="-5">
                <a:latin typeface="Arial"/>
                <a:cs typeface="Arial"/>
              </a:rPr>
              <a:t>choose </a:t>
            </a:r>
            <a:r>
              <a:rPr dirty="0" sz="1200">
                <a:latin typeface="Arial"/>
                <a:cs typeface="Arial"/>
              </a:rPr>
              <a:t>to </a:t>
            </a:r>
            <a:r>
              <a:rPr dirty="0" sz="1200" spc="-5">
                <a:latin typeface="Arial"/>
                <a:cs typeface="Arial"/>
              </a:rPr>
              <a:t>wear a head-covering </a:t>
            </a:r>
            <a:r>
              <a:rPr dirty="0" sz="1200">
                <a:latin typeface="Arial"/>
                <a:cs typeface="Arial"/>
              </a:rPr>
              <a:t>(referred </a:t>
            </a:r>
            <a:r>
              <a:rPr dirty="0" sz="1200" spc="-5">
                <a:latin typeface="Arial"/>
                <a:cs typeface="Arial"/>
              </a:rPr>
              <a:t>to as hijab) in addition to  overall modest attire are frequently subject </a:t>
            </a:r>
            <a:r>
              <a:rPr dirty="0" sz="1200">
                <a:latin typeface="Arial"/>
                <a:cs typeface="Arial"/>
              </a:rPr>
              <a:t>to </a:t>
            </a:r>
            <a:r>
              <a:rPr dirty="0" sz="1200" spc="-5">
                <a:latin typeface="Arial"/>
                <a:cs typeface="Arial"/>
              </a:rPr>
              <a:t>attacks, discrimination and other forms of  abuse and harassment. </a:t>
            </a:r>
            <a:r>
              <a:rPr dirty="0" sz="1200">
                <a:latin typeface="Arial"/>
                <a:cs typeface="Arial"/>
              </a:rPr>
              <a:t>They </a:t>
            </a:r>
            <a:r>
              <a:rPr dirty="0" sz="1200" spc="-5">
                <a:latin typeface="Arial"/>
                <a:cs typeface="Arial"/>
              </a:rPr>
              <a:t>become </a:t>
            </a:r>
            <a:r>
              <a:rPr dirty="0" sz="1200" spc="-10">
                <a:latin typeface="Arial"/>
                <a:cs typeface="Arial"/>
              </a:rPr>
              <a:t>an easy </a:t>
            </a:r>
            <a:r>
              <a:rPr dirty="0" sz="1200" spc="-5">
                <a:latin typeface="Arial"/>
                <a:cs typeface="Arial"/>
              </a:rPr>
              <a:t>target </a:t>
            </a:r>
            <a:r>
              <a:rPr dirty="0" sz="1200">
                <a:latin typeface="Arial"/>
                <a:cs typeface="Arial"/>
              </a:rPr>
              <a:t>for </a:t>
            </a:r>
            <a:r>
              <a:rPr dirty="0" sz="1200" spc="-5">
                <a:latin typeface="Arial"/>
                <a:cs typeface="Arial"/>
              </a:rPr>
              <a:t>right-wing extremists, government  officials and even feminist groups. Hijab seems </a:t>
            </a:r>
            <a:r>
              <a:rPr dirty="0" sz="1200">
                <a:latin typeface="Arial"/>
                <a:cs typeface="Arial"/>
              </a:rPr>
              <a:t>to </a:t>
            </a:r>
            <a:r>
              <a:rPr dirty="0" sz="1200" spc="-5">
                <a:latin typeface="Arial"/>
                <a:cs typeface="Arial"/>
              </a:rPr>
              <a:t>provoke reactions in </a:t>
            </a:r>
            <a:r>
              <a:rPr dirty="0" sz="1200">
                <a:latin typeface="Arial"/>
                <a:cs typeface="Arial"/>
              </a:rPr>
              <a:t>many </a:t>
            </a:r>
            <a:r>
              <a:rPr dirty="0" sz="1200" spc="-5">
                <a:latin typeface="Arial"/>
                <a:cs typeface="Arial"/>
              </a:rPr>
              <a:t>people </a:t>
            </a:r>
            <a:r>
              <a:rPr dirty="0" sz="1200" spc="-10">
                <a:latin typeface="Arial"/>
                <a:cs typeface="Arial"/>
              </a:rPr>
              <a:t>who </a:t>
            </a:r>
            <a:r>
              <a:rPr dirty="0" sz="1200" spc="-5">
                <a:latin typeface="Arial"/>
                <a:cs typeface="Arial"/>
              </a:rPr>
              <a:t>feel  </a:t>
            </a:r>
            <a:r>
              <a:rPr dirty="0" sz="1200">
                <a:latin typeface="Arial"/>
                <a:cs typeface="Arial"/>
              </a:rPr>
              <a:t>it </a:t>
            </a:r>
            <a:r>
              <a:rPr dirty="0" sz="1200" spc="-5">
                <a:latin typeface="Arial"/>
                <a:cs typeface="Arial"/>
              </a:rPr>
              <a:t>is symbolic of other issues. </a:t>
            </a:r>
            <a:r>
              <a:rPr dirty="0" sz="1200">
                <a:latin typeface="Arial"/>
                <a:cs typeface="Arial"/>
              </a:rPr>
              <a:t>To </a:t>
            </a:r>
            <a:r>
              <a:rPr dirty="0" sz="1200" spc="-5">
                <a:latin typeface="Arial"/>
                <a:cs typeface="Arial"/>
              </a:rPr>
              <a:t>the Muslim women, </a:t>
            </a:r>
            <a:r>
              <a:rPr dirty="0" sz="1200">
                <a:latin typeface="Arial"/>
                <a:cs typeface="Arial"/>
              </a:rPr>
              <a:t>it </a:t>
            </a:r>
            <a:r>
              <a:rPr dirty="0" sz="1200" spc="-5">
                <a:latin typeface="Arial"/>
                <a:cs typeface="Arial"/>
              </a:rPr>
              <a:t>is </a:t>
            </a:r>
            <a:r>
              <a:rPr dirty="0" sz="1200" spc="-10">
                <a:latin typeface="Arial"/>
                <a:cs typeface="Arial"/>
              </a:rPr>
              <a:t>an </a:t>
            </a:r>
            <a:r>
              <a:rPr dirty="0" sz="1200" spc="-5">
                <a:latin typeface="Arial"/>
                <a:cs typeface="Arial"/>
              </a:rPr>
              <a:t>expression of modesty and </a:t>
            </a:r>
            <a:r>
              <a:rPr dirty="0" sz="1200">
                <a:latin typeface="Arial"/>
                <a:cs typeface="Arial"/>
              </a:rPr>
              <a:t>for  some it </a:t>
            </a:r>
            <a:r>
              <a:rPr dirty="0" sz="1200" spc="-5">
                <a:latin typeface="Arial"/>
                <a:cs typeface="Arial"/>
              </a:rPr>
              <a:t>reflects a particular devotion </a:t>
            </a:r>
            <a:r>
              <a:rPr dirty="0" sz="1200">
                <a:latin typeface="Arial"/>
                <a:cs typeface="Arial"/>
              </a:rPr>
              <a:t>to the faith. To </a:t>
            </a:r>
            <a:r>
              <a:rPr dirty="0" sz="1200" spc="-5">
                <a:latin typeface="Arial"/>
                <a:cs typeface="Arial"/>
              </a:rPr>
              <a:t>others, </a:t>
            </a:r>
            <a:r>
              <a:rPr dirty="0" sz="1200">
                <a:latin typeface="Arial"/>
                <a:cs typeface="Arial"/>
              </a:rPr>
              <a:t>it </a:t>
            </a:r>
            <a:r>
              <a:rPr dirty="0" sz="1200" spc="-5">
                <a:latin typeface="Arial"/>
                <a:cs typeface="Arial"/>
              </a:rPr>
              <a:t>represents oppression </a:t>
            </a:r>
            <a:r>
              <a:rPr dirty="0" sz="1200" spc="-10">
                <a:latin typeface="Arial"/>
                <a:cs typeface="Arial"/>
              </a:rPr>
              <a:t>and  </a:t>
            </a:r>
            <a:r>
              <a:rPr dirty="0" sz="1200" spc="-5">
                <a:latin typeface="Arial"/>
                <a:cs typeface="Arial"/>
              </a:rPr>
              <a:t>foreign-ness. </a:t>
            </a:r>
            <a:r>
              <a:rPr dirty="0" sz="1200">
                <a:latin typeface="Arial"/>
                <a:cs typeface="Arial"/>
              </a:rPr>
              <a:t>For </a:t>
            </a:r>
            <a:r>
              <a:rPr dirty="0" sz="1200" spc="-5">
                <a:latin typeface="Arial"/>
                <a:cs typeface="Arial"/>
              </a:rPr>
              <a:t>others, </a:t>
            </a:r>
            <a:r>
              <a:rPr dirty="0" sz="1200">
                <a:latin typeface="Arial"/>
                <a:cs typeface="Arial"/>
              </a:rPr>
              <a:t>it </a:t>
            </a:r>
            <a:r>
              <a:rPr dirty="0" sz="1200" spc="-5">
                <a:latin typeface="Arial"/>
                <a:cs typeface="Arial"/>
              </a:rPr>
              <a:t>simply serves as a useful </a:t>
            </a:r>
            <a:r>
              <a:rPr dirty="0" sz="1200" spc="-10">
                <a:latin typeface="Arial"/>
                <a:cs typeface="Arial"/>
              </a:rPr>
              <a:t>way </a:t>
            </a:r>
            <a:r>
              <a:rPr dirty="0" sz="1200">
                <a:latin typeface="Arial"/>
                <a:cs typeface="Arial"/>
              </a:rPr>
              <a:t>to </a:t>
            </a:r>
            <a:r>
              <a:rPr dirty="0" sz="1200" spc="-5">
                <a:latin typeface="Arial"/>
                <a:cs typeface="Arial"/>
              </a:rPr>
              <a:t>target </a:t>
            </a:r>
            <a:r>
              <a:rPr dirty="0" sz="1200">
                <a:latin typeface="Arial"/>
                <a:cs typeface="Arial"/>
              </a:rPr>
              <a:t>the </a:t>
            </a:r>
            <a:r>
              <a:rPr dirty="0" sz="1200" spc="-5">
                <a:latin typeface="Arial"/>
                <a:cs typeface="Arial"/>
              </a:rPr>
              <a:t>"other" and </a:t>
            </a:r>
            <a:r>
              <a:rPr dirty="0" sz="1200">
                <a:latin typeface="Arial"/>
                <a:cs typeface="Arial"/>
              </a:rPr>
              <a:t>to </a:t>
            </a:r>
            <a:r>
              <a:rPr dirty="0" sz="1200" spc="-5">
                <a:latin typeface="Arial"/>
                <a:cs typeface="Arial"/>
              </a:rPr>
              <a:t>use  women</a:t>
            </a:r>
            <a:r>
              <a:rPr dirty="0" sz="1200" spc="140">
                <a:latin typeface="Arial"/>
                <a:cs typeface="Arial"/>
              </a:rPr>
              <a:t> </a:t>
            </a:r>
            <a:r>
              <a:rPr dirty="0" sz="1200" spc="-5">
                <a:latin typeface="Arial"/>
                <a:cs typeface="Arial"/>
              </a:rPr>
              <a:t>as</a:t>
            </a:r>
            <a:r>
              <a:rPr dirty="0" sz="1200" spc="130">
                <a:latin typeface="Arial"/>
                <a:cs typeface="Arial"/>
              </a:rPr>
              <a:t> </a:t>
            </a:r>
            <a:r>
              <a:rPr dirty="0" sz="1200" spc="-5">
                <a:latin typeface="Arial"/>
                <a:cs typeface="Arial"/>
              </a:rPr>
              <a:t>a</a:t>
            </a:r>
            <a:r>
              <a:rPr dirty="0" sz="1200" spc="135">
                <a:latin typeface="Arial"/>
                <a:cs typeface="Arial"/>
              </a:rPr>
              <a:t> </a:t>
            </a:r>
            <a:r>
              <a:rPr dirty="0" sz="1200" spc="-5">
                <a:latin typeface="Arial"/>
                <a:cs typeface="Arial"/>
              </a:rPr>
              <a:t>means</a:t>
            </a:r>
            <a:r>
              <a:rPr dirty="0" sz="1200" spc="140">
                <a:latin typeface="Arial"/>
                <a:cs typeface="Arial"/>
              </a:rPr>
              <a:t> </a:t>
            </a:r>
            <a:r>
              <a:rPr dirty="0" sz="1200">
                <a:latin typeface="Arial"/>
                <a:cs typeface="Arial"/>
              </a:rPr>
              <a:t>to</a:t>
            </a:r>
            <a:r>
              <a:rPr dirty="0" sz="1200" spc="135">
                <a:latin typeface="Arial"/>
                <a:cs typeface="Arial"/>
              </a:rPr>
              <a:t> </a:t>
            </a:r>
            <a:r>
              <a:rPr dirty="0" sz="1200" spc="-5">
                <a:latin typeface="Arial"/>
                <a:cs typeface="Arial"/>
              </a:rPr>
              <a:t>carry</a:t>
            </a:r>
            <a:r>
              <a:rPr dirty="0" sz="1200" spc="130">
                <a:latin typeface="Arial"/>
                <a:cs typeface="Arial"/>
              </a:rPr>
              <a:t> </a:t>
            </a:r>
            <a:r>
              <a:rPr dirty="0" sz="1200" spc="-5">
                <a:latin typeface="Arial"/>
                <a:cs typeface="Arial"/>
              </a:rPr>
              <a:t>out</a:t>
            </a:r>
            <a:r>
              <a:rPr dirty="0" sz="1200" spc="145">
                <a:latin typeface="Arial"/>
                <a:cs typeface="Arial"/>
              </a:rPr>
              <a:t> </a:t>
            </a:r>
            <a:r>
              <a:rPr dirty="0" sz="1200" spc="-5">
                <a:latin typeface="Arial"/>
                <a:cs typeface="Arial"/>
              </a:rPr>
              <a:t>suppression,</a:t>
            </a:r>
            <a:r>
              <a:rPr dirty="0" sz="1200" spc="145">
                <a:latin typeface="Arial"/>
                <a:cs typeface="Arial"/>
              </a:rPr>
              <a:t> </a:t>
            </a:r>
            <a:r>
              <a:rPr dirty="0" sz="1200" spc="-5">
                <a:latin typeface="Arial"/>
                <a:cs typeface="Arial"/>
              </a:rPr>
              <a:t>discrimination</a:t>
            </a:r>
            <a:r>
              <a:rPr dirty="0" sz="1200" spc="135">
                <a:latin typeface="Arial"/>
                <a:cs typeface="Arial"/>
              </a:rPr>
              <a:t> </a:t>
            </a:r>
            <a:r>
              <a:rPr dirty="0" sz="1200" spc="-5">
                <a:latin typeface="Arial"/>
                <a:cs typeface="Arial"/>
              </a:rPr>
              <a:t>and</a:t>
            </a:r>
            <a:r>
              <a:rPr dirty="0" sz="1200" spc="145">
                <a:latin typeface="Arial"/>
                <a:cs typeface="Arial"/>
              </a:rPr>
              <a:t> </a:t>
            </a:r>
            <a:r>
              <a:rPr dirty="0" sz="1200" spc="-5">
                <a:latin typeface="Arial"/>
                <a:cs typeface="Arial"/>
              </a:rPr>
              <a:t>violence</a:t>
            </a:r>
            <a:r>
              <a:rPr dirty="0" sz="1200" spc="135">
                <a:latin typeface="Arial"/>
                <a:cs typeface="Arial"/>
              </a:rPr>
              <a:t> </a:t>
            </a:r>
            <a:r>
              <a:rPr dirty="0" sz="1200" spc="5">
                <a:latin typeface="Arial"/>
                <a:cs typeface="Arial"/>
              </a:rPr>
              <a:t>against</a:t>
            </a:r>
            <a:r>
              <a:rPr dirty="0" sz="1200" spc="140">
                <a:latin typeface="Arial"/>
                <a:cs typeface="Arial"/>
              </a:rPr>
              <a:t> </a:t>
            </a:r>
            <a:r>
              <a:rPr dirty="0" sz="1200" spc="-5">
                <a:latin typeface="Arial"/>
                <a:cs typeface="Arial"/>
              </a:rPr>
              <a:t>Muslims.</a:t>
            </a:r>
            <a:endParaRPr sz="1200">
              <a:latin typeface="Arial"/>
              <a:cs typeface="Arial"/>
            </a:endParaRPr>
          </a:p>
          <a:p>
            <a:pPr>
              <a:lnSpc>
                <a:spcPct val="100000"/>
              </a:lnSpc>
              <a:spcBef>
                <a:spcPts val="20"/>
              </a:spcBef>
            </a:pPr>
            <a:endParaRPr sz="1150">
              <a:latin typeface="Arial"/>
              <a:cs typeface="Arial"/>
            </a:endParaRPr>
          </a:p>
          <a:p>
            <a:pPr algn="just" marL="12700" marR="7620">
              <a:lnSpc>
                <a:spcPct val="95900"/>
              </a:lnSpc>
            </a:pPr>
            <a:r>
              <a:rPr dirty="0" sz="1200" spc="-5">
                <a:latin typeface="Arial"/>
                <a:cs typeface="Arial"/>
              </a:rPr>
              <a:t>Lack of understanding regarding </a:t>
            </a:r>
            <a:r>
              <a:rPr dirty="0" sz="1200">
                <a:latin typeface="Arial"/>
                <a:cs typeface="Arial"/>
              </a:rPr>
              <a:t>the </a:t>
            </a:r>
            <a:r>
              <a:rPr dirty="0" sz="1200" spc="-5">
                <a:latin typeface="Arial"/>
                <a:cs typeface="Arial"/>
              </a:rPr>
              <a:t>purpose of hijab led </a:t>
            </a:r>
            <a:r>
              <a:rPr dirty="0" sz="1200">
                <a:latin typeface="Arial"/>
                <a:cs typeface="Arial"/>
              </a:rPr>
              <a:t>the </a:t>
            </a:r>
            <a:r>
              <a:rPr dirty="0" sz="1200" spc="-5">
                <a:latin typeface="Arial"/>
                <a:cs typeface="Arial"/>
              </a:rPr>
              <a:t>French government to claim  </a:t>
            </a:r>
            <a:r>
              <a:rPr dirty="0" sz="1200">
                <a:latin typeface="Arial"/>
                <a:cs typeface="Arial"/>
              </a:rPr>
              <a:t>that </a:t>
            </a:r>
            <a:r>
              <a:rPr dirty="0" sz="1200" spc="-5">
                <a:latin typeface="Arial"/>
                <a:cs typeface="Arial"/>
              </a:rPr>
              <a:t>the "ostentatious" wearing </a:t>
            </a:r>
            <a:r>
              <a:rPr dirty="0" sz="1200">
                <a:latin typeface="Arial"/>
                <a:cs typeface="Arial"/>
              </a:rPr>
              <a:t>of the </a:t>
            </a:r>
            <a:r>
              <a:rPr dirty="0" sz="1200" spc="-5">
                <a:latin typeface="Arial"/>
                <a:cs typeface="Arial"/>
              </a:rPr>
              <a:t>headscarf violated </a:t>
            </a:r>
            <a:r>
              <a:rPr dirty="0" sz="1200" spc="-10">
                <a:latin typeface="Arial"/>
                <a:cs typeface="Arial"/>
              </a:rPr>
              <a:t>laws </a:t>
            </a:r>
            <a:r>
              <a:rPr dirty="0" sz="1200" spc="-5">
                <a:latin typeface="Arial"/>
                <a:cs typeface="Arial"/>
              </a:rPr>
              <a:t>in place prohibiting  proselytizing in </a:t>
            </a:r>
            <a:r>
              <a:rPr dirty="0" sz="1200">
                <a:latin typeface="Arial"/>
                <a:cs typeface="Arial"/>
              </a:rPr>
              <a:t>schools. </a:t>
            </a:r>
            <a:r>
              <a:rPr dirty="0" sz="1200" spc="-5">
                <a:latin typeface="Arial"/>
                <a:cs typeface="Arial"/>
              </a:rPr>
              <a:t>Due </a:t>
            </a:r>
            <a:r>
              <a:rPr dirty="0" sz="1200">
                <a:latin typeface="Arial"/>
                <a:cs typeface="Arial"/>
              </a:rPr>
              <a:t>to </a:t>
            </a:r>
            <a:r>
              <a:rPr dirty="0" sz="1200" spc="-5">
                <a:latin typeface="Arial"/>
                <a:cs typeface="Arial"/>
              </a:rPr>
              <a:t>negative public attention, </a:t>
            </a:r>
            <a:r>
              <a:rPr dirty="0" sz="1200">
                <a:latin typeface="Arial"/>
                <a:cs typeface="Arial"/>
              </a:rPr>
              <a:t>the Administrative Court, </a:t>
            </a:r>
            <a:r>
              <a:rPr dirty="0" sz="1200" spc="-5">
                <a:latin typeface="Arial"/>
                <a:cs typeface="Arial"/>
              </a:rPr>
              <a:t>in 1995,  modified the </a:t>
            </a:r>
            <a:r>
              <a:rPr dirty="0" sz="1200" spc="-10">
                <a:latin typeface="Arial"/>
                <a:cs typeface="Arial"/>
              </a:rPr>
              <a:t>law, </a:t>
            </a:r>
            <a:r>
              <a:rPr dirty="0" sz="1200" spc="-5">
                <a:latin typeface="Arial"/>
                <a:cs typeface="Arial"/>
              </a:rPr>
              <a:t>instead prohibiting </a:t>
            </a:r>
            <a:r>
              <a:rPr dirty="0" sz="1200">
                <a:latin typeface="Arial"/>
                <a:cs typeface="Arial"/>
              </a:rPr>
              <a:t>the </a:t>
            </a:r>
            <a:r>
              <a:rPr dirty="0" sz="1200" spc="-5">
                <a:latin typeface="Arial"/>
                <a:cs typeface="Arial"/>
              </a:rPr>
              <a:t>wearing of "ostentatious political and religious  symbols" in school, thus leaving </a:t>
            </a:r>
            <a:r>
              <a:rPr dirty="0" sz="1200">
                <a:latin typeface="Arial"/>
                <a:cs typeface="Arial"/>
              </a:rPr>
              <a:t>the </a:t>
            </a:r>
            <a:r>
              <a:rPr dirty="0" sz="1200" spc="-5">
                <a:latin typeface="Arial"/>
                <a:cs typeface="Arial"/>
              </a:rPr>
              <a:t>decision </a:t>
            </a:r>
            <a:r>
              <a:rPr dirty="0" sz="1200">
                <a:latin typeface="Arial"/>
                <a:cs typeface="Arial"/>
              </a:rPr>
              <a:t>to </a:t>
            </a:r>
            <a:r>
              <a:rPr dirty="0" sz="1200" spc="-5">
                <a:latin typeface="Arial"/>
                <a:cs typeface="Arial"/>
              </a:rPr>
              <a:t>the discretion of school </a:t>
            </a:r>
            <a:r>
              <a:rPr dirty="0" sz="1200">
                <a:latin typeface="Arial"/>
                <a:cs typeface="Arial"/>
              </a:rPr>
              <a:t>officials. As </a:t>
            </a:r>
            <a:r>
              <a:rPr dirty="0" sz="1200" spc="-5">
                <a:latin typeface="Arial"/>
                <a:cs typeface="Arial"/>
              </a:rPr>
              <a:t>a  reaction </a:t>
            </a:r>
            <a:r>
              <a:rPr dirty="0" sz="1200">
                <a:latin typeface="Arial"/>
                <a:cs typeface="Arial"/>
              </a:rPr>
              <a:t>to </a:t>
            </a:r>
            <a:r>
              <a:rPr dirty="0" sz="1200" spc="-5">
                <a:latin typeface="Arial"/>
                <a:cs typeface="Arial"/>
              </a:rPr>
              <a:t>such hostility, </a:t>
            </a:r>
            <a:r>
              <a:rPr dirty="0" sz="1200">
                <a:latin typeface="Arial"/>
                <a:cs typeface="Arial"/>
              </a:rPr>
              <a:t>families </a:t>
            </a:r>
            <a:r>
              <a:rPr dirty="0" sz="1200" spc="-5">
                <a:latin typeface="Arial"/>
                <a:cs typeface="Arial"/>
              </a:rPr>
              <a:t>chose </a:t>
            </a:r>
            <a:r>
              <a:rPr dirty="0" sz="1200">
                <a:latin typeface="Arial"/>
                <a:cs typeface="Arial"/>
              </a:rPr>
              <a:t>to </a:t>
            </a:r>
            <a:r>
              <a:rPr dirty="0" sz="1200" spc="-5">
                <a:latin typeface="Arial"/>
                <a:cs typeface="Arial"/>
              </a:rPr>
              <a:t>keep their daughters home instead of subjecting  them </a:t>
            </a:r>
            <a:r>
              <a:rPr dirty="0" sz="1200">
                <a:latin typeface="Arial"/>
                <a:cs typeface="Arial"/>
              </a:rPr>
              <a:t>to </a:t>
            </a:r>
            <a:r>
              <a:rPr dirty="0" sz="1200" spc="-5">
                <a:latin typeface="Arial"/>
                <a:cs typeface="Arial"/>
              </a:rPr>
              <a:t>harassment by </a:t>
            </a:r>
            <a:r>
              <a:rPr dirty="0" sz="1200">
                <a:latin typeface="Arial"/>
                <a:cs typeface="Arial"/>
              </a:rPr>
              <a:t>school</a:t>
            </a:r>
            <a:r>
              <a:rPr dirty="0" sz="1200" spc="-30">
                <a:latin typeface="Arial"/>
                <a:cs typeface="Arial"/>
              </a:rPr>
              <a:t> </a:t>
            </a:r>
            <a:r>
              <a:rPr dirty="0" sz="1200" spc="-5">
                <a:latin typeface="Arial"/>
                <a:cs typeface="Arial"/>
              </a:rPr>
              <a:t>authorities.</a:t>
            </a:r>
            <a:endParaRPr sz="1200">
              <a:latin typeface="Arial"/>
              <a:cs typeface="Arial"/>
            </a:endParaRPr>
          </a:p>
          <a:p>
            <a:pPr algn="just" marL="12700" marR="5715">
              <a:lnSpc>
                <a:spcPts val="1380"/>
              </a:lnSpc>
              <a:spcBef>
                <a:spcPts val="1035"/>
              </a:spcBef>
            </a:pPr>
            <a:r>
              <a:rPr dirty="0" sz="1200">
                <a:latin typeface="Arial"/>
                <a:cs typeface="Arial"/>
              </a:rPr>
              <a:t>Women </a:t>
            </a:r>
            <a:r>
              <a:rPr dirty="0" sz="1200" spc="-10">
                <a:latin typeface="Arial"/>
                <a:cs typeface="Arial"/>
              </a:rPr>
              <a:t>who </a:t>
            </a:r>
            <a:r>
              <a:rPr dirty="0" sz="1200" spc="-5">
                <a:latin typeface="Arial"/>
                <a:cs typeface="Arial"/>
              </a:rPr>
              <a:t>wear hijab in </a:t>
            </a:r>
            <a:r>
              <a:rPr dirty="0" sz="1200">
                <a:latin typeface="Arial"/>
                <a:cs typeface="Arial"/>
              </a:rPr>
              <a:t>Turkey </a:t>
            </a:r>
            <a:r>
              <a:rPr dirty="0" sz="1200" spc="-5">
                <a:latin typeface="Arial"/>
                <a:cs typeface="Arial"/>
              </a:rPr>
              <a:t>are prevented from obtaining </a:t>
            </a:r>
            <a:r>
              <a:rPr dirty="0" sz="1200">
                <a:latin typeface="Arial"/>
                <a:cs typeface="Arial"/>
              </a:rPr>
              <a:t>post-graduate </a:t>
            </a:r>
            <a:r>
              <a:rPr dirty="0" sz="1200" spc="-5">
                <a:latin typeface="Arial"/>
                <a:cs typeface="Arial"/>
              </a:rPr>
              <a:t>degrees </a:t>
            </a:r>
            <a:r>
              <a:rPr dirty="0" sz="1200" spc="-10">
                <a:latin typeface="Arial"/>
                <a:cs typeface="Arial"/>
              </a:rPr>
              <a:t>and  </a:t>
            </a:r>
            <a:r>
              <a:rPr dirty="0" sz="1200" spc="-5">
                <a:latin typeface="Arial"/>
                <a:cs typeface="Arial"/>
              </a:rPr>
              <a:t>from advancing in </a:t>
            </a:r>
            <a:r>
              <a:rPr dirty="0" sz="1200">
                <a:latin typeface="Arial"/>
                <a:cs typeface="Arial"/>
              </a:rPr>
              <a:t>the </a:t>
            </a:r>
            <a:r>
              <a:rPr dirty="0" sz="1200" spc="-5">
                <a:latin typeface="Arial"/>
                <a:cs typeface="Arial"/>
              </a:rPr>
              <a:t>workplace. Similar </a:t>
            </a:r>
            <a:r>
              <a:rPr dirty="0" sz="1200">
                <a:latin typeface="Arial"/>
                <a:cs typeface="Arial"/>
              </a:rPr>
              <a:t>forms </a:t>
            </a:r>
            <a:r>
              <a:rPr dirty="0" sz="1200" spc="-5">
                <a:latin typeface="Arial"/>
                <a:cs typeface="Arial"/>
              </a:rPr>
              <a:t>of discrimination exist throughout </a:t>
            </a:r>
            <a:r>
              <a:rPr dirty="0" sz="1200" spc="5">
                <a:latin typeface="Arial"/>
                <a:cs typeface="Arial"/>
              </a:rPr>
              <a:t>Europe </a:t>
            </a:r>
            <a:r>
              <a:rPr dirty="0" sz="1200" spc="-5">
                <a:latin typeface="Arial"/>
                <a:cs typeface="Arial"/>
              </a:rPr>
              <a:t>and  are </a:t>
            </a:r>
            <a:r>
              <a:rPr dirty="0" sz="1200">
                <a:latin typeface="Arial"/>
                <a:cs typeface="Arial"/>
              </a:rPr>
              <a:t>mainly </a:t>
            </a:r>
            <a:r>
              <a:rPr dirty="0" sz="1200" spc="-5">
                <a:latin typeface="Arial"/>
                <a:cs typeface="Arial"/>
              </a:rPr>
              <a:t>reported anecdotally. Frequently, Muslim women are singled out </a:t>
            </a:r>
            <a:r>
              <a:rPr dirty="0" sz="1200">
                <a:latin typeface="Arial"/>
                <a:cs typeface="Arial"/>
              </a:rPr>
              <a:t>at </a:t>
            </a:r>
            <a:r>
              <a:rPr dirty="0" sz="1200" spc="-5">
                <a:latin typeface="Arial"/>
                <a:cs typeface="Arial"/>
              </a:rPr>
              <a:t>airports as  </a:t>
            </a:r>
            <a:r>
              <a:rPr dirty="0" sz="1200">
                <a:latin typeface="Arial"/>
                <a:cs typeface="Arial"/>
              </a:rPr>
              <a:t>they </a:t>
            </a:r>
            <a:r>
              <a:rPr dirty="0" sz="1200" spc="-5">
                <a:latin typeface="Arial"/>
                <a:cs typeface="Arial"/>
              </a:rPr>
              <a:t>are treated as suspects. Human rights groups have not focused specifically on the  problems faced by Muslim women who, compared to </a:t>
            </a:r>
            <a:r>
              <a:rPr dirty="0" sz="1200">
                <a:latin typeface="Arial"/>
                <a:cs typeface="Arial"/>
              </a:rPr>
              <a:t>their </a:t>
            </a:r>
            <a:r>
              <a:rPr dirty="0" sz="1200" spc="-5">
                <a:latin typeface="Arial"/>
                <a:cs typeface="Arial"/>
              </a:rPr>
              <a:t>male </a:t>
            </a:r>
            <a:r>
              <a:rPr dirty="0" sz="1200">
                <a:latin typeface="Arial"/>
                <a:cs typeface="Arial"/>
              </a:rPr>
              <a:t>counterparts, </a:t>
            </a:r>
            <a:r>
              <a:rPr dirty="0" sz="1200" spc="-5">
                <a:latin typeface="Arial"/>
                <a:cs typeface="Arial"/>
              </a:rPr>
              <a:t>may be even  less likely </a:t>
            </a:r>
            <a:r>
              <a:rPr dirty="0" sz="1200">
                <a:latin typeface="Arial"/>
                <a:cs typeface="Arial"/>
              </a:rPr>
              <a:t>to report </a:t>
            </a:r>
            <a:r>
              <a:rPr dirty="0" sz="1200" spc="-5">
                <a:latin typeface="Arial"/>
                <a:cs typeface="Arial"/>
              </a:rPr>
              <a:t>harassment and</a:t>
            </a:r>
            <a:r>
              <a:rPr dirty="0" sz="1200" spc="-20">
                <a:latin typeface="Arial"/>
                <a:cs typeface="Arial"/>
              </a:rPr>
              <a:t> </a:t>
            </a:r>
            <a:r>
              <a:rPr dirty="0" sz="1200" spc="-5">
                <a:latin typeface="Arial"/>
                <a:cs typeface="Arial"/>
              </a:rPr>
              <a:t>discrimination.</a:t>
            </a:r>
            <a:endParaRPr sz="1200">
              <a:latin typeface="Arial"/>
              <a:cs typeface="Arial"/>
            </a:endParaRPr>
          </a:p>
          <a:p>
            <a:pPr algn="just" marL="12700" marR="8890">
              <a:lnSpc>
                <a:spcPts val="1370"/>
              </a:lnSpc>
              <a:spcBef>
                <a:spcPts val="1015"/>
              </a:spcBef>
            </a:pPr>
            <a:r>
              <a:rPr dirty="0" sz="1200" spc="-5">
                <a:latin typeface="Arial"/>
                <a:cs typeface="Arial"/>
              </a:rPr>
              <a:t>The persecution of Muslims is </a:t>
            </a:r>
            <a:r>
              <a:rPr dirty="0" sz="1200">
                <a:latin typeface="Arial"/>
                <a:cs typeface="Arial"/>
              </a:rPr>
              <a:t>the </a:t>
            </a:r>
            <a:r>
              <a:rPr dirty="0" sz="1200" spc="-5">
                <a:latin typeface="Arial"/>
                <a:cs typeface="Arial"/>
              </a:rPr>
              <a:t>result of </a:t>
            </a:r>
            <a:r>
              <a:rPr dirty="0" sz="1200">
                <a:latin typeface="Arial"/>
                <a:cs typeface="Arial"/>
              </a:rPr>
              <a:t>deep-seated </a:t>
            </a:r>
            <a:r>
              <a:rPr dirty="0" sz="1200" spc="-5">
                <a:latin typeface="Arial"/>
                <a:cs typeface="Arial"/>
              </a:rPr>
              <a:t>hatred and </a:t>
            </a:r>
            <a:r>
              <a:rPr dirty="0" sz="1200">
                <a:latin typeface="Arial"/>
                <a:cs typeface="Arial"/>
              </a:rPr>
              <a:t>prejudice </a:t>
            </a:r>
            <a:r>
              <a:rPr dirty="0" sz="1200" spc="-5">
                <a:latin typeface="Arial"/>
                <a:cs typeface="Arial"/>
              </a:rPr>
              <a:t>that </a:t>
            </a:r>
            <a:r>
              <a:rPr dirty="0" sz="1200">
                <a:latin typeface="Arial"/>
                <a:cs typeface="Arial"/>
              </a:rPr>
              <a:t>must </a:t>
            </a:r>
            <a:r>
              <a:rPr dirty="0" sz="1200" spc="-5">
                <a:latin typeface="Arial"/>
                <a:cs typeface="Arial"/>
              </a:rPr>
              <a:t>be  addressed.</a:t>
            </a:r>
            <a:r>
              <a:rPr dirty="0" sz="1200" spc="5">
                <a:latin typeface="Arial"/>
                <a:cs typeface="Arial"/>
              </a:rPr>
              <a:t> </a:t>
            </a:r>
            <a:r>
              <a:rPr dirty="0" sz="1200">
                <a:latin typeface="Arial"/>
                <a:cs typeface="Arial"/>
              </a:rPr>
              <a:t>While</a:t>
            </a:r>
            <a:r>
              <a:rPr dirty="0" sz="1200" spc="50">
                <a:latin typeface="Arial"/>
                <a:cs typeface="Arial"/>
              </a:rPr>
              <a:t> </a:t>
            </a:r>
            <a:r>
              <a:rPr dirty="0" sz="1200">
                <a:latin typeface="Arial"/>
                <a:cs typeface="Arial"/>
              </a:rPr>
              <a:t>it</a:t>
            </a:r>
            <a:r>
              <a:rPr dirty="0" sz="1200" spc="30">
                <a:latin typeface="Arial"/>
                <a:cs typeface="Arial"/>
              </a:rPr>
              <a:t> </a:t>
            </a:r>
            <a:r>
              <a:rPr dirty="0" sz="1200" spc="-5">
                <a:latin typeface="Arial"/>
                <a:cs typeface="Arial"/>
              </a:rPr>
              <a:t>may</a:t>
            </a:r>
            <a:r>
              <a:rPr dirty="0" sz="1200" spc="35">
                <a:latin typeface="Arial"/>
                <a:cs typeface="Arial"/>
              </a:rPr>
              <a:t> </a:t>
            </a:r>
            <a:r>
              <a:rPr dirty="0" sz="1200" spc="-5">
                <a:latin typeface="Arial"/>
                <a:cs typeface="Arial"/>
              </a:rPr>
              <a:t>be</a:t>
            </a:r>
            <a:r>
              <a:rPr dirty="0" sz="1200" spc="35">
                <a:latin typeface="Arial"/>
                <a:cs typeface="Arial"/>
              </a:rPr>
              <a:t> </a:t>
            </a:r>
            <a:r>
              <a:rPr dirty="0" sz="1200" spc="-5">
                <a:latin typeface="Arial"/>
                <a:cs typeface="Arial"/>
              </a:rPr>
              <a:t>expressed</a:t>
            </a:r>
            <a:r>
              <a:rPr dirty="0" sz="1200" spc="30">
                <a:latin typeface="Arial"/>
                <a:cs typeface="Arial"/>
              </a:rPr>
              <a:t> </a:t>
            </a:r>
            <a:r>
              <a:rPr dirty="0" sz="1200">
                <a:latin typeface="Arial"/>
                <a:cs typeface="Arial"/>
              </a:rPr>
              <a:t>most</a:t>
            </a:r>
            <a:r>
              <a:rPr dirty="0" sz="1200" spc="25">
                <a:latin typeface="Arial"/>
                <a:cs typeface="Arial"/>
              </a:rPr>
              <a:t> </a:t>
            </a:r>
            <a:r>
              <a:rPr dirty="0" sz="1200" spc="-5">
                <a:latin typeface="Arial"/>
                <a:cs typeface="Arial"/>
              </a:rPr>
              <a:t>violently</a:t>
            </a:r>
            <a:r>
              <a:rPr dirty="0" sz="1200" spc="35">
                <a:latin typeface="Arial"/>
                <a:cs typeface="Arial"/>
              </a:rPr>
              <a:t> </a:t>
            </a:r>
            <a:r>
              <a:rPr dirty="0" sz="1200" spc="-5">
                <a:latin typeface="Arial"/>
                <a:cs typeface="Arial"/>
              </a:rPr>
              <a:t>by</a:t>
            </a:r>
            <a:r>
              <a:rPr dirty="0" sz="1200" spc="30">
                <a:latin typeface="Arial"/>
                <a:cs typeface="Arial"/>
              </a:rPr>
              <a:t> </a:t>
            </a:r>
            <a:r>
              <a:rPr dirty="0" sz="1200">
                <a:latin typeface="Arial"/>
                <a:cs typeface="Arial"/>
              </a:rPr>
              <a:t>extremist</a:t>
            </a:r>
            <a:r>
              <a:rPr dirty="0" sz="1200" spc="45">
                <a:latin typeface="Arial"/>
                <a:cs typeface="Arial"/>
              </a:rPr>
              <a:t> </a:t>
            </a:r>
            <a:r>
              <a:rPr dirty="0" sz="1200" spc="-5">
                <a:latin typeface="Arial"/>
                <a:cs typeface="Arial"/>
              </a:rPr>
              <a:t>elements,</a:t>
            </a:r>
            <a:r>
              <a:rPr dirty="0" sz="1200" spc="40">
                <a:latin typeface="Arial"/>
                <a:cs typeface="Arial"/>
              </a:rPr>
              <a:t> </a:t>
            </a:r>
            <a:r>
              <a:rPr dirty="0" sz="1200" spc="-5">
                <a:latin typeface="Arial"/>
                <a:cs typeface="Arial"/>
              </a:rPr>
              <a:t>the</a:t>
            </a:r>
            <a:r>
              <a:rPr dirty="0" sz="1200" spc="45">
                <a:latin typeface="Arial"/>
                <a:cs typeface="Arial"/>
              </a:rPr>
              <a:t> </a:t>
            </a:r>
            <a:r>
              <a:rPr dirty="0" sz="1200" spc="-5">
                <a:latin typeface="Arial"/>
                <a:cs typeface="Arial"/>
              </a:rPr>
              <a:t>participation</a:t>
            </a:r>
            <a:endParaRPr sz="1200">
              <a:latin typeface="Arial"/>
              <a:cs typeface="Arial"/>
            </a:endParaRPr>
          </a:p>
        </p:txBody>
      </p:sp>
      <p:sp>
        <p:nvSpPr>
          <p:cNvPr id="3" name="object 3"/>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180</a:t>
            </a:r>
            <a:endParaRPr sz="1200">
              <a:latin typeface="Times New Roman"/>
              <a:cs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1265" cy="917829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15"/>
              </a:spcBef>
            </a:pPr>
            <a:endParaRPr sz="1300">
              <a:latin typeface="Times New Roman"/>
              <a:cs typeface="Times New Roman"/>
            </a:endParaRPr>
          </a:p>
          <a:p>
            <a:pPr algn="just" marL="12700" marR="5715">
              <a:lnSpc>
                <a:spcPct val="95900"/>
              </a:lnSpc>
            </a:pPr>
            <a:r>
              <a:rPr dirty="0" sz="1200" spc="-5">
                <a:latin typeface="Arial"/>
                <a:cs typeface="Arial"/>
              </a:rPr>
              <a:t>of governments to lesser degrees confirms </a:t>
            </a:r>
            <a:r>
              <a:rPr dirty="0" sz="1200">
                <a:latin typeface="Arial"/>
                <a:cs typeface="Arial"/>
              </a:rPr>
              <a:t>that </a:t>
            </a:r>
            <a:r>
              <a:rPr dirty="0" sz="1200" spc="-5">
                <a:latin typeface="Arial"/>
                <a:cs typeface="Arial"/>
              </a:rPr>
              <a:t>the racism permeates all levels </a:t>
            </a:r>
            <a:r>
              <a:rPr dirty="0" sz="1200">
                <a:latin typeface="Arial"/>
                <a:cs typeface="Arial"/>
              </a:rPr>
              <a:t>of </a:t>
            </a:r>
            <a:r>
              <a:rPr dirty="0" sz="1200" spc="-5">
                <a:latin typeface="Arial"/>
                <a:cs typeface="Arial"/>
              </a:rPr>
              <a:t>society.  Recognition of this </a:t>
            </a:r>
            <a:r>
              <a:rPr dirty="0" sz="1200">
                <a:latin typeface="Arial"/>
                <a:cs typeface="Arial"/>
              </a:rPr>
              <a:t>fact </a:t>
            </a:r>
            <a:r>
              <a:rPr dirty="0" sz="1200" spc="-5">
                <a:latin typeface="Arial"/>
                <a:cs typeface="Arial"/>
              </a:rPr>
              <a:t>is the </a:t>
            </a:r>
            <a:r>
              <a:rPr dirty="0" sz="1200">
                <a:latin typeface="Arial"/>
                <a:cs typeface="Arial"/>
              </a:rPr>
              <a:t>key to </a:t>
            </a:r>
            <a:r>
              <a:rPr dirty="0" sz="1200" spc="-5">
                <a:latin typeface="Arial"/>
                <a:cs typeface="Arial"/>
              </a:rPr>
              <a:t>addressing the grievances </a:t>
            </a:r>
            <a:r>
              <a:rPr dirty="0" sz="1200">
                <a:latin typeface="Arial"/>
                <a:cs typeface="Arial"/>
              </a:rPr>
              <a:t>and </a:t>
            </a:r>
            <a:r>
              <a:rPr dirty="0" sz="1200" spc="-5">
                <a:latin typeface="Arial"/>
                <a:cs typeface="Arial"/>
              </a:rPr>
              <a:t>resolving </a:t>
            </a:r>
            <a:r>
              <a:rPr dirty="0" sz="1200">
                <a:latin typeface="Arial"/>
                <a:cs typeface="Arial"/>
              </a:rPr>
              <a:t>conflict. </a:t>
            </a:r>
            <a:r>
              <a:rPr dirty="0" sz="1200" spc="-5">
                <a:latin typeface="Arial"/>
                <a:cs typeface="Arial"/>
              </a:rPr>
              <a:t>Conflict  </a:t>
            </a:r>
            <a:r>
              <a:rPr dirty="0" sz="1200">
                <a:latin typeface="Arial"/>
                <a:cs typeface="Arial"/>
              </a:rPr>
              <a:t>that </a:t>
            </a:r>
            <a:r>
              <a:rPr dirty="0" sz="1200" spc="-5">
                <a:latin typeface="Arial"/>
                <a:cs typeface="Arial"/>
              </a:rPr>
              <a:t>is generated elsewhere with </a:t>
            </a:r>
            <a:r>
              <a:rPr dirty="0" sz="1200">
                <a:latin typeface="Arial"/>
                <a:cs typeface="Arial"/>
              </a:rPr>
              <a:t>repercussions </a:t>
            </a:r>
            <a:r>
              <a:rPr dirty="0" sz="1200" spc="-5">
                <a:latin typeface="Arial"/>
                <a:cs typeface="Arial"/>
              </a:rPr>
              <a:t>on European soil, </a:t>
            </a:r>
            <a:r>
              <a:rPr dirty="0" sz="1200">
                <a:latin typeface="Arial"/>
                <a:cs typeface="Arial"/>
              </a:rPr>
              <a:t>reinforce </a:t>
            </a:r>
            <a:r>
              <a:rPr dirty="0" sz="1200" spc="-5">
                <a:latin typeface="Arial"/>
                <a:cs typeface="Arial"/>
              </a:rPr>
              <a:t>stereotyping and  paranoia that is used to justify widespread acts of intolerance and</a:t>
            </a:r>
            <a:r>
              <a:rPr dirty="0" sz="1200" spc="50">
                <a:latin typeface="Arial"/>
                <a:cs typeface="Arial"/>
              </a:rPr>
              <a:t> </a:t>
            </a:r>
            <a:r>
              <a:rPr dirty="0" sz="1200" spc="-5">
                <a:latin typeface="Arial"/>
                <a:cs typeface="Arial"/>
              </a:rPr>
              <a:t>repression.</a:t>
            </a:r>
            <a:endParaRPr sz="1200">
              <a:latin typeface="Arial"/>
              <a:cs typeface="Arial"/>
            </a:endParaRPr>
          </a:p>
          <a:p>
            <a:pPr>
              <a:lnSpc>
                <a:spcPct val="100000"/>
              </a:lnSpc>
            </a:pPr>
            <a:endParaRPr sz="1300">
              <a:latin typeface="Arial"/>
              <a:cs typeface="Arial"/>
            </a:endParaRPr>
          </a:p>
          <a:p>
            <a:pPr algn="just" marL="12700" marR="5715">
              <a:lnSpc>
                <a:spcPts val="1380"/>
              </a:lnSpc>
              <a:spcBef>
                <a:spcPts val="915"/>
              </a:spcBef>
            </a:pPr>
            <a:r>
              <a:rPr dirty="0" sz="1200" spc="-5">
                <a:latin typeface="Arial"/>
                <a:cs typeface="Arial"/>
              </a:rPr>
              <a:t>The media also contributes negatively </a:t>
            </a:r>
            <a:r>
              <a:rPr dirty="0" sz="1200" spc="5">
                <a:latin typeface="Arial"/>
                <a:cs typeface="Arial"/>
              </a:rPr>
              <a:t>by </a:t>
            </a:r>
            <a:r>
              <a:rPr dirty="0" sz="1200">
                <a:latin typeface="Arial"/>
                <a:cs typeface="Arial"/>
              </a:rPr>
              <a:t>perpetuating </a:t>
            </a:r>
            <a:r>
              <a:rPr dirty="0" sz="1200" spc="-5">
                <a:latin typeface="Arial"/>
                <a:cs typeface="Arial"/>
              </a:rPr>
              <a:t>stereotypical negative portrayals </a:t>
            </a:r>
            <a:r>
              <a:rPr dirty="0" sz="1200">
                <a:latin typeface="Arial"/>
                <a:cs typeface="Arial"/>
              </a:rPr>
              <a:t>of  </a:t>
            </a:r>
            <a:r>
              <a:rPr dirty="0" sz="1200" spc="-5">
                <a:latin typeface="Arial"/>
                <a:cs typeface="Arial"/>
              </a:rPr>
              <a:t>Islam and Muslims. </a:t>
            </a:r>
            <a:r>
              <a:rPr dirty="0" sz="1200">
                <a:latin typeface="Arial"/>
                <a:cs typeface="Arial"/>
              </a:rPr>
              <a:t>This </a:t>
            </a:r>
            <a:r>
              <a:rPr dirty="0" sz="1200" spc="-5">
                <a:latin typeface="Arial"/>
                <a:cs typeface="Arial"/>
              </a:rPr>
              <a:t>is clearly evident in the American </a:t>
            </a:r>
            <a:r>
              <a:rPr dirty="0" sz="1200">
                <a:latin typeface="Arial"/>
                <a:cs typeface="Arial"/>
              </a:rPr>
              <a:t>entertainment </a:t>
            </a:r>
            <a:r>
              <a:rPr dirty="0" sz="1200" spc="-5">
                <a:latin typeface="Arial"/>
                <a:cs typeface="Arial"/>
              </a:rPr>
              <a:t>industry </a:t>
            </a:r>
            <a:r>
              <a:rPr dirty="0" sz="1200" spc="-10">
                <a:latin typeface="Arial"/>
                <a:cs typeface="Arial"/>
              </a:rPr>
              <a:t>which  </a:t>
            </a:r>
            <a:r>
              <a:rPr dirty="0" sz="1200" spc="-5">
                <a:latin typeface="Arial"/>
                <a:cs typeface="Arial"/>
              </a:rPr>
              <a:t>continues to </a:t>
            </a:r>
            <a:r>
              <a:rPr dirty="0" sz="1200" spc="-10">
                <a:latin typeface="Arial"/>
                <a:cs typeface="Arial"/>
              </a:rPr>
              <a:t>produce </a:t>
            </a:r>
            <a:r>
              <a:rPr dirty="0" sz="1200" spc="-5">
                <a:latin typeface="Arial"/>
                <a:cs typeface="Arial"/>
              </a:rPr>
              <a:t>movies, such as </a:t>
            </a:r>
            <a:r>
              <a:rPr dirty="0" sz="1200">
                <a:latin typeface="Arial"/>
                <a:cs typeface="Arial"/>
              </a:rPr>
              <a:t>Executive </a:t>
            </a:r>
            <a:r>
              <a:rPr dirty="0" sz="1200" spc="-5">
                <a:latin typeface="Arial"/>
                <a:cs typeface="Arial"/>
              </a:rPr>
              <a:t>Decision and True Lies, that are </a:t>
            </a:r>
            <a:r>
              <a:rPr dirty="0" sz="1200" spc="-10">
                <a:latin typeface="Arial"/>
                <a:cs typeface="Arial"/>
              </a:rPr>
              <a:t>broadcast  </a:t>
            </a:r>
            <a:r>
              <a:rPr dirty="0" sz="1200" spc="-5">
                <a:latin typeface="Arial"/>
                <a:cs typeface="Arial"/>
              </a:rPr>
              <a:t>around the world, further solidifying </a:t>
            </a:r>
            <a:r>
              <a:rPr dirty="0" sz="1200">
                <a:latin typeface="Arial"/>
                <a:cs typeface="Arial"/>
              </a:rPr>
              <a:t>the </a:t>
            </a:r>
            <a:r>
              <a:rPr dirty="0" sz="1200" spc="-5">
                <a:latin typeface="Arial"/>
                <a:cs typeface="Arial"/>
              </a:rPr>
              <a:t>public‘s perception of Muslims and Middle Easterners  as terrorist and uncivilized. No positive images are offered </a:t>
            </a:r>
            <a:r>
              <a:rPr dirty="0" sz="1200">
                <a:latin typeface="Arial"/>
                <a:cs typeface="Arial"/>
              </a:rPr>
              <a:t>to </a:t>
            </a:r>
            <a:r>
              <a:rPr dirty="0" sz="1200" spc="-5">
                <a:latin typeface="Arial"/>
                <a:cs typeface="Arial"/>
              </a:rPr>
              <a:t>counter </a:t>
            </a:r>
            <a:r>
              <a:rPr dirty="0" sz="1200">
                <a:latin typeface="Arial"/>
                <a:cs typeface="Arial"/>
              </a:rPr>
              <a:t>the </a:t>
            </a:r>
            <a:r>
              <a:rPr dirty="0" sz="1200" spc="-5">
                <a:latin typeface="Arial"/>
                <a:cs typeface="Arial"/>
              </a:rPr>
              <a:t>effect, thus adding  </a:t>
            </a:r>
            <a:r>
              <a:rPr dirty="0" sz="1200">
                <a:latin typeface="Arial"/>
                <a:cs typeface="Arial"/>
              </a:rPr>
              <a:t>to </a:t>
            </a:r>
            <a:r>
              <a:rPr dirty="0" sz="1200" spc="-5">
                <a:latin typeface="Arial"/>
                <a:cs typeface="Arial"/>
              </a:rPr>
              <a:t>the public‘s general ignorance about Islam </a:t>
            </a:r>
            <a:r>
              <a:rPr dirty="0" sz="1200">
                <a:latin typeface="Arial"/>
                <a:cs typeface="Arial"/>
              </a:rPr>
              <a:t>and </a:t>
            </a:r>
            <a:r>
              <a:rPr dirty="0" sz="1200" spc="-5">
                <a:latin typeface="Arial"/>
                <a:cs typeface="Arial"/>
              </a:rPr>
              <a:t>intolerance </a:t>
            </a:r>
            <a:r>
              <a:rPr dirty="0" sz="1200">
                <a:latin typeface="Arial"/>
                <a:cs typeface="Arial"/>
              </a:rPr>
              <a:t>for </a:t>
            </a:r>
            <a:r>
              <a:rPr dirty="0" sz="1200" spc="-5">
                <a:latin typeface="Arial"/>
                <a:cs typeface="Arial"/>
              </a:rPr>
              <a:t>those who </a:t>
            </a:r>
            <a:r>
              <a:rPr dirty="0" sz="1200">
                <a:latin typeface="Arial"/>
                <a:cs typeface="Arial"/>
              </a:rPr>
              <a:t>are</a:t>
            </a:r>
            <a:r>
              <a:rPr dirty="0" sz="1200" spc="60">
                <a:latin typeface="Arial"/>
                <a:cs typeface="Arial"/>
              </a:rPr>
              <a:t> </a:t>
            </a:r>
            <a:r>
              <a:rPr dirty="0" sz="1200" spc="-5">
                <a:latin typeface="Arial"/>
                <a:cs typeface="Arial"/>
              </a:rPr>
              <a:t>different.</a:t>
            </a:r>
            <a:endParaRPr sz="1200">
              <a:latin typeface="Arial"/>
              <a:cs typeface="Arial"/>
            </a:endParaRPr>
          </a:p>
          <a:p>
            <a:pPr>
              <a:lnSpc>
                <a:spcPct val="100000"/>
              </a:lnSpc>
              <a:spcBef>
                <a:spcPts val="10"/>
              </a:spcBef>
            </a:pPr>
            <a:endParaRPr sz="1600">
              <a:latin typeface="Arial"/>
              <a:cs typeface="Arial"/>
            </a:endParaRPr>
          </a:p>
          <a:p>
            <a:pPr algn="just" marL="12700" marR="10795">
              <a:lnSpc>
                <a:spcPct val="95900"/>
              </a:lnSpc>
            </a:pPr>
            <a:r>
              <a:rPr dirty="0" sz="1200">
                <a:latin typeface="Arial"/>
                <a:cs typeface="Arial"/>
              </a:rPr>
              <a:t>In France, </a:t>
            </a:r>
            <a:r>
              <a:rPr dirty="0" sz="1200" spc="-5">
                <a:latin typeface="Arial"/>
                <a:cs typeface="Arial"/>
              </a:rPr>
              <a:t>over </a:t>
            </a:r>
            <a:r>
              <a:rPr dirty="0" sz="1200">
                <a:latin typeface="Arial"/>
                <a:cs typeface="Arial"/>
              </a:rPr>
              <a:t>500 </a:t>
            </a:r>
            <a:r>
              <a:rPr dirty="0" sz="1200" spc="-5">
                <a:latin typeface="Arial"/>
                <a:cs typeface="Arial"/>
              </a:rPr>
              <a:t>hate crimes were reported in 1996. Similar incidents </a:t>
            </a:r>
            <a:r>
              <a:rPr dirty="0" sz="1200" spc="-10">
                <a:latin typeface="Arial"/>
                <a:cs typeface="Arial"/>
              </a:rPr>
              <a:t>have </a:t>
            </a:r>
            <a:r>
              <a:rPr dirty="0" sz="1200">
                <a:latin typeface="Arial"/>
                <a:cs typeface="Arial"/>
              </a:rPr>
              <a:t>been </a:t>
            </a:r>
            <a:r>
              <a:rPr dirty="0" sz="1200" spc="-5">
                <a:latin typeface="Arial"/>
                <a:cs typeface="Arial"/>
              </a:rPr>
              <a:t>reported,  although not as widespread, in the Netherlands, Switzerland, Austria, Italy, Sweden, Spain  and the United Kingdom. In Bulgaria and the Czech Republic, the victims </a:t>
            </a:r>
            <a:r>
              <a:rPr dirty="0" sz="1200">
                <a:latin typeface="Arial"/>
                <a:cs typeface="Arial"/>
              </a:rPr>
              <a:t>of </a:t>
            </a:r>
            <a:r>
              <a:rPr dirty="0" sz="1200" spc="-5">
                <a:latin typeface="Arial"/>
                <a:cs typeface="Arial"/>
              </a:rPr>
              <a:t>hate crimes  which </a:t>
            </a:r>
            <a:r>
              <a:rPr dirty="0" sz="1200">
                <a:latin typeface="Arial"/>
                <a:cs typeface="Arial"/>
              </a:rPr>
              <a:t>often </a:t>
            </a:r>
            <a:r>
              <a:rPr dirty="0" sz="1200" spc="-5">
                <a:latin typeface="Arial"/>
                <a:cs typeface="Arial"/>
              </a:rPr>
              <a:t>includes murder, are members </a:t>
            </a:r>
            <a:r>
              <a:rPr dirty="0" sz="1200">
                <a:latin typeface="Arial"/>
                <a:cs typeface="Arial"/>
              </a:rPr>
              <a:t>of </a:t>
            </a:r>
            <a:r>
              <a:rPr dirty="0" sz="1200" spc="-5">
                <a:latin typeface="Arial"/>
                <a:cs typeface="Arial"/>
              </a:rPr>
              <a:t>the </a:t>
            </a:r>
            <a:r>
              <a:rPr dirty="0" sz="1200">
                <a:latin typeface="Arial"/>
                <a:cs typeface="Arial"/>
              </a:rPr>
              <a:t>Romani </a:t>
            </a:r>
            <a:r>
              <a:rPr dirty="0" sz="1200" spc="-5">
                <a:latin typeface="Arial"/>
                <a:cs typeface="Arial"/>
              </a:rPr>
              <a:t>population, </a:t>
            </a:r>
            <a:r>
              <a:rPr dirty="0" sz="1200">
                <a:latin typeface="Arial"/>
                <a:cs typeface="Arial"/>
              </a:rPr>
              <a:t>many </a:t>
            </a:r>
            <a:r>
              <a:rPr dirty="0" sz="1200" spc="-5">
                <a:latin typeface="Arial"/>
                <a:cs typeface="Arial"/>
              </a:rPr>
              <a:t>of whom are  Muslim. Discrimination by government institutions against </a:t>
            </a:r>
            <a:r>
              <a:rPr dirty="0" sz="1200" spc="-10">
                <a:latin typeface="Arial"/>
                <a:cs typeface="Arial"/>
              </a:rPr>
              <a:t>these </a:t>
            </a:r>
            <a:r>
              <a:rPr dirty="0" sz="1200" spc="-5">
                <a:latin typeface="Arial"/>
                <a:cs typeface="Arial"/>
              </a:rPr>
              <a:t>minorities can be interpreted  as a </a:t>
            </a:r>
            <a:r>
              <a:rPr dirty="0" sz="1200">
                <a:latin typeface="Arial"/>
                <a:cs typeface="Arial"/>
              </a:rPr>
              <a:t>form </a:t>
            </a:r>
            <a:r>
              <a:rPr dirty="0" sz="1200" spc="-5">
                <a:latin typeface="Arial"/>
                <a:cs typeface="Arial"/>
              </a:rPr>
              <a:t>of endorsement of similarly motivated prejudice, only expressed </a:t>
            </a:r>
            <a:r>
              <a:rPr dirty="0" sz="1200" spc="-10">
                <a:latin typeface="Arial"/>
                <a:cs typeface="Arial"/>
              </a:rPr>
              <a:t>in </a:t>
            </a:r>
            <a:r>
              <a:rPr dirty="0" sz="1200" spc="-5">
                <a:latin typeface="Arial"/>
                <a:cs typeface="Arial"/>
              </a:rPr>
              <a:t>a more extreme  fashion.</a:t>
            </a:r>
            <a:endParaRPr sz="1200">
              <a:latin typeface="Arial"/>
              <a:cs typeface="Arial"/>
            </a:endParaRPr>
          </a:p>
          <a:p>
            <a:pPr>
              <a:lnSpc>
                <a:spcPct val="100000"/>
              </a:lnSpc>
              <a:spcBef>
                <a:spcPts val="55"/>
              </a:spcBef>
            </a:pPr>
            <a:endParaRPr sz="1150">
              <a:latin typeface="Arial"/>
              <a:cs typeface="Arial"/>
            </a:endParaRPr>
          </a:p>
          <a:p>
            <a:pPr algn="just" marL="12700" marR="5080">
              <a:lnSpc>
                <a:spcPct val="95900"/>
              </a:lnSpc>
            </a:pPr>
            <a:r>
              <a:rPr dirty="0" sz="1200">
                <a:latin typeface="Arial"/>
                <a:cs typeface="Arial"/>
              </a:rPr>
              <a:t>In </a:t>
            </a:r>
            <a:r>
              <a:rPr dirty="0" sz="1200" spc="-5">
                <a:latin typeface="Arial"/>
                <a:cs typeface="Arial"/>
              </a:rPr>
              <a:t>the </a:t>
            </a:r>
            <a:r>
              <a:rPr dirty="0" sz="1200" spc="-10">
                <a:latin typeface="Arial"/>
                <a:cs typeface="Arial"/>
              </a:rPr>
              <a:t>war </a:t>
            </a:r>
            <a:r>
              <a:rPr dirty="0" sz="1200" spc="-5">
                <a:latin typeface="Arial"/>
                <a:cs typeface="Arial"/>
              </a:rPr>
              <a:t>in Chechnya, while both sides committed atrocities, Russian troops carried out a  disproportionate amount of violence against </a:t>
            </a:r>
            <a:r>
              <a:rPr dirty="0" sz="1200">
                <a:latin typeface="Arial"/>
                <a:cs typeface="Arial"/>
              </a:rPr>
              <a:t>non-combatants </a:t>
            </a:r>
            <a:r>
              <a:rPr dirty="0" sz="1200" spc="-5">
                <a:latin typeface="Arial"/>
                <a:cs typeface="Arial"/>
              </a:rPr>
              <a:t>including indiscriminate killings,  extrajudicial executions of civilians, torture, rape and hostage-taking. </a:t>
            </a:r>
            <a:r>
              <a:rPr dirty="0" sz="1200">
                <a:latin typeface="Arial"/>
                <a:cs typeface="Arial"/>
              </a:rPr>
              <a:t>Further </a:t>
            </a:r>
            <a:r>
              <a:rPr dirty="0" sz="1200" spc="-5">
                <a:latin typeface="Arial"/>
                <a:cs typeface="Arial"/>
              </a:rPr>
              <a:t>traumatisation  of Bosnian Muslims continues, particularly </a:t>
            </a:r>
            <a:r>
              <a:rPr dirty="0" sz="1200">
                <a:latin typeface="Arial"/>
                <a:cs typeface="Arial"/>
              </a:rPr>
              <a:t>among refugees, </a:t>
            </a:r>
            <a:r>
              <a:rPr dirty="0" sz="1200" spc="-10">
                <a:latin typeface="Arial"/>
                <a:cs typeface="Arial"/>
              </a:rPr>
              <a:t>who </a:t>
            </a:r>
            <a:r>
              <a:rPr dirty="0" sz="1200" spc="-5">
                <a:latin typeface="Arial"/>
                <a:cs typeface="Arial"/>
              </a:rPr>
              <a:t>are being forcibly  repatriated from countries like </a:t>
            </a:r>
            <a:r>
              <a:rPr dirty="0" sz="1200">
                <a:latin typeface="Arial"/>
                <a:cs typeface="Arial"/>
              </a:rPr>
              <a:t>Germany </a:t>
            </a:r>
            <a:r>
              <a:rPr dirty="0" sz="1200" spc="-5">
                <a:latin typeface="Arial"/>
                <a:cs typeface="Arial"/>
              </a:rPr>
              <a:t>even when </a:t>
            </a:r>
            <a:r>
              <a:rPr dirty="0" sz="1200">
                <a:latin typeface="Arial"/>
                <a:cs typeface="Arial"/>
              </a:rPr>
              <a:t>conditions </a:t>
            </a:r>
            <a:r>
              <a:rPr dirty="0" sz="1200" spc="-5">
                <a:latin typeface="Arial"/>
                <a:cs typeface="Arial"/>
              </a:rPr>
              <a:t>in Bosnia-Hercegovina </a:t>
            </a:r>
            <a:r>
              <a:rPr dirty="0" sz="1200">
                <a:latin typeface="Arial"/>
                <a:cs typeface="Arial"/>
              </a:rPr>
              <a:t>are not  </a:t>
            </a:r>
            <a:r>
              <a:rPr dirty="0" sz="1200" spc="-5">
                <a:latin typeface="Arial"/>
                <a:cs typeface="Arial"/>
              </a:rPr>
              <a:t>favorable </a:t>
            </a:r>
            <a:r>
              <a:rPr dirty="0" sz="1200">
                <a:latin typeface="Arial"/>
                <a:cs typeface="Arial"/>
              </a:rPr>
              <a:t>for</a:t>
            </a:r>
            <a:r>
              <a:rPr dirty="0" sz="1200" spc="-10">
                <a:latin typeface="Arial"/>
                <a:cs typeface="Arial"/>
              </a:rPr>
              <a:t> </a:t>
            </a:r>
            <a:r>
              <a:rPr dirty="0" sz="1200" spc="-5">
                <a:latin typeface="Arial"/>
                <a:cs typeface="Arial"/>
              </a:rPr>
              <a:t>resettlement.</a:t>
            </a:r>
            <a:endParaRPr sz="12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u="heavy" sz="1200" spc="-5" b="1" i="1">
                <a:uFill>
                  <a:solidFill>
                    <a:srgbClr val="000000"/>
                  </a:solidFill>
                </a:uFill>
                <a:latin typeface="Arial"/>
                <a:cs typeface="Arial"/>
              </a:rPr>
              <a:t>How </a:t>
            </a:r>
            <a:r>
              <a:rPr dirty="0" u="heavy" sz="1200" b="1" i="1">
                <a:uFill>
                  <a:solidFill>
                    <a:srgbClr val="000000"/>
                  </a:solidFill>
                </a:uFill>
                <a:latin typeface="Arial"/>
                <a:cs typeface="Arial"/>
              </a:rPr>
              <a:t>to</a:t>
            </a:r>
            <a:r>
              <a:rPr dirty="0" u="heavy" sz="1200" spc="-5" b="1" i="1">
                <a:uFill>
                  <a:solidFill>
                    <a:srgbClr val="000000"/>
                  </a:solidFill>
                </a:uFill>
                <a:latin typeface="Arial"/>
                <a:cs typeface="Arial"/>
              </a:rPr>
              <a:t> </a:t>
            </a:r>
            <a:r>
              <a:rPr dirty="0" u="heavy" sz="1200" b="1" i="1">
                <a:uFill>
                  <a:solidFill>
                    <a:srgbClr val="000000"/>
                  </a:solidFill>
                </a:uFill>
                <a:latin typeface="Arial"/>
                <a:cs typeface="Arial"/>
              </a:rPr>
              <a:t>react?</a:t>
            </a:r>
            <a:endParaRPr sz="1200">
              <a:latin typeface="Arial"/>
              <a:cs typeface="Arial"/>
            </a:endParaRPr>
          </a:p>
          <a:p>
            <a:pPr>
              <a:lnSpc>
                <a:spcPct val="100000"/>
              </a:lnSpc>
              <a:spcBef>
                <a:spcPts val="40"/>
              </a:spcBef>
            </a:pPr>
            <a:endParaRPr sz="1150">
              <a:latin typeface="Arial"/>
              <a:cs typeface="Arial"/>
            </a:endParaRPr>
          </a:p>
          <a:p>
            <a:pPr algn="just" marL="12700" marR="5080">
              <a:lnSpc>
                <a:spcPct val="96300"/>
              </a:lnSpc>
            </a:pPr>
            <a:r>
              <a:rPr dirty="0" sz="1200" spc="-5">
                <a:latin typeface="Arial"/>
                <a:cs typeface="Arial"/>
              </a:rPr>
              <a:t>Furthermore, the Quran says, "Do not disagree:" do not </a:t>
            </a:r>
            <a:r>
              <a:rPr dirty="0" sz="1200" spc="-5" i="1">
                <a:latin typeface="Arial"/>
                <a:cs typeface="Arial"/>
              </a:rPr>
              <a:t>"tanaaza`u</a:t>
            </a:r>
            <a:r>
              <a:rPr dirty="0" sz="1200" spc="-5">
                <a:latin typeface="Arial"/>
                <a:cs typeface="Arial"/>
              </a:rPr>
              <a:t>" that is a </a:t>
            </a:r>
            <a:r>
              <a:rPr dirty="0" sz="1200">
                <a:latin typeface="Arial"/>
                <a:cs typeface="Arial"/>
              </a:rPr>
              <a:t>strong </a:t>
            </a:r>
            <a:r>
              <a:rPr dirty="0" sz="1200" spc="-5">
                <a:latin typeface="Arial"/>
                <a:cs typeface="Arial"/>
              </a:rPr>
              <a:t>word in  Arabic. </a:t>
            </a:r>
            <a:r>
              <a:rPr dirty="0" sz="1200">
                <a:latin typeface="Arial"/>
                <a:cs typeface="Arial"/>
              </a:rPr>
              <a:t>It </a:t>
            </a:r>
            <a:r>
              <a:rPr dirty="0" sz="1200" spc="-5">
                <a:latin typeface="Arial"/>
                <a:cs typeface="Arial"/>
              </a:rPr>
              <a:t>is different from </a:t>
            </a:r>
            <a:r>
              <a:rPr dirty="0" sz="1200">
                <a:latin typeface="Arial"/>
                <a:cs typeface="Arial"/>
              </a:rPr>
              <a:t>"</a:t>
            </a:r>
            <a:r>
              <a:rPr dirty="0" sz="1200" i="1">
                <a:latin typeface="Arial"/>
                <a:cs typeface="Arial"/>
              </a:rPr>
              <a:t>Ikhtikaf </a:t>
            </a:r>
            <a:r>
              <a:rPr dirty="0" sz="1200" spc="-5">
                <a:latin typeface="Arial"/>
                <a:cs typeface="Arial"/>
              </a:rPr>
              <a:t>disagreement." </a:t>
            </a:r>
            <a:r>
              <a:rPr dirty="0" sz="1200" spc="-80">
                <a:latin typeface="Arial"/>
                <a:cs typeface="Arial"/>
              </a:rPr>
              <a:t>―</a:t>
            </a:r>
            <a:r>
              <a:rPr dirty="0" sz="1200" spc="-80" i="1">
                <a:latin typeface="Arial"/>
                <a:cs typeface="Arial"/>
              </a:rPr>
              <a:t>Tanaaza`u</a:t>
            </a:r>
            <a:r>
              <a:rPr dirty="0" sz="1200" spc="-80">
                <a:latin typeface="Arial"/>
                <a:cs typeface="Arial"/>
              </a:rPr>
              <a:t>" </a:t>
            </a:r>
            <a:r>
              <a:rPr dirty="0" sz="1200" spc="-5">
                <a:latin typeface="Arial"/>
                <a:cs typeface="Arial"/>
              </a:rPr>
              <a:t>is saying, do not have conflict  with </a:t>
            </a:r>
            <a:r>
              <a:rPr dirty="0" sz="1200">
                <a:latin typeface="Arial"/>
                <a:cs typeface="Arial"/>
              </a:rPr>
              <a:t>one </a:t>
            </a:r>
            <a:r>
              <a:rPr dirty="0" sz="1200" spc="-5">
                <a:latin typeface="Arial"/>
                <a:cs typeface="Arial"/>
              </a:rPr>
              <a:t>another. </a:t>
            </a:r>
            <a:r>
              <a:rPr dirty="0" sz="1200" spc="-10">
                <a:latin typeface="Arial"/>
                <a:cs typeface="Arial"/>
              </a:rPr>
              <a:t>So </a:t>
            </a:r>
            <a:r>
              <a:rPr dirty="0" sz="1200" spc="-5">
                <a:latin typeface="Arial"/>
                <a:cs typeface="Arial"/>
              </a:rPr>
              <a:t>what </a:t>
            </a:r>
            <a:r>
              <a:rPr dirty="0" sz="1200">
                <a:latin typeface="Arial"/>
                <a:cs typeface="Arial"/>
              </a:rPr>
              <a:t>must be </a:t>
            </a:r>
            <a:r>
              <a:rPr dirty="0" sz="1200" spc="-5">
                <a:latin typeface="Arial"/>
                <a:cs typeface="Arial"/>
              </a:rPr>
              <a:t>done is</a:t>
            </a:r>
            <a:r>
              <a:rPr dirty="0" sz="1200" spc="-10">
                <a:latin typeface="Arial"/>
                <a:cs typeface="Arial"/>
              </a:rPr>
              <a:t> </a:t>
            </a:r>
            <a:r>
              <a:rPr dirty="0" sz="1200">
                <a:latin typeface="Arial"/>
                <a:cs typeface="Arial"/>
              </a:rPr>
              <a:t>to:</a:t>
            </a:r>
            <a:endParaRPr sz="1200">
              <a:latin typeface="Arial"/>
              <a:cs typeface="Arial"/>
            </a:endParaRPr>
          </a:p>
          <a:p>
            <a:pPr>
              <a:lnSpc>
                <a:spcPct val="100000"/>
              </a:lnSpc>
              <a:spcBef>
                <a:spcPts val="55"/>
              </a:spcBef>
            </a:pPr>
            <a:endParaRPr sz="1100">
              <a:latin typeface="Arial"/>
              <a:cs typeface="Arial"/>
            </a:endParaRPr>
          </a:p>
          <a:p>
            <a:pPr marL="469900" indent="-229235">
              <a:lnSpc>
                <a:spcPts val="1410"/>
              </a:lnSpc>
              <a:buAutoNum type="arabicPeriod"/>
              <a:tabLst>
                <a:tab pos="470534" algn="l"/>
              </a:tabLst>
            </a:pPr>
            <a:r>
              <a:rPr dirty="0" sz="1200" spc="-5">
                <a:latin typeface="Arial"/>
                <a:cs typeface="Arial"/>
              </a:rPr>
              <a:t>Eliminate all bridges among the different Islamic parties. Eliminate all differences</a:t>
            </a:r>
            <a:r>
              <a:rPr dirty="0" sz="1200" spc="65">
                <a:latin typeface="Arial"/>
                <a:cs typeface="Arial"/>
              </a:rPr>
              <a:t> </a:t>
            </a:r>
            <a:r>
              <a:rPr dirty="0" sz="1200" spc="-10">
                <a:latin typeface="Arial"/>
                <a:cs typeface="Arial"/>
              </a:rPr>
              <a:t>in</a:t>
            </a:r>
            <a:endParaRPr sz="1200">
              <a:latin typeface="Arial"/>
              <a:cs typeface="Arial"/>
            </a:endParaRPr>
          </a:p>
          <a:p>
            <a:pPr marL="469900">
              <a:lnSpc>
                <a:spcPts val="1375"/>
              </a:lnSpc>
            </a:pPr>
            <a:r>
              <a:rPr dirty="0" sz="1200" spc="-55">
                <a:latin typeface="Arial"/>
                <a:cs typeface="Arial"/>
              </a:rPr>
              <a:t>‗Aqeedah </a:t>
            </a:r>
            <a:r>
              <a:rPr dirty="0" sz="1200" spc="-5">
                <a:latin typeface="Arial"/>
                <a:cs typeface="Arial"/>
              </a:rPr>
              <a:t>but work </a:t>
            </a:r>
            <a:r>
              <a:rPr dirty="0" sz="1200">
                <a:latin typeface="Arial"/>
                <a:cs typeface="Arial"/>
              </a:rPr>
              <a:t>for the </a:t>
            </a:r>
            <a:r>
              <a:rPr dirty="0" sz="1200" spc="-5">
                <a:latin typeface="Arial"/>
                <a:cs typeface="Arial"/>
              </a:rPr>
              <a:t>common people </a:t>
            </a:r>
            <a:r>
              <a:rPr dirty="0" sz="1200" spc="-10">
                <a:latin typeface="Arial"/>
                <a:cs typeface="Arial"/>
              </a:rPr>
              <a:t>and</a:t>
            </a:r>
            <a:r>
              <a:rPr dirty="0" sz="1200" spc="65">
                <a:latin typeface="Arial"/>
                <a:cs typeface="Arial"/>
              </a:rPr>
              <a:t> </a:t>
            </a:r>
            <a:r>
              <a:rPr dirty="0" sz="1200" spc="-5">
                <a:latin typeface="Arial"/>
                <a:cs typeface="Arial"/>
              </a:rPr>
              <a:t>Muslims</a:t>
            </a:r>
            <a:endParaRPr sz="1200">
              <a:latin typeface="Arial"/>
              <a:cs typeface="Arial"/>
            </a:endParaRPr>
          </a:p>
          <a:p>
            <a:pPr marL="469900" indent="-229235">
              <a:lnSpc>
                <a:spcPts val="1375"/>
              </a:lnSpc>
              <a:buAutoNum type="arabicPeriod" startAt="2"/>
              <a:tabLst>
                <a:tab pos="470534" algn="l"/>
              </a:tabLst>
            </a:pPr>
            <a:r>
              <a:rPr dirty="0" sz="1200" spc="-5">
                <a:latin typeface="Arial"/>
                <a:cs typeface="Arial"/>
              </a:rPr>
              <a:t>Create a solidarity </a:t>
            </a:r>
            <a:r>
              <a:rPr dirty="0" sz="1200">
                <a:latin typeface="Arial"/>
                <a:cs typeface="Arial"/>
              </a:rPr>
              <a:t>and trust as </a:t>
            </a:r>
            <a:r>
              <a:rPr dirty="0" sz="1200" spc="-5">
                <a:latin typeface="Arial"/>
                <a:cs typeface="Arial"/>
              </a:rPr>
              <a:t>a pillar. Help all Muslims whether poor or</a:t>
            </a:r>
            <a:r>
              <a:rPr dirty="0" sz="1200" spc="125">
                <a:latin typeface="Arial"/>
                <a:cs typeface="Arial"/>
              </a:rPr>
              <a:t> </a:t>
            </a:r>
            <a:r>
              <a:rPr dirty="0" sz="1200" spc="-5">
                <a:latin typeface="Arial"/>
                <a:cs typeface="Arial"/>
              </a:rPr>
              <a:t>better-off</a:t>
            </a:r>
            <a:endParaRPr sz="1200">
              <a:latin typeface="Arial"/>
              <a:cs typeface="Arial"/>
            </a:endParaRPr>
          </a:p>
          <a:p>
            <a:pPr marL="469900" indent="-229235">
              <a:lnSpc>
                <a:spcPts val="1380"/>
              </a:lnSpc>
              <a:buAutoNum type="arabicPeriod" startAt="2"/>
              <a:tabLst>
                <a:tab pos="470534" algn="l"/>
              </a:tabLst>
            </a:pPr>
            <a:r>
              <a:rPr dirty="0" sz="1200">
                <a:latin typeface="Arial"/>
                <a:cs typeface="Arial"/>
              </a:rPr>
              <a:t>Work </a:t>
            </a:r>
            <a:r>
              <a:rPr dirty="0" sz="1200" spc="-5">
                <a:latin typeface="Arial"/>
                <a:cs typeface="Arial"/>
              </a:rPr>
              <a:t>together as one </a:t>
            </a:r>
            <a:r>
              <a:rPr dirty="0" sz="1200">
                <a:latin typeface="Arial"/>
                <a:cs typeface="Arial"/>
              </a:rPr>
              <a:t>unit. Try to </a:t>
            </a:r>
            <a:r>
              <a:rPr dirty="0" sz="1200" spc="-5">
                <a:latin typeface="Arial"/>
                <a:cs typeface="Arial"/>
              </a:rPr>
              <a:t>come </a:t>
            </a:r>
            <a:r>
              <a:rPr dirty="0" sz="1200" spc="-10">
                <a:latin typeface="Arial"/>
                <a:cs typeface="Arial"/>
              </a:rPr>
              <a:t>in </a:t>
            </a:r>
            <a:r>
              <a:rPr dirty="0" sz="1200" spc="-5">
                <a:latin typeface="Arial"/>
                <a:cs typeface="Arial"/>
              </a:rPr>
              <a:t>partnership with Muslims</a:t>
            </a:r>
            <a:r>
              <a:rPr dirty="0" sz="1200" spc="50">
                <a:latin typeface="Arial"/>
                <a:cs typeface="Arial"/>
              </a:rPr>
              <a:t> </a:t>
            </a:r>
            <a:r>
              <a:rPr dirty="0" sz="1200" spc="-5">
                <a:latin typeface="Arial"/>
                <a:cs typeface="Arial"/>
              </a:rPr>
              <a:t>businessmen.</a:t>
            </a:r>
            <a:endParaRPr sz="1200">
              <a:latin typeface="Arial"/>
              <a:cs typeface="Arial"/>
            </a:endParaRPr>
          </a:p>
          <a:p>
            <a:pPr marL="469900" marR="5715" indent="-228600">
              <a:lnSpc>
                <a:spcPts val="1380"/>
              </a:lnSpc>
              <a:spcBef>
                <a:spcPts val="65"/>
              </a:spcBef>
              <a:buAutoNum type="arabicPeriod" startAt="2"/>
              <a:tabLst>
                <a:tab pos="470534" algn="l"/>
              </a:tabLst>
            </a:pPr>
            <a:r>
              <a:rPr dirty="0" sz="1200" spc="-5">
                <a:latin typeface="Arial"/>
                <a:cs typeface="Arial"/>
              </a:rPr>
              <a:t>Spread </a:t>
            </a:r>
            <a:r>
              <a:rPr dirty="0" sz="1200">
                <a:latin typeface="Arial"/>
                <a:cs typeface="Arial"/>
              </a:rPr>
              <a:t>Islam </a:t>
            </a:r>
            <a:r>
              <a:rPr dirty="0" sz="1200" spc="-5">
                <a:latin typeface="Arial"/>
                <a:cs typeface="Arial"/>
              </a:rPr>
              <a:t>in the </a:t>
            </a:r>
            <a:r>
              <a:rPr dirty="0" sz="1200">
                <a:latin typeface="Arial"/>
                <a:cs typeface="Arial"/>
              </a:rPr>
              <a:t>best </a:t>
            </a:r>
            <a:r>
              <a:rPr dirty="0" sz="1200" spc="-10">
                <a:latin typeface="Arial"/>
                <a:cs typeface="Arial"/>
              </a:rPr>
              <a:t>way </a:t>
            </a:r>
            <a:r>
              <a:rPr dirty="0" sz="1200">
                <a:latin typeface="Arial"/>
                <a:cs typeface="Arial"/>
              </a:rPr>
              <a:t>– </a:t>
            </a:r>
            <a:r>
              <a:rPr dirty="0" sz="1200" spc="-5">
                <a:latin typeface="Arial"/>
                <a:cs typeface="Arial"/>
              </a:rPr>
              <a:t>wisdom. Don‘t </a:t>
            </a:r>
            <a:r>
              <a:rPr dirty="0" sz="1200">
                <a:latin typeface="Arial"/>
                <a:cs typeface="Arial"/>
              </a:rPr>
              <a:t>force </a:t>
            </a:r>
            <a:r>
              <a:rPr dirty="0" sz="1200" spc="-5">
                <a:latin typeface="Arial"/>
                <a:cs typeface="Arial"/>
              </a:rPr>
              <a:t>anyone to </a:t>
            </a:r>
            <a:r>
              <a:rPr dirty="0" sz="1200">
                <a:latin typeface="Arial"/>
                <a:cs typeface="Arial"/>
              </a:rPr>
              <a:t>enter </a:t>
            </a:r>
            <a:r>
              <a:rPr dirty="0" sz="1200" spc="-5">
                <a:latin typeface="Arial"/>
                <a:cs typeface="Arial"/>
              </a:rPr>
              <a:t>Islam. </a:t>
            </a:r>
            <a:r>
              <a:rPr dirty="0" sz="1200">
                <a:latin typeface="Arial"/>
                <a:cs typeface="Arial"/>
              </a:rPr>
              <a:t>Talk  </a:t>
            </a:r>
            <a:r>
              <a:rPr dirty="0" sz="1200" spc="-5">
                <a:latin typeface="Arial"/>
                <a:cs typeface="Arial"/>
              </a:rPr>
              <a:t>politely.</a:t>
            </a:r>
            <a:endParaRPr sz="1200">
              <a:latin typeface="Arial"/>
              <a:cs typeface="Arial"/>
            </a:endParaRPr>
          </a:p>
          <a:p>
            <a:pPr marL="469900" marR="8890" indent="-228600">
              <a:lnSpc>
                <a:spcPts val="1380"/>
              </a:lnSpc>
              <a:buAutoNum type="arabicPeriod" startAt="2"/>
              <a:tabLst>
                <a:tab pos="470534" algn="l"/>
              </a:tabLst>
            </a:pPr>
            <a:r>
              <a:rPr dirty="0" sz="1200" spc="-5">
                <a:latin typeface="Arial"/>
                <a:cs typeface="Arial"/>
              </a:rPr>
              <a:t>Keep the traditional Islam </a:t>
            </a:r>
            <a:r>
              <a:rPr dirty="0" sz="1200">
                <a:latin typeface="Arial"/>
                <a:cs typeface="Arial"/>
              </a:rPr>
              <a:t>intact. Let </a:t>
            </a:r>
            <a:r>
              <a:rPr dirty="0" sz="1200" spc="-5">
                <a:latin typeface="Arial"/>
                <a:cs typeface="Arial"/>
              </a:rPr>
              <a:t>Islamic </a:t>
            </a:r>
            <a:r>
              <a:rPr dirty="0" sz="1200">
                <a:latin typeface="Arial"/>
                <a:cs typeface="Arial"/>
              </a:rPr>
              <a:t>customs and </a:t>
            </a:r>
            <a:r>
              <a:rPr dirty="0" sz="1200" spc="-5">
                <a:latin typeface="Arial"/>
                <a:cs typeface="Arial"/>
              </a:rPr>
              <a:t>traditions </a:t>
            </a:r>
            <a:r>
              <a:rPr dirty="0" sz="1200">
                <a:latin typeface="Arial"/>
                <a:cs typeface="Arial"/>
              </a:rPr>
              <a:t>be part </a:t>
            </a:r>
            <a:r>
              <a:rPr dirty="0" sz="1200" spc="-5">
                <a:latin typeface="Arial"/>
                <a:cs typeface="Arial"/>
              </a:rPr>
              <a:t>of one‘s  private </a:t>
            </a:r>
            <a:r>
              <a:rPr dirty="0" sz="1200">
                <a:latin typeface="Arial"/>
                <a:cs typeface="Arial"/>
              </a:rPr>
              <a:t>and </a:t>
            </a:r>
            <a:r>
              <a:rPr dirty="0" sz="1200" spc="-5">
                <a:latin typeface="Arial"/>
                <a:cs typeface="Arial"/>
              </a:rPr>
              <a:t>public </a:t>
            </a:r>
            <a:r>
              <a:rPr dirty="0" sz="1200">
                <a:latin typeface="Arial"/>
                <a:cs typeface="Arial"/>
              </a:rPr>
              <a:t>life.</a:t>
            </a:r>
            <a:endParaRPr sz="1200">
              <a:latin typeface="Arial"/>
              <a:cs typeface="Arial"/>
            </a:endParaRPr>
          </a:p>
          <a:p>
            <a:pPr marL="469900" indent="-229235">
              <a:lnSpc>
                <a:spcPts val="1315"/>
              </a:lnSpc>
              <a:buAutoNum type="arabicPeriod" startAt="2"/>
              <a:tabLst>
                <a:tab pos="470534" algn="l"/>
              </a:tabLst>
            </a:pPr>
            <a:r>
              <a:rPr dirty="0" sz="1200" spc="-5">
                <a:latin typeface="Arial"/>
                <a:cs typeface="Arial"/>
              </a:rPr>
              <a:t>Abide by the law of Allah </a:t>
            </a:r>
            <a:r>
              <a:rPr dirty="0" sz="1200">
                <a:latin typeface="Arial"/>
                <a:cs typeface="Arial"/>
              </a:rPr>
              <a:t>for blessings. </a:t>
            </a:r>
            <a:r>
              <a:rPr dirty="0" sz="1200" spc="-5">
                <a:latin typeface="Arial"/>
                <a:cs typeface="Arial"/>
              </a:rPr>
              <a:t>Follow the Shari‘ah </a:t>
            </a:r>
            <a:r>
              <a:rPr dirty="0" sz="1200">
                <a:latin typeface="Arial"/>
                <a:cs typeface="Arial"/>
              </a:rPr>
              <a:t>for </a:t>
            </a:r>
            <a:r>
              <a:rPr dirty="0" sz="1200" spc="-5">
                <a:latin typeface="Arial"/>
                <a:cs typeface="Arial"/>
              </a:rPr>
              <a:t>one </a:t>
            </a:r>
            <a:r>
              <a:rPr dirty="0" sz="1200" spc="-10">
                <a:latin typeface="Arial"/>
                <a:cs typeface="Arial"/>
              </a:rPr>
              <a:t>own</a:t>
            </a:r>
            <a:r>
              <a:rPr dirty="0" sz="1200" spc="65">
                <a:latin typeface="Arial"/>
                <a:cs typeface="Arial"/>
              </a:rPr>
              <a:t> </a:t>
            </a:r>
            <a:r>
              <a:rPr dirty="0" sz="1200" spc="-5">
                <a:latin typeface="Arial"/>
                <a:cs typeface="Arial"/>
              </a:rPr>
              <a:t>betterment.</a:t>
            </a:r>
            <a:endParaRPr sz="1200">
              <a:latin typeface="Arial"/>
              <a:cs typeface="Arial"/>
            </a:endParaRPr>
          </a:p>
          <a:p>
            <a:pPr marL="469900" marR="6350" indent="-228600">
              <a:lnSpc>
                <a:spcPts val="1380"/>
              </a:lnSpc>
              <a:spcBef>
                <a:spcPts val="70"/>
              </a:spcBef>
              <a:buAutoNum type="arabicPeriod" startAt="2"/>
              <a:tabLst>
                <a:tab pos="470534" algn="l"/>
              </a:tabLst>
            </a:pPr>
            <a:r>
              <a:rPr dirty="0" sz="1200" spc="-5">
                <a:latin typeface="Arial"/>
                <a:cs typeface="Arial"/>
              </a:rPr>
              <a:t>Make </a:t>
            </a:r>
            <a:r>
              <a:rPr dirty="0" sz="1200">
                <a:latin typeface="Arial"/>
                <a:cs typeface="Arial"/>
              </a:rPr>
              <a:t>the </a:t>
            </a:r>
            <a:r>
              <a:rPr dirty="0" sz="1200" spc="-5">
                <a:latin typeface="Arial"/>
                <a:cs typeface="Arial"/>
              </a:rPr>
              <a:t>formation of </a:t>
            </a:r>
            <a:r>
              <a:rPr dirty="0" sz="1200">
                <a:latin typeface="Arial"/>
                <a:cs typeface="Arial"/>
              </a:rPr>
              <a:t>the future </a:t>
            </a:r>
            <a:r>
              <a:rPr dirty="0" sz="1200" spc="-5">
                <a:latin typeface="Arial"/>
                <a:cs typeface="Arial"/>
              </a:rPr>
              <a:t>generation through your </a:t>
            </a:r>
            <a:r>
              <a:rPr dirty="0" sz="1200">
                <a:latin typeface="Arial"/>
                <a:cs typeface="Arial"/>
              </a:rPr>
              <a:t>kids. Pass </a:t>
            </a:r>
            <a:r>
              <a:rPr dirty="0" sz="1200" spc="-5">
                <a:latin typeface="Arial"/>
                <a:cs typeface="Arial"/>
              </a:rPr>
              <a:t>on the Islamic  concepts to the offsprings. Don‘t merge </a:t>
            </a:r>
            <a:r>
              <a:rPr dirty="0" sz="1200" spc="-10">
                <a:latin typeface="Arial"/>
                <a:cs typeface="Arial"/>
              </a:rPr>
              <a:t>with </a:t>
            </a:r>
            <a:r>
              <a:rPr dirty="0" sz="1200" spc="-5">
                <a:latin typeface="Arial"/>
                <a:cs typeface="Arial"/>
              </a:rPr>
              <a:t>European and western</a:t>
            </a:r>
            <a:r>
              <a:rPr dirty="0" sz="1200" spc="50">
                <a:latin typeface="Arial"/>
                <a:cs typeface="Arial"/>
              </a:rPr>
              <a:t> </a:t>
            </a:r>
            <a:r>
              <a:rPr dirty="0" sz="1200" spc="-5">
                <a:latin typeface="Arial"/>
                <a:cs typeface="Arial"/>
              </a:rPr>
              <a:t>cultures.</a:t>
            </a:r>
            <a:endParaRPr sz="1200">
              <a:latin typeface="Arial"/>
              <a:cs typeface="Arial"/>
            </a:endParaRPr>
          </a:p>
          <a:p>
            <a:pPr marL="469900" marR="8890" indent="-228600">
              <a:lnSpc>
                <a:spcPts val="1380"/>
              </a:lnSpc>
              <a:buAutoNum type="arabicPeriod" startAt="2"/>
              <a:tabLst>
                <a:tab pos="470534" algn="l"/>
              </a:tabLst>
            </a:pPr>
            <a:r>
              <a:rPr dirty="0" sz="1200" spc="-5">
                <a:latin typeface="Arial"/>
                <a:cs typeface="Arial"/>
              </a:rPr>
              <a:t>Inculcate Sabr in one‘s </a:t>
            </a:r>
            <a:r>
              <a:rPr dirty="0" sz="1200">
                <a:latin typeface="Arial"/>
                <a:cs typeface="Arial"/>
              </a:rPr>
              <a:t>heart. To </a:t>
            </a:r>
            <a:r>
              <a:rPr dirty="0" sz="1200" spc="-5">
                <a:latin typeface="Arial"/>
                <a:cs typeface="Arial"/>
              </a:rPr>
              <a:t>have patience in times of physical and psychological  persecutions.</a:t>
            </a:r>
            <a:endParaRPr sz="1200">
              <a:latin typeface="Arial"/>
              <a:cs typeface="Arial"/>
            </a:endParaRPr>
          </a:p>
          <a:p>
            <a:pPr marL="469900" indent="-229235">
              <a:lnSpc>
                <a:spcPts val="1345"/>
              </a:lnSpc>
              <a:buAutoNum type="arabicPeriod" startAt="2"/>
              <a:tabLst>
                <a:tab pos="470534" algn="l"/>
              </a:tabLst>
            </a:pPr>
            <a:r>
              <a:rPr dirty="0" sz="1200" spc="-5">
                <a:latin typeface="Arial"/>
                <a:cs typeface="Arial"/>
              </a:rPr>
              <a:t>Migration </a:t>
            </a:r>
            <a:r>
              <a:rPr dirty="0" sz="1200">
                <a:latin typeface="Arial"/>
                <a:cs typeface="Arial"/>
              </a:rPr>
              <a:t>to </a:t>
            </a:r>
            <a:r>
              <a:rPr dirty="0" sz="1200" spc="-5">
                <a:latin typeface="Arial"/>
                <a:cs typeface="Arial"/>
              </a:rPr>
              <a:t>a Muslim </a:t>
            </a:r>
            <a:r>
              <a:rPr dirty="0" sz="1200">
                <a:latin typeface="Arial"/>
                <a:cs typeface="Arial"/>
              </a:rPr>
              <a:t>country. </a:t>
            </a:r>
            <a:r>
              <a:rPr dirty="0" sz="1200" spc="-5">
                <a:latin typeface="Arial"/>
                <a:cs typeface="Arial"/>
              </a:rPr>
              <a:t>Search </a:t>
            </a:r>
            <a:r>
              <a:rPr dirty="0" sz="1200">
                <a:latin typeface="Arial"/>
                <a:cs typeface="Arial"/>
              </a:rPr>
              <a:t>for </a:t>
            </a:r>
            <a:r>
              <a:rPr dirty="0" sz="1200" spc="-5">
                <a:latin typeface="Arial"/>
                <a:cs typeface="Arial"/>
              </a:rPr>
              <a:t>another friendly land to </a:t>
            </a:r>
            <a:r>
              <a:rPr dirty="0" sz="1200" spc="-10">
                <a:latin typeface="Arial"/>
                <a:cs typeface="Arial"/>
              </a:rPr>
              <a:t>live</a:t>
            </a:r>
            <a:r>
              <a:rPr dirty="0" sz="1200" spc="10">
                <a:latin typeface="Arial"/>
                <a:cs typeface="Arial"/>
              </a:rPr>
              <a:t> </a:t>
            </a:r>
            <a:r>
              <a:rPr dirty="0" sz="1200">
                <a:latin typeface="Arial"/>
                <a:cs typeface="Arial"/>
              </a:rPr>
              <a:t>Islam.</a:t>
            </a:r>
            <a:endParaRPr sz="1200">
              <a:latin typeface="Arial"/>
              <a:cs typeface="Arial"/>
            </a:endParaRPr>
          </a:p>
          <a:p>
            <a:pPr>
              <a:lnSpc>
                <a:spcPct val="100000"/>
              </a:lnSpc>
              <a:spcBef>
                <a:spcPts val="50"/>
              </a:spcBef>
            </a:pPr>
            <a:endParaRPr sz="1100">
              <a:latin typeface="Arial"/>
              <a:cs typeface="Arial"/>
            </a:endParaRPr>
          </a:p>
          <a:p>
            <a:pPr algn="just" marL="12700">
              <a:lnSpc>
                <a:spcPct val="100000"/>
              </a:lnSpc>
              <a:spcBef>
                <a:spcPts val="5"/>
              </a:spcBef>
            </a:pPr>
            <a:r>
              <a:rPr dirty="0" u="heavy" sz="1200" spc="-5" b="1" i="1">
                <a:uFill>
                  <a:solidFill>
                    <a:srgbClr val="000000"/>
                  </a:solidFill>
                </a:uFill>
                <a:latin typeface="Arial"/>
                <a:cs typeface="Arial"/>
              </a:rPr>
              <a:t>Rights </a:t>
            </a:r>
            <a:r>
              <a:rPr dirty="0" u="heavy" sz="1200" b="1" i="1">
                <a:uFill>
                  <a:solidFill>
                    <a:srgbClr val="000000"/>
                  </a:solidFill>
                </a:uFill>
                <a:latin typeface="Arial"/>
                <a:cs typeface="Arial"/>
              </a:rPr>
              <a:t>of</a:t>
            </a:r>
            <a:r>
              <a:rPr dirty="0" u="heavy" sz="1200" spc="5" b="1" i="1">
                <a:uFill>
                  <a:solidFill>
                    <a:srgbClr val="000000"/>
                  </a:solidFill>
                </a:uFill>
                <a:latin typeface="Arial"/>
                <a:cs typeface="Arial"/>
              </a:rPr>
              <a:t> </a:t>
            </a:r>
            <a:r>
              <a:rPr dirty="0" u="heavy" sz="1200" spc="-5" b="1" i="1">
                <a:uFill>
                  <a:solidFill>
                    <a:srgbClr val="000000"/>
                  </a:solidFill>
                </a:uFill>
                <a:latin typeface="Arial"/>
                <a:cs typeface="Arial"/>
              </a:rPr>
              <a:t>Muslims</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181</a:t>
            </a:r>
            <a:endParaRPr sz="1200">
              <a:latin typeface="Times New Roman"/>
              <a:cs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311265" cy="8796020"/>
          </a:xfrm>
          <a:prstGeom prst="rect">
            <a:avLst/>
          </a:prstGeom>
        </p:spPr>
        <p:txBody>
          <a:bodyPr wrap="square" lIns="0" tIns="12700" rIns="0" bIns="0" rtlCol="0" vert="horz">
            <a:spAutoFit/>
          </a:bodyPr>
          <a:lstStyle/>
          <a:p>
            <a:pPr marL="413384" indent="-172720">
              <a:lnSpc>
                <a:spcPts val="1410"/>
              </a:lnSpc>
              <a:spcBef>
                <a:spcPts val="100"/>
              </a:spcBef>
              <a:buAutoNum type="arabicPeriod"/>
              <a:tabLst>
                <a:tab pos="414020" algn="l"/>
              </a:tabLst>
            </a:pPr>
            <a:r>
              <a:rPr dirty="0" sz="1200" spc="-5">
                <a:latin typeface="Arial"/>
                <a:cs typeface="Arial"/>
              </a:rPr>
              <a:t>Security of Life and</a:t>
            </a:r>
            <a:r>
              <a:rPr dirty="0" sz="1200" spc="15">
                <a:latin typeface="Arial"/>
                <a:cs typeface="Arial"/>
              </a:rPr>
              <a:t> </a:t>
            </a:r>
            <a:r>
              <a:rPr dirty="0" sz="1200" spc="-5">
                <a:latin typeface="Arial"/>
                <a:cs typeface="Arial"/>
              </a:rPr>
              <a:t>Property</a:t>
            </a:r>
            <a:endParaRPr sz="1200">
              <a:latin typeface="Arial"/>
              <a:cs typeface="Arial"/>
            </a:endParaRPr>
          </a:p>
          <a:p>
            <a:pPr marL="413384" indent="-172720">
              <a:lnSpc>
                <a:spcPts val="1380"/>
              </a:lnSpc>
              <a:buAutoNum type="arabicPeriod"/>
              <a:tabLst>
                <a:tab pos="414020" algn="l"/>
              </a:tabLst>
            </a:pPr>
            <a:r>
              <a:rPr dirty="0" sz="1200" spc="-5">
                <a:latin typeface="Arial"/>
                <a:cs typeface="Arial"/>
              </a:rPr>
              <a:t>Protection of Honour</a:t>
            </a:r>
            <a:r>
              <a:rPr dirty="0" sz="1200" spc="10">
                <a:latin typeface="Arial"/>
                <a:cs typeface="Arial"/>
              </a:rPr>
              <a:t> </a:t>
            </a:r>
            <a:r>
              <a:rPr dirty="0" sz="1200" spc="-5">
                <a:latin typeface="Arial"/>
                <a:cs typeface="Arial"/>
              </a:rPr>
              <a:t>(defamation)</a:t>
            </a:r>
            <a:endParaRPr sz="1200">
              <a:latin typeface="Arial"/>
              <a:cs typeface="Arial"/>
            </a:endParaRPr>
          </a:p>
          <a:p>
            <a:pPr marL="413384" indent="-172720">
              <a:lnSpc>
                <a:spcPts val="1380"/>
              </a:lnSpc>
              <a:buAutoNum type="arabicPeriod"/>
              <a:tabLst>
                <a:tab pos="414020" algn="l"/>
              </a:tabLst>
            </a:pPr>
            <a:r>
              <a:rPr dirty="0" sz="1200" spc="-5">
                <a:latin typeface="Arial"/>
                <a:cs typeface="Arial"/>
              </a:rPr>
              <a:t>Private</a:t>
            </a:r>
            <a:r>
              <a:rPr dirty="0" sz="1200">
                <a:latin typeface="Arial"/>
                <a:cs typeface="Arial"/>
              </a:rPr>
              <a:t> life</a:t>
            </a:r>
            <a:endParaRPr sz="1200">
              <a:latin typeface="Arial"/>
              <a:cs typeface="Arial"/>
            </a:endParaRPr>
          </a:p>
          <a:p>
            <a:pPr marL="413384" indent="-172720">
              <a:lnSpc>
                <a:spcPts val="1380"/>
              </a:lnSpc>
              <a:buAutoNum type="arabicPeriod"/>
              <a:tabLst>
                <a:tab pos="414020" algn="l"/>
              </a:tabLst>
            </a:pPr>
            <a:r>
              <a:rPr dirty="0" sz="1200" spc="-5">
                <a:latin typeface="Arial"/>
                <a:cs typeface="Arial"/>
              </a:rPr>
              <a:t>Freedom of Religion, Speech,</a:t>
            </a:r>
            <a:r>
              <a:rPr dirty="0" sz="1200" spc="20">
                <a:latin typeface="Arial"/>
                <a:cs typeface="Arial"/>
              </a:rPr>
              <a:t> </a:t>
            </a:r>
            <a:r>
              <a:rPr dirty="0" sz="1200" spc="-5">
                <a:latin typeface="Arial"/>
                <a:cs typeface="Arial"/>
              </a:rPr>
              <a:t>Organisation</a:t>
            </a:r>
            <a:endParaRPr sz="1200">
              <a:latin typeface="Arial"/>
              <a:cs typeface="Arial"/>
            </a:endParaRPr>
          </a:p>
          <a:p>
            <a:pPr marL="413384" indent="-172720">
              <a:lnSpc>
                <a:spcPts val="1380"/>
              </a:lnSpc>
              <a:buAutoNum type="arabicPeriod"/>
              <a:tabLst>
                <a:tab pos="414020" algn="l"/>
              </a:tabLst>
            </a:pPr>
            <a:r>
              <a:rPr dirty="0" sz="1200">
                <a:latin typeface="Arial"/>
                <a:cs typeface="Arial"/>
              </a:rPr>
              <a:t>Protest </a:t>
            </a:r>
            <a:r>
              <a:rPr dirty="0" sz="1200" spc="-5">
                <a:latin typeface="Arial"/>
                <a:cs typeface="Arial"/>
              </a:rPr>
              <a:t>against</a:t>
            </a:r>
            <a:r>
              <a:rPr dirty="0" sz="1200" spc="-25">
                <a:latin typeface="Arial"/>
                <a:cs typeface="Arial"/>
              </a:rPr>
              <a:t> </a:t>
            </a:r>
            <a:r>
              <a:rPr dirty="0" sz="1200" spc="-5">
                <a:latin typeface="Arial"/>
                <a:cs typeface="Arial"/>
              </a:rPr>
              <a:t>Tyranny</a:t>
            </a:r>
            <a:endParaRPr sz="1200">
              <a:latin typeface="Arial"/>
              <a:cs typeface="Arial"/>
            </a:endParaRPr>
          </a:p>
          <a:p>
            <a:pPr marL="413384" indent="-172720">
              <a:lnSpc>
                <a:spcPts val="1410"/>
              </a:lnSpc>
              <a:buAutoNum type="arabicPeriod"/>
              <a:tabLst>
                <a:tab pos="414020" algn="l"/>
              </a:tabLst>
            </a:pPr>
            <a:r>
              <a:rPr dirty="0" sz="1200" spc="-5">
                <a:latin typeface="Arial"/>
                <a:cs typeface="Arial"/>
              </a:rPr>
              <a:t>Protection of Religious</a:t>
            </a:r>
            <a:r>
              <a:rPr dirty="0" sz="1200" spc="10">
                <a:latin typeface="Arial"/>
                <a:cs typeface="Arial"/>
              </a:rPr>
              <a:t> </a:t>
            </a:r>
            <a:r>
              <a:rPr dirty="0" sz="1200" spc="-5">
                <a:latin typeface="Arial"/>
                <a:cs typeface="Arial"/>
              </a:rPr>
              <a:t>Statements</a:t>
            </a:r>
            <a:endParaRPr sz="1200">
              <a:latin typeface="Arial"/>
              <a:cs typeface="Arial"/>
            </a:endParaRPr>
          </a:p>
          <a:p>
            <a:pPr>
              <a:lnSpc>
                <a:spcPct val="100000"/>
              </a:lnSpc>
              <a:spcBef>
                <a:spcPts val="55"/>
              </a:spcBef>
            </a:pPr>
            <a:endParaRPr sz="1150">
              <a:latin typeface="Arial"/>
              <a:cs typeface="Arial"/>
            </a:endParaRPr>
          </a:p>
          <a:p>
            <a:pPr algn="just" marL="12700" marR="5080">
              <a:lnSpc>
                <a:spcPct val="95900"/>
              </a:lnSpc>
            </a:pPr>
            <a:r>
              <a:rPr dirty="0" sz="1200" spc="-5">
                <a:latin typeface="Arial"/>
                <a:cs typeface="Arial"/>
              </a:rPr>
              <a:t>Muslims living as minorities have also endeavored </a:t>
            </a:r>
            <a:r>
              <a:rPr dirty="0" sz="1200">
                <a:latin typeface="Arial"/>
                <a:cs typeface="Arial"/>
              </a:rPr>
              <a:t>to </a:t>
            </a:r>
            <a:r>
              <a:rPr dirty="0" sz="1200" spc="-5">
                <a:latin typeface="Arial"/>
                <a:cs typeface="Arial"/>
              </a:rPr>
              <a:t>develop Islamic jurisprudence that  applies to minority living, </a:t>
            </a:r>
            <a:r>
              <a:rPr dirty="0" sz="1200" spc="-5" i="1">
                <a:latin typeface="Arial"/>
                <a:cs typeface="Arial"/>
              </a:rPr>
              <a:t>fiqh al-aqalliyyat. </a:t>
            </a:r>
            <a:r>
              <a:rPr dirty="0" sz="1200" spc="-5">
                <a:latin typeface="Arial"/>
                <a:cs typeface="Arial"/>
              </a:rPr>
              <a:t>The American Muslim community has </a:t>
            </a:r>
            <a:r>
              <a:rPr dirty="0" sz="1200">
                <a:latin typeface="Arial"/>
                <a:cs typeface="Arial"/>
              </a:rPr>
              <a:t>seen  </a:t>
            </a:r>
            <a:r>
              <a:rPr dirty="0" sz="1200" spc="-5">
                <a:latin typeface="Arial"/>
                <a:cs typeface="Arial"/>
              </a:rPr>
              <a:t>remarkable growth </a:t>
            </a:r>
            <a:r>
              <a:rPr dirty="0" sz="1200">
                <a:latin typeface="Arial"/>
                <a:cs typeface="Arial"/>
              </a:rPr>
              <a:t>- </a:t>
            </a:r>
            <a:r>
              <a:rPr dirty="0" sz="1200" spc="-5">
                <a:latin typeface="Arial"/>
                <a:cs typeface="Arial"/>
              </a:rPr>
              <a:t>from one congregation in </a:t>
            </a:r>
            <a:r>
              <a:rPr dirty="0" sz="1200">
                <a:latin typeface="Arial"/>
                <a:cs typeface="Arial"/>
              </a:rPr>
              <a:t>the </a:t>
            </a:r>
            <a:r>
              <a:rPr dirty="0" sz="1200" spc="-5">
                <a:latin typeface="Arial"/>
                <a:cs typeface="Arial"/>
              </a:rPr>
              <a:t>mid-1920s </a:t>
            </a:r>
            <a:r>
              <a:rPr dirty="0" sz="1200">
                <a:latin typeface="Arial"/>
                <a:cs typeface="Arial"/>
              </a:rPr>
              <a:t>to more </a:t>
            </a:r>
            <a:r>
              <a:rPr dirty="0" sz="1200" spc="-5">
                <a:latin typeface="Arial"/>
                <a:cs typeface="Arial"/>
              </a:rPr>
              <a:t>than 2,000  organizations </a:t>
            </a:r>
            <a:r>
              <a:rPr dirty="0" sz="1200">
                <a:latin typeface="Arial"/>
                <a:cs typeface="Arial"/>
              </a:rPr>
              <a:t>of </a:t>
            </a:r>
            <a:r>
              <a:rPr dirty="0" sz="1200" spc="-5">
                <a:latin typeface="Arial"/>
                <a:cs typeface="Arial"/>
              </a:rPr>
              <a:t>all functional types by </a:t>
            </a:r>
            <a:r>
              <a:rPr dirty="0" sz="1200">
                <a:latin typeface="Arial"/>
                <a:cs typeface="Arial"/>
              </a:rPr>
              <a:t>the </a:t>
            </a:r>
            <a:r>
              <a:rPr dirty="0" sz="1200" spc="-5">
                <a:latin typeface="Arial"/>
                <a:cs typeface="Arial"/>
              </a:rPr>
              <a:t>end of the twentieth century. American Muslims  </a:t>
            </a:r>
            <a:r>
              <a:rPr dirty="0" sz="1200">
                <a:latin typeface="Arial"/>
                <a:cs typeface="Arial"/>
              </a:rPr>
              <a:t>today </a:t>
            </a:r>
            <a:r>
              <a:rPr dirty="0" sz="1200" spc="-5">
                <a:latin typeface="Arial"/>
                <a:cs typeface="Arial"/>
              </a:rPr>
              <a:t>are experiencing </a:t>
            </a:r>
            <a:r>
              <a:rPr dirty="0" sz="1200">
                <a:latin typeface="Arial"/>
                <a:cs typeface="Arial"/>
              </a:rPr>
              <a:t>life </a:t>
            </a:r>
            <a:r>
              <a:rPr dirty="0" sz="1200" spc="-5">
                <a:latin typeface="Arial"/>
                <a:cs typeface="Arial"/>
              </a:rPr>
              <a:t>as part of </a:t>
            </a:r>
            <a:r>
              <a:rPr dirty="0" sz="1200" spc="-10">
                <a:latin typeface="Arial"/>
                <a:cs typeface="Arial"/>
              </a:rPr>
              <a:t>an </a:t>
            </a:r>
            <a:r>
              <a:rPr dirty="0" sz="1200" spc="-5">
                <a:latin typeface="Arial"/>
                <a:cs typeface="Arial"/>
              </a:rPr>
              <a:t>increasingly globalized system. All indications  suggest a growing momentum among Muslims in favor </a:t>
            </a:r>
            <a:r>
              <a:rPr dirty="0" sz="1200">
                <a:latin typeface="Arial"/>
                <a:cs typeface="Arial"/>
              </a:rPr>
              <a:t>of </a:t>
            </a:r>
            <a:r>
              <a:rPr dirty="0" sz="1200" spc="-5">
                <a:latin typeface="Arial"/>
                <a:cs typeface="Arial"/>
              </a:rPr>
              <a:t>integration into </a:t>
            </a:r>
            <a:r>
              <a:rPr dirty="0" sz="1200">
                <a:latin typeface="Arial"/>
                <a:cs typeface="Arial"/>
              </a:rPr>
              <a:t>America‘s </a:t>
            </a:r>
            <a:r>
              <a:rPr dirty="0" sz="1200" spc="-5">
                <a:latin typeface="Arial"/>
                <a:cs typeface="Arial"/>
              </a:rPr>
              <a:t>civic and  political </a:t>
            </a:r>
            <a:r>
              <a:rPr dirty="0" sz="1200">
                <a:latin typeface="Arial"/>
                <a:cs typeface="Arial"/>
              </a:rPr>
              <a:t>life The </a:t>
            </a:r>
            <a:r>
              <a:rPr dirty="0" sz="1200" spc="-5">
                <a:latin typeface="Arial"/>
                <a:cs typeface="Arial"/>
              </a:rPr>
              <a:t>American Muslim community is unique in </a:t>
            </a:r>
            <a:r>
              <a:rPr dirty="0" sz="1200">
                <a:latin typeface="Arial"/>
                <a:cs typeface="Arial"/>
              </a:rPr>
              <a:t>its </a:t>
            </a:r>
            <a:r>
              <a:rPr dirty="0" sz="1200" spc="-5">
                <a:latin typeface="Arial"/>
                <a:cs typeface="Arial"/>
              </a:rPr>
              <a:t>diversity. </a:t>
            </a:r>
            <a:r>
              <a:rPr dirty="0" sz="1200">
                <a:latin typeface="Arial"/>
                <a:cs typeface="Arial"/>
              </a:rPr>
              <a:t>Thirty-six </a:t>
            </a:r>
            <a:r>
              <a:rPr dirty="0" sz="1200" spc="-5">
                <a:latin typeface="Arial"/>
                <a:cs typeface="Arial"/>
              </a:rPr>
              <a:t>percent </a:t>
            </a:r>
            <a:r>
              <a:rPr dirty="0" sz="1200">
                <a:latin typeface="Arial"/>
                <a:cs typeface="Arial"/>
              </a:rPr>
              <a:t>of  </a:t>
            </a:r>
            <a:r>
              <a:rPr dirty="0" sz="1200" spc="-5">
                <a:latin typeface="Arial"/>
                <a:cs typeface="Arial"/>
              </a:rPr>
              <a:t>American Muslims were </a:t>
            </a:r>
            <a:r>
              <a:rPr dirty="0" sz="1200" spc="-10">
                <a:latin typeface="Arial"/>
                <a:cs typeface="Arial"/>
              </a:rPr>
              <a:t>born </a:t>
            </a:r>
            <a:r>
              <a:rPr dirty="0" sz="1200" spc="-5">
                <a:latin typeface="Arial"/>
                <a:cs typeface="Arial"/>
              </a:rPr>
              <a:t>in </a:t>
            </a:r>
            <a:r>
              <a:rPr dirty="0" sz="1200">
                <a:latin typeface="Arial"/>
                <a:cs typeface="Arial"/>
              </a:rPr>
              <a:t>the </a:t>
            </a:r>
            <a:r>
              <a:rPr dirty="0" sz="1200" spc="-5">
                <a:latin typeface="Arial"/>
                <a:cs typeface="Arial"/>
              </a:rPr>
              <a:t>United States, while </a:t>
            </a:r>
            <a:r>
              <a:rPr dirty="0" sz="1200" spc="-10">
                <a:latin typeface="Arial"/>
                <a:cs typeface="Arial"/>
              </a:rPr>
              <a:t>64 </a:t>
            </a:r>
            <a:r>
              <a:rPr dirty="0" sz="1200" spc="-5">
                <a:latin typeface="Arial"/>
                <a:cs typeface="Arial"/>
              </a:rPr>
              <a:t>percent were born in 80 different  countries around the world. No </a:t>
            </a:r>
            <a:r>
              <a:rPr dirty="0" sz="1200">
                <a:latin typeface="Arial"/>
                <a:cs typeface="Arial"/>
              </a:rPr>
              <a:t>other country </a:t>
            </a:r>
            <a:r>
              <a:rPr dirty="0" sz="1200" spc="-5">
                <a:latin typeface="Arial"/>
                <a:cs typeface="Arial"/>
              </a:rPr>
              <a:t>has such a </a:t>
            </a:r>
            <a:r>
              <a:rPr dirty="0" sz="1200">
                <a:latin typeface="Arial"/>
                <a:cs typeface="Arial"/>
              </a:rPr>
              <a:t>rich </a:t>
            </a:r>
            <a:r>
              <a:rPr dirty="0" sz="1200" spc="-5">
                <a:latin typeface="Arial"/>
                <a:cs typeface="Arial"/>
              </a:rPr>
              <a:t>diversity </a:t>
            </a:r>
            <a:r>
              <a:rPr dirty="0" sz="1200">
                <a:latin typeface="Arial"/>
                <a:cs typeface="Arial"/>
              </a:rPr>
              <a:t>of </a:t>
            </a:r>
            <a:r>
              <a:rPr dirty="0" sz="1200" spc="-5">
                <a:latin typeface="Arial"/>
                <a:cs typeface="Arial"/>
              </a:rPr>
              <a:t>Muslims. The  American Muslim community is thus a microcosm of the Muslim world. </a:t>
            </a:r>
            <a:r>
              <a:rPr dirty="0" sz="1200">
                <a:latin typeface="Arial"/>
                <a:cs typeface="Arial"/>
              </a:rPr>
              <a:t>It </a:t>
            </a:r>
            <a:r>
              <a:rPr dirty="0" sz="1200" spc="-5">
                <a:latin typeface="Arial"/>
                <a:cs typeface="Arial"/>
              </a:rPr>
              <a:t>includes </a:t>
            </a:r>
            <a:r>
              <a:rPr dirty="0" sz="1200">
                <a:latin typeface="Arial"/>
                <a:cs typeface="Arial"/>
              </a:rPr>
              <a:t>all </a:t>
            </a:r>
            <a:r>
              <a:rPr dirty="0" sz="1200" spc="-5">
                <a:latin typeface="Arial"/>
                <a:cs typeface="Arial"/>
              </a:rPr>
              <a:t>religious  schools of thought, intellectual trends, political ideologies and Islamic</a:t>
            </a:r>
            <a:r>
              <a:rPr dirty="0" sz="1200" spc="80">
                <a:latin typeface="Arial"/>
                <a:cs typeface="Arial"/>
              </a:rPr>
              <a:t> </a:t>
            </a:r>
            <a:r>
              <a:rPr dirty="0" sz="1200" spc="-5">
                <a:latin typeface="Arial"/>
                <a:cs typeface="Arial"/>
              </a:rPr>
              <a:t>movements.</a:t>
            </a:r>
            <a:endParaRPr sz="1200">
              <a:latin typeface="Arial"/>
              <a:cs typeface="Arial"/>
            </a:endParaRPr>
          </a:p>
          <a:p>
            <a:pPr>
              <a:lnSpc>
                <a:spcPct val="100000"/>
              </a:lnSpc>
            </a:pPr>
            <a:endParaRPr sz="1200">
              <a:latin typeface="Arial"/>
              <a:cs typeface="Arial"/>
            </a:endParaRPr>
          </a:p>
          <a:p>
            <a:pPr algn="just" marL="12700" marR="8255">
              <a:lnSpc>
                <a:spcPct val="95900"/>
              </a:lnSpc>
            </a:pPr>
            <a:r>
              <a:rPr dirty="0" sz="1200" spc="-5">
                <a:latin typeface="Arial"/>
                <a:cs typeface="Arial"/>
              </a:rPr>
              <a:t>Muslims migration </a:t>
            </a:r>
            <a:r>
              <a:rPr dirty="0" sz="1200">
                <a:latin typeface="Arial"/>
                <a:cs typeface="Arial"/>
              </a:rPr>
              <a:t>to </a:t>
            </a:r>
            <a:r>
              <a:rPr dirty="0" sz="1200" spc="-5">
                <a:latin typeface="Arial"/>
                <a:cs typeface="Arial"/>
              </a:rPr>
              <a:t>Europe has a direct </a:t>
            </a:r>
            <a:r>
              <a:rPr dirty="0" sz="1200">
                <a:latin typeface="Arial"/>
                <a:cs typeface="Arial"/>
              </a:rPr>
              <a:t>relationship to </a:t>
            </a:r>
            <a:r>
              <a:rPr dirty="0" sz="1200" spc="-5">
                <a:latin typeface="Arial"/>
                <a:cs typeface="Arial"/>
              </a:rPr>
              <a:t>the colonial period. </a:t>
            </a:r>
            <a:r>
              <a:rPr dirty="0" sz="1200">
                <a:latin typeface="Arial"/>
                <a:cs typeface="Arial"/>
              </a:rPr>
              <a:t>In </a:t>
            </a:r>
            <a:r>
              <a:rPr dirty="0" sz="1200" spc="-5">
                <a:latin typeface="Arial"/>
                <a:cs typeface="Arial"/>
              </a:rPr>
              <a:t>UK most  Muslim immigrants </a:t>
            </a:r>
            <a:r>
              <a:rPr dirty="0" sz="1200" spc="-10">
                <a:latin typeface="Arial"/>
                <a:cs typeface="Arial"/>
              </a:rPr>
              <a:t>tend </a:t>
            </a:r>
            <a:r>
              <a:rPr dirty="0" sz="1200" spc="-5">
                <a:latin typeface="Arial"/>
                <a:cs typeface="Arial"/>
              </a:rPr>
              <a:t>to be from Pakistan, India and Bangladesh, all areas that were  </a:t>
            </a:r>
            <a:r>
              <a:rPr dirty="0" sz="1200">
                <a:latin typeface="Arial"/>
                <a:cs typeface="Arial"/>
              </a:rPr>
              <a:t>former </a:t>
            </a:r>
            <a:r>
              <a:rPr dirty="0" sz="1200" spc="-5">
                <a:latin typeface="Arial"/>
                <a:cs typeface="Arial"/>
              </a:rPr>
              <a:t>British colonies. Moroccans and Algerians drifted </a:t>
            </a:r>
            <a:r>
              <a:rPr dirty="0" sz="1200">
                <a:latin typeface="Arial"/>
                <a:cs typeface="Arial"/>
              </a:rPr>
              <a:t>to </a:t>
            </a:r>
            <a:r>
              <a:rPr dirty="0" sz="1200" spc="-5">
                <a:latin typeface="Arial"/>
                <a:cs typeface="Arial"/>
              </a:rPr>
              <a:t>France </a:t>
            </a:r>
            <a:r>
              <a:rPr dirty="0" sz="1200">
                <a:latin typeface="Arial"/>
                <a:cs typeface="Arial"/>
              </a:rPr>
              <a:t>(they </a:t>
            </a:r>
            <a:r>
              <a:rPr dirty="0" sz="1200" spc="-5">
                <a:latin typeface="Arial"/>
                <a:cs typeface="Arial"/>
              </a:rPr>
              <a:t>are about six </a:t>
            </a:r>
            <a:r>
              <a:rPr dirty="0" sz="1200">
                <a:latin typeface="Arial"/>
                <a:cs typeface="Arial"/>
              </a:rPr>
              <a:t>to </a:t>
            </a:r>
            <a:r>
              <a:rPr dirty="0" sz="1200" spc="-10">
                <a:latin typeface="Arial"/>
                <a:cs typeface="Arial"/>
              </a:rPr>
              <a:t>10  </a:t>
            </a:r>
            <a:r>
              <a:rPr dirty="0" sz="1200" spc="-5">
                <a:latin typeface="Arial"/>
                <a:cs typeface="Arial"/>
              </a:rPr>
              <a:t>million Muslims now in France). </a:t>
            </a:r>
            <a:r>
              <a:rPr dirty="0" sz="1200">
                <a:latin typeface="Arial"/>
                <a:cs typeface="Arial"/>
              </a:rPr>
              <a:t>Turks </a:t>
            </a:r>
            <a:r>
              <a:rPr dirty="0" sz="1200" spc="-5">
                <a:latin typeface="Arial"/>
                <a:cs typeface="Arial"/>
              </a:rPr>
              <a:t>went to Germany (most of Germany's one and a </a:t>
            </a:r>
            <a:r>
              <a:rPr dirty="0" sz="1200" spc="-10">
                <a:latin typeface="Arial"/>
                <a:cs typeface="Arial"/>
              </a:rPr>
              <a:t>half  </a:t>
            </a:r>
            <a:r>
              <a:rPr dirty="0" sz="1200" spc="-5">
                <a:latin typeface="Arial"/>
                <a:cs typeface="Arial"/>
              </a:rPr>
              <a:t>million Muslims are Turks). </a:t>
            </a:r>
            <a:r>
              <a:rPr dirty="0" sz="1200">
                <a:latin typeface="Arial"/>
                <a:cs typeface="Arial"/>
              </a:rPr>
              <a:t>The </a:t>
            </a:r>
            <a:r>
              <a:rPr dirty="0" sz="1200" spc="-5">
                <a:latin typeface="Arial"/>
                <a:cs typeface="Arial"/>
              </a:rPr>
              <a:t>Netherlands </a:t>
            </a:r>
            <a:r>
              <a:rPr dirty="0" sz="1200">
                <a:latin typeface="Arial"/>
                <a:cs typeface="Arial"/>
              </a:rPr>
              <a:t>has </a:t>
            </a:r>
            <a:r>
              <a:rPr dirty="0" sz="1200" spc="-5">
                <a:latin typeface="Arial"/>
                <a:cs typeface="Arial"/>
              </a:rPr>
              <a:t>about </a:t>
            </a:r>
            <a:r>
              <a:rPr dirty="0" sz="1200" spc="-10">
                <a:latin typeface="Arial"/>
                <a:cs typeface="Arial"/>
              </a:rPr>
              <a:t>half </a:t>
            </a:r>
            <a:r>
              <a:rPr dirty="0" sz="1200" spc="-5">
                <a:latin typeface="Arial"/>
                <a:cs typeface="Arial"/>
              </a:rPr>
              <a:t>a million Muslims </a:t>
            </a:r>
            <a:r>
              <a:rPr dirty="0" sz="1200" spc="-10">
                <a:latin typeface="Arial"/>
                <a:cs typeface="Arial"/>
              </a:rPr>
              <a:t>who </a:t>
            </a:r>
            <a:r>
              <a:rPr dirty="0" sz="1200" spc="-5">
                <a:latin typeface="Arial"/>
                <a:cs typeface="Arial"/>
              </a:rPr>
              <a:t>are </a:t>
            </a:r>
            <a:r>
              <a:rPr dirty="0" sz="1200">
                <a:latin typeface="Arial"/>
                <a:cs typeface="Arial"/>
              </a:rPr>
              <a:t>mostly  </a:t>
            </a:r>
            <a:r>
              <a:rPr dirty="0" sz="1200" spc="-5">
                <a:latin typeface="Arial"/>
                <a:cs typeface="Arial"/>
              </a:rPr>
              <a:t>from Surinam. In Portugal </a:t>
            </a:r>
            <a:r>
              <a:rPr dirty="0" sz="1200">
                <a:latin typeface="Arial"/>
                <a:cs typeface="Arial"/>
              </a:rPr>
              <a:t>most </a:t>
            </a:r>
            <a:r>
              <a:rPr dirty="0" sz="1200" spc="-5">
                <a:latin typeface="Arial"/>
                <a:cs typeface="Arial"/>
              </a:rPr>
              <a:t>Muslims </a:t>
            </a:r>
            <a:r>
              <a:rPr dirty="0" sz="1200" spc="-10">
                <a:latin typeface="Arial"/>
                <a:cs typeface="Arial"/>
              </a:rPr>
              <a:t>are </a:t>
            </a:r>
            <a:r>
              <a:rPr dirty="0" sz="1200" spc="-5">
                <a:latin typeface="Arial"/>
                <a:cs typeface="Arial"/>
              </a:rPr>
              <a:t>from the former colonies in India or </a:t>
            </a:r>
            <a:r>
              <a:rPr dirty="0" sz="1200" spc="-10">
                <a:latin typeface="Arial"/>
                <a:cs typeface="Arial"/>
              </a:rPr>
              <a:t>southern  </a:t>
            </a:r>
            <a:r>
              <a:rPr dirty="0" sz="1200" spc="-5">
                <a:latin typeface="Arial"/>
                <a:cs typeface="Arial"/>
              </a:rPr>
              <a:t>France; in Spain </a:t>
            </a:r>
            <a:r>
              <a:rPr dirty="0" sz="1200">
                <a:latin typeface="Arial"/>
                <a:cs typeface="Arial"/>
              </a:rPr>
              <a:t>they </a:t>
            </a:r>
            <a:r>
              <a:rPr dirty="0" sz="1200" spc="-5">
                <a:latin typeface="Arial"/>
                <a:cs typeface="Arial"/>
              </a:rPr>
              <a:t>are from Morocco or Algeria. </a:t>
            </a:r>
            <a:r>
              <a:rPr dirty="0" sz="1200">
                <a:latin typeface="Arial"/>
                <a:cs typeface="Arial"/>
              </a:rPr>
              <a:t>In </a:t>
            </a:r>
            <a:r>
              <a:rPr dirty="0" sz="1200" spc="-5">
                <a:latin typeface="Arial"/>
                <a:cs typeface="Arial"/>
              </a:rPr>
              <a:t>Italy, where </a:t>
            </a:r>
            <a:r>
              <a:rPr dirty="0" sz="1200">
                <a:latin typeface="Arial"/>
                <a:cs typeface="Arial"/>
              </a:rPr>
              <a:t>there </a:t>
            </a:r>
            <a:r>
              <a:rPr dirty="0" sz="1200" spc="-5">
                <a:latin typeface="Arial"/>
                <a:cs typeface="Arial"/>
              </a:rPr>
              <a:t>are estimated </a:t>
            </a:r>
            <a:r>
              <a:rPr dirty="0" sz="1200">
                <a:latin typeface="Arial"/>
                <a:cs typeface="Arial"/>
              </a:rPr>
              <a:t>to </a:t>
            </a:r>
            <a:r>
              <a:rPr dirty="0" sz="1200" spc="-5">
                <a:latin typeface="Arial"/>
                <a:cs typeface="Arial"/>
              </a:rPr>
              <a:t>be  about 200,000 Muslims, </a:t>
            </a:r>
            <a:r>
              <a:rPr dirty="0" sz="1200">
                <a:latin typeface="Arial"/>
                <a:cs typeface="Arial"/>
              </a:rPr>
              <a:t>they are </a:t>
            </a:r>
            <a:r>
              <a:rPr dirty="0" sz="1200" spc="-5">
                <a:latin typeface="Arial"/>
                <a:cs typeface="Arial"/>
              </a:rPr>
              <a:t>mostly </a:t>
            </a:r>
            <a:r>
              <a:rPr dirty="0" sz="1200">
                <a:latin typeface="Arial"/>
                <a:cs typeface="Arial"/>
              </a:rPr>
              <a:t>from</a:t>
            </a:r>
            <a:r>
              <a:rPr dirty="0" sz="1200" spc="-35">
                <a:latin typeface="Arial"/>
                <a:cs typeface="Arial"/>
              </a:rPr>
              <a:t> </a:t>
            </a:r>
            <a:r>
              <a:rPr dirty="0" sz="1200" spc="-5">
                <a:latin typeface="Arial"/>
                <a:cs typeface="Arial"/>
              </a:rPr>
              <a:t>Libya.</a:t>
            </a:r>
            <a:endParaRPr sz="1200">
              <a:latin typeface="Arial"/>
              <a:cs typeface="Arial"/>
            </a:endParaRPr>
          </a:p>
          <a:p>
            <a:pPr>
              <a:lnSpc>
                <a:spcPct val="100000"/>
              </a:lnSpc>
              <a:spcBef>
                <a:spcPts val="35"/>
              </a:spcBef>
            </a:pPr>
            <a:endParaRPr sz="1200">
              <a:latin typeface="Arial"/>
              <a:cs typeface="Arial"/>
            </a:endParaRPr>
          </a:p>
          <a:p>
            <a:pPr algn="just" marL="12700" marR="6350">
              <a:lnSpc>
                <a:spcPts val="1380"/>
              </a:lnSpc>
            </a:pPr>
            <a:r>
              <a:rPr dirty="0" sz="1200" spc="-5">
                <a:latin typeface="Arial"/>
                <a:cs typeface="Arial"/>
              </a:rPr>
              <a:t>There are some interesting </a:t>
            </a:r>
            <a:r>
              <a:rPr dirty="0" sz="1200">
                <a:latin typeface="Arial"/>
                <a:cs typeface="Arial"/>
              </a:rPr>
              <a:t>differences </a:t>
            </a:r>
            <a:r>
              <a:rPr dirty="0" sz="1200" spc="-5">
                <a:latin typeface="Arial"/>
                <a:cs typeface="Arial"/>
              </a:rPr>
              <a:t>between the </a:t>
            </a:r>
            <a:r>
              <a:rPr dirty="0" sz="1200">
                <a:latin typeface="Arial"/>
                <a:cs typeface="Arial"/>
              </a:rPr>
              <a:t>USA </a:t>
            </a:r>
            <a:r>
              <a:rPr dirty="0" sz="1200" spc="-5">
                <a:latin typeface="Arial"/>
                <a:cs typeface="Arial"/>
              </a:rPr>
              <a:t>and Europe which help us to better  understand the phenomenon of Islam in the </a:t>
            </a:r>
            <a:r>
              <a:rPr dirty="0" sz="1200" spc="10">
                <a:latin typeface="Arial"/>
                <a:cs typeface="Arial"/>
              </a:rPr>
              <a:t>West. </a:t>
            </a:r>
            <a:r>
              <a:rPr dirty="0" sz="1200">
                <a:latin typeface="Arial"/>
                <a:cs typeface="Arial"/>
              </a:rPr>
              <a:t>In </a:t>
            </a:r>
            <a:r>
              <a:rPr dirty="0" sz="1200" spc="-5">
                <a:latin typeface="Arial"/>
                <a:cs typeface="Arial"/>
              </a:rPr>
              <a:t>America the Muslim community is  largely composed of </a:t>
            </a:r>
            <a:r>
              <a:rPr dirty="0" sz="1200">
                <a:latin typeface="Arial"/>
                <a:cs typeface="Arial"/>
              </a:rPr>
              <a:t>middle </a:t>
            </a:r>
            <a:r>
              <a:rPr dirty="0" sz="1200" spc="-5">
                <a:latin typeface="Arial"/>
                <a:cs typeface="Arial"/>
              </a:rPr>
              <a:t>class doctors, engineers, academics. </a:t>
            </a:r>
            <a:r>
              <a:rPr dirty="0" sz="1200">
                <a:latin typeface="Arial"/>
                <a:cs typeface="Arial"/>
              </a:rPr>
              <a:t>This </a:t>
            </a:r>
            <a:r>
              <a:rPr dirty="0" sz="1200" spc="-10">
                <a:latin typeface="Arial"/>
                <a:cs typeface="Arial"/>
              </a:rPr>
              <a:t>gives </a:t>
            </a:r>
            <a:r>
              <a:rPr dirty="0" sz="1200">
                <a:latin typeface="Arial"/>
                <a:cs typeface="Arial"/>
              </a:rPr>
              <a:t>the </a:t>
            </a:r>
            <a:r>
              <a:rPr dirty="0" sz="1200" spc="-5">
                <a:latin typeface="Arial"/>
                <a:cs typeface="Arial"/>
              </a:rPr>
              <a:t>community  a greater social confidence and a positive sense of belonging. </a:t>
            </a:r>
            <a:r>
              <a:rPr dirty="0" sz="1200">
                <a:latin typeface="Arial"/>
                <a:cs typeface="Arial"/>
              </a:rPr>
              <a:t>In </a:t>
            </a:r>
            <a:r>
              <a:rPr dirty="0" sz="1200" spc="-5">
                <a:latin typeface="Arial"/>
                <a:cs typeface="Arial"/>
              </a:rPr>
              <a:t>Europe, by and large, the  community is largely working class or </a:t>
            </a:r>
            <a:r>
              <a:rPr dirty="0" sz="1200" spc="-10">
                <a:latin typeface="Arial"/>
                <a:cs typeface="Arial"/>
              </a:rPr>
              <a:t>even </a:t>
            </a:r>
            <a:r>
              <a:rPr dirty="0" sz="1200">
                <a:latin typeface="Arial"/>
                <a:cs typeface="Arial"/>
              </a:rPr>
              <a:t>the </a:t>
            </a:r>
            <a:r>
              <a:rPr dirty="0" sz="1200" spc="-5">
                <a:latin typeface="Arial"/>
                <a:cs typeface="Arial"/>
              </a:rPr>
              <a:t>underclass. Many live in </a:t>
            </a:r>
            <a:r>
              <a:rPr dirty="0" sz="1200">
                <a:latin typeface="Arial"/>
                <a:cs typeface="Arial"/>
              </a:rPr>
              <a:t>ghetto-like  </a:t>
            </a:r>
            <a:r>
              <a:rPr dirty="0" sz="1200" spc="-5">
                <a:latin typeface="Arial"/>
                <a:cs typeface="Arial"/>
              </a:rPr>
              <a:t>neighborhoods where feelings of alienation run very</a:t>
            </a:r>
            <a:r>
              <a:rPr dirty="0" sz="1200" spc="10">
                <a:latin typeface="Arial"/>
                <a:cs typeface="Arial"/>
              </a:rPr>
              <a:t> </a:t>
            </a:r>
            <a:r>
              <a:rPr dirty="0" sz="1200" spc="-5">
                <a:latin typeface="Arial"/>
                <a:cs typeface="Arial"/>
              </a:rPr>
              <a:t>high.</a:t>
            </a:r>
            <a:endParaRPr sz="1200">
              <a:latin typeface="Arial"/>
              <a:cs typeface="Arial"/>
            </a:endParaRPr>
          </a:p>
          <a:p>
            <a:pPr>
              <a:lnSpc>
                <a:spcPct val="100000"/>
              </a:lnSpc>
              <a:spcBef>
                <a:spcPts val="10"/>
              </a:spcBef>
            </a:pPr>
            <a:endParaRPr sz="1150">
              <a:latin typeface="Arial"/>
              <a:cs typeface="Arial"/>
            </a:endParaRPr>
          </a:p>
          <a:p>
            <a:pPr algn="just" marL="12700" marR="7620">
              <a:lnSpc>
                <a:spcPct val="95800"/>
              </a:lnSpc>
            </a:pPr>
            <a:r>
              <a:rPr dirty="0" sz="1200" spc="-5">
                <a:latin typeface="Arial"/>
                <a:cs typeface="Arial"/>
              </a:rPr>
              <a:t>The freedom offered </a:t>
            </a:r>
            <a:r>
              <a:rPr dirty="0" sz="1200" spc="-10">
                <a:latin typeface="Arial"/>
                <a:cs typeface="Arial"/>
              </a:rPr>
              <a:t>in </a:t>
            </a:r>
            <a:r>
              <a:rPr dirty="0" sz="1200">
                <a:latin typeface="Arial"/>
                <a:cs typeface="Arial"/>
              </a:rPr>
              <a:t>the </a:t>
            </a:r>
            <a:r>
              <a:rPr dirty="0" sz="1200" spc="5">
                <a:latin typeface="Arial"/>
                <a:cs typeface="Arial"/>
              </a:rPr>
              <a:t>West </a:t>
            </a:r>
            <a:r>
              <a:rPr dirty="0" sz="1200" spc="-5">
                <a:latin typeface="Arial"/>
                <a:cs typeface="Arial"/>
              </a:rPr>
              <a:t>has </a:t>
            </a:r>
            <a:r>
              <a:rPr dirty="0" sz="1200">
                <a:latin typeface="Arial"/>
                <a:cs typeface="Arial"/>
              </a:rPr>
              <a:t>to </a:t>
            </a:r>
            <a:r>
              <a:rPr dirty="0" sz="1200" spc="-5">
                <a:latin typeface="Arial"/>
                <a:cs typeface="Arial"/>
              </a:rPr>
              <a:t>be appropriately harnessed by Muslims. Muslims  </a:t>
            </a:r>
            <a:r>
              <a:rPr dirty="0" sz="1200">
                <a:latin typeface="Arial"/>
                <a:cs typeface="Arial"/>
              </a:rPr>
              <a:t>must </a:t>
            </a:r>
            <a:r>
              <a:rPr dirty="0" sz="1200" spc="-5">
                <a:latin typeface="Arial"/>
                <a:cs typeface="Arial"/>
              </a:rPr>
              <a:t>use </a:t>
            </a:r>
            <a:r>
              <a:rPr dirty="0" sz="1200">
                <a:latin typeface="Arial"/>
                <a:cs typeface="Arial"/>
              </a:rPr>
              <a:t>this </a:t>
            </a:r>
            <a:r>
              <a:rPr dirty="0" sz="1200" spc="-5">
                <a:latin typeface="Arial"/>
                <a:cs typeface="Arial"/>
              </a:rPr>
              <a:t>freedom to explore new </a:t>
            </a:r>
            <a:r>
              <a:rPr dirty="0" sz="1200">
                <a:latin typeface="Arial"/>
                <a:cs typeface="Arial"/>
              </a:rPr>
              <a:t>ideas </a:t>
            </a:r>
            <a:r>
              <a:rPr dirty="0" sz="1200" spc="-5">
                <a:latin typeface="Arial"/>
                <a:cs typeface="Arial"/>
              </a:rPr>
              <a:t>and effectively </a:t>
            </a:r>
            <a:r>
              <a:rPr dirty="0" sz="1200">
                <a:latin typeface="Arial"/>
                <a:cs typeface="Arial"/>
              </a:rPr>
              <a:t>respond </a:t>
            </a:r>
            <a:r>
              <a:rPr dirty="0" sz="1200" spc="-5">
                <a:latin typeface="Arial"/>
                <a:cs typeface="Arial"/>
              </a:rPr>
              <a:t>to the vigorous  challenges </a:t>
            </a:r>
            <a:r>
              <a:rPr dirty="0" sz="1200">
                <a:latin typeface="Arial"/>
                <a:cs typeface="Arial"/>
              </a:rPr>
              <a:t>to </a:t>
            </a:r>
            <a:r>
              <a:rPr dirty="0" sz="1200" spc="-5">
                <a:latin typeface="Arial"/>
                <a:cs typeface="Arial"/>
              </a:rPr>
              <a:t>their deeply held beliefs. </a:t>
            </a:r>
            <a:r>
              <a:rPr dirty="0" sz="1200">
                <a:latin typeface="Arial"/>
                <a:cs typeface="Arial"/>
              </a:rPr>
              <a:t>While </a:t>
            </a:r>
            <a:r>
              <a:rPr dirty="0" sz="1200" spc="-5">
                <a:latin typeface="Arial"/>
                <a:cs typeface="Arial"/>
              </a:rPr>
              <a:t>speaking out against perceived affront to </a:t>
            </a:r>
            <a:r>
              <a:rPr dirty="0" sz="1200">
                <a:latin typeface="Arial"/>
                <a:cs typeface="Arial"/>
              </a:rPr>
              <a:t>their  </a:t>
            </a:r>
            <a:r>
              <a:rPr dirty="0" sz="1200" spc="-5">
                <a:latin typeface="Arial"/>
                <a:cs typeface="Arial"/>
              </a:rPr>
              <a:t>religion </a:t>
            </a:r>
            <a:r>
              <a:rPr dirty="0" sz="1200">
                <a:latin typeface="Arial"/>
                <a:cs typeface="Arial"/>
              </a:rPr>
              <a:t>they </a:t>
            </a:r>
            <a:r>
              <a:rPr dirty="0" sz="1200" spc="-5">
                <a:latin typeface="Arial"/>
                <a:cs typeface="Arial"/>
              </a:rPr>
              <a:t>must uphold the right of others </a:t>
            </a:r>
            <a:r>
              <a:rPr dirty="0" sz="1200">
                <a:latin typeface="Arial"/>
                <a:cs typeface="Arial"/>
              </a:rPr>
              <a:t>to </a:t>
            </a:r>
            <a:r>
              <a:rPr dirty="0" sz="1200" spc="-5">
                <a:latin typeface="Arial"/>
                <a:cs typeface="Arial"/>
              </a:rPr>
              <a:t>offend even as </a:t>
            </a:r>
            <a:r>
              <a:rPr dirty="0" sz="1200">
                <a:latin typeface="Arial"/>
                <a:cs typeface="Arial"/>
              </a:rPr>
              <a:t>they </a:t>
            </a:r>
            <a:r>
              <a:rPr dirty="0" sz="1200" spc="-5">
                <a:latin typeface="Arial"/>
                <a:cs typeface="Arial"/>
              </a:rPr>
              <a:t>seek innovative </a:t>
            </a:r>
            <a:r>
              <a:rPr dirty="0" sz="1200" spc="-10">
                <a:latin typeface="Arial"/>
                <a:cs typeface="Arial"/>
              </a:rPr>
              <a:t>ways </a:t>
            </a:r>
            <a:r>
              <a:rPr dirty="0" sz="1200" spc="-5">
                <a:latin typeface="Arial"/>
                <a:cs typeface="Arial"/>
              </a:rPr>
              <a:t>to  uphold </a:t>
            </a:r>
            <a:r>
              <a:rPr dirty="0" sz="1200">
                <a:latin typeface="Arial"/>
                <a:cs typeface="Arial"/>
              </a:rPr>
              <a:t>their </a:t>
            </a:r>
            <a:r>
              <a:rPr dirty="0" sz="1200" spc="-5">
                <a:latin typeface="Arial"/>
                <a:cs typeface="Arial"/>
              </a:rPr>
              <a:t>right </a:t>
            </a:r>
            <a:r>
              <a:rPr dirty="0" sz="1200">
                <a:latin typeface="Arial"/>
                <a:cs typeface="Arial"/>
              </a:rPr>
              <a:t>to </a:t>
            </a:r>
            <a:r>
              <a:rPr dirty="0" sz="1200" spc="-5">
                <a:latin typeface="Arial"/>
                <a:cs typeface="Arial"/>
              </a:rPr>
              <a:t>defend. </a:t>
            </a:r>
            <a:r>
              <a:rPr dirty="0" sz="1200">
                <a:latin typeface="Arial"/>
                <a:cs typeface="Arial"/>
              </a:rPr>
              <a:t>This, </a:t>
            </a:r>
            <a:r>
              <a:rPr dirty="0" sz="1200" spc="-5">
                <a:latin typeface="Arial"/>
                <a:cs typeface="Arial"/>
              </a:rPr>
              <a:t>of course, entails an unequivocal </a:t>
            </a:r>
            <a:r>
              <a:rPr dirty="0" sz="1200">
                <a:latin typeface="Arial"/>
                <a:cs typeface="Arial"/>
              </a:rPr>
              <a:t>commitment </a:t>
            </a:r>
            <a:r>
              <a:rPr dirty="0" sz="1200" spc="-5">
                <a:latin typeface="Arial"/>
                <a:cs typeface="Arial"/>
              </a:rPr>
              <a:t>to the rule of  law. Citizens have </a:t>
            </a:r>
            <a:r>
              <a:rPr dirty="0" sz="1200">
                <a:latin typeface="Arial"/>
                <a:cs typeface="Arial"/>
              </a:rPr>
              <a:t>the </a:t>
            </a:r>
            <a:r>
              <a:rPr dirty="0" sz="1200" spc="-5">
                <a:latin typeface="Arial"/>
                <a:cs typeface="Arial"/>
              </a:rPr>
              <a:t>right </a:t>
            </a:r>
            <a:r>
              <a:rPr dirty="0" sz="1200">
                <a:latin typeface="Arial"/>
                <a:cs typeface="Arial"/>
              </a:rPr>
              <a:t>to protest </a:t>
            </a:r>
            <a:r>
              <a:rPr dirty="0" sz="1200" spc="-5">
                <a:latin typeface="Arial"/>
                <a:cs typeface="Arial"/>
              </a:rPr>
              <a:t>unfair </a:t>
            </a:r>
            <a:r>
              <a:rPr dirty="0" sz="1200">
                <a:latin typeface="Arial"/>
                <a:cs typeface="Arial"/>
              </a:rPr>
              <a:t>treatment; </a:t>
            </a:r>
            <a:r>
              <a:rPr dirty="0" sz="1200" spc="-5">
                <a:latin typeface="Arial"/>
                <a:cs typeface="Arial"/>
              </a:rPr>
              <a:t>and </a:t>
            </a:r>
            <a:r>
              <a:rPr dirty="0" sz="1200" spc="-10">
                <a:latin typeface="Arial"/>
                <a:cs typeface="Arial"/>
              </a:rPr>
              <a:t>when </a:t>
            </a:r>
            <a:r>
              <a:rPr dirty="0" sz="1200">
                <a:latin typeface="Arial"/>
                <a:cs typeface="Arial"/>
              </a:rPr>
              <a:t>they </a:t>
            </a:r>
            <a:r>
              <a:rPr dirty="0" sz="1200" spc="-5">
                <a:latin typeface="Arial"/>
                <a:cs typeface="Arial"/>
              </a:rPr>
              <a:t>believe </a:t>
            </a:r>
            <a:r>
              <a:rPr dirty="0" sz="1200">
                <a:latin typeface="Arial"/>
                <a:cs typeface="Arial"/>
              </a:rPr>
              <a:t>the </a:t>
            </a:r>
            <a:r>
              <a:rPr dirty="0" sz="1200" spc="-5">
                <a:latin typeface="Arial"/>
                <a:cs typeface="Arial"/>
              </a:rPr>
              <a:t>law is  </a:t>
            </a:r>
            <a:r>
              <a:rPr dirty="0" sz="1200">
                <a:latin typeface="Arial"/>
                <a:cs typeface="Arial"/>
              </a:rPr>
              <a:t>unjust, </a:t>
            </a:r>
            <a:r>
              <a:rPr dirty="0" sz="1200" spc="-5">
                <a:latin typeface="Arial"/>
                <a:cs typeface="Arial"/>
              </a:rPr>
              <a:t>they </a:t>
            </a:r>
            <a:r>
              <a:rPr dirty="0" sz="1200">
                <a:latin typeface="Arial"/>
                <a:cs typeface="Arial"/>
              </a:rPr>
              <a:t>should </a:t>
            </a:r>
            <a:r>
              <a:rPr dirty="0" sz="1200" spc="-10">
                <a:latin typeface="Arial"/>
                <a:cs typeface="Arial"/>
              </a:rPr>
              <a:t>work </a:t>
            </a:r>
            <a:r>
              <a:rPr dirty="0" sz="1200">
                <a:latin typeface="Arial"/>
                <a:cs typeface="Arial"/>
              </a:rPr>
              <a:t>to </a:t>
            </a:r>
            <a:r>
              <a:rPr dirty="0" sz="1200" spc="-5">
                <a:latin typeface="Arial"/>
                <a:cs typeface="Arial"/>
              </a:rPr>
              <a:t>change such the law. </a:t>
            </a:r>
            <a:r>
              <a:rPr dirty="0" sz="1200">
                <a:latin typeface="Arial"/>
                <a:cs typeface="Arial"/>
              </a:rPr>
              <a:t>Thus </a:t>
            </a:r>
            <a:r>
              <a:rPr dirty="0" sz="1200" spc="-5">
                <a:latin typeface="Arial"/>
                <a:cs typeface="Arial"/>
              </a:rPr>
              <a:t>the promising engagement lies in </a:t>
            </a:r>
            <a:r>
              <a:rPr dirty="0" sz="1200" spc="-10">
                <a:latin typeface="Arial"/>
                <a:cs typeface="Arial"/>
              </a:rPr>
              <a:t>civic  </a:t>
            </a:r>
            <a:r>
              <a:rPr dirty="0" sz="1200" spc="-5">
                <a:latin typeface="Arial"/>
                <a:cs typeface="Arial"/>
              </a:rPr>
              <a:t>participation and political mobilization. Random violence </a:t>
            </a:r>
            <a:r>
              <a:rPr dirty="0" sz="1200" spc="-10">
                <a:latin typeface="Arial"/>
                <a:cs typeface="Arial"/>
              </a:rPr>
              <a:t>can </a:t>
            </a:r>
            <a:r>
              <a:rPr dirty="0" sz="1200" spc="-5">
                <a:latin typeface="Arial"/>
                <a:cs typeface="Arial"/>
              </a:rPr>
              <a:t>never be justified. From </a:t>
            </a:r>
            <a:r>
              <a:rPr dirty="0" sz="1200" spc="-10">
                <a:latin typeface="Arial"/>
                <a:cs typeface="Arial"/>
              </a:rPr>
              <a:t>an  </a:t>
            </a:r>
            <a:r>
              <a:rPr dirty="0" sz="1200" spc="-5">
                <a:latin typeface="Arial"/>
                <a:cs typeface="Arial"/>
              </a:rPr>
              <a:t>analytical standpoint, violence is an indication of social tensions reaching a crisis level.  Dialogue and civic engagement can prevent any such tipping </a:t>
            </a:r>
            <a:r>
              <a:rPr dirty="0" sz="1200">
                <a:latin typeface="Arial"/>
                <a:cs typeface="Arial"/>
              </a:rPr>
              <a:t>points. </a:t>
            </a:r>
            <a:r>
              <a:rPr dirty="0" sz="1200" spc="-5">
                <a:latin typeface="Arial"/>
                <a:cs typeface="Arial"/>
              </a:rPr>
              <a:t>Those </a:t>
            </a:r>
            <a:r>
              <a:rPr dirty="0" sz="1200" spc="-10">
                <a:latin typeface="Arial"/>
                <a:cs typeface="Arial"/>
              </a:rPr>
              <a:t>who </a:t>
            </a:r>
            <a:r>
              <a:rPr dirty="0" sz="1200" spc="-5">
                <a:latin typeface="Arial"/>
                <a:cs typeface="Arial"/>
              </a:rPr>
              <a:t>seek  positive change </a:t>
            </a:r>
            <a:r>
              <a:rPr dirty="0" sz="1200">
                <a:latin typeface="Arial"/>
                <a:cs typeface="Arial"/>
              </a:rPr>
              <a:t>must focus </a:t>
            </a:r>
            <a:r>
              <a:rPr dirty="0" sz="1200" spc="-5">
                <a:latin typeface="Arial"/>
                <a:cs typeface="Arial"/>
              </a:rPr>
              <a:t>their diplomatic energies </a:t>
            </a:r>
            <a:r>
              <a:rPr dirty="0" sz="1200">
                <a:latin typeface="Arial"/>
                <a:cs typeface="Arial"/>
              </a:rPr>
              <a:t>at </a:t>
            </a:r>
            <a:r>
              <a:rPr dirty="0" sz="1200" spc="-5">
                <a:latin typeface="Arial"/>
                <a:cs typeface="Arial"/>
              </a:rPr>
              <a:t>inducing informed </a:t>
            </a:r>
            <a:r>
              <a:rPr dirty="0" sz="1200" spc="-10">
                <a:latin typeface="Arial"/>
                <a:cs typeface="Arial"/>
              </a:rPr>
              <a:t>changes in  </a:t>
            </a:r>
            <a:r>
              <a:rPr dirty="0" sz="1200" spc="-5">
                <a:latin typeface="Arial"/>
                <a:cs typeface="Arial"/>
              </a:rPr>
              <a:t>perceptions and policies. Today‘s Muslim </a:t>
            </a:r>
            <a:r>
              <a:rPr dirty="0" sz="1200">
                <a:latin typeface="Arial"/>
                <a:cs typeface="Arial"/>
              </a:rPr>
              <a:t>youth </a:t>
            </a:r>
            <a:r>
              <a:rPr dirty="0" sz="1200" spc="-5">
                <a:latin typeface="Arial"/>
                <a:cs typeface="Arial"/>
              </a:rPr>
              <a:t>in </a:t>
            </a:r>
            <a:r>
              <a:rPr dirty="0" sz="1200">
                <a:latin typeface="Arial"/>
                <a:cs typeface="Arial"/>
              </a:rPr>
              <a:t>the </a:t>
            </a:r>
            <a:r>
              <a:rPr dirty="0" sz="1200" spc="5">
                <a:latin typeface="Arial"/>
                <a:cs typeface="Arial"/>
              </a:rPr>
              <a:t>West </a:t>
            </a:r>
            <a:r>
              <a:rPr dirty="0" sz="1200" spc="-10">
                <a:latin typeface="Arial"/>
                <a:cs typeface="Arial"/>
              </a:rPr>
              <a:t>have </a:t>
            </a:r>
            <a:r>
              <a:rPr dirty="0" sz="1200" spc="-5">
                <a:latin typeface="Arial"/>
                <a:cs typeface="Arial"/>
              </a:rPr>
              <a:t>grown </a:t>
            </a:r>
            <a:r>
              <a:rPr dirty="0" sz="1200">
                <a:latin typeface="Arial"/>
                <a:cs typeface="Arial"/>
              </a:rPr>
              <a:t>up </a:t>
            </a:r>
            <a:r>
              <a:rPr dirty="0" sz="1200" spc="-5">
                <a:latin typeface="Arial"/>
                <a:cs typeface="Arial"/>
              </a:rPr>
              <a:t>being preached  </a:t>
            </a:r>
            <a:r>
              <a:rPr dirty="0" sz="1200">
                <a:latin typeface="Arial"/>
                <a:cs typeface="Arial"/>
              </a:rPr>
              <a:t>ideas </a:t>
            </a:r>
            <a:r>
              <a:rPr dirty="0" sz="1200" spc="-5">
                <a:latin typeface="Arial"/>
                <a:cs typeface="Arial"/>
              </a:rPr>
              <a:t>of plurality, equality and freedom. </a:t>
            </a:r>
            <a:r>
              <a:rPr dirty="0" sz="1200">
                <a:latin typeface="Arial"/>
                <a:cs typeface="Arial"/>
              </a:rPr>
              <a:t>When </a:t>
            </a:r>
            <a:r>
              <a:rPr dirty="0" sz="1200" spc="-5">
                <a:latin typeface="Arial"/>
                <a:cs typeface="Arial"/>
              </a:rPr>
              <a:t>such ideas are not applied towards </a:t>
            </a:r>
            <a:r>
              <a:rPr dirty="0" sz="1200">
                <a:latin typeface="Arial"/>
                <a:cs typeface="Arial"/>
              </a:rPr>
              <a:t>their </a:t>
            </a:r>
            <a:r>
              <a:rPr dirty="0" sz="1200" spc="-10">
                <a:latin typeface="Arial"/>
                <a:cs typeface="Arial"/>
              </a:rPr>
              <a:t>own  </a:t>
            </a:r>
            <a:r>
              <a:rPr dirty="0" sz="1200" spc="-5">
                <a:latin typeface="Arial"/>
                <a:cs typeface="Arial"/>
              </a:rPr>
              <a:t>empowerment </a:t>
            </a:r>
            <a:r>
              <a:rPr dirty="0" sz="1200">
                <a:latin typeface="Arial"/>
                <a:cs typeface="Arial"/>
              </a:rPr>
              <a:t>it </a:t>
            </a:r>
            <a:r>
              <a:rPr dirty="0" sz="1200" spc="-5">
                <a:latin typeface="Arial"/>
                <a:cs typeface="Arial"/>
              </a:rPr>
              <a:t>can </a:t>
            </a:r>
            <a:r>
              <a:rPr dirty="0" sz="1200">
                <a:latin typeface="Arial"/>
                <a:cs typeface="Arial"/>
              </a:rPr>
              <a:t>lead to </a:t>
            </a:r>
            <a:r>
              <a:rPr dirty="0" sz="1200" spc="-5">
                <a:latin typeface="Arial"/>
                <a:cs typeface="Arial"/>
              </a:rPr>
              <a:t>disillusionment and in the worst cases irrational violence. </a:t>
            </a:r>
            <a:r>
              <a:rPr dirty="0" sz="1200">
                <a:latin typeface="Arial"/>
                <a:cs typeface="Arial"/>
              </a:rPr>
              <a:t>If </a:t>
            </a:r>
            <a:r>
              <a:rPr dirty="0" sz="1200" spc="-5">
                <a:latin typeface="Arial"/>
                <a:cs typeface="Arial"/>
              </a:rPr>
              <a:t>the  aspiration</a:t>
            </a:r>
            <a:r>
              <a:rPr dirty="0" sz="1200" spc="229">
                <a:latin typeface="Arial"/>
                <a:cs typeface="Arial"/>
              </a:rPr>
              <a:t> </a:t>
            </a:r>
            <a:r>
              <a:rPr dirty="0" sz="1200" spc="-5">
                <a:latin typeface="Arial"/>
                <a:cs typeface="Arial"/>
              </a:rPr>
              <a:t>of</a:t>
            </a:r>
            <a:r>
              <a:rPr dirty="0" sz="1200" spc="254">
                <a:latin typeface="Arial"/>
                <a:cs typeface="Arial"/>
              </a:rPr>
              <a:t> </a:t>
            </a:r>
            <a:r>
              <a:rPr dirty="0" sz="1200" spc="-5">
                <a:latin typeface="Arial"/>
                <a:cs typeface="Arial"/>
              </a:rPr>
              <a:t>today‘s</a:t>
            </a:r>
            <a:r>
              <a:rPr dirty="0" sz="1200" spc="240">
                <a:latin typeface="Arial"/>
                <a:cs typeface="Arial"/>
              </a:rPr>
              <a:t> </a:t>
            </a:r>
            <a:r>
              <a:rPr dirty="0" sz="1200" spc="-5">
                <a:latin typeface="Arial"/>
                <a:cs typeface="Arial"/>
              </a:rPr>
              <a:t>Muslim</a:t>
            </a:r>
            <a:r>
              <a:rPr dirty="0" sz="1200" spc="250">
                <a:latin typeface="Arial"/>
                <a:cs typeface="Arial"/>
              </a:rPr>
              <a:t> </a:t>
            </a:r>
            <a:r>
              <a:rPr dirty="0" sz="1200" spc="-5">
                <a:latin typeface="Arial"/>
                <a:cs typeface="Arial"/>
              </a:rPr>
              <a:t>youth</a:t>
            </a:r>
            <a:r>
              <a:rPr dirty="0" sz="1200" spc="245">
                <a:latin typeface="Arial"/>
                <a:cs typeface="Arial"/>
              </a:rPr>
              <a:t> </a:t>
            </a:r>
            <a:r>
              <a:rPr dirty="0" sz="1200">
                <a:latin typeface="Arial"/>
                <a:cs typeface="Arial"/>
              </a:rPr>
              <a:t>are</a:t>
            </a:r>
            <a:r>
              <a:rPr dirty="0" sz="1200" spc="240">
                <a:latin typeface="Arial"/>
                <a:cs typeface="Arial"/>
              </a:rPr>
              <a:t> </a:t>
            </a:r>
            <a:r>
              <a:rPr dirty="0" sz="1200" spc="-5">
                <a:latin typeface="Arial"/>
                <a:cs typeface="Arial"/>
              </a:rPr>
              <a:t>to</a:t>
            </a:r>
            <a:r>
              <a:rPr dirty="0" sz="1200" spc="229">
                <a:latin typeface="Arial"/>
                <a:cs typeface="Arial"/>
              </a:rPr>
              <a:t> </a:t>
            </a:r>
            <a:r>
              <a:rPr dirty="0" sz="1200">
                <a:latin typeface="Arial"/>
                <a:cs typeface="Arial"/>
              </a:rPr>
              <a:t>be</a:t>
            </a:r>
            <a:r>
              <a:rPr dirty="0" sz="1200" spc="245">
                <a:latin typeface="Arial"/>
                <a:cs typeface="Arial"/>
              </a:rPr>
              <a:t> </a:t>
            </a:r>
            <a:r>
              <a:rPr dirty="0" sz="1200" spc="-5">
                <a:latin typeface="Arial"/>
                <a:cs typeface="Arial"/>
              </a:rPr>
              <a:t>harnessed</a:t>
            </a:r>
            <a:r>
              <a:rPr dirty="0" sz="1200" spc="245">
                <a:latin typeface="Arial"/>
                <a:cs typeface="Arial"/>
              </a:rPr>
              <a:t> </a:t>
            </a:r>
            <a:r>
              <a:rPr dirty="0" sz="1200" spc="-5">
                <a:latin typeface="Arial"/>
                <a:cs typeface="Arial"/>
              </a:rPr>
              <a:t>properly</a:t>
            </a:r>
            <a:r>
              <a:rPr dirty="0" sz="1200" spc="229">
                <a:latin typeface="Arial"/>
                <a:cs typeface="Arial"/>
              </a:rPr>
              <a:t> </a:t>
            </a:r>
            <a:r>
              <a:rPr dirty="0" sz="1200" spc="-5">
                <a:latin typeface="Arial"/>
                <a:cs typeface="Arial"/>
              </a:rPr>
              <a:t>it</a:t>
            </a:r>
            <a:r>
              <a:rPr dirty="0" sz="1200" spc="245">
                <a:latin typeface="Arial"/>
                <a:cs typeface="Arial"/>
              </a:rPr>
              <a:t> </a:t>
            </a:r>
            <a:r>
              <a:rPr dirty="0" sz="1200">
                <a:latin typeface="Arial"/>
                <a:cs typeface="Arial"/>
              </a:rPr>
              <a:t>can</a:t>
            </a:r>
            <a:r>
              <a:rPr dirty="0" sz="1200" spc="245">
                <a:latin typeface="Arial"/>
                <a:cs typeface="Arial"/>
              </a:rPr>
              <a:t> </a:t>
            </a:r>
            <a:r>
              <a:rPr dirty="0" sz="1200" spc="-5">
                <a:latin typeface="Arial"/>
                <a:cs typeface="Arial"/>
              </a:rPr>
              <a:t>lead</a:t>
            </a:r>
            <a:r>
              <a:rPr dirty="0" sz="1200" spc="245">
                <a:latin typeface="Arial"/>
                <a:cs typeface="Arial"/>
              </a:rPr>
              <a:t> </a:t>
            </a:r>
            <a:r>
              <a:rPr dirty="0" sz="1200">
                <a:latin typeface="Arial"/>
                <a:cs typeface="Arial"/>
              </a:rPr>
              <a:t>to</a:t>
            </a:r>
            <a:r>
              <a:rPr dirty="0" sz="1200" spc="245">
                <a:latin typeface="Arial"/>
                <a:cs typeface="Arial"/>
              </a:rPr>
              <a:t> </a:t>
            </a:r>
            <a:r>
              <a:rPr dirty="0" sz="1200" spc="-5">
                <a:latin typeface="Arial"/>
                <a:cs typeface="Arial"/>
              </a:rPr>
              <a:t>immense</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182</a:t>
            </a:r>
            <a:endParaRPr sz="1200">
              <a:latin typeface="Times New Roman"/>
              <a:cs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8819" y="432307"/>
            <a:ext cx="6313170" cy="9338310"/>
          </a:xfrm>
          <a:prstGeom prst="rect">
            <a:avLst/>
          </a:prstGeom>
        </p:spPr>
        <p:txBody>
          <a:bodyPr wrap="square" lIns="0" tIns="12700" rIns="0" bIns="0" rtlCol="0" vert="horz">
            <a:spAutoFit/>
          </a:bodyPr>
          <a:lstStyle/>
          <a:p>
            <a:pPr algn="just" marL="12700">
              <a:lnSpc>
                <a:spcPct val="100000"/>
              </a:lnSpc>
              <a:spcBef>
                <a:spcPts val="100"/>
              </a:spcBef>
              <a:tabLst>
                <a:tab pos="5064125" algn="l"/>
              </a:tabLst>
            </a:pPr>
            <a:r>
              <a:rPr dirty="0" sz="1200" spc="-5" b="1">
                <a:latin typeface="Times New Roman"/>
                <a:cs typeface="Times New Roman"/>
              </a:rPr>
              <a:t>Islamic</a:t>
            </a:r>
            <a:r>
              <a:rPr dirty="0" sz="1200" spc="10" b="1">
                <a:latin typeface="Times New Roman"/>
                <a:cs typeface="Times New Roman"/>
              </a:rPr>
              <a:t> </a:t>
            </a:r>
            <a:r>
              <a:rPr dirty="0" sz="1200" spc="-5" b="1">
                <a:latin typeface="Times New Roman"/>
                <a:cs typeface="Times New Roman"/>
              </a:rPr>
              <a:t>Studies	Syllabus </a:t>
            </a:r>
            <a:r>
              <a:rPr dirty="0" sz="1200" b="1">
                <a:latin typeface="Times New Roman"/>
                <a:cs typeface="Times New Roman"/>
              </a:rPr>
              <a:t>9013</a:t>
            </a:r>
            <a:endParaRPr sz="1200">
              <a:latin typeface="Times New Roman"/>
              <a:cs typeface="Times New Roman"/>
            </a:endParaRPr>
          </a:p>
          <a:p>
            <a:pPr>
              <a:lnSpc>
                <a:spcPct val="100000"/>
              </a:lnSpc>
              <a:spcBef>
                <a:spcPts val="50"/>
              </a:spcBef>
            </a:pPr>
            <a:endParaRPr sz="1300">
              <a:latin typeface="Times New Roman"/>
              <a:cs typeface="Times New Roman"/>
            </a:endParaRPr>
          </a:p>
          <a:p>
            <a:pPr algn="just" marL="12700" marR="6350">
              <a:lnSpc>
                <a:spcPts val="1380"/>
              </a:lnSpc>
            </a:pPr>
            <a:r>
              <a:rPr dirty="0" sz="1200" spc="-5">
                <a:latin typeface="Arial"/>
                <a:cs typeface="Arial"/>
              </a:rPr>
              <a:t>symbiosis between the </a:t>
            </a:r>
            <a:r>
              <a:rPr dirty="0" sz="1200" spc="5">
                <a:latin typeface="Arial"/>
                <a:cs typeface="Arial"/>
              </a:rPr>
              <a:t>West </a:t>
            </a:r>
            <a:r>
              <a:rPr dirty="0" sz="1200" spc="-5">
                <a:latin typeface="Arial"/>
                <a:cs typeface="Arial"/>
              </a:rPr>
              <a:t>and the Muslim </a:t>
            </a:r>
            <a:r>
              <a:rPr dirty="0" sz="1200" spc="-10">
                <a:latin typeface="Arial"/>
                <a:cs typeface="Arial"/>
              </a:rPr>
              <a:t>world </a:t>
            </a:r>
            <a:r>
              <a:rPr dirty="0" sz="1200">
                <a:latin typeface="Arial"/>
                <a:cs typeface="Arial"/>
              </a:rPr>
              <a:t>promoting </a:t>
            </a:r>
            <a:r>
              <a:rPr dirty="0" sz="1200" spc="-5">
                <a:latin typeface="Arial"/>
                <a:cs typeface="Arial"/>
              </a:rPr>
              <a:t>a new era </a:t>
            </a:r>
            <a:r>
              <a:rPr dirty="0" sz="1200">
                <a:latin typeface="Arial"/>
                <a:cs typeface="Arial"/>
              </a:rPr>
              <a:t>of enlightenment  </a:t>
            </a:r>
            <a:r>
              <a:rPr dirty="0" sz="1200" spc="-5">
                <a:latin typeface="Arial"/>
                <a:cs typeface="Arial"/>
              </a:rPr>
              <a:t>and irreversibly steering the </a:t>
            </a:r>
            <a:r>
              <a:rPr dirty="0" sz="1200" spc="-10">
                <a:latin typeface="Arial"/>
                <a:cs typeface="Arial"/>
              </a:rPr>
              <a:t>world </a:t>
            </a:r>
            <a:r>
              <a:rPr dirty="0" sz="1200" spc="-5">
                <a:latin typeface="Arial"/>
                <a:cs typeface="Arial"/>
              </a:rPr>
              <a:t>away </a:t>
            </a:r>
            <a:r>
              <a:rPr dirty="0" sz="1200">
                <a:latin typeface="Arial"/>
                <a:cs typeface="Arial"/>
              </a:rPr>
              <a:t>from </a:t>
            </a:r>
            <a:r>
              <a:rPr dirty="0" sz="1200" spc="-5">
                <a:latin typeface="Arial"/>
                <a:cs typeface="Arial"/>
              </a:rPr>
              <a:t>an apocalyptic clash of</a:t>
            </a:r>
            <a:r>
              <a:rPr dirty="0" sz="1200" spc="50">
                <a:latin typeface="Arial"/>
                <a:cs typeface="Arial"/>
              </a:rPr>
              <a:t> </a:t>
            </a:r>
            <a:r>
              <a:rPr dirty="0" sz="1200" spc="-5">
                <a:latin typeface="Arial"/>
                <a:cs typeface="Arial"/>
              </a:rPr>
              <a:t>civilizations.</a:t>
            </a:r>
            <a:endParaRPr sz="1200">
              <a:latin typeface="Arial"/>
              <a:cs typeface="Arial"/>
            </a:endParaRPr>
          </a:p>
          <a:p>
            <a:pPr>
              <a:lnSpc>
                <a:spcPct val="100000"/>
              </a:lnSpc>
              <a:spcBef>
                <a:spcPts val="5"/>
              </a:spcBef>
            </a:pPr>
            <a:endParaRPr sz="1200">
              <a:latin typeface="Arial"/>
              <a:cs typeface="Arial"/>
            </a:endParaRPr>
          </a:p>
          <a:p>
            <a:pPr algn="just" marL="12700" marR="8255">
              <a:lnSpc>
                <a:spcPts val="1380"/>
              </a:lnSpc>
            </a:pPr>
            <a:r>
              <a:rPr dirty="0" sz="1200">
                <a:latin typeface="Arial"/>
                <a:cs typeface="Arial"/>
              </a:rPr>
              <a:t>For </a:t>
            </a:r>
            <a:r>
              <a:rPr dirty="0" sz="1200" spc="-5">
                <a:latin typeface="Arial"/>
                <a:cs typeface="Arial"/>
              </a:rPr>
              <a:t>example, </a:t>
            </a:r>
            <a:r>
              <a:rPr dirty="0" sz="1200" spc="5">
                <a:latin typeface="Arial"/>
                <a:cs typeface="Arial"/>
              </a:rPr>
              <a:t>on </a:t>
            </a:r>
            <a:r>
              <a:rPr dirty="0" sz="1200" spc="-5">
                <a:latin typeface="Arial"/>
                <a:cs typeface="Arial"/>
              </a:rPr>
              <a:t>being questioned by his brothers how a person whom they had pushed into  </a:t>
            </a:r>
            <a:r>
              <a:rPr dirty="0" sz="1200">
                <a:latin typeface="Arial"/>
                <a:cs typeface="Arial"/>
              </a:rPr>
              <a:t>the </a:t>
            </a:r>
            <a:r>
              <a:rPr dirty="0" sz="1200" spc="-5">
                <a:latin typeface="Arial"/>
                <a:cs typeface="Arial"/>
              </a:rPr>
              <a:t>well could </a:t>
            </a:r>
            <a:r>
              <a:rPr dirty="0" sz="1200">
                <a:latin typeface="Arial"/>
                <a:cs typeface="Arial"/>
              </a:rPr>
              <a:t>come </a:t>
            </a:r>
            <a:r>
              <a:rPr dirty="0" sz="1200" spc="-5">
                <a:latin typeface="Arial"/>
                <a:cs typeface="Arial"/>
              </a:rPr>
              <a:t>to rise </a:t>
            </a:r>
            <a:r>
              <a:rPr dirty="0" sz="1200">
                <a:latin typeface="Arial"/>
                <a:cs typeface="Arial"/>
              </a:rPr>
              <a:t>to </a:t>
            </a:r>
            <a:r>
              <a:rPr dirty="0" sz="1200" spc="-5">
                <a:latin typeface="Arial"/>
                <a:cs typeface="Arial"/>
              </a:rPr>
              <a:t>such great heights, Hazrat Yusuf offers </a:t>
            </a:r>
            <a:r>
              <a:rPr dirty="0" sz="1200">
                <a:latin typeface="Arial"/>
                <a:cs typeface="Arial"/>
              </a:rPr>
              <a:t>this </a:t>
            </a:r>
            <a:r>
              <a:rPr dirty="0" sz="1200" spc="-5">
                <a:latin typeface="Arial"/>
                <a:cs typeface="Arial"/>
              </a:rPr>
              <a:t>explanation from  </a:t>
            </a:r>
            <a:r>
              <a:rPr dirty="0" sz="1200">
                <a:latin typeface="Arial"/>
                <a:cs typeface="Arial"/>
              </a:rPr>
              <a:t>the </a:t>
            </a:r>
            <a:r>
              <a:rPr dirty="0" sz="1200" spc="-5">
                <a:latin typeface="Arial"/>
                <a:cs typeface="Arial"/>
              </a:rPr>
              <a:t>Qur'an (12:90):</a:t>
            </a:r>
            <a:endParaRPr sz="1200">
              <a:latin typeface="Arial"/>
              <a:cs typeface="Arial"/>
            </a:endParaRPr>
          </a:p>
          <a:p>
            <a:pPr>
              <a:lnSpc>
                <a:spcPct val="100000"/>
              </a:lnSpc>
              <a:spcBef>
                <a:spcPts val="45"/>
              </a:spcBef>
            </a:pPr>
            <a:endParaRPr sz="1150">
              <a:latin typeface="Arial"/>
              <a:cs typeface="Arial"/>
            </a:endParaRPr>
          </a:p>
          <a:p>
            <a:pPr algn="just" marL="12700" marR="10160">
              <a:lnSpc>
                <a:spcPts val="1380"/>
              </a:lnSpc>
            </a:pPr>
            <a:r>
              <a:rPr dirty="0" sz="1200" spc="-5">
                <a:latin typeface="Arial"/>
                <a:cs typeface="Arial"/>
              </a:rPr>
              <a:t>"</a:t>
            </a:r>
            <a:r>
              <a:rPr dirty="0" sz="1200" spc="-5" i="1">
                <a:latin typeface="Arial"/>
                <a:cs typeface="Arial"/>
              </a:rPr>
              <a:t>Behold, he that is righteous and patient </a:t>
            </a:r>
            <a:r>
              <a:rPr dirty="0" sz="1200" i="1">
                <a:latin typeface="Arial"/>
                <a:cs typeface="Arial"/>
              </a:rPr>
              <a:t>- </a:t>
            </a:r>
            <a:r>
              <a:rPr dirty="0" sz="1200" spc="-5" i="1">
                <a:latin typeface="Arial"/>
                <a:cs typeface="Arial"/>
              </a:rPr>
              <a:t>never will </a:t>
            </a:r>
            <a:r>
              <a:rPr dirty="0" sz="1200" i="1">
                <a:latin typeface="Arial"/>
                <a:cs typeface="Arial"/>
              </a:rPr>
              <a:t>God </a:t>
            </a:r>
            <a:r>
              <a:rPr dirty="0" sz="1200" spc="-5" i="1">
                <a:latin typeface="Arial"/>
                <a:cs typeface="Arial"/>
              </a:rPr>
              <a:t>suffer the reward to be lost, </a:t>
            </a:r>
            <a:r>
              <a:rPr dirty="0" sz="1200" i="1">
                <a:latin typeface="Arial"/>
                <a:cs typeface="Arial"/>
              </a:rPr>
              <a:t>of </a:t>
            </a:r>
            <a:r>
              <a:rPr dirty="0" sz="1200" spc="-5" i="1">
                <a:latin typeface="Arial"/>
                <a:cs typeface="Arial"/>
              </a:rPr>
              <a:t>those  </a:t>
            </a:r>
            <a:r>
              <a:rPr dirty="0" sz="1200" spc="-5" i="1">
                <a:latin typeface="Arial"/>
                <a:cs typeface="Arial"/>
              </a:rPr>
              <a:t>who do</a:t>
            </a:r>
            <a:r>
              <a:rPr dirty="0" sz="1200" i="1">
                <a:latin typeface="Arial"/>
                <a:cs typeface="Arial"/>
              </a:rPr>
              <a:t> </a:t>
            </a:r>
            <a:r>
              <a:rPr dirty="0" sz="1200" spc="-5" i="1">
                <a:latin typeface="Arial"/>
                <a:cs typeface="Arial"/>
              </a:rPr>
              <a:t>good."</a:t>
            </a:r>
            <a:endParaRPr sz="1200">
              <a:latin typeface="Arial"/>
              <a:cs typeface="Arial"/>
            </a:endParaRPr>
          </a:p>
          <a:p>
            <a:pPr>
              <a:lnSpc>
                <a:spcPct val="100000"/>
              </a:lnSpc>
              <a:spcBef>
                <a:spcPts val="30"/>
              </a:spcBef>
            </a:pPr>
            <a:endParaRPr sz="1150">
              <a:latin typeface="Arial"/>
              <a:cs typeface="Arial"/>
            </a:endParaRPr>
          </a:p>
          <a:p>
            <a:pPr algn="just" marL="12700" marR="6985">
              <a:lnSpc>
                <a:spcPct val="95900"/>
              </a:lnSpc>
            </a:pPr>
            <a:r>
              <a:rPr dirty="0" sz="1200" spc="-5">
                <a:latin typeface="Arial"/>
                <a:cs typeface="Arial"/>
              </a:rPr>
              <a:t>Muslim minorities living in </a:t>
            </a:r>
            <a:r>
              <a:rPr dirty="0" sz="1200">
                <a:latin typeface="Arial"/>
                <a:cs typeface="Arial"/>
              </a:rPr>
              <a:t>non-Muslim </a:t>
            </a:r>
            <a:r>
              <a:rPr dirty="0" sz="1200" spc="-5">
                <a:latin typeface="Arial"/>
                <a:cs typeface="Arial"/>
              </a:rPr>
              <a:t>countries cannot manage </a:t>
            </a:r>
            <a:r>
              <a:rPr dirty="0" sz="1200">
                <a:latin typeface="Arial"/>
                <a:cs typeface="Arial"/>
              </a:rPr>
              <a:t>to </a:t>
            </a:r>
            <a:r>
              <a:rPr dirty="0" sz="1200" spc="-5">
                <a:latin typeface="Arial"/>
                <a:cs typeface="Arial"/>
              </a:rPr>
              <a:t>ignore </a:t>
            </a:r>
            <a:r>
              <a:rPr dirty="0" sz="1200">
                <a:latin typeface="Arial"/>
                <a:cs typeface="Arial"/>
              </a:rPr>
              <a:t>the </a:t>
            </a:r>
            <a:r>
              <a:rPr dirty="0" sz="1200" spc="-5">
                <a:latin typeface="Arial"/>
                <a:cs typeface="Arial"/>
              </a:rPr>
              <a:t>realities </a:t>
            </a:r>
            <a:r>
              <a:rPr dirty="0" sz="1200">
                <a:latin typeface="Arial"/>
                <a:cs typeface="Arial"/>
              </a:rPr>
              <a:t>of </a:t>
            </a:r>
            <a:r>
              <a:rPr dirty="0" sz="1200" spc="-5">
                <a:latin typeface="Arial"/>
                <a:cs typeface="Arial"/>
              </a:rPr>
              <a:t>the  situation as prevailing </a:t>
            </a:r>
            <a:r>
              <a:rPr dirty="0" sz="1200">
                <a:latin typeface="Arial"/>
                <a:cs typeface="Arial"/>
              </a:rPr>
              <a:t>in their </a:t>
            </a:r>
            <a:r>
              <a:rPr dirty="0" sz="1200" spc="-5">
                <a:latin typeface="Arial"/>
                <a:cs typeface="Arial"/>
              </a:rPr>
              <a:t>countries. They will have </a:t>
            </a:r>
            <a:r>
              <a:rPr dirty="0" sz="1200">
                <a:latin typeface="Arial"/>
                <a:cs typeface="Arial"/>
              </a:rPr>
              <a:t>to </a:t>
            </a:r>
            <a:r>
              <a:rPr dirty="0" sz="1200" spc="-5">
                <a:latin typeface="Arial"/>
                <a:cs typeface="Arial"/>
              </a:rPr>
              <a:t>determine </a:t>
            </a:r>
            <a:r>
              <a:rPr dirty="0" sz="1200">
                <a:latin typeface="Arial"/>
                <a:cs typeface="Arial"/>
              </a:rPr>
              <a:t>their </a:t>
            </a:r>
            <a:r>
              <a:rPr dirty="0" sz="1200" spc="-5">
                <a:latin typeface="Arial"/>
                <a:cs typeface="Arial"/>
              </a:rPr>
              <a:t>attitude </a:t>
            </a:r>
            <a:r>
              <a:rPr dirty="0" sz="1200">
                <a:latin typeface="Arial"/>
                <a:cs typeface="Arial"/>
              </a:rPr>
              <a:t>after </a:t>
            </a:r>
            <a:r>
              <a:rPr dirty="0" sz="1200" spc="-5">
                <a:latin typeface="Arial"/>
                <a:cs typeface="Arial"/>
              </a:rPr>
              <a:t>giving  </a:t>
            </a:r>
            <a:r>
              <a:rPr dirty="0" sz="1200">
                <a:latin typeface="Arial"/>
                <a:cs typeface="Arial"/>
              </a:rPr>
              <a:t>the </a:t>
            </a:r>
            <a:r>
              <a:rPr dirty="0" sz="1200" spc="-5">
                <a:latin typeface="Arial"/>
                <a:cs typeface="Arial"/>
              </a:rPr>
              <a:t>most careful thought </a:t>
            </a:r>
            <a:r>
              <a:rPr dirty="0" sz="1200">
                <a:latin typeface="Arial"/>
                <a:cs typeface="Arial"/>
              </a:rPr>
              <a:t>to </a:t>
            </a:r>
            <a:r>
              <a:rPr dirty="0" sz="1200" spc="-5">
                <a:latin typeface="Arial"/>
                <a:cs typeface="Arial"/>
              </a:rPr>
              <a:t>all </a:t>
            </a:r>
            <a:r>
              <a:rPr dirty="0" sz="1200">
                <a:latin typeface="Arial"/>
                <a:cs typeface="Arial"/>
              </a:rPr>
              <a:t>the </a:t>
            </a:r>
            <a:r>
              <a:rPr dirty="0" sz="1200" spc="-5">
                <a:latin typeface="Arial"/>
                <a:cs typeface="Arial"/>
              </a:rPr>
              <a:t>aspects of the problem and with </a:t>
            </a:r>
            <a:r>
              <a:rPr dirty="0" sz="1200">
                <a:latin typeface="Arial"/>
                <a:cs typeface="Arial"/>
              </a:rPr>
              <a:t>this </a:t>
            </a:r>
            <a:r>
              <a:rPr dirty="0" sz="1200" spc="-5">
                <a:latin typeface="Arial"/>
                <a:cs typeface="Arial"/>
              </a:rPr>
              <a:t>dictum of the Shari‘ah  as their guiding principle. Muslims living under non-Muslim systems </a:t>
            </a:r>
            <a:r>
              <a:rPr dirty="0" sz="1200">
                <a:latin typeface="Arial"/>
                <a:cs typeface="Arial"/>
              </a:rPr>
              <a:t>are, </a:t>
            </a:r>
            <a:r>
              <a:rPr dirty="0" sz="1200" spc="-5">
                <a:latin typeface="Arial"/>
                <a:cs typeface="Arial"/>
              </a:rPr>
              <a:t>as such, required to  </a:t>
            </a:r>
            <a:r>
              <a:rPr dirty="0" sz="1200">
                <a:latin typeface="Arial"/>
                <a:cs typeface="Arial"/>
              </a:rPr>
              <a:t>make </a:t>
            </a:r>
            <a:r>
              <a:rPr dirty="0" sz="1200" spc="-5">
                <a:latin typeface="Arial"/>
                <a:cs typeface="Arial"/>
              </a:rPr>
              <a:t>every </a:t>
            </a:r>
            <a:r>
              <a:rPr dirty="0" sz="1200">
                <a:latin typeface="Arial"/>
                <a:cs typeface="Arial"/>
              </a:rPr>
              <a:t>possible </a:t>
            </a:r>
            <a:r>
              <a:rPr dirty="0" sz="1200" spc="-5">
                <a:latin typeface="Arial"/>
                <a:cs typeface="Arial"/>
              </a:rPr>
              <a:t>effort </a:t>
            </a:r>
            <a:r>
              <a:rPr dirty="0" sz="1200">
                <a:latin typeface="Arial"/>
                <a:cs typeface="Arial"/>
              </a:rPr>
              <a:t>for </a:t>
            </a:r>
            <a:r>
              <a:rPr dirty="0" sz="1200" spc="-10">
                <a:latin typeface="Arial"/>
                <a:cs typeface="Arial"/>
              </a:rPr>
              <a:t>the </a:t>
            </a:r>
            <a:r>
              <a:rPr dirty="0" sz="1200" spc="-5">
                <a:latin typeface="Arial"/>
                <a:cs typeface="Arial"/>
              </a:rPr>
              <a:t>recognition of this principle by their</a:t>
            </a:r>
            <a:r>
              <a:rPr dirty="0" sz="1200" spc="10">
                <a:latin typeface="Arial"/>
                <a:cs typeface="Arial"/>
              </a:rPr>
              <a:t> </a:t>
            </a:r>
            <a:r>
              <a:rPr dirty="0" sz="1200" spc="-5">
                <a:latin typeface="Arial"/>
                <a:cs typeface="Arial"/>
              </a:rPr>
              <a:t>governments.</a:t>
            </a:r>
            <a:endParaRPr sz="1200">
              <a:latin typeface="Arial"/>
              <a:cs typeface="Arial"/>
            </a:endParaRPr>
          </a:p>
          <a:p>
            <a:pPr>
              <a:lnSpc>
                <a:spcPct val="100000"/>
              </a:lnSpc>
            </a:pPr>
            <a:endParaRPr sz="1150">
              <a:latin typeface="Arial"/>
              <a:cs typeface="Arial"/>
            </a:endParaRPr>
          </a:p>
          <a:p>
            <a:pPr marL="12700">
              <a:lnSpc>
                <a:spcPct val="100000"/>
              </a:lnSpc>
            </a:pPr>
            <a:r>
              <a:rPr dirty="0" sz="1200" spc="-5">
                <a:latin typeface="Arial"/>
                <a:cs typeface="Arial"/>
              </a:rPr>
              <a:t>The attitude Muslim minorities </a:t>
            </a:r>
            <a:r>
              <a:rPr dirty="0" sz="1200">
                <a:latin typeface="Arial"/>
                <a:cs typeface="Arial"/>
              </a:rPr>
              <a:t>must take</a:t>
            </a:r>
            <a:r>
              <a:rPr dirty="0" sz="1200" spc="-15">
                <a:latin typeface="Arial"/>
                <a:cs typeface="Arial"/>
              </a:rPr>
              <a:t> </a:t>
            </a:r>
            <a:r>
              <a:rPr dirty="0" sz="1200">
                <a:latin typeface="Arial"/>
                <a:cs typeface="Arial"/>
              </a:rPr>
              <a:t>is:</a:t>
            </a:r>
            <a:endParaRPr sz="1200">
              <a:latin typeface="Arial"/>
              <a:cs typeface="Arial"/>
            </a:endParaRPr>
          </a:p>
          <a:p>
            <a:pPr>
              <a:lnSpc>
                <a:spcPct val="100000"/>
              </a:lnSpc>
              <a:spcBef>
                <a:spcPts val="35"/>
              </a:spcBef>
            </a:pPr>
            <a:endParaRPr sz="1200">
              <a:latin typeface="Arial"/>
              <a:cs typeface="Arial"/>
            </a:endParaRPr>
          </a:p>
          <a:p>
            <a:pPr algn="just" marL="12700" marR="5080">
              <a:lnSpc>
                <a:spcPts val="1380"/>
              </a:lnSpc>
            </a:pPr>
            <a:r>
              <a:rPr dirty="0" sz="1200" spc="-5">
                <a:latin typeface="Arial"/>
                <a:cs typeface="Arial"/>
              </a:rPr>
              <a:t>You </a:t>
            </a:r>
            <a:r>
              <a:rPr dirty="0" sz="1200">
                <a:latin typeface="Arial"/>
                <a:cs typeface="Arial"/>
              </a:rPr>
              <a:t>talk </a:t>
            </a:r>
            <a:r>
              <a:rPr dirty="0" sz="1200" spc="-5">
                <a:latin typeface="Arial"/>
                <a:cs typeface="Arial"/>
              </a:rPr>
              <a:t>and </a:t>
            </a:r>
            <a:r>
              <a:rPr dirty="0" sz="1200" spc="-10">
                <a:latin typeface="Arial"/>
                <a:cs typeface="Arial"/>
              </a:rPr>
              <a:t>you </a:t>
            </a:r>
            <a:r>
              <a:rPr dirty="0" sz="1200" spc="-5">
                <a:latin typeface="Arial"/>
                <a:cs typeface="Arial"/>
              </a:rPr>
              <a:t>listen. You take, but </a:t>
            </a:r>
            <a:r>
              <a:rPr dirty="0" sz="1200" spc="-10">
                <a:latin typeface="Arial"/>
                <a:cs typeface="Arial"/>
              </a:rPr>
              <a:t>you </a:t>
            </a:r>
            <a:r>
              <a:rPr dirty="0" sz="1200" spc="-5">
                <a:latin typeface="Arial"/>
                <a:cs typeface="Arial"/>
              </a:rPr>
              <a:t>also </a:t>
            </a:r>
            <a:r>
              <a:rPr dirty="0" sz="1200" spc="-10">
                <a:latin typeface="Arial"/>
                <a:cs typeface="Arial"/>
              </a:rPr>
              <a:t>give. </a:t>
            </a:r>
            <a:r>
              <a:rPr dirty="0" sz="1200" spc="-5">
                <a:latin typeface="Arial"/>
                <a:cs typeface="Arial"/>
              </a:rPr>
              <a:t>You respect </a:t>
            </a:r>
            <a:r>
              <a:rPr dirty="0" sz="1200">
                <a:latin typeface="Arial"/>
                <a:cs typeface="Arial"/>
              </a:rPr>
              <a:t>first </a:t>
            </a:r>
            <a:r>
              <a:rPr dirty="0" sz="1200" spc="-5">
                <a:latin typeface="Arial"/>
                <a:cs typeface="Arial"/>
              </a:rPr>
              <a:t>and then </a:t>
            </a:r>
            <a:r>
              <a:rPr dirty="0" sz="1200" spc="-10">
                <a:latin typeface="Arial"/>
                <a:cs typeface="Arial"/>
              </a:rPr>
              <a:t>you gain  </a:t>
            </a:r>
            <a:r>
              <a:rPr dirty="0" sz="1200">
                <a:latin typeface="Arial"/>
                <a:cs typeface="Arial"/>
              </a:rPr>
              <a:t>respect </a:t>
            </a:r>
            <a:r>
              <a:rPr dirty="0" sz="1200" spc="-5">
                <a:latin typeface="Arial"/>
                <a:cs typeface="Arial"/>
              </a:rPr>
              <a:t>and attain credibility and dignity. There cannot </a:t>
            </a:r>
            <a:r>
              <a:rPr dirty="0" sz="1200">
                <a:latin typeface="Arial"/>
                <a:cs typeface="Arial"/>
              </a:rPr>
              <a:t>– </a:t>
            </a:r>
            <a:r>
              <a:rPr dirty="0" sz="1200" spc="-5">
                <a:latin typeface="Arial"/>
                <a:cs typeface="Arial"/>
              </a:rPr>
              <a:t>absolutely cannot </a:t>
            </a:r>
            <a:r>
              <a:rPr dirty="0" sz="1200">
                <a:latin typeface="Arial"/>
                <a:cs typeface="Arial"/>
              </a:rPr>
              <a:t>– </a:t>
            </a:r>
            <a:r>
              <a:rPr dirty="0" sz="1200" spc="-10">
                <a:latin typeface="Arial"/>
                <a:cs typeface="Arial"/>
              </a:rPr>
              <a:t>be </a:t>
            </a:r>
            <a:r>
              <a:rPr dirty="0" sz="1200" spc="-5">
                <a:latin typeface="Arial"/>
                <a:cs typeface="Arial"/>
              </a:rPr>
              <a:t>any  discussion of minority problems with only one side present. </a:t>
            </a:r>
            <a:r>
              <a:rPr dirty="0" sz="1200">
                <a:latin typeface="Arial"/>
                <a:cs typeface="Arial"/>
              </a:rPr>
              <a:t>Dialogue </a:t>
            </a:r>
            <a:r>
              <a:rPr dirty="0" sz="1200" spc="-5">
                <a:latin typeface="Arial"/>
                <a:cs typeface="Arial"/>
              </a:rPr>
              <a:t>is the essence even of  Da‘wah. </a:t>
            </a:r>
            <a:r>
              <a:rPr dirty="0" sz="1200">
                <a:latin typeface="Arial"/>
                <a:cs typeface="Arial"/>
              </a:rPr>
              <a:t>It </a:t>
            </a:r>
            <a:r>
              <a:rPr dirty="0" sz="1200" spc="-5">
                <a:latin typeface="Arial"/>
                <a:cs typeface="Arial"/>
              </a:rPr>
              <a:t>needs above all </a:t>
            </a:r>
            <a:r>
              <a:rPr dirty="0" sz="1200">
                <a:latin typeface="Arial"/>
                <a:cs typeface="Arial"/>
              </a:rPr>
              <a:t>moral </a:t>
            </a:r>
            <a:r>
              <a:rPr dirty="0" sz="1200" spc="-5">
                <a:latin typeface="Arial"/>
                <a:cs typeface="Arial"/>
              </a:rPr>
              <a:t>courage of </a:t>
            </a:r>
            <a:r>
              <a:rPr dirty="0" sz="1200">
                <a:latin typeface="Arial"/>
                <a:cs typeface="Arial"/>
              </a:rPr>
              <a:t>the </a:t>
            </a:r>
            <a:r>
              <a:rPr dirty="0" sz="1200" spc="-5">
                <a:latin typeface="Arial"/>
                <a:cs typeface="Arial"/>
              </a:rPr>
              <a:t>highest Islamic order, especially in present  </a:t>
            </a:r>
            <a:r>
              <a:rPr dirty="0" sz="1200">
                <a:latin typeface="Arial"/>
                <a:cs typeface="Arial"/>
              </a:rPr>
              <a:t>times </a:t>
            </a:r>
            <a:r>
              <a:rPr dirty="0" sz="1200" spc="-5">
                <a:latin typeface="Arial"/>
                <a:cs typeface="Arial"/>
              </a:rPr>
              <a:t>when religious and political polarization </a:t>
            </a:r>
            <a:r>
              <a:rPr dirty="0" sz="1200">
                <a:latin typeface="Arial"/>
                <a:cs typeface="Arial"/>
              </a:rPr>
              <a:t>has </a:t>
            </a:r>
            <a:r>
              <a:rPr dirty="0" sz="1200" spc="-5">
                <a:latin typeface="Arial"/>
                <a:cs typeface="Arial"/>
              </a:rPr>
              <a:t>reached lethal</a:t>
            </a:r>
            <a:r>
              <a:rPr dirty="0" sz="1200" spc="25">
                <a:latin typeface="Arial"/>
                <a:cs typeface="Arial"/>
              </a:rPr>
              <a:t> </a:t>
            </a:r>
            <a:r>
              <a:rPr dirty="0" sz="1200" spc="-5">
                <a:latin typeface="Arial"/>
                <a:cs typeface="Arial"/>
              </a:rPr>
              <a:t>proportions</a:t>
            </a:r>
            <a:endParaRPr sz="1200">
              <a:latin typeface="Arial"/>
              <a:cs typeface="Arial"/>
            </a:endParaRPr>
          </a:p>
          <a:p>
            <a:pPr>
              <a:lnSpc>
                <a:spcPct val="100000"/>
              </a:lnSpc>
              <a:spcBef>
                <a:spcPts val="20"/>
              </a:spcBef>
            </a:pPr>
            <a:endParaRPr sz="1100">
              <a:latin typeface="Arial"/>
              <a:cs typeface="Arial"/>
            </a:endParaRPr>
          </a:p>
          <a:p>
            <a:pPr marL="12700">
              <a:lnSpc>
                <a:spcPct val="100000"/>
              </a:lnSpc>
            </a:pPr>
            <a:r>
              <a:rPr dirty="0" u="heavy" sz="1200" spc="-5" b="1" i="1">
                <a:uFill>
                  <a:solidFill>
                    <a:srgbClr val="000000"/>
                  </a:solidFill>
                </a:uFill>
                <a:latin typeface="Arial"/>
                <a:cs typeface="Arial"/>
              </a:rPr>
              <a:t>Secular Laws </a:t>
            </a:r>
            <a:r>
              <a:rPr dirty="0" u="heavy" sz="1200" b="1" i="1">
                <a:uFill>
                  <a:solidFill>
                    <a:srgbClr val="000000"/>
                  </a:solidFill>
                </a:uFill>
                <a:latin typeface="Arial"/>
                <a:cs typeface="Arial"/>
              </a:rPr>
              <a:t>not </a:t>
            </a:r>
            <a:r>
              <a:rPr dirty="0" u="heavy" sz="1200" spc="-5" b="1" i="1">
                <a:uFill>
                  <a:solidFill>
                    <a:srgbClr val="000000"/>
                  </a:solidFill>
                </a:uFill>
                <a:latin typeface="Arial"/>
                <a:cs typeface="Arial"/>
              </a:rPr>
              <a:t>reflecting Islamic</a:t>
            </a:r>
            <a:r>
              <a:rPr dirty="0" u="heavy" sz="1200" spc="20" b="1" i="1">
                <a:uFill>
                  <a:solidFill>
                    <a:srgbClr val="000000"/>
                  </a:solidFill>
                </a:uFill>
                <a:latin typeface="Arial"/>
                <a:cs typeface="Arial"/>
              </a:rPr>
              <a:t> </a:t>
            </a:r>
            <a:r>
              <a:rPr dirty="0" u="heavy" sz="1200" spc="-5" b="1" i="1">
                <a:uFill>
                  <a:solidFill>
                    <a:srgbClr val="000000"/>
                  </a:solidFill>
                </a:uFill>
                <a:latin typeface="Arial"/>
                <a:cs typeface="Arial"/>
              </a:rPr>
              <a:t>Laws</a:t>
            </a:r>
            <a:endParaRPr sz="1200">
              <a:latin typeface="Arial"/>
              <a:cs typeface="Arial"/>
            </a:endParaRPr>
          </a:p>
          <a:p>
            <a:pPr>
              <a:lnSpc>
                <a:spcPct val="100000"/>
              </a:lnSpc>
            </a:pPr>
            <a:endParaRPr sz="1150">
              <a:latin typeface="Arial"/>
              <a:cs typeface="Arial"/>
            </a:endParaRPr>
          </a:p>
          <a:p>
            <a:pPr marL="469900" indent="-229235">
              <a:lnSpc>
                <a:spcPts val="1410"/>
              </a:lnSpc>
              <a:buAutoNum type="arabicPeriod"/>
              <a:tabLst>
                <a:tab pos="470534" algn="l"/>
              </a:tabLst>
            </a:pPr>
            <a:r>
              <a:rPr dirty="0" sz="1200" spc="-5">
                <a:latin typeface="Arial"/>
                <a:cs typeface="Arial"/>
              </a:rPr>
              <a:t>Law </a:t>
            </a:r>
            <a:r>
              <a:rPr dirty="0" sz="1200">
                <a:latin typeface="Arial"/>
                <a:cs typeface="Arial"/>
              </a:rPr>
              <a:t>of </a:t>
            </a:r>
            <a:r>
              <a:rPr dirty="0" sz="1200" spc="-5">
                <a:latin typeface="Arial"/>
                <a:cs typeface="Arial"/>
              </a:rPr>
              <a:t>marriage, that is, civil marriage v/s</a:t>
            </a:r>
            <a:r>
              <a:rPr dirty="0" sz="1200" spc="10">
                <a:latin typeface="Arial"/>
                <a:cs typeface="Arial"/>
              </a:rPr>
              <a:t> </a:t>
            </a:r>
            <a:r>
              <a:rPr dirty="0" sz="1200">
                <a:latin typeface="Arial"/>
                <a:cs typeface="Arial"/>
              </a:rPr>
              <a:t>Nikah</a:t>
            </a:r>
            <a:endParaRPr sz="1200">
              <a:latin typeface="Arial"/>
              <a:cs typeface="Arial"/>
            </a:endParaRPr>
          </a:p>
          <a:p>
            <a:pPr marL="469900" marR="6985" indent="-228600">
              <a:lnSpc>
                <a:spcPts val="1380"/>
              </a:lnSpc>
              <a:spcBef>
                <a:spcPts val="65"/>
              </a:spcBef>
              <a:buAutoNum type="arabicPeriod"/>
              <a:tabLst>
                <a:tab pos="470534" algn="l"/>
              </a:tabLst>
            </a:pPr>
            <a:r>
              <a:rPr dirty="0" sz="1200" spc="-5">
                <a:latin typeface="Arial"/>
                <a:cs typeface="Arial"/>
              </a:rPr>
              <a:t>Law </a:t>
            </a:r>
            <a:r>
              <a:rPr dirty="0" sz="1200">
                <a:latin typeface="Arial"/>
                <a:cs typeface="Arial"/>
              </a:rPr>
              <a:t>of </a:t>
            </a:r>
            <a:r>
              <a:rPr dirty="0" sz="1200" spc="-5">
                <a:latin typeface="Arial"/>
                <a:cs typeface="Arial"/>
              </a:rPr>
              <a:t>divorce </a:t>
            </a:r>
            <a:r>
              <a:rPr dirty="0" sz="1200">
                <a:latin typeface="Arial"/>
                <a:cs typeface="Arial"/>
              </a:rPr>
              <a:t>that </a:t>
            </a:r>
            <a:r>
              <a:rPr dirty="0" sz="1200" spc="-5">
                <a:latin typeface="Arial"/>
                <a:cs typeface="Arial"/>
              </a:rPr>
              <a:t>is </a:t>
            </a:r>
            <a:r>
              <a:rPr dirty="0" sz="1200">
                <a:latin typeface="Arial"/>
                <a:cs typeface="Arial"/>
              </a:rPr>
              <a:t>the </a:t>
            </a:r>
            <a:r>
              <a:rPr dirty="0" sz="1200" spc="-5">
                <a:latin typeface="Arial"/>
                <a:cs typeface="Arial"/>
              </a:rPr>
              <a:t>right of </a:t>
            </a:r>
            <a:r>
              <a:rPr dirty="0" sz="1200">
                <a:latin typeface="Arial"/>
                <a:cs typeface="Arial"/>
              </a:rPr>
              <a:t>the </a:t>
            </a:r>
            <a:r>
              <a:rPr dirty="0" sz="1200" spc="-5">
                <a:latin typeface="Arial"/>
                <a:cs typeface="Arial"/>
              </a:rPr>
              <a:t>husband to divorce the wife. But </a:t>
            </a:r>
            <a:r>
              <a:rPr dirty="0" sz="1200">
                <a:latin typeface="Arial"/>
                <a:cs typeface="Arial"/>
              </a:rPr>
              <a:t>according to  </a:t>
            </a:r>
            <a:r>
              <a:rPr dirty="0" sz="1200" spc="-5">
                <a:latin typeface="Arial"/>
                <a:cs typeface="Arial"/>
              </a:rPr>
              <a:t>secular law, </a:t>
            </a:r>
            <a:r>
              <a:rPr dirty="0" sz="1200">
                <a:latin typeface="Arial"/>
                <a:cs typeface="Arial"/>
              </a:rPr>
              <a:t>the </a:t>
            </a:r>
            <a:r>
              <a:rPr dirty="0" sz="1200" spc="-5">
                <a:latin typeface="Arial"/>
                <a:cs typeface="Arial"/>
              </a:rPr>
              <a:t>husband has to go through court</a:t>
            </a:r>
            <a:r>
              <a:rPr dirty="0" sz="1200" spc="25">
                <a:latin typeface="Arial"/>
                <a:cs typeface="Arial"/>
              </a:rPr>
              <a:t> </a:t>
            </a:r>
            <a:r>
              <a:rPr dirty="0" sz="1200" spc="-5">
                <a:latin typeface="Arial"/>
                <a:cs typeface="Arial"/>
              </a:rPr>
              <a:t>procedures.</a:t>
            </a:r>
            <a:endParaRPr sz="1200">
              <a:latin typeface="Arial"/>
              <a:cs typeface="Arial"/>
            </a:endParaRPr>
          </a:p>
          <a:p>
            <a:pPr marL="469900" marR="16510" indent="-228600">
              <a:lnSpc>
                <a:spcPts val="1380"/>
              </a:lnSpc>
              <a:buAutoNum type="arabicPeriod"/>
              <a:tabLst>
                <a:tab pos="470534" algn="l"/>
              </a:tabLst>
            </a:pPr>
            <a:r>
              <a:rPr dirty="0" sz="1200" spc="-5">
                <a:latin typeface="Arial"/>
                <a:cs typeface="Arial"/>
              </a:rPr>
              <a:t>Law </a:t>
            </a:r>
            <a:r>
              <a:rPr dirty="0" sz="1200">
                <a:latin typeface="Arial"/>
                <a:cs typeface="Arial"/>
              </a:rPr>
              <a:t>of </a:t>
            </a:r>
            <a:r>
              <a:rPr dirty="0" sz="1200" spc="-5">
                <a:latin typeface="Arial"/>
                <a:cs typeface="Arial"/>
              </a:rPr>
              <a:t>inheritance that is </a:t>
            </a:r>
            <a:r>
              <a:rPr dirty="0" sz="1200">
                <a:latin typeface="Arial"/>
                <a:cs typeface="Arial"/>
              </a:rPr>
              <a:t>the </a:t>
            </a:r>
            <a:r>
              <a:rPr dirty="0" sz="1200" spc="-5">
                <a:latin typeface="Arial"/>
                <a:cs typeface="Arial"/>
              </a:rPr>
              <a:t>share being divided into 3 </a:t>
            </a:r>
            <a:r>
              <a:rPr dirty="0" sz="1200">
                <a:latin typeface="Arial"/>
                <a:cs typeface="Arial"/>
              </a:rPr>
              <a:t>parts, </a:t>
            </a:r>
            <a:r>
              <a:rPr dirty="0" sz="1200" spc="-5">
                <a:latin typeface="Arial"/>
                <a:cs typeface="Arial"/>
              </a:rPr>
              <a:t>one </a:t>
            </a:r>
            <a:r>
              <a:rPr dirty="0" sz="1200">
                <a:latin typeface="Arial"/>
                <a:cs typeface="Arial"/>
              </a:rPr>
              <a:t>for the </a:t>
            </a:r>
            <a:r>
              <a:rPr dirty="0" sz="1200" spc="-10">
                <a:latin typeface="Arial"/>
                <a:cs typeface="Arial"/>
              </a:rPr>
              <a:t>girl </a:t>
            </a:r>
            <a:r>
              <a:rPr dirty="0" sz="1200" spc="-5">
                <a:latin typeface="Arial"/>
                <a:cs typeface="Arial"/>
              </a:rPr>
              <a:t>and </a:t>
            </a:r>
            <a:r>
              <a:rPr dirty="0" sz="1200" spc="-10">
                <a:latin typeface="Arial"/>
                <a:cs typeface="Arial"/>
              </a:rPr>
              <a:t>two  </a:t>
            </a:r>
            <a:r>
              <a:rPr dirty="0" sz="1200">
                <a:latin typeface="Arial"/>
                <a:cs typeface="Arial"/>
              </a:rPr>
              <a:t>for </a:t>
            </a:r>
            <a:r>
              <a:rPr dirty="0" sz="1200" spc="-5">
                <a:latin typeface="Arial"/>
                <a:cs typeface="Arial"/>
              </a:rPr>
              <a:t>the boy. However through secular law </a:t>
            </a:r>
            <a:r>
              <a:rPr dirty="0" sz="1200">
                <a:latin typeface="Arial"/>
                <a:cs typeface="Arial"/>
              </a:rPr>
              <a:t>it </a:t>
            </a:r>
            <a:r>
              <a:rPr dirty="0" sz="1200" spc="-5">
                <a:latin typeface="Arial"/>
                <a:cs typeface="Arial"/>
              </a:rPr>
              <a:t>is half</a:t>
            </a:r>
            <a:r>
              <a:rPr dirty="0" sz="1200" spc="15">
                <a:latin typeface="Arial"/>
                <a:cs typeface="Arial"/>
              </a:rPr>
              <a:t> </a:t>
            </a:r>
            <a:r>
              <a:rPr dirty="0" sz="1200" spc="-5">
                <a:latin typeface="Arial"/>
                <a:cs typeface="Arial"/>
              </a:rPr>
              <a:t>equal.</a:t>
            </a:r>
            <a:endParaRPr sz="1200">
              <a:latin typeface="Arial"/>
              <a:cs typeface="Arial"/>
            </a:endParaRPr>
          </a:p>
          <a:p>
            <a:pPr marL="469900" marR="10160" indent="-228600">
              <a:lnSpc>
                <a:spcPts val="1380"/>
              </a:lnSpc>
              <a:buAutoNum type="arabicPeriod"/>
              <a:tabLst>
                <a:tab pos="470534" algn="l"/>
              </a:tabLst>
            </a:pPr>
            <a:r>
              <a:rPr dirty="0" sz="1200" spc="-5">
                <a:latin typeface="Arial"/>
                <a:cs typeface="Arial"/>
              </a:rPr>
              <a:t>Law </a:t>
            </a:r>
            <a:r>
              <a:rPr dirty="0" sz="1200">
                <a:latin typeface="Arial"/>
                <a:cs typeface="Arial"/>
              </a:rPr>
              <a:t>of </a:t>
            </a:r>
            <a:r>
              <a:rPr dirty="0" sz="1200" spc="-5">
                <a:latin typeface="Arial"/>
                <a:cs typeface="Arial"/>
              </a:rPr>
              <a:t>4 marriages that is only </a:t>
            </a:r>
            <a:r>
              <a:rPr dirty="0" sz="1200">
                <a:latin typeface="Arial"/>
                <a:cs typeface="Arial"/>
              </a:rPr>
              <a:t>the first </a:t>
            </a:r>
            <a:r>
              <a:rPr dirty="0" sz="1200" spc="-5">
                <a:latin typeface="Arial"/>
                <a:cs typeface="Arial"/>
              </a:rPr>
              <a:t>one is accepted. </a:t>
            </a:r>
            <a:r>
              <a:rPr dirty="0" sz="1200">
                <a:latin typeface="Arial"/>
                <a:cs typeface="Arial"/>
              </a:rPr>
              <a:t>The </a:t>
            </a:r>
            <a:r>
              <a:rPr dirty="0" sz="1200" spc="-10">
                <a:latin typeface="Arial"/>
                <a:cs typeface="Arial"/>
              </a:rPr>
              <a:t>three </a:t>
            </a:r>
            <a:r>
              <a:rPr dirty="0" sz="1200" spc="-5">
                <a:latin typeface="Arial"/>
                <a:cs typeface="Arial"/>
              </a:rPr>
              <a:t>other </a:t>
            </a:r>
            <a:r>
              <a:rPr dirty="0" sz="1200" spc="-10">
                <a:latin typeface="Arial"/>
                <a:cs typeface="Arial"/>
              </a:rPr>
              <a:t>wives </a:t>
            </a:r>
            <a:r>
              <a:rPr dirty="0" sz="1200" spc="-5">
                <a:latin typeface="Arial"/>
                <a:cs typeface="Arial"/>
              </a:rPr>
              <a:t>are  considered </a:t>
            </a:r>
            <a:r>
              <a:rPr dirty="0" sz="1200">
                <a:latin typeface="Arial"/>
                <a:cs typeface="Arial"/>
              </a:rPr>
              <a:t>as</a:t>
            </a:r>
            <a:r>
              <a:rPr dirty="0" sz="1200" spc="-15">
                <a:latin typeface="Arial"/>
                <a:cs typeface="Arial"/>
              </a:rPr>
              <a:t> </a:t>
            </a:r>
            <a:r>
              <a:rPr dirty="0" sz="1200" spc="-5">
                <a:latin typeface="Arial"/>
                <a:cs typeface="Arial"/>
              </a:rPr>
              <a:t>concubines.</a:t>
            </a:r>
            <a:endParaRPr sz="1200">
              <a:latin typeface="Arial"/>
              <a:cs typeface="Arial"/>
            </a:endParaRPr>
          </a:p>
          <a:p>
            <a:pPr marL="469900" marR="13970" indent="-228600">
              <a:lnSpc>
                <a:spcPts val="1380"/>
              </a:lnSpc>
              <a:buAutoNum type="arabicPeriod"/>
              <a:tabLst>
                <a:tab pos="470534" algn="l"/>
              </a:tabLst>
            </a:pPr>
            <a:r>
              <a:rPr dirty="0" sz="1200" spc="-5">
                <a:latin typeface="Arial"/>
                <a:cs typeface="Arial"/>
              </a:rPr>
              <a:t>The ethical law </a:t>
            </a:r>
            <a:r>
              <a:rPr dirty="0" sz="1200">
                <a:latin typeface="Arial"/>
                <a:cs typeface="Arial"/>
              </a:rPr>
              <a:t>of </a:t>
            </a:r>
            <a:r>
              <a:rPr dirty="0" sz="1200" spc="-5">
                <a:latin typeface="Arial"/>
                <a:cs typeface="Arial"/>
              </a:rPr>
              <a:t>the beard where in certain fields, </a:t>
            </a:r>
            <a:r>
              <a:rPr dirty="0" sz="1200">
                <a:latin typeface="Arial"/>
                <a:cs typeface="Arial"/>
              </a:rPr>
              <a:t>it </a:t>
            </a:r>
            <a:r>
              <a:rPr dirty="0" sz="1200" spc="-5">
                <a:latin typeface="Arial"/>
                <a:cs typeface="Arial"/>
              </a:rPr>
              <a:t>is prohibited to have a beard </a:t>
            </a:r>
            <a:r>
              <a:rPr dirty="0" sz="1200" spc="-10">
                <a:latin typeface="Arial"/>
                <a:cs typeface="Arial"/>
              </a:rPr>
              <a:t>but  </a:t>
            </a:r>
            <a:r>
              <a:rPr dirty="0" sz="1200" spc="-5">
                <a:latin typeface="Arial"/>
                <a:cs typeface="Arial"/>
              </a:rPr>
              <a:t>in </a:t>
            </a:r>
            <a:r>
              <a:rPr dirty="0" sz="1200">
                <a:latin typeface="Arial"/>
                <a:cs typeface="Arial"/>
              </a:rPr>
              <a:t>Islam it </a:t>
            </a:r>
            <a:r>
              <a:rPr dirty="0" sz="1200" spc="-5">
                <a:latin typeface="Arial"/>
                <a:cs typeface="Arial"/>
              </a:rPr>
              <a:t>is Haram to shave the</a:t>
            </a:r>
            <a:r>
              <a:rPr dirty="0" sz="1200">
                <a:latin typeface="Arial"/>
                <a:cs typeface="Arial"/>
              </a:rPr>
              <a:t> </a:t>
            </a:r>
            <a:r>
              <a:rPr dirty="0" sz="1200" spc="-5">
                <a:latin typeface="Arial"/>
                <a:cs typeface="Arial"/>
              </a:rPr>
              <a:t>beard.</a:t>
            </a:r>
            <a:endParaRPr sz="1200">
              <a:latin typeface="Arial"/>
              <a:cs typeface="Arial"/>
            </a:endParaRPr>
          </a:p>
          <a:p>
            <a:pPr>
              <a:lnSpc>
                <a:spcPct val="100000"/>
              </a:lnSpc>
              <a:spcBef>
                <a:spcPts val="5"/>
              </a:spcBef>
            </a:pPr>
            <a:endParaRPr sz="1100">
              <a:latin typeface="Arial"/>
              <a:cs typeface="Arial"/>
            </a:endParaRPr>
          </a:p>
          <a:p>
            <a:pPr marL="12700">
              <a:lnSpc>
                <a:spcPct val="100000"/>
              </a:lnSpc>
              <a:spcBef>
                <a:spcPts val="5"/>
              </a:spcBef>
            </a:pPr>
            <a:r>
              <a:rPr dirty="0" u="heavy" sz="1200" spc="-300">
                <a:uFill>
                  <a:solidFill>
                    <a:srgbClr val="000000"/>
                  </a:solidFill>
                </a:uFill>
                <a:latin typeface="Times New Roman"/>
                <a:cs typeface="Times New Roman"/>
              </a:rPr>
              <a:t> </a:t>
            </a:r>
            <a:r>
              <a:rPr dirty="0" u="heavy" sz="1200" b="1" i="1">
                <a:uFill>
                  <a:solidFill>
                    <a:srgbClr val="000000"/>
                  </a:solidFill>
                </a:uFill>
                <a:latin typeface="Arial"/>
                <a:cs typeface="Arial"/>
              </a:rPr>
              <a:t>Past </a:t>
            </a:r>
            <a:r>
              <a:rPr dirty="0" u="heavy" sz="1200" spc="-45" b="1" i="1">
                <a:uFill>
                  <a:solidFill>
                    <a:srgbClr val="000000"/>
                  </a:solidFill>
                </a:uFill>
                <a:latin typeface="Arial"/>
                <a:cs typeface="Arial"/>
              </a:rPr>
              <a:t>Papers‟</a:t>
            </a:r>
            <a:r>
              <a:rPr dirty="0" u="heavy" sz="1200" spc="-5" b="1" i="1">
                <a:uFill>
                  <a:solidFill>
                    <a:srgbClr val="000000"/>
                  </a:solidFill>
                </a:uFill>
                <a:latin typeface="Arial"/>
                <a:cs typeface="Arial"/>
              </a:rPr>
              <a:t> Questions</a:t>
            </a:r>
            <a:endParaRPr sz="1200">
              <a:latin typeface="Arial"/>
              <a:cs typeface="Arial"/>
            </a:endParaRPr>
          </a:p>
          <a:p>
            <a:pPr>
              <a:lnSpc>
                <a:spcPct val="100000"/>
              </a:lnSpc>
              <a:spcBef>
                <a:spcPts val="55"/>
              </a:spcBef>
            </a:pPr>
            <a:endParaRPr sz="1100">
              <a:latin typeface="Arial"/>
              <a:cs typeface="Arial"/>
            </a:endParaRPr>
          </a:p>
          <a:p>
            <a:pPr algn="ctr">
              <a:lnSpc>
                <a:spcPct val="100000"/>
              </a:lnSpc>
            </a:pPr>
            <a:r>
              <a:rPr dirty="0" u="heavy" sz="1200" spc="-5" b="1" i="1">
                <a:uFill>
                  <a:solidFill>
                    <a:srgbClr val="000000"/>
                  </a:solidFill>
                </a:uFill>
                <a:latin typeface="Arial"/>
                <a:cs typeface="Arial"/>
              </a:rPr>
              <a:t>Syllabus 9013</a:t>
            </a:r>
            <a:endParaRPr sz="1200">
              <a:latin typeface="Arial"/>
              <a:cs typeface="Arial"/>
            </a:endParaRPr>
          </a:p>
          <a:p>
            <a:pPr>
              <a:lnSpc>
                <a:spcPct val="100000"/>
              </a:lnSpc>
              <a:spcBef>
                <a:spcPts val="35"/>
              </a:spcBef>
            </a:pPr>
            <a:endParaRPr sz="1200">
              <a:latin typeface="Arial"/>
              <a:cs typeface="Arial"/>
            </a:endParaRPr>
          </a:p>
          <a:p>
            <a:pPr algn="just" marL="12700" marR="6985">
              <a:lnSpc>
                <a:spcPts val="1380"/>
              </a:lnSpc>
            </a:pPr>
            <a:r>
              <a:rPr dirty="0" sz="1200" spc="-5" b="1">
                <a:latin typeface="Arial"/>
                <a:cs typeface="Arial"/>
              </a:rPr>
              <a:t>12 </a:t>
            </a:r>
            <a:r>
              <a:rPr dirty="0" sz="1200">
                <a:latin typeface="Arial"/>
                <a:cs typeface="Arial"/>
              </a:rPr>
              <a:t>In </a:t>
            </a:r>
            <a:r>
              <a:rPr dirty="0" sz="1200" spc="-5">
                <a:latin typeface="Arial"/>
                <a:cs typeface="Arial"/>
              </a:rPr>
              <a:t>your country </a:t>
            </a:r>
            <a:r>
              <a:rPr dirty="0" sz="1200" spc="-5" b="1">
                <a:latin typeface="Arial"/>
                <a:cs typeface="Arial"/>
              </a:rPr>
              <a:t>or </a:t>
            </a:r>
            <a:r>
              <a:rPr dirty="0" sz="1200" spc="-5">
                <a:latin typeface="Arial"/>
                <a:cs typeface="Arial"/>
              </a:rPr>
              <a:t>another country you know, what major </a:t>
            </a:r>
            <a:r>
              <a:rPr dirty="0" sz="1200" spc="-5" b="1">
                <a:latin typeface="Arial"/>
                <a:cs typeface="Arial"/>
              </a:rPr>
              <a:t>(a) </a:t>
            </a:r>
            <a:r>
              <a:rPr dirty="0" sz="1200">
                <a:latin typeface="Arial"/>
                <a:cs typeface="Arial"/>
              </a:rPr>
              <a:t>problems </a:t>
            </a:r>
            <a:r>
              <a:rPr dirty="0" sz="1200" spc="-5" b="1">
                <a:latin typeface="Arial"/>
                <a:cs typeface="Arial"/>
              </a:rPr>
              <a:t>and (b)  </a:t>
            </a:r>
            <a:r>
              <a:rPr dirty="0" sz="1200" spc="-5">
                <a:latin typeface="Arial"/>
                <a:cs typeface="Arial"/>
              </a:rPr>
              <a:t>opportunities face present-day Muslims as they </a:t>
            </a:r>
            <a:r>
              <a:rPr dirty="0" sz="1200">
                <a:latin typeface="Arial"/>
                <a:cs typeface="Arial"/>
              </a:rPr>
              <a:t>try to </a:t>
            </a:r>
            <a:r>
              <a:rPr dirty="0" sz="1200" spc="-10">
                <a:latin typeface="Arial"/>
                <a:cs typeface="Arial"/>
              </a:rPr>
              <a:t>live </a:t>
            </a:r>
            <a:r>
              <a:rPr dirty="0" sz="1200" spc="-5">
                <a:latin typeface="Arial"/>
                <a:cs typeface="Arial"/>
              </a:rPr>
              <a:t>by </a:t>
            </a:r>
            <a:r>
              <a:rPr dirty="0" sz="1200">
                <a:latin typeface="Arial"/>
                <a:cs typeface="Arial"/>
              </a:rPr>
              <a:t>the </a:t>
            </a:r>
            <a:r>
              <a:rPr dirty="0" sz="1200" spc="-5">
                <a:latin typeface="Arial"/>
                <a:cs typeface="Arial"/>
              </a:rPr>
              <a:t>teachings of Islam? [20]  </a:t>
            </a:r>
            <a:r>
              <a:rPr dirty="0" sz="1200" spc="-5" b="1">
                <a:latin typeface="Arial"/>
                <a:cs typeface="Arial"/>
              </a:rPr>
              <a:t>(2003)</a:t>
            </a:r>
            <a:endParaRPr sz="1200">
              <a:latin typeface="Arial"/>
              <a:cs typeface="Arial"/>
            </a:endParaRPr>
          </a:p>
          <a:p>
            <a:pPr>
              <a:lnSpc>
                <a:spcPct val="100000"/>
              </a:lnSpc>
            </a:pPr>
            <a:endParaRPr sz="1200">
              <a:latin typeface="Arial"/>
              <a:cs typeface="Arial"/>
            </a:endParaRPr>
          </a:p>
          <a:p>
            <a:pPr algn="just" marL="12700" marR="6350">
              <a:lnSpc>
                <a:spcPts val="1380"/>
              </a:lnSpc>
            </a:pPr>
            <a:r>
              <a:rPr dirty="0" sz="1200" spc="-5" b="1">
                <a:latin typeface="Arial"/>
                <a:cs typeface="Arial"/>
              </a:rPr>
              <a:t>12 </a:t>
            </a:r>
            <a:r>
              <a:rPr dirty="0" sz="1200" spc="5">
                <a:latin typeface="Arial"/>
                <a:cs typeface="Arial"/>
              </a:rPr>
              <a:t>With </a:t>
            </a:r>
            <a:r>
              <a:rPr dirty="0" sz="1200" spc="-5">
                <a:latin typeface="Arial"/>
                <a:cs typeface="Arial"/>
              </a:rPr>
              <a:t>reference </a:t>
            </a:r>
            <a:r>
              <a:rPr dirty="0" sz="1200">
                <a:latin typeface="Arial"/>
                <a:cs typeface="Arial"/>
              </a:rPr>
              <a:t>to </a:t>
            </a:r>
            <a:r>
              <a:rPr dirty="0" sz="1200" spc="-5">
                <a:latin typeface="Arial"/>
                <a:cs typeface="Arial"/>
              </a:rPr>
              <a:t>any country </a:t>
            </a:r>
            <a:r>
              <a:rPr dirty="0" sz="1200" spc="-10">
                <a:latin typeface="Arial"/>
                <a:cs typeface="Arial"/>
              </a:rPr>
              <a:t>you </a:t>
            </a:r>
            <a:r>
              <a:rPr dirty="0" sz="1200" spc="-5">
                <a:latin typeface="Arial"/>
                <a:cs typeface="Arial"/>
              </a:rPr>
              <a:t>know where Muslims live </a:t>
            </a:r>
            <a:r>
              <a:rPr dirty="0" sz="1200" spc="5">
                <a:latin typeface="Arial"/>
                <a:cs typeface="Arial"/>
              </a:rPr>
              <a:t>as </a:t>
            </a:r>
            <a:r>
              <a:rPr dirty="0" sz="1200" spc="-5">
                <a:latin typeface="Arial"/>
                <a:cs typeface="Arial"/>
              </a:rPr>
              <a:t>a minority, discuss the  </a:t>
            </a:r>
            <a:r>
              <a:rPr dirty="0" sz="1200">
                <a:latin typeface="Arial"/>
                <a:cs typeface="Arial"/>
              </a:rPr>
              <a:t>major </a:t>
            </a:r>
            <a:r>
              <a:rPr dirty="0" sz="1200" spc="-5">
                <a:latin typeface="Arial"/>
                <a:cs typeface="Arial"/>
              </a:rPr>
              <a:t>problems </a:t>
            </a:r>
            <a:r>
              <a:rPr dirty="0" sz="1200">
                <a:latin typeface="Arial"/>
                <a:cs typeface="Arial"/>
              </a:rPr>
              <a:t>they face </a:t>
            </a:r>
            <a:r>
              <a:rPr dirty="0" sz="1200" spc="-5">
                <a:latin typeface="Arial"/>
                <a:cs typeface="Arial"/>
              </a:rPr>
              <a:t>in their attempt to implement </a:t>
            </a:r>
            <a:r>
              <a:rPr dirty="0" sz="1200">
                <a:latin typeface="Arial"/>
                <a:cs typeface="Arial"/>
              </a:rPr>
              <a:t>Islamic </a:t>
            </a:r>
            <a:r>
              <a:rPr dirty="0" sz="1200" spc="-5">
                <a:latin typeface="Arial"/>
                <a:cs typeface="Arial"/>
              </a:rPr>
              <a:t>values in everyday </a:t>
            </a:r>
            <a:r>
              <a:rPr dirty="0" sz="1200">
                <a:latin typeface="Arial"/>
                <a:cs typeface="Arial"/>
              </a:rPr>
              <a:t>life. </a:t>
            </a:r>
            <a:r>
              <a:rPr dirty="0" sz="1200" spc="-5">
                <a:latin typeface="Arial"/>
                <a:cs typeface="Arial"/>
              </a:rPr>
              <a:t>[20]  </a:t>
            </a:r>
            <a:r>
              <a:rPr dirty="0" sz="1200" spc="-5" b="1">
                <a:latin typeface="Arial"/>
                <a:cs typeface="Arial"/>
              </a:rPr>
              <a:t>(2005)</a:t>
            </a:r>
            <a:endParaRPr sz="1200">
              <a:latin typeface="Arial"/>
              <a:cs typeface="Arial"/>
            </a:endParaRPr>
          </a:p>
          <a:p>
            <a:pPr>
              <a:lnSpc>
                <a:spcPct val="100000"/>
              </a:lnSpc>
              <a:spcBef>
                <a:spcPts val="20"/>
              </a:spcBef>
            </a:pPr>
            <a:endParaRPr sz="1100">
              <a:latin typeface="Arial"/>
              <a:cs typeface="Arial"/>
            </a:endParaRPr>
          </a:p>
          <a:p>
            <a:pPr marL="12700">
              <a:lnSpc>
                <a:spcPts val="1410"/>
              </a:lnSpc>
            </a:pPr>
            <a:r>
              <a:rPr dirty="0" sz="1200" spc="-5" b="1">
                <a:latin typeface="Arial"/>
                <a:cs typeface="Arial"/>
              </a:rPr>
              <a:t>10 </a:t>
            </a:r>
            <a:r>
              <a:rPr dirty="0" sz="1200" spc="5">
                <a:latin typeface="Arial"/>
                <a:cs typeface="Arial"/>
              </a:rPr>
              <a:t>With </a:t>
            </a:r>
            <a:r>
              <a:rPr dirty="0" sz="1200" spc="-5">
                <a:latin typeface="Arial"/>
                <a:cs typeface="Arial"/>
              </a:rPr>
              <a:t>reference </a:t>
            </a:r>
            <a:r>
              <a:rPr dirty="0" sz="1200">
                <a:latin typeface="Arial"/>
                <a:cs typeface="Arial"/>
              </a:rPr>
              <a:t>to </a:t>
            </a:r>
            <a:r>
              <a:rPr dirty="0" sz="1200" spc="-5">
                <a:latin typeface="Arial"/>
                <a:cs typeface="Arial"/>
              </a:rPr>
              <a:t>any </a:t>
            </a:r>
            <a:r>
              <a:rPr dirty="0" sz="1200">
                <a:latin typeface="Arial"/>
                <a:cs typeface="Arial"/>
              </a:rPr>
              <a:t>country </a:t>
            </a:r>
            <a:r>
              <a:rPr dirty="0" sz="1200" spc="-5">
                <a:latin typeface="Arial"/>
                <a:cs typeface="Arial"/>
              </a:rPr>
              <a:t>you </a:t>
            </a:r>
            <a:r>
              <a:rPr dirty="0" sz="1200">
                <a:latin typeface="Arial"/>
                <a:cs typeface="Arial"/>
              </a:rPr>
              <a:t>know where </a:t>
            </a:r>
            <a:r>
              <a:rPr dirty="0" sz="1200" spc="-5">
                <a:latin typeface="Arial"/>
                <a:cs typeface="Arial"/>
              </a:rPr>
              <a:t>Muslims </a:t>
            </a:r>
            <a:r>
              <a:rPr dirty="0" sz="1200">
                <a:latin typeface="Arial"/>
                <a:cs typeface="Arial"/>
              </a:rPr>
              <a:t>are </a:t>
            </a:r>
            <a:r>
              <a:rPr dirty="0" sz="1200" spc="-5">
                <a:latin typeface="Arial"/>
                <a:cs typeface="Arial"/>
              </a:rPr>
              <a:t>in a minority,</a:t>
            </a:r>
            <a:r>
              <a:rPr dirty="0" sz="1200" spc="-45">
                <a:latin typeface="Arial"/>
                <a:cs typeface="Arial"/>
              </a:rPr>
              <a:t> </a:t>
            </a:r>
            <a:r>
              <a:rPr dirty="0" sz="1200">
                <a:latin typeface="Arial"/>
                <a:cs typeface="Arial"/>
              </a:rPr>
              <a:t>discuss:</a:t>
            </a:r>
            <a:endParaRPr sz="1200">
              <a:latin typeface="Arial"/>
              <a:cs typeface="Arial"/>
            </a:endParaRPr>
          </a:p>
          <a:p>
            <a:pPr marL="12700">
              <a:lnSpc>
                <a:spcPts val="1380"/>
              </a:lnSpc>
            </a:pPr>
            <a:r>
              <a:rPr dirty="0" sz="1200" spc="-5" b="1">
                <a:latin typeface="Arial"/>
                <a:cs typeface="Arial"/>
              </a:rPr>
              <a:t>(a) </a:t>
            </a:r>
            <a:r>
              <a:rPr dirty="0" sz="1200">
                <a:latin typeface="Arial"/>
                <a:cs typeface="Arial"/>
              </a:rPr>
              <a:t>the major </a:t>
            </a:r>
            <a:r>
              <a:rPr dirty="0" sz="1200" spc="-5">
                <a:latin typeface="Arial"/>
                <a:cs typeface="Arial"/>
              </a:rPr>
              <a:t>problems </a:t>
            </a:r>
            <a:r>
              <a:rPr dirty="0" sz="1200">
                <a:latin typeface="Arial"/>
                <a:cs typeface="Arial"/>
              </a:rPr>
              <a:t>they face</a:t>
            </a:r>
            <a:r>
              <a:rPr dirty="0" sz="1200" spc="-70">
                <a:latin typeface="Arial"/>
                <a:cs typeface="Arial"/>
              </a:rPr>
              <a:t> </a:t>
            </a:r>
            <a:r>
              <a:rPr dirty="0" sz="1200">
                <a:latin typeface="Arial"/>
                <a:cs typeface="Arial"/>
              </a:rPr>
              <a:t>[8]</a:t>
            </a:r>
            <a:endParaRPr sz="1200">
              <a:latin typeface="Arial"/>
              <a:cs typeface="Arial"/>
            </a:endParaRPr>
          </a:p>
          <a:p>
            <a:pPr marL="12700">
              <a:lnSpc>
                <a:spcPts val="1410"/>
              </a:lnSpc>
            </a:pPr>
            <a:r>
              <a:rPr dirty="0" sz="1200" spc="-5" b="1">
                <a:latin typeface="Arial"/>
                <a:cs typeface="Arial"/>
              </a:rPr>
              <a:t>and</a:t>
            </a:r>
            <a:endParaRPr sz="1200">
              <a:latin typeface="Arial"/>
              <a:cs typeface="Arial"/>
            </a:endParaRPr>
          </a:p>
        </p:txBody>
      </p:sp>
      <p:sp>
        <p:nvSpPr>
          <p:cNvPr id="3" name="object 3"/>
          <p:cNvSpPr/>
          <p:nvPr/>
        </p:nvSpPr>
        <p:spPr>
          <a:xfrm>
            <a:off x="713232"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4" name="object 4"/>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5" name="object 5"/>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183</a:t>
            </a:r>
            <a:endParaRPr sz="1200">
              <a:latin typeface="Times New Roman"/>
              <a:cs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4416" y="432307"/>
            <a:ext cx="1011555"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Islamic</a:t>
            </a:r>
            <a:r>
              <a:rPr dirty="0" sz="1200" spc="-40" b="1">
                <a:latin typeface="Times New Roman"/>
                <a:cs typeface="Times New Roman"/>
              </a:rPr>
              <a:t> </a:t>
            </a:r>
            <a:r>
              <a:rPr dirty="0" sz="1200" spc="-5" b="1">
                <a:latin typeface="Times New Roman"/>
                <a:cs typeface="Times New Roman"/>
              </a:rPr>
              <a:t>Studies</a:t>
            </a:r>
            <a:endParaRPr sz="1200">
              <a:latin typeface="Times New Roman"/>
              <a:cs typeface="Times New Roman"/>
            </a:endParaRPr>
          </a:p>
        </p:txBody>
      </p:sp>
      <p:sp>
        <p:nvSpPr>
          <p:cNvPr id="3" name="object 3"/>
          <p:cNvSpPr txBox="1"/>
          <p:nvPr/>
        </p:nvSpPr>
        <p:spPr>
          <a:xfrm>
            <a:off x="5585840" y="432307"/>
            <a:ext cx="919480" cy="208279"/>
          </a:xfrm>
          <a:prstGeom prst="rect">
            <a:avLst/>
          </a:prstGeom>
        </p:spPr>
        <p:txBody>
          <a:bodyPr wrap="square" lIns="0" tIns="12700" rIns="0" bIns="0" rtlCol="0" vert="horz">
            <a:spAutoFit/>
          </a:bodyPr>
          <a:lstStyle/>
          <a:p>
            <a:pPr marL="12700">
              <a:lnSpc>
                <a:spcPct val="100000"/>
              </a:lnSpc>
              <a:spcBef>
                <a:spcPts val="100"/>
              </a:spcBef>
            </a:pPr>
            <a:r>
              <a:rPr dirty="0" sz="1200" spc="-5" b="1">
                <a:latin typeface="Times New Roman"/>
                <a:cs typeface="Times New Roman"/>
              </a:rPr>
              <a:t>Syllabus</a:t>
            </a:r>
            <a:r>
              <a:rPr dirty="0" sz="1200" spc="-55" b="1">
                <a:latin typeface="Times New Roman"/>
                <a:cs typeface="Times New Roman"/>
              </a:rPr>
              <a:t> </a:t>
            </a:r>
            <a:r>
              <a:rPr dirty="0" sz="1200" b="1">
                <a:latin typeface="Times New Roman"/>
                <a:cs typeface="Times New Roman"/>
              </a:rPr>
              <a:t>9013</a:t>
            </a:r>
            <a:endParaRPr sz="1200">
              <a:latin typeface="Times New Roman"/>
              <a:cs typeface="Times New Roman"/>
            </a:endParaRPr>
          </a:p>
        </p:txBody>
      </p:sp>
      <p:sp>
        <p:nvSpPr>
          <p:cNvPr id="4" name="object 4"/>
          <p:cNvSpPr/>
          <p:nvPr/>
        </p:nvSpPr>
        <p:spPr>
          <a:xfrm>
            <a:off x="528828" y="9843516"/>
            <a:ext cx="6321425" cy="56515"/>
          </a:xfrm>
          <a:custGeom>
            <a:avLst/>
            <a:gdLst/>
            <a:ahLst/>
            <a:cxnLst/>
            <a:rect l="l" t="t" r="r" b="b"/>
            <a:pathLst>
              <a:path w="6321425" h="56515">
                <a:moveTo>
                  <a:pt x="6321298" y="47244"/>
                </a:moveTo>
                <a:lnTo>
                  <a:pt x="0" y="47244"/>
                </a:lnTo>
                <a:lnTo>
                  <a:pt x="0" y="56388"/>
                </a:lnTo>
                <a:lnTo>
                  <a:pt x="6321298" y="56388"/>
                </a:lnTo>
                <a:lnTo>
                  <a:pt x="6321298" y="47244"/>
                </a:lnTo>
                <a:close/>
              </a:path>
              <a:path w="6321425" h="56515">
                <a:moveTo>
                  <a:pt x="6321298" y="0"/>
                </a:moveTo>
                <a:lnTo>
                  <a:pt x="0" y="0"/>
                </a:lnTo>
                <a:lnTo>
                  <a:pt x="0" y="38100"/>
                </a:lnTo>
                <a:lnTo>
                  <a:pt x="6321298" y="38100"/>
                </a:lnTo>
                <a:lnTo>
                  <a:pt x="6321298" y="0"/>
                </a:lnTo>
                <a:close/>
              </a:path>
            </a:pathLst>
          </a:custGeom>
          <a:solidFill>
            <a:srgbClr val="612322"/>
          </a:solidFill>
        </p:spPr>
        <p:txBody>
          <a:bodyPr wrap="square" lIns="0" tIns="0" rIns="0" bIns="0" rtlCol="0"/>
          <a:lstStyle/>
          <a:p/>
        </p:txBody>
      </p:sp>
      <p:sp>
        <p:nvSpPr>
          <p:cNvPr id="5" name="object 5"/>
          <p:cNvSpPr txBox="1"/>
          <p:nvPr/>
        </p:nvSpPr>
        <p:spPr>
          <a:xfrm>
            <a:off x="534416" y="799592"/>
            <a:ext cx="6303010" cy="909955"/>
          </a:xfrm>
          <a:prstGeom prst="rect">
            <a:avLst/>
          </a:prstGeom>
        </p:spPr>
        <p:txBody>
          <a:bodyPr wrap="square" lIns="0" tIns="12700" rIns="0" bIns="0" rtlCol="0" vert="horz">
            <a:spAutoFit/>
          </a:bodyPr>
          <a:lstStyle/>
          <a:p>
            <a:pPr marL="12700">
              <a:lnSpc>
                <a:spcPts val="1410"/>
              </a:lnSpc>
              <a:spcBef>
                <a:spcPts val="100"/>
              </a:spcBef>
            </a:pPr>
            <a:r>
              <a:rPr dirty="0" sz="1200" spc="-5" b="1">
                <a:latin typeface="Arial"/>
                <a:cs typeface="Arial"/>
              </a:rPr>
              <a:t>(b) </a:t>
            </a:r>
            <a:r>
              <a:rPr dirty="0" sz="1200">
                <a:latin typeface="Arial"/>
                <a:cs typeface="Arial"/>
              </a:rPr>
              <a:t>the </a:t>
            </a:r>
            <a:r>
              <a:rPr dirty="0" sz="1200" spc="-5">
                <a:latin typeface="Arial"/>
                <a:cs typeface="Arial"/>
              </a:rPr>
              <a:t>opportunities they</a:t>
            </a:r>
            <a:r>
              <a:rPr dirty="0" sz="1200">
                <a:latin typeface="Arial"/>
                <a:cs typeface="Arial"/>
              </a:rPr>
              <a:t> </a:t>
            </a:r>
            <a:r>
              <a:rPr dirty="0" sz="1200" spc="-5">
                <a:latin typeface="Arial"/>
                <a:cs typeface="Arial"/>
              </a:rPr>
              <a:t>have</a:t>
            </a:r>
            <a:endParaRPr sz="1200">
              <a:latin typeface="Arial"/>
              <a:cs typeface="Arial"/>
            </a:endParaRPr>
          </a:p>
          <a:p>
            <a:pPr marL="12700">
              <a:lnSpc>
                <a:spcPts val="1410"/>
              </a:lnSpc>
            </a:pPr>
            <a:r>
              <a:rPr dirty="0" sz="1200" spc="-5">
                <a:latin typeface="Arial"/>
                <a:cs typeface="Arial"/>
              </a:rPr>
              <a:t>in living their lives </a:t>
            </a:r>
            <a:r>
              <a:rPr dirty="0" sz="1200">
                <a:latin typeface="Arial"/>
                <a:cs typeface="Arial"/>
              </a:rPr>
              <a:t>as </a:t>
            </a:r>
            <a:r>
              <a:rPr dirty="0" sz="1200" spc="-5">
                <a:latin typeface="Arial"/>
                <a:cs typeface="Arial"/>
              </a:rPr>
              <a:t>Muslims. [12]</a:t>
            </a:r>
            <a:r>
              <a:rPr dirty="0" sz="1200" spc="25">
                <a:latin typeface="Arial"/>
                <a:cs typeface="Arial"/>
              </a:rPr>
              <a:t> </a:t>
            </a:r>
            <a:r>
              <a:rPr dirty="0" sz="1200" spc="-5" b="1">
                <a:latin typeface="Arial"/>
                <a:cs typeface="Arial"/>
              </a:rPr>
              <a:t>(2007)</a:t>
            </a:r>
            <a:endParaRPr sz="1200">
              <a:latin typeface="Arial"/>
              <a:cs typeface="Arial"/>
            </a:endParaRPr>
          </a:p>
          <a:p>
            <a:pPr>
              <a:lnSpc>
                <a:spcPct val="100000"/>
              </a:lnSpc>
              <a:spcBef>
                <a:spcPts val="35"/>
              </a:spcBef>
            </a:pPr>
            <a:endParaRPr sz="1200">
              <a:latin typeface="Arial"/>
              <a:cs typeface="Arial"/>
            </a:endParaRPr>
          </a:p>
          <a:p>
            <a:pPr marL="12700" marR="5080">
              <a:lnSpc>
                <a:spcPts val="1380"/>
              </a:lnSpc>
            </a:pPr>
            <a:r>
              <a:rPr dirty="0" sz="1200" spc="-5" b="1">
                <a:latin typeface="Arial"/>
                <a:cs typeface="Arial"/>
              </a:rPr>
              <a:t>12 </a:t>
            </a:r>
            <a:r>
              <a:rPr dirty="0" sz="1200" spc="5">
                <a:latin typeface="Arial"/>
                <a:cs typeface="Arial"/>
              </a:rPr>
              <a:t>What </a:t>
            </a:r>
            <a:r>
              <a:rPr dirty="0" sz="1200" spc="-5">
                <a:latin typeface="Arial"/>
                <a:cs typeface="Arial"/>
              </a:rPr>
              <a:t>are the main challenges that face Muslims </a:t>
            </a:r>
            <a:r>
              <a:rPr dirty="0" sz="1200" spc="-10">
                <a:latin typeface="Arial"/>
                <a:cs typeface="Arial"/>
              </a:rPr>
              <a:t>who </a:t>
            </a:r>
            <a:r>
              <a:rPr dirty="0" sz="1200" spc="-5">
                <a:latin typeface="Arial"/>
                <a:cs typeface="Arial"/>
              </a:rPr>
              <a:t>live </a:t>
            </a:r>
            <a:r>
              <a:rPr dirty="0" sz="1200" spc="5">
                <a:latin typeface="Arial"/>
                <a:cs typeface="Arial"/>
              </a:rPr>
              <a:t>as </a:t>
            </a:r>
            <a:r>
              <a:rPr dirty="0" sz="1200" spc="-5">
                <a:latin typeface="Arial"/>
                <a:cs typeface="Arial"/>
              </a:rPr>
              <a:t>minority communities in  wider societies? (Focus your answer on one or </a:t>
            </a:r>
            <a:r>
              <a:rPr dirty="0" sz="1200" spc="-10">
                <a:latin typeface="Arial"/>
                <a:cs typeface="Arial"/>
              </a:rPr>
              <a:t>two </a:t>
            </a:r>
            <a:r>
              <a:rPr dirty="0" sz="1200">
                <a:latin typeface="Arial"/>
                <a:cs typeface="Arial"/>
              </a:rPr>
              <a:t>countries that </a:t>
            </a:r>
            <a:r>
              <a:rPr dirty="0" sz="1200" spc="-5">
                <a:latin typeface="Arial"/>
                <a:cs typeface="Arial"/>
              </a:rPr>
              <a:t>you know.) </a:t>
            </a:r>
            <a:r>
              <a:rPr dirty="0" sz="1200">
                <a:latin typeface="Arial"/>
                <a:cs typeface="Arial"/>
              </a:rPr>
              <a:t>[20]</a:t>
            </a:r>
            <a:r>
              <a:rPr dirty="0" sz="1200" spc="140">
                <a:latin typeface="Arial"/>
                <a:cs typeface="Arial"/>
              </a:rPr>
              <a:t> </a:t>
            </a:r>
            <a:r>
              <a:rPr dirty="0" sz="1200" spc="-5" b="1">
                <a:latin typeface="Arial"/>
                <a:cs typeface="Arial"/>
              </a:rPr>
              <a:t>(2010)</a:t>
            </a:r>
            <a:endParaRPr sz="1200">
              <a:latin typeface="Arial"/>
              <a:cs typeface="Arial"/>
            </a:endParaRPr>
          </a:p>
        </p:txBody>
      </p:sp>
      <p:sp>
        <p:nvSpPr>
          <p:cNvPr id="6" name="object 6"/>
          <p:cNvSpPr txBox="1"/>
          <p:nvPr/>
        </p:nvSpPr>
        <p:spPr>
          <a:xfrm>
            <a:off x="718819" y="9905322"/>
            <a:ext cx="74803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Mr</a:t>
            </a:r>
            <a:r>
              <a:rPr dirty="0" sz="1200" spc="-60" b="1">
                <a:latin typeface="Times New Roman"/>
                <a:cs typeface="Times New Roman"/>
              </a:rPr>
              <a:t> </a:t>
            </a:r>
            <a:r>
              <a:rPr dirty="0" sz="1200" spc="-5" b="1">
                <a:latin typeface="Times New Roman"/>
                <a:cs typeface="Times New Roman"/>
              </a:rPr>
              <a:t>Pahary</a:t>
            </a:r>
            <a:endParaRPr sz="1200">
              <a:latin typeface="Times New Roman"/>
              <a:cs typeface="Times New Roman"/>
            </a:endParaRPr>
          </a:p>
        </p:txBody>
      </p:sp>
      <p:sp>
        <p:nvSpPr>
          <p:cNvPr id="7" name="object 7"/>
          <p:cNvSpPr txBox="1"/>
          <p:nvPr/>
        </p:nvSpPr>
        <p:spPr>
          <a:xfrm>
            <a:off x="3173095" y="9905322"/>
            <a:ext cx="628650" cy="194310"/>
          </a:xfrm>
          <a:prstGeom prst="rect">
            <a:avLst/>
          </a:prstGeom>
        </p:spPr>
        <p:txBody>
          <a:bodyPr wrap="square" lIns="0" tIns="0" rIns="0" bIns="0" rtlCol="0" vert="horz">
            <a:spAutoFit/>
          </a:bodyPr>
          <a:lstStyle/>
          <a:p>
            <a:pPr marL="12700">
              <a:lnSpc>
                <a:spcPts val="1410"/>
              </a:lnSpc>
            </a:pPr>
            <a:r>
              <a:rPr dirty="0" sz="1200" spc="-5" b="1">
                <a:latin typeface="Times New Roman"/>
                <a:cs typeface="Times New Roman"/>
              </a:rPr>
              <a:t>Page</a:t>
            </a:r>
            <a:r>
              <a:rPr dirty="0" sz="1200" spc="-55" b="1">
                <a:latin typeface="Times New Roman"/>
                <a:cs typeface="Times New Roman"/>
              </a:rPr>
              <a:t> </a:t>
            </a:r>
            <a:r>
              <a:rPr dirty="0" sz="1200" b="1">
                <a:latin typeface="Times New Roman"/>
                <a:cs typeface="Times New Roman"/>
              </a:rPr>
              <a:t>184</a:t>
            </a:r>
            <a:endParaRPr sz="12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hakimzai</dc:creator>
  <dc:title>An Attack on Eid-e-Milad by Bin Baaz of Saudi Arabia</dc:title>
  <dcterms:created xsi:type="dcterms:W3CDTF">2020-07-02T21:08:25Z</dcterms:created>
  <dcterms:modified xsi:type="dcterms:W3CDTF">2020-07-02T21:08:25Z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2011-10-07T00:00:00Z</vt:filetime>
  </property>
  <property fmtid="{D5CDD505-2E9C-101B-9397-08002B2CF9AE}" pid="3" name="Creator">
    <vt:lpwstr>Microsoft® Office Word 2007</vt:lpwstr>
  </property>
  <property fmtid="{D5CDD505-2E9C-101B-9397-08002B2CF9AE}" pid="4" name="LastSaved">
    <vt:filetime>2020-07-02T00:00:00Z</vt:filetime>
  </property>
</Properties>
</file>